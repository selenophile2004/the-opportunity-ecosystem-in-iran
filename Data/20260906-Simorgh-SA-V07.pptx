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1" r:id="rId4"/>
  </p:sldMasterIdLst>
  <p:notesMasterIdLst>
    <p:notesMasterId r:id="rId150"/>
  </p:notesMasterIdLst>
  <p:handoutMasterIdLst>
    <p:handoutMasterId r:id="rId151"/>
  </p:handoutMasterIdLst>
  <p:sldIdLst>
    <p:sldId id="502" r:id="rId5"/>
    <p:sldId id="356" r:id="rId6"/>
    <p:sldId id="357" r:id="rId7"/>
    <p:sldId id="358" r:id="rId8"/>
    <p:sldId id="359" r:id="rId9"/>
    <p:sldId id="360" r:id="rId10"/>
    <p:sldId id="361" r:id="rId11"/>
    <p:sldId id="363" r:id="rId12"/>
    <p:sldId id="362" r:id="rId13"/>
    <p:sldId id="426" r:id="rId14"/>
    <p:sldId id="427" r:id="rId15"/>
    <p:sldId id="428" r:id="rId16"/>
    <p:sldId id="429" r:id="rId17"/>
    <p:sldId id="364" r:id="rId18"/>
    <p:sldId id="366" r:id="rId19"/>
    <p:sldId id="368" r:id="rId20"/>
    <p:sldId id="369" r:id="rId21"/>
    <p:sldId id="370" r:id="rId22"/>
    <p:sldId id="371" r:id="rId23"/>
    <p:sldId id="431" r:id="rId24"/>
    <p:sldId id="495" r:id="rId25"/>
    <p:sldId id="373" r:id="rId26"/>
    <p:sldId id="374" r:id="rId27"/>
    <p:sldId id="375" r:id="rId28"/>
    <p:sldId id="376" r:id="rId29"/>
    <p:sldId id="377" r:id="rId30"/>
    <p:sldId id="378" r:id="rId31"/>
    <p:sldId id="379" r:id="rId32"/>
    <p:sldId id="380" r:id="rId33"/>
    <p:sldId id="384" r:id="rId34"/>
    <p:sldId id="385" r:id="rId35"/>
    <p:sldId id="386" r:id="rId36"/>
    <p:sldId id="387" r:id="rId37"/>
    <p:sldId id="388" r:id="rId38"/>
    <p:sldId id="390" r:id="rId39"/>
    <p:sldId id="391" r:id="rId40"/>
    <p:sldId id="392" r:id="rId41"/>
    <p:sldId id="393" r:id="rId42"/>
    <p:sldId id="394" r:id="rId43"/>
    <p:sldId id="395" r:id="rId44"/>
    <p:sldId id="396" r:id="rId45"/>
    <p:sldId id="397" r:id="rId46"/>
    <p:sldId id="398" r:id="rId47"/>
    <p:sldId id="399" r:id="rId48"/>
    <p:sldId id="400" r:id="rId49"/>
    <p:sldId id="432" r:id="rId50"/>
    <p:sldId id="494" r:id="rId51"/>
    <p:sldId id="316" r:id="rId52"/>
    <p:sldId id="433" r:id="rId53"/>
    <p:sldId id="262" r:id="rId54"/>
    <p:sldId id="318" r:id="rId55"/>
    <p:sldId id="263" r:id="rId56"/>
    <p:sldId id="319" r:id="rId57"/>
    <p:sldId id="320" r:id="rId58"/>
    <p:sldId id="321" r:id="rId59"/>
    <p:sldId id="322" r:id="rId60"/>
    <p:sldId id="269" r:id="rId61"/>
    <p:sldId id="323" r:id="rId62"/>
    <p:sldId id="324" r:id="rId63"/>
    <p:sldId id="325" r:id="rId64"/>
    <p:sldId id="326" r:id="rId65"/>
    <p:sldId id="327" r:id="rId66"/>
    <p:sldId id="434" r:id="rId67"/>
    <p:sldId id="329" r:id="rId68"/>
    <p:sldId id="276" r:id="rId69"/>
    <p:sldId id="402" r:id="rId70"/>
    <p:sldId id="403" r:id="rId71"/>
    <p:sldId id="404" r:id="rId72"/>
    <p:sldId id="405" r:id="rId73"/>
    <p:sldId id="406" r:id="rId74"/>
    <p:sldId id="407" r:id="rId75"/>
    <p:sldId id="408" r:id="rId76"/>
    <p:sldId id="410" r:id="rId77"/>
    <p:sldId id="411" r:id="rId78"/>
    <p:sldId id="335" r:id="rId79"/>
    <p:sldId id="412" r:id="rId80"/>
    <p:sldId id="413" r:id="rId81"/>
    <p:sldId id="414" r:id="rId82"/>
    <p:sldId id="415" r:id="rId83"/>
    <p:sldId id="416" r:id="rId84"/>
    <p:sldId id="417" r:id="rId85"/>
    <p:sldId id="418" r:id="rId86"/>
    <p:sldId id="419" r:id="rId87"/>
    <p:sldId id="420" r:id="rId88"/>
    <p:sldId id="421" r:id="rId89"/>
    <p:sldId id="422" r:id="rId90"/>
    <p:sldId id="423" r:id="rId91"/>
    <p:sldId id="424" r:id="rId92"/>
    <p:sldId id="425" r:id="rId93"/>
    <p:sldId id="350" r:id="rId94"/>
    <p:sldId id="351" r:id="rId95"/>
    <p:sldId id="435" r:id="rId96"/>
    <p:sldId id="355" r:id="rId97"/>
    <p:sldId id="264" r:id="rId98"/>
    <p:sldId id="498" r:id="rId99"/>
    <p:sldId id="501" r:id="rId100"/>
    <p:sldId id="260" r:id="rId101"/>
    <p:sldId id="381" r:id="rId102"/>
    <p:sldId id="382" r:id="rId103"/>
    <p:sldId id="437" r:id="rId104"/>
    <p:sldId id="445" r:id="rId105"/>
    <p:sldId id="467" r:id="rId106"/>
    <p:sldId id="446" r:id="rId107"/>
    <p:sldId id="447" r:id="rId108"/>
    <p:sldId id="448" r:id="rId109"/>
    <p:sldId id="449" r:id="rId110"/>
    <p:sldId id="450" r:id="rId111"/>
    <p:sldId id="451" r:id="rId112"/>
    <p:sldId id="452" r:id="rId113"/>
    <p:sldId id="453" r:id="rId114"/>
    <p:sldId id="454" r:id="rId115"/>
    <p:sldId id="455" r:id="rId116"/>
    <p:sldId id="456" r:id="rId117"/>
    <p:sldId id="457" r:id="rId118"/>
    <p:sldId id="458" r:id="rId119"/>
    <p:sldId id="459" r:id="rId120"/>
    <p:sldId id="460" r:id="rId121"/>
    <p:sldId id="461" r:id="rId122"/>
    <p:sldId id="462" r:id="rId123"/>
    <p:sldId id="463" r:id="rId124"/>
    <p:sldId id="464" r:id="rId125"/>
    <p:sldId id="465" r:id="rId126"/>
    <p:sldId id="468" r:id="rId127"/>
    <p:sldId id="470" r:id="rId128"/>
    <p:sldId id="472" r:id="rId129"/>
    <p:sldId id="471" r:id="rId130"/>
    <p:sldId id="473" r:id="rId131"/>
    <p:sldId id="474" r:id="rId132"/>
    <p:sldId id="476" r:id="rId133"/>
    <p:sldId id="477" r:id="rId134"/>
    <p:sldId id="478" r:id="rId135"/>
    <p:sldId id="480" r:id="rId136"/>
    <p:sldId id="481" r:id="rId137"/>
    <p:sldId id="483" r:id="rId138"/>
    <p:sldId id="482" r:id="rId139"/>
    <p:sldId id="484" r:id="rId140"/>
    <p:sldId id="485" r:id="rId141"/>
    <p:sldId id="487" r:id="rId142"/>
    <p:sldId id="488" r:id="rId143"/>
    <p:sldId id="491" r:id="rId144"/>
    <p:sldId id="489" r:id="rId145"/>
    <p:sldId id="490" r:id="rId146"/>
    <p:sldId id="492" r:id="rId147"/>
    <p:sldId id="493" r:id="rId148"/>
    <p:sldId id="383" r:id="rId149"/>
  </p:sldIdLst>
  <p:sldSz cx="11703050" cy="6583363"/>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686" userDrawn="1">
          <p15:clr>
            <a:srgbClr val="A4A3A4"/>
          </p15:clr>
        </p15:guide>
        <p15:guide id="3" orient="horz" pos="2074"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602B381-49E5-7620-DEBF-C428D2944AD2}" name="Javad Ebadinia" initials="JE" userId="Javad Ebadinia"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Sana Alinaghian" initials="SA" lastIdx="1" clrIdx="0">
    <p:extLst>
      <p:ext uri="{19B8F6BF-5375-455C-9EA6-DF929625EA0E}">
        <p15:presenceInfo xmlns:p15="http://schemas.microsoft.com/office/powerpoint/2012/main" userId="b42f63cfc57d1b25"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D80"/>
    <a:srgbClr val="F0BE0F"/>
    <a:srgbClr val="588CAC"/>
    <a:srgbClr val="7FA6BF"/>
    <a:srgbClr val="6092B0"/>
    <a:srgbClr val="A3BDD1"/>
    <a:srgbClr val="D9E4EC"/>
    <a:srgbClr val="00406C"/>
    <a:srgbClr val="0E1D42"/>
    <a:srgbClr val="0D1D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316" autoAdjust="0"/>
    <p:restoredTop sz="96296"/>
  </p:normalViewPr>
  <p:slideViewPr>
    <p:cSldViewPr snapToGrid="0">
      <p:cViewPr>
        <p:scale>
          <a:sx n="44" d="100"/>
          <a:sy n="44" d="100"/>
        </p:scale>
        <p:origin x="1616" y="704"/>
      </p:cViewPr>
      <p:guideLst>
        <p:guide pos="3686"/>
        <p:guide orient="horz" pos="2074"/>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63" Type="http://schemas.openxmlformats.org/officeDocument/2006/relationships/slide" Target="slides/slide59.xml"/><Relationship Id="rId84" Type="http://schemas.openxmlformats.org/officeDocument/2006/relationships/slide" Target="slides/slide80.xml"/><Relationship Id="rId138" Type="http://schemas.openxmlformats.org/officeDocument/2006/relationships/slide" Target="slides/slide134.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53" Type="http://schemas.openxmlformats.org/officeDocument/2006/relationships/slide" Target="slides/slide49.xml"/><Relationship Id="rId74" Type="http://schemas.openxmlformats.org/officeDocument/2006/relationships/slide" Target="slides/slide70.xml"/><Relationship Id="rId128" Type="http://schemas.openxmlformats.org/officeDocument/2006/relationships/slide" Target="slides/slide124.xml"/><Relationship Id="rId149" Type="http://schemas.openxmlformats.org/officeDocument/2006/relationships/slide" Target="slides/slide145.xml"/><Relationship Id="rId5" Type="http://schemas.openxmlformats.org/officeDocument/2006/relationships/slide" Target="slides/slide1.xml"/><Relationship Id="rId95" Type="http://schemas.openxmlformats.org/officeDocument/2006/relationships/slide" Target="slides/slide91.xml"/><Relationship Id="rId22" Type="http://schemas.openxmlformats.org/officeDocument/2006/relationships/slide" Target="slides/slide18.xml"/><Relationship Id="rId43" Type="http://schemas.openxmlformats.org/officeDocument/2006/relationships/slide" Target="slides/slide39.xml"/><Relationship Id="rId64" Type="http://schemas.openxmlformats.org/officeDocument/2006/relationships/slide" Target="slides/slide60.xml"/><Relationship Id="rId118" Type="http://schemas.openxmlformats.org/officeDocument/2006/relationships/slide" Target="slides/slide114.xml"/><Relationship Id="rId139" Type="http://schemas.openxmlformats.org/officeDocument/2006/relationships/slide" Target="slides/slide135.xml"/><Relationship Id="rId80" Type="http://schemas.openxmlformats.org/officeDocument/2006/relationships/slide" Target="slides/slide76.xml"/><Relationship Id="rId85" Type="http://schemas.openxmlformats.org/officeDocument/2006/relationships/slide" Target="slides/slide81.xml"/><Relationship Id="rId150" Type="http://schemas.openxmlformats.org/officeDocument/2006/relationships/notesMaster" Target="notesMasters/notesMaster1.xml"/><Relationship Id="rId155" Type="http://schemas.openxmlformats.org/officeDocument/2006/relationships/theme" Target="theme/theme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slide" Target="slides/slide104.xml"/><Relationship Id="rId124" Type="http://schemas.openxmlformats.org/officeDocument/2006/relationships/slide" Target="slides/slide120.xml"/><Relationship Id="rId129" Type="http://schemas.openxmlformats.org/officeDocument/2006/relationships/slide" Target="slides/slide125.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40" Type="http://schemas.openxmlformats.org/officeDocument/2006/relationships/slide" Target="slides/slide136.xml"/><Relationship Id="rId145" Type="http://schemas.openxmlformats.org/officeDocument/2006/relationships/slide" Target="slides/slide141.xml"/><Relationship Id="rId1" Type="http://schemas.openxmlformats.org/officeDocument/2006/relationships/customXml" Target="../customXml/item1.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119" Type="http://schemas.openxmlformats.org/officeDocument/2006/relationships/slide" Target="slides/slide115.xml"/><Relationship Id="rId44" Type="http://schemas.openxmlformats.org/officeDocument/2006/relationships/slide" Target="slides/slide40.xml"/><Relationship Id="rId60" Type="http://schemas.openxmlformats.org/officeDocument/2006/relationships/slide" Target="slides/slide56.xml"/><Relationship Id="rId65" Type="http://schemas.openxmlformats.org/officeDocument/2006/relationships/slide" Target="slides/slide61.xml"/><Relationship Id="rId81" Type="http://schemas.openxmlformats.org/officeDocument/2006/relationships/slide" Target="slides/slide77.xml"/><Relationship Id="rId86" Type="http://schemas.openxmlformats.org/officeDocument/2006/relationships/slide" Target="slides/slide82.xml"/><Relationship Id="rId130" Type="http://schemas.openxmlformats.org/officeDocument/2006/relationships/slide" Target="slides/slide126.xml"/><Relationship Id="rId135" Type="http://schemas.openxmlformats.org/officeDocument/2006/relationships/slide" Target="slides/slide131.xml"/><Relationship Id="rId151" Type="http://schemas.openxmlformats.org/officeDocument/2006/relationships/handoutMaster" Target="handoutMasters/handoutMaster1.xml"/><Relationship Id="rId156" Type="http://schemas.openxmlformats.org/officeDocument/2006/relationships/tableStyles" Target="tableStyles.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slide" Target="slides/slide116.xml"/><Relationship Id="rId125" Type="http://schemas.openxmlformats.org/officeDocument/2006/relationships/slide" Target="slides/slide121.xml"/><Relationship Id="rId141" Type="http://schemas.openxmlformats.org/officeDocument/2006/relationships/slide" Target="slides/slide137.xml"/><Relationship Id="rId146" Type="http://schemas.openxmlformats.org/officeDocument/2006/relationships/slide" Target="slides/slide142.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131" Type="http://schemas.openxmlformats.org/officeDocument/2006/relationships/slide" Target="slides/slide127.xml"/><Relationship Id="rId136" Type="http://schemas.openxmlformats.org/officeDocument/2006/relationships/slide" Target="slides/slide132.xml"/><Relationship Id="rId157" Type="http://schemas.microsoft.com/office/2018/10/relationships/authors" Target="authors.xml"/><Relationship Id="rId61" Type="http://schemas.openxmlformats.org/officeDocument/2006/relationships/slide" Target="slides/slide57.xml"/><Relationship Id="rId82" Type="http://schemas.openxmlformats.org/officeDocument/2006/relationships/slide" Target="slides/slide78.xml"/><Relationship Id="rId152" Type="http://schemas.openxmlformats.org/officeDocument/2006/relationships/commentAuthors" Target="commentAuthors.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26" Type="http://schemas.openxmlformats.org/officeDocument/2006/relationships/slide" Target="slides/slide122.xml"/><Relationship Id="rId147" Type="http://schemas.openxmlformats.org/officeDocument/2006/relationships/slide" Target="slides/slide14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slide" Target="slides/slide117.xml"/><Relationship Id="rId142" Type="http://schemas.openxmlformats.org/officeDocument/2006/relationships/slide" Target="slides/slide138.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137" Type="http://schemas.openxmlformats.org/officeDocument/2006/relationships/slide" Target="slides/slide133.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slide" Target="slides/slide128.xml"/><Relationship Id="rId153" Type="http://schemas.openxmlformats.org/officeDocument/2006/relationships/presProps" Target="presProps.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27" Type="http://schemas.openxmlformats.org/officeDocument/2006/relationships/slide" Target="slides/slide123.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143" Type="http://schemas.openxmlformats.org/officeDocument/2006/relationships/slide" Target="slides/slide139.xml"/><Relationship Id="rId148" Type="http://schemas.openxmlformats.org/officeDocument/2006/relationships/slide" Target="slides/slide144.xml"/><Relationship Id="rId4" Type="http://schemas.openxmlformats.org/officeDocument/2006/relationships/slideMaster" Target="slideMasters/slideMaster1.xml"/><Relationship Id="rId9" Type="http://schemas.openxmlformats.org/officeDocument/2006/relationships/slide" Target="slides/slide5.xml"/><Relationship Id="rId26" Type="http://schemas.openxmlformats.org/officeDocument/2006/relationships/slide" Target="slides/slide22.xml"/><Relationship Id="rId47" Type="http://schemas.openxmlformats.org/officeDocument/2006/relationships/slide" Target="slides/slide43.xml"/><Relationship Id="rId68" Type="http://schemas.openxmlformats.org/officeDocument/2006/relationships/slide" Target="slides/slide64.xml"/><Relationship Id="rId89" Type="http://schemas.openxmlformats.org/officeDocument/2006/relationships/slide" Target="slides/slide85.xml"/><Relationship Id="rId112" Type="http://schemas.openxmlformats.org/officeDocument/2006/relationships/slide" Target="slides/slide108.xml"/><Relationship Id="rId133" Type="http://schemas.openxmlformats.org/officeDocument/2006/relationships/slide" Target="slides/slide129.xml"/><Relationship Id="rId154" Type="http://schemas.openxmlformats.org/officeDocument/2006/relationships/viewProps" Target="viewProps.xml"/><Relationship Id="rId16" Type="http://schemas.openxmlformats.org/officeDocument/2006/relationships/slide" Target="slides/slide12.xml"/><Relationship Id="rId37" Type="http://schemas.openxmlformats.org/officeDocument/2006/relationships/slide" Target="slides/slide33.xml"/><Relationship Id="rId58" Type="http://schemas.openxmlformats.org/officeDocument/2006/relationships/slide" Target="slides/slide54.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44" Type="http://schemas.openxmlformats.org/officeDocument/2006/relationships/slide" Target="slides/slide140.xml"/><Relationship Id="rId90" Type="http://schemas.openxmlformats.org/officeDocument/2006/relationships/slide" Target="slides/slide86.xml"/><Relationship Id="rId27" Type="http://schemas.openxmlformats.org/officeDocument/2006/relationships/slide" Target="slides/slide23.xml"/><Relationship Id="rId48" Type="http://schemas.openxmlformats.org/officeDocument/2006/relationships/slide" Target="slides/slide44.xml"/><Relationship Id="rId69" Type="http://schemas.openxmlformats.org/officeDocument/2006/relationships/slide" Target="slides/slide65.xml"/><Relationship Id="rId113" Type="http://schemas.openxmlformats.org/officeDocument/2006/relationships/slide" Target="slides/slide109.xml"/><Relationship Id="rId134" Type="http://schemas.openxmlformats.org/officeDocument/2006/relationships/slide" Target="slides/slide13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FA555AC-D6E7-47A6-92D8-F09B2F5CF6D0}"/>
              </a:ext>
            </a:extLst>
          </p:cNvPr>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E029D24-5E0D-4B56-8F73-A45E83AD9869}"/>
              </a:ext>
            </a:extLst>
          </p:cNvPr>
          <p:cNvSpPr>
            <a:spLocks noGrp="1"/>
          </p:cNvSpPr>
          <p:nvPr>
            <p:ph type="dt" sz="quarter" idx="1"/>
          </p:nvPr>
        </p:nvSpPr>
        <p:spPr>
          <a:xfrm>
            <a:off x="5180013" y="0"/>
            <a:ext cx="3962400" cy="344488"/>
          </a:xfrm>
          <a:prstGeom prst="rect">
            <a:avLst/>
          </a:prstGeom>
        </p:spPr>
        <p:txBody>
          <a:bodyPr vert="horz" lIns="91440" tIns="45720" rIns="91440" bIns="45720" rtlCol="0"/>
          <a:lstStyle>
            <a:lvl1pPr algn="r">
              <a:defRPr sz="1200"/>
            </a:lvl1pPr>
          </a:lstStyle>
          <a:p>
            <a:fld id="{E2ABEC51-C2F0-45BE-90AD-FCCD67A10E88}" type="datetimeFigureOut">
              <a:rPr lang="en-US" smtClean="0"/>
              <a:t>9/6/2026</a:t>
            </a:fld>
            <a:endParaRPr lang="en-US"/>
          </a:p>
        </p:txBody>
      </p:sp>
      <p:sp>
        <p:nvSpPr>
          <p:cNvPr id="4" name="Footer Placeholder 3">
            <a:extLst>
              <a:ext uri="{FF2B5EF4-FFF2-40B4-BE49-F238E27FC236}">
                <a16:creationId xmlns:a16="http://schemas.microsoft.com/office/drawing/2014/main" id="{C14E15A0-6D53-42DD-A63D-3565D9010B4F}"/>
              </a:ext>
            </a:extLst>
          </p:cNvPr>
          <p:cNvSpPr>
            <a:spLocks noGrp="1"/>
          </p:cNvSpPr>
          <p:nvPr>
            <p:ph type="ftr" sz="quarter" idx="2"/>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502DFD3-BB3F-46C9-A5F7-7CAEF1155050}"/>
              </a:ext>
            </a:extLst>
          </p:cNvPr>
          <p:cNvSpPr>
            <a:spLocks noGrp="1"/>
          </p:cNvSpPr>
          <p:nvPr>
            <p:ph type="sldNum" sz="quarter" idx="3"/>
          </p:nvPr>
        </p:nvSpPr>
        <p:spPr>
          <a:xfrm>
            <a:off x="5180013" y="6513513"/>
            <a:ext cx="3962400" cy="344487"/>
          </a:xfrm>
          <a:prstGeom prst="rect">
            <a:avLst/>
          </a:prstGeom>
        </p:spPr>
        <p:txBody>
          <a:bodyPr vert="horz" lIns="91440" tIns="45720" rIns="91440" bIns="45720" rtlCol="0" anchor="b"/>
          <a:lstStyle>
            <a:lvl1pPr algn="r">
              <a:defRPr sz="1200"/>
            </a:lvl1pPr>
          </a:lstStyle>
          <a:p>
            <a:fld id="{3353FC66-0077-4589-8E66-7AF8E431B922}" type="slidenum">
              <a:rPr lang="en-US" smtClean="0"/>
              <a:t>‹#›</a:t>
            </a:fld>
            <a:endParaRPr lang="en-US"/>
          </a:p>
        </p:txBody>
      </p:sp>
    </p:spTree>
    <p:extLst>
      <p:ext uri="{BB962C8B-B14F-4D97-AF65-F5344CB8AC3E}">
        <p14:creationId xmlns:p14="http://schemas.microsoft.com/office/powerpoint/2010/main" val="1217587052"/>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160" userDrawn="1">
          <p15:clr>
            <a:srgbClr val="F26B43"/>
          </p15:clr>
        </p15:guide>
        <p15:guide id="2" pos="288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0824B572-49EB-44D6-B7EA-3D094444FB63}" type="datetimeFigureOut">
              <a:rPr lang="en-US" smtClean="0"/>
              <a:t>9/6/2026</a:t>
            </a:fld>
            <a:endParaRPr lang="en-US"/>
          </a:p>
        </p:txBody>
      </p:sp>
      <p:sp>
        <p:nvSpPr>
          <p:cNvPr id="4" name="Slide Image Placeholder 3"/>
          <p:cNvSpPr>
            <a:spLocks noGrp="1" noRot="1" noChangeAspect="1"/>
          </p:cNvSpPr>
          <p:nvPr>
            <p:ph type="sldImg" idx="2"/>
          </p:nvPr>
        </p:nvSpPr>
        <p:spPr>
          <a:xfrm>
            <a:off x="2516188" y="857250"/>
            <a:ext cx="4111625"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727A51B7-F506-4CA3-956F-C8ED326D50AC}" type="slidenum">
              <a:rPr lang="en-US" smtClean="0"/>
              <a:t>‹#›</a:t>
            </a:fld>
            <a:endParaRPr lang="en-US"/>
          </a:p>
        </p:txBody>
      </p:sp>
    </p:spTree>
    <p:extLst>
      <p:ext uri="{BB962C8B-B14F-4D97-AF65-F5344CB8AC3E}">
        <p14:creationId xmlns:p14="http://schemas.microsoft.com/office/powerpoint/2010/main" val="9696962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27A51B7-F506-4CA3-956F-C8ED326D50A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784304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27A51B7-F506-4CA3-956F-C8ED326D50A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3875522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Cover-White">
    <p:bg>
      <p:bgRef idx="1001">
        <a:schemeClr val="bg1"/>
      </p:bgRef>
    </p:bg>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A23C4AB0-05A6-C1C1-D113-4895D3663CB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756" y="0"/>
            <a:ext cx="11697538" cy="6583363"/>
          </a:xfrm>
          <a:prstGeom prst="rect">
            <a:avLst/>
          </a:prstGeom>
        </p:spPr>
      </p:pic>
      <p:sp>
        <p:nvSpPr>
          <p:cNvPr id="3" name="Rectangle 2">
            <a:extLst>
              <a:ext uri="{FF2B5EF4-FFF2-40B4-BE49-F238E27FC236}">
                <a16:creationId xmlns:a16="http://schemas.microsoft.com/office/drawing/2014/main" id="{CC926201-AB71-7153-2535-60A8B3DA8A48}"/>
              </a:ext>
            </a:extLst>
          </p:cNvPr>
          <p:cNvSpPr/>
          <p:nvPr userDrawn="1"/>
        </p:nvSpPr>
        <p:spPr>
          <a:xfrm>
            <a:off x="0" y="0"/>
            <a:ext cx="11703050" cy="6583363"/>
          </a:xfrm>
          <a:prstGeom prst="rect">
            <a:avLst/>
          </a:prstGeom>
          <a:solidFill>
            <a:srgbClr val="0A1530">
              <a:alpha val="42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endParaRPr>
          </a:p>
        </p:txBody>
      </p:sp>
      <p:grpSp>
        <p:nvGrpSpPr>
          <p:cNvPr id="9" name="Group 8">
            <a:extLst>
              <a:ext uri="{FF2B5EF4-FFF2-40B4-BE49-F238E27FC236}">
                <a16:creationId xmlns:a16="http://schemas.microsoft.com/office/drawing/2014/main" id="{BE71BC00-D410-4B8B-8AE0-ACBEC3A21653}"/>
              </a:ext>
            </a:extLst>
          </p:cNvPr>
          <p:cNvGrpSpPr/>
          <p:nvPr userDrawn="1"/>
        </p:nvGrpSpPr>
        <p:grpSpPr>
          <a:xfrm flipH="1">
            <a:off x="10599888" y="2810795"/>
            <a:ext cx="547878" cy="109728"/>
            <a:chOff x="636270" y="3000818"/>
            <a:chExt cx="547878" cy="109728"/>
          </a:xfrm>
        </p:grpSpPr>
        <p:sp>
          <p:nvSpPr>
            <p:cNvPr id="10" name="Rectangle 9">
              <a:extLst>
                <a:ext uri="{FF2B5EF4-FFF2-40B4-BE49-F238E27FC236}">
                  <a16:creationId xmlns:a16="http://schemas.microsoft.com/office/drawing/2014/main" id="{D7515DD1-D713-42C9-B1AA-B8DA9380C419}"/>
                </a:ext>
              </a:extLst>
            </p:cNvPr>
            <p:cNvSpPr/>
            <p:nvPr userDrawn="1"/>
          </p:nvSpPr>
          <p:spPr>
            <a:xfrm>
              <a:off x="636270" y="3000818"/>
              <a:ext cx="109728" cy="109728"/>
            </a:xfrm>
            <a:prstGeom prst="rect">
              <a:avLst/>
            </a:prstGeom>
            <a:solidFill>
              <a:srgbClr val="F0BE0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justLow" defTabSz="457200" rtl="1" eaLnBrk="1" latinLnBrk="0" hangingPunct="1"/>
              <a:endParaRPr lang="en-US" dirty="0">
                <a:latin typeface="Yekan Bakh FaNum" pitchFamily="2" charset="-78"/>
                <a:cs typeface="Yekan Bakh FaNum" pitchFamily="2" charset="-78"/>
              </a:endParaRPr>
            </a:p>
          </p:txBody>
        </p:sp>
        <p:sp>
          <p:nvSpPr>
            <p:cNvPr id="11" name="Rectangle 10">
              <a:extLst>
                <a:ext uri="{FF2B5EF4-FFF2-40B4-BE49-F238E27FC236}">
                  <a16:creationId xmlns:a16="http://schemas.microsoft.com/office/drawing/2014/main" id="{A019A244-2C6B-450D-BC92-10A8DE618563}"/>
                </a:ext>
              </a:extLst>
            </p:cNvPr>
            <p:cNvSpPr/>
            <p:nvPr userDrawn="1"/>
          </p:nvSpPr>
          <p:spPr>
            <a:xfrm>
              <a:off x="782320" y="3000818"/>
              <a:ext cx="109728" cy="109728"/>
            </a:xfrm>
            <a:prstGeom prst="rect">
              <a:avLst/>
            </a:prstGeom>
            <a:solidFill>
              <a:srgbClr val="F0BE0F">
                <a:alpha val="7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justLow" defTabSz="457200" rtl="1" eaLnBrk="1" latinLnBrk="0" hangingPunct="1"/>
              <a:endParaRPr lang="en-US">
                <a:latin typeface="Yekan Bakh FaNum" pitchFamily="2" charset="-78"/>
                <a:cs typeface="Yekan Bakh FaNum" pitchFamily="2" charset="-78"/>
              </a:endParaRPr>
            </a:p>
          </p:txBody>
        </p:sp>
        <p:sp>
          <p:nvSpPr>
            <p:cNvPr id="12" name="Rectangle 11">
              <a:extLst>
                <a:ext uri="{FF2B5EF4-FFF2-40B4-BE49-F238E27FC236}">
                  <a16:creationId xmlns:a16="http://schemas.microsoft.com/office/drawing/2014/main" id="{533DB9D0-BFBB-41B0-AC1B-0AFCBF6B8E5F}"/>
                </a:ext>
              </a:extLst>
            </p:cNvPr>
            <p:cNvSpPr/>
            <p:nvPr userDrawn="1"/>
          </p:nvSpPr>
          <p:spPr>
            <a:xfrm>
              <a:off x="928370" y="3000818"/>
              <a:ext cx="109728" cy="109728"/>
            </a:xfrm>
            <a:prstGeom prst="rect">
              <a:avLst/>
            </a:prstGeom>
            <a:solidFill>
              <a:srgbClr val="F0BE0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justLow" defTabSz="457200" rtl="1" eaLnBrk="1" latinLnBrk="0" hangingPunct="1"/>
              <a:endParaRPr lang="en-US">
                <a:latin typeface="Yekan Bakh FaNum" pitchFamily="2" charset="-78"/>
                <a:cs typeface="Yekan Bakh FaNum" pitchFamily="2" charset="-78"/>
              </a:endParaRPr>
            </a:p>
          </p:txBody>
        </p:sp>
        <p:sp>
          <p:nvSpPr>
            <p:cNvPr id="13" name="Rectangle 12">
              <a:extLst>
                <a:ext uri="{FF2B5EF4-FFF2-40B4-BE49-F238E27FC236}">
                  <a16:creationId xmlns:a16="http://schemas.microsoft.com/office/drawing/2014/main" id="{FC1DF062-3F8E-4D97-BF45-EE515587840A}"/>
                </a:ext>
              </a:extLst>
            </p:cNvPr>
            <p:cNvSpPr/>
            <p:nvPr userDrawn="1"/>
          </p:nvSpPr>
          <p:spPr>
            <a:xfrm>
              <a:off x="1074420" y="3000818"/>
              <a:ext cx="109728" cy="109728"/>
            </a:xfrm>
            <a:prstGeom prst="rect">
              <a:avLst/>
            </a:prstGeom>
            <a:solidFill>
              <a:srgbClr val="F0BE0F">
                <a:alpha val="2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justLow" defTabSz="457200" rtl="1" eaLnBrk="1" latinLnBrk="0" hangingPunct="1"/>
              <a:endParaRPr lang="en-US">
                <a:latin typeface="Yekan Bakh FaNum" pitchFamily="2" charset="-78"/>
                <a:cs typeface="Yekan Bakh FaNum" pitchFamily="2" charset="-78"/>
              </a:endParaRPr>
            </a:p>
          </p:txBody>
        </p:sp>
      </p:grpSp>
      <p:sp>
        <p:nvSpPr>
          <p:cNvPr id="22" name="Title 1">
            <a:extLst>
              <a:ext uri="{FF2B5EF4-FFF2-40B4-BE49-F238E27FC236}">
                <a16:creationId xmlns:a16="http://schemas.microsoft.com/office/drawing/2014/main" id="{ED85BA84-7E72-67EF-B0D8-DDF4C09F67E3}"/>
              </a:ext>
            </a:extLst>
          </p:cNvPr>
          <p:cNvSpPr>
            <a:spLocks noGrp="1"/>
          </p:cNvSpPr>
          <p:nvPr>
            <p:ph type="title" hasCustomPrompt="1"/>
          </p:nvPr>
        </p:nvSpPr>
        <p:spPr>
          <a:xfrm>
            <a:off x="422606" y="1460525"/>
            <a:ext cx="10832440" cy="693069"/>
          </a:xfrm>
          <a:prstGeom prst="rect">
            <a:avLst/>
          </a:prstGeom>
        </p:spPr>
        <p:txBody>
          <a:bodyPr/>
          <a:lstStyle>
            <a:lvl1pPr algn="justLow" rtl="1">
              <a:defRPr sz="4500" b="1">
                <a:solidFill>
                  <a:schemeClr val="tx1">
                    <a:lumMod val="75000"/>
                    <a:lumOff val="25000"/>
                  </a:schemeClr>
                </a:solidFill>
                <a:latin typeface="Yekan Bakh FaNum" pitchFamily="2" charset="-78"/>
                <a:cs typeface="Yekan Bakh FaNum" pitchFamily="2" charset="-78"/>
              </a:defRPr>
            </a:lvl1pPr>
          </a:lstStyle>
          <a:p>
            <a:pPr algn="r" rtl="1"/>
            <a:r>
              <a:rPr lang="fa-IR" sz="4500" b="1" dirty="0" err="1">
                <a:solidFill>
                  <a:schemeClr val="tx1">
                    <a:lumMod val="75000"/>
                    <a:lumOff val="25000"/>
                  </a:schemeClr>
                </a:solidFill>
                <a:latin typeface="Shabnam Bold FD" panose="020B0603030804020204" pitchFamily="34" charset="-78"/>
                <a:cs typeface="Shabnam Bold FD" panose="020B0603030804020204" pitchFamily="34" charset="-78"/>
              </a:rPr>
              <a:t>تایتل</a:t>
            </a:r>
            <a:r>
              <a:rPr lang="fa-IR" sz="4500" b="1" dirty="0">
                <a:solidFill>
                  <a:schemeClr val="tx1">
                    <a:lumMod val="75000"/>
                    <a:lumOff val="25000"/>
                  </a:schemeClr>
                </a:solidFill>
                <a:latin typeface="Shabnam Bold FD" panose="020B0603030804020204" pitchFamily="34" charset="-78"/>
                <a:cs typeface="Shabnam Bold FD" panose="020B0603030804020204" pitchFamily="34" charset="-78"/>
              </a:rPr>
              <a:t> سند</a:t>
            </a:r>
          </a:p>
        </p:txBody>
      </p:sp>
      <p:sp>
        <p:nvSpPr>
          <p:cNvPr id="23" name="Text Placeholder 18">
            <a:extLst>
              <a:ext uri="{FF2B5EF4-FFF2-40B4-BE49-F238E27FC236}">
                <a16:creationId xmlns:a16="http://schemas.microsoft.com/office/drawing/2014/main" id="{3A7AC4CF-BE98-F188-2A05-2C38642281C7}"/>
              </a:ext>
            </a:extLst>
          </p:cNvPr>
          <p:cNvSpPr>
            <a:spLocks noGrp="1"/>
          </p:cNvSpPr>
          <p:nvPr>
            <p:ph type="body" sz="quarter" idx="11" hasCustomPrompt="1"/>
          </p:nvPr>
        </p:nvSpPr>
        <p:spPr>
          <a:xfrm>
            <a:off x="422606" y="2170679"/>
            <a:ext cx="10832439" cy="509473"/>
          </a:xfrm>
          <a:prstGeom prst="rect">
            <a:avLst/>
          </a:prstGeom>
        </p:spPr>
        <p:txBody>
          <a:bodyPr/>
          <a:lstStyle>
            <a:lvl1pPr marL="0" indent="0" algn="justLow" rtl="1">
              <a:buNone/>
              <a:defRPr sz="2400" b="1">
                <a:solidFill>
                  <a:schemeClr val="tx1">
                    <a:lumMod val="75000"/>
                    <a:lumOff val="25000"/>
                  </a:schemeClr>
                </a:solidFill>
                <a:latin typeface="Yekan Bakh FaNum" pitchFamily="2" charset="-78"/>
                <a:cs typeface="Yekan Bakh FaNum" pitchFamily="2" charset="-78"/>
              </a:defRPr>
            </a:lvl1pPr>
            <a:lvl2pPr marL="438912" indent="0">
              <a:buNone/>
              <a:defRPr sz="2500">
                <a:latin typeface="Calvino" pitchFamily="2" charset="0"/>
              </a:defRPr>
            </a:lvl2pPr>
            <a:lvl3pPr marL="877824" indent="0">
              <a:buNone/>
              <a:defRPr sz="2500">
                <a:latin typeface="Calvino" pitchFamily="2" charset="0"/>
              </a:defRPr>
            </a:lvl3pPr>
            <a:lvl4pPr marL="1316736" indent="0">
              <a:buNone/>
              <a:defRPr sz="2500">
                <a:latin typeface="Calvino" pitchFamily="2" charset="0"/>
              </a:defRPr>
            </a:lvl4pPr>
            <a:lvl5pPr marL="1755648" indent="0">
              <a:buNone/>
              <a:defRPr sz="2500">
                <a:latin typeface="Calvino" pitchFamily="2" charset="0"/>
              </a:defRPr>
            </a:lvl5pPr>
          </a:lstStyle>
          <a:p>
            <a:pPr algn="r" rtl="1"/>
            <a:r>
              <a:rPr lang="fa-IR" sz="2400" b="1" dirty="0">
                <a:solidFill>
                  <a:schemeClr val="tx1">
                    <a:lumMod val="75000"/>
                    <a:lumOff val="25000"/>
                  </a:schemeClr>
                </a:solidFill>
                <a:latin typeface="Shabnam Bold FD" panose="020B0603030804020204" pitchFamily="34" charset="-78"/>
                <a:cs typeface="Shabnam Bold FD" panose="020B0603030804020204" pitchFamily="34" charset="-78"/>
              </a:rPr>
              <a:t>زیر عنوان، توضیح یک خطی درباره عنوان</a:t>
            </a:r>
          </a:p>
        </p:txBody>
      </p:sp>
      <p:sp>
        <p:nvSpPr>
          <p:cNvPr id="24" name="Text Placeholder 32">
            <a:extLst>
              <a:ext uri="{FF2B5EF4-FFF2-40B4-BE49-F238E27FC236}">
                <a16:creationId xmlns:a16="http://schemas.microsoft.com/office/drawing/2014/main" id="{17940367-FB4A-ABD5-10A2-06426105BF6E}"/>
              </a:ext>
            </a:extLst>
          </p:cNvPr>
          <p:cNvSpPr>
            <a:spLocks noGrp="1"/>
          </p:cNvSpPr>
          <p:nvPr>
            <p:ph type="body" sz="quarter" idx="18" hasCustomPrompt="1"/>
          </p:nvPr>
        </p:nvSpPr>
        <p:spPr>
          <a:xfrm>
            <a:off x="422604" y="1154390"/>
            <a:ext cx="10832441" cy="292750"/>
          </a:xfrm>
          <a:prstGeom prst="rect">
            <a:avLst/>
          </a:prstGeom>
        </p:spPr>
        <p:txBody>
          <a:bodyPr/>
          <a:lstStyle>
            <a:lvl1pPr marL="0" indent="0" algn="justLow" rtl="1">
              <a:buNone/>
              <a:defRPr sz="1400" b="1">
                <a:solidFill>
                  <a:schemeClr val="tx1">
                    <a:lumMod val="50000"/>
                    <a:lumOff val="50000"/>
                  </a:schemeClr>
                </a:solidFill>
                <a:latin typeface="Yekan Bakh FaNum" pitchFamily="2" charset="-78"/>
                <a:cs typeface="Yekan Bakh FaNum" pitchFamily="2" charset="-78"/>
              </a:defRPr>
            </a:lvl1pPr>
            <a:lvl2pPr marL="438912" indent="0">
              <a:buNone/>
              <a:defRPr sz="1400">
                <a:solidFill>
                  <a:schemeClr val="tx1">
                    <a:lumMod val="50000"/>
                    <a:lumOff val="50000"/>
                  </a:schemeClr>
                </a:solidFill>
              </a:defRPr>
            </a:lvl2pPr>
            <a:lvl3pPr marL="877824" indent="0">
              <a:buNone/>
              <a:defRPr sz="1400">
                <a:solidFill>
                  <a:schemeClr val="tx1">
                    <a:lumMod val="50000"/>
                    <a:lumOff val="50000"/>
                  </a:schemeClr>
                </a:solidFill>
              </a:defRPr>
            </a:lvl3pPr>
            <a:lvl4pPr marL="1316736" indent="0">
              <a:buNone/>
              <a:defRPr sz="1400">
                <a:solidFill>
                  <a:schemeClr val="tx1">
                    <a:lumMod val="50000"/>
                    <a:lumOff val="50000"/>
                  </a:schemeClr>
                </a:solidFill>
              </a:defRPr>
            </a:lvl4pPr>
            <a:lvl5pPr marL="1755648" indent="0">
              <a:buNone/>
              <a:defRPr sz="1400">
                <a:solidFill>
                  <a:schemeClr val="tx1">
                    <a:lumMod val="50000"/>
                    <a:lumOff val="50000"/>
                  </a:schemeClr>
                </a:solidFill>
              </a:defRPr>
            </a:lvl5pPr>
          </a:lstStyle>
          <a:p>
            <a:pPr algn="r" rtl="1"/>
            <a:r>
              <a:rPr lang="fa-IR" b="1" dirty="0">
                <a:solidFill>
                  <a:schemeClr val="tx1">
                    <a:lumMod val="50000"/>
                    <a:lumOff val="50000"/>
                  </a:schemeClr>
                </a:solidFill>
                <a:latin typeface="Shabnam Bold FD" panose="020B0603030804020204" pitchFamily="34" charset="-78"/>
                <a:cs typeface="Shabnam Bold FD" panose="020B0603030804020204" pitchFamily="34" charset="-78"/>
              </a:rPr>
              <a:t>مروری بر خروجی پروژه/مروری کوتاه بر/طرح پیشنهادی پروژه یا هر عنوان دیگر ...</a:t>
            </a:r>
            <a:endParaRPr lang="en-US" b="1" dirty="0">
              <a:solidFill>
                <a:schemeClr val="tx1">
                  <a:lumMod val="50000"/>
                  <a:lumOff val="50000"/>
                </a:schemeClr>
              </a:solidFill>
              <a:latin typeface="Shabnam Bold FD" panose="020B0603030804020204" pitchFamily="34" charset="-78"/>
              <a:cs typeface="Shabnam Bold FD" panose="020B0603030804020204" pitchFamily="34" charset="-78"/>
            </a:endParaRPr>
          </a:p>
        </p:txBody>
      </p:sp>
      <p:sp>
        <p:nvSpPr>
          <p:cNvPr id="25" name="Text Placeholder 27">
            <a:extLst>
              <a:ext uri="{FF2B5EF4-FFF2-40B4-BE49-F238E27FC236}">
                <a16:creationId xmlns:a16="http://schemas.microsoft.com/office/drawing/2014/main" id="{F15D23BC-6DFE-9794-69AC-48AA04758A22}"/>
              </a:ext>
            </a:extLst>
          </p:cNvPr>
          <p:cNvSpPr>
            <a:spLocks noGrp="1"/>
          </p:cNvSpPr>
          <p:nvPr>
            <p:ph type="body" sz="quarter" idx="15" hasCustomPrompt="1"/>
          </p:nvPr>
        </p:nvSpPr>
        <p:spPr>
          <a:xfrm>
            <a:off x="7065633" y="3331059"/>
            <a:ext cx="4189412" cy="271556"/>
          </a:xfrm>
          <a:prstGeom prst="rect">
            <a:avLst/>
          </a:prstGeom>
        </p:spPr>
        <p:txBody>
          <a:bodyPr/>
          <a:lstStyle>
            <a:lvl1pPr marL="0" indent="0" algn="justLow" rtl="1">
              <a:buNone/>
              <a:defRPr sz="1400">
                <a:solidFill>
                  <a:schemeClr val="tx1">
                    <a:lumMod val="75000"/>
                    <a:lumOff val="25000"/>
                  </a:schemeClr>
                </a:solidFill>
                <a:latin typeface="Yekan Bakh FaNum" pitchFamily="2" charset="-78"/>
                <a:cs typeface="Yekan Bakh FaNum" pitchFamily="2" charset="-78"/>
              </a:defRPr>
            </a:lvl1pPr>
            <a:lvl2pPr marL="438912" indent="0">
              <a:buNone/>
              <a:defRPr sz="1400">
                <a:latin typeface="Calvino" pitchFamily="2" charset="0"/>
              </a:defRPr>
            </a:lvl2pPr>
            <a:lvl3pPr marL="877824" indent="0">
              <a:buNone/>
              <a:defRPr sz="1400">
                <a:latin typeface="Calvino" pitchFamily="2" charset="0"/>
              </a:defRPr>
            </a:lvl3pPr>
            <a:lvl4pPr marL="1316736" indent="0">
              <a:buNone/>
              <a:defRPr sz="1400">
                <a:latin typeface="Calvino" pitchFamily="2" charset="0"/>
              </a:defRPr>
            </a:lvl4pPr>
            <a:lvl5pPr marL="1755648" indent="0">
              <a:buNone/>
              <a:defRPr sz="1400">
                <a:latin typeface="Calvino" pitchFamily="2" charset="0"/>
              </a:defRPr>
            </a:lvl5pPr>
          </a:lstStyle>
          <a:p>
            <a:pPr algn="r"/>
            <a:r>
              <a:rPr lang="fa-IR" sz="1400" dirty="0">
                <a:solidFill>
                  <a:schemeClr val="tx1">
                    <a:lumMod val="75000"/>
                    <a:lumOff val="25000"/>
                  </a:schemeClr>
                </a:solidFill>
                <a:latin typeface="Shabnam FD" panose="020B0603030804020204" pitchFamily="34" charset="-78"/>
                <a:cs typeface="Shabnam FD" panose="020B0603030804020204" pitchFamily="34" charset="-78"/>
              </a:rPr>
              <a:t>تهیه شده برای ...</a:t>
            </a:r>
          </a:p>
        </p:txBody>
      </p:sp>
      <p:sp>
        <p:nvSpPr>
          <p:cNvPr id="26" name="Text Placeholder 27">
            <a:extLst>
              <a:ext uri="{FF2B5EF4-FFF2-40B4-BE49-F238E27FC236}">
                <a16:creationId xmlns:a16="http://schemas.microsoft.com/office/drawing/2014/main" id="{4039811A-C715-D955-CD06-389689D01640}"/>
              </a:ext>
            </a:extLst>
          </p:cNvPr>
          <p:cNvSpPr>
            <a:spLocks noGrp="1"/>
          </p:cNvSpPr>
          <p:nvPr>
            <p:ph type="body" sz="quarter" idx="16" hasCustomPrompt="1"/>
          </p:nvPr>
        </p:nvSpPr>
        <p:spPr>
          <a:xfrm>
            <a:off x="7065526" y="3613260"/>
            <a:ext cx="4189412" cy="271556"/>
          </a:xfrm>
          <a:prstGeom prst="rect">
            <a:avLst/>
          </a:prstGeom>
        </p:spPr>
        <p:txBody>
          <a:bodyPr/>
          <a:lstStyle>
            <a:lvl1pPr marL="0" indent="0" algn="justLow" rtl="1">
              <a:buNone/>
              <a:defRPr sz="1400">
                <a:solidFill>
                  <a:schemeClr val="tx1">
                    <a:lumMod val="75000"/>
                    <a:lumOff val="25000"/>
                  </a:schemeClr>
                </a:solidFill>
                <a:latin typeface="Yekan Bakh FaNum" pitchFamily="2" charset="-78"/>
                <a:cs typeface="Yekan Bakh FaNum" pitchFamily="2" charset="-78"/>
              </a:defRPr>
            </a:lvl1pPr>
            <a:lvl2pPr marL="438912" indent="0">
              <a:buNone/>
              <a:defRPr sz="1400">
                <a:latin typeface="Calvino" pitchFamily="2" charset="0"/>
              </a:defRPr>
            </a:lvl2pPr>
            <a:lvl3pPr marL="877824" indent="0">
              <a:buNone/>
              <a:defRPr sz="1400">
                <a:latin typeface="Calvino" pitchFamily="2" charset="0"/>
              </a:defRPr>
            </a:lvl3pPr>
            <a:lvl4pPr marL="1316736" indent="0">
              <a:buNone/>
              <a:defRPr sz="1400">
                <a:latin typeface="Calvino" pitchFamily="2" charset="0"/>
              </a:defRPr>
            </a:lvl4pPr>
            <a:lvl5pPr marL="1755648" indent="0">
              <a:buNone/>
              <a:defRPr sz="1400">
                <a:latin typeface="Calvino" pitchFamily="2" charset="0"/>
              </a:defRPr>
            </a:lvl5pPr>
          </a:lstStyle>
          <a:p>
            <a:r>
              <a:rPr lang="fa-IR" sz="1400" dirty="0">
                <a:solidFill>
                  <a:schemeClr val="tx1">
                    <a:lumMod val="75000"/>
                    <a:lumOff val="25000"/>
                  </a:schemeClr>
                </a:solidFill>
                <a:latin typeface="Shabnam FD" panose="020B0603030804020204" pitchFamily="34" charset="-78"/>
                <a:cs typeface="Shabnam FD" panose="020B0603030804020204" pitchFamily="34" charset="-78"/>
              </a:rPr>
              <a:t>مرداد ۱۴۰۴</a:t>
            </a:r>
            <a:endParaRPr lang="en-US" sz="1400" dirty="0">
              <a:solidFill>
                <a:schemeClr val="tx1">
                  <a:lumMod val="75000"/>
                  <a:lumOff val="25000"/>
                </a:schemeClr>
              </a:solidFill>
              <a:latin typeface="Shabnam FD" panose="020B0603030804020204" pitchFamily="34" charset="-78"/>
              <a:cs typeface="Shabnam FD" panose="020B0603030804020204" pitchFamily="34" charset="-78"/>
            </a:endParaRPr>
          </a:p>
        </p:txBody>
      </p:sp>
      <p:sp>
        <p:nvSpPr>
          <p:cNvPr id="8" name="TextBox 7">
            <a:extLst>
              <a:ext uri="{FF2B5EF4-FFF2-40B4-BE49-F238E27FC236}">
                <a16:creationId xmlns:a16="http://schemas.microsoft.com/office/drawing/2014/main" id="{75A7EDEA-FFC6-B8C2-2D64-DC3721005173}"/>
              </a:ext>
            </a:extLst>
          </p:cNvPr>
          <p:cNvSpPr txBox="1"/>
          <p:nvPr userDrawn="1"/>
        </p:nvSpPr>
        <p:spPr>
          <a:xfrm>
            <a:off x="7559590" y="4003250"/>
            <a:ext cx="3691115" cy="615553"/>
          </a:xfrm>
          <a:prstGeom prst="rect">
            <a:avLst/>
          </a:prstGeom>
          <a:noFill/>
        </p:spPr>
        <p:txBody>
          <a:bodyPr wrap="square">
            <a:spAutoFit/>
          </a:bodyPr>
          <a:lstStyle/>
          <a:p>
            <a:pPr algn="justLow" rtl="1"/>
            <a:r>
              <a:rPr lang="fa-IR" sz="800" dirty="0">
                <a:solidFill>
                  <a:schemeClr val="tx1"/>
                </a:solidFill>
                <a:latin typeface="Yekan Bakh FaNum" pitchFamily="2" charset="-78"/>
                <a:cs typeface="Yekan Bakh FaNum" pitchFamily="2" charset="-78"/>
              </a:rPr>
              <a:t>شرکت مشاوره مدیریت ایلیا: ایران، تهران، سال 140۵</a:t>
            </a:r>
          </a:p>
          <a:p>
            <a:pPr algn="justLow" rtl="1"/>
            <a:endParaRPr lang="fa-IR" sz="200" dirty="0">
              <a:solidFill>
                <a:schemeClr val="tx1"/>
              </a:solidFill>
              <a:latin typeface="Yekan Bakh FaNum" pitchFamily="2" charset="-78"/>
              <a:cs typeface="Yekan Bakh FaNum" pitchFamily="2" charset="-78"/>
            </a:endParaRPr>
          </a:p>
          <a:p>
            <a:pPr algn="justLow" rtl="1"/>
            <a:r>
              <a:rPr lang="fa-IR" sz="800" dirty="0">
                <a:solidFill>
                  <a:schemeClr val="tx1"/>
                </a:solidFill>
                <a:latin typeface="Yekan Bakh FaNum" pitchFamily="2" charset="-78"/>
                <a:cs typeface="Yekan Bakh FaNum" pitchFamily="2" charset="-78"/>
              </a:rPr>
              <a:t>این کتیبه توسط تیم شرکت ایلیا در ایران تهیه گردیده است و لذا کلیه حقوق این کتیبه متعلق به شرکت ایلیا بوده و استفاده از چهارچوب، محتوا و طراحی آن با ذکر منبع، بلامانع و آزاد است.</a:t>
            </a:r>
          </a:p>
        </p:txBody>
      </p:sp>
      <p:pic>
        <p:nvPicPr>
          <p:cNvPr id="2" name="Graphic 1">
            <a:extLst>
              <a:ext uri="{FF2B5EF4-FFF2-40B4-BE49-F238E27FC236}">
                <a16:creationId xmlns:a16="http://schemas.microsoft.com/office/drawing/2014/main" id="{58492AEA-7DE1-4BCB-0949-01A94AC8D49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572110" y="4592321"/>
            <a:ext cx="1928835" cy="1273341"/>
          </a:xfrm>
          <a:prstGeom prst="rect">
            <a:avLst/>
          </a:prstGeom>
        </p:spPr>
      </p:pic>
      <p:pic>
        <p:nvPicPr>
          <p:cNvPr id="4" name="Graphic 3">
            <a:extLst>
              <a:ext uri="{FF2B5EF4-FFF2-40B4-BE49-F238E27FC236}">
                <a16:creationId xmlns:a16="http://schemas.microsoft.com/office/drawing/2014/main" id="{A4D91854-6D21-791F-7FB6-414F04218644}"/>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4"/>
              </a:ext>
            </a:extLst>
          </a:blip>
          <a:srcRect l="31885" t="24618" r="26770" b="24406"/>
          <a:stretch/>
        </p:blipFill>
        <p:spPr>
          <a:xfrm>
            <a:off x="5600700" y="-2557300"/>
            <a:ext cx="7280141" cy="10591622"/>
          </a:xfrm>
          <a:prstGeom prst="rect">
            <a:avLst/>
          </a:prstGeom>
        </p:spPr>
      </p:pic>
    </p:spTree>
    <p:extLst>
      <p:ext uri="{BB962C8B-B14F-4D97-AF65-F5344CB8AC3E}">
        <p14:creationId xmlns:p14="http://schemas.microsoft.com/office/powerpoint/2010/main" val="77042770"/>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Technical-Whit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3A59B4E-86AE-220D-75D6-398E76AA0BBD}"/>
              </a:ext>
            </a:extLst>
          </p:cNvPr>
          <p:cNvSpPr/>
          <p:nvPr userDrawn="1"/>
        </p:nvSpPr>
        <p:spPr>
          <a:xfrm>
            <a:off x="4470400" y="0"/>
            <a:ext cx="7232650" cy="6583363"/>
          </a:xfrm>
          <a:prstGeom prst="rect">
            <a:avLst/>
          </a:prstGeom>
          <a:solidFill>
            <a:sysClr val="windowText" lastClr="000000">
              <a:alpha val="50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Calibri"/>
            </a:endParaRPr>
          </a:p>
        </p:txBody>
      </p:sp>
    </p:spTree>
    <p:extLst>
      <p:ext uri="{BB962C8B-B14F-4D97-AF65-F5344CB8AC3E}">
        <p14:creationId xmlns:p14="http://schemas.microsoft.com/office/powerpoint/2010/main" val="3402980610"/>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echnical-White">
    <p:spTree>
      <p:nvGrpSpPr>
        <p:cNvPr id="1" name=""/>
        <p:cNvGrpSpPr/>
        <p:nvPr/>
      </p:nvGrpSpPr>
      <p:grpSpPr>
        <a:xfrm>
          <a:off x="0" y="0"/>
          <a:ext cx="0" cy="0"/>
          <a:chOff x="0" y="0"/>
          <a:chExt cx="0" cy="0"/>
        </a:xfrm>
      </p:grpSpPr>
      <p:pic>
        <p:nvPicPr>
          <p:cNvPr id="17" name="Picture 16" descr="A picture containing icon&#10;&#10;Description automatically generated">
            <a:extLst>
              <a:ext uri="{FF2B5EF4-FFF2-40B4-BE49-F238E27FC236}">
                <a16:creationId xmlns:a16="http://schemas.microsoft.com/office/drawing/2014/main" id="{DF746266-F58C-461A-81EA-C017D5DD620E}"/>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14386" t="24321" r="15971" b="24751"/>
          <a:stretch/>
        </p:blipFill>
        <p:spPr>
          <a:xfrm>
            <a:off x="522799" y="5972854"/>
            <a:ext cx="589727" cy="284707"/>
          </a:xfrm>
          <a:prstGeom prst="rect">
            <a:avLst/>
          </a:prstGeom>
        </p:spPr>
      </p:pic>
      <p:sp>
        <p:nvSpPr>
          <p:cNvPr id="22" name="Rectangle 21">
            <a:extLst>
              <a:ext uri="{FF2B5EF4-FFF2-40B4-BE49-F238E27FC236}">
                <a16:creationId xmlns:a16="http://schemas.microsoft.com/office/drawing/2014/main" id="{27E4A94B-E4F2-4280-9F06-78AE1708716C}"/>
              </a:ext>
            </a:extLst>
          </p:cNvPr>
          <p:cNvSpPr/>
          <p:nvPr/>
        </p:nvSpPr>
        <p:spPr>
          <a:xfrm flipH="1" flipV="1">
            <a:off x="10585921" y="529805"/>
            <a:ext cx="561600" cy="18000"/>
          </a:xfrm>
          <a:prstGeom prst="rect">
            <a:avLst/>
          </a:prstGeom>
          <a:solidFill>
            <a:srgbClr val="F0BE0F"/>
          </a:solidFill>
          <a:ln>
            <a:solidFill>
              <a:srgbClr val="F0BE0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457200" rtl="1" eaLnBrk="1" latinLnBrk="0" hangingPunct="1"/>
            <a:endParaRPr lang="en-US">
              <a:latin typeface="Yekan Bakh FaNum" pitchFamily="2" charset="-78"/>
              <a:cs typeface="Yekan Bakh FaNum" pitchFamily="2" charset="-78"/>
            </a:endParaRPr>
          </a:p>
        </p:txBody>
      </p:sp>
      <p:cxnSp>
        <p:nvCxnSpPr>
          <p:cNvPr id="26" name="Straight Connector 25">
            <a:extLst>
              <a:ext uri="{FF2B5EF4-FFF2-40B4-BE49-F238E27FC236}">
                <a16:creationId xmlns:a16="http://schemas.microsoft.com/office/drawing/2014/main" id="{1C4B1383-B391-4C27-8861-FEC47F2B0082}"/>
              </a:ext>
            </a:extLst>
          </p:cNvPr>
          <p:cNvCxnSpPr>
            <a:cxnSpLocks/>
          </p:cNvCxnSpPr>
          <p:nvPr userDrawn="1"/>
        </p:nvCxnSpPr>
        <p:spPr>
          <a:xfrm>
            <a:off x="10628983" y="6031187"/>
            <a:ext cx="0" cy="115209"/>
          </a:xfrm>
          <a:prstGeom prst="line">
            <a:avLst/>
          </a:prstGeom>
          <a:ln w="19050">
            <a:solidFill>
              <a:srgbClr val="F0BE0F"/>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2D08A8BB-B419-4077-9906-951AF5E8F50B}"/>
              </a:ext>
            </a:extLst>
          </p:cNvPr>
          <p:cNvSpPr txBox="1"/>
          <p:nvPr userDrawn="1"/>
        </p:nvSpPr>
        <p:spPr>
          <a:xfrm>
            <a:off x="10664812" y="6017062"/>
            <a:ext cx="482709" cy="143459"/>
          </a:xfrm>
          <a:prstGeom prst="rect">
            <a:avLst/>
          </a:prstGeom>
          <a:noFill/>
        </p:spPr>
        <p:txBody>
          <a:bodyPr wrap="square" lIns="35393" tIns="17696" rIns="35393" bIns="17696" rtlCol="0">
            <a:spAutoFit/>
          </a:bodyPr>
          <a:lstStyle/>
          <a:p>
            <a:pPr algn="r" defTabSz="353954" rtl="1">
              <a:defRPr/>
            </a:pPr>
            <a:r>
              <a:rPr lang="fa-IR" sz="700" b="1" dirty="0">
                <a:solidFill>
                  <a:schemeClr val="tx1">
                    <a:lumMod val="75000"/>
                    <a:lumOff val="25000"/>
                  </a:schemeClr>
                </a:solidFill>
                <a:latin typeface="Yekan Bakh FaNum" pitchFamily="2" charset="-78"/>
                <a:cs typeface="Yekan Bakh FaNum" pitchFamily="2" charset="-78"/>
              </a:rPr>
              <a:t>صفحه  </a:t>
            </a:r>
            <a:fld id="{02B6F0BC-A89A-4361-8F5C-D7DC914CC90B}" type="slidenum">
              <a:rPr lang="fa-IR" sz="700" b="1" smtClean="0">
                <a:solidFill>
                  <a:schemeClr val="tx1">
                    <a:lumMod val="75000"/>
                    <a:lumOff val="25000"/>
                  </a:schemeClr>
                </a:solidFill>
                <a:latin typeface="Yekan Bakh FaNum" pitchFamily="2" charset="-78"/>
                <a:cs typeface="Yekan Bakh FaNum" pitchFamily="2" charset="-78"/>
              </a:rPr>
              <a:pPr algn="r" defTabSz="353954" rtl="1">
                <a:defRPr/>
              </a:pPr>
              <a:t>‹#›</a:t>
            </a:fld>
            <a:endParaRPr lang="en-US" sz="700" b="1" dirty="0">
              <a:solidFill>
                <a:schemeClr val="tx1">
                  <a:lumMod val="75000"/>
                  <a:lumOff val="25000"/>
                </a:schemeClr>
              </a:solidFill>
              <a:latin typeface="Yekan Bakh FaNum" pitchFamily="2" charset="-78"/>
              <a:cs typeface="Yekan Bakh FaNum" pitchFamily="2" charset="-78"/>
            </a:endParaRPr>
          </a:p>
        </p:txBody>
      </p:sp>
      <p:sp>
        <p:nvSpPr>
          <p:cNvPr id="4" name="TextBox 3">
            <a:extLst>
              <a:ext uri="{FF2B5EF4-FFF2-40B4-BE49-F238E27FC236}">
                <a16:creationId xmlns:a16="http://schemas.microsoft.com/office/drawing/2014/main" id="{F907D4B4-4F3E-E9D2-D8CA-4D89F4B295FD}"/>
              </a:ext>
            </a:extLst>
          </p:cNvPr>
          <p:cNvSpPr txBox="1"/>
          <p:nvPr userDrawn="1"/>
        </p:nvSpPr>
        <p:spPr>
          <a:xfrm>
            <a:off x="6339156" y="6017062"/>
            <a:ext cx="4265443" cy="143459"/>
          </a:xfrm>
          <a:prstGeom prst="rect">
            <a:avLst/>
          </a:prstGeom>
          <a:noFill/>
        </p:spPr>
        <p:txBody>
          <a:bodyPr wrap="square" lIns="35393" tIns="17696" rIns="35393" bIns="17696" rtlCol="0">
            <a:spAutoFit/>
          </a:bodyPr>
          <a:lstStyle/>
          <a:p>
            <a:pPr algn="r" defTabSz="353954" rtl="1">
              <a:defRPr/>
            </a:pPr>
            <a:r>
              <a:rPr lang="fa-IR" sz="700" dirty="0">
                <a:solidFill>
                  <a:schemeClr val="tx1">
                    <a:lumMod val="50000"/>
                    <a:lumOff val="50000"/>
                  </a:schemeClr>
                </a:solidFill>
                <a:latin typeface="Yekan Bakh FaNum" pitchFamily="2" charset="-78"/>
                <a:cs typeface="Yekan Bakh FaNum" pitchFamily="2" charset="-78"/>
              </a:rPr>
              <a:t>مدل کسب‌وکار اکوسیستم فرصت ایران</a:t>
            </a:r>
          </a:p>
        </p:txBody>
      </p:sp>
      <p:sp>
        <p:nvSpPr>
          <p:cNvPr id="2" name="Text Placeholder 3">
            <a:extLst>
              <a:ext uri="{FF2B5EF4-FFF2-40B4-BE49-F238E27FC236}">
                <a16:creationId xmlns:a16="http://schemas.microsoft.com/office/drawing/2014/main" id="{2A1E9146-6743-2737-4B9C-A20D3624C887}"/>
              </a:ext>
            </a:extLst>
          </p:cNvPr>
          <p:cNvSpPr>
            <a:spLocks noGrp="1"/>
          </p:cNvSpPr>
          <p:nvPr>
            <p:ph type="body" sz="quarter" idx="10" hasCustomPrompt="1"/>
          </p:nvPr>
        </p:nvSpPr>
        <p:spPr>
          <a:xfrm>
            <a:off x="5940763" y="256653"/>
            <a:ext cx="5302810" cy="250047"/>
          </a:xfrm>
          <a:prstGeom prst="rect">
            <a:avLst/>
          </a:prstGeom>
        </p:spPr>
        <p:txBody>
          <a:bodyPr/>
          <a:lstStyle>
            <a:lvl1pPr marL="0" indent="0" algn="justLow" rtl="1">
              <a:buNone/>
              <a:defRPr sz="1200" b="1">
                <a:solidFill>
                  <a:schemeClr val="tx1">
                    <a:lumMod val="50000"/>
                    <a:lumOff val="50000"/>
                  </a:schemeClr>
                </a:solidFill>
                <a:latin typeface="Yekan Bakh FaNum" pitchFamily="2" charset="-78"/>
                <a:cs typeface="Yekan Bakh FaNum" pitchFamily="2" charset="-78"/>
              </a:defRPr>
            </a:lvl1pPr>
            <a:lvl2pPr marL="438912" indent="0">
              <a:buNone/>
              <a:defRPr sz="1200" b="1">
                <a:solidFill>
                  <a:schemeClr val="tx1">
                    <a:lumMod val="50000"/>
                    <a:lumOff val="50000"/>
                  </a:schemeClr>
                </a:solidFill>
                <a:latin typeface="Calvino" pitchFamily="2" charset="0"/>
              </a:defRPr>
            </a:lvl2pPr>
            <a:lvl3pPr marL="877824" indent="0">
              <a:buNone/>
              <a:defRPr sz="1200" b="1">
                <a:solidFill>
                  <a:schemeClr val="tx1">
                    <a:lumMod val="50000"/>
                    <a:lumOff val="50000"/>
                  </a:schemeClr>
                </a:solidFill>
                <a:latin typeface="Calvino" pitchFamily="2" charset="0"/>
              </a:defRPr>
            </a:lvl3pPr>
            <a:lvl4pPr marL="1316736" indent="0">
              <a:buNone/>
              <a:defRPr sz="1200" b="1">
                <a:solidFill>
                  <a:schemeClr val="tx1">
                    <a:lumMod val="50000"/>
                    <a:lumOff val="50000"/>
                  </a:schemeClr>
                </a:solidFill>
                <a:latin typeface="Calvino" pitchFamily="2" charset="0"/>
              </a:defRPr>
            </a:lvl4pPr>
            <a:lvl5pPr marL="1755648" indent="0">
              <a:buNone/>
              <a:defRPr sz="1200" b="1">
                <a:solidFill>
                  <a:schemeClr val="tx1">
                    <a:lumMod val="50000"/>
                    <a:lumOff val="50000"/>
                  </a:schemeClr>
                </a:solidFill>
                <a:latin typeface="Calvino" pitchFamily="2" charset="0"/>
              </a:defRPr>
            </a:lvl5pPr>
          </a:lstStyle>
          <a:p>
            <a:pPr algn="r" rtl="1"/>
            <a:r>
              <a:rPr lang="fa-IR" sz="1200" b="1" dirty="0">
                <a:solidFill>
                  <a:schemeClr val="tx1">
                    <a:lumMod val="50000"/>
                    <a:lumOff val="50000"/>
                  </a:schemeClr>
                </a:solidFill>
                <a:latin typeface="Shabnam Bold FD" panose="020B0603030804020204" pitchFamily="34" charset="-78"/>
                <a:cs typeface="Shabnam Bold FD" panose="020B0603030804020204" pitchFamily="34" charset="-78"/>
              </a:rPr>
              <a:t>عنوان اصلی اسلاید یا نام فصل یا ...</a:t>
            </a:r>
          </a:p>
        </p:txBody>
      </p:sp>
      <p:sp>
        <p:nvSpPr>
          <p:cNvPr id="3" name="Text Placeholder 14">
            <a:extLst>
              <a:ext uri="{FF2B5EF4-FFF2-40B4-BE49-F238E27FC236}">
                <a16:creationId xmlns:a16="http://schemas.microsoft.com/office/drawing/2014/main" id="{20793276-5579-0D59-AFF6-DA17647F9926}"/>
              </a:ext>
            </a:extLst>
          </p:cNvPr>
          <p:cNvSpPr>
            <a:spLocks noGrp="1"/>
          </p:cNvSpPr>
          <p:nvPr>
            <p:ph type="body" sz="quarter" idx="12" hasCustomPrompt="1"/>
          </p:nvPr>
        </p:nvSpPr>
        <p:spPr>
          <a:xfrm>
            <a:off x="555629" y="567444"/>
            <a:ext cx="10710133" cy="715363"/>
          </a:xfrm>
          <a:prstGeom prst="rect">
            <a:avLst/>
          </a:prstGeom>
        </p:spPr>
        <p:txBody>
          <a:bodyPr/>
          <a:lstStyle>
            <a:lvl1pPr marL="0" indent="0" algn="justLow" rtl="1">
              <a:lnSpc>
                <a:spcPct val="100000"/>
              </a:lnSpc>
              <a:spcBef>
                <a:spcPts val="600"/>
              </a:spcBef>
              <a:buNone/>
              <a:defRPr sz="1800" b="1">
                <a:solidFill>
                  <a:schemeClr val="tx1">
                    <a:lumMod val="75000"/>
                    <a:lumOff val="25000"/>
                  </a:schemeClr>
                </a:solidFill>
                <a:latin typeface="Yekan Bakh FaNum" pitchFamily="2" charset="-78"/>
                <a:cs typeface="Yekan Bakh FaNum" pitchFamily="2" charset="-78"/>
              </a:defRPr>
            </a:lvl1pPr>
            <a:lvl2pPr>
              <a:defRPr sz="1600">
                <a:latin typeface="Calvino" pitchFamily="2" charset="0"/>
              </a:defRPr>
            </a:lvl2pPr>
            <a:lvl3pPr>
              <a:defRPr sz="1600">
                <a:latin typeface="Calvino" pitchFamily="2" charset="0"/>
              </a:defRPr>
            </a:lvl3pPr>
            <a:lvl4pPr>
              <a:defRPr sz="1600">
                <a:latin typeface="Calvino" pitchFamily="2" charset="0"/>
              </a:defRPr>
            </a:lvl4pPr>
            <a:lvl5pPr>
              <a:defRPr sz="1600">
                <a:latin typeface="Calvino" pitchFamily="2" charset="0"/>
              </a:defRPr>
            </a:lvl5pPr>
          </a:lstStyle>
          <a:p>
            <a:pPr lvl="0"/>
            <a:r>
              <a:rPr lang="fa-IR" dirty="0"/>
              <a:t>عنوان اقدامی (</a:t>
            </a:r>
            <a:r>
              <a:rPr lang="en-GB" dirty="0"/>
              <a:t>Action Title</a:t>
            </a:r>
            <a:r>
              <a:rPr lang="fa-IR" dirty="0"/>
              <a:t>)، </a:t>
            </a:r>
            <a:r>
              <a:rPr lang="fa-IR" dirty="0" err="1"/>
              <a:t>نکته‌ی</a:t>
            </a:r>
            <a:r>
              <a:rPr lang="fa-IR" dirty="0"/>
              <a:t> کلیدی اسلاید را به صورت خلاصه، حداکثر در دو خط و بدون تغییر </a:t>
            </a:r>
            <a:r>
              <a:rPr lang="fa-IR" dirty="0" err="1"/>
              <a:t>اندازه‌ی</a:t>
            </a:r>
            <a:r>
              <a:rPr lang="fa-IR" dirty="0"/>
              <a:t> </a:t>
            </a:r>
            <a:r>
              <a:rPr lang="fa-IR" dirty="0" err="1"/>
              <a:t>فونت</a:t>
            </a:r>
            <a:r>
              <a:rPr lang="fa-IR" dirty="0"/>
              <a:t> و محدوده ارائه </a:t>
            </a:r>
            <a:r>
              <a:rPr lang="fa-IR" dirty="0" err="1"/>
              <a:t>می‌کند</a:t>
            </a:r>
            <a:r>
              <a:rPr lang="fa-IR" dirty="0"/>
              <a:t> تا در ذهن مخاطب بماند</a:t>
            </a:r>
            <a:endParaRPr lang="en-US" dirty="0"/>
          </a:p>
        </p:txBody>
      </p:sp>
    </p:spTree>
    <p:extLst>
      <p:ext uri="{BB962C8B-B14F-4D97-AF65-F5344CB8AC3E}">
        <p14:creationId xmlns:p14="http://schemas.microsoft.com/office/powerpoint/2010/main" val="1596391145"/>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Technical-Whit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922653E-AEB8-424B-D51E-C0C8E8BB2B17}"/>
              </a:ext>
            </a:extLst>
          </p:cNvPr>
          <p:cNvSpPr/>
          <p:nvPr userDrawn="1"/>
        </p:nvSpPr>
        <p:spPr>
          <a:xfrm>
            <a:off x="0" y="0"/>
            <a:ext cx="11703050" cy="6583363"/>
          </a:xfrm>
          <a:prstGeom prst="rect">
            <a:avLst/>
          </a:prstGeom>
          <a:solidFill>
            <a:srgbClr val="0F142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2" name="Rectangle 21">
            <a:extLst>
              <a:ext uri="{FF2B5EF4-FFF2-40B4-BE49-F238E27FC236}">
                <a16:creationId xmlns:a16="http://schemas.microsoft.com/office/drawing/2014/main" id="{27E4A94B-E4F2-4280-9F06-78AE1708716C}"/>
              </a:ext>
            </a:extLst>
          </p:cNvPr>
          <p:cNvSpPr/>
          <p:nvPr/>
        </p:nvSpPr>
        <p:spPr>
          <a:xfrm flipH="1" flipV="1">
            <a:off x="10585921" y="529805"/>
            <a:ext cx="561600" cy="18000"/>
          </a:xfrm>
          <a:prstGeom prst="rect">
            <a:avLst/>
          </a:prstGeom>
          <a:solidFill>
            <a:srgbClr val="7800DC"/>
          </a:solidFill>
          <a:ln>
            <a:solidFill>
              <a:srgbClr val="F0BE0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457200" rtl="1" eaLnBrk="1" latinLnBrk="0" hangingPunct="1"/>
            <a:endParaRPr lang="en-US">
              <a:solidFill>
                <a:schemeClr val="bg1">
                  <a:lumMod val="85000"/>
                </a:schemeClr>
              </a:solidFill>
              <a:latin typeface="Yekan Bakh FaNum" pitchFamily="2" charset="-78"/>
              <a:cs typeface="Yekan Bakh FaNum" pitchFamily="2" charset="-78"/>
            </a:endParaRPr>
          </a:p>
        </p:txBody>
      </p:sp>
      <p:cxnSp>
        <p:nvCxnSpPr>
          <p:cNvPr id="26" name="Straight Connector 25">
            <a:extLst>
              <a:ext uri="{FF2B5EF4-FFF2-40B4-BE49-F238E27FC236}">
                <a16:creationId xmlns:a16="http://schemas.microsoft.com/office/drawing/2014/main" id="{1C4B1383-B391-4C27-8861-FEC47F2B0082}"/>
              </a:ext>
            </a:extLst>
          </p:cNvPr>
          <p:cNvCxnSpPr>
            <a:cxnSpLocks/>
          </p:cNvCxnSpPr>
          <p:nvPr userDrawn="1"/>
        </p:nvCxnSpPr>
        <p:spPr>
          <a:xfrm>
            <a:off x="10628983" y="6031187"/>
            <a:ext cx="0" cy="115209"/>
          </a:xfrm>
          <a:prstGeom prst="line">
            <a:avLst/>
          </a:prstGeom>
          <a:ln w="19050">
            <a:solidFill>
              <a:srgbClr val="F0BE0F"/>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2D08A8BB-B419-4077-9906-951AF5E8F50B}"/>
              </a:ext>
            </a:extLst>
          </p:cNvPr>
          <p:cNvSpPr txBox="1"/>
          <p:nvPr userDrawn="1"/>
        </p:nvSpPr>
        <p:spPr>
          <a:xfrm>
            <a:off x="10664812" y="6017062"/>
            <a:ext cx="482709" cy="143459"/>
          </a:xfrm>
          <a:prstGeom prst="rect">
            <a:avLst/>
          </a:prstGeom>
          <a:noFill/>
        </p:spPr>
        <p:txBody>
          <a:bodyPr wrap="square" lIns="35393" tIns="17696" rIns="35393" bIns="17696" rtlCol="0">
            <a:spAutoFit/>
          </a:bodyPr>
          <a:lstStyle/>
          <a:p>
            <a:pPr algn="r" defTabSz="353954" rtl="1">
              <a:defRPr/>
            </a:pPr>
            <a:r>
              <a:rPr lang="fa-IR" sz="700" b="1" dirty="0">
                <a:solidFill>
                  <a:schemeClr val="bg1"/>
                </a:solidFill>
                <a:latin typeface="Yekan Bakh FaNum" pitchFamily="2" charset="-78"/>
                <a:cs typeface="Yekan Bakh FaNum" pitchFamily="2" charset="-78"/>
              </a:rPr>
              <a:t>صفحه  </a:t>
            </a:r>
            <a:fld id="{02B6F0BC-A89A-4361-8F5C-D7DC914CC90B}" type="slidenum">
              <a:rPr lang="fa-IR" sz="700" b="1" smtClean="0">
                <a:solidFill>
                  <a:schemeClr val="bg1"/>
                </a:solidFill>
                <a:latin typeface="Yekan Bakh FaNum" pitchFamily="2" charset="-78"/>
                <a:cs typeface="Yekan Bakh FaNum" pitchFamily="2" charset="-78"/>
              </a:rPr>
              <a:pPr algn="r" defTabSz="353954" rtl="1">
                <a:defRPr/>
              </a:pPr>
              <a:t>‹#›</a:t>
            </a:fld>
            <a:endParaRPr lang="en-US" sz="700" b="1" dirty="0">
              <a:solidFill>
                <a:schemeClr val="bg1"/>
              </a:solidFill>
              <a:latin typeface="Yekan Bakh FaNum" pitchFamily="2" charset="-78"/>
              <a:cs typeface="Yekan Bakh FaNum" pitchFamily="2" charset="-78"/>
            </a:endParaRPr>
          </a:p>
        </p:txBody>
      </p:sp>
      <p:sp>
        <p:nvSpPr>
          <p:cNvPr id="4" name="TextBox 3">
            <a:extLst>
              <a:ext uri="{FF2B5EF4-FFF2-40B4-BE49-F238E27FC236}">
                <a16:creationId xmlns:a16="http://schemas.microsoft.com/office/drawing/2014/main" id="{F907D4B4-4F3E-E9D2-D8CA-4D89F4B295FD}"/>
              </a:ext>
            </a:extLst>
          </p:cNvPr>
          <p:cNvSpPr txBox="1"/>
          <p:nvPr userDrawn="1"/>
        </p:nvSpPr>
        <p:spPr>
          <a:xfrm>
            <a:off x="6339156" y="6017062"/>
            <a:ext cx="4265443" cy="143459"/>
          </a:xfrm>
          <a:prstGeom prst="rect">
            <a:avLst/>
          </a:prstGeom>
          <a:noFill/>
        </p:spPr>
        <p:txBody>
          <a:bodyPr wrap="square" lIns="35393" tIns="17696" rIns="35393" bIns="17696" rtlCol="0">
            <a:spAutoFit/>
          </a:bodyPr>
          <a:lstStyle/>
          <a:p>
            <a:pPr algn="r" defTabSz="353954" rtl="1">
              <a:defRPr/>
            </a:pPr>
            <a:r>
              <a:rPr lang="fa-IR" sz="700" dirty="0">
                <a:solidFill>
                  <a:schemeClr val="bg1"/>
                </a:solidFill>
                <a:latin typeface="Yekan Bakh FaNum" pitchFamily="2" charset="-78"/>
                <a:cs typeface="Yekan Bakh FaNum" pitchFamily="2" charset="-78"/>
              </a:rPr>
              <a:t>مدل کسب‌وکار اکوسیستم فرصت ایران</a:t>
            </a:r>
          </a:p>
        </p:txBody>
      </p:sp>
      <p:sp>
        <p:nvSpPr>
          <p:cNvPr id="2" name="Text Placeholder 3">
            <a:extLst>
              <a:ext uri="{FF2B5EF4-FFF2-40B4-BE49-F238E27FC236}">
                <a16:creationId xmlns:a16="http://schemas.microsoft.com/office/drawing/2014/main" id="{2A1E9146-6743-2737-4B9C-A20D3624C887}"/>
              </a:ext>
            </a:extLst>
          </p:cNvPr>
          <p:cNvSpPr>
            <a:spLocks noGrp="1"/>
          </p:cNvSpPr>
          <p:nvPr>
            <p:ph type="body" sz="quarter" idx="10" hasCustomPrompt="1"/>
          </p:nvPr>
        </p:nvSpPr>
        <p:spPr>
          <a:xfrm>
            <a:off x="5940763" y="256653"/>
            <a:ext cx="5302810" cy="250047"/>
          </a:xfrm>
          <a:prstGeom prst="rect">
            <a:avLst/>
          </a:prstGeom>
        </p:spPr>
        <p:txBody>
          <a:bodyPr/>
          <a:lstStyle>
            <a:lvl1pPr marL="0" indent="0" algn="justLow" rtl="1">
              <a:buNone/>
              <a:defRPr sz="1200" b="1">
                <a:solidFill>
                  <a:schemeClr val="bg1">
                    <a:lumMod val="85000"/>
                  </a:schemeClr>
                </a:solidFill>
                <a:latin typeface="Yekan Bakh FaNum" pitchFamily="2" charset="-78"/>
                <a:cs typeface="Yekan Bakh FaNum" pitchFamily="2" charset="-78"/>
              </a:defRPr>
            </a:lvl1pPr>
            <a:lvl2pPr marL="438912" indent="0">
              <a:buNone/>
              <a:defRPr sz="1200" b="1">
                <a:solidFill>
                  <a:schemeClr val="tx1">
                    <a:lumMod val="50000"/>
                    <a:lumOff val="50000"/>
                  </a:schemeClr>
                </a:solidFill>
                <a:latin typeface="Calvino" pitchFamily="2" charset="0"/>
              </a:defRPr>
            </a:lvl2pPr>
            <a:lvl3pPr marL="877824" indent="0">
              <a:buNone/>
              <a:defRPr sz="1200" b="1">
                <a:solidFill>
                  <a:schemeClr val="tx1">
                    <a:lumMod val="50000"/>
                    <a:lumOff val="50000"/>
                  </a:schemeClr>
                </a:solidFill>
                <a:latin typeface="Calvino" pitchFamily="2" charset="0"/>
              </a:defRPr>
            </a:lvl3pPr>
            <a:lvl4pPr marL="1316736" indent="0">
              <a:buNone/>
              <a:defRPr sz="1200" b="1">
                <a:solidFill>
                  <a:schemeClr val="tx1">
                    <a:lumMod val="50000"/>
                    <a:lumOff val="50000"/>
                  </a:schemeClr>
                </a:solidFill>
                <a:latin typeface="Calvino" pitchFamily="2" charset="0"/>
              </a:defRPr>
            </a:lvl4pPr>
            <a:lvl5pPr marL="1755648" indent="0">
              <a:buNone/>
              <a:defRPr sz="1200" b="1">
                <a:solidFill>
                  <a:schemeClr val="tx1">
                    <a:lumMod val="50000"/>
                    <a:lumOff val="50000"/>
                  </a:schemeClr>
                </a:solidFill>
                <a:latin typeface="Calvino" pitchFamily="2" charset="0"/>
              </a:defRPr>
            </a:lvl5pPr>
          </a:lstStyle>
          <a:p>
            <a:pPr algn="r" rtl="1"/>
            <a:r>
              <a:rPr lang="fa-IR" sz="1200" b="1" dirty="0">
                <a:solidFill>
                  <a:schemeClr val="tx1">
                    <a:lumMod val="50000"/>
                    <a:lumOff val="50000"/>
                  </a:schemeClr>
                </a:solidFill>
                <a:latin typeface="Shabnam Bold FD" panose="020B0603030804020204" pitchFamily="34" charset="-78"/>
                <a:cs typeface="Shabnam Bold FD" panose="020B0603030804020204" pitchFamily="34" charset="-78"/>
              </a:rPr>
              <a:t>عنوان اصلی اسلاید یا نام فصل یا ...</a:t>
            </a:r>
          </a:p>
        </p:txBody>
      </p:sp>
      <p:sp>
        <p:nvSpPr>
          <p:cNvPr id="3" name="Text Placeholder 14">
            <a:extLst>
              <a:ext uri="{FF2B5EF4-FFF2-40B4-BE49-F238E27FC236}">
                <a16:creationId xmlns:a16="http://schemas.microsoft.com/office/drawing/2014/main" id="{20793276-5579-0D59-AFF6-DA17647F9926}"/>
              </a:ext>
            </a:extLst>
          </p:cNvPr>
          <p:cNvSpPr>
            <a:spLocks noGrp="1"/>
          </p:cNvSpPr>
          <p:nvPr>
            <p:ph type="body" sz="quarter" idx="12" hasCustomPrompt="1"/>
          </p:nvPr>
        </p:nvSpPr>
        <p:spPr>
          <a:xfrm>
            <a:off x="555629" y="567444"/>
            <a:ext cx="10710133" cy="715363"/>
          </a:xfrm>
          <a:prstGeom prst="rect">
            <a:avLst/>
          </a:prstGeom>
        </p:spPr>
        <p:txBody>
          <a:bodyPr/>
          <a:lstStyle>
            <a:lvl1pPr marL="0" indent="0" algn="justLow" rtl="1">
              <a:lnSpc>
                <a:spcPct val="100000"/>
              </a:lnSpc>
              <a:spcBef>
                <a:spcPts val="600"/>
              </a:spcBef>
              <a:buNone/>
              <a:defRPr sz="1800" b="1">
                <a:solidFill>
                  <a:schemeClr val="bg1"/>
                </a:solidFill>
                <a:latin typeface="Yekan Bakh FaNum" pitchFamily="2" charset="-78"/>
                <a:cs typeface="Yekan Bakh FaNum" pitchFamily="2" charset="-78"/>
              </a:defRPr>
            </a:lvl1pPr>
            <a:lvl2pPr>
              <a:defRPr sz="1600">
                <a:latin typeface="Calvino" pitchFamily="2" charset="0"/>
              </a:defRPr>
            </a:lvl2pPr>
            <a:lvl3pPr>
              <a:defRPr sz="1600">
                <a:latin typeface="Calvino" pitchFamily="2" charset="0"/>
              </a:defRPr>
            </a:lvl3pPr>
            <a:lvl4pPr>
              <a:defRPr sz="1600">
                <a:latin typeface="Calvino" pitchFamily="2" charset="0"/>
              </a:defRPr>
            </a:lvl4pPr>
            <a:lvl5pPr>
              <a:defRPr sz="1600">
                <a:latin typeface="Calvino" pitchFamily="2" charset="0"/>
              </a:defRPr>
            </a:lvl5pPr>
          </a:lstStyle>
          <a:p>
            <a:pPr lvl="0"/>
            <a:r>
              <a:rPr lang="fa-IR" dirty="0"/>
              <a:t>عنوان اقدامی (</a:t>
            </a:r>
            <a:r>
              <a:rPr lang="en-GB" dirty="0"/>
              <a:t>Action Title</a:t>
            </a:r>
            <a:r>
              <a:rPr lang="fa-IR" dirty="0"/>
              <a:t>)، </a:t>
            </a:r>
            <a:r>
              <a:rPr lang="fa-IR" dirty="0" err="1"/>
              <a:t>نکته‌ی</a:t>
            </a:r>
            <a:r>
              <a:rPr lang="fa-IR" dirty="0"/>
              <a:t> کلیدی اسلاید را به صورت خلاصه، حداکثر در دو خط و بدون تغییر </a:t>
            </a:r>
            <a:r>
              <a:rPr lang="fa-IR" dirty="0" err="1"/>
              <a:t>اندازه‌ی</a:t>
            </a:r>
            <a:r>
              <a:rPr lang="fa-IR" dirty="0"/>
              <a:t> </a:t>
            </a:r>
            <a:r>
              <a:rPr lang="fa-IR" dirty="0" err="1"/>
              <a:t>فونت</a:t>
            </a:r>
            <a:r>
              <a:rPr lang="fa-IR" dirty="0"/>
              <a:t> و محدوده ارائه </a:t>
            </a:r>
            <a:r>
              <a:rPr lang="fa-IR" dirty="0" err="1"/>
              <a:t>می‌کند</a:t>
            </a:r>
            <a:r>
              <a:rPr lang="fa-IR" dirty="0"/>
              <a:t> تا در ذهن مخاطب بماند</a:t>
            </a:r>
            <a:endParaRPr lang="en-US" dirty="0"/>
          </a:p>
        </p:txBody>
      </p:sp>
      <p:pic>
        <p:nvPicPr>
          <p:cNvPr id="7" name="Graphic 6">
            <a:extLst>
              <a:ext uri="{FF2B5EF4-FFF2-40B4-BE49-F238E27FC236}">
                <a16:creationId xmlns:a16="http://schemas.microsoft.com/office/drawing/2014/main" id="{8DCF94A6-A80A-6F28-8480-74C15B735F5F}"/>
              </a:ext>
            </a:extLst>
          </p:cNvPr>
          <p:cNvPicPr>
            <a:picLocks noChangeAspect="1"/>
          </p:cNvPicPr>
          <p:nvPr userDrawn="1"/>
        </p:nvPicPr>
        <p:blipFill>
          <a:blip>
            <a:extLst>
              <a:ext uri="{96DAC541-7B7A-43D3-8B79-37D633B846F1}">
                <asvg:svgBlip xmlns:asvg="http://schemas.microsoft.com/office/drawing/2016/SVG/main" r:embed="rId2"/>
              </a:ext>
            </a:extLst>
          </a:blip>
          <a:srcRect l="18310" t="27694" r="17945" b="28197"/>
          <a:stretch>
            <a:fillRect/>
          </a:stretch>
        </p:blipFill>
        <p:spPr>
          <a:xfrm>
            <a:off x="549790" y="5989891"/>
            <a:ext cx="548661" cy="250632"/>
          </a:xfrm>
          <a:prstGeom prst="rect">
            <a:avLst/>
          </a:prstGeom>
        </p:spPr>
      </p:pic>
    </p:spTree>
    <p:extLst>
      <p:ext uri="{BB962C8B-B14F-4D97-AF65-F5344CB8AC3E}">
        <p14:creationId xmlns:p14="http://schemas.microsoft.com/office/powerpoint/2010/main" val="389946677"/>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Technical-White">
    <p:spTree>
      <p:nvGrpSpPr>
        <p:cNvPr id="1" name=""/>
        <p:cNvGrpSpPr/>
        <p:nvPr/>
      </p:nvGrpSpPr>
      <p:grpSpPr>
        <a:xfrm>
          <a:off x="0" y="0"/>
          <a:ext cx="0" cy="0"/>
          <a:chOff x="0" y="0"/>
          <a:chExt cx="0" cy="0"/>
        </a:xfrm>
      </p:grpSpPr>
      <p:pic>
        <p:nvPicPr>
          <p:cNvPr id="31" name="Picture 30">
            <a:extLst>
              <a:ext uri="{FF2B5EF4-FFF2-40B4-BE49-F238E27FC236}">
                <a16:creationId xmlns:a16="http://schemas.microsoft.com/office/drawing/2014/main" id="{76B91A1F-7421-B5BC-4F5F-148043A4EBC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756" y="0"/>
            <a:ext cx="11697538" cy="6583363"/>
          </a:xfrm>
          <a:prstGeom prst="rect">
            <a:avLst/>
          </a:prstGeom>
        </p:spPr>
      </p:pic>
      <p:sp>
        <p:nvSpPr>
          <p:cNvPr id="32" name="Rectangle 31">
            <a:extLst>
              <a:ext uri="{FF2B5EF4-FFF2-40B4-BE49-F238E27FC236}">
                <a16:creationId xmlns:a16="http://schemas.microsoft.com/office/drawing/2014/main" id="{167FC635-A081-88EF-66BA-575529158C06}"/>
              </a:ext>
            </a:extLst>
          </p:cNvPr>
          <p:cNvSpPr/>
          <p:nvPr userDrawn="1"/>
        </p:nvSpPr>
        <p:spPr>
          <a:xfrm>
            <a:off x="798963" y="2963867"/>
            <a:ext cx="3773038" cy="2262474"/>
          </a:xfrm>
          <a:prstGeom prst="rect">
            <a:avLst/>
          </a:prstGeom>
          <a:solidFill>
            <a:srgbClr val="0D1D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Rectangle 28">
            <a:extLst>
              <a:ext uri="{FF2B5EF4-FFF2-40B4-BE49-F238E27FC236}">
                <a16:creationId xmlns:a16="http://schemas.microsoft.com/office/drawing/2014/main" id="{51D5D340-627B-384A-A244-1C40B7980719}"/>
              </a:ext>
            </a:extLst>
          </p:cNvPr>
          <p:cNvSpPr/>
          <p:nvPr userDrawn="1"/>
        </p:nvSpPr>
        <p:spPr>
          <a:xfrm>
            <a:off x="0" y="0"/>
            <a:ext cx="11703050" cy="6583363"/>
          </a:xfrm>
          <a:prstGeom prst="rect">
            <a:avLst/>
          </a:prstGeom>
          <a:solidFill>
            <a:srgbClr val="0A1530">
              <a:alpha val="42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endParaRPr>
          </a:p>
        </p:txBody>
      </p:sp>
    </p:spTree>
    <p:extLst>
      <p:ext uri="{BB962C8B-B14F-4D97-AF65-F5344CB8AC3E}">
        <p14:creationId xmlns:p14="http://schemas.microsoft.com/office/powerpoint/2010/main" val="1340439937"/>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Technical-White">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010B5A1E-616D-E309-1462-420C5A68DCC6}"/>
              </a:ext>
            </a:extLst>
          </p:cNvPr>
          <p:cNvGrpSpPr/>
          <p:nvPr userDrawn="1"/>
        </p:nvGrpSpPr>
        <p:grpSpPr>
          <a:xfrm>
            <a:off x="0" y="0"/>
            <a:ext cx="11703050" cy="6583363"/>
            <a:chOff x="0" y="0"/>
            <a:chExt cx="11703050" cy="6583363"/>
          </a:xfrm>
        </p:grpSpPr>
        <p:pic>
          <p:nvPicPr>
            <p:cNvPr id="6" name="Picture 5">
              <a:extLst>
                <a:ext uri="{FF2B5EF4-FFF2-40B4-BE49-F238E27FC236}">
                  <a16:creationId xmlns:a16="http://schemas.microsoft.com/office/drawing/2014/main" id="{8D5BBBFA-AB81-FA96-4A6C-AA316D139009}"/>
                </a:ext>
              </a:extLst>
            </p:cNvPr>
            <p:cNvPicPr>
              <a:picLocks noChangeAspect="1"/>
            </p:cNvPicPr>
            <p:nvPr userDrawn="1"/>
          </p:nvPicPr>
          <p:blipFill>
            <a:blip r:embed="rId2">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2756" y="0"/>
              <a:ext cx="11697538" cy="6583363"/>
            </a:xfrm>
            <a:prstGeom prst="rect">
              <a:avLst/>
            </a:prstGeom>
          </p:spPr>
        </p:pic>
        <p:sp>
          <p:nvSpPr>
            <p:cNvPr id="24" name="Rectangle 23">
              <a:extLst>
                <a:ext uri="{FF2B5EF4-FFF2-40B4-BE49-F238E27FC236}">
                  <a16:creationId xmlns:a16="http://schemas.microsoft.com/office/drawing/2014/main" id="{D6F17E0D-E833-34CD-277A-4B7B202F3A20}"/>
                </a:ext>
              </a:extLst>
            </p:cNvPr>
            <p:cNvSpPr/>
            <p:nvPr userDrawn="1"/>
          </p:nvSpPr>
          <p:spPr>
            <a:xfrm>
              <a:off x="0" y="0"/>
              <a:ext cx="11703050" cy="6583363"/>
            </a:xfrm>
            <a:prstGeom prst="rect">
              <a:avLst/>
            </a:prstGeom>
            <a:solidFill>
              <a:srgbClr val="0A1530">
                <a:alpha val="42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endParaRPr>
            </a:p>
          </p:txBody>
        </p:sp>
      </p:grpSp>
    </p:spTree>
    <p:extLst>
      <p:ext uri="{BB962C8B-B14F-4D97-AF65-F5344CB8AC3E}">
        <p14:creationId xmlns:p14="http://schemas.microsoft.com/office/powerpoint/2010/main" val="566056230"/>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nding">
    <p:bg>
      <p:bgRef idx="1001">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21D1FBD-7C6A-C89F-DEED-04020F88D9F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95875" y="4104640"/>
            <a:ext cx="1928737" cy="1273341"/>
          </a:xfrm>
          <a:prstGeom prst="rect">
            <a:avLst/>
          </a:prstGeom>
        </p:spPr>
      </p:pic>
      <p:grpSp>
        <p:nvGrpSpPr>
          <p:cNvPr id="343" name="Group 342">
            <a:extLst>
              <a:ext uri="{FF2B5EF4-FFF2-40B4-BE49-F238E27FC236}">
                <a16:creationId xmlns:a16="http://schemas.microsoft.com/office/drawing/2014/main" id="{424CAB03-A06D-4C10-BD66-0C3D370A4E7E}"/>
              </a:ext>
            </a:extLst>
          </p:cNvPr>
          <p:cNvGrpSpPr/>
          <p:nvPr userDrawn="1"/>
        </p:nvGrpSpPr>
        <p:grpSpPr>
          <a:xfrm>
            <a:off x="-439813" y="-350520"/>
            <a:ext cx="13189315" cy="6416040"/>
            <a:chOff x="179356" y="0"/>
            <a:chExt cx="9955767" cy="4591143"/>
          </a:xfrm>
        </p:grpSpPr>
        <p:sp>
          <p:nvSpPr>
            <p:cNvPr id="344" name="Freeform 188">
              <a:extLst>
                <a:ext uri="{FF2B5EF4-FFF2-40B4-BE49-F238E27FC236}">
                  <a16:creationId xmlns:a16="http://schemas.microsoft.com/office/drawing/2014/main" id="{EA76BD8C-3992-4190-87AE-D38EDB6498D8}"/>
                </a:ext>
              </a:extLst>
            </p:cNvPr>
            <p:cNvSpPr>
              <a:spLocks/>
            </p:cNvSpPr>
            <p:nvPr/>
          </p:nvSpPr>
          <p:spPr bwMode="gray">
            <a:xfrm>
              <a:off x="6105838" y="3110987"/>
              <a:ext cx="277387" cy="478634"/>
            </a:xfrm>
            <a:custGeom>
              <a:avLst/>
              <a:gdLst>
                <a:gd name="T0" fmla="*/ 88 w 409"/>
                <a:gd name="T1" fmla="*/ 219 h 746"/>
                <a:gd name="T2" fmla="*/ 104 w 409"/>
                <a:gd name="T3" fmla="*/ 214 h 746"/>
                <a:gd name="T4" fmla="*/ 134 w 409"/>
                <a:gd name="T5" fmla="*/ 218 h 746"/>
                <a:gd name="T6" fmla="*/ 134 w 409"/>
                <a:gd name="T7" fmla="*/ 202 h 746"/>
                <a:gd name="T8" fmla="*/ 173 w 409"/>
                <a:gd name="T9" fmla="*/ 207 h 746"/>
                <a:gd name="T10" fmla="*/ 186 w 409"/>
                <a:gd name="T11" fmla="*/ 188 h 746"/>
                <a:gd name="T12" fmla="*/ 216 w 409"/>
                <a:gd name="T13" fmla="*/ 193 h 746"/>
                <a:gd name="T14" fmla="*/ 214 w 409"/>
                <a:gd name="T15" fmla="*/ 172 h 746"/>
                <a:gd name="T16" fmla="*/ 223 w 409"/>
                <a:gd name="T17" fmla="*/ 150 h 746"/>
                <a:gd name="T18" fmla="*/ 225 w 409"/>
                <a:gd name="T19" fmla="*/ 172 h 746"/>
                <a:gd name="T20" fmla="*/ 230 w 409"/>
                <a:gd name="T21" fmla="*/ 186 h 746"/>
                <a:gd name="T22" fmla="*/ 239 w 409"/>
                <a:gd name="T23" fmla="*/ 159 h 746"/>
                <a:gd name="T24" fmla="*/ 244 w 409"/>
                <a:gd name="T25" fmla="*/ 124 h 746"/>
                <a:gd name="T26" fmla="*/ 255 w 409"/>
                <a:gd name="T27" fmla="*/ 138 h 746"/>
                <a:gd name="T28" fmla="*/ 269 w 409"/>
                <a:gd name="T29" fmla="*/ 126 h 746"/>
                <a:gd name="T30" fmla="*/ 271 w 409"/>
                <a:gd name="T31" fmla="*/ 88 h 746"/>
                <a:gd name="T32" fmla="*/ 288 w 409"/>
                <a:gd name="T33" fmla="*/ 88 h 746"/>
                <a:gd name="T34" fmla="*/ 312 w 409"/>
                <a:gd name="T35" fmla="*/ 62 h 746"/>
                <a:gd name="T36" fmla="*/ 315 w 409"/>
                <a:gd name="T37" fmla="*/ 26 h 746"/>
                <a:gd name="T38" fmla="*/ 336 w 409"/>
                <a:gd name="T39" fmla="*/ 0 h 746"/>
                <a:gd name="T40" fmla="*/ 372 w 409"/>
                <a:gd name="T41" fmla="*/ 41 h 746"/>
                <a:gd name="T42" fmla="*/ 372 w 409"/>
                <a:gd name="T43" fmla="*/ 56 h 746"/>
                <a:gd name="T44" fmla="*/ 395 w 409"/>
                <a:gd name="T45" fmla="*/ 110 h 746"/>
                <a:gd name="T46" fmla="*/ 382 w 409"/>
                <a:gd name="T47" fmla="*/ 143 h 746"/>
                <a:gd name="T48" fmla="*/ 402 w 409"/>
                <a:gd name="T49" fmla="*/ 193 h 746"/>
                <a:gd name="T50" fmla="*/ 375 w 409"/>
                <a:gd name="T51" fmla="*/ 188 h 746"/>
                <a:gd name="T52" fmla="*/ 354 w 409"/>
                <a:gd name="T53" fmla="*/ 193 h 746"/>
                <a:gd name="T54" fmla="*/ 358 w 409"/>
                <a:gd name="T55" fmla="*/ 221 h 746"/>
                <a:gd name="T56" fmla="*/ 333 w 409"/>
                <a:gd name="T57" fmla="*/ 259 h 746"/>
                <a:gd name="T58" fmla="*/ 338 w 409"/>
                <a:gd name="T59" fmla="*/ 312 h 746"/>
                <a:gd name="T60" fmla="*/ 267 w 409"/>
                <a:gd name="T61" fmla="*/ 478 h 746"/>
                <a:gd name="T62" fmla="*/ 211 w 409"/>
                <a:gd name="T63" fmla="*/ 609 h 746"/>
                <a:gd name="T64" fmla="*/ 189 w 409"/>
                <a:gd name="T65" fmla="*/ 676 h 746"/>
                <a:gd name="T66" fmla="*/ 149 w 409"/>
                <a:gd name="T67" fmla="*/ 712 h 746"/>
                <a:gd name="T68" fmla="*/ 133 w 409"/>
                <a:gd name="T69" fmla="*/ 710 h 746"/>
                <a:gd name="T70" fmla="*/ 60 w 409"/>
                <a:gd name="T71" fmla="*/ 717 h 746"/>
                <a:gd name="T72" fmla="*/ 28 w 409"/>
                <a:gd name="T73" fmla="*/ 675 h 746"/>
                <a:gd name="T74" fmla="*/ 41 w 409"/>
                <a:gd name="T75" fmla="*/ 659 h 746"/>
                <a:gd name="T76" fmla="*/ 5 w 409"/>
                <a:gd name="T77" fmla="*/ 556 h 746"/>
                <a:gd name="T78" fmla="*/ 39 w 409"/>
                <a:gd name="T79" fmla="*/ 473 h 746"/>
                <a:gd name="T80" fmla="*/ 79 w 409"/>
                <a:gd name="T81" fmla="*/ 436 h 746"/>
                <a:gd name="T82" fmla="*/ 71 w 409"/>
                <a:gd name="T83" fmla="*/ 349 h 746"/>
                <a:gd name="T84" fmla="*/ 67 w 409"/>
                <a:gd name="T85" fmla="*/ 271 h 746"/>
                <a:gd name="T86" fmla="*/ 94 w 409"/>
                <a:gd name="T87" fmla="*/ 239 h 746"/>
                <a:gd name="T88" fmla="*/ 88 w 409"/>
                <a:gd name="T89" fmla="*/ 219 h 7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409" h="746">
                  <a:moveTo>
                    <a:pt x="88" y="219"/>
                  </a:moveTo>
                  <a:cubicBezTo>
                    <a:pt x="104" y="214"/>
                    <a:pt x="104" y="214"/>
                    <a:pt x="104" y="214"/>
                  </a:cubicBezTo>
                  <a:cubicBezTo>
                    <a:pt x="134" y="218"/>
                    <a:pt x="134" y="218"/>
                    <a:pt x="134" y="218"/>
                  </a:cubicBezTo>
                  <a:cubicBezTo>
                    <a:pt x="134" y="202"/>
                    <a:pt x="134" y="202"/>
                    <a:pt x="134" y="202"/>
                  </a:cubicBezTo>
                  <a:cubicBezTo>
                    <a:pt x="173" y="207"/>
                    <a:pt x="173" y="207"/>
                    <a:pt x="173" y="207"/>
                  </a:cubicBezTo>
                  <a:cubicBezTo>
                    <a:pt x="186" y="188"/>
                    <a:pt x="186" y="188"/>
                    <a:pt x="186" y="188"/>
                  </a:cubicBezTo>
                  <a:cubicBezTo>
                    <a:pt x="216" y="193"/>
                    <a:pt x="216" y="193"/>
                    <a:pt x="216" y="193"/>
                  </a:cubicBezTo>
                  <a:cubicBezTo>
                    <a:pt x="214" y="172"/>
                    <a:pt x="214" y="172"/>
                    <a:pt x="214" y="172"/>
                  </a:cubicBezTo>
                  <a:cubicBezTo>
                    <a:pt x="223" y="150"/>
                    <a:pt x="223" y="150"/>
                    <a:pt x="223" y="150"/>
                  </a:cubicBezTo>
                  <a:cubicBezTo>
                    <a:pt x="225" y="172"/>
                    <a:pt x="225" y="172"/>
                    <a:pt x="225" y="172"/>
                  </a:cubicBezTo>
                  <a:cubicBezTo>
                    <a:pt x="230" y="186"/>
                    <a:pt x="230" y="186"/>
                    <a:pt x="230" y="186"/>
                  </a:cubicBezTo>
                  <a:cubicBezTo>
                    <a:pt x="239" y="159"/>
                    <a:pt x="239" y="159"/>
                    <a:pt x="239" y="159"/>
                  </a:cubicBezTo>
                  <a:cubicBezTo>
                    <a:pt x="239" y="159"/>
                    <a:pt x="237" y="129"/>
                    <a:pt x="244" y="124"/>
                  </a:cubicBezTo>
                  <a:cubicBezTo>
                    <a:pt x="251" y="118"/>
                    <a:pt x="255" y="138"/>
                    <a:pt x="255" y="138"/>
                  </a:cubicBezTo>
                  <a:cubicBezTo>
                    <a:pt x="255" y="138"/>
                    <a:pt x="260" y="136"/>
                    <a:pt x="269" y="126"/>
                  </a:cubicBezTo>
                  <a:cubicBezTo>
                    <a:pt x="278" y="115"/>
                    <a:pt x="264" y="95"/>
                    <a:pt x="271" y="88"/>
                  </a:cubicBezTo>
                  <a:cubicBezTo>
                    <a:pt x="278" y="81"/>
                    <a:pt x="288" y="88"/>
                    <a:pt x="288" y="88"/>
                  </a:cubicBezTo>
                  <a:cubicBezTo>
                    <a:pt x="288" y="88"/>
                    <a:pt x="306" y="74"/>
                    <a:pt x="312" y="62"/>
                  </a:cubicBezTo>
                  <a:cubicBezTo>
                    <a:pt x="317" y="49"/>
                    <a:pt x="315" y="26"/>
                    <a:pt x="315" y="26"/>
                  </a:cubicBezTo>
                  <a:cubicBezTo>
                    <a:pt x="336" y="0"/>
                    <a:pt x="336" y="0"/>
                    <a:pt x="336" y="0"/>
                  </a:cubicBezTo>
                  <a:cubicBezTo>
                    <a:pt x="372" y="41"/>
                    <a:pt x="372" y="41"/>
                    <a:pt x="372" y="41"/>
                  </a:cubicBezTo>
                  <a:cubicBezTo>
                    <a:pt x="372" y="41"/>
                    <a:pt x="372" y="51"/>
                    <a:pt x="372" y="56"/>
                  </a:cubicBezTo>
                  <a:cubicBezTo>
                    <a:pt x="372" y="62"/>
                    <a:pt x="395" y="110"/>
                    <a:pt x="395" y="110"/>
                  </a:cubicBezTo>
                  <a:cubicBezTo>
                    <a:pt x="382" y="143"/>
                    <a:pt x="382" y="143"/>
                    <a:pt x="382" y="143"/>
                  </a:cubicBezTo>
                  <a:cubicBezTo>
                    <a:pt x="382" y="143"/>
                    <a:pt x="409" y="188"/>
                    <a:pt x="402" y="193"/>
                  </a:cubicBezTo>
                  <a:cubicBezTo>
                    <a:pt x="395" y="198"/>
                    <a:pt x="375" y="188"/>
                    <a:pt x="375" y="188"/>
                  </a:cubicBezTo>
                  <a:cubicBezTo>
                    <a:pt x="354" y="193"/>
                    <a:pt x="354" y="193"/>
                    <a:pt x="354" y="193"/>
                  </a:cubicBezTo>
                  <a:cubicBezTo>
                    <a:pt x="358" y="221"/>
                    <a:pt x="358" y="221"/>
                    <a:pt x="358" y="221"/>
                  </a:cubicBezTo>
                  <a:cubicBezTo>
                    <a:pt x="358" y="221"/>
                    <a:pt x="335" y="245"/>
                    <a:pt x="333" y="259"/>
                  </a:cubicBezTo>
                  <a:cubicBezTo>
                    <a:pt x="331" y="273"/>
                    <a:pt x="345" y="287"/>
                    <a:pt x="338" y="312"/>
                  </a:cubicBezTo>
                  <a:cubicBezTo>
                    <a:pt x="331" y="336"/>
                    <a:pt x="306" y="409"/>
                    <a:pt x="267" y="478"/>
                  </a:cubicBezTo>
                  <a:cubicBezTo>
                    <a:pt x="228" y="547"/>
                    <a:pt x="211" y="609"/>
                    <a:pt x="211" y="609"/>
                  </a:cubicBezTo>
                  <a:cubicBezTo>
                    <a:pt x="211" y="609"/>
                    <a:pt x="214" y="653"/>
                    <a:pt x="189" y="676"/>
                  </a:cubicBezTo>
                  <a:cubicBezTo>
                    <a:pt x="165" y="699"/>
                    <a:pt x="156" y="708"/>
                    <a:pt x="149" y="712"/>
                  </a:cubicBezTo>
                  <a:cubicBezTo>
                    <a:pt x="141" y="715"/>
                    <a:pt x="133" y="710"/>
                    <a:pt x="133" y="710"/>
                  </a:cubicBezTo>
                  <a:cubicBezTo>
                    <a:pt x="133" y="710"/>
                    <a:pt x="90" y="746"/>
                    <a:pt x="60" y="717"/>
                  </a:cubicBezTo>
                  <a:cubicBezTo>
                    <a:pt x="30" y="689"/>
                    <a:pt x="28" y="675"/>
                    <a:pt x="28" y="675"/>
                  </a:cubicBezTo>
                  <a:cubicBezTo>
                    <a:pt x="41" y="659"/>
                    <a:pt x="41" y="659"/>
                    <a:pt x="41" y="659"/>
                  </a:cubicBezTo>
                  <a:cubicBezTo>
                    <a:pt x="41" y="659"/>
                    <a:pt x="10" y="622"/>
                    <a:pt x="5" y="556"/>
                  </a:cubicBezTo>
                  <a:cubicBezTo>
                    <a:pt x="0" y="490"/>
                    <a:pt x="23" y="492"/>
                    <a:pt x="39" y="473"/>
                  </a:cubicBezTo>
                  <a:cubicBezTo>
                    <a:pt x="55" y="453"/>
                    <a:pt x="79" y="436"/>
                    <a:pt x="79" y="436"/>
                  </a:cubicBezTo>
                  <a:cubicBezTo>
                    <a:pt x="79" y="436"/>
                    <a:pt x="72" y="370"/>
                    <a:pt x="71" y="349"/>
                  </a:cubicBezTo>
                  <a:cubicBezTo>
                    <a:pt x="69" y="327"/>
                    <a:pt x="53" y="283"/>
                    <a:pt x="67" y="271"/>
                  </a:cubicBezTo>
                  <a:cubicBezTo>
                    <a:pt x="81" y="259"/>
                    <a:pt x="94" y="239"/>
                    <a:pt x="94" y="239"/>
                  </a:cubicBezTo>
                  <a:lnTo>
                    <a:pt x="88" y="219"/>
                  </a:ln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345" name="Freeform 189">
              <a:extLst>
                <a:ext uri="{FF2B5EF4-FFF2-40B4-BE49-F238E27FC236}">
                  <a16:creationId xmlns:a16="http://schemas.microsoft.com/office/drawing/2014/main" id="{7D23FC4E-6DFF-431C-B4FC-A6C2C9D4F85A}"/>
                </a:ext>
              </a:extLst>
            </p:cNvPr>
            <p:cNvSpPr>
              <a:spLocks noEditPoints="1"/>
            </p:cNvSpPr>
            <p:nvPr/>
          </p:nvSpPr>
          <p:spPr bwMode="gray">
            <a:xfrm>
              <a:off x="2083446" y="1887387"/>
              <a:ext cx="334530" cy="118641"/>
            </a:xfrm>
            <a:custGeom>
              <a:avLst/>
              <a:gdLst>
                <a:gd name="T0" fmla="*/ 475 w 493"/>
                <a:gd name="T1" fmla="*/ 151 h 185"/>
                <a:gd name="T2" fmla="*/ 445 w 493"/>
                <a:gd name="T3" fmla="*/ 148 h 185"/>
                <a:gd name="T4" fmla="*/ 434 w 493"/>
                <a:gd name="T5" fmla="*/ 129 h 185"/>
                <a:gd name="T6" fmla="*/ 399 w 493"/>
                <a:gd name="T7" fmla="*/ 128 h 185"/>
                <a:gd name="T8" fmla="*/ 416 w 493"/>
                <a:gd name="T9" fmla="*/ 114 h 185"/>
                <a:gd name="T10" fmla="*/ 378 w 493"/>
                <a:gd name="T11" fmla="*/ 106 h 185"/>
                <a:gd name="T12" fmla="*/ 349 w 493"/>
                <a:gd name="T13" fmla="*/ 96 h 185"/>
                <a:gd name="T14" fmla="*/ 351 w 493"/>
                <a:gd name="T15" fmla="*/ 79 h 185"/>
                <a:gd name="T16" fmla="*/ 338 w 493"/>
                <a:gd name="T17" fmla="*/ 77 h 185"/>
                <a:gd name="T18" fmla="*/ 290 w 493"/>
                <a:gd name="T19" fmla="*/ 45 h 185"/>
                <a:gd name="T20" fmla="*/ 300 w 493"/>
                <a:gd name="T21" fmla="*/ 64 h 185"/>
                <a:gd name="T22" fmla="*/ 255 w 493"/>
                <a:gd name="T23" fmla="*/ 42 h 185"/>
                <a:gd name="T24" fmla="*/ 220 w 493"/>
                <a:gd name="T25" fmla="*/ 12 h 185"/>
                <a:gd name="T26" fmla="*/ 180 w 493"/>
                <a:gd name="T27" fmla="*/ 12 h 185"/>
                <a:gd name="T28" fmla="*/ 118 w 493"/>
                <a:gd name="T29" fmla="*/ 0 h 185"/>
                <a:gd name="T30" fmla="*/ 48 w 493"/>
                <a:gd name="T31" fmla="*/ 26 h 185"/>
                <a:gd name="T32" fmla="*/ 0 w 493"/>
                <a:gd name="T33" fmla="*/ 51 h 185"/>
                <a:gd name="T34" fmla="*/ 51 w 493"/>
                <a:gd name="T35" fmla="*/ 49 h 185"/>
                <a:gd name="T36" fmla="*/ 51 w 493"/>
                <a:gd name="T37" fmla="*/ 39 h 185"/>
                <a:gd name="T38" fmla="*/ 102 w 493"/>
                <a:gd name="T39" fmla="*/ 36 h 185"/>
                <a:gd name="T40" fmla="*/ 115 w 493"/>
                <a:gd name="T41" fmla="*/ 29 h 185"/>
                <a:gd name="T42" fmla="*/ 150 w 493"/>
                <a:gd name="T43" fmla="*/ 34 h 185"/>
                <a:gd name="T44" fmla="*/ 126 w 493"/>
                <a:gd name="T45" fmla="*/ 46 h 185"/>
                <a:gd name="T46" fmla="*/ 137 w 493"/>
                <a:gd name="T47" fmla="*/ 54 h 185"/>
                <a:gd name="T48" fmla="*/ 172 w 493"/>
                <a:gd name="T49" fmla="*/ 66 h 185"/>
                <a:gd name="T50" fmla="*/ 188 w 493"/>
                <a:gd name="T51" fmla="*/ 61 h 185"/>
                <a:gd name="T52" fmla="*/ 220 w 493"/>
                <a:gd name="T53" fmla="*/ 81 h 185"/>
                <a:gd name="T54" fmla="*/ 268 w 493"/>
                <a:gd name="T55" fmla="*/ 79 h 185"/>
                <a:gd name="T56" fmla="*/ 263 w 493"/>
                <a:gd name="T57" fmla="*/ 96 h 185"/>
                <a:gd name="T58" fmla="*/ 303 w 493"/>
                <a:gd name="T59" fmla="*/ 113 h 185"/>
                <a:gd name="T60" fmla="*/ 319 w 493"/>
                <a:gd name="T61" fmla="*/ 136 h 185"/>
                <a:gd name="T62" fmla="*/ 335 w 493"/>
                <a:gd name="T63" fmla="*/ 150 h 185"/>
                <a:gd name="T64" fmla="*/ 316 w 493"/>
                <a:gd name="T65" fmla="*/ 172 h 185"/>
                <a:gd name="T66" fmla="*/ 356 w 493"/>
                <a:gd name="T67" fmla="*/ 163 h 185"/>
                <a:gd name="T68" fmla="*/ 367 w 493"/>
                <a:gd name="T69" fmla="*/ 168 h 185"/>
                <a:gd name="T70" fmla="*/ 375 w 493"/>
                <a:gd name="T71" fmla="*/ 180 h 185"/>
                <a:gd name="T72" fmla="*/ 426 w 493"/>
                <a:gd name="T73" fmla="*/ 178 h 185"/>
                <a:gd name="T74" fmla="*/ 493 w 493"/>
                <a:gd name="T75" fmla="*/ 163 h 185"/>
                <a:gd name="T76" fmla="*/ 475 w 493"/>
                <a:gd name="T77" fmla="*/ 151 h 185"/>
                <a:gd name="T78" fmla="*/ 78 w 493"/>
                <a:gd name="T79" fmla="*/ 84 h 185"/>
                <a:gd name="T80" fmla="*/ 104 w 493"/>
                <a:gd name="T81" fmla="*/ 84 h 185"/>
                <a:gd name="T82" fmla="*/ 78 w 493"/>
                <a:gd name="T83" fmla="*/ 84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93" h="185">
                  <a:moveTo>
                    <a:pt x="475" y="151"/>
                  </a:moveTo>
                  <a:cubicBezTo>
                    <a:pt x="456" y="148"/>
                    <a:pt x="445" y="148"/>
                    <a:pt x="445" y="148"/>
                  </a:cubicBezTo>
                  <a:cubicBezTo>
                    <a:pt x="445" y="148"/>
                    <a:pt x="453" y="131"/>
                    <a:pt x="434" y="129"/>
                  </a:cubicBezTo>
                  <a:cubicBezTo>
                    <a:pt x="416" y="126"/>
                    <a:pt x="399" y="128"/>
                    <a:pt x="399" y="128"/>
                  </a:cubicBezTo>
                  <a:cubicBezTo>
                    <a:pt x="416" y="114"/>
                    <a:pt x="416" y="114"/>
                    <a:pt x="416" y="114"/>
                  </a:cubicBezTo>
                  <a:cubicBezTo>
                    <a:pt x="416" y="114"/>
                    <a:pt x="386" y="106"/>
                    <a:pt x="378" y="106"/>
                  </a:cubicBezTo>
                  <a:cubicBezTo>
                    <a:pt x="370" y="106"/>
                    <a:pt x="349" y="96"/>
                    <a:pt x="349" y="96"/>
                  </a:cubicBezTo>
                  <a:cubicBezTo>
                    <a:pt x="349" y="96"/>
                    <a:pt x="359" y="79"/>
                    <a:pt x="351" y="79"/>
                  </a:cubicBezTo>
                  <a:cubicBezTo>
                    <a:pt x="343" y="79"/>
                    <a:pt x="338" y="77"/>
                    <a:pt x="338" y="77"/>
                  </a:cubicBezTo>
                  <a:cubicBezTo>
                    <a:pt x="338" y="77"/>
                    <a:pt x="298" y="37"/>
                    <a:pt x="290" y="45"/>
                  </a:cubicBezTo>
                  <a:cubicBezTo>
                    <a:pt x="282" y="52"/>
                    <a:pt x="300" y="64"/>
                    <a:pt x="300" y="64"/>
                  </a:cubicBezTo>
                  <a:cubicBezTo>
                    <a:pt x="255" y="42"/>
                    <a:pt x="255" y="42"/>
                    <a:pt x="255" y="42"/>
                  </a:cubicBezTo>
                  <a:cubicBezTo>
                    <a:pt x="255" y="42"/>
                    <a:pt x="231" y="17"/>
                    <a:pt x="220" y="12"/>
                  </a:cubicBezTo>
                  <a:cubicBezTo>
                    <a:pt x="209" y="7"/>
                    <a:pt x="180" y="12"/>
                    <a:pt x="180" y="12"/>
                  </a:cubicBezTo>
                  <a:cubicBezTo>
                    <a:pt x="180" y="12"/>
                    <a:pt x="156" y="0"/>
                    <a:pt x="118" y="0"/>
                  </a:cubicBezTo>
                  <a:cubicBezTo>
                    <a:pt x="81" y="0"/>
                    <a:pt x="64" y="12"/>
                    <a:pt x="48" y="26"/>
                  </a:cubicBezTo>
                  <a:cubicBezTo>
                    <a:pt x="32" y="41"/>
                    <a:pt x="0" y="51"/>
                    <a:pt x="0" y="51"/>
                  </a:cubicBezTo>
                  <a:cubicBezTo>
                    <a:pt x="51" y="49"/>
                    <a:pt x="51" y="49"/>
                    <a:pt x="51" y="49"/>
                  </a:cubicBezTo>
                  <a:cubicBezTo>
                    <a:pt x="51" y="39"/>
                    <a:pt x="51" y="39"/>
                    <a:pt x="51" y="39"/>
                  </a:cubicBezTo>
                  <a:cubicBezTo>
                    <a:pt x="102" y="36"/>
                    <a:pt x="102" y="36"/>
                    <a:pt x="102" y="36"/>
                  </a:cubicBezTo>
                  <a:cubicBezTo>
                    <a:pt x="115" y="29"/>
                    <a:pt x="115" y="29"/>
                    <a:pt x="115" y="29"/>
                  </a:cubicBezTo>
                  <a:cubicBezTo>
                    <a:pt x="115" y="29"/>
                    <a:pt x="142" y="27"/>
                    <a:pt x="150" y="34"/>
                  </a:cubicBezTo>
                  <a:cubicBezTo>
                    <a:pt x="158" y="42"/>
                    <a:pt x="126" y="46"/>
                    <a:pt x="126" y="46"/>
                  </a:cubicBezTo>
                  <a:cubicBezTo>
                    <a:pt x="137" y="54"/>
                    <a:pt x="137" y="54"/>
                    <a:pt x="137" y="54"/>
                  </a:cubicBezTo>
                  <a:cubicBezTo>
                    <a:pt x="137" y="54"/>
                    <a:pt x="155" y="61"/>
                    <a:pt x="172" y="66"/>
                  </a:cubicBezTo>
                  <a:cubicBezTo>
                    <a:pt x="188" y="71"/>
                    <a:pt x="188" y="61"/>
                    <a:pt x="188" y="61"/>
                  </a:cubicBezTo>
                  <a:cubicBezTo>
                    <a:pt x="188" y="61"/>
                    <a:pt x="204" y="74"/>
                    <a:pt x="220" y="81"/>
                  </a:cubicBezTo>
                  <a:cubicBezTo>
                    <a:pt x="236" y="89"/>
                    <a:pt x="268" y="79"/>
                    <a:pt x="268" y="79"/>
                  </a:cubicBezTo>
                  <a:cubicBezTo>
                    <a:pt x="263" y="96"/>
                    <a:pt x="263" y="96"/>
                    <a:pt x="263" y="96"/>
                  </a:cubicBezTo>
                  <a:cubicBezTo>
                    <a:pt x="303" y="113"/>
                    <a:pt x="303" y="113"/>
                    <a:pt x="303" y="113"/>
                  </a:cubicBezTo>
                  <a:cubicBezTo>
                    <a:pt x="319" y="136"/>
                    <a:pt x="319" y="136"/>
                    <a:pt x="319" y="136"/>
                  </a:cubicBezTo>
                  <a:cubicBezTo>
                    <a:pt x="319" y="136"/>
                    <a:pt x="335" y="143"/>
                    <a:pt x="335" y="150"/>
                  </a:cubicBezTo>
                  <a:cubicBezTo>
                    <a:pt x="335" y="158"/>
                    <a:pt x="308" y="165"/>
                    <a:pt x="316" y="172"/>
                  </a:cubicBezTo>
                  <a:cubicBezTo>
                    <a:pt x="324" y="180"/>
                    <a:pt x="348" y="163"/>
                    <a:pt x="356" y="163"/>
                  </a:cubicBezTo>
                  <a:cubicBezTo>
                    <a:pt x="364" y="163"/>
                    <a:pt x="381" y="165"/>
                    <a:pt x="367" y="168"/>
                  </a:cubicBezTo>
                  <a:cubicBezTo>
                    <a:pt x="354" y="170"/>
                    <a:pt x="375" y="180"/>
                    <a:pt x="375" y="180"/>
                  </a:cubicBezTo>
                  <a:cubicBezTo>
                    <a:pt x="375" y="180"/>
                    <a:pt x="397" y="185"/>
                    <a:pt x="426" y="178"/>
                  </a:cubicBezTo>
                  <a:cubicBezTo>
                    <a:pt x="456" y="170"/>
                    <a:pt x="493" y="163"/>
                    <a:pt x="493" y="163"/>
                  </a:cubicBezTo>
                  <a:cubicBezTo>
                    <a:pt x="493" y="163"/>
                    <a:pt x="493" y="153"/>
                    <a:pt x="475" y="151"/>
                  </a:cubicBezTo>
                  <a:close/>
                  <a:moveTo>
                    <a:pt x="78" y="84"/>
                  </a:moveTo>
                  <a:cubicBezTo>
                    <a:pt x="75" y="97"/>
                    <a:pt x="102" y="99"/>
                    <a:pt x="104" y="84"/>
                  </a:cubicBezTo>
                  <a:cubicBezTo>
                    <a:pt x="107" y="70"/>
                    <a:pt x="78" y="84"/>
                    <a:pt x="78" y="84"/>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346" name="Freeform 190">
              <a:extLst>
                <a:ext uri="{FF2B5EF4-FFF2-40B4-BE49-F238E27FC236}">
                  <a16:creationId xmlns:a16="http://schemas.microsoft.com/office/drawing/2014/main" id="{BCE231E5-5AAF-4B3F-AC98-9D89FE079A6A}"/>
                </a:ext>
              </a:extLst>
            </p:cNvPr>
            <p:cNvSpPr>
              <a:spLocks/>
            </p:cNvSpPr>
            <p:nvPr/>
          </p:nvSpPr>
          <p:spPr bwMode="gray">
            <a:xfrm>
              <a:off x="2267221" y="2051639"/>
              <a:ext cx="73223" cy="26878"/>
            </a:xfrm>
            <a:custGeom>
              <a:avLst/>
              <a:gdLst>
                <a:gd name="T0" fmla="*/ 72 w 108"/>
                <a:gd name="T1" fmla="*/ 42 h 42"/>
                <a:gd name="T2" fmla="*/ 79 w 108"/>
                <a:gd name="T3" fmla="*/ 28 h 42"/>
                <a:gd name="T4" fmla="*/ 108 w 108"/>
                <a:gd name="T5" fmla="*/ 34 h 42"/>
                <a:gd name="T6" fmla="*/ 85 w 108"/>
                <a:gd name="T7" fmla="*/ 9 h 42"/>
                <a:gd name="T8" fmla="*/ 48 w 108"/>
                <a:gd name="T9" fmla="*/ 6 h 42"/>
                <a:gd name="T10" fmla="*/ 19 w 108"/>
                <a:gd name="T11" fmla="*/ 4 h 42"/>
                <a:gd name="T12" fmla="*/ 0 w 108"/>
                <a:gd name="T13" fmla="*/ 9 h 42"/>
                <a:gd name="T14" fmla="*/ 17 w 108"/>
                <a:gd name="T15" fmla="*/ 26 h 42"/>
                <a:gd name="T16" fmla="*/ 43 w 108"/>
                <a:gd name="T17" fmla="*/ 32 h 42"/>
                <a:gd name="T18" fmla="*/ 54 w 108"/>
                <a:gd name="T19" fmla="*/ 38 h 42"/>
                <a:gd name="T20" fmla="*/ 72 w 108"/>
                <a:gd name="T21" fmla="*/ 4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8" h="42">
                  <a:moveTo>
                    <a:pt x="72" y="42"/>
                  </a:moveTo>
                  <a:cubicBezTo>
                    <a:pt x="79" y="28"/>
                    <a:pt x="79" y="28"/>
                    <a:pt x="79" y="28"/>
                  </a:cubicBezTo>
                  <a:cubicBezTo>
                    <a:pt x="108" y="34"/>
                    <a:pt x="108" y="34"/>
                    <a:pt x="108" y="34"/>
                  </a:cubicBezTo>
                  <a:cubicBezTo>
                    <a:pt x="108" y="34"/>
                    <a:pt x="95" y="9"/>
                    <a:pt x="85" y="9"/>
                  </a:cubicBezTo>
                  <a:cubicBezTo>
                    <a:pt x="75" y="9"/>
                    <a:pt x="58" y="7"/>
                    <a:pt x="48" y="6"/>
                  </a:cubicBezTo>
                  <a:cubicBezTo>
                    <a:pt x="37" y="4"/>
                    <a:pt x="27" y="0"/>
                    <a:pt x="19" y="4"/>
                  </a:cubicBezTo>
                  <a:cubicBezTo>
                    <a:pt x="11" y="7"/>
                    <a:pt x="0" y="9"/>
                    <a:pt x="0" y="9"/>
                  </a:cubicBezTo>
                  <a:cubicBezTo>
                    <a:pt x="0" y="9"/>
                    <a:pt x="8" y="20"/>
                    <a:pt x="17" y="26"/>
                  </a:cubicBezTo>
                  <a:cubicBezTo>
                    <a:pt x="25" y="32"/>
                    <a:pt x="43" y="32"/>
                    <a:pt x="43" y="32"/>
                  </a:cubicBezTo>
                  <a:cubicBezTo>
                    <a:pt x="54" y="38"/>
                    <a:pt x="54" y="38"/>
                    <a:pt x="54" y="38"/>
                  </a:cubicBezTo>
                  <a:lnTo>
                    <a:pt x="72" y="42"/>
                  </a:ln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347" name="Freeform 191">
              <a:extLst>
                <a:ext uri="{FF2B5EF4-FFF2-40B4-BE49-F238E27FC236}">
                  <a16:creationId xmlns:a16="http://schemas.microsoft.com/office/drawing/2014/main" id="{635B8CE7-A582-4095-8AD1-810863DCA459}"/>
                </a:ext>
              </a:extLst>
            </p:cNvPr>
            <p:cNvSpPr>
              <a:spLocks/>
            </p:cNvSpPr>
            <p:nvPr/>
          </p:nvSpPr>
          <p:spPr bwMode="gray">
            <a:xfrm>
              <a:off x="2627595" y="2053540"/>
              <a:ext cx="65757" cy="25520"/>
            </a:xfrm>
            <a:custGeom>
              <a:avLst/>
              <a:gdLst>
                <a:gd name="T0" fmla="*/ 60 w 97"/>
                <a:gd name="T1" fmla="*/ 9 h 40"/>
                <a:gd name="T2" fmla="*/ 15 w 97"/>
                <a:gd name="T3" fmla="*/ 0 h 40"/>
                <a:gd name="T4" fmla="*/ 2 w 97"/>
                <a:gd name="T5" fmla="*/ 32 h 40"/>
                <a:gd name="T6" fmla="*/ 27 w 97"/>
                <a:gd name="T7" fmla="*/ 40 h 40"/>
                <a:gd name="T8" fmla="*/ 33 w 97"/>
                <a:gd name="T9" fmla="*/ 34 h 40"/>
                <a:gd name="T10" fmla="*/ 64 w 97"/>
                <a:gd name="T11" fmla="*/ 34 h 40"/>
                <a:gd name="T12" fmla="*/ 95 w 97"/>
                <a:gd name="T13" fmla="*/ 10 h 40"/>
                <a:gd name="T14" fmla="*/ 60 w 97"/>
                <a:gd name="T15" fmla="*/ 9 h 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7" h="40">
                  <a:moveTo>
                    <a:pt x="60" y="9"/>
                  </a:moveTo>
                  <a:cubicBezTo>
                    <a:pt x="52" y="9"/>
                    <a:pt x="29" y="0"/>
                    <a:pt x="15" y="0"/>
                  </a:cubicBezTo>
                  <a:cubicBezTo>
                    <a:pt x="0" y="0"/>
                    <a:pt x="2" y="32"/>
                    <a:pt x="2" y="32"/>
                  </a:cubicBezTo>
                  <a:cubicBezTo>
                    <a:pt x="27" y="40"/>
                    <a:pt x="27" y="40"/>
                    <a:pt x="27" y="40"/>
                  </a:cubicBezTo>
                  <a:cubicBezTo>
                    <a:pt x="33" y="34"/>
                    <a:pt x="33" y="34"/>
                    <a:pt x="33" y="34"/>
                  </a:cubicBezTo>
                  <a:cubicBezTo>
                    <a:pt x="33" y="34"/>
                    <a:pt x="48" y="36"/>
                    <a:pt x="64" y="34"/>
                  </a:cubicBezTo>
                  <a:cubicBezTo>
                    <a:pt x="81" y="32"/>
                    <a:pt x="97" y="17"/>
                    <a:pt x="95" y="10"/>
                  </a:cubicBezTo>
                  <a:cubicBezTo>
                    <a:pt x="93" y="2"/>
                    <a:pt x="68" y="10"/>
                    <a:pt x="60" y="9"/>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348" name="Freeform 192">
              <a:extLst>
                <a:ext uri="{FF2B5EF4-FFF2-40B4-BE49-F238E27FC236}">
                  <a16:creationId xmlns:a16="http://schemas.microsoft.com/office/drawing/2014/main" id="{0D70B2A3-4EFB-4FC2-9174-0FEF74300A7D}"/>
                </a:ext>
              </a:extLst>
            </p:cNvPr>
            <p:cNvSpPr>
              <a:spLocks/>
            </p:cNvSpPr>
            <p:nvPr/>
          </p:nvSpPr>
          <p:spPr bwMode="gray">
            <a:xfrm>
              <a:off x="3105699" y="920888"/>
              <a:ext cx="197272" cy="166694"/>
            </a:xfrm>
            <a:custGeom>
              <a:avLst/>
              <a:gdLst>
                <a:gd name="T0" fmla="*/ 180 w 291"/>
                <a:gd name="T1" fmla="*/ 17 h 260"/>
                <a:gd name="T2" fmla="*/ 226 w 291"/>
                <a:gd name="T3" fmla="*/ 5 h 260"/>
                <a:gd name="T4" fmla="*/ 229 w 291"/>
                <a:gd name="T5" fmla="*/ 20 h 260"/>
                <a:gd name="T6" fmla="*/ 215 w 291"/>
                <a:gd name="T7" fmla="*/ 29 h 260"/>
                <a:gd name="T8" fmla="*/ 198 w 291"/>
                <a:gd name="T9" fmla="*/ 60 h 260"/>
                <a:gd name="T10" fmla="*/ 171 w 291"/>
                <a:gd name="T11" fmla="*/ 72 h 260"/>
                <a:gd name="T12" fmla="*/ 147 w 291"/>
                <a:gd name="T13" fmla="*/ 101 h 260"/>
                <a:gd name="T14" fmla="*/ 145 w 291"/>
                <a:gd name="T15" fmla="*/ 119 h 260"/>
                <a:gd name="T16" fmla="*/ 162 w 291"/>
                <a:gd name="T17" fmla="*/ 106 h 260"/>
                <a:gd name="T18" fmla="*/ 180 w 291"/>
                <a:gd name="T19" fmla="*/ 76 h 260"/>
                <a:gd name="T20" fmla="*/ 194 w 291"/>
                <a:gd name="T21" fmla="*/ 88 h 260"/>
                <a:gd name="T22" fmla="*/ 210 w 291"/>
                <a:gd name="T23" fmla="*/ 94 h 260"/>
                <a:gd name="T24" fmla="*/ 202 w 291"/>
                <a:gd name="T25" fmla="*/ 115 h 260"/>
                <a:gd name="T26" fmla="*/ 222 w 291"/>
                <a:gd name="T27" fmla="*/ 113 h 260"/>
                <a:gd name="T28" fmla="*/ 228 w 291"/>
                <a:gd name="T29" fmla="*/ 132 h 260"/>
                <a:gd name="T30" fmla="*/ 262 w 291"/>
                <a:gd name="T31" fmla="*/ 111 h 260"/>
                <a:gd name="T32" fmla="*/ 275 w 291"/>
                <a:gd name="T33" fmla="*/ 120 h 260"/>
                <a:gd name="T34" fmla="*/ 256 w 291"/>
                <a:gd name="T35" fmla="*/ 138 h 260"/>
                <a:gd name="T36" fmla="*/ 280 w 291"/>
                <a:gd name="T37" fmla="*/ 144 h 260"/>
                <a:gd name="T38" fmla="*/ 242 w 291"/>
                <a:gd name="T39" fmla="*/ 197 h 260"/>
                <a:gd name="T40" fmla="*/ 266 w 291"/>
                <a:gd name="T41" fmla="*/ 198 h 260"/>
                <a:gd name="T42" fmla="*/ 244 w 291"/>
                <a:gd name="T43" fmla="*/ 212 h 260"/>
                <a:gd name="T44" fmla="*/ 264 w 291"/>
                <a:gd name="T45" fmla="*/ 213 h 260"/>
                <a:gd name="T46" fmla="*/ 286 w 291"/>
                <a:gd name="T47" fmla="*/ 204 h 260"/>
                <a:gd name="T48" fmla="*/ 291 w 291"/>
                <a:gd name="T49" fmla="*/ 219 h 260"/>
                <a:gd name="T50" fmla="*/ 244 w 291"/>
                <a:gd name="T51" fmla="*/ 260 h 260"/>
                <a:gd name="T52" fmla="*/ 216 w 291"/>
                <a:gd name="T53" fmla="*/ 256 h 260"/>
                <a:gd name="T54" fmla="*/ 232 w 291"/>
                <a:gd name="T55" fmla="*/ 240 h 260"/>
                <a:gd name="T56" fmla="*/ 210 w 291"/>
                <a:gd name="T57" fmla="*/ 242 h 260"/>
                <a:gd name="T58" fmla="*/ 205 w 291"/>
                <a:gd name="T59" fmla="*/ 237 h 260"/>
                <a:gd name="T60" fmla="*/ 158 w 291"/>
                <a:gd name="T61" fmla="*/ 243 h 260"/>
                <a:gd name="T62" fmla="*/ 133 w 291"/>
                <a:gd name="T63" fmla="*/ 239 h 260"/>
                <a:gd name="T64" fmla="*/ 131 w 291"/>
                <a:gd name="T65" fmla="*/ 236 h 260"/>
                <a:gd name="T66" fmla="*/ 159 w 291"/>
                <a:gd name="T67" fmla="*/ 228 h 260"/>
                <a:gd name="T68" fmla="*/ 152 w 291"/>
                <a:gd name="T69" fmla="*/ 217 h 260"/>
                <a:gd name="T70" fmla="*/ 64 w 291"/>
                <a:gd name="T71" fmla="*/ 199 h 260"/>
                <a:gd name="T72" fmla="*/ 12 w 291"/>
                <a:gd name="T73" fmla="*/ 201 h 260"/>
                <a:gd name="T74" fmla="*/ 34 w 291"/>
                <a:gd name="T75" fmla="*/ 186 h 260"/>
                <a:gd name="T76" fmla="*/ 8 w 291"/>
                <a:gd name="T77" fmla="*/ 176 h 260"/>
                <a:gd name="T78" fmla="*/ 50 w 291"/>
                <a:gd name="T79" fmla="*/ 153 h 260"/>
                <a:gd name="T80" fmla="*/ 106 w 291"/>
                <a:gd name="T81" fmla="*/ 101 h 260"/>
                <a:gd name="T82" fmla="*/ 143 w 291"/>
                <a:gd name="T83" fmla="*/ 65 h 260"/>
                <a:gd name="T84" fmla="*/ 180 w 291"/>
                <a:gd name="T85" fmla="*/ 17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91" h="260">
                  <a:moveTo>
                    <a:pt x="180" y="17"/>
                  </a:moveTo>
                  <a:cubicBezTo>
                    <a:pt x="180" y="17"/>
                    <a:pt x="209" y="0"/>
                    <a:pt x="226" y="5"/>
                  </a:cubicBezTo>
                  <a:cubicBezTo>
                    <a:pt x="244" y="10"/>
                    <a:pt x="229" y="20"/>
                    <a:pt x="229" y="20"/>
                  </a:cubicBezTo>
                  <a:cubicBezTo>
                    <a:pt x="215" y="29"/>
                    <a:pt x="215" y="29"/>
                    <a:pt x="215" y="29"/>
                  </a:cubicBezTo>
                  <a:cubicBezTo>
                    <a:pt x="215" y="29"/>
                    <a:pt x="210" y="49"/>
                    <a:pt x="198" y="60"/>
                  </a:cubicBezTo>
                  <a:cubicBezTo>
                    <a:pt x="186" y="71"/>
                    <a:pt x="171" y="72"/>
                    <a:pt x="171" y="72"/>
                  </a:cubicBezTo>
                  <a:cubicBezTo>
                    <a:pt x="147" y="101"/>
                    <a:pt x="147" y="101"/>
                    <a:pt x="147" y="101"/>
                  </a:cubicBezTo>
                  <a:cubicBezTo>
                    <a:pt x="145" y="119"/>
                    <a:pt x="145" y="119"/>
                    <a:pt x="145" y="119"/>
                  </a:cubicBezTo>
                  <a:cubicBezTo>
                    <a:pt x="162" y="106"/>
                    <a:pt x="162" y="106"/>
                    <a:pt x="162" y="106"/>
                  </a:cubicBezTo>
                  <a:cubicBezTo>
                    <a:pt x="180" y="76"/>
                    <a:pt x="180" y="76"/>
                    <a:pt x="180" y="76"/>
                  </a:cubicBezTo>
                  <a:cubicBezTo>
                    <a:pt x="194" y="88"/>
                    <a:pt x="194" y="88"/>
                    <a:pt x="194" y="88"/>
                  </a:cubicBezTo>
                  <a:cubicBezTo>
                    <a:pt x="210" y="94"/>
                    <a:pt x="210" y="94"/>
                    <a:pt x="210" y="94"/>
                  </a:cubicBezTo>
                  <a:cubicBezTo>
                    <a:pt x="202" y="115"/>
                    <a:pt x="202" y="115"/>
                    <a:pt x="202" y="115"/>
                  </a:cubicBezTo>
                  <a:cubicBezTo>
                    <a:pt x="222" y="113"/>
                    <a:pt x="222" y="113"/>
                    <a:pt x="222" y="113"/>
                  </a:cubicBezTo>
                  <a:cubicBezTo>
                    <a:pt x="228" y="132"/>
                    <a:pt x="228" y="132"/>
                    <a:pt x="228" y="132"/>
                  </a:cubicBezTo>
                  <a:cubicBezTo>
                    <a:pt x="262" y="111"/>
                    <a:pt x="262" y="111"/>
                    <a:pt x="262" y="111"/>
                  </a:cubicBezTo>
                  <a:cubicBezTo>
                    <a:pt x="275" y="120"/>
                    <a:pt x="275" y="120"/>
                    <a:pt x="275" y="120"/>
                  </a:cubicBezTo>
                  <a:cubicBezTo>
                    <a:pt x="275" y="120"/>
                    <a:pt x="265" y="135"/>
                    <a:pt x="256" y="138"/>
                  </a:cubicBezTo>
                  <a:cubicBezTo>
                    <a:pt x="248" y="141"/>
                    <a:pt x="274" y="144"/>
                    <a:pt x="280" y="144"/>
                  </a:cubicBezTo>
                  <a:cubicBezTo>
                    <a:pt x="286" y="145"/>
                    <a:pt x="242" y="197"/>
                    <a:pt x="242" y="197"/>
                  </a:cubicBezTo>
                  <a:cubicBezTo>
                    <a:pt x="266" y="198"/>
                    <a:pt x="266" y="198"/>
                    <a:pt x="266" y="198"/>
                  </a:cubicBezTo>
                  <a:cubicBezTo>
                    <a:pt x="244" y="212"/>
                    <a:pt x="244" y="212"/>
                    <a:pt x="244" y="212"/>
                  </a:cubicBezTo>
                  <a:cubicBezTo>
                    <a:pt x="264" y="213"/>
                    <a:pt x="264" y="213"/>
                    <a:pt x="264" y="213"/>
                  </a:cubicBezTo>
                  <a:cubicBezTo>
                    <a:pt x="286" y="204"/>
                    <a:pt x="286" y="204"/>
                    <a:pt x="286" y="204"/>
                  </a:cubicBezTo>
                  <a:cubicBezTo>
                    <a:pt x="291" y="219"/>
                    <a:pt x="291" y="219"/>
                    <a:pt x="291" y="219"/>
                  </a:cubicBezTo>
                  <a:cubicBezTo>
                    <a:pt x="244" y="260"/>
                    <a:pt x="244" y="260"/>
                    <a:pt x="244" y="260"/>
                  </a:cubicBezTo>
                  <a:cubicBezTo>
                    <a:pt x="216" y="256"/>
                    <a:pt x="216" y="256"/>
                    <a:pt x="216" y="256"/>
                  </a:cubicBezTo>
                  <a:cubicBezTo>
                    <a:pt x="232" y="240"/>
                    <a:pt x="232" y="240"/>
                    <a:pt x="232" y="240"/>
                  </a:cubicBezTo>
                  <a:cubicBezTo>
                    <a:pt x="210" y="242"/>
                    <a:pt x="210" y="242"/>
                    <a:pt x="210" y="242"/>
                  </a:cubicBezTo>
                  <a:cubicBezTo>
                    <a:pt x="205" y="237"/>
                    <a:pt x="205" y="237"/>
                    <a:pt x="205" y="237"/>
                  </a:cubicBezTo>
                  <a:cubicBezTo>
                    <a:pt x="158" y="243"/>
                    <a:pt x="158" y="243"/>
                    <a:pt x="158" y="243"/>
                  </a:cubicBezTo>
                  <a:cubicBezTo>
                    <a:pt x="133" y="239"/>
                    <a:pt x="133" y="239"/>
                    <a:pt x="133" y="239"/>
                  </a:cubicBezTo>
                  <a:cubicBezTo>
                    <a:pt x="131" y="236"/>
                    <a:pt x="131" y="236"/>
                    <a:pt x="131" y="236"/>
                  </a:cubicBezTo>
                  <a:cubicBezTo>
                    <a:pt x="159" y="228"/>
                    <a:pt x="159" y="228"/>
                    <a:pt x="159" y="228"/>
                  </a:cubicBezTo>
                  <a:cubicBezTo>
                    <a:pt x="159" y="228"/>
                    <a:pt x="168" y="217"/>
                    <a:pt x="152" y="217"/>
                  </a:cubicBezTo>
                  <a:cubicBezTo>
                    <a:pt x="136" y="216"/>
                    <a:pt x="64" y="199"/>
                    <a:pt x="64" y="199"/>
                  </a:cubicBezTo>
                  <a:cubicBezTo>
                    <a:pt x="64" y="199"/>
                    <a:pt x="24" y="213"/>
                    <a:pt x="12" y="201"/>
                  </a:cubicBezTo>
                  <a:cubicBezTo>
                    <a:pt x="0" y="189"/>
                    <a:pt x="34" y="186"/>
                    <a:pt x="34" y="186"/>
                  </a:cubicBezTo>
                  <a:cubicBezTo>
                    <a:pt x="34" y="186"/>
                    <a:pt x="6" y="183"/>
                    <a:pt x="8" y="176"/>
                  </a:cubicBezTo>
                  <a:cubicBezTo>
                    <a:pt x="10" y="170"/>
                    <a:pt x="50" y="153"/>
                    <a:pt x="50" y="153"/>
                  </a:cubicBezTo>
                  <a:cubicBezTo>
                    <a:pt x="106" y="101"/>
                    <a:pt x="106" y="101"/>
                    <a:pt x="106" y="101"/>
                  </a:cubicBezTo>
                  <a:cubicBezTo>
                    <a:pt x="143" y="65"/>
                    <a:pt x="143" y="65"/>
                    <a:pt x="143" y="65"/>
                  </a:cubicBezTo>
                  <a:lnTo>
                    <a:pt x="180" y="17"/>
                  </a:ln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349" name="Freeform 193">
              <a:extLst>
                <a:ext uri="{FF2B5EF4-FFF2-40B4-BE49-F238E27FC236}">
                  <a16:creationId xmlns:a16="http://schemas.microsoft.com/office/drawing/2014/main" id="{BCE553F9-1A1E-49D3-86E3-F5E6CC4E93E0}"/>
                </a:ext>
              </a:extLst>
            </p:cNvPr>
            <p:cNvSpPr>
              <a:spLocks/>
            </p:cNvSpPr>
            <p:nvPr/>
          </p:nvSpPr>
          <p:spPr bwMode="gray">
            <a:xfrm>
              <a:off x="1875836" y="2190640"/>
              <a:ext cx="79540" cy="47510"/>
            </a:xfrm>
            <a:custGeom>
              <a:avLst/>
              <a:gdLst>
                <a:gd name="T0" fmla="*/ 116 w 117"/>
                <a:gd name="T1" fmla="*/ 57 h 74"/>
                <a:gd name="T2" fmla="*/ 115 w 117"/>
                <a:gd name="T3" fmla="*/ 28 h 74"/>
                <a:gd name="T4" fmla="*/ 100 w 117"/>
                <a:gd name="T5" fmla="*/ 26 h 74"/>
                <a:gd name="T6" fmla="*/ 84 w 117"/>
                <a:gd name="T7" fmla="*/ 32 h 74"/>
                <a:gd name="T8" fmla="*/ 76 w 117"/>
                <a:gd name="T9" fmla="*/ 16 h 74"/>
                <a:gd name="T10" fmla="*/ 61 w 117"/>
                <a:gd name="T11" fmla="*/ 16 h 74"/>
                <a:gd name="T12" fmla="*/ 48 w 117"/>
                <a:gd name="T13" fmla="*/ 0 h 74"/>
                <a:gd name="T14" fmla="*/ 33 w 117"/>
                <a:gd name="T15" fmla="*/ 4 h 74"/>
                <a:gd name="T16" fmla="*/ 32 w 117"/>
                <a:gd name="T17" fmla="*/ 12 h 74"/>
                <a:gd name="T18" fmla="*/ 19 w 117"/>
                <a:gd name="T19" fmla="*/ 24 h 74"/>
                <a:gd name="T20" fmla="*/ 0 w 117"/>
                <a:gd name="T21" fmla="*/ 39 h 74"/>
                <a:gd name="T22" fmla="*/ 20 w 117"/>
                <a:gd name="T23" fmla="*/ 52 h 74"/>
                <a:gd name="T24" fmla="*/ 48 w 117"/>
                <a:gd name="T25" fmla="*/ 53 h 74"/>
                <a:gd name="T26" fmla="*/ 64 w 117"/>
                <a:gd name="T27" fmla="*/ 66 h 74"/>
                <a:gd name="T28" fmla="*/ 86 w 117"/>
                <a:gd name="T29" fmla="*/ 64 h 74"/>
                <a:gd name="T30" fmla="*/ 98 w 117"/>
                <a:gd name="T31" fmla="*/ 74 h 74"/>
                <a:gd name="T32" fmla="*/ 110 w 117"/>
                <a:gd name="T33" fmla="*/ 55 h 74"/>
                <a:gd name="T34" fmla="*/ 117 w 117"/>
                <a:gd name="T35" fmla="*/ 57 h 74"/>
                <a:gd name="T36" fmla="*/ 116 w 117"/>
                <a:gd name="T37" fmla="*/ 57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7" h="74">
                  <a:moveTo>
                    <a:pt x="116" y="57"/>
                  </a:moveTo>
                  <a:cubicBezTo>
                    <a:pt x="115" y="28"/>
                    <a:pt x="115" y="28"/>
                    <a:pt x="115" y="28"/>
                  </a:cubicBezTo>
                  <a:cubicBezTo>
                    <a:pt x="115" y="28"/>
                    <a:pt x="105" y="27"/>
                    <a:pt x="100" y="26"/>
                  </a:cubicBezTo>
                  <a:cubicBezTo>
                    <a:pt x="95" y="25"/>
                    <a:pt x="93" y="30"/>
                    <a:pt x="84" y="32"/>
                  </a:cubicBezTo>
                  <a:cubicBezTo>
                    <a:pt x="75" y="34"/>
                    <a:pt x="76" y="16"/>
                    <a:pt x="76" y="16"/>
                  </a:cubicBezTo>
                  <a:cubicBezTo>
                    <a:pt x="76" y="16"/>
                    <a:pt x="70" y="16"/>
                    <a:pt x="61" y="16"/>
                  </a:cubicBezTo>
                  <a:cubicBezTo>
                    <a:pt x="54" y="16"/>
                    <a:pt x="50" y="5"/>
                    <a:pt x="48" y="0"/>
                  </a:cubicBezTo>
                  <a:cubicBezTo>
                    <a:pt x="41" y="3"/>
                    <a:pt x="33" y="4"/>
                    <a:pt x="33" y="4"/>
                  </a:cubicBezTo>
                  <a:cubicBezTo>
                    <a:pt x="32" y="12"/>
                    <a:pt x="32" y="12"/>
                    <a:pt x="32" y="12"/>
                  </a:cubicBezTo>
                  <a:cubicBezTo>
                    <a:pt x="32" y="12"/>
                    <a:pt x="27" y="22"/>
                    <a:pt x="19" y="24"/>
                  </a:cubicBezTo>
                  <a:cubicBezTo>
                    <a:pt x="13" y="25"/>
                    <a:pt x="5" y="34"/>
                    <a:pt x="0" y="39"/>
                  </a:cubicBezTo>
                  <a:cubicBezTo>
                    <a:pt x="7" y="44"/>
                    <a:pt x="16" y="50"/>
                    <a:pt x="20" y="52"/>
                  </a:cubicBezTo>
                  <a:cubicBezTo>
                    <a:pt x="28" y="55"/>
                    <a:pt x="48" y="53"/>
                    <a:pt x="48" y="53"/>
                  </a:cubicBezTo>
                  <a:cubicBezTo>
                    <a:pt x="64" y="66"/>
                    <a:pt x="64" y="66"/>
                    <a:pt x="64" y="66"/>
                  </a:cubicBezTo>
                  <a:cubicBezTo>
                    <a:pt x="86" y="64"/>
                    <a:pt x="86" y="64"/>
                    <a:pt x="86" y="64"/>
                  </a:cubicBezTo>
                  <a:cubicBezTo>
                    <a:pt x="98" y="74"/>
                    <a:pt x="98" y="74"/>
                    <a:pt x="98" y="74"/>
                  </a:cubicBezTo>
                  <a:cubicBezTo>
                    <a:pt x="110" y="55"/>
                    <a:pt x="110" y="55"/>
                    <a:pt x="110" y="55"/>
                  </a:cubicBezTo>
                  <a:cubicBezTo>
                    <a:pt x="117" y="57"/>
                    <a:pt x="117" y="57"/>
                    <a:pt x="117" y="57"/>
                  </a:cubicBezTo>
                  <a:lnTo>
                    <a:pt x="116" y="57"/>
                  </a:ln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350" name="Freeform 194">
              <a:extLst>
                <a:ext uri="{FF2B5EF4-FFF2-40B4-BE49-F238E27FC236}">
                  <a16:creationId xmlns:a16="http://schemas.microsoft.com/office/drawing/2014/main" id="{FC72AE4B-FCBD-4287-BA8B-C066779341A9}"/>
                </a:ext>
              </a:extLst>
            </p:cNvPr>
            <p:cNvSpPr>
              <a:spLocks/>
            </p:cNvSpPr>
            <p:nvPr/>
          </p:nvSpPr>
          <p:spPr bwMode="gray">
            <a:xfrm>
              <a:off x="1916611" y="2050823"/>
              <a:ext cx="48816" cy="89863"/>
            </a:xfrm>
            <a:custGeom>
              <a:avLst/>
              <a:gdLst>
                <a:gd name="T0" fmla="*/ 72 w 72"/>
                <a:gd name="T1" fmla="*/ 22 h 140"/>
                <a:gd name="T2" fmla="*/ 54 w 72"/>
                <a:gd name="T3" fmla="*/ 11 h 140"/>
                <a:gd name="T4" fmla="*/ 51 w 72"/>
                <a:gd name="T5" fmla="*/ 0 h 140"/>
                <a:gd name="T6" fmla="*/ 33 w 72"/>
                <a:gd name="T7" fmla="*/ 33 h 140"/>
                <a:gd name="T8" fmla="*/ 23 w 72"/>
                <a:gd name="T9" fmla="*/ 26 h 140"/>
                <a:gd name="T10" fmla="*/ 16 w 72"/>
                <a:gd name="T11" fmla="*/ 36 h 140"/>
                <a:gd name="T12" fmla="*/ 0 w 72"/>
                <a:gd name="T13" fmla="*/ 140 h 140"/>
                <a:gd name="T14" fmla="*/ 18 w 72"/>
                <a:gd name="T15" fmla="*/ 140 h 140"/>
                <a:gd name="T16" fmla="*/ 28 w 72"/>
                <a:gd name="T17" fmla="*/ 114 h 140"/>
                <a:gd name="T18" fmla="*/ 39 w 72"/>
                <a:gd name="T19" fmla="*/ 118 h 140"/>
                <a:gd name="T20" fmla="*/ 55 w 72"/>
                <a:gd name="T21" fmla="*/ 93 h 140"/>
                <a:gd name="T22" fmla="*/ 55 w 72"/>
                <a:gd name="T23" fmla="*/ 60 h 140"/>
                <a:gd name="T24" fmla="*/ 72 w 72"/>
                <a:gd name="T25" fmla="*/ 22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2" h="140">
                  <a:moveTo>
                    <a:pt x="72" y="22"/>
                  </a:moveTo>
                  <a:cubicBezTo>
                    <a:pt x="72" y="17"/>
                    <a:pt x="54" y="11"/>
                    <a:pt x="54" y="11"/>
                  </a:cubicBezTo>
                  <a:cubicBezTo>
                    <a:pt x="51" y="0"/>
                    <a:pt x="51" y="0"/>
                    <a:pt x="51" y="0"/>
                  </a:cubicBezTo>
                  <a:cubicBezTo>
                    <a:pt x="51" y="0"/>
                    <a:pt x="44" y="32"/>
                    <a:pt x="33" y="33"/>
                  </a:cubicBezTo>
                  <a:cubicBezTo>
                    <a:pt x="22" y="34"/>
                    <a:pt x="28" y="26"/>
                    <a:pt x="23" y="26"/>
                  </a:cubicBezTo>
                  <a:cubicBezTo>
                    <a:pt x="18" y="26"/>
                    <a:pt x="16" y="36"/>
                    <a:pt x="16" y="36"/>
                  </a:cubicBezTo>
                  <a:cubicBezTo>
                    <a:pt x="0" y="140"/>
                    <a:pt x="0" y="140"/>
                    <a:pt x="0" y="140"/>
                  </a:cubicBezTo>
                  <a:cubicBezTo>
                    <a:pt x="18" y="140"/>
                    <a:pt x="18" y="140"/>
                    <a:pt x="18" y="140"/>
                  </a:cubicBezTo>
                  <a:cubicBezTo>
                    <a:pt x="28" y="114"/>
                    <a:pt x="28" y="114"/>
                    <a:pt x="28" y="114"/>
                  </a:cubicBezTo>
                  <a:cubicBezTo>
                    <a:pt x="39" y="118"/>
                    <a:pt x="39" y="118"/>
                    <a:pt x="39" y="118"/>
                  </a:cubicBezTo>
                  <a:cubicBezTo>
                    <a:pt x="39" y="118"/>
                    <a:pt x="55" y="104"/>
                    <a:pt x="55" y="93"/>
                  </a:cubicBezTo>
                  <a:cubicBezTo>
                    <a:pt x="55" y="82"/>
                    <a:pt x="51" y="70"/>
                    <a:pt x="55" y="60"/>
                  </a:cubicBezTo>
                  <a:cubicBezTo>
                    <a:pt x="59" y="50"/>
                    <a:pt x="72" y="27"/>
                    <a:pt x="72" y="22"/>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387" name="Freeform 195">
              <a:extLst>
                <a:ext uri="{FF2B5EF4-FFF2-40B4-BE49-F238E27FC236}">
                  <a16:creationId xmlns:a16="http://schemas.microsoft.com/office/drawing/2014/main" id="{F2B307CB-7D46-4B22-A578-1DB0F689B6A2}"/>
                </a:ext>
              </a:extLst>
            </p:cNvPr>
            <p:cNvSpPr>
              <a:spLocks/>
            </p:cNvSpPr>
            <p:nvPr/>
          </p:nvSpPr>
          <p:spPr bwMode="gray">
            <a:xfrm>
              <a:off x="1813525" y="2073358"/>
              <a:ext cx="134961" cy="142531"/>
            </a:xfrm>
            <a:custGeom>
              <a:avLst/>
              <a:gdLst>
                <a:gd name="T0" fmla="*/ 190 w 199"/>
                <a:gd name="T1" fmla="*/ 103 h 222"/>
                <a:gd name="T2" fmla="*/ 179 w 199"/>
                <a:gd name="T3" fmla="*/ 110 h 222"/>
                <a:gd name="T4" fmla="*/ 170 w 199"/>
                <a:gd name="T5" fmla="*/ 105 h 222"/>
                <a:gd name="T6" fmla="*/ 152 w 199"/>
                <a:gd name="T7" fmla="*/ 105 h 222"/>
                <a:gd name="T8" fmla="*/ 168 w 199"/>
                <a:gd name="T9" fmla="*/ 1 h 222"/>
                <a:gd name="T10" fmla="*/ 81 w 199"/>
                <a:gd name="T11" fmla="*/ 0 h 222"/>
                <a:gd name="T12" fmla="*/ 82 w 199"/>
                <a:gd name="T13" fmla="*/ 30 h 222"/>
                <a:gd name="T14" fmla="*/ 54 w 199"/>
                <a:gd name="T15" fmla="*/ 34 h 222"/>
                <a:gd name="T16" fmla="*/ 64 w 199"/>
                <a:gd name="T17" fmla="*/ 38 h 222"/>
                <a:gd name="T18" fmla="*/ 75 w 199"/>
                <a:gd name="T19" fmla="*/ 56 h 222"/>
                <a:gd name="T20" fmla="*/ 87 w 199"/>
                <a:gd name="T21" fmla="*/ 57 h 222"/>
                <a:gd name="T22" fmla="*/ 91 w 199"/>
                <a:gd name="T23" fmla="*/ 73 h 222"/>
                <a:gd name="T24" fmla="*/ 103 w 199"/>
                <a:gd name="T25" fmla="*/ 79 h 222"/>
                <a:gd name="T26" fmla="*/ 94 w 199"/>
                <a:gd name="T27" fmla="*/ 86 h 222"/>
                <a:gd name="T28" fmla="*/ 94 w 199"/>
                <a:gd name="T29" fmla="*/ 97 h 222"/>
                <a:gd name="T30" fmla="*/ 35 w 199"/>
                <a:gd name="T31" fmla="*/ 96 h 222"/>
                <a:gd name="T32" fmla="*/ 14 w 199"/>
                <a:gd name="T33" fmla="*/ 127 h 222"/>
                <a:gd name="T34" fmla="*/ 14 w 199"/>
                <a:gd name="T35" fmla="*/ 165 h 222"/>
                <a:gd name="T36" fmla="*/ 0 w 199"/>
                <a:gd name="T37" fmla="*/ 179 h 222"/>
                <a:gd name="T38" fmla="*/ 14 w 199"/>
                <a:gd name="T39" fmla="*/ 192 h 222"/>
                <a:gd name="T40" fmla="*/ 47 w 199"/>
                <a:gd name="T41" fmla="*/ 213 h 222"/>
                <a:gd name="T42" fmla="*/ 80 w 199"/>
                <a:gd name="T43" fmla="*/ 213 h 222"/>
                <a:gd name="T44" fmla="*/ 92 w 199"/>
                <a:gd name="T45" fmla="*/ 222 h 222"/>
                <a:gd name="T46" fmla="*/ 111 w 199"/>
                <a:gd name="T47" fmla="*/ 207 h 222"/>
                <a:gd name="T48" fmla="*/ 124 w 199"/>
                <a:gd name="T49" fmla="*/ 195 h 222"/>
                <a:gd name="T50" fmla="*/ 125 w 199"/>
                <a:gd name="T51" fmla="*/ 187 h 222"/>
                <a:gd name="T52" fmla="*/ 149 w 199"/>
                <a:gd name="T53" fmla="*/ 176 h 222"/>
                <a:gd name="T54" fmla="*/ 151 w 199"/>
                <a:gd name="T55" fmla="*/ 155 h 222"/>
                <a:gd name="T56" fmla="*/ 179 w 199"/>
                <a:gd name="T57" fmla="*/ 131 h 222"/>
                <a:gd name="T58" fmla="*/ 199 w 199"/>
                <a:gd name="T59" fmla="*/ 112 h 222"/>
                <a:gd name="T60" fmla="*/ 190 w 199"/>
                <a:gd name="T61" fmla="*/ 103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99" h="222">
                  <a:moveTo>
                    <a:pt x="190" y="103"/>
                  </a:moveTo>
                  <a:cubicBezTo>
                    <a:pt x="179" y="110"/>
                    <a:pt x="179" y="110"/>
                    <a:pt x="179" y="110"/>
                  </a:cubicBezTo>
                  <a:cubicBezTo>
                    <a:pt x="170" y="105"/>
                    <a:pt x="170" y="105"/>
                    <a:pt x="170" y="105"/>
                  </a:cubicBezTo>
                  <a:cubicBezTo>
                    <a:pt x="152" y="105"/>
                    <a:pt x="152" y="105"/>
                    <a:pt x="152" y="105"/>
                  </a:cubicBezTo>
                  <a:cubicBezTo>
                    <a:pt x="168" y="1"/>
                    <a:pt x="168" y="1"/>
                    <a:pt x="168" y="1"/>
                  </a:cubicBezTo>
                  <a:cubicBezTo>
                    <a:pt x="81" y="0"/>
                    <a:pt x="81" y="0"/>
                    <a:pt x="81" y="0"/>
                  </a:cubicBezTo>
                  <a:cubicBezTo>
                    <a:pt x="81" y="0"/>
                    <a:pt x="84" y="24"/>
                    <a:pt x="82" y="30"/>
                  </a:cubicBezTo>
                  <a:cubicBezTo>
                    <a:pt x="80" y="36"/>
                    <a:pt x="54" y="34"/>
                    <a:pt x="54" y="34"/>
                  </a:cubicBezTo>
                  <a:cubicBezTo>
                    <a:pt x="64" y="38"/>
                    <a:pt x="64" y="38"/>
                    <a:pt x="64" y="38"/>
                  </a:cubicBezTo>
                  <a:cubicBezTo>
                    <a:pt x="64" y="38"/>
                    <a:pt x="65" y="54"/>
                    <a:pt x="75" y="56"/>
                  </a:cubicBezTo>
                  <a:cubicBezTo>
                    <a:pt x="85" y="58"/>
                    <a:pt x="87" y="57"/>
                    <a:pt x="87" y="57"/>
                  </a:cubicBezTo>
                  <a:cubicBezTo>
                    <a:pt x="91" y="73"/>
                    <a:pt x="91" y="73"/>
                    <a:pt x="91" y="73"/>
                  </a:cubicBezTo>
                  <a:cubicBezTo>
                    <a:pt x="91" y="73"/>
                    <a:pt x="103" y="69"/>
                    <a:pt x="103" y="79"/>
                  </a:cubicBezTo>
                  <a:cubicBezTo>
                    <a:pt x="103" y="89"/>
                    <a:pt x="94" y="86"/>
                    <a:pt x="94" y="86"/>
                  </a:cubicBezTo>
                  <a:cubicBezTo>
                    <a:pt x="94" y="97"/>
                    <a:pt x="94" y="97"/>
                    <a:pt x="94" y="97"/>
                  </a:cubicBezTo>
                  <a:cubicBezTo>
                    <a:pt x="35" y="96"/>
                    <a:pt x="35" y="96"/>
                    <a:pt x="35" y="96"/>
                  </a:cubicBezTo>
                  <a:cubicBezTo>
                    <a:pt x="14" y="127"/>
                    <a:pt x="14" y="127"/>
                    <a:pt x="14" y="127"/>
                  </a:cubicBezTo>
                  <a:cubicBezTo>
                    <a:pt x="14" y="127"/>
                    <a:pt x="14" y="149"/>
                    <a:pt x="14" y="165"/>
                  </a:cubicBezTo>
                  <a:cubicBezTo>
                    <a:pt x="14" y="181"/>
                    <a:pt x="0" y="179"/>
                    <a:pt x="0" y="179"/>
                  </a:cubicBezTo>
                  <a:cubicBezTo>
                    <a:pt x="3" y="185"/>
                    <a:pt x="7" y="189"/>
                    <a:pt x="14" y="192"/>
                  </a:cubicBezTo>
                  <a:cubicBezTo>
                    <a:pt x="33" y="199"/>
                    <a:pt x="36" y="209"/>
                    <a:pt x="47" y="213"/>
                  </a:cubicBezTo>
                  <a:cubicBezTo>
                    <a:pt x="58" y="217"/>
                    <a:pt x="80" y="213"/>
                    <a:pt x="80" y="213"/>
                  </a:cubicBezTo>
                  <a:cubicBezTo>
                    <a:pt x="80" y="213"/>
                    <a:pt x="86" y="217"/>
                    <a:pt x="92" y="222"/>
                  </a:cubicBezTo>
                  <a:cubicBezTo>
                    <a:pt x="97" y="217"/>
                    <a:pt x="105" y="208"/>
                    <a:pt x="111" y="207"/>
                  </a:cubicBezTo>
                  <a:cubicBezTo>
                    <a:pt x="119" y="205"/>
                    <a:pt x="124" y="195"/>
                    <a:pt x="124" y="195"/>
                  </a:cubicBezTo>
                  <a:cubicBezTo>
                    <a:pt x="125" y="187"/>
                    <a:pt x="125" y="187"/>
                    <a:pt x="125" y="187"/>
                  </a:cubicBezTo>
                  <a:cubicBezTo>
                    <a:pt x="125" y="187"/>
                    <a:pt x="146" y="185"/>
                    <a:pt x="149" y="176"/>
                  </a:cubicBezTo>
                  <a:cubicBezTo>
                    <a:pt x="152" y="167"/>
                    <a:pt x="151" y="155"/>
                    <a:pt x="151" y="155"/>
                  </a:cubicBezTo>
                  <a:cubicBezTo>
                    <a:pt x="151" y="155"/>
                    <a:pt x="164" y="139"/>
                    <a:pt x="179" y="131"/>
                  </a:cubicBezTo>
                  <a:cubicBezTo>
                    <a:pt x="194" y="123"/>
                    <a:pt x="199" y="112"/>
                    <a:pt x="199" y="112"/>
                  </a:cubicBezTo>
                  <a:lnTo>
                    <a:pt x="190" y="103"/>
                  </a:ln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388" name="Freeform 196">
              <a:extLst>
                <a:ext uri="{FF2B5EF4-FFF2-40B4-BE49-F238E27FC236}">
                  <a16:creationId xmlns:a16="http://schemas.microsoft.com/office/drawing/2014/main" id="{3AE11986-2054-46ED-892E-D509F2A72778}"/>
                </a:ext>
              </a:extLst>
            </p:cNvPr>
            <p:cNvSpPr>
              <a:spLocks/>
            </p:cNvSpPr>
            <p:nvPr/>
          </p:nvSpPr>
          <p:spPr bwMode="gray">
            <a:xfrm>
              <a:off x="1180647" y="1563502"/>
              <a:ext cx="845943" cy="626053"/>
            </a:xfrm>
            <a:custGeom>
              <a:avLst/>
              <a:gdLst>
                <a:gd name="T0" fmla="*/ 968 w 1247"/>
                <a:gd name="T1" fmla="*/ 891 h 976"/>
                <a:gd name="T2" fmla="*/ 1036 w 1247"/>
                <a:gd name="T3" fmla="*/ 874 h 976"/>
                <a:gd name="T4" fmla="*/ 1008 w 1247"/>
                <a:gd name="T5" fmla="*/ 851 h 976"/>
                <a:gd name="T6" fmla="*/ 1015 w 1247"/>
                <a:gd name="T7" fmla="*/ 825 h 976"/>
                <a:gd name="T8" fmla="*/ 1108 w 1247"/>
                <a:gd name="T9" fmla="*/ 786 h 976"/>
                <a:gd name="T10" fmla="*/ 1139 w 1247"/>
                <a:gd name="T11" fmla="*/ 771 h 976"/>
                <a:gd name="T12" fmla="*/ 1162 w 1247"/>
                <a:gd name="T13" fmla="*/ 767 h 976"/>
                <a:gd name="T14" fmla="*/ 1182 w 1247"/>
                <a:gd name="T15" fmla="*/ 717 h 976"/>
                <a:gd name="T16" fmla="*/ 1184 w 1247"/>
                <a:gd name="T17" fmla="*/ 701 h 976"/>
                <a:gd name="T18" fmla="*/ 1234 w 1247"/>
                <a:gd name="T19" fmla="*/ 632 h 976"/>
                <a:gd name="T20" fmla="*/ 1172 w 1247"/>
                <a:gd name="T21" fmla="*/ 594 h 976"/>
                <a:gd name="T22" fmla="*/ 1060 w 1247"/>
                <a:gd name="T23" fmla="*/ 655 h 976"/>
                <a:gd name="T24" fmla="*/ 1043 w 1247"/>
                <a:gd name="T25" fmla="*/ 716 h 976"/>
                <a:gd name="T26" fmla="*/ 974 w 1247"/>
                <a:gd name="T27" fmla="*/ 749 h 976"/>
                <a:gd name="T28" fmla="*/ 836 w 1247"/>
                <a:gd name="T29" fmla="*/ 753 h 976"/>
                <a:gd name="T30" fmla="*/ 777 w 1247"/>
                <a:gd name="T31" fmla="*/ 708 h 976"/>
                <a:gd name="T32" fmla="*/ 750 w 1247"/>
                <a:gd name="T33" fmla="*/ 616 h 976"/>
                <a:gd name="T34" fmla="*/ 752 w 1247"/>
                <a:gd name="T35" fmla="*/ 507 h 976"/>
                <a:gd name="T36" fmla="*/ 768 w 1247"/>
                <a:gd name="T37" fmla="*/ 434 h 976"/>
                <a:gd name="T38" fmla="*/ 806 w 1247"/>
                <a:gd name="T39" fmla="*/ 364 h 976"/>
                <a:gd name="T40" fmla="*/ 780 w 1247"/>
                <a:gd name="T41" fmla="*/ 355 h 976"/>
                <a:gd name="T42" fmla="*/ 720 w 1247"/>
                <a:gd name="T43" fmla="*/ 332 h 976"/>
                <a:gd name="T44" fmla="*/ 714 w 1247"/>
                <a:gd name="T45" fmla="*/ 280 h 976"/>
                <a:gd name="T46" fmla="*/ 700 w 1247"/>
                <a:gd name="T47" fmla="*/ 241 h 976"/>
                <a:gd name="T48" fmla="*/ 661 w 1247"/>
                <a:gd name="T49" fmla="*/ 154 h 976"/>
                <a:gd name="T50" fmla="*/ 621 w 1247"/>
                <a:gd name="T51" fmla="*/ 154 h 976"/>
                <a:gd name="T52" fmla="*/ 519 w 1247"/>
                <a:gd name="T53" fmla="*/ 161 h 976"/>
                <a:gd name="T54" fmla="*/ 491 w 1247"/>
                <a:gd name="T55" fmla="*/ 76 h 976"/>
                <a:gd name="T56" fmla="*/ 390 w 1247"/>
                <a:gd name="T57" fmla="*/ 45 h 976"/>
                <a:gd name="T58" fmla="*/ 378 w 1247"/>
                <a:gd name="T59" fmla="*/ 72 h 976"/>
                <a:gd name="T60" fmla="*/ 106 w 1247"/>
                <a:gd name="T61" fmla="*/ 0 h 976"/>
                <a:gd name="T62" fmla="*/ 0 w 1247"/>
                <a:gd name="T63" fmla="*/ 25 h 976"/>
                <a:gd name="T64" fmla="*/ 10 w 1247"/>
                <a:gd name="T65" fmla="*/ 76 h 976"/>
                <a:gd name="T66" fmla="*/ 5 w 1247"/>
                <a:gd name="T67" fmla="*/ 117 h 976"/>
                <a:gd name="T68" fmla="*/ 42 w 1247"/>
                <a:gd name="T69" fmla="*/ 176 h 976"/>
                <a:gd name="T70" fmla="*/ 58 w 1247"/>
                <a:gd name="T71" fmla="*/ 267 h 976"/>
                <a:gd name="T72" fmla="*/ 7 w 1247"/>
                <a:gd name="T73" fmla="*/ 261 h 976"/>
                <a:gd name="T74" fmla="*/ 43 w 1247"/>
                <a:gd name="T75" fmla="*/ 296 h 976"/>
                <a:gd name="T76" fmla="*/ 91 w 1247"/>
                <a:gd name="T77" fmla="*/ 337 h 976"/>
                <a:gd name="T78" fmla="*/ 142 w 1247"/>
                <a:gd name="T79" fmla="*/ 459 h 976"/>
                <a:gd name="T80" fmla="*/ 210 w 1247"/>
                <a:gd name="T81" fmla="*/ 506 h 976"/>
                <a:gd name="T82" fmla="*/ 172 w 1247"/>
                <a:gd name="T83" fmla="*/ 452 h 976"/>
                <a:gd name="T84" fmla="*/ 162 w 1247"/>
                <a:gd name="T85" fmla="*/ 387 h 976"/>
                <a:gd name="T86" fmla="*/ 131 w 1247"/>
                <a:gd name="T87" fmla="*/ 319 h 976"/>
                <a:gd name="T88" fmla="*/ 116 w 1247"/>
                <a:gd name="T89" fmla="*/ 227 h 976"/>
                <a:gd name="T90" fmla="*/ 66 w 1247"/>
                <a:gd name="T91" fmla="*/ 128 h 976"/>
                <a:gd name="T92" fmla="*/ 84 w 1247"/>
                <a:gd name="T93" fmla="*/ 42 h 976"/>
                <a:gd name="T94" fmla="*/ 138 w 1247"/>
                <a:gd name="T95" fmla="*/ 73 h 976"/>
                <a:gd name="T96" fmla="*/ 160 w 1247"/>
                <a:gd name="T97" fmla="*/ 180 h 976"/>
                <a:gd name="T98" fmla="*/ 208 w 1247"/>
                <a:gd name="T99" fmla="*/ 284 h 976"/>
                <a:gd name="T100" fmla="*/ 257 w 1247"/>
                <a:gd name="T101" fmla="*/ 318 h 976"/>
                <a:gd name="T102" fmla="*/ 255 w 1247"/>
                <a:gd name="T103" fmla="*/ 375 h 976"/>
                <a:gd name="T104" fmla="*/ 294 w 1247"/>
                <a:gd name="T105" fmla="*/ 418 h 976"/>
                <a:gd name="T106" fmla="*/ 313 w 1247"/>
                <a:gd name="T107" fmla="*/ 456 h 976"/>
                <a:gd name="T108" fmla="*/ 371 w 1247"/>
                <a:gd name="T109" fmla="*/ 575 h 976"/>
                <a:gd name="T110" fmla="*/ 375 w 1247"/>
                <a:gd name="T111" fmla="*/ 645 h 976"/>
                <a:gd name="T112" fmla="*/ 423 w 1247"/>
                <a:gd name="T113" fmla="*/ 740 h 976"/>
                <a:gd name="T114" fmla="*/ 556 w 1247"/>
                <a:gd name="T115" fmla="*/ 838 h 976"/>
                <a:gd name="T116" fmla="*/ 677 w 1247"/>
                <a:gd name="T117" fmla="*/ 899 h 976"/>
                <a:gd name="T118" fmla="*/ 840 w 1247"/>
                <a:gd name="T119" fmla="*/ 878 h 976"/>
                <a:gd name="T120" fmla="*/ 947 w 1247"/>
                <a:gd name="T121" fmla="*/ 960 h 9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247" h="976">
                  <a:moveTo>
                    <a:pt x="947" y="960"/>
                  </a:moveTo>
                  <a:cubicBezTo>
                    <a:pt x="947" y="944"/>
                    <a:pt x="947" y="922"/>
                    <a:pt x="947" y="922"/>
                  </a:cubicBezTo>
                  <a:cubicBezTo>
                    <a:pt x="968" y="891"/>
                    <a:pt x="968" y="891"/>
                    <a:pt x="968" y="891"/>
                  </a:cubicBezTo>
                  <a:cubicBezTo>
                    <a:pt x="1027" y="892"/>
                    <a:pt x="1027" y="892"/>
                    <a:pt x="1027" y="892"/>
                  </a:cubicBezTo>
                  <a:cubicBezTo>
                    <a:pt x="1027" y="881"/>
                    <a:pt x="1027" y="881"/>
                    <a:pt x="1027" y="881"/>
                  </a:cubicBezTo>
                  <a:cubicBezTo>
                    <a:pt x="1027" y="881"/>
                    <a:pt x="1036" y="884"/>
                    <a:pt x="1036" y="874"/>
                  </a:cubicBezTo>
                  <a:cubicBezTo>
                    <a:pt x="1036" y="864"/>
                    <a:pt x="1024" y="868"/>
                    <a:pt x="1024" y="868"/>
                  </a:cubicBezTo>
                  <a:cubicBezTo>
                    <a:pt x="1020" y="852"/>
                    <a:pt x="1020" y="852"/>
                    <a:pt x="1020" y="852"/>
                  </a:cubicBezTo>
                  <a:cubicBezTo>
                    <a:pt x="1020" y="852"/>
                    <a:pt x="1018" y="853"/>
                    <a:pt x="1008" y="851"/>
                  </a:cubicBezTo>
                  <a:cubicBezTo>
                    <a:pt x="998" y="849"/>
                    <a:pt x="997" y="833"/>
                    <a:pt x="997" y="833"/>
                  </a:cubicBezTo>
                  <a:cubicBezTo>
                    <a:pt x="987" y="829"/>
                    <a:pt x="987" y="829"/>
                    <a:pt x="987" y="829"/>
                  </a:cubicBezTo>
                  <a:cubicBezTo>
                    <a:pt x="987" y="829"/>
                    <a:pt x="1013" y="831"/>
                    <a:pt x="1015" y="825"/>
                  </a:cubicBezTo>
                  <a:cubicBezTo>
                    <a:pt x="1017" y="819"/>
                    <a:pt x="1014" y="795"/>
                    <a:pt x="1014" y="795"/>
                  </a:cubicBezTo>
                  <a:cubicBezTo>
                    <a:pt x="1101" y="796"/>
                    <a:pt x="1101" y="796"/>
                    <a:pt x="1101" y="796"/>
                  </a:cubicBezTo>
                  <a:cubicBezTo>
                    <a:pt x="1101" y="796"/>
                    <a:pt x="1103" y="786"/>
                    <a:pt x="1108" y="786"/>
                  </a:cubicBezTo>
                  <a:cubicBezTo>
                    <a:pt x="1113" y="786"/>
                    <a:pt x="1107" y="794"/>
                    <a:pt x="1118" y="793"/>
                  </a:cubicBezTo>
                  <a:cubicBezTo>
                    <a:pt x="1129" y="792"/>
                    <a:pt x="1136" y="760"/>
                    <a:pt x="1136" y="760"/>
                  </a:cubicBezTo>
                  <a:cubicBezTo>
                    <a:pt x="1139" y="771"/>
                    <a:pt x="1139" y="771"/>
                    <a:pt x="1139" y="771"/>
                  </a:cubicBezTo>
                  <a:cubicBezTo>
                    <a:pt x="1150" y="761"/>
                    <a:pt x="1150" y="761"/>
                    <a:pt x="1150" y="761"/>
                  </a:cubicBezTo>
                  <a:cubicBezTo>
                    <a:pt x="1164" y="745"/>
                    <a:pt x="1164" y="745"/>
                    <a:pt x="1164" y="745"/>
                  </a:cubicBezTo>
                  <a:cubicBezTo>
                    <a:pt x="1164" y="745"/>
                    <a:pt x="1158" y="764"/>
                    <a:pt x="1162" y="767"/>
                  </a:cubicBezTo>
                  <a:cubicBezTo>
                    <a:pt x="1166" y="770"/>
                    <a:pt x="1173" y="770"/>
                    <a:pt x="1173" y="770"/>
                  </a:cubicBezTo>
                  <a:cubicBezTo>
                    <a:pt x="1188" y="725"/>
                    <a:pt x="1188" y="725"/>
                    <a:pt x="1188" y="725"/>
                  </a:cubicBezTo>
                  <a:cubicBezTo>
                    <a:pt x="1182" y="717"/>
                    <a:pt x="1182" y="717"/>
                    <a:pt x="1182" y="717"/>
                  </a:cubicBezTo>
                  <a:cubicBezTo>
                    <a:pt x="1195" y="713"/>
                    <a:pt x="1195" y="713"/>
                    <a:pt x="1195" y="713"/>
                  </a:cubicBezTo>
                  <a:cubicBezTo>
                    <a:pt x="1196" y="705"/>
                    <a:pt x="1196" y="705"/>
                    <a:pt x="1196" y="705"/>
                  </a:cubicBezTo>
                  <a:cubicBezTo>
                    <a:pt x="1184" y="701"/>
                    <a:pt x="1184" y="701"/>
                    <a:pt x="1184" y="701"/>
                  </a:cubicBezTo>
                  <a:cubicBezTo>
                    <a:pt x="1196" y="688"/>
                    <a:pt x="1196" y="688"/>
                    <a:pt x="1196" y="688"/>
                  </a:cubicBezTo>
                  <a:cubicBezTo>
                    <a:pt x="1200" y="672"/>
                    <a:pt x="1200" y="672"/>
                    <a:pt x="1200" y="672"/>
                  </a:cubicBezTo>
                  <a:cubicBezTo>
                    <a:pt x="1200" y="672"/>
                    <a:pt x="1230" y="641"/>
                    <a:pt x="1234" y="632"/>
                  </a:cubicBezTo>
                  <a:cubicBezTo>
                    <a:pt x="1238" y="623"/>
                    <a:pt x="1247" y="600"/>
                    <a:pt x="1236" y="597"/>
                  </a:cubicBezTo>
                  <a:cubicBezTo>
                    <a:pt x="1225" y="594"/>
                    <a:pt x="1203" y="601"/>
                    <a:pt x="1203" y="601"/>
                  </a:cubicBezTo>
                  <a:cubicBezTo>
                    <a:pt x="1203" y="601"/>
                    <a:pt x="1179" y="594"/>
                    <a:pt x="1172" y="594"/>
                  </a:cubicBezTo>
                  <a:cubicBezTo>
                    <a:pt x="1165" y="594"/>
                    <a:pt x="1137" y="602"/>
                    <a:pt x="1123" y="606"/>
                  </a:cubicBezTo>
                  <a:cubicBezTo>
                    <a:pt x="1109" y="610"/>
                    <a:pt x="1084" y="606"/>
                    <a:pt x="1078" y="612"/>
                  </a:cubicBezTo>
                  <a:cubicBezTo>
                    <a:pt x="1072" y="618"/>
                    <a:pt x="1061" y="639"/>
                    <a:pt x="1060" y="655"/>
                  </a:cubicBezTo>
                  <a:cubicBezTo>
                    <a:pt x="1059" y="671"/>
                    <a:pt x="1059" y="686"/>
                    <a:pt x="1059" y="686"/>
                  </a:cubicBezTo>
                  <a:cubicBezTo>
                    <a:pt x="1049" y="690"/>
                    <a:pt x="1049" y="690"/>
                    <a:pt x="1049" y="690"/>
                  </a:cubicBezTo>
                  <a:cubicBezTo>
                    <a:pt x="1049" y="690"/>
                    <a:pt x="1049" y="710"/>
                    <a:pt x="1043" y="716"/>
                  </a:cubicBezTo>
                  <a:cubicBezTo>
                    <a:pt x="1037" y="722"/>
                    <a:pt x="1016" y="728"/>
                    <a:pt x="1011" y="737"/>
                  </a:cubicBezTo>
                  <a:cubicBezTo>
                    <a:pt x="1006" y="746"/>
                    <a:pt x="1009" y="765"/>
                    <a:pt x="996" y="766"/>
                  </a:cubicBezTo>
                  <a:cubicBezTo>
                    <a:pt x="983" y="767"/>
                    <a:pt x="990" y="749"/>
                    <a:pt x="974" y="749"/>
                  </a:cubicBezTo>
                  <a:cubicBezTo>
                    <a:pt x="958" y="749"/>
                    <a:pt x="932" y="761"/>
                    <a:pt x="912" y="761"/>
                  </a:cubicBezTo>
                  <a:cubicBezTo>
                    <a:pt x="892" y="761"/>
                    <a:pt x="864" y="784"/>
                    <a:pt x="855" y="780"/>
                  </a:cubicBezTo>
                  <a:cubicBezTo>
                    <a:pt x="846" y="776"/>
                    <a:pt x="847" y="755"/>
                    <a:pt x="836" y="753"/>
                  </a:cubicBezTo>
                  <a:cubicBezTo>
                    <a:pt x="825" y="751"/>
                    <a:pt x="797" y="748"/>
                    <a:pt x="797" y="748"/>
                  </a:cubicBezTo>
                  <a:cubicBezTo>
                    <a:pt x="797" y="748"/>
                    <a:pt x="795" y="731"/>
                    <a:pt x="790" y="724"/>
                  </a:cubicBezTo>
                  <a:cubicBezTo>
                    <a:pt x="785" y="717"/>
                    <a:pt x="777" y="708"/>
                    <a:pt x="777" y="708"/>
                  </a:cubicBezTo>
                  <a:cubicBezTo>
                    <a:pt x="777" y="685"/>
                    <a:pt x="777" y="685"/>
                    <a:pt x="777" y="685"/>
                  </a:cubicBezTo>
                  <a:cubicBezTo>
                    <a:pt x="751" y="644"/>
                    <a:pt x="751" y="644"/>
                    <a:pt x="751" y="644"/>
                  </a:cubicBezTo>
                  <a:cubicBezTo>
                    <a:pt x="750" y="616"/>
                    <a:pt x="750" y="616"/>
                    <a:pt x="750" y="616"/>
                  </a:cubicBezTo>
                  <a:cubicBezTo>
                    <a:pt x="739" y="596"/>
                    <a:pt x="739" y="596"/>
                    <a:pt x="739" y="596"/>
                  </a:cubicBezTo>
                  <a:cubicBezTo>
                    <a:pt x="736" y="539"/>
                    <a:pt x="736" y="539"/>
                    <a:pt x="736" y="539"/>
                  </a:cubicBezTo>
                  <a:cubicBezTo>
                    <a:pt x="736" y="539"/>
                    <a:pt x="752" y="518"/>
                    <a:pt x="752" y="507"/>
                  </a:cubicBezTo>
                  <a:cubicBezTo>
                    <a:pt x="752" y="496"/>
                    <a:pt x="754" y="466"/>
                    <a:pt x="754" y="466"/>
                  </a:cubicBezTo>
                  <a:cubicBezTo>
                    <a:pt x="752" y="439"/>
                    <a:pt x="752" y="439"/>
                    <a:pt x="752" y="439"/>
                  </a:cubicBezTo>
                  <a:cubicBezTo>
                    <a:pt x="768" y="434"/>
                    <a:pt x="768" y="434"/>
                    <a:pt x="768" y="434"/>
                  </a:cubicBezTo>
                  <a:cubicBezTo>
                    <a:pt x="768" y="434"/>
                    <a:pt x="767" y="394"/>
                    <a:pt x="775" y="392"/>
                  </a:cubicBezTo>
                  <a:cubicBezTo>
                    <a:pt x="783" y="390"/>
                    <a:pt x="791" y="401"/>
                    <a:pt x="793" y="392"/>
                  </a:cubicBezTo>
                  <a:cubicBezTo>
                    <a:pt x="795" y="383"/>
                    <a:pt x="806" y="364"/>
                    <a:pt x="806" y="364"/>
                  </a:cubicBezTo>
                  <a:cubicBezTo>
                    <a:pt x="806" y="363"/>
                    <a:pt x="806" y="363"/>
                    <a:pt x="806" y="363"/>
                  </a:cubicBezTo>
                  <a:cubicBezTo>
                    <a:pt x="803" y="364"/>
                    <a:pt x="799" y="365"/>
                    <a:pt x="794" y="365"/>
                  </a:cubicBezTo>
                  <a:cubicBezTo>
                    <a:pt x="783" y="365"/>
                    <a:pt x="785" y="355"/>
                    <a:pt x="780" y="355"/>
                  </a:cubicBezTo>
                  <a:cubicBezTo>
                    <a:pt x="775" y="355"/>
                    <a:pt x="756" y="355"/>
                    <a:pt x="756" y="355"/>
                  </a:cubicBezTo>
                  <a:cubicBezTo>
                    <a:pt x="750" y="344"/>
                    <a:pt x="750" y="344"/>
                    <a:pt x="750" y="344"/>
                  </a:cubicBezTo>
                  <a:cubicBezTo>
                    <a:pt x="750" y="344"/>
                    <a:pt x="720" y="343"/>
                    <a:pt x="720" y="332"/>
                  </a:cubicBezTo>
                  <a:cubicBezTo>
                    <a:pt x="720" y="321"/>
                    <a:pt x="722" y="313"/>
                    <a:pt x="722" y="313"/>
                  </a:cubicBezTo>
                  <a:cubicBezTo>
                    <a:pt x="714" y="307"/>
                    <a:pt x="714" y="307"/>
                    <a:pt x="714" y="307"/>
                  </a:cubicBezTo>
                  <a:cubicBezTo>
                    <a:pt x="714" y="280"/>
                    <a:pt x="714" y="280"/>
                    <a:pt x="714" y="280"/>
                  </a:cubicBezTo>
                  <a:cubicBezTo>
                    <a:pt x="714" y="280"/>
                    <a:pt x="724" y="277"/>
                    <a:pt x="717" y="270"/>
                  </a:cubicBezTo>
                  <a:cubicBezTo>
                    <a:pt x="710" y="263"/>
                    <a:pt x="701" y="262"/>
                    <a:pt x="701" y="254"/>
                  </a:cubicBezTo>
                  <a:cubicBezTo>
                    <a:pt x="701" y="247"/>
                    <a:pt x="700" y="241"/>
                    <a:pt x="700" y="241"/>
                  </a:cubicBezTo>
                  <a:cubicBezTo>
                    <a:pt x="700" y="241"/>
                    <a:pt x="689" y="234"/>
                    <a:pt x="689" y="225"/>
                  </a:cubicBezTo>
                  <a:cubicBezTo>
                    <a:pt x="689" y="216"/>
                    <a:pt x="697" y="201"/>
                    <a:pt x="689" y="193"/>
                  </a:cubicBezTo>
                  <a:cubicBezTo>
                    <a:pt x="681" y="185"/>
                    <a:pt x="661" y="154"/>
                    <a:pt x="661" y="154"/>
                  </a:cubicBezTo>
                  <a:cubicBezTo>
                    <a:pt x="632" y="153"/>
                    <a:pt x="632" y="153"/>
                    <a:pt x="632" y="153"/>
                  </a:cubicBezTo>
                  <a:cubicBezTo>
                    <a:pt x="622" y="148"/>
                    <a:pt x="622" y="148"/>
                    <a:pt x="622" y="148"/>
                  </a:cubicBezTo>
                  <a:cubicBezTo>
                    <a:pt x="621" y="154"/>
                    <a:pt x="621" y="154"/>
                    <a:pt x="621" y="154"/>
                  </a:cubicBezTo>
                  <a:cubicBezTo>
                    <a:pt x="621" y="154"/>
                    <a:pt x="609" y="153"/>
                    <a:pt x="605" y="157"/>
                  </a:cubicBezTo>
                  <a:cubicBezTo>
                    <a:pt x="601" y="161"/>
                    <a:pt x="588" y="195"/>
                    <a:pt x="569" y="195"/>
                  </a:cubicBezTo>
                  <a:cubicBezTo>
                    <a:pt x="550" y="195"/>
                    <a:pt x="519" y="161"/>
                    <a:pt x="519" y="161"/>
                  </a:cubicBezTo>
                  <a:cubicBezTo>
                    <a:pt x="519" y="161"/>
                    <a:pt x="529" y="119"/>
                    <a:pt x="519" y="109"/>
                  </a:cubicBezTo>
                  <a:cubicBezTo>
                    <a:pt x="508" y="98"/>
                    <a:pt x="497" y="97"/>
                    <a:pt x="497" y="97"/>
                  </a:cubicBezTo>
                  <a:cubicBezTo>
                    <a:pt x="491" y="76"/>
                    <a:pt x="491" y="76"/>
                    <a:pt x="491" y="76"/>
                  </a:cubicBezTo>
                  <a:cubicBezTo>
                    <a:pt x="473" y="68"/>
                    <a:pt x="473" y="68"/>
                    <a:pt x="473" y="68"/>
                  </a:cubicBezTo>
                  <a:cubicBezTo>
                    <a:pt x="473" y="68"/>
                    <a:pt x="478" y="60"/>
                    <a:pt x="463" y="45"/>
                  </a:cubicBezTo>
                  <a:cubicBezTo>
                    <a:pt x="390" y="45"/>
                    <a:pt x="390" y="45"/>
                    <a:pt x="390" y="45"/>
                  </a:cubicBezTo>
                  <a:cubicBezTo>
                    <a:pt x="390" y="45"/>
                    <a:pt x="383" y="49"/>
                    <a:pt x="383" y="55"/>
                  </a:cubicBezTo>
                  <a:cubicBezTo>
                    <a:pt x="383" y="61"/>
                    <a:pt x="385" y="65"/>
                    <a:pt x="382" y="69"/>
                  </a:cubicBezTo>
                  <a:cubicBezTo>
                    <a:pt x="378" y="72"/>
                    <a:pt x="378" y="72"/>
                    <a:pt x="378" y="72"/>
                  </a:cubicBezTo>
                  <a:cubicBezTo>
                    <a:pt x="246" y="74"/>
                    <a:pt x="246" y="74"/>
                    <a:pt x="246" y="74"/>
                  </a:cubicBezTo>
                  <a:cubicBezTo>
                    <a:pt x="106" y="10"/>
                    <a:pt x="106" y="10"/>
                    <a:pt x="106" y="10"/>
                  </a:cubicBezTo>
                  <a:cubicBezTo>
                    <a:pt x="106" y="10"/>
                    <a:pt x="96" y="10"/>
                    <a:pt x="106" y="0"/>
                  </a:cubicBezTo>
                  <a:cubicBezTo>
                    <a:pt x="7" y="4"/>
                    <a:pt x="7" y="4"/>
                    <a:pt x="7" y="4"/>
                  </a:cubicBezTo>
                  <a:cubicBezTo>
                    <a:pt x="4" y="2"/>
                    <a:pt x="4" y="2"/>
                    <a:pt x="4" y="2"/>
                  </a:cubicBezTo>
                  <a:cubicBezTo>
                    <a:pt x="2" y="12"/>
                    <a:pt x="0" y="20"/>
                    <a:pt x="0" y="25"/>
                  </a:cubicBezTo>
                  <a:cubicBezTo>
                    <a:pt x="0" y="36"/>
                    <a:pt x="13" y="54"/>
                    <a:pt x="13" y="54"/>
                  </a:cubicBezTo>
                  <a:cubicBezTo>
                    <a:pt x="2" y="61"/>
                    <a:pt x="2" y="61"/>
                    <a:pt x="2" y="61"/>
                  </a:cubicBezTo>
                  <a:cubicBezTo>
                    <a:pt x="10" y="76"/>
                    <a:pt x="10" y="76"/>
                    <a:pt x="10" y="76"/>
                  </a:cubicBezTo>
                  <a:cubicBezTo>
                    <a:pt x="3" y="86"/>
                    <a:pt x="3" y="86"/>
                    <a:pt x="3" y="86"/>
                  </a:cubicBezTo>
                  <a:cubicBezTo>
                    <a:pt x="16" y="97"/>
                    <a:pt x="16" y="97"/>
                    <a:pt x="16" y="97"/>
                  </a:cubicBezTo>
                  <a:cubicBezTo>
                    <a:pt x="5" y="117"/>
                    <a:pt x="5" y="117"/>
                    <a:pt x="5" y="117"/>
                  </a:cubicBezTo>
                  <a:cubicBezTo>
                    <a:pt x="14" y="121"/>
                    <a:pt x="14" y="121"/>
                    <a:pt x="14" y="121"/>
                  </a:cubicBezTo>
                  <a:cubicBezTo>
                    <a:pt x="14" y="121"/>
                    <a:pt x="11" y="162"/>
                    <a:pt x="20" y="171"/>
                  </a:cubicBezTo>
                  <a:cubicBezTo>
                    <a:pt x="29" y="180"/>
                    <a:pt x="42" y="176"/>
                    <a:pt x="42" y="176"/>
                  </a:cubicBezTo>
                  <a:cubicBezTo>
                    <a:pt x="42" y="176"/>
                    <a:pt x="66" y="219"/>
                    <a:pt x="66" y="227"/>
                  </a:cubicBezTo>
                  <a:cubicBezTo>
                    <a:pt x="66" y="235"/>
                    <a:pt x="47" y="260"/>
                    <a:pt x="47" y="260"/>
                  </a:cubicBezTo>
                  <a:cubicBezTo>
                    <a:pt x="58" y="267"/>
                    <a:pt x="58" y="267"/>
                    <a:pt x="58" y="267"/>
                  </a:cubicBezTo>
                  <a:cubicBezTo>
                    <a:pt x="50" y="276"/>
                    <a:pt x="50" y="276"/>
                    <a:pt x="50" y="276"/>
                  </a:cubicBezTo>
                  <a:cubicBezTo>
                    <a:pt x="41" y="264"/>
                    <a:pt x="41" y="264"/>
                    <a:pt x="41" y="264"/>
                  </a:cubicBezTo>
                  <a:cubicBezTo>
                    <a:pt x="7" y="261"/>
                    <a:pt x="7" y="261"/>
                    <a:pt x="7" y="261"/>
                  </a:cubicBezTo>
                  <a:cubicBezTo>
                    <a:pt x="23" y="279"/>
                    <a:pt x="23" y="279"/>
                    <a:pt x="23" y="279"/>
                  </a:cubicBezTo>
                  <a:cubicBezTo>
                    <a:pt x="29" y="295"/>
                    <a:pt x="29" y="295"/>
                    <a:pt x="29" y="295"/>
                  </a:cubicBezTo>
                  <a:cubicBezTo>
                    <a:pt x="43" y="296"/>
                    <a:pt x="43" y="296"/>
                    <a:pt x="43" y="296"/>
                  </a:cubicBezTo>
                  <a:cubicBezTo>
                    <a:pt x="43" y="296"/>
                    <a:pt x="60" y="319"/>
                    <a:pt x="65" y="317"/>
                  </a:cubicBezTo>
                  <a:cubicBezTo>
                    <a:pt x="70" y="315"/>
                    <a:pt x="85" y="305"/>
                    <a:pt x="85" y="305"/>
                  </a:cubicBezTo>
                  <a:cubicBezTo>
                    <a:pt x="85" y="305"/>
                    <a:pt x="84" y="328"/>
                    <a:pt x="91" y="337"/>
                  </a:cubicBezTo>
                  <a:cubicBezTo>
                    <a:pt x="98" y="346"/>
                    <a:pt x="113" y="358"/>
                    <a:pt x="113" y="368"/>
                  </a:cubicBezTo>
                  <a:cubicBezTo>
                    <a:pt x="113" y="378"/>
                    <a:pt x="96" y="398"/>
                    <a:pt x="102" y="412"/>
                  </a:cubicBezTo>
                  <a:cubicBezTo>
                    <a:pt x="108" y="426"/>
                    <a:pt x="128" y="442"/>
                    <a:pt x="142" y="459"/>
                  </a:cubicBezTo>
                  <a:cubicBezTo>
                    <a:pt x="156" y="476"/>
                    <a:pt x="175" y="497"/>
                    <a:pt x="175" y="497"/>
                  </a:cubicBezTo>
                  <a:cubicBezTo>
                    <a:pt x="175" y="497"/>
                    <a:pt x="162" y="524"/>
                    <a:pt x="178" y="525"/>
                  </a:cubicBezTo>
                  <a:cubicBezTo>
                    <a:pt x="194" y="526"/>
                    <a:pt x="210" y="506"/>
                    <a:pt x="210" y="506"/>
                  </a:cubicBezTo>
                  <a:cubicBezTo>
                    <a:pt x="206" y="493"/>
                    <a:pt x="206" y="493"/>
                    <a:pt x="206" y="493"/>
                  </a:cubicBezTo>
                  <a:cubicBezTo>
                    <a:pt x="206" y="493"/>
                    <a:pt x="198" y="457"/>
                    <a:pt x="190" y="453"/>
                  </a:cubicBezTo>
                  <a:cubicBezTo>
                    <a:pt x="182" y="449"/>
                    <a:pt x="172" y="452"/>
                    <a:pt x="172" y="452"/>
                  </a:cubicBezTo>
                  <a:cubicBezTo>
                    <a:pt x="160" y="435"/>
                    <a:pt x="160" y="435"/>
                    <a:pt x="160" y="435"/>
                  </a:cubicBezTo>
                  <a:cubicBezTo>
                    <a:pt x="160" y="435"/>
                    <a:pt x="164" y="422"/>
                    <a:pt x="162" y="414"/>
                  </a:cubicBezTo>
                  <a:cubicBezTo>
                    <a:pt x="160" y="406"/>
                    <a:pt x="162" y="387"/>
                    <a:pt x="162" y="387"/>
                  </a:cubicBezTo>
                  <a:cubicBezTo>
                    <a:pt x="150" y="365"/>
                    <a:pt x="150" y="365"/>
                    <a:pt x="150" y="365"/>
                  </a:cubicBezTo>
                  <a:cubicBezTo>
                    <a:pt x="150" y="365"/>
                    <a:pt x="160" y="341"/>
                    <a:pt x="156" y="329"/>
                  </a:cubicBezTo>
                  <a:cubicBezTo>
                    <a:pt x="152" y="317"/>
                    <a:pt x="131" y="319"/>
                    <a:pt x="131" y="319"/>
                  </a:cubicBezTo>
                  <a:cubicBezTo>
                    <a:pt x="131" y="288"/>
                    <a:pt x="131" y="288"/>
                    <a:pt x="131" y="288"/>
                  </a:cubicBezTo>
                  <a:cubicBezTo>
                    <a:pt x="114" y="267"/>
                    <a:pt x="114" y="267"/>
                    <a:pt x="114" y="267"/>
                  </a:cubicBezTo>
                  <a:cubicBezTo>
                    <a:pt x="116" y="227"/>
                    <a:pt x="116" y="227"/>
                    <a:pt x="116" y="227"/>
                  </a:cubicBezTo>
                  <a:cubicBezTo>
                    <a:pt x="116" y="227"/>
                    <a:pt x="102" y="207"/>
                    <a:pt x="97" y="201"/>
                  </a:cubicBezTo>
                  <a:cubicBezTo>
                    <a:pt x="92" y="195"/>
                    <a:pt x="89" y="170"/>
                    <a:pt x="89" y="170"/>
                  </a:cubicBezTo>
                  <a:cubicBezTo>
                    <a:pt x="89" y="170"/>
                    <a:pt x="63" y="132"/>
                    <a:pt x="66" y="128"/>
                  </a:cubicBezTo>
                  <a:cubicBezTo>
                    <a:pt x="69" y="124"/>
                    <a:pt x="79" y="107"/>
                    <a:pt x="75" y="95"/>
                  </a:cubicBezTo>
                  <a:cubicBezTo>
                    <a:pt x="71" y="83"/>
                    <a:pt x="85" y="67"/>
                    <a:pt x="85" y="67"/>
                  </a:cubicBezTo>
                  <a:cubicBezTo>
                    <a:pt x="84" y="42"/>
                    <a:pt x="84" y="42"/>
                    <a:pt x="84" y="42"/>
                  </a:cubicBezTo>
                  <a:cubicBezTo>
                    <a:pt x="84" y="42"/>
                    <a:pt x="104" y="62"/>
                    <a:pt x="113" y="62"/>
                  </a:cubicBezTo>
                  <a:cubicBezTo>
                    <a:pt x="122" y="62"/>
                    <a:pt x="134" y="58"/>
                    <a:pt x="134" y="58"/>
                  </a:cubicBezTo>
                  <a:cubicBezTo>
                    <a:pt x="134" y="58"/>
                    <a:pt x="131" y="69"/>
                    <a:pt x="138" y="73"/>
                  </a:cubicBezTo>
                  <a:cubicBezTo>
                    <a:pt x="145" y="77"/>
                    <a:pt x="155" y="77"/>
                    <a:pt x="155" y="77"/>
                  </a:cubicBezTo>
                  <a:cubicBezTo>
                    <a:pt x="155" y="77"/>
                    <a:pt x="152" y="88"/>
                    <a:pt x="152" y="106"/>
                  </a:cubicBezTo>
                  <a:cubicBezTo>
                    <a:pt x="152" y="124"/>
                    <a:pt x="160" y="180"/>
                    <a:pt x="160" y="180"/>
                  </a:cubicBezTo>
                  <a:cubicBezTo>
                    <a:pt x="160" y="180"/>
                    <a:pt x="181" y="255"/>
                    <a:pt x="189" y="257"/>
                  </a:cubicBezTo>
                  <a:cubicBezTo>
                    <a:pt x="197" y="259"/>
                    <a:pt x="217" y="257"/>
                    <a:pt x="217" y="257"/>
                  </a:cubicBezTo>
                  <a:cubicBezTo>
                    <a:pt x="217" y="257"/>
                    <a:pt x="199" y="268"/>
                    <a:pt x="208" y="284"/>
                  </a:cubicBezTo>
                  <a:cubicBezTo>
                    <a:pt x="217" y="300"/>
                    <a:pt x="234" y="302"/>
                    <a:pt x="234" y="302"/>
                  </a:cubicBezTo>
                  <a:cubicBezTo>
                    <a:pt x="236" y="317"/>
                    <a:pt x="236" y="317"/>
                    <a:pt x="236" y="317"/>
                  </a:cubicBezTo>
                  <a:cubicBezTo>
                    <a:pt x="257" y="318"/>
                    <a:pt x="257" y="318"/>
                    <a:pt x="257" y="318"/>
                  </a:cubicBezTo>
                  <a:cubicBezTo>
                    <a:pt x="260" y="346"/>
                    <a:pt x="260" y="346"/>
                    <a:pt x="260" y="346"/>
                  </a:cubicBezTo>
                  <a:cubicBezTo>
                    <a:pt x="260" y="346"/>
                    <a:pt x="228" y="359"/>
                    <a:pt x="238" y="374"/>
                  </a:cubicBezTo>
                  <a:cubicBezTo>
                    <a:pt x="248" y="389"/>
                    <a:pt x="255" y="375"/>
                    <a:pt x="255" y="375"/>
                  </a:cubicBezTo>
                  <a:cubicBezTo>
                    <a:pt x="255" y="375"/>
                    <a:pt x="264" y="395"/>
                    <a:pt x="270" y="397"/>
                  </a:cubicBezTo>
                  <a:cubicBezTo>
                    <a:pt x="276" y="399"/>
                    <a:pt x="294" y="401"/>
                    <a:pt x="294" y="404"/>
                  </a:cubicBezTo>
                  <a:cubicBezTo>
                    <a:pt x="294" y="407"/>
                    <a:pt x="294" y="418"/>
                    <a:pt x="294" y="418"/>
                  </a:cubicBezTo>
                  <a:cubicBezTo>
                    <a:pt x="294" y="418"/>
                    <a:pt x="279" y="437"/>
                    <a:pt x="290" y="438"/>
                  </a:cubicBezTo>
                  <a:cubicBezTo>
                    <a:pt x="301" y="439"/>
                    <a:pt x="313" y="437"/>
                    <a:pt x="313" y="437"/>
                  </a:cubicBezTo>
                  <a:cubicBezTo>
                    <a:pt x="313" y="456"/>
                    <a:pt x="313" y="456"/>
                    <a:pt x="313" y="456"/>
                  </a:cubicBezTo>
                  <a:cubicBezTo>
                    <a:pt x="313" y="456"/>
                    <a:pt x="335" y="481"/>
                    <a:pt x="345" y="495"/>
                  </a:cubicBezTo>
                  <a:cubicBezTo>
                    <a:pt x="355" y="509"/>
                    <a:pt x="373" y="538"/>
                    <a:pt x="373" y="547"/>
                  </a:cubicBezTo>
                  <a:cubicBezTo>
                    <a:pt x="373" y="556"/>
                    <a:pt x="370" y="562"/>
                    <a:pt x="371" y="575"/>
                  </a:cubicBezTo>
                  <a:cubicBezTo>
                    <a:pt x="372" y="588"/>
                    <a:pt x="386" y="595"/>
                    <a:pt x="384" y="606"/>
                  </a:cubicBezTo>
                  <a:cubicBezTo>
                    <a:pt x="382" y="617"/>
                    <a:pt x="364" y="625"/>
                    <a:pt x="364" y="632"/>
                  </a:cubicBezTo>
                  <a:cubicBezTo>
                    <a:pt x="364" y="639"/>
                    <a:pt x="375" y="645"/>
                    <a:pt x="375" y="645"/>
                  </a:cubicBezTo>
                  <a:cubicBezTo>
                    <a:pt x="375" y="645"/>
                    <a:pt x="351" y="642"/>
                    <a:pt x="351" y="659"/>
                  </a:cubicBezTo>
                  <a:cubicBezTo>
                    <a:pt x="351" y="676"/>
                    <a:pt x="350" y="717"/>
                    <a:pt x="373" y="719"/>
                  </a:cubicBezTo>
                  <a:cubicBezTo>
                    <a:pt x="396" y="721"/>
                    <a:pt x="416" y="727"/>
                    <a:pt x="423" y="740"/>
                  </a:cubicBezTo>
                  <a:cubicBezTo>
                    <a:pt x="430" y="753"/>
                    <a:pt x="437" y="779"/>
                    <a:pt x="453" y="781"/>
                  </a:cubicBezTo>
                  <a:cubicBezTo>
                    <a:pt x="469" y="783"/>
                    <a:pt x="496" y="777"/>
                    <a:pt x="507" y="788"/>
                  </a:cubicBezTo>
                  <a:cubicBezTo>
                    <a:pt x="518" y="799"/>
                    <a:pt x="525" y="825"/>
                    <a:pt x="556" y="838"/>
                  </a:cubicBezTo>
                  <a:cubicBezTo>
                    <a:pt x="587" y="851"/>
                    <a:pt x="632" y="851"/>
                    <a:pt x="639" y="861"/>
                  </a:cubicBezTo>
                  <a:cubicBezTo>
                    <a:pt x="646" y="871"/>
                    <a:pt x="649" y="881"/>
                    <a:pt x="659" y="881"/>
                  </a:cubicBezTo>
                  <a:cubicBezTo>
                    <a:pt x="669" y="881"/>
                    <a:pt x="677" y="899"/>
                    <a:pt x="677" y="899"/>
                  </a:cubicBezTo>
                  <a:cubicBezTo>
                    <a:pt x="677" y="899"/>
                    <a:pt x="720" y="894"/>
                    <a:pt x="722" y="897"/>
                  </a:cubicBezTo>
                  <a:cubicBezTo>
                    <a:pt x="724" y="900"/>
                    <a:pt x="731" y="921"/>
                    <a:pt x="745" y="917"/>
                  </a:cubicBezTo>
                  <a:cubicBezTo>
                    <a:pt x="759" y="913"/>
                    <a:pt x="829" y="875"/>
                    <a:pt x="840" y="878"/>
                  </a:cubicBezTo>
                  <a:cubicBezTo>
                    <a:pt x="851" y="881"/>
                    <a:pt x="921" y="938"/>
                    <a:pt x="924" y="946"/>
                  </a:cubicBezTo>
                  <a:cubicBezTo>
                    <a:pt x="926" y="951"/>
                    <a:pt x="927" y="964"/>
                    <a:pt x="933" y="974"/>
                  </a:cubicBezTo>
                  <a:cubicBezTo>
                    <a:pt x="933" y="974"/>
                    <a:pt x="947" y="976"/>
                    <a:pt x="947" y="960"/>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389" name="Freeform 197">
              <a:extLst>
                <a:ext uri="{FF2B5EF4-FFF2-40B4-BE49-F238E27FC236}">
                  <a16:creationId xmlns:a16="http://schemas.microsoft.com/office/drawing/2014/main" id="{A81CBE2A-F6F1-4D65-8C08-D71F5A5F82A3}"/>
                </a:ext>
              </a:extLst>
            </p:cNvPr>
            <p:cNvSpPr>
              <a:spLocks/>
            </p:cNvSpPr>
            <p:nvPr/>
          </p:nvSpPr>
          <p:spPr bwMode="gray">
            <a:xfrm>
              <a:off x="1908571" y="2135529"/>
              <a:ext cx="200717" cy="106423"/>
            </a:xfrm>
            <a:custGeom>
              <a:avLst/>
              <a:gdLst>
                <a:gd name="T0" fmla="*/ 103 w 296"/>
                <a:gd name="T1" fmla="*/ 162 h 166"/>
                <a:gd name="T2" fmla="*/ 105 w 296"/>
                <a:gd name="T3" fmla="*/ 151 h 166"/>
                <a:gd name="T4" fmla="*/ 114 w 296"/>
                <a:gd name="T5" fmla="*/ 149 h 166"/>
                <a:gd name="T6" fmla="*/ 115 w 296"/>
                <a:gd name="T7" fmla="*/ 122 h 166"/>
                <a:gd name="T8" fmla="*/ 135 w 296"/>
                <a:gd name="T9" fmla="*/ 123 h 166"/>
                <a:gd name="T10" fmla="*/ 148 w 296"/>
                <a:gd name="T11" fmla="*/ 109 h 166"/>
                <a:gd name="T12" fmla="*/ 162 w 296"/>
                <a:gd name="T13" fmla="*/ 118 h 166"/>
                <a:gd name="T14" fmla="*/ 189 w 296"/>
                <a:gd name="T15" fmla="*/ 95 h 166"/>
                <a:gd name="T16" fmla="*/ 190 w 296"/>
                <a:gd name="T17" fmla="*/ 85 h 166"/>
                <a:gd name="T18" fmla="*/ 203 w 296"/>
                <a:gd name="T19" fmla="*/ 84 h 166"/>
                <a:gd name="T20" fmla="*/ 213 w 296"/>
                <a:gd name="T21" fmla="*/ 65 h 166"/>
                <a:gd name="T22" fmla="*/ 238 w 296"/>
                <a:gd name="T23" fmla="*/ 76 h 166"/>
                <a:gd name="T24" fmla="*/ 251 w 296"/>
                <a:gd name="T25" fmla="*/ 66 h 166"/>
                <a:gd name="T26" fmla="*/ 262 w 296"/>
                <a:gd name="T27" fmla="*/ 66 h 166"/>
                <a:gd name="T28" fmla="*/ 281 w 296"/>
                <a:gd name="T29" fmla="*/ 65 h 166"/>
                <a:gd name="T30" fmla="*/ 294 w 296"/>
                <a:gd name="T31" fmla="*/ 55 h 166"/>
                <a:gd name="T32" fmla="*/ 283 w 296"/>
                <a:gd name="T33" fmla="*/ 41 h 166"/>
                <a:gd name="T34" fmla="*/ 268 w 296"/>
                <a:gd name="T35" fmla="*/ 35 h 166"/>
                <a:gd name="T36" fmla="*/ 248 w 296"/>
                <a:gd name="T37" fmla="*/ 18 h 166"/>
                <a:gd name="T38" fmla="*/ 230 w 296"/>
                <a:gd name="T39" fmla="*/ 13 h 166"/>
                <a:gd name="T40" fmla="*/ 214 w 296"/>
                <a:gd name="T41" fmla="*/ 1 h 166"/>
                <a:gd name="T42" fmla="*/ 192 w 296"/>
                <a:gd name="T43" fmla="*/ 9 h 166"/>
                <a:gd name="T44" fmla="*/ 171 w 296"/>
                <a:gd name="T45" fmla="*/ 0 h 166"/>
                <a:gd name="T46" fmla="*/ 148 w 296"/>
                <a:gd name="T47" fmla="*/ 18 h 166"/>
                <a:gd name="T48" fmla="*/ 125 w 296"/>
                <a:gd name="T49" fmla="*/ 17 h 166"/>
                <a:gd name="T50" fmla="*/ 109 w 296"/>
                <a:gd name="T51" fmla="*/ 11 h 166"/>
                <a:gd name="T52" fmla="*/ 89 w 296"/>
                <a:gd name="T53" fmla="*/ 16 h 166"/>
                <a:gd name="T54" fmla="*/ 81 w 296"/>
                <a:gd name="T55" fmla="*/ 2 h 166"/>
                <a:gd name="T56" fmla="*/ 59 w 296"/>
                <a:gd name="T57" fmla="*/ 15 h 166"/>
                <a:gd name="T58" fmla="*/ 39 w 296"/>
                <a:gd name="T59" fmla="*/ 34 h 166"/>
                <a:gd name="T60" fmla="*/ 11 w 296"/>
                <a:gd name="T61" fmla="*/ 58 h 166"/>
                <a:gd name="T62" fmla="*/ 9 w 296"/>
                <a:gd name="T63" fmla="*/ 79 h 166"/>
                <a:gd name="T64" fmla="*/ 0 w 296"/>
                <a:gd name="T65" fmla="*/ 86 h 166"/>
                <a:gd name="T66" fmla="*/ 13 w 296"/>
                <a:gd name="T67" fmla="*/ 102 h 166"/>
                <a:gd name="T68" fmla="*/ 28 w 296"/>
                <a:gd name="T69" fmla="*/ 102 h 166"/>
                <a:gd name="T70" fmla="*/ 36 w 296"/>
                <a:gd name="T71" fmla="*/ 118 h 166"/>
                <a:gd name="T72" fmla="*/ 52 w 296"/>
                <a:gd name="T73" fmla="*/ 112 h 166"/>
                <a:gd name="T74" fmla="*/ 67 w 296"/>
                <a:gd name="T75" fmla="*/ 114 h 166"/>
                <a:gd name="T76" fmla="*/ 68 w 296"/>
                <a:gd name="T77" fmla="*/ 143 h 166"/>
                <a:gd name="T78" fmla="*/ 85 w 296"/>
                <a:gd name="T79" fmla="*/ 148 h 166"/>
                <a:gd name="T80" fmla="*/ 89 w 296"/>
                <a:gd name="T81" fmla="*/ 166 h 166"/>
                <a:gd name="T82" fmla="*/ 103 w 296"/>
                <a:gd name="T83" fmla="*/ 162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96" h="166">
                  <a:moveTo>
                    <a:pt x="103" y="162"/>
                  </a:moveTo>
                  <a:cubicBezTo>
                    <a:pt x="109" y="160"/>
                    <a:pt x="105" y="151"/>
                    <a:pt x="105" y="151"/>
                  </a:cubicBezTo>
                  <a:cubicBezTo>
                    <a:pt x="114" y="149"/>
                    <a:pt x="114" y="149"/>
                    <a:pt x="114" y="149"/>
                  </a:cubicBezTo>
                  <a:cubicBezTo>
                    <a:pt x="114" y="149"/>
                    <a:pt x="100" y="122"/>
                    <a:pt x="115" y="122"/>
                  </a:cubicBezTo>
                  <a:cubicBezTo>
                    <a:pt x="130" y="122"/>
                    <a:pt x="135" y="123"/>
                    <a:pt x="135" y="123"/>
                  </a:cubicBezTo>
                  <a:cubicBezTo>
                    <a:pt x="135" y="123"/>
                    <a:pt x="140" y="108"/>
                    <a:pt x="148" y="109"/>
                  </a:cubicBezTo>
                  <a:cubicBezTo>
                    <a:pt x="156" y="110"/>
                    <a:pt x="147" y="118"/>
                    <a:pt x="162" y="118"/>
                  </a:cubicBezTo>
                  <a:cubicBezTo>
                    <a:pt x="177" y="118"/>
                    <a:pt x="189" y="95"/>
                    <a:pt x="189" y="95"/>
                  </a:cubicBezTo>
                  <a:cubicBezTo>
                    <a:pt x="190" y="85"/>
                    <a:pt x="190" y="85"/>
                    <a:pt x="190" y="85"/>
                  </a:cubicBezTo>
                  <a:cubicBezTo>
                    <a:pt x="203" y="84"/>
                    <a:pt x="203" y="84"/>
                    <a:pt x="203" y="84"/>
                  </a:cubicBezTo>
                  <a:cubicBezTo>
                    <a:pt x="203" y="84"/>
                    <a:pt x="204" y="64"/>
                    <a:pt x="213" y="65"/>
                  </a:cubicBezTo>
                  <a:cubicBezTo>
                    <a:pt x="222" y="66"/>
                    <a:pt x="228" y="77"/>
                    <a:pt x="238" y="76"/>
                  </a:cubicBezTo>
                  <a:cubicBezTo>
                    <a:pt x="248" y="75"/>
                    <a:pt x="247" y="66"/>
                    <a:pt x="251" y="66"/>
                  </a:cubicBezTo>
                  <a:cubicBezTo>
                    <a:pt x="255" y="66"/>
                    <a:pt x="262" y="66"/>
                    <a:pt x="262" y="66"/>
                  </a:cubicBezTo>
                  <a:cubicBezTo>
                    <a:pt x="281" y="65"/>
                    <a:pt x="281" y="65"/>
                    <a:pt x="281" y="65"/>
                  </a:cubicBezTo>
                  <a:cubicBezTo>
                    <a:pt x="282" y="61"/>
                    <a:pt x="296" y="62"/>
                    <a:pt x="294" y="55"/>
                  </a:cubicBezTo>
                  <a:cubicBezTo>
                    <a:pt x="292" y="48"/>
                    <a:pt x="283" y="41"/>
                    <a:pt x="283" y="41"/>
                  </a:cubicBezTo>
                  <a:cubicBezTo>
                    <a:pt x="268" y="35"/>
                    <a:pt x="268" y="35"/>
                    <a:pt x="268" y="35"/>
                  </a:cubicBezTo>
                  <a:cubicBezTo>
                    <a:pt x="268" y="35"/>
                    <a:pt x="257" y="27"/>
                    <a:pt x="248" y="18"/>
                  </a:cubicBezTo>
                  <a:cubicBezTo>
                    <a:pt x="239" y="9"/>
                    <a:pt x="230" y="13"/>
                    <a:pt x="230" y="13"/>
                  </a:cubicBezTo>
                  <a:cubicBezTo>
                    <a:pt x="230" y="13"/>
                    <a:pt x="226" y="1"/>
                    <a:pt x="214" y="1"/>
                  </a:cubicBezTo>
                  <a:cubicBezTo>
                    <a:pt x="202" y="1"/>
                    <a:pt x="192" y="9"/>
                    <a:pt x="192" y="9"/>
                  </a:cubicBezTo>
                  <a:cubicBezTo>
                    <a:pt x="192" y="9"/>
                    <a:pt x="178" y="0"/>
                    <a:pt x="171" y="0"/>
                  </a:cubicBezTo>
                  <a:cubicBezTo>
                    <a:pt x="164" y="0"/>
                    <a:pt x="148" y="18"/>
                    <a:pt x="148" y="18"/>
                  </a:cubicBezTo>
                  <a:cubicBezTo>
                    <a:pt x="125" y="17"/>
                    <a:pt x="125" y="17"/>
                    <a:pt x="125" y="17"/>
                  </a:cubicBezTo>
                  <a:cubicBezTo>
                    <a:pt x="125" y="17"/>
                    <a:pt x="112" y="11"/>
                    <a:pt x="109" y="11"/>
                  </a:cubicBezTo>
                  <a:cubicBezTo>
                    <a:pt x="106" y="11"/>
                    <a:pt x="89" y="16"/>
                    <a:pt x="89" y="16"/>
                  </a:cubicBezTo>
                  <a:cubicBezTo>
                    <a:pt x="89" y="16"/>
                    <a:pt x="84" y="2"/>
                    <a:pt x="81" y="2"/>
                  </a:cubicBezTo>
                  <a:cubicBezTo>
                    <a:pt x="78" y="2"/>
                    <a:pt x="59" y="15"/>
                    <a:pt x="59" y="15"/>
                  </a:cubicBezTo>
                  <a:cubicBezTo>
                    <a:pt x="59" y="15"/>
                    <a:pt x="54" y="26"/>
                    <a:pt x="39" y="34"/>
                  </a:cubicBezTo>
                  <a:cubicBezTo>
                    <a:pt x="24" y="42"/>
                    <a:pt x="11" y="58"/>
                    <a:pt x="11" y="58"/>
                  </a:cubicBezTo>
                  <a:cubicBezTo>
                    <a:pt x="11" y="58"/>
                    <a:pt x="12" y="70"/>
                    <a:pt x="9" y="79"/>
                  </a:cubicBezTo>
                  <a:cubicBezTo>
                    <a:pt x="8" y="82"/>
                    <a:pt x="4" y="85"/>
                    <a:pt x="0" y="86"/>
                  </a:cubicBezTo>
                  <a:cubicBezTo>
                    <a:pt x="2" y="91"/>
                    <a:pt x="6" y="102"/>
                    <a:pt x="13" y="102"/>
                  </a:cubicBezTo>
                  <a:cubicBezTo>
                    <a:pt x="22" y="102"/>
                    <a:pt x="28" y="102"/>
                    <a:pt x="28" y="102"/>
                  </a:cubicBezTo>
                  <a:cubicBezTo>
                    <a:pt x="28" y="102"/>
                    <a:pt x="27" y="120"/>
                    <a:pt x="36" y="118"/>
                  </a:cubicBezTo>
                  <a:cubicBezTo>
                    <a:pt x="45" y="116"/>
                    <a:pt x="47" y="111"/>
                    <a:pt x="52" y="112"/>
                  </a:cubicBezTo>
                  <a:cubicBezTo>
                    <a:pt x="57" y="113"/>
                    <a:pt x="67" y="114"/>
                    <a:pt x="67" y="114"/>
                  </a:cubicBezTo>
                  <a:cubicBezTo>
                    <a:pt x="68" y="143"/>
                    <a:pt x="68" y="143"/>
                    <a:pt x="68" y="143"/>
                  </a:cubicBezTo>
                  <a:cubicBezTo>
                    <a:pt x="85" y="148"/>
                    <a:pt x="85" y="148"/>
                    <a:pt x="85" y="148"/>
                  </a:cubicBezTo>
                  <a:cubicBezTo>
                    <a:pt x="92" y="158"/>
                    <a:pt x="89" y="166"/>
                    <a:pt x="89" y="166"/>
                  </a:cubicBezTo>
                  <a:cubicBezTo>
                    <a:pt x="89" y="166"/>
                    <a:pt x="97" y="164"/>
                    <a:pt x="103" y="162"/>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390" name="Freeform 198">
              <a:extLst>
                <a:ext uri="{FF2B5EF4-FFF2-40B4-BE49-F238E27FC236}">
                  <a16:creationId xmlns:a16="http://schemas.microsoft.com/office/drawing/2014/main" id="{33F07AEA-4292-491E-9963-479BC055429F}"/>
                </a:ext>
              </a:extLst>
            </p:cNvPr>
            <p:cNvSpPr>
              <a:spLocks/>
            </p:cNvSpPr>
            <p:nvPr/>
          </p:nvSpPr>
          <p:spPr bwMode="gray">
            <a:xfrm>
              <a:off x="2885167" y="2481948"/>
              <a:ext cx="134961" cy="146332"/>
            </a:xfrm>
            <a:custGeom>
              <a:avLst/>
              <a:gdLst>
                <a:gd name="T0" fmla="*/ 43 w 199"/>
                <a:gd name="T1" fmla="*/ 52 h 228"/>
                <a:gd name="T2" fmla="*/ 10 w 199"/>
                <a:gd name="T3" fmla="*/ 61 h 228"/>
                <a:gd name="T4" fmla="*/ 11 w 199"/>
                <a:gd name="T5" fmla="*/ 89 h 228"/>
                <a:gd name="T6" fmla="*/ 1 w 199"/>
                <a:gd name="T7" fmla="*/ 107 h 228"/>
                <a:gd name="T8" fmla="*/ 12 w 199"/>
                <a:gd name="T9" fmla="*/ 122 h 228"/>
                <a:gd name="T10" fmla="*/ 26 w 199"/>
                <a:gd name="T11" fmla="*/ 144 h 228"/>
                <a:gd name="T12" fmla="*/ 40 w 199"/>
                <a:gd name="T13" fmla="*/ 137 h 228"/>
                <a:gd name="T14" fmla="*/ 40 w 199"/>
                <a:gd name="T15" fmla="*/ 173 h 228"/>
                <a:gd name="T16" fmla="*/ 65 w 199"/>
                <a:gd name="T17" fmla="*/ 212 h 228"/>
                <a:gd name="T18" fmla="*/ 103 w 199"/>
                <a:gd name="T19" fmla="*/ 224 h 228"/>
                <a:gd name="T20" fmla="*/ 95 w 199"/>
                <a:gd name="T21" fmla="*/ 204 h 228"/>
                <a:gd name="T22" fmla="*/ 102 w 199"/>
                <a:gd name="T23" fmla="*/ 187 h 228"/>
                <a:gd name="T24" fmla="*/ 107 w 199"/>
                <a:gd name="T25" fmla="*/ 195 h 228"/>
                <a:gd name="T26" fmla="*/ 125 w 199"/>
                <a:gd name="T27" fmla="*/ 195 h 228"/>
                <a:gd name="T28" fmla="*/ 142 w 199"/>
                <a:gd name="T29" fmla="*/ 183 h 228"/>
                <a:gd name="T30" fmla="*/ 154 w 199"/>
                <a:gd name="T31" fmla="*/ 193 h 228"/>
                <a:gd name="T32" fmla="*/ 167 w 199"/>
                <a:gd name="T33" fmla="*/ 199 h 228"/>
                <a:gd name="T34" fmla="*/ 174 w 199"/>
                <a:gd name="T35" fmla="*/ 182 h 228"/>
                <a:gd name="T36" fmla="*/ 186 w 199"/>
                <a:gd name="T37" fmla="*/ 175 h 228"/>
                <a:gd name="T38" fmla="*/ 184 w 199"/>
                <a:gd name="T39" fmla="*/ 147 h 228"/>
                <a:gd name="T40" fmla="*/ 195 w 199"/>
                <a:gd name="T41" fmla="*/ 132 h 228"/>
                <a:gd name="T42" fmla="*/ 174 w 199"/>
                <a:gd name="T43" fmla="*/ 105 h 228"/>
                <a:gd name="T44" fmla="*/ 173 w 199"/>
                <a:gd name="T45" fmla="*/ 55 h 228"/>
                <a:gd name="T46" fmla="*/ 195 w 199"/>
                <a:gd name="T47" fmla="*/ 32 h 228"/>
                <a:gd name="T48" fmla="*/ 199 w 199"/>
                <a:gd name="T49" fmla="*/ 11 h 228"/>
                <a:gd name="T50" fmla="*/ 199 w 199"/>
                <a:gd name="T51" fmla="*/ 11 h 228"/>
                <a:gd name="T52" fmla="*/ 197 w 199"/>
                <a:gd name="T53" fmla="*/ 9 h 228"/>
                <a:gd name="T54" fmla="*/ 143 w 199"/>
                <a:gd name="T55" fmla="*/ 0 h 228"/>
                <a:gd name="T56" fmla="*/ 139 w 199"/>
                <a:gd name="T57" fmla="*/ 9 h 228"/>
                <a:gd name="T58" fmla="*/ 109 w 199"/>
                <a:gd name="T59" fmla="*/ 4 h 228"/>
                <a:gd name="T60" fmla="*/ 108 w 199"/>
                <a:gd name="T61" fmla="*/ 15 h 228"/>
                <a:gd name="T62" fmla="*/ 69 w 199"/>
                <a:gd name="T63" fmla="*/ 1 h 228"/>
                <a:gd name="T64" fmla="*/ 50 w 199"/>
                <a:gd name="T65" fmla="*/ 7 h 228"/>
                <a:gd name="T66" fmla="*/ 39 w 199"/>
                <a:gd name="T67" fmla="*/ 29 h 228"/>
                <a:gd name="T68" fmla="*/ 43 w 199"/>
                <a:gd name="T69" fmla="*/ 52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99" h="228">
                  <a:moveTo>
                    <a:pt x="43" y="52"/>
                  </a:moveTo>
                  <a:cubicBezTo>
                    <a:pt x="31" y="55"/>
                    <a:pt x="13" y="52"/>
                    <a:pt x="10" y="61"/>
                  </a:cubicBezTo>
                  <a:cubicBezTo>
                    <a:pt x="7" y="70"/>
                    <a:pt x="11" y="89"/>
                    <a:pt x="11" y="89"/>
                  </a:cubicBezTo>
                  <a:cubicBezTo>
                    <a:pt x="11" y="89"/>
                    <a:pt x="0" y="96"/>
                    <a:pt x="1" y="107"/>
                  </a:cubicBezTo>
                  <a:cubicBezTo>
                    <a:pt x="2" y="117"/>
                    <a:pt x="12" y="115"/>
                    <a:pt x="12" y="122"/>
                  </a:cubicBezTo>
                  <a:cubicBezTo>
                    <a:pt x="12" y="129"/>
                    <a:pt x="22" y="143"/>
                    <a:pt x="26" y="144"/>
                  </a:cubicBezTo>
                  <a:cubicBezTo>
                    <a:pt x="30" y="145"/>
                    <a:pt x="39" y="130"/>
                    <a:pt x="40" y="137"/>
                  </a:cubicBezTo>
                  <a:cubicBezTo>
                    <a:pt x="41" y="144"/>
                    <a:pt x="31" y="165"/>
                    <a:pt x="40" y="173"/>
                  </a:cubicBezTo>
                  <a:cubicBezTo>
                    <a:pt x="49" y="181"/>
                    <a:pt x="65" y="212"/>
                    <a:pt x="65" y="212"/>
                  </a:cubicBezTo>
                  <a:cubicBezTo>
                    <a:pt x="65" y="212"/>
                    <a:pt x="94" y="228"/>
                    <a:pt x="103" y="224"/>
                  </a:cubicBezTo>
                  <a:cubicBezTo>
                    <a:pt x="112" y="220"/>
                    <a:pt x="98" y="210"/>
                    <a:pt x="95" y="204"/>
                  </a:cubicBezTo>
                  <a:cubicBezTo>
                    <a:pt x="92" y="198"/>
                    <a:pt x="96" y="188"/>
                    <a:pt x="102" y="187"/>
                  </a:cubicBezTo>
                  <a:cubicBezTo>
                    <a:pt x="108" y="186"/>
                    <a:pt x="107" y="195"/>
                    <a:pt x="107" y="195"/>
                  </a:cubicBezTo>
                  <a:cubicBezTo>
                    <a:pt x="125" y="195"/>
                    <a:pt x="125" y="195"/>
                    <a:pt x="125" y="195"/>
                  </a:cubicBezTo>
                  <a:cubicBezTo>
                    <a:pt x="125" y="195"/>
                    <a:pt x="134" y="184"/>
                    <a:pt x="142" y="183"/>
                  </a:cubicBezTo>
                  <a:cubicBezTo>
                    <a:pt x="150" y="182"/>
                    <a:pt x="154" y="193"/>
                    <a:pt x="154" y="193"/>
                  </a:cubicBezTo>
                  <a:cubicBezTo>
                    <a:pt x="167" y="199"/>
                    <a:pt x="167" y="199"/>
                    <a:pt x="167" y="199"/>
                  </a:cubicBezTo>
                  <a:cubicBezTo>
                    <a:pt x="167" y="199"/>
                    <a:pt x="173" y="185"/>
                    <a:pt x="174" y="182"/>
                  </a:cubicBezTo>
                  <a:cubicBezTo>
                    <a:pt x="175" y="179"/>
                    <a:pt x="186" y="175"/>
                    <a:pt x="186" y="175"/>
                  </a:cubicBezTo>
                  <a:cubicBezTo>
                    <a:pt x="184" y="147"/>
                    <a:pt x="184" y="147"/>
                    <a:pt x="184" y="147"/>
                  </a:cubicBezTo>
                  <a:cubicBezTo>
                    <a:pt x="184" y="147"/>
                    <a:pt x="196" y="142"/>
                    <a:pt x="195" y="132"/>
                  </a:cubicBezTo>
                  <a:cubicBezTo>
                    <a:pt x="194" y="122"/>
                    <a:pt x="175" y="117"/>
                    <a:pt x="174" y="105"/>
                  </a:cubicBezTo>
                  <a:cubicBezTo>
                    <a:pt x="173" y="92"/>
                    <a:pt x="163" y="71"/>
                    <a:pt x="173" y="55"/>
                  </a:cubicBezTo>
                  <a:cubicBezTo>
                    <a:pt x="184" y="38"/>
                    <a:pt x="195" y="39"/>
                    <a:pt x="195" y="32"/>
                  </a:cubicBezTo>
                  <a:cubicBezTo>
                    <a:pt x="195" y="27"/>
                    <a:pt x="195" y="18"/>
                    <a:pt x="199" y="11"/>
                  </a:cubicBezTo>
                  <a:cubicBezTo>
                    <a:pt x="199" y="11"/>
                    <a:pt x="199" y="11"/>
                    <a:pt x="199" y="11"/>
                  </a:cubicBezTo>
                  <a:cubicBezTo>
                    <a:pt x="198" y="10"/>
                    <a:pt x="197" y="10"/>
                    <a:pt x="197" y="9"/>
                  </a:cubicBezTo>
                  <a:cubicBezTo>
                    <a:pt x="190" y="0"/>
                    <a:pt x="143" y="0"/>
                    <a:pt x="143" y="0"/>
                  </a:cubicBezTo>
                  <a:cubicBezTo>
                    <a:pt x="139" y="9"/>
                    <a:pt x="139" y="9"/>
                    <a:pt x="139" y="9"/>
                  </a:cubicBezTo>
                  <a:cubicBezTo>
                    <a:pt x="109" y="4"/>
                    <a:pt x="109" y="4"/>
                    <a:pt x="109" y="4"/>
                  </a:cubicBezTo>
                  <a:cubicBezTo>
                    <a:pt x="108" y="15"/>
                    <a:pt x="108" y="15"/>
                    <a:pt x="108" y="15"/>
                  </a:cubicBezTo>
                  <a:cubicBezTo>
                    <a:pt x="69" y="1"/>
                    <a:pt x="69" y="1"/>
                    <a:pt x="69" y="1"/>
                  </a:cubicBezTo>
                  <a:cubicBezTo>
                    <a:pt x="50" y="7"/>
                    <a:pt x="50" y="7"/>
                    <a:pt x="50" y="7"/>
                  </a:cubicBezTo>
                  <a:cubicBezTo>
                    <a:pt x="50" y="7"/>
                    <a:pt x="39" y="21"/>
                    <a:pt x="39" y="29"/>
                  </a:cubicBezTo>
                  <a:cubicBezTo>
                    <a:pt x="39" y="37"/>
                    <a:pt x="55" y="49"/>
                    <a:pt x="43" y="52"/>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391" name="Freeform 199">
              <a:extLst>
                <a:ext uri="{FF2B5EF4-FFF2-40B4-BE49-F238E27FC236}">
                  <a16:creationId xmlns:a16="http://schemas.microsoft.com/office/drawing/2014/main" id="{19B293A8-1E40-4030-A079-85B1F25426EB}"/>
                </a:ext>
              </a:extLst>
            </p:cNvPr>
            <p:cNvSpPr>
              <a:spLocks/>
            </p:cNvSpPr>
            <p:nvPr/>
          </p:nvSpPr>
          <p:spPr bwMode="gray">
            <a:xfrm>
              <a:off x="2779496" y="2399144"/>
              <a:ext cx="152476" cy="248955"/>
            </a:xfrm>
            <a:custGeom>
              <a:avLst/>
              <a:gdLst>
                <a:gd name="T0" fmla="*/ 62 w 225"/>
                <a:gd name="T1" fmla="*/ 28 h 388"/>
                <a:gd name="T2" fmla="*/ 42 w 225"/>
                <a:gd name="T3" fmla="*/ 44 h 388"/>
                <a:gd name="T4" fmla="*/ 46 w 225"/>
                <a:gd name="T5" fmla="*/ 64 h 388"/>
                <a:gd name="T6" fmla="*/ 57 w 225"/>
                <a:gd name="T7" fmla="*/ 67 h 388"/>
                <a:gd name="T8" fmla="*/ 47 w 225"/>
                <a:gd name="T9" fmla="*/ 85 h 388"/>
                <a:gd name="T10" fmla="*/ 11 w 225"/>
                <a:gd name="T11" fmla="*/ 93 h 388"/>
                <a:gd name="T12" fmla="*/ 22 w 225"/>
                <a:gd name="T13" fmla="*/ 116 h 388"/>
                <a:gd name="T14" fmla="*/ 4 w 225"/>
                <a:gd name="T15" fmla="*/ 134 h 388"/>
                <a:gd name="T16" fmla="*/ 35 w 225"/>
                <a:gd name="T17" fmla="*/ 172 h 388"/>
                <a:gd name="T18" fmla="*/ 51 w 225"/>
                <a:gd name="T19" fmla="*/ 174 h 388"/>
                <a:gd name="T20" fmla="*/ 56 w 225"/>
                <a:gd name="T21" fmla="*/ 167 h 388"/>
                <a:gd name="T22" fmla="*/ 68 w 225"/>
                <a:gd name="T23" fmla="*/ 182 h 388"/>
                <a:gd name="T24" fmla="*/ 59 w 225"/>
                <a:gd name="T25" fmla="*/ 208 h 388"/>
                <a:gd name="T26" fmla="*/ 81 w 225"/>
                <a:gd name="T27" fmla="*/ 211 h 388"/>
                <a:gd name="T28" fmla="*/ 80 w 225"/>
                <a:gd name="T29" fmla="*/ 230 h 388"/>
                <a:gd name="T30" fmla="*/ 88 w 225"/>
                <a:gd name="T31" fmla="*/ 240 h 388"/>
                <a:gd name="T32" fmla="*/ 74 w 225"/>
                <a:gd name="T33" fmla="*/ 258 h 388"/>
                <a:gd name="T34" fmla="*/ 69 w 225"/>
                <a:gd name="T35" fmla="*/ 286 h 388"/>
                <a:gd name="T36" fmla="*/ 61 w 225"/>
                <a:gd name="T37" fmla="*/ 312 h 388"/>
                <a:gd name="T38" fmla="*/ 78 w 225"/>
                <a:gd name="T39" fmla="*/ 333 h 388"/>
                <a:gd name="T40" fmla="*/ 78 w 225"/>
                <a:gd name="T41" fmla="*/ 353 h 388"/>
                <a:gd name="T42" fmla="*/ 99 w 225"/>
                <a:gd name="T43" fmla="*/ 377 h 388"/>
                <a:gd name="T44" fmla="*/ 108 w 225"/>
                <a:gd name="T45" fmla="*/ 377 h 388"/>
                <a:gd name="T46" fmla="*/ 112 w 225"/>
                <a:gd name="T47" fmla="*/ 388 h 388"/>
                <a:gd name="T48" fmla="*/ 132 w 225"/>
                <a:gd name="T49" fmla="*/ 387 h 388"/>
                <a:gd name="T50" fmla="*/ 143 w 225"/>
                <a:gd name="T51" fmla="*/ 369 h 388"/>
                <a:gd name="T52" fmla="*/ 161 w 225"/>
                <a:gd name="T53" fmla="*/ 368 h 388"/>
                <a:gd name="T54" fmla="*/ 162 w 225"/>
                <a:gd name="T55" fmla="*/ 360 h 388"/>
                <a:gd name="T56" fmla="*/ 183 w 225"/>
                <a:gd name="T57" fmla="*/ 359 h 388"/>
                <a:gd name="T58" fmla="*/ 197 w 225"/>
                <a:gd name="T59" fmla="*/ 342 h 388"/>
                <a:gd name="T60" fmla="*/ 217 w 225"/>
                <a:gd name="T61" fmla="*/ 350 h 388"/>
                <a:gd name="T62" fmla="*/ 221 w 225"/>
                <a:gd name="T63" fmla="*/ 341 h 388"/>
                <a:gd name="T64" fmla="*/ 196 w 225"/>
                <a:gd name="T65" fmla="*/ 302 h 388"/>
                <a:gd name="T66" fmla="*/ 196 w 225"/>
                <a:gd name="T67" fmla="*/ 266 h 388"/>
                <a:gd name="T68" fmla="*/ 182 w 225"/>
                <a:gd name="T69" fmla="*/ 273 h 388"/>
                <a:gd name="T70" fmla="*/ 168 w 225"/>
                <a:gd name="T71" fmla="*/ 251 h 388"/>
                <a:gd name="T72" fmla="*/ 157 w 225"/>
                <a:gd name="T73" fmla="*/ 236 h 388"/>
                <a:gd name="T74" fmla="*/ 167 w 225"/>
                <a:gd name="T75" fmla="*/ 218 h 388"/>
                <a:gd name="T76" fmla="*/ 166 w 225"/>
                <a:gd name="T77" fmla="*/ 190 h 388"/>
                <a:gd name="T78" fmla="*/ 199 w 225"/>
                <a:gd name="T79" fmla="*/ 181 h 388"/>
                <a:gd name="T80" fmla="*/ 195 w 225"/>
                <a:gd name="T81" fmla="*/ 158 h 388"/>
                <a:gd name="T82" fmla="*/ 206 w 225"/>
                <a:gd name="T83" fmla="*/ 136 h 388"/>
                <a:gd name="T84" fmla="*/ 203 w 225"/>
                <a:gd name="T85" fmla="*/ 117 h 388"/>
                <a:gd name="T86" fmla="*/ 185 w 225"/>
                <a:gd name="T87" fmla="*/ 117 h 388"/>
                <a:gd name="T88" fmla="*/ 183 w 225"/>
                <a:gd name="T89" fmla="*/ 102 h 388"/>
                <a:gd name="T90" fmla="*/ 153 w 225"/>
                <a:gd name="T91" fmla="*/ 85 h 388"/>
                <a:gd name="T92" fmla="*/ 133 w 225"/>
                <a:gd name="T93" fmla="*/ 109 h 388"/>
                <a:gd name="T94" fmla="*/ 144 w 225"/>
                <a:gd name="T95" fmla="*/ 61 h 388"/>
                <a:gd name="T96" fmla="*/ 126 w 225"/>
                <a:gd name="T97" fmla="*/ 22 h 388"/>
                <a:gd name="T98" fmla="*/ 83 w 225"/>
                <a:gd name="T99" fmla="*/ 0 h 388"/>
                <a:gd name="T100" fmla="*/ 76 w 225"/>
                <a:gd name="T101" fmla="*/ 12 h 388"/>
                <a:gd name="T102" fmla="*/ 62 w 225"/>
                <a:gd name="T103" fmla="*/ 28 h 3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25" h="388">
                  <a:moveTo>
                    <a:pt x="62" y="28"/>
                  </a:moveTo>
                  <a:cubicBezTo>
                    <a:pt x="56" y="30"/>
                    <a:pt x="40" y="35"/>
                    <a:pt x="42" y="44"/>
                  </a:cubicBezTo>
                  <a:cubicBezTo>
                    <a:pt x="44" y="53"/>
                    <a:pt x="42" y="64"/>
                    <a:pt x="46" y="64"/>
                  </a:cubicBezTo>
                  <a:cubicBezTo>
                    <a:pt x="50" y="64"/>
                    <a:pt x="57" y="64"/>
                    <a:pt x="57" y="67"/>
                  </a:cubicBezTo>
                  <a:cubicBezTo>
                    <a:pt x="57" y="71"/>
                    <a:pt x="58" y="81"/>
                    <a:pt x="47" y="85"/>
                  </a:cubicBezTo>
                  <a:cubicBezTo>
                    <a:pt x="36" y="89"/>
                    <a:pt x="11" y="88"/>
                    <a:pt x="11" y="93"/>
                  </a:cubicBezTo>
                  <a:cubicBezTo>
                    <a:pt x="11" y="98"/>
                    <a:pt x="31" y="109"/>
                    <a:pt x="22" y="116"/>
                  </a:cubicBezTo>
                  <a:cubicBezTo>
                    <a:pt x="13" y="124"/>
                    <a:pt x="0" y="123"/>
                    <a:pt x="4" y="134"/>
                  </a:cubicBezTo>
                  <a:cubicBezTo>
                    <a:pt x="8" y="145"/>
                    <a:pt x="35" y="172"/>
                    <a:pt x="35" y="172"/>
                  </a:cubicBezTo>
                  <a:cubicBezTo>
                    <a:pt x="51" y="174"/>
                    <a:pt x="51" y="174"/>
                    <a:pt x="51" y="174"/>
                  </a:cubicBezTo>
                  <a:cubicBezTo>
                    <a:pt x="56" y="167"/>
                    <a:pt x="56" y="167"/>
                    <a:pt x="56" y="167"/>
                  </a:cubicBezTo>
                  <a:cubicBezTo>
                    <a:pt x="56" y="167"/>
                    <a:pt x="65" y="168"/>
                    <a:pt x="68" y="182"/>
                  </a:cubicBezTo>
                  <a:cubicBezTo>
                    <a:pt x="71" y="196"/>
                    <a:pt x="59" y="208"/>
                    <a:pt x="59" y="208"/>
                  </a:cubicBezTo>
                  <a:cubicBezTo>
                    <a:pt x="59" y="217"/>
                    <a:pt x="81" y="211"/>
                    <a:pt x="81" y="211"/>
                  </a:cubicBezTo>
                  <a:cubicBezTo>
                    <a:pt x="80" y="230"/>
                    <a:pt x="80" y="230"/>
                    <a:pt x="80" y="230"/>
                  </a:cubicBezTo>
                  <a:cubicBezTo>
                    <a:pt x="80" y="230"/>
                    <a:pt x="89" y="234"/>
                    <a:pt x="88" y="240"/>
                  </a:cubicBezTo>
                  <a:cubicBezTo>
                    <a:pt x="87" y="246"/>
                    <a:pt x="74" y="258"/>
                    <a:pt x="74" y="258"/>
                  </a:cubicBezTo>
                  <a:cubicBezTo>
                    <a:pt x="69" y="286"/>
                    <a:pt x="69" y="286"/>
                    <a:pt x="69" y="286"/>
                  </a:cubicBezTo>
                  <a:cubicBezTo>
                    <a:pt x="69" y="286"/>
                    <a:pt x="61" y="302"/>
                    <a:pt x="61" y="312"/>
                  </a:cubicBezTo>
                  <a:cubicBezTo>
                    <a:pt x="61" y="322"/>
                    <a:pt x="78" y="325"/>
                    <a:pt x="78" y="333"/>
                  </a:cubicBezTo>
                  <a:cubicBezTo>
                    <a:pt x="78" y="341"/>
                    <a:pt x="78" y="353"/>
                    <a:pt x="78" y="353"/>
                  </a:cubicBezTo>
                  <a:cubicBezTo>
                    <a:pt x="99" y="377"/>
                    <a:pt x="99" y="377"/>
                    <a:pt x="99" y="377"/>
                  </a:cubicBezTo>
                  <a:cubicBezTo>
                    <a:pt x="108" y="377"/>
                    <a:pt x="108" y="377"/>
                    <a:pt x="108" y="377"/>
                  </a:cubicBezTo>
                  <a:cubicBezTo>
                    <a:pt x="112" y="388"/>
                    <a:pt x="112" y="388"/>
                    <a:pt x="112" y="388"/>
                  </a:cubicBezTo>
                  <a:cubicBezTo>
                    <a:pt x="112" y="388"/>
                    <a:pt x="122" y="388"/>
                    <a:pt x="132" y="387"/>
                  </a:cubicBezTo>
                  <a:cubicBezTo>
                    <a:pt x="142" y="386"/>
                    <a:pt x="137" y="373"/>
                    <a:pt x="143" y="369"/>
                  </a:cubicBezTo>
                  <a:cubicBezTo>
                    <a:pt x="149" y="365"/>
                    <a:pt x="161" y="368"/>
                    <a:pt x="161" y="368"/>
                  </a:cubicBezTo>
                  <a:cubicBezTo>
                    <a:pt x="162" y="360"/>
                    <a:pt x="162" y="360"/>
                    <a:pt x="162" y="360"/>
                  </a:cubicBezTo>
                  <a:cubicBezTo>
                    <a:pt x="183" y="359"/>
                    <a:pt x="183" y="359"/>
                    <a:pt x="183" y="359"/>
                  </a:cubicBezTo>
                  <a:cubicBezTo>
                    <a:pt x="183" y="359"/>
                    <a:pt x="187" y="343"/>
                    <a:pt x="197" y="342"/>
                  </a:cubicBezTo>
                  <a:cubicBezTo>
                    <a:pt x="207" y="341"/>
                    <a:pt x="209" y="352"/>
                    <a:pt x="217" y="350"/>
                  </a:cubicBezTo>
                  <a:cubicBezTo>
                    <a:pt x="225" y="348"/>
                    <a:pt x="221" y="341"/>
                    <a:pt x="221" y="341"/>
                  </a:cubicBezTo>
                  <a:cubicBezTo>
                    <a:pt x="221" y="341"/>
                    <a:pt x="205" y="310"/>
                    <a:pt x="196" y="302"/>
                  </a:cubicBezTo>
                  <a:cubicBezTo>
                    <a:pt x="187" y="294"/>
                    <a:pt x="197" y="273"/>
                    <a:pt x="196" y="266"/>
                  </a:cubicBezTo>
                  <a:cubicBezTo>
                    <a:pt x="195" y="259"/>
                    <a:pt x="186" y="274"/>
                    <a:pt x="182" y="273"/>
                  </a:cubicBezTo>
                  <a:cubicBezTo>
                    <a:pt x="178" y="272"/>
                    <a:pt x="168" y="258"/>
                    <a:pt x="168" y="251"/>
                  </a:cubicBezTo>
                  <a:cubicBezTo>
                    <a:pt x="168" y="244"/>
                    <a:pt x="158" y="246"/>
                    <a:pt x="157" y="236"/>
                  </a:cubicBezTo>
                  <a:cubicBezTo>
                    <a:pt x="156" y="225"/>
                    <a:pt x="167" y="218"/>
                    <a:pt x="167" y="218"/>
                  </a:cubicBezTo>
                  <a:cubicBezTo>
                    <a:pt x="167" y="218"/>
                    <a:pt x="163" y="199"/>
                    <a:pt x="166" y="190"/>
                  </a:cubicBezTo>
                  <a:cubicBezTo>
                    <a:pt x="169" y="181"/>
                    <a:pt x="187" y="184"/>
                    <a:pt x="199" y="181"/>
                  </a:cubicBezTo>
                  <a:cubicBezTo>
                    <a:pt x="211" y="178"/>
                    <a:pt x="195" y="166"/>
                    <a:pt x="195" y="158"/>
                  </a:cubicBezTo>
                  <a:cubicBezTo>
                    <a:pt x="195" y="150"/>
                    <a:pt x="206" y="136"/>
                    <a:pt x="206" y="136"/>
                  </a:cubicBezTo>
                  <a:cubicBezTo>
                    <a:pt x="206" y="136"/>
                    <a:pt x="206" y="125"/>
                    <a:pt x="203" y="117"/>
                  </a:cubicBezTo>
                  <a:cubicBezTo>
                    <a:pt x="200" y="109"/>
                    <a:pt x="185" y="117"/>
                    <a:pt x="185" y="117"/>
                  </a:cubicBezTo>
                  <a:cubicBezTo>
                    <a:pt x="183" y="102"/>
                    <a:pt x="183" y="102"/>
                    <a:pt x="183" y="102"/>
                  </a:cubicBezTo>
                  <a:cubicBezTo>
                    <a:pt x="183" y="102"/>
                    <a:pt x="166" y="87"/>
                    <a:pt x="153" y="85"/>
                  </a:cubicBezTo>
                  <a:cubicBezTo>
                    <a:pt x="140" y="83"/>
                    <a:pt x="133" y="109"/>
                    <a:pt x="133" y="109"/>
                  </a:cubicBezTo>
                  <a:cubicBezTo>
                    <a:pt x="133" y="109"/>
                    <a:pt x="142" y="69"/>
                    <a:pt x="144" y="61"/>
                  </a:cubicBezTo>
                  <a:cubicBezTo>
                    <a:pt x="146" y="53"/>
                    <a:pt x="132" y="30"/>
                    <a:pt x="126" y="22"/>
                  </a:cubicBezTo>
                  <a:cubicBezTo>
                    <a:pt x="120" y="14"/>
                    <a:pt x="83" y="0"/>
                    <a:pt x="83" y="0"/>
                  </a:cubicBezTo>
                  <a:cubicBezTo>
                    <a:pt x="76" y="12"/>
                    <a:pt x="76" y="12"/>
                    <a:pt x="76" y="12"/>
                  </a:cubicBezTo>
                  <a:cubicBezTo>
                    <a:pt x="76" y="12"/>
                    <a:pt x="69" y="26"/>
                    <a:pt x="62" y="28"/>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392" name="Freeform 200">
              <a:extLst>
                <a:ext uri="{FF2B5EF4-FFF2-40B4-BE49-F238E27FC236}">
                  <a16:creationId xmlns:a16="http://schemas.microsoft.com/office/drawing/2014/main" id="{B6F7480A-2EE4-43E2-B2E4-A821429C7EAE}"/>
                </a:ext>
              </a:extLst>
            </p:cNvPr>
            <p:cNvSpPr>
              <a:spLocks noEditPoints="1"/>
            </p:cNvSpPr>
            <p:nvPr/>
          </p:nvSpPr>
          <p:spPr bwMode="gray">
            <a:xfrm>
              <a:off x="2400171" y="2267200"/>
              <a:ext cx="435606" cy="400717"/>
            </a:xfrm>
            <a:custGeom>
              <a:avLst/>
              <a:gdLst>
                <a:gd name="T0" fmla="*/ 175 w 642"/>
                <a:gd name="T1" fmla="*/ 3 h 625"/>
                <a:gd name="T2" fmla="*/ 165 w 642"/>
                <a:gd name="T3" fmla="*/ 34 h 625"/>
                <a:gd name="T4" fmla="*/ 630 w 642"/>
                <a:gd name="T5" fmla="*/ 190 h 625"/>
                <a:gd name="T6" fmla="*/ 595 w 642"/>
                <a:gd name="T7" fmla="*/ 194 h 625"/>
                <a:gd name="T8" fmla="*/ 553 w 642"/>
                <a:gd name="T9" fmla="*/ 194 h 625"/>
                <a:gd name="T10" fmla="*/ 586 w 642"/>
                <a:gd name="T11" fmla="*/ 167 h 625"/>
                <a:gd name="T12" fmla="*/ 572 w 642"/>
                <a:gd name="T13" fmla="*/ 143 h 625"/>
                <a:gd name="T14" fmla="*/ 556 w 642"/>
                <a:gd name="T15" fmla="*/ 143 h 625"/>
                <a:gd name="T16" fmla="*/ 536 w 642"/>
                <a:gd name="T17" fmla="*/ 123 h 625"/>
                <a:gd name="T18" fmla="*/ 522 w 642"/>
                <a:gd name="T19" fmla="*/ 129 h 625"/>
                <a:gd name="T20" fmla="*/ 498 w 642"/>
                <a:gd name="T21" fmla="*/ 117 h 625"/>
                <a:gd name="T22" fmla="*/ 501 w 642"/>
                <a:gd name="T23" fmla="*/ 93 h 625"/>
                <a:gd name="T24" fmla="*/ 457 w 642"/>
                <a:gd name="T25" fmla="*/ 84 h 625"/>
                <a:gd name="T26" fmla="*/ 435 w 642"/>
                <a:gd name="T27" fmla="*/ 99 h 625"/>
                <a:gd name="T28" fmla="*/ 346 w 642"/>
                <a:gd name="T29" fmla="*/ 88 h 625"/>
                <a:gd name="T30" fmla="*/ 242 w 642"/>
                <a:gd name="T31" fmla="*/ 68 h 625"/>
                <a:gd name="T32" fmla="*/ 147 w 642"/>
                <a:gd name="T33" fmla="*/ 56 h 625"/>
                <a:gd name="T34" fmla="*/ 113 w 642"/>
                <a:gd name="T35" fmla="*/ 136 h 625"/>
                <a:gd name="T36" fmla="*/ 89 w 642"/>
                <a:gd name="T37" fmla="*/ 154 h 625"/>
                <a:gd name="T38" fmla="*/ 82 w 642"/>
                <a:gd name="T39" fmla="*/ 102 h 625"/>
                <a:gd name="T40" fmla="*/ 77 w 642"/>
                <a:gd name="T41" fmla="*/ 38 h 625"/>
                <a:gd name="T42" fmla="*/ 38 w 642"/>
                <a:gd name="T43" fmla="*/ 77 h 625"/>
                <a:gd name="T44" fmla="*/ 24 w 642"/>
                <a:gd name="T45" fmla="*/ 115 h 625"/>
                <a:gd name="T46" fmla="*/ 5 w 642"/>
                <a:gd name="T47" fmla="*/ 162 h 625"/>
                <a:gd name="T48" fmla="*/ 35 w 642"/>
                <a:gd name="T49" fmla="*/ 180 h 625"/>
                <a:gd name="T50" fmla="*/ 50 w 642"/>
                <a:gd name="T51" fmla="*/ 216 h 625"/>
                <a:gd name="T52" fmla="*/ 41 w 642"/>
                <a:gd name="T53" fmla="*/ 259 h 625"/>
                <a:gd name="T54" fmla="*/ 59 w 642"/>
                <a:gd name="T55" fmla="*/ 280 h 625"/>
                <a:gd name="T56" fmla="*/ 111 w 642"/>
                <a:gd name="T57" fmla="*/ 284 h 625"/>
                <a:gd name="T58" fmla="*/ 136 w 642"/>
                <a:gd name="T59" fmla="*/ 284 h 625"/>
                <a:gd name="T60" fmla="*/ 181 w 642"/>
                <a:gd name="T61" fmla="*/ 330 h 625"/>
                <a:gd name="T62" fmla="*/ 203 w 642"/>
                <a:gd name="T63" fmla="*/ 322 h 625"/>
                <a:gd name="T64" fmla="*/ 232 w 642"/>
                <a:gd name="T65" fmla="*/ 324 h 625"/>
                <a:gd name="T66" fmla="*/ 276 w 642"/>
                <a:gd name="T67" fmla="*/ 323 h 625"/>
                <a:gd name="T68" fmla="*/ 263 w 642"/>
                <a:gd name="T69" fmla="*/ 362 h 625"/>
                <a:gd name="T70" fmla="*/ 254 w 642"/>
                <a:gd name="T71" fmla="*/ 404 h 625"/>
                <a:gd name="T72" fmla="*/ 261 w 642"/>
                <a:gd name="T73" fmla="*/ 440 h 625"/>
                <a:gd name="T74" fmla="*/ 278 w 642"/>
                <a:gd name="T75" fmla="*/ 476 h 625"/>
                <a:gd name="T76" fmla="*/ 259 w 642"/>
                <a:gd name="T77" fmla="*/ 507 h 625"/>
                <a:gd name="T78" fmla="*/ 284 w 642"/>
                <a:gd name="T79" fmla="*/ 549 h 625"/>
                <a:gd name="T80" fmla="*/ 299 w 642"/>
                <a:gd name="T81" fmla="*/ 594 h 625"/>
                <a:gd name="T82" fmla="*/ 326 w 642"/>
                <a:gd name="T83" fmla="*/ 619 h 625"/>
                <a:gd name="T84" fmla="*/ 362 w 642"/>
                <a:gd name="T85" fmla="*/ 624 h 625"/>
                <a:gd name="T86" fmla="*/ 400 w 642"/>
                <a:gd name="T87" fmla="*/ 593 h 625"/>
                <a:gd name="T88" fmla="*/ 420 w 642"/>
                <a:gd name="T89" fmla="*/ 579 h 625"/>
                <a:gd name="T90" fmla="*/ 457 w 642"/>
                <a:gd name="T91" fmla="*/ 547 h 625"/>
                <a:gd name="T92" fmla="*/ 432 w 642"/>
                <a:gd name="T93" fmla="*/ 524 h 625"/>
                <a:gd name="T94" fmla="*/ 419 w 642"/>
                <a:gd name="T95" fmla="*/ 490 h 625"/>
                <a:gd name="T96" fmla="*/ 400 w 642"/>
                <a:gd name="T97" fmla="*/ 425 h 625"/>
                <a:gd name="T98" fmla="*/ 429 w 642"/>
                <a:gd name="T99" fmla="*/ 433 h 625"/>
                <a:gd name="T100" fmla="*/ 450 w 642"/>
                <a:gd name="T101" fmla="*/ 444 h 625"/>
                <a:gd name="T102" fmla="*/ 469 w 642"/>
                <a:gd name="T103" fmla="*/ 446 h 625"/>
                <a:gd name="T104" fmla="*/ 507 w 642"/>
                <a:gd name="T105" fmla="*/ 432 h 625"/>
                <a:gd name="T106" fmla="*/ 551 w 642"/>
                <a:gd name="T107" fmla="*/ 424 h 625"/>
                <a:gd name="T108" fmla="*/ 583 w 642"/>
                <a:gd name="T109" fmla="*/ 414 h 625"/>
                <a:gd name="T110" fmla="*/ 596 w 642"/>
                <a:gd name="T111" fmla="*/ 399 h 625"/>
                <a:gd name="T112" fmla="*/ 563 w 642"/>
                <a:gd name="T113" fmla="*/ 340 h 625"/>
                <a:gd name="T114" fmla="*/ 570 w 642"/>
                <a:gd name="T115" fmla="*/ 299 h 625"/>
                <a:gd name="T116" fmla="*/ 616 w 642"/>
                <a:gd name="T117" fmla="*/ 273 h 625"/>
                <a:gd name="T118" fmla="*/ 601 w 642"/>
                <a:gd name="T119" fmla="*/ 250 h 625"/>
                <a:gd name="T120" fmla="*/ 635 w 642"/>
                <a:gd name="T121" fmla="*/ 218 h 625"/>
                <a:gd name="T122" fmla="*/ 630 w 642"/>
                <a:gd name="T123" fmla="*/ 190 h 6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42" h="625">
                  <a:moveTo>
                    <a:pt x="182" y="33"/>
                  </a:moveTo>
                  <a:cubicBezTo>
                    <a:pt x="182" y="33"/>
                    <a:pt x="187" y="6"/>
                    <a:pt x="175" y="3"/>
                  </a:cubicBezTo>
                  <a:cubicBezTo>
                    <a:pt x="164" y="0"/>
                    <a:pt x="158" y="7"/>
                    <a:pt x="158" y="13"/>
                  </a:cubicBezTo>
                  <a:cubicBezTo>
                    <a:pt x="158" y="18"/>
                    <a:pt x="165" y="34"/>
                    <a:pt x="165" y="34"/>
                  </a:cubicBezTo>
                  <a:lnTo>
                    <a:pt x="182" y="33"/>
                  </a:lnTo>
                  <a:close/>
                  <a:moveTo>
                    <a:pt x="630" y="190"/>
                  </a:moveTo>
                  <a:cubicBezTo>
                    <a:pt x="626" y="184"/>
                    <a:pt x="611" y="201"/>
                    <a:pt x="611" y="201"/>
                  </a:cubicBezTo>
                  <a:cubicBezTo>
                    <a:pt x="611" y="201"/>
                    <a:pt x="601" y="197"/>
                    <a:pt x="595" y="194"/>
                  </a:cubicBezTo>
                  <a:cubicBezTo>
                    <a:pt x="589" y="191"/>
                    <a:pt x="575" y="208"/>
                    <a:pt x="575" y="208"/>
                  </a:cubicBezTo>
                  <a:cubicBezTo>
                    <a:pt x="553" y="194"/>
                    <a:pt x="553" y="194"/>
                    <a:pt x="553" y="194"/>
                  </a:cubicBezTo>
                  <a:cubicBezTo>
                    <a:pt x="553" y="194"/>
                    <a:pt x="579" y="194"/>
                    <a:pt x="583" y="187"/>
                  </a:cubicBezTo>
                  <a:cubicBezTo>
                    <a:pt x="587" y="180"/>
                    <a:pt x="586" y="167"/>
                    <a:pt x="586" y="167"/>
                  </a:cubicBezTo>
                  <a:cubicBezTo>
                    <a:pt x="586" y="167"/>
                    <a:pt x="596" y="166"/>
                    <a:pt x="598" y="153"/>
                  </a:cubicBezTo>
                  <a:cubicBezTo>
                    <a:pt x="600" y="140"/>
                    <a:pt x="572" y="143"/>
                    <a:pt x="572" y="143"/>
                  </a:cubicBezTo>
                  <a:cubicBezTo>
                    <a:pt x="572" y="143"/>
                    <a:pt x="568" y="129"/>
                    <a:pt x="561" y="128"/>
                  </a:cubicBezTo>
                  <a:cubicBezTo>
                    <a:pt x="554" y="127"/>
                    <a:pt x="556" y="143"/>
                    <a:pt x="556" y="143"/>
                  </a:cubicBezTo>
                  <a:cubicBezTo>
                    <a:pt x="556" y="143"/>
                    <a:pt x="550" y="134"/>
                    <a:pt x="550" y="128"/>
                  </a:cubicBezTo>
                  <a:cubicBezTo>
                    <a:pt x="550" y="122"/>
                    <a:pt x="536" y="123"/>
                    <a:pt x="536" y="123"/>
                  </a:cubicBezTo>
                  <a:cubicBezTo>
                    <a:pt x="532" y="143"/>
                    <a:pt x="532" y="143"/>
                    <a:pt x="532" y="143"/>
                  </a:cubicBezTo>
                  <a:cubicBezTo>
                    <a:pt x="532" y="143"/>
                    <a:pt x="524" y="135"/>
                    <a:pt x="522" y="129"/>
                  </a:cubicBezTo>
                  <a:cubicBezTo>
                    <a:pt x="520" y="123"/>
                    <a:pt x="519" y="109"/>
                    <a:pt x="519" y="109"/>
                  </a:cubicBezTo>
                  <a:cubicBezTo>
                    <a:pt x="498" y="117"/>
                    <a:pt x="498" y="117"/>
                    <a:pt x="498" y="117"/>
                  </a:cubicBezTo>
                  <a:cubicBezTo>
                    <a:pt x="498" y="117"/>
                    <a:pt x="514" y="108"/>
                    <a:pt x="514" y="103"/>
                  </a:cubicBezTo>
                  <a:cubicBezTo>
                    <a:pt x="514" y="98"/>
                    <a:pt x="501" y="98"/>
                    <a:pt x="501" y="93"/>
                  </a:cubicBezTo>
                  <a:cubicBezTo>
                    <a:pt x="501" y="88"/>
                    <a:pt x="543" y="88"/>
                    <a:pt x="547" y="82"/>
                  </a:cubicBezTo>
                  <a:cubicBezTo>
                    <a:pt x="551" y="76"/>
                    <a:pt x="457" y="84"/>
                    <a:pt x="457" y="84"/>
                  </a:cubicBezTo>
                  <a:cubicBezTo>
                    <a:pt x="466" y="94"/>
                    <a:pt x="466" y="94"/>
                    <a:pt x="466" y="94"/>
                  </a:cubicBezTo>
                  <a:cubicBezTo>
                    <a:pt x="466" y="94"/>
                    <a:pt x="444" y="96"/>
                    <a:pt x="435" y="99"/>
                  </a:cubicBezTo>
                  <a:cubicBezTo>
                    <a:pt x="426" y="102"/>
                    <a:pt x="402" y="119"/>
                    <a:pt x="402" y="119"/>
                  </a:cubicBezTo>
                  <a:cubicBezTo>
                    <a:pt x="378" y="120"/>
                    <a:pt x="346" y="88"/>
                    <a:pt x="346" y="88"/>
                  </a:cubicBezTo>
                  <a:cubicBezTo>
                    <a:pt x="346" y="88"/>
                    <a:pt x="265" y="93"/>
                    <a:pt x="255" y="92"/>
                  </a:cubicBezTo>
                  <a:cubicBezTo>
                    <a:pt x="245" y="91"/>
                    <a:pt x="242" y="82"/>
                    <a:pt x="242" y="68"/>
                  </a:cubicBezTo>
                  <a:cubicBezTo>
                    <a:pt x="242" y="54"/>
                    <a:pt x="236" y="44"/>
                    <a:pt x="210" y="39"/>
                  </a:cubicBezTo>
                  <a:cubicBezTo>
                    <a:pt x="184" y="34"/>
                    <a:pt x="147" y="56"/>
                    <a:pt x="147" y="56"/>
                  </a:cubicBezTo>
                  <a:cubicBezTo>
                    <a:pt x="147" y="56"/>
                    <a:pt x="120" y="62"/>
                    <a:pt x="104" y="76"/>
                  </a:cubicBezTo>
                  <a:cubicBezTo>
                    <a:pt x="88" y="90"/>
                    <a:pt x="111" y="116"/>
                    <a:pt x="113" y="136"/>
                  </a:cubicBezTo>
                  <a:cubicBezTo>
                    <a:pt x="115" y="156"/>
                    <a:pt x="88" y="172"/>
                    <a:pt x="88" y="172"/>
                  </a:cubicBezTo>
                  <a:cubicBezTo>
                    <a:pt x="89" y="154"/>
                    <a:pt x="89" y="154"/>
                    <a:pt x="89" y="154"/>
                  </a:cubicBezTo>
                  <a:cubicBezTo>
                    <a:pt x="89" y="154"/>
                    <a:pt x="71" y="149"/>
                    <a:pt x="65" y="139"/>
                  </a:cubicBezTo>
                  <a:cubicBezTo>
                    <a:pt x="59" y="129"/>
                    <a:pt x="75" y="111"/>
                    <a:pt x="82" y="102"/>
                  </a:cubicBezTo>
                  <a:cubicBezTo>
                    <a:pt x="89" y="93"/>
                    <a:pt x="88" y="77"/>
                    <a:pt x="88" y="65"/>
                  </a:cubicBezTo>
                  <a:cubicBezTo>
                    <a:pt x="88" y="53"/>
                    <a:pt x="77" y="38"/>
                    <a:pt x="77" y="38"/>
                  </a:cubicBezTo>
                  <a:cubicBezTo>
                    <a:pt x="77" y="38"/>
                    <a:pt x="76" y="53"/>
                    <a:pt x="65" y="56"/>
                  </a:cubicBezTo>
                  <a:cubicBezTo>
                    <a:pt x="54" y="60"/>
                    <a:pt x="45" y="64"/>
                    <a:pt x="38" y="77"/>
                  </a:cubicBezTo>
                  <a:cubicBezTo>
                    <a:pt x="30" y="90"/>
                    <a:pt x="30" y="110"/>
                    <a:pt x="30" y="110"/>
                  </a:cubicBezTo>
                  <a:cubicBezTo>
                    <a:pt x="24" y="115"/>
                    <a:pt x="24" y="115"/>
                    <a:pt x="24" y="115"/>
                  </a:cubicBezTo>
                  <a:cubicBezTo>
                    <a:pt x="24" y="133"/>
                    <a:pt x="24" y="133"/>
                    <a:pt x="24" y="133"/>
                  </a:cubicBezTo>
                  <a:cubicBezTo>
                    <a:pt x="24" y="133"/>
                    <a:pt x="0" y="154"/>
                    <a:pt x="5" y="162"/>
                  </a:cubicBezTo>
                  <a:cubicBezTo>
                    <a:pt x="10" y="171"/>
                    <a:pt x="14" y="157"/>
                    <a:pt x="21" y="157"/>
                  </a:cubicBezTo>
                  <a:cubicBezTo>
                    <a:pt x="28" y="157"/>
                    <a:pt x="35" y="171"/>
                    <a:pt x="35" y="180"/>
                  </a:cubicBezTo>
                  <a:cubicBezTo>
                    <a:pt x="35" y="189"/>
                    <a:pt x="36" y="195"/>
                    <a:pt x="36" y="195"/>
                  </a:cubicBezTo>
                  <a:cubicBezTo>
                    <a:pt x="36" y="195"/>
                    <a:pt x="52" y="204"/>
                    <a:pt x="50" y="216"/>
                  </a:cubicBezTo>
                  <a:cubicBezTo>
                    <a:pt x="48" y="229"/>
                    <a:pt x="42" y="232"/>
                    <a:pt x="42" y="232"/>
                  </a:cubicBezTo>
                  <a:cubicBezTo>
                    <a:pt x="41" y="259"/>
                    <a:pt x="41" y="259"/>
                    <a:pt x="41" y="259"/>
                  </a:cubicBezTo>
                  <a:cubicBezTo>
                    <a:pt x="51" y="259"/>
                    <a:pt x="51" y="259"/>
                    <a:pt x="51" y="259"/>
                  </a:cubicBezTo>
                  <a:cubicBezTo>
                    <a:pt x="51" y="259"/>
                    <a:pt x="50" y="277"/>
                    <a:pt x="59" y="280"/>
                  </a:cubicBezTo>
                  <a:cubicBezTo>
                    <a:pt x="68" y="283"/>
                    <a:pt x="79" y="278"/>
                    <a:pt x="83" y="278"/>
                  </a:cubicBezTo>
                  <a:cubicBezTo>
                    <a:pt x="88" y="278"/>
                    <a:pt x="106" y="285"/>
                    <a:pt x="111" y="284"/>
                  </a:cubicBezTo>
                  <a:cubicBezTo>
                    <a:pt x="116" y="283"/>
                    <a:pt x="117" y="277"/>
                    <a:pt x="122" y="277"/>
                  </a:cubicBezTo>
                  <a:cubicBezTo>
                    <a:pt x="127" y="277"/>
                    <a:pt x="136" y="284"/>
                    <a:pt x="136" y="284"/>
                  </a:cubicBezTo>
                  <a:cubicBezTo>
                    <a:pt x="154" y="285"/>
                    <a:pt x="154" y="285"/>
                    <a:pt x="154" y="285"/>
                  </a:cubicBezTo>
                  <a:cubicBezTo>
                    <a:pt x="154" y="285"/>
                    <a:pt x="173" y="327"/>
                    <a:pt x="181" y="330"/>
                  </a:cubicBezTo>
                  <a:cubicBezTo>
                    <a:pt x="189" y="332"/>
                    <a:pt x="197" y="329"/>
                    <a:pt x="197" y="329"/>
                  </a:cubicBezTo>
                  <a:cubicBezTo>
                    <a:pt x="197" y="329"/>
                    <a:pt x="195" y="322"/>
                    <a:pt x="203" y="322"/>
                  </a:cubicBezTo>
                  <a:cubicBezTo>
                    <a:pt x="211" y="322"/>
                    <a:pt x="213" y="329"/>
                    <a:pt x="221" y="330"/>
                  </a:cubicBezTo>
                  <a:cubicBezTo>
                    <a:pt x="229" y="331"/>
                    <a:pt x="232" y="324"/>
                    <a:pt x="232" y="324"/>
                  </a:cubicBezTo>
                  <a:cubicBezTo>
                    <a:pt x="251" y="326"/>
                    <a:pt x="251" y="326"/>
                    <a:pt x="251" y="326"/>
                  </a:cubicBezTo>
                  <a:cubicBezTo>
                    <a:pt x="251" y="326"/>
                    <a:pt x="270" y="311"/>
                    <a:pt x="276" y="323"/>
                  </a:cubicBezTo>
                  <a:cubicBezTo>
                    <a:pt x="282" y="336"/>
                    <a:pt x="265" y="344"/>
                    <a:pt x="265" y="344"/>
                  </a:cubicBezTo>
                  <a:cubicBezTo>
                    <a:pt x="265" y="344"/>
                    <a:pt x="266" y="359"/>
                    <a:pt x="263" y="362"/>
                  </a:cubicBezTo>
                  <a:cubicBezTo>
                    <a:pt x="260" y="365"/>
                    <a:pt x="250" y="370"/>
                    <a:pt x="251" y="375"/>
                  </a:cubicBezTo>
                  <a:cubicBezTo>
                    <a:pt x="252" y="380"/>
                    <a:pt x="254" y="398"/>
                    <a:pt x="254" y="404"/>
                  </a:cubicBezTo>
                  <a:cubicBezTo>
                    <a:pt x="254" y="410"/>
                    <a:pt x="252" y="433"/>
                    <a:pt x="252" y="433"/>
                  </a:cubicBezTo>
                  <a:cubicBezTo>
                    <a:pt x="252" y="433"/>
                    <a:pt x="261" y="437"/>
                    <a:pt x="261" y="440"/>
                  </a:cubicBezTo>
                  <a:cubicBezTo>
                    <a:pt x="261" y="443"/>
                    <a:pt x="262" y="452"/>
                    <a:pt x="262" y="452"/>
                  </a:cubicBezTo>
                  <a:cubicBezTo>
                    <a:pt x="262" y="452"/>
                    <a:pt x="278" y="466"/>
                    <a:pt x="278" y="476"/>
                  </a:cubicBezTo>
                  <a:cubicBezTo>
                    <a:pt x="278" y="486"/>
                    <a:pt x="249" y="504"/>
                    <a:pt x="249" y="504"/>
                  </a:cubicBezTo>
                  <a:cubicBezTo>
                    <a:pt x="259" y="507"/>
                    <a:pt x="259" y="507"/>
                    <a:pt x="259" y="507"/>
                  </a:cubicBezTo>
                  <a:cubicBezTo>
                    <a:pt x="259" y="507"/>
                    <a:pt x="281" y="521"/>
                    <a:pt x="281" y="525"/>
                  </a:cubicBezTo>
                  <a:cubicBezTo>
                    <a:pt x="281" y="529"/>
                    <a:pt x="284" y="549"/>
                    <a:pt x="284" y="549"/>
                  </a:cubicBezTo>
                  <a:cubicBezTo>
                    <a:pt x="284" y="549"/>
                    <a:pt x="295" y="575"/>
                    <a:pt x="294" y="580"/>
                  </a:cubicBezTo>
                  <a:cubicBezTo>
                    <a:pt x="293" y="585"/>
                    <a:pt x="299" y="594"/>
                    <a:pt x="299" y="594"/>
                  </a:cubicBezTo>
                  <a:cubicBezTo>
                    <a:pt x="299" y="594"/>
                    <a:pt x="306" y="607"/>
                    <a:pt x="310" y="612"/>
                  </a:cubicBezTo>
                  <a:cubicBezTo>
                    <a:pt x="314" y="617"/>
                    <a:pt x="326" y="619"/>
                    <a:pt x="326" y="619"/>
                  </a:cubicBezTo>
                  <a:cubicBezTo>
                    <a:pt x="336" y="625"/>
                    <a:pt x="347" y="603"/>
                    <a:pt x="356" y="605"/>
                  </a:cubicBezTo>
                  <a:cubicBezTo>
                    <a:pt x="365" y="607"/>
                    <a:pt x="354" y="624"/>
                    <a:pt x="362" y="624"/>
                  </a:cubicBezTo>
                  <a:cubicBezTo>
                    <a:pt x="370" y="624"/>
                    <a:pt x="376" y="599"/>
                    <a:pt x="382" y="595"/>
                  </a:cubicBezTo>
                  <a:cubicBezTo>
                    <a:pt x="388" y="591"/>
                    <a:pt x="400" y="593"/>
                    <a:pt x="400" y="593"/>
                  </a:cubicBezTo>
                  <a:cubicBezTo>
                    <a:pt x="402" y="587"/>
                    <a:pt x="402" y="587"/>
                    <a:pt x="402" y="587"/>
                  </a:cubicBezTo>
                  <a:cubicBezTo>
                    <a:pt x="402" y="587"/>
                    <a:pt x="407" y="583"/>
                    <a:pt x="420" y="579"/>
                  </a:cubicBezTo>
                  <a:cubicBezTo>
                    <a:pt x="433" y="575"/>
                    <a:pt x="432" y="550"/>
                    <a:pt x="432" y="550"/>
                  </a:cubicBezTo>
                  <a:cubicBezTo>
                    <a:pt x="432" y="550"/>
                    <a:pt x="445" y="553"/>
                    <a:pt x="457" y="547"/>
                  </a:cubicBezTo>
                  <a:cubicBezTo>
                    <a:pt x="469" y="541"/>
                    <a:pt x="462" y="527"/>
                    <a:pt x="462" y="527"/>
                  </a:cubicBezTo>
                  <a:cubicBezTo>
                    <a:pt x="432" y="524"/>
                    <a:pt x="432" y="524"/>
                    <a:pt x="432" y="524"/>
                  </a:cubicBezTo>
                  <a:cubicBezTo>
                    <a:pt x="432" y="524"/>
                    <a:pt x="432" y="515"/>
                    <a:pt x="432" y="508"/>
                  </a:cubicBezTo>
                  <a:cubicBezTo>
                    <a:pt x="432" y="501"/>
                    <a:pt x="419" y="490"/>
                    <a:pt x="419" y="490"/>
                  </a:cubicBezTo>
                  <a:cubicBezTo>
                    <a:pt x="419" y="490"/>
                    <a:pt x="434" y="466"/>
                    <a:pt x="412" y="455"/>
                  </a:cubicBezTo>
                  <a:cubicBezTo>
                    <a:pt x="390" y="444"/>
                    <a:pt x="400" y="425"/>
                    <a:pt x="400" y="425"/>
                  </a:cubicBezTo>
                  <a:cubicBezTo>
                    <a:pt x="400" y="425"/>
                    <a:pt x="403" y="431"/>
                    <a:pt x="406" y="434"/>
                  </a:cubicBezTo>
                  <a:cubicBezTo>
                    <a:pt x="409" y="437"/>
                    <a:pt x="418" y="429"/>
                    <a:pt x="429" y="433"/>
                  </a:cubicBezTo>
                  <a:cubicBezTo>
                    <a:pt x="440" y="437"/>
                    <a:pt x="434" y="446"/>
                    <a:pt x="436" y="449"/>
                  </a:cubicBezTo>
                  <a:cubicBezTo>
                    <a:pt x="438" y="452"/>
                    <a:pt x="450" y="444"/>
                    <a:pt x="450" y="444"/>
                  </a:cubicBezTo>
                  <a:cubicBezTo>
                    <a:pt x="460" y="450"/>
                    <a:pt x="460" y="450"/>
                    <a:pt x="460" y="450"/>
                  </a:cubicBezTo>
                  <a:cubicBezTo>
                    <a:pt x="460" y="450"/>
                    <a:pt x="465" y="442"/>
                    <a:pt x="469" y="446"/>
                  </a:cubicBezTo>
                  <a:cubicBezTo>
                    <a:pt x="473" y="450"/>
                    <a:pt x="484" y="469"/>
                    <a:pt x="493" y="469"/>
                  </a:cubicBezTo>
                  <a:cubicBezTo>
                    <a:pt x="502" y="469"/>
                    <a:pt x="499" y="435"/>
                    <a:pt x="507" y="432"/>
                  </a:cubicBezTo>
                  <a:cubicBezTo>
                    <a:pt x="515" y="429"/>
                    <a:pt x="521" y="437"/>
                    <a:pt x="528" y="437"/>
                  </a:cubicBezTo>
                  <a:cubicBezTo>
                    <a:pt x="535" y="437"/>
                    <a:pt x="549" y="430"/>
                    <a:pt x="551" y="424"/>
                  </a:cubicBezTo>
                  <a:cubicBezTo>
                    <a:pt x="553" y="418"/>
                    <a:pt x="565" y="413"/>
                    <a:pt x="565" y="413"/>
                  </a:cubicBezTo>
                  <a:cubicBezTo>
                    <a:pt x="583" y="414"/>
                    <a:pt x="583" y="414"/>
                    <a:pt x="583" y="414"/>
                  </a:cubicBezTo>
                  <a:cubicBezTo>
                    <a:pt x="581" y="404"/>
                    <a:pt x="581" y="404"/>
                    <a:pt x="581" y="404"/>
                  </a:cubicBezTo>
                  <a:cubicBezTo>
                    <a:pt x="581" y="404"/>
                    <a:pt x="592" y="406"/>
                    <a:pt x="596" y="399"/>
                  </a:cubicBezTo>
                  <a:cubicBezTo>
                    <a:pt x="600" y="392"/>
                    <a:pt x="594" y="378"/>
                    <a:pt x="594" y="378"/>
                  </a:cubicBezTo>
                  <a:cubicBezTo>
                    <a:pt x="594" y="378"/>
                    <a:pt x="567" y="351"/>
                    <a:pt x="563" y="340"/>
                  </a:cubicBezTo>
                  <a:cubicBezTo>
                    <a:pt x="559" y="329"/>
                    <a:pt x="572" y="330"/>
                    <a:pt x="581" y="322"/>
                  </a:cubicBezTo>
                  <a:cubicBezTo>
                    <a:pt x="590" y="315"/>
                    <a:pt x="570" y="304"/>
                    <a:pt x="570" y="299"/>
                  </a:cubicBezTo>
                  <a:cubicBezTo>
                    <a:pt x="570" y="294"/>
                    <a:pt x="595" y="295"/>
                    <a:pt x="606" y="291"/>
                  </a:cubicBezTo>
                  <a:cubicBezTo>
                    <a:pt x="617" y="287"/>
                    <a:pt x="616" y="277"/>
                    <a:pt x="616" y="273"/>
                  </a:cubicBezTo>
                  <a:cubicBezTo>
                    <a:pt x="616" y="270"/>
                    <a:pt x="609" y="270"/>
                    <a:pt x="605" y="270"/>
                  </a:cubicBezTo>
                  <a:cubicBezTo>
                    <a:pt x="601" y="270"/>
                    <a:pt x="603" y="259"/>
                    <a:pt x="601" y="250"/>
                  </a:cubicBezTo>
                  <a:cubicBezTo>
                    <a:pt x="599" y="241"/>
                    <a:pt x="615" y="236"/>
                    <a:pt x="621" y="234"/>
                  </a:cubicBezTo>
                  <a:cubicBezTo>
                    <a:pt x="628" y="232"/>
                    <a:pt x="635" y="218"/>
                    <a:pt x="635" y="218"/>
                  </a:cubicBezTo>
                  <a:cubicBezTo>
                    <a:pt x="642" y="206"/>
                    <a:pt x="642" y="206"/>
                    <a:pt x="642" y="206"/>
                  </a:cubicBezTo>
                  <a:cubicBezTo>
                    <a:pt x="642" y="206"/>
                    <a:pt x="634" y="196"/>
                    <a:pt x="630" y="190"/>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393" name="Freeform 201">
              <a:extLst>
                <a:ext uri="{FF2B5EF4-FFF2-40B4-BE49-F238E27FC236}">
                  <a16:creationId xmlns:a16="http://schemas.microsoft.com/office/drawing/2014/main" id="{3A71A146-5F1C-4553-A2C1-43B9A9E207C4}"/>
                </a:ext>
              </a:extLst>
            </p:cNvPr>
            <p:cNvSpPr>
              <a:spLocks/>
            </p:cNvSpPr>
            <p:nvPr/>
          </p:nvSpPr>
          <p:spPr bwMode="gray">
            <a:xfrm>
              <a:off x="2088902" y="2355706"/>
              <a:ext cx="189232" cy="90406"/>
            </a:xfrm>
            <a:custGeom>
              <a:avLst/>
              <a:gdLst>
                <a:gd name="T0" fmla="*/ 209 w 279"/>
                <a:gd name="T1" fmla="*/ 47 h 141"/>
                <a:gd name="T2" fmla="*/ 224 w 279"/>
                <a:gd name="T3" fmla="*/ 66 h 141"/>
                <a:gd name="T4" fmla="*/ 232 w 279"/>
                <a:gd name="T5" fmla="*/ 63 h 141"/>
                <a:gd name="T6" fmla="*/ 254 w 279"/>
                <a:gd name="T7" fmla="*/ 81 h 141"/>
                <a:gd name="T8" fmla="*/ 232 w 279"/>
                <a:gd name="T9" fmla="*/ 71 h 141"/>
                <a:gd name="T10" fmla="*/ 229 w 279"/>
                <a:gd name="T11" fmla="*/ 106 h 141"/>
                <a:gd name="T12" fmla="*/ 243 w 279"/>
                <a:gd name="T13" fmla="*/ 128 h 141"/>
                <a:gd name="T14" fmla="*/ 243 w 279"/>
                <a:gd name="T15" fmla="*/ 128 h 141"/>
                <a:gd name="T16" fmla="*/ 253 w 279"/>
                <a:gd name="T17" fmla="*/ 107 h 141"/>
                <a:gd name="T18" fmla="*/ 269 w 279"/>
                <a:gd name="T19" fmla="*/ 109 h 141"/>
                <a:gd name="T20" fmla="*/ 279 w 279"/>
                <a:gd name="T21" fmla="*/ 84 h 141"/>
                <a:gd name="T22" fmla="*/ 266 w 279"/>
                <a:gd name="T23" fmla="*/ 70 h 141"/>
                <a:gd name="T24" fmla="*/ 270 w 279"/>
                <a:gd name="T25" fmla="*/ 58 h 141"/>
                <a:gd name="T26" fmla="*/ 255 w 279"/>
                <a:gd name="T27" fmla="*/ 46 h 141"/>
                <a:gd name="T28" fmla="*/ 236 w 279"/>
                <a:gd name="T29" fmla="*/ 18 h 141"/>
                <a:gd name="T30" fmla="*/ 196 w 279"/>
                <a:gd name="T31" fmla="*/ 13 h 141"/>
                <a:gd name="T32" fmla="*/ 195 w 279"/>
                <a:gd name="T33" fmla="*/ 4 h 141"/>
                <a:gd name="T34" fmla="*/ 163 w 279"/>
                <a:gd name="T35" fmla="*/ 7 h 141"/>
                <a:gd name="T36" fmla="*/ 144 w 279"/>
                <a:gd name="T37" fmla="*/ 27 h 141"/>
                <a:gd name="T38" fmla="*/ 126 w 279"/>
                <a:gd name="T39" fmla="*/ 25 h 141"/>
                <a:gd name="T40" fmla="*/ 94 w 279"/>
                <a:gd name="T41" fmla="*/ 50 h 141"/>
                <a:gd name="T42" fmla="*/ 75 w 279"/>
                <a:gd name="T43" fmla="*/ 43 h 141"/>
                <a:gd name="T44" fmla="*/ 65 w 279"/>
                <a:gd name="T45" fmla="*/ 32 h 141"/>
                <a:gd name="T46" fmla="*/ 59 w 279"/>
                <a:gd name="T47" fmla="*/ 39 h 141"/>
                <a:gd name="T48" fmla="*/ 40 w 279"/>
                <a:gd name="T49" fmla="*/ 35 h 141"/>
                <a:gd name="T50" fmla="*/ 35 w 279"/>
                <a:gd name="T51" fmla="*/ 10 h 141"/>
                <a:gd name="T52" fmla="*/ 27 w 279"/>
                <a:gd name="T53" fmla="*/ 5 h 141"/>
                <a:gd name="T54" fmla="*/ 10 w 279"/>
                <a:gd name="T55" fmla="*/ 11 h 141"/>
                <a:gd name="T56" fmla="*/ 10 w 279"/>
                <a:gd name="T57" fmla="*/ 33 h 141"/>
                <a:gd name="T58" fmla="*/ 24 w 279"/>
                <a:gd name="T59" fmla="*/ 40 h 141"/>
                <a:gd name="T60" fmla="*/ 11 w 279"/>
                <a:gd name="T61" fmla="*/ 51 h 141"/>
                <a:gd name="T62" fmla="*/ 10 w 279"/>
                <a:gd name="T63" fmla="*/ 65 h 141"/>
                <a:gd name="T64" fmla="*/ 6 w 279"/>
                <a:gd name="T65" fmla="*/ 70 h 141"/>
                <a:gd name="T66" fmla="*/ 11 w 279"/>
                <a:gd name="T67" fmla="*/ 75 h 141"/>
                <a:gd name="T68" fmla="*/ 39 w 279"/>
                <a:gd name="T69" fmla="*/ 69 h 141"/>
                <a:gd name="T70" fmla="*/ 44 w 279"/>
                <a:gd name="T71" fmla="*/ 81 h 141"/>
                <a:gd name="T72" fmla="*/ 64 w 279"/>
                <a:gd name="T73" fmla="*/ 80 h 141"/>
                <a:gd name="T74" fmla="*/ 67 w 279"/>
                <a:gd name="T75" fmla="*/ 107 h 141"/>
                <a:gd name="T76" fmla="*/ 86 w 279"/>
                <a:gd name="T77" fmla="*/ 102 h 141"/>
                <a:gd name="T78" fmla="*/ 86 w 279"/>
                <a:gd name="T79" fmla="*/ 89 h 141"/>
                <a:gd name="T80" fmla="*/ 97 w 279"/>
                <a:gd name="T81" fmla="*/ 88 h 141"/>
                <a:gd name="T82" fmla="*/ 115 w 279"/>
                <a:gd name="T83" fmla="*/ 134 h 141"/>
                <a:gd name="T84" fmla="*/ 143 w 279"/>
                <a:gd name="T85" fmla="*/ 118 h 141"/>
                <a:gd name="T86" fmla="*/ 116 w 279"/>
                <a:gd name="T87" fmla="*/ 81 h 141"/>
                <a:gd name="T88" fmla="*/ 147 w 279"/>
                <a:gd name="T89" fmla="*/ 62 h 141"/>
                <a:gd name="T90" fmla="*/ 177 w 279"/>
                <a:gd name="T91" fmla="*/ 36 h 141"/>
                <a:gd name="T92" fmla="*/ 209 w 279"/>
                <a:gd name="T93" fmla="*/ 47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79" h="141">
                  <a:moveTo>
                    <a:pt x="209" y="47"/>
                  </a:moveTo>
                  <a:cubicBezTo>
                    <a:pt x="215" y="51"/>
                    <a:pt x="224" y="66"/>
                    <a:pt x="224" y="66"/>
                  </a:cubicBezTo>
                  <a:cubicBezTo>
                    <a:pt x="232" y="63"/>
                    <a:pt x="232" y="63"/>
                    <a:pt x="232" y="63"/>
                  </a:cubicBezTo>
                  <a:cubicBezTo>
                    <a:pt x="254" y="81"/>
                    <a:pt x="254" y="81"/>
                    <a:pt x="254" y="81"/>
                  </a:cubicBezTo>
                  <a:cubicBezTo>
                    <a:pt x="232" y="71"/>
                    <a:pt x="232" y="71"/>
                    <a:pt x="232" y="71"/>
                  </a:cubicBezTo>
                  <a:cubicBezTo>
                    <a:pt x="232" y="71"/>
                    <a:pt x="229" y="100"/>
                    <a:pt x="229" y="106"/>
                  </a:cubicBezTo>
                  <a:cubicBezTo>
                    <a:pt x="229" y="111"/>
                    <a:pt x="240" y="124"/>
                    <a:pt x="243" y="128"/>
                  </a:cubicBezTo>
                  <a:cubicBezTo>
                    <a:pt x="243" y="128"/>
                    <a:pt x="243" y="128"/>
                    <a:pt x="243" y="128"/>
                  </a:cubicBezTo>
                  <a:cubicBezTo>
                    <a:pt x="253" y="107"/>
                    <a:pt x="253" y="107"/>
                    <a:pt x="253" y="107"/>
                  </a:cubicBezTo>
                  <a:cubicBezTo>
                    <a:pt x="253" y="107"/>
                    <a:pt x="260" y="117"/>
                    <a:pt x="269" y="109"/>
                  </a:cubicBezTo>
                  <a:cubicBezTo>
                    <a:pt x="279" y="101"/>
                    <a:pt x="279" y="84"/>
                    <a:pt x="279" y="84"/>
                  </a:cubicBezTo>
                  <a:cubicBezTo>
                    <a:pt x="279" y="84"/>
                    <a:pt x="266" y="77"/>
                    <a:pt x="266" y="70"/>
                  </a:cubicBezTo>
                  <a:cubicBezTo>
                    <a:pt x="266" y="64"/>
                    <a:pt x="269" y="59"/>
                    <a:pt x="270" y="58"/>
                  </a:cubicBezTo>
                  <a:cubicBezTo>
                    <a:pt x="255" y="46"/>
                    <a:pt x="255" y="46"/>
                    <a:pt x="255" y="46"/>
                  </a:cubicBezTo>
                  <a:cubicBezTo>
                    <a:pt x="255" y="46"/>
                    <a:pt x="251" y="24"/>
                    <a:pt x="236" y="18"/>
                  </a:cubicBezTo>
                  <a:cubicBezTo>
                    <a:pt x="221" y="12"/>
                    <a:pt x="196" y="13"/>
                    <a:pt x="196" y="13"/>
                  </a:cubicBezTo>
                  <a:cubicBezTo>
                    <a:pt x="195" y="4"/>
                    <a:pt x="195" y="4"/>
                    <a:pt x="195" y="4"/>
                  </a:cubicBezTo>
                  <a:cubicBezTo>
                    <a:pt x="195" y="4"/>
                    <a:pt x="169" y="0"/>
                    <a:pt x="163" y="7"/>
                  </a:cubicBezTo>
                  <a:cubicBezTo>
                    <a:pt x="157" y="14"/>
                    <a:pt x="144" y="27"/>
                    <a:pt x="144" y="27"/>
                  </a:cubicBezTo>
                  <a:cubicBezTo>
                    <a:pt x="144" y="27"/>
                    <a:pt x="134" y="18"/>
                    <a:pt x="126" y="25"/>
                  </a:cubicBezTo>
                  <a:cubicBezTo>
                    <a:pt x="118" y="32"/>
                    <a:pt x="104" y="50"/>
                    <a:pt x="94" y="50"/>
                  </a:cubicBezTo>
                  <a:cubicBezTo>
                    <a:pt x="84" y="50"/>
                    <a:pt x="75" y="43"/>
                    <a:pt x="75" y="43"/>
                  </a:cubicBezTo>
                  <a:cubicBezTo>
                    <a:pt x="65" y="32"/>
                    <a:pt x="65" y="32"/>
                    <a:pt x="65" y="32"/>
                  </a:cubicBezTo>
                  <a:cubicBezTo>
                    <a:pt x="59" y="39"/>
                    <a:pt x="59" y="39"/>
                    <a:pt x="59" y="39"/>
                  </a:cubicBezTo>
                  <a:cubicBezTo>
                    <a:pt x="59" y="39"/>
                    <a:pt x="45" y="44"/>
                    <a:pt x="40" y="35"/>
                  </a:cubicBezTo>
                  <a:cubicBezTo>
                    <a:pt x="35" y="26"/>
                    <a:pt x="42" y="16"/>
                    <a:pt x="35" y="10"/>
                  </a:cubicBezTo>
                  <a:cubicBezTo>
                    <a:pt x="33" y="8"/>
                    <a:pt x="30" y="7"/>
                    <a:pt x="27" y="5"/>
                  </a:cubicBezTo>
                  <a:cubicBezTo>
                    <a:pt x="23" y="6"/>
                    <a:pt x="16" y="9"/>
                    <a:pt x="10" y="11"/>
                  </a:cubicBezTo>
                  <a:cubicBezTo>
                    <a:pt x="0" y="14"/>
                    <a:pt x="10" y="33"/>
                    <a:pt x="10" y="33"/>
                  </a:cubicBezTo>
                  <a:cubicBezTo>
                    <a:pt x="10" y="33"/>
                    <a:pt x="24" y="35"/>
                    <a:pt x="24" y="40"/>
                  </a:cubicBezTo>
                  <a:cubicBezTo>
                    <a:pt x="24" y="45"/>
                    <a:pt x="11" y="51"/>
                    <a:pt x="11" y="51"/>
                  </a:cubicBezTo>
                  <a:cubicBezTo>
                    <a:pt x="10" y="65"/>
                    <a:pt x="10" y="65"/>
                    <a:pt x="10" y="65"/>
                  </a:cubicBezTo>
                  <a:cubicBezTo>
                    <a:pt x="6" y="70"/>
                    <a:pt x="6" y="70"/>
                    <a:pt x="6" y="70"/>
                  </a:cubicBezTo>
                  <a:cubicBezTo>
                    <a:pt x="11" y="75"/>
                    <a:pt x="11" y="75"/>
                    <a:pt x="11" y="75"/>
                  </a:cubicBezTo>
                  <a:cubicBezTo>
                    <a:pt x="39" y="69"/>
                    <a:pt x="39" y="69"/>
                    <a:pt x="39" y="69"/>
                  </a:cubicBezTo>
                  <a:cubicBezTo>
                    <a:pt x="44" y="81"/>
                    <a:pt x="44" y="81"/>
                    <a:pt x="44" y="81"/>
                  </a:cubicBezTo>
                  <a:cubicBezTo>
                    <a:pt x="64" y="80"/>
                    <a:pt x="64" y="80"/>
                    <a:pt x="64" y="80"/>
                  </a:cubicBezTo>
                  <a:cubicBezTo>
                    <a:pt x="64" y="80"/>
                    <a:pt x="59" y="102"/>
                    <a:pt x="67" y="107"/>
                  </a:cubicBezTo>
                  <a:cubicBezTo>
                    <a:pt x="75" y="112"/>
                    <a:pt x="86" y="102"/>
                    <a:pt x="86" y="102"/>
                  </a:cubicBezTo>
                  <a:cubicBezTo>
                    <a:pt x="86" y="89"/>
                    <a:pt x="86" y="89"/>
                    <a:pt x="86" y="89"/>
                  </a:cubicBezTo>
                  <a:cubicBezTo>
                    <a:pt x="97" y="88"/>
                    <a:pt x="97" y="88"/>
                    <a:pt x="97" y="88"/>
                  </a:cubicBezTo>
                  <a:cubicBezTo>
                    <a:pt x="97" y="88"/>
                    <a:pt x="101" y="141"/>
                    <a:pt x="115" y="134"/>
                  </a:cubicBezTo>
                  <a:cubicBezTo>
                    <a:pt x="129" y="127"/>
                    <a:pt x="143" y="118"/>
                    <a:pt x="143" y="118"/>
                  </a:cubicBezTo>
                  <a:cubicBezTo>
                    <a:pt x="143" y="118"/>
                    <a:pt x="105" y="91"/>
                    <a:pt x="116" y="81"/>
                  </a:cubicBezTo>
                  <a:cubicBezTo>
                    <a:pt x="127" y="71"/>
                    <a:pt x="138" y="70"/>
                    <a:pt x="147" y="62"/>
                  </a:cubicBezTo>
                  <a:cubicBezTo>
                    <a:pt x="156" y="54"/>
                    <a:pt x="167" y="34"/>
                    <a:pt x="177" y="36"/>
                  </a:cubicBezTo>
                  <a:cubicBezTo>
                    <a:pt x="187" y="38"/>
                    <a:pt x="203" y="43"/>
                    <a:pt x="209" y="47"/>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394" name="Freeform 202">
              <a:extLst>
                <a:ext uri="{FF2B5EF4-FFF2-40B4-BE49-F238E27FC236}">
                  <a16:creationId xmlns:a16="http://schemas.microsoft.com/office/drawing/2014/main" id="{F4F5557C-5574-4EE6-966E-68D77A89DA2F}"/>
                </a:ext>
              </a:extLst>
            </p:cNvPr>
            <p:cNvSpPr>
              <a:spLocks/>
            </p:cNvSpPr>
            <p:nvPr/>
          </p:nvSpPr>
          <p:spPr bwMode="gray">
            <a:xfrm>
              <a:off x="2208930" y="2254169"/>
              <a:ext cx="394257" cy="578542"/>
            </a:xfrm>
            <a:custGeom>
              <a:avLst/>
              <a:gdLst>
                <a:gd name="T0" fmla="*/ 65 w 581"/>
                <a:gd name="T1" fmla="*/ 635 h 902"/>
                <a:gd name="T2" fmla="*/ 120 w 581"/>
                <a:gd name="T3" fmla="*/ 665 h 902"/>
                <a:gd name="T4" fmla="*/ 185 w 581"/>
                <a:gd name="T5" fmla="*/ 680 h 902"/>
                <a:gd name="T6" fmla="*/ 238 w 581"/>
                <a:gd name="T7" fmla="*/ 732 h 902"/>
                <a:gd name="T8" fmla="*/ 264 w 581"/>
                <a:gd name="T9" fmla="*/ 772 h 902"/>
                <a:gd name="T10" fmla="*/ 329 w 581"/>
                <a:gd name="T11" fmla="*/ 813 h 902"/>
                <a:gd name="T12" fmla="*/ 388 w 581"/>
                <a:gd name="T13" fmla="*/ 797 h 902"/>
                <a:gd name="T14" fmla="*/ 415 w 581"/>
                <a:gd name="T15" fmla="*/ 846 h 902"/>
                <a:gd name="T16" fmla="*/ 427 w 581"/>
                <a:gd name="T17" fmla="*/ 898 h 902"/>
                <a:gd name="T18" fmla="*/ 444 w 581"/>
                <a:gd name="T19" fmla="*/ 831 h 902"/>
                <a:gd name="T20" fmla="*/ 464 w 581"/>
                <a:gd name="T21" fmla="*/ 749 h 902"/>
                <a:gd name="T22" fmla="*/ 425 w 581"/>
                <a:gd name="T23" fmla="*/ 688 h 902"/>
                <a:gd name="T24" fmla="*/ 471 w 581"/>
                <a:gd name="T25" fmla="*/ 643 h 902"/>
                <a:gd name="T26" fmla="*/ 442 w 581"/>
                <a:gd name="T27" fmla="*/ 616 h 902"/>
                <a:gd name="T28" fmla="*/ 510 w 581"/>
                <a:gd name="T29" fmla="*/ 586 h 902"/>
                <a:gd name="T30" fmla="*/ 555 w 581"/>
                <a:gd name="T31" fmla="*/ 563 h 902"/>
                <a:gd name="T32" fmla="*/ 564 w 581"/>
                <a:gd name="T33" fmla="*/ 614 h 902"/>
                <a:gd name="T34" fmla="*/ 566 w 581"/>
                <a:gd name="T35" fmla="*/ 569 h 902"/>
                <a:gd name="T36" fmla="*/ 531 w 581"/>
                <a:gd name="T37" fmla="*/ 524 h 902"/>
                <a:gd name="T38" fmla="*/ 543 w 581"/>
                <a:gd name="T39" fmla="*/ 460 h 902"/>
                <a:gd name="T40" fmla="*/ 533 w 581"/>
                <a:gd name="T41" fmla="*/ 395 h 902"/>
                <a:gd name="T42" fmla="*/ 558 w 581"/>
                <a:gd name="T43" fmla="*/ 343 h 902"/>
                <a:gd name="T44" fmla="*/ 503 w 581"/>
                <a:gd name="T45" fmla="*/ 350 h 902"/>
                <a:gd name="T46" fmla="*/ 463 w 581"/>
                <a:gd name="T47" fmla="*/ 350 h 902"/>
                <a:gd name="T48" fmla="*/ 404 w 581"/>
                <a:gd name="T49" fmla="*/ 297 h 902"/>
                <a:gd name="T50" fmla="*/ 341 w 581"/>
                <a:gd name="T51" fmla="*/ 300 h 902"/>
                <a:gd name="T52" fmla="*/ 324 w 581"/>
                <a:gd name="T53" fmla="*/ 252 h 902"/>
                <a:gd name="T54" fmla="*/ 317 w 581"/>
                <a:gd name="T55" fmla="*/ 200 h 902"/>
                <a:gd name="T56" fmla="*/ 306 w 581"/>
                <a:gd name="T57" fmla="*/ 153 h 902"/>
                <a:gd name="T58" fmla="*/ 320 w 581"/>
                <a:gd name="T59" fmla="*/ 97 h 902"/>
                <a:gd name="T60" fmla="*/ 381 w 581"/>
                <a:gd name="T61" fmla="*/ 47 h 902"/>
                <a:gd name="T62" fmla="*/ 342 w 581"/>
                <a:gd name="T63" fmla="*/ 45 h 902"/>
                <a:gd name="T64" fmla="*/ 271 w 581"/>
                <a:gd name="T65" fmla="*/ 74 h 902"/>
                <a:gd name="T66" fmla="*/ 239 w 581"/>
                <a:gd name="T67" fmla="*/ 101 h 902"/>
                <a:gd name="T68" fmla="*/ 207 w 581"/>
                <a:gd name="T69" fmla="*/ 94 h 902"/>
                <a:gd name="T70" fmla="*/ 177 w 581"/>
                <a:gd name="T71" fmla="*/ 155 h 902"/>
                <a:gd name="T72" fmla="*/ 147 w 581"/>
                <a:gd name="T73" fmla="*/ 198 h 902"/>
                <a:gd name="T74" fmla="*/ 123 w 581"/>
                <a:gd name="T75" fmla="*/ 229 h 902"/>
                <a:gd name="T76" fmla="*/ 93 w 581"/>
                <a:gd name="T77" fmla="*/ 215 h 902"/>
                <a:gd name="T78" fmla="*/ 92 w 581"/>
                <a:gd name="T79" fmla="*/ 267 h 902"/>
                <a:gd name="T80" fmla="*/ 74 w 581"/>
                <a:gd name="T81" fmla="*/ 301 h 902"/>
                <a:gd name="T82" fmla="*/ 77 w 581"/>
                <a:gd name="T83" fmla="*/ 338 h 902"/>
                <a:gd name="T84" fmla="*/ 77 w 581"/>
                <a:gd name="T85" fmla="*/ 378 h 902"/>
                <a:gd name="T86" fmla="*/ 74 w 581"/>
                <a:gd name="T87" fmla="*/ 454 h 902"/>
                <a:gd name="T88" fmla="*/ 74 w 581"/>
                <a:gd name="T89" fmla="*/ 522 h 902"/>
                <a:gd name="T90" fmla="*/ 26 w 581"/>
                <a:gd name="T91" fmla="*/ 580 h 902"/>
                <a:gd name="T92" fmla="*/ 23 w 581"/>
                <a:gd name="T93" fmla="*/ 614 h 9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81" h="902">
                  <a:moveTo>
                    <a:pt x="23" y="614"/>
                  </a:moveTo>
                  <a:cubicBezTo>
                    <a:pt x="34" y="620"/>
                    <a:pt x="42" y="632"/>
                    <a:pt x="42" y="632"/>
                  </a:cubicBezTo>
                  <a:cubicBezTo>
                    <a:pt x="42" y="632"/>
                    <a:pt x="55" y="627"/>
                    <a:pt x="65" y="635"/>
                  </a:cubicBezTo>
                  <a:cubicBezTo>
                    <a:pt x="75" y="643"/>
                    <a:pt x="68" y="650"/>
                    <a:pt x="77" y="656"/>
                  </a:cubicBezTo>
                  <a:cubicBezTo>
                    <a:pt x="86" y="662"/>
                    <a:pt x="97" y="657"/>
                    <a:pt x="97" y="657"/>
                  </a:cubicBezTo>
                  <a:cubicBezTo>
                    <a:pt x="97" y="657"/>
                    <a:pt x="113" y="667"/>
                    <a:pt x="120" y="665"/>
                  </a:cubicBezTo>
                  <a:cubicBezTo>
                    <a:pt x="127" y="663"/>
                    <a:pt x="115" y="650"/>
                    <a:pt x="132" y="653"/>
                  </a:cubicBezTo>
                  <a:cubicBezTo>
                    <a:pt x="149" y="656"/>
                    <a:pt x="141" y="674"/>
                    <a:pt x="154" y="675"/>
                  </a:cubicBezTo>
                  <a:cubicBezTo>
                    <a:pt x="166" y="676"/>
                    <a:pt x="178" y="676"/>
                    <a:pt x="185" y="680"/>
                  </a:cubicBezTo>
                  <a:cubicBezTo>
                    <a:pt x="192" y="684"/>
                    <a:pt x="222" y="708"/>
                    <a:pt x="222" y="708"/>
                  </a:cubicBezTo>
                  <a:cubicBezTo>
                    <a:pt x="230" y="732"/>
                    <a:pt x="230" y="732"/>
                    <a:pt x="230" y="732"/>
                  </a:cubicBezTo>
                  <a:cubicBezTo>
                    <a:pt x="238" y="732"/>
                    <a:pt x="238" y="732"/>
                    <a:pt x="238" y="732"/>
                  </a:cubicBezTo>
                  <a:cubicBezTo>
                    <a:pt x="249" y="745"/>
                    <a:pt x="249" y="745"/>
                    <a:pt x="249" y="745"/>
                  </a:cubicBezTo>
                  <a:cubicBezTo>
                    <a:pt x="249" y="745"/>
                    <a:pt x="257" y="742"/>
                    <a:pt x="259" y="748"/>
                  </a:cubicBezTo>
                  <a:cubicBezTo>
                    <a:pt x="262" y="754"/>
                    <a:pt x="264" y="772"/>
                    <a:pt x="264" y="772"/>
                  </a:cubicBezTo>
                  <a:cubicBezTo>
                    <a:pt x="264" y="772"/>
                    <a:pt x="282" y="773"/>
                    <a:pt x="283" y="781"/>
                  </a:cubicBezTo>
                  <a:cubicBezTo>
                    <a:pt x="284" y="788"/>
                    <a:pt x="269" y="803"/>
                    <a:pt x="288" y="808"/>
                  </a:cubicBezTo>
                  <a:cubicBezTo>
                    <a:pt x="307" y="813"/>
                    <a:pt x="329" y="813"/>
                    <a:pt x="329" y="813"/>
                  </a:cubicBezTo>
                  <a:cubicBezTo>
                    <a:pt x="329" y="813"/>
                    <a:pt x="330" y="792"/>
                    <a:pt x="344" y="795"/>
                  </a:cubicBezTo>
                  <a:cubicBezTo>
                    <a:pt x="358" y="798"/>
                    <a:pt x="359" y="805"/>
                    <a:pt x="367" y="805"/>
                  </a:cubicBezTo>
                  <a:cubicBezTo>
                    <a:pt x="376" y="805"/>
                    <a:pt x="384" y="796"/>
                    <a:pt x="388" y="797"/>
                  </a:cubicBezTo>
                  <a:cubicBezTo>
                    <a:pt x="392" y="798"/>
                    <a:pt x="400" y="810"/>
                    <a:pt x="400" y="810"/>
                  </a:cubicBezTo>
                  <a:cubicBezTo>
                    <a:pt x="400" y="810"/>
                    <a:pt x="428" y="809"/>
                    <a:pt x="428" y="823"/>
                  </a:cubicBezTo>
                  <a:cubicBezTo>
                    <a:pt x="428" y="838"/>
                    <a:pt x="420" y="846"/>
                    <a:pt x="415" y="846"/>
                  </a:cubicBezTo>
                  <a:cubicBezTo>
                    <a:pt x="410" y="846"/>
                    <a:pt x="401" y="876"/>
                    <a:pt x="404" y="881"/>
                  </a:cubicBezTo>
                  <a:cubicBezTo>
                    <a:pt x="407" y="887"/>
                    <a:pt x="421" y="882"/>
                    <a:pt x="421" y="882"/>
                  </a:cubicBezTo>
                  <a:cubicBezTo>
                    <a:pt x="427" y="898"/>
                    <a:pt x="427" y="898"/>
                    <a:pt x="427" y="898"/>
                  </a:cubicBezTo>
                  <a:cubicBezTo>
                    <a:pt x="438" y="902"/>
                    <a:pt x="438" y="902"/>
                    <a:pt x="438" y="902"/>
                  </a:cubicBezTo>
                  <a:cubicBezTo>
                    <a:pt x="441" y="893"/>
                    <a:pt x="442" y="881"/>
                    <a:pt x="442" y="881"/>
                  </a:cubicBezTo>
                  <a:cubicBezTo>
                    <a:pt x="444" y="831"/>
                    <a:pt x="444" y="831"/>
                    <a:pt x="444" y="831"/>
                  </a:cubicBezTo>
                  <a:cubicBezTo>
                    <a:pt x="455" y="801"/>
                    <a:pt x="455" y="801"/>
                    <a:pt x="455" y="801"/>
                  </a:cubicBezTo>
                  <a:cubicBezTo>
                    <a:pt x="453" y="767"/>
                    <a:pt x="453" y="767"/>
                    <a:pt x="453" y="767"/>
                  </a:cubicBezTo>
                  <a:cubicBezTo>
                    <a:pt x="453" y="767"/>
                    <a:pt x="463" y="756"/>
                    <a:pt x="464" y="749"/>
                  </a:cubicBezTo>
                  <a:cubicBezTo>
                    <a:pt x="465" y="742"/>
                    <a:pt x="451" y="727"/>
                    <a:pt x="451" y="727"/>
                  </a:cubicBezTo>
                  <a:cubicBezTo>
                    <a:pt x="451" y="727"/>
                    <a:pt x="450" y="715"/>
                    <a:pt x="448" y="706"/>
                  </a:cubicBezTo>
                  <a:cubicBezTo>
                    <a:pt x="446" y="697"/>
                    <a:pt x="425" y="688"/>
                    <a:pt x="425" y="688"/>
                  </a:cubicBezTo>
                  <a:cubicBezTo>
                    <a:pt x="427" y="646"/>
                    <a:pt x="427" y="646"/>
                    <a:pt x="427" y="646"/>
                  </a:cubicBezTo>
                  <a:cubicBezTo>
                    <a:pt x="449" y="641"/>
                    <a:pt x="449" y="641"/>
                    <a:pt x="449" y="641"/>
                  </a:cubicBezTo>
                  <a:cubicBezTo>
                    <a:pt x="449" y="641"/>
                    <a:pt x="458" y="645"/>
                    <a:pt x="471" y="643"/>
                  </a:cubicBezTo>
                  <a:cubicBezTo>
                    <a:pt x="484" y="641"/>
                    <a:pt x="465" y="621"/>
                    <a:pt x="465" y="621"/>
                  </a:cubicBezTo>
                  <a:cubicBezTo>
                    <a:pt x="458" y="623"/>
                    <a:pt x="458" y="623"/>
                    <a:pt x="458" y="623"/>
                  </a:cubicBezTo>
                  <a:cubicBezTo>
                    <a:pt x="442" y="616"/>
                    <a:pt x="442" y="616"/>
                    <a:pt x="442" y="616"/>
                  </a:cubicBezTo>
                  <a:cubicBezTo>
                    <a:pt x="442" y="616"/>
                    <a:pt x="434" y="587"/>
                    <a:pt x="443" y="582"/>
                  </a:cubicBezTo>
                  <a:cubicBezTo>
                    <a:pt x="452" y="577"/>
                    <a:pt x="466" y="590"/>
                    <a:pt x="466" y="590"/>
                  </a:cubicBezTo>
                  <a:cubicBezTo>
                    <a:pt x="510" y="586"/>
                    <a:pt x="510" y="586"/>
                    <a:pt x="510" y="586"/>
                  </a:cubicBezTo>
                  <a:cubicBezTo>
                    <a:pt x="510" y="586"/>
                    <a:pt x="510" y="569"/>
                    <a:pt x="516" y="569"/>
                  </a:cubicBezTo>
                  <a:cubicBezTo>
                    <a:pt x="522" y="569"/>
                    <a:pt x="527" y="585"/>
                    <a:pt x="533" y="584"/>
                  </a:cubicBezTo>
                  <a:cubicBezTo>
                    <a:pt x="539" y="583"/>
                    <a:pt x="548" y="560"/>
                    <a:pt x="555" y="563"/>
                  </a:cubicBezTo>
                  <a:cubicBezTo>
                    <a:pt x="562" y="566"/>
                    <a:pt x="557" y="573"/>
                    <a:pt x="557" y="573"/>
                  </a:cubicBezTo>
                  <a:cubicBezTo>
                    <a:pt x="557" y="573"/>
                    <a:pt x="560" y="574"/>
                    <a:pt x="562" y="580"/>
                  </a:cubicBezTo>
                  <a:cubicBezTo>
                    <a:pt x="564" y="586"/>
                    <a:pt x="564" y="614"/>
                    <a:pt x="564" y="614"/>
                  </a:cubicBezTo>
                  <a:cubicBezTo>
                    <a:pt x="581" y="614"/>
                    <a:pt x="581" y="614"/>
                    <a:pt x="581" y="614"/>
                  </a:cubicBezTo>
                  <a:cubicBezTo>
                    <a:pt x="581" y="614"/>
                    <a:pt x="575" y="605"/>
                    <a:pt x="576" y="600"/>
                  </a:cubicBezTo>
                  <a:cubicBezTo>
                    <a:pt x="577" y="595"/>
                    <a:pt x="566" y="569"/>
                    <a:pt x="566" y="569"/>
                  </a:cubicBezTo>
                  <a:cubicBezTo>
                    <a:pt x="566" y="569"/>
                    <a:pt x="563" y="549"/>
                    <a:pt x="563" y="545"/>
                  </a:cubicBezTo>
                  <a:cubicBezTo>
                    <a:pt x="563" y="541"/>
                    <a:pt x="541" y="527"/>
                    <a:pt x="541" y="527"/>
                  </a:cubicBezTo>
                  <a:cubicBezTo>
                    <a:pt x="531" y="524"/>
                    <a:pt x="531" y="524"/>
                    <a:pt x="531" y="524"/>
                  </a:cubicBezTo>
                  <a:cubicBezTo>
                    <a:pt x="531" y="524"/>
                    <a:pt x="560" y="506"/>
                    <a:pt x="560" y="496"/>
                  </a:cubicBezTo>
                  <a:cubicBezTo>
                    <a:pt x="560" y="486"/>
                    <a:pt x="544" y="472"/>
                    <a:pt x="544" y="472"/>
                  </a:cubicBezTo>
                  <a:cubicBezTo>
                    <a:pt x="544" y="472"/>
                    <a:pt x="543" y="463"/>
                    <a:pt x="543" y="460"/>
                  </a:cubicBezTo>
                  <a:cubicBezTo>
                    <a:pt x="543" y="457"/>
                    <a:pt x="534" y="453"/>
                    <a:pt x="534" y="453"/>
                  </a:cubicBezTo>
                  <a:cubicBezTo>
                    <a:pt x="534" y="453"/>
                    <a:pt x="536" y="430"/>
                    <a:pt x="536" y="424"/>
                  </a:cubicBezTo>
                  <a:cubicBezTo>
                    <a:pt x="536" y="418"/>
                    <a:pt x="534" y="400"/>
                    <a:pt x="533" y="395"/>
                  </a:cubicBezTo>
                  <a:cubicBezTo>
                    <a:pt x="532" y="390"/>
                    <a:pt x="542" y="385"/>
                    <a:pt x="545" y="382"/>
                  </a:cubicBezTo>
                  <a:cubicBezTo>
                    <a:pt x="548" y="379"/>
                    <a:pt x="547" y="364"/>
                    <a:pt x="547" y="364"/>
                  </a:cubicBezTo>
                  <a:cubicBezTo>
                    <a:pt x="547" y="364"/>
                    <a:pt x="564" y="356"/>
                    <a:pt x="558" y="343"/>
                  </a:cubicBezTo>
                  <a:cubicBezTo>
                    <a:pt x="552" y="331"/>
                    <a:pt x="533" y="346"/>
                    <a:pt x="533" y="346"/>
                  </a:cubicBezTo>
                  <a:cubicBezTo>
                    <a:pt x="514" y="344"/>
                    <a:pt x="514" y="344"/>
                    <a:pt x="514" y="344"/>
                  </a:cubicBezTo>
                  <a:cubicBezTo>
                    <a:pt x="514" y="344"/>
                    <a:pt x="511" y="351"/>
                    <a:pt x="503" y="350"/>
                  </a:cubicBezTo>
                  <a:cubicBezTo>
                    <a:pt x="495" y="349"/>
                    <a:pt x="493" y="342"/>
                    <a:pt x="485" y="342"/>
                  </a:cubicBezTo>
                  <a:cubicBezTo>
                    <a:pt x="477" y="342"/>
                    <a:pt x="479" y="349"/>
                    <a:pt x="479" y="349"/>
                  </a:cubicBezTo>
                  <a:cubicBezTo>
                    <a:pt x="479" y="349"/>
                    <a:pt x="471" y="352"/>
                    <a:pt x="463" y="350"/>
                  </a:cubicBezTo>
                  <a:cubicBezTo>
                    <a:pt x="455" y="347"/>
                    <a:pt x="436" y="305"/>
                    <a:pt x="436" y="305"/>
                  </a:cubicBezTo>
                  <a:cubicBezTo>
                    <a:pt x="418" y="304"/>
                    <a:pt x="418" y="304"/>
                    <a:pt x="418" y="304"/>
                  </a:cubicBezTo>
                  <a:cubicBezTo>
                    <a:pt x="418" y="304"/>
                    <a:pt x="409" y="297"/>
                    <a:pt x="404" y="297"/>
                  </a:cubicBezTo>
                  <a:cubicBezTo>
                    <a:pt x="399" y="297"/>
                    <a:pt x="398" y="303"/>
                    <a:pt x="393" y="304"/>
                  </a:cubicBezTo>
                  <a:cubicBezTo>
                    <a:pt x="388" y="305"/>
                    <a:pt x="370" y="298"/>
                    <a:pt x="365" y="298"/>
                  </a:cubicBezTo>
                  <a:cubicBezTo>
                    <a:pt x="361" y="298"/>
                    <a:pt x="350" y="303"/>
                    <a:pt x="341" y="300"/>
                  </a:cubicBezTo>
                  <a:cubicBezTo>
                    <a:pt x="332" y="297"/>
                    <a:pt x="333" y="279"/>
                    <a:pt x="333" y="279"/>
                  </a:cubicBezTo>
                  <a:cubicBezTo>
                    <a:pt x="323" y="279"/>
                    <a:pt x="323" y="279"/>
                    <a:pt x="323" y="279"/>
                  </a:cubicBezTo>
                  <a:cubicBezTo>
                    <a:pt x="324" y="252"/>
                    <a:pt x="324" y="252"/>
                    <a:pt x="324" y="252"/>
                  </a:cubicBezTo>
                  <a:cubicBezTo>
                    <a:pt x="324" y="252"/>
                    <a:pt x="330" y="249"/>
                    <a:pt x="332" y="236"/>
                  </a:cubicBezTo>
                  <a:cubicBezTo>
                    <a:pt x="334" y="224"/>
                    <a:pt x="318" y="215"/>
                    <a:pt x="318" y="215"/>
                  </a:cubicBezTo>
                  <a:cubicBezTo>
                    <a:pt x="318" y="215"/>
                    <a:pt x="317" y="209"/>
                    <a:pt x="317" y="200"/>
                  </a:cubicBezTo>
                  <a:cubicBezTo>
                    <a:pt x="317" y="191"/>
                    <a:pt x="310" y="177"/>
                    <a:pt x="303" y="177"/>
                  </a:cubicBezTo>
                  <a:cubicBezTo>
                    <a:pt x="296" y="177"/>
                    <a:pt x="292" y="191"/>
                    <a:pt x="287" y="182"/>
                  </a:cubicBezTo>
                  <a:cubicBezTo>
                    <a:pt x="282" y="174"/>
                    <a:pt x="306" y="153"/>
                    <a:pt x="306" y="153"/>
                  </a:cubicBezTo>
                  <a:cubicBezTo>
                    <a:pt x="306" y="135"/>
                    <a:pt x="306" y="135"/>
                    <a:pt x="306" y="135"/>
                  </a:cubicBezTo>
                  <a:cubicBezTo>
                    <a:pt x="312" y="130"/>
                    <a:pt x="312" y="130"/>
                    <a:pt x="312" y="130"/>
                  </a:cubicBezTo>
                  <a:cubicBezTo>
                    <a:pt x="312" y="130"/>
                    <a:pt x="312" y="110"/>
                    <a:pt x="320" y="97"/>
                  </a:cubicBezTo>
                  <a:cubicBezTo>
                    <a:pt x="327" y="84"/>
                    <a:pt x="336" y="80"/>
                    <a:pt x="347" y="76"/>
                  </a:cubicBezTo>
                  <a:cubicBezTo>
                    <a:pt x="358" y="73"/>
                    <a:pt x="359" y="58"/>
                    <a:pt x="359" y="58"/>
                  </a:cubicBezTo>
                  <a:cubicBezTo>
                    <a:pt x="359" y="58"/>
                    <a:pt x="376" y="48"/>
                    <a:pt x="381" y="47"/>
                  </a:cubicBezTo>
                  <a:cubicBezTo>
                    <a:pt x="386" y="46"/>
                    <a:pt x="401" y="42"/>
                    <a:pt x="402" y="21"/>
                  </a:cubicBezTo>
                  <a:cubicBezTo>
                    <a:pt x="403" y="0"/>
                    <a:pt x="361" y="16"/>
                    <a:pt x="355" y="17"/>
                  </a:cubicBezTo>
                  <a:cubicBezTo>
                    <a:pt x="349" y="18"/>
                    <a:pt x="349" y="38"/>
                    <a:pt x="342" y="45"/>
                  </a:cubicBezTo>
                  <a:cubicBezTo>
                    <a:pt x="335" y="52"/>
                    <a:pt x="324" y="45"/>
                    <a:pt x="317" y="46"/>
                  </a:cubicBezTo>
                  <a:cubicBezTo>
                    <a:pt x="310" y="47"/>
                    <a:pt x="296" y="70"/>
                    <a:pt x="296" y="70"/>
                  </a:cubicBezTo>
                  <a:cubicBezTo>
                    <a:pt x="271" y="74"/>
                    <a:pt x="271" y="74"/>
                    <a:pt x="271" y="74"/>
                  </a:cubicBezTo>
                  <a:cubicBezTo>
                    <a:pt x="271" y="74"/>
                    <a:pt x="265" y="65"/>
                    <a:pt x="258" y="69"/>
                  </a:cubicBezTo>
                  <a:cubicBezTo>
                    <a:pt x="251" y="74"/>
                    <a:pt x="251" y="86"/>
                    <a:pt x="251" y="86"/>
                  </a:cubicBezTo>
                  <a:cubicBezTo>
                    <a:pt x="251" y="86"/>
                    <a:pt x="246" y="100"/>
                    <a:pt x="239" y="101"/>
                  </a:cubicBezTo>
                  <a:cubicBezTo>
                    <a:pt x="232" y="103"/>
                    <a:pt x="240" y="92"/>
                    <a:pt x="240" y="92"/>
                  </a:cubicBezTo>
                  <a:cubicBezTo>
                    <a:pt x="240" y="92"/>
                    <a:pt x="234" y="87"/>
                    <a:pt x="230" y="87"/>
                  </a:cubicBezTo>
                  <a:cubicBezTo>
                    <a:pt x="227" y="87"/>
                    <a:pt x="212" y="91"/>
                    <a:pt x="207" y="94"/>
                  </a:cubicBezTo>
                  <a:cubicBezTo>
                    <a:pt x="202" y="98"/>
                    <a:pt x="187" y="112"/>
                    <a:pt x="183" y="119"/>
                  </a:cubicBezTo>
                  <a:cubicBezTo>
                    <a:pt x="180" y="126"/>
                    <a:pt x="188" y="135"/>
                    <a:pt x="188" y="135"/>
                  </a:cubicBezTo>
                  <a:cubicBezTo>
                    <a:pt x="177" y="155"/>
                    <a:pt x="177" y="155"/>
                    <a:pt x="177" y="155"/>
                  </a:cubicBezTo>
                  <a:cubicBezTo>
                    <a:pt x="184" y="171"/>
                    <a:pt x="184" y="171"/>
                    <a:pt x="184" y="171"/>
                  </a:cubicBezTo>
                  <a:cubicBezTo>
                    <a:pt x="184" y="171"/>
                    <a:pt x="168" y="172"/>
                    <a:pt x="162" y="175"/>
                  </a:cubicBezTo>
                  <a:cubicBezTo>
                    <a:pt x="156" y="177"/>
                    <a:pt x="150" y="191"/>
                    <a:pt x="147" y="198"/>
                  </a:cubicBezTo>
                  <a:cubicBezTo>
                    <a:pt x="143" y="205"/>
                    <a:pt x="129" y="207"/>
                    <a:pt x="129" y="207"/>
                  </a:cubicBezTo>
                  <a:cubicBezTo>
                    <a:pt x="115" y="213"/>
                    <a:pt x="115" y="213"/>
                    <a:pt x="115" y="213"/>
                  </a:cubicBezTo>
                  <a:cubicBezTo>
                    <a:pt x="123" y="229"/>
                    <a:pt x="123" y="229"/>
                    <a:pt x="123" y="229"/>
                  </a:cubicBezTo>
                  <a:cubicBezTo>
                    <a:pt x="123" y="229"/>
                    <a:pt x="126" y="252"/>
                    <a:pt x="118" y="254"/>
                  </a:cubicBezTo>
                  <a:cubicBezTo>
                    <a:pt x="110" y="256"/>
                    <a:pt x="116" y="246"/>
                    <a:pt x="115" y="236"/>
                  </a:cubicBezTo>
                  <a:cubicBezTo>
                    <a:pt x="113" y="227"/>
                    <a:pt x="93" y="215"/>
                    <a:pt x="93" y="215"/>
                  </a:cubicBezTo>
                  <a:cubicBezTo>
                    <a:pt x="93" y="215"/>
                    <a:pt x="89" y="221"/>
                    <a:pt x="89" y="228"/>
                  </a:cubicBezTo>
                  <a:cubicBezTo>
                    <a:pt x="89" y="235"/>
                    <a:pt x="102" y="242"/>
                    <a:pt x="102" y="242"/>
                  </a:cubicBezTo>
                  <a:cubicBezTo>
                    <a:pt x="102" y="242"/>
                    <a:pt x="102" y="259"/>
                    <a:pt x="92" y="267"/>
                  </a:cubicBezTo>
                  <a:cubicBezTo>
                    <a:pt x="83" y="275"/>
                    <a:pt x="76" y="265"/>
                    <a:pt x="76" y="265"/>
                  </a:cubicBezTo>
                  <a:cubicBezTo>
                    <a:pt x="66" y="286"/>
                    <a:pt x="66" y="286"/>
                    <a:pt x="66" y="286"/>
                  </a:cubicBezTo>
                  <a:cubicBezTo>
                    <a:pt x="74" y="301"/>
                    <a:pt x="74" y="301"/>
                    <a:pt x="74" y="301"/>
                  </a:cubicBezTo>
                  <a:cubicBezTo>
                    <a:pt x="74" y="308"/>
                    <a:pt x="74" y="308"/>
                    <a:pt x="74" y="308"/>
                  </a:cubicBezTo>
                  <a:cubicBezTo>
                    <a:pt x="74" y="308"/>
                    <a:pt x="81" y="313"/>
                    <a:pt x="87" y="325"/>
                  </a:cubicBezTo>
                  <a:cubicBezTo>
                    <a:pt x="93" y="337"/>
                    <a:pt x="77" y="338"/>
                    <a:pt x="77" y="338"/>
                  </a:cubicBezTo>
                  <a:cubicBezTo>
                    <a:pt x="87" y="353"/>
                    <a:pt x="87" y="353"/>
                    <a:pt x="87" y="353"/>
                  </a:cubicBezTo>
                  <a:cubicBezTo>
                    <a:pt x="92" y="375"/>
                    <a:pt x="92" y="375"/>
                    <a:pt x="92" y="375"/>
                  </a:cubicBezTo>
                  <a:cubicBezTo>
                    <a:pt x="77" y="378"/>
                    <a:pt x="77" y="378"/>
                    <a:pt x="77" y="378"/>
                  </a:cubicBezTo>
                  <a:cubicBezTo>
                    <a:pt x="87" y="391"/>
                    <a:pt x="87" y="391"/>
                    <a:pt x="87" y="391"/>
                  </a:cubicBezTo>
                  <a:cubicBezTo>
                    <a:pt x="87" y="431"/>
                    <a:pt x="87" y="431"/>
                    <a:pt x="87" y="431"/>
                  </a:cubicBezTo>
                  <a:cubicBezTo>
                    <a:pt x="87" y="431"/>
                    <a:pt x="74" y="441"/>
                    <a:pt x="74" y="454"/>
                  </a:cubicBezTo>
                  <a:cubicBezTo>
                    <a:pt x="74" y="467"/>
                    <a:pt x="91" y="467"/>
                    <a:pt x="92" y="482"/>
                  </a:cubicBezTo>
                  <a:cubicBezTo>
                    <a:pt x="93" y="497"/>
                    <a:pt x="65" y="514"/>
                    <a:pt x="65" y="514"/>
                  </a:cubicBezTo>
                  <a:cubicBezTo>
                    <a:pt x="74" y="522"/>
                    <a:pt x="74" y="522"/>
                    <a:pt x="74" y="522"/>
                  </a:cubicBezTo>
                  <a:cubicBezTo>
                    <a:pt x="55" y="539"/>
                    <a:pt x="55" y="539"/>
                    <a:pt x="55" y="539"/>
                  </a:cubicBezTo>
                  <a:cubicBezTo>
                    <a:pt x="55" y="539"/>
                    <a:pt x="34" y="539"/>
                    <a:pt x="26" y="548"/>
                  </a:cubicBezTo>
                  <a:cubicBezTo>
                    <a:pt x="18" y="558"/>
                    <a:pt x="26" y="580"/>
                    <a:pt x="26" y="580"/>
                  </a:cubicBezTo>
                  <a:cubicBezTo>
                    <a:pt x="26" y="580"/>
                    <a:pt x="1" y="572"/>
                    <a:pt x="0" y="586"/>
                  </a:cubicBezTo>
                  <a:cubicBezTo>
                    <a:pt x="0" y="588"/>
                    <a:pt x="0" y="590"/>
                    <a:pt x="0" y="592"/>
                  </a:cubicBezTo>
                  <a:cubicBezTo>
                    <a:pt x="5" y="598"/>
                    <a:pt x="15" y="611"/>
                    <a:pt x="23" y="614"/>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395" name="Freeform 203">
              <a:extLst>
                <a:ext uri="{FF2B5EF4-FFF2-40B4-BE49-F238E27FC236}">
                  <a16:creationId xmlns:a16="http://schemas.microsoft.com/office/drawing/2014/main" id="{CDF520BC-AD14-4C3E-B659-BA5D39C0C2EC}"/>
                </a:ext>
              </a:extLst>
            </p:cNvPr>
            <p:cNvSpPr>
              <a:spLocks/>
            </p:cNvSpPr>
            <p:nvPr/>
          </p:nvSpPr>
          <p:spPr bwMode="gray">
            <a:xfrm>
              <a:off x="2785526" y="3352882"/>
              <a:ext cx="275951" cy="289950"/>
            </a:xfrm>
            <a:custGeom>
              <a:avLst/>
              <a:gdLst>
                <a:gd name="T0" fmla="*/ 326 w 407"/>
                <a:gd name="T1" fmla="*/ 441 h 452"/>
                <a:gd name="T2" fmla="*/ 333 w 407"/>
                <a:gd name="T3" fmla="*/ 452 h 452"/>
                <a:gd name="T4" fmla="*/ 342 w 407"/>
                <a:gd name="T5" fmla="*/ 435 h 452"/>
                <a:gd name="T6" fmla="*/ 356 w 407"/>
                <a:gd name="T7" fmla="*/ 439 h 452"/>
                <a:gd name="T8" fmla="*/ 369 w 407"/>
                <a:gd name="T9" fmla="*/ 415 h 452"/>
                <a:gd name="T10" fmla="*/ 399 w 407"/>
                <a:gd name="T11" fmla="*/ 390 h 452"/>
                <a:gd name="T12" fmla="*/ 399 w 407"/>
                <a:gd name="T13" fmla="*/ 344 h 452"/>
                <a:gd name="T14" fmla="*/ 396 w 407"/>
                <a:gd name="T15" fmla="*/ 331 h 452"/>
                <a:gd name="T16" fmla="*/ 399 w 407"/>
                <a:gd name="T17" fmla="*/ 311 h 452"/>
                <a:gd name="T18" fmla="*/ 405 w 407"/>
                <a:gd name="T19" fmla="*/ 276 h 452"/>
                <a:gd name="T20" fmla="*/ 388 w 407"/>
                <a:gd name="T21" fmla="*/ 244 h 452"/>
                <a:gd name="T22" fmla="*/ 358 w 407"/>
                <a:gd name="T23" fmla="*/ 254 h 452"/>
                <a:gd name="T24" fmla="*/ 338 w 407"/>
                <a:gd name="T25" fmla="*/ 211 h 452"/>
                <a:gd name="T26" fmla="*/ 333 w 407"/>
                <a:gd name="T27" fmla="*/ 166 h 452"/>
                <a:gd name="T28" fmla="*/ 296 w 407"/>
                <a:gd name="T29" fmla="*/ 161 h 452"/>
                <a:gd name="T30" fmla="*/ 221 w 407"/>
                <a:gd name="T31" fmla="*/ 148 h 452"/>
                <a:gd name="T32" fmla="*/ 220 w 407"/>
                <a:gd name="T33" fmla="*/ 94 h 452"/>
                <a:gd name="T34" fmla="*/ 211 w 407"/>
                <a:gd name="T35" fmla="*/ 86 h 452"/>
                <a:gd name="T36" fmla="*/ 211 w 407"/>
                <a:gd name="T37" fmla="*/ 66 h 452"/>
                <a:gd name="T38" fmla="*/ 200 w 407"/>
                <a:gd name="T39" fmla="*/ 51 h 452"/>
                <a:gd name="T40" fmla="*/ 187 w 407"/>
                <a:gd name="T41" fmla="*/ 28 h 452"/>
                <a:gd name="T42" fmla="*/ 152 w 407"/>
                <a:gd name="T43" fmla="*/ 0 h 452"/>
                <a:gd name="T44" fmla="*/ 99 w 407"/>
                <a:gd name="T45" fmla="*/ 9 h 452"/>
                <a:gd name="T46" fmla="*/ 30 w 407"/>
                <a:gd name="T47" fmla="*/ 21 h 452"/>
                <a:gd name="T48" fmla="*/ 26 w 407"/>
                <a:gd name="T49" fmla="*/ 40 h 452"/>
                <a:gd name="T50" fmla="*/ 7 w 407"/>
                <a:gd name="T51" fmla="*/ 56 h 452"/>
                <a:gd name="T52" fmla="*/ 16 w 407"/>
                <a:gd name="T53" fmla="*/ 89 h 452"/>
                <a:gd name="T54" fmla="*/ 10 w 407"/>
                <a:gd name="T55" fmla="*/ 163 h 452"/>
                <a:gd name="T56" fmla="*/ 23 w 407"/>
                <a:gd name="T57" fmla="*/ 175 h 452"/>
                <a:gd name="T58" fmla="*/ 48 w 407"/>
                <a:gd name="T59" fmla="*/ 209 h 452"/>
                <a:gd name="T60" fmla="*/ 84 w 407"/>
                <a:gd name="T61" fmla="*/ 231 h 452"/>
                <a:gd name="T62" fmla="*/ 88 w 407"/>
                <a:gd name="T63" fmla="*/ 245 h 452"/>
                <a:gd name="T64" fmla="*/ 133 w 407"/>
                <a:gd name="T65" fmla="*/ 261 h 452"/>
                <a:gd name="T66" fmla="*/ 164 w 407"/>
                <a:gd name="T67" fmla="*/ 277 h 452"/>
                <a:gd name="T68" fmla="*/ 220 w 407"/>
                <a:gd name="T69" fmla="*/ 306 h 452"/>
                <a:gd name="T70" fmla="*/ 258 w 407"/>
                <a:gd name="T71" fmla="*/ 322 h 452"/>
                <a:gd name="T72" fmla="*/ 246 w 407"/>
                <a:gd name="T73" fmla="*/ 347 h 452"/>
                <a:gd name="T74" fmla="*/ 255 w 407"/>
                <a:gd name="T75" fmla="*/ 362 h 452"/>
                <a:gd name="T76" fmla="*/ 239 w 407"/>
                <a:gd name="T77" fmla="*/ 369 h 452"/>
                <a:gd name="T78" fmla="*/ 239 w 407"/>
                <a:gd name="T79" fmla="*/ 391 h 452"/>
                <a:gd name="T80" fmla="*/ 224 w 407"/>
                <a:gd name="T81" fmla="*/ 425 h 452"/>
                <a:gd name="T82" fmla="*/ 254 w 407"/>
                <a:gd name="T83" fmla="*/ 425 h 452"/>
                <a:gd name="T84" fmla="*/ 287 w 407"/>
                <a:gd name="T85" fmla="*/ 439 h 452"/>
                <a:gd name="T86" fmla="*/ 326 w 407"/>
                <a:gd name="T87" fmla="*/ 441 h 4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07" h="452">
                  <a:moveTo>
                    <a:pt x="326" y="441"/>
                  </a:moveTo>
                  <a:cubicBezTo>
                    <a:pt x="333" y="452"/>
                    <a:pt x="333" y="452"/>
                    <a:pt x="333" y="452"/>
                  </a:cubicBezTo>
                  <a:cubicBezTo>
                    <a:pt x="333" y="452"/>
                    <a:pt x="333" y="433"/>
                    <a:pt x="342" y="435"/>
                  </a:cubicBezTo>
                  <a:cubicBezTo>
                    <a:pt x="351" y="437"/>
                    <a:pt x="352" y="446"/>
                    <a:pt x="356" y="439"/>
                  </a:cubicBezTo>
                  <a:cubicBezTo>
                    <a:pt x="360" y="432"/>
                    <a:pt x="362" y="415"/>
                    <a:pt x="369" y="415"/>
                  </a:cubicBezTo>
                  <a:cubicBezTo>
                    <a:pt x="376" y="415"/>
                    <a:pt x="397" y="401"/>
                    <a:pt x="399" y="390"/>
                  </a:cubicBezTo>
                  <a:cubicBezTo>
                    <a:pt x="401" y="379"/>
                    <a:pt x="399" y="344"/>
                    <a:pt x="399" y="344"/>
                  </a:cubicBezTo>
                  <a:cubicBezTo>
                    <a:pt x="396" y="331"/>
                    <a:pt x="396" y="331"/>
                    <a:pt x="396" y="331"/>
                  </a:cubicBezTo>
                  <a:cubicBezTo>
                    <a:pt x="396" y="331"/>
                    <a:pt x="397" y="316"/>
                    <a:pt x="399" y="311"/>
                  </a:cubicBezTo>
                  <a:cubicBezTo>
                    <a:pt x="401" y="306"/>
                    <a:pt x="403" y="296"/>
                    <a:pt x="405" y="276"/>
                  </a:cubicBezTo>
                  <a:cubicBezTo>
                    <a:pt x="407" y="256"/>
                    <a:pt x="403" y="248"/>
                    <a:pt x="388" y="244"/>
                  </a:cubicBezTo>
                  <a:cubicBezTo>
                    <a:pt x="373" y="240"/>
                    <a:pt x="369" y="256"/>
                    <a:pt x="358" y="254"/>
                  </a:cubicBezTo>
                  <a:cubicBezTo>
                    <a:pt x="347" y="252"/>
                    <a:pt x="343" y="231"/>
                    <a:pt x="338" y="211"/>
                  </a:cubicBezTo>
                  <a:cubicBezTo>
                    <a:pt x="333" y="191"/>
                    <a:pt x="337" y="174"/>
                    <a:pt x="333" y="166"/>
                  </a:cubicBezTo>
                  <a:cubicBezTo>
                    <a:pt x="329" y="158"/>
                    <a:pt x="311" y="158"/>
                    <a:pt x="296" y="161"/>
                  </a:cubicBezTo>
                  <a:cubicBezTo>
                    <a:pt x="281" y="164"/>
                    <a:pt x="237" y="157"/>
                    <a:pt x="221" y="148"/>
                  </a:cubicBezTo>
                  <a:cubicBezTo>
                    <a:pt x="205" y="139"/>
                    <a:pt x="220" y="103"/>
                    <a:pt x="220" y="94"/>
                  </a:cubicBezTo>
                  <a:cubicBezTo>
                    <a:pt x="220" y="85"/>
                    <a:pt x="215" y="90"/>
                    <a:pt x="211" y="86"/>
                  </a:cubicBezTo>
                  <a:cubicBezTo>
                    <a:pt x="207" y="82"/>
                    <a:pt x="213" y="73"/>
                    <a:pt x="211" y="66"/>
                  </a:cubicBezTo>
                  <a:cubicBezTo>
                    <a:pt x="209" y="59"/>
                    <a:pt x="200" y="57"/>
                    <a:pt x="200" y="51"/>
                  </a:cubicBezTo>
                  <a:cubicBezTo>
                    <a:pt x="187" y="28"/>
                    <a:pt x="187" y="28"/>
                    <a:pt x="187" y="28"/>
                  </a:cubicBezTo>
                  <a:cubicBezTo>
                    <a:pt x="152" y="0"/>
                    <a:pt x="152" y="0"/>
                    <a:pt x="152" y="0"/>
                  </a:cubicBezTo>
                  <a:cubicBezTo>
                    <a:pt x="99" y="9"/>
                    <a:pt x="99" y="9"/>
                    <a:pt x="99" y="9"/>
                  </a:cubicBezTo>
                  <a:cubicBezTo>
                    <a:pt x="30" y="21"/>
                    <a:pt x="30" y="21"/>
                    <a:pt x="30" y="21"/>
                  </a:cubicBezTo>
                  <a:cubicBezTo>
                    <a:pt x="26" y="40"/>
                    <a:pt x="26" y="40"/>
                    <a:pt x="26" y="40"/>
                  </a:cubicBezTo>
                  <a:cubicBezTo>
                    <a:pt x="26" y="40"/>
                    <a:pt x="14" y="52"/>
                    <a:pt x="7" y="56"/>
                  </a:cubicBezTo>
                  <a:cubicBezTo>
                    <a:pt x="0" y="60"/>
                    <a:pt x="15" y="82"/>
                    <a:pt x="16" y="89"/>
                  </a:cubicBezTo>
                  <a:cubicBezTo>
                    <a:pt x="18" y="95"/>
                    <a:pt x="10" y="163"/>
                    <a:pt x="10" y="163"/>
                  </a:cubicBezTo>
                  <a:cubicBezTo>
                    <a:pt x="23" y="175"/>
                    <a:pt x="23" y="175"/>
                    <a:pt x="23" y="175"/>
                  </a:cubicBezTo>
                  <a:cubicBezTo>
                    <a:pt x="23" y="175"/>
                    <a:pt x="39" y="204"/>
                    <a:pt x="48" y="209"/>
                  </a:cubicBezTo>
                  <a:cubicBezTo>
                    <a:pt x="57" y="214"/>
                    <a:pt x="84" y="231"/>
                    <a:pt x="84" y="231"/>
                  </a:cubicBezTo>
                  <a:cubicBezTo>
                    <a:pt x="88" y="245"/>
                    <a:pt x="88" y="245"/>
                    <a:pt x="88" y="245"/>
                  </a:cubicBezTo>
                  <a:cubicBezTo>
                    <a:pt x="88" y="245"/>
                    <a:pt x="123" y="265"/>
                    <a:pt x="133" y="261"/>
                  </a:cubicBezTo>
                  <a:cubicBezTo>
                    <a:pt x="143" y="257"/>
                    <a:pt x="164" y="277"/>
                    <a:pt x="164" y="277"/>
                  </a:cubicBezTo>
                  <a:cubicBezTo>
                    <a:pt x="164" y="277"/>
                    <a:pt x="214" y="305"/>
                    <a:pt x="220" y="306"/>
                  </a:cubicBezTo>
                  <a:cubicBezTo>
                    <a:pt x="226" y="307"/>
                    <a:pt x="260" y="314"/>
                    <a:pt x="258" y="322"/>
                  </a:cubicBezTo>
                  <a:cubicBezTo>
                    <a:pt x="256" y="330"/>
                    <a:pt x="246" y="347"/>
                    <a:pt x="246" y="347"/>
                  </a:cubicBezTo>
                  <a:cubicBezTo>
                    <a:pt x="246" y="347"/>
                    <a:pt x="259" y="355"/>
                    <a:pt x="255" y="362"/>
                  </a:cubicBezTo>
                  <a:cubicBezTo>
                    <a:pt x="251" y="369"/>
                    <a:pt x="239" y="369"/>
                    <a:pt x="239" y="369"/>
                  </a:cubicBezTo>
                  <a:cubicBezTo>
                    <a:pt x="239" y="391"/>
                    <a:pt x="239" y="391"/>
                    <a:pt x="239" y="391"/>
                  </a:cubicBezTo>
                  <a:cubicBezTo>
                    <a:pt x="239" y="391"/>
                    <a:pt x="219" y="418"/>
                    <a:pt x="224" y="425"/>
                  </a:cubicBezTo>
                  <a:cubicBezTo>
                    <a:pt x="229" y="432"/>
                    <a:pt x="245" y="422"/>
                    <a:pt x="254" y="425"/>
                  </a:cubicBezTo>
                  <a:cubicBezTo>
                    <a:pt x="263" y="428"/>
                    <a:pt x="270" y="435"/>
                    <a:pt x="287" y="439"/>
                  </a:cubicBezTo>
                  <a:cubicBezTo>
                    <a:pt x="304" y="443"/>
                    <a:pt x="326" y="441"/>
                    <a:pt x="326" y="441"/>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413" name="Freeform 204">
              <a:extLst>
                <a:ext uri="{FF2B5EF4-FFF2-40B4-BE49-F238E27FC236}">
                  <a16:creationId xmlns:a16="http://schemas.microsoft.com/office/drawing/2014/main" id="{6DC502A5-2322-46E9-A0DB-2AD73F6B4F47}"/>
                </a:ext>
              </a:extLst>
            </p:cNvPr>
            <p:cNvSpPr>
              <a:spLocks/>
            </p:cNvSpPr>
            <p:nvPr/>
          </p:nvSpPr>
          <p:spPr bwMode="gray">
            <a:xfrm>
              <a:off x="2979639" y="3726179"/>
              <a:ext cx="166834" cy="165337"/>
            </a:xfrm>
            <a:custGeom>
              <a:avLst/>
              <a:gdLst>
                <a:gd name="T0" fmla="*/ 92 w 246"/>
                <a:gd name="T1" fmla="*/ 249 h 258"/>
                <a:gd name="T2" fmla="*/ 152 w 246"/>
                <a:gd name="T3" fmla="*/ 253 h 258"/>
                <a:gd name="T4" fmla="*/ 220 w 246"/>
                <a:gd name="T5" fmla="*/ 244 h 258"/>
                <a:gd name="T6" fmla="*/ 243 w 246"/>
                <a:gd name="T7" fmla="*/ 196 h 258"/>
                <a:gd name="T8" fmla="*/ 233 w 246"/>
                <a:gd name="T9" fmla="*/ 197 h 258"/>
                <a:gd name="T10" fmla="*/ 234 w 246"/>
                <a:gd name="T11" fmla="*/ 176 h 258"/>
                <a:gd name="T12" fmla="*/ 227 w 246"/>
                <a:gd name="T13" fmla="*/ 169 h 258"/>
                <a:gd name="T14" fmla="*/ 241 w 246"/>
                <a:gd name="T15" fmla="*/ 140 h 258"/>
                <a:gd name="T16" fmla="*/ 219 w 246"/>
                <a:gd name="T17" fmla="*/ 127 h 258"/>
                <a:gd name="T18" fmla="*/ 201 w 246"/>
                <a:gd name="T19" fmla="*/ 98 h 258"/>
                <a:gd name="T20" fmla="*/ 182 w 246"/>
                <a:gd name="T21" fmla="*/ 95 h 258"/>
                <a:gd name="T22" fmla="*/ 164 w 246"/>
                <a:gd name="T23" fmla="*/ 76 h 258"/>
                <a:gd name="T24" fmla="*/ 152 w 246"/>
                <a:gd name="T25" fmla="*/ 67 h 258"/>
                <a:gd name="T26" fmla="*/ 140 w 246"/>
                <a:gd name="T27" fmla="*/ 65 h 258"/>
                <a:gd name="T28" fmla="*/ 116 w 246"/>
                <a:gd name="T29" fmla="*/ 43 h 258"/>
                <a:gd name="T30" fmla="*/ 101 w 246"/>
                <a:gd name="T31" fmla="*/ 54 h 258"/>
                <a:gd name="T32" fmla="*/ 85 w 246"/>
                <a:gd name="T33" fmla="*/ 31 h 258"/>
                <a:gd name="T34" fmla="*/ 48 w 246"/>
                <a:gd name="T35" fmla="*/ 2 h 258"/>
                <a:gd name="T36" fmla="*/ 30 w 246"/>
                <a:gd name="T37" fmla="*/ 10 h 258"/>
                <a:gd name="T38" fmla="*/ 14 w 246"/>
                <a:gd name="T39" fmla="*/ 9 h 258"/>
                <a:gd name="T40" fmla="*/ 0 w 246"/>
                <a:gd name="T41" fmla="*/ 24 h 258"/>
                <a:gd name="T42" fmla="*/ 21 w 246"/>
                <a:gd name="T43" fmla="*/ 41 h 258"/>
                <a:gd name="T44" fmla="*/ 3 w 246"/>
                <a:gd name="T45" fmla="*/ 48 h 258"/>
                <a:gd name="T46" fmla="*/ 3 w 246"/>
                <a:gd name="T47" fmla="*/ 75 h 258"/>
                <a:gd name="T48" fmla="*/ 20 w 246"/>
                <a:gd name="T49" fmla="*/ 85 h 258"/>
                <a:gd name="T50" fmla="*/ 2 w 246"/>
                <a:gd name="T51" fmla="*/ 93 h 258"/>
                <a:gd name="T52" fmla="*/ 16 w 246"/>
                <a:gd name="T53" fmla="*/ 114 h 258"/>
                <a:gd name="T54" fmla="*/ 9 w 246"/>
                <a:gd name="T55" fmla="*/ 124 h 258"/>
                <a:gd name="T56" fmla="*/ 28 w 246"/>
                <a:gd name="T57" fmla="*/ 152 h 258"/>
                <a:gd name="T58" fmla="*/ 4 w 246"/>
                <a:gd name="T59" fmla="*/ 158 h 258"/>
                <a:gd name="T60" fmla="*/ 4 w 246"/>
                <a:gd name="T61" fmla="*/ 190 h 258"/>
                <a:gd name="T62" fmla="*/ 24 w 246"/>
                <a:gd name="T63" fmla="*/ 215 h 258"/>
                <a:gd name="T64" fmla="*/ 51 w 246"/>
                <a:gd name="T65" fmla="*/ 234 h 258"/>
                <a:gd name="T66" fmla="*/ 58 w 246"/>
                <a:gd name="T67" fmla="*/ 238 h 258"/>
                <a:gd name="T68" fmla="*/ 85 w 246"/>
                <a:gd name="T69" fmla="*/ 238 h 258"/>
                <a:gd name="T70" fmla="*/ 92 w 246"/>
                <a:gd name="T71" fmla="*/ 249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46" h="258">
                  <a:moveTo>
                    <a:pt x="92" y="249"/>
                  </a:moveTo>
                  <a:cubicBezTo>
                    <a:pt x="92" y="249"/>
                    <a:pt x="119" y="248"/>
                    <a:pt x="152" y="253"/>
                  </a:cubicBezTo>
                  <a:cubicBezTo>
                    <a:pt x="185" y="258"/>
                    <a:pt x="204" y="257"/>
                    <a:pt x="220" y="244"/>
                  </a:cubicBezTo>
                  <a:cubicBezTo>
                    <a:pt x="234" y="233"/>
                    <a:pt x="241" y="203"/>
                    <a:pt x="243" y="196"/>
                  </a:cubicBezTo>
                  <a:cubicBezTo>
                    <a:pt x="233" y="197"/>
                    <a:pt x="233" y="197"/>
                    <a:pt x="233" y="197"/>
                  </a:cubicBezTo>
                  <a:cubicBezTo>
                    <a:pt x="234" y="176"/>
                    <a:pt x="234" y="176"/>
                    <a:pt x="234" y="176"/>
                  </a:cubicBezTo>
                  <a:cubicBezTo>
                    <a:pt x="234" y="176"/>
                    <a:pt x="228" y="176"/>
                    <a:pt x="227" y="169"/>
                  </a:cubicBezTo>
                  <a:cubicBezTo>
                    <a:pt x="226" y="162"/>
                    <a:pt x="236" y="149"/>
                    <a:pt x="241" y="140"/>
                  </a:cubicBezTo>
                  <a:cubicBezTo>
                    <a:pt x="246" y="131"/>
                    <a:pt x="227" y="132"/>
                    <a:pt x="219" y="127"/>
                  </a:cubicBezTo>
                  <a:cubicBezTo>
                    <a:pt x="211" y="122"/>
                    <a:pt x="201" y="98"/>
                    <a:pt x="201" y="98"/>
                  </a:cubicBezTo>
                  <a:cubicBezTo>
                    <a:pt x="201" y="98"/>
                    <a:pt x="194" y="99"/>
                    <a:pt x="182" y="95"/>
                  </a:cubicBezTo>
                  <a:cubicBezTo>
                    <a:pt x="170" y="91"/>
                    <a:pt x="168" y="78"/>
                    <a:pt x="164" y="76"/>
                  </a:cubicBezTo>
                  <a:cubicBezTo>
                    <a:pt x="160" y="74"/>
                    <a:pt x="152" y="67"/>
                    <a:pt x="152" y="67"/>
                  </a:cubicBezTo>
                  <a:cubicBezTo>
                    <a:pt x="152" y="67"/>
                    <a:pt x="145" y="68"/>
                    <a:pt x="140" y="65"/>
                  </a:cubicBezTo>
                  <a:cubicBezTo>
                    <a:pt x="135" y="62"/>
                    <a:pt x="126" y="46"/>
                    <a:pt x="116" y="43"/>
                  </a:cubicBezTo>
                  <a:cubicBezTo>
                    <a:pt x="106" y="40"/>
                    <a:pt x="107" y="54"/>
                    <a:pt x="101" y="54"/>
                  </a:cubicBezTo>
                  <a:cubicBezTo>
                    <a:pt x="95" y="54"/>
                    <a:pt x="85" y="31"/>
                    <a:pt x="85" y="31"/>
                  </a:cubicBezTo>
                  <a:cubicBezTo>
                    <a:pt x="85" y="31"/>
                    <a:pt x="60" y="4"/>
                    <a:pt x="48" y="2"/>
                  </a:cubicBezTo>
                  <a:cubicBezTo>
                    <a:pt x="36" y="0"/>
                    <a:pt x="30" y="10"/>
                    <a:pt x="30" y="10"/>
                  </a:cubicBezTo>
                  <a:cubicBezTo>
                    <a:pt x="14" y="9"/>
                    <a:pt x="14" y="9"/>
                    <a:pt x="14" y="9"/>
                  </a:cubicBezTo>
                  <a:cubicBezTo>
                    <a:pt x="14" y="9"/>
                    <a:pt x="0" y="20"/>
                    <a:pt x="0" y="24"/>
                  </a:cubicBezTo>
                  <a:cubicBezTo>
                    <a:pt x="0" y="28"/>
                    <a:pt x="21" y="41"/>
                    <a:pt x="21" y="41"/>
                  </a:cubicBezTo>
                  <a:cubicBezTo>
                    <a:pt x="3" y="48"/>
                    <a:pt x="3" y="48"/>
                    <a:pt x="3" y="48"/>
                  </a:cubicBezTo>
                  <a:cubicBezTo>
                    <a:pt x="3" y="75"/>
                    <a:pt x="3" y="75"/>
                    <a:pt x="3" y="75"/>
                  </a:cubicBezTo>
                  <a:cubicBezTo>
                    <a:pt x="20" y="85"/>
                    <a:pt x="20" y="85"/>
                    <a:pt x="20" y="85"/>
                  </a:cubicBezTo>
                  <a:cubicBezTo>
                    <a:pt x="20" y="85"/>
                    <a:pt x="1" y="84"/>
                    <a:pt x="2" y="93"/>
                  </a:cubicBezTo>
                  <a:cubicBezTo>
                    <a:pt x="3" y="102"/>
                    <a:pt x="16" y="114"/>
                    <a:pt x="16" y="114"/>
                  </a:cubicBezTo>
                  <a:cubicBezTo>
                    <a:pt x="9" y="124"/>
                    <a:pt x="9" y="124"/>
                    <a:pt x="9" y="124"/>
                  </a:cubicBezTo>
                  <a:cubicBezTo>
                    <a:pt x="9" y="124"/>
                    <a:pt x="29" y="147"/>
                    <a:pt x="28" y="152"/>
                  </a:cubicBezTo>
                  <a:cubicBezTo>
                    <a:pt x="27" y="157"/>
                    <a:pt x="4" y="158"/>
                    <a:pt x="4" y="158"/>
                  </a:cubicBezTo>
                  <a:cubicBezTo>
                    <a:pt x="4" y="190"/>
                    <a:pt x="4" y="190"/>
                    <a:pt x="4" y="190"/>
                  </a:cubicBezTo>
                  <a:cubicBezTo>
                    <a:pt x="24" y="215"/>
                    <a:pt x="24" y="215"/>
                    <a:pt x="24" y="215"/>
                  </a:cubicBezTo>
                  <a:cubicBezTo>
                    <a:pt x="32" y="209"/>
                    <a:pt x="46" y="227"/>
                    <a:pt x="51" y="234"/>
                  </a:cubicBezTo>
                  <a:cubicBezTo>
                    <a:pt x="58" y="238"/>
                    <a:pt x="58" y="238"/>
                    <a:pt x="58" y="238"/>
                  </a:cubicBezTo>
                  <a:cubicBezTo>
                    <a:pt x="85" y="238"/>
                    <a:pt x="85" y="238"/>
                    <a:pt x="85" y="238"/>
                  </a:cubicBezTo>
                  <a:lnTo>
                    <a:pt x="92" y="249"/>
                  </a:ln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414" name="Freeform 205">
              <a:extLst>
                <a:ext uri="{FF2B5EF4-FFF2-40B4-BE49-F238E27FC236}">
                  <a16:creationId xmlns:a16="http://schemas.microsoft.com/office/drawing/2014/main" id="{AA6D28CA-6DD8-4927-A1CC-9360E38E27CD}"/>
                </a:ext>
              </a:extLst>
            </p:cNvPr>
            <p:cNvSpPr>
              <a:spLocks noEditPoints="1"/>
            </p:cNvSpPr>
            <p:nvPr/>
          </p:nvSpPr>
          <p:spPr bwMode="gray">
            <a:xfrm>
              <a:off x="2595721" y="3441931"/>
              <a:ext cx="496481" cy="1044145"/>
            </a:xfrm>
            <a:custGeom>
              <a:avLst/>
              <a:gdLst>
                <a:gd name="T0" fmla="*/ 659 w 732"/>
                <a:gd name="T1" fmla="*/ 333 h 1628"/>
                <a:gd name="T2" fmla="*/ 726 w 732"/>
                <a:gd name="T3" fmla="*/ 284 h 1628"/>
                <a:gd name="T4" fmla="*/ 679 w 732"/>
                <a:gd name="T5" fmla="*/ 205 h 1628"/>
                <a:gd name="T6" fmla="*/ 622 w 732"/>
                <a:gd name="T7" fmla="*/ 296 h 1628"/>
                <a:gd name="T8" fmla="*/ 534 w 732"/>
                <a:gd name="T9" fmla="*/ 286 h 1628"/>
                <a:gd name="T10" fmla="*/ 535 w 732"/>
                <a:gd name="T11" fmla="*/ 223 h 1628"/>
                <a:gd name="T12" fmla="*/ 444 w 732"/>
                <a:gd name="T13" fmla="*/ 138 h 1628"/>
                <a:gd name="T14" fmla="*/ 328 w 732"/>
                <a:gd name="T15" fmla="*/ 70 h 1628"/>
                <a:gd name="T16" fmla="*/ 216 w 732"/>
                <a:gd name="T17" fmla="*/ 13 h 1628"/>
                <a:gd name="T18" fmla="*/ 115 w 732"/>
                <a:gd name="T19" fmla="*/ 0 h 1628"/>
                <a:gd name="T20" fmla="*/ 81 w 732"/>
                <a:gd name="T21" fmla="*/ 32 h 1628"/>
                <a:gd name="T22" fmla="*/ 82 w 732"/>
                <a:gd name="T23" fmla="*/ 63 h 1628"/>
                <a:gd name="T24" fmla="*/ 27 w 732"/>
                <a:gd name="T25" fmla="*/ 199 h 1628"/>
                <a:gd name="T26" fmla="*/ 35 w 732"/>
                <a:gd name="T27" fmla="*/ 280 h 1628"/>
                <a:gd name="T28" fmla="*/ 2 w 732"/>
                <a:gd name="T29" fmla="*/ 401 h 1628"/>
                <a:gd name="T30" fmla="*/ 0 w 732"/>
                <a:gd name="T31" fmla="*/ 500 h 1628"/>
                <a:gd name="T32" fmla="*/ 32 w 732"/>
                <a:gd name="T33" fmla="*/ 564 h 1628"/>
                <a:gd name="T34" fmla="*/ 63 w 732"/>
                <a:gd name="T35" fmla="*/ 614 h 1628"/>
                <a:gd name="T36" fmla="*/ 64 w 732"/>
                <a:gd name="T37" fmla="*/ 724 h 1628"/>
                <a:gd name="T38" fmla="*/ 68 w 732"/>
                <a:gd name="T39" fmla="*/ 786 h 1628"/>
                <a:gd name="T40" fmla="*/ 83 w 732"/>
                <a:gd name="T41" fmla="*/ 872 h 1628"/>
                <a:gd name="T42" fmla="*/ 87 w 732"/>
                <a:gd name="T43" fmla="*/ 944 h 1628"/>
                <a:gd name="T44" fmla="*/ 95 w 732"/>
                <a:gd name="T45" fmla="*/ 990 h 1628"/>
                <a:gd name="T46" fmla="*/ 129 w 732"/>
                <a:gd name="T47" fmla="*/ 1082 h 1628"/>
                <a:gd name="T48" fmla="*/ 143 w 732"/>
                <a:gd name="T49" fmla="*/ 1145 h 1628"/>
                <a:gd name="T50" fmla="*/ 170 w 732"/>
                <a:gd name="T51" fmla="*/ 1213 h 1628"/>
                <a:gd name="T52" fmla="*/ 205 w 732"/>
                <a:gd name="T53" fmla="*/ 1257 h 1628"/>
                <a:gd name="T54" fmla="*/ 217 w 732"/>
                <a:gd name="T55" fmla="*/ 1321 h 1628"/>
                <a:gd name="T56" fmla="*/ 210 w 732"/>
                <a:gd name="T57" fmla="*/ 1394 h 1628"/>
                <a:gd name="T58" fmla="*/ 214 w 732"/>
                <a:gd name="T59" fmla="*/ 1450 h 1628"/>
                <a:gd name="T60" fmla="*/ 216 w 732"/>
                <a:gd name="T61" fmla="*/ 1513 h 1628"/>
                <a:gd name="T62" fmla="*/ 290 w 732"/>
                <a:gd name="T63" fmla="*/ 1562 h 1628"/>
                <a:gd name="T64" fmla="*/ 347 w 732"/>
                <a:gd name="T65" fmla="*/ 1612 h 1628"/>
                <a:gd name="T66" fmla="*/ 437 w 732"/>
                <a:gd name="T67" fmla="*/ 1628 h 1628"/>
                <a:gd name="T68" fmla="*/ 438 w 732"/>
                <a:gd name="T69" fmla="*/ 1589 h 1628"/>
                <a:gd name="T70" fmla="*/ 409 w 732"/>
                <a:gd name="T71" fmla="*/ 1534 h 1628"/>
                <a:gd name="T72" fmla="*/ 412 w 732"/>
                <a:gd name="T73" fmla="*/ 1501 h 1628"/>
                <a:gd name="T74" fmla="*/ 441 w 732"/>
                <a:gd name="T75" fmla="*/ 1451 h 1628"/>
                <a:gd name="T76" fmla="*/ 476 w 732"/>
                <a:gd name="T77" fmla="*/ 1359 h 1628"/>
                <a:gd name="T78" fmla="*/ 379 w 732"/>
                <a:gd name="T79" fmla="*/ 1301 h 1628"/>
                <a:gd name="T80" fmla="*/ 407 w 732"/>
                <a:gd name="T81" fmla="*/ 1240 h 1628"/>
                <a:gd name="T82" fmla="*/ 443 w 732"/>
                <a:gd name="T83" fmla="*/ 1217 h 1628"/>
                <a:gd name="T84" fmla="*/ 456 w 732"/>
                <a:gd name="T85" fmla="*/ 1130 h 1628"/>
                <a:gd name="T86" fmla="*/ 486 w 732"/>
                <a:gd name="T87" fmla="*/ 1113 h 1628"/>
                <a:gd name="T88" fmla="*/ 404 w 732"/>
                <a:gd name="T89" fmla="*/ 1089 h 1628"/>
                <a:gd name="T90" fmla="*/ 465 w 732"/>
                <a:gd name="T91" fmla="*/ 1039 h 1628"/>
                <a:gd name="T92" fmla="*/ 501 w 732"/>
                <a:gd name="T93" fmla="*/ 948 h 1628"/>
                <a:gd name="T94" fmla="*/ 494 w 732"/>
                <a:gd name="T95" fmla="*/ 934 h 1628"/>
                <a:gd name="T96" fmla="*/ 554 w 732"/>
                <a:gd name="T97" fmla="*/ 920 h 1628"/>
                <a:gd name="T98" fmla="*/ 688 w 732"/>
                <a:gd name="T99" fmla="*/ 847 h 1628"/>
                <a:gd name="T100" fmla="*/ 667 w 732"/>
                <a:gd name="T101" fmla="*/ 766 h 1628"/>
                <a:gd name="T102" fmla="*/ 601 w 732"/>
                <a:gd name="T103" fmla="*/ 696 h 1628"/>
                <a:gd name="T104" fmla="*/ 570 w 732"/>
                <a:gd name="T105" fmla="*/ 601 h 1628"/>
                <a:gd name="T106" fmla="*/ 568 w 732"/>
                <a:gd name="T107" fmla="*/ 536 h 1628"/>
                <a:gd name="T108" fmla="*/ 587 w 732"/>
                <a:gd name="T109" fmla="*/ 484 h 1628"/>
                <a:gd name="T110" fmla="*/ 604 w 732"/>
                <a:gd name="T111" fmla="*/ 419 h 1628"/>
                <a:gd name="T112" fmla="*/ 619 w 732"/>
                <a:gd name="T113" fmla="*/ 681 h 1628"/>
                <a:gd name="T114" fmla="*/ 619 w 732"/>
                <a:gd name="T115" fmla="*/ 681 h 16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32" h="1628">
                  <a:moveTo>
                    <a:pt x="634" y="355"/>
                  </a:moveTo>
                  <a:cubicBezTo>
                    <a:pt x="650" y="351"/>
                    <a:pt x="650" y="351"/>
                    <a:pt x="650" y="351"/>
                  </a:cubicBezTo>
                  <a:cubicBezTo>
                    <a:pt x="653" y="335"/>
                    <a:pt x="653" y="335"/>
                    <a:pt x="653" y="335"/>
                  </a:cubicBezTo>
                  <a:cubicBezTo>
                    <a:pt x="659" y="333"/>
                    <a:pt x="659" y="333"/>
                    <a:pt x="659" y="333"/>
                  </a:cubicBezTo>
                  <a:cubicBezTo>
                    <a:pt x="660" y="322"/>
                    <a:pt x="660" y="322"/>
                    <a:pt x="660" y="322"/>
                  </a:cubicBezTo>
                  <a:cubicBezTo>
                    <a:pt x="681" y="320"/>
                    <a:pt x="681" y="320"/>
                    <a:pt x="681" y="320"/>
                  </a:cubicBezTo>
                  <a:cubicBezTo>
                    <a:pt x="681" y="320"/>
                    <a:pt x="681" y="302"/>
                    <a:pt x="692" y="297"/>
                  </a:cubicBezTo>
                  <a:cubicBezTo>
                    <a:pt x="703" y="292"/>
                    <a:pt x="720" y="290"/>
                    <a:pt x="726" y="284"/>
                  </a:cubicBezTo>
                  <a:cubicBezTo>
                    <a:pt x="732" y="278"/>
                    <a:pt x="724" y="240"/>
                    <a:pt x="724" y="231"/>
                  </a:cubicBezTo>
                  <a:cubicBezTo>
                    <a:pt x="724" y="222"/>
                    <a:pt x="713" y="223"/>
                    <a:pt x="713" y="223"/>
                  </a:cubicBezTo>
                  <a:cubicBezTo>
                    <a:pt x="713" y="223"/>
                    <a:pt x="709" y="202"/>
                    <a:pt x="702" y="198"/>
                  </a:cubicBezTo>
                  <a:cubicBezTo>
                    <a:pt x="695" y="194"/>
                    <a:pt x="679" y="205"/>
                    <a:pt x="679" y="205"/>
                  </a:cubicBezTo>
                  <a:cubicBezTo>
                    <a:pt x="679" y="205"/>
                    <a:pt x="681" y="240"/>
                    <a:pt x="679" y="251"/>
                  </a:cubicBezTo>
                  <a:cubicBezTo>
                    <a:pt x="677" y="262"/>
                    <a:pt x="656" y="276"/>
                    <a:pt x="649" y="276"/>
                  </a:cubicBezTo>
                  <a:cubicBezTo>
                    <a:pt x="642" y="276"/>
                    <a:pt x="640" y="293"/>
                    <a:pt x="636" y="300"/>
                  </a:cubicBezTo>
                  <a:cubicBezTo>
                    <a:pt x="632" y="307"/>
                    <a:pt x="631" y="298"/>
                    <a:pt x="622" y="296"/>
                  </a:cubicBezTo>
                  <a:cubicBezTo>
                    <a:pt x="613" y="294"/>
                    <a:pt x="613" y="313"/>
                    <a:pt x="613" y="313"/>
                  </a:cubicBezTo>
                  <a:cubicBezTo>
                    <a:pt x="606" y="302"/>
                    <a:pt x="606" y="302"/>
                    <a:pt x="606" y="302"/>
                  </a:cubicBezTo>
                  <a:cubicBezTo>
                    <a:pt x="606" y="302"/>
                    <a:pt x="584" y="304"/>
                    <a:pt x="567" y="300"/>
                  </a:cubicBezTo>
                  <a:cubicBezTo>
                    <a:pt x="550" y="296"/>
                    <a:pt x="543" y="289"/>
                    <a:pt x="534" y="286"/>
                  </a:cubicBezTo>
                  <a:cubicBezTo>
                    <a:pt x="525" y="283"/>
                    <a:pt x="509" y="293"/>
                    <a:pt x="504" y="286"/>
                  </a:cubicBezTo>
                  <a:cubicBezTo>
                    <a:pt x="499" y="279"/>
                    <a:pt x="519" y="252"/>
                    <a:pt x="519" y="252"/>
                  </a:cubicBezTo>
                  <a:cubicBezTo>
                    <a:pt x="519" y="230"/>
                    <a:pt x="519" y="230"/>
                    <a:pt x="519" y="230"/>
                  </a:cubicBezTo>
                  <a:cubicBezTo>
                    <a:pt x="519" y="230"/>
                    <a:pt x="531" y="230"/>
                    <a:pt x="535" y="223"/>
                  </a:cubicBezTo>
                  <a:cubicBezTo>
                    <a:pt x="539" y="216"/>
                    <a:pt x="526" y="208"/>
                    <a:pt x="526" y="208"/>
                  </a:cubicBezTo>
                  <a:cubicBezTo>
                    <a:pt x="526" y="208"/>
                    <a:pt x="536" y="191"/>
                    <a:pt x="538" y="183"/>
                  </a:cubicBezTo>
                  <a:cubicBezTo>
                    <a:pt x="540" y="175"/>
                    <a:pt x="506" y="168"/>
                    <a:pt x="500" y="167"/>
                  </a:cubicBezTo>
                  <a:cubicBezTo>
                    <a:pt x="494" y="166"/>
                    <a:pt x="444" y="138"/>
                    <a:pt x="444" y="138"/>
                  </a:cubicBezTo>
                  <a:cubicBezTo>
                    <a:pt x="444" y="138"/>
                    <a:pt x="423" y="118"/>
                    <a:pt x="413" y="122"/>
                  </a:cubicBezTo>
                  <a:cubicBezTo>
                    <a:pt x="403" y="126"/>
                    <a:pt x="368" y="106"/>
                    <a:pt x="368" y="106"/>
                  </a:cubicBezTo>
                  <a:cubicBezTo>
                    <a:pt x="364" y="92"/>
                    <a:pt x="364" y="92"/>
                    <a:pt x="364" y="92"/>
                  </a:cubicBezTo>
                  <a:cubicBezTo>
                    <a:pt x="364" y="92"/>
                    <a:pt x="337" y="75"/>
                    <a:pt x="328" y="70"/>
                  </a:cubicBezTo>
                  <a:cubicBezTo>
                    <a:pt x="319" y="65"/>
                    <a:pt x="303" y="36"/>
                    <a:pt x="303" y="36"/>
                  </a:cubicBezTo>
                  <a:cubicBezTo>
                    <a:pt x="290" y="24"/>
                    <a:pt x="290" y="24"/>
                    <a:pt x="290" y="24"/>
                  </a:cubicBezTo>
                  <a:cubicBezTo>
                    <a:pt x="267" y="7"/>
                    <a:pt x="267" y="7"/>
                    <a:pt x="267" y="7"/>
                  </a:cubicBezTo>
                  <a:cubicBezTo>
                    <a:pt x="216" y="13"/>
                    <a:pt x="216" y="13"/>
                    <a:pt x="216" y="13"/>
                  </a:cubicBezTo>
                  <a:cubicBezTo>
                    <a:pt x="211" y="50"/>
                    <a:pt x="211" y="50"/>
                    <a:pt x="211" y="50"/>
                  </a:cubicBezTo>
                  <a:cubicBezTo>
                    <a:pt x="189" y="16"/>
                    <a:pt x="189" y="16"/>
                    <a:pt x="189" y="16"/>
                  </a:cubicBezTo>
                  <a:cubicBezTo>
                    <a:pt x="189" y="16"/>
                    <a:pt x="147" y="17"/>
                    <a:pt x="134" y="13"/>
                  </a:cubicBezTo>
                  <a:cubicBezTo>
                    <a:pt x="120" y="9"/>
                    <a:pt x="115" y="0"/>
                    <a:pt x="115" y="0"/>
                  </a:cubicBezTo>
                  <a:cubicBezTo>
                    <a:pt x="107" y="17"/>
                    <a:pt x="107" y="17"/>
                    <a:pt x="107" y="17"/>
                  </a:cubicBezTo>
                  <a:cubicBezTo>
                    <a:pt x="92" y="20"/>
                    <a:pt x="92" y="20"/>
                    <a:pt x="92" y="20"/>
                  </a:cubicBezTo>
                  <a:cubicBezTo>
                    <a:pt x="92" y="34"/>
                    <a:pt x="92" y="34"/>
                    <a:pt x="92" y="34"/>
                  </a:cubicBezTo>
                  <a:cubicBezTo>
                    <a:pt x="81" y="32"/>
                    <a:pt x="81" y="32"/>
                    <a:pt x="81" y="32"/>
                  </a:cubicBezTo>
                  <a:cubicBezTo>
                    <a:pt x="81" y="51"/>
                    <a:pt x="81" y="51"/>
                    <a:pt x="81" y="51"/>
                  </a:cubicBezTo>
                  <a:cubicBezTo>
                    <a:pt x="81" y="51"/>
                    <a:pt x="78" y="52"/>
                    <a:pt x="74" y="52"/>
                  </a:cubicBezTo>
                  <a:cubicBezTo>
                    <a:pt x="74" y="52"/>
                    <a:pt x="75" y="52"/>
                    <a:pt x="75" y="52"/>
                  </a:cubicBezTo>
                  <a:cubicBezTo>
                    <a:pt x="82" y="63"/>
                    <a:pt x="82" y="63"/>
                    <a:pt x="82" y="63"/>
                  </a:cubicBezTo>
                  <a:cubicBezTo>
                    <a:pt x="76" y="119"/>
                    <a:pt x="76" y="119"/>
                    <a:pt x="76" y="119"/>
                  </a:cubicBezTo>
                  <a:cubicBezTo>
                    <a:pt x="76" y="119"/>
                    <a:pt x="21" y="143"/>
                    <a:pt x="22" y="157"/>
                  </a:cubicBezTo>
                  <a:cubicBezTo>
                    <a:pt x="23" y="171"/>
                    <a:pt x="50" y="165"/>
                    <a:pt x="41" y="174"/>
                  </a:cubicBezTo>
                  <a:cubicBezTo>
                    <a:pt x="32" y="183"/>
                    <a:pt x="22" y="192"/>
                    <a:pt x="27" y="199"/>
                  </a:cubicBezTo>
                  <a:cubicBezTo>
                    <a:pt x="32" y="206"/>
                    <a:pt x="51" y="214"/>
                    <a:pt x="50" y="224"/>
                  </a:cubicBezTo>
                  <a:cubicBezTo>
                    <a:pt x="49" y="234"/>
                    <a:pt x="32" y="246"/>
                    <a:pt x="32" y="246"/>
                  </a:cubicBezTo>
                  <a:cubicBezTo>
                    <a:pt x="32" y="246"/>
                    <a:pt x="63" y="257"/>
                    <a:pt x="60" y="268"/>
                  </a:cubicBezTo>
                  <a:cubicBezTo>
                    <a:pt x="57" y="279"/>
                    <a:pt x="35" y="280"/>
                    <a:pt x="35" y="280"/>
                  </a:cubicBezTo>
                  <a:cubicBezTo>
                    <a:pt x="35" y="280"/>
                    <a:pt x="29" y="318"/>
                    <a:pt x="28" y="323"/>
                  </a:cubicBezTo>
                  <a:cubicBezTo>
                    <a:pt x="27" y="328"/>
                    <a:pt x="9" y="336"/>
                    <a:pt x="9" y="346"/>
                  </a:cubicBezTo>
                  <a:cubicBezTo>
                    <a:pt x="9" y="356"/>
                    <a:pt x="14" y="381"/>
                    <a:pt x="12" y="385"/>
                  </a:cubicBezTo>
                  <a:cubicBezTo>
                    <a:pt x="10" y="389"/>
                    <a:pt x="1" y="397"/>
                    <a:pt x="2" y="401"/>
                  </a:cubicBezTo>
                  <a:cubicBezTo>
                    <a:pt x="3" y="405"/>
                    <a:pt x="26" y="450"/>
                    <a:pt x="21" y="455"/>
                  </a:cubicBezTo>
                  <a:cubicBezTo>
                    <a:pt x="16" y="460"/>
                    <a:pt x="7" y="455"/>
                    <a:pt x="7" y="455"/>
                  </a:cubicBezTo>
                  <a:cubicBezTo>
                    <a:pt x="10" y="494"/>
                    <a:pt x="10" y="494"/>
                    <a:pt x="10" y="494"/>
                  </a:cubicBezTo>
                  <a:cubicBezTo>
                    <a:pt x="10" y="494"/>
                    <a:pt x="0" y="495"/>
                    <a:pt x="0" y="500"/>
                  </a:cubicBezTo>
                  <a:cubicBezTo>
                    <a:pt x="0" y="505"/>
                    <a:pt x="2" y="522"/>
                    <a:pt x="2" y="522"/>
                  </a:cubicBezTo>
                  <a:cubicBezTo>
                    <a:pt x="2" y="522"/>
                    <a:pt x="25" y="537"/>
                    <a:pt x="23" y="541"/>
                  </a:cubicBezTo>
                  <a:cubicBezTo>
                    <a:pt x="21" y="545"/>
                    <a:pt x="19" y="554"/>
                    <a:pt x="19" y="554"/>
                  </a:cubicBezTo>
                  <a:cubicBezTo>
                    <a:pt x="32" y="564"/>
                    <a:pt x="32" y="564"/>
                    <a:pt x="32" y="564"/>
                  </a:cubicBezTo>
                  <a:cubicBezTo>
                    <a:pt x="40" y="585"/>
                    <a:pt x="40" y="585"/>
                    <a:pt x="40" y="585"/>
                  </a:cubicBezTo>
                  <a:cubicBezTo>
                    <a:pt x="43" y="591"/>
                    <a:pt x="43" y="591"/>
                    <a:pt x="43" y="591"/>
                  </a:cubicBezTo>
                  <a:cubicBezTo>
                    <a:pt x="43" y="591"/>
                    <a:pt x="35" y="610"/>
                    <a:pt x="47" y="613"/>
                  </a:cubicBezTo>
                  <a:cubicBezTo>
                    <a:pt x="59" y="616"/>
                    <a:pt x="63" y="614"/>
                    <a:pt x="63" y="614"/>
                  </a:cubicBezTo>
                  <a:cubicBezTo>
                    <a:pt x="65" y="639"/>
                    <a:pt x="65" y="639"/>
                    <a:pt x="65" y="639"/>
                  </a:cubicBezTo>
                  <a:cubicBezTo>
                    <a:pt x="65" y="639"/>
                    <a:pt x="80" y="658"/>
                    <a:pt x="77" y="664"/>
                  </a:cubicBezTo>
                  <a:cubicBezTo>
                    <a:pt x="74" y="670"/>
                    <a:pt x="65" y="677"/>
                    <a:pt x="65" y="681"/>
                  </a:cubicBezTo>
                  <a:cubicBezTo>
                    <a:pt x="65" y="685"/>
                    <a:pt x="64" y="724"/>
                    <a:pt x="64" y="724"/>
                  </a:cubicBezTo>
                  <a:cubicBezTo>
                    <a:pt x="55" y="725"/>
                    <a:pt x="55" y="725"/>
                    <a:pt x="55" y="725"/>
                  </a:cubicBezTo>
                  <a:cubicBezTo>
                    <a:pt x="55" y="725"/>
                    <a:pt x="72" y="743"/>
                    <a:pt x="73" y="753"/>
                  </a:cubicBezTo>
                  <a:cubicBezTo>
                    <a:pt x="74" y="763"/>
                    <a:pt x="70" y="774"/>
                    <a:pt x="70" y="774"/>
                  </a:cubicBezTo>
                  <a:cubicBezTo>
                    <a:pt x="68" y="786"/>
                    <a:pt x="68" y="786"/>
                    <a:pt x="68" y="786"/>
                  </a:cubicBezTo>
                  <a:cubicBezTo>
                    <a:pt x="51" y="787"/>
                    <a:pt x="51" y="787"/>
                    <a:pt x="51" y="787"/>
                  </a:cubicBezTo>
                  <a:cubicBezTo>
                    <a:pt x="51" y="787"/>
                    <a:pt x="63" y="820"/>
                    <a:pt x="63" y="827"/>
                  </a:cubicBezTo>
                  <a:cubicBezTo>
                    <a:pt x="63" y="834"/>
                    <a:pt x="63" y="855"/>
                    <a:pt x="63" y="855"/>
                  </a:cubicBezTo>
                  <a:cubicBezTo>
                    <a:pt x="83" y="872"/>
                    <a:pt x="83" y="872"/>
                    <a:pt x="83" y="872"/>
                  </a:cubicBezTo>
                  <a:cubicBezTo>
                    <a:pt x="84" y="884"/>
                    <a:pt x="84" y="884"/>
                    <a:pt x="84" y="884"/>
                  </a:cubicBezTo>
                  <a:cubicBezTo>
                    <a:pt x="84" y="884"/>
                    <a:pt x="103" y="893"/>
                    <a:pt x="98" y="902"/>
                  </a:cubicBezTo>
                  <a:cubicBezTo>
                    <a:pt x="93" y="911"/>
                    <a:pt x="79" y="916"/>
                    <a:pt x="79" y="916"/>
                  </a:cubicBezTo>
                  <a:cubicBezTo>
                    <a:pt x="87" y="944"/>
                    <a:pt x="87" y="944"/>
                    <a:pt x="87" y="944"/>
                  </a:cubicBezTo>
                  <a:cubicBezTo>
                    <a:pt x="74" y="953"/>
                    <a:pt x="74" y="953"/>
                    <a:pt x="74" y="953"/>
                  </a:cubicBezTo>
                  <a:cubicBezTo>
                    <a:pt x="74" y="953"/>
                    <a:pt x="84" y="958"/>
                    <a:pt x="85" y="966"/>
                  </a:cubicBezTo>
                  <a:cubicBezTo>
                    <a:pt x="86" y="974"/>
                    <a:pt x="81" y="982"/>
                    <a:pt x="81" y="982"/>
                  </a:cubicBezTo>
                  <a:cubicBezTo>
                    <a:pt x="95" y="990"/>
                    <a:pt x="95" y="990"/>
                    <a:pt x="95" y="990"/>
                  </a:cubicBezTo>
                  <a:cubicBezTo>
                    <a:pt x="95" y="990"/>
                    <a:pt x="90" y="1008"/>
                    <a:pt x="91" y="1014"/>
                  </a:cubicBezTo>
                  <a:cubicBezTo>
                    <a:pt x="92" y="1020"/>
                    <a:pt x="99" y="1031"/>
                    <a:pt x="99" y="1031"/>
                  </a:cubicBezTo>
                  <a:cubicBezTo>
                    <a:pt x="99" y="1031"/>
                    <a:pt x="99" y="1050"/>
                    <a:pt x="102" y="1056"/>
                  </a:cubicBezTo>
                  <a:cubicBezTo>
                    <a:pt x="105" y="1062"/>
                    <a:pt x="134" y="1083"/>
                    <a:pt x="129" y="1082"/>
                  </a:cubicBezTo>
                  <a:cubicBezTo>
                    <a:pt x="124" y="1081"/>
                    <a:pt x="113" y="1090"/>
                    <a:pt x="113" y="1090"/>
                  </a:cubicBezTo>
                  <a:cubicBezTo>
                    <a:pt x="113" y="1090"/>
                    <a:pt x="118" y="1120"/>
                    <a:pt x="121" y="1128"/>
                  </a:cubicBezTo>
                  <a:cubicBezTo>
                    <a:pt x="124" y="1136"/>
                    <a:pt x="133" y="1140"/>
                    <a:pt x="133" y="1140"/>
                  </a:cubicBezTo>
                  <a:cubicBezTo>
                    <a:pt x="143" y="1145"/>
                    <a:pt x="143" y="1145"/>
                    <a:pt x="143" y="1145"/>
                  </a:cubicBezTo>
                  <a:cubicBezTo>
                    <a:pt x="139" y="1163"/>
                    <a:pt x="139" y="1163"/>
                    <a:pt x="139" y="1163"/>
                  </a:cubicBezTo>
                  <a:cubicBezTo>
                    <a:pt x="139" y="1163"/>
                    <a:pt x="155" y="1164"/>
                    <a:pt x="156" y="1175"/>
                  </a:cubicBezTo>
                  <a:cubicBezTo>
                    <a:pt x="157" y="1186"/>
                    <a:pt x="158" y="1203"/>
                    <a:pt x="158" y="1203"/>
                  </a:cubicBezTo>
                  <a:cubicBezTo>
                    <a:pt x="158" y="1203"/>
                    <a:pt x="163" y="1213"/>
                    <a:pt x="170" y="1213"/>
                  </a:cubicBezTo>
                  <a:cubicBezTo>
                    <a:pt x="177" y="1213"/>
                    <a:pt x="196" y="1208"/>
                    <a:pt x="194" y="1219"/>
                  </a:cubicBezTo>
                  <a:cubicBezTo>
                    <a:pt x="192" y="1230"/>
                    <a:pt x="160" y="1227"/>
                    <a:pt x="161" y="1230"/>
                  </a:cubicBezTo>
                  <a:cubicBezTo>
                    <a:pt x="162" y="1233"/>
                    <a:pt x="185" y="1240"/>
                    <a:pt x="185" y="1240"/>
                  </a:cubicBezTo>
                  <a:cubicBezTo>
                    <a:pt x="185" y="1240"/>
                    <a:pt x="208" y="1249"/>
                    <a:pt x="205" y="1257"/>
                  </a:cubicBezTo>
                  <a:cubicBezTo>
                    <a:pt x="202" y="1265"/>
                    <a:pt x="189" y="1276"/>
                    <a:pt x="189" y="1276"/>
                  </a:cubicBezTo>
                  <a:cubicBezTo>
                    <a:pt x="205" y="1288"/>
                    <a:pt x="205" y="1288"/>
                    <a:pt x="205" y="1288"/>
                  </a:cubicBezTo>
                  <a:cubicBezTo>
                    <a:pt x="202" y="1303"/>
                    <a:pt x="202" y="1303"/>
                    <a:pt x="202" y="1303"/>
                  </a:cubicBezTo>
                  <a:cubicBezTo>
                    <a:pt x="217" y="1321"/>
                    <a:pt x="217" y="1321"/>
                    <a:pt x="217" y="1321"/>
                  </a:cubicBezTo>
                  <a:cubicBezTo>
                    <a:pt x="214" y="1343"/>
                    <a:pt x="214" y="1343"/>
                    <a:pt x="214" y="1343"/>
                  </a:cubicBezTo>
                  <a:cubicBezTo>
                    <a:pt x="224" y="1360"/>
                    <a:pt x="224" y="1360"/>
                    <a:pt x="224" y="1360"/>
                  </a:cubicBezTo>
                  <a:cubicBezTo>
                    <a:pt x="213" y="1364"/>
                    <a:pt x="213" y="1364"/>
                    <a:pt x="213" y="1364"/>
                  </a:cubicBezTo>
                  <a:cubicBezTo>
                    <a:pt x="210" y="1394"/>
                    <a:pt x="210" y="1394"/>
                    <a:pt x="210" y="1394"/>
                  </a:cubicBezTo>
                  <a:cubicBezTo>
                    <a:pt x="210" y="1394"/>
                    <a:pt x="229" y="1405"/>
                    <a:pt x="230" y="1408"/>
                  </a:cubicBezTo>
                  <a:cubicBezTo>
                    <a:pt x="231" y="1411"/>
                    <a:pt x="215" y="1420"/>
                    <a:pt x="215" y="1420"/>
                  </a:cubicBezTo>
                  <a:cubicBezTo>
                    <a:pt x="215" y="1420"/>
                    <a:pt x="235" y="1435"/>
                    <a:pt x="232" y="1440"/>
                  </a:cubicBezTo>
                  <a:cubicBezTo>
                    <a:pt x="229" y="1445"/>
                    <a:pt x="214" y="1450"/>
                    <a:pt x="214" y="1450"/>
                  </a:cubicBezTo>
                  <a:cubicBezTo>
                    <a:pt x="213" y="1463"/>
                    <a:pt x="213" y="1463"/>
                    <a:pt x="213" y="1463"/>
                  </a:cubicBezTo>
                  <a:cubicBezTo>
                    <a:pt x="206" y="1467"/>
                    <a:pt x="206" y="1467"/>
                    <a:pt x="206" y="1467"/>
                  </a:cubicBezTo>
                  <a:cubicBezTo>
                    <a:pt x="206" y="1467"/>
                    <a:pt x="208" y="1483"/>
                    <a:pt x="213" y="1488"/>
                  </a:cubicBezTo>
                  <a:cubicBezTo>
                    <a:pt x="218" y="1493"/>
                    <a:pt x="216" y="1513"/>
                    <a:pt x="216" y="1513"/>
                  </a:cubicBezTo>
                  <a:cubicBezTo>
                    <a:pt x="236" y="1517"/>
                    <a:pt x="236" y="1517"/>
                    <a:pt x="236" y="1517"/>
                  </a:cubicBezTo>
                  <a:cubicBezTo>
                    <a:pt x="236" y="1517"/>
                    <a:pt x="240" y="1542"/>
                    <a:pt x="250" y="1542"/>
                  </a:cubicBezTo>
                  <a:cubicBezTo>
                    <a:pt x="260" y="1542"/>
                    <a:pt x="266" y="1524"/>
                    <a:pt x="281" y="1537"/>
                  </a:cubicBezTo>
                  <a:cubicBezTo>
                    <a:pt x="296" y="1550"/>
                    <a:pt x="290" y="1562"/>
                    <a:pt x="290" y="1562"/>
                  </a:cubicBezTo>
                  <a:cubicBezTo>
                    <a:pt x="304" y="1578"/>
                    <a:pt x="304" y="1578"/>
                    <a:pt x="304" y="1578"/>
                  </a:cubicBezTo>
                  <a:cubicBezTo>
                    <a:pt x="311" y="1589"/>
                    <a:pt x="311" y="1589"/>
                    <a:pt x="311" y="1589"/>
                  </a:cubicBezTo>
                  <a:cubicBezTo>
                    <a:pt x="335" y="1600"/>
                    <a:pt x="335" y="1600"/>
                    <a:pt x="335" y="1600"/>
                  </a:cubicBezTo>
                  <a:cubicBezTo>
                    <a:pt x="347" y="1612"/>
                    <a:pt x="347" y="1612"/>
                    <a:pt x="347" y="1612"/>
                  </a:cubicBezTo>
                  <a:cubicBezTo>
                    <a:pt x="347" y="1612"/>
                    <a:pt x="373" y="1605"/>
                    <a:pt x="389" y="1607"/>
                  </a:cubicBezTo>
                  <a:cubicBezTo>
                    <a:pt x="405" y="1609"/>
                    <a:pt x="425" y="1608"/>
                    <a:pt x="425" y="1608"/>
                  </a:cubicBezTo>
                  <a:cubicBezTo>
                    <a:pt x="440" y="1620"/>
                    <a:pt x="440" y="1620"/>
                    <a:pt x="440" y="1620"/>
                  </a:cubicBezTo>
                  <a:cubicBezTo>
                    <a:pt x="437" y="1628"/>
                    <a:pt x="437" y="1628"/>
                    <a:pt x="437" y="1628"/>
                  </a:cubicBezTo>
                  <a:cubicBezTo>
                    <a:pt x="442" y="1616"/>
                    <a:pt x="442" y="1616"/>
                    <a:pt x="442" y="1616"/>
                  </a:cubicBezTo>
                  <a:cubicBezTo>
                    <a:pt x="449" y="1606"/>
                    <a:pt x="478" y="1625"/>
                    <a:pt x="478" y="1625"/>
                  </a:cubicBezTo>
                  <a:cubicBezTo>
                    <a:pt x="451" y="1588"/>
                    <a:pt x="451" y="1588"/>
                    <a:pt x="451" y="1588"/>
                  </a:cubicBezTo>
                  <a:cubicBezTo>
                    <a:pt x="438" y="1589"/>
                    <a:pt x="438" y="1589"/>
                    <a:pt x="438" y="1589"/>
                  </a:cubicBezTo>
                  <a:cubicBezTo>
                    <a:pt x="441" y="1579"/>
                    <a:pt x="441" y="1579"/>
                    <a:pt x="441" y="1579"/>
                  </a:cubicBezTo>
                  <a:cubicBezTo>
                    <a:pt x="417" y="1562"/>
                    <a:pt x="417" y="1562"/>
                    <a:pt x="417" y="1562"/>
                  </a:cubicBezTo>
                  <a:cubicBezTo>
                    <a:pt x="418" y="1538"/>
                    <a:pt x="418" y="1538"/>
                    <a:pt x="418" y="1538"/>
                  </a:cubicBezTo>
                  <a:cubicBezTo>
                    <a:pt x="409" y="1534"/>
                    <a:pt x="409" y="1534"/>
                    <a:pt x="409" y="1534"/>
                  </a:cubicBezTo>
                  <a:cubicBezTo>
                    <a:pt x="414" y="1522"/>
                    <a:pt x="414" y="1522"/>
                    <a:pt x="414" y="1522"/>
                  </a:cubicBezTo>
                  <a:cubicBezTo>
                    <a:pt x="414" y="1522"/>
                    <a:pt x="423" y="1522"/>
                    <a:pt x="426" y="1514"/>
                  </a:cubicBezTo>
                  <a:cubicBezTo>
                    <a:pt x="430" y="1506"/>
                    <a:pt x="400" y="1506"/>
                    <a:pt x="400" y="1506"/>
                  </a:cubicBezTo>
                  <a:cubicBezTo>
                    <a:pt x="412" y="1501"/>
                    <a:pt x="412" y="1501"/>
                    <a:pt x="412" y="1501"/>
                  </a:cubicBezTo>
                  <a:cubicBezTo>
                    <a:pt x="408" y="1488"/>
                    <a:pt x="408" y="1488"/>
                    <a:pt x="408" y="1488"/>
                  </a:cubicBezTo>
                  <a:cubicBezTo>
                    <a:pt x="424" y="1505"/>
                    <a:pt x="424" y="1505"/>
                    <a:pt x="424" y="1505"/>
                  </a:cubicBezTo>
                  <a:cubicBezTo>
                    <a:pt x="424" y="1505"/>
                    <a:pt x="438" y="1515"/>
                    <a:pt x="448" y="1503"/>
                  </a:cubicBezTo>
                  <a:cubicBezTo>
                    <a:pt x="458" y="1491"/>
                    <a:pt x="440" y="1465"/>
                    <a:pt x="441" y="1451"/>
                  </a:cubicBezTo>
                  <a:cubicBezTo>
                    <a:pt x="442" y="1438"/>
                    <a:pt x="485" y="1409"/>
                    <a:pt x="488" y="1400"/>
                  </a:cubicBezTo>
                  <a:cubicBezTo>
                    <a:pt x="492" y="1391"/>
                    <a:pt x="467" y="1391"/>
                    <a:pt x="467" y="1391"/>
                  </a:cubicBezTo>
                  <a:cubicBezTo>
                    <a:pt x="483" y="1389"/>
                    <a:pt x="483" y="1389"/>
                    <a:pt x="483" y="1389"/>
                  </a:cubicBezTo>
                  <a:cubicBezTo>
                    <a:pt x="483" y="1389"/>
                    <a:pt x="484" y="1369"/>
                    <a:pt x="476" y="1359"/>
                  </a:cubicBezTo>
                  <a:cubicBezTo>
                    <a:pt x="468" y="1349"/>
                    <a:pt x="456" y="1354"/>
                    <a:pt x="456" y="1354"/>
                  </a:cubicBezTo>
                  <a:cubicBezTo>
                    <a:pt x="444" y="1345"/>
                    <a:pt x="444" y="1345"/>
                    <a:pt x="444" y="1345"/>
                  </a:cubicBezTo>
                  <a:cubicBezTo>
                    <a:pt x="431" y="1345"/>
                    <a:pt x="431" y="1345"/>
                    <a:pt x="431" y="1345"/>
                  </a:cubicBezTo>
                  <a:cubicBezTo>
                    <a:pt x="431" y="1345"/>
                    <a:pt x="391" y="1328"/>
                    <a:pt x="379" y="1301"/>
                  </a:cubicBezTo>
                  <a:cubicBezTo>
                    <a:pt x="366" y="1274"/>
                    <a:pt x="386" y="1269"/>
                    <a:pt x="386" y="1269"/>
                  </a:cubicBezTo>
                  <a:cubicBezTo>
                    <a:pt x="392" y="1252"/>
                    <a:pt x="392" y="1252"/>
                    <a:pt x="392" y="1252"/>
                  </a:cubicBezTo>
                  <a:cubicBezTo>
                    <a:pt x="401" y="1252"/>
                    <a:pt x="401" y="1252"/>
                    <a:pt x="401" y="1252"/>
                  </a:cubicBezTo>
                  <a:cubicBezTo>
                    <a:pt x="407" y="1240"/>
                    <a:pt x="407" y="1240"/>
                    <a:pt x="407" y="1240"/>
                  </a:cubicBezTo>
                  <a:cubicBezTo>
                    <a:pt x="443" y="1239"/>
                    <a:pt x="443" y="1239"/>
                    <a:pt x="443" y="1239"/>
                  </a:cubicBezTo>
                  <a:cubicBezTo>
                    <a:pt x="435" y="1232"/>
                    <a:pt x="435" y="1232"/>
                    <a:pt x="435" y="1232"/>
                  </a:cubicBezTo>
                  <a:cubicBezTo>
                    <a:pt x="434" y="1218"/>
                    <a:pt x="434" y="1218"/>
                    <a:pt x="434" y="1218"/>
                  </a:cubicBezTo>
                  <a:cubicBezTo>
                    <a:pt x="443" y="1217"/>
                    <a:pt x="443" y="1217"/>
                    <a:pt x="443" y="1217"/>
                  </a:cubicBezTo>
                  <a:cubicBezTo>
                    <a:pt x="443" y="1217"/>
                    <a:pt x="448" y="1198"/>
                    <a:pt x="440" y="1191"/>
                  </a:cubicBezTo>
                  <a:cubicBezTo>
                    <a:pt x="432" y="1184"/>
                    <a:pt x="423" y="1168"/>
                    <a:pt x="430" y="1152"/>
                  </a:cubicBezTo>
                  <a:cubicBezTo>
                    <a:pt x="436" y="1137"/>
                    <a:pt x="456" y="1137"/>
                    <a:pt x="456" y="1137"/>
                  </a:cubicBezTo>
                  <a:cubicBezTo>
                    <a:pt x="456" y="1130"/>
                    <a:pt x="456" y="1130"/>
                    <a:pt x="456" y="1130"/>
                  </a:cubicBezTo>
                  <a:cubicBezTo>
                    <a:pt x="456" y="1130"/>
                    <a:pt x="439" y="1130"/>
                    <a:pt x="431" y="1125"/>
                  </a:cubicBezTo>
                  <a:cubicBezTo>
                    <a:pt x="423" y="1121"/>
                    <a:pt x="432" y="1112"/>
                    <a:pt x="440" y="1111"/>
                  </a:cubicBezTo>
                  <a:cubicBezTo>
                    <a:pt x="448" y="1110"/>
                    <a:pt x="462" y="1127"/>
                    <a:pt x="469" y="1127"/>
                  </a:cubicBezTo>
                  <a:cubicBezTo>
                    <a:pt x="476" y="1127"/>
                    <a:pt x="485" y="1123"/>
                    <a:pt x="486" y="1113"/>
                  </a:cubicBezTo>
                  <a:cubicBezTo>
                    <a:pt x="487" y="1103"/>
                    <a:pt x="474" y="1080"/>
                    <a:pt x="461" y="1085"/>
                  </a:cubicBezTo>
                  <a:cubicBezTo>
                    <a:pt x="449" y="1089"/>
                    <a:pt x="468" y="1099"/>
                    <a:pt x="456" y="1105"/>
                  </a:cubicBezTo>
                  <a:cubicBezTo>
                    <a:pt x="443" y="1111"/>
                    <a:pt x="431" y="1094"/>
                    <a:pt x="431" y="1094"/>
                  </a:cubicBezTo>
                  <a:cubicBezTo>
                    <a:pt x="431" y="1094"/>
                    <a:pt x="407" y="1096"/>
                    <a:pt x="404" y="1089"/>
                  </a:cubicBezTo>
                  <a:cubicBezTo>
                    <a:pt x="400" y="1083"/>
                    <a:pt x="404" y="1055"/>
                    <a:pt x="404" y="1052"/>
                  </a:cubicBezTo>
                  <a:cubicBezTo>
                    <a:pt x="404" y="1049"/>
                    <a:pt x="387" y="1032"/>
                    <a:pt x="391" y="1017"/>
                  </a:cubicBezTo>
                  <a:cubicBezTo>
                    <a:pt x="396" y="1003"/>
                    <a:pt x="409" y="1019"/>
                    <a:pt x="424" y="1023"/>
                  </a:cubicBezTo>
                  <a:cubicBezTo>
                    <a:pt x="439" y="1026"/>
                    <a:pt x="456" y="1039"/>
                    <a:pt x="465" y="1039"/>
                  </a:cubicBezTo>
                  <a:cubicBezTo>
                    <a:pt x="474" y="1039"/>
                    <a:pt x="507" y="1021"/>
                    <a:pt x="515" y="1015"/>
                  </a:cubicBezTo>
                  <a:cubicBezTo>
                    <a:pt x="523" y="1009"/>
                    <a:pt x="490" y="991"/>
                    <a:pt x="490" y="991"/>
                  </a:cubicBezTo>
                  <a:cubicBezTo>
                    <a:pt x="489" y="975"/>
                    <a:pt x="489" y="975"/>
                    <a:pt x="489" y="975"/>
                  </a:cubicBezTo>
                  <a:cubicBezTo>
                    <a:pt x="489" y="975"/>
                    <a:pt x="498" y="959"/>
                    <a:pt x="501" y="948"/>
                  </a:cubicBezTo>
                  <a:cubicBezTo>
                    <a:pt x="503" y="938"/>
                    <a:pt x="480" y="938"/>
                    <a:pt x="480" y="938"/>
                  </a:cubicBezTo>
                  <a:cubicBezTo>
                    <a:pt x="478" y="924"/>
                    <a:pt x="478" y="924"/>
                    <a:pt x="478" y="924"/>
                  </a:cubicBezTo>
                  <a:cubicBezTo>
                    <a:pt x="478" y="924"/>
                    <a:pt x="470" y="915"/>
                    <a:pt x="477" y="907"/>
                  </a:cubicBezTo>
                  <a:cubicBezTo>
                    <a:pt x="484" y="899"/>
                    <a:pt x="494" y="934"/>
                    <a:pt x="494" y="934"/>
                  </a:cubicBezTo>
                  <a:cubicBezTo>
                    <a:pt x="502" y="933"/>
                    <a:pt x="502" y="933"/>
                    <a:pt x="502" y="933"/>
                  </a:cubicBezTo>
                  <a:cubicBezTo>
                    <a:pt x="497" y="919"/>
                    <a:pt x="497" y="919"/>
                    <a:pt x="497" y="919"/>
                  </a:cubicBezTo>
                  <a:cubicBezTo>
                    <a:pt x="551" y="926"/>
                    <a:pt x="551" y="926"/>
                    <a:pt x="551" y="926"/>
                  </a:cubicBezTo>
                  <a:cubicBezTo>
                    <a:pt x="554" y="920"/>
                    <a:pt x="554" y="920"/>
                    <a:pt x="554" y="920"/>
                  </a:cubicBezTo>
                  <a:cubicBezTo>
                    <a:pt x="554" y="920"/>
                    <a:pt x="567" y="912"/>
                    <a:pt x="595" y="909"/>
                  </a:cubicBezTo>
                  <a:cubicBezTo>
                    <a:pt x="624" y="906"/>
                    <a:pt x="676" y="881"/>
                    <a:pt x="676" y="881"/>
                  </a:cubicBezTo>
                  <a:cubicBezTo>
                    <a:pt x="673" y="855"/>
                    <a:pt x="673" y="855"/>
                    <a:pt x="673" y="855"/>
                  </a:cubicBezTo>
                  <a:cubicBezTo>
                    <a:pt x="688" y="847"/>
                    <a:pt x="688" y="847"/>
                    <a:pt x="688" y="847"/>
                  </a:cubicBezTo>
                  <a:cubicBezTo>
                    <a:pt x="696" y="814"/>
                    <a:pt x="696" y="814"/>
                    <a:pt x="696" y="814"/>
                  </a:cubicBezTo>
                  <a:cubicBezTo>
                    <a:pt x="689" y="797"/>
                    <a:pt x="689" y="797"/>
                    <a:pt x="689" y="797"/>
                  </a:cubicBezTo>
                  <a:cubicBezTo>
                    <a:pt x="689" y="779"/>
                    <a:pt x="689" y="779"/>
                    <a:pt x="689" y="779"/>
                  </a:cubicBezTo>
                  <a:cubicBezTo>
                    <a:pt x="689" y="779"/>
                    <a:pt x="678" y="770"/>
                    <a:pt x="667" y="766"/>
                  </a:cubicBezTo>
                  <a:cubicBezTo>
                    <a:pt x="661" y="764"/>
                    <a:pt x="654" y="769"/>
                    <a:pt x="649" y="765"/>
                  </a:cubicBezTo>
                  <a:cubicBezTo>
                    <a:pt x="641" y="759"/>
                    <a:pt x="655" y="753"/>
                    <a:pt x="658" y="748"/>
                  </a:cubicBezTo>
                  <a:cubicBezTo>
                    <a:pt x="662" y="741"/>
                    <a:pt x="657" y="735"/>
                    <a:pt x="657" y="727"/>
                  </a:cubicBezTo>
                  <a:cubicBezTo>
                    <a:pt x="657" y="712"/>
                    <a:pt x="624" y="707"/>
                    <a:pt x="601" y="696"/>
                  </a:cubicBezTo>
                  <a:cubicBezTo>
                    <a:pt x="578" y="685"/>
                    <a:pt x="578" y="674"/>
                    <a:pt x="588" y="660"/>
                  </a:cubicBezTo>
                  <a:cubicBezTo>
                    <a:pt x="589" y="659"/>
                    <a:pt x="589" y="658"/>
                    <a:pt x="590" y="658"/>
                  </a:cubicBezTo>
                  <a:cubicBezTo>
                    <a:pt x="570" y="633"/>
                    <a:pt x="570" y="633"/>
                    <a:pt x="570" y="633"/>
                  </a:cubicBezTo>
                  <a:cubicBezTo>
                    <a:pt x="570" y="601"/>
                    <a:pt x="570" y="601"/>
                    <a:pt x="570" y="601"/>
                  </a:cubicBezTo>
                  <a:cubicBezTo>
                    <a:pt x="570" y="601"/>
                    <a:pt x="593" y="600"/>
                    <a:pt x="594" y="595"/>
                  </a:cubicBezTo>
                  <a:cubicBezTo>
                    <a:pt x="595" y="590"/>
                    <a:pt x="575" y="567"/>
                    <a:pt x="575" y="567"/>
                  </a:cubicBezTo>
                  <a:cubicBezTo>
                    <a:pt x="582" y="557"/>
                    <a:pt x="582" y="557"/>
                    <a:pt x="582" y="557"/>
                  </a:cubicBezTo>
                  <a:cubicBezTo>
                    <a:pt x="582" y="557"/>
                    <a:pt x="569" y="545"/>
                    <a:pt x="568" y="536"/>
                  </a:cubicBezTo>
                  <a:cubicBezTo>
                    <a:pt x="567" y="527"/>
                    <a:pt x="586" y="528"/>
                    <a:pt x="586" y="528"/>
                  </a:cubicBezTo>
                  <a:cubicBezTo>
                    <a:pt x="569" y="518"/>
                    <a:pt x="569" y="518"/>
                    <a:pt x="569" y="518"/>
                  </a:cubicBezTo>
                  <a:cubicBezTo>
                    <a:pt x="569" y="491"/>
                    <a:pt x="569" y="491"/>
                    <a:pt x="569" y="491"/>
                  </a:cubicBezTo>
                  <a:cubicBezTo>
                    <a:pt x="587" y="484"/>
                    <a:pt x="587" y="484"/>
                    <a:pt x="587" y="484"/>
                  </a:cubicBezTo>
                  <a:cubicBezTo>
                    <a:pt x="587" y="484"/>
                    <a:pt x="566" y="471"/>
                    <a:pt x="566" y="467"/>
                  </a:cubicBezTo>
                  <a:cubicBezTo>
                    <a:pt x="566" y="463"/>
                    <a:pt x="580" y="452"/>
                    <a:pt x="580" y="452"/>
                  </a:cubicBezTo>
                  <a:cubicBezTo>
                    <a:pt x="580" y="452"/>
                    <a:pt x="584" y="435"/>
                    <a:pt x="584" y="429"/>
                  </a:cubicBezTo>
                  <a:cubicBezTo>
                    <a:pt x="584" y="423"/>
                    <a:pt x="599" y="424"/>
                    <a:pt x="604" y="419"/>
                  </a:cubicBezTo>
                  <a:cubicBezTo>
                    <a:pt x="609" y="414"/>
                    <a:pt x="612" y="399"/>
                    <a:pt x="612" y="396"/>
                  </a:cubicBezTo>
                  <a:cubicBezTo>
                    <a:pt x="612" y="393"/>
                    <a:pt x="621" y="388"/>
                    <a:pt x="626" y="383"/>
                  </a:cubicBezTo>
                  <a:cubicBezTo>
                    <a:pt x="631" y="378"/>
                    <a:pt x="634" y="355"/>
                    <a:pt x="634" y="355"/>
                  </a:cubicBezTo>
                  <a:close/>
                  <a:moveTo>
                    <a:pt x="619" y="681"/>
                  </a:moveTo>
                  <a:cubicBezTo>
                    <a:pt x="624" y="681"/>
                    <a:pt x="624" y="681"/>
                    <a:pt x="624" y="681"/>
                  </a:cubicBezTo>
                  <a:cubicBezTo>
                    <a:pt x="617" y="677"/>
                    <a:pt x="617" y="677"/>
                    <a:pt x="617" y="677"/>
                  </a:cubicBezTo>
                  <a:cubicBezTo>
                    <a:pt x="617" y="677"/>
                    <a:pt x="617" y="677"/>
                    <a:pt x="617" y="677"/>
                  </a:cubicBezTo>
                  <a:cubicBezTo>
                    <a:pt x="618" y="679"/>
                    <a:pt x="619" y="681"/>
                    <a:pt x="619" y="681"/>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415" name="Freeform 206">
              <a:extLst>
                <a:ext uri="{FF2B5EF4-FFF2-40B4-BE49-F238E27FC236}">
                  <a16:creationId xmlns:a16="http://schemas.microsoft.com/office/drawing/2014/main" id="{5DF80C72-FD92-4A0E-B02C-6459F7843F35}"/>
                </a:ext>
              </a:extLst>
            </p:cNvPr>
            <p:cNvSpPr>
              <a:spLocks noEditPoints="1"/>
            </p:cNvSpPr>
            <p:nvPr/>
          </p:nvSpPr>
          <p:spPr bwMode="gray">
            <a:xfrm>
              <a:off x="2142598" y="2633981"/>
              <a:ext cx="189806" cy="226421"/>
            </a:xfrm>
            <a:custGeom>
              <a:avLst/>
              <a:gdLst>
                <a:gd name="T0" fmla="*/ 42 w 280"/>
                <a:gd name="T1" fmla="*/ 249 h 353"/>
                <a:gd name="T2" fmla="*/ 49 w 280"/>
                <a:gd name="T3" fmla="*/ 229 h 353"/>
                <a:gd name="T4" fmla="*/ 42 w 280"/>
                <a:gd name="T5" fmla="*/ 249 h 353"/>
                <a:gd name="T6" fmla="*/ 277 w 280"/>
                <a:gd name="T7" fmla="*/ 114 h 353"/>
                <a:gd name="T8" fmla="*/ 261 w 280"/>
                <a:gd name="T9" fmla="*/ 102 h 353"/>
                <a:gd name="T10" fmla="*/ 271 w 280"/>
                <a:gd name="T11" fmla="*/ 84 h 353"/>
                <a:gd name="T12" fmla="*/ 252 w 280"/>
                <a:gd name="T13" fmla="*/ 83 h 353"/>
                <a:gd name="T14" fmla="*/ 230 w 280"/>
                <a:gd name="T15" fmla="*/ 61 h 353"/>
                <a:gd name="T16" fmla="*/ 218 w 280"/>
                <a:gd name="T17" fmla="*/ 73 h 353"/>
                <a:gd name="T18" fmla="*/ 195 w 280"/>
                <a:gd name="T19" fmla="*/ 65 h 353"/>
                <a:gd name="T20" fmla="*/ 175 w 280"/>
                <a:gd name="T21" fmla="*/ 64 h 353"/>
                <a:gd name="T22" fmla="*/ 163 w 280"/>
                <a:gd name="T23" fmla="*/ 43 h 353"/>
                <a:gd name="T24" fmla="*/ 140 w 280"/>
                <a:gd name="T25" fmla="*/ 40 h 353"/>
                <a:gd name="T26" fmla="*/ 121 w 280"/>
                <a:gd name="T27" fmla="*/ 22 h 353"/>
                <a:gd name="T28" fmla="*/ 98 w 280"/>
                <a:gd name="T29" fmla="*/ 0 h 353"/>
                <a:gd name="T30" fmla="*/ 101 w 280"/>
                <a:gd name="T31" fmla="*/ 23 h 353"/>
                <a:gd name="T32" fmla="*/ 68 w 280"/>
                <a:gd name="T33" fmla="*/ 37 h 353"/>
                <a:gd name="T34" fmla="*/ 66 w 280"/>
                <a:gd name="T35" fmla="*/ 27 h 353"/>
                <a:gd name="T36" fmla="*/ 44 w 280"/>
                <a:gd name="T37" fmla="*/ 46 h 353"/>
                <a:gd name="T38" fmla="*/ 49 w 280"/>
                <a:gd name="T39" fmla="*/ 77 h 353"/>
                <a:gd name="T40" fmla="*/ 31 w 280"/>
                <a:gd name="T41" fmla="*/ 97 h 353"/>
                <a:gd name="T42" fmla="*/ 39 w 280"/>
                <a:gd name="T43" fmla="*/ 119 h 353"/>
                <a:gd name="T44" fmla="*/ 27 w 280"/>
                <a:gd name="T45" fmla="*/ 119 h 353"/>
                <a:gd name="T46" fmla="*/ 26 w 280"/>
                <a:gd name="T47" fmla="*/ 130 h 353"/>
                <a:gd name="T48" fmla="*/ 3 w 280"/>
                <a:gd name="T49" fmla="*/ 144 h 353"/>
                <a:gd name="T50" fmla="*/ 19 w 280"/>
                <a:gd name="T51" fmla="*/ 154 h 353"/>
                <a:gd name="T52" fmla="*/ 8 w 280"/>
                <a:gd name="T53" fmla="*/ 173 h 353"/>
                <a:gd name="T54" fmla="*/ 18 w 280"/>
                <a:gd name="T55" fmla="*/ 187 h 353"/>
                <a:gd name="T56" fmla="*/ 3 w 280"/>
                <a:gd name="T57" fmla="*/ 201 h 353"/>
                <a:gd name="T58" fmla="*/ 12 w 280"/>
                <a:gd name="T59" fmla="*/ 207 h 353"/>
                <a:gd name="T60" fmla="*/ 22 w 280"/>
                <a:gd name="T61" fmla="*/ 228 h 353"/>
                <a:gd name="T62" fmla="*/ 48 w 280"/>
                <a:gd name="T63" fmla="*/ 214 h 353"/>
                <a:gd name="T64" fmla="*/ 65 w 280"/>
                <a:gd name="T65" fmla="*/ 219 h 353"/>
                <a:gd name="T66" fmla="*/ 61 w 280"/>
                <a:gd name="T67" fmla="*/ 258 h 353"/>
                <a:gd name="T68" fmla="*/ 36 w 280"/>
                <a:gd name="T69" fmla="*/ 271 h 353"/>
                <a:gd name="T70" fmla="*/ 51 w 280"/>
                <a:gd name="T71" fmla="*/ 286 h 353"/>
                <a:gd name="T72" fmla="*/ 30 w 280"/>
                <a:gd name="T73" fmla="*/ 307 h 353"/>
                <a:gd name="T74" fmla="*/ 40 w 280"/>
                <a:gd name="T75" fmla="*/ 315 h 353"/>
                <a:gd name="T76" fmla="*/ 33 w 280"/>
                <a:gd name="T77" fmla="*/ 329 h 353"/>
                <a:gd name="T78" fmla="*/ 53 w 280"/>
                <a:gd name="T79" fmla="*/ 315 h 353"/>
                <a:gd name="T80" fmla="*/ 62 w 280"/>
                <a:gd name="T81" fmla="*/ 326 h 353"/>
                <a:gd name="T82" fmla="*/ 81 w 280"/>
                <a:gd name="T83" fmla="*/ 324 h 353"/>
                <a:gd name="T84" fmla="*/ 96 w 280"/>
                <a:gd name="T85" fmla="*/ 353 h 353"/>
                <a:gd name="T86" fmla="*/ 108 w 280"/>
                <a:gd name="T87" fmla="*/ 339 h 353"/>
                <a:gd name="T88" fmla="*/ 121 w 280"/>
                <a:gd name="T89" fmla="*/ 335 h 353"/>
                <a:gd name="T90" fmla="*/ 125 w 280"/>
                <a:gd name="T91" fmla="*/ 299 h 353"/>
                <a:gd name="T92" fmla="*/ 135 w 280"/>
                <a:gd name="T93" fmla="*/ 284 h 353"/>
                <a:gd name="T94" fmla="*/ 132 w 280"/>
                <a:gd name="T95" fmla="*/ 272 h 353"/>
                <a:gd name="T96" fmla="*/ 140 w 280"/>
                <a:gd name="T97" fmla="*/ 269 h 353"/>
                <a:gd name="T98" fmla="*/ 154 w 280"/>
                <a:gd name="T99" fmla="*/ 251 h 353"/>
                <a:gd name="T100" fmla="*/ 211 w 280"/>
                <a:gd name="T101" fmla="*/ 226 h 353"/>
                <a:gd name="T102" fmla="*/ 262 w 280"/>
                <a:gd name="T103" fmla="*/ 170 h 353"/>
                <a:gd name="T104" fmla="*/ 270 w 280"/>
                <a:gd name="T105" fmla="*/ 141 h 353"/>
                <a:gd name="T106" fmla="*/ 280 w 280"/>
                <a:gd name="T107" fmla="*/ 136 h 353"/>
                <a:gd name="T108" fmla="*/ 277 w 280"/>
                <a:gd name="T109" fmla="*/ 114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80" h="353">
                  <a:moveTo>
                    <a:pt x="42" y="249"/>
                  </a:moveTo>
                  <a:cubicBezTo>
                    <a:pt x="57" y="245"/>
                    <a:pt x="59" y="225"/>
                    <a:pt x="49" y="229"/>
                  </a:cubicBezTo>
                  <a:cubicBezTo>
                    <a:pt x="40" y="233"/>
                    <a:pt x="34" y="250"/>
                    <a:pt x="42" y="249"/>
                  </a:cubicBezTo>
                  <a:close/>
                  <a:moveTo>
                    <a:pt x="277" y="114"/>
                  </a:moveTo>
                  <a:cubicBezTo>
                    <a:pt x="261" y="102"/>
                    <a:pt x="261" y="102"/>
                    <a:pt x="261" y="102"/>
                  </a:cubicBezTo>
                  <a:cubicBezTo>
                    <a:pt x="261" y="102"/>
                    <a:pt x="272" y="102"/>
                    <a:pt x="271" y="84"/>
                  </a:cubicBezTo>
                  <a:cubicBezTo>
                    <a:pt x="265" y="83"/>
                    <a:pt x="258" y="83"/>
                    <a:pt x="252" y="83"/>
                  </a:cubicBezTo>
                  <a:cubicBezTo>
                    <a:pt x="239" y="82"/>
                    <a:pt x="247" y="64"/>
                    <a:pt x="230" y="61"/>
                  </a:cubicBezTo>
                  <a:cubicBezTo>
                    <a:pt x="213" y="58"/>
                    <a:pt x="225" y="71"/>
                    <a:pt x="218" y="73"/>
                  </a:cubicBezTo>
                  <a:cubicBezTo>
                    <a:pt x="211" y="75"/>
                    <a:pt x="195" y="65"/>
                    <a:pt x="195" y="65"/>
                  </a:cubicBezTo>
                  <a:cubicBezTo>
                    <a:pt x="195" y="65"/>
                    <a:pt x="184" y="70"/>
                    <a:pt x="175" y="64"/>
                  </a:cubicBezTo>
                  <a:cubicBezTo>
                    <a:pt x="166" y="58"/>
                    <a:pt x="173" y="51"/>
                    <a:pt x="163" y="43"/>
                  </a:cubicBezTo>
                  <a:cubicBezTo>
                    <a:pt x="153" y="35"/>
                    <a:pt x="140" y="40"/>
                    <a:pt x="140" y="40"/>
                  </a:cubicBezTo>
                  <a:cubicBezTo>
                    <a:pt x="140" y="40"/>
                    <a:pt x="132" y="28"/>
                    <a:pt x="121" y="22"/>
                  </a:cubicBezTo>
                  <a:cubicBezTo>
                    <a:pt x="113" y="19"/>
                    <a:pt x="103" y="6"/>
                    <a:pt x="98" y="0"/>
                  </a:cubicBezTo>
                  <a:cubicBezTo>
                    <a:pt x="99" y="10"/>
                    <a:pt x="105" y="14"/>
                    <a:pt x="101" y="23"/>
                  </a:cubicBezTo>
                  <a:cubicBezTo>
                    <a:pt x="98" y="32"/>
                    <a:pt x="68" y="37"/>
                    <a:pt x="68" y="37"/>
                  </a:cubicBezTo>
                  <a:cubicBezTo>
                    <a:pt x="66" y="27"/>
                    <a:pt x="66" y="27"/>
                    <a:pt x="66" y="27"/>
                  </a:cubicBezTo>
                  <a:cubicBezTo>
                    <a:pt x="66" y="27"/>
                    <a:pt x="46" y="38"/>
                    <a:pt x="44" y="46"/>
                  </a:cubicBezTo>
                  <a:cubicBezTo>
                    <a:pt x="41" y="54"/>
                    <a:pt x="51" y="64"/>
                    <a:pt x="49" y="77"/>
                  </a:cubicBezTo>
                  <a:cubicBezTo>
                    <a:pt x="48" y="90"/>
                    <a:pt x="35" y="89"/>
                    <a:pt x="31" y="97"/>
                  </a:cubicBezTo>
                  <a:cubicBezTo>
                    <a:pt x="26" y="105"/>
                    <a:pt x="39" y="119"/>
                    <a:pt x="39" y="119"/>
                  </a:cubicBezTo>
                  <a:cubicBezTo>
                    <a:pt x="27" y="119"/>
                    <a:pt x="27" y="119"/>
                    <a:pt x="27" y="119"/>
                  </a:cubicBezTo>
                  <a:cubicBezTo>
                    <a:pt x="26" y="130"/>
                    <a:pt x="26" y="130"/>
                    <a:pt x="26" y="130"/>
                  </a:cubicBezTo>
                  <a:cubicBezTo>
                    <a:pt x="3" y="144"/>
                    <a:pt x="3" y="144"/>
                    <a:pt x="3" y="144"/>
                  </a:cubicBezTo>
                  <a:cubicBezTo>
                    <a:pt x="19" y="154"/>
                    <a:pt x="19" y="154"/>
                    <a:pt x="19" y="154"/>
                  </a:cubicBezTo>
                  <a:cubicBezTo>
                    <a:pt x="8" y="173"/>
                    <a:pt x="8" y="173"/>
                    <a:pt x="8" y="173"/>
                  </a:cubicBezTo>
                  <a:cubicBezTo>
                    <a:pt x="8" y="173"/>
                    <a:pt x="19" y="176"/>
                    <a:pt x="18" y="187"/>
                  </a:cubicBezTo>
                  <a:cubicBezTo>
                    <a:pt x="16" y="198"/>
                    <a:pt x="3" y="201"/>
                    <a:pt x="3" y="201"/>
                  </a:cubicBezTo>
                  <a:cubicBezTo>
                    <a:pt x="12" y="207"/>
                    <a:pt x="12" y="207"/>
                    <a:pt x="12" y="207"/>
                  </a:cubicBezTo>
                  <a:cubicBezTo>
                    <a:pt x="12" y="207"/>
                    <a:pt x="0" y="221"/>
                    <a:pt x="22" y="228"/>
                  </a:cubicBezTo>
                  <a:cubicBezTo>
                    <a:pt x="45" y="235"/>
                    <a:pt x="48" y="214"/>
                    <a:pt x="48" y="214"/>
                  </a:cubicBezTo>
                  <a:cubicBezTo>
                    <a:pt x="65" y="219"/>
                    <a:pt x="65" y="219"/>
                    <a:pt x="65" y="219"/>
                  </a:cubicBezTo>
                  <a:cubicBezTo>
                    <a:pt x="73" y="227"/>
                    <a:pt x="64" y="246"/>
                    <a:pt x="61" y="258"/>
                  </a:cubicBezTo>
                  <a:cubicBezTo>
                    <a:pt x="59" y="270"/>
                    <a:pt x="36" y="271"/>
                    <a:pt x="36" y="271"/>
                  </a:cubicBezTo>
                  <a:cubicBezTo>
                    <a:pt x="36" y="271"/>
                    <a:pt x="60" y="277"/>
                    <a:pt x="51" y="286"/>
                  </a:cubicBezTo>
                  <a:cubicBezTo>
                    <a:pt x="43" y="295"/>
                    <a:pt x="30" y="307"/>
                    <a:pt x="30" y="307"/>
                  </a:cubicBezTo>
                  <a:cubicBezTo>
                    <a:pt x="40" y="315"/>
                    <a:pt x="40" y="315"/>
                    <a:pt x="40" y="315"/>
                  </a:cubicBezTo>
                  <a:cubicBezTo>
                    <a:pt x="40" y="315"/>
                    <a:pt x="24" y="324"/>
                    <a:pt x="33" y="329"/>
                  </a:cubicBezTo>
                  <a:cubicBezTo>
                    <a:pt x="43" y="333"/>
                    <a:pt x="53" y="315"/>
                    <a:pt x="53" y="315"/>
                  </a:cubicBezTo>
                  <a:cubicBezTo>
                    <a:pt x="62" y="326"/>
                    <a:pt x="62" y="326"/>
                    <a:pt x="62" y="326"/>
                  </a:cubicBezTo>
                  <a:cubicBezTo>
                    <a:pt x="62" y="326"/>
                    <a:pt x="75" y="320"/>
                    <a:pt x="81" y="324"/>
                  </a:cubicBezTo>
                  <a:cubicBezTo>
                    <a:pt x="86" y="329"/>
                    <a:pt x="82" y="353"/>
                    <a:pt x="96" y="353"/>
                  </a:cubicBezTo>
                  <a:cubicBezTo>
                    <a:pt x="109" y="353"/>
                    <a:pt x="104" y="342"/>
                    <a:pt x="108" y="339"/>
                  </a:cubicBezTo>
                  <a:cubicBezTo>
                    <a:pt x="112" y="337"/>
                    <a:pt x="121" y="335"/>
                    <a:pt x="121" y="335"/>
                  </a:cubicBezTo>
                  <a:cubicBezTo>
                    <a:pt x="121" y="335"/>
                    <a:pt x="124" y="308"/>
                    <a:pt x="125" y="299"/>
                  </a:cubicBezTo>
                  <a:cubicBezTo>
                    <a:pt x="127" y="289"/>
                    <a:pt x="135" y="284"/>
                    <a:pt x="135" y="284"/>
                  </a:cubicBezTo>
                  <a:cubicBezTo>
                    <a:pt x="132" y="272"/>
                    <a:pt x="132" y="272"/>
                    <a:pt x="132" y="272"/>
                  </a:cubicBezTo>
                  <a:cubicBezTo>
                    <a:pt x="140" y="269"/>
                    <a:pt x="140" y="269"/>
                    <a:pt x="140" y="269"/>
                  </a:cubicBezTo>
                  <a:cubicBezTo>
                    <a:pt x="140" y="269"/>
                    <a:pt x="140" y="262"/>
                    <a:pt x="154" y="251"/>
                  </a:cubicBezTo>
                  <a:cubicBezTo>
                    <a:pt x="167" y="240"/>
                    <a:pt x="188" y="240"/>
                    <a:pt x="211" y="226"/>
                  </a:cubicBezTo>
                  <a:cubicBezTo>
                    <a:pt x="234" y="211"/>
                    <a:pt x="262" y="170"/>
                    <a:pt x="262" y="170"/>
                  </a:cubicBezTo>
                  <a:cubicBezTo>
                    <a:pt x="270" y="141"/>
                    <a:pt x="270" y="141"/>
                    <a:pt x="270" y="141"/>
                  </a:cubicBezTo>
                  <a:cubicBezTo>
                    <a:pt x="280" y="136"/>
                    <a:pt x="280" y="136"/>
                    <a:pt x="280" y="136"/>
                  </a:cubicBezTo>
                  <a:lnTo>
                    <a:pt x="277" y="114"/>
                  </a:ln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416" name="Freeform 207">
              <a:extLst>
                <a:ext uri="{FF2B5EF4-FFF2-40B4-BE49-F238E27FC236}">
                  <a16:creationId xmlns:a16="http://schemas.microsoft.com/office/drawing/2014/main" id="{832DFBAC-52A4-4B6A-8EB2-9C5753207869}"/>
                </a:ext>
              </a:extLst>
            </p:cNvPr>
            <p:cNvSpPr>
              <a:spLocks/>
            </p:cNvSpPr>
            <p:nvPr/>
          </p:nvSpPr>
          <p:spPr bwMode="gray">
            <a:xfrm>
              <a:off x="7310432" y="2352447"/>
              <a:ext cx="92462" cy="146061"/>
            </a:xfrm>
            <a:custGeom>
              <a:avLst/>
              <a:gdLst>
                <a:gd name="T0" fmla="*/ 19 w 136"/>
                <a:gd name="T1" fmla="*/ 9 h 228"/>
                <a:gd name="T2" fmla="*/ 62 w 136"/>
                <a:gd name="T3" fmla="*/ 29 h 228"/>
                <a:gd name="T4" fmla="*/ 91 w 136"/>
                <a:gd name="T5" fmla="*/ 65 h 228"/>
                <a:gd name="T6" fmla="*/ 87 w 136"/>
                <a:gd name="T7" fmla="*/ 86 h 228"/>
                <a:gd name="T8" fmla="*/ 104 w 136"/>
                <a:gd name="T9" fmla="*/ 82 h 228"/>
                <a:gd name="T10" fmla="*/ 105 w 136"/>
                <a:gd name="T11" fmla="*/ 120 h 228"/>
                <a:gd name="T12" fmla="*/ 105 w 136"/>
                <a:gd name="T13" fmla="*/ 190 h 228"/>
                <a:gd name="T14" fmla="*/ 19 w 136"/>
                <a:gd name="T15" fmla="*/ 194 h 228"/>
                <a:gd name="T16" fmla="*/ 10 w 136"/>
                <a:gd name="T17" fmla="*/ 99 h 228"/>
                <a:gd name="T18" fmla="*/ 25 w 136"/>
                <a:gd name="T19" fmla="*/ 59 h 228"/>
                <a:gd name="T20" fmla="*/ 5 w 136"/>
                <a:gd name="T21" fmla="*/ 32 h 228"/>
                <a:gd name="T22" fmla="*/ 18 w 136"/>
                <a:gd name="T23" fmla="*/ 32 h 228"/>
                <a:gd name="T24" fmla="*/ 19 w 136"/>
                <a:gd name="T25" fmla="*/ 9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6" h="228">
                  <a:moveTo>
                    <a:pt x="19" y="9"/>
                  </a:moveTo>
                  <a:cubicBezTo>
                    <a:pt x="35" y="0"/>
                    <a:pt x="46" y="7"/>
                    <a:pt x="62" y="29"/>
                  </a:cubicBezTo>
                  <a:cubicBezTo>
                    <a:pt x="78" y="50"/>
                    <a:pt x="91" y="65"/>
                    <a:pt x="91" y="65"/>
                  </a:cubicBezTo>
                  <a:cubicBezTo>
                    <a:pt x="87" y="86"/>
                    <a:pt x="87" y="86"/>
                    <a:pt x="87" y="86"/>
                  </a:cubicBezTo>
                  <a:cubicBezTo>
                    <a:pt x="104" y="82"/>
                    <a:pt x="104" y="82"/>
                    <a:pt x="104" y="82"/>
                  </a:cubicBezTo>
                  <a:cubicBezTo>
                    <a:pt x="105" y="120"/>
                    <a:pt x="105" y="120"/>
                    <a:pt x="105" y="120"/>
                  </a:cubicBezTo>
                  <a:cubicBezTo>
                    <a:pt x="105" y="120"/>
                    <a:pt x="136" y="176"/>
                    <a:pt x="105" y="190"/>
                  </a:cubicBezTo>
                  <a:cubicBezTo>
                    <a:pt x="75" y="204"/>
                    <a:pt x="37" y="228"/>
                    <a:pt x="19" y="194"/>
                  </a:cubicBezTo>
                  <a:cubicBezTo>
                    <a:pt x="1" y="160"/>
                    <a:pt x="0" y="106"/>
                    <a:pt x="10" y="99"/>
                  </a:cubicBezTo>
                  <a:cubicBezTo>
                    <a:pt x="21" y="91"/>
                    <a:pt x="25" y="59"/>
                    <a:pt x="25" y="59"/>
                  </a:cubicBezTo>
                  <a:cubicBezTo>
                    <a:pt x="5" y="32"/>
                    <a:pt x="5" y="32"/>
                    <a:pt x="5" y="32"/>
                  </a:cubicBezTo>
                  <a:cubicBezTo>
                    <a:pt x="18" y="32"/>
                    <a:pt x="18" y="32"/>
                    <a:pt x="18" y="32"/>
                  </a:cubicBezTo>
                  <a:lnTo>
                    <a:pt x="19" y="9"/>
                  </a:ln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417" name="Freeform 208">
              <a:extLst>
                <a:ext uri="{FF2B5EF4-FFF2-40B4-BE49-F238E27FC236}">
                  <a16:creationId xmlns:a16="http://schemas.microsoft.com/office/drawing/2014/main" id="{DA39CDFC-1706-4AD1-8899-22A241440634}"/>
                </a:ext>
              </a:extLst>
            </p:cNvPr>
            <p:cNvSpPr>
              <a:spLocks noEditPoints="1"/>
            </p:cNvSpPr>
            <p:nvPr/>
          </p:nvSpPr>
          <p:spPr bwMode="gray">
            <a:xfrm>
              <a:off x="8510430" y="2043222"/>
              <a:ext cx="330510" cy="513656"/>
            </a:xfrm>
            <a:custGeom>
              <a:avLst/>
              <a:gdLst>
                <a:gd name="T0" fmla="*/ 475 w 487"/>
                <a:gd name="T1" fmla="*/ 801 h 801"/>
                <a:gd name="T2" fmla="*/ 476 w 487"/>
                <a:gd name="T3" fmla="*/ 763 h 801"/>
                <a:gd name="T4" fmla="*/ 395 w 487"/>
                <a:gd name="T5" fmla="*/ 758 h 801"/>
                <a:gd name="T6" fmla="*/ 187 w 487"/>
                <a:gd name="T7" fmla="*/ 700 h 801"/>
                <a:gd name="T8" fmla="*/ 175 w 487"/>
                <a:gd name="T9" fmla="*/ 693 h 801"/>
                <a:gd name="T10" fmla="*/ 346 w 487"/>
                <a:gd name="T11" fmla="*/ 393 h 801"/>
                <a:gd name="T12" fmla="*/ 408 w 487"/>
                <a:gd name="T13" fmla="*/ 418 h 801"/>
                <a:gd name="T14" fmla="*/ 321 w 487"/>
                <a:gd name="T15" fmla="*/ 337 h 801"/>
                <a:gd name="T16" fmla="*/ 325 w 487"/>
                <a:gd name="T17" fmla="*/ 499 h 801"/>
                <a:gd name="T18" fmla="*/ 301 w 487"/>
                <a:gd name="T19" fmla="*/ 414 h 801"/>
                <a:gd name="T20" fmla="*/ 358 w 487"/>
                <a:gd name="T21" fmla="*/ 492 h 801"/>
                <a:gd name="T22" fmla="*/ 337 w 487"/>
                <a:gd name="T23" fmla="*/ 494 h 801"/>
                <a:gd name="T24" fmla="*/ 360 w 487"/>
                <a:gd name="T25" fmla="*/ 416 h 801"/>
                <a:gd name="T26" fmla="*/ 352 w 487"/>
                <a:gd name="T27" fmla="*/ 436 h 801"/>
                <a:gd name="T28" fmla="*/ 391 w 487"/>
                <a:gd name="T29" fmla="*/ 441 h 801"/>
                <a:gd name="T30" fmla="*/ 103 w 487"/>
                <a:gd name="T31" fmla="*/ 405 h 801"/>
                <a:gd name="T32" fmla="*/ 79 w 487"/>
                <a:gd name="T33" fmla="*/ 472 h 801"/>
                <a:gd name="T34" fmla="*/ 55 w 487"/>
                <a:gd name="T35" fmla="*/ 514 h 801"/>
                <a:gd name="T36" fmla="*/ 31 w 487"/>
                <a:gd name="T37" fmla="*/ 557 h 801"/>
                <a:gd name="T38" fmla="*/ 71 w 487"/>
                <a:gd name="T39" fmla="*/ 503 h 801"/>
                <a:gd name="T40" fmla="*/ 117 w 487"/>
                <a:gd name="T41" fmla="*/ 403 h 801"/>
                <a:gd name="T42" fmla="*/ 259 w 487"/>
                <a:gd name="T43" fmla="*/ 679 h 801"/>
                <a:gd name="T44" fmla="*/ 451 w 487"/>
                <a:gd name="T45" fmla="*/ 560 h 801"/>
                <a:gd name="T46" fmla="*/ 413 w 487"/>
                <a:gd name="T47" fmla="*/ 526 h 801"/>
                <a:gd name="T48" fmla="*/ 362 w 487"/>
                <a:gd name="T49" fmla="*/ 552 h 801"/>
                <a:gd name="T50" fmla="*/ 307 w 487"/>
                <a:gd name="T51" fmla="*/ 568 h 801"/>
                <a:gd name="T52" fmla="*/ 251 w 487"/>
                <a:gd name="T53" fmla="*/ 627 h 801"/>
                <a:gd name="T54" fmla="*/ 287 w 487"/>
                <a:gd name="T55" fmla="*/ 643 h 801"/>
                <a:gd name="T56" fmla="*/ 340 w 487"/>
                <a:gd name="T57" fmla="*/ 657 h 801"/>
                <a:gd name="T58" fmla="*/ 413 w 487"/>
                <a:gd name="T59" fmla="*/ 701 h 801"/>
                <a:gd name="T60" fmla="*/ 430 w 487"/>
                <a:gd name="T61" fmla="*/ 693 h 801"/>
                <a:gd name="T62" fmla="*/ 444 w 487"/>
                <a:gd name="T63" fmla="*/ 676 h 801"/>
                <a:gd name="T64" fmla="*/ 451 w 487"/>
                <a:gd name="T65" fmla="*/ 560 h 801"/>
                <a:gd name="T66" fmla="*/ 286 w 487"/>
                <a:gd name="T67" fmla="*/ 309 h 801"/>
                <a:gd name="T68" fmla="*/ 259 w 487"/>
                <a:gd name="T69" fmla="*/ 240 h 801"/>
                <a:gd name="T70" fmla="*/ 184 w 487"/>
                <a:gd name="T71" fmla="*/ 201 h 801"/>
                <a:gd name="T72" fmla="*/ 193 w 487"/>
                <a:gd name="T73" fmla="*/ 93 h 801"/>
                <a:gd name="T74" fmla="*/ 184 w 487"/>
                <a:gd name="T75" fmla="*/ 16 h 801"/>
                <a:gd name="T76" fmla="*/ 126 w 487"/>
                <a:gd name="T77" fmla="*/ 10 h 801"/>
                <a:gd name="T78" fmla="*/ 100 w 487"/>
                <a:gd name="T79" fmla="*/ 53 h 801"/>
                <a:gd name="T80" fmla="*/ 112 w 487"/>
                <a:gd name="T81" fmla="*/ 109 h 801"/>
                <a:gd name="T82" fmla="*/ 92 w 487"/>
                <a:gd name="T83" fmla="*/ 152 h 801"/>
                <a:gd name="T84" fmla="*/ 135 w 487"/>
                <a:gd name="T85" fmla="*/ 233 h 801"/>
                <a:gd name="T86" fmla="*/ 219 w 487"/>
                <a:gd name="T87" fmla="*/ 274 h 801"/>
                <a:gd name="T88" fmla="*/ 146 w 487"/>
                <a:gd name="T89" fmla="*/ 285 h 801"/>
                <a:gd name="T90" fmla="*/ 197 w 487"/>
                <a:gd name="T91" fmla="*/ 339 h 801"/>
                <a:gd name="T92" fmla="*/ 232 w 487"/>
                <a:gd name="T93" fmla="*/ 434 h 801"/>
                <a:gd name="T94" fmla="*/ 271 w 487"/>
                <a:gd name="T95" fmla="*/ 463 h 801"/>
                <a:gd name="T96" fmla="*/ 273 w 487"/>
                <a:gd name="T97" fmla="*/ 535 h 801"/>
                <a:gd name="T98" fmla="*/ 295 w 487"/>
                <a:gd name="T99" fmla="*/ 431 h 801"/>
                <a:gd name="T100" fmla="*/ 249 w 487"/>
                <a:gd name="T101" fmla="*/ 378 h 801"/>
                <a:gd name="T102" fmla="*/ 232 w 487"/>
                <a:gd name="T103" fmla="*/ 434 h 8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87" h="801">
                  <a:moveTo>
                    <a:pt x="476" y="763"/>
                  </a:moveTo>
                  <a:cubicBezTo>
                    <a:pt x="472" y="782"/>
                    <a:pt x="472" y="782"/>
                    <a:pt x="472" y="782"/>
                  </a:cubicBezTo>
                  <a:cubicBezTo>
                    <a:pt x="475" y="801"/>
                    <a:pt x="475" y="801"/>
                    <a:pt x="475" y="801"/>
                  </a:cubicBezTo>
                  <a:cubicBezTo>
                    <a:pt x="487" y="791"/>
                    <a:pt x="487" y="791"/>
                    <a:pt x="487" y="791"/>
                  </a:cubicBezTo>
                  <a:cubicBezTo>
                    <a:pt x="487" y="763"/>
                    <a:pt x="487" y="763"/>
                    <a:pt x="487" y="763"/>
                  </a:cubicBezTo>
                  <a:lnTo>
                    <a:pt x="476" y="763"/>
                  </a:lnTo>
                  <a:close/>
                  <a:moveTo>
                    <a:pt x="399" y="785"/>
                  </a:moveTo>
                  <a:cubicBezTo>
                    <a:pt x="410" y="763"/>
                    <a:pt x="410" y="763"/>
                    <a:pt x="410" y="763"/>
                  </a:cubicBezTo>
                  <a:cubicBezTo>
                    <a:pt x="395" y="758"/>
                    <a:pt x="395" y="758"/>
                    <a:pt x="395" y="758"/>
                  </a:cubicBezTo>
                  <a:lnTo>
                    <a:pt x="399" y="785"/>
                  </a:lnTo>
                  <a:close/>
                  <a:moveTo>
                    <a:pt x="175" y="693"/>
                  </a:moveTo>
                  <a:cubicBezTo>
                    <a:pt x="187" y="700"/>
                    <a:pt x="187" y="700"/>
                    <a:pt x="187" y="700"/>
                  </a:cubicBezTo>
                  <a:cubicBezTo>
                    <a:pt x="199" y="682"/>
                    <a:pt x="199" y="682"/>
                    <a:pt x="199" y="682"/>
                  </a:cubicBezTo>
                  <a:cubicBezTo>
                    <a:pt x="182" y="672"/>
                    <a:pt x="182" y="672"/>
                    <a:pt x="182" y="672"/>
                  </a:cubicBezTo>
                  <a:lnTo>
                    <a:pt x="175" y="693"/>
                  </a:lnTo>
                  <a:close/>
                  <a:moveTo>
                    <a:pt x="345" y="372"/>
                  </a:moveTo>
                  <a:cubicBezTo>
                    <a:pt x="370" y="385"/>
                    <a:pt x="370" y="385"/>
                    <a:pt x="370" y="385"/>
                  </a:cubicBezTo>
                  <a:cubicBezTo>
                    <a:pt x="370" y="401"/>
                    <a:pt x="346" y="393"/>
                    <a:pt x="346" y="393"/>
                  </a:cubicBezTo>
                  <a:cubicBezTo>
                    <a:pt x="389" y="427"/>
                    <a:pt x="389" y="427"/>
                    <a:pt x="389" y="427"/>
                  </a:cubicBezTo>
                  <a:cubicBezTo>
                    <a:pt x="391" y="413"/>
                    <a:pt x="391" y="413"/>
                    <a:pt x="391" y="413"/>
                  </a:cubicBezTo>
                  <a:cubicBezTo>
                    <a:pt x="408" y="418"/>
                    <a:pt x="408" y="418"/>
                    <a:pt x="408" y="418"/>
                  </a:cubicBezTo>
                  <a:cubicBezTo>
                    <a:pt x="394" y="395"/>
                    <a:pt x="394" y="395"/>
                    <a:pt x="394" y="395"/>
                  </a:cubicBezTo>
                  <a:cubicBezTo>
                    <a:pt x="394" y="395"/>
                    <a:pt x="391" y="370"/>
                    <a:pt x="379" y="357"/>
                  </a:cubicBezTo>
                  <a:cubicBezTo>
                    <a:pt x="367" y="344"/>
                    <a:pt x="328" y="321"/>
                    <a:pt x="321" y="337"/>
                  </a:cubicBezTo>
                  <a:cubicBezTo>
                    <a:pt x="312" y="357"/>
                    <a:pt x="345" y="372"/>
                    <a:pt x="345" y="372"/>
                  </a:cubicBezTo>
                  <a:close/>
                  <a:moveTo>
                    <a:pt x="318" y="445"/>
                  </a:moveTo>
                  <a:cubicBezTo>
                    <a:pt x="325" y="499"/>
                    <a:pt x="325" y="499"/>
                    <a:pt x="325" y="499"/>
                  </a:cubicBezTo>
                  <a:cubicBezTo>
                    <a:pt x="333" y="449"/>
                    <a:pt x="333" y="449"/>
                    <a:pt x="333" y="449"/>
                  </a:cubicBezTo>
                  <a:cubicBezTo>
                    <a:pt x="316" y="414"/>
                    <a:pt x="316" y="414"/>
                    <a:pt x="316" y="414"/>
                  </a:cubicBezTo>
                  <a:cubicBezTo>
                    <a:pt x="301" y="414"/>
                    <a:pt x="301" y="414"/>
                    <a:pt x="301" y="414"/>
                  </a:cubicBezTo>
                  <a:lnTo>
                    <a:pt x="318" y="445"/>
                  </a:lnTo>
                  <a:close/>
                  <a:moveTo>
                    <a:pt x="337" y="494"/>
                  </a:moveTo>
                  <a:cubicBezTo>
                    <a:pt x="358" y="492"/>
                    <a:pt x="358" y="492"/>
                    <a:pt x="358" y="492"/>
                  </a:cubicBezTo>
                  <a:cubicBezTo>
                    <a:pt x="361" y="475"/>
                    <a:pt x="361" y="475"/>
                    <a:pt x="361" y="475"/>
                  </a:cubicBezTo>
                  <a:cubicBezTo>
                    <a:pt x="343" y="469"/>
                    <a:pt x="343" y="469"/>
                    <a:pt x="343" y="469"/>
                  </a:cubicBezTo>
                  <a:lnTo>
                    <a:pt x="337" y="494"/>
                  </a:lnTo>
                  <a:close/>
                  <a:moveTo>
                    <a:pt x="391" y="441"/>
                  </a:moveTo>
                  <a:cubicBezTo>
                    <a:pt x="372" y="434"/>
                    <a:pt x="372" y="434"/>
                    <a:pt x="372" y="434"/>
                  </a:cubicBezTo>
                  <a:cubicBezTo>
                    <a:pt x="372" y="434"/>
                    <a:pt x="364" y="424"/>
                    <a:pt x="360" y="416"/>
                  </a:cubicBezTo>
                  <a:cubicBezTo>
                    <a:pt x="357" y="408"/>
                    <a:pt x="333" y="413"/>
                    <a:pt x="333" y="413"/>
                  </a:cubicBezTo>
                  <a:cubicBezTo>
                    <a:pt x="336" y="442"/>
                    <a:pt x="336" y="442"/>
                    <a:pt x="336" y="442"/>
                  </a:cubicBezTo>
                  <a:cubicBezTo>
                    <a:pt x="352" y="436"/>
                    <a:pt x="352" y="436"/>
                    <a:pt x="352" y="436"/>
                  </a:cubicBezTo>
                  <a:cubicBezTo>
                    <a:pt x="358" y="452"/>
                    <a:pt x="358" y="452"/>
                    <a:pt x="358" y="452"/>
                  </a:cubicBezTo>
                  <a:cubicBezTo>
                    <a:pt x="391" y="477"/>
                    <a:pt x="391" y="477"/>
                    <a:pt x="391" y="477"/>
                  </a:cubicBezTo>
                  <a:lnTo>
                    <a:pt x="391" y="441"/>
                  </a:lnTo>
                  <a:close/>
                  <a:moveTo>
                    <a:pt x="117" y="403"/>
                  </a:moveTo>
                  <a:cubicBezTo>
                    <a:pt x="107" y="388"/>
                    <a:pt x="107" y="388"/>
                    <a:pt x="107" y="388"/>
                  </a:cubicBezTo>
                  <a:cubicBezTo>
                    <a:pt x="103" y="405"/>
                    <a:pt x="103" y="405"/>
                    <a:pt x="103" y="405"/>
                  </a:cubicBezTo>
                  <a:cubicBezTo>
                    <a:pt x="103" y="405"/>
                    <a:pt x="84" y="421"/>
                    <a:pt x="91" y="436"/>
                  </a:cubicBezTo>
                  <a:cubicBezTo>
                    <a:pt x="98" y="450"/>
                    <a:pt x="115" y="450"/>
                    <a:pt x="105" y="457"/>
                  </a:cubicBezTo>
                  <a:cubicBezTo>
                    <a:pt x="95" y="463"/>
                    <a:pt x="79" y="472"/>
                    <a:pt x="79" y="472"/>
                  </a:cubicBezTo>
                  <a:cubicBezTo>
                    <a:pt x="72" y="490"/>
                    <a:pt x="72" y="490"/>
                    <a:pt x="72" y="490"/>
                  </a:cubicBezTo>
                  <a:cubicBezTo>
                    <a:pt x="57" y="499"/>
                    <a:pt x="57" y="499"/>
                    <a:pt x="57" y="499"/>
                  </a:cubicBezTo>
                  <a:cubicBezTo>
                    <a:pt x="57" y="499"/>
                    <a:pt x="62" y="508"/>
                    <a:pt x="55" y="514"/>
                  </a:cubicBezTo>
                  <a:cubicBezTo>
                    <a:pt x="48" y="521"/>
                    <a:pt x="23" y="532"/>
                    <a:pt x="23" y="532"/>
                  </a:cubicBezTo>
                  <a:cubicBezTo>
                    <a:pt x="23" y="532"/>
                    <a:pt x="0" y="568"/>
                    <a:pt x="11" y="576"/>
                  </a:cubicBezTo>
                  <a:cubicBezTo>
                    <a:pt x="31" y="557"/>
                    <a:pt x="31" y="557"/>
                    <a:pt x="31" y="557"/>
                  </a:cubicBezTo>
                  <a:cubicBezTo>
                    <a:pt x="31" y="557"/>
                    <a:pt x="28" y="542"/>
                    <a:pt x="36" y="542"/>
                  </a:cubicBezTo>
                  <a:cubicBezTo>
                    <a:pt x="45" y="542"/>
                    <a:pt x="55" y="539"/>
                    <a:pt x="62" y="534"/>
                  </a:cubicBezTo>
                  <a:cubicBezTo>
                    <a:pt x="69" y="529"/>
                    <a:pt x="62" y="513"/>
                    <a:pt x="71" y="503"/>
                  </a:cubicBezTo>
                  <a:cubicBezTo>
                    <a:pt x="79" y="493"/>
                    <a:pt x="127" y="478"/>
                    <a:pt x="127" y="467"/>
                  </a:cubicBezTo>
                  <a:cubicBezTo>
                    <a:pt x="127" y="455"/>
                    <a:pt x="117" y="444"/>
                    <a:pt x="115" y="434"/>
                  </a:cubicBezTo>
                  <a:cubicBezTo>
                    <a:pt x="114" y="424"/>
                    <a:pt x="117" y="403"/>
                    <a:pt x="117" y="403"/>
                  </a:cubicBezTo>
                  <a:close/>
                  <a:moveTo>
                    <a:pt x="232" y="684"/>
                  </a:moveTo>
                  <a:cubicBezTo>
                    <a:pt x="257" y="706"/>
                    <a:pt x="257" y="706"/>
                    <a:pt x="257" y="706"/>
                  </a:cubicBezTo>
                  <a:cubicBezTo>
                    <a:pt x="259" y="679"/>
                    <a:pt x="259" y="679"/>
                    <a:pt x="259" y="679"/>
                  </a:cubicBezTo>
                  <a:cubicBezTo>
                    <a:pt x="244" y="668"/>
                    <a:pt x="244" y="668"/>
                    <a:pt x="244" y="668"/>
                  </a:cubicBezTo>
                  <a:lnTo>
                    <a:pt x="232" y="684"/>
                  </a:lnTo>
                  <a:close/>
                  <a:moveTo>
                    <a:pt x="451" y="560"/>
                  </a:moveTo>
                  <a:cubicBezTo>
                    <a:pt x="451" y="560"/>
                    <a:pt x="451" y="529"/>
                    <a:pt x="441" y="524"/>
                  </a:cubicBezTo>
                  <a:cubicBezTo>
                    <a:pt x="430" y="519"/>
                    <a:pt x="405" y="483"/>
                    <a:pt x="396" y="491"/>
                  </a:cubicBezTo>
                  <a:cubicBezTo>
                    <a:pt x="388" y="499"/>
                    <a:pt x="420" y="522"/>
                    <a:pt x="413" y="526"/>
                  </a:cubicBezTo>
                  <a:cubicBezTo>
                    <a:pt x="406" y="529"/>
                    <a:pt x="376" y="532"/>
                    <a:pt x="376" y="532"/>
                  </a:cubicBezTo>
                  <a:cubicBezTo>
                    <a:pt x="376" y="553"/>
                    <a:pt x="376" y="553"/>
                    <a:pt x="376" y="553"/>
                  </a:cubicBezTo>
                  <a:cubicBezTo>
                    <a:pt x="362" y="552"/>
                    <a:pt x="362" y="552"/>
                    <a:pt x="362" y="552"/>
                  </a:cubicBezTo>
                  <a:cubicBezTo>
                    <a:pt x="358" y="567"/>
                    <a:pt x="358" y="567"/>
                    <a:pt x="358" y="567"/>
                  </a:cubicBezTo>
                  <a:cubicBezTo>
                    <a:pt x="341" y="576"/>
                    <a:pt x="341" y="576"/>
                    <a:pt x="341" y="576"/>
                  </a:cubicBezTo>
                  <a:cubicBezTo>
                    <a:pt x="341" y="576"/>
                    <a:pt x="316" y="560"/>
                    <a:pt x="307" y="568"/>
                  </a:cubicBezTo>
                  <a:cubicBezTo>
                    <a:pt x="299" y="576"/>
                    <a:pt x="283" y="604"/>
                    <a:pt x="283" y="604"/>
                  </a:cubicBezTo>
                  <a:cubicBezTo>
                    <a:pt x="283" y="604"/>
                    <a:pt x="273" y="585"/>
                    <a:pt x="268" y="594"/>
                  </a:cubicBezTo>
                  <a:cubicBezTo>
                    <a:pt x="263" y="604"/>
                    <a:pt x="251" y="627"/>
                    <a:pt x="251" y="627"/>
                  </a:cubicBezTo>
                  <a:cubicBezTo>
                    <a:pt x="264" y="640"/>
                    <a:pt x="264" y="640"/>
                    <a:pt x="264" y="640"/>
                  </a:cubicBezTo>
                  <a:cubicBezTo>
                    <a:pt x="278" y="627"/>
                    <a:pt x="278" y="627"/>
                    <a:pt x="278" y="627"/>
                  </a:cubicBezTo>
                  <a:cubicBezTo>
                    <a:pt x="287" y="643"/>
                    <a:pt x="287" y="643"/>
                    <a:pt x="287" y="643"/>
                  </a:cubicBezTo>
                  <a:cubicBezTo>
                    <a:pt x="287" y="643"/>
                    <a:pt x="314" y="621"/>
                    <a:pt x="321" y="621"/>
                  </a:cubicBezTo>
                  <a:cubicBezTo>
                    <a:pt x="328" y="621"/>
                    <a:pt x="350" y="642"/>
                    <a:pt x="350" y="642"/>
                  </a:cubicBezTo>
                  <a:cubicBezTo>
                    <a:pt x="350" y="642"/>
                    <a:pt x="340" y="648"/>
                    <a:pt x="340" y="657"/>
                  </a:cubicBezTo>
                  <a:cubicBezTo>
                    <a:pt x="340" y="665"/>
                    <a:pt x="358" y="701"/>
                    <a:pt x="367" y="704"/>
                  </a:cubicBezTo>
                  <a:cubicBezTo>
                    <a:pt x="376" y="707"/>
                    <a:pt x="400" y="714"/>
                    <a:pt x="400" y="714"/>
                  </a:cubicBezTo>
                  <a:cubicBezTo>
                    <a:pt x="413" y="701"/>
                    <a:pt x="413" y="701"/>
                    <a:pt x="413" y="701"/>
                  </a:cubicBezTo>
                  <a:cubicBezTo>
                    <a:pt x="415" y="717"/>
                    <a:pt x="415" y="717"/>
                    <a:pt x="415" y="717"/>
                  </a:cubicBezTo>
                  <a:cubicBezTo>
                    <a:pt x="429" y="719"/>
                    <a:pt x="429" y="719"/>
                    <a:pt x="429" y="719"/>
                  </a:cubicBezTo>
                  <a:cubicBezTo>
                    <a:pt x="430" y="693"/>
                    <a:pt x="430" y="693"/>
                    <a:pt x="430" y="693"/>
                  </a:cubicBezTo>
                  <a:cubicBezTo>
                    <a:pt x="430" y="693"/>
                    <a:pt x="410" y="671"/>
                    <a:pt x="415" y="658"/>
                  </a:cubicBezTo>
                  <a:cubicBezTo>
                    <a:pt x="420" y="645"/>
                    <a:pt x="427" y="642"/>
                    <a:pt x="427" y="642"/>
                  </a:cubicBezTo>
                  <a:cubicBezTo>
                    <a:pt x="444" y="676"/>
                    <a:pt x="444" y="676"/>
                    <a:pt x="444" y="676"/>
                  </a:cubicBezTo>
                  <a:cubicBezTo>
                    <a:pt x="444" y="676"/>
                    <a:pt x="463" y="650"/>
                    <a:pt x="463" y="634"/>
                  </a:cubicBezTo>
                  <a:cubicBezTo>
                    <a:pt x="463" y="617"/>
                    <a:pt x="451" y="599"/>
                    <a:pt x="451" y="599"/>
                  </a:cubicBezTo>
                  <a:lnTo>
                    <a:pt x="451" y="560"/>
                  </a:lnTo>
                  <a:close/>
                  <a:moveTo>
                    <a:pt x="230" y="258"/>
                  </a:moveTo>
                  <a:cubicBezTo>
                    <a:pt x="248" y="256"/>
                    <a:pt x="255" y="265"/>
                    <a:pt x="259" y="279"/>
                  </a:cubicBezTo>
                  <a:cubicBezTo>
                    <a:pt x="262" y="291"/>
                    <a:pt x="272" y="303"/>
                    <a:pt x="286" y="309"/>
                  </a:cubicBezTo>
                  <a:cubicBezTo>
                    <a:pt x="311" y="322"/>
                    <a:pt x="313" y="261"/>
                    <a:pt x="282" y="264"/>
                  </a:cubicBezTo>
                  <a:cubicBezTo>
                    <a:pt x="281" y="258"/>
                    <a:pt x="286" y="256"/>
                    <a:pt x="288" y="251"/>
                  </a:cubicBezTo>
                  <a:cubicBezTo>
                    <a:pt x="276" y="250"/>
                    <a:pt x="272" y="236"/>
                    <a:pt x="259" y="240"/>
                  </a:cubicBezTo>
                  <a:cubicBezTo>
                    <a:pt x="251" y="257"/>
                    <a:pt x="236" y="236"/>
                    <a:pt x="224" y="236"/>
                  </a:cubicBezTo>
                  <a:cubicBezTo>
                    <a:pt x="208" y="235"/>
                    <a:pt x="201" y="259"/>
                    <a:pt x="188" y="239"/>
                  </a:cubicBezTo>
                  <a:cubicBezTo>
                    <a:pt x="181" y="228"/>
                    <a:pt x="184" y="213"/>
                    <a:pt x="184" y="201"/>
                  </a:cubicBezTo>
                  <a:cubicBezTo>
                    <a:pt x="184" y="189"/>
                    <a:pt x="180" y="170"/>
                    <a:pt x="185" y="159"/>
                  </a:cubicBezTo>
                  <a:cubicBezTo>
                    <a:pt x="192" y="143"/>
                    <a:pt x="203" y="148"/>
                    <a:pt x="202" y="128"/>
                  </a:cubicBezTo>
                  <a:cubicBezTo>
                    <a:pt x="202" y="114"/>
                    <a:pt x="191" y="105"/>
                    <a:pt x="193" y="93"/>
                  </a:cubicBezTo>
                  <a:cubicBezTo>
                    <a:pt x="194" y="80"/>
                    <a:pt x="202" y="64"/>
                    <a:pt x="198" y="50"/>
                  </a:cubicBezTo>
                  <a:cubicBezTo>
                    <a:pt x="195" y="44"/>
                    <a:pt x="188" y="41"/>
                    <a:pt x="185" y="35"/>
                  </a:cubicBezTo>
                  <a:cubicBezTo>
                    <a:pt x="182" y="29"/>
                    <a:pt x="185" y="22"/>
                    <a:pt x="184" y="16"/>
                  </a:cubicBezTo>
                  <a:cubicBezTo>
                    <a:pt x="183" y="11"/>
                    <a:pt x="181" y="0"/>
                    <a:pt x="172" y="0"/>
                  </a:cubicBezTo>
                  <a:cubicBezTo>
                    <a:pt x="167" y="1"/>
                    <a:pt x="165" y="9"/>
                    <a:pt x="162" y="12"/>
                  </a:cubicBezTo>
                  <a:cubicBezTo>
                    <a:pt x="145" y="26"/>
                    <a:pt x="142" y="9"/>
                    <a:pt x="126" y="10"/>
                  </a:cubicBezTo>
                  <a:cubicBezTo>
                    <a:pt x="117" y="13"/>
                    <a:pt x="117" y="13"/>
                    <a:pt x="117" y="13"/>
                  </a:cubicBezTo>
                  <a:cubicBezTo>
                    <a:pt x="114" y="20"/>
                    <a:pt x="117" y="27"/>
                    <a:pt x="115" y="34"/>
                  </a:cubicBezTo>
                  <a:cubicBezTo>
                    <a:pt x="113" y="41"/>
                    <a:pt x="104" y="47"/>
                    <a:pt x="100" y="53"/>
                  </a:cubicBezTo>
                  <a:cubicBezTo>
                    <a:pt x="92" y="65"/>
                    <a:pt x="94" y="57"/>
                    <a:pt x="101" y="69"/>
                  </a:cubicBezTo>
                  <a:cubicBezTo>
                    <a:pt x="104" y="74"/>
                    <a:pt x="108" y="83"/>
                    <a:pt x="110" y="89"/>
                  </a:cubicBezTo>
                  <a:cubicBezTo>
                    <a:pt x="112" y="95"/>
                    <a:pt x="113" y="102"/>
                    <a:pt x="112" y="109"/>
                  </a:cubicBezTo>
                  <a:cubicBezTo>
                    <a:pt x="111" y="116"/>
                    <a:pt x="103" y="122"/>
                    <a:pt x="103" y="127"/>
                  </a:cubicBezTo>
                  <a:cubicBezTo>
                    <a:pt x="103" y="135"/>
                    <a:pt x="114" y="137"/>
                    <a:pt x="110" y="145"/>
                  </a:cubicBezTo>
                  <a:cubicBezTo>
                    <a:pt x="108" y="150"/>
                    <a:pt x="96" y="153"/>
                    <a:pt x="92" y="152"/>
                  </a:cubicBezTo>
                  <a:cubicBezTo>
                    <a:pt x="92" y="146"/>
                    <a:pt x="90" y="140"/>
                    <a:pt x="85" y="138"/>
                  </a:cubicBezTo>
                  <a:cubicBezTo>
                    <a:pt x="84" y="161"/>
                    <a:pt x="87" y="175"/>
                    <a:pt x="103" y="194"/>
                  </a:cubicBezTo>
                  <a:cubicBezTo>
                    <a:pt x="115" y="207"/>
                    <a:pt x="127" y="217"/>
                    <a:pt x="135" y="233"/>
                  </a:cubicBezTo>
                  <a:cubicBezTo>
                    <a:pt x="140" y="245"/>
                    <a:pt x="156" y="275"/>
                    <a:pt x="171" y="274"/>
                  </a:cubicBezTo>
                  <a:cubicBezTo>
                    <a:pt x="181" y="273"/>
                    <a:pt x="185" y="260"/>
                    <a:pt x="196" y="259"/>
                  </a:cubicBezTo>
                  <a:cubicBezTo>
                    <a:pt x="207" y="258"/>
                    <a:pt x="212" y="268"/>
                    <a:pt x="219" y="274"/>
                  </a:cubicBezTo>
                  <a:cubicBezTo>
                    <a:pt x="241" y="293"/>
                    <a:pt x="240" y="275"/>
                    <a:pt x="230" y="258"/>
                  </a:cubicBezTo>
                  <a:close/>
                  <a:moveTo>
                    <a:pt x="182" y="288"/>
                  </a:moveTo>
                  <a:cubicBezTo>
                    <a:pt x="175" y="282"/>
                    <a:pt x="146" y="285"/>
                    <a:pt x="146" y="285"/>
                  </a:cubicBezTo>
                  <a:cubicBezTo>
                    <a:pt x="167" y="313"/>
                    <a:pt x="167" y="313"/>
                    <a:pt x="167" y="313"/>
                  </a:cubicBezTo>
                  <a:cubicBezTo>
                    <a:pt x="180" y="357"/>
                    <a:pt x="180" y="357"/>
                    <a:pt x="180" y="357"/>
                  </a:cubicBezTo>
                  <a:cubicBezTo>
                    <a:pt x="180" y="357"/>
                    <a:pt x="192" y="347"/>
                    <a:pt x="197" y="339"/>
                  </a:cubicBezTo>
                  <a:cubicBezTo>
                    <a:pt x="203" y="331"/>
                    <a:pt x="191" y="315"/>
                    <a:pt x="191" y="315"/>
                  </a:cubicBezTo>
                  <a:cubicBezTo>
                    <a:pt x="191" y="315"/>
                    <a:pt x="189" y="295"/>
                    <a:pt x="182" y="288"/>
                  </a:cubicBezTo>
                  <a:close/>
                  <a:moveTo>
                    <a:pt x="232" y="434"/>
                  </a:moveTo>
                  <a:cubicBezTo>
                    <a:pt x="237" y="444"/>
                    <a:pt x="245" y="454"/>
                    <a:pt x="245" y="454"/>
                  </a:cubicBezTo>
                  <a:cubicBezTo>
                    <a:pt x="245" y="454"/>
                    <a:pt x="261" y="437"/>
                    <a:pt x="266" y="441"/>
                  </a:cubicBezTo>
                  <a:cubicBezTo>
                    <a:pt x="271" y="444"/>
                    <a:pt x="271" y="463"/>
                    <a:pt x="271" y="463"/>
                  </a:cubicBezTo>
                  <a:cubicBezTo>
                    <a:pt x="280" y="472"/>
                    <a:pt x="280" y="472"/>
                    <a:pt x="280" y="472"/>
                  </a:cubicBezTo>
                  <a:cubicBezTo>
                    <a:pt x="280" y="472"/>
                    <a:pt x="257" y="506"/>
                    <a:pt x="257" y="513"/>
                  </a:cubicBezTo>
                  <a:cubicBezTo>
                    <a:pt x="257" y="519"/>
                    <a:pt x="257" y="539"/>
                    <a:pt x="273" y="535"/>
                  </a:cubicBezTo>
                  <a:cubicBezTo>
                    <a:pt x="288" y="532"/>
                    <a:pt x="311" y="527"/>
                    <a:pt x="302" y="513"/>
                  </a:cubicBezTo>
                  <a:cubicBezTo>
                    <a:pt x="293" y="498"/>
                    <a:pt x="292" y="486"/>
                    <a:pt x="300" y="463"/>
                  </a:cubicBezTo>
                  <a:cubicBezTo>
                    <a:pt x="309" y="441"/>
                    <a:pt x="302" y="424"/>
                    <a:pt x="295" y="431"/>
                  </a:cubicBezTo>
                  <a:cubicBezTo>
                    <a:pt x="288" y="437"/>
                    <a:pt x="275" y="445"/>
                    <a:pt x="275" y="437"/>
                  </a:cubicBezTo>
                  <a:cubicBezTo>
                    <a:pt x="275" y="429"/>
                    <a:pt x="295" y="398"/>
                    <a:pt x="283" y="395"/>
                  </a:cubicBezTo>
                  <a:cubicBezTo>
                    <a:pt x="271" y="391"/>
                    <a:pt x="249" y="378"/>
                    <a:pt x="249" y="378"/>
                  </a:cubicBezTo>
                  <a:cubicBezTo>
                    <a:pt x="249" y="378"/>
                    <a:pt x="228" y="373"/>
                    <a:pt x="227" y="380"/>
                  </a:cubicBezTo>
                  <a:cubicBezTo>
                    <a:pt x="225" y="387"/>
                    <a:pt x="239" y="398"/>
                    <a:pt x="239" y="398"/>
                  </a:cubicBezTo>
                  <a:cubicBezTo>
                    <a:pt x="239" y="398"/>
                    <a:pt x="227" y="424"/>
                    <a:pt x="232" y="434"/>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418" name="Freeform 209">
              <a:extLst>
                <a:ext uri="{FF2B5EF4-FFF2-40B4-BE49-F238E27FC236}">
                  <a16:creationId xmlns:a16="http://schemas.microsoft.com/office/drawing/2014/main" id="{01E1B8FF-1A26-478C-8189-E9907BDDA3FC}"/>
                </a:ext>
              </a:extLst>
            </p:cNvPr>
            <p:cNvSpPr>
              <a:spLocks/>
            </p:cNvSpPr>
            <p:nvPr/>
          </p:nvSpPr>
          <p:spPr bwMode="gray">
            <a:xfrm>
              <a:off x="8528808" y="1815714"/>
              <a:ext cx="57718" cy="115926"/>
            </a:xfrm>
            <a:custGeom>
              <a:avLst/>
              <a:gdLst>
                <a:gd name="T0" fmla="*/ 62 w 85"/>
                <a:gd name="T1" fmla="*/ 181 h 181"/>
                <a:gd name="T2" fmla="*/ 62 w 85"/>
                <a:gd name="T3" fmla="*/ 148 h 181"/>
                <a:gd name="T4" fmla="*/ 75 w 85"/>
                <a:gd name="T5" fmla="*/ 118 h 181"/>
                <a:gd name="T6" fmla="*/ 75 w 85"/>
                <a:gd name="T7" fmla="*/ 68 h 181"/>
                <a:gd name="T8" fmla="*/ 84 w 85"/>
                <a:gd name="T9" fmla="*/ 43 h 181"/>
                <a:gd name="T10" fmla="*/ 85 w 85"/>
                <a:gd name="T11" fmla="*/ 17 h 181"/>
                <a:gd name="T12" fmla="*/ 56 w 85"/>
                <a:gd name="T13" fmla="*/ 0 h 181"/>
                <a:gd name="T14" fmla="*/ 39 w 85"/>
                <a:gd name="T15" fmla="*/ 20 h 181"/>
                <a:gd name="T16" fmla="*/ 8 w 85"/>
                <a:gd name="T17" fmla="*/ 114 h 181"/>
                <a:gd name="T18" fmla="*/ 34 w 85"/>
                <a:gd name="T19" fmla="*/ 147 h 181"/>
                <a:gd name="T20" fmla="*/ 62 w 85"/>
                <a:gd name="T21" fmla="*/ 181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5" h="181">
                  <a:moveTo>
                    <a:pt x="62" y="181"/>
                  </a:moveTo>
                  <a:cubicBezTo>
                    <a:pt x="62" y="148"/>
                    <a:pt x="62" y="148"/>
                    <a:pt x="62" y="148"/>
                  </a:cubicBezTo>
                  <a:cubicBezTo>
                    <a:pt x="62" y="148"/>
                    <a:pt x="75" y="139"/>
                    <a:pt x="75" y="118"/>
                  </a:cubicBezTo>
                  <a:cubicBezTo>
                    <a:pt x="75" y="97"/>
                    <a:pt x="75" y="68"/>
                    <a:pt x="75" y="68"/>
                  </a:cubicBezTo>
                  <a:cubicBezTo>
                    <a:pt x="75" y="68"/>
                    <a:pt x="85" y="55"/>
                    <a:pt x="84" y="43"/>
                  </a:cubicBezTo>
                  <a:cubicBezTo>
                    <a:pt x="83" y="31"/>
                    <a:pt x="85" y="17"/>
                    <a:pt x="85" y="17"/>
                  </a:cubicBezTo>
                  <a:cubicBezTo>
                    <a:pt x="56" y="0"/>
                    <a:pt x="56" y="0"/>
                    <a:pt x="56" y="0"/>
                  </a:cubicBezTo>
                  <a:cubicBezTo>
                    <a:pt x="39" y="20"/>
                    <a:pt x="39" y="20"/>
                    <a:pt x="39" y="20"/>
                  </a:cubicBezTo>
                  <a:cubicBezTo>
                    <a:pt x="39" y="20"/>
                    <a:pt x="0" y="102"/>
                    <a:pt x="8" y="114"/>
                  </a:cubicBezTo>
                  <a:cubicBezTo>
                    <a:pt x="16" y="126"/>
                    <a:pt x="34" y="147"/>
                    <a:pt x="34" y="147"/>
                  </a:cubicBezTo>
                  <a:cubicBezTo>
                    <a:pt x="34" y="147"/>
                    <a:pt x="47" y="181"/>
                    <a:pt x="62" y="181"/>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419" name="Freeform 210">
              <a:extLst>
                <a:ext uri="{FF2B5EF4-FFF2-40B4-BE49-F238E27FC236}">
                  <a16:creationId xmlns:a16="http://schemas.microsoft.com/office/drawing/2014/main" id="{51A3BC97-C4ED-4E44-9351-4BE2F1A6A7E1}"/>
                </a:ext>
              </a:extLst>
            </p:cNvPr>
            <p:cNvSpPr>
              <a:spLocks noEditPoints="1"/>
            </p:cNvSpPr>
            <p:nvPr/>
          </p:nvSpPr>
          <p:spPr bwMode="gray">
            <a:xfrm>
              <a:off x="9787671" y="2917958"/>
              <a:ext cx="167696" cy="150676"/>
            </a:xfrm>
            <a:custGeom>
              <a:avLst/>
              <a:gdLst>
                <a:gd name="T0" fmla="*/ 21 w 247"/>
                <a:gd name="T1" fmla="*/ 14 h 235"/>
                <a:gd name="T2" fmla="*/ 9 w 247"/>
                <a:gd name="T3" fmla="*/ 0 h 235"/>
                <a:gd name="T4" fmla="*/ 2 w 247"/>
                <a:gd name="T5" fmla="*/ 16 h 235"/>
                <a:gd name="T6" fmla="*/ 15 w 247"/>
                <a:gd name="T7" fmla="*/ 32 h 235"/>
                <a:gd name="T8" fmla="*/ 21 w 247"/>
                <a:gd name="T9" fmla="*/ 14 h 235"/>
                <a:gd name="T10" fmla="*/ 0 w 247"/>
                <a:gd name="T11" fmla="*/ 84 h 235"/>
                <a:gd name="T12" fmla="*/ 13 w 247"/>
                <a:gd name="T13" fmla="*/ 89 h 235"/>
                <a:gd name="T14" fmla="*/ 22 w 247"/>
                <a:gd name="T15" fmla="*/ 67 h 235"/>
                <a:gd name="T16" fmla="*/ 0 w 247"/>
                <a:gd name="T17" fmla="*/ 70 h 235"/>
                <a:gd name="T18" fmla="*/ 0 w 247"/>
                <a:gd name="T19" fmla="*/ 84 h 235"/>
                <a:gd name="T20" fmla="*/ 51 w 247"/>
                <a:gd name="T21" fmla="*/ 81 h 235"/>
                <a:gd name="T22" fmla="*/ 25 w 247"/>
                <a:gd name="T23" fmla="*/ 81 h 235"/>
                <a:gd name="T24" fmla="*/ 26 w 247"/>
                <a:gd name="T25" fmla="*/ 97 h 235"/>
                <a:gd name="T26" fmla="*/ 53 w 247"/>
                <a:gd name="T27" fmla="*/ 91 h 235"/>
                <a:gd name="T28" fmla="*/ 51 w 247"/>
                <a:gd name="T29" fmla="*/ 81 h 235"/>
                <a:gd name="T30" fmla="*/ 39 w 247"/>
                <a:gd name="T31" fmla="*/ 126 h 235"/>
                <a:gd name="T32" fmla="*/ 64 w 247"/>
                <a:gd name="T33" fmla="*/ 123 h 235"/>
                <a:gd name="T34" fmla="*/ 32 w 247"/>
                <a:gd name="T35" fmla="*/ 103 h 235"/>
                <a:gd name="T36" fmla="*/ 39 w 247"/>
                <a:gd name="T37" fmla="*/ 126 h 235"/>
                <a:gd name="T38" fmla="*/ 163 w 247"/>
                <a:gd name="T39" fmla="*/ 149 h 235"/>
                <a:gd name="T40" fmla="*/ 128 w 247"/>
                <a:gd name="T41" fmla="*/ 142 h 235"/>
                <a:gd name="T42" fmla="*/ 142 w 247"/>
                <a:gd name="T43" fmla="*/ 169 h 235"/>
                <a:gd name="T44" fmla="*/ 183 w 247"/>
                <a:gd name="T45" fmla="*/ 172 h 235"/>
                <a:gd name="T46" fmla="*/ 163 w 247"/>
                <a:gd name="T47" fmla="*/ 149 h 235"/>
                <a:gd name="T48" fmla="*/ 205 w 247"/>
                <a:gd name="T49" fmla="*/ 193 h 235"/>
                <a:gd name="T50" fmla="*/ 238 w 247"/>
                <a:gd name="T51" fmla="*/ 235 h 235"/>
                <a:gd name="T52" fmla="*/ 247 w 247"/>
                <a:gd name="T53" fmla="*/ 215 h 235"/>
                <a:gd name="T54" fmla="*/ 205 w 247"/>
                <a:gd name="T55" fmla="*/ 193 h 235"/>
                <a:gd name="T56" fmla="*/ 189 w 247"/>
                <a:gd name="T57" fmla="*/ 84 h 235"/>
                <a:gd name="T58" fmla="*/ 184 w 247"/>
                <a:gd name="T59" fmla="*/ 130 h 235"/>
                <a:gd name="T60" fmla="*/ 218 w 247"/>
                <a:gd name="T61" fmla="*/ 160 h 235"/>
                <a:gd name="T62" fmla="*/ 189 w 247"/>
                <a:gd name="T63" fmla="*/ 84 h 235"/>
                <a:gd name="T64" fmla="*/ 81 w 247"/>
                <a:gd name="T65" fmla="*/ 41 h 235"/>
                <a:gd name="T66" fmla="*/ 138 w 247"/>
                <a:gd name="T67" fmla="*/ 102 h 235"/>
                <a:gd name="T68" fmla="*/ 81 w 247"/>
                <a:gd name="T69" fmla="*/ 41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7" h="235">
                  <a:moveTo>
                    <a:pt x="21" y="14"/>
                  </a:moveTo>
                  <a:cubicBezTo>
                    <a:pt x="9" y="0"/>
                    <a:pt x="9" y="0"/>
                    <a:pt x="9" y="0"/>
                  </a:cubicBezTo>
                  <a:cubicBezTo>
                    <a:pt x="2" y="16"/>
                    <a:pt x="2" y="16"/>
                    <a:pt x="2" y="16"/>
                  </a:cubicBezTo>
                  <a:cubicBezTo>
                    <a:pt x="15" y="32"/>
                    <a:pt x="15" y="32"/>
                    <a:pt x="15" y="32"/>
                  </a:cubicBezTo>
                  <a:lnTo>
                    <a:pt x="21" y="14"/>
                  </a:lnTo>
                  <a:close/>
                  <a:moveTo>
                    <a:pt x="0" y="84"/>
                  </a:moveTo>
                  <a:cubicBezTo>
                    <a:pt x="13" y="89"/>
                    <a:pt x="13" y="89"/>
                    <a:pt x="13" y="89"/>
                  </a:cubicBezTo>
                  <a:cubicBezTo>
                    <a:pt x="22" y="67"/>
                    <a:pt x="22" y="67"/>
                    <a:pt x="22" y="67"/>
                  </a:cubicBezTo>
                  <a:cubicBezTo>
                    <a:pt x="0" y="70"/>
                    <a:pt x="0" y="70"/>
                    <a:pt x="0" y="70"/>
                  </a:cubicBezTo>
                  <a:lnTo>
                    <a:pt x="0" y="84"/>
                  </a:lnTo>
                  <a:close/>
                  <a:moveTo>
                    <a:pt x="51" y="81"/>
                  </a:moveTo>
                  <a:cubicBezTo>
                    <a:pt x="25" y="81"/>
                    <a:pt x="25" y="81"/>
                    <a:pt x="25" y="81"/>
                  </a:cubicBezTo>
                  <a:cubicBezTo>
                    <a:pt x="26" y="97"/>
                    <a:pt x="26" y="97"/>
                    <a:pt x="26" y="97"/>
                  </a:cubicBezTo>
                  <a:cubicBezTo>
                    <a:pt x="53" y="91"/>
                    <a:pt x="53" y="91"/>
                    <a:pt x="53" y="91"/>
                  </a:cubicBezTo>
                  <a:lnTo>
                    <a:pt x="51" y="81"/>
                  </a:lnTo>
                  <a:close/>
                  <a:moveTo>
                    <a:pt x="39" y="126"/>
                  </a:moveTo>
                  <a:cubicBezTo>
                    <a:pt x="64" y="123"/>
                    <a:pt x="64" y="123"/>
                    <a:pt x="64" y="123"/>
                  </a:cubicBezTo>
                  <a:cubicBezTo>
                    <a:pt x="32" y="103"/>
                    <a:pt x="32" y="103"/>
                    <a:pt x="32" y="103"/>
                  </a:cubicBezTo>
                  <a:lnTo>
                    <a:pt x="39" y="126"/>
                  </a:lnTo>
                  <a:close/>
                  <a:moveTo>
                    <a:pt x="163" y="149"/>
                  </a:moveTo>
                  <a:cubicBezTo>
                    <a:pt x="145" y="139"/>
                    <a:pt x="128" y="142"/>
                    <a:pt x="128" y="142"/>
                  </a:cubicBezTo>
                  <a:cubicBezTo>
                    <a:pt x="128" y="142"/>
                    <a:pt x="124" y="161"/>
                    <a:pt x="142" y="169"/>
                  </a:cubicBezTo>
                  <a:cubicBezTo>
                    <a:pt x="168" y="180"/>
                    <a:pt x="183" y="172"/>
                    <a:pt x="183" y="172"/>
                  </a:cubicBezTo>
                  <a:cubicBezTo>
                    <a:pt x="183" y="172"/>
                    <a:pt x="182" y="160"/>
                    <a:pt x="163" y="149"/>
                  </a:cubicBezTo>
                  <a:close/>
                  <a:moveTo>
                    <a:pt x="205" y="193"/>
                  </a:moveTo>
                  <a:cubicBezTo>
                    <a:pt x="238" y="235"/>
                    <a:pt x="238" y="235"/>
                    <a:pt x="238" y="235"/>
                  </a:cubicBezTo>
                  <a:cubicBezTo>
                    <a:pt x="247" y="215"/>
                    <a:pt x="247" y="215"/>
                    <a:pt x="247" y="215"/>
                  </a:cubicBezTo>
                  <a:lnTo>
                    <a:pt x="205" y="193"/>
                  </a:lnTo>
                  <a:close/>
                  <a:moveTo>
                    <a:pt x="189" y="84"/>
                  </a:moveTo>
                  <a:cubicBezTo>
                    <a:pt x="189" y="84"/>
                    <a:pt x="178" y="119"/>
                    <a:pt x="184" y="130"/>
                  </a:cubicBezTo>
                  <a:cubicBezTo>
                    <a:pt x="191" y="140"/>
                    <a:pt x="218" y="160"/>
                    <a:pt x="218" y="160"/>
                  </a:cubicBezTo>
                  <a:lnTo>
                    <a:pt x="189" y="84"/>
                  </a:lnTo>
                  <a:close/>
                  <a:moveTo>
                    <a:pt x="81" y="41"/>
                  </a:moveTo>
                  <a:cubicBezTo>
                    <a:pt x="75" y="51"/>
                    <a:pt x="130" y="104"/>
                    <a:pt x="138" y="102"/>
                  </a:cubicBezTo>
                  <a:cubicBezTo>
                    <a:pt x="154" y="100"/>
                    <a:pt x="86" y="30"/>
                    <a:pt x="81" y="41"/>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420" name="Freeform 211">
              <a:extLst>
                <a:ext uri="{FF2B5EF4-FFF2-40B4-BE49-F238E27FC236}">
                  <a16:creationId xmlns:a16="http://schemas.microsoft.com/office/drawing/2014/main" id="{6B703436-458A-45B5-9B74-061B77B86159}"/>
                </a:ext>
              </a:extLst>
            </p:cNvPr>
            <p:cNvSpPr>
              <a:spLocks/>
            </p:cNvSpPr>
            <p:nvPr/>
          </p:nvSpPr>
          <p:spPr bwMode="gray">
            <a:xfrm>
              <a:off x="7968578" y="2456156"/>
              <a:ext cx="140417" cy="188141"/>
            </a:xfrm>
            <a:custGeom>
              <a:avLst/>
              <a:gdLst>
                <a:gd name="T0" fmla="*/ 1 w 207"/>
                <a:gd name="T1" fmla="*/ 30 h 293"/>
                <a:gd name="T2" fmla="*/ 6 w 207"/>
                <a:gd name="T3" fmla="*/ 91 h 293"/>
                <a:gd name="T4" fmla="*/ 38 w 207"/>
                <a:gd name="T5" fmla="*/ 99 h 293"/>
                <a:gd name="T6" fmla="*/ 39 w 207"/>
                <a:gd name="T7" fmla="*/ 153 h 293"/>
                <a:gd name="T8" fmla="*/ 62 w 207"/>
                <a:gd name="T9" fmla="*/ 153 h 293"/>
                <a:gd name="T10" fmla="*/ 65 w 207"/>
                <a:gd name="T11" fmla="*/ 203 h 293"/>
                <a:gd name="T12" fmla="*/ 114 w 207"/>
                <a:gd name="T13" fmla="*/ 236 h 293"/>
                <a:gd name="T14" fmla="*/ 121 w 207"/>
                <a:gd name="T15" fmla="*/ 258 h 293"/>
                <a:gd name="T16" fmla="*/ 153 w 207"/>
                <a:gd name="T17" fmla="*/ 271 h 293"/>
                <a:gd name="T18" fmla="*/ 169 w 207"/>
                <a:gd name="T19" fmla="*/ 293 h 293"/>
                <a:gd name="T20" fmla="*/ 202 w 207"/>
                <a:gd name="T21" fmla="*/ 290 h 293"/>
                <a:gd name="T22" fmla="*/ 205 w 207"/>
                <a:gd name="T23" fmla="*/ 252 h 293"/>
                <a:gd name="T24" fmla="*/ 172 w 207"/>
                <a:gd name="T25" fmla="*/ 210 h 293"/>
                <a:gd name="T26" fmla="*/ 170 w 207"/>
                <a:gd name="T27" fmla="*/ 184 h 293"/>
                <a:gd name="T28" fmla="*/ 168 w 207"/>
                <a:gd name="T29" fmla="*/ 160 h 293"/>
                <a:gd name="T30" fmla="*/ 167 w 207"/>
                <a:gd name="T31" fmla="*/ 87 h 293"/>
                <a:gd name="T32" fmla="*/ 115 w 207"/>
                <a:gd name="T33" fmla="*/ 41 h 293"/>
                <a:gd name="T34" fmla="*/ 103 w 207"/>
                <a:gd name="T35" fmla="*/ 31 h 293"/>
                <a:gd name="T36" fmla="*/ 91 w 207"/>
                <a:gd name="T37" fmla="*/ 55 h 293"/>
                <a:gd name="T38" fmla="*/ 72 w 207"/>
                <a:gd name="T39" fmla="*/ 47 h 293"/>
                <a:gd name="T40" fmla="*/ 49 w 207"/>
                <a:gd name="T41" fmla="*/ 54 h 293"/>
                <a:gd name="T42" fmla="*/ 52 w 207"/>
                <a:gd name="T43" fmla="*/ 32 h 293"/>
                <a:gd name="T44" fmla="*/ 45 w 207"/>
                <a:gd name="T45" fmla="*/ 28 h 293"/>
                <a:gd name="T46" fmla="*/ 39 w 207"/>
                <a:gd name="T47" fmla="*/ 16 h 293"/>
                <a:gd name="T48" fmla="*/ 21 w 207"/>
                <a:gd name="T49" fmla="*/ 12 h 293"/>
                <a:gd name="T50" fmla="*/ 12 w 207"/>
                <a:gd name="T51" fmla="*/ 1 h 293"/>
                <a:gd name="T52" fmla="*/ 7 w 207"/>
                <a:gd name="T53" fmla="*/ 17 h 293"/>
                <a:gd name="T54" fmla="*/ 0 w 207"/>
                <a:gd name="T55" fmla="*/ 29 h 293"/>
                <a:gd name="T56" fmla="*/ 1 w 207"/>
                <a:gd name="T57" fmla="*/ 30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07" h="293">
                  <a:moveTo>
                    <a:pt x="1" y="30"/>
                  </a:moveTo>
                  <a:cubicBezTo>
                    <a:pt x="6" y="91"/>
                    <a:pt x="6" y="91"/>
                    <a:pt x="6" y="91"/>
                  </a:cubicBezTo>
                  <a:cubicBezTo>
                    <a:pt x="6" y="91"/>
                    <a:pt x="38" y="79"/>
                    <a:pt x="38" y="99"/>
                  </a:cubicBezTo>
                  <a:cubicBezTo>
                    <a:pt x="37" y="119"/>
                    <a:pt x="28" y="141"/>
                    <a:pt x="39" y="153"/>
                  </a:cubicBezTo>
                  <a:cubicBezTo>
                    <a:pt x="50" y="166"/>
                    <a:pt x="62" y="153"/>
                    <a:pt x="62" y="153"/>
                  </a:cubicBezTo>
                  <a:cubicBezTo>
                    <a:pt x="62" y="153"/>
                    <a:pt x="55" y="194"/>
                    <a:pt x="65" y="203"/>
                  </a:cubicBezTo>
                  <a:cubicBezTo>
                    <a:pt x="75" y="212"/>
                    <a:pt x="114" y="236"/>
                    <a:pt x="114" y="236"/>
                  </a:cubicBezTo>
                  <a:cubicBezTo>
                    <a:pt x="114" y="236"/>
                    <a:pt x="116" y="256"/>
                    <a:pt x="121" y="258"/>
                  </a:cubicBezTo>
                  <a:cubicBezTo>
                    <a:pt x="126" y="259"/>
                    <a:pt x="153" y="271"/>
                    <a:pt x="153" y="271"/>
                  </a:cubicBezTo>
                  <a:cubicBezTo>
                    <a:pt x="169" y="293"/>
                    <a:pt x="169" y="293"/>
                    <a:pt x="169" y="293"/>
                  </a:cubicBezTo>
                  <a:cubicBezTo>
                    <a:pt x="202" y="290"/>
                    <a:pt x="202" y="290"/>
                    <a:pt x="202" y="290"/>
                  </a:cubicBezTo>
                  <a:cubicBezTo>
                    <a:pt x="202" y="290"/>
                    <a:pt x="207" y="270"/>
                    <a:pt x="205" y="252"/>
                  </a:cubicBezTo>
                  <a:cubicBezTo>
                    <a:pt x="203" y="235"/>
                    <a:pt x="173" y="215"/>
                    <a:pt x="172" y="210"/>
                  </a:cubicBezTo>
                  <a:cubicBezTo>
                    <a:pt x="171" y="205"/>
                    <a:pt x="177" y="193"/>
                    <a:pt x="170" y="184"/>
                  </a:cubicBezTo>
                  <a:cubicBezTo>
                    <a:pt x="162" y="175"/>
                    <a:pt x="168" y="173"/>
                    <a:pt x="168" y="160"/>
                  </a:cubicBezTo>
                  <a:cubicBezTo>
                    <a:pt x="169" y="148"/>
                    <a:pt x="172" y="109"/>
                    <a:pt x="167" y="87"/>
                  </a:cubicBezTo>
                  <a:cubicBezTo>
                    <a:pt x="163" y="65"/>
                    <a:pt x="121" y="50"/>
                    <a:pt x="115" y="41"/>
                  </a:cubicBezTo>
                  <a:cubicBezTo>
                    <a:pt x="113" y="38"/>
                    <a:pt x="108" y="34"/>
                    <a:pt x="103" y="31"/>
                  </a:cubicBezTo>
                  <a:cubicBezTo>
                    <a:pt x="100" y="39"/>
                    <a:pt x="95" y="50"/>
                    <a:pt x="91" y="55"/>
                  </a:cubicBezTo>
                  <a:cubicBezTo>
                    <a:pt x="85" y="63"/>
                    <a:pt x="83" y="46"/>
                    <a:pt x="72" y="47"/>
                  </a:cubicBezTo>
                  <a:cubicBezTo>
                    <a:pt x="61" y="48"/>
                    <a:pt x="62" y="58"/>
                    <a:pt x="49" y="54"/>
                  </a:cubicBezTo>
                  <a:cubicBezTo>
                    <a:pt x="36" y="50"/>
                    <a:pt x="52" y="38"/>
                    <a:pt x="52" y="32"/>
                  </a:cubicBezTo>
                  <a:cubicBezTo>
                    <a:pt x="52" y="26"/>
                    <a:pt x="45" y="28"/>
                    <a:pt x="45" y="28"/>
                  </a:cubicBezTo>
                  <a:cubicBezTo>
                    <a:pt x="45" y="28"/>
                    <a:pt x="46" y="20"/>
                    <a:pt x="39" y="16"/>
                  </a:cubicBezTo>
                  <a:cubicBezTo>
                    <a:pt x="32" y="12"/>
                    <a:pt x="21" y="12"/>
                    <a:pt x="21" y="12"/>
                  </a:cubicBezTo>
                  <a:cubicBezTo>
                    <a:pt x="21" y="12"/>
                    <a:pt x="19" y="0"/>
                    <a:pt x="12" y="1"/>
                  </a:cubicBezTo>
                  <a:cubicBezTo>
                    <a:pt x="5" y="2"/>
                    <a:pt x="6" y="8"/>
                    <a:pt x="7" y="17"/>
                  </a:cubicBezTo>
                  <a:cubicBezTo>
                    <a:pt x="7" y="21"/>
                    <a:pt x="4" y="25"/>
                    <a:pt x="0" y="29"/>
                  </a:cubicBezTo>
                  <a:cubicBezTo>
                    <a:pt x="1" y="29"/>
                    <a:pt x="1" y="30"/>
                    <a:pt x="1" y="30"/>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421" name="Freeform 212">
              <a:extLst>
                <a:ext uri="{FF2B5EF4-FFF2-40B4-BE49-F238E27FC236}">
                  <a16:creationId xmlns:a16="http://schemas.microsoft.com/office/drawing/2014/main" id="{4CF9A3A7-AB73-4745-A97D-318701513D58}"/>
                </a:ext>
              </a:extLst>
            </p:cNvPr>
            <p:cNvSpPr>
              <a:spLocks/>
            </p:cNvSpPr>
            <p:nvPr/>
          </p:nvSpPr>
          <p:spPr bwMode="gray">
            <a:xfrm>
              <a:off x="8029453" y="2186839"/>
              <a:ext cx="171141" cy="143618"/>
            </a:xfrm>
            <a:custGeom>
              <a:avLst/>
              <a:gdLst>
                <a:gd name="T0" fmla="*/ 214 w 252"/>
                <a:gd name="T1" fmla="*/ 0 h 224"/>
                <a:gd name="T2" fmla="*/ 206 w 252"/>
                <a:gd name="T3" fmla="*/ 9 h 224"/>
                <a:gd name="T4" fmla="*/ 184 w 252"/>
                <a:gd name="T5" fmla="*/ 0 h 224"/>
                <a:gd name="T6" fmla="*/ 175 w 252"/>
                <a:gd name="T7" fmla="*/ 8 h 224"/>
                <a:gd name="T8" fmla="*/ 164 w 252"/>
                <a:gd name="T9" fmla="*/ 16 h 224"/>
                <a:gd name="T10" fmla="*/ 168 w 252"/>
                <a:gd name="T11" fmla="*/ 36 h 224"/>
                <a:gd name="T12" fmla="*/ 151 w 252"/>
                <a:gd name="T13" fmla="*/ 24 h 224"/>
                <a:gd name="T14" fmla="*/ 131 w 252"/>
                <a:gd name="T15" fmla="*/ 22 h 224"/>
                <a:gd name="T16" fmla="*/ 128 w 252"/>
                <a:gd name="T17" fmla="*/ 13 h 224"/>
                <a:gd name="T18" fmla="*/ 123 w 252"/>
                <a:gd name="T19" fmla="*/ 16 h 224"/>
                <a:gd name="T20" fmla="*/ 101 w 252"/>
                <a:gd name="T21" fmla="*/ 8 h 224"/>
                <a:gd name="T22" fmla="*/ 74 w 252"/>
                <a:gd name="T23" fmla="*/ 15 h 224"/>
                <a:gd name="T24" fmla="*/ 46 w 252"/>
                <a:gd name="T25" fmla="*/ 10 h 224"/>
                <a:gd name="T26" fmla="*/ 19 w 252"/>
                <a:gd name="T27" fmla="*/ 34 h 224"/>
                <a:gd name="T28" fmla="*/ 0 w 252"/>
                <a:gd name="T29" fmla="*/ 54 h 224"/>
                <a:gd name="T30" fmla="*/ 2 w 252"/>
                <a:gd name="T31" fmla="*/ 79 h 224"/>
                <a:gd name="T32" fmla="*/ 9 w 252"/>
                <a:gd name="T33" fmla="*/ 85 h 224"/>
                <a:gd name="T34" fmla="*/ 9 w 252"/>
                <a:gd name="T35" fmla="*/ 104 h 224"/>
                <a:gd name="T36" fmla="*/ 20 w 252"/>
                <a:gd name="T37" fmla="*/ 114 h 224"/>
                <a:gd name="T38" fmla="*/ 17 w 252"/>
                <a:gd name="T39" fmla="*/ 133 h 224"/>
                <a:gd name="T40" fmla="*/ 26 w 252"/>
                <a:gd name="T41" fmla="*/ 139 h 224"/>
                <a:gd name="T42" fmla="*/ 27 w 252"/>
                <a:gd name="T43" fmla="*/ 168 h 224"/>
                <a:gd name="T44" fmla="*/ 46 w 252"/>
                <a:gd name="T45" fmla="*/ 191 h 224"/>
                <a:gd name="T46" fmla="*/ 59 w 252"/>
                <a:gd name="T47" fmla="*/ 178 h 224"/>
                <a:gd name="T48" fmla="*/ 68 w 252"/>
                <a:gd name="T49" fmla="*/ 204 h 224"/>
                <a:gd name="T50" fmla="*/ 91 w 252"/>
                <a:gd name="T51" fmla="*/ 208 h 224"/>
                <a:gd name="T52" fmla="*/ 97 w 252"/>
                <a:gd name="T53" fmla="*/ 223 h 224"/>
                <a:gd name="T54" fmla="*/ 110 w 252"/>
                <a:gd name="T55" fmla="*/ 224 h 224"/>
                <a:gd name="T56" fmla="*/ 139 w 252"/>
                <a:gd name="T57" fmla="*/ 213 h 224"/>
                <a:gd name="T58" fmla="*/ 135 w 252"/>
                <a:gd name="T59" fmla="*/ 197 h 224"/>
                <a:gd name="T60" fmla="*/ 153 w 252"/>
                <a:gd name="T61" fmla="*/ 197 h 224"/>
                <a:gd name="T62" fmla="*/ 169 w 252"/>
                <a:gd name="T63" fmla="*/ 190 h 224"/>
                <a:gd name="T64" fmla="*/ 193 w 252"/>
                <a:gd name="T65" fmla="*/ 205 h 224"/>
                <a:gd name="T66" fmla="*/ 183 w 252"/>
                <a:gd name="T67" fmla="*/ 186 h 224"/>
                <a:gd name="T68" fmla="*/ 175 w 252"/>
                <a:gd name="T69" fmla="*/ 154 h 224"/>
                <a:gd name="T70" fmla="*/ 204 w 252"/>
                <a:gd name="T71" fmla="*/ 152 h 224"/>
                <a:gd name="T72" fmla="*/ 201 w 252"/>
                <a:gd name="T73" fmla="*/ 138 h 224"/>
                <a:gd name="T74" fmla="*/ 222 w 252"/>
                <a:gd name="T75" fmla="*/ 137 h 224"/>
                <a:gd name="T76" fmla="*/ 228 w 252"/>
                <a:gd name="T77" fmla="*/ 123 h 224"/>
                <a:gd name="T78" fmla="*/ 245 w 252"/>
                <a:gd name="T79" fmla="*/ 125 h 224"/>
                <a:gd name="T80" fmla="*/ 248 w 252"/>
                <a:gd name="T81" fmla="*/ 111 h 224"/>
                <a:gd name="T82" fmla="*/ 237 w 252"/>
                <a:gd name="T83" fmla="*/ 72 h 224"/>
                <a:gd name="T84" fmla="*/ 252 w 252"/>
                <a:gd name="T85" fmla="*/ 56 h 224"/>
                <a:gd name="T86" fmla="*/ 231 w 252"/>
                <a:gd name="T87" fmla="*/ 32 h 224"/>
                <a:gd name="T88" fmla="*/ 231 w 252"/>
                <a:gd name="T89" fmla="*/ 4 h 224"/>
                <a:gd name="T90" fmla="*/ 214 w 252"/>
                <a:gd name="T91" fmla="*/ 0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52" h="224">
                  <a:moveTo>
                    <a:pt x="214" y="0"/>
                  </a:moveTo>
                  <a:cubicBezTo>
                    <a:pt x="206" y="9"/>
                    <a:pt x="206" y="9"/>
                    <a:pt x="206" y="9"/>
                  </a:cubicBezTo>
                  <a:cubicBezTo>
                    <a:pt x="184" y="0"/>
                    <a:pt x="184" y="0"/>
                    <a:pt x="184" y="0"/>
                  </a:cubicBezTo>
                  <a:cubicBezTo>
                    <a:pt x="175" y="8"/>
                    <a:pt x="175" y="8"/>
                    <a:pt x="175" y="8"/>
                  </a:cubicBezTo>
                  <a:cubicBezTo>
                    <a:pt x="164" y="16"/>
                    <a:pt x="164" y="16"/>
                    <a:pt x="164" y="16"/>
                  </a:cubicBezTo>
                  <a:cubicBezTo>
                    <a:pt x="164" y="16"/>
                    <a:pt x="176" y="28"/>
                    <a:pt x="168" y="36"/>
                  </a:cubicBezTo>
                  <a:cubicBezTo>
                    <a:pt x="160" y="44"/>
                    <a:pt x="151" y="24"/>
                    <a:pt x="151" y="24"/>
                  </a:cubicBezTo>
                  <a:cubicBezTo>
                    <a:pt x="151" y="24"/>
                    <a:pt x="135" y="23"/>
                    <a:pt x="131" y="22"/>
                  </a:cubicBezTo>
                  <a:cubicBezTo>
                    <a:pt x="128" y="21"/>
                    <a:pt x="128" y="16"/>
                    <a:pt x="128" y="13"/>
                  </a:cubicBezTo>
                  <a:cubicBezTo>
                    <a:pt x="125" y="15"/>
                    <a:pt x="123" y="16"/>
                    <a:pt x="123" y="16"/>
                  </a:cubicBezTo>
                  <a:cubicBezTo>
                    <a:pt x="123" y="16"/>
                    <a:pt x="106" y="7"/>
                    <a:pt x="101" y="8"/>
                  </a:cubicBezTo>
                  <a:cubicBezTo>
                    <a:pt x="96" y="9"/>
                    <a:pt x="74" y="15"/>
                    <a:pt x="74" y="15"/>
                  </a:cubicBezTo>
                  <a:cubicBezTo>
                    <a:pt x="74" y="15"/>
                    <a:pt x="73" y="5"/>
                    <a:pt x="46" y="10"/>
                  </a:cubicBezTo>
                  <a:cubicBezTo>
                    <a:pt x="19" y="15"/>
                    <a:pt x="19" y="34"/>
                    <a:pt x="19" y="34"/>
                  </a:cubicBezTo>
                  <a:cubicBezTo>
                    <a:pt x="0" y="54"/>
                    <a:pt x="0" y="54"/>
                    <a:pt x="0" y="54"/>
                  </a:cubicBezTo>
                  <a:cubicBezTo>
                    <a:pt x="2" y="79"/>
                    <a:pt x="2" y="79"/>
                    <a:pt x="2" y="79"/>
                  </a:cubicBezTo>
                  <a:cubicBezTo>
                    <a:pt x="9" y="85"/>
                    <a:pt x="9" y="85"/>
                    <a:pt x="9" y="85"/>
                  </a:cubicBezTo>
                  <a:cubicBezTo>
                    <a:pt x="9" y="104"/>
                    <a:pt x="9" y="104"/>
                    <a:pt x="9" y="104"/>
                  </a:cubicBezTo>
                  <a:cubicBezTo>
                    <a:pt x="20" y="114"/>
                    <a:pt x="20" y="114"/>
                    <a:pt x="20" y="114"/>
                  </a:cubicBezTo>
                  <a:cubicBezTo>
                    <a:pt x="17" y="133"/>
                    <a:pt x="17" y="133"/>
                    <a:pt x="17" y="133"/>
                  </a:cubicBezTo>
                  <a:cubicBezTo>
                    <a:pt x="20" y="134"/>
                    <a:pt x="23" y="136"/>
                    <a:pt x="26" y="139"/>
                  </a:cubicBezTo>
                  <a:cubicBezTo>
                    <a:pt x="41" y="156"/>
                    <a:pt x="27" y="168"/>
                    <a:pt x="27" y="168"/>
                  </a:cubicBezTo>
                  <a:cubicBezTo>
                    <a:pt x="27" y="168"/>
                    <a:pt x="36" y="190"/>
                    <a:pt x="46" y="191"/>
                  </a:cubicBezTo>
                  <a:cubicBezTo>
                    <a:pt x="56" y="191"/>
                    <a:pt x="59" y="178"/>
                    <a:pt x="59" y="178"/>
                  </a:cubicBezTo>
                  <a:cubicBezTo>
                    <a:pt x="59" y="178"/>
                    <a:pt x="58" y="202"/>
                    <a:pt x="68" y="204"/>
                  </a:cubicBezTo>
                  <a:cubicBezTo>
                    <a:pt x="79" y="206"/>
                    <a:pt x="89" y="198"/>
                    <a:pt x="91" y="208"/>
                  </a:cubicBezTo>
                  <a:cubicBezTo>
                    <a:pt x="92" y="212"/>
                    <a:pt x="95" y="218"/>
                    <a:pt x="97" y="223"/>
                  </a:cubicBezTo>
                  <a:cubicBezTo>
                    <a:pt x="110" y="224"/>
                    <a:pt x="110" y="224"/>
                    <a:pt x="110" y="224"/>
                  </a:cubicBezTo>
                  <a:cubicBezTo>
                    <a:pt x="112" y="219"/>
                    <a:pt x="124" y="214"/>
                    <a:pt x="139" y="213"/>
                  </a:cubicBezTo>
                  <a:cubicBezTo>
                    <a:pt x="159" y="211"/>
                    <a:pt x="135" y="197"/>
                    <a:pt x="135" y="197"/>
                  </a:cubicBezTo>
                  <a:cubicBezTo>
                    <a:pt x="135" y="197"/>
                    <a:pt x="149" y="197"/>
                    <a:pt x="153" y="197"/>
                  </a:cubicBezTo>
                  <a:cubicBezTo>
                    <a:pt x="157" y="197"/>
                    <a:pt x="159" y="190"/>
                    <a:pt x="169" y="190"/>
                  </a:cubicBezTo>
                  <a:cubicBezTo>
                    <a:pt x="179" y="190"/>
                    <a:pt x="186" y="206"/>
                    <a:pt x="193" y="205"/>
                  </a:cubicBezTo>
                  <a:cubicBezTo>
                    <a:pt x="200" y="204"/>
                    <a:pt x="193" y="194"/>
                    <a:pt x="183" y="186"/>
                  </a:cubicBezTo>
                  <a:cubicBezTo>
                    <a:pt x="173" y="178"/>
                    <a:pt x="173" y="160"/>
                    <a:pt x="175" y="154"/>
                  </a:cubicBezTo>
                  <a:cubicBezTo>
                    <a:pt x="177" y="148"/>
                    <a:pt x="204" y="152"/>
                    <a:pt x="204" y="152"/>
                  </a:cubicBezTo>
                  <a:cubicBezTo>
                    <a:pt x="201" y="138"/>
                    <a:pt x="201" y="138"/>
                    <a:pt x="201" y="138"/>
                  </a:cubicBezTo>
                  <a:cubicBezTo>
                    <a:pt x="222" y="137"/>
                    <a:pt x="222" y="137"/>
                    <a:pt x="222" y="137"/>
                  </a:cubicBezTo>
                  <a:cubicBezTo>
                    <a:pt x="222" y="137"/>
                    <a:pt x="223" y="126"/>
                    <a:pt x="228" y="123"/>
                  </a:cubicBezTo>
                  <a:cubicBezTo>
                    <a:pt x="233" y="120"/>
                    <a:pt x="245" y="125"/>
                    <a:pt x="245" y="125"/>
                  </a:cubicBezTo>
                  <a:cubicBezTo>
                    <a:pt x="248" y="111"/>
                    <a:pt x="248" y="111"/>
                    <a:pt x="248" y="111"/>
                  </a:cubicBezTo>
                  <a:cubicBezTo>
                    <a:pt x="248" y="111"/>
                    <a:pt x="238" y="75"/>
                    <a:pt x="237" y="72"/>
                  </a:cubicBezTo>
                  <a:cubicBezTo>
                    <a:pt x="236" y="69"/>
                    <a:pt x="252" y="69"/>
                    <a:pt x="252" y="56"/>
                  </a:cubicBezTo>
                  <a:cubicBezTo>
                    <a:pt x="252" y="43"/>
                    <a:pt x="231" y="32"/>
                    <a:pt x="231" y="32"/>
                  </a:cubicBezTo>
                  <a:cubicBezTo>
                    <a:pt x="231" y="4"/>
                    <a:pt x="231" y="4"/>
                    <a:pt x="231" y="4"/>
                  </a:cubicBezTo>
                  <a:lnTo>
                    <a:pt x="214" y="0"/>
                  </a:ln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422" name="Freeform 213">
              <a:extLst>
                <a:ext uri="{FF2B5EF4-FFF2-40B4-BE49-F238E27FC236}">
                  <a16:creationId xmlns:a16="http://schemas.microsoft.com/office/drawing/2014/main" id="{721809C5-3211-4C79-8304-9CBD415F4398}"/>
                </a:ext>
              </a:extLst>
            </p:cNvPr>
            <p:cNvSpPr>
              <a:spLocks noEditPoints="1"/>
            </p:cNvSpPr>
            <p:nvPr/>
          </p:nvSpPr>
          <p:spPr bwMode="gray">
            <a:xfrm>
              <a:off x="8570731" y="1361514"/>
              <a:ext cx="129792" cy="182169"/>
            </a:xfrm>
            <a:custGeom>
              <a:avLst/>
              <a:gdLst>
                <a:gd name="T0" fmla="*/ 100 w 191"/>
                <a:gd name="T1" fmla="*/ 267 h 284"/>
                <a:gd name="T2" fmla="*/ 101 w 191"/>
                <a:gd name="T3" fmla="*/ 284 h 284"/>
                <a:gd name="T4" fmla="*/ 100 w 191"/>
                <a:gd name="T5" fmla="*/ 267 h 284"/>
                <a:gd name="T6" fmla="*/ 185 w 191"/>
                <a:gd name="T7" fmla="*/ 165 h 284"/>
                <a:gd name="T8" fmla="*/ 166 w 191"/>
                <a:gd name="T9" fmla="*/ 132 h 284"/>
                <a:gd name="T10" fmla="*/ 162 w 191"/>
                <a:gd name="T11" fmla="*/ 101 h 284"/>
                <a:gd name="T12" fmla="*/ 111 w 191"/>
                <a:gd name="T13" fmla="*/ 50 h 284"/>
                <a:gd name="T14" fmla="*/ 98 w 191"/>
                <a:gd name="T15" fmla="*/ 45 h 284"/>
                <a:gd name="T16" fmla="*/ 82 w 191"/>
                <a:gd name="T17" fmla="*/ 21 h 284"/>
                <a:gd name="T18" fmla="*/ 64 w 191"/>
                <a:gd name="T19" fmla="*/ 0 h 284"/>
                <a:gd name="T20" fmla="*/ 54 w 191"/>
                <a:gd name="T21" fmla="*/ 10 h 284"/>
                <a:gd name="T22" fmla="*/ 16 w 191"/>
                <a:gd name="T23" fmla="*/ 16 h 284"/>
                <a:gd name="T24" fmla="*/ 13 w 191"/>
                <a:gd name="T25" fmla="*/ 29 h 284"/>
                <a:gd name="T26" fmla="*/ 0 w 191"/>
                <a:gd name="T27" fmla="*/ 39 h 284"/>
                <a:gd name="T28" fmla="*/ 8 w 191"/>
                <a:gd name="T29" fmla="*/ 56 h 284"/>
                <a:gd name="T30" fmla="*/ 30 w 191"/>
                <a:gd name="T31" fmla="*/ 64 h 284"/>
                <a:gd name="T32" fmla="*/ 41 w 191"/>
                <a:gd name="T33" fmla="*/ 89 h 284"/>
                <a:gd name="T34" fmla="*/ 6 w 191"/>
                <a:gd name="T35" fmla="*/ 82 h 284"/>
                <a:gd name="T36" fmla="*/ 27 w 191"/>
                <a:gd name="T37" fmla="*/ 102 h 284"/>
                <a:gd name="T38" fmla="*/ 37 w 191"/>
                <a:gd name="T39" fmla="*/ 130 h 284"/>
                <a:gd name="T40" fmla="*/ 60 w 191"/>
                <a:gd name="T41" fmla="*/ 134 h 284"/>
                <a:gd name="T42" fmla="*/ 60 w 191"/>
                <a:gd name="T43" fmla="*/ 153 h 284"/>
                <a:gd name="T44" fmla="*/ 54 w 191"/>
                <a:gd name="T45" fmla="*/ 180 h 284"/>
                <a:gd name="T46" fmla="*/ 74 w 191"/>
                <a:gd name="T47" fmla="*/ 199 h 284"/>
                <a:gd name="T48" fmla="*/ 80 w 191"/>
                <a:gd name="T49" fmla="*/ 222 h 284"/>
                <a:gd name="T50" fmla="*/ 100 w 191"/>
                <a:gd name="T51" fmla="*/ 203 h 284"/>
                <a:gd name="T52" fmla="*/ 133 w 191"/>
                <a:gd name="T53" fmla="*/ 188 h 284"/>
                <a:gd name="T54" fmla="*/ 150 w 191"/>
                <a:gd name="T55" fmla="*/ 193 h 284"/>
                <a:gd name="T56" fmla="*/ 155 w 191"/>
                <a:gd name="T57" fmla="*/ 181 h 284"/>
                <a:gd name="T58" fmla="*/ 185 w 191"/>
                <a:gd name="T59" fmla="*/ 165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91" h="284">
                  <a:moveTo>
                    <a:pt x="100" y="267"/>
                  </a:moveTo>
                  <a:cubicBezTo>
                    <a:pt x="76" y="275"/>
                    <a:pt x="86" y="284"/>
                    <a:pt x="101" y="284"/>
                  </a:cubicBezTo>
                  <a:cubicBezTo>
                    <a:pt x="120" y="284"/>
                    <a:pt x="124" y="259"/>
                    <a:pt x="100" y="267"/>
                  </a:cubicBezTo>
                  <a:close/>
                  <a:moveTo>
                    <a:pt x="185" y="165"/>
                  </a:moveTo>
                  <a:cubicBezTo>
                    <a:pt x="179" y="146"/>
                    <a:pt x="166" y="132"/>
                    <a:pt x="166" y="132"/>
                  </a:cubicBezTo>
                  <a:cubicBezTo>
                    <a:pt x="166" y="132"/>
                    <a:pt x="171" y="115"/>
                    <a:pt x="162" y="101"/>
                  </a:cubicBezTo>
                  <a:cubicBezTo>
                    <a:pt x="153" y="87"/>
                    <a:pt x="111" y="50"/>
                    <a:pt x="111" y="50"/>
                  </a:cubicBezTo>
                  <a:cubicBezTo>
                    <a:pt x="98" y="45"/>
                    <a:pt x="98" y="45"/>
                    <a:pt x="98" y="45"/>
                  </a:cubicBezTo>
                  <a:cubicBezTo>
                    <a:pt x="98" y="45"/>
                    <a:pt x="94" y="34"/>
                    <a:pt x="82" y="21"/>
                  </a:cubicBezTo>
                  <a:cubicBezTo>
                    <a:pt x="76" y="14"/>
                    <a:pt x="69" y="6"/>
                    <a:pt x="64" y="0"/>
                  </a:cubicBezTo>
                  <a:cubicBezTo>
                    <a:pt x="54" y="10"/>
                    <a:pt x="54" y="10"/>
                    <a:pt x="54" y="10"/>
                  </a:cubicBezTo>
                  <a:cubicBezTo>
                    <a:pt x="54" y="10"/>
                    <a:pt x="30" y="9"/>
                    <a:pt x="16" y="16"/>
                  </a:cubicBezTo>
                  <a:cubicBezTo>
                    <a:pt x="2" y="24"/>
                    <a:pt x="14" y="26"/>
                    <a:pt x="13" y="29"/>
                  </a:cubicBezTo>
                  <a:cubicBezTo>
                    <a:pt x="12" y="32"/>
                    <a:pt x="0" y="39"/>
                    <a:pt x="0" y="39"/>
                  </a:cubicBezTo>
                  <a:cubicBezTo>
                    <a:pt x="0" y="39"/>
                    <a:pt x="1" y="50"/>
                    <a:pt x="8" y="56"/>
                  </a:cubicBezTo>
                  <a:cubicBezTo>
                    <a:pt x="15" y="62"/>
                    <a:pt x="30" y="64"/>
                    <a:pt x="30" y="64"/>
                  </a:cubicBezTo>
                  <a:cubicBezTo>
                    <a:pt x="41" y="89"/>
                    <a:pt x="41" y="89"/>
                    <a:pt x="41" y="89"/>
                  </a:cubicBezTo>
                  <a:cubicBezTo>
                    <a:pt x="41" y="89"/>
                    <a:pt x="7" y="75"/>
                    <a:pt x="6" y="82"/>
                  </a:cubicBezTo>
                  <a:cubicBezTo>
                    <a:pt x="5" y="89"/>
                    <a:pt x="27" y="102"/>
                    <a:pt x="27" y="102"/>
                  </a:cubicBezTo>
                  <a:cubicBezTo>
                    <a:pt x="37" y="130"/>
                    <a:pt x="37" y="130"/>
                    <a:pt x="37" y="130"/>
                  </a:cubicBezTo>
                  <a:cubicBezTo>
                    <a:pt x="60" y="134"/>
                    <a:pt x="60" y="134"/>
                    <a:pt x="60" y="134"/>
                  </a:cubicBezTo>
                  <a:cubicBezTo>
                    <a:pt x="60" y="153"/>
                    <a:pt x="60" y="153"/>
                    <a:pt x="60" y="153"/>
                  </a:cubicBezTo>
                  <a:cubicBezTo>
                    <a:pt x="60" y="153"/>
                    <a:pt x="49" y="161"/>
                    <a:pt x="54" y="180"/>
                  </a:cubicBezTo>
                  <a:cubicBezTo>
                    <a:pt x="59" y="199"/>
                    <a:pt x="74" y="199"/>
                    <a:pt x="74" y="199"/>
                  </a:cubicBezTo>
                  <a:cubicBezTo>
                    <a:pt x="74" y="199"/>
                    <a:pt x="61" y="225"/>
                    <a:pt x="80" y="222"/>
                  </a:cubicBezTo>
                  <a:cubicBezTo>
                    <a:pt x="99" y="219"/>
                    <a:pt x="100" y="203"/>
                    <a:pt x="100" y="203"/>
                  </a:cubicBezTo>
                  <a:cubicBezTo>
                    <a:pt x="133" y="188"/>
                    <a:pt x="133" y="188"/>
                    <a:pt x="133" y="188"/>
                  </a:cubicBezTo>
                  <a:cubicBezTo>
                    <a:pt x="150" y="193"/>
                    <a:pt x="150" y="193"/>
                    <a:pt x="150" y="193"/>
                  </a:cubicBezTo>
                  <a:cubicBezTo>
                    <a:pt x="155" y="181"/>
                    <a:pt x="155" y="181"/>
                    <a:pt x="155" y="181"/>
                  </a:cubicBezTo>
                  <a:cubicBezTo>
                    <a:pt x="155" y="181"/>
                    <a:pt x="191" y="184"/>
                    <a:pt x="185" y="165"/>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423" name="Freeform 214">
              <a:extLst>
                <a:ext uri="{FF2B5EF4-FFF2-40B4-BE49-F238E27FC236}">
                  <a16:creationId xmlns:a16="http://schemas.microsoft.com/office/drawing/2014/main" id="{721AE885-6928-4BA2-ABB2-457DE3F89B54}"/>
                </a:ext>
              </a:extLst>
            </p:cNvPr>
            <p:cNvSpPr>
              <a:spLocks/>
            </p:cNvSpPr>
            <p:nvPr/>
          </p:nvSpPr>
          <p:spPr bwMode="gray">
            <a:xfrm>
              <a:off x="7921773" y="1913721"/>
              <a:ext cx="273941" cy="301353"/>
            </a:xfrm>
            <a:custGeom>
              <a:avLst/>
              <a:gdLst>
                <a:gd name="T0" fmla="*/ 28 w 404"/>
                <a:gd name="T1" fmla="*/ 124 h 470"/>
                <a:gd name="T2" fmla="*/ 47 w 404"/>
                <a:gd name="T3" fmla="*/ 163 h 470"/>
                <a:gd name="T4" fmla="*/ 68 w 404"/>
                <a:gd name="T5" fmla="*/ 160 h 470"/>
                <a:gd name="T6" fmla="*/ 74 w 404"/>
                <a:gd name="T7" fmla="*/ 196 h 470"/>
                <a:gd name="T8" fmla="*/ 73 w 404"/>
                <a:gd name="T9" fmla="*/ 224 h 470"/>
                <a:gd name="T10" fmla="*/ 88 w 404"/>
                <a:gd name="T11" fmla="*/ 254 h 470"/>
                <a:gd name="T12" fmla="*/ 143 w 404"/>
                <a:gd name="T13" fmla="*/ 245 h 470"/>
                <a:gd name="T14" fmla="*/ 187 w 404"/>
                <a:gd name="T15" fmla="*/ 228 h 470"/>
                <a:gd name="T16" fmla="*/ 215 w 404"/>
                <a:gd name="T17" fmla="*/ 247 h 470"/>
                <a:gd name="T18" fmla="*/ 248 w 404"/>
                <a:gd name="T19" fmla="*/ 298 h 470"/>
                <a:gd name="T20" fmla="*/ 283 w 404"/>
                <a:gd name="T21" fmla="*/ 347 h 470"/>
                <a:gd name="T22" fmla="*/ 294 w 404"/>
                <a:gd name="T23" fmla="*/ 367 h 470"/>
                <a:gd name="T24" fmla="*/ 302 w 404"/>
                <a:gd name="T25" fmla="*/ 425 h 470"/>
                <a:gd name="T26" fmla="*/ 290 w 404"/>
                <a:gd name="T27" fmla="*/ 448 h 470"/>
                <a:gd name="T28" fmla="*/ 327 w 404"/>
                <a:gd name="T29" fmla="*/ 462 h 470"/>
                <a:gd name="T30" fmla="*/ 334 w 404"/>
                <a:gd name="T31" fmla="*/ 434 h 470"/>
                <a:gd name="T32" fmla="*/ 365 w 404"/>
                <a:gd name="T33" fmla="*/ 435 h 470"/>
                <a:gd name="T34" fmla="*/ 390 w 404"/>
                <a:gd name="T35" fmla="*/ 430 h 470"/>
                <a:gd name="T36" fmla="*/ 391 w 404"/>
                <a:gd name="T37" fmla="*/ 410 h 470"/>
                <a:gd name="T38" fmla="*/ 369 w 404"/>
                <a:gd name="T39" fmla="*/ 369 h 470"/>
                <a:gd name="T40" fmla="*/ 361 w 404"/>
                <a:gd name="T41" fmla="*/ 331 h 470"/>
                <a:gd name="T42" fmla="*/ 334 w 404"/>
                <a:gd name="T43" fmla="*/ 299 h 470"/>
                <a:gd name="T44" fmla="*/ 319 w 404"/>
                <a:gd name="T45" fmla="*/ 289 h 470"/>
                <a:gd name="T46" fmla="*/ 285 w 404"/>
                <a:gd name="T47" fmla="*/ 236 h 470"/>
                <a:gd name="T48" fmla="*/ 256 w 404"/>
                <a:gd name="T49" fmla="*/ 203 h 470"/>
                <a:gd name="T50" fmla="*/ 193 w 404"/>
                <a:gd name="T51" fmla="*/ 168 h 470"/>
                <a:gd name="T52" fmla="*/ 218 w 404"/>
                <a:gd name="T53" fmla="*/ 156 h 470"/>
                <a:gd name="T54" fmla="*/ 212 w 404"/>
                <a:gd name="T55" fmla="*/ 112 h 470"/>
                <a:gd name="T56" fmla="*/ 184 w 404"/>
                <a:gd name="T57" fmla="*/ 79 h 470"/>
                <a:gd name="T58" fmla="*/ 160 w 404"/>
                <a:gd name="T59" fmla="*/ 90 h 470"/>
                <a:gd name="T60" fmla="*/ 128 w 404"/>
                <a:gd name="T61" fmla="*/ 63 h 470"/>
                <a:gd name="T62" fmla="*/ 118 w 404"/>
                <a:gd name="T63" fmla="*/ 40 h 470"/>
                <a:gd name="T64" fmla="*/ 91 w 404"/>
                <a:gd name="T65" fmla="*/ 2 h 470"/>
                <a:gd name="T66" fmla="*/ 60 w 404"/>
                <a:gd name="T67" fmla="*/ 22 h 470"/>
                <a:gd name="T68" fmla="*/ 79 w 404"/>
                <a:gd name="T69" fmla="*/ 72 h 470"/>
                <a:gd name="T70" fmla="*/ 48 w 404"/>
                <a:gd name="T71" fmla="*/ 57 h 470"/>
                <a:gd name="T72" fmla="*/ 26 w 404"/>
                <a:gd name="T73" fmla="*/ 74 h 470"/>
                <a:gd name="T74" fmla="*/ 26 w 404"/>
                <a:gd name="T75" fmla="*/ 89 h 470"/>
                <a:gd name="T76" fmla="*/ 2 w 404"/>
                <a:gd name="T77" fmla="*/ 110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04" h="470">
                  <a:moveTo>
                    <a:pt x="17" y="121"/>
                  </a:moveTo>
                  <a:cubicBezTo>
                    <a:pt x="17" y="121"/>
                    <a:pt x="27" y="116"/>
                    <a:pt x="28" y="124"/>
                  </a:cubicBezTo>
                  <a:cubicBezTo>
                    <a:pt x="29" y="132"/>
                    <a:pt x="22" y="153"/>
                    <a:pt x="28" y="158"/>
                  </a:cubicBezTo>
                  <a:cubicBezTo>
                    <a:pt x="34" y="163"/>
                    <a:pt x="47" y="163"/>
                    <a:pt x="47" y="163"/>
                  </a:cubicBezTo>
                  <a:cubicBezTo>
                    <a:pt x="45" y="155"/>
                    <a:pt x="45" y="155"/>
                    <a:pt x="45" y="155"/>
                  </a:cubicBezTo>
                  <a:cubicBezTo>
                    <a:pt x="45" y="155"/>
                    <a:pt x="68" y="146"/>
                    <a:pt x="68" y="160"/>
                  </a:cubicBezTo>
                  <a:cubicBezTo>
                    <a:pt x="68" y="174"/>
                    <a:pt x="66" y="180"/>
                    <a:pt x="66" y="180"/>
                  </a:cubicBezTo>
                  <a:cubicBezTo>
                    <a:pt x="66" y="180"/>
                    <a:pt x="74" y="187"/>
                    <a:pt x="74" y="196"/>
                  </a:cubicBezTo>
                  <a:cubicBezTo>
                    <a:pt x="74" y="205"/>
                    <a:pt x="60" y="216"/>
                    <a:pt x="60" y="216"/>
                  </a:cubicBezTo>
                  <a:cubicBezTo>
                    <a:pt x="60" y="216"/>
                    <a:pt x="73" y="215"/>
                    <a:pt x="73" y="224"/>
                  </a:cubicBezTo>
                  <a:cubicBezTo>
                    <a:pt x="73" y="233"/>
                    <a:pt x="49" y="264"/>
                    <a:pt x="59" y="267"/>
                  </a:cubicBezTo>
                  <a:cubicBezTo>
                    <a:pt x="69" y="270"/>
                    <a:pt x="88" y="254"/>
                    <a:pt x="88" y="254"/>
                  </a:cubicBezTo>
                  <a:cubicBezTo>
                    <a:pt x="88" y="254"/>
                    <a:pt x="101" y="229"/>
                    <a:pt x="108" y="231"/>
                  </a:cubicBezTo>
                  <a:cubicBezTo>
                    <a:pt x="115" y="233"/>
                    <a:pt x="129" y="244"/>
                    <a:pt x="143" y="245"/>
                  </a:cubicBezTo>
                  <a:cubicBezTo>
                    <a:pt x="157" y="246"/>
                    <a:pt x="154" y="221"/>
                    <a:pt x="164" y="220"/>
                  </a:cubicBezTo>
                  <a:cubicBezTo>
                    <a:pt x="174" y="219"/>
                    <a:pt x="187" y="228"/>
                    <a:pt x="187" y="228"/>
                  </a:cubicBezTo>
                  <a:cubicBezTo>
                    <a:pt x="187" y="228"/>
                    <a:pt x="194" y="226"/>
                    <a:pt x="202" y="228"/>
                  </a:cubicBezTo>
                  <a:cubicBezTo>
                    <a:pt x="210" y="230"/>
                    <a:pt x="197" y="236"/>
                    <a:pt x="215" y="247"/>
                  </a:cubicBezTo>
                  <a:cubicBezTo>
                    <a:pt x="233" y="258"/>
                    <a:pt x="247" y="270"/>
                    <a:pt x="247" y="270"/>
                  </a:cubicBezTo>
                  <a:cubicBezTo>
                    <a:pt x="248" y="298"/>
                    <a:pt x="248" y="298"/>
                    <a:pt x="248" y="298"/>
                  </a:cubicBezTo>
                  <a:cubicBezTo>
                    <a:pt x="248" y="298"/>
                    <a:pt x="255" y="318"/>
                    <a:pt x="260" y="327"/>
                  </a:cubicBezTo>
                  <a:cubicBezTo>
                    <a:pt x="265" y="336"/>
                    <a:pt x="283" y="343"/>
                    <a:pt x="283" y="347"/>
                  </a:cubicBezTo>
                  <a:cubicBezTo>
                    <a:pt x="283" y="351"/>
                    <a:pt x="285" y="364"/>
                    <a:pt x="285" y="364"/>
                  </a:cubicBezTo>
                  <a:cubicBezTo>
                    <a:pt x="285" y="364"/>
                    <a:pt x="288" y="357"/>
                    <a:pt x="294" y="367"/>
                  </a:cubicBezTo>
                  <a:cubicBezTo>
                    <a:pt x="300" y="377"/>
                    <a:pt x="285" y="390"/>
                    <a:pt x="287" y="394"/>
                  </a:cubicBezTo>
                  <a:cubicBezTo>
                    <a:pt x="289" y="398"/>
                    <a:pt x="312" y="413"/>
                    <a:pt x="302" y="425"/>
                  </a:cubicBezTo>
                  <a:cubicBezTo>
                    <a:pt x="296" y="432"/>
                    <a:pt x="291" y="436"/>
                    <a:pt x="287" y="439"/>
                  </a:cubicBezTo>
                  <a:cubicBezTo>
                    <a:pt x="287" y="442"/>
                    <a:pt x="287" y="447"/>
                    <a:pt x="290" y="448"/>
                  </a:cubicBezTo>
                  <a:cubicBezTo>
                    <a:pt x="294" y="449"/>
                    <a:pt x="310" y="450"/>
                    <a:pt x="310" y="450"/>
                  </a:cubicBezTo>
                  <a:cubicBezTo>
                    <a:pt x="310" y="450"/>
                    <a:pt x="319" y="470"/>
                    <a:pt x="327" y="462"/>
                  </a:cubicBezTo>
                  <a:cubicBezTo>
                    <a:pt x="335" y="454"/>
                    <a:pt x="323" y="442"/>
                    <a:pt x="323" y="442"/>
                  </a:cubicBezTo>
                  <a:cubicBezTo>
                    <a:pt x="334" y="434"/>
                    <a:pt x="334" y="434"/>
                    <a:pt x="334" y="434"/>
                  </a:cubicBezTo>
                  <a:cubicBezTo>
                    <a:pt x="343" y="426"/>
                    <a:pt x="343" y="426"/>
                    <a:pt x="343" y="426"/>
                  </a:cubicBezTo>
                  <a:cubicBezTo>
                    <a:pt x="365" y="435"/>
                    <a:pt x="365" y="435"/>
                    <a:pt x="365" y="435"/>
                  </a:cubicBezTo>
                  <a:cubicBezTo>
                    <a:pt x="373" y="426"/>
                    <a:pt x="373" y="426"/>
                    <a:pt x="373" y="426"/>
                  </a:cubicBezTo>
                  <a:cubicBezTo>
                    <a:pt x="390" y="430"/>
                    <a:pt x="390" y="430"/>
                    <a:pt x="390" y="430"/>
                  </a:cubicBezTo>
                  <a:cubicBezTo>
                    <a:pt x="390" y="430"/>
                    <a:pt x="396" y="431"/>
                    <a:pt x="400" y="423"/>
                  </a:cubicBezTo>
                  <a:cubicBezTo>
                    <a:pt x="404" y="415"/>
                    <a:pt x="391" y="410"/>
                    <a:pt x="391" y="410"/>
                  </a:cubicBezTo>
                  <a:cubicBezTo>
                    <a:pt x="402" y="389"/>
                    <a:pt x="402" y="389"/>
                    <a:pt x="402" y="389"/>
                  </a:cubicBezTo>
                  <a:cubicBezTo>
                    <a:pt x="402" y="389"/>
                    <a:pt x="383" y="380"/>
                    <a:pt x="369" y="369"/>
                  </a:cubicBezTo>
                  <a:cubicBezTo>
                    <a:pt x="355" y="358"/>
                    <a:pt x="369" y="355"/>
                    <a:pt x="377" y="350"/>
                  </a:cubicBezTo>
                  <a:cubicBezTo>
                    <a:pt x="385" y="345"/>
                    <a:pt x="361" y="331"/>
                    <a:pt x="361" y="331"/>
                  </a:cubicBezTo>
                  <a:cubicBezTo>
                    <a:pt x="361" y="331"/>
                    <a:pt x="351" y="330"/>
                    <a:pt x="344" y="323"/>
                  </a:cubicBezTo>
                  <a:cubicBezTo>
                    <a:pt x="337" y="316"/>
                    <a:pt x="334" y="299"/>
                    <a:pt x="334" y="299"/>
                  </a:cubicBezTo>
                  <a:cubicBezTo>
                    <a:pt x="320" y="300"/>
                    <a:pt x="320" y="300"/>
                    <a:pt x="320" y="300"/>
                  </a:cubicBezTo>
                  <a:cubicBezTo>
                    <a:pt x="319" y="289"/>
                    <a:pt x="319" y="289"/>
                    <a:pt x="319" y="289"/>
                  </a:cubicBezTo>
                  <a:cubicBezTo>
                    <a:pt x="319" y="289"/>
                    <a:pt x="308" y="278"/>
                    <a:pt x="295" y="267"/>
                  </a:cubicBezTo>
                  <a:cubicBezTo>
                    <a:pt x="282" y="256"/>
                    <a:pt x="285" y="236"/>
                    <a:pt x="285" y="236"/>
                  </a:cubicBezTo>
                  <a:cubicBezTo>
                    <a:pt x="285" y="236"/>
                    <a:pt x="263" y="228"/>
                    <a:pt x="259" y="224"/>
                  </a:cubicBezTo>
                  <a:cubicBezTo>
                    <a:pt x="255" y="220"/>
                    <a:pt x="256" y="203"/>
                    <a:pt x="256" y="203"/>
                  </a:cubicBezTo>
                  <a:cubicBezTo>
                    <a:pt x="256" y="203"/>
                    <a:pt x="238" y="198"/>
                    <a:pt x="232" y="193"/>
                  </a:cubicBezTo>
                  <a:cubicBezTo>
                    <a:pt x="226" y="188"/>
                    <a:pt x="193" y="168"/>
                    <a:pt x="193" y="168"/>
                  </a:cubicBezTo>
                  <a:cubicBezTo>
                    <a:pt x="193" y="168"/>
                    <a:pt x="193" y="156"/>
                    <a:pt x="191" y="152"/>
                  </a:cubicBezTo>
                  <a:cubicBezTo>
                    <a:pt x="189" y="148"/>
                    <a:pt x="218" y="156"/>
                    <a:pt x="218" y="156"/>
                  </a:cubicBezTo>
                  <a:cubicBezTo>
                    <a:pt x="218" y="156"/>
                    <a:pt x="237" y="142"/>
                    <a:pt x="243" y="132"/>
                  </a:cubicBezTo>
                  <a:cubicBezTo>
                    <a:pt x="249" y="122"/>
                    <a:pt x="230" y="120"/>
                    <a:pt x="212" y="112"/>
                  </a:cubicBezTo>
                  <a:cubicBezTo>
                    <a:pt x="194" y="104"/>
                    <a:pt x="214" y="98"/>
                    <a:pt x="214" y="98"/>
                  </a:cubicBezTo>
                  <a:cubicBezTo>
                    <a:pt x="214" y="98"/>
                    <a:pt x="192" y="80"/>
                    <a:pt x="184" y="79"/>
                  </a:cubicBezTo>
                  <a:cubicBezTo>
                    <a:pt x="176" y="78"/>
                    <a:pt x="179" y="90"/>
                    <a:pt x="172" y="98"/>
                  </a:cubicBezTo>
                  <a:cubicBezTo>
                    <a:pt x="165" y="106"/>
                    <a:pt x="160" y="90"/>
                    <a:pt x="160" y="90"/>
                  </a:cubicBezTo>
                  <a:cubicBezTo>
                    <a:pt x="151" y="90"/>
                    <a:pt x="151" y="90"/>
                    <a:pt x="151" y="90"/>
                  </a:cubicBezTo>
                  <a:cubicBezTo>
                    <a:pt x="151" y="90"/>
                    <a:pt x="138" y="76"/>
                    <a:pt x="128" y="63"/>
                  </a:cubicBezTo>
                  <a:cubicBezTo>
                    <a:pt x="118" y="50"/>
                    <a:pt x="131" y="41"/>
                    <a:pt x="127" y="37"/>
                  </a:cubicBezTo>
                  <a:cubicBezTo>
                    <a:pt x="123" y="33"/>
                    <a:pt x="118" y="40"/>
                    <a:pt x="118" y="40"/>
                  </a:cubicBezTo>
                  <a:cubicBezTo>
                    <a:pt x="118" y="40"/>
                    <a:pt x="102" y="22"/>
                    <a:pt x="96" y="15"/>
                  </a:cubicBezTo>
                  <a:cubicBezTo>
                    <a:pt x="93" y="12"/>
                    <a:pt x="92" y="7"/>
                    <a:pt x="91" y="2"/>
                  </a:cubicBezTo>
                  <a:cubicBezTo>
                    <a:pt x="67" y="0"/>
                    <a:pt x="67" y="0"/>
                    <a:pt x="67" y="0"/>
                  </a:cubicBezTo>
                  <a:cubicBezTo>
                    <a:pt x="67" y="0"/>
                    <a:pt x="59" y="9"/>
                    <a:pt x="60" y="22"/>
                  </a:cubicBezTo>
                  <a:cubicBezTo>
                    <a:pt x="61" y="35"/>
                    <a:pt x="79" y="47"/>
                    <a:pt x="79" y="47"/>
                  </a:cubicBezTo>
                  <a:cubicBezTo>
                    <a:pt x="79" y="72"/>
                    <a:pt x="79" y="72"/>
                    <a:pt x="79" y="72"/>
                  </a:cubicBezTo>
                  <a:cubicBezTo>
                    <a:pt x="50" y="70"/>
                    <a:pt x="50" y="70"/>
                    <a:pt x="50" y="70"/>
                  </a:cubicBezTo>
                  <a:cubicBezTo>
                    <a:pt x="48" y="57"/>
                    <a:pt x="48" y="57"/>
                    <a:pt x="48" y="57"/>
                  </a:cubicBezTo>
                  <a:cubicBezTo>
                    <a:pt x="26" y="67"/>
                    <a:pt x="26" y="67"/>
                    <a:pt x="26" y="67"/>
                  </a:cubicBezTo>
                  <a:cubicBezTo>
                    <a:pt x="26" y="74"/>
                    <a:pt x="26" y="74"/>
                    <a:pt x="26" y="74"/>
                  </a:cubicBezTo>
                  <a:cubicBezTo>
                    <a:pt x="21" y="82"/>
                    <a:pt x="21" y="82"/>
                    <a:pt x="21" y="82"/>
                  </a:cubicBezTo>
                  <a:cubicBezTo>
                    <a:pt x="26" y="89"/>
                    <a:pt x="26" y="89"/>
                    <a:pt x="26" y="89"/>
                  </a:cubicBezTo>
                  <a:cubicBezTo>
                    <a:pt x="26" y="89"/>
                    <a:pt x="18" y="92"/>
                    <a:pt x="9" y="95"/>
                  </a:cubicBezTo>
                  <a:cubicBezTo>
                    <a:pt x="0" y="98"/>
                    <a:pt x="2" y="110"/>
                    <a:pt x="2" y="110"/>
                  </a:cubicBezTo>
                  <a:cubicBezTo>
                    <a:pt x="6" y="111"/>
                    <a:pt x="17" y="121"/>
                    <a:pt x="17" y="121"/>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424" name="Freeform 215">
              <a:extLst>
                <a:ext uri="{FF2B5EF4-FFF2-40B4-BE49-F238E27FC236}">
                  <a16:creationId xmlns:a16="http://schemas.microsoft.com/office/drawing/2014/main" id="{B5937A78-BB0E-49E4-A523-CF63312BF63B}"/>
                </a:ext>
              </a:extLst>
            </p:cNvPr>
            <p:cNvSpPr>
              <a:spLocks/>
            </p:cNvSpPr>
            <p:nvPr/>
          </p:nvSpPr>
          <p:spPr bwMode="gray">
            <a:xfrm>
              <a:off x="7848550" y="1983495"/>
              <a:ext cx="284853" cy="513114"/>
            </a:xfrm>
            <a:custGeom>
              <a:avLst/>
              <a:gdLst>
                <a:gd name="T0" fmla="*/ 402 w 420"/>
                <a:gd name="T1" fmla="*/ 258 h 800"/>
                <a:gd name="T2" fmla="*/ 391 w 420"/>
                <a:gd name="T3" fmla="*/ 238 h 800"/>
                <a:gd name="T4" fmla="*/ 356 w 420"/>
                <a:gd name="T5" fmla="*/ 189 h 800"/>
                <a:gd name="T6" fmla="*/ 323 w 420"/>
                <a:gd name="T7" fmla="*/ 138 h 800"/>
                <a:gd name="T8" fmla="*/ 295 w 420"/>
                <a:gd name="T9" fmla="*/ 119 h 800"/>
                <a:gd name="T10" fmla="*/ 251 w 420"/>
                <a:gd name="T11" fmla="*/ 136 h 800"/>
                <a:gd name="T12" fmla="*/ 196 w 420"/>
                <a:gd name="T13" fmla="*/ 145 h 800"/>
                <a:gd name="T14" fmla="*/ 181 w 420"/>
                <a:gd name="T15" fmla="*/ 115 h 800"/>
                <a:gd name="T16" fmla="*/ 182 w 420"/>
                <a:gd name="T17" fmla="*/ 87 h 800"/>
                <a:gd name="T18" fmla="*/ 176 w 420"/>
                <a:gd name="T19" fmla="*/ 51 h 800"/>
                <a:gd name="T20" fmla="*/ 155 w 420"/>
                <a:gd name="T21" fmla="*/ 54 h 800"/>
                <a:gd name="T22" fmla="*/ 136 w 420"/>
                <a:gd name="T23" fmla="*/ 15 h 800"/>
                <a:gd name="T24" fmla="*/ 110 w 420"/>
                <a:gd name="T25" fmla="*/ 1 h 800"/>
                <a:gd name="T26" fmla="*/ 82 w 420"/>
                <a:gd name="T27" fmla="*/ 21 h 800"/>
                <a:gd name="T28" fmla="*/ 53 w 420"/>
                <a:gd name="T29" fmla="*/ 43 h 800"/>
                <a:gd name="T30" fmla="*/ 19 w 420"/>
                <a:gd name="T31" fmla="*/ 64 h 800"/>
                <a:gd name="T32" fmla="*/ 17 w 420"/>
                <a:gd name="T33" fmla="*/ 102 h 800"/>
                <a:gd name="T34" fmla="*/ 8 w 420"/>
                <a:gd name="T35" fmla="*/ 120 h 800"/>
                <a:gd name="T36" fmla="*/ 22 w 420"/>
                <a:gd name="T37" fmla="*/ 145 h 800"/>
                <a:gd name="T38" fmla="*/ 67 w 420"/>
                <a:gd name="T39" fmla="*/ 188 h 800"/>
                <a:gd name="T40" fmla="*/ 79 w 420"/>
                <a:gd name="T41" fmla="*/ 219 h 800"/>
                <a:gd name="T42" fmla="*/ 73 w 420"/>
                <a:gd name="T43" fmla="*/ 236 h 800"/>
                <a:gd name="T44" fmla="*/ 65 w 420"/>
                <a:gd name="T45" fmla="*/ 279 h 800"/>
                <a:gd name="T46" fmla="*/ 79 w 420"/>
                <a:gd name="T47" fmla="*/ 326 h 800"/>
                <a:gd name="T48" fmla="*/ 112 w 420"/>
                <a:gd name="T49" fmla="*/ 409 h 800"/>
                <a:gd name="T50" fmla="*/ 133 w 420"/>
                <a:gd name="T51" fmla="*/ 450 h 800"/>
                <a:gd name="T52" fmla="*/ 110 w 420"/>
                <a:gd name="T53" fmla="*/ 522 h 800"/>
                <a:gd name="T54" fmla="*/ 98 w 420"/>
                <a:gd name="T55" fmla="*/ 567 h 800"/>
                <a:gd name="T56" fmla="*/ 84 w 420"/>
                <a:gd name="T57" fmla="*/ 676 h 800"/>
                <a:gd name="T58" fmla="*/ 101 w 420"/>
                <a:gd name="T59" fmla="*/ 653 h 800"/>
                <a:gd name="T60" fmla="*/ 132 w 420"/>
                <a:gd name="T61" fmla="*/ 698 h 800"/>
                <a:gd name="T62" fmla="*/ 159 w 420"/>
                <a:gd name="T63" fmla="*/ 743 h 800"/>
                <a:gd name="T64" fmla="*/ 184 w 420"/>
                <a:gd name="T65" fmla="*/ 754 h 800"/>
                <a:gd name="T66" fmla="*/ 198 w 420"/>
                <a:gd name="T67" fmla="*/ 749 h 800"/>
                <a:gd name="T68" fmla="*/ 222 w 420"/>
                <a:gd name="T69" fmla="*/ 765 h 800"/>
                <a:gd name="T70" fmla="*/ 226 w 420"/>
                <a:gd name="T71" fmla="*/ 791 h 800"/>
                <a:gd name="T72" fmla="*/ 268 w 420"/>
                <a:gd name="T73" fmla="*/ 792 h 800"/>
                <a:gd name="T74" fmla="*/ 261 w 420"/>
                <a:gd name="T75" fmla="*/ 755 h 800"/>
                <a:gd name="T76" fmla="*/ 215 w 420"/>
                <a:gd name="T77" fmla="*/ 727 h 800"/>
                <a:gd name="T78" fmla="*/ 190 w 420"/>
                <a:gd name="T79" fmla="*/ 705 h 800"/>
                <a:gd name="T80" fmla="*/ 190 w 420"/>
                <a:gd name="T81" fmla="*/ 679 h 800"/>
                <a:gd name="T82" fmla="*/ 165 w 420"/>
                <a:gd name="T83" fmla="*/ 635 h 800"/>
                <a:gd name="T84" fmla="*/ 131 w 420"/>
                <a:gd name="T85" fmla="*/ 608 h 800"/>
                <a:gd name="T86" fmla="*/ 120 w 420"/>
                <a:gd name="T87" fmla="*/ 524 h 800"/>
                <a:gd name="T88" fmla="*/ 138 w 420"/>
                <a:gd name="T89" fmla="*/ 456 h 800"/>
                <a:gd name="T90" fmla="*/ 147 w 420"/>
                <a:gd name="T91" fmla="*/ 396 h 800"/>
                <a:gd name="T92" fmla="*/ 158 w 420"/>
                <a:gd name="T93" fmla="*/ 374 h 800"/>
                <a:gd name="T94" fmla="*/ 201 w 420"/>
                <a:gd name="T95" fmla="*/ 381 h 800"/>
                <a:gd name="T96" fmla="*/ 199 w 420"/>
                <a:gd name="T97" fmla="*/ 419 h 800"/>
                <a:gd name="T98" fmla="*/ 265 w 420"/>
                <a:gd name="T99" fmla="*/ 457 h 800"/>
                <a:gd name="T100" fmla="*/ 287 w 420"/>
                <a:gd name="T101" fmla="*/ 431 h 800"/>
                <a:gd name="T102" fmla="*/ 276 w 420"/>
                <a:gd name="T103" fmla="*/ 402 h 800"/>
                <a:gd name="T104" fmla="*/ 267 w 420"/>
                <a:gd name="T105" fmla="*/ 371 h 800"/>
                <a:gd name="T106" fmla="*/ 313 w 420"/>
                <a:gd name="T107" fmla="*/ 327 h 800"/>
                <a:gd name="T108" fmla="*/ 368 w 420"/>
                <a:gd name="T109" fmla="*/ 325 h 800"/>
                <a:gd name="T110" fmla="*/ 410 w 420"/>
                <a:gd name="T111" fmla="*/ 316 h 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420" h="800">
                  <a:moveTo>
                    <a:pt x="395" y="285"/>
                  </a:moveTo>
                  <a:cubicBezTo>
                    <a:pt x="393" y="281"/>
                    <a:pt x="408" y="268"/>
                    <a:pt x="402" y="258"/>
                  </a:cubicBezTo>
                  <a:cubicBezTo>
                    <a:pt x="396" y="248"/>
                    <a:pt x="393" y="255"/>
                    <a:pt x="393" y="255"/>
                  </a:cubicBezTo>
                  <a:cubicBezTo>
                    <a:pt x="393" y="255"/>
                    <a:pt x="391" y="242"/>
                    <a:pt x="391" y="238"/>
                  </a:cubicBezTo>
                  <a:cubicBezTo>
                    <a:pt x="391" y="234"/>
                    <a:pt x="373" y="227"/>
                    <a:pt x="368" y="218"/>
                  </a:cubicBezTo>
                  <a:cubicBezTo>
                    <a:pt x="363" y="209"/>
                    <a:pt x="356" y="189"/>
                    <a:pt x="356" y="189"/>
                  </a:cubicBezTo>
                  <a:cubicBezTo>
                    <a:pt x="355" y="161"/>
                    <a:pt x="355" y="161"/>
                    <a:pt x="355" y="161"/>
                  </a:cubicBezTo>
                  <a:cubicBezTo>
                    <a:pt x="355" y="161"/>
                    <a:pt x="341" y="149"/>
                    <a:pt x="323" y="138"/>
                  </a:cubicBezTo>
                  <a:cubicBezTo>
                    <a:pt x="305" y="127"/>
                    <a:pt x="318" y="121"/>
                    <a:pt x="310" y="119"/>
                  </a:cubicBezTo>
                  <a:cubicBezTo>
                    <a:pt x="302" y="117"/>
                    <a:pt x="295" y="119"/>
                    <a:pt x="295" y="119"/>
                  </a:cubicBezTo>
                  <a:cubicBezTo>
                    <a:pt x="295" y="119"/>
                    <a:pt x="282" y="110"/>
                    <a:pt x="272" y="111"/>
                  </a:cubicBezTo>
                  <a:cubicBezTo>
                    <a:pt x="262" y="112"/>
                    <a:pt x="265" y="137"/>
                    <a:pt x="251" y="136"/>
                  </a:cubicBezTo>
                  <a:cubicBezTo>
                    <a:pt x="237" y="135"/>
                    <a:pt x="223" y="124"/>
                    <a:pt x="216" y="122"/>
                  </a:cubicBezTo>
                  <a:cubicBezTo>
                    <a:pt x="209" y="120"/>
                    <a:pt x="196" y="145"/>
                    <a:pt x="196" y="145"/>
                  </a:cubicBezTo>
                  <a:cubicBezTo>
                    <a:pt x="196" y="145"/>
                    <a:pt x="177" y="161"/>
                    <a:pt x="167" y="158"/>
                  </a:cubicBezTo>
                  <a:cubicBezTo>
                    <a:pt x="157" y="155"/>
                    <a:pt x="181" y="124"/>
                    <a:pt x="181" y="115"/>
                  </a:cubicBezTo>
                  <a:cubicBezTo>
                    <a:pt x="181" y="106"/>
                    <a:pt x="168" y="107"/>
                    <a:pt x="168" y="107"/>
                  </a:cubicBezTo>
                  <a:cubicBezTo>
                    <a:pt x="168" y="107"/>
                    <a:pt x="182" y="96"/>
                    <a:pt x="182" y="87"/>
                  </a:cubicBezTo>
                  <a:cubicBezTo>
                    <a:pt x="182" y="78"/>
                    <a:pt x="174" y="71"/>
                    <a:pt x="174" y="71"/>
                  </a:cubicBezTo>
                  <a:cubicBezTo>
                    <a:pt x="174" y="71"/>
                    <a:pt x="176" y="65"/>
                    <a:pt x="176" y="51"/>
                  </a:cubicBezTo>
                  <a:cubicBezTo>
                    <a:pt x="176" y="37"/>
                    <a:pt x="153" y="46"/>
                    <a:pt x="153" y="46"/>
                  </a:cubicBezTo>
                  <a:cubicBezTo>
                    <a:pt x="155" y="54"/>
                    <a:pt x="155" y="54"/>
                    <a:pt x="155" y="54"/>
                  </a:cubicBezTo>
                  <a:cubicBezTo>
                    <a:pt x="155" y="54"/>
                    <a:pt x="142" y="54"/>
                    <a:pt x="136" y="49"/>
                  </a:cubicBezTo>
                  <a:cubicBezTo>
                    <a:pt x="130" y="44"/>
                    <a:pt x="137" y="23"/>
                    <a:pt x="136" y="15"/>
                  </a:cubicBezTo>
                  <a:cubicBezTo>
                    <a:pt x="135" y="7"/>
                    <a:pt x="125" y="12"/>
                    <a:pt x="125" y="12"/>
                  </a:cubicBezTo>
                  <a:cubicBezTo>
                    <a:pt x="125" y="12"/>
                    <a:pt x="114" y="2"/>
                    <a:pt x="110" y="1"/>
                  </a:cubicBezTo>
                  <a:cubicBezTo>
                    <a:pt x="106" y="0"/>
                    <a:pt x="87" y="6"/>
                    <a:pt x="87" y="6"/>
                  </a:cubicBezTo>
                  <a:cubicBezTo>
                    <a:pt x="82" y="21"/>
                    <a:pt x="82" y="21"/>
                    <a:pt x="82" y="21"/>
                  </a:cubicBezTo>
                  <a:cubicBezTo>
                    <a:pt x="65" y="22"/>
                    <a:pt x="65" y="22"/>
                    <a:pt x="65" y="22"/>
                  </a:cubicBezTo>
                  <a:cubicBezTo>
                    <a:pt x="65" y="22"/>
                    <a:pt x="63" y="40"/>
                    <a:pt x="53" y="43"/>
                  </a:cubicBezTo>
                  <a:cubicBezTo>
                    <a:pt x="43" y="46"/>
                    <a:pt x="34" y="35"/>
                    <a:pt x="23" y="37"/>
                  </a:cubicBezTo>
                  <a:cubicBezTo>
                    <a:pt x="12" y="39"/>
                    <a:pt x="20" y="55"/>
                    <a:pt x="19" y="64"/>
                  </a:cubicBezTo>
                  <a:cubicBezTo>
                    <a:pt x="18" y="73"/>
                    <a:pt x="8" y="74"/>
                    <a:pt x="7" y="78"/>
                  </a:cubicBezTo>
                  <a:cubicBezTo>
                    <a:pt x="6" y="82"/>
                    <a:pt x="17" y="93"/>
                    <a:pt x="17" y="102"/>
                  </a:cubicBezTo>
                  <a:cubicBezTo>
                    <a:pt x="17" y="111"/>
                    <a:pt x="6" y="105"/>
                    <a:pt x="3" y="108"/>
                  </a:cubicBezTo>
                  <a:cubicBezTo>
                    <a:pt x="0" y="111"/>
                    <a:pt x="3" y="116"/>
                    <a:pt x="8" y="120"/>
                  </a:cubicBezTo>
                  <a:cubicBezTo>
                    <a:pt x="13" y="124"/>
                    <a:pt x="26" y="130"/>
                    <a:pt x="26" y="130"/>
                  </a:cubicBezTo>
                  <a:cubicBezTo>
                    <a:pt x="22" y="145"/>
                    <a:pt x="22" y="145"/>
                    <a:pt x="22" y="145"/>
                  </a:cubicBezTo>
                  <a:cubicBezTo>
                    <a:pt x="22" y="145"/>
                    <a:pt x="27" y="148"/>
                    <a:pt x="30" y="158"/>
                  </a:cubicBezTo>
                  <a:cubicBezTo>
                    <a:pt x="33" y="168"/>
                    <a:pt x="59" y="177"/>
                    <a:pt x="67" y="188"/>
                  </a:cubicBezTo>
                  <a:cubicBezTo>
                    <a:pt x="75" y="199"/>
                    <a:pt x="61" y="194"/>
                    <a:pt x="66" y="206"/>
                  </a:cubicBezTo>
                  <a:cubicBezTo>
                    <a:pt x="71" y="218"/>
                    <a:pt x="79" y="219"/>
                    <a:pt x="79" y="219"/>
                  </a:cubicBezTo>
                  <a:cubicBezTo>
                    <a:pt x="79" y="219"/>
                    <a:pt x="85" y="211"/>
                    <a:pt x="85" y="224"/>
                  </a:cubicBezTo>
                  <a:cubicBezTo>
                    <a:pt x="85" y="237"/>
                    <a:pt x="73" y="236"/>
                    <a:pt x="73" y="236"/>
                  </a:cubicBezTo>
                  <a:cubicBezTo>
                    <a:pt x="73" y="236"/>
                    <a:pt x="76" y="247"/>
                    <a:pt x="76" y="253"/>
                  </a:cubicBezTo>
                  <a:cubicBezTo>
                    <a:pt x="76" y="259"/>
                    <a:pt x="75" y="269"/>
                    <a:pt x="65" y="279"/>
                  </a:cubicBezTo>
                  <a:cubicBezTo>
                    <a:pt x="55" y="289"/>
                    <a:pt x="63" y="302"/>
                    <a:pt x="63" y="302"/>
                  </a:cubicBezTo>
                  <a:cubicBezTo>
                    <a:pt x="63" y="302"/>
                    <a:pt x="75" y="316"/>
                    <a:pt x="79" y="326"/>
                  </a:cubicBezTo>
                  <a:cubicBezTo>
                    <a:pt x="83" y="336"/>
                    <a:pt x="105" y="349"/>
                    <a:pt x="109" y="364"/>
                  </a:cubicBezTo>
                  <a:cubicBezTo>
                    <a:pt x="113" y="379"/>
                    <a:pt x="108" y="403"/>
                    <a:pt x="112" y="409"/>
                  </a:cubicBezTo>
                  <a:cubicBezTo>
                    <a:pt x="116" y="415"/>
                    <a:pt x="131" y="427"/>
                    <a:pt x="131" y="427"/>
                  </a:cubicBezTo>
                  <a:cubicBezTo>
                    <a:pt x="131" y="427"/>
                    <a:pt x="129" y="437"/>
                    <a:pt x="133" y="450"/>
                  </a:cubicBezTo>
                  <a:cubicBezTo>
                    <a:pt x="137" y="463"/>
                    <a:pt x="130" y="488"/>
                    <a:pt x="127" y="498"/>
                  </a:cubicBezTo>
                  <a:cubicBezTo>
                    <a:pt x="124" y="508"/>
                    <a:pt x="119" y="515"/>
                    <a:pt x="110" y="522"/>
                  </a:cubicBezTo>
                  <a:cubicBezTo>
                    <a:pt x="101" y="529"/>
                    <a:pt x="109" y="536"/>
                    <a:pt x="108" y="545"/>
                  </a:cubicBezTo>
                  <a:cubicBezTo>
                    <a:pt x="107" y="554"/>
                    <a:pt x="98" y="567"/>
                    <a:pt x="98" y="567"/>
                  </a:cubicBezTo>
                  <a:cubicBezTo>
                    <a:pt x="98" y="567"/>
                    <a:pt x="86" y="599"/>
                    <a:pt x="84" y="615"/>
                  </a:cubicBezTo>
                  <a:cubicBezTo>
                    <a:pt x="82" y="631"/>
                    <a:pt x="84" y="676"/>
                    <a:pt x="84" y="676"/>
                  </a:cubicBezTo>
                  <a:cubicBezTo>
                    <a:pt x="84" y="676"/>
                    <a:pt x="94" y="686"/>
                    <a:pt x="96" y="676"/>
                  </a:cubicBezTo>
                  <a:cubicBezTo>
                    <a:pt x="97" y="666"/>
                    <a:pt x="97" y="642"/>
                    <a:pt x="101" y="653"/>
                  </a:cubicBezTo>
                  <a:cubicBezTo>
                    <a:pt x="104" y="665"/>
                    <a:pt x="96" y="665"/>
                    <a:pt x="110" y="667"/>
                  </a:cubicBezTo>
                  <a:cubicBezTo>
                    <a:pt x="124" y="668"/>
                    <a:pt x="132" y="698"/>
                    <a:pt x="132" y="698"/>
                  </a:cubicBezTo>
                  <a:cubicBezTo>
                    <a:pt x="155" y="718"/>
                    <a:pt x="155" y="718"/>
                    <a:pt x="155" y="718"/>
                  </a:cubicBezTo>
                  <a:cubicBezTo>
                    <a:pt x="155" y="718"/>
                    <a:pt x="150" y="729"/>
                    <a:pt x="159" y="743"/>
                  </a:cubicBezTo>
                  <a:cubicBezTo>
                    <a:pt x="165" y="754"/>
                    <a:pt x="173" y="762"/>
                    <a:pt x="177" y="766"/>
                  </a:cubicBezTo>
                  <a:cubicBezTo>
                    <a:pt x="181" y="762"/>
                    <a:pt x="184" y="758"/>
                    <a:pt x="184" y="754"/>
                  </a:cubicBezTo>
                  <a:cubicBezTo>
                    <a:pt x="183" y="745"/>
                    <a:pt x="182" y="739"/>
                    <a:pt x="189" y="738"/>
                  </a:cubicBezTo>
                  <a:cubicBezTo>
                    <a:pt x="196" y="737"/>
                    <a:pt x="198" y="749"/>
                    <a:pt x="198" y="749"/>
                  </a:cubicBezTo>
                  <a:cubicBezTo>
                    <a:pt x="198" y="749"/>
                    <a:pt x="209" y="749"/>
                    <a:pt x="216" y="753"/>
                  </a:cubicBezTo>
                  <a:cubicBezTo>
                    <a:pt x="223" y="757"/>
                    <a:pt x="222" y="765"/>
                    <a:pt x="222" y="765"/>
                  </a:cubicBezTo>
                  <a:cubicBezTo>
                    <a:pt x="222" y="765"/>
                    <a:pt x="229" y="763"/>
                    <a:pt x="229" y="769"/>
                  </a:cubicBezTo>
                  <a:cubicBezTo>
                    <a:pt x="229" y="775"/>
                    <a:pt x="213" y="787"/>
                    <a:pt x="226" y="791"/>
                  </a:cubicBezTo>
                  <a:cubicBezTo>
                    <a:pt x="239" y="795"/>
                    <a:pt x="238" y="785"/>
                    <a:pt x="249" y="784"/>
                  </a:cubicBezTo>
                  <a:cubicBezTo>
                    <a:pt x="260" y="783"/>
                    <a:pt x="262" y="800"/>
                    <a:pt x="268" y="792"/>
                  </a:cubicBezTo>
                  <a:cubicBezTo>
                    <a:pt x="272" y="787"/>
                    <a:pt x="277" y="776"/>
                    <a:pt x="280" y="768"/>
                  </a:cubicBezTo>
                  <a:cubicBezTo>
                    <a:pt x="271" y="761"/>
                    <a:pt x="261" y="755"/>
                    <a:pt x="261" y="755"/>
                  </a:cubicBezTo>
                  <a:cubicBezTo>
                    <a:pt x="261" y="755"/>
                    <a:pt x="256" y="731"/>
                    <a:pt x="253" y="721"/>
                  </a:cubicBezTo>
                  <a:cubicBezTo>
                    <a:pt x="250" y="711"/>
                    <a:pt x="223" y="731"/>
                    <a:pt x="215" y="727"/>
                  </a:cubicBezTo>
                  <a:cubicBezTo>
                    <a:pt x="208" y="723"/>
                    <a:pt x="201" y="686"/>
                    <a:pt x="196" y="689"/>
                  </a:cubicBezTo>
                  <a:cubicBezTo>
                    <a:pt x="191" y="693"/>
                    <a:pt x="196" y="704"/>
                    <a:pt x="190" y="705"/>
                  </a:cubicBezTo>
                  <a:cubicBezTo>
                    <a:pt x="184" y="706"/>
                    <a:pt x="169" y="683"/>
                    <a:pt x="177" y="675"/>
                  </a:cubicBezTo>
                  <a:cubicBezTo>
                    <a:pt x="185" y="667"/>
                    <a:pt x="182" y="682"/>
                    <a:pt x="190" y="679"/>
                  </a:cubicBezTo>
                  <a:cubicBezTo>
                    <a:pt x="198" y="676"/>
                    <a:pt x="180" y="645"/>
                    <a:pt x="178" y="639"/>
                  </a:cubicBezTo>
                  <a:cubicBezTo>
                    <a:pt x="176" y="633"/>
                    <a:pt x="165" y="635"/>
                    <a:pt x="165" y="635"/>
                  </a:cubicBezTo>
                  <a:cubicBezTo>
                    <a:pt x="166" y="598"/>
                    <a:pt x="166" y="598"/>
                    <a:pt x="166" y="598"/>
                  </a:cubicBezTo>
                  <a:cubicBezTo>
                    <a:pt x="131" y="608"/>
                    <a:pt x="131" y="608"/>
                    <a:pt x="131" y="608"/>
                  </a:cubicBezTo>
                  <a:cubicBezTo>
                    <a:pt x="131" y="608"/>
                    <a:pt x="127" y="549"/>
                    <a:pt x="126" y="542"/>
                  </a:cubicBezTo>
                  <a:cubicBezTo>
                    <a:pt x="125" y="534"/>
                    <a:pt x="120" y="524"/>
                    <a:pt x="120" y="524"/>
                  </a:cubicBezTo>
                  <a:cubicBezTo>
                    <a:pt x="120" y="524"/>
                    <a:pt x="136" y="516"/>
                    <a:pt x="137" y="498"/>
                  </a:cubicBezTo>
                  <a:cubicBezTo>
                    <a:pt x="138" y="479"/>
                    <a:pt x="138" y="456"/>
                    <a:pt x="138" y="456"/>
                  </a:cubicBezTo>
                  <a:cubicBezTo>
                    <a:pt x="138" y="456"/>
                    <a:pt x="152" y="449"/>
                    <a:pt x="153" y="425"/>
                  </a:cubicBezTo>
                  <a:cubicBezTo>
                    <a:pt x="154" y="400"/>
                    <a:pt x="147" y="396"/>
                    <a:pt x="147" y="396"/>
                  </a:cubicBezTo>
                  <a:cubicBezTo>
                    <a:pt x="151" y="374"/>
                    <a:pt x="151" y="374"/>
                    <a:pt x="151" y="374"/>
                  </a:cubicBezTo>
                  <a:cubicBezTo>
                    <a:pt x="158" y="374"/>
                    <a:pt x="158" y="374"/>
                    <a:pt x="158" y="374"/>
                  </a:cubicBezTo>
                  <a:cubicBezTo>
                    <a:pt x="158" y="374"/>
                    <a:pt x="159" y="366"/>
                    <a:pt x="171" y="367"/>
                  </a:cubicBezTo>
                  <a:cubicBezTo>
                    <a:pt x="182" y="367"/>
                    <a:pt x="201" y="381"/>
                    <a:pt x="201" y="381"/>
                  </a:cubicBezTo>
                  <a:cubicBezTo>
                    <a:pt x="193" y="387"/>
                    <a:pt x="193" y="387"/>
                    <a:pt x="193" y="387"/>
                  </a:cubicBezTo>
                  <a:cubicBezTo>
                    <a:pt x="193" y="387"/>
                    <a:pt x="188" y="419"/>
                    <a:pt x="199" y="419"/>
                  </a:cubicBezTo>
                  <a:cubicBezTo>
                    <a:pt x="211" y="420"/>
                    <a:pt x="247" y="403"/>
                    <a:pt x="247" y="403"/>
                  </a:cubicBezTo>
                  <a:cubicBezTo>
                    <a:pt x="265" y="457"/>
                    <a:pt x="265" y="457"/>
                    <a:pt x="265" y="457"/>
                  </a:cubicBezTo>
                  <a:cubicBezTo>
                    <a:pt x="265" y="457"/>
                    <a:pt x="273" y="445"/>
                    <a:pt x="284" y="450"/>
                  </a:cubicBezTo>
                  <a:cubicBezTo>
                    <a:pt x="287" y="431"/>
                    <a:pt x="287" y="431"/>
                    <a:pt x="287" y="431"/>
                  </a:cubicBezTo>
                  <a:cubicBezTo>
                    <a:pt x="276" y="421"/>
                    <a:pt x="276" y="421"/>
                    <a:pt x="276" y="421"/>
                  </a:cubicBezTo>
                  <a:cubicBezTo>
                    <a:pt x="276" y="402"/>
                    <a:pt x="276" y="402"/>
                    <a:pt x="276" y="402"/>
                  </a:cubicBezTo>
                  <a:cubicBezTo>
                    <a:pt x="269" y="396"/>
                    <a:pt x="269" y="396"/>
                    <a:pt x="269" y="396"/>
                  </a:cubicBezTo>
                  <a:cubicBezTo>
                    <a:pt x="267" y="371"/>
                    <a:pt x="267" y="371"/>
                    <a:pt x="267" y="371"/>
                  </a:cubicBezTo>
                  <a:cubicBezTo>
                    <a:pt x="286" y="351"/>
                    <a:pt x="286" y="351"/>
                    <a:pt x="286" y="351"/>
                  </a:cubicBezTo>
                  <a:cubicBezTo>
                    <a:pt x="286" y="351"/>
                    <a:pt x="286" y="332"/>
                    <a:pt x="313" y="327"/>
                  </a:cubicBezTo>
                  <a:cubicBezTo>
                    <a:pt x="340" y="322"/>
                    <a:pt x="341" y="332"/>
                    <a:pt x="341" y="332"/>
                  </a:cubicBezTo>
                  <a:cubicBezTo>
                    <a:pt x="341" y="332"/>
                    <a:pt x="363" y="326"/>
                    <a:pt x="368" y="325"/>
                  </a:cubicBezTo>
                  <a:cubicBezTo>
                    <a:pt x="373" y="324"/>
                    <a:pt x="390" y="333"/>
                    <a:pt x="390" y="333"/>
                  </a:cubicBezTo>
                  <a:cubicBezTo>
                    <a:pt x="390" y="333"/>
                    <a:pt x="400" y="328"/>
                    <a:pt x="410" y="316"/>
                  </a:cubicBezTo>
                  <a:cubicBezTo>
                    <a:pt x="420" y="304"/>
                    <a:pt x="397" y="289"/>
                    <a:pt x="395" y="285"/>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425" name="Freeform 216">
              <a:extLst>
                <a:ext uri="{FF2B5EF4-FFF2-40B4-BE49-F238E27FC236}">
                  <a16:creationId xmlns:a16="http://schemas.microsoft.com/office/drawing/2014/main" id="{12B47371-1471-44FE-9541-82FAC63628AB}"/>
                </a:ext>
              </a:extLst>
            </p:cNvPr>
            <p:cNvSpPr>
              <a:spLocks/>
            </p:cNvSpPr>
            <p:nvPr/>
          </p:nvSpPr>
          <p:spPr bwMode="gray">
            <a:xfrm>
              <a:off x="7982649" y="1883587"/>
              <a:ext cx="276238" cy="509855"/>
            </a:xfrm>
            <a:custGeom>
              <a:avLst/>
              <a:gdLst>
                <a:gd name="T0" fmla="*/ 6 w 407"/>
                <a:gd name="T1" fmla="*/ 62 h 795"/>
                <a:gd name="T2" fmla="*/ 37 w 407"/>
                <a:gd name="T3" fmla="*/ 84 h 795"/>
                <a:gd name="T4" fmla="*/ 61 w 407"/>
                <a:gd name="T5" fmla="*/ 137 h 795"/>
                <a:gd name="T6" fmla="*/ 82 w 407"/>
                <a:gd name="T7" fmla="*/ 145 h 795"/>
                <a:gd name="T8" fmla="*/ 124 w 407"/>
                <a:gd name="T9" fmla="*/ 145 h 795"/>
                <a:gd name="T10" fmla="*/ 153 w 407"/>
                <a:gd name="T11" fmla="*/ 179 h 795"/>
                <a:gd name="T12" fmla="*/ 101 w 407"/>
                <a:gd name="T13" fmla="*/ 199 h 795"/>
                <a:gd name="T14" fmla="*/ 142 w 407"/>
                <a:gd name="T15" fmla="*/ 240 h 795"/>
                <a:gd name="T16" fmla="*/ 169 w 407"/>
                <a:gd name="T17" fmla="*/ 271 h 795"/>
                <a:gd name="T18" fmla="*/ 205 w 407"/>
                <a:gd name="T19" fmla="*/ 314 h 795"/>
                <a:gd name="T20" fmla="*/ 230 w 407"/>
                <a:gd name="T21" fmla="*/ 347 h 795"/>
                <a:gd name="T22" fmla="*/ 254 w 407"/>
                <a:gd name="T23" fmla="*/ 370 h 795"/>
                <a:gd name="T24" fmla="*/ 287 w 407"/>
                <a:gd name="T25" fmla="*/ 397 h 795"/>
                <a:gd name="T26" fmla="*/ 312 w 407"/>
                <a:gd name="T27" fmla="*/ 436 h 795"/>
                <a:gd name="T28" fmla="*/ 310 w 407"/>
                <a:gd name="T29" fmla="*/ 470 h 795"/>
                <a:gd name="T30" fmla="*/ 300 w 407"/>
                <a:gd name="T31" fmla="*/ 505 h 795"/>
                <a:gd name="T32" fmla="*/ 306 w 407"/>
                <a:gd name="T33" fmla="*/ 545 h 795"/>
                <a:gd name="T34" fmla="*/ 314 w 407"/>
                <a:gd name="T35" fmla="*/ 598 h 795"/>
                <a:gd name="T36" fmla="*/ 291 w 407"/>
                <a:gd name="T37" fmla="*/ 610 h 795"/>
                <a:gd name="T38" fmla="*/ 273 w 407"/>
                <a:gd name="T39" fmla="*/ 625 h 795"/>
                <a:gd name="T40" fmla="*/ 252 w 407"/>
                <a:gd name="T41" fmla="*/ 659 h 795"/>
                <a:gd name="T42" fmla="*/ 238 w 407"/>
                <a:gd name="T43" fmla="*/ 663 h 795"/>
                <a:gd name="T44" fmla="*/ 204 w 407"/>
                <a:gd name="T45" fmla="*/ 670 h 795"/>
                <a:gd name="T46" fmla="*/ 180 w 407"/>
                <a:gd name="T47" fmla="*/ 703 h 795"/>
                <a:gd name="T48" fmla="*/ 196 w 407"/>
                <a:gd name="T49" fmla="*/ 734 h 795"/>
                <a:gd name="T50" fmla="*/ 194 w 407"/>
                <a:gd name="T51" fmla="*/ 789 h 795"/>
                <a:gd name="T52" fmla="*/ 228 w 407"/>
                <a:gd name="T53" fmla="*/ 783 h 795"/>
                <a:gd name="T54" fmla="*/ 255 w 407"/>
                <a:gd name="T55" fmla="*/ 752 h 795"/>
                <a:gd name="T56" fmla="*/ 285 w 407"/>
                <a:gd name="T57" fmla="*/ 735 h 795"/>
                <a:gd name="T58" fmla="*/ 300 w 407"/>
                <a:gd name="T59" fmla="*/ 693 h 795"/>
                <a:gd name="T60" fmla="*/ 391 w 407"/>
                <a:gd name="T61" fmla="*/ 639 h 795"/>
                <a:gd name="T62" fmla="*/ 385 w 407"/>
                <a:gd name="T63" fmla="*/ 539 h 795"/>
                <a:gd name="T64" fmla="*/ 390 w 407"/>
                <a:gd name="T65" fmla="*/ 485 h 795"/>
                <a:gd name="T66" fmla="*/ 363 w 407"/>
                <a:gd name="T67" fmla="*/ 418 h 795"/>
                <a:gd name="T68" fmla="*/ 256 w 407"/>
                <a:gd name="T69" fmla="*/ 332 h 795"/>
                <a:gd name="T70" fmla="*/ 193 w 407"/>
                <a:gd name="T71" fmla="*/ 235 h 795"/>
                <a:gd name="T72" fmla="*/ 197 w 407"/>
                <a:gd name="T73" fmla="*/ 160 h 795"/>
                <a:gd name="T74" fmla="*/ 229 w 407"/>
                <a:gd name="T75" fmla="*/ 129 h 795"/>
                <a:gd name="T76" fmla="*/ 259 w 407"/>
                <a:gd name="T77" fmla="*/ 100 h 795"/>
                <a:gd name="T78" fmla="*/ 257 w 407"/>
                <a:gd name="T79" fmla="*/ 92 h 795"/>
                <a:gd name="T80" fmla="*/ 218 w 407"/>
                <a:gd name="T81" fmla="*/ 75 h 795"/>
                <a:gd name="T82" fmla="*/ 207 w 407"/>
                <a:gd name="T83" fmla="*/ 61 h 795"/>
                <a:gd name="T84" fmla="*/ 196 w 407"/>
                <a:gd name="T85" fmla="*/ 47 h 795"/>
                <a:gd name="T86" fmla="*/ 182 w 407"/>
                <a:gd name="T87" fmla="*/ 25 h 795"/>
                <a:gd name="T88" fmla="*/ 156 w 407"/>
                <a:gd name="T89" fmla="*/ 22 h 795"/>
                <a:gd name="T90" fmla="*/ 115 w 407"/>
                <a:gd name="T91" fmla="*/ 9 h 795"/>
                <a:gd name="T92" fmla="*/ 95 w 407"/>
                <a:gd name="T93" fmla="*/ 36 h 795"/>
                <a:gd name="T94" fmla="*/ 80 w 407"/>
                <a:gd name="T95" fmla="*/ 29 h 795"/>
                <a:gd name="T96" fmla="*/ 72 w 407"/>
                <a:gd name="T97" fmla="*/ 42 h 795"/>
                <a:gd name="T98" fmla="*/ 58 w 407"/>
                <a:gd name="T99" fmla="*/ 30 h 795"/>
                <a:gd name="T100" fmla="*/ 48 w 407"/>
                <a:gd name="T101" fmla="*/ 31 h 795"/>
                <a:gd name="T102" fmla="*/ 4 w 407"/>
                <a:gd name="T103" fmla="*/ 32 h 7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07" h="795">
                  <a:moveTo>
                    <a:pt x="4" y="32"/>
                  </a:moveTo>
                  <a:cubicBezTo>
                    <a:pt x="0" y="40"/>
                    <a:pt x="0" y="55"/>
                    <a:pt x="6" y="62"/>
                  </a:cubicBezTo>
                  <a:cubicBezTo>
                    <a:pt x="12" y="69"/>
                    <a:pt x="28" y="87"/>
                    <a:pt x="28" y="87"/>
                  </a:cubicBezTo>
                  <a:cubicBezTo>
                    <a:pt x="28" y="87"/>
                    <a:pt x="33" y="80"/>
                    <a:pt x="37" y="84"/>
                  </a:cubicBezTo>
                  <a:cubicBezTo>
                    <a:pt x="41" y="88"/>
                    <a:pt x="28" y="97"/>
                    <a:pt x="38" y="110"/>
                  </a:cubicBezTo>
                  <a:cubicBezTo>
                    <a:pt x="48" y="123"/>
                    <a:pt x="61" y="137"/>
                    <a:pt x="61" y="137"/>
                  </a:cubicBezTo>
                  <a:cubicBezTo>
                    <a:pt x="70" y="137"/>
                    <a:pt x="70" y="137"/>
                    <a:pt x="70" y="137"/>
                  </a:cubicBezTo>
                  <a:cubicBezTo>
                    <a:pt x="70" y="137"/>
                    <a:pt x="75" y="153"/>
                    <a:pt x="82" y="145"/>
                  </a:cubicBezTo>
                  <a:cubicBezTo>
                    <a:pt x="89" y="137"/>
                    <a:pt x="86" y="125"/>
                    <a:pt x="94" y="126"/>
                  </a:cubicBezTo>
                  <a:cubicBezTo>
                    <a:pt x="102" y="127"/>
                    <a:pt x="124" y="145"/>
                    <a:pt x="124" y="145"/>
                  </a:cubicBezTo>
                  <a:cubicBezTo>
                    <a:pt x="124" y="145"/>
                    <a:pt x="104" y="151"/>
                    <a:pt x="122" y="159"/>
                  </a:cubicBezTo>
                  <a:cubicBezTo>
                    <a:pt x="140" y="167"/>
                    <a:pt x="159" y="169"/>
                    <a:pt x="153" y="179"/>
                  </a:cubicBezTo>
                  <a:cubicBezTo>
                    <a:pt x="147" y="189"/>
                    <a:pt x="128" y="203"/>
                    <a:pt x="128" y="203"/>
                  </a:cubicBezTo>
                  <a:cubicBezTo>
                    <a:pt x="128" y="203"/>
                    <a:pt x="99" y="195"/>
                    <a:pt x="101" y="199"/>
                  </a:cubicBezTo>
                  <a:cubicBezTo>
                    <a:pt x="103" y="203"/>
                    <a:pt x="103" y="215"/>
                    <a:pt x="103" y="215"/>
                  </a:cubicBezTo>
                  <a:cubicBezTo>
                    <a:pt x="103" y="215"/>
                    <a:pt x="136" y="235"/>
                    <a:pt x="142" y="240"/>
                  </a:cubicBezTo>
                  <a:cubicBezTo>
                    <a:pt x="148" y="245"/>
                    <a:pt x="166" y="250"/>
                    <a:pt x="166" y="250"/>
                  </a:cubicBezTo>
                  <a:cubicBezTo>
                    <a:pt x="166" y="250"/>
                    <a:pt x="165" y="267"/>
                    <a:pt x="169" y="271"/>
                  </a:cubicBezTo>
                  <a:cubicBezTo>
                    <a:pt x="173" y="275"/>
                    <a:pt x="195" y="283"/>
                    <a:pt x="195" y="283"/>
                  </a:cubicBezTo>
                  <a:cubicBezTo>
                    <a:pt x="195" y="283"/>
                    <a:pt x="192" y="303"/>
                    <a:pt x="205" y="314"/>
                  </a:cubicBezTo>
                  <a:cubicBezTo>
                    <a:pt x="218" y="325"/>
                    <a:pt x="229" y="336"/>
                    <a:pt x="229" y="336"/>
                  </a:cubicBezTo>
                  <a:cubicBezTo>
                    <a:pt x="230" y="347"/>
                    <a:pt x="230" y="347"/>
                    <a:pt x="230" y="347"/>
                  </a:cubicBezTo>
                  <a:cubicBezTo>
                    <a:pt x="244" y="346"/>
                    <a:pt x="244" y="346"/>
                    <a:pt x="244" y="346"/>
                  </a:cubicBezTo>
                  <a:cubicBezTo>
                    <a:pt x="244" y="346"/>
                    <a:pt x="247" y="363"/>
                    <a:pt x="254" y="370"/>
                  </a:cubicBezTo>
                  <a:cubicBezTo>
                    <a:pt x="261" y="377"/>
                    <a:pt x="271" y="378"/>
                    <a:pt x="271" y="378"/>
                  </a:cubicBezTo>
                  <a:cubicBezTo>
                    <a:pt x="271" y="378"/>
                    <a:pt x="295" y="392"/>
                    <a:pt x="287" y="397"/>
                  </a:cubicBezTo>
                  <a:cubicBezTo>
                    <a:pt x="279" y="402"/>
                    <a:pt x="265" y="405"/>
                    <a:pt x="279" y="416"/>
                  </a:cubicBezTo>
                  <a:cubicBezTo>
                    <a:pt x="293" y="427"/>
                    <a:pt x="312" y="436"/>
                    <a:pt x="312" y="436"/>
                  </a:cubicBezTo>
                  <a:cubicBezTo>
                    <a:pt x="301" y="457"/>
                    <a:pt x="301" y="457"/>
                    <a:pt x="301" y="457"/>
                  </a:cubicBezTo>
                  <a:cubicBezTo>
                    <a:pt x="301" y="457"/>
                    <a:pt x="314" y="462"/>
                    <a:pt x="310" y="470"/>
                  </a:cubicBezTo>
                  <a:cubicBezTo>
                    <a:pt x="306" y="478"/>
                    <a:pt x="300" y="477"/>
                    <a:pt x="300" y="477"/>
                  </a:cubicBezTo>
                  <a:cubicBezTo>
                    <a:pt x="300" y="505"/>
                    <a:pt x="300" y="505"/>
                    <a:pt x="300" y="505"/>
                  </a:cubicBezTo>
                  <a:cubicBezTo>
                    <a:pt x="300" y="505"/>
                    <a:pt x="321" y="516"/>
                    <a:pt x="321" y="529"/>
                  </a:cubicBezTo>
                  <a:cubicBezTo>
                    <a:pt x="321" y="542"/>
                    <a:pt x="305" y="542"/>
                    <a:pt x="306" y="545"/>
                  </a:cubicBezTo>
                  <a:cubicBezTo>
                    <a:pt x="307" y="548"/>
                    <a:pt x="317" y="584"/>
                    <a:pt x="317" y="584"/>
                  </a:cubicBezTo>
                  <a:cubicBezTo>
                    <a:pt x="314" y="598"/>
                    <a:pt x="314" y="598"/>
                    <a:pt x="314" y="598"/>
                  </a:cubicBezTo>
                  <a:cubicBezTo>
                    <a:pt x="314" y="598"/>
                    <a:pt x="302" y="593"/>
                    <a:pt x="297" y="596"/>
                  </a:cubicBezTo>
                  <a:cubicBezTo>
                    <a:pt x="292" y="599"/>
                    <a:pt x="291" y="610"/>
                    <a:pt x="291" y="610"/>
                  </a:cubicBezTo>
                  <a:cubicBezTo>
                    <a:pt x="270" y="611"/>
                    <a:pt x="270" y="611"/>
                    <a:pt x="270" y="611"/>
                  </a:cubicBezTo>
                  <a:cubicBezTo>
                    <a:pt x="273" y="625"/>
                    <a:pt x="273" y="625"/>
                    <a:pt x="273" y="625"/>
                  </a:cubicBezTo>
                  <a:cubicBezTo>
                    <a:pt x="273" y="625"/>
                    <a:pt x="246" y="621"/>
                    <a:pt x="244" y="627"/>
                  </a:cubicBezTo>
                  <a:cubicBezTo>
                    <a:pt x="242" y="633"/>
                    <a:pt x="242" y="651"/>
                    <a:pt x="252" y="659"/>
                  </a:cubicBezTo>
                  <a:cubicBezTo>
                    <a:pt x="262" y="667"/>
                    <a:pt x="269" y="677"/>
                    <a:pt x="262" y="678"/>
                  </a:cubicBezTo>
                  <a:cubicBezTo>
                    <a:pt x="255" y="679"/>
                    <a:pt x="248" y="663"/>
                    <a:pt x="238" y="663"/>
                  </a:cubicBezTo>
                  <a:cubicBezTo>
                    <a:pt x="228" y="663"/>
                    <a:pt x="226" y="670"/>
                    <a:pt x="222" y="670"/>
                  </a:cubicBezTo>
                  <a:cubicBezTo>
                    <a:pt x="218" y="670"/>
                    <a:pt x="204" y="670"/>
                    <a:pt x="204" y="670"/>
                  </a:cubicBezTo>
                  <a:cubicBezTo>
                    <a:pt x="204" y="670"/>
                    <a:pt x="228" y="684"/>
                    <a:pt x="208" y="686"/>
                  </a:cubicBezTo>
                  <a:cubicBezTo>
                    <a:pt x="188" y="688"/>
                    <a:pt x="174" y="695"/>
                    <a:pt x="180" y="703"/>
                  </a:cubicBezTo>
                  <a:cubicBezTo>
                    <a:pt x="186" y="711"/>
                    <a:pt x="209" y="723"/>
                    <a:pt x="209" y="723"/>
                  </a:cubicBezTo>
                  <a:cubicBezTo>
                    <a:pt x="196" y="734"/>
                    <a:pt x="196" y="734"/>
                    <a:pt x="196" y="734"/>
                  </a:cubicBezTo>
                  <a:cubicBezTo>
                    <a:pt x="196" y="734"/>
                    <a:pt x="210" y="769"/>
                    <a:pt x="203" y="775"/>
                  </a:cubicBezTo>
                  <a:cubicBezTo>
                    <a:pt x="199" y="778"/>
                    <a:pt x="196" y="784"/>
                    <a:pt x="194" y="789"/>
                  </a:cubicBezTo>
                  <a:cubicBezTo>
                    <a:pt x="195" y="789"/>
                    <a:pt x="195" y="789"/>
                    <a:pt x="195" y="789"/>
                  </a:cubicBezTo>
                  <a:cubicBezTo>
                    <a:pt x="204" y="795"/>
                    <a:pt x="218" y="795"/>
                    <a:pt x="228" y="783"/>
                  </a:cubicBezTo>
                  <a:cubicBezTo>
                    <a:pt x="239" y="772"/>
                    <a:pt x="252" y="768"/>
                    <a:pt x="252" y="768"/>
                  </a:cubicBezTo>
                  <a:cubicBezTo>
                    <a:pt x="255" y="752"/>
                    <a:pt x="255" y="752"/>
                    <a:pt x="255" y="752"/>
                  </a:cubicBezTo>
                  <a:cubicBezTo>
                    <a:pt x="255" y="736"/>
                    <a:pt x="255" y="736"/>
                    <a:pt x="255" y="736"/>
                  </a:cubicBezTo>
                  <a:cubicBezTo>
                    <a:pt x="255" y="736"/>
                    <a:pt x="280" y="747"/>
                    <a:pt x="285" y="735"/>
                  </a:cubicBezTo>
                  <a:cubicBezTo>
                    <a:pt x="289" y="723"/>
                    <a:pt x="269" y="711"/>
                    <a:pt x="273" y="708"/>
                  </a:cubicBezTo>
                  <a:cubicBezTo>
                    <a:pt x="277" y="704"/>
                    <a:pt x="300" y="693"/>
                    <a:pt x="300" y="693"/>
                  </a:cubicBezTo>
                  <a:cubicBezTo>
                    <a:pt x="300" y="693"/>
                    <a:pt x="311" y="702"/>
                    <a:pt x="334" y="690"/>
                  </a:cubicBezTo>
                  <a:cubicBezTo>
                    <a:pt x="356" y="679"/>
                    <a:pt x="387" y="656"/>
                    <a:pt x="391" y="639"/>
                  </a:cubicBezTo>
                  <a:cubicBezTo>
                    <a:pt x="394" y="622"/>
                    <a:pt x="407" y="577"/>
                    <a:pt x="405" y="567"/>
                  </a:cubicBezTo>
                  <a:cubicBezTo>
                    <a:pt x="403" y="557"/>
                    <a:pt x="385" y="539"/>
                    <a:pt x="385" y="539"/>
                  </a:cubicBezTo>
                  <a:cubicBezTo>
                    <a:pt x="395" y="535"/>
                    <a:pt x="395" y="535"/>
                    <a:pt x="395" y="535"/>
                  </a:cubicBezTo>
                  <a:cubicBezTo>
                    <a:pt x="395" y="535"/>
                    <a:pt x="395" y="498"/>
                    <a:pt x="390" y="485"/>
                  </a:cubicBezTo>
                  <a:cubicBezTo>
                    <a:pt x="384" y="471"/>
                    <a:pt x="368" y="448"/>
                    <a:pt x="368" y="448"/>
                  </a:cubicBezTo>
                  <a:cubicBezTo>
                    <a:pt x="368" y="448"/>
                    <a:pt x="379" y="434"/>
                    <a:pt x="363" y="418"/>
                  </a:cubicBezTo>
                  <a:cubicBezTo>
                    <a:pt x="347" y="403"/>
                    <a:pt x="302" y="361"/>
                    <a:pt x="288" y="354"/>
                  </a:cubicBezTo>
                  <a:cubicBezTo>
                    <a:pt x="274" y="348"/>
                    <a:pt x="259" y="340"/>
                    <a:pt x="256" y="332"/>
                  </a:cubicBezTo>
                  <a:cubicBezTo>
                    <a:pt x="252" y="325"/>
                    <a:pt x="260" y="319"/>
                    <a:pt x="254" y="309"/>
                  </a:cubicBezTo>
                  <a:cubicBezTo>
                    <a:pt x="248" y="299"/>
                    <a:pt x="200" y="258"/>
                    <a:pt x="193" y="235"/>
                  </a:cubicBezTo>
                  <a:cubicBezTo>
                    <a:pt x="187" y="211"/>
                    <a:pt x="182" y="185"/>
                    <a:pt x="188" y="180"/>
                  </a:cubicBezTo>
                  <a:cubicBezTo>
                    <a:pt x="195" y="176"/>
                    <a:pt x="197" y="160"/>
                    <a:pt x="197" y="160"/>
                  </a:cubicBezTo>
                  <a:cubicBezTo>
                    <a:pt x="197" y="160"/>
                    <a:pt x="215" y="147"/>
                    <a:pt x="220" y="143"/>
                  </a:cubicBezTo>
                  <a:cubicBezTo>
                    <a:pt x="226" y="140"/>
                    <a:pt x="229" y="129"/>
                    <a:pt x="229" y="129"/>
                  </a:cubicBezTo>
                  <a:cubicBezTo>
                    <a:pt x="229" y="129"/>
                    <a:pt x="248" y="132"/>
                    <a:pt x="254" y="127"/>
                  </a:cubicBezTo>
                  <a:cubicBezTo>
                    <a:pt x="259" y="122"/>
                    <a:pt x="259" y="100"/>
                    <a:pt x="259" y="100"/>
                  </a:cubicBezTo>
                  <a:cubicBezTo>
                    <a:pt x="266" y="95"/>
                    <a:pt x="266" y="95"/>
                    <a:pt x="266" y="95"/>
                  </a:cubicBezTo>
                  <a:cubicBezTo>
                    <a:pt x="264" y="94"/>
                    <a:pt x="261" y="92"/>
                    <a:pt x="257" y="92"/>
                  </a:cubicBezTo>
                  <a:cubicBezTo>
                    <a:pt x="249" y="91"/>
                    <a:pt x="236" y="94"/>
                    <a:pt x="229" y="87"/>
                  </a:cubicBezTo>
                  <a:cubicBezTo>
                    <a:pt x="222" y="80"/>
                    <a:pt x="218" y="75"/>
                    <a:pt x="218" y="75"/>
                  </a:cubicBezTo>
                  <a:cubicBezTo>
                    <a:pt x="207" y="74"/>
                    <a:pt x="207" y="74"/>
                    <a:pt x="207" y="74"/>
                  </a:cubicBezTo>
                  <a:cubicBezTo>
                    <a:pt x="207" y="61"/>
                    <a:pt x="207" y="61"/>
                    <a:pt x="207" y="61"/>
                  </a:cubicBezTo>
                  <a:cubicBezTo>
                    <a:pt x="200" y="57"/>
                    <a:pt x="200" y="57"/>
                    <a:pt x="200" y="57"/>
                  </a:cubicBezTo>
                  <a:cubicBezTo>
                    <a:pt x="196" y="47"/>
                    <a:pt x="196" y="47"/>
                    <a:pt x="196" y="47"/>
                  </a:cubicBezTo>
                  <a:cubicBezTo>
                    <a:pt x="196" y="47"/>
                    <a:pt x="212" y="40"/>
                    <a:pt x="207" y="32"/>
                  </a:cubicBezTo>
                  <a:cubicBezTo>
                    <a:pt x="202" y="24"/>
                    <a:pt x="182" y="25"/>
                    <a:pt x="182" y="25"/>
                  </a:cubicBezTo>
                  <a:cubicBezTo>
                    <a:pt x="177" y="17"/>
                    <a:pt x="177" y="17"/>
                    <a:pt x="177" y="17"/>
                  </a:cubicBezTo>
                  <a:cubicBezTo>
                    <a:pt x="156" y="22"/>
                    <a:pt x="156" y="22"/>
                    <a:pt x="156" y="22"/>
                  </a:cubicBezTo>
                  <a:cubicBezTo>
                    <a:pt x="134" y="0"/>
                    <a:pt x="134" y="0"/>
                    <a:pt x="134" y="0"/>
                  </a:cubicBezTo>
                  <a:cubicBezTo>
                    <a:pt x="134" y="0"/>
                    <a:pt x="119" y="4"/>
                    <a:pt x="115" y="9"/>
                  </a:cubicBezTo>
                  <a:cubicBezTo>
                    <a:pt x="111" y="14"/>
                    <a:pt x="117" y="28"/>
                    <a:pt x="110" y="30"/>
                  </a:cubicBezTo>
                  <a:cubicBezTo>
                    <a:pt x="103" y="32"/>
                    <a:pt x="95" y="36"/>
                    <a:pt x="95" y="36"/>
                  </a:cubicBezTo>
                  <a:cubicBezTo>
                    <a:pt x="91" y="29"/>
                    <a:pt x="91" y="29"/>
                    <a:pt x="91" y="29"/>
                  </a:cubicBezTo>
                  <a:cubicBezTo>
                    <a:pt x="80" y="29"/>
                    <a:pt x="80" y="29"/>
                    <a:pt x="80" y="29"/>
                  </a:cubicBezTo>
                  <a:cubicBezTo>
                    <a:pt x="80" y="29"/>
                    <a:pt x="97" y="45"/>
                    <a:pt x="84" y="46"/>
                  </a:cubicBezTo>
                  <a:cubicBezTo>
                    <a:pt x="71" y="47"/>
                    <a:pt x="72" y="42"/>
                    <a:pt x="72" y="42"/>
                  </a:cubicBezTo>
                  <a:cubicBezTo>
                    <a:pt x="63" y="29"/>
                    <a:pt x="63" y="29"/>
                    <a:pt x="63" y="29"/>
                  </a:cubicBezTo>
                  <a:cubicBezTo>
                    <a:pt x="58" y="30"/>
                    <a:pt x="58" y="30"/>
                    <a:pt x="58" y="30"/>
                  </a:cubicBezTo>
                  <a:cubicBezTo>
                    <a:pt x="59" y="43"/>
                    <a:pt x="59" y="43"/>
                    <a:pt x="59" y="43"/>
                  </a:cubicBezTo>
                  <a:cubicBezTo>
                    <a:pt x="48" y="31"/>
                    <a:pt x="48" y="31"/>
                    <a:pt x="48" y="31"/>
                  </a:cubicBezTo>
                  <a:cubicBezTo>
                    <a:pt x="48" y="31"/>
                    <a:pt x="39" y="47"/>
                    <a:pt x="33" y="47"/>
                  </a:cubicBezTo>
                  <a:cubicBezTo>
                    <a:pt x="27" y="47"/>
                    <a:pt x="8" y="24"/>
                    <a:pt x="4" y="32"/>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426" name="Freeform 217">
              <a:extLst>
                <a:ext uri="{FF2B5EF4-FFF2-40B4-BE49-F238E27FC236}">
                  <a16:creationId xmlns:a16="http://schemas.microsoft.com/office/drawing/2014/main" id="{5E278618-06CF-4D40-95B5-7F4AC1A85336}"/>
                </a:ext>
              </a:extLst>
            </p:cNvPr>
            <p:cNvSpPr>
              <a:spLocks/>
            </p:cNvSpPr>
            <p:nvPr/>
          </p:nvSpPr>
          <p:spPr bwMode="gray">
            <a:xfrm>
              <a:off x="7244675" y="1632732"/>
              <a:ext cx="271356" cy="149591"/>
            </a:xfrm>
            <a:custGeom>
              <a:avLst/>
              <a:gdLst>
                <a:gd name="T0" fmla="*/ 203 w 400"/>
                <a:gd name="T1" fmla="*/ 166 h 233"/>
                <a:gd name="T2" fmla="*/ 213 w 400"/>
                <a:gd name="T3" fmla="*/ 179 h 233"/>
                <a:gd name="T4" fmla="*/ 227 w 400"/>
                <a:gd name="T5" fmla="*/ 176 h 233"/>
                <a:gd name="T6" fmla="*/ 244 w 400"/>
                <a:gd name="T7" fmla="*/ 194 h 233"/>
                <a:gd name="T8" fmla="*/ 262 w 400"/>
                <a:gd name="T9" fmla="*/ 213 h 233"/>
                <a:gd name="T10" fmla="*/ 274 w 400"/>
                <a:gd name="T11" fmla="*/ 204 h 233"/>
                <a:gd name="T12" fmla="*/ 296 w 400"/>
                <a:gd name="T13" fmla="*/ 218 h 233"/>
                <a:gd name="T14" fmla="*/ 313 w 400"/>
                <a:gd name="T15" fmla="*/ 213 h 233"/>
                <a:gd name="T16" fmla="*/ 337 w 400"/>
                <a:gd name="T17" fmla="*/ 230 h 233"/>
                <a:gd name="T18" fmla="*/ 351 w 400"/>
                <a:gd name="T19" fmla="*/ 219 h 233"/>
                <a:gd name="T20" fmla="*/ 361 w 400"/>
                <a:gd name="T21" fmla="*/ 229 h 233"/>
                <a:gd name="T22" fmla="*/ 377 w 400"/>
                <a:gd name="T23" fmla="*/ 230 h 233"/>
                <a:gd name="T24" fmla="*/ 399 w 400"/>
                <a:gd name="T25" fmla="*/ 224 h 233"/>
                <a:gd name="T26" fmla="*/ 400 w 400"/>
                <a:gd name="T27" fmla="*/ 206 h 233"/>
                <a:gd name="T28" fmla="*/ 390 w 400"/>
                <a:gd name="T29" fmla="*/ 191 h 233"/>
                <a:gd name="T30" fmla="*/ 390 w 400"/>
                <a:gd name="T31" fmla="*/ 159 h 233"/>
                <a:gd name="T32" fmla="*/ 384 w 400"/>
                <a:gd name="T33" fmla="*/ 144 h 233"/>
                <a:gd name="T34" fmla="*/ 363 w 400"/>
                <a:gd name="T35" fmla="*/ 153 h 233"/>
                <a:gd name="T36" fmla="*/ 316 w 400"/>
                <a:gd name="T37" fmla="*/ 134 h 233"/>
                <a:gd name="T38" fmla="*/ 304 w 400"/>
                <a:gd name="T39" fmla="*/ 143 h 233"/>
                <a:gd name="T40" fmla="*/ 295 w 400"/>
                <a:gd name="T41" fmla="*/ 130 h 233"/>
                <a:gd name="T42" fmla="*/ 284 w 400"/>
                <a:gd name="T43" fmla="*/ 143 h 233"/>
                <a:gd name="T44" fmla="*/ 275 w 400"/>
                <a:gd name="T45" fmla="*/ 124 h 233"/>
                <a:gd name="T46" fmla="*/ 247 w 400"/>
                <a:gd name="T47" fmla="*/ 126 h 233"/>
                <a:gd name="T48" fmla="*/ 243 w 400"/>
                <a:gd name="T49" fmla="*/ 109 h 233"/>
                <a:gd name="T50" fmla="*/ 223 w 400"/>
                <a:gd name="T51" fmla="*/ 113 h 233"/>
                <a:gd name="T52" fmla="*/ 201 w 400"/>
                <a:gd name="T53" fmla="*/ 95 h 233"/>
                <a:gd name="T54" fmla="*/ 187 w 400"/>
                <a:gd name="T55" fmla="*/ 66 h 233"/>
                <a:gd name="T56" fmla="*/ 168 w 400"/>
                <a:gd name="T57" fmla="*/ 83 h 233"/>
                <a:gd name="T58" fmla="*/ 149 w 400"/>
                <a:gd name="T59" fmla="*/ 50 h 233"/>
                <a:gd name="T60" fmla="*/ 118 w 400"/>
                <a:gd name="T61" fmla="*/ 44 h 233"/>
                <a:gd name="T62" fmla="*/ 86 w 400"/>
                <a:gd name="T63" fmla="*/ 15 h 233"/>
                <a:gd name="T64" fmla="*/ 59 w 400"/>
                <a:gd name="T65" fmla="*/ 17 h 233"/>
                <a:gd name="T66" fmla="*/ 44 w 400"/>
                <a:gd name="T67" fmla="*/ 30 h 233"/>
                <a:gd name="T68" fmla="*/ 32 w 400"/>
                <a:gd name="T69" fmla="*/ 19 h 233"/>
                <a:gd name="T70" fmla="*/ 26 w 400"/>
                <a:gd name="T71" fmla="*/ 32 h 233"/>
                <a:gd name="T72" fmla="*/ 11 w 400"/>
                <a:gd name="T73" fmla="*/ 50 h 233"/>
                <a:gd name="T74" fmla="*/ 17 w 400"/>
                <a:gd name="T75" fmla="*/ 59 h 233"/>
                <a:gd name="T76" fmla="*/ 10 w 400"/>
                <a:gd name="T77" fmla="*/ 67 h 233"/>
                <a:gd name="T78" fmla="*/ 19 w 400"/>
                <a:gd name="T79" fmla="*/ 73 h 233"/>
                <a:gd name="T80" fmla="*/ 7 w 400"/>
                <a:gd name="T81" fmla="*/ 91 h 233"/>
                <a:gd name="T82" fmla="*/ 26 w 400"/>
                <a:gd name="T83" fmla="*/ 110 h 233"/>
                <a:gd name="T84" fmla="*/ 36 w 400"/>
                <a:gd name="T85" fmla="*/ 104 h 233"/>
                <a:gd name="T86" fmla="*/ 47 w 400"/>
                <a:gd name="T87" fmla="*/ 122 h 233"/>
                <a:gd name="T88" fmla="*/ 65 w 400"/>
                <a:gd name="T89" fmla="*/ 122 h 233"/>
                <a:gd name="T90" fmla="*/ 72 w 400"/>
                <a:gd name="T91" fmla="*/ 132 h 233"/>
                <a:gd name="T92" fmla="*/ 100 w 400"/>
                <a:gd name="T93" fmla="*/ 147 h 233"/>
                <a:gd name="T94" fmla="*/ 109 w 400"/>
                <a:gd name="T95" fmla="*/ 146 h 233"/>
                <a:gd name="T96" fmla="*/ 124 w 400"/>
                <a:gd name="T97" fmla="*/ 160 h 233"/>
                <a:gd name="T98" fmla="*/ 142 w 400"/>
                <a:gd name="T99" fmla="*/ 159 h 233"/>
                <a:gd name="T100" fmla="*/ 148 w 400"/>
                <a:gd name="T101" fmla="*/ 168 h 233"/>
                <a:gd name="T102" fmla="*/ 168 w 400"/>
                <a:gd name="T103" fmla="*/ 174 h 233"/>
                <a:gd name="T104" fmla="*/ 171 w 400"/>
                <a:gd name="T105" fmla="*/ 181 h 233"/>
                <a:gd name="T106" fmla="*/ 185 w 400"/>
                <a:gd name="T107" fmla="*/ 173 h 233"/>
                <a:gd name="T108" fmla="*/ 195 w 400"/>
                <a:gd name="T109" fmla="*/ 180 h 233"/>
                <a:gd name="T110" fmla="*/ 203 w 400"/>
                <a:gd name="T111" fmla="*/ 166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400" h="233">
                  <a:moveTo>
                    <a:pt x="203" y="166"/>
                  </a:moveTo>
                  <a:cubicBezTo>
                    <a:pt x="212" y="171"/>
                    <a:pt x="213" y="179"/>
                    <a:pt x="213" y="179"/>
                  </a:cubicBezTo>
                  <a:cubicBezTo>
                    <a:pt x="227" y="176"/>
                    <a:pt x="227" y="176"/>
                    <a:pt x="227" y="176"/>
                  </a:cubicBezTo>
                  <a:cubicBezTo>
                    <a:pt x="227" y="176"/>
                    <a:pt x="235" y="186"/>
                    <a:pt x="244" y="194"/>
                  </a:cubicBezTo>
                  <a:cubicBezTo>
                    <a:pt x="253" y="202"/>
                    <a:pt x="262" y="213"/>
                    <a:pt x="262" y="213"/>
                  </a:cubicBezTo>
                  <a:cubicBezTo>
                    <a:pt x="274" y="204"/>
                    <a:pt x="274" y="204"/>
                    <a:pt x="274" y="204"/>
                  </a:cubicBezTo>
                  <a:cubicBezTo>
                    <a:pt x="296" y="218"/>
                    <a:pt x="296" y="218"/>
                    <a:pt x="296" y="218"/>
                  </a:cubicBezTo>
                  <a:cubicBezTo>
                    <a:pt x="296" y="218"/>
                    <a:pt x="300" y="209"/>
                    <a:pt x="313" y="213"/>
                  </a:cubicBezTo>
                  <a:cubicBezTo>
                    <a:pt x="326" y="217"/>
                    <a:pt x="337" y="230"/>
                    <a:pt x="337" y="230"/>
                  </a:cubicBezTo>
                  <a:cubicBezTo>
                    <a:pt x="337" y="230"/>
                    <a:pt x="345" y="219"/>
                    <a:pt x="351" y="219"/>
                  </a:cubicBezTo>
                  <a:cubicBezTo>
                    <a:pt x="357" y="219"/>
                    <a:pt x="352" y="229"/>
                    <a:pt x="361" y="229"/>
                  </a:cubicBezTo>
                  <a:cubicBezTo>
                    <a:pt x="370" y="229"/>
                    <a:pt x="377" y="230"/>
                    <a:pt x="377" y="230"/>
                  </a:cubicBezTo>
                  <a:cubicBezTo>
                    <a:pt x="377" y="230"/>
                    <a:pt x="398" y="233"/>
                    <a:pt x="399" y="224"/>
                  </a:cubicBezTo>
                  <a:cubicBezTo>
                    <a:pt x="400" y="215"/>
                    <a:pt x="400" y="206"/>
                    <a:pt x="400" y="206"/>
                  </a:cubicBezTo>
                  <a:cubicBezTo>
                    <a:pt x="390" y="191"/>
                    <a:pt x="390" y="191"/>
                    <a:pt x="390" y="191"/>
                  </a:cubicBezTo>
                  <a:cubicBezTo>
                    <a:pt x="390" y="159"/>
                    <a:pt x="390" y="159"/>
                    <a:pt x="390" y="159"/>
                  </a:cubicBezTo>
                  <a:cubicBezTo>
                    <a:pt x="384" y="144"/>
                    <a:pt x="384" y="144"/>
                    <a:pt x="384" y="144"/>
                  </a:cubicBezTo>
                  <a:cubicBezTo>
                    <a:pt x="376" y="148"/>
                    <a:pt x="369" y="152"/>
                    <a:pt x="363" y="153"/>
                  </a:cubicBezTo>
                  <a:cubicBezTo>
                    <a:pt x="349" y="154"/>
                    <a:pt x="316" y="134"/>
                    <a:pt x="316" y="134"/>
                  </a:cubicBezTo>
                  <a:cubicBezTo>
                    <a:pt x="316" y="134"/>
                    <a:pt x="314" y="142"/>
                    <a:pt x="304" y="143"/>
                  </a:cubicBezTo>
                  <a:cubicBezTo>
                    <a:pt x="294" y="144"/>
                    <a:pt x="295" y="130"/>
                    <a:pt x="295" y="130"/>
                  </a:cubicBezTo>
                  <a:cubicBezTo>
                    <a:pt x="295" y="130"/>
                    <a:pt x="293" y="144"/>
                    <a:pt x="284" y="143"/>
                  </a:cubicBezTo>
                  <a:cubicBezTo>
                    <a:pt x="275" y="142"/>
                    <a:pt x="275" y="124"/>
                    <a:pt x="275" y="124"/>
                  </a:cubicBezTo>
                  <a:cubicBezTo>
                    <a:pt x="275" y="124"/>
                    <a:pt x="263" y="133"/>
                    <a:pt x="247" y="126"/>
                  </a:cubicBezTo>
                  <a:cubicBezTo>
                    <a:pt x="231" y="119"/>
                    <a:pt x="248" y="116"/>
                    <a:pt x="243" y="109"/>
                  </a:cubicBezTo>
                  <a:cubicBezTo>
                    <a:pt x="238" y="102"/>
                    <a:pt x="223" y="113"/>
                    <a:pt x="223" y="113"/>
                  </a:cubicBezTo>
                  <a:cubicBezTo>
                    <a:pt x="223" y="113"/>
                    <a:pt x="209" y="101"/>
                    <a:pt x="201" y="95"/>
                  </a:cubicBezTo>
                  <a:cubicBezTo>
                    <a:pt x="193" y="89"/>
                    <a:pt x="198" y="73"/>
                    <a:pt x="187" y="66"/>
                  </a:cubicBezTo>
                  <a:cubicBezTo>
                    <a:pt x="176" y="59"/>
                    <a:pt x="172" y="84"/>
                    <a:pt x="168" y="83"/>
                  </a:cubicBezTo>
                  <a:cubicBezTo>
                    <a:pt x="164" y="82"/>
                    <a:pt x="149" y="50"/>
                    <a:pt x="149" y="50"/>
                  </a:cubicBezTo>
                  <a:cubicBezTo>
                    <a:pt x="118" y="44"/>
                    <a:pt x="118" y="44"/>
                    <a:pt x="118" y="44"/>
                  </a:cubicBezTo>
                  <a:cubicBezTo>
                    <a:pt x="118" y="44"/>
                    <a:pt x="100" y="30"/>
                    <a:pt x="86" y="15"/>
                  </a:cubicBezTo>
                  <a:cubicBezTo>
                    <a:pt x="72" y="0"/>
                    <a:pt x="59" y="17"/>
                    <a:pt x="59" y="17"/>
                  </a:cubicBezTo>
                  <a:cubicBezTo>
                    <a:pt x="44" y="30"/>
                    <a:pt x="44" y="30"/>
                    <a:pt x="44" y="30"/>
                  </a:cubicBezTo>
                  <a:cubicBezTo>
                    <a:pt x="32" y="19"/>
                    <a:pt x="32" y="19"/>
                    <a:pt x="32" y="19"/>
                  </a:cubicBezTo>
                  <a:cubicBezTo>
                    <a:pt x="26" y="32"/>
                    <a:pt x="26" y="32"/>
                    <a:pt x="26" y="32"/>
                  </a:cubicBezTo>
                  <a:cubicBezTo>
                    <a:pt x="11" y="50"/>
                    <a:pt x="11" y="50"/>
                    <a:pt x="11" y="50"/>
                  </a:cubicBezTo>
                  <a:cubicBezTo>
                    <a:pt x="17" y="59"/>
                    <a:pt x="17" y="59"/>
                    <a:pt x="17" y="59"/>
                  </a:cubicBezTo>
                  <a:cubicBezTo>
                    <a:pt x="17" y="59"/>
                    <a:pt x="6" y="61"/>
                    <a:pt x="10" y="67"/>
                  </a:cubicBezTo>
                  <a:cubicBezTo>
                    <a:pt x="14" y="73"/>
                    <a:pt x="19" y="73"/>
                    <a:pt x="19" y="73"/>
                  </a:cubicBezTo>
                  <a:cubicBezTo>
                    <a:pt x="19" y="73"/>
                    <a:pt x="0" y="83"/>
                    <a:pt x="7" y="91"/>
                  </a:cubicBezTo>
                  <a:cubicBezTo>
                    <a:pt x="14" y="99"/>
                    <a:pt x="26" y="110"/>
                    <a:pt x="26" y="110"/>
                  </a:cubicBezTo>
                  <a:cubicBezTo>
                    <a:pt x="36" y="104"/>
                    <a:pt x="36" y="104"/>
                    <a:pt x="36" y="104"/>
                  </a:cubicBezTo>
                  <a:cubicBezTo>
                    <a:pt x="47" y="122"/>
                    <a:pt x="47" y="122"/>
                    <a:pt x="47" y="122"/>
                  </a:cubicBezTo>
                  <a:cubicBezTo>
                    <a:pt x="65" y="122"/>
                    <a:pt x="65" y="122"/>
                    <a:pt x="65" y="122"/>
                  </a:cubicBezTo>
                  <a:cubicBezTo>
                    <a:pt x="72" y="132"/>
                    <a:pt x="72" y="132"/>
                    <a:pt x="72" y="132"/>
                  </a:cubicBezTo>
                  <a:cubicBezTo>
                    <a:pt x="100" y="147"/>
                    <a:pt x="100" y="147"/>
                    <a:pt x="100" y="147"/>
                  </a:cubicBezTo>
                  <a:cubicBezTo>
                    <a:pt x="109" y="146"/>
                    <a:pt x="109" y="146"/>
                    <a:pt x="109" y="146"/>
                  </a:cubicBezTo>
                  <a:cubicBezTo>
                    <a:pt x="109" y="146"/>
                    <a:pt x="116" y="160"/>
                    <a:pt x="124" y="160"/>
                  </a:cubicBezTo>
                  <a:cubicBezTo>
                    <a:pt x="132" y="160"/>
                    <a:pt x="137" y="157"/>
                    <a:pt x="142" y="159"/>
                  </a:cubicBezTo>
                  <a:cubicBezTo>
                    <a:pt x="147" y="161"/>
                    <a:pt x="135" y="166"/>
                    <a:pt x="148" y="168"/>
                  </a:cubicBezTo>
                  <a:cubicBezTo>
                    <a:pt x="161" y="170"/>
                    <a:pt x="168" y="174"/>
                    <a:pt x="168" y="174"/>
                  </a:cubicBezTo>
                  <a:cubicBezTo>
                    <a:pt x="171" y="181"/>
                    <a:pt x="171" y="181"/>
                    <a:pt x="171" y="181"/>
                  </a:cubicBezTo>
                  <a:cubicBezTo>
                    <a:pt x="171" y="181"/>
                    <a:pt x="176" y="173"/>
                    <a:pt x="185" y="173"/>
                  </a:cubicBezTo>
                  <a:cubicBezTo>
                    <a:pt x="194" y="173"/>
                    <a:pt x="195" y="180"/>
                    <a:pt x="195" y="180"/>
                  </a:cubicBezTo>
                  <a:cubicBezTo>
                    <a:pt x="195" y="180"/>
                    <a:pt x="194" y="161"/>
                    <a:pt x="203" y="166"/>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427" name="Freeform 218">
              <a:extLst>
                <a:ext uri="{FF2B5EF4-FFF2-40B4-BE49-F238E27FC236}">
                  <a16:creationId xmlns:a16="http://schemas.microsoft.com/office/drawing/2014/main" id="{11452D09-E452-4940-8858-FA5F13DBDA39}"/>
                </a:ext>
              </a:extLst>
            </p:cNvPr>
            <p:cNvSpPr>
              <a:spLocks/>
            </p:cNvSpPr>
            <p:nvPr/>
          </p:nvSpPr>
          <p:spPr bwMode="gray">
            <a:xfrm>
              <a:off x="7523496" y="1709834"/>
              <a:ext cx="119454" cy="59456"/>
            </a:xfrm>
            <a:custGeom>
              <a:avLst/>
              <a:gdLst>
                <a:gd name="T0" fmla="*/ 66 w 176"/>
                <a:gd name="T1" fmla="*/ 92 h 93"/>
                <a:gd name="T2" fmla="*/ 88 w 176"/>
                <a:gd name="T3" fmla="*/ 84 h 93"/>
                <a:gd name="T4" fmla="*/ 113 w 176"/>
                <a:gd name="T5" fmla="*/ 90 h 93"/>
                <a:gd name="T6" fmla="*/ 139 w 176"/>
                <a:gd name="T7" fmla="*/ 86 h 93"/>
                <a:gd name="T8" fmla="*/ 162 w 176"/>
                <a:gd name="T9" fmla="*/ 86 h 93"/>
                <a:gd name="T10" fmla="*/ 161 w 176"/>
                <a:gd name="T11" fmla="*/ 68 h 93"/>
                <a:gd name="T12" fmla="*/ 161 w 176"/>
                <a:gd name="T13" fmla="*/ 54 h 93"/>
                <a:gd name="T14" fmla="*/ 140 w 176"/>
                <a:gd name="T15" fmla="*/ 48 h 93"/>
                <a:gd name="T16" fmla="*/ 142 w 176"/>
                <a:gd name="T17" fmla="*/ 39 h 93"/>
                <a:gd name="T18" fmla="*/ 129 w 176"/>
                <a:gd name="T19" fmla="*/ 18 h 93"/>
                <a:gd name="T20" fmla="*/ 80 w 176"/>
                <a:gd name="T21" fmla="*/ 25 h 93"/>
                <a:gd name="T22" fmla="*/ 80 w 176"/>
                <a:gd name="T23" fmla="*/ 11 h 93"/>
                <a:gd name="T24" fmla="*/ 56 w 176"/>
                <a:gd name="T25" fmla="*/ 5 h 93"/>
                <a:gd name="T26" fmla="*/ 18 w 176"/>
                <a:gd name="T27" fmla="*/ 56 h 93"/>
                <a:gd name="T28" fmla="*/ 23 w 176"/>
                <a:gd name="T29" fmla="*/ 76 h 93"/>
                <a:gd name="T30" fmla="*/ 50 w 176"/>
                <a:gd name="T31" fmla="*/ 81 h 93"/>
                <a:gd name="T32" fmla="*/ 66 w 176"/>
                <a:gd name="T33" fmla="*/ 92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76" h="93">
                  <a:moveTo>
                    <a:pt x="66" y="92"/>
                  </a:moveTo>
                  <a:cubicBezTo>
                    <a:pt x="85" y="92"/>
                    <a:pt x="79" y="84"/>
                    <a:pt x="88" y="84"/>
                  </a:cubicBezTo>
                  <a:cubicBezTo>
                    <a:pt x="97" y="84"/>
                    <a:pt x="95" y="90"/>
                    <a:pt x="113" y="90"/>
                  </a:cubicBezTo>
                  <a:cubicBezTo>
                    <a:pt x="131" y="90"/>
                    <a:pt x="139" y="86"/>
                    <a:pt x="139" y="86"/>
                  </a:cubicBezTo>
                  <a:cubicBezTo>
                    <a:pt x="139" y="86"/>
                    <a:pt x="148" y="93"/>
                    <a:pt x="162" y="86"/>
                  </a:cubicBezTo>
                  <a:cubicBezTo>
                    <a:pt x="176" y="79"/>
                    <a:pt x="161" y="68"/>
                    <a:pt x="161" y="68"/>
                  </a:cubicBezTo>
                  <a:cubicBezTo>
                    <a:pt x="161" y="54"/>
                    <a:pt x="161" y="54"/>
                    <a:pt x="161" y="54"/>
                  </a:cubicBezTo>
                  <a:cubicBezTo>
                    <a:pt x="161" y="54"/>
                    <a:pt x="144" y="55"/>
                    <a:pt x="140" y="48"/>
                  </a:cubicBezTo>
                  <a:cubicBezTo>
                    <a:pt x="136" y="41"/>
                    <a:pt x="142" y="39"/>
                    <a:pt x="142" y="39"/>
                  </a:cubicBezTo>
                  <a:cubicBezTo>
                    <a:pt x="142" y="39"/>
                    <a:pt x="142" y="29"/>
                    <a:pt x="129" y="18"/>
                  </a:cubicBezTo>
                  <a:cubicBezTo>
                    <a:pt x="116" y="7"/>
                    <a:pt x="80" y="25"/>
                    <a:pt x="80" y="25"/>
                  </a:cubicBezTo>
                  <a:cubicBezTo>
                    <a:pt x="80" y="11"/>
                    <a:pt x="80" y="11"/>
                    <a:pt x="80" y="11"/>
                  </a:cubicBezTo>
                  <a:cubicBezTo>
                    <a:pt x="80" y="11"/>
                    <a:pt x="70" y="10"/>
                    <a:pt x="56" y="5"/>
                  </a:cubicBezTo>
                  <a:cubicBezTo>
                    <a:pt x="42" y="0"/>
                    <a:pt x="18" y="56"/>
                    <a:pt x="18" y="56"/>
                  </a:cubicBezTo>
                  <a:cubicBezTo>
                    <a:pt x="18" y="56"/>
                    <a:pt x="0" y="60"/>
                    <a:pt x="23" y="76"/>
                  </a:cubicBezTo>
                  <a:cubicBezTo>
                    <a:pt x="46" y="92"/>
                    <a:pt x="50" y="81"/>
                    <a:pt x="50" y="81"/>
                  </a:cubicBezTo>
                  <a:cubicBezTo>
                    <a:pt x="50" y="81"/>
                    <a:pt x="47" y="92"/>
                    <a:pt x="66" y="92"/>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428" name="Freeform 219">
              <a:extLst>
                <a:ext uri="{FF2B5EF4-FFF2-40B4-BE49-F238E27FC236}">
                  <a16:creationId xmlns:a16="http://schemas.microsoft.com/office/drawing/2014/main" id="{29F6DA44-FB4B-4397-BCA0-6D19A133205B}"/>
                </a:ext>
              </a:extLst>
            </p:cNvPr>
            <p:cNvSpPr>
              <a:spLocks/>
            </p:cNvSpPr>
            <p:nvPr/>
          </p:nvSpPr>
          <p:spPr bwMode="gray">
            <a:xfrm>
              <a:off x="7518040" y="1773905"/>
              <a:ext cx="167696" cy="182169"/>
            </a:xfrm>
            <a:custGeom>
              <a:avLst/>
              <a:gdLst>
                <a:gd name="T0" fmla="*/ 90 w 247"/>
                <a:gd name="T1" fmla="*/ 275 h 284"/>
                <a:gd name="T2" fmla="*/ 92 w 247"/>
                <a:gd name="T3" fmla="*/ 236 h 284"/>
                <a:gd name="T4" fmla="*/ 142 w 247"/>
                <a:gd name="T5" fmla="*/ 250 h 284"/>
                <a:gd name="T6" fmla="*/ 143 w 247"/>
                <a:gd name="T7" fmla="*/ 227 h 284"/>
                <a:gd name="T8" fmla="*/ 182 w 247"/>
                <a:gd name="T9" fmla="*/ 240 h 284"/>
                <a:gd name="T10" fmla="*/ 190 w 247"/>
                <a:gd name="T11" fmla="*/ 223 h 284"/>
                <a:gd name="T12" fmla="*/ 182 w 247"/>
                <a:gd name="T13" fmla="*/ 202 h 284"/>
                <a:gd name="T14" fmla="*/ 213 w 247"/>
                <a:gd name="T15" fmla="*/ 235 h 284"/>
                <a:gd name="T16" fmla="*/ 210 w 247"/>
                <a:gd name="T17" fmla="*/ 280 h 284"/>
                <a:gd name="T18" fmla="*/ 222 w 247"/>
                <a:gd name="T19" fmla="*/ 284 h 284"/>
                <a:gd name="T20" fmla="*/ 226 w 247"/>
                <a:gd name="T21" fmla="*/ 273 h 284"/>
                <a:gd name="T22" fmla="*/ 247 w 247"/>
                <a:gd name="T23" fmla="*/ 276 h 284"/>
                <a:gd name="T24" fmla="*/ 240 w 247"/>
                <a:gd name="T25" fmla="*/ 237 h 284"/>
                <a:gd name="T26" fmla="*/ 220 w 247"/>
                <a:gd name="T27" fmla="*/ 187 h 284"/>
                <a:gd name="T28" fmla="*/ 204 w 247"/>
                <a:gd name="T29" fmla="*/ 153 h 284"/>
                <a:gd name="T30" fmla="*/ 194 w 247"/>
                <a:gd name="T31" fmla="*/ 170 h 284"/>
                <a:gd name="T32" fmla="*/ 187 w 247"/>
                <a:gd name="T33" fmla="*/ 193 h 284"/>
                <a:gd name="T34" fmla="*/ 178 w 247"/>
                <a:gd name="T35" fmla="*/ 178 h 284"/>
                <a:gd name="T36" fmla="*/ 158 w 247"/>
                <a:gd name="T37" fmla="*/ 159 h 284"/>
                <a:gd name="T38" fmla="*/ 168 w 247"/>
                <a:gd name="T39" fmla="*/ 130 h 284"/>
                <a:gd name="T40" fmla="*/ 193 w 247"/>
                <a:gd name="T41" fmla="*/ 115 h 284"/>
                <a:gd name="T42" fmla="*/ 196 w 247"/>
                <a:gd name="T43" fmla="*/ 92 h 284"/>
                <a:gd name="T44" fmla="*/ 206 w 247"/>
                <a:gd name="T45" fmla="*/ 86 h 284"/>
                <a:gd name="T46" fmla="*/ 184 w 247"/>
                <a:gd name="T47" fmla="*/ 68 h 284"/>
                <a:gd name="T48" fmla="*/ 154 w 247"/>
                <a:gd name="T49" fmla="*/ 79 h 284"/>
                <a:gd name="T50" fmla="*/ 113 w 247"/>
                <a:gd name="T51" fmla="*/ 75 h 284"/>
                <a:gd name="T52" fmla="*/ 86 w 247"/>
                <a:gd name="T53" fmla="*/ 69 h 284"/>
                <a:gd name="T54" fmla="*/ 85 w 247"/>
                <a:gd name="T55" fmla="*/ 46 h 284"/>
                <a:gd name="T56" fmla="*/ 81 w 247"/>
                <a:gd name="T57" fmla="*/ 44 h 284"/>
                <a:gd name="T58" fmla="*/ 77 w 247"/>
                <a:gd name="T59" fmla="*/ 23 h 284"/>
                <a:gd name="T60" fmla="*/ 67 w 247"/>
                <a:gd name="T61" fmla="*/ 17 h 284"/>
                <a:gd name="T62" fmla="*/ 66 w 247"/>
                <a:gd name="T63" fmla="*/ 29 h 284"/>
                <a:gd name="T64" fmla="*/ 50 w 247"/>
                <a:gd name="T65" fmla="*/ 21 h 284"/>
                <a:gd name="T66" fmla="*/ 41 w 247"/>
                <a:gd name="T67" fmla="*/ 3 h 284"/>
                <a:gd name="T68" fmla="*/ 30 w 247"/>
                <a:gd name="T69" fmla="*/ 4 h 284"/>
                <a:gd name="T70" fmla="*/ 33 w 247"/>
                <a:gd name="T71" fmla="*/ 11 h 284"/>
                <a:gd name="T72" fmla="*/ 17 w 247"/>
                <a:gd name="T73" fmla="*/ 3 h 284"/>
                <a:gd name="T74" fmla="*/ 6 w 247"/>
                <a:gd name="T75" fmla="*/ 0 h 284"/>
                <a:gd name="T76" fmla="*/ 11 w 247"/>
                <a:gd name="T77" fmla="*/ 12 h 284"/>
                <a:gd name="T78" fmla="*/ 2 w 247"/>
                <a:gd name="T79" fmla="*/ 35 h 284"/>
                <a:gd name="T80" fmla="*/ 26 w 247"/>
                <a:gd name="T81" fmla="*/ 54 h 284"/>
                <a:gd name="T82" fmla="*/ 43 w 247"/>
                <a:gd name="T83" fmla="*/ 65 h 284"/>
                <a:gd name="T84" fmla="*/ 44 w 247"/>
                <a:gd name="T85" fmla="*/ 73 h 284"/>
                <a:gd name="T86" fmla="*/ 22 w 247"/>
                <a:gd name="T87" fmla="*/ 74 h 284"/>
                <a:gd name="T88" fmla="*/ 22 w 247"/>
                <a:gd name="T89" fmla="*/ 93 h 284"/>
                <a:gd name="T90" fmla="*/ 13 w 247"/>
                <a:gd name="T91" fmla="*/ 106 h 284"/>
                <a:gd name="T92" fmla="*/ 47 w 247"/>
                <a:gd name="T93" fmla="*/ 126 h 284"/>
                <a:gd name="T94" fmla="*/ 35 w 247"/>
                <a:gd name="T95" fmla="*/ 150 h 284"/>
                <a:gd name="T96" fmla="*/ 44 w 247"/>
                <a:gd name="T97" fmla="*/ 170 h 284"/>
                <a:gd name="T98" fmla="*/ 64 w 247"/>
                <a:gd name="T99" fmla="*/ 186 h 284"/>
                <a:gd name="T100" fmla="*/ 63 w 247"/>
                <a:gd name="T101" fmla="*/ 206 h 284"/>
                <a:gd name="T102" fmla="*/ 75 w 247"/>
                <a:gd name="T103" fmla="*/ 234 h 284"/>
                <a:gd name="T104" fmla="*/ 73 w 247"/>
                <a:gd name="T105" fmla="*/ 252 h 284"/>
                <a:gd name="T106" fmla="*/ 90 w 247"/>
                <a:gd name="T107" fmla="*/ 275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47" h="284">
                  <a:moveTo>
                    <a:pt x="90" y="275"/>
                  </a:moveTo>
                  <a:cubicBezTo>
                    <a:pt x="92" y="236"/>
                    <a:pt x="92" y="236"/>
                    <a:pt x="92" y="236"/>
                  </a:cubicBezTo>
                  <a:cubicBezTo>
                    <a:pt x="92" y="236"/>
                    <a:pt x="134" y="252"/>
                    <a:pt x="142" y="250"/>
                  </a:cubicBezTo>
                  <a:cubicBezTo>
                    <a:pt x="150" y="247"/>
                    <a:pt x="134" y="229"/>
                    <a:pt x="143" y="227"/>
                  </a:cubicBezTo>
                  <a:cubicBezTo>
                    <a:pt x="152" y="225"/>
                    <a:pt x="169" y="245"/>
                    <a:pt x="182" y="240"/>
                  </a:cubicBezTo>
                  <a:cubicBezTo>
                    <a:pt x="195" y="236"/>
                    <a:pt x="190" y="223"/>
                    <a:pt x="190" y="223"/>
                  </a:cubicBezTo>
                  <a:cubicBezTo>
                    <a:pt x="182" y="202"/>
                    <a:pt x="182" y="202"/>
                    <a:pt x="182" y="202"/>
                  </a:cubicBezTo>
                  <a:cubicBezTo>
                    <a:pt x="213" y="235"/>
                    <a:pt x="213" y="235"/>
                    <a:pt x="213" y="235"/>
                  </a:cubicBezTo>
                  <a:cubicBezTo>
                    <a:pt x="213" y="235"/>
                    <a:pt x="201" y="274"/>
                    <a:pt x="210" y="280"/>
                  </a:cubicBezTo>
                  <a:cubicBezTo>
                    <a:pt x="213" y="282"/>
                    <a:pt x="218" y="283"/>
                    <a:pt x="222" y="284"/>
                  </a:cubicBezTo>
                  <a:cubicBezTo>
                    <a:pt x="224" y="277"/>
                    <a:pt x="226" y="273"/>
                    <a:pt x="226" y="273"/>
                  </a:cubicBezTo>
                  <a:cubicBezTo>
                    <a:pt x="247" y="276"/>
                    <a:pt x="247" y="276"/>
                    <a:pt x="247" y="276"/>
                  </a:cubicBezTo>
                  <a:cubicBezTo>
                    <a:pt x="240" y="237"/>
                    <a:pt x="240" y="237"/>
                    <a:pt x="240" y="237"/>
                  </a:cubicBezTo>
                  <a:cubicBezTo>
                    <a:pt x="240" y="237"/>
                    <a:pt x="224" y="198"/>
                    <a:pt x="220" y="187"/>
                  </a:cubicBezTo>
                  <a:cubicBezTo>
                    <a:pt x="216" y="176"/>
                    <a:pt x="222" y="157"/>
                    <a:pt x="204" y="153"/>
                  </a:cubicBezTo>
                  <a:cubicBezTo>
                    <a:pt x="186" y="149"/>
                    <a:pt x="194" y="170"/>
                    <a:pt x="194" y="170"/>
                  </a:cubicBezTo>
                  <a:cubicBezTo>
                    <a:pt x="187" y="193"/>
                    <a:pt x="187" y="193"/>
                    <a:pt x="187" y="193"/>
                  </a:cubicBezTo>
                  <a:cubicBezTo>
                    <a:pt x="178" y="178"/>
                    <a:pt x="178" y="178"/>
                    <a:pt x="178" y="178"/>
                  </a:cubicBezTo>
                  <a:cubicBezTo>
                    <a:pt x="178" y="178"/>
                    <a:pt x="158" y="175"/>
                    <a:pt x="158" y="159"/>
                  </a:cubicBezTo>
                  <a:cubicBezTo>
                    <a:pt x="158" y="143"/>
                    <a:pt x="160" y="133"/>
                    <a:pt x="168" y="130"/>
                  </a:cubicBezTo>
                  <a:cubicBezTo>
                    <a:pt x="176" y="127"/>
                    <a:pt x="190" y="129"/>
                    <a:pt x="193" y="115"/>
                  </a:cubicBezTo>
                  <a:cubicBezTo>
                    <a:pt x="196" y="101"/>
                    <a:pt x="196" y="92"/>
                    <a:pt x="196" y="92"/>
                  </a:cubicBezTo>
                  <a:cubicBezTo>
                    <a:pt x="196" y="92"/>
                    <a:pt x="206" y="96"/>
                    <a:pt x="206" y="86"/>
                  </a:cubicBezTo>
                  <a:cubicBezTo>
                    <a:pt x="206" y="76"/>
                    <a:pt x="184" y="68"/>
                    <a:pt x="184" y="68"/>
                  </a:cubicBezTo>
                  <a:cubicBezTo>
                    <a:pt x="154" y="79"/>
                    <a:pt x="154" y="79"/>
                    <a:pt x="154" y="79"/>
                  </a:cubicBezTo>
                  <a:cubicBezTo>
                    <a:pt x="154" y="79"/>
                    <a:pt x="123" y="75"/>
                    <a:pt x="113" y="75"/>
                  </a:cubicBezTo>
                  <a:cubicBezTo>
                    <a:pt x="103" y="75"/>
                    <a:pt x="86" y="72"/>
                    <a:pt x="86" y="69"/>
                  </a:cubicBezTo>
                  <a:cubicBezTo>
                    <a:pt x="86" y="66"/>
                    <a:pt x="85" y="46"/>
                    <a:pt x="85" y="46"/>
                  </a:cubicBezTo>
                  <a:cubicBezTo>
                    <a:pt x="81" y="44"/>
                    <a:pt x="81" y="44"/>
                    <a:pt x="81" y="44"/>
                  </a:cubicBezTo>
                  <a:cubicBezTo>
                    <a:pt x="81" y="44"/>
                    <a:pt x="81" y="26"/>
                    <a:pt x="77" y="23"/>
                  </a:cubicBezTo>
                  <a:cubicBezTo>
                    <a:pt x="73" y="20"/>
                    <a:pt x="67" y="17"/>
                    <a:pt x="67" y="17"/>
                  </a:cubicBezTo>
                  <a:cubicBezTo>
                    <a:pt x="66" y="29"/>
                    <a:pt x="66" y="29"/>
                    <a:pt x="66" y="29"/>
                  </a:cubicBezTo>
                  <a:cubicBezTo>
                    <a:pt x="66" y="29"/>
                    <a:pt x="56" y="27"/>
                    <a:pt x="50" y="21"/>
                  </a:cubicBezTo>
                  <a:cubicBezTo>
                    <a:pt x="44" y="15"/>
                    <a:pt x="41" y="3"/>
                    <a:pt x="41" y="3"/>
                  </a:cubicBezTo>
                  <a:cubicBezTo>
                    <a:pt x="30" y="4"/>
                    <a:pt x="30" y="4"/>
                    <a:pt x="30" y="4"/>
                  </a:cubicBezTo>
                  <a:cubicBezTo>
                    <a:pt x="33" y="11"/>
                    <a:pt x="33" y="11"/>
                    <a:pt x="33" y="11"/>
                  </a:cubicBezTo>
                  <a:cubicBezTo>
                    <a:pt x="17" y="3"/>
                    <a:pt x="17" y="3"/>
                    <a:pt x="17" y="3"/>
                  </a:cubicBezTo>
                  <a:cubicBezTo>
                    <a:pt x="6" y="0"/>
                    <a:pt x="6" y="0"/>
                    <a:pt x="6" y="0"/>
                  </a:cubicBezTo>
                  <a:cubicBezTo>
                    <a:pt x="11" y="12"/>
                    <a:pt x="11" y="12"/>
                    <a:pt x="11" y="12"/>
                  </a:cubicBezTo>
                  <a:cubicBezTo>
                    <a:pt x="11" y="12"/>
                    <a:pt x="0" y="24"/>
                    <a:pt x="2" y="35"/>
                  </a:cubicBezTo>
                  <a:cubicBezTo>
                    <a:pt x="4" y="46"/>
                    <a:pt x="26" y="54"/>
                    <a:pt x="26" y="54"/>
                  </a:cubicBezTo>
                  <a:cubicBezTo>
                    <a:pt x="43" y="65"/>
                    <a:pt x="43" y="65"/>
                    <a:pt x="43" y="65"/>
                  </a:cubicBezTo>
                  <a:cubicBezTo>
                    <a:pt x="44" y="73"/>
                    <a:pt x="44" y="73"/>
                    <a:pt x="44" y="73"/>
                  </a:cubicBezTo>
                  <a:cubicBezTo>
                    <a:pt x="22" y="74"/>
                    <a:pt x="22" y="74"/>
                    <a:pt x="22" y="74"/>
                  </a:cubicBezTo>
                  <a:cubicBezTo>
                    <a:pt x="22" y="93"/>
                    <a:pt x="22" y="93"/>
                    <a:pt x="22" y="93"/>
                  </a:cubicBezTo>
                  <a:cubicBezTo>
                    <a:pt x="22" y="93"/>
                    <a:pt x="3" y="96"/>
                    <a:pt x="13" y="106"/>
                  </a:cubicBezTo>
                  <a:cubicBezTo>
                    <a:pt x="23" y="116"/>
                    <a:pt x="50" y="110"/>
                    <a:pt x="47" y="126"/>
                  </a:cubicBezTo>
                  <a:cubicBezTo>
                    <a:pt x="44" y="142"/>
                    <a:pt x="35" y="150"/>
                    <a:pt x="35" y="150"/>
                  </a:cubicBezTo>
                  <a:cubicBezTo>
                    <a:pt x="44" y="170"/>
                    <a:pt x="44" y="170"/>
                    <a:pt x="44" y="170"/>
                  </a:cubicBezTo>
                  <a:cubicBezTo>
                    <a:pt x="64" y="186"/>
                    <a:pt x="64" y="186"/>
                    <a:pt x="64" y="186"/>
                  </a:cubicBezTo>
                  <a:cubicBezTo>
                    <a:pt x="63" y="206"/>
                    <a:pt x="63" y="206"/>
                    <a:pt x="63" y="206"/>
                  </a:cubicBezTo>
                  <a:cubicBezTo>
                    <a:pt x="75" y="234"/>
                    <a:pt x="75" y="234"/>
                    <a:pt x="75" y="234"/>
                  </a:cubicBezTo>
                  <a:cubicBezTo>
                    <a:pt x="73" y="252"/>
                    <a:pt x="73" y="252"/>
                    <a:pt x="73" y="252"/>
                  </a:cubicBezTo>
                  <a:lnTo>
                    <a:pt x="90" y="275"/>
                  </a:ln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429" name="Freeform 220">
              <a:extLst>
                <a:ext uri="{FF2B5EF4-FFF2-40B4-BE49-F238E27FC236}">
                  <a16:creationId xmlns:a16="http://schemas.microsoft.com/office/drawing/2014/main" id="{BC1C63D4-DE0C-4029-8BF9-7BF699458841}"/>
                </a:ext>
              </a:extLst>
            </p:cNvPr>
            <p:cNvSpPr>
              <a:spLocks noEditPoints="1"/>
            </p:cNvSpPr>
            <p:nvPr/>
          </p:nvSpPr>
          <p:spPr bwMode="gray">
            <a:xfrm>
              <a:off x="6911007" y="1446219"/>
              <a:ext cx="884421" cy="1012109"/>
            </a:xfrm>
            <a:custGeom>
              <a:avLst/>
              <a:gdLst>
                <a:gd name="T0" fmla="*/ 1202 w 1304"/>
                <a:gd name="T1" fmla="*/ 1237 h 1578"/>
                <a:gd name="T2" fmla="*/ 1259 w 1304"/>
                <a:gd name="T3" fmla="*/ 1543 h 1578"/>
                <a:gd name="T4" fmla="*/ 1302 w 1304"/>
                <a:gd name="T5" fmla="*/ 417 h 1578"/>
                <a:gd name="T6" fmla="*/ 1231 w 1304"/>
                <a:gd name="T7" fmla="*/ 379 h 1578"/>
                <a:gd name="T8" fmla="*/ 1133 w 1304"/>
                <a:gd name="T9" fmla="*/ 390 h 1578"/>
                <a:gd name="T10" fmla="*/ 1045 w 1304"/>
                <a:gd name="T11" fmla="*/ 450 h 1578"/>
                <a:gd name="T12" fmla="*/ 1042 w 1304"/>
                <a:gd name="T13" fmla="*/ 497 h 1578"/>
                <a:gd name="T14" fmla="*/ 926 w 1304"/>
                <a:gd name="T15" fmla="*/ 487 h 1578"/>
                <a:gd name="T16" fmla="*/ 882 w 1304"/>
                <a:gd name="T17" fmla="*/ 450 h 1578"/>
                <a:gd name="T18" fmla="*/ 853 w 1304"/>
                <a:gd name="T19" fmla="*/ 520 h 1578"/>
                <a:gd name="T20" fmla="*/ 766 w 1304"/>
                <a:gd name="T21" fmla="*/ 495 h 1578"/>
                <a:gd name="T22" fmla="*/ 695 w 1304"/>
                <a:gd name="T23" fmla="*/ 457 h 1578"/>
                <a:gd name="T24" fmla="*/ 640 w 1304"/>
                <a:gd name="T25" fmla="*/ 459 h 1578"/>
                <a:gd name="T26" fmla="*/ 564 w 1304"/>
                <a:gd name="T27" fmla="*/ 423 h 1578"/>
                <a:gd name="T28" fmla="*/ 499 w 1304"/>
                <a:gd name="T29" fmla="*/ 382 h 1578"/>
                <a:gd name="T30" fmla="*/ 518 w 1304"/>
                <a:gd name="T31" fmla="*/ 323 h 1578"/>
                <a:gd name="T32" fmla="*/ 481 w 1304"/>
                <a:gd name="T33" fmla="*/ 283 h 1578"/>
                <a:gd name="T34" fmla="*/ 412 w 1304"/>
                <a:gd name="T35" fmla="*/ 221 h 1578"/>
                <a:gd name="T36" fmla="*/ 423 w 1304"/>
                <a:gd name="T37" fmla="*/ 194 h 1578"/>
                <a:gd name="T38" fmla="*/ 395 w 1304"/>
                <a:gd name="T39" fmla="*/ 129 h 1578"/>
                <a:gd name="T40" fmla="*/ 438 w 1304"/>
                <a:gd name="T41" fmla="*/ 69 h 1578"/>
                <a:gd name="T42" fmla="*/ 319 w 1304"/>
                <a:gd name="T43" fmla="*/ 29 h 1578"/>
                <a:gd name="T44" fmla="*/ 266 w 1304"/>
                <a:gd name="T45" fmla="*/ 74 h 1578"/>
                <a:gd name="T46" fmla="*/ 156 w 1304"/>
                <a:gd name="T47" fmla="*/ 89 h 1578"/>
                <a:gd name="T48" fmla="*/ 186 w 1304"/>
                <a:gd name="T49" fmla="*/ 141 h 1578"/>
                <a:gd name="T50" fmla="*/ 219 w 1304"/>
                <a:gd name="T51" fmla="*/ 196 h 1578"/>
                <a:gd name="T52" fmla="*/ 235 w 1304"/>
                <a:gd name="T53" fmla="*/ 268 h 1578"/>
                <a:gd name="T54" fmla="*/ 179 w 1304"/>
                <a:gd name="T55" fmla="*/ 372 h 1578"/>
                <a:gd name="T56" fmla="*/ 107 w 1304"/>
                <a:gd name="T57" fmla="*/ 437 h 1578"/>
                <a:gd name="T58" fmla="*/ 33 w 1304"/>
                <a:gd name="T59" fmla="*/ 493 h 1578"/>
                <a:gd name="T60" fmla="*/ 74 w 1304"/>
                <a:gd name="T61" fmla="*/ 551 h 1578"/>
                <a:gd name="T62" fmla="*/ 98 w 1304"/>
                <a:gd name="T63" fmla="*/ 635 h 1578"/>
                <a:gd name="T64" fmla="*/ 15 w 1304"/>
                <a:gd name="T65" fmla="*/ 630 h 1578"/>
                <a:gd name="T66" fmla="*/ 78 w 1304"/>
                <a:gd name="T67" fmla="*/ 697 h 1578"/>
                <a:gd name="T68" fmla="*/ 70 w 1304"/>
                <a:gd name="T69" fmla="*/ 779 h 1578"/>
                <a:gd name="T70" fmla="*/ 213 w 1304"/>
                <a:gd name="T71" fmla="*/ 781 h 1578"/>
                <a:gd name="T72" fmla="*/ 267 w 1304"/>
                <a:gd name="T73" fmla="*/ 1062 h 1578"/>
                <a:gd name="T74" fmla="*/ 407 w 1304"/>
                <a:gd name="T75" fmla="*/ 1335 h 1578"/>
                <a:gd name="T76" fmla="*/ 550 w 1304"/>
                <a:gd name="T77" fmla="*/ 1443 h 1578"/>
                <a:gd name="T78" fmla="*/ 601 w 1304"/>
                <a:gd name="T79" fmla="*/ 1311 h 1578"/>
                <a:gd name="T80" fmla="*/ 594 w 1304"/>
                <a:gd name="T81" fmla="*/ 1107 h 1578"/>
                <a:gd name="T82" fmla="*/ 688 w 1304"/>
                <a:gd name="T83" fmla="*/ 1044 h 1578"/>
                <a:gd name="T84" fmla="*/ 820 w 1304"/>
                <a:gd name="T85" fmla="*/ 866 h 1578"/>
                <a:gd name="T86" fmla="*/ 873 w 1304"/>
                <a:gd name="T87" fmla="*/ 795 h 1578"/>
                <a:gd name="T88" fmla="*/ 942 w 1304"/>
                <a:gd name="T89" fmla="*/ 744 h 1578"/>
                <a:gd name="T90" fmla="*/ 959 w 1304"/>
                <a:gd name="T91" fmla="*/ 697 h 1578"/>
                <a:gd name="T92" fmla="*/ 917 w 1304"/>
                <a:gd name="T93" fmla="*/ 604 h 1578"/>
                <a:gd name="T94" fmla="*/ 897 w 1304"/>
                <a:gd name="T95" fmla="*/ 546 h 1578"/>
                <a:gd name="T96" fmla="*/ 925 w 1304"/>
                <a:gd name="T97" fmla="*/ 515 h 1578"/>
                <a:gd name="T98" fmla="*/ 972 w 1304"/>
                <a:gd name="T99" fmla="*/ 534 h 1578"/>
                <a:gd name="T100" fmla="*/ 1049 w 1304"/>
                <a:gd name="T101" fmla="*/ 590 h 1578"/>
                <a:gd name="T102" fmla="*/ 1063 w 1304"/>
                <a:gd name="T103" fmla="*/ 641 h 1578"/>
                <a:gd name="T104" fmla="*/ 1099 w 1304"/>
                <a:gd name="T105" fmla="*/ 664 h 1578"/>
                <a:gd name="T106" fmla="*/ 1161 w 1304"/>
                <a:gd name="T107" fmla="*/ 750 h 1578"/>
                <a:gd name="T108" fmla="*/ 1143 w 1304"/>
                <a:gd name="T109" fmla="*/ 648 h 1578"/>
                <a:gd name="T110" fmla="*/ 1199 w 1304"/>
                <a:gd name="T111" fmla="*/ 576 h 1578"/>
                <a:gd name="T112" fmla="*/ 1238 w 1304"/>
                <a:gd name="T113" fmla="*/ 497 h 15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304" h="1578">
                  <a:moveTo>
                    <a:pt x="1204" y="1196"/>
                  </a:moveTo>
                  <a:cubicBezTo>
                    <a:pt x="1184" y="1198"/>
                    <a:pt x="1188" y="1259"/>
                    <a:pt x="1188" y="1259"/>
                  </a:cubicBezTo>
                  <a:cubicBezTo>
                    <a:pt x="1191" y="1325"/>
                    <a:pt x="1191" y="1325"/>
                    <a:pt x="1191" y="1325"/>
                  </a:cubicBezTo>
                  <a:cubicBezTo>
                    <a:pt x="1202" y="1305"/>
                    <a:pt x="1202" y="1305"/>
                    <a:pt x="1202" y="1305"/>
                  </a:cubicBezTo>
                  <a:cubicBezTo>
                    <a:pt x="1202" y="1237"/>
                    <a:pt x="1202" y="1237"/>
                    <a:pt x="1202" y="1237"/>
                  </a:cubicBezTo>
                  <a:cubicBezTo>
                    <a:pt x="1202" y="1237"/>
                    <a:pt x="1220" y="1194"/>
                    <a:pt x="1204" y="1196"/>
                  </a:cubicBezTo>
                  <a:close/>
                  <a:moveTo>
                    <a:pt x="1195" y="1357"/>
                  </a:moveTo>
                  <a:cubicBezTo>
                    <a:pt x="1180" y="1357"/>
                    <a:pt x="1196" y="1389"/>
                    <a:pt x="1196" y="1389"/>
                  </a:cubicBezTo>
                  <a:cubicBezTo>
                    <a:pt x="1196" y="1389"/>
                    <a:pt x="1209" y="1357"/>
                    <a:pt x="1195" y="1357"/>
                  </a:cubicBezTo>
                  <a:close/>
                  <a:moveTo>
                    <a:pt x="1259" y="1543"/>
                  </a:moveTo>
                  <a:cubicBezTo>
                    <a:pt x="1251" y="1544"/>
                    <a:pt x="1255" y="1578"/>
                    <a:pt x="1270" y="1578"/>
                  </a:cubicBezTo>
                  <a:cubicBezTo>
                    <a:pt x="1270" y="1578"/>
                    <a:pt x="1267" y="1542"/>
                    <a:pt x="1259" y="1543"/>
                  </a:cubicBezTo>
                  <a:close/>
                  <a:moveTo>
                    <a:pt x="1280" y="454"/>
                  </a:moveTo>
                  <a:cubicBezTo>
                    <a:pt x="1280" y="445"/>
                    <a:pt x="1304" y="436"/>
                    <a:pt x="1304" y="436"/>
                  </a:cubicBezTo>
                  <a:cubicBezTo>
                    <a:pt x="1302" y="417"/>
                    <a:pt x="1302" y="417"/>
                    <a:pt x="1302" y="417"/>
                  </a:cubicBezTo>
                  <a:cubicBezTo>
                    <a:pt x="1302" y="417"/>
                    <a:pt x="1287" y="413"/>
                    <a:pt x="1280" y="413"/>
                  </a:cubicBezTo>
                  <a:cubicBezTo>
                    <a:pt x="1273" y="413"/>
                    <a:pt x="1258" y="413"/>
                    <a:pt x="1250" y="411"/>
                  </a:cubicBezTo>
                  <a:cubicBezTo>
                    <a:pt x="1242" y="409"/>
                    <a:pt x="1262" y="400"/>
                    <a:pt x="1262" y="400"/>
                  </a:cubicBezTo>
                  <a:cubicBezTo>
                    <a:pt x="1251" y="380"/>
                    <a:pt x="1251" y="380"/>
                    <a:pt x="1251" y="380"/>
                  </a:cubicBezTo>
                  <a:cubicBezTo>
                    <a:pt x="1251" y="380"/>
                    <a:pt x="1240" y="381"/>
                    <a:pt x="1231" y="379"/>
                  </a:cubicBezTo>
                  <a:cubicBezTo>
                    <a:pt x="1222" y="377"/>
                    <a:pt x="1238" y="369"/>
                    <a:pt x="1238" y="369"/>
                  </a:cubicBezTo>
                  <a:cubicBezTo>
                    <a:pt x="1238" y="369"/>
                    <a:pt x="1237" y="364"/>
                    <a:pt x="1219" y="355"/>
                  </a:cubicBezTo>
                  <a:cubicBezTo>
                    <a:pt x="1201" y="346"/>
                    <a:pt x="1209" y="377"/>
                    <a:pt x="1198" y="377"/>
                  </a:cubicBezTo>
                  <a:cubicBezTo>
                    <a:pt x="1187" y="377"/>
                    <a:pt x="1173" y="363"/>
                    <a:pt x="1165" y="363"/>
                  </a:cubicBezTo>
                  <a:cubicBezTo>
                    <a:pt x="1157" y="363"/>
                    <a:pt x="1140" y="382"/>
                    <a:pt x="1133" y="390"/>
                  </a:cubicBezTo>
                  <a:cubicBezTo>
                    <a:pt x="1126" y="398"/>
                    <a:pt x="1102" y="394"/>
                    <a:pt x="1102" y="394"/>
                  </a:cubicBezTo>
                  <a:cubicBezTo>
                    <a:pt x="1102" y="394"/>
                    <a:pt x="1109" y="410"/>
                    <a:pt x="1107" y="415"/>
                  </a:cubicBezTo>
                  <a:cubicBezTo>
                    <a:pt x="1105" y="420"/>
                    <a:pt x="1084" y="422"/>
                    <a:pt x="1084" y="422"/>
                  </a:cubicBezTo>
                  <a:cubicBezTo>
                    <a:pt x="1084" y="422"/>
                    <a:pt x="1092" y="438"/>
                    <a:pt x="1084" y="445"/>
                  </a:cubicBezTo>
                  <a:cubicBezTo>
                    <a:pt x="1076" y="452"/>
                    <a:pt x="1045" y="450"/>
                    <a:pt x="1045" y="450"/>
                  </a:cubicBezTo>
                  <a:cubicBezTo>
                    <a:pt x="1045" y="450"/>
                    <a:pt x="1039" y="452"/>
                    <a:pt x="1043" y="459"/>
                  </a:cubicBezTo>
                  <a:cubicBezTo>
                    <a:pt x="1047" y="466"/>
                    <a:pt x="1064" y="465"/>
                    <a:pt x="1064" y="465"/>
                  </a:cubicBezTo>
                  <a:cubicBezTo>
                    <a:pt x="1064" y="479"/>
                    <a:pt x="1064" y="479"/>
                    <a:pt x="1064" y="479"/>
                  </a:cubicBezTo>
                  <a:cubicBezTo>
                    <a:pt x="1064" y="479"/>
                    <a:pt x="1079" y="490"/>
                    <a:pt x="1065" y="497"/>
                  </a:cubicBezTo>
                  <a:cubicBezTo>
                    <a:pt x="1051" y="504"/>
                    <a:pt x="1042" y="497"/>
                    <a:pt x="1042" y="497"/>
                  </a:cubicBezTo>
                  <a:cubicBezTo>
                    <a:pt x="1042" y="497"/>
                    <a:pt x="1034" y="501"/>
                    <a:pt x="1016" y="501"/>
                  </a:cubicBezTo>
                  <a:cubicBezTo>
                    <a:pt x="998" y="501"/>
                    <a:pt x="1000" y="495"/>
                    <a:pt x="991" y="495"/>
                  </a:cubicBezTo>
                  <a:cubicBezTo>
                    <a:pt x="982" y="495"/>
                    <a:pt x="988" y="503"/>
                    <a:pt x="969" y="503"/>
                  </a:cubicBezTo>
                  <a:cubicBezTo>
                    <a:pt x="950" y="503"/>
                    <a:pt x="953" y="492"/>
                    <a:pt x="953" y="492"/>
                  </a:cubicBezTo>
                  <a:cubicBezTo>
                    <a:pt x="953" y="492"/>
                    <a:pt x="949" y="503"/>
                    <a:pt x="926" y="487"/>
                  </a:cubicBezTo>
                  <a:cubicBezTo>
                    <a:pt x="903" y="471"/>
                    <a:pt x="921" y="467"/>
                    <a:pt x="921" y="467"/>
                  </a:cubicBezTo>
                  <a:cubicBezTo>
                    <a:pt x="921" y="467"/>
                    <a:pt x="916" y="468"/>
                    <a:pt x="911" y="466"/>
                  </a:cubicBezTo>
                  <a:cubicBezTo>
                    <a:pt x="906" y="464"/>
                    <a:pt x="917" y="436"/>
                    <a:pt x="906" y="427"/>
                  </a:cubicBezTo>
                  <a:cubicBezTo>
                    <a:pt x="899" y="422"/>
                    <a:pt x="888" y="428"/>
                    <a:pt x="876" y="435"/>
                  </a:cubicBezTo>
                  <a:cubicBezTo>
                    <a:pt x="882" y="450"/>
                    <a:pt x="882" y="450"/>
                    <a:pt x="882" y="450"/>
                  </a:cubicBezTo>
                  <a:cubicBezTo>
                    <a:pt x="882" y="482"/>
                    <a:pt x="882" y="482"/>
                    <a:pt x="882" y="482"/>
                  </a:cubicBezTo>
                  <a:cubicBezTo>
                    <a:pt x="892" y="497"/>
                    <a:pt x="892" y="497"/>
                    <a:pt x="892" y="497"/>
                  </a:cubicBezTo>
                  <a:cubicBezTo>
                    <a:pt x="892" y="497"/>
                    <a:pt x="892" y="506"/>
                    <a:pt x="891" y="515"/>
                  </a:cubicBezTo>
                  <a:cubicBezTo>
                    <a:pt x="890" y="524"/>
                    <a:pt x="869" y="521"/>
                    <a:pt x="869" y="521"/>
                  </a:cubicBezTo>
                  <a:cubicBezTo>
                    <a:pt x="869" y="521"/>
                    <a:pt x="862" y="520"/>
                    <a:pt x="853" y="520"/>
                  </a:cubicBezTo>
                  <a:cubicBezTo>
                    <a:pt x="844" y="520"/>
                    <a:pt x="849" y="510"/>
                    <a:pt x="843" y="510"/>
                  </a:cubicBezTo>
                  <a:cubicBezTo>
                    <a:pt x="837" y="510"/>
                    <a:pt x="829" y="521"/>
                    <a:pt x="829" y="521"/>
                  </a:cubicBezTo>
                  <a:cubicBezTo>
                    <a:pt x="829" y="521"/>
                    <a:pt x="818" y="508"/>
                    <a:pt x="805" y="504"/>
                  </a:cubicBezTo>
                  <a:cubicBezTo>
                    <a:pt x="792" y="500"/>
                    <a:pt x="788" y="509"/>
                    <a:pt x="788" y="509"/>
                  </a:cubicBezTo>
                  <a:cubicBezTo>
                    <a:pt x="766" y="495"/>
                    <a:pt x="766" y="495"/>
                    <a:pt x="766" y="495"/>
                  </a:cubicBezTo>
                  <a:cubicBezTo>
                    <a:pt x="754" y="504"/>
                    <a:pt x="754" y="504"/>
                    <a:pt x="754" y="504"/>
                  </a:cubicBezTo>
                  <a:cubicBezTo>
                    <a:pt x="754" y="504"/>
                    <a:pt x="745" y="493"/>
                    <a:pt x="736" y="485"/>
                  </a:cubicBezTo>
                  <a:cubicBezTo>
                    <a:pt x="727" y="477"/>
                    <a:pt x="719" y="467"/>
                    <a:pt x="719" y="467"/>
                  </a:cubicBezTo>
                  <a:cubicBezTo>
                    <a:pt x="705" y="470"/>
                    <a:pt x="705" y="470"/>
                    <a:pt x="705" y="470"/>
                  </a:cubicBezTo>
                  <a:cubicBezTo>
                    <a:pt x="705" y="470"/>
                    <a:pt x="704" y="462"/>
                    <a:pt x="695" y="457"/>
                  </a:cubicBezTo>
                  <a:cubicBezTo>
                    <a:pt x="686" y="452"/>
                    <a:pt x="687" y="471"/>
                    <a:pt x="687" y="471"/>
                  </a:cubicBezTo>
                  <a:cubicBezTo>
                    <a:pt x="687" y="471"/>
                    <a:pt x="686" y="464"/>
                    <a:pt x="677" y="464"/>
                  </a:cubicBezTo>
                  <a:cubicBezTo>
                    <a:pt x="668" y="464"/>
                    <a:pt x="663" y="472"/>
                    <a:pt x="663" y="472"/>
                  </a:cubicBezTo>
                  <a:cubicBezTo>
                    <a:pt x="660" y="465"/>
                    <a:pt x="660" y="465"/>
                    <a:pt x="660" y="465"/>
                  </a:cubicBezTo>
                  <a:cubicBezTo>
                    <a:pt x="660" y="465"/>
                    <a:pt x="653" y="461"/>
                    <a:pt x="640" y="459"/>
                  </a:cubicBezTo>
                  <a:cubicBezTo>
                    <a:pt x="627" y="457"/>
                    <a:pt x="639" y="452"/>
                    <a:pt x="634" y="450"/>
                  </a:cubicBezTo>
                  <a:cubicBezTo>
                    <a:pt x="629" y="448"/>
                    <a:pt x="624" y="451"/>
                    <a:pt x="616" y="451"/>
                  </a:cubicBezTo>
                  <a:cubicBezTo>
                    <a:pt x="608" y="451"/>
                    <a:pt x="601" y="437"/>
                    <a:pt x="601" y="437"/>
                  </a:cubicBezTo>
                  <a:cubicBezTo>
                    <a:pt x="592" y="438"/>
                    <a:pt x="592" y="438"/>
                    <a:pt x="592" y="438"/>
                  </a:cubicBezTo>
                  <a:cubicBezTo>
                    <a:pt x="564" y="423"/>
                    <a:pt x="564" y="423"/>
                    <a:pt x="564" y="423"/>
                  </a:cubicBezTo>
                  <a:cubicBezTo>
                    <a:pt x="557" y="413"/>
                    <a:pt x="557" y="413"/>
                    <a:pt x="557" y="413"/>
                  </a:cubicBezTo>
                  <a:cubicBezTo>
                    <a:pt x="539" y="413"/>
                    <a:pt x="539" y="413"/>
                    <a:pt x="539" y="413"/>
                  </a:cubicBezTo>
                  <a:cubicBezTo>
                    <a:pt x="528" y="395"/>
                    <a:pt x="528" y="395"/>
                    <a:pt x="528" y="395"/>
                  </a:cubicBezTo>
                  <a:cubicBezTo>
                    <a:pt x="518" y="401"/>
                    <a:pt x="518" y="401"/>
                    <a:pt x="518" y="401"/>
                  </a:cubicBezTo>
                  <a:cubicBezTo>
                    <a:pt x="518" y="401"/>
                    <a:pt x="506" y="390"/>
                    <a:pt x="499" y="382"/>
                  </a:cubicBezTo>
                  <a:cubicBezTo>
                    <a:pt x="492" y="374"/>
                    <a:pt x="511" y="364"/>
                    <a:pt x="511" y="364"/>
                  </a:cubicBezTo>
                  <a:cubicBezTo>
                    <a:pt x="511" y="364"/>
                    <a:pt x="506" y="364"/>
                    <a:pt x="502" y="358"/>
                  </a:cubicBezTo>
                  <a:cubicBezTo>
                    <a:pt x="498" y="352"/>
                    <a:pt x="509" y="350"/>
                    <a:pt x="509" y="350"/>
                  </a:cubicBezTo>
                  <a:cubicBezTo>
                    <a:pt x="503" y="341"/>
                    <a:pt x="503" y="341"/>
                    <a:pt x="503" y="341"/>
                  </a:cubicBezTo>
                  <a:cubicBezTo>
                    <a:pt x="518" y="323"/>
                    <a:pt x="518" y="323"/>
                    <a:pt x="518" y="323"/>
                  </a:cubicBezTo>
                  <a:cubicBezTo>
                    <a:pt x="524" y="310"/>
                    <a:pt x="524" y="310"/>
                    <a:pt x="524" y="310"/>
                  </a:cubicBezTo>
                  <a:cubicBezTo>
                    <a:pt x="509" y="296"/>
                    <a:pt x="509" y="296"/>
                    <a:pt x="509" y="296"/>
                  </a:cubicBezTo>
                  <a:cubicBezTo>
                    <a:pt x="509" y="296"/>
                    <a:pt x="498" y="296"/>
                    <a:pt x="492" y="293"/>
                  </a:cubicBezTo>
                  <a:cubicBezTo>
                    <a:pt x="486" y="290"/>
                    <a:pt x="492" y="282"/>
                    <a:pt x="492" y="282"/>
                  </a:cubicBezTo>
                  <a:cubicBezTo>
                    <a:pt x="481" y="283"/>
                    <a:pt x="481" y="283"/>
                    <a:pt x="481" y="283"/>
                  </a:cubicBezTo>
                  <a:cubicBezTo>
                    <a:pt x="466" y="272"/>
                    <a:pt x="466" y="272"/>
                    <a:pt x="466" y="272"/>
                  </a:cubicBezTo>
                  <a:cubicBezTo>
                    <a:pt x="466" y="272"/>
                    <a:pt x="456" y="270"/>
                    <a:pt x="445" y="266"/>
                  </a:cubicBezTo>
                  <a:cubicBezTo>
                    <a:pt x="434" y="262"/>
                    <a:pt x="430" y="247"/>
                    <a:pt x="430" y="247"/>
                  </a:cubicBezTo>
                  <a:cubicBezTo>
                    <a:pt x="430" y="247"/>
                    <a:pt x="419" y="252"/>
                    <a:pt x="412" y="249"/>
                  </a:cubicBezTo>
                  <a:cubicBezTo>
                    <a:pt x="405" y="246"/>
                    <a:pt x="412" y="221"/>
                    <a:pt x="412" y="221"/>
                  </a:cubicBezTo>
                  <a:cubicBezTo>
                    <a:pt x="412" y="221"/>
                    <a:pt x="392" y="210"/>
                    <a:pt x="390" y="200"/>
                  </a:cubicBezTo>
                  <a:cubicBezTo>
                    <a:pt x="388" y="190"/>
                    <a:pt x="401" y="185"/>
                    <a:pt x="405" y="185"/>
                  </a:cubicBezTo>
                  <a:cubicBezTo>
                    <a:pt x="409" y="185"/>
                    <a:pt x="407" y="195"/>
                    <a:pt x="407" y="195"/>
                  </a:cubicBezTo>
                  <a:cubicBezTo>
                    <a:pt x="417" y="203"/>
                    <a:pt x="417" y="203"/>
                    <a:pt x="417" y="203"/>
                  </a:cubicBezTo>
                  <a:cubicBezTo>
                    <a:pt x="423" y="194"/>
                    <a:pt x="423" y="194"/>
                    <a:pt x="423" y="194"/>
                  </a:cubicBezTo>
                  <a:cubicBezTo>
                    <a:pt x="423" y="194"/>
                    <a:pt x="432" y="191"/>
                    <a:pt x="440" y="186"/>
                  </a:cubicBezTo>
                  <a:cubicBezTo>
                    <a:pt x="448" y="181"/>
                    <a:pt x="429" y="166"/>
                    <a:pt x="429" y="166"/>
                  </a:cubicBezTo>
                  <a:cubicBezTo>
                    <a:pt x="424" y="157"/>
                    <a:pt x="424" y="157"/>
                    <a:pt x="424" y="157"/>
                  </a:cubicBezTo>
                  <a:cubicBezTo>
                    <a:pt x="424" y="157"/>
                    <a:pt x="419" y="154"/>
                    <a:pt x="404" y="147"/>
                  </a:cubicBezTo>
                  <a:cubicBezTo>
                    <a:pt x="389" y="140"/>
                    <a:pt x="395" y="129"/>
                    <a:pt x="395" y="129"/>
                  </a:cubicBezTo>
                  <a:cubicBezTo>
                    <a:pt x="406" y="123"/>
                    <a:pt x="406" y="123"/>
                    <a:pt x="406" y="123"/>
                  </a:cubicBezTo>
                  <a:cubicBezTo>
                    <a:pt x="394" y="107"/>
                    <a:pt x="394" y="107"/>
                    <a:pt x="394" y="107"/>
                  </a:cubicBezTo>
                  <a:cubicBezTo>
                    <a:pt x="394" y="107"/>
                    <a:pt x="413" y="108"/>
                    <a:pt x="422" y="103"/>
                  </a:cubicBezTo>
                  <a:cubicBezTo>
                    <a:pt x="431" y="98"/>
                    <a:pt x="425" y="74"/>
                    <a:pt x="425" y="74"/>
                  </a:cubicBezTo>
                  <a:cubicBezTo>
                    <a:pt x="425" y="74"/>
                    <a:pt x="434" y="74"/>
                    <a:pt x="438" y="69"/>
                  </a:cubicBezTo>
                  <a:cubicBezTo>
                    <a:pt x="442" y="64"/>
                    <a:pt x="438" y="28"/>
                    <a:pt x="438" y="28"/>
                  </a:cubicBezTo>
                  <a:cubicBezTo>
                    <a:pt x="438" y="28"/>
                    <a:pt x="424" y="30"/>
                    <a:pt x="413" y="28"/>
                  </a:cubicBezTo>
                  <a:cubicBezTo>
                    <a:pt x="402" y="26"/>
                    <a:pt x="400" y="12"/>
                    <a:pt x="383" y="6"/>
                  </a:cubicBezTo>
                  <a:cubicBezTo>
                    <a:pt x="366" y="0"/>
                    <a:pt x="335" y="29"/>
                    <a:pt x="335" y="29"/>
                  </a:cubicBezTo>
                  <a:cubicBezTo>
                    <a:pt x="335" y="29"/>
                    <a:pt x="328" y="29"/>
                    <a:pt x="319" y="29"/>
                  </a:cubicBezTo>
                  <a:cubicBezTo>
                    <a:pt x="304" y="51"/>
                    <a:pt x="304" y="51"/>
                    <a:pt x="304" y="51"/>
                  </a:cubicBezTo>
                  <a:cubicBezTo>
                    <a:pt x="289" y="57"/>
                    <a:pt x="289" y="57"/>
                    <a:pt x="289" y="57"/>
                  </a:cubicBezTo>
                  <a:cubicBezTo>
                    <a:pt x="289" y="57"/>
                    <a:pt x="289" y="68"/>
                    <a:pt x="286" y="69"/>
                  </a:cubicBezTo>
                  <a:cubicBezTo>
                    <a:pt x="283" y="70"/>
                    <a:pt x="272" y="69"/>
                    <a:pt x="272" y="69"/>
                  </a:cubicBezTo>
                  <a:cubicBezTo>
                    <a:pt x="266" y="74"/>
                    <a:pt x="266" y="74"/>
                    <a:pt x="266" y="74"/>
                  </a:cubicBezTo>
                  <a:cubicBezTo>
                    <a:pt x="262" y="70"/>
                    <a:pt x="262" y="70"/>
                    <a:pt x="262" y="70"/>
                  </a:cubicBezTo>
                  <a:cubicBezTo>
                    <a:pt x="262" y="70"/>
                    <a:pt x="244" y="83"/>
                    <a:pt x="237" y="84"/>
                  </a:cubicBezTo>
                  <a:cubicBezTo>
                    <a:pt x="230" y="85"/>
                    <a:pt x="227" y="73"/>
                    <a:pt x="227" y="73"/>
                  </a:cubicBezTo>
                  <a:cubicBezTo>
                    <a:pt x="227" y="73"/>
                    <a:pt x="198" y="67"/>
                    <a:pt x="176" y="70"/>
                  </a:cubicBezTo>
                  <a:cubicBezTo>
                    <a:pt x="154" y="73"/>
                    <a:pt x="156" y="89"/>
                    <a:pt x="156" y="89"/>
                  </a:cubicBezTo>
                  <a:cubicBezTo>
                    <a:pt x="171" y="99"/>
                    <a:pt x="171" y="99"/>
                    <a:pt x="171" y="99"/>
                  </a:cubicBezTo>
                  <a:cubicBezTo>
                    <a:pt x="167" y="108"/>
                    <a:pt x="167" y="108"/>
                    <a:pt x="167" y="108"/>
                  </a:cubicBezTo>
                  <a:cubicBezTo>
                    <a:pt x="187" y="112"/>
                    <a:pt x="187" y="112"/>
                    <a:pt x="187" y="112"/>
                  </a:cubicBezTo>
                  <a:cubicBezTo>
                    <a:pt x="187" y="112"/>
                    <a:pt x="178" y="120"/>
                    <a:pt x="175" y="130"/>
                  </a:cubicBezTo>
                  <a:cubicBezTo>
                    <a:pt x="172" y="140"/>
                    <a:pt x="186" y="141"/>
                    <a:pt x="186" y="141"/>
                  </a:cubicBezTo>
                  <a:cubicBezTo>
                    <a:pt x="186" y="141"/>
                    <a:pt x="185" y="149"/>
                    <a:pt x="184" y="157"/>
                  </a:cubicBezTo>
                  <a:cubicBezTo>
                    <a:pt x="183" y="165"/>
                    <a:pt x="194" y="162"/>
                    <a:pt x="194" y="162"/>
                  </a:cubicBezTo>
                  <a:cubicBezTo>
                    <a:pt x="202" y="172"/>
                    <a:pt x="202" y="172"/>
                    <a:pt x="202" y="172"/>
                  </a:cubicBezTo>
                  <a:cubicBezTo>
                    <a:pt x="216" y="173"/>
                    <a:pt x="216" y="173"/>
                    <a:pt x="216" y="173"/>
                  </a:cubicBezTo>
                  <a:cubicBezTo>
                    <a:pt x="219" y="196"/>
                    <a:pt x="219" y="196"/>
                    <a:pt x="219" y="196"/>
                  </a:cubicBezTo>
                  <a:cubicBezTo>
                    <a:pt x="243" y="195"/>
                    <a:pt x="243" y="195"/>
                    <a:pt x="243" y="195"/>
                  </a:cubicBezTo>
                  <a:cubicBezTo>
                    <a:pt x="243" y="195"/>
                    <a:pt x="255" y="200"/>
                    <a:pt x="256" y="209"/>
                  </a:cubicBezTo>
                  <a:cubicBezTo>
                    <a:pt x="257" y="218"/>
                    <a:pt x="228" y="222"/>
                    <a:pt x="224" y="224"/>
                  </a:cubicBezTo>
                  <a:cubicBezTo>
                    <a:pt x="220" y="226"/>
                    <a:pt x="223" y="240"/>
                    <a:pt x="223" y="244"/>
                  </a:cubicBezTo>
                  <a:cubicBezTo>
                    <a:pt x="223" y="248"/>
                    <a:pt x="235" y="268"/>
                    <a:pt x="235" y="268"/>
                  </a:cubicBezTo>
                  <a:cubicBezTo>
                    <a:pt x="217" y="281"/>
                    <a:pt x="217" y="281"/>
                    <a:pt x="217" y="281"/>
                  </a:cubicBezTo>
                  <a:cubicBezTo>
                    <a:pt x="200" y="305"/>
                    <a:pt x="200" y="305"/>
                    <a:pt x="200" y="305"/>
                  </a:cubicBezTo>
                  <a:cubicBezTo>
                    <a:pt x="211" y="322"/>
                    <a:pt x="211" y="322"/>
                    <a:pt x="211" y="322"/>
                  </a:cubicBezTo>
                  <a:cubicBezTo>
                    <a:pt x="211" y="322"/>
                    <a:pt x="192" y="323"/>
                    <a:pt x="188" y="332"/>
                  </a:cubicBezTo>
                  <a:cubicBezTo>
                    <a:pt x="184" y="341"/>
                    <a:pt x="187" y="359"/>
                    <a:pt x="179" y="372"/>
                  </a:cubicBezTo>
                  <a:cubicBezTo>
                    <a:pt x="171" y="385"/>
                    <a:pt x="155" y="388"/>
                    <a:pt x="151" y="391"/>
                  </a:cubicBezTo>
                  <a:cubicBezTo>
                    <a:pt x="147" y="394"/>
                    <a:pt x="146" y="414"/>
                    <a:pt x="146" y="414"/>
                  </a:cubicBezTo>
                  <a:cubicBezTo>
                    <a:pt x="137" y="419"/>
                    <a:pt x="137" y="419"/>
                    <a:pt x="137" y="419"/>
                  </a:cubicBezTo>
                  <a:cubicBezTo>
                    <a:pt x="137" y="419"/>
                    <a:pt x="136" y="429"/>
                    <a:pt x="129" y="437"/>
                  </a:cubicBezTo>
                  <a:cubicBezTo>
                    <a:pt x="122" y="445"/>
                    <a:pt x="107" y="437"/>
                    <a:pt x="107" y="437"/>
                  </a:cubicBezTo>
                  <a:cubicBezTo>
                    <a:pt x="107" y="437"/>
                    <a:pt x="102" y="445"/>
                    <a:pt x="89" y="447"/>
                  </a:cubicBezTo>
                  <a:cubicBezTo>
                    <a:pt x="76" y="449"/>
                    <a:pt x="84" y="432"/>
                    <a:pt x="70" y="434"/>
                  </a:cubicBezTo>
                  <a:cubicBezTo>
                    <a:pt x="56" y="436"/>
                    <a:pt x="57" y="450"/>
                    <a:pt x="57" y="450"/>
                  </a:cubicBezTo>
                  <a:cubicBezTo>
                    <a:pt x="57" y="450"/>
                    <a:pt x="50" y="462"/>
                    <a:pt x="42" y="469"/>
                  </a:cubicBezTo>
                  <a:cubicBezTo>
                    <a:pt x="34" y="476"/>
                    <a:pt x="33" y="476"/>
                    <a:pt x="33" y="493"/>
                  </a:cubicBezTo>
                  <a:cubicBezTo>
                    <a:pt x="33" y="510"/>
                    <a:pt x="48" y="508"/>
                    <a:pt x="48" y="508"/>
                  </a:cubicBezTo>
                  <a:cubicBezTo>
                    <a:pt x="66" y="506"/>
                    <a:pt x="66" y="506"/>
                    <a:pt x="66" y="506"/>
                  </a:cubicBezTo>
                  <a:cubicBezTo>
                    <a:pt x="67" y="516"/>
                    <a:pt x="67" y="516"/>
                    <a:pt x="67" y="516"/>
                  </a:cubicBezTo>
                  <a:cubicBezTo>
                    <a:pt x="65" y="536"/>
                    <a:pt x="65" y="536"/>
                    <a:pt x="65" y="536"/>
                  </a:cubicBezTo>
                  <a:cubicBezTo>
                    <a:pt x="65" y="536"/>
                    <a:pt x="67" y="544"/>
                    <a:pt x="74" y="551"/>
                  </a:cubicBezTo>
                  <a:cubicBezTo>
                    <a:pt x="81" y="558"/>
                    <a:pt x="97" y="558"/>
                    <a:pt x="97" y="558"/>
                  </a:cubicBezTo>
                  <a:cubicBezTo>
                    <a:pt x="97" y="573"/>
                    <a:pt x="97" y="573"/>
                    <a:pt x="97" y="573"/>
                  </a:cubicBezTo>
                  <a:cubicBezTo>
                    <a:pt x="111" y="601"/>
                    <a:pt x="111" y="601"/>
                    <a:pt x="111" y="601"/>
                  </a:cubicBezTo>
                  <a:cubicBezTo>
                    <a:pt x="111" y="601"/>
                    <a:pt x="122" y="616"/>
                    <a:pt x="120" y="625"/>
                  </a:cubicBezTo>
                  <a:cubicBezTo>
                    <a:pt x="118" y="634"/>
                    <a:pt x="109" y="635"/>
                    <a:pt x="98" y="635"/>
                  </a:cubicBezTo>
                  <a:cubicBezTo>
                    <a:pt x="87" y="635"/>
                    <a:pt x="97" y="624"/>
                    <a:pt x="86" y="626"/>
                  </a:cubicBezTo>
                  <a:cubicBezTo>
                    <a:pt x="75" y="628"/>
                    <a:pt x="77" y="638"/>
                    <a:pt x="63" y="638"/>
                  </a:cubicBezTo>
                  <a:cubicBezTo>
                    <a:pt x="49" y="638"/>
                    <a:pt x="52" y="630"/>
                    <a:pt x="52" y="630"/>
                  </a:cubicBezTo>
                  <a:cubicBezTo>
                    <a:pt x="35" y="636"/>
                    <a:pt x="35" y="636"/>
                    <a:pt x="35" y="636"/>
                  </a:cubicBezTo>
                  <a:cubicBezTo>
                    <a:pt x="35" y="636"/>
                    <a:pt x="26" y="629"/>
                    <a:pt x="15" y="630"/>
                  </a:cubicBezTo>
                  <a:cubicBezTo>
                    <a:pt x="4" y="631"/>
                    <a:pt x="13" y="647"/>
                    <a:pt x="13" y="647"/>
                  </a:cubicBezTo>
                  <a:cubicBezTo>
                    <a:pt x="0" y="652"/>
                    <a:pt x="0" y="652"/>
                    <a:pt x="0" y="652"/>
                  </a:cubicBezTo>
                  <a:cubicBezTo>
                    <a:pt x="11" y="653"/>
                    <a:pt x="23" y="653"/>
                    <a:pt x="23" y="653"/>
                  </a:cubicBezTo>
                  <a:cubicBezTo>
                    <a:pt x="23" y="653"/>
                    <a:pt x="13" y="677"/>
                    <a:pt x="26" y="686"/>
                  </a:cubicBezTo>
                  <a:cubicBezTo>
                    <a:pt x="38" y="696"/>
                    <a:pt x="71" y="699"/>
                    <a:pt x="78" y="697"/>
                  </a:cubicBezTo>
                  <a:cubicBezTo>
                    <a:pt x="84" y="695"/>
                    <a:pt x="108" y="678"/>
                    <a:pt x="108" y="678"/>
                  </a:cubicBezTo>
                  <a:cubicBezTo>
                    <a:pt x="108" y="678"/>
                    <a:pt x="118" y="690"/>
                    <a:pt x="106" y="701"/>
                  </a:cubicBezTo>
                  <a:cubicBezTo>
                    <a:pt x="94" y="712"/>
                    <a:pt x="70" y="719"/>
                    <a:pt x="70" y="719"/>
                  </a:cubicBezTo>
                  <a:cubicBezTo>
                    <a:pt x="70" y="719"/>
                    <a:pt x="32" y="724"/>
                    <a:pt x="30" y="735"/>
                  </a:cubicBezTo>
                  <a:cubicBezTo>
                    <a:pt x="28" y="746"/>
                    <a:pt x="58" y="770"/>
                    <a:pt x="70" y="779"/>
                  </a:cubicBezTo>
                  <a:cubicBezTo>
                    <a:pt x="83" y="788"/>
                    <a:pt x="106" y="816"/>
                    <a:pt x="136" y="818"/>
                  </a:cubicBezTo>
                  <a:cubicBezTo>
                    <a:pt x="167" y="821"/>
                    <a:pt x="205" y="794"/>
                    <a:pt x="201" y="775"/>
                  </a:cubicBezTo>
                  <a:cubicBezTo>
                    <a:pt x="197" y="757"/>
                    <a:pt x="207" y="742"/>
                    <a:pt x="217" y="733"/>
                  </a:cubicBezTo>
                  <a:cubicBezTo>
                    <a:pt x="226" y="723"/>
                    <a:pt x="248" y="718"/>
                    <a:pt x="238" y="735"/>
                  </a:cubicBezTo>
                  <a:cubicBezTo>
                    <a:pt x="229" y="752"/>
                    <a:pt x="206" y="767"/>
                    <a:pt x="213" y="781"/>
                  </a:cubicBezTo>
                  <a:cubicBezTo>
                    <a:pt x="220" y="795"/>
                    <a:pt x="238" y="793"/>
                    <a:pt x="238" y="808"/>
                  </a:cubicBezTo>
                  <a:cubicBezTo>
                    <a:pt x="237" y="822"/>
                    <a:pt x="233" y="838"/>
                    <a:pt x="227" y="861"/>
                  </a:cubicBezTo>
                  <a:cubicBezTo>
                    <a:pt x="220" y="885"/>
                    <a:pt x="220" y="907"/>
                    <a:pt x="227" y="936"/>
                  </a:cubicBezTo>
                  <a:cubicBezTo>
                    <a:pt x="235" y="964"/>
                    <a:pt x="247" y="1014"/>
                    <a:pt x="258" y="1029"/>
                  </a:cubicBezTo>
                  <a:cubicBezTo>
                    <a:pt x="269" y="1045"/>
                    <a:pt x="272" y="1039"/>
                    <a:pt x="267" y="1062"/>
                  </a:cubicBezTo>
                  <a:cubicBezTo>
                    <a:pt x="262" y="1085"/>
                    <a:pt x="299" y="1092"/>
                    <a:pt x="299" y="1092"/>
                  </a:cubicBezTo>
                  <a:cubicBezTo>
                    <a:pt x="299" y="1092"/>
                    <a:pt x="304" y="1124"/>
                    <a:pt x="312" y="1135"/>
                  </a:cubicBezTo>
                  <a:cubicBezTo>
                    <a:pt x="321" y="1147"/>
                    <a:pt x="339" y="1156"/>
                    <a:pt x="339" y="1156"/>
                  </a:cubicBezTo>
                  <a:cubicBezTo>
                    <a:pt x="339" y="1156"/>
                    <a:pt x="344" y="1222"/>
                    <a:pt x="354" y="1252"/>
                  </a:cubicBezTo>
                  <a:cubicBezTo>
                    <a:pt x="365" y="1282"/>
                    <a:pt x="402" y="1323"/>
                    <a:pt x="407" y="1335"/>
                  </a:cubicBezTo>
                  <a:cubicBezTo>
                    <a:pt x="412" y="1348"/>
                    <a:pt x="414" y="1374"/>
                    <a:pt x="413" y="1386"/>
                  </a:cubicBezTo>
                  <a:cubicBezTo>
                    <a:pt x="411" y="1398"/>
                    <a:pt x="479" y="1502"/>
                    <a:pt x="479" y="1502"/>
                  </a:cubicBezTo>
                  <a:cubicBezTo>
                    <a:pt x="479" y="1502"/>
                    <a:pt x="512" y="1493"/>
                    <a:pt x="518" y="1484"/>
                  </a:cubicBezTo>
                  <a:cubicBezTo>
                    <a:pt x="523" y="1474"/>
                    <a:pt x="515" y="1452"/>
                    <a:pt x="526" y="1445"/>
                  </a:cubicBezTo>
                  <a:cubicBezTo>
                    <a:pt x="536" y="1438"/>
                    <a:pt x="540" y="1446"/>
                    <a:pt x="550" y="1443"/>
                  </a:cubicBezTo>
                  <a:cubicBezTo>
                    <a:pt x="561" y="1440"/>
                    <a:pt x="578" y="1427"/>
                    <a:pt x="578" y="1427"/>
                  </a:cubicBezTo>
                  <a:cubicBezTo>
                    <a:pt x="578" y="1427"/>
                    <a:pt x="563" y="1431"/>
                    <a:pt x="566" y="1414"/>
                  </a:cubicBezTo>
                  <a:cubicBezTo>
                    <a:pt x="568" y="1397"/>
                    <a:pt x="575" y="1394"/>
                    <a:pt x="587" y="1388"/>
                  </a:cubicBezTo>
                  <a:cubicBezTo>
                    <a:pt x="599" y="1382"/>
                    <a:pt x="613" y="1379"/>
                    <a:pt x="613" y="1371"/>
                  </a:cubicBezTo>
                  <a:cubicBezTo>
                    <a:pt x="614" y="1362"/>
                    <a:pt x="601" y="1330"/>
                    <a:pt x="601" y="1311"/>
                  </a:cubicBezTo>
                  <a:cubicBezTo>
                    <a:pt x="600" y="1293"/>
                    <a:pt x="599" y="1264"/>
                    <a:pt x="605" y="1261"/>
                  </a:cubicBezTo>
                  <a:cubicBezTo>
                    <a:pt x="612" y="1257"/>
                    <a:pt x="609" y="1249"/>
                    <a:pt x="610" y="1217"/>
                  </a:cubicBezTo>
                  <a:cubicBezTo>
                    <a:pt x="612" y="1185"/>
                    <a:pt x="592" y="1185"/>
                    <a:pt x="590" y="1172"/>
                  </a:cubicBezTo>
                  <a:cubicBezTo>
                    <a:pt x="588" y="1160"/>
                    <a:pt x="598" y="1154"/>
                    <a:pt x="599" y="1142"/>
                  </a:cubicBezTo>
                  <a:cubicBezTo>
                    <a:pt x="601" y="1130"/>
                    <a:pt x="594" y="1123"/>
                    <a:pt x="594" y="1107"/>
                  </a:cubicBezTo>
                  <a:cubicBezTo>
                    <a:pt x="595" y="1091"/>
                    <a:pt x="631" y="1089"/>
                    <a:pt x="631" y="1082"/>
                  </a:cubicBezTo>
                  <a:cubicBezTo>
                    <a:pt x="631" y="1075"/>
                    <a:pt x="631" y="1059"/>
                    <a:pt x="638" y="1054"/>
                  </a:cubicBezTo>
                  <a:cubicBezTo>
                    <a:pt x="646" y="1049"/>
                    <a:pt x="660" y="1050"/>
                    <a:pt x="660" y="1050"/>
                  </a:cubicBezTo>
                  <a:cubicBezTo>
                    <a:pt x="663" y="1044"/>
                    <a:pt x="663" y="1044"/>
                    <a:pt x="663" y="1044"/>
                  </a:cubicBezTo>
                  <a:cubicBezTo>
                    <a:pt x="663" y="1044"/>
                    <a:pt x="686" y="1055"/>
                    <a:pt x="688" y="1044"/>
                  </a:cubicBezTo>
                  <a:cubicBezTo>
                    <a:pt x="690" y="1033"/>
                    <a:pt x="709" y="998"/>
                    <a:pt x="715" y="988"/>
                  </a:cubicBezTo>
                  <a:cubicBezTo>
                    <a:pt x="722" y="979"/>
                    <a:pt x="744" y="980"/>
                    <a:pt x="751" y="966"/>
                  </a:cubicBezTo>
                  <a:cubicBezTo>
                    <a:pt x="758" y="953"/>
                    <a:pt x="769" y="925"/>
                    <a:pt x="779" y="916"/>
                  </a:cubicBezTo>
                  <a:cubicBezTo>
                    <a:pt x="788" y="906"/>
                    <a:pt x="827" y="886"/>
                    <a:pt x="827" y="886"/>
                  </a:cubicBezTo>
                  <a:cubicBezTo>
                    <a:pt x="820" y="866"/>
                    <a:pt x="820" y="866"/>
                    <a:pt x="820" y="866"/>
                  </a:cubicBezTo>
                  <a:cubicBezTo>
                    <a:pt x="826" y="861"/>
                    <a:pt x="826" y="861"/>
                    <a:pt x="826" y="861"/>
                  </a:cubicBezTo>
                  <a:cubicBezTo>
                    <a:pt x="839" y="880"/>
                    <a:pt x="839" y="880"/>
                    <a:pt x="839" y="880"/>
                  </a:cubicBezTo>
                  <a:cubicBezTo>
                    <a:pt x="880" y="841"/>
                    <a:pt x="880" y="841"/>
                    <a:pt x="880" y="841"/>
                  </a:cubicBezTo>
                  <a:cubicBezTo>
                    <a:pt x="887" y="823"/>
                    <a:pt x="887" y="823"/>
                    <a:pt x="887" y="823"/>
                  </a:cubicBezTo>
                  <a:cubicBezTo>
                    <a:pt x="887" y="823"/>
                    <a:pt x="873" y="806"/>
                    <a:pt x="873" y="795"/>
                  </a:cubicBezTo>
                  <a:cubicBezTo>
                    <a:pt x="874" y="784"/>
                    <a:pt x="897" y="788"/>
                    <a:pt x="909" y="773"/>
                  </a:cubicBezTo>
                  <a:cubicBezTo>
                    <a:pt x="921" y="757"/>
                    <a:pt x="917" y="744"/>
                    <a:pt x="917" y="744"/>
                  </a:cubicBezTo>
                  <a:cubicBezTo>
                    <a:pt x="928" y="749"/>
                    <a:pt x="928" y="749"/>
                    <a:pt x="928" y="749"/>
                  </a:cubicBezTo>
                  <a:cubicBezTo>
                    <a:pt x="934" y="767"/>
                    <a:pt x="934" y="767"/>
                    <a:pt x="934" y="767"/>
                  </a:cubicBezTo>
                  <a:cubicBezTo>
                    <a:pt x="942" y="744"/>
                    <a:pt x="942" y="744"/>
                    <a:pt x="942" y="744"/>
                  </a:cubicBezTo>
                  <a:cubicBezTo>
                    <a:pt x="942" y="744"/>
                    <a:pt x="950" y="786"/>
                    <a:pt x="957" y="789"/>
                  </a:cubicBezTo>
                  <a:cubicBezTo>
                    <a:pt x="965" y="791"/>
                    <a:pt x="968" y="763"/>
                    <a:pt x="968" y="763"/>
                  </a:cubicBezTo>
                  <a:cubicBezTo>
                    <a:pt x="970" y="745"/>
                    <a:pt x="970" y="745"/>
                    <a:pt x="970" y="745"/>
                  </a:cubicBezTo>
                  <a:cubicBezTo>
                    <a:pt x="958" y="717"/>
                    <a:pt x="958" y="717"/>
                    <a:pt x="958" y="717"/>
                  </a:cubicBezTo>
                  <a:cubicBezTo>
                    <a:pt x="959" y="697"/>
                    <a:pt x="959" y="697"/>
                    <a:pt x="959" y="697"/>
                  </a:cubicBezTo>
                  <a:cubicBezTo>
                    <a:pt x="939" y="681"/>
                    <a:pt x="939" y="681"/>
                    <a:pt x="939" y="681"/>
                  </a:cubicBezTo>
                  <a:cubicBezTo>
                    <a:pt x="930" y="661"/>
                    <a:pt x="930" y="661"/>
                    <a:pt x="930" y="661"/>
                  </a:cubicBezTo>
                  <a:cubicBezTo>
                    <a:pt x="930" y="661"/>
                    <a:pt x="939" y="653"/>
                    <a:pt x="942" y="637"/>
                  </a:cubicBezTo>
                  <a:cubicBezTo>
                    <a:pt x="945" y="621"/>
                    <a:pt x="918" y="627"/>
                    <a:pt x="908" y="617"/>
                  </a:cubicBezTo>
                  <a:cubicBezTo>
                    <a:pt x="898" y="607"/>
                    <a:pt x="917" y="604"/>
                    <a:pt x="917" y="604"/>
                  </a:cubicBezTo>
                  <a:cubicBezTo>
                    <a:pt x="917" y="585"/>
                    <a:pt x="917" y="585"/>
                    <a:pt x="917" y="585"/>
                  </a:cubicBezTo>
                  <a:cubicBezTo>
                    <a:pt x="939" y="584"/>
                    <a:pt x="939" y="584"/>
                    <a:pt x="939" y="584"/>
                  </a:cubicBezTo>
                  <a:cubicBezTo>
                    <a:pt x="938" y="576"/>
                    <a:pt x="938" y="576"/>
                    <a:pt x="938" y="576"/>
                  </a:cubicBezTo>
                  <a:cubicBezTo>
                    <a:pt x="921" y="565"/>
                    <a:pt x="921" y="565"/>
                    <a:pt x="921" y="565"/>
                  </a:cubicBezTo>
                  <a:cubicBezTo>
                    <a:pt x="921" y="565"/>
                    <a:pt x="899" y="557"/>
                    <a:pt x="897" y="546"/>
                  </a:cubicBezTo>
                  <a:cubicBezTo>
                    <a:pt x="895" y="535"/>
                    <a:pt x="906" y="523"/>
                    <a:pt x="906" y="523"/>
                  </a:cubicBezTo>
                  <a:cubicBezTo>
                    <a:pt x="901" y="511"/>
                    <a:pt x="901" y="511"/>
                    <a:pt x="901" y="511"/>
                  </a:cubicBezTo>
                  <a:cubicBezTo>
                    <a:pt x="912" y="514"/>
                    <a:pt x="912" y="514"/>
                    <a:pt x="912" y="514"/>
                  </a:cubicBezTo>
                  <a:cubicBezTo>
                    <a:pt x="928" y="522"/>
                    <a:pt x="928" y="522"/>
                    <a:pt x="928" y="522"/>
                  </a:cubicBezTo>
                  <a:cubicBezTo>
                    <a:pt x="925" y="515"/>
                    <a:pt x="925" y="515"/>
                    <a:pt x="925" y="515"/>
                  </a:cubicBezTo>
                  <a:cubicBezTo>
                    <a:pt x="936" y="514"/>
                    <a:pt x="936" y="514"/>
                    <a:pt x="936" y="514"/>
                  </a:cubicBezTo>
                  <a:cubicBezTo>
                    <a:pt x="936" y="514"/>
                    <a:pt x="939" y="526"/>
                    <a:pt x="945" y="532"/>
                  </a:cubicBezTo>
                  <a:cubicBezTo>
                    <a:pt x="951" y="538"/>
                    <a:pt x="961" y="540"/>
                    <a:pt x="961" y="540"/>
                  </a:cubicBezTo>
                  <a:cubicBezTo>
                    <a:pt x="962" y="528"/>
                    <a:pt x="962" y="528"/>
                    <a:pt x="962" y="528"/>
                  </a:cubicBezTo>
                  <a:cubicBezTo>
                    <a:pt x="962" y="528"/>
                    <a:pt x="968" y="531"/>
                    <a:pt x="972" y="534"/>
                  </a:cubicBezTo>
                  <a:cubicBezTo>
                    <a:pt x="976" y="537"/>
                    <a:pt x="976" y="555"/>
                    <a:pt x="976" y="555"/>
                  </a:cubicBezTo>
                  <a:cubicBezTo>
                    <a:pt x="980" y="557"/>
                    <a:pt x="980" y="557"/>
                    <a:pt x="980" y="557"/>
                  </a:cubicBezTo>
                  <a:cubicBezTo>
                    <a:pt x="980" y="557"/>
                    <a:pt x="981" y="577"/>
                    <a:pt x="981" y="580"/>
                  </a:cubicBezTo>
                  <a:cubicBezTo>
                    <a:pt x="981" y="583"/>
                    <a:pt x="998" y="586"/>
                    <a:pt x="1008" y="586"/>
                  </a:cubicBezTo>
                  <a:cubicBezTo>
                    <a:pt x="1018" y="586"/>
                    <a:pt x="1049" y="590"/>
                    <a:pt x="1049" y="590"/>
                  </a:cubicBezTo>
                  <a:cubicBezTo>
                    <a:pt x="1079" y="579"/>
                    <a:pt x="1079" y="579"/>
                    <a:pt x="1079" y="579"/>
                  </a:cubicBezTo>
                  <a:cubicBezTo>
                    <a:pt x="1079" y="579"/>
                    <a:pt x="1101" y="587"/>
                    <a:pt x="1101" y="597"/>
                  </a:cubicBezTo>
                  <a:cubicBezTo>
                    <a:pt x="1101" y="607"/>
                    <a:pt x="1091" y="603"/>
                    <a:pt x="1091" y="603"/>
                  </a:cubicBezTo>
                  <a:cubicBezTo>
                    <a:pt x="1091" y="603"/>
                    <a:pt x="1091" y="612"/>
                    <a:pt x="1088" y="626"/>
                  </a:cubicBezTo>
                  <a:cubicBezTo>
                    <a:pt x="1085" y="640"/>
                    <a:pt x="1071" y="638"/>
                    <a:pt x="1063" y="641"/>
                  </a:cubicBezTo>
                  <a:cubicBezTo>
                    <a:pt x="1055" y="644"/>
                    <a:pt x="1053" y="654"/>
                    <a:pt x="1053" y="670"/>
                  </a:cubicBezTo>
                  <a:cubicBezTo>
                    <a:pt x="1053" y="686"/>
                    <a:pt x="1073" y="689"/>
                    <a:pt x="1073" y="689"/>
                  </a:cubicBezTo>
                  <a:cubicBezTo>
                    <a:pt x="1082" y="704"/>
                    <a:pt x="1082" y="704"/>
                    <a:pt x="1082" y="704"/>
                  </a:cubicBezTo>
                  <a:cubicBezTo>
                    <a:pt x="1089" y="681"/>
                    <a:pt x="1089" y="681"/>
                    <a:pt x="1089" y="681"/>
                  </a:cubicBezTo>
                  <a:cubicBezTo>
                    <a:pt x="1089" y="681"/>
                    <a:pt x="1081" y="660"/>
                    <a:pt x="1099" y="664"/>
                  </a:cubicBezTo>
                  <a:cubicBezTo>
                    <a:pt x="1117" y="668"/>
                    <a:pt x="1111" y="687"/>
                    <a:pt x="1115" y="698"/>
                  </a:cubicBezTo>
                  <a:cubicBezTo>
                    <a:pt x="1119" y="709"/>
                    <a:pt x="1135" y="748"/>
                    <a:pt x="1135" y="748"/>
                  </a:cubicBezTo>
                  <a:cubicBezTo>
                    <a:pt x="1149" y="760"/>
                    <a:pt x="1149" y="760"/>
                    <a:pt x="1149" y="760"/>
                  </a:cubicBezTo>
                  <a:cubicBezTo>
                    <a:pt x="1149" y="760"/>
                    <a:pt x="1148" y="752"/>
                    <a:pt x="1148" y="746"/>
                  </a:cubicBezTo>
                  <a:cubicBezTo>
                    <a:pt x="1148" y="740"/>
                    <a:pt x="1152" y="752"/>
                    <a:pt x="1161" y="750"/>
                  </a:cubicBezTo>
                  <a:cubicBezTo>
                    <a:pt x="1170" y="748"/>
                    <a:pt x="1160" y="736"/>
                    <a:pt x="1156" y="732"/>
                  </a:cubicBezTo>
                  <a:cubicBezTo>
                    <a:pt x="1152" y="728"/>
                    <a:pt x="1152" y="714"/>
                    <a:pt x="1149" y="705"/>
                  </a:cubicBezTo>
                  <a:cubicBezTo>
                    <a:pt x="1146" y="696"/>
                    <a:pt x="1163" y="694"/>
                    <a:pt x="1163" y="694"/>
                  </a:cubicBezTo>
                  <a:cubicBezTo>
                    <a:pt x="1161" y="661"/>
                    <a:pt x="1161" y="661"/>
                    <a:pt x="1161" y="661"/>
                  </a:cubicBezTo>
                  <a:cubicBezTo>
                    <a:pt x="1161" y="661"/>
                    <a:pt x="1147" y="650"/>
                    <a:pt x="1143" y="648"/>
                  </a:cubicBezTo>
                  <a:cubicBezTo>
                    <a:pt x="1139" y="646"/>
                    <a:pt x="1164" y="647"/>
                    <a:pt x="1168" y="648"/>
                  </a:cubicBezTo>
                  <a:cubicBezTo>
                    <a:pt x="1172" y="649"/>
                    <a:pt x="1197" y="653"/>
                    <a:pt x="1197" y="653"/>
                  </a:cubicBezTo>
                  <a:cubicBezTo>
                    <a:pt x="1197" y="629"/>
                    <a:pt x="1197" y="629"/>
                    <a:pt x="1197" y="629"/>
                  </a:cubicBezTo>
                  <a:cubicBezTo>
                    <a:pt x="1209" y="594"/>
                    <a:pt x="1209" y="594"/>
                    <a:pt x="1209" y="594"/>
                  </a:cubicBezTo>
                  <a:cubicBezTo>
                    <a:pt x="1209" y="594"/>
                    <a:pt x="1199" y="586"/>
                    <a:pt x="1199" y="576"/>
                  </a:cubicBezTo>
                  <a:cubicBezTo>
                    <a:pt x="1199" y="566"/>
                    <a:pt x="1213" y="562"/>
                    <a:pt x="1213" y="562"/>
                  </a:cubicBezTo>
                  <a:cubicBezTo>
                    <a:pt x="1225" y="541"/>
                    <a:pt x="1225" y="541"/>
                    <a:pt x="1225" y="541"/>
                  </a:cubicBezTo>
                  <a:cubicBezTo>
                    <a:pt x="1225" y="541"/>
                    <a:pt x="1219" y="530"/>
                    <a:pt x="1218" y="525"/>
                  </a:cubicBezTo>
                  <a:cubicBezTo>
                    <a:pt x="1217" y="520"/>
                    <a:pt x="1215" y="506"/>
                    <a:pt x="1215" y="506"/>
                  </a:cubicBezTo>
                  <a:cubicBezTo>
                    <a:pt x="1215" y="506"/>
                    <a:pt x="1226" y="501"/>
                    <a:pt x="1238" y="497"/>
                  </a:cubicBezTo>
                  <a:cubicBezTo>
                    <a:pt x="1250" y="493"/>
                    <a:pt x="1245" y="478"/>
                    <a:pt x="1253" y="476"/>
                  </a:cubicBezTo>
                  <a:cubicBezTo>
                    <a:pt x="1261" y="474"/>
                    <a:pt x="1276" y="473"/>
                    <a:pt x="1276" y="473"/>
                  </a:cubicBezTo>
                  <a:cubicBezTo>
                    <a:pt x="1276" y="473"/>
                    <a:pt x="1299" y="481"/>
                    <a:pt x="1301" y="477"/>
                  </a:cubicBezTo>
                  <a:cubicBezTo>
                    <a:pt x="1303" y="473"/>
                    <a:pt x="1280" y="463"/>
                    <a:pt x="1280" y="454"/>
                  </a:cubicBezTo>
                  <a:close/>
                </a:path>
              </a:pathLst>
            </a:custGeom>
            <a:solidFill>
              <a:schemeClr val="bg1">
                <a:lumMod val="95000"/>
              </a:schemeClr>
            </a:solidFill>
            <a:ln w="3175" cap="flat" cmpd="sng">
              <a:no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430" name="Freeform 221">
              <a:extLst>
                <a:ext uri="{FF2B5EF4-FFF2-40B4-BE49-F238E27FC236}">
                  <a16:creationId xmlns:a16="http://schemas.microsoft.com/office/drawing/2014/main" id="{7D1A697F-AA6F-4B96-AAF9-38BA935356BC}"/>
                </a:ext>
              </a:extLst>
            </p:cNvPr>
            <p:cNvSpPr>
              <a:spLocks/>
            </p:cNvSpPr>
            <p:nvPr/>
          </p:nvSpPr>
          <p:spPr bwMode="gray">
            <a:xfrm>
              <a:off x="7668794" y="1705219"/>
              <a:ext cx="288873" cy="642071"/>
            </a:xfrm>
            <a:custGeom>
              <a:avLst/>
              <a:gdLst>
                <a:gd name="T0" fmla="*/ 9 w 426"/>
                <a:gd name="T1" fmla="*/ 422 h 1001"/>
                <a:gd name="T2" fmla="*/ 81 w 426"/>
                <a:gd name="T3" fmla="*/ 465 h 1001"/>
                <a:gd name="T4" fmla="*/ 132 w 426"/>
                <a:gd name="T5" fmla="*/ 562 h 1001"/>
                <a:gd name="T6" fmla="*/ 145 w 426"/>
                <a:gd name="T7" fmla="*/ 654 h 1001"/>
                <a:gd name="T8" fmla="*/ 168 w 426"/>
                <a:gd name="T9" fmla="*/ 671 h 1001"/>
                <a:gd name="T10" fmla="*/ 240 w 426"/>
                <a:gd name="T11" fmla="*/ 641 h 1001"/>
                <a:gd name="T12" fmla="*/ 267 w 426"/>
                <a:gd name="T13" fmla="*/ 638 h 1001"/>
                <a:gd name="T14" fmla="*/ 303 w 426"/>
                <a:gd name="T15" fmla="*/ 745 h 1001"/>
                <a:gd name="T16" fmla="*/ 350 w 426"/>
                <a:gd name="T17" fmla="*/ 849 h 1001"/>
                <a:gd name="T18" fmla="*/ 337 w 426"/>
                <a:gd name="T19" fmla="*/ 918 h 1001"/>
                <a:gd name="T20" fmla="*/ 355 w 426"/>
                <a:gd name="T21" fmla="*/ 970 h 1001"/>
                <a:gd name="T22" fmla="*/ 375 w 426"/>
                <a:gd name="T23" fmla="*/ 956 h 1001"/>
                <a:gd name="T24" fmla="*/ 396 w 426"/>
                <a:gd name="T25" fmla="*/ 861 h 1001"/>
                <a:gd name="T26" fmla="*/ 344 w 426"/>
                <a:gd name="T27" fmla="*/ 760 h 1001"/>
                <a:gd name="T28" fmla="*/ 341 w 426"/>
                <a:gd name="T29" fmla="*/ 687 h 1001"/>
                <a:gd name="T30" fmla="*/ 344 w 426"/>
                <a:gd name="T31" fmla="*/ 653 h 1001"/>
                <a:gd name="T32" fmla="*/ 295 w 426"/>
                <a:gd name="T33" fmla="*/ 592 h 1001"/>
                <a:gd name="T34" fmla="*/ 273 w 426"/>
                <a:gd name="T35" fmla="*/ 554 h 1001"/>
                <a:gd name="T36" fmla="*/ 272 w 426"/>
                <a:gd name="T37" fmla="*/ 512 h 1001"/>
                <a:gd name="T38" fmla="*/ 318 w 426"/>
                <a:gd name="T39" fmla="*/ 477 h 1001"/>
                <a:gd name="T40" fmla="*/ 352 w 426"/>
                <a:gd name="T41" fmla="*/ 440 h 1001"/>
                <a:gd name="T42" fmla="*/ 399 w 426"/>
                <a:gd name="T43" fmla="*/ 414 h 1001"/>
                <a:gd name="T44" fmla="*/ 399 w 426"/>
                <a:gd name="T45" fmla="*/ 392 h 1001"/>
                <a:gd name="T46" fmla="*/ 397 w 426"/>
                <a:gd name="T47" fmla="*/ 380 h 1001"/>
                <a:gd name="T48" fmla="*/ 361 w 426"/>
                <a:gd name="T49" fmla="*/ 370 h 1001"/>
                <a:gd name="T50" fmla="*/ 326 w 426"/>
                <a:gd name="T51" fmla="*/ 329 h 1001"/>
                <a:gd name="T52" fmla="*/ 301 w 426"/>
                <a:gd name="T53" fmla="*/ 292 h 1001"/>
                <a:gd name="T54" fmla="*/ 297 w 426"/>
                <a:gd name="T55" fmla="*/ 237 h 1001"/>
                <a:gd name="T56" fmla="*/ 242 w 426"/>
                <a:gd name="T57" fmla="*/ 235 h 1001"/>
                <a:gd name="T58" fmla="*/ 233 w 426"/>
                <a:gd name="T59" fmla="*/ 203 h 1001"/>
                <a:gd name="T60" fmla="*/ 243 w 426"/>
                <a:gd name="T61" fmla="*/ 156 h 1001"/>
                <a:gd name="T62" fmla="*/ 253 w 426"/>
                <a:gd name="T63" fmla="*/ 133 h 1001"/>
                <a:gd name="T64" fmla="*/ 255 w 426"/>
                <a:gd name="T65" fmla="*/ 74 h 1001"/>
                <a:gd name="T66" fmla="*/ 211 w 426"/>
                <a:gd name="T67" fmla="*/ 15 h 1001"/>
                <a:gd name="T68" fmla="*/ 187 w 426"/>
                <a:gd name="T69" fmla="*/ 32 h 1001"/>
                <a:gd name="T70" fmla="*/ 159 w 426"/>
                <a:gd name="T71" fmla="*/ 69 h 1001"/>
                <a:gd name="T72" fmla="*/ 98 w 426"/>
                <a:gd name="T73" fmla="*/ 102 h 1001"/>
                <a:gd name="T74" fmla="*/ 96 w 426"/>
                <a:gd name="T75" fmla="*/ 158 h 1001"/>
                <a:gd name="T76" fmla="*/ 80 w 426"/>
                <a:gd name="T77" fmla="*/ 225 h 1001"/>
                <a:gd name="T78" fmla="*/ 26 w 426"/>
                <a:gd name="T79" fmla="*/ 244 h 1001"/>
                <a:gd name="T80" fmla="*/ 32 w 426"/>
                <a:gd name="T81" fmla="*/ 301 h 1001"/>
                <a:gd name="T82" fmla="*/ 31 w 426"/>
                <a:gd name="T83" fmla="*/ 342 h 1001"/>
                <a:gd name="T84" fmla="*/ 25 w 426"/>
                <a:gd name="T85" fmla="*/ 383 h 10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26" h="1001">
                  <a:moveTo>
                    <a:pt x="0" y="391"/>
                  </a:moveTo>
                  <a:cubicBezTo>
                    <a:pt x="5" y="391"/>
                    <a:pt x="9" y="391"/>
                    <a:pt x="9" y="391"/>
                  </a:cubicBezTo>
                  <a:cubicBezTo>
                    <a:pt x="9" y="422"/>
                    <a:pt x="9" y="422"/>
                    <a:pt x="9" y="422"/>
                  </a:cubicBezTo>
                  <a:cubicBezTo>
                    <a:pt x="9" y="422"/>
                    <a:pt x="32" y="428"/>
                    <a:pt x="41" y="438"/>
                  </a:cubicBezTo>
                  <a:cubicBezTo>
                    <a:pt x="51" y="448"/>
                    <a:pt x="59" y="470"/>
                    <a:pt x="59" y="470"/>
                  </a:cubicBezTo>
                  <a:cubicBezTo>
                    <a:pt x="81" y="465"/>
                    <a:pt x="81" y="465"/>
                    <a:pt x="81" y="465"/>
                  </a:cubicBezTo>
                  <a:cubicBezTo>
                    <a:pt x="67" y="494"/>
                    <a:pt x="67" y="494"/>
                    <a:pt x="67" y="494"/>
                  </a:cubicBezTo>
                  <a:cubicBezTo>
                    <a:pt x="67" y="494"/>
                    <a:pt x="98" y="501"/>
                    <a:pt x="110" y="510"/>
                  </a:cubicBezTo>
                  <a:cubicBezTo>
                    <a:pt x="122" y="519"/>
                    <a:pt x="130" y="555"/>
                    <a:pt x="132" y="562"/>
                  </a:cubicBezTo>
                  <a:cubicBezTo>
                    <a:pt x="134" y="568"/>
                    <a:pt x="148" y="581"/>
                    <a:pt x="148" y="581"/>
                  </a:cubicBezTo>
                  <a:cubicBezTo>
                    <a:pt x="137" y="593"/>
                    <a:pt x="137" y="593"/>
                    <a:pt x="137" y="593"/>
                  </a:cubicBezTo>
                  <a:cubicBezTo>
                    <a:pt x="145" y="654"/>
                    <a:pt x="145" y="654"/>
                    <a:pt x="145" y="654"/>
                  </a:cubicBezTo>
                  <a:cubicBezTo>
                    <a:pt x="134" y="662"/>
                    <a:pt x="134" y="662"/>
                    <a:pt x="134" y="662"/>
                  </a:cubicBezTo>
                  <a:cubicBezTo>
                    <a:pt x="134" y="662"/>
                    <a:pt x="140" y="681"/>
                    <a:pt x="149" y="680"/>
                  </a:cubicBezTo>
                  <a:cubicBezTo>
                    <a:pt x="158" y="679"/>
                    <a:pt x="168" y="671"/>
                    <a:pt x="168" y="671"/>
                  </a:cubicBezTo>
                  <a:cubicBezTo>
                    <a:pt x="168" y="671"/>
                    <a:pt x="172" y="686"/>
                    <a:pt x="183" y="681"/>
                  </a:cubicBezTo>
                  <a:cubicBezTo>
                    <a:pt x="195" y="677"/>
                    <a:pt x="206" y="654"/>
                    <a:pt x="206" y="654"/>
                  </a:cubicBezTo>
                  <a:cubicBezTo>
                    <a:pt x="206" y="654"/>
                    <a:pt x="228" y="650"/>
                    <a:pt x="240" y="641"/>
                  </a:cubicBezTo>
                  <a:cubicBezTo>
                    <a:pt x="252" y="631"/>
                    <a:pt x="238" y="602"/>
                    <a:pt x="245" y="596"/>
                  </a:cubicBezTo>
                  <a:cubicBezTo>
                    <a:pt x="253" y="590"/>
                    <a:pt x="268" y="617"/>
                    <a:pt x="268" y="617"/>
                  </a:cubicBezTo>
                  <a:cubicBezTo>
                    <a:pt x="267" y="638"/>
                    <a:pt x="267" y="638"/>
                    <a:pt x="267" y="638"/>
                  </a:cubicBezTo>
                  <a:cubicBezTo>
                    <a:pt x="267" y="638"/>
                    <a:pt x="288" y="639"/>
                    <a:pt x="289" y="656"/>
                  </a:cubicBezTo>
                  <a:cubicBezTo>
                    <a:pt x="289" y="673"/>
                    <a:pt x="296" y="685"/>
                    <a:pt x="298" y="698"/>
                  </a:cubicBezTo>
                  <a:cubicBezTo>
                    <a:pt x="300" y="712"/>
                    <a:pt x="303" y="745"/>
                    <a:pt x="303" y="745"/>
                  </a:cubicBezTo>
                  <a:cubicBezTo>
                    <a:pt x="303" y="745"/>
                    <a:pt x="304" y="757"/>
                    <a:pt x="311" y="766"/>
                  </a:cubicBezTo>
                  <a:cubicBezTo>
                    <a:pt x="319" y="775"/>
                    <a:pt x="322" y="788"/>
                    <a:pt x="322" y="788"/>
                  </a:cubicBezTo>
                  <a:cubicBezTo>
                    <a:pt x="350" y="849"/>
                    <a:pt x="350" y="849"/>
                    <a:pt x="350" y="849"/>
                  </a:cubicBezTo>
                  <a:cubicBezTo>
                    <a:pt x="360" y="879"/>
                    <a:pt x="360" y="879"/>
                    <a:pt x="360" y="879"/>
                  </a:cubicBezTo>
                  <a:cubicBezTo>
                    <a:pt x="360" y="879"/>
                    <a:pt x="346" y="876"/>
                    <a:pt x="345" y="884"/>
                  </a:cubicBezTo>
                  <a:cubicBezTo>
                    <a:pt x="343" y="893"/>
                    <a:pt x="337" y="918"/>
                    <a:pt x="337" y="918"/>
                  </a:cubicBezTo>
                  <a:cubicBezTo>
                    <a:pt x="366" y="908"/>
                    <a:pt x="366" y="908"/>
                    <a:pt x="366" y="908"/>
                  </a:cubicBezTo>
                  <a:cubicBezTo>
                    <a:pt x="358" y="945"/>
                    <a:pt x="358" y="945"/>
                    <a:pt x="358" y="945"/>
                  </a:cubicBezTo>
                  <a:cubicBezTo>
                    <a:pt x="358" y="945"/>
                    <a:pt x="354" y="957"/>
                    <a:pt x="355" y="970"/>
                  </a:cubicBezTo>
                  <a:cubicBezTo>
                    <a:pt x="356" y="982"/>
                    <a:pt x="363" y="1001"/>
                    <a:pt x="363" y="1001"/>
                  </a:cubicBezTo>
                  <a:cubicBezTo>
                    <a:pt x="363" y="1001"/>
                    <a:pt x="372" y="988"/>
                    <a:pt x="373" y="979"/>
                  </a:cubicBezTo>
                  <a:cubicBezTo>
                    <a:pt x="374" y="970"/>
                    <a:pt x="366" y="963"/>
                    <a:pt x="375" y="956"/>
                  </a:cubicBezTo>
                  <a:cubicBezTo>
                    <a:pt x="384" y="949"/>
                    <a:pt x="389" y="942"/>
                    <a:pt x="392" y="932"/>
                  </a:cubicBezTo>
                  <a:cubicBezTo>
                    <a:pt x="395" y="922"/>
                    <a:pt x="402" y="897"/>
                    <a:pt x="398" y="884"/>
                  </a:cubicBezTo>
                  <a:cubicBezTo>
                    <a:pt x="394" y="871"/>
                    <a:pt x="396" y="861"/>
                    <a:pt x="396" y="861"/>
                  </a:cubicBezTo>
                  <a:cubicBezTo>
                    <a:pt x="396" y="861"/>
                    <a:pt x="381" y="849"/>
                    <a:pt x="377" y="843"/>
                  </a:cubicBezTo>
                  <a:cubicBezTo>
                    <a:pt x="373" y="837"/>
                    <a:pt x="378" y="813"/>
                    <a:pt x="374" y="798"/>
                  </a:cubicBezTo>
                  <a:cubicBezTo>
                    <a:pt x="370" y="783"/>
                    <a:pt x="348" y="770"/>
                    <a:pt x="344" y="760"/>
                  </a:cubicBezTo>
                  <a:cubicBezTo>
                    <a:pt x="340" y="750"/>
                    <a:pt x="328" y="736"/>
                    <a:pt x="328" y="736"/>
                  </a:cubicBezTo>
                  <a:cubicBezTo>
                    <a:pt x="328" y="736"/>
                    <a:pt x="320" y="723"/>
                    <a:pt x="330" y="713"/>
                  </a:cubicBezTo>
                  <a:cubicBezTo>
                    <a:pt x="340" y="703"/>
                    <a:pt x="341" y="693"/>
                    <a:pt x="341" y="687"/>
                  </a:cubicBezTo>
                  <a:cubicBezTo>
                    <a:pt x="341" y="681"/>
                    <a:pt x="338" y="670"/>
                    <a:pt x="338" y="670"/>
                  </a:cubicBezTo>
                  <a:cubicBezTo>
                    <a:pt x="338" y="670"/>
                    <a:pt x="350" y="671"/>
                    <a:pt x="350" y="658"/>
                  </a:cubicBezTo>
                  <a:cubicBezTo>
                    <a:pt x="350" y="645"/>
                    <a:pt x="344" y="653"/>
                    <a:pt x="344" y="653"/>
                  </a:cubicBezTo>
                  <a:cubicBezTo>
                    <a:pt x="344" y="653"/>
                    <a:pt x="336" y="652"/>
                    <a:pt x="331" y="640"/>
                  </a:cubicBezTo>
                  <a:cubicBezTo>
                    <a:pt x="326" y="628"/>
                    <a:pt x="340" y="633"/>
                    <a:pt x="332" y="622"/>
                  </a:cubicBezTo>
                  <a:cubicBezTo>
                    <a:pt x="324" y="611"/>
                    <a:pt x="298" y="602"/>
                    <a:pt x="295" y="592"/>
                  </a:cubicBezTo>
                  <a:cubicBezTo>
                    <a:pt x="292" y="582"/>
                    <a:pt x="287" y="579"/>
                    <a:pt x="287" y="579"/>
                  </a:cubicBezTo>
                  <a:cubicBezTo>
                    <a:pt x="291" y="564"/>
                    <a:pt x="291" y="564"/>
                    <a:pt x="291" y="564"/>
                  </a:cubicBezTo>
                  <a:cubicBezTo>
                    <a:pt x="291" y="564"/>
                    <a:pt x="278" y="558"/>
                    <a:pt x="273" y="554"/>
                  </a:cubicBezTo>
                  <a:cubicBezTo>
                    <a:pt x="268" y="550"/>
                    <a:pt x="265" y="545"/>
                    <a:pt x="268" y="542"/>
                  </a:cubicBezTo>
                  <a:cubicBezTo>
                    <a:pt x="271" y="539"/>
                    <a:pt x="282" y="545"/>
                    <a:pt x="282" y="536"/>
                  </a:cubicBezTo>
                  <a:cubicBezTo>
                    <a:pt x="282" y="527"/>
                    <a:pt x="271" y="516"/>
                    <a:pt x="272" y="512"/>
                  </a:cubicBezTo>
                  <a:cubicBezTo>
                    <a:pt x="273" y="508"/>
                    <a:pt x="283" y="507"/>
                    <a:pt x="284" y="498"/>
                  </a:cubicBezTo>
                  <a:cubicBezTo>
                    <a:pt x="285" y="489"/>
                    <a:pt x="277" y="473"/>
                    <a:pt x="288" y="471"/>
                  </a:cubicBezTo>
                  <a:cubicBezTo>
                    <a:pt x="299" y="469"/>
                    <a:pt x="308" y="480"/>
                    <a:pt x="318" y="477"/>
                  </a:cubicBezTo>
                  <a:cubicBezTo>
                    <a:pt x="328" y="474"/>
                    <a:pt x="330" y="456"/>
                    <a:pt x="330" y="456"/>
                  </a:cubicBezTo>
                  <a:cubicBezTo>
                    <a:pt x="347" y="455"/>
                    <a:pt x="347" y="455"/>
                    <a:pt x="347" y="455"/>
                  </a:cubicBezTo>
                  <a:cubicBezTo>
                    <a:pt x="352" y="440"/>
                    <a:pt x="352" y="440"/>
                    <a:pt x="352" y="440"/>
                  </a:cubicBezTo>
                  <a:cubicBezTo>
                    <a:pt x="352" y="440"/>
                    <a:pt x="371" y="434"/>
                    <a:pt x="375" y="435"/>
                  </a:cubicBezTo>
                  <a:cubicBezTo>
                    <a:pt x="375" y="435"/>
                    <a:pt x="373" y="423"/>
                    <a:pt x="382" y="420"/>
                  </a:cubicBezTo>
                  <a:cubicBezTo>
                    <a:pt x="391" y="417"/>
                    <a:pt x="399" y="414"/>
                    <a:pt x="399" y="414"/>
                  </a:cubicBezTo>
                  <a:cubicBezTo>
                    <a:pt x="394" y="407"/>
                    <a:pt x="394" y="407"/>
                    <a:pt x="394" y="407"/>
                  </a:cubicBezTo>
                  <a:cubicBezTo>
                    <a:pt x="399" y="399"/>
                    <a:pt x="399" y="399"/>
                    <a:pt x="399" y="399"/>
                  </a:cubicBezTo>
                  <a:cubicBezTo>
                    <a:pt x="399" y="392"/>
                    <a:pt x="399" y="392"/>
                    <a:pt x="399" y="392"/>
                  </a:cubicBezTo>
                  <a:cubicBezTo>
                    <a:pt x="421" y="382"/>
                    <a:pt x="421" y="382"/>
                    <a:pt x="421" y="382"/>
                  </a:cubicBezTo>
                  <a:cubicBezTo>
                    <a:pt x="421" y="382"/>
                    <a:pt x="426" y="364"/>
                    <a:pt x="416" y="363"/>
                  </a:cubicBezTo>
                  <a:cubicBezTo>
                    <a:pt x="406" y="362"/>
                    <a:pt x="397" y="380"/>
                    <a:pt x="397" y="380"/>
                  </a:cubicBezTo>
                  <a:cubicBezTo>
                    <a:pt x="397" y="380"/>
                    <a:pt x="378" y="381"/>
                    <a:pt x="375" y="381"/>
                  </a:cubicBezTo>
                  <a:cubicBezTo>
                    <a:pt x="372" y="381"/>
                    <a:pt x="372" y="369"/>
                    <a:pt x="372" y="369"/>
                  </a:cubicBezTo>
                  <a:cubicBezTo>
                    <a:pt x="361" y="370"/>
                    <a:pt x="361" y="370"/>
                    <a:pt x="361" y="370"/>
                  </a:cubicBezTo>
                  <a:cubicBezTo>
                    <a:pt x="356" y="350"/>
                    <a:pt x="356" y="350"/>
                    <a:pt x="356" y="350"/>
                  </a:cubicBezTo>
                  <a:cubicBezTo>
                    <a:pt x="317" y="346"/>
                    <a:pt x="317" y="346"/>
                    <a:pt x="317" y="346"/>
                  </a:cubicBezTo>
                  <a:cubicBezTo>
                    <a:pt x="317" y="346"/>
                    <a:pt x="323" y="332"/>
                    <a:pt x="326" y="329"/>
                  </a:cubicBezTo>
                  <a:cubicBezTo>
                    <a:pt x="329" y="326"/>
                    <a:pt x="320" y="314"/>
                    <a:pt x="320" y="314"/>
                  </a:cubicBezTo>
                  <a:cubicBezTo>
                    <a:pt x="320" y="314"/>
                    <a:pt x="343" y="305"/>
                    <a:pt x="336" y="299"/>
                  </a:cubicBezTo>
                  <a:cubicBezTo>
                    <a:pt x="329" y="293"/>
                    <a:pt x="301" y="292"/>
                    <a:pt x="301" y="292"/>
                  </a:cubicBezTo>
                  <a:cubicBezTo>
                    <a:pt x="296" y="265"/>
                    <a:pt x="296" y="265"/>
                    <a:pt x="296" y="265"/>
                  </a:cubicBezTo>
                  <a:cubicBezTo>
                    <a:pt x="280" y="252"/>
                    <a:pt x="280" y="252"/>
                    <a:pt x="280" y="252"/>
                  </a:cubicBezTo>
                  <a:cubicBezTo>
                    <a:pt x="297" y="237"/>
                    <a:pt x="297" y="237"/>
                    <a:pt x="297" y="237"/>
                  </a:cubicBezTo>
                  <a:cubicBezTo>
                    <a:pt x="297" y="237"/>
                    <a:pt x="268" y="237"/>
                    <a:pt x="260" y="238"/>
                  </a:cubicBezTo>
                  <a:cubicBezTo>
                    <a:pt x="252" y="239"/>
                    <a:pt x="236" y="249"/>
                    <a:pt x="236" y="249"/>
                  </a:cubicBezTo>
                  <a:cubicBezTo>
                    <a:pt x="242" y="235"/>
                    <a:pt x="242" y="235"/>
                    <a:pt x="242" y="235"/>
                  </a:cubicBezTo>
                  <a:cubicBezTo>
                    <a:pt x="242" y="235"/>
                    <a:pt x="237" y="225"/>
                    <a:pt x="232" y="220"/>
                  </a:cubicBezTo>
                  <a:cubicBezTo>
                    <a:pt x="227" y="215"/>
                    <a:pt x="226" y="206"/>
                    <a:pt x="226" y="206"/>
                  </a:cubicBezTo>
                  <a:cubicBezTo>
                    <a:pt x="233" y="203"/>
                    <a:pt x="233" y="203"/>
                    <a:pt x="233" y="203"/>
                  </a:cubicBezTo>
                  <a:cubicBezTo>
                    <a:pt x="231" y="183"/>
                    <a:pt x="231" y="183"/>
                    <a:pt x="231" y="183"/>
                  </a:cubicBezTo>
                  <a:cubicBezTo>
                    <a:pt x="231" y="183"/>
                    <a:pt x="242" y="187"/>
                    <a:pt x="243" y="176"/>
                  </a:cubicBezTo>
                  <a:cubicBezTo>
                    <a:pt x="244" y="165"/>
                    <a:pt x="243" y="156"/>
                    <a:pt x="243" y="156"/>
                  </a:cubicBezTo>
                  <a:cubicBezTo>
                    <a:pt x="243" y="156"/>
                    <a:pt x="255" y="164"/>
                    <a:pt x="258" y="157"/>
                  </a:cubicBezTo>
                  <a:cubicBezTo>
                    <a:pt x="261" y="150"/>
                    <a:pt x="262" y="144"/>
                    <a:pt x="262" y="144"/>
                  </a:cubicBezTo>
                  <a:cubicBezTo>
                    <a:pt x="262" y="144"/>
                    <a:pt x="246" y="133"/>
                    <a:pt x="253" y="133"/>
                  </a:cubicBezTo>
                  <a:cubicBezTo>
                    <a:pt x="260" y="133"/>
                    <a:pt x="270" y="127"/>
                    <a:pt x="270" y="127"/>
                  </a:cubicBezTo>
                  <a:cubicBezTo>
                    <a:pt x="263" y="90"/>
                    <a:pt x="263" y="90"/>
                    <a:pt x="263" y="90"/>
                  </a:cubicBezTo>
                  <a:cubicBezTo>
                    <a:pt x="255" y="74"/>
                    <a:pt x="255" y="74"/>
                    <a:pt x="255" y="74"/>
                  </a:cubicBezTo>
                  <a:cubicBezTo>
                    <a:pt x="255" y="74"/>
                    <a:pt x="257" y="52"/>
                    <a:pt x="250" y="50"/>
                  </a:cubicBezTo>
                  <a:cubicBezTo>
                    <a:pt x="243" y="48"/>
                    <a:pt x="228" y="50"/>
                    <a:pt x="228" y="50"/>
                  </a:cubicBezTo>
                  <a:cubicBezTo>
                    <a:pt x="228" y="50"/>
                    <a:pt x="219" y="23"/>
                    <a:pt x="211" y="15"/>
                  </a:cubicBezTo>
                  <a:cubicBezTo>
                    <a:pt x="203" y="7"/>
                    <a:pt x="189" y="0"/>
                    <a:pt x="189" y="0"/>
                  </a:cubicBezTo>
                  <a:cubicBezTo>
                    <a:pt x="185" y="13"/>
                    <a:pt x="185" y="13"/>
                    <a:pt x="185" y="13"/>
                  </a:cubicBezTo>
                  <a:cubicBezTo>
                    <a:pt x="187" y="32"/>
                    <a:pt x="187" y="32"/>
                    <a:pt x="187" y="32"/>
                  </a:cubicBezTo>
                  <a:cubicBezTo>
                    <a:pt x="187" y="32"/>
                    <a:pt x="163" y="41"/>
                    <a:pt x="163" y="50"/>
                  </a:cubicBezTo>
                  <a:cubicBezTo>
                    <a:pt x="163" y="59"/>
                    <a:pt x="186" y="69"/>
                    <a:pt x="184" y="73"/>
                  </a:cubicBezTo>
                  <a:cubicBezTo>
                    <a:pt x="182" y="77"/>
                    <a:pt x="159" y="69"/>
                    <a:pt x="159" y="69"/>
                  </a:cubicBezTo>
                  <a:cubicBezTo>
                    <a:pt x="159" y="69"/>
                    <a:pt x="144" y="70"/>
                    <a:pt x="136" y="72"/>
                  </a:cubicBezTo>
                  <a:cubicBezTo>
                    <a:pt x="128" y="74"/>
                    <a:pt x="133" y="89"/>
                    <a:pt x="121" y="93"/>
                  </a:cubicBezTo>
                  <a:cubicBezTo>
                    <a:pt x="109" y="97"/>
                    <a:pt x="98" y="102"/>
                    <a:pt x="98" y="102"/>
                  </a:cubicBezTo>
                  <a:cubicBezTo>
                    <a:pt x="98" y="102"/>
                    <a:pt x="100" y="116"/>
                    <a:pt x="101" y="121"/>
                  </a:cubicBezTo>
                  <a:cubicBezTo>
                    <a:pt x="102" y="126"/>
                    <a:pt x="108" y="137"/>
                    <a:pt x="108" y="137"/>
                  </a:cubicBezTo>
                  <a:cubicBezTo>
                    <a:pt x="96" y="158"/>
                    <a:pt x="96" y="158"/>
                    <a:pt x="96" y="158"/>
                  </a:cubicBezTo>
                  <a:cubicBezTo>
                    <a:pt x="96" y="158"/>
                    <a:pt x="82" y="162"/>
                    <a:pt x="82" y="172"/>
                  </a:cubicBezTo>
                  <a:cubicBezTo>
                    <a:pt x="82" y="182"/>
                    <a:pt x="92" y="190"/>
                    <a:pt x="92" y="190"/>
                  </a:cubicBezTo>
                  <a:cubicBezTo>
                    <a:pt x="80" y="225"/>
                    <a:pt x="80" y="225"/>
                    <a:pt x="80" y="225"/>
                  </a:cubicBezTo>
                  <a:cubicBezTo>
                    <a:pt x="80" y="249"/>
                    <a:pt x="80" y="249"/>
                    <a:pt x="80" y="249"/>
                  </a:cubicBezTo>
                  <a:cubicBezTo>
                    <a:pt x="80" y="249"/>
                    <a:pt x="55" y="245"/>
                    <a:pt x="51" y="244"/>
                  </a:cubicBezTo>
                  <a:cubicBezTo>
                    <a:pt x="47" y="243"/>
                    <a:pt x="22" y="242"/>
                    <a:pt x="26" y="244"/>
                  </a:cubicBezTo>
                  <a:cubicBezTo>
                    <a:pt x="30" y="246"/>
                    <a:pt x="44" y="257"/>
                    <a:pt x="44" y="257"/>
                  </a:cubicBezTo>
                  <a:cubicBezTo>
                    <a:pt x="46" y="290"/>
                    <a:pt x="46" y="290"/>
                    <a:pt x="46" y="290"/>
                  </a:cubicBezTo>
                  <a:cubicBezTo>
                    <a:pt x="46" y="290"/>
                    <a:pt x="29" y="292"/>
                    <a:pt x="32" y="301"/>
                  </a:cubicBezTo>
                  <a:cubicBezTo>
                    <a:pt x="35" y="310"/>
                    <a:pt x="35" y="324"/>
                    <a:pt x="39" y="328"/>
                  </a:cubicBezTo>
                  <a:cubicBezTo>
                    <a:pt x="43" y="332"/>
                    <a:pt x="53" y="344"/>
                    <a:pt x="44" y="346"/>
                  </a:cubicBezTo>
                  <a:cubicBezTo>
                    <a:pt x="35" y="348"/>
                    <a:pt x="31" y="336"/>
                    <a:pt x="31" y="342"/>
                  </a:cubicBezTo>
                  <a:cubicBezTo>
                    <a:pt x="31" y="348"/>
                    <a:pt x="32" y="356"/>
                    <a:pt x="32" y="356"/>
                  </a:cubicBezTo>
                  <a:cubicBezTo>
                    <a:pt x="18" y="344"/>
                    <a:pt x="18" y="344"/>
                    <a:pt x="18" y="344"/>
                  </a:cubicBezTo>
                  <a:cubicBezTo>
                    <a:pt x="25" y="383"/>
                    <a:pt x="25" y="383"/>
                    <a:pt x="25" y="383"/>
                  </a:cubicBezTo>
                  <a:cubicBezTo>
                    <a:pt x="4" y="380"/>
                    <a:pt x="4" y="380"/>
                    <a:pt x="4" y="380"/>
                  </a:cubicBezTo>
                  <a:cubicBezTo>
                    <a:pt x="4" y="380"/>
                    <a:pt x="2" y="384"/>
                    <a:pt x="0" y="391"/>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431" name="Freeform 222">
              <a:extLst>
                <a:ext uri="{FF2B5EF4-FFF2-40B4-BE49-F238E27FC236}">
                  <a16:creationId xmlns:a16="http://schemas.microsoft.com/office/drawing/2014/main" id="{C7E3D954-C106-493C-ACDE-A9646644E037}"/>
                </a:ext>
              </a:extLst>
            </p:cNvPr>
            <p:cNvSpPr>
              <a:spLocks/>
            </p:cNvSpPr>
            <p:nvPr/>
          </p:nvSpPr>
          <p:spPr bwMode="gray">
            <a:xfrm>
              <a:off x="8467071" y="1210295"/>
              <a:ext cx="149317" cy="179454"/>
            </a:xfrm>
            <a:custGeom>
              <a:avLst/>
              <a:gdLst>
                <a:gd name="T0" fmla="*/ 182 w 220"/>
                <a:gd name="T1" fmla="*/ 0 h 280"/>
                <a:gd name="T2" fmla="*/ 160 w 220"/>
                <a:gd name="T3" fmla="*/ 0 h 280"/>
                <a:gd name="T4" fmla="*/ 171 w 220"/>
                <a:gd name="T5" fmla="*/ 27 h 280"/>
                <a:gd name="T6" fmla="*/ 153 w 220"/>
                <a:gd name="T7" fmla="*/ 28 h 280"/>
                <a:gd name="T8" fmla="*/ 153 w 220"/>
                <a:gd name="T9" fmla="*/ 49 h 280"/>
                <a:gd name="T10" fmla="*/ 113 w 220"/>
                <a:gd name="T11" fmla="*/ 50 h 280"/>
                <a:gd name="T12" fmla="*/ 135 w 220"/>
                <a:gd name="T13" fmla="*/ 71 h 280"/>
                <a:gd name="T14" fmla="*/ 134 w 220"/>
                <a:gd name="T15" fmla="*/ 81 h 280"/>
                <a:gd name="T16" fmla="*/ 87 w 220"/>
                <a:gd name="T17" fmla="*/ 77 h 280"/>
                <a:gd name="T18" fmla="*/ 61 w 220"/>
                <a:gd name="T19" fmla="*/ 63 h 280"/>
                <a:gd name="T20" fmla="*/ 47 w 220"/>
                <a:gd name="T21" fmla="*/ 115 h 280"/>
                <a:gd name="T22" fmla="*/ 13 w 220"/>
                <a:gd name="T23" fmla="*/ 138 h 280"/>
                <a:gd name="T24" fmla="*/ 7 w 220"/>
                <a:gd name="T25" fmla="*/ 154 h 280"/>
                <a:gd name="T26" fmla="*/ 0 w 220"/>
                <a:gd name="T27" fmla="*/ 165 h 280"/>
                <a:gd name="T28" fmla="*/ 8 w 220"/>
                <a:gd name="T29" fmla="*/ 152 h 280"/>
                <a:gd name="T30" fmla="*/ 14 w 220"/>
                <a:gd name="T31" fmla="*/ 166 h 280"/>
                <a:gd name="T32" fmla="*/ 26 w 220"/>
                <a:gd name="T33" fmla="*/ 180 h 280"/>
                <a:gd name="T34" fmla="*/ 33 w 220"/>
                <a:gd name="T35" fmla="*/ 168 h 280"/>
                <a:gd name="T36" fmla="*/ 47 w 220"/>
                <a:gd name="T37" fmla="*/ 181 h 280"/>
                <a:gd name="T38" fmla="*/ 64 w 220"/>
                <a:gd name="T39" fmla="*/ 182 h 280"/>
                <a:gd name="T40" fmla="*/ 68 w 220"/>
                <a:gd name="T41" fmla="*/ 223 h 280"/>
                <a:gd name="T42" fmla="*/ 93 w 220"/>
                <a:gd name="T43" fmla="*/ 223 h 280"/>
                <a:gd name="T44" fmla="*/ 96 w 220"/>
                <a:gd name="T45" fmla="*/ 233 h 280"/>
                <a:gd name="T46" fmla="*/ 69 w 220"/>
                <a:gd name="T47" fmla="*/ 234 h 280"/>
                <a:gd name="T48" fmla="*/ 80 w 220"/>
                <a:gd name="T49" fmla="*/ 263 h 280"/>
                <a:gd name="T50" fmla="*/ 87 w 220"/>
                <a:gd name="T51" fmla="*/ 274 h 280"/>
                <a:gd name="T52" fmla="*/ 106 w 220"/>
                <a:gd name="T53" fmla="*/ 266 h 280"/>
                <a:gd name="T54" fmla="*/ 135 w 220"/>
                <a:gd name="T55" fmla="*/ 279 h 280"/>
                <a:gd name="T56" fmla="*/ 153 w 220"/>
                <a:gd name="T57" fmla="*/ 275 h 280"/>
                <a:gd name="T58" fmla="*/ 166 w 220"/>
                <a:gd name="T59" fmla="*/ 265 h 280"/>
                <a:gd name="T60" fmla="*/ 169 w 220"/>
                <a:gd name="T61" fmla="*/ 252 h 280"/>
                <a:gd name="T62" fmla="*/ 207 w 220"/>
                <a:gd name="T63" fmla="*/ 246 h 280"/>
                <a:gd name="T64" fmla="*/ 217 w 220"/>
                <a:gd name="T65" fmla="*/ 236 h 280"/>
                <a:gd name="T66" fmla="*/ 208 w 220"/>
                <a:gd name="T67" fmla="*/ 224 h 280"/>
                <a:gd name="T68" fmla="*/ 177 w 220"/>
                <a:gd name="T69" fmla="*/ 207 h 280"/>
                <a:gd name="T70" fmla="*/ 162 w 220"/>
                <a:gd name="T71" fmla="*/ 202 h 280"/>
                <a:gd name="T72" fmla="*/ 169 w 220"/>
                <a:gd name="T73" fmla="*/ 189 h 280"/>
                <a:gd name="T74" fmla="*/ 154 w 220"/>
                <a:gd name="T75" fmla="*/ 167 h 280"/>
                <a:gd name="T76" fmla="*/ 190 w 220"/>
                <a:gd name="T77" fmla="*/ 146 h 280"/>
                <a:gd name="T78" fmla="*/ 200 w 220"/>
                <a:gd name="T79" fmla="*/ 117 h 280"/>
                <a:gd name="T80" fmla="*/ 216 w 220"/>
                <a:gd name="T81" fmla="*/ 109 h 280"/>
                <a:gd name="T82" fmla="*/ 211 w 220"/>
                <a:gd name="T83" fmla="*/ 88 h 280"/>
                <a:gd name="T84" fmla="*/ 196 w 220"/>
                <a:gd name="T85" fmla="*/ 60 h 280"/>
                <a:gd name="T86" fmla="*/ 220 w 220"/>
                <a:gd name="T87" fmla="*/ 38 h 280"/>
                <a:gd name="T88" fmla="*/ 211 w 220"/>
                <a:gd name="T89" fmla="*/ 23 h 280"/>
                <a:gd name="T90" fmla="*/ 192 w 220"/>
                <a:gd name="T91" fmla="*/ 17 h 280"/>
                <a:gd name="T92" fmla="*/ 182 w 220"/>
                <a:gd name="T93" fmla="*/ 0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20" h="280">
                  <a:moveTo>
                    <a:pt x="182" y="0"/>
                  </a:moveTo>
                  <a:cubicBezTo>
                    <a:pt x="160" y="0"/>
                    <a:pt x="160" y="0"/>
                    <a:pt x="160" y="0"/>
                  </a:cubicBezTo>
                  <a:cubicBezTo>
                    <a:pt x="160" y="0"/>
                    <a:pt x="173" y="22"/>
                    <a:pt x="171" y="27"/>
                  </a:cubicBezTo>
                  <a:cubicBezTo>
                    <a:pt x="169" y="32"/>
                    <a:pt x="153" y="28"/>
                    <a:pt x="153" y="28"/>
                  </a:cubicBezTo>
                  <a:cubicBezTo>
                    <a:pt x="153" y="28"/>
                    <a:pt x="163" y="40"/>
                    <a:pt x="153" y="49"/>
                  </a:cubicBezTo>
                  <a:cubicBezTo>
                    <a:pt x="143" y="58"/>
                    <a:pt x="119" y="42"/>
                    <a:pt x="113" y="50"/>
                  </a:cubicBezTo>
                  <a:cubicBezTo>
                    <a:pt x="107" y="58"/>
                    <a:pt x="135" y="71"/>
                    <a:pt x="135" y="71"/>
                  </a:cubicBezTo>
                  <a:cubicBezTo>
                    <a:pt x="134" y="81"/>
                    <a:pt x="134" y="81"/>
                    <a:pt x="134" y="81"/>
                  </a:cubicBezTo>
                  <a:cubicBezTo>
                    <a:pt x="134" y="81"/>
                    <a:pt x="94" y="82"/>
                    <a:pt x="87" y="77"/>
                  </a:cubicBezTo>
                  <a:cubicBezTo>
                    <a:pt x="80" y="72"/>
                    <a:pt x="65" y="61"/>
                    <a:pt x="61" y="63"/>
                  </a:cubicBezTo>
                  <a:cubicBezTo>
                    <a:pt x="57" y="65"/>
                    <a:pt x="62" y="103"/>
                    <a:pt x="47" y="115"/>
                  </a:cubicBezTo>
                  <a:cubicBezTo>
                    <a:pt x="32" y="127"/>
                    <a:pt x="25" y="128"/>
                    <a:pt x="13" y="138"/>
                  </a:cubicBezTo>
                  <a:cubicBezTo>
                    <a:pt x="3" y="146"/>
                    <a:pt x="5" y="152"/>
                    <a:pt x="7" y="154"/>
                  </a:cubicBezTo>
                  <a:cubicBezTo>
                    <a:pt x="0" y="165"/>
                    <a:pt x="0" y="165"/>
                    <a:pt x="0" y="165"/>
                  </a:cubicBezTo>
                  <a:cubicBezTo>
                    <a:pt x="8" y="152"/>
                    <a:pt x="8" y="152"/>
                    <a:pt x="8" y="152"/>
                  </a:cubicBezTo>
                  <a:cubicBezTo>
                    <a:pt x="14" y="166"/>
                    <a:pt x="14" y="166"/>
                    <a:pt x="14" y="166"/>
                  </a:cubicBezTo>
                  <a:cubicBezTo>
                    <a:pt x="26" y="180"/>
                    <a:pt x="26" y="180"/>
                    <a:pt x="26" y="180"/>
                  </a:cubicBezTo>
                  <a:cubicBezTo>
                    <a:pt x="33" y="168"/>
                    <a:pt x="33" y="168"/>
                    <a:pt x="33" y="168"/>
                  </a:cubicBezTo>
                  <a:cubicBezTo>
                    <a:pt x="33" y="168"/>
                    <a:pt x="42" y="181"/>
                    <a:pt x="47" y="181"/>
                  </a:cubicBezTo>
                  <a:cubicBezTo>
                    <a:pt x="52" y="181"/>
                    <a:pt x="60" y="175"/>
                    <a:pt x="64" y="182"/>
                  </a:cubicBezTo>
                  <a:cubicBezTo>
                    <a:pt x="68" y="189"/>
                    <a:pt x="68" y="223"/>
                    <a:pt x="68" y="223"/>
                  </a:cubicBezTo>
                  <a:cubicBezTo>
                    <a:pt x="93" y="223"/>
                    <a:pt x="93" y="223"/>
                    <a:pt x="93" y="223"/>
                  </a:cubicBezTo>
                  <a:cubicBezTo>
                    <a:pt x="96" y="233"/>
                    <a:pt x="96" y="233"/>
                    <a:pt x="96" y="233"/>
                  </a:cubicBezTo>
                  <a:cubicBezTo>
                    <a:pt x="96" y="233"/>
                    <a:pt x="73" y="221"/>
                    <a:pt x="69" y="234"/>
                  </a:cubicBezTo>
                  <a:cubicBezTo>
                    <a:pt x="65" y="247"/>
                    <a:pt x="80" y="263"/>
                    <a:pt x="80" y="263"/>
                  </a:cubicBezTo>
                  <a:cubicBezTo>
                    <a:pt x="87" y="274"/>
                    <a:pt x="87" y="274"/>
                    <a:pt x="87" y="274"/>
                  </a:cubicBezTo>
                  <a:cubicBezTo>
                    <a:pt x="106" y="266"/>
                    <a:pt x="106" y="266"/>
                    <a:pt x="106" y="266"/>
                  </a:cubicBezTo>
                  <a:cubicBezTo>
                    <a:pt x="106" y="266"/>
                    <a:pt x="126" y="280"/>
                    <a:pt x="135" y="279"/>
                  </a:cubicBezTo>
                  <a:cubicBezTo>
                    <a:pt x="144" y="278"/>
                    <a:pt x="153" y="275"/>
                    <a:pt x="153" y="275"/>
                  </a:cubicBezTo>
                  <a:cubicBezTo>
                    <a:pt x="153" y="275"/>
                    <a:pt x="165" y="268"/>
                    <a:pt x="166" y="265"/>
                  </a:cubicBezTo>
                  <a:cubicBezTo>
                    <a:pt x="167" y="262"/>
                    <a:pt x="155" y="260"/>
                    <a:pt x="169" y="252"/>
                  </a:cubicBezTo>
                  <a:cubicBezTo>
                    <a:pt x="183" y="245"/>
                    <a:pt x="207" y="246"/>
                    <a:pt x="207" y="246"/>
                  </a:cubicBezTo>
                  <a:cubicBezTo>
                    <a:pt x="217" y="236"/>
                    <a:pt x="217" y="236"/>
                    <a:pt x="217" y="236"/>
                  </a:cubicBezTo>
                  <a:cubicBezTo>
                    <a:pt x="212" y="229"/>
                    <a:pt x="208" y="224"/>
                    <a:pt x="208" y="224"/>
                  </a:cubicBezTo>
                  <a:cubicBezTo>
                    <a:pt x="177" y="207"/>
                    <a:pt x="177" y="207"/>
                    <a:pt x="177" y="207"/>
                  </a:cubicBezTo>
                  <a:cubicBezTo>
                    <a:pt x="177" y="207"/>
                    <a:pt x="155" y="215"/>
                    <a:pt x="162" y="202"/>
                  </a:cubicBezTo>
                  <a:cubicBezTo>
                    <a:pt x="169" y="189"/>
                    <a:pt x="169" y="189"/>
                    <a:pt x="169" y="189"/>
                  </a:cubicBezTo>
                  <a:cubicBezTo>
                    <a:pt x="169" y="189"/>
                    <a:pt x="144" y="178"/>
                    <a:pt x="154" y="167"/>
                  </a:cubicBezTo>
                  <a:cubicBezTo>
                    <a:pt x="164" y="156"/>
                    <a:pt x="185" y="160"/>
                    <a:pt x="190" y="146"/>
                  </a:cubicBezTo>
                  <a:cubicBezTo>
                    <a:pt x="195" y="132"/>
                    <a:pt x="200" y="117"/>
                    <a:pt x="200" y="117"/>
                  </a:cubicBezTo>
                  <a:cubicBezTo>
                    <a:pt x="216" y="109"/>
                    <a:pt x="216" y="109"/>
                    <a:pt x="216" y="109"/>
                  </a:cubicBezTo>
                  <a:cubicBezTo>
                    <a:pt x="211" y="88"/>
                    <a:pt x="211" y="88"/>
                    <a:pt x="211" y="88"/>
                  </a:cubicBezTo>
                  <a:cubicBezTo>
                    <a:pt x="211" y="88"/>
                    <a:pt x="195" y="77"/>
                    <a:pt x="196" y="60"/>
                  </a:cubicBezTo>
                  <a:cubicBezTo>
                    <a:pt x="197" y="43"/>
                    <a:pt x="220" y="38"/>
                    <a:pt x="220" y="38"/>
                  </a:cubicBezTo>
                  <a:cubicBezTo>
                    <a:pt x="211" y="23"/>
                    <a:pt x="211" y="23"/>
                    <a:pt x="211" y="23"/>
                  </a:cubicBezTo>
                  <a:cubicBezTo>
                    <a:pt x="192" y="17"/>
                    <a:pt x="192" y="17"/>
                    <a:pt x="192" y="17"/>
                  </a:cubicBezTo>
                  <a:lnTo>
                    <a:pt x="182" y="0"/>
                  </a:ln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432" name="Freeform 223">
              <a:extLst>
                <a:ext uri="{FF2B5EF4-FFF2-40B4-BE49-F238E27FC236}">
                  <a16:creationId xmlns:a16="http://schemas.microsoft.com/office/drawing/2014/main" id="{AD22E80B-3066-46DD-A084-4192706D6FA4}"/>
                </a:ext>
              </a:extLst>
            </p:cNvPr>
            <p:cNvSpPr>
              <a:spLocks noEditPoints="1"/>
            </p:cNvSpPr>
            <p:nvPr userDrawn="1"/>
          </p:nvSpPr>
          <p:spPr bwMode="gray">
            <a:xfrm>
              <a:off x="6971308" y="851116"/>
              <a:ext cx="1655705" cy="1206767"/>
            </a:xfrm>
            <a:custGeom>
              <a:avLst/>
              <a:gdLst>
                <a:gd name="T0" fmla="*/ 1905 w 2441"/>
                <a:gd name="T1" fmla="*/ 1857 h 1882"/>
                <a:gd name="T2" fmla="*/ 2423 w 2441"/>
                <a:gd name="T3" fmla="*/ 352 h 1882"/>
                <a:gd name="T4" fmla="*/ 2365 w 2441"/>
                <a:gd name="T5" fmla="*/ 288 h 1882"/>
                <a:gd name="T6" fmla="*/ 2248 w 2441"/>
                <a:gd name="T7" fmla="*/ 288 h 1882"/>
                <a:gd name="T8" fmla="*/ 2077 w 2441"/>
                <a:gd name="T9" fmla="*/ 209 h 1882"/>
                <a:gd name="T10" fmla="*/ 1934 w 2441"/>
                <a:gd name="T11" fmla="*/ 76 h 1882"/>
                <a:gd name="T12" fmla="*/ 1769 w 2441"/>
                <a:gd name="T13" fmla="*/ 0 h 1882"/>
                <a:gd name="T14" fmla="*/ 1704 w 2441"/>
                <a:gd name="T15" fmla="*/ 80 h 1882"/>
                <a:gd name="T16" fmla="*/ 1653 w 2441"/>
                <a:gd name="T17" fmla="*/ 209 h 1882"/>
                <a:gd name="T18" fmla="*/ 1639 w 2441"/>
                <a:gd name="T19" fmla="*/ 310 h 1882"/>
                <a:gd name="T20" fmla="*/ 1786 w 2441"/>
                <a:gd name="T21" fmla="*/ 322 h 1882"/>
                <a:gd name="T22" fmla="*/ 1753 w 2441"/>
                <a:gd name="T23" fmla="*/ 371 h 1882"/>
                <a:gd name="T24" fmla="*/ 1627 w 2441"/>
                <a:gd name="T25" fmla="*/ 462 h 1882"/>
                <a:gd name="T26" fmla="*/ 1536 w 2441"/>
                <a:gd name="T27" fmla="*/ 569 h 1882"/>
                <a:gd name="T28" fmla="*/ 1228 w 2441"/>
                <a:gd name="T29" fmla="*/ 608 h 1882"/>
                <a:gd name="T30" fmla="*/ 973 w 2441"/>
                <a:gd name="T31" fmla="*/ 571 h 1882"/>
                <a:gd name="T32" fmla="*/ 775 w 2441"/>
                <a:gd name="T33" fmla="*/ 459 h 1882"/>
                <a:gd name="T34" fmla="*/ 612 w 2441"/>
                <a:gd name="T35" fmla="*/ 353 h 1882"/>
                <a:gd name="T36" fmla="*/ 452 w 2441"/>
                <a:gd name="T37" fmla="*/ 264 h 1882"/>
                <a:gd name="T38" fmla="*/ 373 w 2441"/>
                <a:gd name="T39" fmla="*/ 309 h 1882"/>
                <a:gd name="T40" fmla="*/ 273 w 2441"/>
                <a:gd name="T41" fmla="*/ 425 h 1882"/>
                <a:gd name="T42" fmla="*/ 216 w 2441"/>
                <a:gd name="T43" fmla="*/ 499 h 1882"/>
                <a:gd name="T44" fmla="*/ 199 w 2441"/>
                <a:gd name="T45" fmla="*/ 625 h 1882"/>
                <a:gd name="T46" fmla="*/ 63 w 2441"/>
                <a:gd name="T47" fmla="*/ 683 h 1882"/>
                <a:gd name="T48" fmla="*/ 15 w 2441"/>
                <a:gd name="T49" fmla="*/ 765 h 1882"/>
                <a:gd name="T50" fmla="*/ 111 w 2441"/>
                <a:gd name="T51" fmla="*/ 880 h 1882"/>
                <a:gd name="T52" fmla="*/ 294 w 2441"/>
                <a:gd name="T53" fmla="*/ 934 h 1882"/>
                <a:gd name="T54" fmla="*/ 306 w 2441"/>
                <a:gd name="T55" fmla="*/ 1057 h 1882"/>
                <a:gd name="T56" fmla="*/ 316 w 2441"/>
                <a:gd name="T57" fmla="*/ 1113 h 1882"/>
                <a:gd name="T58" fmla="*/ 403 w 2441"/>
                <a:gd name="T59" fmla="*/ 1210 h 1882"/>
                <a:gd name="T60" fmla="*/ 571 w 2441"/>
                <a:gd name="T61" fmla="*/ 1302 h 1882"/>
                <a:gd name="T62" fmla="*/ 698 w 2441"/>
                <a:gd name="T63" fmla="*/ 1349 h 1882"/>
                <a:gd name="T64" fmla="*/ 894 w 2441"/>
                <a:gd name="T65" fmla="*/ 1350 h 1882"/>
                <a:gd name="T66" fmla="*/ 1044 w 2441"/>
                <a:gd name="T67" fmla="*/ 1318 h 1882"/>
                <a:gd name="T68" fmla="*/ 1161 w 2441"/>
                <a:gd name="T69" fmla="*/ 1339 h 1882"/>
                <a:gd name="T70" fmla="*/ 1291 w 2441"/>
                <a:gd name="T71" fmla="*/ 1422 h 1882"/>
                <a:gd name="T72" fmla="*/ 1261 w 2441"/>
                <a:gd name="T73" fmla="*/ 1535 h 1882"/>
                <a:gd name="T74" fmla="*/ 1324 w 2441"/>
                <a:gd name="T75" fmla="*/ 1597 h 1882"/>
                <a:gd name="T76" fmla="*/ 1400 w 2441"/>
                <a:gd name="T77" fmla="*/ 1701 h 1882"/>
                <a:gd name="T78" fmla="*/ 1461 w 2441"/>
                <a:gd name="T79" fmla="*/ 1679 h 1882"/>
                <a:gd name="T80" fmla="*/ 1554 w 2441"/>
                <a:gd name="T81" fmla="*/ 1639 h 1882"/>
                <a:gd name="T82" fmla="*/ 1625 w 2441"/>
                <a:gd name="T83" fmla="*/ 1610 h 1882"/>
                <a:gd name="T84" fmla="*/ 1698 w 2441"/>
                <a:gd name="T85" fmla="*/ 1684 h 1882"/>
                <a:gd name="T86" fmla="*/ 1846 w 2441"/>
                <a:gd name="T87" fmla="*/ 1750 h 1882"/>
                <a:gd name="T88" fmla="*/ 2036 w 2441"/>
                <a:gd name="T89" fmla="*/ 1660 h 1882"/>
                <a:gd name="T90" fmla="*/ 2205 w 2441"/>
                <a:gd name="T91" fmla="*/ 1544 h 1882"/>
                <a:gd name="T92" fmla="*/ 2274 w 2441"/>
                <a:gd name="T93" fmla="*/ 1405 h 1882"/>
                <a:gd name="T94" fmla="*/ 2335 w 2441"/>
                <a:gd name="T95" fmla="*/ 1231 h 1882"/>
                <a:gd name="T96" fmla="*/ 2240 w 2441"/>
                <a:gd name="T97" fmla="*/ 1164 h 1882"/>
                <a:gd name="T98" fmla="*/ 2236 w 2441"/>
                <a:gd name="T99" fmla="*/ 1155 h 1882"/>
                <a:gd name="T100" fmla="*/ 2157 w 2441"/>
                <a:gd name="T101" fmla="*/ 1022 h 1882"/>
                <a:gd name="T102" fmla="*/ 2131 w 2441"/>
                <a:gd name="T103" fmla="*/ 897 h 1882"/>
                <a:gd name="T104" fmla="*/ 2161 w 2441"/>
                <a:gd name="T105" fmla="*/ 854 h 1882"/>
                <a:gd name="T106" fmla="*/ 2004 w 2441"/>
                <a:gd name="T107" fmla="*/ 828 h 1882"/>
                <a:gd name="T108" fmla="*/ 1997 w 2441"/>
                <a:gd name="T109" fmla="*/ 758 h 1882"/>
                <a:gd name="T110" fmla="*/ 2079 w 2441"/>
                <a:gd name="T111" fmla="*/ 665 h 1882"/>
                <a:gd name="T112" fmla="*/ 2131 w 2441"/>
                <a:gd name="T113" fmla="*/ 770 h 1882"/>
                <a:gd name="T114" fmla="*/ 2292 w 2441"/>
                <a:gd name="T115" fmla="*/ 637 h 1882"/>
                <a:gd name="T116" fmla="*/ 2387 w 2441"/>
                <a:gd name="T117" fmla="*/ 560 h 1882"/>
                <a:gd name="T118" fmla="*/ 2379 w 2441"/>
                <a:gd name="T119" fmla="*/ 455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441" h="1882">
                  <a:moveTo>
                    <a:pt x="1912" y="1793"/>
                  </a:moveTo>
                  <a:cubicBezTo>
                    <a:pt x="1898" y="1783"/>
                    <a:pt x="1850" y="1789"/>
                    <a:pt x="1850" y="1789"/>
                  </a:cubicBezTo>
                  <a:cubicBezTo>
                    <a:pt x="1846" y="1801"/>
                    <a:pt x="1846" y="1801"/>
                    <a:pt x="1846" y="1801"/>
                  </a:cubicBezTo>
                  <a:cubicBezTo>
                    <a:pt x="1835" y="1795"/>
                    <a:pt x="1835" y="1795"/>
                    <a:pt x="1835" y="1795"/>
                  </a:cubicBezTo>
                  <a:cubicBezTo>
                    <a:pt x="1829" y="1812"/>
                    <a:pt x="1829" y="1812"/>
                    <a:pt x="1829" y="1812"/>
                  </a:cubicBezTo>
                  <a:cubicBezTo>
                    <a:pt x="1829" y="1812"/>
                    <a:pt x="1799" y="1835"/>
                    <a:pt x="1818" y="1859"/>
                  </a:cubicBezTo>
                  <a:cubicBezTo>
                    <a:pt x="1838" y="1882"/>
                    <a:pt x="1851" y="1882"/>
                    <a:pt x="1851" y="1882"/>
                  </a:cubicBezTo>
                  <a:cubicBezTo>
                    <a:pt x="1907" y="1881"/>
                    <a:pt x="1903" y="1864"/>
                    <a:pt x="1905" y="1857"/>
                  </a:cubicBezTo>
                  <a:cubicBezTo>
                    <a:pt x="1906" y="1851"/>
                    <a:pt x="1902" y="1836"/>
                    <a:pt x="1902" y="1836"/>
                  </a:cubicBezTo>
                  <a:cubicBezTo>
                    <a:pt x="1902" y="1836"/>
                    <a:pt x="1927" y="1804"/>
                    <a:pt x="1912" y="1793"/>
                  </a:cubicBezTo>
                  <a:close/>
                  <a:moveTo>
                    <a:pt x="2441" y="416"/>
                  </a:moveTo>
                  <a:cubicBezTo>
                    <a:pt x="2438" y="399"/>
                    <a:pt x="2438" y="399"/>
                    <a:pt x="2438" y="399"/>
                  </a:cubicBezTo>
                  <a:cubicBezTo>
                    <a:pt x="2441" y="382"/>
                    <a:pt x="2441" y="382"/>
                    <a:pt x="2441" y="382"/>
                  </a:cubicBezTo>
                  <a:cubicBezTo>
                    <a:pt x="2430" y="375"/>
                    <a:pt x="2430" y="375"/>
                    <a:pt x="2430" y="375"/>
                  </a:cubicBezTo>
                  <a:cubicBezTo>
                    <a:pt x="2430" y="362"/>
                    <a:pt x="2430" y="362"/>
                    <a:pt x="2430" y="362"/>
                  </a:cubicBezTo>
                  <a:cubicBezTo>
                    <a:pt x="2423" y="352"/>
                    <a:pt x="2423" y="352"/>
                    <a:pt x="2423" y="352"/>
                  </a:cubicBezTo>
                  <a:cubicBezTo>
                    <a:pt x="2423" y="340"/>
                    <a:pt x="2423" y="340"/>
                    <a:pt x="2423" y="340"/>
                  </a:cubicBezTo>
                  <a:cubicBezTo>
                    <a:pt x="2415" y="330"/>
                    <a:pt x="2415" y="330"/>
                    <a:pt x="2415" y="330"/>
                  </a:cubicBezTo>
                  <a:cubicBezTo>
                    <a:pt x="2427" y="325"/>
                    <a:pt x="2427" y="325"/>
                    <a:pt x="2427" y="325"/>
                  </a:cubicBezTo>
                  <a:cubicBezTo>
                    <a:pt x="2427" y="305"/>
                    <a:pt x="2427" y="305"/>
                    <a:pt x="2427" y="305"/>
                  </a:cubicBezTo>
                  <a:cubicBezTo>
                    <a:pt x="2409" y="297"/>
                    <a:pt x="2409" y="297"/>
                    <a:pt x="2409" y="297"/>
                  </a:cubicBezTo>
                  <a:cubicBezTo>
                    <a:pt x="2409" y="297"/>
                    <a:pt x="2415" y="284"/>
                    <a:pt x="2405" y="276"/>
                  </a:cubicBezTo>
                  <a:cubicBezTo>
                    <a:pt x="2395" y="268"/>
                    <a:pt x="2370" y="274"/>
                    <a:pt x="2370" y="274"/>
                  </a:cubicBezTo>
                  <a:cubicBezTo>
                    <a:pt x="2365" y="288"/>
                    <a:pt x="2365" y="288"/>
                    <a:pt x="2365" y="288"/>
                  </a:cubicBezTo>
                  <a:cubicBezTo>
                    <a:pt x="2365" y="288"/>
                    <a:pt x="2337" y="287"/>
                    <a:pt x="2334" y="292"/>
                  </a:cubicBezTo>
                  <a:cubicBezTo>
                    <a:pt x="2331" y="297"/>
                    <a:pt x="2330" y="308"/>
                    <a:pt x="2330" y="308"/>
                  </a:cubicBezTo>
                  <a:cubicBezTo>
                    <a:pt x="2311" y="306"/>
                    <a:pt x="2311" y="306"/>
                    <a:pt x="2311" y="306"/>
                  </a:cubicBezTo>
                  <a:cubicBezTo>
                    <a:pt x="2311" y="313"/>
                    <a:pt x="2311" y="313"/>
                    <a:pt x="2311" y="313"/>
                  </a:cubicBezTo>
                  <a:cubicBezTo>
                    <a:pt x="2298" y="314"/>
                    <a:pt x="2298" y="314"/>
                    <a:pt x="2298" y="314"/>
                  </a:cubicBezTo>
                  <a:cubicBezTo>
                    <a:pt x="2290" y="304"/>
                    <a:pt x="2290" y="304"/>
                    <a:pt x="2290" y="304"/>
                  </a:cubicBezTo>
                  <a:cubicBezTo>
                    <a:pt x="2273" y="308"/>
                    <a:pt x="2273" y="308"/>
                    <a:pt x="2273" y="308"/>
                  </a:cubicBezTo>
                  <a:cubicBezTo>
                    <a:pt x="2248" y="288"/>
                    <a:pt x="2248" y="288"/>
                    <a:pt x="2248" y="288"/>
                  </a:cubicBezTo>
                  <a:cubicBezTo>
                    <a:pt x="2248" y="288"/>
                    <a:pt x="2247" y="280"/>
                    <a:pt x="2244" y="273"/>
                  </a:cubicBezTo>
                  <a:cubicBezTo>
                    <a:pt x="2241" y="266"/>
                    <a:pt x="2225" y="265"/>
                    <a:pt x="2225" y="265"/>
                  </a:cubicBezTo>
                  <a:cubicBezTo>
                    <a:pt x="2216" y="246"/>
                    <a:pt x="2216" y="246"/>
                    <a:pt x="2216" y="246"/>
                  </a:cubicBezTo>
                  <a:cubicBezTo>
                    <a:pt x="2192" y="246"/>
                    <a:pt x="2192" y="246"/>
                    <a:pt x="2192" y="246"/>
                  </a:cubicBezTo>
                  <a:cubicBezTo>
                    <a:pt x="2192" y="246"/>
                    <a:pt x="2154" y="218"/>
                    <a:pt x="2150" y="218"/>
                  </a:cubicBezTo>
                  <a:cubicBezTo>
                    <a:pt x="2146" y="218"/>
                    <a:pt x="2138" y="225"/>
                    <a:pt x="2138" y="225"/>
                  </a:cubicBezTo>
                  <a:cubicBezTo>
                    <a:pt x="2138" y="225"/>
                    <a:pt x="2122" y="209"/>
                    <a:pt x="2112" y="211"/>
                  </a:cubicBezTo>
                  <a:cubicBezTo>
                    <a:pt x="2102" y="213"/>
                    <a:pt x="2085" y="214"/>
                    <a:pt x="2077" y="209"/>
                  </a:cubicBezTo>
                  <a:cubicBezTo>
                    <a:pt x="2069" y="204"/>
                    <a:pt x="2050" y="194"/>
                    <a:pt x="2050" y="194"/>
                  </a:cubicBezTo>
                  <a:cubicBezTo>
                    <a:pt x="2046" y="178"/>
                    <a:pt x="2046" y="178"/>
                    <a:pt x="2046" y="178"/>
                  </a:cubicBezTo>
                  <a:cubicBezTo>
                    <a:pt x="2039" y="178"/>
                    <a:pt x="2039" y="178"/>
                    <a:pt x="2039" y="178"/>
                  </a:cubicBezTo>
                  <a:cubicBezTo>
                    <a:pt x="2039" y="178"/>
                    <a:pt x="2021" y="154"/>
                    <a:pt x="2011" y="145"/>
                  </a:cubicBezTo>
                  <a:cubicBezTo>
                    <a:pt x="2001" y="136"/>
                    <a:pt x="1980" y="134"/>
                    <a:pt x="1980" y="134"/>
                  </a:cubicBezTo>
                  <a:cubicBezTo>
                    <a:pt x="1969" y="112"/>
                    <a:pt x="1969" y="112"/>
                    <a:pt x="1969" y="112"/>
                  </a:cubicBezTo>
                  <a:cubicBezTo>
                    <a:pt x="1937" y="95"/>
                    <a:pt x="1937" y="95"/>
                    <a:pt x="1937" y="95"/>
                  </a:cubicBezTo>
                  <a:cubicBezTo>
                    <a:pt x="1934" y="76"/>
                    <a:pt x="1934" y="76"/>
                    <a:pt x="1934" y="76"/>
                  </a:cubicBezTo>
                  <a:cubicBezTo>
                    <a:pt x="1934" y="76"/>
                    <a:pt x="1919" y="71"/>
                    <a:pt x="1914" y="67"/>
                  </a:cubicBezTo>
                  <a:cubicBezTo>
                    <a:pt x="1909" y="63"/>
                    <a:pt x="1891" y="53"/>
                    <a:pt x="1891" y="53"/>
                  </a:cubicBezTo>
                  <a:cubicBezTo>
                    <a:pt x="1889" y="44"/>
                    <a:pt x="1889" y="44"/>
                    <a:pt x="1889" y="44"/>
                  </a:cubicBezTo>
                  <a:cubicBezTo>
                    <a:pt x="1889" y="44"/>
                    <a:pt x="1868" y="30"/>
                    <a:pt x="1861" y="29"/>
                  </a:cubicBezTo>
                  <a:cubicBezTo>
                    <a:pt x="1854" y="28"/>
                    <a:pt x="1835" y="27"/>
                    <a:pt x="1835" y="27"/>
                  </a:cubicBezTo>
                  <a:cubicBezTo>
                    <a:pt x="1820" y="30"/>
                    <a:pt x="1820" y="30"/>
                    <a:pt x="1820" y="30"/>
                  </a:cubicBezTo>
                  <a:cubicBezTo>
                    <a:pt x="1794" y="13"/>
                    <a:pt x="1794" y="13"/>
                    <a:pt x="1794" y="13"/>
                  </a:cubicBezTo>
                  <a:cubicBezTo>
                    <a:pt x="1769" y="0"/>
                    <a:pt x="1769" y="0"/>
                    <a:pt x="1769" y="0"/>
                  </a:cubicBezTo>
                  <a:cubicBezTo>
                    <a:pt x="1734" y="7"/>
                    <a:pt x="1734" y="7"/>
                    <a:pt x="1734" y="7"/>
                  </a:cubicBezTo>
                  <a:cubicBezTo>
                    <a:pt x="1706" y="5"/>
                    <a:pt x="1706" y="5"/>
                    <a:pt x="1706" y="5"/>
                  </a:cubicBezTo>
                  <a:cubicBezTo>
                    <a:pt x="1702" y="13"/>
                    <a:pt x="1702" y="13"/>
                    <a:pt x="1702" y="13"/>
                  </a:cubicBezTo>
                  <a:cubicBezTo>
                    <a:pt x="1678" y="16"/>
                    <a:pt x="1678" y="16"/>
                    <a:pt x="1678" y="16"/>
                  </a:cubicBezTo>
                  <a:cubicBezTo>
                    <a:pt x="1658" y="36"/>
                    <a:pt x="1658" y="36"/>
                    <a:pt x="1658" y="36"/>
                  </a:cubicBezTo>
                  <a:cubicBezTo>
                    <a:pt x="1658" y="36"/>
                    <a:pt x="1636" y="51"/>
                    <a:pt x="1651" y="54"/>
                  </a:cubicBezTo>
                  <a:cubicBezTo>
                    <a:pt x="1666" y="57"/>
                    <a:pt x="1678" y="59"/>
                    <a:pt x="1678" y="59"/>
                  </a:cubicBezTo>
                  <a:cubicBezTo>
                    <a:pt x="1678" y="59"/>
                    <a:pt x="1705" y="74"/>
                    <a:pt x="1704" y="80"/>
                  </a:cubicBezTo>
                  <a:cubicBezTo>
                    <a:pt x="1703" y="86"/>
                    <a:pt x="1691" y="91"/>
                    <a:pt x="1689" y="100"/>
                  </a:cubicBezTo>
                  <a:cubicBezTo>
                    <a:pt x="1687" y="109"/>
                    <a:pt x="1692" y="127"/>
                    <a:pt x="1692" y="127"/>
                  </a:cubicBezTo>
                  <a:cubicBezTo>
                    <a:pt x="1692" y="146"/>
                    <a:pt x="1692" y="146"/>
                    <a:pt x="1692" y="146"/>
                  </a:cubicBezTo>
                  <a:cubicBezTo>
                    <a:pt x="1693" y="171"/>
                    <a:pt x="1693" y="171"/>
                    <a:pt x="1693" y="171"/>
                  </a:cubicBezTo>
                  <a:cubicBezTo>
                    <a:pt x="1693" y="171"/>
                    <a:pt x="1717" y="181"/>
                    <a:pt x="1704" y="189"/>
                  </a:cubicBezTo>
                  <a:cubicBezTo>
                    <a:pt x="1691" y="197"/>
                    <a:pt x="1680" y="192"/>
                    <a:pt x="1680" y="192"/>
                  </a:cubicBezTo>
                  <a:cubicBezTo>
                    <a:pt x="1680" y="192"/>
                    <a:pt x="1676" y="214"/>
                    <a:pt x="1666" y="214"/>
                  </a:cubicBezTo>
                  <a:cubicBezTo>
                    <a:pt x="1656" y="214"/>
                    <a:pt x="1653" y="209"/>
                    <a:pt x="1653" y="209"/>
                  </a:cubicBezTo>
                  <a:cubicBezTo>
                    <a:pt x="1629" y="208"/>
                    <a:pt x="1629" y="208"/>
                    <a:pt x="1629" y="208"/>
                  </a:cubicBezTo>
                  <a:cubicBezTo>
                    <a:pt x="1606" y="194"/>
                    <a:pt x="1606" y="194"/>
                    <a:pt x="1606" y="194"/>
                  </a:cubicBezTo>
                  <a:cubicBezTo>
                    <a:pt x="1607" y="249"/>
                    <a:pt x="1607" y="249"/>
                    <a:pt x="1607" y="249"/>
                  </a:cubicBezTo>
                  <a:cubicBezTo>
                    <a:pt x="1612" y="255"/>
                    <a:pt x="1612" y="255"/>
                    <a:pt x="1612" y="255"/>
                  </a:cubicBezTo>
                  <a:cubicBezTo>
                    <a:pt x="1613" y="273"/>
                    <a:pt x="1613" y="273"/>
                    <a:pt x="1613" y="273"/>
                  </a:cubicBezTo>
                  <a:cubicBezTo>
                    <a:pt x="1617" y="279"/>
                    <a:pt x="1617" y="279"/>
                    <a:pt x="1617" y="279"/>
                  </a:cubicBezTo>
                  <a:cubicBezTo>
                    <a:pt x="1617" y="279"/>
                    <a:pt x="1612" y="282"/>
                    <a:pt x="1615" y="292"/>
                  </a:cubicBezTo>
                  <a:cubicBezTo>
                    <a:pt x="1618" y="302"/>
                    <a:pt x="1630" y="313"/>
                    <a:pt x="1639" y="310"/>
                  </a:cubicBezTo>
                  <a:cubicBezTo>
                    <a:pt x="1648" y="307"/>
                    <a:pt x="1632" y="300"/>
                    <a:pt x="1651" y="299"/>
                  </a:cubicBezTo>
                  <a:cubicBezTo>
                    <a:pt x="1670" y="298"/>
                    <a:pt x="1680" y="302"/>
                    <a:pt x="1680" y="302"/>
                  </a:cubicBezTo>
                  <a:cubicBezTo>
                    <a:pt x="1680" y="302"/>
                    <a:pt x="1691" y="313"/>
                    <a:pt x="1697" y="311"/>
                  </a:cubicBezTo>
                  <a:cubicBezTo>
                    <a:pt x="1703" y="309"/>
                    <a:pt x="1704" y="291"/>
                    <a:pt x="1704" y="291"/>
                  </a:cubicBezTo>
                  <a:cubicBezTo>
                    <a:pt x="1745" y="291"/>
                    <a:pt x="1745" y="291"/>
                    <a:pt x="1745" y="291"/>
                  </a:cubicBezTo>
                  <a:cubicBezTo>
                    <a:pt x="1745" y="291"/>
                    <a:pt x="1748" y="306"/>
                    <a:pt x="1757" y="307"/>
                  </a:cubicBezTo>
                  <a:cubicBezTo>
                    <a:pt x="1766" y="308"/>
                    <a:pt x="1769" y="308"/>
                    <a:pt x="1769" y="308"/>
                  </a:cubicBezTo>
                  <a:cubicBezTo>
                    <a:pt x="1769" y="308"/>
                    <a:pt x="1777" y="315"/>
                    <a:pt x="1786" y="322"/>
                  </a:cubicBezTo>
                  <a:cubicBezTo>
                    <a:pt x="1795" y="329"/>
                    <a:pt x="1813" y="333"/>
                    <a:pt x="1813" y="333"/>
                  </a:cubicBezTo>
                  <a:cubicBezTo>
                    <a:pt x="1813" y="333"/>
                    <a:pt x="1818" y="344"/>
                    <a:pt x="1827" y="350"/>
                  </a:cubicBezTo>
                  <a:cubicBezTo>
                    <a:pt x="1836" y="356"/>
                    <a:pt x="1839" y="362"/>
                    <a:pt x="1831" y="363"/>
                  </a:cubicBezTo>
                  <a:cubicBezTo>
                    <a:pt x="1823" y="364"/>
                    <a:pt x="1805" y="365"/>
                    <a:pt x="1805" y="365"/>
                  </a:cubicBezTo>
                  <a:cubicBezTo>
                    <a:pt x="1805" y="365"/>
                    <a:pt x="1797" y="356"/>
                    <a:pt x="1788" y="356"/>
                  </a:cubicBezTo>
                  <a:cubicBezTo>
                    <a:pt x="1779" y="356"/>
                    <a:pt x="1768" y="359"/>
                    <a:pt x="1768" y="359"/>
                  </a:cubicBezTo>
                  <a:cubicBezTo>
                    <a:pt x="1759" y="368"/>
                    <a:pt x="1759" y="368"/>
                    <a:pt x="1759" y="368"/>
                  </a:cubicBezTo>
                  <a:cubicBezTo>
                    <a:pt x="1753" y="371"/>
                    <a:pt x="1753" y="371"/>
                    <a:pt x="1753" y="371"/>
                  </a:cubicBezTo>
                  <a:cubicBezTo>
                    <a:pt x="1735" y="368"/>
                    <a:pt x="1735" y="368"/>
                    <a:pt x="1735" y="368"/>
                  </a:cubicBezTo>
                  <a:cubicBezTo>
                    <a:pt x="1735" y="379"/>
                    <a:pt x="1735" y="379"/>
                    <a:pt x="1735" y="379"/>
                  </a:cubicBezTo>
                  <a:cubicBezTo>
                    <a:pt x="1735" y="379"/>
                    <a:pt x="1710" y="380"/>
                    <a:pt x="1703" y="391"/>
                  </a:cubicBezTo>
                  <a:cubicBezTo>
                    <a:pt x="1696" y="402"/>
                    <a:pt x="1711" y="413"/>
                    <a:pt x="1711" y="413"/>
                  </a:cubicBezTo>
                  <a:cubicBezTo>
                    <a:pt x="1695" y="427"/>
                    <a:pt x="1695" y="427"/>
                    <a:pt x="1695" y="427"/>
                  </a:cubicBezTo>
                  <a:cubicBezTo>
                    <a:pt x="1695" y="427"/>
                    <a:pt x="1649" y="424"/>
                    <a:pt x="1646" y="427"/>
                  </a:cubicBezTo>
                  <a:cubicBezTo>
                    <a:pt x="1643" y="430"/>
                    <a:pt x="1645" y="446"/>
                    <a:pt x="1645" y="446"/>
                  </a:cubicBezTo>
                  <a:cubicBezTo>
                    <a:pt x="1645" y="446"/>
                    <a:pt x="1634" y="460"/>
                    <a:pt x="1627" y="462"/>
                  </a:cubicBezTo>
                  <a:cubicBezTo>
                    <a:pt x="1620" y="464"/>
                    <a:pt x="1593" y="465"/>
                    <a:pt x="1593" y="465"/>
                  </a:cubicBezTo>
                  <a:cubicBezTo>
                    <a:pt x="1593" y="465"/>
                    <a:pt x="1571" y="448"/>
                    <a:pt x="1567" y="447"/>
                  </a:cubicBezTo>
                  <a:cubicBezTo>
                    <a:pt x="1563" y="446"/>
                    <a:pt x="1545" y="440"/>
                    <a:pt x="1539" y="450"/>
                  </a:cubicBezTo>
                  <a:cubicBezTo>
                    <a:pt x="1533" y="460"/>
                    <a:pt x="1535" y="480"/>
                    <a:pt x="1541" y="484"/>
                  </a:cubicBezTo>
                  <a:cubicBezTo>
                    <a:pt x="1547" y="488"/>
                    <a:pt x="1578" y="511"/>
                    <a:pt x="1577" y="516"/>
                  </a:cubicBezTo>
                  <a:cubicBezTo>
                    <a:pt x="1576" y="521"/>
                    <a:pt x="1566" y="536"/>
                    <a:pt x="1562" y="536"/>
                  </a:cubicBezTo>
                  <a:cubicBezTo>
                    <a:pt x="1558" y="536"/>
                    <a:pt x="1548" y="533"/>
                    <a:pt x="1545" y="540"/>
                  </a:cubicBezTo>
                  <a:cubicBezTo>
                    <a:pt x="1542" y="547"/>
                    <a:pt x="1544" y="562"/>
                    <a:pt x="1536" y="569"/>
                  </a:cubicBezTo>
                  <a:cubicBezTo>
                    <a:pt x="1528" y="576"/>
                    <a:pt x="1511" y="574"/>
                    <a:pt x="1511" y="574"/>
                  </a:cubicBezTo>
                  <a:cubicBezTo>
                    <a:pt x="1499" y="587"/>
                    <a:pt x="1499" y="587"/>
                    <a:pt x="1499" y="587"/>
                  </a:cubicBezTo>
                  <a:cubicBezTo>
                    <a:pt x="1499" y="587"/>
                    <a:pt x="1409" y="584"/>
                    <a:pt x="1395" y="590"/>
                  </a:cubicBezTo>
                  <a:cubicBezTo>
                    <a:pt x="1381" y="596"/>
                    <a:pt x="1338" y="625"/>
                    <a:pt x="1332" y="630"/>
                  </a:cubicBezTo>
                  <a:cubicBezTo>
                    <a:pt x="1326" y="635"/>
                    <a:pt x="1306" y="627"/>
                    <a:pt x="1306" y="627"/>
                  </a:cubicBezTo>
                  <a:cubicBezTo>
                    <a:pt x="1306" y="627"/>
                    <a:pt x="1303" y="615"/>
                    <a:pt x="1297" y="615"/>
                  </a:cubicBezTo>
                  <a:cubicBezTo>
                    <a:pt x="1291" y="615"/>
                    <a:pt x="1270" y="624"/>
                    <a:pt x="1270" y="624"/>
                  </a:cubicBezTo>
                  <a:cubicBezTo>
                    <a:pt x="1270" y="624"/>
                    <a:pt x="1242" y="609"/>
                    <a:pt x="1228" y="608"/>
                  </a:cubicBezTo>
                  <a:cubicBezTo>
                    <a:pt x="1214" y="607"/>
                    <a:pt x="1203" y="609"/>
                    <a:pt x="1188" y="604"/>
                  </a:cubicBezTo>
                  <a:cubicBezTo>
                    <a:pt x="1173" y="599"/>
                    <a:pt x="1171" y="584"/>
                    <a:pt x="1161" y="581"/>
                  </a:cubicBezTo>
                  <a:cubicBezTo>
                    <a:pt x="1151" y="578"/>
                    <a:pt x="1112" y="578"/>
                    <a:pt x="1112" y="578"/>
                  </a:cubicBezTo>
                  <a:cubicBezTo>
                    <a:pt x="1112" y="578"/>
                    <a:pt x="1092" y="570"/>
                    <a:pt x="1087" y="570"/>
                  </a:cubicBezTo>
                  <a:cubicBezTo>
                    <a:pt x="1082" y="570"/>
                    <a:pt x="1068" y="581"/>
                    <a:pt x="1068" y="581"/>
                  </a:cubicBezTo>
                  <a:cubicBezTo>
                    <a:pt x="1043" y="576"/>
                    <a:pt x="1043" y="576"/>
                    <a:pt x="1043" y="576"/>
                  </a:cubicBezTo>
                  <a:cubicBezTo>
                    <a:pt x="1012" y="576"/>
                    <a:pt x="1012" y="576"/>
                    <a:pt x="1012" y="576"/>
                  </a:cubicBezTo>
                  <a:cubicBezTo>
                    <a:pt x="973" y="571"/>
                    <a:pt x="973" y="571"/>
                    <a:pt x="973" y="571"/>
                  </a:cubicBezTo>
                  <a:cubicBezTo>
                    <a:pt x="935" y="575"/>
                    <a:pt x="935" y="575"/>
                    <a:pt x="935" y="575"/>
                  </a:cubicBezTo>
                  <a:cubicBezTo>
                    <a:pt x="935" y="575"/>
                    <a:pt x="902" y="550"/>
                    <a:pt x="898" y="544"/>
                  </a:cubicBezTo>
                  <a:cubicBezTo>
                    <a:pt x="894" y="538"/>
                    <a:pt x="880" y="519"/>
                    <a:pt x="876" y="515"/>
                  </a:cubicBezTo>
                  <a:cubicBezTo>
                    <a:pt x="872" y="511"/>
                    <a:pt x="863" y="506"/>
                    <a:pt x="863" y="506"/>
                  </a:cubicBezTo>
                  <a:cubicBezTo>
                    <a:pt x="856" y="490"/>
                    <a:pt x="856" y="490"/>
                    <a:pt x="856" y="490"/>
                  </a:cubicBezTo>
                  <a:cubicBezTo>
                    <a:pt x="834" y="487"/>
                    <a:pt x="834" y="487"/>
                    <a:pt x="834" y="487"/>
                  </a:cubicBezTo>
                  <a:cubicBezTo>
                    <a:pt x="834" y="487"/>
                    <a:pt x="797" y="475"/>
                    <a:pt x="794" y="474"/>
                  </a:cubicBezTo>
                  <a:cubicBezTo>
                    <a:pt x="791" y="473"/>
                    <a:pt x="784" y="461"/>
                    <a:pt x="775" y="459"/>
                  </a:cubicBezTo>
                  <a:cubicBezTo>
                    <a:pt x="766" y="457"/>
                    <a:pt x="755" y="452"/>
                    <a:pt x="755" y="452"/>
                  </a:cubicBezTo>
                  <a:cubicBezTo>
                    <a:pt x="755" y="452"/>
                    <a:pt x="721" y="450"/>
                    <a:pt x="707" y="451"/>
                  </a:cubicBezTo>
                  <a:cubicBezTo>
                    <a:pt x="693" y="452"/>
                    <a:pt x="679" y="449"/>
                    <a:pt x="668" y="445"/>
                  </a:cubicBezTo>
                  <a:cubicBezTo>
                    <a:pt x="657" y="441"/>
                    <a:pt x="636" y="439"/>
                    <a:pt x="631" y="426"/>
                  </a:cubicBezTo>
                  <a:cubicBezTo>
                    <a:pt x="626" y="413"/>
                    <a:pt x="625" y="403"/>
                    <a:pt x="625" y="403"/>
                  </a:cubicBezTo>
                  <a:cubicBezTo>
                    <a:pt x="625" y="403"/>
                    <a:pt x="635" y="399"/>
                    <a:pt x="633" y="392"/>
                  </a:cubicBezTo>
                  <a:cubicBezTo>
                    <a:pt x="631" y="385"/>
                    <a:pt x="621" y="377"/>
                    <a:pt x="621" y="377"/>
                  </a:cubicBezTo>
                  <a:cubicBezTo>
                    <a:pt x="621" y="377"/>
                    <a:pt x="624" y="361"/>
                    <a:pt x="612" y="353"/>
                  </a:cubicBezTo>
                  <a:cubicBezTo>
                    <a:pt x="600" y="345"/>
                    <a:pt x="591" y="336"/>
                    <a:pt x="586" y="329"/>
                  </a:cubicBezTo>
                  <a:cubicBezTo>
                    <a:pt x="581" y="322"/>
                    <a:pt x="574" y="308"/>
                    <a:pt x="560" y="304"/>
                  </a:cubicBezTo>
                  <a:cubicBezTo>
                    <a:pt x="546" y="300"/>
                    <a:pt x="540" y="298"/>
                    <a:pt x="540" y="298"/>
                  </a:cubicBezTo>
                  <a:cubicBezTo>
                    <a:pt x="525" y="290"/>
                    <a:pt x="525" y="290"/>
                    <a:pt x="525" y="290"/>
                  </a:cubicBezTo>
                  <a:cubicBezTo>
                    <a:pt x="504" y="296"/>
                    <a:pt x="504" y="296"/>
                    <a:pt x="504" y="296"/>
                  </a:cubicBezTo>
                  <a:cubicBezTo>
                    <a:pt x="487" y="280"/>
                    <a:pt x="487" y="280"/>
                    <a:pt x="487" y="280"/>
                  </a:cubicBezTo>
                  <a:cubicBezTo>
                    <a:pt x="481" y="272"/>
                    <a:pt x="481" y="272"/>
                    <a:pt x="481" y="272"/>
                  </a:cubicBezTo>
                  <a:cubicBezTo>
                    <a:pt x="481" y="272"/>
                    <a:pt x="457" y="269"/>
                    <a:pt x="452" y="264"/>
                  </a:cubicBezTo>
                  <a:cubicBezTo>
                    <a:pt x="447" y="259"/>
                    <a:pt x="451" y="251"/>
                    <a:pt x="451" y="251"/>
                  </a:cubicBezTo>
                  <a:cubicBezTo>
                    <a:pt x="433" y="251"/>
                    <a:pt x="433" y="251"/>
                    <a:pt x="433" y="251"/>
                  </a:cubicBezTo>
                  <a:cubicBezTo>
                    <a:pt x="433" y="251"/>
                    <a:pt x="443" y="239"/>
                    <a:pt x="435" y="235"/>
                  </a:cubicBezTo>
                  <a:cubicBezTo>
                    <a:pt x="427" y="231"/>
                    <a:pt x="414" y="238"/>
                    <a:pt x="414" y="238"/>
                  </a:cubicBezTo>
                  <a:cubicBezTo>
                    <a:pt x="414" y="238"/>
                    <a:pt x="388" y="230"/>
                    <a:pt x="387" y="239"/>
                  </a:cubicBezTo>
                  <a:cubicBezTo>
                    <a:pt x="386" y="248"/>
                    <a:pt x="405" y="251"/>
                    <a:pt x="399" y="260"/>
                  </a:cubicBezTo>
                  <a:cubicBezTo>
                    <a:pt x="393" y="269"/>
                    <a:pt x="364" y="259"/>
                    <a:pt x="359" y="273"/>
                  </a:cubicBezTo>
                  <a:cubicBezTo>
                    <a:pt x="354" y="287"/>
                    <a:pt x="364" y="296"/>
                    <a:pt x="373" y="309"/>
                  </a:cubicBezTo>
                  <a:cubicBezTo>
                    <a:pt x="382" y="322"/>
                    <a:pt x="388" y="333"/>
                    <a:pt x="381" y="338"/>
                  </a:cubicBezTo>
                  <a:cubicBezTo>
                    <a:pt x="374" y="343"/>
                    <a:pt x="366" y="342"/>
                    <a:pt x="366" y="342"/>
                  </a:cubicBezTo>
                  <a:cubicBezTo>
                    <a:pt x="355" y="354"/>
                    <a:pt x="355" y="354"/>
                    <a:pt x="355" y="354"/>
                  </a:cubicBezTo>
                  <a:cubicBezTo>
                    <a:pt x="346" y="346"/>
                    <a:pt x="346" y="346"/>
                    <a:pt x="346" y="346"/>
                  </a:cubicBezTo>
                  <a:cubicBezTo>
                    <a:pt x="346" y="346"/>
                    <a:pt x="325" y="348"/>
                    <a:pt x="317" y="346"/>
                  </a:cubicBezTo>
                  <a:cubicBezTo>
                    <a:pt x="309" y="344"/>
                    <a:pt x="284" y="332"/>
                    <a:pt x="278" y="332"/>
                  </a:cubicBezTo>
                  <a:cubicBezTo>
                    <a:pt x="272" y="332"/>
                    <a:pt x="273" y="347"/>
                    <a:pt x="273" y="359"/>
                  </a:cubicBezTo>
                  <a:cubicBezTo>
                    <a:pt x="273" y="371"/>
                    <a:pt x="269" y="423"/>
                    <a:pt x="273" y="425"/>
                  </a:cubicBezTo>
                  <a:cubicBezTo>
                    <a:pt x="277" y="427"/>
                    <a:pt x="300" y="429"/>
                    <a:pt x="291" y="440"/>
                  </a:cubicBezTo>
                  <a:cubicBezTo>
                    <a:pt x="282" y="451"/>
                    <a:pt x="275" y="437"/>
                    <a:pt x="275" y="437"/>
                  </a:cubicBezTo>
                  <a:cubicBezTo>
                    <a:pt x="262" y="444"/>
                    <a:pt x="262" y="444"/>
                    <a:pt x="262" y="444"/>
                  </a:cubicBezTo>
                  <a:cubicBezTo>
                    <a:pt x="262" y="444"/>
                    <a:pt x="253" y="430"/>
                    <a:pt x="248" y="430"/>
                  </a:cubicBezTo>
                  <a:cubicBezTo>
                    <a:pt x="243" y="430"/>
                    <a:pt x="219" y="440"/>
                    <a:pt x="213" y="441"/>
                  </a:cubicBezTo>
                  <a:cubicBezTo>
                    <a:pt x="207" y="442"/>
                    <a:pt x="176" y="449"/>
                    <a:pt x="183" y="458"/>
                  </a:cubicBezTo>
                  <a:cubicBezTo>
                    <a:pt x="190" y="467"/>
                    <a:pt x="208" y="464"/>
                    <a:pt x="208" y="464"/>
                  </a:cubicBezTo>
                  <a:cubicBezTo>
                    <a:pt x="208" y="464"/>
                    <a:pt x="208" y="490"/>
                    <a:pt x="216" y="499"/>
                  </a:cubicBezTo>
                  <a:cubicBezTo>
                    <a:pt x="224" y="508"/>
                    <a:pt x="254" y="539"/>
                    <a:pt x="254" y="546"/>
                  </a:cubicBezTo>
                  <a:cubicBezTo>
                    <a:pt x="254" y="553"/>
                    <a:pt x="238" y="550"/>
                    <a:pt x="238" y="553"/>
                  </a:cubicBezTo>
                  <a:cubicBezTo>
                    <a:pt x="238" y="556"/>
                    <a:pt x="249" y="568"/>
                    <a:pt x="249" y="568"/>
                  </a:cubicBezTo>
                  <a:cubicBezTo>
                    <a:pt x="249" y="568"/>
                    <a:pt x="235" y="566"/>
                    <a:pt x="235" y="571"/>
                  </a:cubicBezTo>
                  <a:cubicBezTo>
                    <a:pt x="235" y="576"/>
                    <a:pt x="239" y="587"/>
                    <a:pt x="244" y="592"/>
                  </a:cubicBezTo>
                  <a:cubicBezTo>
                    <a:pt x="249" y="597"/>
                    <a:pt x="251" y="610"/>
                    <a:pt x="248" y="611"/>
                  </a:cubicBezTo>
                  <a:cubicBezTo>
                    <a:pt x="245" y="612"/>
                    <a:pt x="231" y="612"/>
                    <a:pt x="231" y="612"/>
                  </a:cubicBezTo>
                  <a:cubicBezTo>
                    <a:pt x="199" y="625"/>
                    <a:pt x="199" y="625"/>
                    <a:pt x="199" y="625"/>
                  </a:cubicBezTo>
                  <a:cubicBezTo>
                    <a:pt x="199" y="625"/>
                    <a:pt x="180" y="642"/>
                    <a:pt x="180" y="645"/>
                  </a:cubicBezTo>
                  <a:cubicBezTo>
                    <a:pt x="180" y="648"/>
                    <a:pt x="180" y="666"/>
                    <a:pt x="168" y="666"/>
                  </a:cubicBezTo>
                  <a:cubicBezTo>
                    <a:pt x="156" y="666"/>
                    <a:pt x="137" y="658"/>
                    <a:pt x="129" y="659"/>
                  </a:cubicBezTo>
                  <a:cubicBezTo>
                    <a:pt x="121" y="660"/>
                    <a:pt x="113" y="673"/>
                    <a:pt x="112" y="682"/>
                  </a:cubicBezTo>
                  <a:cubicBezTo>
                    <a:pt x="111" y="691"/>
                    <a:pt x="106" y="700"/>
                    <a:pt x="106" y="700"/>
                  </a:cubicBezTo>
                  <a:cubicBezTo>
                    <a:pt x="87" y="695"/>
                    <a:pt x="87" y="695"/>
                    <a:pt x="87" y="695"/>
                  </a:cubicBezTo>
                  <a:cubicBezTo>
                    <a:pt x="80" y="702"/>
                    <a:pt x="80" y="702"/>
                    <a:pt x="80" y="702"/>
                  </a:cubicBezTo>
                  <a:cubicBezTo>
                    <a:pt x="80" y="702"/>
                    <a:pt x="69" y="683"/>
                    <a:pt x="63" y="683"/>
                  </a:cubicBezTo>
                  <a:cubicBezTo>
                    <a:pt x="57" y="683"/>
                    <a:pt x="52" y="692"/>
                    <a:pt x="52" y="692"/>
                  </a:cubicBezTo>
                  <a:cubicBezTo>
                    <a:pt x="33" y="694"/>
                    <a:pt x="33" y="694"/>
                    <a:pt x="33" y="694"/>
                  </a:cubicBezTo>
                  <a:cubicBezTo>
                    <a:pt x="33" y="704"/>
                    <a:pt x="33" y="704"/>
                    <a:pt x="33" y="704"/>
                  </a:cubicBezTo>
                  <a:cubicBezTo>
                    <a:pt x="33" y="704"/>
                    <a:pt x="0" y="719"/>
                    <a:pt x="1" y="722"/>
                  </a:cubicBezTo>
                  <a:cubicBezTo>
                    <a:pt x="2" y="725"/>
                    <a:pt x="13" y="738"/>
                    <a:pt x="13" y="742"/>
                  </a:cubicBezTo>
                  <a:cubicBezTo>
                    <a:pt x="13" y="746"/>
                    <a:pt x="1" y="744"/>
                    <a:pt x="1" y="744"/>
                  </a:cubicBezTo>
                  <a:cubicBezTo>
                    <a:pt x="1" y="761"/>
                    <a:pt x="1" y="761"/>
                    <a:pt x="1" y="761"/>
                  </a:cubicBezTo>
                  <a:cubicBezTo>
                    <a:pt x="1" y="761"/>
                    <a:pt x="15" y="758"/>
                    <a:pt x="15" y="765"/>
                  </a:cubicBezTo>
                  <a:cubicBezTo>
                    <a:pt x="15" y="772"/>
                    <a:pt x="7" y="790"/>
                    <a:pt x="17" y="794"/>
                  </a:cubicBezTo>
                  <a:cubicBezTo>
                    <a:pt x="27" y="798"/>
                    <a:pt x="31" y="783"/>
                    <a:pt x="45" y="787"/>
                  </a:cubicBezTo>
                  <a:cubicBezTo>
                    <a:pt x="59" y="791"/>
                    <a:pt x="71" y="794"/>
                    <a:pt x="71" y="804"/>
                  </a:cubicBezTo>
                  <a:cubicBezTo>
                    <a:pt x="71" y="814"/>
                    <a:pt x="72" y="836"/>
                    <a:pt x="79" y="843"/>
                  </a:cubicBezTo>
                  <a:cubicBezTo>
                    <a:pt x="86" y="850"/>
                    <a:pt x="98" y="853"/>
                    <a:pt x="90" y="859"/>
                  </a:cubicBezTo>
                  <a:cubicBezTo>
                    <a:pt x="82" y="865"/>
                    <a:pt x="62" y="857"/>
                    <a:pt x="65" y="868"/>
                  </a:cubicBezTo>
                  <a:cubicBezTo>
                    <a:pt x="68" y="879"/>
                    <a:pt x="90" y="880"/>
                    <a:pt x="90" y="880"/>
                  </a:cubicBezTo>
                  <a:cubicBezTo>
                    <a:pt x="111" y="880"/>
                    <a:pt x="111" y="880"/>
                    <a:pt x="111" y="880"/>
                  </a:cubicBezTo>
                  <a:cubicBezTo>
                    <a:pt x="114" y="889"/>
                    <a:pt x="114" y="889"/>
                    <a:pt x="114" y="889"/>
                  </a:cubicBezTo>
                  <a:cubicBezTo>
                    <a:pt x="114" y="889"/>
                    <a:pt x="129" y="890"/>
                    <a:pt x="138" y="900"/>
                  </a:cubicBezTo>
                  <a:cubicBezTo>
                    <a:pt x="147" y="910"/>
                    <a:pt x="148" y="931"/>
                    <a:pt x="148" y="931"/>
                  </a:cubicBezTo>
                  <a:cubicBezTo>
                    <a:pt x="169" y="939"/>
                    <a:pt x="169" y="939"/>
                    <a:pt x="169" y="939"/>
                  </a:cubicBezTo>
                  <a:cubicBezTo>
                    <a:pt x="177" y="935"/>
                    <a:pt x="177" y="935"/>
                    <a:pt x="177" y="935"/>
                  </a:cubicBezTo>
                  <a:cubicBezTo>
                    <a:pt x="177" y="935"/>
                    <a:pt x="182" y="955"/>
                    <a:pt x="201" y="956"/>
                  </a:cubicBezTo>
                  <a:cubicBezTo>
                    <a:pt x="220" y="957"/>
                    <a:pt x="246" y="957"/>
                    <a:pt x="246" y="957"/>
                  </a:cubicBezTo>
                  <a:cubicBezTo>
                    <a:pt x="246" y="957"/>
                    <a:pt x="277" y="928"/>
                    <a:pt x="294" y="934"/>
                  </a:cubicBezTo>
                  <a:cubicBezTo>
                    <a:pt x="311" y="940"/>
                    <a:pt x="313" y="954"/>
                    <a:pt x="324" y="956"/>
                  </a:cubicBezTo>
                  <a:cubicBezTo>
                    <a:pt x="335" y="958"/>
                    <a:pt x="349" y="956"/>
                    <a:pt x="349" y="956"/>
                  </a:cubicBezTo>
                  <a:cubicBezTo>
                    <a:pt x="349" y="956"/>
                    <a:pt x="353" y="992"/>
                    <a:pt x="349" y="997"/>
                  </a:cubicBezTo>
                  <a:cubicBezTo>
                    <a:pt x="345" y="1002"/>
                    <a:pt x="336" y="1002"/>
                    <a:pt x="336" y="1002"/>
                  </a:cubicBezTo>
                  <a:cubicBezTo>
                    <a:pt x="336" y="1002"/>
                    <a:pt x="342" y="1026"/>
                    <a:pt x="333" y="1031"/>
                  </a:cubicBezTo>
                  <a:cubicBezTo>
                    <a:pt x="324" y="1036"/>
                    <a:pt x="305" y="1035"/>
                    <a:pt x="305" y="1035"/>
                  </a:cubicBezTo>
                  <a:cubicBezTo>
                    <a:pt x="317" y="1051"/>
                    <a:pt x="317" y="1051"/>
                    <a:pt x="317" y="1051"/>
                  </a:cubicBezTo>
                  <a:cubicBezTo>
                    <a:pt x="306" y="1057"/>
                    <a:pt x="306" y="1057"/>
                    <a:pt x="306" y="1057"/>
                  </a:cubicBezTo>
                  <a:cubicBezTo>
                    <a:pt x="306" y="1057"/>
                    <a:pt x="300" y="1068"/>
                    <a:pt x="315" y="1075"/>
                  </a:cubicBezTo>
                  <a:cubicBezTo>
                    <a:pt x="330" y="1082"/>
                    <a:pt x="335" y="1085"/>
                    <a:pt x="335" y="1085"/>
                  </a:cubicBezTo>
                  <a:cubicBezTo>
                    <a:pt x="340" y="1094"/>
                    <a:pt x="340" y="1094"/>
                    <a:pt x="340" y="1094"/>
                  </a:cubicBezTo>
                  <a:cubicBezTo>
                    <a:pt x="340" y="1094"/>
                    <a:pt x="359" y="1109"/>
                    <a:pt x="351" y="1114"/>
                  </a:cubicBezTo>
                  <a:cubicBezTo>
                    <a:pt x="343" y="1119"/>
                    <a:pt x="334" y="1122"/>
                    <a:pt x="334" y="1122"/>
                  </a:cubicBezTo>
                  <a:cubicBezTo>
                    <a:pt x="328" y="1131"/>
                    <a:pt x="328" y="1131"/>
                    <a:pt x="328" y="1131"/>
                  </a:cubicBezTo>
                  <a:cubicBezTo>
                    <a:pt x="318" y="1123"/>
                    <a:pt x="318" y="1123"/>
                    <a:pt x="318" y="1123"/>
                  </a:cubicBezTo>
                  <a:cubicBezTo>
                    <a:pt x="318" y="1123"/>
                    <a:pt x="320" y="1113"/>
                    <a:pt x="316" y="1113"/>
                  </a:cubicBezTo>
                  <a:cubicBezTo>
                    <a:pt x="312" y="1113"/>
                    <a:pt x="299" y="1118"/>
                    <a:pt x="301" y="1128"/>
                  </a:cubicBezTo>
                  <a:cubicBezTo>
                    <a:pt x="303" y="1138"/>
                    <a:pt x="323" y="1149"/>
                    <a:pt x="323" y="1149"/>
                  </a:cubicBezTo>
                  <a:cubicBezTo>
                    <a:pt x="323" y="1149"/>
                    <a:pt x="316" y="1174"/>
                    <a:pt x="323" y="1177"/>
                  </a:cubicBezTo>
                  <a:cubicBezTo>
                    <a:pt x="330" y="1180"/>
                    <a:pt x="341" y="1175"/>
                    <a:pt x="341" y="1175"/>
                  </a:cubicBezTo>
                  <a:cubicBezTo>
                    <a:pt x="341" y="1175"/>
                    <a:pt x="345" y="1190"/>
                    <a:pt x="356" y="1194"/>
                  </a:cubicBezTo>
                  <a:cubicBezTo>
                    <a:pt x="367" y="1198"/>
                    <a:pt x="377" y="1200"/>
                    <a:pt x="377" y="1200"/>
                  </a:cubicBezTo>
                  <a:cubicBezTo>
                    <a:pt x="392" y="1211"/>
                    <a:pt x="392" y="1211"/>
                    <a:pt x="392" y="1211"/>
                  </a:cubicBezTo>
                  <a:cubicBezTo>
                    <a:pt x="403" y="1210"/>
                    <a:pt x="403" y="1210"/>
                    <a:pt x="403" y="1210"/>
                  </a:cubicBezTo>
                  <a:cubicBezTo>
                    <a:pt x="403" y="1210"/>
                    <a:pt x="397" y="1218"/>
                    <a:pt x="403" y="1221"/>
                  </a:cubicBezTo>
                  <a:cubicBezTo>
                    <a:pt x="409" y="1224"/>
                    <a:pt x="420" y="1224"/>
                    <a:pt x="420" y="1224"/>
                  </a:cubicBezTo>
                  <a:cubicBezTo>
                    <a:pt x="447" y="1249"/>
                    <a:pt x="447" y="1249"/>
                    <a:pt x="447" y="1249"/>
                  </a:cubicBezTo>
                  <a:cubicBezTo>
                    <a:pt x="462" y="1236"/>
                    <a:pt x="462" y="1236"/>
                    <a:pt x="462" y="1236"/>
                  </a:cubicBezTo>
                  <a:cubicBezTo>
                    <a:pt x="462" y="1236"/>
                    <a:pt x="475" y="1219"/>
                    <a:pt x="489" y="1234"/>
                  </a:cubicBezTo>
                  <a:cubicBezTo>
                    <a:pt x="503" y="1249"/>
                    <a:pt x="521" y="1263"/>
                    <a:pt x="521" y="1263"/>
                  </a:cubicBezTo>
                  <a:cubicBezTo>
                    <a:pt x="552" y="1269"/>
                    <a:pt x="552" y="1269"/>
                    <a:pt x="552" y="1269"/>
                  </a:cubicBezTo>
                  <a:cubicBezTo>
                    <a:pt x="552" y="1269"/>
                    <a:pt x="567" y="1301"/>
                    <a:pt x="571" y="1302"/>
                  </a:cubicBezTo>
                  <a:cubicBezTo>
                    <a:pt x="575" y="1303"/>
                    <a:pt x="579" y="1278"/>
                    <a:pt x="590" y="1285"/>
                  </a:cubicBezTo>
                  <a:cubicBezTo>
                    <a:pt x="601" y="1292"/>
                    <a:pt x="596" y="1308"/>
                    <a:pt x="604" y="1314"/>
                  </a:cubicBezTo>
                  <a:cubicBezTo>
                    <a:pt x="612" y="1320"/>
                    <a:pt x="626" y="1332"/>
                    <a:pt x="626" y="1332"/>
                  </a:cubicBezTo>
                  <a:cubicBezTo>
                    <a:pt x="626" y="1332"/>
                    <a:pt x="641" y="1321"/>
                    <a:pt x="646" y="1328"/>
                  </a:cubicBezTo>
                  <a:cubicBezTo>
                    <a:pt x="651" y="1335"/>
                    <a:pt x="634" y="1338"/>
                    <a:pt x="650" y="1345"/>
                  </a:cubicBezTo>
                  <a:cubicBezTo>
                    <a:pt x="666" y="1352"/>
                    <a:pt x="678" y="1343"/>
                    <a:pt x="678" y="1343"/>
                  </a:cubicBezTo>
                  <a:cubicBezTo>
                    <a:pt x="678" y="1343"/>
                    <a:pt x="678" y="1361"/>
                    <a:pt x="687" y="1362"/>
                  </a:cubicBezTo>
                  <a:cubicBezTo>
                    <a:pt x="696" y="1363"/>
                    <a:pt x="698" y="1349"/>
                    <a:pt x="698" y="1349"/>
                  </a:cubicBezTo>
                  <a:cubicBezTo>
                    <a:pt x="698" y="1349"/>
                    <a:pt x="697" y="1363"/>
                    <a:pt x="707" y="1362"/>
                  </a:cubicBezTo>
                  <a:cubicBezTo>
                    <a:pt x="717" y="1361"/>
                    <a:pt x="719" y="1353"/>
                    <a:pt x="719" y="1353"/>
                  </a:cubicBezTo>
                  <a:cubicBezTo>
                    <a:pt x="719" y="1353"/>
                    <a:pt x="752" y="1373"/>
                    <a:pt x="766" y="1372"/>
                  </a:cubicBezTo>
                  <a:cubicBezTo>
                    <a:pt x="780" y="1371"/>
                    <a:pt x="806" y="1346"/>
                    <a:pt x="817" y="1355"/>
                  </a:cubicBezTo>
                  <a:cubicBezTo>
                    <a:pt x="828" y="1364"/>
                    <a:pt x="817" y="1392"/>
                    <a:pt x="822" y="1394"/>
                  </a:cubicBezTo>
                  <a:cubicBezTo>
                    <a:pt x="827" y="1396"/>
                    <a:pt x="832" y="1395"/>
                    <a:pt x="832" y="1395"/>
                  </a:cubicBezTo>
                  <a:cubicBezTo>
                    <a:pt x="832" y="1395"/>
                    <a:pt x="856" y="1339"/>
                    <a:pt x="870" y="1344"/>
                  </a:cubicBezTo>
                  <a:cubicBezTo>
                    <a:pt x="884" y="1349"/>
                    <a:pt x="894" y="1350"/>
                    <a:pt x="894" y="1350"/>
                  </a:cubicBezTo>
                  <a:cubicBezTo>
                    <a:pt x="894" y="1364"/>
                    <a:pt x="894" y="1364"/>
                    <a:pt x="894" y="1364"/>
                  </a:cubicBezTo>
                  <a:cubicBezTo>
                    <a:pt x="894" y="1364"/>
                    <a:pt x="930" y="1346"/>
                    <a:pt x="943" y="1357"/>
                  </a:cubicBezTo>
                  <a:cubicBezTo>
                    <a:pt x="956" y="1368"/>
                    <a:pt x="956" y="1378"/>
                    <a:pt x="956" y="1378"/>
                  </a:cubicBezTo>
                  <a:cubicBezTo>
                    <a:pt x="956" y="1378"/>
                    <a:pt x="987" y="1380"/>
                    <a:pt x="995" y="1373"/>
                  </a:cubicBezTo>
                  <a:cubicBezTo>
                    <a:pt x="1003" y="1366"/>
                    <a:pt x="995" y="1350"/>
                    <a:pt x="995" y="1350"/>
                  </a:cubicBezTo>
                  <a:cubicBezTo>
                    <a:pt x="995" y="1350"/>
                    <a:pt x="1016" y="1348"/>
                    <a:pt x="1018" y="1343"/>
                  </a:cubicBezTo>
                  <a:cubicBezTo>
                    <a:pt x="1020" y="1338"/>
                    <a:pt x="1013" y="1322"/>
                    <a:pt x="1013" y="1322"/>
                  </a:cubicBezTo>
                  <a:cubicBezTo>
                    <a:pt x="1013" y="1322"/>
                    <a:pt x="1037" y="1326"/>
                    <a:pt x="1044" y="1318"/>
                  </a:cubicBezTo>
                  <a:cubicBezTo>
                    <a:pt x="1051" y="1310"/>
                    <a:pt x="1068" y="1291"/>
                    <a:pt x="1076" y="1291"/>
                  </a:cubicBezTo>
                  <a:cubicBezTo>
                    <a:pt x="1084" y="1291"/>
                    <a:pt x="1098" y="1305"/>
                    <a:pt x="1109" y="1305"/>
                  </a:cubicBezTo>
                  <a:cubicBezTo>
                    <a:pt x="1120" y="1305"/>
                    <a:pt x="1112" y="1274"/>
                    <a:pt x="1130" y="1283"/>
                  </a:cubicBezTo>
                  <a:cubicBezTo>
                    <a:pt x="1148" y="1292"/>
                    <a:pt x="1149" y="1297"/>
                    <a:pt x="1149" y="1297"/>
                  </a:cubicBezTo>
                  <a:cubicBezTo>
                    <a:pt x="1149" y="1297"/>
                    <a:pt x="1133" y="1305"/>
                    <a:pt x="1142" y="1307"/>
                  </a:cubicBezTo>
                  <a:cubicBezTo>
                    <a:pt x="1151" y="1309"/>
                    <a:pt x="1162" y="1308"/>
                    <a:pt x="1162" y="1308"/>
                  </a:cubicBezTo>
                  <a:cubicBezTo>
                    <a:pt x="1173" y="1328"/>
                    <a:pt x="1173" y="1328"/>
                    <a:pt x="1173" y="1328"/>
                  </a:cubicBezTo>
                  <a:cubicBezTo>
                    <a:pt x="1173" y="1328"/>
                    <a:pt x="1153" y="1337"/>
                    <a:pt x="1161" y="1339"/>
                  </a:cubicBezTo>
                  <a:cubicBezTo>
                    <a:pt x="1169" y="1341"/>
                    <a:pt x="1184" y="1341"/>
                    <a:pt x="1191" y="1341"/>
                  </a:cubicBezTo>
                  <a:cubicBezTo>
                    <a:pt x="1198" y="1341"/>
                    <a:pt x="1213" y="1345"/>
                    <a:pt x="1213" y="1345"/>
                  </a:cubicBezTo>
                  <a:cubicBezTo>
                    <a:pt x="1217" y="1332"/>
                    <a:pt x="1217" y="1332"/>
                    <a:pt x="1217" y="1332"/>
                  </a:cubicBezTo>
                  <a:cubicBezTo>
                    <a:pt x="1217" y="1332"/>
                    <a:pt x="1231" y="1339"/>
                    <a:pt x="1239" y="1347"/>
                  </a:cubicBezTo>
                  <a:cubicBezTo>
                    <a:pt x="1247" y="1355"/>
                    <a:pt x="1256" y="1382"/>
                    <a:pt x="1256" y="1382"/>
                  </a:cubicBezTo>
                  <a:cubicBezTo>
                    <a:pt x="1256" y="1382"/>
                    <a:pt x="1271" y="1380"/>
                    <a:pt x="1278" y="1382"/>
                  </a:cubicBezTo>
                  <a:cubicBezTo>
                    <a:pt x="1285" y="1384"/>
                    <a:pt x="1283" y="1406"/>
                    <a:pt x="1283" y="1406"/>
                  </a:cubicBezTo>
                  <a:cubicBezTo>
                    <a:pt x="1291" y="1422"/>
                    <a:pt x="1291" y="1422"/>
                    <a:pt x="1291" y="1422"/>
                  </a:cubicBezTo>
                  <a:cubicBezTo>
                    <a:pt x="1298" y="1459"/>
                    <a:pt x="1298" y="1459"/>
                    <a:pt x="1298" y="1459"/>
                  </a:cubicBezTo>
                  <a:cubicBezTo>
                    <a:pt x="1298" y="1459"/>
                    <a:pt x="1288" y="1465"/>
                    <a:pt x="1281" y="1465"/>
                  </a:cubicBezTo>
                  <a:cubicBezTo>
                    <a:pt x="1274" y="1465"/>
                    <a:pt x="1290" y="1476"/>
                    <a:pt x="1290" y="1476"/>
                  </a:cubicBezTo>
                  <a:cubicBezTo>
                    <a:pt x="1290" y="1476"/>
                    <a:pt x="1289" y="1482"/>
                    <a:pt x="1286" y="1489"/>
                  </a:cubicBezTo>
                  <a:cubicBezTo>
                    <a:pt x="1283" y="1496"/>
                    <a:pt x="1271" y="1488"/>
                    <a:pt x="1271" y="1488"/>
                  </a:cubicBezTo>
                  <a:cubicBezTo>
                    <a:pt x="1271" y="1488"/>
                    <a:pt x="1272" y="1497"/>
                    <a:pt x="1271" y="1508"/>
                  </a:cubicBezTo>
                  <a:cubicBezTo>
                    <a:pt x="1270" y="1519"/>
                    <a:pt x="1259" y="1515"/>
                    <a:pt x="1259" y="1515"/>
                  </a:cubicBezTo>
                  <a:cubicBezTo>
                    <a:pt x="1261" y="1535"/>
                    <a:pt x="1261" y="1535"/>
                    <a:pt x="1261" y="1535"/>
                  </a:cubicBezTo>
                  <a:cubicBezTo>
                    <a:pt x="1254" y="1538"/>
                    <a:pt x="1254" y="1538"/>
                    <a:pt x="1254" y="1538"/>
                  </a:cubicBezTo>
                  <a:cubicBezTo>
                    <a:pt x="1254" y="1538"/>
                    <a:pt x="1255" y="1547"/>
                    <a:pt x="1260" y="1552"/>
                  </a:cubicBezTo>
                  <a:cubicBezTo>
                    <a:pt x="1265" y="1557"/>
                    <a:pt x="1270" y="1567"/>
                    <a:pt x="1270" y="1567"/>
                  </a:cubicBezTo>
                  <a:cubicBezTo>
                    <a:pt x="1264" y="1581"/>
                    <a:pt x="1264" y="1581"/>
                    <a:pt x="1264" y="1581"/>
                  </a:cubicBezTo>
                  <a:cubicBezTo>
                    <a:pt x="1264" y="1581"/>
                    <a:pt x="1280" y="1571"/>
                    <a:pt x="1288" y="1570"/>
                  </a:cubicBezTo>
                  <a:cubicBezTo>
                    <a:pt x="1296" y="1569"/>
                    <a:pt x="1325" y="1569"/>
                    <a:pt x="1325" y="1569"/>
                  </a:cubicBezTo>
                  <a:cubicBezTo>
                    <a:pt x="1308" y="1584"/>
                    <a:pt x="1308" y="1584"/>
                    <a:pt x="1308" y="1584"/>
                  </a:cubicBezTo>
                  <a:cubicBezTo>
                    <a:pt x="1324" y="1597"/>
                    <a:pt x="1324" y="1597"/>
                    <a:pt x="1324" y="1597"/>
                  </a:cubicBezTo>
                  <a:cubicBezTo>
                    <a:pt x="1329" y="1624"/>
                    <a:pt x="1329" y="1624"/>
                    <a:pt x="1329" y="1624"/>
                  </a:cubicBezTo>
                  <a:cubicBezTo>
                    <a:pt x="1329" y="1624"/>
                    <a:pt x="1357" y="1625"/>
                    <a:pt x="1364" y="1631"/>
                  </a:cubicBezTo>
                  <a:cubicBezTo>
                    <a:pt x="1371" y="1637"/>
                    <a:pt x="1348" y="1646"/>
                    <a:pt x="1348" y="1646"/>
                  </a:cubicBezTo>
                  <a:cubicBezTo>
                    <a:pt x="1348" y="1646"/>
                    <a:pt x="1357" y="1658"/>
                    <a:pt x="1354" y="1661"/>
                  </a:cubicBezTo>
                  <a:cubicBezTo>
                    <a:pt x="1351" y="1664"/>
                    <a:pt x="1345" y="1678"/>
                    <a:pt x="1345" y="1678"/>
                  </a:cubicBezTo>
                  <a:cubicBezTo>
                    <a:pt x="1384" y="1682"/>
                    <a:pt x="1384" y="1682"/>
                    <a:pt x="1384" y="1682"/>
                  </a:cubicBezTo>
                  <a:cubicBezTo>
                    <a:pt x="1389" y="1702"/>
                    <a:pt x="1389" y="1702"/>
                    <a:pt x="1389" y="1702"/>
                  </a:cubicBezTo>
                  <a:cubicBezTo>
                    <a:pt x="1400" y="1701"/>
                    <a:pt x="1400" y="1701"/>
                    <a:pt x="1400" y="1701"/>
                  </a:cubicBezTo>
                  <a:cubicBezTo>
                    <a:pt x="1400" y="1701"/>
                    <a:pt x="1400" y="1713"/>
                    <a:pt x="1403" y="1713"/>
                  </a:cubicBezTo>
                  <a:cubicBezTo>
                    <a:pt x="1406" y="1713"/>
                    <a:pt x="1425" y="1712"/>
                    <a:pt x="1425" y="1712"/>
                  </a:cubicBezTo>
                  <a:cubicBezTo>
                    <a:pt x="1425" y="1712"/>
                    <a:pt x="1434" y="1694"/>
                    <a:pt x="1444" y="1695"/>
                  </a:cubicBezTo>
                  <a:cubicBezTo>
                    <a:pt x="1454" y="1696"/>
                    <a:pt x="1449" y="1714"/>
                    <a:pt x="1449" y="1714"/>
                  </a:cubicBezTo>
                  <a:cubicBezTo>
                    <a:pt x="1451" y="1727"/>
                    <a:pt x="1451" y="1727"/>
                    <a:pt x="1451" y="1727"/>
                  </a:cubicBezTo>
                  <a:cubicBezTo>
                    <a:pt x="1480" y="1729"/>
                    <a:pt x="1480" y="1729"/>
                    <a:pt x="1480" y="1729"/>
                  </a:cubicBezTo>
                  <a:cubicBezTo>
                    <a:pt x="1480" y="1704"/>
                    <a:pt x="1480" y="1704"/>
                    <a:pt x="1480" y="1704"/>
                  </a:cubicBezTo>
                  <a:cubicBezTo>
                    <a:pt x="1480" y="1704"/>
                    <a:pt x="1462" y="1692"/>
                    <a:pt x="1461" y="1679"/>
                  </a:cubicBezTo>
                  <a:cubicBezTo>
                    <a:pt x="1460" y="1666"/>
                    <a:pt x="1468" y="1657"/>
                    <a:pt x="1468" y="1657"/>
                  </a:cubicBezTo>
                  <a:cubicBezTo>
                    <a:pt x="1492" y="1659"/>
                    <a:pt x="1492" y="1659"/>
                    <a:pt x="1492" y="1659"/>
                  </a:cubicBezTo>
                  <a:cubicBezTo>
                    <a:pt x="1492" y="1653"/>
                    <a:pt x="1493" y="1646"/>
                    <a:pt x="1495" y="1642"/>
                  </a:cubicBezTo>
                  <a:cubicBezTo>
                    <a:pt x="1499" y="1634"/>
                    <a:pt x="1518" y="1657"/>
                    <a:pt x="1524" y="1657"/>
                  </a:cubicBezTo>
                  <a:cubicBezTo>
                    <a:pt x="1530" y="1657"/>
                    <a:pt x="1539" y="1641"/>
                    <a:pt x="1539" y="1641"/>
                  </a:cubicBezTo>
                  <a:cubicBezTo>
                    <a:pt x="1550" y="1653"/>
                    <a:pt x="1550" y="1653"/>
                    <a:pt x="1550" y="1653"/>
                  </a:cubicBezTo>
                  <a:cubicBezTo>
                    <a:pt x="1549" y="1640"/>
                    <a:pt x="1549" y="1640"/>
                    <a:pt x="1549" y="1640"/>
                  </a:cubicBezTo>
                  <a:cubicBezTo>
                    <a:pt x="1554" y="1639"/>
                    <a:pt x="1554" y="1639"/>
                    <a:pt x="1554" y="1639"/>
                  </a:cubicBezTo>
                  <a:cubicBezTo>
                    <a:pt x="1563" y="1652"/>
                    <a:pt x="1563" y="1652"/>
                    <a:pt x="1563" y="1652"/>
                  </a:cubicBezTo>
                  <a:cubicBezTo>
                    <a:pt x="1563" y="1652"/>
                    <a:pt x="1562" y="1657"/>
                    <a:pt x="1575" y="1656"/>
                  </a:cubicBezTo>
                  <a:cubicBezTo>
                    <a:pt x="1588" y="1655"/>
                    <a:pt x="1571" y="1639"/>
                    <a:pt x="1571" y="1639"/>
                  </a:cubicBezTo>
                  <a:cubicBezTo>
                    <a:pt x="1582" y="1639"/>
                    <a:pt x="1582" y="1639"/>
                    <a:pt x="1582" y="1639"/>
                  </a:cubicBezTo>
                  <a:cubicBezTo>
                    <a:pt x="1586" y="1646"/>
                    <a:pt x="1586" y="1646"/>
                    <a:pt x="1586" y="1646"/>
                  </a:cubicBezTo>
                  <a:cubicBezTo>
                    <a:pt x="1586" y="1646"/>
                    <a:pt x="1594" y="1642"/>
                    <a:pt x="1601" y="1640"/>
                  </a:cubicBezTo>
                  <a:cubicBezTo>
                    <a:pt x="1608" y="1638"/>
                    <a:pt x="1602" y="1624"/>
                    <a:pt x="1606" y="1619"/>
                  </a:cubicBezTo>
                  <a:cubicBezTo>
                    <a:pt x="1610" y="1614"/>
                    <a:pt x="1625" y="1610"/>
                    <a:pt x="1625" y="1610"/>
                  </a:cubicBezTo>
                  <a:cubicBezTo>
                    <a:pt x="1647" y="1632"/>
                    <a:pt x="1647" y="1632"/>
                    <a:pt x="1647" y="1632"/>
                  </a:cubicBezTo>
                  <a:cubicBezTo>
                    <a:pt x="1668" y="1627"/>
                    <a:pt x="1668" y="1627"/>
                    <a:pt x="1668" y="1627"/>
                  </a:cubicBezTo>
                  <a:cubicBezTo>
                    <a:pt x="1673" y="1635"/>
                    <a:pt x="1673" y="1635"/>
                    <a:pt x="1673" y="1635"/>
                  </a:cubicBezTo>
                  <a:cubicBezTo>
                    <a:pt x="1673" y="1635"/>
                    <a:pt x="1693" y="1634"/>
                    <a:pt x="1698" y="1642"/>
                  </a:cubicBezTo>
                  <a:cubicBezTo>
                    <a:pt x="1703" y="1650"/>
                    <a:pt x="1687" y="1657"/>
                    <a:pt x="1687" y="1657"/>
                  </a:cubicBezTo>
                  <a:cubicBezTo>
                    <a:pt x="1691" y="1667"/>
                    <a:pt x="1691" y="1667"/>
                    <a:pt x="1691" y="1667"/>
                  </a:cubicBezTo>
                  <a:cubicBezTo>
                    <a:pt x="1698" y="1671"/>
                    <a:pt x="1698" y="1671"/>
                    <a:pt x="1698" y="1671"/>
                  </a:cubicBezTo>
                  <a:cubicBezTo>
                    <a:pt x="1698" y="1684"/>
                    <a:pt x="1698" y="1684"/>
                    <a:pt x="1698" y="1684"/>
                  </a:cubicBezTo>
                  <a:cubicBezTo>
                    <a:pt x="1709" y="1685"/>
                    <a:pt x="1709" y="1685"/>
                    <a:pt x="1709" y="1685"/>
                  </a:cubicBezTo>
                  <a:cubicBezTo>
                    <a:pt x="1709" y="1685"/>
                    <a:pt x="1713" y="1690"/>
                    <a:pt x="1720" y="1697"/>
                  </a:cubicBezTo>
                  <a:cubicBezTo>
                    <a:pt x="1727" y="1704"/>
                    <a:pt x="1740" y="1701"/>
                    <a:pt x="1748" y="1702"/>
                  </a:cubicBezTo>
                  <a:cubicBezTo>
                    <a:pt x="1752" y="1702"/>
                    <a:pt x="1755" y="1704"/>
                    <a:pt x="1757" y="1705"/>
                  </a:cubicBezTo>
                  <a:cubicBezTo>
                    <a:pt x="1786" y="1686"/>
                    <a:pt x="1786" y="1686"/>
                    <a:pt x="1786" y="1686"/>
                  </a:cubicBezTo>
                  <a:cubicBezTo>
                    <a:pt x="1798" y="1694"/>
                    <a:pt x="1798" y="1694"/>
                    <a:pt x="1798" y="1694"/>
                  </a:cubicBezTo>
                  <a:cubicBezTo>
                    <a:pt x="1798" y="1694"/>
                    <a:pt x="1843" y="1694"/>
                    <a:pt x="1849" y="1705"/>
                  </a:cubicBezTo>
                  <a:cubicBezTo>
                    <a:pt x="1854" y="1717"/>
                    <a:pt x="1839" y="1739"/>
                    <a:pt x="1846" y="1750"/>
                  </a:cubicBezTo>
                  <a:cubicBezTo>
                    <a:pt x="1854" y="1761"/>
                    <a:pt x="1875" y="1776"/>
                    <a:pt x="1875" y="1776"/>
                  </a:cubicBezTo>
                  <a:cubicBezTo>
                    <a:pt x="1889" y="1774"/>
                    <a:pt x="1889" y="1774"/>
                    <a:pt x="1889" y="1774"/>
                  </a:cubicBezTo>
                  <a:cubicBezTo>
                    <a:pt x="1889" y="1762"/>
                    <a:pt x="1889" y="1762"/>
                    <a:pt x="1889" y="1762"/>
                  </a:cubicBezTo>
                  <a:cubicBezTo>
                    <a:pt x="1889" y="1762"/>
                    <a:pt x="1880" y="1730"/>
                    <a:pt x="1892" y="1713"/>
                  </a:cubicBezTo>
                  <a:cubicBezTo>
                    <a:pt x="1904" y="1697"/>
                    <a:pt x="1931" y="1699"/>
                    <a:pt x="1945" y="1696"/>
                  </a:cubicBezTo>
                  <a:cubicBezTo>
                    <a:pt x="1958" y="1693"/>
                    <a:pt x="2001" y="1684"/>
                    <a:pt x="2001" y="1674"/>
                  </a:cubicBezTo>
                  <a:cubicBezTo>
                    <a:pt x="2002" y="1664"/>
                    <a:pt x="2002" y="1634"/>
                    <a:pt x="2011" y="1632"/>
                  </a:cubicBezTo>
                  <a:cubicBezTo>
                    <a:pt x="2020" y="1630"/>
                    <a:pt x="2027" y="1664"/>
                    <a:pt x="2036" y="1660"/>
                  </a:cubicBezTo>
                  <a:cubicBezTo>
                    <a:pt x="2046" y="1657"/>
                    <a:pt x="2066" y="1626"/>
                    <a:pt x="2066" y="1626"/>
                  </a:cubicBezTo>
                  <a:cubicBezTo>
                    <a:pt x="2077" y="1636"/>
                    <a:pt x="2077" y="1636"/>
                    <a:pt x="2077" y="1636"/>
                  </a:cubicBezTo>
                  <a:cubicBezTo>
                    <a:pt x="2099" y="1629"/>
                    <a:pt x="2099" y="1629"/>
                    <a:pt x="2099" y="1629"/>
                  </a:cubicBezTo>
                  <a:cubicBezTo>
                    <a:pt x="2099" y="1629"/>
                    <a:pt x="2124" y="1636"/>
                    <a:pt x="2136" y="1629"/>
                  </a:cubicBezTo>
                  <a:cubicBezTo>
                    <a:pt x="2149" y="1622"/>
                    <a:pt x="2154" y="1619"/>
                    <a:pt x="2161" y="1614"/>
                  </a:cubicBezTo>
                  <a:cubicBezTo>
                    <a:pt x="2167" y="1609"/>
                    <a:pt x="2196" y="1584"/>
                    <a:pt x="2201" y="1574"/>
                  </a:cubicBezTo>
                  <a:cubicBezTo>
                    <a:pt x="2205" y="1564"/>
                    <a:pt x="2192" y="1544"/>
                    <a:pt x="2192" y="1544"/>
                  </a:cubicBezTo>
                  <a:cubicBezTo>
                    <a:pt x="2205" y="1544"/>
                    <a:pt x="2205" y="1544"/>
                    <a:pt x="2205" y="1544"/>
                  </a:cubicBezTo>
                  <a:cubicBezTo>
                    <a:pt x="2211" y="1524"/>
                    <a:pt x="2211" y="1524"/>
                    <a:pt x="2211" y="1524"/>
                  </a:cubicBezTo>
                  <a:cubicBezTo>
                    <a:pt x="2226" y="1525"/>
                    <a:pt x="2226" y="1525"/>
                    <a:pt x="2226" y="1525"/>
                  </a:cubicBezTo>
                  <a:cubicBezTo>
                    <a:pt x="2233" y="1500"/>
                    <a:pt x="2233" y="1500"/>
                    <a:pt x="2233" y="1500"/>
                  </a:cubicBezTo>
                  <a:cubicBezTo>
                    <a:pt x="2241" y="1500"/>
                    <a:pt x="2241" y="1500"/>
                    <a:pt x="2241" y="1500"/>
                  </a:cubicBezTo>
                  <a:cubicBezTo>
                    <a:pt x="2245" y="1473"/>
                    <a:pt x="2245" y="1473"/>
                    <a:pt x="2245" y="1473"/>
                  </a:cubicBezTo>
                  <a:cubicBezTo>
                    <a:pt x="2245" y="1473"/>
                    <a:pt x="2259" y="1478"/>
                    <a:pt x="2259" y="1456"/>
                  </a:cubicBezTo>
                  <a:cubicBezTo>
                    <a:pt x="2259" y="1434"/>
                    <a:pt x="2246" y="1437"/>
                    <a:pt x="2251" y="1429"/>
                  </a:cubicBezTo>
                  <a:cubicBezTo>
                    <a:pt x="2255" y="1420"/>
                    <a:pt x="2274" y="1423"/>
                    <a:pt x="2274" y="1405"/>
                  </a:cubicBezTo>
                  <a:cubicBezTo>
                    <a:pt x="2275" y="1388"/>
                    <a:pt x="2263" y="1388"/>
                    <a:pt x="2264" y="1381"/>
                  </a:cubicBezTo>
                  <a:cubicBezTo>
                    <a:pt x="2264" y="1373"/>
                    <a:pt x="2275" y="1370"/>
                    <a:pt x="2275" y="1370"/>
                  </a:cubicBezTo>
                  <a:cubicBezTo>
                    <a:pt x="2276" y="1344"/>
                    <a:pt x="2276" y="1344"/>
                    <a:pt x="2276" y="1344"/>
                  </a:cubicBezTo>
                  <a:cubicBezTo>
                    <a:pt x="2276" y="1344"/>
                    <a:pt x="2303" y="1336"/>
                    <a:pt x="2310" y="1320"/>
                  </a:cubicBezTo>
                  <a:cubicBezTo>
                    <a:pt x="2317" y="1304"/>
                    <a:pt x="2300" y="1303"/>
                    <a:pt x="2300" y="1303"/>
                  </a:cubicBezTo>
                  <a:cubicBezTo>
                    <a:pt x="2300" y="1303"/>
                    <a:pt x="2332" y="1298"/>
                    <a:pt x="2332" y="1289"/>
                  </a:cubicBezTo>
                  <a:cubicBezTo>
                    <a:pt x="2333" y="1280"/>
                    <a:pt x="2314" y="1275"/>
                    <a:pt x="2314" y="1275"/>
                  </a:cubicBezTo>
                  <a:cubicBezTo>
                    <a:pt x="2314" y="1275"/>
                    <a:pt x="2352" y="1241"/>
                    <a:pt x="2335" y="1231"/>
                  </a:cubicBezTo>
                  <a:cubicBezTo>
                    <a:pt x="2318" y="1222"/>
                    <a:pt x="2238" y="1244"/>
                    <a:pt x="2238" y="1244"/>
                  </a:cubicBezTo>
                  <a:cubicBezTo>
                    <a:pt x="2228" y="1233"/>
                    <a:pt x="2228" y="1233"/>
                    <a:pt x="2228" y="1233"/>
                  </a:cubicBezTo>
                  <a:cubicBezTo>
                    <a:pt x="2253" y="1232"/>
                    <a:pt x="2253" y="1232"/>
                    <a:pt x="2253" y="1232"/>
                  </a:cubicBezTo>
                  <a:cubicBezTo>
                    <a:pt x="2253" y="1232"/>
                    <a:pt x="2253" y="1217"/>
                    <a:pt x="2263" y="1213"/>
                  </a:cubicBezTo>
                  <a:cubicBezTo>
                    <a:pt x="2273" y="1209"/>
                    <a:pt x="2292" y="1207"/>
                    <a:pt x="2292" y="1207"/>
                  </a:cubicBezTo>
                  <a:cubicBezTo>
                    <a:pt x="2292" y="1207"/>
                    <a:pt x="2279" y="1183"/>
                    <a:pt x="2275" y="1182"/>
                  </a:cubicBezTo>
                  <a:cubicBezTo>
                    <a:pt x="2271" y="1181"/>
                    <a:pt x="2248" y="1175"/>
                    <a:pt x="2248" y="1175"/>
                  </a:cubicBezTo>
                  <a:cubicBezTo>
                    <a:pt x="2240" y="1164"/>
                    <a:pt x="2240" y="1164"/>
                    <a:pt x="2240" y="1164"/>
                  </a:cubicBezTo>
                  <a:cubicBezTo>
                    <a:pt x="2231" y="1165"/>
                    <a:pt x="2231" y="1165"/>
                    <a:pt x="2231" y="1165"/>
                  </a:cubicBezTo>
                  <a:cubicBezTo>
                    <a:pt x="2231" y="1165"/>
                    <a:pt x="2222" y="1153"/>
                    <a:pt x="2215" y="1152"/>
                  </a:cubicBezTo>
                  <a:cubicBezTo>
                    <a:pt x="2208" y="1151"/>
                    <a:pt x="2190" y="1157"/>
                    <a:pt x="2190" y="1157"/>
                  </a:cubicBezTo>
                  <a:cubicBezTo>
                    <a:pt x="2167" y="1126"/>
                    <a:pt x="2167" y="1126"/>
                    <a:pt x="2167" y="1126"/>
                  </a:cubicBezTo>
                  <a:cubicBezTo>
                    <a:pt x="2167" y="1126"/>
                    <a:pt x="2188" y="1147"/>
                    <a:pt x="2194" y="1145"/>
                  </a:cubicBezTo>
                  <a:cubicBezTo>
                    <a:pt x="2200" y="1143"/>
                    <a:pt x="2207" y="1139"/>
                    <a:pt x="2207" y="1139"/>
                  </a:cubicBezTo>
                  <a:cubicBezTo>
                    <a:pt x="2226" y="1144"/>
                    <a:pt x="2226" y="1144"/>
                    <a:pt x="2226" y="1144"/>
                  </a:cubicBezTo>
                  <a:cubicBezTo>
                    <a:pt x="2236" y="1155"/>
                    <a:pt x="2236" y="1155"/>
                    <a:pt x="2236" y="1155"/>
                  </a:cubicBezTo>
                  <a:cubicBezTo>
                    <a:pt x="2245" y="1151"/>
                    <a:pt x="2245" y="1151"/>
                    <a:pt x="2245" y="1151"/>
                  </a:cubicBezTo>
                  <a:cubicBezTo>
                    <a:pt x="2276" y="1161"/>
                    <a:pt x="2276" y="1161"/>
                    <a:pt x="2276" y="1161"/>
                  </a:cubicBezTo>
                  <a:cubicBezTo>
                    <a:pt x="2263" y="1144"/>
                    <a:pt x="2263" y="1144"/>
                    <a:pt x="2263" y="1144"/>
                  </a:cubicBezTo>
                  <a:cubicBezTo>
                    <a:pt x="2252" y="1142"/>
                    <a:pt x="2252" y="1142"/>
                    <a:pt x="2252" y="1142"/>
                  </a:cubicBezTo>
                  <a:cubicBezTo>
                    <a:pt x="2252" y="1142"/>
                    <a:pt x="2251" y="1120"/>
                    <a:pt x="2243" y="1119"/>
                  </a:cubicBezTo>
                  <a:cubicBezTo>
                    <a:pt x="2235" y="1118"/>
                    <a:pt x="2223" y="1115"/>
                    <a:pt x="2218" y="1111"/>
                  </a:cubicBezTo>
                  <a:cubicBezTo>
                    <a:pt x="2213" y="1107"/>
                    <a:pt x="2211" y="1088"/>
                    <a:pt x="2211" y="1088"/>
                  </a:cubicBezTo>
                  <a:cubicBezTo>
                    <a:pt x="2157" y="1022"/>
                    <a:pt x="2157" y="1022"/>
                    <a:pt x="2157" y="1022"/>
                  </a:cubicBezTo>
                  <a:cubicBezTo>
                    <a:pt x="2135" y="1016"/>
                    <a:pt x="2135" y="1016"/>
                    <a:pt x="2135" y="1016"/>
                  </a:cubicBezTo>
                  <a:cubicBezTo>
                    <a:pt x="2112" y="998"/>
                    <a:pt x="2112" y="998"/>
                    <a:pt x="2112" y="998"/>
                  </a:cubicBezTo>
                  <a:cubicBezTo>
                    <a:pt x="2097" y="1000"/>
                    <a:pt x="2097" y="1000"/>
                    <a:pt x="2097" y="1000"/>
                  </a:cubicBezTo>
                  <a:cubicBezTo>
                    <a:pt x="2097" y="1000"/>
                    <a:pt x="2084" y="975"/>
                    <a:pt x="2090" y="971"/>
                  </a:cubicBezTo>
                  <a:cubicBezTo>
                    <a:pt x="2096" y="967"/>
                    <a:pt x="2114" y="955"/>
                    <a:pt x="2114" y="946"/>
                  </a:cubicBezTo>
                  <a:cubicBezTo>
                    <a:pt x="2114" y="937"/>
                    <a:pt x="2107" y="919"/>
                    <a:pt x="2107" y="919"/>
                  </a:cubicBezTo>
                  <a:cubicBezTo>
                    <a:pt x="2107" y="919"/>
                    <a:pt x="2124" y="936"/>
                    <a:pt x="2132" y="930"/>
                  </a:cubicBezTo>
                  <a:cubicBezTo>
                    <a:pt x="2140" y="924"/>
                    <a:pt x="2131" y="897"/>
                    <a:pt x="2131" y="897"/>
                  </a:cubicBezTo>
                  <a:cubicBezTo>
                    <a:pt x="2146" y="898"/>
                    <a:pt x="2146" y="898"/>
                    <a:pt x="2146" y="898"/>
                  </a:cubicBezTo>
                  <a:cubicBezTo>
                    <a:pt x="2171" y="879"/>
                    <a:pt x="2171" y="879"/>
                    <a:pt x="2171" y="879"/>
                  </a:cubicBezTo>
                  <a:cubicBezTo>
                    <a:pt x="2171" y="879"/>
                    <a:pt x="2191" y="885"/>
                    <a:pt x="2196" y="884"/>
                  </a:cubicBezTo>
                  <a:cubicBezTo>
                    <a:pt x="2201" y="883"/>
                    <a:pt x="2192" y="869"/>
                    <a:pt x="2192" y="869"/>
                  </a:cubicBezTo>
                  <a:cubicBezTo>
                    <a:pt x="2196" y="853"/>
                    <a:pt x="2196" y="853"/>
                    <a:pt x="2196" y="853"/>
                  </a:cubicBezTo>
                  <a:cubicBezTo>
                    <a:pt x="2174" y="853"/>
                    <a:pt x="2174" y="853"/>
                    <a:pt x="2174" y="853"/>
                  </a:cubicBezTo>
                  <a:cubicBezTo>
                    <a:pt x="2166" y="846"/>
                    <a:pt x="2166" y="846"/>
                    <a:pt x="2166" y="846"/>
                  </a:cubicBezTo>
                  <a:cubicBezTo>
                    <a:pt x="2161" y="854"/>
                    <a:pt x="2161" y="854"/>
                    <a:pt x="2161" y="854"/>
                  </a:cubicBezTo>
                  <a:cubicBezTo>
                    <a:pt x="2140" y="851"/>
                    <a:pt x="2140" y="851"/>
                    <a:pt x="2140" y="851"/>
                  </a:cubicBezTo>
                  <a:cubicBezTo>
                    <a:pt x="2140" y="851"/>
                    <a:pt x="2124" y="833"/>
                    <a:pt x="2111" y="833"/>
                  </a:cubicBezTo>
                  <a:cubicBezTo>
                    <a:pt x="2098" y="833"/>
                    <a:pt x="2080" y="856"/>
                    <a:pt x="2079" y="861"/>
                  </a:cubicBezTo>
                  <a:cubicBezTo>
                    <a:pt x="2078" y="866"/>
                    <a:pt x="2074" y="875"/>
                    <a:pt x="2064" y="873"/>
                  </a:cubicBezTo>
                  <a:cubicBezTo>
                    <a:pt x="2054" y="871"/>
                    <a:pt x="2032" y="865"/>
                    <a:pt x="2030" y="851"/>
                  </a:cubicBezTo>
                  <a:cubicBezTo>
                    <a:pt x="2028" y="837"/>
                    <a:pt x="2020" y="820"/>
                    <a:pt x="2014" y="816"/>
                  </a:cubicBezTo>
                  <a:cubicBezTo>
                    <a:pt x="2008" y="812"/>
                    <a:pt x="2004" y="819"/>
                    <a:pt x="2004" y="819"/>
                  </a:cubicBezTo>
                  <a:cubicBezTo>
                    <a:pt x="2004" y="828"/>
                    <a:pt x="2004" y="828"/>
                    <a:pt x="2004" y="828"/>
                  </a:cubicBezTo>
                  <a:cubicBezTo>
                    <a:pt x="1996" y="816"/>
                    <a:pt x="1996" y="816"/>
                    <a:pt x="1996" y="816"/>
                  </a:cubicBezTo>
                  <a:cubicBezTo>
                    <a:pt x="1996" y="816"/>
                    <a:pt x="1968" y="819"/>
                    <a:pt x="1959" y="810"/>
                  </a:cubicBezTo>
                  <a:cubicBezTo>
                    <a:pt x="1950" y="801"/>
                    <a:pt x="1939" y="782"/>
                    <a:pt x="1942" y="776"/>
                  </a:cubicBezTo>
                  <a:cubicBezTo>
                    <a:pt x="1945" y="770"/>
                    <a:pt x="1944" y="760"/>
                    <a:pt x="1944" y="760"/>
                  </a:cubicBezTo>
                  <a:cubicBezTo>
                    <a:pt x="1955" y="759"/>
                    <a:pt x="1955" y="759"/>
                    <a:pt x="1955" y="759"/>
                  </a:cubicBezTo>
                  <a:cubicBezTo>
                    <a:pt x="1955" y="759"/>
                    <a:pt x="1961" y="768"/>
                    <a:pt x="1965" y="767"/>
                  </a:cubicBezTo>
                  <a:cubicBezTo>
                    <a:pt x="1969" y="766"/>
                    <a:pt x="1975" y="758"/>
                    <a:pt x="1975" y="758"/>
                  </a:cubicBezTo>
                  <a:cubicBezTo>
                    <a:pt x="1975" y="758"/>
                    <a:pt x="1988" y="766"/>
                    <a:pt x="1997" y="758"/>
                  </a:cubicBezTo>
                  <a:cubicBezTo>
                    <a:pt x="2006" y="750"/>
                    <a:pt x="1998" y="742"/>
                    <a:pt x="1998" y="742"/>
                  </a:cubicBezTo>
                  <a:cubicBezTo>
                    <a:pt x="1998" y="742"/>
                    <a:pt x="1997" y="718"/>
                    <a:pt x="2003" y="714"/>
                  </a:cubicBezTo>
                  <a:cubicBezTo>
                    <a:pt x="2009" y="710"/>
                    <a:pt x="2028" y="718"/>
                    <a:pt x="2032" y="707"/>
                  </a:cubicBezTo>
                  <a:cubicBezTo>
                    <a:pt x="2036" y="696"/>
                    <a:pt x="2037" y="683"/>
                    <a:pt x="2037" y="683"/>
                  </a:cubicBezTo>
                  <a:cubicBezTo>
                    <a:pt x="2049" y="676"/>
                    <a:pt x="2049" y="676"/>
                    <a:pt x="2049" y="676"/>
                  </a:cubicBezTo>
                  <a:cubicBezTo>
                    <a:pt x="2043" y="668"/>
                    <a:pt x="2043" y="668"/>
                    <a:pt x="2043" y="668"/>
                  </a:cubicBezTo>
                  <a:cubicBezTo>
                    <a:pt x="2068" y="675"/>
                    <a:pt x="2068" y="675"/>
                    <a:pt x="2068" y="675"/>
                  </a:cubicBezTo>
                  <a:cubicBezTo>
                    <a:pt x="2079" y="665"/>
                    <a:pt x="2079" y="665"/>
                    <a:pt x="2079" y="665"/>
                  </a:cubicBezTo>
                  <a:cubicBezTo>
                    <a:pt x="2079" y="665"/>
                    <a:pt x="2110" y="688"/>
                    <a:pt x="2108" y="702"/>
                  </a:cubicBezTo>
                  <a:cubicBezTo>
                    <a:pt x="2106" y="716"/>
                    <a:pt x="2088" y="719"/>
                    <a:pt x="2087" y="728"/>
                  </a:cubicBezTo>
                  <a:cubicBezTo>
                    <a:pt x="2086" y="737"/>
                    <a:pt x="2091" y="752"/>
                    <a:pt x="2098" y="752"/>
                  </a:cubicBezTo>
                  <a:cubicBezTo>
                    <a:pt x="2105" y="752"/>
                    <a:pt x="2114" y="749"/>
                    <a:pt x="2114" y="749"/>
                  </a:cubicBezTo>
                  <a:cubicBezTo>
                    <a:pt x="2109" y="767"/>
                    <a:pt x="2109" y="767"/>
                    <a:pt x="2109" y="767"/>
                  </a:cubicBezTo>
                  <a:cubicBezTo>
                    <a:pt x="2109" y="767"/>
                    <a:pt x="2090" y="784"/>
                    <a:pt x="2099" y="786"/>
                  </a:cubicBezTo>
                  <a:cubicBezTo>
                    <a:pt x="2108" y="788"/>
                    <a:pt x="2122" y="774"/>
                    <a:pt x="2122" y="774"/>
                  </a:cubicBezTo>
                  <a:cubicBezTo>
                    <a:pt x="2122" y="774"/>
                    <a:pt x="2126" y="775"/>
                    <a:pt x="2131" y="770"/>
                  </a:cubicBezTo>
                  <a:cubicBezTo>
                    <a:pt x="2136" y="765"/>
                    <a:pt x="2135" y="750"/>
                    <a:pt x="2135" y="750"/>
                  </a:cubicBezTo>
                  <a:cubicBezTo>
                    <a:pt x="2135" y="750"/>
                    <a:pt x="2176" y="729"/>
                    <a:pt x="2180" y="726"/>
                  </a:cubicBezTo>
                  <a:cubicBezTo>
                    <a:pt x="2184" y="723"/>
                    <a:pt x="2205" y="725"/>
                    <a:pt x="2205" y="725"/>
                  </a:cubicBezTo>
                  <a:cubicBezTo>
                    <a:pt x="2212" y="714"/>
                    <a:pt x="2212" y="714"/>
                    <a:pt x="2212" y="714"/>
                  </a:cubicBezTo>
                  <a:cubicBezTo>
                    <a:pt x="2210" y="712"/>
                    <a:pt x="2208" y="706"/>
                    <a:pt x="2218" y="698"/>
                  </a:cubicBezTo>
                  <a:cubicBezTo>
                    <a:pt x="2230" y="688"/>
                    <a:pt x="2237" y="687"/>
                    <a:pt x="2252" y="675"/>
                  </a:cubicBezTo>
                  <a:cubicBezTo>
                    <a:pt x="2267" y="663"/>
                    <a:pt x="2262" y="625"/>
                    <a:pt x="2266" y="623"/>
                  </a:cubicBezTo>
                  <a:cubicBezTo>
                    <a:pt x="2270" y="621"/>
                    <a:pt x="2285" y="632"/>
                    <a:pt x="2292" y="637"/>
                  </a:cubicBezTo>
                  <a:cubicBezTo>
                    <a:pt x="2299" y="642"/>
                    <a:pt x="2339" y="641"/>
                    <a:pt x="2339" y="641"/>
                  </a:cubicBezTo>
                  <a:cubicBezTo>
                    <a:pt x="2340" y="631"/>
                    <a:pt x="2340" y="631"/>
                    <a:pt x="2340" y="631"/>
                  </a:cubicBezTo>
                  <a:cubicBezTo>
                    <a:pt x="2340" y="631"/>
                    <a:pt x="2312" y="618"/>
                    <a:pt x="2318" y="610"/>
                  </a:cubicBezTo>
                  <a:cubicBezTo>
                    <a:pt x="2324" y="602"/>
                    <a:pt x="2348" y="618"/>
                    <a:pt x="2358" y="609"/>
                  </a:cubicBezTo>
                  <a:cubicBezTo>
                    <a:pt x="2368" y="600"/>
                    <a:pt x="2358" y="588"/>
                    <a:pt x="2358" y="588"/>
                  </a:cubicBezTo>
                  <a:cubicBezTo>
                    <a:pt x="2358" y="588"/>
                    <a:pt x="2374" y="592"/>
                    <a:pt x="2376" y="587"/>
                  </a:cubicBezTo>
                  <a:cubicBezTo>
                    <a:pt x="2378" y="582"/>
                    <a:pt x="2365" y="560"/>
                    <a:pt x="2365" y="560"/>
                  </a:cubicBezTo>
                  <a:cubicBezTo>
                    <a:pt x="2387" y="560"/>
                    <a:pt x="2387" y="560"/>
                    <a:pt x="2387" y="560"/>
                  </a:cubicBezTo>
                  <a:cubicBezTo>
                    <a:pt x="2397" y="577"/>
                    <a:pt x="2397" y="577"/>
                    <a:pt x="2397" y="577"/>
                  </a:cubicBezTo>
                  <a:cubicBezTo>
                    <a:pt x="2404" y="559"/>
                    <a:pt x="2404" y="559"/>
                    <a:pt x="2404" y="559"/>
                  </a:cubicBezTo>
                  <a:cubicBezTo>
                    <a:pt x="2421" y="563"/>
                    <a:pt x="2421" y="563"/>
                    <a:pt x="2421" y="563"/>
                  </a:cubicBezTo>
                  <a:cubicBezTo>
                    <a:pt x="2420" y="540"/>
                    <a:pt x="2420" y="540"/>
                    <a:pt x="2420" y="540"/>
                  </a:cubicBezTo>
                  <a:cubicBezTo>
                    <a:pt x="2420" y="540"/>
                    <a:pt x="2409" y="529"/>
                    <a:pt x="2407" y="523"/>
                  </a:cubicBezTo>
                  <a:cubicBezTo>
                    <a:pt x="2405" y="517"/>
                    <a:pt x="2401" y="498"/>
                    <a:pt x="2387" y="485"/>
                  </a:cubicBezTo>
                  <a:cubicBezTo>
                    <a:pt x="2373" y="472"/>
                    <a:pt x="2358" y="471"/>
                    <a:pt x="2361" y="461"/>
                  </a:cubicBezTo>
                  <a:cubicBezTo>
                    <a:pt x="2364" y="451"/>
                    <a:pt x="2377" y="460"/>
                    <a:pt x="2379" y="455"/>
                  </a:cubicBezTo>
                  <a:cubicBezTo>
                    <a:pt x="2381" y="450"/>
                    <a:pt x="2369" y="444"/>
                    <a:pt x="2380" y="439"/>
                  </a:cubicBezTo>
                  <a:cubicBezTo>
                    <a:pt x="2391" y="434"/>
                    <a:pt x="2427" y="457"/>
                    <a:pt x="2434" y="451"/>
                  </a:cubicBezTo>
                  <a:cubicBezTo>
                    <a:pt x="2441" y="445"/>
                    <a:pt x="2439" y="444"/>
                    <a:pt x="2434" y="432"/>
                  </a:cubicBezTo>
                  <a:cubicBezTo>
                    <a:pt x="2429" y="420"/>
                    <a:pt x="2441" y="416"/>
                    <a:pt x="2441" y="416"/>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433" name="Freeform 224">
              <a:extLst>
                <a:ext uri="{FF2B5EF4-FFF2-40B4-BE49-F238E27FC236}">
                  <a16:creationId xmlns:a16="http://schemas.microsoft.com/office/drawing/2014/main" id="{878158C5-119F-455A-A230-3971E64FCF1D}"/>
                </a:ext>
              </a:extLst>
            </p:cNvPr>
            <p:cNvSpPr>
              <a:spLocks/>
            </p:cNvSpPr>
            <p:nvPr/>
          </p:nvSpPr>
          <p:spPr bwMode="gray">
            <a:xfrm>
              <a:off x="5197010" y="1434002"/>
              <a:ext cx="22972" cy="21177"/>
            </a:xfrm>
            <a:custGeom>
              <a:avLst/>
              <a:gdLst>
                <a:gd name="T0" fmla="*/ 23 w 34"/>
                <a:gd name="T1" fmla="*/ 33 h 33"/>
                <a:gd name="T2" fmla="*/ 8 w 34"/>
                <a:gd name="T3" fmla="*/ 14 h 33"/>
                <a:gd name="T4" fmla="*/ 23 w 34"/>
                <a:gd name="T5" fmla="*/ 33 h 33"/>
              </a:gdLst>
              <a:ahLst/>
              <a:cxnLst>
                <a:cxn ang="0">
                  <a:pos x="T0" y="T1"/>
                </a:cxn>
                <a:cxn ang="0">
                  <a:pos x="T2" y="T3"/>
                </a:cxn>
                <a:cxn ang="0">
                  <a:pos x="T4" y="T5"/>
                </a:cxn>
              </a:cxnLst>
              <a:rect l="0" t="0" r="r" b="b"/>
              <a:pathLst>
                <a:path w="34" h="33">
                  <a:moveTo>
                    <a:pt x="23" y="33"/>
                  </a:moveTo>
                  <a:cubicBezTo>
                    <a:pt x="34" y="20"/>
                    <a:pt x="16" y="0"/>
                    <a:pt x="8" y="14"/>
                  </a:cubicBezTo>
                  <a:cubicBezTo>
                    <a:pt x="0" y="28"/>
                    <a:pt x="23" y="33"/>
                    <a:pt x="23" y="33"/>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434" name="Freeform 225">
              <a:extLst>
                <a:ext uri="{FF2B5EF4-FFF2-40B4-BE49-F238E27FC236}">
                  <a16:creationId xmlns:a16="http://schemas.microsoft.com/office/drawing/2014/main" id="{2818A7CD-A256-4EE5-A640-B90DE08D7383}"/>
                </a:ext>
              </a:extLst>
            </p:cNvPr>
            <p:cNvSpPr>
              <a:spLocks/>
            </p:cNvSpPr>
            <p:nvPr/>
          </p:nvSpPr>
          <p:spPr bwMode="gray">
            <a:xfrm>
              <a:off x="5750347" y="1460879"/>
              <a:ext cx="66618" cy="38552"/>
            </a:xfrm>
            <a:custGeom>
              <a:avLst/>
              <a:gdLst>
                <a:gd name="T0" fmla="*/ 1 w 98"/>
                <a:gd name="T1" fmla="*/ 31 h 60"/>
                <a:gd name="T2" fmla="*/ 36 w 98"/>
                <a:gd name="T3" fmla="*/ 57 h 60"/>
                <a:gd name="T4" fmla="*/ 61 w 98"/>
                <a:gd name="T5" fmla="*/ 38 h 60"/>
                <a:gd name="T6" fmla="*/ 80 w 98"/>
                <a:gd name="T7" fmla="*/ 39 h 60"/>
                <a:gd name="T8" fmla="*/ 77 w 98"/>
                <a:gd name="T9" fmla="*/ 24 h 60"/>
                <a:gd name="T10" fmla="*/ 98 w 98"/>
                <a:gd name="T11" fmla="*/ 0 h 60"/>
                <a:gd name="T12" fmla="*/ 71 w 98"/>
                <a:gd name="T13" fmla="*/ 17 h 60"/>
                <a:gd name="T14" fmla="*/ 38 w 98"/>
                <a:gd name="T15" fmla="*/ 15 h 60"/>
                <a:gd name="T16" fmla="*/ 32 w 98"/>
                <a:gd name="T17" fmla="*/ 26 h 60"/>
                <a:gd name="T18" fmla="*/ 1 w 98"/>
                <a:gd name="T19" fmla="*/ 31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8" h="60">
                  <a:moveTo>
                    <a:pt x="1" y="31"/>
                  </a:moveTo>
                  <a:cubicBezTo>
                    <a:pt x="2" y="45"/>
                    <a:pt x="29" y="60"/>
                    <a:pt x="36" y="57"/>
                  </a:cubicBezTo>
                  <a:cubicBezTo>
                    <a:pt x="43" y="54"/>
                    <a:pt x="61" y="38"/>
                    <a:pt x="61" y="38"/>
                  </a:cubicBezTo>
                  <a:cubicBezTo>
                    <a:pt x="61" y="38"/>
                    <a:pt x="77" y="45"/>
                    <a:pt x="80" y="39"/>
                  </a:cubicBezTo>
                  <a:cubicBezTo>
                    <a:pt x="84" y="33"/>
                    <a:pt x="77" y="24"/>
                    <a:pt x="77" y="24"/>
                  </a:cubicBezTo>
                  <a:cubicBezTo>
                    <a:pt x="98" y="0"/>
                    <a:pt x="98" y="0"/>
                    <a:pt x="98" y="0"/>
                  </a:cubicBezTo>
                  <a:cubicBezTo>
                    <a:pt x="71" y="17"/>
                    <a:pt x="71" y="17"/>
                    <a:pt x="71" y="17"/>
                  </a:cubicBezTo>
                  <a:cubicBezTo>
                    <a:pt x="71" y="17"/>
                    <a:pt x="47" y="13"/>
                    <a:pt x="38" y="15"/>
                  </a:cubicBezTo>
                  <a:cubicBezTo>
                    <a:pt x="29" y="17"/>
                    <a:pt x="32" y="26"/>
                    <a:pt x="32" y="26"/>
                  </a:cubicBezTo>
                  <a:cubicBezTo>
                    <a:pt x="32" y="26"/>
                    <a:pt x="0" y="20"/>
                    <a:pt x="1" y="31"/>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algn="r" defTabSz="877824" rtl="1"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435" name="Freeform 226">
              <a:extLst>
                <a:ext uri="{FF2B5EF4-FFF2-40B4-BE49-F238E27FC236}">
                  <a16:creationId xmlns:a16="http://schemas.microsoft.com/office/drawing/2014/main" id="{7410A63A-10DB-46FD-A6A8-A36DE4F55663}"/>
                </a:ext>
              </a:extLst>
            </p:cNvPr>
            <p:cNvSpPr>
              <a:spLocks/>
            </p:cNvSpPr>
            <p:nvPr/>
          </p:nvSpPr>
          <p:spPr bwMode="gray">
            <a:xfrm>
              <a:off x="4241088" y="444968"/>
              <a:ext cx="268772" cy="97464"/>
            </a:xfrm>
            <a:custGeom>
              <a:avLst/>
              <a:gdLst>
                <a:gd name="T0" fmla="*/ 207 w 396"/>
                <a:gd name="T1" fmla="*/ 144 h 152"/>
                <a:gd name="T2" fmla="*/ 238 w 396"/>
                <a:gd name="T3" fmla="*/ 136 h 152"/>
                <a:gd name="T4" fmla="*/ 262 w 396"/>
                <a:gd name="T5" fmla="*/ 130 h 152"/>
                <a:gd name="T6" fmla="*/ 339 w 396"/>
                <a:gd name="T7" fmla="*/ 105 h 152"/>
                <a:gd name="T8" fmla="*/ 363 w 396"/>
                <a:gd name="T9" fmla="*/ 83 h 152"/>
                <a:gd name="T10" fmla="*/ 373 w 396"/>
                <a:gd name="T11" fmla="*/ 68 h 152"/>
                <a:gd name="T12" fmla="*/ 356 w 396"/>
                <a:gd name="T13" fmla="*/ 50 h 152"/>
                <a:gd name="T14" fmla="*/ 341 w 396"/>
                <a:gd name="T15" fmla="*/ 41 h 152"/>
                <a:gd name="T16" fmla="*/ 342 w 396"/>
                <a:gd name="T17" fmla="*/ 24 h 152"/>
                <a:gd name="T18" fmla="*/ 325 w 396"/>
                <a:gd name="T19" fmla="*/ 17 h 152"/>
                <a:gd name="T20" fmla="*/ 294 w 396"/>
                <a:gd name="T21" fmla="*/ 16 h 152"/>
                <a:gd name="T22" fmla="*/ 262 w 396"/>
                <a:gd name="T23" fmla="*/ 19 h 152"/>
                <a:gd name="T24" fmla="*/ 227 w 396"/>
                <a:gd name="T25" fmla="*/ 19 h 152"/>
                <a:gd name="T26" fmla="*/ 201 w 396"/>
                <a:gd name="T27" fmla="*/ 16 h 152"/>
                <a:gd name="T28" fmla="*/ 182 w 396"/>
                <a:gd name="T29" fmla="*/ 26 h 152"/>
                <a:gd name="T30" fmla="*/ 171 w 396"/>
                <a:gd name="T31" fmla="*/ 39 h 152"/>
                <a:gd name="T32" fmla="*/ 145 w 396"/>
                <a:gd name="T33" fmla="*/ 50 h 152"/>
                <a:gd name="T34" fmla="*/ 112 w 396"/>
                <a:gd name="T35" fmla="*/ 63 h 152"/>
                <a:gd name="T36" fmla="*/ 102 w 396"/>
                <a:gd name="T37" fmla="*/ 40 h 152"/>
                <a:gd name="T38" fmla="*/ 68 w 396"/>
                <a:gd name="T39" fmla="*/ 7 h 152"/>
                <a:gd name="T40" fmla="*/ 43 w 396"/>
                <a:gd name="T41" fmla="*/ 19 h 152"/>
                <a:gd name="T42" fmla="*/ 35 w 396"/>
                <a:gd name="T43" fmla="*/ 37 h 152"/>
                <a:gd name="T44" fmla="*/ 4 w 396"/>
                <a:gd name="T45" fmla="*/ 47 h 152"/>
                <a:gd name="T46" fmla="*/ 55 w 396"/>
                <a:gd name="T47" fmla="*/ 43 h 152"/>
                <a:gd name="T48" fmla="*/ 64 w 396"/>
                <a:gd name="T49" fmla="*/ 61 h 152"/>
                <a:gd name="T50" fmla="*/ 35 w 396"/>
                <a:gd name="T51" fmla="*/ 73 h 152"/>
                <a:gd name="T52" fmla="*/ 38 w 396"/>
                <a:gd name="T53" fmla="*/ 82 h 152"/>
                <a:gd name="T54" fmla="*/ 88 w 396"/>
                <a:gd name="T55" fmla="*/ 91 h 152"/>
                <a:gd name="T56" fmla="*/ 85 w 396"/>
                <a:gd name="T57" fmla="*/ 105 h 152"/>
                <a:gd name="T58" fmla="*/ 41 w 396"/>
                <a:gd name="T59" fmla="*/ 125 h 152"/>
                <a:gd name="T60" fmla="*/ 98 w 396"/>
                <a:gd name="T61" fmla="*/ 123 h 152"/>
                <a:gd name="T62" fmla="*/ 124 w 396"/>
                <a:gd name="T63" fmla="*/ 127 h 152"/>
                <a:gd name="T64" fmla="*/ 172 w 396"/>
                <a:gd name="T65" fmla="*/ 150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96" h="152">
                  <a:moveTo>
                    <a:pt x="172" y="150"/>
                  </a:moveTo>
                  <a:cubicBezTo>
                    <a:pt x="200" y="143"/>
                    <a:pt x="200" y="149"/>
                    <a:pt x="207" y="144"/>
                  </a:cubicBezTo>
                  <a:cubicBezTo>
                    <a:pt x="214" y="139"/>
                    <a:pt x="211" y="131"/>
                    <a:pt x="211" y="131"/>
                  </a:cubicBezTo>
                  <a:cubicBezTo>
                    <a:pt x="211" y="131"/>
                    <a:pt x="230" y="139"/>
                    <a:pt x="238" y="136"/>
                  </a:cubicBezTo>
                  <a:cubicBezTo>
                    <a:pt x="246" y="133"/>
                    <a:pt x="246" y="126"/>
                    <a:pt x="246" y="126"/>
                  </a:cubicBezTo>
                  <a:cubicBezTo>
                    <a:pt x="246" y="126"/>
                    <a:pt x="257" y="130"/>
                    <a:pt x="262" y="130"/>
                  </a:cubicBezTo>
                  <a:cubicBezTo>
                    <a:pt x="267" y="130"/>
                    <a:pt x="305" y="107"/>
                    <a:pt x="313" y="106"/>
                  </a:cubicBezTo>
                  <a:cubicBezTo>
                    <a:pt x="321" y="105"/>
                    <a:pt x="332" y="112"/>
                    <a:pt x="339" y="105"/>
                  </a:cubicBezTo>
                  <a:cubicBezTo>
                    <a:pt x="346" y="98"/>
                    <a:pt x="347" y="87"/>
                    <a:pt x="347" y="87"/>
                  </a:cubicBezTo>
                  <a:cubicBezTo>
                    <a:pt x="347" y="87"/>
                    <a:pt x="354" y="87"/>
                    <a:pt x="363" y="83"/>
                  </a:cubicBezTo>
                  <a:cubicBezTo>
                    <a:pt x="372" y="79"/>
                    <a:pt x="383" y="69"/>
                    <a:pt x="383" y="69"/>
                  </a:cubicBezTo>
                  <a:cubicBezTo>
                    <a:pt x="373" y="68"/>
                    <a:pt x="373" y="68"/>
                    <a:pt x="373" y="68"/>
                  </a:cubicBezTo>
                  <a:cubicBezTo>
                    <a:pt x="373" y="68"/>
                    <a:pt x="396" y="57"/>
                    <a:pt x="382" y="50"/>
                  </a:cubicBezTo>
                  <a:cubicBezTo>
                    <a:pt x="368" y="43"/>
                    <a:pt x="356" y="50"/>
                    <a:pt x="356" y="50"/>
                  </a:cubicBezTo>
                  <a:cubicBezTo>
                    <a:pt x="359" y="40"/>
                    <a:pt x="359" y="40"/>
                    <a:pt x="359" y="40"/>
                  </a:cubicBezTo>
                  <a:cubicBezTo>
                    <a:pt x="341" y="41"/>
                    <a:pt x="341" y="41"/>
                    <a:pt x="341" y="41"/>
                  </a:cubicBezTo>
                  <a:cubicBezTo>
                    <a:pt x="351" y="26"/>
                    <a:pt x="351" y="26"/>
                    <a:pt x="351" y="26"/>
                  </a:cubicBezTo>
                  <a:cubicBezTo>
                    <a:pt x="342" y="24"/>
                    <a:pt x="342" y="24"/>
                    <a:pt x="342" y="24"/>
                  </a:cubicBezTo>
                  <a:cubicBezTo>
                    <a:pt x="346" y="12"/>
                    <a:pt x="346" y="12"/>
                    <a:pt x="346" y="12"/>
                  </a:cubicBezTo>
                  <a:cubicBezTo>
                    <a:pt x="325" y="17"/>
                    <a:pt x="325" y="17"/>
                    <a:pt x="325" y="17"/>
                  </a:cubicBezTo>
                  <a:cubicBezTo>
                    <a:pt x="325" y="17"/>
                    <a:pt x="304" y="0"/>
                    <a:pt x="297" y="0"/>
                  </a:cubicBezTo>
                  <a:cubicBezTo>
                    <a:pt x="290" y="0"/>
                    <a:pt x="294" y="16"/>
                    <a:pt x="294" y="16"/>
                  </a:cubicBezTo>
                  <a:cubicBezTo>
                    <a:pt x="280" y="22"/>
                    <a:pt x="280" y="22"/>
                    <a:pt x="280" y="22"/>
                  </a:cubicBezTo>
                  <a:cubicBezTo>
                    <a:pt x="280" y="22"/>
                    <a:pt x="268" y="19"/>
                    <a:pt x="262" y="19"/>
                  </a:cubicBezTo>
                  <a:cubicBezTo>
                    <a:pt x="256" y="19"/>
                    <a:pt x="249" y="29"/>
                    <a:pt x="249" y="29"/>
                  </a:cubicBezTo>
                  <a:cubicBezTo>
                    <a:pt x="249" y="29"/>
                    <a:pt x="233" y="17"/>
                    <a:pt x="227" y="19"/>
                  </a:cubicBezTo>
                  <a:cubicBezTo>
                    <a:pt x="221" y="21"/>
                    <a:pt x="226" y="41"/>
                    <a:pt x="226" y="41"/>
                  </a:cubicBezTo>
                  <a:cubicBezTo>
                    <a:pt x="226" y="41"/>
                    <a:pt x="208" y="16"/>
                    <a:pt x="201" y="16"/>
                  </a:cubicBezTo>
                  <a:cubicBezTo>
                    <a:pt x="194" y="16"/>
                    <a:pt x="198" y="23"/>
                    <a:pt x="198" y="23"/>
                  </a:cubicBezTo>
                  <a:cubicBezTo>
                    <a:pt x="198" y="23"/>
                    <a:pt x="183" y="23"/>
                    <a:pt x="182" y="26"/>
                  </a:cubicBezTo>
                  <a:cubicBezTo>
                    <a:pt x="181" y="29"/>
                    <a:pt x="181" y="38"/>
                    <a:pt x="181" y="38"/>
                  </a:cubicBezTo>
                  <a:cubicBezTo>
                    <a:pt x="171" y="39"/>
                    <a:pt x="171" y="39"/>
                    <a:pt x="171" y="39"/>
                  </a:cubicBezTo>
                  <a:cubicBezTo>
                    <a:pt x="171" y="39"/>
                    <a:pt x="155" y="18"/>
                    <a:pt x="150" y="22"/>
                  </a:cubicBezTo>
                  <a:cubicBezTo>
                    <a:pt x="145" y="26"/>
                    <a:pt x="150" y="49"/>
                    <a:pt x="145" y="50"/>
                  </a:cubicBezTo>
                  <a:cubicBezTo>
                    <a:pt x="140" y="51"/>
                    <a:pt x="133" y="42"/>
                    <a:pt x="129" y="42"/>
                  </a:cubicBezTo>
                  <a:cubicBezTo>
                    <a:pt x="125" y="42"/>
                    <a:pt x="112" y="63"/>
                    <a:pt x="112" y="63"/>
                  </a:cubicBezTo>
                  <a:cubicBezTo>
                    <a:pt x="110" y="56"/>
                    <a:pt x="110" y="56"/>
                    <a:pt x="110" y="56"/>
                  </a:cubicBezTo>
                  <a:cubicBezTo>
                    <a:pt x="102" y="40"/>
                    <a:pt x="102" y="40"/>
                    <a:pt x="102" y="40"/>
                  </a:cubicBezTo>
                  <a:cubicBezTo>
                    <a:pt x="102" y="40"/>
                    <a:pt x="118" y="35"/>
                    <a:pt x="112" y="26"/>
                  </a:cubicBezTo>
                  <a:cubicBezTo>
                    <a:pt x="106" y="17"/>
                    <a:pt x="73" y="3"/>
                    <a:pt x="68" y="7"/>
                  </a:cubicBezTo>
                  <a:cubicBezTo>
                    <a:pt x="63" y="11"/>
                    <a:pt x="69" y="26"/>
                    <a:pt x="69" y="26"/>
                  </a:cubicBezTo>
                  <a:cubicBezTo>
                    <a:pt x="69" y="26"/>
                    <a:pt x="49" y="19"/>
                    <a:pt x="43" y="19"/>
                  </a:cubicBezTo>
                  <a:cubicBezTo>
                    <a:pt x="37" y="19"/>
                    <a:pt x="25" y="31"/>
                    <a:pt x="25" y="31"/>
                  </a:cubicBezTo>
                  <a:cubicBezTo>
                    <a:pt x="35" y="37"/>
                    <a:pt x="35" y="37"/>
                    <a:pt x="35" y="37"/>
                  </a:cubicBezTo>
                  <a:cubicBezTo>
                    <a:pt x="35" y="37"/>
                    <a:pt x="23" y="35"/>
                    <a:pt x="17" y="41"/>
                  </a:cubicBezTo>
                  <a:cubicBezTo>
                    <a:pt x="11" y="47"/>
                    <a:pt x="4" y="47"/>
                    <a:pt x="4" y="47"/>
                  </a:cubicBezTo>
                  <a:cubicBezTo>
                    <a:pt x="4" y="47"/>
                    <a:pt x="12" y="54"/>
                    <a:pt x="20" y="54"/>
                  </a:cubicBezTo>
                  <a:cubicBezTo>
                    <a:pt x="28" y="54"/>
                    <a:pt x="55" y="43"/>
                    <a:pt x="55" y="43"/>
                  </a:cubicBezTo>
                  <a:cubicBezTo>
                    <a:pt x="90" y="49"/>
                    <a:pt x="90" y="49"/>
                    <a:pt x="90" y="49"/>
                  </a:cubicBezTo>
                  <a:cubicBezTo>
                    <a:pt x="64" y="61"/>
                    <a:pt x="64" y="61"/>
                    <a:pt x="64" y="61"/>
                  </a:cubicBezTo>
                  <a:cubicBezTo>
                    <a:pt x="64" y="61"/>
                    <a:pt x="84" y="64"/>
                    <a:pt x="84" y="68"/>
                  </a:cubicBezTo>
                  <a:cubicBezTo>
                    <a:pt x="84" y="72"/>
                    <a:pt x="39" y="72"/>
                    <a:pt x="35" y="73"/>
                  </a:cubicBezTo>
                  <a:cubicBezTo>
                    <a:pt x="31" y="74"/>
                    <a:pt x="0" y="72"/>
                    <a:pt x="6" y="79"/>
                  </a:cubicBezTo>
                  <a:cubicBezTo>
                    <a:pt x="12" y="86"/>
                    <a:pt x="25" y="81"/>
                    <a:pt x="38" y="82"/>
                  </a:cubicBezTo>
                  <a:cubicBezTo>
                    <a:pt x="51" y="83"/>
                    <a:pt x="65" y="95"/>
                    <a:pt x="65" y="95"/>
                  </a:cubicBezTo>
                  <a:cubicBezTo>
                    <a:pt x="88" y="91"/>
                    <a:pt x="88" y="91"/>
                    <a:pt x="88" y="91"/>
                  </a:cubicBezTo>
                  <a:cubicBezTo>
                    <a:pt x="75" y="101"/>
                    <a:pt x="75" y="101"/>
                    <a:pt x="75" y="101"/>
                  </a:cubicBezTo>
                  <a:cubicBezTo>
                    <a:pt x="85" y="105"/>
                    <a:pt x="85" y="105"/>
                    <a:pt x="85" y="105"/>
                  </a:cubicBezTo>
                  <a:cubicBezTo>
                    <a:pt x="85" y="105"/>
                    <a:pt x="82" y="114"/>
                    <a:pt x="75" y="118"/>
                  </a:cubicBezTo>
                  <a:cubicBezTo>
                    <a:pt x="68" y="122"/>
                    <a:pt x="35" y="116"/>
                    <a:pt x="41" y="125"/>
                  </a:cubicBezTo>
                  <a:cubicBezTo>
                    <a:pt x="47" y="134"/>
                    <a:pt x="75" y="130"/>
                    <a:pt x="82" y="130"/>
                  </a:cubicBezTo>
                  <a:cubicBezTo>
                    <a:pt x="89" y="130"/>
                    <a:pt x="98" y="123"/>
                    <a:pt x="98" y="123"/>
                  </a:cubicBezTo>
                  <a:cubicBezTo>
                    <a:pt x="116" y="134"/>
                    <a:pt x="116" y="134"/>
                    <a:pt x="116" y="134"/>
                  </a:cubicBezTo>
                  <a:cubicBezTo>
                    <a:pt x="124" y="127"/>
                    <a:pt x="124" y="127"/>
                    <a:pt x="124" y="127"/>
                  </a:cubicBezTo>
                  <a:cubicBezTo>
                    <a:pt x="124" y="127"/>
                    <a:pt x="121" y="133"/>
                    <a:pt x="131" y="138"/>
                  </a:cubicBezTo>
                  <a:cubicBezTo>
                    <a:pt x="141" y="143"/>
                    <a:pt x="164" y="152"/>
                    <a:pt x="172" y="150"/>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436" name="Freeform 227">
              <a:extLst>
                <a:ext uri="{FF2B5EF4-FFF2-40B4-BE49-F238E27FC236}">
                  <a16:creationId xmlns:a16="http://schemas.microsoft.com/office/drawing/2014/main" id="{D317429A-5E97-43D0-8F1B-96B2D3216376}"/>
                </a:ext>
              </a:extLst>
            </p:cNvPr>
            <p:cNvSpPr>
              <a:spLocks/>
            </p:cNvSpPr>
            <p:nvPr/>
          </p:nvSpPr>
          <p:spPr bwMode="gray">
            <a:xfrm>
              <a:off x="6382650" y="1772548"/>
              <a:ext cx="151903" cy="137917"/>
            </a:xfrm>
            <a:custGeom>
              <a:avLst/>
              <a:gdLst>
                <a:gd name="T0" fmla="*/ 198 w 224"/>
                <a:gd name="T1" fmla="*/ 84 h 215"/>
                <a:gd name="T2" fmla="*/ 208 w 224"/>
                <a:gd name="T3" fmla="*/ 97 h 215"/>
                <a:gd name="T4" fmla="*/ 224 w 224"/>
                <a:gd name="T5" fmla="*/ 91 h 215"/>
                <a:gd name="T6" fmla="*/ 214 w 224"/>
                <a:gd name="T7" fmla="*/ 51 h 215"/>
                <a:gd name="T8" fmla="*/ 215 w 224"/>
                <a:gd name="T9" fmla="*/ 3 h 215"/>
                <a:gd name="T10" fmla="*/ 186 w 224"/>
                <a:gd name="T11" fmla="*/ 51 h 215"/>
                <a:gd name="T12" fmla="*/ 166 w 224"/>
                <a:gd name="T13" fmla="*/ 61 h 215"/>
                <a:gd name="T14" fmla="*/ 131 w 224"/>
                <a:gd name="T15" fmla="*/ 102 h 215"/>
                <a:gd name="T16" fmla="*/ 122 w 224"/>
                <a:gd name="T17" fmla="*/ 131 h 215"/>
                <a:gd name="T18" fmla="*/ 62 w 224"/>
                <a:gd name="T19" fmla="*/ 127 h 215"/>
                <a:gd name="T20" fmla="*/ 16 w 224"/>
                <a:gd name="T21" fmla="*/ 140 h 215"/>
                <a:gd name="T22" fmla="*/ 1 w 224"/>
                <a:gd name="T23" fmla="*/ 127 h 215"/>
                <a:gd name="T24" fmla="*/ 5 w 224"/>
                <a:gd name="T25" fmla="*/ 145 h 215"/>
                <a:gd name="T26" fmla="*/ 52 w 224"/>
                <a:gd name="T27" fmla="*/ 200 h 215"/>
                <a:gd name="T28" fmla="*/ 177 w 224"/>
                <a:gd name="T29" fmla="*/ 215 h 215"/>
                <a:gd name="T30" fmla="*/ 168 w 224"/>
                <a:gd name="T31" fmla="*/ 192 h 215"/>
                <a:gd name="T32" fmla="*/ 181 w 224"/>
                <a:gd name="T33" fmla="*/ 163 h 215"/>
                <a:gd name="T34" fmla="*/ 189 w 224"/>
                <a:gd name="T35" fmla="*/ 136 h 215"/>
                <a:gd name="T36" fmla="*/ 201 w 224"/>
                <a:gd name="T37" fmla="*/ 135 h 215"/>
                <a:gd name="T38" fmla="*/ 191 w 224"/>
                <a:gd name="T39" fmla="*/ 118 h 215"/>
                <a:gd name="T40" fmla="*/ 198 w 224"/>
                <a:gd name="T41" fmla="*/ 84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24" h="215">
                  <a:moveTo>
                    <a:pt x="198" y="84"/>
                  </a:moveTo>
                  <a:cubicBezTo>
                    <a:pt x="202" y="84"/>
                    <a:pt x="208" y="97"/>
                    <a:pt x="208" y="97"/>
                  </a:cubicBezTo>
                  <a:cubicBezTo>
                    <a:pt x="224" y="91"/>
                    <a:pt x="224" y="91"/>
                    <a:pt x="224" y="91"/>
                  </a:cubicBezTo>
                  <a:cubicBezTo>
                    <a:pt x="219" y="78"/>
                    <a:pt x="212" y="63"/>
                    <a:pt x="214" y="51"/>
                  </a:cubicBezTo>
                  <a:cubicBezTo>
                    <a:pt x="217" y="34"/>
                    <a:pt x="222" y="6"/>
                    <a:pt x="215" y="3"/>
                  </a:cubicBezTo>
                  <a:cubicBezTo>
                    <a:pt x="207" y="0"/>
                    <a:pt x="186" y="51"/>
                    <a:pt x="186" y="51"/>
                  </a:cubicBezTo>
                  <a:cubicBezTo>
                    <a:pt x="186" y="51"/>
                    <a:pt x="172" y="53"/>
                    <a:pt x="166" y="61"/>
                  </a:cubicBezTo>
                  <a:cubicBezTo>
                    <a:pt x="161" y="70"/>
                    <a:pt x="131" y="102"/>
                    <a:pt x="131" y="102"/>
                  </a:cubicBezTo>
                  <a:cubicBezTo>
                    <a:pt x="131" y="102"/>
                    <a:pt x="131" y="130"/>
                    <a:pt x="122" y="131"/>
                  </a:cubicBezTo>
                  <a:cubicBezTo>
                    <a:pt x="113" y="132"/>
                    <a:pt x="69" y="127"/>
                    <a:pt x="62" y="127"/>
                  </a:cubicBezTo>
                  <a:cubicBezTo>
                    <a:pt x="56" y="127"/>
                    <a:pt x="25" y="144"/>
                    <a:pt x="16" y="140"/>
                  </a:cubicBezTo>
                  <a:cubicBezTo>
                    <a:pt x="11" y="138"/>
                    <a:pt x="5" y="132"/>
                    <a:pt x="1" y="127"/>
                  </a:cubicBezTo>
                  <a:cubicBezTo>
                    <a:pt x="0" y="132"/>
                    <a:pt x="0" y="140"/>
                    <a:pt x="5" y="145"/>
                  </a:cubicBezTo>
                  <a:cubicBezTo>
                    <a:pt x="12" y="152"/>
                    <a:pt x="49" y="200"/>
                    <a:pt x="52" y="200"/>
                  </a:cubicBezTo>
                  <a:cubicBezTo>
                    <a:pt x="54" y="200"/>
                    <a:pt x="143" y="211"/>
                    <a:pt x="177" y="215"/>
                  </a:cubicBezTo>
                  <a:cubicBezTo>
                    <a:pt x="173" y="207"/>
                    <a:pt x="168" y="196"/>
                    <a:pt x="168" y="192"/>
                  </a:cubicBezTo>
                  <a:cubicBezTo>
                    <a:pt x="168" y="186"/>
                    <a:pt x="181" y="163"/>
                    <a:pt x="181" y="163"/>
                  </a:cubicBezTo>
                  <a:cubicBezTo>
                    <a:pt x="181" y="163"/>
                    <a:pt x="187" y="143"/>
                    <a:pt x="189" y="136"/>
                  </a:cubicBezTo>
                  <a:cubicBezTo>
                    <a:pt x="191" y="129"/>
                    <a:pt x="197" y="137"/>
                    <a:pt x="201" y="135"/>
                  </a:cubicBezTo>
                  <a:cubicBezTo>
                    <a:pt x="205" y="133"/>
                    <a:pt x="195" y="122"/>
                    <a:pt x="191" y="118"/>
                  </a:cubicBezTo>
                  <a:cubicBezTo>
                    <a:pt x="187" y="114"/>
                    <a:pt x="194" y="84"/>
                    <a:pt x="198" y="84"/>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437" name="Freeform 228">
              <a:extLst>
                <a:ext uri="{FF2B5EF4-FFF2-40B4-BE49-F238E27FC236}">
                  <a16:creationId xmlns:a16="http://schemas.microsoft.com/office/drawing/2014/main" id="{A7E81606-F87A-4A23-86C6-B2D4D1BED3C5}"/>
                </a:ext>
              </a:extLst>
            </p:cNvPr>
            <p:cNvSpPr>
              <a:spLocks/>
            </p:cNvSpPr>
            <p:nvPr/>
          </p:nvSpPr>
          <p:spPr bwMode="gray">
            <a:xfrm>
              <a:off x="6409643" y="1826574"/>
              <a:ext cx="246949" cy="285335"/>
            </a:xfrm>
            <a:custGeom>
              <a:avLst/>
              <a:gdLst>
                <a:gd name="T0" fmla="*/ 169 w 364"/>
                <a:gd name="T1" fmla="*/ 375 h 445"/>
                <a:gd name="T2" fmla="*/ 220 w 364"/>
                <a:gd name="T3" fmla="*/ 358 h 445"/>
                <a:gd name="T4" fmla="*/ 228 w 364"/>
                <a:gd name="T5" fmla="*/ 330 h 445"/>
                <a:gd name="T6" fmla="*/ 269 w 364"/>
                <a:gd name="T7" fmla="*/ 304 h 445"/>
                <a:gd name="T8" fmla="*/ 283 w 364"/>
                <a:gd name="T9" fmla="*/ 249 h 445"/>
                <a:gd name="T10" fmla="*/ 312 w 364"/>
                <a:gd name="T11" fmla="*/ 249 h 445"/>
                <a:gd name="T12" fmla="*/ 318 w 364"/>
                <a:gd name="T13" fmla="*/ 218 h 445"/>
                <a:gd name="T14" fmla="*/ 355 w 364"/>
                <a:gd name="T15" fmla="*/ 184 h 445"/>
                <a:gd name="T16" fmla="*/ 359 w 364"/>
                <a:gd name="T17" fmla="*/ 134 h 445"/>
                <a:gd name="T18" fmla="*/ 339 w 364"/>
                <a:gd name="T19" fmla="*/ 127 h 445"/>
                <a:gd name="T20" fmla="*/ 302 w 364"/>
                <a:gd name="T21" fmla="*/ 74 h 445"/>
                <a:gd name="T22" fmla="*/ 237 w 364"/>
                <a:gd name="T23" fmla="*/ 52 h 445"/>
                <a:gd name="T24" fmla="*/ 191 w 364"/>
                <a:gd name="T25" fmla="*/ 23 h 445"/>
                <a:gd name="T26" fmla="*/ 184 w 364"/>
                <a:gd name="T27" fmla="*/ 7 h 445"/>
                <a:gd name="T28" fmla="*/ 168 w 364"/>
                <a:gd name="T29" fmla="*/ 13 h 445"/>
                <a:gd name="T30" fmla="*/ 158 w 364"/>
                <a:gd name="T31" fmla="*/ 0 h 445"/>
                <a:gd name="T32" fmla="*/ 151 w 364"/>
                <a:gd name="T33" fmla="*/ 34 h 445"/>
                <a:gd name="T34" fmla="*/ 161 w 364"/>
                <a:gd name="T35" fmla="*/ 51 h 445"/>
                <a:gd name="T36" fmla="*/ 149 w 364"/>
                <a:gd name="T37" fmla="*/ 52 h 445"/>
                <a:gd name="T38" fmla="*/ 141 w 364"/>
                <a:gd name="T39" fmla="*/ 79 h 445"/>
                <a:gd name="T40" fmla="*/ 128 w 364"/>
                <a:gd name="T41" fmla="*/ 108 h 445"/>
                <a:gd name="T42" fmla="*/ 141 w 364"/>
                <a:gd name="T43" fmla="*/ 142 h 445"/>
                <a:gd name="T44" fmla="*/ 159 w 364"/>
                <a:gd name="T45" fmla="*/ 161 h 445"/>
                <a:gd name="T46" fmla="*/ 133 w 364"/>
                <a:gd name="T47" fmla="*/ 276 h 445"/>
                <a:gd name="T48" fmla="*/ 0 w 364"/>
                <a:gd name="T49" fmla="*/ 325 h 445"/>
                <a:gd name="T50" fmla="*/ 54 w 364"/>
                <a:gd name="T51" fmla="*/ 445 h 445"/>
                <a:gd name="T52" fmla="*/ 162 w 364"/>
                <a:gd name="T53" fmla="*/ 410 h 445"/>
                <a:gd name="T54" fmla="*/ 169 w 364"/>
                <a:gd name="T55" fmla="*/ 37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64" h="445">
                  <a:moveTo>
                    <a:pt x="169" y="375"/>
                  </a:moveTo>
                  <a:cubicBezTo>
                    <a:pt x="169" y="375"/>
                    <a:pt x="211" y="369"/>
                    <a:pt x="220" y="358"/>
                  </a:cubicBezTo>
                  <a:cubicBezTo>
                    <a:pt x="228" y="348"/>
                    <a:pt x="228" y="330"/>
                    <a:pt x="228" y="330"/>
                  </a:cubicBezTo>
                  <a:cubicBezTo>
                    <a:pt x="228" y="330"/>
                    <a:pt x="260" y="319"/>
                    <a:pt x="269" y="304"/>
                  </a:cubicBezTo>
                  <a:cubicBezTo>
                    <a:pt x="279" y="288"/>
                    <a:pt x="274" y="250"/>
                    <a:pt x="283" y="249"/>
                  </a:cubicBezTo>
                  <a:cubicBezTo>
                    <a:pt x="292" y="248"/>
                    <a:pt x="302" y="260"/>
                    <a:pt x="312" y="249"/>
                  </a:cubicBezTo>
                  <a:cubicBezTo>
                    <a:pt x="323" y="238"/>
                    <a:pt x="318" y="218"/>
                    <a:pt x="318" y="218"/>
                  </a:cubicBezTo>
                  <a:cubicBezTo>
                    <a:pt x="355" y="184"/>
                    <a:pt x="355" y="184"/>
                    <a:pt x="355" y="184"/>
                  </a:cubicBezTo>
                  <a:cubicBezTo>
                    <a:pt x="355" y="184"/>
                    <a:pt x="364" y="144"/>
                    <a:pt x="359" y="134"/>
                  </a:cubicBezTo>
                  <a:cubicBezTo>
                    <a:pt x="355" y="124"/>
                    <a:pt x="339" y="127"/>
                    <a:pt x="339" y="127"/>
                  </a:cubicBezTo>
                  <a:cubicBezTo>
                    <a:pt x="339" y="127"/>
                    <a:pt x="317" y="87"/>
                    <a:pt x="302" y="74"/>
                  </a:cubicBezTo>
                  <a:cubicBezTo>
                    <a:pt x="287" y="61"/>
                    <a:pt x="237" y="52"/>
                    <a:pt x="237" y="52"/>
                  </a:cubicBezTo>
                  <a:cubicBezTo>
                    <a:pt x="237" y="52"/>
                    <a:pt x="194" y="38"/>
                    <a:pt x="191" y="23"/>
                  </a:cubicBezTo>
                  <a:cubicBezTo>
                    <a:pt x="190" y="18"/>
                    <a:pt x="187" y="13"/>
                    <a:pt x="184" y="7"/>
                  </a:cubicBezTo>
                  <a:cubicBezTo>
                    <a:pt x="168" y="13"/>
                    <a:pt x="168" y="13"/>
                    <a:pt x="168" y="13"/>
                  </a:cubicBezTo>
                  <a:cubicBezTo>
                    <a:pt x="168" y="13"/>
                    <a:pt x="162" y="0"/>
                    <a:pt x="158" y="0"/>
                  </a:cubicBezTo>
                  <a:cubicBezTo>
                    <a:pt x="154" y="0"/>
                    <a:pt x="147" y="30"/>
                    <a:pt x="151" y="34"/>
                  </a:cubicBezTo>
                  <a:cubicBezTo>
                    <a:pt x="155" y="38"/>
                    <a:pt x="165" y="49"/>
                    <a:pt x="161" y="51"/>
                  </a:cubicBezTo>
                  <a:cubicBezTo>
                    <a:pt x="157" y="53"/>
                    <a:pt x="151" y="45"/>
                    <a:pt x="149" y="52"/>
                  </a:cubicBezTo>
                  <a:cubicBezTo>
                    <a:pt x="147" y="59"/>
                    <a:pt x="141" y="79"/>
                    <a:pt x="141" y="79"/>
                  </a:cubicBezTo>
                  <a:cubicBezTo>
                    <a:pt x="141" y="79"/>
                    <a:pt x="128" y="102"/>
                    <a:pt x="128" y="108"/>
                  </a:cubicBezTo>
                  <a:cubicBezTo>
                    <a:pt x="128" y="114"/>
                    <a:pt x="141" y="138"/>
                    <a:pt x="141" y="142"/>
                  </a:cubicBezTo>
                  <a:cubicBezTo>
                    <a:pt x="141" y="146"/>
                    <a:pt x="159" y="161"/>
                    <a:pt x="159" y="161"/>
                  </a:cubicBezTo>
                  <a:cubicBezTo>
                    <a:pt x="133" y="276"/>
                    <a:pt x="133" y="276"/>
                    <a:pt x="133" y="276"/>
                  </a:cubicBezTo>
                  <a:cubicBezTo>
                    <a:pt x="0" y="325"/>
                    <a:pt x="0" y="325"/>
                    <a:pt x="0" y="325"/>
                  </a:cubicBezTo>
                  <a:cubicBezTo>
                    <a:pt x="54" y="445"/>
                    <a:pt x="54" y="445"/>
                    <a:pt x="54" y="445"/>
                  </a:cubicBezTo>
                  <a:cubicBezTo>
                    <a:pt x="81" y="434"/>
                    <a:pt x="159" y="415"/>
                    <a:pt x="162" y="410"/>
                  </a:cubicBezTo>
                  <a:cubicBezTo>
                    <a:pt x="167" y="404"/>
                    <a:pt x="169" y="375"/>
                    <a:pt x="169" y="375"/>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438" name="Freeform 229">
              <a:extLst>
                <a:ext uri="{FF2B5EF4-FFF2-40B4-BE49-F238E27FC236}">
                  <a16:creationId xmlns:a16="http://schemas.microsoft.com/office/drawing/2014/main" id="{3C1A1E68-3503-46A6-A643-DADEF303FEDC}"/>
                </a:ext>
              </a:extLst>
            </p:cNvPr>
            <p:cNvSpPr>
              <a:spLocks/>
            </p:cNvSpPr>
            <p:nvPr/>
          </p:nvSpPr>
          <p:spPr bwMode="gray">
            <a:xfrm>
              <a:off x="6358817" y="1782865"/>
              <a:ext cx="33310" cy="62985"/>
            </a:xfrm>
            <a:custGeom>
              <a:avLst/>
              <a:gdLst>
                <a:gd name="T0" fmla="*/ 16 w 49"/>
                <a:gd name="T1" fmla="*/ 90 h 98"/>
                <a:gd name="T2" fmla="*/ 24 w 49"/>
                <a:gd name="T3" fmla="*/ 98 h 98"/>
                <a:gd name="T4" fmla="*/ 30 w 49"/>
                <a:gd name="T5" fmla="*/ 96 h 98"/>
                <a:gd name="T6" fmla="*/ 30 w 49"/>
                <a:gd name="T7" fmla="*/ 95 h 98"/>
                <a:gd name="T8" fmla="*/ 47 w 49"/>
                <a:gd name="T9" fmla="*/ 35 h 98"/>
                <a:gd name="T10" fmla="*/ 22 w 49"/>
                <a:gd name="T11" fmla="*/ 3 h 98"/>
                <a:gd name="T12" fmla="*/ 9 w 49"/>
                <a:gd name="T13" fmla="*/ 47 h 98"/>
                <a:gd name="T14" fmla="*/ 1 w 49"/>
                <a:gd name="T15" fmla="*/ 84 h 98"/>
                <a:gd name="T16" fmla="*/ 0 w 49"/>
                <a:gd name="T17" fmla="*/ 83 h 98"/>
                <a:gd name="T18" fmla="*/ 6 w 49"/>
                <a:gd name="T19" fmla="*/ 93 h 98"/>
                <a:gd name="T20" fmla="*/ 16 w 49"/>
                <a:gd name="T21" fmla="*/ 9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9" h="98">
                  <a:moveTo>
                    <a:pt x="16" y="90"/>
                  </a:moveTo>
                  <a:cubicBezTo>
                    <a:pt x="24" y="98"/>
                    <a:pt x="24" y="98"/>
                    <a:pt x="24" y="98"/>
                  </a:cubicBezTo>
                  <a:cubicBezTo>
                    <a:pt x="30" y="96"/>
                    <a:pt x="30" y="96"/>
                    <a:pt x="30" y="96"/>
                  </a:cubicBezTo>
                  <a:cubicBezTo>
                    <a:pt x="30" y="96"/>
                    <a:pt x="30" y="95"/>
                    <a:pt x="30" y="95"/>
                  </a:cubicBezTo>
                  <a:cubicBezTo>
                    <a:pt x="35" y="86"/>
                    <a:pt x="49" y="56"/>
                    <a:pt x="47" y="35"/>
                  </a:cubicBezTo>
                  <a:cubicBezTo>
                    <a:pt x="45" y="14"/>
                    <a:pt x="31" y="0"/>
                    <a:pt x="22" y="3"/>
                  </a:cubicBezTo>
                  <a:cubicBezTo>
                    <a:pt x="12" y="6"/>
                    <a:pt x="10" y="32"/>
                    <a:pt x="9" y="47"/>
                  </a:cubicBezTo>
                  <a:cubicBezTo>
                    <a:pt x="9" y="62"/>
                    <a:pt x="9" y="83"/>
                    <a:pt x="1" y="84"/>
                  </a:cubicBezTo>
                  <a:cubicBezTo>
                    <a:pt x="1" y="84"/>
                    <a:pt x="1" y="84"/>
                    <a:pt x="0" y="83"/>
                  </a:cubicBezTo>
                  <a:cubicBezTo>
                    <a:pt x="6" y="93"/>
                    <a:pt x="6" y="93"/>
                    <a:pt x="6" y="93"/>
                  </a:cubicBezTo>
                  <a:lnTo>
                    <a:pt x="16" y="90"/>
                  </a:ln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439" name="Freeform 230">
              <a:extLst>
                <a:ext uri="{FF2B5EF4-FFF2-40B4-BE49-F238E27FC236}">
                  <a16:creationId xmlns:a16="http://schemas.microsoft.com/office/drawing/2014/main" id="{0A7FC696-DB3C-4E35-8C9D-DF2060E0A5D9}"/>
                </a:ext>
              </a:extLst>
            </p:cNvPr>
            <p:cNvSpPr>
              <a:spLocks/>
            </p:cNvSpPr>
            <p:nvPr/>
          </p:nvSpPr>
          <p:spPr bwMode="gray">
            <a:xfrm>
              <a:off x="6652571" y="1412282"/>
              <a:ext cx="475520" cy="452029"/>
            </a:xfrm>
            <a:custGeom>
              <a:avLst/>
              <a:gdLst>
                <a:gd name="T0" fmla="*/ 639 w 701"/>
                <a:gd name="T1" fmla="*/ 64 h 705"/>
                <a:gd name="T2" fmla="*/ 584 w 701"/>
                <a:gd name="T3" fmla="*/ 14 h 705"/>
                <a:gd name="T4" fmla="*/ 541 w 701"/>
                <a:gd name="T5" fmla="*/ 0 h 705"/>
                <a:gd name="T6" fmla="*/ 479 w 701"/>
                <a:gd name="T7" fmla="*/ 10 h 705"/>
                <a:gd name="T8" fmla="*/ 408 w 701"/>
                <a:gd name="T9" fmla="*/ 46 h 705"/>
                <a:gd name="T10" fmla="*/ 433 w 701"/>
                <a:gd name="T11" fmla="*/ 110 h 705"/>
                <a:gd name="T12" fmla="*/ 418 w 701"/>
                <a:gd name="T13" fmla="*/ 160 h 705"/>
                <a:gd name="T14" fmla="*/ 395 w 701"/>
                <a:gd name="T15" fmla="*/ 168 h 705"/>
                <a:gd name="T16" fmla="*/ 370 w 701"/>
                <a:gd name="T17" fmla="*/ 171 h 705"/>
                <a:gd name="T18" fmla="*/ 401 w 701"/>
                <a:gd name="T19" fmla="*/ 197 h 705"/>
                <a:gd name="T20" fmla="*/ 363 w 701"/>
                <a:gd name="T21" fmla="*/ 238 h 705"/>
                <a:gd name="T22" fmla="*/ 348 w 701"/>
                <a:gd name="T23" fmla="*/ 293 h 705"/>
                <a:gd name="T24" fmla="*/ 305 w 701"/>
                <a:gd name="T25" fmla="*/ 289 h 705"/>
                <a:gd name="T26" fmla="*/ 266 w 701"/>
                <a:gd name="T27" fmla="*/ 312 h 705"/>
                <a:gd name="T28" fmla="*/ 242 w 701"/>
                <a:gd name="T29" fmla="*/ 355 h 705"/>
                <a:gd name="T30" fmla="*/ 157 w 701"/>
                <a:gd name="T31" fmla="*/ 404 h 705"/>
                <a:gd name="T32" fmla="*/ 100 w 701"/>
                <a:gd name="T33" fmla="*/ 405 h 705"/>
                <a:gd name="T34" fmla="*/ 0 w 701"/>
                <a:gd name="T35" fmla="*/ 389 h 705"/>
                <a:gd name="T36" fmla="*/ 77 w 701"/>
                <a:gd name="T37" fmla="*/ 462 h 705"/>
                <a:gd name="T38" fmla="*/ 98 w 701"/>
                <a:gd name="T39" fmla="*/ 492 h 705"/>
                <a:gd name="T40" fmla="*/ 120 w 701"/>
                <a:gd name="T41" fmla="*/ 529 h 705"/>
                <a:gd name="T42" fmla="*/ 85 w 701"/>
                <a:gd name="T43" fmla="*/ 575 h 705"/>
                <a:gd name="T44" fmla="*/ 60 w 701"/>
                <a:gd name="T45" fmla="*/ 600 h 705"/>
                <a:gd name="T46" fmla="*/ 110 w 701"/>
                <a:gd name="T47" fmla="*/ 635 h 705"/>
                <a:gd name="T48" fmla="*/ 208 w 701"/>
                <a:gd name="T49" fmla="*/ 615 h 705"/>
                <a:gd name="T50" fmla="*/ 299 w 701"/>
                <a:gd name="T51" fmla="*/ 662 h 705"/>
                <a:gd name="T52" fmla="*/ 381 w 701"/>
                <a:gd name="T53" fmla="*/ 705 h 705"/>
                <a:gd name="T54" fmla="*/ 416 w 701"/>
                <a:gd name="T55" fmla="*/ 689 h 705"/>
                <a:gd name="T56" fmla="*/ 467 w 701"/>
                <a:gd name="T57" fmla="*/ 679 h 705"/>
                <a:gd name="T58" fmla="*/ 492 w 701"/>
                <a:gd name="T59" fmla="*/ 654 h 705"/>
                <a:gd name="T60" fmla="*/ 455 w 701"/>
                <a:gd name="T61" fmla="*/ 604 h 705"/>
                <a:gd name="T62" fmla="*/ 447 w 701"/>
                <a:gd name="T63" fmla="*/ 559 h 705"/>
                <a:gd name="T64" fmla="*/ 423 w 701"/>
                <a:gd name="T65" fmla="*/ 522 h 705"/>
                <a:gd name="T66" fmla="*/ 470 w 701"/>
                <a:gd name="T67" fmla="*/ 500 h 705"/>
                <a:gd name="T68" fmla="*/ 518 w 701"/>
                <a:gd name="T69" fmla="*/ 472 h 705"/>
                <a:gd name="T70" fmla="*/ 560 w 701"/>
                <a:gd name="T71" fmla="*/ 425 h 705"/>
                <a:gd name="T72" fmla="*/ 581 w 701"/>
                <a:gd name="T73" fmla="*/ 358 h 705"/>
                <a:gd name="T74" fmla="*/ 604 w 701"/>
                <a:gd name="T75" fmla="*/ 297 h 705"/>
                <a:gd name="T76" fmla="*/ 624 w 701"/>
                <a:gd name="T77" fmla="*/ 248 h 705"/>
                <a:gd name="T78" fmla="*/ 583 w 701"/>
                <a:gd name="T79" fmla="*/ 225 h 705"/>
                <a:gd name="T80" fmla="*/ 567 w 701"/>
                <a:gd name="T81" fmla="*/ 194 h 705"/>
                <a:gd name="T82" fmla="*/ 548 w 701"/>
                <a:gd name="T83" fmla="*/ 161 h 705"/>
                <a:gd name="T84" fmla="*/ 557 w 701"/>
                <a:gd name="T85" fmla="*/ 123 h 705"/>
                <a:gd name="T86" fmla="*/ 643 w 701"/>
                <a:gd name="T87" fmla="*/ 123 h 705"/>
                <a:gd name="T88" fmla="*/ 667 w 701"/>
                <a:gd name="T89" fmla="*/ 122 h 705"/>
                <a:gd name="T90" fmla="*/ 700 w 701"/>
                <a:gd name="T91" fmla="*/ 82 h 7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701" h="705">
                  <a:moveTo>
                    <a:pt x="671" y="81"/>
                  </a:moveTo>
                  <a:cubicBezTo>
                    <a:pt x="652" y="80"/>
                    <a:pt x="647" y="60"/>
                    <a:pt x="647" y="60"/>
                  </a:cubicBezTo>
                  <a:cubicBezTo>
                    <a:pt x="639" y="64"/>
                    <a:pt x="639" y="64"/>
                    <a:pt x="639" y="64"/>
                  </a:cubicBezTo>
                  <a:cubicBezTo>
                    <a:pt x="618" y="56"/>
                    <a:pt x="618" y="56"/>
                    <a:pt x="618" y="56"/>
                  </a:cubicBezTo>
                  <a:cubicBezTo>
                    <a:pt x="618" y="56"/>
                    <a:pt x="617" y="35"/>
                    <a:pt x="608" y="25"/>
                  </a:cubicBezTo>
                  <a:cubicBezTo>
                    <a:pt x="599" y="15"/>
                    <a:pt x="584" y="14"/>
                    <a:pt x="584" y="14"/>
                  </a:cubicBezTo>
                  <a:cubicBezTo>
                    <a:pt x="581" y="5"/>
                    <a:pt x="581" y="5"/>
                    <a:pt x="581" y="5"/>
                  </a:cubicBezTo>
                  <a:cubicBezTo>
                    <a:pt x="560" y="5"/>
                    <a:pt x="560" y="5"/>
                    <a:pt x="560" y="5"/>
                  </a:cubicBezTo>
                  <a:cubicBezTo>
                    <a:pt x="560" y="5"/>
                    <a:pt x="549" y="4"/>
                    <a:pt x="541" y="0"/>
                  </a:cubicBezTo>
                  <a:cubicBezTo>
                    <a:pt x="535" y="4"/>
                    <a:pt x="526" y="9"/>
                    <a:pt x="523" y="10"/>
                  </a:cubicBezTo>
                  <a:cubicBezTo>
                    <a:pt x="518" y="11"/>
                    <a:pt x="508" y="5"/>
                    <a:pt x="505" y="5"/>
                  </a:cubicBezTo>
                  <a:cubicBezTo>
                    <a:pt x="502" y="5"/>
                    <a:pt x="479" y="10"/>
                    <a:pt x="479" y="10"/>
                  </a:cubicBezTo>
                  <a:cubicBezTo>
                    <a:pt x="479" y="10"/>
                    <a:pt x="462" y="9"/>
                    <a:pt x="455" y="12"/>
                  </a:cubicBezTo>
                  <a:cubicBezTo>
                    <a:pt x="448" y="15"/>
                    <a:pt x="425" y="31"/>
                    <a:pt x="425" y="31"/>
                  </a:cubicBezTo>
                  <a:cubicBezTo>
                    <a:pt x="425" y="31"/>
                    <a:pt x="414" y="34"/>
                    <a:pt x="408" y="46"/>
                  </a:cubicBezTo>
                  <a:cubicBezTo>
                    <a:pt x="402" y="58"/>
                    <a:pt x="407" y="54"/>
                    <a:pt x="418" y="66"/>
                  </a:cubicBezTo>
                  <a:cubicBezTo>
                    <a:pt x="429" y="78"/>
                    <a:pt x="426" y="95"/>
                    <a:pt x="426" y="95"/>
                  </a:cubicBezTo>
                  <a:cubicBezTo>
                    <a:pt x="426" y="95"/>
                    <a:pt x="436" y="103"/>
                    <a:pt x="433" y="110"/>
                  </a:cubicBezTo>
                  <a:cubicBezTo>
                    <a:pt x="430" y="117"/>
                    <a:pt x="413" y="125"/>
                    <a:pt x="412" y="134"/>
                  </a:cubicBezTo>
                  <a:cubicBezTo>
                    <a:pt x="411" y="143"/>
                    <a:pt x="418" y="144"/>
                    <a:pt x="418" y="144"/>
                  </a:cubicBezTo>
                  <a:cubicBezTo>
                    <a:pt x="418" y="144"/>
                    <a:pt x="419" y="153"/>
                    <a:pt x="418" y="160"/>
                  </a:cubicBezTo>
                  <a:cubicBezTo>
                    <a:pt x="417" y="167"/>
                    <a:pt x="406" y="164"/>
                    <a:pt x="406" y="164"/>
                  </a:cubicBezTo>
                  <a:cubicBezTo>
                    <a:pt x="402" y="171"/>
                    <a:pt x="402" y="171"/>
                    <a:pt x="402" y="171"/>
                  </a:cubicBezTo>
                  <a:cubicBezTo>
                    <a:pt x="395" y="168"/>
                    <a:pt x="395" y="168"/>
                    <a:pt x="395" y="168"/>
                  </a:cubicBezTo>
                  <a:cubicBezTo>
                    <a:pt x="384" y="167"/>
                    <a:pt x="384" y="167"/>
                    <a:pt x="384" y="167"/>
                  </a:cubicBezTo>
                  <a:cubicBezTo>
                    <a:pt x="384" y="167"/>
                    <a:pt x="377" y="159"/>
                    <a:pt x="373" y="160"/>
                  </a:cubicBezTo>
                  <a:cubicBezTo>
                    <a:pt x="369" y="161"/>
                    <a:pt x="369" y="166"/>
                    <a:pt x="370" y="171"/>
                  </a:cubicBezTo>
                  <a:cubicBezTo>
                    <a:pt x="371" y="176"/>
                    <a:pt x="386" y="180"/>
                    <a:pt x="386" y="180"/>
                  </a:cubicBezTo>
                  <a:cubicBezTo>
                    <a:pt x="386" y="180"/>
                    <a:pt x="386" y="184"/>
                    <a:pt x="388" y="191"/>
                  </a:cubicBezTo>
                  <a:cubicBezTo>
                    <a:pt x="390" y="198"/>
                    <a:pt x="401" y="197"/>
                    <a:pt x="401" y="197"/>
                  </a:cubicBezTo>
                  <a:cubicBezTo>
                    <a:pt x="381" y="211"/>
                    <a:pt x="381" y="211"/>
                    <a:pt x="381" y="211"/>
                  </a:cubicBezTo>
                  <a:cubicBezTo>
                    <a:pt x="381" y="211"/>
                    <a:pt x="368" y="210"/>
                    <a:pt x="364" y="213"/>
                  </a:cubicBezTo>
                  <a:cubicBezTo>
                    <a:pt x="360" y="216"/>
                    <a:pt x="363" y="238"/>
                    <a:pt x="363" y="238"/>
                  </a:cubicBezTo>
                  <a:cubicBezTo>
                    <a:pt x="363" y="238"/>
                    <a:pt x="357" y="235"/>
                    <a:pt x="356" y="247"/>
                  </a:cubicBezTo>
                  <a:cubicBezTo>
                    <a:pt x="355" y="259"/>
                    <a:pt x="364" y="277"/>
                    <a:pt x="364" y="277"/>
                  </a:cubicBezTo>
                  <a:cubicBezTo>
                    <a:pt x="364" y="277"/>
                    <a:pt x="361" y="286"/>
                    <a:pt x="348" y="293"/>
                  </a:cubicBezTo>
                  <a:cubicBezTo>
                    <a:pt x="335" y="300"/>
                    <a:pt x="338" y="281"/>
                    <a:pt x="338" y="281"/>
                  </a:cubicBezTo>
                  <a:cubicBezTo>
                    <a:pt x="338" y="281"/>
                    <a:pt x="328" y="283"/>
                    <a:pt x="320" y="283"/>
                  </a:cubicBezTo>
                  <a:cubicBezTo>
                    <a:pt x="312" y="283"/>
                    <a:pt x="305" y="289"/>
                    <a:pt x="305" y="289"/>
                  </a:cubicBezTo>
                  <a:cubicBezTo>
                    <a:pt x="305" y="289"/>
                    <a:pt x="291" y="293"/>
                    <a:pt x="287" y="298"/>
                  </a:cubicBezTo>
                  <a:cubicBezTo>
                    <a:pt x="283" y="303"/>
                    <a:pt x="300" y="305"/>
                    <a:pt x="298" y="311"/>
                  </a:cubicBezTo>
                  <a:cubicBezTo>
                    <a:pt x="296" y="317"/>
                    <a:pt x="266" y="312"/>
                    <a:pt x="266" y="312"/>
                  </a:cubicBezTo>
                  <a:cubicBezTo>
                    <a:pt x="266" y="312"/>
                    <a:pt x="270" y="306"/>
                    <a:pt x="262" y="306"/>
                  </a:cubicBezTo>
                  <a:cubicBezTo>
                    <a:pt x="254" y="306"/>
                    <a:pt x="239" y="319"/>
                    <a:pt x="237" y="325"/>
                  </a:cubicBezTo>
                  <a:cubicBezTo>
                    <a:pt x="235" y="331"/>
                    <a:pt x="242" y="355"/>
                    <a:pt x="242" y="355"/>
                  </a:cubicBezTo>
                  <a:cubicBezTo>
                    <a:pt x="242" y="355"/>
                    <a:pt x="248" y="375"/>
                    <a:pt x="246" y="381"/>
                  </a:cubicBezTo>
                  <a:cubicBezTo>
                    <a:pt x="244" y="387"/>
                    <a:pt x="205" y="400"/>
                    <a:pt x="202" y="401"/>
                  </a:cubicBezTo>
                  <a:cubicBezTo>
                    <a:pt x="199" y="402"/>
                    <a:pt x="157" y="404"/>
                    <a:pt x="157" y="404"/>
                  </a:cubicBezTo>
                  <a:cubicBezTo>
                    <a:pt x="157" y="404"/>
                    <a:pt x="156" y="410"/>
                    <a:pt x="144" y="410"/>
                  </a:cubicBezTo>
                  <a:cubicBezTo>
                    <a:pt x="132" y="410"/>
                    <a:pt x="135" y="406"/>
                    <a:pt x="135" y="406"/>
                  </a:cubicBezTo>
                  <a:cubicBezTo>
                    <a:pt x="100" y="405"/>
                    <a:pt x="100" y="405"/>
                    <a:pt x="100" y="405"/>
                  </a:cubicBezTo>
                  <a:cubicBezTo>
                    <a:pt x="100" y="405"/>
                    <a:pt x="102" y="410"/>
                    <a:pt x="81" y="412"/>
                  </a:cubicBezTo>
                  <a:cubicBezTo>
                    <a:pt x="60" y="414"/>
                    <a:pt x="30" y="396"/>
                    <a:pt x="21" y="391"/>
                  </a:cubicBezTo>
                  <a:cubicBezTo>
                    <a:pt x="12" y="386"/>
                    <a:pt x="0" y="389"/>
                    <a:pt x="0" y="389"/>
                  </a:cubicBezTo>
                  <a:cubicBezTo>
                    <a:pt x="0" y="389"/>
                    <a:pt x="20" y="408"/>
                    <a:pt x="26" y="419"/>
                  </a:cubicBezTo>
                  <a:cubicBezTo>
                    <a:pt x="32" y="430"/>
                    <a:pt x="46" y="450"/>
                    <a:pt x="54" y="460"/>
                  </a:cubicBezTo>
                  <a:cubicBezTo>
                    <a:pt x="62" y="470"/>
                    <a:pt x="77" y="462"/>
                    <a:pt x="77" y="462"/>
                  </a:cubicBezTo>
                  <a:cubicBezTo>
                    <a:pt x="86" y="473"/>
                    <a:pt x="86" y="473"/>
                    <a:pt x="86" y="473"/>
                  </a:cubicBezTo>
                  <a:cubicBezTo>
                    <a:pt x="99" y="472"/>
                    <a:pt x="99" y="472"/>
                    <a:pt x="99" y="472"/>
                  </a:cubicBezTo>
                  <a:cubicBezTo>
                    <a:pt x="98" y="492"/>
                    <a:pt x="98" y="492"/>
                    <a:pt x="98" y="492"/>
                  </a:cubicBezTo>
                  <a:cubicBezTo>
                    <a:pt x="101" y="494"/>
                    <a:pt x="101" y="494"/>
                    <a:pt x="101" y="494"/>
                  </a:cubicBezTo>
                  <a:cubicBezTo>
                    <a:pt x="101" y="494"/>
                    <a:pt x="100" y="517"/>
                    <a:pt x="103" y="524"/>
                  </a:cubicBezTo>
                  <a:cubicBezTo>
                    <a:pt x="106" y="531"/>
                    <a:pt x="112" y="518"/>
                    <a:pt x="120" y="529"/>
                  </a:cubicBezTo>
                  <a:cubicBezTo>
                    <a:pt x="128" y="540"/>
                    <a:pt x="129" y="556"/>
                    <a:pt x="125" y="561"/>
                  </a:cubicBezTo>
                  <a:cubicBezTo>
                    <a:pt x="121" y="566"/>
                    <a:pt x="119" y="553"/>
                    <a:pt x="101" y="559"/>
                  </a:cubicBezTo>
                  <a:cubicBezTo>
                    <a:pt x="83" y="565"/>
                    <a:pt x="89" y="569"/>
                    <a:pt x="85" y="575"/>
                  </a:cubicBezTo>
                  <a:cubicBezTo>
                    <a:pt x="81" y="581"/>
                    <a:pt x="72" y="579"/>
                    <a:pt x="72" y="579"/>
                  </a:cubicBezTo>
                  <a:cubicBezTo>
                    <a:pt x="70" y="590"/>
                    <a:pt x="70" y="590"/>
                    <a:pt x="70" y="590"/>
                  </a:cubicBezTo>
                  <a:cubicBezTo>
                    <a:pt x="70" y="590"/>
                    <a:pt x="66" y="597"/>
                    <a:pt x="60" y="600"/>
                  </a:cubicBezTo>
                  <a:cubicBezTo>
                    <a:pt x="55" y="602"/>
                    <a:pt x="59" y="630"/>
                    <a:pt x="60" y="637"/>
                  </a:cubicBezTo>
                  <a:cubicBezTo>
                    <a:pt x="70" y="633"/>
                    <a:pt x="78" y="628"/>
                    <a:pt x="78" y="628"/>
                  </a:cubicBezTo>
                  <a:cubicBezTo>
                    <a:pt x="78" y="628"/>
                    <a:pt x="100" y="635"/>
                    <a:pt x="110" y="635"/>
                  </a:cubicBezTo>
                  <a:cubicBezTo>
                    <a:pt x="120" y="636"/>
                    <a:pt x="149" y="620"/>
                    <a:pt x="149" y="620"/>
                  </a:cubicBezTo>
                  <a:cubicBezTo>
                    <a:pt x="149" y="620"/>
                    <a:pt x="165" y="628"/>
                    <a:pt x="175" y="626"/>
                  </a:cubicBezTo>
                  <a:cubicBezTo>
                    <a:pt x="186" y="624"/>
                    <a:pt x="208" y="615"/>
                    <a:pt x="208" y="615"/>
                  </a:cubicBezTo>
                  <a:cubicBezTo>
                    <a:pt x="234" y="622"/>
                    <a:pt x="234" y="622"/>
                    <a:pt x="234" y="622"/>
                  </a:cubicBezTo>
                  <a:cubicBezTo>
                    <a:pt x="234" y="622"/>
                    <a:pt x="249" y="601"/>
                    <a:pt x="267" y="613"/>
                  </a:cubicBezTo>
                  <a:cubicBezTo>
                    <a:pt x="284" y="624"/>
                    <a:pt x="285" y="659"/>
                    <a:pt x="299" y="662"/>
                  </a:cubicBezTo>
                  <a:cubicBezTo>
                    <a:pt x="313" y="665"/>
                    <a:pt x="339" y="665"/>
                    <a:pt x="348" y="674"/>
                  </a:cubicBezTo>
                  <a:cubicBezTo>
                    <a:pt x="358" y="683"/>
                    <a:pt x="359" y="704"/>
                    <a:pt x="370" y="705"/>
                  </a:cubicBezTo>
                  <a:cubicBezTo>
                    <a:pt x="373" y="705"/>
                    <a:pt x="377" y="705"/>
                    <a:pt x="381" y="705"/>
                  </a:cubicBezTo>
                  <a:cubicBezTo>
                    <a:pt x="394" y="700"/>
                    <a:pt x="394" y="700"/>
                    <a:pt x="394" y="700"/>
                  </a:cubicBezTo>
                  <a:cubicBezTo>
                    <a:pt x="394" y="700"/>
                    <a:pt x="385" y="684"/>
                    <a:pt x="396" y="683"/>
                  </a:cubicBezTo>
                  <a:cubicBezTo>
                    <a:pt x="407" y="682"/>
                    <a:pt x="416" y="689"/>
                    <a:pt x="416" y="689"/>
                  </a:cubicBezTo>
                  <a:cubicBezTo>
                    <a:pt x="433" y="683"/>
                    <a:pt x="433" y="683"/>
                    <a:pt x="433" y="683"/>
                  </a:cubicBezTo>
                  <a:cubicBezTo>
                    <a:pt x="433" y="683"/>
                    <a:pt x="430" y="691"/>
                    <a:pt x="444" y="691"/>
                  </a:cubicBezTo>
                  <a:cubicBezTo>
                    <a:pt x="458" y="691"/>
                    <a:pt x="456" y="681"/>
                    <a:pt x="467" y="679"/>
                  </a:cubicBezTo>
                  <a:cubicBezTo>
                    <a:pt x="478" y="677"/>
                    <a:pt x="468" y="688"/>
                    <a:pt x="479" y="688"/>
                  </a:cubicBezTo>
                  <a:cubicBezTo>
                    <a:pt x="490" y="688"/>
                    <a:pt x="499" y="687"/>
                    <a:pt x="501" y="678"/>
                  </a:cubicBezTo>
                  <a:cubicBezTo>
                    <a:pt x="503" y="669"/>
                    <a:pt x="492" y="654"/>
                    <a:pt x="492" y="654"/>
                  </a:cubicBezTo>
                  <a:cubicBezTo>
                    <a:pt x="478" y="626"/>
                    <a:pt x="478" y="626"/>
                    <a:pt x="478" y="626"/>
                  </a:cubicBezTo>
                  <a:cubicBezTo>
                    <a:pt x="478" y="611"/>
                    <a:pt x="478" y="611"/>
                    <a:pt x="478" y="611"/>
                  </a:cubicBezTo>
                  <a:cubicBezTo>
                    <a:pt x="478" y="611"/>
                    <a:pt x="462" y="611"/>
                    <a:pt x="455" y="604"/>
                  </a:cubicBezTo>
                  <a:cubicBezTo>
                    <a:pt x="448" y="597"/>
                    <a:pt x="446" y="589"/>
                    <a:pt x="446" y="589"/>
                  </a:cubicBezTo>
                  <a:cubicBezTo>
                    <a:pt x="448" y="569"/>
                    <a:pt x="448" y="569"/>
                    <a:pt x="448" y="569"/>
                  </a:cubicBezTo>
                  <a:cubicBezTo>
                    <a:pt x="447" y="559"/>
                    <a:pt x="447" y="559"/>
                    <a:pt x="447" y="559"/>
                  </a:cubicBezTo>
                  <a:cubicBezTo>
                    <a:pt x="429" y="561"/>
                    <a:pt x="429" y="561"/>
                    <a:pt x="429" y="561"/>
                  </a:cubicBezTo>
                  <a:cubicBezTo>
                    <a:pt x="429" y="561"/>
                    <a:pt x="414" y="563"/>
                    <a:pt x="414" y="546"/>
                  </a:cubicBezTo>
                  <a:cubicBezTo>
                    <a:pt x="414" y="529"/>
                    <a:pt x="415" y="529"/>
                    <a:pt x="423" y="522"/>
                  </a:cubicBezTo>
                  <a:cubicBezTo>
                    <a:pt x="431" y="515"/>
                    <a:pt x="438" y="503"/>
                    <a:pt x="438" y="503"/>
                  </a:cubicBezTo>
                  <a:cubicBezTo>
                    <a:pt x="438" y="503"/>
                    <a:pt x="437" y="489"/>
                    <a:pt x="451" y="487"/>
                  </a:cubicBezTo>
                  <a:cubicBezTo>
                    <a:pt x="465" y="485"/>
                    <a:pt x="457" y="502"/>
                    <a:pt x="470" y="500"/>
                  </a:cubicBezTo>
                  <a:cubicBezTo>
                    <a:pt x="483" y="498"/>
                    <a:pt x="488" y="490"/>
                    <a:pt x="488" y="490"/>
                  </a:cubicBezTo>
                  <a:cubicBezTo>
                    <a:pt x="488" y="490"/>
                    <a:pt x="503" y="498"/>
                    <a:pt x="510" y="490"/>
                  </a:cubicBezTo>
                  <a:cubicBezTo>
                    <a:pt x="517" y="482"/>
                    <a:pt x="518" y="472"/>
                    <a:pt x="518" y="472"/>
                  </a:cubicBezTo>
                  <a:cubicBezTo>
                    <a:pt x="527" y="467"/>
                    <a:pt x="527" y="467"/>
                    <a:pt x="527" y="467"/>
                  </a:cubicBezTo>
                  <a:cubicBezTo>
                    <a:pt x="527" y="467"/>
                    <a:pt x="528" y="447"/>
                    <a:pt x="532" y="444"/>
                  </a:cubicBezTo>
                  <a:cubicBezTo>
                    <a:pt x="536" y="441"/>
                    <a:pt x="552" y="438"/>
                    <a:pt x="560" y="425"/>
                  </a:cubicBezTo>
                  <a:cubicBezTo>
                    <a:pt x="568" y="412"/>
                    <a:pt x="565" y="394"/>
                    <a:pt x="569" y="385"/>
                  </a:cubicBezTo>
                  <a:cubicBezTo>
                    <a:pt x="573" y="376"/>
                    <a:pt x="592" y="375"/>
                    <a:pt x="592" y="375"/>
                  </a:cubicBezTo>
                  <a:cubicBezTo>
                    <a:pt x="581" y="358"/>
                    <a:pt x="581" y="358"/>
                    <a:pt x="581" y="358"/>
                  </a:cubicBezTo>
                  <a:cubicBezTo>
                    <a:pt x="598" y="334"/>
                    <a:pt x="598" y="334"/>
                    <a:pt x="598" y="334"/>
                  </a:cubicBezTo>
                  <a:cubicBezTo>
                    <a:pt x="616" y="321"/>
                    <a:pt x="616" y="321"/>
                    <a:pt x="616" y="321"/>
                  </a:cubicBezTo>
                  <a:cubicBezTo>
                    <a:pt x="616" y="321"/>
                    <a:pt x="604" y="301"/>
                    <a:pt x="604" y="297"/>
                  </a:cubicBezTo>
                  <a:cubicBezTo>
                    <a:pt x="604" y="293"/>
                    <a:pt x="601" y="279"/>
                    <a:pt x="605" y="277"/>
                  </a:cubicBezTo>
                  <a:cubicBezTo>
                    <a:pt x="609" y="275"/>
                    <a:pt x="638" y="271"/>
                    <a:pt x="637" y="262"/>
                  </a:cubicBezTo>
                  <a:cubicBezTo>
                    <a:pt x="636" y="253"/>
                    <a:pt x="624" y="248"/>
                    <a:pt x="624" y="248"/>
                  </a:cubicBezTo>
                  <a:cubicBezTo>
                    <a:pt x="600" y="249"/>
                    <a:pt x="600" y="249"/>
                    <a:pt x="600" y="249"/>
                  </a:cubicBezTo>
                  <a:cubicBezTo>
                    <a:pt x="597" y="226"/>
                    <a:pt x="597" y="226"/>
                    <a:pt x="597" y="226"/>
                  </a:cubicBezTo>
                  <a:cubicBezTo>
                    <a:pt x="583" y="225"/>
                    <a:pt x="583" y="225"/>
                    <a:pt x="583" y="225"/>
                  </a:cubicBezTo>
                  <a:cubicBezTo>
                    <a:pt x="575" y="215"/>
                    <a:pt x="575" y="215"/>
                    <a:pt x="575" y="215"/>
                  </a:cubicBezTo>
                  <a:cubicBezTo>
                    <a:pt x="575" y="215"/>
                    <a:pt x="564" y="218"/>
                    <a:pt x="565" y="210"/>
                  </a:cubicBezTo>
                  <a:cubicBezTo>
                    <a:pt x="566" y="202"/>
                    <a:pt x="567" y="194"/>
                    <a:pt x="567" y="194"/>
                  </a:cubicBezTo>
                  <a:cubicBezTo>
                    <a:pt x="567" y="194"/>
                    <a:pt x="553" y="193"/>
                    <a:pt x="556" y="183"/>
                  </a:cubicBezTo>
                  <a:cubicBezTo>
                    <a:pt x="559" y="173"/>
                    <a:pt x="568" y="165"/>
                    <a:pt x="568" y="165"/>
                  </a:cubicBezTo>
                  <a:cubicBezTo>
                    <a:pt x="548" y="161"/>
                    <a:pt x="548" y="161"/>
                    <a:pt x="548" y="161"/>
                  </a:cubicBezTo>
                  <a:cubicBezTo>
                    <a:pt x="552" y="152"/>
                    <a:pt x="552" y="152"/>
                    <a:pt x="552" y="152"/>
                  </a:cubicBezTo>
                  <a:cubicBezTo>
                    <a:pt x="537" y="142"/>
                    <a:pt x="537" y="142"/>
                    <a:pt x="537" y="142"/>
                  </a:cubicBezTo>
                  <a:cubicBezTo>
                    <a:pt x="537" y="142"/>
                    <a:pt x="535" y="126"/>
                    <a:pt x="557" y="123"/>
                  </a:cubicBezTo>
                  <a:cubicBezTo>
                    <a:pt x="579" y="120"/>
                    <a:pt x="608" y="126"/>
                    <a:pt x="608" y="126"/>
                  </a:cubicBezTo>
                  <a:cubicBezTo>
                    <a:pt x="608" y="126"/>
                    <a:pt x="611" y="138"/>
                    <a:pt x="618" y="137"/>
                  </a:cubicBezTo>
                  <a:cubicBezTo>
                    <a:pt x="625" y="136"/>
                    <a:pt x="643" y="123"/>
                    <a:pt x="643" y="123"/>
                  </a:cubicBezTo>
                  <a:cubicBezTo>
                    <a:pt x="647" y="127"/>
                    <a:pt x="647" y="127"/>
                    <a:pt x="647" y="127"/>
                  </a:cubicBezTo>
                  <a:cubicBezTo>
                    <a:pt x="653" y="122"/>
                    <a:pt x="653" y="122"/>
                    <a:pt x="653" y="122"/>
                  </a:cubicBezTo>
                  <a:cubicBezTo>
                    <a:pt x="653" y="122"/>
                    <a:pt x="664" y="123"/>
                    <a:pt x="667" y="122"/>
                  </a:cubicBezTo>
                  <a:cubicBezTo>
                    <a:pt x="670" y="121"/>
                    <a:pt x="670" y="110"/>
                    <a:pt x="670" y="110"/>
                  </a:cubicBezTo>
                  <a:cubicBezTo>
                    <a:pt x="685" y="104"/>
                    <a:pt x="685" y="104"/>
                    <a:pt x="685" y="104"/>
                  </a:cubicBezTo>
                  <a:cubicBezTo>
                    <a:pt x="700" y="82"/>
                    <a:pt x="700" y="82"/>
                    <a:pt x="700" y="82"/>
                  </a:cubicBezTo>
                  <a:cubicBezTo>
                    <a:pt x="701" y="82"/>
                    <a:pt x="701" y="82"/>
                    <a:pt x="701" y="82"/>
                  </a:cubicBezTo>
                  <a:cubicBezTo>
                    <a:pt x="692" y="82"/>
                    <a:pt x="680" y="81"/>
                    <a:pt x="671" y="81"/>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440" name="Freeform 231">
              <a:extLst>
                <a:ext uri="{FF2B5EF4-FFF2-40B4-BE49-F238E27FC236}">
                  <a16:creationId xmlns:a16="http://schemas.microsoft.com/office/drawing/2014/main" id="{2FB8F17E-EBBB-4660-8D77-F58A7675CAE6}"/>
                </a:ext>
              </a:extLst>
            </p:cNvPr>
            <p:cNvSpPr>
              <a:spLocks/>
            </p:cNvSpPr>
            <p:nvPr/>
          </p:nvSpPr>
          <p:spPr bwMode="gray">
            <a:xfrm>
              <a:off x="5957381" y="1401152"/>
              <a:ext cx="307824" cy="283706"/>
            </a:xfrm>
            <a:custGeom>
              <a:avLst/>
              <a:gdLst>
                <a:gd name="T0" fmla="*/ 448 w 454"/>
                <a:gd name="T1" fmla="*/ 378 h 442"/>
                <a:gd name="T2" fmla="*/ 432 w 454"/>
                <a:gd name="T3" fmla="*/ 365 h 442"/>
                <a:gd name="T4" fmla="*/ 428 w 454"/>
                <a:gd name="T5" fmla="*/ 346 h 442"/>
                <a:gd name="T6" fmla="*/ 415 w 454"/>
                <a:gd name="T7" fmla="*/ 340 h 442"/>
                <a:gd name="T8" fmla="*/ 415 w 454"/>
                <a:gd name="T9" fmla="*/ 295 h 442"/>
                <a:gd name="T10" fmla="*/ 393 w 454"/>
                <a:gd name="T11" fmla="*/ 270 h 442"/>
                <a:gd name="T12" fmla="*/ 380 w 454"/>
                <a:gd name="T13" fmla="*/ 258 h 442"/>
                <a:gd name="T14" fmla="*/ 348 w 454"/>
                <a:gd name="T15" fmla="*/ 240 h 442"/>
                <a:gd name="T16" fmla="*/ 335 w 454"/>
                <a:gd name="T17" fmla="*/ 239 h 442"/>
                <a:gd name="T18" fmla="*/ 335 w 454"/>
                <a:gd name="T19" fmla="*/ 212 h 442"/>
                <a:gd name="T20" fmla="*/ 291 w 454"/>
                <a:gd name="T21" fmla="*/ 182 h 442"/>
                <a:gd name="T22" fmla="*/ 299 w 454"/>
                <a:gd name="T23" fmla="*/ 168 h 442"/>
                <a:gd name="T24" fmla="*/ 291 w 454"/>
                <a:gd name="T25" fmla="*/ 154 h 442"/>
                <a:gd name="T26" fmla="*/ 305 w 454"/>
                <a:gd name="T27" fmla="*/ 148 h 442"/>
                <a:gd name="T28" fmla="*/ 304 w 454"/>
                <a:gd name="T29" fmla="*/ 135 h 442"/>
                <a:gd name="T30" fmla="*/ 305 w 454"/>
                <a:gd name="T31" fmla="*/ 126 h 442"/>
                <a:gd name="T32" fmla="*/ 318 w 454"/>
                <a:gd name="T33" fmla="*/ 118 h 442"/>
                <a:gd name="T34" fmla="*/ 307 w 454"/>
                <a:gd name="T35" fmla="*/ 97 h 442"/>
                <a:gd name="T36" fmla="*/ 318 w 454"/>
                <a:gd name="T37" fmla="*/ 80 h 442"/>
                <a:gd name="T38" fmla="*/ 299 w 454"/>
                <a:gd name="T39" fmla="*/ 85 h 442"/>
                <a:gd name="T40" fmla="*/ 288 w 454"/>
                <a:gd name="T41" fmla="*/ 73 h 442"/>
                <a:gd name="T42" fmla="*/ 274 w 454"/>
                <a:gd name="T43" fmla="*/ 71 h 442"/>
                <a:gd name="T44" fmla="*/ 265 w 454"/>
                <a:gd name="T45" fmla="*/ 50 h 442"/>
                <a:gd name="T46" fmla="*/ 249 w 454"/>
                <a:gd name="T47" fmla="*/ 8 h 442"/>
                <a:gd name="T48" fmla="*/ 222 w 454"/>
                <a:gd name="T49" fmla="*/ 19 h 442"/>
                <a:gd name="T50" fmla="*/ 210 w 454"/>
                <a:gd name="T51" fmla="*/ 1 h 442"/>
                <a:gd name="T52" fmla="*/ 196 w 454"/>
                <a:gd name="T53" fmla="*/ 10 h 442"/>
                <a:gd name="T54" fmla="*/ 179 w 454"/>
                <a:gd name="T55" fmla="*/ 1 h 442"/>
                <a:gd name="T56" fmla="*/ 153 w 454"/>
                <a:gd name="T57" fmla="*/ 1 h 442"/>
                <a:gd name="T58" fmla="*/ 142 w 454"/>
                <a:gd name="T59" fmla="*/ 17 h 442"/>
                <a:gd name="T60" fmla="*/ 140 w 454"/>
                <a:gd name="T61" fmla="*/ 17 h 442"/>
                <a:gd name="T62" fmla="*/ 124 w 454"/>
                <a:gd name="T63" fmla="*/ 37 h 442"/>
                <a:gd name="T64" fmla="*/ 92 w 454"/>
                <a:gd name="T65" fmla="*/ 53 h 442"/>
                <a:gd name="T66" fmla="*/ 103 w 454"/>
                <a:gd name="T67" fmla="*/ 75 h 442"/>
                <a:gd name="T68" fmla="*/ 107 w 454"/>
                <a:gd name="T69" fmla="*/ 110 h 442"/>
                <a:gd name="T70" fmla="*/ 98 w 454"/>
                <a:gd name="T71" fmla="*/ 129 h 442"/>
                <a:gd name="T72" fmla="*/ 104 w 454"/>
                <a:gd name="T73" fmla="*/ 154 h 442"/>
                <a:gd name="T74" fmla="*/ 43 w 454"/>
                <a:gd name="T75" fmla="*/ 181 h 442"/>
                <a:gd name="T76" fmla="*/ 0 w 454"/>
                <a:gd name="T77" fmla="*/ 216 h 442"/>
                <a:gd name="T78" fmla="*/ 0 w 454"/>
                <a:gd name="T79" fmla="*/ 216 h 442"/>
                <a:gd name="T80" fmla="*/ 12 w 454"/>
                <a:gd name="T81" fmla="*/ 246 h 442"/>
                <a:gd name="T82" fmla="*/ 12 w 454"/>
                <a:gd name="T83" fmla="*/ 260 h 442"/>
                <a:gd name="T84" fmla="*/ 29 w 454"/>
                <a:gd name="T85" fmla="*/ 269 h 442"/>
                <a:gd name="T86" fmla="*/ 28 w 454"/>
                <a:gd name="T87" fmla="*/ 278 h 442"/>
                <a:gd name="T88" fmla="*/ 44 w 454"/>
                <a:gd name="T89" fmla="*/ 287 h 442"/>
                <a:gd name="T90" fmla="*/ 78 w 454"/>
                <a:gd name="T91" fmla="*/ 287 h 442"/>
                <a:gd name="T92" fmla="*/ 127 w 454"/>
                <a:gd name="T93" fmla="*/ 321 h 442"/>
                <a:gd name="T94" fmla="*/ 160 w 454"/>
                <a:gd name="T95" fmla="*/ 341 h 442"/>
                <a:gd name="T96" fmla="*/ 288 w 454"/>
                <a:gd name="T97" fmla="*/ 438 h 442"/>
                <a:gd name="T98" fmla="*/ 376 w 454"/>
                <a:gd name="T99" fmla="*/ 442 h 442"/>
                <a:gd name="T100" fmla="*/ 376 w 454"/>
                <a:gd name="T101" fmla="*/ 442 h 442"/>
                <a:gd name="T102" fmla="*/ 387 w 454"/>
                <a:gd name="T103" fmla="*/ 422 h 442"/>
                <a:gd name="T104" fmla="*/ 396 w 454"/>
                <a:gd name="T105" fmla="*/ 395 h 442"/>
                <a:gd name="T106" fmla="*/ 411 w 454"/>
                <a:gd name="T107" fmla="*/ 393 h 442"/>
                <a:gd name="T108" fmla="*/ 431 w 454"/>
                <a:gd name="T109" fmla="*/ 393 h 442"/>
                <a:gd name="T110" fmla="*/ 433 w 454"/>
                <a:gd name="T111" fmla="*/ 398 h 442"/>
                <a:gd name="T112" fmla="*/ 451 w 454"/>
                <a:gd name="T113" fmla="*/ 392 h 442"/>
                <a:gd name="T114" fmla="*/ 454 w 454"/>
                <a:gd name="T115" fmla="*/ 387 h 442"/>
                <a:gd name="T116" fmla="*/ 448 w 454"/>
                <a:gd name="T117" fmla="*/ 378 h 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54" h="442">
                  <a:moveTo>
                    <a:pt x="448" y="378"/>
                  </a:moveTo>
                  <a:cubicBezTo>
                    <a:pt x="447" y="369"/>
                    <a:pt x="432" y="365"/>
                    <a:pt x="432" y="365"/>
                  </a:cubicBezTo>
                  <a:cubicBezTo>
                    <a:pt x="428" y="346"/>
                    <a:pt x="428" y="346"/>
                    <a:pt x="428" y="346"/>
                  </a:cubicBezTo>
                  <a:cubicBezTo>
                    <a:pt x="428" y="346"/>
                    <a:pt x="423" y="346"/>
                    <a:pt x="415" y="340"/>
                  </a:cubicBezTo>
                  <a:cubicBezTo>
                    <a:pt x="407" y="334"/>
                    <a:pt x="415" y="295"/>
                    <a:pt x="415" y="295"/>
                  </a:cubicBezTo>
                  <a:cubicBezTo>
                    <a:pt x="393" y="270"/>
                    <a:pt x="393" y="270"/>
                    <a:pt x="393" y="270"/>
                  </a:cubicBezTo>
                  <a:cubicBezTo>
                    <a:pt x="393" y="270"/>
                    <a:pt x="391" y="258"/>
                    <a:pt x="380" y="258"/>
                  </a:cubicBezTo>
                  <a:cubicBezTo>
                    <a:pt x="369" y="258"/>
                    <a:pt x="348" y="240"/>
                    <a:pt x="348" y="240"/>
                  </a:cubicBezTo>
                  <a:cubicBezTo>
                    <a:pt x="335" y="239"/>
                    <a:pt x="335" y="239"/>
                    <a:pt x="335" y="239"/>
                  </a:cubicBezTo>
                  <a:cubicBezTo>
                    <a:pt x="335" y="212"/>
                    <a:pt x="335" y="212"/>
                    <a:pt x="335" y="212"/>
                  </a:cubicBezTo>
                  <a:cubicBezTo>
                    <a:pt x="335" y="212"/>
                    <a:pt x="293" y="191"/>
                    <a:pt x="291" y="182"/>
                  </a:cubicBezTo>
                  <a:cubicBezTo>
                    <a:pt x="289" y="173"/>
                    <a:pt x="299" y="168"/>
                    <a:pt x="299" y="168"/>
                  </a:cubicBezTo>
                  <a:cubicBezTo>
                    <a:pt x="299" y="168"/>
                    <a:pt x="290" y="161"/>
                    <a:pt x="291" y="154"/>
                  </a:cubicBezTo>
                  <a:cubicBezTo>
                    <a:pt x="292" y="147"/>
                    <a:pt x="305" y="148"/>
                    <a:pt x="305" y="148"/>
                  </a:cubicBezTo>
                  <a:cubicBezTo>
                    <a:pt x="304" y="135"/>
                    <a:pt x="304" y="135"/>
                    <a:pt x="304" y="135"/>
                  </a:cubicBezTo>
                  <a:cubicBezTo>
                    <a:pt x="305" y="126"/>
                    <a:pt x="305" y="126"/>
                    <a:pt x="305" y="126"/>
                  </a:cubicBezTo>
                  <a:cubicBezTo>
                    <a:pt x="305" y="126"/>
                    <a:pt x="315" y="126"/>
                    <a:pt x="318" y="118"/>
                  </a:cubicBezTo>
                  <a:cubicBezTo>
                    <a:pt x="321" y="110"/>
                    <a:pt x="307" y="101"/>
                    <a:pt x="307" y="97"/>
                  </a:cubicBezTo>
                  <a:cubicBezTo>
                    <a:pt x="307" y="93"/>
                    <a:pt x="323" y="84"/>
                    <a:pt x="318" y="80"/>
                  </a:cubicBezTo>
                  <a:cubicBezTo>
                    <a:pt x="313" y="76"/>
                    <a:pt x="299" y="85"/>
                    <a:pt x="299" y="85"/>
                  </a:cubicBezTo>
                  <a:cubicBezTo>
                    <a:pt x="288" y="73"/>
                    <a:pt x="288" y="73"/>
                    <a:pt x="288" y="73"/>
                  </a:cubicBezTo>
                  <a:cubicBezTo>
                    <a:pt x="274" y="71"/>
                    <a:pt x="274" y="71"/>
                    <a:pt x="274" y="71"/>
                  </a:cubicBezTo>
                  <a:cubicBezTo>
                    <a:pt x="274" y="71"/>
                    <a:pt x="277" y="61"/>
                    <a:pt x="265" y="50"/>
                  </a:cubicBezTo>
                  <a:cubicBezTo>
                    <a:pt x="256" y="42"/>
                    <a:pt x="251" y="19"/>
                    <a:pt x="249" y="8"/>
                  </a:cubicBezTo>
                  <a:cubicBezTo>
                    <a:pt x="222" y="19"/>
                    <a:pt x="222" y="19"/>
                    <a:pt x="222" y="19"/>
                  </a:cubicBezTo>
                  <a:cubicBezTo>
                    <a:pt x="222" y="19"/>
                    <a:pt x="224" y="2"/>
                    <a:pt x="210" y="1"/>
                  </a:cubicBezTo>
                  <a:cubicBezTo>
                    <a:pt x="196" y="0"/>
                    <a:pt x="204" y="8"/>
                    <a:pt x="196" y="10"/>
                  </a:cubicBezTo>
                  <a:cubicBezTo>
                    <a:pt x="188" y="12"/>
                    <a:pt x="179" y="1"/>
                    <a:pt x="179" y="1"/>
                  </a:cubicBezTo>
                  <a:cubicBezTo>
                    <a:pt x="153" y="1"/>
                    <a:pt x="153" y="1"/>
                    <a:pt x="153" y="1"/>
                  </a:cubicBezTo>
                  <a:cubicBezTo>
                    <a:pt x="153" y="1"/>
                    <a:pt x="154" y="14"/>
                    <a:pt x="142" y="17"/>
                  </a:cubicBezTo>
                  <a:cubicBezTo>
                    <a:pt x="141" y="17"/>
                    <a:pt x="141" y="17"/>
                    <a:pt x="140" y="17"/>
                  </a:cubicBezTo>
                  <a:cubicBezTo>
                    <a:pt x="138" y="24"/>
                    <a:pt x="133" y="33"/>
                    <a:pt x="124" y="37"/>
                  </a:cubicBezTo>
                  <a:cubicBezTo>
                    <a:pt x="108" y="44"/>
                    <a:pt x="96" y="39"/>
                    <a:pt x="92" y="53"/>
                  </a:cubicBezTo>
                  <a:cubicBezTo>
                    <a:pt x="88" y="67"/>
                    <a:pt x="103" y="75"/>
                    <a:pt x="103" y="75"/>
                  </a:cubicBezTo>
                  <a:cubicBezTo>
                    <a:pt x="103" y="75"/>
                    <a:pt x="111" y="105"/>
                    <a:pt x="107" y="110"/>
                  </a:cubicBezTo>
                  <a:cubicBezTo>
                    <a:pt x="103" y="115"/>
                    <a:pt x="97" y="122"/>
                    <a:pt x="98" y="129"/>
                  </a:cubicBezTo>
                  <a:cubicBezTo>
                    <a:pt x="99" y="136"/>
                    <a:pt x="116" y="145"/>
                    <a:pt x="104" y="154"/>
                  </a:cubicBezTo>
                  <a:cubicBezTo>
                    <a:pt x="92" y="163"/>
                    <a:pt x="43" y="181"/>
                    <a:pt x="43" y="181"/>
                  </a:cubicBezTo>
                  <a:cubicBezTo>
                    <a:pt x="0" y="216"/>
                    <a:pt x="0" y="216"/>
                    <a:pt x="0" y="216"/>
                  </a:cubicBezTo>
                  <a:cubicBezTo>
                    <a:pt x="0" y="216"/>
                    <a:pt x="0" y="216"/>
                    <a:pt x="0" y="216"/>
                  </a:cubicBezTo>
                  <a:cubicBezTo>
                    <a:pt x="12" y="246"/>
                    <a:pt x="12" y="246"/>
                    <a:pt x="12" y="246"/>
                  </a:cubicBezTo>
                  <a:cubicBezTo>
                    <a:pt x="12" y="260"/>
                    <a:pt x="12" y="260"/>
                    <a:pt x="12" y="260"/>
                  </a:cubicBezTo>
                  <a:cubicBezTo>
                    <a:pt x="29" y="269"/>
                    <a:pt x="29" y="269"/>
                    <a:pt x="29" y="269"/>
                  </a:cubicBezTo>
                  <a:cubicBezTo>
                    <a:pt x="28" y="278"/>
                    <a:pt x="28" y="278"/>
                    <a:pt x="28" y="278"/>
                  </a:cubicBezTo>
                  <a:cubicBezTo>
                    <a:pt x="28" y="278"/>
                    <a:pt x="35" y="288"/>
                    <a:pt x="44" y="287"/>
                  </a:cubicBezTo>
                  <a:cubicBezTo>
                    <a:pt x="53" y="286"/>
                    <a:pt x="78" y="287"/>
                    <a:pt x="78" y="287"/>
                  </a:cubicBezTo>
                  <a:cubicBezTo>
                    <a:pt x="78" y="287"/>
                    <a:pt x="115" y="315"/>
                    <a:pt x="127" y="321"/>
                  </a:cubicBezTo>
                  <a:cubicBezTo>
                    <a:pt x="139" y="327"/>
                    <a:pt x="160" y="341"/>
                    <a:pt x="160" y="341"/>
                  </a:cubicBezTo>
                  <a:cubicBezTo>
                    <a:pt x="288" y="438"/>
                    <a:pt x="288" y="438"/>
                    <a:pt x="288" y="438"/>
                  </a:cubicBezTo>
                  <a:cubicBezTo>
                    <a:pt x="288" y="438"/>
                    <a:pt x="339" y="439"/>
                    <a:pt x="376" y="442"/>
                  </a:cubicBezTo>
                  <a:cubicBezTo>
                    <a:pt x="376" y="442"/>
                    <a:pt x="376" y="442"/>
                    <a:pt x="376" y="442"/>
                  </a:cubicBezTo>
                  <a:cubicBezTo>
                    <a:pt x="379" y="438"/>
                    <a:pt x="386" y="431"/>
                    <a:pt x="387" y="422"/>
                  </a:cubicBezTo>
                  <a:cubicBezTo>
                    <a:pt x="389" y="410"/>
                    <a:pt x="396" y="395"/>
                    <a:pt x="396" y="395"/>
                  </a:cubicBezTo>
                  <a:cubicBezTo>
                    <a:pt x="411" y="393"/>
                    <a:pt x="411" y="393"/>
                    <a:pt x="411" y="393"/>
                  </a:cubicBezTo>
                  <a:cubicBezTo>
                    <a:pt x="431" y="393"/>
                    <a:pt x="431" y="393"/>
                    <a:pt x="431" y="393"/>
                  </a:cubicBezTo>
                  <a:cubicBezTo>
                    <a:pt x="433" y="398"/>
                    <a:pt x="433" y="398"/>
                    <a:pt x="433" y="398"/>
                  </a:cubicBezTo>
                  <a:cubicBezTo>
                    <a:pt x="451" y="392"/>
                    <a:pt x="451" y="392"/>
                    <a:pt x="451" y="392"/>
                  </a:cubicBezTo>
                  <a:cubicBezTo>
                    <a:pt x="454" y="387"/>
                    <a:pt x="454" y="387"/>
                    <a:pt x="454" y="387"/>
                  </a:cubicBezTo>
                  <a:cubicBezTo>
                    <a:pt x="451" y="384"/>
                    <a:pt x="448" y="381"/>
                    <a:pt x="448" y="378"/>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algn="r" defTabSz="877824" rtl="1"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441" name="Freeform 232">
              <a:extLst>
                <a:ext uri="{FF2B5EF4-FFF2-40B4-BE49-F238E27FC236}">
                  <a16:creationId xmlns:a16="http://schemas.microsoft.com/office/drawing/2014/main" id="{F2F23BC3-7B5F-4DB5-B6AB-44DDFFDF53EC}"/>
                </a:ext>
              </a:extLst>
            </p:cNvPr>
            <p:cNvSpPr>
              <a:spLocks/>
            </p:cNvSpPr>
            <p:nvPr/>
          </p:nvSpPr>
          <p:spPr bwMode="gray">
            <a:xfrm>
              <a:off x="6212371" y="1653365"/>
              <a:ext cx="60302" cy="51855"/>
            </a:xfrm>
            <a:custGeom>
              <a:avLst/>
              <a:gdLst>
                <a:gd name="T0" fmla="*/ 35 w 89"/>
                <a:gd name="T1" fmla="*/ 0 h 81"/>
                <a:gd name="T2" fmla="*/ 20 w 89"/>
                <a:gd name="T3" fmla="*/ 2 h 81"/>
                <a:gd name="T4" fmla="*/ 11 w 89"/>
                <a:gd name="T5" fmla="*/ 29 h 81"/>
                <a:gd name="T6" fmla="*/ 0 w 89"/>
                <a:gd name="T7" fmla="*/ 49 h 81"/>
                <a:gd name="T8" fmla="*/ 40 w 89"/>
                <a:gd name="T9" fmla="*/ 55 h 81"/>
                <a:gd name="T10" fmla="*/ 50 w 89"/>
                <a:gd name="T11" fmla="*/ 81 h 81"/>
                <a:gd name="T12" fmla="*/ 89 w 89"/>
                <a:gd name="T13" fmla="*/ 80 h 81"/>
                <a:gd name="T14" fmla="*/ 64 w 89"/>
                <a:gd name="T15" fmla="*/ 47 h 81"/>
                <a:gd name="T16" fmla="*/ 64 w 89"/>
                <a:gd name="T17" fmla="*/ 46 h 81"/>
                <a:gd name="T18" fmla="*/ 56 w 89"/>
                <a:gd name="T19" fmla="*/ 41 h 81"/>
                <a:gd name="T20" fmla="*/ 55 w 89"/>
                <a:gd name="T21" fmla="*/ 27 h 81"/>
                <a:gd name="T22" fmla="*/ 73 w 89"/>
                <a:gd name="T23" fmla="*/ 25 h 81"/>
                <a:gd name="T24" fmla="*/ 77 w 89"/>
                <a:gd name="T25" fmla="*/ 16 h 81"/>
                <a:gd name="T26" fmla="*/ 68 w 89"/>
                <a:gd name="T27" fmla="*/ 8 h 81"/>
                <a:gd name="T28" fmla="*/ 59 w 89"/>
                <a:gd name="T29" fmla="*/ 13 h 81"/>
                <a:gd name="T30" fmla="*/ 55 w 89"/>
                <a:gd name="T31" fmla="*/ 0 h 81"/>
                <a:gd name="T32" fmla="*/ 35 w 89"/>
                <a:gd name="T33" fmla="*/ 0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9" h="81">
                  <a:moveTo>
                    <a:pt x="35" y="0"/>
                  </a:moveTo>
                  <a:cubicBezTo>
                    <a:pt x="20" y="2"/>
                    <a:pt x="20" y="2"/>
                    <a:pt x="20" y="2"/>
                  </a:cubicBezTo>
                  <a:cubicBezTo>
                    <a:pt x="20" y="2"/>
                    <a:pt x="13" y="17"/>
                    <a:pt x="11" y="29"/>
                  </a:cubicBezTo>
                  <a:cubicBezTo>
                    <a:pt x="10" y="38"/>
                    <a:pt x="3" y="45"/>
                    <a:pt x="0" y="49"/>
                  </a:cubicBezTo>
                  <a:cubicBezTo>
                    <a:pt x="21" y="50"/>
                    <a:pt x="38" y="52"/>
                    <a:pt x="40" y="55"/>
                  </a:cubicBezTo>
                  <a:cubicBezTo>
                    <a:pt x="46" y="62"/>
                    <a:pt x="36" y="80"/>
                    <a:pt x="50" y="81"/>
                  </a:cubicBezTo>
                  <a:cubicBezTo>
                    <a:pt x="58" y="81"/>
                    <a:pt x="76" y="81"/>
                    <a:pt x="89" y="80"/>
                  </a:cubicBezTo>
                  <a:cubicBezTo>
                    <a:pt x="79" y="72"/>
                    <a:pt x="63" y="58"/>
                    <a:pt x="64" y="47"/>
                  </a:cubicBezTo>
                  <a:cubicBezTo>
                    <a:pt x="64" y="47"/>
                    <a:pt x="64" y="47"/>
                    <a:pt x="64" y="46"/>
                  </a:cubicBezTo>
                  <a:cubicBezTo>
                    <a:pt x="56" y="41"/>
                    <a:pt x="56" y="41"/>
                    <a:pt x="56" y="41"/>
                  </a:cubicBezTo>
                  <a:cubicBezTo>
                    <a:pt x="55" y="27"/>
                    <a:pt x="55" y="27"/>
                    <a:pt x="55" y="27"/>
                  </a:cubicBezTo>
                  <a:cubicBezTo>
                    <a:pt x="55" y="27"/>
                    <a:pt x="69" y="25"/>
                    <a:pt x="73" y="25"/>
                  </a:cubicBezTo>
                  <a:cubicBezTo>
                    <a:pt x="77" y="25"/>
                    <a:pt x="77" y="16"/>
                    <a:pt x="77" y="16"/>
                  </a:cubicBezTo>
                  <a:cubicBezTo>
                    <a:pt x="77" y="16"/>
                    <a:pt x="77" y="8"/>
                    <a:pt x="68" y="8"/>
                  </a:cubicBezTo>
                  <a:cubicBezTo>
                    <a:pt x="59" y="8"/>
                    <a:pt x="59" y="13"/>
                    <a:pt x="59" y="13"/>
                  </a:cubicBezTo>
                  <a:cubicBezTo>
                    <a:pt x="55" y="0"/>
                    <a:pt x="55" y="0"/>
                    <a:pt x="55" y="0"/>
                  </a:cubicBezTo>
                  <a:lnTo>
                    <a:pt x="35" y="0"/>
                  </a:ln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442" name="Freeform 234">
              <a:extLst>
                <a:ext uri="{FF2B5EF4-FFF2-40B4-BE49-F238E27FC236}">
                  <a16:creationId xmlns:a16="http://schemas.microsoft.com/office/drawing/2014/main" id="{C5C9C90B-F0AB-4B4B-94F1-AB30298B5445}"/>
                </a:ext>
              </a:extLst>
            </p:cNvPr>
            <p:cNvSpPr>
              <a:spLocks/>
            </p:cNvSpPr>
            <p:nvPr/>
          </p:nvSpPr>
          <p:spPr bwMode="gray">
            <a:xfrm>
              <a:off x="6785521" y="1275452"/>
              <a:ext cx="252404" cy="152848"/>
            </a:xfrm>
            <a:custGeom>
              <a:avLst/>
              <a:gdLst>
                <a:gd name="T0" fmla="*/ 345 w 372"/>
                <a:gd name="T1" fmla="*/ 142 h 238"/>
                <a:gd name="T2" fmla="*/ 291 w 372"/>
                <a:gd name="T3" fmla="*/ 132 h 238"/>
                <a:gd name="T4" fmla="*/ 275 w 372"/>
                <a:gd name="T5" fmla="*/ 99 h 238"/>
                <a:gd name="T6" fmla="*/ 266 w 372"/>
                <a:gd name="T7" fmla="*/ 79 h 238"/>
                <a:gd name="T8" fmla="*/ 230 w 372"/>
                <a:gd name="T9" fmla="*/ 87 h 238"/>
                <a:gd name="T10" fmla="*/ 210 w 372"/>
                <a:gd name="T11" fmla="*/ 90 h 238"/>
                <a:gd name="T12" fmla="*/ 176 w 372"/>
                <a:gd name="T13" fmla="*/ 76 h 238"/>
                <a:gd name="T14" fmla="*/ 142 w 372"/>
                <a:gd name="T15" fmla="*/ 77 h 238"/>
                <a:gd name="T16" fmla="*/ 108 w 372"/>
                <a:gd name="T17" fmla="*/ 75 h 238"/>
                <a:gd name="T18" fmla="*/ 76 w 372"/>
                <a:gd name="T19" fmla="*/ 62 h 238"/>
                <a:gd name="T20" fmla="*/ 101 w 372"/>
                <a:gd name="T21" fmla="*/ 43 h 238"/>
                <a:gd name="T22" fmla="*/ 141 w 372"/>
                <a:gd name="T23" fmla="*/ 45 h 238"/>
                <a:gd name="T24" fmla="*/ 133 w 372"/>
                <a:gd name="T25" fmla="*/ 12 h 238"/>
                <a:gd name="T26" fmla="*/ 91 w 372"/>
                <a:gd name="T27" fmla="*/ 21 h 238"/>
                <a:gd name="T28" fmla="*/ 65 w 372"/>
                <a:gd name="T29" fmla="*/ 25 h 238"/>
                <a:gd name="T30" fmla="*/ 46 w 372"/>
                <a:gd name="T31" fmla="*/ 43 h 238"/>
                <a:gd name="T32" fmla="*/ 49 w 372"/>
                <a:gd name="T33" fmla="*/ 66 h 238"/>
                <a:gd name="T34" fmla="*/ 6 w 372"/>
                <a:gd name="T35" fmla="*/ 82 h 238"/>
                <a:gd name="T36" fmla="*/ 14 w 372"/>
                <a:gd name="T37" fmla="*/ 100 h 238"/>
                <a:gd name="T38" fmla="*/ 42 w 372"/>
                <a:gd name="T39" fmla="*/ 114 h 238"/>
                <a:gd name="T40" fmla="*/ 61 w 372"/>
                <a:gd name="T41" fmla="*/ 158 h 238"/>
                <a:gd name="T42" fmla="*/ 42 w 372"/>
                <a:gd name="T43" fmla="*/ 206 h 238"/>
                <a:gd name="T44" fmla="*/ 89 w 372"/>
                <a:gd name="T45" fmla="*/ 199 h 238"/>
                <a:gd name="T46" fmla="*/ 111 w 372"/>
                <a:gd name="T47" fmla="*/ 189 h 238"/>
                <a:gd name="T48" fmla="*/ 145 w 372"/>
                <a:gd name="T49" fmla="*/ 189 h 238"/>
                <a:gd name="T50" fmla="*/ 142 w 372"/>
                <a:gd name="T51" fmla="*/ 168 h 238"/>
                <a:gd name="T52" fmla="*/ 164 w 372"/>
                <a:gd name="T53" fmla="*/ 135 h 238"/>
                <a:gd name="T54" fmla="*/ 184 w 372"/>
                <a:gd name="T55" fmla="*/ 168 h 238"/>
                <a:gd name="T56" fmla="*/ 205 w 372"/>
                <a:gd name="T57" fmla="*/ 210 h 238"/>
                <a:gd name="T58" fmla="*/ 249 w 372"/>
                <a:gd name="T59" fmla="*/ 216 h 238"/>
                <a:gd name="T60" fmla="*/ 273 w 372"/>
                <a:gd name="T61" fmla="*/ 197 h 238"/>
                <a:gd name="T62" fmla="*/ 306 w 372"/>
                <a:gd name="T63" fmla="*/ 202 h 238"/>
                <a:gd name="T64" fmla="*/ 343 w 372"/>
                <a:gd name="T65" fmla="*/ 194 h 238"/>
                <a:gd name="T66" fmla="*/ 364 w 372"/>
                <a:gd name="T67" fmla="*/ 197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72" h="238">
                  <a:moveTo>
                    <a:pt x="353" y="181"/>
                  </a:moveTo>
                  <a:cubicBezTo>
                    <a:pt x="346" y="174"/>
                    <a:pt x="345" y="152"/>
                    <a:pt x="345" y="142"/>
                  </a:cubicBezTo>
                  <a:cubicBezTo>
                    <a:pt x="345" y="132"/>
                    <a:pt x="333" y="129"/>
                    <a:pt x="319" y="125"/>
                  </a:cubicBezTo>
                  <a:cubicBezTo>
                    <a:pt x="305" y="121"/>
                    <a:pt x="301" y="136"/>
                    <a:pt x="291" y="132"/>
                  </a:cubicBezTo>
                  <a:cubicBezTo>
                    <a:pt x="281" y="128"/>
                    <a:pt x="289" y="110"/>
                    <a:pt x="289" y="103"/>
                  </a:cubicBezTo>
                  <a:cubicBezTo>
                    <a:pt x="289" y="96"/>
                    <a:pt x="275" y="99"/>
                    <a:pt x="275" y="99"/>
                  </a:cubicBezTo>
                  <a:cubicBezTo>
                    <a:pt x="275" y="82"/>
                    <a:pt x="275" y="82"/>
                    <a:pt x="275" y="82"/>
                  </a:cubicBezTo>
                  <a:cubicBezTo>
                    <a:pt x="266" y="79"/>
                    <a:pt x="266" y="79"/>
                    <a:pt x="266" y="79"/>
                  </a:cubicBezTo>
                  <a:cubicBezTo>
                    <a:pt x="258" y="88"/>
                    <a:pt x="258" y="88"/>
                    <a:pt x="258" y="88"/>
                  </a:cubicBezTo>
                  <a:cubicBezTo>
                    <a:pt x="230" y="87"/>
                    <a:pt x="230" y="87"/>
                    <a:pt x="230" y="87"/>
                  </a:cubicBezTo>
                  <a:cubicBezTo>
                    <a:pt x="230" y="87"/>
                    <a:pt x="226" y="90"/>
                    <a:pt x="216" y="93"/>
                  </a:cubicBezTo>
                  <a:cubicBezTo>
                    <a:pt x="206" y="96"/>
                    <a:pt x="210" y="90"/>
                    <a:pt x="210" y="90"/>
                  </a:cubicBezTo>
                  <a:cubicBezTo>
                    <a:pt x="210" y="90"/>
                    <a:pt x="198" y="93"/>
                    <a:pt x="195" y="93"/>
                  </a:cubicBezTo>
                  <a:cubicBezTo>
                    <a:pt x="192" y="93"/>
                    <a:pt x="181" y="75"/>
                    <a:pt x="176" y="76"/>
                  </a:cubicBezTo>
                  <a:cubicBezTo>
                    <a:pt x="171" y="77"/>
                    <a:pt x="160" y="85"/>
                    <a:pt x="154" y="86"/>
                  </a:cubicBezTo>
                  <a:cubicBezTo>
                    <a:pt x="148" y="87"/>
                    <a:pt x="142" y="77"/>
                    <a:pt x="142" y="77"/>
                  </a:cubicBezTo>
                  <a:cubicBezTo>
                    <a:pt x="142" y="77"/>
                    <a:pt x="135" y="76"/>
                    <a:pt x="130" y="78"/>
                  </a:cubicBezTo>
                  <a:cubicBezTo>
                    <a:pt x="125" y="80"/>
                    <a:pt x="108" y="75"/>
                    <a:pt x="108" y="75"/>
                  </a:cubicBezTo>
                  <a:cubicBezTo>
                    <a:pt x="108" y="75"/>
                    <a:pt x="93" y="80"/>
                    <a:pt x="86" y="81"/>
                  </a:cubicBezTo>
                  <a:cubicBezTo>
                    <a:pt x="79" y="82"/>
                    <a:pt x="76" y="62"/>
                    <a:pt x="76" y="62"/>
                  </a:cubicBezTo>
                  <a:cubicBezTo>
                    <a:pt x="85" y="59"/>
                    <a:pt x="85" y="59"/>
                    <a:pt x="85" y="59"/>
                  </a:cubicBezTo>
                  <a:cubicBezTo>
                    <a:pt x="85" y="59"/>
                    <a:pt x="88" y="44"/>
                    <a:pt x="101" y="43"/>
                  </a:cubicBezTo>
                  <a:cubicBezTo>
                    <a:pt x="114" y="42"/>
                    <a:pt x="124" y="52"/>
                    <a:pt x="131" y="56"/>
                  </a:cubicBezTo>
                  <a:cubicBezTo>
                    <a:pt x="138" y="60"/>
                    <a:pt x="140" y="49"/>
                    <a:pt x="141" y="45"/>
                  </a:cubicBezTo>
                  <a:cubicBezTo>
                    <a:pt x="142" y="41"/>
                    <a:pt x="117" y="33"/>
                    <a:pt x="117" y="33"/>
                  </a:cubicBezTo>
                  <a:cubicBezTo>
                    <a:pt x="133" y="12"/>
                    <a:pt x="133" y="12"/>
                    <a:pt x="133" y="12"/>
                  </a:cubicBezTo>
                  <a:cubicBezTo>
                    <a:pt x="133" y="12"/>
                    <a:pt x="118" y="0"/>
                    <a:pt x="114" y="2"/>
                  </a:cubicBezTo>
                  <a:cubicBezTo>
                    <a:pt x="110" y="4"/>
                    <a:pt x="99" y="16"/>
                    <a:pt x="91" y="21"/>
                  </a:cubicBezTo>
                  <a:cubicBezTo>
                    <a:pt x="83" y="26"/>
                    <a:pt x="80" y="12"/>
                    <a:pt x="74" y="12"/>
                  </a:cubicBezTo>
                  <a:cubicBezTo>
                    <a:pt x="68" y="12"/>
                    <a:pt x="66" y="21"/>
                    <a:pt x="65" y="25"/>
                  </a:cubicBezTo>
                  <a:cubicBezTo>
                    <a:pt x="64" y="29"/>
                    <a:pt x="77" y="36"/>
                    <a:pt x="71" y="42"/>
                  </a:cubicBezTo>
                  <a:cubicBezTo>
                    <a:pt x="65" y="48"/>
                    <a:pt x="46" y="43"/>
                    <a:pt x="46" y="43"/>
                  </a:cubicBezTo>
                  <a:cubicBezTo>
                    <a:pt x="59" y="57"/>
                    <a:pt x="59" y="57"/>
                    <a:pt x="59" y="57"/>
                  </a:cubicBezTo>
                  <a:cubicBezTo>
                    <a:pt x="49" y="66"/>
                    <a:pt x="49" y="66"/>
                    <a:pt x="49" y="66"/>
                  </a:cubicBezTo>
                  <a:cubicBezTo>
                    <a:pt x="49" y="66"/>
                    <a:pt x="61" y="71"/>
                    <a:pt x="46" y="80"/>
                  </a:cubicBezTo>
                  <a:cubicBezTo>
                    <a:pt x="31" y="89"/>
                    <a:pt x="12" y="77"/>
                    <a:pt x="6" y="82"/>
                  </a:cubicBezTo>
                  <a:cubicBezTo>
                    <a:pt x="0" y="87"/>
                    <a:pt x="0" y="97"/>
                    <a:pt x="0" y="97"/>
                  </a:cubicBezTo>
                  <a:cubicBezTo>
                    <a:pt x="14" y="100"/>
                    <a:pt x="14" y="100"/>
                    <a:pt x="14" y="100"/>
                  </a:cubicBezTo>
                  <a:cubicBezTo>
                    <a:pt x="21" y="108"/>
                    <a:pt x="21" y="108"/>
                    <a:pt x="21" y="108"/>
                  </a:cubicBezTo>
                  <a:cubicBezTo>
                    <a:pt x="21" y="108"/>
                    <a:pt x="37" y="109"/>
                    <a:pt x="42" y="114"/>
                  </a:cubicBezTo>
                  <a:cubicBezTo>
                    <a:pt x="47" y="119"/>
                    <a:pt x="36" y="128"/>
                    <a:pt x="42" y="138"/>
                  </a:cubicBezTo>
                  <a:cubicBezTo>
                    <a:pt x="48" y="148"/>
                    <a:pt x="61" y="147"/>
                    <a:pt x="61" y="158"/>
                  </a:cubicBezTo>
                  <a:cubicBezTo>
                    <a:pt x="61" y="169"/>
                    <a:pt x="51" y="179"/>
                    <a:pt x="44" y="187"/>
                  </a:cubicBezTo>
                  <a:cubicBezTo>
                    <a:pt x="40" y="191"/>
                    <a:pt x="41" y="200"/>
                    <a:pt x="42" y="206"/>
                  </a:cubicBezTo>
                  <a:cubicBezTo>
                    <a:pt x="48" y="211"/>
                    <a:pt x="56" y="217"/>
                    <a:pt x="58" y="218"/>
                  </a:cubicBezTo>
                  <a:cubicBezTo>
                    <a:pt x="61" y="219"/>
                    <a:pt x="86" y="199"/>
                    <a:pt x="89" y="199"/>
                  </a:cubicBezTo>
                  <a:cubicBezTo>
                    <a:pt x="92" y="199"/>
                    <a:pt x="103" y="216"/>
                    <a:pt x="107" y="214"/>
                  </a:cubicBezTo>
                  <a:cubicBezTo>
                    <a:pt x="111" y="212"/>
                    <a:pt x="106" y="194"/>
                    <a:pt x="111" y="189"/>
                  </a:cubicBezTo>
                  <a:cubicBezTo>
                    <a:pt x="116" y="184"/>
                    <a:pt x="138" y="183"/>
                    <a:pt x="138" y="183"/>
                  </a:cubicBezTo>
                  <a:cubicBezTo>
                    <a:pt x="145" y="189"/>
                    <a:pt x="145" y="189"/>
                    <a:pt x="145" y="189"/>
                  </a:cubicBezTo>
                  <a:cubicBezTo>
                    <a:pt x="150" y="175"/>
                    <a:pt x="150" y="175"/>
                    <a:pt x="150" y="175"/>
                  </a:cubicBezTo>
                  <a:cubicBezTo>
                    <a:pt x="150" y="175"/>
                    <a:pt x="142" y="175"/>
                    <a:pt x="142" y="168"/>
                  </a:cubicBezTo>
                  <a:cubicBezTo>
                    <a:pt x="142" y="161"/>
                    <a:pt x="156" y="158"/>
                    <a:pt x="156" y="154"/>
                  </a:cubicBezTo>
                  <a:cubicBezTo>
                    <a:pt x="156" y="150"/>
                    <a:pt x="155" y="135"/>
                    <a:pt x="164" y="135"/>
                  </a:cubicBezTo>
                  <a:cubicBezTo>
                    <a:pt x="173" y="135"/>
                    <a:pt x="184" y="144"/>
                    <a:pt x="184" y="149"/>
                  </a:cubicBezTo>
                  <a:cubicBezTo>
                    <a:pt x="184" y="154"/>
                    <a:pt x="184" y="168"/>
                    <a:pt x="184" y="168"/>
                  </a:cubicBezTo>
                  <a:cubicBezTo>
                    <a:pt x="198" y="168"/>
                    <a:pt x="198" y="168"/>
                    <a:pt x="198" y="168"/>
                  </a:cubicBezTo>
                  <a:cubicBezTo>
                    <a:pt x="205" y="210"/>
                    <a:pt x="205" y="210"/>
                    <a:pt x="205" y="210"/>
                  </a:cubicBezTo>
                  <a:cubicBezTo>
                    <a:pt x="205" y="210"/>
                    <a:pt x="221" y="238"/>
                    <a:pt x="228" y="235"/>
                  </a:cubicBezTo>
                  <a:cubicBezTo>
                    <a:pt x="235" y="232"/>
                    <a:pt x="249" y="216"/>
                    <a:pt x="249" y="216"/>
                  </a:cubicBezTo>
                  <a:cubicBezTo>
                    <a:pt x="259" y="216"/>
                    <a:pt x="259" y="216"/>
                    <a:pt x="259" y="216"/>
                  </a:cubicBezTo>
                  <a:cubicBezTo>
                    <a:pt x="259" y="216"/>
                    <a:pt x="266" y="205"/>
                    <a:pt x="273" y="197"/>
                  </a:cubicBezTo>
                  <a:cubicBezTo>
                    <a:pt x="280" y="189"/>
                    <a:pt x="304" y="192"/>
                    <a:pt x="304" y="192"/>
                  </a:cubicBezTo>
                  <a:cubicBezTo>
                    <a:pt x="306" y="202"/>
                    <a:pt x="306" y="202"/>
                    <a:pt x="306" y="202"/>
                  </a:cubicBezTo>
                  <a:cubicBezTo>
                    <a:pt x="330" y="194"/>
                    <a:pt x="330" y="194"/>
                    <a:pt x="330" y="194"/>
                  </a:cubicBezTo>
                  <a:cubicBezTo>
                    <a:pt x="343" y="194"/>
                    <a:pt x="343" y="194"/>
                    <a:pt x="343" y="194"/>
                  </a:cubicBezTo>
                  <a:cubicBezTo>
                    <a:pt x="350" y="199"/>
                    <a:pt x="350" y="199"/>
                    <a:pt x="350" y="199"/>
                  </a:cubicBezTo>
                  <a:cubicBezTo>
                    <a:pt x="355" y="199"/>
                    <a:pt x="361" y="199"/>
                    <a:pt x="364" y="197"/>
                  </a:cubicBezTo>
                  <a:cubicBezTo>
                    <a:pt x="372" y="191"/>
                    <a:pt x="360" y="188"/>
                    <a:pt x="353" y="181"/>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443" name="Freeform 235">
              <a:extLst>
                <a:ext uri="{FF2B5EF4-FFF2-40B4-BE49-F238E27FC236}">
                  <a16:creationId xmlns:a16="http://schemas.microsoft.com/office/drawing/2014/main" id="{3BC25126-FE8B-484B-8D07-01535088F986}"/>
                </a:ext>
              </a:extLst>
            </p:cNvPr>
            <p:cNvSpPr>
              <a:spLocks/>
            </p:cNvSpPr>
            <p:nvPr/>
          </p:nvSpPr>
          <p:spPr bwMode="gray">
            <a:xfrm>
              <a:off x="6837208" y="1201879"/>
              <a:ext cx="304379" cy="135201"/>
            </a:xfrm>
            <a:custGeom>
              <a:avLst/>
              <a:gdLst>
                <a:gd name="T0" fmla="*/ 46 w 449"/>
                <a:gd name="T1" fmla="*/ 96 h 211"/>
                <a:gd name="T2" fmla="*/ 76 w 449"/>
                <a:gd name="T3" fmla="*/ 107 h 211"/>
                <a:gd name="T4" fmla="*/ 84 w 449"/>
                <a:gd name="T5" fmla="*/ 98 h 211"/>
                <a:gd name="T6" fmla="*/ 95 w 449"/>
                <a:gd name="T7" fmla="*/ 106 h 211"/>
                <a:gd name="T8" fmla="*/ 114 w 449"/>
                <a:gd name="T9" fmla="*/ 117 h 211"/>
                <a:gd name="T10" fmla="*/ 132 w 449"/>
                <a:gd name="T11" fmla="*/ 124 h 211"/>
                <a:gd name="T12" fmla="*/ 129 w 449"/>
                <a:gd name="T13" fmla="*/ 141 h 211"/>
                <a:gd name="T14" fmla="*/ 115 w 449"/>
                <a:gd name="T15" fmla="*/ 149 h 211"/>
                <a:gd name="T16" fmla="*/ 84 w 449"/>
                <a:gd name="T17" fmla="*/ 152 h 211"/>
                <a:gd name="T18" fmla="*/ 65 w 449"/>
                <a:gd name="T19" fmla="*/ 160 h 211"/>
                <a:gd name="T20" fmla="*/ 25 w 449"/>
                <a:gd name="T21" fmla="*/ 158 h 211"/>
                <a:gd name="T22" fmla="*/ 0 w 449"/>
                <a:gd name="T23" fmla="*/ 177 h 211"/>
                <a:gd name="T24" fmla="*/ 32 w 449"/>
                <a:gd name="T25" fmla="*/ 190 h 211"/>
                <a:gd name="T26" fmla="*/ 66 w 449"/>
                <a:gd name="T27" fmla="*/ 192 h 211"/>
                <a:gd name="T28" fmla="*/ 100 w 449"/>
                <a:gd name="T29" fmla="*/ 191 h 211"/>
                <a:gd name="T30" fmla="*/ 134 w 449"/>
                <a:gd name="T31" fmla="*/ 205 h 211"/>
                <a:gd name="T32" fmla="*/ 154 w 449"/>
                <a:gd name="T33" fmla="*/ 202 h 211"/>
                <a:gd name="T34" fmla="*/ 190 w 449"/>
                <a:gd name="T35" fmla="*/ 194 h 211"/>
                <a:gd name="T36" fmla="*/ 211 w 449"/>
                <a:gd name="T37" fmla="*/ 195 h 211"/>
                <a:gd name="T38" fmla="*/ 231 w 449"/>
                <a:gd name="T39" fmla="*/ 157 h 211"/>
                <a:gd name="T40" fmla="*/ 250 w 449"/>
                <a:gd name="T41" fmla="*/ 145 h 211"/>
                <a:gd name="T42" fmla="*/ 278 w 449"/>
                <a:gd name="T43" fmla="*/ 155 h 211"/>
                <a:gd name="T44" fmla="*/ 304 w 449"/>
                <a:gd name="T45" fmla="*/ 153 h 211"/>
                <a:gd name="T46" fmla="*/ 327 w 449"/>
                <a:gd name="T47" fmla="*/ 112 h 211"/>
                <a:gd name="T48" fmla="*/ 378 w 449"/>
                <a:gd name="T49" fmla="*/ 98 h 211"/>
                <a:gd name="T50" fmla="*/ 429 w 449"/>
                <a:gd name="T51" fmla="*/ 65 h 211"/>
                <a:gd name="T52" fmla="*/ 443 w 449"/>
                <a:gd name="T53" fmla="*/ 46 h 211"/>
                <a:gd name="T54" fmla="*/ 401 w 449"/>
                <a:gd name="T55" fmla="*/ 41 h 211"/>
                <a:gd name="T56" fmla="*/ 372 w 449"/>
                <a:gd name="T57" fmla="*/ 23 h 211"/>
                <a:gd name="T58" fmla="*/ 332 w 449"/>
                <a:gd name="T59" fmla="*/ 16 h 211"/>
                <a:gd name="T60" fmla="*/ 238 w 449"/>
                <a:gd name="T61" fmla="*/ 14 h 211"/>
                <a:gd name="T62" fmla="*/ 194 w 449"/>
                <a:gd name="T63" fmla="*/ 12 h 211"/>
                <a:gd name="T64" fmla="*/ 144 w 449"/>
                <a:gd name="T65" fmla="*/ 5 h 211"/>
                <a:gd name="T66" fmla="*/ 138 w 449"/>
                <a:gd name="T67" fmla="*/ 37 h 211"/>
                <a:gd name="T68" fmla="*/ 61 w 449"/>
                <a:gd name="T69" fmla="*/ 18 h 211"/>
                <a:gd name="T70" fmla="*/ 57 w 449"/>
                <a:gd name="T71" fmla="*/ 54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49" h="211">
                  <a:moveTo>
                    <a:pt x="23" y="88"/>
                  </a:moveTo>
                  <a:cubicBezTo>
                    <a:pt x="46" y="96"/>
                    <a:pt x="46" y="96"/>
                    <a:pt x="46" y="96"/>
                  </a:cubicBezTo>
                  <a:cubicBezTo>
                    <a:pt x="46" y="96"/>
                    <a:pt x="47" y="101"/>
                    <a:pt x="52" y="105"/>
                  </a:cubicBezTo>
                  <a:cubicBezTo>
                    <a:pt x="57" y="109"/>
                    <a:pt x="76" y="107"/>
                    <a:pt x="76" y="107"/>
                  </a:cubicBezTo>
                  <a:cubicBezTo>
                    <a:pt x="75" y="98"/>
                    <a:pt x="75" y="98"/>
                    <a:pt x="75" y="98"/>
                  </a:cubicBezTo>
                  <a:cubicBezTo>
                    <a:pt x="84" y="98"/>
                    <a:pt x="84" y="98"/>
                    <a:pt x="84" y="98"/>
                  </a:cubicBezTo>
                  <a:cubicBezTo>
                    <a:pt x="84" y="88"/>
                    <a:pt x="84" y="88"/>
                    <a:pt x="84" y="88"/>
                  </a:cubicBezTo>
                  <a:cubicBezTo>
                    <a:pt x="95" y="106"/>
                    <a:pt x="95" y="106"/>
                    <a:pt x="95" y="106"/>
                  </a:cubicBezTo>
                  <a:cubicBezTo>
                    <a:pt x="108" y="106"/>
                    <a:pt x="108" y="106"/>
                    <a:pt x="108" y="106"/>
                  </a:cubicBezTo>
                  <a:cubicBezTo>
                    <a:pt x="114" y="117"/>
                    <a:pt x="114" y="117"/>
                    <a:pt x="114" y="117"/>
                  </a:cubicBezTo>
                  <a:cubicBezTo>
                    <a:pt x="127" y="119"/>
                    <a:pt x="127" y="119"/>
                    <a:pt x="127" y="119"/>
                  </a:cubicBezTo>
                  <a:cubicBezTo>
                    <a:pt x="132" y="124"/>
                    <a:pt x="132" y="124"/>
                    <a:pt x="132" y="124"/>
                  </a:cubicBezTo>
                  <a:cubicBezTo>
                    <a:pt x="132" y="124"/>
                    <a:pt x="161" y="118"/>
                    <a:pt x="151" y="130"/>
                  </a:cubicBezTo>
                  <a:cubicBezTo>
                    <a:pt x="141" y="142"/>
                    <a:pt x="129" y="141"/>
                    <a:pt x="129" y="141"/>
                  </a:cubicBezTo>
                  <a:cubicBezTo>
                    <a:pt x="129" y="147"/>
                    <a:pt x="129" y="147"/>
                    <a:pt x="129" y="147"/>
                  </a:cubicBezTo>
                  <a:cubicBezTo>
                    <a:pt x="115" y="149"/>
                    <a:pt x="115" y="149"/>
                    <a:pt x="115" y="149"/>
                  </a:cubicBezTo>
                  <a:cubicBezTo>
                    <a:pt x="115" y="149"/>
                    <a:pt x="113" y="158"/>
                    <a:pt x="104" y="162"/>
                  </a:cubicBezTo>
                  <a:cubicBezTo>
                    <a:pt x="95" y="166"/>
                    <a:pt x="91" y="150"/>
                    <a:pt x="84" y="152"/>
                  </a:cubicBezTo>
                  <a:cubicBezTo>
                    <a:pt x="80" y="153"/>
                    <a:pt x="71" y="156"/>
                    <a:pt x="64" y="159"/>
                  </a:cubicBezTo>
                  <a:cubicBezTo>
                    <a:pt x="65" y="159"/>
                    <a:pt x="65" y="159"/>
                    <a:pt x="65" y="160"/>
                  </a:cubicBezTo>
                  <a:cubicBezTo>
                    <a:pt x="64" y="164"/>
                    <a:pt x="62" y="175"/>
                    <a:pt x="55" y="171"/>
                  </a:cubicBezTo>
                  <a:cubicBezTo>
                    <a:pt x="48" y="167"/>
                    <a:pt x="38" y="157"/>
                    <a:pt x="25" y="158"/>
                  </a:cubicBezTo>
                  <a:cubicBezTo>
                    <a:pt x="12" y="159"/>
                    <a:pt x="9" y="174"/>
                    <a:pt x="9" y="174"/>
                  </a:cubicBezTo>
                  <a:cubicBezTo>
                    <a:pt x="0" y="177"/>
                    <a:pt x="0" y="177"/>
                    <a:pt x="0" y="177"/>
                  </a:cubicBezTo>
                  <a:cubicBezTo>
                    <a:pt x="0" y="177"/>
                    <a:pt x="3" y="197"/>
                    <a:pt x="10" y="196"/>
                  </a:cubicBezTo>
                  <a:cubicBezTo>
                    <a:pt x="17" y="195"/>
                    <a:pt x="32" y="190"/>
                    <a:pt x="32" y="190"/>
                  </a:cubicBezTo>
                  <a:cubicBezTo>
                    <a:pt x="32" y="190"/>
                    <a:pt x="49" y="195"/>
                    <a:pt x="54" y="193"/>
                  </a:cubicBezTo>
                  <a:cubicBezTo>
                    <a:pt x="59" y="191"/>
                    <a:pt x="66" y="192"/>
                    <a:pt x="66" y="192"/>
                  </a:cubicBezTo>
                  <a:cubicBezTo>
                    <a:pt x="66" y="192"/>
                    <a:pt x="72" y="202"/>
                    <a:pt x="78" y="201"/>
                  </a:cubicBezTo>
                  <a:cubicBezTo>
                    <a:pt x="84" y="200"/>
                    <a:pt x="95" y="192"/>
                    <a:pt x="100" y="191"/>
                  </a:cubicBezTo>
                  <a:cubicBezTo>
                    <a:pt x="105" y="190"/>
                    <a:pt x="116" y="208"/>
                    <a:pt x="119" y="208"/>
                  </a:cubicBezTo>
                  <a:cubicBezTo>
                    <a:pt x="122" y="208"/>
                    <a:pt x="134" y="205"/>
                    <a:pt x="134" y="205"/>
                  </a:cubicBezTo>
                  <a:cubicBezTo>
                    <a:pt x="134" y="205"/>
                    <a:pt x="130" y="211"/>
                    <a:pt x="140" y="208"/>
                  </a:cubicBezTo>
                  <a:cubicBezTo>
                    <a:pt x="150" y="205"/>
                    <a:pt x="154" y="202"/>
                    <a:pt x="154" y="202"/>
                  </a:cubicBezTo>
                  <a:cubicBezTo>
                    <a:pt x="182" y="203"/>
                    <a:pt x="182" y="203"/>
                    <a:pt x="182" y="203"/>
                  </a:cubicBezTo>
                  <a:cubicBezTo>
                    <a:pt x="190" y="194"/>
                    <a:pt x="190" y="194"/>
                    <a:pt x="190" y="194"/>
                  </a:cubicBezTo>
                  <a:cubicBezTo>
                    <a:pt x="199" y="197"/>
                    <a:pt x="199" y="197"/>
                    <a:pt x="199" y="197"/>
                  </a:cubicBezTo>
                  <a:cubicBezTo>
                    <a:pt x="199" y="197"/>
                    <a:pt x="211" y="199"/>
                    <a:pt x="211" y="195"/>
                  </a:cubicBezTo>
                  <a:cubicBezTo>
                    <a:pt x="211" y="191"/>
                    <a:pt x="200" y="178"/>
                    <a:pt x="199" y="175"/>
                  </a:cubicBezTo>
                  <a:cubicBezTo>
                    <a:pt x="198" y="172"/>
                    <a:pt x="231" y="157"/>
                    <a:pt x="231" y="157"/>
                  </a:cubicBezTo>
                  <a:cubicBezTo>
                    <a:pt x="231" y="147"/>
                    <a:pt x="231" y="147"/>
                    <a:pt x="231" y="147"/>
                  </a:cubicBezTo>
                  <a:cubicBezTo>
                    <a:pt x="250" y="145"/>
                    <a:pt x="250" y="145"/>
                    <a:pt x="250" y="145"/>
                  </a:cubicBezTo>
                  <a:cubicBezTo>
                    <a:pt x="250" y="145"/>
                    <a:pt x="255" y="136"/>
                    <a:pt x="261" y="136"/>
                  </a:cubicBezTo>
                  <a:cubicBezTo>
                    <a:pt x="267" y="136"/>
                    <a:pt x="278" y="155"/>
                    <a:pt x="278" y="155"/>
                  </a:cubicBezTo>
                  <a:cubicBezTo>
                    <a:pt x="285" y="148"/>
                    <a:pt x="285" y="148"/>
                    <a:pt x="285" y="148"/>
                  </a:cubicBezTo>
                  <a:cubicBezTo>
                    <a:pt x="304" y="153"/>
                    <a:pt x="304" y="153"/>
                    <a:pt x="304" y="153"/>
                  </a:cubicBezTo>
                  <a:cubicBezTo>
                    <a:pt x="304" y="153"/>
                    <a:pt x="309" y="144"/>
                    <a:pt x="310" y="135"/>
                  </a:cubicBezTo>
                  <a:cubicBezTo>
                    <a:pt x="311" y="126"/>
                    <a:pt x="319" y="113"/>
                    <a:pt x="327" y="112"/>
                  </a:cubicBezTo>
                  <a:cubicBezTo>
                    <a:pt x="335" y="111"/>
                    <a:pt x="354" y="119"/>
                    <a:pt x="366" y="119"/>
                  </a:cubicBezTo>
                  <a:cubicBezTo>
                    <a:pt x="378" y="119"/>
                    <a:pt x="378" y="101"/>
                    <a:pt x="378" y="98"/>
                  </a:cubicBezTo>
                  <a:cubicBezTo>
                    <a:pt x="378" y="95"/>
                    <a:pt x="397" y="78"/>
                    <a:pt x="397" y="78"/>
                  </a:cubicBezTo>
                  <a:cubicBezTo>
                    <a:pt x="429" y="65"/>
                    <a:pt x="429" y="65"/>
                    <a:pt x="429" y="65"/>
                  </a:cubicBezTo>
                  <a:cubicBezTo>
                    <a:pt x="429" y="65"/>
                    <a:pt x="443" y="65"/>
                    <a:pt x="446" y="64"/>
                  </a:cubicBezTo>
                  <a:cubicBezTo>
                    <a:pt x="449" y="63"/>
                    <a:pt x="447" y="51"/>
                    <a:pt x="443" y="46"/>
                  </a:cubicBezTo>
                  <a:cubicBezTo>
                    <a:pt x="429" y="41"/>
                    <a:pt x="429" y="41"/>
                    <a:pt x="429" y="41"/>
                  </a:cubicBezTo>
                  <a:cubicBezTo>
                    <a:pt x="401" y="41"/>
                    <a:pt x="401" y="41"/>
                    <a:pt x="401" y="41"/>
                  </a:cubicBezTo>
                  <a:cubicBezTo>
                    <a:pt x="384" y="23"/>
                    <a:pt x="384" y="23"/>
                    <a:pt x="384" y="23"/>
                  </a:cubicBezTo>
                  <a:cubicBezTo>
                    <a:pt x="372" y="23"/>
                    <a:pt x="372" y="23"/>
                    <a:pt x="372" y="23"/>
                  </a:cubicBezTo>
                  <a:cubicBezTo>
                    <a:pt x="364" y="15"/>
                    <a:pt x="364" y="15"/>
                    <a:pt x="364" y="15"/>
                  </a:cubicBezTo>
                  <a:cubicBezTo>
                    <a:pt x="332" y="16"/>
                    <a:pt x="332" y="16"/>
                    <a:pt x="332" y="16"/>
                  </a:cubicBezTo>
                  <a:cubicBezTo>
                    <a:pt x="332" y="16"/>
                    <a:pt x="302" y="12"/>
                    <a:pt x="294" y="13"/>
                  </a:cubicBezTo>
                  <a:cubicBezTo>
                    <a:pt x="286" y="14"/>
                    <a:pt x="238" y="14"/>
                    <a:pt x="238" y="14"/>
                  </a:cubicBezTo>
                  <a:cubicBezTo>
                    <a:pt x="226" y="18"/>
                    <a:pt x="226" y="18"/>
                    <a:pt x="226" y="18"/>
                  </a:cubicBezTo>
                  <a:cubicBezTo>
                    <a:pt x="226" y="18"/>
                    <a:pt x="198" y="12"/>
                    <a:pt x="194" y="12"/>
                  </a:cubicBezTo>
                  <a:cubicBezTo>
                    <a:pt x="190" y="12"/>
                    <a:pt x="180" y="0"/>
                    <a:pt x="170" y="0"/>
                  </a:cubicBezTo>
                  <a:cubicBezTo>
                    <a:pt x="160" y="0"/>
                    <a:pt x="147" y="2"/>
                    <a:pt x="144" y="5"/>
                  </a:cubicBezTo>
                  <a:cubicBezTo>
                    <a:pt x="141" y="8"/>
                    <a:pt x="149" y="43"/>
                    <a:pt x="149" y="43"/>
                  </a:cubicBezTo>
                  <a:cubicBezTo>
                    <a:pt x="138" y="37"/>
                    <a:pt x="138" y="37"/>
                    <a:pt x="138" y="37"/>
                  </a:cubicBezTo>
                  <a:cubicBezTo>
                    <a:pt x="115" y="37"/>
                    <a:pt x="115" y="37"/>
                    <a:pt x="115" y="37"/>
                  </a:cubicBezTo>
                  <a:cubicBezTo>
                    <a:pt x="115" y="37"/>
                    <a:pt x="84" y="17"/>
                    <a:pt x="61" y="18"/>
                  </a:cubicBezTo>
                  <a:cubicBezTo>
                    <a:pt x="38" y="19"/>
                    <a:pt x="37" y="48"/>
                    <a:pt x="37" y="48"/>
                  </a:cubicBezTo>
                  <a:cubicBezTo>
                    <a:pt x="37" y="48"/>
                    <a:pt x="55" y="49"/>
                    <a:pt x="57" y="54"/>
                  </a:cubicBezTo>
                  <a:cubicBezTo>
                    <a:pt x="59" y="59"/>
                    <a:pt x="23" y="88"/>
                    <a:pt x="23" y="88"/>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444" name="Freeform 236">
              <a:extLst>
                <a:ext uri="{FF2B5EF4-FFF2-40B4-BE49-F238E27FC236}">
                  <a16:creationId xmlns:a16="http://schemas.microsoft.com/office/drawing/2014/main" id="{DED45C5D-D37F-42B2-8715-6790C2EDAC8D}"/>
                </a:ext>
              </a:extLst>
            </p:cNvPr>
            <p:cNvSpPr>
              <a:spLocks/>
            </p:cNvSpPr>
            <p:nvPr/>
          </p:nvSpPr>
          <p:spPr bwMode="gray">
            <a:xfrm>
              <a:off x="6324359" y="1215182"/>
              <a:ext cx="457142" cy="260629"/>
            </a:xfrm>
            <a:custGeom>
              <a:avLst/>
              <a:gdLst>
                <a:gd name="T0" fmla="*/ 24 w 674"/>
                <a:gd name="T1" fmla="*/ 120 h 406"/>
                <a:gd name="T2" fmla="*/ 60 w 674"/>
                <a:gd name="T3" fmla="*/ 148 h 406"/>
                <a:gd name="T4" fmla="*/ 75 w 674"/>
                <a:gd name="T5" fmla="*/ 172 h 406"/>
                <a:gd name="T6" fmla="*/ 71 w 674"/>
                <a:gd name="T7" fmla="*/ 187 h 406"/>
                <a:gd name="T8" fmla="*/ 94 w 674"/>
                <a:gd name="T9" fmla="*/ 238 h 406"/>
                <a:gd name="T10" fmla="*/ 96 w 674"/>
                <a:gd name="T11" fmla="*/ 262 h 406"/>
                <a:gd name="T12" fmla="*/ 126 w 674"/>
                <a:gd name="T13" fmla="*/ 291 h 406"/>
                <a:gd name="T14" fmla="*/ 141 w 674"/>
                <a:gd name="T15" fmla="*/ 273 h 406"/>
                <a:gd name="T16" fmla="*/ 205 w 674"/>
                <a:gd name="T17" fmla="*/ 251 h 406"/>
                <a:gd name="T18" fmla="*/ 234 w 674"/>
                <a:gd name="T19" fmla="*/ 244 h 406"/>
                <a:gd name="T20" fmla="*/ 256 w 674"/>
                <a:gd name="T21" fmla="*/ 261 h 406"/>
                <a:gd name="T22" fmla="*/ 299 w 674"/>
                <a:gd name="T23" fmla="*/ 278 h 406"/>
                <a:gd name="T24" fmla="*/ 345 w 674"/>
                <a:gd name="T25" fmla="*/ 279 h 406"/>
                <a:gd name="T26" fmla="*/ 377 w 674"/>
                <a:gd name="T27" fmla="*/ 307 h 406"/>
                <a:gd name="T28" fmla="*/ 439 w 674"/>
                <a:gd name="T29" fmla="*/ 325 h 406"/>
                <a:gd name="T30" fmla="*/ 447 w 674"/>
                <a:gd name="T31" fmla="*/ 350 h 406"/>
                <a:gd name="T32" fmla="*/ 453 w 674"/>
                <a:gd name="T33" fmla="*/ 383 h 406"/>
                <a:gd name="T34" fmla="*/ 484 w 674"/>
                <a:gd name="T35" fmla="*/ 390 h 406"/>
                <a:gd name="T36" fmla="*/ 530 w 674"/>
                <a:gd name="T37" fmla="*/ 396 h 406"/>
                <a:gd name="T38" fmla="*/ 560 w 674"/>
                <a:gd name="T39" fmla="*/ 365 h 406"/>
                <a:gd name="T40" fmla="*/ 589 w 674"/>
                <a:gd name="T41" fmla="*/ 345 h 406"/>
                <a:gd name="T42" fmla="*/ 623 w 674"/>
                <a:gd name="T43" fmla="*/ 296 h 406"/>
                <a:gd name="T44" fmla="*/ 652 w 674"/>
                <a:gd name="T45" fmla="*/ 292 h 406"/>
                <a:gd name="T46" fmla="*/ 667 w 674"/>
                <a:gd name="T47" fmla="*/ 280 h 406"/>
                <a:gd name="T48" fmla="*/ 635 w 674"/>
                <a:gd name="T49" fmla="*/ 242 h 406"/>
                <a:gd name="T50" fmla="*/ 595 w 674"/>
                <a:gd name="T51" fmla="*/ 231 h 406"/>
                <a:gd name="T52" fmla="*/ 563 w 674"/>
                <a:gd name="T53" fmla="*/ 212 h 406"/>
                <a:gd name="T54" fmla="*/ 536 w 674"/>
                <a:gd name="T55" fmla="*/ 203 h 406"/>
                <a:gd name="T56" fmla="*/ 500 w 674"/>
                <a:gd name="T57" fmla="*/ 174 h 406"/>
                <a:gd name="T58" fmla="*/ 455 w 674"/>
                <a:gd name="T59" fmla="*/ 148 h 406"/>
                <a:gd name="T60" fmla="*/ 431 w 674"/>
                <a:gd name="T61" fmla="*/ 111 h 406"/>
                <a:gd name="T62" fmla="*/ 398 w 674"/>
                <a:gd name="T63" fmla="*/ 80 h 406"/>
                <a:gd name="T64" fmla="*/ 362 w 674"/>
                <a:gd name="T65" fmla="*/ 82 h 406"/>
                <a:gd name="T66" fmla="*/ 338 w 674"/>
                <a:gd name="T67" fmla="*/ 52 h 406"/>
                <a:gd name="T68" fmla="*/ 320 w 674"/>
                <a:gd name="T69" fmla="*/ 28 h 406"/>
                <a:gd name="T70" fmla="*/ 288 w 674"/>
                <a:gd name="T71" fmla="*/ 23 h 406"/>
                <a:gd name="T72" fmla="*/ 274 w 674"/>
                <a:gd name="T73" fmla="*/ 16 h 406"/>
                <a:gd name="T74" fmla="*/ 258 w 674"/>
                <a:gd name="T75" fmla="*/ 7 h 406"/>
                <a:gd name="T76" fmla="*/ 258 w 674"/>
                <a:gd name="T77" fmla="*/ 24 h 406"/>
                <a:gd name="T78" fmla="*/ 231 w 674"/>
                <a:gd name="T79" fmla="*/ 30 h 406"/>
                <a:gd name="T80" fmla="*/ 211 w 674"/>
                <a:gd name="T81" fmla="*/ 79 h 406"/>
                <a:gd name="T82" fmla="*/ 156 w 674"/>
                <a:gd name="T83" fmla="*/ 72 h 406"/>
                <a:gd name="T84" fmla="*/ 112 w 674"/>
                <a:gd name="T85" fmla="*/ 51 h 406"/>
                <a:gd name="T86" fmla="*/ 51 w 674"/>
                <a:gd name="T87" fmla="*/ 22 h 406"/>
                <a:gd name="T88" fmla="*/ 60 w 674"/>
                <a:gd name="T89" fmla="*/ 42 h 406"/>
                <a:gd name="T90" fmla="*/ 110 w 674"/>
                <a:gd name="T91" fmla="*/ 90 h 406"/>
                <a:gd name="T92" fmla="*/ 82 w 674"/>
                <a:gd name="T93" fmla="*/ 94 h 406"/>
                <a:gd name="T94" fmla="*/ 52 w 674"/>
                <a:gd name="T95" fmla="*/ 108 h 406"/>
                <a:gd name="T96" fmla="*/ 40 w 674"/>
                <a:gd name="T97" fmla="*/ 100 h 406"/>
                <a:gd name="T98" fmla="*/ 19 w 674"/>
                <a:gd name="T99" fmla="*/ 55 h 406"/>
                <a:gd name="T100" fmla="*/ 14 w 674"/>
                <a:gd name="T101" fmla="*/ 72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674" h="406">
                  <a:moveTo>
                    <a:pt x="34" y="100"/>
                  </a:moveTo>
                  <a:cubicBezTo>
                    <a:pt x="34" y="104"/>
                    <a:pt x="24" y="115"/>
                    <a:pt x="24" y="120"/>
                  </a:cubicBezTo>
                  <a:cubicBezTo>
                    <a:pt x="24" y="126"/>
                    <a:pt x="40" y="151"/>
                    <a:pt x="40" y="151"/>
                  </a:cubicBezTo>
                  <a:cubicBezTo>
                    <a:pt x="60" y="148"/>
                    <a:pt x="60" y="148"/>
                    <a:pt x="60" y="148"/>
                  </a:cubicBezTo>
                  <a:cubicBezTo>
                    <a:pt x="62" y="166"/>
                    <a:pt x="62" y="166"/>
                    <a:pt x="62" y="166"/>
                  </a:cubicBezTo>
                  <a:cubicBezTo>
                    <a:pt x="75" y="172"/>
                    <a:pt x="75" y="172"/>
                    <a:pt x="75" y="172"/>
                  </a:cubicBezTo>
                  <a:cubicBezTo>
                    <a:pt x="75" y="172"/>
                    <a:pt x="46" y="171"/>
                    <a:pt x="50" y="180"/>
                  </a:cubicBezTo>
                  <a:cubicBezTo>
                    <a:pt x="54" y="190"/>
                    <a:pt x="64" y="184"/>
                    <a:pt x="71" y="187"/>
                  </a:cubicBezTo>
                  <a:cubicBezTo>
                    <a:pt x="78" y="190"/>
                    <a:pt x="90" y="203"/>
                    <a:pt x="90" y="203"/>
                  </a:cubicBezTo>
                  <a:cubicBezTo>
                    <a:pt x="94" y="238"/>
                    <a:pt x="94" y="238"/>
                    <a:pt x="94" y="238"/>
                  </a:cubicBezTo>
                  <a:cubicBezTo>
                    <a:pt x="99" y="240"/>
                    <a:pt x="99" y="240"/>
                    <a:pt x="99" y="240"/>
                  </a:cubicBezTo>
                  <a:cubicBezTo>
                    <a:pt x="99" y="240"/>
                    <a:pt x="96" y="254"/>
                    <a:pt x="96" y="262"/>
                  </a:cubicBezTo>
                  <a:cubicBezTo>
                    <a:pt x="96" y="270"/>
                    <a:pt x="106" y="291"/>
                    <a:pt x="106" y="291"/>
                  </a:cubicBezTo>
                  <a:cubicBezTo>
                    <a:pt x="106" y="291"/>
                    <a:pt x="122" y="292"/>
                    <a:pt x="126" y="291"/>
                  </a:cubicBezTo>
                  <a:cubicBezTo>
                    <a:pt x="130" y="290"/>
                    <a:pt x="141" y="281"/>
                    <a:pt x="141" y="281"/>
                  </a:cubicBezTo>
                  <a:cubicBezTo>
                    <a:pt x="141" y="273"/>
                    <a:pt x="141" y="273"/>
                    <a:pt x="141" y="273"/>
                  </a:cubicBezTo>
                  <a:cubicBezTo>
                    <a:pt x="141" y="273"/>
                    <a:pt x="167" y="250"/>
                    <a:pt x="178" y="248"/>
                  </a:cubicBezTo>
                  <a:cubicBezTo>
                    <a:pt x="189" y="246"/>
                    <a:pt x="205" y="251"/>
                    <a:pt x="205" y="251"/>
                  </a:cubicBezTo>
                  <a:cubicBezTo>
                    <a:pt x="205" y="251"/>
                    <a:pt x="207" y="245"/>
                    <a:pt x="210" y="243"/>
                  </a:cubicBezTo>
                  <a:cubicBezTo>
                    <a:pt x="213" y="241"/>
                    <a:pt x="234" y="244"/>
                    <a:pt x="234" y="244"/>
                  </a:cubicBezTo>
                  <a:cubicBezTo>
                    <a:pt x="234" y="244"/>
                    <a:pt x="243" y="239"/>
                    <a:pt x="249" y="243"/>
                  </a:cubicBezTo>
                  <a:cubicBezTo>
                    <a:pt x="255" y="247"/>
                    <a:pt x="256" y="261"/>
                    <a:pt x="256" y="261"/>
                  </a:cubicBezTo>
                  <a:cubicBezTo>
                    <a:pt x="256" y="261"/>
                    <a:pt x="268" y="261"/>
                    <a:pt x="273" y="261"/>
                  </a:cubicBezTo>
                  <a:cubicBezTo>
                    <a:pt x="278" y="261"/>
                    <a:pt x="299" y="278"/>
                    <a:pt x="299" y="278"/>
                  </a:cubicBezTo>
                  <a:cubicBezTo>
                    <a:pt x="302" y="274"/>
                    <a:pt x="302" y="274"/>
                    <a:pt x="302" y="274"/>
                  </a:cubicBezTo>
                  <a:cubicBezTo>
                    <a:pt x="302" y="274"/>
                    <a:pt x="340" y="275"/>
                    <a:pt x="345" y="279"/>
                  </a:cubicBezTo>
                  <a:cubicBezTo>
                    <a:pt x="350" y="283"/>
                    <a:pt x="358" y="301"/>
                    <a:pt x="358" y="301"/>
                  </a:cubicBezTo>
                  <a:cubicBezTo>
                    <a:pt x="358" y="301"/>
                    <a:pt x="371" y="303"/>
                    <a:pt x="377" y="307"/>
                  </a:cubicBezTo>
                  <a:cubicBezTo>
                    <a:pt x="383" y="311"/>
                    <a:pt x="397" y="327"/>
                    <a:pt x="397" y="327"/>
                  </a:cubicBezTo>
                  <a:cubicBezTo>
                    <a:pt x="439" y="325"/>
                    <a:pt x="439" y="325"/>
                    <a:pt x="439" y="325"/>
                  </a:cubicBezTo>
                  <a:cubicBezTo>
                    <a:pt x="440" y="347"/>
                    <a:pt x="440" y="347"/>
                    <a:pt x="440" y="347"/>
                  </a:cubicBezTo>
                  <a:cubicBezTo>
                    <a:pt x="447" y="350"/>
                    <a:pt x="447" y="350"/>
                    <a:pt x="447" y="350"/>
                  </a:cubicBezTo>
                  <a:cubicBezTo>
                    <a:pt x="446" y="365"/>
                    <a:pt x="446" y="365"/>
                    <a:pt x="446" y="365"/>
                  </a:cubicBezTo>
                  <a:cubicBezTo>
                    <a:pt x="453" y="383"/>
                    <a:pt x="453" y="383"/>
                    <a:pt x="453" y="383"/>
                  </a:cubicBezTo>
                  <a:cubicBezTo>
                    <a:pt x="453" y="383"/>
                    <a:pt x="467" y="393"/>
                    <a:pt x="472" y="393"/>
                  </a:cubicBezTo>
                  <a:cubicBezTo>
                    <a:pt x="477" y="393"/>
                    <a:pt x="484" y="390"/>
                    <a:pt x="484" y="390"/>
                  </a:cubicBezTo>
                  <a:cubicBezTo>
                    <a:pt x="500" y="406"/>
                    <a:pt x="500" y="406"/>
                    <a:pt x="500" y="406"/>
                  </a:cubicBezTo>
                  <a:cubicBezTo>
                    <a:pt x="500" y="406"/>
                    <a:pt x="525" y="405"/>
                    <a:pt x="530" y="396"/>
                  </a:cubicBezTo>
                  <a:cubicBezTo>
                    <a:pt x="535" y="387"/>
                    <a:pt x="535" y="371"/>
                    <a:pt x="535" y="371"/>
                  </a:cubicBezTo>
                  <a:cubicBezTo>
                    <a:pt x="535" y="371"/>
                    <a:pt x="553" y="372"/>
                    <a:pt x="560" y="365"/>
                  </a:cubicBezTo>
                  <a:cubicBezTo>
                    <a:pt x="567" y="358"/>
                    <a:pt x="580" y="349"/>
                    <a:pt x="580" y="349"/>
                  </a:cubicBezTo>
                  <a:cubicBezTo>
                    <a:pt x="580" y="349"/>
                    <a:pt x="589" y="351"/>
                    <a:pt x="589" y="345"/>
                  </a:cubicBezTo>
                  <a:cubicBezTo>
                    <a:pt x="589" y="339"/>
                    <a:pt x="584" y="311"/>
                    <a:pt x="594" y="301"/>
                  </a:cubicBezTo>
                  <a:cubicBezTo>
                    <a:pt x="604" y="291"/>
                    <a:pt x="623" y="296"/>
                    <a:pt x="623" y="296"/>
                  </a:cubicBezTo>
                  <a:cubicBezTo>
                    <a:pt x="623" y="296"/>
                    <a:pt x="622" y="279"/>
                    <a:pt x="630" y="279"/>
                  </a:cubicBezTo>
                  <a:cubicBezTo>
                    <a:pt x="638" y="279"/>
                    <a:pt x="652" y="292"/>
                    <a:pt x="652" y="292"/>
                  </a:cubicBezTo>
                  <a:cubicBezTo>
                    <a:pt x="674" y="292"/>
                    <a:pt x="674" y="292"/>
                    <a:pt x="674" y="292"/>
                  </a:cubicBezTo>
                  <a:cubicBezTo>
                    <a:pt x="674" y="289"/>
                    <a:pt x="673" y="285"/>
                    <a:pt x="667" y="280"/>
                  </a:cubicBezTo>
                  <a:cubicBezTo>
                    <a:pt x="656" y="272"/>
                    <a:pt x="668" y="260"/>
                    <a:pt x="668" y="260"/>
                  </a:cubicBezTo>
                  <a:cubicBezTo>
                    <a:pt x="635" y="242"/>
                    <a:pt x="635" y="242"/>
                    <a:pt x="635" y="242"/>
                  </a:cubicBezTo>
                  <a:cubicBezTo>
                    <a:pt x="620" y="244"/>
                    <a:pt x="620" y="244"/>
                    <a:pt x="620" y="244"/>
                  </a:cubicBezTo>
                  <a:cubicBezTo>
                    <a:pt x="620" y="244"/>
                    <a:pt x="602" y="236"/>
                    <a:pt x="595" y="231"/>
                  </a:cubicBezTo>
                  <a:cubicBezTo>
                    <a:pt x="588" y="226"/>
                    <a:pt x="574" y="215"/>
                    <a:pt x="574" y="215"/>
                  </a:cubicBezTo>
                  <a:cubicBezTo>
                    <a:pt x="563" y="212"/>
                    <a:pt x="563" y="212"/>
                    <a:pt x="563" y="212"/>
                  </a:cubicBezTo>
                  <a:cubicBezTo>
                    <a:pt x="554" y="204"/>
                    <a:pt x="554" y="204"/>
                    <a:pt x="554" y="204"/>
                  </a:cubicBezTo>
                  <a:cubicBezTo>
                    <a:pt x="536" y="203"/>
                    <a:pt x="536" y="203"/>
                    <a:pt x="536" y="203"/>
                  </a:cubicBezTo>
                  <a:cubicBezTo>
                    <a:pt x="516" y="191"/>
                    <a:pt x="516" y="191"/>
                    <a:pt x="516" y="191"/>
                  </a:cubicBezTo>
                  <a:cubicBezTo>
                    <a:pt x="516" y="191"/>
                    <a:pt x="504" y="175"/>
                    <a:pt x="500" y="174"/>
                  </a:cubicBezTo>
                  <a:cubicBezTo>
                    <a:pt x="496" y="172"/>
                    <a:pt x="483" y="170"/>
                    <a:pt x="476" y="167"/>
                  </a:cubicBezTo>
                  <a:cubicBezTo>
                    <a:pt x="470" y="164"/>
                    <a:pt x="458" y="159"/>
                    <a:pt x="455" y="148"/>
                  </a:cubicBezTo>
                  <a:cubicBezTo>
                    <a:pt x="452" y="138"/>
                    <a:pt x="444" y="126"/>
                    <a:pt x="444" y="126"/>
                  </a:cubicBezTo>
                  <a:cubicBezTo>
                    <a:pt x="431" y="111"/>
                    <a:pt x="431" y="111"/>
                    <a:pt x="431" y="111"/>
                  </a:cubicBezTo>
                  <a:cubicBezTo>
                    <a:pt x="422" y="92"/>
                    <a:pt x="422" y="92"/>
                    <a:pt x="422" y="92"/>
                  </a:cubicBezTo>
                  <a:cubicBezTo>
                    <a:pt x="398" y="80"/>
                    <a:pt x="398" y="80"/>
                    <a:pt x="398" y="80"/>
                  </a:cubicBezTo>
                  <a:cubicBezTo>
                    <a:pt x="398" y="86"/>
                    <a:pt x="398" y="86"/>
                    <a:pt x="398" y="86"/>
                  </a:cubicBezTo>
                  <a:cubicBezTo>
                    <a:pt x="362" y="82"/>
                    <a:pt x="362" y="82"/>
                    <a:pt x="362" y="82"/>
                  </a:cubicBezTo>
                  <a:cubicBezTo>
                    <a:pt x="362" y="82"/>
                    <a:pt x="336" y="83"/>
                    <a:pt x="331" y="74"/>
                  </a:cubicBezTo>
                  <a:cubicBezTo>
                    <a:pt x="326" y="64"/>
                    <a:pt x="338" y="52"/>
                    <a:pt x="338" y="52"/>
                  </a:cubicBezTo>
                  <a:cubicBezTo>
                    <a:pt x="328" y="47"/>
                    <a:pt x="328" y="47"/>
                    <a:pt x="328" y="47"/>
                  </a:cubicBezTo>
                  <a:cubicBezTo>
                    <a:pt x="328" y="47"/>
                    <a:pt x="330" y="32"/>
                    <a:pt x="320" y="28"/>
                  </a:cubicBezTo>
                  <a:cubicBezTo>
                    <a:pt x="311" y="24"/>
                    <a:pt x="298" y="27"/>
                    <a:pt x="298" y="27"/>
                  </a:cubicBezTo>
                  <a:cubicBezTo>
                    <a:pt x="288" y="23"/>
                    <a:pt x="288" y="23"/>
                    <a:pt x="288" y="23"/>
                  </a:cubicBezTo>
                  <a:cubicBezTo>
                    <a:pt x="290" y="15"/>
                    <a:pt x="290" y="15"/>
                    <a:pt x="290" y="15"/>
                  </a:cubicBezTo>
                  <a:cubicBezTo>
                    <a:pt x="274" y="16"/>
                    <a:pt x="274" y="16"/>
                    <a:pt x="274" y="16"/>
                  </a:cubicBezTo>
                  <a:cubicBezTo>
                    <a:pt x="262" y="0"/>
                    <a:pt x="262" y="0"/>
                    <a:pt x="262" y="0"/>
                  </a:cubicBezTo>
                  <a:cubicBezTo>
                    <a:pt x="258" y="7"/>
                    <a:pt x="258" y="7"/>
                    <a:pt x="258" y="7"/>
                  </a:cubicBezTo>
                  <a:cubicBezTo>
                    <a:pt x="238" y="6"/>
                    <a:pt x="238" y="6"/>
                    <a:pt x="238" y="6"/>
                  </a:cubicBezTo>
                  <a:cubicBezTo>
                    <a:pt x="258" y="24"/>
                    <a:pt x="258" y="24"/>
                    <a:pt x="258" y="24"/>
                  </a:cubicBezTo>
                  <a:cubicBezTo>
                    <a:pt x="258" y="24"/>
                    <a:pt x="239" y="16"/>
                    <a:pt x="235" y="18"/>
                  </a:cubicBezTo>
                  <a:cubicBezTo>
                    <a:pt x="231" y="19"/>
                    <a:pt x="231" y="30"/>
                    <a:pt x="231" y="30"/>
                  </a:cubicBezTo>
                  <a:cubicBezTo>
                    <a:pt x="231" y="30"/>
                    <a:pt x="199" y="36"/>
                    <a:pt x="198" y="50"/>
                  </a:cubicBezTo>
                  <a:cubicBezTo>
                    <a:pt x="196" y="63"/>
                    <a:pt x="211" y="79"/>
                    <a:pt x="211" y="79"/>
                  </a:cubicBezTo>
                  <a:cubicBezTo>
                    <a:pt x="167" y="79"/>
                    <a:pt x="167" y="79"/>
                    <a:pt x="167" y="79"/>
                  </a:cubicBezTo>
                  <a:cubicBezTo>
                    <a:pt x="167" y="79"/>
                    <a:pt x="163" y="72"/>
                    <a:pt x="156" y="72"/>
                  </a:cubicBezTo>
                  <a:cubicBezTo>
                    <a:pt x="150" y="72"/>
                    <a:pt x="151" y="87"/>
                    <a:pt x="140" y="82"/>
                  </a:cubicBezTo>
                  <a:cubicBezTo>
                    <a:pt x="130" y="76"/>
                    <a:pt x="112" y="51"/>
                    <a:pt x="112" y="51"/>
                  </a:cubicBezTo>
                  <a:cubicBezTo>
                    <a:pt x="112" y="51"/>
                    <a:pt x="102" y="38"/>
                    <a:pt x="94" y="34"/>
                  </a:cubicBezTo>
                  <a:cubicBezTo>
                    <a:pt x="86" y="30"/>
                    <a:pt x="54" y="18"/>
                    <a:pt x="51" y="22"/>
                  </a:cubicBezTo>
                  <a:cubicBezTo>
                    <a:pt x="48" y="26"/>
                    <a:pt x="50" y="32"/>
                    <a:pt x="50" y="32"/>
                  </a:cubicBezTo>
                  <a:cubicBezTo>
                    <a:pt x="50" y="32"/>
                    <a:pt x="60" y="38"/>
                    <a:pt x="60" y="42"/>
                  </a:cubicBezTo>
                  <a:cubicBezTo>
                    <a:pt x="60" y="46"/>
                    <a:pt x="63" y="46"/>
                    <a:pt x="70" y="58"/>
                  </a:cubicBezTo>
                  <a:cubicBezTo>
                    <a:pt x="76" y="70"/>
                    <a:pt x="112" y="79"/>
                    <a:pt x="110" y="90"/>
                  </a:cubicBezTo>
                  <a:cubicBezTo>
                    <a:pt x="107" y="100"/>
                    <a:pt x="107" y="106"/>
                    <a:pt x="100" y="104"/>
                  </a:cubicBezTo>
                  <a:cubicBezTo>
                    <a:pt x="94" y="103"/>
                    <a:pt x="79" y="90"/>
                    <a:pt x="82" y="94"/>
                  </a:cubicBezTo>
                  <a:cubicBezTo>
                    <a:pt x="84" y="98"/>
                    <a:pt x="79" y="107"/>
                    <a:pt x="79" y="107"/>
                  </a:cubicBezTo>
                  <a:cubicBezTo>
                    <a:pt x="52" y="108"/>
                    <a:pt x="52" y="108"/>
                    <a:pt x="52" y="108"/>
                  </a:cubicBezTo>
                  <a:cubicBezTo>
                    <a:pt x="44" y="95"/>
                    <a:pt x="44" y="95"/>
                    <a:pt x="44" y="95"/>
                  </a:cubicBezTo>
                  <a:cubicBezTo>
                    <a:pt x="40" y="100"/>
                    <a:pt x="40" y="100"/>
                    <a:pt x="40" y="100"/>
                  </a:cubicBezTo>
                  <a:cubicBezTo>
                    <a:pt x="40" y="100"/>
                    <a:pt x="30" y="90"/>
                    <a:pt x="24" y="80"/>
                  </a:cubicBezTo>
                  <a:cubicBezTo>
                    <a:pt x="19" y="71"/>
                    <a:pt x="23" y="56"/>
                    <a:pt x="19" y="55"/>
                  </a:cubicBezTo>
                  <a:cubicBezTo>
                    <a:pt x="15" y="54"/>
                    <a:pt x="3" y="47"/>
                    <a:pt x="2" y="52"/>
                  </a:cubicBezTo>
                  <a:cubicBezTo>
                    <a:pt x="0" y="58"/>
                    <a:pt x="14" y="72"/>
                    <a:pt x="14" y="72"/>
                  </a:cubicBezTo>
                  <a:cubicBezTo>
                    <a:pt x="14" y="72"/>
                    <a:pt x="34" y="96"/>
                    <a:pt x="34" y="100"/>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445" name="Freeform 237">
              <a:extLst>
                <a:ext uri="{FF2B5EF4-FFF2-40B4-BE49-F238E27FC236}">
                  <a16:creationId xmlns:a16="http://schemas.microsoft.com/office/drawing/2014/main" id="{14A4B3B1-5D12-430A-8C92-B29E9136F9D3}"/>
                </a:ext>
              </a:extLst>
            </p:cNvPr>
            <p:cNvSpPr>
              <a:spLocks/>
            </p:cNvSpPr>
            <p:nvPr/>
          </p:nvSpPr>
          <p:spPr bwMode="gray">
            <a:xfrm>
              <a:off x="6611221" y="1362058"/>
              <a:ext cx="411773" cy="315741"/>
            </a:xfrm>
            <a:custGeom>
              <a:avLst/>
              <a:gdLst>
                <a:gd name="T0" fmla="*/ 607 w 607"/>
                <a:gd name="T1" fmla="*/ 64 h 492"/>
                <a:gd name="T2" fmla="*/ 587 w 607"/>
                <a:gd name="T3" fmla="*/ 59 h 492"/>
                <a:gd name="T4" fmla="*/ 561 w 607"/>
                <a:gd name="T5" fmla="*/ 57 h 492"/>
                <a:gd name="T6" fmla="*/ 516 w 607"/>
                <a:gd name="T7" fmla="*/ 81 h 492"/>
                <a:gd name="T8" fmla="*/ 485 w 607"/>
                <a:gd name="T9" fmla="*/ 100 h 492"/>
                <a:gd name="T10" fmla="*/ 455 w 607"/>
                <a:gd name="T11" fmla="*/ 33 h 492"/>
                <a:gd name="T12" fmla="*/ 441 w 607"/>
                <a:gd name="T13" fmla="*/ 14 h 492"/>
                <a:gd name="T14" fmla="*/ 413 w 607"/>
                <a:gd name="T15" fmla="*/ 19 h 492"/>
                <a:gd name="T16" fmla="*/ 407 w 607"/>
                <a:gd name="T17" fmla="*/ 40 h 492"/>
                <a:gd name="T18" fmla="*/ 395 w 607"/>
                <a:gd name="T19" fmla="*/ 48 h 492"/>
                <a:gd name="T20" fmla="*/ 364 w 607"/>
                <a:gd name="T21" fmla="*/ 79 h 492"/>
                <a:gd name="T22" fmla="*/ 315 w 607"/>
                <a:gd name="T23" fmla="*/ 83 h 492"/>
                <a:gd name="T24" fmla="*/ 287 w 607"/>
                <a:gd name="T25" fmla="*/ 66 h 492"/>
                <a:gd name="T26" fmla="*/ 267 w 607"/>
                <a:gd name="T27" fmla="*/ 57 h 492"/>
                <a:gd name="T28" fmla="*/ 229 w 607"/>
                <a:gd name="T29" fmla="*/ 63 h 492"/>
                <a:gd name="T30" fmla="*/ 200 w 607"/>
                <a:gd name="T31" fmla="*/ 67 h 492"/>
                <a:gd name="T32" fmla="*/ 166 w 607"/>
                <a:gd name="T33" fmla="*/ 116 h 492"/>
                <a:gd name="T34" fmla="*/ 137 w 607"/>
                <a:gd name="T35" fmla="*/ 136 h 492"/>
                <a:gd name="T36" fmla="*/ 107 w 607"/>
                <a:gd name="T37" fmla="*/ 167 h 492"/>
                <a:gd name="T38" fmla="*/ 61 w 607"/>
                <a:gd name="T39" fmla="*/ 161 h 492"/>
                <a:gd name="T40" fmla="*/ 30 w 607"/>
                <a:gd name="T41" fmla="*/ 154 h 492"/>
                <a:gd name="T42" fmla="*/ 29 w 607"/>
                <a:gd name="T43" fmla="*/ 205 h 492"/>
                <a:gd name="T44" fmla="*/ 20 w 607"/>
                <a:gd name="T45" fmla="*/ 220 h 492"/>
                <a:gd name="T46" fmla="*/ 11 w 607"/>
                <a:gd name="T47" fmla="*/ 244 h 492"/>
                <a:gd name="T48" fmla="*/ 31 w 607"/>
                <a:gd name="T49" fmla="*/ 266 h 492"/>
                <a:gd name="T50" fmla="*/ 40 w 607"/>
                <a:gd name="T51" fmla="*/ 341 h 492"/>
                <a:gd name="T52" fmla="*/ 70 w 607"/>
                <a:gd name="T53" fmla="*/ 382 h 492"/>
                <a:gd name="T54" fmla="*/ 79 w 607"/>
                <a:gd name="T55" fmla="*/ 434 h 492"/>
                <a:gd name="T56" fmla="*/ 61 w 607"/>
                <a:gd name="T57" fmla="*/ 467 h 492"/>
                <a:gd name="T58" fmla="*/ 142 w 607"/>
                <a:gd name="T59" fmla="*/ 490 h 492"/>
                <a:gd name="T60" fmla="*/ 196 w 607"/>
                <a:gd name="T61" fmla="*/ 484 h 492"/>
                <a:gd name="T62" fmla="*/ 218 w 607"/>
                <a:gd name="T63" fmla="*/ 482 h 492"/>
                <a:gd name="T64" fmla="*/ 307 w 607"/>
                <a:gd name="T65" fmla="*/ 459 h 492"/>
                <a:gd name="T66" fmla="*/ 298 w 607"/>
                <a:gd name="T67" fmla="*/ 403 h 492"/>
                <a:gd name="T68" fmla="*/ 327 w 607"/>
                <a:gd name="T69" fmla="*/ 390 h 492"/>
                <a:gd name="T70" fmla="*/ 348 w 607"/>
                <a:gd name="T71" fmla="*/ 376 h 492"/>
                <a:gd name="T72" fmla="*/ 381 w 607"/>
                <a:gd name="T73" fmla="*/ 361 h 492"/>
                <a:gd name="T74" fmla="*/ 409 w 607"/>
                <a:gd name="T75" fmla="*/ 371 h 492"/>
                <a:gd name="T76" fmla="*/ 417 w 607"/>
                <a:gd name="T77" fmla="*/ 325 h 492"/>
                <a:gd name="T78" fmla="*/ 425 w 607"/>
                <a:gd name="T79" fmla="*/ 291 h 492"/>
                <a:gd name="T80" fmla="*/ 462 w 607"/>
                <a:gd name="T81" fmla="*/ 275 h 492"/>
                <a:gd name="T82" fmla="*/ 447 w 607"/>
                <a:gd name="T83" fmla="*/ 258 h 492"/>
                <a:gd name="T84" fmla="*/ 434 w 607"/>
                <a:gd name="T85" fmla="*/ 238 h 492"/>
                <a:gd name="T86" fmla="*/ 456 w 607"/>
                <a:gd name="T87" fmla="*/ 246 h 492"/>
                <a:gd name="T88" fmla="*/ 467 w 607"/>
                <a:gd name="T89" fmla="*/ 242 h 492"/>
                <a:gd name="T90" fmla="*/ 479 w 607"/>
                <a:gd name="T91" fmla="*/ 222 h 492"/>
                <a:gd name="T92" fmla="*/ 494 w 607"/>
                <a:gd name="T93" fmla="*/ 188 h 492"/>
                <a:gd name="T94" fmla="*/ 479 w 607"/>
                <a:gd name="T95" fmla="*/ 144 h 492"/>
                <a:gd name="T96" fmla="*/ 486 w 607"/>
                <a:gd name="T97" fmla="*/ 109 h 492"/>
                <a:gd name="T98" fmla="*/ 540 w 607"/>
                <a:gd name="T99" fmla="*/ 88 h 492"/>
                <a:gd name="T100" fmla="*/ 584 w 607"/>
                <a:gd name="T101" fmla="*/ 88 h 492"/>
                <a:gd name="T102" fmla="*/ 602 w 607"/>
                <a:gd name="T103" fmla="*/ 78 h 4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07" h="492">
                  <a:moveTo>
                    <a:pt x="596" y="71"/>
                  </a:moveTo>
                  <a:cubicBezTo>
                    <a:pt x="594" y="65"/>
                    <a:pt x="600" y="65"/>
                    <a:pt x="607" y="64"/>
                  </a:cubicBezTo>
                  <a:cubicBezTo>
                    <a:pt x="600" y="59"/>
                    <a:pt x="600" y="59"/>
                    <a:pt x="600" y="59"/>
                  </a:cubicBezTo>
                  <a:cubicBezTo>
                    <a:pt x="587" y="59"/>
                    <a:pt x="587" y="59"/>
                    <a:pt x="587" y="59"/>
                  </a:cubicBezTo>
                  <a:cubicBezTo>
                    <a:pt x="563" y="67"/>
                    <a:pt x="563" y="67"/>
                    <a:pt x="563" y="67"/>
                  </a:cubicBezTo>
                  <a:cubicBezTo>
                    <a:pt x="561" y="57"/>
                    <a:pt x="561" y="57"/>
                    <a:pt x="561" y="57"/>
                  </a:cubicBezTo>
                  <a:cubicBezTo>
                    <a:pt x="561" y="57"/>
                    <a:pt x="537" y="54"/>
                    <a:pt x="530" y="62"/>
                  </a:cubicBezTo>
                  <a:cubicBezTo>
                    <a:pt x="523" y="70"/>
                    <a:pt x="516" y="81"/>
                    <a:pt x="516" y="81"/>
                  </a:cubicBezTo>
                  <a:cubicBezTo>
                    <a:pt x="506" y="81"/>
                    <a:pt x="506" y="81"/>
                    <a:pt x="506" y="81"/>
                  </a:cubicBezTo>
                  <a:cubicBezTo>
                    <a:pt x="506" y="81"/>
                    <a:pt x="492" y="97"/>
                    <a:pt x="485" y="100"/>
                  </a:cubicBezTo>
                  <a:cubicBezTo>
                    <a:pt x="478" y="103"/>
                    <a:pt x="462" y="75"/>
                    <a:pt x="462" y="75"/>
                  </a:cubicBezTo>
                  <a:cubicBezTo>
                    <a:pt x="455" y="33"/>
                    <a:pt x="455" y="33"/>
                    <a:pt x="455" y="33"/>
                  </a:cubicBezTo>
                  <a:cubicBezTo>
                    <a:pt x="441" y="33"/>
                    <a:pt x="441" y="33"/>
                    <a:pt x="441" y="33"/>
                  </a:cubicBezTo>
                  <a:cubicBezTo>
                    <a:pt x="441" y="33"/>
                    <a:pt x="441" y="19"/>
                    <a:pt x="441" y="14"/>
                  </a:cubicBezTo>
                  <a:cubicBezTo>
                    <a:pt x="441" y="9"/>
                    <a:pt x="430" y="0"/>
                    <a:pt x="421" y="0"/>
                  </a:cubicBezTo>
                  <a:cubicBezTo>
                    <a:pt x="412" y="0"/>
                    <a:pt x="413" y="15"/>
                    <a:pt x="413" y="19"/>
                  </a:cubicBezTo>
                  <a:cubicBezTo>
                    <a:pt x="413" y="23"/>
                    <a:pt x="399" y="26"/>
                    <a:pt x="399" y="33"/>
                  </a:cubicBezTo>
                  <a:cubicBezTo>
                    <a:pt x="399" y="40"/>
                    <a:pt x="407" y="40"/>
                    <a:pt x="407" y="40"/>
                  </a:cubicBezTo>
                  <a:cubicBezTo>
                    <a:pt x="402" y="54"/>
                    <a:pt x="402" y="54"/>
                    <a:pt x="402" y="54"/>
                  </a:cubicBezTo>
                  <a:cubicBezTo>
                    <a:pt x="395" y="48"/>
                    <a:pt x="395" y="48"/>
                    <a:pt x="395" y="48"/>
                  </a:cubicBezTo>
                  <a:cubicBezTo>
                    <a:pt x="395" y="48"/>
                    <a:pt x="373" y="49"/>
                    <a:pt x="368" y="54"/>
                  </a:cubicBezTo>
                  <a:cubicBezTo>
                    <a:pt x="363" y="59"/>
                    <a:pt x="368" y="77"/>
                    <a:pt x="364" y="79"/>
                  </a:cubicBezTo>
                  <a:cubicBezTo>
                    <a:pt x="360" y="81"/>
                    <a:pt x="349" y="64"/>
                    <a:pt x="346" y="64"/>
                  </a:cubicBezTo>
                  <a:cubicBezTo>
                    <a:pt x="343" y="64"/>
                    <a:pt x="318" y="84"/>
                    <a:pt x="315" y="83"/>
                  </a:cubicBezTo>
                  <a:cubicBezTo>
                    <a:pt x="312" y="82"/>
                    <a:pt x="292" y="66"/>
                    <a:pt x="292" y="66"/>
                  </a:cubicBezTo>
                  <a:cubicBezTo>
                    <a:pt x="287" y="66"/>
                    <a:pt x="287" y="66"/>
                    <a:pt x="287" y="66"/>
                  </a:cubicBezTo>
                  <a:cubicBezTo>
                    <a:pt x="276" y="71"/>
                    <a:pt x="276" y="71"/>
                    <a:pt x="276" y="71"/>
                  </a:cubicBezTo>
                  <a:cubicBezTo>
                    <a:pt x="267" y="57"/>
                    <a:pt x="267" y="57"/>
                    <a:pt x="267" y="57"/>
                  </a:cubicBezTo>
                  <a:cubicBezTo>
                    <a:pt x="259" y="63"/>
                    <a:pt x="259" y="63"/>
                    <a:pt x="259" y="63"/>
                  </a:cubicBezTo>
                  <a:cubicBezTo>
                    <a:pt x="229" y="63"/>
                    <a:pt x="229" y="63"/>
                    <a:pt x="229" y="63"/>
                  </a:cubicBezTo>
                  <a:cubicBezTo>
                    <a:pt x="229" y="63"/>
                    <a:pt x="215" y="50"/>
                    <a:pt x="207" y="50"/>
                  </a:cubicBezTo>
                  <a:cubicBezTo>
                    <a:pt x="199" y="50"/>
                    <a:pt x="200" y="67"/>
                    <a:pt x="200" y="67"/>
                  </a:cubicBezTo>
                  <a:cubicBezTo>
                    <a:pt x="200" y="67"/>
                    <a:pt x="181" y="62"/>
                    <a:pt x="171" y="72"/>
                  </a:cubicBezTo>
                  <a:cubicBezTo>
                    <a:pt x="161" y="82"/>
                    <a:pt x="166" y="110"/>
                    <a:pt x="166" y="116"/>
                  </a:cubicBezTo>
                  <a:cubicBezTo>
                    <a:pt x="166" y="122"/>
                    <a:pt x="157" y="120"/>
                    <a:pt x="157" y="120"/>
                  </a:cubicBezTo>
                  <a:cubicBezTo>
                    <a:pt x="157" y="120"/>
                    <a:pt x="144" y="129"/>
                    <a:pt x="137" y="136"/>
                  </a:cubicBezTo>
                  <a:cubicBezTo>
                    <a:pt x="130" y="143"/>
                    <a:pt x="112" y="142"/>
                    <a:pt x="112" y="142"/>
                  </a:cubicBezTo>
                  <a:cubicBezTo>
                    <a:pt x="112" y="142"/>
                    <a:pt x="112" y="158"/>
                    <a:pt x="107" y="167"/>
                  </a:cubicBezTo>
                  <a:cubicBezTo>
                    <a:pt x="102" y="176"/>
                    <a:pt x="77" y="177"/>
                    <a:pt x="77" y="177"/>
                  </a:cubicBezTo>
                  <a:cubicBezTo>
                    <a:pt x="61" y="161"/>
                    <a:pt x="61" y="161"/>
                    <a:pt x="61" y="161"/>
                  </a:cubicBezTo>
                  <a:cubicBezTo>
                    <a:pt x="61" y="161"/>
                    <a:pt x="54" y="164"/>
                    <a:pt x="49" y="164"/>
                  </a:cubicBezTo>
                  <a:cubicBezTo>
                    <a:pt x="44" y="164"/>
                    <a:pt x="30" y="154"/>
                    <a:pt x="30" y="154"/>
                  </a:cubicBezTo>
                  <a:cubicBezTo>
                    <a:pt x="30" y="154"/>
                    <a:pt x="24" y="161"/>
                    <a:pt x="23" y="168"/>
                  </a:cubicBezTo>
                  <a:cubicBezTo>
                    <a:pt x="22" y="175"/>
                    <a:pt x="29" y="205"/>
                    <a:pt x="29" y="205"/>
                  </a:cubicBezTo>
                  <a:cubicBezTo>
                    <a:pt x="15" y="209"/>
                    <a:pt x="15" y="209"/>
                    <a:pt x="15" y="209"/>
                  </a:cubicBezTo>
                  <a:cubicBezTo>
                    <a:pt x="20" y="220"/>
                    <a:pt x="20" y="220"/>
                    <a:pt x="20" y="220"/>
                  </a:cubicBezTo>
                  <a:cubicBezTo>
                    <a:pt x="20" y="220"/>
                    <a:pt x="6" y="225"/>
                    <a:pt x="3" y="230"/>
                  </a:cubicBezTo>
                  <a:cubicBezTo>
                    <a:pt x="0" y="235"/>
                    <a:pt x="11" y="244"/>
                    <a:pt x="11" y="244"/>
                  </a:cubicBezTo>
                  <a:cubicBezTo>
                    <a:pt x="9" y="263"/>
                    <a:pt x="9" y="263"/>
                    <a:pt x="9" y="263"/>
                  </a:cubicBezTo>
                  <a:cubicBezTo>
                    <a:pt x="9" y="263"/>
                    <a:pt x="30" y="260"/>
                    <a:pt x="31" y="266"/>
                  </a:cubicBezTo>
                  <a:cubicBezTo>
                    <a:pt x="32" y="272"/>
                    <a:pt x="17" y="280"/>
                    <a:pt x="15" y="293"/>
                  </a:cubicBezTo>
                  <a:cubicBezTo>
                    <a:pt x="13" y="306"/>
                    <a:pt x="40" y="330"/>
                    <a:pt x="40" y="341"/>
                  </a:cubicBezTo>
                  <a:cubicBezTo>
                    <a:pt x="40" y="352"/>
                    <a:pt x="40" y="366"/>
                    <a:pt x="40" y="374"/>
                  </a:cubicBezTo>
                  <a:cubicBezTo>
                    <a:pt x="40" y="382"/>
                    <a:pt x="70" y="382"/>
                    <a:pt x="70" y="382"/>
                  </a:cubicBezTo>
                  <a:cubicBezTo>
                    <a:pt x="70" y="382"/>
                    <a:pt x="85" y="377"/>
                    <a:pt x="91" y="394"/>
                  </a:cubicBezTo>
                  <a:cubicBezTo>
                    <a:pt x="97" y="411"/>
                    <a:pt x="86" y="424"/>
                    <a:pt x="79" y="434"/>
                  </a:cubicBezTo>
                  <a:cubicBezTo>
                    <a:pt x="72" y="444"/>
                    <a:pt x="56" y="458"/>
                    <a:pt x="56" y="462"/>
                  </a:cubicBezTo>
                  <a:cubicBezTo>
                    <a:pt x="56" y="466"/>
                    <a:pt x="61" y="467"/>
                    <a:pt x="61" y="467"/>
                  </a:cubicBezTo>
                  <a:cubicBezTo>
                    <a:pt x="61" y="467"/>
                    <a:pt x="73" y="464"/>
                    <a:pt x="82" y="469"/>
                  </a:cubicBezTo>
                  <a:cubicBezTo>
                    <a:pt x="91" y="474"/>
                    <a:pt x="121" y="492"/>
                    <a:pt x="142" y="490"/>
                  </a:cubicBezTo>
                  <a:cubicBezTo>
                    <a:pt x="163" y="488"/>
                    <a:pt x="161" y="483"/>
                    <a:pt x="161" y="483"/>
                  </a:cubicBezTo>
                  <a:cubicBezTo>
                    <a:pt x="196" y="484"/>
                    <a:pt x="196" y="484"/>
                    <a:pt x="196" y="484"/>
                  </a:cubicBezTo>
                  <a:cubicBezTo>
                    <a:pt x="196" y="484"/>
                    <a:pt x="193" y="488"/>
                    <a:pt x="205" y="488"/>
                  </a:cubicBezTo>
                  <a:cubicBezTo>
                    <a:pt x="217" y="488"/>
                    <a:pt x="218" y="482"/>
                    <a:pt x="218" y="482"/>
                  </a:cubicBezTo>
                  <a:cubicBezTo>
                    <a:pt x="218" y="482"/>
                    <a:pt x="260" y="480"/>
                    <a:pt x="263" y="479"/>
                  </a:cubicBezTo>
                  <a:cubicBezTo>
                    <a:pt x="266" y="478"/>
                    <a:pt x="305" y="465"/>
                    <a:pt x="307" y="459"/>
                  </a:cubicBezTo>
                  <a:cubicBezTo>
                    <a:pt x="309" y="453"/>
                    <a:pt x="303" y="433"/>
                    <a:pt x="303" y="433"/>
                  </a:cubicBezTo>
                  <a:cubicBezTo>
                    <a:pt x="303" y="433"/>
                    <a:pt x="296" y="409"/>
                    <a:pt x="298" y="403"/>
                  </a:cubicBezTo>
                  <a:cubicBezTo>
                    <a:pt x="300" y="397"/>
                    <a:pt x="315" y="384"/>
                    <a:pt x="323" y="384"/>
                  </a:cubicBezTo>
                  <a:cubicBezTo>
                    <a:pt x="331" y="384"/>
                    <a:pt x="327" y="390"/>
                    <a:pt x="327" y="390"/>
                  </a:cubicBezTo>
                  <a:cubicBezTo>
                    <a:pt x="327" y="390"/>
                    <a:pt x="357" y="395"/>
                    <a:pt x="359" y="389"/>
                  </a:cubicBezTo>
                  <a:cubicBezTo>
                    <a:pt x="361" y="383"/>
                    <a:pt x="344" y="381"/>
                    <a:pt x="348" y="376"/>
                  </a:cubicBezTo>
                  <a:cubicBezTo>
                    <a:pt x="352" y="371"/>
                    <a:pt x="366" y="367"/>
                    <a:pt x="366" y="367"/>
                  </a:cubicBezTo>
                  <a:cubicBezTo>
                    <a:pt x="366" y="367"/>
                    <a:pt x="373" y="361"/>
                    <a:pt x="381" y="361"/>
                  </a:cubicBezTo>
                  <a:cubicBezTo>
                    <a:pt x="389" y="361"/>
                    <a:pt x="399" y="359"/>
                    <a:pt x="399" y="359"/>
                  </a:cubicBezTo>
                  <a:cubicBezTo>
                    <a:pt x="399" y="359"/>
                    <a:pt x="396" y="378"/>
                    <a:pt x="409" y="371"/>
                  </a:cubicBezTo>
                  <a:cubicBezTo>
                    <a:pt x="422" y="364"/>
                    <a:pt x="425" y="355"/>
                    <a:pt x="425" y="355"/>
                  </a:cubicBezTo>
                  <a:cubicBezTo>
                    <a:pt x="425" y="355"/>
                    <a:pt x="416" y="337"/>
                    <a:pt x="417" y="325"/>
                  </a:cubicBezTo>
                  <a:cubicBezTo>
                    <a:pt x="418" y="313"/>
                    <a:pt x="424" y="316"/>
                    <a:pt x="424" y="316"/>
                  </a:cubicBezTo>
                  <a:cubicBezTo>
                    <a:pt x="424" y="316"/>
                    <a:pt x="421" y="294"/>
                    <a:pt x="425" y="291"/>
                  </a:cubicBezTo>
                  <a:cubicBezTo>
                    <a:pt x="429" y="288"/>
                    <a:pt x="442" y="289"/>
                    <a:pt x="442" y="289"/>
                  </a:cubicBezTo>
                  <a:cubicBezTo>
                    <a:pt x="462" y="275"/>
                    <a:pt x="462" y="275"/>
                    <a:pt x="462" y="275"/>
                  </a:cubicBezTo>
                  <a:cubicBezTo>
                    <a:pt x="462" y="275"/>
                    <a:pt x="451" y="276"/>
                    <a:pt x="449" y="269"/>
                  </a:cubicBezTo>
                  <a:cubicBezTo>
                    <a:pt x="447" y="262"/>
                    <a:pt x="447" y="258"/>
                    <a:pt x="447" y="258"/>
                  </a:cubicBezTo>
                  <a:cubicBezTo>
                    <a:pt x="447" y="258"/>
                    <a:pt x="432" y="254"/>
                    <a:pt x="431" y="249"/>
                  </a:cubicBezTo>
                  <a:cubicBezTo>
                    <a:pt x="430" y="244"/>
                    <a:pt x="430" y="239"/>
                    <a:pt x="434" y="238"/>
                  </a:cubicBezTo>
                  <a:cubicBezTo>
                    <a:pt x="438" y="237"/>
                    <a:pt x="445" y="245"/>
                    <a:pt x="445" y="245"/>
                  </a:cubicBezTo>
                  <a:cubicBezTo>
                    <a:pt x="456" y="246"/>
                    <a:pt x="456" y="246"/>
                    <a:pt x="456" y="246"/>
                  </a:cubicBezTo>
                  <a:cubicBezTo>
                    <a:pt x="463" y="249"/>
                    <a:pt x="463" y="249"/>
                    <a:pt x="463" y="249"/>
                  </a:cubicBezTo>
                  <a:cubicBezTo>
                    <a:pt x="467" y="242"/>
                    <a:pt x="467" y="242"/>
                    <a:pt x="467" y="242"/>
                  </a:cubicBezTo>
                  <a:cubicBezTo>
                    <a:pt x="467" y="242"/>
                    <a:pt x="478" y="245"/>
                    <a:pt x="479" y="238"/>
                  </a:cubicBezTo>
                  <a:cubicBezTo>
                    <a:pt x="480" y="231"/>
                    <a:pt x="479" y="222"/>
                    <a:pt x="479" y="222"/>
                  </a:cubicBezTo>
                  <a:cubicBezTo>
                    <a:pt x="479" y="222"/>
                    <a:pt x="472" y="221"/>
                    <a:pt x="473" y="212"/>
                  </a:cubicBezTo>
                  <a:cubicBezTo>
                    <a:pt x="474" y="203"/>
                    <a:pt x="491" y="195"/>
                    <a:pt x="494" y="188"/>
                  </a:cubicBezTo>
                  <a:cubicBezTo>
                    <a:pt x="497" y="181"/>
                    <a:pt x="487" y="173"/>
                    <a:pt x="487" y="173"/>
                  </a:cubicBezTo>
                  <a:cubicBezTo>
                    <a:pt x="487" y="173"/>
                    <a:pt x="490" y="156"/>
                    <a:pt x="479" y="144"/>
                  </a:cubicBezTo>
                  <a:cubicBezTo>
                    <a:pt x="468" y="132"/>
                    <a:pt x="463" y="136"/>
                    <a:pt x="469" y="124"/>
                  </a:cubicBezTo>
                  <a:cubicBezTo>
                    <a:pt x="475" y="112"/>
                    <a:pt x="486" y="109"/>
                    <a:pt x="486" y="109"/>
                  </a:cubicBezTo>
                  <a:cubicBezTo>
                    <a:pt x="486" y="109"/>
                    <a:pt x="509" y="93"/>
                    <a:pt x="516" y="90"/>
                  </a:cubicBezTo>
                  <a:cubicBezTo>
                    <a:pt x="523" y="87"/>
                    <a:pt x="540" y="88"/>
                    <a:pt x="540" y="88"/>
                  </a:cubicBezTo>
                  <a:cubicBezTo>
                    <a:pt x="540" y="88"/>
                    <a:pt x="563" y="83"/>
                    <a:pt x="566" y="83"/>
                  </a:cubicBezTo>
                  <a:cubicBezTo>
                    <a:pt x="569" y="83"/>
                    <a:pt x="579" y="89"/>
                    <a:pt x="584" y="88"/>
                  </a:cubicBezTo>
                  <a:cubicBezTo>
                    <a:pt x="587" y="87"/>
                    <a:pt x="596" y="82"/>
                    <a:pt x="602" y="78"/>
                  </a:cubicBezTo>
                  <a:cubicBezTo>
                    <a:pt x="602" y="78"/>
                    <a:pt x="602" y="78"/>
                    <a:pt x="602" y="78"/>
                  </a:cubicBezTo>
                  <a:cubicBezTo>
                    <a:pt x="599" y="76"/>
                    <a:pt x="597" y="74"/>
                    <a:pt x="596" y="71"/>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446" name="Freeform 238">
              <a:extLst>
                <a:ext uri="{FF2B5EF4-FFF2-40B4-BE49-F238E27FC236}">
                  <a16:creationId xmlns:a16="http://schemas.microsoft.com/office/drawing/2014/main" id="{7654FA94-C9AC-4BAE-BD5C-5EA5DD16BF40}"/>
                </a:ext>
              </a:extLst>
            </p:cNvPr>
            <p:cNvSpPr>
              <a:spLocks/>
            </p:cNvSpPr>
            <p:nvPr/>
          </p:nvSpPr>
          <p:spPr bwMode="gray">
            <a:xfrm>
              <a:off x="5840512" y="1579520"/>
              <a:ext cx="677099" cy="545692"/>
            </a:xfrm>
            <a:custGeom>
              <a:avLst/>
              <a:gdLst>
                <a:gd name="T0" fmla="*/ 976 w 998"/>
                <a:gd name="T1" fmla="*/ 516 h 851"/>
                <a:gd name="T2" fmla="*/ 804 w 998"/>
                <a:gd name="T3" fmla="*/ 446 h 851"/>
                <a:gd name="T4" fmla="*/ 794 w 998"/>
                <a:gd name="T5" fmla="*/ 413 h 851"/>
                <a:gd name="T6" fmla="*/ 780 w 998"/>
                <a:gd name="T7" fmla="*/ 407 h 851"/>
                <a:gd name="T8" fmla="*/ 764 w 998"/>
                <a:gd name="T9" fmla="*/ 400 h 851"/>
                <a:gd name="T10" fmla="*/ 719 w 998"/>
                <a:gd name="T11" fmla="*/ 332 h 851"/>
                <a:gd name="T12" fmla="*/ 669 w 998"/>
                <a:gd name="T13" fmla="*/ 265 h 851"/>
                <a:gd name="T14" fmla="*/ 646 w 998"/>
                <a:gd name="T15" fmla="*/ 218 h 851"/>
                <a:gd name="T16" fmla="*/ 637 w 998"/>
                <a:gd name="T17" fmla="*/ 195 h 851"/>
                <a:gd name="T18" fmla="*/ 588 w 998"/>
                <a:gd name="T19" fmla="*/ 170 h 851"/>
                <a:gd name="T20" fmla="*/ 332 w 998"/>
                <a:gd name="T21" fmla="*/ 63 h 851"/>
                <a:gd name="T22" fmla="*/ 250 w 998"/>
                <a:gd name="T23" fmla="*/ 9 h 851"/>
                <a:gd name="T24" fmla="*/ 200 w 998"/>
                <a:gd name="T25" fmla="*/ 0 h 851"/>
                <a:gd name="T26" fmla="*/ 147 w 998"/>
                <a:gd name="T27" fmla="*/ 18 h 851"/>
                <a:gd name="T28" fmla="*/ 111 w 998"/>
                <a:gd name="T29" fmla="*/ 32 h 851"/>
                <a:gd name="T30" fmla="*/ 111 w 998"/>
                <a:gd name="T31" fmla="*/ 46 h 851"/>
                <a:gd name="T32" fmla="*/ 123 w 998"/>
                <a:gd name="T33" fmla="*/ 118 h 851"/>
                <a:gd name="T34" fmla="*/ 70 w 998"/>
                <a:gd name="T35" fmla="*/ 163 h 851"/>
                <a:gd name="T36" fmla="*/ 12 w 998"/>
                <a:gd name="T37" fmla="*/ 161 h 851"/>
                <a:gd name="T38" fmla="*/ 12 w 998"/>
                <a:gd name="T39" fmla="*/ 249 h 851"/>
                <a:gd name="T40" fmla="*/ 85 w 998"/>
                <a:gd name="T41" fmla="*/ 334 h 851"/>
                <a:gd name="T42" fmla="*/ 145 w 998"/>
                <a:gd name="T43" fmla="*/ 433 h 851"/>
                <a:gd name="T44" fmla="*/ 232 w 998"/>
                <a:gd name="T45" fmla="*/ 560 h 851"/>
                <a:gd name="T46" fmla="*/ 300 w 998"/>
                <a:gd name="T47" fmla="*/ 631 h 851"/>
                <a:gd name="T48" fmla="*/ 419 w 998"/>
                <a:gd name="T49" fmla="*/ 826 h 851"/>
                <a:gd name="T50" fmla="*/ 427 w 998"/>
                <a:gd name="T51" fmla="*/ 837 h 851"/>
                <a:gd name="T52" fmla="*/ 437 w 998"/>
                <a:gd name="T53" fmla="*/ 790 h 851"/>
                <a:gd name="T54" fmla="*/ 470 w 998"/>
                <a:gd name="T55" fmla="*/ 798 h 851"/>
                <a:gd name="T56" fmla="*/ 522 w 998"/>
                <a:gd name="T57" fmla="*/ 791 h 851"/>
                <a:gd name="T58" fmla="*/ 593 w 998"/>
                <a:gd name="T59" fmla="*/ 799 h 851"/>
                <a:gd name="T60" fmla="*/ 628 w 998"/>
                <a:gd name="T61" fmla="*/ 804 h 851"/>
                <a:gd name="T62" fmla="*/ 653 w 998"/>
                <a:gd name="T63" fmla="*/ 755 h 851"/>
                <a:gd name="T64" fmla="*/ 839 w 998"/>
                <a:gd name="T65" fmla="*/ 710 h 851"/>
                <a:gd name="T66" fmla="*/ 998 w 998"/>
                <a:gd name="T67" fmla="*/ 546 h 8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98" h="851">
                  <a:moveTo>
                    <a:pt x="980" y="527"/>
                  </a:moveTo>
                  <a:cubicBezTo>
                    <a:pt x="980" y="525"/>
                    <a:pt x="978" y="521"/>
                    <a:pt x="976" y="516"/>
                  </a:cubicBezTo>
                  <a:cubicBezTo>
                    <a:pt x="942" y="512"/>
                    <a:pt x="853" y="501"/>
                    <a:pt x="851" y="501"/>
                  </a:cubicBezTo>
                  <a:cubicBezTo>
                    <a:pt x="848" y="501"/>
                    <a:pt x="811" y="453"/>
                    <a:pt x="804" y="446"/>
                  </a:cubicBezTo>
                  <a:cubicBezTo>
                    <a:pt x="799" y="441"/>
                    <a:pt x="799" y="433"/>
                    <a:pt x="800" y="428"/>
                  </a:cubicBezTo>
                  <a:cubicBezTo>
                    <a:pt x="796" y="423"/>
                    <a:pt x="793" y="417"/>
                    <a:pt x="794" y="413"/>
                  </a:cubicBezTo>
                  <a:cubicBezTo>
                    <a:pt x="788" y="415"/>
                    <a:pt x="788" y="415"/>
                    <a:pt x="788" y="415"/>
                  </a:cubicBezTo>
                  <a:cubicBezTo>
                    <a:pt x="780" y="407"/>
                    <a:pt x="780" y="407"/>
                    <a:pt x="780" y="407"/>
                  </a:cubicBezTo>
                  <a:cubicBezTo>
                    <a:pt x="770" y="410"/>
                    <a:pt x="770" y="410"/>
                    <a:pt x="770" y="410"/>
                  </a:cubicBezTo>
                  <a:cubicBezTo>
                    <a:pt x="764" y="400"/>
                    <a:pt x="764" y="400"/>
                    <a:pt x="764" y="400"/>
                  </a:cubicBezTo>
                  <a:cubicBezTo>
                    <a:pt x="757" y="398"/>
                    <a:pt x="750" y="359"/>
                    <a:pt x="744" y="354"/>
                  </a:cubicBezTo>
                  <a:cubicBezTo>
                    <a:pt x="738" y="349"/>
                    <a:pt x="722" y="346"/>
                    <a:pt x="719" y="332"/>
                  </a:cubicBezTo>
                  <a:cubicBezTo>
                    <a:pt x="715" y="318"/>
                    <a:pt x="720" y="296"/>
                    <a:pt x="707" y="286"/>
                  </a:cubicBezTo>
                  <a:cubicBezTo>
                    <a:pt x="693" y="275"/>
                    <a:pt x="675" y="277"/>
                    <a:pt x="669" y="265"/>
                  </a:cubicBezTo>
                  <a:cubicBezTo>
                    <a:pt x="663" y="252"/>
                    <a:pt x="670" y="239"/>
                    <a:pt x="664" y="235"/>
                  </a:cubicBezTo>
                  <a:cubicBezTo>
                    <a:pt x="658" y="231"/>
                    <a:pt x="646" y="218"/>
                    <a:pt x="646" y="218"/>
                  </a:cubicBezTo>
                  <a:cubicBezTo>
                    <a:pt x="645" y="201"/>
                    <a:pt x="645" y="201"/>
                    <a:pt x="645" y="201"/>
                  </a:cubicBezTo>
                  <a:cubicBezTo>
                    <a:pt x="645" y="201"/>
                    <a:pt x="642" y="198"/>
                    <a:pt x="637" y="195"/>
                  </a:cubicBezTo>
                  <a:cubicBezTo>
                    <a:pt x="624" y="196"/>
                    <a:pt x="606" y="196"/>
                    <a:pt x="598" y="196"/>
                  </a:cubicBezTo>
                  <a:cubicBezTo>
                    <a:pt x="584" y="195"/>
                    <a:pt x="594" y="177"/>
                    <a:pt x="588" y="170"/>
                  </a:cubicBezTo>
                  <a:cubicBezTo>
                    <a:pt x="582" y="163"/>
                    <a:pt x="460" y="160"/>
                    <a:pt x="460" y="160"/>
                  </a:cubicBezTo>
                  <a:cubicBezTo>
                    <a:pt x="332" y="63"/>
                    <a:pt x="332" y="63"/>
                    <a:pt x="332" y="63"/>
                  </a:cubicBezTo>
                  <a:cubicBezTo>
                    <a:pt x="332" y="63"/>
                    <a:pt x="311" y="49"/>
                    <a:pt x="299" y="43"/>
                  </a:cubicBezTo>
                  <a:cubicBezTo>
                    <a:pt x="287" y="37"/>
                    <a:pt x="250" y="9"/>
                    <a:pt x="250" y="9"/>
                  </a:cubicBezTo>
                  <a:cubicBezTo>
                    <a:pt x="250" y="9"/>
                    <a:pt x="225" y="8"/>
                    <a:pt x="216" y="9"/>
                  </a:cubicBezTo>
                  <a:cubicBezTo>
                    <a:pt x="207" y="10"/>
                    <a:pt x="200" y="0"/>
                    <a:pt x="200" y="0"/>
                  </a:cubicBezTo>
                  <a:cubicBezTo>
                    <a:pt x="200" y="0"/>
                    <a:pt x="187" y="8"/>
                    <a:pt x="181" y="14"/>
                  </a:cubicBezTo>
                  <a:cubicBezTo>
                    <a:pt x="175" y="20"/>
                    <a:pt x="147" y="18"/>
                    <a:pt x="147" y="18"/>
                  </a:cubicBezTo>
                  <a:cubicBezTo>
                    <a:pt x="139" y="32"/>
                    <a:pt x="139" y="32"/>
                    <a:pt x="139" y="32"/>
                  </a:cubicBezTo>
                  <a:cubicBezTo>
                    <a:pt x="111" y="32"/>
                    <a:pt x="111" y="32"/>
                    <a:pt x="111" y="32"/>
                  </a:cubicBezTo>
                  <a:cubicBezTo>
                    <a:pt x="111" y="32"/>
                    <a:pt x="86" y="31"/>
                    <a:pt x="79" y="38"/>
                  </a:cubicBezTo>
                  <a:cubicBezTo>
                    <a:pt x="72" y="45"/>
                    <a:pt x="104" y="42"/>
                    <a:pt x="111" y="46"/>
                  </a:cubicBezTo>
                  <a:cubicBezTo>
                    <a:pt x="118" y="50"/>
                    <a:pt x="137" y="85"/>
                    <a:pt x="137" y="85"/>
                  </a:cubicBezTo>
                  <a:cubicBezTo>
                    <a:pt x="137" y="85"/>
                    <a:pt x="131" y="111"/>
                    <a:pt x="123" y="118"/>
                  </a:cubicBezTo>
                  <a:cubicBezTo>
                    <a:pt x="115" y="125"/>
                    <a:pt x="98" y="121"/>
                    <a:pt x="92" y="123"/>
                  </a:cubicBezTo>
                  <a:cubicBezTo>
                    <a:pt x="86" y="125"/>
                    <a:pt x="84" y="152"/>
                    <a:pt x="70" y="163"/>
                  </a:cubicBezTo>
                  <a:cubicBezTo>
                    <a:pt x="56" y="174"/>
                    <a:pt x="25" y="154"/>
                    <a:pt x="18" y="155"/>
                  </a:cubicBezTo>
                  <a:cubicBezTo>
                    <a:pt x="12" y="156"/>
                    <a:pt x="12" y="160"/>
                    <a:pt x="12" y="161"/>
                  </a:cubicBezTo>
                  <a:cubicBezTo>
                    <a:pt x="12" y="161"/>
                    <a:pt x="12" y="161"/>
                    <a:pt x="12" y="161"/>
                  </a:cubicBezTo>
                  <a:cubicBezTo>
                    <a:pt x="12" y="170"/>
                    <a:pt x="0" y="237"/>
                    <a:pt x="12" y="249"/>
                  </a:cubicBezTo>
                  <a:cubicBezTo>
                    <a:pt x="24" y="260"/>
                    <a:pt x="49" y="260"/>
                    <a:pt x="54" y="274"/>
                  </a:cubicBezTo>
                  <a:cubicBezTo>
                    <a:pt x="60" y="288"/>
                    <a:pt x="76" y="325"/>
                    <a:pt x="85" y="334"/>
                  </a:cubicBezTo>
                  <a:cubicBezTo>
                    <a:pt x="94" y="343"/>
                    <a:pt x="113" y="358"/>
                    <a:pt x="120" y="370"/>
                  </a:cubicBezTo>
                  <a:cubicBezTo>
                    <a:pt x="128" y="383"/>
                    <a:pt x="132" y="421"/>
                    <a:pt x="145" y="433"/>
                  </a:cubicBezTo>
                  <a:cubicBezTo>
                    <a:pt x="157" y="445"/>
                    <a:pt x="184" y="434"/>
                    <a:pt x="201" y="453"/>
                  </a:cubicBezTo>
                  <a:cubicBezTo>
                    <a:pt x="218" y="472"/>
                    <a:pt x="232" y="531"/>
                    <a:pt x="232" y="560"/>
                  </a:cubicBezTo>
                  <a:cubicBezTo>
                    <a:pt x="232" y="590"/>
                    <a:pt x="267" y="626"/>
                    <a:pt x="267" y="626"/>
                  </a:cubicBezTo>
                  <a:cubicBezTo>
                    <a:pt x="267" y="626"/>
                    <a:pt x="291" y="623"/>
                    <a:pt x="300" y="631"/>
                  </a:cubicBezTo>
                  <a:cubicBezTo>
                    <a:pt x="308" y="639"/>
                    <a:pt x="344" y="704"/>
                    <a:pt x="358" y="728"/>
                  </a:cubicBezTo>
                  <a:cubicBezTo>
                    <a:pt x="372" y="752"/>
                    <a:pt x="420" y="810"/>
                    <a:pt x="419" y="826"/>
                  </a:cubicBezTo>
                  <a:cubicBezTo>
                    <a:pt x="419" y="833"/>
                    <a:pt x="417" y="842"/>
                    <a:pt x="414" y="851"/>
                  </a:cubicBezTo>
                  <a:cubicBezTo>
                    <a:pt x="418" y="848"/>
                    <a:pt x="423" y="844"/>
                    <a:pt x="427" y="837"/>
                  </a:cubicBezTo>
                  <a:cubicBezTo>
                    <a:pt x="434" y="826"/>
                    <a:pt x="428" y="824"/>
                    <a:pt x="428" y="824"/>
                  </a:cubicBezTo>
                  <a:cubicBezTo>
                    <a:pt x="428" y="824"/>
                    <a:pt x="427" y="795"/>
                    <a:pt x="437" y="790"/>
                  </a:cubicBezTo>
                  <a:cubicBezTo>
                    <a:pt x="447" y="785"/>
                    <a:pt x="452" y="799"/>
                    <a:pt x="452" y="799"/>
                  </a:cubicBezTo>
                  <a:cubicBezTo>
                    <a:pt x="470" y="798"/>
                    <a:pt x="470" y="798"/>
                    <a:pt x="470" y="798"/>
                  </a:cubicBezTo>
                  <a:cubicBezTo>
                    <a:pt x="470" y="798"/>
                    <a:pt x="477" y="792"/>
                    <a:pt x="482" y="792"/>
                  </a:cubicBezTo>
                  <a:cubicBezTo>
                    <a:pt x="487" y="792"/>
                    <a:pt x="506" y="791"/>
                    <a:pt x="522" y="791"/>
                  </a:cubicBezTo>
                  <a:cubicBezTo>
                    <a:pt x="538" y="791"/>
                    <a:pt x="549" y="799"/>
                    <a:pt x="549" y="799"/>
                  </a:cubicBezTo>
                  <a:cubicBezTo>
                    <a:pt x="549" y="799"/>
                    <a:pt x="589" y="797"/>
                    <a:pt x="593" y="799"/>
                  </a:cubicBezTo>
                  <a:cubicBezTo>
                    <a:pt x="597" y="801"/>
                    <a:pt x="611" y="816"/>
                    <a:pt x="616" y="816"/>
                  </a:cubicBezTo>
                  <a:cubicBezTo>
                    <a:pt x="621" y="816"/>
                    <a:pt x="628" y="804"/>
                    <a:pt x="628" y="804"/>
                  </a:cubicBezTo>
                  <a:cubicBezTo>
                    <a:pt x="628" y="792"/>
                    <a:pt x="628" y="792"/>
                    <a:pt x="628" y="792"/>
                  </a:cubicBezTo>
                  <a:cubicBezTo>
                    <a:pt x="628" y="792"/>
                    <a:pt x="643" y="768"/>
                    <a:pt x="653" y="755"/>
                  </a:cubicBezTo>
                  <a:cubicBezTo>
                    <a:pt x="663" y="742"/>
                    <a:pt x="705" y="723"/>
                    <a:pt x="717" y="723"/>
                  </a:cubicBezTo>
                  <a:cubicBezTo>
                    <a:pt x="729" y="723"/>
                    <a:pt x="839" y="710"/>
                    <a:pt x="839" y="710"/>
                  </a:cubicBezTo>
                  <a:cubicBezTo>
                    <a:pt x="972" y="661"/>
                    <a:pt x="972" y="661"/>
                    <a:pt x="972" y="661"/>
                  </a:cubicBezTo>
                  <a:cubicBezTo>
                    <a:pt x="998" y="546"/>
                    <a:pt x="998" y="546"/>
                    <a:pt x="998" y="546"/>
                  </a:cubicBezTo>
                  <a:cubicBezTo>
                    <a:pt x="998" y="546"/>
                    <a:pt x="980" y="531"/>
                    <a:pt x="980" y="527"/>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447" name="Freeform 239">
              <a:extLst>
                <a:ext uri="{FF2B5EF4-FFF2-40B4-BE49-F238E27FC236}">
                  <a16:creationId xmlns:a16="http://schemas.microsoft.com/office/drawing/2014/main" id="{54D70015-4A04-4226-884B-F2267622F2EC}"/>
                </a:ext>
              </a:extLst>
            </p:cNvPr>
            <p:cNvSpPr>
              <a:spLocks/>
            </p:cNvSpPr>
            <p:nvPr/>
          </p:nvSpPr>
          <p:spPr bwMode="gray">
            <a:xfrm>
              <a:off x="5837353" y="1494272"/>
              <a:ext cx="51400" cy="67329"/>
            </a:xfrm>
            <a:custGeom>
              <a:avLst/>
              <a:gdLst>
                <a:gd name="T0" fmla="*/ 46 w 76"/>
                <a:gd name="T1" fmla="*/ 66 h 105"/>
                <a:gd name="T2" fmla="*/ 50 w 76"/>
                <a:gd name="T3" fmla="*/ 46 h 105"/>
                <a:gd name="T4" fmla="*/ 71 w 76"/>
                <a:gd name="T5" fmla="*/ 34 h 105"/>
                <a:gd name="T6" fmla="*/ 64 w 76"/>
                <a:gd name="T7" fmla="*/ 10 h 105"/>
                <a:gd name="T8" fmla="*/ 65 w 76"/>
                <a:gd name="T9" fmla="*/ 0 h 105"/>
                <a:gd name="T10" fmla="*/ 40 w 76"/>
                <a:gd name="T11" fmla="*/ 0 h 105"/>
                <a:gd name="T12" fmla="*/ 37 w 76"/>
                <a:gd name="T13" fmla="*/ 0 h 105"/>
                <a:gd name="T14" fmla="*/ 36 w 76"/>
                <a:gd name="T15" fmla="*/ 5 h 105"/>
                <a:gd name="T16" fmla="*/ 20 w 76"/>
                <a:gd name="T17" fmla="*/ 21 h 105"/>
                <a:gd name="T18" fmla="*/ 11 w 76"/>
                <a:gd name="T19" fmla="*/ 45 h 105"/>
                <a:gd name="T20" fmla="*/ 0 w 76"/>
                <a:gd name="T21" fmla="*/ 89 h 105"/>
                <a:gd name="T22" fmla="*/ 1 w 76"/>
                <a:gd name="T23" fmla="*/ 105 h 105"/>
                <a:gd name="T24" fmla="*/ 6 w 76"/>
                <a:gd name="T25" fmla="*/ 100 h 105"/>
                <a:gd name="T26" fmla="*/ 13 w 76"/>
                <a:gd name="T27" fmla="*/ 87 h 105"/>
                <a:gd name="T28" fmla="*/ 27 w 76"/>
                <a:gd name="T29" fmla="*/ 86 h 105"/>
                <a:gd name="T30" fmla="*/ 31 w 76"/>
                <a:gd name="T31" fmla="*/ 69 h 105"/>
                <a:gd name="T32" fmla="*/ 46 w 76"/>
                <a:gd name="T33" fmla="*/ 66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6" h="105">
                  <a:moveTo>
                    <a:pt x="46" y="66"/>
                  </a:moveTo>
                  <a:cubicBezTo>
                    <a:pt x="46" y="66"/>
                    <a:pt x="41" y="49"/>
                    <a:pt x="50" y="46"/>
                  </a:cubicBezTo>
                  <a:cubicBezTo>
                    <a:pt x="59" y="43"/>
                    <a:pt x="66" y="46"/>
                    <a:pt x="71" y="34"/>
                  </a:cubicBezTo>
                  <a:cubicBezTo>
                    <a:pt x="76" y="22"/>
                    <a:pt x="64" y="10"/>
                    <a:pt x="64" y="10"/>
                  </a:cubicBezTo>
                  <a:cubicBezTo>
                    <a:pt x="65" y="0"/>
                    <a:pt x="65" y="0"/>
                    <a:pt x="65" y="0"/>
                  </a:cubicBezTo>
                  <a:cubicBezTo>
                    <a:pt x="40" y="0"/>
                    <a:pt x="40" y="0"/>
                    <a:pt x="40" y="0"/>
                  </a:cubicBezTo>
                  <a:cubicBezTo>
                    <a:pt x="37" y="0"/>
                    <a:pt x="37" y="0"/>
                    <a:pt x="37" y="0"/>
                  </a:cubicBezTo>
                  <a:cubicBezTo>
                    <a:pt x="37" y="2"/>
                    <a:pt x="37" y="4"/>
                    <a:pt x="36" y="5"/>
                  </a:cubicBezTo>
                  <a:cubicBezTo>
                    <a:pt x="29" y="15"/>
                    <a:pt x="20" y="21"/>
                    <a:pt x="20" y="21"/>
                  </a:cubicBezTo>
                  <a:cubicBezTo>
                    <a:pt x="11" y="45"/>
                    <a:pt x="11" y="45"/>
                    <a:pt x="11" y="45"/>
                  </a:cubicBezTo>
                  <a:cubicBezTo>
                    <a:pt x="11" y="45"/>
                    <a:pt x="1" y="69"/>
                    <a:pt x="0" y="89"/>
                  </a:cubicBezTo>
                  <a:cubicBezTo>
                    <a:pt x="0" y="94"/>
                    <a:pt x="0" y="100"/>
                    <a:pt x="1" y="105"/>
                  </a:cubicBezTo>
                  <a:cubicBezTo>
                    <a:pt x="6" y="100"/>
                    <a:pt x="6" y="100"/>
                    <a:pt x="6" y="100"/>
                  </a:cubicBezTo>
                  <a:cubicBezTo>
                    <a:pt x="13" y="87"/>
                    <a:pt x="13" y="87"/>
                    <a:pt x="13" y="87"/>
                  </a:cubicBezTo>
                  <a:cubicBezTo>
                    <a:pt x="13" y="87"/>
                    <a:pt x="22" y="93"/>
                    <a:pt x="27" y="86"/>
                  </a:cubicBezTo>
                  <a:cubicBezTo>
                    <a:pt x="32" y="79"/>
                    <a:pt x="31" y="69"/>
                    <a:pt x="31" y="69"/>
                  </a:cubicBezTo>
                  <a:cubicBezTo>
                    <a:pt x="46" y="66"/>
                    <a:pt x="46" y="66"/>
                    <a:pt x="46" y="66"/>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448" name="Freeform 240">
              <a:extLst>
                <a:ext uri="{FF2B5EF4-FFF2-40B4-BE49-F238E27FC236}">
                  <a16:creationId xmlns:a16="http://schemas.microsoft.com/office/drawing/2014/main" id="{01006D38-2362-4727-87F8-032ED4C2B9F1}"/>
                </a:ext>
              </a:extLst>
            </p:cNvPr>
            <p:cNvSpPr>
              <a:spLocks/>
            </p:cNvSpPr>
            <p:nvPr/>
          </p:nvSpPr>
          <p:spPr bwMode="gray">
            <a:xfrm>
              <a:off x="5850849" y="1400066"/>
              <a:ext cx="201292" cy="176196"/>
            </a:xfrm>
            <a:custGeom>
              <a:avLst/>
              <a:gdLst>
                <a:gd name="T0" fmla="*/ 281 w 297"/>
                <a:gd name="T1" fmla="*/ 39 h 275"/>
                <a:gd name="T2" fmla="*/ 297 w 297"/>
                <a:gd name="T3" fmla="*/ 19 h 275"/>
                <a:gd name="T4" fmla="*/ 290 w 297"/>
                <a:gd name="T5" fmla="*/ 2 h 275"/>
                <a:gd name="T6" fmla="*/ 277 w 297"/>
                <a:gd name="T7" fmla="*/ 12 h 275"/>
                <a:gd name="T8" fmla="*/ 264 w 297"/>
                <a:gd name="T9" fmla="*/ 15 h 275"/>
                <a:gd name="T10" fmla="*/ 250 w 297"/>
                <a:gd name="T11" fmla="*/ 22 h 275"/>
                <a:gd name="T12" fmla="*/ 241 w 297"/>
                <a:gd name="T13" fmla="*/ 16 h 275"/>
                <a:gd name="T14" fmla="*/ 217 w 297"/>
                <a:gd name="T15" fmla="*/ 16 h 275"/>
                <a:gd name="T16" fmla="*/ 188 w 297"/>
                <a:gd name="T17" fmla="*/ 32 h 275"/>
                <a:gd name="T18" fmla="*/ 163 w 297"/>
                <a:gd name="T19" fmla="*/ 39 h 275"/>
                <a:gd name="T20" fmla="*/ 140 w 297"/>
                <a:gd name="T21" fmla="*/ 35 h 275"/>
                <a:gd name="T22" fmla="*/ 114 w 297"/>
                <a:gd name="T23" fmla="*/ 22 h 275"/>
                <a:gd name="T24" fmla="*/ 100 w 297"/>
                <a:gd name="T25" fmla="*/ 33 h 275"/>
                <a:gd name="T26" fmla="*/ 64 w 297"/>
                <a:gd name="T27" fmla="*/ 41 h 275"/>
                <a:gd name="T28" fmla="*/ 58 w 297"/>
                <a:gd name="T29" fmla="*/ 31 h 275"/>
                <a:gd name="T30" fmla="*/ 42 w 297"/>
                <a:gd name="T31" fmla="*/ 32 h 275"/>
                <a:gd name="T32" fmla="*/ 43 w 297"/>
                <a:gd name="T33" fmla="*/ 53 h 275"/>
                <a:gd name="T34" fmla="*/ 48 w 297"/>
                <a:gd name="T35" fmla="*/ 64 h 275"/>
                <a:gd name="T36" fmla="*/ 33 w 297"/>
                <a:gd name="T37" fmla="*/ 66 h 275"/>
                <a:gd name="T38" fmla="*/ 33 w 297"/>
                <a:gd name="T39" fmla="*/ 75 h 275"/>
                <a:gd name="T40" fmla="*/ 27 w 297"/>
                <a:gd name="T41" fmla="*/ 84 h 275"/>
                <a:gd name="T42" fmla="*/ 14 w 297"/>
                <a:gd name="T43" fmla="*/ 78 h 275"/>
                <a:gd name="T44" fmla="*/ 5 w 297"/>
                <a:gd name="T45" fmla="*/ 98 h 275"/>
                <a:gd name="T46" fmla="*/ 1 w 297"/>
                <a:gd name="T47" fmla="*/ 99 h 275"/>
                <a:gd name="T48" fmla="*/ 0 w 297"/>
                <a:gd name="T49" fmla="*/ 131 h 275"/>
                <a:gd name="T50" fmla="*/ 17 w 297"/>
                <a:gd name="T51" fmla="*/ 147 h 275"/>
                <a:gd name="T52" fmla="*/ 20 w 297"/>
                <a:gd name="T53" fmla="*/ 147 h 275"/>
                <a:gd name="T54" fmla="*/ 45 w 297"/>
                <a:gd name="T55" fmla="*/ 147 h 275"/>
                <a:gd name="T56" fmla="*/ 44 w 297"/>
                <a:gd name="T57" fmla="*/ 157 h 275"/>
                <a:gd name="T58" fmla="*/ 51 w 297"/>
                <a:gd name="T59" fmla="*/ 181 h 275"/>
                <a:gd name="T60" fmla="*/ 30 w 297"/>
                <a:gd name="T61" fmla="*/ 193 h 275"/>
                <a:gd name="T62" fmla="*/ 26 w 297"/>
                <a:gd name="T63" fmla="*/ 213 h 275"/>
                <a:gd name="T64" fmla="*/ 16 w 297"/>
                <a:gd name="T65" fmla="*/ 224 h 275"/>
                <a:gd name="T66" fmla="*/ 19 w 297"/>
                <a:gd name="T67" fmla="*/ 254 h 275"/>
                <a:gd name="T68" fmla="*/ 23 w 297"/>
                <a:gd name="T69" fmla="*/ 251 h 275"/>
                <a:gd name="T70" fmla="*/ 45 w 297"/>
                <a:gd name="T71" fmla="*/ 263 h 275"/>
                <a:gd name="T72" fmla="*/ 73 w 297"/>
                <a:gd name="T73" fmla="*/ 275 h 275"/>
                <a:gd name="T74" fmla="*/ 157 w 297"/>
                <a:gd name="T75" fmla="*/ 218 h 275"/>
                <a:gd name="T76" fmla="*/ 200 w 297"/>
                <a:gd name="T77" fmla="*/ 183 h 275"/>
                <a:gd name="T78" fmla="*/ 261 w 297"/>
                <a:gd name="T79" fmla="*/ 156 h 275"/>
                <a:gd name="T80" fmla="*/ 255 w 297"/>
                <a:gd name="T81" fmla="*/ 131 h 275"/>
                <a:gd name="T82" fmla="*/ 264 w 297"/>
                <a:gd name="T83" fmla="*/ 112 h 275"/>
                <a:gd name="T84" fmla="*/ 260 w 297"/>
                <a:gd name="T85" fmla="*/ 77 h 275"/>
                <a:gd name="T86" fmla="*/ 249 w 297"/>
                <a:gd name="T87" fmla="*/ 55 h 275"/>
                <a:gd name="T88" fmla="*/ 281 w 297"/>
                <a:gd name="T89" fmla="*/ 39 h 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97" h="275">
                  <a:moveTo>
                    <a:pt x="281" y="39"/>
                  </a:moveTo>
                  <a:cubicBezTo>
                    <a:pt x="290" y="35"/>
                    <a:pt x="295" y="26"/>
                    <a:pt x="297" y="19"/>
                  </a:cubicBezTo>
                  <a:cubicBezTo>
                    <a:pt x="288" y="20"/>
                    <a:pt x="293" y="4"/>
                    <a:pt x="290" y="2"/>
                  </a:cubicBezTo>
                  <a:cubicBezTo>
                    <a:pt x="287" y="0"/>
                    <a:pt x="285" y="11"/>
                    <a:pt x="277" y="12"/>
                  </a:cubicBezTo>
                  <a:cubicBezTo>
                    <a:pt x="269" y="13"/>
                    <a:pt x="264" y="15"/>
                    <a:pt x="264" y="15"/>
                  </a:cubicBezTo>
                  <a:cubicBezTo>
                    <a:pt x="264" y="15"/>
                    <a:pt x="259" y="21"/>
                    <a:pt x="250" y="22"/>
                  </a:cubicBezTo>
                  <a:cubicBezTo>
                    <a:pt x="241" y="23"/>
                    <a:pt x="246" y="18"/>
                    <a:pt x="241" y="16"/>
                  </a:cubicBezTo>
                  <a:cubicBezTo>
                    <a:pt x="236" y="14"/>
                    <a:pt x="230" y="15"/>
                    <a:pt x="217" y="16"/>
                  </a:cubicBezTo>
                  <a:cubicBezTo>
                    <a:pt x="204" y="17"/>
                    <a:pt x="197" y="29"/>
                    <a:pt x="188" y="32"/>
                  </a:cubicBezTo>
                  <a:cubicBezTo>
                    <a:pt x="179" y="35"/>
                    <a:pt x="174" y="38"/>
                    <a:pt x="163" y="39"/>
                  </a:cubicBezTo>
                  <a:cubicBezTo>
                    <a:pt x="152" y="40"/>
                    <a:pt x="140" y="35"/>
                    <a:pt x="140" y="35"/>
                  </a:cubicBezTo>
                  <a:cubicBezTo>
                    <a:pt x="140" y="35"/>
                    <a:pt x="117" y="23"/>
                    <a:pt x="114" y="22"/>
                  </a:cubicBezTo>
                  <a:cubicBezTo>
                    <a:pt x="111" y="21"/>
                    <a:pt x="100" y="33"/>
                    <a:pt x="100" y="33"/>
                  </a:cubicBezTo>
                  <a:cubicBezTo>
                    <a:pt x="100" y="33"/>
                    <a:pt x="85" y="41"/>
                    <a:pt x="64" y="41"/>
                  </a:cubicBezTo>
                  <a:cubicBezTo>
                    <a:pt x="43" y="41"/>
                    <a:pt x="60" y="35"/>
                    <a:pt x="58" y="31"/>
                  </a:cubicBezTo>
                  <a:cubicBezTo>
                    <a:pt x="56" y="27"/>
                    <a:pt x="42" y="32"/>
                    <a:pt x="42" y="32"/>
                  </a:cubicBezTo>
                  <a:cubicBezTo>
                    <a:pt x="43" y="53"/>
                    <a:pt x="43" y="53"/>
                    <a:pt x="43" y="53"/>
                  </a:cubicBezTo>
                  <a:cubicBezTo>
                    <a:pt x="43" y="53"/>
                    <a:pt x="50" y="51"/>
                    <a:pt x="48" y="64"/>
                  </a:cubicBezTo>
                  <a:cubicBezTo>
                    <a:pt x="47" y="72"/>
                    <a:pt x="33" y="66"/>
                    <a:pt x="33" y="66"/>
                  </a:cubicBezTo>
                  <a:cubicBezTo>
                    <a:pt x="33" y="75"/>
                    <a:pt x="33" y="75"/>
                    <a:pt x="33" y="75"/>
                  </a:cubicBezTo>
                  <a:cubicBezTo>
                    <a:pt x="33" y="75"/>
                    <a:pt x="31" y="83"/>
                    <a:pt x="27" y="84"/>
                  </a:cubicBezTo>
                  <a:cubicBezTo>
                    <a:pt x="24" y="85"/>
                    <a:pt x="17" y="80"/>
                    <a:pt x="14" y="78"/>
                  </a:cubicBezTo>
                  <a:cubicBezTo>
                    <a:pt x="12" y="83"/>
                    <a:pt x="2" y="91"/>
                    <a:pt x="5" y="98"/>
                  </a:cubicBezTo>
                  <a:cubicBezTo>
                    <a:pt x="1" y="99"/>
                    <a:pt x="1" y="99"/>
                    <a:pt x="1" y="99"/>
                  </a:cubicBezTo>
                  <a:cubicBezTo>
                    <a:pt x="0" y="131"/>
                    <a:pt x="0" y="131"/>
                    <a:pt x="0" y="131"/>
                  </a:cubicBezTo>
                  <a:cubicBezTo>
                    <a:pt x="0" y="131"/>
                    <a:pt x="14" y="139"/>
                    <a:pt x="17" y="147"/>
                  </a:cubicBezTo>
                  <a:cubicBezTo>
                    <a:pt x="20" y="147"/>
                    <a:pt x="20" y="147"/>
                    <a:pt x="20" y="147"/>
                  </a:cubicBezTo>
                  <a:cubicBezTo>
                    <a:pt x="45" y="147"/>
                    <a:pt x="45" y="147"/>
                    <a:pt x="45" y="147"/>
                  </a:cubicBezTo>
                  <a:cubicBezTo>
                    <a:pt x="44" y="157"/>
                    <a:pt x="44" y="157"/>
                    <a:pt x="44" y="157"/>
                  </a:cubicBezTo>
                  <a:cubicBezTo>
                    <a:pt x="44" y="157"/>
                    <a:pt x="56" y="169"/>
                    <a:pt x="51" y="181"/>
                  </a:cubicBezTo>
                  <a:cubicBezTo>
                    <a:pt x="46" y="193"/>
                    <a:pt x="39" y="190"/>
                    <a:pt x="30" y="193"/>
                  </a:cubicBezTo>
                  <a:cubicBezTo>
                    <a:pt x="21" y="196"/>
                    <a:pt x="26" y="213"/>
                    <a:pt x="26" y="213"/>
                  </a:cubicBezTo>
                  <a:cubicBezTo>
                    <a:pt x="16" y="224"/>
                    <a:pt x="16" y="224"/>
                    <a:pt x="16" y="224"/>
                  </a:cubicBezTo>
                  <a:cubicBezTo>
                    <a:pt x="19" y="254"/>
                    <a:pt x="19" y="254"/>
                    <a:pt x="19" y="254"/>
                  </a:cubicBezTo>
                  <a:cubicBezTo>
                    <a:pt x="23" y="251"/>
                    <a:pt x="23" y="251"/>
                    <a:pt x="23" y="251"/>
                  </a:cubicBezTo>
                  <a:cubicBezTo>
                    <a:pt x="45" y="263"/>
                    <a:pt x="45" y="263"/>
                    <a:pt x="45" y="263"/>
                  </a:cubicBezTo>
                  <a:cubicBezTo>
                    <a:pt x="45" y="263"/>
                    <a:pt x="52" y="275"/>
                    <a:pt x="73" y="275"/>
                  </a:cubicBezTo>
                  <a:cubicBezTo>
                    <a:pt x="94" y="275"/>
                    <a:pt x="157" y="218"/>
                    <a:pt x="157" y="218"/>
                  </a:cubicBezTo>
                  <a:cubicBezTo>
                    <a:pt x="200" y="183"/>
                    <a:pt x="200" y="183"/>
                    <a:pt x="200" y="183"/>
                  </a:cubicBezTo>
                  <a:cubicBezTo>
                    <a:pt x="200" y="183"/>
                    <a:pt x="249" y="165"/>
                    <a:pt x="261" y="156"/>
                  </a:cubicBezTo>
                  <a:cubicBezTo>
                    <a:pt x="273" y="147"/>
                    <a:pt x="256" y="138"/>
                    <a:pt x="255" y="131"/>
                  </a:cubicBezTo>
                  <a:cubicBezTo>
                    <a:pt x="254" y="124"/>
                    <a:pt x="260" y="117"/>
                    <a:pt x="264" y="112"/>
                  </a:cubicBezTo>
                  <a:cubicBezTo>
                    <a:pt x="268" y="107"/>
                    <a:pt x="260" y="77"/>
                    <a:pt x="260" y="77"/>
                  </a:cubicBezTo>
                  <a:cubicBezTo>
                    <a:pt x="260" y="77"/>
                    <a:pt x="245" y="69"/>
                    <a:pt x="249" y="55"/>
                  </a:cubicBezTo>
                  <a:cubicBezTo>
                    <a:pt x="253" y="41"/>
                    <a:pt x="265" y="46"/>
                    <a:pt x="281" y="39"/>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449" name="Freeform 241">
              <a:extLst>
                <a:ext uri="{FF2B5EF4-FFF2-40B4-BE49-F238E27FC236}">
                  <a16:creationId xmlns:a16="http://schemas.microsoft.com/office/drawing/2014/main" id="{1C33876F-3517-4BB2-87DD-DF1E9534910A}"/>
                </a:ext>
              </a:extLst>
            </p:cNvPr>
            <p:cNvSpPr>
              <a:spLocks/>
            </p:cNvSpPr>
            <p:nvPr/>
          </p:nvSpPr>
          <p:spPr bwMode="gray">
            <a:xfrm>
              <a:off x="6063915" y="1264593"/>
              <a:ext cx="103087" cy="89863"/>
            </a:xfrm>
            <a:custGeom>
              <a:avLst/>
              <a:gdLst>
                <a:gd name="T0" fmla="*/ 147 w 152"/>
                <a:gd name="T1" fmla="*/ 111 h 140"/>
                <a:gd name="T2" fmla="*/ 143 w 152"/>
                <a:gd name="T3" fmla="*/ 104 h 140"/>
                <a:gd name="T4" fmla="*/ 145 w 152"/>
                <a:gd name="T5" fmla="*/ 94 h 140"/>
                <a:gd name="T6" fmla="*/ 125 w 152"/>
                <a:gd name="T7" fmla="*/ 92 h 140"/>
                <a:gd name="T8" fmla="*/ 115 w 152"/>
                <a:gd name="T9" fmla="*/ 78 h 140"/>
                <a:gd name="T10" fmla="*/ 97 w 152"/>
                <a:gd name="T11" fmla="*/ 70 h 140"/>
                <a:gd name="T12" fmla="*/ 118 w 152"/>
                <a:gd name="T13" fmla="*/ 61 h 140"/>
                <a:gd name="T14" fmla="*/ 88 w 152"/>
                <a:gd name="T15" fmla="*/ 39 h 140"/>
                <a:gd name="T16" fmla="*/ 94 w 152"/>
                <a:gd name="T17" fmla="*/ 24 h 140"/>
                <a:gd name="T18" fmla="*/ 75 w 152"/>
                <a:gd name="T19" fmla="*/ 16 h 140"/>
                <a:gd name="T20" fmla="*/ 76 w 152"/>
                <a:gd name="T21" fmla="*/ 7 h 140"/>
                <a:gd name="T22" fmla="*/ 61 w 152"/>
                <a:gd name="T23" fmla="*/ 0 h 140"/>
                <a:gd name="T24" fmla="*/ 55 w 152"/>
                <a:gd name="T25" fmla="*/ 10 h 140"/>
                <a:gd name="T26" fmla="*/ 22 w 152"/>
                <a:gd name="T27" fmla="*/ 6 h 140"/>
                <a:gd name="T28" fmla="*/ 17 w 152"/>
                <a:gd name="T29" fmla="*/ 13 h 140"/>
                <a:gd name="T30" fmla="*/ 0 w 152"/>
                <a:gd name="T31" fmla="*/ 14 h 140"/>
                <a:gd name="T32" fmla="*/ 6 w 152"/>
                <a:gd name="T33" fmla="*/ 29 h 140"/>
                <a:gd name="T34" fmla="*/ 18 w 152"/>
                <a:gd name="T35" fmla="*/ 69 h 140"/>
                <a:gd name="T36" fmla="*/ 47 w 152"/>
                <a:gd name="T37" fmla="*/ 72 h 140"/>
                <a:gd name="T38" fmla="*/ 57 w 152"/>
                <a:gd name="T39" fmla="*/ 93 h 140"/>
                <a:gd name="T40" fmla="*/ 55 w 152"/>
                <a:gd name="T41" fmla="*/ 98 h 140"/>
                <a:gd name="T42" fmla="*/ 62 w 152"/>
                <a:gd name="T43" fmla="*/ 103 h 140"/>
                <a:gd name="T44" fmla="*/ 72 w 152"/>
                <a:gd name="T45" fmla="*/ 89 h 140"/>
                <a:gd name="T46" fmla="*/ 83 w 152"/>
                <a:gd name="T47" fmla="*/ 86 h 140"/>
                <a:gd name="T48" fmla="*/ 100 w 152"/>
                <a:gd name="T49" fmla="*/ 97 h 140"/>
                <a:gd name="T50" fmla="*/ 111 w 152"/>
                <a:gd name="T51" fmla="*/ 95 h 140"/>
                <a:gd name="T52" fmla="*/ 119 w 152"/>
                <a:gd name="T53" fmla="*/ 111 h 140"/>
                <a:gd name="T54" fmla="*/ 130 w 152"/>
                <a:gd name="T55" fmla="*/ 138 h 140"/>
                <a:gd name="T56" fmla="*/ 148 w 152"/>
                <a:gd name="T57" fmla="*/ 140 h 140"/>
                <a:gd name="T58" fmla="*/ 147 w 152"/>
                <a:gd name="T59" fmla="*/ 111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52" h="140">
                  <a:moveTo>
                    <a:pt x="147" y="111"/>
                  </a:moveTo>
                  <a:cubicBezTo>
                    <a:pt x="143" y="104"/>
                    <a:pt x="143" y="104"/>
                    <a:pt x="143" y="104"/>
                  </a:cubicBezTo>
                  <a:cubicBezTo>
                    <a:pt x="145" y="94"/>
                    <a:pt x="145" y="94"/>
                    <a:pt x="145" y="94"/>
                  </a:cubicBezTo>
                  <a:cubicBezTo>
                    <a:pt x="125" y="92"/>
                    <a:pt x="125" y="92"/>
                    <a:pt x="125" y="92"/>
                  </a:cubicBezTo>
                  <a:cubicBezTo>
                    <a:pt x="115" y="78"/>
                    <a:pt x="115" y="78"/>
                    <a:pt x="115" y="78"/>
                  </a:cubicBezTo>
                  <a:cubicBezTo>
                    <a:pt x="97" y="70"/>
                    <a:pt x="97" y="70"/>
                    <a:pt x="97" y="70"/>
                  </a:cubicBezTo>
                  <a:cubicBezTo>
                    <a:pt x="97" y="70"/>
                    <a:pt x="117" y="70"/>
                    <a:pt x="118" y="61"/>
                  </a:cubicBezTo>
                  <a:cubicBezTo>
                    <a:pt x="119" y="52"/>
                    <a:pt x="88" y="39"/>
                    <a:pt x="88" y="39"/>
                  </a:cubicBezTo>
                  <a:cubicBezTo>
                    <a:pt x="88" y="39"/>
                    <a:pt x="94" y="31"/>
                    <a:pt x="94" y="24"/>
                  </a:cubicBezTo>
                  <a:cubicBezTo>
                    <a:pt x="94" y="17"/>
                    <a:pt x="75" y="16"/>
                    <a:pt x="75" y="16"/>
                  </a:cubicBezTo>
                  <a:cubicBezTo>
                    <a:pt x="76" y="7"/>
                    <a:pt x="76" y="7"/>
                    <a:pt x="76" y="7"/>
                  </a:cubicBezTo>
                  <a:cubicBezTo>
                    <a:pt x="76" y="7"/>
                    <a:pt x="64" y="0"/>
                    <a:pt x="61" y="0"/>
                  </a:cubicBezTo>
                  <a:cubicBezTo>
                    <a:pt x="58" y="0"/>
                    <a:pt x="55" y="10"/>
                    <a:pt x="55" y="10"/>
                  </a:cubicBezTo>
                  <a:cubicBezTo>
                    <a:pt x="22" y="6"/>
                    <a:pt x="22" y="6"/>
                    <a:pt x="22" y="6"/>
                  </a:cubicBezTo>
                  <a:cubicBezTo>
                    <a:pt x="17" y="13"/>
                    <a:pt x="17" y="13"/>
                    <a:pt x="17" y="13"/>
                  </a:cubicBezTo>
                  <a:cubicBezTo>
                    <a:pt x="0" y="14"/>
                    <a:pt x="0" y="14"/>
                    <a:pt x="0" y="14"/>
                  </a:cubicBezTo>
                  <a:cubicBezTo>
                    <a:pt x="2" y="17"/>
                    <a:pt x="3" y="22"/>
                    <a:pt x="6" y="29"/>
                  </a:cubicBezTo>
                  <a:cubicBezTo>
                    <a:pt x="12" y="44"/>
                    <a:pt x="10" y="58"/>
                    <a:pt x="18" y="69"/>
                  </a:cubicBezTo>
                  <a:cubicBezTo>
                    <a:pt x="26" y="80"/>
                    <a:pt x="42" y="71"/>
                    <a:pt x="47" y="72"/>
                  </a:cubicBezTo>
                  <a:cubicBezTo>
                    <a:pt x="50" y="72"/>
                    <a:pt x="54" y="83"/>
                    <a:pt x="57" y="93"/>
                  </a:cubicBezTo>
                  <a:cubicBezTo>
                    <a:pt x="56" y="95"/>
                    <a:pt x="56" y="96"/>
                    <a:pt x="55" y="98"/>
                  </a:cubicBezTo>
                  <a:cubicBezTo>
                    <a:pt x="62" y="103"/>
                    <a:pt x="62" y="103"/>
                    <a:pt x="62" y="103"/>
                  </a:cubicBezTo>
                  <a:cubicBezTo>
                    <a:pt x="72" y="89"/>
                    <a:pt x="72" y="89"/>
                    <a:pt x="72" y="89"/>
                  </a:cubicBezTo>
                  <a:cubicBezTo>
                    <a:pt x="72" y="89"/>
                    <a:pt x="82" y="86"/>
                    <a:pt x="83" y="86"/>
                  </a:cubicBezTo>
                  <a:cubicBezTo>
                    <a:pt x="90" y="96"/>
                    <a:pt x="100" y="97"/>
                    <a:pt x="100" y="97"/>
                  </a:cubicBezTo>
                  <a:cubicBezTo>
                    <a:pt x="100" y="97"/>
                    <a:pt x="102" y="94"/>
                    <a:pt x="111" y="95"/>
                  </a:cubicBezTo>
                  <a:cubicBezTo>
                    <a:pt x="120" y="96"/>
                    <a:pt x="116" y="107"/>
                    <a:pt x="119" y="111"/>
                  </a:cubicBezTo>
                  <a:cubicBezTo>
                    <a:pt x="122" y="115"/>
                    <a:pt x="130" y="138"/>
                    <a:pt x="130" y="138"/>
                  </a:cubicBezTo>
                  <a:cubicBezTo>
                    <a:pt x="130" y="138"/>
                    <a:pt x="144" y="140"/>
                    <a:pt x="148" y="140"/>
                  </a:cubicBezTo>
                  <a:cubicBezTo>
                    <a:pt x="152" y="140"/>
                    <a:pt x="147" y="111"/>
                    <a:pt x="147" y="111"/>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450" name="Freeform 242">
              <a:extLst>
                <a:ext uri="{FF2B5EF4-FFF2-40B4-BE49-F238E27FC236}">
                  <a16:creationId xmlns:a16="http://schemas.microsoft.com/office/drawing/2014/main" id="{7077BE2E-14DA-4663-904E-FFDEC8A3CD30}"/>
                </a:ext>
              </a:extLst>
            </p:cNvPr>
            <p:cNvSpPr>
              <a:spLocks noEditPoints="1"/>
            </p:cNvSpPr>
            <p:nvPr/>
          </p:nvSpPr>
          <p:spPr bwMode="gray">
            <a:xfrm>
              <a:off x="5523786" y="1236359"/>
              <a:ext cx="602440" cy="218277"/>
            </a:xfrm>
            <a:custGeom>
              <a:avLst/>
              <a:gdLst>
                <a:gd name="T0" fmla="*/ 20 w 888"/>
                <a:gd name="T1" fmla="*/ 116 h 340"/>
                <a:gd name="T2" fmla="*/ 27 w 888"/>
                <a:gd name="T3" fmla="*/ 107 h 340"/>
                <a:gd name="T4" fmla="*/ 63 w 888"/>
                <a:gd name="T5" fmla="*/ 93 h 340"/>
                <a:gd name="T6" fmla="*/ 52 w 888"/>
                <a:gd name="T7" fmla="*/ 101 h 340"/>
                <a:gd name="T8" fmla="*/ 887 w 888"/>
                <a:gd name="T9" fmla="*/ 259 h 340"/>
                <a:gd name="T10" fmla="*/ 850 w 888"/>
                <a:gd name="T11" fmla="*/ 224 h 340"/>
                <a:gd name="T12" fmla="*/ 845 w 888"/>
                <a:gd name="T13" fmla="*/ 165 h 340"/>
                <a:gd name="T14" fmla="*/ 853 w 888"/>
                <a:gd name="T15" fmla="*/ 137 h 340"/>
                <a:gd name="T16" fmla="*/ 802 w 888"/>
                <a:gd name="T17" fmla="*/ 73 h 340"/>
                <a:gd name="T18" fmla="*/ 761 w 888"/>
                <a:gd name="T19" fmla="*/ 32 h 340"/>
                <a:gd name="T20" fmla="*/ 678 w 888"/>
                <a:gd name="T21" fmla="*/ 63 h 340"/>
                <a:gd name="T22" fmla="*/ 542 w 888"/>
                <a:gd name="T23" fmla="*/ 57 h 340"/>
                <a:gd name="T24" fmla="*/ 491 w 888"/>
                <a:gd name="T25" fmla="*/ 51 h 340"/>
                <a:gd name="T26" fmla="*/ 442 w 888"/>
                <a:gd name="T27" fmla="*/ 30 h 340"/>
                <a:gd name="T28" fmla="*/ 385 w 888"/>
                <a:gd name="T29" fmla="*/ 16 h 340"/>
                <a:gd name="T30" fmla="*/ 272 w 888"/>
                <a:gd name="T31" fmla="*/ 42 h 340"/>
                <a:gd name="T32" fmla="*/ 203 w 888"/>
                <a:gd name="T33" fmla="*/ 53 h 340"/>
                <a:gd name="T34" fmla="*/ 120 w 888"/>
                <a:gd name="T35" fmla="*/ 14 h 340"/>
                <a:gd name="T36" fmla="*/ 79 w 888"/>
                <a:gd name="T37" fmla="*/ 10 h 340"/>
                <a:gd name="T38" fmla="*/ 52 w 888"/>
                <a:gd name="T39" fmla="*/ 28 h 340"/>
                <a:gd name="T40" fmla="*/ 50 w 888"/>
                <a:gd name="T41" fmla="*/ 47 h 340"/>
                <a:gd name="T42" fmla="*/ 50 w 888"/>
                <a:gd name="T43" fmla="*/ 86 h 340"/>
                <a:gd name="T44" fmla="*/ 107 w 888"/>
                <a:gd name="T45" fmla="*/ 65 h 340"/>
                <a:gd name="T46" fmla="*/ 165 w 888"/>
                <a:gd name="T47" fmla="*/ 81 h 340"/>
                <a:gd name="T48" fmla="*/ 92 w 888"/>
                <a:gd name="T49" fmla="*/ 91 h 340"/>
                <a:gd name="T50" fmla="*/ 76 w 888"/>
                <a:gd name="T51" fmla="*/ 142 h 340"/>
                <a:gd name="T52" fmla="*/ 83 w 888"/>
                <a:gd name="T53" fmla="*/ 186 h 340"/>
                <a:gd name="T54" fmla="*/ 108 w 888"/>
                <a:gd name="T55" fmla="*/ 234 h 340"/>
                <a:gd name="T56" fmla="*/ 146 w 888"/>
                <a:gd name="T57" fmla="*/ 297 h 340"/>
                <a:gd name="T58" fmla="*/ 250 w 888"/>
                <a:gd name="T59" fmla="*/ 310 h 340"/>
                <a:gd name="T60" fmla="*/ 359 w 888"/>
                <a:gd name="T61" fmla="*/ 325 h 340"/>
                <a:gd name="T62" fmla="*/ 477 w 888"/>
                <a:gd name="T63" fmla="*/ 298 h 340"/>
                <a:gd name="T64" fmla="*/ 495 w 888"/>
                <a:gd name="T65" fmla="*/ 329 h 340"/>
                <a:gd name="T66" fmla="*/ 515 w 888"/>
                <a:gd name="T67" fmla="*/ 330 h 340"/>
                <a:gd name="T68" fmla="*/ 525 w 888"/>
                <a:gd name="T69" fmla="*/ 308 h 340"/>
                <a:gd name="T70" fmla="*/ 546 w 888"/>
                <a:gd name="T71" fmla="*/ 296 h 340"/>
                <a:gd name="T72" fmla="*/ 622 w 888"/>
                <a:gd name="T73" fmla="*/ 290 h 340"/>
                <a:gd name="T74" fmla="*/ 699 w 888"/>
                <a:gd name="T75" fmla="*/ 271 h 340"/>
                <a:gd name="T76" fmla="*/ 746 w 888"/>
                <a:gd name="T77" fmla="*/ 270 h 340"/>
                <a:gd name="T78" fmla="*/ 781 w 888"/>
                <a:gd name="T79" fmla="*/ 274 h 340"/>
                <a:gd name="T80" fmla="*/ 835 w 888"/>
                <a:gd name="T81" fmla="*/ 267 h 340"/>
                <a:gd name="T82" fmla="*/ 888 w 888"/>
                <a:gd name="T83" fmla="*/ 265 h 340"/>
                <a:gd name="T84" fmla="*/ 81 w 888"/>
                <a:gd name="T85" fmla="*/ 204 h 3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888" h="340">
                  <a:moveTo>
                    <a:pt x="3" y="126"/>
                  </a:moveTo>
                  <a:cubicBezTo>
                    <a:pt x="17" y="125"/>
                    <a:pt x="17" y="125"/>
                    <a:pt x="17" y="125"/>
                  </a:cubicBezTo>
                  <a:cubicBezTo>
                    <a:pt x="20" y="116"/>
                    <a:pt x="20" y="116"/>
                    <a:pt x="20" y="116"/>
                  </a:cubicBezTo>
                  <a:cubicBezTo>
                    <a:pt x="0" y="116"/>
                    <a:pt x="0" y="116"/>
                    <a:pt x="0" y="116"/>
                  </a:cubicBezTo>
                  <a:lnTo>
                    <a:pt x="3" y="126"/>
                  </a:lnTo>
                  <a:close/>
                  <a:moveTo>
                    <a:pt x="27" y="107"/>
                  </a:moveTo>
                  <a:cubicBezTo>
                    <a:pt x="30" y="116"/>
                    <a:pt x="40" y="122"/>
                    <a:pt x="39" y="106"/>
                  </a:cubicBezTo>
                  <a:cubicBezTo>
                    <a:pt x="38" y="90"/>
                    <a:pt x="27" y="107"/>
                    <a:pt x="27" y="107"/>
                  </a:cubicBezTo>
                  <a:close/>
                  <a:moveTo>
                    <a:pt x="63" y="93"/>
                  </a:moveTo>
                  <a:cubicBezTo>
                    <a:pt x="45" y="93"/>
                    <a:pt x="45" y="93"/>
                    <a:pt x="45" y="93"/>
                  </a:cubicBezTo>
                  <a:cubicBezTo>
                    <a:pt x="45" y="114"/>
                    <a:pt x="45" y="114"/>
                    <a:pt x="45" y="114"/>
                  </a:cubicBezTo>
                  <a:cubicBezTo>
                    <a:pt x="52" y="101"/>
                    <a:pt x="52" y="101"/>
                    <a:pt x="52" y="101"/>
                  </a:cubicBezTo>
                  <a:lnTo>
                    <a:pt x="63" y="93"/>
                  </a:lnTo>
                  <a:close/>
                  <a:moveTo>
                    <a:pt x="888" y="265"/>
                  </a:moveTo>
                  <a:cubicBezTo>
                    <a:pt x="887" y="261"/>
                    <a:pt x="887" y="259"/>
                    <a:pt x="887" y="259"/>
                  </a:cubicBezTo>
                  <a:cubicBezTo>
                    <a:pt x="871" y="254"/>
                    <a:pt x="871" y="254"/>
                    <a:pt x="871" y="254"/>
                  </a:cubicBezTo>
                  <a:cubicBezTo>
                    <a:pt x="871" y="236"/>
                    <a:pt x="871" y="236"/>
                    <a:pt x="871" y="236"/>
                  </a:cubicBezTo>
                  <a:cubicBezTo>
                    <a:pt x="850" y="224"/>
                    <a:pt x="850" y="224"/>
                    <a:pt x="850" y="224"/>
                  </a:cubicBezTo>
                  <a:cubicBezTo>
                    <a:pt x="850" y="224"/>
                    <a:pt x="863" y="205"/>
                    <a:pt x="858" y="203"/>
                  </a:cubicBezTo>
                  <a:cubicBezTo>
                    <a:pt x="853" y="201"/>
                    <a:pt x="846" y="180"/>
                    <a:pt x="846" y="180"/>
                  </a:cubicBezTo>
                  <a:cubicBezTo>
                    <a:pt x="845" y="165"/>
                    <a:pt x="845" y="165"/>
                    <a:pt x="845" y="165"/>
                  </a:cubicBezTo>
                  <a:cubicBezTo>
                    <a:pt x="834" y="149"/>
                    <a:pt x="834" y="149"/>
                    <a:pt x="834" y="149"/>
                  </a:cubicBezTo>
                  <a:cubicBezTo>
                    <a:pt x="850" y="147"/>
                    <a:pt x="850" y="147"/>
                    <a:pt x="850" y="147"/>
                  </a:cubicBezTo>
                  <a:cubicBezTo>
                    <a:pt x="850" y="147"/>
                    <a:pt x="851" y="142"/>
                    <a:pt x="853" y="137"/>
                  </a:cubicBezTo>
                  <a:cubicBezTo>
                    <a:pt x="850" y="127"/>
                    <a:pt x="846" y="116"/>
                    <a:pt x="843" y="116"/>
                  </a:cubicBezTo>
                  <a:cubicBezTo>
                    <a:pt x="838" y="115"/>
                    <a:pt x="822" y="124"/>
                    <a:pt x="814" y="113"/>
                  </a:cubicBezTo>
                  <a:cubicBezTo>
                    <a:pt x="806" y="102"/>
                    <a:pt x="808" y="88"/>
                    <a:pt x="802" y="73"/>
                  </a:cubicBezTo>
                  <a:cubicBezTo>
                    <a:pt x="796" y="58"/>
                    <a:pt x="794" y="50"/>
                    <a:pt x="794" y="50"/>
                  </a:cubicBezTo>
                  <a:cubicBezTo>
                    <a:pt x="777" y="50"/>
                    <a:pt x="777" y="50"/>
                    <a:pt x="777" y="50"/>
                  </a:cubicBezTo>
                  <a:cubicBezTo>
                    <a:pt x="777" y="50"/>
                    <a:pt x="775" y="35"/>
                    <a:pt x="761" y="32"/>
                  </a:cubicBezTo>
                  <a:cubicBezTo>
                    <a:pt x="747" y="29"/>
                    <a:pt x="741" y="39"/>
                    <a:pt x="741" y="39"/>
                  </a:cubicBezTo>
                  <a:cubicBezTo>
                    <a:pt x="715" y="34"/>
                    <a:pt x="715" y="34"/>
                    <a:pt x="715" y="34"/>
                  </a:cubicBezTo>
                  <a:cubicBezTo>
                    <a:pt x="706" y="43"/>
                    <a:pt x="688" y="59"/>
                    <a:pt x="678" y="63"/>
                  </a:cubicBezTo>
                  <a:cubicBezTo>
                    <a:pt x="665" y="68"/>
                    <a:pt x="621" y="62"/>
                    <a:pt x="621" y="62"/>
                  </a:cubicBezTo>
                  <a:cubicBezTo>
                    <a:pt x="585" y="72"/>
                    <a:pt x="585" y="72"/>
                    <a:pt x="585" y="72"/>
                  </a:cubicBezTo>
                  <a:cubicBezTo>
                    <a:pt x="542" y="57"/>
                    <a:pt x="542" y="57"/>
                    <a:pt x="542" y="57"/>
                  </a:cubicBezTo>
                  <a:cubicBezTo>
                    <a:pt x="525" y="63"/>
                    <a:pt x="525" y="63"/>
                    <a:pt x="525" y="63"/>
                  </a:cubicBezTo>
                  <a:cubicBezTo>
                    <a:pt x="525" y="63"/>
                    <a:pt x="516" y="40"/>
                    <a:pt x="508" y="42"/>
                  </a:cubicBezTo>
                  <a:cubicBezTo>
                    <a:pt x="500" y="44"/>
                    <a:pt x="491" y="51"/>
                    <a:pt x="491" y="51"/>
                  </a:cubicBezTo>
                  <a:cubicBezTo>
                    <a:pt x="475" y="40"/>
                    <a:pt x="475" y="40"/>
                    <a:pt x="475" y="40"/>
                  </a:cubicBezTo>
                  <a:cubicBezTo>
                    <a:pt x="472" y="25"/>
                    <a:pt x="472" y="25"/>
                    <a:pt x="472" y="25"/>
                  </a:cubicBezTo>
                  <a:cubicBezTo>
                    <a:pt x="442" y="30"/>
                    <a:pt x="442" y="30"/>
                    <a:pt x="442" y="30"/>
                  </a:cubicBezTo>
                  <a:cubicBezTo>
                    <a:pt x="424" y="20"/>
                    <a:pt x="424" y="20"/>
                    <a:pt x="424" y="20"/>
                  </a:cubicBezTo>
                  <a:cubicBezTo>
                    <a:pt x="421" y="6"/>
                    <a:pt x="421" y="6"/>
                    <a:pt x="421" y="6"/>
                  </a:cubicBezTo>
                  <a:cubicBezTo>
                    <a:pt x="421" y="6"/>
                    <a:pt x="398" y="16"/>
                    <a:pt x="385" y="16"/>
                  </a:cubicBezTo>
                  <a:cubicBezTo>
                    <a:pt x="373" y="16"/>
                    <a:pt x="355" y="10"/>
                    <a:pt x="343" y="11"/>
                  </a:cubicBezTo>
                  <a:cubicBezTo>
                    <a:pt x="332" y="12"/>
                    <a:pt x="297" y="26"/>
                    <a:pt x="291" y="32"/>
                  </a:cubicBezTo>
                  <a:cubicBezTo>
                    <a:pt x="286" y="39"/>
                    <a:pt x="272" y="42"/>
                    <a:pt x="272" y="42"/>
                  </a:cubicBezTo>
                  <a:cubicBezTo>
                    <a:pt x="266" y="58"/>
                    <a:pt x="266" y="58"/>
                    <a:pt x="266" y="58"/>
                  </a:cubicBezTo>
                  <a:cubicBezTo>
                    <a:pt x="266" y="58"/>
                    <a:pt x="266" y="62"/>
                    <a:pt x="252" y="59"/>
                  </a:cubicBezTo>
                  <a:cubicBezTo>
                    <a:pt x="239" y="56"/>
                    <a:pt x="216" y="53"/>
                    <a:pt x="203" y="53"/>
                  </a:cubicBezTo>
                  <a:cubicBezTo>
                    <a:pt x="191" y="53"/>
                    <a:pt x="151" y="44"/>
                    <a:pt x="151" y="44"/>
                  </a:cubicBezTo>
                  <a:cubicBezTo>
                    <a:pt x="151" y="44"/>
                    <a:pt x="127" y="47"/>
                    <a:pt x="124" y="33"/>
                  </a:cubicBezTo>
                  <a:cubicBezTo>
                    <a:pt x="122" y="26"/>
                    <a:pt x="121" y="19"/>
                    <a:pt x="120" y="14"/>
                  </a:cubicBezTo>
                  <a:cubicBezTo>
                    <a:pt x="111" y="15"/>
                    <a:pt x="97" y="13"/>
                    <a:pt x="97" y="13"/>
                  </a:cubicBezTo>
                  <a:cubicBezTo>
                    <a:pt x="87" y="0"/>
                    <a:pt x="87" y="0"/>
                    <a:pt x="87" y="0"/>
                  </a:cubicBezTo>
                  <a:cubicBezTo>
                    <a:pt x="79" y="10"/>
                    <a:pt x="79" y="10"/>
                    <a:pt x="79" y="10"/>
                  </a:cubicBezTo>
                  <a:cubicBezTo>
                    <a:pt x="59" y="8"/>
                    <a:pt x="59" y="8"/>
                    <a:pt x="59" y="8"/>
                  </a:cubicBezTo>
                  <a:cubicBezTo>
                    <a:pt x="50" y="23"/>
                    <a:pt x="50" y="23"/>
                    <a:pt x="50" y="23"/>
                  </a:cubicBezTo>
                  <a:cubicBezTo>
                    <a:pt x="52" y="28"/>
                    <a:pt x="52" y="28"/>
                    <a:pt x="52" y="28"/>
                  </a:cubicBezTo>
                  <a:cubicBezTo>
                    <a:pt x="52" y="28"/>
                    <a:pt x="59" y="27"/>
                    <a:pt x="62" y="32"/>
                  </a:cubicBezTo>
                  <a:cubicBezTo>
                    <a:pt x="65" y="37"/>
                    <a:pt x="64" y="45"/>
                    <a:pt x="64" y="45"/>
                  </a:cubicBezTo>
                  <a:cubicBezTo>
                    <a:pt x="64" y="45"/>
                    <a:pt x="51" y="41"/>
                    <a:pt x="50" y="47"/>
                  </a:cubicBezTo>
                  <a:cubicBezTo>
                    <a:pt x="49" y="53"/>
                    <a:pt x="54" y="56"/>
                    <a:pt x="52" y="63"/>
                  </a:cubicBezTo>
                  <a:cubicBezTo>
                    <a:pt x="50" y="70"/>
                    <a:pt x="47" y="75"/>
                    <a:pt x="47" y="75"/>
                  </a:cubicBezTo>
                  <a:cubicBezTo>
                    <a:pt x="47" y="75"/>
                    <a:pt x="35" y="87"/>
                    <a:pt x="50" y="86"/>
                  </a:cubicBezTo>
                  <a:cubicBezTo>
                    <a:pt x="65" y="85"/>
                    <a:pt x="76" y="80"/>
                    <a:pt x="76" y="80"/>
                  </a:cubicBezTo>
                  <a:cubicBezTo>
                    <a:pt x="76" y="80"/>
                    <a:pt x="72" y="90"/>
                    <a:pt x="80" y="87"/>
                  </a:cubicBezTo>
                  <a:cubicBezTo>
                    <a:pt x="88" y="84"/>
                    <a:pt x="107" y="65"/>
                    <a:pt x="107" y="65"/>
                  </a:cubicBezTo>
                  <a:cubicBezTo>
                    <a:pt x="107" y="65"/>
                    <a:pt x="141" y="53"/>
                    <a:pt x="152" y="61"/>
                  </a:cubicBezTo>
                  <a:cubicBezTo>
                    <a:pt x="163" y="69"/>
                    <a:pt x="197" y="74"/>
                    <a:pt x="197" y="74"/>
                  </a:cubicBezTo>
                  <a:cubicBezTo>
                    <a:pt x="197" y="74"/>
                    <a:pt x="166" y="78"/>
                    <a:pt x="165" y="81"/>
                  </a:cubicBezTo>
                  <a:cubicBezTo>
                    <a:pt x="164" y="84"/>
                    <a:pt x="159" y="93"/>
                    <a:pt x="159" y="93"/>
                  </a:cubicBezTo>
                  <a:cubicBezTo>
                    <a:pt x="126" y="94"/>
                    <a:pt x="126" y="94"/>
                    <a:pt x="126" y="94"/>
                  </a:cubicBezTo>
                  <a:cubicBezTo>
                    <a:pt x="92" y="91"/>
                    <a:pt x="92" y="91"/>
                    <a:pt x="92" y="91"/>
                  </a:cubicBezTo>
                  <a:cubicBezTo>
                    <a:pt x="92" y="91"/>
                    <a:pt x="66" y="97"/>
                    <a:pt x="62" y="105"/>
                  </a:cubicBezTo>
                  <a:cubicBezTo>
                    <a:pt x="58" y="113"/>
                    <a:pt x="49" y="143"/>
                    <a:pt x="49" y="143"/>
                  </a:cubicBezTo>
                  <a:cubicBezTo>
                    <a:pt x="76" y="142"/>
                    <a:pt x="76" y="142"/>
                    <a:pt x="76" y="142"/>
                  </a:cubicBezTo>
                  <a:cubicBezTo>
                    <a:pt x="76" y="142"/>
                    <a:pt x="72" y="151"/>
                    <a:pt x="77" y="159"/>
                  </a:cubicBezTo>
                  <a:cubicBezTo>
                    <a:pt x="82" y="167"/>
                    <a:pt x="88" y="175"/>
                    <a:pt x="88" y="175"/>
                  </a:cubicBezTo>
                  <a:cubicBezTo>
                    <a:pt x="83" y="186"/>
                    <a:pt x="83" y="186"/>
                    <a:pt x="83" y="186"/>
                  </a:cubicBezTo>
                  <a:cubicBezTo>
                    <a:pt x="93" y="201"/>
                    <a:pt x="93" y="201"/>
                    <a:pt x="93" y="201"/>
                  </a:cubicBezTo>
                  <a:cubicBezTo>
                    <a:pt x="84" y="212"/>
                    <a:pt x="84" y="212"/>
                    <a:pt x="84" y="212"/>
                  </a:cubicBezTo>
                  <a:cubicBezTo>
                    <a:pt x="108" y="234"/>
                    <a:pt x="108" y="234"/>
                    <a:pt x="108" y="234"/>
                  </a:cubicBezTo>
                  <a:cubicBezTo>
                    <a:pt x="106" y="258"/>
                    <a:pt x="106" y="258"/>
                    <a:pt x="106" y="258"/>
                  </a:cubicBezTo>
                  <a:cubicBezTo>
                    <a:pt x="140" y="275"/>
                    <a:pt x="140" y="275"/>
                    <a:pt x="140" y="275"/>
                  </a:cubicBezTo>
                  <a:cubicBezTo>
                    <a:pt x="146" y="297"/>
                    <a:pt x="146" y="297"/>
                    <a:pt x="146" y="297"/>
                  </a:cubicBezTo>
                  <a:cubicBezTo>
                    <a:pt x="146" y="297"/>
                    <a:pt x="143" y="285"/>
                    <a:pt x="162" y="290"/>
                  </a:cubicBezTo>
                  <a:cubicBezTo>
                    <a:pt x="181" y="295"/>
                    <a:pt x="178" y="312"/>
                    <a:pt x="208" y="315"/>
                  </a:cubicBezTo>
                  <a:cubicBezTo>
                    <a:pt x="238" y="318"/>
                    <a:pt x="250" y="317"/>
                    <a:pt x="250" y="310"/>
                  </a:cubicBezTo>
                  <a:cubicBezTo>
                    <a:pt x="250" y="303"/>
                    <a:pt x="252" y="284"/>
                    <a:pt x="262" y="283"/>
                  </a:cubicBezTo>
                  <a:cubicBezTo>
                    <a:pt x="272" y="282"/>
                    <a:pt x="299" y="289"/>
                    <a:pt x="313" y="294"/>
                  </a:cubicBezTo>
                  <a:cubicBezTo>
                    <a:pt x="327" y="299"/>
                    <a:pt x="313" y="326"/>
                    <a:pt x="359" y="325"/>
                  </a:cubicBezTo>
                  <a:cubicBezTo>
                    <a:pt x="405" y="324"/>
                    <a:pt x="406" y="299"/>
                    <a:pt x="422" y="294"/>
                  </a:cubicBezTo>
                  <a:cubicBezTo>
                    <a:pt x="438" y="289"/>
                    <a:pt x="450" y="285"/>
                    <a:pt x="457" y="291"/>
                  </a:cubicBezTo>
                  <a:cubicBezTo>
                    <a:pt x="464" y="297"/>
                    <a:pt x="466" y="303"/>
                    <a:pt x="477" y="298"/>
                  </a:cubicBezTo>
                  <a:cubicBezTo>
                    <a:pt x="488" y="293"/>
                    <a:pt x="495" y="277"/>
                    <a:pt x="502" y="284"/>
                  </a:cubicBezTo>
                  <a:cubicBezTo>
                    <a:pt x="509" y="291"/>
                    <a:pt x="501" y="300"/>
                    <a:pt x="498" y="306"/>
                  </a:cubicBezTo>
                  <a:cubicBezTo>
                    <a:pt x="495" y="312"/>
                    <a:pt x="488" y="324"/>
                    <a:pt x="495" y="329"/>
                  </a:cubicBezTo>
                  <a:cubicBezTo>
                    <a:pt x="496" y="330"/>
                    <a:pt x="497" y="331"/>
                    <a:pt x="496" y="333"/>
                  </a:cubicBezTo>
                  <a:cubicBezTo>
                    <a:pt x="499" y="335"/>
                    <a:pt x="506" y="340"/>
                    <a:pt x="509" y="339"/>
                  </a:cubicBezTo>
                  <a:cubicBezTo>
                    <a:pt x="513" y="338"/>
                    <a:pt x="515" y="330"/>
                    <a:pt x="515" y="330"/>
                  </a:cubicBezTo>
                  <a:cubicBezTo>
                    <a:pt x="515" y="321"/>
                    <a:pt x="515" y="321"/>
                    <a:pt x="515" y="321"/>
                  </a:cubicBezTo>
                  <a:cubicBezTo>
                    <a:pt x="515" y="321"/>
                    <a:pt x="529" y="327"/>
                    <a:pt x="530" y="319"/>
                  </a:cubicBezTo>
                  <a:cubicBezTo>
                    <a:pt x="532" y="306"/>
                    <a:pt x="525" y="308"/>
                    <a:pt x="525" y="308"/>
                  </a:cubicBezTo>
                  <a:cubicBezTo>
                    <a:pt x="524" y="287"/>
                    <a:pt x="524" y="287"/>
                    <a:pt x="524" y="287"/>
                  </a:cubicBezTo>
                  <a:cubicBezTo>
                    <a:pt x="524" y="287"/>
                    <a:pt x="538" y="282"/>
                    <a:pt x="540" y="286"/>
                  </a:cubicBezTo>
                  <a:cubicBezTo>
                    <a:pt x="542" y="290"/>
                    <a:pt x="525" y="296"/>
                    <a:pt x="546" y="296"/>
                  </a:cubicBezTo>
                  <a:cubicBezTo>
                    <a:pt x="567" y="296"/>
                    <a:pt x="582" y="288"/>
                    <a:pt x="582" y="288"/>
                  </a:cubicBezTo>
                  <a:cubicBezTo>
                    <a:pt x="582" y="288"/>
                    <a:pt x="593" y="276"/>
                    <a:pt x="596" y="277"/>
                  </a:cubicBezTo>
                  <a:cubicBezTo>
                    <a:pt x="599" y="278"/>
                    <a:pt x="622" y="290"/>
                    <a:pt x="622" y="290"/>
                  </a:cubicBezTo>
                  <a:cubicBezTo>
                    <a:pt x="622" y="290"/>
                    <a:pt x="634" y="295"/>
                    <a:pt x="645" y="294"/>
                  </a:cubicBezTo>
                  <a:cubicBezTo>
                    <a:pt x="656" y="293"/>
                    <a:pt x="661" y="290"/>
                    <a:pt x="670" y="287"/>
                  </a:cubicBezTo>
                  <a:cubicBezTo>
                    <a:pt x="679" y="284"/>
                    <a:pt x="686" y="272"/>
                    <a:pt x="699" y="271"/>
                  </a:cubicBezTo>
                  <a:cubicBezTo>
                    <a:pt x="712" y="270"/>
                    <a:pt x="718" y="269"/>
                    <a:pt x="723" y="271"/>
                  </a:cubicBezTo>
                  <a:cubicBezTo>
                    <a:pt x="728" y="273"/>
                    <a:pt x="723" y="278"/>
                    <a:pt x="732" y="277"/>
                  </a:cubicBezTo>
                  <a:cubicBezTo>
                    <a:pt x="741" y="276"/>
                    <a:pt x="746" y="270"/>
                    <a:pt x="746" y="270"/>
                  </a:cubicBezTo>
                  <a:cubicBezTo>
                    <a:pt x="746" y="270"/>
                    <a:pt x="751" y="268"/>
                    <a:pt x="759" y="267"/>
                  </a:cubicBezTo>
                  <a:cubicBezTo>
                    <a:pt x="767" y="266"/>
                    <a:pt x="769" y="255"/>
                    <a:pt x="772" y="257"/>
                  </a:cubicBezTo>
                  <a:cubicBezTo>
                    <a:pt x="775" y="259"/>
                    <a:pt x="769" y="277"/>
                    <a:pt x="781" y="274"/>
                  </a:cubicBezTo>
                  <a:cubicBezTo>
                    <a:pt x="793" y="271"/>
                    <a:pt x="792" y="258"/>
                    <a:pt x="792" y="258"/>
                  </a:cubicBezTo>
                  <a:cubicBezTo>
                    <a:pt x="818" y="258"/>
                    <a:pt x="818" y="258"/>
                    <a:pt x="818" y="258"/>
                  </a:cubicBezTo>
                  <a:cubicBezTo>
                    <a:pt x="818" y="258"/>
                    <a:pt x="827" y="269"/>
                    <a:pt x="835" y="267"/>
                  </a:cubicBezTo>
                  <a:cubicBezTo>
                    <a:pt x="843" y="265"/>
                    <a:pt x="835" y="257"/>
                    <a:pt x="849" y="258"/>
                  </a:cubicBezTo>
                  <a:cubicBezTo>
                    <a:pt x="863" y="259"/>
                    <a:pt x="861" y="276"/>
                    <a:pt x="861" y="276"/>
                  </a:cubicBezTo>
                  <a:lnTo>
                    <a:pt x="888" y="265"/>
                  </a:lnTo>
                  <a:close/>
                  <a:moveTo>
                    <a:pt x="67" y="189"/>
                  </a:moveTo>
                  <a:cubicBezTo>
                    <a:pt x="63" y="185"/>
                    <a:pt x="61" y="207"/>
                    <a:pt x="67" y="217"/>
                  </a:cubicBezTo>
                  <a:cubicBezTo>
                    <a:pt x="72" y="226"/>
                    <a:pt x="79" y="208"/>
                    <a:pt x="81" y="204"/>
                  </a:cubicBezTo>
                  <a:cubicBezTo>
                    <a:pt x="83" y="200"/>
                    <a:pt x="71" y="193"/>
                    <a:pt x="67" y="189"/>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451" name="Freeform 243">
              <a:extLst>
                <a:ext uri="{FF2B5EF4-FFF2-40B4-BE49-F238E27FC236}">
                  <a16:creationId xmlns:a16="http://schemas.microsoft.com/office/drawing/2014/main" id="{BD68E57D-A025-409C-A186-894042E8F5BD}"/>
                </a:ext>
              </a:extLst>
            </p:cNvPr>
            <p:cNvSpPr>
              <a:spLocks noEditPoints="1"/>
            </p:cNvSpPr>
            <p:nvPr/>
          </p:nvSpPr>
          <p:spPr bwMode="gray">
            <a:xfrm>
              <a:off x="5380786" y="1251290"/>
              <a:ext cx="247523" cy="235381"/>
            </a:xfrm>
            <a:custGeom>
              <a:avLst/>
              <a:gdLst>
                <a:gd name="T0" fmla="*/ 190 w 365"/>
                <a:gd name="T1" fmla="*/ 78 h 367"/>
                <a:gd name="T2" fmla="*/ 5 w 365"/>
                <a:gd name="T3" fmla="*/ 188 h 367"/>
                <a:gd name="T4" fmla="*/ 212 w 365"/>
                <a:gd name="T5" fmla="*/ 277 h 367"/>
                <a:gd name="T6" fmla="*/ 210 w 365"/>
                <a:gd name="T7" fmla="*/ 258 h 367"/>
                <a:gd name="T8" fmla="*/ 210 w 365"/>
                <a:gd name="T9" fmla="*/ 258 h 367"/>
                <a:gd name="T10" fmla="*/ 223 w 365"/>
                <a:gd name="T11" fmla="*/ 213 h 367"/>
                <a:gd name="T12" fmla="*/ 97 w 365"/>
                <a:gd name="T13" fmla="*/ 176 h 367"/>
                <a:gd name="T14" fmla="*/ 166 w 365"/>
                <a:gd name="T15" fmla="*/ 188 h 367"/>
                <a:gd name="T16" fmla="*/ 128 w 365"/>
                <a:gd name="T17" fmla="*/ 152 h 367"/>
                <a:gd name="T18" fmla="*/ 153 w 365"/>
                <a:gd name="T19" fmla="*/ 156 h 367"/>
                <a:gd name="T20" fmla="*/ 107 w 365"/>
                <a:gd name="T21" fmla="*/ 94 h 367"/>
                <a:gd name="T22" fmla="*/ 129 w 365"/>
                <a:gd name="T23" fmla="*/ 78 h 367"/>
                <a:gd name="T24" fmla="*/ 140 w 365"/>
                <a:gd name="T25" fmla="*/ 79 h 367"/>
                <a:gd name="T26" fmla="*/ 152 w 365"/>
                <a:gd name="T27" fmla="*/ 77 h 367"/>
                <a:gd name="T28" fmla="*/ 182 w 365"/>
                <a:gd name="T29" fmla="*/ 49 h 367"/>
                <a:gd name="T30" fmla="*/ 258 w 365"/>
                <a:gd name="T31" fmla="*/ 52 h 367"/>
                <a:gd name="T32" fmla="*/ 275 w 365"/>
                <a:gd name="T33" fmla="*/ 22 h 367"/>
                <a:gd name="T34" fmla="*/ 261 w 365"/>
                <a:gd name="T35" fmla="*/ 0 h 367"/>
                <a:gd name="T36" fmla="*/ 237 w 365"/>
                <a:gd name="T37" fmla="*/ 25 h 367"/>
                <a:gd name="T38" fmla="*/ 205 w 365"/>
                <a:gd name="T39" fmla="*/ 17 h 367"/>
                <a:gd name="T40" fmla="*/ 161 w 365"/>
                <a:gd name="T41" fmla="*/ 9 h 367"/>
                <a:gd name="T42" fmla="*/ 123 w 365"/>
                <a:gd name="T43" fmla="*/ 25 h 367"/>
                <a:gd name="T44" fmla="*/ 70 w 365"/>
                <a:gd name="T45" fmla="*/ 36 h 367"/>
                <a:gd name="T46" fmla="*/ 38 w 365"/>
                <a:gd name="T47" fmla="*/ 50 h 367"/>
                <a:gd name="T48" fmla="*/ 21 w 365"/>
                <a:gd name="T49" fmla="*/ 84 h 367"/>
                <a:gd name="T50" fmla="*/ 3 w 365"/>
                <a:gd name="T51" fmla="*/ 109 h 367"/>
                <a:gd name="T52" fmla="*/ 29 w 365"/>
                <a:gd name="T53" fmla="*/ 156 h 367"/>
                <a:gd name="T54" fmla="*/ 266 w 365"/>
                <a:gd name="T55" fmla="*/ 168 h 367"/>
                <a:gd name="T56" fmla="*/ 261 w 365"/>
                <a:gd name="T57" fmla="*/ 196 h 367"/>
                <a:gd name="T58" fmla="*/ 30 w 365"/>
                <a:gd name="T59" fmla="*/ 220 h 367"/>
                <a:gd name="T60" fmla="*/ 255 w 365"/>
                <a:gd name="T61" fmla="*/ 270 h 367"/>
                <a:gd name="T62" fmla="*/ 275 w 365"/>
                <a:gd name="T63" fmla="*/ 220 h 367"/>
                <a:gd name="T64" fmla="*/ 269 w 365"/>
                <a:gd name="T65" fmla="*/ 127 h 367"/>
                <a:gd name="T66" fmla="*/ 278 w 365"/>
                <a:gd name="T67" fmla="*/ 148 h 367"/>
                <a:gd name="T68" fmla="*/ 247 w 365"/>
                <a:gd name="T69" fmla="*/ 254 h 367"/>
                <a:gd name="T70" fmla="*/ 291 w 365"/>
                <a:gd name="T71" fmla="*/ 220 h 367"/>
                <a:gd name="T72" fmla="*/ 307 w 365"/>
                <a:gd name="T73" fmla="*/ 236 h 367"/>
                <a:gd name="T74" fmla="*/ 186 w 365"/>
                <a:gd name="T75" fmla="*/ 146 h 367"/>
                <a:gd name="T76" fmla="*/ 361 w 365"/>
                <a:gd name="T77" fmla="*/ 281 h 367"/>
                <a:gd name="T78" fmla="*/ 310 w 365"/>
                <a:gd name="T79" fmla="*/ 258 h 367"/>
                <a:gd name="T80" fmla="*/ 326 w 365"/>
                <a:gd name="T81" fmla="*/ 249 h 367"/>
                <a:gd name="T82" fmla="*/ 324 w 365"/>
                <a:gd name="T83" fmla="*/ 339 h 367"/>
                <a:gd name="T84" fmla="*/ 186 w 365"/>
                <a:gd name="T85" fmla="*/ 221 h 367"/>
                <a:gd name="T86" fmla="*/ 127 w 365"/>
                <a:gd name="T87" fmla="*/ 288 h 367"/>
                <a:gd name="T88" fmla="*/ 259 w 365"/>
                <a:gd name="T89" fmla="*/ 352 h 367"/>
                <a:gd name="T90" fmla="*/ 209 w 365"/>
                <a:gd name="T91" fmla="*/ 336 h 367"/>
                <a:gd name="T92" fmla="*/ 161 w 365"/>
                <a:gd name="T93" fmla="*/ 342 h 367"/>
                <a:gd name="T94" fmla="*/ 205 w 365"/>
                <a:gd name="T95" fmla="*/ 352 h 367"/>
                <a:gd name="T96" fmla="*/ 241 w 365"/>
                <a:gd name="T97" fmla="*/ 362 h 367"/>
                <a:gd name="T98" fmla="*/ 285 w 365"/>
                <a:gd name="T99" fmla="*/ 272 h 367"/>
                <a:gd name="T100" fmla="*/ 79 w 365"/>
                <a:gd name="T101" fmla="*/ 186 h 367"/>
                <a:gd name="T102" fmla="*/ 47 w 365"/>
                <a:gd name="T103" fmla="*/ 207 h 367"/>
                <a:gd name="T104" fmla="*/ 81 w 365"/>
                <a:gd name="T105" fmla="*/ 260 h 367"/>
                <a:gd name="T106" fmla="*/ 113 w 365"/>
                <a:gd name="T107" fmla="*/ 262 h 367"/>
                <a:gd name="T108" fmla="*/ 129 w 365"/>
                <a:gd name="T109" fmla="*/ 270 h 367"/>
                <a:gd name="T110" fmla="*/ 117 w 365"/>
                <a:gd name="T111" fmla="*/ 221 h 367"/>
                <a:gd name="T112" fmla="*/ 132 w 365"/>
                <a:gd name="T113" fmla="*/ 212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65" h="367">
                  <a:moveTo>
                    <a:pt x="165" y="73"/>
                  </a:moveTo>
                  <a:cubicBezTo>
                    <a:pt x="183" y="85"/>
                    <a:pt x="183" y="85"/>
                    <a:pt x="183" y="85"/>
                  </a:cubicBezTo>
                  <a:cubicBezTo>
                    <a:pt x="190" y="78"/>
                    <a:pt x="190" y="78"/>
                    <a:pt x="190" y="78"/>
                  </a:cubicBezTo>
                  <a:lnTo>
                    <a:pt x="165" y="73"/>
                  </a:lnTo>
                  <a:close/>
                  <a:moveTo>
                    <a:pt x="19" y="173"/>
                  </a:moveTo>
                  <a:cubicBezTo>
                    <a:pt x="5" y="188"/>
                    <a:pt x="5" y="188"/>
                    <a:pt x="5" y="188"/>
                  </a:cubicBezTo>
                  <a:cubicBezTo>
                    <a:pt x="30" y="195"/>
                    <a:pt x="30" y="195"/>
                    <a:pt x="30" y="195"/>
                  </a:cubicBezTo>
                  <a:lnTo>
                    <a:pt x="19" y="173"/>
                  </a:lnTo>
                  <a:close/>
                  <a:moveTo>
                    <a:pt x="212" y="277"/>
                  </a:moveTo>
                  <a:cubicBezTo>
                    <a:pt x="211" y="280"/>
                    <a:pt x="220" y="282"/>
                    <a:pt x="219" y="275"/>
                  </a:cubicBezTo>
                  <a:cubicBezTo>
                    <a:pt x="218" y="268"/>
                    <a:pt x="213" y="271"/>
                    <a:pt x="212" y="277"/>
                  </a:cubicBezTo>
                  <a:close/>
                  <a:moveTo>
                    <a:pt x="210" y="258"/>
                  </a:moveTo>
                  <a:cubicBezTo>
                    <a:pt x="204" y="253"/>
                    <a:pt x="204" y="253"/>
                    <a:pt x="204" y="253"/>
                  </a:cubicBezTo>
                  <a:cubicBezTo>
                    <a:pt x="198" y="259"/>
                    <a:pt x="198" y="259"/>
                    <a:pt x="198" y="259"/>
                  </a:cubicBezTo>
                  <a:lnTo>
                    <a:pt x="210" y="258"/>
                  </a:lnTo>
                  <a:close/>
                  <a:moveTo>
                    <a:pt x="201" y="196"/>
                  </a:moveTo>
                  <a:cubicBezTo>
                    <a:pt x="217" y="224"/>
                    <a:pt x="217" y="224"/>
                    <a:pt x="217" y="224"/>
                  </a:cubicBezTo>
                  <a:cubicBezTo>
                    <a:pt x="223" y="213"/>
                    <a:pt x="223" y="213"/>
                    <a:pt x="223" y="213"/>
                  </a:cubicBezTo>
                  <a:lnTo>
                    <a:pt x="201" y="196"/>
                  </a:lnTo>
                  <a:close/>
                  <a:moveTo>
                    <a:pt x="76" y="178"/>
                  </a:moveTo>
                  <a:cubicBezTo>
                    <a:pt x="76" y="178"/>
                    <a:pt x="90" y="173"/>
                    <a:pt x="97" y="176"/>
                  </a:cubicBezTo>
                  <a:cubicBezTo>
                    <a:pt x="104" y="179"/>
                    <a:pt x="141" y="193"/>
                    <a:pt x="141" y="193"/>
                  </a:cubicBezTo>
                  <a:cubicBezTo>
                    <a:pt x="141" y="193"/>
                    <a:pt x="163" y="216"/>
                    <a:pt x="168" y="210"/>
                  </a:cubicBezTo>
                  <a:cubicBezTo>
                    <a:pt x="173" y="204"/>
                    <a:pt x="174" y="195"/>
                    <a:pt x="166" y="188"/>
                  </a:cubicBezTo>
                  <a:cubicBezTo>
                    <a:pt x="158" y="181"/>
                    <a:pt x="142" y="168"/>
                    <a:pt x="139" y="167"/>
                  </a:cubicBezTo>
                  <a:cubicBezTo>
                    <a:pt x="136" y="166"/>
                    <a:pt x="117" y="157"/>
                    <a:pt x="117" y="157"/>
                  </a:cubicBezTo>
                  <a:cubicBezTo>
                    <a:pt x="117" y="157"/>
                    <a:pt x="124" y="151"/>
                    <a:pt x="128" y="152"/>
                  </a:cubicBezTo>
                  <a:cubicBezTo>
                    <a:pt x="132" y="153"/>
                    <a:pt x="155" y="176"/>
                    <a:pt x="169" y="178"/>
                  </a:cubicBezTo>
                  <a:cubicBezTo>
                    <a:pt x="183" y="180"/>
                    <a:pt x="189" y="164"/>
                    <a:pt x="176" y="162"/>
                  </a:cubicBezTo>
                  <a:cubicBezTo>
                    <a:pt x="163" y="160"/>
                    <a:pt x="153" y="156"/>
                    <a:pt x="153" y="156"/>
                  </a:cubicBezTo>
                  <a:cubicBezTo>
                    <a:pt x="153" y="156"/>
                    <a:pt x="139" y="148"/>
                    <a:pt x="137" y="141"/>
                  </a:cubicBezTo>
                  <a:cubicBezTo>
                    <a:pt x="135" y="134"/>
                    <a:pt x="123" y="117"/>
                    <a:pt x="123" y="117"/>
                  </a:cubicBezTo>
                  <a:cubicBezTo>
                    <a:pt x="123" y="117"/>
                    <a:pt x="112" y="100"/>
                    <a:pt x="107" y="94"/>
                  </a:cubicBezTo>
                  <a:cubicBezTo>
                    <a:pt x="102" y="88"/>
                    <a:pt x="97" y="67"/>
                    <a:pt x="104" y="64"/>
                  </a:cubicBezTo>
                  <a:cubicBezTo>
                    <a:pt x="111" y="61"/>
                    <a:pt x="113" y="78"/>
                    <a:pt x="121" y="78"/>
                  </a:cubicBezTo>
                  <a:cubicBezTo>
                    <a:pt x="123" y="78"/>
                    <a:pt x="126" y="78"/>
                    <a:pt x="129" y="78"/>
                  </a:cubicBezTo>
                  <a:cubicBezTo>
                    <a:pt x="133" y="86"/>
                    <a:pt x="137" y="95"/>
                    <a:pt x="139" y="96"/>
                  </a:cubicBezTo>
                  <a:cubicBezTo>
                    <a:pt x="142" y="98"/>
                    <a:pt x="148" y="94"/>
                    <a:pt x="148" y="94"/>
                  </a:cubicBezTo>
                  <a:cubicBezTo>
                    <a:pt x="140" y="79"/>
                    <a:pt x="140" y="79"/>
                    <a:pt x="140" y="79"/>
                  </a:cubicBezTo>
                  <a:cubicBezTo>
                    <a:pt x="141" y="79"/>
                    <a:pt x="142" y="79"/>
                    <a:pt x="143" y="79"/>
                  </a:cubicBezTo>
                  <a:cubicBezTo>
                    <a:pt x="161" y="90"/>
                    <a:pt x="161" y="90"/>
                    <a:pt x="161" y="90"/>
                  </a:cubicBezTo>
                  <a:cubicBezTo>
                    <a:pt x="152" y="77"/>
                    <a:pt x="152" y="77"/>
                    <a:pt x="152" y="77"/>
                  </a:cubicBezTo>
                  <a:cubicBezTo>
                    <a:pt x="152" y="77"/>
                    <a:pt x="153" y="77"/>
                    <a:pt x="153" y="77"/>
                  </a:cubicBezTo>
                  <a:cubicBezTo>
                    <a:pt x="156" y="74"/>
                    <a:pt x="157" y="66"/>
                    <a:pt x="156" y="58"/>
                  </a:cubicBezTo>
                  <a:cubicBezTo>
                    <a:pt x="155" y="50"/>
                    <a:pt x="173" y="46"/>
                    <a:pt x="182" y="49"/>
                  </a:cubicBezTo>
                  <a:cubicBezTo>
                    <a:pt x="191" y="52"/>
                    <a:pt x="184" y="65"/>
                    <a:pt x="193" y="62"/>
                  </a:cubicBezTo>
                  <a:cubicBezTo>
                    <a:pt x="202" y="59"/>
                    <a:pt x="205" y="44"/>
                    <a:pt x="210" y="43"/>
                  </a:cubicBezTo>
                  <a:cubicBezTo>
                    <a:pt x="215" y="42"/>
                    <a:pt x="258" y="52"/>
                    <a:pt x="258" y="52"/>
                  </a:cubicBezTo>
                  <a:cubicBezTo>
                    <a:pt x="258" y="52"/>
                    <a:pt x="261" y="47"/>
                    <a:pt x="263" y="40"/>
                  </a:cubicBezTo>
                  <a:cubicBezTo>
                    <a:pt x="265" y="33"/>
                    <a:pt x="260" y="30"/>
                    <a:pt x="261" y="24"/>
                  </a:cubicBezTo>
                  <a:cubicBezTo>
                    <a:pt x="262" y="18"/>
                    <a:pt x="275" y="22"/>
                    <a:pt x="275" y="22"/>
                  </a:cubicBezTo>
                  <a:cubicBezTo>
                    <a:pt x="275" y="22"/>
                    <a:pt x="276" y="14"/>
                    <a:pt x="273" y="9"/>
                  </a:cubicBezTo>
                  <a:cubicBezTo>
                    <a:pt x="270" y="4"/>
                    <a:pt x="263" y="5"/>
                    <a:pt x="263" y="5"/>
                  </a:cubicBezTo>
                  <a:cubicBezTo>
                    <a:pt x="261" y="0"/>
                    <a:pt x="261" y="0"/>
                    <a:pt x="261" y="0"/>
                  </a:cubicBezTo>
                  <a:cubicBezTo>
                    <a:pt x="249" y="6"/>
                    <a:pt x="249" y="6"/>
                    <a:pt x="249" y="6"/>
                  </a:cubicBezTo>
                  <a:cubicBezTo>
                    <a:pt x="249" y="6"/>
                    <a:pt x="255" y="14"/>
                    <a:pt x="253" y="19"/>
                  </a:cubicBezTo>
                  <a:cubicBezTo>
                    <a:pt x="251" y="24"/>
                    <a:pt x="237" y="25"/>
                    <a:pt x="237" y="25"/>
                  </a:cubicBezTo>
                  <a:cubicBezTo>
                    <a:pt x="227" y="17"/>
                    <a:pt x="227" y="17"/>
                    <a:pt x="227" y="17"/>
                  </a:cubicBezTo>
                  <a:cubicBezTo>
                    <a:pt x="227" y="17"/>
                    <a:pt x="222" y="24"/>
                    <a:pt x="214" y="25"/>
                  </a:cubicBezTo>
                  <a:cubicBezTo>
                    <a:pt x="206" y="26"/>
                    <a:pt x="205" y="17"/>
                    <a:pt x="205" y="17"/>
                  </a:cubicBezTo>
                  <a:cubicBezTo>
                    <a:pt x="205" y="17"/>
                    <a:pt x="199" y="20"/>
                    <a:pt x="191" y="20"/>
                  </a:cubicBezTo>
                  <a:cubicBezTo>
                    <a:pt x="183" y="20"/>
                    <a:pt x="179" y="6"/>
                    <a:pt x="179" y="6"/>
                  </a:cubicBezTo>
                  <a:cubicBezTo>
                    <a:pt x="161" y="9"/>
                    <a:pt x="161" y="9"/>
                    <a:pt x="161" y="9"/>
                  </a:cubicBezTo>
                  <a:cubicBezTo>
                    <a:pt x="155" y="21"/>
                    <a:pt x="155" y="21"/>
                    <a:pt x="155" y="21"/>
                  </a:cubicBezTo>
                  <a:cubicBezTo>
                    <a:pt x="141" y="15"/>
                    <a:pt x="141" y="15"/>
                    <a:pt x="141" y="15"/>
                  </a:cubicBezTo>
                  <a:cubicBezTo>
                    <a:pt x="141" y="15"/>
                    <a:pt x="131" y="25"/>
                    <a:pt x="123" y="25"/>
                  </a:cubicBezTo>
                  <a:cubicBezTo>
                    <a:pt x="118" y="25"/>
                    <a:pt x="114" y="21"/>
                    <a:pt x="111" y="18"/>
                  </a:cubicBezTo>
                  <a:cubicBezTo>
                    <a:pt x="107" y="23"/>
                    <a:pt x="102" y="26"/>
                    <a:pt x="97" y="32"/>
                  </a:cubicBezTo>
                  <a:cubicBezTo>
                    <a:pt x="89" y="40"/>
                    <a:pt x="70" y="36"/>
                    <a:pt x="70" y="36"/>
                  </a:cubicBezTo>
                  <a:cubicBezTo>
                    <a:pt x="70" y="36"/>
                    <a:pt x="71" y="41"/>
                    <a:pt x="67" y="47"/>
                  </a:cubicBezTo>
                  <a:cubicBezTo>
                    <a:pt x="63" y="53"/>
                    <a:pt x="43" y="45"/>
                    <a:pt x="43" y="45"/>
                  </a:cubicBezTo>
                  <a:cubicBezTo>
                    <a:pt x="38" y="50"/>
                    <a:pt x="38" y="50"/>
                    <a:pt x="38" y="50"/>
                  </a:cubicBezTo>
                  <a:cubicBezTo>
                    <a:pt x="38" y="55"/>
                    <a:pt x="39" y="62"/>
                    <a:pt x="36" y="64"/>
                  </a:cubicBezTo>
                  <a:cubicBezTo>
                    <a:pt x="31" y="68"/>
                    <a:pt x="21" y="70"/>
                    <a:pt x="21" y="70"/>
                  </a:cubicBezTo>
                  <a:cubicBezTo>
                    <a:pt x="21" y="84"/>
                    <a:pt x="21" y="84"/>
                    <a:pt x="21" y="84"/>
                  </a:cubicBezTo>
                  <a:cubicBezTo>
                    <a:pt x="13" y="89"/>
                    <a:pt x="13" y="89"/>
                    <a:pt x="13" y="89"/>
                  </a:cubicBezTo>
                  <a:cubicBezTo>
                    <a:pt x="13" y="89"/>
                    <a:pt x="4" y="86"/>
                    <a:pt x="3" y="93"/>
                  </a:cubicBezTo>
                  <a:cubicBezTo>
                    <a:pt x="2" y="100"/>
                    <a:pt x="3" y="109"/>
                    <a:pt x="3" y="109"/>
                  </a:cubicBezTo>
                  <a:cubicBezTo>
                    <a:pt x="5" y="116"/>
                    <a:pt x="5" y="116"/>
                    <a:pt x="5" y="116"/>
                  </a:cubicBezTo>
                  <a:cubicBezTo>
                    <a:pt x="5" y="116"/>
                    <a:pt x="0" y="133"/>
                    <a:pt x="9" y="136"/>
                  </a:cubicBezTo>
                  <a:cubicBezTo>
                    <a:pt x="18" y="139"/>
                    <a:pt x="29" y="156"/>
                    <a:pt x="29" y="156"/>
                  </a:cubicBezTo>
                  <a:cubicBezTo>
                    <a:pt x="29" y="156"/>
                    <a:pt x="39" y="179"/>
                    <a:pt x="47" y="179"/>
                  </a:cubicBezTo>
                  <a:cubicBezTo>
                    <a:pt x="55" y="179"/>
                    <a:pt x="76" y="178"/>
                    <a:pt x="76" y="178"/>
                  </a:cubicBezTo>
                  <a:close/>
                  <a:moveTo>
                    <a:pt x="266" y="168"/>
                  </a:moveTo>
                  <a:cubicBezTo>
                    <a:pt x="253" y="168"/>
                    <a:pt x="253" y="168"/>
                    <a:pt x="253" y="168"/>
                  </a:cubicBezTo>
                  <a:cubicBezTo>
                    <a:pt x="252" y="180"/>
                    <a:pt x="252" y="180"/>
                    <a:pt x="252" y="180"/>
                  </a:cubicBezTo>
                  <a:cubicBezTo>
                    <a:pt x="261" y="196"/>
                    <a:pt x="261" y="196"/>
                    <a:pt x="261" y="196"/>
                  </a:cubicBezTo>
                  <a:lnTo>
                    <a:pt x="266" y="168"/>
                  </a:lnTo>
                  <a:close/>
                  <a:moveTo>
                    <a:pt x="19" y="207"/>
                  </a:moveTo>
                  <a:cubicBezTo>
                    <a:pt x="10" y="214"/>
                    <a:pt x="30" y="220"/>
                    <a:pt x="30" y="220"/>
                  </a:cubicBezTo>
                  <a:cubicBezTo>
                    <a:pt x="36" y="216"/>
                    <a:pt x="28" y="200"/>
                    <a:pt x="19" y="207"/>
                  </a:cubicBezTo>
                  <a:close/>
                  <a:moveTo>
                    <a:pt x="255" y="261"/>
                  </a:moveTo>
                  <a:cubicBezTo>
                    <a:pt x="255" y="270"/>
                    <a:pt x="255" y="270"/>
                    <a:pt x="255" y="270"/>
                  </a:cubicBezTo>
                  <a:cubicBezTo>
                    <a:pt x="264" y="260"/>
                    <a:pt x="264" y="260"/>
                    <a:pt x="264" y="260"/>
                  </a:cubicBezTo>
                  <a:lnTo>
                    <a:pt x="255" y="261"/>
                  </a:lnTo>
                  <a:close/>
                  <a:moveTo>
                    <a:pt x="275" y="220"/>
                  </a:moveTo>
                  <a:cubicBezTo>
                    <a:pt x="271" y="216"/>
                    <a:pt x="259" y="219"/>
                    <a:pt x="259" y="227"/>
                  </a:cubicBezTo>
                  <a:cubicBezTo>
                    <a:pt x="259" y="232"/>
                    <a:pt x="279" y="224"/>
                    <a:pt x="275" y="220"/>
                  </a:cubicBezTo>
                  <a:close/>
                  <a:moveTo>
                    <a:pt x="269" y="127"/>
                  </a:moveTo>
                  <a:cubicBezTo>
                    <a:pt x="250" y="132"/>
                    <a:pt x="250" y="132"/>
                    <a:pt x="250" y="132"/>
                  </a:cubicBezTo>
                  <a:cubicBezTo>
                    <a:pt x="251" y="148"/>
                    <a:pt x="264" y="141"/>
                    <a:pt x="264" y="141"/>
                  </a:cubicBezTo>
                  <a:cubicBezTo>
                    <a:pt x="264" y="141"/>
                    <a:pt x="269" y="152"/>
                    <a:pt x="278" y="148"/>
                  </a:cubicBezTo>
                  <a:cubicBezTo>
                    <a:pt x="287" y="144"/>
                    <a:pt x="269" y="127"/>
                    <a:pt x="269" y="127"/>
                  </a:cubicBezTo>
                  <a:close/>
                  <a:moveTo>
                    <a:pt x="230" y="247"/>
                  </a:moveTo>
                  <a:cubicBezTo>
                    <a:pt x="232" y="259"/>
                    <a:pt x="242" y="262"/>
                    <a:pt x="247" y="254"/>
                  </a:cubicBezTo>
                  <a:cubicBezTo>
                    <a:pt x="253" y="244"/>
                    <a:pt x="228" y="235"/>
                    <a:pt x="230" y="247"/>
                  </a:cubicBezTo>
                  <a:close/>
                  <a:moveTo>
                    <a:pt x="299" y="210"/>
                  </a:moveTo>
                  <a:cubicBezTo>
                    <a:pt x="289" y="202"/>
                    <a:pt x="291" y="220"/>
                    <a:pt x="291" y="220"/>
                  </a:cubicBezTo>
                  <a:cubicBezTo>
                    <a:pt x="305" y="227"/>
                    <a:pt x="309" y="218"/>
                    <a:pt x="299" y="210"/>
                  </a:cubicBezTo>
                  <a:close/>
                  <a:moveTo>
                    <a:pt x="298" y="249"/>
                  </a:moveTo>
                  <a:cubicBezTo>
                    <a:pt x="307" y="236"/>
                    <a:pt x="307" y="236"/>
                    <a:pt x="307" y="236"/>
                  </a:cubicBezTo>
                  <a:cubicBezTo>
                    <a:pt x="295" y="236"/>
                    <a:pt x="295" y="236"/>
                    <a:pt x="295" y="236"/>
                  </a:cubicBezTo>
                  <a:lnTo>
                    <a:pt x="298" y="249"/>
                  </a:lnTo>
                  <a:close/>
                  <a:moveTo>
                    <a:pt x="186" y="146"/>
                  </a:moveTo>
                  <a:cubicBezTo>
                    <a:pt x="186" y="146"/>
                    <a:pt x="180" y="158"/>
                    <a:pt x="196" y="158"/>
                  </a:cubicBezTo>
                  <a:lnTo>
                    <a:pt x="186" y="146"/>
                  </a:lnTo>
                  <a:close/>
                  <a:moveTo>
                    <a:pt x="361" y="281"/>
                  </a:moveTo>
                  <a:cubicBezTo>
                    <a:pt x="357" y="274"/>
                    <a:pt x="336" y="302"/>
                    <a:pt x="342" y="312"/>
                  </a:cubicBezTo>
                  <a:cubicBezTo>
                    <a:pt x="347" y="321"/>
                    <a:pt x="365" y="288"/>
                    <a:pt x="361" y="281"/>
                  </a:cubicBezTo>
                  <a:close/>
                  <a:moveTo>
                    <a:pt x="310" y="258"/>
                  </a:moveTo>
                  <a:cubicBezTo>
                    <a:pt x="309" y="273"/>
                    <a:pt x="309" y="273"/>
                    <a:pt x="309" y="273"/>
                  </a:cubicBezTo>
                  <a:cubicBezTo>
                    <a:pt x="334" y="254"/>
                    <a:pt x="334" y="254"/>
                    <a:pt x="334" y="254"/>
                  </a:cubicBezTo>
                  <a:cubicBezTo>
                    <a:pt x="326" y="249"/>
                    <a:pt x="326" y="249"/>
                    <a:pt x="326" y="249"/>
                  </a:cubicBezTo>
                  <a:lnTo>
                    <a:pt x="310" y="258"/>
                  </a:lnTo>
                  <a:close/>
                  <a:moveTo>
                    <a:pt x="311" y="342"/>
                  </a:moveTo>
                  <a:cubicBezTo>
                    <a:pt x="324" y="339"/>
                    <a:pt x="324" y="339"/>
                    <a:pt x="324" y="339"/>
                  </a:cubicBezTo>
                  <a:cubicBezTo>
                    <a:pt x="317" y="312"/>
                    <a:pt x="317" y="312"/>
                    <a:pt x="317" y="312"/>
                  </a:cubicBezTo>
                  <a:lnTo>
                    <a:pt x="311" y="342"/>
                  </a:lnTo>
                  <a:close/>
                  <a:moveTo>
                    <a:pt x="186" y="221"/>
                  </a:moveTo>
                  <a:cubicBezTo>
                    <a:pt x="181" y="226"/>
                    <a:pt x="184" y="232"/>
                    <a:pt x="189" y="231"/>
                  </a:cubicBezTo>
                  <a:cubicBezTo>
                    <a:pt x="198" y="229"/>
                    <a:pt x="191" y="216"/>
                    <a:pt x="186" y="221"/>
                  </a:cubicBezTo>
                  <a:close/>
                  <a:moveTo>
                    <a:pt x="127" y="288"/>
                  </a:moveTo>
                  <a:cubicBezTo>
                    <a:pt x="121" y="290"/>
                    <a:pt x="126" y="307"/>
                    <a:pt x="133" y="301"/>
                  </a:cubicBezTo>
                  <a:cubicBezTo>
                    <a:pt x="140" y="295"/>
                    <a:pt x="134" y="286"/>
                    <a:pt x="127" y="288"/>
                  </a:cubicBezTo>
                  <a:close/>
                  <a:moveTo>
                    <a:pt x="259" y="352"/>
                  </a:moveTo>
                  <a:cubicBezTo>
                    <a:pt x="255" y="354"/>
                    <a:pt x="252" y="342"/>
                    <a:pt x="252" y="342"/>
                  </a:cubicBezTo>
                  <a:cubicBezTo>
                    <a:pt x="230" y="341"/>
                    <a:pt x="230" y="341"/>
                    <a:pt x="230" y="341"/>
                  </a:cubicBezTo>
                  <a:cubicBezTo>
                    <a:pt x="209" y="336"/>
                    <a:pt x="209" y="336"/>
                    <a:pt x="209" y="336"/>
                  </a:cubicBezTo>
                  <a:cubicBezTo>
                    <a:pt x="188" y="336"/>
                    <a:pt x="188" y="336"/>
                    <a:pt x="188" y="336"/>
                  </a:cubicBezTo>
                  <a:cubicBezTo>
                    <a:pt x="168" y="325"/>
                    <a:pt x="168" y="325"/>
                    <a:pt x="168" y="325"/>
                  </a:cubicBezTo>
                  <a:cubicBezTo>
                    <a:pt x="168" y="325"/>
                    <a:pt x="152" y="332"/>
                    <a:pt x="161" y="342"/>
                  </a:cubicBezTo>
                  <a:cubicBezTo>
                    <a:pt x="170" y="352"/>
                    <a:pt x="175" y="345"/>
                    <a:pt x="175" y="345"/>
                  </a:cubicBezTo>
                  <a:cubicBezTo>
                    <a:pt x="181" y="351"/>
                    <a:pt x="181" y="351"/>
                    <a:pt x="181" y="351"/>
                  </a:cubicBezTo>
                  <a:cubicBezTo>
                    <a:pt x="205" y="352"/>
                    <a:pt x="205" y="352"/>
                    <a:pt x="205" y="352"/>
                  </a:cubicBezTo>
                  <a:cubicBezTo>
                    <a:pt x="213" y="367"/>
                    <a:pt x="213" y="367"/>
                    <a:pt x="213" y="367"/>
                  </a:cubicBezTo>
                  <a:cubicBezTo>
                    <a:pt x="238" y="366"/>
                    <a:pt x="238" y="366"/>
                    <a:pt x="238" y="366"/>
                  </a:cubicBezTo>
                  <a:cubicBezTo>
                    <a:pt x="241" y="362"/>
                    <a:pt x="241" y="362"/>
                    <a:pt x="241" y="362"/>
                  </a:cubicBezTo>
                  <a:cubicBezTo>
                    <a:pt x="241" y="362"/>
                    <a:pt x="279" y="367"/>
                    <a:pt x="281" y="353"/>
                  </a:cubicBezTo>
                  <a:cubicBezTo>
                    <a:pt x="283" y="339"/>
                    <a:pt x="263" y="350"/>
                    <a:pt x="259" y="352"/>
                  </a:cubicBezTo>
                  <a:close/>
                  <a:moveTo>
                    <a:pt x="285" y="272"/>
                  </a:moveTo>
                  <a:cubicBezTo>
                    <a:pt x="276" y="268"/>
                    <a:pt x="272" y="276"/>
                    <a:pt x="277" y="279"/>
                  </a:cubicBezTo>
                  <a:cubicBezTo>
                    <a:pt x="284" y="284"/>
                    <a:pt x="294" y="276"/>
                    <a:pt x="285" y="272"/>
                  </a:cubicBezTo>
                  <a:close/>
                  <a:moveTo>
                    <a:pt x="79" y="186"/>
                  </a:moveTo>
                  <a:cubicBezTo>
                    <a:pt x="65" y="192"/>
                    <a:pt x="65" y="192"/>
                    <a:pt x="65" y="192"/>
                  </a:cubicBezTo>
                  <a:cubicBezTo>
                    <a:pt x="58" y="192"/>
                    <a:pt x="58" y="192"/>
                    <a:pt x="58" y="192"/>
                  </a:cubicBezTo>
                  <a:cubicBezTo>
                    <a:pt x="47" y="207"/>
                    <a:pt x="47" y="207"/>
                    <a:pt x="47" y="207"/>
                  </a:cubicBezTo>
                  <a:cubicBezTo>
                    <a:pt x="66" y="224"/>
                    <a:pt x="66" y="224"/>
                    <a:pt x="66" y="224"/>
                  </a:cubicBezTo>
                  <a:cubicBezTo>
                    <a:pt x="66" y="224"/>
                    <a:pt x="63" y="241"/>
                    <a:pt x="63" y="251"/>
                  </a:cubicBezTo>
                  <a:cubicBezTo>
                    <a:pt x="63" y="261"/>
                    <a:pt x="78" y="267"/>
                    <a:pt x="81" y="260"/>
                  </a:cubicBezTo>
                  <a:cubicBezTo>
                    <a:pt x="84" y="253"/>
                    <a:pt x="93" y="254"/>
                    <a:pt x="93" y="254"/>
                  </a:cubicBezTo>
                  <a:cubicBezTo>
                    <a:pt x="107" y="280"/>
                    <a:pt x="107" y="280"/>
                    <a:pt x="107" y="280"/>
                  </a:cubicBezTo>
                  <a:cubicBezTo>
                    <a:pt x="113" y="262"/>
                    <a:pt x="113" y="262"/>
                    <a:pt x="113" y="262"/>
                  </a:cubicBezTo>
                  <a:cubicBezTo>
                    <a:pt x="122" y="275"/>
                    <a:pt x="122" y="275"/>
                    <a:pt x="122" y="275"/>
                  </a:cubicBezTo>
                  <a:cubicBezTo>
                    <a:pt x="138" y="281"/>
                    <a:pt x="138" y="281"/>
                    <a:pt x="138" y="281"/>
                  </a:cubicBezTo>
                  <a:cubicBezTo>
                    <a:pt x="129" y="270"/>
                    <a:pt x="129" y="270"/>
                    <a:pt x="129" y="270"/>
                  </a:cubicBezTo>
                  <a:cubicBezTo>
                    <a:pt x="133" y="265"/>
                    <a:pt x="133" y="265"/>
                    <a:pt x="133" y="265"/>
                  </a:cubicBezTo>
                  <a:cubicBezTo>
                    <a:pt x="131" y="250"/>
                    <a:pt x="131" y="250"/>
                    <a:pt x="131" y="250"/>
                  </a:cubicBezTo>
                  <a:cubicBezTo>
                    <a:pt x="131" y="250"/>
                    <a:pt x="114" y="229"/>
                    <a:pt x="117" y="221"/>
                  </a:cubicBezTo>
                  <a:cubicBezTo>
                    <a:pt x="120" y="213"/>
                    <a:pt x="143" y="232"/>
                    <a:pt x="143" y="232"/>
                  </a:cubicBezTo>
                  <a:cubicBezTo>
                    <a:pt x="152" y="228"/>
                    <a:pt x="152" y="228"/>
                    <a:pt x="152" y="228"/>
                  </a:cubicBezTo>
                  <a:cubicBezTo>
                    <a:pt x="152" y="228"/>
                    <a:pt x="141" y="221"/>
                    <a:pt x="132" y="212"/>
                  </a:cubicBezTo>
                  <a:cubicBezTo>
                    <a:pt x="123" y="203"/>
                    <a:pt x="79" y="186"/>
                    <a:pt x="79" y="186"/>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452" name="Freeform 244">
              <a:extLst>
                <a:ext uri="{FF2B5EF4-FFF2-40B4-BE49-F238E27FC236}">
                  <a16:creationId xmlns:a16="http://schemas.microsoft.com/office/drawing/2014/main" id="{49DAE9AE-060B-452A-AA99-D2533C5886BD}"/>
                </a:ext>
              </a:extLst>
            </p:cNvPr>
            <p:cNvSpPr>
              <a:spLocks/>
            </p:cNvSpPr>
            <p:nvPr/>
          </p:nvSpPr>
          <p:spPr bwMode="gray">
            <a:xfrm>
              <a:off x="5340585" y="1219797"/>
              <a:ext cx="68054" cy="105881"/>
            </a:xfrm>
            <a:custGeom>
              <a:avLst/>
              <a:gdLst>
                <a:gd name="T0" fmla="*/ 62 w 100"/>
                <a:gd name="T1" fmla="*/ 142 h 165"/>
                <a:gd name="T2" fmla="*/ 72 w 100"/>
                <a:gd name="T3" fmla="*/ 138 h 165"/>
                <a:gd name="T4" fmla="*/ 80 w 100"/>
                <a:gd name="T5" fmla="*/ 133 h 165"/>
                <a:gd name="T6" fmla="*/ 80 w 100"/>
                <a:gd name="T7" fmla="*/ 119 h 165"/>
                <a:gd name="T8" fmla="*/ 95 w 100"/>
                <a:gd name="T9" fmla="*/ 113 h 165"/>
                <a:gd name="T10" fmla="*/ 95 w 100"/>
                <a:gd name="T11" fmla="*/ 92 h 165"/>
                <a:gd name="T12" fmla="*/ 77 w 100"/>
                <a:gd name="T13" fmla="*/ 99 h 165"/>
                <a:gd name="T14" fmla="*/ 77 w 100"/>
                <a:gd name="T15" fmla="*/ 85 h 165"/>
                <a:gd name="T16" fmla="*/ 69 w 100"/>
                <a:gd name="T17" fmla="*/ 79 h 165"/>
                <a:gd name="T18" fmla="*/ 71 w 100"/>
                <a:gd name="T19" fmla="*/ 67 h 165"/>
                <a:gd name="T20" fmla="*/ 66 w 100"/>
                <a:gd name="T21" fmla="*/ 56 h 165"/>
                <a:gd name="T22" fmla="*/ 68 w 100"/>
                <a:gd name="T23" fmla="*/ 41 h 165"/>
                <a:gd name="T24" fmla="*/ 68 w 100"/>
                <a:gd name="T25" fmla="*/ 29 h 165"/>
                <a:gd name="T26" fmla="*/ 64 w 100"/>
                <a:gd name="T27" fmla="*/ 19 h 165"/>
                <a:gd name="T28" fmla="*/ 55 w 100"/>
                <a:gd name="T29" fmla="*/ 19 h 165"/>
                <a:gd name="T30" fmla="*/ 47 w 100"/>
                <a:gd name="T31" fmla="*/ 4 h 165"/>
                <a:gd name="T32" fmla="*/ 41 w 100"/>
                <a:gd name="T33" fmla="*/ 10 h 165"/>
                <a:gd name="T34" fmla="*/ 23 w 100"/>
                <a:gd name="T35" fmla="*/ 0 h 165"/>
                <a:gd name="T36" fmla="*/ 21 w 100"/>
                <a:gd name="T37" fmla="*/ 14 h 165"/>
                <a:gd name="T38" fmla="*/ 15 w 100"/>
                <a:gd name="T39" fmla="*/ 19 h 165"/>
                <a:gd name="T40" fmla="*/ 0 w 100"/>
                <a:gd name="T41" fmla="*/ 19 h 165"/>
                <a:gd name="T42" fmla="*/ 9 w 100"/>
                <a:gd name="T43" fmla="*/ 25 h 165"/>
                <a:gd name="T44" fmla="*/ 15 w 100"/>
                <a:gd name="T45" fmla="*/ 22 h 165"/>
                <a:gd name="T46" fmla="*/ 17 w 100"/>
                <a:gd name="T47" fmla="*/ 32 h 165"/>
                <a:gd name="T48" fmla="*/ 10 w 100"/>
                <a:gd name="T49" fmla="*/ 41 h 165"/>
                <a:gd name="T50" fmla="*/ 14 w 100"/>
                <a:gd name="T51" fmla="*/ 45 h 165"/>
                <a:gd name="T52" fmla="*/ 30 w 100"/>
                <a:gd name="T53" fmla="*/ 45 h 165"/>
                <a:gd name="T54" fmla="*/ 24 w 100"/>
                <a:gd name="T55" fmla="*/ 96 h 165"/>
                <a:gd name="T56" fmla="*/ 17 w 100"/>
                <a:gd name="T57" fmla="*/ 129 h 165"/>
                <a:gd name="T58" fmla="*/ 40 w 100"/>
                <a:gd name="T59" fmla="*/ 144 h 165"/>
                <a:gd name="T60" fmla="*/ 41 w 100"/>
                <a:gd name="T61" fmla="*/ 163 h 165"/>
                <a:gd name="T62" fmla="*/ 64 w 100"/>
                <a:gd name="T63" fmla="*/ 165 h 165"/>
                <a:gd name="T64" fmla="*/ 62 w 100"/>
                <a:gd name="T65" fmla="*/ 158 h 165"/>
                <a:gd name="T66" fmla="*/ 62 w 100"/>
                <a:gd name="T67" fmla="*/ 142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00" h="165">
                  <a:moveTo>
                    <a:pt x="62" y="142"/>
                  </a:moveTo>
                  <a:cubicBezTo>
                    <a:pt x="63" y="135"/>
                    <a:pt x="72" y="138"/>
                    <a:pt x="72" y="138"/>
                  </a:cubicBezTo>
                  <a:cubicBezTo>
                    <a:pt x="80" y="133"/>
                    <a:pt x="80" y="133"/>
                    <a:pt x="80" y="133"/>
                  </a:cubicBezTo>
                  <a:cubicBezTo>
                    <a:pt x="80" y="119"/>
                    <a:pt x="80" y="119"/>
                    <a:pt x="80" y="119"/>
                  </a:cubicBezTo>
                  <a:cubicBezTo>
                    <a:pt x="80" y="119"/>
                    <a:pt x="90" y="117"/>
                    <a:pt x="95" y="113"/>
                  </a:cubicBezTo>
                  <a:cubicBezTo>
                    <a:pt x="100" y="109"/>
                    <a:pt x="95" y="92"/>
                    <a:pt x="95" y="92"/>
                  </a:cubicBezTo>
                  <a:cubicBezTo>
                    <a:pt x="77" y="99"/>
                    <a:pt x="77" y="99"/>
                    <a:pt x="77" y="99"/>
                  </a:cubicBezTo>
                  <a:cubicBezTo>
                    <a:pt x="77" y="85"/>
                    <a:pt x="77" y="85"/>
                    <a:pt x="77" y="85"/>
                  </a:cubicBezTo>
                  <a:cubicBezTo>
                    <a:pt x="77" y="85"/>
                    <a:pt x="69" y="84"/>
                    <a:pt x="69" y="79"/>
                  </a:cubicBezTo>
                  <a:cubicBezTo>
                    <a:pt x="69" y="74"/>
                    <a:pt x="71" y="67"/>
                    <a:pt x="71" y="67"/>
                  </a:cubicBezTo>
                  <a:cubicBezTo>
                    <a:pt x="66" y="56"/>
                    <a:pt x="66" y="56"/>
                    <a:pt x="66" y="56"/>
                  </a:cubicBezTo>
                  <a:cubicBezTo>
                    <a:pt x="68" y="41"/>
                    <a:pt x="68" y="41"/>
                    <a:pt x="68" y="41"/>
                  </a:cubicBezTo>
                  <a:cubicBezTo>
                    <a:pt x="68" y="29"/>
                    <a:pt x="68" y="29"/>
                    <a:pt x="68" y="29"/>
                  </a:cubicBezTo>
                  <a:cubicBezTo>
                    <a:pt x="64" y="19"/>
                    <a:pt x="64" y="19"/>
                    <a:pt x="64" y="19"/>
                  </a:cubicBezTo>
                  <a:cubicBezTo>
                    <a:pt x="55" y="19"/>
                    <a:pt x="55" y="19"/>
                    <a:pt x="55" y="19"/>
                  </a:cubicBezTo>
                  <a:cubicBezTo>
                    <a:pt x="47" y="4"/>
                    <a:pt x="47" y="4"/>
                    <a:pt x="47" y="4"/>
                  </a:cubicBezTo>
                  <a:cubicBezTo>
                    <a:pt x="41" y="10"/>
                    <a:pt x="41" y="10"/>
                    <a:pt x="41" y="10"/>
                  </a:cubicBezTo>
                  <a:cubicBezTo>
                    <a:pt x="23" y="0"/>
                    <a:pt x="23" y="0"/>
                    <a:pt x="23" y="0"/>
                  </a:cubicBezTo>
                  <a:cubicBezTo>
                    <a:pt x="21" y="14"/>
                    <a:pt x="21" y="14"/>
                    <a:pt x="21" y="14"/>
                  </a:cubicBezTo>
                  <a:cubicBezTo>
                    <a:pt x="15" y="19"/>
                    <a:pt x="15" y="19"/>
                    <a:pt x="15" y="19"/>
                  </a:cubicBezTo>
                  <a:cubicBezTo>
                    <a:pt x="0" y="19"/>
                    <a:pt x="0" y="19"/>
                    <a:pt x="0" y="19"/>
                  </a:cubicBezTo>
                  <a:cubicBezTo>
                    <a:pt x="9" y="25"/>
                    <a:pt x="9" y="25"/>
                    <a:pt x="9" y="25"/>
                  </a:cubicBezTo>
                  <a:cubicBezTo>
                    <a:pt x="15" y="22"/>
                    <a:pt x="15" y="22"/>
                    <a:pt x="15" y="22"/>
                  </a:cubicBezTo>
                  <a:cubicBezTo>
                    <a:pt x="17" y="32"/>
                    <a:pt x="17" y="32"/>
                    <a:pt x="17" y="32"/>
                  </a:cubicBezTo>
                  <a:cubicBezTo>
                    <a:pt x="10" y="41"/>
                    <a:pt x="10" y="41"/>
                    <a:pt x="10" y="41"/>
                  </a:cubicBezTo>
                  <a:cubicBezTo>
                    <a:pt x="14" y="45"/>
                    <a:pt x="14" y="45"/>
                    <a:pt x="14" y="45"/>
                  </a:cubicBezTo>
                  <a:cubicBezTo>
                    <a:pt x="30" y="45"/>
                    <a:pt x="30" y="45"/>
                    <a:pt x="30" y="45"/>
                  </a:cubicBezTo>
                  <a:cubicBezTo>
                    <a:pt x="30" y="45"/>
                    <a:pt x="25" y="84"/>
                    <a:pt x="24" y="96"/>
                  </a:cubicBezTo>
                  <a:cubicBezTo>
                    <a:pt x="23" y="108"/>
                    <a:pt x="12" y="124"/>
                    <a:pt x="17" y="129"/>
                  </a:cubicBezTo>
                  <a:cubicBezTo>
                    <a:pt x="22" y="134"/>
                    <a:pt x="40" y="144"/>
                    <a:pt x="40" y="144"/>
                  </a:cubicBezTo>
                  <a:cubicBezTo>
                    <a:pt x="40" y="144"/>
                    <a:pt x="37" y="164"/>
                    <a:pt x="41" y="163"/>
                  </a:cubicBezTo>
                  <a:cubicBezTo>
                    <a:pt x="45" y="162"/>
                    <a:pt x="64" y="165"/>
                    <a:pt x="64" y="165"/>
                  </a:cubicBezTo>
                  <a:cubicBezTo>
                    <a:pt x="62" y="158"/>
                    <a:pt x="62" y="158"/>
                    <a:pt x="62" y="158"/>
                  </a:cubicBezTo>
                  <a:cubicBezTo>
                    <a:pt x="62" y="158"/>
                    <a:pt x="61" y="149"/>
                    <a:pt x="62" y="142"/>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453" name="Freeform 245">
              <a:extLst>
                <a:ext uri="{FF2B5EF4-FFF2-40B4-BE49-F238E27FC236}">
                  <a16:creationId xmlns:a16="http://schemas.microsoft.com/office/drawing/2014/main" id="{DCB3B5E5-7653-4E75-9190-CCE30A86C143}"/>
                </a:ext>
              </a:extLst>
            </p:cNvPr>
            <p:cNvSpPr>
              <a:spLocks/>
            </p:cNvSpPr>
            <p:nvPr/>
          </p:nvSpPr>
          <p:spPr bwMode="gray">
            <a:xfrm>
              <a:off x="5436493" y="1168485"/>
              <a:ext cx="180904" cy="99365"/>
            </a:xfrm>
            <a:custGeom>
              <a:avLst/>
              <a:gdLst>
                <a:gd name="T0" fmla="*/ 225 w 267"/>
                <a:gd name="T1" fmla="*/ 87 h 155"/>
                <a:gd name="T2" fmla="*/ 241 w 267"/>
                <a:gd name="T3" fmla="*/ 47 h 155"/>
                <a:gd name="T4" fmla="*/ 264 w 267"/>
                <a:gd name="T5" fmla="*/ 23 h 155"/>
                <a:gd name="T6" fmla="*/ 237 w 267"/>
                <a:gd name="T7" fmla="*/ 12 h 155"/>
                <a:gd name="T8" fmla="*/ 194 w 267"/>
                <a:gd name="T9" fmla="*/ 2 h 155"/>
                <a:gd name="T10" fmla="*/ 169 w 267"/>
                <a:gd name="T11" fmla="*/ 6 h 155"/>
                <a:gd name="T12" fmla="*/ 157 w 267"/>
                <a:gd name="T13" fmla="*/ 12 h 155"/>
                <a:gd name="T14" fmla="*/ 118 w 267"/>
                <a:gd name="T15" fmla="*/ 23 h 155"/>
                <a:gd name="T16" fmla="*/ 92 w 267"/>
                <a:gd name="T17" fmla="*/ 17 h 155"/>
                <a:gd name="T18" fmla="*/ 62 w 267"/>
                <a:gd name="T19" fmla="*/ 21 h 155"/>
                <a:gd name="T20" fmla="*/ 39 w 267"/>
                <a:gd name="T21" fmla="*/ 21 h 155"/>
                <a:gd name="T22" fmla="*/ 29 w 267"/>
                <a:gd name="T23" fmla="*/ 5 h 155"/>
                <a:gd name="T24" fmla="*/ 10 w 267"/>
                <a:gd name="T25" fmla="*/ 0 h 155"/>
                <a:gd name="T26" fmla="*/ 0 w 267"/>
                <a:gd name="T27" fmla="*/ 16 h 155"/>
                <a:gd name="T28" fmla="*/ 12 w 267"/>
                <a:gd name="T29" fmla="*/ 33 h 155"/>
                <a:gd name="T30" fmla="*/ 23 w 267"/>
                <a:gd name="T31" fmla="*/ 47 h 155"/>
                <a:gd name="T32" fmla="*/ 20 w 267"/>
                <a:gd name="T33" fmla="*/ 68 h 155"/>
                <a:gd name="T34" fmla="*/ 8 w 267"/>
                <a:gd name="T35" fmla="*/ 80 h 155"/>
                <a:gd name="T36" fmla="*/ 2 w 267"/>
                <a:gd name="T37" fmla="*/ 95 h 155"/>
                <a:gd name="T38" fmla="*/ 8 w 267"/>
                <a:gd name="T39" fmla="*/ 104 h 155"/>
                <a:gd name="T40" fmla="*/ 13 w 267"/>
                <a:gd name="T41" fmla="*/ 112 h 155"/>
                <a:gd name="T42" fmla="*/ 33 w 267"/>
                <a:gd name="T43" fmla="*/ 139 h 155"/>
                <a:gd name="T44" fmla="*/ 41 w 267"/>
                <a:gd name="T45" fmla="*/ 154 h 155"/>
                <a:gd name="T46" fmla="*/ 73 w 267"/>
                <a:gd name="T47" fmla="*/ 150 h 155"/>
                <a:gd name="T48" fmla="*/ 97 w 267"/>
                <a:gd name="T49" fmla="*/ 135 h 155"/>
                <a:gd name="T50" fmla="*/ 123 w 267"/>
                <a:gd name="T51" fmla="*/ 146 h 155"/>
                <a:gd name="T52" fmla="*/ 145 w 267"/>
                <a:gd name="T53" fmla="*/ 146 h 155"/>
                <a:gd name="T54" fmla="*/ 171 w 267"/>
                <a:gd name="T55" fmla="*/ 148 h 155"/>
                <a:gd name="T56" fmla="*/ 179 w 267"/>
                <a:gd name="T57" fmla="*/ 129 h 155"/>
                <a:gd name="T58" fmla="*/ 208 w 267"/>
                <a:gd name="T59" fmla="*/ 116 h 155"/>
                <a:gd name="T60" fmla="*/ 226 w 267"/>
                <a:gd name="T61" fmla="*/ 119 h 155"/>
                <a:gd name="T62" fmla="*/ 248 w 267"/>
                <a:gd name="T63" fmla="*/ 115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67" h="155">
                  <a:moveTo>
                    <a:pt x="248" y="115"/>
                  </a:moveTo>
                  <a:cubicBezTo>
                    <a:pt x="225" y="87"/>
                    <a:pt x="225" y="87"/>
                    <a:pt x="225" y="87"/>
                  </a:cubicBezTo>
                  <a:cubicBezTo>
                    <a:pt x="225" y="87"/>
                    <a:pt x="235" y="82"/>
                    <a:pt x="239" y="75"/>
                  </a:cubicBezTo>
                  <a:cubicBezTo>
                    <a:pt x="243" y="68"/>
                    <a:pt x="232" y="54"/>
                    <a:pt x="241" y="47"/>
                  </a:cubicBezTo>
                  <a:cubicBezTo>
                    <a:pt x="250" y="40"/>
                    <a:pt x="267" y="44"/>
                    <a:pt x="267" y="44"/>
                  </a:cubicBezTo>
                  <a:cubicBezTo>
                    <a:pt x="267" y="44"/>
                    <a:pt x="265" y="35"/>
                    <a:pt x="264" y="23"/>
                  </a:cubicBezTo>
                  <a:cubicBezTo>
                    <a:pt x="257" y="24"/>
                    <a:pt x="248" y="24"/>
                    <a:pt x="245" y="22"/>
                  </a:cubicBezTo>
                  <a:cubicBezTo>
                    <a:pt x="240" y="19"/>
                    <a:pt x="237" y="12"/>
                    <a:pt x="237" y="12"/>
                  </a:cubicBezTo>
                  <a:cubicBezTo>
                    <a:pt x="237" y="12"/>
                    <a:pt x="228" y="10"/>
                    <a:pt x="219" y="10"/>
                  </a:cubicBezTo>
                  <a:cubicBezTo>
                    <a:pt x="210" y="10"/>
                    <a:pt x="203" y="2"/>
                    <a:pt x="194" y="2"/>
                  </a:cubicBezTo>
                  <a:cubicBezTo>
                    <a:pt x="185" y="2"/>
                    <a:pt x="188" y="8"/>
                    <a:pt x="188" y="8"/>
                  </a:cubicBezTo>
                  <a:cubicBezTo>
                    <a:pt x="169" y="6"/>
                    <a:pt x="169" y="6"/>
                    <a:pt x="169" y="6"/>
                  </a:cubicBezTo>
                  <a:cubicBezTo>
                    <a:pt x="170" y="11"/>
                    <a:pt x="170" y="11"/>
                    <a:pt x="170" y="11"/>
                  </a:cubicBezTo>
                  <a:cubicBezTo>
                    <a:pt x="170" y="11"/>
                    <a:pt x="164" y="10"/>
                    <a:pt x="157" y="12"/>
                  </a:cubicBezTo>
                  <a:cubicBezTo>
                    <a:pt x="150" y="14"/>
                    <a:pt x="151" y="30"/>
                    <a:pt x="140" y="29"/>
                  </a:cubicBezTo>
                  <a:cubicBezTo>
                    <a:pt x="129" y="28"/>
                    <a:pt x="118" y="23"/>
                    <a:pt x="118" y="23"/>
                  </a:cubicBezTo>
                  <a:cubicBezTo>
                    <a:pt x="105" y="22"/>
                    <a:pt x="105" y="22"/>
                    <a:pt x="105" y="22"/>
                  </a:cubicBezTo>
                  <a:cubicBezTo>
                    <a:pt x="92" y="17"/>
                    <a:pt x="92" y="17"/>
                    <a:pt x="92" y="17"/>
                  </a:cubicBezTo>
                  <a:cubicBezTo>
                    <a:pt x="92" y="17"/>
                    <a:pt x="97" y="26"/>
                    <a:pt x="84" y="26"/>
                  </a:cubicBezTo>
                  <a:cubicBezTo>
                    <a:pt x="71" y="26"/>
                    <a:pt x="62" y="21"/>
                    <a:pt x="62" y="21"/>
                  </a:cubicBezTo>
                  <a:cubicBezTo>
                    <a:pt x="46" y="14"/>
                    <a:pt x="46" y="14"/>
                    <a:pt x="46" y="14"/>
                  </a:cubicBezTo>
                  <a:cubicBezTo>
                    <a:pt x="39" y="21"/>
                    <a:pt x="39" y="21"/>
                    <a:pt x="39" y="21"/>
                  </a:cubicBezTo>
                  <a:cubicBezTo>
                    <a:pt x="39" y="21"/>
                    <a:pt x="22" y="22"/>
                    <a:pt x="22" y="18"/>
                  </a:cubicBezTo>
                  <a:cubicBezTo>
                    <a:pt x="22" y="14"/>
                    <a:pt x="31" y="9"/>
                    <a:pt x="29" y="5"/>
                  </a:cubicBezTo>
                  <a:cubicBezTo>
                    <a:pt x="27" y="1"/>
                    <a:pt x="17" y="1"/>
                    <a:pt x="17" y="1"/>
                  </a:cubicBezTo>
                  <a:cubicBezTo>
                    <a:pt x="10" y="0"/>
                    <a:pt x="10" y="0"/>
                    <a:pt x="10" y="0"/>
                  </a:cubicBezTo>
                  <a:cubicBezTo>
                    <a:pt x="9" y="8"/>
                    <a:pt x="9" y="8"/>
                    <a:pt x="9" y="8"/>
                  </a:cubicBezTo>
                  <a:cubicBezTo>
                    <a:pt x="0" y="16"/>
                    <a:pt x="0" y="16"/>
                    <a:pt x="0" y="16"/>
                  </a:cubicBezTo>
                  <a:cubicBezTo>
                    <a:pt x="3" y="28"/>
                    <a:pt x="3" y="28"/>
                    <a:pt x="3" y="28"/>
                  </a:cubicBezTo>
                  <a:cubicBezTo>
                    <a:pt x="12" y="33"/>
                    <a:pt x="12" y="33"/>
                    <a:pt x="12" y="33"/>
                  </a:cubicBezTo>
                  <a:cubicBezTo>
                    <a:pt x="10" y="40"/>
                    <a:pt x="10" y="40"/>
                    <a:pt x="10" y="40"/>
                  </a:cubicBezTo>
                  <a:cubicBezTo>
                    <a:pt x="23" y="47"/>
                    <a:pt x="23" y="47"/>
                    <a:pt x="23" y="47"/>
                  </a:cubicBezTo>
                  <a:cubicBezTo>
                    <a:pt x="23" y="47"/>
                    <a:pt x="28" y="53"/>
                    <a:pt x="26" y="57"/>
                  </a:cubicBezTo>
                  <a:cubicBezTo>
                    <a:pt x="24" y="61"/>
                    <a:pt x="20" y="68"/>
                    <a:pt x="20" y="68"/>
                  </a:cubicBezTo>
                  <a:cubicBezTo>
                    <a:pt x="20" y="68"/>
                    <a:pt x="9" y="65"/>
                    <a:pt x="7" y="69"/>
                  </a:cubicBezTo>
                  <a:cubicBezTo>
                    <a:pt x="5" y="73"/>
                    <a:pt x="8" y="80"/>
                    <a:pt x="8" y="80"/>
                  </a:cubicBezTo>
                  <a:cubicBezTo>
                    <a:pt x="8" y="80"/>
                    <a:pt x="11" y="88"/>
                    <a:pt x="10" y="91"/>
                  </a:cubicBezTo>
                  <a:cubicBezTo>
                    <a:pt x="9" y="93"/>
                    <a:pt x="5" y="94"/>
                    <a:pt x="2" y="95"/>
                  </a:cubicBezTo>
                  <a:cubicBezTo>
                    <a:pt x="2" y="95"/>
                    <a:pt x="2" y="95"/>
                    <a:pt x="2" y="95"/>
                  </a:cubicBezTo>
                  <a:cubicBezTo>
                    <a:pt x="8" y="104"/>
                    <a:pt x="8" y="104"/>
                    <a:pt x="8" y="104"/>
                  </a:cubicBezTo>
                  <a:cubicBezTo>
                    <a:pt x="13" y="104"/>
                    <a:pt x="13" y="104"/>
                    <a:pt x="13" y="104"/>
                  </a:cubicBezTo>
                  <a:cubicBezTo>
                    <a:pt x="13" y="112"/>
                    <a:pt x="13" y="112"/>
                    <a:pt x="13" y="112"/>
                  </a:cubicBezTo>
                  <a:cubicBezTo>
                    <a:pt x="25" y="121"/>
                    <a:pt x="25" y="121"/>
                    <a:pt x="25" y="121"/>
                  </a:cubicBezTo>
                  <a:cubicBezTo>
                    <a:pt x="25" y="121"/>
                    <a:pt x="36" y="128"/>
                    <a:pt x="33" y="139"/>
                  </a:cubicBezTo>
                  <a:cubicBezTo>
                    <a:pt x="32" y="142"/>
                    <a:pt x="31" y="145"/>
                    <a:pt x="29" y="147"/>
                  </a:cubicBezTo>
                  <a:cubicBezTo>
                    <a:pt x="32" y="150"/>
                    <a:pt x="36" y="154"/>
                    <a:pt x="41" y="154"/>
                  </a:cubicBezTo>
                  <a:cubicBezTo>
                    <a:pt x="49" y="154"/>
                    <a:pt x="59" y="144"/>
                    <a:pt x="59" y="144"/>
                  </a:cubicBezTo>
                  <a:cubicBezTo>
                    <a:pt x="73" y="150"/>
                    <a:pt x="73" y="150"/>
                    <a:pt x="73" y="150"/>
                  </a:cubicBezTo>
                  <a:cubicBezTo>
                    <a:pt x="79" y="138"/>
                    <a:pt x="79" y="138"/>
                    <a:pt x="79" y="138"/>
                  </a:cubicBezTo>
                  <a:cubicBezTo>
                    <a:pt x="97" y="135"/>
                    <a:pt x="97" y="135"/>
                    <a:pt x="97" y="135"/>
                  </a:cubicBezTo>
                  <a:cubicBezTo>
                    <a:pt x="97" y="135"/>
                    <a:pt x="101" y="149"/>
                    <a:pt x="109" y="149"/>
                  </a:cubicBezTo>
                  <a:cubicBezTo>
                    <a:pt x="117" y="149"/>
                    <a:pt x="123" y="146"/>
                    <a:pt x="123" y="146"/>
                  </a:cubicBezTo>
                  <a:cubicBezTo>
                    <a:pt x="123" y="146"/>
                    <a:pt x="124" y="155"/>
                    <a:pt x="132" y="154"/>
                  </a:cubicBezTo>
                  <a:cubicBezTo>
                    <a:pt x="140" y="153"/>
                    <a:pt x="145" y="146"/>
                    <a:pt x="145" y="146"/>
                  </a:cubicBezTo>
                  <a:cubicBezTo>
                    <a:pt x="155" y="154"/>
                    <a:pt x="155" y="154"/>
                    <a:pt x="155" y="154"/>
                  </a:cubicBezTo>
                  <a:cubicBezTo>
                    <a:pt x="155" y="154"/>
                    <a:pt x="169" y="153"/>
                    <a:pt x="171" y="148"/>
                  </a:cubicBezTo>
                  <a:cubicBezTo>
                    <a:pt x="173" y="143"/>
                    <a:pt x="167" y="135"/>
                    <a:pt x="167" y="135"/>
                  </a:cubicBezTo>
                  <a:cubicBezTo>
                    <a:pt x="179" y="129"/>
                    <a:pt x="179" y="129"/>
                    <a:pt x="179" y="129"/>
                  </a:cubicBezTo>
                  <a:cubicBezTo>
                    <a:pt x="188" y="114"/>
                    <a:pt x="188" y="114"/>
                    <a:pt x="188" y="114"/>
                  </a:cubicBezTo>
                  <a:cubicBezTo>
                    <a:pt x="208" y="116"/>
                    <a:pt x="208" y="116"/>
                    <a:pt x="208" y="116"/>
                  </a:cubicBezTo>
                  <a:cubicBezTo>
                    <a:pt x="216" y="106"/>
                    <a:pt x="216" y="106"/>
                    <a:pt x="216" y="106"/>
                  </a:cubicBezTo>
                  <a:cubicBezTo>
                    <a:pt x="226" y="119"/>
                    <a:pt x="226" y="119"/>
                    <a:pt x="226" y="119"/>
                  </a:cubicBezTo>
                  <a:cubicBezTo>
                    <a:pt x="226" y="119"/>
                    <a:pt x="240" y="121"/>
                    <a:pt x="249" y="120"/>
                  </a:cubicBezTo>
                  <a:cubicBezTo>
                    <a:pt x="248" y="117"/>
                    <a:pt x="248" y="115"/>
                    <a:pt x="248" y="115"/>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454" name="Freeform 246">
              <a:extLst>
                <a:ext uri="{FF2B5EF4-FFF2-40B4-BE49-F238E27FC236}">
                  <a16:creationId xmlns:a16="http://schemas.microsoft.com/office/drawing/2014/main" id="{1197A21E-F9A5-4793-8BC7-C5D483FB1D69}"/>
                </a:ext>
              </a:extLst>
            </p:cNvPr>
            <p:cNvSpPr>
              <a:spLocks/>
            </p:cNvSpPr>
            <p:nvPr/>
          </p:nvSpPr>
          <p:spPr bwMode="gray">
            <a:xfrm>
              <a:off x="5385380" y="1229299"/>
              <a:ext cx="75520" cy="55927"/>
            </a:xfrm>
            <a:custGeom>
              <a:avLst/>
              <a:gdLst>
                <a:gd name="T0" fmla="*/ 100 w 111"/>
                <a:gd name="T1" fmla="*/ 26 h 87"/>
                <a:gd name="T2" fmla="*/ 88 w 111"/>
                <a:gd name="T3" fmla="*/ 17 h 87"/>
                <a:gd name="T4" fmla="*/ 88 w 111"/>
                <a:gd name="T5" fmla="*/ 9 h 87"/>
                <a:gd name="T6" fmla="*/ 83 w 111"/>
                <a:gd name="T7" fmla="*/ 9 h 87"/>
                <a:gd name="T8" fmla="*/ 77 w 111"/>
                <a:gd name="T9" fmla="*/ 0 h 87"/>
                <a:gd name="T10" fmla="*/ 76 w 111"/>
                <a:gd name="T11" fmla="*/ 0 h 87"/>
                <a:gd name="T12" fmla="*/ 50 w 111"/>
                <a:gd name="T13" fmla="*/ 2 h 87"/>
                <a:gd name="T14" fmla="*/ 46 w 111"/>
                <a:gd name="T15" fmla="*/ 6 h 87"/>
                <a:gd name="T16" fmla="*/ 33 w 111"/>
                <a:gd name="T17" fmla="*/ 6 h 87"/>
                <a:gd name="T18" fmla="*/ 30 w 111"/>
                <a:gd name="T19" fmla="*/ 14 h 87"/>
                <a:gd name="T20" fmla="*/ 18 w 111"/>
                <a:gd name="T21" fmla="*/ 14 h 87"/>
                <a:gd name="T22" fmla="*/ 13 w 111"/>
                <a:gd name="T23" fmla="*/ 22 h 87"/>
                <a:gd name="T24" fmla="*/ 2 w 111"/>
                <a:gd name="T25" fmla="*/ 26 h 87"/>
                <a:gd name="T26" fmla="*/ 0 w 111"/>
                <a:gd name="T27" fmla="*/ 41 h 87"/>
                <a:gd name="T28" fmla="*/ 5 w 111"/>
                <a:gd name="T29" fmla="*/ 52 h 87"/>
                <a:gd name="T30" fmla="*/ 3 w 111"/>
                <a:gd name="T31" fmla="*/ 64 h 87"/>
                <a:gd name="T32" fmla="*/ 11 w 111"/>
                <a:gd name="T33" fmla="*/ 70 h 87"/>
                <a:gd name="T34" fmla="*/ 11 w 111"/>
                <a:gd name="T35" fmla="*/ 84 h 87"/>
                <a:gd name="T36" fmla="*/ 29 w 111"/>
                <a:gd name="T37" fmla="*/ 77 h 87"/>
                <a:gd name="T38" fmla="*/ 31 w 111"/>
                <a:gd name="T39" fmla="*/ 84 h 87"/>
                <a:gd name="T40" fmla="*/ 36 w 111"/>
                <a:gd name="T41" fmla="*/ 79 h 87"/>
                <a:gd name="T42" fmla="*/ 60 w 111"/>
                <a:gd name="T43" fmla="*/ 81 h 87"/>
                <a:gd name="T44" fmla="*/ 63 w 111"/>
                <a:gd name="T45" fmla="*/ 70 h 87"/>
                <a:gd name="T46" fmla="*/ 90 w 111"/>
                <a:gd name="T47" fmla="*/ 66 h 87"/>
                <a:gd name="T48" fmla="*/ 108 w 111"/>
                <a:gd name="T49" fmla="*/ 44 h 87"/>
                <a:gd name="T50" fmla="*/ 100 w 111"/>
                <a:gd name="T51" fmla="*/ 26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11" h="87">
                  <a:moveTo>
                    <a:pt x="100" y="26"/>
                  </a:moveTo>
                  <a:cubicBezTo>
                    <a:pt x="88" y="17"/>
                    <a:pt x="88" y="17"/>
                    <a:pt x="88" y="17"/>
                  </a:cubicBezTo>
                  <a:cubicBezTo>
                    <a:pt x="88" y="9"/>
                    <a:pt x="88" y="9"/>
                    <a:pt x="88" y="9"/>
                  </a:cubicBezTo>
                  <a:cubicBezTo>
                    <a:pt x="83" y="9"/>
                    <a:pt x="83" y="9"/>
                    <a:pt x="83" y="9"/>
                  </a:cubicBezTo>
                  <a:cubicBezTo>
                    <a:pt x="77" y="0"/>
                    <a:pt x="77" y="0"/>
                    <a:pt x="77" y="0"/>
                  </a:cubicBezTo>
                  <a:cubicBezTo>
                    <a:pt x="77" y="0"/>
                    <a:pt x="76" y="0"/>
                    <a:pt x="76" y="0"/>
                  </a:cubicBezTo>
                  <a:cubicBezTo>
                    <a:pt x="50" y="2"/>
                    <a:pt x="50" y="2"/>
                    <a:pt x="50" y="2"/>
                  </a:cubicBezTo>
                  <a:cubicBezTo>
                    <a:pt x="46" y="6"/>
                    <a:pt x="46" y="6"/>
                    <a:pt x="46" y="6"/>
                  </a:cubicBezTo>
                  <a:cubicBezTo>
                    <a:pt x="33" y="6"/>
                    <a:pt x="33" y="6"/>
                    <a:pt x="33" y="6"/>
                  </a:cubicBezTo>
                  <a:cubicBezTo>
                    <a:pt x="33" y="6"/>
                    <a:pt x="37" y="14"/>
                    <a:pt x="30" y="14"/>
                  </a:cubicBezTo>
                  <a:cubicBezTo>
                    <a:pt x="23" y="14"/>
                    <a:pt x="18" y="14"/>
                    <a:pt x="18" y="14"/>
                  </a:cubicBezTo>
                  <a:cubicBezTo>
                    <a:pt x="13" y="22"/>
                    <a:pt x="13" y="22"/>
                    <a:pt x="13" y="22"/>
                  </a:cubicBezTo>
                  <a:cubicBezTo>
                    <a:pt x="2" y="26"/>
                    <a:pt x="2" y="26"/>
                    <a:pt x="2" y="26"/>
                  </a:cubicBezTo>
                  <a:cubicBezTo>
                    <a:pt x="0" y="41"/>
                    <a:pt x="0" y="41"/>
                    <a:pt x="0" y="41"/>
                  </a:cubicBezTo>
                  <a:cubicBezTo>
                    <a:pt x="5" y="52"/>
                    <a:pt x="5" y="52"/>
                    <a:pt x="5" y="52"/>
                  </a:cubicBezTo>
                  <a:cubicBezTo>
                    <a:pt x="5" y="52"/>
                    <a:pt x="3" y="59"/>
                    <a:pt x="3" y="64"/>
                  </a:cubicBezTo>
                  <a:cubicBezTo>
                    <a:pt x="3" y="69"/>
                    <a:pt x="11" y="70"/>
                    <a:pt x="11" y="70"/>
                  </a:cubicBezTo>
                  <a:cubicBezTo>
                    <a:pt x="11" y="84"/>
                    <a:pt x="11" y="84"/>
                    <a:pt x="11" y="84"/>
                  </a:cubicBezTo>
                  <a:cubicBezTo>
                    <a:pt x="29" y="77"/>
                    <a:pt x="29" y="77"/>
                    <a:pt x="29" y="77"/>
                  </a:cubicBezTo>
                  <a:cubicBezTo>
                    <a:pt x="29" y="77"/>
                    <a:pt x="30" y="80"/>
                    <a:pt x="31" y="84"/>
                  </a:cubicBezTo>
                  <a:cubicBezTo>
                    <a:pt x="36" y="79"/>
                    <a:pt x="36" y="79"/>
                    <a:pt x="36" y="79"/>
                  </a:cubicBezTo>
                  <a:cubicBezTo>
                    <a:pt x="36" y="79"/>
                    <a:pt x="56" y="87"/>
                    <a:pt x="60" y="81"/>
                  </a:cubicBezTo>
                  <a:cubicBezTo>
                    <a:pt x="64" y="75"/>
                    <a:pt x="63" y="70"/>
                    <a:pt x="63" y="70"/>
                  </a:cubicBezTo>
                  <a:cubicBezTo>
                    <a:pt x="63" y="70"/>
                    <a:pt x="82" y="74"/>
                    <a:pt x="90" y="66"/>
                  </a:cubicBezTo>
                  <a:cubicBezTo>
                    <a:pt x="98" y="58"/>
                    <a:pt x="105" y="55"/>
                    <a:pt x="108" y="44"/>
                  </a:cubicBezTo>
                  <a:cubicBezTo>
                    <a:pt x="111" y="33"/>
                    <a:pt x="100" y="26"/>
                    <a:pt x="100" y="26"/>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455" name="Freeform 247">
              <a:extLst>
                <a:ext uri="{FF2B5EF4-FFF2-40B4-BE49-F238E27FC236}">
                  <a16:creationId xmlns:a16="http://schemas.microsoft.com/office/drawing/2014/main" id="{3A482B96-6A68-40B3-997A-282FFAD612A1}"/>
                </a:ext>
              </a:extLst>
            </p:cNvPr>
            <p:cNvSpPr>
              <a:spLocks/>
            </p:cNvSpPr>
            <p:nvPr/>
          </p:nvSpPr>
          <p:spPr bwMode="gray">
            <a:xfrm>
              <a:off x="5549629" y="1023511"/>
              <a:ext cx="97057" cy="101266"/>
            </a:xfrm>
            <a:custGeom>
              <a:avLst/>
              <a:gdLst>
                <a:gd name="T0" fmla="*/ 0 w 143"/>
                <a:gd name="T1" fmla="*/ 11 h 158"/>
                <a:gd name="T2" fmla="*/ 24 w 143"/>
                <a:gd name="T3" fmla="*/ 30 h 158"/>
                <a:gd name="T4" fmla="*/ 23 w 143"/>
                <a:gd name="T5" fmla="*/ 40 h 158"/>
                <a:gd name="T6" fmla="*/ 38 w 143"/>
                <a:gd name="T7" fmla="*/ 49 h 158"/>
                <a:gd name="T8" fmla="*/ 44 w 143"/>
                <a:gd name="T9" fmla="*/ 63 h 158"/>
                <a:gd name="T10" fmla="*/ 52 w 143"/>
                <a:gd name="T11" fmla="*/ 64 h 158"/>
                <a:gd name="T12" fmla="*/ 54 w 143"/>
                <a:gd name="T13" fmla="*/ 74 h 158"/>
                <a:gd name="T14" fmla="*/ 71 w 143"/>
                <a:gd name="T15" fmla="*/ 84 h 158"/>
                <a:gd name="T16" fmla="*/ 69 w 143"/>
                <a:gd name="T17" fmla="*/ 106 h 158"/>
                <a:gd name="T18" fmla="*/ 74 w 143"/>
                <a:gd name="T19" fmla="*/ 109 h 158"/>
                <a:gd name="T20" fmla="*/ 67 w 143"/>
                <a:gd name="T21" fmla="*/ 129 h 158"/>
                <a:gd name="T22" fmla="*/ 73 w 143"/>
                <a:gd name="T23" fmla="*/ 143 h 158"/>
                <a:gd name="T24" fmla="*/ 75 w 143"/>
                <a:gd name="T25" fmla="*/ 158 h 158"/>
                <a:gd name="T26" fmla="*/ 92 w 143"/>
                <a:gd name="T27" fmla="*/ 155 h 158"/>
                <a:gd name="T28" fmla="*/ 88 w 143"/>
                <a:gd name="T29" fmla="*/ 141 h 158"/>
                <a:gd name="T30" fmla="*/ 104 w 143"/>
                <a:gd name="T31" fmla="*/ 129 h 158"/>
                <a:gd name="T32" fmla="*/ 113 w 143"/>
                <a:gd name="T33" fmla="*/ 120 h 158"/>
                <a:gd name="T34" fmla="*/ 97 w 143"/>
                <a:gd name="T35" fmla="*/ 106 h 158"/>
                <a:gd name="T36" fmla="*/ 113 w 143"/>
                <a:gd name="T37" fmla="*/ 102 h 158"/>
                <a:gd name="T38" fmla="*/ 126 w 143"/>
                <a:gd name="T39" fmla="*/ 109 h 158"/>
                <a:gd name="T40" fmla="*/ 143 w 143"/>
                <a:gd name="T41" fmla="*/ 104 h 158"/>
                <a:gd name="T42" fmla="*/ 141 w 143"/>
                <a:gd name="T43" fmla="*/ 83 h 158"/>
                <a:gd name="T44" fmla="*/ 120 w 143"/>
                <a:gd name="T45" fmla="*/ 77 h 158"/>
                <a:gd name="T46" fmla="*/ 122 w 143"/>
                <a:gd name="T47" fmla="*/ 61 h 158"/>
                <a:gd name="T48" fmla="*/ 117 w 143"/>
                <a:gd name="T49" fmla="*/ 56 h 158"/>
                <a:gd name="T50" fmla="*/ 105 w 143"/>
                <a:gd name="T51" fmla="*/ 58 h 158"/>
                <a:gd name="T52" fmla="*/ 105 w 143"/>
                <a:gd name="T53" fmla="*/ 43 h 158"/>
                <a:gd name="T54" fmla="*/ 103 w 143"/>
                <a:gd name="T55" fmla="*/ 26 h 158"/>
                <a:gd name="T56" fmla="*/ 83 w 143"/>
                <a:gd name="T57" fmla="*/ 24 h 158"/>
                <a:gd name="T58" fmla="*/ 78 w 143"/>
                <a:gd name="T59" fmla="*/ 13 h 158"/>
                <a:gd name="T60" fmla="*/ 57 w 143"/>
                <a:gd name="T61" fmla="*/ 12 h 158"/>
                <a:gd name="T62" fmla="*/ 52 w 143"/>
                <a:gd name="T63" fmla="*/ 7 h 158"/>
                <a:gd name="T64" fmla="*/ 48 w 143"/>
                <a:gd name="T65" fmla="*/ 9 h 158"/>
                <a:gd name="T66" fmla="*/ 33 w 143"/>
                <a:gd name="T67" fmla="*/ 1 h 158"/>
                <a:gd name="T68" fmla="*/ 18 w 143"/>
                <a:gd name="T69" fmla="*/ 8 h 158"/>
                <a:gd name="T70" fmla="*/ 2 w 143"/>
                <a:gd name="T71" fmla="*/ 3 h 158"/>
                <a:gd name="T72" fmla="*/ 0 w 143"/>
                <a:gd name="T73" fmla="*/ 11 h 158"/>
                <a:gd name="T74" fmla="*/ 0 w 143"/>
                <a:gd name="T75" fmla="*/ 11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43" h="158">
                  <a:moveTo>
                    <a:pt x="0" y="11"/>
                  </a:moveTo>
                  <a:cubicBezTo>
                    <a:pt x="17" y="14"/>
                    <a:pt x="24" y="30"/>
                    <a:pt x="24" y="30"/>
                  </a:cubicBezTo>
                  <a:cubicBezTo>
                    <a:pt x="23" y="40"/>
                    <a:pt x="23" y="40"/>
                    <a:pt x="23" y="40"/>
                  </a:cubicBezTo>
                  <a:cubicBezTo>
                    <a:pt x="38" y="49"/>
                    <a:pt x="38" y="49"/>
                    <a:pt x="38" y="49"/>
                  </a:cubicBezTo>
                  <a:cubicBezTo>
                    <a:pt x="44" y="63"/>
                    <a:pt x="44" y="63"/>
                    <a:pt x="44" y="63"/>
                  </a:cubicBezTo>
                  <a:cubicBezTo>
                    <a:pt x="52" y="64"/>
                    <a:pt x="52" y="64"/>
                    <a:pt x="52" y="64"/>
                  </a:cubicBezTo>
                  <a:cubicBezTo>
                    <a:pt x="54" y="74"/>
                    <a:pt x="54" y="74"/>
                    <a:pt x="54" y="74"/>
                  </a:cubicBezTo>
                  <a:cubicBezTo>
                    <a:pt x="54" y="74"/>
                    <a:pt x="70" y="75"/>
                    <a:pt x="71" y="84"/>
                  </a:cubicBezTo>
                  <a:cubicBezTo>
                    <a:pt x="72" y="93"/>
                    <a:pt x="69" y="106"/>
                    <a:pt x="69" y="106"/>
                  </a:cubicBezTo>
                  <a:cubicBezTo>
                    <a:pt x="74" y="109"/>
                    <a:pt x="74" y="109"/>
                    <a:pt x="74" y="109"/>
                  </a:cubicBezTo>
                  <a:cubicBezTo>
                    <a:pt x="74" y="109"/>
                    <a:pt x="67" y="122"/>
                    <a:pt x="67" y="129"/>
                  </a:cubicBezTo>
                  <a:cubicBezTo>
                    <a:pt x="67" y="136"/>
                    <a:pt x="73" y="143"/>
                    <a:pt x="73" y="143"/>
                  </a:cubicBezTo>
                  <a:cubicBezTo>
                    <a:pt x="73" y="143"/>
                    <a:pt x="72" y="151"/>
                    <a:pt x="75" y="158"/>
                  </a:cubicBezTo>
                  <a:cubicBezTo>
                    <a:pt x="92" y="155"/>
                    <a:pt x="92" y="155"/>
                    <a:pt x="92" y="155"/>
                  </a:cubicBezTo>
                  <a:cubicBezTo>
                    <a:pt x="92" y="155"/>
                    <a:pt x="88" y="145"/>
                    <a:pt x="88" y="141"/>
                  </a:cubicBezTo>
                  <a:cubicBezTo>
                    <a:pt x="88" y="137"/>
                    <a:pt x="104" y="129"/>
                    <a:pt x="104" y="129"/>
                  </a:cubicBezTo>
                  <a:cubicBezTo>
                    <a:pt x="113" y="120"/>
                    <a:pt x="113" y="120"/>
                    <a:pt x="113" y="120"/>
                  </a:cubicBezTo>
                  <a:cubicBezTo>
                    <a:pt x="113" y="120"/>
                    <a:pt x="98" y="110"/>
                    <a:pt x="97" y="106"/>
                  </a:cubicBezTo>
                  <a:cubicBezTo>
                    <a:pt x="96" y="102"/>
                    <a:pt x="113" y="102"/>
                    <a:pt x="113" y="102"/>
                  </a:cubicBezTo>
                  <a:cubicBezTo>
                    <a:pt x="113" y="102"/>
                    <a:pt x="119" y="110"/>
                    <a:pt x="126" y="109"/>
                  </a:cubicBezTo>
                  <a:cubicBezTo>
                    <a:pt x="133" y="108"/>
                    <a:pt x="143" y="104"/>
                    <a:pt x="143" y="104"/>
                  </a:cubicBezTo>
                  <a:cubicBezTo>
                    <a:pt x="143" y="104"/>
                    <a:pt x="142" y="90"/>
                    <a:pt x="141" y="83"/>
                  </a:cubicBezTo>
                  <a:cubicBezTo>
                    <a:pt x="140" y="76"/>
                    <a:pt x="127" y="79"/>
                    <a:pt x="120" y="77"/>
                  </a:cubicBezTo>
                  <a:cubicBezTo>
                    <a:pt x="113" y="75"/>
                    <a:pt x="122" y="61"/>
                    <a:pt x="122" y="61"/>
                  </a:cubicBezTo>
                  <a:cubicBezTo>
                    <a:pt x="117" y="56"/>
                    <a:pt x="117" y="56"/>
                    <a:pt x="117" y="56"/>
                  </a:cubicBezTo>
                  <a:cubicBezTo>
                    <a:pt x="117" y="56"/>
                    <a:pt x="108" y="58"/>
                    <a:pt x="105" y="58"/>
                  </a:cubicBezTo>
                  <a:cubicBezTo>
                    <a:pt x="102" y="58"/>
                    <a:pt x="105" y="43"/>
                    <a:pt x="105" y="43"/>
                  </a:cubicBezTo>
                  <a:cubicBezTo>
                    <a:pt x="105" y="43"/>
                    <a:pt x="114" y="34"/>
                    <a:pt x="103" y="26"/>
                  </a:cubicBezTo>
                  <a:cubicBezTo>
                    <a:pt x="92" y="18"/>
                    <a:pt x="83" y="24"/>
                    <a:pt x="83" y="24"/>
                  </a:cubicBezTo>
                  <a:cubicBezTo>
                    <a:pt x="83" y="24"/>
                    <a:pt x="83" y="17"/>
                    <a:pt x="78" y="13"/>
                  </a:cubicBezTo>
                  <a:cubicBezTo>
                    <a:pt x="73" y="9"/>
                    <a:pt x="66" y="12"/>
                    <a:pt x="57" y="12"/>
                  </a:cubicBezTo>
                  <a:cubicBezTo>
                    <a:pt x="48" y="12"/>
                    <a:pt x="52" y="7"/>
                    <a:pt x="52" y="7"/>
                  </a:cubicBezTo>
                  <a:cubicBezTo>
                    <a:pt x="48" y="9"/>
                    <a:pt x="48" y="9"/>
                    <a:pt x="48" y="9"/>
                  </a:cubicBezTo>
                  <a:cubicBezTo>
                    <a:pt x="48" y="9"/>
                    <a:pt x="42" y="0"/>
                    <a:pt x="33" y="1"/>
                  </a:cubicBezTo>
                  <a:cubicBezTo>
                    <a:pt x="24" y="2"/>
                    <a:pt x="24" y="7"/>
                    <a:pt x="18" y="8"/>
                  </a:cubicBezTo>
                  <a:cubicBezTo>
                    <a:pt x="12" y="9"/>
                    <a:pt x="2" y="3"/>
                    <a:pt x="2" y="3"/>
                  </a:cubicBezTo>
                  <a:cubicBezTo>
                    <a:pt x="0" y="11"/>
                    <a:pt x="0" y="11"/>
                    <a:pt x="0" y="11"/>
                  </a:cubicBezTo>
                  <a:cubicBezTo>
                    <a:pt x="0" y="11"/>
                    <a:pt x="0" y="11"/>
                    <a:pt x="0" y="11"/>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456" name="Freeform 248">
              <a:extLst>
                <a:ext uri="{FF2B5EF4-FFF2-40B4-BE49-F238E27FC236}">
                  <a16:creationId xmlns:a16="http://schemas.microsoft.com/office/drawing/2014/main" id="{030CED93-4EB0-44F9-AF79-ABA19C6559B6}"/>
                </a:ext>
              </a:extLst>
            </p:cNvPr>
            <p:cNvSpPr>
              <a:spLocks/>
            </p:cNvSpPr>
            <p:nvPr/>
          </p:nvSpPr>
          <p:spPr bwMode="gray">
            <a:xfrm>
              <a:off x="5056593" y="1062062"/>
              <a:ext cx="10050" cy="10317"/>
            </a:xfrm>
            <a:custGeom>
              <a:avLst/>
              <a:gdLst>
                <a:gd name="T0" fmla="*/ 11 w 15"/>
                <a:gd name="T1" fmla="*/ 1 h 16"/>
                <a:gd name="T2" fmla="*/ 4 w 15"/>
                <a:gd name="T3" fmla="*/ 14 h 16"/>
                <a:gd name="T4" fmla="*/ 12 w 15"/>
                <a:gd name="T5" fmla="*/ 16 h 16"/>
                <a:gd name="T6" fmla="*/ 15 w 15"/>
                <a:gd name="T7" fmla="*/ 16 h 16"/>
                <a:gd name="T8" fmla="*/ 15 w 15"/>
                <a:gd name="T9" fmla="*/ 6 h 16"/>
                <a:gd name="T10" fmla="*/ 13 w 15"/>
                <a:gd name="T11" fmla="*/ 0 h 16"/>
                <a:gd name="T12" fmla="*/ 11 w 15"/>
                <a:gd name="T13" fmla="*/ 1 h 16"/>
              </a:gdLst>
              <a:ahLst/>
              <a:cxnLst>
                <a:cxn ang="0">
                  <a:pos x="T0" y="T1"/>
                </a:cxn>
                <a:cxn ang="0">
                  <a:pos x="T2" y="T3"/>
                </a:cxn>
                <a:cxn ang="0">
                  <a:pos x="T4" y="T5"/>
                </a:cxn>
                <a:cxn ang="0">
                  <a:pos x="T6" y="T7"/>
                </a:cxn>
                <a:cxn ang="0">
                  <a:pos x="T8" y="T9"/>
                </a:cxn>
                <a:cxn ang="0">
                  <a:pos x="T10" y="T11"/>
                </a:cxn>
                <a:cxn ang="0">
                  <a:pos x="T12" y="T13"/>
                </a:cxn>
              </a:cxnLst>
              <a:rect l="0" t="0" r="r" b="b"/>
              <a:pathLst>
                <a:path w="15" h="16">
                  <a:moveTo>
                    <a:pt x="11" y="1"/>
                  </a:moveTo>
                  <a:cubicBezTo>
                    <a:pt x="6" y="3"/>
                    <a:pt x="0" y="11"/>
                    <a:pt x="4" y="14"/>
                  </a:cubicBezTo>
                  <a:cubicBezTo>
                    <a:pt x="8" y="16"/>
                    <a:pt x="12" y="16"/>
                    <a:pt x="12" y="16"/>
                  </a:cubicBezTo>
                  <a:cubicBezTo>
                    <a:pt x="15" y="16"/>
                    <a:pt x="15" y="16"/>
                    <a:pt x="15" y="16"/>
                  </a:cubicBezTo>
                  <a:cubicBezTo>
                    <a:pt x="15" y="14"/>
                    <a:pt x="15" y="9"/>
                    <a:pt x="15" y="6"/>
                  </a:cubicBezTo>
                  <a:cubicBezTo>
                    <a:pt x="15" y="4"/>
                    <a:pt x="14" y="2"/>
                    <a:pt x="13" y="0"/>
                  </a:cubicBezTo>
                  <a:cubicBezTo>
                    <a:pt x="12" y="0"/>
                    <a:pt x="12" y="1"/>
                    <a:pt x="11" y="1"/>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457" name="Freeform 249">
              <a:extLst>
                <a:ext uri="{FF2B5EF4-FFF2-40B4-BE49-F238E27FC236}">
                  <a16:creationId xmlns:a16="http://schemas.microsoft.com/office/drawing/2014/main" id="{B942DB14-613A-4283-AB68-3F92B2CFFF5B}"/>
                </a:ext>
              </a:extLst>
            </p:cNvPr>
            <p:cNvSpPr>
              <a:spLocks/>
            </p:cNvSpPr>
            <p:nvPr/>
          </p:nvSpPr>
          <p:spPr bwMode="gray">
            <a:xfrm>
              <a:off x="5371309" y="1028670"/>
              <a:ext cx="278823" cy="159092"/>
            </a:xfrm>
            <a:custGeom>
              <a:avLst/>
              <a:gdLst>
                <a:gd name="T0" fmla="*/ 360 w 411"/>
                <a:gd name="T1" fmla="*/ 241 h 248"/>
                <a:gd name="T2" fmla="*/ 379 w 411"/>
                <a:gd name="T3" fmla="*/ 187 h 248"/>
                <a:gd name="T4" fmla="*/ 396 w 411"/>
                <a:gd name="T5" fmla="*/ 146 h 248"/>
                <a:gd name="T6" fmla="*/ 353 w 411"/>
                <a:gd name="T7" fmla="*/ 161 h 248"/>
                <a:gd name="T8" fmla="*/ 330 w 411"/>
                <a:gd name="T9" fmla="*/ 121 h 248"/>
                <a:gd name="T10" fmla="*/ 332 w 411"/>
                <a:gd name="T11" fmla="*/ 98 h 248"/>
                <a:gd name="T12" fmla="*/ 317 w 411"/>
                <a:gd name="T13" fmla="*/ 66 h 248"/>
                <a:gd name="T14" fmla="*/ 307 w 411"/>
                <a:gd name="T15" fmla="*/ 55 h 248"/>
                <a:gd name="T16" fmla="*/ 286 w 411"/>
                <a:gd name="T17" fmla="*/ 32 h 248"/>
                <a:gd name="T18" fmla="*/ 263 w 411"/>
                <a:gd name="T19" fmla="*/ 3 h 248"/>
                <a:gd name="T20" fmla="*/ 225 w 411"/>
                <a:gd name="T21" fmla="*/ 17 h 248"/>
                <a:gd name="T22" fmla="*/ 204 w 411"/>
                <a:gd name="T23" fmla="*/ 21 h 248"/>
                <a:gd name="T24" fmla="*/ 172 w 411"/>
                <a:gd name="T25" fmla="*/ 16 h 248"/>
                <a:gd name="T26" fmla="*/ 145 w 411"/>
                <a:gd name="T27" fmla="*/ 18 h 248"/>
                <a:gd name="T28" fmla="*/ 123 w 411"/>
                <a:gd name="T29" fmla="*/ 14 h 248"/>
                <a:gd name="T30" fmla="*/ 90 w 411"/>
                <a:gd name="T31" fmla="*/ 28 h 248"/>
                <a:gd name="T32" fmla="*/ 69 w 411"/>
                <a:gd name="T33" fmla="*/ 53 h 248"/>
                <a:gd name="T34" fmla="*/ 46 w 411"/>
                <a:gd name="T35" fmla="*/ 83 h 248"/>
                <a:gd name="T36" fmla="*/ 29 w 411"/>
                <a:gd name="T37" fmla="*/ 107 h 248"/>
                <a:gd name="T38" fmla="*/ 16 w 411"/>
                <a:gd name="T39" fmla="*/ 114 h 248"/>
                <a:gd name="T40" fmla="*/ 1 w 411"/>
                <a:gd name="T41" fmla="*/ 119 h 248"/>
                <a:gd name="T42" fmla="*/ 22 w 411"/>
                <a:gd name="T43" fmla="*/ 131 h 248"/>
                <a:gd name="T44" fmla="*/ 38 w 411"/>
                <a:gd name="T45" fmla="*/ 160 h 248"/>
                <a:gd name="T46" fmla="*/ 51 w 411"/>
                <a:gd name="T47" fmla="*/ 177 h 248"/>
                <a:gd name="T48" fmla="*/ 72 w 411"/>
                <a:gd name="T49" fmla="*/ 190 h 248"/>
                <a:gd name="T50" fmla="*/ 94 w 411"/>
                <a:gd name="T51" fmla="*/ 190 h 248"/>
                <a:gd name="T52" fmla="*/ 107 w 411"/>
                <a:gd name="T53" fmla="*/ 200 h 248"/>
                <a:gd name="T54" fmla="*/ 107 w 411"/>
                <a:gd name="T55" fmla="*/ 212 h 248"/>
                <a:gd name="T56" fmla="*/ 113 w 411"/>
                <a:gd name="T57" fmla="*/ 219 h 248"/>
                <a:gd name="T58" fmla="*/ 118 w 411"/>
                <a:gd name="T59" fmla="*/ 236 h 248"/>
                <a:gd name="T60" fmla="*/ 142 w 411"/>
                <a:gd name="T61" fmla="*/ 232 h 248"/>
                <a:gd name="T62" fmla="*/ 180 w 411"/>
                <a:gd name="T63" fmla="*/ 244 h 248"/>
                <a:gd name="T64" fmla="*/ 201 w 411"/>
                <a:gd name="T65" fmla="*/ 240 h 248"/>
                <a:gd name="T66" fmla="*/ 236 w 411"/>
                <a:gd name="T67" fmla="*/ 247 h 248"/>
                <a:gd name="T68" fmla="*/ 266 w 411"/>
                <a:gd name="T69" fmla="*/ 229 h 248"/>
                <a:gd name="T70" fmla="*/ 284 w 411"/>
                <a:gd name="T71" fmla="*/ 226 h 248"/>
                <a:gd name="T72" fmla="*/ 315 w 411"/>
                <a:gd name="T73" fmla="*/ 228 h 248"/>
                <a:gd name="T74" fmla="*/ 341 w 411"/>
                <a:gd name="T75" fmla="*/ 240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11" h="248">
                  <a:moveTo>
                    <a:pt x="341" y="240"/>
                  </a:moveTo>
                  <a:cubicBezTo>
                    <a:pt x="344" y="242"/>
                    <a:pt x="353" y="242"/>
                    <a:pt x="360" y="241"/>
                  </a:cubicBezTo>
                  <a:cubicBezTo>
                    <a:pt x="358" y="230"/>
                    <a:pt x="359" y="216"/>
                    <a:pt x="364" y="209"/>
                  </a:cubicBezTo>
                  <a:cubicBezTo>
                    <a:pt x="373" y="197"/>
                    <a:pt x="379" y="187"/>
                    <a:pt x="379" y="187"/>
                  </a:cubicBezTo>
                  <a:cubicBezTo>
                    <a:pt x="379" y="187"/>
                    <a:pt x="411" y="197"/>
                    <a:pt x="407" y="174"/>
                  </a:cubicBezTo>
                  <a:cubicBezTo>
                    <a:pt x="404" y="158"/>
                    <a:pt x="399" y="149"/>
                    <a:pt x="396" y="146"/>
                  </a:cubicBezTo>
                  <a:cubicBezTo>
                    <a:pt x="395" y="148"/>
                    <a:pt x="391" y="152"/>
                    <a:pt x="382" y="151"/>
                  </a:cubicBezTo>
                  <a:cubicBezTo>
                    <a:pt x="370" y="150"/>
                    <a:pt x="374" y="164"/>
                    <a:pt x="353" y="161"/>
                  </a:cubicBezTo>
                  <a:cubicBezTo>
                    <a:pt x="332" y="158"/>
                    <a:pt x="336" y="135"/>
                    <a:pt x="336" y="135"/>
                  </a:cubicBezTo>
                  <a:cubicBezTo>
                    <a:pt x="336" y="135"/>
                    <a:pt x="330" y="128"/>
                    <a:pt x="330" y="121"/>
                  </a:cubicBezTo>
                  <a:cubicBezTo>
                    <a:pt x="330" y="114"/>
                    <a:pt x="337" y="101"/>
                    <a:pt x="337" y="101"/>
                  </a:cubicBezTo>
                  <a:cubicBezTo>
                    <a:pt x="332" y="98"/>
                    <a:pt x="332" y="98"/>
                    <a:pt x="332" y="98"/>
                  </a:cubicBezTo>
                  <a:cubicBezTo>
                    <a:pt x="332" y="98"/>
                    <a:pt x="335" y="85"/>
                    <a:pt x="334" y="76"/>
                  </a:cubicBezTo>
                  <a:cubicBezTo>
                    <a:pt x="333" y="67"/>
                    <a:pt x="317" y="66"/>
                    <a:pt x="317" y="66"/>
                  </a:cubicBezTo>
                  <a:cubicBezTo>
                    <a:pt x="315" y="56"/>
                    <a:pt x="315" y="56"/>
                    <a:pt x="315" y="56"/>
                  </a:cubicBezTo>
                  <a:cubicBezTo>
                    <a:pt x="307" y="55"/>
                    <a:pt x="307" y="55"/>
                    <a:pt x="307" y="55"/>
                  </a:cubicBezTo>
                  <a:cubicBezTo>
                    <a:pt x="301" y="41"/>
                    <a:pt x="301" y="41"/>
                    <a:pt x="301" y="41"/>
                  </a:cubicBezTo>
                  <a:cubicBezTo>
                    <a:pt x="286" y="32"/>
                    <a:pt x="286" y="32"/>
                    <a:pt x="286" y="32"/>
                  </a:cubicBezTo>
                  <a:cubicBezTo>
                    <a:pt x="287" y="22"/>
                    <a:pt x="287" y="22"/>
                    <a:pt x="287" y="22"/>
                  </a:cubicBezTo>
                  <a:cubicBezTo>
                    <a:pt x="287" y="22"/>
                    <a:pt x="280" y="6"/>
                    <a:pt x="263" y="3"/>
                  </a:cubicBezTo>
                  <a:cubicBezTo>
                    <a:pt x="246" y="0"/>
                    <a:pt x="248" y="18"/>
                    <a:pt x="238" y="18"/>
                  </a:cubicBezTo>
                  <a:cubicBezTo>
                    <a:pt x="228" y="18"/>
                    <a:pt x="225" y="17"/>
                    <a:pt x="225" y="17"/>
                  </a:cubicBezTo>
                  <a:cubicBezTo>
                    <a:pt x="221" y="24"/>
                    <a:pt x="221" y="24"/>
                    <a:pt x="221" y="24"/>
                  </a:cubicBezTo>
                  <a:cubicBezTo>
                    <a:pt x="204" y="21"/>
                    <a:pt x="204" y="21"/>
                    <a:pt x="204" y="21"/>
                  </a:cubicBezTo>
                  <a:cubicBezTo>
                    <a:pt x="204" y="21"/>
                    <a:pt x="204" y="30"/>
                    <a:pt x="194" y="33"/>
                  </a:cubicBezTo>
                  <a:cubicBezTo>
                    <a:pt x="184" y="36"/>
                    <a:pt x="178" y="17"/>
                    <a:pt x="172" y="16"/>
                  </a:cubicBezTo>
                  <a:cubicBezTo>
                    <a:pt x="166" y="15"/>
                    <a:pt x="151" y="23"/>
                    <a:pt x="151" y="23"/>
                  </a:cubicBezTo>
                  <a:cubicBezTo>
                    <a:pt x="145" y="18"/>
                    <a:pt x="145" y="18"/>
                    <a:pt x="145" y="18"/>
                  </a:cubicBezTo>
                  <a:cubicBezTo>
                    <a:pt x="129" y="21"/>
                    <a:pt x="129" y="21"/>
                    <a:pt x="129" y="21"/>
                  </a:cubicBezTo>
                  <a:cubicBezTo>
                    <a:pt x="129" y="21"/>
                    <a:pt x="127" y="14"/>
                    <a:pt x="123" y="14"/>
                  </a:cubicBezTo>
                  <a:cubicBezTo>
                    <a:pt x="119" y="14"/>
                    <a:pt x="110" y="14"/>
                    <a:pt x="110" y="14"/>
                  </a:cubicBezTo>
                  <a:cubicBezTo>
                    <a:pt x="110" y="14"/>
                    <a:pt x="100" y="27"/>
                    <a:pt x="90" y="28"/>
                  </a:cubicBezTo>
                  <a:cubicBezTo>
                    <a:pt x="80" y="29"/>
                    <a:pt x="71" y="29"/>
                    <a:pt x="70" y="35"/>
                  </a:cubicBezTo>
                  <a:cubicBezTo>
                    <a:pt x="69" y="41"/>
                    <a:pt x="69" y="53"/>
                    <a:pt x="69" y="53"/>
                  </a:cubicBezTo>
                  <a:cubicBezTo>
                    <a:pt x="69" y="53"/>
                    <a:pt x="72" y="65"/>
                    <a:pt x="62" y="70"/>
                  </a:cubicBezTo>
                  <a:cubicBezTo>
                    <a:pt x="52" y="75"/>
                    <a:pt x="46" y="83"/>
                    <a:pt x="46" y="83"/>
                  </a:cubicBezTo>
                  <a:cubicBezTo>
                    <a:pt x="46" y="83"/>
                    <a:pt x="51" y="91"/>
                    <a:pt x="45" y="97"/>
                  </a:cubicBezTo>
                  <a:cubicBezTo>
                    <a:pt x="39" y="103"/>
                    <a:pt x="29" y="107"/>
                    <a:pt x="29" y="107"/>
                  </a:cubicBezTo>
                  <a:cubicBezTo>
                    <a:pt x="18" y="105"/>
                    <a:pt x="18" y="105"/>
                    <a:pt x="18" y="105"/>
                  </a:cubicBezTo>
                  <a:cubicBezTo>
                    <a:pt x="16" y="114"/>
                    <a:pt x="16" y="114"/>
                    <a:pt x="16" y="114"/>
                  </a:cubicBezTo>
                  <a:cubicBezTo>
                    <a:pt x="0" y="118"/>
                    <a:pt x="0" y="118"/>
                    <a:pt x="0" y="118"/>
                  </a:cubicBezTo>
                  <a:cubicBezTo>
                    <a:pt x="1" y="119"/>
                    <a:pt x="1" y="119"/>
                    <a:pt x="1" y="119"/>
                  </a:cubicBezTo>
                  <a:cubicBezTo>
                    <a:pt x="16" y="133"/>
                    <a:pt x="16" y="133"/>
                    <a:pt x="16" y="133"/>
                  </a:cubicBezTo>
                  <a:cubicBezTo>
                    <a:pt x="22" y="131"/>
                    <a:pt x="22" y="131"/>
                    <a:pt x="22" y="131"/>
                  </a:cubicBezTo>
                  <a:cubicBezTo>
                    <a:pt x="30" y="154"/>
                    <a:pt x="30" y="154"/>
                    <a:pt x="30" y="154"/>
                  </a:cubicBezTo>
                  <a:cubicBezTo>
                    <a:pt x="30" y="154"/>
                    <a:pt x="36" y="165"/>
                    <a:pt x="38" y="160"/>
                  </a:cubicBezTo>
                  <a:cubicBezTo>
                    <a:pt x="40" y="155"/>
                    <a:pt x="52" y="156"/>
                    <a:pt x="54" y="162"/>
                  </a:cubicBezTo>
                  <a:cubicBezTo>
                    <a:pt x="56" y="168"/>
                    <a:pt x="51" y="177"/>
                    <a:pt x="51" y="177"/>
                  </a:cubicBezTo>
                  <a:cubicBezTo>
                    <a:pt x="56" y="188"/>
                    <a:pt x="56" y="188"/>
                    <a:pt x="56" y="188"/>
                  </a:cubicBezTo>
                  <a:cubicBezTo>
                    <a:pt x="72" y="190"/>
                    <a:pt x="72" y="190"/>
                    <a:pt x="72" y="190"/>
                  </a:cubicBezTo>
                  <a:cubicBezTo>
                    <a:pt x="78" y="197"/>
                    <a:pt x="78" y="197"/>
                    <a:pt x="78" y="197"/>
                  </a:cubicBezTo>
                  <a:cubicBezTo>
                    <a:pt x="94" y="190"/>
                    <a:pt x="94" y="190"/>
                    <a:pt x="94" y="190"/>
                  </a:cubicBezTo>
                  <a:cubicBezTo>
                    <a:pt x="110" y="194"/>
                    <a:pt x="110" y="194"/>
                    <a:pt x="110" y="194"/>
                  </a:cubicBezTo>
                  <a:cubicBezTo>
                    <a:pt x="107" y="200"/>
                    <a:pt x="107" y="200"/>
                    <a:pt x="107" y="200"/>
                  </a:cubicBezTo>
                  <a:cubicBezTo>
                    <a:pt x="100" y="208"/>
                    <a:pt x="100" y="208"/>
                    <a:pt x="100" y="208"/>
                  </a:cubicBezTo>
                  <a:cubicBezTo>
                    <a:pt x="107" y="212"/>
                    <a:pt x="107" y="212"/>
                    <a:pt x="107" y="212"/>
                  </a:cubicBezTo>
                  <a:cubicBezTo>
                    <a:pt x="106" y="218"/>
                    <a:pt x="106" y="218"/>
                    <a:pt x="106" y="218"/>
                  </a:cubicBezTo>
                  <a:cubicBezTo>
                    <a:pt x="113" y="219"/>
                    <a:pt x="113" y="219"/>
                    <a:pt x="113" y="219"/>
                  </a:cubicBezTo>
                  <a:cubicBezTo>
                    <a:pt x="113" y="219"/>
                    <a:pt x="123" y="219"/>
                    <a:pt x="125" y="223"/>
                  </a:cubicBezTo>
                  <a:cubicBezTo>
                    <a:pt x="127" y="227"/>
                    <a:pt x="118" y="232"/>
                    <a:pt x="118" y="236"/>
                  </a:cubicBezTo>
                  <a:cubicBezTo>
                    <a:pt x="118" y="240"/>
                    <a:pt x="135" y="239"/>
                    <a:pt x="135" y="239"/>
                  </a:cubicBezTo>
                  <a:cubicBezTo>
                    <a:pt x="142" y="232"/>
                    <a:pt x="142" y="232"/>
                    <a:pt x="142" y="232"/>
                  </a:cubicBezTo>
                  <a:cubicBezTo>
                    <a:pt x="158" y="239"/>
                    <a:pt x="158" y="239"/>
                    <a:pt x="158" y="239"/>
                  </a:cubicBezTo>
                  <a:cubicBezTo>
                    <a:pt x="158" y="239"/>
                    <a:pt x="167" y="244"/>
                    <a:pt x="180" y="244"/>
                  </a:cubicBezTo>
                  <a:cubicBezTo>
                    <a:pt x="193" y="244"/>
                    <a:pt x="188" y="235"/>
                    <a:pt x="188" y="235"/>
                  </a:cubicBezTo>
                  <a:cubicBezTo>
                    <a:pt x="201" y="240"/>
                    <a:pt x="201" y="240"/>
                    <a:pt x="201" y="240"/>
                  </a:cubicBezTo>
                  <a:cubicBezTo>
                    <a:pt x="214" y="241"/>
                    <a:pt x="214" y="241"/>
                    <a:pt x="214" y="241"/>
                  </a:cubicBezTo>
                  <a:cubicBezTo>
                    <a:pt x="214" y="241"/>
                    <a:pt x="225" y="246"/>
                    <a:pt x="236" y="247"/>
                  </a:cubicBezTo>
                  <a:cubicBezTo>
                    <a:pt x="247" y="248"/>
                    <a:pt x="246" y="232"/>
                    <a:pt x="253" y="230"/>
                  </a:cubicBezTo>
                  <a:cubicBezTo>
                    <a:pt x="260" y="228"/>
                    <a:pt x="266" y="229"/>
                    <a:pt x="266" y="229"/>
                  </a:cubicBezTo>
                  <a:cubicBezTo>
                    <a:pt x="265" y="224"/>
                    <a:pt x="265" y="224"/>
                    <a:pt x="265" y="224"/>
                  </a:cubicBezTo>
                  <a:cubicBezTo>
                    <a:pt x="284" y="226"/>
                    <a:pt x="284" y="226"/>
                    <a:pt x="284" y="226"/>
                  </a:cubicBezTo>
                  <a:cubicBezTo>
                    <a:pt x="284" y="226"/>
                    <a:pt x="281" y="220"/>
                    <a:pt x="290" y="220"/>
                  </a:cubicBezTo>
                  <a:cubicBezTo>
                    <a:pt x="299" y="220"/>
                    <a:pt x="306" y="228"/>
                    <a:pt x="315" y="228"/>
                  </a:cubicBezTo>
                  <a:cubicBezTo>
                    <a:pt x="324" y="228"/>
                    <a:pt x="333" y="230"/>
                    <a:pt x="333" y="230"/>
                  </a:cubicBezTo>
                  <a:cubicBezTo>
                    <a:pt x="333" y="230"/>
                    <a:pt x="336" y="237"/>
                    <a:pt x="341" y="240"/>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458" name="Freeform 250">
              <a:extLst>
                <a:ext uri="{FF2B5EF4-FFF2-40B4-BE49-F238E27FC236}">
                  <a16:creationId xmlns:a16="http://schemas.microsoft.com/office/drawing/2014/main" id="{264EA2CB-3B5B-4D68-801F-3D72899C5D08}"/>
                </a:ext>
              </a:extLst>
            </p:cNvPr>
            <p:cNvSpPr>
              <a:spLocks/>
            </p:cNvSpPr>
            <p:nvPr/>
          </p:nvSpPr>
          <p:spPr bwMode="gray">
            <a:xfrm>
              <a:off x="5237498" y="1131292"/>
              <a:ext cx="117444" cy="98007"/>
            </a:xfrm>
            <a:custGeom>
              <a:avLst/>
              <a:gdLst>
                <a:gd name="T0" fmla="*/ 162 w 173"/>
                <a:gd name="T1" fmla="*/ 51 h 153"/>
                <a:gd name="T2" fmla="*/ 151 w 173"/>
                <a:gd name="T3" fmla="*/ 52 h 153"/>
                <a:gd name="T4" fmla="*/ 151 w 173"/>
                <a:gd name="T5" fmla="*/ 41 h 153"/>
                <a:gd name="T6" fmla="*/ 163 w 173"/>
                <a:gd name="T7" fmla="*/ 22 h 153"/>
                <a:gd name="T8" fmla="*/ 144 w 173"/>
                <a:gd name="T9" fmla="*/ 23 h 153"/>
                <a:gd name="T10" fmla="*/ 141 w 173"/>
                <a:gd name="T11" fmla="*/ 18 h 153"/>
                <a:gd name="T12" fmla="*/ 136 w 173"/>
                <a:gd name="T13" fmla="*/ 19 h 153"/>
                <a:gd name="T14" fmla="*/ 126 w 173"/>
                <a:gd name="T15" fmla="*/ 8 h 153"/>
                <a:gd name="T16" fmla="*/ 109 w 173"/>
                <a:gd name="T17" fmla="*/ 7 h 153"/>
                <a:gd name="T18" fmla="*/ 93 w 173"/>
                <a:gd name="T19" fmla="*/ 8 h 153"/>
                <a:gd name="T20" fmla="*/ 80 w 173"/>
                <a:gd name="T21" fmla="*/ 5 h 153"/>
                <a:gd name="T22" fmla="*/ 71 w 173"/>
                <a:gd name="T23" fmla="*/ 9 h 153"/>
                <a:gd name="T24" fmla="*/ 58 w 173"/>
                <a:gd name="T25" fmla="*/ 2 h 153"/>
                <a:gd name="T26" fmla="*/ 43 w 173"/>
                <a:gd name="T27" fmla="*/ 4 h 153"/>
                <a:gd name="T28" fmla="*/ 28 w 173"/>
                <a:gd name="T29" fmla="*/ 8 h 153"/>
                <a:gd name="T30" fmla="*/ 12 w 173"/>
                <a:gd name="T31" fmla="*/ 1 h 153"/>
                <a:gd name="T32" fmla="*/ 9 w 173"/>
                <a:gd name="T33" fmla="*/ 15 h 153"/>
                <a:gd name="T34" fmla="*/ 0 w 173"/>
                <a:gd name="T35" fmla="*/ 20 h 153"/>
                <a:gd name="T36" fmla="*/ 7 w 173"/>
                <a:gd name="T37" fmla="*/ 27 h 153"/>
                <a:gd name="T38" fmla="*/ 19 w 173"/>
                <a:gd name="T39" fmla="*/ 30 h 153"/>
                <a:gd name="T40" fmla="*/ 18 w 173"/>
                <a:gd name="T41" fmla="*/ 39 h 153"/>
                <a:gd name="T42" fmla="*/ 26 w 173"/>
                <a:gd name="T43" fmla="*/ 43 h 153"/>
                <a:gd name="T44" fmla="*/ 26 w 173"/>
                <a:gd name="T45" fmla="*/ 57 h 153"/>
                <a:gd name="T46" fmla="*/ 37 w 173"/>
                <a:gd name="T47" fmla="*/ 60 h 153"/>
                <a:gd name="T48" fmla="*/ 47 w 173"/>
                <a:gd name="T49" fmla="*/ 80 h 153"/>
                <a:gd name="T50" fmla="*/ 75 w 173"/>
                <a:gd name="T51" fmla="*/ 99 h 153"/>
                <a:gd name="T52" fmla="*/ 81 w 173"/>
                <a:gd name="T53" fmla="*/ 120 h 153"/>
                <a:gd name="T54" fmla="*/ 89 w 173"/>
                <a:gd name="T55" fmla="*/ 121 h 153"/>
                <a:gd name="T56" fmla="*/ 125 w 173"/>
                <a:gd name="T57" fmla="*/ 153 h 153"/>
                <a:gd name="T58" fmla="*/ 138 w 173"/>
                <a:gd name="T59" fmla="*/ 137 h 153"/>
                <a:gd name="T60" fmla="*/ 124 w 173"/>
                <a:gd name="T61" fmla="*/ 128 h 153"/>
                <a:gd name="T62" fmla="*/ 125 w 173"/>
                <a:gd name="T63" fmla="*/ 118 h 153"/>
                <a:gd name="T64" fmla="*/ 130 w 173"/>
                <a:gd name="T65" fmla="*/ 118 h 153"/>
                <a:gd name="T66" fmla="*/ 139 w 173"/>
                <a:gd name="T67" fmla="*/ 103 h 153"/>
                <a:gd name="T68" fmla="*/ 150 w 173"/>
                <a:gd name="T69" fmla="*/ 104 h 153"/>
                <a:gd name="T70" fmla="*/ 150 w 173"/>
                <a:gd name="T71" fmla="*/ 89 h 153"/>
                <a:gd name="T72" fmla="*/ 171 w 173"/>
                <a:gd name="T73" fmla="*/ 86 h 153"/>
                <a:gd name="T74" fmla="*/ 159 w 173"/>
                <a:gd name="T75" fmla="*/ 66 h 153"/>
                <a:gd name="T76" fmla="*/ 173 w 173"/>
                <a:gd name="T77" fmla="*/ 64 h 153"/>
                <a:gd name="T78" fmla="*/ 162 w 173"/>
                <a:gd name="T79" fmla="*/ 5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73" h="153">
                  <a:moveTo>
                    <a:pt x="162" y="51"/>
                  </a:moveTo>
                  <a:cubicBezTo>
                    <a:pt x="155" y="49"/>
                    <a:pt x="151" y="52"/>
                    <a:pt x="151" y="52"/>
                  </a:cubicBezTo>
                  <a:cubicBezTo>
                    <a:pt x="151" y="41"/>
                    <a:pt x="151" y="41"/>
                    <a:pt x="151" y="41"/>
                  </a:cubicBezTo>
                  <a:cubicBezTo>
                    <a:pt x="151" y="41"/>
                    <a:pt x="163" y="27"/>
                    <a:pt x="163" y="22"/>
                  </a:cubicBezTo>
                  <a:cubicBezTo>
                    <a:pt x="163" y="17"/>
                    <a:pt x="144" y="23"/>
                    <a:pt x="144" y="23"/>
                  </a:cubicBezTo>
                  <a:cubicBezTo>
                    <a:pt x="141" y="18"/>
                    <a:pt x="141" y="18"/>
                    <a:pt x="141" y="18"/>
                  </a:cubicBezTo>
                  <a:cubicBezTo>
                    <a:pt x="136" y="19"/>
                    <a:pt x="136" y="19"/>
                    <a:pt x="136" y="19"/>
                  </a:cubicBezTo>
                  <a:cubicBezTo>
                    <a:pt x="126" y="8"/>
                    <a:pt x="126" y="8"/>
                    <a:pt x="126" y="8"/>
                  </a:cubicBezTo>
                  <a:cubicBezTo>
                    <a:pt x="126" y="8"/>
                    <a:pt x="115" y="8"/>
                    <a:pt x="109" y="7"/>
                  </a:cubicBezTo>
                  <a:cubicBezTo>
                    <a:pt x="103" y="6"/>
                    <a:pt x="96" y="8"/>
                    <a:pt x="93" y="8"/>
                  </a:cubicBezTo>
                  <a:cubicBezTo>
                    <a:pt x="90" y="8"/>
                    <a:pt x="80" y="5"/>
                    <a:pt x="80" y="5"/>
                  </a:cubicBezTo>
                  <a:cubicBezTo>
                    <a:pt x="71" y="9"/>
                    <a:pt x="71" y="9"/>
                    <a:pt x="71" y="9"/>
                  </a:cubicBezTo>
                  <a:cubicBezTo>
                    <a:pt x="58" y="2"/>
                    <a:pt x="58" y="2"/>
                    <a:pt x="58" y="2"/>
                  </a:cubicBezTo>
                  <a:cubicBezTo>
                    <a:pt x="43" y="4"/>
                    <a:pt x="43" y="4"/>
                    <a:pt x="43" y="4"/>
                  </a:cubicBezTo>
                  <a:cubicBezTo>
                    <a:pt x="28" y="8"/>
                    <a:pt x="28" y="8"/>
                    <a:pt x="28" y="8"/>
                  </a:cubicBezTo>
                  <a:cubicBezTo>
                    <a:pt x="28" y="8"/>
                    <a:pt x="16" y="0"/>
                    <a:pt x="12" y="1"/>
                  </a:cubicBezTo>
                  <a:cubicBezTo>
                    <a:pt x="8" y="2"/>
                    <a:pt x="9" y="15"/>
                    <a:pt x="9" y="15"/>
                  </a:cubicBezTo>
                  <a:cubicBezTo>
                    <a:pt x="0" y="20"/>
                    <a:pt x="0" y="20"/>
                    <a:pt x="0" y="20"/>
                  </a:cubicBezTo>
                  <a:cubicBezTo>
                    <a:pt x="7" y="27"/>
                    <a:pt x="7" y="27"/>
                    <a:pt x="7" y="27"/>
                  </a:cubicBezTo>
                  <a:cubicBezTo>
                    <a:pt x="19" y="30"/>
                    <a:pt x="19" y="30"/>
                    <a:pt x="19" y="30"/>
                  </a:cubicBezTo>
                  <a:cubicBezTo>
                    <a:pt x="18" y="39"/>
                    <a:pt x="18" y="39"/>
                    <a:pt x="18" y="39"/>
                  </a:cubicBezTo>
                  <a:cubicBezTo>
                    <a:pt x="18" y="39"/>
                    <a:pt x="23" y="39"/>
                    <a:pt x="26" y="43"/>
                  </a:cubicBezTo>
                  <a:cubicBezTo>
                    <a:pt x="29" y="47"/>
                    <a:pt x="26" y="57"/>
                    <a:pt x="26" y="57"/>
                  </a:cubicBezTo>
                  <a:cubicBezTo>
                    <a:pt x="37" y="60"/>
                    <a:pt x="37" y="60"/>
                    <a:pt x="37" y="60"/>
                  </a:cubicBezTo>
                  <a:cubicBezTo>
                    <a:pt x="47" y="80"/>
                    <a:pt x="47" y="80"/>
                    <a:pt x="47" y="80"/>
                  </a:cubicBezTo>
                  <a:cubicBezTo>
                    <a:pt x="47" y="80"/>
                    <a:pt x="51" y="84"/>
                    <a:pt x="75" y="99"/>
                  </a:cubicBezTo>
                  <a:cubicBezTo>
                    <a:pt x="90" y="108"/>
                    <a:pt x="86" y="116"/>
                    <a:pt x="81" y="120"/>
                  </a:cubicBezTo>
                  <a:cubicBezTo>
                    <a:pt x="89" y="121"/>
                    <a:pt x="89" y="121"/>
                    <a:pt x="89" y="121"/>
                  </a:cubicBezTo>
                  <a:cubicBezTo>
                    <a:pt x="89" y="121"/>
                    <a:pt x="116" y="148"/>
                    <a:pt x="125" y="153"/>
                  </a:cubicBezTo>
                  <a:cubicBezTo>
                    <a:pt x="138" y="137"/>
                    <a:pt x="138" y="137"/>
                    <a:pt x="138" y="137"/>
                  </a:cubicBezTo>
                  <a:cubicBezTo>
                    <a:pt x="138" y="137"/>
                    <a:pt x="127" y="131"/>
                    <a:pt x="124" y="128"/>
                  </a:cubicBezTo>
                  <a:cubicBezTo>
                    <a:pt x="121" y="125"/>
                    <a:pt x="125" y="118"/>
                    <a:pt x="125" y="118"/>
                  </a:cubicBezTo>
                  <a:cubicBezTo>
                    <a:pt x="130" y="118"/>
                    <a:pt x="130" y="118"/>
                    <a:pt x="130" y="118"/>
                  </a:cubicBezTo>
                  <a:cubicBezTo>
                    <a:pt x="130" y="118"/>
                    <a:pt x="136" y="107"/>
                    <a:pt x="139" y="103"/>
                  </a:cubicBezTo>
                  <a:cubicBezTo>
                    <a:pt x="142" y="99"/>
                    <a:pt x="150" y="104"/>
                    <a:pt x="150" y="104"/>
                  </a:cubicBezTo>
                  <a:cubicBezTo>
                    <a:pt x="150" y="89"/>
                    <a:pt x="150" y="89"/>
                    <a:pt x="150" y="89"/>
                  </a:cubicBezTo>
                  <a:cubicBezTo>
                    <a:pt x="150" y="89"/>
                    <a:pt x="169" y="93"/>
                    <a:pt x="171" y="86"/>
                  </a:cubicBezTo>
                  <a:cubicBezTo>
                    <a:pt x="173" y="79"/>
                    <a:pt x="159" y="66"/>
                    <a:pt x="159" y="66"/>
                  </a:cubicBezTo>
                  <a:cubicBezTo>
                    <a:pt x="173" y="64"/>
                    <a:pt x="173" y="64"/>
                    <a:pt x="173" y="64"/>
                  </a:cubicBezTo>
                  <a:cubicBezTo>
                    <a:pt x="173" y="64"/>
                    <a:pt x="169" y="53"/>
                    <a:pt x="162" y="51"/>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459" name="Freeform 251">
              <a:extLst>
                <a:ext uri="{FF2B5EF4-FFF2-40B4-BE49-F238E27FC236}">
                  <a16:creationId xmlns:a16="http://schemas.microsoft.com/office/drawing/2014/main" id="{98C3A23E-0DF8-47E2-887E-F2568DB98429}"/>
                </a:ext>
              </a:extLst>
            </p:cNvPr>
            <p:cNvSpPr>
              <a:spLocks/>
            </p:cNvSpPr>
            <p:nvPr/>
          </p:nvSpPr>
          <p:spPr bwMode="gray">
            <a:xfrm>
              <a:off x="5180641" y="1088940"/>
              <a:ext cx="166834" cy="119183"/>
            </a:xfrm>
            <a:custGeom>
              <a:avLst/>
              <a:gdLst>
                <a:gd name="T0" fmla="*/ 232 w 246"/>
                <a:gd name="T1" fmla="*/ 77 h 186"/>
                <a:gd name="T2" fmla="*/ 228 w 246"/>
                <a:gd name="T3" fmla="*/ 65 h 186"/>
                <a:gd name="T4" fmla="*/ 226 w 246"/>
                <a:gd name="T5" fmla="*/ 52 h 186"/>
                <a:gd name="T6" fmla="*/ 217 w 246"/>
                <a:gd name="T7" fmla="*/ 32 h 186"/>
                <a:gd name="T8" fmla="*/ 183 w 246"/>
                <a:gd name="T9" fmla="*/ 41 h 186"/>
                <a:gd name="T10" fmla="*/ 168 w 246"/>
                <a:gd name="T11" fmla="*/ 34 h 186"/>
                <a:gd name="T12" fmla="*/ 139 w 246"/>
                <a:gd name="T13" fmla="*/ 13 h 186"/>
                <a:gd name="T14" fmla="*/ 112 w 246"/>
                <a:gd name="T15" fmla="*/ 2 h 186"/>
                <a:gd name="T16" fmla="*/ 93 w 246"/>
                <a:gd name="T17" fmla="*/ 14 h 186"/>
                <a:gd name="T18" fmla="*/ 87 w 246"/>
                <a:gd name="T19" fmla="*/ 31 h 186"/>
                <a:gd name="T20" fmla="*/ 70 w 246"/>
                <a:gd name="T21" fmla="*/ 40 h 186"/>
                <a:gd name="T22" fmla="*/ 59 w 246"/>
                <a:gd name="T23" fmla="*/ 53 h 186"/>
                <a:gd name="T24" fmla="*/ 40 w 246"/>
                <a:gd name="T25" fmla="*/ 45 h 186"/>
                <a:gd name="T26" fmla="*/ 22 w 246"/>
                <a:gd name="T27" fmla="*/ 54 h 186"/>
                <a:gd name="T28" fmla="*/ 14 w 246"/>
                <a:gd name="T29" fmla="*/ 57 h 186"/>
                <a:gd name="T30" fmla="*/ 1 w 246"/>
                <a:gd name="T31" fmla="*/ 67 h 186"/>
                <a:gd name="T32" fmla="*/ 31 w 246"/>
                <a:gd name="T33" fmla="*/ 70 h 186"/>
                <a:gd name="T34" fmla="*/ 54 w 246"/>
                <a:gd name="T35" fmla="*/ 87 h 186"/>
                <a:gd name="T36" fmla="*/ 68 w 246"/>
                <a:gd name="T37" fmla="*/ 123 h 186"/>
                <a:gd name="T38" fmla="*/ 98 w 246"/>
                <a:gd name="T39" fmla="*/ 161 h 186"/>
                <a:gd name="T40" fmla="*/ 146 w 246"/>
                <a:gd name="T41" fmla="*/ 171 h 186"/>
                <a:gd name="T42" fmla="*/ 165 w 246"/>
                <a:gd name="T43" fmla="*/ 186 h 186"/>
                <a:gd name="T44" fmla="*/ 131 w 246"/>
                <a:gd name="T45" fmla="*/ 146 h 186"/>
                <a:gd name="T46" fmla="*/ 110 w 246"/>
                <a:gd name="T47" fmla="*/ 123 h 186"/>
                <a:gd name="T48" fmla="*/ 102 w 246"/>
                <a:gd name="T49" fmla="*/ 105 h 186"/>
                <a:gd name="T50" fmla="*/ 91 w 246"/>
                <a:gd name="T51" fmla="*/ 93 h 186"/>
                <a:gd name="T52" fmla="*/ 93 w 246"/>
                <a:gd name="T53" fmla="*/ 81 h 186"/>
                <a:gd name="T54" fmla="*/ 112 w 246"/>
                <a:gd name="T55" fmla="*/ 74 h 186"/>
                <a:gd name="T56" fmla="*/ 142 w 246"/>
                <a:gd name="T57" fmla="*/ 68 h 186"/>
                <a:gd name="T58" fmla="*/ 164 w 246"/>
                <a:gd name="T59" fmla="*/ 71 h 186"/>
                <a:gd name="T60" fmla="*/ 193 w 246"/>
                <a:gd name="T61" fmla="*/ 73 h 186"/>
                <a:gd name="T62" fmla="*/ 220 w 246"/>
                <a:gd name="T63" fmla="*/ 85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46" h="186">
                  <a:moveTo>
                    <a:pt x="230" y="84"/>
                  </a:moveTo>
                  <a:cubicBezTo>
                    <a:pt x="232" y="77"/>
                    <a:pt x="232" y="77"/>
                    <a:pt x="232" y="77"/>
                  </a:cubicBezTo>
                  <a:cubicBezTo>
                    <a:pt x="232" y="77"/>
                    <a:pt x="246" y="74"/>
                    <a:pt x="245" y="71"/>
                  </a:cubicBezTo>
                  <a:cubicBezTo>
                    <a:pt x="244" y="68"/>
                    <a:pt x="228" y="65"/>
                    <a:pt x="228" y="65"/>
                  </a:cubicBezTo>
                  <a:cubicBezTo>
                    <a:pt x="231" y="53"/>
                    <a:pt x="231" y="53"/>
                    <a:pt x="231" y="53"/>
                  </a:cubicBezTo>
                  <a:cubicBezTo>
                    <a:pt x="226" y="52"/>
                    <a:pt x="226" y="52"/>
                    <a:pt x="226" y="52"/>
                  </a:cubicBezTo>
                  <a:cubicBezTo>
                    <a:pt x="222" y="34"/>
                    <a:pt x="222" y="34"/>
                    <a:pt x="222" y="34"/>
                  </a:cubicBezTo>
                  <a:cubicBezTo>
                    <a:pt x="217" y="32"/>
                    <a:pt x="217" y="32"/>
                    <a:pt x="217" y="32"/>
                  </a:cubicBezTo>
                  <a:cubicBezTo>
                    <a:pt x="211" y="38"/>
                    <a:pt x="211" y="38"/>
                    <a:pt x="211" y="38"/>
                  </a:cubicBezTo>
                  <a:cubicBezTo>
                    <a:pt x="183" y="41"/>
                    <a:pt x="183" y="41"/>
                    <a:pt x="183" y="41"/>
                  </a:cubicBezTo>
                  <a:cubicBezTo>
                    <a:pt x="180" y="34"/>
                    <a:pt x="180" y="34"/>
                    <a:pt x="180" y="34"/>
                  </a:cubicBezTo>
                  <a:cubicBezTo>
                    <a:pt x="168" y="34"/>
                    <a:pt x="168" y="34"/>
                    <a:pt x="168" y="34"/>
                  </a:cubicBezTo>
                  <a:cubicBezTo>
                    <a:pt x="159" y="30"/>
                    <a:pt x="159" y="30"/>
                    <a:pt x="159" y="30"/>
                  </a:cubicBezTo>
                  <a:cubicBezTo>
                    <a:pt x="159" y="30"/>
                    <a:pt x="141" y="16"/>
                    <a:pt x="139" y="13"/>
                  </a:cubicBezTo>
                  <a:cubicBezTo>
                    <a:pt x="137" y="10"/>
                    <a:pt x="125" y="0"/>
                    <a:pt x="125" y="0"/>
                  </a:cubicBezTo>
                  <a:cubicBezTo>
                    <a:pt x="112" y="2"/>
                    <a:pt x="112" y="2"/>
                    <a:pt x="112" y="2"/>
                  </a:cubicBezTo>
                  <a:cubicBezTo>
                    <a:pt x="112" y="2"/>
                    <a:pt x="115" y="6"/>
                    <a:pt x="109" y="10"/>
                  </a:cubicBezTo>
                  <a:cubicBezTo>
                    <a:pt x="103" y="14"/>
                    <a:pt x="93" y="14"/>
                    <a:pt x="93" y="14"/>
                  </a:cubicBezTo>
                  <a:cubicBezTo>
                    <a:pt x="93" y="14"/>
                    <a:pt x="84" y="14"/>
                    <a:pt x="84" y="18"/>
                  </a:cubicBezTo>
                  <a:cubicBezTo>
                    <a:pt x="84" y="22"/>
                    <a:pt x="87" y="31"/>
                    <a:pt x="87" y="31"/>
                  </a:cubicBezTo>
                  <a:cubicBezTo>
                    <a:pt x="80" y="39"/>
                    <a:pt x="80" y="39"/>
                    <a:pt x="80" y="39"/>
                  </a:cubicBezTo>
                  <a:cubicBezTo>
                    <a:pt x="70" y="40"/>
                    <a:pt x="70" y="40"/>
                    <a:pt x="70" y="40"/>
                  </a:cubicBezTo>
                  <a:cubicBezTo>
                    <a:pt x="70" y="40"/>
                    <a:pt x="74" y="51"/>
                    <a:pt x="69" y="53"/>
                  </a:cubicBezTo>
                  <a:cubicBezTo>
                    <a:pt x="64" y="55"/>
                    <a:pt x="59" y="53"/>
                    <a:pt x="59" y="53"/>
                  </a:cubicBezTo>
                  <a:cubicBezTo>
                    <a:pt x="59" y="53"/>
                    <a:pt x="52" y="54"/>
                    <a:pt x="46" y="53"/>
                  </a:cubicBezTo>
                  <a:cubicBezTo>
                    <a:pt x="40" y="52"/>
                    <a:pt x="40" y="45"/>
                    <a:pt x="40" y="45"/>
                  </a:cubicBezTo>
                  <a:cubicBezTo>
                    <a:pt x="34" y="53"/>
                    <a:pt x="34" y="53"/>
                    <a:pt x="34" y="53"/>
                  </a:cubicBezTo>
                  <a:cubicBezTo>
                    <a:pt x="22" y="54"/>
                    <a:pt x="22" y="54"/>
                    <a:pt x="22" y="54"/>
                  </a:cubicBezTo>
                  <a:cubicBezTo>
                    <a:pt x="16" y="48"/>
                    <a:pt x="16" y="48"/>
                    <a:pt x="16" y="48"/>
                  </a:cubicBezTo>
                  <a:cubicBezTo>
                    <a:pt x="14" y="57"/>
                    <a:pt x="14" y="57"/>
                    <a:pt x="14" y="57"/>
                  </a:cubicBezTo>
                  <a:cubicBezTo>
                    <a:pt x="5" y="58"/>
                    <a:pt x="5" y="58"/>
                    <a:pt x="5" y="58"/>
                  </a:cubicBezTo>
                  <a:cubicBezTo>
                    <a:pt x="3" y="62"/>
                    <a:pt x="1" y="67"/>
                    <a:pt x="1" y="67"/>
                  </a:cubicBezTo>
                  <a:cubicBezTo>
                    <a:pt x="1" y="67"/>
                    <a:pt x="0" y="97"/>
                    <a:pt x="8" y="88"/>
                  </a:cubicBezTo>
                  <a:cubicBezTo>
                    <a:pt x="16" y="79"/>
                    <a:pt x="27" y="64"/>
                    <a:pt x="31" y="70"/>
                  </a:cubicBezTo>
                  <a:cubicBezTo>
                    <a:pt x="35" y="76"/>
                    <a:pt x="35" y="91"/>
                    <a:pt x="35" y="91"/>
                  </a:cubicBezTo>
                  <a:cubicBezTo>
                    <a:pt x="54" y="87"/>
                    <a:pt x="54" y="87"/>
                    <a:pt x="54" y="87"/>
                  </a:cubicBezTo>
                  <a:cubicBezTo>
                    <a:pt x="54" y="87"/>
                    <a:pt x="48" y="107"/>
                    <a:pt x="60" y="111"/>
                  </a:cubicBezTo>
                  <a:cubicBezTo>
                    <a:pt x="72" y="115"/>
                    <a:pt x="68" y="123"/>
                    <a:pt x="68" y="123"/>
                  </a:cubicBezTo>
                  <a:cubicBezTo>
                    <a:pt x="97" y="144"/>
                    <a:pt x="97" y="144"/>
                    <a:pt x="97" y="144"/>
                  </a:cubicBezTo>
                  <a:cubicBezTo>
                    <a:pt x="98" y="161"/>
                    <a:pt x="98" y="161"/>
                    <a:pt x="98" y="161"/>
                  </a:cubicBezTo>
                  <a:cubicBezTo>
                    <a:pt x="125" y="162"/>
                    <a:pt x="125" y="162"/>
                    <a:pt x="125" y="162"/>
                  </a:cubicBezTo>
                  <a:cubicBezTo>
                    <a:pt x="125" y="162"/>
                    <a:pt x="142" y="163"/>
                    <a:pt x="146" y="171"/>
                  </a:cubicBezTo>
                  <a:cubicBezTo>
                    <a:pt x="146" y="171"/>
                    <a:pt x="142" y="180"/>
                    <a:pt x="148" y="184"/>
                  </a:cubicBezTo>
                  <a:cubicBezTo>
                    <a:pt x="165" y="186"/>
                    <a:pt x="165" y="186"/>
                    <a:pt x="165" y="186"/>
                  </a:cubicBezTo>
                  <a:cubicBezTo>
                    <a:pt x="170" y="182"/>
                    <a:pt x="174" y="174"/>
                    <a:pt x="159" y="165"/>
                  </a:cubicBezTo>
                  <a:cubicBezTo>
                    <a:pt x="135" y="150"/>
                    <a:pt x="131" y="146"/>
                    <a:pt x="131" y="146"/>
                  </a:cubicBezTo>
                  <a:cubicBezTo>
                    <a:pt x="121" y="126"/>
                    <a:pt x="121" y="126"/>
                    <a:pt x="121" y="126"/>
                  </a:cubicBezTo>
                  <a:cubicBezTo>
                    <a:pt x="110" y="123"/>
                    <a:pt x="110" y="123"/>
                    <a:pt x="110" y="123"/>
                  </a:cubicBezTo>
                  <a:cubicBezTo>
                    <a:pt x="110" y="123"/>
                    <a:pt x="113" y="113"/>
                    <a:pt x="110" y="109"/>
                  </a:cubicBezTo>
                  <a:cubicBezTo>
                    <a:pt x="107" y="105"/>
                    <a:pt x="102" y="105"/>
                    <a:pt x="102" y="105"/>
                  </a:cubicBezTo>
                  <a:cubicBezTo>
                    <a:pt x="103" y="96"/>
                    <a:pt x="103" y="96"/>
                    <a:pt x="103" y="96"/>
                  </a:cubicBezTo>
                  <a:cubicBezTo>
                    <a:pt x="91" y="93"/>
                    <a:pt x="91" y="93"/>
                    <a:pt x="91" y="93"/>
                  </a:cubicBezTo>
                  <a:cubicBezTo>
                    <a:pt x="84" y="86"/>
                    <a:pt x="84" y="86"/>
                    <a:pt x="84" y="86"/>
                  </a:cubicBezTo>
                  <a:cubicBezTo>
                    <a:pt x="93" y="81"/>
                    <a:pt x="93" y="81"/>
                    <a:pt x="93" y="81"/>
                  </a:cubicBezTo>
                  <a:cubicBezTo>
                    <a:pt x="93" y="81"/>
                    <a:pt x="92" y="68"/>
                    <a:pt x="96" y="67"/>
                  </a:cubicBezTo>
                  <a:cubicBezTo>
                    <a:pt x="100" y="66"/>
                    <a:pt x="112" y="74"/>
                    <a:pt x="112" y="74"/>
                  </a:cubicBezTo>
                  <a:cubicBezTo>
                    <a:pt x="127" y="70"/>
                    <a:pt x="127" y="70"/>
                    <a:pt x="127" y="70"/>
                  </a:cubicBezTo>
                  <a:cubicBezTo>
                    <a:pt x="142" y="68"/>
                    <a:pt x="142" y="68"/>
                    <a:pt x="142" y="68"/>
                  </a:cubicBezTo>
                  <a:cubicBezTo>
                    <a:pt x="155" y="75"/>
                    <a:pt x="155" y="75"/>
                    <a:pt x="155" y="75"/>
                  </a:cubicBezTo>
                  <a:cubicBezTo>
                    <a:pt x="164" y="71"/>
                    <a:pt x="164" y="71"/>
                    <a:pt x="164" y="71"/>
                  </a:cubicBezTo>
                  <a:cubicBezTo>
                    <a:pt x="164" y="71"/>
                    <a:pt x="174" y="74"/>
                    <a:pt x="177" y="74"/>
                  </a:cubicBezTo>
                  <a:cubicBezTo>
                    <a:pt x="180" y="74"/>
                    <a:pt x="187" y="72"/>
                    <a:pt x="193" y="73"/>
                  </a:cubicBezTo>
                  <a:cubicBezTo>
                    <a:pt x="199" y="74"/>
                    <a:pt x="210" y="74"/>
                    <a:pt x="210" y="74"/>
                  </a:cubicBezTo>
                  <a:cubicBezTo>
                    <a:pt x="220" y="85"/>
                    <a:pt x="220" y="85"/>
                    <a:pt x="220" y="85"/>
                  </a:cubicBezTo>
                  <a:lnTo>
                    <a:pt x="230" y="84"/>
                  </a:ln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460" name="Freeform 252">
              <a:extLst>
                <a:ext uri="{FF2B5EF4-FFF2-40B4-BE49-F238E27FC236}">
                  <a16:creationId xmlns:a16="http://schemas.microsoft.com/office/drawing/2014/main" id="{89BE376D-A815-4199-BDDB-F2514CA62AA3}"/>
                </a:ext>
              </a:extLst>
            </p:cNvPr>
            <p:cNvSpPr>
              <a:spLocks/>
            </p:cNvSpPr>
            <p:nvPr/>
          </p:nvSpPr>
          <p:spPr bwMode="gray">
            <a:xfrm>
              <a:off x="5171740" y="1074822"/>
              <a:ext cx="93610" cy="51311"/>
            </a:xfrm>
            <a:custGeom>
              <a:avLst/>
              <a:gdLst>
                <a:gd name="T0" fmla="*/ 18 w 138"/>
                <a:gd name="T1" fmla="*/ 80 h 80"/>
                <a:gd name="T2" fmla="*/ 27 w 138"/>
                <a:gd name="T3" fmla="*/ 79 h 80"/>
                <a:gd name="T4" fmla="*/ 29 w 138"/>
                <a:gd name="T5" fmla="*/ 70 h 80"/>
                <a:gd name="T6" fmla="*/ 35 w 138"/>
                <a:gd name="T7" fmla="*/ 76 h 80"/>
                <a:gd name="T8" fmla="*/ 47 w 138"/>
                <a:gd name="T9" fmla="*/ 75 h 80"/>
                <a:gd name="T10" fmla="*/ 53 w 138"/>
                <a:gd name="T11" fmla="*/ 67 h 80"/>
                <a:gd name="T12" fmla="*/ 59 w 138"/>
                <a:gd name="T13" fmla="*/ 75 h 80"/>
                <a:gd name="T14" fmla="*/ 72 w 138"/>
                <a:gd name="T15" fmla="*/ 75 h 80"/>
                <a:gd name="T16" fmla="*/ 82 w 138"/>
                <a:gd name="T17" fmla="*/ 75 h 80"/>
                <a:gd name="T18" fmla="*/ 83 w 138"/>
                <a:gd name="T19" fmla="*/ 62 h 80"/>
                <a:gd name="T20" fmla="*/ 93 w 138"/>
                <a:gd name="T21" fmla="*/ 61 h 80"/>
                <a:gd name="T22" fmla="*/ 100 w 138"/>
                <a:gd name="T23" fmla="*/ 53 h 80"/>
                <a:gd name="T24" fmla="*/ 97 w 138"/>
                <a:gd name="T25" fmla="*/ 40 h 80"/>
                <a:gd name="T26" fmla="*/ 106 w 138"/>
                <a:gd name="T27" fmla="*/ 36 h 80"/>
                <a:gd name="T28" fmla="*/ 122 w 138"/>
                <a:gd name="T29" fmla="*/ 32 h 80"/>
                <a:gd name="T30" fmla="*/ 125 w 138"/>
                <a:gd name="T31" fmla="*/ 24 h 80"/>
                <a:gd name="T32" fmla="*/ 138 w 138"/>
                <a:gd name="T33" fmla="*/ 22 h 80"/>
                <a:gd name="T34" fmla="*/ 128 w 138"/>
                <a:gd name="T35" fmla="*/ 15 h 80"/>
                <a:gd name="T36" fmla="*/ 125 w 138"/>
                <a:gd name="T37" fmla="*/ 5 h 80"/>
                <a:gd name="T38" fmla="*/ 118 w 138"/>
                <a:gd name="T39" fmla="*/ 0 h 80"/>
                <a:gd name="T40" fmla="*/ 115 w 138"/>
                <a:gd name="T41" fmla="*/ 8 h 80"/>
                <a:gd name="T42" fmla="*/ 113 w 138"/>
                <a:gd name="T43" fmla="*/ 20 h 80"/>
                <a:gd name="T44" fmla="*/ 97 w 138"/>
                <a:gd name="T45" fmla="*/ 15 h 80"/>
                <a:gd name="T46" fmla="*/ 90 w 138"/>
                <a:gd name="T47" fmla="*/ 19 h 80"/>
                <a:gd name="T48" fmla="*/ 57 w 138"/>
                <a:gd name="T49" fmla="*/ 18 h 80"/>
                <a:gd name="T50" fmla="*/ 50 w 138"/>
                <a:gd name="T51" fmla="*/ 27 h 80"/>
                <a:gd name="T52" fmla="*/ 35 w 138"/>
                <a:gd name="T53" fmla="*/ 25 h 80"/>
                <a:gd name="T54" fmla="*/ 26 w 138"/>
                <a:gd name="T55" fmla="*/ 21 h 80"/>
                <a:gd name="T56" fmla="*/ 14 w 138"/>
                <a:gd name="T57" fmla="*/ 25 h 80"/>
                <a:gd name="T58" fmla="*/ 5 w 138"/>
                <a:gd name="T59" fmla="*/ 25 h 80"/>
                <a:gd name="T60" fmla="*/ 0 w 138"/>
                <a:gd name="T61" fmla="*/ 34 h 80"/>
                <a:gd name="T62" fmla="*/ 8 w 138"/>
                <a:gd name="T63" fmla="*/ 37 h 80"/>
                <a:gd name="T64" fmla="*/ 3 w 138"/>
                <a:gd name="T65" fmla="*/ 62 h 80"/>
                <a:gd name="T66" fmla="*/ 23 w 138"/>
                <a:gd name="T67" fmla="*/ 70 h 80"/>
                <a:gd name="T68" fmla="*/ 18 w 138"/>
                <a:gd name="T69" fmla="*/ 8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38" h="80">
                  <a:moveTo>
                    <a:pt x="18" y="80"/>
                  </a:moveTo>
                  <a:cubicBezTo>
                    <a:pt x="27" y="79"/>
                    <a:pt x="27" y="79"/>
                    <a:pt x="27" y="79"/>
                  </a:cubicBezTo>
                  <a:cubicBezTo>
                    <a:pt x="29" y="70"/>
                    <a:pt x="29" y="70"/>
                    <a:pt x="29" y="70"/>
                  </a:cubicBezTo>
                  <a:cubicBezTo>
                    <a:pt x="35" y="76"/>
                    <a:pt x="35" y="76"/>
                    <a:pt x="35" y="76"/>
                  </a:cubicBezTo>
                  <a:cubicBezTo>
                    <a:pt x="47" y="75"/>
                    <a:pt x="47" y="75"/>
                    <a:pt x="47" y="75"/>
                  </a:cubicBezTo>
                  <a:cubicBezTo>
                    <a:pt x="53" y="67"/>
                    <a:pt x="53" y="67"/>
                    <a:pt x="53" y="67"/>
                  </a:cubicBezTo>
                  <a:cubicBezTo>
                    <a:pt x="53" y="67"/>
                    <a:pt x="53" y="74"/>
                    <a:pt x="59" y="75"/>
                  </a:cubicBezTo>
                  <a:cubicBezTo>
                    <a:pt x="65" y="76"/>
                    <a:pt x="72" y="75"/>
                    <a:pt x="72" y="75"/>
                  </a:cubicBezTo>
                  <a:cubicBezTo>
                    <a:pt x="72" y="75"/>
                    <a:pt x="77" y="77"/>
                    <a:pt x="82" y="75"/>
                  </a:cubicBezTo>
                  <a:cubicBezTo>
                    <a:pt x="87" y="73"/>
                    <a:pt x="83" y="62"/>
                    <a:pt x="83" y="62"/>
                  </a:cubicBezTo>
                  <a:cubicBezTo>
                    <a:pt x="93" y="61"/>
                    <a:pt x="93" y="61"/>
                    <a:pt x="93" y="61"/>
                  </a:cubicBezTo>
                  <a:cubicBezTo>
                    <a:pt x="100" y="53"/>
                    <a:pt x="100" y="53"/>
                    <a:pt x="100" y="53"/>
                  </a:cubicBezTo>
                  <a:cubicBezTo>
                    <a:pt x="100" y="53"/>
                    <a:pt x="97" y="44"/>
                    <a:pt x="97" y="40"/>
                  </a:cubicBezTo>
                  <a:cubicBezTo>
                    <a:pt x="97" y="36"/>
                    <a:pt x="106" y="36"/>
                    <a:pt x="106" y="36"/>
                  </a:cubicBezTo>
                  <a:cubicBezTo>
                    <a:pt x="106" y="36"/>
                    <a:pt x="116" y="36"/>
                    <a:pt x="122" y="32"/>
                  </a:cubicBezTo>
                  <a:cubicBezTo>
                    <a:pt x="128" y="28"/>
                    <a:pt x="125" y="24"/>
                    <a:pt x="125" y="24"/>
                  </a:cubicBezTo>
                  <a:cubicBezTo>
                    <a:pt x="138" y="22"/>
                    <a:pt x="138" y="22"/>
                    <a:pt x="138" y="22"/>
                  </a:cubicBezTo>
                  <a:cubicBezTo>
                    <a:pt x="128" y="15"/>
                    <a:pt x="128" y="15"/>
                    <a:pt x="128" y="15"/>
                  </a:cubicBezTo>
                  <a:cubicBezTo>
                    <a:pt x="125" y="5"/>
                    <a:pt x="125" y="5"/>
                    <a:pt x="125" y="5"/>
                  </a:cubicBezTo>
                  <a:cubicBezTo>
                    <a:pt x="118" y="0"/>
                    <a:pt x="118" y="0"/>
                    <a:pt x="118" y="0"/>
                  </a:cubicBezTo>
                  <a:cubicBezTo>
                    <a:pt x="115" y="8"/>
                    <a:pt x="115" y="8"/>
                    <a:pt x="115" y="8"/>
                  </a:cubicBezTo>
                  <a:cubicBezTo>
                    <a:pt x="113" y="20"/>
                    <a:pt x="113" y="20"/>
                    <a:pt x="113" y="20"/>
                  </a:cubicBezTo>
                  <a:cubicBezTo>
                    <a:pt x="97" y="15"/>
                    <a:pt x="97" y="15"/>
                    <a:pt x="97" y="15"/>
                  </a:cubicBezTo>
                  <a:cubicBezTo>
                    <a:pt x="90" y="19"/>
                    <a:pt x="90" y="19"/>
                    <a:pt x="90" y="19"/>
                  </a:cubicBezTo>
                  <a:cubicBezTo>
                    <a:pt x="57" y="18"/>
                    <a:pt x="57" y="18"/>
                    <a:pt x="57" y="18"/>
                  </a:cubicBezTo>
                  <a:cubicBezTo>
                    <a:pt x="57" y="18"/>
                    <a:pt x="57" y="27"/>
                    <a:pt x="50" y="27"/>
                  </a:cubicBezTo>
                  <a:cubicBezTo>
                    <a:pt x="43" y="27"/>
                    <a:pt x="35" y="25"/>
                    <a:pt x="35" y="25"/>
                  </a:cubicBezTo>
                  <a:cubicBezTo>
                    <a:pt x="35" y="25"/>
                    <a:pt x="29" y="21"/>
                    <a:pt x="26" y="21"/>
                  </a:cubicBezTo>
                  <a:cubicBezTo>
                    <a:pt x="23" y="21"/>
                    <a:pt x="14" y="25"/>
                    <a:pt x="14" y="25"/>
                  </a:cubicBezTo>
                  <a:cubicBezTo>
                    <a:pt x="5" y="25"/>
                    <a:pt x="5" y="25"/>
                    <a:pt x="5" y="25"/>
                  </a:cubicBezTo>
                  <a:cubicBezTo>
                    <a:pt x="4" y="30"/>
                    <a:pt x="0" y="34"/>
                    <a:pt x="0" y="34"/>
                  </a:cubicBezTo>
                  <a:cubicBezTo>
                    <a:pt x="8" y="37"/>
                    <a:pt x="8" y="37"/>
                    <a:pt x="8" y="37"/>
                  </a:cubicBezTo>
                  <a:cubicBezTo>
                    <a:pt x="3" y="62"/>
                    <a:pt x="3" y="62"/>
                    <a:pt x="3" y="62"/>
                  </a:cubicBezTo>
                  <a:cubicBezTo>
                    <a:pt x="3" y="62"/>
                    <a:pt x="26" y="66"/>
                    <a:pt x="23" y="70"/>
                  </a:cubicBezTo>
                  <a:cubicBezTo>
                    <a:pt x="22" y="72"/>
                    <a:pt x="20" y="76"/>
                    <a:pt x="18" y="80"/>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461" name="Freeform 253">
              <a:extLst>
                <a:ext uri="{FF2B5EF4-FFF2-40B4-BE49-F238E27FC236}">
                  <a16:creationId xmlns:a16="http://schemas.microsoft.com/office/drawing/2014/main" id="{CAF21150-CCAF-453A-9D10-3CFB2C889F10}"/>
                </a:ext>
              </a:extLst>
            </p:cNvPr>
            <p:cNvSpPr>
              <a:spLocks/>
            </p:cNvSpPr>
            <p:nvPr/>
          </p:nvSpPr>
          <p:spPr bwMode="gray">
            <a:xfrm>
              <a:off x="5268797" y="986318"/>
              <a:ext cx="162239" cy="62985"/>
            </a:xfrm>
            <a:custGeom>
              <a:avLst/>
              <a:gdLst>
                <a:gd name="T0" fmla="*/ 233 w 239"/>
                <a:gd name="T1" fmla="*/ 23 h 98"/>
                <a:gd name="T2" fmla="*/ 214 w 239"/>
                <a:gd name="T3" fmla="*/ 19 h 98"/>
                <a:gd name="T4" fmla="*/ 194 w 239"/>
                <a:gd name="T5" fmla="*/ 6 h 98"/>
                <a:gd name="T6" fmla="*/ 170 w 239"/>
                <a:gd name="T7" fmla="*/ 14 h 98"/>
                <a:gd name="T8" fmla="*/ 159 w 239"/>
                <a:gd name="T9" fmla="*/ 10 h 98"/>
                <a:gd name="T10" fmla="*/ 140 w 239"/>
                <a:gd name="T11" fmla="*/ 9 h 98"/>
                <a:gd name="T12" fmla="*/ 132 w 239"/>
                <a:gd name="T13" fmla="*/ 18 h 98"/>
                <a:gd name="T14" fmla="*/ 126 w 239"/>
                <a:gd name="T15" fmla="*/ 11 h 98"/>
                <a:gd name="T16" fmla="*/ 119 w 239"/>
                <a:gd name="T17" fmla="*/ 11 h 98"/>
                <a:gd name="T18" fmla="*/ 111 w 239"/>
                <a:gd name="T19" fmla="*/ 2 h 98"/>
                <a:gd name="T20" fmla="*/ 91 w 239"/>
                <a:gd name="T21" fmla="*/ 8 h 98"/>
                <a:gd name="T22" fmla="*/ 83 w 239"/>
                <a:gd name="T23" fmla="*/ 2 h 98"/>
                <a:gd name="T24" fmla="*/ 72 w 239"/>
                <a:gd name="T25" fmla="*/ 9 h 98"/>
                <a:gd name="T26" fmla="*/ 58 w 239"/>
                <a:gd name="T27" fmla="*/ 15 h 98"/>
                <a:gd name="T28" fmla="*/ 58 w 239"/>
                <a:gd name="T29" fmla="*/ 28 h 98"/>
                <a:gd name="T30" fmla="*/ 36 w 239"/>
                <a:gd name="T31" fmla="*/ 40 h 98"/>
                <a:gd name="T32" fmla="*/ 24 w 239"/>
                <a:gd name="T33" fmla="*/ 39 h 98"/>
                <a:gd name="T34" fmla="*/ 12 w 239"/>
                <a:gd name="T35" fmla="*/ 41 h 98"/>
                <a:gd name="T36" fmla="*/ 3 w 239"/>
                <a:gd name="T37" fmla="*/ 46 h 98"/>
                <a:gd name="T38" fmla="*/ 1 w 239"/>
                <a:gd name="T39" fmla="*/ 60 h 98"/>
                <a:gd name="T40" fmla="*/ 0 w 239"/>
                <a:gd name="T41" fmla="*/ 70 h 98"/>
                <a:gd name="T42" fmla="*/ 7 w 239"/>
                <a:gd name="T43" fmla="*/ 75 h 98"/>
                <a:gd name="T44" fmla="*/ 7 w 239"/>
                <a:gd name="T45" fmla="*/ 87 h 98"/>
                <a:gd name="T46" fmla="*/ 7 w 239"/>
                <a:gd name="T47" fmla="*/ 87 h 98"/>
                <a:gd name="T48" fmla="*/ 13 w 239"/>
                <a:gd name="T49" fmla="*/ 92 h 98"/>
                <a:gd name="T50" fmla="*/ 20 w 239"/>
                <a:gd name="T51" fmla="*/ 81 h 98"/>
                <a:gd name="T52" fmla="*/ 40 w 239"/>
                <a:gd name="T53" fmla="*/ 97 h 98"/>
                <a:gd name="T54" fmla="*/ 81 w 239"/>
                <a:gd name="T55" fmla="*/ 94 h 98"/>
                <a:gd name="T56" fmla="*/ 87 w 239"/>
                <a:gd name="T57" fmla="*/ 78 h 98"/>
                <a:gd name="T58" fmla="*/ 111 w 239"/>
                <a:gd name="T59" fmla="*/ 81 h 98"/>
                <a:gd name="T60" fmla="*/ 118 w 239"/>
                <a:gd name="T61" fmla="*/ 73 h 98"/>
                <a:gd name="T62" fmla="*/ 144 w 239"/>
                <a:gd name="T63" fmla="*/ 69 h 98"/>
                <a:gd name="T64" fmla="*/ 155 w 239"/>
                <a:gd name="T65" fmla="*/ 53 h 98"/>
                <a:gd name="T66" fmla="*/ 171 w 239"/>
                <a:gd name="T67" fmla="*/ 53 h 98"/>
                <a:gd name="T68" fmla="*/ 174 w 239"/>
                <a:gd name="T69" fmla="*/ 63 h 98"/>
                <a:gd name="T70" fmla="*/ 183 w 239"/>
                <a:gd name="T71" fmla="*/ 64 h 98"/>
                <a:gd name="T72" fmla="*/ 188 w 239"/>
                <a:gd name="T73" fmla="*/ 53 h 98"/>
                <a:gd name="T74" fmla="*/ 194 w 239"/>
                <a:gd name="T75" fmla="*/ 63 h 98"/>
                <a:gd name="T76" fmla="*/ 223 w 239"/>
                <a:gd name="T77" fmla="*/ 59 h 98"/>
                <a:gd name="T78" fmla="*/ 223 w 239"/>
                <a:gd name="T79" fmla="*/ 59 h 98"/>
                <a:gd name="T80" fmla="*/ 224 w 239"/>
                <a:gd name="T81" fmla="*/ 51 h 98"/>
                <a:gd name="T82" fmla="*/ 234 w 239"/>
                <a:gd name="T83" fmla="*/ 43 h 98"/>
                <a:gd name="T84" fmla="*/ 237 w 239"/>
                <a:gd name="T85" fmla="*/ 30 h 98"/>
                <a:gd name="T86" fmla="*/ 233 w 239"/>
                <a:gd name="T87" fmla="*/ 23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39" h="98">
                  <a:moveTo>
                    <a:pt x="233" y="23"/>
                  </a:moveTo>
                  <a:cubicBezTo>
                    <a:pt x="227" y="23"/>
                    <a:pt x="221" y="25"/>
                    <a:pt x="214" y="19"/>
                  </a:cubicBezTo>
                  <a:cubicBezTo>
                    <a:pt x="207" y="13"/>
                    <a:pt x="208" y="6"/>
                    <a:pt x="194" y="6"/>
                  </a:cubicBezTo>
                  <a:cubicBezTo>
                    <a:pt x="180" y="6"/>
                    <a:pt x="175" y="14"/>
                    <a:pt x="170" y="14"/>
                  </a:cubicBezTo>
                  <a:cubicBezTo>
                    <a:pt x="165" y="14"/>
                    <a:pt x="159" y="10"/>
                    <a:pt x="159" y="10"/>
                  </a:cubicBezTo>
                  <a:cubicBezTo>
                    <a:pt x="140" y="9"/>
                    <a:pt x="140" y="9"/>
                    <a:pt x="140" y="9"/>
                  </a:cubicBezTo>
                  <a:cubicBezTo>
                    <a:pt x="140" y="9"/>
                    <a:pt x="141" y="18"/>
                    <a:pt x="132" y="18"/>
                  </a:cubicBezTo>
                  <a:cubicBezTo>
                    <a:pt x="123" y="18"/>
                    <a:pt x="126" y="11"/>
                    <a:pt x="126" y="11"/>
                  </a:cubicBezTo>
                  <a:cubicBezTo>
                    <a:pt x="119" y="11"/>
                    <a:pt x="119" y="11"/>
                    <a:pt x="119" y="11"/>
                  </a:cubicBezTo>
                  <a:cubicBezTo>
                    <a:pt x="119" y="11"/>
                    <a:pt x="118" y="4"/>
                    <a:pt x="111" y="2"/>
                  </a:cubicBezTo>
                  <a:cubicBezTo>
                    <a:pt x="104" y="0"/>
                    <a:pt x="94" y="8"/>
                    <a:pt x="91" y="8"/>
                  </a:cubicBezTo>
                  <a:cubicBezTo>
                    <a:pt x="89" y="8"/>
                    <a:pt x="86" y="5"/>
                    <a:pt x="83" y="2"/>
                  </a:cubicBezTo>
                  <a:cubicBezTo>
                    <a:pt x="72" y="9"/>
                    <a:pt x="72" y="9"/>
                    <a:pt x="72" y="9"/>
                  </a:cubicBezTo>
                  <a:cubicBezTo>
                    <a:pt x="58" y="15"/>
                    <a:pt x="58" y="15"/>
                    <a:pt x="58" y="15"/>
                  </a:cubicBezTo>
                  <a:cubicBezTo>
                    <a:pt x="58" y="28"/>
                    <a:pt x="58" y="28"/>
                    <a:pt x="58" y="28"/>
                  </a:cubicBezTo>
                  <a:cubicBezTo>
                    <a:pt x="58" y="28"/>
                    <a:pt x="43" y="35"/>
                    <a:pt x="36" y="40"/>
                  </a:cubicBezTo>
                  <a:cubicBezTo>
                    <a:pt x="31" y="43"/>
                    <a:pt x="25" y="41"/>
                    <a:pt x="24" y="39"/>
                  </a:cubicBezTo>
                  <a:cubicBezTo>
                    <a:pt x="21" y="40"/>
                    <a:pt x="15" y="40"/>
                    <a:pt x="12" y="41"/>
                  </a:cubicBezTo>
                  <a:cubicBezTo>
                    <a:pt x="8" y="42"/>
                    <a:pt x="3" y="46"/>
                    <a:pt x="3" y="46"/>
                  </a:cubicBezTo>
                  <a:cubicBezTo>
                    <a:pt x="1" y="60"/>
                    <a:pt x="1" y="60"/>
                    <a:pt x="1" y="60"/>
                  </a:cubicBezTo>
                  <a:cubicBezTo>
                    <a:pt x="0" y="70"/>
                    <a:pt x="0" y="70"/>
                    <a:pt x="0" y="70"/>
                  </a:cubicBezTo>
                  <a:cubicBezTo>
                    <a:pt x="0" y="70"/>
                    <a:pt x="6" y="69"/>
                    <a:pt x="7" y="75"/>
                  </a:cubicBezTo>
                  <a:cubicBezTo>
                    <a:pt x="7" y="78"/>
                    <a:pt x="7" y="83"/>
                    <a:pt x="7" y="87"/>
                  </a:cubicBezTo>
                  <a:cubicBezTo>
                    <a:pt x="7" y="87"/>
                    <a:pt x="7" y="87"/>
                    <a:pt x="7" y="87"/>
                  </a:cubicBezTo>
                  <a:cubicBezTo>
                    <a:pt x="13" y="92"/>
                    <a:pt x="13" y="92"/>
                    <a:pt x="13" y="92"/>
                  </a:cubicBezTo>
                  <a:cubicBezTo>
                    <a:pt x="20" y="81"/>
                    <a:pt x="20" y="81"/>
                    <a:pt x="20" y="81"/>
                  </a:cubicBezTo>
                  <a:cubicBezTo>
                    <a:pt x="20" y="81"/>
                    <a:pt x="23" y="98"/>
                    <a:pt x="40" y="97"/>
                  </a:cubicBezTo>
                  <a:cubicBezTo>
                    <a:pt x="57" y="96"/>
                    <a:pt x="81" y="94"/>
                    <a:pt x="81" y="94"/>
                  </a:cubicBezTo>
                  <a:cubicBezTo>
                    <a:pt x="87" y="78"/>
                    <a:pt x="87" y="78"/>
                    <a:pt x="87" y="78"/>
                  </a:cubicBezTo>
                  <a:cubicBezTo>
                    <a:pt x="111" y="81"/>
                    <a:pt x="111" y="81"/>
                    <a:pt x="111" y="81"/>
                  </a:cubicBezTo>
                  <a:cubicBezTo>
                    <a:pt x="118" y="73"/>
                    <a:pt x="118" y="73"/>
                    <a:pt x="118" y="73"/>
                  </a:cubicBezTo>
                  <a:cubicBezTo>
                    <a:pt x="118" y="73"/>
                    <a:pt x="141" y="72"/>
                    <a:pt x="144" y="69"/>
                  </a:cubicBezTo>
                  <a:cubicBezTo>
                    <a:pt x="147" y="66"/>
                    <a:pt x="155" y="53"/>
                    <a:pt x="155" y="53"/>
                  </a:cubicBezTo>
                  <a:cubicBezTo>
                    <a:pt x="171" y="53"/>
                    <a:pt x="171" y="53"/>
                    <a:pt x="171" y="53"/>
                  </a:cubicBezTo>
                  <a:cubicBezTo>
                    <a:pt x="174" y="63"/>
                    <a:pt x="174" y="63"/>
                    <a:pt x="174" y="63"/>
                  </a:cubicBezTo>
                  <a:cubicBezTo>
                    <a:pt x="183" y="64"/>
                    <a:pt x="183" y="64"/>
                    <a:pt x="183" y="64"/>
                  </a:cubicBezTo>
                  <a:cubicBezTo>
                    <a:pt x="183" y="64"/>
                    <a:pt x="183" y="53"/>
                    <a:pt x="188" y="53"/>
                  </a:cubicBezTo>
                  <a:cubicBezTo>
                    <a:pt x="193" y="53"/>
                    <a:pt x="194" y="63"/>
                    <a:pt x="194" y="63"/>
                  </a:cubicBezTo>
                  <a:cubicBezTo>
                    <a:pt x="194" y="63"/>
                    <a:pt x="215" y="57"/>
                    <a:pt x="223" y="59"/>
                  </a:cubicBezTo>
                  <a:cubicBezTo>
                    <a:pt x="223" y="59"/>
                    <a:pt x="223" y="59"/>
                    <a:pt x="223" y="59"/>
                  </a:cubicBezTo>
                  <a:cubicBezTo>
                    <a:pt x="224" y="51"/>
                    <a:pt x="224" y="51"/>
                    <a:pt x="224" y="51"/>
                  </a:cubicBezTo>
                  <a:cubicBezTo>
                    <a:pt x="224" y="51"/>
                    <a:pt x="232" y="49"/>
                    <a:pt x="234" y="43"/>
                  </a:cubicBezTo>
                  <a:cubicBezTo>
                    <a:pt x="236" y="37"/>
                    <a:pt x="237" y="30"/>
                    <a:pt x="237" y="30"/>
                  </a:cubicBezTo>
                  <a:cubicBezTo>
                    <a:pt x="237" y="30"/>
                    <a:pt x="239" y="23"/>
                    <a:pt x="233" y="23"/>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462" name="Freeform 254">
              <a:extLst>
                <a:ext uri="{FF2B5EF4-FFF2-40B4-BE49-F238E27FC236}">
                  <a16:creationId xmlns:a16="http://schemas.microsoft.com/office/drawing/2014/main" id="{28C666AA-FB56-4CD8-9DDF-12F30EE0AD89}"/>
                </a:ext>
              </a:extLst>
            </p:cNvPr>
            <p:cNvSpPr>
              <a:spLocks/>
            </p:cNvSpPr>
            <p:nvPr/>
          </p:nvSpPr>
          <p:spPr bwMode="gray">
            <a:xfrm>
              <a:off x="5251855" y="1020254"/>
              <a:ext cx="194113" cy="95021"/>
            </a:xfrm>
            <a:custGeom>
              <a:avLst/>
              <a:gdLst>
                <a:gd name="T0" fmla="*/ 31 w 286"/>
                <a:gd name="T1" fmla="*/ 43 h 148"/>
                <a:gd name="T2" fmla="*/ 16 w 286"/>
                <a:gd name="T3" fmla="*/ 43 h 148"/>
                <a:gd name="T4" fmla="*/ 15 w 286"/>
                <a:gd name="T5" fmla="*/ 52 h 148"/>
                <a:gd name="T6" fmla="*/ 23 w 286"/>
                <a:gd name="T7" fmla="*/ 53 h 148"/>
                <a:gd name="T8" fmla="*/ 15 w 286"/>
                <a:gd name="T9" fmla="*/ 65 h 148"/>
                <a:gd name="T10" fmla="*/ 15 w 286"/>
                <a:gd name="T11" fmla="*/ 79 h 148"/>
                <a:gd name="T12" fmla="*/ 2 w 286"/>
                <a:gd name="T13" fmla="*/ 81 h 148"/>
                <a:gd name="T14" fmla="*/ 0 w 286"/>
                <a:gd name="T15" fmla="*/ 85 h 148"/>
                <a:gd name="T16" fmla="*/ 7 w 286"/>
                <a:gd name="T17" fmla="*/ 90 h 148"/>
                <a:gd name="T18" fmla="*/ 10 w 286"/>
                <a:gd name="T19" fmla="*/ 100 h 148"/>
                <a:gd name="T20" fmla="*/ 20 w 286"/>
                <a:gd name="T21" fmla="*/ 107 h 148"/>
                <a:gd name="T22" fmla="*/ 34 w 286"/>
                <a:gd name="T23" fmla="*/ 120 h 148"/>
                <a:gd name="T24" fmla="*/ 54 w 286"/>
                <a:gd name="T25" fmla="*/ 137 h 148"/>
                <a:gd name="T26" fmla="*/ 63 w 286"/>
                <a:gd name="T27" fmla="*/ 141 h 148"/>
                <a:gd name="T28" fmla="*/ 75 w 286"/>
                <a:gd name="T29" fmla="*/ 141 h 148"/>
                <a:gd name="T30" fmla="*/ 78 w 286"/>
                <a:gd name="T31" fmla="*/ 148 h 148"/>
                <a:gd name="T32" fmla="*/ 106 w 286"/>
                <a:gd name="T33" fmla="*/ 145 h 148"/>
                <a:gd name="T34" fmla="*/ 112 w 286"/>
                <a:gd name="T35" fmla="*/ 139 h 148"/>
                <a:gd name="T36" fmla="*/ 115 w 286"/>
                <a:gd name="T37" fmla="*/ 140 h 148"/>
                <a:gd name="T38" fmla="*/ 118 w 286"/>
                <a:gd name="T39" fmla="*/ 136 h 148"/>
                <a:gd name="T40" fmla="*/ 133 w 286"/>
                <a:gd name="T41" fmla="*/ 136 h 148"/>
                <a:gd name="T42" fmla="*/ 145 w 286"/>
                <a:gd name="T43" fmla="*/ 125 h 148"/>
                <a:gd name="T44" fmla="*/ 163 w 286"/>
                <a:gd name="T45" fmla="*/ 125 h 148"/>
                <a:gd name="T46" fmla="*/ 176 w 286"/>
                <a:gd name="T47" fmla="*/ 131 h 148"/>
                <a:gd name="T48" fmla="*/ 192 w 286"/>
                <a:gd name="T49" fmla="*/ 127 h 148"/>
                <a:gd name="T50" fmla="*/ 194 w 286"/>
                <a:gd name="T51" fmla="*/ 118 h 148"/>
                <a:gd name="T52" fmla="*/ 205 w 286"/>
                <a:gd name="T53" fmla="*/ 120 h 148"/>
                <a:gd name="T54" fmla="*/ 221 w 286"/>
                <a:gd name="T55" fmla="*/ 110 h 148"/>
                <a:gd name="T56" fmla="*/ 222 w 286"/>
                <a:gd name="T57" fmla="*/ 96 h 148"/>
                <a:gd name="T58" fmla="*/ 238 w 286"/>
                <a:gd name="T59" fmla="*/ 83 h 148"/>
                <a:gd name="T60" fmla="*/ 245 w 286"/>
                <a:gd name="T61" fmla="*/ 66 h 148"/>
                <a:gd name="T62" fmla="*/ 246 w 286"/>
                <a:gd name="T63" fmla="*/ 48 h 148"/>
                <a:gd name="T64" fmla="*/ 266 w 286"/>
                <a:gd name="T65" fmla="*/ 41 h 148"/>
                <a:gd name="T66" fmla="*/ 286 w 286"/>
                <a:gd name="T67" fmla="*/ 27 h 148"/>
                <a:gd name="T68" fmla="*/ 264 w 286"/>
                <a:gd name="T69" fmla="*/ 19 h 148"/>
                <a:gd name="T70" fmla="*/ 248 w 286"/>
                <a:gd name="T71" fmla="*/ 6 h 148"/>
                <a:gd name="T72" fmla="*/ 219 w 286"/>
                <a:gd name="T73" fmla="*/ 10 h 148"/>
                <a:gd name="T74" fmla="*/ 213 w 286"/>
                <a:gd name="T75" fmla="*/ 0 h 148"/>
                <a:gd name="T76" fmla="*/ 208 w 286"/>
                <a:gd name="T77" fmla="*/ 11 h 148"/>
                <a:gd name="T78" fmla="*/ 199 w 286"/>
                <a:gd name="T79" fmla="*/ 10 h 148"/>
                <a:gd name="T80" fmla="*/ 196 w 286"/>
                <a:gd name="T81" fmla="*/ 0 h 148"/>
                <a:gd name="T82" fmla="*/ 180 w 286"/>
                <a:gd name="T83" fmla="*/ 0 h 148"/>
                <a:gd name="T84" fmla="*/ 169 w 286"/>
                <a:gd name="T85" fmla="*/ 16 h 148"/>
                <a:gd name="T86" fmla="*/ 143 w 286"/>
                <a:gd name="T87" fmla="*/ 20 h 148"/>
                <a:gd name="T88" fmla="*/ 136 w 286"/>
                <a:gd name="T89" fmla="*/ 28 h 148"/>
                <a:gd name="T90" fmla="*/ 112 w 286"/>
                <a:gd name="T91" fmla="*/ 25 h 148"/>
                <a:gd name="T92" fmla="*/ 106 w 286"/>
                <a:gd name="T93" fmla="*/ 41 h 148"/>
                <a:gd name="T94" fmla="*/ 65 w 286"/>
                <a:gd name="T95" fmla="*/ 44 h 148"/>
                <a:gd name="T96" fmla="*/ 45 w 286"/>
                <a:gd name="T97" fmla="*/ 28 h 148"/>
                <a:gd name="T98" fmla="*/ 38 w 286"/>
                <a:gd name="T99" fmla="*/ 39 h 148"/>
                <a:gd name="T100" fmla="*/ 32 w 286"/>
                <a:gd name="T101" fmla="*/ 34 h 148"/>
                <a:gd name="T102" fmla="*/ 31 w 286"/>
                <a:gd name="T103" fmla="*/ 43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6" h="148">
                  <a:moveTo>
                    <a:pt x="31" y="43"/>
                  </a:moveTo>
                  <a:cubicBezTo>
                    <a:pt x="16" y="43"/>
                    <a:pt x="16" y="43"/>
                    <a:pt x="16" y="43"/>
                  </a:cubicBezTo>
                  <a:cubicBezTo>
                    <a:pt x="15" y="52"/>
                    <a:pt x="15" y="52"/>
                    <a:pt x="15" y="52"/>
                  </a:cubicBezTo>
                  <a:cubicBezTo>
                    <a:pt x="23" y="53"/>
                    <a:pt x="23" y="53"/>
                    <a:pt x="23" y="53"/>
                  </a:cubicBezTo>
                  <a:cubicBezTo>
                    <a:pt x="15" y="65"/>
                    <a:pt x="15" y="65"/>
                    <a:pt x="15" y="65"/>
                  </a:cubicBezTo>
                  <a:cubicBezTo>
                    <a:pt x="15" y="79"/>
                    <a:pt x="15" y="79"/>
                    <a:pt x="15" y="79"/>
                  </a:cubicBezTo>
                  <a:cubicBezTo>
                    <a:pt x="2" y="81"/>
                    <a:pt x="2" y="81"/>
                    <a:pt x="2" y="81"/>
                  </a:cubicBezTo>
                  <a:cubicBezTo>
                    <a:pt x="0" y="85"/>
                    <a:pt x="0" y="85"/>
                    <a:pt x="0" y="85"/>
                  </a:cubicBezTo>
                  <a:cubicBezTo>
                    <a:pt x="7" y="90"/>
                    <a:pt x="7" y="90"/>
                    <a:pt x="7" y="90"/>
                  </a:cubicBezTo>
                  <a:cubicBezTo>
                    <a:pt x="10" y="100"/>
                    <a:pt x="10" y="100"/>
                    <a:pt x="10" y="100"/>
                  </a:cubicBezTo>
                  <a:cubicBezTo>
                    <a:pt x="20" y="107"/>
                    <a:pt x="20" y="107"/>
                    <a:pt x="20" y="107"/>
                  </a:cubicBezTo>
                  <a:cubicBezTo>
                    <a:pt x="20" y="107"/>
                    <a:pt x="32" y="117"/>
                    <a:pt x="34" y="120"/>
                  </a:cubicBezTo>
                  <a:cubicBezTo>
                    <a:pt x="36" y="123"/>
                    <a:pt x="54" y="137"/>
                    <a:pt x="54" y="137"/>
                  </a:cubicBezTo>
                  <a:cubicBezTo>
                    <a:pt x="63" y="141"/>
                    <a:pt x="63" y="141"/>
                    <a:pt x="63" y="141"/>
                  </a:cubicBezTo>
                  <a:cubicBezTo>
                    <a:pt x="75" y="141"/>
                    <a:pt x="75" y="141"/>
                    <a:pt x="75" y="141"/>
                  </a:cubicBezTo>
                  <a:cubicBezTo>
                    <a:pt x="78" y="148"/>
                    <a:pt x="78" y="148"/>
                    <a:pt x="78" y="148"/>
                  </a:cubicBezTo>
                  <a:cubicBezTo>
                    <a:pt x="106" y="145"/>
                    <a:pt x="106" y="145"/>
                    <a:pt x="106" y="145"/>
                  </a:cubicBezTo>
                  <a:cubicBezTo>
                    <a:pt x="112" y="139"/>
                    <a:pt x="112" y="139"/>
                    <a:pt x="112" y="139"/>
                  </a:cubicBezTo>
                  <a:cubicBezTo>
                    <a:pt x="115" y="140"/>
                    <a:pt x="115" y="140"/>
                    <a:pt x="115" y="140"/>
                  </a:cubicBezTo>
                  <a:cubicBezTo>
                    <a:pt x="118" y="136"/>
                    <a:pt x="118" y="136"/>
                    <a:pt x="118" y="136"/>
                  </a:cubicBezTo>
                  <a:cubicBezTo>
                    <a:pt x="133" y="136"/>
                    <a:pt x="133" y="136"/>
                    <a:pt x="133" y="136"/>
                  </a:cubicBezTo>
                  <a:cubicBezTo>
                    <a:pt x="133" y="136"/>
                    <a:pt x="142" y="131"/>
                    <a:pt x="145" y="125"/>
                  </a:cubicBezTo>
                  <a:cubicBezTo>
                    <a:pt x="148" y="119"/>
                    <a:pt x="163" y="125"/>
                    <a:pt x="163" y="125"/>
                  </a:cubicBezTo>
                  <a:cubicBezTo>
                    <a:pt x="176" y="131"/>
                    <a:pt x="176" y="131"/>
                    <a:pt x="176" y="131"/>
                  </a:cubicBezTo>
                  <a:cubicBezTo>
                    <a:pt x="192" y="127"/>
                    <a:pt x="192" y="127"/>
                    <a:pt x="192" y="127"/>
                  </a:cubicBezTo>
                  <a:cubicBezTo>
                    <a:pt x="194" y="118"/>
                    <a:pt x="194" y="118"/>
                    <a:pt x="194" y="118"/>
                  </a:cubicBezTo>
                  <a:cubicBezTo>
                    <a:pt x="205" y="120"/>
                    <a:pt x="205" y="120"/>
                    <a:pt x="205" y="120"/>
                  </a:cubicBezTo>
                  <a:cubicBezTo>
                    <a:pt x="205" y="120"/>
                    <a:pt x="215" y="116"/>
                    <a:pt x="221" y="110"/>
                  </a:cubicBezTo>
                  <a:cubicBezTo>
                    <a:pt x="227" y="104"/>
                    <a:pt x="222" y="96"/>
                    <a:pt x="222" y="96"/>
                  </a:cubicBezTo>
                  <a:cubicBezTo>
                    <a:pt x="222" y="96"/>
                    <a:pt x="228" y="88"/>
                    <a:pt x="238" y="83"/>
                  </a:cubicBezTo>
                  <a:cubicBezTo>
                    <a:pt x="248" y="78"/>
                    <a:pt x="245" y="66"/>
                    <a:pt x="245" y="66"/>
                  </a:cubicBezTo>
                  <a:cubicBezTo>
                    <a:pt x="245" y="66"/>
                    <a:pt x="245" y="54"/>
                    <a:pt x="246" y="48"/>
                  </a:cubicBezTo>
                  <a:cubicBezTo>
                    <a:pt x="247" y="42"/>
                    <a:pt x="256" y="42"/>
                    <a:pt x="266" y="41"/>
                  </a:cubicBezTo>
                  <a:cubicBezTo>
                    <a:pt x="276" y="40"/>
                    <a:pt x="286" y="27"/>
                    <a:pt x="286" y="27"/>
                  </a:cubicBezTo>
                  <a:cubicBezTo>
                    <a:pt x="286" y="27"/>
                    <a:pt x="270" y="20"/>
                    <a:pt x="264" y="19"/>
                  </a:cubicBezTo>
                  <a:cubicBezTo>
                    <a:pt x="258" y="18"/>
                    <a:pt x="256" y="8"/>
                    <a:pt x="248" y="6"/>
                  </a:cubicBezTo>
                  <a:cubicBezTo>
                    <a:pt x="240" y="4"/>
                    <a:pt x="219" y="10"/>
                    <a:pt x="219" y="10"/>
                  </a:cubicBezTo>
                  <a:cubicBezTo>
                    <a:pt x="219" y="10"/>
                    <a:pt x="218" y="0"/>
                    <a:pt x="213" y="0"/>
                  </a:cubicBezTo>
                  <a:cubicBezTo>
                    <a:pt x="208" y="0"/>
                    <a:pt x="208" y="11"/>
                    <a:pt x="208" y="11"/>
                  </a:cubicBezTo>
                  <a:cubicBezTo>
                    <a:pt x="199" y="10"/>
                    <a:pt x="199" y="10"/>
                    <a:pt x="199" y="10"/>
                  </a:cubicBezTo>
                  <a:cubicBezTo>
                    <a:pt x="196" y="0"/>
                    <a:pt x="196" y="0"/>
                    <a:pt x="196" y="0"/>
                  </a:cubicBezTo>
                  <a:cubicBezTo>
                    <a:pt x="180" y="0"/>
                    <a:pt x="180" y="0"/>
                    <a:pt x="180" y="0"/>
                  </a:cubicBezTo>
                  <a:cubicBezTo>
                    <a:pt x="180" y="0"/>
                    <a:pt x="172" y="13"/>
                    <a:pt x="169" y="16"/>
                  </a:cubicBezTo>
                  <a:cubicBezTo>
                    <a:pt x="166" y="19"/>
                    <a:pt x="143" y="20"/>
                    <a:pt x="143" y="20"/>
                  </a:cubicBezTo>
                  <a:cubicBezTo>
                    <a:pt x="136" y="28"/>
                    <a:pt x="136" y="28"/>
                    <a:pt x="136" y="28"/>
                  </a:cubicBezTo>
                  <a:cubicBezTo>
                    <a:pt x="112" y="25"/>
                    <a:pt x="112" y="25"/>
                    <a:pt x="112" y="25"/>
                  </a:cubicBezTo>
                  <a:cubicBezTo>
                    <a:pt x="106" y="41"/>
                    <a:pt x="106" y="41"/>
                    <a:pt x="106" y="41"/>
                  </a:cubicBezTo>
                  <a:cubicBezTo>
                    <a:pt x="106" y="41"/>
                    <a:pt x="82" y="43"/>
                    <a:pt x="65" y="44"/>
                  </a:cubicBezTo>
                  <a:cubicBezTo>
                    <a:pt x="48" y="45"/>
                    <a:pt x="45" y="28"/>
                    <a:pt x="45" y="28"/>
                  </a:cubicBezTo>
                  <a:cubicBezTo>
                    <a:pt x="38" y="39"/>
                    <a:pt x="38" y="39"/>
                    <a:pt x="38" y="39"/>
                  </a:cubicBezTo>
                  <a:cubicBezTo>
                    <a:pt x="32" y="34"/>
                    <a:pt x="32" y="34"/>
                    <a:pt x="32" y="34"/>
                  </a:cubicBezTo>
                  <a:cubicBezTo>
                    <a:pt x="31" y="39"/>
                    <a:pt x="31" y="43"/>
                    <a:pt x="31" y="43"/>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463" name="Freeform 255">
              <a:extLst>
                <a:ext uri="{FF2B5EF4-FFF2-40B4-BE49-F238E27FC236}">
                  <a16:creationId xmlns:a16="http://schemas.microsoft.com/office/drawing/2014/main" id="{197FF771-F692-412F-AB08-96CDD60B5067}"/>
                </a:ext>
              </a:extLst>
            </p:cNvPr>
            <p:cNvSpPr>
              <a:spLocks/>
            </p:cNvSpPr>
            <p:nvPr/>
          </p:nvSpPr>
          <p:spPr bwMode="gray">
            <a:xfrm>
              <a:off x="5371883" y="757995"/>
              <a:ext cx="155922" cy="84704"/>
            </a:xfrm>
            <a:custGeom>
              <a:avLst/>
              <a:gdLst>
                <a:gd name="T0" fmla="*/ 222 w 230"/>
                <a:gd name="T1" fmla="*/ 42 h 132"/>
                <a:gd name="T2" fmla="*/ 210 w 230"/>
                <a:gd name="T3" fmla="*/ 38 h 132"/>
                <a:gd name="T4" fmla="*/ 195 w 230"/>
                <a:gd name="T5" fmla="*/ 30 h 132"/>
                <a:gd name="T6" fmla="*/ 184 w 230"/>
                <a:gd name="T7" fmla="*/ 20 h 132"/>
                <a:gd name="T8" fmla="*/ 157 w 230"/>
                <a:gd name="T9" fmla="*/ 17 h 132"/>
                <a:gd name="T10" fmla="*/ 145 w 230"/>
                <a:gd name="T11" fmla="*/ 4 h 132"/>
                <a:gd name="T12" fmla="*/ 128 w 230"/>
                <a:gd name="T13" fmla="*/ 12 h 132"/>
                <a:gd name="T14" fmla="*/ 113 w 230"/>
                <a:gd name="T15" fmla="*/ 8 h 132"/>
                <a:gd name="T16" fmla="*/ 104 w 230"/>
                <a:gd name="T17" fmla="*/ 13 h 132"/>
                <a:gd name="T18" fmla="*/ 81 w 230"/>
                <a:gd name="T19" fmla="*/ 7 h 132"/>
                <a:gd name="T20" fmla="*/ 73 w 230"/>
                <a:gd name="T21" fmla="*/ 9 h 132"/>
                <a:gd name="T22" fmla="*/ 60 w 230"/>
                <a:gd name="T23" fmla="*/ 2 h 132"/>
                <a:gd name="T24" fmla="*/ 46 w 230"/>
                <a:gd name="T25" fmla="*/ 5 h 132"/>
                <a:gd name="T26" fmla="*/ 13 w 230"/>
                <a:gd name="T27" fmla="*/ 11 h 132"/>
                <a:gd name="T28" fmla="*/ 0 w 230"/>
                <a:gd name="T29" fmla="*/ 16 h 132"/>
                <a:gd name="T30" fmla="*/ 1 w 230"/>
                <a:gd name="T31" fmla="*/ 23 h 132"/>
                <a:gd name="T32" fmla="*/ 11 w 230"/>
                <a:gd name="T33" fmla="*/ 60 h 132"/>
                <a:gd name="T34" fmla="*/ 14 w 230"/>
                <a:gd name="T35" fmla="*/ 64 h 132"/>
                <a:gd name="T36" fmla="*/ 19 w 230"/>
                <a:gd name="T37" fmla="*/ 64 h 132"/>
                <a:gd name="T38" fmla="*/ 22 w 230"/>
                <a:gd name="T39" fmla="*/ 70 h 132"/>
                <a:gd name="T40" fmla="*/ 30 w 230"/>
                <a:gd name="T41" fmla="*/ 69 h 132"/>
                <a:gd name="T42" fmla="*/ 32 w 230"/>
                <a:gd name="T43" fmla="*/ 75 h 132"/>
                <a:gd name="T44" fmla="*/ 64 w 230"/>
                <a:gd name="T45" fmla="*/ 71 h 132"/>
                <a:gd name="T46" fmla="*/ 74 w 230"/>
                <a:gd name="T47" fmla="*/ 86 h 132"/>
                <a:gd name="T48" fmla="*/ 65 w 230"/>
                <a:gd name="T49" fmla="*/ 98 h 132"/>
                <a:gd name="T50" fmla="*/ 70 w 230"/>
                <a:gd name="T51" fmla="*/ 108 h 132"/>
                <a:gd name="T52" fmla="*/ 74 w 230"/>
                <a:gd name="T53" fmla="*/ 108 h 132"/>
                <a:gd name="T54" fmla="*/ 103 w 230"/>
                <a:gd name="T55" fmla="*/ 119 h 132"/>
                <a:gd name="T56" fmla="*/ 103 w 230"/>
                <a:gd name="T57" fmla="*/ 132 h 132"/>
                <a:gd name="T58" fmla="*/ 127 w 230"/>
                <a:gd name="T59" fmla="*/ 127 h 132"/>
                <a:gd name="T60" fmla="*/ 137 w 230"/>
                <a:gd name="T61" fmla="*/ 132 h 132"/>
                <a:gd name="T62" fmla="*/ 155 w 230"/>
                <a:gd name="T63" fmla="*/ 132 h 132"/>
                <a:gd name="T64" fmla="*/ 157 w 230"/>
                <a:gd name="T65" fmla="*/ 122 h 132"/>
                <a:gd name="T66" fmla="*/ 165 w 230"/>
                <a:gd name="T67" fmla="*/ 130 h 132"/>
                <a:gd name="T68" fmla="*/ 169 w 230"/>
                <a:gd name="T69" fmla="*/ 122 h 132"/>
                <a:gd name="T70" fmla="*/ 187 w 230"/>
                <a:gd name="T71" fmla="*/ 115 h 132"/>
                <a:gd name="T72" fmla="*/ 193 w 230"/>
                <a:gd name="T73" fmla="*/ 123 h 132"/>
                <a:gd name="T74" fmla="*/ 188 w 230"/>
                <a:gd name="T75" fmla="*/ 103 h 132"/>
                <a:gd name="T76" fmla="*/ 195 w 230"/>
                <a:gd name="T77" fmla="*/ 96 h 132"/>
                <a:gd name="T78" fmla="*/ 193 w 230"/>
                <a:gd name="T79" fmla="*/ 81 h 132"/>
                <a:gd name="T80" fmla="*/ 208 w 230"/>
                <a:gd name="T81" fmla="*/ 79 h 132"/>
                <a:gd name="T82" fmla="*/ 204 w 230"/>
                <a:gd name="T83" fmla="*/ 66 h 132"/>
                <a:gd name="T84" fmla="*/ 217 w 230"/>
                <a:gd name="T85" fmla="*/ 71 h 132"/>
                <a:gd name="T86" fmla="*/ 230 w 230"/>
                <a:gd name="T87" fmla="*/ 65 h 132"/>
                <a:gd name="T88" fmla="*/ 216 w 230"/>
                <a:gd name="T89" fmla="*/ 50 h 132"/>
                <a:gd name="T90" fmla="*/ 222 w 230"/>
                <a:gd name="T91" fmla="*/ 4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30" h="132">
                  <a:moveTo>
                    <a:pt x="222" y="42"/>
                  </a:moveTo>
                  <a:cubicBezTo>
                    <a:pt x="210" y="38"/>
                    <a:pt x="210" y="38"/>
                    <a:pt x="210" y="38"/>
                  </a:cubicBezTo>
                  <a:cubicBezTo>
                    <a:pt x="195" y="30"/>
                    <a:pt x="195" y="30"/>
                    <a:pt x="195" y="30"/>
                  </a:cubicBezTo>
                  <a:cubicBezTo>
                    <a:pt x="195" y="30"/>
                    <a:pt x="190" y="22"/>
                    <a:pt x="184" y="20"/>
                  </a:cubicBezTo>
                  <a:cubicBezTo>
                    <a:pt x="178" y="18"/>
                    <a:pt x="157" y="17"/>
                    <a:pt x="157" y="17"/>
                  </a:cubicBezTo>
                  <a:cubicBezTo>
                    <a:pt x="157" y="17"/>
                    <a:pt x="151" y="4"/>
                    <a:pt x="145" y="4"/>
                  </a:cubicBezTo>
                  <a:cubicBezTo>
                    <a:pt x="139" y="4"/>
                    <a:pt x="136" y="12"/>
                    <a:pt x="128" y="12"/>
                  </a:cubicBezTo>
                  <a:cubicBezTo>
                    <a:pt x="120" y="12"/>
                    <a:pt x="118" y="8"/>
                    <a:pt x="113" y="8"/>
                  </a:cubicBezTo>
                  <a:cubicBezTo>
                    <a:pt x="108" y="8"/>
                    <a:pt x="104" y="13"/>
                    <a:pt x="104" y="13"/>
                  </a:cubicBezTo>
                  <a:cubicBezTo>
                    <a:pt x="104" y="13"/>
                    <a:pt x="84" y="6"/>
                    <a:pt x="81" y="7"/>
                  </a:cubicBezTo>
                  <a:cubicBezTo>
                    <a:pt x="78" y="8"/>
                    <a:pt x="73" y="9"/>
                    <a:pt x="73" y="9"/>
                  </a:cubicBezTo>
                  <a:cubicBezTo>
                    <a:pt x="73" y="9"/>
                    <a:pt x="66" y="4"/>
                    <a:pt x="60" y="2"/>
                  </a:cubicBezTo>
                  <a:cubicBezTo>
                    <a:pt x="54" y="0"/>
                    <a:pt x="52" y="2"/>
                    <a:pt x="46" y="5"/>
                  </a:cubicBezTo>
                  <a:cubicBezTo>
                    <a:pt x="40" y="8"/>
                    <a:pt x="33" y="8"/>
                    <a:pt x="13" y="11"/>
                  </a:cubicBezTo>
                  <a:cubicBezTo>
                    <a:pt x="7" y="12"/>
                    <a:pt x="3" y="14"/>
                    <a:pt x="0" y="16"/>
                  </a:cubicBezTo>
                  <a:cubicBezTo>
                    <a:pt x="0" y="20"/>
                    <a:pt x="1" y="23"/>
                    <a:pt x="1" y="23"/>
                  </a:cubicBezTo>
                  <a:cubicBezTo>
                    <a:pt x="1" y="23"/>
                    <a:pt x="2" y="58"/>
                    <a:pt x="11" y="60"/>
                  </a:cubicBezTo>
                  <a:cubicBezTo>
                    <a:pt x="13" y="60"/>
                    <a:pt x="14" y="62"/>
                    <a:pt x="14" y="64"/>
                  </a:cubicBezTo>
                  <a:cubicBezTo>
                    <a:pt x="19" y="64"/>
                    <a:pt x="19" y="64"/>
                    <a:pt x="19" y="64"/>
                  </a:cubicBezTo>
                  <a:cubicBezTo>
                    <a:pt x="22" y="70"/>
                    <a:pt x="22" y="70"/>
                    <a:pt x="22" y="70"/>
                  </a:cubicBezTo>
                  <a:cubicBezTo>
                    <a:pt x="30" y="69"/>
                    <a:pt x="30" y="69"/>
                    <a:pt x="30" y="69"/>
                  </a:cubicBezTo>
                  <a:cubicBezTo>
                    <a:pt x="32" y="75"/>
                    <a:pt x="32" y="75"/>
                    <a:pt x="32" y="75"/>
                  </a:cubicBezTo>
                  <a:cubicBezTo>
                    <a:pt x="32" y="75"/>
                    <a:pt x="56" y="72"/>
                    <a:pt x="64" y="71"/>
                  </a:cubicBezTo>
                  <a:cubicBezTo>
                    <a:pt x="72" y="70"/>
                    <a:pt x="75" y="81"/>
                    <a:pt x="74" y="86"/>
                  </a:cubicBezTo>
                  <a:cubicBezTo>
                    <a:pt x="73" y="91"/>
                    <a:pt x="65" y="98"/>
                    <a:pt x="65" y="98"/>
                  </a:cubicBezTo>
                  <a:cubicBezTo>
                    <a:pt x="70" y="108"/>
                    <a:pt x="70" y="108"/>
                    <a:pt x="70" y="108"/>
                  </a:cubicBezTo>
                  <a:cubicBezTo>
                    <a:pt x="71" y="108"/>
                    <a:pt x="73" y="108"/>
                    <a:pt x="74" y="108"/>
                  </a:cubicBezTo>
                  <a:cubicBezTo>
                    <a:pt x="87" y="110"/>
                    <a:pt x="103" y="119"/>
                    <a:pt x="103" y="119"/>
                  </a:cubicBezTo>
                  <a:cubicBezTo>
                    <a:pt x="103" y="132"/>
                    <a:pt x="103" y="132"/>
                    <a:pt x="103" y="132"/>
                  </a:cubicBezTo>
                  <a:cubicBezTo>
                    <a:pt x="103" y="132"/>
                    <a:pt x="119" y="128"/>
                    <a:pt x="127" y="127"/>
                  </a:cubicBezTo>
                  <a:cubicBezTo>
                    <a:pt x="135" y="126"/>
                    <a:pt x="137" y="132"/>
                    <a:pt x="137" y="132"/>
                  </a:cubicBezTo>
                  <a:cubicBezTo>
                    <a:pt x="155" y="132"/>
                    <a:pt x="155" y="132"/>
                    <a:pt x="155" y="132"/>
                  </a:cubicBezTo>
                  <a:cubicBezTo>
                    <a:pt x="157" y="122"/>
                    <a:pt x="157" y="122"/>
                    <a:pt x="157" y="122"/>
                  </a:cubicBezTo>
                  <a:cubicBezTo>
                    <a:pt x="165" y="130"/>
                    <a:pt x="165" y="130"/>
                    <a:pt x="165" y="130"/>
                  </a:cubicBezTo>
                  <a:cubicBezTo>
                    <a:pt x="169" y="122"/>
                    <a:pt x="169" y="122"/>
                    <a:pt x="169" y="122"/>
                  </a:cubicBezTo>
                  <a:cubicBezTo>
                    <a:pt x="169" y="122"/>
                    <a:pt x="177" y="115"/>
                    <a:pt x="187" y="115"/>
                  </a:cubicBezTo>
                  <a:cubicBezTo>
                    <a:pt x="197" y="115"/>
                    <a:pt x="186" y="124"/>
                    <a:pt x="193" y="123"/>
                  </a:cubicBezTo>
                  <a:cubicBezTo>
                    <a:pt x="200" y="122"/>
                    <a:pt x="193" y="111"/>
                    <a:pt x="188" y="103"/>
                  </a:cubicBezTo>
                  <a:cubicBezTo>
                    <a:pt x="183" y="95"/>
                    <a:pt x="195" y="96"/>
                    <a:pt x="195" y="96"/>
                  </a:cubicBezTo>
                  <a:cubicBezTo>
                    <a:pt x="195" y="96"/>
                    <a:pt x="191" y="88"/>
                    <a:pt x="193" y="81"/>
                  </a:cubicBezTo>
                  <a:cubicBezTo>
                    <a:pt x="195" y="74"/>
                    <a:pt x="208" y="79"/>
                    <a:pt x="208" y="79"/>
                  </a:cubicBezTo>
                  <a:cubicBezTo>
                    <a:pt x="204" y="66"/>
                    <a:pt x="204" y="66"/>
                    <a:pt x="204" y="66"/>
                  </a:cubicBezTo>
                  <a:cubicBezTo>
                    <a:pt x="204" y="66"/>
                    <a:pt x="211" y="71"/>
                    <a:pt x="217" y="71"/>
                  </a:cubicBezTo>
                  <a:cubicBezTo>
                    <a:pt x="223" y="71"/>
                    <a:pt x="230" y="65"/>
                    <a:pt x="230" y="65"/>
                  </a:cubicBezTo>
                  <a:cubicBezTo>
                    <a:pt x="230" y="65"/>
                    <a:pt x="214" y="55"/>
                    <a:pt x="216" y="50"/>
                  </a:cubicBezTo>
                  <a:cubicBezTo>
                    <a:pt x="217" y="48"/>
                    <a:pt x="219" y="45"/>
                    <a:pt x="222" y="42"/>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464" name="Freeform 256">
              <a:extLst>
                <a:ext uri="{FF2B5EF4-FFF2-40B4-BE49-F238E27FC236}">
                  <a16:creationId xmlns:a16="http://schemas.microsoft.com/office/drawing/2014/main" id="{9072023A-1240-4133-9CAB-2EC15E0EA9D7}"/>
                </a:ext>
              </a:extLst>
            </p:cNvPr>
            <p:cNvSpPr>
              <a:spLocks/>
            </p:cNvSpPr>
            <p:nvPr/>
          </p:nvSpPr>
          <p:spPr bwMode="gray">
            <a:xfrm>
              <a:off x="4960111" y="1044144"/>
              <a:ext cx="132950" cy="69772"/>
            </a:xfrm>
            <a:custGeom>
              <a:avLst/>
              <a:gdLst>
                <a:gd name="T0" fmla="*/ 93 w 196"/>
                <a:gd name="T1" fmla="*/ 17 h 109"/>
                <a:gd name="T2" fmla="*/ 81 w 196"/>
                <a:gd name="T3" fmla="*/ 17 h 109"/>
                <a:gd name="T4" fmla="*/ 70 w 196"/>
                <a:gd name="T5" fmla="*/ 15 h 109"/>
                <a:gd name="T6" fmla="*/ 70 w 196"/>
                <a:gd name="T7" fmla="*/ 16 h 109"/>
                <a:gd name="T8" fmla="*/ 65 w 196"/>
                <a:gd name="T9" fmla="*/ 26 h 109"/>
                <a:gd name="T10" fmla="*/ 52 w 196"/>
                <a:gd name="T11" fmla="*/ 19 h 109"/>
                <a:gd name="T12" fmla="*/ 47 w 196"/>
                <a:gd name="T13" fmla="*/ 28 h 109"/>
                <a:gd name="T14" fmla="*/ 36 w 196"/>
                <a:gd name="T15" fmla="*/ 43 h 109"/>
                <a:gd name="T16" fmla="*/ 25 w 196"/>
                <a:gd name="T17" fmla="*/ 43 h 109"/>
                <a:gd name="T18" fmla="*/ 22 w 196"/>
                <a:gd name="T19" fmla="*/ 56 h 109"/>
                <a:gd name="T20" fmla="*/ 4 w 196"/>
                <a:gd name="T21" fmla="*/ 72 h 109"/>
                <a:gd name="T22" fmla="*/ 10 w 196"/>
                <a:gd name="T23" fmla="*/ 80 h 109"/>
                <a:gd name="T24" fmla="*/ 6 w 196"/>
                <a:gd name="T25" fmla="*/ 89 h 109"/>
                <a:gd name="T26" fmla="*/ 24 w 196"/>
                <a:gd name="T27" fmla="*/ 73 h 109"/>
                <a:gd name="T28" fmla="*/ 39 w 196"/>
                <a:gd name="T29" fmla="*/ 75 h 109"/>
                <a:gd name="T30" fmla="*/ 38 w 196"/>
                <a:gd name="T31" fmla="*/ 93 h 109"/>
                <a:gd name="T32" fmla="*/ 45 w 196"/>
                <a:gd name="T33" fmla="*/ 103 h 109"/>
                <a:gd name="T34" fmla="*/ 52 w 196"/>
                <a:gd name="T35" fmla="*/ 103 h 109"/>
                <a:gd name="T36" fmla="*/ 66 w 196"/>
                <a:gd name="T37" fmla="*/ 96 h 109"/>
                <a:gd name="T38" fmla="*/ 86 w 196"/>
                <a:gd name="T39" fmla="*/ 101 h 109"/>
                <a:gd name="T40" fmla="*/ 92 w 196"/>
                <a:gd name="T41" fmla="*/ 81 h 109"/>
                <a:gd name="T42" fmla="*/ 103 w 196"/>
                <a:gd name="T43" fmla="*/ 75 h 109"/>
                <a:gd name="T44" fmla="*/ 111 w 196"/>
                <a:gd name="T45" fmla="*/ 90 h 109"/>
                <a:gd name="T46" fmla="*/ 116 w 196"/>
                <a:gd name="T47" fmla="*/ 91 h 109"/>
                <a:gd name="T48" fmla="*/ 132 w 196"/>
                <a:gd name="T49" fmla="*/ 108 h 109"/>
                <a:gd name="T50" fmla="*/ 133 w 196"/>
                <a:gd name="T51" fmla="*/ 93 h 109"/>
                <a:gd name="T52" fmla="*/ 139 w 196"/>
                <a:gd name="T53" fmla="*/ 87 h 109"/>
                <a:gd name="T54" fmla="*/ 144 w 196"/>
                <a:gd name="T55" fmla="*/ 71 h 109"/>
                <a:gd name="T56" fmla="*/ 150 w 196"/>
                <a:gd name="T57" fmla="*/ 83 h 109"/>
                <a:gd name="T58" fmla="*/ 164 w 196"/>
                <a:gd name="T59" fmla="*/ 80 h 109"/>
                <a:gd name="T60" fmla="*/ 175 w 196"/>
                <a:gd name="T61" fmla="*/ 85 h 109"/>
                <a:gd name="T62" fmla="*/ 180 w 196"/>
                <a:gd name="T63" fmla="*/ 79 h 109"/>
                <a:gd name="T64" fmla="*/ 176 w 196"/>
                <a:gd name="T65" fmla="*/ 66 h 109"/>
                <a:gd name="T66" fmla="*/ 189 w 196"/>
                <a:gd name="T67" fmla="*/ 68 h 109"/>
                <a:gd name="T68" fmla="*/ 191 w 196"/>
                <a:gd name="T69" fmla="*/ 55 h 109"/>
                <a:gd name="T70" fmla="*/ 196 w 196"/>
                <a:gd name="T71" fmla="*/ 54 h 109"/>
                <a:gd name="T72" fmla="*/ 187 w 196"/>
                <a:gd name="T73" fmla="*/ 43 h 109"/>
                <a:gd name="T74" fmla="*/ 171 w 196"/>
                <a:gd name="T75" fmla="*/ 55 h 109"/>
                <a:gd name="T76" fmla="*/ 166 w 196"/>
                <a:gd name="T77" fmla="*/ 43 h 109"/>
                <a:gd name="T78" fmla="*/ 154 w 196"/>
                <a:gd name="T79" fmla="*/ 44 h 109"/>
                <a:gd name="T80" fmla="*/ 146 w 196"/>
                <a:gd name="T81" fmla="*/ 42 h 109"/>
                <a:gd name="T82" fmla="*/ 153 w 196"/>
                <a:gd name="T83" fmla="*/ 29 h 109"/>
                <a:gd name="T84" fmla="*/ 154 w 196"/>
                <a:gd name="T85" fmla="*/ 19 h 109"/>
                <a:gd name="T86" fmla="*/ 150 w 196"/>
                <a:gd name="T87" fmla="*/ 19 h 109"/>
                <a:gd name="T88" fmla="*/ 144 w 196"/>
                <a:gd name="T89" fmla="*/ 11 h 109"/>
                <a:gd name="T90" fmla="*/ 134 w 196"/>
                <a:gd name="T91" fmla="*/ 8 h 109"/>
                <a:gd name="T92" fmla="*/ 125 w 196"/>
                <a:gd name="T93" fmla="*/ 8 h 109"/>
                <a:gd name="T94" fmla="*/ 109 w 196"/>
                <a:gd name="T95" fmla="*/ 1 h 109"/>
                <a:gd name="T96" fmla="*/ 107 w 196"/>
                <a:gd name="T97" fmla="*/ 14 h 109"/>
                <a:gd name="T98" fmla="*/ 103 w 196"/>
                <a:gd name="T99" fmla="*/ 10 h 109"/>
                <a:gd name="T100" fmla="*/ 93 w 196"/>
                <a:gd name="T101" fmla="*/ 17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96" h="109">
                  <a:moveTo>
                    <a:pt x="93" y="17"/>
                  </a:moveTo>
                  <a:cubicBezTo>
                    <a:pt x="81" y="17"/>
                    <a:pt x="81" y="17"/>
                    <a:pt x="81" y="17"/>
                  </a:cubicBezTo>
                  <a:cubicBezTo>
                    <a:pt x="70" y="15"/>
                    <a:pt x="70" y="15"/>
                    <a:pt x="70" y="15"/>
                  </a:cubicBezTo>
                  <a:cubicBezTo>
                    <a:pt x="70" y="16"/>
                    <a:pt x="70" y="16"/>
                    <a:pt x="70" y="16"/>
                  </a:cubicBezTo>
                  <a:cubicBezTo>
                    <a:pt x="65" y="26"/>
                    <a:pt x="65" y="26"/>
                    <a:pt x="65" y="26"/>
                  </a:cubicBezTo>
                  <a:cubicBezTo>
                    <a:pt x="52" y="19"/>
                    <a:pt x="52" y="19"/>
                    <a:pt x="52" y="19"/>
                  </a:cubicBezTo>
                  <a:cubicBezTo>
                    <a:pt x="47" y="28"/>
                    <a:pt x="47" y="28"/>
                    <a:pt x="47" y="28"/>
                  </a:cubicBezTo>
                  <a:cubicBezTo>
                    <a:pt x="47" y="28"/>
                    <a:pt x="41" y="37"/>
                    <a:pt x="36" y="43"/>
                  </a:cubicBezTo>
                  <a:cubicBezTo>
                    <a:pt x="31" y="49"/>
                    <a:pt x="25" y="43"/>
                    <a:pt x="25" y="43"/>
                  </a:cubicBezTo>
                  <a:cubicBezTo>
                    <a:pt x="25" y="43"/>
                    <a:pt x="28" y="49"/>
                    <a:pt x="22" y="56"/>
                  </a:cubicBezTo>
                  <a:cubicBezTo>
                    <a:pt x="16" y="63"/>
                    <a:pt x="4" y="72"/>
                    <a:pt x="4" y="72"/>
                  </a:cubicBezTo>
                  <a:cubicBezTo>
                    <a:pt x="10" y="80"/>
                    <a:pt x="10" y="80"/>
                    <a:pt x="10" y="80"/>
                  </a:cubicBezTo>
                  <a:cubicBezTo>
                    <a:pt x="10" y="80"/>
                    <a:pt x="0" y="88"/>
                    <a:pt x="6" y="89"/>
                  </a:cubicBezTo>
                  <a:cubicBezTo>
                    <a:pt x="12" y="90"/>
                    <a:pt x="17" y="77"/>
                    <a:pt x="24" y="73"/>
                  </a:cubicBezTo>
                  <a:cubicBezTo>
                    <a:pt x="31" y="69"/>
                    <a:pt x="39" y="75"/>
                    <a:pt x="39" y="75"/>
                  </a:cubicBezTo>
                  <a:cubicBezTo>
                    <a:pt x="38" y="93"/>
                    <a:pt x="38" y="93"/>
                    <a:pt x="38" y="93"/>
                  </a:cubicBezTo>
                  <a:cubicBezTo>
                    <a:pt x="38" y="93"/>
                    <a:pt x="45" y="99"/>
                    <a:pt x="45" y="103"/>
                  </a:cubicBezTo>
                  <a:cubicBezTo>
                    <a:pt x="52" y="103"/>
                    <a:pt x="52" y="103"/>
                    <a:pt x="52" y="103"/>
                  </a:cubicBezTo>
                  <a:cubicBezTo>
                    <a:pt x="52" y="103"/>
                    <a:pt x="61" y="96"/>
                    <a:pt x="66" y="96"/>
                  </a:cubicBezTo>
                  <a:cubicBezTo>
                    <a:pt x="71" y="96"/>
                    <a:pt x="76" y="109"/>
                    <a:pt x="86" y="101"/>
                  </a:cubicBezTo>
                  <a:cubicBezTo>
                    <a:pt x="96" y="92"/>
                    <a:pt x="92" y="81"/>
                    <a:pt x="92" y="81"/>
                  </a:cubicBezTo>
                  <a:cubicBezTo>
                    <a:pt x="92" y="81"/>
                    <a:pt x="99" y="75"/>
                    <a:pt x="103" y="75"/>
                  </a:cubicBezTo>
                  <a:cubicBezTo>
                    <a:pt x="107" y="75"/>
                    <a:pt x="111" y="90"/>
                    <a:pt x="111" y="90"/>
                  </a:cubicBezTo>
                  <a:cubicBezTo>
                    <a:pt x="116" y="91"/>
                    <a:pt x="116" y="91"/>
                    <a:pt x="116" y="91"/>
                  </a:cubicBezTo>
                  <a:cubicBezTo>
                    <a:pt x="132" y="108"/>
                    <a:pt x="132" y="108"/>
                    <a:pt x="132" y="108"/>
                  </a:cubicBezTo>
                  <a:cubicBezTo>
                    <a:pt x="133" y="93"/>
                    <a:pt x="133" y="93"/>
                    <a:pt x="133" y="93"/>
                  </a:cubicBezTo>
                  <a:cubicBezTo>
                    <a:pt x="139" y="87"/>
                    <a:pt x="139" y="87"/>
                    <a:pt x="139" y="87"/>
                  </a:cubicBezTo>
                  <a:cubicBezTo>
                    <a:pt x="144" y="71"/>
                    <a:pt x="144" y="71"/>
                    <a:pt x="144" y="71"/>
                  </a:cubicBezTo>
                  <a:cubicBezTo>
                    <a:pt x="150" y="83"/>
                    <a:pt x="150" y="83"/>
                    <a:pt x="150" y="83"/>
                  </a:cubicBezTo>
                  <a:cubicBezTo>
                    <a:pt x="164" y="80"/>
                    <a:pt x="164" y="80"/>
                    <a:pt x="164" y="80"/>
                  </a:cubicBezTo>
                  <a:cubicBezTo>
                    <a:pt x="175" y="85"/>
                    <a:pt x="175" y="85"/>
                    <a:pt x="175" y="85"/>
                  </a:cubicBezTo>
                  <a:cubicBezTo>
                    <a:pt x="180" y="79"/>
                    <a:pt x="180" y="79"/>
                    <a:pt x="180" y="79"/>
                  </a:cubicBezTo>
                  <a:cubicBezTo>
                    <a:pt x="180" y="79"/>
                    <a:pt x="165" y="68"/>
                    <a:pt x="176" y="66"/>
                  </a:cubicBezTo>
                  <a:cubicBezTo>
                    <a:pt x="187" y="64"/>
                    <a:pt x="189" y="68"/>
                    <a:pt x="189" y="68"/>
                  </a:cubicBezTo>
                  <a:cubicBezTo>
                    <a:pt x="191" y="55"/>
                    <a:pt x="191" y="55"/>
                    <a:pt x="191" y="55"/>
                  </a:cubicBezTo>
                  <a:cubicBezTo>
                    <a:pt x="196" y="54"/>
                    <a:pt x="196" y="54"/>
                    <a:pt x="196" y="54"/>
                  </a:cubicBezTo>
                  <a:cubicBezTo>
                    <a:pt x="195" y="50"/>
                    <a:pt x="192" y="44"/>
                    <a:pt x="187" y="43"/>
                  </a:cubicBezTo>
                  <a:cubicBezTo>
                    <a:pt x="176" y="43"/>
                    <a:pt x="178" y="52"/>
                    <a:pt x="171" y="55"/>
                  </a:cubicBezTo>
                  <a:cubicBezTo>
                    <a:pt x="163" y="57"/>
                    <a:pt x="166" y="43"/>
                    <a:pt x="166" y="43"/>
                  </a:cubicBezTo>
                  <a:cubicBezTo>
                    <a:pt x="154" y="44"/>
                    <a:pt x="154" y="44"/>
                    <a:pt x="154" y="44"/>
                  </a:cubicBezTo>
                  <a:cubicBezTo>
                    <a:pt x="154" y="44"/>
                    <a:pt x="150" y="44"/>
                    <a:pt x="146" y="42"/>
                  </a:cubicBezTo>
                  <a:cubicBezTo>
                    <a:pt x="142" y="39"/>
                    <a:pt x="148" y="31"/>
                    <a:pt x="153" y="29"/>
                  </a:cubicBezTo>
                  <a:cubicBezTo>
                    <a:pt x="159" y="27"/>
                    <a:pt x="154" y="19"/>
                    <a:pt x="154" y="19"/>
                  </a:cubicBezTo>
                  <a:cubicBezTo>
                    <a:pt x="150" y="19"/>
                    <a:pt x="150" y="19"/>
                    <a:pt x="150" y="19"/>
                  </a:cubicBezTo>
                  <a:cubicBezTo>
                    <a:pt x="144" y="11"/>
                    <a:pt x="144" y="11"/>
                    <a:pt x="144" y="11"/>
                  </a:cubicBezTo>
                  <a:cubicBezTo>
                    <a:pt x="134" y="8"/>
                    <a:pt x="134" y="8"/>
                    <a:pt x="134" y="8"/>
                  </a:cubicBezTo>
                  <a:cubicBezTo>
                    <a:pt x="125" y="8"/>
                    <a:pt x="125" y="8"/>
                    <a:pt x="125" y="8"/>
                  </a:cubicBezTo>
                  <a:cubicBezTo>
                    <a:pt x="125" y="8"/>
                    <a:pt x="116" y="0"/>
                    <a:pt x="109" y="1"/>
                  </a:cubicBezTo>
                  <a:cubicBezTo>
                    <a:pt x="102" y="2"/>
                    <a:pt x="107" y="14"/>
                    <a:pt x="107" y="14"/>
                  </a:cubicBezTo>
                  <a:cubicBezTo>
                    <a:pt x="103" y="10"/>
                    <a:pt x="103" y="10"/>
                    <a:pt x="103" y="10"/>
                  </a:cubicBezTo>
                  <a:lnTo>
                    <a:pt x="93" y="17"/>
                  </a:ln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465" name="Freeform 257">
              <a:extLst>
                <a:ext uri="{FF2B5EF4-FFF2-40B4-BE49-F238E27FC236}">
                  <a16:creationId xmlns:a16="http://schemas.microsoft.com/office/drawing/2014/main" id="{E2A350AC-5890-4F9C-9A8B-384F0179B310}"/>
                </a:ext>
              </a:extLst>
            </p:cNvPr>
            <p:cNvSpPr>
              <a:spLocks noEditPoints="1"/>
            </p:cNvSpPr>
            <p:nvPr/>
          </p:nvSpPr>
          <p:spPr bwMode="gray">
            <a:xfrm>
              <a:off x="4977915" y="1069121"/>
              <a:ext cx="354630" cy="355379"/>
            </a:xfrm>
            <a:custGeom>
              <a:avLst/>
              <a:gdLst>
                <a:gd name="T0" fmla="*/ 341 w 523"/>
                <a:gd name="T1" fmla="*/ 483 h 554"/>
                <a:gd name="T2" fmla="*/ 278 w 523"/>
                <a:gd name="T3" fmla="*/ 485 h 554"/>
                <a:gd name="T4" fmla="*/ 281 w 523"/>
                <a:gd name="T5" fmla="*/ 507 h 554"/>
                <a:gd name="T6" fmla="*/ 330 w 523"/>
                <a:gd name="T7" fmla="*/ 531 h 554"/>
                <a:gd name="T8" fmla="*/ 372 w 523"/>
                <a:gd name="T9" fmla="*/ 513 h 554"/>
                <a:gd name="T10" fmla="*/ 378 w 523"/>
                <a:gd name="T11" fmla="*/ 479 h 554"/>
                <a:gd name="T12" fmla="*/ 68 w 523"/>
                <a:gd name="T13" fmla="*/ 320 h 554"/>
                <a:gd name="T14" fmla="*/ 75 w 523"/>
                <a:gd name="T15" fmla="*/ 381 h 554"/>
                <a:gd name="T16" fmla="*/ 78 w 523"/>
                <a:gd name="T17" fmla="*/ 424 h 554"/>
                <a:gd name="T18" fmla="*/ 103 w 523"/>
                <a:gd name="T19" fmla="*/ 414 h 554"/>
                <a:gd name="T20" fmla="*/ 133 w 523"/>
                <a:gd name="T21" fmla="*/ 388 h 554"/>
                <a:gd name="T22" fmla="*/ 140 w 523"/>
                <a:gd name="T23" fmla="*/ 352 h 554"/>
                <a:gd name="T24" fmla="*/ 481 w 523"/>
                <a:gd name="T25" fmla="*/ 337 h 554"/>
                <a:gd name="T26" fmla="*/ 414 w 523"/>
                <a:gd name="T27" fmla="*/ 281 h 554"/>
                <a:gd name="T28" fmla="*/ 311 w 523"/>
                <a:gd name="T29" fmla="*/ 216 h 554"/>
                <a:gd name="T30" fmla="*/ 249 w 523"/>
                <a:gd name="T31" fmla="*/ 148 h 554"/>
                <a:gd name="T32" fmla="*/ 244 w 523"/>
                <a:gd name="T33" fmla="*/ 92 h 554"/>
                <a:gd name="T34" fmla="*/ 294 w 523"/>
                <a:gd name="T35" fmla="*/ 46 h 554"/>
                <a:gd name="T36" fmla="*/ 265 w 523"/>
                <a:gd name="T37" fmla="*/ 29 h 554"/>
                <a:gd name="T38" fmla="*/ 243 w 523"/>
                <a:gd name="T39" fmla="*/ 16 h 554"/>
                <a:gd name="T40" fmla="*/ 195 w 523"/>
                <a:gd name="T41" fmla="*/ 7 h 554"/>
                <a:gd name="T42" fmla="*/ 165 w 523"/>
                <a:gd name="T43" fmla="*/ 16 h 554"/>
                <a:gd name="T44" fmla="*/ 154 w 523"/>
                <a:gd name="T45" fmla="*/ 40 h 554"/>
                <a:gd name="T46" fmla="*/ 124 w 523"/>
                <a:gd name="T47" fmla="*/ 44 h 554"/>
                <a:gd name="T48" fmla="*/ 107 w 523"/>
                <a:gd name="T49" fmla="*/ 54 h 554"/>
                <a:gd name="T50" fmla="*/ 85 w 523"/>
                <a:gd name="T51" fmla="*/ 51 h 554"/>
                <a:gd name="T52" fmla="*/ 60 w 523"/>
                <a:gd name="T53" fmla="*/ 62 h 554"/>
                <a:gd name="T54" fmla="*/ 19 w 523"/>
                <a:gd name="T55" fmla="*/ 64 h 554"/>
                <a:gd name="T56" fmla="*/ 28 w 523"/>
                <a:gd name="T57" fmla="*/ 93 h 554"/>
                <a:gd name="T58" fmla="*/ 6 w 523"/>
                <a:gd name="T59" fmla="*/ 118 h 554"/>
                <a:gd name="T60" fmla="*/ 12 w 523"/>
                <a:gd name="T61" fmla="*/ 141 h 554"/>
                <a:gd name="T62" fmla="*/ 45 w 523"/>
                <a:gd name="T63" fmla="*/ 160 h 554"/>
                <a:gd name="T64" fmla="*/ 58 w 523"/>
                <a:gd name="T65" fmla="*/ 173 h 554"/>
                <a:gd name="T66" fmla="*/ 160 w 523"/>
                <a:gd name="T67" fmla="*/ 192 h 554"/>
                <a:gd name="T68" fmla="*/ 193 w 523"/>
                <a:gd name="T69" fmla="*/ 236 h 554"/>
                <a:gd name="T70" fmla="*/ 259 w 523"/>
                <a:gd name="T71" fmla="*/ 294 h 554"/>
                <a:gd name="T72" fmla="*/ 325 w 523"/>
                <a:gd name="T73" fmla="*/ 334 h 554"/>
                <a:gd name="T74" fmla="*/ 397 w 523"/>
                <a:gd name="T75" fmla="*/ 373 h 554"/>
                <a:gd name="T76" fmla="*/ 418 w 523"/>
                <a:gd name="T77" fmla="*/ 446 h 554"/>
                <a:gd name="T78" fmla="*/ 395 w 523"/>
                <a:gd name="T79" fmla="*/ 489 h 554"/>
                <a:gd name="T80" fmla="*/ 435 w 523"/>
                <a:gd name="T81" fmla="*/ 466 h 554"/>
                <a:gd name="T82" fmla="*/ 452 w 523"/>
                <a:gd name="T83" fmla="*/ 408 h 554"/>
                <a:gd name="T84" fmla="*/ 468 w 523"/>
                <a:gd name="T85" fmla="*/ 361 h 554"/>
                <a:gd name="T86" fmla="*/ 515 w 523"/>
                <a:gd name="T87" fmla="*/ 363 h 5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23" h="554">
                  <a:moveTo>
                    <a:pt x="378" y="479"/>
                  </a:moveTo>
                  <a:cubicBezTo>
                    <a:pt x="378" y="479"/>
                    <a:pt x="365" y="472"/>
                    <a:pt x="358" y="474"/>
                  </a:cubicBezTo>
                  <a:cubicBezTo>
                    <a:pt x="351" y="476"/>
                    <a:pt x="341" y="483"/>
                    <a:pt x="341" y="483"/>
                  </a:cubicBezTo>
                  <a:cubicBezTo>
                    <a:pt x="341" y="483"/>
                    <a:pt x="322" y="486"/>
                    <a:pt x="314" y="486"/>
                  </a:cubicBezTo>
                  <a:cubicBezTo>
                    <a:pt x="306" y="486"/>
                    <a:pt x="292" y="470"/>
                    <a:pt x="289" y="473"/>
                  </a:cubicBezTo>
                  <a:cubicBezTo>
                    <a:pt x="286" y="476"/>
                    <a:pt x="278" y="485"/>
                    <a:pt x="278" y="485"/>
                  </a:cubicBezTo>
                  <a:cubicBezTo>
                    <a:pt x="265" y="477"/>
                    <a:pt x="265" y="477"/>
                    <a:pt x="265" y="477"/>
                  </a:cubicBezTo>
                  <a:cubicBezTo>
                    <a:pt x="265" y="477"/>
                    <a:pt x="245" y="482"/>
                    <a:pt x="253" y="494"/>
                  </a:cubicBezTo>
                  <a:cubicBezTo>
                    <a:pt x="264" y="510"/>
                    <a:pt x="276" y="505"/>
                    <a:pt x="281" y="507"/>
                  </a:cubicBezTo>
                  <a:cubicBezTo>
                    <a:pt x="286" y="509"/>
                    <a:pt x="291" y="517"/>
                    <a:pt x="293" y="521"/>
                  </a:cubicBezTo>
                  <a:cubicBezTo>
                    <a:pt x="295" y="525"/>
                    <a:pt x="317" y="535"/>
                    <a:pt x="317" y="535"/>
                  </a:cubicBezTo>
                  <a:cubicBezTo>
                    <a:pt x="330" y="531"/>
                    <a:pt x="330" y="531"/>
                    <a:pt x="330" y="531"/>
                  </a:cubicBezTo>
                  <a:cubicBezTo>
                    <a:pt x="330" y="531"/>
                    <a:pt x="344" y="552"/>
                    <a:pt x="363" y="553"/>
                  </a:cubicBezTo>
                  <a:cubicBezTo>
                    <a:pt x="382" y="554"/>
                    <a:pt x="377" y="537"/>
                    <a:pt x="377" y="537"/>
                  </a:cubicBezTo>
                  <a:cubicBezTo>
                    <a:pt x="377" y="537"/>
                    <a:pt x="372" y="520"/>
                    <a:pt x="372" y="513"/>
                  </a:cubicBezTo>
                  <a:cubicBezTo>
                    <a:pt x="372" y="506"/>
                    <a:pt x="377" y="496"/>
                    <a:pt x="383" y="491"/>
                  </a:cubicBezTo>
                  <a:cubicBezTo>
                    <a:pt x="389" y="486"/>
                    <a:pt x="383" y="469"/>
                    <a:pt x="383" y="469"/>
                  </a:cubicBezTo>
                  <a:lnTo>
                    <a:pt x="378" y="479"/>
                  </a:lnTo>
                  <a:close/>
                  <a:moveTo>
                    <a:pt x="119" y="312"/>
                  </a:moveTo>
                  <a:cubicBezTo>
                    <a:pt x="107" y="311"/>
                    <a:pt x="95" y="332"/>
                    <a:pt x="87" y="332"/>
                  </a:cubicBezTo>
                  <a:cubicBezTo>
                    <a:pt x="79" y="332"/>
                    <a:pt x="68" y="320"/>
                    <a:pt x="68" y="320"/>
                  </a:cubicBezTo>
                  <a:cubicBezTo>
                    <a:pt x="64" y="331"/>
                    <a:pt x="64" y="331"/>
                    <a:pt x="64" y="331"/>
                  </a:cubicBezTo>
                  <a:cubicBezTo>
                    <a:pt x="64" y="331"/>
                    <a:pt x="79" y="344"/>
                    <a:pt x="79" y="354"/>
                  </a:cubicBezTo>
                  <a:cubicBezTo>
                    <a:pt x="79" y="364"/>
                    <a:pt x="75" y="381"/>
                    <a:pt x="75" y="381"/>
                  </a:cubicBezTo>
                  <a:cubicBezTo>
                    <a:pt x="81" y="388"/>
                    <a:pt x="81" y="388"/>
                    <a:pt x="81" y="388"/>
                  </a:cubicBezTo>
                  <a:cubicBezTo>
                    <a:pt x="73" y="393"/>
                    <a:pt x="73" y="393"/>
                    <a:pt x="73" y="393"/>
                  </a:cubicBezTo>
                  <a:cubicBezTo>
                    <a:pt x="78" y="424"/>
                    <a:pt x="78" y="424"/>
                    <a:pt x="78" y="424"/>
                  </a:cubicBezTo>
                  <a:cubicBezTo>
                    <a:pt x="69" y="424"/>
                    <a:pt x="69" y="424"/>
                    <a:pt x="69" y="424"/>
                  </a:cubicBezTo>
                  <a:cubicBezTo>
                    <a:pt x="82" y="435"/>
                    <a:pt x="82" y="435"/>
                    <a:pt x="82" y="435"/>
                  </a:cubicBezTo>
                  <a:cubicBezTo>
                    <a:pt x="98" y="435"/>
                    <a:pt x="103" y="414"/>
                    <a:pt x="103" y="414"/>
                  </a:cubicBezTo>
                  <a:cubicBezTo>
                    <a:pt x="103" y="414"/>
                    <a:pt x="115" y="430"/>
                    <a:pt x="124" y="423"/>
                  </a:cubicBezTo>
                  <a:cubicBezTo>
                    <a:pt x="133" y="416"/>
                    <a:pt x="129" y="398"/>
                    <a:pt x="129" y="398"/>
                  </a:cubicBezTo>
                  <a:cubicBezTo>
                    <a:pt x="133" y="388"/>
                    <a:pt x="133" y="388"/>
                    <a:pt x="133" y="388"/>
                  </a:cubicBezTo>
                  <a:cubicBezTo>
                    <a:pt x="133" y="371"/>
                    <a:pt x="133" y="371"/>
                    <a:pt x="133" y="371"/>
                  </a:cubicBezTo>
                  <a:cubicBezTo>
                    <a:pt x="133" y="371"/>
                    <a:pt x="127" y="369"/>
                    <a:pt x="128" y="364"/>
                  </a:cubicBezTo>
                  <a:cubicBezTo>
                    <a:pt x="129" y="359"/>
                    <a:pt x="140" y="359"/>
                    <a:pt x="140" y="352"/>
                  </a:cubicBezTo>
                  <a:cubicBezTo>
                    <a:pt x="140" y="345"/>
                    <a:pt x="131" y="313"/>
                    <a:pt x="119" y="312"/>
                  </a:cubicBezTo>
                  <a:close/>
                  <a:moveTo>
                    <a:pt x="515" y="363"/>
                  </a:moveTo>
                  <a:cubicBezTo>
                    <a:pt x="507" y="354"/>
                    <a:pt x="481" y="337"/>
                    <a:pt x="481" y="337"/>
                  </a:cubicBezTo>
                  <a:cubicBezTo>
                    <a:pt x="451" y="321"/>
                    <a:pt x="451" y="321"/>
                    <a:pt x="451" y="321"/>
                  </a:cubicBezTo>
                  <a:cubicBezTo>
                    <a:pt x="451" y="321"/>
                    <a:pt x="398" y="308"/>
                    <a:pt x="402" y="299"/>
                  </a:cubicBezTo>
                  <a:cubicBezTo>
                    <a:pt x="406" y="290"/>
                    <a:pt x="415" y="289"/>
                    <a:pt x="414" y="281"/>
                  </a:cubicBezTo>
                  <a:cubicBezTo>
                    <a:pt x="413" y="273"/>
                    <a:pt x="365" y="271"/>
                    <a:pt x="365" y="271"/>
                  </a:cubicBezTo>
                  <a:cubicBezTo>
                    <a:pt x="365" y="271"/>
                    <a:pt x="351" y="266"/>
                    <a:pt x="334" y="249"/>
                  </a:cubicBezTo>
                  <a:cubicBezTo>
                    <a:pt x="317" y="232"/>
                    <a:pt x="311" y="216"/>
                    <a:pt x="311" y="216"/>
                  </a:cubicBezTo>
                  <a:cubicBezTo>
                    <a:pt x="311" y="216"/>
                    <a:pt x="306" y="192"/>
                    <a:pt x="296" y="186"/>
                  </a:cubicBezTo>
                  <a:cubicBezTo>
                    <a:pt x="286" y="180"/>
                    <a:pt x="275" y="170"/>
                    <a:pt x="275" y="170"/>
                  </a:cubicBezTo>
                  <a:cubicBezTo>
                    <a:pt x="249" y="148"/>
                    <a:pt x="249" y="148"/>
                    <a:pt x="249" y="148"/>
                  </a:cubicBezTo>
                  <a:cubicBezTo>
                    <a:pt x="249" y="148"/>
                    <a:pt x="235" y="126"/>
                    <a:pt x="240" y="124"/>
                  </a:cubicBezTo>
                  <a:cubicBezTo>
                    <a:pt x="245" y="122"/>
                    <a:pt x="253" y="120"/>
                    <a:pt x="253" y="115"/>
                  </a:cubicBezTo>
                  <a:cubicBezTo>
                    <a:pt x="253" y="110"/>
                    <a:pt x="236" y="101"/>
                    <a:pt x="244" y="92"/>
                  </a:cubicBezTo>
                  <a:cubicBezTo>
                    <a:pt x="252" y="83"/>
                    <a:pt x="275" y="77"/>
                    <a:pt x="275" y="77"/>
                  </a:cubicBezTo>
                  <a:cubicBezTo>
                    <a:pt x="289" y="71"/>
                    <a:pt x="289" y="71"/>
                    <a:pt x="289" y="71"/>
                  </a:cubicBezTo>
                  <a:cubicBezTo>
                    <a:pt x="294" y="46"/>
                    <a:pt x="294" y="46"/>
                    <a:pt x="294" y="46"/>
                  </a:cubicBezTo>
                  <a:cubicBezTo>
                    <a:pt x="286" y="43"/>
                    <a:pt x="286" y="43"/>
                    <a:pt x="286" y="43"/>
                  </a:cubicBezTo>
                  <a:cubicBezTo>
                    <a:pt x="286" y="43"/>
                    <a:pt x="294" y="36"/>
                    <a:pt x="291" y="30"/>
                  </a:cubicBezTo>
                  <a:cubicBezTo>
                    <a:pt x="288" y="25"/>
                    <a:pt x="265" y="29"/>
                    <a:pt x="265" y="29"/>
                  </a:cubicBezTo>
                  <a:cubicBezTo>
                    <a:pt x="253" y="29"/>
                    <a:pt x="253" y="29"/>
                    <a:pt x="253" y="29"/>
                  </a:cubicBezTo>
                  <a:cubicBezTo>
                    <a:pt x="248" y="16"/>
                    <a:pt x="248" y="16"/>
                    <a:pt x="248" y="16"/>
                  </a:cubicBezTo>
                  <a:cubicBezTo>
                    <a:pt x="243" y="16"/>
                    <a:pt x="243" y="16"/>
                    <a:pt x="243" y="16"/>
                  </a:cubicBezTo>
                  <a:cubicBezTo>
                    <a:pt x="243" y="16"/>
                    <a:pt x="242" y="2"/>
                    <a:pt x="233" y="1"/>
                  </a:cubicBezTo>
                  <a:cubicBezTo>
                    <a:pt x="223" y="0"/>
                    <a:pt x="221" y="9"/>
                    <a:pt x="221" y="9"/>
                  </a:cubicBezTo>
                  <a:cubicBezTo>
                    <a:pt x="195" y="7"/>
                    <a:pt x="195" y="7"/>
                    <a:pt x="195" y="7"/>
                  </a:cubicBezTo>
                  <a:cubicBezTo>
                    <a:pt x="185" y="19"/>
                    <a:pt x="185" y="19"/>
                    <a:pt x="185" y="19"/>
                  </a:cubicBezTo>
                  <a:cubicBezTo>
                    <a:pt x="179" y="15"/>
                    <a:pt x="179" y="15"/>
                    <a:pt x="179" y="15"/>
                  </a:cubicBezTo>
                  <a:cubicBezTo>
                    <a:pt x="165" y="16"/>
                    <a:pt x="165" y="16"/>
                    <a:pt x="165" y="16"/>
                  </a:cubicBezTo>
                  <a:cubicBezTo>
                    <a:pt x="163" y="29"/>
                    <a:pt x="163" y="29"/>
                    <a:pt x="163" y="29"/>
                  </a:cubicBezTo>
                  <a:cubicBezTo>
                    <a:pt x="163" y="29"/>
                    <a:pt x="161" y="25"/>
                    <a:pt x="150" y="27"/>
                  </a:cubicBezTo>
                  <a:cubicBezTo>
                    <a:pt x="139" y="29"/>
                    <a:pt x="154" y="40"/>
                    <a:pt x="154" y="40"/>
                  </a:cubicBezTo>
                  <a:cubicBezTo>
                    <a:pt x="149" y="46"/>
                    <a:pt x="149" y="46"/>
                    <a:pt x="149" y="46"/>
                  </a:cubicBezTo>
                  <a:cubicBezTo>
                    <a:pt x="138" y="41"/>
                    <a:pt x="138" y="41"/>
                    <a:pt x="138" y="41"/>
                  </a:cubicBezTo>
                  <a:cubicBezTo>
                    <a:pt x="124" y="44"/>
                    <a:pt x="124" y="44"/>
                    <a:pt x="124" y="44"/>
                  </a:cubicBezTo>
                  <a:cubicBezTo>
                    <a:pt x="118" y="32"/>
                    <a:pt x="118" y="32"/>
                    <a:pt x="118" y="32"/>
                  </a:cubicBezTo>
                  <a:cubicBezTo>
                    <a:pt x="113" y="48"/>
                    <a:pt x="113" y="48"/>
                    <a:pt x="113" y="48"/>
                  </a:cubicBezTo>
                  <a:cubicBezTo>
                    <a:pt x="107" y="54"/>
                    <a:pt x="107" y="54"/>
                    <a:pt x="107" y="54"/>
                  </a:cubicBezTo>
                  <a:cubicBezTo>
                    <a:pt x="106" y="69"/>
                    <a:pt x="106" y="69"/>
                    <a:pt x="106" y="69"/>
                  </a:cubicBezTo>
                  <a:cubicBezTo>
                    <a:pt x="90" y="52"/>
                    <a:pt x="90" y="52"/>
                    <a:pt x="90" y="52"/>
                  </a:cubicBezTo>
                  <a:cubicBezTo>
                    <a:pt x="85" y="51"/>
                    <a:pt x="85" y="51"/>
                    <a:pt x="85" y="51"/>
                  </a:cubicBezTo>
                  <a:cubicBezTo>
                    <a:pt x="85" y="51"/>
                    <a:pt x="81" y="36"/>
                    <a:pt x="77" y="36"/>
                  </a:cubicBezTo>
                  <a:cubicBezTo>
                    <a:pt x="73" y="36"/>
                    <a:pt x="66" y="42"/>
                    <a:pt x="66" y="42"/>
                  </a:cubicBezTo>
                  <a:cubicBezTo>
                    <a:pt x="66" y="42"/>
                    <a:pt x="70" y="53"/>
                    <a:pt x="60" y="62"/>
                  </a:cubicBezTo>
                  <a:cubicBezTo>
                    <a:pt x="50" y="70"/>
                    <a:pt x="45" y="57"/>
                    <a:pt x="40" y="57"/>
                  </a:cubicBezTo>
                  <a:cubicBezTo>
                    <a:pt x="35" y="57"/>
                    <a:pt x="26" y="64"/>
                    <a:pt x="26" y="64"/>
                  </a:cubicBezTo>
                  <a:cubicBezTo>
                    <a:pt x="19" y="64"/>
                    <a:pt x="19" y="64"/>
                    <a:pt x="19" y="64"/>
                  </a:cubicBezTo>
                  <a:cubicBezTo>
                    <a:pt x="19" y="68"/>
                    <a:pt x="9" y="72"/>
                    <a:pt x="9" y="72"/>
                  </a:cubicBezTo>
                  <a:cubicBezTo>
                    <a:pt x="17" y="80"/>
                    <a:pt x="17" y="80"/>
                    <a:pt x="17" y="80"/>
                  </a:cubicBezTo>
                  <a:cubicBezTo>
                    <a:pt x="17" y="80"/>
                    <a:pt x="28" y="84"/>
                    <a:pt x="28" y="93"/>
                  </a:cubicBezTo>
                  <a:cubicBezTo>
                    <a:pt x="28" y="102"/>
                    <a:pt x="9" y="103"/>
                    <a:pt x="9" y="103"/>
                  </a:cubicBezTo>
                  <a:cubicBezTo>
                    <a:pt x="0" y="105"/>
                    <a:pt x="0" y="105"/>
                    <a:pt x="0" y="105"/>
                  </a:cubicBezTo>
                  <a:cubicBezTo>
                    <a:pt x="6" y="118"/>
                    <a:pt x="6" y="118"/>
                    <a:pt x="6" y="118"/>
                  </a:cubicBezTo>
                  <a:cubicBezTo>
                    <a:pt x="13" y="118"/>
                    <a:pt x="13" y="118"/>
                    <a:pt x="13" y="118"/>
                  </a:cubicBezTo>
                  <a:cubicBezTo>
                    <a:pt x="13" y="118"/>
                    <a:pt x="17" y="121"/>
                    <a:pt x="18" y="126"/>
                  </a:cubicBezTo>
                  <a:cubicBezTo>
                    <a:pt x="19" y="131"/>
                    <a:pt x="13" y="131"/>
                    <a:pt x="12" y="141"/>
                  </a:cubicBezTo>
                  <a:cubicBezTo>
                    <a:pt x="11" y="151"/>
                    <a:pt x="25" y="152"/>
                    <a:pt x="25" y="152"/>
                  </a:cubicBezTo>
                  <a:cubicBezTo>
                    <a:pt x="28" y="158"/>
                    <a:pt x="28" y="158"/>
                    <a:pt x="28" y="158"/>
                  </a:cubicBezTo>
                  <a:cubicBezTo>
                    <a:pt x="28" y="158"/>
                    <a:pt x="42" y="156"/>
                    <a:pt x="45" y="160"/>
                  </a:cubicBezTo>
                  <a:cubicBezTo>
                    <a:pt x="48" y="164"/>
                    <a:pt x="42" y="174"/>
                    <a:pt x="38" y="174"/>
                  </a:cubicBezTo>
                  <a:cubicBezTo>
                    <a:pt x="36" y="174"/>
                    <a:pt x="35" y="176"/>
                    <a:pt x="35" y="179"/>
                  </a:cubicBezTo>
                  <a:cubicBezTo>
                    <a:pt x="44" y="178"/>
                    <a:pt x="54" y="177"/>
                    <a:pt x="58" y="173"/>
                  </a:cubicBezTo>
                  <a:cubicBezTo>
                    <a:pt x="65" y="166"/>
                    <a:pt x="83" y="145"/>
                    <a:pt x="93" y="145"/>
                  </a:cubicBezTo>
                  <a:cubicBezTo>
                    <a:pt x="103" y="145"/>
                    <a:pt x="132" y="152"/>
                    <a:pt x="144" y="162"/>
                  </a:cubicBezTo>
                  <a:cubicBezTo>
                    <a:pt x="156" y="172"/>
                    <a:pt x="160" y="192"/>
                    <a:pt x="160" y="192"/>
                  </a:cubicBezTo>
                  <a:cubicBezTo>
                    <a:pt x="168" y="200"/>
                    <a:pt x="168" y="200"/>
                    <a:pt x="168" y="200"/>
                  </a:cubicBezTo>
                  <a:cubicBezTo>
                    <a:pt x="168" y="200"/>
                    <a:pt x="160" y="221"/>
                    <a:pt x="169" y="226"/>
                  </a:cubicBezTo>
                  <a:cubicBezTo>
                    <a:pt x="178" y="231"/>
                    <a:pt x="193" y="236"/>
                    <a:pt x="193" y="236"/>
                  </a:cubicBezTo>
                  <a:cubicBezTo>
                    <a:pt x="197" y="249"/>
                    <a:pt x="197" y="249"/>
                    <a:pt x="197" y="249"/>
                  </a:cubicBezTo>
                  <a:cubicBezTo>
                    <a:pt x="217" y="250"/>
                    <a:pt x="217" y="250"/>
                    <a:pt x="217" y="250"/>
                  </a:cubicBezTo>
                  <a:cubicBezTo>
                    <a:pt x="217" y="250"/>
                    <a:pt x="250" y="284"/>
                    <a:pt x="259" y="294"/>
                  </a:cubicBezTo>
                  <a:cubicBezTo>
                    <a:pt x="268" y="304"/>
                    <a:pt x="276" y="313"/>
                    <a:pt x="276" y="313"/>
                  </a:cubicBezTo>
                  <a:cubicBezTo>
                    <a:pt x="303" y="314"/>
                    <a:pt x="303" y="314"/>
                    <a:pt x="303" y="314"/>
                  </a:cubicBezTo>
                  <a:cubicBezTo>
                    <a:pt x="303" y="314"/>
                    <a:pt x="310" y="329"/>
                    <a:pt x="325" y="334"/>
                  </a:cubicBezTo>
                  <a:cubicBezTo>
                    <a:pt x="340" y="339"/>
                    <a:pt x="359" y="335"/>
                    <a:pt x="362" y="342"/>
                  </a:cubicBezTo>
                  <a:cubicBezTo>
                    <a:pt x="365" y="349"/>
                    <a:pt x="366" y="372"/>
                    <a:pt x="379" y="375"/>
                  </a:cubicBezTo>
                  <a:cubicBezTo>
                    <a:pt x="392" y="378"/>
                    <a:pt x="397" y="373"/>
                    <a:pt x="397" y="373"/>
                  </a:cubicBezTo>
                  <a:cubicBezTo>
                    <a:pt x="397" y="373"/>
                    <a:pt x="400" y="392"/>
                    <a:pt x="402" y="406"/>
                  </a:cubicBezTo>
                  <a:cubicBezTo>
                    <a:pt x="404" y="420"/>
                    <a:pt x="417" y="419"/>
                    <a:pt x="417" y="429"/>
                  </a:cubicBezTo>
                  <a:cubicBezTo>
                    <a:pt x="417" y="439"/>
                    <a:pt x="418" y="446"/>
                    <a:pt x="418" y="446"/>
                  </a:cubicBezTo>
                  <a:cubicBezTo>
                    <a:pt x="405" y="445"/>
                    <a:pt x="405" y="445"/>
                    <a:pt x="405" y="445"/>
                  </a:cubicBezTo>
                  <a:cubicBezTo>
                    <a:pt x="404" y="460"/>
                    <a:pt x="404" y="460"/>
                    <a:pt x="404" y="460"/>
                  </a:cubicBezTo>
                  <a:cubicBezTo>
                    <a:pt x="404" y="460"/>
                    <a:pt x="384" y="489"/>
                    <a:pt x="395" y="489"/>
                  </a:cubicBezTo>
                  <a:cubicBezTo>
                    <a:pt x="406" y="489"/>
                    <a:pt x="414" y="483"/>
                    <a:pt x="414" y="483"/>
                  </a:cubicBezTo>
                  <a:cubicBezTo>
                    <a:pt x="422" y="468"/>
                    <a:pt x="422" y="468"/>
                    <a:pt x="422" y="468"/>
                  </a:cubicBezTo>
                  <a:cubicBezTo>
                    <a:pt x="435" y="466"/>
                    <a:pt x="435" y="466"/>
                    <a:pt x="435" y="466"/>
                  </a:cubicBezTo>
                  <a:cubicBezTo>
                    <a:pt x="435" y="466"/>
                    <a:pt x="432" y="444"/>
                    <a:pt x="436" y="441"/>
                  </a:cubicBezTo>
                  <a:cubicBezTo>
                    <a:pt x="440" y="438"/>
                    <a:pt x="461" y="432"/>
                    <a:pt x="461" y="432"/>
                  </a:cubicBezTo>
                  <a:cubicBezTo>
                    <a:pt x="461" y="432"/>
                    <a:pt x="456" y="412"/>
                    <a:pt x="452" y="408"/>
                  </a:cubicBezTo>
                  <a:cubicBezTo>
                    <a:pt x="448" y="404"/>
                    <a:pt x="430" y="399"/>
                    <a:pt x="431" y="392"/>
                  </a:cubicBezTo>
                  <a:cubicBezTo>
                    <a:pt x="432" y="385"/>
                    <a:pt x="445" y="351"/>
                    <a:pt x="453" y="354"/>
                  </a:cubicBezTo>
                  <a:cubicBezTo>
                    <a:pt x="461" y="357"/>
                    <a:pt x="468" y="361"/>
                    <a:pt x="468" y="361"/>
                  </a:cubicBezTo>
                  <a:cubicBezTo>
                    <a:pt x="488" y="361"/>
                    <a:pt x="488" y="361"/>
                    <a:pt x="488" y="361"/>
                  </a:cubicBezTo>
                  <a:cubicBezTo>
                    <a:pt x="488" y="361"/>
                    <a:pt x="491" y="384"/>
                    <a:pt x="505" y="385"/>
                  </a:cubicBezTo>
                  <a:cubicBezTo>
                    <a:pt x="519" y="386"/>
                    <a:pt x="523" y="372"/>
                    <a:pt x="515" y="363"/>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466" name="Freeform 258">
              <a:extLst>
                <a:ext uri="{FF2B5EF4-FFF2-40B4-BE49-F238E27FC236}">
                  <a16:creationId xmlns:a16="http://schemas.microsoft.com/office/drawing/2014/main" id="{C4AE2D38-F177-4F91-86A7-BEFF44224A6F}"/>
                </a:ext>
              </a:extLst>
            </p:cNvPr>
            <p:cNvSpPr>
              <a:spLocks/>
            </p:cNvSpPr>
            <p:nvPr/>
          </p:nvSpPr>
          <p:spPr bwMode="gray">
            <a:xfrm>
              <a:off x="5135272" y="936906"/>
              <a:ext cx="189806" cy="84704"/>
            </a:xfrm>
            <a:custGeom>
              <a:avLst/>
              <a:gdLst>
                <a:gd name="T0" fmla="*/ 268 w 280"/>
                <a:gd name="T1" fmla="*/ 67 h 132"/>
                <a:gd name="T2" fmla="*/ 255 w 280"/>
                <a:gd name="T3" fmla="*/ 60 h 132"/>
                <a:gd name="T4" fmla="*/ 240 w 280"/>
                <a:gd name="T5" fmla="*/ 57 h 132"/>
                <a:gd name="T6" fmla="*/ 219 w 280"/>
                <a:gd name="T7" fmla="*/ 42 h 132"/>
                <a:gd name="T8" fmla="*/ 196 w 280"/>
                <a:gd name="T9" fmla="*/ 47 h 132"/>
                <a:gd name="T10" fmla="*/ 177 w 280"/>
                <a:gd name="T11" fmla="*/ 35 h 132"/>
                <a:gd name="T12" fmla="*/ 178 w 280"/>
                <a:gd name="T13" fmla="*/ 28 h 132"/>
                <a:gd name="T14" fmla="*/ 159 w 280"/>
                <a:gd name="T15" fmla="*/ 24 h 132"/>
                <a:gd name="T16" fmla="*/ 132 w 280"/>
                <a:gd name="T17" fmla="*/ 13 h 132"/>
                <a:gd name="T18" fmla="*/ 116 w 280"/>
                <a:gd name="T19" fmla="*/ 2 h 132"/>
                <a:gd name="T20" fmla="*/ 108 w 280"/>
                <a:gd name="T21" fmla="*/ 11 h 132"/>
                <a:gd name="T22" fmla="*/ 87 w 280"/>
                <a:gd name="T23" fmla="*/ 11 h 132"/>
                <a:gd name="T24" fmla="*/ 72 w 280"/>
                <a:gd name="T25" fmla="*/ 19 h 132"/>
                <a:gd name="T26" fmla="*/ 56 w 280"/>
                <a:gd name="T27" fmla="*/ 24 h 132"/>
                <a:gd name="T28" fmla="*/ 38 w 280"/>
                <a:gd name="T29" fmla="*/ 36 h 132"/>
                <a:gd name="T30" fmla="*/ 21 w 280"/>
                <a:gd name="T31" fmla="*/ 36 h 132"/>
                <a:gd name="T32" fmla="*/ 11 w 280"/>
                <a:gd name="T33" fmla="*/ 42 h 132"/>
                <a:gd name="T34" fmla="*/ 5 w 280"/>
                <a:gd name="T35" fmla="*/ 50 h 132"/>
                <a:gd name="T36" fmla="*/ 17 w 280"/>
                <a:gd name="T37" fmla="*/ 60 h 132"/>
                <a:gd name="T38" fmla="*/ 19 w 280"/>
                <a:gd name="T39" fmla="*/ 74 h 132"/>
                <a:gd name="T40" fmla="*/ 27 w 280"/>
                <a:gd name="T41" fmla="*/ 82 h 132"/>
                <a:gd name="T42" fmla="*/ 42 w 280"/>
                <a:gd name="T43" fmla="*/ 90 h 132"/>
                <a:gd name="T44" fmla="*/ 49 w 280"/>
                <a:gd name="T45" fmla="*/ 98 h 132"/>
                <a:gd name="T46" fmla="*/ 65 w 280"/>
                <a:gd name="T47" fmla="*/ 108 h 132"/>
                <a:gd name="T48" fmla="*/ 87 w 280"/>
                <a:gd name="T49" fmla="*/ 131 h 132"/>
                <a:gd name="T50" fmla="*/ 110 w 280"/>
                <a:gd name="T51" fmla="*/ 132 h 132"/>
                <a:gd name="T52" fmla="*/ 115 w 280"/>
                <a:gd name="T53" fmla="*/ 119 h 132"/>
                <a:gd name="T54" fmla="*/ 142 w 280"/>
                <a:gd name="T55" fmla="*/ 112 h 132"/>
                <a:gd name="T56" fmla="*/ 158 w 280"/>
                <a:gd name="T57" fmla="*/ 113 h 132"/>
                <a:gd name="T58" fmla="*/ 173 w 280"/>
                <a:gd name="T59" fmla="*/ 120 h 132"/>
                <a:gd name="T60" fmla="*/ 200 w 280"/>
                <a:gd name="T61" fmla="*/ 123 h 132"/>
                <a:gd name="T62" fmla="*/ 221 w 280"/>
                <a:gd name="T63" fmla="*/ 116 h 132"/>
                <a:gd name="T64" fmla="*/ 255 w 280"/>
                <a:gd name="T65" fmla="*/ 105 h 132"/>
                <a:gd name="T66" fmla="*/ 269 w 280"/>
                <a:gd name="T67" fmla="*/ 86 h 132"/>
                <a:gd name="T68" fmla="*/ 275 w 280"/>
                <a:gd name="T69" fmla="*/ 73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80" h="132">
                  <a:moveTo>
                    <a:pt x="275" y="73"/>
                  </a:moveTo>
                  <a:cubicBezTo>
                    <a:pt x="268" y="67"/>
                    <a:pt x="268" y="67"/>
                    <a:pt x="268" y="67"/>
                  </a:cubicBezTo>
                  <a:cubicBezTo>
                    <a:pt x="269" y="62"/>
                    <a:pt x="269" y="62"/>
                    <a:pt x="269" y="62"/>
                  </a:cubicBezTo>
                  <a:cubicBezTo>
                    <a:pt x="269" y="62"/>
                    <a:pt x="259" y="60"/>
                    <a:pt x="255" y="60"/>
                  </a:cubicBezTo>
                  <a:cubicBezTo>
                    <a:pt x="251" y="60"/>
                    <a:pt x="247" y="51"/>
                    <a:pt x="247" y="51"/>
                  </a:cubicBezTo>
                  <a:cubicBezTo>
                    <a:pt x="240" y="57"/>
                    <a:pt x="240" y="57"/>
                    <a:pt x="240" y="57"/>
                  </a:cubicBezTo>
                  <a:cubicBezTo>
                    <a:pt x="240" y="57"/>
                    <a:pt x="235" y="44"/>
                    <a:pt x="227" y="43"/>
                  </a:cubicBezTo>
                  <a:cubicBezTo>
                    <a:pt x="219" y="42"/>
                    <a:pt x="219" y="42"/>
                    <a:pt x="219" y="42"/>
                  </a:cubicBezTo>
                  <a:cubicBezTo>
                    <a:pt x="219" y="42"/>
                    <a:pt x="224" y="35"/>
                    <a:pt x="211" y="39"/>
                  </a:cubicBezTo>
                  <a:cubicBezTo>
                    <a:pt x="198" y="43"/>
                    <a:pt x="196" y="47"/>
                    <a:pt x="196" y="47"/>
                  </a:cubicBezTo>
                  <a:cubicBezTo>
                    <a:pt x="196" y="47"/>
                    <a:pt x="185" y="45"/>
                    <a:pt x="181" y="43"/>
                  </a:cubicBezTo>
                  <a:cubicBezTo>
                    <a:pt x="177" y="41"/>
                    <a:pt x="177" y="35"/>
                    <a:pt x="177" y="35"/>
                  </a:cubicBezTo>
                  <a:cubicBezTo>
                    <a:pt x="171" y="32"/>
                    <a:pt x="171" y="32"/>
                    <a:pt x="171" y="32"/>
                  </a:cubicBezTo>
                  <a:cubicBezTo>
                    <a:pt x="178" y="28"/>
                    <a:pt x="178" y="28"/>
                    <a:pt x="178" y="28"/>
                  </a:cubicBezTo>
                  <a:cubicBezTo>
                    <a:pt x="175" y="23"/>
                    <a:pt x="175" y="23"/>
                    <a:pt x="175" y="23"/>
                  </a:cubicBezTo>
                  <a:cubicBezTo>
                    <a:pt x="175" y="23"/>
                    <a:pt x="162" y="24"/>
                    <a:pt x="159" y="24"/>
                  </a:cubicBezTo>
                  <a:cubicBezTo>
                    <a:pt x="156" y="24"/>
                    <a:pt x="158" y="18"/>
                    <a:pt x="146" y="14"/>
                  </a:cubicBezTo>
                  <a:cubicBezTo>
                    <a:pt x="134" y="10"/>
                    <a:pt x="132" y="13"/>
                    <a:pt x="132" y="13"/>
                  </a:cubicBezTo>
                  <a:cubicBezTo>
                    <a:pt x="129" y="4"/>
                    <a:pt x="129" y="4"/>
                    <a:pt x="129" y="4"/>
                  </a:cubicBezTo>
                  <a:cubicBezTo>
                    <a:pt x="116" y="2"/>
                    <a:pt x="116" y="2"/>
                    <a:pt x="116" y="2"/>
                  </a:cubicBezTo>
                  <a:cubicBezTo>
                    <a:pt x="116" y="2"/>
                    <a:pt x="116" y="2"/>
                    <a:pt x="116" y="2"/>
                  </a:cubicBezTo>
                  <a:cubicBezTo>
                    <a:pt x="114" y="6"/>
                    <a:pt x="111" y="11"/>
                    <a:pt x="108" y="11"/>
                  </a:cubicBezTo>
                  <a:cubicBezTo>
                    <a:pt x="103" y="12"/>
                    <a:pt x="98" y="0"/>
                    <a:pt x="96" y="1"/>
                  </a:cubicBezTo>
                  <a:cubicBezTo>
                    <a:pt x="94" y="2"/>
                    <a:pt x="89" y="8"/>
                    <a:pt x="87" y="11"/>
                  </a:cubicBezTo>
                  <a:cubicBezTo>
                    <a:pt x="84" y="14"/>
                    <a:pt x="73" y="13"/>
                    <a:pt x="73" y="13"/>
                  </a:cubicBezTo>
                  <a:cubicBezTo>
                    <a:pt x="73" y="13"/>
                    <a:pt x="75" y="18"/>
                    <a:pt x="72" y="19"/>
                  </a:cubicBezTo>
                  <a:cubicBezTo>
                    <a:pt x="69" y="20"/>
                    <a:pt x="58" y="20"/>
                    <a:pt x="58" y="20"/>
                  </a:cubicBezTo>
                  <a:cubicBezTo>
                    <a:pt x="56" y="24"/>
                    <a:pt x="56" y="24"/>
                    <a:pt x="56" y="24"/>
                  </a:cubicBezTo>
                  <a:cubicBezTo>
                    <a:pt x="45" y="27"/>
                    <a:pt x="45" y="27"/>
                    <a:pt x="45" y="27"/>
                  </a:cubicBezTo>
                  <a:cubicBezTo>
                    <a:pt x="38" y="36"/>
                    <a:pt x="38" y="36"/>
                    <a:pt x="38" y="36"/>
                  </a:cubicBezTo>
                  <a:cubicBezTo>
                    <a:pt x="38" y="36"/>
                    <a:pt x="40" y="32"/>
                    <a:pt x="31" y="30"/>
                  </a:cubicBezTo>
                  <a:cubicBezTo>
                    <a:pt x="23" y="28"/>
                    <a:pt x="21" y="36"/>
                    <a:pt x="21" y="36"/>
                  </a:cubicBezTo>
                  <a:cubicBezTo>
                    <a:pt x="14" y="36"/>
                    <a:pt x="14" y="36"/>
                    <a:pt x="14" y="36"/>
                  </a:cubicBezTo>
                  <a:cubicBezTo>
                    <a:pt x="14" y="36"/>
                    <a:pt x="15" y="41"/>
                    <a:pt x="11" y="42"/>
                  </a:cubicBezTo>
                  <a:cubicBezTo>
                    <a:pt x="7" y="42"/>
                    <a:pt x="7" y="36"/>
                    <a:pt x="3" y="38"/>
                  </a:cubicBezTo>
                  <a:cubicBezTo>
                    <a:pt x="0" y="41"/>
                    <a:pt x="5" y="50"/>
                    <a:pt x="5" y="50"/>
                  </a:cubicBezTo>
                  <a:cubicBezTo>
                    <a:pt x="11" y="51"/>
                    <a:pt x="11" y="51"/>
                    <a:pt x="11" y="51"/>
                  </a:cubicBezTo>
                  <a:cubicBezTo>
                    <a:pt x="17" y="60"/>
                    <a:pt x="17" y="60"/>
                    <a:pt x="17" y="60"/>
                  </a:cubicBezTo>
                  <a:cubicBezTo>
                    <a:pt x="17" y="60"/>
                    <a:pt x="9" y="64"/>
                    <a:pt x="10" y="66"/>
                  </a:cubicBezTo>
                  <a:cubicBezTo>
                    <a:pt x="11" y="68"/>
                    <a:pt x="19" y="74"/>
                    <a:pt x="19" y="74"/>
                  </a:cubicBezTo>
                  <a:cubicBezTo>
                    <a:pt x="21" y="80"/>
                    <a:pt x="21" y="80"/>
                    <a:pt x="21" y="80"/>
                  </a:cubicBezTo>
                  <a:cubicBezTo>
                    <a:pt x="27" y="82"/>
                    <a:pt x="27" y="82"/>
                    <a:pt x="27" y="82"/>
                  </a:cubicBezTo>
                  <a:cubicBezTo>
                    <a:pt x="27" y="82"/>
                    <a:pt x="21" y="87"/>
                    <a:pt x="29" y="88"/>
                  </a:cubicBezTo>
                  <a:cubicBezTo>
                    <a:pt x="36" y="88"/>
                    <a:pt x="42" y="90"/>
                    <a:pt x="42" y="90"/>
                  </a:cubicBezTo>
                  <a:cubicBezTo>
                    <a:pt x="45" y="98"/>
                    <a:pt x="45" y="98"/>
                    <a:pt x="45" y="98"/>
                  </a:cubicBezTo>
                  <a:cubicBezTo>
                    <a:pt x="49" y="98"/>
                    <a:pt x="49" y="98"/>
                    <a:pt x="49" y="98"/>
                  </a:cubicBezTo>
                  <a:cubicBezTo>
                    <a:pt x="55" y="107"/>
                    <a:pt x="55" y="107"/>
                    <a:pt x="55" y="107"/>
                  </a:cubicBezTo>
                  <a:cubicBezTo>
                    <a:pt x="55" y="107"/>
                    <a:pt x="60" y="105"/>
                    <a:pt x="65" y="108"/>
                  </a:cubicBezTo>
                  <a:cubicBezTo>
                    <a:pt x="71" y="112"/>
                    <a:pt x="72" y="119"/>
                    <a:pt x="72" y="119"/>
                  </a:cubicBezTo>
                  <a:cubicBezTo>
                    <a:pt x="72" y="119"/>
                    <a:pt x="80" y="131"/>
                    <a:pt x="87" y="131"/>
                  </a:cubicBezTo>
                  <a:cubicBezTo>
                    <a:pt x="95" y="131"/>
                    <a:pt x="101" y="127"/>
                    <a:pt x="101" y="127"/>
                  </a:cubicBezTo>
                  <a:cubicBezTo>
                    <a:pt x="110" y="132"/>
                    <a:pt x="110" y="132"/>
                    <a:pt x="110" y="132"/>
                  </a:cubicBezTo>
                  <a:cubicBezTo>
                    <a:pt x="111" y="120"/>
                    <a:pt x="111" y="120"/>
                    <a:pt x="111" y="120"/>
                  </a:cubicBezTo>
                  <a:cubicBezTo>
                    <a:pt x="115" y="119"/>
                    <a:pt x="115" y="119"/>
                    <a:pt x="115" y="119"/>
                  </a:cubicBezTo>
                  <a:cubicBezTo>
                    <a:pt x="115" y="119"/>
                    <a:pt x="122" y="106"/>
                    <a:pt x="125" y="105"/>
                  </a:cubicBezTo>
                  <a:cubicBezTo>
                    <a:pt x="129" y="104"/>
                    <a:pt x="142" y="112"/>
                    <a:pt x="142" y="112"/>
                  </a:cubicBezTo>
                  <a:cubicBezTo>
                    <a:pt x="151" y="118"/>
                    <a:pt x="151" y="118"/>
                    <a:pt x="151" y="118"/>
                  </a:cubicBezTo>
                  <a:cubicBezTo>
                    <a:pt x="158" y="113"/>
                    <a:pt x="158" y="113"/>
                    <a:pt x="158" y="113"/>
                  </a:cubicBezTo>
                  <a:cubicBezTo>
                    <a:pt x="165" y="121"/>
                    <a:pt x="165" y="121"/>
                    <a:pt x="165" y="121"/>
                  </a:cubicBezTo>
                  <a:cubicBezTo>
                    <a:pt x="173" y="120"/>
                    <a:pt x="173" y="120"/>
                    <a:pt x="173" y="120"/>
                  </a:cubicBezTo>
                  <a:cubicBezTo>
                    <a:pt x="173" y="120"/>
                    <a:pt x="177" y="113"/>
                    <a:pt x="184" y="115"/>
                  </a:cubicBezTo>
                  <a:cubicBezTo>
                    <a:pt x="192" y="118"/>
                    <a:pt x="200" y="123"/>
                    <a:pt x="200" y="123"/>
                  </a:cubicBezTo>
                  <a:cubicBezTo>
                    <a:pt x="200" y="123"/>
                    <a:pt x="205" y="119"/>
                    <a:pt x="209" y="118"/>
                  </a:cubicBezTo>
                  <a:cubicBezTo>
                    <a:pt x="212" y="117"/>
                    <a:pt x="218" y="117"/>
                    <a:pt x="221" y="116"/>
                  </a:cubicBezTo>
                  <a:cubicBezTo>
                    <a:pt x="222" y="118"/>
                    <a:pt x="228" y="120"/>
                    <a:pt x="233" y="117"/>
                  </a:cubicBezTo>
                  <a:cubicBezTo>
                    <a:pt x="240" y="112"/>
                    <a:pt x="255" y="105"/>
                    <a:pt x="255" y="105"/>
                  </a:cubicBezTo>
                  <a:cubicBezTo>
                    <a:pt x="255" y="92"/>
                    <a:pt x="255" y="92"/>
                    <a:pt x="255" y="92"/>
                  </a:cubicBezTo>
                  <a:cubicBezTo>
                    <a:pt x="269" y="86"/>
                    <a:pt x="269" y="86"/>
                    <a:pt x="269" y="86"/>
                  </a:cubicBezTo>
                  <a:cubicBezTo>
                    <a:pt x="280" y="79"/>
                    <a:pt x="280" y="79"/>
                    <a:pt x="280" y="79"/>
                  </a:cubicBezTo>
                  <a:cubicBezTo>
                    <a:pt x="277" y="76"/>
                    <a:pt x="275" y="73"/>
                    <a:pt x="275" y="73"/>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467" name="Freeform 259">
              <a:extLst>
                <a:ext uri="{FF2B5EF4-FFF2-40B4-BE49-F238E27FC236}">
                  <a16:creationId xmlns:a16="http://schemas.microsoft.com/office/drawing/2014/main" id="{E0F76CA1-4F5D-44D5-9F6A-9313D6BE58C1}"/>
                </a:ext>
              </a:extLst>
            </p:cNvPr>
            <p:cNvSpPr>
              <a:spLocks/>
            </p:cNvSpPr>
            <p:nvPr/>
          </p:nvSpPr>
          <p:spPr bwMode="gray">
            <a:xfrm>
              <a:off x="5188682" y="813108"/>
              <a:ext cx="284278" cy="193028"/>
            </a:xfrm>
            <a:custGeom>
              <a:avLst/>
              <a:gdLst>
                <a:gd name="T0" fmla="*/ 312 w 419"/>
                <a:gd name="T1" fmla="*/ 276 h 301"/>
                <a:gd name="T2" fmla="*/ 351 w 419"/>
                <a:gd name="T3" fmla="*/ 293 h 301"/>
                <a:gd name="T4" fmla="*/ 371 w 419"/>
                <a:gd name="T5" fmla="*/ 301 h 301"/>
                <a:gd name="T6" fmla="*/ 364 w 419"/>
                <a:gd name="T7" fmla="*/ 265 h 301"/>
                <a:gd name="T8" fmla="*/ 417 w 419"/>
                <a:gd name="T9" fmla="*/ 224 h 301"/>
                <a:gd name="T10" fmla="*/ 416 w 419"/>
                <a:gd name="T11" fmla="*/ 203 h 301"/>
                <a:gd name="T12" fmla="*/ 390 w 419"/>
                <a:gd name="T13" fmla="*/ 180 h 301"/>
                <a:gd name="T14" fmla="*/ 389 w 419"/>
                <a:gd name="T15" fmla="*/ 167 h 301"/>
                <a:gd name="T16" fmla="*/ 387 w 419"/>
                <a:gd name="T17" fmla="*/ 140 h 301"/>
                <a:gd name="T18" fmla="*/ 379 w 419"/>
                <a:gd name="T19" fmla="*/ 123 h 301"/>
                <a:gd name="T20" fmla="*/ 394 w 419"/>
                <a:gd name="T21" fmla="*/ 106 h 301"/>
                <a:gd name="T22" fmla="*/ 392 w 419"/>
                <a:gd name="T23" fmla="*/ 78 h 301"/>
                <a:gd name="T24" fmla="*/ 373 w 419"/>
                <a:gd name="T25" fmla="*/ 46 h 301"/>
                <a:gd name="T26" fmla="*/ 344 w 419"/>
                <a:gd name="T27" fmla="*/ 22 h 301"/>
                <a:gd name="T28" fmla="*/ 313 w 419"/>
                <a:gd name="T29" fmla="*/ 26 h 301"/>
                <a:gd name="T30" fmla="*/ 257 w 419"/>
                <a:gd name="T31" fmla="*/ 20 h 301"/>
                <a:gd name="T32" fmla="*/ 231 w 419"/>
                <a:gd name="T33" fmla="*/ 18 h 301"/>
                <a:gd name="T34" fmla="*/ 189 w 419"/>
                <a:gd name="T35" fmla="*/ 22 h 301"/>
                <a:gd name="T36" fmla="*/ 149 w 419"/>
                <a:gd name="T37" fmla="*/ 0 h 301"/>
                <a:gd name="T38" fmla="*/ 81 w 419"/>
                <a:gd name="T39" fmla="*/ 28 h 301"/>
                <a:gd name="T40" fmla="*/ 12 w 419"/>
                <a:gd name="T41" fmla="*/ 48 h 301"/>
                <a:gd name="T42" fmla="*/ 7 w 419"/>
                <a:gd name="T43" fmla="*/ 58 h 301"/>
                <a:gd name="T44" fmla="*/ 14 w 419"/>
                <a:gd name="T45" fmla="*/ 75 h 301"/>
                <a:gd name="T46" fmla="*/ 3 w 419"/>
                <a:gd name="T47" fmla="*/ 102 h 301"/>
                <a:gd name="T48" fmla="*/ 14 w 419"/>
                <a:gd name="T49" fmla="*/ 111 h 301"/>
                <a:gd name="T50" fmla="*/ 24 w 419"/>
                <a:gd name="T51" fmla="*/ 122 h 301"/>
                <a:gd name="T52" fmla="*/ 25 w 419"/>
                <a:gd name="T53" fmla="*/ 132 h 301"/>
                <a:gd name="T54" fmla="*/ 29 w 419"/>
                <a:gd name="T55" fmla="*/ 142 h 301"/>
                <a:gd name="T56" fmla="*/ 30 w 419"/>
                <a:gd name="T57" fmla="*/ 161 h 301"/>
                <a:gd name="T58" fmla="*/ 38 w 419"/>
                <a:gd name="T59" fmla="*/ 173 h 301"/>
                <a:gd name="T60" fmla="*/ 41 w 419"/>
                <a:gd name="T61" fmla="*/ 187 h 301"/>
                <a:gd name="T62" fmla="*/ 50 w 419"/>
                <a:gd name="T63" fmla="*/ 197 h 301"/>
                <a:gd name="T64" fmla="*/ 67 w 419"/>
                <a:gd name="T65" fmla="*/ 207 h 301"/>
                <a:gd name="T66" fmla="*/ 96 w 419"/>
                <a:gd name="T67" fmla="*/ 216 h 301"/>
                <a:gd name="T68" fmla="*/ 92 w 419"/>
                <a:gd name="T69" fmla="*/ 225 h 301"/>
                <a:gd name="T70" fmla="*/ 102 w 419"/>
                <a:gd name="T71" fmla="*/ 236 h 301"/>
                <a:gd name="T72" fmla="*/ 132 w 419"/>
                <a:gd name="T73" fmla="*/ 232 h 301"/>
                <a:gd name="T74" fmla="*/ 148 w 419"/>
                <a:gd name="T75" fmla="*/ 236 h 301"/>
                <a:gd name="T76" fmla="*/ 168 w 419"/>
                <a:gd name="T77" fmla="*/ 244 h 301"/>
                <a:gd name="T78" fmla="*/ 190 w 419"/>
                <a:gd name="T79" fmla="*/ 255 h 301"/>
                <a:gd name="T80" fmla="*/ 196 w 419"/>
                <a:gd name="T81" fmla="*/ 266 h 301"/>
                <a:gd name="T82" fmla="*/ 229 w 419"/>
                <a:gd name="T83" fmla="*/ 272 h 301"/>
                <a:gd name="T84" fmla="*/ 244 w 419"/>
                <a:gd name="T85" fmla="*/ 281 h 301"/>
                <a:gd name="T86" fmla="*/ 258 w 419"/>
                <a:gd name="T87" fmla="*/ 279 h 301"/>
                <a:gd name="T88" fmla="*/ 288 w 419"/>
                <a:gd name="T89" fmla="*/ 284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419" h="301">
                  <a:moveTo>
                    <a:pt x="288" y="284"/>
                  </a:moveTo>
                  <a:cubicBezTo>
                    <a:pt x="293" y="284"/>
                    <a:pt x="298" y="276"/>
                    <a:pt x="312" y="276"/>
                  </a:cubicBezTo>
                  <a:cubicBezTo>
                    <a:pt x="326" y="276"/>
                    <a:pt x="325" y="283"/>
                    <a:pt x="332" y="289"/>
                  </a:cubicBezTo>
                  <a:cubicBezTo>
                    <a:pt x="339" y="295"/>
                    <a:pt x="345" y="293"/>
                    <a:pt x="351" y="293"/>
                  </a:cubicBezTo>
                  <a:cubicBezTo>
                    <a:pt x="357" y="293"/>
                    <a:pt x="355" y="300"/>
                    <a:pt x="355" y="300"/>
                  </a:cubicBezTo>
                  <a:cubicBezTo>
                    <a:pt x="371" y="301"/>
                    <a:pt x="371" y="301"/>
                    <a:pt x="371" y="301"/>
                  </a:cubicBezTo>
                  <a:cubicBezTo>
                    <a:pt x="371" y="301"/>
                    <a:pt x="362" y="295"/>
                    <a:pt x="363" y="285"/>
                  </a:cubicBezTo>
                  <a:cubicBezTo>
                    <a:pt x="364" y="275"/>
                    <a:pt x="364" y="265"/>
                    <a:pt x="364" y="265"/>
                  </a:cubicBezTo>
                  <a:cubicBezTo>
                    <a:pt x="399" y="230"/>
                    <a:pt x="399" y="230"/>
                    <a:pt x="399" y="230"/>
                  </a:cubicBezTo>
                  <a:cubicBezTo>
                    <a:pt x="399" y="230"/>
                    <a:pt x="419" y="229"/>
                    <a:pt x="417" y="224"/>
                  </a:cubicBezTo>
                  <a:cubicBezTo>
                    <a:pt x="415" y="219"/>
                    <a:pt x="409" y="211"/>
                    <a:pt x="409" y="211"/>
                  </a:cubicBezTo>
                  <a:cubicBezTo>
                    <a:pt x="416" y="203"/>
                    <a:pt x="416" y="203"/>
                    <a:pt x="416" y="203"/>
                  </a:cubicBezTo>
                  <a:cubicBezTo>
                    <a:pt x="416" y="203"/>
                    <a:pt x="404" y="200"/>
                    <a:pt x="401" y="191"/>
                  </a:cubicBezTo>
                  <a:cubicBezTo>
                    <a:pt x="398" y="182"/>
                    <a:pt x="390" y="180"/>
                    <a:pt x="390" y="180"/>
                  </a:cubicBezTo>
                  <a:cubicBezTo>
                    <a:pt x="388" y="167"/>
                    <a:pt x="388" y="167"/>
                    <a:pt x="388" y="167"/>
                  </a:cubicBezTo>
                  <a:cubicBezTo>
                    <a:pt x="388" y="167"/>
                    <a:pt x="388" y="167"/>
                    <a:pt x="389" y="167"/>
                  </a:cubicBezTo>
                  <a:cubicBezTo>
                    <a:pt x="386" y="158"/>
                    <a:pt x="386" y="158"/>
                    <a:pt x="386" y="158"/>
                  </a:cubicBezTo>
                  <a:cubicBezTo>
                    <a:pt x="386" y="158"/>
                    <a:pt x="389" y="144"/>
                    <a:pt x="387" y="140"/>
                  </a:cubicBezTo>
                  <a:cubicBezTo>
                    <a:pt x="385" y="136"/>
                    <a:pt x="371" y="133"/>
                    <a:pt x="369" y="127"/>
                  </a:cubicBezTo>
                  <a:cubicBezTo>
                    <a:pt x="367" y="121"/>
                    <a:pt x="376" y="123"/>
                    <a:pt x="379" y="123"/>
                  </a:cubicBezTo>
                  <a:cubicBezTo>
                    <a:pt x="382" y="123"/>
                    <a:pt x="380" y="111"/>
                    <a:pt x="380" y="111"/>
                  </a:cubicBezTo>
                  <a:cubicBezTo>
                    <a:pt x="394" y="106"/>
                    <a:pt x="394" y="106"/>
                    <a:pt x="394" y="106"/>
                  </a:cubicBezTo>
                  <a:cubicBezTo>
                    <a:pt x="394" y="106"/>
                    <a:pt x="396" y="98"/>
                    <a:pt x="398" y="94"/>
                  </a:cubicBezTo>
                  <a:cubicBezTo>
                    <a:pt x="400" y="90"/>
                    <a:pt x="392" y="78"/>
                    <a:pt x="392" y="78"/>
                  </a:cubicBezTo>
                  <a:cubicBezTo>
                    <a:pt x="392" y="78"/>
                    <a:pt x="381" y="69"/>
                    <a:pt x="381" y="64"/>
                  </a:cubicBezTo>
                  <a:cubicBezTo>
                    <a:pt x="381" y="59"/>
                    <a:pt x="373" y="46"/>
                    <a:pt x="373" y="46"/>
                  </a:cubicBezTo>
                  <a:cubicBezTo>
                    <a:pt x="373" y="33"/>
                    <a:pt x="373" y="33"/>
                    <a:pt x="373" y="33"/>
                  </a:cubicBezTo>
                  <a:cubicBezTo>
                    <a:pt x="373" y="33"/>
                    <a:pt x="357" y="24"/>
                    <a:pt x="344" y="22"/>
                  </a:cubicBezTo>
                  <a:cubicBezTo>
                    <a:pt x="331" y="20"/>
                    <a:pt x="336" y="27"/>
                    <a:pt x="336" y="27"/>
                  </a:cubicBezTo>
                  <a:cubicBezTo>
                    <a:pt x="336" y="27"/>
                    <a:pt x="321" y="27"/>
                    <a:pt x="313" y="26"/>
                  </a:cubicBezTo>
                  <a:cubicBezTo>
                    <a:pt x="305" y="25"/>
                    <a:pt x="274" y="27"/>
                    <a:pt x="274" y="27"/>
                  </a:cubicBezTo>
                  <a:cubicBezTo>
                    <a:pt x="274" y="27"/>
                    <a:pt x="266" y="22"/>
                    <a:pt x="257" y="20"/>
                  </a:cubicBezTo>
                  <a:cubicBezTo>
                    <a:pt x="248" y="18"/>
                    <a:pt x="236" y="23"/>
                    <a:pt x="236" y="23"/>
                  </a:cubicBezTo>
                  <a:cubicBezTo>
                    <a:pt x="231" y="18"/>
                    <a:pt x="231" y="18"/>
                    <a:pt x="231" y="18"/>
                  </a:cubicBezTo>
                  <a:cubicBezTo>
                    <a:pt x="231" y="19"/>
                    <a:pt x="231" y="19"/>
                    <a:pt x="231" y="19"/>
                  </a:cubicBezTo>
                  <a:cubicBezTo>
                    <a:pt x="231" y="19"/>
                    <a:pt x="195" y="23"/>
                    <a:pt x="189" y="22"/>
                  </a:cubicBezTo>
                  <a:cubicBezTo>
                    <a:pt x="183" y="21"/>
                    <a:pt x="178" y="4"/>
                    <a:pt x="178" y="4"/>
                  </a:cubicBezTo>
                  <a:cubicBezTo>
                    <a:pt x="178" y="4"/>
                    <a:pt x="164" y="0"/>
                    <a:pt x="149" y="0"/>
                  </a:cubicBezTo>
                  <a:cubicBezTo>
                    <a:pt x="134" y="0"/>
                    <a:pt x="94" y="17"/>
                    <a:pt x="94" y="17"/>
                  </a:cubicBezTo>
                  <a:cubicBezTo>
                    <a:pt x="81" y="28"/>
                    <a:pt x="81" y="28"/>
                    <a:pt x="81" y="28"/>
                  </a:cubicBezTo>
                  <a:cubicBezTo>
                    <a:pt x="41" y="33"/>
                    <a:pt x="41" y="33"/>
                    <a:pt x="41" y="33"/>
                  </a:cubicBezTo>
                  <a:cubicBezTo>
                    <a:pt x="41" y="33"/>
                    <a:pt x="10" y="44"/>
                    <a:pt x="12" y="48"/>
                  </a:cubicBezTo>
                  <a:cubicBezTo>
                    <a:pt x="14" y="52"/>
                    <a:pt x="14" y="62"/>
                    <a:pt x="14" y="62"/>
                  </a:cubicBezTo>
                  <a:cubicBezTo>
                    <a:pt x="7" y="58"/>
                    <a:pt x="7" y="58"/>
                    <a:pt x="7" y="58"/>
                  </a:cubicBezTo>
                  <a:cubicBezTo>
                    <a:pt x="8" y="61"/>
                    <a:pt x="9" y="65"/>
                    <a:pt x="8" y="68"/>
                  </a:cubicBezTo>
                  <a:cubicBezTo>
                    <a:pt x="6" y="74"/>
                    <a:pt x="11" y="66"/>
                    <a:pt x="14" y="75"/>
                  </a:cubicBezTo>
                  <a:cubicBezTo>
                    <a:pt x="16" y="83"/>
                    <a:pt x="18" y="85"/>
                    <a:pt x="12" y="89"/>
                  </a:cubicBezTo>
                  <a:cubicBezTo>
                    <a:pt x="6" y="94"/>
                    <a:pt x="0" y="95"/>
                    <a:pt x="3" y="102"/>
                  </a:cubicBezTo>
                  <a:cubicBezTo>
                    <a:pt x="6" y="109"/>
                    <a:pt x="10" y="105"/>
                    <a:pt x="10" y="105"/>
                  </a:cubicBezTo>
                  <a:cubicBezTo>
                    <a:pt x="14" y="111"/>
                    <a:pt x="14" y="111"/>
                    <a:pt x="14" y="111"/>
                  </a:cubicBezTo>
                  <a:cubicBezTo>
                    <a:pt x="14" y="111"/>
                    <a:pt x="18" y="107"/>
                    <a:pt x="21" y="111"/>
                  </a:cubicBezTo>
                  <a:cubicBezTo>
                    <a:pt x="24" y="116"/>
                    <a:pt x="24" y="122"/>
                    <a:pt x="24" y="122"/>
                  </a:cubicBezTo>
                  <a:cubicBezTo>
                    <a:pt x="24" y="122"/>
                    <a:pt x="18" y="125"/>
                    <a:pt x="19" y="128"/>
                  </a:cubicBezTo>
                  <a:cubicBezTo>
                    <a:pt x="20" y="131"/>
                    <a:pt x="25" y="132"/>
                    <a:pt x="25" y="132"/>
                  </a:cubicBezTo>
                  <a:cubicBezTo>
                    <a:pt x="25" y="132"/>
                    <a:pt x="22" y="139"/>
                    <a:pt x="24" y="139"/>
                  </a:cubicBezTo>
                  <a:cubicBezTo>
                    <a:pt x="26" y="140"/>
                    <a:pt x="29" y="142"/>
                    <a:pt x="29" y="142"/>
                  </a:cubicBezTo>
                  <a:cubicBezTo>
                    <a:pt x="29" y="142"/>
                    <a:pt x="20" y="148"/>
                    <a:pt x="20" y="153"/>
                  </a:cubicBezTo>
                  <a:cubicBezTo>
                    <a:pt x="21" y="159"/>
                    <a:pt x="30" y="161"/>
                    <a:pt x="30" y="161"/>
                  </a:cubicBezTo>
                  <a:cubicBezTo>
                    <a:pt x="29" y="173"/>
                    <a:pt x="29" y="173"/>
                    <a:pt x="29" y="173"/>
                  </a:cubicBezTo>
                  <a:cubicBezTo>
                    <a:pt x="29" y="173"/>
                    <a:pt x="37" y="167"/>
                    <a:pt x="38" y="173"/>
                  </a:cubicBezTo>
                  <a:cubicBezTo>
                    <a:pt x="40" y="178"/>
                    <a:pt x="36" y="183"/>
                    <a:pt x="36" y="183"/>
                  </a:cubicBezTo>
                  <a:cubicBezTo>
                    <a:pt x="36" y="183"/>
                    <a:pt x="42" y="184"/>
                    <a:pt x="41" y="187"/>
                  </a:cubicBezTo>
                  <a:cubicBezTo>
                    <a:pt x="40" y="189"/>
                    <a:pt x="39" y="192"/>
                    <a:pt x="37" y="195"/>
                  </a:cubicBezTo>
                  <a:cubicBezTo>
                    <a:pt x="50" y="197"/>
                    <a:pt x="50" y="197"/>
                    <a:pt x="50" y="197"/>
                  </a:cubicBezTo>
                  <a:cubicBezTo>
                    <a:pt x="53" y="206"/>
                    <a:pt x="53" y="206"/>
                    <a:pt x="53" y="206"/>
                  </a:cubicBezTo>
                  <a:cubicBezTo>
                    <a:pt x="53" y="206"/>
                    <a:pt x="55" y="203"/>
                    <a:pt x="67" y="207"/>
                  </a:cubicBezTo>
                  <a:cubicBezTo>
                    <a:pt x="79" y="211"/>
                    <a:pt x="77" y="217"/>
                    <a:pt x="80" y="217"/>
                  </a:cubicBezTo>
                  <a:cubicBezTo>
                    <a:pt x="83" y="217"/>
                    <a:pt x="96" y="216"/>
                    <a:pt x="96" y="216"/>
                  </a:cubicBezTo>
                  <a:cubicBezTo>
                    <a:pt x="99" y="221"/>
                    <a:pt x="99" y="221"/>
                    <a:pt x="99" y="221"/>
                  </a:cubicBezTo>
                  <a:cubicBezTo>
                    <a:pt x="92" y="225"/>
                    <a:pt x="92" y="225"/>
                    <a:pt x="92" y="225"/>
                  </a:cubicBezTo>
                  <a:cubicBezTo>
                    <a:pt x="98" y="228"/>
                    <a:pt x="98" y="228"/>
                    <a:pt x="98" y="228"/>
                  </a:cubicBezTo>
                  <a:cubicBezTo>
                    <a:pt x="98" y="228"/>
                    <a:pt x="98" y="234"/>
                    <a:pt x="102" y="236"/>
                  </a:cubicBezTo>
                  <a:cubicBezTo>
                    <a:pt x="106" y="238"/>
                    <a:pt x="117" y="240"/>
                    <a:pt x="117" y="240"/>
                  </a:cubicBezTo>
                  <a:cubicBezTo>
                    <a:pt x="117" y="240"/>
                    <a:pt x="119" y="236"/>
                    <a:pt x="132" y="232"/>
                  </a:cubicBezTo>
                  <a:cubicBezTo>
                    <a:pt x="145" y="228"/>
                    <a:pt x="140" y="235"/>
                    <a:pt x="140" y="235"/>
                  </a:cubicBezTo>
                  <a:cubicBezTo>
                    <a:pt x="140" y="235"/>
                    <a:pt x="140" y="235"/>
                    <a:pt x="148" y="236"/>
                  </a:cubicBezTo>
                  <a:cubicBezTo>
                    <a:pt x="156" y="237"/>
                    <a:pt x="161" y="250"/>
                    <a:pt x="161" y="250"/>
                  </a:cubicBezTo>
                  <a:cubicBezTo>
                    <a:pt x="168" y="244"/>
                    <a:pt x="168" y="244"/>
                    <a:pt x="168" y="244"/>
                  </a:cubicBezTo>
                  <a:cubicBezTo>
                    <a:pt x="168" y="244"/>
                    <a:pt x="172" y="253"/>
                    <a:pt x="176" y="253"/>
                  </a:cubicBezTo>
                  <a:cubicBezTo>
                    <a:pt x="180" y="253"/>
                    <a:pt x="190" y="255"/>
                    <a:pt x="190" y="255"/>
                  </a:cubicBezTo>
                  <a:cubicBezTo>
                    <a:pt x="189" y="260"/>
                    <a:pt x="189" y="260"/>
                    <a:pt x="189" y="260"/>
                  </a:cubicBezTo>
                  <a:cubicBezTo>
                    <a:pt x="196" y="266"/>
                    <a:pt x="196" y="266"/>
                    <a:pt x="196" y="266"/>
                  </a:cubicBezTo>
                  <a:cubicBezTo>
                    <a:pt x="196" y="266"/>
                    <a:pt x="206" y="278"/>
                    <a:pt x="209" y="278"/>
                  </a:cubicBezTo>
                  <a:cubicBezTo>
                    <a:pt x="212" y="278"/>
                    <a:pt x="222" y="270"/>
                    <a:pt x="229" y="272"/>
                  </a:cubicBezTo>
                  <a:cubicBezTo>
                    <a:pt x="236" y="274"/>
                    <a:pt x="237" y="281"/>
                    <a:pt x="237" y="281"/>
                  </a:cubicBezTo>
                  <a:cubicBezTo>
                    <a:pt x="244" y="281"/>
                    <a:pt x="244" y="281"/>
                    <a:pt x="244" y="281"/>
                  </a:cubicBezTo>
                  <a:cubicBezTo>
                    <a:pt x="244" y="281"/>
                    <a:pt x="241" y="288"/>
                    <a:pt x="250" y="288"/>
                  </a:cubicBezTo>
                  <a:cubicBezTo>
                    <a:pt x="259" y="288"/>
                    <a:pt x="258" y="279"/>
                    <a:pt x="258" y="279"/>
                  </a:cubicBezTo>
                  <a:cubicBezTo>
                    <a:pt x="277" y="280"/>
                    <a:pt x="277" y="280"/>
                    <a:pt x="277" y="280"/>
                  </a:cubicBezTo>
                  <a:cubicBezTo>
                    <a:pt x="277" y="280"/>
                    <a:pt x="283" y="284"/>
                    <a:pt x="288" y="284"/>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468" name="Freeform 260">
              <a:extLst>
                <a:ext uri="{FF2B5EF4-FFF2-40B4-BE49-F238E27FC236}">
                  <a16:creationId xmlns:a16="http://schemas.microsoft.com/office/drawing/2014/main" id="{8A6B9A48-BD05-4C15-A567-70C6BD174F09}"/>
                </a:ext>
              </a:extLst>
            </p:cNvPr>
            <p:cNvSpPr>
              <a:spLocks/>
            </p:cNvSpPr>
            <p:nvPr/>
          </p:nvSpPr>
          <p:spPr bwMode="gray">
            <a:xfrm>
              <a:off x="4955516" y="967856"/>
              <a:ext cx="24408" cy="20362"/>
            </a:xfrm>
            <a:custGeom>
              <a:avLst/>
              <a:gdLst>
                <a:gd name="T0" fmla="*/ 13 w 36"/>
                <a:gd name="T1" fmla="*/ 32 h 32"/>
                <a:gd name="T2" fmla="*/ 19 w 36"/>
                <a:gd name="T3" fmla="*/ 27 h 32"/>
                <a:gd name="T4" fmla="*/ 30 w 36"/>
                <a:gd name="T5" fmla="*/ 29 h 32"/>
                <a:gd name="T6" fmla="*/ 35 w 36"/>
                <a:gd name="T7" fmla="*/ 20 h 32"/>
                <a:gd name="T8" fmla="*/ 20 w 36"/>
                <a:gd name="T9" fmla="*/ 8 h 32"/>
                <a:gd name="T10" fmla="*/ 20 w 36"/>
                <a:gd name="T11" fmla="*/ 0 h 32"/>
                <a:gd name="T12" fmla="*/ 12 w 36"/>
                <a:gd name="T13" fmla="*/ 4 h 32"/>
                <a:gd name="T14" fmla="*/ 2 w 36"/>
                <a:gd name="T15" fmla="*/ 18 h 32"/>
                <a:gd name="T16" fmla="*/ 13 w 36"/>
                <a:gd name="T17" fmla="*/ 3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 h="32">
                  <a:moveTo>
                    <a:pt x="13" y="32"/>
                  </a:moveTo>
                  <a:cubicBezTo>
                    <a:pt x="19" y="27"/>
                    <a:pt x="19" y="27"/>
                    <a:pt x="19" y="27"/>
                  </a:cubicBezTo>
                  <a:cubicBezTo>
                    <a:pt x="30" y="29"/>
                    <a:pt x="30" y="29"/>
                    <a:pt x="30" y="29"/>
                  </a:cubicBezTo>
                  <a:cubicBezTo>
                    <a:pt x="30" y="29"/>
                    <a:pt x="36" y="25"/>
                    <a:pt x="35" y="20"/>
                  </a:cubicBezTo>
                  <a:cubicBezTo>
                    <a:pt x="34" y="16"/>
                    <a:pt x="24" y="14"/>
                    <a:pt x="20" y="8"/>
                  </a:cubicBezTo>
                  <a:cubicBezTo>
                    <a:pt x="19" y="6"/>
                    <a:pt x="19" y="3"/>
                    <a:pt x="20" y="0"/>
                  </a:cubicBezTo>
                  <a:cubicBezTo>
                    <a:pt x="19" y="1"/>
                    <a:pt x="16" y="2"/>
                    <a:pt x="12" y="4"/>
                  </a:cubicBezTo>
                  <a:cubicBezTo>
                    <a:pt x="1" y="10"/>
                    <a:pt x="0" y="16"/>
                    <a:pt x="2" y="18"/>
                  </a:cubicBezTo>
                  <a:cubicBezTo>
                    <a:pt x="3" y="20"/>
                    <a:pt x="9" y="27"/>
                    <a:pt x="13" y="32"/>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469" name="Freeform 261">
              <a:extLst>
                <a:ext uri="{FF2B5EF4-FFF2-40B4-BE49-F238E27FC236}">
                  <a16:creationId xmlns:a16="http://schemas.microsoft.com/office/drawing/2014/main" id="{99F4998F-B01B-444D-BD72-FDA2B2358B5A}"/>
                </a:ext>
              </a:extLst>
            </p:cNvPr>
            <p:cNvSpPr>
              <a:spLocks/>
            </p:cNvSpPr>
            <p:nvPr/>
          </p:nvSpPr>
          <p:spPr bwMode="gray">
            <a:xfrm>
              <a:off x="5065208" y="1003693"/>
              <a:ext cx="209045" cy="88505"/>
            </a:xfrm>
            <a:custGeom>
              <a:avLst/>
              <a:gdLst>
                <a:gd name="T0" fmla="*/ 307 w 308"/>
                <a:gd name="T1" fmla="*/ 48 h 138"/>
                <a:gd name="T2" fmla="*/ 301 w 308"/>
                <a:gd name="T3" fmla="*/ 33 h 138"/>
                <a:gd name="T4" fmla="*/ 287 w 308"/>
                <a:gd name="T5" fmla="*/ 11 h 138"/>
                <a:gd name="T6" fmla="*/ 268 w 308"/>
                <a:gd name="T7" fmla="*/ 17 h 138"/>
                <a:gd name="T8" fmla="*/ 254 w 308"/>
                <a:gd name="T9" fmla="*/ 14 h 138"/>
                <a:gd name="T10" fmla="*/ 228 w 308"/>
                <a:gd name="T11" fmla="*/ 1 h 138"/>
                <a:gd name="T12" fmla="*/ 214 w 308"/>
                <a:gd name="T13" fmla="*/ 16 h 138"/>
                <a:gd name="T14" fmla="*/ 204 w 308"/>
                <a:gd name="T15" fmla="*/ 23 h 138"/>
                <a:gd name="T16" fmla="*/ 175 w 308"/>
                <a:gd name="T17" fmla="*/ 15 h 138"/>
                <a:gd name="T18" fmla="*/ 156 w 308"/>
                <a:gd name="T19" fmla="*/ 27 h 138"/>
                <a:gd name="T20" fmla="*/ 160 w 308"/>
                <a:gd name="T21" fmla="*/ 45 h 138"/>
                <a:gd name="T22" fmla="*/ 133 w 308"/>
                <a:gd name="T23" fmla="*/ 57 h 138"/>
                <a:gd name="T24" fmla="*/ 141 w 308"/>
                <a:gd name="T25" fmla="*/ 68 h 138"/>
                <a:gd name="T26" fmla="*/ 131 w 308"/>
                <a:gd name="T27" fmla="*/ 77 h 138"/>
                <a:gd name="T28" fmla="*/ 109 w 308"/>
                <a:gd name="T29" fmla="*/ 71 h 138"/>
                <a:gd name="T30" fmla="*/ 84 w 308"/>
                <a:gd name="T31" fmla="*/ 78 h 138"/>
                <a:gd name="T32" fmla="*/ 63 w 308"/>
                <a:gd name="T33" fmla="*/ 88 h 138"/>
                <a:gd name="T34" fmla="*/ 33 w 308"/>
                <a:gd name="T35" fmla="*/ 76 h 138"/>
                <a:gd name="T36" fmla="*/ 26 w 308"/>
                <a:gd name="T37" fmla="*/ 91 h 138"/>
                <a:gd name="T38" fmla="*/ 0 w 308"/>
                <a:gd name="T39" fmla="*/ 84 h 138"/>
                <a:gd name="T40" fmla="*/ 2 w 308"/>
                <a:gd name="T41" fmla="*/ 97 h 138"/>
                <a:gd name="T42" fmla="*/ 11 w 308"/>
                <a:gd name="T43" fmla="*/ 106 h 138"/>
                <a:gd name="T44" fmla="*/ 32 w 308"/>
                <a:gd name="T45" fmla="*/ 106 h 138"/>
                <a:gd name="T46" fmla="*/ 50 w 308"/>
                <a:gd name="T47" fmla="*/ 117 h 138"/>
                <a:gd name="T48" fmla="*/ 66 w 308"/>
                <a:gd name="T49" fmla="*/ 109 h 138"/>
                <a:gd name="T50" fmla="*/ 104 w 308"/>
                <a:gd name="T51" fmla="*/ 103 h 138"/>
                <a:gd name="T52" fmla="*/ 119 w 308"/>
                <a:gd name="T53" fmla="*/ 118 h 138"/>
                <a:gd name="T54" fmla="*/ 136 w 308"/>
                <a:gd name="T55" fmla="*/ 131 h 138"/>
                <a:gd name="T56" fmla="*/ 162 w 308"/>
                <a:gd name="T57" fmla="*/ 136 h 138"/>
                <a:gd name="T58" fmla="*/ 183 w 308"/>
                <a:gd name="T59" fmla="*/ 132 h 138"/>
                <a:gd name="T60" fmla="*/ 207 w 308"/>
                <a:gd name="T61" fmla="*/ 138 h 138"/>
                <a:gd name="T62" fmla="*/ 247 w 308"/>
                <a:gd name="T63" fmla="*/ 130 h 138"/>
                <a:gd name="T64" fmla="*/ 270 w 308"/>
                <a:gd name="T65" fmla="*/ 131 h 138"/>
                <a:gd name="T66" fmla="*/ 277 w 308"/>
                <a:gd name="T67" fmla="*/ 107 h 138"/>
                <a:gd name="T68" fmla="*/ 290 w 308"/>
                <a:gd name="T69" fmla="*/ 91 h 138"/>
                <a:gd name="T70" fmla="*/ 290 w 308"/>
                <a:gd name="T71" fmla="*/ 78 h 138"/>
                <a:gd name="T72" fmla="*/ 306 w 308"/>
                <a:gd name="T73" fmla="*/ 69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08" h="138">
                  <a:moveTo>
                    <a:pt x="306" y="69"/>
                  </a:moveTo>
                  <a:cubicBezTo>
                    <a:pt x="306" y="69"/>
                    <a:pt x="308" y="55"/>
                    <a:pt x="307" y="48"/>
                  </a:cubicBezTo>
                  <a:cubicBezTo>
                    <a:pt x="306" y="42"/>
                    <a:pt x="300" y="43"/>
                    <a:pt x="300" y="43"/>
                  </a:cubicBezTo>
                  <a:cubicBezTo>
                    <a:pt x="301" y="33"/>
                    <a:pt x="301" y="33"/>
                    <a:pt x="301" y="33"/>
                  </a:cubicBezTo>
                  <a:cubicBezTo>
                    <a:pt x="303" y="19"/>
                    <a:pt x="303" y="19"/>
                    <a:pt x="303" y="19"/>
                  </a:cubicBezTo>
                  <a:cubicBezTo>
                    <a:pt x="303" y="19"/>
                    <a:pt x="295" y="14"/>
                    <a:pt x="287" y="11"/>
                  </a:cubicBezTo>
                  <a:cubicBezTo>
                    <a:pt x="280" y="9"/>
                    <a:pt x="276" y="16"/>
                    <a:pt x="276" y="16"/>
                  </a:cubicBezTo>
                  <a:cubicBezTo>
                    <a:pt x="268" y="17"/>
                    <a:pt x="268" y="17"/>
                    <a:pt x="268" y="17"/>
                  </a:cubicBezTo>
                  <a:cubicBezTo>
                    <a:pt x="261" y="9"/>
                    <a:pt x="261" y="9"/>
                    <a:pt x="261" y="9"/>
                  </a:cubicBezTo>
                  <a:cubicBezTo>
                    <a:pt x="254" y="14"/>
                    <a:pt x="254" y="14"/>
                    <a:pt x="254" y="14"/>
                  </a:cubicBezTo>
                  <a:cubicBezTo>
                    <a:pt x="245" y="8"/>
                    <a:pt x="245" y="8"/>
                    <a:pt x="245" y="8"/>
                  </a:cubicBezTo>
                  <a:cubicBezTo>
                    <a:pt x="245" y="8"/>
                    <a:pt x="232" y="0"/>
                    <a:pt x="228" y="1"/>
                  </a:cubicBezTo>
                  <a:cubicBezTo>
                    <a:pt x="225" y="2"/>
                    <a:pt x="218" y="15"/>
                    <a:pt x="218" y="15"/>
                  </a:cubicBezTo>
                  <a:cubicBezTo>
                    <a:pt x="214" y="16"/>
                    <a:pt x="214" y="16"/>
                    <a:pt x="214" y="16"/>
                  </a:cubicBezTo>
                  <a:cubicBezTo>
                    <a:pt x="213" y="28"/>
                    <a:pt x="213" y="28"/>
                    <a:pt x="213" y="28"/>
                  </a:cubicBezTo>
                  <a:cubicBezTo>
                    <a:pt x="204" y="23"/>
                    <a:pt x="204" y="23"/>
                    <a:pt x="204" y="23"/>
                  </a:cubicBezTo>
                  <a:cubicBezTo>
                    <a:pt x="204" y="23"/>
                    <a:pt x="198" y="27"/>
                    <a:pt x="190" y="27"/>
                  </a:cubicBezTo>
                  <a:cubicBezTo>
                    <a:pt x="183" y="27"/>
                    <a:pt x="175" y="15"/>
                    <a:pt x="175" y="15"/>
                  </a:cubicBezTo>
                  <a:cubicBezTo>
                    <a:pt x="168" y="26"/>
                    <a:pt x="168" y="26"/>
                    <a:pt x="168" y="26"/>
                  </a:cubicBezTo>
                  <a:cubicBezTo>
                    <a:pt x="156" y="27"/>
                    <a:pt x="156" y="27"/>
                    <a:pt x="156" y="27"/>
                  </a:cubicBezTo>
                  <a:cubicBezTo>
                    <a:pt x="160" y="34"/>
                    <a:pt x="160" y="34"/>
                    <a:pt x="160" y="34"/>
                  </a:cubicBezTo>
                  <a:cubicBezTo>
                    <a:pt x="160" y="45"/>
                    <a:pt x="160" y="45"/>
                    <a:pt x="160" y="45"/>
                  </a:cubicBezTo>
                  <a:cubicBezTo>
                    <a:pt x="160" y="45"/>
                    <a:pt x="147" y="42"/>
                    <a:pt x="142" y="43"/>
                  </a:cubicBezTo>
                  <a:cubicBezTo>
                    <a:pt x="138" y="44"/>
                    <a:pt x="133" y="57"/>
                    <a:pt x="133" y="57"/>
                  </a:cubicBezTo>
                  <a:cubicBezTo>
                    <a:pt x="141" y="59"/>
                    <a:pt x="141" y="59"/>
                    <a:pt x="141" y="59"/>
                  </a:cubicBezTo>
                  <a:cubicBezTo>
                    <a:pt x="141" y="68"/>
                    <a:pt x="141" y="68"/>
                    <a:pt x="141" y="68"/>
                  </a:cubicBezTo>
                  <a:cubicBezTo>
                    <a:pt x="141" y="68"/>
                    <a:pt x="142" y="78"/>
                    <a:pt x="141" y="84"/>
                  </a:cubicBezTo>
                  <a:cubicBezTo>
                    <a:pt x="139" y="91"/>
                    <a:pt x="131" y="77"/>
                    <a:pt x="131" y="77"/>
                  </a:cubicBezTo>
                  <a:cubicBezTo>
                    <a:pt x="118" y="72"/>
                    <a:pt x="118" y="72"/>
                    <a:pt x="118" y="72"/>
                  </a:cubicBezTo>
                  <a:cubicBezTo>
                    <a:pt x="109" y="71"/>
                    <a:pt x="109" y="71"/>
                    <a:pt x="109" y="71"/>
                  </a:cubicBezTo>
                  <a:cubicBezTo>
                    <a:pt x="98" y="77"/>
                    <a:pt x="98" y="77"/>
                    <a:pt x="98" y="77"/>
                  </a:cubicBezTo>
                  <a:cubicBezTo>
                    <a:pt x="84" y="78"/>
                    <a:pt x="84" y="78"/>
                    <a:pt x="84" y="78"/>
                  </a:cubicBezTo>
                  <a:cubicBezTo>
                    <a:pt x="75" y="86"/>
                    <a:pt x="75" y="86"/>
                    <a:pt x="75" y="86"/>
                  </a:cubicBezTo>
                  <a:cubicBezTo>
                    <a:pt x="75" y="86"/>
                    <a:pt x="69" y="88"/>
                    <a:pt x="63" y="88"/>
                  </a:cubicBezTo>
                  <a:cubicBezTo>
                    <a:pt x="56" y="88"/>
                    <a:pt x="46" y="77"/>
                    <a:pt x="46" y="77"/>
                  </a:cubicBezTo>
                  <a:cubicBezTo>
                    <a:pt x="33" y="76"/>
                    <a:pt x="33" y="76"/>
                    <a:pt x="33" y="76"/>
                  </a:cubicBezTo>
                  <a:cubicBezTo>
                    <a:pt x="33" y="85"/>
                    <a:pt x="33" y="85"/>
                    <a:pt x="33" y="85"/>
                  </a:cubicBezTo>
                  <a:cubicBezTo>
                    <a:pt x="33" y="85"/>
                    <a:pt x="30" y="90"/>
                    <a:pt x="26" y="91"/>
                  </a:cubicBezTo>
                  <a:cubicBezTo>
                    <a:pt x="22" y="92"/>
                    <a:pt x="21" y="82"/>
                    <a:pt x="12" y="81"/>
                  </a:cubicBezTo>
                  <a:cubicBezTo>
                    <a:pt x="6" y="79"/>
                    <a:pt x="2" y="82"/>
                    <a:pt x="0" y="84"/>
                  </a:cubicBezTo>
                  <a:cubicBezTo>
                    <a:pt x="1" y="86"/>
                    <a:pt x="2" y="89"/>
                    <a:pt x="0" y="91"/>
                  </a:cubicBezTo>
                  <a:cubicBezTo>
                    <a:pt x="1" y="93"/>
                    <a:pt x="2" y="95"/>
                    <a:pt x="2" y="97"/>
                  </a:cubicBezTo>
                  <a:cubicBezTo>
                    <a:pt x="2" y="100"/>
                    <a:pt x="2" y="105"/>
                    <a:pt x="2" y="107"/>
                  </a:cubicBezTo>
                  <a:cubicBezTo>
                    <a:pt x="11" y="106"/>
                    <a:pt x="11" y="106"/>
                    <a:pt x="11" y="106"/>
                  </a:cubicBezTo>
                  <a:cubicBezTo>
                    <a:pt x="11" y="106"/>
                    <a:pt x="8" y="120"/>
                    <a:pt x="16" y="118"/>
                  </a:cubicBezTo>
                  <a:cubicBezTo>
                    <a:pt x="23" y="115"/>
                    <a:pt x="21" y="106"/>
                    <a:pt x="32" y="106"/>
                  </a:cubicBezTo>
                  <a:cubicBezTo>
                    <a:pt x="37" y="107"/>
                    <a:pt x="40" y="113"/>
                    <a:pt x="41" y="117"/>
                  </a:cubicBezTo>
                  <a:cubicBezTo>
                    <a:pt x="50" y="117"/>
                    <a:pt x="50" y="117"/>
                    <a:pt x="50" y="117"/>
                  </a:cubicBezTo>
                  <a:cubicBezTo>
                    <a:pt x="56" y="121"/>
                    <a:pt x="56" y="121"/>
                    <a:pt x="56" y="121"/>
                  </a:cubicBezTo>
                  <a:cubicBezTo>
                    <a:pt x="66" y="109"/>
                    <a:pt x="66" y="109"/>
                    <a:pt x="66" y="109"/>
                  </a:cubicBezTo>
                  <a:cubicBezTo>
                    <a:pt x="92" y="111"/>
                    <a:pt x="92" y="111"/>
                    <a:pt x="92" y="111"/>
                  </a:cubicBezTo>
                  <a:cubicBezTo>
                    <a:pt x="92" y="111"/>
                    <a:pt x="94" y="102"/>
                    <a:pt x="104" y="103"/>
                  </a:cubicBezTo>
                  <a:cubicBezTo>
                    <a:pt x="113" y="104"/>
                    <a:pt x="114" y="118"/>
                    <a:pt x="114" y="118"/>
                  </a:cubicBezTo>
                  <a:cubicBezTo>
                    <a:pt x="119" y="118"/>
                    <a:pt x="119" y="118"/>
                    <a:pt x="119" y="118"/>
                  </a:cubicBezTo>
                  <a:cubicBezTo>
                    <a:pt x="124" y="131"/>
                    <a:pt x="124" y="131"/>
                    <a:pt x="124" y="131"/>
                  </a:cubicBezTo>
                  <a:cubicBezTo>
                    <a:pt x="136" y="131"/>
                    <a:pt x="136" y="131"/>
                    <a:pt x="136" y="131"/>
                  </a:cubicBezTo>
                  <a:cubicBezTo>
                    <a:pt x="136" y="131"/>
                    <a:pt x="159" y="127"/>
                    <a:pt x="162" y="132"/>
                  </a:cubicBezTo>
                  <a:cubicBezTo>
                    <a:pt x="162" y="134"/>
                    <a:pt x="162" y="135"/>
                    <a:pt x="162" y="136"/>
                  </a:cubicBezTo>
                  <a:cubicBezTo>
                    <a:pt x="171" y="136"/>
                    <a:pt x="171" y="136"/>
                    <a:pt x="171" y="136"/>
                  </a:cubicBezTo>
                  <a:cubicBezTo>
                    <a:pt x="171" y="136"/>
                    <a:pt x="180" y="132"/>
                    <a:pt x="183" y="132"/>
                  </a:cubicBezTo>
                  <a:cubicBezTo>
                    <a:pt x="186" y="132"/>
                    <a:pt x="192" y="136"/>
                    <a:pt x="192" y="136"/>
                  </a:cubicBezTo>
                  <a:cubicBezTo>
                    <a:pt x="192" y="136"/>
                    <a:pt x="200" y="138"/>
                    <a:pt x="207" y="138"/>
                  </a:cubicBezTo>
                  <a:cubicBezTo>
                    <a:pt x="214" y="138"/>
                    <a:pt x="214" y="129"/>
                    <a:pt x="214" y="129"/>
                  </a:cubicBezTo>
                  <a:cubicBezTo>
                    <a:pt x="247" y="130"/>
                    <a:pt x="247" y="130"/>
                    <a:pt x="247" y="130"/>
                  </a:cubicBezTo>
                  <a:cubicBezTo>
                    <a:pt x="254" y="126"/>
                    <a:pt x="254" y="126"/>
                    <a:pt x="254" y="126"/>
                  </a:cubicBezTo>
                  <a:cubicBezTo>
                    <a:pt x="270" y="131"/>
                    <a:pt x="270" y="131"/>
                    <a:pt x="270" y="131"/>
                  </a:cubicBezTo>
                  <a:cubicBezTo>
                    <a:pt x="272" y="119"/>
                    <a:pt x="272" y="119"/>
                    <a:pt x="272" y="119"/>
                  </a:cubicBezTo>
                  <a:cubicBezTo>
                    <a:pt x="277" y="107"/>
                    <a:pt x="277" y="107"/>
                    <a:pt x="277" y="107"/>
                  </a:cubicBezTo>
                  <a:cubicBezTo>
                    <a:pt x="290" y="105"/>
                    <a:pt x="290" y="105"/>
                    <a:pt x="290" y="105"/>
                  </a:cubicBezTo>
                  <a:cubicBezTo>
                    <a:pt x="290" y="91"/>
                    <a:pt x="290" y="91"/>
                    <a:pt x="290" y="91"/>
                  </a:cubicBezTo>
                  <a:cubicBezTo>
                    <a:pt x="298" y="79"/>
                    <a:pt x="298" y="79"/>
                    <a:pt x="298" y="79"/>
                  </a:cubicBezTo>
                  <a:cubicBezTo>
                    <a:pt x="290" y="78"/>
                    <a:pt x="290" y="78"/>
                    <a:pt x="290" y="78"/>
                  </a:cubicBezTo>
                  <a:cubicBezTo>
                    <a:pt x="291" y="69"/>
                    <a:pt x="291" y="69"/>
                    <a:pt x="291" y="69"/>
                  </a:cubicBezTo>
                  <a:lnTo>
                    <a:pt x="306" y="69"/>
                  </a:ln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470" name="Freeform 262">
              <a:extLst>
                <a:ext uri="{FF2B5EF4-FFF2-40B4-BE49-F238E27FC236}">
                  <a16:creationId xmlns:a16="http://schemas.microsoft.com/office/drawing/2014/main" id="{9D46182D-42A8-47D6-92D3-87947E578B8C}"/>
                </a:ext>
              </a:extLst>
            </p:cNvPr>
            <p:cNvSpPr>
              <a:spLocks/>
            </p:cNvSpPr>
            <p:nvPr/>
          </p:nvSpPr>
          <p:spPr bwMode="gray">
            <a:xfrm>
              <a:off x="4880857" y="858718"/>
              <a:ext cx="123475" cy="93120"/>
            </a:xfrm>
            <a:custGeom>
              <a:avLst/>
              <a:gdLst>
                <a:gd name="T0" fmla="*/ 14 w 182"/>
                <a:gd name="T1" fmla="*/ 104 h 145"/>
                <a:gd name="T2" fmla="*/ 0 w 182"/>
                <a:gd name="T3" fmla="*/ 116 h 145"/>
                <a:gd name="T4" fmla="*/ 0 w 182"/>
                <a:gd name="T5" fmla="*/ 116 h 145"/>
                <a:gd name="T6" fmla="*/ 9 w 182"/>
                <a:gd name="T7" fmla="*/ 108 h 145"/>
                <a:gd name="T8" fmla="*/ 10 w 182"/>
                <a:gd name="T9" fmla="*/ 110 h 145"/>
                <a:gd name="T10" fmla="*/ 18 w 182"/>
                <a:gd name="T11" fmla="*/ 108 h 145"/>
                <a:gd name="T12" fmla="*/ 22 w 182"/>
                <a:gd name="T13" fmla="*/ 114 h 145"/>
                <a:gd name="T14" fmla="*/ 34 w 182"/>
                <a:gd name="T15" fmla="*/ 112 h 145"/>
                <a:gd name="T16" fmla="*/ 43 w 182"/>
                <a:gd name="T17" fmla="*/ 117 h 145"/>
                <a:gd name="T18" fmla="*/ 46 w 182"/>
                <a:gd name="T19" fmla="*/ 110 h 145"/>
                <a:gd name="T20" fmla="*/ 56 w 182"/>
                <a:gd name="T21" fmla="*/ 112 h 145"/>
                <a:gd name="T22" fmla="*/ 56 w 182"/>
                <a:gd name="T23" fmla="*/ 106 h 145"/>
                <a:gd name="T24" fmla="*/ 65 w 182"/>
                <a:gd name="T25" fmla="*/ 108 h 145"/>
                <a:gd name="T26" fmla="*/ 71 w 182"/>
                <a:gd name="T27" fmla="*/ 104 h 145"/>
                <a:gd name="T28" fmla="*/ 90 w 182"/>
                <a:gd name="T29" fmla="*/ 104 h 145"/>
                <a:gd name="T30" fmla="*/ 94 w 182"/>
                <a:gd name="T31" fmla="*/ 114 h 145"/>
                <a:gd name="T32" fmla="*/ 108 w 182"/>
                <a:gd name="T33" fmla="*/ 114 h 145"/>
                <a:gd name="T34" fmla="*/ 119 w 182"/>
                <a:gd name="T35" fmla="*/ 121 h 145"/>
                <a:gd name="T36" fmla="*/ 114 w 182"/>
                <a:gd name="T37" fmla="*/ 130 h 145"/>
                <a:gd name="T38" fmla="*/ 112 w 182"/>
                <a:gd name="T39" fmla="*/ 140 h 145"/>
                <a:gd name="T40" fmla="*/ 123 w 182"/>
                <a:gd name="T41" fmla="*/ 140 h 145"/>
                <a:gd name="T42" fmla="*/ 127 w 182"/>
                <a:gd name="T43" fmla="*/ 124 h 145"/>
                <a:gd name="T44" fmla="*/ 123 w 182"/>
                <a:gd name="T45" fmla="*/ 116 h 145"/>
                <a:gd name="T46" fmla="*/ 134 w 182"/>
                <a:gd name="T47" fmla="*/ 106 h 145"/>
                <a:gd name="T48" fmla="*/ 130 w 182"/>
                <a:gd name="T49" fmla="*/ 95 h 145"/>
                <a:gd name="T50" fmla="*/ 124 w 182"/>
                <a:gd name="T51" fmla="*/ 80 h 145"/>
                <a:gd name="T52" fmla="*/ 148 w 182"/>
                <a:gd name="T53" fmla="*/ 85 h 145"/>
                <a:gd name="T54" fmla="*/ 152 w 182"/>
                <a:gd name="T55" fmla="*/ 77 h 145"/>
                <a:gd name="T56" fmla="*/ 158 w 182"/>
                <a:gd name="T57" fmla="*/ 78 h 145"/>
                <a:gd name="T58" fmla="*/ 160 w 182"/>
                <a:gd name="T59" fmla="*/ 67 h 145"/>
                <a:gd name="T60" fmla="*/ 168 w 182"/>
                <a:gd name="T61" fmla="*/ 59 h 145"/>
                <a:gd name="T62" fmla="*/ 153 w 182"/>
                <a:gd name="T63" fmla="*/ 47 h 145"/>
                <a:gd name="T64" fmla="*/ 164 w 182"/>
                <a:gd name="T65" fmla="*/ 40 h 145"/>
                <a:gd name="T66" fmla="*/ 172 w 182"/>
                <a:gd name="T67" fmla="*/ 40 h 145"/>
                <a:gd name="T68" fmla="*/ 170 w 182"/>
                <a:gd name="T69" fmla="*/ 28 h 145"/>
                <a:gd name="T70" fmla="*/ 182 w 182"/>
                <a:gd name="T71" fmla="*/ 20 h 145"/>
                <a:gd name="T72" fmla="*/ 177 w 182"/>
                <a:gd name="T73" fmla="*/ 12 h 145"/>
                <a:gd name="T74" fmla="*/ 180 w 182"/>
                <a:gd name="T75" fmla="*/ 10 h 145"/>
                <a:gd name="T76" fmla="*/ 176 w 182"/>
                <a:gd name="T77" fmla="*/ 7 h 145"/>
                <a:gd name="T78" fmla="*/ 154 w 182"/>
                <a:gd name="T79" fmla="*/ 1 h 145"/>
                <a:gd name="T80" fmla="*/ 125 w 182"/>
                <a:gd name="T81" fmla="*/ 0 h 145"/>
                <a:gd name="T82" fmla="*/ 103 w 182"/>
                <a:gd name="T83" fmla="*/ 10 h 145"/>
                <a:gd name="T84" fmla="*/ 107 w 182"/>
                <a:gd name="T85" fmla="*/ 21 h 145"/>
                <a:gd name="T86" fmla="*/ 111 w 182"/>
                <a:gd name="T87" fmla="*/ 34 h 145"/>
                <a:gd name="T88" fmla="*/ 116 w 182"/>
                <a:gd name="T89" fmla="*/ 40 h 145"/>
                <a:gd name="T90" fmla="*/ 122 w 182"/>
                <a:gd name="T91" fmla="*/ 48 h 145"/>
                <a:gd name="T92" fmla="*/ 104 w 182"/>
                <a:gd name="T93" fmla="*/ 60 h 145"/>
                <a:gd name="T94" fmla="*/ 92 w 182"/>
                <a:gd name="T95" fmla="*/ 52 h 145"/>
                <a:gd name="T96" fmla="*/ 100 w 182"/>
                <a:gd name="T97" fmla="*/ 37 h 145"/>
                <a:gd name="T98" fmla="*/ 102 w 182"/>
                <a:gd name="T99" fmla="*/ 24 h 145"/>
                <a:gd name="T100" fmla="*/ 97 w 182"/>
                <a:gd name="T101" fmla="*/ 16 h 145"/>
                <a:gd name="T102" fmla="*/ 81 w 182"/>
                <a:gd name="T103" fmla="*/ 30 h 145"/>
                <a:gd name="T104" fmla="*/ 64 w 182"/>
                <a:gd name="T105" fmla="*/ 49 h 145"/>
                <a:gd name="T106" fmla="*/ 60 w 182"/>
                <a:gd name="T107" fmla="*/ 69 h 145"/>
                <a:gd name="T108" fmla="*/ 42 w 182"/>
                <a:gd name="T109" fmla="*/ 89 h 145"/>
                <a:gd name="T110" fmla="*/ 48 w 182"/>
                <a:gd name="T111" fmla="*/ 97 h 145"/>
                <a:gd name="T112" fmla="*/ 31 w 182"/>
                <a:gd name="T113" fmla="*/ 98 h 145"/>
                <a:gd name="T114" fmla="*/ 14 w 182"/>
                <a:gd name="T115" fmla="*/ 104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82" h="145">
                  <a:moveTo>
                    <a:pt x="14" y="104"/>
                  </a:moveTo>
                  <a:cubicBezTo>
                    <a:pt x="0" y="116"/>
                    <a:pt x="0" y="116"/>
                    <a:pt x="0" y="116"/>
                  </a:cubicBezTo>
                  <a:cubicBezTo>
                    <a:pt x="0" y="116"/>
                    <a:pt x="0" y="116"/>
                    <a:pt x="0" y="116"/>
                  </a:cubicBezTo>
                  <a:cubicBezTo>
                    <a:pt x="9" y="108"/>
                    <a:pt x="9" y="108"/>
                    <a:pt x="9" y="108"/>
                  </a:cubicBezTo>
                  <a:cubicBezTo>
                    <a:pt x="10" y="110"/>
                    <a:pt x="10" y="110"/>
                    <a:pt x="10" y="110"/>
                  </a:cubicBezTo>
                  <a:cubicBezTo>
                    <a:pt x="18" y="108"/>
                    <a:pt x="18" y="108"/>
                    <a:pt x="18" y="108"/>
                  </a:cubicBezTo>
                  <a:cubicBezTo>
                    <a:pt x="22" y="114"/>
                    <a:pt x="22" y="114"/>
                    <a:pt x="22" y="114"/>
                  </a:cubicBezTo>
                  <a:cubicBezTo>
                    <a:pt x="22" y="114"/>
                    <a:pt x="30" y="113"/>
                    <a:pt x="34" y="112"/>
                  </a:cubicBezTo>
                  <a:cubicBezTo>
                    <a:pt x="39" y="112"/>
                    <a:pt x="43" y="117"/>
                    <a:pt x="43" y="117"/>
                  </a:cubicBezTo>
                  <a:cubicBezTo>
                    <a:pt x="46" y="110"/>
                    <a:pt x="46" y="110"/>
                    <a:pt x="46" y="110"/>
                  </a:cubicBezTo>
                  <a:cubicBezTo>
                    <a:pt x="56" y="112"/>
                    <a:pt x="56" y="112"/>
                    <a:pt x="56" y="112"/>
                  </a:cubicBezTo>
                  <a:cubicBezTo>
                    <a:pt x="56" y="106"/>
                    <a:pt x="56" y="106"/>
                    <a:pt x="56" y="106"/>
                  </a:cubicBezTo>
                  <a:cubicBezTo>
                    <a:pt x="65" y="108"/>
                    <a:pt x="65" y="108"/>
                    <a:pt x="65" y="108"/>
                  </a:cubicBezTo>
                  <a:cubicBezTo>
                    <a:pt x="65" y="108"/>
                    <a:pt x="66" y="105"/>
                    <a:pt x="71" y="104"/>
                  </a:cubicBezTo>
                  <a:cubicBezTo>
                    <a:pt x="76" y="102"/>
                    <a:pt x="90" y="104"/>
                    <a:pt x="90" y="104"/>
                  </a:cubicBezTo>
                  <a:cubicBezTo>
                    <a:pt x="90" y="104"/>
                    <a:pt x="91" y="110"/>
                    <a:pt x="94" y="114"/>
                  </a:cubicBezTo>
                  <a:cubicBezTo>
                    <a:pt x="96" y="118"/>
                    <a:pt x="108" y="114"/>
                    <a:pt x="108" y="114"/>
                  </a:cubicBezTo>
                  <a:cubicBezTo>
                    <a:pt x="108" y="114"/>
                    <a:pt x="118" y="112"/>
                    <a:pt x="119" y="121"/>
                  </a:cubicBezTo>
                  <a:cubicBezTo>
                    <a:pt x="120" y="130"/>
                    <a:pt x="114" y="130"/>
                    <a:pt x="114" y="130"/>
                  </a:cubicBezTo>
                  <a:cubicBezTo>
                    <a:pt x="114" y="130"/>
                    <a:pt x="110" y="134"/>
                    <a:pt x="112" y="140"/>
                  </a:cubicBezTo>
                  <a:cubicBezTo>
                    <a:pt x="114" y="145"/>
                    <a:pt x="123" y="140"/>
                    <a:pt x="123" y="140"/>
                  </a:cubicBezTo>
                  <a:cubicBezTo>
                    <a:pt x="123" y="140"/>
                    <a:pt x="126" y="126"/>
                    <a:pt x="127" y="124"/>
                  </a:cubicBezTo>
                  <a:cubicBezTo>
                    <a:pt x="128" y="122"/>
                    <a:pt x="123" y="116"/>
                    <a:pt x="123" y="116"/>
                  </a:cubicBezTo>
                  <a:cubicBezTo>
                    <a:pt x="123" y="116"/>
                    <a:pt x="134" y="110"/>
                    <a:pt x="134" y="106"/>
                  </a:cubicBezTo>
                  <a:cubicBezTo>
                    <a:pt x="135" y="103"/>
                    <a:pt x="130" y="95"/>
                    <a:pt x="130" y="95"/>
                  </a:cubicBezTo>
                  <a:cubicBezTo>
                    <a:pt x="124" y="80"/>
                    <a:pt x="124" y="80"/>
                    <a:pt x="124" y="80"/>
                  </a:cubicBezTo>
                  <a:cubicBezTo>
                    <a:pt x="124" y="80"/>
                    <a:pt x="146" y="88"/>
                    <a:pt x="148" y="85"/>
                  </a:cubicBezTo>
                  <a:cubicBezTo>
                    <a:pt x="150" y="82"/>
                    <a:pt x="152" y="77"/>
                    <a:pt x="152" y="77"/>
                  </a:cubicBezTo>
                  <a:cubicBezTo>
                    <a:pt x="158" y="78"/>
                    <a:pt x="158" y="78"/>
                    <a:pt x="158" y="78"/>
                  </a:cubicBezTo>
                  <a:cubicBezTo>
                    <a:pt x="160" y="67"/>
                    <a:pt x="160" y="67"/>
                    <a:pt x="160" y="67"/>
                  </a:cubicBezTo>
                  <a:cubicBezTo>
                    <a:pt x="160" y="67"/>
                    <a:pt x="168" y="63"/>
                    <a:pt x="168" y="59"/>
                  </a:cubicBezTo>
                  <a:cubicBezTo>
                    <a:pt x="168" y="55"/>
                    <a:pt x="154" y="50"/>
                    <a:pt x="153" y="47"/>
                  </a:cubicBezTo>
                  <a:cubicBezTo>
                    <a:pt x="152" y="44"/>
                    <a:pt x="164" y="40"/>
                    <a:pt x="164" y="40"/>
                  </a:cubicBezTo>
                  <a:cubicBezTo>
                    <a:pt x="172" y="40"/>
                    <a:pt x="172" y="40"/>
                    <a:pt x="172" y="40"/>
                  </a:cubicBezTo>
                  <a:cubicBezTo>
                    <a:pt x="172" y="40"/>
                    <a:pt x="168" y="32"/>
                    <a:pt x="170" y="28"/>
                  </a:cubicBezTo>
                  <a:cubicBezTo>
                    <a:pt x="171" y="24"/>
                    <a:pt x="182" y="20"/>
                    <a:pt x="182" y="20"/>
                  </a:cubicBezTo>
                  <a:cubicBezTo>
                    <a:pt x="177" y="12"/>
                    <a:pt x="177" y="12"/>
                    <a:pt x="177" y="12"/>
                  </a:cubicBezTo>
                  <a:cubicBezTo>
                    <a:pt x="180" y="10"/>
                    <a:pt x="180" y="10"/>
                    <a:pt x="180" y="10"/>
                  </a:cubicBezTo>
                  <a:cubicBezTo>
                    <a:pt x="176" y="7"/>
                    <a:pt x="176" y="7"/>
                    <a:pt x="176" y="7"/>
                  </a:cubicBezTo>
                  <a:cubicBezTo>
                    <a:pt x="176" y="7"/>
                    <a:pt x="160" y="1"/>
                    <a:pt x="154" y="1"/>
                  </a:cubicBezTo>
                  <a:cubicBezTo>
                    <a:pt x="148" y="1"/>
                    <a:pt x="125" y="0"/>
                    <a:pt x="125" y="0"/>
                  </a:cubicBezTo>
                  <a:cubicBezTo>
                    <a:pt x="125" y="0"/>
                    <a:pt x="111" y="5"/>
                    <a:pt x="103" y="10"/>
                  </a:cubicBezTo>
                  <a:cubicBezTo>
                    <a:pt x="104" y="14"/>
                    <a:pt x="107" y="19"/>
                    <a:pt x="107" y="21"/>
                  </a:cubicBezTo>
                  <a:cubicBezTo>
                    <a:pt x="108" y="24"/>
                    <a:pt x="111" y="34"/>
                    <a:pt x="111" y="34"/>
                  </a:cubicBezTo>
                  <a:cubicBezTo>
                    <a:pt x="111" y="34"/>
                    <a:pt x="114" y="40"/>
                    <a:pt x="116" y="40"/>
                  </a:cubicBezTo>
                  <a:cubicBezTo>
                    <a:pt x="119" y="40"/>
                    <a:pt x="122" y="43"/>
                    <a:pt x="122" y="48"/>
                  </a:cubicBezTo>
                  <a:cubicBezTo>
                    <a:pt x="123" y="52"/>
                    <a:pt x="111" y="59"/>
                    <a:pt x="104" y="60"/>
                  </a:cubicBezTo>
                  <a:cubicBezTo>
                    <a:pt x="98" y="60"/>
                    <a:pt x="95" y="55"/>
                    <a:pt x="92" y="52"/>
                  </a:cubicBezTo>
                  <a:cubicBezTo>
                    <a:pt x="88" y="48"/>
                    <a:pt x="94" y="45"/>
                    <a:pt x="100" y="37"/>
                  </a:cubicBezTo>
                  <a:cubicBezTo>
                    <a:pt x="106" y="29"/>
                    <a:pt x="102" y="24"/>
                    <a:pt x="102" y="24"/>
                  </a:cubicBezTo>
                  <a:cubicBezTo>
                    <a:pt x="102" y="24"/>
                    <a:pt x="99" y="21"/>
                    <a:pt x="97" y="16"/>
                  </a:cubicBezTo>
                  <a:cubicBezTo>
                    <a:pt x="92" y="23"/>
                    <a:pt x="81" y="30"/>
                    <a:pt x="81" y="30"/>
                  </a:cubicBezTo>
                  <a:cubicBezTo>
                    <a:pt x="81" y="30"/>
                    <a:pt x="64" y="42"/>
                    <a:pt x="64" y="49"/>
                  </a:cubicBezTo>
                  <a:cubicBezTo>
                    <a:pt x="64" y="56"/>
                    <a:pt x="60" y="69"/>
                    <a:pt x="60" y="69"/>
                  </a:cubicBezTo>
                  <a:cubicBezTo>
                    <a:pt x="42" y="89"/>
                    <a:pt x="42" y="89"/>
                    <a:pt x="42" y="89"/>
                  </a:cubicBezTo>
                  <a:cubicBezTo>
                    <a:pt x="48" y="97"/>
                    <a:pt x="48" y="97"/>
                    <a:pt x="48" y="97"/>
                  </a:cubicBezTo>
                  <a:cubicBezTo>
                    <a:pt x="31" y="98"/>
                    <a:pt x="31" y="98"/>
                    <a:pt x="31" y="98"/>
                  </a:cubicBezTo>
                  <a:lnTo>
                    <a:pt x="14" y="104"/>
                  </a:ln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471" name="Freeform 263">
              <a:extLst>
                <a:ext uri="{FF2B5EF4-FFF2-40B4-BE49-F238E27FC236}">
                  <a16:creationId xmlns:a16="http://schemas.microsoft.com/office/drawing/2014/main" id="{6EE4F340-1785-4EC1-BF76-BB0B0D28DDA8}"/>
                </a:ext>
              </a:extLst>
            </p:cNvPr>
            <p:cNvSpPr>
              <a:spLocks/>
            </p:cNvSpPr>
            <p:nvPr/>
          </p:nvSpPr>
          <p:spPr bwMode="gray">
            <a:xfrm>
              <a:off x="4875402" y="924146"/>
              <a:ext cx="101076" cy="65429"/>
            </a:xfrm>
            <a:custGeom>
              <a:avLst/>
              <a:gdLst>
                <a:gd name="T0" fmla="*/ 0 w 149"/>
                <a:gd name="T1" fmla="*/ 29 h 102"/>
                <a:gd name="T2" fmla="*/ 6 w 149"/>
                <a:gd name="T3" fmla="*/ 43 h 102"/>
                <a:gd name="T4" fmla="*/ 22 w 149"/>
                <a:gd name="T5" fmla="*/ 47 h 102"/>
                <a:gd name="T6" fmla="*/ 29 w 149"/>
                <a:gd name="T7" fmla="*/ 54 h 102"/>
                <a:gd name="T8" fmla="*/ 52 w 149"/>
                <a:gd name="T9" fmla="*/ 59 h 102"/>
                <a:gd name="T10" fmla="*/ 57 w 149"/>
                <a:gd name="T11" fmla="*/ 78 h 102"/>
                <a:gd name="T12" fmla="*/ 72 w 149"/>
                <a:gd name="T13" fmla="*/ 78 h 102"/>
                <a:gd name="T14" fmla="*/ 82 w 149"/>
                <a:gd name="T15" fmla="*/ 71 h 102"/>
                <a:gd name="T16" fmla="*/ 82 w 149"/>
                <a:gd name="T17" fmla="*/ 87 h 102"/>
                <a:gd name="T18" fmla="*/ 106 w 149"/>
                <a:gd name="T19" fmla="*/ 94 h 102"/>
                <a:gd name="T20" fmla="*/ 109 w 149"/>
                <a:gd name="T21" fmla="*/ 98 h 102"/>
                <a:gd name="T22" fmla="*/ 123 w 149"/>
                <a:gd name="T23" fmla="*/ 98 h 102"/>
                <a:gd name="T24" fmla="*/ 128 w 149"/>
                <a:gd name="T25" fmla="*/ 102 h 102"/>
                <a:gd name="T26" fmla="*/ 131 w 149"/>
                <a:gd name="T27" fmla="*/ 100 h 102"/>
                <a:gd name="T28" fmla="*/ 120 w 149"/>
                <a:gd name="T29" fmla="*/ 86 h 102"/>
                <a:gd name="T30" fmla="*/ 130 w 149"/>
                <a:gd name="T31" fmla="*/ 72 h 102"/>
                <a:gd name="T32" fmla="*/ 138 w 149"/>
                <a:gd name="T33" fmla="*/ 68 h 102"/>
                <a:gd name="T34" fmla="*/ 138 w 149"/>
                <a:gd name="T35" fmla="*/ 68 h 102"/>
                <a:gd name="T36" fmla="*/ 140 w 149"/>
                <a:gd name="T37" fmla="*/ 62 h 102"/>
                <a:gd name="T38" fmla="*/ 149 w 149"/>
                <a:gd name="T39" fmla="*/ 61 h 102"/>
                <a:gd name="T40" fmla="*/ 146 w 149"/>
                <a:gd name="T41" fmla="*/ 48 h 102"/>
                <a:gd name="T42" fmla="*/ 136 w 149"/>
                <a:gd name="T43" fmla="*/ 39 h 102"/>
                <a:gd name="T44" fmla="*/ 131 w 149"/>
                <a:gd name="T45" fmla="*/ 38 h 102"/>
                <a:gd name="T46" fmla="*/ 120 w 149"/>
                <a:gd name="T47" fmla="*/ 38 h 102"/>
                <a:gd name="T48" fmla="*/ 122 w 149"/>
                <a:gd name="T49" fmla="*/ 28 h 102"/>
                <a:gd name="T50" fmla="*/ 127 w 149"/>
                <a:gd name="T51" fmla="*/ 19 h 102"/>
                <a:gd name="T52" fmla="*/ 116 w 149"/>
                <a:gd name="T53" fmla="*/ 12 h 102"/>
                <a:gd name="T54" fmla="*/ 102 w 149"/>
                <a:gd name="T55" fmla="*/ 12 h 102"/>
                <a:gd name="T56" fmla="*/ 98 w 149"/>
                <a:gd name="T57" fmla="*/ 2 h 102"/>
                <a:gd name="T58" fmla="*/ 79 w 149"/>
                <a:gd name="T59" fmla="*/ 2 h 102"/>
                <a:gd name="T60" fmla="*/ 73 w 149"/>
                <a:gd name="T61" fmla="*/ 6 h 102"/>
                <a:gd name="T62" fmla="*/ 64 w 149"/>
                <a:gd name="T63" fmla="*/ 4 h 102"/>
                <a:gd name="T64" fmla="*/ 64 w 149"/>
                <a:gd name="T65" fmla="*/ 10 h 102"/>
                <a:gd name="T66" fmla="*/ 54 w 149"/>
                <a:gd name="T67" fmla="*/ 8 h 102"/>
                <a:gd name="T68" fmla="*/ 51 w 149"/>
                <a:gd name="T69" fmla="*/ 15 h 102"/>
                <a:gd name="T70" fmla="*/ 42 w 149"/>
                <a:gd name="T71" fmla="*/ 10 h 102"/>
                <a:gd name="T72" fmla="*/ 30 w 149"/>
                <a:gd name="T73" fmla="*/ 12 h 102"/>
                <a:gd name="T74" fmla="*/ 26 w 149"/>
                <a:gd name="T75" fmla="*/ 6 h 102"/>
                <a:gd name="T76" fmla="*/ 18 w 149"/>
                <a:gd name="T77" fmla="*/ 8 h 102"/>
                <a:gd name="T78" fmla="*/ 17 w 149"/>
                <a:gd name="T79" fmla="*/ 6 h 102"/>
                <a:gd name="T80" fmla="*/ 1 w 149"/>
                <a:gd name="T81" fmla="*/ 20 h 102"/>
                <a:gd name="T82" fmla="*/ 0 w 149"/>
                <a:gd name="T83"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49" h="102">
                  <a:moveTo>
                    <a:pt x="0" y="29"/>
                  </a:moveTo>
                  <a:cubicBezTo>
                    <a:pt x="6" y="43"/>
                    <a:pt x="6" y="43"/>
                    <a:pt x="6" y="43"/>
                  </a:cubicBezTo>
                  <a:cubicBezTo>
                    <a:pt x="22" y="47"/>
                    <a:pt x="22" y="47"/>
                    <a:pt x="22" y="47"/>
                  </a:cubicBezTo>
                  <a:cubicBezTo>
                    <a:pt x="29" y="54"/>
                    <a:pt x="29" y="54"/>
                    <a:pt x="29" y="54"/>
                  </a:cubicBezTo>
                  <a:cubicBezTo>
                    <a:pt x="29" y="54"/>
                    <a:pt x="47" y="56"/>
                    <a:pt x="52" y="59"/>
                  </a:cubicBezTo>
                  <a:cubicBezTo>
                    <a:pt x="57" y="62"/>
                    <a:pt x="57" y="78"/>
                    <a:pt x="57" y="78"/>
                  </a:cubicBezTo>
                  <a:cubicBezTo>
                    <a:pt x="72" y="78"/>
                    <a:pt x="72" y="78"/>
                    <a:pt x="72" y="78"/>
                  </a:cubicBezTo>
                  <a:cubicBezTo>
                    <a:pt x="82" y="71"/>
                    <a:pt x="82" y="71"/>
                    <a:pt x="82" y="71"/>
                  </a:cubicBezTo>
                  <a:cubicBezTo>
                    <a:pt x="82" y="87"/>
                    <a:pt x="82" y="87"/>
                    <a:pt x="82" y="87"/>
                  </a:cubicBezTo>
                  <a:cubicBezTo>
                    <a:pt x="82" y="87"/>
                    <a:pt x="104" y="91"/>
                    <a:pt x="106" y="94"/>
                  </a:cubicBezTo>
                  <a:cubicBezTo>
                    <a:pt x="108" y="97"/>
                    <a:pt x="109" y="98"/>
                    <a:pt x="109" y="98"/>
                  </a:cubicBezTo>
                  <a:cubicBezTo>
                    <a:pt x="123" y="98"/>
                    <a:pt x="123" y="98"/>
                    <a:pt x="123" y="98"/>
                  </a:cubicBezTo>
                  <a:cubicBezTo>
                    <a:pt x="128" y="102"/>
                    <a:pt x="128" y="102"/>
                    <a:pt x="128" y="102"/>
                  </a:cubicBezTo>
                  <a:cubicBezTo>
                    <a:pt x="131" y="100"/>
                    <a:pt x="131" y="100"/>
                    <a:pt x="131" y="100"/>
                  </a:cubicBezTo>
                  <a:cubicBezTo>
                    <a:pt x="127" y="95"/>
                    <a:pt x="121" y="88"/>
                    <a:pt x="120" y="86"/>
                  </a:cubicBezTo>
                  <a:cubicBezTo>
                    <a:pt x="118" y="84"/>
                    <a:pt x="119" y="78"/>
                    <a:pt x="130" y="72"/>
                  </a:cubicBezTo>
                  <a:cubicBezTo>
                    <a:pt x="134" y="70"/>
                    <a:pt x="137" y="69"/>
                    <a:pt x="138" y="68"/>
                  </a:cubicBezTo>
                  <a:cubicBezTo>
                    <a:pt x="138" y="68"/>
                    <a:pt x="138" y="68"/>
                    <a:pt x="138" y="68"/>
                  </a:cubicBezTo>
                  <a:cubicBezTo>
                    <a:pt x="139" y="65"/>
                    <a:pt x="140" y="62"/>
                    <a:pt x="140" y="62"/>
                  </a:cubicBezTo>
                  <a:cubicBezTo>
                    <a:pt x="149" y="61"/>
                    <a:pt x="149" y="61"/>
                    <a:pt x="149" y="61"/>
                  </a:cubicBezTo>
                  <a:cubicBezTo>
                    <a:pt x="149" y="61"/>
                    <a:pt x="146" y="54"/>
                    <a:pt x="146" y="48"/>
                  </a:cubicBezTo>
                  <a:cubicBezTo>
                    <a:pt x="145" y="42"/>
                    <a:pt x="136" y="39"/>
                    <a:pt x="136" y="39"/>
                  </a:cubicBezTo>
                  <a:cubicBezTo>
                    <a:pt x="131" y="38"/>
                    <a:pt x="131" y="38"/>
                    <a:pt x="131" y="38"/>
                  </a:cubicBezTo>
                  <a:cubicBezTo>
                    <a:pt x="131" y="38"/>
                    <a:pt x="122" y="43"/>
                    <a:pt x="120" y="38"/>
                  </a:cubicBezTo>
                  <a:cubicBezTo>
                    <a:pt x="118" y="32"/>
                    <a:pt x="122" y="28"/>
                    <a:pt x="122" y="28"/>
                  </a:cubicBezTo>
                  <a:cubicBezTo>
                    <a:pt x="122" y="28"/>
                    <a:pt x="128" y="28"/>
                    <a:pt x="127" y="19"/>
                  </a:cubicBezTo>
                  <a:cubicBezTo>
                    <a:pt x="126" y="10"/>
                    <a:pt x="116" y="12"/>
                    <a:pt x="116" y="12"/>
                  </a:cubicBezTo>
                  <a:cubicBezTo>
                    <a:pt x="116" y="12"/>
                    <a:pt x="104" y="16"/>
                    <a:pt x="102" y="12"/>
                  </a:cubicBezTo>
                  <a:cubicBezTo>
                    <a:pt x="99" y="8"/>
                    <a:pt x="98" y="2"/>
                    <a:pt x="98" y="2"/>
                  </a:cubicBezTo>
                  <a:cubicBezTo>
                    <a:pt x="98" y="2"/>
                    <a:pt x="84" y="0"/>
                    <a:pt x="79" y="2"/>
                  </a:cubicBezTo>
                  <a:cubicBezTo>
                    <a:pt x="74" y="3"/>
                    <a:pt x="73" y="6"/>
                    <a:pt x="73" y="6"/>
                  </a:cubicBezTo>
                  <a:cubicBezTo>
                    <a:pt x="64" y="4"/>
                    <a:pt x="64" y="4"/>
                    <a:pt x="64" y="4"/>
                  </a:cubicBezTo>
                  <a:cubicBezTo>
                    <a:pt x="64" y="10"/>
                    <a:pt x="64" y="10"/>
                    <a:pt x="64" y="10"/>
                  </a:cubicBezTo>
                  <a:cubicBezTo>
                    <a:pt x="54" y="8"/>
                    <a:pt x="54" y="8"/>
                    <a:pt x="54" y="8"/>
                  </a:cubicBezTo>
                  <a:cubicBezTo>
                    <a:pt x="51" y="15"/>
                    <a:pt x="51" y="15"/>
                    <a:pt x="51" y="15"/>
                  </a:cubicBezTo>
                  <a:cubicBezTo>
                    <a:pt x="51" y="15"/>
                    <a:pt x="47" y="10"/>
                    <a:pt x="42" y="10"/>
                  </a:cubicBezTo>
                  <a:cubicBezTo>
                    <a:pt x="38" y="11"/>
                    <a:pt x="30" y="12"/>
                    <a:pt x="30" y="12"/>
                  </a:cubicBezTo>
                  <a:cubicBezTo>
                    <a:pt x="26" y="6"/>
                    <a:pt x="26" y="6"/>
                    <a:pt x="26" y="6"/>
                  </a:cubicBezTo>
                  <a:cubicBezTo>
                    <a:pt x="18" y="8"/>
                    <a:pt x="18" y="8"/>
                    <a:pt x="18" y="8"/>
                  </a:cubicBezTo>
                  <a:cubicBezTo>
                    <a:pt x="17" y="6"/>
                    <a:pt x="17" y="6"/>
                    <a:pt x="17" y="6"/>
                  </a:cubicBezTo>
                  <a:cubicBezTo>
                    <a:pt x="1" y="20"/>
                    <a:pt x="1" y="20"/>
                    <a:pt x="1" y="20"/>
                  </a:cubicBezTo>
                  <a:lnTo>
                    <a:pt x="0" y="29"/>
                  </a:ln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472" name="Freeform 264">
              <a:extLst>
                <a:ext uri="{FF2B5EF4-FFF2-40B4-BE49-F238E27FC236}">
                  <a16:creationId xmlns:a16="http://schemas.microsoft.com/office/drawing/2014/main" id="{A016D353-7361-4E7A-A67B-1B6A4446C614}"/>
                </a:ext>
              </a:extLst>
            </p:cNvPr>
            <p:cNvSpPr>
              <a:spLocks/>
            </p:cNvSpPr>
            <p:nvPr/>
          </p:nvSpPr>
          <p:spPr bwMode="gray">
            <a:xfrm>
              <a:off x="4964132" y="810664"/>
              <a:ext cx="253266" cy="251942"/>
            </a:xfrm>
            <a:custGeom>
              <a:avLst/>
              <a:gdLst>
                <a:gd name="T0" fmla="*/ 21 w 373"/>
                <a:gd name="T1" fmla="*/ 294 h 393"/>
                <a:gd name="T2" fmla="*/ 62 w 373"/>
                <a:gd name="T3" fmla="*/ 297 h 393"/>
                <a:gd name="T4" fmla="*/ 90 w 373"/>
                <a:gd name="T5" fmla="*/ 305 h 393"/>
                <a:gd name="T6" fmla="*/ 74 w 373"/>
                <a:gd name="T7" fmla="*/ 330 h 393"/>
                <a:gd name="T8" fmla="*/ 75 w 373"/>
                <a:gd name="T9" fmla="*/ 381 h 393"/>
                <a:gd name="T10" fmla="*/ 101 w 373"/>
                <a:gd name="T11" fmla="*/ 378 h 393"/>
                <a:gd name="T12" fmla="*/ 128 w 373"/>
                <a:gd name="T13" fmla="*/ 372 h 393"/>
                <a:gd name="T14" fmla="*/ 148 w 373"/>
                <a:gd name="T15" fmla="*/ 383 h 393"/>
                <a:gd name="T16" fmla="*/ 161 w 373"/>
                <a:gd name="T17" fmla="*/ 382 h 393"/>
                <a:gd name="T18" fmla="*/ 182 w 373"/>
                <a:gd name="T19" fmla="*/ 377 h 393"/>
                <a:gd name="T20" fmla="*/ 224 w 373"/>
                <a:gd name="T21" fmla="*/ 387 h 393"/>
                <a:gd name="T22" fmla="*/ 258 w 373"/>
                <a:gd name="T23" fmla="*/ 372 h 393"/>
                <a:gd name="T24" fmla="*/ 290 w 373"/>
                <a:gd name="T25" fmla="*/ 385 h 393"/>
                <a:gd name="T26" fmla="*/ 282 w 373"/>
                <a:gd name="T27" fmla="*/ 358 h 393"/>
                <a:gd name="T28" fmla="*/ 309 w 373"/>
                <a:gd name="T29" fmla="*/ 335 h 393"/>
                <a:gd name="T30" fmla="*/ 324 w 373"/>
                <a:gd name="T31" fmla="*/ 316 h 393"/>
                <a:gd name="T32" fmla="*/ 301 w 373"/>
                <a:gd name="T33" fmla="*/ 295 h 393"/>
                <a:gd name="T34" fmla="*/ 281 w 373"/>
                <a:gd name="T35" fmla="*/ 285 h 393"/>
                <a:gd name="T36" fmla="*/ 271 w 373"/>
                <a:gd name="T37" fmla="*/ 271 h 393"/>
                <a:gd name="T38" fmla="*/ 263 w 373"/>
                <a:gd name="T39" fmla="*/ 248 h 393"/>
                <a:gd name="T40" fmla="*/ 263 w 373"/>
                <a:gd name="T41" fmla="*/ 239 h 393"/>
                <a:gd name="T42" fmla="*/ 283 w 373"/>
                <a:gd name="T43" fmla="*/ 227 h 393"/>
                <a:gd name="T44" fmla="*/ 308 w 373"/>
                <a:gd name="T45" fmla="*/ 221 h 393"/>
                <a:gd name="T46" fmla="*/ 325 w 373"/>
                <a:gd name="T47" fmla="*/ 210 h 393"/>
                <a:gd name="T48" fmla="*/ 360 w 373"/>
                <a:gd name="T49" fmla="*/ 208 h 393"/>
                <a:gd name="T50" fmla="*/ 369 w 373"/>
                <a:gd name="T51" fmla="*/ 177 h 393"/>
                <a:gd name="T52" fmla="*/ 351 w 373"/>
                <a:gd name="T53" fmla="*/ 157 h 393"/>
                <a:gd name="T54" fmla="*/ 356 w 373"/>
                <a:gd name="T55" fmla="*/ 136 h 393"/>
                <a:gd name="T56" fmla="*/ 352 w 373"/>
                <a:gd name="T57" fmla="*/ 115 h 393"/>
                <a:gd name="T58" fmla="*/ 334 w 373"/>
                <a:gd name="T59" fmla="*/ 106 h 393"/>
                <a:gd name="T60" fmla="*/ 339 w 373"/>
                <a:gd name="T61" fmla="*/ 72 h 393"/>
                <a:gd name="T62" fmla="*/ 321 w 373"/>
                <a:gd name="T63" fmla="*/ 55 h 393"/>
                <a:gd name="T64" fmla="*/ 296 w 373"/>
                <a:gd name="T65" fmla="*/ 35 h 393"/>
                <a:gd name="T66" fmla="*/ 226 w 373"/>
                <a:gd name="T67" fmla="*/ 35 h 393"/>
                <a:gd name="T68" fmla="*/ 202 w 373"/>
                <a:gd name="T69" fmla="*/ 35 h 393"/>
                <a:gd name="T70" fmla="*/ 168 w 373"/>
                <a:gd name="T71" fmla="*/ 22 h 393"/>
                <a:gd name="T72" fmla="*/ 145 w 373"/>
                <a:gd name="T73" fmla="*/ 3 h 393"/>
                <a:gd name="T74" fmla="*/ 112 w 373"/>
                <a:gd name="T75" fmla="*/ 0 h 393"/>
                <a:gd name="T76" fmla="*/ 130 w 373"/>
                <a:gd name="T77" fmla="*/ 49 h 393"/>
                <a:gd name="T78" fmla="*/ 105 w 373"/>
                <a:gd name="T79" fmla="*/ 55 h 393"/>
                <a:gd name="T80" fmla="*/ 82 w 373"/>
                <a:gd name="T81" fmla="*/ 62 h 393"/>
                <a:gd name="T82" fmla="*/ 57 w 373"/>
                <a:gd name="T83" fmla="*/ 85 h 393"/>
                <a:gd name="T84" fmla="*/ 47 w 373"/>
                <a:gd name="T85" fmla="*/ 103 h 393"/>
                <a:gd name="T86" fmla="*/ 30 w 373"/>
                <a:gd name="T87" fmla="*/ 122 h 393"/>
                <a:gd name="T88" fmla="*/ 35 w 373"/>
                <a:gd name="T89" fmla="*/ 153 h 393"/>
                <a:gd name="T90" fmla="*/ 1 w 373"/>
                <a:gd name="T91" fmla="*/ 155 h 393"/>
                <a:gd name="T92" fmla="*/ 0 w 373"/>
                <a:gd name="T93" fmla="*/ 191 h 393"/>
                <a:gd name="T94" fmla="*/ 5 w 373"/>
                <a:gd name="T95" fmla="*/ 216 h 393"/>
                <a:gd name="T96" fmla="*/ 9 w 373"/>
                <a:gd name="T97" fmla="*/ 239 h 393"/>
                <a:gd name="T98" fmla="*/ 17 w 373"/>
                <a:gd name="T99" fmla="*/ 274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73" h="393">
                  <a:moveTo>
                    <a:pt x="17" y="274"/>
                  </a:moveTo>
                  <a:cubicBezTo>
                    <a:pt x="17" y="274"/>
                    <a:pt x="19" y="278"/>
                    <a:pt x="22" y="281"/>
                  </a:cubicBezTo>
                  <a:cubicBezTo>
                    <a:pt x="25" y="284"/>
                    <a:pt x="21" y="294"/>
                    <a:pt x="21" y="294"/>
                  </a:cubicBezTo>
                  <a:cubicBezTo>
                    <a:pt x="38" y="294"/>
                    <a:pt x="38" y="294"/>
                    <a:pt x="38" y="294"/>
                  </a:cubicBezTo>
                  <a:cubicBezTo>
                    <a:pt x="38" y="294"/>
                    <a:pt x="36" y="299"/>
                    <a:pt x="42" y="300"/>
                  </a:cubicBezTo>
                  <a:cubicBezTo>
                    <a:pt x="48" y="301"/>
                    <a:pt x="62" y="297"/>
                    <a:pt x="62" y="297"/>
                  </a:cubicBezTo>
                  <a:cubicBezTo>
                    <a:pt x="62" y="301"/>
                    <a:pt x="62" y="301"/>
                    <a:pt x="62" y="301"/>
                  </a:cubicBezTo>
                  <a:cubicBezTo>
                    <a:pt x="80" y="300"/>
                    <a:pt x="80" y="300"/>
                    <a:pt x="80" y="300"/>
                  </a:cubicBezTo>
                  <a:cubicBezTo>
                    <a:pt x="90" y="305"/>
                    <a:pt x="90" y="305"/>
                    <a:pt x="90" y="305"/>
                  </a:cubicBezTo>
                  <a:cubicBezTo>
                    <a:pt x="88" y="311"/>
                    <a:pt x="88" y="311"/>
                    <a:pt x="88" y="311"/>
                  </a:cubicBezTo>
                  <a:cubicBezTo>
                    <a:pt x="74" y="322"/>
                    <a:pt x="74" y="322"/>
                    <a:pt x="74" y="322"/>
                  </a:cubicBezTo>
                  <a:cubicBezTo>
                    <a:pt x="74" y="330"/>
                    <a:pt x="74" y="330"/>
                    <a:pt x="74" y="330"/>
                  </a:cubicBezTo>
                  <a:cubicBezTo>
                    <a:pt x="74" y="330"/>
                    <a:pt x="64" y="349"/>
                    <a:pt x="62" y="360"/>
                  </a:cubicBezTo>
                  <a:cubicBezTo>
                    <a:pt x="60" y="369"/>
                    <a:pt x="63" y="377"/>
                    <a:pt x="64" y="379"/>
                  </a:cubicBezTo>
                  <a:cubicBezTo>
                    <a:pt x="75" y="381"/>
                    <a:pt x="75" y="381"/>
                    <a:pt x="75" y="381"/>
                  </a:cubicBezTo>
                  <a:cubicBezTo>
                    <a:pt x="87" y="381"/>
                    <a:pt x="87" y="381"/>
                    <a:pt x="87" y="381"/>
                  </a:cubicBezTo>
                  <a:cubicBezTo>
                    <a:pt x="97" y="374"/>
                    <a:pt x="97" y="374"/>
                    <a:pt x="97" y="374"/>
                  </a:cubicBezTo>
                  <a:cubicBezTo>
                    <a:pt x="101" y="378"/>
                    <a:pt x="101" y="378"/>
                    <a:pt x="101" y="378"/>
                  </a:cubicBezTo>
                  <a:cubicBezTo>
                    <a:pt x="101" y="378"/>
                    <a:pt x="96" y="366"/>
                    <a:pt x="103" y="365"/>
                  </a:cubicBezTo>
                  <a:cubicBezTo>
                    <a:pt x="110" y="364"/>
                    <a:pt x="119" y="372"/>
                    <a:pt x="119" y="372"/>
                  </a:cubicBezTo>
                  <a:cubicBezTo>
                    <a:pt x="128" y="372"/>
                    <a:pt x="128" y="372"/>
                    <a:pt x="128" y="372"/>
                  </a:cubicBezTo>
                  <a:cubicBezTo>
                    <a:pt x="138" y="375"/>
                    <a:pt x="138" y="375"/>
                    <a:pt x="138" y="375"/>
                  </a:cubicBezTo>
                  <a:cubicBezTo>
                    <a:pt x="144" y="383"/>
                    <a:pt x="144" y="383"/>
                    <a:pt x="144" y="383"/>
                  </a:cubicBezTo>
                  <a:cubicBezTo>
                    <a:pt x="148" y="383"/>
                    <a:pt x="148" y="383"/>
                    <a:pt x="148" y="383"/>
                  </a:cubicBezTo>
                  <a:cubicBezTo>
                    <a:pt x="148" y="383"/>
                    <a:pt x="149" y="384"/>
                    <a:pt x="149" y="385"/>
                  </a:cubicBezTo>
                  <a:cubicBezTo>
                    <a:pt x="149" y="385"/>
                    <a:pt x="149" y="385"/>
                    <a:pt x="149" y="385"/>
                  </a:cubicBezTo>
                  <a:cubicBezTo>
                    <a:pt x="151" y="383"/>
                    <a:pt x="155" y="380"/>
                    <a:pt x="161" y="382"/>
                  </a:cubicBezTo>
                  <a:cubicBezTo>
                    <a:pt x="170" y="383"/>
                    <a:pt x="171" y="393"/>
                    <a:pt x="175" y="392"/>
                  </a:cubicBezTo>
                  <a:cubicBezTo>
                    <a:pt x="179" y="391"/>
                    <a:pt x="182" y="386"/>
                    <a:pt x="182" y="386"/>
                  </a:cubicBezTo>
                  <a:cubicBezTo>
                    <a:pt x="182" y="377"/>
                    <a:pt x="182" y="377"/>
                    <a:pt x="182" y="377"/>
                  </a:cubicBezTo>
                  <a:cubicBezTo>
                    <a:pt x="195" y="378"/>
                    <a:pt x="195" y="378"/>
                    <a:pt x="195" y="378"/>
                  </a:cubicBezTo>
                  <a:cubicBezTo>
                    <a:pt x="195" y="378"/>
                    <a:pt x="205" y="389"/>
                    <a:pt x="212" y="389"/>
                  </a:cubicBezTo>
                  <a:cubicBezTo>
                    <a:pt x="218" y="389"/>
                    <a:pt x="224" y="387"/>
                    <a:pt x="224" y="387"/>
                  </a:cubicBezTo>
                  <a:cubicBezTo>
                    <a:pt x="233" y="379"/>
                    <a:pt x="233" y="379"/>
                    <a:pt x="233" y="379"/>
                  </a:cubicBezTo>
                  <a:cubicBezTo>
                    <a:pt x="247" y="378"/>
                    <a:pt x="247" y="378"/>
                    <a:pt x="247" y="378"/>
                  </a:cubicBezTo>
                  <a:cubicBezTo>
                    <a:pt x="258" y="372"/>
                    <a:pt x="258" y="372"/>
                    <a:pt x="258" y="372"/>
                  </a:cubicBezTo>
                  <a:cubicBezTo>
                    <a:pt x="267" y="373"/>
                    <a:pt x="267" y="373"/>
                    <a:pt x="267" y="373"/>
                  </a:cubicBezTo>
                  <a:cubicBezTo>
                    <a:pt x="280" y="378"/>
                    <a:pt x="280" y="378"/>
                    <a:pt x="280" y="378"/>
                  </a:cubicBezTo>
                  <a:cubicBezTo>
                    <a:pt x="280" y="378"/>
                    <a:pt x="288" y="392"/>
                    <a:pt x="290" y="385"/>
                  </a:cubicBezTo>
                  <a:cubicBezTo>
                    <a:pt x="291" y="379"/>
                    <a:pt x="290" y="369"/>
                    <a:pt x="290" y="369"/>
                  </a:cubicBezTo>
                  <a:cubicBezTo>
                    <a:pt x="290" y="360"/>
                    <a:pt x="290" y="360"/>
                    <a:pt x="290" y="360"/>
                  </a:cubicBezTo>
                  <a:cubicBezTo>
                    <a:pt x="282" y="358"/>
                    <a:pt x="282" y="358"/>
                    <a:pt x="282" y="358"/>
                  </a:cubicBezTo>
                  <a:cubicBezTo>
                    <a:pt x="282" y="358"/>
                    <a:pt x="287" y="345"/>
                    <a:pt x="291" y="344"/>
                  </a:cubicBezTo>
                  <a:cubicBezTo>
                    <a:pt x="296" y="343"/>
                    <a:pt x="309" y="346"/>
                    <a:pt x="309" y="346"/>
                  </a:cubicBezTo>
                  <a:cubicBezTo>
                    <a:pt x="309" y="335"/>
                    <a:pt x="309" y="335"/>
                    <a:pt x="309" y="335"/>
                  </a:cubicBezTo>
                  <a:cubicBezTo>
                    <a:pt x="305" y="328"/>
                    <a:pt x="305" y="328"/>
                    <a:pt x="305" y="328"/>
                  </a:cubicBezTo>
                  <a:cubicBezTo>
                    <a:pt x="317" y="327"/>
                    <a:pt x="317" y="327"/>
                    <a:pt x="317" y="327"/>
                  </a:cubicBezTo>
                  <a:cubicBezTo>
                    <a:pt x="324" y="316"/>
                    <a:pt x="324" y="316"/>
                    <a:pt x="324" y="316"/>
                  </a:cubicBezTo>
                  <a:cubicBezTo>
                    <a:pt x="324" y="316"/>
                    <a:pt x="323" y="309"/>
                    <a:pt x="317" y="305"/>
                  </a:cubicBezTo>
                  <a:cubicBezTo>
                    <a:pt x="312" y="302"/>
                    <a:pt x="307" y="304"/>
                    <a:pt x="307" y="304"/>
                  </a:cubicBezTo>
                  <a:cubicBezTo>
                    <a:pt x="301" y="295"/>
                    <a:pt x="301" y="295"/>
                    <a:pt x="301" y="295"/>
                  </a:cubicBezTo>
                  <a:cubicBezTo>
                    <a:pt x="297" y="295"/>
                    <a:pt x="297" y="295"/>
                    <a:pt x="297" y="295"/>
                  </a:cubicBezTo>
                  <a:cubicBezTo>
                    <a:pt x="294" y="287"/>
                    <a:pt x="294" y="287"/>
                    <a:pt x="294" y="287"/>
                  </a:cubicBezTo>
                  <a:cubicBezTo>
                    <a:pt x="294" y="287"/>
                    <a:pt x="288" y="285"/>
                    <a:pt x="281" y="285"/>
                  </a:cubicBezTo>
                  <a:cubicBezTo>
                    <a:pt x="273" y="284"/>
                    <a:pt x="279" y="279"/>
                    <a:pt x="279" y="279"/>
                  </a:cubicBezTo>
                  <a:cubicBezTo>
                    <a:pt x="273" y="277"/>
                    <a:pt x="273" y="277"/>
                    <a:pt x="273" y="277"/>
                  </a:cubicBezTo>
                  <a:cubicBezTo>
                    <a:pt x="271" y="271"/>
                    <a:pt x="271" y="271"/>
                    <a:pt x="271" y="271"/>
                  </a:cubicBezTo>
                  <a:cubicBezTo>
                    <a:pt x="271" y="271"/>
                    <a:pt x="263" y="265"/>
                    <a:pt x="262" y="263"/>
                  </a:cubicBezTo>
                  <a:cubicBezTo>
                    <a:pt x="261" y="261"/>
                    <a:pt x="269" y="257"/>
                    <a:pt x="269" y="257"/>
                  </a:cubicBezTo>
                  <a:cubicBezTo>
                    <a:pt x="263" y="248"/>
                    <a:pt x="263" y="248"/>
                    <a:pt x="263" y="248"/>
                  </a:cubicBezTo>
                  <a:cubicBezTo>
                    <a:pt x="257" y="247"/>
                    <a:pt x="257" y="247"/>
                    <a:pt x="257" y="247"/>
                  </a:cubicBezTo>
                  <a:cubicBezTo>
                    <a:pt x="257" y="247"/>
                    <a:pt x="252" y="238"/>
                    <a:pt x="255" y="235"/>
                  </a:cubicBezTo>
                  <a:cubicBezTo>
                    <a:pt x="259" y="233"/>
                    <a:pt x="259" y="239"/>
                    <a:pt x="263" y="239"/>
                  </a:cubicBezTo>
                  <a:cubicBezTo>
                    <a:pt x="267" y="238"/>
                    <a:pt x="266" y="233"/>
                    <a:pt x="266" y="233"/>
                  </a:cubicBezTo>
                  <a:cubicBezTo>
                    <a:pt x="273" y="233"/>
                    <a:pt x="273" y="233"/>
                    <a:pt x="273" y="233"/>
                  </a:cubicBezTo>
                  <a:cubicBezTo>
                    <a:pt x="273" y="233"/>
                    <a:pt x="275" y="225"/>
                    <a:pt x="283" y="227"/>
                  </a:cubicBezTo>
                  <a:cubicBezTo>
                    <a:pt x="292" y="229"/>
                    <a:pt x="290" y="233"/>
                    <a:pt x="290" y="233"/>
                  </a:cubicBezTo>
                  <a:cubicBezTo>
                    <a:pt x="297" y="224"/>
                    <a:pt x="297" y="224"/>
                    <a:pt x="297" y="224"/>
                  </a:cubicBezTo>
                  <a:cubicBezTo>
                    <a:pt x="308" y="221"/>
                    <a:pt x="308" y="221"/>
                    <a:pt x="308" y="221"/>
                  </a:cubicBezTo>
                  <a:cubicBezTo>
                    <a:pt x="310" y="217"/>
                    <a:pt x="310" y="217"/>
                    <a:pt x="310" y="217"/>
                  </a:cubicBezTo>
                  <a:cubicBezTo>
                    <a:pt x="310" y="217"/>
                    <a:pt x="321" y="217"/>
                    <a:pt x="324" y="216"/>
                  </a:cubicBezTo>
                  <a:cubicBezTo>
                    <a:pt x="327" y="215"/>
                    <a:pt x="325" y="210"/>
                    <a:pt x="325" y="210"/>
                  </a:cubicBezTo>
                  <a:cubicBezTo>
                    <a:pt x="325" y="210"/>
                    <a:pt x="336" y="211"/>
                    <a:pt x="339" y="208"/>
                  </a:cubicBezTo>
                  <a:cubicBezTo>
                    <a:pt x="341" y="205"/>
                    <a:pt x="346" y="199"/>
                    <a:pt x="348" y="198"/>
                  </a:cubicBezTo>
                  <a:cubicBezTo>
                    <a:pt x="350" y="197"/>
                    <a:pt x="355" y="209"/>
                    <a:pt x="360" y="208"/>
                  </a:cubicBezTo>
                  <a:cubicBezTo>
                    <a:pt x="365" y="207"/>
                    <a:pt x="371" y="195"/>
                    <a:pt x="372" y="191"/>
                  </a:cubicBezTo>
                  <a:cubicBezTo>
                    <a:pt x="373" y="188"/>
                    <a:pt x="367" y="187"/>
                    <a:pt x="367" y="187"/>
                  </a:cubicBezTo>
                  <a:cubicBezTo>
                    <a:pt x="367" y="187"/>
                    <a:pt x="371" y="182"/>
                    <a:pt x="369" y="177"/>
                  </a:cubicBezTo>
                  <a:cubicBezTo>
                    <a:pt x="368" y="171"/>
                    <a:pt x="360" y="177"/>
                    <a:pt x="360" y="177"/>
                  </a:cubicBezTo>
                  <a:cubicBezTo>
                    <a:pt x="361" y="165"/>
                    <a:pt x="361" y="165"/>
                    <a:pt x="361" y="165"/>
                  </a:cubicBezTo>
                  <a:cubicBezTo>
                    <a:pt x="361" y="165"/>
                    <a:pt x="352" y="163"/>
                    <a:pt x="351" y="157"/>
                  </a:cubicBezTo>
                  <a:cubicBezTo>
                    <a:pt x="351" y="152"/>
                    <a:pt x="360" y="146"/>
                    <a:pt x="360" y="146"/>
                  </a:cubicBezTo>
                  <a:cubicBezTo>
                    <a:pt x="360" y="146"/>
                    <a:pt x="357" y="144"/>
                    <a:pt x="355" y="143"/>
                  </a:cubicBezTo>
                  <a:cubicBezTo>
                    <a:pt x="353" y="143"/>
                    <a:pt x="356" y="136"/>
                    <a:pt x="356" y="136"/>
                  </a:cubicBezTo>
                  <a:cubicBezTo>
                    <a:pt x="356" y="136"/>
                    <a:pt x="351" y="135"/>
                    <a:pt x="350" y="132"/>
                  </a:cubicBezTo>
                  <a:cubicBezTo>
                    <a:pt x="349" y="129"/>
                    <a:pt x="355" y="126"/>
                    <a:pt x="355" y="126"/>
                  </a:cubicBezTo>
                  <a:cubicBezTo>
                    <a:pt x="355" y="126"/>
                    <a:pt x="355" y="120"/>
                    <a:pt x="352" y="115"/>
                  </a:cubicBezTo>
                  <a:cubicBezTo>
                    <a:pt x="349" y="111"/>
                    <a:pt x="345" y="115"/>
                    <a:pt x="345" y="115"/>
                  </a:cubicBezTo>
                  <a:cubicBezTo>
                    <a:pt x="341" y="109"/>
                    <a:pt x="341" y="109"/>
                    <a:pt x="341" y="109"/>
                  </a:cubicBezTo>
                  <a:cubicBezTo>
                    <a:pt x="341" y="109"/>
                    <a:pt x="337" y="113"/>
                    <a:pt x="334" y="106"/>
                  </a:cubicBezTo>
                  <a:cubicBezTo>
                    <a:pt x="331" y="99"/>
                    <a:pt x="337" y="98"/>
                    <a:pt x="343" y="93"/>
                  </a:cubicBezTo>
                  <a:cubicBezTo>
                    <a:pt x="349" y="89"/>
                    <a:pt x="347" y="87"/>
                    <a:pt x="345" y="79"/>
                  </a:cubicBezTo>
                  <a:cubicBezTo>
                    <a:pt x="342" y="70"/>
                    <a:pt x="337" y="78"/>
                    <a:pt x="339" y="72"/>
                  </a:cubicBezTo>
                  <a:cubicBezTo>
                    <a:pt x="340" y="69"/>
                    <a:pt x="339" y="65"/>
                    <a:pt x="338" y="62"/>
                  </a:cubicBezTo>
                  <a:cubicBezTo>
                    <a:pt x="334" y="60"/>
                    <a:pt x="334" y="60"/>
                    <a:pt x="334" y="60"/>
                  </a:cubicBezTo>
                  <a:cubicBezTo>
                    <a:pt x="321" y="55"/>
                    <a:pt x="321" y="55"/>
                    <a:pt x="321" y="55"/>
                  </a:cubicBezTo>
                  <a:cubicBezTo>
                    <a:pt x="321" y="55"/>
                    <a:pt x="323" y="50"/>
                    <a:pt x="318" y="44"/>
                  </a:cubicBezTo>
                  <a:cubicBezTo>
                    <a:pt x="313" y="38"/>
                    <a:pt x="301" y="41"/>
                    <a:pt x="301" y="41"/>
                  </a:cubicBezTo>
                  <a:cubicBezTo>
                    <a:pt x="296" y="35"/>
                    <a:pt x="296" y="35"/>
                    <a:pt x="296" y="35"/>
                  </a:cubicBezTo>
                  <a:cubicBezTo>
                    <a:pt x="296" y="35"/>
                    <a:pt x="270" y="23"/>
                    <a:pt x="265" y="26"/>
                  </a:cubicBezTo>
                  <a:cubicBezTo>
                    <a:pt x="260" y="29"/>
                    <a:pt x="253" y="36"/>
                    <a:pt x="253" y="36"/>
                  </a:cubicBezTo>
                  <a:cubicBezTo>
                    <a:pt x="226" y="35"/>
                    <a:pt x="226" y="35"/>
                    <a:pt x="226" y="35"/>
                  </a:cubicBezTo>
                  <a:cubicBezTo>
                    <a:pt x="226" y="47"/>
                    <a:pt x="226" y="47"/>
                    <a:pt x="226" y="47"/>
                  </a:cubicBezTo>
                  <a:cubicBezTo>
                    <a:pt x="200" y="46"/>
                    <a:pt x="200" y="46"/>
                    <a:pt x="200" y="46"/>
                  </a:cubicBezTo>
                  <a:cubicBezTo>
                    <a:pt x="200" y="46"/>
                    <a:pt x="198" y="38"/>
                    <a:pt x="202" y="35"/>
                  </a:cubicBezTo>
                  <a:cubicBezTo>
                    <a:pt x="206" y="32"/>
                    <a:pt x="209" y="20"/>
                    <a:pt x="209" y="20"/>
                  </a:cubicBezTo>
                  <a:cubicBezTo>
                    <a:pt x="196" y="27"/>
                    <a:pt x="196" y="27"/>
                    <a:pt x="196" y="27"/>
                  </a:cubicBezTo>
                  <a:cubicBezTo>
                    <a:pt x="168" y="22"/>
                    <a:pt x="168" y="22"/>
                    <a:pt x="168" y="22"/>
                  </a:cubicBezTo>
                  <a:cubicBezTo>
                    <a:pt x="168" y="22"/>
                    <a:pt x="160" y="14"/>
                    <a:pt x="156" y="4"/>
                  </a:cubicBezTo>
                  <a:cubicBezTo>
                    <a:pt x="154" y="5"/>
                    <a:pt x="153" y="6"/>
                    <a:pt x="153" y="6"/>
                  </a:cubicBezTo>
                  <a:cubicBezTo>
                    <a:pt x="153" y="6"/>
                    <a:pt x="152" y="2"/>
                    <a:pt x="145" y="3"/>
                  </a:cubicBezTo>
                  <a:cubicBezTo>
                    <a:pt x="137" y="3"/>
                    <a:pt x="135" y="5"/>
                    <a:pt x="135" y="5"/>
                  </a:cubicBezTo>
                  <a:cubicBezTo>
                    <a:pt x="135" y="5"/>
                    <a:pt x="127" y="0"/>
                    <a:pt x="123" y="0"/>
                  </a:cubicBezTo>
                  <a:cubicBezTo>
                    <a:pt x="119" y="0"/>
                    <a:pt x="112" y="0"/>
                    <a:pt x="112" y="0"/>
                  </a:cubicBezTo>
                  <a:cubicBezTo>
                    <a:pt x="126" y="23"/>
                    <a:pt x="126" y="23"/>
                    <a:pt x="126" y="23"/>
                  </a:cubicBezTo>
                  <a:cubicBezTo>
                    <a:pt x="117" y="31"/>
                    <a:pt x="117" y="31"/>
                    <a:pt x="117" y="31"/>
                  </a:cubicBezTo>
                  <a:cubicBezTo>
                    <a:pt x="130" y="49"/>
                    <a:pt x="130" y="49"/>
                    <a:pt x="130" y="49"/>
                  </a:cubicBezTo>
                  <a:cubicBezTo>
                    <a:pt x="142" y="58"/>
                    <a:pt x="142" y="58"/>
                    <a:pt x="142" y="58"/>
                  </a:cubicBezTo>
                  <a:cubicBezTo>
                    <a:pt x="123" y="51"/>
                    <a:pt x="123" y="51"/>
                    <a:pt x="123" y="51"/>
                  </a:cubicBezTo>
                  <a:cubicBezTo>
                    <a:pt x="105" y="55"/>
                    <a:pt x="105" y="55"/>
                    <a:pt x="105" y="55"/>
                  </a:cubicBezTo>
                  <a:cubicBezTo>
                    <a:pt x="105" y="55"/>
                    <a:pt x="110" y="70"/>
                    <a:pt x="104" y="72"/>
                  </a:cubicBezTo>
                  <a:cubicBezTo>
                    <a:pt x="98" y="74"/>
                    <a:pt x="88" y="72"/>
                    <a:pt x="88" y="72"/>
                  </a:cubicBezTo>
                  <a:cubicBezTo>
                    <a:pt x="82" y="62"/>
                    <a:pt x="82" y="62"/>
                    <a:pt x="82" y="62"/>
                  </a:cubicBezTo>
                  <a:cubicBezTo>
                    <a:pt x="82" y="62"/>
                    <a:pt x="55" y="59"/>
                    <a:pt x="54" y="64"/>
                  </a:cubicBezTo>
                  <a:cubicBezTo>
                    <a:pt x="53" y="69"/>
                    <a:pt x="53" y="82"/>
                    <a:pt x="53" y="82"/>
                  </a:cubicBezTo>
                  <a:cubicBezTo>
                    <a:pt x="57" y="85"/>
                    <a:pt x="57" y="85"/>
                    <a:pt x="57" y="85"/>
                  </a:cubicBezTo>
                  <a:cubicBezTo>
                    <a:pt x="54" y="87"/>
                    <a:pt x="54" y="87"/>
                    <a:pt x="54" y="87"/>
                  </a:cubicBezTo>
                  <a:cubicBezTo>
                    <a:pt x="59" y="95"/>
                    <a:pt x="59" y="95"/>
                    <a:pt x="59" y="95"/>
                  </a:cubicBezTo>
                  <a:cubicBezTo>
                    <a:pt x="59" y="95"/>
                    <a:pt x="48" y="99"/>
                    <a:pt x="47" y="103"/>
                  </a:cubicBezTo>
                  <a:cubicBezTo>
                    <a:pt x="45" y="107"/>
                    <a:pt x="49" y="115"/>
                    <a:pt x="49" y="115"/>
                  </a:cubicBezTo>
                  <a:cubicBezTo>
                    <a:pt x="41" y="115"/>
                    <a:pt x="41" y="115"/>
                    <a:pt x="41" y="115"/>
                  </a:cubicBezTo>
                  <a:cubicBezTo>
                    <a:pt x="41" y="115"/>
                    <a:pt x="29" y="119"/>
                    <a:pt x="30" y="122"/>
                  </a:cubicBezTo>
                  <a:cubicBezTo>
                    <a:pt x="31" y="125"/>
                    <a:pt x="45" y="130"/>
                    <a:pt x="45" y="134"/>
                  </a:cubicBezTo>
                  <a:cubicBezTo>
                    <a:pt x="45" y="138"/>
                    <a:pt x="37" y="142"/>
                    <a:pt x="37" y="142"/>
                  </a:cubicBezTo>
                  <a:cubicBezTo>
                    <a:pt x="35" y="153"/>
                    <a:pt x="35" y="153"/>
                    <a:pt x="35" y="153"/>
                  </a:cubicBezTo>
                  <a:cubicBezTo>
                    <a:pt x="29" y="152"/>
                    <a:pt x="29" y="152"/>
                    <a:pt x="29" y="152"/>
                  </a:cubicBezTo>
                  <a:cubicBezTo>
                    <a:pt x="29" y="152"/>
                    <a:pt x="27" y="157"/>
                    <a:pt x="25" y="160"/>
                  </a:cubicBezTo>
                  <a:cubicBezTo>
                    <a:pt x="23" y="163"/>
                    <a:pt x="1" y="155"/>
                    <a:pt x="1" y="155"/>
                  </a:cubicBezTo>
                  <a:cubicBezTo>
                    <a:pt x="7" y="170"/>
                    <a:pt x="7" y="170"/>
                    <a:pt x="7" y="170"/>
                  </a:cubicBezTo>
                  <a:cubicBezTo>
                    <a:pt x="7" y="170"/>
                    <a:pt x="12" y="178"/>
                    <a:pt x="11" y="181"/>
                  </a:cubicBezTo>
                  <a:cubicBezTo>
                    <a:pt x="11" y="185"/>
                    <a:pt x="0" y="191"/>
                    <a:pt x="0" y="191"/>
                  </a:cubicBezTo>
                  <a:cubicBezTo>
                    <a:pt x="0" y="191"/>
                    <a:pt x="5" y="197"/>
                    <a:pt x="4" y="199"/>
                  </a:cubicBezTo>
                  <a:cubicBezTo>
                    <a:pt x="3" y="201"/>
                    <a:pt x="0" y="215"/>
                    <a:pt x="0" y="215"/>
                  </a:cubicBezTo>
                  <a:cubicBezTo>
                    <a:pt x="5" y="216"/>
                    <a:pt x="5" y="216"/>
                    <a:pt x="5" y="216"/>
                  </a:cubicBezTo>
                  <a:cubicBezTo>
                    <a:pt x="5" y="216"/>
                    <a:pt x="14" y="219"/>
                    <a:pt x="15" y="225"/>
                  </a:cubicBezTo>
                  <a:cubicBezTo>
                    <a:pt x="15" y="231"/>
                    <a:pt x="18" y="238"/>
                    <a:pt x="18" y="238"/>
                  </a:cubicBezTo>
                  <a:cubicBezTo>
                    <a:pt x="9" y="239"/>
                    <a:pt x="9" y="239"/>
                    <a:pt x="9" y="239"/>
                  </a:cubicBezTo>
                  <a:cubicBezTo>
                    <a:pt x="9" y="239"/>
                    <a:pt x="4" y="247"/>
                    <a:pt x="7" y="253"/>
                  </a:cubicBezTo>
                  <a:cubicBezTo>
                    <a:pt x="11" y="259"/>
                    <a:pt x="21" y="261"/>
                    <a:pt x="22" y="265"/>
                  </a:cubicBezTo>
                  <a:cubicBezTo>
                    <a:pt x="23" y="270"/>
                    <a:pt x="17" y="274"/>
                    <a:pt x="17" y="274"/>
                  </a:cubicBezTo>
                  <a:close/>
                </a:path>
              </a:pathLst>
            </a:custGeom>
            <a:solidFill>
              <a:schemeClr val="bg1">
                <a:lumMod val="95000"/>
              </a:schemeClr>
            </a:solidFill>
            <a:ln w="3175" cap="flat" cmpd="sng">
              <a:no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473" name="Freeform 265">
              <a:extLst>
                <a:ext uri="{FF2B5EF4-FFF2-40B4-BE49-F238E27FC236}">
                  <a16:creationId xmlns:a16="http://schemas.microsoft.com/office/drawing/2014/main" id="{CB299431-8C02-479C-A565-9DC3766FFFC0}"/>
                </a:ext>
              </a:extLst>
            </p:cNvPr>
            <p:cNvSpPr>
              <a:spLocks/>
            </p:cNvSpPr>
            <p:nvPr/>
          </p:nvSpPr>
          <p:spPr bwMode="gray">
            <a:xfrm>
              <a:off x="4825151" y="1219797"/>
              <a:ext cx="13496" cy="8416"/>
            </a:xfrm>
            <a:custGeom>
              <a:avLst/>
              <a:gdLst>
                <a:gd name="T0" fmla="*/ 5 w 20"/>
                <a:gd name="T1" fmla="*/ 13 h 13"/>
                <a:gd name="T2" fmla="*/ 18 w 20"/>
                <a:gd name="T3" fmla="*/ 10 h 13"/>
                <a:gd name="T4" fmla="*/ 20 w 20"/>
                <a:gd name="T5" fmla="*/ 10 h 13"/>
                <a:gd name="T6" fmla="*/ 19 w 20"/>
                <a:gd name="T7" fmla="*/ 1 h 13"/>
                <a:gd name="T8" fmla="*/ 5 w 20"/>
                <a:gd name="T9" fmla="*/ 1 h 13"/>
                <a:gd name="T10" fmla="*/ 0 w 20"/>
                <a:gd name="T11" fmla="*/ 2 h 13"/>
                <a:gd name="T12" fmla="*/ 5 w 20"/>
                <a:gd name="T13" fmla="*/ 13 h 13"/>
              </a:gdLst>
              <a:ahLst/>
              <a:cxnLst>
                <a:cxn ang="0">
                  <a:pos x="T0" y="T1"/>
                </a:cxn>
                <a:cxn ang="0">
                  <a:pos x="T2" y="T3"/>
                </a:cxn>
                <a:cxn ang="0">
                  <a:pos x="T4" y="T5"/>
                </a:cxn>
                <a:cxn ang="0">
                  <a:pos x="T6" y="T7"/>
                </a:cxn>
                <a:cxn ang="0">
                  <a:pos x="T8" y="T9"/>
                </a:cxn>
                <a:cxn ang="0">
                  <a:pos x="T10" y="T11"/>
                </a:cxn>
                <a:cxn ang="0">
                  <a:pos x="T12" y="T13"/>
                </a:cxn>
              </a:cxnLst>
              <a:rect l="0" t="0" r="r" b="b"/>
              <a:pathLst>
                <a:path w="20" h="13">
                  <a:moveTo>
                    <a:pt x="5" y="13"/>
                  </a:moveTo>
                  <a:cubicBezTo>
                    <a:pt x="5" y="13"/>
                    <a:pt x="14" y="11"/>
                    <a:pt x="18" y="10"/>
                  </a:cubicBezTo>
                  <a:cubicBezTo>
                    <a:pt x="19" y="10"/>
                    <a:pt x="20" y="10"/>
                    <a:pt x="20" y="10"/>
                  </a:cubicBezTo>
                  <a:cubicBezTo>
                    <a:pt x="19" y="1"/>
                    <a:pt x="19" y="1"/>
                    <a:pt x="19" y="1"/>
                  </a:cubicBezTo>
                  <a:cubicBezTo>
                    <a:pt x="19" y="1"/>
                    <a:pt x="15" y="0"/>
                    <a:pt x="5" y="1"/>
                  </a:cubicBezTo>
                  <a:cubicBezTo>
                    <a:pt x="3" y="1"/>
                    <a:pt x="1" y="1"/>
                    <a:pt x="0" y="2"/>
                  </a:cubicBezTo>
                  <a:lnTo>
                    <a:pt x="5" y="13"/>
                  </a:ln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474" name="Freeform 266">
              <a:extLst>
                <a:ext uri="{FF2B5EF4-FFF2-40B4-BE49-F238E27FC236}">
                  <a16:creationId xmlns:a16="http://schemas.microsoft.com/office/drawing/2014/main" id="{952152EF-77A9-4704-BBBA-F01177CB114F}"/>
                </a:ext>
              </a:extLst>
            </p:cNvPr>
            <p:cNvSpPr>
              <a:spLocks/>
            </p:cNvSpPr>
            <p:nvPr/>
          </p:nvSpPr>
          <p:spPr bwMode="gray">
            <a:xfrm>
              <a:off x="7265062" y="900527"/>
              <a:ext cx="953624" cy="357822"/>
            </a:xfrm>
            <a:custGeom>
              <a:avLst/>
              <a:gdLst>
                <a:gd name="T0" fmla="*/ 1353 w 1406"/>
                <a:gd name="T1" fmla="*/ 245 h 558"/>
                <a:gd name="T2" fmla="*/ 1312 w 1406"/>
                <a:gd name="T3" fmla="*/ 214 h 558"/>
                <a:gd name="T4" fmla="*/ 1247 w 1406"/>
                <a:gd name="T5" fmla="*/ 225 h 558"/>
                <a:gd name="T6" fmla="*/ 1182 w 1406"/>
                <a:gd name="T7" fmla="*/ 215 h 558"/>
                <a:gd name="T8" fmla="*/ 1179 w 1406"/>
                <a:gd name="T9" fmla="*/ 178 h 558"/>
                <a:gd name="T10" fmla="*/ 1162 w 1406"/>
                <a:gd name="T11" fmla="*/ 114 h 558"/>
                <a:gd name="T12" fmla="*/ 1091 w 1406"/>
                <a:gd name="T13" fmla="*/ 102 h 558"/>
                <a:gd name="T14" fmla="*/ 1025 w 1406"/>
                <a:gd name="T15" fmla="*/ 136 h 558"/>
                <a:gd name="T16" fmla="*/ 967 w 1406"/>
                <a:gd name="T17" fmla="*/ 143 h 558"/>
                <a:gd name="T18" fmla="*/ 922 w 1406"/>
                <a:gd name="T19" fmla="*/ 156 h 558"/>
                <a:gd name="T20" fmla="*/ 855 w 1406"/>
                <a:gd name="T21" fmla="*/ 148 h 558"/>
                <a:gd name="T22" fmla="*/ 812 w 1406"/>
                <a:gd name="T23" fmla="*/ 114 h 558"/>
                <a:gd name="T24" fmla="*/ 728 w 1406"/>
                <a:gd name="T25" fmla="*/ 97 h 558"/>
                <a:gd name="T26" fmla="*/ 607 w 1406"/>
                <a:gd name="T27" fmla="*/ 95 h 558"/>
                <a:gd name="T28" fmla="*/ 563 w 1406"/>
                <a:gd name="T29" fmla="*/ 83 h 558"/>
                <a:gd name="T30" fmla="*/ 472 w 1406"/>
                <a:gd name="T31" fmla="*/ 22 h 558"/>
                <a:gd name="T32" fmla="*/ 384 w 1406"/>
                <a:gd name="T33" fmla="*/ 0 h 558"/>
                <a:gd name="T34" fmla="*/ 373 w 1406"/>
                <a:gd name="T35" fmla="*/ 33 h 558"/>
                <a:gd name="T36" fmla="*/ 372 w 1406"/>
                <a:gd name="T37" fmla="*/ 60 h 558"/>
                <a:gd name="T38" fmla="*/ 391 w 1406"/>
                <a:gd name="T39" fmla="*/ 110 h 558"/>
                <a:gd name="T40" fmla="*/ 335 w 1406"/>
                <a:gd name="T41" fmla="*/ 119 h 558"/>
                <a:gd name="T42" fmla="*/ 301 w 1406"/>
                <a:gd name="T43" fmla="*/ 118 h 558"/>
                <a:gd name="T44" fmla="*/ 278 w 1406"/>
                <a:gd name="T45" fmla="*/ 107 h 558"/>
                <a:gd name="T46" fmla="*/ 182 w 1406"/>
                <a:gd name="T47" fmla="*/ 86 h 558"/>
                <a:gd name="T48" fmla="*/ 155 w 1406"/>
                <a:gd name="T49" fmla="*/ 70 h 558"/>
                <a:gd name="T50" fmla="*/ 119 w 1406"/>
                <a:gd name="T51" fmla="*/ 88 h 558"/>
                <a:gd name="T52" fmla="*/ 83 w 1406"/>
                <a:gd name="T53" fmla="*/ 100 h 558"/>
                <a:gd name="T54" fmla="*/ 47 w 1406"/>
                <a:gd name="T55" fmla="*/ 130 h 558"/>
                <a:gd name="T56" fmla="*/ 9 w 1406"/>
                <a:gd name="T57" fmla="*/ 151 h 558"/>
                <a:gd name="T58" fmla="*/ 18 w 1406"/>
                <a:gd name="T59" fmla="*/ 174 h 558"/>
                <a:gd name="T60" fmla="*/ 54 w 1406"/>
                <a:gd name="T61" fmla="*/ 203 h 558"/>
                <a:gd name="T62" fmla="*/ 107 w 1406"/>
                <a:gd name="T63" fmla="*/ 221 h 558"/>
                <a:gd name="T64" fmla="*/ 179 w 1406"/>
                <a:gd name="T65" fmla="*/ 276 h 558"/>
                <a:gd name="T66" fmla="*/ 192 w 1406"/>
                <a:gd name="T67" fmla="*/ 326 h 558"/>
                <a:gd name="T68" fmla="*/ 274 w 1406"/>
                <a:gd name="T69" fmla="*/ 374 h 558"/>
                <a:gd name="T70" fmla="*/ 361 w 1406"/>
                <a:gd name="T71" fmla="*/ 397 h 558"/>
                <a:gd name="T72" fmla="*/ 430 w 1406"/>
                <a:gd name="T73" fmla="*/ 429 h 558"/>
                <a:gd name="T74" fmla="*/ 502 w 1406"/>
                <a:gd name="T75" fmla="*/ 498 h 558"/>
                <a:gd name="T76" fmla="*/ 610 w 1406"/>
                <a:gd name="T77" fmla="*/ 499 h 558"/>
                <a:gd name="T78" fmla="*/ 679 w 1406"/>
                <a:gd name="T79" fmla="*/ 501 h 558"/>
                <a:gd name="T80" fmla="*/ 795 w 1406"/>
                <a:gd name="T81" fmla="*/ 531 h 558"/>
                <a:gd name="T82" fmla="*/ 873 w 1406"/>
                <a:gd name="T83" fmla="*/ 550 h 558"/>
                <a:gd name="T84" fmla="*/ 1066 w 1406"/>
                <a:gd name="T85" fmla="*/ 510 h 558"/>
                <a:gd name="T86" fmla="*/ 1112 w 1406"/>
                <a:gd name="T87" fmla="*/ 463 h 558"/>
                <a:gd name="T88" fmla="*/ 1108 w 1406"/>
                <a:gd name="T89" fmla="*/ 407 h 558"/>
                <a:gd name="T90" fmla="*/ 1160 w 1406"/>
                <a:gd name="T91" fmla="*/ 388 h 558"/>
                <a:gd name="T92" fmla="*/ 1213 w 1406"/>
                <a:gd name="T93" fmla="*/ 350 h 558"/>
                <a:gd name="T94" fmla="*/ 1270 w 1406"/>
                <a:gd name="T95" fmla="*/ 314 h 558"/>
                <a:gd name="T96" fmla="*/ 1320 w 1406"/>
                <a:gd name="T97" fmla="*/ 294 h 558"/>
                <a:gd name="T98" fmla="*/ 1355 w 1406"/>
                <a:gd name="T99" fmla="*/ 279 h 558"/>
                <a:gd name="T100" fmla="*/ 1394 w 1406"/>
                <a:gd name="T101" fmla="*/ 273 h 5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406" h="558">
                  <a:moveTo>
                    <a:pt x="1394" y="273"/>
                  </a:moveTo>
                  <a:cubicBezTo>
                    <a:pt x="1385" y="267"/>
                    <a:pt x="1380" y="256"/>
                    <a:pt x="1380" y="256"/>
                  </a:cubicBezTo>
                  <a:cubicBezTo>
                    <a:pt x="1380" y="256"/>
                    <a:pt x="1362" y="252"/>
                    <a:pt x="1353" y="245"/>
                  </a:cubicBezTo>
                  <a:cubicBezTo>
                    <a:pt x="1344" y="238"/>
                    <a:pt x="1336" y="231"/>
                    <a:pt x="1336" y="231"/>
                  </a:cubicBezTo>
                  <a:cubicBezTo>
                    <a:pt x="1336" y="231"/>
                    <a:pt x="1333" y="231"/>
                    <a:pt x="1324" y="230"/>
                  </a:cubicBezTo>
                  <a:cubicBezTo>
                    <a:pt x="1315" y="229"/>
                    <a:pt x="1312" y="214"/>
                    <a:pt x="1312" y="214"/>
                  </a:cubicBezTo>
                  <a:cubicBezTo>
                    <a:pt x="1271" y="214"/>
                    <a:pt x="1271" y="214"/>
                    <a:pt x="1271" y="214"/>
                  </a:cubicBezTo>
                  <a:cubicBezTo>
                    <a:pt x="1271" y="214"/>
                    <a:pt x="1270" y="232"/>
                    <a:pt x="1264" y="234"/>
                  </a:cubicBezTo>
                  <a:cubicBezTo>
                    <a:pt x="1258" y="236"/>
                    <a:pt x="1247" y="225"/>
                    <a:pt x="1247" y="225"/>
                  </a:cubicBezTo>
                  <a:cubicBezTo>
                    <a:pt x="1247" y="225"/>
                    <a:pt x="1237" y="221"/>
                    <a:pt x="1218" y="222"/>
                  </a:cubicBezTo>
                  <a:cubicBezTo>
                    <a:pt x="1199" y="223"/>
                    <a:pt x="1215" y="230"/>
                    <a:pt x="1206" y="233"/>
                  </a:cubicBezTo>
                  <a:cubicBezTo>
                    <a:pt x="1197" y="236"/>
                    <a:pt x="1185" y="225"/>
                    <a:pt x="1182" y="215"/>
                  </a:cubicBezTo>
                  <a:cubicBezTo>
                    <a:pt x="1179" y="205"/>
                    <a:pt x="1184" y="202"/>
                    <a:pt x="1184" y="202"/>
                  </a:cubicBezTo>
                  <a:cubicBezTo>
                    <a:pt x="1180" y="196"/>
                    <a:pt x="1180" y="196"/>
                    <a:pt x="1180" y="196"/>
                  </a:cubicBezTo>
                  <a:cubicBezTo>
                    <a:pt x="1179" y="178"/>
                    <a:pt x="1179" y="178"/>
                    <a:pt x="1179" y="178"/>
                  </a:cubicBezTo>
                  <a:cubicBezTo>
                    <a:pt x="1174" y="172"/>
                    <a:pt x="1174" y="172"/>
                    <a:pt x="1174" y="172"/>
                  </a:cubicBezTo>
                  <a:cubicBezTo>
                    <a:pt x="1173" y="117"/>
                    <a:pt x="1173" y="117"/>
                    <a:pt x="1173" y="117"/>
                  </a:cubicBezTo>
                  <a:cubicBezTo>
                    <a:pt x="1162" y="114"/>
                    <a:pt x="1162" y="114"/>
                    <a:pt x="1162" y="114"/>
                  </a:cubicBezTo>
                  <a:cubicBezTo>
                    <a:pt x="1144" y="111"/>
                    <a:pt x="1144" y="111"/>
                    <a:pt x="1144" y="111"/>
                  </a:cubicBezTo>
                  <a:cubicBezTo>
                    <a:pt x="1144" y="111"/>
                    <a:pt x="1138" y="118"/>
                    <a:pt x="1124" y="118"/>
                  </a:cubicBezTo>
                  <a:cubicBezTo>
                    <a:pt x="1110" y="118"/>
                    <a:pt x="1100" y="102"/>
                    <a:pt x="1091" y="102"/>
                  </a:cubicBezTo>
                  <a:cubicBezTo>
                    <a:pt x="1082" y="102"/>
                    <a:pt x="1055" y="98"/>
                    <a:pt x="1055" y="98"/>
                  </a:cubicBezTo>
                  <a:cubicBezTo>
                    <a:pt x="1032" y="121"/>
                    <a:pt x="1032" y="121"/>
                    <a:pt x="1032" y="121"/>
                  </a:cubicBezTo>
                  <a:cubicBezTo>
                    <a:pt x="1032" y="121"/>
                    <a:pt x="1035" y="132"/>
                    <a:pt x="1025" y="136"/>
                  </a:cubicBezTo>
                  <a:cubicBezTo>
                    <a:pt x="1015" y="140"/>
                    <a:pt x="1003" y="137"/>
                    <a:pt x="1003" y="137"/>
                  </a:cubicBezTo>
                  <a:cubicBezTo>
                    <a:pt x="993" y="142"/>
                    <a:pt x="993" y="142"/>
                    <a:pt x="993" y="142"/>
                  </a:cubicBezTo>
                  <a:cubicBezTo>
                    <a:pt x="993" y="142"/>
                    <a:pt x="976" y="141"/>
                    <a:pt x="967" y="143"/>
                  </a:cubicBezTo>
                  <a:cubicBezTo>
                    <a:pt x="958" y="145"/>
                    <a:pt x="960" y="150"/>
                    <a:pt x="955" y="156"/>
                  </a:cubicBezTo>
                  <a:cubicBezTo>
                    <a:pt x="950" y="162"/>
                    <a:pt x="942" y="153"/>
                    <a:pt x="938" y="151"/>
                  </a:cubicBezTo>
                  <a:cubicBezTo>
                    <a:pt x="934" y="149"/>
                    <a:pt x="922" y="156"/>
                    <a:pt x="922" y="156"/>
                  </a:cubicBezTo>
                  <a:cubicBezTo>
                    <a:pt x="922" y="156"/>
                    <a:pt x="898" y="156"/>
                    <a:pt x="895" y="153"/>
                  </a:cubicBezTo>
                  <a:cubicBezTo>
                    <a:pt x="892" y="150"/>
                    <a:pt x="885" y="147"/>
                    <a:pt x="885" y="147"/>
                  </a:cubicBezTo>
                  <a:cubicBezTo>
                    <a:pt x="885" y="147"/>
                    <a:pt x="875" y="150"/>
                    <a:pt x="855" y="148"/>
                  </a:cubicBezTo>
                  <a:cubicBezTo>
                    <a:pt x="835" y="146"/>
                    <a:pt x="840" y="135"/>
                    <a:pt x="840" y="135"/>
                  </a:cubicBezTo>
                  <a:cubicBezTo>
                    <a:pt x="840" y="135"/>
                    <a:pt x="829" y="132"/>
                    <a:pt x="826" y="133"/>
                  </a:cubicBezTo>
                  <a:cubicBezTo>
                    <a:pt x="823" y="134"/>
                    <a:pt x="815" y="115"/>
                    <a:pt x="812" y="114"/>
                  </a:cubicBezTo>
                  <a:cubicBezTo>
                    <a:pt x="809" y="113"/>
                    <a:pt x="790" y="113"/>
                    <a:pt x="778" y="113"/>
                  </a:cubicBezTo>
                  <a:cubicBezTo>
                    <a:pt x="766" y="113"/>
                    <a:pt x="755" y="94"/>
                    <a:pt x="755" y="94"/>
                  </a:cubicBezTo>
                  <a:cubicBezTo>
                    <a:pt x="728" y="97"/>
                    <a:pt x="728" y="97"/>
                    <a:pt x="728" y="97"/>
                  </a:cubicBezTo>
                  <a:cubicBezTo>
                    <a:pt x="728" y="97"/>
                    <a:pt x="726" y="89"/>
                    <a:pt x="697" y="87"/>
                  </a:cubicBezTo>
                  <a:cubicBezTo>
                    <a:pt x="668" y="85"/>
                    <a:pt x="650" y="103"/>
                    <a:pt x="637" y="104"/>
                  </a:cubicBezTo>
                  <a:cubicBezTo>
                    <a:pt x="624" y="105"/>
                    <a:pt x="607" y="95"/>
                    <a:pt x="607" y="95"/>
                  </a:cubicBezTo>
                  <a:cubicBezTo>
                    <a:pt x="607" y="95"/>
                    <a:pt x="600" y="96"/>
                    <a:pt x="590" y="96"/>
                  </a:cubicBezTo>
                  <a:cubicBezTo>
                    <a:pt x="580" y="96"/>
                    <a:pt x="578" y="80"/>
                    <a:pt x="578" y="80"/>
                  </a:cubicBezTo>
                  <a:cubicBezTo>
                    <a:pt x="563" y="83"/>
                    <a:pt x="563" y="83"/>
                    <a:pt x="563" y="83"/>
                  </a:cubicBezTo>
                  <a:cubicBezTo>
                    <a:pt x="563" y="83"/>
                    <a:pt x="541" y="49"/>
                    <a:pt x="532" y="38"/>
                  </a:cubicBezTo>
                  <a:cubicBezTo>
                    <a:pt x="523" y="27"/>
                    <a:pt x="511" y="40"/>
                    <a:pt x="501" y="38"/>
                  </a:cubicBezTo>
                  <a:cubicBezTo>
                    <a:pt x="491" y="36"/>
                    <a:pt x="472" y="22"/>
                    <a:pt x="472" y="22"/>
                  </a:cubicBezTo>
                  <a:cubicBezTo>
                    <a:pt x="472" y="22"/>
                    <a:pt x="452" y="23"/>
                    <a:pt x="434" y="21"/>
                  </a:cubicBezTo>
                  <a:cubicBezTo>
                    <a:pt x="416" y="19"/>
                    <a:pt x="393" y="2"/>
                    <a:pt x="393" y="2"/>
                  </a:cubicBezTo>
                  <a:cubicBezTo>
                    <a:pt x="384" y="0"/>
                    <a:pt x="384" y="0"/>
                    <a:pt x="384" y="0"/>
                  </a:cubicBezTo>
                  <a:cubicBezTo>
                    <a:pt x="384" y="0"/>
                    <a:pt x="385" y="12"/>
                    <a:pt x="380" y="18"/>
                  </a:cubicBezTo>
                  <a:cubicBezTo>
                    <a:pt x="375" y="24"/>
                    <a:pt x="371" y="22"/>
                    <a:pt x="371" y="22"/>
                  </a:cubicBezTo>
                  <a:cubicBezTo>
                    <a:pt x="373" y="33"/>
                    <a:pt x="373" y="33"/>
                    <a:pt x="373" y="33"/>
                  </a:cubicBezTo>
                  <a:cubicBezTo>
                    <a:pt x="373" y="33"/>
                    <a:pt x="362" y="31"/>
                    <a:pt x="362" y="37"/>
                  </a:cubicBezTo>
                  <a:cubicBezTo>
                    <a:pt x="362" y="43"/>
                    <a:pt x="368" y="46"/>
                    <a:pt x="368" y="46"/>
                  </a:cubicBezTo>
                  <a:cubicBezTo>
                    <a:pt x="372" y="60"/>
                    <a:pt x="372" y="60"/>
                    <a:pt x="372" y="60"/>
                  </a:cubicBezTo>
                  <a:cubicBezTo>
                    <a:pt x="388" y="84"/>
                    <a:pt x="388" y="84"/>
                    <a:pt x="388" y="84"/>
                  </a:cubicBezTo>
                  <a:cubicBezTo>
                    <a:pt x="388" y="84"/>
                    <a:pt x="403" y="84"/>
                    <a:pt x="403" y="102"/>
                  </a:cubicBezTo>
                  <a:cubicBezTo>
                    <a:pt x="403" y="120"/>
                    <a:pt x="391" y="110"/>
                    <a:pt x="391" y="110"/>
                  </a:cubicBezTo>
                  <a:cubicBezTo>
                    <a:pt x="391" y="110"/>
                    <a:pt x="393" y="117"/>
                    <a:pt x="376" y="125"/>
                  </a:cubicBezTo>
                  <a:cubicBezTo>
                    <a:pt x="359" y="133"/>
                    <a:pt x="365" y="117"/>
                    <a:pt x="365" y="117"/>
                  </a:cubicBezTo>
                  <a:cubicBezTo>
                    <a:pt x="335" y="119"/>
                    <a:pt x="335" y="119"/>
                    <a:pt x="335" y="119"/>
                  </a:cubicBezTo>
                  <a:cubicBezTo>
                    <a:pt x="334" y="111"/>
                    <a:pt x="334" y="111"/>
                    <a:pt x="334" y="111"/>
                  </a:cubicBezTo>
                  <a:cubicBezTo>
                    <a:pt x="334" y="111"/>
                    <a:pt x="325" y="110"/>
                    <a:pt x="314" y="111"/>
                  </a:cubicBezTo>
                  <a:cubicBezTo>
                    <a:pt x="303" y="112"/>
                    <a:pt x="301" y="118"/>
                    <a:pt x="301" y="118"/>
                  </a:cubicBezTo>
                  <a:cubicBezTo>
                    <a:pt x="299" y="113"/>
                    <a:pt x="299" y="113"/>
                    <a:pt x="299" y="113"/>
                  </a:cubicBezTo>
                  <a:cubicBezTo>
                    <a:pt x="280" y="116"/>
                    <a:pt x="280" y="116"/>
                    <a:pt x="280" y="116"/>
                  </a:cubicBezTo>
                  <a:cubicBezTo>
                    <a:pt x="278" y="107"/>
                    <a:pt x="278" y="107"/>
                    <a:pt x="278" y="107"/>
                  </a:cubicBezTo>
                  <a:cubicBezTo>
                    <a:pt x="278" y="107"/>
                    <a:pt x="256" y="109"/>
                    <a:pt x="247" y="102"/>
                  </a:cubicBezTo>
                  <a:cubicBezTo>
                    <a:pt x="238" y="95"/>
                    <a:pt x="240" y="82"/>
                    <a:pt x="233" y="82"/>
                  </a:cubicBezTo>
                  <a:cubicBezTo>
                    <a:pt x="226" y="82"/>
                    <a:pt x="182" y="86"/>
                    <a:pt x="182" y="86"/>
                  </a:cubicBezTo>
                  <a:cubicBezTo>
                    <a:pt x="177" y="75"/>
                    <a:pt x="177" y="75"/>
                    <a:pt x="177" y="75"/>
                  </a:cubicBezTo>
                  <a:cubicBezTo>
                    <a:pt x="177" y="75"/>
                    <a:pt x="161" y="75"/>
                    <a:pt x="158" y="75"/>
                  </a:cubicBezTo>
                  <a:cubicBezTo>
                    <a:pt x="155" y="75"/>
                    <a:pt x="155" y="70"/>
                    <a:pt x="155" y="70"/>
                  </a:cubicBezTo>
                  <a:cubicBezTo>
                    <a:pt x="143" y="77"/>
                    <a:pt x="143" y="77"/>
                    <a:pt x="143" y="77"/>
                  </a:cubicBezTo>
                  <a:cubicBezTo>
                    <a:pt x="143" y="77"/>
                    <a:pt x="134" y="71"/>
                    <a:pt x="127" y="71"/>
                  </a:cubicBezTo>
                  <a:cubicBezTo>
                    <a:pt x="120" y="71"/>
                    <a:pt x="119" y="88"/>
                    <a:pt x="119" y="88"/>
                  </a:cubicBezTo>
                  <a:cubicBezTo>
                    <a:pt x="103" y="88"/>
                    <a:pt x="103" y="88"/>
                    <a:pt x="103" y="88"/>
                  </a:cubicBezTo>
                  <a:cubicBezTo>
                    <a:pt x="92" y="101"/>
                    <a:pt x="92" y="101"/>
                    <a:pt x="92" y="101"/>
                  </a:cubicBezTo>
                  <a:cubicBezTo>
                    <a:pt x="83" y="100"/>
                    <a:pt x="83" y="100"/>
                    <a:pt x="83" y="100"/>
                  </a:cubicBezTo>
                  <a:cubicBezTo>
                    <a:pt x="83" y="100"/>
                    <a:pt x="72" y="108"/>
                    <a:pt x="63" y="118"/>
                  </a:cubicBezTo>
                  <a:cubicBezTo>
                    <a:pt x="54" y="128"/>
                    <a:pt x="63" y="130"/>
                    <a:pt x="63" y="130"/>
                  </a:cubicBezTo>
                  <a:cubicBezTo>
                    <a:pt x="47" y="130"/>
                    <a:pt x="47" y="130"/>
                    <a:pt x="47" y="130"/>
                  </a:cubicBezTo>
                  <a:cubicBezTo>
                    <a:pt x="49" y="139"/>
                    <a:pt x="49" y="139"/>
                    <a:pt x="49" y="139"/>
                  </a:cubicBezTo>
                  <a:cubicBezTo>
                    <a:pt x="8" y="139"/>
                    <a:pt x="8" y="139"/>
                    <a:pt x="8" y="139"/>
                  </a:cubicBezTo>
                  <a:cubicBezTo>
                    <a:pt x="9" y="151"/>
                    <a:pt x="9" y="151"/>
                    <a:pt x="9" y="151"/>
                  </a:cubicBezTo>
                  <a:cubicBezTo>
                    <a:pt x="2" y="158"/>
                    <a:pt x="2" y="158"/>
                    <a:pt x="2" y="158"/>
                  </a:cubicBezTo>
                  <a:cubicBezTo>
                    <a:pt x="10" y="162"/>
                    <a:pt x="0" y="174"/>
                    <a:pt x="0" y="174"/>
                  </a:cubicBezTo>
                  <a:cubicBezTo>
                    <a:pt x="18" y="174"/>
                    <a:pt x="18" y="174"/>
                    <a:pt x="18" y="174"/>
                  </a:cubicBezTo>
                  <a:cubicBezTo>
                    <a:pt x="18" y="174"/>
                    <a:pt x="14" y="182"/>
                    <a:pt x="19" y="187"/>
                  </a:cubicBezTo>
                  <a:cubicBezTo>
                    <a:pt x="24" y="192"/>
                    <a:pt x="48" y="195"/>
                    <a:pt x="48" y="195"/>
                  </a:cubicBezTo>
                  <a:cubicBezTo>
                    <a:pt x="54" y="203"/>
                    <a:pt x="54" y="203"/>
                    <a:pt x="54" y="203"/>
                  </a:cubicBezTo>
                  <a:cubicBezTo>
                    <a:pt x="71" y="219"/>
                    <a:pt x="71" y="219"/>
                    <a:pt x="71" y="219"/>
                  </a:cubicBezTo>
                  <a:cubicBezTo>
                    <a:pt x="92" y="213"/>
                    <a:pt x="92" y="213"/>
                    <a:pt x="92" y="213"/>
                  </a:cubicBezTo>
                  <a:cubicBezTo>
                    <a:pt x="107" y="221"/>
                    <a:pt x="107" y="221"/>
                    <a:pt x="107" y="221"/>
                  </a:cubicBezTo>
                  <a:cubicBezTo>
                    <a:pt x="107" y="221"/>
                    <a:pt x="113" y="223"/>
                    <a:pt x="127" y="227"/>
                  </a:cubicBezTo>
                  <a:cubicBezTo>
                    <a:pt x="141" y="231"/>
                    <a:pt x="148" y="245"/>
                    <a:pt x="153" y="252"/>
                  </a:cubicBezTo>
                  <a:cubicBezTo>
                    <a:pt x="158" y="259"/>
                    <a:pt x="167" y="268"/>
                    <a:pt x="179" y="276"/>
                  </a:cubicBezTo>
                  <a:cubicBezTo>
                    <a:pt x="191" y="284"/>
                    <a:pt x="188" y="300"/>
                    <a:pt x="188" y="300"/>
                  </a:cubicBezTo>
                  <a:cubicBezTo>
                    <a:pt x="188" y="300"/>
                    <a:pt x="198" y="308"/>
                    <a:pt x="200" y="315"/>
                  </a:cubicBezTo>
                  <a:cubicBezTo>
                    <a:pt x="202" y="322"/>
                    <a:pt x="192" y="326"/>
                    <a:pt x="192" y="326"/>
                  </a:cubicBezTo>
                  <a:cubicBezTo>
                    <a:pt x="192" y="326"/>
                    <a:pt x="193" y="336"/>
                    <a:pt x="198" y="349"/>
                  </a:cubicBezTo>
                  <a:cubicBezTo>
                    <a:pt x="203" y="362"/>
                    <a:pt x="224" y="364"/>
                    <a:pt x="235" y="368"/>
                  </a:cubicBezTo>
                  <a:cubicBezTo>
                    <a:pt x="246" y="372"/>
                    <a:pt x="260" y="375"/>
                    <a:pt x="274" y="374"/>
                  </a:cubicBezTo>
                  <a:cubicBezTo>
                    <a:pt x="288" y="373"/>
                    <a:pt x="322" y="375"/>
                    <a:pt x="322" y="375"/>
                  </a:cubicBezTo>
                  <a:cubicBezTo>
                    <a:pt x="322" y="375"/>
                    <a:pt x="333" y="380"/>
                    <a:pt x="342" y="382"/>
                  </a:cubicBezTo>
                  <a:cubicBezTo>
                    <a:pt x="351" y="384"/>
                    <a:pt x="358" y="396"/>
                    <a:pt x="361" y="397"/>
                  </a:cubicBezTo>
                  <a:cubicBezTo>
                    <a:pt x="364" y="398"/>
                    <a:pt x="401" y="410"/>
                    <a:pt x="401" y="410"/>
                  </a:cubicBezTo>
                  <a:cubicBezTo>
                    <a:pt x="423" y="413"/>
                    <a:pt x="423" y="413"/>
                    <a:pt x="423" y="413"/>
                  </a:cubicBezTo>
                  <a:cubicBezTo>
                    <a:pt x="430" y="429"/>
                    <a:pt x="430" y="429"/>
                    <a:pt x="430" y="429"/>
                  </a:cubicBezTo>
                  <a:cubicBezTo>
                    <a:pt x="430" y="429"/>
                    <a:pt x="439" y="434"/>
                    <a:pt x="443" y="438"/>
                  </a:cubicBezTo>
                  <a:cubicBezTo>
                    <a:pt x="447" y="442"/>
                    <a:pt x="461" y="461"/>
                    <a:pt x="465" y="467"/>
                  </a:cubicBezTo>
                  <a:cubicBezTo>
                    <a:pt x="469" y="473"/>
                    <a:pt x="502" y="498"/>
                    <a:pt x="502" y="498"/>
                  </a:cubicBezTo>
                  <a:cubicBezTo>
                    <a:pt x="540" y="494"/>
                    <a:pt x="540" y="494"/>
                    <a:pt x="540" y="494"/>
                  </a:cubicBezTo>
                  <a:cubicBezTo>
                    <a:pt x="579" y="499"/>
                    <a:pt x="579" y="499"/>
                    <a:pt x="579" y="499"/>
                  </a:cubicBezTo>
                  <a:cubicBezTo>
                    <a:pt x="610" y="499"/>
                    <a:pt x="610" y="499"/>
                    <a:pt x="610" y="499"/>
                  </a:cubicBezTo>
                  <a:cubicBezTo>
                    <a:pt x="635" y="504"/>
                    <a:pt x="635" y="504"/>
                    <a:pt x="635" y="504"/>
                  </a:cubicBezTo>
                  <a:cubicBezTo>
                    <a:pt x="635" y="504"/>
                    <a:pt x="649" y="493"/>
                    <a:pt x="654" y="493"/>
                  </a:cubicBezTo>
                  <a:cubicBezTo>
                    <a:pt x="659" y="493"/>
                    <a:pt x="679" y="501"/>
                    <a:pt x="679" y="501"/>
                  </a:cubicBezTo>
                  <a:cubicBezTo>
                    <a:pt x="679" y="501"/>
                    <a:pt x="718" y="501"/>
                    <a:pt x="728" y="504"/>
                  </a:cubicBezTo>
                  <a:cubicBezTo>
                    <a:pt x="738" y="507"/>
                    <a:pt x="740" y="522"/>
                    <a:pt x="755" y="527"/>
                  </a:cubicBezTo>
                  <a:cubicBezTo>
                    <a:pt x="770" y="532"/>
                    <a:pt x="781" y="530"/>
                    <a:pt x="795" y="531"/>
                  </a:cubicBezTo>
                  <a:cubicBezTo>
                    <a:pt x="809" y="532"/>
                    <a:pt x="837" y="547"/>
                    <a:pt x="837" y="547"/>
                  </a:cubicBezTo>
                  <a:cubicBezTo>
                    <a:pt x="837" y="547"/>
                    <a:pt x="858" y="538"/>
                    <a:pt x="864" y="538"/>
                  </a:cubicBezTo>
                  <a:cubicBezTo>
                    <a:pt x="870" y="538"/>
                    <a:pt x="873" y="550"/>
                    <a:pt x="873" y="550"/>
                  </a:cubicBezTo>
                  <a:cubicBezTo>
                    <a:pt x="873" y="550"/>
                    <a:pt x="893" y="558"/>
                    <a:pt x="899" y="553"/>
                  </a:cubicBezTo>
                  <a:cubicBezTo>
                    <a:pt x="905" y="548"/>
                    <a:pt x="948" y="519"/>
                    <a:pt x="962" y="513"/>
                  </a:cubicBezTo>
                  <a:cubicBezTo>
                    <a:pt x="976" y="507"/>
                    <a:pt x="1066" y="510"/>
                    <a:pt x="1066" y="510"/>
                  </a:cubicBezTo>
                  <a:cubicBezTo>
                    <a:pt x="1078" y="497"/>
                    <a:pt x="1078" y="497"/>
                    <a:pt x="1078" y="497"/>
                  </a:cubicBezTo>
                  <a:cubicBezTo>
                    <a:pt x="1078" y="497"/>
                    <a:pt x="1095" y="499"/>
                    <a:pt x="1103" y="492"/>
                  </a:cubicBezTo>
                  <a:cubicBezTo>
                    <a:pt x="1111" y="485"/>
                    <a:pt x="1109" y="470"/>
                    <a:pt x="1112" y="463"/>
                  </a:cubicBezTo>
                  <a:cubicBezTo>
                    <a:pt x="1115" y="456"/>
                    <a:pt x="1125" y="459"/>
                    <a:pt x="1129" y="459"/>
                  </a:cubicBezTo>
                  <a:cubicBezTo>
                    <a:pt x="1133" y="459"/>
                    <a:pt x="1143" y="444"/>
                    <a:pt x="1144" y="439"/>
                  </a:cubicBezTo>
                  <a:cubicBezTo>
                    <a:pt x="1145" y="434"/>
                    <a:pt x="1114" y="411"/>
                    <a:pt x="1108" y="407"/>
                  </a:cubicBezTo>
                  <a:cubicBezTo>
                    <a:pt x="1102" y="403"/>
                    <a:pt x="1100" y="383"/>
                    <a:pt x="1106" y="373"/>
                  </a:cubicBezTo>
                  <a:cubicBezTo>
                    <a:pt x="1112" y="363"/>
                    <a:pt x="1130" y="369"/>
                    <a:pt x="1134" y="370"/>
                  </a:cubicBezTo>
                  <a:cubicBezTo>
                    <a:pt x="1138" y="371"/>
                    <a:pt x="1160" y="388"/>
                    <a:pt x="1160" y="388"/>
                  </a:cubicBezTo>
                  <a:cubicBezTo>
                    <a:pt x="1160" y="388"/>
                    <a:pt x="1187" y="387"/>
                    <a:pt x="1194" y="385"/>
                  </a:cubicBezTo>
                  <a:cubicBezTo>
                    <a:pt x="1201" y="383"/>
                    <a:pt x="1212" y="369"/>
                    <a:pt x="1212" y="369"/>
                  </a:cubicBezTo>
                  <a:cubicBezTo>
                    <a:pt x="1212" y="369"/>
                    <a:pt x="1210" y="353"/>
                    <a:pt x="1213" y="350"/>
                  </a:cubicBezTo>
                  <a:cubicBezTo>
                    <a:pt x="1216" y="347"/>
                    <a:pt x="1262" y="350"/>
                    <a:pt x="1262" y="350"/>
                  </a:cubicBezTo>
                  <a:cubicBezTo>
                    <a:pt x="1278" y="336"/>
                    <a:pt x="1278" y="336"/>
                    <a:pt x="1278" y="336"/>
                  </a:cubicBezTo>
                  <a:cubicBezTo>
                    <a:pt x="1278" y="336"/>
                    <a:pt x="1263" y="325"/>
                    <a:pt x="1270" y="314"/>
                  </a:cubicBezTo>
                  <a:cubicBezTo>
                    <a:pt x="1277" y="303"/>
                    <a:pt x="1302" y="302"/>
                    <a:pt x="1302" y="302"/>
                  </a:cubicBezTo>
                  <a:cubicBezTo>
                    <a:pt x="1302" y="291"/>
                    <a:pt x="1302" y="291"/>
                    <a:pt x="1302" y="291"/>
                  </a:cubicBezTo>
                  <a:cubicBezTo>
                    <a:pt x="1320" y="294"/>
                    <a:pt x="1320" y="294"/>
                    <a:pt x="1320" y="294"/>
                  </a:cubicBezTo>
                  <a:cubicBezTo>
                    <a:pt x="1326" y="291"/>
                    <a:pt x="1326" y="291"/>
                    <a:pt x="1326" y="291"/>
                  </a:cubicBezTo>
                  <a:cubicBezTo>
                    <a:pt x="1335" y="282"/>
                    <a:pt x="1335" y="282"/>
                    <a:pt x="1335" y="282"/>
                  </a:cubicBezTo>
                  <a:cubicBezTo>
                    <a:pt x="1335" y="282"/>
                    <a:pt x="1346" y="279"/>
                    <a:pt x="1355" y="279"/>
                  </a:cubicBezTo>
                  <a:cubicBezTo>
                    <a:pt x="1364" y="279"/>
                    <a:pt x="1372" y="288"/>
                    <a:pt x="1372" y="288"/>
                  </a:cubicBezTo>
                  <a:cubicBezTo>
                    <a:pt x="1372" y="288"/>
                    <a:pt x="1390" y="287"/>
                    <a:pt x="1398" y="286"/>
                  </a:cubicBezTo>
                  <a:cubicBezTo>
                    <a:pt x="1406" y="285"/>
                    <a:pt x="1403" y="279"/>
                    <a:pt x="1394" y="273"/>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475" name="Freeform 267">
              <a:extLst>
                <a:ext uri="{FF2B5EF4-FFF2-40B4-BE49-F238E27FC236}">
                  <a16:creationId xmlns:a16="http://schemas.microsoft.com/office/drawing/2014/main" id="{02826A03-2E70-4B09-AB50-FDE17C301264}"/>
                </a:ext>
              </a:extLst>
            </p:cNvPr>
            <p:cNvSpPr>
              <a:spLocks/>
            </p:cNvSpPr>
            <p:nvPr/>
          </p:nvSpPr>
          <p:spPr bwMode="gray">
            <a:xfrm>
              <a:off x="5951065" y="1187762"/>
              <a:ext cx="209045" cy="92306"/>
            </a:xfrm>
            <a:custGeom>
              <a:avLst/>
              <a:gdLst>
                <a:gd name="T0" fmla="*/ 4 w 308"/>
                <a:gd name="T1" fmla="*/ 12 h 144"/>
                <a:gd name="T2" fmla="*/ 52 w 308"/>
                <a:gd name="T3" fmla="*/ 37 h 144"/>
                <a:gd name="T4" fmla="*/ 75 w 308"/>
                <a:gd name="T5" fmla="*/ 54 h 144"/>
                <a:gd name="T6" fmla="*/ 79 w 308"/>
                <a:gd name="T7" fmla="*/ 85 h 144"/>
                <a:gd name="T8" fmla="*/ 92 w 308"/>
                <a:gd name="T9" fmla="*/ 103 h 144"/>
                <a:gd name="T10" fmla="*/ 85 w 308"/>
                <a:gd name="T11" fmla="*/ 110 h 144"/>
                <a:gd name="T12" fmla="*/ 111 w 308"/>
                <a:gd name="T13" fmla="*/ 115 h 144"/>
                <a:gd name="T14" fmla="*/ 131 w 308"/>
                <a:gd name="T15" fmla="*/ 108 h 144"/>
                <a:gd name="T16" fmla="*/ 147 w 308"/>
                <a:gd name="T17" fmla="*/ 126 h 144"/>
                <a:gd name="T18" fmla="*/ 164 w 308"/>
                <a:gd name="T19" fmla="*/ 126 h 144"/>
                <a:gd name="T20" fmla="*/ 166 w 308"/>
                <a:gd name="T21" fmla="*/ 134 h 144"/>
                <a:gd name="T22" fmla="*/ 183 w 308"/>
                <a:gd name="T23" fmla="*/ 133 h 144"/>
                <a:gd name="T24" fmla="*/ 188 w 308"/>
                <a:gd name="T25" fmla="*/ 126 h 144"/>
                <a:gd name="T26" fmla="*/ 221 w 308"/>
                <a:gd name="T27" fmla="*/ 130 h 144"/>
                <a:gd name="T28" fmla="*/ 227 w 308"/>
                <a:gd name="T29" fmla="*/ 120 h 144"/>
                <a:gd name="T30" fmla="*/ 235 w 308"/>
                <a:gd name="T31" fmla="*/ 123 h 144"/>
                <a:gd name="T32" fmla="*/ 235 w 308"/>
                <a:gd name="T33" fmla="*/ 123 h 144"/>
                <a:gd name="T34" fmla="*/ 250 w 308"/>
                <a:gd name="T35" fmla="*/ 112 h 144"/>
                <a:gd name="T36" fmla="*/ 261 w 308"/>
                <a:gd name="T37" fmla="*/ 120 h 144"/>
                <a:gd name="T38" fmla="*/ 275 w 308"/>
                <a:gd name="T39" fmla="*/ 130 h 144"/>
                <a:gd name="T40" fmla="*/ 289 w 308"/>
                <a:gd name="T41" fmla="*/ 127 h 144"/>
                <a:gd name="T42" fmla="*/ 306 w 308"/>
                <a:gd name="T43" fmla="*/ 134 h 144"/>
                <a:gd name="T44" fmla="*/ 287 w 308"/>
                <a:gd name="T45" fmla="*/ 113 h 144"/>
                <a:gd name="T46" fmla="*/ 278 w 308"/>
                <a:gd name="T47" fmla="*/ 97 h 144"/>
                <a:gd name="T48" fmla="*/ 286 w 308"/>
                <a:gd name="T49" fmla="*/ 93 h 144"/>
                <a:gd name="T50" fmla="*/ 251 w 308"/>
                <a:gd name="T51" fmla="*/ 75 h 144"/>
                <a:gd name="T52" fmla="*/ 256 w 308"/>
                <a:gd name="T53" fmla="*/ 58 h 144"/>
                <a:gd name="T54" fmla="*/ 236 w 308"/>
                <a:gd name="T55" fmla="*/ 55 h 144"/>
                <a:gd name="T56" fmla="*/ 208 w 308"/>
                <a:gd name="T57" fmla="*/ 42 h 144"/>
                <a:gd name="T58" fmla="*/ 179 w 308"/>
                <a:gd name="T59" fmla="*/ 53 h 144"/>
                <a:gd name="T60" fmla="*/ 160 w 308"/>
                <a:gd name="T61" fmla="*/ 42 h 144"/>
                <a:gd name="T62" fmla="*/ 128 w 308"/>
                <a:gd name="T63" fmla="*/ 22 h 144"/>
                <a:gd name="T64" fmla="*/ 95 w 308"/>
                <a:gd name="T65" fmla="*/ 18 h 144"/>
                <a:gd name="T66" fmla="*/ 54 w 308"/>
                <a:gd name="T67" fmla="*/ 10 h 144"/>
                <a:gd name="T68" fmla="*/ 13 w 308"/>
                <a:gd name="T69" fmla="*/ 0 h 144"/>
                <a:gd name="T70" fmla="*/ 0 w 308"/>
                <a:gd name="T71" fmla="*/ 11 h 144"/>
                <a:gd name="T72" fmla="*/ 4 w 308"/>
                <a:gd name="T73" fmla="*/ 12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08" h="144">
                  <a:moveTo>
                    <a:pt x="4" y="12"/>
                  </a:moveTo>
                  <a:cubicBezTo>
                    <a:pt x="4" y="12"/>
                    <a:pt x="44" y="34"/>
                    <a:pt x="52" y="37"/>
                  </a:cubicBezTo>
                  <a:cubicBezTo>
                    <a:pt x="60" y="40"/>
                    <a:pt x="75" y="54"/>
                    <a:pt x="75" y="54"/>
                  </a:cubicBezTo>
                  <a:cubicBezTo>
                    <a:pt x="75" y="54"/>
                    <a:pt x="79" y="82"/>
                    <a:pt x="79" y="85"/>
                  </a:cubicBezTo>
                  <a:cubicBezTo>
                    <a:pt x="79" y="88"/>
                    <a:pt x="92" y="103"/>
                    <a:pt x="92" y="103"/>
                  </a:cubicBezTo>
                  <a:cubicBezTo>
                    <a:pt x="92" y="103"/>
                    <a:pt x="90" y="105"/>
                    <a:pt x="85" y="110"/>
                  </a:cubicBezTo>
                  <a:cubicBezTo>
                    <a:pt x="111" y="115"/>
                    <a:pt x="111" y="115"/>
                    <a:pt x="111" y="115"/>
                  </a:cubicBezTo>
                  <a:cubicBezTo>
                    <a:pt x="111" y="115"/>
                    <a:pt x="117" y="105"/>
                    <a:pt x="131" y="108"/>
                  </a:cubicBezTo>
                  <a:cubicBezTo>
                    <a:pt x="145" y="111"/>
                    <a:pt x="147" y="126"/>
                    <a:pt x="147" y="126"/>
                  </a:cubicBezTo>
                  <a:cubicBezTo>
                    <a:pt x="164" y="126"/>
                    <a:pt x="164" y="126"/>
                    <a:pt x="164" y="126"/>
                  </a:cubicBezTo>
                  <a:cubicBezTo>
                    <a:pt x="164" y="126"/>
                    <a:pt x="165" y="129"/>
                    <a:pt x="166" y="134"/>
                  </a:cubicBezTo>
                  <a:cubicBezTo>
                    <a:pt x="183" y="133"/>
                    <a:pt x="183" y="133"/>
                    <a:pt x="183" y="133"/>
                  </a:cubicBezTo>
                  <a:cubicBezTo>
                    <a:pt x="188" y="126"/>
                    <a:pt x="188" y="126"/>
                    <a:pt x="188" y="126"/>
                  </a:cubicBezTo>
                  <a:cubicBezTo>
                    <a:pt x="221" y="130"/>
                    <a:pt x="221" y="130"/>
                    <a:pt x="221" y="130"/>
                  </a:cubicBezTo>
                  <a:cubicBezTo>
                    <a:pt x="221" y="130"/>
                    <a:pt x="224" y="120"/>
                    <a:pt x="227" y="120"/>
                  </a:cubicBezTo>
                  <a:cubicBezTo>
                    <a:pt x="228" y="120"/>
                    <a:pt x="232" y="121"/>
                    <a:pt x="235" y="123"/>
                  </a:cubicBezTo>
                  <a:cubicBezTo>
                    <a:pt x="235" y="123"/>
                    <a:pt x="235" y="123"/>
                    <a:pt x="235" y="123"/>
                  </a:cubicBezTo>
                  <a:cubicBezTo>
                    <a:pt x="236" y="119"/>
                    <a:pt x="240" y="111"/>
                    <a:pt x="250" y="112"/>
                  </a:cubicBezTo>
                  <a:cubicBezTo>
                    <a:pt x="263" y="113"/>
                    <a:pt x="261" y="120"/>
                    <a:pt x="261" y="120"/>
                  </a:cubicBezTo>
                  <a:cubicBezTo>
                    <a:pt x="275" y="130"/>
                    <a:pt x="275" y="130"/>
                    <a:pt x="275" y="130"/>
                  </a:cubicBezTo>
                  <a:cubicBezTo>
                    <a:pt x="275" y="130"/>
                    <a:pt x="286" y="127"/>
                    <a:pt x="289" y="127"/>
                  </a:cubicBezTo>
                  <a:cubicBezTo>
                    <a:pt x="292" y="127"/>
                    <a:pt x="304" y="144"/>
                    <a:pt x="306" y="134"/>
                  </a:cubicBezTo>
                  <a:cubicBezTo>
                    <a:pt x="308" y="124"/>
                    <a:pt x="287" y="113"/>
                    <a:pt x="287" y="113"/>
                  </a:cubicBezTo>
                  <a:cubicBezTo>
                    <a:pt x="287" y="113"/>
                    <a:pt x="272" y="102"/>
                    <a:pt x="278" y="97"/>
                  </a:cubicBezTo>
                  <a:cubicBezTo>
                    <a:pt x="280" y="95"/>
                    <a:pt x="283" y="94"/>
                    <a:pt x="286" y="93"/>
                  </a:cubicBezTo>
                  <a:cubicBezTo>
                    <a:pt x="279" y="86"/>
                    <a:pt x="268" y="76"/>
                    <a:pt x="251" y="75"/>
                  </a:cubicBezTo>
                  <a:cubicBezTo>
                    <a:pt x="251" y="76"/>
                    <a:pt x="256" y="58"/>
                    <a:pt x="256" y="58"/>
                  </a:cubicBezTo>
                  <a:cubicBezTo>
                    <a:pt x="236" y="55"/>
                    <a:pt x="236" y="55"/>
                    <a:pt x="236" y="55"/>
                  </a:cubicBezTo>
                  <a:cubicBezTo>
                    <a:pt x="236" y="55"/>
                    <a:pt x="226" y="40"/>
                    <a:pt x="208" y="42"/>
                  </a:cubicBezTo>
                  <a:cubicBezTo>
                    <a:pt x="190" y="44"/>
                    <a:pt x="198" y="53"/>
                    <a:pt x="179" y="53"/>
                  </a:cubicBezTo>
                  <a:cubicBezTo>
                    <a:pt x="160" y="53"/>
                    <a:pt x="160" y="42"/>
                    <a:pt x="160" y="42"/>
                  </a:cubicBezTo>
                  <a:cubicBezTo>
                    <a:pt x="128" y="22"/>
                    <a:pt x="128" y="22"/>
                    <a:pt x="128" y="22"/>
                  </a:cubicBezTo>
                  <a:cubicBezTo>
                    <a:pt x="128" y="22"/>
                    <a:pt x="108" y="17"/>
                    <a:pt x="95" y="18"/>
                  </a:cubicBezTo>
                  <a:cubicBezTo>
                    <a:pt x="82" y="19"/>
                    <a:pt x="70" y="17"/>
                    <a:pt x="54" y="10"/>
                  </a:cubicBezTo>
                  <a:cubicBezTo>
                    <a:pt x="38" y="3"/>
                    <a:pt x="13" y="0"/>
                    <a:pt x="13" y="0"/>
                  </a:cubicBezTo>
                  <a:cubicBezTo>
                    <a:pt x="0" y="11"/>
                    <a:pt x="0" y="11"/>
                    <a:pt x="0" y="11"/>
                  </a:cubicBezTo>
                  <a:cubicBezTo>
                    <a:pt x="3" y="12"/>
                    <a:pt x="4" y="12"/>
                    <a:pt x="4" y="12"/>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476" name="Freeform 268">
              <a:extLst>
                <a:ext uri="{FF2B5EF4-FFF2-40B4-BE49-F238E27FC236}">
                  <a16:creationId xmlns:a16="http://schemas.microsoft.com/office/drawing/2014/main" id="{8409FB9B-92ED-4631-B2C1-0FD03502F71C}"/>
                </a:ext>
              </a:extLst>
            </p:cNvPr>
            <p:cNvSpPr>
              <a:spLocks noEditPoints="1"/>
            </p:cNvSpPr>
            <p:nvPr/>
          </p:nvSpPr>
          <p:spPr bwMode="gray">
            <a:xfrm>
              <a:off x="6110720" y="1245317"/>
              <a:ext cx="162814" cy="124614"/>
            </a:xfrm>
            <a:custGeom>
              <a:avLst/>
              <a:gdLst>
                <a:gd name="T0" fmla="*/ 42 w 240"/>
                <a:gd name="T1" fmla="*/ 125 h 194"/>
                <a:gd name="T2" fmla="*/ 31 w 240"/>
                <a:gd name="T3" fmla="*/ 127 h 194"/>
                <a:gd name="T4" fmla="*/ 14 w 240"/>
                <a:gd name="T5" fmla="*/ 116 h 194"/>
                <a:gd name="T6" fmla="*/ 4 w 240"/>
                <a:gd name="T7" fmla="*/ 119 h 194"/>
                <a:gd name="T8" fmla="*/ 14 w 240"/>
                <a:gd name="T9" fmla="*/ 141 h 194"/>
                <a:gd name="T10" fmla="*/ 56 w 240"/>
                <a:gd name="T11" fmla="*/ 163 h 194"/>
                <a:gd name="T12" fmla="*/ 59 w 240"/>
                <a:gd name="T13" fmla="*/ 163 h 194"/>
                <a:gd name="T14" fmla="*/ 50 w 240"/>
                <a:gd name="T15" fmla="*/ 141 h 194"/>
                <a:gd name="T16" fmla="*/ 42 w 240"/>
                <a:gd name="T17" fmla="*/ 125 h 194"/>
                <a:gd name="T18" fmla="*/ 235 w 240"/>
                <a:gd name="T19" fmla="*/ 75 h 194"/>
                <a:gd name="T20" fmla="*/ 205 w 240"/>
                <a:gd name="T21" fmla="*/ 74 h 194"/>
                <a:gd name="T22" fmla="*/ 193 w 240"/>
                <a:gd name="T23" fmla="*/ 56 h 194"/>
                <a:gd name="T24" fmla="*/ 176 w 240"/>
                <a:gd name="T25" fmla="*/ 38 h 194"/>
                <a:gd name="T26" fmla="*/ 177 w 240"/>
                <a:gd name="T27" fmla="*/ 29 h 194"/>
                <a:gd name="T28" fmla="*/ 145 w 240"/>
                <a:gd name="T29" fmla="*/ 2 h 194"/>
                <a:gd name="T30" fmla="*/ 143 w 240"/>
                <a:gd name="T31" fmla="*/ 20 h 194"/>
                <a:gd name="T32" fmla="*/ 126 w 240"/>
                <a:gd name="T33" fmla="*/ 24 h 194"/>
                <a:gd name="T34" fmla="*/ 116 w 240"/>
                <a:gd name="T35" fmla="*/ 38 h 194"/>
                <a:gd name="T36" fmla="*/ 78 w 240"/>
                <a:gd name="T37" fmla="*/ 9 h 194"/>
                <a:gd name="T38" fmla="*/ 43 w 240"/>
                <a:gd name="T39" fmla="*/ 7 h 194"/>
                <a:gd name="T40" fmla="*/ 52 w 240"/>
                <a:gd name="T41" fmla="*/ 23 h 194"/>
                <a:gd name="T42" fmla="*/ 71 w 240"/>
                <a:gd name="T43" fmla="*/ 44 h 194"/>
                <a:gd name="T44" fmla="*/ 54 w 240"/>
                <a:gd name="T45" fmla="*/ 37 h 194"/>
                <a:gd name="T46" fmla="*/ 40 w 240"/>
                <a:gd name="T47" fmla="*/ 40 h 194"/>
                <a:gd name="T48" fmla="*/ 26 w 240"/>
                <a:gd name="T49" fmla="*/ 30 h 194"/>
                <a:gd name="T50" fmla="*/ 15 w 240"/>
                <a:gd name="T51" fmla="*/ 22 h 194"/>
                <a:gd name="T52" fmla="*/ 0 w 240"/>
                <a:gd name="T53" fmla="*/ 33 h 194"/>
                <a:gd name="T54" fmla="*/ 7 w 240"/>
                <a:gd name="T55" fmla="*/ 37 h 194"/>
                <a:gd name="T56" fmla="*/ 6 w 240"/>
                <a:gd name="T57" fmla="*/ 46 h 194"/>
                <a:gd name="T58" fmla="*/ 25 w 240"/>
                <a:gd name="T59" fmla="*/ 54 h 194"/>
                <a:gd name="T60" fmla="*/ 19 w 240"/>
                <a:gd name="T61" fmla="*/ 69 h 194"/>
                <a:gd name="T62" fmla="*/ 49 w 240"/>
                <a:gd name="T63" fmla="*/ 91 h 194"/>
                <a:gd name="T64" fmla="*/ 28 w 240"/>
                <a:gd name="T65" fmla="*/ 100 h 194"/>
                <a:gd name="T66" fmla="*/ 46 w 240"/>
                <a:gd name="T67" fmla="*/ 108 h 194"/>
                <a:gd name="T68" fmla="*/ 56 w 240"/>
                <a:gd name="T69" fmla="*/ 122 h 194"/>
                <a:gd name="T70" fmla="*/ 76 w 240"/>
                <a:gd name="T71" fmla="*/ 124 h 194"/>
                <a:gd name="T72" fmla="*/ 74 w 240"/>
                <a:gd name="T73" fmla="*/ 134 h 194"/>
                <a:gd name="T74" fmla="*/ 78 w 240"/>
                <a:gd name="T75" fmla="*/ 141 h 194"/>
                <a:gd name="T76" fmla="*/ 81 w 240"/>
                <a:gd name="T77" fmla="*/ 162 h 194"/>
                <a:gd name="T78" fmla="*/ 83 w 240"/>
                <a:gd name="T79" fmla="*/ 162 h 194"/>
                <a:gd name="T80" fmla="*/ 97 w 240"/>
                <a:gd name="T81" fmla="*/ 146 h 194"/>
                <a:gd name="T82" fmla="*/ 142 w 240"/>
                <a:gd name="T83" fmla="*/ 115 h 194"/>
                <a:gd name="T84" fmla="*/ 157 w 240"/>
                <a:gd name="T85" fmla="*/ 133 h 194"/>
                <a:gd name="T86" fmla="*/ 150 w 240"/>
                <a:gd name="T87" fmla="*/ 144 h 194"/>
                <a:gd name="T88" fmla="*/ 159 w 240"/>
                <a:gd name="T89" fmla="*/ 157 h 194"/>
                <a:gd name="T90" fmla="*/ 149 w 240"/>
                <a:gd name="T91" fmla="*/ 164 h 194"/>
                <a:gd name="T92" fmla="*/ 168 w 240"/>
                <a:gd name="T93" fmla="*/ 180 h 194"/>
                <a:gd name="T94" fmla="*/ 177 w 240"/>
                <a:gd name="T95" fmla="*/ 189 h 194"/>
                <a:gd name="T96" fmla="*/ 187 w 240"/>
                <a:gd name="T97" fmla="*/ 191 h 194"/>
                <a:gd name="T98" fmla="*/ 188 w 240"/>
                <a:gd name="T99" fmla="*/ 194 h 194"/>
                <a:gd name="T100" fmla="*/ 191 w 240"/>
                <a:gd name="T101" fmla="*/ 174 h 194"/>
                <a:gd name="T102" fmla="*/ 179 w 240"/>
                <a:gd name="T103" fmla="*/ 165 h 194"/>
                <a:gd name="T104" fmla="*/ 190 w 240"/>
                <a:gd name="T105" fmla="*/ 161 h 194"/>
                <a:gd name="T106" fmla="*/ 190 w 240"/>
                <a:gd name="T107" fmla="*/ 142 h 194"/>
                <a:gd name="T108" fmla="*/ 208 w 240"/>
                <a:gd name="T109" fmla="*/ 147 h 194"/>
                <a:gd name="T110" fmla="*/ 198 w 240"/>
                <a:gd name="T111" fmla="*/ 129 h 194"/>
                <a:gd name="T112" fmla="*/ 201 w 240"/>
                <a:gd name="T113" fmla="*/ 116 h 194"/>
                <a:gd name="T114" fmla="*/ 200 w 240"/>
                <a:gd name="T115" fmla="*/ 93 h 194"/>
                <a:gd name="T116" fmla="*/ 210 w 240"/>
                <a:gd name="T117" fmla="*/ 95 h 194"/>
                <a:gd name="T118" fmla="*/ 218 w 240"/>
                <a:gd name="T119" fmla="*/ 86 h 194"/>
                <a:gd name="T120" fmla="*/ 240 w 240"/>
                <a:gd name="T121" fmla="*/ 88 h 194"/>
                <a:gd name="T122" fmla="*/ 235 w 240"/>
                <a:gd name="T123" fmla="*/ 75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40" h="194">
                  <a:moveTo>
                    <a:pt x="42" y="125"/>
                  </a:moveTo>
                  <a:cubicBezTo>
                    <a:pt x="33" y="124"/>
                    <a:pt x="31" y="127"/>
                    <a:pt x="31" y="127"/>
                  </a:cubicBezTo>
                  <a:cubicBezTo>
                    <a:pt x="31" y="127"/>
                    <a:pt x="21" y="126"/>
                    <a:pt x="14" y="116"/>
                  </a:cubicBezTo>
                  <a:cubicBezTo>
                    <a:pt x="13" y="116"/>
                    <a:pt x="6" y="118"/>
                    <a:pt x="4" y="119"/>
                  </a:cubicBezTo>
                  <a:cubicBezTo>
                    <a:pt x="6" y="125"/>
                    <a:pt x="7" y="135"/>
                    <a:pt x="14" y="141"/>
                  </a:cubicBezTo>
                  <a:cubicBezTo>
                    <a:pt x="24" y="149"/>
                    <a:pt x="41" y="163"/>
                    <a:pt x="56" y="163"/>
                  </a:cubicBezTo>
                  <a:cubicBezTo>
                    <a:pt x="57" y="163"/>
                    <a:pt x="58" y="163"/>
                    <a:pt x="59" y="163"/>
                  </a:cubicBezTo>
                  <a:cubicBezTo>
                    <a:pt x="57" y="156"/>
                    <a:pt x="52" y="144"/>
                    <a:pt x="50" y="141"/>
                  </a:cubicBezTo>
                  <a:cubicBezTo>
                    <a:pt x="47" y="137"/>
                    <a:pt x="51" y="126"/>
                    <a:pt x="42" y="125"/>
                  </a:cubicBezTo>
                  <a:close/>
                  <a:moveTo>
                    <a:pt x="235" y="75"/>
                  </a:moveTo>
                  <a:cubicBezTo>
                    <a:pt x="231" y="67"/>
                    <a:pt x="215" y="74"/>
                    <a:pt x="205" y="74"/>
                  </a:cubicBezTo>
                  <a:cubicBezTo>
                    <a:pt x="195" y="74"/>
                    <a:pt x="193" y="56"/>
                    <a:pt x="193" y="56"/>
                  </a:cubicBezTo>
                  <a:cubicBezTo>
                    <a:pt x="176" y="38"/>
                    <a:pt x="176" y="38"/>
                    <a:pt x="176" y="38"/>
                  </a:cubicBezTo>
                  <a:cubicBezTo>
                    <a:pt x="177" y="29"/>
                    <a:pt x="177" y="29"/>
                    <a:pt x="177" y="29"/>
                  </a:cubicBezTo>
                  <a:cubicBezTo>
                    <a:pt x="145" y="2"/>
                    <a:pt x="145" y="2"/>
                    <a:pt x="145" y="2"/>
                  </a:cubicBezTo>
                  <a:cubicBezTo>
                    <a:pt x="145" y="2"/>
                    <a:pt x="144" y="13"/>
                    <a:pt x="143" y="20"/>
                  </a:cubicBezTo>
                  <a:cubicBezTo>
                    <a:pt x="142" y="27"/>
                    <a:pt x="126" y="24"/>
                    <a:pt x="126" y="24"/>
                  </a:cubicBezTo>
                  <a:cubicBezTo>
                    <a:pt x="126" y="24"/>
                    <a:pt x="132" y="36"/>
                    <a:pt x="116" y="38"/>
                  </a:cubicBezTo>
                  <a:cubicBezTo>
                    <a:pt x="100" y="40"/>
                    <a:pt x="91" y="18"/>
                    <a:pt x="78" y="9"/>
                  </a:cubicBezTo>
                  <a:cubicBezTo>
                    <a:pt x="65" y="0"/>
                    <a:pt x="49" y="2"/>
                    <a:pt x="43" y="7"/>
                  </a:cubicBezTo>
                  <a:cubicBezTo>
                    <a:pt x="37" y="12"/>
                    <a:pt x="52" y="23"/>
                    <a:pt x="52" y="23"/>
                  </a:cubicBezTo>
                  <a:cubicBezTo>
                    <a:pt x="52" y="23"/>
                    <a:pt x="73" y="34"/>
                    <a:pt x="71" y="44"/>
                  </a:cubicBezTo>
                  <a:cubicBezTo>
                    <a:pt x="69" y="54"/>
                    <a:pt x="57" y="37"/>
                    <a:pt x="54" y="37"/>
                  </a:cubicBezTo>
                  <a:cubicBezTo>
                    <a:pt x="51" y="37"/>
                    <a:pt x="40" y="40"/>
                    <a:pt x="40" y="40"/>
                  </a:cubicBezTo>
                  <a:cubicBezTo>
                    <a:pt x="26" y="30"/>
                    <a:pt x="26" y="30"/>
                    <a:pt x="26" y="30"/>
                  </a:cubicBezTo>
                  <a:cubicBezTo>
                    <a:pt x="26" y="30"/>
                    <a:pt x="28" y="23"/>
                    <a:pt x="15" y="22"/>
                  </a:cubicBezTo>
                  <a:cubicBezTo>
                    <a:pt x="5" y="21"/>
                    <a:pt x="1" y="29"/>
                    <a:pt x="0" y="33"/>
                  </a:cubicBezTo>
                  <a:cubicBezTo>
                    <a:pt x="3" y="35"/>
                    <a:pt x="7" y="37"/>
                    <a:pt x="7" y="37"/>
                  </a:cubicBezTo>
                  <a:cubicBezTo>
                    <a:pt x="6" y="46"/>
                    <a:pt x="6" y="46"/>
                    <a:pt x="6" y="46"/>
                  </a:cubicBezTo>
                  <a:cubicBezTo>
                    <a:pt x="6" y="46"/>
                    <a:pt x="25" y="47"/>
                    <a:pt x="25" y="54"/>
                  </a:cubicBezTo>
                  <a:cubicBezTo>
                    <a:pt x="25" y="61"/>
                    <a:pt x="19" y="69"/>
                    <a:pt x="19" y="69"/>
                  </a:cubicBezTo>
                  <a:cubicBezTo>
                    <a:pt x="19" y="69"/>
                    <a:pt x="50" y="82"/>
                    <a:pt x="49" y="91"/>
                  </a:cubicBezTo>
                  <a:cubicBezTo>
                    <a:pt x="48" y="100"/>
                    <a:pt x="28" y="100"/>
                    <a:pt x="28" y="100"/>
                  </a:cubicBezTo>
                  <a:cubicBezTo>
                    <a:pt x="46" y="108"/>
                    <a:pt x="46" y="108"/>
                    <a:pt x="46" y="108"/>
                  </a:cubicBezTo>
                  <a:cubicBezTo>
                    <a:pt x="56" y="122"/>
                    <a:pt x="56" y="122"/>
                    <a:pt x="56" y="122"/>
                  </a:cubicBezTo>
                  <a:cubicBezTo>
                    <a:pt x="76" y="124"/>
                    <a:pt x="76" y="124"/>
                    <a:pt x="76" y="124"/>
                  </a:cubicBezTo>
                  <a:cubicBezTo>
                    <a:pt x="74" y="134"/>
                    <a:pt x="74" y="134"/>
                    <a:pt x="74" y="134"/>
                  </a:cubicBezTo>
                  <a:cubicBezTo>
                    <a:pt x="78" y="141"/>
                    <a:pt x="78" y="141"/>
                    <a:pt x="78" y="141"/>
                  </a:cubicBezTo>
                  <a:cubicBezTo>
                    <a:pt x="78" y="141"/>
                    <a:pt x="80" y="154"/>
                    <a:pt x="81" y="162"/>
                  </a:cubicBezTo>
                  <a:cubicBezTo>
                    <a:pt x="82" y="162"/>
                    <a:pt x="82" y="162"/>
                    <a:pt x="83" y="162"/>
                  </a:cubicBezTo>
                  <a:cubicBezTo>
                    <a:pt x="86" y="161"/>
                    <a:pt x="94" y="150"/>
                    <a:pt x="97" y="146"/>
                  </a:cubicBezTo>
                  <a:cubicBezTo>
                    <a:pt x="100" y="142"/>
                    <a:pt x="136" y="115"/>
                    <a:pt x="142" y="115"/>
                  </a:cubicBezTo>
                  <a:cubicBezTo>
                    <a:pt x="148" y="115"/>
                    <a:pt x="155" y="127"/>
                    <a:pt x="157" y="133"/>
                  </a:cubicBezTo>
                  <a:cubicBezTo>
                    <a:pt x="159" y="139"/>
                    <a:pt x="150" y="139"/>
                    <a:pt x="150" y="144"/>
                  </a:cubicBezTo>
                  <a:cubicBezTo>
                    <a:pt x="150" y="149"/>
                    <a:pt x="159" y="151"/>
                    <a:pt x="159" y="157"/>
                  </a:cubicBezTo>
                  <a:cubicBezTo>
                    <a:pt x="159" y="163"/>
                    <a:pt x="149" y="159"/>
                    <a:pt x="149" y="164"/>
                  </a:cubicBezTo>
                  <a:cubicBezTo>
                    <a:pt x="149" y="169"/>
                    <a:pt x="162" y="177"/>
                    <a:pt x="168" y="180"/>
                  </a:cubicBezTo>
                  <a:cubicBezTo>
                    <a:pt x="174" y="183"/>
                    <a:pt x="177" y="189"/>
                    <a:pt x="177" y="189"/>
                  </a:cubicBezTo>
                  <a:cubicBezTo>
                    <a:pt x="187" y="191"/>
                    <a:pt x="187" y="191"/>
                    <a:pt x="187" y="191"/>
                  </a:cubicBezTo>
                  <a:cubicBezTo>
                    <a:pt x="187" y="191"/>
                    <a:pt x="187" y="192"/>
                    <a:pt x="188" y="194"/>
                  </a:cubicBezTo>
                  <a:cubicBezTo>
                    <a:pt x="190" y="187"/>
                    <a:pt x="192" y="178"/>
                    <a:pt x="191" y="174"/>
                  </a:cubicBezTo>
                  <a:cubicBezTo>
                    <a:pt x="189" y="168"/>
                    <a:pt x="179" y="165"/>
                    <a:pt x="179" y="165"/>
                  </a:cubicBezTo>
                  <a:cubicBezTo>
                    <a:pt x="190" y="161"/>
                    <a:pt x="190" y="161"/>
                    <a:pt x="190" y="161"/>
                  </a:cubicBezTo>
                  <a:cubicBezTo>
                    <a:pt x="190" y="142"/>
                    <a:pt x="190" y="142"/>
                    <a:pt x="190" y="142"/>
                  </a:cubicBezTo>
                  <a:cubicBezTo>
                    <a:pt x="190" y="142"/>
                    <a:pt x="202" y="155"/>
                    <a:pt x="208" y="147"/>
                  </a:cubicBezTo>
                  <a:cubicBezTo>
                    <a:pt x="214" y="139"/>
                    <a:pt x="198" y="129"/>
                    <a:pt x="198" y="129"/>
                  </a:cubicBezTo>
                  <a:cubicBezTo>
                    <a:pt x="201" y="116"/>
                    <a:pt x="201" y="116"/>
                    <a:pt x="201" y="116"/>
                  </a:cubicBezTo>
                  <a:cubicBezTo>
                    <a:pt x="200" y="93"/>
                    <a:pt x="200" y="93"/>
                    <a:pt x="200" y="93"/>
                  </a:cubicBezTo>
                  <a:cubicBezTo>
                    <a:pt x="210" y="95"/>
                    <a:pt x="210" y="95"/>
                    <a:pt x="210" y="95"/>
                  </a:cubicBezTo>
                  <a:cubicBezTo>
                    <a:pt x="218" y="86"/>
                    <a:pt x="218" y="86"/>
                    <a:pt x="218" y="86"/>
                  </a:cubicBezTo>
                  <a:cubicBezTo>
                    <a:pt x="240" y="88"/>
                    <a:pt x="240" y="88"/>
                    <a:pt x="240" y="88"/>
                  </a:cubicBezTo>
                  <a:cubicBezTo>
                    <a:pt x="240" y="88"/>
                    <a:pt x="239" y="83"/>
                    <a:pt x="235" y="75"/>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477" name="Freeform 269">
              <a:extLst>
                <a:ext uri="{FF2B5EF4-FFF2-40B4-BE49-F238E27FC236}">
                  <a16:creationId xmlns:a16="http://schemas.microsoft.com/office/drawing/2014/main" id="{259D650C-F03C-4C75-A0F7-ACF4CC3B5095}"/>
                </a:ext>
              </a:extLst>
            </p:cNvPr>
            <p:cNvSpPr>
              <a:spLocks/>
            </p:cNvSpPr>
            <p:nvPr/>
          </p:nvSpPr>
          <p:spPr bwMode="gray">
            <a:xfrm>
              <a:off x="5420124" y="894554"/>
              <a:ext cx="508830" cy="266331"/>
            </a:xfrm>
            <a:custGeom>
              <a:avLst/>
              <a:gdLst>
                <a:gd name="T0" fmla="*/ 51 w 750"/>
                <a:gd name="T1" fmla="*/ 223 h 415"/>
                <a:gd name="T2" fmla="*/ 79 w 750"/>
                <a:gd name="T3" fmla="*/ 232 h 415"/>
                <a:gd name="T4" fmla="*/ 132 w 750"/>
                <a:gd name="T5" fmla="*/ 230 h 415"/>
                <a:gd name="T6" fmla="*/ 166 w 750"/>
                <a:gd name="T7" fmla="*/ 227 h 415"/>
                <a:gd name="T8" fmla="*/ 209 w 750"/>
                <a:gd name="T9" fmla="*/ 209 h 415"/>
                <a:gd name="T10" fmla="*/ 243 w 750"/>
                <a:gd name="T11" fmla="*/ 208 h 415"/>
                <a:gd name="T12" fmla="*/ 274 w 750"/>
                <a:gd name="T13" fmla="*/ 225 h 415"/>
                <a:gd name="T14" fmla="*/ 296 w 750"/>
                <a:gd name="T15" fmla="*/ 259 h 415"/>
                <a:gd name="T16" fmla="*/ 311 w 750"/>
                <a:gd name="T17" fmla="*/ 278 h 415"/>
                <a:gd name="T18" fmla="*/ 317 w 750"/>
                <a:gd name="T19" fmla="*/ 310 h 415"/>
                <a:gd name="T20" fmla="*/ 304 w 750"/>
                <a:gd name="T21" fmla="*/ 321 h 415"/>
                <a:gd name="T22" fmla="*/ 283 w 750"/>
                <a:gd name="T23" fmla="*/ 356 h 415"/>
                <a:gd name="T24" fmla="*/ 281 w 750"/>
                <a:gd name="T25" fmla="*/ 370 h 415"/>
                <a:gd name="T26" fmla="*/ 323 w 750"/>
                <a:gd name="T27" fmla="*/ 353 h 415"/>
                <a:gd name="T28" fmla="*/ 391 w 750"/>
                <a:gd name="T29" fmla="*/ 301 h 415"/>
                <a:gd name="T30" fmla="*/ 436 w 750"/>
                <a:gd name="T31" fmla="*/ 299 h 415"/>
                <a:gd name="T32" fmla="*/ 420 w 750"/>
                <a:gd name="T33" fmla="*/ 310 h 415"/>
                <a:gd name="T34" fmla="*/ 488 w 750"/>
                <a:gd name="T35" fmla="*/ 324 h 415"/>
                <a:gd name="T36" fmla="*/ 499 w 750"/>
                <a:gd name="T37" fmla="*/ 381 h 415"/>
                <a:gd name="T38" fmla="*/ 542 w 750"/>
                <a:gd name="T39" fmla="*/ 396 h 415"/>
                <a:gd name="T40" fmla="*/ 591 w 750"/>
                <a:gd name="T41" fmla="*/ 385 h 415"/>
                <a:gd name="T42" fmla="*/ 622 w 750"/>
                <a:gd name="T43" fmla="*/ 361 h 415"/>
                <a:gd name="T44" fmla="*/ 553 w 750"/>
                <a:gd name="T45" fmla="*/ 352 h 415"/>
                <a:gd name="T46" fmla="*/ 503 w 750"/>
                <a:gd name="T47" fmla="*/ 328 h 415"/>
                <a:gd name="T48" fmla="*/ 537 w 750"/>
                <a:gd name="T49" fmla="*/ 322 h 415"/>
                <a:gd name="T50" fmla="*/ 588 w 750"/>
                <a:gd name="T51" fmla="*/ 297 h 415"/>
                <a:gd name="T52" fmla="*/ 679 w 750"/>
                <a:gd name="T53" fmla="*/ 273 h 415"/>
                <a:gd name="T54" fmla="*/ 703 w 750"/>
                <a:gd name="T55" fmla="*/ 231 h 415"/>
                <a:gd name="T56" fmla="*/ 727 w 750"/>
                <a:gd name="T57" fmla="*/ 189 h 415"/>
                <a:gd name="T58" fmla="*/ 742 w 750"/>
                <a:gd name="T59" fmla="*/ 166 h 415"/>
                <a:gd name="T60" fmla="*/ 709 w 750"/>
                <a:gd name="T61" fmla="*/ 136 h 415"/>
                <a:gd name="T62" fmla="*/ 662 w 750"/>
                <a:gd name="T63" fmla="*/ 119 h 415"/>
                <a:gd name="T64" fmla="*/ 620 w 750"/>
                <a:gd name="T65" fmla="*/ 100 h 415"/>
                <a:gd name="T66" fmla="*/ 578 w 750"/>
                <a:gd name="T67" fmla="*/ 106 h 415"/>
                <a:gd name="T68" fmla="*/ 540 w 750"/>
                <a:gd name="T69" fmla="*/ 99 h 415"/>
                <a:gd name="T70" fmla="*/ 482 w 750"/>
                <a:gd name="T71" fmla="*/ 56 h 415"/>
                <a:gd name="T72" fmla="*/ 486 w 750"/>
                <a:gd name="T73" fmla="*/ 26 h 415"/>
                <a:gd name="T74" fmla="*/ 431 w 750"/>
                <a:gd name="T75" fmla="*/ 1 h 415"/>
                <a:gd name="T76" fmla="*/ 398 w 750"/>
                <a:gd name="T77" fmla="*/ 16 h 415"/>
                <a:gd name="T78" fmla="*/ 327 w 750"/>
                <a:gd name="T79" fmla="*/ 53 h 415"/>
                <a:gd name="T80" fmla="*/ 273 w 750"/>
                <a:gd name="T81" fmla="*/ 39 h 415"/>
                <a:gd name="T82" fmla="*/ 247 w 750"/>
                <a:gd name="T83" fmla="*/ 46 h 415"/>
                <a:gd name="T84" fmla="*/ 224 w 750"/>
                <a:gd name="T85" fmla="*/ 38 h 415"/>
                <a:gd name="T86" fmla="*/ 202 w 750"/>
                <a:gd name="T87" fmla="*/ 40 h 415"/>
                <a:gd name="T88" fmla="*/ 157 w 750"/>
                <a:gd name="T89" fmla="*/ 28 h 415"/>
                <a:gd name="T90" fmla="*/ 103 w 750"/>
                <a:gd name="T91" fmla="*/ 27 h 415"/>
                <a:gd name="T92" fmla="*/ 47 w 750"/>
                <a:gd name="T93" fmla="*/ 40 h 415"/>
                <a:gd name="T94" fmla="*/ 75 w 750"/>
                <a:gd name="T95" fmla="*/ 76 h 415"/>
                <a:gd name="T96" fmla="*/ 58 w 750"/>
                <a:gd name="T97" fmla="*/ 103 h 415"/>
                <a:gd name="T98" fmla="*/ 30 w 750"/>
                <a:gd name="T99" fmla="*/ 174 h 415"/>
                <a:gd name="T100" fmla="*/ 1 w 750"/>
                <a:gd name="T101" fmla="*/ 194 h 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750" h="415">
                  <a:moveTo>
                    <a:pt x="16" y="215"/>
                  </a:moveTo>
                  <a:cubicBezTo>
                    <a:pt x="22" y="216"/>
                    <a:pt x="38" y="223"/>
                    <a:pt x="38" y="223"/>
                  </a:cubicBezTo>
                  <a:cubicBezTo>
                    <a:pt x="38" y="223"/>
                    <a:pt x="47" y="223"/>
                    <a:pt x="51" y="223"/>
                  </a:cubicBezTo>
                  <a:cubicBezTo>
                    <a:pt x="55" y="223"/>
                    <a:pt x="57" y="230"/>
                    <a:pt x="57" y="230"/>
                  </a:cubicBezTo>
                  <a:cubicBezTo>
                    <a:pt x="73" y="227"/>
                    <a:pt x="73" y="227"/>
                    <a:pt x="73" y="227"/>
                  </a:cubicBezTo>
                  <a:cubicBezTo>
                    <a:pt x="79" y="232"/>
                    <a:pt x="79" y="232"/>
                    <a:pt x="79" y="232"/>
                  </a:cubicBezTo>
                  <a:cubicBezTo>
                    <a:pt x="79" y="232"/>
                    <a:pt x="94" y="224"/>
                    <a:pt x="100" y="225"/>
                  </a:cubicBezTo>
                  <a:cubicBezTo>
                    <a:pt x="106" y="226"/>
                    <a:pt x="112" y="245"/>
                    <a:pt x="122" y="242"/>
                  </a:cubicBezTo>
                  <a:cubicBezTo>
                    <a:pt x="132" y="239"/>
                    <a:pt x="132" y="230"/>
                    <a:pt x="132" y="230"/>
                  </a:cubicBezTo>
                  <a:cubicBezTo>
                    <a:pt x="149" y="233"/>
                    <a:pt x="149" y="233"/>
                    <a:pt x="149" y="233"/>
                  </a:cubicBezTo>
                  <a:cubicBezTo>
                    <a:pt x="153" y="226"/>
                    <a:pt x="153" y="226"/>
                    <a:pt x="153" y="226"/>
                  </a:cubicBezTo>
                  <a:cubicBezTo>
                    <a:pt x="153" y="226"/>
                    <a:pt x="156" y="227"/>
                    <a:pt x="166" y="227"/>
                  </a:cubicBezTo>
                  <a:cubicBezTo>
                    <a:pt x="176" y="227"/>
                    <a:pt x="174" y="209"/>
                    <a:pt x="191" y="212"/>
                  </a:cubicBezTo>
                  <a:cubicBezTo>
                    <a:pt x="193" y="204"/>
                    <a:pt x="193" y="204"/>
                    <a:pt x="193" y="204"/>
                  </a:cubicBezTo>
                  <a:cubicBezTo>
                    <a:pt x="193" y="204"/>
                    <a:pt x="203" y="210"/>
                    <a:pt x="209" y="209"/>
                  </a:cubicBezTo>
                  <a:cubicBezTo>
                    <a:pt x="215" y="208"/>
                    <a:pt x="215" y="203"/>
                    <a:pt x="224" y="202"/>
                  </a:cubicBezTo>
                  <a:cubicBezTo>
                    <a:pt x="233" y="201"/>
                    <a:pt x="239" y="210"/>
                    <a:pt x="239" y="210"/>
                  </a:cubicBezTo>
                  <a:cubicBezTo>
                    <a:pt x="243" y="208"/>
                    <a:pt x="243" y="208"/>
                    <a:pt x="243" y="208"/>
                  </a:cubicBezTo>
                  <a:cubicBezTo>
                    <a:pt x="243" y="208"/>
                    <a:pt x="239" y="213"/>
                    <a:pt x="248" y="213"/>
                  </a:cubicBezTo>
                  <a:cubicBezTo>
                    <a:pt x="257" y="213"/>
                    <a:pt x="264" y="210"/>
                    <a:pt x="269" y="214"/>
                  </a:cubicBezTo>
                  <a:cubicBezTo>
                    <a:pt x="274" y="218"/>
                    <a:pt x="274" y="225"/>
                    <a:pt x="274" y="225"/>
                  </a:cubicBezTo>
                  <a:cubicBezTo>
                    <a:pt x="274" y="225"/>
                    <a:pt x="283" y="219"/>
                    <a:pt x="294" y="227"/>
                  </a:cubicBezTo>
                  <a:cubicBezTo>
                    <a:pt x="305" y="235"/>
                    <a:pt x="296" y="244"/>
                    <a:pt x="296" y="244"/>
                  </a:cubicBezTo>
                  <a:cubicBezTo>
                    <a:pt x="296" y="244"/>
                    <a:pt x="293" y="259"/>
                    <a:pt x="296" y="259"/>
                  </a:cubicBezTo>
                  <a:cubicBezTo>
                    <a:pt x="299" y="259"/>
                    <a:pt x="308" y="257"/>
                    <a:pt x="308" y="257"/>
                  </a:cubicBezTo>
                  <a:cubicBezTo>
                    <a:pt x="313" y="262"/>
                    <a:pt x="313" y="262"/>
                    <a:pt x="313" y="262"/>
                  </a:cubicBezTo>
                  <a:cubicBezTo>
                    <a:pt x="313" y="262"/>
                    <a:pt x="304" y="276"/>
                    <a:pt x="311" y="278"/>
                  </a:cubicBezTo>
                  <a:cubicBezTo>
                    <a:pt x="318" y="280"/>
                    <a:pt x="331" y="277"/>
                    <a:pt x="332" y="284"/>
                  </a:cubicBezTo>
                  <a:cubicBezTo>
                    <a:pt x="333" y="291"/>
                    <a:pt x="334" y="305"/>
                    <a:pt x="334" y="305"/>
                  </a:cubicBezTo>
                  <a:cubicBezTo>
                    <a:pt x="334" y="305"/>
                    <a:pt x="324" y="309"/>
                    <a:pt x="317" y="310"/>
                  </a:cubicBezTo>
                  <a:cubicBezTo>
                    <a:pt x="310" y="311"/>
                    <a:pt x="304" y="303"/>
                    <a:pt x="304" y="303"/>
                  </a:cubicBezTo>
                  <a:cubicBezTo>
                    <a:pt x="304" y="303"/>
                    <a:pt x="287" y="303"/>
                    <a:pt x="288" y="307"/>
                  </a:cubicBezTo>
                  <a:cubicBezTo>
                    <a:pt x="289" y="311"/>
                    <a:pt x="304" y="321"/>
                    <a:pt x="304" y="321"/>
                  </a:cubicBezTo>
                  <a:cubicBezTo>
                    <a:pt x="295" y="330"/>
                    <a:pt x="295" y="330"/>
                    <a:pt x="295" y="330"/>
                  </a:cubicBezTo>
                  <a:cubicBezTo>
                    <a:pt x="295" y="330"/>
                    <a:pt x="279" y="338"/>
                    <a:pt x="279" y="342"/>
                  </a:cubicBezTo>
                  <a:cubicBezTo>
                    <a:pt x="279" y="346"/>
                    <a:pt x="283" y="356"/>
                    <a:pt x="283" y="356"/>
                  </a:cubicBezTo>
                  <a:cubicBezTo>
                    <a:pt x="266" y="359"/>
                    <a:pt x="266" y="359"/>
                    <a:pt x="266" y="359"/>
                  </a:cubicBezTo>
                  <a:cubicBezTo>
                    <a:pt x="263" y="353"/>
                    <a:pt x="264" y="348"/>
                    <a:pt x="264" y="345"/>
                  </a:cubicBezTo>
                  <a:cubicBezTo>
                    <a:pt x="263" y="350"/>
                    <a:pt x="263" y="367"/>
                    <a:pt x="281" y="370"/>
                  </a:cubicBezTo>
                  <a:cubicBezTo>
                    <a:pt x="302" y="373"/>
                    <a:pt x="298" y="359"/>
                    <a:pt x="310" y="360"/>
                  </a:cubicBezTo>
                  <a:cubicBezTo>
                    <a:pt x="319" y="361"/>
                    <a:pt x="323" y="357"/>
                    <a:pt x="324" y="355"/>
                  </a:cubicBezTo>
                  <a:cubicBezTo>
                    <a:pt x="324" y="353"/>
                    <a:pt x="323" y="353"/>
                    <a:pt x="323" y="353"/>
                  </a:cubicBezTo>
                  <a:cubicBezTo>
                    <a:pt x="323" y="353"/>
                    <a:pt x="340" y="346"/>
                    <a:pt x="348" y="340"/>
                  </a:cubicBezTo>
                  <a:cubicBezTo>
                    <a:pt x="357" y="334"/>
                    <a:pt x="370" y="310"/>
                    <a:pt x="370" y="310"/>
                  </a:cubicBezTo>
                  <a:cubicBezTo>
                    <a:pt x="391" y="301"/>
                    <a:pt x="391" y="301"/>
                    <a:pt x="391" y="301"/>
                  </a:cubicBezTo>
                  <a:cubicBezTo>
                    <a:pt x="400" y="290"/>
                    <a:pt x="400" y="290"/>
                    <a:pt x="400" y="290"/>
                  </a:cubicBezTo>
                  <a:cubicBezTo>
                    <a:pt x="411" y="295"/>
                    <a:pt x="411" y="295"/>
                    <a:pt x="411" y="295"/>
                  </a:cubicBezTo>
                  <a:cubicBezTo>
                    <a:pt x="411" y="295"/>
                    <a:pt x="433" y="299"/>
                    <a:pt x="436" y="299"/>
                  </a:cubicBezTo>
                  <a:cubicBezTo>
                    <a:pt x="439" y="299"/>
                    <a:pt x="447" y="293"/>
                    <a:pt x="447" y="293"/>
                  </a:cubicBezTo>
                  <a:cubicBezTo>
                    <a:pt x="435" y="309"/>
                    <a:pt x="435" y="309"/>
                    <a:pt x="435" y="309"/>
                  </a:cubicBezTo>
                  <a:cubicBezTo>
                    <a:pt x="435" y="309"/>
                    <a:pt x="417" y="303"/>
                    <a:pt x="420" y="310"/>
                  </a:cubicBezTo>
                  <a:cubicBezTo>
                    <a:pt x="423" y="317"/>
                    <a:pt x="443" y="322"/>
                    <a:pt x="443" y="322"/>
                  </a:cubicBezTo>
                  <a:cubicBezTo>
                    <a:pt x="475" y="323"/>
                    <a:pt x="475" y="323"/>
                    <a:pt x="475" y="323"/>
                  </a:cubicBezTo>
                  <a:cubicBezTo>
                    <a:pt x="488" y="324"/>
                    <a:pt x="488" y="324"/>
                    <a:pt x="488" y="324"/>
                  </a:cubicBezTo>
                  <a:cubicBezTo>
                    <a:pt x="495" y="335"/>
                    <a:pt x="495" y="335"/>
                    <a:pt x="495" y="335"/>
                  </a:cubicBezTo>
                  <a:cubicBezTo>
                    <a:pt x="495" y="335"/>
                    <a:pt x="449" y="361"/>
                    <a:pt x="452" y="364"/>
                  </a:cubicBezTo>
                  <a:cubicBezTo>
                    <a:pt x="455" y="367"/>
                    <a:pt x="497" y="368"/>
                    <a:pt x="499" y="381"/>
                  </a:cubicBezTo>
                  <a:cubicBezTo>
                    <a:pt x="501" y="395"/>
                    <a:pt x="489" y="409"/>
                    <a:pt x="494" y="411"/>
                  </a:cubicBezTo>
                  <a:cubicBezTo>
                    <a:pt x="500" y="413"/>
                    <a:pt x="521" y="415"/>
                    <a:pt x="521" y="415"/>
                  </a:cubicBezTo>
                  <a:cubicBezTo>
                    <a:pt x="521" y="415"/>
                    <a:pt x="535" y="396"/>
                    <a:pt x="542" y="396"/>
                  </a:cubicBezTo>
                  <a:cubicBezTo>
                    <a:pt x="550" y="396"/>
                    <a:pt x="553" y="402"/>
                    <a:pt x="563" y="396"/>
                  </a:cubicBezTo>
                  <a:cubicBezTo>
                    <a:pt x="573" y="390"/>
                    <a:pt x="571" y="378"/>
                    <a:pt x="578" y="377"/>
                  </a:cubicBezTo>
                  <a:cubicBezTo>
                    <a:pt x="585" y="376"/>
                    <a:pt x="591" y="385"/>
                    <a:pt x="591" y="385"/>
                  </a:cubicBezTo>
                  <a:cubicBezTo>
                    <a:pt x="614" y="381"/>
                    <a:pt x="614" y="381"/>
                    <a:pt x="614" y="381"/>
                  </a:cubicBezTo>
                  <a:cubicBezTo>
                    <a:pt x="616" y="370"/>
                    <a:pt x="616" y="370"/>
                    <a:pt x="616" y="370"/>
                  </a:cubicBezTo>
                  <a:cubicBezTo>
                    <a:pt x="622" y="361"/>
                    <a:pt x="622" y="361"/>
                    <a:pt x="622" y="361"/>
                  </a:cubicBezTo>
                  <a:cubicBezTo>
                    <a:pt x="622" y="361"/>
                    <a:pt x="608" y="355"/>
                    <a:pt x="602" y="361"/>
                  </a:cubicBezTo>
                  <a:cubicBezTo>
                    <a:pt x="596" y="367"/>
                    <a:pt x="572" y="368"/>
                    <a:pt x="572" y="368"/>
                  </a:cubicBezTo>
                  <a:cubicBezTo>
                    <a:pt x="572" y="368"/>
                    <a:pt x="554" y="362"/>
                    <a:pt x="553" y="352"/>
                  </a:cubicBezTo>
                  <a:cubicBezTo>
                    <a:pt x="552" y="342"/>
                    <a:pt x="540" y="343"/>
                    <a:pt x="540" y="343"/>
                  </a:cubicBezTo>
                  <a:cubicBezTo>
                    <a:pt x="528" y="330"/>
                    <a:pt x="528" y="330"/>
                    <a:pt x="528" y="330"/>
                  </a:cubicBezTo>
                  <a:cubicBezTo>
                    <a:pt x="503" y="328"/>
                    <a:pt x="503" y="328"/>
                    <a:pt x="503" y="328"/>
                  </a:cubicBezTo>
                  <a:cubicBezTo>
                    <a:pt x="496" y="320"/>
                    <a:pt x="496" y="320"/>
                    <a:pt x="496" y="320"/>
                  </a:cubicBezTo>
                  <a:cubicBezTo>
                    <a:pt x="512" y="319"/>
                    <a:pt x="512" y="319"/>
                    <a:pt x="512" y="319"/>
                  </a:cubicBezTo>
                  <a:cubicBezTo>
                    <a:pt x="512" y="319"/>
                    <a:pt x="531" y="323"/>
                    <a:pt x="537" y="322"/>
                  </a:cubicBezTo>
                  <a:cubicBezTo>
                    <a:pt x="544" y="320"/>
                    <a:pt x="559" y="308"/>
                    <a:pt x="559" y="308"/>
                  </a:cubicBezTo>
                  <a:cubicBezTo>
                    <a:pt x="565" y="313"/>
                    <a:pt x="565" y="313"/>
                    <a:pt x="565" y="313"/>
                  </a:cubicBezTo>
                  <a:cubicBezTo>
                    <a:pt x="565" y="313"/>
                    <a:pt x="579" y="300"/>
                    <a:pt x="588" y="297"/>
                  </a:cubicBezTo>
                  <a:cubicBezTo>
                    <a:pt x="598" y="294"/>
                    <a:pt x="624" y="293"/>
                    <a:pt x="624" y="293"/>
                  </a:cubicBezTo>
                  <a:cubicBezTo>
                    <a:pt x="652" y="271"/>
                    <a:pt x="652" y="271"/>
                    <a:pt x="652" y="271"/>
                  </a:cubicBezTo>
                  <a:cubicBezTo>
                    <a:pt x="652" y="271"/>
                    <a:pt x="667" y="278"/>
                    <a:pt x="679" y="273"/>
                  </a:cubicBezTo>
                  <a:cubicBezTo>
                    <a:pt x="676" y="248"/>
                    <a:pt x="676" y="248"/>
                    <a:pt x="676" y="248"/>
                  </a:cubicBezTo>
                  <a:cubicBezTo>
                    <a:pt x="676" y="248"/>
                    <a:pt x="689" y="248"/>
                    <a:pt x="692" y="244"/>
                  </a:cubicBezTo>
                  <a:cubicBezTo>
                    <a:pt x="695" y="240"/>
                    <a:pt x="703" y="231"/>
                    <a:pt x="703" y="231"/>
                  </a:cubicBezTo>
                  <a:cubicBezTo>
                    <a:pt x="703" y="231"/>
                    <a:pt x="726" y="233"/>
                    <a:pt x="738" y="229"/>
                  </a:cubicBezTo>
                  <a:cubicBezTo>
                    <a:pt x="750" y="225"/>
                    <a:pt x="742" y="212"/>
                    <a:pt x="741" y="206"/>
                  </a:cubicBezTo>
                  <a:cubicBezTo>
                    <a:pt x="740" y="200"/>
                    <a:pt x="728" y="192"/>
                    <a:pt x="727" y="189"/>
                  </a:cubicBezTo>
                  <a:cubicBezTo>
                    <a:pt x="726" y="186"/>
                    <a:pt x="743" y="188"/>
                    <a:pt x="744" y="182"/>
                  </a:cubicBezTo>
                  <a:cubicBezTo>
                    <a:pt x="745" y="176"/>
                    <a:pt x="728" y="173"/>
                    <a:pt x="728" y="173"/>
                  </a:cubicBezTo>
                  <a:cubicBezTo>
                    <a:pt x="742" y="166"/>
                    <a:pt x="742" y="166"/>
                    <a:pt x="742" y="166"/>
                  </a:cubicBezTo>
                  <a:cubicBezTo>
                    <a:pt x="742" y="166"/>
                    <a:pt x="741" y="159"/>
                    <a:pt x="740" y="149"/>
                  </a:cubicBezTo>
                  <a:cubicBezTo>
                    <a:pt x="739" y="139"/>
                    <a:pt x="722" y="145"/>
                    <a:pt x="722" y="145"/>
                  </a:cubicBezTo>
                  <a:cubicBezTo>
                    <a:pt x="709" y="136"/>
                    <a:pt x="709" y="136"/>
                    <a:pt x="709" y="136"/>
                  </a:cubicBezTo>
                  <a:cubicBezTo>
                    <a:pt x="709" y="136"/>
                    <a:pt x="707" y="130"/>
                    <a:pt x="700" y="128"/>
                  </a:cubicBezTo>
                  <a:cubicBezTo>
                    <a:pt x="693" y="126"/>
                    <a:pt x="679" y="128"/>
                    <a:pt x="679" y="128"/>
                  </a:cubicBezTo>
                  <a:cubicBezTo>
                    <a:pt x="679" y="128"/>
                    <a:pt x="666" y="119"/>
                    <a:pt x="662" y="119"/>
                  </a:cubicBezTo>
                  <a:cubicBezTo>
                    <a:pt x="658" y="119"/>
                    <a:pt x="646" y="125"/>
                    <a:pt x="646" y="125"/>
                  </a:cubicBezTo>
                  <a:cubicBezTo>
                    <a:pt x="646" y="125"/>
                    <a:pt x="643" y="120"/>
                    <a:pt x="637" y="116"/>
                  </a:cubicBezTo>
                  <a:cubicBezTo>
                    <a:pt x="631" y="112"/>
                    <a:pt x="629" y="101"/>
                    <a:pt x="620" y="100"/>
                  </a:cubicBezTo>
                  <a:cubicBezTo>
                    <a:pt x="611" y="99"/>
                    <a:pt x="615" y="109"/>
                    <a:pt x="615" y="109"/>
                  </a:cubicBezTo>
                  <a:cubicBezTo>
                    <a:pt x="615" y="109"/>
                    <a:pt x="606" y="103"/>
                    <a:pt x="595" y="104"/>
                  </a:cubicBezTo>
                  <a:cubicBezTo>
                    <a:pt x="584" y="105"/>
                    <a:pt x="586" y="110"/>
                    <a:pt x="578" y="106"/>
                  </a:cubicBezTo>
                  <a:cubicBezTo>
                    <a:pt x="570" y="102"/>
                    <a:pt x="562" y="98"/>
                    <a:pt x="562" y="98"/>
                  </a:cubicBezTo>
                  <a:cubicBezTo>
                    <a:pt x="544" y="102"/>
                    <a:pt x="544" y="102"/>
                    <a:pt x="544" y="102"/>
                  </a:cubicBezTo>
                  <a:cubicBezTo>
                    <a:pt x="540" y="99"/>
                    <a:pt x="540" y="99"/>
                    <a:pt x="540" y="99"/>
                  </a:cubicBezTo>
                  <a:cubicBezTo>
                    <a:pt x="533" y="70"/>
                    <a:pt x="533" y="70"/>
                    <a:pt x="533" y="70"/>
                  </a:cubicBezTo>
                  <a:cubicBezTo>
                    <a:pt x="505" y="58"/>
                    <a:pt x="505" y="58"/>
                    <a:pt x="505" y="58"/>
                  </a:cubicBezTo>
                  <a:cubicBezTo>
                    <a:pt x="482" y="56"/>
                    <a:pt x="482" y="56"/>
                    <a:pt x="482" y="56"/>
                  </a:cubicBezTo>
                  <a:cubicBezTo>
                    <a:pt x="481" y="45"/>
                    <a:pt x="481" y="45"/>
                    <a:pt x="481" y="45"/>
                  </a:cubicBezTo>
                  <a:cubicBezTo>
                    <a:pt x="476" y="33"/>
                    <a:pt x="476" y="33"/>
                    <a:pt x="476" y="33"/>
                  </a:cubicBezTo>
                  <a:cubicBezTo>
                    <a:pt x="476" y="33"/>
                    <a:pt x="484" y="32"/>
                    <a:pt x="486" y="26"/>
                  </a:cubicBezTo>
                  <a:cubicBezTo>
                    <a:pt x="488" y="20"/>
                    <a:pt x="467" y="14"/>
                    <a:pt x="467" y="14"/>
                  </a:cubicBezTo>
                  <a:cubicBezTo>
                    <a:pt x="461" y="0"/>
                    <a:pt x="461" y="0"/>
                    <a:pt x="461" y="0"/>
                  </a:cubicBezTo>
                  <a:cubicBezTo>
                    <a:pt x="431" y="1"/>
                    <a:pt x="431" y="1"/>
                    <a:pt x="431" y="1"/>
                  </a:cubicBezTo>
                  <a:cubicBezTo>
                    <a:pt x="420" y="6"/>
                    <a:pt x="420" y="6"/>
                    <a:pt x="420" y="6"/>
                  </a:cubicBezTo>
                  <a:cubicBezTo>
                    <a:pt x="402" y="3"/>
                    <a:pt x="402" y="3"/>
                    <a:pt x="402" y="3"/>
                  </a:cubicBezTo>
                  <a:cubicBezTo>
                    <a:pt x="402" y="3"/>
                    <a:pt x="406" y="12"/>
                    <a:pt x="398" y="16"/>
                  </a:cubicBezTo>
                  <a:cubicBezTo>
                    <a:pt x="390" y="20"/>
                    <a:pt x="356" y="12"/>
                    <a:pt x="349" y="12"/>
                  </a:cubicBezTo>
                  <a:cubicBezTo>
                    <a:pt x="342" y="12"/>
                    <a:pt x="326" y="37"/>
                    <a:pt x="326" y="37"/>
                  </a:cubicBezTo>
                  <a:cubicBezTo>
                    <a:pt x="326" y="37"/>
                    <a:pt x="336" y="50"/>
                    <a:pt x="327" y="53"/>
                  </a:cubicBezTo>
                  <a:cubicBezTo>
                    <a:pt x="318" y="56"/>
                    <a:pt x="304" y="47"/>
                    <a:pt x="304" y="47"/>
                  </a:cubicBezTo>
                  <a:cubicBezTo>
                    <a:pt x="304" y="47"/>
                    <a:pt x="293" y="50"/>
                    <a:pt x="285" y="51"/>
                  </a:cubicBezTo>
                  <a:cubicBezTo>
                    <a:pt x="277" y="52"/>
                    <a:pt x="285" y="40"/>
                    <a:pt x="273" y="39"/>
                  </a:cubicBezTo>
                  <a:cubicBezTo>
                    <a:pt x="261" y="38"/>
                    <a:pt x="262" y="48"/>
                    <a:pt x="262" y="48"/>
                  </a:cubicBezTo>
                  <a:cubicBezTo>
                    <a:pt x="252" y="40"/>
                    <a:pt x="252" y="40"/>
                    <a:pt x="252" y="40"/>
                  </a:cubicBezTo>
                  <a:cubicBezTo>
                    <a:pt x="247" y="46"/>
                    <a:pt x="247" y="46"/>
                    <a:pt x="247" y="46"/>
                  </a:cubicBezTo>
                  <a:cubicBezTo>
                    <a:pt x="241" y="41"/>
                    <a:pt x="241" y="41"/>
                    <a:pt x="241" y="41"/>
                  </a:cubicBezTo>
                  <a:cubicBezTo>
                    <a:pt x="231" y="43"/>
                    <a:pt x="231" y="43"/>
                    <a:pt x="231" y="43"/>
                  </a:cubicBezTo>
                  <a:cubicBezTo>
                    <a:pt x="224" y="38"/>
                    <a:pt x="224" y="38"/>
                    <a:pt x="224" y="38"/>
                  </a:cubicBezTo>
                  <a:cubicBezTo>
                    <a:pt x="219" y="45"/>
                    <a:pt x="219" y="45"/>
                    <a:pt x="219" y="45"/>
                  </a:cubicBezTo>
                  <a:cubicBezTo>
                    <a:pt x="207" y="37"/>
                    <a:pt x="207" y="37"/>
                    <a:pt x="207" y="37"/>
                  </a:cubicBezTo>
                  <a:cubicBezTo>
                    <a:pt x="202" y="40"/>
                    <a:pt x="202" y="40"/>
                    <a:pt x="202" y="40"/>
                  </a:cubicBezTo>
                  <a:cubicBezTo>
                    <a:pt x="191" y="31"/>
                    <a:pt x="191" y="31"/>
                    <a:pt x="191" y="31"/>
                  </a:cubicBezTo>
                  <a:cubicBezTo>
                    <a:pt x="172" y="28"/>
                    <a:pt x="172" y="28"/>
                    <a:pt x="172" y="28"/>
                  </a:cubicBezTo>
                  <a:cubicBezTo>
                    <a:pt x="172" y="28"/>
                    <a:pt x="167" y="28"/>
                    <a:pt x="157" y="28"/>
                  </a:cubicBezTo>
                  <a:cubicBezTo>
                    <a:pt x="147" y="28"/>
                    <a:pt x="147" y="20"/>
                    <a:pt x="147" y="20"/>
                  </a:cubicBezTo>
                  <a:cubicBezTo>
                    <a:pt x="147" y="20"/>
                    <a:pt x="120" y="19"/>
                    <a:pt x="117" y="20"/>
                  </a:cubicBezTo>
                  <a:cubicBezTo>
                    <a:pt x="114" y="21"/>
                    <a:pt x="103" y="27"/>
                    <a:pt x="103" y="27"/>
                  </a:cubicBezTo>
                  <a:cubicBezTo>
                    <a:pt x="77" y="27"/>
                    <a:pt x="77" y="27"/>
                    <a:pt x="77" y="27"/>
                  </a:cubicBezTo>
                  <a:cubicBezTo>
                    <a:pt x="77" y="27"/>
                    <a:pt x="76" y="37"/>
                    <a:pt x="68" y="42"/>
                  </a:cubicBezTo>
                  <a:cubicBezTo>
                    <a:pt x="60" y="47"/>
                    <a:pt x="47" y="40"/>
                    <a:pt x="47" y="40"/>
                  </a:cubicBezTo>
                  <a:cubicBezTo>
                    <a:pt x="49" y="53"/>
                    <a:pt x="49" y="53"/>
                    <a:pt x="49" y="53"/>
                  </a:cubicBezTo>
                  <a:cubicBezTo>
                    <a:pt x="49" y="53"/>
                    <a:pt x="57" y="55"/>
                    <a:pt x="60" y="64"/>
                  </a:cubicBezTo>
                  <a:cubicBezTo>
                    <a:pt x="63" y="73"/>
                    <a:pt x="75" y="76"/>
                    <a:pt x="75" y="76"/>
                  </a:cubicBezTo>
                  <a:cubicBezTo>
                    <a:pt x="68" y="84"/>
                    <a:pt x="68" y="84"/>
                    <a:pt x="68" y="84"/>
                  </a:cubicBezTo>
                  <a:cubicBezTo>
                    <a:pt x="68" y="84"/>
                    <a:pt x="74" y="92"/>
                    <a:pt x="76" y="97"/>
                  </a:cubicBezTo>
                  <a:cubicBezTo>
                    <a:pt x="78" y="102"/>
                    <a:pt x="58" y="103"/>
                    <a:pt x="58" y="103"/>
                  </a:cubicBezTo>
                  <a:cubicBezTo>
                    <a:pt x="23" y="138"/>
                    <a:pt x="23" y="138"/>
                    <a:pt x="23" y="138"/>
                  </a:cubicBezTo>
                  <a:cubicBezTo>
                    <a:pt x="23" y="138"/>
                    <a:pt x="23" y="148"/>
                    <a:pt x="22" y="158"/>
                  </a:cubicBezTo>
                  <a:cubicBezTo>
                    <a:pt x="21" y="168"/>
                    <a:pt x="30" y="174"/>
                    <a:pt x="30" y="174"/>
                  </a:cubicBezTo>
                  <a:cubicBezTo>
                    <a:pt x="14" y="173"/>
                    <a:pt x="14" y="173"/>
                    <a:pt x="14" y="173"/>
                  </a:cubicBezTo>
                  <a:cubicBezTo>
                    <a:pt x="14" y="173"/>
                    <a:pt x="13" y="180"/>
                    <a:pt x="11" y="186"/>
                  </a:cubicBezTo>
                  <a:cubicBezTo>
                    <a:pt x="9" y="192"/>
                    <a:pt x="1" y="194"/>
                    <a:pt x="1" y="194"/>
                  </a:cubicBezTo>
                  <a:cubicBezTo>
                    <a:pt x="0" y="202"/>
                    <a:pt x="0" y="202"/>
                    <a:pt x="0" y="202"/>
                  </a:cubicBezTo>
                  <a:cubicBezTo>
                    <a:pt x="8" y="204"/>
                    <a:pt x="10" y="214"/>
                    <a:pt x="16" y="215"/>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algn="r" defTabSz="877824" rtl="1"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478" name="Freeform 270">
              <a:extLst>
                <a:ext uri="{FF2B5EF4-FFF2-40B4-BE49-F238E27FC236}">
                  <a16:creationId xmlns:a16="http://schemas.microsoft.com/office/drawing/2014/main" id="{D252AD5F-E582-458A-A58A-4B5AEBE6FE66}"/>
                </a:ext>
              </a:extLst>
            </p:cNvPr>
            <p:cNvSpPr>
              <a:spLocks/>
            </p:cNvSpPr>
            <p:nvPr/>
          </p:nvSpPr>
          <p:spPr bwMode="gray">
            <a:xfrm>
              <a:off x="5437641" y="770212"/>
              <a:ext cx="259296" cy="160450"/>
            </a:xfrm>
            <a:custGeom>
              <a:avLst/>
              <a:gdLst>
                <a:gd name="T0" fmla="*/ 19 w 382"/>
                <a:gd name="T1" fmla="*/ 225 h 250"/>
                <a:gd name="T2" fmla="*/ 42 w 382"/>
                <a:gd name="T3" fmla="*/ 236 h 250"/>
                <a:gd name="T4" fmla="*/ 77 w 382"/>
                <a:gd name="T5" fmla="*/ 221 h 250"/>
                <a:gd name="T6" fmla="*/ 121 w 382"/>
                <a:gd name="T7" fmla="*/ 214 h 250"/>
                <a:gd name="T8" fmla="*/ 146 w 382"/>
                <a:gd name="T9" fmla="*/ 222 h 250"/>
                <a:gd name="T10" fmla="*/ 176 w 382"/>
                <a:gd name="T11" fmla="*/ 234 h 250"/>
                <a:gd name="T12" fmla="*/ 193 w 382"/>
                <a:gd name="T13" fmla="*/ 239 h 250"/>
                <a:gd name="T14" fmla="*/ 205 w 382"/>
                <a:gd name="T15" fmla="*/ 237 h 250"/>
                <a:gd name="T16" fmla="*/ 221 w 382"/>
                <a:gd name="T17" fmla="*/ 240 h 250"/>
                <a:gd name="T18" fmla="*/ 236 w 382"/>
                <a:gd name="T19" fmla="*/ 242 h 250"/>
                <a:gd name="T20" fmla="*/ 259 w 382"/>
                <a:gd name="T21" fmla="*/ 245 h 250"/>
                <a:gd name="T22" fmla="*/ 301 w 382"/>
                <a:gd name="T23" fmla="*/ 247 h 250"/>
                <a:gd name="T24" fmla="*/ 323 w 382"/>
                <a:gd name="T25" fmla="*/ 206 h 250"/>
                <a:gd name="T26" fmla="*/ 344 w 382"/>
                <a:gd name="T27" fmla="*/ 191 h 250"/>
                <a:gd name="T28" fmla="*/ 328 w 382"/>
                <a:gd name="T29" fmla="*/ 151 h 250"/>
                <a:gd name="T30" fmla="*/ 365 w 382"/>
                <a:gd name="T31" fmla="*/ 155 h 250"/>
                <a:gd name="T32" fmla="*/ 368 w 382"/>
                <a:gd name="T33" fmla="*/ 131 h 250"/>
                <a:gd name="T34" fmla="*/ 340 w 382"/>
                <a:gd name="T35" fmla="*/ 118 h 250"/>
                <a:gd name="T36" fmla="*/ 318 w 382"/>
                <a:gd name="T37" fmla="*/ 96 h 250"/>
                <a:gd name="T38" fmla="*/ 294 w 382"/>
                <a:gd name="T39" fmla="*/ 66 h 250"/>
                <a:gd name="T40" fmla="*/ 290 w 382"/>
                <a:gd name="T41" fmla="*/ 44 h 250"/>
                <a:gd name="T42" fmla="*/ 260 w 382"/>
                <a:gd name="T43" fmla="*/ 9 h 250"/>
                <a:gd name="T44" fmla="*/ 236 w 382"/>
                <a:gd name="T45" fmla="*/ 11 h 250"/>
                <a:gd name="T46" fmla="*/ 204 w 382"/>
                <a:gd name="T47" fmla="*/ 11 h 250"/>
                <a:gd name="T48" fmla="*/ 176 w 382"/>
                <a:gd name="T49" fmla="*/ 0 h 250"/>
                <a:gd name="T50" fmla="*/ 157 w 382"/>
                <a:gd name="T51" fmla="*/ 19 h 250"/>
                <a:gd name="T52" fmla="*/ 119 w 382"/>
                <a:gd name="T53" fmla="*/ 31 h 250"/>
                <a:gd name="T54" fmla="*/ 120 w 382"/>
                <a:gd name="T55" fmla="*/ 52 h 250"/>
                <a:gd name="T56" fmla="*/ 111 w 382"/>
                <a:gd name="T57" fmla="*/ 60 h 250"/>
                <a:gd name="T58" fmla="*/ 98 w 382"/>
                <a:gd name="T59" fmla="*/ 77 h 250"/>
                <a:gd name="T60" fmla="*/ 96 w 382"/>
                <a:gd name="T61" fmla="*/ 104 h 250"/>
                <a:gd name="T62" fmla="*/ 72 w 382"/>
                <a:gd name="T63" fmla="*/ 103 h 250"/>
                <a:gd name="T64" fmla="*/ 60 w 382"/>
                <a:gd name="T65" fmla="*/ 103 h 250"/>
                <a:gd name="T66" fmla="*/ 40 w 382"/>
                <a:gd name="T67" fmla="*/ 113 h 250"/>
                <a:gd name="T68" fmla="*/ 6 w 382"/>
                <a:gd name="T69" fmla="*/ 113 h 250"/>
                <a:gd name="T70" fmla="*/ 25 w 382"/>
                <a:gd name="T71" fmla="*/ 145 h 250"/>
                <a:gd name="T72" fmla="*/ 27 w 382"/>
                <a:gd name="T73" fmla="*/ 173 h 250"/>
                <a:gd name="T74" fmla="*/ 12 w 382"/>
                <a:gd name="T75" fmla="*/ 190 h 250"/>
                <a:gd name="T76" fmla="*/ 20 w 382"/>
                <a:gd name="T77" fmla="*/ 207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82" h="250">
                  <a:moveTo>
                    <a:pt x="20" y="207"/>
                  </a:moveTo>
                  <a:cubicBezTo>
                    <a:pt x="22" y="211"/>
                    <a:pt x="19" y="225"/>
                    <a:pt x="19" y="225"/>
                  </a:cubicBezTo>
                  <a:cubicBezTo>
                    <a:pt x="22" y="234"/>
                    <a:pt x="22" y="234"/>
                    <a:pt x="22" y="234"/>
                  </a:cubicBezTo>
                  <a:cubicBezTo>
                    <a:pt x="26" y="236"/>
                    <a:pt x="35" y="240"/>
                    <a:pt x="42" y="236"/>
                  </a:cubicBezTo>
                  <a:cubicBezTo>
                    <a:pt x="50" y="231"/>
                    <a:pt x="51" y="221"/>
                    <a:pt x="51" y="221"/>
                  </a:cubicBezTo>
                  <a:cubicBezTo>
                    <a:pt x="77" y="221"/>
                    <a:pt x="77" y="221"/>
                    <a:pt x="77" y="221"/>
                  </a:cubicBezTo>
                  <a:cubicBezTo>
                    <a:pt x="77" y="221"/>
                    <a:pt x="88" y="215"/>
                    <a:pt x="91" y="214"/>
                  </a:cubicBezTo>
                  <a:cubicBezTo>
                    <a:pt x="94" y="213"/>
                    <a:pt x="121" y="214"/>
                    <a:pt x="121" y="214"/>
                  </a:cubicBezTo>
                  <a:cubicBezTo>
                    <a:pt x="121" y="214"/>
                    <a:pt x="121" y="222"/>
                    <a:pt x="131" y="222"/>
                  </a:cubicBezTo>
                  <a:cubicBezTo>
                    <a:pt x="141" y="222"/>
                    <a:pt x="146" y="222"/>
                    <a:pt x="146" y="222"/>
                  </a:cubicBezTo>
                  <a:cubicBezTo>
                    <a:pt x="165" y="225"/>
                    <a:pt x="165" y="225"/>
                    <a:pt x="165" y="225"/>
                  </a:cubicBezTo>
                  <a:cubicBezTo>
                    <a:pt x="176" y="234"/>
                    <a:pt x="176" y="234"/>
                    <a:pt x="176" y="234"/>
                  </a:cubicBezTo>
                  <a:cubicBezTo>
                    <a:pt x="181" y="231"/>
                    <a:pt x="181" y="231"/>
                    <a:pt x="181" y="231"/>
                  </a:cubicBezTo>
                  <a:cubicBezTo>
                    <a:pt x="193" y="239"/>
                    <a:pt x="193" y="239"/>
                    <a:pt x="193" y="239"/>
                  </a:cubicBezTo>
                  <a:cubicBezTo>
                    <a:pt x="198" y="232"/>
                    <a:pt x="198" y="232"/>
                    <a:pt x="198" y="232"/>
                  </a:cubicBezTo>
                  <a:cubicBezTo>
                    <a:pt x="205" y="237"/>
                    <a:pt x="205" y="237"/>
                    <a:pt x="205" y="237"/>
                  </a:cubicBezTo>
                  <a:cubicBezTo>
                    <a:pt x="215" y="235"/>
                    <a:pt x="215" y="235"/>
                    <a:pt x="215" y="235"/>
                  </a:cubicBezTo>
                  <a:cubicBezTo>
                    <a:pt x="221" y="240"/>
                    <a:pt x="221" y="240"/>
                    <a:pt x="221" y="240"/>
                  </a:cubicBezTo>
                  <a:cubicBezTo>
                    <a:pt x="226" y="234"/>
                    <a:pt x="226" y="234"/>
                    <a:pt x="226" y="234"/>
                  </a:cubicBezTo>
                  <a:cubicBezTo>
                    <a:pt x="236" y="242"/>
                    <a:pt x="236" y="242"/>
                    <a:pt x="236" y="242"/>
                  </a:cubicBezTo>
                  <a:cubicBezTo>
                    <a:pt x="236" y="242"/>
                    <a:pt x="235" y="232"/>
                    <a:pt x="247" y="233"/>
                  </a:cubicBezTo>
                  <a:cubicBezTo>
                    <a:pt x="259" y="234"/>
                    <a:pt x="251" y="246"/>
                    <a:pt x="259" y="245"/>
                  </a:cubicBezTo>
                  <a:cubicBezTo>
                    <a:pt x="267" y="244"/>
                    <a:pt x="278" y="241"/>
                    <a:pt x="278" y="241"/>
                  </a:cubicBezTo>
                  <a:cubicBezTo>
                    <a:pt x="278" y="241"/>
                    <a:pt x="292" y="250"/>
                    <a:pt x="301" y="247"/>
                  </a:cubicBezTo>
                  <a:cubicBezTo>
                    <a:pt x="310" y="244"/>
                    <a:pt x="300" y="231"/>
                    <a:pt x="300" y="231"/>
                  </a:cubicBezTo>
                  <a:cubicBezTo>
                    <a:pt x="300" y="231"/>
                    <a:pt x="316" y="206"/>
                    <a:pt x="323" y="206"/>
                  </a:cubicBezTo>
                  <a:cubicBezTo>
                    <a:pt x="326" y="206"/>
                    <a:pt x="336" y="208"/>
                    <a:pt x="347" y="209"/>
                  </a:cubicBezTo>
                  <a:cubicBezTo>
                    <a:pt x="346" y="201"/>
                    <a:pt x="346" y="191"/>
                    <a:pt x="344" y="191"/>
                  </a:cubicBezTo>
                  <a:cubicBezTo>
                    <a:pt x="341" y="190"/>
                    <a:pt x="341" y="176"/>
                    <a:pt x="341" y="176"/>
                  </a:cubicBezTo>
                  <a:cubicBezTo>
                    <a:pt x="341" y="176"/>
                    <a:pt x="314" y="154"/>
                    <a:pt x="328" y="151"/>
                  </a:cubicBezTo>
                  <a:cubicBezTo>
                    <a:pt x="342" y="148"/>
                    <a:pt x="344" y="154"/>
                    <a:pt x="344" y="154"/>
                  </a:cubicBezTo>
                  <a:cubicBezTo>
                    <a:pt x="344" y="154"/>
                    <a:pt x="357" y="162"/>
                    <a:pt x="365" y="155"/>
                  </a:cubicBezTo>
                  <a:cubicBezTo>
                    <a:pt x="373" y="148"/>
                    <a:pt x="382" y="139"/>
                    <a:pt x="382" y="139"/>
                  </a:cubicBezTo>
                  <a:cubicBezTo>
                    <a:pt x="368" y="131"/>
                    <a:pt x="368" y="131"/>
                    <a:pt x="368" y="131"/>
                  </a:cubicBezTo>
                  <a:cubicBezTo>
                    <a:pt x="368" y="131"/>
                    <a:pt x="376" y="122"/>
                    <a:pt x="363" y="119"/>
                  </a:cubicBezTo>
                  <a:cubicBezTo>
                    <a:pt x="350" y="116"/>
                    <a:pt x="340" y="118"/>
                    <a:pt x="340" y="118"/>
                  </a:cubicBezTo>
                  <a:cubicBezTo>
                    <a:pt x="338" y="103"/>
                    <a:pt x="338" y="103"/>
                    <a:pt x="338" y="103"/>
                  </a:cubicBezTo>
                  <a:cubicBezTo>
                    <a:pt x="318" y="96"/>
                    <a:pt x="318" y="96"/>
                    <a:pt x="318" y="96"/>
                  </a:cubicBezTo>
                  <a:cubicBezTo>
                    <a:pt x="318" y="96"/>
                    <a:pt x="315" y="75"/>
                    <a:pt x="307" y="73"/>
                  </a:cubicBezTo>
                  <a:cubicBezTo>
                    <a:pt x="299" y="71"/>
                    <a:pt x="294" y="66"/>
                    <a:pt x="294" y="66"/>
                  </a:cubicBezTo>
                  <a:cubicBezTo>
                    <a:pt x="298" y="54"/>
                    <a:pt x="298" y="54"/>
                    <a:pt x="298" y="54"/>
                  </a:cubicBezTo>
                  <a:cubicBezTo>
                    <a:pt x="290" y="44"/>
                    <a:pt x="290" y="44"/>
                    <a:pt x="290" y="44"/>
                  </a:cubicBezTo>
                  <a:cubicBezTo>
                    <a:pt x="290" y="44"/>
                    <a:pt x="304" y="30"/>
                    <a:pt x="293" y="25"/>
                  </a:cubicBezTo>
                  <a:cubicBezTo>
                    <a:pt x="282" y="20"/>
                    <a:pt x="260" y="9"/>
                    <a:pt x="260" y="9"/>
                  </a:cubicBezTo>
                  <a:cubicBezTo>
                    <a:pt x="238" y="21"/>
                    <a:pt x="238" y="21"/>
                    <a:pt x="238" y="21"/>
                  </a:cubicBezTo>
                  <a:cubicBezTo>
                    <a:pt x="236" y="11"/>
                    <a:pt x="236" y="11"/>
                    <a:pt x="236" y="11"/>
                  </a:cubicBezTo>
                  <a:cubicBezTo>
                    <a:pt x="210" y="5"/>
                    <a:pt x="210" y="5"/>
                    <a:pt x="210" y="5"/>
                  </a:cubicBezTo>
                  <a:cubicBezTo>
                    <a:pt x="204" y="11"/>
                    <a:pt x="204" y="11"/>
                    <a:pt x="204" y="11"/>
                  </a:cubicBezTo>
                  <a:cubicBezTo>
                    <a:pt x="204" y="11"/>
                    <a:pt x="203" y="4"/>
                    <a:pt x="195" y="3"/>
                  </a:cubicBezTo>
                  <a:cubicBezTo>
                    <a:pt x="187" y="2"/>
                    <a:pt x="176" y="0"/>
                    <a:pt x="176" y="0"/>
                  </a:cubicBezTo>
                  <a:cubicBezTo>
                    <a:pt x="176" y="0"/>
                    <a:pt x="162" y="16"/>
                    <a:pt x="162" y="13"/>
                  </a:cubicBezTo>
                  <a:cubicBezTo>
                    <a:pt x="162" y="10"/>
                    <a:pt x="157" y="19"/>
                    <a:pt x="157" y="19"/>
                  </a:cubicBezTo>
                  <a:cubicBezTo>
                    <a:pt x="157" y="19"/>
                    <a:pt x="146" y="13"/>
                    <a:pt x="141" y="13"/>
                  </a:cubicBezTo>
                  <a:cubicBezTo>
                    <a:pt x="136" y="13"/>
                    <a:pt x="121" y="26"/>
                    <a:pt x="119" y="31"/>
                  </a:cubicBezTo>
                  <a:cubicBezTo>
                    <a:pt x="117" y="36"/>
                    <a:pt x="133" y="46"/>
                    <a:pt x="133" y="46"/>
                  </a:cubicBezTo>
                  <a:cubicBezTo>
                    <a:pt x="133" y="46"/>
                    <a:pt x="126" y="52"/>
                    <a:pt x="120" y="52"/>
                  </a:cubicBezTo>
                  <a:cubicBezTo>
                    <a:pt x="114" y="52"/>
                    <a:pt x="107" y="47"/>
                    <a:pt x="107" y="47"/>
                  </a:cubicBezTo>
                  <a:cubicBezTo>
                    <a:pt x="111" y="60"/>
                    <a:pt x="111" y="60"/>
                    <a:pt x="111" y="60"/>
                  </a:cubicBezTo>
                  <a:cubicBezTo>
                    <a:pt x="111" y="60"/>
                    <a:pt x="98" y="55"/>
                    <a:pt x="96" y="62"/>
                  </a:cubicBezTo>
                  <a:cubicBezTo>
                    <a:pt x="94" y="69"/>
                    <a:pt x="98" y="77"/>
                    <a:pt x="98" y="77"/>
                  </a:cubicBezTo>
                  <a:cubicBezTo>
                    <a:pt x="98" y="77"/>
                    <a:pt x="86" y="76"/>
                    <a:pt x="91" y="84"/>
                  </a:cubicBezTo>
                  <a:cubicBezTo>
                    <a:pt x="96" y="92"/>
                    <a:pt x="103" y="103"/>
                    <a:pt x="96" y="104"/>
                  </a:cubicBezTo>
                  <a:cubicBezTo>
                    <a:pt x="89" y="105"/>
                    <a:pt x="100" y="96"/>
                    <a:pt x="90" y="96"/>
                  </a:cubicBezTo>
                  <a:cubicBezTo>
                    <a:pt x="80" y="96"/>
                    <a:pt x="72" y="103"/>
                    <a:pt x="72" y="103"/>
                  </a:cubicBezTo>
                  <a:cubicBezTo>
                    <a:pt x="68" y="111"/>
                    <a:pt x="68" y="111"/>
                    <a:pt x="68" y="111"/>
                  </a:cubicBezTo>
                  <a:cubicBezTo>
                    <a:pt x="60" y="103"/>
                    <a:pt x="60" y="103"/>
                    <a:pt x="60" y="103"/>
                  </a:cubicBezTo>
                  <a:cubicBezTo>
                    <a:pt x="58" y="113"/>
                    <a:pt x="58" y="113"/>
                    <a:pt x="58" y="113"/>
                  </a:cubicBezTo>
                  <a:cubicBezTo>
                    <a:pt x="40" y="113"/>
                    <a:pt x="40" y="113"/>
                    <a:pt x="40" y="113"/>
                  </a:cubicBezTo>
                  <a:cubicBezTo>
                    <a:pt x="40" y="113"/>
                    <a:pt x="38" y="107"/>
                    <a:pt x="30" y="108"/>
                  </a:cubicBezTo>
                  <a:cubicBezTo>
                    <a:pt x="22" y="109"/>
                    <a:pt x="6" y="113"/>
                    <a:pt x="6" y="113"/>
                  </a:cubicBezTo>
                  <a:cubicBezTo>
                    <a:pt x="6" y="113"/>
                    <a:pt x="14" y="126"/>
                    <a:pt x="14" y="131"/>
                  </a:cubicBezTo>
                  <a:cubicBezTo>
                    <a:pt x="14" y="136"/>
                    <a:pt x="25" y="145"/>
                    <a:pt x="25" y="145"/>
                  </a:cubicBezTo>
                  <a:cubicBezTo>
                    <a:pt x="25" y="145"/>
                    <a:pt x="33" y="157"/>
                    <a:pt x="31" y="161"/>
                  </a:cubicBezTo>
                  <a:cubicBezTo>
                    <a:pt x="29" y="165"/>
                    <a:pt x="27" y="173"/>
                    <a:pt x="27" y="173"/>
                  </a:cubicBezTo>
                  <a:cubicBezTo>
                    <a:pt x="13" y="178"/>
                    <a:pt x="13" y="178"/>
                    <a:pt x="13" y="178"/>
                  </a:cubicBezTo>
                  <a:cubicBezTo>
                    <a:pt x="13" y="178"/>
                    <a:pt x="15" y="190"/>
                    <a:pt x="12" y="190"/>
                  </a:cubicBezTo>
                  <a:cubicBezTo>
                    <a:pt x="9" y="190"/>
                    <a:pt x="0" y="188"/>
                    <a:pt x="2" y="194"/>
                  </a:cubicBezTo>
                  <a:cubicBezTo>
                    <a:pt x="4" y="200"/>
                    <a:pt x="18" y="203"/>
                    <a:pt x="20" y="207"/>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479" name="Freeform 271">
              <a:extLst>
                <a:ext uri="{FF2B5EF4-FFF2-40B4-BE49-F238E27FC236}">
                  <a16:creationId xmlns:a16="http://schemas.microsoft.com/office/drawing/2014/main" id="{CDE8D856-8510-45AD-BA07-AF449B63B0BA}"/>
                </a:ext>
              </a:extLst>
            </p:cNvPr>
            <p:cNvSpPr>
              <a:spLocks/>
            </p:cNvSpPr>
            <p:nvPr/>
          </p:nvSpPr>
          <p:spPr bwMode="gray">
            <a:xfrm>
              <a:off x="5368438" y="706141"/>
              <a:ext cx="194113" cy="78732"/>
            </a:xfrm>
            <a:custGeom>
              <a:avLst/>
              <a:gdLst>
                <a:gd name="T0" fmla="*/ 5 w 286"/>
                <a:gd name="T1" fmla="*/ 97 h 123"/>
                <a:gd name="T2" fmla="*/ 18 w 286"/>
                <a:gd name="T3" fmla="*/ 92 h 123"/>
                <a:gd name="T4" fmla="*/ 51 w 286"/>
                <a:gd name="T5" fmla="*/ 86 h 123"/>
                <a:gd name="T6" fmla="*/ 65 w 286"/>
                <a:gd name="T7" fmla="*/ 83 h 123"/>
                <a:gd name="T8" fmla="*/ 78 w 286"/>
                <a:gd name="T9" fmla="*/ 90 h 123"/>
                <a:gd name="T10" fmla="*/ 86 w 286"/>
                <a:gd name="T11" fmla="*/ 88 h 123"/>
                <a:gd name="T12" fmla="*/ 109 w 286"/>
                <a:gd name="T13" fmla="*/ 94 h 123"/>
                <a:gd name="T14" fmla="*/ 118 w 286"/>
                <a:gd name="T15" fmla="*/ 89 h 123"/>
                <a:gd name="T16" fmla="*/ 133 w 286"/>
                <a:gd name="T17" fmla="*/ 93 h 123"/>
                <a:gd name="T18" fmla="*/ 150 w 286"/>
                <a:gd name="T19" fmla="*/ 85 h 123"/>
                <a:gd name="T20" fmla="*/ 162 w 286"/>
                <a:gd name="T21" fmla="*/ 98 h 123"/>
                <a:gd name="T22" fmla="*/ 189 w 286"/>
                <a:gd name="T23" fmla="*/ 101 h 123"/>
                <a:gd name="T24" fmla="*/ 200 w 286"/>
                <a:gd name="T25" fmla="*/ 111 h 123"/>
                <a:gd name="T26" fmla="*/ 215 w 286"/>
                <a:gd name="T27" fmla="*/ 119 h 123"/>
                <a:gd name="T28" fmla="*/ 227 w 286"/>
                <a:gd name="T29" fmla="*/ 123 h 123"/>
                <a:gd name="T30" fmla="*/ 243 w 286"/>
                <a:gd name="T31" fmla="*/ 113 h 123"/>
                <a:gd name="T32" fmla="*/ 259 w 286"/>
                <a:gd name="T33" fmla="*/ 119 h 123"/>
                <a:gd name="T34" fmla="*/ 264 w 286"/>
                <a:gd name="T35" fmla="*/ 113 h 123"/>
                <a:gd name="T36" fmla="*/ 278 w 286"/>
                <a:gd name="T37" fmla="*/ 100 h 123"/>
                <a:gd name="T38" fmla="*/ 286 w 286"/>
                <a:gd name="T39" fmla="*/ 101 h 123"/>
                <a:gd name="T40" fmla="*/ 280 w 286"/>
                <a:gd name="T41" fmla="*/ 82 h 123"/>
                <a:gd name="T42" fmla="*/ 268 w 286"/>
                <a:gd name="T43" fmla="*/ 65 h 123"/>
                <a:gd name="T44" fmla="*/ 255 w 286"/>
                <a:gd name="T45" fmla="*/ 61 h 123"/>
                <a:gd name="T46" fmla="*/ 256 w 286"/>
                <a:gd name="T47" fmla="*/ 52 h 123"/>
                <a:gd name="T48" fmla="*/ 268 w 286"/>
                <a:gd name="T49" fmla="*/ 45 h 123"/>
                <a:gd name="T50" fmla="*/ 246 w 286"/>
                <a:gd name="T51" fmla="*/ 30 h 123"/>
                <a:gd name="T52" fmla="*/ 238 w 286"/>
                <a:gd name="T53" fmla="*/ 31 h 123"/>
                <a:gd name="T54" fmla="*/ 225 w 286"/>
                <a:gd name="T55" fmla="*/ 26 h 123"/>
                <a:gd name="T56" fmla="*/ 214 w 286"/>
                <a:gd name="T57" fmla="*/ 32 h 123"/>
                <a:gd name="T58" fmla="*/ 194 w 286"/>
                <a:gd name="T59" fmla="*/ 20 h 123"/>
                <a:gd name="T60" fmla="*/ 166 w 286"/>
                <a:gd name="T61" fmla="*/ 3 h 123"/>
                <a:gd name="T62" fmla="*/ 145 w 286"/>
                <a:gd name="T63" fmla="*/ 4 h 123"/>
                <a:gd name="T64" fmla="*/ 124 w 286"/>
                <a:gd name="T65" fmla="*/ 10 h 123"/>
                <a:gd name="T66" fmla="*/ 120 w 286"/>
                <a:gd name="T67" fmla="*/ 10 h 123"/>
                <a:gd name="T68" fmla="*/ 119 w 286"/>
                <a:gd name="T69" fmla="*/ 12 h 123"/>
                <a:gd name="T70" fmla="*/ 123 w 286"/>
                <a:gd name="T71" fmla="*/ 55 h 123"/>
                <a:gd name="T72" fmla="*/ 86 w 286"/>
                <a:gd name="T73" fmla="*/ 52 h 123"/>
                <a:gd name="T74" fmla="*/ 79 w 286"/>
                <a:gd name="T75" fmla="*/ 37 h 123"/>
                <a:gd name="T76" fmla="*/ 56 w 286"/>
                <a:gd name="T77" fmla="*/ 18 h 123"/>
                <a:gd name="T78" fmla="*/ 21 w 286"/>
                <a:gd name="T79" fmla="*/ 30 h 123"/>
                <a:gd name="T80" fmla="*/ 16 w 286"/>
                <a:gd name="T81" fmla="*/ 46 h 123"/>
                <a:gd name="T82" fmla="*/ 0 w 286"/>
                <a:gd name="T83" fmla="*/ 69 h 123"/>
                <a:gd name="T84" fmla="*/ 6 w 286"/>
                <a:gd name="T85" fmla="*/ 104 h 123"/>
                <a:gd name="T86" fmla="*/ 5 w 286"/>
                <a:gd name="T87" fmla="*/ 97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86" h="123">
                  <a:moveTo>
                    <a:pt x="5" y="97"/>
                  </a:moveTo>
                  <a:cubicBezTo>
                    <a:pt x="8" y="95"/>
                    <a:pt x="12" y="93"/>
                    <a:pt x="18" y="92"/>
                  </a:cubicBezTo>
                  <a:cubicBezTo>
                    <a:pt x="38" y="89"/>
                    <a:pt x="45" y="89"/>
                    <a:pt x="51" y="86"/>
                  </a:cubicBezTo>
                  <a:cubicBezTo>
                    <a:pt x="57" y="83"/>
                    <a:pt x="59" y="81"/>
                    <a:pt x="65" y="83"/>
                  </a:cubicBezTo>
                  <a:cubicBezTo>
                    <a:pt x="71" y="85"/>
                    <a:pt x="78" y="90"/>
                    <a:pt x="78" y="90"/>
                  </a:cubicBezTo>
                  <a:cubicBezTo>
                    <a:pt x="78" y="90"/>
                    <a:pt x="83" y="89"/>
                    <a:pt x="86" y="88"/>
                  </a:cubicBezTo>
                  <a:cubicBezTo>
                    <a:pt x="89" y="87"/>
                    <a:pt x="109" y="94"/>
                    <a:pt x="109" y="94"/>
                  </a:cubicBezTo>
                  <a:cubicBezTo>
                    <a:pt x="109" y="94"/>
                    <a:pt x="113" y="89"/>
                    <a:pt x="118" y="89"/>
                  </a:cubicBezTo>
                  <a:cubicBezTo>
                    <a:pt x="123" y="89"/>
                    <a:pt x="125" y="93"/>
                    <a:pt x="133" y="93"/>
                  </a:cubicBezTo>
                  <a:cubicBezTo>
                    <a:pt x="141" y="93"/>
                    <a:pt x="144" y="85"/>
                    <a:pt x="150" y="85"/>
                  </a:cubicBezTo>
                  <a:cubicBezTo>
                    <a:pt x="156" y="85"/>
                    <a:pt x="162" y="98"/>
                    <a:pt x="162" y="98"/>
                  </a:cubicBezTo>
                  <a:cubicBezTo>
                    <a:pt x="162" y="98"/>
                    <a:pt x="183" y="99"/>
                    <a:pt x="189" y="101"/>
                  </a:cubicBezTo>
                  <a:cubicBezTo>
                    <a:pt x="195" y="103"/>
                    <a:pt x="200" y="111"/>
                    <a:pt x="200" y="111"/>
                  </a:cubicBezTo>
                  <a:cubicBezTo>
                    <a:pt x="215" y="119"/>
                    <a:pt x="215" y="119"/>
                    <a:pt x="215" y="119"/>
                  </a:cubicBezTo>
                  <a:cubicBezTo>
                    <a:pt x="227" y="123"/>
                    <a:pt x="227" y="123"/>
                    <a:pt x="227" y="123"/>
                  </a:cubicBezTo>
                  <a:cubicBezTo>
                    <a:pt x="233" y="118"/>
                    <a:pt x="240" y="113"/>
                    <a:pt x="243" y="113"/>
                  </a:cubicBezTo>
                  <a:cubicBezTo>
                    <a:pt x="248" y="113"/>
                    <a:pt x="259" y="119"/>
                    <a:pt x="259" y="119"/>
                  </a:cubicBezTo>
                  <a:cubicBezTo>
                    <a:pt x="259" y="119"/>
                    <a:pt x="264" y="110"/>
                    <a:pt x="264" y="113"/>
                  </a:cubicBezTo>
                  <a:cubicBezTo>
                    <a:pt x="264" y="116"/>
                    <a:pt x="278" y="100"/>
                    <a:pt x="278" y="100"/>
                  </a:cubicBezTo>
                  <a:cubicBezTo>
                    <a:pt x="278" y="100"/>
                    <a:pt x="282" y="101"/>
                    <a:pt x="286" y="101"/>
                  </a:cubicBezTo>
                  <a:cubicBezTo>
                    <a:pt x="286" y="97"/>
                    <a:pt x="286" y="87"/>
                    <a:pt x="280" y="82"/>
                  </a:cubicBezTo>
                  <a:cubicBezTo>
                    <a:pt x="273" y="76"/>
                    <a:pt x="268" y="65"/>
                    <a:pt x="268" y="65"/>
                  </a:cubicBezTo>
                  <a:cubicBezTo>
                    <a:pt x="255" y="61"/>
                    <a:pt x="255" y="61"/>
                    <a:pt x="255" y="61"/>
                  </a:cubicBezTo>
                  <a:cubicBezTo>
                    <a:pt x="256" y="52"/>
                    <a:pt x="256" y="52"/>
                    <a:pt x="256" y="52"/>
                  </a:cubicBezTo>
                  <a:cubicBezTo>
                    <a:pt x="256" y="52"/>
                    <a:pt x="269" y="50"/>
                    <a:pt x="268" y="45"/>
                  </a:cubicBezTo>
                  <a:cubicBezTo>
                    <a:pt x="267" y="40"/>
                    <a:pt x="246" y="30"/>
                    <a:pt x="246" y="30"/>
                  </a:cubicBezTo>
                  <a:cubicBezTo>
                    <a:pt x="238" y="31"/>
                    <a:pt x="238" y="31"/>
                    <a:pt x="238" y="31"/>
                  </a:cubicBezTo>
                  <a:cubicBezTo>
                    <a:pt x="238" y="31"/>
                    <a:pt x="228" y="27"/>
                    <a:pt x="225" y="26"/>
                  </a:cubicBezTo>
                  <a:cubicBezTo>
                    <a:pt x="222" y="25"/>
                    <a:pt x="220" y="32"/>
                    <a:pt x="214" y="32"/>
                  </a:cubicBezTo>
                  <a:cubicBezTo>
                    <a:pt x="208" y="32"/>
                    <a:pt x="205" y="29"/>
                    <a:pt x="194" y="20"/>
                  </a:cubicBezTo>
                  <a:cubicBezTo>
                    <a:pt x="183" y="11"/>
                    <a:pt x="181" y="6"/>
                    <a:pt x="166" y="3"/>
                  </a:cubicBezTo>
                  <a:cubicBezTo>
                    <a:pt x="151" y="0"/>
                    <a:pt x="145" y="4"/>
                    <a:pt x="145" y="4"/>
                  </a:cubicBezTo>
                  <a:cubicBezTo>
                    <a:pt x="124" y="10"/>
                    <a:pt x="124" y="10"/>
                    <a:pt x="124" y="10"/>
                  </a:cubicBezTo>
                  <a:cubicBezTo>
                    <a:pt x="120" y="10"/>
                    <a:pt x="120" y="10"/>
                    <a:pt x="120" y="10"/>
                  </a:cubicBezTo>
                  <a:cubicBezTo>
                    <a:pt x="119" y="12"/>
                    <a:pt x="119" y="12"/>
                    <a:pt x="119" y="12"/>
                  </a:cubicBezTo>
                  <a:cubicBezTo>
                    <a:pt x="119" y="12"/>
                    <a:pt x="136" y="55"/>
                    <a:pt x="123" y="55"/>
                  </a:cubicBezTo>
                  <a:cubicBezTo>
                    <a:pt x="110" y="55"/>
                    <a:pt x="86" y="52"/>
                    <a:pt x="86" y="52"/>
                  </a:cubicBezTo>
                  <a:cubicBezTo>
                    <a:pt x="79" y="37"/>
                    <a:pt x="79" y="37"/>
                    <a:pt x="79" y="37"/>
                  </a:cubicBezTo>
                  <a:cubicBezTo>
                    <a:pt x="56" y="18"/>
                    <a:pt x="56" y="18"/>
                    <a:pt x="56" y="18"/>
                  </a:cubicBezTo>
                  <a:cubicBezTo>
                    <a:pt x="56" y="18"/>
                    <a:pt x="24" y="23"/>
                    <a:pt x="21" y="30"/>
                  </a:cubicBezTo>
                  <a:cubicBezTo>
                    <a:pt x="18" y="37"/>
                    <a:pt x="16" y="46"/>
                    <a:pt x="16" y="46"/>
                  </a:cubicBezTo>
                  <a:cubicBezTo>
                    <a:pt x="16" y="46"/>
                    <a:pt x="0" y="64"/>
                    <a:pt x="0" y="69"/>
                  </a:cubicBezTo>
                  <a:cubicBezTo>
                    <a:pt x="0" y="74"/>
                    <a:pt x="6" y="104"/>
                    <a:pt x="6" y="104"/>
                  </a:cubicBezTo>
                  <a:cubicBezTo>
                    <a:pt x="6" y="104"/>
                    <a:pt x="5" y="101"/>
                    <a:pt x="5" y="97"/>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480" name="Freeform 272">
              <a:extLst>
                <a:ext uri="{FF2B5EF4-FFF2-40B4-BE49-F238E27FC236}">
                  <a16:creationId xmlns:a16="http://schemas.microsoft.com/office/drawing/2014/main" id="{354D95AB-E839-40BE-B320-A4962F1FBE2E}"/>
                </a:ext>
              </a:extLst>
            </p:cNvPr>
            <p:cNvSpPr>
              <a:spLocks/>
            </p:cNvSpPr>
            <p:nvPr/>
          </p:nvSpPr>
          <p:spPr bwMode="gray">
            <a:xfrm>
              <a:off x="5329098" y="342347"/>
              <a:ext cx="286289" cy="307868"/>
            </a:xfrm>
            <a:custGeom>
              <a:avLst/>
              <a:gdLst>
                <a:gd name="T0" fmla="*/ 88 w 422"/>
                <a:gd name="T1" fmla="*/ 64 h 480"/>
                <a:gd name="T2" fmla="*/ 64 w 422"/>
                <a:gd name="T3" fmla="*/ 59 h 480"/>
                <a:gd name="T4" fmla="*/ 40 w 422"/>
                <a:gd name="T5" fmla="*/ 47 h 480"/>
                <a:gd name="T6" fmla="*/ 16 w 422"/>
                <a:gd name="T7" fmla="*/ 36 h 480"/>
                <a:gd name="T8" fmla="*/ 2 w 422"/>
                <a:gd name="T9" fmla="*/ 40 h 480"/>
                <a:gd name="T10" fmla="*/ 17 w 422"/>
                <a:gd name="T11" fmla="*/ 56 h 480"/>
                <a:gd name="T12" fmla="*/ 48 w 422"/>
                <a:gd name="T13" fmla="*/ 72 h 480"/>
                <a:gd name="T14" fmla="*/ 92 w 422"/>
                <a:gd name="T15" fmla="*/ 85 h 480"/>
                <a:gd name="T16" fmla="*/ 103 w 422"/>
                <a:gd name="T17" fmla="*/ 114 h 480"/>
                <a:gd name="T18" fmla="*/ 107 w 422"/>
                <a:gd name="T19" fmla="*/ 132 h 480"/>
                <a:gd name="T20" fmla="*/ 113 w 422"/>
                <a:gd name="T21" fmla="*/ 165 h 480"/>
                <a:gd name="T22" fmla="*/ 138 w 422"/>
                <a:gd name="T23" fmla="*/ 204 h 480"/>
                <a:gd name="T24" fmla="*/ 179 w 422"/>
                <a:gd name="T25" fmla="*/ 217 h 480"/>
                <a:gd name="T26" fmla="*/ 167 w 422"/>
                <a:gd name="T27" fmla="*/ 234 h 480"/>
                <a:gd name="T28" fmla="*/ 119 w 422"/>
                <a:gd name="T29" fmla="*/ 283 h 480"/>
                <a:gd name="T30" fmla="*/ 81 w 422"/>
                <a:gd name="T31" fmla="*/ 309 h 480"/>
                <a:gd name="T32" fmla="*/ 45 w 422"/>
                <a:gd name="T33" fmla="*/ 336 h 480"/>
                <a:gd name="T34" fmla="*/ 49 w 422"/>
                <a:gd name="T35" fmla="*/ 364 h 480"/>
                <a:gd name="T36" fmla="*/ 62 w 422"/>
                <a:gd name="T37" fmla="*/ 393 h 480"/>
                <a:gd name="T38" fmla="*/ 71 w 422"/>
                <a:gd name="T39" fmla="*/ 452 h 480"/>
                <a:gd name="T40" fmla="*/ 114 w 422"/>
                <a:gd name="T41" fmla="*/ 460 h 480"/>
                <a:gd name="T42" fmla="*/ 180 w 422"/>
                <a:gd name="T43" fmla="*/ 475 h 480"/>
                <a:gd name="T44" fmla="*/ 222 w 422"/>
                <a:gd name="T45" fmla="*/ 465 h 480"/>
                <a:gd name="T46" fmla="*/ 304 w 422"/>
                <a:gd name="T47" fmla="*/ 451 h 480"/>
                <a:gd name="T48" fmla="*/ 305 w 422"/>
                <a:gd name="T49" fmla="*/ 441 h 480"/>
                <a:gd name="T50" fmla="*/ 382 w 422"/>
                <a:gd name="T51" fmla="*/ 381 h 480"/>
                <a:gd name="T52" fmla="*/ 421 w 422"/>
                <a:gd name="T53" fmla="*/ 340 h 480"/>
                <a:gd name="T54" fmla="*/ 360 w 422"/>
                <a:gd name="T55" fmla="*/ 295 h 480"/>
                <a:gd name="T56" fmla="*/ 368 w 422"/>
                <a:gd name="T57" fmla="*/ 265 h 480"/>
                <a:gd name="T58" fmla="*/ 359 w 422"/>
                <a:gd name="T59" fmla="*/ 247 h 480"/>
                <a:gd name="T60" fmla="*/ 339 w 422"/>
                <a:gd name="T61" fmla="*/ 228 h 480"/>
                <a:gd name="T62" fmla="*/ 337 w 422"/>
                <a:gd name="T63" fmla="*/ 202 h 480"/>
                <a:gd name="T64" fmla="*/ 312 w 422"/>
                <a:gd name="T65" fmla="*/ 156 h 480"/>
                <a:gd name="T66" fmla="*/ 316 w 422"/>
                <a:gd name="T67" fmla="*/ 133 h 480"/>
                <a:gd name="T68" fmla="*/ 312 w 422"/>
                <a:gd name="T69" fmla="*/ 98 h 480"/>
                <a:gd name="T70" fmla="*/ 275 w 422"/>
                <a:gd name="T71" fmla="*/ 82 h 480"/>
                <a:gd name="T72" fmla="*/ 282 w 422"/>
                <a:gd name="T73" fmla="*/ 62 h 480"/>
                <a:gd name="T74" fmla="*/ 280 w 422"/>
                <a:gd name="T75" fmla="*/ 36 h 480"/>
                <a:gd name="T76" fmla="*/ 271 w 422"/>
                <a:gd name="T77" fmla="*/ 13 h 480"/>
                <a:gd name="T78" fmla="*/ 240 w 422"/>
                <a:gd name="T79" fmla="*/ 1 h 480"/>
                <a:gd name="T80" fmla="*/ 198 w 422"/>
                <a:gd name="T81" fmla="*/ 5 h 480"/>
                <a:gd name="T82" fmla="*/ 173 w 422"/>
                <a:gd name="T83" fmla="*/ 30 h 480"/>
                <a:gd name="T84" fmla="*/ 157 w 422"/>
                <a:gd name="T85" fmla="*/ 50 h 480"/>
                <a:gd name="T86" fmla="*/ 123 w 422"/>
                <a:gd name="T87" fmla="*/ 56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22" h="480">
                  <a:moveTo>
                    <a:pt x="107" y="59"/>
                  </a:moveTo>
                  <a:cubicBezTo>
                    <a:pt x="107" y="59"/>
                    <a:pt x="98" y="67"/>
                    <a:pt x="88" y="64"/>
                  </a:cubicBezTo>
                  <a:cubicBezTo>
                    <a:pt x="78" y="61"/>
                    <a:pt x="78" y="61"/>
                    <a:pt x="78" y="61"/>
                  </a:cubicBezTo>
                  <a:cubicBezTo>
                    <a:pt x="78" y="61"/>
                    <a:pt x="78" y="60"/>
                    <a:pt x="64" y="59"/>
                  </a:cubicBezTo>
                  <a:cubicBezTo>
                    <a:pt x="50" y="58"/>
                    <a:pt x="49" y="48"/>
                    <a:pt x="49" y="48"/>
                  </a:cubicBezTo>
                  <a:cubicBezTo>
                    <a:pt x="40" y="47"/>
                    <a:pt x="40" y="47"/>
                    <a:pt x="40" y="47"/>
                  </a:cubicBezTo>
                  <a:cubicBezTo>
                    <a:pt x="40" y="47"/>
                    <a:pt x="31" y="33"/>
                    <a:pt x="27" y="33"/>
                  </a:cubicBezTo>
                  <a:cubicBezTo>
                    <a:pt x="23" y="33"/>
                    <a:pt x="16" y="36"/>
                    <a:pt x="16" y="36"/>
                  </a:cubicBezTo>
                  <a:cubicBezTo>
                    <a:pt x="14" y="45"/>
                    <a:pt x="14" y="45"/>
                    <a:pt x="14" y="45"/>
                  </a:cubicBezTo>
                  <a:cubicBezTo>
                    <a:pt x="2" y="40"/>
                    <a:pt x="2" y="40"/>
                    <a:pt x="2" y="40"/>
                  </a:cubicBezTo>
                  <a:cubicBezTo>
                    <a:pt x="0" y="45"/>
                    <a:pt x="0" y="45"/>
                    <a:pt x="0" y="45"/>
                  </a:cubicBezTo>
                  <a:cubicBezTo>
                    <a:pt x="0" y="45"/>
                    <a:pt x="7" y="52"/>
                    <a:pt x="17" y="56"/>
                  </a:cubicBezTo>
                  <a:cubicBezTo>
                    <a:pt x="27" y="60"/>
                    <a:pt x="40" y="64"/>
                    <a:pt x="40" y="64"/>
                  </a:cubicBezTo>
                  <a:cubicBezTo>
                    <a:pt x="48" y="72"/>
                    <a:pt x="48" y="72"/>
                    <a:pt x="48" y="72"/>
                  </a:cubicBezTo>
                  <a:cubicBezTo>
                    <a:pt x="70" y="73"/>
                    <a:pt x="70" y="73"/>
                    <a:pt x="70" y="73"/>
                  </a:cubicBezTo>
                  <a:cubicBezTo>
                    <a:pt x="92" y="85"/>
                    <a:pt x="92" y="85"/>
                    <a:pt x="92" y="85"/>
                  </a:cubicBezTo>
                  <a:cubicBezTo>
                    <a:pt x="92" y="85"/>
                    <a:pt x="110" y="90"/>
                    <a:pt x="109" y="95"/>
                  </a:cubicBezTo>
                  <a:cubicBezTo>
                    <a:pt x="108" y="100"/>
                    <a:pt x="103" y="114"/>
                    <a:pt x="103" y="114"/>
                  </a:cubicBezTo>
                  <a:cubicBezTo>
                    <a:pt x="111" y="119"/>
                    <a:pt x="111" y="119"/>
                    <a:pt x="111" y="119"/>
                  </a:cubicBezTo>
                  <a:cubicBezTo>
                    <a:pt x="107" y="132"/>
                    <a:pt x="107" y="132"/>
                    <a:pt x="107" y="132"/>
                  </a:cubicBezTo>
                  <a:cubicBezTo>
                    <a:pt x="124" y="142"/>
                    <a:pt x="124" y="142"/>
                    <a:pt x="124" y="142"/>
                  </a:cubicBezTo>
                  <a:cubicBezTo>
                    <a:pt x="124" y="142"/>
                    <a:pt x="111" y="157"/>
                    <a:pt x="113" y="165"/>
                  </a:cubicBezTo>
                  <a:cubicBezTo>
                    <a:pt x="115" y="173"/>
                    <a:pt x="130" y="183"/>
                    <a:pt x="130" y="183"/>
                  </a:cubicBezTo>
                  <a:cubicBezTo>
                    <a:pt x="138" y="204"/>
                    <a:pt x="138" y="204"/>
                    <a:pt x="138" y="204"/>
                  </a:cubicBezTo>
                  <a:cubicBezTo>
                    <a:pt x="148" y="198"/>
                    <a:pt x="148" y="198"/>
                    <a:pt x="148" y="198"/>
                  </a:cubicBezTo>
                  <a:cubicBezTo>
                    <a:pt x="148" y="198"/>
                    <a:pt x="177" y="205"/>
                    <a:pt x="179" y="217"/>
                  </a:cubicBezTo>
                  <a:cubicBezTo>
                    <a:pt x="181" y="229"/>
                    <a:pt x="182" y="239"/>
                    <a:pt x="182" y="239"/>
                  </a:cubicBezTo>
                  <a:cubicBezTo>
                    <a:pt x="182" y="239"/>
                    <a:pt x="170" y="233"/>
                    <a:pt x="167" y="234"/>
                  </a:cubicBezTo>
                  <a:cubicBezTo>
                    <a:pt x="164" y="235"/>
                    <a:pt x="142" y="260"/>
                    <a:pt x="142" y="260"/>
                  </a:cubicBezTo>
                  <a:cubicBezTo>
                    <a:pt x="119" y="283"/>
                    <a:pt x="119" y="283"/>
                    <a:pt x="119" y="283"/>
                  </a:cubicBezTo>
                  <a:cubicBezTo>
                    <a:pt x="96" y="288"/>
                    <a:pt x="96" y="288"/>
                    <a:pt x="96" y="288"/>
                  </a:cubicBezTo>
                  <a:cubicBezTo>
                    <a:pt x="96" y="288"/>
                    <a:pt x="81" y="300"/>
                    <a:pt x="81" y="309"/>
                  </a:cubicBezTo>
                  <a:cubicBezTo>
                    <a:pt x="81" y="318"/>
                    <a:pt x="61" y="318"/>
                    <a:pt x="61" y="318"/>
                  </a:cubicBezTo>
                  <a:cubicBezTo>
                    <a:pt x="45" y="336"/>
                    <a:pt x="45" y="336"/>
                    <a:pt x="45" y="336"/>
                  </a:cubicBezTo>
                  <a:cubicBezTo>
                    <a:pt x="45" y="336"/>
                    <a:pt x="41" y="348"/>
                    <a:pt x="43" y="352"/>
                  </a:cubicBezTo>
                  <a:cubicBezTo>
                    <a:pt x="45" y="356"/>
                    <a:pt x="49" y="364"/>
                    <a:pt x="49" y="364"/>
                  </a:cubicBezTo>
                  <a:cubicBezTo>
                    <a:pt x="47" y="380"/>
                    <a:pt x="47" y="380"/>
                    <a:pt x="47" y="380"/>
                  </a:cubicBezTo>
                  <a:cubicBezTo>
                    <a:pt x="62" y="393"/>
                    <a:pt x="62" y="393"/>
                    <a:pt x="62" y="393"/>
                  </a:cubicBezTo>
                  <a:cubicBezTo>
                    <a:pt x="62" y="393"/>
                    <a:pt x="52" y="425"/>
                    <a:pt x="56" y="434"/>
                  </a:cubicBezTo>
                  <a:cubicBezTo>
                    <a:pt x="60" y="443"/>
                    <a:pt x="71" y="452"/>
                    <a:pt x="71" y="452"/>
                  </a:cubicBezTo>
                  <a:cubicBezTo>
                    <a:pt x="86" y="463"/>
                    <a:pt x="86" y="463"/>
                    <a:pt x="86" y="463"/>
                  </a:cubicBezTo>
                  <a:cubicBezTo>
                    <a:pt x="114" y="460"/>
                    <a:pt x="114" y="460"/>
                    <a:pt x="114" y="460"/>
                  </a:cubicBezTo>
                  <a:cubicBezTo>
                    <a:pt x="114" y="460"/>
                    <a:pt x="105" y="476"/>
                    <a:pt x="125" y="478"/>
                  </a:cubicBezTo>
                  <a:cubicBezTo>
                    <a:pt x="145" y="480"/>
                    <a:pt x="180" y="475"/>
                    <a:pt x="180" y="475"/>
                  </a:cubicBezTo>
                  <a:cubicBezTo>
                    <a:pt x="199" y="465"/>
                    <a:pt x="199" y="465"/>
                    <a:pt x="199" y="465"/>
                  </a:cubicBezTo>
                  <a:cubicBezTo>
                    <a:pt x="222" y="465"/>
                    <a:pt x="222" y="465"/>
                    <a:pt x="222" y="465"/>
                  </a:cubicBezTo>
                  <a:cubicBezTo>
                    <a:pt x="255" y="448"/>
                    <a:pt x="255" y="448"/>
                    <a:pt x="255" y="448"/>
                  </a:cubicBezTo>
                  <a:cubicBezTo>
                    <a:pt x="304" y="451"/>
                    <a:pt x="304" y="451"/>
                    <a:pt x="304" y="451"/>
                  </a:cubicBezTo>
                  <a:cubicBezTo>
                    <a:pt x="309" y="448"/>
                    <a:pt x="309" y="448"/>
                    <a:pt x="309" y="448"/>
                  </a:cubicBezTo>
                  <a:cubicBezTo>
                    <a:pt x="305" y="441"/>
                    <a:pt x="305" y="441"/>
                    <a:pt x="305" y="441"/>
                  </a:cubicBezTo>
                  <a:cubicBezTo>
                    <a:pt x="305" y="441"/>
                    <a:pt x="346" y="417"/>
                    <a:pt x="350" y="412"/>
                  </a:cubicBezTo>
                  <a:cubicBezTo>
                    <a:pt x="354" y="407"/>
                    <a:pt x="382" y="381"/>
                    <a:pt x="382" y="381"/>
                  </a:cubicBezTo>
                  <a:cubicBezTo>
                    <a:pt x="382" y="381"/>
                    <a:pt x="403" y="369"/>
                    <a:pt x="407" y="362"/>
                  </a:cubicBezTo>
                  <a:cubicBezTo>
                    <a:pt x="411" y="355"/>
                    <a:pt x="420" y="348"/>
                    <a:pt x="421" y="340"/>
                  </a:cubicBezTo>
                  <a:cubicBezTo>
                    <a:pt x="422" y="332"/>
                    <a:pt x="399" y="313"/>
                    <a:pt x="399" y="313"/>
                  </a:cubicBezTo>
                  <a:cubicBezTo>
                    <a:pt x="360" y="295"/>
                    <a:pt x="360" y="295"/>
                    <a:pt x="360" y="295"/>
                  </a:cubicBezTo>
                  <a:cubicBezTo>
                    <a:pt x="360" y="295"/>
                    <a:pt x="381" y="281"/>
                    <a:pt x="380" y="277"/>
                  </a:cubicBezTo>
                  <a:cubicBezTo>
                    <a:pt x="379" y="273"/>
                    <a:pt x="368" y="265"/>
                    <a:pt x="368" y="265"/>
                  </a:cubicBezTo>
                  <a:cubicBezTo>
                    <a:pt x="353" y="262"/>
                    <a:pt x="353" y="262"/>
                    <a:pt x="353" y="262"/>
                  </a:cubicBezTo>
                  <a:cubicBezTo>
                    <a:pt x="353" y="262"/>
                    <a:pt x="360" y="251"/>
                    <a:pt x="359" y="247"/>
                  </a:cubicBezTo>
                  <a:cubicBezTo>
                    <a:pt x="358" y="243"/>
                    <a:pt x="339" y="238"/>
                    <a:pt x="339" y="238"/>
                  </a:cubicBezTo>
                  <a:cubicBezTo>
                    <a:pt x="339" y="228"/>
                    <a:pt x="339" y="228"/>
                    <a:pt x="339" y="228"/>
                  </a:cubicBezTo>
                  <a:cubicBezTo>
                    <a:pt x="332" y="222"/>
                    <a:pt x="332" y="222"/>
                    <a:pt x="332" y="222"/>
                  </a:cubicBezTo>
                  <a:cubicBezTo>
                    <a:pt x="337" y="202"/>
                    <a:pt x="337" y="202"/>
                    <a:pt x="337" y="202"/>
                  </a:cubicBezTo>
                  <a:cubicBezTo>
                    <a:pt x="337" y="202"/>
                    <a:pt x="365" y="208"/>
                    <a:pt x="359" y="198"/>
                  </a:cubicBezTo>
                  <a:cubicBezTo>
                    <a:pt x="353" y="188"/>
                    <a:pt x="312" y="156"/>
                    <a:pt x="312" y="156"/>
                  </a:cubicBezTo>
                  <a:cubicBezTo>
                    <a:pt x="299" y="145"/>
                    <a:pt x="299" y="145"/>
                    <a:pt x="299" y="145"/>
                  </a:cubicBezTo>
                  <a:cubicBezTo>
                    <a:pt x="299" y="145"/>
                    <a:pt x="316" y="138"/>
                    <a:pt x="316" y="133"/>
                  </a:cubicBezTo>
                  <a:cubicBezTo>
                    <a:pt x="316" y="128"/>
                    <a:pt x="340" y="126"/>
                    <a:pt x="331" y="116"/>
                  </a:cubicBezTo>
                  <a:cubicBezTo>
                    <a:pt x="322" y="106"/>
                    <a:pt x="316" y="103"/>
                    <a:pt x="312" y="98"/>
                  </a:cubicBezTo>
                  <a:cubicBezTo>
                    <a:pt x="308" y="93"/>
                    <a:pt x="303" y="86"/>
                    <a:pt x="297" y="86"/>
                  </a:cubicBezTo>
                  <a:cubicBezTo>
                    <a:pt x="291" y="86"/>
                    <a:pt x="277" y="94"/>
                    <a:pt x="275" y="82"/>
                  </a:cubicBezTo>
                  <a:cubicBezTo>
                    <a:pt x="273" y="70"/>
                    <a:pt x="270" y="67"/>
                    <a:pt x="270" y="67"/>
                  </a:cubicBezTo>
                  <a:cubicBezTo>
                    <a:pt x="270" y="67"/>
                    <a:pt x="283" y="65"/>
                    <a:pt x="282" y="62"/>
                  </a:cubicBezTo>
                  <a:cubicBezTo>
                    <a:pt x="281" y="59"/>
                    <a:pt x="277" y="53"/>
                    <a:pt x="277" y="53"/>
                  </a:cubicBezTo>
                  <a:cubicBezTo>
                    <a:pt x="280" y="36"/>
                    <a:pt x="280" y="36"/>
                    <a:pt x="280" y="36"/>
                  </a:cubicBezTo>
                  <a:cubicBezTo>
                    <a:pt x="280" y="36"/>
                    <a:pt x="293" y="48"/>
                    <a:pt x="289" y="31"/>
                  </a:cubicBezTo>
                  <a:cubicBezTo>
                    <a:pt x="285" y="14"/>
                    <a:pt x="271" y="13"/>
                    <a:pt x="271" y="13"/>
                  </a:cubicBezTo>
                  <a:cubicBezTo>
                    <a:pt x="248" y="8"/>
                    <a:pt x="248" y="8"/>
                    <a:pt x="248" y="8"/>
                  </a:cubicBezTo>
                  <a:cubicBezTo>
                    <a:pt x="248" y="8"/>
                    <a:pt x="255" y="2"/>
                    <a:pt x="240" y="1"/>
                  </a:cubicBezTo>
                  <a:cubicBezTo>
                    <a:pt x="225" y="0"/>
                    <a:pt x="214" y="7"/>
                    <a:pt x="214" y="7"/>
                  </a:cubicBezTo>
                  <a:cubicBezTo>
                    <a:pt x="214" y="7"/>
                    <a:pt x="203" y="6"/>
                    <a:pt x="198" y="5"/>
                  </a:cubicBezTo>
                  <a:cubicBezTo>
                    <a:pt x="193" y="4"/>
                    <a:pt x="176" y="13"/>
                    <a:pt x="176" y="13"/>
                  </a:cubicBezTo>
                  <a:cubicBezTo>
                    <a:pt x="176" y="13"/>
                    <a:pt x="172" y="26"/>
                    <a:pt x="173" y="30"/>
                  </a:cubicBezTo>
                  <a:cubicBezTo>
                    <a:pt x="174" y="34"/>
                    <a:pt x="173" y="50"/>
                    <a:pt x="173" y="50"/>
                  </a:cubicBezTo>
                  <a:cubicBezTo>
                    <a:pt x="173" y="50"/>
                    <a:pt x="164" y="45"/>
                    <a:pt x="157" y="50"/>
                  </a:cubicBezTo>
                  <a:cubicBezTo>
                    <a:pt x="150" y="55"/>
                    <a:pt x="156" y="65"/>
                    <a:pt x="148" y="65"/>
                  </a:cubicBezTo>
                  <a:cubicBezTo>
                    <a:pt x="140" y="65"/>
                    <a:pt x="128" y="57"/>
                    <a:pt x="123" y="56"/>
                  </a:cubicBezTo>
                  <a:cubicBezTo>
                    <a:pt x="118" y="55"/>
                    <a:pt x="107" y="59"/>
                    <a:pt x="107" y="59"/>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481" name="Freeform 273">
              <a:extLst>
                <a:ext uri="{FF2B5EF4-FFF2-40B4-BE49-F238E27FC236}">
                  <a16:creationId xmlns:a16="http://schemas.microsoft.com/office/drawing/2014/main" id="{E2C1B004-9401-46DB-9B19-8513994C23E4}"/>
                </a:ext>
              </a:extLst>
            </p:cNvPr>
            <p:cNvSpPr>
              <a:spLocks/>
            </p:cNvSpPr>
            <p:nvPr/>
          </p:nvSpPr>
          <p:spPr bwMode="gray">
            <a:xfrm>
              <a:off x="5840512" y="1569203"/>
              <a:ext cx="21824" cy="45067"/>
            </a:xfrm>
            <a:custGeom>
              <a:avLst/>
              <a:gdLst>
                <a:gd name="T0" fmla="*/ 21 w 32"/>
                <a:gd name="T1" fmla="*/ 54 h 70"/>
                <a:gd name="T2" fmla="*/ 27 w 32"/>
                <a:gd name="T3" fmla="*/ 56 h 70"/>
                <a:gd name="T4" fmla="*/ 32 w 32"/>
                <a:gd name="T5" fmla="*/ 47 h 70"/>
                <a:gd name="T6" fmla="*/ 31 w 32"/>
                <a:gd name="T7" fmla="*/ 1 h 70"/>
                <a:gd name="T8" fmla="*/ 13 w 32"/>
                <a:gd name="T9" fmla="*/ 2 h 70"/>
                <a:gd name="T10" fmla="*/ 6 w 32"/>
                <a:gd name="T11" fmla="*/ 21 h 70"/>
                <a:gd name="T12" fmla="*/ 6 w 32"/>
                <a:gd name="T13" fmla="*/ 40 h 70"/>
                <a:gd name="T14" fmla="*/ 7 w 32"/>
                <a:gd name="T15" fmla="*/ 62 h 70"/>
                <a:gd name="T16" fmla="*/ 21 w 32"/>
                <a:gd name="T17" fmla="*/ 5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70">
                  <a:moveTo>
                    <a:pt x="21" y="54"/>
                  </a:moveTo>
                  <a:cubicBezTo>
                    <a:pt x="22" y="53"/>
                    <a:pt x="24" y="54"/>
                    <a:pt x="27" y="56"/>
                  </a:cubicBezTo>
                  <a:cubicBezTo>
                    <a:pt x="29" y="51"/>
                    <a:pt x="32" y="47"/>
                    <a:pt x="32" y="47"/>
                  </a:cubicBezTo>
                  <a:cubicBezTo>
                    <a:pt x="31" y="1"/>
                    <a:pt x="31" y="1"/>
                    <a:pt x="31" y="1"/>
                  </a:cubicBezTo>
                  <a:cubicBezTo>
                    <a:pt x="26" y="0"/>
                    <a:pt x="17" y="0"/>
                    <a:pt x="13" y="2"/>
                  </a:cubicBezTo>
                  <a:cubicBezTo>
                    <a:pt x="7" y="6"/>
                    <a:pt x="6" y="21"/>
                    <a:pt x="6" y="21"/>
                  </a:cubicBezTo>
                  <a:cubicBezTo>
                    <a:pt x="6" y="21"/>
                    <a:pt x="7" y="34"/>
                    <a:pt x="6" y="40"/>
                  </a:cubicBezTo>
                  <a:cubicBezTo>
                    <a:pt x="5" y="46"/>
                    <a:pt x="0" y="54"/>
                    <a:pt x="7" y="62"/>
                  </a:cubicBezTo>
                  <a:cubicBezTo>
                    <a:pt x="13" y="70"/>
                    <a:pt x="18" y="55"/>
                    <a:pt x="21" y="54"/>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482" name="Freeform 274">
              <a:extLst>
                <a:ext uri="{FF2B5EF4-FFF2-40B4-BE49-F238E27FC236}">
                  <a16:creationId xmlns:a16="http://schemas.microsoft.com/office/drawing/2014/main" id="{61C2F431-54F0-4DBB-9E88-357656514D1B}"/>
                </a:ext>
              </a:extLst>
            </p:cNvPr>
            <p:cNvSpPr>
              <a:spLocks/>
            </p:cNvSpPr>
            <p:nvPr/>
          </p:nvSpPr>
          <p:spPr bwMode="gray">
            <a:xfrm>
              <a:off x="5850850" y="1539882"/>
              <a:ext cx="126059" cy="151220"/>
            </a:xfrm>
            <a:custGeom>
              <a:avLst/>
              <a:gdLst>
                <a:gd name="T0" fmla="*/ 169 w 186"/>
                <a:gd name="T1" fmla="*/ 44 h 236"/>
                <a:gd name="T2" fmla="*/ 169 w 186"/>
                <a:gd name="T3" fmla="*/ 30 h 236"/>
                <a:gd name="T4" fmla="*/ 157 w 186"/>
                <a:gd name="T5" fmla="*/ 0 h 236"/>
                <a:gd name="T6" fmla="*/ 73 w 186"/>
                <a:gd name="T7" fmla="*/ 57 h 236"/>
                <a:gd name="T8" fmla="*/ 45 w 186"/>
                <a:gd name="T9" fmla="*/ 45 h 236"/>
                <a:gd name="T10" fmla="*/ 23 w 186"/>
                <a:gd name="T11" fmla="*/ 33 h 236"/>
                <a:gd name="T12" fmla="*/ 19 w 186"/>
                <a:gd name="T13" fmla="*/ 36 h 236"/>
                <a:gd name="T14" fmla="*/ 16 w 186"/>
                <a:gd name="T15" fmla="*/ 45 h 236"/>
                <a:gd name="T16" fmla="*/ 17 w 186"/>
                <a:gd name="T17" fmla="*/ 93 h 236"/>
                <a:gd name="T18" fmla="*/ 10 w 186"/>
                <a:gd name="T19" fmla="*/ 107 h 236"/>
                <a:gd name="T20" fmla="*/ 16 w 186"/>
                <a:gd name="T21" fmla="*/ 115 h 236"/>
                <a:gd name="T22" fmla="*/ 15 w 186"/>
                <a:gd name="T23" fmla="*/ 134 h 236"/>
                <a:gd name="T24" fmla="*/ 4 w 186"/>
                <a:gd name="T25" fmla="*/ 158 h 236"/>
                <a:gd name="T26" fmla="*/ 0 w 186"/>
                <a:gd name="T27" fmla="*/ 211 h 236"/>
                <a:gd name="T28" fmla="*/ 2 w 186"/>
                <a:gd name="T29" fmla="*/ 217 h 236"/>
                <a:gd name="T30" fmla="*/ 3 w 186"/>
                <a:gd name="T31" fmla="*/ 217 h 236"/>
                <a:gd name="T32" fmla="*/ 55 w 186"/>
                <a:gd name="T33" fmla="*/ 225 h 236"/>
                <a:gd name="T34" fmla="*/ 77 w 186"/>
                <a:gd name="T35" fmla="*/ 185 h 236"/>
                <a:gd name="T36" fmla="*/ 108 w 186"/>
                <a:gd name="T37" fmla="*/ 180 h 236"/>
                <a:gd name="T38" fmla="*/ 122 w 186"/>
                <a:gd name="T39" fmla="*/ 147 h 236"/>
                <a:gd name="T40" fmla="*/ 96 w 186"/>
                <a:gd name="T41" fmla="*/ 108 h 236"/>
                <a:gd name="T42" fmla="*/ 64 w 186"/>
                <a:gd name="T43" fmla="*/ 100 h 236"/>
                <a:gd name="T44" fmla="*/ 96 w 186"/>
                <a:gd name="T45" fmla="*/ 94 h 236"/>
                <a:gd name="T46" fmla="*/ 124 w 186"/>
                <a:gd name="T47" fmla="*/ 94 h 236"/>
                <a:gd name="T48" fmla="*/ 132 w 186"/>
                <a:gd name="T49" fmla="*/ 80 h 236"/>
                <a:gd name="T50" fmla="*/ 166 w 186"/>
                <a:gd name="T51" fmla="*/ 76 h 236"/>
                <a:gd name="T52" fmla="*/ 185 w 186"/>
                <a:gd name="T53" fmla="*/ 62 h 236"/>
                <a:gd name="T54" fmla="*/ 186 w 186"/>
                <a:gd name="T55" fmla="*/ 53 h 236"/>
                <a:gd name="T56" fmla="*/ 169 w 186"/>
                <a:gd name="T57" fmla="*/ 44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86" h="236">
                  <a:moveTo>
                    <a:pt x="169" y="44"/>
                  </a:moveTo>
                  <a:cubicBezTo>
                    <a:pt x="169" y="30"/>
                    <a:pt x="169" y="30"/>
                    <a:pt x="169" y="30"/>
                  </a:cubicBezTo>
                  <a:cubicBezTo>
                    <a:pt x="157" y="0"/>
                    <a:pt x="157" y="0"/>
                    <a:pt x="157" y="0"/>
                  </a:cubicBezTo>
                  <a:cubicBezTo>
                    <a:pt x="154" y="2"/>
                    <a:pt x="94" y="57"/>
                    <a:pt x="73" y="57"/>
                  </a:cubicBezTo>
                  <a:cubicBezTo>
                    <a:pt x="52" y="57"/>
                    <a:pt x="45" y="45"/>
                    <a:pt x="45" y="45"/>
                  </a:cubicBezTo>
                  <a:cubicBezTo>
                    <a:pt x="23" y="33"/>
                    <a:pt x="23" y="33"/>
                    <a:pt x="23" y="33"/>
                  </a:cubicBezTo>
                  <a:cubicBezTo>
                    <a:pt x="19" y="36"/>
                    <a:pt x="19" y="36"/>
                    <a:pt x="19" y="36"/>
                  </a:cubicBezTo>
                  <a:cubicBezTo>
                    <a:pt x="16" y="45"/>
                    <a:pt x="16" y="45"/>
                    <a:pt x="16" y="45"/>
                  </a:cubicBezTo>
                  <a:cubicBezTo>
                    <a:pt x="17" y="93"/>
                    <a:pt x="17" y="93"/>
                    <a:pt x="17" y="93"/>
                  </a:cubicBezTo>
                  <a:cubicBezTo>
                    <a:pt x="17" y="93"/>
                    <a:pt x="10" y="103"/>
                    <a:pt x="10" y="107"/>
                  </a:cubicBezTo>
                  <a:cubicBezTo>
                    <a:pt x="10" y="111"/>
                    <a:pt x="12" y="111"/>
                    <a:pt x="16" y="115"/>
                  </a:cubicBezTo>
                  <a:cubicBezTo>
                    <a:pt x="20" y="119"/>
                    <a:pt x="18" y="127"/>
                    <a:pt x="15" y="134"/>
                  </a:cubicBezTo>
                  <a:cubicBezTo>
                    <a:pt x="12" y="141"/>
                    <a:pt x="4" y="146"/>
                    <a:pt x="4" y="158"/>
                  </a:cubicBezTo>
                  <a:cubicBezTo>
                    <a:pt x="4" y="170"/>
                    <a:pt x="0" y="211"/>
                    <a:pt x="0" y="211"/>
                  </a:cubicBezTo>
                  <a:cubicBezTo>
                    <a:pt x="2" y="217"/>
                    <a:pt x="2" y="217"/>
                    <a:pt x="2" y="217"/>
                  </a:cubicBezTo>
                  <a:cubicBezTo>
                    <a:pt x="2" y="217"/>
                    <a:pt x="3" y="217"/>
                    <a:pt x="3" y="217"/>
                  </a:cubicBezTo>
                  <a:cubicBezTo>
                    <a:pt x="10" y="216"/>
                    <a:pt x="41" y="236"/>
                    <a:pt x="55" y="225"/>
                  </a:cubicBezTo>
                  <a:cubicBezTo>
                    <a:pt x="69" y="214"/>
                    <a:pt x="71" y="187"/>
                    <a:pt x="77" y="185"/>
                  </a:cubicBezTo>
                  <a:cubicBezTo>
                    <a:pt x="83" y="183"/>
                    <a:pt x="100" y="187"/>
                    <a:pt x="108" y="180"/>
                  </a:cubicBezTo>
                  <a:cubicBezTo>
                    <a:pt x="116" y="173"/>
                    <a:pt x="122" y="147"/>
                    <a:pt x="122" y="147"/>
                  </a:cubicBezTo>
                  <a:cubicBezTo>
                    <a:pt x="122" y="147"/>
                    <a:pt x="103" y="112"/>
                    <a:pt x="96" y="108"/>
                  </a:cubicBezTo>
                  <a:cubicBezTo>
                    <a:pt x="89" y="104"/>
                    <a:pt x="57" y="107"/>
                    <a:pt x="64" y="100"/>
                  </a:cubicBezTo>
                  <a:cubicBezTo>
                    <a:pt x="71" y="93"/>
                    <a:pt x="96" y="94"/>
                    <a:pt x="96" y="94"/>
                  </a:cubicBezTo>
                  <a:cubicBezTo>
                    <a:pt x="124" y="94"/>
                    <a:pt x="124" y="94"/>
                    <a:pt x="124" y="94"/>
                  </a:cubicBezTo>
                  <a:cubicBezTo>
                    <a:pt x="132" y="80"/>
                    <a:pt x="132" y="80"/>
                    <a:pt x="132" y="80"/>
                  </a:cubicBezTo>
                  <a:cubicBezTo>
                    <a:pt x="132" y="80"/>
                    <a:pt x="160" y="82"/>
                    <a:pt x="166" y="76"/>
                  </a:cubicBezTo>
                  <a:cubicBezTo>
                    <a:pt x="172" y="70"/>
                    <a:pt x="185" y="62"/>
                    <a:pt x="185" y="62"/>
                  </a:cubicBezTo>
                  <a:cubicBezTo>
                    <a:pt x="186" y="53"/>
                    <a:pt x="186" y="53"/>
                    <a:pt x="186" y="53"/>
                  </a:cubicBezTo>
                  <a:lnTo>
                    <a:pt x="169" y="44"/>
                  </a:ln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483" name="Freeform 275">
              <a:extLst>
                <a:ext uri="{FF2B5EF4-FFF2-40B4-BE49-F238E27FC236}">
                  <a16:creationId xmlns:a16="http://schemas.microsoft.com/office/drawing/2014/main" id="{B3E501B7-1D89-4887-811C-EE5858E2EA02}"/>
                </a:ext>
              </a:extLst>
            </p:cNvPr>
            <p:cNvSpPr>
              <a:spLocks/>
            </p:cNvSpPr>
            <p:nvPr/>
          </p:nvSpPr>
          <p:spPr bwMode="gray">
            <a:xfrm>
              <a:off x="5822995" y="1536624"/>
              <a:ext cx="45369" cy="138459"/>
            </a:xfrm>
            <a:custGeom>
              <a:avLst/>
              <a:gdLst>
                <a:gd name="T0" fmla="*/ 0 w 67"/>
                <a:gd name="T1" fmla="*/ 113 h 216"/>
                <a:gd name="T2" fmla="*/ 36 w 67"/>
                <a:gd name="T3" fmla="*/ 206 h 216"/>
                <a:gd name="T4" fmla="*/ 41 w 67"/>
                <a:gd name="T5" fmla="*/ 216 h 216"/>
                <a:gd name="T6" fmla="*/ 45 w 67"/>
                <a:gd name="T7" fmla="*/ 163 h 216"/>
                <a:gd name="T8" fmla="*/ 56 w 67"/>
                <a:gd name="T9" fmla="*/ 139 h 216"/>
                <a:gd name="T10" fmla="*/ 57 w 67"/>
                <a:gd name="T11" fmla="*/ 120 h 216"/>
                <a:gd name="T12" fmla="*/ 51 w 67"/>
                <a:gd name="T13" fmla="*/ 112 h 216"/>
                <a:gd name="T14" fmla="*/ 53 w 67"/>
                <a:gd name="T15" fmla="*/ 107 h 216"/>
                <a:gd name="T16" fmla="*/ 47 w 67"/>
                <a:gd name="T17" fmla="*/ 105 h 216"/>
                <a:gd name="T18" fmla="*/ 33 w 67"/>
                <a:gd name="T19" fmla="*/ 113 h 216"/>
                <a:gd name="T20" fmla="*/ 32 w 67"/>
                <a:gd name="T21" fmla="*/ 91 h 216"/>
                <a:gd name="T22" fmla="*/ 32 w 67"/>
                <a:gd name="T23" fmla="*/ 72 h 216"/>
                <a:gd name="T24" fmla="*/ 39 w 67"/>
                <a:gd name="T25" fmla="*/ 53 h 216"/>
                <a:gd name="T26" fmla="*/ 57 w 67"/>
                <a:gd name="T27" fmla="*/ 52 h 216"/>
                <a:gd name="T28" fmla="*/ 57 w 67"/>
                <a:gd name="T29" fmla="*/ 50 h 216"/>
                <a:gd name="T30" fmla="*/ 60 w 67"/>
                <a:gd name="T31" fmla="*/ 41 h 216"/>
                <a:gd name="T32" fmla="*/ 57 w 67"/>
                <a:gd name="T33" fmla="*/ 11 h 216"/>
                <a:gd name="T34" fmla="*/ 67 w 67"/>
                <a:gd name="T35" fmla="*/ 0 h 216"/>
                <a:gd name="T36" fmla="*/ 52 w 67"/>
                <a:gd name="T37" fmla="*/ 3 h 216"/>
                <a:gd name="T38" fmla="*/ 48 w 67"/>
                <a:gd name="T39" fmla="*/ 20 h 216"/>
                <a:gd name="T40" fmla="*/ 34 w 67"/>
                <a:gd name="T41" fmla="*/ 21 h 216"/>
                <a:gd name="T42" fmla="*/ 27 w 67"/>
                <a:gd name="T43" fmla="*/ 34 h 216"/>
                <a:gd name="T44" fmla="*/ 22 w 67"/>
                <a:gd name="T45" fmla="*/ 39 h 216"/>
                <a:gd name="T46" fmla="*/ 27 w 67"/>
                <a:gd name="T47" fmla="*/ 63 h 216"/>
                <a:gd name="T48" fmla="*/ 13 w 67"/>
                <a:gd name="T49" fmla="*/ 89 h 216"/>
                <a:gd name="T50" fmla="*/ 11 w 67"/>
                <a:gd name="T51" fmla="*/ 105 h 216"/>
                <a:gd name="T52" fmla="*/ 0 w 67"/>
                <a:gd name="T53" fmla="*/ 113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7" h="216">
                  <a:moveTo>
                    <a:pt x="0" y="113"/>
                  </a:moveTo>
                  <a:cubicBezTo>
                    <a:pt x="36" y="206"/>
                    <a:pt x="36" y="206"/>
                    <a:pt x="36" y="206"/>
                  </a:cubicBezTo>
                  <a:cubicBezTo>
                    <a:pt x="41" y="216"/>
                    <a:pt x="41" y="216"/>
                    <a:pt x="41" y="216"/>
                  </a:cubicBezTo>
                  <a:cubicBezTo>
                    <a:pt x="41" y="216"/>
                    <a:pt x="45" y="175"/>
                    <a:pt x="45" y="163"/>
                  </a:cubicBezTo>
                  <a:cubicBezTo>
                    <a:pt x="45" y="151"/>
                    <a:pt x="53" y="146"/>
                    <a:pt x="56" y="139"/>
                  </a:cubicBezTo>
                  <a:cubicBezTo>
                    <a:pt x="59" y="132"/>
                    <a:pt x="61" y="124"/>
                    <a:pt x="57" y="120"/>
                  </a:cubicBezTo>
                  <a:cubicBezTo>
                    <a:pt x="53" y="116"/>
                    <a:pt x="51" y="116"/>
                    <a:pt x="51" y="112"/>
                  </a:cubicBezTo>
                  <a:cubicBezTo>
                    <a:pt x="51" y="111"/>
                    <a:pt x="52" y="109"/>
                    <a:pt x="53" y="107"/>
                  </a:cubicBezTo>
                  <a:cubicBezTo>
                    <a:pt x="50" y="105"/>
                    <a:pt x="48" y="104"/>
                    <a:pt x="47" y="105"/>
                  </a:cubicBezTo>
                  <a:cubicBezTo>
                    <a:pt x="44" y="106"/>
                    <a:pt x="39" y="121"/>
                    <a:pt x="33" y="113"/>
                  </a:cubicBezTo>
                  <a:cubicBezTo>
                    <a:pt x="26" y="105"/>
                    <a:pt x="31" y="97"/>
                    <a:pt x="32" y="91"/>
                  </a:cubicBezTo>
                  <a:cubicBezTo>
                    <a:pt x="33" y="85"/>
                    <a:pt x="32" y="72"/>
                    <a:pt x="32" y="72"/>
                  </a:cubicBezTo>
                  <a:cubicBezTo>
                    <a:pt x="32" y="72"/>
                    <a:pt x="33" y="57"/>
                    <a:pt x="39" y="53"/>
                  </a:cubicBezTo>
                  <a:cubicBezTo>
                    <a:pt x="43" y="51"/>
                    <a:pt x="52" y="51"/>
                    <a:pt x="57" y="52"/>
                  </a:cubicBezTo>
                  <a:cubicBezTo>
                    <a:pt x="57" y="50"/>
                    <a:pt x="57" y="50"/>
                    <a:pt x="57" y="50"/>
                  </a:cubicBezTo>
                  <a:cubicBezTo>
                    <a:pt x="60" y="41"/>
                    <a:pt x="60" y="41"/>
                    <a:pt x="60" y="41"/>
                  </a:cubicBezTo>
                  <a:cubicBezTo>
                    <a:pt x="57" y="11"/>
                    <a:pt x="57" y="11"/>
                    <a:pt x="57" y="11"/>
                  </a:cubicBezTo>
                  <a:cubicBezTo>
                    <a:pt x="67" y="0"/>
                    <a:pt x="67" y="0"/>
                    <a:pt x="67" y="0"/>
                  </a:cubicBezTo>
                  <a:cubicBezTo>
                    <a:pt x="52" y="3"/>
                    <a:pt x="52" y="3"/>
                    <a:pt x="52" y="3"/>
                  </a:cubicBezTo>
                  <a:cubicBezTo>
                    <a:pt x="52" y="3"/>
                    <a:pt x="53" y="13"/>
                    <a:pt x="48" y="20"/>
                  </a:cubicBezTo>
                  <a:cubicBezTo>
                    <a:pt x="43" y="27"/>
                    <a:pt x="34" y="21"/>
                    <a:pt x="34" y="21"/>
                  </a:cubicBezTo>
                  <a:cubicBezTo>
                    <a:pt x="27" y="34"/>
                    <a:pt x="27" y="34"/>
                    <a:pt x="27" y="34"/>
                  </a:cubicBezTo>
                  <a:cubicBezTo>
                    <a:pt x="22" y="39"/>
                    <a:pt x="22" y="39"/>
                    <a:pt x="22" y="39"/>
                  </a:cubicBezTo>
                  <a:cubicBezTo>
                    <a:pt x="23" y="52"/>
                    <a:pt x="27" y="63"/>
                    <a:pt x="27" y="63"/>
                  </a:cubicBezTo>
                  <a:cubicBezTo>
                    <a:pt x="13" y="89"/>
                    <a:pt x="13" y="89"/>
                    <a:pt x="13" y="89"/>
                  </a:cubicBezTo>
                  <a:cubicBezTo>
                    <a:pt x="11" y="105"/>
                    <a:pt x="11" y="105"/>
                    <a:pt x="11" y="105"/>
                  </a:cubicBezTo>
                  <a:lnTo>
                    <a:pt x="0" y="113"/>
                  </a:ln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484" name="Freeform 276">
              <a:extLst>
                <a:ext uri="{FF2B5EF4-FFF2-40B4-BE49-F238E27FC236}">
                  <a16:creationId xmlns:a16="http://schemas.microsoft.com/office/drawing/2014/main" id="{E2FA8DED-00DF-473C-ABED-EEEBD900428A}"/>
                </a:ext>
              </a:extLst>
            </p:cNvPr>
            <p:cNvSpPr>
              <a:spLocks/>
            </p:cNvSpPr>
            <p:nvPr/>
          </p:nvSpPr>
          <p:spPr bwMode="gray">
            <a:xfrm>
              <a:off x="4225008" y="1735354"/>
              <a:ext cx="271931" cy="219906"/>
            </a:xfrm>
            <a:custGeom>
              <a:avLst/>
              <a:gdLst>
                <a:gd name="T0" fmla="*/ 364 w 401"/>
                <a:gd name="T1" fmla="*/ 0 h 343"/>
                <a:gd name="T2" fmla="*/ 192 w 401"/>
                <a:gd name="T3" fmla="*/ 0 h 343"/>
                <a:gd name="T4" fmla="*/ 186 w 401"/>
                <a:gd name="T5" fmla="*/ 12 h 343"/>
                <a:gd name="T6" fmla="*/ 176 w 401"/>
                <a:gd name="T7" fmla="*/ 47 h 343"/>
                <a:gd name="T8" fmla="*/ 160 w 401"/>
                <a:gd name="T9" fmla="*/ 61 h 343"/>
                <a:gd name="T10" fmla="*/ 140 w 401"/>
                <a:gd name="T11" fmla="*/ 66 h 343"/>
                <a:gd name="T12" fmla="*/ 125 w 401"/>
                <a:gd name="T13" fmla="*/ 72 h 343"/>
                <a:gd name="T14" fmla="*/ 123 w 401"/>
                <a:gd name="T15" fmla="*/ 97 h 343"/>
                <a:gd name="T16" fmla="*/ 104 w 401"/>
                <a:gd name="T17" fmla="*/ 122 h 343"/>
                <a:gd name="T18" fmla="*/ 108 w 401"/>
                <a:gd name="T19" fmla="*/ 158 h 343"/>
                <a:gd name="T20" fmla="*/ 92 w 401"/>
                <a:gd name="T21" fmla="*/ 171 h 343"/>
                <a:gd name="T22" fmla="*/ 78 w 401"/>
                <a:gd name="T23" fmla="*/ 190 h 343"/>
                <a:gd name="T24" fmla="*/ 58 w 401"/>
                <a:gd name="T25" fmla="*/ 201 h 343"/>
                <a:gd name="T26" fmla="*/ 52 w 401"/>
                <a:gd name="T27" fmla="*/ 212 h 343"/>
                <a:gd name="T28" fmla="*/ 60 w 401"/>
                <a:gd name="T29" fmla="*/ 216 h 343"/>
                <a:gd name="T30" fmla="*/ 45 w 401"/>
                <a:gd name="T31" fmla="*/ 237 h 343"/>
                <a:gd name="T32" fmla="*/ 41 w 401"/>
                <a:gd name="T33" fmla="*/ 259 h 343"/>
                <a:gd name="T34" fmla="*/ 32 w 401"/>
                <a:gd name="T35" fmla="*/ 259 h 343"/>
                <a:gd name="T36" fmla="*/ 31 w 401"/>
                <a:gd name="T37" fmla="*/ 281 h 343"/>
                <a:gd name="T38" fmla="*/ 18 w 401"/>
                <a:gd name="T39" fmla="*/ 286 h 343"/>
                <a:gd name="T40" fmla="*/ 1 w 401"/>
                <a:gd name="T41" fmla="*/ 318 h 343"/>
                <a:gd name="T42" fmla="*/ 0 w 401"/>
                <a:gd name="T43" fmla="*/ 343 h 343"/>
                <a:gd name="T44" fmla="*/ 186 w 401"/>
                <a:gd name="T45" fmla="*/ 341 h 343"/>
                <a:gd name="T46" fmla="*/ 187 w 401"/>
                <a:gd name="T47" fmla="*/ 272 h 343"/>
                <a:gd name="T48" fmla="*/ 189 w 401"/>
                <a:gd name="T49" fmla="*/ 247 h 343"/>
                <a:gd name="T50" fmla="*/ 208 w 401"/>
                <a:gd name="T51" fmla="*/ 236 h 343"/>
                <a:gd name="T52" fmla="*/ 235 w 401"/>
                <a:gd name="T53" fmla="*/ 231 h 343"/>
                <a:gd name="T54" fmla="*/ 238 w 401"/>
                <a:gd name="T55" fmla="*/ 101 h 343"/>
                <a:gd name="T56" fmla="*/ 243 w 401"/>
                <a:gd name="T57" fmla="*/ 98 h 343"/>
                <a:gd name="T58" fmla="*/ 243 w 401"/>
                <a:gd name="T59" fmla="*/ 88 h 343"/>
                <a:gd name="T60" fmla="*/ 391 w 401"/>
                <a:gd name="T61" fmla="*/ 87 h 343"/>
                <a:gd name="T62" fmla="*/ 392 w 401"/>
                <a:gd name="T63" fmla="*/ 62 h 343"/>
                <a:gd name="T64" fmla="*/ 397 w 401"/>
                <a:gd name="T65" fmla="*/ 58 h 343"/>
                <a:gd name="T66" fmla="*/ 401 w 401"/>
                <a:gd name="T67" fmla="*/ 2 h 343"/>
                <a:gd name="T68" fmla="*/ 364 w 401"/>
                <a:gd name="T69" fmla="*/ 0 h 3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1" h="343">
                  <a:moveTo>
                    <a:pt x="364" y="0"/>
                  </a:moveTo>
                  <a:cubicBezTo>
                    <a:pt x="192" y="0"/>
                    <a:pt x="192" y="0"/>
                    <a:pt x="192" y="0"/>
                  </a:cubicBezTo>
                  <a:cubicBezTo>
                    <a:pt x="190" y="3"/>
                    <a:pt x="188" y="8"/>
                    <a:pt x="186" y="12"/>
                  </a:cubicBezTo>
                  <a:cubicBezTo>
                    <a:pt x="181" y="25"/>
                    <a:pt x="176" y="47"/>
                    <a:pt x="176" y="47"/>
                  </a:cubicBezTo>
                  <a:cubicBezTo>
                    <a:pt x="176" y="47"/>
                    <a:pt x="164" y="57"/>
                    <a:pt x="160" y="61"/>
                  </a:cubicBezTo>
                  <a:cubicBezTo>
                    <a:pt x="156" y="65"/>
                    <a:pt x="140" y="66"/>
                    <a:pt x="140" y="66"/>
                  </a:cubicBezTo>
                  <a:cubicBezTo>
                    <a:pt x="140" y="66"/>
                    <a:pt x="129" y="63"/>
                    <a:pt x="125" y="72"/>
                  </a:cubicBezTo>
                  <a:cubicBezTo>
                    <a:pt x="121" y="81"/>
                    <a:pt x="123" y="97"/>
                    <a:pt x="123" y="97"/>
                  </a:cubicBezTo>
                  <a:cubicBezTo>
                    <a:pt x="123" y="97"/>
                    <a:pt x="104" y="116"/>
                    <a:pt x="104" y="122"/>
                  </a:cubicBezTo>
                  <a:cubicBezTo>
                    <a:pt x="104" y="128"/>
                    <a:pt x="115" y="145"/>
                    <a:pt x="108" y="158"/>
                  </a:cubicBezTo>
                  <a:cubicBezTo>
                    <a:pt x="101" y="171"/>
                    <a:pt x="92" y="171"/>
                    <a:pt x="92" y="171"/>
                  </a:cubicBezTo>
                  <a:cubicBezTo>
                    <a:pt x="92" y="171"/>
                    <a:pt x="83" y="185"/>
                    <a:pt x="78" y="190"/>
                  </a:cubicBezTo>
                  <a:cubicBezTo>
                    <a:pt x="73" y="195"/>
                    <a:pt x="62" y="197"/>
                    <a:pt x="58" y="201"/>
                  </a:cubicBezTo>
                  <a:cubicBezTo>
                    <a:pt x="54" y="205"/>
                    <a:pt x="52" y="212"/>
                    <a:pt x="52" y="212"/>
                  </a:cubicBezTo>
                  <a:cubicBezTo>
                    <a:pt x="60" y="216"/>
                    <a:pt x="60" y="216"/>
                    <a:pt x="60" y="216"/>
                  </a:cubicBezTo>
                  <a:cubicBezTo>
                    <a:pt x="60" y="216"/>
                    <a:pt x="49" y="227"/>
                    <a:pt x="45" y="237"/>
                  </a:cubicBezTo>
                  <a:cubicBezTo>
                    <a:pt x="41" y="247"/>
                    <a:pt x="41" y="259"/>
                    <a:pt x="41" y="259"/>
                  </a:cubicBezTo>
                  <a:cubicBezTo>
                    <a:pt x="32" y="259"/>
                    <a:pt x="32" y="259"/>
                    <a:pt x="32" y="259"/>
                  </a:cubicBezTo>
                  <a:cubicBezTo>
                    <a:pt x="32" y="259"/>
                    <a:pt x="42" y="271"/>
                    <a:pt x="31" y="281"/>
                  </a:cubicBezTo>
                  <a:cubicBezTo>
                    <a:pt x="20" y="291"/>
                    <a:pt x="18" y="286"/>
                    <a:pt x="18" y="286"/>
                  </a:cubicBezTo>
                  <a:cubicBezTo>
                    <a:pt x="18" y="286"/>
                    <a:pt x="1" y="304"/>
                    <a:pt x="1" y="318"/>
                  </a:cubicBezTo>
                  <a:cubicBezTo>
                    <a:pt x="1" y="325"/>
                    <a:pt x="1" y="335"/>
                    <a:pt x="0" y="343"/>
                  </a:cubicBezTo>
                  <a:cubicBezTo>
                    <a:pt x="186" y="341"/>
                    <a:pt x="186" y="341"/>
                    <a:pt x="186" y="341"/>
                  </a:cubicBezTo>
                  <a:cubicBezTo>
                    <a:pt x="187" y="272"/>
                    <a:pt x="187" y="272"/>
                    <a:pt x="187" y="272"/>
                  </a:cubicBezTo>
                  <a:cubicBezTo>
                    <a:pt x="187" y="272"/>
                    <a:pt x="178" y="257"/>
                    <a:pt x="189" y="247"/>
                  </a:cubicBezTo>
                  <a:cubicBezTo>
                    <a:pt x="200" y="237"/>
                    <a:pt x="208" y="236"/>
                    <a:pt x="208" y="236"/>
                  </a:cubicBezTo>
                  <a:cubicBezTo>
                    <a:pt x="208" y="236"/>
                    <a:pt x="233" y="237"/>
                    <a:pt x="235" y="231"/>
                  </a:cubicBezTo>
                  <a:cubicBezTo>
                    <a:pt x="237" y="225"/>
                    <a:pt x="238" y="101"/>
                    <a:pt x="238" y="101"/>
                  </a:cubicBezTo>
                  <a:cubicBezTo>
                    <a:pt x="243" y="98"/>
                    <a:pt x="243" y="98"/>
                    <a:pt x="243" y="98"/>
                  </a:cubicBezTo>
                  <a:cubicBezTo>
                    <a:pt x="243" y="88"/>
                    <a:pt x="243" y="88"/>
                    <a:pt x="243" y="88"/>
                  </a:cubicBezTo>
                  <a:cubicBezTo>
                    <a:pt x="391" y="87"/>
                    <a:pt x="391" y="87"/>
                    <a:pt x="391" y="87"/>
                  </a:cubicBezTo>
                  <a:cubicBezTo>
                    <a:pt x="392" y="62"/>
                    <a:pt x="392" y="62"/>
                    <a:pt x="392" y="62"/>
                  </a:cubicBezTo>
                  <a:cubicBezTo>
                    <a:pt x="397" y="58"/>
                    <a:pt x="397" y="58"/>
                    <a:pt x="397" y="58"/>
                  </a:cubicBezTo>
                  <a:cubicBezTo>
                    <a:pt x="401" y="2"/>
                    <a:pt x="401" y="2"/>
                    <a:pt x="401" y="2"/>
                  </a:cubicBezTo>
                  <a:lnTo>
                    <a:pt x="364" y="0"/>
                  </a:ln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485" name="Freeform 277">
              <a:extLst>
                <a:ext uri="{FF2B5EF4-FFF2-40B4-BE49-F238E27FC236}">
                  <a16:creationId xmlns:a16="http://schemas.microsoft.com/office/drawing/2014/main" id="{E81FB2BD-41E5-42CB-B557-3069D0B7C66A}"/>
                </a:ext>
              </a:extLst>
            </p:cNvPr>
            <p:cNvSpPr>
              <a:spLocks/>
            </p:cNvSpPr>
            <p:nvPr/>
          </p:nvSpPr>
          <p:spPr bwMode="gray">
            <a:xfrm>
              <a:off x="4235058" y="2249824"/>
              <a:ext cx="84709" cy="65972"/>
            </a:xfrm>
            <a:custGeom>
              <a:avLst/>
              <a:gdLst>
                <a:gd name="T0" fmla="*/ 85 w 125"/>
                <a:gd name="T1" fmla="*/ 67 h 103"/>
                <a:gd name="T2" fmla="*/ 102 w 125"/>
                <a:gd name="T3" fmla="*/ 60 h 103"/>
                <a:gd name="T4" fmla="*/ 124 w 125"/>
                <a:gd name="T5" fmla="*/ 49 h 103"/>
                <a:gd name="T6" fmla="*/ 108 w 125"/>
                <a:gd name="T7" fmla="*/ 28 h 103"/>
                <a:gd name="T8" fmla="*/ 124 w 125"/>
                <a:gd name="T9" fmla="*/ 19 h 103"/>
                <a:gd name="T10" fmla="*/ 123 w 125"/>
                <a:gd name="T11" fmla="*/ 2 h 103"/>
                <a:gd name="T12" fmla="*/ 56 w 125"/>
                <a:gd name="T13" fmla="*/ 0 h 103"/>
                <a:gd name="T14" fmla="*/ 39 w 125"/>
                <a:gd name="T15" fmla="*/ 15 h 103"/>
                <a:gd name="T16" fmla="*/ 12 w 125"/>
                <a:gd name="T17" fmla="*/ 15 h 103"/>
                <a:gd name="T18" fmla="*/ 4 w 125"/>
                <a:gd name="T19" fmla="*/ 25 h 103"/>
                <a:gd name="T20" fmla="*/ 0 w 125"/>
                <a:gd name="T21" fmla="*/ 48 h 103"/>
                <a:gd name="T22" fmla="*/ 15 w 125"/>
                <a:gd name="T23" fmla="*/ 50 h 103"/>
                <a:gd name="T24" fmla="*/ 46 w 125"/>
                <a:gd name="T25" fmla="*/ 45 h 103"/>
                <a:gd name="T26" fmla="*/ 63 w 125"/>
                <a:gd name="T27" fmla="*/ 39 h 103"/>
                <a:gd name="T28" fmla="*/ 63 w 125"/>
                <a:gd name="T29" fmla="*/ 54 h 103"/>
                <a:gd name="T30" fmla="*/ 37 w 125"/>
                <a:gd name="T31" fmla="*/ 52 h 103"/>
                <a:gd name="T32" fmla="*/ 42 w 125"/>
                <a:gd name="T33" fmla="*/ 68 h 103"/>
                <a:gd name="T34" fmla="*/ 63 w 125"/>
                <a:gd name="T35" fmla="*/ 63 h 103"/>
                <a:gd name="T36" fmla="*/ 39 w 125"/>
                <a:gd name="T37" fmla="*/ 75 h 103"/>
                <a:gd name="T38" fmla="*/ 58 w 125"/>
                <a:gd name="T39" fmla="*/ 103 h 103"/>
                <a:gd name="T40" fmla="*/ 63 w 125"/>
                <a:gd name="T41" fmla="*/ 88 h 103"/>
                <a:gd name="T42" fmla="*/ 72 w 125"/>
                <a:gd name="T43" fmla="*/ 68 h 103"/>
                <a:gd name="T44" fmla="*/ 85 w 125"/>
                <a:gd name="T45" fmla="*/ 67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5" h="103">
                  <a:moveTo>
                    <a:pt x="85" y="67"/>
                  </a:moveTo>
                  <a:cubicBezTo>
                    <a:pt x="85" y="67"/>
                    <a:pt x="92" y="60"/>
                    <a:pt x="102" y="60"/>
                  </a:cubicBezTo>
                  <a:cubicBezTo>
                    <a:pt x="112" y="60"/>
                    <a:pt x="123" y="64"/>
                    <a:pt x="124" y="49"/>
                  </a:cubicBezTo>
                  <a:cubicBezTo>
                    <a:pt x="125" y="34"/>
                    <a:pt x="108" y="39"/>
                    <a:pt x="108" y="28"/>
                  </a:cubicBezTo>
                  <a:cubicBezTo>
                    <a:pt x="108" y="17"/>
                    <a:pt x="124" y="19"/>
                    <a:pt x="124" y="19"/>
                  </a:cubicBezTo>
                  <a:cubicBezTo>
                    <a:pt x="123" y="2"/>
                    <a:pt x="123" y="2"/>
                    <a:pt x="123" y="2"/>
                  </a:cubicBezTo>
                  <a:cubicBezTo>
                    <a:pt x="56" y="0"/>
                    <a:pt x="56" y="0"/>
                    <a:pt x="56" y="0"/>
                  </a:cubicBezTo>
                  <a:cubicBezTo>
                    <a:pt x="39" y="15"/>
                    <a:pt x="39" y="15"/>
                    <a:pt x="39" y="15"/>
                  </a:cubicBezTo>
                  <a:cubicBezTo>
                    <a:pt x="12" y="15"/>
                    <a:pt x="12" y="15"/>
                    <a:pt x="12" y="15"/>
                  </a:cubicBezTo>
                  <a:cubicBezTo>
                    <a:pt x="4" y="25"/>
                    <a:pt x="4" y="25"/>
                    <a:pt x="4" y="25"/>
                  </a:cubicBezTo>
                  <a:cubicBezTo>
                    <a:pt x="0" y="48"/>
                    <a:pt x="0" y="48"/>
                    <a:pt x="0" y="48"/>
                  </a:cubicBezTo>
                  <a:cubicBezTo>
                    <a:pt x="0" y="48"/>
                    <a:pt x="8" y="56"/>
                    <a:pt x="15" y="50"/>
                  </a:cubicBezTo>
                  <a:cubicBezTo>
                    <a:pt x="22" y="44"/>
                    <a:pt x="46" y="45"/>
                    <a:pt x="46" y="45"/>
                  </a:cubicBezTo>
                  <a:cubicBezTo>
                    <a:pt x="63" y="39"/>
                    <a:pt x="63" y="39"/>
                    <a:pt x="63" y="39"/>
                  </a:cubicBezTo>
                  <a:cubicBezTo>
                    <a:pt x="63" y="54"/>
                    <a:pt x="63" y="54"/>
                    <a:pt x="63" y="54"/>
                  </a:cubicBezTo>
                  <a:cubicBezTo>
                    <a:pt x="63" y="54"/>
                    <a:pt x="39" y="42"/>
                    <a:pt x="37" y="52"/>
                  </a:cubicBezTo>
                  <a:cubicBezTo>
                    <a:pt x="35" y="62"/>
                    <a:pt x="42" y="68"/>
                    <a:pt x="42" y="68"/>
                  </a:cubicBezTo>
                  <a:cubicBezTo>
                    <a:pt x="63" y="63"/>
                    <a:pt x="63" y="63"/>
                    <a:pt x="63" y="63"/>
                  </a:cubicBezTo>
                  <a:cubicBezTo>
                    <a:pt x="39" y="75"/>
                    <a:pt x="39" y="75"/>
                    <a:pt x="39" y="75"/>
                  </a:cubicBezTo>
                  <a:cubicBezTo>
                    <a:pt x="58" y="103"/>
                    <a:pt x="58" y="103"/>
                    <a:pt x="58" y="103"/>
                  </a:cubicBezTo>
                  <a:cubicBezTo>
                    <a:pt x="63" y="88"/>
                    <a:pt x="63" y="88"/>
                    <a:pt x="63" y="88"/>
                  </a:cubicBezTo>
                  <a:cubicBezTo>
                    <a:pt x="72" y="68"/>
                    <a:pt x="72" y="68"/>
                    <a:pt x="72" y="68"/>
                  </a:cubicBezTo>
                  <a:lnTo>
                    <a:pt x="85" y="67"/>
                  </a:ln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486" name="Freeform 278">
              <a:extLst>
                <a:ext uri="{FF2B5EF4-FFF2-40B4-BE49-F238E27FC236}">
                  <a16:creationId xmlns:a16="http://schemas.microsoft.com/office/drawing/2014/main" id="{08EBCABB-0C04-49A9-853A-60F97F260205}"/>
                </a:ext>
              </a:extLst>
            </p:cNvPr>
            <p:cNvSpPr>
              <a:spLocks/>
            </p:cNvSpPr>
            <p:nvPr/>
          </p:nvSpPr>
          <p:spPr bwMode="gray">
            <a:xfrm>
              <a:off x="4220700" y="2211274"/>
              <a:ext cx="104523" cy="24977"/>
            </a:xfrm>
            <a:custGeom>
              <a:avLst/>
              <a:gdLst>
                <a:gd name="T0" fmla="*/ 11 w 154"/>
                <a:gd name="T1" fmla="*/ 15 h 39"/>
                <a:gd name="T2" fmla="*/ 0 w 154"/>
                <a:gd name="T3" fmla="*/ 37 h 39"/>
                <a:gd name="T4" fmla="*/ 0 w 154"/>
                <a:gd name="T5" fmla="*/ 39 h 39"/>
                <a:gd name="T6" fmla="*/ 43 w 154"/>
                <a:gd name="T7" fmla="*/ 39 h 39"/>
                <a:gd name="T8" fmla="*/ 47 w 154"/>
                <a:gd name="T9" fmla="*/ 30 h 39"/>
                <a:gd name="T10" fmla="*/ 72 w 154"/>
                <a:gd name="T11" fmla="*/ 27 h 39"/>
                <a:gd name="T12" fmla="*/ 84 w 154"/>
                <a:gd name="T13" fmla="*/ 15 h 39"/>
                <a:gd name="T14" fmla="*/ 118 w 154"/>
                <a:gd name="T15" fmla="*/ 34 h 39"/>
                <a:gd name="T16" fmla="*/ 137 w 154"/>
                <a:gd name="T17" fmla="*/ 15 h 39"/>
                <a:gd name="T18" fmla="*/ 116 w 154"/>
                <a:gd name="T19" fmla="*/ 20 h 39"/>
                <a:gd name="T20" fmla="*/ 103 w 154"/>
                <a:gd name="T21" fmla="*/ 8 h 39"/>
                <a:gd name="T22" fmla="*/ 95 w 154"/>
                <a:gd name="T23" fmla="*/ 10 h 39"/>
                <a:gd name="T24" fmla="*/ 84 w 154"/>
                <a:gd name="T25" fmla="*/ 2 h 39"/>
                <a:gd name="T26" fmla="*/ 59 w 154"/>
                <a:gd name="T27" fmla="*/ 3 h 39"/>
                <a:gd name="T28" fmla="*/ 59 w 154"/>
                <a:gd name="T29" fmla="*/ 13 h 39"/>
                <a:gd name="T30" fmla="*/ 9 w 154"/>
                <a:gd name="T31" fmla="*/ 13 h 39"/>
                <a:gd name="T32" fmla="*/ 11 w 154"/>
                <a:gd name="T33" fmla="*/ 15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4" h="39">
                  <a:moveTo>
                    <a:pt x="11" y="15"/>
                  </a:moveTo>
                  <a:cubicBezTo>
                    <a:pt x="11" y="15"/>
                    <a:pt x="1" y="30"/>
                    <a:pt x="0" y="37"/>
                  </a:cubicBezTo>
                  <a:cubicBezTo>
                    <a:pt x="0" y="38"/>
                    <a:pt x="0" y="38"/>
                    <a:pt x="0" y="39"/>
                  </a:cubicBezTo>
                  <a:cubicBezTo>
                    <a:pt x="11" y="39"/>
                    <a:pt x="41" y="39"/>
                    <a:pt x="43" y="39"/>
                  </a:cubicBezTo>
                  <a:cubicBezTo>
                    <a:pt x="46" y="39"/>
                    <a:pt x="47" y="30"/>
                    <a:pt x="47" y="30"/>
                  </a:cubicBezTo>
                  <a:cubicBezTo>
                    <a:pt x="47" y="30"/>
                    <a:pt x="66" y="28"/>
                    <a:pt x="72" y="27"/>
                  </a:cubicBezTo>
                  <a:cubicBezTo>
                    <a:pt x="78" y="26"/>
                    <a:pt x="84" y="15"/>
                    <a:pt x="84" y="15"/>
                  </a:cubicBezTo>
                  <a:cubicBezTo>
                    <a:pt x="84" y="15"/>
                    <a:pt x="100" y="34"/>
                    <a:pt x="118" y="34"/>
                  </a:cubicBezTo>
                  <a:cubicBezTo>
                    <a:pt x="136" y="34"/>
                    <a:pt x="154" y="19"/>
                    <a:pt x="137" y="15"/>
                  </a:cubicBezTo>
                  <a:cubicBezTo>
                    <a:pt x="120" y="11"/>
                    <a:pt x="121" y="21"/>
                    <a:pt x="116" y="20"/>
                  </a:cubicBezTo>
                  <a:cubicBezTo>
                    <a:pt x="111" y="19"/>
                    <a:pt x="103" y="8"/>
                    <a:pt x="103" y="8"/>
                  </a:cubicBezTo>
                  <a:cubicBezTo>
                    <a:pt x="95" y="10"/>
                    <a:pt x="95" y="10"/>
                    <a:pt x="95" y="10"/>
                  </a:cubicBezTo>
                  <a:cubicBezTo>
                    <a:pt x="95" y="10"/>
                    <a:pt x="97" y="0"/>
                    <a:pt x="84" y="2"/>
                  </a:cubicBezTo>
                  <a:cubicBezTo>
                    <a:pt x="71" y="4"/>
                    <a:pt x="59" y="3"/>
                    <a:pt x="59" y="3"/>
                  </a:cubicBezTo>
                  <a:cubicBezTo>
                    <a:pt x="59" y="13"/>
                    <a:pt x="59" y="13"/>
                    <a:pt x="59" y="13"/>
                  </a:cubicBezTo>
                  <a:cubicBezTo>
                    <a:pt x="9" y="13"/>
                    <a:pt x="9" y="13"/>
                    <a:pt x="9" y="13"/>
                  </a:cubicBezTo>
                  <a:cubicBezTo>
                    <a:pt x="10" y="14"/>
                    <a:pt x="11" y="15"/>
                    <a:pt x="11" y="15"/>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487" name="Freeform 279">
              <a:extLst>
                <a:ext uri="{FF2B5EF4-FFF2-40B4-BE49-F238E27FC236}">
                  <a16:creationId xmlns:a16="http://schemas.microsoft.com/office/drawing/2014/main" id="{721EE005-311B-40AF-B18D-81D0A67B4D1E}"/>
                </a:ext>
              </a:extLst>
            </p:cNvPr>
            <p:cNvSpPr>
              <a:spLocks/>
            </p:cNvSpPr>
            <p:nvPr/>
          </p:nvSpPr>
          <p:spPr bwMode="gray">
            <a:xfrm>
              <a:off x="4378058" y="2388285"/>
              <a:ext cx="140417" cy="151490"/>
            </a:xfrm>
            <a:custGeom>
              <a:avLst/>
              <a:gdLst>
                <a:gd name="T0" fmla="*/ 207 w 207"/>
                <a:gd name="T1" fmla="*/ 175 h 236"/>
                <a:gd name="T2" fmla="*/ 186 w 207"/>
                <a:gd name="T3" fmla="*/ 146 h 236"/>
                <a:gd name="T4" fmla="*/ 185 w 207"/>
                <a:gd name="T5" fmla="*/ 129 h 236"/>
                <a:gd name="T6" fmla="*/ 161 w 207"/>
                <a:gd name="T7" fmla="*/ 133 h 236"/>
                <a:gd name="T8" fmla="*/ 161 w 207"/>
                <a:gd name="T9" fmla="*/ 123 h 236"/>
                <a:gd name="T10" fmla="*/ 148 w 207"/>
                <a:gd name="T11" fmla="*/ 121 h 236"/>
                <a:gd name="T12" fmla="*/ 162 w 207"/>
                <a:gd name="T13" fmla="*/ 89 h 236"/>
                <a:gd name="T14" fmla="*/ 149 w 207"/>
                <a:gd name="T15" fmla="*/ 55 h 236"/>
                <a:gd name="T16" fmla="*/ 145 w 207"/>
                <a:gd name="T17" fmla="*/ 56 h 236"/>
                <a:gd name="T18" fmla="*/ 129 w 207"/>
                <a:gd name="T19" fmla="*/ 82 h 236"/>
                <a:gd name="T20" fmla="*/ 117 w 207"/>
                <a:gd name="T21" fmla="*/ 72 h 236"/>
                <a:gd name="T22" fmla="*/ 109 w 207"/>
                <a:gd name="T23" fmla="*/ 72 h 236"/>
                <a:gd name="T24" fmla="*/ 99 w 207"/>
                <a:gd name="T25" fmla="*/ 13 h 236"/>
                <a:gd name="T26" fmla="*/ 83 w 207"/>
                <a:gd name="T27" fmla="*/ 18 h 236"/>
                <a:gd name="T28" fmla="*/ 67 w 207"/>
                <a:gd name="T29" fmla="*/ 14 h 236"/>
                <a:gd name="T30" fmla="*/ 69 w 207"/>
                <a:gd name="T31" fmla="*/ 31 h 236"/>
                <a:gd name="T32" fmla="*/ 55 w 207"/>
                <a:gd name="T33" fmla="*/ 34 h 236"/>
                <a:gd name="T34" fmla="*/ 55 w 207"/>
                <a:gd name="T35" fmla="*/ 48 h 236"/>
                <a:gd name="T36" fmla="*/ 16 w 207"/>
                <a:gd name="T37" fmla="*/ 82 h 236"/>
                <a:gd name="T38" fmla="*/ 14 w 207"/>
                <a:gd name="T39" fmla="*/ 105 h 236"/>
                <a:gd name="T40" fmla="*/ 0 w 207"/>
                <a:gd name="T41" fmla="*/ 89 h 236"/>
                <a:gd name="T42" fmla="*/ 0 w 207"/>
                <a:gd name="T43" fmla="*/ 89 h 236"/>
                <a:gd name="T44" fmla="*/ 23 w 207"/>
                <a:gd name="T45" fmla="*/ 115 h 236"/>
                <a:gd name="T46" fmla="*/ 40 w 207"/>
                <a:gd name="T47" fmla="*/ 117 h 236"/>
                <a:gd name="T48" fmla="*/ 48 w 207"/>
                <a:gd name="T49" fmla="*/ 135 h 236"/>
                <a:gd name="T50" fmla="*/ 70 w 207"/>
                <a:gd name="T51" fmla="*/ 139 h 236"/>
                <a:gd name="T52" fmla="*/ 105 w 207"/>
                <a:gd name="T53" fmla="*/ 187 h 236"/>
                <a:gd name="T54" fmla="*/ 156 w 207"/>
                <a:gd name="T55" fmla="*/ 213 h 236"/>
                <a:gd name="T56" fmla="*/ 195 w 207"/>
                <a:gd name="T57" fmla="*/ 236 h 236"/>
                <a:gd name="T58" fmla="*/ 198 w 207"/>
                <a:gd name="T59" fmla="*/ 236 h 236"/>
                <a:gd name="T60" fmla="*/ 197 w 207"/>
                <a:gd name="T61" fmla="*/ 209 h 236"/>
                <a:gd name="T62" fmla="*/ 207 w 207"/>
                <a:gd name="T63" fmla="*/ 175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07" h="236">
                  <a:moveTo>
                    <a:pt x="207" y="175"/>
                  </a:moveTo>
                  <a:cubicBezTo>
                    <a:pt x="207" y="162"/>
                    <a:pt x="186" y="146"/>
                    <a:pt x="186" y="146"/>
                  </a:cubicBezTo>
                  <a:cubicBezTo>
                    <a:pt x="185" y="129"/>
                    <a:pt x="185" y="129"/>
                    <a:pt x="185" y="129"/>
                  </a:cubicBezTo>
                  <a:cubicBezTo>
                    <a:pt x="161" y="133"/>
                    <a:pt x="161" y="133"/>
                    <a:pt x="161" y="133"/>
                  </a:cubicBezTo>
                  <a:cubicBezTo>
                    <a:pt x="161" y="123"/>
                    <a:pt x="161" y="123"/>
                    <a:pt x="161" y="123"/>
                  </a:cubicBezTo>
                  <a:cubicBezTo>
                    <a:pt x="161" y="123"/>
                    <a:pt x="149" y="124"/>
                    <a:pt x="148" y="121"/>
                  </a:cubicBezTo>
                  <a:cubicBezTo>
                    <a:pt x="147" y="118"/>
                    <a:pt x="162" y="104"/>
                    <a:pt x="162" y="89"/>
                  </a:cubicBezTo>
                  <a:cubicBezTo>
                    <a:pt x="162" y="79"/>
                    <a:pt x="154" y="64"/>
                    <a:pt x="149" y="55"/>
                  </a:cubicBezTo>
                  <a:cubicBezTo>
                    <a:pt x="147" y="55"/>
                    <a:pt x="146" y="55"/>
                    <a:pt x="145" y="56"/>
                  </a:cubicBezTo>
                  <a:cubicBezTo>
                    <a:pt x="140" y="60"/>
                    <a:pt x="140" y="82"/>
                    <a:pt x="129" y="82"/>
                  </a:cubicBezTo>
                  <a:cubicBezTo>
                    <a:pt x="118" y="82"/>
                    <a:pt x="117" y="72"/>
                    <a:pt x="117" y="72"/>
                  </a:cubicBezTo>
                  <a:cubicBezTo>
                    <a:pt x="109" y="72"/>
                    <a:pt x="109" y="72"/>
                    <a:pt x="109" y="72"/>
                  </a:cubicBezTo>
                  <a:cubicBezTo>
                    <a:pt x="109" y="72"/>
                    <a:pt x="118" y="26"/>
                    <a:pt x="99" y="13"/>
                  </a:cubicBezTo>
                  <a:cubicBezTo>
                    <a:pt x="80" y="0"/>
                    <a:pt x="83" y="18"/>
                    <a:pt x="83" y="18"/>
                  </a:cubicBezTo>
                  <a:cubicBezTo>
                    <a:pt x="67" y="14"/>
                    <a:pt x="67" y="14"/>
                    <a:pt x="67" y="14"/>
                  </a:cubicBezTo>
                  <a:cubicBezTo>
                    <a:pt x="69" y="31"/>
                    <a:pt x="69" y="31"/>
                    <a:pt x="69" y="31"/>
                  </a:cubicBezTo>
                  <a:cubicBezTo>
                    <a:pt x="55" y="34"/>
                    <a:pt x="55" y="34"/>
                    <a:pt x="55" y="34"/>
                  </a:cubicBezTo>
                  <a:cubicBezTo>
                    <a:pt x="55" y="34"/>
                    <a:pt x="59" y="38"/>
                    <a:pt x="55" y="48"/>
                  </a:cubicBezTo>
                  <a:cubicBezTo>
                    <a:pt x="51" y="58"/>
                    <a:pt x="17" y="75"/>
                    <a:pt x="16" y="82"/>
                  </a:cubicBezTo>
                  <a:cubicBezTo>
                    <a:pt x="15" y="86"/>
                    <a:pt x="15" y="97"/>
                    <a:pt x="14" y="105"/>
                  </a:cubicBezTo>
                  <a:cubicBezTo>
                    <a:pt x="0" y="89"/>
                    <a:pt x="0" y="89"/>
                    <a:pt x="0" y="89"/>
                  </a:cubicBezTo>
                  <a:cubicBezTo>
                    <a:pt x="0" y="89"/>
                    <a:pt x="0" y="89"/>
                    <a:pt x="0" y="89"/>
                  </a:cubicBezTo>
                  <a:cubicBezTo>
                    <a:pt x="23" y="115"/>
                    <a:pt x="23" y="115"/>
                    <a:pt x="23" y="115"/>
                  </a:cubicBezTo>
                  <a:cubicBezTo>
                    <a:pt x="40" y="117"/>
                    <a:pt x="40" y="117"/>
                    <a:pt x="40" y="117"/>
                  </a:cubicBezTo>
                  <a:cubicBezTo>
                    <a:pt x="48" y="135"/>
                    <a:pt x="48" y="135"/>
                    <a:pt x="48" y="135"/>
                  </a:cubicBezTo>
                  <a:cubicBezTo>
                    <a:pt x="48" y="135"/>
                    <a:pt x="66" y="131"/>
                    <a:pt x="70" y="139"/>
                  </a:cubicBezTo>
                  <a:cubicBezTo>
                    <a:pt x="74" y="147"/>
                    <a:pt x="89" y="173"/>
                    <a:pt x="105" y="187"/>
                  </a:cubicBezTo>
                  <a:cubicBezTo>
                    <a:pt x="121" y="201"/>
                    <a:pt x="149" y="208"/>
                    <a:pt x="156" y="213"/>
                  </a:cubicBezTo>
                  <a:cubicBezTo>
                    <a:pt x="163" y="218"/>
                    <a:pt x="180" y="236"/>
                    <a:pt x="195" y="236"/>
                  </a:cubicBezTo>
                  <a:cubicBezTo>
                    <a:pt x="196" y="236"/>
                    <a:pt x="197" y="236"/>
                    <a:pt x="198" y="236"/>
                  </a:cubicBezTo>
                  <a:cubicBezTo>
                    <a:pt x="197" y="209"/>
                    <a:pt x="197" y="209"/>
                    <a:pt x="197" y="209"/>
                  </a:cubicBezTo>
                  <a:cubicBezTo>
                    <a:pt x="197" y="209"/>
                    <a:pt x="207" y="188"/>
                    <a:pt x="207" y="175"/>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488" name="Freeform 280">
              <a:extLst>
                <a:ext uri="{FF2B5EF4-FFF2-40B4-BE49-F238E27FC236}">
                  <a16:creationId xmlns:a16="http://schemas.microsoft.com/office/drawing/2014/main" id="{F178A18A-2CB8-4DA9-A900-6DF60FAA8642}"/>
                </a:ext>
              </a:extLst>
            </p:cNvPr>
            <p:cNvSpPr>
              <a:spLocks/>
            </p:cNvSpPr>
            <p:nvPr/>
          </p:nvSpPr>
          <p:spPr bwMode="gray">
            <a:xfrm>
              <a:off x="4330105" y="2340774"/>
              <a:ext cx="94760" cy="114839"/>
            </a:xfrm>
            <a:custGeom>
              <a:avLst/>
              <a:gdLst>
                <a:gd name="T0" fmla="*/ 126 w 140"/>
                <a:gd name="T1" fmla="*/ 122 h 179"/>
                <a:gd name="T2" fmla="*/ 126 w 140"/>
                <a:gd name="T3" fmla="*/ 108 h 179"/>
                <a:gd name="T4" fmla="*/ 140 w 140"/>
                <a:gd name="T5" fmla="*/ 105 h 179"/>
                <a:gd name="T6" fmla="*/ 138 w 140"/>
                <a:gd name="T7" fmla="*/ 88 h 179"/>
                <a:gd name="T8" fmla="*/ 119 w 140"/>
                <a:gd name="T9" fmla="*/ 99 h 179"/>
                <a:gd name="T10" fmla="*/ 120 w 140"/>
                <a:gd name="T11" fmla="*/ 86 h 179"/>
                <a:gd name="T12" fmla="*/ 131 w 140"/>
                <a:gd name="T13" fmla="*/ 70 h 179"/>
                <a:gd name="T14" fmla="*/ 120 w 140"/>
                <a:gd name="T15" fmla="*/ 50 h 179"/>
                <a:gd name="T16" fmla="*/ 123 w 140"/>
                <a:gd name="T17" fmla="*/ 41 h 179"/>
                <a:gd name="T18" fmla="*/ 95 w 140"/>
                <a:gd name="T19" fmla="*/ 0 h 179"/>
                <a:gd name="T20" fmla="*/ 69 w 140"/>
                <a:gd name="T21" fmla="*/ 0 h 179"/>
                <a:gd name="T22" fmla="*/ 65 w 140"/>
                <a:gd name="T23" fmla="*/ 12 h 179"/>
                <a:gd name="T24" fmla="*/ 40 w 140"/>
                <a:gd name="T25" fmla="*/ 12 h 179"/>
                <a:gd name="T26" fmla="*/ 9 w 140"/>
                <a:gd name="T27" fmla="*/ 54 h 179"/>
                <a:gd name="T28" fmla="*/ 0 w 140"/>
                <a:gd name="T29" fmla="*/ 59 h 179"/>
                <a:gd name="T30" fmla="*/ 9 w 140"/>
                <a:gd name="T31" fmla="*/ 66 h 179"/>
                <a:gd name="T32" fmla="*/ 1 w 140"/>
                <a:gd name="T33" fmla="*/ 84 h 179"/>
                <a:gd name="T34" fmla="*/ 16 w 140"/>
                <a:gd name="T35" fmla="*/ 103 h 179"/>
                <a:gd name="T36" fmla="*/ 15 w 140"/>
                <a:gd name="T37" fmla="*/ 121 h 179"/>
                <a:gd name="T38" fmla="*/ 29 w 140"/>
                <a:gd name="T39" fmla="*/ 132 h 179"/>
                <a:gd name="T40" fmla="*/ 37 w 140"/>
                <a:gd name="T41" fmla="*/ 148 h 179"/>
                <a:gd name="T42" fmla="*/ 65 w 140"/>
                <a:gd name="T43" fmla="*/ 157 h 179"/>
                <a:gd name="T44" fmla="*/ 85 w 140"/>
                <a:gd name="T45" fmla="*/ 179 h 179"/>
                <a:gd name="T46" fmla="*/ 87 w 140"/>
                <a:gd name="T47" fmla="*/ 156 h 179"/>
                <a:gd name="T48" fmla="*/ 126 w 140"/>
                <a:gd name="T49" fmla="*/ 122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40" h="179">
                  <a:moveTo>
                    <a:pt x="126" y="122"/>
                  </a:moveTo>
                  <a:cubicBezTo>
                    <a:pt x="130" y="112"/>
                    <a:pt x="126" y="108"/>
                    <a:pt x="126" y="108"/>
                  </a:cubicBezTo>
                  <a:cubicBezTo>
                    <a:pt x="140" y="105"/>
                    <a:pt x="140" y="105"/>
                    <a:pt x="140" y="105"/>
                  </a:cubicBezTo>
                  <a:cubicBezTo>
                    <a:pt x="138" y="88"/>
                    <a:pt x="138" y="88"/>
                    <a:pt x="138" y="88"/>
                  </a:cubicBezTo>
                  <a:cubicBezTo>
                    <a:pt x="119" y="99"/>
                    <a:pt x="119" y="99"/>
                    <a:pt x="119" y="99"/>
                  </a:cubicBezTo>
                  <a:cubicBezTo>
                    <a:pt x="120" y="86"/>
                    <a:pt x="120" y="86"/>
                    <a:pt x="120" y="86"/>
                  </a:cubicBezTo>
                  <a:cubicBezTo>
                    <a:pt x="120" y="86"/>
                    <a:pt x="131" y="78"/>
                    <a:pt x="131" y="70"/>
                  </a:cubicBezTo>
                  <a:cubicBezTo>
                    <a:pt x="131" y="62"/>
                    <a:pt x="120" y="50"/>
                    <a:pt x="120" y="50"/>
                  </a:cubicBezTo>
                  <a:cubicBezTo>
                    <a:pt x="123" y="41"/>
                    <a:pt x="123" y="41"/>
                    <a:pt x="123" y="41"/>
                  </a:cubicBezTo>
                  <a:cubicBezTo>
                    <a:pt x="95" y="0"/>
                    <a:pt x="95" y="0"/>
                    <a:pt x="95" y="0"/>
                  </a:cubicBezTo>
                  <a:cubicBezTo>
                    <a:pt x="69" y="0"/>
                    <a:pt x="69" y="0"/>
                    <a:pt x="69" y="0"/>
                  </a:cubicBezTo>
                  <a:cubicBezTo>
                    <a:pt x="65" y="12"/>
                    <a:pt x="65" y="12"/>
                    <a:pt x="65" y="12"/>
                  </a:cubicBezTo>
                  <a:cubicBezTo>
                    <a:pt x="40" y="12"/>
                    <a:pt x="40" y="12"/>
                    <a:pt x="40" y="12"/>
                  </a:cubicBezTo>
                  <a:cubicBezTo>
                    <a:pt x="40" y="12"/>
                    <a:pt x="21" y="54"/>
                    <a:pt x="9" y="54"/>
                  </a:cubicBezTo>
                  <a:cubicBezTo>
                    <a:pt x="0" y="59"/>
                    <a:pt x="0" y="59"/>
                    <a:pt x="0" y="59"/>
                  </a:cubicBezTo>
                  <a:cubicBezTo>
                    <a:pt x="9" y="66"/>
                    <a:pt x="9" y="66"/>
                    <a:pt x="9" y="66"/>
                  </a:cubicBezTo>
                  <a:cubicBezTo>
                    <a:pt x="9" y="66"/>
                    <a:pt x="1" y="75"/>
                    <a:pt x="1" y="84"/>
                  </a:cubicBezTo>
                  <a:cubicBezTo>
                    <a:pt x="1" y="93"/>
                    <a:pt x="16" y="103"/>
                    <a:pt x="16" y="103"/>
                  </a:cubicBezTo>
                  <a:cubicBezTo>
                    <a:pt x="15" y="121"/>
                    <a:pt x="15" y="121"/>
                    <a:pt x="15" y="121"/>
                  </a:cubicBezTo>
                  <a:cubicBezTo>
                    <a:pt x="29" y="132"/>
                    <a:pt x="29" y="132"/>
                    <a:pt x="29" y="132"/>
                  </a:cubicBezTo>
                  <a:cubicBezTo>
                    <a:pt x="29" y="132"/>
                    <a:pt x="28" y="139"/>
                    <a:pt x="37" y="148"/>
                  </a:cubicBezTo>
                  <a:cubicBezTo>
                    <a:pt x="46" y="157"/>
                    <a:pt x="65" y="157"/>
                    <a:pt x="65" y="157"/>
                  </a:cubicBezTo>
                  <a:cubicBezTo>
                    <a:pt x="85" y="179"/>
                    <a:pt x="85" y="179"/>
                    <a:pt x="85" y="179"/>
                  </a:cubicBezTo>
                  <a:cubicBezTo>
                    <a:pt x="86" y="171"/>
                    <a:pt x="86" y="160"/>
                    <a:pt x="87" y="156"/>
                  </a:cubicBezTo>
                  <a:cubicBezTo>
                    <a:pt x="88" y="149"/>
                    <a:pt x="122" y="132"/>
                    <a:pt x="126" y="122"/>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489" name="Freeform 281">
              <a:extLst>
                <a:ext uri="{FF2B5EF4-FFF2-40B4-BE49-F238E27FC236}">
                  <a16:creationId xmlns:a16="http://schemas.microsoft.com/office/drawing/2014/main" id="{0ABAAFEF-8AFF-4F39-8CA8-F78C4B0E0269}"/>
                </a:ext>
              </a:extLst>
            </p:cNvPr>
            <p:cNvSpPr>
              <a:spLocks/>
            </p:cNvSpPr>
            <p:nvPr/>
          </p:nvSpPr>
          <p:spPr bwMode="gray">
            <a:xfrm>
              <a:off x="5602465" y="3672153"/>
              <a:ext cx="75233" cy="73302"/>
            </a:xfrm>
            <a:custGeom>
              <a:avLst/>
              <a:gdLst>
                <a:gd name="T0" fmla="*/ 0 w 111"/>
                <a:gd name="T1" fmla="*/ 58 h 114"/>
                <a:gd name="T2" fmla="*/ 17 w 111"/>
                <a:gd name="T3" fmla="*/ 83 h 114"/>
                <a:gd name="T4" fmla="*/ 17 w 111"/>
                <a:gd name="T5" fmla="*/ 94 h 114"/>
                <a:gd name="T6" fmla="*/ 35 w 111"/>
                <a:gd name="T7" fmla="*/ 114 h 114"/>
                <a:gd name="T8" fmla="*/ 50 w 111"/>
                <a:gd name="T9" fmla="*/ 113 h 114"/>
                <a:gd name="T10" fmla="*/ 61 w 111"/>
                <a:gd name="T11" fmla="*/ 89 h 114"/>
                <a:gd name="T12" fmla="*/ 82 w 111"/>
                <a:gd name="T13" fmla="*/ 85 h 114"/>
                <a:gd name="T14" fmla="*/ 99 w 111"/>
                <a:gd name="T15" fmla="*/ 75 h 114"/>
                <a:gd name="T16" fmla="*/ 96 w 111"/>
                <a:gd name="T17" fmla="*/ 63 h 114"/>
                <a:gd name="T18" fmla="*/ 111 w 111"/>
                <a:gd name="T19" fmla="*/ 50 h 114"/>
                <a:gd name="T20" fmla="*/ 110 w 111"/>
                <a:gd name="T21" fmla="*/ 34 h 114"/>
                <a:gd name="T22" fmla="*/ 100 w 111"/>
                <a:gd name="T23" fmla="*/ 31 h 114"/>
                <a:gd name="T24" fmla="*/ 83 w 111"/>
                <a:gd name="T25" fmla="*/ 6 h 114"/>
                <a:gd name="T26" fmla="*/ 62 w 111"/>
                <a:gd name="T27" fmla="*/ 5 h 114"/>
                <a:gd name="T28" fmla="*/ 54 w 111"/>
                <a:gd name="T29" fmla="*/ 8 h 114"/>
                <a:gd name="T30" fmla="*/ 53 w 111"/>
                <a:gd name="T31" fmla="*/ 18 h 114"/>
                <a:gd name="T32" fmla="*/ 38 w 111"/>
                <a:gd name="T33" fmla="*/ 19 h 114"/>
                <a:gd name="T34" fmla="*/ 31 w 111"/>
                <a:gd name="T35" fmla="*/ 33 h 114"/>
                <a:gd name="T36" fmla="*/ 19 w 111"/>
                <a:gd name="T37" fmla="*/ 46 h 114"/>
                <a:gd name="T38" fmla="*/ 17 w 111"/>
                <a:gd name="T39" fmla="*/ 56 h 114"/>
                <a:gd name="T40" fmla="*/ 0 w 111"/>
                <a:gd name="T41" fmla="*/ 58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1" h="114">
                  <a:moveTo>
                    <a:pt x="0" y="58"/>
                  </a:moveTo>
                  <a:cubicBezTo>
                    <a:pt x="17" y="83"/>
                    <a:pt x="17" y="83"/>
                    <a:pt x="17" y="83"/>
                  </a:cubicBezTo>
                  <a:cubicBezTo>
                    <a:pt x="17" y="94"/>
                    <a:pt x="17" y="94"/>
                    <a:pt x="17" y="94"/>
                  </a:cubicBezTo>
                  <a:cubicBezTo>
                    <a:pt x="35" y="114"/>
                    <a:pt x="35" y="114"/>
                    <a:pt x="35" y="114"/>
                  </a:cubicBezTo>
                  <a:cubicBezTo>
                    <a:pt x="50" y="113"/>
                    <a:pt x="50" y="113"/>
                    <a:pt x="50" y="113"/>
                  </a:cubicBezTo>
                  <a:cubicBezTo>
                    <a:pt x="50" y="113"/>
                    <a:pt x="51" y="93"/>
                    <a:pt x="61" y="89"/>
                  </a:cubicBezTo>
                  <a:cubicBezTo>
                    <a:pt x="71" y="85"/>
                    <a:pt x="74" y="87"/>
                    <a:pt x="82" y="85"/>
                  </a:cubicBezTo>
                  <a:cubicBezTo>
                    <a:pt x="90" y="83"/>
                    <a:pt x="99" y="75"/>
                    <a:pt x="99" y="75"/>
                  </a:cubicBezTo>
                  <a:cubicBezTo>
                    <a:pt x="96" y="63"/>
                    <a:pt x="96" y="63"/>
                    <a:pt x="96" y="63"/>
                  </a:cubicBezTo>
                  <a:cubicBezTo>
                    <a:pt x="111" y="50"/>
                    <a:pt x="111" y="50"/>
                    <a:pt x="111" y="50"/>
                  </a:cubicBezTo>
                  <a:cubicBezTo>
                    <a:pt x="110" y="34"/>
                    <a:pt x="110" y="34"/>
                    <a:pt x="110" y="34"/>
                  </a:cubicBezTo>
                  <a:cubicBezTo>
                    <a:pt x="100" y="31"/>
                    <a:pt x="100" y="31"/>
                    <a:pt x="100" y="31"/>
                  </a:cubicBezTo>
                  <a:cubicBezTo>
                    <a:pt x="100" y="31"/>
                    <a:pt x="88" y="12"/>
                    <a:pt x="83" y="6"/>
                  </a:cubicBezTo>
                  <a:cubicBezTo>
                    <a:pt x="78" y="0"/>
                    <a:pt x="62" y="5"/>
                    <a:pt x="62" y="5"/>
                  </a:cubicBezTo>
                  <a:cubicBezTo>
                    <a:pt x="54" y="8"/>
                    <a:pt x="54" y="8"/>
                    <a:pt x="54" y="8"/>
                  </a:cubicBezTo>
                  <a:cubicBezTo>
                    <a:pt x="53" y="18"/>
                    <a:pt x="53" y="18"/>
                    <a:pt x="53" y="18"/>
                  </a:cubicBezTo>
                  <a:cubicBezTo>
                    <a:pt x="53" y="18"/>
                    <a:pt x="43" y="15"/>
                    <a:pt x="38" y="19"/>
                  </a:cubicBezTo>
                  <a:cubicBezTo>
                    <a:pt x="33" y="23"/>
                    <a:pt x="31" y="33"/>
                    <a:pt x="31" y="33"/>
                  </a:cubicBezTo>
                  <a:cubicBezTo>
                    <a:pt x="19" y="46"/>
                    <a:pt x="19" y="46"/>
                    <a:pt x="19" y="46"/>
                  </a:cubicBezTo>
                  <a:cubicBezTo>
                    <a:pt x="17" y="56"/>
                    <a:pt x="17" y="56"/>
                    <a:pt x="17" y="56"/>
                  </a:cubicBezTo>
                  <a:lnTo>
                    <a:pt x="0" y="58"/>
                  </a:ln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490" name="Freeform 282">
              <a:extLst>
                <a:ext uri="{FF2B5EF4-FFF2-40B4-BE49-F238E27FC236}">
                  <a16:creationId xmlns:a16="http://schemas.microsoft.com/office/drawing/2014/main" id="{85C80889-458A-4DAC-B3E5-C8B1CBCF5A7C}"/>
                </a:ext>
              </a:extLst>
            </p:cNvPr>
            <p:cNvSpPr>
              <a:spLocks/>
            </p:cNvSpPr>
            <p:nvPr/>
          </p:nvSpPr>
          <p:spPr bwMode="gray">
            <a:xfrm>
              <a:off x="5034769" y="2607104"/>
              <a:ext cx="190667" cy="217191"/>
            </a:xfrm>
            <a:custGeom>
              <a:avLst/>
              <a:gdLst>
                <a:gd name="T0" fmla="*/ 261 w 281"/>
                <a:gd name="T1" fmla="*/ 153 h 339"/>
                <a:gd name="T2" fmla="*/ 244 w 281"/>
                <a:gd name="T3" fmla="*/ 140 h 339"/>
                <a:gd name="T4" fmla="*/ 254 w 281"/>
                <a:gd name="T5" fmla="*/ 100 h 339"/>
                <a:gd name="T6" fmla="*/ 273 w 281"/>
                <a:gd name="T7" fmla="*/ 74 h 339"/>
                <a:gd name="T8" fmla="*/ 263 w 281"/>
                <a:gd name="T9" fmla="*/ 56 h 339"/>
                <a:gd name="T10" fmla="*/ 229 w 281"/>
                <a:gd name="T11" fmla="*/ 62 h 339"/>
                <a:gd name="T12" fmla="*/ 210 w 281"/>
                <a:gd name="T13" fmla="*/ 36 h 339"/>
                <a:gd name="T14" fmla="*/ 220 w 281"/>
                <a:gd name="T15" fmla="*/ 4 h 339"/>
                <a:gd name="T16" fmla="*/ 177 w 281"/>
                <a:gd name="T17" fmla="*/ 1 h 339"/>
                <a:gd name="T18" fmla="*/ 147 w 281"/>
                <a:gd name="T19" fmla="*/ 9 h 339"/>
                <a:gd name="T20" fmla="*/ 125 w 281"/>
                <a:gd name="T21" fmla="*/ 10 h 339"/>
                <a:gd name="T22" fmla="*/ 128 w 281"/>
                <a:gd name="T23" fmla="*/ 37 h 339"/>
                <a:gd name="T24" fmla="*/ 56 w 281"/>
                <a:gd name="T25" fmla="*/ 75 h 339"/>
                <a:gd name="T26" fmla="*/ 46 w 281"/>
                <a:gd name="T27" fmla="*/ 71 h 339"/>
                <a:gd name="T28" fmla="*/ 40 w 281"/>
                <a:gd name="T29" fmla="*/ 77 h 339"/>
                <a:gd name="T30" fmla="*/ 30 w 281"/>
                <a:gd name="T31" fmla="*/ 107 h 339"/>
                <a:gd name="T32" fmla="*/ 0 w 281"/>
                <a:gd name="T33" fmla="*/ 166 h 339"/>
                <a:gd name="T34" fmla="*/ 28 w 281"/>
                <a:gd name="T35" fmla="*/ 195 h 339"/>
                <a:gd name="T36" fmla="*/ 27 w 281"/>
                <a:gd name="T37" fmla="*/ 228 h 339"/>
                <a:gd name="T38" fmla="*/ 46 w 281"/>
                <a:gd name="T39" fmla="*/ 259 h 339"/>
                <a:gd name="T40" fmla="*/ 61 w 281"/>
                <a:gd name="T41" fmla="*/ 271 h 339"/>
                <a:gd name="T42" fmla="*/ 91 w 281"/>
                <a:gd name="T43" fmla="*/ 311 h 339"/>
                <a:gd name="T44" fmla="*/ 114 w 281"/>
                <a:gd name="T45" fmla="*/ 339 h 339"/>
                <a:gd name="T46" fmla="*/ 133 w 281"/>
                <a:gd name="T47" fmla="*/ 317 h 339"/>
                <a:gd name="T48" fmla="*/ 152 w 281"/>
                <a:gd name="T49" fmla="*/ 304 h 339"/>
                <a:gd name="T50" fmla="*/ 149 w 281"/>
                <a:gd name="T51" fmla="*/ 287 h 339"/>
                <a:gd name="T52" fmla="*/ 139 w 281"/>
                <a:gd name="T53" fmla="*/ 274 h 339"/>
                <a:gd name="T54" fmla="*/ 172 w 281"/>
                <a:gd name="T55" fmla="*/ 257 h 339"/>
                <a:gd name="T56" fmla="*/ 178 w 281"/>
                <a:gd name="T57" fmla="*/ 225 h 339"/>
                <a:gd name="T58" fmla="*/ 204 w 281"/>
                <a:gd name="T59" fmla="*/ 255 h 339"/>
                <a:gd name="T60" fmla="*/ 241 w 281"/>
                <a:gd name="T61" fmla="*/ 239 h 339"/>
                <a:gd name="T62" fmla="*/ 260 w 281"/>
                <a:gd name="T63" fmla="*/ 244 h 339"/>
                <a:gd name="T64" fmla="*/ 269 w 281"/>
                <a:gd name="T65" fmla="*/ 212 h 339"/>
                <a:gd name="T66" fmla="*/ 272 w 281"/>
                <a:gd name="T67" fmla="*/ 171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1" h="339">
                  <a:moveTo>
                    <a:pt x="279" y="160"/>
                  </a:moveTo>
                  <a:cubicBezTo>
                    <a:pt x="277" y="154"/>
                    <a:pt x="261" y="153"/>
                    <a:pt x="261" y="153"/>
                  </a:cubicBezTo>
                  <a:cubicBezTo>
                    <a:pt x="256" y="141"/>
                    <a:pt x="256" y="141"/>
                    <a:pt x="256" y="141"/>
                  </a:cubicBezTo>
                  <a:cubicBezTo>
                    <a:pt x="244" y="140"/>
                    <a:pt x="244" y="140"/>
                    <a:pt x="244" y="140"/>
                  </a:cubicBezTo>
                  <a:cubicBezTo>
                    <a:pt x="245" y="116"/>
                    <a:pt x="245" y="116"/>
                    <a:pt x="245" y="116"/>
                  </a:cubicBezTo>
                  <a:cubicBezTo>
                    <a:pt x="254" y="100"/>
                    <a:pt x="254" y="100"/>
                    <a:pt x="254" y="100"/>
                  </a:cubicBezTo>
                  <a:cubicBezTo>
                    <a:pt x="254" y="100"/>
                    <a:pt x="261" y="101"/>
                    <a:pt x="267" y="94"/>
                  </a:cubicBezTo>
                  <a:cubicBezTo>
                    <a:pt x="273" y="87"/>
                    <a:pt x="273" y="74"/>
                    <a:pt x="273" y="74"/>
                  </a:cubicBezTo>
                  <a:cubicBezTo>
                    <a:pt x="267" y="70"/>
                    <a:pt x="267" y="70"/>
                    <a:pt x="267" y="70"/>
                  </a:cubicBezTo>
                  <a:cubicBezTo>
                    <a:pt x="267" y="70"/>
                    <a:pt x="266" y="60"/>
                    <a:pt x="263" y="56"/>
                  </a:cubicBezTo>
                  <a:cubicBezTo>
                    <a:pt x="260" y="52"/>
                    <a:pt x="248" y="47"/>
                    <a:pt x="243" y="47"/>
                  </a:cubicBezTo>
                  <a:cubicBezTo>
                    <a:pt x="238" y="47"/>
                    <a:pt x="238" y="62"/>
                    <a:pt x="229" y="62"/>
                  </a:cubicBezTo>
                  <a:cubicBezTo>
                    <a:pt x="220" y="62"/>
                    <a:pt x="212" y="57"/>
                    <a:pt x="212" y="57"/>
                  </a:cubicBezTo>
                  <a:cubicBezTo>
                    <a:pt x="210" y="36"/>
                    <a:pt x="210" y="36"/>
                    <a:pt x="210" y="36"/>
                  </a:cubicBezTo>
                  <a:cubicBezTo>
                    <a:pt x="220" y="14"/>
                    <a:pt x="220" y="14"/>
                    <a:pt x="220" y="14"/>
                  </a:cubicBezTo>
                  <a:cubicBezTo>
                    <a:pt x="220" y="4"/>
                    <a:pt x="220" y="4"/>
                    <a:pt x="220" y="4"/>
                  </a:cubicBezTo>
                  <a:cubicBezTo>
                    <a:pt x="188" y="5"/>
                    <a:pt x="188" y="5"/>
                    <a:pt x="188" y="5"/>
                  </a:cubicBezTo>
                  <a:cubicBezTo>
                    <a:pt x="188" y="5"/>
                    <a:pt x="181" y="1"/>
                    <a:pt x="177" y="1"/>
                  </a:cubicBezTo>
                  <a:cubicBezTo>
                    <a:pt x="173" y="1"/>
                    <a:pt x="168" y="9"/>
                    <a:pt x="168" y="9"/>
                  </a:cubicBezTo>
                  <a:cubicBezTo>
                    <a:pt x="147" y="9"/>
                    <a:pt x="147" y="9"/>
                    <a:pt x="147" y="9"/>
                  </a:cubicBezTo>
                  <a:cubicBezTo>
                    <a:pt x="137" y="0"/>
                    <a:pt x="137" y="0"/>
                    <a:pt x="137" y="0"/>
                  </a:cubicBezTo>
                  <a:cubicBezTo>
                    <a:pt x="125" y="10"/>
                    <a:pt x="125" y="10"/>
                    <a:pt x="125" y="10"/>
                  </a:cubicBezTo>
                  <a:cubicBezTo>
                    <a:pt x="122" y="33"/>
                    <a:pt x="122" y="33"/>
                    <a:pt x="122" y="33"/>
                  </a:cubicBezTo>
                  <a:cubicBezTo>
                    <a:pt x="128" y="37"/>
                    <a:pt x="128" y="37"/>
                    <a:pt x="128" y="37"/>
                  </a:cubicBezTo>
                  <a:cubicBezTo>
                    <a:pt x="128" y="37"/>
                    <a:pt x="128" y="72"/>
                    <a:pt x="123" y="73"/>
                  </a:cubicBezTo>
                  <a:cubicBezTo>
                    <a:pt x="118" y="74"/>
                    <a:pt x="56" y="75"/>
                    <a:pt x="56" y="75"/>
                  </a:cubicBezTo>
                  <a:cubicBezTo>
                    <a:pt x="54" y="69"/>
                    <a:pt x="54" y="69"/>
                    <a:pt x="54" y="69"/>
                  </a:cubicBezTo>
                  <a:cubicBezTo>
                    <a:pt x="46" y="71"/>
                    <a:pt x="46" y="71"/>
                    <a:pt x="46" y="71"/>
                  </a:cubicBezTo>
                  <a:cubicBezTo>
                    <a:pt x="47" y="72"/>
                    <a:pt x="48" y="72"/>
                    <a:pt x="48" y="72"/>
                  </a:cubicBezTo>
                  <a:cubicBezTo>
                    <a:pt x="40" y="77"/>
                    <a:pt x="40" y="77"/>
                    <a:pt x="40" y="77"/>
                  </a:cubicBezTo>
                  <a:cubicBezTo>
                    <a:pt x="40" y="77"/>
                    <a:pt x="49" y="105"/>
                    <a:pt x="45" y="107"/>
                  </a:cubicBezTo>
                  <a:cubicBezTo>
                    <a:pt x="41" y="109"/>
                    <a:pt x="30" y="107"/>
                    <a:pt x="30" y="107"/>
                  </a:cubicBezTo>
                  <a:cubicBezTo>
                    <a:pt x="30" y="107"/>
                    <a:pt x="33" y="148"/>
                    <a:pt x="23" y="159"/>
                  </a:cubicBezTo>
                  <a:cubicBezTo>
                    <a:pt x="13" y="170"/>
                    <a:pt x="0" y="166"/>
                    <a:pt x="0" y="166"/>
                  </a:cubicBezTo>
                  <a:cubicBezTo>
                    <a:pt x="17" y="203"/>
                    <a:pt x="17" y="203"/>
                    <a:pt x="17" y="203"/>
                  </a:cubicBezTo>
                  <a:cubicBezTo>
                    <a:pt x="28" y="195"/>
                    <a:pt x="28" y="195"/>
                    <a:pt x="28" y="195"/>
                  </a:cubicBezTo>
                  <a:cubicBezTo>
                    <a:pt x="34" y="208"/>
                    <a:pt x="34" y="208"/>
                    <a:pt x="34" y="208"/>
                  </a:cubicBezTo>
                  <a:cubicBezTo>
                    <a:pt x="34" y="208"/>
                    <a:pt x="25" y="221"/>
                    <a:pt x="27" y="228"/>
                  </a:cubicBezTo>
                  <a:cubicBezTo>
                    <a:pt x="29" y="235"/>
                    <a:pt x="42" y="232"/>
                    <a:pt x="42" y="232"/>
                  </a:cubicBezTo>
                  <a:cubicBezTo>
                    <a:pt x="46" y="259"/>
                    <a:pt x="46" y="259"/>
                    <a:pt x="46" y="259"/>
                  </a:cubicBezTo>
                  <a:cubicBezTo>
                    <a:pt x="66" y="263"/>
                    <a:pt x="66" y="263"/>
                    <a:pt x="66" y="263"/>
                  </a:cubicBezTo>
                  <a:cubicBezTo>
                    <a:pt x="61" y="271"/>
                    <a:pt x="61" y="271"/>
                    <a:pt x="61" y="271"/>
                  </a:cubicBezTo>
                  <a:cubicBezTo>
                    <a:pt x="94" y="306"/>
                    <a:pt x="94" y="306"/>
                    <a:pt x="94" y="306"/>
                  </a:cubicBezTo>
                  <a:cubicBezTo>
                    <a:pt x="91" y="311"/>
                    <a:pt x="91" y="311"/>
                    <a:pt x="91" y="311"/>
                  </a:cubicBezTo>
                  <a:cubicBezTo>
                    <a:pt x="113" y="338"/>
                    <a:pt x="113" y="338"/>
                    <a:pt x="113" y="338"/>
                  </a:cubicBezTo>
                  <a:cubicBezTo>
                    <a:pt x="114" y="339"/>
                    <a:pt x="114" y="339"/>
                    <a:pt x="114" y="339"/>
                  </a:cubicBezTo>
                  <a:cubicBezTo>
                    <a:pt x="119" y="326"/>
                    <a:pt x="119" y="326"/>
                    <a:pt x="119" y="326"/>
                  </a:cubicBezTo>
                  <a:cubicBezTo>
                    <a:pt x="133" y="317"/>
                    <a:pt x="133" y="317"/>
                    <a:pt x="133" y="317"/>
                  </a:cubicBezTo>
                  <a:cubicBezTo>
                    <a:pt x="133" y="317"/>
                    <a:pt x="148" y="335"/>
                    <a:pt x="152" y="326"/>
                  </a:cubicBezTo>
                  <a:cubicBezTo>
                    <a:pt x="156" y="317"/>
                    <a:pt x="152" y="304"/>
                    <a:pt x="152" y="304"/>
                  </a:cubicBezTo>
                  <a:cubicBezTo>
                    <a:pt x="140" y="296"/>
                    <a:pt x="140" y="296"/>
                    <a:pt x="140" y="296"/>
                  </a:cubicBezTo>
                  <a:cubicBezTo>
                    <a:pt x="149" y="287"/>
                    <a:pt x="149" y="287"/>
                    <a:pt x="149" y="287"/>
                  </a:cubicBezTo>
                  <a:cubicBezTo>
                    <a:pt x="132" y="274"/>
                    <a:pt x="132" y="274"/>
                    <a:pt x="132" y="274"/>
                  </a:cubicBezTo>
                  <a:cubicBezTo>
                    <a:pt x="139" y="274"/>
                    <a:pt x="139" y="274"/>
                    <a:pt x="139" y="274"/>
                  </a:cubicBezTo>
                  <a:cubicBezTo>
                    <a:pt x="139" y="274"/>
                    <a:pt x="132" y="249"/>
                    <a:pt x="138" y="251"/>
                  </a:cubicBezTo>
                  <a:cubicBezTo>
                    <a:pt x="144" y="253"/>
                    <a:pt x="168" y="262"/>
                    <a:pt x="172" y="257"/>
                  </a:cubicBezTo>
                  <a:cubicBezTo>
                    <a:pt x="176" y="252"/>
                    <a:pt x="185" y="244"/>
                    <a:pt x="185" y="244"/>
                  </a:cubicBezTo>
                  <a:cubicBezTo>
                    <a:pt x="185" y="244"/>
                    <a:pt x="172" y="226"/>
                    <a:pt x="178" y="225"/>
                  </a:cubicBezTo>
                  <a:cubicBezTo>
                    <a:pt x="184" y="224"/>
                    <a:pt x="195" y="226"/>
                    <a:pt x="195" y="226"/>
                  </a:cubicBezTo>
                  <a:cubicBezTo>
                    <a:pt x="204" y="255"/>
                    <a:pt x="204" y="255"/>
                    <a:pt x="204" y="255"/>
                  </a:cubicBezTo>
                  <a:cubicBezTo>
                    <a:pt x="204" y="255"/>
                    <a:pt x="218" y="256"/>
                    <a:pt x="226" y="254"/>
                  </a:cubicBezTo>
                  <a:cubicBezTo>
                    <a:pt x="234" y="252"/>
                    <a:pt x="237" y="236"/>
                    <a:pt x="241" y="239"/>
                  </a:cubicBezTo>
                  <a:cubicBezTo>
                    <a:pt x="245" y="242"/>
                    <a:pt x="238" y="264"/>
                    <a:pt x="248" y="264"/>
                  </a:cubicBezTo>
                  <a:cubicBezTo>
                    <a:pt x="258" y="264"/>
                    <a:pt x="260" y="258"/>
                    <a:pt x="260" y="244"/>
                  </a:cubicBezTo>
                  <a:cubicBezTo>
                    <a:pt x="260" y="230"/>
                    <a:pt x="273" y="226"/>
                    <a:pt x="273" y="226"/>
                  </a:cubicBezTo>
                  <a:cubicBezTo>
                    <a:pt x="269" y="212"/>
                    <a:pt x="269" y="212"/>
                    <a:pt x="269" y="212"/>
                  </a:cubicBezTo>
                  <a:cubicBezTo>
                    <a:pt x="273" y="201"/>
                    <a:pt x="273" y="201"/>
                    <a:pt x="273" y="201"/>
                  </a:cubicBezTo>
                  <a:cubicBezTo>
                    <a:pt x="272" y="171"/>
                    <a:pt x="272" y="171"/>
                    <a:pt x="272" y="171"/>
                  </a:cubicBezTo>
                  <a:cubicBezTo>
                    <a:pt x="272" y="171"/>
                    <a:pt x="281" y="166"/>
                    <a:pt x="279" y="160"/>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491" name="Freeform 283">
              <a:extLst>
                <a:ext uri="{FF2B5EF4-FFF2-40B4-BE49-F238E27FC236}">
                  <a16:creationId xmlns:a16="http://schemas.microsoft.com/office/drawing/2014/main" id="{7C5FC782-D981-4350-BE24-2A016EB2E54E}"/>
                </a:ext>
              </a:extLst>
            </p:cNvPr>
            <p:cNvSpPr>
              <a:spLocks/>
            </p:cNvSpPr>
            <p:nvPr/>
          </p:nvSpPr>
          <p:spPr bwMode="gray">
            <a:xfrm>
              <a:off x="5725366" y="3575504"/>
              <a:ext cx="49389" cy="55655"/>
            </a:xfrm>
            <a:custGeom>
              <a:avLst/>
              <a:gdLst>
                <a:gd name="T0" fmla="*/ 59 w 73"/>
                <a:gd name="T1" fmla="*/ 35 h 87"/>
                <a:gd name="T2" fmla="*/ 62 w 73"/>
                <a:gd name="T3" fmla="*/ 11 h 87"/>
                <a:gd name="T4" fmla="*/ 46 w 73"/>
                <a:gd name="T5" fmla="*/ 14 h 87"/>
                <a:gd name="T6" fmla="*/ 27 w 73"/>
                <a:gd name="T7" fmla="*/ 0 h 87"/>
                <a:gd name="T8" fmla="*/ 11 w 73"/>
                <a:gd name="T9" fmla="*/ 29 h 87"/>
                <a:gd name="T10" fmla="*/ 2 w 73"/>
                <a:gd name="T11" fmla="*/ 58 h 87"/>
                <a:gd name="T12" fmla="*/ 34 w 73"/>
                <a:gd name="T13" fmla="*/ 86 h 87"/>
                <a:gd name="T14" fmla="*/ 56 w 73"/>
                <a:gd name="T15" fmla="*/ 87 h 87"/>
                <a:gd name="T16" fmla="*/ 63 w 73"/>
                <a:gd name="T17" fmla="*/ 62 h 87"/>
                <a:gd name="T18" fmla="*/ 73 w 73"/>
                <a:gd name="T19" fmla="*/ 58 h 87"/>
                <a:gd name="T20" fmla="*/ 69 w 73"/>
                <a:gd name="T21" fmla="*/ 42 h 87"/>
                <a:gd name="T22" fmla="*/ 59 w 73"/>
                <a:gd name="T23" fmla="*/ 35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3" h="87">
                  <a:moveTo>
                    <a:pt x="59" y="35"/>
                  </a:moveTo>
                  <a:cubicBezTo>
                    <a:pt x="57" y="28"/>
                    <a:pt x="62" y="11"/>
                    <a:pt x="62" y="11"/>
                  </a:cubicBezTo>
                  <a:cubicBezTo>
                    <a:pt x="46" y="14"/>
                    <a:pt x="46" y="14"/>
                    <a:pt x="46" y="14"/>
                  </a:cubicBezTo>
                  <a:cubicBezTo>
                    <a:pt x="46" y="14"/>
                    <a:pt x="34" y="0"/>
                    <a:pt x="27" y="0"/>
                  </a:cubicBezTo>
                  <a:cubicBezTo>
                    <a:pt x="20" y="0"/>
                    <a:pt x="14" y="25"/>
                    <a:pt x="11" y="29"/>
                  </a:cubicBezTo>
                  <a:cubicBezTo>
                    <a:pt x="8" y="33"/>
                    <a:pt x="0" y="46"/>
                    <a:pt x="2" y="58"/>
                  </a:cubicBezTo>
                  <a:cubicBezTo>
                    <a:pt x="4" y="70"/>
                    <a:pt x="27" y="86"/>
                    <a:pt x="34" y="86"/>
                  </a:cubicBezTo>
                  <a:cubicBezTo>
                    <a:pt x="41" y="86"/>
                    <a:pt x="56" y="87"/>
                    <a:pt x="56" y="87"/>
                  </a:cubicBezTo>
                  <a:cubicBezTo>
                    <a:pt x="63" y="62"/>
                    <a:pt x="63" y="62"/>
                    <a:pt x="63" y="62"/>
                  </a:cubicBezTo>
                  <a:cubicBezTo>
                    <a:pt x="63" y="62"/>
                    <a:pt x="68" y="59"/>
                    <a:pt x="73" y="58"/>
                  </a:cubicBezTo>
                  <a:cubicBezTo>
                    <a:pt x="69" y="42"/>
                    <a:pt x="69" y="42"/>
                    <a:pt x="69" y="42"/>
                  </a:cubicBezTo>
                  <a:cubicBezTo>
                    <a:pt x="69" y="42"/>
                    <a:pt x="62" y="42"/>
                    <a:pt x="59" y="35"/>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492" name="Freeform 284">
              <a:extLst>
                <a:ext uri="{FF2B5EF4-FFF2-40B4-BE49-F238E27FC236}">
                  <a16:creationId xmlns:a16="http://schemas.microsoft.com/office/drawing/2014/main" id="{2A58DC0D-F7A1-4B63-B060-FED7E7556A17}"/>
                </a:ext>
              </a:extLst>
            </p:cNvPr>
            <p:cNvSpPr>
              <a:spLocks/>
            </p:cNvSpPr>
            <p:nvPr/>
          </p:nvSpPr>
          <p:spPr bwMode="gray">
            <a:xfrm>
              <a:off x="5129817" y="3273337"/>
              <a:ext cx="430724" cy="415649"/>
            </a:xfrm>
            <a:custGeom>
              <a:avLst/>
              <a:gdLst>
                <a:gd name="T0" fmla="*/ 257 w 635"/>
                <a:gd name="T1" fmla="*/ 609 h 648"/>
                <a:gd name="T2" fmla="*/ 281 w 635"/>
                <a:gd name="T3" fmla="*/ 636 h 648"/>
                <a:gd name="T4" fmla="*/ 304 w 635"/>
                <a:gd name="T5" fmla="*/ 648 h 648"/>
                <a:gd name="T6" fmla="*/ 330 w 635"/>
                <a:gd name="T7" fmla="*/ 646 h 648"/>
                <a:gd name="T8" fmla="*/ 345 w 635"/>
                <a:gd name="T9" fmla="*/ 632 h 648"/>
                <a:gd name="T10" fmla="*/ 358 w 635"/>
                <a:gd name="T11" fmla="*/ 622 h 648"/>
                <a:gd name="T12" fmla="*/ 384 w 635"/>
                <a:gd name="T13" fmla="*/ 273 h 648"/>
                <a:gd name="T14" fmla="*/ 431 w 635"/>
                <a:gd name="T15" fmla="*/ 192 h 648"/>
                <a:gd name="T16" fmla="*/ 435 w 635"/>
                <a:gd name="T17" fmla="*/ 71 h 648"/>
                <a:gd name="T18" fmla="*/ 541 w 635"/>
                <a:gd name="T19" fmla="*/ 55 h 648"/>
                <a:gd name="T20" fmla="*/ 554 w 635"/>
                <a:gd name="T21" fmla="*/ 69 h 648"/>
                <a:gd name="T22" fmla="*/ 577 w 635"/>
                <a:gd name="T23" fmla="*/ 63 h 648"/>
                <a:gd name="T24" fmla="*/ 601 w 635"/>
                <a:gd name="T25" fmla="*/ 55 h 648"/>
                <a:gd name="T26" fmla="*/ 635 w 635"/>
                <a:gd name="T27" fmla="*/ 45 h 648"/>
                <a:gd name="T28" fmla="*/ 602 w 635"/>
                <a:gd name="T29" fmla="*/ 34 h 648"/>
                <a:gd name="T30" fmla="*/ 576 w 635"/>
                <a:gd name="T31" fmla="*/ 31 h 648"/>
                <a:gd name="T32" fmla="*/ 548 w 635"/>
                <a:gd name="T33" fmla="*/ 35 h 648"/>
                <a:gd name="T34" fmla="*/ 414 w 635"/>
                <a:gd name="T35" fmla="*/ 55 h 648"/>
                <a:gd name="T36" fmla="*/ 362 w 635"/>
                <a:gd name="T37" fmla="*/ 50 h 648"/>
                <a:gd name="T38" fmla="*/ 335 w 635"/>
                <a:gd name="T39" fmla="*/ 44 h 648"/>
                <a:gd name="T40" fmla="*/ 116 w 635"/>
                <a:gd name="T41" fmla="*/ 25 h 648"/>
                <a:gd name="T42" fmla="*/ 58 w 635"/>
                <a:gd name="T43" fmla="*/ 0 h 648"/>
                <a:gd name="T44" fmla="*/ 28 w 635"/>
                <a:gd name="T45" fmla="*/ 16 h 648"/>
                <a:gd name="T46" fmla="*/ 10 w 635"/>
                <a:gd name="T47" fmla="*/ 15 h 648"/>
                <a:gd name="T48" fmla="*/ 4 w 635"/>
                <a:gd name="T49" fmla="*/ 62 h 648"/>
                <a:gd name="T50" fmla="*/ 65 w 635"/>
                <a:gd name="T51" fmla="*/ 170 h 648"/>
                <a:gd name="T52" fmla="*/ 102 w 635"/>
                <a:gd name="T53" fmla="*/ 245 h 648"/>
                <a:gd name="T54" fmla="*/ 131 w 635"/>
                <a:gd name="T55" fmla="*/ 296 h 648"/>
                <a:gd name="T56" fmla="*/ 146 w 635"/>
                <a:gd name="T57" fmla="*/ 431 h 648"/>
                <a:gd name="T58" fmla="*/ 149 w 635"/>
                <a:gd name="T59" fmla="*/ 484 h 648"/>
                <a:gd name="T60" fmla="*/ 159 w 635"/>
                <a:gd name="T61" fmla="*/ 508 h 648"/>
                <a:gd name="T62" fmla="*/ 168 w 635"/>
                <a:gd name="T63" fmla="*/ 544 h 648"/>
                <a:gd name="T64" fmla="*/ 190 w 635"/>
                <a:gd name="T65" fmla="*/ 606 h 648"/>
                <a:gd name="T66" fmla="*/ 216 w 635"/>
                <a:gd name="T67" fmla="*/ 625 h 648"/>
                <a:gd name="T68" fmla="*/ 243 w 635"/>
                <a:gd name="T69" fmla="*/ 596 h 6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35" h="648">
                  <a:moveTo>
                    <a:pt x="243" y="596"/>
                  </a:moveTo>
                  <a:cubicBezTo>
                    <a:pt x="247" y="597"/>
                    <a:pt x="257" y="609"/>
                    <a:pt x="257" y="609"/>
                  </a:cubicBezTo>
                  <a:cubicBezTo>
                    <a:pt x="257" y="609"/>
                    <a:pt x="256" y="624"/>
                    <a:pt x="261" y="631"/>
                  </a:cubicBezTo>
                  <a:cubicBezTo>
                    <a:pt x="265" y="638"/>
                    <a:pt x="274" y="632"/>
                    <a:pt x="281" y="636"/>
                  </a:cubicBezTo>
                  <a:cubicBezTo>
                    <a:pt x="288" y="640"/>
                    <a:pt x="292" y="648"/>
                    <a:pt x="292" y="648"/>
                  </a:cubicBezTo>
                  <a:cubicBezTo>
                    <a:pt x="304" y="648"/>
                    <a:pt x="304" y="648"/>
                    <a:pt x="304" y="648"/>
                  </a:cubicBezTo>
                  <a:cubicBezTo>
                    <a:pt x="304" y="648"/>
                    <a:pt x="310" y="640"/>
                    <a:pt x="318" y="640"/>
                  </a:cubicBezTo>
                  <a:cubicBezTo>
                    <a:pt x="326" y="640"/>
                    <a:pt x="330" y="646"/>
                    <a:pt x="330" y="646"/>
                  </a:cubicBezTo>
                  <a:cubicBezTo>
                    <a:pt x="330" y="646"/>
                    <a:pt x="337" y="646"/>
                    <a:pt x="342" y="646"/>
                  </a:cubicBezTo>
                  <a:cubicBezTo>
                    <a:pt x="348" y="646"/>
                    <a:pt x="345" y="632"/>
                    <a:pt x="345" y="632"/>
                  </a:cubicBezTo>
                  <a:cubicBezTo>
                    <a:pt x="353" y="630"/>
                    <a:pt x="353" y="630"/>
                    <a:pt x="353" y="630"/>
                  </a:cubicBezTo>
                  <a:cubicBezTo>
                    <a:pt x="353" y="630"/>
                    <a:pt x="351" y="625"/>
                    <a:pt x="358" y="622"/>
                  </a:cubicBezTo>
                  <a:cubicBezTo>
                    <a:pt x="365" y="619"/>
                    <a:pt x="379" y="618"/>
                    <a:pt x="379" y="618"/>
                  </a:cubicBezTo>
                  <a:cubicBezTo>
                    <a:pt x="384" y="273"/>
                    <a:pt x="384" y="273"/>
                    <a:pt x="384" y="273"/>
                  </a:cubicBezTo>
                  <a:cubicBezTo>
                    <a:pt x="432" y="273"/>
                    <a:pt x="432" y="273"/>
                    <a:pt x="432" y="273"/>
                  </a:cubicBezTo>
                  <a:cubicBezTo>
                    <a:pt x="431" y="192"/>
                    <a:pt x="431" y="192"/>
                    <a:pt x="431" y="192"/>
                  </a:cubicBezTo>
                  <a:cubicBezTo>
                    <a:pt x="435" y="188"/>
                    <a:pt x="435" y="188"/>
                    <a:pt x="435" y="188"/>
                  </a:cubicBezTo>
                  <a:cubicBezTo>
                    <a:pt x="435" y="71"/>
                    <a:pt x="435" y="71"/>
                    <a:pt x="435" y="71"/>
                  </a:cubicBezTo>
                  <a:cubicBezTo>
                    <a:pt x="435" y="71"/>
                    <a:pt x="474" y="68"/>
                    <a:pt x="496" y="65"/>
                  </a:cubicBezTo>
                  <a:cubicBezTo>
                    <a:pt x="517" y="63"/>
                    <a:pt x="533" y="55"/>
                    <a:pt x="541" y="55"/>
                  </a:cubicBezTo>
                  <a:cubicBezTo>
                    <a:pt x="550" y="55"/>
                    <a:pt x="548" y="69"/>
                    <a:pt x="548" y="69"/>
                  </a:cubicBezTo>
                  <a:cubicBezTo>
                    <a:pt x="554" y="69"/>
                    <a:pt x="554" y="69"/>
                    <a:pt x="554" y="69"/>
                  </a:cubicBezTo>
                  <a:cubicBezTo>
                    <a:pt x="554" y="69"/>
                    <a:pt x="556" y="83"/>
                    <a:pt x="559" y="82"/>
                  </a:cubicBezTo>
                  <a:cubicBezTo>
                    <a:pt x="562" y="81"/>
                    <a:pt x="572" y="68"/>
                    <a:pt x="577" y="63"/>
                  </a:cubicBezTo>
                  <a:cubicBezTo>
                    <a:pt x="583" y="57"/>
                    <a:pt x="593" y="55"/>
                    <a:pt x="593" y="55"/>
                  </a:cubicBezTo>
                  <a:cubicBezTo>
                    <a:pt x="601" y="55"/>
                    <a:pt x="601" y="55"/>
                    <a:pt x="601" y="55"/>
                  </a:cubicBezTo>
                  <a:cubicBezTo>
                    <a:pt x="612" y="47"/>
                    <a:pt x="612" y="47"/>
                    <a:pt x="612" y="47"/>
                  </a:cubicBezTo>
                  <a:cubicBezTo>
                    <a:pt x="635" y="45"/>
                    <a:pt x="635" y="45"/>
                    <a:pt x="635" y="45"/>
                  </a:cubicBezTo>
                  <a:cubicBezTo>
                    <a:pt x="622" y="32"/>
                    <a:pt x="622" y="32"/>
                    <a:pt x="622" y="32"/>
                  </a:cubicBezTo>
                  <a:cubicBezTo>
                    <a:pt x="602" y="34"/>
                    <a:pt x="602" y="34"/>
                    <a:pt x="602" y="34"/>
                  </a:cubicBezTo>
                  <a:cubicBezTo>
                    <a:pt x="602" y="34"/>
                    <a:pt x="601" y="26"/>
                    <a:pt x="592" y="26"/>
                  </a:cubicBezTo>
                  <a:cubicBezTo>
                    <a:pt x="583" y="26"/>
                    <a:pt x="576" y="31"/>
                    <a:pt x="576" y="31"/>
                  </a:cubicBezTo>
                  <a:cubicBezTo>
                    <a:pt x="563" y="39"/>
                    <a:pt x="563" y="39"/>
                    <a:pt x="563" y="39"/>
                  </a:cubicBezTo>
                  <a:cubicBezTo>
                    <a:pt x="548" y="35"/>
                    <a:pt x="548" y="35"/>
                    <a:pt x="548" y="35"/>
                  </a:cubicBezTo>
                  <a:cubicBezTo>
                    <a:pt x="548" y="35"/>
                    <a:pt x="488" y="55"/>
                    <a:pt x="460" y="55"/>
                  </a:cubicBezTo>
                  <a:cubicBezTo>
                    <a:pt x="432" y="55"/>
                    <a:pt x="414" y="55"/>
                    <a:pt x="414" y="55"/>
                  </a:cubicBezTo>
                  <a:cubicBezTo>
                    <a:pt x="408" y="49"/>
                    <a:pt x="408" y="49"/>
                    <a:pt x="408" y="49"/>
                  </a:cubicBezTo>
                  <a:cubicBezTo>
                    <a:pt x="362" y="50"/>
                    <a:pt x="362" y="50"/>
                    <a:pt x="362" y="50"/>
                  </a:cubicBezTo>
                  <a:cubicBezTo>
                    <a:pt x="358" y="44"/>
                    <a:pt x="358" y="44"/>
                    <a:pt x="358" y="44"/>
                  </a:cubicBezTo>
                  <a:cubicBezTo>
                    <a:pt x="358" y="44"/>
                    <a:pt x="342" y="46"/>
                    <a:pt x="335" y="44"/>
                  </a:cubicBezTo>
                  <a:cubicBezTo>
                    <a:pt x="328" y="42"/>
                    <a:pt x="319" y="23"/>
                    <a:pt x="319" y="23"/>
                  </a:cubicBezTo>
                  <a:cubicBezTo>
                    <a:pt x="116" y="25"/>
                    <a:pt x="116" y="25"/>
                    <a:pt x="116" y="25"/>
                  </a:cubicBezTo>
                  <a:cubicBezTo>
                    <a:pt x="116" y="25"/>
                    <a:pt x="82" y="12"/>
                    <a:pt x="78" y="1"/>
                  </a:cubicBezTo>
                  <a:cubicBezTo>
                    <a:pt x="79" y="2"/>
                    <a:pt x="58" y="0"/>
                    <a:pt x="58" y="0"/>
                  </a:cubicBezTo>
                  <a:cubicBezTo>
                    <a:pt x="58" y="0"/>
                    <a:pt x="54" y="14"/>
                    <a:pt x="47" y="15"/>
                  </a:cubicBezTo>
                  <a:cubicBezTo>
                    <a:pt x="40" y="16"/>
                    <a:pt x="28" y="16"/>
                    <a:pt x="28" y="16"/>
                  </a:cubicBezTo>
                  <a:cubicBezTo>
                    <a:pt x="21" y="11"/>
                    <a:pt x="21" y="11"/>
                    <a:pt x="21" y="11"/>
                  </a:cubicBezTo>
                  <a:cubicBezTo>
                    <a:pt x="10" y="15"/>
                    <a:pt x="10" y="15"/>
                    <a:pt x="10" y="15"/>
                  </a:cubicBezTo>
                  <a:cubicBezTo>
                    <a:pt x="0" y="16"/>
                    <a:pt x="0" y="16"/>
                    <a:pt x="0" y="16"/>
                  </a:cubicBezTo>
                  <a:cubicBezTo>
                    <a:pt x="4" y="62"/>
                    <a:pt x="4" y="62"/>
                    <a:pt x="4" y="62"/>
                  </a:cubicBezTo>
                  <a:cubicBezTo>
                    <a:pt x="4" y="62"/>
                    <a:pt x="13" y="79"/>
                    <a:pt x="22" y="92"/>
                  </a:cubicBezTo>
                  <a:cubicBezTo>
                    <a:pt x="31" y="105"/>
                    <a:pt x="64" y="153"/>
                    <a:pt x="65" y="170"/>
                  </a:cubicBezTo>
                  <a:cubicBezTo>
                    <a:pt x="66" y="187"/>
                    <a:pt x="79" y="204"/>
                    <a:pt x="83" y="217"/>
                  </a:cubicBezTo>
                  <a:cubicBezTo>
                    <a:pt x="87" y="230"/>
                    <a:pt x="102" y="245"/>
                    <a:pt x="102" y="245"/>
                  </a:cubicBezTo>
                  <a:cubicBezTo>
                    <a:pt x="102" y="259"/>
                    <a:pt x="102" y="259"/>
                    <a:pt x="102" y="259"/>
                  </a:cubicBezTo>
                  <a:cubicBezTo>
                    <a:pt x="102" y="259"/>
                    <a:pt x="131" y="280"/>
                    <a:pt x="131" y="296"/>
                  </a:cubicBezTo>
                  <a:cubicBezTo>
                    <a:pt x="131" y="312"/>
                    <a:pt x="129" y="386"/>
                    <a:pt x="129" y="386"/>
                  </a:cubicBezTo>
                  <a:cubicBezTo>
                    <a:pt x="129" y="386"/>
                    <a:pt x="144" y="411"/>
                    <a:pt x="146" y="431"/>
                  </a:cubicBezTo>
                  <a:cubicBezTo>
                    <a:pt x="148" y="451"/>
                    <a:pt x="140" y="451"/>
                    <a:pt x="140" y="451"/>
                  </a:cubicBezTo>
                  <a:cubicBezTo>
                    <a:pt x="149" y="484"/>
                    <a:pt x="149" y="484"/>
                    <a:pt x="149" y="484"/>
                  </a:cubicBezTo>
                  <a:cubicBezTo>
                    <a:pt x="151" y="508"/>
                    <a:pt x="151" y="508"/>
                    <a:pt x="151" y="508"/>
                  </a:cubicBezTo>
                  <a:cubicBezTo>
                    <a:pt x="159" y="508"/>
                    <a:pt x="159" y="508"/>
                    <a:pt x="159" y="508"/>
                  </a:cubicBezTo>
                  <a:cubicBezTo>
                    <a:pt x="159" y="508"/>
                    <a:pt x="156" y="528"/>
                    <a:pt x="157" y="532"/>
                  </a:cubicBezTo>
                  <a:cubicBezTo>
                    <a:pt x="158" y="536"/>
                    <a:pt x="168" y="544"/>
                    <a:pt x="168" y="544"/>
                  </a:cubicBezTo>
                  <a:cubicBezTo>
                    <a:pt x="169" y="563"/>
                    <a:pt x="169" y="563"/>
                    <a:pt x="169" y="563"/>
                  </a:cubicBezTo>
                  <a:cubicBezTo>
                    <a:pt x="169" y="563"/>
                    <a:pt x="184" y="595"/>
                    <a:pt x="190" y="606"/>
                  </a:cubicBezTo>
                  <a:cubicBezTo>
                    <a:pt x="196" y="617"/>
                    <a:pt x="216" y="624"/>
                    <a:pt x="216" y="624"/>
                  </a:cubicBezTo>
                  <a:cubicBezTo>
                    <a:pt x="216" y="624"/>
                    <a:pt x="216" y="624"/>
                    <a:pt x="216" y="625"/>
                  </a:cubicBezTo>
                  <a:cubicBezTo>
                    <a:pt x="228" y="619"/>
                    <a:pt x="228" y="619"/>
                    <a:pt x="228" y="619"/>
                  </a:cubicBezTo>
                  <a:cubicBezTo>
                    <a:pt x="228" y="619"/>
                    <a:pt x="239" y="595"/>
                    <a:pt x="243" y="596"/>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493" name="Freeform 285">
              <a:extLst>
                <a:ext uri="{FF2B5EF4-FFF2-40B4-BE49-F238E27FC236}">
                  <a16:creationId xmlns:a16="http://schemas.microsoft.com/office/drawing/2014/main" id="{6DF22681-84F3-4499-996D-B25D5A0E8B25}"/>
                </a:ext>
              </a:extLst>
            </p:cNvPr>
            <p:cNvSpPr>
              <a:spLocks/>
            </p:cNvSpPr>
            <p:nvPr/>
          </p:nvSpPr>
          <p:spPr bwMode="gray">
            <a:xfrm>
              <a:off x="5560541" y="3227183"/>
              <a:ext cx="252404" cy="234566"/>
            </a:xfrm>
            <a:custGeom>
              <a:avLst/>
              <a:gdLst>
                <a:gd name="T0" fmla="*/ 11 w 372"/>
                <a:gd name="T1" fmla="*/ 136 h 366"/>
                <a:gd name="T2" fmla="*/ 11 w 372"/>
                <a:gd name="T3" fmla="*/ 156 h 366"/>
                <a:gd name="T4" fmla="*/ 23 w 372"/>
                <a:gd name="T5" fmla="*/ 160 h 366"/>
                <a:gd name="T6" fmla="*/ 33 w 372"/>
                <a:gd name="T7" fmla="*/ 181 h 366"/>
                <a:gd name="T8" fmla="*/ 42 w 372"/>
                <a:gd name="T9" fmla="*/ 213 h 366"/>
                <a:gd name="T10" fmla="*/ 70 w 372"/>
                <a:gd name="T11" fmla="*/ 234 h 366"/>
                <a:gd name="T12" fmla="*/ 90 w 372"/>
                <a:gd name="T13" fmla="*/ 238 h 366"/>
                <a:gd name="T14" fmla="*/ 91 w 372"/>
                <a:gd name="T15" fmla="*/ 260 h 366"/>
                <a:gd name="T16" fmla="*/ 112 w 372"/>
                <a:gd name="T17" fmla="*/ 261 h 366"/>
                <a:gd name="T18" fmla="*/ 114 w 372"/>
                <a:gd name="T19" fmla="*/ 276 h 366"/>
                <a:gd name="T20" fmla="*/ 110 w 372"/>
                <a:gd name="T21" fmla="*/ 281 h 366"/>
                <a:gd name="T22" fmla="*/ 110 w 372"/>
                <a:gd name="T23" fmla="*/ 299 h 366"/>
                <a:gd name="T24" fmla="*/ 122 w 372"/>
                <a:gd name="T25" fmla="*/ 304 h 366"/>
                <a:gd name="T26" fmla="*/ 122 w 372"/>
                <a:gd name="T27" fmla="*/ 319 h 366"/>
                <a:gd name="T28" fmla="*/ 161 w 372"/>
                <a:gd name="T29" fmla="*/ 327 h 366"/>
                <a:gd name="T30" fmla="*/ 180 w 372"/>
                <a:gd name="T31" fmla="*/ 352 h 366"/>
                <a:gd name="T32" fmla="*/ 167 w 372"/>
                <a:gd name="T33" fmla="*/ 353 h 366"/>
                <a:gd name="T34" fmla="*/ 206 w 372"/>
                <a:gd name="T35" fmla="*/ 351 h 366"/>
                <a:gd name="T36" fmla="*/ 230 w 372"/>
                <a:gd name="T37" fmla="*/ 359 h 366"/>
                <a:gd name="T38" fmla="*/ 265 w 372"/>
                <a:gd name="T39" fmla="*/ 359 h 366"/>
                <a:gd name="T40" fmla="*/ 277 w 372"/>
                <a:gd name="T41" fmla="*/ 366 h 366"/>
                <a:gd name="T42" fmla="*/ 324 w 372"/>
                <a:gd name="T43" fmla="*/ 310 h 366"/>
                <a:gd name="T44" fmla="*/ 334 w 372"/>
                <a:gd name="T45" fmla="*/ 307 h 366"/>
                <a:gd name="T46" fmla="*/ 325 w 372"/>
                <a:gd name="T47" fmla="*/ 294 h 366"/>
                <a:gd name="T48" fmla="*/ 333 w 372"/>
                <a:gd name="T49" fmla="*/ 289 h 366"/>
                <a:gd name="T50" fmla="*/ 334 w 372"/>
                <a:gd name="T51" fmla="*/ 266 h 366"/>
                <a:gd name="T52" fmla="*/ 350 w 372"/>
                <a:gd name="T53" fmla="*/ 257 h 366"/>
                <a:gd name="T54" fmla="*/ 354 w 372"/>
                <a:gd name="T55" fmla="*/ 242 h 366"/>
                <a:gd name="T56" fmla="*/ 364 w 372"/>
                <a:gd name="T57" fmla="*/ 229 h 366"/>
                <a:gd name="T58" fmla="*/ 346 w 372"/>
                <a:gd name="T59" fmla="*/ 206 h 366"/>
                <a:gd name="T60" fmla="*/ 360 w 372"/>
                <a:gd name="T61" fmla="*/ 190 h 366"/>
                <a:gd name="T62" fmla="*/ 346 w 372"/>
                <a:gd name="T63" fmla="*/ 174 h 366"/>
                <a:gd name="T64" fmla="*/ 360 w 372"/>
                <a:gd name="T65" fmla="*/ 167 h 366"/>
                <a:gd name="T66" fmla="*/ 360 w 372"/>
                <a:gd name="T67" fmla="*/ 158 h 366"/>
                <a:gd name="T68" fmla="*/ 366 w 372"/>
                <a:gd name="T69" fmla="*/ 145 h 366"/>
                <a:gd name="T70" fmla="*/ 358 w 372"/>
                <a:gd name="T71" fmla="*/ 119 h 366"/>
                <a:gd name="T72" fmla="*/ 366 w 372"/>
                <a:gd name="T73" fmla="*/ 107 h 366"/>
                <a:gd name="T74" fmla="*/ 360 w 372"/>
                <a:gd name="T75" fmla="*/ 99 h 366"/>
                <a:gd name="T76" fmla="*/ 366 w 372"/>
                <a:gd name="T77" fmla="*/ 90 h 366"/>
                <a:gd name="T78" fmla="*/ 358 w 372"/>
                <a:gd name="T79" fmla="*/ 81 h 366"/>
                <a:gd name="T80" fmla="*/ 368 w 372"/>
                <a:gd name="T81" fmla="*/ 63 h 366"/>
                <a:gd name="T82" fmla="*/ 349 w 372"/>
                <a:gd name="T83" fmla="*/ 55 h 366"/>
                <a:gd name="T84" fmla="*/ 336 w 372"/>
                <a:gd name="T85" fmla="*/ 43 h 366"/>
                <a:gd name="T86" fmla="*/ 318 w 372"/>
                <a:gd name="T87" fmla="*/ 46 h 366"/>
                <a:gd name="T88" fmla="*/ 308 w 372"/>
                <a:gd name="T89" fmla="*/ 30 h 366"/>
                <a:gd name="T90" fmla="*/ 293 w 372"/>
                <a:gd name="T91" fmla="*/ 33 h 366"/>
                <a:gd name="T92" fmla="*/ 285 w 372"/>
                <a:gd name="T93" fmla="*/ 21 h 366"/>
                <a:gd name="T94" fmla="*/ 246 w 372"/>
                <a:gd name="T95" fmla="*/ 21 h 366"/>
                <a:gd name="T96" fmla="*/ 245 w 372"/>
                <a:gd name="T97" fmla="*/ 1 h 366"/>
                <a:gd name="T98" fmla="*/ 205 w 372"/>
                <a:gd name="T99" fmla="*/ 5 h 366"/>
                <a:gd name="T100" fmla="*/ 170 w 372"/>
                <a:gd name="T101" fmla="*/ 25 h 366"/>
                <a:gd name="T102" fmla="*/ 172 w 372"/>
                <a:gd name="T103" fmla="*/ 49 h 366"/>
                <a:gd name="T104" fmla="*/ 125 w 372"/>
                <a:gd name="T105" fmla="*/ 68 h 366"/>
                <a:gd name="T106" fmla="*/ 116 w 372"/>
                <a:gd name="T107" fmla="*/ 91 h 366"/>
                <a:gd name="T108" fmla="*/ 77 w 372"/>
                <a:gd name="T109" fmla="*/ 127 h 366"/>
                <a:gd name="T110" fmla="*/ 51 w 372"/>
                <a:gd name="T111" fmla="*/ 121 h 366"/>
                <a:gd name="T112" fmla="*/ 38 w 372"/>
                <a:gd name="T113" fmla="*/ 127 h 366"/>
                <a:gd name="T114" fmla="*/ 26 w 372"/>
                <a:gd name="T115" fmla="*/ 117 h 366"/>
                <a:gd name="T116" fmla="*/ 0 w 372"/>
                <a:gd name="T117" fmla="*/ 117 h 366"/>
                <a:gd name="T118" fmla="*/ 2 w 372"/>
                <a:gd name="T119" fmla="*/ 127 h 366"/>
                <a:gd name="T120" fmla="*/ 11 w 372"/>
                <a:gd name="T121" fmla="*/ 136 h 3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372" h="366">
                  <a:moveTo>
                    <a:pt x="11" y="136"/>
                  </a:moveTo>
                  <a:cubicBezTo>
                    <a:pt x="11" y="156"/>
                    <a:pt x="11" y="156"/>
                    <a:pt x="11" y="156"/>
                  </a:cubicBezTo>
                  <a:cubicBezTo>
                    <a:pt x="11" y="156"/>
                    <a:pt x="19" y="150"/>
                    <a:pt x="23" y="160"/>
                  </a:cubicBezTo>
                  <a:cubicBezTo>
                    <a:pt x="27" y="170"/>
                    <a:pt x="33" y="181"/>
                    <a:pt x="33" y="181"/>
                  </a:cubicBezTo>
                  <a:cubicBezTo>
                    <a:pt x="33" y="181"/>
                    <a:pt x="35" y="204"/>
                    <a:pt x="42" y="213"/>
                  </a:cubicBezTo>
                  <a:cubicBezTo>
                    <a:pt x="49" y="222"/>
                    <a:pt x="70" y="234"/>
                    <a:pt x="70" y="234"/>
                  </a:cubicBezTo>
                  <a:cubicBezTo>
                    <a:pt x="70" y="234"/>
                    <a:pt x="88" y="231"/>
                    <a:pt x="90" y="238"/>
                  </a:cubicBezTo>
                  <a:cubicBezTo>
                    <a:pt x="92" y="245"/>
                    <a:pt x="91" y="260"/>
                    <a:pt x="91" y="260"/>
                  </a:cubicBezTo>
                  <a:cubicBezTo>
                    <a:pt x="112" y="261"/>
                    <a:pt x="112" y="261"/>
                    <a:pt x="112" y="261"/>
                  </a:cubicBezTo>
                  <a:cubicBezTo>
                    <a:pt x="114" y="276"/>
                    <a:pt x="114" y="276"/>
                    <a:pt x="114" y="276"/>
                  </a:cubicBezTo>
                  <a:cubicBezTo>
                    <a:pt x="110" y="281"/>
                    <a:pt x="110" y="281"/>
                    <a:pt x="110" y="281"/>
                  </a:cubicBezTo>
                  <a:cubicBezTo>
                    <a:pt x="110" y="299"/>
                    <a:pt x="110" y="299"/>
                    <a:pt x="110" y="299"/>
                  </a:cubicBezTo>
                  <a:cubicBezTo>
                    <a:pt x="110" y="299"/>
                    <a:pt x="122" y="297"/>
                    <a:pt x="122" y="304"/>
                  </a:cubicBezTo>
                  <a:cubicBezTo>
                    <a:pt x="122" y="311"/>
                    <a:pt x="122" y="319"/>
                    <a:pt x="122" y="319"/>
                  </a:cubicBezTo>
                  <a:cubicBezTo>
                    <a:pt x="122" y="319"/>
                    <a:pt x="148" y="322"/>
                    <a:pt x="161" y="327"/>
                  </a:cubicBezTo>
                  <a:cubicBezTo>
                    <a:pt x="171" y="331"/>
                    <a:pt x="177" y="345"/>
                    <a:pt x="180" y="352"/>
                  </a:cubicBezTo>
                  <a:cubicBezTo>
                    <a:pt x="167" y="353"/>
                    <a:pt x="167" y="353"/>
                    <a:pt x="167" y="353"/>
                  </a:cubicBezTo>
                  <a:cubicBezTo>
                    <a:pt x="206" y="351"/>
                    <a:pt x="206" y="351"/>
                    <a:pt x="206" y="351"/>
                  </a:cubicBezTo>
                  <a:cubicBezTo>
                    <a:pt x="206" y="351"/>
                    <a:pt x="222" y="358"/>
                    <a:pt x="230" y="359"/>
                  </a:cubicBezTo>
                  <a:cubicBezTo>
                    <a:pt x="238" y="360"/>
                    <a:pt x="265" y="359"/>
                    <a:pt x="265" y="359"/>
                  </a:cubicBezTo>
                  <a:cubicBezTo>
                    <a:pt x="277" y="366"/>
                    <a:pt x="277" y="366"/>
                    <a:pt x="277" y="366"/>
                  </a:cubicBezTo>
                  <a:cubicBezTo>
                    <a:pt x="324" y="310"/>
                    <a:pt x="324" y="310"/>
                    <a:pt x="324" y="310"/>
                  </a:cubicBezTo>
                  <a:cubicBezTo>
                    <a:pt x="334" y="307"/>
                    <a:pt x="334" y="307"/>
                    <a:pt x="334" y="307"/>
                  </a:cubicBezTo>
                  <a:cubicBezTo>
                    <a:pt x="325" y="294"/>
                    <a:pt x="325" y="294"/>
                    <a:pt x="325" y="294"/>
                  </a:cubicBezTo>
                  <a:cubicBezTo>
                    <a:pt x="333" y="289"/>
                    <a:pt x="333" y="289"/>
                    <a:pt x="333" y="289"/>
                  </a:cubicBezTo>
                  <a:cubicBezTo>
                    <a:pt x="334" y="266"/>
                    <a:pt x="334" y="266"/>
                    <a:pt x="334" y="266"/>
                  </a:cubicBezTo>
                  <a:cubicBezTo>
                    <a:pt x="334" y="266"/>
                    <a:pt x="349" y="265"/>
                    <a:pt x="350" y="257"/>
                  </a:cubicBezTo>
                  <a:cubicBezTo>
                    <a:pt x="352" y="249"/>
                    <a:pt x="354" y="242"/>
                    <a:pt x="354" y="242"/>
                  </a:cubicBezTo>
                  <a:cubicBezTo>
                    <a:pt x="354" y="242"/>
                    <a:pt x="365" y="235"/>
                    <a:pt x="364" y="229"/>
                  </a:cubicBezTo>
                  <a:cubicBezTo>
                    <a:pt x="362" y="222"/>
                    <a:pt x="345" y="211"/>
                    <a:pt x="346" y="206"/>
                  </a:cubicBezTo>
                  <a:cubicBezTo>
                    <a:pt x="348" y="201"/>
                    <a:pt x="360" y="190"/>
                    <a:pt x="360" y="190"/>
                  </a:cubicBezTo>
                  <a:cubicBezTo>
                    <a:pt x="346" y="174"/>
                    <a:pt x="346" y="174"/>
                    <a:pt x="346" y="174"/>
                  </a:cubicBezTo>
                  <a:cubicBezTo>
                    <a:pt x="360" y="167"/>
                    <a:pt x="360" y="167"/>
                    <a:pt x="360" y="167"/>
                  </a:cubicBezTo>
                  <a:cubicBezTo>
                    <a:pt x="360" y="158"/>
                    <a:pt x="360" y="158"/>
                    <a:pt x="360" y="158"/>
                  </a:cubicBezTo>
                  <a:cubicBezTo>
                    <a:pt x="360" y="158"/>
                    <a:pt x="369" y="158"/>
                    <a:pt x="366" y="145"/>
                  </a:cubicBezTo>
                  <a:cubicBezTo>
                    <a:pt x="364" y="131"/>
                    <a:pt x="356" y="125"/>
                    <a:pt x="358" y="119"/>
                  </a:cubicBezTo>
                  <a:cubicBezTo>
                    <a:pt x="361" y="114"/>
                    <a:pt x="366" y="107"/>
                    <a:pt x="366" y="107"/>
                  </a:cubicBezTo>
                  <a:cubicBezTo>
                    <a:pt x="360" y="99"/>
                    <a:pt x="360" y="99"/>
                    <a:pt x="360" y="99"/>
                  </a:cubicBezTo>
                  <a:cubicBezTo>
                    <a:pt x="366" y="90"/>
                    <a:pt x="366" y="90"/>
                    <a:pt x="366" y="90"/>
                  </a:cubicBezTo>
                  <a:cubicBezTo>
                    <a:pt x="358" y="81"/>
                    <a:pt x="358" y="81"/>
                    <a:pt x="358" y="81"/>
                  </a:cubicBezTo>
                  <a:cubicBezTo>
                    <a:pt x="358" y="81"/>
                    <a:pt x="372" y="71"/>
                    <a:pt x="368" y="63"/>
                  </a:cubicBezTo>
                  <a:cubicBezTo>
                    <a:pt x="364" y="55"/>
                    <a:pt x="349" y="55"/>
                    <a:pt x="349" y="55"/>
                  </a:cubicBezTo>
                  <a:cubicBezTo>
                    <a:pt x="349" y="55"/>
                    <a:pt x="344" y="43"/>
                    <a:pt x="336" y="43"/>
                  </a:cubicBezTo>
                  <a:cubicBezTo>
                    <a:pt x="328" y="43"/>
                    <a:pt x="318" y="46"/>
                    <a:pt x="318" y="46"/>
                  </a:cubicBezTo>
                  <a:cubicBezTo>
                    <a:pt x="308" y="30"/>
                    <a:pt x="308" y="30"/>
                    <a:pt x="308" y="30"/>
                  </a:cubicBezTo>
                  <a:cubicBezTo>
                    <a:pt x="293" y="33"/>
                    <a:pt x="293" y="33"/>
                    <a:pt x="293" y="33"/>
                  </a:cubicBezTo>
                  <a:cubicBezTo>
                    <a:pt x="285" y="21"/>
                    <a:pt x="285" y="21"/>
                    <a:pt x="285" y="21"/>
                  </a:cubicBezTo>
                  <a:cubicBezTo>
                    <a:pt x="246" y="21"/>
                    <a:pt x="246" y="21"/>
                    <a:pt x="246" y="21"/>
                  </a:cubicBezTo>
                  <a:cubicBezTo>
                    <a:pt x="245" y="1"/>
                    <a:pt x="245" y="1"/>
                    <a:pt x="245" y="1"/>
                  </a:cubicBezTo>
                  <a:cubicBezTo>
                    <a:pt x="236" y="0"/>
                    <a:pt x="218" y="0"/>
                    <a:pt x="205" y="5"/>
                  </a:cubicBezTo>
                  <a:cubicBezTo>
                    <a:pt x="188" y="11"/>
                    <a:pt x="170" y="25"/>
                    <a:pt x="170" y="25"/>
                  </a:cubicBezTo>
                  <a:cubicBezTo>
                    <a:pt x="170" y="25"/>
                    <a:pt x="173" y="48"/>
                    <a:pt x="172" y="49"/>
                  </a:cubicBezTo>
                  <a:cubicBezTo>
                    <a:pt x="171" y="50"/>
                    <a:pt x="132" y="61"/>
                    <a:pt x="125" y="68"/>
                  </a:cubicBezTo>
                  <a:cubicBezTo>
                    <a:pt x="118" y="75"/>
                    <a:pt x="116" y="91"/>
                    <a:pt x="116" y="91"/>
                  </a:cubicBezTo>
                  <a:cubicBezTo>
                    <a:pt x="116" y="91"/>
                    <a:pt x="95" y="118"/>
                    <a:pt x="77" y="127"/>
                  </a:cubicBezTo>
                  <a:cubicBezTo>
                    <a:pt x="59" y="136"/>
                    <a:pt x="58" y="127"/>
                    <a:pt x="51" y="121"/>
                  </a:cubicBezTo>
                  <a:cubicBezTo>
                    <a:pt x="44" y="115"/>
                    <a:pt x="42" y="127"/>
                    <a:pt x="38" y="127"/>
                  </a:cubicBezTo>
                  <a:cubicBezTo>
                    <a:pt x="34" y="127"/>
                    <a:pt x="28" y="121"/>
                    <a:pt x="26" y="117"/>
                  </a:cubicBezTo>
                  <a:cubicBezTo>
                    <a:pt x="24" y="113"/>
                    <a:pt x="0" y="117"/>
                    <a:pt x="0" y="117"/>
                  </a:cubicBezTo>
                  <a:cubicBezTo>
                    <a:pt x="2" y="127"/>
                    <a:pt x="2" y="127"/>
                    <a:pt x="2" y="127"/>
                  </a:cubicBezTo>
                  <a:lnTo>
                    <a:pt x="11" y="136"/>
                  </a:ln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494" name="Freeform 286">
              <a:extLst>
                <a:ext uri="{FF2B5EF4-FFF2-40B4-BE49-F238E27FC236}">
                  <a16:creationId xmlns:a16="http://schemas.microsoft.com/office/drawing/2014/main" id="{0D67919A-A171-4E6A-B748-1B456E8371B5}"/>
                </a:ext>
              </a:extLst>
            </p:cNvPr>
            <p:cNvSpPr>
              <a:spLocks/>
            </p:cNvSpPr>
            <p:nvPr/>
          </p:nvSpPr>
          <p:spPr bwMode="gray">
            <a:xfrm>
              <a:off x="5388825" y="3302115"/>
              <a:ext cx="293754" cy="314384"/>
            </a:xfrm>
            <a:custGeom>
              <a:avLst/>
              <a:gdLst>
                <a:gd name="T0" fmla="*/ 0 w 433"/>
                <a:gd name="T1" fmla="*/ 377 h 490"/>
                <a:gd name="T2" fmla="*/ 22 w 433"/>
                <a:gd name="T3" fmla="*/ 394 h 490"/>
                <a:gd name="T4" fmla="*/ 30 w 433"/>
                <a:gd name="T5" fmla="*/ 423 h 490"/>
                <a:gd name="T6" fmla="*/ 37 w 433"/>
                <a:gd name="T7" fmla="*/ 443 h 490"/>
                <a:gd name="T8" fmla="*/ 27 w 433"/>
                <a:gd name="T9" fmla="*/ 465 h 490"/>
                <a:gd name="T10" fmla="*/ 27 w 433"/>
                <a:gd name="T11" fmla="*/ 487 h 490"/>
                <a:gd name="T12" fmla="*/ 78 w 433"/>
                <a:gd name="T13" fmla="*/ 485 h 490"/>
                <a:gd name="T14" fmla="*/ 83 w 433"/>
                <a:gd name="T15" fmla="*/ 473 h 490"/>
                <a:gd name="T16" fmla="*/ 97 w 433"/>
                <a:gd name="T17" fmla="*/ 474 h 490"/>
                <a:gd name="T18" fmla="*/ 106 w 433"/>
                <a:gd name="T19" fmla="*/ 454 h 490"/>
                <a:gd name="T20" fmla="*/ 124 w 433"/>
                <a:gd name="T21" fmla="*/ 446 h 490"/>
                <a:gd name="T22" fmla="*/ 142 w 433"/>
                <a:gd name="T23" fmla="*/ 401 h 490"/>
                <a:gd name="T24" fmla="*/ 171 w 433"/>
                <a:gd name="T25" fmla="*/ 413 h 490"/>
                <a:gd name="T26" fmla="*/ 181 w 433"/>
                <a:gd name="T27" fmla="*/ 423 h 490"/>
                <a:gd name="T28" fmla="*/ 198 w 433"/>
                <a:gd name="T29" fmla="*/ 424 h 490"/>
                <a:gd name="T30" fmla="*/ 223 w 433"/>
                <a:gd name="T31" fmla="*/ 433 h 490"/>
                <a:gd name="T32" fmla="*/ 236 w 433"/>
                <a:gd name="T33" fmla="*/ 426 h 490"/>
                <a:gd name="T34" fmla="*/ 255 w 433"/>
                <a:gd name="T35" fmla="*/ 426 h 490"/>
                <a:gd name="T36" fmla="*/ 270 w 433"/>
                <a:gd name="T37" fmla="*/ 386 h 490"/>
                <a:gd name="T38" fmla="*/ 284 w 433"/>
                <a:gd name="T39" fmla="*/ 374 h 490"/>
                <a:gd name="T40" fmla="*/ 295 w 433"/>
                <a:gd name="T41" fmla="*/ 371 h 490"/>
                <a:gd name="T42" fmla="*/ 318 w 433"/>
                <a:gd name="T43" fmla="*/ 347 h 490"/>
                <a:gd name="T44" fmla="*/ 329 w 433"/>
                <a:gd name="T45" fmla="*/ 311 h 490"/>
                <a:gd name="T46" fmla="*/ 353 w 433"/>
                <a:gd name="T47" fmla="*/ 298 h 490"/>
                <a:gd name="T48" fmla="*/ 383 w 433"/>
                <a:gd name="T49" fmla="*/ 259 h 490"/>
                <a:gd name="T50" fmla="*/ 412 w 433"/>
                <a:gd name="T51" fmla="*/ 252 h 490"/>
                <a:gd name="T52" fmla="*/ 420 w 433"/>
                <a:gd name="T53" fmla="*/ 236 h 490"/>
                <a:gd name="T54" fmla="*/ 433 w 433"/>
                <a:gd name="T55" fmla="*/ 235 h 490"/>
                <a:gd name="T56" fmla="*/ 414 w 433"/>
                <a:gd name="T57" fmla="*/ 210 h 490"/>
                <a:gd name="T58" fmla="*/ 375 w 433"/>
                <a:gd name="T59" fmla="*/ 202 h 490"/>
                <a:gd name="T60" fmla="*/ 375 w 433"/>
                <a:gd name="T61" fmla="*/ 187 h 490"/>
                <a:gd name="T62" fmla="*/ 363 w 433"/>
                <a:gd name="T63" fmla="*/ 182 h 490"/>
                <a:gd name="T64" fmla="*/ 363 w 433"/>
                <a:gd name="T65" fmla="*/ 164 h 490"/>
                <a:gd name="T66" fmla="*/ 367 w 433"/>
                <a:gd name="T67" fmla="*/ 159 h 490"/>
                <a:gd name="T68" fmla="*/ 365 w 433"/>
                <a:gd name="T69" fmla="*/ 144 h 490"/>
                <a:gd name="T70" fmla="*/ 344 w 433"/>
                <a:gd name="T71" fmla="*/ 143 h 490"/>
                <a:gd name="T72" fmla="*/ 343 w 433"/>
                <a:gd name="T73" fmla="*/ 121 h 490"/>
                <a:gd name="T74" fmla="*/ 323 w 433"/>
                <a:gd name="T75" fmla="*/ 117 h 490"/>
                <a:gd name="T76" fmla="*/ 295 w 433"/>
                <a:gd name="T77" fmla="*/ 96 h 490"/>
                <a:gd name="T78" fmla="*/ 286 w 433"/>
                <a:gd name="T79" fmla="*/ 64 h 490"/>
                <a:gd name="T80" fmla="*/ 276 w 433"/>
                <a:gd name="T81" fmla="*/ 43 h 490"/>
                <a:gd name="T82" fmla="*/ 264 w 433"/>
                <a:gd name="T83" fmla="*/ 39 h 490"/>
                <a:gd name="T84" fmla="*/ 264 w 433"/>
                <a:gd name="T85" fmla="*/ 19 h 490"/>
                <a:gd name="T86" fmla="*/ 255 w 433"/>
                <a:gd name="T87" fmla="*/ 10 h 490"/>
                <a:gd name="T88" fmla="*/ 253 w 433"/>
                <a:gd name="T89" fmla="*/ 0 h 490"/>
                <a:gd name="T90" fmla="*/ 230 w 433"/>
                <a:gd name="T91" fmla="*/ 2 h 490"/>
                <a:gd name="T92" fmla="*/ 219 w 433"/>
                <a:gd name="T93" fmla="*/ 10 h 490"/>
                <a:gd name="T94" fmla="*/ 211 w 433"/>
                <a:gd name="T95" fmla="*/ 10 h 490"/>
                <a:gd name="T96" fmla="*/ 195 w 433"/>
                <a:gd name="T97" fmla="*/ 18 h 490"/>
                <a:gd name="T98" fmla="*/ 177 w 433"/>
                <a:gd name="T99" fmla="*/ 37 h 490"/>
                <a:gd name="T100" fmla="*/ 172 w 433"/>
                <a:gd name="T101" fmla="*/ 24 h 490"/>
                <a:gd name="T102" fmla="*/ 166 w 433"/>
                <a:gd name="T103" fmla="*/ 24 h 490"/>
                <a:gd name="T104" fmla="*/ 159 w 433"/>
                <a:gd name="T105" fmla="*/ 10 h 490"/>
                <a:gd name="T106" fmla="*/ 114 w 433"/>
                <a:gd name="T107" fmla="*/ 20 h 490"/>
                <a:gd name="T108" fmla="*/ 53 w 433"/>
                <a:gd name="T109" fmla="*/ 26 h 490"/>
                <a:gd name="T110" fmla="*/ 53 w 433"/>
                <a:gd name="T111" fmla="*/ 143 h 490"/>
                <a:gd name="T112" fmla="*/ 49 w 433"/>
                <a:gd name="T113" fmla="*/ 147 h 490"/>
                <a:gd name="T114" fmla="*/ 50 w 433"/>
                <a:gd name="T115" fmla="*/ 228 h 490"/>
                <a:gd name="T116" fmla="*/ 2 w 433"/>
                <a:gd name="T117" fmla="*/ 228 h 490"/>
                <a:gd name="T118" fmla="*/ 0 w 433"/>
                <a:gd name="T119" fmla="*/ 377 h 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33" h="490">
                  <a:moveTo>
                    <a:pt x="0" y="377"/>
                  </a:moveTo>
                  <a:cubicBezTo>
                    <a:pt x="9" y="381"/>
                    <a:pt x="18" y="386"/>
                    <a:pt x="22" y="394"/>
                  </a:cubicBezTo>
                  <a:cubicBezTo>
                    <a:pt x="31" y="413"/>
                    <a:pt x="30" y="423"/>
                    <a:pt x="30" y="423"/>
                  </a:cubicBezTo>
                  <a:cubicBezTo>
                    <a:pt x="30" y="423"/>
                    <a:pt x="39" y="434"/>
                    <a:pt x="37" y="443"/>
                  </a:cubicBezTo>
                  <a:cubicBezTo>
                    <a:pt x="35" y="452"/>
                    <a:pt x="27" y="465"/>
                    <a:pt x="27" y="465"/>
                  </a:cubicBezTo>
                  <a:cubicBezTo>
                    <a:pt x="27" y="465"/>
                    <a:pt x="22" y="484"/>
                    <a:pt x="27" y="487"/>
                  </a:cubicBezTo>
                  <a:cubicBezTo>
                    <a:pt x="32" y="490"/>
                    <a:pt x="78" y="485"/>
                    <a:pt x="78" y="485"/>
                  </a:cubicBezTo>
                  <a:cubicBezTo>
                    <a:pt x="78" y="485"/>
                    <a:pt x="79" y="474"/>
                    <a:pt x="83" y="473"/>
                  </a:cubicBezTo>
                  <a:cubicBezTo>
                    <a:pt x="87" y="472"/>
                    <a:pt x="97" y="474"/>
                    <a:pt x="97" y="474"/>
                  </a:cubicBezTo>
                  <a:cubicBezTo>
                    <a:pt x="97" y="474"/>
                    <a:pt x="99" y="457"/>
                    <a:pt x="106" y="454"/>
                  </a:cubicBezTo>
                  <a:cubicBezTo>
                    <a:pt x="113" y="451"/>
                    <a:pt x="124" y="453"/>
                    <a:pt x="124" y="446"/>
                  </a:cubicBezTo>
                  <a:cubicBezTo>
                    <a:pt x="124" y="439"/>
                    <a:pt x="129" y="401"/>
                    <a:pt x="142" y="401"/>
                  </a:cubicBezTo>
                  <a:cubicBezTo>
                    <a:pt x="155" y="401"/>
                    <a:pt x="171" y="413"/>
                    <a:pt x="171" y="413"/>
                  </a:cubicBezTo>
                  <a:cubicBezTo>
                    <a:pt x="181" y="423"/>
                    <a:pt x="181" y="423"/>
                    <a:pt x="181" y="423"/>
                  </a:cubicBezTo>
                  <a:cubicBezTo>
                    <a:pt x="198" y="424"/>
                    <a:pt x="198" y="424"/>
                    <a:pt x="198" y="424"/>
                  </a:cubicBezTo>
                  <a:cubicBezTo>
                    <a:pt x="198" y="424"/>
                    <a:pt x="213" y="435"/>
                    <a:pt x="223" y="433"/>
                  </a:cubicBezTo>
                  <a:cubicBezTo>
                    <a:pt x="233" y="431"/>
                    <a:pt x="236" y="426"/>
                    <a:pt x="236" y="426"/>
                  </a:cubicBezTo>
                  <a:cubicBezTo>
                    <a:pt x="236" y="426"/>
                    <a:pt x="244" y="433"/>
                    <a:pt x="255" y="426"/>
                  </a:cubicBezTo>
                  <a:cubicBezTo>
                    <a:pt x="266" y="419"/>
                    <a:pt x="270" y="386"/>
                    <a:pt x="270" y="386"/>
                  </a:cubicBezTo>
                  <a:cubicBezTo>
                    <a:pt x="284" y="374"/>
                    <a:pt x="284" y="374"/>
                    <a:pt x="284" y="374"/>
                  </a:cubicBezTo>
                  <a:cubicBezTo>
                    <a:pt x="295" y="371"/>
                    <a:pt x="295" y="371"/>
                    <a:pt x="295" y="371"/>
                  </a:cubicBezTo>
                  <a:cubicBezTo>
                    <a:pt x="295" y="371"/>
                    <a:pt x="318" y="353"/>
                    <a:pt x="318" y="347"/>
                  </a:cubicBezTo>
                  <a:cubicBezTo>
                    <a:pt x="318" y="341"/>
                    <a:pt x="319" y="318"/>
                    <a:pt x="329" y="311"/>
                  </a:cubicBezTo>
                  <a:cubicBezTo>
                    <a:pt x="339" y="304"/>
                    <a:pt x="342" y="305"/>
                    <a:pt x="353" y="298"/>
                  </a:cubicBezTo>
                  <a:cubicBezTo>
                    <a:pt x="364" y="291"/>
                    <a:pt x="378" y="265"/>
                    <a:pt x="383" y="259"/>
                  </a:cubicBezTo>
                  <a:cubicBezTo>
                    <a:pt x="388" y="253"/>
                    <a:pt x="412" y="252"/>
                    <a:pt x="412" y="252"/>
                  </a:cubicBezTo>
                  <a:cubicBezTo>
                    <a:pt x="420" y="236"/>
                    <a:pt x="420" y="236"/>
                    <a:pt x="420" y="236"/>
                  </a:cubicBezTo>
                  <a:cubicBezTo>
                    <a:pt x="433" y="235"/>
                    <a:pt x="433" y="235"/>
                    <a:pt x="433" y="235"/>
                  </a:cubicBezTo>
                  <a:cubicBezTo>
                    <a:pt x="430" y="228"/>
                    <a:pt x="424" y="214"/>
                    <a:pt x="414" y="210"/>
                  </a:cubicBezTo>
                  <a:cubicBezTo>
                    <a:pt x="401" y="205"/>
                    <a:pt x="375" y="202"/>
                    <a:pt x="375" y="202"/>
                  </a:cubicBezTo>
                  <a:cubicBezTo>
                    <a:pt x="375" y="202"/>
                    <a:pt x="375" y="194"/>
                    <a:pt x="375" y="187"/>
                  </a:cubicBezTo>
                  <a:cubicBezTo>
                    <a:pt x="375" y="180"/>
                    <a:pt x="363" y="182"/>
                    <a:pt x="363" y="182"/>
                  </a:cubicBezTo>
                  <a:cubicBezTo>
                    <a:pt x="363" y="164"/>
                    <a:pt x="363" y="164"/>
                    <a:pt x="363" y="164"/>
                  </a:cubicBezTo>
                  <a:cubicBezTo>
                    <a:pt x="367" y="159"/>
                    <a:pt x="367" y="159"/>
                    <a:pt x="367" y="159"/>
                  </a:cubicBezTo>
                  <a:cubicBezTo>
                    <a:pt x="365" y="144"/>
                    <a:pt x="365" y="144"/>
                    <a:pt x="365" y="144"/>
                  </a:cubicBezTo>
                  <a:cubicBezTo>
                    <a:pt x="344" y="143"/>
                    <a:pt x="344" y="143"/>
                    <a:pt x="344" y="143"/>
                  </a:cubicBezTo>
                  <a:cubicBezTo>
                    <a:pt x="344" y="143"/>
                    <a:pt x="345" y="128"/>
                    <a:pt x="343" y="121"/>
                  </a:cubicBezTo>
                  <a:cubicBezTo>
                    <a:pt x="341" y="114"/>
                    <a:pt x="323" y="117"/>
                    <a:pt x="323" y="117"/>
                  </a:cubicBezTo>
                  <a:cubicBezTo>
                    <a:pt x="323" y="117"/>
                    <a:pt x="302" y="105"/>
                    <a:pt x="295" y="96"/>
                  </a:cubicBezTo>
                  <a:cubicBezTo>
                    <a:pt x="288" y="87"/>
                    <a:pt x="286" y="64"/>
                    <a:pt x="286" y="64"/>
                  </a:cubicBezTo>
                  <a:cubicBezTo>
                    <a:pt x="286" y="64"/>
                    <a:pt x="280" y="53"/>
                    <a:pt x="276" y="43"/>
                  </a:cubicBezTo>
                  <a:cubicBezTo>
                    <a:pt x="272" y="33"/>
                    <a:pt x="264" y="39"/>
                    <a:pt x="264" y="39"/>
                  </a:cubicBezTo>
                  <a:cubicBezTo>
                    <a:pt x="264" y="19"/>
                    <a:pt x="264" y="19"/>
                    <a:pt x="264" y="19"/>
                  </a:cubicBezTo>
                  <a:cubicBezTo>
                    <a:pt x="255" y="10"/>
                    <a:pt x="255" y="10"/>
                    <a:pt x="255" y="10"/>
                  </a:cubicBezTo>
                  <a:cubicBezTo>
                    <a:pt x="253" y="0"/>
                    <a:pt x="253" y="0"/>
                    <a:pt x="253" y="0"/>
                  </a:cubicBezTo>
                  <a:cubicBezTo>
                    <a:pt x="230" y="2"/>
                    <a:pt x="230" y="2"/>
                    <a:pt x="230" y="2"/>
                  </a:cubicBezTo>
                  <a:cubicBezTo>
                    <a:pt x="219" y="10"/>
                    <a:pt x="219" y="10"/>
                    <a:pt x="219" y="10"/>
                  </a:cubicBezTo>
                  <a:cubicBezTo>
                    <a:pt x="211" y="10"/>
                    <a:pt x="211" y="10"/>
                    <a:pt x="211" y="10"/>
                  </a:cubicBezTo>
                  <a:cubicBezTo>
                    <a:pt x="211" y="10"/>
                    <a:pt x="201" y="12"/>
                    <a:pt x="195" y="18"/>
                  </a:cubicBezTo>
                  <a:cubicBezTo>
                    <a:pt x="190" y="23"/>
                    <a:pt x="180" y="36"/>
                    <a:pt x="177" y="37"/>
                  </a:cubicBezTo>
                  <a:cubicBezTo>
                    <a:pt x="174" y="38"/>
                    <a:pt x="172" y="24"/>
                    <a:pt x="172" y="24"/>
                  </a:cubicBezTo>
                  <a:cubicBezTo>
                    <a:pt x="166" y="24"/>
                    <a:pt x="166" y="24"/>
                    <a:pt x="166" y="24"/>
                  </a:cubicBezTo>
                  <a:cubicBezTo>
                    <a:pt x="166" y="24"/>
                    <a:pt x="168" y="10"/>
                    <a:pt x="159" y="10"/>
                  </a:cubicBezTo>
                  <a:cubicBezTo>
                    <a:pt x="151" y="10"/>
                    <a:pt x="135" y="18"/>
                    <a:pt x="114" y="20"/>
                  </a:cubicBezTo>
                  <a:cubicBezTo>
                    <a:pt x="92" y="23"/>
                    <a:pt x="53" y="26"/>
                    <a:pt x="53" y="26"/>
                  </a:cubicBezTo>
                  <a:cubicBezTo>
                    <a:pt x="53" y="143"/>
                    <a:pt x="53" y="143"/>
                    <a:pt x="53" y="143"/>
                  </a:cubicBezTo>
                  <a:cubicBezTo>
                    <a:pt x="49" y="147"/>
                    <a:pt x="49" y="147"/>
                    <a:pt x="49" y="147"/>
                  </a:cubicBezTo>
                  <a:cubicBezTo>
                    <a:pt x="50" y="228"/>
                    <a:pt x="50" y="228"/>
                    <a:pt x="50" y="228"/>
                  </a:cubicBezTo>
                  <a:cubicBezTo>
                    <a:pt x="2" y="228"/>
                    <a:pt x="2" y="228"/>
                    <a:pt x="2" y="228"/>
                  </a:cubicBezTo>
                  <a:lnTo>
                    <a:pt x="0" y="377"/>
                  </a:ln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495" name="Freeform 287">
              <a:extLst>
                <a:ext uri="{FF2B5EF4-FFF2-40B4-BE49-F238E27FC236}">
                  <a16:creationId xmlns:a16="http://schemas.microsoft.com/office/drawing/2014/main" id="{F56A4160-86C5-483C-9AA5-8BE777A3AF4A}"/>
                </a:ext>
              </a:extLst>
            </p:cNvPr>
            <p:cNvSpPr>
              <a:spLocks/>
            </p:cNvSpPr>
            <p:nvPr/>
          </p:nvSpPr>
          <p:spPr bwMode="gray">
            <a:xfrm>
              <a:off x="6075400" y="2274259"/>
              <a:ext cx="325628" cy="473748"/>
            </a:xfrm>
            <a:custGeom>
              <a:avLst/>
              <a:gdLst>
                <a:gd name="T0" fmla="*/ 70 w 480"/>
                <a:gd name="T1" fmla="*/ 77 h 739"/>
                <a:gd name="T2" fmla="*/ 79 w 480"/>
                <a:gd name="T3" fmla="*/ 85 h 739"/>
                <a:gd name="T4" fmla="*/ 78 w 480"/>
                <a:gd name="T5" fmla="*/ 93 h 739"/>
                <a:gd name="T6" fmla="*/ 97 w 480"/>
                <a:gd name="T7" fmla="*/ 117 h 739"/>
                <a:gd name="T8" fmla="*/ 107 w 480"/>
                <a:gd name="T9" fmla="*/ 142 h 739"/>
                <a:gd name="T10" fmla="*/ 122 w 480"/>
                <a:gd name="T11" fmla="*/ 142 h 739"/>
                <a:gd name="T12" fmla="*/ 143 w 480"/>
                <a:gd name="T13" fmla="*/ 167 h 739"/>
                <a:gd name="T14" fmla="*/ 225 w 480"/>
                <a:gd name="T15" fmla="*/ 194 h 739"/>
                <a:gd name="T16" fmla="*/ 277 w 480"/>
                <a:gd name="T17" fmla="*/ 220 h 739"/>
                <a:gd name="T18" fmla="*/ 325 w 480"/>
                <a:gd name="T19" fmla="*/ 217 h 739"/>
                <a:gd name="T20" fmla="*/ 185 w 480"/>
                <a:gd name="T21" fmla="*/ 382 h 739"/>
                <a:gd name="T22" fmla="*/ 129 w 480"/>
                <a:gd name="T23" fmla="*/ 382 h 739"/>
                <a:gd name="T24" fmla="*/ 96 w 480"/>
                <a:gd name="T25" fmla="*/ 396 h 739"/>
                <a:gd name="T26" fmla="*/ 89 w 480"/>
                <a:gd name="T27" fmla="*/ 414 h 739"/>
                <a:gd name="T28" fmla="*/ 50 w 480"/>
                <a:gd name="T29" fmla="*/ 421 h 739"/>
                <a:gd name="T30" fmla="*/ 42 w 480"/>
                <a:gd name="T31" fmla="*/ 435 h 739"/>
                <a:gd name="T32" fmla="*/ 22 w 480"/>
                <a:gd name="T33" fmla="*/ 471 h 739"/>
                <a:gd name="T34" fmla="*/ 1 w 480"/>
                <a:gd name="T35" fmla="*/ 492 h 739"/>
                <a:gd name="T36" fmla="*/ 0 w 480"/>
                <a:gd name="T37" fmla="*/ 695 h 739"/>
                <a:gd name="T38" fmla="*/ 28 w 480"/>
                <a:gd name="T39" fmla="*/ 735 h 739"/>
                <a:gd name="T40" fmla="*/ 26 w 480"/>
                <a:gd name="T41" fmla="*/ 739 h 739"/>
                <a:gd name="T42" fmla="*/ 26 w 480"/>
                <a:gd name="T43" fmla="*/ 739 h 739"/>
                <a:gd name="T44" fmla="*/ 58 w 480"/>
                <a:gd name="T45" fmla="*/ 680 h 739"/>
                <a:gd name="T46" fmla="*/ 100 w 480"/>
                <a:gd name="T47" fmla="*/ 639 h 739"/>
                <a:gd name="T48" fmla="*/ 157 w 480"/>
                <a:gd name="T49" fmla="*/ 573 h 739"/>
                <a:gd name="T50" fmla="*/ 210 w 480"/>
                <a:gd name="T51" fmla="*/ 536 h 739"/>
                <a:gd name="T52" fmla="*/ 281 w 480"/>
                <a:gd name="T53" fmla="*/ 473 h 739"/>
                <a:gd name="T54" fmla="*/ 335 w 480"/>
                <a:gd name="T55" fmla="*/ 399 h 739"/>
                <a:gd name="T56" fmla="*/ 370 w 480"/>
                <a:gd name="T57" fmla="*/ 334 h 739"/>
                <a:gd name="T58" fmla="*/ 384 w 480"/>
                <a:gd name="T59" fmla="*/ 308 h 739"/>
                <a:gd name="T60" fmla="*/ 397 w 480"/>
                <a:gd name="T61" fmla="*/ 262 h 739"/>
                <a:gd name="T62" fmla="*/ 417 w 480"/>
                <a:gd name="T63" fmla="*/ 228 h 739"/>
                <a:gd name="T64" fmla="*/ 427 w 480"/>
                <a:gd name="T65" fmla="*/ 205 h 739"/>
                <a:gd name="T66" fmla="*/ 440 w 480"/>
                <a:gd name="T67" fmla="*/ 169 h 739"/>
                <a:gd name="T68" fmla="*/ 457 w 480"/>
                <a:gd name="T69" fmla="*/ 147 h 739"/>
                <a:gd name="T70" fmla="*/ 457 w 480"/>
                <a:gd name="T71" fmla="*/ 93 h 739"/>
                <a:gd name="T72" fmla="*/ 471 w 480"/>
                <a:gd name="T73" fmla="*/ 84 h 739"/>
                <a:gd name="T74" fmla="*/ 467 w 480"/>
                <a:gd name="T75" fmla="*/ 38 h 739"/>
                <a:gd name="T76" fmla="*/ 474 w 480"/>
                <a:gd name="T77" fmla="*/ 8 h 739"/>
                <a:gd name="T78" fmla="*/ 447 w 480"/>
                <a:gd name="T79" fmla="*/ 0 h 739"/>
                <a:gd name="T80" fmla="*/ 432 w 480"/>
                <a:gd name="T81" fmla="*/ 21 h 739"/>
                <a:gd name="T82" fmla="*/ 382 w 480"/>
                <a:gd name="T83" fmla="*/ 37 h 739"/>
                <a:gd name="T84" fmla="*/ 345 w 480"/>
                <a:gd name="T85" fmla="*/ 35 h 739"/>
                <a:gd name="T86" fmla="*/ 318 w 480"/>
                <a:gd name="T87" fmla="*/ 54 h 739"/>
                <a:gd name="T88" fmla="*/ 296 w 480"/>
                <a:gd name="T89" fmla="*/ 43 h 739"/>
                <a:gd name="T90" fmla="*/ 252 w 480"/>
                <a:gd name="T91" fmla="*/ 73 h 739"/>
                <a:gd name="T92" fmla="*/ 221 w 480"/>
                <a:gd name="T93" fmla="*/ 62 h 739"/>
                <a:gd name="T94" fmla="*/ 181 w 480"/>
                <a:gd name="T95" fmla="*/ 84 h 739"/>
                <a:gd name="T96" fmla="*/ 141 w 480"/>
                <a:gd name="T97" fmla="*/ 85 h 739"/>
                <a:gd name="T98" fmla="*/ 111 w 480"/>
                <a:gd name="T99" fmla="*/ 48 h 739"/>
                <a:gd name="T100" fmla="*/ 99 w 480"/>
                <a:gd name="T101" fmla="*/ 35 h 739"/>
                <a:gd name="T102" fmla="*/ 84 w 480"/>
                <a:gd name="T103" fmla="*/ 55 h 739"/>
                <a:gd name="T104" fmla="*/ 70 w 480"/>
                <a:gd name="T105" fmla="*/ 77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480" h="739">
                  <a:moveTo>
                    <a:pt x="70" y="77"/>
                  </a:moveTo>
                  <a:cubicBezTo>
                    <a:pt x="79" y="85"/>
                    <a:pt x="79" y="85"/>
                    <a:pt x="79" y="85"/>
                  </a:cubicBezTo>
                  <a:cubicBezTo>
                    <a:pt x="78" y="93"/>
                    <a:pt x="78" y="93"/>
                    <a:pt x="78" y="93"/>
                  </a:cubicBezTo>
                  <a:cubicBezTo>
                    <a:pt x="78" y="93"/>
                    <a:pt x="91" y="109"/>
                    <a:pt x="97" y="117"/>
                  </a:cubicBezTo>
                  <a:cubicBezTo>
                    <a:pt x="103" y="125"/>
                    <a:pt x="107" y="142"/>
                    <a:pt x="107" y="142"/>
                  </a:cubicBezTo>
                  <a:cubicBezTo>
                    <a:pt x="122" y="142"/>
                    <a:pt x="122" y="142"/>
                    <a:pt x="122" y="142"/>
                  </a:cubicBezTo>
                  <a:cubicBezTo>
                    <a:pt x="122" y="142"/>
                    <a:pt x="132" y="159"/>
                    <a:pt x="143" y="167"/>
                  </a:cubicBezTo>
                  <a:cubicBezTo>
                    <a:pt x="154" y="175"/>
                    <a:pt x="206" y="188"/>
                    <a:pt x="225" y="194"/>
                  </a:cubicBezTo>
                  <a:cubicBezTo>
                    <a:pt x="244" y="200"/>
                    <a:pt x="277" y="220"/>
                    <a:pt x="277" y="220"/>
                  </a:cubicBezTo>
                  <a:cubicBezTo>
                    <a:pt x="325" y="217"/>
                    <a:pt x="325" y="217"/>
                    <a:pt x="325" y="217"/>
                  </a:cubicBezTo>
                  <a:cubicBezTo>
                    <a:pt x="185" y="382"/>
                    <a:pt x="185" y="382"/>
                    <a:pt x="185" y="382"/>
                  </a:cubicBezTo>
                  <a:cubicBezTo>
                    <a:pt x="185" y="382"/>
                    <a:pt x="137" y="380"/>
                    <a:pt x="129" y="382"/>
                  </a:cubicBezTo>
                  <a:cubicBezTo>
                    <a:pt x="121" y="384"/>
                    <a:pt x="96" y="396"/>
                    <a:pt x="96" y="396"/>
                  </a:cubicBezTo>
                  <a:cubicBezTo>
                    <a:pt x="96" y="396"/>
                    <a:pt x="95" y="408"/>
                    <a:pt x="89" y="414"/>
                  </a:cubicBezTo>
                  <a:cubicBezTo>
                    <a:pt x="83" y="420"/>
                    <a:pt x="58" y="418"/>
                    <a:pt x="50" y="421"/>
                  </a:cubicBezTo>
                  <a:cubicBezTo>
                    <a:pt x="42" y="424"/>
                    <a:pt x="42" y="435"/>
                    <a:pt x="42" y="435"/>
                  </a:cubicBezTo>
                  <a:cubicBezTo>
                    <a:pt x="42" y="435"/>
                    <a:pt x="29" y="463"/>
                    <a:pt x="22" y="471"/>
                  </a:cubicBezTo>
                  <a:cubicBezTo>
                    <a:pt x="15" y="479"/>
                    <a:pt x="1" y="492"/>
                    <a:pt x="1" y="492"/>
                  </a:cubicBezTo>
                  <a:cubicBezTo>
                    <a:pt x="0" y="695"/>
                    <a:pt x="0" y="695"/>
                    <a:pt x="0" y="695"/>
                  </a:cubicBezTo>
                  <a:cubicBezTo>
                    <a:pt x="28" y="735"/>
                    <a:pt x="28" y="735"/>
                    <a:pt x="28" y="735"/>
                  </a:cubicBezTo>
                  <a:cubicBezTo>
                    <a:pt x="27" y="737"/>
                    <a:pt x="27" y="738"/>
                    <a:pt x="26" y="739"/>
                  </a:cubicBezTo>
                  <a:cubicBezTo>
                    <a:pt x="26" y="739"/>
                    <a:pt x="26" y="739"/>
                    <a:pt x="26" y="739"/>
                  </a:cubicBezTo>
                  <a:cubicBezTo>
                    <a:pt x="35" y="722"/>
                    <a:pt x="52" y="690"/>
                    <a:pt x="58" y="680"/>
                  </a:cubicBezTo>
                  <a:cubicBezTo>
                    <a:pt x="65" y="669"/>
                    <a:pt x="97" y="654"/>
                    <a:pt x="100" y="639"/>
                  </a:cubicBezTo>
                  <a:cubicBezTo>
                    <a:pt x="103" y="624"/>
                    <a:pt x="146" y="586"/>
                    <a:pt x="157" y="573"/>
                  </a:cubicBezTo>
                  <a:cubicBezTo>
                    <a:pt x="168" y="560"/>
                    <a:pt x="202" y="541"/>
                    <a:pt x="210" y="536"/>
                  </a:cubicBezTo>
                  <a:cubicBezTo>
                    <a:pt x="218" y="531"/>
                    <a:pt x="275" y="484"/>
                    <a:pt x="281" y="473"/>
                  </a:cubicBezTo>
                  <a:cubicBezTo>
                    <a:pt x="287" y="462"/>
                    <a:pt x="331" y="413"/>
                    <a:pt x="335" y="399"/>
                  </a:cubicBezTo>
                  <a:cubicBezTo>
                    <a:pt x="339" y="385"/>
                    <a:pt x="364" y="339"/>
                    <a:pt x="370" y="334"/>
                  </a:cubicBezTo>
                  <a:cubicBezTo>
                    <a:pt x="376" y="329"/>
                    <a:pt x="384" y="316"/>
                    <a:pt x="384" y="308"/>
                  </a:cubicBezTo>
                  <a:cubicBezTo>
                    <a:pt x="384" y="300"/>
                    <a:pt x="390" y="271"/>
                    <a:pt x="397" y="262"/>
                  </a:cubicBezTo>
                  <a:cubicBezTo>
                    <a:pt x="404" y="253"/>
                    <a:pt x="417" y="241"/>
                    <a:pt x="417" y="228"/>
                  </a:cubicBezTo>
                  <a:cubicBezTo>
                    <a:pt x="417" y="215"/>
                    <a:pt x="427" y="205"/>
                    <a:pt x="427" y="205"/>
                  </a:cubicBezTo>
                  <a:cubicBezTo>
                    <a:pt x="440" y="169"/>
                    <a:pt x="440" y="169"/>
                    <a:pt x="440" y="169"/>
                  </a:cubicBezTo>
                  <a:cubicBezTo>
                    <a:pt x="440" y="169"/>
                    <a:pt x="457" y="173"/>
                    <a:pt x="457" y="147"/>
                  </a:cubicBezTo>
                  <a:cubicBezTo>
                    <a:pt x="457" y="121"/>
                    <a:pt x="457" y="93"/>
                    <a:pt x="457" y="93"/>
                  </a:cubicBezTo>
                  <a:cubicBezTo>
                    <a:pt x="471" y="84"/>
                    <a:pt x="471" y="84"/>
                    <a:pt x="471" y="84"/>
                  </a:cubicBezTo>
                  <a:cubicBezTo>
                    <a:pt x="467" y="38"/>
                    <a:pt x="467" y="38"/>
                    <a:pt x="467" y="38"/>
                  </a:cubicBezTo>
                  <a:cubicBezTo>
                    <a:pt x="467" y="38"/>
                    <a:pt x="480" y="14"/>
                    <a:pt x="474" y="8"/>
                  </a:cubicBezTo>
                  <a:cubicBezTo>
                    <a:pt x="468" y="2"/>
                    <a:pt x="447" y="0"/>
                    <a:pt x="447" y="0"/>
                  </a:cubicBezTo>
                  <a:cubicBezTo>
                    <a:pt x="447" y="0"/>
                    <a:pt x="439" y="14"/>
                    <a:pt x="432" y="21"/>
                  </a:cubicBezTo>
                  <a:cubicBezTo>
                    <a:pt x="425" y="28"/>
                    <a:pt x="388" y="37"/>
                    <a:pt x="382" y="37"/>
                  </a:cubicBezTo>
                  <a:cubicBezTo>
                    <a:pt x="376" y="37"/>
                    <a:pt x="355" y="31"/>
                    <a:pt x="345" y="35"/>
                  </a:cubicBezTo>
                  <a:cubicBezTo>
                    <a:pt x="335" y="39"/>
                    <a:pt x="322" y="54"/>
                    <a:pt x="318" y="54"/>
                  </a:cubicBezTo>
                  <a:cubicBezTo>
                    <a:pt x="314" y="54"/>
                    <a:pt x="304" y="42"/>
                    <a:pt x="296" y="43"/>
                  </a:cubicBezTo>
                  <a:cubicBezTo>
                    <a:pt x="288" y="44"/>
                    <a:pt x="261" y="72"/>
                    <a:pt x="252" y="73"/>
                  </a:cubicBezTo>
                  <a:cubicBezTo>
                    <a:pt x="243" y="74"/>
                    <a:pt x="235" y="58"/>
                    <a:pt x="221" y="62"/>
                  </a:cubicBezTo>
                  <a:cubicBezTo>
                    <a:pt x="207" y="66"/>
                    <a:pt x="189" y="83"/>
                    <a:pt x="181" y="84"/>
                  </a:cubicBezTo>
                  <a:cubicBezTo>
                    <a:pt x="173" y="85"/>
                    <a:pt x="141" y="85"/>
                    <a:pt x="141" y="85"/>
                  </a:cubicBezTo>
                  <a:cubicBezTo>
                    <a:pt x="141" y="85"/>
                    <a:pt x="111" y="58"/>
                    <a:pt x="111" y="48"/>
                  </a:cubicBezTo>
                  <a:cubicBezTo>
                    <a:pt x="111" y="40"/>
                    <a:pt x="102" y="36"/>
                    <a:pt x="99" y="35"/>
                  </a:cubicBezTo>
                  <a:cubicBezTo>
                    <a:pt x="84" y="55"/>
                    <a:pt x="84" y="55"/>
                    <a:pt x="84" y="55"/>
                  </a:cubicBezTo>
                  <a:lnTo>
                    <a:pt x="70" y="77"/>
                  </a:ln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496" name="Freeform 288">
              <a:extLst>
                <a:ext uri="{FF2B5EF4-FFF2-40B4-BE49-F238E27FC236}">
                  <a16:creationId xmlns:a16="http://schemas.microsoft.com/office/drawing/2014/main" id="{C4525321-9078-47DA-9F05-7F0EA1495A35}"/>
                </a:ext>
              </a:extLst>
            </p:cNvPr>
            <p:cNvSpPr>
              <a:spLocks/>
            </p:cNvSpPr>
            <p:nvPr/>
          </p:nvSpPr>
          <p:spPr bwMode="gray">
            <a:xfrm>
              <a:off x="6091480" y="2251182"/>
              <a:ext cx="57718" cy="60813"/>
            </a:xfrm>
            <a:custGeom>
              <a:avLst/>
              <a:gdLst>
                <a:gd name="T0" fmla="*/ 47 w 85"/>
                <a:gd name="T1" fmla="*/ 18 h 95"/>
                <a:gd name="T2" fmla="*/ 31 w 85"/>
                <a:gd name="T3" fmla="*/ 8 h 95"/>
                <a:gd name="T4" fmla="*/ 13 w 85"/>
                <a:gd name="T5" fmla="*/ 47 h 95"/>
                <a:gd name="T6" fmla="*/ 0 w 85"/>
                <a:gd name="T7" fmla="*/ 56 h 95"/>
                <a:gd name="T8" fmla="*/ 11 w 85"/>
                <a:gd name="T9" fmla="*/ 94 h 95"/>
                <a:gd name="T10" fmla="*/ 36 w 85"/>
                <a:gd name="T11" fmla="*/ 91 h 95"/>
                <a:gd name="T12" fmla="*/ 46 w 85"/>
                <a:gd name="T13" fmla="*/ 84 h 95"/>
                <a:gd name="T14" fmla="*/ 59 w 85"/>
                <a:gd name="T15" fmla="*/ 93 h 95"/>
                <a:gd name="T16" fmla="*/ 60 w 85"/>
                <a:gd name="T17" fmla="*/ 91 h 95"/>
                <a:gd name="T18" fmla="*/ 75 w 85"/>
                <a:gd name="T19" fmla="*/ 71 h 95"/>
                <a:gd name="T20" fmla="*/ 74 w 85"/>
                <a:gd name="T21" fmla="*/ 71 h 95"/>
                <a:gd name="T22" fmla="*/ 67 w 85"/>
                <a:gd name="T23" fmla="*/ 61 h 95"/>
                <a:gd name="T24" fmla="*/ 44 w 85"/>
                <a:gd name="T25" fmla="*/ 63 h 95"/>
                <a:gd name="T26" fmla="*/ 76 w 85"/>
                <a:gd name="T27" fmla="*/ 17 h 95"/>
                <a:gd name="T28" fmla="*/ 63 w 85"/>
                <a:gd name="T29" fmla="*/ 0 h 95"/>
                <a:gd name="T30" fmla="*/ 54 w 85"/>
                <a:gd name="T31" fmla="*/ 6 h 95"/>
                <a:gd name="T32" fmla="*/ 47 w 85"/>
                <a:gd name="T33" fmla="*/ 18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5" h="95">
                  <a:moveTo>
                    <a:pt x="47" y="18"/>
                  </a:moveTo>
                  <a:cubicBezTo>
                    <a:pt x="31" y="8"/>
                    <a:pt x="31" y="8"/>
                    <a:pt x="31" y="8"/>
                  </a:cubicBezTo>
                  <a:cubicBezTo>
                    <a:pt x="13" y="47"/>
                    <a:pt x="13" y="47"/>
                    <a:pt x="13" y="47"/>
                  </a:cubicBezTo>
                  <a:cubicBezTo>
                    <a:pt x="0" y="56"/>
                    <a:pt x="0" y="56"/>
                    <a:pt x="0" y="56"/>
                  </a:cubicBezTo>
                  <a:cubicBezTo>
                    <a:pt x="0" y="56"/>
                    <a:pt x="3" y="93"/>
                    <a:pt x="11" y="94"/>
                  </a:cubicBezTo>
                  <a:cubicBezTo>
                    <a:pt x="19" y="95"/>
                    <a:pt x="36" y="91"/>
                    <a:pt x="36" y="91"/>
                  </a:cubicBezTo>
                  <a:cubicBezTo>
                    <a:pt x="36" y="91"/>
                    <a:pt x="39" y="83"/>
                    <a:pt x="46" y="84"/>
                  </a:cubicBezTo>
                  <a:cubicBezTo>
                    <a:pt x="50" y="85"/>
                    <a:pt x="55" y="89"/>
                    <a:pt x="59" y="93"/>
                  </a:cubicBezTo>
                  <a:cubicBezTo>
                    <a:pt x="60" y="91"/>
                    <a:pt x="60" y="91"/>
                    <a:pt x="60" y="91"/>
                  </a:cubicBezTo>
                  <a:cubicBezTo>
                    <a:pt x="75" y="71"/>
                    <a:pt x="75" y="71"/>
                    <a:pt x="75" y="71"/>
                  </a:cubicBezTo>
                  <a:cubicBezTo>
                    <a:pt x="74" y="71"/>
                    <a:pt x="74" y="71"/>
                    <a:pt x="74" y="71"/>
                  </a:cubicBezTo>
                  <a:cubicBezTo>
                    <a:pt x="67" y="61"/>
                    <a:pt x="67" y="61"/>
                    <a:pt x="67" y="61"/>
                  </a:cubicBezTo>
                  <a:cubicBezTo>
                    <a:pt x="44" y="63"/>
                    <a:pt x="44" y="63"/>
                    <a:pt x="44" y="63"/>
                  </a:cubicBezTo>
                  <a:cubicBezTo>
                    <a:pt x="44" y="63"/>
                    <a:pt x="85" y="30"/>
                    <a:pt x="76" y="17"/>
                  </a:cubicBezTo>
                  <a:cubicBezTo>
                    <a:pt x="73" y="12"/>
                    <a:pt x="68" y="6"/>
                    <a:pt x="63" y="0"/>
                  </a:cubicBezTo>
                  <a:cubicBezTo>
                    <a:pt x="54" y="6"/>
                    <a:pt x="54" y="6"/>
                    <a:pt x="54" y="6"/>
                  </a:cubicBezTo>
                  <a:lnTo>
                    <a:pt x="47" y="18"/>
                  </a:ln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497" name="Freeform 289">
              <a:extLst>
                <a:ext uri="{FF2B5EF4-FFF2-40B4-BE49-F238E27FC236}">
                  <a16:creationId xmlns:a16="http://schemas.microsoft.com/office/drawing/2014/main" id="{311C501B-4494-4433-8568-7AA92EB7CC2C}"/>
                </a:ext>
              </a:extLst>
            </p:cNvPr>
            <p:cNvSpPr>
              <a:spLocks/>
            </p:cNvSpPr>
            <p:nvPr/>
          </p:nvSpPr>
          <p:spPr bwMode="gray">
            <a:xfrm>
              <a:off x="5917180" y="2067112"/>
              <a:ext cx="217085" cy="195472"/>
            </a:xfrm>
            <a:custGeom>
              <a:avLst/>
              <a:gdLst>
                <a:gd name="T0" fmla="*/ 51 w 320"/>
                <a:gd name="T1" fmla="*/ 35 h 305"/>
                <a:gd name="T2" fmla="*/ 50 w 320"/>
                <a:gd name="T3" fmla="*/ 50 h 305"/>
                <a:gd name="T4" fmla="*/ 31 w 320"/>
                <a:gd name="T5" fmla="*/ 57 h 305"/>
                <a:gd name="T6" fmla="*/ 31 w 320"/>
                <a:gd name="T7" fmla="*/ 67 h 305"/>
                <a:gd name="T8" fmla="*/ 20 w 320"/>
                <a:gd name="T9" fmla="*/ 75 h 305"/>
                <a:gd name="T10" fmla="*/ 26 w 320"/>
                <a:gd name="T11" fmla="*/ 106 h 305"/>
                <a:gd name="T12" fmla="*/ 14 w 320"/>
                <a:gd name="T13" fmla="*/ 126 h 305"/>
                <a:gd name="T14" fmla="*/ 13 w 320"/>
                <a:gd name="T15" fmla="*/ 143 h 305"/>
                <a:gd name="T16" fmla="*/ 1 w 320"/>
                <a:gd name="T17" fmla="*/ 157 h 305"/>
                <a:gd name="T18" fmla="*/ 6 w 320"/>
                <a:gd name="T19" fmla="*/ 167 h 305"/>
                <a:gd name="T20" fmla="*/ 8 w 320"/>
                <a:gd name="T21" fmla="*/ 200 h 305"/>
                <a:gd name="T22" fmla="*/ 31 w 320"/>
                <a:gd name="T23" fmla="*/ 201 h 305"/>
                <a:gd name="T24" fmla="*/ 41 w 320"/>
                <a:gd name="T25" fmla="*/ 191 h 305"/>
                <a:gd name="T26" fmla="*/ 57 w 320"/>
                <a:gd name="T27" fmla="*/ 211 h 305"/>
                <a:gd name="T28" fmla="*/ 73 w 320"/>
                <a:gd name="T29" fmla="*/ 170 h 305"/>
                <a:gd name="T30" fmla="*/ 89 w 320"/>
                <a:gd name="T31" fmla="*/ 179 h 305"/>
                <a:gd name="T32" fmla="*/ 99 w 320"/>
                <a:gd name="T33" fmla="*/ 194 h 305"/>
                <a:gd name="T34" fmla="*/ 116 w 320"/>
                <a:gd name="T35" fmla="*/ 194 h 305"/>
                <a:gd name="T36" fmla="*/ 128 w 320"/>
                <a:gd name="T37" fmla="*/ 181 h 305"/>
                <a:gd name="T38" fmla="*/ 137 w 320"/>
                <a:gd name="T39" fmla="*/ 194 h 305"/>
                <a:gd name="T40" fmla="*/ 155 w 320"/>
                <a:gd name="T41" fmla="*/ 187 h 305"/>
                <a:gd name="T42" fmla="*/ 165 w 320"/>
                <a:gd name="T43" fmla="*/ 192 h 305"/>
                <a:gd name="T44" fmla="*/ 185 w 320"/>
                <a:gd name="T45" fmla="*/ 193 h 305"/>
                <a:gd name="T46" fmla="*/ 196 w 320"/>
                <a:gd name="T47" fmla="*/ 207 h 305"/>
                <a:gd name="T48" fmla="*/ 216 w 320"/>
                <a:gd name="T49" fmla="*/ 216 h 305"/>
                <a:gd name="T50" fmla="*/ 231 w 320"/>
                <a:gd name="T51" fmla="*/ 242 h 305"/>
                <a:gd name="T52" fmla="*/ 257 w 320"/>
                <a:gd name="T53" fmla="*/ 257 h 305"/>
                <a:gd name="T54" fmla="*/ 262 w 320"/>
                <a:gd name="T55" fmla="*/ 277 h 305"/>
                <a:gd name="T56" fmla="*/ 280 w 320"/>
                <a:gd name="T57" fmla="*/ 283 h 305"/>
                <a:gd name="T58" fmla="*/ 288 w 320"/>
                <a:gd name="T59" fmla="*/ 295 h 305"/>
                <a:gd name="T60" fmla="*/ 304 w 320"/>
                <a:gd name="T61" fmla="*/ 305 h 305"/>
                <a:gd name="T62" fmla="*/ 311 w 320"/>
                <a:gd name="T63" fmla="*/ 293 h 305"/>
                <a:gd name="T64" fmla="*/ 320 w 320"/>
                <a:gd name="T65" fmla="*/ 287 h 305"/>
                <a:gd name="T66" fmla="*/ 304 w 320"/>
                <a:gd name="T67" fmla="*/ 268 h 305"/>
                <a:gd name="T68" fmla="*/ 285 w 320"/>
                <a:gd name="T69" fmla="*/ 264 h 305"/>
                <a:gd name="T70" fmla="*/ 283 w 320"/>
                <a:gd name="T71" fmla="*/ 239 h 305"/>
                <a:gd name="T72" fmla="*/ 241 w 320"/>
                <a:gd name="T73" fmla="*/ 216 h 305"/>
                <a:gd name="T74" fmla="*/ 231 w 320"/>
                <a:gd name="T75" fmla="*/ 181 h 305"/>
                <a:gd name="T76" fmla="*/ 204 w 320"/>
                <a:gd name="T77" fmla="*/ 177 h 305"/>
                <a:gd name="T78" fmla="*/ 190 w 320"/>
                <a:gd name="T79" fmla="*/ 159 h 305"/>
                <a:gd name="T80" fmla="*/ 177 w 320"/>
                <a:gd name="T81" fmla="*/ 165 h 305"/>
                <a:gd name="T82" fmla="*/ 169 w 320"/>
                <a:gd name="T83" fmla="*/ 152 h 305"/>
                <a:gd name="T84" fmla="*/ 157 w 320"/>
                <a:gd name="T85" fmla="*/ 149 h 305"/>
                <a:gd name="T86" fmla="*/ 134 w 320"/>
                <a:gd name="T87" fmla="*/ 117 h 305"/>
                <a:gd name="T88" fmla="*/ 128 w 320"/>
                <a:gd name="T89" fmla="*/ 62 h 305"/>
                <a:gd name="T90" fmla="*/ 100 w 320"/>
                <a:gd name="T91" fmla="*/ 1 h 305"/>
                <a:gd name="T92" fmla="*/ 98 w 320"/>
                <a:gd name="T93" fmla="*/ 0 h 305"/>
                <a:gd name="T94" fmla="*/ 87 w 320"/>
                <a:gd name="T95" fmla="*/ 25 h 305"/>
                <a:gd name="T96" fmla="*/ 51 w 320"/>
                <a:gd name="T97" fmla="*/ 35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20" h="305">
                  <a:moveTo>
                    <a:pt x="51" y="35"/>
                  </a:moveTo>
                  <a:cubicBezTo>
                    <a:pt x="51" y="35"/>
                    <a:pt x="51" y="43"/>
                    <a:pt x="50" y="50"/>
                  </a:cubicBezTo>
                  <a:cubicBezTo>
                    <a:pt x="49" y="57"/>
                    <a:pt x="31" y="57"/>
                    <a:pt x="31" y="57"/>
                  </a:cubicBezTo>
                  <a:cubicBezTo>
                    <a:pt x="31" y="67"/>
                    <a:pt x="31" y="67"/>
                    <a:pt x="31" y="67"/>
                  </a:cubicBezTo>
                  <a:cubicBezTo>
                    <a:pt x="31" y="67"/>
                    <a:pt x="20" y="72"/>
                    <a:pt x="20" y="75"/>
                  </a:cubicBezTo>
                  <a:cubicBezTo>
                    <a:pt x="20" y="78"/>
                    <a:pt x="26" y="88"/>
                    <a:pt x="26" y="106"/>
                  </a:cubicBezTo>
                  <a:cubicBezTo>
                    <a:pt x="26" y="124"/>
                    <a:pt x="14" y="126"/>
                    <a:pt x="14" y="126"/>
                  </a:cubicBezTo>
                  <a:cubicBezTo>
                    <a:pt x="14" y="126"/>
                    <a:pt x="13" y="136"/>
                    <a:pt x="13" y="143"/>
                  </a:cubicBezTo>
                  <a:cubicBezTo>
                    <a:pt x="13" y="150"/>
                    <a:pt x="2" y="149"/>
                    <a:pt x="1" y="157"/>
                  </a:cubicBezTo>
                  <a:cubicBezTo>
                    <a:pt x="0" y="165"/>
                    <a:pt x="6" y="167"/>
                    <a:pt x="6" y="167"/>
                  </a:cubicBezTo>
                  <a:cubicBezTo>
                    <a:pt x="8" y="200"/>
                    <a:pt x="8" y="200"/>
                    <a:pt x="8" y="200"/>
                  </a:cubicBezTo>
                  <a:cubicBezTo>
                    <a:pt x="31" y="201"/>
                    <a:pt x="31" y="201"/>
                    <a:pt x="31" y="201"/>
                  </a:cubicBezTo>
                  <a:cubicBezTo>
                    <a:pt x="31" y="201"/>
                    <a:pt x="36" y="191"/>
                    <a:pt x="41" y="191"/>
                  </a:cubicBezTo>
                  <a:cubicBezTo>
                    <a:pt x="46" y="191"/>
                    <a:pt x="49" y="211"/>
                    <a:pt x="57" y="211"/>
                  </a:cubicBezTo>
                  <a:cubicBezTo>
                    <a:pt x="65" y="211"/>
                    <a:pt x="73" y="170"/>
                    <a:pt x="73" y="170"/>
                  </a:cubicBezTo>
                  <a:cubicBezTo>
                    <a:pt x="73" y="170"/>
                    <a:pt x="85" y="177"/>
                    <a:pt x="89" y="179"/>
                  </a:cubicBezTo>
                  <a:cubicBezTo>
                    <a:pt x="93" y="181"/>
                    <a:pt x="99" y="194"/>
                    <a:pt x="99" y="194"/>
                  </a:cubicBezTo>
                  <a:cubicBezTo>
                    <a:pt x="99" y="194"/>
                    <a:pt x="113" y="194"/>
                    <a:pt x="116" y="194"/>
                  </a:cubicBezTo>
                  <a:cubicBezTo>
                    <a:pt x="119" y="194"/>
                    <a:pt x="128" y="181"/>
                    <a:pt x="128" y="181"/>
                  </a:cubicBezTo>
                  <a:cubicBezTo>
                    <a:pt x="128" y="181"/>
                    <a:pt x="134" y="194"/>
                    <a:pt x="137" y="194"/>
                  </a:cubicBezTo>
                  <a:cubicBezTo>
                    <a:pt x="140" y="194"/>
                    <a:pt x="151" y="187"/>
                    <a:pt x="155" y="187"/>
                  </a:cubicBezTo>
                  <a:cubicBezTo>
                    <a:pt x="159" y="187"/>
                    <a:pt x="165" y="192"/>
                    <a:pt x="165" y="192"/>
                  </a:cubicBezTo>
                  <a:cubicBezTo>
                    <a:pt x="185" y="193"/>
                    <a:pt x="185" y="193"/>
                    <a:pt x="185" y="193"/>
                  </a:cubicBezTo>
                  <a:cubicBezTo>
                    <a:pt x="196" y="207"/>
                    <a:pt x="196" y="207"/>
                    <a:pt x="196" y="207"/>
                  </a:cubicBezTo>
                  <a:cubicBezTo>
                    <a:pt x="196" y="207"/>
                    <a:pt x="208" y="208"/>
                    <a:pt x="216" y="216"/>
                  </a:cubicBezTo>
                  <a:cubicBezTo>
                    <a:pt x="224" y="224"/>
                    <a:pt x="227" y="234"/>
                    <a:pt x="231" y="242"/>
                  </a:cubicBezTo>
                  <a:cubicBezTo>
                    <a:pt x="235" y="250"/>
                    <a:pt x="253" y="252"/>
                    <a:pt x="257" y="257"/>
                  </a:cubicBezTo>
                  <a:cubicBezTo>
                    <a:pt x="261" y="262"/>
                    <a:pt x="261" y="271"/>
                    <a:pt x="262" y="277"/>
                  </a:cubicBezTo>
                  <a:cubicBezTo>
                    <a:pt x="263" y="283"/>
                    <a:pt x="280" y="283"/>
                    <a:pt x="280" y="283"/>
                  </a:cubicBezTo>
                  <a:cubicBezTo>
                    <a:pt x="288" y="295"/>
                    <a:pt x="288" y="295"/>
                    <a:pt x="288" y="295"/>
                  </a:cubicBezTo>
                  <a:cubicBezTo>
                    <a:pt x="304" y="305"/>
                    <a:pt x="304" y="305"/>
                    <a:pt x="304" y="305"/>
                  </a:cubicBezTo>
                  <a:cubicBezTo>
                    <a:pt x="311" y="293"/>
                    <a:pt x="311" y="293"/>
                    <a:pt x="311" y="293"/>
                  </a:cubicBezTo>
                  <a:cubicBezTo>
                    <a:pt x="320" y="287"/>
                    <a:pt x="320" y="287"/>
                    <a:pt x="320" y="287"/>
                  </a:cubicBezTo>
                  <a:cubicBezTo>
                    <a:pt x="312" y="277"/>
                    <a:pt x="304" y="268"/>
                    <a:pt x="304" y="268"/>
                  </a:cubicBezTo>
                  <a:cubicBezTo>
                    <a:pt x="304" y="268"/>
                    <a:pt x="287" y="271"/>
                    <a:pt x="285" y="264"/>
                  </a:cubicBezTo>
                  <a:cubicBezTo>
                    <a:pt x="283" y="257"/>
                    <a:pt x="283" y="239"/>
                    <a:pt x="283" y="239"/>
                  </a:cubicBezTo>
                  <a:cubicBezTo>
                    <a:pt x="283" y="239"/>
                    <a:pt x="244" y="225"/>
                    <a:pt x="241" y="216"/>
                  </a:cubicBezTo>
                  <a:cubicBezTo>
                    <a:pt x="238" y="207"/>
                    <a:pt x="238" y="185"/>
                    <a:pt x="231" y="181"/>
                  </a:cubicBezTo>
                  <a:cubicBezTo>
                    <a:pt x="224" y="177"/>
                    <a:pt x="207" y="181"/>
                    <a:pt x="204" y="177"/>
                  </a:cubicBezTo>
                  <a:cubicBezTo>
                    <a:pt x="201" y="173"/>
                    <a:pt x="190" y="159"/>
                    <a:pt x="190" y="159"/>
                  </a:cubicBezTo>
                  <a:cubicBezTo>
                    <a:pt x="177" y="165"/>
                    <a:pt x="177" y="165"/>
                    <a:pt x="177" y="165"/>
                  </a:cubicBezTo>
                  <a:cubicBezTo>
                    <a:pt x="169" y="152"/>
                    <a:pt x="169" y="152"/>
                    <a:pt x="169" y="152"/>
                  </a:cubicBezTo>
                  <a:cubicBezTo>
                    <a:pt x="157" y="149"/>
                    <a:pt x="157" y="149"/>
                    <a:pt x="157" y="149"/>
                  </a:cubicBezTo>
                  <a:cubicBezTo>
                    <a:pt x="157" y="149"/>
                    <a:pt x="137" y="129"/>
                    <a:pt x="134" y="117"/>
                  </a:cubicBezTo>
                  <a:cubicBezTo>
                    <a:pt x="131" y="105"/>
                    <a:pt x="135" y="85"/>
                    <a:pt x="128" y="62"/>
                  </a:cubicBezTo>
                  <a:cubicBezTo>
                    <a:pt x="121" y="39"/>
                    <a:pt x="100" y="1"/>
                    <a:pt x="100" y="1"/>
                  </a:cubicBezTo>
                  <a:cubicBezTo>
                    <a:pt x="98" y="0"/>
                    <a:pt x="98" y="0"/>
                    <a:pt x="98" y="0"/>
                  </a:cubicBezTo>
                  <a:cubicBezTo>
                    <a:pt x="96" y="9"/>
                    <a:pt x="92" y="21"/>
                    <a:pt x="87" y="25"/>
                  </a:cubicBezTo>
                  <a:cubicBezTo>
                    <a:pt x="78" y="33"/>
                    <a:pt x="51" y="35"/>
                    <a:pt x="51" y="35"/>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498" name="Freeform 290">
              <a:extLst>
                <a:ext uri="{FF2B5EF4-FFF2-40B4-BE49-F238E27FC236}">
                  <a16:creationId xmlns:a16="http://schemas.microsoft.com/office/drawing/2014/main" id="{6556FF22-5FA6-4E54-B7A8-AFE6157AFD0D}"/>
                </a:ext>
              </a:extLst>
            </p:cNvPr>
            <p:cNvSpPr>
              <a:spLocks/>
            </p:cNvSpPr>
            <p:nvPr/>
          </p:nvSpPr>
          <p:spPr bwMode="gray">
            <a:xfrm>
              <a:off x="5814956" y="2175980"/>
              <a:ext cx="480688" cy="394473"/>
            </a:xfrm>
            <a:custGeom>
              <a:avLst/>
              <a:gdLst>
                <a:gd name="T0" fmla="*/ 75 w 709"/>
                <a:gd name="T1" fmla="*/ 428 h 615"/>
                <a:gd name="T2" fmla="*/ 87 w 709"/>
                <a:gd name="T3" fmla="*/ 442 h 615"/>
                <a:gd name="T4" fmla="*/ 96 w 709"/>
                <a:gd name="T5" fmla="*/ 471 h 615"/>
                <a:gd name="T6" fmla="*/ 133 w 709"/>
                <a:gd name="T7" fmla="*/ 513 h 615"/>
                <a:gd name="T8" fmla="*/ 138 w 709"/>
                <a:gd name="T9" fmla="*/ 545 h 615"/>
                <a:gd name="T10" fmla="*/ 191 w 709"/>
                <a:gd name="T11" fmla="*/ 562 h 615"/>
                <a:gd name="T12" fmla="*/ 282 w 709"/>
                <a:gd name="T13" fmla="*/ 606 h 615"/>
                <a:gd name="T14" fmla="*/ 326 w 709"/>
                <a:gd name="T15" fmla="*/ 601 h 615"/>
                <a:gd name="T16" fmla="*/ 360 w 709"/>
                <a:gd name="T17" fmla="*/ 577 h 615"/>
                <a:gd name="T18" fmla="*/ 388 w 709"/>
                <a:gd name="T19" fmla="*/ 585 h 615"/>
                <a:gd name="T20" fmla="*/ 410 w 709"/>
                <a:gd name="T21" fmla="*/ 582 h 615"/>
                <a:gd name="T22" fmla="*/ 434 w 709"/>
                <a:gd name="T23" fmla="*/ 574 h 615"/>
                <a:gd name="T24" fmla="*/ 480 w 709"/>
                <a:gd name="T25" fmla="*/ 549 h 615"/>
                <a:gd name="T26" fmla="*/ 569 w 709"/>
                <a:gd name="T27" fmla="*/ 535 h 615"/>
                <a:gd name="T28" fmla="*/ 661 w 709"/>
                <a:gd name="T29" fmla="*/ 373 h 615"/>
                <a:gd name="T30" fmla="*/ 527 w 709"/>
                <a:gd name="T31" fmla="*/ 320 h 615"/>
                <a:gd name="T32" fmla="*/ 491 w 709"/>
                <a:gd name="T33" fmla="*/ 295 h 615"/>
                <a:gd name="T34" fmla="*/ 462 w 709"/>
                <a:gd name="T35" fmla="*/ 246 h 615"/>
                <a:gd name="T36" fmla="*/ 454 w 709"/>
                <a:gd name="T37" fmla="*/ 230 h 615"/>
                <a:gd name="T38" fmla="*/ 454 w 709"/>
                <a:gd name="T39" fmla="*/ 201 h 615"/>
                <a:gd name="T40" fmla="*/ 419 w 709"/>
                <a:gd name="T41" fmla="*/ 211 h 615"/>
                <a:gd name="T42" fmla="*/ 421 w 709"/>
                <a:gd name="T43" fmla="*/ 164 h 615"/>
                <a:gd name="T44" fmla="*/ 431 w 709"/>
                <a:gd name="T45" fmla="*/ 113 h 615"/>
                <a:gd name="T46" fmla="*/ 408 w 709"/>
                <a:gd name="T47" fmla="*/ 87 h 615"/>
                <a:gd name="T48" fmla="*/ 367 w 709"/>
                <a:gd name="T49" fmla="*/ 46 h 615"/>
                <a:gd name="T50" fmla="*/ 336 w 709"/>
                <a:gd name="T51" fmla="*/ 23 h 615"/>
                <a:gd name="T52" fmla="*/ 306 w 709"/>
                <a:gd name="T53" fmla="*/ 17 h 615"/>
                <a:gd name="T54" fmla="*/ 279 w 709"/>
                <a:gd name="T55" fmla="*/ 11 h 615"/>
                <a:gd name="T56" fmla="*/ 250 w 709"/>
                <a:gd name="T57" fmla="*/ 24 h 615"/>
                <a:gd name="T58" fmla="*/ 224 w 709"/>
                <a:gd name="T59" fmla="*/ 0 h 615"/>
                <a:gd name="T60" fmla="*/ 192 w 709"/>
                <a:gd name="T61" fmla="*/ 21 h 615"/>
                <a:gd name="T62" fmla="*/ 159 w 709"/>
                <a:gd name="T63" fmla="*/ 30 h 615"/>
                <a:gd name="T64" fmla="*/ 143 w 709"/>
                <a:gd name="T65" fmla="*/ 88 h 615"/>
                <a:gd name="T66" fmla="*/ 123 w 709"/>
                <a:gd name="T67" fmla="*/ 116 h 615"/>
                <a:gd name="T68" fmla="*/ 110 w 709"/>
                <a:gd name="T69" fmla="*/ 155 h 615"/>
                <a:gd name="T70" fmla="*/ 96 w 709"/>
                <a:gd name="T71" fmla="*/ 179 h 615"/>
                <a:gd name="T72" fmla="*/ 90 w 709"/>
                <a:gd name="T73" fmla="*/ 221 h 615"/>
                <a:gd name="T74" fmla="*/ 71 w 709"/>
                <a:gd name="T75" fmla="*/ 215 h 615"/>
                <a:gd name="T76" fmla="*/ 65 w 709"/>
                <a:gd name="T77" fmla="*/ 256 h 615"/>
                <a:gd name="T78" fmla="*/ 54 w 709"/>
                <a:gd name="T79" fmla="*/ 305 h 615"/>
                <a:gd name="T80" fmla="*/ 36 w 709"/>
                <a:gd name="T81" fmla="*/ 351 h 615"/>
                <a:gd name="T82" fmla="*/ 8 w 709"/>
                <a:gd name="T83" fmla="*/ 345 h 615"/>
                <a:gd name="T84" fmla="*/ 3 w 709"/>
                <a:gd name="T85" fmla="*/ 383 h 615"/>
                <a:gd name="T86" fmla="*/ 55 w 709"/>
                <a:gd name="T87" fmla="*/ 405 h 6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709" h="615">
                  <a:moveTo>
                    <a:pt x="60" y="425"/>
                  </a:moveTo>
                  <a:cubicBezTo>
                    <a:pt x="64" y="430"/>
                    <a:pt x="75" y="428"/>
                    <a:pt x="75" y="428"/>
                  </a:cubicBezTo>
                  <a:cubicBezTo>
                    <a:pt x="78" y="441"/>
                    <a:pt x="78" y="441"/>
                    <a:pt x="78" y="441"/>
                  </a:cubicBezTo>
                  <a:cubicBezTo>
                    <a:pt x="87" y="442"/>
                    <a:pt x="87" y="442"/>
                    <a:pt x="87" y="442"/>
                  </a:cubicBezTo>
                  <a:cubicBezTo>
                    <a:pt x="89" y="467"/>
                    <a:pt x="89" y="467"/>
                    <a:pt x="89" y="467"/>
                  </a:cubicBezTo>
                  <a:cubicBezTo>
                    <a:pt x="96" y="471"/>
                    <a:pt x="96" y="471"/>
                    <a:pt x="96" y="471"/>
                  </a:cubicBezTo>
                  <a:cubicBezTo>
                    <a:pt x="96" y="471"/>
                    <a:pt x="98" y="498"/>
                    <a:pt x="108" y="506"/>
                  </a:cubicBezTo>
                  <a:cubicBezTo>
                    <a:pt x="118" y="514"/>
                    <a:pt x="128" y="505"/>
                    <a:pt x="133" y="513"/>
                  </a:cubicBezTo>
                  <a:cubicBezTo>
                    <a:pt x="138" y="521"/>
                    <a:pt x="137" y="535"/>
                    <a:pt x="137" y="535"/>
                  </a:cubicBezTo>
                  <a:cubicBezTo>
                    <a:pt x="138" y="545"/>
                    <a:pt x="138" y="545"/>
                    <a:pt x="138" y="545"/>
                  </a:cubicBezTo>
                  <a:cubicBezTo>
                    <a:pt x="144" y="560"/>
                    <a:pt x="144" y="560"/>
                    <a:pt x="144" y="560"/>
                  </a:cubicBezTo>
                  <a:cubicBezTo>
                    <a:pt x="191" y="562"/>
                    <a:pt x="191" y="562"/>
                    <a:pt x="191" y="562"/>
                  </a:cubicBezTo>
                  <a:cubicBezTo>
                    <a:pt x="242" y="602"/>
                    <a:pt x="242" y="602"/>
                    <a:pt x="242" y="602"/>
                  </a:cubicBezTo>
                  <a:cubicBezTo>
                    <a:pt x="242" y="602"/>
                    <a:pt x="269" y="604"/>
                    <a:pt x="282" y="606"/>
                  </a:cubicBezTo>
                  <a:cubicBezTo>
                    <a:pt x="295" y="608"/>
                    <a:pt x="313" y="615"/>
                    <a:pt x="313" y="615"/>
                  </a:cubicBezTo>
                  <a:cubicBezTo>
                    <a:pt x="326" y="601"/>
                    <a:pt x="326" y="601"/>
                    <a:pt x="326" y="601"/>
                  </a:cubicBezTo>
                  <a:cubicBezTo>
                    <a:pt x="326" y="601"/>
                    <a:pt x="324" y="597"/>
                    <a:pt x="331" y="591"/>
                  </a:cubicBezTo>
                  <a:cubicBezTo>
                    <a:pt x="338" y="585"/>
                    <a:pt x="360" y="577"/>
                    <a:pt x="360" y="577"/>
                  </a:cubicBezTo>
                  <a:cubicBezTo>
                    <a:pt x="372" y="568"/>
                    <a:pt x="372" y="568"/>
                    <a:pt x="372" y="568"/>
                  </a:cubicBezTo>
                  <a:cubicBezTo>
                    <a:pt x="388" y="585"/>
                    <a:pt x="388" y="585"/>
                    <a:pt x="388" y="585"/>
                  </a:cubicBezTo>
                  <a:cubicBezTo>
                    <a:pt x="406" y="586"/>
                    <a:pt x="406" y="586"/>
                    <a:pt x="406" y="586"/>
                  </a:cubicBezTo>
                  <a:cubicBezTo>
                    <a:pt x="410" y="582"/>
                    <a:pt x="410" y="582"/>
                    <a:pt x="410" y="582"/>
                  </a:cubicBezTo>
                  <a:cubicBezTo>
                    <a:pt x="426" y="588"/>
                    <a:pt x="426" y="588"/>
                    <a:pt x="426" y="588"/>
                  </a:cubicBezTo>
                  <a:cubicBezTo>
                    <a:pt x="426" y="588"/>
                    <a:pt x="426" y="577"/>
                    <a:pt x="434" y="574"/>
                  </a:cubicBezTo>
                  <a:cubicBezTo>
                    <a:pt x="442" y="571"/>
                    <a:pt x="467" y="573"/>
                    <a:pt x="473" y="567"/>
                  </a:cubicBezTo>
                  <a:cubicBezTo>
                    <a:pt x="479" y="561"/>
                    <a:pt x="480" y="549"/>
                    <a:pt x="480" y="549"/>
                  </a:cubicBezTo>
                  <a:cubicBezTo>
                    <a:pt x="480" y="549"/>
                    <a:pt x="505" y="537"/>
                    <a:pt x="513" y="535"/>
                  </a:cubicBezTo>
                  <a:cubicBezTo>
                    <a:pt x="521" y="533"/>
                    <a:pt x="569" y="535"/>
                    <a:pt x="569" y="535"/>
                  </a:cubicBezTo>
                  <a:cubicBezTo>
                    <a:pt x="709" y="370"/>
                    <a:pt x="709" y="370"/>
                    <a:pt x="709" y="370"/>
                  </a:cubicBezTo>
                  <a:cubicBezTo>
                    <a:pt x="661" y="373"/>
                    <a:pt x="661" y="373"/>
                    <a:pt x="661" y="373"/>
                  </a:cubicBezTo>
                  <a:cubicBezTo>
                    <a:pt x="661" y="373"/>
                    <a:pt x="628" y="353"/>
                    <a:pt x="609" y="347"/>
                  </a:cubicBezTo>
                  <a:cubicBezTo>
                    <a:pt x="590" y="341"/>
                    <a:pt x="538" y="328"/>
                    <a:pt x="527" y="320"/>
                  </a:cubicBezTo>
                  <a:cubicBezTo>
                    <a:pt x="516" y="312"/>
                    <a:pt x="506" y="295"/>
                    <a:pt x="506" y="295"/>
                  </a:cubicBezTo>
                  <a:cubicBezTo>
                    <a:pt x="491" y="295"/>
                    <a:pt x="491" y="295"/>
                    <a:pt x="491" y="295"/>
                  </a:cubicBezTo>
                  <a:cubicBezTo>
                    <a:pt x="491" y="295"/>
                    <a:pt x="487" y="278"/>
                    <a:pt x="481" y="270"/>
                  </a:cubicBezTo>
                  <a:cubicBezTo>
                    <a:pt x="475" y="262"/>
                    <a:pt x="462" y="246"/>
                    <a:pt x="462" y="246"/>
                  </a:cubicBezTo>
                  <a:cubicBezTo>
                    <a:pt x="463" y="238"/>
                    <a:pt x="463" y="238"/>
                    <a:pt x="463" y="238"/>
                  </a:cubicBezTo>
                  <a:cubicBezTo>
                    <a:pt x="454" y="230"/>
                    <a:pt x="454" y="230"/>
                    <a:pt x="454" y="230"/>
                  </a:cubicBezTo>
                  <a:cubicBezTo>
                    <a:pt x="467" y="210"/>
                    <a:pt x="467" y="210"/>
                    <a:pt x="467" y="210"/>
                  </a:cubicBezTo>
                  <a:cubicBezTo>
                    <a:pt x="463" y="206"/>
                    <a:pt x="458" y="202"/>
                    <a:pt x="454" y="201"/>
                  </a:cubicBezTo>
                  <a:cubicBezTo>
                    <a:pt x="447" y="200"/>
                    <a:pt x="444" y="208"/>
                    <a:pt x="444" y="208"/>
                  </a:cubicBezTo>
                  <a:cubicBezTo>
                    <a:pt x="444" y="208"/>
                    <a:pt x="427" y="212"/>
                    <a:pt x="419" y="211"/>
                  </a:cubicBezTo>
                  <a:cubicBezTo>
                    <a:pt x="411" y="210"/>
                    <a:pt x="408" y="173"/>
                    <a:pt x="408" y="173"/>
                  </a:cubicBezTo>
                  <a:cubicBezTo>
                    <a:pt x="421" y="164"/>
                    <a:pt x="421" y="164"/>
                    <a:pt x="421" y="164"/>
                  </a:cubicBezTo>
                  <a:cubicBezTo>
                    <a:pt x="439" y="125"/>
                    <a:pt x="439" y="125"/>
                    <a:pt x="439" y="125"/>
                  </a:cubicBezTo>
                  <a:cubicBezTo>
                    <a:pt x="431" y="113"/>
                    <a:pt x="431" y="113"/>
                    <a:pt x="431" y="113"/>
                  </a:cubicBezTo>
                  <a:cubicBezTo>
                    <a:pt x="431" y="113"/>
                    <a:pt x="414" y="113"/>
                    <a:pt x="413" y="107"/>
                  </a:cubicBezTo>
                  <a:cubicBezTo>
                    <a:pt x="412" y="101"/>
                    <a:pt x="412" y="92"/>
                    <a:pt x="408" y="87"/>
                  </a:cubicBezTo>
                  <a:cubicBezTo>
                    <a:pt x="404" y="82"/>
                    <a:pt x="386" y="80"/>
                    <a:pt x="382" y="72"/>
                  </a:cubicBezTo>
                  <a:cubicBezTo>
                    <a:pt x="378" y="64"/>
                    <a:pt x="375" y="54"/>
                    <a:pt x="367" y="46"/>
                  </a:cubicBezTo>
                  <a:cubicBezTo>
                    <a:pt x="359" y="38"/>
                    <a:pt x="347" y="37"/>
                    <a:pt x="347" y="37"/>
                  </a:cubicBezTo>
                  <a:cubicBezTo>
                    <a:pt x="336" y="23"/>
                    <a:pt x="336" y="23"/>
                    <a:pt x="336" y="23"/>
                  </a:cubicBezTo>
                  <a:cubicBezTo>
                    <a:pt x="316" y="22"/>
                    <a:pt x="316" y="22"/>
                    <a:pt x="316" y="22"/>
                  </a:cubicBezTo>
                  <a:cubicBezTo>
                    <a:pt x="316" y="22"/>
                    <a:pt x="310" y="17"/>
                    <a:pt x="306" y="17"/>
                  </a:cubicBezTo>
                  <a:cubicBezTo>
                    <a:pt x="302" y="17"/>
                    <a:pt x="291" y="24"/>
                    <a:pt x="288" y="24"/>
                  </a:cubicBezTo>
                  <a:cubicBezTo>
                    <a:pt x="285" y="24"/>
                    <a:pt x="279" y="11"/>
                    <a:pt x="279" y="11"/>
                  </a:cubicBezTo>
                  <a:cubicBezTo>
                    <a:pt x="279" y="11"/>
                    <a:pt x="270" y="24"/>
                    <a:pt x="267" y="24"/>
                  </a:cubicBezTo>
                  <a:cubicBezTo>
                    <a:pt x="264" y="24"/>
                    <a:pt x="250" y="24"/>
                    <a:pt x="250" y="24"/>
                  </a:cubicBezTo>
                  <a:cubicBezTo>
                    <a:pt x="250" y="24"/>
                    <a:pt x="244" y="11"/>
                    <a:pt x="240" y="9"/>
                  </a:cubicBezTo>
                  <a:cubicBezTo>
                    <a:pt x="236" y="7"/>
                    <a:pt x="224" y="0"/>
                    <a:pt x="224" y="0"/>
                  </a:cubicBezTo>
                  <a:cubicBezTo>
                    <a:pt x="224" y="0"/>
                    <a:pt x="216" y="41"/>
                    <a:pt x="208" y="41"/>
                  </a:cubicBezTo>
                  <a:cubicBezTo>
                    <a:pt x="200" y="41"/>
                    <a:pt x="197" y="21"/>
                    <a:pt x="192" y="21"/>
                  </a:cubicBezTo>
                  <a:cubicBezTo>
                    <a:pt x="187" y="21"/>
                    <a:pt x="182" y="31"/>
                    <a:pt x="182" y="31"/>
                  </a:cubicBezTo>
                  <a:cubicBezTo>
                    <a:pt x="159" y="30"/>
                    <a:pt x="159" y="30"/>
                    <a:pt x="159" y="30"/>
                  </a:cubicBezTo>
                  <a:cubicBezTo>
                    <a:pt x="159" y="60"/>
                    <a:pt x="159" y="60"/>
                    <a:pt x="159" y="60"/>
                  </a:cubicBezTo>
                  <a:cubicBezTo>
                    <a:pt x="159" y="60"/>
                    <a:pt x="143" y="80"/>
                    <a:pt x="143" y="88"/>
                  </a:cubicBezTo>
                  <a:cubicBezTo>
                    <a:pt x="143" y="96"/>
                    <a:pt x="145" y="114"/>
                    <a:pt x="145" y="114"/>
                  </a:cubicBezTo>
                  <a:cubicBezTo>
                    <a:pt x="123" y="116"/>
                    <a:pt x="123" y="116"/>
                    <a:pt x="123" y="116"/>
                  </a:cubicBezTo>
                  <a:cubicBezTo>
                    <a:pt x="123" y="116"/>
                    <a:pt x="112" y="130"/>
                    <a:pt x="111" y="135"/>
                  </a:cubicBezTo>
                  <a:cubicBezTo>
                    <a:pt x="110" y="140"/>
                    <a:pt x="115" y="150"/>
                    <a:pt x="110" y="155"/>
                  </a:cubicBezTo>
                  <a:cubicBezTo>
                    <a:pt x="105" y="160"/>
                    <a:pt x="94" y="164"/>
                    <a:pt x="94" y="164"/>
                  </a:cubicBezTo>
                  <a:cubicBezTo>
                    <a:pt x="96" y="179"/>
                    <a:pt x="96" y="179"/>
                    <a:pt x="96" y="179"/>
                  </a:cubicBezTo>
                  <a:cubicBezTo>
                    <a:pt x="89" y="190"/>
                    <a:pt x="89" y="190"/>
                    <a:pt x="89" y="190"/>
                  </a:cubicBezTo>
                  <a:cubicBezTo>
                    <a:pt x="89" y="190"/>
                    <a:pt x="96" y="213"/>
                    <a:pt x="90" y="221"/>
                  </a:cubicBezTo>
                  <a:cubicBezTo>
                    <a:pt x="84" y="229"/>
                    <a:pt x="78" y="226"/>
                    <a:pt x="78" y="226"/>
                  </a:cubicBezTo>
                  <a:cubicBezTo>
                    <a:pt x="78" y="226"/>
                    <a:pt x="76" y="215"/>
                    <a:pt x="71" y="215"/>
                  </a:cubicBezTo>
                  <a:cubicBezTo>
                    <a:pt x="66" y="215"/>
                    <a:pt x="60" y="228"/>
                    <a:pt x="60" y="235"/>
                  </a:cubicBezTo>
                  <a:cubicBezTo>
                    <a:pt x="60" y="242"/>
                    <a:pt x="66" y="253"/>
                    <a:pt x="65" y="256"/>
                  </a:cubicBezTo>
                  <a:cubicBezTo>
                    <a:pt x="64" y="259"/>
                    <a:pt x="49" y="270"/>
                    <a:pt x="48" y="278"/>
                  </a:cubicBezTo>
                  <a:cubicBezTo>
                    <a:pt x="47" y="286"/>
                    <a:pt x="54" y="305"/>
                    <a:pt x="54" y="305"/>
                  </a:cubicBezTo>
                  <a:cubicBezTo>
                    <a:pt x="54" y="305"/>
                    <a:pt x="57" y="336"/>
                    <a:pt x="50" y="341"/>
                  </a:cubicBezTo>
                  <a:cubicBezTo>
                    <a:pt x="43" y="346"/>
                    <a:pt x="36" y="351"/>
                    <a:pt x="36" y="351"/>
                  </a:cubicBezTo>
                  <a:cubicBezTo>
                    <a:pt x="31" y="346"/>
                    <a:pt x="31" y="346"/>
                    <a:pt x="31" y="346"/>
                  </a:cubicBezTo>
                  <a:cubicBezTo>
                    <a:pt x="8" y="345"/>
                    <a:pt x="8" y="345"/>
                    <a:pt x="8" y="345"/>
                  </a:cubicBezTo>
                  <a:cubicBezTo>
                    <a:pt x="10" y="361"/>
                    <a:pt x="10" y="361"/>
                    <a:pt x="10" y="361"/>
                  </a:cubicBezTo>
                  <a:cubicBezTo>
                    <a:pt x="10" y="361"/>
                    <a:pt x="0" y="378"/>
                    <a:pt x="3" y="383"/>
                  </a:cubicBezTo>
                  <a:cubicBezTo>
                    <a:pt x="6" y="388"/>
                    <a:pt x="22" y="382"/>
                    <a:pt x="30" y="386"/>
                  </a:cubicBezTo>
                  <a:cubicBezTo>
                    <a:pt x="38" y="390"/>
                    <a:pt x="55" y="405"/>
                    <a:pt x="55" y="405"/>
                  </a:cubicBezTo>
                  <a:cubicBezTo>
                    <a:pt x="55" y="405"/>
                    <a:pt x="56" y="420"/>
                    <a:pt x="60" y="425"/>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499" name="Freeform 291">
              <a:extLst>
                <a:ext uri="{FF2B5EF4-FFF2-40B4-BE49-F238E27FC236}">
                  <a16:creationId xmlns:a16="http://schemas.microsoft.com/office/drawing/2014/main" id="{5D8B4050-7938-4203-A8A2-112056D041E6}"/>
                </a:ext>
              </a:extLst>
            </p:cNvPr>
            <p:cNvSpPr>
              <a:spLocks/>
            </p:cNvSpPr>
            <p:nvPr/>
          </p:nvSpPr>
          <p:spPr bwMode="gray">
            <a:xfrm>
              <a:off x="5527806" y="1596895"/>
              <a:ext cx="359511" cy="350220"/>
            </a:xfrm>
            <a:custGeom>
              <a:avLst/>
              <a:gdLst>
                <a:gd name="T0" fmla="*/ 11 w 530"/>
                <a:gd name="T1" fmla="*/ 13 h 546"/>
                <a:gd name="T2" fmla="*/ 7 w 530"/>
                <a:gd name="T3" fmla="*/ 34 h 546"/>
                <a:gd name="T4" fmla="*/ 17 w 530"/>
                <a:gd name="T5" fmla="*/ 54 h 546"/>
                <a:gd name="T6" fmla="*/ 3 w 530"/>
                <a:gd name="T7" fmla="*/ 82 h 546"/>
                <a:gd name="T8" fmla="*/ 21 w 530"/>
                <a:gd name="T9" fmla="*/ 120 h 546"/>
                <a:gd name="T10" fmla="*/ 34 w 530"/>
                <a:gd name="T11" fmla="*/ 518 h 546"/>
                <a:gd name="T12" fmla="*/ 320 w 530"/>
                <a:gd name="T13" fmla="*/ 522 h 546"/>
                <a:gd name="T14" fmla="*/ 329 w 530"/>
                <a:gd name="T15" fmla="*/ 510 h 546"/>
                <a:gd name="T16" fmla="*/ 334 w 530"/>
                <a:gd name="T17" fmla="*/ 518 h 546"/>
                <a:gd name="T18" fmla="*/ 413 w 530"/>
                <a:gd name="T19" fmla="*/ 521 h 546"/>
                <a:gd name="T20" fmla="*/ 438 w 530"/>
                <a:gd name="T21" fmla="*/ 539 h 546"/>
                <a:gd name="T22" fmla="*/ 460 w 530"/>
                <a:gd name="T23" fmla="*/ 508 h 546"/>
                <a:gd name="T24" fmla="*/ 482 w 530"/>
                <a:gd name="T25" fmla="*/ 505 h 546"/>
                <a:gd name="T26" fmla="*/ 492 w 530"/>
                <a:gd name="T27" fmla="*/ 478 h 546"/>
                <a:gd name="T28" fmla="*/ 509 w 530"/>
                <a:gd name="T29" fmla="*/ 477 h 546"/>
                <a:gd name="T30" fmla="*/ 525 w 530"/>
                <a:gd name="T31" fmla="*/ 462 h 546"/>
                <a:gd name="T32" fmla="*/ 520 w 530"/>
                <a:gd name="T33" fmla="*/ 445 h 546"/>
                <a:gd name="T34" fmla="*/ 518 w 530"/>
                <a:gd name="T35" fmla="*/ 416 h 546"/>
                <a:gd name="T36" fmla="*/ 530 w 530"/>
                <a:gd name="T37" fmla="*/ 415 h 546"/>
                <a:gd name="T38" fmla="*/ 490 w 530"/>
                <a:gd name="T39" fmla="*/ 369 h 546"/>
                <a:gd name="T40" fmla="*/ 469 w 530"/>
                <a:gd name="T41" fmla="*/ 315 h 546"/>
                <a:gd name="T42" fmla="*/ 448 w 530"/>
                <a:gd name="T43" fmla="*/ 288 h 546"/>
                <a:gd name="T44" fmla="*/ 440 w 530"/>
                <a:gd name="T45" fmla="*/ 252 h 546"/>
                <a:gd name="T46" fmla="*/ 415 w 530"/>
                <a:gd name="T47" fmla="*/ 225 h 546"/>
                <a:gd name="T48" fmla="*/ 412 w 530"/>
                <a:gd name="T49" fmla="*/ 204 h 546"/>
                <a:gd name="T50" fmla="*/ 378 w 530"/>
                <a:gd name="T51" fmla="*/ 161 h 546"/>
                <a:gd name="T52" fmla="*/ 368 w 530"/>
                <a:gd name="T53" fmla="*/ 147 h 546"/>
                <a:gd name="T54" fmla="*/ 368 w 530"/>
                <a:gd name="T55" fmla="*/ 126 h 546"/>
                <a:gd name="T56" fmla="*/ 350 w 530"/>
                <a:gd name="T57" fmla="*/ 112 h 546"/>
                <a:gd name="T58" fmla="*/ 361 w 530"/>
                <a:gd name="T59" fmla="*/ 99 h 546"/>
                <a:gd name="T60" fmla="*/ 373 w 530"/>
                <a:gd name="T61" fmla="*/ 107 h 546"/>
                <a:gd name="T62" fmla="*/ 381 w 530"/>
                <a:gd name="T63" fmla="*/ 130 h 546"/>
                <a:gd name="T64" fmla="*/ 395 w 530"/>
                <a:gd name="T65" fmla="*/ 145 h 546"/>
                <a:gd name="T66" fmla="*/ 394 w 530"/>
                <a:gd name="T67" fmla="*/ 162 h 546"/>
                <a:gd name="T68" fmla="*/ 438 w 530"/>
                <a:gd name="T69" fmla="*/ 207 h 546"/>
                <a:gd name="T70" fmla="*/ 456 w 530"/>
                <a:gd name="T71" fmla="*/ 195 h 546"/>
                <a:gd name="T72" fmla="*/ 449 w 530"/>
                <a:gd name="T73" fmla="*/ 183 h 546"/>
                <a:gd name="T74" fmla="*/ 462 w 530"/>
                <a:gd name="T75" fmla="*/ 143 h 546"/>
                <a:gd name="T76" fmla="*/ 471 w 530"/>
                <a:gd name="T77" fmla="*/ 112 h 546"/>
                <a:gd name="T78" fmla="*/ 435 w 530"/>
                <a:gd name="T79" fmla="*/ 19 h 546"/>
                <a:gd name="T80" fmla="*/ 388 w 530"/>
                <a:gd name="T81" fmla="*/ 30 h 546"/>
                <a:gd name="T82" fmla="*/ 373 w 530"/>
                <a:gd name="T83" fmla="*/ 22 h 546"/>
                <a:gd name="T84" fmla="*/ 350 w 530"/>
                <a:gd name="T85" fmla="*/ 26 h 546"/>
                <a:gd name="T86" fmla="*/ 325 w 530"/>
                <a:gd name="T87" fmla="*/ 7 h 546"/>
                <a:gd name="T88" fmla="*/ 288 w 530"/>
                <a:gd name="T89" fmla="*/ 14 h 546"/>
                <a:gd name="T90" fmla="*/ 262 w 530"/>
                <a:gd name="T91" fmla="*/ 11 h 546"/>
                <a:gd name="T92" fmla="*/ 243 w 530"/>
                <a:gd name="T93" fmla="*/ 30 h 546"/>
                <a:gd name="T94" fmla="*/ 227 w 530"/>
                <a:gd name="T95" fmla="*/ 30 h 546"/>
                <a:gd name="T96" fmla="*/ 210 w 530"/>
                <a:gd name="T97" fmla="*/ 43 h 546"/>
                <a:gd name="T98" fmla="*/ 170 w 530"/>
                <a:gd name="T99" fmla="*/ 29 h 546"/>
                <a:gd name="T100" fmla="*/ 140 w 530"/>
                <a:gd name="T101" fmla="*/ 29 h 546"/>
                <a:gd name="T102" fmla="*/ 112 w 530"/>
                <a:gd name="T103" fmla="*/ 13 h 546"/>
                <a:gd name="T104" fmla="*/ 89 w 530"/>
                <a:gd name="T105" fmla="*/ 12 h 546"/>
                <a:gd name="T106" fmla="*/ 60 w 530"/>
                <a:gd name="T107" fmla="*/ 1 h 546"/>
                <a:gd name="T108" fmla="*/ 31 w 530"/>
                <a:gd name="T109" fmla="*/ 6 h 546"/>
                <a:gd name="T110" fmla="*/ 24 w 530"/>
                <a:gd name="T111" fmla="*/ 0 h 546"/>
                <a:gd name="T112" fmla="*/ 11 w 530"/>
                <a:gd name="T113" fmla="*/ 13 h 5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30" h="546">
                  <a:moveTo>
                    <a:pt x="11" y="13"/>
                  </a:moveTo>
                  <a:cubicBezTo>
                    <a:pt x="6" y="16"/>
                    <a:pt x="6" y="30"/>
                    <a:pt x="7" y="34"/>
                  </a:cubicBezTo>
                  <a:cubicBezTo>
                    <a:pt x="8" y="38"/>
                    <a:pt x="20" y="45"/>
                    <a:pt x="17" y="54"/>
                  </a:cubicBezTo>
                  <a:cubicBezTo>
                    <a:pt x="14" y="63"/>
                    <a:pt x="0" y="75"/>
                    <a:pt x="3" y="82"/>
                  </a:cubicBezTo>
                  <a:cubicBezTo>
                    <a:pt x="6" y="89"/>
                    <a:pt x="21" y="107"/>
                    <a:pt x="21" y="120"/>
                  </a:cubicBezTo>
                  <a:cubicBezTo>
                    <a:pt x="21" y="133"/>
                    <a:pt x="34" y="518"/>
                    <a:pt x="34" y="518"/>
                  </a:cubicBezTo>
                  <a:cubicBezTo>
                    <a:pt x="320" y="522"/>
                    <a:pt x="320" y="522"/>
                    <a:pt x="320" y="522"/>
                  </a:cubicBezTo>
                  <a:cubicBezTo>
                    <a:pt x="320" y="522"/>
                    <a:pt x="322" y="512"/>
                    <a:pt x="329" y="510"/>
                  </a:cubicBezTo>
                  <a:cubicBezTo>
                    <a:pt x="336" y="508"/>
                    <a:pt x="334" y="518"/>
                    <a:pt x="334" y="518"/>
                  </a:cubicBezTo>
                  <a:cubicBezTo>
                    <a:pt x="413" y="521"/>
                    <a:pt x="413" y="521"/>
                    <a:pt x="413" y="521"/>
                  </a:cubicBezTo>
                  <a:cubicBezTo>
                    <a:pt x="413" y="521"/>
                    <a:pt x="425" y="546"/>
                    <a:pt x="438" y="539"/>
                  </a:cubicBezTo>
                  <a:cubicBezTo>
                    <a:pt x="451" y="532"/>
                    <a:pt x="450" y="511"/>
                    <a:pt x="460" y="508"/>
                  </a:cubicBezTo>
                  <a:cubicBezTo>
                    <a:pt x="470" y="505"/>
                    <a:pt x="472" y="509"/>
                    <a:pt x="482" y="505"/>
                  </a:cubicBezTo>
                  <a:cubicBezTo>
                    <a:pt x="492" y="501"/>
                    <a:pt x="492" y="478"/>
                    <a:pt x="492" y="478"/>
                  </a:cubicBezTo>
                  <a:cubicBezTo>
                    <a:pt x="509" y="477"/>
                    <a:pt x="509" y="477"/>
                    <a:pt x="509" y="477"/>
                  </a:cubicBezTo>
                  <a:cubicBezTo>
                    <a:pt x="525" y="462"/>
                    <a:pt x="525" y="462"/>
                    <a:pt x="525" y="462"/>
                  </a:cubicBezTo>
                  <a:cubicBezTo>
                    <a:pt x="522" y="456"/>
                    <a:pt x="520" y="450"/>
                    <a:pt x="520" y="445"/>
                  </a:cubicBezTo>
                  <a:cubicBezTo>
                    <a:pt x="519" y="430"/>
                    <a:pt x="518" y="416"/>
                    <a:pt x="518" y="416"/>
                  </a:cubicBezTo>
                  <a:cubicBezTo>
                    <a:pt x="530" y="415"/>
                    <a:pt x="530" y="415"/>
                    <a:pt x="530" y="415"/>
                  </a:cubicBezTo>
                  <a:cubicBezTo>
                    <a:pt x="530" y="415"/>
                    <a:pt x="503" y="397"/>
                    <a:pt x="490" y="369"/>
                  </a:cubicBezTo>
                  <a:cubicBezTo>
                    <a:pt x="477" y="341"/>
                    <a:pt x="478" y="326"/>
                    <a:pt x="469" y="315"/>
                  </a:cubicBezTo>
                  <a:cubicBezTo>
                    <a:pt x="460" y="304"/>
                    <a:pt x="456" y="302"/>
                    <a:pt x="448" y="288"/>
                  </a:cubicBezTo>
                  <a:cubicBezTo>
                    <a:pt x="440" y="274"/>
                    <a:pt x="440" y="252"/>
                    <a:pt x="440" y="252"/>
                  </a:cubicBezTo>
                  <a:cubicBezTo>
                    <a:pt x="415" y="225"/>
                    <a:pt x="415" y="225"/>
                    <a:pt x="415" y="225"/>
                  </a:cubicBezTo>
                  <a:cubicBezTo>
                    <a:pt x="415" y="225"/>
                    <a:pt x="418" y="216"/>
                    <a:pt x="412" y="204"/>
                  </a:cubicBezTo>
                  <a:cubicBezTo>
                    <a:pt x="406" y="192"/>
                    <a:pt x="380" y="170"/>
                    <a:pt x="378" y="161"/>
                  </a:cubicBezTo>
                  <a:cubicBezTo>
                    <a:pt x="376" y="152"/>
                    <a:pt x="368" y="147"/>
                    <a:pt x="368" y="147"/>
                  </a:cubicBezTo>
                  <a:cubicBezTo>
                    <a:pt x="368" y="147"/>
                    <a:pt x="376" y="137"/>
                    <a:pt x="368" y="126"/>
                  </a:cubicBezTo>
                  <a:cubicBezTo>
                    <a:pt x="360" y="115"/>
                    <a:pt x="350" y="112"/>
                    <a:pt x="350" y="112"/>
                  </a:cubicBezTo>
                  <a:cubicBezTo>
                    <a:pt x="361" y="99"/>
                    <a:pt x="361" y="99"/>
                    <a:pt x="361" y="99"/>
                  </a:cubicBezTo>
                  <a:cubicBezTo>
                    <a:pt x="373" y="107"/>
                    <a:pt x="373" y="107"/>
                    <a:pt x="373" y="107"/>
                  </a:cubicBezTo>
                  <a:cubicBezTo>
                    <a:pt x="373" y="107"/>
                    <a:pt x="372" y="124"/>
                    <a:pt x="381" y="130"/>
                  </a:cubicBezTo>
                  <a:cubicBezTo>
                    <a:pt x="390" y="136"/>
                    <a:pt x="395" y="145"/>
                    <a:pt x="395" y="145"/>
                  </a:cubicBezTo>
                  <a:cubicBezTo>
                    <a:pt x="394" y="162"/>
                    <a:pt x="394" y="162"/>
                    <a:pt x="394" y="162"/>
                  </a:cubicBezTo>
                  <a:cubicBezTo>
                    <a:pt x="394" y="162"/>
                    <a:pt x="426" y="214"/>
                    <a:pt x="438" y="207"/>
                  </a:cubicBezTo>
                  <a:cubicBezTo>
                    <a:pt x="450" y="200"/>
                    <a:pt x="456" y="195"/>
                    <a:pt x="456" y="195"/>
                  </a:cubicBezTo>
                  <a:cubicBezTo>
                    <a:pt x="449" y="183"/>
                    <a:pt x="449" y="183"/>
                    <a:pt x="449" y="183"/>
                  </a:cubicBezTo>
                  <a:cubicBezTo>
                    <a:pt x="449" y="183"/>
                    <a:pt x="462" y="157"/>
                    <a:pt x="462" y="143"/>
                  </a:cubicBezTo>
                  <a:cubicBezTo>
                    <a:pt x="462" y="129"/>
                    <a:pt x="471" y="112"/>
                    <a:pt x="471" y="112"/>
                  </a:cubicBezTo>
                  <a:cubicBezTo>
                    <a:pt x="435" y="19"/>
                    <a:pt x="435" y="19"/>
                    <a:pt x="435" y="19"/>
                  </a:cubicBezTo>
                  <a:cubicBezTo>
                    <a:pt x="435" y="19"/>
                    <a:pt x="397" y="34"/>
                    <a:pt x="388" y="30"/>
                  </a:cubicBezTo>
                  <a:cubicBezTo>
                    <a:pt x="379" y="26"/>
                    <a:pt x="373" y="22"/>
                    <a:pt x="373" y="22"/>
                  </a:cubicBezTo>
                  <a:cubicBezTo>
                    <a:pt x="373" y="22"/>
                    <a:pt x="364" y="33"/>
                    <a:pt x="350" y="26"/>
                  </a:cubicBezTo>
                  <a:cubicBezTo>
                    <a:pt x="336" y="19"/>
                    <a:pt x="341" y="10"/>
                    <a:pt x="325" y="7"/>
                  </a:cubicBezTo>
                  <a:cubicBezTo>
                    <a:pt x="309" y="4"/>
                    <a:pt x="288" y="14"/>
                    <a:pt x="288" y="14"/>
                  </a:cubicBezTo>
                  <a:cubicBezTo>
                    <a:pt x="288" y="14"/>
                    <a:pt x="273" y="7"/>
                    <a:pt x="262" y="11"/>
                  </a:cubicBezTo>
                  <a:cubicBezTo>
                    <a:pt x="251" y="15"/>
                    <a:pt x="243" y="30"/>
                    <a:pt x="243" y="30"/>
                  </a:cubicBezTo>
                  <a:cubicBezTo>
                    <a:pt x="243" y="30"/>
                    <a:pt x="231" y="28"/>
                    <a:pt x="227" y="30"/>
                  </a:cubicBezTo>
                  <a:cubicBezTo>
                    <a:pt x="223" y="32"/>
                    <a:pt x="210" y="43"/>
                    <a:pt x="210" y="43"/>
                  </a:cubicBezTo>
                  <a:cubicBezTo>
                    <a:pt x="210" y="43"/>
                    <a:pt x="176" y="29"/>
                    <a:pt x="170" y="29"/>
                  </a:cubicBezTo>
                  <a:cubicBezTo>
                    <a:pt x="164" y="29"/>
                    <a:pt x="153" y="32"/>
                    <a:pt x="140" y="29"/>
                  </a:cubicBezTo>
                  <a:cubicBezTo>
                    <a:pt x="127" y="26"/>
                    <a:pt x="125" y="14"/>
                    <a:pt x="112" y="13"/>
                  </a:cubicBezTo>
                  <a:cubicBezTo>
                    <a:pt x="99" y="12"/>
                    <a:pt x="89" y="12"/>
                    <a:pt x="89" y="12"/>
                  </a:cubicBezTo>
                  <a:cubicBezTo>
                    <a:pt x="89" y="12"/>
                    <a:pt x="69" y="1"/>
                    <a:pt x="60" y="1"/>
                  </a:cubicBezTo>
                  <a:cubicBezTo>
                    <a:pt x="51" y="1"/>
                    <a:pt x="46" y="15"/>
                    <a:pt x="31" y="6"/>
                  </a:cubicBezTo>
                  <a:cubicBezTo>
                    <a:pt x="28" y="4"/>
                    <a:pt x="26" y="2"/>
                    <a:pt x="24" y="0"/>
                  </a:cubicBezTo>
                  <a:cubicBezTo>
                    <a:pt x="21" y="4"/>
                    <a:pt x="15" y="11"/>
                    <a:pt x="11" y="13"/>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algn="r" defTabSz="877824" rtl="1"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500" name="Freeform 292">
              <a:extLst>
                <a:ext uri="{FF2B5EF4-FFF2-40B4-BE49-F238E27FC236}">
                  <a16:creationId xmlns:a16="http://schemas.microsoft.com/office/drawing/2014/main" id="{095EE942-D03D-4CED-9600-25C787C41B65}"/>
                </a:ext>
              </a:extLst>
            </p:cNvPr>
            <p:cNvSpPr>
              <a:spLocks/>
            </p:cNvSpPr>
            <p:nvPr/>
          </p:nvSpPr>
          <p:spPr bwMode="gray">
            <a:xfrm>
              <a:off x="5030175" y="2237608"/>
              <a:ext cx="246088" cy="393659"/>
            </a:xfrm>
            <a:custGeom>
              <a:avLst/>
              <a:gdLst>
                <a:gd name="T0" fmla="*/ 275 w 363"/>
                <a:gd name="T1" fmla="*/ 0 h 614"/>
                <a:gd name="T2" fmla="*/ 263 w 363"/>
                <a:gd name="T3" fmla="*/ 43 h 614"/>
                <a:gd name="T4" fmla="*/ 282 w 363"/>
                <a:gd name="T5" fmla="*/ 70 h 614"/>
                <a:gd name="T6" fmla="*/ 256 w 363"/>
                <a:gd name="T7" fmla="*/ 100 h 614"/>
                <a:gd name="T8" fmla="*/ 236 w 363"/>
                <a:gd name="T9" fmla="*/ 136 h 614"/>
                <a:gd name="T10" fmla="*/ 227 w 363"/>
                <a:gd name="T11" fmla="*/ 159 h 614"/>
                <a:gd name="T12" fmla="*/ 207 w 363"/>
                <a:gd name="T13" fmla="*/ 198 h 614"/>
                <a:gd name="T14" fmla="*/ 181 w 363"/>
                <a:gd name="T15" fmla="*/ 250 h 614"/>
                <a:gd name="T16" fmla="*/ 157 w 363"/>
                <a:gd name="T17" fmla="*/ 302 h 614"/>
                <a:gd name="T18" fmla="*/ 140 w 363"/>
                <a:gd name="T19" fmla="*/ 337 h 614"/>
                <a:gd name="T20" fmla="*/ 119 w 363"/>
                <a:gd name="T21" fmla="*/ 342 h 614"/>
                <a:gd name="T22" fmla="*/ 95 w 363"/>
                <a:gd name="T23" fmla="*/ 334 h 614"/>
                <a:gd name="T24" fmla="*/ 56 w 363"/>
                <a:gd name="T25" fmla="*/ 353 h 614"/>
                <a:gd name="T26" fmla="*/ 13 w 363"/>
                <a:gd name="T27" fmla="*/ 428 h 614"/>
                <a:gd name="T28" fmla="*/ 4 w 363"/>
                <a:gd name="T29" fmla="*/ 449 h 614"/>
                <a:gd name="T30" fmla="*/ 18 w 363"/>
                <a:gd name="T31" fmla="*/ 455 h 614"/>
                <a:gd name="T32" fmla="*/ 44 w 363"/>
                <a:gd name="T33" fmla="*/ 497 h 614"/>
                <a:gd name="T34" fmla="*/ 45 w 363"/>
                <a:gd name="T35" fmla="*/ 504 h 614"/>
                <a:gd name="T36" fmla="*/ 70 w 363"/>
                <a:gd name="T37" fmla="*/ 527 h 614"/>
                <a:gd name="T38" fmla="*/ 61 w 363"/>
                <a:gd name="T39" fmla="*/ 559 h 614"/>
                <a:gd name="T40" fmla="*/ 68 w 363"/>
                <a:gd name="T41" fmla="*/ 586 h 614"/>
                <a:gd name="T42" fmla="*/ 144 w 363"/>
                <a:gd name="T43" fmla="*/ 576 h 614"/>
                <a:gd name="T44" fmla="*/ 175 w 363"/>
                <a:gd name="T45" fmla="*/ 585 h 614"/>
                <a:gd name="T46" fmla="*/ 195 w 363"/>
                <a:gd name="T47" fmla="*/ 581 h 614"/>
                <a:gd name="T48" fmla="*/ 227 w 363"/>
                <a:gd name="T49" fmla="*/ 590 h 614"/>
                <a:gd name="T50" fmla="*/ 320 w 363"/>
                <a:gd name="T51" fmla="*/ 600 h 614"/>
                <a:gd name="T52" fmla="*/ 358 w 363"/>
                <a:gd name="T53" fmla="*/ 614 h 614"/>
                <a:gd name="T54" fmla="*/ 363 w 363"/>
                <a:gd name="T55" fmla="*/ 581 h 614"/>
                <a:gd name="T56" fmla="*/ 358 w 363"/>
                <a:gd name="T57" fmla="*/ 556 h 614"/>
                <a:gd name="T58" fmla="*/ 332 w 363"/>
                <a:gd name="T59" fmla="*/ 526 h 614"/>
                <a:gd name="T60" fmla="*/ 313 w 363"/>
                <a:gd name="T61" fmla="*/ 472 h 614"/>
                <a:gd name="T62" fmla="*/ 294 w 363"/>
                <a:gd name="T63" fmla="*/ 427 h 614"/>
                <a:gd name="T64" fmla="*/ 289 w 363"/>
                <a:gd name="T65" fmla="*/ 412 h 614"/>
                <a:gd name="T66" fmla="*/ 276 w 363"/>
                <a:gd name="T67" fmla="*/ 378 h 614"/>
                <a:gd name="T68" fmla="*/ 304 w 363"/>
                <a:gd name="T69" fmla="*/ 338 h 614"/>
                <a:gd name="T70" fmla="*/ 312 w 363"/>
                <a:gd name="T71" fmla="*/ 318 h 614"/>
                <a:gd name="T72" fmla="*/ 317 w 363"/>
                <a:gd name="T73" fmla="*/ 243 h 614"/>
                <a:gd name="T74" fmla="*/ 261 w 363"/>
                <a:gd name="T75" fmla="*/ 174 h 614"/>
                <a:gd name="T76" fmla="*/ 336 w 363"/>
                <a:gd name="T77" fmla="*/ 165 h 614"/>
                <a:gd name="T78" fmla="*/ 304 w 363"/>
                <a:gd name="T79" fmla="*/ 91 h 614"/>
                <a:gd name="T80" fmla="*/ 296 w 363"/>
                <a:gd name="T81" fmla="*/ 52 h 614"/>
                <a:gd name="T82" fmla="*/ 280 w 363"/>
                <a:gd name="T83" fmla="*/ 17 h 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63" h="614">
                  <a:moveTo>
                    <a:pt x="280" y="17"/>
                  </a:moveTo>
                  <a:cubicBezTo>
                    <a:pt x="276" y="12"/>
                    <a:pt x="275" y="0"/>
                    <a:pt x="275" y="0"/>
                  </a:cubicBezTo>
                  <a:cubicBezTo>
                    <a:pt x="259" y="2"/>
                    <a:pt x="259" y="2"/>
                    <a:pt x="259" y="2"/>
                  </a:cubicBezTo>
                  <a:cubicBezTo>
                    <a:pt x="260" y="11"/>
                    <a:pt x="261" y="40"/>
                    <a:pt x="263" y="43"/>
                  </a:cubicBezTo>
                  <a:cubicBezTo>
                    <a:pt x="265" y="46"/>
                    <a:pt x="284" y="35"/>
                    <a:pt x="285" y="46"/>
                  </a:cubicBezTo>
                  <a:cubicBezTo>
                    <a:pt x="286" y="57"/>
                    <a:pt x="282" y="70"/>
                    <a:pt x="282" y="70"/>
                  </a:cubicBezTo>
                  <a:cubicBezTo>
                    <a:pt x="282" y="70"/>
                    <a:pt x="290" y="79"/>
                    <a:pt x="280" y="88"/>
                  </a:cubicBezTo>
                  <a:cubicBezTo>
                    <a:pt x="270" y="97"/>
                    <a:pt x="256" y="100"/>
                    <a:pt x="256" y="100"/>
                  </a:cubicBezTo>
                  <a:cubicBezTo>
                    <a:pt x="256" y="100"/>
                    <a:pt x="248" y="117"/>
                    <a:pt x="247" y="120"/>
                  </a:cubicBezTo>
                  <a:cubicBezTo>
                    <a:pt x="246" y="123"/>
                    <a:pt x="236" y="136"/>
                    <a:pt x="236" y="136"/>
                  </a:cubicBezTo>
                  <a:cubicBezTo>
                    <a:pt x="234" y="155"/>
                    <a:pt x="234" y="155"/>
                    <a:pt x="234" y="155"/>
                  </a:cubicBezTo>
                  <a:cubicBezTo>
                    <a:pt x="227" y="159"/>
                    <a:pt x="227" y="159"/>
                    <a:pt x="227" y="159"/>
                  </a:cubicBezTo>
                  <a:cubicBezTo>
                    <a:pt x="227" y="159"/>
                    <a:pt x="229" y="180"/>
                    <a:pt x="224" y="189"/>
                  </a:cubicBezTo>
                  <a:cubicBezTo>
                    <a:pt x="219" y="198"/>
                    <a:pt x="209" y="191"/>
                    <a:pt x="207" y="198"/>
                  </a:cubicBezTo>
                  <a:cubicBezTo>
                    <a:pt x="205" y="205"/>
                    <a:pt x="210" y="223"/>
                    <a:pt x="205" y="233"/>
                  </a:cubicBezTo>
                  <a:cubicBezTo>
                    <a:pt x="200" y="243"/>
                    <a:pt x="181" y="250"/>
                    <a:pt x="181" y="250"/>
                  </a:cubicBezTo>
                  <a:cubicBezTo>
                    <a:pt x="173" y="282"/>
                    <a:pt x="173" y="282"/>
                    <a:pt x="173" y="282"/>
                  </a:cubicBezTo>
                  <a:cubicBezTo>
                    <a:pt x="157" y="302"/>
                    <a:pt x="157" y="302"/>
                    <a:pt x="157" y="302"/>
                  </a:cubicBezTo>
                  <a:cubicBezTo>
                    <a:pt x="157" y="302"/>
                    <a:pt x="161" y="316"/>
                    <a:pt x="156" y="322"/>
                  </a:cubicBezTo>
                  <a:cubicBezTo>
                    <a:pt x="151" y="328"/>
                    <a:pt x="140" y="337"/>
                    <a:pt x="140" y="337"/>
                  </a:cubicBezTo>
                  <a:cubicBezTo>
                    <a:pt x="140" y="337"/>
                    <a:pt x="140" y="358"/>
                    <a:pt x="128" y="358"/>
                  </a:cubicBezTo>
                  <a:cubicBezTo>
                    <a:pt x="116" y="358"/>
                    <a:pt x="119" y="342"/>
                    <a:pt x="119" y="342"/>
                  </a:cubicBezTo>
                  <a:cubicBezTo>
                    <a:pt x="119" y="342"/>
                    <a:pt x="105" y="318"/>
                    <a:pt x="98" y="318"/>
                  </a:cubicBezTo>
                  <a:cubicBezTo>
                    <a:pt x="91" y="318"/>
                    <a:pt x="104" y="332"/>
                    <a:pt x="95" y="334"/>
                  </a:cubicBezTo>
                  <a:cubicBezTo>
                    <a:pt x="86" y="336"/>
                    <a:pt x="78" y="323"/>
                    <a:pt x="72" y="328"/>
                  </a:cubicBezTo>
                  <a:cubicBezTo>
                    <a:pt x="66" y="333"/>
                    <a:pt x="56" y="353"/>
                    <a:pt x="56" y="353"/>
                  </a:cubicBezTo>
                  <a:cubicBezTo>
                    <a:pt x="13" y="390"/>
                    <a:pt x="13" y="390"/>
                    <a:pt x="13" y="390"/>
                  </a:cubicBezTo>
                  <a:cubicBezTo>
                    <a:pt x="13" y="390"/>
                    <a:pt x="15" y="422"/>
                    <a:pt x="13" y="428"/>
                  </a:cubicBezTo>
                  <a:cubicBezTo>
                    <a:pt x="11" y="434"/>
                    <a:pt x="4" y="449"/>
                    <a:pt x="4" y="449"/>
                  </a:cubicBezTo>
                  <a:cubicBezTo>
                    <a:pt x="4" y="449"/>
                    <a:pt x="4" y="449"/>
                    <a:pt x="4" y="449"/>
                  </a:cubicBezTo>
                  <a:cubicBezTo>
                    <a:pt x="0" y="458"/>
                    <a:pt x="0" y="458"/>
                    <a:pt x="0" y="458"/>
                  </a:cubicBezTo>
                  <a:cubicBezTo>
                    <a:pt x="18" y="455"/>
                    <a:pt x="18" y="455"/>
                    <a:pt x="18" y="455"/>
                  </a:cubicBezTo>
                  <a:cubicBezTo>
                    <a:pt x="18" y="455"/>
                    <a:pt x="17" y="477"/>
                    <a:pt x="27" y="486"/>
                  </a:cubicBezTo>
                  <a:cubicBezTo>
                    <a:pt x="37" y="495"/>
                    <a:pt x="44" y="497"/>
                    <a:pt x="44" y="497"/>
                  </a:cubicBezTo>
                  <a:cubicBezTo>
                    <a:pt x="58" y="484"/>
                    <a:pt x="58" y="484"/>
                    <a:pt x="58" y="484"/>
                  </a:cubicBezTo>
                  <a:cubicBezTo>
                    <a:pt x="45" y="504"/>
                    <a:pt x="45" y="504"/>
                    <a:pt x="45" y="504"/>
                  </a:cubicBezTo>
                  <a:cubicBezTo>
                    <a:pt x="57" y="522"/>
                    <a:pt x="57" y="522"/>
                    <a:pt x="57" y="522"/>
                  </a:cubicBezTo>
                  <a:cubicBezTo>
                    <a:pt x="70" y="527"/>
                    <a:pt x="70" y="527"/>
                    <a:pt x="70" y="527"/>
                  </a:cubicBezTo>
                  <a:cubicBezTo>
                    <a:pt x="68" y="557"/>
                    <a:pt x="68" y="557"/>
                    <a:pt x="68" y="557"/>
                  </a:cubicBezTo>
                  <a:cubicBezTo>
                    <a:pt x="61" y="559"/>
                    <a:pt x="61" y="559"/>
                    <a:pt x="61" y="559"/>
                  </a:cubicBezTo>
                  <a:cubicBezTo>
                    <a:pt x="62" y="580"/>
                    <a:pt x="62" y="580"/>
                    <a:pt x="62" y="580"/>
                  </a:cubicBezTo>
                  <a:cubicBezTo>
                    <a:pt x="68" y="586"/>
                    <a:pt x="68" y="586"/>
                    <a:pt x="68" y="586"/>
                  </a:cubicBezTo>
                  <a:cubicBezTo>
                    <a:pt x="132" y="586"/>
                    <a:pt x="132" y="586"/>
                    <a:pt x="132" y="586"/>
                  </a:cubicBezTo>
                  <a:cubicBezTo>
                    <a:pt x="144" y="576"/>
                    <a:pt x="144" y="576"/>
                    <a:pt x="144" y="576"/>
                  </a:cubicBezTo>
                  <a:cubicBezTo>
                    <a:pt x="154" y="585"/>
                    <a:pt x="154" y="585"/>
                    <a:pt x="154" y="585"/>
                  </a:cubicBezTo>
                  <a:cubicBezTo>
                    <a:pt x="175" y="585"/>
                    <a:pt x="175" y="585"/>
                    <a:pt x="175" y="585"/>
                  </a:cubicBezTo>
                  <a:cubicBezTo>
                    <a:pt x="175" y="585"/>
                    <a:pt x="180" y="577"/>
                    <a:pt x="184" y="577"/>
                  </a:cubicBezTo>
                  <a:cubicBezTo>
                    <a:pt x="188" y="577"/>
                    <a:pt x="195" y="581"/>
                    <a:pt x="195" y="581"/>
                  </a:cubicBezTo>
                  <a:cubicBezTo>
                    <a:pt x="227" y="580"/>
                    <a:pt x="227" y="580"/>
                    <a:pt x="227" y="580"/>
                  </a:cubicBezTo>
                  <a:cubicBezTo>
                    <a:pt x="227" y="590"/>
                    <a:pt x="227" y="590"/>
                    <a:pt x="227" y="590"/>
                  </a:cubicBezTo>
                  <a:cubicBezTo>
                    <a:pt x="227" y="590"/>
                    <a:pt x="282" y="587"/>
                    <a:pt x="287" y="587"/>
                  </a:cubicBezTo>
                  <a:cubicBezTo>
                    <a:pt x="292" y="587"/>
                    <a:pt x="320" y="600"/>
                    <a:pt x="320" y="600"/>
                  </a:cubicBezTo>
                  <a:cubicBezTo>
                    <a:pt x="340" y="599"/>
                    <a:pt x="340" y="599"/>
                    <a:pt x="340" y="599"/>
                  </a:cubicBezTo>
                  <a:cubicBezTo>
                    <a:pt x="358" y="614"/>
                    <a:pt x="358" y="614"/>
                    <a:pt x="358" y="614"/>
                  </a:cubicBezTo>
                  <a:cubicBezTo>
                    <a:pt x="359" y="587"/>
                    <a:pt x="359" y="587"/>
                    <a:pt x="359" y="587"/>
                  </a:cubicBezTo>
                  <a:cubicBezTo>
                    <a:pt x="363" y="581"/>
                    <a:pt x="363" y="581"/>
                    <a:pt x="363" y="581"/>
                  </a:cubicBezTo>
                  <a:cubicBezTo>
                    <a:pt x="358" y="575"/>
                    <a:pt x="358" y="575"/>
                    <a:pt x="358" y="575"/>
                  </a:cubicBezTo>
                  <a:cubicBezTo>
                    <a:pt x="358" y="556"/>
                    <a:pt x="358" y="556"/>
                    <a:pt x="358" y="556"/>
                  </a:cubicBezTo>
                  <a:cubicBezTo>
                    <a:pt x="354" y="542"/>
                    <a:pt x="354" y="542"/>
                    <a:pt x="354" y="542"/>
                  </a:cubicBezTo>
                  <a:cubicBezTo>
                    <a:pt x="354" y="542"/>
                    <a:pt x="342" y="534"/>
                    <a:pt x="332" y="526"/>
                  </a:cubicBezTo>
                  <a:cubicBezTo>
                    <a:pt x="322" y="518"/>
                    <a:pt x="311" y="495"/>
                    <a:pt x="311" y="495"/>
                  </a:cubicBezTo>
                  <a:cubicBezTo>
                    <a:pt x="311" y="495"/>
                    <a:pt x="315" y="475"/>
                    <a:pt x="313" y="472"/>
                  </a:cubicBezTo>
                  <a:cubicBezTo>
                    <a:pt x="311" y="469"/>
                    <a:pt x="294" y="458"/>
                    <a:pt x="294" y="458"/>
                  </a:cubicBezTo>
                  <a:cubicBezTo>
                    <a:pt x="294" y="427"/>
                    <a:pt x="294" y="427"/>
                    <a:pt x="294" y="427"/>
                  </a:cubicBezTo>
                  <a:cubicBezTo>
                    <a:pt x="282" y="420"/>
                    <a:pt x="282" y="420"/>
                    <a:pt x="282" y="420"/>
                  </a:cubicBezTo>
                  <a:cubicBezTo>
                    <a:pt x="289" y="412"/>
                    <a:pt x="289" y="412"/>
                    <a:pt x="289" y="412"/>
                  </a:cubicBezTo>
                  <a:cubicBezTo>
                    <a:pt x="290" y="387"/>
                    <a:pt x="290" y="387"/>
                    <a:pt x="290" y="387"/>
                  </a:cubicBezTo>
                  <a:cubicBezTo>
                    <a:pt x="290" y="387"/>
                    <a:pt x="275" y="386"/>
                    <a:pt x="276" y="378"/>
                  </a:cubicBezTo>
                  <a:cubicBezTo>
                    <a:pt x="277" y="370"/>
                    <a:pt x="299" y="363"/>
                    <a:pt x="299" y="363"/>
                  </a:cubicBezTo>
                  <a:cubicBezTo>
                    <a:pt x="304" y="338"/>
                    <a:pt x="304" y="338"/>
                    <a:pt x="304" y="338"/>
                  </a:cubicBezTo>
                  <a:cubicBezTo>
                    <a:pt x="310" y="338"/>
                    <a:pt x="310" y="338"/>
                    <a:pt x="310" y="338"/>
                  </a:cubicBezTo>
                  <a:cubicBezTo>
                    <a:pt x="310" y="338"/>
                    <a:pt x="311" y="326"/>
                    <a:pt x="312" y="318"/>
                  </a:cubicBezTo>
                  <a:cubicBezTo>
                    <a:pt x="313" y="310"/>
                    <a:pt x="331" y="300"/>
                    <a:pt x="331" y="300"/>
                  </a:cubicBezTo>
                  <a:cubicBezTo>
                    <a:pt x="331" y="300"/>
                    <a:pt x="326" y="253"/>
                    <a:pt x="317" y="243"/>
                  </a:cubicBezTo>
                  <a:cubicBezTo>
                    <a:pt x="308" y="233"/>
                    <a:pt x="287" y="224"/>
                    <a:pt x="279" y="216"/>
                  </a:cubicBezTo>
                  <a:cubicBezTo>
                    <a:pt x="271" y="208"/>
                    <a:pt x="256" y="187"/>
                    <a:pt x="261" y="174"/>
                  </a:cubicBezTo>
                  <a:cubicBezTo>
                    <a:pt x="266" y="161"/>
                    <a:pt x="306" y="168"/>
                    <a:pt x="314" y="167"/>
                  </a:cubicBezTo>
                  <a:cubicBezTo>
                    <a:pt x="322" y="166"/>
                    <a:pt x="336" y="165"/>
                    <a:pt x="336" y="165"/>
                  </a:cubicBezTo>
                  <a:cubicBezTo>
                    <a:pt x="336" y="165"/>
                    <a:pt x="315" y="147"/>
                    <a:pt x="310" y="133"/>
                  </a:cubicBezTo>
                  <a:cubicBezTo>
                    <a:pt x="305" y="119"/>
                    <a:pt x="304" y="91"/>
                    <a:pt x="304" y="91"/>
                  </a:cubicBezTo>
                  <a:cubicBezTo>
                    <a:pt x="304" y="91"/>
                    <a:pt x="310" y="81"/>
                    <a:pt x="310" y="70"/>
                  </a:cubicBezTo>
                  <a:cubicBezTo>
                    <a:pt x="310" y="59"/>
                    <a:pt x="296" y="52"/>
                    <a:pt x="296" y="52"/>
                  </a:cubicBezTo>
                  <a:cubicBezTo>
                    <a:pt x="300" y="25"/>
                    <a:pt x="300" y="25"/>
                    <a:pt x="300" y="25"/>
                  </a:cubicBezTo>
                  <a:cubicBezTo>
                    <a:pt x="300" y="25"/>
                    <a:pt x="284" y="22"/>
                    <a:pt x="280" y="17"/>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501" name="Freeform 293">
              <a:extLst>
                <a:ext uri="{FF2B5EF4-FFF2-40B4-BE49-F238E27FC236}">
                  <a16:creationId xmlns:a16="http://schemas.microsoft.com/office/drawing/2014/main" id="{521595C4-30B0-4C86-9FDF-7DE7EAF400D0}"/>
                </a:ext>
              </a:extLst>
            </p:cNvPr>
            <p:cNvSpPr>
              <a:spLocks/>
            </p:cNvSpPr>
            <p:nvPr/>
          </p:nvSpPr>
          <p:spPr bwMode="gray">
            <a:xfrm>
              <a:off x="4355087" y="1454635"/>
              <a:ext cx="383345" cy="280719"/>
            </a:xfrm>
            <a:custGeom>
              <a:avLst/>
              <a:gdLst>
                <a:gd name="T0" fmla="*/ 547 w 565"/>
                <a:gd name="T1" fmla="*/ 165 h 438"/>
                <a:gd name="T2" fmla="*/ 550 w 565"/>
                <a:gd name="T3" fmla="*/ 145 h 438"/>
                <a:gd name="T4" fmla="*/ 536 w 565"/>
                <a:gd name="T5" fmla="*/ 145 h 438"/>
                <a:gd name="T6" fmla="*/ 543 w 565"/>
                <a:gd name="T7" fmla="*/ 124 h 438"/>
                <a:gd name="T8" fmla="*/ 537 w 565"/>
                <a:gd name="T9" fmla="*/ 113 h 438"/>
                <a:gd name="T10" fmla="*/ 540 w 565"/>
                <a:gd name="T11" fmla="*/ 68 h 438"/>
                <a:gd name="T12" fmla="*/ 532 w 565"/>
                <a:gd name="T13" fmla="*/ 68 h 438"/>
                <a:gd name="T14" fmla="*/ 536 w 565"/>
                <a:gd name="T15" fmla="*/ 56 h 438"/>
                <a:gd name="T16" fmla="*/ 521 w 565"/>
                <a:gd name="T17" fmla="*/ 39 h 438"/>
                <a:gd name="T18" fmla="*/ 487 w 565"/>
                <a:gd name="T19" fmla="*/ 26 h 438"/>
                <a:gd name="T20" fmla="*/ 470 w 565"/>
                <a:gd name="T21" fmla="*/ 34 h 438"/>
                <a:gd name="T22" fmla="*/ 439 w 565"/>
                <a:gd name="T23" fmla="*/ 29 h 438"/>
                <a:gd name="T24" fmla="*/ 408 w 565"/>
                <a:gd name="T25" fmla="*/ 33 h 438"/>
                <a:gd name="T26" fmla="*/ 374 w 565"/>
                <a:gd name="T27" fmla="*/ 2 h 438"/>
                <a:gd name="T28" fmla="*/ 354 w 565"/>
                <a:gd name="T29" fmla="*/ 0 h 438"/>
                <a:gd name="T30" fmla="*/ 337 w 565"/>
                <a:gd name="T31" fmla="*/ 48 h 438"/>
                <a:gd name="T32" fmla="*/ 300 w 565"/>
                <a:gd name="T33" fmla="*/ 107 h 438"/>
                <a:gd name="T34" fmla="*/ 267 w 565"/>
                <a:gd name="T35" fmla="*/ 116 h 438"/>
                <a:gd name="T36" fmla="*/ 251 w 565"/>
                <a:gd name="T37" fmla="*/ 131 h 438"/>
                <a:gd name="T38" fmla="*/ 239 w 565"/>
                <a:gd name="T39" fmla="*/ 128 h 438"/>
                <a:gd name="T40" fmla="*/ 222 w 565"/>
                <a:gd name="T41" fmla="*/ 137 h 438"/>
                <a:gd name="T42" fmla="*/ 211 w 565"/>
                <a:gd name="T43" fmla="*/ 158 h 438"/>
                <a:gd name="T44" fmla="*/ 191 w 565"/>
                <a:gd name="T45" fmla="*/ 174 h 438"/>
                <a:gd name="T46" fmla="*/ 188 w 565"/>
                <a:gd name="T47" fmla="*/ 199 h 438"/>
                <a:gd name="T48" fmla="*/ 165 w 565"/>
                <a:gd name="T49" fmla="*/ 244 h 438"/>
                <a:gd name="T50" fmla="*/ 166 w 565"/>
                <a:gd name="T51" fmla="*/ 269 h 438"/>
                <a:gd name="T52" fmla="*/ 158 w 565"/>
                <a:gd name="T53" fmla="*/ 276 h 438"/>
                <a:gd name="T54" fmla="*/ 170 w 565"/>
                <a:gd name="T55" fmla="*/ 292 h 438"/>
                <a:gd name="T56" fmla="*/ 169 w 565"/>
                <a:gd name="T57" fmla="*/ 316 h 438"/>
                <a:gd name="T58" fmla="*/ 154 w 565"/>
                <a:gd name="T59" fmla="*/ 321 h 438"/>
                <a:gd name="T60" fmla="*/ 130 w 565"/>
                <a:gd name="T61" fmla="*/ 359 h 438"/>
                <a:gd name="T62" fmla="*/ 101 w 565"/>
                <a:gd name="T63" fmla="*/ 376 h 438"/>
                <a:gd name="T64" fmla="*/ 80 w 565"/>
                <a:gd name="T65" fmla="*/ 404 h 438"/>
                <a:gd name="T66" fmla="*/ 32 w 565"/>
                <a:gd name="T67" fmla="*/ 421 h 438"/>
                <a:gd name="T68" fmla="*/ 9 w 565"/>
                <a:gd name="T69" fmla="*/ 423 h 438"/>
                <a:gd name="T70" fmla="*/ 0 w 565"/>
                <a:gd name="T71" fmla="*/ 438 h 438"/>
                <a:gd name="T72" fmla="*/ 207 w 565"/>
                <a:gd name="T73" fmla="*/ 438 h 438"/>
                <a:gd name="T74" fmla="*/ 209 w 565"/>
                <a:gd name="T75" fmla="*/ 399 h 438"/>
                <a:gd name="T76" fmla="*/ 212 w 565"/>
                <a:gd name="T77" fmla="*/ 381 h 438"/>
                <a:gd name="T78" fmla="*/ 232 w 565"/>
                <a:gd name="T79" fmla="*/ 369 h 438"/>
                <a:gd name="T80" fmla="*/ 253 w 565"/>
                <a:gd name="T81" fmla="*/ 344 h 438"/>
                <a:gd name="T82" fmla="*/ 265 w 565"/>
                <a:gd name="T83" fmla="*/ 345 h 438"/>
                <a:gd name="T84" fmla="*/ 283 w 565"/>
                <a:gd name="T85" fmla="*/ 331 h 438"/>
                <a:gd name="T86" fmla="*/ 302 w 565"/>
                <a:gd name="T87" fmla="*/ 339 h 438"/>
                <a:gd name="T88" fmla="*/ 308 w 565"/>
                <a:gd name="T89" fmla="*/ 326 h 438"/>
                <a:gd name="T90" fmla="*/ 326 w 565"/>
                <a:gd name="T91" fmla="*/ 325 h 438"/>
                <a:gd name="T92" fmla="*/ 327 w 565"/>
                <a:gd name="T93" fmla="*/ 317 h 438"/>
                <a:gd name="T94" fmla="*/ 361 w 565"/>
                <a:gd name="T95" fmla="*/ 318 h 438"/>
                <a:gd name="T96" fmla="*/ 384 w 565"/>
                <a:gd name="T97" fmla="*/ 284 h 438"/>
                <a:gd name="T98" fmla="*/ 414 w 565"/>
                <a:gd name="T99" fmla="*/ 283 h 438"/>
                <a:gd name="T100" fmla="*/ 432 w 565"/>
                <a:gd name="T101" fmla="*/ 264 h 438"/>
                <a:gd name="T102" fmla="*/ 449 w 565"/>
                <a:gd name="T103" fmla="*/ 257 h 438"/>
                <a:gd name="T104" fmla="*/ 439 w 565"/>
                <a:gd name="T105" fmla="*/ 245 h 438"/>
                <a:gd name="T106" fmla="*/ 438 w 565"/>
                <a:gd name="T107" fmla="*/ 221 h 438"/>
                <a:gd name="T108" fmla="*/ 475 w 565"/>
                <a:gd name="T109" fmla="*/ 215 h 438"/>
                <a:gd name="T110" fmla="*/ 480 w 565"/>
                <a:gd name="T111" fmla="*/ 200 h 438"/>
                <a:gd name="T112" fmla="*/ 493 w 565"/>
                <a:gd name="T113" fmla="*/ 202 h 438"/>
                <a:gd name="T114" fmla="*/ 501 w 565"/>
                <a:gd name="T115" fmla="*/ 195 h 438"/>
                <a:gd name="T116" fmla="*/ 515 w 565"/>
                <a:gd name="T117" fmla="*/ 201 h 438"/>
                <a:gd name="T118" fmla="*/ 553 w 565"/>
                <a:gd name="T119" fmla="*/ 196 h 438"/>
                <a:gd name="T120" fmla="*/ 554 w 565"/>
                <a:gd name="T121" fmla="*/ 186 h 438"/>
                <a:gd name="T122" fmla="*/ 565 w 565"/>
                <a:gd name="T123" fmla="*/ 177 h 438"/>
                <a:gd name="T124" fmla="*/ 547 w 565"/>
                <a:gd name="T125" fmla="*/ 165 h 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565" h="438">
                  <a:moveTo>
                    <a:pt x="547" y="165"/>
                  </a:moveTo>
                  <a:cubicBezTo>
                    <a:pt x="550" y="145"/>
                    <a:pt x="550" y="145"/>
                    <a:pt x="550" y="145"/>
                  </a:cubicBezTo>
                  <a:cubicBezTo>
                    <a:pt x="536" y="145"/>
                    <a:pt x="536" y="145"/>
                    <a:pt x="536" y="145"/>
                  </a:cubicBezTo>
                  <a:cubicBezTo>
                    <a:pt x="543" y="124"/>
                    <a:pt x="543" y="124"/>
                    <a:pt x="543" y="124"/>
                  </a:cubicBezTo>
                  <a:cubicBezTo>
                    <a:pt x="537" y="113"/>
                    <a:pt x="537" y="113"/>
                    <a:pt x="537" y="113"/>
                  </a:cubicBezTo>
                  <a:cubicBezTo>
                    <a:pt x="540" y="68"/>
                    <a:pt x="540" y="68"/>
                    <a:pt x="540" y="68"/>
                  </a:cubicBezTo>
                  <a:cubicBezTo>
                    <a:pt x="532" y="68"/>
                    <a:pt x="532" y="68"/>
                    <a:pt x="532" y="68"/>
                  </a:cubicBezTo>
                  <a:cubicBezTo>
                    <a:pt x="532" y="68"/>
                    <a:pt x="536" y="57"/>
                    <a:pt x="536" y="56"/>
                  </a:cubicBezTo>
                  <a:cubicBezTo>
                    <a:pt x="526" y="52"/>
                    <a:pt x="522" y="43"/>
                    <a:pt x="521" y="39"/>
                  </a:cubicBezTo>
                  <a:cubicBezTo>
                    <a:pt x="508" y="36"/>
                    <a:pt x="496" y="26"/>
                    <a:pt x="487" y="26"/>
                  </a:cubicBezTo>
                  <a:cubicBezTo>
                    <a:pt x="477" y="26"/>
                    <a:pt x="470" y="34"/>
                    <a:pt x="470" y="34"/>
                  </a:cubicBezTo>
                  <a:cubicBezTo>
                    <a:pt x="470" y="34"/>
                    <a:pt x="447" y="29"/>
                    <a:pt x="439" y="29"/>
                  </a:cubicBezTo>
                  <a:cubicBezTo>
                    <a:pt x="431" y="29"/>
                    <a:pt x="423" y="38"/>
                    <a:pt x="408" y="33"/>
                  </a:cubicBezTo>
                  <a:cubicBezTo>
                    <a:pt x="393" y="28"/>
                    <a:pt x="378" y="4"/>
                    <a:pt x="374" y="2"/>
                  </a:cubicBezTo>
                  <a:cubicBezTo>
                    <a:pt x="370" y="0"/>
                    <a:pt x="354" y="0"/>
                    <a:pt x="354" y="0"/>
                  </a:cubicBezTo>
                  <a:cubicBezTo>
                    <a:pt x="354" y="0"/>
                    <a:pt x="343" y="35"/>
                    <a:pt x="337" y="48"/>
                  </a:cubicBezTo>
                  <a:cubicBezTo>
                    <a:pt x="331" y="61"/>
                    <a:pt x="312" y="98"/>
                    <a:pt x="300" y="107"/>
                  </a:cubicBezTo>
                  <a:cubicBezTo>
                    <a:pt x="288" y="116"/>
                    <a:pt x="272" y="112"/>
                    <a:pt x="267" y="116"/>
                  </a:cubicBezTo>
                  <a:cubicBezTo>
                    <a:pt x="262" y="120"/>
                    <a:pt x="251" y="131"/>
                    <a:pt x="251" y="131"/>
                  </a:cubicBezTo>
                  <a:cubicBezTo>
                    <a:pt x="239" y="128"/>
                    <a:pt x="239" y="128"/>
                    <a:pt x="239" y="128"/>
                  </a:cubicBezTo>
                  <a:cubicBezTo>
                    <a:pt x="222" y="137"/>
                    <a:pt x="222" y="137"/>
                    <a:pt x="222" y="137"/>
                  </a:cubicBezTo>
                  <a:cubicBezTo>
                    <a:pt x="222" y="137"/>
                    <a:pt x="217" y="150"/>
                    <a:pt x="211" y="158"/>
                  </a:cubicBezTo>
                  <a:cubicBezTo>
                    <a:pt x="211" y="158"/>
                    <a:pt x="191" y="170"/>
                    <a:pt x="191" y="174"/>
                  </a:cubicBezTo>
                  <a:cubicBezTo>
                    <a:pt x="191" y="178"/>
                    <a:pt x="195" y="192"/>
                    <a:pt x="188" y="199"/>
                  </a:cubicBezTo>
                  <a:cubicBezTo>
                    <a:pt x="181" y="206"/>
                    <a:pt x="164" y="230"/>
                    <a:pt x="165" y="244"/>
                  </a:cubicBezTo>
                  <a:cubicBezTo>
                    <a:pt x="166" y="258"/>
                    <a:pt x="166" y="269"/>
                    <a:pt x="166" y="269"/>
                  </a:cubicBezTo>
                  <a:cubicBezTo>
                    <a:pt x="166" y="269"/>
                    <a:pt x="158" y="273"/>
                    <a:pt x="158" y="276"/>
                  </a:cubicBezTo>
                  <a:cubicBezTo>
                    <a:pt x="158" y="279"/>
                    <a:pt x="173" y="277"/>
                    <a:pt x="170" y="292"/>
                  </a:cubicBezTo>
                  <a:cubicBezTo>
                    <a:pt x="167" y="307"/>
                    <a:pt x="169" y="316"/>
                    <a:pt x="169" y="316"/>
                  </a:cubicBezTo>
                  <a:cubicBezTo>
                    <a:pt x="169" y="316"/>
                    <a:pt x="163" y="310"/>
                    <a:pt x="154" y="321"/>
                  </a:cubicBezTo>
                  <a:cubicBezTo>
                    <a:pt x="145" y="332"/>
                    <a:pt x="138" y="348"/>
                    <a:pt x="130" y="359"/>
                  </a:cubicBezTo>
                  <a:cubicBezTo>
                    <a:pt x="122" y="370"/>
                    <a:pt x="108" y="366"/>
                    <a:pt x="101" y="376"/>
                  </a:cubicBezTo>
                  <a:cubicBezTo>
                    <a:pt x="94" y="386"/>
                    <a:pt x="86" y="398"/>
                    <a:pt x="80" y="404"/>
                  </a:cubicBezTo>
                  <a:cubicBezTo>
                    <a:pt x="74" y="410"/>
                    <a:pt x="36" y="420"/>
                    <a:pt x="32" y="421"/>
                  </a:cubicBezTo>
                  <a:cubicBezTo>
                    <a:pt x="28" y="422"/>
                    <a:pt x="9" y="423"/>
                    <a:pt x="9" y="423"/>
                  </a:cubicBezTo>
                  <a:cubicBezTo>
                    <a:pt x="9" y="423"/>
                    <a:pt x="4" y="429"/>
                    <a:pt x="0" y="438"/>
                  </a:cubicBezTo>
                  <a:cubicBezTo>
                    <a:pt x="207" y="438"/>
                    <a:pt x="207" y="438"/>
                    <a:pt x="207" y="438"/>
                  </a:cubicBezTo>
                  <a:cubicBezTo>
                    <a:pt x="209" y="399"/>
                    <a:pt x="209" y="399"/>
                    <a:pt x="209" y="399"/>
                  </a:cubicBezTo>
                  <a:cubicBezTo>
                    <a:pt x="212" y="381"/>
                    <a:pt x="212" y="381"/>
                    <a:pt x="212" y="381"/>
                  </a:cubicBezTo>
                  <a:cubicBezTo>
                    <a:pt x="212" y="381"/>
                    <a:pt x="225" y="374"/>
                    <a:pt x="232" y="369"/>
                  </a:cubicBezTo>
                  <a:cubicBezTo>
                    <a:pt x="239" y="364"/>
                    <a:pt x="253" y="344"/>
                    <a:pt x="253" y="344"/>
                  </a:cubicBezTo>
                  <a:cubicBezTo>
                    <a:pt x="265" y="345"/>
                    <a:pt x="265" y="345"/>
                    <a:pt x="265" y="345"/>
                  </a:cubicBezTo>
                  <a:cubicBezTo>
                    <a:pt x="283" y="331"/>
                    <a:pt x="283" y="331"/>
                    <a:pt x="283" y="331"/>
                  </a:cubicBezTo>
                  <a:cubicBezTo>
                    <a:pt x="283" y="331"/>
                    <a:pt x="296" y="340"/>
                    <a:pt x="302" y="339"/>
                  </a:cubicBezTo>
                  <a:cubicBezTo>
                    <a:pt x="308" y="338"/>
                    <a:pt x="308" y="326"/>
                    <a:pt x="308" y="326"/>
                  </a:cubicBezTo>
                  <a:cubicBezTo>
                    <a:pt x="326" y="325"/>
                    <a:pt x="326" y="325"/>
                    <a:pt x="326" y="325"/>
                  </a:cubicBezTo>
                  <a:cubicBezTo>
                    <a:pt x="327" y="317"/>
                    <a:pt x="327" y="317"/>
                    <a:pt x="327" y="317"/>
                  </a:cubicBezTo>
                  <a:cubicBezTo>
                    <a:pt x="327" y="317"/>
                    <a:pt x="353" y="321"/>
                    <a:pt x="361" y="318"/>
                  </a:cubicBezTo>
                  <a:cubicBezTo>
                    <a:pt x="369" y="315"/>
                    <a:pt x="384" y="284"/>
                    <a:pt x="384" y="284"/>
                  </a:cubicBezTo>
                  <a:cubicBezTo>
                    <a:pt x="384" y="284"/>
                    <a:pt x="408" y="283"/>
                    <a:pt x="414" y="283"/>
                  </a:cubicBezTo>
                  <a:cubicBezTo>
                    <a:pt x="420" y="283"/>
                    <a:pt x="432" y="264"/>
                    <a:pt x="432" y="264"/>
                  </a:cubicBezTo>
                  <a:cubicBezTo>
                    <a:pt x="449" y="257"/>
                    <a:pt x="449" y="257"/>
                    <a:pt x="449" y="257"/>
                  </a:cubicBezTo>
                  <a:cubicBezTo>
                    <a:pt x="439" y="245"/>
                    <a:pt x="439" y="245"/>
                    <a:pt x="439" y="245"/>
                  </a:cubicBezTo>
                  <a:cubicBezTo>
                    <a:pt x="439" y="245"/>
                    <a:pt x="430" y="228"/>
                    <a:pt x="438" y="221"/>
                  </a:cubicBezTo>
                  <a:cubicBezTo>
                    <a:pt x="446" y="214"/>
                    <a:pt x="468" y="220"/>
                    <a:pt x="475" y="215"/>
                  </a:cubicBezTo>
                  <a:cubicBezTo>
                    <a:pt x="482" y="210"/>
                    <a:pt x="475" y="203"/>
                    <a:pt x="480" y="200"/>
                  </a:cubicBezTo>
                  <a:cubicBezTo>
                    <a:pt x="485" y="197"/>
                    <a:pt x="493" y="202"/>
                    <a:pt x="493" y="202"/>
                  </a:cubicBezTo>
                  <a:cubicBezTo>
                    <a:pt x="493" y="202"/>
                    <a:pt x="497" y="195"/>
                    <a:pt x="501" y="195"/>
                  </a:cubicBezTo>
                  <a:cubicBezTo>
                    <a:pt x="505" y="195"/>
                    <a:pt x="515" y="201"/>
                    <a:pt x="515" y="201"/>
                  </a:cubicBezTo>
                  <a:cubicBezTo>
                    <a:pt x="553" y="196"/>
                    <a:pt x="553" y="196"/>
                    <a:pt x="553" y="196"/>
                  </a:cubicBezTo>
                  <a:cubicBezTo>
                    <a:pt x="553" y="196"/>
                    <a:pt x="552" y="189"/>
                    <a:pt x="554" y="186"/>
                  </a:cubicBezTo>
                  <a:cubicBezTo>
                    <a:pt x="556" y="183"/>
                    <a:pt x="565" y="177"/>
                    <a:pt x="565" y="177"/>
                  </a:cubicBezTo>
                  <a:lnTo>
                    <a:pt x="547" y="165"/>
                  </a:ln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502" name="Freeform 294">
              <a:extLst>
                <a:ext uri="{FF2B5EF4-FFF2-40B4-BE49-F238E27FC236}">
                  <a16:creationId xmlns:a16="http://schemas.microsoft.com/office/drawing/2014/main" id="{B3BF2E3A-17B8-4393-83AD-42411E4ADC48}"/>
                </a:ext>
              </a:extLst>
            </p:cNvPr>
            <p:cNvSpPr>
              <a:spLocks/>
            </p:cNvSpPr>
            <p:nvPr/>
          </p:nvSpPr>
          <p:spPr bwMode="gray">
            <a:xfrm>
              <a:off x="5002322" y="1398709"/>
              <a:ext cx="126633" cy="248140"/>
            </a:xfrm>
            <a:custGeom>
              <a:avLst/>
              <a:gdLst>
                <a:gd name="T0" fmla="*/ 25 w 187"/>
                <a:gd name="T1" fmla="*/ 48 h 387"/>
                <a:gd name="T2" fmla="*/ 38 w 187"/>
                <a:gd name="T3" fmla="*/ 52 h 387"/>
                <a:gd name="T4" fmla="*/ 33 w 187"/>
                <a:gd name="T5" fmla="*/ 90 h 387"/>
                <a:gd name="T6" fmla="*/ 38 w 187"/>
                <a:gd name="T7" fmla="*/ 119 h 387"/>
                <a:gd name="T8" fmla="*/ 30 w 187"/>
                <a:gd name="T9" fmla="*/ 151 h 387"/>
                <a:gd name="T10" fmla="*/ 16 w 187"/>
                <a:gd name="T11" fmla="*/ 162 h 387"/>
                <a:gd name="T12" fmla="*/ 0 w 187"/>
                <a:gd name="T13" fmla="*/ 185 h 387"/>
                <a:gd name="T14" fmla="*/ 0 w 187"/>
                <a:gd name="T15" fmla="*/ 208 h 387"/>
                <a:gd name="T16" fmla="*/ 7 w 187"/>
                <a:gd name="T17" fmla="*/ 208 h 387"/>
                <a:gd name="T18" fmla="*/ 7 w 187"/>
                <a:gd name="T19" fmla="*/ 227 h 387"/>
                <a:gd name="T20" fmla="*/ 34 w 187"/>
                <a:gd name="T21" fmla="*/ 240 h 387"/>
                <a:gd name="T22" fmla="*/ 35 w 187"/>
                <a:gd name="T23" fmla="*/ 266 h 387"/>
                <a:gd name="T24" fmla="*/ 67 w 187"/>
                <a:gd name="T25" fmla="*/ 291 h 387"/>
                <a:gd name="T26" fmla="*/ 88 w 187"/>
                <a:gd name="T27" fmla="*/ 387 h 387"/>
                <a:gd name="T28" fmla="*/ 104 w 187"/>
                <a:gd name="T29" fmla="*/ 381 h 387"/>
                <a:gd name="T30" fmla="*/ 123 w 187"/>
                <a:gd name="T31" fmla="*/ 355 h 387"/>
                <a:gd name="T32" fmla="*/ 114 w 187"/>
                <a:gd name="T33" fmla="*/ 317 h 387"/>
                <a:gd name="T34" fmla="*/ 129 w 187"/>
                <a:gd name="T35" fmla="*/ 306 h 387"/>
                <a:gd name="T36" fmla="*/ 148 w 187"/>
                <a:gd name="T37" fmla="*/ 283 h 387"/>
                <a:gd name="T38" fmla="*/ 183 w 187"/>
                <a:gd name="T39" fmla="*/ 265 h 387"/>
                <a:gd name="T40" fmla="*/ 172 w 187"/>
                <a:gd name="T41" fmla="*/ 255 h 387"/>
                <a:gd name="T42" fmla="*/ 175 w 187"/>
                <a:gd name="T43" fmla="*/ 228 h 387"/>
                <a:gd name="T44" fmla="*/ 167 w 187"/>
                <a:gd name="T45" fmla="*/ 226 h 387"/>
                <a:gd name="T46" fmla="*/ 160 w 187"/>
                <a:gd name="T47" fmla="*/ 207 h 387"/>
                <a:gd name="T48" fmla="*/ 150 w 187"/>
                <a:gd name="T49" fmla="*/ 201 h 387"/>
                <a:gd name="T50" fmla="*/ 148 w 187"/>
                <a:gd name="T51" fmla="*/ 212 h 387"/>
                <a:gd name="T52" fmla="*/ 142 w 187"/>
                <a:gd name="T53" fmla="*/ 203 h 387"/>
                <a:gd name="T54" fmla="*/ 111 w 187"/>
                <a:gd name="T55" fmla="*/ 183 h 387"/>
                <a:gd name="T56" fmla="*/ 132 w 187"/>
                <a:gd name="T57" fmla="*/ 154 h 387"/>
                <a:gd name="T58" fmla="*/ 156 w 187"/>
                <a:gd name="T59" fmla="*/ 102 h 387"/>
                <a:gd name="T60" fmla="*/ 132 w 187"/>
                <a:gd name="T61" fmla="*/ 73 h 387"/>
                <a:gd name="T62" fmla="*/ 145 w 187"/>
                <a:gd name="T63" fmla="*/ 50 h 387"/>
                <a:gd name="T64" fmla="*/ 156 w 187"/>
                <a:gd name="T65" fmla="*/ 18 h 387"/>
                <a:gd name="T66" fmla="*/ 125 w 187"/>
                <a:gd name="T67" fmla="*/ 45 h 387"/>
                <a:gd name="T68" fmla="*/ 108 w 187"/>
                <a:gd name="T69" fmla="*/ 33 h 387"/>
                <a:gd name="T70" fmla="*/ 110 w 187"/>
                <a:gd name="T71" fmla="*/ 8 h 387"/>
                <a:gd name="T72" fmla="*/ 60 w 187"/>
                <a:gd name="T73" fmla="*/ 23 h 387"/>
                <a:gd name="T74" fmla="*/ 53 w 187"/>
                <a:gd name="T75" fmla="*/ 25 h 387"/>
                <a:gd name="T76" fmla="*/ 53 w 187"/>
                <a:gd name="T77" fmla="*/ 35 h 387"/>
                <a:gd name="T78" fmla="*/ 25 w 187"/>
                <a:gd name="T79" fmla="*/ 48 h 3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87" h="387">
                  <a:moveTo>
                    <a:pt x="25" y="48"/>
                  </a:moveTo>
                  <a:cubicBezTo>
                    <a:pt x="38" y="52"/>
                    <a:pt x="38" y="52"/>
                    <a:pt x="38" y="52"/>
                  </a:cubicBezTo>
                  <a:cubicBezTo>
                    <a:pt x="38" y="52"/>
                    <a:pt x="29" y="83"/>
                    <a:pt x="33" y="90"/>
                  </a:cubicBezTo>
                  <a:cubicBezTo>
                    <a:pt x="37" y="97"/>
                    <a:pt x="39" y="109"/>
                    <a:pt x="38" y="119"/>
                  </a:cubicBezTo>
                  <a:cubicBezTo>
                    <a:pt x="37" y="129"/>
                    <a:pt x="30" y="151"/>
                    <a:pt x="30" y="151"/>
                  </a:cubicBezTo>
                  <a:cubicBezTo>
                    <a:pt x="16" y="162"/>
                    <a:pt x="16" y="162"/>
                    <a:pt x="16" y="162"/>
                  </a:cubicBezTo>
                  <a:cubicBezTo>
                    <a:pt x="16" y="162"/>
                    <a:pt x="0" y="175"/>
                    <a:pt x="0" y="185"/>
                  </a:cubicBezTo>
                  <a:cubicBezTo>
                    <a:pt x="0" y="195"/>
                    <a:pt x="0" y="208"/>
                    <a:pt x="0" y="208"/>
                  </a:cubicBezTo>
                  <a:cubicBezTo>
                    <a:pt x="7" y="208"/>
                    <a:pt x="7" y="208"/>
                    <a:pt x="7" y="208"/>
                  </a:cubicBezTo>
                  <a:cubicBezTo>
                    <a:pt x="7" y="227"/>
                    <a:pt x="7" y="227"/>
                    <a:pt x="7" y="227"/>
                  </a:cubicBezTo>
                  <a:cubicBezTo>
                    <a:pt x="7" y="227"/>
                    <a:pt x="33" y="232"/>
                    <a:pt x="34" y="240"/>
                  </a:cubicBezTo>
                  <a:cubicBezTo>
                    <a:pt x="35" y="248"/>
                    <a:pt x="35" y="266"/>
                    <a:pt x="35" y="266"/>
                  </a:cubicBezTo>
                  <a:cubicBezTo>
                    <a:pt x="35" y="266"/>
                    <a:pt x="67" y="278"/>
                    <a:pt x="67" y="291"/>
                  </a:cubicBezTo>
                  <a:cubicBezTo>
                    <a:pt x="67" y="302"/>
                    <a:pt x="82" y="364"/>
                    <a:pt x="88" y="387"/>
                  </a:cubicBezTo>
                  <a:cubicBezTo>
                    <a:pt x="95" y="384"/>
                    <a:pt x="104" y="381"/>
                    <a:pt x="104" y="381"/>
                  </a:cubicBezTo>
                  <a:cubicBezTo>
                    <a:pt x="104" y="381"/>
                    <a:pt x="124" y="367"/>
                    <a:pt x="123" y="355"/>
                  </a:cubicBezTo>
                  <a:cubicBezTo>
                    <a:pt x="122" y="343"/>
                    <a:pt x="112" y="323"/>
                    <a:pt x="114" y="317"/>
                  </a:cubicBezTo>
                  <a:cubicBezTo>
                    <a:pt x="116" y="311"/>
                    <a:pt x="129" y="306"/>
                    <a:pt x="129" y="306"/>
                  </a:cubicBezTo>
                  <a:cubicBezTo>
                    <a:pt x="129" y="306"/>
                    <a:pt x="142" y="289"/>
                    <a:pt x="148" y="283"/>
                  </a:cubicBezTo>
                  <a:cubicBezTo>
                    <a:pt x="154" y="277"/>
                    <a:pt x="179" y="273"/>
                    <a:pt x="183" y="265"/>
                  </a:cubicBezTo>
                  <a:cubicBezTo>
                    <a:pt x="187" y="257"/>
                    <a:pt x="172" y="255"/>
                    <a:pt x="172" y="255"/>
                  </a:cubicBezTo>
                  <a:cubicBezTo>
                    <a:pt x="175" y="228"/>
                    <a:pt x="175" y="228"/>
                    <a:pt x="175" y="228"/>
                  </a:cubicBezTo>
                  <a:cubicBezTo>
                    <a:pt x="170" y="227"/>
                    <a:pt x="167" y="226"/>
                    <a:pt x="167" y="226"/>
                  </a:cubicBezTo>
                  <a:cubicBezTo>
                    <a:pt x="160" y="207"/>
                    <a:pt x="160" y="207"/>
                    <a:pt x="160" y="207"/>
                  </a:cubicBezTo>
                  <a:cubicBezTo>
                    <a:pt x="150" y="201"/>
                    <a:pt x="150" y="201"/>
                    <a:pt x="150" y="201"/>
                  </a:cubicBezTo>
                  <a:cubicBezTo>
                    <a:pt x="148" y="212"/>
                    <a:pt x="148" y="212"/>
                    <a:pt x="148" y="212"/>
                  </a:cubicBezTo>
                  <a:cubicBezTo>
                    <a:pt x="142" y="203"/>
                    <a:pt x="142" y="203"/>
                    <a:pt x="142" y="203"/>
                  </a:cubicBezTo>
                  <a:cubicBezTo>
                    <a:pt x="142" y="203"/>
                    <a:pt x="111" y="202"/>
                    <a:pt x="111" y="183"/>
                  </a:cubicBezTo>
                  <a:cubicBezTo>
                    <a:pt x="111" y="164"/>
                    <a:pt x="109" y="174"/>
                    <a:pt x="132" y="154"/>
                  </a:cubicBezTo>
                  <a:cubicBezTo>
                    <a:pt x="155" y="134"/>
                    <a:pt x="169" y="118"/>
                    <a:pt x="156" y="102"/>
                  </a:cubicBezTo>
                  <a:cubicBezTo>
                    <a:pt x="143" y="86"/>
                    <a:pt x="128" y="89"/>
                    <a:pt x="132" y="73"/>
                  </a:cubicBezTo>
                  <a:cubicBezTo>
                    <a:pt x="136" y="57"/>
                    <a:pt x="135" y="59"/>
                    <a:pt x="145" y="50"/>
                  </a:cubicBezTo>
                  <a:cubicBezTo>
                    <a:pt x="155" y="41"/>
                    <a:pt x="163" y="19"/>
                    <a:pt x="156" y="18"/>
                  </a:cubicBezTo>
                  <a:cubicBezTo>
                    <a:pt x="149" y="17"/>
                    <a:pt x="130" y="43"/>
                    <a:pt x="125" y="45"/>
                  </a:cubicBezTo>
                  <a:cubicBezTo>
                    <a:pt x="120" y="47"/>
                    <a:pt x="108" y="33"/>
                    <a:pt x="108" y="33"/>
                  </a:cubicBezTo>
                  <a:cubicBezTo>
                    <a:pt x="108" y="33"/>
                    <a:pt x="127" y="16"/>
                    <a:pt x="110" y="8"/>
                  </a:cubicBezTo>
                  <a:cubicBezTo>
                    <a:pt x="93" y="0"/>
                    <a:pt x="66" y="19"/>
                    <a:pt x="60" y="23"/>
                  </a:cubicBezTo>
                  <a:cubicBezTo>
                    <a:pt x="58" y="24"/>
                    <a:pt x="56" y="25"/>
                    <a:pt x="53" y="25"/>
                  </a:cubicBezTo>
                  <a:cubicBezTo>
                    <a:pt x="53" y="35"/>
                    <a:pt x="53" y="35"/>
                    <a:pt x="53" y="35"/>
                  </a:cubicBezTo>
                  <a:lnTo>
                    <a:pt x="25" y="48"/>
                  </a:ln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503" name="Freeform 295">
              <a:extLst>
                <a:ext uri="{FF2B5EF4-FFF2-40B4-BE49-F238E27FC236}">
                  <a16:creationId xmlns:a16="http://schemas.microsoft.com/office/drawing/2014/main" id="{92B11A19-B665-4584-93DA-7A760EAF132D}"/>
                </a:ext>
              </a:extLst>
            </p:cNvPr>
            <p:cNvSpPr>
              <a:spLocks/>
            </p:cNvSpPr>
            <p:nvPr/>
          </p:nvSpPr>
          <p:spPr bwMode="gray">
            <a:xfrm>
              <a:off x="4649415" y="2305480"/>
              <a:ext cx="144724" cy="223978"/>
            </a:xfrm>
            <a:custGeom>
              <a:avLst/>
              <a:gdLst>
                <a:gd name="T0" fmla="*/ 185 w 213"/>
                <a:gd name="T1" fmla="*/ 228 h 349"/>
                <a:gd name="T2" fmla="*/ 190 w 213"/>
                <a:gd name="T3" fmla="*/ 205 h 349"/>
                <a:gd name="T4" fmla="*/ 182 w 213"/>
                <a:gd name="T5" fmla="*/ 198 h 349"/>
                <a:gd name="T6" fmla="*/ 185 w 213"/>
                <a:gd name="T7" fmla="*/ 186 h 349"/>
                <a:gd name="T8" fmla="*/ 187 w 213"/>
                <a:gd name="T9" fmla="*/ 157 h 349"/>
                <a:gd name="T10" fmla="*/ 191 w 213"/>
                <a:gd name="T11" fmla="*/ 148 h 349"/>
                <a:gd name="T12" fmla="*/ 173 w 213"/>
                <a:gd name="T13" fmla="*/ 134 h 349"/>
                <a:gd name="T14" fmla="*/ 185 w 213"/>
                <a:gd name="T15" fmla="*/ 123 h 349"/>
                <a:gd name="T16" fmla="*/ 178 w 213"/>
                <a:gd name="T17" fmla="*/ 113 h 349"/>
                <a:gd name="T18" fmla="*/ 182 w 213"/>
                <a:gd name="T19" fmla="*/ 88 h 349"/>
                <a:gd name="T20" fmla="*/ 166 w 213"/>
                <a:gd name="T21" fmla="*/ 91 h 349"/>
                <a:gd name="T22" fmla="*/ 174 w 213"/>
                <a:gd name="T23" fmla="*/ 42 h 349"/>
                <a:gd name="T24" fmla="*/ 152 w 213"/>
                <a:gd name="T25" fmla="*/ 24 h 349"/>
                <a:gd name="T26" fmla="*/ 159 w 213"/>
                <a:gd name="T27" fmla="*/ 15 h 349"/>
                <a:gd name="T28" fmla="*/ 159 w 213"/>
                <a:gd name="T29" fmla="*/ 4 h 349"/>
                <a:gd name="T30" fmla="*/ 145 w 213"/>
                <a:gd name="T31" fmla="*/ 0 h 349"/>
                <a:gd name="T32" fmla="*/ 129 w 213"/>
                <a:gd name="T33" fmla="*/ 10 h 349"/>
                <a:gd name="T34" fmla="*/ 109 w 213"/>
                <a:gd name="T35" fmla="*/ 7 h 349"/>
                <a:gd name="T36" fmla="*/ 98 w 213"/>
                <a:gd name="T37" fmla="*/ 10 h 349"/>
                <a:gd name="T38" fmla="*/ 86 w 213"/>
                <a:gd name="T39" fmla="*/ 7 h 349"/>
                <a:gd name="T40" fmla="*/ 81 w 213"/>
                <a:gd name="T41" fmla="*/ 10 h 349"/>
                <a:gd name="T42" fmla="*/ 26 w 213"/>
                <a:gd name="T43" fmla="*/ 7 h 349"/>
                <a:gd name="T44" fmla="*/ 18 w 213"/>
                <a:gd name="T45" fmla="*/ 24 h 349"/>
                <a:gd name="T46" fmla="*/ 24 w 213"/>
                <a:gd name="T47" fmla="*/ 33 h 349"/>
                <a:gd name="T48" fmla="*/ 25 w 213"/>
                <a:gd name="T49" fmla="*/ 51 h 349"/>
                <a:gd name="T50" fmla="*/ 26 w 213"/>
                <a:gd name="T51" fmla="*/ 87 h 349"/>
                <a:gd name="T52" fmla="*/ 30 w 213"/>
                <a:gd name="T53" fmla="*/ 86 h 349"/>
                <a:gd name="T54" fmla="*/ 34 w 213"/>
                <a:gd name="T55" fmla="*/ 105 h 349"/>
                <a:gd name="T56" fmla="*/ 26 w 213"/>
                <a:gd name="T57" fmla="*/ 106 h 349"/>
                <a:gd name="T58" fmla="*/ 38 w 213"/>
                <a:gd name="T59" fmla="*/ 152 h 349"/>
                <a:gd name="T60" fmla="*/ 21 w 213"/>
                <a:gd name="T61" fmla="*/ 179 h 349"/>
                <a:gd name="T62" fmla="*/ 20 w 213"/>
                <a:gd name="T63" fmla="*/ 209 h 349"/>
                <a:gd name="T64" fmla="*/ 0 w 213"/>
                <a:gd name="T65" fmla="*/ 241 h 349"/>
                <a:gd name="T66" fmla="*/ 13 w 213"/>
                <a:gd name="T67" fmla="*/ 291 h 349"/>
                <a:gd name="T68" fmla="*/ 31 w 213"/>
                <a:gd name="T69" fmla="*/ 297 h 349"/>
                <a:gd name="T70" fmla="*/ 32 w 213"/>
                <a:gd name="T71" fmla="*/ 332 h 349"/>
                <a:gd name="T72" fmla="*/ 47 w 213"/>
                <a:gd name="T73" fmla="*/ 334 h 349"/>
                <a:gd name="T74" fmla="*/ 61 w 213"/>
                <a:gd name="T75" fmla="*/ 345 h 349"/>
                <a:gd name="T76" fmla="*/ 99 w 213"/>
                <a:gd name="T77" fmla="*/ 321 h 349"/>
                <a:gd name="T78" fmla="*/ 117 w 213"/>
                <a:gd name="T79" fmla="*/ 321 h 349"/>
                <a:gd name="T80" fmla="*/ 141 w 213"/>
                <a:gd name="T81" fmla="*/ 302 h 349"/>
                <a:gd name="T82" fmla="*/ 159 w 213"/>
                <a:gd name="T83" fmla="*/ 298 h 349"/>
                <a:gd name="T84" fmla="*/ 173 w 213"/>
                <a:gd name="T85" fmla="*/ 283 h 349"/>
                <a:gd name="T86" fmla="*/ 196 w 213"/>
                <a:gd name="T87" fmla="*/ 287 h 349"/>
                <a:gd name="T88" fmla="*/ 213 w 213"/>
                <a:gd name="T89" fmla="*/ 273 h 349"/>
                <a:gd name="T90" fmla="*/ 193 w 213"/>
                <a:gd name="T91" fmla="*/ 256 h 349"/>
                <a:gd name="T92" fmla="*/ 185 w 213"/>
                <a:gd name="T93" fmla="*/ 228 h 3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13" h="349">
                  <a:moveTo>
                    <a:pt x="185" y="228"/>
                  </a:moveTo>
                  <a:cubicBezTo>
                    <a:pt x="185" y="228"/>
                    <a:pt x="191" y="211"/>
                    <a:pt x="190" y="205"/>
                  </a:cubicBezTo>
                  <a:cubicBezTo>
                    <a:pt x="189" y="199"/>
                    <a:pt x="182" y="203"/>
                    <a:pt x="182" y="198"/>
                  </a:cubicBezTo>
                  <a:cubicBezTo>
                    <a:pt x="182" y="193"/>
                    <a:pt x="185" y="186"/>
                    <a:pt x="185" y="186"/>
                  </a:cubicBezTo>
                  <a:cubicBezTo>
                    <a:pt x="187" y="157"/>
                    <a:pt x="187" y="157"/>
                    <a:pt x="187" y="157"/>
                  </a:cubicBezTo>
                  <a:cubicBezTo>
                    <a:pt x="187" y="157"/>
                    <a:pt x="192" y="154"/>
                    <a:pt x="191" y="148"/>
                  </a:cubicBezTo>
                  <a:cubicBezTo>
                    <a:pt x="190" y="142"/>
                    <a:pt x="173" y="134"/>
                    <a:pt x="173" y="134"/>
                  </a:cubicBezTo>
                  <a:cubicBezTo>
                    <a:pt x="173" y="134"/>
                    <a:pt x="184" y="126"/>
                    <a:pt x="185" y="123"/>
                  </a:cubicBezTo>
                  <a:cubicBezTo>
                    <a:pt x="186" y="120"/>
                    <a:pt x="178" y="113"/>
                    <a:pt x="178" y="113"/>
                  </a:cubicBezTo>
                  <a:cubicBezTo>
                    <a:pt x="178" y="113"/>
                    <a:pt x="186" y="95"/>
                    <a:pt x="182" y="88"/>
                  </a:cubicBezTo>
                  <a:cubicBezTo>
                    <a:pt x="178" y="81"/>
                    <a:pt x="166" y="91"/>
                    <a:pt x="166" y="91"/>
                  </a:cubicBezTo>
                  <a:cubicBezTo>
                    <a:pt x="174" y="42"/>
                    <a:pt x="174" y="42"/>
                    <a:pt x="174" y="42"/>
                  </a:cubicBezTo>
                  <a:cubicBezTo>
                    <a:pt x="152" y="24"/>
                    <a:pt x="152" y="24"/>
                    <a:pt x="152" y="24"/>
                  </a:cubicBezTo>
                  <a:cubicBezTo>
                    <a:pt x="159" y="15"/>
                    <a:pt x="159" y="15"/>
                    <a:pt x="159" y="15"/>
                  </a:cubicBezTo>
                  <a:cubicBezTo>
                    <a:pt x="159" y="4"/>
                    <a:pt x="159" y="4"/>
                    <a:pt x="159" y="4"/>
                  </a:cubicBezTo>
                  <a:cubicBezTo>
                    <a:pt x="145" y="0"/>
                    <a:pt x="145" y="0"/>
                    <a:pt x="145" y="0"/>
                  </a:cubicBezTo>
                  <a:cubicBezTo>
                    <a:pt x="129" y="10"/>
                    <a:pt x="129" y="10"/>
                    <a:pt x="129" y="10"/>
                  </a:cubicBezTo>
                  <a:cubicBezTo>
                    <a:pt x="109" y="7"/>
                    <a:pt x="109" y="7"/>
                    <a:pt x="109" y="7"/>
                  </a:cubicBezTo>
                  <a:cubicBezTo>
                    <a:pt x="98" y="10"/>
                    <a:pt x="98" y="10"/>
                    <a:pt x="98" y="10"/>
                  </a:cubicBezTo>
                  <a:cubicBezTo>
                    <a:pt x="86" y="7"/>
                    <a:pt x="86" y="7"/>
                    <a:pt x="86" y="7"/>
                  </a:cubicBezTo>
                  <a:cubicBezTo>
                    <a:pt x="81" y="10"/>
                    <a:pt x="81" y="10"/>
                    <a:pt x="81" y="10"/>
                  </a:cubicBezTo>
                  <a:cubicBezTo>
                    <a:pt x="26" y="7"/>
                    <a:pt x="26" y="7"/>
                    <a:pt x="26" y="7"/>
                  </a:cubicBezTo>
                  <a:cubicBezTo>
                    <a:pt x="26" y="7"/>
                    <a:pt x="18" y="16"/>
                    <a:pt x="18" y="24"/>
                  </a:cubicBezTo>
                  <a:cubicBezTo>
                    <a:pt x="18" y="32"/>
                    <a:pt x="24" y="33"/>
                    <a:pt x="24" y="33"/>
                  </a:cubicBezTo>
                  <a:cubicBezTo>
                    <a:pt x="25" y="51"/>
                    <a:pt x="25" y="51"/>
                    <a:pt x="25" y="51"/>
                  </a:cubicBezTo>
                  <a:cubicBezTo>
                    <a:pt x="26" y="87"/>
                    <a:pt x="26" y="87"/>
                    <a:pt x="26" y="87"/>
                  </a:cubicBezTo>
                  <a:cubicBezTo>
                    <a:pt x="30" y="86"/>
                    <a:pt x="30" y="86"/>
                    <a:pt x="30" y="86"/>
                  </a:cubicBezTo>
                  <a:cubicBezTo>
                    <a:pt x="34" y="105"/>
                    <a:pt x="34" y="105"/>
                    <a:pt x="34" y="105"/>
                  </a:cubicBezTo>
                  <a:cubicBezTo>
                    <a:pt x="26" y="106"/>
                    <a:pt x="26" y="106"/>
                    <a:pt x="26" y="106"/>
                  </a:cubicBezTo>
                  <a:cubicBezTo>
                    <a:pt x="26" y="106"/>
                    <a:pt x="38" y="140"/>
                    <a:pt x="38" y="152"/>
                  </a:cubicBezTo>
                  <a:cubicBezTo>
                    <a:pt x="38" y="164"/>
                    <a:pt x="21" y="171"/>
                    <a:pt x="21" y="179"/>
                  </a:cubicBezTo>
                  <a:cubicBezTo>
                    <a:pt x="21" y="187"/>
                    <a:pt x="20" y="209"/>
                    <a:pt x="20" y="209"/>
                  </a:cubicBezTo>
                  <a:cubicBezTo>
                    <a:pt x="20" y="209"/>
                    <a:pt x="0" y="227"/>
                    <a:pt x="0" y="241"/>
                  </a:cubicBezTo>
                  <a:cubicBezTo>
                    <a:pt x="0" y="255"/>
                    <a:pt x="13" y="291"/>
                    <a:pt x="13" y="291"/>
                  </a:cubicBezTo>
                  <a:cubicBezTo>
                    <a:pt x="31" y="297"/>
                    <a:pt x="31" y="297"/>
                    <a:pt x="31" y="297"/>
                  </a:cubicBezTo>
                  <a:cubicBezTo>
                    <a:pt x="32" y="332"/>
                    <a:pt x="32" y="332"/>
                    <a:pt x="32" y="332"/>
                  </a:cubicBezTo>
                  <a:cubicBezTo>
                    <a:pt x="41" y="334"/>
                    <a:pt x="47" y="334"/>
                    <a:pt x="47" y="334"/>
                  </a:cubicBezTo>
                  <a:cubicBezTo>
                    <a:pt x="47" y="334"/>
                    <a:pt x="51" y="349"/>
                    <a:pt x="61" y="345"/>
                  </a:cubicBezTo>
                  <a:cubicBezTo>
                    <a:pt x="71" y="341"/>
                    <a:pt x="92" y="323"/>
                    <a:pt x="99" y="321"/>
                  </a:cubicBezTo>
                  <a:cubicBezTo>
                    <a:pt x="106" y="319"/>
                    <a:pt x="117" y="321"/>
                    <a:pt x="117" y="321"/>
                  </a:cubicBezTo>
                  <a:cubicBezTo>
                    <a:pt x="117" y="321"/>
                    <a:pt x="138" y="303"/>
                    <a:pt x="141" y="302"/>
                  </a:cubicBezTo>
                  <a:cubicBezTo>
                    <a:pt x="144" y="301"/>
                    <a:pt x="159" y="298"/>
                    <a:pt x="159" y="298"/>
                  </a:cubicBezTo>
                  <a:cubicBezTo>
                    <a:pt x="159" y="298"/>
                    <a:pt x="165" y="282"/>
                    <a:pt x="173" y="283"/>
                  </a:cubicBezTo>
                  <a:cubicBezTo>
                    <a:pt x="181" y="284"/>
                    <a:pt x="187" y="292"/>
                    <a:pt x="196" y="287"/>
                  </a:cubicBezTo>
                  <a:cubicBezTo>
                    <a:pt x="201" y="284"/>
                    <a:pt x="207" y="278"/>
                    <a:pt x="213" y="273"/>
                  </a:cubicBezTo>
                  <a:cubicBezTo>
                    <a:pt x="193" y="256"/>
                    <a:pt x="193" y="256"/>
                    <a:pt x="193" y="256"/>
                  </a:cubicBezTo>
                  <a:lnTo>
                    <a:pt x="185" y="228"/>
                  </a:ln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504" name="Freeform 296">
              <a:extLst>
                <a:ext uri="{FF2B5EF4-FFF2-40B4-BE49-F238E27FC236}">
                  <a16:creationId xmlns:a16="http://schemas.microsoft.com/office/drawing/2014/main" id="{854CAE60-6AE1-4C6B-A487-ECDC10AB9D63}"/>
                </a:ext>
              </a:extLst>
            </p:cNvPr>
            <p:cNvSpPr>
              <a:spLocks/>
            </p:cNvSpPr>
            <p:nvPr/>
          </p:nvSpPr>
          <p:spPr bwMode="gray">
            <a:xfrm>
              <a:off x="4752502" y="2307381"/>
              <a:ext cx="61737" cy="173209"/>
            </a:xfrm>
            <a:custGeom>
              <a:avLst/>
              <a:gdLst>
                <a:gd name="T0" fmla="*/ 82 w 91"/>
                <a:gd name="T1" fmla="*/ 239 h 270"/>
                <a:gd name="T2" fmla="*/ 80 w 91"/>
                <a:gd name="T3" fmla="*/ 195 h 270"/>
                <a:gd name="T4" fmla="*/ 85 w 91"/>
                <a:gd name="T5" fmla="*/ 188 h 270"/>
                <a:gd name="T6" fmla="*/ 79 w 91"/>
                <a:gd name="T7" fmla="*/ 182 h 270"/>
                <a:gd name="T8" fmla="*/ 80 w 91"/>
                <a:gd name="T9" fmla="*/ 143 h 270"/>
                <a:gd name="T10" fmla="*/ 85 w 91"/>
                <a:gd name="T11" fmla="*/ 135 h 270"/>
                <a:gd name="T12" fmla="*/ 81 w 91"/>
                <a:gd name="T13" fmla="*/ 108 h 270"/>
                <a:gd name="T14" fmla="*/ 69 w 91"/>
                <a:gd name="T15" fmla="*/ 91 h 270"/>
                <a:gd name="T16" fmla="*/ 69 w 91"/>
                <a:gd name="T17" fmla="*/ 60 h 270"/>
                <a:gd name="T18" fmla="*/ 42 w 91"/>
                <a:gd name="T19" fmla="*/ 37 h 270"/>
                <a:gd name="T20" fmla="*/ 41 w 91"/>
                <a:gd name="T21" fmla="*/ 18 h 270"/>
                <a:gd name="T22" fmla="*/ 47 w 91"/>
                <a:gd name="T23" fmla="*/ 6 h 270"/>
                <a:gd name="T24" fmla="*/ 33 w 91"/>
                <a:gd name="T25" fmla="*/ 7 h 270"/>
                <a:gd name="T26" fmla="*/ 18 w 91"/>
                <a:gd name="T27" fmla="*/ 0 h 270"/>
                <a:gd name="T28" fmla="*/ 7 w 91"/>
                <a:gd name="T29" fmla="*/ 1 h 270"/>
                <a:gd name="T30" fmla="*/ 7 w 91"/>
                <a:gd name="T31" fmla="*/ 12 h 270"/>
                <a:gd name="T32" fmla="*/ 0 w 91"/>
                <a:gd name="T33" fmla="*/ 21 h 270"/>
                <a:gd name="T34" fmla="*/ 22 w 91"/>
                <a:gd name="T35" fmla="*/ 39 h 270"/>
                <a:gd name="T36" fmla="*/ 14 w 91"/>
                <a:gd name="T37" fmla="*/ 88 h 270"/>
                <a:gd name="T38" fmla="*/ 30 w 91"/>
                <a:gd name="T39" fmla="*/ 85 h 270"/>
                <a:gd name="T40" fmla="*/ 26 w 91"/>
                <a:gd name="T41" fmla="*/ 110 h 270"/>
                <a:gd name="T42" fmla="*/ 33 w 91"/>
                <a:gd name="T43" fmla="*/ 120 h 270"/>
                <a:gd name="T44" fmla="*/ 21 w 91"/>
                <a:gd name="T45" fmla="*/ 131 h 270"/>
                <a:gd name="T46" fmla="*/ 39 w 91"/>
                <a:gd name="T47" fmla="*/ 145 h 270"/>
                <a:gd name="T48" fmla="*/ 35 w 91"/>
                <a:gd name="T49" fmla="*/ 154 h 270"/>
                <a:gd name="T50" fmla="*/ 33 w 91"/>
                <a:gd name="T51" fmla="*/ 183 h 270"/>
                <a:gd name="T52" fmla="*/ 30 w 91"/>
                <a:gd name="T53" fmla="*/ 195 h 270"/>
                <a:gd name="T54" fmla="*/ 38 w 91"/>
                <a:gd name="T55" fmla="*/ 202 h 270"/>
                <a:gd name="T56" fmla="*/ 33 w 91"/>
                <a:gd name="T57" fmla="*/ 225 h 270"/>
                <a:gd name="T58" fmla="*/ 41 w 91"/>
                <a:gd name="T59" fmla="*/ 253 h 270"/>
                <a:gd name="T60" fmla="*/ 61 w 91"/>
                <a:gd name="T61" fmla="*/ 270 h 270"/>
                <a:gd name="T62" fmla="*/ 78 w 91"/>
                <a:gd name="T63" fmla="*/ 259 h 270"/>
                <a:gd name="T64" fmla="*/ 91 w 91"/>
                <a:gd name="T65" fmla="*/ 258 h 270"/>
                <a:gd name="T66" fmla="*/ 82 w 91"/>
                <a:gd name="T67" fmla="*/ 239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1" h="270">
                  <a:moveTo>
                    <a:pt x="82" y="239"/>
                  </a:moveTo>
                  <a:cubicBezTo>
                    <a:pt x="80" y="195"/>
                    <a:pt x="80" y="195"/>
                    <a:pt x="80" y="195"/>
                  </a:cubicBezTo>
                  <a:cubicBezTo>
                    <a:pt x="85" y="188"/>
                    <a:pt x="85" y="188"/>
                    <a:pt x="85" y="188"/>
                  </a:cubicBezTo>
                  <a:cubicBezTo>
                    <a:pt x="79" y="182"/>
                    <a:pt x="79" y="182"/>
                    <a:pt x="79" y="182"/>
                  </a:cubicBezTo>
                  <a:cubicBezTo>
                    <a:pt x="80" y="143"/>
                    <a:pt x="80" y="143"/>
                    <a:pt x="80" y="143"/>
                  </a:cubicBezTo>
                  <a:cubicBezTo>
                    <a:pt x="85" y="135"/>
                    <a:pt x="85" y="135"/>
                    <a:pt x="85" y="135"/>
                  </a:cubicBezTo>
                  <a:cubicBezTo>
                    <a:pt x="85" y="135"/>
                    <a:pt x="80" y="116"/>
                    <a:pt x="81" y="108"/>
                  </a:cubicBezTo>
                  <a:cubicBezTo>
                    <a:pt x="82" y="100"/>
                    <a:pt x="69" y="91"/>
                    <a:pt x="69" y="91"/>
                  </a:cubicBezTo>
                  <a:cubicBezTo>
                    <a:pt x="69" y="91"/>
                    <a:pt x="71" y="68"/>
                    <a:pt x="69" y="60"/>
                  </a:cubicBezTo>
                  <a:cubicBezTo>
                    <a:pt x="67" y="52"/>
                    <a:pt x="42" y="37"/>
                    <a:pt x="42" y="37"/>
                  </a:cubicBezTo>
                  <a:cubicBezTo>
                    <a:pt x="41" y="18"/>
                    <a:pt x="41" y="18"/>
                    <a:pt x="41" y="18"/>
                  </a:cubicBezTo>
                  <a:cubicBezTo>
                    <a:pt x="47" y="6"/>
                    <a:pt x="47" y="6"/>
                    <a:pt x="47" y="6"/>
                  </a:cubicBezTo>
                  <a:cubicBezTo>
                    <a:pt x="33" y="7"/>
                    <a:pt x="33" y="7"/>
                    <a:pt x="33" y="7"/>
                  </a:cubicBezTo>
                  <a:cubicBezTo>
                    <a:pt x="18" y="0"/>
                    <a:pt x="18" y="0"/>
                    <a:pt x="18" y="0"/>
                  </a:cubicBezTo>
                  <a:cubicBezTo>
                    <a:pt x="7" y="1"/>
                    <a:pt x="7" y="1"/>
                    <a:pt x="7" y="1"/>
                  </a:cubicBezTo>
                  <a:cubicBezTo>
                    <a:pt x="7" y="12"/>
                    <a:pt x="7" y="12"/>
                    <a:pt x="7" y="12"/>
                  </a:cubicBezTo>
                  <a:cubicBezTo>
                    <a:pt x="0" y="21"/>
                    <a:pt x="0" y="21"/>
                    <a:pt x="0" y="21"/>
                  </a:cubicBezTo>
                  <a:cubicBezTo>
                    <a:pt x="22" y="39"/>
                    <a:pt x="22" y="39"/>
                    <a:pt x="22" y="39"/>
                  </a:cubicBezTo>
                  <a:cubicBezTo>
                    <a:pt x="14" y="88"/>
                    <a:pt x="14" y="88"/>
                    <a:pt x="14" y="88"/>
                  </a:cubicBezTo>
                  <a:cubicBezTo>
                    <a:pt x="14" y="88"/>
                    <a:pt x="26" y="78"/>
                    <a:pt x="30" y="85"/>
                  </a:cubicBezTo>
                  <a:cubicBezTo>
                    <a:pt x="34" y="92"/>
                    <a:pt x="26" y="110"/>
                    <a:pt x="26" y="110"/>
                  </a:cubicBezTo>
                  <a:cubicBezTo>
                    <a:pt x="26" y="110"/>
                    <a:pt x="34" y="117"/>
                    <a:pt x="33" y="120"/>
                  </a:cubicBezTo>
                  <a:cubicBezTo>
                    <a:pt x="32" y="123"/>
                    <a:pt x="21" y="131"/>
                    <a:pt x="21" y="131"/>
                  </a:cubicBezTo>
                  <a:cubicBezTo>
                    <a:pt x="21" y="131"/>
                    <a:pt x="38" y="139"/>
                    <a:pt x="39" y="145"/>
                  </a:cubicBezTo>
                  <a:cubicBezTo>
                    <a:pt x="40" y="151"/>
                    <a:pt x="35" y="154"/>
                    <a:pt x="35" y="154"/>
                  </a:cubicBezTo>
                  <a:cubicBezTo>
                    <a:pt x="33" y="183"/>
                    <a:pt x="33" y="183"/>
                    <a:pt x="33" y="183"/>
                  </a:cubicBezTo>
                  <a:cubicBezTo>
                    <a:pt x="33" y="183"/>
                    <a:pt x="30" y="190"/>
                    <a:pt x="30" y="195"/>
                  </a:cubicBezTo>
                  <a:cubicBezTo>
                    <a:pt x="30" y="200"/>
                    <a:pt x="37" y="196"/>
                    <a:pt x="38" y="202"/>
                  </a:cubicBezTo>
                  <a:cubicBezTo>
                    <a:pt x="39" y="208"/>
                    <a:pt x="33" y="225"/>
                    <a:pt x="33" y="225"/>
                  </a:cubicBezTo>
                  <a:cubicBezTo>
                    <a:pt x="41" y="253"/>
                    <a:pt x="41" y="253"/>
                    <a:pt x="41" y="253"/>
                  </a:cubicBezTo>
                  <a:cubicBezTo>
                    <a:pt x="61" y="270"/>
                    <a:pt x="61" y="270"/>
                    <a:pt x="61" y="270"/>
                  </a:cubicBezTo>
                  <a:cubicBezTo>
                    <a:pt x="66" y="264"/>
                    <a:pt x="72" y="260"/>
                    <a:pt x="78" y="259"/>
                  </a:cubicBezTo>
                  <a:cubicBezTo>
                    <a:pt x="82" y="258"/>
                    <a:pt x="86" y="258"/>
                    <a:pt x="91" y="258"/>
                  </a:cubicBezTo>
                  <a:cubicBezTo>
                    <a:pt x="91" y="248"/>
                    <a:pt x="82" y="239"/>
                    <a:pt x="82" y="239"/>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505" name="Freeform 297">
              <a:extLst>
                <a:ext uri="{FF2B5EF4-FFF2-40B4-BE49-F238E27FC236}">
                  <a16:creationId xmlns:a16="http://schemas.microsoft.com/office/drawing/2014/main" id="{59CFA06A-1712-4D3E-B3AD-1343AACA38F4}"/>
                </a:ext>
              </a:extLst>
            </p:cNvPr>
            <p:cNvSpPr>
              <a:spLocks/>
            </p:cNvSpPr>
            <p:nvPr/>
          </p:nvSpPr>
          <p:spPr bwMode="gray">
            <a:xfrm>
              <a:off x="4780354" y="2262042"/>
              <a:ext cx="101939" cy="212847"/>
            </a:xfrm>
            <a:custGeom>
              <a:avLst/>
              <a:gdLst>
                <a:gd name="T0" fmla="*/ 94 w 150"/>
                <a:gd name="T1" fmla="*/ 247 h 332"/>
                <a:gd name="T2" fmla="*/ 97 w 150"/>
                <a:gd name="T3" fmla="*/ 228 h 332"/>
                <a:gd name="T4" fmla="*/ 94 w 150"/>
                <a:gd name="T5" fmla="*/ 206 h 332"/>
                <a:gd name="T6" fmla="*/ 96 w 150"/>
                <a:gd name="T7" fmla="*/ 183 h 332"/>
                <a:gd name="T8" fmla="*/ 112 w 150"/>
                <a:gd name="T9" fmla="*/ 177 h 332"/>
                <a:gd name="T10" fmla="*/ 118 w 150"/>
                <a:gd name="T11" fmla="*/ 148 h 332"/>
                <a:gd name="T12" fmla="*/ 133 w 150"/>
                <a:gd name="T13" fmla="*/ 132 h 332"/>
                <a:gd name="T14" fmla="*/ 135 w 150"/>
                <a:gd name="T15" fmla="*/ 105 h 332"/>
                <a:gd name="T16" fmla="*/ 148 w 150"/>
                <a:gd name="T17" fmla="*/ 95 h 332"/>
                <a:gd name="T18" fmla="*/ 144 w 150"/>
                <a:gd name="T19" fmla="*/ 85 h 332"/>
                <a:gd name="T20" fmla="*/ 145 w 150"/>
                <a:gd name="T21" fmla="*/ 76 h 332"/>
                <a:gd name="T22" fmla="*/ 131 w 150"/>
                <a:gd name="T23" fmla="*/ 51 h 332"/>
                <a:gd name="T24" fmla="*/ 139 w 150"/>
                <a:gd name="T25" fmla="*/ 31 h 332"/>
                <a:gd name="T26" fmla="*/ 118 w 150"/>
                <a:gd name="T27" fmla="*/ 22 h 332"/>
                <a:gd name="T28" fmla="*/ 96 w 150"/>
                <a:gd name="T29" fmla="*/ 0 h 332"/>
                <a:gd name="T30" fmla="*/ 79 w 150"/>
                <a:gd name="T31" fmla="*/ 7 h 332"/>
                <a:gd name="T32" fmla="*/ 76 w 150"/>
                <a:gd name="T33" fmla="*/ 23 h 332"/>
                <a:gd name="T34" fmla="*/ 83 w 150"/>
                <a:gd name="T35" fmla="*/ 26 h 332"/>
                <a:gd name="T36" fmla="*/ 77 w 150"/>
                <a:gd name="T37" fmla="*/ 28 h 332"/>
                <a:gd name="T38" fmla="*/ 74 w 150"/>
                <a:gd name="T39" fmla="*/ 39 h 332"/>
                <a:gd name="T40" fmla="*/ 63 w 150"/>
                <a:gd name="T41" fmla="*/ 43 h 332"/>
                <a:gd name="T42" fmla="*/ 58 w 150"/>
                <a:gd name="T43" fmla="*/ 53 h 332"/>
                <a:gd name="T44" fmla="*/ 32 w 150"/>
                <a:gd name="T45" fmla="*/ 51 h 332"/>
                <a:gd name="T46" fmla="*/ 19 w 150"/>
                <a:gd name="T47" fmla="*/ 70 h 332"/>
                <a:gd name="T48" fmla="*/ 11 w 150"/>
                <a:gd name="T49" fmla="*/ 70 h 332"/>
                <a:gd name="T50" fmla="*/ 6 w 150"/>
                <a:gd name="T51" fmla="*/ 77 h 332"/>
                <a:gd name="T52" fmla="*/ 0 w 150"/>
                <a:gd name="T53" fmla="*/ 89 h 332"/>
                <a:gd name="T54" fmla="*/ 1 w 150"/>
                <a:gd name="T55" fmla="*/ 108 h 332"/>
                <a:gd name="T56" fmla="*/ 28 w 150"/>
                <a:gd name="T57" fmla="*/ 131 h 332"/>
                <a:gd name="T58" fmla="*/ 28 w 150"/>
                <a:gd name="T59" fmla="*/ 162 h 332"/>
                <a:gd name="T60" fmla="*/ 40 w 150"/>
                <a:gd name="T61" fmla="*/ 179 h 332"/>
                <a:gd name="T62" fmla="*/ 44 w 150"/>
                <a:gd name="T63" fmla="*/ 206 h 332"/>
                <a:gd name="T64" fmla="*/ 39 w 150"/>
                <a:gd name="T65" fmla="*/ 214 h 332"/>
                <a:gd name="T66" fmla="*/ 38 w 150"/>
                <a:gd name="T67" fmla="*/ 253 h 332"/>
                <a:gd name="T68" fmla="*/ 44 w 150"/>
                <a:gd name="T69" fmla="*/ 259 h 332"/>
                <a:gd name="T70" fmla="*/ 39 w 150"/>
                <a:gd name="T71" fmla="*/ 266 h 332"/>
                <a:gd name="T72" fmla="*/ 41 w 150"/>
                <a:gd name="T73" fmla="*/ 310 h 332"/>
                <a:gd name="T74" fmla="*/ 50 w 150"/>
                <a:gd name="T75" fmla="*/ 329 h 332"/>
                <a:gd name="T76" fmla="*/ 50 w 150"/>
                <a:gd name="T77" fmla="*/ 329 h 332"/>
                <a:gd name="T78" fmla="*/ 73 w 150"/>
                <a:gd name="T79" fmla="*/ 332 h 332"/>
                <a:gd name="T80" fmla="*/ 81 w 150"/>
                <a:gd name="T81" fmla="*/ 318 h 332"/>
                <a:gd name="T82" fmla="*/ 91 w 150"/>
                <a:gd name="T83" fmla="*/ 323 h 332"/>
                <a:gd name="T84" fmla="*/ 95 w 150"/>
                <a:gd name="T85" fmla="*/ 306 h 332"/>
                <a:gd name="T86" fmla="*/ 94 w 150"/>
                <a:gd name="T87" fmla="*/ 247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50" h="332">
                  <a:moveTo>
                    <a:pt x="94" y="247"/>
                  </a:moveTo>
                  <a:cubicBezTo>
                    <a:pt x="97" y="228"/>
                    <a:pt x="97" y="228"/>
                    <a:pt x="97" y="228"/>
                  </a:cubicBezTo>
                  <a:cubicBezTo>
                    <a:pt x="94" y="206"/>
                    <a:pt x="94" y="206"/>
                    <a:pt x="94" y="206"/>
                  </a:cubicBezTo>
                  <a:cubicBezTo>
                    <a:pt x="96" y="183"/>
                    <a:pt x="96" y="183"/>
                    <a:pt x="96" y="183"/>
                  </a:cubicBezTo>
                  <a:cubicBezTo>
                    <a:pt x="96" y="183"/>
                    <a:pt x="104" y="187"/>
                    <a:pt x="112" y="177"/>
                  </a:cubicBezTo>
                  <a:cubicBezTo>
                    <a:pt x="120" y="167"/>
                    <a:pt x="115" y="155"/>
                    <a:pt x="118" y="148"/>
                  </a:cubicBezTo>
                  <a:cubicBezTo>
                    <a:pt x="121" y="141"/>
                    <a:pt x="133" y="132"/>
                    <a:pt x="133" y="132"/>
                  </a:cubicBezTo>
                  <a:cubicBezTo>
                    <a:pt x="135" y="105"/>
                    <a:pt x="135" y="105"/>
                    <a:pt x="135" y="105"/>
                  </a:cubicBezTo>
                  <a:cubicBezTo>
                    <a:pt x="135" y="105"/>
                    <a:pt x="146" y="102"/>
                    <a:pt x="148" y="95"/>
                  </a:cubicBezTo>
                  <a:cubicBezTo>
                    <a:pt x="150" y="88"/>
                    <a:pt x="144" y="85"/>
                    <a:pt x="144" y="85"/>
                  </a:cubicBezTo>
                  <a:cubicBezTo>
                    <a:pt x="144" y="85"/>
                    <a:pt x="145" y="82"/>
                    <a:pt x="145" y="76"/>
                  </a:cubicBezTo>
                  <a:cubicBezTo>
                    <a:pt x="145" y="70"/>
                    <a:pt x="130" y="58"/>
                    <a:pt x="131" y="51"/>
                  </a:cubicBezTo>
                  <a:cubicBezTo>
                    <a:pt x="132" y="44"/>
                    <a:pt x="139" y="31"/>
                    <a:pt x="139" y="31"/>
                  </a:cubicBezTo>
                  <a:cubicBezTo>
                    <a:pt x="139" y="31"/>
                    <a:pt x="123" y="25"/>
                    <a:pt x="118" y="22"/>
                  </a:cubicBezTo>
                  <a:cubicBezTo>
                    <a:pt x="113" y="19"/>
                    <a:pt x="96" y="0"/>
                    <a:pt x="96" y="0"/>
                  </a:cubicBezTo>
                  <a:cubicBezTo>
                    <a:pt x="79" y="7"/>
                    <a:pt x="79" y="7"/>
                    <a:pt x="79" y="7"/>
                  </a:cubicBezTo>
                  <a:cubicBezTo>
                    <a:pt x="76" y="23"/>
                    <a:pt x="76" y="23"/>
                    <a:pt x="76" y="23"/>
                  </a:cubicBezTo>
                  <a:cubicBezTo>
                    <a:pt x="83" y="26"/>
                    <a:pt x="83" y="26"/>
                    <a:pt x="83" y="26"/>
                  </a:cubicBezTo>
                  <a:cubicBezTo>
                    <a:pt x="77" y="28"/>
                    <a:pt x="77" y="28"/>
                    <a:pt x="77" y="28"/>
                  </a:cubicBezTo>
                  <a:cubicBezTo>
                    <a:pt x="74" y="39"/>
                    <a:pt x="74" y="39"/>
                    <a:pt x="74" y="39"/>
                  </a:cubicBezTo>
                  <a:cubicBezTo>
                    <a:pt x="74" y="39"/>
                    <a:pt x="67" y="40"/>
                    <a:pt x="63" y="43"/>
                  </a:cubicBezTo>
                  <a:cubicBezTo>
                    <a:pt x="59" y="46"/>
                    <a:pt x="58" y="53"/>
                    <a:pt x="58" y="53"/>
                  </a:cubicBezTo>
                  <a:cubicBezTo>
                    <a:pt x="58" y="53"/>
                    <a:pt x="32" y="52"/>
                    <a:pt x="32" y="51"/>
                  </a:cubicBezTo>
                  <a:cubicBezTo>
                    <a:pt x="21" y="56"/>
                    <a:pt x="19" y="70"/>
                    <a:pt x="19" y="70"/>
                  </a:cubicBezTo>
                  <a:cubicBezTo>
                    <a:pt x="11" y="70"/>
                    <a:pt x="11" y="70"/>
                    <a:pt x="11" y="70"/>
                  </a:cubicBezTo>
                  <a:cubicBezTo>
                    <a:pt x="6" y="77"/>
                    <a:pt x="6" y="77"/>
                    <a:pt x="6" y="77"/>
                  </a:cubicBezTo>
                  <a:cubicBezTo>
                    <a:pt x="0" y="89"/>
                    <a:pt x="0" y="89"/>
                    <a:pt x="0" y="89"/>
                  </a:cubicBezTo>
                  <a:cubicBezTo>
                    <a:pt x="1" y="108"/>
                    <a:pt x="1" y="108"/>
                    <a:pt x="1" y="108"/>
                  </a:cubicBezTo>
                  <a:cubicBezTo>
                    <a:pt x="1" y="108"/>
                    <a:pt x="26" y="123"/>
                    <a:pt x="28" y="131"/>
                  </a:cubicBezTo>
                  <a:cubicBezTo>
                    <a:pt x="30" y="139"/>
                    <a:pt x="28" y="162"/>
                    <a:pt x="28" y="162"/>
                  </a:cubicBezTo>
                  <a:cubicBezTo>
                    <a:pt x="28" y="162"/>
                    <a:pt x="41" y="171"/>
                    <a:pt x="40" y="179"/>
                  </a:cubicBezTo>
                  <a:cubicBezTo>
                    <a:pt x="39" y="187"/>
                    <a:pt x="44" y="206"/>
                    <a:pt x="44" y="206"/>
                  </a:cubicBezTo>
                  <a:cubicBezTo>
                    <a:pt x="39" y="214"/>
                    <a:pt x="39" y="214"/>
                    <a:pt x="39" y="214"/>
                  </a:cubicBezTo>
                  <a:cubicBezTo>
                    <a:pt x="38" y="253"/>
                    <a:pt x="38" y="253"/>
                    <a:pt x="38" y="253"/>
                  </a:cubicBezTo>
                  <a:cubicBezTo>
                    <a:pt x="44" y="259"/>
                    <a:pt x="44" y="259"/>
                    <a:pt x="44" y="259"/>
                  </a:cubicBezTo>
                  <a:cubicBezTo>
                    <a:pt x="39" y="266"/>
                    <a:pt x="39" y="266"/>
                    <a:pt x="39" y="266"/>
                  </a:cubicBezTo>
                  <a:cubicBezTo>
                    <a:pt x="41" y="310"/>
                    <a:pt x="41" y="310"/>
                    <a:pt x="41" y="310"/>
                  </a:cubicBezTo>
                  <a:cubicBezTo>
                    <a:pt x="41" y="310"/>
                    <a:pt x="50" y="319"/>
                    <a:pt x="50" y="329"/>
                  </a:cubicBezTo>
                  <a:cubicBezTo>
                    <a:pt x="50" y="329"/>
                    <a:pt x="50" y="329"/>
                    <a:pt x="50" y="329"/>
                  </a:cubicBezTo>
                  <a:cubicBezTo>
                    <a:pt x="61" y="330"/>
                    <a:pt x="73" y="332"/>
                    <a:pt x="73" y="332"/>
                  </a:cubicBezTo>
                  <a:cubicBezTo>
                    <a:pt x="81" y="318"/>
                    <a:pt x="81" y="318"/>
                    <a:pt x="81" y="318"/>
                  </a:cubicBezTo>
                  <a:cubicBezTo>
                    <a:pt x="81" y="318"/>
                    <a:pt x="85" y="320"/>
                    <a:pt x="91" y="323"/>
                  </a:cubicBezTo>
                  <a:cubicBezTo>
                    <a:pt x="95" y="306"/>
                    <a:pt x="95" y="306"/>
                    <a:pt x="95" y="306"/>
                  </a:cubicBezTo>
                  <a:lnTo>
                    <a:pt x="94" y="247"/>
                  </a:ln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506" name="Freeform 298">
              <a:extLst>
                <a:ext uri="{FF2B5EF4-FFF2-40B4-BE49-F238E27FC236}">
                  <a16:creationId xmlns:a16="http://schemas.microsoft.com/office/drawing/2014/main" id="{743B259E-6096-4A68-9F47-A321962254FC}"/>
                </a:ext>
              </a:extLst>
            </p:cNvPr>
            <p:cNvSpPr>
              <a:spLocks/>
            </p:cNvSpPr>
            <p:nvPr/>
          </p:nvSpPr>
          <p:spPr bwMode="gray">
            <a:xfrm>
              <a:off x="4842093" y="2211274"/>
              <a:ext cx="384781" cy="327687"/>
            </a:xfrm>
            <a:custGeom>
              <a:avLst/>
              <a:gdLst>
                <a:gd name="T0" fmla="*/ 290 w 567"/>
                <a:gd name="T1" fmla="*/ 469 h 511"/>
                <a:gd name="T2" fmla="*/ 333 w 567"/>
                <a:gd name="T3" fmla="*/ 394 h 511"/>
                <a:gd name="T4" fmla="*/ 372 w 567"/>
                <a:gd name="T5" fmla="*/ 375 h 511"/>
                <a:gd name="T6" fmla="*/ 396 w 567"/>
                <a:gd name="T7" fmla="*/ 383 h 511"/>
                <a:gd name="T8" fmla="*/ 417 w 567"/>
                <a:gd name="T9" fmla="*/ 378 h 511"/>
                <a:gd name="T10" fmla="*/ 434 w 567"/>
                <a:gd name="T11" fmla="*/ 343 h 511"/>
                <a:gd name="T12" fmla="*/ 458 w 567"/>
                <a:gd name="T13" fmla="*/ 291 h 511"/>
                <a:gd name="T14" fmla="*/ 484 w 567"/>
                <a:gd name="T15" fmla="*/ 239 h 511"/>
                <a:gd name="T16" fmla="*/ 504 w 567"/>
                <a:gd name="T17" fmla="*/ 200 h 511"/>
                <a:gd name="T18" fmla="*/ 513 w 567"/>
                <a:gd name="T19" fmla="*/ 177 h 511"/>
                <a:gd name="T20" fmla="*/ 533 w 567"/>
                <a:gd name="T21" fmla="*/ 141 h 511"/>
                <a:gd name="T22" fmla="*/ 559 w 567"/>
                <a:gd name="T23" fmla="*/ 111 h 511"/>
                <a:gd name="T24" fmla="*/ 540 w 567"/>
                <a:gd name="T25" fmla="*/ 84 h 511"/>
                <a:gd name="T26" fmla="*/ 517 w 567"/>
                <a:gd name="T27" fmla="*/ 8 h 511"/>
                <a:gd name="T28" fmla="*/ 499 w 567"/>
                <a:gd name="T29" fmla="*/ 22 h 511"/>
                <a:gd name="T30" fmla="*/ 458 w 567"/>
                <a:gd name="T31" fmla="*/ 40 h 511"/>
                <a:gd name="T32" fmla="*/ 382 w 567"/>
                <a:gd name="T33" fmla="*/ 25 h 511"/>
                <a:gd name="T34" fmla="*/ 293 w 567"/>
                <a:gd name="T35" fmla="*/ 55 h 511"/>
                <a:gd name="T36" fmla="*/ 205 w 567"/>
                <a:gd name="T37" fmla="*/ 47 h 511"/>
                <a:gd name="T38" fmla="*/ 174 w 567"/>
                <a:gd name="T39" fmla="*/ 12 h 511"/>
                <a:gd name="T40" fmla="*/ 135 w 567"/>
                <a:gd name="T41" fmla="*/ 1 h 511"/>
                <a:gd name="T42" fmla="*/ 88 w 567"/>
                <a:gd name="T43" fmla="*/ 7 h 511"/>
                <a:gd name="T44" fmla="*/ 68 w 567"/>
                <a:gd name="T45" fmla="*/ 50 h 511"/>
                <a:gd name="T46" fmla="*/ 48 w 567"/>
                <a:gd name="T47" fmla="*/ 110 h 511"/>
                <a:gd name="T48" fmla="*/ 54 w 567"/>
                <a:gd name="T49" fmla="*/ 155 h 511"/>
                <a:gd name="T50" fmla="*/ 57 w 567"/>
                <a:gd name="T51" fmla="*/ 174 h 511"/>
                <a:gd name="T52" fmla="*/ 42 w 567"/>
                <a:gd name="T53" fmla="*/ 211 h 511"/>
                <a:gd name="T54" fmla="*/ 21 w 567"/>
                <a:gd name="T55" fmla="*/ 256 h 511"/>
                <a:gd name="T56" fmla="*/ 3 w 567"/>
                <a:gd name="T57" fmla="*/ 285 h 511"/>
                <a:gd name="T58" fmla="*/ 3 w 567"/>
                <a:gd name="T59" fmla="*/ 326 h 511"/>
                <a:gd name="T60" fmla="*/ 0 w 567"/>
                <a:gd name="T61" fmla="*/ 402 h 511"/>
                <a:gd name="T62" fmla="*/ 44 w 567"/>
                <a:gd name="T63" fmla="*/ 394 h 511"/>
                <a:gd name="T64" fmla="*/ 96 w 567"/>
                <a:gd name="T65" fmla="*/ 413 h 511"/>
                <a:gd name="T66" fmla="*/ 127 w 567"/>
                <a:gd name="T67" fmla="*/ 440 h 511"/>
                <a:gd name="T68" fmla="*/ 133 w 567"/>
                <a:gd name="T69" fmla="*/ 453 h 511"/>
                <a:gd name="T70" fmla="*/ 157 w 567"/>
                <a:gd name="T71" fmla="*/ 510 h 511"/>
                <a:gd name="T72" fmla="*/ 194 w 567"/>
                <a:gd name="T73" fmla="*/ 491 h 511"/>
                <a:gd name="T74" fmla="*/ 228 w 567"/>
                <a:gd name="T75" fmla="*/ 496 h 511"/>
                <a:gd name="T76" fmla="*/ 265 w 567"/>
                <a:gd name="T77" fmla="*/ 504 h 511"/>
                <a:gd name="T78" fmla="*/ 282 w 567"/>
                <a:gd name="T79" fmla="*/ 487 h 5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67" h="511">
                  <a:moveTo>
                    <a:pt x="281" y="490"/>
                  </a:moveTo>
                  <a:cubicBezTo>
                    <a:pt x="281" y="490"/>
                    <a:pt x="288" y="475"/>
                    <a:pt x="290" y="469"/>
                  </a:cubicBezTo>
                  <a:cubicBezTo>
                    <a:pt x="292" y="463"/>
                    <a:pt x="290" y="431"/>
                    <a:pt x="290" y="431"/>
                  </a:cubicBezTo>
                  <a:cubicBezTo>
                    <a:pt x="333" y="394"/>
                    <a:pt x="333" y="394"/>
                    <a:pt x="333" y="394"/>
                  </a:cubicBezTo>
                  <a:cubicBezTo>
                    <a:pt x="333" y="394"/>
                    <a:pt x="343" y="374"/>
                    <a:pt x="349" y="369"/>
                  </a:cubicBezTo>
                  <a:cubicBezTo>
                    <a:pt x="355" y="364"/>
                    <a:pt x="363" y="377"/>
                    <a:pt x="372" y="375"/>
                  </a:cubicBezTo>
                  <a:cubicBezTo>
                    <a:pt x="381" y="373"/>
                    <a:pt x="368" y="359"/>
                    <a:pt x="375" y="359"/>
                  </a:cubicBezTo>
                  <a:cubicBezTo>
                    <a:pt x="382" y="359"/>
                    <a:pt x="396" y="383"/>
                    <a:pt x="396" y="383"/>
                  </a:cubicBezTo>
                  <a:cubicBezTo>
                    <a:pt x="396" y="383"/>
                    <a:pt x="393" y="399"/>
                    <a:pt x="405" y="399"/>
                  </a:cubicBezTo>
                  <a:cubicBezTo>
                    <a:pt x="417" y="399"/>
                    <a:pt x="417" y="378"/>
                    <a:pt x="417" y="378"/>
                  </a:cubicBezTo>
                  <a:cubicBezTo>
                    <a:pt x="417" y="378"/>
                    <a:pt x="428" y="369"/>
                    <a:pt x="433" y="363"/>
                  </a:cubicBezTo>
                  <a:cubicBezTo>
                    <a:pt x="438" y="357"/>
                    <a:pt x="434" y="343"/>
                    <a:pt x="434" y="343"/>
                  </a:cubicBezTo>
                  <a:cubicBezTo>
                    <a:pt x="450" y="323"/>
                    <a:pt x="450" y="323"/>
                    <a:pt x="450" y="323"/>
                  </a:cubicBezTo>
                  <a:cubicBezTo>
                    <a:pt x="458" y="291"/>
                    <a:pt x="458" y="291"/>
                    <a:pt x="458" y="291"/>
                  </a:cubicBezTo>
                  <a:cubicBezTo>
                    <a:pt x="458" y="291"/>
                    <a:pt x="477" y="284"/>
                    <a:pt x="482" y="274"/>
                  </a:cubicBezTo>
                  <a:cubicBezTo>
                    <a:pt x="487" y="264"/>
                    <a:pt x="482" y="246"/>
                    <a:pt x="484" y="239"/>
                  </a:cubicBezTo>
                  <a:cubicBezTo>
                    <a:pt x="486" y="232"/>
                    <a:pt x="496" y="239"/>
                    <a:pt x="501" y="230"/>
                  </a:cubicBezTo>
                  <a:cubicBezTo>
                    <a:pt x="506" y="221"/>
                    <a:pt x="504" y="200"/>
                    <a:pt x="504" y="200"/>
                  </a:cubicBezTo>
                  <a:cubicBezTo>
                    <a:pt x="511" y="196"/>
                    <a:pt x="511" y="196"/>
                    <a:pt x="511" y="196"/>
                  </a:cubicBezTo>
                  <a:cubicBezTo>
                    <a:pt x="513" y="177"/>
                    <a:pt x="513" y="177"/>
                    <a:pt x="513" y="177"/>
                  </a:cubicBezTo>
                  <a:cubicBezTo>
                    <a:pt x="513" y="177"/>
                    <a:pt x="523" y="164"/>
                    <a:pt x="524" y="161"/>
                  </a:cubicBezTo>
                  <a:cubicBezTo>
                    <a:pt x="525" y="158"/>
                    <a:pt x="533" y="141"/>
                    <a:pt x="533" y="141"/>
                  </a:cubicBezTo>
                  <a:cubicBezTo>
                    <a:pt x="533" y="141"/>
                    <a:pt x="547" y="138"/>
                    <a:pt x="557" y="129"/>
                  </a:cubicBezTo>
                  <a:cubicBezTo>
                    <a:pt x="567" y="120"/>
                    <a:pt x="559" y="111"/>
                    <a:pt x="559" y="111"/>
                  </a:cubicBezTo>
                  <a:cubicBezTo>
                    <a:pt x="559" y="111"/>
                    <a:pt x="563" y="98"/>
                    <a:pt x="562" y="87"/>
                  </a:cubicBezTo>
                  <a:cubicBezTo>
                    <a:pt x="561" y="76"/>
                    <a:pt x="542" y="87"/>
                    <a:pt x="540" y="84"/>
                  </a:cubicBezTo>
                  <a:cubicBezTo>
                    <a:pt x="538" y="81"/>
                    <a:pt x="536" y="40"/>
                    <a:pt x="536" y="40"/>
                  </a:cubicBezTo>
                  <a:cubicBezTo>
                    <a:pt x="517" y="8"/>
                    <a:pt x="517" y="8"/>
                    <a:pt x="517" y="8"/>
                  </a:cubicBezTo>
                  <a:cubicBezTo>
                    <a:pt x="517" y="8"/>
                    <a:pt x="511" y="8"/>
                    <a:pt x="507" y="8"/>
                  </a:cubicBezTo>
                  <a:cubicBezTo>
                    <a:pt x="503" y="8"/>
                    <a:pt x="499" y="22"/>
                    <a:pt x="499" y="22"/>
                  </a:cubicBezTo>
                  <a:cubicBezTo>
                    <a:pt x="499" y="22"/>
                    <a:pt x="490" y="19"/>
                    <a:pt x="483" y="23"/>
                  </a:cubicBezTo>
                  <a:cubicBezTo>
                    <a:pt x="476" y="27"/>
                    <a:pt x="458" y="40"/>
                    <a:pt x="458" y="40"/>
                  </a:cubicBezTo>
                  <a:cubicBezTo>
                    <a:pt x="440" y="39"/>
                    <a:pt x="440" y="39"/>
                    <a:pt x="440" y="39"/>
                  </a:cubicBezTo>
                  <a:cubicBezTo>
                    <a:pt x="440" y="39"/>
                    <a:pt x="424" y="25"/>
                    <a:pt x="382" y="25"/>
                  </a:cubicBezTo>
                  <a:cubicBezTo>
                    <a:pt x="340" y="25"/>
                    <a:pt x="328" y="60"/>
                    <a:pt x="328" y="60"/>
                  </a:cubicBezTo>
                  <a:cubicBezTo>
                    <a:pt x="328" y="60"/>
                    <a:pt x="312" y="56"/>
                    <a:pt x="293" y="55"/>
                  </a:cubicBezTo>
                  <a:cubicBezTo>
                    <a:pt x="274" y="54"/>
                    <a:pt x="262" y="26"/>
                    <a:pt x="250" y="26"/>
                  </a:cubicBezTo>
                  <a:cubicBezTo>
                    <a:pt x="238" y="26"/>
                    <a:pt x="214" y="46"/>
                    <a:pt x="205" y="47"/>
                  </a:cubicBezTo>
                  <a:cubicBezTo>
                    <a:pt x="196" y="48"/>
                    <a:pt x="191" y="26"/>
                    <a:pt x="191" y="26"/>
                  </a:cubicBezTo>
                  <a:cubicBezTo>
                    <a:pt x="174" y="12"/>
                    <a:pt x="174" y="12"/>
                    <a:pt x="174" y="12"/>
                  </a:cubicBezTo>
                  <a:cubicBezTo>
                    <a:pt x="174" y="12"/>
                    <a:pt x="162" y="12"/>
                    <a:pt x="155" y="11"/>
                  </a:cubicBezTo>
                  <a:cubicBezTo>
                    <a:pt x="148" y="10"/>
                    <a:pt x="149" y="0"/>
                    <a:pt x="135" y="1"/>
                  </a:cubicBezTo>
                  <a:cubicBezTo>
                    <a:pt x="121" y="2"/>
                    <a:pt x="122" y="8"/>
                    <a:pt x="122" y="8"/>
                  </a:cubicBezTo>
                  <a:cubicBezTo>
                    <a:pt x="88" y="7"/>
                    <a:pt x="88" y="7"/>
                    <a:pt x="88" y="7"/>
                  </a:cubicBezTo>
                  <a:cubicBezTo>
                    <a:pt x="69" y="24"/>
                    <a:pt x="69" y="24"/>
                    <a:pt x="69" y="24"/>
                  </a:cubicBezTo>
                  <a:cubicBezTo>
                    <a:pt x="69" y="24"/>
                    <a:pt x="69" y="35"/>
                    <a:pt x="68" y="50"/>
                  </a:cubicBezTo>
                  <a:cubicBezTo>
                    <a:pt x="67" y="65"/>
                    <a:pt x="45" y="76"/>
                    <a:pt x="45" y="76"/>
                  </a:cubicBezTo>
                  <a:cubicBezTo>
                    <a:pt x="48" y="110"/>
                    <a:pt x="48" y="110"/>
                    <a:pt x="48" y="110"/>
                  </a:cubicBezTo>
                  <a:cubicBezTo>
                    <a:pt x="48" y="110"/>
                    <a:pt x="41" y="123"/>
                    <a:pt x="40" y="130"/>
                  </a:cubicBezTo>
                  <a:cubicBezTo>
                    <a:pt x="39" y="137"/>
                    <a:pt x="54" y="149"/>
                    <a:pt x="54" y="155"/>
                  </a:cubicBezTo>
                  <a:cubicBezTo>
                    <a:pt x="54" y="161"/>
                    <a:pt x="53" y="164"/>
                    <a:pt x="53" y="164"/>
                  </a:cubicBezTo>
                  <a:cubicBezTo>
                    <a:pt x="53" y="164"/>
                    <a:pt x="59" y="167"/>
                    <a:pt x="57" y="174"/>
                  </a:cubicBezTo>
                  <a:cubicBezTo>
                    <a:pt x="55" y="181"/>
                    <a:pt x="44" y="184"/>
                    <a:pt x="44" y="184"/>
                  </a:cubicBezTo>
                  <a:cubicBezTo>
                    <a:pt x="42" y="211"/>
                    <a:pt x="42" y="211"/>
                    <a:pt x="42" y="211"/>
                  </a:cubicBezTo>
                  <a:cubicBezTo>
                    <a:pt x="42" y="211"/>
                    <a:pt x="30" y="220"/>
                    <a:pt x="27" y="227"/>
                  </a:cubicBezTo>
                  <a:cubicBezTo>
                    <a:pt x="24" y="234"/>
                    <a:pt x="29" y="246"/>
                    <a:pt x="21" y="256"/>
                  </a:cubicBezTo>
                  <a:cubicBezTo>
                    <a:pt x="13" y="266"/>
                    <a:pt x="5" y="262"/>
                    <a:pt x="5" y="262"/>
                  </a:cubicBezTo>
                  <a:cubicBezTo>
                    <a:pt x="3" y="285"/>
                    <a:pt x="3" y="285"/>
                    <a:pt x="3" y="285"/>
                  </a:cubicBezTo>
                  <a:cubicBezTo>
                    <a:pt x="6" y="307"/>
                    <a:pt x="6" y="307"/>
                    <a:pt x="6" y="307"/>
                  </a:cubicBezTo>
                  <a:cubicBezTo>
                    <a:pt x="3" y="326"/>
                    <a:pt x="3" y="326"/>
                    <a:pt x="3" y="326"/>
                  </a:cubicBezTo>
                  <a:cubicBezTo>
                    <a:pt x="4" y="385"/>
                    <a:pt x="4" y="385"/>
                    <a:pt x="4" y="385"/>
                  </a:cubicBezTo>
                  <a:cubicBezTo>
                    <a:pt x="0" y="402"/>
                    <a:pt x="0" y="402"/>
                    <a:pt x="0" y="402"/>
                  </a:cubicBezTo>
                  <a:cubicBezTo>
                    <a:pt x="7" y="405"/>
                    <a:pt x="17" y="408"/>
                    <a:pt x="23" y="406"/>
                  </a:cubicBezTo>
                  <a:cubicBezTo>
                    <a:pt x="34" y="402"/>
                    <a:pt x="44" y="394"/>
                    <a:pt x="44" y="394"/>
                  </a:cubicBezTo>
                  <a:cubicBezTo>
                    <a:pt x="47" y="401"/>
                    <a:pt x="47" y="401"/>
                    <a:pt x="47" y="401"/>
                  </a:cubicBezTo>
                  <a:cubicBezTo>
                    <a:pt x="47" y="401"/>
                    <a:pt x="80" y="394"/>
                    <a:pt x="96" y="413"/>
                  </a:cubicBezTo>
                  <a:cubicBezTo>
                    <a:pt x="112" y="432"/>
                    <a:pt x="113" y="441"/>
                    <a:pt x="113" y="441"/>
                  </a:cubicBezTo>
                  <a:cubicBezTo>
                    <a:pt x="127" y="440"/>
                    <a:pt x="127" y="440"/>
                    <a:pt x="127" y="440"/>
                  </a:cubicBezTo>
                  <a:cubicBezTo>
                    <a:pt x="127" y="440"/>
                    <a:pt x="117" y="455"/>
                    <a:pt x="120" y="456"/>
                  </a:cubicBezTo>
                  <a:cubicBezTo>
                    <a:pt x="123" y="457"/>
                    <a:pt x="133" y="450"/>
                    <a:pt x="133" y="453"/>
                  </a:cubicBezTo>
                  <a:cubicBezTo>
                    <a:pt x="133" y="456"/>
                    <a:pt x="128" y="464"/>
                    <a:pt x="128" y="472"/>
                  </a:cubicBezTo>
                  <a:cubicBezTo>
                    <a:pt x="128" y="480"/>
                    <a:pt x="136" y="509"/>
                    <a:pt x="157" y="510"/>
                  </a:cubicBezTo>
                  <a:cubicBezTo>
                    <a:pt x="178" y="511"/>
                    <a:pt x="191" y="509"/>
                    <a:pt x="191" y="509"/>
                  </a:cubicBezTo>
                  <a:cubicBezTo>
                    <a:pt x="194" y="491"/>
                    <a:pt x="194" y="491"/>
                    <a:pt x="194" y="491"/>
                  </a:cubicBezTo>
                  <a:cubicBezTo>
                    <a:pt x="212" y="501"/>
                    <a:pt x="212" y="501"/>
                    <a:pt x="212" y="501"/>
                  </a:cubicBezTo>
                  <a:cubicBezTo>
                    <a:pt x="228" y="496"/>
                    <a:pt x="228" y="496"/>
                    <a:pt x="228" y="496"/>
                  </a:cubicBezTo>
                  <a:cubicBezTo>
                    <a:pt x="237" y="505"/>
                    <a:pt x="237" y="505"/>
                    <a:pt x="237" y="505"/>
                  </a:cubicBezTo>
                  <a:cubicBezTo>
                    <a:pt x="265" y="504"/>
                    <a:pt x="265" y="504"/>
                    <a:pt x="265" y="504"/>
                  </a:cubicBezTo>
                  <a:cubicBezTo>
                    <a:pt x="265" y="488"/>
                    <a:pt x="265" y="488"/>
                    <a:pt x="265" y="488"/>
                  </a:cubicBezTo>
                  <a:cubicBezTo>
                    <a:pt x="282" y="487"/>
                    <a:pt x="282" y="487"/>
                    <a:pt x="282" y="487"/>
                  </a:cubicBezTo>
                  <a:cubicBezTo>
                    <a:pt x="281" y="490"/>
                    <a:pt x="281" y="490"/>
                    <a:pt x="281" y="490"/>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507" name="Freeform 299">
              <a:extLst>
                <a:ext uri="{FF2B5EF4-FFF2-40B4-BE49-F238E27FC236}">
                  <a16:creationId xmlns:a16="http://schemas.microsoft.com/office/drawing/2014/main" id="{267F7905-D056-4745-A4D9-B4DA85079EF2}"/>
                </a:ext>
              </a:extLst>
            </p:cNvPr>
            <p:cNvSpPr>
              <a:spLocks/>
            </p:cNvSpPr>
            <p:nvPr/>
          </p:nvSpPr>
          <p:spPr bwMode="gray">
            <a:xfrm>
              <a:off x="5186097" y="1878971"/>
              <a:ext cx="336539" cy="555466"/>
            </a:xfrm>
            <a:custGeom>
              <a:avLst/>
              <a:gdLst>
                <a:gd name="T0" fmla="*/ 496 w 496"/>
                <a:gd name="T1" fmla="*/ 420 h 866"/>
                <a:gd name="T2" fmla="*/ 119 w 496"/>
                <a:gd name="T3" fmla="*/ 0 h 866"/>
                <a:gd name="T4" fmla="*/ 83 w 496"/>
                <a:gd name="T5" fmla="*/ 72 h 866"/>
                <a:gd name="T6" fmla="*/ 95 w 496"/>
                <a:gd name="T7" fmla="*/ 129 h 866"/>
                <a:gd name="T8" fmla="*/ 120 w 496"/>
                <a:gd name="T9" fmla="*/ 169 h 866"/>
                <a:gd name="T10" fmla="*/ 96 w 496"/>
                <a:gd name="T11" fmla="*/ 356 h 866"/>
                <a:gd name="T12" fmla="*/ 13 w 496"/>
                <a:gd name="T13" fmla="*/ 479 h 866"/>
                <a:gd name="T14" fmla="*/ 3 w 496"/>
                <a:gd name="T15" fmla="*/ 526 h 866"/>
                <a:gd name="T16" fmla="*/ 29 w 496"/>
                <a:gd name="T17" fmla="*/ 558 h 866"/>
                <a:gd name="T18" fmla="*/ 29 w 496"/>
                <a:gd name="T19" fmla="*/ 561 h 866"/>
                <a:gd name="T20" fmla="*/ 50 w 496"/>
                <a:gd name="T21" fmla="*/ 576 h 866"/>
                <a:gd name="T22" fmla="*/ 66 w 496"/>
                <a:gd name="T23" fmla="*/ 611 h 866"/>
                <a:gd name="T24" fmla="*/ 74 w 496"/>
                <a:gd name="T25" fmla="*/ 650 h 866"/>
                <a:gd name="T26" fmla="*/ 106 w 496"/>
                <a:gd name="T27" fmla="*/ 724 h 866"/>
                <a:gd name="T28" fmla="*/ 31 w 496"/>
                <a:gd name="T29" fmla="*/ 733 h 866"/>
                <a:gd name="T30" fmla="*/ 87 w 496"/>
                <a:gd name="T31" fmla="*/ 802 h 866"/>
                <a:gd name="T32" fmla="*/ 123 w 496"/>
                <a:gd name="T33" fmla="*/ 860 h 866"/>
                <a:gd name="T34" fmla="*/ 165 w 496"/>
                <a:gd name="T35" fmla="*/ 858 h 866"/>
                <a:gd name="T36" fmla="*/ 248 w 496"/>
                <a:gd name="T37" fmla="*/ 833 h 866"/>
                <a:gd name="T38" fmla="*/ 253 w 496"/>
                <a:gd name="T39" fmla="*/ 788 h 866"/>
                <a:gd name="T40" fmla="*/ 338 w 496"/>
                <a:gd name="T41" fmla="*/ 765 h 866"/>
                <a:gd name="T42" fmla="*/ 378 w 496"/>
                <a:gd name="T43" fmla="*/ 723 h 866"/>
                <a:gd name="T44" fmla="*/ 393 w 496"/>
                <a:gd name="T45" fmla="*/ 691 h 866"/>
                <a:gd name="T46" fmla="*/ 446 w 496"/>
                <a:gd name="T47" fmla="*/ 674 h 866"/>
                <a:gd name="T48" fmla="*/ 451 w 496"/>
                <a:gd name="T49" fmla="*/ 656 h 866"/>
                <a:gd name="T50" fmla="*/ 426 w 496"/>
                <a:gd name="T51" fmla="*/ 625 h 866"/>
                <a:gd name="T52" fmla="*/ 428 w 496"/>
                <a:gd name="T53" fmla="*/ 612 h 866"/>
                <a:gd name="T54" fmla="*/ 406 w 496"/>
                <a:gd name="T55" fmla="*/ 587 h 866"/>
                <a:gd name="T56" fmla="*/ 417 w 496"/>
                <a:gd name="T57" fmla="*/ 549 h 866"/>
                <a:gd name="T58" fmla="*/ 419 w 496"/>
                <a:gd name="T59" fmla="*/ 508 h 866"/>
                <a:gd name="T60" fmla="*/ 425 w 496"/>
                <a:gd name="T61" fmla="*/ 490 h 866"/>
                <a:gd name="T62" fmla="*/ 432 w 496"/>
                <a:gd name="T63" fmla="*/ 474 h 866"/>
                <a:gd name="T64" fmla="*/ 449 w 496"/>
                <a:gd name="T65" fmla="*/ 442 h 8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96" h="866">
                  <a:moveTo>
                    <a:pt x="451" y="419"/>
                  </a:moveTo>
                  <a:cubicBezTo>
                    <a:pt x="464" y="415"/>
                    <a:pt x="496" y="420"/>
                    <a:pt x="496" y="420"/>
                  </a:cubicBezTo>
                  <a:cubicBezTo>
                    <a:pt x="492" y="216"/>
                    <a:pt x="492" y="216"/>
                    <a:pt x="492" y="216"/>
                  </a:cubicBezTo>
                  <a:cubicBezTo>
                    <a:pt x="119" y="0"/>
                    <a:pt x="119" y="0"/>
                    <a:pt x="119" y="0"/>
                  </a:cubicBezTo>
                  <a:cubicBezTo>
                    <a:pt x="119" y="0"/>
                    <a:pt x="94" y="15"/>
                    <a:pt x="71" y="28"/>
                  </a:cubicBezTo>
                  <a:cubicBezTo>
                    <a:pt x="83" y="72"/>
                    <a:pt x="83" y="72"/>
                    <a:pt x="83" y="72"/>
                  </a:cubicBezTo>
                  <a:cubicBezTo>
                    <a:pt x="76" y="105"/>
                    <a:pt x="76" y="105"/>
                    <a:pt x="76" y="105"/>
                  </a:cubicBezTo>
                  <a:cubicBezTo>
                    <a:pt x="95" y="129"/>
                    <a:pt x="95" y="129"/>
                    <a:pt x="95" y="129"/>
                  </a:cubicBezTo>
                  <a:cubicBezTo>
                    <a:pt x="100" y="145"/>
                    <a:pt x="100" y="145"/>
                    <a:pt x="100" y="145"/>
                  </a:cubicBezTo>
                  <a:cubicBezTo>
                    <a:pt x="120" y="169"/>
                    <a:pt x="120" y="169"/>
                    <a:pt x="120" y="169"/>
                  </a:cubicBezTo>
                  <a:cubicBezTo>
                    <a:pt x="106" y="194"/>
                    <a:pt x="106" y="194"/>
                    <a:pt x="106" y="194"/>
                  </a:cubicBezTo>
                  <a:cubicBezTo>
                    <a:pt x="96" y="356"/>
                    <a:pt x="96" y="356"/>
                    <a:pt x="96" y="356"/>
                  </a:cubicBezTo>
                  <a:cubicBezTo>
                    <a:pt x="96" y="356"/>
                    <a:pt x="46" y="409"/>
                    <a:pt x="35" y="426"/>
                  </a:cubicBezTo>
                  <a:cubicBezTo>
                    <a:pt x="23" y="442"/>
                    <a:pt x="13" y="479"/>
                    <a:pt x="13" y="479"/>
                  </a:cubicBezTo>
                  <a:cubicBezTo>
                    <a:pt x="0" y="484"/>
                    <a:pt x="0" y="484"/>
                    <a:pt x="0" y="484"/>
                  </a:cubicBezTo>
                  <a:cubicBezTo>
                    <a:pt x="3" y="526"/>
                    <a:pt x="3" y="526"/>
                    <a:pt x="3" y="526"/>
                  </a:cubicBezTo>
                  <a:cubicBezTo>
                    <a:pt x="7" y="526"/>
                    <a:pt x="10" y="526"/>
                    <a:pt x="10" y="526"/>
                  </a:cubicBezTo>
                  <a:cubicBezTo>
                    <a:pt x="29" y="558"/>
                    <a:pt x="29" y="558"/>
                    <a:pt x="29" y="558"/>
                  </a:cubicBezTo>
                  <a:cubicBezTo>
                    <a:pt x="29" y="558"/>
                    <a:pt x="29" y="560"/>
                    <a:pt x="29" y="563"/>
                  </a:cubicBezTo>
                  <a:cubicBezTo>
                    <a:pt x="29" y="562"/>
                    <a:pt x="29" y="561"/>
                    <a:pt x="29" y="561"/>
                  </a:cubicBezTo>
                  <a:cubicBezTo>
                    <a:pt x="45" y="559"/>
                    <a:pt x="45" y="559"/>
                    <a:pt x="45" y="559"/>
                  </a:cubicBezTo>
                  <a:cubicBezTo>
                    <a:pt x="45" y="559"/>
                    <a:pt x="46" y="571"/>
                    <a:pt x="50" y="576"/>
                  </a:cubicBezTo>
                  <a:cubicBezTo>
                    <a:pt x="54" y="581"/>
                    <a:pt x="70" y="584"/>
                    <a:pt x="70" y="584"/>
                  </a:cubicBezTo>
                  <a:cubicBezTo>
                    <a:pt x="66" y="611"/>
                    <a:pt x="66" y="611"/>
                    <a:pt x="66" y="611"/>
                  </a:cubicBezTo>
                  <a:cubicBezTo>
                    <a:pt x="66" y="611"/>
                    <a:pt x="80" y="618"/>
                    <a:pt x="80" y="629"/>
                  </a:cubicBezTo>
                  <a:cubicBezTo>
                    <a:pt x="80" y="640"/>
                    <a:pt x="74" y="650"/>
                    <a:pt x="74" y="650"/>
                  </a:cubicBezTo>
                  <a:cubicBezTo>
                    <a:pt x="74" y="650"/>
                    <a:pt x="75" y="678"/>
                    <a:pt x="80" y="692"/>
                  </a:cubicBezTo>
                  <a:cubicBezTo>
                    <a:pt x="85" y="706"/>
                    <a:pt x="106" y="724"/>
                    <a:pt x="106" y="724"/>
                  </a:cubicBezTo>
                  <a:cubicBezTo>
                    <a:pt x="106" y="724"/>
                    <a:pt x="92" y="725"/>
                    <a:pt x="84" y="726"/>
                  </a:cubicBezTo>
                  <a:cubicBezTo>
                    <a:pt x="76" y="727"/>
                    <a:pt x="36" y="720"/>
                    <a:pt x="31" y="733"/>
                  </a:cubicBezTo>
                  <a:cubicBezTo>
                    <a:pt x="26" y="746"/>
                    <a:pt x="41" y="767"/>
                    <a:pt x="49" y="775"/>
                  </a:cubicBezTo>
                  <a:cubicBezTo>
                    <a:pt x="57" y="783"/>
                    <a:pt x="78" y="792"/>
                    <a:pt x="87" y="802"/>
                  </a:cubicBezTo>
                  <a:cubicBezTo>
                    <a:pt x="96" y="812"/>
                    <a:pt x="101" y="859"/>
                    <a:pt x="101" y="859"/>
                  </a:cubicBezTo>
                  <a:cubicBezTo>
                    <a:pt x="101" y="859"/>
                    <a:pt x="113" y="866"/>
                    <a:pt x="123" y="860"/>
                  </a:cubicBezTo>
                  <a:cubicBezTo>
                    <a:pt x="133" y="853"/>
                    <a:pt x="153" y="838"/>
                    <a:pt x="153" y="838"/>
                  </a:cubicBezTo>
                  <a:cubicBezTo>
                    <a:pt x="153" y="838"/>
                    <a:pt x="146" y="863"/>
                    <a:pt x="165" y="858"/>
                  </a:cubicBezTo>
                  <a:cubicBezTo>
                    <a:pt x="183" y="853"/>
                    <a:pt x="178" y="833"/>
                    <a:pt x="196" y="833"/>
                  </a:cubicBezTo>
                  <a:cubicBezTo>
                    <a:pt x="215" y="833"/>
                    <a:pt x="248" y="833"/>
                    <a:pt x="248" y="833"/>
                  </a:cubicBezTo>
                  <a:cubicBezTo>
                    <a:pt x="248" y="833"/>
                    <a:pt x="263" y="811"/>
                    <a:pt x="268" y="805"/>
                  </a:cubicBezTo>
                  <a:cubicBezTo>
                    <a:pt x="273" y="798"/>
                    <a:pt x="253" y="788"/>
                    <a:pt x="253" y="788"/>
                  </a:cubicBezTo>
                  <a:cubicBezTo>
                    <a:pt x="267" y="780"/>
                    <a:pt x="267" y="780"/>
                    <a:pt x="267" y="780"/>
                  </a:cubicBezTo>
                  <a:cubicBezTo>
                    <a:pt x="267" y="780"/>
                    <a:pt x="307" y="780"/>
                    <a:pt x="338" y="765"/>
                  </a:cubicBezTo>
                  <a:cubicBezTo>
                    <a:pt x="370" y="750"/>
                    <a:pt x="365" y="728"/>
                    <a:pt x="365" y="728"/>
                  </a:cubicBezTo>
                  <a:cubicBezTo>
                    <a:pt x="378" y="723"/>
                    <a:pt x="378" y="723"/>
                    <a:pt x="378" y="723"/>
                  </a:cubicBezTo>
                  <a:cubicBezTo>
                    <a:pt x="390" y="711"/>
                    <a:pt x="390" y="711"/>
                    <a:pt x="390" y="711"/>
                  </a:cubicBezTo>
                  <a:cubicBezTo>
                    <a:pt x="393" y="691"/>
                    <a:pt x="393" y="691"/>
                    <a:pt x="393" y="691"/>
                  </a:cubicBezTo>
                  <a:cubicBezTo>
                    <a:pt x="430" y="673"/>
                    <a:pt x="430" y="673"/>
                    <a:pt x="430" y="673"/>
                  </a:cubicBezTo>
                  <a:cubicBezTo>
                    <a:pt x="446" y="674"/>
                    <a:pt x="446" y="674"/>
                    <a:pt x="446" y="674"/>
                  </a:cubicBezTo>
                  <a:cubicBezTo>
                    <a:pt x="445" y="665"/>
                    <a:pt x="445" y="665"/>
                    <a:pt x="445" y="665"/>
                  </a:cubicBezTo>
                  <a:cubicBezTo>
                    <a:pt x="445" y="665"/>
                    <a:pt x="463" y="669"/>
                    <a:pt x="451" y="656"/>
                  </a:cubicBezTo>
                  <a:cubicBezTo>
                    <a:pt x="439" y="643"/>
                    <a:pt x="430" y="642"/>
                    <a:pt x="430" y="642"/>
                  </a:cubicBezTo>
                  <a:cubicBezTo>
                    <a:pt x="426" y="625"/>
                    <a:pt x="426" y="625"/>
                    <a:pt x="426" y="625"/>
                  </a:cubicBezTo>
                  <a:cubicBezTo>
                    <a:pt x="437" y="620"/>
                    <a:pt x="437" y="620"/>
                    <a:pt x="437" y="620"/>
                  </a:cubicBezTo>
                  <a:cubicBezTo>
                    <a:pt x="428" y="612"/>
                    <a:pt x="428" y="612"/>
                    <a:pt x="428" y="612"/>
                  </a:cubicBezTo>
                  <a:cubicBezTo>
                    <a:pt x="428" y="612"/>
                    <a:pt x="430" y="585"/>
                    <a:pt x="423" y="582"/>
                  </a:cubicBezTo>
                  <a:cubicBezTo>
                    <a:pt x="416" y="579"/>
                    <a:pt x="411" y="589"/>
                    <a:pt x="406" y="587"/>
                  </a:cubicBezTo>
                  <a:cubicBezTo>
                    <a:pt x="401" y="585"/>
                    <a:pt x="395" y="580"/>
                    <a:pt x="398" y="569"/>
                  </a:cubicBezTo>
                  <a:cubicBezTo>
                    <a:pt x="401" y="558"/>
                    <a:pt x="415" y="558"/>
                    <a:pt x="417" y="549"/>
                  </a:cubicBezTo>
                  <a:cubicBezTo>
                    <a:pt x="419" y="540"/>
                    <a:pt x="416" y="536"/>
                    <a:pt x="410" y="526"/>
                  </a:cubicBezTo>
                  <a:cubicBezTo>
                    <a:pt x="404" y="516"/>
                    <a:pt x="419" y="508"/>
                    <a:pt x="419" y="508"/>
                  </a:cubicBezTo>
                  <a:cubicBezTo>
                    <a:pt x="430" y="501"/>
                    <a:pt x="430" y="501"/>
                    <a:pt x="430" y="501"/>
                  </a:cubicBezTo>
                  <a:cubicBezTo>
                    <a:pt x="425" y="490"/>
                    <a:pt x="425" y="490"/>
                    <a:pt x="425" y="490"/>
                  </a:cubicBezTo>
                  <a:cubicBezTo>
                    <a:pt x="422" y="474"/>
                    <a:pt x="422" y="474"/>
                    <a:pt x="422" y="474"/>
                  </a:cubicBezTo>
                  <a:cubicBezTo>
                    <a:pt x="432" y="474"/>
                    <a:pt x="432" y="474"/>
                    <a:pt x="432" y="474"/>
                  </a:cubicBezTo>
                  <a:cubicBezTo>
                    <a:pt x="432" y="474"/>
                    <a:pt x="430" y="462"/>
                    <a:pt x="436" y="456"/>
                  </a:cubicBezTo>
                  <a:cubicBezTo>
                    <a:pt x="442" y="450"/>
                    <a:pt x="451" y="450"/>
                    <a:pt x="449" y="442"/>
                  </a:cubicBezTo>
                  <a:cubicBezTo>
                    <a:pt x="447" y="434"/>
                    <a:pt x="438" y="423"/>
                    <a:pt x="451" y="419"/>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508" name="Freeform 300">
              <a:extLst>
                <a:ext uri="{FF2B5EF4-FFF2-40B4-BE49-F238E27FC236}">
                  <a16:creationId xmlns:a16="http://schemas.microsoft.com/office/drawing/2014/main" id="{E163D6B9-DD00-4505-BB5C-284D24CF7B84}"/>
                </a:ext>
              </a:extLst>
            </p:cNvPr>
            <p:cNvSpPr>
              <a:spLocks/>
            </p:cNvSpPr>
            <p:nvPr/>
          </p:nvSpPr>
          <p:spPr bwMode="gray">
            <a:xfrm>
              <a:off x="4365998" y="1826574"/>
              <a:ext cx="527781" cy="512842"/>
            </a:xfrm>
            <a:custGeom>
              <a:avLst/>
              <a:gdLst>
                <a:gd name="T0" fmla="*/ 424 w 778"/>
                <a:gd name="T1" fmla="*/ 631 h 800"/>
                <a:gd name="T2" fmla="*/ 437 w 778"/>
                <a:gd name="T3" fmla="*/ 607 h 800"/>
                <a:gd name="T4" fmla="*/ 481 w 778"/>
                <a:gd name="T5" fmla="*/ 585 h 800"/>
                <a:gd name="T6" fmla="*/ 502 w 778"/>
                <a:gd name="T7" fmla="*/ 563 h 800"/>
                <a:gd name="T8" fmla="*/ 527 w 778"/>
                <a:gd name="T9" fmla="*/ 547 h 800"/>
                <a:gd name="T10" fmla="*/ 572 w 778"/>
                <a:gd name="T11" fmla="*/ 537 h 800"/>
                <a:gd name="T12" fmla="*/ 620 w 778"/>
                <a:gd name="T13" fmla="*/ 537 h 800"/>
                <a:gd name="T14" fmla="*/ 680 w 778"/>
                <a:gd name="T15" fmla="*/ 526 h 800"/>
                <a:gd name="T16" fmla="*/ 712 w 778"/>
                <a:gd name="T17" fmla="*/ 519 h 800"/>
                <a:gd name="T18" fmla="*/ 748 w 778"/>
                <a:gd name="T19" fmla="*/ 509 h 800"/>
                <a:gd name="T20" fmla="*/ 778 w 778"/>
                <a:gd name="T21" fmla="*/ 454 h 800"/>
                <a:gd name="T22" fmla="*/ 766 w 778"/>
                <a:gd name="T23" fmla="*/ 320 h 800"/>
                <a:gd name="T24" fmla="*/ 738 w 778"/>
                <a:gd name="T25" fmla="*/ 300 h 800"/>
                <a:gd name="T26" fmla="*/ 694 w 778"/>
                <a:gd name="T27" fmla="*/ 270 h 800"/>
                <a:gd name="T28" fmla="*/ 666 w 778"/>
                <a:gd name="T29" fmla="*/ 251 h 800"/>
                <a:gd name="T30" fmla="*/ 637 w 778"/>
                <a:gd name="T31" fmla="*/ 229 h 800"/>
                <a:gd name="T32" fmla="*/ 364 w 778"/>
                <a:gd name="T33" fmla="*/ 3 h 800"/>
                <a:gd name="T34" fmla="*/ 314 w 778"/>
                <a:gd name="T35" fmla="*/ 459 h 800"/>
                <a:gd name="T36" fmla="*/ 323 w 778"/>
                <a:gd name="T37" fmla="*/ 483 h 800"/>
                <a:gd name="T38" fmla="*/ 141 w 778"/>
                <a:gd name="T39" fmla="*/ 513 h 800"/>
                <a:gd name="T40" fmla="*/ 127 w 778"/>
                <a:gd name="T41" fmla="*/ 517 h 800"/>
                <a:gd name="T42" fmla="*/ 96 w 778"/>
                <a:gd name="T43" fmla="*/ 515 h 800"/>
                <a:gd name="T44" fmla="*/ 64 w 778"/>
                <a:gd name="T45" fmla="*/ 532 h 800"/>
                <a:gd name="T46" fmla="*/ 24 w 778"/>
                <a:gd name="T47" fmla="*/ 535 h 800"/>
                <a:gd name="T48" fmla="*/ 0 w 778"/>
                <a:gd name="T49" fmla="*/ 550 h 800"/>
                <a:gd name="T50" fmla="*/ 9 w 778"/>
                <a:gd name="T51" fmla="*/ 578 h 800"/>
                <a:gd name="T52" fmla="*/ 14 w 778"/>
                <a:gd name="T53" fmla="*/ 623 h 800"/>
                <a:gd name="T54" fmla="*/ 37 w 778"/>
                <a:gd name="T55" fmla="*/ 644 h 800"/>
                <a:gd name="T56" fmla="*/ 44 w 778"/>
                <a:gd name="T57" fmla="*/ 703 h 800"/>
                <a:gd name="T58" fmla="*/ 73 w 778"/>
                <a:gd name="T59" fmla="*/ 706 h 800"/>
                <a:gd name="T60" fmla="*/ 119 w 778"/>
                <a:gd name="T61" fmla="*/ 698 h 800"/>
                <a:gd name="T62" fmla="*/ 145 w 778"/>
                <a:gd name="T63" fmla="*/ 673 h 800"/>
                <a:gd name="T64" fmla="*/ 163 w 778"/>
                <a:gd name="T65" fmla="*/ 697 h 800"/>
                <a:gd name="T66" fmla="*/ 180 w 778"/>
                <a:gd name="T67" fmla="*/ 730 h 800"/>
                <a:gd name="T68" fmla="*/ 182 w 778"/>
                <a:gd name="T69" fmla="*/ 752 h 800"/>
                <a:gd name="T70" fmla="*/ 201 w 778"/>
                <a:gd name="T71" fmla="*/ 796 h 800"/>
                <a:gd name="T72" fmla="*/ 220 w 778"/>
                <a:gd name="T73" fmla="*/ 784 h 800"/>
                <a:gd name="T74" fmla="*/ 250 w 778"/>
                <a:gd name="T75" fmla="*/ 788 h 800"/>
                <a:gd name="T76" fmla="*/ 264 w 778"/>
                <a:gd name="T77" fmla="*/ 770 h 800"/>
                <a:gd name="T78" fmla="*/ 281 w 778"/>
                <a:gd name="T79" fmla="*/ 769 h 800"/>
                <a:gd name="T80" fmla="*/ 296 w 778"/>
                <a:gd name="T81" fmla="*/ 795 h 800"/>
                <a:gd name="T82" fmla="*/ 312 w 778"/>
                <a:gd name="T83" fmla="*/ 744 h 800"/>
                <a:gd name="T84" fmla="*/ 335 w 778"/>
                <a:gd name="T85" fmla="*/ 729 h 800"/>
                <a:gd name="T86" fmla="*/ 333 w 778"/>
                <a:gd name="T87" fmla="*/ 700 h 800"/>
                <a:gd name="T88" fmla="*/ 359 w 778"/>
                <a:gd name="T89" fmla="*/ 685 h 800"/>
                <a:gd name="T90" fmla="*/ 367 w 778"/>
                <a:gd name="T91" fmla="*/ 659 h 800"/>
                <a:gd name="T92" fmla="*/ 375 w 778"/>
                <a:gd name="T93" fmla="*/ 637 h 800"/>
                <a:gd name="T94" fmla="*/ 409 w 778"/>
                <a:gd name="T95" fmla="*/ 636 h 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778" h="800">
                  <a:moveTo>
                    <a:pt x="409" y="636"/>
                  </a:moveTo>
                  <a:cubicBezTo>
                    <a:pt x="424" y="631"/>
                    <a:pt x="424" y="631"/>
                    <a:pt x="424" y="631"/>
                  </a:cubicBezTo>
                  <a:cubicBezTo>
                    <a:pt x="424" y="607"/>
                    <a:pt x="424" y="607"/>
                    <a:pt x="424" y="607"/>
                  </a:cubicBezTo>
                  <a:cubicBezTo>
                    <a:pt x="437" y="607"/>
                    <a:pt x="437" y="607"/>
                    <a:pt x="437" y="607"/>
                  </a:cubicBezTo>
                  <a:cubicBezTo>
                    <a:pt x="437" y="607"/>
                    <a:pt x="454" y="578"/>
                    <a:pt x="460" y="576"/>
                  </a:cubicBezTo>
                  <a:cubicBezTo>
                    <a:pt x="466" y="574"/>
                    <a:pt x="478" y="586"/>
                    <a:pt x="481" y="585"/>
                  </a:cubicBezTo>
                  <a:cubicBezTo>
                    <a:pt x="484" y="584"/>
                    <a:pt x="485" y="563"/>
                    <a:pt x="485" y="563"/>
                  </a:cubicBezTo>
                  <a:cubicBezTo>
                    <a:pt x="502" y="563"/>
                    <a:pt x="502" y="563"/>
                    <a:pt x="502" y="563"/>
                  </a:cubicBezTo>
                  <a:cubicBezTo>
                    <a:pt x="513" y="549"/>
                    <a:pt x="513" y="549"/>
                    <a:pt x="513" y="549"/>
                  </a:cubicBezTo>
                  <a:cubicBezTo>
                    <a:pt x="513" y="549"/>
                    <a:pt x="517" y="551"/>
                    <a:pt x="527" y="547"/>
                  </a:cubicBezTo>
                  <a:cubicBezTo>
                    <a:pt x="537" y="543"/>
                    <a:pt x="539" y="535"/>
                    <a:pt x="539" y="535"/>
                  </a:cubicBezTo>
                  <a:cubicBezTo>
                    <a:pt x="572" y="537"/>
                    <a:pt x="572" y="537"/>
                    <a:pt x="572" y="537"/>
                  </a:cubicBezTo>
                  <a:cubicBezTo>
                    <a:pt x="588" y="544"/>
                    <a:pt x="588" y="544"/>
                    <a:pt x="588" y="544"/>
                  </a:cubicBezTo>
                  <a:cubicBezTo>
                    <a:pt x="620" y="537"/>
                    <a:pt x="620" y="537"/>
                    <a:pt x="620" y="537"/>
                  </a:cubicBezTo>
                  <a:cubicBezTo>
                    <a:pt x="638" y="525"/>
                    <a:pt x="638" y="525"/>
                    <a:pt x="638" y="525"/>
                  </a:cubicBezTo>
                  <a:cubicBezTo>
                    <a:pt x="680" y="526"/>
                    <a:pt x="680" y="526"/>
                    <a:pt x="680" y="526"/>
                  </a:cubicBezTo>
                  <a:cubicBezTo>
                    <a:pt x="681" y="517"/>
                    <a:pt x="681" y="517"/>
                    <a:pt x="681" y="517"/>
                  </a:cubicBezTo>
                  <a:cubicBezTo>
                    <a:pt x="712" y="519"/>
                    <a:pt x="712" y="519"/>
                    <a:pt x="712" y="519"/>
                  </a:cubicBezTo>
                  <a:cubicBezTo>
                    <a:pt x="719" y="514"/>
                    <a:pt x="719" y="514"/>
                    <a:pt x="719" y="514"/>
                  </a:cubicBezTo>
                  <a:cubicBezTo>
                    <a:pt x="719" y="514"/>
                    <a:pt x="726" y="520"/>
                    <a:pt x="748" y="509"/>
                  </a:cubicBezTo>
                  <a:cubicBezTo>
                    <a:pt x="763" y="502"/>
                    <a:pt x="763" y="469"/>
                    <a:pt x="763" y="469"/>
                  </a:cubicBezTo>
                  <a:cubicBezTo>
                    <a:pt x="778" y="454"/>
                    <a:pt x="778" y="454"/>
                    <a:pt x="778" y="454"/>
                  </a:cubicBezTo>
                  <a:cubicBezTo>
                    <a:pt x="778" y="317"/>
                    <a:pt x="778" y="317"/>
                    <a:pt x="778" y="317"/>
                  </a:cubicBezTo>
                  <a:cubicBezTo>
                    <a:pt x="771" y="319"/>
                    <a:pt x="766" y="320"/>
                    <a:pt x="766" y="320"/>
                  </a:cubicBezTo>
                  <a:cubicBezTo>
                    <a:pt x="766" y="320"/>
                    <a:pt x="744" y="328"/>
                    <a:pt x="729" y="321"/>
                  </a:cubicBezTo>
                  <a:cubicBezTo>
                    <a:pt x="714" y="314"/>
                    <a:pt x="738" y="300"/>
                    <a:pt x="738" y="300"/>
                  </a:cubicBezTo>
                  <a:cubicBezTo>
                    <a:pt x="738" y="300"/>
                    <a:pt x="737" y="280"/>
                    <a:pt x="727" y="272"/>
                  </a:cubicBezTo>
                  <a:cubicBezTo>
                    <a:pt x="717" y="264"/>
                    <a:pt x="694" y="270"/>
                    <a:pt x="694" y="270"/>
                  </a:cubicBezTo>
                  <a:cubicBezTo>
                    <a:pt x="689" y="252"/>
                    <a:pt x="689" y="252"/>
                    <a:pt x="689" y="252"/>
                  </a:cubicBezTo>
                  <a:cubicBezTo>
                    <a:pt x="689" y="252"/>
                    <a:pt x="676" y="254"/>
                    <a:pt x="666" y="251"/>
                  </a:cubicBezTo>
                  <a:cubicBezTo>
                    <a:pt x="656" y="248"/>
                    <a:pt x="658" y="241"/>
                    <a:pt x="656" y="233"/>
                  </a:cubicBezTo>
                  <a:cubicBezTo>
                    <a:pt x="654" y="225"/>
                    <a:pt x="637" y="229"/>
                    <a:pt x="637" y="229"/>
                  </a:cubicBezTo>
                  <a:cubicBezTo>
                    <a:pt x="638" y="212"/>
                    <a:pt x="638" y="212"/>
                    <a:pt x="638" y="212"/>
                  </a:cubicBezTo>
                  <a:cubicBezTo>
                    <a:pt x="364" y="3"/>
                    <a:pt x="364" y="3"/>
                    <a:pt x="364" y="3"/>
                  </a:cubicBezTo>
                  <a:cubicBezTo>
                    <a:pt x="283" y="0"/>
                    <a:pt x="283" y="0"/>
                    <a:pt x="283" y="0"/>
                  </a:cubicBezTo>
                  <a:cubicBezTo>
                    <a:pt x="314" y="459"/>
                    <a:pt x="314" y="459"/>
                    <a:pt x="314" y="459"/>
                  </a:cubicBezTo>
                  <a:cubicBezTo>
                    <a:pt x="314" y="459"/>
                    <a:pt x="327" y="465"/>
                    <a:pt x="328" y="472"/>
                  </a:cubicBezTo>
                  <a:cubicBezTo>
                    <a:pt x="329" y="479"/>
                    <a:pt x="323" y="483"/>
                    <a:pt x="323" y="483"/>
                  </a:cubicBezTo>
                  <a:cubicBezTo>
                    <a:pt x="318" y="510"/>
                    <a:pt x="318" y="510"/>
                    <a:pt x="318" y="510"/>
                  </a:cubicBezTo>
                  <a:cubicBezTo>
                    <a:pt x="141" y="513"/>
                    <a:pt x="141" y="513"/>
                    <a:pt x="141" y="513"/>
                  </a:cubicBezTo>
                  <a:cubicBezTo>
                    <a:pt x="141" y="513"/>
                    <a:pt x="141" y="502"/>
                    <a:pt x="137" y="503"/>
                  </a:cubicBezTo>
                  <a:cubicBezTo>
                    <a:pt x="133" y="504"/>
                    <a:pt x="135" y="516"/>
                    <a:pt x="127" y="517"/>
                  </a:cubicBezTo>
                  <a:cubicBezTo>
                    <a:pt x="119" y="518"/>
                    <a:pt x="102" y="521"/>
                    <a:pt x="102" y="521"/>
                  </a:cubicBezTo>
                  <a:cubicBezTo>
                    <a:pt x="96" y="515"/>
                    <a:pt x="96" y="515"/>
                    <a:pt x="96" y="515"/>
                  </a:cubicBezTo>
                  <a:cubicBezTo>
                    <a:pt x="74" y="515"/>
                    <a:pt x="74" y="515"/>
                    <a:pt x="74" y="515"/>
                  </a:cubicBezTo>
                  <a:cubicBezTo>
                    <a:pt x="64" y="532"/>
                    <a:pt x="64" y="532"/>
                    <a:pt x="64" y="532"/>
                  </a:cubicBezTo>
                  <a:cubicBezTo>
                    <a:pt x="64" y="532"/>
                    <a:pt x="52" y="507"/>
                    <a:pt x="39" y="507"/>
                  </a:cubicBezTo>
                  <a:cubicBezTo>
                    <a:pt x="26" y="507"/>
                    <a:pt x="24" y="516"/>
                    <a:pt x="24" y="535"/>
                  </a:cubicBezTo>
                  <a:cubicBezTo>
                    <a:pt x="25" y="536"/>
                    <a:pt x="28" y="546"/>
                    <a:pt x="20" y="549"/>
                  </a:cubicBezTo>
                  <a:cubicBezTo>
                    <a:pt x="12" y="552"/>
                    <a:pt x="0" y="550"/>
                    <a:pt x="0" y="550"/>
                  </a:cubicBezTo>
                  <a:cubicBezTo>
                    <a:pt x="1" y="568"/>
                    <a:pt x="1" y="568"/>
                    <a:pt x="1" y="568"/>
                  </a:cubicBezTo>
                  <a:cubicBezTo>
                    <a:pt x="9" y="578"/>
                    <a:pt x="9" y="578"/>
                    <a:pt x="9" y="578"/>
                  </a:cubicBezTo>
                  <a:cubicBezTo>
                    <a:pt x="9" y="578"/>
                    <a:pt x="21" y="600"/>
                    <a:pt x="16" y="604"/>
                  </a:cubicBezTo>
                  <a:cubicBezTo>
                    <a:pt x="11" y="608"/>
                    <a:pt x="7" y="612"/>
                    <a:pt x="14" y="623"/>
                  </a:cubicBezTo>
                  <a:cubicBezTo>
                    <a:pt x="21" y="634"/>
                    <a:pt x="25" y="622"/>
                    <a:pt x="30" y="625"/>
                  </a:cubicBezTo>
                  <a:cubicBezTo>
                    <a:pt x="35" y="628"/>
                    <a:pt x="37" y="644"/>
                    <a:pt x="37" y="644"/>
                  </a:cubicBezTo>
                  <a:cubicBezTo>
                    <a:pt x="36" y="678"/>
                    <a:pt x="36" y="678"/>
                    <a:pt x="36" y="678"/>
                  </a:cubicBezTo>
                  <a:cubicBezTo>
                    <a:pt x="36" y="678"/>
                    <a:pt x="40" y="705"/>
                    <a:pt x="44" y="703"/>
                  </a:cubicBezTo>
                  <a:cubicBezTo>
                    <a:pt x="48" y="701"/>
                    <a:pt x="52" y="685"/>
                    <a:pt x="61" y="685"/>
                  </a:cubicBezTo>
                  <a:cubicBezTo>
                    <a:pt x="70" y="685"/>
                    <a:pt x="73" y="706"/>
                    <a:pt x="73" y="706"/>
                  </a:cubicBezTo>
                  <a:cubicBezTo>
                    <a:pt x="73" y="706"/>
                    <a:pt x="87" y="683"/>
                    <a:pt x="92" y="685"/>
                  </a:cubicBezTo>
                  <a:cubicBezTo>
                    <a:pt x="97" y="687"/>
                    <a:pt x="119" y="698"/>
                    <a:pt x="119" y="698"/>
                  </a:cubicBezTo>
                  <a:cubicBezTo>
                    <a:pt x="131" y="689"/>
                    <a:pt x="131" y="689"/>
                    <a:pt x="131" y="689"/>
                  </a:cubicBezTo>
                  <a:cubicBezTo>
                    <a:pt x="131" y="689"/>
                    <a:pt x="129" y="665"/>
                    <a:pt x="145" y="673"/>
                  </a:cubicBezTo>
                  <a:cubicBezTo>
                    <a:pt x="161" y="681"/>
                    <a:pt x="154" y="688"/>
                    <a:pt x="154" y="688"/>
                  </a:cubicBezTo>
                  <a:cubicBezTo>
                    <a:pt x="163" y="697"/>
                    <a:pt x="163" y="697"/>
                    <a:pt x="163" y="697"/>
                  </a:cubicBezTo>
                  <a:cubicBezTo>
                    <a:pt x="157" y="714"/>
                    <a:pt x="157" y="714"/>
                    <a:pt x="157" y="714"/>
                  </a:cubicBezTo>
                  <a:cubicBezTo>
                    <a:pt x="180" y="730"/>
                    <a:pt x="180" y="730"/>
                    <a:pt x="180" y="730"/>
                  </a:cubicBezTo>
                  <a:cubicBezTo>
                    <a:pt x="163" y="753"/>
                    <a:pt x="163" y="753"/>
                    <a:pt x="163" y="753"/>
                  </a:cubicBezTo>
                  <a:cubicBezTo>
                    <a:pt x="182" y="752"/>
                    <a:pt x="182" y="752"/>
                    <a:pt x="182" y="752"/>
                  </a:cubicBezTo>
                  <a:cubicBezTo>
                    <a:pt x="182" y="777"/>
                    <a:pt x="182" y="777"/>
                    <a:pt x="182" y="777"/>
                  </a:cubicBezTo>
                  <a:cubicBezTo>
                    <a:pt x="201" y="796"/>
                    <a:pt x="201" y="796"/>
                    <a:pt x="201" y="796"/>
                  </a:cubicBezTo>
                  <a:cubicBezTo>
                    <a:pt x="207" y="799"/>
                    <a:pt x="207" y="799"/>
                    <a:pt x="207" y="799"/>
                  </a:cubicBezTo>
                  <a:cubicBezTo>
                    <a:pt x="207" y="799"/>
                    <a:pt x="204" y="782"/>
                    <a:pt x="220" y="784"/>
                  </a:cubicBezTo>
                  <a:cubicBezTo>
                    <a:pt x="236" y="786"/>
                    <a:pt x="246" y="800"/>
                    <a:pt x="246" y="800"/>
                  </a:cubicBezTo>
                  <a:cubicBezTo>
                    <a:pt x="250" y="788"/>
                    <a:pt x="250" y="788"/>
                    <a:pt x="250" y="788"/>
                  </a:cubicBezTo>
                  <a:cubicBezTo>
                    <a:pt x="260" y="788"/>
                    <a:pt x="260" y="788"/>
                    <a:pt x="260" y="788"/>
                  </a:cubicBezTo>
                  <a:cubicBezTo>
                    <a:pt x="264" y="770"/>
                    <a:pt x="264" y="770"/>
                    <a:pt x="264" y="770"/>
                  </a:cubicBezTo>
                  <a:cubicBezTo>
                    <a:pt x="273" y="782"/>
                    <a:pt x="273" y="782"/>
                    <a:pt x="273" y="782"/>
                  </a:cubicBezTo>
                  <a:cubicBezTo>
                    <a:pt x="281" y="769"/>
                    <a:pt x="281" y="769"/>
                    <a:pt x="281" y="769"/>
                  </a:cubicBezTo>
                  <a:cubicBezTo>
                    <a:pt x="281" y="793"/>
                    <a:pt x="281" y="793"/>
                    <a:pt x="281" y="793"/>
                  </a:cubicBezTo>
                  <a:cubicBezTo>
                    <a:pt x="296" y="795"/>
                    <a:pt x="296" y="795"/>
                    <a:pt x="296" y="795"/>
                  </a:cubicBezTo>
                  <a:cubicBezTo>
                    <a:pt x="296" y="795"/>
                    <a:pt x="300" y="781"/>
                    <a:pt x="315" y="781"/>
                  </a:cubicBezTo>
                  <a:cubicBezTo>
                    <a:pt x="312" y="744"/>
                    <a:pt x="312" y="744"/>
                    <a:pt x="312" y="744"/>
                  </a:cubicBezTo>
                  <a:cubicBezTo>
                    <a:pt x="327" y="744"/>
                    <a:pt x="327" y="744"/>
                    <a:pt x="327" y="744"/>
                  </a:cubicBezTo>
                  <a:cubicBezTo>
                    <a:pt x="335" y="729"/>
                    <a:pt x="335" y="729"/>
                    <a:pt x="335" y="729"/>
                  </a:cubicBezTo>
                  <a:cubicBezTo>
                    <a:pt x="320" y="708"/>
                    <a:pt x="320" y="708"/>
                    <a:pt x="320" y="708"/>
                  </a:cubicBezTo>
                  <a:cubicBezTo>
                    <a:pt x="333" y="700"/>
                    <a:pt x="333" y="700"/>
                    <a:pt x="333" y="700"/>
                  </a:cubicBezTo>
                  <a:cubicBezTo>
                    <a:pt x="333" y="700"/>
                    <a:pt x="348" y="697"/>
                    <a:pt x="360" y="696"/>
                  </a:cubicBezTo>
                  <a:cubicBezTo>
                    <a:pt x="372" y="695"/>
                    <a:pt x="359" y="685"/>
                    <a:pt x="359" y="685"/>
                  </a:cubicBezTo>
                  <a:cubicBezTo>
                    <a:pt x="359" y="685"/>
                    <a:pt x="366" y="684"/>
                    <a:pt x="369" y="680"/>
                  </a:cubicBezTo>
                  <a:cubicBezTo>
                    <a:pt x="372" y="676"/>
                    <a:pt x="367" y="659"/>
                    <a:pt x="367" y="659"/>
                  </a:cubicBezTo>
                  <a:cubicBezTo>
                    <a:pt x="367" y="659"/>
                    <a:pt x="379" y="661"/>
                    <a:pt x="381" y="656"/>
                  </a:cubicBezTo>
                  <a:cubicBezTo>
                    <a:pt x="383" y="651"/>
                    <a:pt x="375" y="637"/>
                    <a:pt x="375" y="637"/>
                  </a:cubicBezTo>
                  <a:cubicBezTo>
                    <a:pt x="388" y="617"/>
                    <a:pt x="388" y="617"/>
                    <a:pt x="388" y="617"/>
                  </a:cubicBezTo>
                  <a:lnTo>
                    <a:pt x="409" y="636"/>
                  </a:ln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509" name="Freeform 301">
              <a:extLst>
                <a:ext uri="{FF2B5EF4-FFF2-40B4-BE49-F238E27FC236}">
                  <a16:creationId xmlns:a16="http://schemas.microsoft.com/office/drawing/2014/main" id="{3D997BA9-0D0A-4B7E-8EA8-7169E0E3E224}"/>
                </a:ext>
              </a:extLst>
            </p:cNvPr>
            <p:cNvSpPr>
              <a:spLocks/>
            </p:cNvSpPr>
            <p:nvPr/>
          </p:nvSpPr>
          <p:spPr bwMode="gray">
            <a:xfrm>
              <a:off x="4203759" y="2111366"/>
              <a:ext cx="187222" cy="157735"/>
            </a:xfrm>
            <a:custGeom>
              <a:avLst/>
              <a:gdLst>
                <a:gd name="T0" fmla="*/ 269 w 276"/>
                <a:gd name="T1" fmla="*/ 181 h 246"/>
                <a:gd name="T2" fmla="*/ 253 w 276"/>
                <a:gd name="T3" fmla="*/ 179 h 246"/>
                <a:gd name="T4" fmla="*/ 255 w 276"/>
                <a:gd name="T5" fmla="*/ 160 h 246"/>
                <a:gd name="T6" fmla="*/ 248 w 276"/>
                <a:gd name="T7" fmla="*/ 134 h 246"/>
                <a:gd name="T8" fmla="*/ 240 w 276"/>
                <a:gd name="T9" fmla="*/ 124 h 246"/>
                <a:gd name="T10" fmla="*/ 239 w 276"/>
                <a:gd name="T11" fmla="*/ 106 h 246"/>
                <a:gd name="T12" fmla="*/ 230 w 276"/>
                <a:gd name="T13" fmla="*/ 92 h 246"/>
                <a:gd name="T14" fmla="*/ 213 w 276"/>
                <a:gd name="T15" fmla="*/ 86 h 246"/>
                <a:gd name="T16" fmla="*/ 210 w 276"/>
                <a:gd name="T17" fmla="*/ 70 h 246"/>
                <a:gd name="T18" fmla="*/ 196 w 276"/>
                <a:gd name="T19" fmla="*/ 68 h 246"/>
                <a:gd name="T20" fmla="*/ 188 w 276"/>
                <a:gd name="T21" fmla="*/ 31 h 246"/>
                <a:gd name="T22" fmla="*/ 167 w 276"/>
                <a:gd name="T23" fmla="*/ 34 h 246"/>
                <a:gd name="T24" fmla="*/ 146 w 276"/>
                <a:gd name="T25" fmla="*/ 10 h 246"/>
                <a:gd name="T26" fmla="*/ 122 w 276"/>
                <a:gd name="T27" fmla="*/ 7 h 246"/>
                <a:gd name="T28" fmla="*/ 109 w 276"/>
                <a:gd name="T29" fmla="*/ 0 h 246"/>
                <a:gd name="T30" fmla="*/ 109 w 276"/>
                <a:gd name="T31" fmla="*/ 10 h 246"/>
                <a:gd name="T32" fmla="*/ 86 w 276"/>
                <a:gd name="T33" fmla="*/ 9 h 246"/>
                <a:gd name="T34" fmla="*/ 78 w 276"/>
                <a:gd name="T35" fmla="*/ 13 h 246"/>
                <a:gd name="T36" fmla="*/ 59 w 276"/>
                <a:gd name="T37" fmla="*/ 11 h 246"/>
                <a:gd name="T38" fmla="*/ 41 w 276"/>
                <a:gd name="T39" fmla="*/ 43 h 246"/>
                <a:gd name="T40" fmla="*/ 40 w 276"/>
                <a:gd name="T41" fmla="*/ 57 h 246"/>
                <a:gd name="T42" fmla="*/ 22 w 276"/>
                <a:gd name="T43" fmla="*/ 80 h 246"/>
                <a:gd name="T44" fmla="*/ 0 w 276"/>
                <a:gd name="T45" fmla="*/ 106 h 246"/>
                <a:gd name="T46" fmla="*/ 2 w 276"/>
                <a:gd name="T47" fmla="*/ 113 h 246"/>
                <a:gd name="T48" fmla="*/ 8 w 276"/>
                <a:gd name="T49" fmla="*/ 112 h 246"/>
                <a:gd name="T50" fmla="*/ 17 w 276"/>
                <a:gd name="T51" fmla="*/ 128 h 246"/>
                <a:gd name="T52" fmla="*/ 20 w 276"/>
                <a:gd name="T53" fmla="*/ 141 h 246"/>
                <a:gd name="T54" fmla="*/ 29 w 276"/>
                <a:gd name="T55" fmla="*/ 149 h 246"/>
                <a:gd name="T56" fmla="*/ 28 w 276"/>
                <a:gd name="T57" fmla="*/ 157 h 246"/>
                <a:gd name="T58" fmla="*/ 34 w 276"/>
                <a:gd name="T59" fmla="*/ 169 h 246"/>
                <a:gd name="T60" fmla="*/ 84 w 276"/>
                <a:gd name="T61" fmla="*/ 169 h 246"/>
                <a:gd name="T62" fmla="*/ 84 w 276"/>
                <a:gd name="T63" fmla="*/ 159 h 246"/>
                <a:gd name="T64" fmla="*/ 109 w 276"/>
                <a:gd name="T65" fmla="*/ 158 h 246"/>
                <a:gd name="T66" fmla="*/ 120 w 276"/>
                <a:gd name="T67" fmla="*/ 166 h 246"/>
                <a:gd name="T68" fmla="*/ 128 w 276"/>
                <a:gd name="T69" fmla="*/ 164 h 246"/>
                <a:gd name="T70" fmla="*/ 141 w 276"/>
                <a:gd name="T71" fmla="*/ 176 h 246"/>
                <a:gd name="T72" fmla="*/ 162 w 276"/>
                <a:gd name="T73" fmla="*/ 171 h 246"/>
                <a:gd name="T74" fmla="*/ 143 w 276"/>
                <a:gd name="T75" fmla="*/ 190 h 246"/>
                <a:gd name="T76" fmla="*/ 109 w 276"/>
                <a:gd name="T77" fmla="*/ 171 h 246"/>
                <a:gd name="T78" fmla="*/ 97 w 276"/>
                <a:gd name="T79" fmla="*/ 183 h 246"/>
                <a:gd name="T80" fmla="*/ 72 w 276"/>
                <a:gd name="T81" fmla="*/ 186 h 246"/>
                <a:gd name="T82" fmla="*/ 68 w 276"/>
                <a:gd name="T83" fmla="*/ 195 h 246"/>
                <a:gd name="T84" fmla="*/ 25 w 276"/>
                <a:gd name="T85" fmla="*/ 195 h 246"/>
                <a:gd name="T86" fmla="*/ 24 w 276"/>
                <a:gd name="T87" fmla="*/ 212 h 246"/>
                <a:gd name="T88" fmla="*/ 18 w 276"/>
                <a:gd name="T89" fmla="*/ 215 h 246"/>
                <a:gd name="T90" fmla="*/ 31 w 276"/>
                <a:gd name="T91" fmla="*/ 241 h 246"/>
                <a:gd name="T92" fmla="*/ 50 w 276"/>
                <a:gd name="T93" fmla="*/ 241 h 246"/>
                <a:gd name="T94" fmla="*/ 58 w 276"/>
                <a:gd name="T95" fmla="*/ 231 h 246"/>
                <a:gd name="T96" fmla="*/ 85 w 276"/>
                <a:gd name="T97" fmla="*/ 231 h 246"/>
                <a:gd name="T98" fmla="*/ 102 w 276"/>
                <a:gd name="T99" fmla="*/ 216 h 246"/>
                <a:gd name="T100" fmla="*/ 196 w 276"/>
                <a:gd name="T101" fmla="*/ 219 h 246"/>
                <a:gd name="T102" fmla="*/ 204 w 276"/>
                <a:gd name="T103" fmla="*/ 232 h 246"/>
                <a:gd name="T104" fmla="*/ 215 w 276"/>
                <a:gd name="T105" fmla="*/ 226 h 246"/>
                <a:gd name="T106" fmla="*/ 231 w 276"/>
                <a:gd name="T107" fmla="*/ 242 h 246"/>
                <a:gd name="T108" fmla="*/ 247 w 276"/>
                <a:gd name="T109" fmla="*/ 235 h 246"/>
                <a:gd name="T110" fmla="*/ 275 w 276"/>
                <a:gd name="T111" fmla="*/ 234 h 246"/>
                <a:gd name="T112" fmla="*/ 276 w 276"/>
                <a:gd name="T113" fmla="*/ 200 h 246"/>
                <a:gd name="T114" fmla="*/ 269 w 276"/>
                <a:gd name="T115" fmla="*/ 181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76" h="246">
                  <a:moveTo>
                    <a:pt x="269" y="181"/>
                  </a:moveTo>
                  <a:cubicBezTo>
                    <a:pt x="264" y="178"/>
                    <a:pt x="260" y="190"/>
                    <a:pt x="253" y="179"/>
                  </a:cubicBezTo>
                  <a:cubicBezTo>
                    <a:pt x="246" y="168"/>
                    <a:pt x="250" y="164"/>
                    <a:pt x="255" y="160"/>
                  </a:cubicBezTo>
                  <a:cubicBezTo>
                    <a:pt x="260" y="156"/>
                    <a:pt x="248" y="134"/>
                    <a:pt x="248" y="134"/>
                  </a:cubicBezTo>
                  <a:cubicBezTo>
                    <a:pt x="240" y="124"/>
                    <a:pt x="240" y="124"/>
                    <a:pt x="240" y="124"/>
                  </a:cubicBezTo>
                  <a:cubicBezTo>
                    <a:pt x="239" y="106"/>
                    <a:pt x="239" y="106"/>
                    <a:pt x="239" y="106"/>
                  </a:cubicBezTo>
                  <a:cubicBezTo>
                    <a:pt x="230" y="92"/>
                    <a:pt x="230" y="92"/>
                    <a:pt x="230" y="92"/>
                  </a:cubicBezTo>
                  <a:cubicBezTo>
                    <a:pt x="213" y="86"/>
                    <a:pt x="213" y="86"/>
                    <a:pt x="213" y="86"/>
                  </a:cubicBezTo>
                  <a:cubicBezTo>
                    <a:pt x="213" y="86"/>
                    <a:pt x="213" y="71"/>
                    <a:pt x="210" y="70"/>
                  </a:cubicBezTo>
                  <a:cubicBezTo>
                    <a:pt x="207" y="69"/>
                    <a:pt x="196" y="68"/>
                    <a:pt x="196" y="68"/>
                  </a:cubicBezTo>
                  <a:cubicBezTo>
                    <a:pt x="196" y="68"/>
                    <a:pt x="195" y="32"/>
                    <a:pt x="188" y="31"/>
                  </a:cubicBezTo>
                  <a:cubicBezTo>
                    <a:pt x="181" y="30"/>
                    <a:pt x="167" y="34"/>
                    <a:pt x="167" y="34"/>
                  </a:cubicBezTo>
                  <a:cubicBezTo>
                    <a:pt x="167" y="34"/>
                    <a:pt x="156" y="12"/>
                    <a:pt x="146" y="10"/>
                  </a:cubicBezTo>
                  <a:cubicBezTo>
                    <a:pt x="136" y="8"/>
                    <a:pt x="122" y="7"/>
                    <a:pt x="122" y="7"/>
                  </a:cubicBezTo>
                  <a:cubicBezTo>
                    <a:pt x="109" y="0"/>
                    <a:pt x="109" y="0"/>
                    <a:pt x="109" y="0"/>
                  </a:cubicBezTo>
                  <a:cubicBezTo>
                    <a:pt x="109" y="10"/>
                    <a:pt x="109" y="10"/>
                    <a:pt x="109" y="10"/>
                  </a:cubicBezTo>
                  <a:cubicBezTo>
                    <a:pt x="86" y="9"/>
                    <a:pt x="86" y="9"/>
                    <a:pt x="86" y="9"/>
                  </a:cubicBezTo>
                  <a:cubicBezTo>
                    <a:pt x="78" y="13"/>
                    <a:pt x="78" y="13"/>
                    <a:pt x="78" y="13"/>
                  </a:cubicBezTo>
                  <a:cubicBezTo>
                    <a:pt x="78" y="13"/>
                    <a:pt x="68" y="5"/>
                    <a:pt x="59" y="11"/>
                  </a:cubicBezTo>
                  <a:cubicBezTo>
                    <a:pt x="50" y="17"/>
                    <a:pt x="53" y="41"/>
                    <a:pt x="41" y="43"/>
                  </a:cubicBezTo>
                  <a:cubicBezTo>
                    <a:pt x="40" y="50"/>
                    <a:pt x="40" y="56"/>
                    <a:pt x="40" y="57"/>
                  </a:cubicBezTo>
                  <a:cubicBezTo>
                    <a:pt x="39" y="60"/>
                    <a:pt x="29" y="67"/>
                    <a:pt x="22" y="80"/>
                  </a:cubicBezTo>
                  <a:cubicBezTo>
                    <a:pt x="15" y="93"/>
                    <a:pt x="0" y="106"/>
                    <a:pt x="0" y="106"/>
                  </a:cubicBezTo>
                  <a:cubicBezTo>
                    <a:pt x="2" y="113"/>
                    <a:pt x="2" y="113"/>
                    <a:pt x="2" y="113"/>
                  </a:cubicBezTo>
                  <a:cubicBezTo>
                    <a:pt x="8" y="112"/>
                    <a:pt x="8" y="112"/>
                    <a:pt x="8" y="112"/>
                  </a:cubicBezTo>
                  <a:cubicBezTo>
                    <a:pt x="8" y="112"/>
                    <a:pt x="17" y="121"/>
                    <a:pt x="17" y="128"/>
                  </a:cubicBezTo>
                  <a:cubicBezTo>
                    <a:pt x="17" y="135"/>
                    <a:pt x="20" y="141"/>
                    <a:pt x="20" y="141"/>
                  </a:cubicBezTo>
                  <a:cubicBezTo>
                    <a:pt x="29" y="149"/>
                    <a:pt x="29" y="149"/>
                    <a:pt x="29" y="149"/>
                  </a:cubicBezTo>
                  <a:cubicBezTo>
                    <a:pt x="29" y="149"/>
                    <a:pt x="28" y="150"/>
                    <a:pt x="28" y="157"/>
                  </a:cubicBezTo>
                  <a:cubicBezTo>
                    <a:pt x="28" y="162"/>
                    <a:pt x="32" y="166"/>
                    <a:pt x="34" y="169"/>
                  </a:cubicBezTo>
                  <a:cubicBezTo>
                    <a:pt x="84" y="169"/>
                    <a:pt x="84" y="169"/>
                    <a:pt x="84" y="169"/>
                  </a:cubicBezTo>
                  <a:cubicBezTo>
                    <a:pt x="84" y="159"/>
                    <a:pt x="84" y="159"/>
                    <a:pt x="84" y="159"/>
                  </a:cubicBezTo>
                  <a:cubicBezTo>
                    <a:pt x="84" y="159"/>
                    <a:pt x="96" y="160"/>
                    <a:pt x="109" y="158"/>
                  </a:cubicBezTo>
                  <a:cubicBezTo>
                    <a:pt x="122" y="156"/>
                    <a:pt x="120" y="166"/>
                    <a:pt x="120" y="166"/>
                  </a:cubicBezTo>
                  <a:cubicBezTo>
                    <a:pt x="128" y="164"/>
                    <a:pt x="128" y="164"/>
                    <a:pt x="128" y="164"/>
                  </a:cubicBezTo>
                  <a:cubicBezTo>
                    <a:pt x="128" y="164"/>
                    <a:pt x="136" y="175"/>
                    <a:pt x="141" y="176"/>
                  </a:cubicBezTo>
                  <a:cubicBezTo>
                    <a:pt x="146" y="177"/>
                    <a:pt x="145" y="167"/>
                    <a:pt x="162" y="171"/>
                  </a:cubicBezTo>
                  <a:cubicBezTo>
                    <a:pt x="179" y="175"/>
                    <a:pt x="161" y="190"/>
                    <a:pt x="143" y="190"/>
                  </a:cubicBezTo>
                  <a:cubicBezTo>
                    <a:pt x="125" y="190"/>
                    <a:pt x="109" y="171"/>
                    <a:pt x="109" y="171"/>
                  </a:cubicBezTo>
                  <a:cubicBezTo>
                    <a:pt x="109" y="171"/>
                    <a:pt x="103" y="182"/>
                    <a:pt x="97" y="183"/>
                  </a:cubicBezTo>
                  <a:cubicBezTo>
                    <a:pt x="91" y="184"/>
                    <a:pt x="72" y="186"/>
                    <a:pt x="72" y="186"/>
                  </a:cubicBezTo>
                  <a:cubicBezTo>
                    <a:pt x="72" y="186"/>
                    <a:pt x="71" y="195"/>
                    <a:pt x="68" y="195"/>
                  </a:cubicBezTo>
                  <a:cubicBezTo>
                    <a:pt x="66" y="195"/>
                    <a:pt x="36" y="195"/>
                    <a:pt x="25" y="195"/>
                  </a:cubicBezTo>
                  <a:cubicBezTo>
                    <a:pt x="24" y="202"/>
                    <a:pt x="24" y="212"/>
                    <a:pt x="24" y="212"/>
                  </a:cubicBezTo>
                  <a:cubicBezTo>
                    <a:pt x="18" y="215"/>
                    <a:pt x="18" y="215"/>
                    <a:pt x="18" y="215"/>
                  </a:cubicBezTo>
                  <a:cubicBezTo>
                    <a:pt x="18" y="215"/>
                    <a:pt x="22" y="236"/>
                    <a:pt x="31" y="241"/>
                  </a:cubicBezTo>
                  <a:cubicBezTo>
                    <a:pt x="40" y="246"/>
                    <a:pt x="50" y="241"/>
                    <a:pt x="50" y="241"/>
                  </a:cubicBezTo>
                  <a:cubicBezTo>
                    <a:pt x="58" y="231"/>
                    <a:pt x="58" y="231"/>
                    <a:pt x="58" y="231"/>
                  </a:cubicBezTo>
                  <a:cubicBezTo>
                    <a:pt x="85" y="231"/>
                    <a:pt x="85" y="231"/>
                    <a:pt x="85" y="231"/>
                  </a:cubicBezTo>
                  <a:cubicBezTo>
                    <a:pt x="102" y="216"/>
                    <a:pt x="102" y="216"/>
                    <a:pt x="102" y="216"/>
                  </a:cubicBezTo>
                  <a:cubicBezTo>
                    <a:pt x="196" y="219"/>
                    <a:pt x="196" y="219"/>
                    <a:pt x="196" y="219"/>
                  </a:cubicBezTo>
                  <a:cubicBezTo>
                    <a:pt x="196" y="219"/>
                    <a:pt x="196" y="230"/>
                    <a:pt x="204" y="232"/>
                  </a:cubicBezTo>
                  <a:cubicBezTo>
                    <a:pt x="212" y="234"/>
                    <a:pt x="215" y="226"/>
                    <a:pt x="215" y="226"/>
                  </a:cubicBezTo>
                  <a:cubicBezTo>
                    <a:pt x="215" y="226"/>
                    <a:pt x="224" y="242"/>
                    <a:pt x="231" y="242"/>
                  </a:cubicBezTo>
                  <a:cubicBezTo>
                    <a:pt x="238" y="242"/>
                    <a:pt x="247" y="235"/>
                    <a:pt x="247" y="235"/>
                  </a:cubicBezTo>
                  <a:cubicBezTo>
                    <a:pt x="275" y="234"/>
                    <a:pt x="275" y="234"/>
                    <a:pt x="275" y="234"/>
                  </a:cubicBezTo>
                  <a:cubicBezTo>
                    <a:pt x="276" y="200"/>
                    <a:pt x="276" y="200"/>
                    <a:pt x="276" y="200"/>
                  </a:cubicBezTo>
                  <a:cubicBezTo>
                    <a:pt x="276" y="200"/>
                    <a:pt x="274" y="184"/>
                    <a:pt x="269" y="181"/>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510" name="Freeform 302">
              <a:extLst>
                <a:ext uri="{FF2B5EF4-FFF2-40B4-BE49-F238E27FC236}">
                  <a16:creationId xmlns:a16="http://schemas.microsoft.com/office/drawing/2014/main" id="{C6C41446-8542-4D09-83AA-995C1ABD6815}"/>
                </a:ext>
              </a:extLst>
            </p:cNvPr>
            <p:cNvSpPr>
              <a:spLocks/>
            </p:cNvSpPr>
            <p:nvPr/>
          </p:nvSpPr>
          <p:spPr bwMode="gray">
            <a:xfrm>
              <a:off x="4277843" y="2251183"/>
              <a:ext cx="234027" cy="189770"/>
            </a:xfrm>
            <a:custGeom>
              <a:avLst/>
              <a:gdLst>
                <a:gd name="T0" fmla="*/ 61 w 345"/>
                <a:gd name="T1" fmla="*/ 17 h 296"/>
                <a:gd name="T2" fmla="*/ 61 w 345"/>
                <a:gd name="T3" fmla="*/ 47 h 296"/>
                <a:gd name="T4" fmla="*/ 22 w 345"/>
                <a:gd name="T5" fmla="*/ 65 h 296"/>
                <a:gd name="T6" fmla="*/ 0 w 345"/>
                <a:gd name="T7" fmla="*/ 86 h 296"/>
                <a:gd name="T8" fmla="*/ 19 w 345"/>
                <a:gd name="T9" fmla="*/ 103 h 296"/>
                <a:gd name="T10" fmla="*/ 45 w 345"/>
                <a:gd name="T11" fmla="*/ 138 h 296"/>
                <a:gd name="T12" fmla="*/ 59 w 345"/>
                <a:gd name="T13" fmla="*/ 149 h 296"/>
                <a:gd name="T14" fmla="*/ 86 w 345"/>
                <a:gd name="T15" fmla="*/ 194 h 296"/>
                <a:gd name="T16" fmla="*/ 142 w 345"/>
                <a:gd name="T17" fmla="*/ 152 h 296"/>
                <a:gd name="T18" fmla="*/ 172 w 345"/>
                <a:gd name="T19" fmla="*/ 140 h 296"/>
                <a:gd name="T20" fmla="*/ 197 w 345"/>
                <a:gd name="T21" fmla="*/ 190 h 296"/>
                <a:gd name="T22" fmla="*/ 197 w 345"/>
                <a:gd name="T23" fmla="*/ 226 h 296"/>
                <a:gd name="T24" fmla="*/ 215 w 345"/>
                <a:gd name="T25" fmla="*/ 228 h 296"/>
                <a:gd name="T26" fmla="*/ 247 w 345"/>
                <a:gd name="T27" fmla="*/ 227 h 296"/>
                <a:gd name="T28" fmla="*/ 265 w 345"/>
                <a:gd name="T29" fmla="*/ 286 h 296"/>
                <a:gd name="T30" fmla="*/ 293 w 345"/>
                <a:gd name="T31" fmla="*/ 270 h 296"/>
                <a:gd name="T32" fmla="*/ 320 w 345"/>
                <a:gd name="T33" fmla="*/ 255 h 296"/>
                <a:gd name="T34" fmla="*/ 314 w 345"/>
                <a:gd name="T35" fmla="*/ 229 h 296"/>
                <a:gd name="T36" fmla="*/ 345 w 345"/>
                <a:gd name="T37" fmla="*/ 220 h 296"/>
                <a:gd name="T38" fmla="*/ 338 w 345"/>
                <a:gd name="T39" fmla="*/ 193 h 296"/>
                <a:gd name="T40" fmla="*/ 335 w 345"/>
                <a:gd name="T41" fmla="*/ 176 h 296"/>
                <a:gd name="T42" fmla="*/ 318 w 345"/>
                <a:gd name="T43" fmla="*/ 148 h 296"/>
                <a:gd name="T44" fmla="*/ 312 w 345"/>
                <a:gd name="T45" fmla="*/ 115 h 296"/>
                <a:gd name="T46" fmla="*/ 293 w 345"/>
                <a:gd name="T47" fmla="*/ 91 h 296"/>
                <a:gd name="T48" fmla="*/ 287 w 345"/>
                <a:gd name="T49" fmla="*/ 52 h 296"/>
                <a:gd name="T50" fmla="*/ 284 w 345"/>
                <a:gd name="T51" fmla="*/ 26 h 296"/>
                <a:gd name="T52" fmla="*/ 261 w 345"/>
                <a:gd name="T53" fmla="*/ 27 h 296"/>
                <a:gd name="T54" fmla="*/ 222 w 345"/>
                <a:gd name="T55" fmla="*/ 23 h 296"/>
                <a:gd name="T56" fmla="*/ 191 w 345"/>
                <a:gd name="T57" fmla="*/ 23 h 296"/>
                <a:gd name="T58" fmla="*/ 166 w 345"/>
                <a:gd name="T59" fmla="*/ 16 h 296"/>
                <a:gd name="T60" fmla="*/ 122 w 345"/>
                <a:gd name="T61" fmla="*/ 24 h 296"/>
                <a:gd name="T62" fmla="*/ 95 w 345"/>
                <a:gd name="T63" fmla="*/ 14 h 296"/>
                <a:gd name="T64" fmla="*/ 60 w 345"/>
                <a:gd name="T65" fmla="*/ 0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45" h="296">
                  <a:moveTo>
                    <a:pt x="60" y="0"/>
                  </a:moveTo>
                  <a:cubicBezTo>
                    <a:pt x="61" y="17"/>
                    <a:pt x="61" y="17"/>
                    <a:pt x="61" y="17"/>
                  </a:cubicBezTo>
                  <a:cubicBezTo>
                    <a:pt x="61" y="17"/>
                    <a:pt x="45" y="15"/>
                    <a:pt x="45" y="26"/>
                  </a:cubicBezTo>
                  <a:cubicBezTo>
                    <a:pt x="45" y="37"/>
                    <a:pt x="62" y="32"/>
                    <a:pt x="61" y="47"/>
                  </a:cubicBezTo>
                  <a:cubicBezTo>
                    <a:pt x="60" y="62"/>
                    <a:pt x="49" y="58"/>
                    <a:pt x="39" y="58"/>
                  </a:cubicBezTo>
                  <a:cubicBezTo>
                    <a:pt x="29" y="58"/>
                    <a:pt x="22" y="65"/>
                    <a:pt x="22" y="65"/>
                  </a:cubicBezTo>
                  <a:cubicBezTo>
                    <a:pt x="9" y="66"/>
                    <a:pt x="9" y="66"/>
                    <a:pt x="9" y="66"/>
                  </a:cubicBezTo>
                  <a:cubicBezTo>
                    <a:pt x="0" y="86"/>
                    <a:pt x="0" y="86"/>
                    <a:pt x="0" y="86"/>
                  </a:cubicBezTo>
                  <a:cubicBezTo>
                    <a:pt x="0" y="86"/>
                    <a:pt x="4" y="100"/>
                    <a:pt x="9" y="102"/>
                  </a:cubicBezTo>
                  <a:cubicBezTo>
                    <a:pt x="14" y="104"/>
                    <a:pt x="19" y="103"/>
                    <a:pt x="19" y="103"/>
                  </a:cubicBezTo>
                  <a:cubicBezTo>
                    <a:pt x="19" y="103"/>
                    <a:pt x="10" y="127"/>
                    <a:pt x="25" y="134"/>
                  </a:cubicBezTo>
                  <a:cubicBezTo>
                    <a:pt x="40" y="141"/>
                    <a:pt x="45" y="138"/>
                    <a:pt x="45" y="138"/>
                  </a:cubicBezTo>
                  <a:cubicBezTo>
                    <a:pt x="45" y="138"/>
                    <a:pt x="42" y="150"/>
                    <a:pt x="46" y="154"/>
                  </a:cubicBezTo>
                  <a:cubicBezTo>
                    <a:pt x="50" y="158"/>
                    <a:pt x="59" y="149"/>
                    <a:pt x="59" y="149"/>
                  </a:cubicBezTo>
                  <a:cubicBezTo>
                    <a:pt x="59" y="149"/>
                    <a:pt x="63" y="169"/>
                    <a:pt x="67" y="176"/>
                  </a:cubicBezTo>
                  <a:cubicBezTo>
                    <a:pt x="71" y="183"/>
                    <a:pt x="86" y="194"/>
                    <a:pt x="86" y="194"/>
                  </a:cubicBezTo>
                  <a:cubicBezTo>
                    <a:pt x="98" y="194"/>
                    <a:pt x="117" y="152"/>
                    <a:pt x="117" y="152"/>
                  </a:cubicBezTo>
                  <a:cubicBezTo>
                    <a:pt x="142" y="152"/>
                    <a:pt x="142" y="152"/>
                    <a:pt x="142" y="152"/>
                  </a:cubicBezTo>
                  <a:cubicBezTo>
                    <a:pt x="146" y="140"/>
                    <a:pt x="146" y="140"/>
                    <a:pt x="146" y="140"/>
                  </a:cubicBezTo>
                  <a:cubicBezTo>
                    <a:pt x="172" y="140"/>
                    <a:pt x="172" y="140"/>
                    <a:pt x="172" y="140"/>
                  </a:cubicBezTo>
                  <a:cubicBezTo>
                    <a:pt x="200" y="181"/>
                    <a:pt x="200" y="181"/>
                    <a:pt x="200" y="181"/>
                  </a:cubicBezTo>
                  <a:cubicBezTo>
                    <a:pt x="197" y="190"/>
                    <a:pt x="197" y="190"/>
                    <a:pt x="197" y="190"/>
                  </a:cubicBezTo>
                  <a:cubicBezTo>
                    <a:pt x="197" y="190"/>
                    <a:pt x="208" y="202"/>
                    <a:pt x="208" y="210"/>
                  </a:cubicBezTo>
                  <a:cubicBezTo>
                    <a:pt x="208" y="218"/>
                    <a:pt x="197" y="226"/>
                    <a:pt x="197" y="226"/>
                  </a:cubicBezTo>
                  <a:cubicBezTo>
                    <a:pt x="196" y="239"/>
                    <a:pt x="196" y="239"/>
                    <a:pt x="196" y="239"/>
                  </a:cubicBezTo>
                  <a:cubicBezTo>
                    <a:pt x="215" y="228"/>
                    <a:pt x="215" y="228"/>
                    <a:pt x="215" y="228"/>
                  </a:cubicBezTo>
                  <a:cubicBezTo>
                    <a:pt x="231" y="232"/>
                    <a:pt x="231" y="232"/>
                    <a:pt x="231" y="232"/>
                  </a:cubicBezTo>
                  <a:cubicBezTo>
                    <a:pt x="231" y="232"/>
                    <a:pt x="228" y="214"/>
                    <a:pt x="247" y="227"/>
                  </a:cubicBezTo>
                  <a:cubicBezTo>
                    <a:pt x="266" y="240"/>
                    <a:pt x="257" y="286"/>
                    <a:pt x="257" y="286"/>
                  </a:cubicBezTo>
                  <a:cubicBezTo>
                    <a:pt x="265" y="286"/>
                    <a:pt x="265" y="286"/>
                    <a:pt x="265" y="286"/>
                  </a:cubicBezTo>
                  <a:cubicBezTo>
                    <a:pt x="265" y="286"/>
                    <a:pt x="266" y="296"/>
                    <a:pt x="277" y="296"/>
                  </a:cubicBezTo>
                  <a:cubicBezTo>
                    <a:pt x="288" y="296"/>
                    <a:pt x="288" y="274"/>
                    <a:pt x="293" y="270"/>
                  </a:cubicBezTo>
                  <a:cubicBezTo>
                    <a:pt x="298" y="266"/>
                    <a:pt x="313" y="279"/>
                    <a:pt x="320" y="276"/>
                  </a:cubicBezTo>
                  <a:cubicBezTo>
                    <a:pt x="327" y="273"/>
                    <a:pt x="320" y="255"/>
                    <a:pt x="320" y="255"/>
                  </a:cubicBezTo>
                  <a:cubicBezTo>
                    <a:pt x="332" y="252"/>
                    <a:pt x="332" y="252"/>
                    <a:pt x="332" y="252"/>
                  </a:cubicBezTo>
                  <a:cubicBezTo>
                    <a:pt x="332" y="252"/>
                    <a:pt x="314" y="239"/>
                    <a:pt x="314" y="229"/>
                  </a:cubicBezTo>
                  <a:cubicBezTo>
                    <a:pt x="314" y="219"/>
                    <a:pt x="344" y="233"/>
                    <a:pt x="344" y="233"/>
                  </a:cubicBezTo>
                  <a:cubicBezTo>
                    <a:pt x="344" y="233"/>
                    <a:pt x="345" y="227"/>
                    <a:pt x="345" y="220"/>
                  </a:cubicBezTo>
                  <a:cubicBezTo>
                    <a:pt x="345" y="213"/>
                    <a:pt x="330" y="218"/>
                    <a:pt x="329" y="210"/>
                  </a:cubicBezTo>
                  <a:cubicBezTo>
                    <a:pt x="328" y="202"/>
                    <a:pt x="338" y="193"/>
                    <a:pt x="338" y="193"/>
                  </a:cubicBezTo>
                  <a:cubicBezTo>
                    <a:pt x="328" y="189"/>
                    <a:pt x="328" y="189"/>
                    <a:pt x="328" y="189"/>
                  </a:cubicBezTo>
                  <a:cubicBezTo>
                    <a:pt x="335" y="176"/>
                    <a:pt x="335" y="176"/>
                    <a:pt x="335" y="176"/>
                  </a:cubicBezTo>
                  <a:cubicBezTo>
                    <a:pt x="323" y="175"/>
                    <a:pt x="323" y="175"/>
                    <a:pt x="323" y="175"/>
                  </a:cubicBezTo>
                  <a:cubicBezTo>
                    <a:pt x="318" y="148"/>
                    <a:pt x="318" y="148"/>
                    <a:pt x="318" y="148"/>
                  </a:cubicBezTo>
                  <a:cubicBezTo>
                    <a:pt x="331" y="134"/>
                    <a:pt x="331" y="134"/>
                    <a:pt x="331" y="134"/>
                  </a:cubicBezTo>
                  <a:cubicBezTo>
                    <a:pt x="312" y="115"/>
                    <a:pt x="312" y="115"/>
                    <a:pt x="312" y="115"/>
                  </a:cubicBezTo>
                  <a:cubicBezTo>
                    <a:pt x="312" y="90"/>
                    <a:pt x="312" y="90"/>
                    <a:pt x="312" y="90"/>
                  </a:cubicBezTo>
                  <a:cubicBezTo>
                    <a:pt x="293" y="91"/>
                    <a:pt x="293" y="91"/>
                    <a:pt x="293" y="91"/>
                  </a:cubicBezTo>
                  <a:cubicBezTo>
                    <a:pt x="310" y="68"/>
                    <a:pt x="310" y="68"/>
                    <a:pt x="310" y="68"/>
                  </a:cubicBezTo>
                  <a:cubicBezTo>
                    <a:pt x="287" y="52"/>
                    <a:pt x="287" y="52"/>
                    <a:pt x="287" y="52"/>
                  </a:cubicBezTo>
                  <a:cubicBezTo>
                    <a:pt x="293" y="35"/>
                    <a:pt x="293" y="35"/>
                    <a:pt x="293" y="35"/>
                  </a:cubicBezTo>
                  <a:cubicBezTo>
                    <a:pt x="284" y="26"/>
                    <a:pt x="284" y="26"/>
                    <a:pt x="284" y="26"/>
                  </a:cubicBezTo>
                  <a:cubicBezTo>
                    <a:pt x="284" y="26"/>
                    <a:pt x="291" y="19"/>
                    <a:pt x="275" y="11"/>
                  </a:cubicBezTo>
                  <a:cubicBezTo>
                    <a:pt x="259" y="3"/>
                    <a:pt x="261" y="27"/>
                    <a:pt x="261" y="27"/>
                  </a:cubicBezTo>
                  <a:cubicBezTo>
                    <a:pt x="249" y="36"/>
                    <a:pt x="249" y="36"/>
                    <a:pt x="249" y="36"/>
                  </a:cubicBezTo>
                  <a:cubicBezTo>
                    <a:pt x="249" y="36"/>
                    <a:pt x="227" y="25"/>
                    <a:pt x="222" y="23"/>
                  </a:cubicBezTo>
                  <a:cubicBezTo>
                    <a:pt x="217" y="21"/>
                    <a:pt x="203" y="44"/>
                    <a:pt x="203" y="44"/>
                  </a:cubicBezTo>
                  <a:cubicBezTo>
                    <a:pt x="203" y="44"/>
                    <a:pt x="200" y="23"/>
                    <a:pt x="191" y="23"/>
                  </a:cubicBezTo>
                  <a:cubicBezTo>
                    <a:pt x="182" y="23"/>
                    <a:pt x="178" y="39"/>
                    <a:pt x="174" y="41"/>
                  </a:cubicBezTo>
                  <a:cubicBezTo>
                    <a:pt x="170" y="43"/>
                    <a:pt x="166" y="16"/>
                    <a:pt x="166" y="16"/>
                  </a:cubicBezTo>
                  <a:cubicBezTo>
                    <a:pt x="138" y="17"/>
                    <a:pt x="138" y="17"/>
                    <a:pt x="138" y="17"/>
                  </a:cubicBezTo>
                  <a:cubicBezTo>
                    <a:pt x="138" y="17"/>
                    <a:pt x="129" y="24"/>
                    <a:pt x="122" y="24"/>
                  </a:cubicBezTo>
                  <a:cubicBezTo>
                    <a:pt x="115" y="24"/>
                    <a:pt x="106" y="8"/>
                    <a:pt x="106" y="8"/>
                  </a:cubicBezTo>
                  <a:cubicBezTo>
                    <a:pt x="106" y="8"/>
                    <a:pt x="103" y="16"/>
                    <a:pt x="95" y="14"/>
                  </a:cubicBezTo>
                  <a:cubicBezTo>
                    <a:pt x="87" y="12"/>
                    <a:pt x="87" y="1"/>
                    <a:pt x="87" y="1"/>
                  </a:cubicBezTo>
                  <a:lnTo>
                    <a:pt x="60" y="0"/>
                  </a:ln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511" name="Freeform 303">
              <a:extLst>
                <a:ext uri="{FF2B5EF4-FFF2-40B4-BE49-F238E27FC236}">
                  <a16:creationId xmlns:a16="http://schemas.microsoft.com/office/drawing/2014/main" id="{D867198B-F9BC-4D51-9EE9-0579D1359476}"/>
                </a:ext>
              </a:extLst>
            </p:cNvPr>
            <p:cNvSpPr>
              <a:spLocks/>
            </p:cNvSpPr>
            <p:nvPr/>
          </p:nvSpPr>
          <p:spPr bwMode="gray">
            <a:xfrm>
              <a:off x="4225008" y="1750829"/>
              <a:ext cx="387939" cy="429767"/>
            </a:xfrm>
            <a:custGeom>
              <a:avLst/>
              <a:gdLst>
                <a:gd name="T0" fmla="*/ 0 w 572"/>
                <a:gd name="T1" fmla="*/ 332 h 670"/>
                <a:gd name="T2" fmla="*/ 11 w 572"/>
                <a:gd name="T3" fmla="*/ 336 h 670"/>
                <a:gd name="T4" fmla="*/ 15 w 572"/>
                <a:gd name="T5" fmla="*/ 357 h 670"/>
                <a:gd name="T6" fmla="*/ 24 w 572"/>
                <a:gd name="T7" fmla="*/ 349 h 670"/>
                <a:gd name="T8" fmla="*/ 32 w 572"/>
                <a:gd name="T9" fmla="*/ 372 h 670"/>
                <a:gd name="T10" fmla="*/ 30 w 572"/>
                <a:gd name="T11" fmla="*/ 403 h 670"/>
                <a:gd name="T12" fmla="*/ 21 w 572"/>
                <a:gd name="T13" fmla="*/ 403 h 670"/>
                <a:gd name="T14" fmla="*/ 24 w 572"/>
                <a:gd name="T15" fmla="*/ 417 h 670"/>
                <a:gd name="T16" fmla="*/ 16 w 572"/>
                <a:gd name="T17" fmla="*/ 423 h 670"/>
                <a:gd name="T18" fmla="*/ 39 w 572"/>
                <a:gd name="T19" fmla="*/ 470 h 670"/>
                <a:gd name="T20" fmla="*/ 33 w 572"/>
                <a:gd name="T21" fmla="*/ 509 h 670"/>
                <a:gd name="T22" fmla="*/ 31 w 572"/>
                <a:gd name="T23" fmla="*/ 538 h 670"/>
                <a:gd name="T24" fmla="*/ 12 w 572"/>
                <a:gd name="T25" fmla="*/ 570 h 670"/>
                <a:gd name="T26" fmla="*/ 10 w 572"/>
                <a:gd name="T27" fmla="*/ 605 h 670"/>
                <a:gd name="T28" fmla="*/ 28 w 572"/>
                <a:gd name="T29" fmla="*/ 573 h 670"/>
                <a:gd name="T30" fmla="*/ 47 w 572"/>
                <a:gd name="T31" fmla="*/ 575 h 670"/>
                <a:gd name="T32" fmla="*/ 55 w 572"/>
                <a:gd name="T33" fmla="*/ 571 h 670"/>
                <a:gd name="T34" fmla="*/ 78 w 572"/>
                <a:gd name="T35" fmla="*/ 572 h 670"/>
                <a:gd name="T36" fmla="*/ 78 w 572"/>
                <a:gd name="T37" fmla="*/ 562 h 670"/>
                <a:gd name="T38" fmla="*/ 91 w 572"/>
                <a:gd name="T39" fmla="*/ 569 h 670"/>
                <a:gd name="T40" fmla="*/ 115 w 572"/>
                <a:gd name="T41" fmla="*/ 572 h 670"/>
                <a:gd name="T42" fmla="*/ 136 w 572"/>
                <a:gd name="T43" fmla="*/ 596 h 670"/>
                <a:gd name="T44" fmla="*/ 157 w 572"/>
                <a:gd name="T45" fmla="*/ 593 h 670"/>
                <a:gd name="T46" fmla="*/ 165 w 572"/>
                <a:gd name="T47" fmla="*/ 630 h 670"/>
                <a:gd name="T48" fmla="*/ 179 w 572"/>
                <a:gd name="T49" fmla="*/ 632 h 670"/>
                <a:gd name="T50" fmla="*/ 182 w 572"/>
                <a:gd name="T51" fmla="*/ 648 h 670"/>
                <a:gd name="T52" fmla="*/ 199 w 572"/>
                <a:gd name="T53" fmla="*/ 654 h 670"/>
                <a:gd name="T54" fmla="*/ 208 w 572"/>
                <a:gd name="T55" fmla="*/ 668 h 670"/>
                <a:gd name="T56" fmla="*/ 228 w 572"/>
                <a:gd name="T57" fmla="*/ 667 h 670"/>
                <a:gd name="T58" fmla="*/ 232 w 572"/>
                <a:gd name="T59" fmla="*/ 653 h 670"/>
                <a:gd name="T60" fmla="*/ 247 w 572"/>
                <a:gd name="T61" fmla="*/ 625 h 670"/>
                <a:gd name="T62" fmla="*/ 272 w 572"/>
                <a:gd name="T63" fmla="*/ 650 h 670"/>
                <a:gd name="T64" fmla="*/ 282 w 572"/>
                <a:gd name="T65" fmla="*/ 633 h 670"/>
                <a:gd name="T66" fmla="*/ 304 w 572"/>
                <a:gd name="T67" fmla="*/ 633 h 670"/>
                <a:gd name="T68" fmla="*/ 310 w 572"/>
                <a:gd name="T69" fmla="*/ 639 h 670"/>
                <a:gd name="T70" fmla="*/ 335 w 572"/>
                <a:gd name="T71" fmla="*/ 635 h 670"/>
                <a:gd name="T72" fmla="*/ 345 w 572"/>
                <a:gd name="T73" fmla="*/ 621 h 670"/>
                <a:gd name="T74" fmla="*/ 349 w 572"/>
                <a:gd name="T75" fmla="*/ 631 h 670"/>
                <a:gd name="T76" fmla="*/ 526 w 572"/>
                <a:gd name="T77" fmla="*/ 628 h 670"/>
                <a:gd name="T78" fmla="*/ 531 w 572"/>
                <a:gd name="T79" fmla="*/ 601 h 670"/>
                <a:gd name="T80" fmla="*/ 536 w 572"/>
                <a:gd name="T81" fmla="*/ 590 h 670"/>
                <a:gd name="T82" fmla="*/ 522 w 572"/>
                <a:gd name="T83" fmla="*/ 577 h 670"/>
                <a:gd name="T84" fmla="*/ 491 w 572"/>
                <a:gd name="T85" fmla="*/ 118 h 670"/>
                <a:gd name="T86" fmla="*/ 572 w 572"/>
                <a:gd name="T87" fmla="*/ 121 h 670"/>
                <a:gd name="T88" fmla="*/ 399 w 572"/>
                <a:gd name="T89" fmla="*/ 0 h 670"/>
                <a:gd name="T90" fmla="*/ 397 w 572"/>
                <a:gd name="T91" fmla="*/ 34 h 670"/>
                <a:gd name="T92" fmla="*/ 392 w 572"/>
                <a:gd name="T93" fmla="*/ 38 h 670"/>
                <a:gd name="T94" fmla="*/ 391 w 572"/>
                <a:gd name="T95" fmla="*/ 63 h 670"/>
                <a:gd name="T96" fmla="*/ 243 w 572"/>
                <a:gd name="T97" fmla="*/ 64 h 670"/>
                <a:gd name="T98" fmla="*/ 243 w 572"/>
                <a:gd name="T99" fmla="*/ 74 h 670"/>
                <a:gd name="T100" fmla="*/ 238 w 572"/>
                <a:gd name="T101" fmla="*/ 77 h 670"/>
                <a:gd name="T102" fmla="*/ 235 w 572"/>
                <a:gd name="T103" fmla="*/ 207 h 670"/>
                <a:gd name="T104" fmla="*/ 208 w 572"/>
                <a:gd name="T105" fmla="*/ 212 h 670"/>
                <a:gd name="T106" fmla="*/ 189 w 572"/>
                <a:gd name="T107" fmla="*/ 223 h 670"/>
                <a:gd name="T108" fmla="*/ 187 w 572"/>
                <a:gd name="T109" fmla="*/ 248 h 670"/>
                <a:gd name="T110" fmla="*/ 186 w 572"/>
                <a:gd name="T111" fmla="*/ 317 h 670"/>
                <a:gd name="T112" fmla="*/ 0 w 572"/>
                <a:gd name="T113" fmla="*/ 319 h 670"/>
                <a:gd name="T114" fmla="*/ 0 w 572"/>
                <a:gd name="T115" fmla="*/ 319 h 670"/>
                <a:gd name="T116" fmla="*/ 0 w 572"/>
                <a:gd name="T117" fmla="*/ 332 h 6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572" h="670">
                  <a:moveTo>
                    <a:pt x="0" y="332"/>
                  </a:moveTo>
                  <a:cubicBezTo>
                    <a:pt x="0" y="332"/>
                    <a:pt x="11" y="331"/>
                    <a:pt x="11" y="336"/>
                  </a:cubicBezTo>
                  <a:cubicBezTo>
                    <a:pt x="11" y="341"/>
                    <a:pt x="11" y="354"/>
                    <a:pt x="15" y="357"/>
                  </a:cubicBezTo>
                  <a:cubicBezTo>
                    <a:pt x="19" y="360"/>
                    <a:pt x="24" y="349"/>
                    <a:pt x="24" y="349"/>
                  </a:cubicBezTo>
                  <a:cubicBezTo>
                    <a:pt x="32" y="372"/>
                    <a:pt x="32" y="372"/>
                    <a:pt x="32" y="372"/>
                  </a:cubicBezTo>
                  <a:cubicBezTo>
                    <a:pt x="30" y="403"/>
                    <a:pt x="30" y="403"/>
                    <a:pt x="30" y="403"/>
                  </a:cubicBezTo>
                  <a:cubicBezTo>
                    <a:pt x="21" y="403"/>
                    <a:pt x="21" y="403"/>
                    <a:pt x="21" y="403"/>
                  </a:cubicBezTo>
                  <a:cubicBezTo>
                    <a:pt x="24" y="417"/>
                    <a:pt x="24" y="417"/>
                    <a:pt x="24" y="417"/>
                  </a:cubicBezTo>
                  <a:cubicBezTo>
                    <a:pt x="16" y="423"/>
                    <a:pt x="16" y="423"/>
                    <a:pt x="16" y="423"/>
                  </a:cubicBezTo>
                  <a:cubicBezTo>
                    <a:pt x="16" y="423"/>
                    <a:pt x="39" y="452"/>
                    <a:pt x="39" y="470"/>
                  </a:cubicBezTo>
                  <a:cubicBezTo>
                    <a:pt x="39" y="488"/>
                    <a:pt x="33" y="509"/>
                    <a:pt x="33" y="509"/>
                  </a:cubicBezTo>
                  <a:cubicBezTo>
                    <a:pt x="31" y="538"/>
                    <a:pt x="31" y="538"/>
                    <a:pt x="31" y="538"/>
                  </a:cubicBezTo>
                  <a:cubicBezTo>
                    <a:pt x="31" y="538"/>
                    <a:pt x="15" y="555"/>
                    <a:pt x="12" y="570"/>
                  </a:cubicBezTo>
                  <a:cubicBezTo>
                    <a:pt x="10" y="579"/>
                    <a:pt x="10" y="594"/>
                    <a:pt x="10" y="605"/>
                  </a:cubicBezTo>
                  <a:cubicBezTo>
                    <a:pt x="22" y="603"/>
                    <a:pt x="19" y="579"/>
                    <a:pt x="28" y="573"/>
                  </a:cubicBezTo>
                  <a:cubicBezTo>
                    <a:pt x="37" y="567"/>
                    <a:pt x="47" y="575"/>
                    <a:pt x="47" y="575"/>
                  </a:cubicBezTo>
                  <a:cubicBezTo>
                    <a:pt x="55" y="571"/>
                    <a:pt x="55" y="571"/>
                    <a:pt x="55" y="571"/>
                  </a:cubicBezTo>
                  <a:cubicBezTo>
                    <a:pt x="78" y="572"/>
                    <a:pt x="78" y="572"/>
                    <a:pt x="78" y="572"/>
                  </a:cubicBezTo>
                  <a:cubicBezTo>
                    <a:pt x="78" y="562"/>
                    <a:pt x="78" y="562"/>
                    <a:pt x="78" y="562"/>
                  </a:cubicBezTo>
                  <a:cubicBezTo>
                    <a:pt x="91" y="569"/>
                    <a:pt x="91" y="569"/>
                    <a:pt x="91" y="569"/>
                  </a:cubicBezTo>
                  <a:cubicBezTo>
                    <a:pt x="91" y="569"/>
                    <a:pt x="105" y="570"/>
                    <a:pt x="115" y="572"/>
                  </a:cubicBezTo>
                  <a:cubicBezTo>
                    <a:pt x="125" y="574"/>
                    <a:pt x="136" y="596"/>
                    <a:pt x="136" y="596"/>
                  </a:cubicBezTo>
                  <a:cubicBezTo>
                    <a:pt x="136" y="596"/>
                    <a:pt x="150" y="592"/>
                    <a:pt x="157" y="593"/>
                  </a:cubicBezTo>
                  <a:cubicBezTo>
                    <a:pt x="164" y="594"/>
                    <a:pt x="165" y="630"/>
                    <a:pt x="165" y="630"/>
                  </a:cubicBezTo>
                  <a:cubicBezTo>
                    <a:pt x="165" y="630"/>
                    <a:pt x="176" y="631"/>
                    <a:pt x="179" y="632"/>
                  </a:cubicBezTo>
                  <a:cubicBezTo>
                    <a:pt x="182" y="633"/>
                    <a:pt x="182" y="648"/>
                    <a:pt x="182" y="648"/>
                  </a:cubicBezTo>
                  <a:cubicBezTo>
                    <a:pt x="199" y="654"/>
                    <a:pt x="199" y="654"/>
                    <a:pt x="199" y="654"/>
                  </a:cubicBezTo>
                  <a:cubicBezTo>
                    <a:pt x="208" y="668"/>
                    <a:pt x="208" y="668"/>
                    <a:pt x="208" y="668"/>
                  </a:cubicBezTo>
                  <a:cubicBezTo>
                    <a:pt x="208" y="668"/>
                    <a:pt x="220" y="670"/>
                    <a:pt x="228" y="667"/>
                  </a:cubicBezTo>
                  <a:cubicBezTo>
                    <a:pt x="236" y="664"/>
                    <a:pt x="233" y="654"/>
                    <a:pt x="232" y="653"/>
                  </a:cubicBezTo>
                  <a:cubicBezTo>
                    <a:pt x="232" y="634"/>
                    <a:pt x="234" y="625"/>
                    <a:pt x="247" y="625"/>
                  </a:cubicBezTo>
                  <a:cubicBezTo>
                    <a:pt x="260" y="625"/>
                    <a:pt x="272" y="650"/>
                    <a:pt x="272" y="650"/>
                  </a:cubicBezTo>
                  <a:cubicBezTo>
                    <a:pt x="282" y="633"/>
                    <a:pt x="282" y="633"/>
                    <a:pt x="282" y="633"/>
                  </a:cubicBezTo>
                  <a:cubicBezTo>
                    <a:pt x="304" y="633"/>
                    <a:pt x="304" y="633"/>
                    <a:pt x="304" y="633"/>
                  </a:cubicBezTo>
                  <a:cubicBezTo>
                    <a:pt x="310" y="639"/>
                    <a:pt x="310" y="639"/>
                    <a:pt x="310" y="639"/>
                  </a:cubicBezTo>
                  <a:cubicBezTo>
                    <a:pt x="310" y="639"/>
                    <a:pt x="327" y="636"/>
                    <a:pt x="335" y="635"/>
                  </a:cubicBezTo>
                  <a:cubicBezTo>
                    <a:pt x="343" y="634"/>
                    <a:pt x="341" y="622"/>
                    <a:pt x="345" y="621"/>
                  </a:cubicBezTo>
                  <a:cubicBezTo>
                    <a:pt x="349" y="620"/>
                    <a:pt x="349" y="631"/>
                    <a:pt x="349" y="631"/>
                  </a:cubicBezTo>
                  <a:cubicBezTo>
                    <a:pt x="526" y="628"/>
                    <a:pt x="526" y="628"/>
                    <a:pt x="526" y="628"/>
                  </a:cubicBezTo>
                  <a:cubicBezTo>
                    <a:pt x="531" y="601"/>
                    <a:pt x="531" y="601"/>
                    <a:pt x="531" y="601"/>
                  </a:cubicBezTo>
                  <a:cubicBezTo>
                    <a:pt x="531" y="601"/>
                    <a:pt x="537" y="597"/>
                    <a:pt x="536" y="590"/>
                  </a:cubicBezTo>
                  <a:cubicBezTo>
                    <a:pt x="535" y="583"/>
                    <a:pt x="522" y="577"/>
                    <a:pt x="522" y="577"/>
                  </a:cubicBezTo>
                  <a:cubicBezTo>
                    <a:pt x="491" y="118"/>
                    <a:pt x="491" y="118"/>
                    <a:pt x="491" y="118"/>
                  </a:cubicBezTo>
                  <a:cubicBezTo>
                    <a:pt x="572" y="121"/>
                    <a:pt x="572" y="121"/>
                    <a:pt x="572" y="121"/>
                  </a:cubicBezTo>
                  <a:cubicBezTo>
                    <a:pt x="399" y="0"/>
                    <a:pt x="399" y="0"/>
                    <a:pt x="399" y="0"/>
                  </a:cubicBezTo>
                  <a:cubicBezTo>
                    <a:pt x="397" y="34"/>
                    <a:pt x="397" y="34"/>
                    <a:pt x="397" y="34"/>
                  </a:cubicBezTo>
                  <a:cubicBezTo>
                    <a:pt x="392" y="38"/>
                    <a:pt x="392" y="38"/>
                    <a:pt x="392" y="38"/>
                  </a:cubicBezTo>
                  <a:cubicBezTo>
                    <a:pt x="391" y="63"/>
                    <a:pt x="391" y="63"/>
                    <a:pt x="391" y="63"/>
                  </a:cubicBezTo>
                  <a:cubicBezTo>
                    <a:pt x="243" y="64"/>
                    <a:pt x="243" y="64"/>
                    <a:pt x="243" y="64"/>
                  </a:cubicBezTo>
                  <a:cubicBezTo>
                    <a:pt x="243" y="74"/>
                    <a:pt x="243" y="74"/>
                    <a:pt x="243" y="74"/>
                  </a:cubicBezTo>
                  <a:cubicBezTo>
                    <a:pt x="238" y="77"/>
                    <a:pt x="238" y="77"/>
                    <a:pt x="238" y="77"/>
                  </a:cubicBezTo>
                  <a:cubicBezTo>
                    <a:pt x="238" y="77"/>
                    <a:pt x="237" y="201"/>
                    <a:pt x="235" y="207"/>
                  </a:cubicBezTo>
                  <a:cubicBezTo>
                    <a:pt x="233" y="213"/>
                    <a:pt x="208" y="212"/>
                    <a:pt x="208" y="212"/>
                  </a:cubicBezTo>
                  <a:cubicBezTo>
                    <a:pt x="208" y="212"/>
                    <a:pt x="200" y="213"/>
                    <a:pt x="189" y="223"/>
                  </a:cubicBezTo>
                  <a:cubicBezTo>
                    <a:pt x="178" y="233"/>
                    <a:pt x="187" y="248"/>
                    <a:pt x="187" y="248"/>
                  </a:cubicBezTo>
                  <a:cubicBezTo>
                    <a:pt x="186" y="317"/>
                    <a:pt x="186" y="317"/>
                    <a:pt x="186" y="317"/>
                  </a:cubicBezTo>
                  <a:cubicBezTo>
                    <a:pt x="0" y="319"/>
                    <a:pt x="0" y="319"/>
                    <a:pt x="0" y="319"/>
                  </a:cubicBezTo>
                  <a:cubicBezTo>
                    <a:pt x="0" y="319"/>
                    <a:pt x="0" y="319"/>
                    <a:pt x="0" y="319"/>
                  </a:cubicBezTo>
                  <a:cubicBezTo>
                    <a:pt x="0" y="326"/>
                    <a:pt x="0" y="332"/>
                    <a:pt x="0" y="332"/>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512" name="Freeform 304">
              <a:extLst>
                <a:ext uri="{FF2B5EF4-FFF2-40B4-BE49-F238E27FC236}">
                  <a16:creationId xmlns:a16="http://schemas.microsoft.com/office/drawing/2014/main" id="{7FDA7514-F7FE-4B61-A854-7319BA814AE0}"/>
                </a:ext>
              </a:extLst>
            </p:cNvPr>
            <p:cNvSpPr>
              <a:spLocks/>
            </p:cNvSpPr>
            <p:nvPr/>
          </p:nvSpPr>
          <p:spPr bwMode="gray">
            <a:xfrm>
              <a:off x="4577628" y="2169464"/>
              <a:ext cx="259009" cy="192485"/>
            </a:xfrm>
            <a:custGeom>
              <a:avLst/>
              <a:gdLst>
                <a:gd name="T0" fmla="*/ 3 w 382"/>
                <a:gd name="T1" fmla="*/ 246 h 300"/>
                <a:gd name="T2" fmla="*/ 19 w 382"/>
                <a:gd name="T3" fmla="*/ 256 h 300"/>
                <a:gd name="T4" fmla="*/ 59 w 382"/>
                <a:gd name="T5" fmla="*/ 293 h 300"/>
                <a:gd name="T6" fmla="*/ 124 w 382"/>
                <a:gd name="T7" fmla="*/ 300 h 300"/>
                <a:gd name="T8" fmla="*/ 132 w 382"/>
                <a:gd name="T9" fmla="*/ 299 h 300"/>
                <a:gd name="T10" fmla="*/ 130 w 382"/>
                <a:gd name="T11" fmla="*/ 245 h 300"/>
                <a:gd name="T12" fmla="*/ 132 w 382"/>
                <a:gd name="T13" fmla="*/ 219 h 300"/>
                <a:gd name="T14" fmla="*/ 192 w 382"/>
                <a:gd name="T15" fmla="*/ 219 h 300"/>
                <a:gd name="T16" fmla="*/ 215 w 382"/>
                <a:gd name="T17" fmla="*/ 219 h 300"/>
                <a:gd name="T18" fmla="*/ 251 w 382"/>
                <a:gd name="T19" fmla="*/ 212 h 300"/>
                <a:gd name="T20" fmla="*/ 276 w 382"/>
                <a:gd name="T21" fmla="*/ 215 h 300"/>
                <a:gd name="T22" fmla="*/ 305 w 382"/>
                <a:gd name="T23" fmla="*/ 221 h 300"/>
                <a:gd name="T24" fmla="*/ 318 w 382"/>
                <a:gd name="T25" fmla="*/ 214 h 300"/>
                <a:gd name="T26" fmla="*/ 357 w 382"/>
                <a:gd name="T27" fmla="*/ 197 h 300"/>
                <a:gd name="T28" fmla="*/ 373 w 382"/>
                <a:gd name="T29" fmla="*/ 183 h 300"/>
                <a:gd name="T30" fmla="*/ 382 w 382"/>
                <a:gd name="T31" fmla="*/ 170 h 300"/>
                <a:gd name="T32" fmla="*/ 360 w 382"/>
                <a:gd name="T33" fmla="*/ 145 h 300"/>
                <a:gd name="T34" fmla="*/ 364 w 382"/>
                <a:gd name="T35" fmla="*/ 126 h 300"/>
                <a:gd name="T36" fmla="*/ 310 w 382"/>
                <a:gd name="T37" fmla="*/ 104 h 300"/>
                <a:gd name="T38" fmla="*/ 312 w 382"/>
                <a:gd name="T39" fmla="*/ 87 h 300"/>
                <a:gd name="T40" fmla="*/ 289 w 382"/>
                <a:gd name="T41" fmla="*/ 72 h 300"/>
                <a:gd name="T42" fmla="*/ 277 w 382"/>
                <a:gd name="T43" fmla="*/ 32 h 300"/>
                <a:gd name="T44" fmla="*/ 260 w 382"/>
                <a:gd name="T45" fmla="*/ 2 h 300"/>
                <a:gd name="T46" fmla="*/ 215 w 382"/>
                <a:gd name="T47" fmla="*/ 12 h 300"/>
                <a:gd name="T48" fmla="*/ 190 w 382"/>
                <a:gd name="T49" fmla="*/ 28 h 300"/>
                <a:gd name="T50" fmla="*/ 169 w 382"/>
                <a:gd name="T51" fmla="*/ 50 h 300"/>
                <a:gd name="T52" fmla="*/ 125 w 382"/>
                <a:gd name="T53" fmla="*/ 72 h 300"/>
                <a:gd name="T54" fmla="*/ 112 w 382"/>
                <a:gd name="T55" fmla="*/ 96 h 300"/>
                <a:gd name="T56" fmla="*/ 76 w 382"/>
                <a:gd name="T57" fmla="*/ 82 h 300"/>
                <a:gd name="T58" fmla="*/ 69 w 382"/>
                <a:gd name="T59" fmla="*/ 121 h 300"/>
                <a:gd name="T60" fmla="*/ 57 w 382"/>
                <a:gd name="T61" fmla="*/ 145 h 300"/>
                <a:gd name="T62" fmla="*/ 48 w 382"/>
                <a:gd name="T63" fmla="*/ 161 h 300"/>
                <a:gd name="T64" fmla="*/ 8 w 382"/>
                <a:gd name="T65" fmla="*/ 173 h 300"/>
                <a:gd name="T66" fmla="*/ 15 w 382"/>
                <a:gd name="T67" fmla="*/ 209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82" h="300">
                  <a:moveTo>
                    <a:pt x="0" y="209"/>
                  </a:moveTo>
                  <a:cubicBezTo>
                    <a:pt x="3" y="246"/>
                    <a:pt x="3" y="246"/>
                    <a:pt x="3" y="246"/>
                  </a:cubicBezTo>
                  <a:cubicBezTo>
                    <a:pt x="6" y="260"/>
                    <a:pt x="6" y="260"/>
                    <a:pt x="6" y="260"/>
                  </a:cubicBezTo>
                  <a:cubicBezTo>
                    <a:pt x="19" y="256"/>
                    <a:pt x="19" y="256"/>
                    <a:pt x="19" y="256"/>
                  </a:cubicBezTo>
                  <a:cubicBezTo>
                    <a:pt x="19" y="256"/>
                    <a:pt x="29" y="287"/>
                    <a:pt x="39" y="288"/>
                  </a:cubicBezTo>
                  <a:cubicBezTo>
                    <a:pt x="49" y="289"/>
                    <a:pt x="59" y="293"/>
                    <a:pt x="59" y="293"/>
                  </a:cubicBezTo>
                  <a:cubicBezTo>
                    <a:pt x="59" y="293"/>
                    <a:pt x="70" y="271"/>
                    <a:pt x="100" y="275"/>
                  </a:cubicBezTo>
                  <a:cubicBezTo>
                    <a:pt x="130" y="279"/>
                    <a:pt x="124" y="300"/>
                    <a:pt x="124" y="300"/>
                  </a:cubicBezTo>
                  <a:cubicBezTo>
                    <a:pt x="136" y="298"/>
                    <a:pt x="136" y="298"/>
                    <a:pt x="136" y="298"/>
                  </a:cubicBezTo>
                  <a:cubicBezTo>
                    <a:pt x="132" y="299"/>
                    <a:pt x="132" y="299"/>
                    <a:pt x="132" y="299"/>
                  </a:cubicBezTo>
                  <a:cubicBezTo>
                    <a:pt x="131" y="263"/>
                    <a:pt x="131" y="263"/>
                    <a:pt x="131" y="263"/>
                  </a:cubicBezTo>
                  <a:cubicBezTo>
                    <a:pt x="130" y="245"/>
                    <a:pt x="130" y="245"/>
                    <a:pt x="130" y="245"/>
                  </a:cubicBezTo>
                  <a:cubicBezTo>
                    <a:pt x="130" y="245"/>
                    <a:pt x="124" y="244"/>
                    <a:pt x="124" y="236"/>
                  </a:cubicBezTo>
                  <a:cubicBezTo>
                    <a:pt x="124" y="228"/>
                    <a:pt x="132" y="219"/>
                    <a:pt x="132" y="219"/>
                  </a:cubicBezTo>
                  <a:cubicBezTo>
                    <a:pt x="187" y="222"/>
                    <a:pt x="187" y="222"/>
                    <a:pt x="187" y="222"/>
                  </a:cubicBezTo>
                  <a:cubicBezTo>
                    <a:pt x="192" y="219"/>
                    <a:pt x="192" y="219"/>
                    <a:pt x="192" y="219"/>
                  </a:cubicBezTo>
                  <a:cubicBezTo>
                    <a:pt x="204" y="222"/>
                    <a:pt x="204" y="222"/>
                    <a:pt x="204" y="222"/>
                  </a:cubicBezTo>
                  <a:cubicBezTo>
                    <a:pt x="215" y="219"/>
                    <a:pt x="215" y="219"/>
                    <a:pt x="215" y="219"/>
                  </a:cubicBezTo>
                  <a:cubicBezTo>
                    <a:pt x="235" y="222"/>
                    <a:pt x="235" y="222"/>
                    <a:pt x="235" y="222"/>
                  </a:cubicBezTo>
                  <a:cubicBezTo>
                    <a:pt x="251" y="212"/>
                    <a:pt x="251" y="212"/>
                    <a:pt x="251" y="212"/>
                  </a:cubicBezTo>
                  <a:cubicBezTo>
                    <a:pt x="265" y="216"/>
                    <a:pt x="265" y="216"/>
                    <a:pt x="265" y="216"/>
                  </a:cubicBezTo>
                  <a:cubicBezTo>
                    <a:pt x="276" y="215"/>
                    <a:pt x="276" y="215"/>
                    <a:pt x="276" y="215"/>
                  </a:cubicBezTo>
                  <a:cubicBezTo>
                    <a:pt x="291" y="222"/>
                    <a:pt x="291" y="222"/>
                    <a:pt x="291" y="222"/>
                  </a:cubicBezTo>
                  <a:cubicBezTo>
                    <a:pt x="305" y="221"/>
                    <a:pt x="305" y="221"/>
                    <a:pt x="305" y="221"/>
                  </a:cubicBezTo>
                  <a:cubicBezTo>
                    <a:pt x="310" y="214"/>
                    <a:pt x="310" y="214"/>
                    <a:pt x="310" y="214"/>
                  </a:cubicBezTo>
                  <a:cubicBezTo>
                    <a:pt x="318" y="214"/>
                    <a:pt x="318" y="214"/>
                    <a:pt x="318" y="214"/>
                  </a:cubicBezTo>
                  <a:cubicBezTo>
                    <a:pt x="318" y="214"/>
                    <a:pt x="320" y="200"/>
                    <a:pt x="331" y="195"/>
                  </a:cubicBezTo>
                  <a:cubicBezTo>
                    <a:pt x="331" y="196"/>
                    <a:pt x="357" y="197"/>
                    <a:pt x="357" y="197"/>
                  </a:cubicBezTo>
                  <a:cubicBezTo>
                    <a:pt x="357" y="197"/>
                    <a:pt x="358" y="190"/>
                    <a:pt x="362" y="187"/>
                  </a:cubicBezTo>
                  <a:cubicBezTo>
                    <a:pt x="366" y="184"/>
                    <a:pt x="373" y="183"/>
                    <a:pt x="373" y="183"/>
                  </a:cubicBezTo>
                  <a:cubicBezTo>
                    <a:pt x="376" y="172"/>
                    <a:pt x="376" y="172"/>
                    <a:pt x="376" y="172"/>
                  </a:cubicBezTo>
                  <a:cubicBezTo>
                    <a:pt x="382" y="170"/>
                    <a:pt x="382" y="170"/>
                    <a:pt x="382" y="170"/>
                  </a:cubicBezTo>
                  <a:cubicBezTo>
                    <a:pt x="375" y="167"/>
                    <a:pt x="375" y="167"/>
                    <a:pt x="375" y="167"/>
                  </a:cubicBezTo>
                  <a:cubicBezTo>
                    <a:pt x="360" y="145"/>
                    <a:pt x="360" y="145"/>
                    <a:pt x="360" y="145"/>
                  </a:cubicBezTo>
                  <a:cubicBezTo>
                    <a:pt x="375" y="140"/>
                    <a:pt x="375" y="140"/>
                    <a:pt x="375" y="140"/>
                  </a:cubicBezTo>
                  <a:cubicBezTo>
                    <a:pt x="375" y="140"/>
                    <a:pt x="373" y="130"/>
                    <a:pt x="364" y="126"/>
                  </a:cubicBezTo>
                  <a:cubicBezTo>
                    <a:pt x="355" y="122"/>
                    <a:pt x="356" y="131"/>
                    <a:pt x="344" y="131"/>
                  </a:cubicBezTo>
                  <a:cubicBezTo>
                    <a:pt x="332" y="131"/>
                    <a:pt x="313" y="109"/>
                    <a:pt x="310" y="104"/>
                  </a:cubicBezTo>
                  <a:cubicBezTo>
                    <a:pt x="307" y="99"/>
                    <a:pt x="322" y="88"/>
                    <a:pt x="322" y="88"/>
                  </a:cubicBezTo>
                  <a:cubicBezTo>
                    <a:pt x="312" y="87"/>
                    <a:pt x="312" y="87"/>
                    <a:pt x="312" y="87"/>
                  </a:cubicBezTo>
                  <a:cubicBezTo>
                    <a:pt x="311" y="78"/>
                    <a:pt x="311" y="78"/>
                    <a:pt x="311" y="78"/>
                  </a:cubicBezTo>
                  <a:cubicBezTo>
                    <a:pt x="311" y="78"/>
                    <a:pt x="299" y="79"/>
                    <a:pt x="289" y="72"/>
                  </a:cubicBezTo>
                  <a:cubicBezTo>
                    <a:pt x="279" y="65"/>
                    <a:pt x="280" y="41"/>
                    <a:pt x="280" y="41"/>
                  </a:cubicBezTo>
                  <a:cubicBezTo>
                    <a:pt x="277" y="32"/>
                    <a:pt x="277" y="32"/>
                    <a:pt x="277" y="32"/>
                  </a:cubicBezTo>
                  <a:cubicBezTo>
                    <a:pt x="276" y="9"/>
                    <a:pt x="276" y="9"/>
                    <a:pt x="276" y="9"/>
                  </a:cubicBezTo>
                  <a:cubicBezTo>
                    <a:pt x="260" y="2"/>
                    <a:pt x="260" y="2"/>
                    <a:pt x="260" y="2"/>
                  </a:cubicBezTo>
                  <a:cubicBezTo>
                    <a:pt x="227" y="0"/>
                    <a:pt x="227" y="0"/>
                    <a:pt x="227" y="0"/>
                  </a:cubicBezTo>
                  <a:cubicBezTo>
                    <a:pt x="227" y="0"/>
                    <a:pt x="225" y="8"/>
                    <a:pt x="215" y="12"/>
                  </a:cubicBezTo>
                  <a:cubicBezTo>
                    <a:pt x="205" y="16"/>
                    <a:pt x="201" y="14"/>
                    <a:pt x="201" y="14"/>
                  </a:cubicBezTo>
                  <a:cubicBezTo>
                    <a:pt x="190" y="28"/>
                    <a:pt x="190" y="28"/>
                    <a:pt x="190" y="28"/>
                  </a:cubicBezTo>
                  <a:cubicBezTo>
                    <a:pt x="173" y="28"/>
                    <a:pt x="173" y="28"/>
                    <a:pt x="173" y="28"/>
                  </a:cubicBezTo>
                  <a:cubicBezTo>
                    <a:pt x="173" y="28"/>
                    <a:pt x="172" y="49"/>
                    <a:pt x="169" y="50"/>
                  </a:cubicBezTo>
                  <a:cubicBezTo>
                    <a:pt x="166" y="51"/>
                    <a:pt x="154" y="39"/>
                    <a:pt x="148" y="41"/>
                  </a:cubicBezTo>
                  <a:cubicBezTo>
                    <a:pt x="142" y="43"/>
                    <a:pt x="125" y="72"/>
                    <a:pt x="125" y="72"/>
                  </a:cubicBezTo>
                  <a:cubicBezTo>
                    <a:pt x="112" y="72"/>
                    <a:pt x="112" y="72"/>
                    <a:pt x="112" y="72"/>
                  </a:cubicBezTo>
                  <a:cubicBezTo>
                    <a:pt x="112" y="96"/>
                    <a:pt x="112" y="96"/>
                    <a:pt x="112" y="96"/>
                  </a:cubicBezTo>
                  <a:cubicBezTo>
                    <a:pt x="97" y="101"/>
                    <a:pt x="97" y="101"/>
                    <a:pt x="97" y="101"/>
                  </a:cubicBezTo>
                  <a:cubicBezTo>
                    <a:pt x="76" y="82"/>
                    <a:pt x="76" y="82"/>
                    <a:pt x="76" y="82"/>
                  </a:cubicBezTo>
                  <a:cubicBezTo>
                    <a:pt x="63" y="102"/>
                    <a:pt x="63" y="102"/>
                    <a:pt x="63" y="102"/>
                  </a:cubicBezTo>
                  <a:cubicBezTo>
                    <a:pt x="63" y="102"/>
                    <a:pt x="71" y="116"/>
                    <a:pt x="69" y="121"/>
                  </a:cubicBezTo>
                  <a:cubicBezTo>
                    <a:pt x="67" y="126"/>
                    <a:pt x="55" y="124"/>
                    <a:pt x="55" y="124"/>
                  </a:cubicBezTo>
                  <a:cubicBezTo>
                    <a:pt x="55" y="124"/>
                    <a:pt x="60" y="141"/>
                    <a:pt x="57" y="145"/>
                  </a:cubicBezTo>
                  <a:cubicBezTo>
                    <a:pt x="54" y="149"/>
                    <a:pt x="47" y="150"/>
                    <a:pt x="47" y="150"/>
                  </a:cubicBezTo>
                  <a:cubicBezTo>
                    <a:pt x="47" y="150"/>
                    <a:pt x="60" y="160"/>
                    <a:pt x="48" y="161"/>
                  </a:cubicBezTo>
                  <a:cubicBezTo>
                    <a:pt x="36" y="162"/>
                    <a:pt x="21" y="165"/>
                    <a:pt x="21" y="165"/>
                  </a:cubicBezTo>
                  <a:cubicBezTo>
                    <a:pt x="8" y="173"/>
                    <a:pt x="8" y="173"/>
                    <a:pt x="8" y="173"/>
                  </a:cubicBezTo>
                  <a:cubicBezTo>
                    <a:pt x="23" y="194"/>
                    <a:pt x="23" y="194"/>
                    <a:pt x="23" y="194"/>
                  </a:cubicBezTo>
                  <a:cubicBezTo>
                    <a:pt x="15" y="209"/>
                    <a:pt x="15" y="209"/>
                    <a:pt x="15" y="209"/>
                  </a:cubicBezTo>
                  <a:lnTo>
                    <a:pt x="0" y="209"/>
                  </a:ln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513" name="Freeform 305">
              <a:extLst>
                <a:ext uri="{FF2B5EF4-FFF2-40B4-BE49-F238E27FC236}">
                  <a16:creationId xmlns:a16="http://schemas.microsoft.com/office/drawing/2014/main" id="{46AC08D2-620C-4E80-AB13-CF6F0090DA69}"/>
                </a:ext>
              </a:extLst>
            </p:cNvPr>
            <p:cNvSpPr>
              <a:spLocks/>
            </p:cNvSpPr>
            <p:nvPr/>
          </p:nvSpPr>
          <p:spPr bwMode="gray">
            <a:xfrm>
              <a:off x="4477987" y="2319598"/>
              <a:ext cx="197272" cy="220177"/>
            </a:xfrm>
            <a:custGeom>
              <a:avLst/>
              <a:gdLst>
                <a:gd name="T0" fmla="*/ 266 w 291"/>
                <a:gd name="T1" fmla="*/ 269 h 343"/>
                <a:gd name="T2" fmla="*/ 253 w 291"/>
                <a:gd name="T3" fmla="*/ 219 h 343"/>
                <a:gd name="T4" fmla="*/ 273 w 291"/>
                <a:gd name="T5" fmla="*/ 187 h 343"/>
                <a:gd name="T6" fmla="*/ 274 w 291"/>
                <a:gd name="T7" fmla="*/ 157 h 343"/>
                <a:gd name="T8" fmla="*/ 291 w 291"/>
                <a:gd name="T9" fmla="*/ 130 h 343"/>
                <a:gd name="T10" fmla="*/ 279 w 291"/>
                <a:gd name="T11" fmla="*/ 84 h 343"/>
                <a:gd name="T12" fmla="*/ 287 w 291"/>
                <a:gd name="T13" fmla="*/ 83 h 343"/>
                <a:gd name="T14" fmla="*/ 283 w 291"/>
                <a:gd name="T15" fmla="*/ 64 h 343"/>
                <a:gd name="T16" fmla="*/ 271 w 291"/>
                <a:gd name="T17" fmla="*/ 66 h 343"/>
                <a:gd name="T18" fmla="*/ 247 w 291"/>
                <a:gd name="T19" fmla="*/ 41 h 343"/>
                <a:gd name="T20" fmla="*/ 206 w 291"/>
                <a:gd name="T21" fmla="*/ 59 h 343"/>
                <a:gd name="T22" fmla="*/ 186 w 291"/>
                <a:gd name="T23" fmla="*/ 54 h 343"/>
                <a:gd name="T24" fmla="*/ 166 w 291"/>
                <a:gd name="T25" fmla="*/ 22 h 343"/>
                <a:gd name="T26" fmla="*/ 153 w 291"/>
                <a:gd name="T27" fmla="*/ 26 h 343"/>
                <a:gd name="T28" fmla="*/ 150 w 291"/>
                <a:gd name="T29" fmla="*/ 12 h 343"/>
                <a:gd name="T30" fmla="*/ 131 w 291"/>
                <a:gd name="T31" fmla="*/ 26 h 343"/>
                <a:gd name="T32" fmla="*/ 116 w 291"/>
                <a:gd name="T33" fmla="*/ 24 h 343"/>
                <a:gd name="T34" fmla="*/ 116 w 291"/>
                <a:gd name="T35" fmla="*/ 0 h 343"/>
                <a:gd name="T36" fmla="*/ 108 w 291"/>
                <a:gd name="T37" fmla="*/ 13 h 343"/>
                <a:gd name="T38" fmla="*/ 99 w 291"/>
                <a:gd name="T39" fmla="*/ 1 h 343"/>
                <a:gd name="T40" fmla="*/ 95 w 291"/>
                <a:gd name="T41" fmla="*/ 19 h 343"/>
                <a:gd name="T42" fmla="*/ 85 w 291"/>
                <a:gd name="T43" fmla="*/ 19 h 343"/>
                <a:gd name="T44" fmla="*/ 81 w 291"/>
                <a:gd name="T45" fmla="*/ 31 h 343"/>
                <a:gd name="T46" fmla="*/ 55 w 291"/>
                <a:gd name="T47" fmla="*/ 15 h 343"/>
                <a:gd name="T48" fmla="*/ 42 w 291"/>
                <a:gd name="T49" fmla="*/ 30 h 343"/>
                <a:gd name="T50" fmla="*/ 36 w 291"/>
                <a:gd name="T51" fmla="*/ 27 h 343"/>
                <a:gd name="T52" fmla="*/ 23 w 291"/>
                <a:gd name="T53" fmla="*/ 41 h 343"/>
                <a:gd name="T54" fmla="*/ 28 w 291"/>
                <a:gd name="T55" fmla="*/ 68 h 343"/>
                <a:gd name="T56" fmla="*/ 40 w 291"/>
                <a:gd name="T57" fmla="*/ 69 h 343"/>
                <a:gd name="T58" fmla="*/ 33 w 291"/>
                <a:gd name="T59" fmla="*/ 82 h 343"/>
                <a:gd name="T60" fmla="*/ 43 w 291"/>
                <a:gd name="T61" fmla="*/ 86 h 343"/>
                <a:gd name="T62" fmla="*/ 34 w 291"/>
                <a:gd name="T63" fmla="*/ 103 h 343"/>
                <a:gd name="T64" fmla="*/ 50 w 291"/>
                <a:gd name="T65" fmla="*/ 113 h 343"/>
                <a:gd name="T66" fmla="*/ 49 w 291"/>
                <a:gd name="T67" fmla="*/ 126 h 343"/>
                <a:gd name="T68" fmla="*/ 19 w 291"/>
                <a:gd name="T69" fmla="*/ 122 h 343"/>
                <a:gd name="T70" fmla="*/ 37 w 291"/>
                <a:gd name="T71" fmla="*/ 145 h 343"/>
                <a:gd name="T72" fmla="*/ 25 w 291"/>
                <a:gd name="T73" fmla="*/ 148 h 343"/>
                <a:gd name="T74" fmla="*/ 25 w 291"/>
                <a:gd name="T75" fmla="*/ 169 h 343"/>
                <a:gd name="T76" fmla="*/ 2 w 291"/>
                <a:gd name="T77" fmla="*/ 162 h 343"/>
                <a:gd name="T78" fmla="*/ 15 w 291"/>
                <a:gd name="T79" fmla="*/ 196 h 343"/>
                <a:gd name="T80" fmla="*/ 1 w 291"/>
                <a:gd name="T81" fmla="*/ 228 h 343"/>
                <a:gd name="T82" fmla="*/ 14 w 291"/>
                <a:gd name="T83" fmla="*/ 230 h 343"/>
                <a:gd name="T84" fmla="*/ 14 w 291"/>
                <a:gd name="T85" fmla="*/ 240 h 343"/>
                <a:gd name="T86" fmla="*/ 38 w 291"/>
                <a:gd name="T87" fmla="*/ 236 h 343"/>
                <a:gd name="T88" fmla="*/ 39 w 291"/>
                <a:gd name="T89" fmla="*/ 253 h 343"/>
                <a:gd name="T90" fmla="*/ 60 w 291"/>
                <a:gd name="T91" fmla="*/ 282 h 343"/>
                <a:gd name="T92" fmla="*/ 50 w 291"/>
                <a:gd name="T93" fmla="*/ 316 h 343"/>
                <a:gd name="T94" fmla="*/ 51 w 291"/>
                <a:gd name="T95" fmla="*/ 343 h 343"/>
                <a:gd name="T96" fmla="*/ 66 w 291"/>
                <a:gd name="T97" fmla="*/ 331 h 343"/>
                <a:gd name="T98" fmla="*/ 75 w 291"/>
                <a:gd name="T99" fmla="*/ 331 h 343"/>
                <a:gd name="T100" fmla="*/ 85 w 291"/>
                <a:gd name="T101" fmla="*/ 323 h 343"/>
                <a:gd name="T102" fmla="*/ 151 w 291"/>
                <a:gd name="T103" fmla="*/ 300 h 343"/>
                <a:gd name="T104" fmla="*/ 178 w 291"/>
                <a:gd name="T105" fmla="*/ 296 h 343"/>
                <a:gd name="T106" fmla="*/ 218 w 291"/>
                <a:gd name="T107" fmla="*/ 290 h 343"/>
                <a:gd name="T108" fmla="*/ 236 w 291"/>
                <a:gd name="T109" fmla="*/ 299 h 343"/>
                <a:gd name="T110" fmla="*/ 256 w 291"/>
                <a:gd name="T111" fmla="*/ 289 h 343"/>
                <a:gd name="T112" fmla="*/ 273 w 291"/>
                <a:gd name="T113" fmla="*/ 306 h 343"/>
                <a:gd name="T114" fmla="*/ 285 w 291"/>
                <a:gd name="T115" fmla="*/ 310 h 343"/>
                <a:gd name="T116" fmla="*/ 284 w 291"/>
                <a:gd name="T117" fmla="*/ 275 h 343"/>
                <a:gd name="T118" fmla="*/ 266 w 291"/>
                <a:gd name="T119" fmla="*/ 269 h 3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91" h="343">
                  <a:moveTo>
                    <a:pt x="266" y="269"/>
                  </a:moveTo>
                  <a:cubicBezTo>
                    <a:pt x="266" y="269"/>
                    <a:pt x="253" y="233"/>
                    <a:pt x="253" y="219"/>
                  </a:cubicBezTo>
                  <a:cubicBezTo>
                    <a:pt x="253" y="205"/>
                    <a:pt x="273" y="187"/>
                    <a:pt x="273" y="187"/>
                  </a:cubicBezTo>
                  <a:cubicBezTo>
                    <a:pt x="273" y="187"/>
                    <a:pt x="274" y="165"/>
                    <a:pt x="274" y="157"/>
                  </a:cubicBezTo>
                  <a:cubicBezTo>
                    <a:pt x="274" y="149"/>
                    <a:pt x="291" y="142"/>
                    <a:pt x="291" y="130"/>
                  </a:cubicBezTo>
                  <a:cubicBezTo>
                    <a:pt x="291" y="118"/>
                    <a:pt x="279" y="84"/>
                    <a:pt x="279" y="84"/>
                  </a:cubicBezTo>
                  <a:cubicBezTo>
                    <a:pt x="287" y="83"/>
                    <a:pt x="287" y="83"/>
                    <a:pt x="287" y="83"/>
                  </a:cubicBezTo>
                  <a:cubicBezTo>
                    <a:pt x="283" y="64"/>
                    <a:pt x="283" y="64"/>
                    <a:pt x="283" y="64"/>
                  </a:cubicBezTo>
                  <a:cubicBezTo>
                    <a:pt x="271" y="66"/>
                    <a:pt x="271" y="66"/>
                    <a:pt x="271" y="66"/>
                  </a:cubicBezTo>
                  <a:cubicBezTo>
                    <a:pt x="271" y="66"/>
                    <a:pt x="277" y="45"/>
                    <a:pt x="247" y="41"/>
                  </a:cubicBezTo>
                  <a:cubicBezTo>
                    <a:pt x="217" y="37"/>
                    <a:pt x="206" y="59"/>
                    <a:pt x="206" y="59"/>
                  </a:cubicBezTo>
                  <a:cubicBezTo>
                    <a:pt x="206" y="59"/>
                    <a:pt x="196" y="55"/>
                    <a:pt x="186" y="54"/>
                  </a:cubicBezTo>
                  <a:cubicBezTo>
                    <a:pt x="176" y="53"/>
                    <a:pt x="166" y="22"/>
                    <a:pt x="166" y="22"/>
                  </a:cubicBezTo>
                  <a:cubicBezTo>
                    <a:pt x="153" y="26"/>
                    <a:pt x="153" y="26"/>
                    <a:pt x="153" y="26"/>
                  </a:cubicBezTo>
                  <a:cubicBezTo>
                    <a:pt x="150" y="12"/>
                    <a:pt x="150" y="12"/>
                    <a:pt x="150" y="12"/>
                  </a:cubicBezTo>
                  <a:cubicBezTo>
                    <a:pt x="135" y="12"/>
                    <a:pt x="131" y="26"/>
                    <a:pt x="131" y="26"/>
                  </a:cubicBezTo>
                  <a:cubicBezTo>
                    <a:pt x="116" y="24"/>
                    <a:pt x="116" y="24"/>
                    <a:pt x="116" y="24"/>
                  </a:cubicBezTo>
                  <a:cubicBezTo>
                    <a:pt x="116" y="0"/>
                    <a:pt x="116" y="0"/>
                    <a:pt x="116" y="0"/>
                  </a:cubicBezTo>
                  <a:cubicBezTo>
                    <a:pt x="108" y="13"/>
                    <a:pt x="108" y="13"/>
                    <a:pt x="108" y="13"/>
                  </a:cubicBezTo>
                  <a:cubicBezTo>
                    <a:pt x="99" y="1"/>
                    <a:pt x="99" y="1"/>
                    <a:pt x="99" y="1"/>
                  </a:cubicBezTo>
                  <a:cubicBezTo>
                    <a:pt x="95" y="19"/>
                    <a:pt x="95" y="19"/>
                    <a:pt x="95" y="19"/>
                  </a:cubicBezTo>
                  <a:cubicBezTo>
                    <a:pt x="85" y="19"/>
                    <a:pt x="85" y="19"/>
                    <a:pt x="85" y="19"/>
                  </a:cubicBezTo>
                  <a:cubicBezTo>
                    <a:pt x="81" y="31"/>
                    <a:pt x="81" y="31"/>
                    <a:pt x="81" y="31"/>
                  </a:cubicBezTo>
                  <a:cubicBezTo>
                    <a:pt x="81" y="31"/>
                    <a:pt x="71" y="17"/>
                    <a:pt x="55" y="15"/>
                  </a:cubicBezTo>
                  <a:cubicBezTo>
                    <a:pt x="39" y="13"/>
                    <a:pt x="42" y="30"/>
                    <a:pt x="42" y="30"/>
                  </a:cubicBezTo>
                  <a:cubicBezTo>
                    <a:pt x="36" y="27"/>
                    <a:pt x="36" y="27"/>
                    <a:pt x="36" y="27"/>
                  </a:cubicBezTo>
                  <a:cubicBezTo>
                    <a:pt x="23" y="41"/>
                    <a:pt x="23" y="41"/>
                    <a:pt x="23" y="41"/>
                  </a:cubicBezTo>
                  <a:cubicBezTo>
                    <a:pt x="28" y="68"/>
                    <a:pt x="28" y="68"/>
                    <a:pt x="28" y="68"/>
                  </a:cubicBezTo>
                  <a:cubicBezTo>
                    <a:pt x="40" y="69"/>
                    <a:pt x="40" y="69"/>
                    <a:pt x="40" y="69"/>
                  </a:cubicBezTo>
                  <a:cubicBezTo>
                    <a:pt x="33" y="82"/>
                    <a:pt x="33" y="82"/>
                    <a:pt x="33" y="82"/>
                  </a:cubicBezTo>
                  <a:cubicBezTo>
                    <a:pt x="43" y="86"/>
                    <a:pt x="43" y="86"/>
                    <a:pt x="43" y="86"/>
                  </a:cubicBezTo>
                  <a:cubicBezTo>
                    <a:pt x="43" y="86"/>
                    <a:pt x="33" y="95"/>
                    <a:pt x="34" y="103"/>
                  </a:cubicBezTo>
                  <a:cubicBezTo>
                    <a:pt x="35" y="111"/>
                    <a:pt x="50" y="106"/>
                    <a:pt x="50" y="113"/>
                  </a:cubicBezTo>
                  <a:cubicBezTo>
                    <a:pt x="50" y="120"/>
                    <a:pt x="49" y="126"/>
                    <a:pt x="49" y="126"/>
                  </a:cubicBezTo>
                  <a:cubicBezTo>
                    <a:pt x="49" y="126"/>
                    <a:pt x="19" y="112"/>
                    <a:pt x="19" y="122"/>
                  </a:cubicBezTo>
                  <a:cubicBezTo>
                    <a:pt x="19" y="132"/>
                    <a:pt x="37" y="145"/>
                    <a:pt x="37" y="145"/>
                  </a:cubicBezTo>
                  <a:cubicBezTo>
                    <a:pt x="25" y="148"/>
                    <a:pt x="25" y="148"/>
                    <a:pt x="25" y="148"/>
                  </a:cubicBezTo>
                  <a:cubicBezTo>
                    <a:pt x="25" y="148"/>
                    <a:pt x="32" y="166"/>
                    <a:pt x="25" y="169"/>
                  </a:cubicBezTo>
                  <a:cubicBezTo>
                    <a:pt x="19" y="171"/>
                    <a:pt x="9" y="164"/>
                    <a:pt x="2" y="162"/>
                  </a:cubicBezTo>
                  <a:cubicBezTo>
                    <a:pt x="7" y="172"/>
                    <a:pt x="15" y="186"/>
                    <a:pt x="15" y="196"/>
                  </a:cubicBezTo>
                  <a:cubicBezTo>
                    <a:pt x="15" y="211"/>
                    <a:pt x="0" y="225"/>
                    <a:pt x="1" y="228"/>
                  </a:cubicBezTo>
                  <a:cubicBezTo>
                    <a:pt x="2" y="231"/>
                    <a:pt x="14" y="230"/>
                    <a:pt x="14" y="230"/>
                  </a:cubicBezTo>
                  <a:cubicBezTo>
                    <a:pt x="14" y="240"/>
                    <a:pt x="14" y="240"/>
                    <a:pt x="14" y="240"/>
                  </a:cubicBezTo>
                  <a:cubicBezTo>
                    <a:pt x="38" y="236"/>
                    <a:pt x="38" y="236"/>
                    <a:pt x="38" y="236"/>
                  </a:cubicBezTo>
                  <a:cubicBezTo>
                    <a:pt x="39" y="253"/>
                    <a:pt x="39" y="253"/>
                    <a:pt x="39" y="253"/>
                  </a:cubicBezTo>
                  <a:cubicBezTo>
                    <a:pt x="39" y="253"/>
                    <a:pt x="60" y="269"/>
                    <a:pt x="60" y="282"/>
                  </a:cubicBezTo>
                  <a:cubicBezTo>
                    <a:pt x="60" y="295"/>
                    <a:pt x="50" y="316"/>
                    <a:pt x="50" y="316"/>
                  </a:cubicBezTo>
                  <a:cubicBezTo>
                    <a:pt x="51" y="343"/>
                    <a:pt x="51" y="343"/>
                    <a:pt x="51" y="343"/>
                  </a:cubicBezTo>
                  <a:cubicBezTo>
                    <a:pt x="63" y="341"/>
                    <a:pt x="66" y="331"/>
                    <a:pt x="66" y="331"/>
                  </a:cubicBezTo>
                  <a:cubicBezTo>
                    <a:pt x="75" y="331"/>
                    <a:pt x="75" y="331"/>
                    <a:pt x="75" y="331"/>
                  </a:cubicBezTo>
                  <a:cubicBezTo>
                    <a:pt x="85" y="323"/>
                    <a:pt x="85" y="323"/>
                    <a:pt x="85" y="323"/>
                  </a:cubicBezTo>
                  <a:cubicBezTo>
                    <a:pt x="85" y="323"/>
                    <a:pt x="131" y="298"/>
                    <a:pt x="151" y="300"/>
                  </a:cubicBezTo>
                  <a:cubicBezTo>
                    <a:pt x="171" y="302"/>
                    <a:pt x="178" y="296"/>
                    <a:pt x="178" y="296"/>
                  </a:cubicBezTo>
                  <a:cubicBezTo>
                    <a:pt x="178" y="296"/>
                    <a:pt x="209" y="285"/>
                    <a:pt x="218" y="290"/>
                  </a:cubicBezTo>
                  <a:cubicBezTo>
                    <a:pt x="227" y="295"/>
                    <a:pt x="229" y="300"/>
                    <a:pt x="236" y="299"/>
                  </a:cubicBezTo>
                  <a:cubicBezTo>
                    <a:pt x="243" y="298"/>
                    <a:pt x="256" y="289"/>
                    <a:pt x="256" y="289"/>
                  </a:cubicBezTo>
                  <a:cubicBezTo>
                    <a:pt x="256" y="289"/>
                    <a:pt x="257" y="299"/>
                    <a:pt x="273" y="306"/>
                  </a:cubicBezTo>
                  <a:cubicBezTo>
                    <a:pt x="277" y="308"/>
                    <a:pt x="281" y="309"/>
                    <a:pt x="285" y="310"/>
                  </a:cubicBezTo>
                  <a:cubicBezTo>
                    <a:pt x="284" y="275"/>
                    <a:pt x="284" y="275"/>
                    <a:pt x="284" y="275"/>
                  </a:cubicBezTo>
                  <a:lnTo>
                    <a:pt x="266" y="269"/>
                  </a:ln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514" name="Freeform 306">
              <a:extLst>
                <a:ext uri="{FF2B5EF4-FFF2-40B4-BE49-F238E27FC236}">
                  <a16:creationId xmlns:a16="http://schemas.microsoft.com/office/drawing/2014/main" id="{771367C1-F6A9-48DC-8D2A-496CF8E728AD}"/>
                </a:ext>
              </a:extLst>
            </p:cNvPr>
            <p:cNvSpPr>
              <a:spLocks/>
            </p:cNvSpPr>
            <p:nvPr/>
          </p:nvSpPr>
          <p:spPr bwMode="gray">
            <a:xfrm>
              <a:off x="4764849" y="1878971"/>
              <a:ext cx="502512" cy="402889"/>
            </a:xfrm>
            <a:custGeom>
              <a:avLst/>
              <a:gdLst>
                <a:gd name="T0" fmla="*/ 36 w 741"/>
                <a:gd name="T1" fmla="*/ 540 h 628"/>
                <a:gd name="T2" fmla="*/ 34 w 741"/>
                <a:gd name="T3" fmla="*/ 557 h 628"/>
                <a:gd name="T4" fmla="*/ 88 w 741"/>
                <a:gd name="T5" fmla="*/ 579 h 628"/>
                <a:gd name="T6" fmla="*/ 84 w 741"/>
                <a:gd name="T7" fmla="*/ 598 h 628"/>
                <a:gd name="T8" fmla="*/ 102 w 741"/>
                <a:gd name="T9" fmla="*/ 604 h 628"/>
                <a:gd name="T10" fmla="*/ 141 w 741"/>
                <a:gd name="T11" fmla="*/ 619 h 628"/>
                <a:gd name="T12" fmla="*/ 159 w 741"/>
                <a:gd name="T13" fmla="*/ 594 h 628"/>
                <a:gd name="T14" fmla="*/ 183 w 741"/>
                <a:gd name="T15" fmla="*/ 542 h 628"/>
                <a:gd name="T16" fmla="*/ 236 w 741"/>
                <a:gd name="T17" fmla="*/ 526 h 628"/>
                <a:gd name="T18" fmla="*/ 269 w 741"/>
                <a:gd name="T19" fmla="*/ 529 h 628"/>
                <a:gd name="T20" fmla="*/ 305 w 741"/>
                <a:gd name="T21" fmla="*/ 544 h 628"/>
                <a:gd name="T22" fmla="*/ 364 w 741"/>
                <a:gd name="T23" fmla="*/ 544 h 628"/>
                <a:gd name="T24" fmla="*/ 442 w 741"/>
                <a:gd name="T25" fmla="*/ 578 h 628"/>
                <a:gd name="T26" fmla="*/ 554 w 741"/>
                <a:gd name="T27" fmla="*/ 557 h 628"/>
                <a:gd name="T28" fmla="*/ 597 w 741"/>
                <a:gd name="T29" fmla="*/ 541 h 628"/>
                <a:gd name="T30" fmla="*/ 621 w 741"/>
                <a:gd name="T31" fmla="*/ 526 h 628"/>
                <a:gd name="T32" fmla="*/ 621 w 741"/>
                <a:gd name="T33" fmla="*/ 484 h 628"/>
                <a:gd name="T34" fmla="*/ 656 w 741"/>
                <a:gd name="T35" fmla="*/ 426 h 628"/>
                <a:gd name="T36" fmla="*/ 727 w 741"/>
                <a:gd name="T37" fmla="*/ 194 h 628"/>
                <a:gd name="T38" fmla="*/ 721 w 741"/>
                <a:gd name="T39" fmla="*/ 145 h 628"/>
                <a:gd name="T40" fmla="*/ 697 w 741"/>
                <a:gd name="T41" fmla="*/ 105 h 628"/>
                <a:gd name="T42" fmla="*/ 692 w 741"/>
                <a:gd name="T43" fmla="*/ 28 h 628"/>
                <a:gd name="T44" fmla="*/ 623 w 741"/>
                <a:gd name="T45" fmla="*/ 16 h 628"/>
                <a:gd name="T46" fmla="*/ 551 w 741"/>
                <a:gd name="T47" fmla="*/ 0 h 628"/>
                <a:gd name="T48" fmla="*/ 261 w 741"/>
                <a:gd name="T49" fmla="*/ 221 h 628"/>
                <a:gd name="T50" fmla="*/ 190 w 741"/>
                <a:gd name="T51" fmla="*/ 372 h 628"/>
                <a:gd name="T52" fmla="*/ 160 w 741"/>
                <a:gd name="T53" fmla="*/ 427 h 628"/>
                <a:gd name="T54" fmla="*/ 124 w 741"/>
                <a:gd name="T55" fmla="*/ 437 h 628"/>
                <a:gd name="T56" fmla="*/ 92 w 741"/>
                <a:gd name="T57" fmla="*/ 444 h 628"/>
                <a:gd name="T58" fmla="*/ 32 w 741"/>
                <a:gd name="T59" fmla="*/ 455 h 628"/>
                <a:gd name="T60" fmla="*/ 1 w 741"/>
                <a:gd name="T61" fmla="*/ 485 h 628"/>
                <a:gd name="T62" fmla="*/ 13 w 741"/>
                <a:gd name="T63" fmla="*/ 525 h 6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41" h="628">
                  <a:moveTo>
                    <a:pt x="35" y="531"/>
                  </a:moveTo>
                  <a:cubicBezTo>
                    <a:pt x="36" y="540"/>
                    <a:pt x="36" y="540"/>
                    <a:pt x="36" y="540"/>
                  </a:cubicBezTo>
                  <a:cubicBezTo>
                    <a:pt x="46" y="541"/>
                    <a:pt x="46" y="541"/>
                    <a:pt x="46" y="541"/>
                  </a:cubicBezTo>
                  <a:cubicBezTo>
                    <a:pt x="46" y="541"/>
                    <a:pt x="31" y="552"/>
                    <a:pt x="34" y="557"/>
                  </a:cubicBezTo>
                  <a:cubicBezTo>
                    <a:pt x="37" y="562"/>
                    <a:pt x="56" y="584"/>
                    <a:pt x="68" y="584"/>
                  </a:cubicBezTo>
                  <a:cubicBezTo>
                    <a:pt x="80" y="584"/>
                    <a:pt x="79" y="575"/>
                    <a:pt x="88" y="579"/>
                  </a:cubicBezTo>
                  <a:cubicBezTo>
                    <a:pt x="97" y="583"/>
                    <a:pt x="99" y="593"/>
                    <a:pt x="99" y="593"/>
                  </a:cubicBezTo>
                  <a:cubicBezTo>
                    <a:pt x="84" y="598"/>
                    <a:pt x="84" y="598"/>
                    <a:pt x="84" y="598"/>
                  </a:cubicBezTo>
                  <a:cubicBezTo>
                    <a:pt x="99" y="620"/>
                    <a:pt x="99" y="620"/>
                    <a:pt x="99" y="620"/>
                  </a:cubicBezTo>
                  <a:cubicBezTo>
                    <a:pt x="102" y="604"/>
                    <a:pt x="102" y="604"/>
                    <a:pt x="102" y="604"/>
                  </a:cubicBezTo>
                  <a:cubicBezTo>
                    <a:pt x="119" y="597"/>
                    <a:pt x="119" y="597"/>
                    <a:pt x="119" y="597"/>
                  </a:cubicBezTo>
                  <a:cubicBezTo>
                    <a:pt x="119" y="597"/>
                    <a:pt x="136" y="616"/>
                    <a:pt x="141" y="619"/>
                  </a:cubicBezTo>
                  <a:cubicBezTo>
                    <a:pt x="146" y="622"/>
                    <a:pt x="162" y="628"/>
                    <a:pt x="162" y="628"/>
                  </a:cubicBezTo>
                  <a:cubicBezTo>
                    <a:pt x="159" y="594"/>
                    <a:pt x="159" y="594"/>
                    <a:pt x="159" y="594"/>
                  </a:cubicBezTo>
                  <a:cubicBezTo>
                    <a:pt x="159" y="594"/>
                    <a:pt x="181" y="583"/>
                    <a:pt x="182" y="568"/>
                  </a:cubicBezTo>
                  <a:cubicBezTo>
                    <a:pt x="183" y="553"/>
                    <a:pt x="183" y="542"/>
                    <a:pt x="183" y="542"/>
                  </a:cubicBezTo>
                  <a:cubicBezTo>
                    <a:pt x="202" y="525"/>
                    <a:pt x="202" y="525"/>
                    <a:pt x="202" y="525"/>
                  </a:cubicBezTo>
                  <a:cubicBezTo>
                    <a:pt x="236" y="526"/>
                    <a:pt x="236" y="526"/>
                    <a:pt x="236" y="526"/>
                  </a:cubicBezTo>
                  <a:cubicBezTo>
                    <a:pt x="236" y="526"/>
                    <a:pt x="235" y="520"/>
                    <a:pt x="249" y="519"/>
                  </a:cubicBezTo>
                  <a:cubicBezTo>
                    <a:pt x="263" y="518"/>
                    <a:pt x="262" y="528"/>
                    <a:pt x="269" y="529"/>
                  </a:cubicBezTo>
                  <a:cubicBezTo>
                    <a:pt x="276" y="530"/>
                    <a:pt x="288" y="530"/>
                    <a:pt x="288" y="530"/>
                  </a:cubicBezTo>
                  <a:cubicBezTo>
                    <a:pt x="305" y="544"/>
                    <a:pt x="305" y="544"/>
                    <a:pt x="305" y="544"/>
                  </a:cubicBezTo>
                  <a:cubicBezTo>
                    <a:pt x="305" y="544"/>
                    <a:pt x="310" y="566"/>
                    <a:pt x="319" y="565"/>
                  </a:cubicBezTo>
                  <a:cubicBezTo>
                    <a:pt x="328" y="564"/>
                    <a:pt x="352" y="544"/>
                    <a:pt x="364" y="544"/>
                  </a:cubicBezTo>
                  <a:cubicBezTo>
                    <a:pt x="376" y="544"/>
                    <a:pt x="388" y="572"/>
                    <a:pt x="407" y="573"/>
                  </a:cubicBezTo>
                  <a:cubicBezTo>
                    <a:pt x="426" y="574"/>
                    <a:pt x="442" y="578"/>
                    <a:pt x="442" y="578"/>
                  </a:cubicBezTo>
                  <a:cubicBezTo>
                    <a:pt x="442" y="578"/>
                    <a:pt x="454" y="543"/>
                    <a:pt x="496" y="543"/>
                  </a:cubicBezTo>
                  <a:cubicBezTo>
                    <a:pt x="538" y="543"/>
                    <a:pt x="554" y="557"/>
                    <a:pt x="554" y="557"/>
                  </a:cubicBezTo>
                  <a:cubicBezTo>
                    <a:pt x="572" y="558"/>
                    <a:pt x="572" y="558"/>
                    <a:pt x="572" y="558"/>
                  </a:cubicBezTo>
                  <a:cubicBezTo>
                    <a:pt x="572" y="558"/>
                    <a:pt x="590" y="545"/>
                    <a:pt x="597" y="541"/>
                  </a:cubicBezTo>
                  <a:cubicBezTo>
                    <a:pt x="604" y="537"/>
                    <a:pt x="613" y="540"/>
                    <a:pt x="613" y="540"/>
                  </a:cubicBezTo>
                  <a:cubicBezTo>
                    <a:pt x="613" y="540"/>
                    <a:pt x="617" y="526"/>
                    <a:pt x="621" y="526"/>
                  </a:cubicBezTo>
                  <a:cubicBezTo>
                    <a:pt x="622" y="526"/>
                    <a:pt x="623" y="526"/>
                    <a:pt x="624" y="526"/>
                  </a:cubicBezTo>
                  <a:cubicBezTo>
                    <a:pt x="621" y="484"/>
                    <a:pt x="621" y="484"/>
                    <a:pt x="621" y="484"/>
                  </a:cubicBezTo>
                  <a:cubicBezTo>
                    <a:pt x="634" y="479"/>
                    <a:pt x="634" y="479"/>
                    <a:pt x="634" y="479"/>
                  </a:cubicBezTo>
                  <a:cubicBezTo>
                    <a:pt x="634" y="479"/>
                    <a:pt x="644" y="442"/>
                    <a:pt x="656" y="426"/>
                  </a:cubicBezTo>
                  <a:cubicBezTo>
                    <a:pt x="667" y="409"/>
                    <a:pt x="717" y="356"/>
                    <a:pt x="717" y="356"/>
                  </a:cubicBezTo>
                  <a:cubicBezTo>
                    <a:pt x="727" y="194"/>
                    <a:pt x="727" y="194"/>
                    <a:pt x="727" y="194"/>
                  </a:cubicBezTo>
                  <a:cubicBezTo>
                    <a:pt x="741" y="169"/>
                    <a:pt x="741" y="169"/>
                    <a:pt x="741" y="169"/>
                  </a:cubicBezTo>
                  <a:cubicBezTo>
                    <a:pt x="721" y="145"/>
                    <a:pt x="721" y="145"/>
                    <a:pt x="721" y="145"/>
                  </a:cubicBezTo>
                  <a:cubicBezTo>
                    <a:pt x="716" y="129"/>
                    <a:pt x="716" y="129"/>
                    <a:pt x="716" y="129"/>
                  </a:cubicBezTo>
                  <a:cubicBezTo>
                    <a:pt x="697" y="105"/>
                    <a:pt x="697" y="105"/>
                    <a:pt x="697" y="105"/>
                  </a:cubicBezTo>
                  <a:cubicBezTo>
                    <a:pt x="704" y="72"/>
                    <a:pt x="704" y="72"/>
                    <a:pt x="704" y="72"/>
                  </a:cubicBezTo>
                  <a:cubicBezTo>
                    <a:pt x="692" y="28"/>
                    <a:pt x="692" y="28"/>
                    <a:pt x="692" y="28"/>
                  </a:cubicBezTo>
                  <a:cubicBezTo>
                    <a:pt x="676" y="37"/>
                    <a:pt x="662" y="44"/>
                    <a:pt x="657" y="45"/>
                  </a:cubicBezTo>
                  <a:cubicBezTo>
                    <a:pt x="646" y="46"/>
                    <a:pt x="630" y="18"/>
                    <a:pt x="623" y="16"/>
                  </a:cubicBezTo>
                  <a:cubicBezTo>
                    <a:pt x="616" y="14"/>
                    <a:pt x="576" y="6"/>
                    <a:pt x="576" y="6"/>
                  </a:cubicBezTo>
                  <a:cubicBezTo>
                    <a:pt x="551" y="0"/>
                    <a:pt x="551" y="0"/>
                    <a:pt x="551" y="0"/>
                  </a:cubicBezTo>
                  <a:cubicBezTo>
                    <a:pt x="551" y="0"/>
                    <a:pt x="364" y="136"/>
                    <a:pt x="342" y="151"/>
                  </a:cubicBezTo>
                  <a:cubicBezTo>
                    <a:pt x="320" y="166"/>
                    <a:pt x="275" y="219"/>
                    <a:pt x="261" y="221"/>
                  </a:cubicBezTo>
                  <a:cubicBezTo>
                    <a:pt x="251" y="222"/>
                    <a:pt x="210" y="231"/>
                    <a:pt x="190" y="235"/>
                  </a:cubicBezTo>
                  <a:cubicBezTo>
                    <a:pt x="190" y="372"/>
                    <a:pt x="190" y="372"/>
                    <a:pt x="190" y="372"/>
                  </a:cubicBezTo>
                  <a:cubicBezTo>
                    <a:pt x="175" y="387"/>
                    <a:pt x="175" y="387"/>
                    <a:pt x="175" y="387"/>
                  </a:cubicBezTo>
                  <a:cubicBezTo>
                    <a:pt x="175" y="387"/>
                    <a:pt x="175" y="420"/>
                    <a:pt x="160" y="427"/>
                  </a:cubicBezTo>
                  <a:cubicBezTo>
                    <a:pt x="138" y="438"/>
                    <a:pt x="131" y="432"/>
                    <a:pt x="131" y="432"/>
                  </a:cubicBezTo>
                  <a:cubicBezTo>
                    <a:pt x="124" y="437"/>
                    <a:pt x="124" y="437"/>
                    <a:pt x="124" y="437"/>
                  </a:cubicBezTo>
                  <a:cubicBezTo>
                    <a:pt x="93" y="435"/>
                    <a:pt x="93" y="435"/>
                    <a:pt x="93" y="435"/>
                  </a:cubicBezTo>
                  <a:cubicBezTo>
                    <a:pt x="92" y="444"/>
                    <a:pt x="92" y="444"/>
                    <a:pt x="92" y="444"/>
                  </a:cubicBezTo>
                  <a:cubicBezTo>
                    <a:pt x="50" y="443"/>
                    <a:pt x="50" y="443"/>
                    <a:pt x="50" y="443"/>
                  </a:cubicBezTo>
                  <a:cubicBezTo>
                    <a:pt x="32" y="455"/>
                    <a:pt x="32" y="455"/>
                    <a:pt x="32" y="455"/>
                  </a:cubicBezTo>
                  <a:cubicBezTo>
                    <a:pt x="0" y="462"/>
                    <a:pt x="0" y="462"/>
                    <a:pt x="0" y="462"/>
                  </a:cubicBezTo>
                  <a:cubicBezTo>
                    <a:pt x="1" y="485"/>
                    <a:pt x="1" y="485"/>
                    <a:pt x="1" y="485"/>
                  </a:cubicBezTo>
                  <a:cubicBezTo>
                    <a:pt x="4" y="494"/>
                    <a:pt x="4" y="494"/>
                    <a:pt x="4" y="494"/>
                  </a:cubicBezTo>
                  <a:cubicBezTo>
                    <a:pt x="4" y="494"/>
                    <a:pt x="3" y="518"/>
                    <a:pt x="13" y="525"/>
                  </a:cubicBezTo>
                  <a:cubicBezTo>
                    <a:pt x="23" y="532"/>
                    <a:pt x="35" y="531"/>
                    <a:pt x="35" y="531"/>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515" name="Freeform 307">
              <a:extLst>
                <a:ext uri="{FF2B5EF4-FFF2-40B4-BE49-F238E27FC236}">
                  <a16:creationId xmlns:a16="http://schemas.microsoft.com/office/drawing/2014/main" id="{A52F4873-11B3-4F9F-80B0-F3694B63501C}"/>
                </a:ext>
              </a:extLst>
            </p:cNvPr>
            <p:cNvSpPr>
              <a:spLocks/>
            </p:cNvSpPr>
            <p:nvPr/>
          </p:nvSpPr>
          <p:spPr bwMode="gray">
            <a:xfrm>
              <a:off x="4471669" y="1407668"/>
              <a:ext cx="667049" cy="629310"/>
            </a:xfrm>
            <a:custGeom>
              <a:avLst/>
              <a:gdLst>
                <a:gd name="T0" fmla="*/ 212 w 983"/>
                <a:gd name="T1" fmla="*/ 357 h 981"/>
                <a:gd name="T2" fmla="*/ 155 w 983"/>
                <a:gd name="T3" fmla="*/ 390 h 981"/>
                <a:gd name="T4" fmla="*/ 136 w 983"/>
                <a:gd name="T5" fmla="*/ 399 h 981"/>
                <a:gd name="T6" fmla="*/ 111 w 983"/>
                <a:gd name="T7" fmla="*/ 404 h 981"/>
                <a:gd name="T8" fmla="*/ 81 w 983"/>
                <a:gd name="T9" fmla="*/ 417 h 981"/>
                <a:gd name="T10" fmla="*/ 40 w 983"/>
                <a:gd name="T11" fmla="*/ 454 h 981"/>
                <a:gd name="T12" fmla="*/ 35 w 983"/>
                <a:gd name="T13" fmla="*/ 511 h 981"/>
                <a:gd name="T14" fmla="*/ 37 w 983"/>
                <a:gd name="T15" fmla="*/ 513 h 981"/>
                <a:gd name="T16" fmla="*/ 208 w 983"/>
                <a:gd name="T17" fmla="*/ 656 h 981"/>
                <a:gd name="T18" fmla="*/ 481 w 983"/>
                <a:gd name="T19" fmla="*/ 882 h 981"/>
                <a:gd name="T20" fmla="*/ 510 w 983"/>
                <a:gd name="T21" fmla="*/ 904 h 981"/>
                <a:gd name="T22" fmla="*/ 538 w 983"/>
                <a:gd name="T23" fmla="*/ 923 h 981"/>
                <a:gd name="T24" fmla="*/ 582 w 983"/>
                <a:gd name="T25" fmla="*/ 953 h 981"/>
                <a:gd name="T26" fmla="*/ 610 w 983"/>
                <a:gd name="T27" fmla="*/ 973 h 981"/>
                <a:gd name="T28" fmla="*/ 774 w 983"/>
                <a:gd name="T29" fmla="*/ 886 h 981"/>
                <a:gd name="T30" fmla="*/ 963 w 983"/>
                <a:gd name="T31" fmla="*/ 691 h 981"/>
                <a:gd name="T32" fmla="*/ 909 w 983"/>
                <a:gd name="T33" fmla="*/ 684 h 981"/>
                <a:gd name="T34" fmla="*/ 893 w 983"/>
                <a:gd name="T35" fmla="*/ 639 h 981"/>
                <a:gd name="T36" fmla="*/ 889 w 983"/>
                <a:gd name="T37" fmla="*/ 569 h 981"/>
                <a:gd name="T38" fmla="*/ 880 w 983"/>
                <a:gd name="T39" fmla="*/ 515 h 981"/>
                <a:gd name="T40" fmla="*/ 883 w 983"/>
                <a:gd name="T41" fmla="*/ 488 h 981"/>
                <a:gd name="T42" fmla="*/ 862 w 983"/>
                <a:gd name="T43" fmla="*/ 381 h 981"/>
                <a:gd name="T44" fmla="*/ 870 w 983"/>
                <a:gd name="T45" fmla="*/ 373 h 981"/>
                <a:gd name="T46" fmla="*/ 817 w 983"/>
                <a:gd name="T47" fmla="*/ 252 h 981"/>
                <a:gd name="T48" fmla="*/ 789 w 983"/>
                <a:gd name="T49" fmla="*/ 213 h 981"/>
                <a:gd name="T50" fmla="*/ 782 w 983"/>
                <a:gd name="T51" fmla="*/ 194 h 981"/>
                <a:gd name="T52" fmla="*/ 798 w 983"/>
                <a:gd name="T53" fmla="*/ 148 h 981"/>
                <a:gd name="T54" fmla="*/ 820 w 983"/>
                <a:gd name="T55" fmla="*/ 105 h 981"/>
                <a:gd name="T56" fmla="*/ 820 w 983"/>
                <a:gd name="T57" fmla="*/ 38 h 981"/>
                <a:gd name="T58" fmla="*/ 835 w 983"/>
                <a:gd name="T59" fmla="*/ 21 h 981"/>
                <a:gd name="T60" fmla="*/ 815 w 983"/>
                <a:gd name="T61" fmla="*/ 10 h 981"/>
                <a:gd name="T62" fmla="*/ 779 w 983"/>
                <a:gd name="T63" fmla="*/ 3 h 981"/>
                <a:gd name="T64" fmla="*/ 769 w 983"/>
                <a:gd name="T65" fmla="*/ 14 h 981"/>
                <a:gd name="T66" fmla="*/ 728 w 983"/>
                <a:gd name="T67" fmla="*/ 0 h 981"/>
                <a:gd name="T68" fmla="*/ 704 w 983"/>
                <a:gd name="T69" fmla="*/ 14 h 981"/>
                <a:gd name="T70" fmla="*/ 631 w 983"/>
                <a:gd name="T71" fmla="*/ 18 h 981"/>
                <a:gd name="T72" fmla="*/ 545 w 983"/>
                <a:gd name="T73" fmla="*/ 27 h 981"/>
                <a:gd name="T74" fmla="*/ 503 w 983"/>
                <a:gd name="T75" fmla="*/ 33 h 981"/>
                <a:gd name="T76" fmla="*/ 446 w 983"/>
                <a:gd name="T77" fmla="*/ 72 h 981"/>
                <a:gd name="T78" fmla="*/ 355 w 983"/>
                <a:gd name="T79" fmla="*/ 113 h 981"/>
                <a:gd name="T80" fmla="*/ 349 w 983"/>
                <a:gd name="T81" fmla="*/ 112 h 981"/>
                <a:gd name="T82" fmla="*/ 360 w 983"/>
                <a:gd name="T83" fmla="*/ 141 h 981"/>
                <a:gd name="T84" fmla="*/ 365 w 983"/>
                <a:gd name="T85" fmla="*/ 186 h 981"/>
                <a:gd name="T86" fmla="*/ 364 w 983"/>
                <a:gd name="T87" fmla="*/ 218 h 981"/>
                <a:gd name="T88" fmla="*/ 375 w 983"/>
                <a:gd name="T89" fmla="*/ 238 h 981"/>
                <a:gd name="T90" fmla="*/ 382 w 983"/>
                <a:gd name="T91" fmla="*/ 259 h 981"/>
                <a:gd name="T92" fmla="*/ 343 w 983"/>
                <a:gd name="T93" fmla="*/ 274 h 981"/>
                <a:gd name="T94" fmla="*/ 321 w 983"/>
                <a:gd name="T95" fmla="*/ 275 h 981"/>
                <a:gd name="T96" fmla="*/ 303 w 983"/>
                <a:gd name="T97" fmla="*/ 288 h 981"/>
                <a:gd name="T98" fmla="*/ 267 w 983"/>
                <a:gd name="T99" fmla="*/ 318 h 981"/>
                <a:gd name="T100" fmla="*/ 260 w 983"/>
                <a:gd name="T101" fmla="*/ 337 h 9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83" h="981">
                  <a:moveTo>
                    <a:pt x="242" y="356"/>
                  </a:moveTo>
                  <a:cubicBezTo>
                    <a:pt x="236" y="356"/>
                    <a:pt x="212" y="357"/>
                    <a:pt x="212" y="357"/>
                  </a:cubicBezTo>
                  <a:cubicBezTo>
                    <a:pt x="212" y="357"/>
                    <a:pt x="197" y="388"/>
                    <a:pt x="189" y="391"/>
                  </a:cubicBezTo>
                  <a:cubicBezTo>
                    <a:pt x="181" y="394"/>
                    <a:pt x="155" y="390"/>
                    <a:pt x="155" y="390"/>
                  </a:cubicBezTo>
                  <a:cubicBezTo>
                    <a:pt x="154" y="398"/>
                    <a:pt x="154" y="398"/>
                    <a:pt x="154" y="398"/>
                  </a:cubicBezTo>
                  <a:cubicBezTo>
                    <a:pt x="136" y="399"/>
                    <a:pt x="136" y="399"/>
                    <a:pt x="136" y="399"/>
                  </a:cubicBezTo>
                  <a:cubicBezTo>
                    <a:pt x="136" y="399"/>
                    <a:pt x="136" y="411"/>
                    <a:pt x="130" y="412"/>
                  </a:cubicBezTo>
                  <a:cubicBezTo>
                    <a:pt x="124" y="413"/>
                    <a:pt x="111" y="404"/>
                    <a:pt x="111" y="404"/>
                  </a:cubicBezTo>
                  <a:cubicBezTo>
                    <a:pt x="93" y="418"/>
                    <a:pt x="93" y="418"/>
                    <a:pt x="93" y="418"/>
                  </a:cubicBezTo>
                  <a:cubicBezTo>
                    <a:pt x="81" y="417"/>
                    <a:pt x="81" y="417"/>
                    <a:pt x="81" y="417"/>
                  </a:cubicBezTo>
                  <a:cubicBezTo>
                    <a:pt x="81" y="417"/>
                    <a:pt x="67" y="437"/>
                    <a:pt x="60" y="442"/>
                  </a:cubicBezTo>
                  <a:cubicBezTo>
                    <a:pt x="53" y="447"/>
                    <a:pt x="40" y="454"/>
                    <a:pt x="40" y="454"/>
                  </a:cubicBezTo>
                  <a:cubicBezTo>
                    <a:pt x="37" y="472"/>
                    <a:pt x="37" y="472"/>
                    <a:pt x="37" y="472"/>
                  </a:cubicBezTo>
                  <a:cubicBezTo>
                    <a:pt x="35" y="511"/>
                    <a:pt x="35" y="511"/>
                    <a:pt x="35" y="511"/>
                  </a:cubicBezTo>
                  <a:cubicBezTo>
                    <a:pt x="0" y="511"/>
                    <a:pt x="0" y="511"/>
                    <a:pt x="0" y="511"/>
                  </a:cubicBezTo>
                  <a:cubicBezTo>
                    <a:pt x="37" y="513"/>
                    <a:pt x="37" y="513"/>
                    <a:pt x="37" y="513"/>
                  </a:cubicBezTo>
                  <a:cubicBezTo>
                    <a:pt x="35" y="535"/>
                    <a:pt x="35" y="535"/>
                    <a:pt x="35" y="535"/>
                  </a:cubicBezTo>
                  <a:cubicBezTo>
                    <a:pt x="208" y="656"/>
                    <a:pt x="208" y="656"/>
                    <a:pt x="208" y="656"/>
                  </a:cubicBezTo>
                  <a:cubicBezTo>
                    <a:pt x="482" y="865"/>
                    <a:pt x="482" y="865"/>
                    <a:pt x="482" y="865"/>
                  </a:cubicBezTo>
                  <a:cubicBezTo>
                    <a:pt x="481" y="882"/>
                    <a:pt x="481" y="882"/>
                    <a:pt x="481" y="882"/>
                  </a:cubicBezTo>
                  <a:cubicBezTo>
                    <a:pt x="481" y="882"/>
                    <a:pt x="498" y="878"/>
                    <a:pt x="500" y="886"/>
                  </a:cubicBezTo>
                  <a:cubicBezTo>
                    <a:pt x="502" y="894"/>
                    <a:pt x="500" y="901"/>
                    <a:pt x="510" y="904"/>
                  </a:cubicBezTo>
                  <a:cubicBezTo>
                    <a:pt x="520" y="907"/>
                    <a:pt x="533" y="905"/>
                    <a:pt x="533" y="905"/>
                  </a:cubicBezTo>
                  <a:cubicBezTo>
                    <a:pt x="538" y="923"/>
                    <a:pt x="538" y="923"/>
                    <a:pt x="538" y="923"/>
                  </a:cubicBezTo>
                  <a:cubicBezTo>
                    <a:pt x="538" y="923"/>
                    <a:pt x="561" y="917"/>
                    <a:pt x="571" y="925"/>
                  </a:cubicBezTo>
                  <a:cubicBezTo>
                    <a:pt x="581" y="933"/>
                    <a:pt x="582" y="953"/>
                    <a:pt x="582" y="953"/>
                  </a:cubicBezTo>
                  <a:cubicBezTo>
                    <a:pt x="582" y="953"/>
                    <a:pt x="558" y="967"/>
                    <a:pt x="573" y="974"/>
                  </a:cubicBezTo>
                  <a:cubicBezTo>
                    <a:pt x="588" y="981"/>
                    <a:pt x="610" y="973"/>
                    <a:pt x="610" y="973"/>
                  </a:cubicBezTo>
                  <a:cubicBezTo>
                    <a:pt x="610" y="973"/>
                    <a:pt x="679" y="958"/>
                    <a:pt x="693" y="956"/>
                  </a:cubicBezTo>
                  <a:cubicBezTo>
                    <a:pt x="707" y="954"/>
                    <a:pt x="752" y="901"/>
                    <a:pt x="774" y="886"/>
                  </a:cubicBezTo>
                  <a:cubicBezTo>
                    <a:pt x="796" y="871"/>
                    <a:pt x="983" y="735"/>
                    <a:pt x="983" y="735"/>
                  </a:cubicBezTo>
                  <a:cubicBezTo>
                    <a:pt x="983" y="735"/>
                    <a:pt x="968" y="694"/>
                    <a:pt x="963" y="691"/>
                  </a:cubicBezTo>
                  <a:cubicBezTo>
                    <a:pt x="958" y="688"/>
                    <a:pt x="930" y="675"/>
                    <a:pt x="924" y="678"/>
                  </a:cubicBezTo>
                  <a:cubicBezTo>
                    <a:pt x="918" y="681"/>
                    <a:pt x="913" y="686"/>
                    <a:pt x="909" y="684"/>
                  </a:cubicBezTo>
                  <a:cubicBezTo>
                    <a:pt x="905" y="682"/>
                    <a:pt x="893" y="671"/>
                    <a:pt x="893" y="664"/>
                  </a:cubicBezTo>
                  <a:cubicBezTo>
                    <a:pt x="893" y="657"/>
                    <a:pt x="898" y="647"/>
                    <a:pt x="893" y="639"/>
                  </a:cubicBezTo>
                  <a:cubicBezTo>
                    <a:pt x="888" y="631"/>
                    <a:pt x="861" y="595"/>
                    <a:pt x="862" y="589"/>
                  </a:cubicBezTo>
                  <a:cubicBezTo>
                    <a:pt x="863" y="583"/>
                    <a:pt x="889" y="581"/>
                    <a:pt x="889" y="569"/>
                  </a:cubicBezTo>
                  <a:cubicBezTo>
                    <a:pt x="889" y="557"/>
                    <a:pt x="885" y="551"/>
                    <a:pt x="885" y="551"/>
                  </a:cubicBezTo>
                  <a:cubicBezTo>
                    <a:pt x="880" y="515"/>
                    <a:pt x="880" y="515"/>
                    <a:pt x="880" y="515"/>
                  </a:cubicBezTo>
                  <a:cubicBezTo>
                    <a:pt x="889" y="502"/>
                    <a:pt x="889" y="502"/>
                    <a:pt x="889" y="502"/>
                  </a:cubicBezTo>
                  <a:cubicBezTo>
                    <a:pt x="883" y="488"/>
                    <a:pt x="883" y="488"/>
                    <a:pt x="883" y="488"/>
                  </a:cubicBezTo>
                  <a:cubicBezTo>
                    <a:pt x="883" y="488"/>
                    <a:pt x="892" y="458"/>
                    <a:pt x="891" y="448"/>
                  </a:cubicBezTo>
                  <a:cubicBezTo>
                    <a:pt x="890" y="438"/>
                    <a:pt x="863" y="387"/>
                    <a:pt x="862" y="381"/>
                  </a:cubicBezTo>
                  <a:cubicBezTo>
                    <a:pt x="862" y="378"/>
                    <a:pt x="866" y="376"/>
                    <a:pt x="870" y="373"/>
                  </a:cubicBezTo>
                  <a:cubicBezTo>
                    <a:pt x="870" y="373"/>
                    <a:pt x="870" y="373"/>
                    <a:pt x="870" y="373"/>
                  </a:cubicBezTo>
                  <a:cubicBezTo>
                    <a:pt x="864" y="350"/>
                    <a:pt x="849" y="288"/>
                    <a:pt x="849" y="277"/>
                  </a:cubicBezTo>
                  <a:cubicBezTo>
                    <a:pt x="849" y="264"/>
                    <a:pt x="817" y="252"/>
                    <a:pt x="817" y="252"/>
                  </a:cubicBezTo>
                  <a:cubicBezTo>
                    <a:pt x="817" y="252"/>
                    <a:pt x="817" y="234"/>
                    <a:pt x="816" y="226"/>
                  </a:cubicBezTo>
                  <a:cubicBezTo>
                    <a:pt x="815" y="218"/>
                    <a:pt x="789" y="213"/>
                    <a:pt x="789" y="213"/>
                  </a:cubicBezTo>
                  <a:cubicBezTo>
                    <a:pt x="789" y="194"/>
                    <a:pt x="789" y="194"/>
                    <a:pt x="789" y="194"/>
                  </a:cubicBezTo>
                  <a:cubicBezTo>
                    <a:pt x="782" y="194"/>
                    <a:pt x="782" y="194"/>
                    <a:pt x="782" y="194"/>
                  </a:cubicBezTo>
                  <a:cubicBezTo>
                    <a:pt x="782" y="194"/>
                    <a:pt x="782" y="181"/>
                    <a:pt x="782" y="171"/>
                  </a:cubicBezTo>
                  <a:cubicBezTo>
                    <a:pt x="782" y="161"/>
                    <a:pt x="798" y="148"/>
                    <a:pt x="798" y="148"/>
                  </a:cubicBezTo>
                  <a:cubicBezTo>
                    <a:pt x="812" y="137"/>
                    <a:pt x="812" y="137"/>
                    <a:pt x="812" y="137"/>
                  </a:cubicBezTo>
                  <a:cubicBezTo>
                    <a:pt x="812" y="137"/>
                    <a:pt x="819" y="115"/>
                    <a:pt x="820" y="105"/>
                  </a:cubicBezTo>
                  <a:cubicBezTo>
                    <a:pt x="821" y="95"/>
                    <a:pt x="819" y="83"/>
                    <a:pt x="815" y="76"/>
                  </a:cubicBezTo>
                  <a:cubicBezTo>
                    <a:pt x="811" y="69"/>
                    <a:pt x="820" y="38"/>
                    <a:pt x="820" y="38"/>
                  </a:cubicBezTo>
                  <a:cubicBezTo>
                    <a:pt x="807" y="34"/>
                    <a:pt x="807" y="34"/>
                    <a:pt x="807" y="34"/>
                  </a:cubicBezTo>
                  <a:cubicBezTo>
                    <a:pt x="835" y="21"/>
                    <a:pt x="835" y="21"/>
                    <a:pt x="835" y="21"/>
                  </a:cubicBezTo>
                  <a:cubicBezTo>
                    <a:pt x="835" y="11"/>
                    <a:pt x="835" y="11"/>
                    <a:pt x="835" y="11"/>
                  </a:cubicBezTo>
                  <a:cubicBezTo>
                    <a:pt x="826" y="11"/>
                    <a:pt x="815" y="10"/>
                    <a:pt x="815" y="10"/>
                  </a:cubicBezTo>
                  <a:cubicBezTo>
                    <a:pt x="806" y="15"/>
                    <a:pt x="806" y="15"/>
                    <a:pt x="806" y="15"/>
                  </a:cubicBezTo>
                  <a:cubicBezTo>
                    <a:pt x="779" y="3"/>
                    <a:pt x="779" y="3"/>
                    <a:pt x="779" y="3"/>
                  </a:cubicBezTo>
                  <a:cubicBezTo>
                    <a:pt x="769" y="5"/>
                    <a:pt x="769" y="5"/>
                    <a:pt x="769" y="5"/>
                  </a:cubicBezTo>
                  <a:cubicBezTo>
                    <a:pt x="769" y="14"/>
                    <a:pt x="769" y="14"/>
                    <a:pt x="769" y="14"/>
                  </a:cubicBezTo>
                  <a:cubicBezTo>
                    <a:pt x="744" y="12"/>
                    <a:pt x="744" y="12"/>
                    <a:pt x="744" y="12"/>
                  </a:cubicBezTo>
                  <a:cubicBezTo>
                    <a:pt x="728" y="0"/>
                    <a:pt x="728" y="0"/>
                    <a:pt x="728" y="0"/>
                  </a:cubicBezTo>
                  <a:cubicBezTo>
                    <a:pt x="724" y="19"/>
                    <a:pt x="724" y="19"/>
                    <a:pt x="724" y="19"/>
                  </a:cubicBezTo>
                  <a:cubicBezTo>
                    <a:pt x="704" y="14"/>
                    <a:pt x="704" y="14"/>
                    <a:pt x="704" y="14"/>
                  </a:cubicBezTo>
                  <a:cubicBezTo>
                    <a:pt x="686" y="29"/>
                    <a:pt x="686" y="29"/>
                    <a:pt x="686" y="29"/>
                  </a:cubicBezTo>
                  <a:cubicBezTo>
                    <a:pt x="686" y="29"/>
                    <a:pt x="662" y="17"/>
                    <a:pt x="631" y="18"/>
                  </a:cubicBezTo>
                  <a:cubicBezTo>
                    <a:pt x="600" y="19"/>
                    <a:pt x="599" y="26"/>
                    <a:pt x="585" y="27"/>
                  </a:cubicBezTo>
                  <a:cubicBezTo>
                    <a:pt x="571" y="28"/>
                    <a:pt x="545" y="27"/>
                    <a:pt x="545" y="27"/>
                  </a:cubicBezTo>
                  <a:cubicBezTo>
                    <a:pt x="542" y="34"/>
                    <a:pt x="542" y="34"/>
                    <a:pt x="542" y="34"/>
                  </a:cubicBezTo>
                  <a:cubicBezTo>
                    <a:pt x="503" y="33"/>
                    <a:pt x="503" y="33"/>
                    <a:pt x="503" y="33"/>
                  </a:cubicBezTo>
                  <a:cubicBezTo>
                    <a:pt x="503" y="33"/>
                    <a:pt x="456" y="43"/>
                    <a:pt x="455" y="51"/>
                  </a:cubicBezTo>
                  <a:cubicBezTo>
                    <a:pt x="454" y="59"/>
                    <a:pt x="446" y="72"/>
                    <a:pt x="446" y="72"/>
                  </a:cubicBezTo>
                  <a:cubicBezTo>
                    <a:pt x="446" y="72"/>
                    <a:pt x="396" y="74"/>
                    <a:pt x="394" y="83"/>
                  </a:cubicBezTo>
                  <a:cubicBezTo>
                    <a:pt x="392" y="92"/>
                    <a:pt x="370" y="113"/>
                    <a:pt x="355" y="113"/>
                  </a:cubicBezTo>
                  <a:cubicBezTo>
                    <a:pt x="353" y="113"/>
                    <a:pt x="351" y="113"/>
                    <a:pt x="349" y="112"/>
                  </a:cubicBezTo>
                  <a:cubicBezTo>
                    <a:pt x="349" y="112"/>
                    <a:pt x="349" y="112"/>
                    <a:pt x="349" y="112"/>
                  </a:cubicBezTo>
                  <a:cubicBezTo>
                    <a:pt x="350" y="116"/>
                    <a:pt x="354" y="125"/>
                    <a:pt x="364" y="129"/>
                  </a:cubicBezTo>
                  <a:cubicBezTo>
                    <a:pt x="364" y="130"/>
                    <a:pt x="360" y="141"/>
                    <a:pt x="360" y="141"/>
                  </a:cubicBezTo>
                  <a:cubicBezTo>
                    <a:pt x="368" y="141"/>
                    <a:pt x="368" y="141"/>
                    <a:pt x="368" y="141"/>
                  </a:cubicBezTo>
                  <a:cubicBezTo>
                    <a:pt x="365" y="186"/>
                    <a:pt x="365" y="186"/>
                    <a:pt x="365" y="186"/>
                  </a:cubicBezTo>
                  <a:cubicBezTo>
                    <a:pt x="371" y="197"/>
                    <a:pt x="371" y="197"/>
                    <a:pt x="371" y="197"/>
                  </a:cubicBezTo>
                  <a:cubicBezTo>
                    <a:pt x="364" y="218"/>
                    <a:pt x="364" y="218"/>
                    <a:pt x="364" y="218"/>
                  </a:cubicBezTo>
                  <a:cubicBezTo>
                    <a:pt x="378" y="218"/>
                    <a:pt x="378" y="218"/>
                    <a:pt x="378" y="218"/>
                  </a:cubicBezTo>
                  <a:cubicBezTo>
                    <a:pt x="375" y="238"/>
                    <a:pt x="375" y="238"/>
                    <a:pt x="375" y="238"/>
                  </a:cubicBezTo>
                  <a:cubicBezTo>
                    <a:pt x="393" y="250"/>
                    <a:pt x="393" y="250"/>
                    <a:pt x="393" y="250"/>
                  </a:cubicBezTo>
                  <a:cubicBezTo>
                    <a:pt x="393" y="250"/>
                    <a:pt x="384" y="256"/>
                    <a:pt x="382" y="259"/>
                  </a:cubicBezTo>
                  <a:cubicBezTo>
                    <a:pt x="380" y="262"/>
                    <a:pt x="381" y="269"/>
                    <a:pt x="381" y="269"/>
                  </a:cubicBezTo>
                  <a:cubicBezTo>
                    <a:pt x="343" y="274"/>
                    <a:pt x="343" y="274"/>
                    <a:pt x="343" y="274"/>
                  </a:cubicBezTo>
                  <a:cubicBezTo>
                    <a:pt x="343" y="274"/>
                    <a:pt x="333" y="268"/>
                    <a:pt x="329" y="268"/>
                  </a:cubicBezTo>
                  <a:cubicBezTo>
                    <a:pt x="325" y="268"/>
                    <a:pt x="321" y="275"/>
                    <a:pt x="321" y="275"/>
                  </a:cubicBezTo>
                  <a:cubicBezTo>
                    <a:pt x="321" y="275"/>
                    <a:pt x="313" y="270"/>
                    <a:pt x="308" y="273"/>
                  </a:cubicBezTo>
                  <a:cubicBezTo>
                    <a:pt x="303" y="276"/>
                    <a:pt x="310" y="283"/>
                    <a:pt x="303" y="288"/>
                  </a:cubicBezTo>
                  <a:cubicBezTo>
                    <a:pt x="296" y="293"/>
                    <a:pt x="274" y="287"/>
                    <a:pt x="266" y="294"/>
                  </a:cubicBezTo>
                  <a:cubicBezTo>
                    <a:pt x="258" y="301"/>
                    <a:pt x="267" y="318"/>
                    <a:pt x="267" y="318"/>
                  </a:cubicBezTo>
                  <a:cubicBezTo>
                    <a:pt x="277" y="330"/>
                    <a:pt x="277" y="330"/>
                    <a:pt x="277" y="330"/>
                  </a:cubicBezTo>
                  <a:cubicBezTo>
                    <a:pt x="260" y="337"/>
                    <a:pt x="260" y="337"/>
                    <a:pt x="260" y="337"/>
                  </a:cubicBezTo>
                  <a:cubicBezTo>
                    <a:pt x="260" y="337"/>
                    <a:pt x="248" y="356"/>
                    <a:pt x="242" y="356"/>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516" name="Freeform 308">
              <a:extLst>
                <a:ext uri="{FF2B5EF4-FFF2-40B4-BE49-F238E27FC236}">
                  <a16:creationId xmlns:a16="http://schemas.microsoft.com/office/drawing/2014/main" id="{183F5ACA-B8AC-4441-863B-3816B5A249E2}"/>
                </a:ext>
              </a:extLst>
            </p:cNvPr>
            <p:cNvSpPr>
              <a:spLocks/>
            </p:cNvSpPr>
            <p:nvPr/>
          </p:nvSpPr>
          <p:spPr bwMode="gray">
            <a:xfrm>
              <a:off x="5055732" y="1545041"/>
              <a:ext cx="495908" cy="472662"/>
            </a:xfrm>
            <a:custGeom>
              <a:avLst/>
              <a:gdLst>
                <a:gd name="T0" fmla="*/ 104 w 731"/>
                <a:gd name="T1" fmla="*/ 37 h 737"/>
                <a:gd name="T2" fmla="*/ 69 w 731"/>
                <a:gd name="T3" fmla="*/ 55 h 737"/>
                <a:gd name="T4" fmla="*/ 50 w 731"/>
                <a:gd name="T5" fmla="*/ 78 h 737"/>
                <a:gd name="T6" fmla="*/ 35 w 731"/>
                <a:gd name="T7" fmla="*/ 89 h 737"/>
                <a:gd name="T8" fmla="*/ 44 w 731"/>
                <a:gd name="T9" fmla="*/ 127 h 737"/>
                <a:gd name="T10" fmla="*/ 25 w 731"/>
                <a:gd name="T11" fmla="*/ 153 h 737"/>
                <a:gd name="T12" fmla="*/ 1 w 731"/>
                <a:gd name="T13" fmla="*/ 167 h 737"/>
                <a:gd name="T14" fmla="*/ 30 w 731"/>
                <a:gd name="T15" fmla="*/ 234 h 737"/>
                <a:gd name="T16" fmla="*/ 22 w 731"/>
                <a:gd name="T17" fmla="*/ 274 h 737"/>
                <a:gd name="T18" fmla="*/ 28 w 731"/>
                <a:gd name="T19" fmla="*/ 288 h 737"/>
                <a:gd name="T20" fmla="*/ 19 w 731"/>
                <a:gd name="T21" fmla="*/ 301 h 737"/>
                <a:gd name="T22" fmla="*/ 24 w 731"/>
                <a:gd name="T23" fmla="*/ 337 h 737"/>
                <a:gd name="T24" fmla="*/ 28 w 731"/>
                <a:gd name="T25" fmla="*/ 355 h 737"/>
                <a:gd name="T26" fmla="*/ 1 w 731"/>
                <a:gd name="T27" fmla="*/ 375 h 737"/>
                <a:gd name="T28" fmla="*/ 32 w 731"/>
                <a:gd name="T29" fmla="*/ 425 h 737"/>
                <a:gd name="T30" fmla="*/ 32 w 731"/>
                <a:gd name="T31" fmla="*/ 450 h 737"/>
                <a:gd name="T32" fmla="*/ 48 w 731"/>
                <a:gd name="T33" fmla="*/ 470 h 737"/>
                <a:gd name="T34" fmla="*/ 63 w 731"/>
                <a:gd name="T35" fmla="*/ 464 h 737"/>
                <a:gd name="T36" fmla="*/ 102 w 731"/>
                <a:gd name="T37" fmla="*/ 477 h 737"/>
                <a:gd name="T38" fmla="*/ 122 w 731"/>
                <a:gd name="T39" fmla="*/ 521 h 737"/>
                <a:gd name="T40" fmla="*/ 147 w 731"/>
                <a:gd name="T41" fmla="*/ 527 h 737"/>
                <a:gd name="T42" fmla="*/ 194 w 731"/>
                <a:gd name="T43" fmla="*/ 537 h 737"/>
                <a:gd name="T44" fmla="*/ 228 w 731"/>
                <a:gd name="T45" fmla="*/ 566 h 737"/>
                <a:gd name="T46" fmla="*/ 311 w 731"/>
                <a:gd name="T47" fmla="*/ 521 h 737"/>
                <a:gd name="T48" fmla="*/ 684 w 731"/>
                <a:gd name="T49" fmla="*/ 737 h 737"/>
                <a:gd name="T50" fmla="*/ 683 w 731"/>
                <a:gd name="T51" fmla="*/ 708 h 737"/>
                <a:gd name="T52" fmla="*/ 731 w 731"/>
                <a:gd name="T53" fmla="*/ 707 h 737"/>
                <a:gd name="T54" fmla="*/ 730 w 731"/>
                <a:gd name="T55" fmla="*/ 599 h 737"/>
                <a:gd name="T56" fmla="*/ 717 w 731"/>
                <a:gd name="T57" fmla="*/ 201 h 737"/>
                <a:gd name="T58" fmla="*/ 699 w 731"/>
                <a:gd name="T59" fmla="*/ 163 h 737"/>
                <a:gd name="T60" fmla="*/ 713 w 731"/>
                <a:gd name="T61" fmla="*/ 135 h 737"/>
                <a:gd name="T62" fmla="*/ 703 w 731"/>
                <a:gd name="T63" fmla="*/ 115 h 737"/>
                <a:gd name="T64" fmla="*/ 707 w 731"/>
                <a:gd name="T65" fmla="*/ 94 h 737"/>
                <a:gd name="T66" fmla="*/ 720 w 731"/>
                <a:gd name="T67" fmla="*/ 81 h 737"/>
                <a:gd name="T68" fmla="*/ 716 w 731"/>
                <a:gd name="T69" fmla="*/ 63 h 737"/>
                <a:gd name="T70" fmla="*/ 701 w 731"/>
                <a:gd name="T71" fmla="*/ 68 h 737"/>
                <a:gd name="T72" fmla="*/ 694 w 731"/>
                <a:gd name="T73" fmla="*/ 59 h 737"/>
                <a:gd name="T74" fmla="*/ 682 w 731"/>
                <a:gd name="T75" fmla="*/ 67 h 737"/>
                <a:gd name="T76" fmla="*/ 658 w 731"/>
                <a:gd name="T77" fmla="*/ 50 h 737"/>
                <a:gd name="T78" fmla="*/ 628 w 731"/>
                <a:gd name="T79" fmla="*/ 49 h 737"/>
                <a:gd name="T80" fmla="*/ 617 w 731"/>
                <a:gd name="T81" fmla="*/ 28 h 737"/>
                <a:gd name="T82" fmla="*/ 590 w 731"/>
                <a:gd name="T83" fmla="*/ 23 h 737"/>
                <a:gd name="T84" fmla="*/ 561 w 731"/>
                <a:gd name="T85" fmla="*/ 15 h 737"/>
                <a:gd name="T86" fmla="*/ 553 w 731"/>
                <a:gd name="T87" fmla="*/ 23 h 737"/>
                <a:gd name="T88" fmla="*/ 510 w 731"/>
                <a:gd name="T89" fmla="*/ 31 h 737"/>
                <a:gd name="T90" fmla="*/ 480 w 731"/>
                <a:gd name="T91" fmla="*/ 70 h 737"/>
                <a:gd name="T92" fmla="*/ 496 w 731"/>
                <a:gd name="T93" fmla="*/ 114 h 737"/>
                <a:gd name="T94" fmla="*/ 463 w 731"/>
                <a:gd name="T95" fmla="*/ 154 h 737"/>
                <a:gd name="T96" fmla="*/ 419 w 731"/>
                <a:gd name="T97" fmla="*/ 144 h 737"/>
                <a:gd name="T98" fmla="*/ 351 w 731"/>
                <a:gd name="T99" fmla="*/ 105 h 737"/>
                <a:gd name="T100" fmla="*/ 289 w 731"/>
                <a:gd name="T101" fmla="*/ 97 h 737"/>
                <a:gd name="T102" fmla="*/ 271 w 731"/>
                <a:gd name="T103" fmla="*/ 53 h 737"/>
                <a:gd name="T104" fmla="*/ 244 w 731"/>
                <a:gd name="T105" fmla="*/ 40 h 737"/>
                <a:gd name="T106" fmla="*/ 212 w 731"/>
                <a:gd name="T107" fmla="*/ 21 h 737"/>
                <a:gd name="T108" fmla="*/ 173 w 731"/>
                <a:gd name="T109" fmla="*/ 20 h 737"/>
                <a:gd name="T110" fmla="*/ 143 w 731"/>
                <a:gd name="T111" fmla="*/ 24 h 737"/>
                <a:gd name="T112" fmla="*/ 107 w 731"/>
                <a:gd name="T113" fmla="*/ 3 h 737"/>
                <a:gd name="T114" fmla="*/ 96 w 731"/>
                <a:gd name="T115" fmla="*/ 0 h 737"/>
                <a:gd name="T116" fmla="*/ 93 w 731"/>
                <a:gd name="T117" fmla="*/ 27 h 737"/>
                <a:gd name="T118" fmla="*/ 104 w 731"/>
                <a:gd name="T119" fmla="*/ 37 h 7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31" h="737">
                  <a:moveTo>
                    <a:pt x="104" y="37"/>
                  </a:moveTo>
                  <a:cubicBezTo>
                    <a:pt x="100" y="45"/>
                    <a:pt x="75" y="49"/>
                    <a:pt x="69" y="55"/>
                  </a:cubicBezTo>
                  <a:cubicBezTo>
                    <a:pt x="63" y="61"/>
                    <a:pt x="50" y="78"/>
                    <a:pt x="50" y="78"/>
                  </a:cubicBezTo>
                  <a:cubicBezTo>
                    <a:pt x="50" y="78"/>
                    <a:pt x="37" y="83"/>
                    <a:pt x="35" y="89"/>
                  </a:cubicBezTo>
                  <a:cubicBezTo>
                    <a:pt x="33" y="95"/>
                    <a:pt x="43" y="115"/>
                    <a:pt x="44" y="127"/>
                  </a:cubicBezTo>
                  <a:cubicBezTo>
                    <a:pt x="45" y="139"/>
                    <a:pt x="25" y="153"/>
                    <a:pt x="25" y="153"/>
                  </a:cubicBezTo>
                  <a:cubicBezTo>
                    <a:pt x="25" y="153"/>
                    <a:pt x="0" y="161"/>
                    <a:pt x="1" y="167"/>
                  </a:cubicBezTo>
                  <a:cubicBezTo>
                    <a:pt x="2" y="173"/>
                    <a:pt x="29" y="224"/>
                    <a:pt x="30" y="234"/>
                  </a:cubicBezTo>
                  <a:cubicBezTo>
                    <a:pt x="31" y="244"/>
                    <a:pt x="22" y="274"/>
                    <a:pt x="22" y="274"/>
                  </a:cubicBezTo>
                  <a:cubicBezTo>
                    <a:pt x="28" y="288"/>
                    <a:pt x="28" y="288"/>
                    <a:pt x="28" y="288"/>
                  </a:cubicBezTo>
                  <a:cubicBezTo>
                    <a:pt x="19" y="301"/>
                    <a:pt x="19" y="301"/>
                    <a:pt x="19" y="301"/>
                  </a:cubicBezTo>
                  <a:cubicBezTo>
                    <a:pt x="24" y="337"/>
                    <a:pt x="24" y="337"/>
                    <a:pt x="24" y="337"/>
                  </a:cubicBezTo>
                  <a:cubicBezTo>
                    <a:pt x="24" y="337"/>
                    <a:pt x="28" y="343"/>
                    <a:pt x="28" y="355"/>
                  </a:cubicBezTo>
                  <a:cubicBezTo>
                    <a:pt x="28" y="367"/>
                    <a:pt x="2" y="369"/>
                    <a:pt x="1" y="375"/>
                  </a:cubicBezTo>
                  <a:cubicBezTo>
                    <a:pt x="0" y="381"/>
                    <a:pt x="27" y="417"/>
                    <a:pt x="32" y="425"/>
                  </a:cubicBezTo>
                  <a:cubicBezTo>
                    <a:pt x="37" y="433"/>
                    <a:pt x="32" y="443"/>
                    <a:pt x="32" y="450"/>
                  </a:cubicBezTo>
                  <a:cubicBezTo>
                    <a:pt x="32" y="457"/>
                    <a:pt x="44" y="468"/>
                    <a:pt x="48" y="470"/>
                  </a:cubicBezTo>
                  <a:cubicBezTo>
                    <a:pt x="52" y="472"/>
                    <a:pt x="57" y="467"/>
                    <a:pt x="63" y="464"/>
                  </a:cubicBezTo>
                  <a:cubicBezTo>
                    <a:pt x="69" y="461"/>
                    <a:pt x="97" y="474"/>
                    <a:pt x="102" y="477"/>
                  </a:cubicBezTo>
                  <a:cubicBezTo>
                    <a:pt x="107" y="480"/>
                    <a:pt x="122" y="521"/>
                    <a:pt x="122" y="521"/>
                  </a:cubicBezTo>
                  <a:cubicBezTo>
                    <a:pt x="147" y="527"/>
                    <a:pt x="147" y="527"/>
                    <a:pt x="147" y="527"/>
                  </a:cubicBezTo>
                  <a:cubicBezTo>
                    <a:pt x="147" y="527"/>
                    <a:pt x="187" y="535"/>
                    <a:pt x="194" y="537"/>
                  </a:cubicBezTo>
                  <a:cubicBezTo>
                    <a:pt x="201" y="539"/>
                    <a:pt x="217" y="567"/>
                    <a:pt x="228" y="566"/>
                  </a:cubicBezTo>
                  <a:cubicBezTo>
                    <a:pt x="239" y="565"/>
                    <a:pt x="311" y="521"/>
                    <a:pt x="311" y="521"/>
                  </a:cubicBezTo>
                  <a:cubicBezTo>
                    <a:pt x="684" y="737"/>
                    <a:pt x="684" y="737"/>
                    <a:pt x="684" y="737"/>
                  </a:cubicBezTo>
                  <a:cubicBezTo>
                    <a:pt x="683" y="708"/>
                    <a:pt x="683" y="708"/>
                    <a:pt x="683" y="708"/>
                  </a:cubicBezTo>
                  <a:cubicBezTo>
                    <a:pt x="731" y="707"/>
                    <a:pt x="731" y="707"/>
                    <a:pt x="731" y="707"/>
                  </a:cubicBezTo>
                  <a:cubicBezTo>
                    <a:pt x="730" y="599"/>
                    <a:pt x="730" y="599"/>
                    <a:pt x="730" y="599"/>
                  </a:cubicBezTo>
                  <a:cubicBezTo>
                    <a:pt x="730" y="599"/>
                    <a:pt x="717" y="214"/>
                    <a:pt x="717" y="201"/>
                  </a:cubicBezTo>
                  <a:cubicBezTo>
                    <a:pt x="717" y="188"/>
                    <a:pt x="702" y="170"/>
                    <a:pt x="699" y="163"/>
                  </a:cubicBezTo>
                  <a:cubicBezTo>
                    <a:pt x="696" y="156"/>
                    <a:pt x="710" y="144"/>
                    <a:pt x="713" y="135"/>
                  </a:cubicBezTo>
                  <a:cubicBezTo>
                    <a:pt x="716" y="126"/>
                    <a:pt x="704" y="119"/>
                    <a:pt x="703" y="115"/>
                  </a:cubicBezTo>
                  <a:cubicBezTo>
                    <a:pt x="702" y="111"/>
                    <a:pt x="702" y="97"/>
                    <a:pt x="707" y="94"/>
                  </a:cubicBezTo>
                  <a:cubicBezTo>
                    <a:pt x="711" y="92"/>
                    <a:pt x="717" y="85"/>
                    <a:pt x="720" y="81"/>
                  </a:cubicBezTo>
                  <a:cubicBezTo>
                    <a:pt x="714" y="72"/>
                    <a:pt x="716" y="63"/>
                    <a:pt x="716" y="63"/>
                  </a:cubicBezTo>
                  <a:cubicBezTo>
                    <a:pt x="701" y="68"/>
                    <a:pt x="701" y="68"/>
                    <a:pt x="701" y="68"/>
                  </a:cubicBezTo>
                  <a:cubicBezTo>
                    <a:pt x="694" y="59"/>
                    <a:pt x="694" y="59"/>
                    <a:pt x="694" y="59"/>
                  </a:cubicBezTo>
                  <a:cubicBezTo>
                    <a:pt x="694" y="59"/>
                    <a:pt x="689" y="67"/>
                    <a:pt x="682" y="67"/>
                  </a:cubicBezTo>
                  <a:cubicBezTo>
                    <a:pt x="675" y="67"/>
                    <a:pt x="667" y="50"/>
                    <a:pt x="658" y="50"/>
                  </a:cubicBezTo>
                  <a:cubicBezTo>
                    <a:pt x="649" y="50"/>
                    <a:pt x="639" y="57"/>
                    <a:pt x="628" y="49"/>
                  </a:cubicBezTo>
                  <a:cubicBezTo>
                    <a:pt x="617" y="41"/>
                    <a:pt x="626" y="32"/>
                    <a:pt x="617" y="28"/>
                  </a:cubicBezTo>
                  <a:cubicBezTo>
                    <a:pt x="608" y="24"/>
                    <a:pt x="590" y="23"/>
                    <a:pt x="590" y="23"/>
                  </a:cubicBezTo>
                  <a:cubicBezTo>
                    <a:pt x="590" y="23"/>
                    <a:pt x="569" y="15"/>
                    <a:pt x="561" y="15"/>
                  </a:cubicBezTo>
                  <a:cubicBezTo>
                    <a:pt x="553" y="15"/>
                    <a:pt x="553" y="23"/>
                    <a:pt x="553" y="23"/>
                  </a:cubicBezTo>
                  <a:cubicBezTo>
                    <a:pt x="553" y="23"/>
                    <a:pt x="523" y="21"/>
                    <a:pt x="510" y="31"/>
                  </a:cubicBezTo>
                  <a:cubicBezTo>
                    <a:pt x="497" y="41"/>
                    <a:pt x="480" y="54"/>
                    <a:pt x="480" y="70"/>
                  </a:cubicBezTo>
                  <a:cubicBezTo>
                    <a:pt x="480" y="86"/>
                    <a:pt x="496" y="105"/>
                    <a:pt x="496" y="114"/>
                  </a:cubicBezTo>
                  <a:cubicBezTo>
                    <a:pt x="496" y="123"/>
                    <a:pt x="475" y="152"/>
                    <a:pt x="463" y="154"/>
                  </a:cubicBezTo>
                  <a:cubicBezTo>
                    <a:pt x="451" y="156"/>
                    <a:pt x="433" y="159"/>
                    <a:pt x="419" y="144"/>
                  </a:cubicBezTo>
                  <a:cubicBezTo>
                    <a:pt x="405" y="129"/>
                    <a:pt x="366" y="106"/>
                    <a:pt x="351" y="105"/>
                  </a:cubicBezTo>
                  <a:cubicBezTo>
                    <a:pt x="336" y="104"/>
                    <a:pt x="302" y="113"/>
                    <a:pt x="289" y="97"/>
                  </a:cubicBezTo>
                  <a:cubicBezTo>
                    <a:pt x="276" y="81"/>
                    <a:pt x="280" y="69"/>
                    <a:pt x="271" y="53"/>
                  </a:cubicBezTo>
                  <a:cubicBezTo>
                    <a:pt x="262" y="37"/>
                    <a:pt x="244" y="40"/>
                    <a:pt x="244" y="40"/>
                  </a:cubicBezTo>
                  <a:cubicBezTo>
                    <a:pt x="244" y="40"/>
                    <a:pt x="220" y="22"/>
                    <a:pt x="212" y="21"/>
                  </a:cubicBezTo>
                  <a:cubicBezTo>
                    <a:pt x="204" y="20"/>
                    <a:pt x="180" y="19"/>
                    <a:pt x="173" y="20"/>
                  </a:cubicBezTo>
                  <a:cubicBezTo>
                    <a:pt x="166" y="21"/>
                    <a:pt x="154" y="28"/>
                    <a:pt x="143" y="24"/>
                  </a:cubicBezTo>
                  <a:cubicBezTo>
                    <a:pt x="132" y="20"/>
                    <a:pt x="112" y="4"/>
                    <a:pt x="107" y="3"/>
                  </a:cubicBezTo>
                  <a:cubicBezTo>
                    <a:pt x="104" y="2"/>
                    <a:pt x="100" y="1"/>
                    <a:pt x="96" y="0"/>
                  </a:cubicBezTo>
                  <a:cubicBezTo>
                    <a:pt x="93" y="27"/>
                    <a:pt x="93" y="27"/>
                    <a:pt x="93" y="27"/>
                  </a:cubicBezTo>
                  <a:cubicBezTo>
                    <a:pt x="93" y="27"/>
                    <a:pt x="108" y="29"/>
                    <a:pt x="104" y="37"/>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517" name="Freeform 309">
              <a:extLst>
                <a:ext uri="{FF2B5EF4-FFF2-40B4-BE49-F238E27FC236}">
                  <a16:creationId xmlns:a16="http://schemas.microsoft.com/office/drawing/2014/main" id="{F98CDB79-93CC-45AD-A516-86F0A84C4AAF}"/>
                </a:ext>
              </a:extLst>
            </p:cNvPr>
            <p:cNvSpPr>
              <a:spLocks noEditPoints="1"/>
            </p:cNvSpPr>
            <p:nvPr/>
          </p:nvSpPr>
          <p:spPr bwMode="gray">
            <a:xfrm>
              <a:off x="5127806" y="2837326"/>
              <a:ext cx="404882" cy="471304"/>
            </a:xfrm>
            <a:custGeom>
              <a:avLst/>
              <a:gdLst>
                <a:gd name="T0" fmla="*/ 32 w 597"/>
                <a:gd name="T1" fmla="*/ 79 h 735"/>
                <a:gd name="T2" fmla="*/ 41 w 597"/>
                <a:gd name="T3" fmla="*/ 42 h 735"/>
                <a:gd name="T4" fmla="*/ 68 w 597"/>
                <a:gd name="T5" fmla="*/ 17 h 735"/>
                <a:gd name="T6" fmla="*/ 38 w 597"/>
                <a:gd name="T7" fmla="*/ 15 h 735"/>
                <a:gd name="T8" fmla="*/ 27 w 597"/>
                <a:gd name="T9" fmla="*/ 29 h 735"/>
                <a:gd name="T10" fmla="*/ 26 w 597"/>
                <a:gd name="T11" fmla="*/ 39 h 735"/>
                <a:gd name="T12" fmla="*/ 583 w 597"/>
                <a:gd name="T13" fmla="*/ 362 h 735"/>
                <a:gd name="T14" fmla="*/ 558 w 597"/>
                <a:gd name="T15" fmla="*/ 357 h 735"/>
                <a:gd name="T16" fmla="*/ 535 w 597"/>
                <a:gd name="T17" fmla="*/ 367 h 735"/>
                <a:gd name="T18" fmla="*/ 511 w 597"/>
                <a:gd name="T19" fmla="*/ 375 h 735"/>
                <a:gd name="T20" fmla="*/ 503 w 597"/>
                <a:gd name="T21" fmla="*/ 346 h 735"/>
                <a:gd name="T22" fmla="*/ 496 w 597"/>
                <a:gd name="T23" fmla="*/ 299 h 735"/>
                <a:gd name="T24" fmla="*/ 488 w 597"/>
                <a:gd name="T25" fmla="*/ 256 h 735"/>
                <a:gd name="T26" fmla="*/ 493 w 597"/>
                <a:gd name="T27" fmla="*/ 224 h 735"/>
                <a:gd name="T28" fmla="*/ 477 w 597"/>
                <a:gd name="T29" fmla="*/ 190 h 735"/>
                <a:gd name="T30" fmla="*/ 484 w 597"/>
                <a:gd name="T31" fmla="*/ 162 h 735"/>
                <a:gd name="T32" fmla="*/ 423 w 597"/>
                <a:gd name="T33" fmla="*/ 155 h 735"/>
                <a:gd name="T34" fmla="*/ 409 w 597"/>
                <a:gd name="T35" fmla="*/ 148 h 735"/>
                <a:gd name="T36" fmla="*/ 381 w 597"/>
                <a:gd name="T37" fmla="*/ 170 h 735"/>
                <a:gd name="T38" fmla="*/ 369 w 597"/>
                <a:gd name="T39" fmla="*/ 197 h 735"/>
                <a:gd name="T40" fmla="*/ 335 w 597"/>
                <a:gd name="T41" fmla="*/ 195 h 735"/>
                <a:gd name="T42" fmla="*/ 313 w 597"/>
                <a:gd name="T43" fmla="*/ 201 h 735"/>
                <a:gd name="T44" fmla="*/ 302 w 597"/>
                <a:gd name="T45" fmla="*/ 203 h 735"/>
                <a:gd name="T46" fmla="*/ 278 w 597"/>
                <a:gd name="T47" fmla="*/ 194 h 735"/>
                <a:gd name="T48" fmla="*/ 265 w 597"/>
                <a:gd name="T49" fmla="*/ 172 h 735"/>
                <a:gd name="T50" fmla="*/ 255 w 597"/>
                <a:gd name="T51" fmla="*/ 141 h 735"/>
                <a:gd name="T52" fmla="*/ 243 w 597"/>
                <a:gd name="T53" fmla="*/ 98 h 735"/>
                <a:gd name="T54" fmla="*/ 209 w 597"/>
                <a:gd name="T55" fmla="*/ 84 h 735"/>
                <a:gd name="T56" fmla="*/ 185 w 597"/>
                <a:gd name="T57" fmla="*/ 86 h 735"/>
                <a:gd name="T58" fmla="*/ 155 w 597"/>
                <a:gd name="T59" fmla="*/ 84 h 735"/>
                <a:gd name="T60" fmla="*/ 112 w 597"/>
                <a:gd name="T61" fmla="*/ 82 h 735"/>
                <a:gd name="T62" fmla="*/ 89 w 597"/>
                <a:gd name="T63" fmla="*/ 84 h 735"/>
                <a:gd name="T64" fmla="*/ 67 w 597"/>
                <a:gd name="T65" fmla="*/ 84 h 735"/>
                <a:gd name="T66" fmla="*/ 43 w 597"/>
                <a:gd name="T67" fmla="*/ 97 h 735"/>
                <a:gd name="T68" fmla="*/ 48 w 597"/>
                <a:gd name="T69" fmla="*/ 128 h 735"/>
                <a:gd name="T70" fmla="*/ 56 w 597"/>
                <a:gd name="T71" fmla="*/ 157 h 735"/>
                <a:gd name="T72" fmla="*/ 69 w 597"/>
                <a:gd name="T73" fmla="*/ 254 h 735"/>
                <a:gd name="T74" fmla="*/ 75 w 597"/>
                <a:gd name="T75" fmla="*/ 270 h 735"/>
                <a:gd name="T76" fmla="*/ 108 w 597"/>
                <a:gd name="T77" fmla="*/ 388 h 735"/>
                <a:gd name="T78" fmla="*/ 93 w 597"/>
                <a:gd name="T79" fmla="*/ 442 h 735"/>
                <a:gd name="T80" fmla="*/ 66 w 597"/>
                <a:gd name="T81" fmla="*/ 460 h 735"/>
                <a:gd name="T82" fmla="*/ 44 w 597"/>
                <a:gd name="T83" fmla="*/ 484 h 735"/>
                <a:gd name="T84" fmla="*/ 34 w 597"/>
                <a:gd name="T85" fmla="*/ 524 h 735"/>
                <a:gd name="T86" fmla="*/ 21 w 597"/>
                <a:gd name="T87" fmla="*/ 579 h 735"/>
                <a:gd name="T88" fmla="*/ 6 w 597"/>
                <a:gd name="T89" fmla="*/ 618 h 735"/>
                <a:gd name="T90" fmla="*/ 13 w 597"/>
                <a:gd name="T91" fmla="*/ 654 h 735"/>
                <a:gd name="T92" fmla="*/ 3 w 597"/>
                <a:gd name="T93" fmla="*/ 696 h 735"/>
                <a:gd name="T94" fmla="*/ 24 w 597"/>
                <a:gd name="T95" fmla="*/ 691 h 735"/>
                <a:gd name="T96" fmla="*/ 50 w 597"/>
                <a:gd name="T97" fmla="*/ 695 h 735"/>
                <a:gd name="T98" fmla="*/ 81 w 597"/>
                <a:gd name="T99" fmla="*/ 681 h 735"/>
                <a:gd name="T100" fmla="*/ 322 w 597"/>
                <a:gd name="T101" fmla="*/ 703 h 735"/>
                <a:gd name="T102" fmla="*/ 361 w 597"/>
                <a:gd name="T103" fmla="*/ 724 h 735"/>
                <a:gd name="T104" fmla="*/ 411 w 597"/>
                <a:gd name="T105" fmla="*/ 729 h 735"/>
                <a:gd name="T106" fmla="*/ 463 w 597"/>
                <a:gd name="T107" fmla="*/ 735 h 735"/>
                <a:gd name="T108" fmla="*/ 493 w 597"/>
                <a:gd name="T109" fmla="*/ 657 h 735"/>
                <a:gd name="T110" fmla="*/ 487 w 597"/>
                <a:gd name="T111" fmla="*/ 635 h 735"/>
                <a:gd name="T112" fmla="*/ 571 w 597"/>
                <a:gd name="T113" fmla="*/ 470 h 735"/>
                <a:gd name="T114" fmla="*/ 580 w 597"/>
                <a:gd name="T115" fmla="*/ 440 h 735"/>
                <a:gd name="T116" fmla="*/ 585 w 597"/>
                <a:gd name="T117" fmla="*/ 426 h 735"/>
                <a:gd name="T118" fmla="*/ 594 w 597"/>
                <a:gd name="T119" fmla="*/ 386 h 7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97" h="735">
                  <a:moveTo>
                    <a:pt x="30" y="77"/>
                  </a:moveTo>
                  <a:cubicBezTo>
                    <a:pt x="30" y="77"/>
                    <a:pt x="31" y="78"/>
                    <a:pt x="32" y="79"/>
                  </a:cubicBezTo>
                  <a:cubicBezTo>
                    <a:pt x="37" y="76"/>
                    <a:pt x="42" y="74"/>
                    <a:pt x="45" y="72"/>
                  </a:cubicBezTo>
                  <a:cubicBezTo>
                    <a:pt x="53" y="68"/>
                    <a:pt x="41" y="42"/>
                    <a:pt x="41" y="42"/>
                  </a:cubicBezTo>
                  <a:cubicBezTo>
                    <a:pt x="65" y="25"/>
                    <a:pt x="65" y="25"/>
                    <a:pt x="65" y="25"/>
                  </a:cubicBezTo>
                  <a:cubicBezTo>
                    <a:pt x="68" y="17"/>
                    <a:pt x="68" y="17"/>
                    <a:pt x="68" y="17"/>
                  </a:cubicBezTo>
                  <a:cubicBezTo>
                    <a:pt x="68" y="17"/>
                    <a:pt x="66" y="0"/>
                    <a:pt x="59" y="1"/>
                  </a:cubicBezTo>
                  <a:cubicBezTo>
                    <a:pt x="52" y="2"/>
                    <a:pt x="38" y="15"/>
                    <a:pt x="38" y="15"/>
                  </a:cubicBezTo>
                  <a:cubicBezTo>
                    <a:pt x="38" y="29"/>
                    <a:pt x="38" y="29"/>
                    <a:pt x="38" y="29"/>
                  </a:cubicBezTo>
                  <a:cubicBezTo>
                    <a:pt x="27" y="29"/>
                    <a:pt x="27" y="29"/>
                    <a:pt x="27" y="29"/>
                  </a:cubicBezTo>
                  <a:cubicBezTo>
                    <a:pt x="23" y="35"/>
                    <a:pt x="23" y="35"/>
                    <a:pt x="23" y="35"/>
                  </a:cubicBezTo>
                  <a:cubicBezTo>
                    <a:pt x="26" y="39"/>
                    <a:pt x="26" y="39"/>
                    <a:pt x="26" y="39"/>
                  </a:cubicBezTo>
                  <a:lnTo>
                    <a:pt x="30" y="77"/>
                  </a:lnTo>
                  <a:close/>
                  <a:moveTo>
                    <a:pt x="583" y="362"/>
                  </a:moveTo>
                  <a:cubicBezTo>
                    <a:pt x="569" y="364"/>
                    <a:pt x="569" y="364"/>
                    <a:pt x="569" y="364"/>
                  </a:cubicBezTo>
                  <a:cubicBezTo>
                    <a:pt x="569" y="364"/>
                    <a:pt x="565" y="357"/>
                    <a:pt x="558" y="357"/>
                  </a:cubicBezTo>
                  <a:cubicBezTo>
                    <a:pt x="551" y="357"/>
                    <a:pt x="551" y="362"/>
                    <a:pt x="551" y="362"/>
                  </a:cubicBezTo>
                  <a:cubicBezTo>
                    <a:pt x="535" y="367"/>
                    <a:pt x="535" y="367"/>
                    <a:pt x="535" y="367"/>
                  </a:cubicBezTo>
                  <a:cubicBezTo>
                    <a:pt x="517" y="363"/>
                    <a:pt x="517" y="363"/>
                    <a:pt x="517" y="363"/>
                  </a:cubicBezTo>
                  <a:cubicBezTo>
                    <a:pt x="511" y="375"/>
                    <a:pt x="511" y="375"/>
                    <a:pt x="511" y="375"/>
                  </a:cubicBezTo>
                  <a:cubicBezTo>
                    <a:pt x="511" y="375"/>
                    <a:pt x="503" y="373"/>
                    <a:pt x="500" y="369"/>
                  </a:cubicBezTo>
                  <a:cubicBezTo>
                    <a:pt x="497" y="365"/>
                    <a:pt x="500" y="353"/>
                    <a:pt x="503" y="346"/>
                  </a:cubicBezTo>
                  <a:cubicBezTo>
                    <a:pt x="506" y="339"/>
                    <a:pt x="507" y="324"/>
                    <a:pt x="507" y="324"/>
                  </a:cubicBezTo>
                  <a:cubicBezTo>
                    <a:pt x="507" y="324"/>
                    <a:pt x="503" y="306"/>
                    <a:pt x="496" y="299"/>
                  </a:cubicBezTo>
                  <a:cubicBezTo>
                    <a:pt x="489" y="292"/>
                    <a:pt x="483" y="284"/>
                    <a:pt x="483" y="276"/>
                  </a:cubicBezTo>
                  <a:cubicBezTo>
                    <a:pt x="483" y="268"/>
                    <a:pt x="488" y="256"/>
                    <a:pt x="488" y="256"/>
                  </a:cubicBezTo>
                  <a:cubicBezTo>
                    <a:pt x="485" y="240"/>
                    <a:pt x="485" y="240"/>
                    <a:pt x="485" y="240"/>
                  </a:cubicBezTo>
                  <a:cubicBezTo>
                    <a:pt x="485" y="240"/>
                    <a:pt x="493" y="231"/>
                    <a:pt x="493" y="224"/>
                  </a:cubicBezTo>
                  <a:cubicBezTo>
                    <a:pt x="493" y="217"/>
                    <a:pt x="480" y="204"/>
                    <a:pt x="480" y="204"/>
                  </a:cubicBezTo>
                  <a:cubicBezTo>
                    <a:pt x="477" y="190"/>
                    <a:pt x="477" y="190"/>
                    <a:pt x="477" y="190"/>
                  </a:cubicBezTo>
                  <a:cubicBezTo>
                    <a:pt x="484" y="180"/>
                    <a:pt x="484" y="180"/>
                    <a:pt x="484" y="180"/>
                  </a:cubicBezTo>
                  <a:cubicBezTo>
                    <a:pt x="484" y="162"/>
                    <a:pt x="484" y="162"/>
                    <a:pt x="484" y="162"/>
                  </a:cubicBezTo>
                  <a:cubicBezTo>
                    <a:pt x="424" y="163"/>
                    <a:pt x="424" y="163"/>
                    <a:pt x="424" y="163"/>
                  </a:cubicBezTo>
                  <a:cubicBezTo>
                    <a:pt x="423" y="155"/>
                    <a:pt x="423" y="155"/>
                    <a:pt x="423" y="155"/>
                  </a:cubicBezTo>
                  <a:cubicBezTo>
                    <a:pt x="423" y="155"/>
                    <a:pt x="427" y="146"/>
                    <a:pt x="418" y="143"/>
                  </a:cubicBezTo>
                  <a:cubicBezTo>
                    <a:pt x="409" y="140"/>
                    <a:pt x="409" y="148"/>
                    <a:pt x="409" y="148"/>
                  </a:cubicBezTo>
                  <a:cubicBezTo>
                    <a:pt x="409" y="148"/>
                    <a:pt x="380" y="145"/>
                    <a:pt x="375" y="149"/>
                  </a:cubicBezTo>
                  <a:cubicBezTo>
                    <a:pt x="370" y="153"/>
                    <a:pt x="381" y="165"/>
                    <a:pt x="381" y="170"/>
                  </a:cubicBezTo>
                  <a:cubicBezTo>
                    <a:pt x="381" y="175"/>
                    <a:pt x="374" y="175"/>
                    <a:pt x="371" y="179"/>
                  </a:cubicBezTo>
                  <a:cubicBezTo>
                    <a:pt x="368" y="183"/>
                    <a:pt x="369" y="197"/>
                    <a:pt x="369" y="197"/>
                  </a:cubicBezTo>
                  <a:cubicBezTo>
                    <a:pt x="339" y="200"/>
                    <a:pt x="339" y="200"/>
                    <a:pt x="339" y="200"/>
                  </a:cubicBezTo>
                  <a:cubicBezTo>
                    <a:pt x="335" y="195"/>
                    <a:pt x="335" y="195"/>
                    <a:pt x="335" y="195"/>
                  </a:cubicBezTo>
                  <a:cubicBezTo>
                    <a:pt x="328" y="201"/>
                    <a:pt x="328" y="201"/>
                    <a:pt x="328" y="201"/>
                  </a:cubicBezTo>
                  <a:cubicBezTo>
                    <a:pt x="313" y="201"/>
                    <a:pt x="313" y="201"/>
                    <a:pt x="313" y="201"/>
                  </a:cubicBezTo>
                  <a:cubicBezTo>
                    <a:pt x="309" y="208"/>
                    <a:pt x="309" y="208"/>
                    <a:pt x="309" y="208"/>
                  </a:cubicBezTo>
                  <a:cubicBezTo>
                    <a:pt x="302" y="203"/>
                    <a:pt x="302" y="203"/>
                    <a:pt x="302" y="203"/>
                  </a:cubicBezTo>
                  <a:cubicBezTo>
                    <a:pt x="281" y="204"/>
                    <a:pt x="281" y="204"/>
                    <a:pt x="281" y="204"/>
                  </a:cubicBezTo>
                  <a:cubicBezTo>
                    <a:pt x="278" y="194"/>
                    <a:pt x="278" y="194"/>
                    <a:pt x="278" y="194"/>
                  </a:cubicBezTo>
                  <a:cubicBezTo>
                    <a:pt x="272" y="186"/>
                    <a:pt x="272" y="186"/>
                    <a:pt x="272" y="186"/>
                  </a:cubicBezTo>
                  <a:cubicBezTo>
                    <a:pt x="272" y="186"/>
                    <a:pt x="270" y="178"/>
                    <a:pt x="265" y="172"/>
                  </a:cubicBezTo>
                  <a:cubicBezTo>
                    <a:pt x="260" y="166"/>
                    <a:pt x="254" y="163"/>
                    <a:pt x="254" y="163"/>
                  </a:cubicBezTo>
                  <a:cubicBezTo>
                    <a:pt x="254" y="163"/>
                    <a:pt x="256" y="147"/>
                    <a:pt x="255" y="141"/>
                  </a:cubicBezTo>
                  <a:cubicBezTo>
                    <a:pt x="254" y="135"/>
                    <a:pt x="244" y="128"/>
                    <a:pt x="244" y="128"/>
                  </a:cubicBezTo>
                  <a:cubicBezTo>
                    <a:pt x="243" y="98"/>
                    <a:pt x="243" y="98"/>
                    <a:pt x="243" y="98"/>
                  </a:cubicBezTo>
                  <a:cubicBezTo>
                    <a:pt x="243" y="98"/>
                    <a:pt x="237" y="94"/>
                    <a:pt x="232" y="85"/>
                  </a:cubicBezTo>
                  <a:cubicBezTo>
                    <a:pt x="227" y="76"/>
                    <a:pt x="209" y="84"/>
                    <a:pt x="209" y="84"/>
                  </a:cubicBezTo>
                  <a:cubicBezTo>
                    <a:pt x="195" y="83"/>
                    <a:pt x="195" y="83"/>
                    <a:pt x="195" y="83"/>
                  </a:cubicBezTo>
                  <a:cubicBezTo>
                    <a:pt x="185" y="86"/>
                    <a:pt x="185" y="86"/>
                    <a:pt x="185" y="86"/>
                  </a:cubicBezTo>
                  <a:cubicBezTo>
                    <a:pt x="185" y="86"/>
                    <a:pt x="178" y="86"/>
                    <a:pt x="173" y="86"/>
                  </a:cubicBezTo>
                  <a:cubicBezTo>
                    <a:pt x="168" y="86"/>
                    <a:pt x="155" y="84"/>
                    <a:pt x="155" y="84"/>
                  </a:cubicBezTo>
                  <a:cubicBezTo>
                    <a:pt x="155" y="84"/>
                    <a:pt x="137" y="87"/>
                    <a:pt x="130" y="88"/>
                  </a:cubicBezTo>
                  <a:cubicBezTo>
                    <a:pt x="123" y="89"/>
                    <a:pt x="112" y="82"/>
                    <a:pt x="112" y="82"/>
                  </a:cubicBezTo>
                  <a:cubicBezTo>
                    <a:pt x="97" y="86"/>
                    <a:pt x="97" y="86"/>
                    <a:pt x="97" y="86"/>
                  </a:cubicBezTo>
                  <a:cubicBezTo>
                    <a:pt x="89" y="84"/>
                    <a:pt x="89" y="84"/>
                    <a:pt x="89" y="84"/>
                  </a:cubicBezTo>
                  <a:cubicBezTo>
                    <a:pt x="84" y="86"/>
                    <a:pt x="84" y="86"/>
                    <a:pt x="84" y="86"/>
                  </a:cubicBezTo>
                  <a:cubicBezTo>
                    <a:pt x="67" y="84"/>
                    <a:pt x="67" y="84"/>
                    <a:pt x="67" y="84"/>
                  </a:cubicBezTo>
                  <a:cubicBezTo>
                    <a:pt x="44" y="94"/>
                    <a:pt x="44" y="94"/>
                    <a:pt x="44" y="94"/>
                  </a:cubicBezTo>
                  <a:cubicBezTo>
                    <a:pt x="44" y="95"/>
                    <a:pt x="44" y="96"/>
                    <a:pt x="43" y="97"/>
                  </a:cubicBezTo>
                  <a:cubicBezTo>
                    <a:pt x="37" y="101"/>
                    <a:pt x="32" y="102"/>
                    <a:pt x="32" y="102"/>
                  </a:cubicBezTo>
                  <a:cubicBezTo>
                    <a:pt x="32" y="102"/>
                    <a:pt x="45" y="121"/>
                    <a:pt x="48" y="128"/>
                  </a:cubicBezTo>
                  <a:cubicBezTo>
                    <a:pt x="51" y="135"/>
                    <a:pt x="60" y="138"/>
                    <a:pt x="60" y="138"/>
                  </a:cubicBezTo>
                  <a:cubicBezTo>
                    <a:pt x="56" y="157"/>
                    <a:pt x="56" y="157"/>
                    <a:pt x="56" y="157"/>
                  </a:cubicBezTo>
                  <a:cubicBezTo>
                    <a:pt x="56" y="157"/>
                    <a:pt x="88" y="194"/>
                    <a:pt x="85" y="221"/>
                  </a:cubicBezTo>
                  <a:cubicBezTo>
                    <a:pt x="82" y="248"/>
                    <a:pt x="69" y="254"/>
                    <a:pt x="69" y="254"/>
                  </a:cubicBezTo>
                  <a:cubicBezTo>
                    <a:pt x="68" y="271"/>
                    <a:pt x="68" y="271"/>
                    <a:pt x="68" y="271"/>
                  </a:cubicBezTo>
                  <a:cubicBezTo>
                    <a:pt x="75" y="270"/>
                    <a:pt x="75" y="270"/>
                    <a:pt x="75" y="270"/>
                  </a:cubicBezTo>
                  <a:cubicBezTo>
                    <a:pt x="75" y="270"/>
                    <a:pt x="71" y="293"/>
                    <a:pt x="85" y="314"/>
                  </a:cubicBezTo>
                  <a:cubicBezTo>
                    <a:pt x="99" y="335"/>
                    <a:pt x="111" y="373"/>
                    <a:pt x="108" y="388"/>
                  </a:cubicBezTo>
                  <a:cubicBezTo>
                    <a:pt x="105" y="403"/>
                    <a:pt x="94" y="420"/>
                    <a:pt x="94" y="420"/>
                  </a:cubicBezTo>
                  <a:cubicBezTo>
                    <a:pt x="94" y="420"/>
                    <a:pt x="101" y="436"/>
                    <a:pt x="93" y="442"/>
                  </a:cubicBezTo>
                  <a:cubicBezTo>
                    <a:pt x="85" y="448"/>
                    <a:pt x="72" y="446"/>
                    <a:pt x="72" y="446"/>
                  </a:cubicBezTo>
                  <a:cubicBezTo>
                    <a:pt x="66" y="460"/>
                    <a:pt x="66" y="460"/>
                    <a:pt x="66" y="460"/>
                  </a:cubicBezTo>
                  <a:cubicBezTo>
                    <a:pt x="68" y="475"/>
                    <a:pt x="68" y="475"/>
                    <a:pt x="68" y="475"/>
                  </a:cubicBezTo>
                  <a:cubicBezTo>
                    <a:pt x="68" y="475"/>
                    <a:pt x="43" y="472"/>
                    <a:pt x="44" y="484"/>
                  </a:cubicBezTo>
                  <a:cubicBezTo>
                    <a:pt x="45" y="496"/>
                    <a:pt x="41" y="514"/>
                    <a:pt x="41" y="514"/>
                  </a:cubicBezTo>
                  <a:cubicBezTo>
                    <a:pt x="34" y="524"/>
                    <a:pt x="34" y="524"/>
                    <a:pt x="34" y="524"/>
                  </a:cubicBezTo>
                  <a:cubicBezTo>
                    <a:pt x="34" y="524"/>
                    <a:pt x="38" y="556"/>
                    <a:pt x="35" y="566"/>
                  </a:cubicBezTo>
                  <a:cubicBezTo>
                    <a:pt x="32" y="576"/>
                    <a:pt x="21" y="579"/>
                    <a:pt x="21" y="579"/>
                  </a:cubicBezTo>
                  <a:cubicBezTo>
                    <a:pt x="21" y="606"/>
                    <a:pt x="21" y="606"/>
                    <a:pt x="21" y="606"/>
                  </a:cubicBezTo>
                  <a:cubicBezTo>
                    <a:pt x="6" y="618"/>
                    <a:pt x="6" y="618"/>
                    <a:pt x="6" y="618"/>
                  </a:cubicBezTo>
                  <a:cubicBezTo>
                    <a:pt x="6" y="645"/>
                    <a:pt x="6" y="645"/>
                    <a:pt x="6" y="645"/>
                  </a:cubicBezTo>
                  <a:cubicBezTo>
                    <a:pt x="13" y="654"/>
                    <a:pt x="13" y="654"/>
                    <a:pt x="13" y="654"/>
                  </a:cubicBezTo>
                  <a:cubicBezTo>
                    <a:pt x="0" y="669"/>
                    <a:pt x="0" y="669"/>
                    <a:pt x="0" y="669"/>
                  </a:cubicBezTo>
                  <a:cubicBezTo>
                    <a:pt x="3" y="696"/>
                    <a:pt x="3" y="696"/>
                    <a:pt x="3" y="696"/>
                  </a:cubicBezTo>
                  <a:cubicBezTo>
                    <a:pt x="13" y="695"/>
                    <a:pt x="13" y="695"/>
                    <a:pt x="13" y="695"/>
                  </a:cubicBezTo>
                  <a:cubicBezTo>
                    <a:pt x="24" y="691"/>
                    <a:pt x="24" y="691"/>
                    <a:pt x="24" y="691"/>
                  </a:cubicBezTo>
                  <a:cubicBezTo>
                    <a:pt x="31" y="696"/>
                    <a:pt x="31" y="696"/>
                    <a:pt x="31" y="696"/>
                  </a:cubicBezTo>
                  <a:cubicBezTo>
                    <a:pt x="31" y="696"/>
                    <a:pt x="43" y="696"/>
                    <a:pt x="50" y="695"/>
                  </a:cubicBezTo>
                  <a:cubicBezTo>
                    <a:pt x="57" y="694"/>
                    <a:pt x="61" y="680"/>
                    <a:pt x="61" y="680"/>
                  </a:cubicBezTo>
                  <a:cubicBezTo>
                    <a:pt x="61" y="680"/>
                    <a:pt x="82" y="682"/>
                    <a:pt x="81" y="681"/>
                  </a:cubicBezTo>
                  <a:cubicBezTo>
                    <a:pt x="85" y="692"/>
                    <a:pt x="119" y="705"/>
                    <a:pt x="119" y="705"/>
                  </a:cubicBezTo>
                  <a:cubicBezTo>
                    <a:pt x="322" y="703"/>
                    <a:pt x="322" y="703"/>
                    <a:pt x="322" y="703"/>
                  </a:cubicBezTo>
                  <a:cubicBezTo>
                    <a:pt x="322" y="703"/>
                    <a:pt x="331" y="722"/>
                    <a:pt x="338" y="724"/>
                  </a:cubicBezTo>
                  <a:cubicBezTo>
                    <a:pt x="345" y="726"/>
                    <a:pt x="361" y="724"/>
                    <a:pt x="361" y="724"/>
                  </a:cubicBezTo>
                  <a:cubicBezTo>
                    <a:pt x="365" y="730"/>
                    <a:pt x="365" y="730"/>
                    <a:pt x="365" y="730"/>
                  </a:cubicBezTo>
                  <a:cubicBezTo>
                    <a:pt x="411" y="729"/>
                    <a:pt x="411" y="729"/>
                    <a:pt x="411" y="729"/>
                  </a:cubicBezTo>
                  <a:cubicBezTo>
                    <a:pt x="417" y="735"/>
                    <a:pt x="417" y="735"/>
                    <a:pt x="417" y="735"/>
                  </a:cubicBezTo>
                  <a:cubicBezTo>
                    <a:pt x="417" y="735"/>
                    <a:pt x="435" y="735"/>
                    <a:pt x="463" y="735"/>
                  </a:cubicBezTo>
                  <a:cubicBezTo>
                    <a:pt x="491" y="735"/>
                    <a:pt x="551" y="715"/>
                    <a:pt x="551" y="715"/>
                  </a:cubicBezTo>
                  <a:cubicBezTo>
                    <a:pt x="493" y="657"/>
                    <a:pt x="493" y="657"/>
                    <a:pt x="493" y="657"/>
                  </a:cubicBezTo>
                  <a:cubicBezTo>
                    <a:pt x="493" y="645"/>
                    <a:pt x="493" y="645"/>
                    <a:pt x="493" y="645"/>
                  </a:cubicBezTo>
                  <a:cubicBezTo>
                    <a:pt x="487" y="635"/>
                    <a:pt x="487" y="635"/>
                    <a:pt x="487" y="635"/>
                  </a:cubicBezTo>
                  <a:cubicBezTo>
                    <a:pt x="488" y="468"/>
                    <a:pt x="488" y="468"/>
                    <a:pt x="488" y="468"/>
                  </a:cubicBezTo>
                  <a:cubicBezTo>
                    <a:pt x="571" y="470"/>
                    <a:pt x="571" y="470"/>
                    <a:pt x="571" y="470"/>
                  </a:cubicBezTo>
                  <a:cubicBezTo>
                    <a:pt x="571" y="470"/>
                    <a:pt x="582" y="470"/>
                    <a:pt x="584" y="463"/>
                  </a:cubicBezTo>
                  <a:cubicBezTo>
                    <a:pt x="586" y="456"/>
                    <a:pt x="580" y="440"/>
                    <a:pt x="580" y="440"/>
                  </a:cubicBezTo>
                  <a:cubicBezTo>
                    <a:pt x="593" y="437"/>
                    <a:pt x="593" y="437"/>
                    <a:pt x="593" y="437"/>
                  </a:cubicBezTo>
                  <a:cubicBezTo>
                    <a:pt x="585" y="426"/>
                    <a:pt x="585" y="426"/>
                    <a:pt x="585" y="426"/>
                  </a:cubicBezTo>
                  <a:cubicBezTo>
                    <a:pt x="583" y="391"/>
                    <a:pt x="583" y="391"/>
                    <a:pt x="583" y="391"/>
                  </a:cubicBezTo>
                  <a:cubicBezTo>
                    <a:pt x="583" y="391"/>
                    <a:pt x="591" y="389"/>
                    <a:pt x="594" y="386"/>
                  </a:cubicBezTo>
                  <a:cubicBezTo>
                    <a:pt x="597" y="383"/>
                    <a:pt x="583" y="362"/>
                    <a:pt x="583" y="362"/>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518" name="Freeform 310">
              <a:extLst>
                <a:ext uri="{FF2B5EF4-FFF2-40B4-BE49-F238E27FC236}">
                  <a16:creationId xmlns:a16="http://schemas.microsoft.com/office/drawing/2014/main" id="{8950147A-B5A3-4E32-8728-5E2A1F807E62}"/>
                </a:ext>
              </a:extLst>
            </p:cNvPr>
            <p:cNvSpPr>
              <a:spLocks/>
            </p:cNvSpPr>
            <p:nvPr/>
          </p:nvSpPr>
          <p:spPr bwMode="gray">
            <a:xfrm>
              <a:off x="5679994" y="2724930"/>
              <a:ext cx="70352" cy="62985"/>
            </a:xfrm>
            <a:custGeom>
              <a:avLst/>
              <a:gdLst>
                <a:gd name="T0" fmla="*/ 35 w 104"/>
                <a:gd name="T1" fmla="*/ 98 h 98"/>
                <a:gd name="T2" fmla="*/ 52 w 104"/>
                <a:gd name="T3" fmla="*/ 91 h 98"/>
                <a:gd name="T4" fmla="*/ 57 w 104"/>
                <a:gd name="T5" fmla="*/ 74 h 98"/>
                <a:gd name="T6" fmla="*/ 87 w 104"/>
                <a:gd name="T7" fmla="*/ 74 h 98"/>
                <a:gd name="T8" fmla="*/ 90 w 104"/>
                <a:gd name="T9" fmla="*/ 74 h 98"/>
                <a:gd name="T10" fmla="*/ 104 w 104"/>
                <a:gd name="T11" fmla="*/ 64 h 98"/>
                <a:gd name="T12" fmla="*/ 98 w 104"/>
                <a:gd name="T13" fmla="*/ 44 h 98"/>
                <a:gd name="T14" fmla="*/ 100 w 104"/>
                <a:gd name="T15" fmla="*/ 31 h 98"/>
                <a:gd name="T16" fmla="*/ 86 w 104"/>
                <a:gd name="T17" fmla="*/ 13 h 98"/>
                <a:gd name="T18" fmla="*/ 91 w 104"/>
                <a:gd name="T19" fmla="*/ 0 h 98"/>
                <a:gd name="T20" fmla="*/ 75 w 104"/>
                <a:gd name="T21" fmla="*/ 1 h 98"/>
                <a:gd name="T22" fmla="*/ 64 w 104"/>
                <a:gd name="T23" fmla="*/ 25 h 98"/>
                <a:gd name="T24" fmla="*/ 52 w 104"/>
                <a:gd name="T25" fmla="*/ 17 h 98"/>
                <a:gd name="T26" fmla="*/ 42 w 104"/>
                <a:gd name="T27" fmla="*/ 17 h 98"/>
                <a:gd name="T28" fmla="*/ 17 w 104"/>
                <a:gd name="T29" fmla="*/ 36 h 98"/>
                <a:gd name="T30" fmla="*/ 24 w 104"/>
                <a:gd name="T31" fmla="*/ 58 h 98"/>
                <a:gd name="T32" fmla="*/ 4 w 104"/>
                <a:gd name="T33" fmla="*/ 80 h 98"/>
                <a:gd name="T34" fmla="*/ 22 w 104"/>
                <a:gd name="T35" fmla="*/ 85 h 98"/>
                <a:gd name="T36" fmla="*/ 35 w 104"/>
                <a:gd name="T37" fmla="*/ 98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4" h="98">
                  <a:moveTo>
                    <a:pt x="35" y="98"/>
                  </a:moveTo>
                  <a:cubicBezTo>
                    <a:pt x="39" y="98"/>
                    <a:pt x="52" y="91"/>
                    <a:pt x="52" y="91"/>
                  </a:cubicBezTo>
                  <a:cubicBezTo>
                    <a:pt x="57" y="74"/>
                    <a:pt x="57" y="74"/>
                    <a:pt x="57" y="74"/>
                  </a:cubicBezTo>
                  <a:cubicBezTo>
                    <a:pt x="87" y="74"/>
                    <a:pt x="87" y="74"/>
                    <a:pt x="87" y="74"/>
                  </a:cubicBezTo>
                  <a:cubicBezTo>
                    <a:pt x="90" y="74"/>
                    <a:pt x="90" y="74"/>
                    <a:pt x="90" y="74"/>
                  </a:cubicBezTo>
                  <a:cubicBezTo>
                    <a:pt x="96" y="73"/>
                    <a:pt x="104" y="71"/>
                    <a:pt x="104" y="64"/>
                  </a:cubicBezTo>
                  <a:cubicBezTo>
                    <a:pt x="104" y="52"/>
                    <a:pt x="98" y="44"/>
                    <a:pt x="98" y="44"/>
                  </a:cubicBezTo>
                  <a:cubicBezTo>
                    <a:pt x="98" y="44"/>
                    <a:pt x="104" y="39"/>
                    <a:pt x="100" y="31"/>
                  </a:cubicBezTo>
                  <a:cubicBezTo>
                    <a:pt x="96" y="23"/>
                    <a:pt x="86" y="13"/>
                    <a:pt x="86" y="13"/>
                  </a:cubicBezTo>
                  <a:cubicBezTo>
                    <a:pt x="91" y="0"/>
                    <a:pt x="91" y="0"/>
                    <a:pt x="91" y="0"/>
                  </a:cubicBezTo>
                  <a:cubicBezTo>
                    <a:pt x="75" y="1"/>
                    <a:pt x="75" y="1"/>
                    <a:pt x="75" y="1"/>
                  </a:cubicBezTo>
                  <a:cubicBezTo>
                    <a:pt x="75" y="1"/>
                    <a:pt x="71" y="17"/>
                    <a:pt x="64" y="25"/>
                  </a:cubicBezTo>
                  <a:cubicBezTo>
                    <a:pt x="58" y="32"/>
                    <a:pt x="52" y="17"/>
                    <a:pt x="52" y="17"/>
                  </a:cubicBezTo>
                  <a:cubicBezTo>
                    <a:pt x="42" y="17"/>
                    <a:pt x="42" y="17"/>
                    <a:pt x="42" y="17"/>
                  </a:cubicBezTo>
                  <a:cubicBezTo>
                    <a:pt x="42" y="17"/>
                    <a:pt x="18" y="28"/>
                    <a:pt x="17" y="36"/>
                  </a:cubicBezTo>
                  <a:cubicBezTo>
                    <a:pt x="15" y="44"/>
                    <a:pt x="25" y="55"/>
                    <a:pt x="24" y="58"/>
                  </a:cubicBezTo>
                  <a:cubicBezTo>
                    <a:pt x="22" y="62"/>
                    <a:pt x="0" y="72"/>
                    <a:pt x="4" y="80"/>
                  </a:cubicBezTo>
                  <a:cubicBezTo>
                    <a:pt x="8" y="88"/>
                    <a:pt x="22" y="85"/>
                    <a:pt x="22" y="85"/>
                  </a:cubicBezTo>
                  <a:cubicBezTo>
                    <a:pt x="22" y="85"/>
                    <a:pt x="31" y="98"/>
                    <a:pt x="35" y="98"/>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519" name="Freeform 311">
              <a:extLst>
                <a:ext uri="{FF2B5EF4-FFF2-40B4-BE49-F238E27FC236}">
                  <a16:creationId xmlns:a16="http://schemas.microsoft.com/office/drawing/2014/main" id="{1699F614-38C3-401F-9530-AA70A1E1BEBD}"/>
                </a:ext>
              </a:extLst>
            </p:cNvPr>
            <p:cNvSpPr>
              <a:spLocks/>
            </p:cNvSpPr>
            <p:nvPr/>
          </p:nvSpPr>
          <p:spPr bwMode="gray">
            <a:xfrm>
              <a:off x="5216536" y="2310638"/>
              <a:ext cx="416654" cy="299452"/>
            </a:xfrm>
            <a:custGeom>
              <a:avLst/>
              <a:gdLst>
                <a:gd name="T0" fmla="*/ 589 w 614"/>
                <a:gd name="T1" fmla="*/ 267 h 467"/>
                <a:gd name="T2" fmla="*/ 575 w 614"/>
                <a:gd name="T3" fmla="*/ 253 h 467"/>
                <a:gd name="T4" fmla="*/ 573 w 614"/>
                <a:gd name="T5" fmla="*/ 236 h 467"/>
                <a:gd name="T6" fmla="*/ 542 w 614"/>
                <a:gd name="T7" fmla="*/ 203 h 467"/>
                <a:gd name="T8" fmla="*/ 521 w 614"/>
                <a:gd name="T9" fmla="*/ 175 h 467"/>
                <a:gd name="T10" fmla="*/ 502 w 614"/>
                <a:gd name="T11" fmla="*/ 152 h 467"/>
                <a:gd name="T12" fmla="*/ 467 w 614"/>
                <a:gd name="T13" fmla="*/ 130 h 467"/>
                <a:gd name="T14" fmla="*/ 433 w 614"/>
                <a:gd name="T15" fmla="*/ 120 h 467"/>
                <a:gd name="T16" fmla="*/ 431 w 614"/>
                <a:gd name="T17" fmla="*/ 102 h 467"/>
                <a:gd name="T18" fmla="*/ 402 w 614"/>
                <a:gd name="T19" fmla="*/ 8 h 467"/>
                <a:gd name="T20" fmla="*/ 385 w 614"/>
                <a:gd name="T21" fmla="*/ 0 h 467"/>
                <a:gd name="T22" fmla="*/ 345 w 614"/>
                <a:gd name="T23" fmla="*/ 38 h 467"/>
                <a:gd name="T24" fmla="*/ 320 w 614"/>
                <a:gd name="T25" fmla="*/ 55 h 467"/>
                <a:gd name="T26" fmla="*/ 222 w 614"/>
                <a:gd name="T27" fmla="*/ 107 h 467"/>
                <a:gd name="T28" fmla="*/ 223 w 614"/>
                <a:gd name="T29" fmla="*/ 132 h 467"/>
                <a:gd name="T30" fmla="*/ 151 w 614"/>
                <a:gd name="T31" fmla="*/ 160 h 467"/>
                <a:gd name="T32" fmla="*/ 108 w 614"/>
                <a:gd name="T33" fmla="*/ 165 h 467"/>
                <a:gd name="T34" fmla="*/ 56 w 614"/>
                <a:gd name="T35" fmla="*/ 186 h 467"/>
                <a:gd name="T36" fmla="*/ 35 w 614"/>
                <a:gd name="T37" fmla="*/ 224 h 467"/>
                <a:gd name="T38" fmla="*/ 24 w 614"/>
                <a:gd name="T39" fmla="*/ 249 h 467"/>
                <a:gd name="T40" fmla="*/ 15 w 614"/>
                <a:gd name="T41" fmla="*/ 273 h 467"/>
                <a:gd name="T42" fmla="*/ 7 w 614"/>
                <a:gd name="T43" fmla="*/ 306 h 467"/>
                <a:gd name="T44" fmla="*/ 19 w 614"/>
                <a:gd name="T45" fmla="*/ 344 h 467"/>
                <a:gd name="T46" fmla="*/ 36 w 614"/>
                <a:gd name="T47" fmla="*/ 381 h 467"/>
                <a:gd name="T48" fmla="*/ 79 w 614"/>
                <a:gd name="T49" fmla="*/ 428 h 467"/>
                <a:gd name="T50" fmla="*/ 83 w 614"/>
                <a:gd name="T51" fmla="*/ 461 h 467"/>
                <a:gd name="T52" fmla="*/ 106 w 614"/>
                <a:gd name="T53" fmla="*/ 441 h 467"/>
                <a:gd name="T54" fmla="*/ 108 w 614"/>
                <a:gd name="T55" fmla="*/ 400 h 467"/>
                <a:gd name="T56" fmla="*/ 147 w 614"/>
                <a:gd name="T57" fmla="*/ 390 h 467"/>
                <a:gd name="T58" fmla="*/ 193 w 614"/>
                <a:gd name="T59" fmla="*/ 394 h 467"/>
                <a:gd name="T60" fmla="*/ 203 w 614"/>
                <a:gd name="T61" fmla="*/ 370 h 467"/>
                <a:gd name="T62" fmla="*/ 218 w 614"/>
                <a:gd name="T63" fmla="*/ 344 h 467"/>
                <a:gd name="T64" fmla="*/ 273 w 614"/>
                <a:gd name="T65" fmla="*/ 330 h 467"/>
                <a:gd name="T66" fmla="*/ 295 w 614"/>
                <a:gd name="T67" fmla="*/ 351 h 467"/>
                <a:gd name="T68" fmla="*/ 335 w 614"/>
                <a:gd name="T69" fmla="*/ 362 h 467"/>
                <a:gd name="T70" fmla="*/ 385 w 614"/>
                <a:gd name="T71" fmla="*/ 368 h 467"/>
                <a:gd name="T72" fmla="*/ 410 w 614"/>
                <a:gd name="T73" fmla="*/ 328 h 467"/>
                <a:gd name="T74" fmla="*/ 449 w 614"/>
                <a:gd name="T75" fmla="*/ 330 h 467"/>
                <a:gd name="T76" fmla="*/ 477 w 614"/>
                <a:gd name="T77" fmla="*/ 316 h 467"/>
                <a:gd name="T78" fmla="*/ 512 w 614"/>
                <a:gd name="T79" fmla="*/ 321 h 467"/>
                <a:gd name="T80" fmla="*/ 539 w 614"/>
                <a:gd name="T81" fmla="*/ 311 h 467"/>
                <a:gd name="T82" fmla="*/ 586 w 614"/>
                <a:gd name="T83" fmla="*/ 319 h 467"/>
                <a:gd name="T84" fmla="*/ 606 w 614"/>
                <a:gd name="T85" fmla="*/ 281 h 4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614" h="467">
                  <a:moveTo>
                    <a:pt x="606" y="281"/>
                  </a:moveTo>
                  <a:cubicBezTo>
                    <a:pt x="598" y="273"/>
                    <a:pt x="589" y="267"/>
                    <a:pt x="589" y="267"/>
                  </a:cubicBezTo>
                  <a:cubicBezTo>
                    <a:pt x="574" y="266"/>
                    <a:pt x="574" y="266"/>
                    <a:pt x="574" y="266"/>
                  </a:cubicBezTo>
                  <a:cubicBezTo>
                    <a:pt x="575" y="253"/>
                    <a:pt x="575" y="253"/>
                    <a:pt x="575" y="253"/>
                  </a:cubicBezTo>
                  <a:cubicBezTo>
                    <a:pt x="575" y="253"/>
                    <a:pt x="568" y="250"/>
                    <a:pt x="567" y="244"/>
                  </a:cubicBezTo>
                  <a:cubicBezTo>
                    <a:pt x="566" y="238"/>
                    <a:pt x="573" y="244"/>
                    <a:pt x="573" y="236"/>
                  </a:cubicBezTo>
                  <a:cubicBezTo>
                    <a:pt x="573" y="228"/>
                    <a:pt x="558" y="227"/>
                    <a:pt x="558" y="227"/>
                  </a:cubicBezTo>
                  <a:cubicBezTo>
                    <a:pt x="558" y="227"/>
                    <a:pt x="549" y="204"/>
                    <a:pt x="542" y="203"/>
                  </a:cubicBezTo>
                  <a:cubicBezTo>
                    <a:pt x="535" y="202"/>
                    <a:pt x="521" y="200"/>
                    <a:pt x="515" y="190"/>
                  </a:cubicBezTo>
                  <a:cubicBezTo>
                    <a:pt x="509" y="180"/>
                    <a:pt x="524" y="186"/>
                    <a:pt x="521" y="175"/>
                  </a:cubicBezTo>
                  <a:cubicBezTo>
                    <a:pt x="518" y="164"/>
                    <a:pt x="502" y="165"/>
                    <a:pt x="502" y="165"/>
                  </a:cubicBezTo>
                  <a:cubicBezTo>
                    <a:pt x="502" y="152"/>
                    <a:pt x="502" y="152"/>
                    <a:pt x="502" y="152"/>
                  </a:cubicBezTo>
                  <a:cubicBezTo>
                    <a:pt x="502" y="152"/>
                    <a:pt x="472" y="154"/>
                    <a:pt x="466" y="146"/>
                  </a:cubicBezTo>
                  <a:cubicBezTo>
                    <a:pt x="460" y="138"/>
                    <a:pt x="467" y="130"/>
                    <a:pt x="467" y="130"/>
                  </a:cubicBezTo>
                  <a:cubicBezTo>
                    <a:pt x="467" y="123"/>
                    <a:pt x="467" y="123"/>
                    <a:pt x="467" y="123"/>
                  </a:cubicBezTo>
                  <a:cubicBezTo>
                    <a:pt x="433" y="120"/>
                    <a:pt x="433" y="120"/>
                    <a:pt x="433" y="120"/>
                  </a:cubicBezTo>
                  <a:cubicBezTo>
                    <a:pt x="439" y="109"/>
                    <a:pt x="439" y="109"/>
                    <a:pt x="439" y="109"/>
                  </a:cubicBezTo>
                  <a:cubicBezTo>
                    <a:pt x="439" y="109"/>
                    <a:pt x="430" y="112"/>
                    <a:pt x="431" y="102"/>
                  </a:cubicBezTo>
                  <a:cubicBezTo>
                    <a:pt x="432" y="92"/>
                    <a:pt x="447" y="85"/>
                    <a:pt x="443" y="63"/>
                  </a:cubicBezTo>
                  <a:cubicBezTo>
                    <a:pt x="439" y="41"/>
                    <a:pt x="402" y="8"/>
                    <a:pt x="402" y="8"/>
                  </a:cubicBezTo>
                  <a:cubicBezTo>
                    <a:pt x="401" y="1"/>
                    <a:pt x="401" y="1"/>
                    <a:pt x="401" y="1"/>
                  </a:cubicBezTo>
                  <a:cubicBezTo>
                    <a:pt x="385" y="0"/>
                    <a:pt x="385" y="0"/>
                    <a:pt x="385" y="0"/>
                  </a:cubicBezTo>
                  <a:cubicBezTo>
                    <a:pt x="348" y="18"/>
                    <a:pt x="348" y="18"/>
                    <a:pt x="348" y="18"/>
                  </a:cubicBezTo>
                  <a:cubicBezTo>
                    <a:pt x="345" y="38"/>
                    <a:pt x="345" y="38"/>
                    <a:pt x="345" y="38"/>
                  </a:cubicBezTo>
                  <a:cubicBezTo>
                    <a:pt x="333" y="50"/>
                    <a:pt x="333" y="50"/>
                    <a:pt x="333" y="50"/>
                  </a:cubicBezTo>
                  <a:cubicBezTo>
                    <a:pt x="320" y="55"/>
                    <a:pt x="320" y="55"/>
                    <a:pt x="320" y="55"/>
                  </a:cubicBezTo>
                  <a:cubicBezTo>
                    <a:pt x="320" y="55"/>
                    <a:pt x="325" y="77"/>
                    <a:pt x="293" y="92"/>
                  </a:cubicBezTo>
                  <a:cubicBezTo>
                    <a:pt x="262" y="107"/>
                    <a:pt x="222" y="107"/>
                    <a:pt x="222" y="107"/>
                  </a:cubicBezTo>
                  <a:cubicBezTo>
                    <a:pt x="208" y="115"/>
                    <a:pt x="208" y="115"/>
                    <a:pt x="208" y="115"/>
                  </a:cubicBezTo>
                  <a:cubicBezTo>
                    <a:pt x="208" y="115"/>
                    <a:pt x="228" y="125"/>
                    <a:pt x="223" y="132"/>
                  </a:cubicBezTo>
                  <a:cubicBezTo>
                    <a:pt x="218" y="138"/>
                    <a:pt x="203" y="160"/>
                    <a:pt x="203" y="160"/>
                  </a:cubicBezTo>
                  <a:cubicBezTo>
                    <a:pt x="203" y="160"/>
                    <a:pt x="170" y="160"/>
                    <a:pt x="151" y="160"/>
                  </a:cubicBezTo>
                  <a:cubicBezTo>
                    <a:pt x="133" y="160"/>
                    <a:pt x="138" y="180"/>
                    <a:pt x="120" y="185"/>
                  </a:cubicBezTo>
                  <a:cubicBezTo>
                    <a:pt x="101" y="190"/>
                    <a:pt x="108" y="165"/>
                    <a:pt x="108" y="165"/>
                  </a:cubicBezTo>
                  <a:cubicBezTo>
                    <a:pt x="108" y="165"/>
                    <a:pt x="88" y="180"/>
                    <a:pt x="78" y="187"/>
                  </a:cubicBezTo>
                  <a:cubicBezTo>
                    <a:pt x="68" y="193"/>
                    <a:pt x="56" y="186"/>
                    <a:pt x="56" y="186"/>
                  </a:cubicBezTo>
                  <a:cubicBezTo>
                    <a:pt x="56" y="186"/>
                    <a:pt x="38" y="196"/>
                    <a:pt x="37" y="204"/>
                  </a:cubicBezTo>
                  <a:cubicBezTo>
                    <a:pt x="36" y="212"/>
                    <a:pt x="35" y="224"/>
                    <a:pt x="35" y="224"/>
                  </a:cubicBezTo>
                  <a:cubicBezTo>
                    <a:pt x="29" y="224"/>
                    <a:pt x="29" y="224"/>
                    <a:pt x="29" y="224"/>
                  </a:cubicBezTo>
                  <a:cubicBezTo>
                    <a:pt x="24" y="249"/>
                    <a:pt x="24" y="249"/>
                    <a:pt x="24" y="249"/>
                  </a:cubicBezTo>
                  <a:cubicBezTo>
                    <a:pt x="24" y="249"/>
                    <a:pt x="2" y="256"/>
                    <a:pt x="1" y="264"/>
                  </a:cubicBezTo>
                  <a:cubicBezTo>
                    <a:pt x="0" y="272"/>
                    <a:pt x="15" y="273"/>
                    <a:pt x="15" y="273"/>
                  </a:cubicBezTo>
                  <a:cubicBezTo>
                    <a:pt x="14" y="298"/>
                    <a:pt x="14" y="298"/>
                    <a:pt x="14" y="298"/>
                  </a:cubicBezTo>
                  <a:cubicBezTo>
                    <a:pt x="7" y="306"/>
                    <a:pt x="7" y="306"/>
                    <a:pt x="7" y="306"/>
                  </a:cubicBezTo>
                  <a:cubicBezTo>
                    <a:pt x="19" y="313"/>
                    <a:pt x="19" y="313"/>
                    <a:pt x="19" y="313"/>
                  </a:cubicBezTo>
                  <a:cubicBezTo>
                    <a:pt x="19" y="344"/>
                    <a:pt x="19" y="344"/>
                    <a:pt x="19" y="344"/>
                  </a:cubicBezTo>
                  <a:cubicBezTo>
                    <a:pt x="19" y="344"/>
                    <a:pt x="36" y="355"/>
                    <a:pt x="38" y="358"/>
                  </a:cubicBezTo>
                  <a:cubicBezTo>
                    <a:pt x="40" y="361"/>
                    <a:pt x="36" y="381"/>
                    <a:pt x="36" y="381"/>
                  </a:cubicBezTo>
                  <a:cubicBezTo>
                    <a:pt x="36" y="381"/>
                    <a:pt x="47" y="404"/>
                    <a:pt x="57" y="412"/>
                  </a:cubicBezTo>
                  <a:cubicBezTo>
                    <a:pt x="67" y="420"/>
                    <a:pt x="79" y="428"/>
                    <a:pt x="79" y="428"/>
                  </a:cubicBezTo>
                  <a:cubicBezTo>
                    <a:pt x="83" y="442"/>
                    <a:pt x="83" y="442"/>
                    <a:pt x="83" y="442"/>
                  </a:cubicBezTo>
                  <a:cubicBezTo>
                    <a:pt x="83" y="461"/>
                    <a:pt x="83" y="461"/>
                    <a:pt x="83" y="461"/>
                  </a:cubicBezTo>
                  <a:cubicBezTo>
                    <a:pt x="88" y="467"/>
                    <a:pt x="88" y="467"/>
                    <a:pt x="88" y="467"/>
                  </a:cubicBezTo>
                  <a:cubicBezTo>
                    <a:pt x="88" y="467"/>
                    <a:pt x="104" y="448"/>
                    <a:pt x="106" y="441"/>
                  </a:cubicBezTo>
                  <a:cubicBezTo>
                    <a:pt x="108" y="434"/>
                    <a:pt x="98" y="421"/>
                    <a:pt x="98" y="421"/>
                  </a:cubicBezTo>
                  <a:cubicBezTo>
                    <a:pt x="108" y="400"/>
                    <a:pt x="108" y="400"/>
                    <a:pt x="108" y="400"/>
                  </a:cubicBezTo>
                  <a:cubicBezTo>
                    <a:pt x="128" y="401"/>
                    <a:pt x="128" y="401"/>
                    <a:pt x="128" y="401"/>
                  </a:cubicBezTo>
                  <a:cubicBezTo>
                    <a:pt x="128" y="401"/>
                    <a:pt x="141" y="390"/>
                    <a:pt x="147" y="390"/>
                  </a:cubicBezTo>
                  <a:cubicBezTo>
                    <a:pt x="153" y="390"/>
                    <a:pt x="167" y="398"/>
                    <a:pt x="178" y="399"/>
                  </a:cubicBezTo>
                  <a:cubicBezTo>
                    <a:pt x="189" y="400"/>
                    <a:pt x="193" y="394"/>
                    <a:pt x="193" y="394"/>
                  </a:cubicBezTo>
                  <a:cubicBezTo>
                    <a:pt x="203" y="380"/>
                    <a:pt x="203" y="380"/>
                    <a:pt x="203" y="380"/>
                  </a:cubicBezTo>
                  <a:cubicBezTo>
                    <a:pt x="203" y="370"/>
                    <a:pt x="203" y="370"/>
                    <a:pt x="203" y="370"/>
                  </a:cubicBezTo>
                  <a:cubicBezTo>
                    <a:pt x="203" y="370"/>
                    <a:pt x="193" y="367"/>
                    <a:pt x="201" y="357"/>
                  </a:cubicBezTo>
                  <a:cubicBezTo>
                    <a:pt x="209" y="347"/>
                    <a:pt x="208" y="358"/>
                    <a:pt x="218" y="344"/>
                  </a:cubicBezTo>
                  <a:cubicBezTo>
                    <a:pt x="228" y="330"/>
                    <a:pt x="218" y="311"/>
                    <a:pt x="247" y="313"/>
                  </a:cubicBezTo>
                  <a:cubicBezTo>
                    <a:pt x="276" y="315"/>
                    <a:pt x="273" y="330"/>
                    <a:pt x="273" y="330"/>
                  </a:cubicBezTo>
                  <a:cubicBezTo>
                    <a:pt x="273" y="330"/>
                    <a:pt x="286" y="328"/>
                    <a:pt x="289" y="332"/>
                  </a:cubicBezTo>
                  <a:cubicBezTo>
                    <a:pt x="292" y="336"/>
                    <a:pt x="280" y="351"/>
                    <a:pt x="295" y="351"/>
                  </a:cubicBezTo>
                  <a:cubicBezTo>
                    <a:pt x="310" y="351"/>
                    <a:pt x="319" y="351"/>
                    <a:pt x="319" y="351"/>
                  </a:cubicBezTo>
                  <a:cubicBezTo>
                    <a:pt x="319" y="351"/>
                    <a:pt x="325" y="363"/>
                    <a:pt x="335" y="362"/>
                  </a:cubicBezTo>
                  <a:cubicBezTo>
                    <a:pt x="345" y="361"/>
                    <a:pt x="363" y="361"/>
                    <a:pt x="363" y="361"/>
                  </a:cubicBezTo>
                  <a:cubicBezTo>
                    <a:pt x="363" y="361"/>
                    <a:pt x="376" y="375"/>
                    <a:pt x="385" y="368"/>
                  </a:cubicBezTo>
                  <a:cubicBezTo>
                    <a:pt x="394" y="361"/>
                    <a:pt x="389" y="347"/>
                    <a:pt x="396" y="344"/>
                  </a:cubicBezTo>
                  <a:cubicBezTo>
                    <a:pt x="403" y="341"/>
                    <a:pt x="410" y="328"/>
                    <a:pt x="410" y="328"/>
                  </a:cubicBezTo>
                  <a:cubicBezTo>
                    <a:pt x="410" y="328"/>
                    <a:pt x="424" y="349"/>
                    <a:pt x="430" y="344"/>
                  </a:cubicBezTo>
                  <a:cubicBezTo>
                    <a:pt x="436" y="339"/>
                    <a:pt x="449" y="330"/>
                    <a:pt x="449" y="330"/>
                  </a:cubicBezTo>
                  <a:cubicBezTo>
                    <a:pt x="461" y="330"/>
                    <a:pt x="461" y="330"/>
                    <a:pt x="461" y="330"/>
                  </a:cubicBezTo>
                  <a:cubicBezTo>
                    <a:pt x="477" y="316"/>
                    <a:pt x="477" y="316"/>
                    <a:pt x="477" y="316"/>
                  </a:cubicBezTo>
                  <a:cubicBezTo>
                    <a:pt x="477" y="316"/>
                    <a:pt x="486" y="326"/>
                    <a:pt x="490" y="326"/>
                  </a:cubicBezTo>
                  <a:cubicBezTo>
                    <a:pt x="494" y="326"/>
                    <a:pt x="512" y="321"/>
                    <a:pt x="512" y="321"/>
                  </a:cubicBezTo>
                  <a:cubicBezTo>
                    <a:pt x="512" y="321"/>
                    <a:pt x="517" y="300"/>
                    <a:pt x="524" y="299"/>
                  </a:cubicBezTo>
                  <a:cubicBezTo>
                    <a:pt x="531" y="298"/>
                    <a:pt x="539" y="311"/>
                    <a:pt x="539" y="311"/>
                  </a:cubicBezTo>
                  <a:cubicBezTo>
                    <a:pt x="560" y="308"/>
                    <a:pt x="560" y="308"/>
                    <a:pt x="560" y="308"/>
                  </a:cubicBezTo>
                  <a:cubicBezTo>
                    <a:pt x="560" y="308"/>
                    <a:pt x="566" y="324"/>
                    <a:pt x="586" y="319"/>
                  </a:cubicBezTo>
                  <a:cubicBezTo>
                    <a:pt x="606" y="314"/>
                    <a:pt x="610" y="303"/>
                    <a:pt x="610" y="303"/>
                  </a:cubicBezTo>
                  <a:cubicBezTo>
                    <a:pt x="610" y="303"/>
                    <a:pt x="614" y="289"/>
                    <a:pt x="606" y="281"/>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520" name="Freeform 312">
              <a:extLst>
                <a:ext uri="{FF2B5EF4-FFF2-40B4-BE49-F238E27FC236}">
                  <a16:creationId xmlns:a16="http://schemas.microsoft.com/office/drawing/2014/main" id="{EC5960E0-B3FC-4EF3-935E-C0A375611B23}"/>
                </a:ext>
              </a:extLst>
            </p:cNvPr>
            <p:cNvSpPr>
              <a:spLocks/>
            </p:cNvSpPr>
            <p:nvPr/>
          </p:nvSpPr>
          <p:spPr bwMode="gray">
            <a:xfrm>
              <a:off x="5112013" y="2560680"/>
              <a:ext cx="241493" cy="298908"/>
            </a:xfrm>
            <a:custGeom>
              <a:avLst/>
              <a:gdLst>
                <a:gd name="T0" fmla="*/ 238 w 356"/>
                <a:gd name="T1" fmla="*/ 83 h 466"/>
                <a:gd name="T2" fmla="*/ 219 w 356"/>
                <a:gd name="T3" fmla="*/ 95 h 466"/>
                <a:gd name="T4" fmla="*/ 166 w 356"/>
                <a:gd name="T5" fmla="*/ 83 h 466"/>
                <a:gd name="T6" fmla="*/ 96 w 356"/>
                <a:gd name="T7" fmla="*/ 108 h 466"/>
                <a:gd name="T8" fmla="*/ 115 w 356"/>
                <a:gd name="T9" fmla="*/ 134 h 466"/>
                <a:gd name="T10" fmla="*/ 149 w 356"/>
                <a:gd name="T11" fmla="*/ 128 h 466"/>
                <a:gd name="T12" fmla="*/ 159 w 356"/>
                <a:gd name="T13" fmla="*/ 146 h 466"/>
                <a:gd name="T14" fmla="*/ 140 w 356"/>
                <a:gd name="T15" fmla="*/ 172 h 466"/>
                <a:gd name="T16" fmla="*/ 130 w 356"/>
                <a:gd name="T17" fmla="*/ 212 h 466"/>
                <a:gd name="T18" fmla="*/ 147 w 356"/>
                <a:gd name="T19" fmla="*/ 225 h 466"/>
                <a:gd name="T20" fmla="*/ 158 w 356"/>
                <a:gd name="T21" fmla="*/ 243 h 466"/>
                <a:gd name="T22" fmla="*/ 155 w 356"/>
                <a:gd name="T23" fmla="*/ 284 h 466"/>
                <a:gd name="T24" fmla="*/ 146 w 356"/>
                <a:gd name="T25" fmla="*/ 316 h 466"/>
                <a:gd name="T26" fmla="*/ 127 w 356"/>
                <a:gd name="T27" fmla="*/ 311 h 466"/>
                <a:gd name="T28" fmla="*/ 90 w 356"/>
                <a:gd name="T29" fmla="*/ 327 h 466"/>
                <a:gd name="T30" fmla="*/ 64 w 356"/>
                <a:gd name="T31" fmla="*/ 297 h 466"/>
                <a:gd name="T32" fmla="*/ 58 w 356"/>
                <a:gd name="T33" fmla="*/ 329 h 466"/>
                <a:gd name="T34" fmla="*/ 25 w 356"/>
                <a:gd name="T35" fmla="*/ 346 h 466"/>
                <a:gd name="T36" fmla="*/ 35 w 356"/>
                <a:gd name="T37" fmla="*/ 359 h 466"/>
                <a:gd name="T38" fmla="*/ 38 w 356"/>
                <a:gd name="T39" fmla="*/ 376 h 466"/>
                <a:gd name="T40" fmla="*/ 19 w 356"/>
                <a:gd name="T41" fmla="*/ 389 h 466"/>
                <a:gd name="T42" fmla="*/ 0 w 356"/>
                <a:gd name="T43" fmla="*/ 411 h 466"/>
                <a:gd name="T44" fmla="*/ 37 w 356"/>
                <a:gd name="T45" fmla="*/ 454 h 466"/>
                <a:gd name="T46" fmla="*/ 50 w 356"/>
                <a:gd name="T47" fmla="*/ 460 h 466"/>
                <a:gd name="T48" fmla="*/ 61 w 356"/>
                <a:gd name="T49" fmla="*/ 446 h 466"/>
                <a:gd name="T50" fmla="*/ 91 w 356"/>
                <a:gd name="T51" fmla="*/ 448 h 466"/>
                <a:gd name="T52" fmla="*/ 114 w 356"/>
                <a:gd name="T53" fmla="*/ 461 h 466"/>
                <a:gd name="T54" fmla="*/ 138 w 356"/>
                <a:gd name="T55" fmla="*/ 441 h 466"/>
                <a:gd name="T56" fmla="*/ 159 w 356"/>
                <a:gd name="T57" fmla="*/ 462 h 466"/>
                <a:gd name="T58" fmla="*/ 209 w 356"/>
                <a:gd name="T59" fmla="*/ 418 h 466"/>
                <a:gd name="T60" fmla="*/ 242 w 356"/>
                <a:gd name="T61" fmla="*/ 385 h 466"/>
                <a:gd name="T62" fmla="*/ 260 w 356"/>
                <a:gd name="T63" fmla="*/ 302 h 466"/>
                <a:gd name="T64" fmla="*/ 298 w 356"/>
                <a:gd name="T65" fmla="*/ 251 h 466"/>
                <a:gd name="T66" fmla="*/ 317 w 356"/>
                <a:gd name="T67" fmla="*/ 197 h 466"/>
                <a:gd name="T68" fmla="*/ 320 w 356"/>
                <a:gd name="T69" fmla="*/ 152 h 466"/>
                <a:gd name="T70" fmla="*/ 332 w 356"/>
                <a:gd name="T71" fmla="*/ 77 h 466"/>
                <a:gd name="T72" fmla="*/ 356 w 356"/>
                <a:gd name="T73" fmla="*/ 11 h 466"/>
                <a:gd name="T74" fmla="*/ 332 w 356"/>
                <a:gd name="T75" fmla="*/ 9 h 466"/>
                <a:gd name="T76" fmla="*/ 282 w 356"/>
                <a:gd name="T77" fmla="*/ 11 h 466"/>
                <a:gd name="T78" fmla="*/ 252 w 356"/>
                <a:gd name="T79" fmla="*/ 31 h 466"/>
                <a:gd name="T80" fmla="*/ 242 w 356"/>
                <a:gd name="T81" fmla="*/ 77 h 4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56" h="466">
                  <a:moveTo>
                    <a:pt x="242" y="77"/>
                  </a:moveTo>
                  <a:cubicBezTo>
                    <a:pt x="238" y="83"/>
                    <a:pt x="238" y="83"/>
                    <a:pt x="238" y="83"/>
                  </a:cubicBezTo>
                  <a:cubicBezTo>
                    <a:pt x="237" y="110"/>
                    <a:pt x="237" y="110"/>
                    <a:pt x="237" y="110"/>
                  </a:cubicBezTo>
                  <a:cubicBezTo>
                    <a:pt x="219" y="95"/>
                    <a:pt x="219" y="95"/>
                    <a:pt x="219" y="95"/>
                  </a:cubicBezTo>
                  <a:cubicBezTo>
                    <a:pt x="199" y="96"/>
                    <a:pt x="199" y="96"/>
                    <a:pt x="199" y="96"/>
                  </a:cubicBezTo>
                  <a:cubicBezTo>
                    <a:pt x="199" y="96"/>
                    <a:pt x="171" y="83"/>
                    <a:pt x="166" y="83"/>
                  </a:cubicBezTo>
                  <a:cubicBezTo>
                    <a:pt x="161" y="83"/>
                    <a:pt x="106" y="86"/>
                    <a:pt x="106" y="86"/>
                  </a:cubicBezTo>
                  <a:cubicBezTo>
                    <a:pt x="96" y="108"/>
                    <a:pt x="96" y="108"/>
                    <a:pt x="96" y="108"/>
                  </a:cubicBezTo>
                  <a:cubicBezTo>
                    <a:pt x="98" y="129"/>
                    <a:pt x="98" y="129"/>
                    <a:pt x="98" y="129"/>
                  </a:cubicBezTo>
                  <a:cubicBezTo>
                    <a:pt x="98" y="129"/>
                    <a:pt x="106" y="134"/>
                    <a:pt x="115" y="134"/>
                  </a:cubicBezTo>
                  <a:cubicBezTo>
                    <a:pt x="124" y="134"/>
                    <a:pt x="124" y="119"/>
                    <a:pt x="129" y="119"/>
                  </a:cubicBezTo>
                  <a:cubicBezTo>
                    <a:pt x="134" y="119"/>
                    <a:pt x="146" y="124"/>
                    <a:pt x="149" y="128"/>
                  </a:cubicBezTo>
                  <a:cubicBezTo>
                    <a:pt x="152" y="132"/>
                    <a:pt x="153" y="142"/>
                    <a:pt x="153" y="142"/>
                  </a:cubicBezTo>
                  <a:cubicBezTo>
                    <a:pt x="159" y="146"/>
                    <a:pt x="159" y="146"/>
                    <a:pt x="159" y="146"/>
                  </a:cubicBezTo>
                  <a:cubicBezTo>
                    <a:pt x="159" y="146"/>
                    <a:pt x="159" y="159"/>
                    <a:pt x="153" y="166"/>
                  </a:cubicBezTo>
                  <a:cubicBezTo>
                    <a:pt x="147" y="173"/>
                    <a:pt x="140" y="172"/>
                    <a:pt x="140" y="172"/>
                  </a:cubicBezTo>
                  <a:cubicBezTo>
                    <a:pt x="131" y="188"/>
                    <a:pt x="131" y="188"/>
                    <a:pt x="131" y="188"/>
                  </a:cubicBezTo>
                  <a:cubicBezTo>
                    <a:pt x="130" y="212"/>
                    <a:pt x="130" y="212"/>
                    <a:pt x="130" y="212"/>
                  </a:cubicBezTo>
                  <a:cubicBezTo>
                    <a:pt x="142" y="213"/>
                    <a:pt x="142" y="213"/>
                    <a:pt x="142" y="213"/>
                  </a:cubicBezTo>
                  <a:cubicBezTo>
                    <a:pt x="147" y="225"/>
                    <a:pt x="147" y="225"/>
                    <a:pt x="147" y="225"/>
                  </a:cubicBezTo>
                  <a:cubicBezTo>
                    <a:pt x="147" y="225"/>
                    <a:pt x="163" y="226"/>
                    <a:pt x="165" y="232"/>
                  </a:cubicBezTo>
                  <a:cubicBezTo>
                    <a:pt x="167" y="238"/>
                    <a:pt x="158" y="243"/>
                    <a:pt x="158" y="243"/>
                  </a:cubicBezTo>
                  <a:cubicBezTo>
                    <a:pt x="159" y="273"/>
                    <a:pt x="159" y="273"/>
                    <a:pt x="159" y="273"/>
                  </a:cubicBezTo>
                  <a:cubicBezTo>
                    <a:pt x="155" y="284"/>
                    <a:pt x="155" y="284"/>
                    <a:pt x="155" y="284"/>
                  </a:cubicBezTo>
                  <a:cubicBezTo>
                    <a:pt x="159" y="298"/>
                    <a:pt x="159" y="298"/>
                    <a:pt x="159" y="298"/>
                  </a:cubicBezTo>
                  <a:cubicBezTo>
                    <a:pt x="159" y="298"/>
                    <a:pt x="146" y="302"/>
                    <a:pt x="146" y="316"/>
                  </a:cubicBezTo>
                  <a:cubicBezTo>
                    <a:pt x="146" y="330"/>
                    <a:pt x="144" y="336"/>
                    <a:pt x="134" y="336"/>
                  </a:cubicBezTo>
                  <a:cubicBezTo>
                    <a:pt x="124" y="336"/>
                    <a:pt x="131" y="314"/>
                    <a:pt x="127" y="311"/>
                  </a:cubicBezTo>
                  <a:cubicBezTo>
                    <a:pt x="123" y="308"/>
                    <a:pt x="120" y="324"/>
                    <a:pt x="112" y="326"/>
                  </a:cubicBezTo>
                  <a:cubicBezTo>
                    <a:pt x="104" y="328"/>
                    <a:pt x="90" y="327"/>
                    <a:pt x="90" y="327"/>
                  </a:cubicBezTo>
                  <a:cubicBezTo>
                    <a:pt x="81" y="298"/>
                    <a:pt x="81" y="298"/>
                    <a:pt x="81" y="298"/>
                  </a:cubicBezTo>
                  <a:cubicBezTo>
                    <a:pt x="81" y="298"/>
                    <a:pt x="70" y="296"/>
                    <a:pt x="64" y="297"/>
                  </a:cubicBezTo>
                  <a:cubicBezTo>
                    <a:pt x="58" y="298"/>
                    <a:pt x="71" y="316"/>
                    <a:pt x="71" y="316"/>
                  </a:cubicBezTo>
                  <a:cubicBezTo>
                    <a:pt x="71" y="316"/>
                    <a:pt x="62" y="324"/>
                    <a:pt x="58" y="329"/>
                  </a:cubicBezTo>
                  <a:cubicBezTo>
                    <a:pt x="54" y="334"/>
                    <a:pt x="30" y="325"/>
                    <a:pt x="24" y="323"/>
                  </a:cubicBezTo>
                  <a:cubicBezTo>
                    <a:pt x="18" y="321"/>
                    <a:pt x="25" y="346"/>
                    <a:pt x="25" y="346"/>
                  </a:cubicBezTo>
                  <a:cubicBezTo>
                    <a:pt x="18" y="346"/>
                    <a:pt x="18" y="346"/>
                    <a:pt x="18" y="346"/>
                  </a:cubicBezTo>
                  <a:cubicBezTo>
                    <a:pt x="35" y="359"/>
                    <a:pt x="35" y="359"/>
                    <a:pt x="35" y="359"/>
                  </a:cubicBezTo>
                  <a:cubicBezTo>
                    <a:pt x="26" y="368"/>
                    <a:pt x="26" y="368"/>
                    <a:pt x="26" y="368"/>
                  </a:cubicBezTo>
                  <a:cubicBezTo>
                    <a:pt x="38" y="376"/>
                    <a:pt x="38" y="376"/>
                    <a:pt x="38" y="376"/>
                  </a:cubicBezTo>
                  <a:cubicBezTo>
                    <a:pt x="38" y="376"/>
                    <a:pt x="42" y="389"/>
                    <a:pt x="38" y="398"/>
                  </a:cubicBezTo>
                  <a:cubicBezTo>
                    <a:pt x="34" y="407"/>
                    <a:pt x="19" y="389"/>
                    <a:pt x="19" y="389"/>
                  </a:cubicBezTo>
                  <a:cubicBezTo>
                    <a:pt x="5" y="398"/>
                    <a:pt x="5" y="398"/>
                    <a:pt x="5" y="398"/>
                  </a:cubicBezTo>
                  <a:cubicBezTo>
                    <a:pt x="0" y="411"/>
                    <a:pt x="0" y="411"/>
                    <a:pt x="0" y="411"/>
                  </a:cubicBezTo>
                  <a:cubicBezTo>
                    <a:pt x="36" y="442"/>
                    <a:pt x="36" y="442"/>
                    <a:pt x="36" y="442"/>
                  </a:cubicBezTo>
                  <a:cubicBezTo>
                    <a:pt x="37" y="454"/>
                    <a:pt x="37" y="454"/>
                    <a:pt x="37" y="454"/>
                  </a:cubicBezTo>
                  <a:cubicBezTo>
                    <a:pt x="46" y="466"/>
                    <a:pt x="46" y="466"/>
                    <a:pt x="46" y="466"/>
                  </a:cubicBezTo>
                  <a:cubicBezTo>
                    <a:pt x="50" y="460"/>
                    <a:pt x="50" y="460"/>
                    <a:pt x="50" y="460"/>
                  </a:cubicBezTo>
                  <a:cubicBezTo>
                    <a:pt x="61" y="460"/>
                    <a:pt x="61" y="460"/>
                    <a:pt x="61" y="460"/>
                  </a:cubicBezTo>
                  <a:cubicBezTo>
                    <a:pt x="61" y="446"/>
                    <a:pt x="61" y="446"/>
                    <a:pt x="61" y="446"/>
                  </a:cubicBezTo>
                  <a:cubicBezTo>
                    <a:pt x="61" y="446"/>
                    <a:pt x="75" y="433"/>
                    <a:pt x="82" y="432"/>
                  </a:cubicBezTo>
                  <a:cubicBezTo>
                    <a:pt x="89" y="431"/>
                    <a:pt x="91" y="448"/>
                    <a:pt x="91" y="448"/>
                  </a:cubicBezTo>
                  <a:cubicBezTo>
                    <a:pt x="98" y="445"/>
                    <a:pt x="98" y="445"/>
                    <a:pt x="98" y="445"/>
                  </a:cubicBezTo>
                  <a:cubicBezTo>
                    <a:pt x="98" y="445"/>
                    <a:pt x="102" y="466"/>
                    <a:pt x="114" y="461"/>
                  </a:cubicBezTo>
                  <a:cubicBezTo>
                    <a:pt x="126" y="456"/>
                    <a:pt x="125" y="440"/>
                    <a:pt x="125" y="440"/>
                  </a:cubicBezTo>
                  <a:cubicBezTo>
                    <a:pt x="138" y="441"/>
                    <a:pt x="138" y="441"/>
                    <a:pt x="138" y="441"/>
                  </a:cubicBezTo>
                  <a:cubicBezTo>
                    <a:pt x="138" y="441"/>
                    <a:pt x="148" y="425"/>
                    <a:pt x="155" y="432"/>
                  </a:cubicBezTo>
                  <a:cubicBezTo>
                    <a:pt x="162" y="439"/>
                    <a:pt x="144" y="462"/>
                    <a:pt x="159" y="462"/>
                  </a:cubicBezTo>
                  <a:cubicBezTo>
                    <a:pt x="174" y="462"/>
                    <a:pt x="177" y="457"/>
                    <a:pt x="184" y="448"/>
                  </a:cubicBezTo>
                  <a:cubicBezTo>
                    <a:pt x="191" y="439"/>
                    <a:pt x="203" y="418"/>
                    <a:pt x="209" y="418"/>
                  </a:cubicBezTo>
                  <a:cubicBezTo>
                    <a:pt x="215" y="418"/>
                    <a:pt x="225" y="415"/>
                    <a:pt x="225" y="415"/>
                  </a:cubicBezTo>
                  <a:cubicBezTo>
                    <a:pt x="242" y="385"/>
                    <a:pt x="242" y="385"/>
                    <a:pt x="242" y="385"/>
                  </a:cubicBezTo>
                  <a:cubicBezTo>
                    <a:pt x="241" y="318"/>
                    <a:pt x="241" y="318"/>
                    <a:pt x="241" y="318"/>
                  </a:cubicBezTo>
                  <a:cubicBezTo>
                    <a:pt x="241" y="318"/>
                    <a:pt x="259" y="311"/>
                    <a:pt x="260" y="302"/>
                  </a:cubicBezTo>
                  <a:cubicBezTo>
                    <a:pt x="261" y="293"/>
                    <a:pt x="261" y="270"/>
                    <a:pt x="268" y="267"/>
                  </a:cubicBezTo>
                  <a:cubicBezTo>
                    <a:pt x="275" y="264"/>
                    <a:pt x="288" y="258"/>
                    <a:pt x="298" y="251"/>
                  </a:cubicBezTo>
                  <a:cubicBezTo>
                    <a:pt x="308" y="244"/>
                    <a:pt x="314" y="229"/>
                    <a:pt x="314" y="229"/>
                  </a:cubicBezTo>
                  <a:cubicBezTo>
                    <a:pt x="317" y="197"/>
                    <a:pt x="317" y="197"/>
                    <a:pt x="317" y="197"/>
                  </a:cubicBezTo>
                  <a:cubicBezTo>
                    <a:pt x="317" y="197"/>
                    <a:pt x="327" y="189"/>
                    <a:pt x="327" y="178"/>
                  </a:cubicBezTo>
                  <a:cubicBezTo>
                    <a:pt x="327" y="167"/>
                    <a:pt x="318" y="160"/>
                    <a:pt x="320" y="152"/>
                  </a:cubicBezTo>
                  <a:cubicBezTo>
                    <a:pt x="322" y="144"/>
                    <a:pt x="332" y="136"/>
                    <a:pt x="331" y="125"/>
                  </a:cubicBezTo>
                  <a:cubicBezTo>
                    <a:pt x="330" y="114"/>
                    <a:pt x="323" y="87"/>
                    <a:pt x="332" y="77"/>
                  </a:cubicBezTo>
                  <a:cubicBezTo>
                    <a:pt x="341" y="67"/>
                    <a:pt x="356" y="38"/>
                    <a:pt x="356" y="30"/>
                  </a:cubicBezTo>
                  <a:cubicBezTo>
                    <a:pt x="356" y="22"/>
                    <a:pt x="356" y="11"/>
                    <a:pt x="356" y="11"/>
                  </a:cubicBezTo>
                  <a:cubicBezTo>
                    <a:pt x="347" y="4"/>
                    <a:pt x="347" y="4"/>
                    <a:pt x="347" y="4"/>
                  </a:cubicBezTo>
                  <a:cubicBezTo>
                    <a:pt x="347" y="4"/>
                    <a:pt x="343" y="10"/>
                    <a:pt x="332" y="9"/>
                  </a:cubicBezTo>
                  <a:cubicBezTo>
                    <a:pt x="321" y="8"/>
                    <a:pt x="307" y="0"/>
                    <a:pt x="301" y="0"/>
                  </a:cubicBezTo>
                  <a:cubicBezTo>
                    <a:pt x="295" y="0"/>
                    <a:pt x="282" y="11"/>
                    <a:pt x="282" y="11"/>
                  </a:cubicBezTo>
                  <a:cubicBezTo>
                    <a:pt x="262" y="10"/>
                    <a:pt x="262" y="10"/>
                    <a:pt x="262" y="10"/>
                  </a:cubicBezTo>
                  <a:cubicBezTo>
                    <a:pt x="252" y="31"/>
                    <a:pt x="252" y="31"/>
                    <a:pt x="252" y="31"/>
                  </a:cubicBezTo>
                  <a:cubicBezTo>
                    <a:pt x="252" y="31"/>
                    <a:pt x="262" y="44"/>
                    <a:pt x="260" y="51"/>
                  </a:cubicBezTo>
                  <a:cubicBezTo>
                    <a:pt x="258" y="58"/>
                    <a:pt x="242" y="77"/>
                    <a:pt x="242" y="77"/>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521" name="Freeform 313">
              <a:extLst>
                <a:ext uri="{FF2B5EF4-FFF2-40B4-BE49-F238E27FC236}">
                  <a16:creationId xmlns:a16="http://schemas.microsoft.com/office/drawing/2014/main" id="{FC089BFC-AA3C-4F05-AF5F-D3A4D35CB94B}"/>
                </a:ext>
              </a:extLst>
            </p:cNvPr>
            <p:cNvSpPr>
              <a:spLocks/>
            </p:cNvSpPr>
            <p:nvPr/>
          </p:nvSpPr>
          <p:spPr bwMode="gray">
            <a:xfrm>
              <a:off x="5454009" y="1893089"/>
              <a:ext cx="529791" cy="676006"/>
            </a:xfrm>
            <a:custGeom>
              <a:avLst/>
              <a:gdLst>
                <a:gd name="T0" fmla="*/ 569 w 781"/>
                <a:gd name="T1" fmla="*/ 46 h 1054"/>
                <a:gd name="T2" fmla="*/ 443 w 781"/>
                <a:gd name="T3" fmla="*/ 56 h 1054"/>
                <a:gd name="T4" fmla="*/ 143 w 781"/>
                <a:gd name="T5" fmla="*/ 56 h 1054"/>
                <a:gd name="T6" fmla="*/ 101 w 781"/>
                <a:gd name="T7" fmla="*/ 398 h 1054"/>
                <a:gd name="T8" fmla="*/ 41 w 781"/>
                <a:gd name="T9" fmla="*/ 434 h 1054"/>
                <a:gd name="T10" fmla="*/ 30 w 781"/>
                <a:gd name="T11" fmla="*/ 468 h 1054"/>
                <a:gd name="T12" fmla="*/ 15 w 781"/>
                <a:gd name="T13" fmla="*/ 504 h 1054"/>
                <a:gd name="T14" fmla="*/ 11 w 781"/>
                <a:gd name="T15" fmla="*/ 565 h 1054"/>
                <a:gd name="T16" fmla="*/ 42 w 781"/>
                <a:gd name="T17" fmla="*/ 598 h 1054"/>
                <a:gd name="T18" fmla="*/ 56 w 781"/>
                <a:gd name="T19" fmla="*/ 634 h 1054"/>
                <a:gd name="T20" fmla="*/ 93 w 781"/>
                <a:gd name="T21" fmla="*/ 714 h 1054"/>
                <a:gd name="T22" fmla="*/ 83 w 781"/>
                <a:gd name="T23" fmla="*/ 771 h 1054"/>
                <a:gd name="T24" fmla="*/ 116 w 781"/>
                <a:gd name="T25" fmla="*/ 797 h 1054"/>
                <a:gd name="T26" fmla="*/ 171 w 781"/>
                <a:gd name="T27" fmla="*/ 826 h 1054"/>
                <a:gd name="T28" fmla="*/ 208 w 781"/>
                <a:gd name="T29" fmla="*/ 878 h 1054"/>
                <a:gd name="T30" fmla="*/ 225 w 781"/>
                <a:gd name="T31" fmla="*/ 904 h 1054"/>
                <a:gd name="T32" fmla="*/ 256 w 781"/>
                <a:gd name="T33" fmla="*/ 932 h 1054"/>
                <a:gd name="T34" fmla="*/ 285 w 781"/>
                <a:gd name="T35" fmla="*/ 981 h 1054"/>
                <a:gd name="T36" fmla="*/ 333 w 781"/>
                <a:gd name="T37" fmla="*/ 994 h 1054"/>
                <a:gd name="T38" fmla="*/ 390 w 781"/>
                <a:gd name="T39" fmla="*/ 1017 h 1054"/>
                <a:gd name="T40" fmla="*/ 431 w 781"/>
                <a:gd name="T41" fmla="*/ 1049 h 1054"/>
                <a:gd name="T42" fmla="*/ 474 w 781"/>
                <a:gd name="T43" fmla="*/ 1037 h 1054"/>
                <a:gd name="T44" fmla="*/ 508 w 781"/>
                <a:gd name="T45" fmla="*/ 1039 h 1054"/>
                <a:gd name="T46" fmla="*/ 553 w 781"/>
                <a:gd name="T47" fmla="*/ 1040 h 1054"/>
                <a:gd name="T48" fmla="*/ 597 w 781"/>
                <a:gd name="T49" fmla="*/ 995 h 1054"/>
                <a:gd name="T50" fmla="*/ 669 w 781"/>
                <a:gd name="T51" fmla="*/ 976 h 1054"/>
                <a:gd name="T52" fmla="*/ 628 w 781"/>
                <a:gd name="T53" fmla="*/ 912 h 1054"/>
                <a:gd name="T54" fmla="*/ 610 w 781"/>
                <a:gd name="T55" fmla="*/ 882 h 1054"/>
                <a:gd name="T56" fmla="*/ 587 w 781"/>
                <a:gd name="T57" fmla="*/ 846 h 1054"/>
                <a:gd name="T58" fmla="*/ 542 w 781"/>
                <a:gd name="T59" fmla="*/ 802 h 1054"/>
                <a:gd name="T60" fmla="*/ 568 w 781"/>
                <a:gd name="T61" fmla="*/ 792 h 1054"/>
                <a:gd name="T62" fmla="*/ 580 w 781"/>
                <a:gd name="T63" fmla="*/ 719 h 1054"/>
                <a:gd name="T64" fmla="*/ 603 w 781"/>
                <a:gd name="T65" fmla="*/ 656 h 1054"/>
                <a:gd name="T66" fmla="*/ 621 w 781"/>
                <a:gd name="T67" fmla="*/ 631 h 1054"/>
                <a:gd name="T68" fmla="*/ 642 w 781"/>
                <a:gd name="T69" fmla="*/ 596 h 1054"/>
                <a:gd name="T70" fmla="*/ 677 w 781"/>
                <a:gd name="T71" fmla="*/ 555 h 1054"/>
                <a:gd name="T72" fmla="*/ 691 w 781"/>
                <a:gd name="T73" fmla="*/ 471 h 1054"/>
                <a:gd name="T74" fmla="*/ 696 w 781"/>
                <a:gd name="T75" fmla="*/ 414 h 1054"/>
                <a:gd name="T76" fmla="*/ 703 w 781"/>
                <a:gd name="T77" fmla="*/ 346 h 1054"/>
                <a:gd name="T78" fmla="*/ 733 w 781"/>
                <a:gd name="T79" fmla="*/ 321 h 1054"/>
                <a:gd name="T80" fmla="*/ 781 w 781"/>
                <a:gd name="T81" fmla="*/ 271 h 1054"/>
                <a:gd name="T82" fmla="*/ 722 w 781"/>
                <a:gd name="T83" fmla="*/ 228 h 1054"/>
                <a:gd name="T84" fmla="*/ 708 w 781"/>
                <a:gd name="T85" fmla="*/ 127 h 1054"/>
                <a:gd name="T86" fmla="*/ 696 w 781"/>
                <a:gd name="T87" fmla="*/ 84 h 1054"/>
                <a:gd name="T88" fmla="*/ 661 w 781"/>
                <a:gd name="T89" fmla="*/ 23 h 1054"/>
                <a:gd name="T90" fmla="*/ 618 w 781"/>
                <a:gd name="T91" fmla="*/ 15 h 10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781" h="1054">
                  <a:moveTo>
                    <a:pt x="601" y="16"/>
                  </a:moveTo>
                  <a:cubicBezTo>
                    <a:pt x="601" y="16"/>
                    <a:pt x="601" y="39"/>
                    <a:pt x="591" y="43"/>
                  </a:cubicBezTo>
                  <a:cubicBezTo>
                    <a:pt x="581" y="47"/>
                    <a:pt x="579" y="43"/>
                    <a:pt x="569" y="46"/>
                  </a:cubicBezTo>
                  <a:cubicBezTo>
                    <a:pt x="559" y="49"/>
                    <a:pt x="560" y="70"/>
                    <a:pt x="547" y="77"/>
                  </a:cubicBezTo>
                  <a:cubicBezTo>
                    <a:pt x="534" y="84"/>
                    <a:pt x="522" y="59"/>
                    <a:pt x="522" y="59"/>
                  </a:cubicBezTo>
                  <a:cubicBezTo>
                    <a:pt x="443" y="56"/>
                    <a:pt x="443" y="56"/>
                    <a:pt x="443" y="56"/>
                  </a:cubicBezTo>
                  <a:cubicBezTo>
                    <a:pt x="443" y="56"/>
                    <a:pt x="445" y="46"/>
                    <a:pt x="438" y="48"/>
                  </a:cubicBezTo>
                  <a:cubicBezTo>
                    <a:pt x="431" y="50"/>
                    <a:pt x="429" y="60"/>
                    <a:pt x="429" y="60"/>
                  </a:cubicBezTo>
                  <a:cubicBezTo>
                    <a:pt x="143" y="56"/>
                    <a:pt x="143" y="56"/>
                    <a:pt x="143" y="56"/>
                  </a:cubicBezTo>
                  <a:cubicBezTo>
                    <a:pt x="144" y="164"/>
                    <a:pt x="144" y="164"/>
                    <a:pt x="144" y="164"/>
                  </a:cubicBezTo>
                  <a:cubicBezTo>
                    <a:pt x="96" y="165"/>
                    <a:pt x="96" y="165"/>
                    <a:pt x="96" y="165"/>
                  </a:cubicBezTo>
                  <a:cubicBezTo>
                    <a:pt x="101" y="398"/>
                    <a:pt x="101" y="398"/>
                    <a:pt x="101" y="398"/>
                  </a:cubicBezTo>
                  <a:cubicBezTo>
                    <a:pt x="101" y="398"/>
                    <a:pt x="69" y="393"/>
                    <a:pt x="56" y="397"/>
                  </a:cubicBezTo>
                  <a:cubicBezTo>
                    <a:pt x="43" y="401"/>
                    <a:pt x="52" y="412"/>
                    <a:pt x="54" y="420"/>
                  </a:cubicBezTo>
                  <a:cubicBezTo>
                    <a:pt x="56" y="428"/>
                    <a:pt x="47" y="428"/>
                    <a:pt x="41" y="434"/>
                  </a:cubicBezTo>
                  <a:cubicBezTo>
                    <a:pt x="35" y="440"/>
                    <a:pt x="37" y="452"/>
                    <a:pt x="37" y="452"/>
                  </a:cubicBezTo>
                  <a:cubicBezTo>
                    <a:pt x="27" y="452"/>
                    <a:pt x="27" y="452"/>
                    <a:pt x="27" y="452"/>
                  </a:cubicBezTo>
                  <a:cubicBezTo>
                    <a:pt x="30" y="468"/>
                    <a:pt x="30" y="468"/>
                    <a:pt x="30" y="468"/>
                  </a:cubicBezTo>
                  <a:cubicBezTo>
                    <a:pt x="35" y="479"/>
                    <a:pt x="35" y="479"/>
                    <a:pt x="35" y="479"/>
                  </a:cubicBezTo>
                  <a:cubicBezTo>
                    <a:pt x="24" y="486"/>
                    <a:pt x="24" y="486"/>
                    <a:pt x="24" y="486"/>
                  </a:cubicBezTo>
                  <a:cubicBezTo>
                    <a:pt x="24" y="486"/>
                    <a:pt x="9" y="494"/>
                    <a:pt x="15" y="504"/>
                  </a:cubicBezTo>
                  <a:cubicBezTo>
                    <a:pt x="21" y="514"/>
                    <a:pt x="24" y="518"/>
                    <a:pt x="22" y="527"/>
                  </a:cubicBezTo>
                  <a:cubicBezTo>
                    <a:pt x="20" y="536"/>
                    <a:pt x="6" y="536"/>
                    <a:pt x="3" y="547"/>
                  </a:cubicBezTo>
                  <a:cubicBezTo>
                    <a:pt x="0" y="558"/>
                    <a:pt x="6" y="563"/>
                    <a:pt x="11" y="565"/>
                  </a:cubicBezTo>
                  <a:cubicBezTo>
                    <a:pt x="16" y="567"/>
                    <a:pt x="21" y="557"/>
                    <a:pt x="28" y="560"/>
                  </a:cubicBezTo>
                  <a:cubicBezTo>
                    <a:pt x="35" y="563"/>
                    <a:pt x="33" y="590"/>
                    <a:pt x="33" y="590"/>
                  </a:cubicBezTo>
                  <a:cubicBezTo>
                    <a:pt x="42" y="598"/>
                    <a:pt x="42" y="598"/>
                    <a:pt x="42" y="598"/>
                  </a:cubicBezTo>
                  <a:cubicBezTo>
                    <a:pt x="31" y="603"/>
                    <a:pt x="31" y="603"/>
                    <a:pt x="31" y="603"/>
                  </a:cubicBezTo>
                  <a:cubicBezTo>
                    <a:pt x="35" y="620"/>
                    <a:pt x="35" y="620"/>
                    <a:pt x="35" y="620"/>
                  </a:cubicBezTo>
                  <a:cubicBezTo>
                    <a:pt x="35" y="620"/>
                    <a:pt x="44" y="621"/>
                    <a:pt x="56" y="634"/>
                  </a:cubicBezTo>
                  <a:cubicBezTo>
                    <a:pt x="68" y="647"/>
                    <a:pt x="50" y="643"/>
                    <a:pt x="50" y="643"/>
                  </a:cubicBezTo>
                  <a:cubicBezTo>
                    <a:pt x="52" y="659"/>
                    <a:pt x="52" y="659"/>
                    <a:pt x="52" y="659"/>
                  </a:cubicBezTo>
                  <a:cubicBezTo>
                    <a:pt x="52" y="659"/>
                    <a:pt x="89" y="692"/>
                    <a:pt x="93" y="714"/>
                  </a:cubicBezTo>
                  <a:cubicBezTo>
                    <a:pt x="97" y="736"/>
                    <a:pt x="82" y="743"/>
                    <a:pt x="81" y="753"/>
                  </a:cubicBezTo>
                  <a:cubicBezTo>
                    <a:pt x="80" y="763"/>
                    <a:pt x="89" y="760"/>
                    <a:pt x="89" y="760"/>
                  </a:cubicBezTo>
                  <a:cubicBezTo>
                    <a:pt x="83" y="771"/>
                    <a:pt x="83" y="771"/>
                    <a:pt x="83" y="771"/>
                  </a:cubicBezTo>
                  <a:cubicBezTo>
                    <a:pt x="117" y="774"/>
                    <a:pt x="117" y="774"/>
                    <a:pt x="117" y="774"/>
                  </a:cubicBezTo>
                  <a:cubicBezTo>
                    <a:pt x="117" y="781"/>
                    <a:pt x="117" y="781"/>
                    <a:pt x="117" y="781"/>
                  </a:cubicBezTo>
                  <a:cubicBezTo>
                    <a:pt x="117" y="781"/>
                    <a:pt x="110" y="789"/>
                    <a:pt x="116" y="797"/>
                  </a:cubicBezTo>
                  <a:cubicBezTo>
                    <a:pt x="122" y="805"/>
                    <a:pt x="152" y="803"/>
                    <a:pt x="152" y="803"/>
                  </a:cubicBezTo>
                  <a:cubicBezTo>
                    <a:pt x="152" y="816"/>
                    <a:pt x="152" y="816"/>
                    <a:pt x="152" y="816"/>
                  </a:cubicBezTo>
                  <a:cubicBezTo>
                    <a:pt x="152" y="816"/>
                    <a:pt x="168" y="815"/>
                    <a:pt x="171" y="826"/>
                  </a:cubicBezTo>
                  <a:cubicBezTo>
                    <a:pt x="174" y="837"/>
                    <a:pt x="159" y="831"/>
                    <a:pt x="165" y="841"/>
                  </a:cubicBezTo>
                  <a:cubicBezTo>
                    <a:pt x="171" y="851"/>
                    <a:pt x="185" y="853"/>
                    <a:pt x="192" y="854"/>
                  </a:cubicBezTo>
                  <a:cubicBezTo>
                    <a:pt x="199" y="855"/>
                    <a:pt x="208" y="878"/>
                    <a:pt x="208" y="878"/>
                  </a:cubicBezTo>
                  <a:cubicBezTo>
                    <a:pt x="208" y="878"/>
                    <a:pt x="223" y="879"/>
                    <a:pt x="223" y="887"/>
                  </a:cubicBezTo>
                  <a:cubicBezTo>
                    <a:pt x="223" y="895"/>
                    <a:pt x="216" y="889"/>
                    <a:pt x="217" y="895"/>
                  </a:cubicBezTo>
                  <a:cubicBezTo>
                    <a:pt x="218" y="901"/>
                    <a:pt x="225" y="904"/>
                    <a:pt x="225" y="904"/>
                  </a:cubicBezTo>
                  <a:cubicBezTo>
                    <a:pt x="224" y="917"/>
                    <a:pt x="224" y="917"/>
                    <a:pt x="224" y="917"/>
                  </a:cubicBezTo>
                  <a:cubicBezTo>
                    <a:pt x="239" y="918"/>
                    <a:pt x="239" y="918"/>
                    <a:pt x="239" y="918"/>
                  </a:cubicBezTo>
                  <a:cubicBezTo>
                    <a:pt x="239" y="918"/>
                    <a:pt x="248" y="924"/>
                    <a:pt x="256" y="932"/>
                  </a:cubicBezTo>
                  <a:cubicBezTo>
                    <a:pt x="264" y="940"/>
                    <a:pt x="260" y="954"/>
                    <a:pt x="260" y="954"/>
                  </a:cubicBezTo>
                  <a:cubicBezTo>
                    <a:pt x="264" y="962"/>
                    <a:pt x="264" y="962"/>
                    <a:pt x="264" y="962"/>
                  </a:cubicBezTo>
                  <a:cubicBezTo>
                    <a:pt x="285" y="981"/>
                    <a:pt x="285" y="981"/>
                    <a:pt x="285" y="981"/>
                  </a:cubicBezTo>
                  <a:cubicBezTo>
                    <a:pt x="285" y="995"/>
                    <a:pt x="285" y="995"/>
                    <a:pt x="285" y="995"/>
                  </a:cubicBezTo>
                  <a:cubicBezTo>
                    <a:pt x="316" y="1010"/>
                    <a:pt x="316" y="1010"/>
                    <a:pt x="316" y="1010"/>
                  </a:cubicBezTo>
                  <a:cubicBezTo>
                    <a:pt x="316" y="1010"/>
                    <a:pt x="324" y="994"/>
                    <a:pt x="333" y="994"/>
                  </a:cubicBezTo>
                  <a:cubicBezTo>
                    <a:pt x="342" y="994"/>
                    <a:pt x="343" y="1006"/>
                    <a:pt x="354" y="1006"/>
                  </a:cubicBezTo>
                  <a:cubicBezTo>
                    <a:pt x="365" y="1006"/>
                    <a:pt x="364" y="988"/>
                    <a:pt x="371" y="988"/>
                  </a:cubicBezTo>
                  <a:cubicBezTo>
                    <a:pt x="378" y="988"/>
                    <a:pt x="382" y="1005"/>
                    <a:pt x="390" y="1017"/>
                  </a:cubicBezTo>
                  <a:cubicBezTo>
                    <a:pt x="398" y="1029"/>
                    <a:pt x="417" y="1033"/>
                    <a:pt x="417" y="1033"/>
                  </a:cubicBezTo>
                  <a:cubicBezTo>
                    <a:pt x="420" y="1047"/>
                    <a:pt x="420" y="1047"/>
                    <a:pt x="420" y="1047"/>
                  </a:cubicBezTo>
                  <a:cubicBezTo>
                    <a:pt x="431" y="1049"/>
                    <a:pt x="431" y="1049"/>
                    <a:pt x="431" y="1049"/>
                  </a:cubicBezTo>
                  <a:cubicBezTo>
                    <a:pt x="431" y="1049"/>
                    <a:pt x="442" y="1036"/>
                    <a:pt x="447" y="1036"/>
                  </a:cubicBezTo>
                  <a:cubicBezTo>
                    <a:pt x="452" y="1036"/>
                    <a:pt x="461" y="1043"/>
                    <a:pt x="467" y="1044"/>
                  </a:cubicBezTo>
                  <a:cubicBezTo>
                    <a:pt x="473" y="1045"/>
                    <a:pt x="474" y="1037"/>
                    <a:pt x="474" y="1037"/>
                  </a:cubicBezTo>
                  <a:cubicBezTo>
                    <a:pt x="481" y="1036"/>
                    <a:pt x="481" y="1036"/>
                    <a:pt x="481" y="1036"/>
                  </a:cubicBezTo>
                  <a:cubicBezTo>
                    <a:pt x="495" y="1054"/>
                    <a:pt x="495" y="1054"/>
                    <a:pt x="495" y="1054"/>
                  </a:cubicBezTo>
                  <a:cubicBezTo>
                    <a:pt x="508" y="1039"/>
                    <a:pt x="508" y="1039"/>
                    <a:pt x="508" y="1039"/>
                  </a:cubicBezTo>
                  <a:cubicBezTo>
                    <a:pt x="524" y="1040"/>
                    <a:pt x="524" y="1040"/>
                    <a:pt x="524" y="1040"/>
                  </a:cubicBezTo>
                  <a:cubicBezTo>
                    <a:pt x="524" y="1040"/>
                    <a:pt x="531" y="1032"/>
                    <a:pt x="536" y="1032"/>
                  </a:cubicBezTo>
                  <a:cubicBezTo>
                    <a:pt x="541" y="1032"/>
                    <a:pt x="540" y="1038"/>
                    <a:pt x="553" y="1040"/>
                  </a:cubicBezTo>
                  <a:cubicBezTo>
                    <a:pt x="566" y="1042"/>
                    <a:pt x="575" y="1015"/>
                    <a:pt x="575" y="1015"/>
                  </a:cubicBezTo>
                  <a:cubicBezTo>
                    <a:pt x="583" y="1015"/>
                    <a:pt x="583" y="1015"/>
                    <a:pt x="583" y="1015"/>
                  </a:cubicBezTo>
                  <a:cubicBezTo>
                    <a:pt x="597" y="995"/>
                    <a:pt x="597" y="995"/>
                    <a:pt x="597" y="995"/>
                  </a:cubicBezTo>
                  <a:cubicBezTo>
                    <a:pt x="657" y="994"/>
                    <a:pt x="657" y="994"/>
                    <a:pt x="657" y="994"/>
                  </a:cubicBezTo>
                  <a:cubicBezTo>
                    <a:pt x="670" y="986"/>
                    <a:pt x="670" y="986"/>
                    <a:pt x="670" y="986"/>
                  </a:cubicBezTo>
                  <a:cubicBezTo>
                    <a:pt x="669" y="976"/>
                    <a:pt x="669" y="976"/>
                    <a:pt x="669" y="976"/>
                  </a:cubicBezTo>
                  <a:cubicBezTo>
                    <a:pt x="669" y="976"/>
                    <a:pt x="670" y="962"/>
                    <a:pt x="665" y="954"/>
                  </a:cubicBezTo>
                  <a:cubicBezTo>
                    <a:pt x="660" y="946"/>
                    <a:pt x="650" y="955"/>
                    <a:pt x="640" y="947"/>
                  </a:cubicBezTo>
                  <a:cubicBezTo>
                    <a:pt x="630" y="939"/>
                    <a:pt x="628" y="912"/>
                    <a:pt x="628" y="912"/>
                  </a:cubicBezTo>
                  <a:cubicBezTo>
                    <a:pt x="621" y="908"/>
                    <a:pt x="621" y="908"/>
                    <a:pt x="621" y="908"/>
                  </a:cubicBezTo>
                  <a:cubicBezTo>
                    <a:pt x="619" y="883"/>
                    <a:pt x="619" y="883"/>
                    <a:pt x="619" y="883"/>
                  </a:cubicBezTo>
                  <a:cubicBezTo>
                    <a:pt x="610" y="882"/>
                    <a:pt x="610" y="882"/>
                    <a:pt x="610" y="882"/>
                  </a:cubicBezTo>
                  <a:cubicBezTo>
                    <a:pt x="607" y="869"/>
                    <a:pt x="607" y="869"/>
                    <a:pt x="607" y="869"/>
                  </a:cubicBezTo>
                  <a:cubicBezTo>
                    <a:pt x="607" y="869"/>
                    <a:pt x="596" y="871"/>
                    <a:pt x="592" y="866"/>
                  </a:cubicBezTo>
                  <a:cubicBezTo>
                    <a:pt x="588" y="861"/>
                    <a:pt x="587" y="846"/>
                    <a:pt x="587" y="846"/>
                  </a:cubicBezTo>
                  <a:cubicBezTo>
                    <a:pt x="587" y="846"/>
                    <a:pt x="570" y="831"/>
                    <a:pt x="562" y="827"/>
                  </a:cubicBezTo>
                  <a:cubicBezTo>
                    <a:pt x="554" y="823"/>
                    <a:pt x="538" y="829"/>
                    <a:pt x="535" y="824"/>
                  </a:cubicBezTo>
                  <a:cubicBezTo>
                    <a:pt x="532" y="819"/>
                    <a:pt x="542" y="802"/>
                    <a:pt x="542" y="802"/>
                  </a:cubicBezTo>
                  <a:cubicBezTo>
                    <a:pt x="540" y="786"/>
                    <a:pt x="540" y="786"/>
                    <a:pt x="540" y="786"/>
                  </a:cubicBezTo>
                  <a:cubicBezTo>
                    <a:pt x="563" y="787"/>
                    <a:pt x="563" y="787"/>
                    <a:pt x="563" y="787"/>
                  </a:cubicBezTo>
                  <a:cubicBezTo>
                    <a:pt x="568" y="792"/>
                    <a:pt x="568" y="792"/>
                    <a:pt x="568" y="792"/>
                  </a:cubicBezTo>
                  <a:cubicBezTo>
                    <a:pt x="568" y="792"/>
                    <a:pt x="575" y="787"/>
                    <a:pt x="582" y="782"/>
                  </a:cubicBezTo>
                  <a:cubicBezTo>
                    <a:pt x="589" y="777"/>
                    <a:pt x="586" y="746"/>
                    <a:pt x="586" y="746"/>
                  </a:cubicBezTo>
                  <a:cubicBezTo>
                    <a:pt x="586" y="746"/>
                    <a:pt x="579" y="727"/>
                    <a:pt x="580" y="719"/>
                  </a:cubicBezTo>
                  <a:cubicBezTo>
                    <a:pt x="581" y="711"/>
                    <a:pt x="596" y="700"/>
                    <a:pt x="597" y="697"/>
                  </a:cubicBezTo>
                  <a:cubicBezTo>
                    <a:pt x="598" y="694"/>
                    <a:pt x="592" y="683"/>
                    <a:pt x="592" y="676"/>
                  </a:cubicBezTo>
                  <a:cubicBezTo>
                    <a:pt x="592" y="669"/>
                    <a:pt x="598" y="656"/>
                    <a:pt x="603" y="656"/>
                  </a:cubicBezTo>
                  <a:cubicBezTo>
                    <a:pt x="608" y="656"/>
                    <a:pt x="610" y="667"/>
                    <a:pt x="610" y="667"/>
                  </a:cubicBezTo>
                  <a:cubicBezTo>
                    <a:pt x="610" y="667"/>
                    <a:pt x="616" y="670"/>
                    <a:pt x="622" y="662"/>
                  </a:cubicBezTo>
                  <a:cubicBezTo>
                    <a:pt x="628" y="654"/>
                    <a:pt x="621" y="631"/>
                    <a:pt x="621" y="631"/>
                  </a:cubicBezTo>
                  <a:cubicBezTo>
                    <a:pt x="628" y="620"/>
                    <a:pt x="628" y="620"/>
                    <a:pt x="628" y="620"/>
                  </a:cubicBezTo>
                  <a:cubicBezTo>
                    <a:pt x="626" y="605"/>
                    <a:pt x="626" y="605"/>
                    <a:pt x="626" y="605"/>
                  </a:cubicBezTo>
                  <a:cubicBezTo>
                    <a:pt x="626" y="605"/>
                    <a:pt x="637" y="601"/>
                    <a:pt x="642" y="596"/>
                  </a:cubicBezTo>
                  <a:cubicBezTo>
                    <a:pt x="647" y="591"/>
                    <a:pt x="642" y="581"/>
                    <a:pt x="643" y="576"/>
                  </a:cubicBezTo>
                  <a:cubicBezTo>
                    <a:pt x="644" y="571"/>
                    <a:pt x="655" y="557"/>
                    <a:pt x="655" y="557"/>
                  </a:cubicBezTo>
                  <a:cubicBezTo>
                    <a:pt x="677" y="555"/>
                    <a:pt x="677" y="555"/>
                    <a:pt x="677" y="555"/>
                  </a:cubicBezTo>
                  <a:cubicBezTo>
                    <a:pt x="677" y="555"/>
                    <a:pt x="675" y="537"/>
                    <a:pt x="675" y="529"/>
                  </a:cubicBezTo>
                  <a:cubicBezTo>
                    <a:pt x="675" y="521"/>
                    <a:pt x="691" y="501"/>
                    <a:pt x="691" y="501"/>
                  </a:cubicBezTo>
                  <a:cubicBezTo>
                    <a:pt x="691" y="471"/>
                    <a:pt x="691" y="471"/>
                    <a:pt x="691" y="471"/>
                  </a:cubicBezTo>
                  <a:cubicBezTo>
                    <a:pt x="689" y="438"/>
                    <a:pt x="689" y="438"/>
                    <a:pt x="689" y="438"/>
                  </a:cubicBezTo>
                  <a:cubicBezTo>
                    <a:pt x="689" y="438"/>
                    <a:pt x="683" y="436"/>
                    <a:pt x="684" y="428"/>
                  </a:cubicBezTo>
                  <a:cubicBezTo>
                    <a:pt x="685" y="420"/>
                    <a:pt x="696" y="421"/>
                    <a:pt x="696" y="414"/>
                  </a:cubicBezTo>
                  <a:cubicBezTo>
                    <a:pt x="696" y="407"/>
                    <a:pt x="697" y="397"/>
                    <a:pt x="697" y="397"/>
                  </a:cubicBezTo>
                  <a:cubicBezTo>
                    <a:pt x="697" y="397"/>
                    <a:pt x="709" y="395"/>
                    <a:pt x="709" y="377"/>
                  </a:cubicBezTo>
                  <a:cubicBezTo>
                    <a:pt x="709" y="359"/>
                    <a:pt x="703" y="349"/>
                    <a:pt x="703" y="346"/>
                  </a:cubicBezTo>
                  <a:cubicBezTo>
                    <a:pt x="703" y="343"/>
                    <a:pt x="714" y="338"/>
                    <a:pt x="714" y="338"/>
                  </a:cubicBezTo>
                  <a:cubicBezTo>
                    <a:pt x="714" y="328"/>
                    <a:pt x="714" y="328"/>
                    <a:pt x="714" y="328"/>
                  </a:cubicBezTo>
                  <a:cubicBezTo>
                    <a:pt x="714" y="328"/>
                    <a:pt x="732" y="328"/>
                    <a:pt x="733" y="321"/>
                  </a:cubicBezTo>
                  <a:cubicBezTo>
                    <a:pt x="734" y="314"/>
                    <a:pt x="734" y="306"/>
                    <a:pt x="734" y="306"/>
                  </a:cubicBezTo>
                  <a:cubicBezTo>
                    <a:pt x="734" y="306"/>
                    <a:pt x="761" y="304"/>
                    <a:pt x="770" y="296"/>
                  </a:cubicBezTo>
                  <a:cubicBezTo>
                    <a:pt x="775" y="292"/>
                    <a:pt x="779" y="280"/>
                    <a:pt x="781" y="271"/>
                  </a:cubicBezTo>
                  <a:cubicBezTo>
                    <a:pt x="756" y="256"/>
                    <a:pt x="756" y="256"/>
                    <a:pt x="756" y="256"/>
                  </a:cubicBezTo>
                  <a:cubicBezTo>
                    <a:pt x="756" y="256"/>
                    <a:pt x="753" y="240"/>
                    <a:pt x="747" y="236"/>
                  </a:cubicBezTo>
                  <a:cubicBezTo>
                    <a:pt x="741" y="232"/>
                    <a:pt x="726" y="242"/>
                    <a:pt x="722" y="228"/>
                  </a:cubicBezTo>
                  <a:cubicBezTo>
                    <a:pt x="718" y="214"/>
                    <a:pt x="717" y="176"/>
                    <a:pt x="717" y="176"/>
                  </a:cubicBezTo>
                  <a:cubicBezTo>
                    <a:pt x="710" y="174"/>
                    <a:pt x="710" y="174"/>
                    <a:pt x="710" y="174"/>
                  </a:cubicBezTo>
                  <a:cubicBezTo>
                    <a:pt x="710" y="174"/>
                    <a:pt x="708" y="132"/>
                    <a:pt x="708" y="127"/>
                  </a:cubicBezTo>
                  <a:cubicBezTo>
                    <a:pt x="708" y="122"/>
                    <a:pt x="703" y="111"/>
                    <a:pt x="703" y="111"/>
                  </a:cubicBezTo>
                  <a:cubicBezTo>
                    <a:pt x="715" y="108"/>
                    <a:pt x="715" y="108"/>
                    <a:pt x="715" y="108"/>
                  </a:cubicBezTo>
                  <a:cubicBezTo>
                    <a:pt x="715" y="108"/>
                    <a:pt x="697" y="93"/>
                    <a:pt x="696" y="84"/>
                  </a:cubicBezTo>
                  <a:cubicBezTo>
                    <a:pt x="695" y="75"/>
                    <a:pt x="701" y="59"/>
                    <a:pt x="693" y="53"/>
                  </a:cubicBezTo>
                  <a:cubicBezTo>
                    <a:pt x="685" y="47"/>
                    <a:pt x="674" y="39"/>
                    <a:pt x="674" y="39"/>
                  </a:cubicBezTo>
                  <a:cubicBezTo>
                    <a:pt x="674" y="39"/>
                    <a:pt x="665" y="27"/>
                    <a:pt x="661" y="23"/>
                  </a:cubicBezTo>
                  <a:cubicBezTo>
                    <a:pt x="657" y="19"/>
                    <a:pt x="656" y="26"/>
                    <a:pt x="650" y="22"/>
                  </a:cubicBezTo>
                  <a:cubicBezTo>
                    <a:pt x="646" y="19"/>
                    <a:pt x="639" y="10"/>
                    <a:pt x="634" y="0"/>
                  </a:cubicBezTo>
                  <a:cubicBezTo>
                    <a:pt x="618" y="15"/>
                    <a:pt x="618" y="15"/>
                    <a:pt x="618" y="15"/>
                  </a:cubicBezTo>
                  <a:lnTo>
                    <a:pt x="601" y="16"/>
                  </a:ln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522" name="Freeform 314">
              <a:extLst>
                <a:ext uri="{FF2B5EF4-FFF2-40B4-BE49-F238E27FC236}">
                  <a16:creationId xmlns:a16="http://schemas.microsoft.com/office/drawing/2014/main" id="{E82AA9ED-466B-4835-A878-6083A4AC7D18}"/>
                </a:ext>
              </a:extLst>
            </p:cNvPr>
            <p:cNvSpPr>
              <a:spLocks noEditPoints="1"/>
            </p:cNvSpPr>
            <p:nvPr/>
          </p:nvSpPr>
          <p:spPr bwMode="gray">
            <a:xfrm>
              <a:off x="9013803" y="672205"/>
              <a:ext cx="134961" cy="509041"/>
            </a:xfrm>
            <a:custGeom>
              <a:avLst/>
              <a:gdLst>
                <a:gd name="T0" fmla="*/ 0 w 199"/>
                <a:gd name="T1" fmla="*/ 794 h 794"/>
                <a:gd name="T2" fmla="*/ 9 w 199"/>
                <a:gd name="T3" fmla="*/ 791 h 794"/>
                <a:gd name="T4" fmla="*/ 25 w 199"/>
                <a:gd name="T5" fmla="*/ 764 h 794"/>
                <a:gd name="T6" fmla="*/ 12 w 199"/>
                <a:gd name="T7" fmla="*/ 755 h 794"/>
                <a:gd name="T8" fmla="*/ 0 w 199"/>
                <a:gd name="T9" fmla="*/ 794 h 794"/>
                <a:gd name="T10" fmla="*/ 76 w 199"/>
                <a:gd name="T11" fmla="*/ 712 h 794"/>
                <a:gd name="T12" fmla="*/ 49 w 199"/>
                <a:gd name="T13" fmla="*/ 708 h 794"/>
                <a:gd name="T14" fmla="*/ 36 w 199"/>
                <a:gd name="T15" fmla="*/ 755 h 794"/>
                <a:gd name="T16" fmla="*/ 43 w 199"/>
                <a:gd name="T17" fmla="*/ 757 h 794"/>
                <a:gd name="T18" fmla="*/ 55 w 199"/>
                <a:gd name="T19" fmla="*/ 733 h 794"/>
                <a:gd name="T20" fmla="*/ 88 w 199"/>
                <a:gd name="T21" fmla="*/ 715 h 794"/>
                <a:gd name="T22" fmla="*/ 79 w 199"/>
                <a:gd name="T23" fmla="*/ 699 h 794"/>
                <a:gd name="T24" fmla="*/ 76 w 199"/>
                <a:gd name="T25" fmla="*/ 712 h 794"/>
                <a:gd name="T26" fmla="*/ 128 w 199"/>
                <a:gd name="T27" fmla="*/ 672 h 794"/>
                <a:gd name="T28" fmla="*/ 117 w 199"/>
                <a:gd name="T29" fmla="*/ 697 h 794"/>
                <a:gd name="T30" fmla="*/ 128 w 199"/>
                <a:gd name="T31" fmla="*/ 672 h 794"/>
                <a:gd name="T32" fmla="*/ 189 w 199"/>
                <a:gd name="T33" fmla="*/ 423 h 794"/>
                <a:gd name="T34" fmla="*/ 177 w 199"/>
                <a:gd name="T35" fmla="*/ 434 h 794"/>
                <a:gd name="T36" fmla="*/ 185 w 199"/>
                <a:gd name="T37" fmla="*/ 449 h 794"/>
                <a:gd name="T38" fmla="*/ 173 w 199"/>
                <a:gd name="T39" fmla="*/ 449 h 794"/>
                <a:gd name="T40" fmla="*/ 173 w 199"/>
                <a:gd name="T41" fmla="*/ 469 h 794"/>
                <a:gd name="T42" fmla="*/ 189 w 199"/>
                <a:gd name="T43" fmla="*/ 467 h 794"/>
                <a:gd name="T44" fmla="*/ 198 w 199"/>
                <a:gd name="T45" fmla="*/ 456 h 794"/>
                <a:gd name="T46" fmla="*/ 189 w 199"/>
                <a:gd name="T47" fmla="*/ 437 h 794"/>
                <a:gd name="T48" fmla="*/ 199 w 199"/>
                <a:gd name="T49" fmla="*/ 435 h 794"/>
                <a:gd name="T50" fmla="*/ 189 w 199"/>
                <a:gd name="T51" fmla="*/ 423 h 794"/>
                <a:gd name="T52" fmla="*/ 184 w 199"/>
                <a:gd name="T53" fmla="*/ 513 h 794"/>
                <a:gd name="T54" fmla="*/ 195 w 199"/>
                <a:gd name="T55" fmla="*/ 499 h 794"/>
                <a:gd name="T56" fmla="*/ 178 w 199"/>
                <a:gd name="T57" fmla="*/ 485 h 794"/>
                <a:gd name="T58" fmla="*/ 184 w 199"/>
                <a:gd name="T59" fmla="*/ 513 h 794"/>
                <a:gd name="T60" fmla="*/ 170 w 199"/>
                <a:gd name="T61" fmla="*/ 636 h 794"/>
                <a:gd name="T62" fmla="*/ 171 w 199"/>
                <a:gd name="T63" fmla="*/ 615 h 794"/>
                <a:gd name="T64" fmla="*/ 162 w 199"/>
                <a:gd name="T65" fmla="*/ 632 h 794"/>
                <a:gd name="T66" fmla="*/ 170 w 199"/>
                <a:gd name="T67" fmla="*/ 636 h 794"/>
                <a:gd name="T68" fmla="*/ 169 w 199"/>
                <a:gd name="T69" fmla="*/ 573 h 794"/>
                <a:gd name="T70" fmla="*/ 181 w 199"/>
                <a:gd name="T71" fmla="*/ 571 h 794"/>
                <a:gd name="T72" fmla="*/ 169 w 199"/>
                <a:gd name="T73" fmla="*/ 559 h 794"/>
                <a:gd name="T74" fmla="*/ 169 w 199"/>
                <a:gd name="T75" fmla="*/ 573 h 794"/>
                <a:gd name="T76" fmla="*/ 82 w 199"/>
                <a:gd name="T77" fmla="*/ 14 h 794"/>
                <a:gd name="T78" fmla="*/ 94 w 199"/>
                <a:gd name="T79" fmla="*/ 38 h 794"/>
                <a:gd name="T80" fmla="*/ 114 w 199"/>
                <a:gd name="T81" fmla="*/ 14 h 794"/>
                <a:gd name="T82" fmla="*/ 106 w 199"/>
                <a:gd name="T83" fmla="*/ 0 h 794"/>
                <a:gd name="T84" fmla="*/ 82 w 199"/>
                <a:gd name="T85" fmla="*/ 14 h 7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99" h="794">
                  <a:moveTo>
                    <a:pt x="0" y="794"/>
                  </a:moveTo>
                  <a:cubicBezTo>
                    <a:pt x="9" y="791"/>
                    <a:pt x="9" y="791"/>
                    <a:pt x="9" y="791"/>
                  </a:cubicBezTo>
                  <a:cubicBezTo>
                    <a:pt x="25" y="764"/>
                    <a:pt x="25" y="764"/>
                    <a:pt x="25" y="764"/>
                  </a:cubicBezTo>
                  <a:cubicBezTo>
                    <a:pt x="12" y="755"/>
                    <a:pt x="12" y="755"/>
                    <a:pt x="12" y="755"/>
                  </a:cubicBezTo>
                  <a:lnTo>
                    <a:pt x="0" y="794"/>
                  </a:lnTo>
                  <a:close/>
                  <a:moveTo>
                    <a:pt x="76" y="712"/>
                  </a:moveTo>
                  <a:cubicBezTo>
                    <a:pt x="49" y="708"/>
                    <a:pt x="49" y="708"/>
                    <a:pt x="49" y="708"/>
                  </a:cubicBezTo>
                  <a:cubicBezTo>
                    <a:pt x="36" y="755"/>
                    <a:pt x="36" y="755"/>
                    <a:pt x="36" y="755"/>
                  </a:cubicBezTo>
                  <a:cubicBezTo>
                    <a:pt x="43" y="757"/>
                    <a:pt x="43" y="757"/>
                    <a:pt x="43" y="757"/>
                  </a:cubicBezTo>
                  <a:cubicBezTo>
                    <a:pt x="55" y="733"/>
                    <a:pt x="55" y="733"/>
                    <a:pt x="55" y="733"/>
                  </a:cubicBezTo>
                  <a:cubicBezTo>
                    <a:pt x="88" y="715"/>
                    <a:pt x="88" y="715"/>
                    <a:pt x="88" y="715"/>
                  </a:cubicBezTo>
                  <a:cubicBezTo>
                    <a:pt x="79" y="699"/>
                    <a:pt x="79" y="699"/>
                    <a:pt x="79" y="699"/>
                  </a:cubicBezTo>
                  <a:lnTo>
                    <a:pt x="76" y="712"/>
                  </a:lnTo>
                  <a:close/>
                  <a:moveTo>
                    <a:pt x="128" y="672"/>
                  </a:moveTo>
                  <a:cubicBezTo>
                    <a:pt x="119" y="670"/>
                    <a:pt x="109" y="694"/>
                    <a:pt x="117" y="697"/>
                  </a:cubicBezTo>
                  <a:cubicBezTo>
                    <a:pt x="128" y="701"/>
                    <a:pt x="138" y="675"/>
                    <a:pt x="128" y="672"/>
                  </a:cubicBezTo>
                  <a:close/>
                  <a:moveTo>
                    <a:pt x="189" y="423"/>
                  </a:moveTo>
                  <a:cubicBezTo>
                    <a:pt x="177" y="434"/>
                    <a:pt x="177" y="434"/>
                    <a:pt x="177" y="434"/>
                  </a:cubicBezTo>
                  <a:cubicBezTo>
                    <a:pt x="185" y="449"/>
                    <a:pt x="185" y="449"/>
                    <a:pt x="185" y="449"/>
                  </a:cubicBezTo>
                  <a:cubicBezTo>
                    <a:pt x="173" y="449"/>
                    <a:pt x="173" y="449"/>
                    <a:pt x="173" y="449"/>
                  </a:cubicBezTo>
                  <a:cubicBezTo>
                    <a:pt x="173" y="469"/>
                    <a:pt x="173" y="469"/>
                    <a:pt x="173" y="469"/>
                  </a:cubicBezTo>
                  <a:cubicBezTo>
                    <a:pt x="189" y="467"/>
                    <a:pt x="189" y="467"/>
                    <a:pt x="189" y="467"/>
                  </a:cubicBezTo>
                  <a:cubicBezTo>
                    <a:pt x="198" y="456"/>
                    <a:pt x="198" y="456"/>
                    <a:pt x="198" y="456"/>
                  </a:cubicBezTo>
                  <a:cubicBezTo>
                    <a:pt x="189" y="437"/>
                    <a:pt x="189" y="437"/>
                    <a:pt x="189" y="437"/>
                  </a:cubicBezTo>
                  <a:cubicBezTo>
                    <a:pt x="199" y="435"/>
                    <a:pt x="199" y="435"/>
                    <a:pt x="199" y="435"/>
                  </a:cubicBezTo>
                  <a:lnTo>
                    <a:pt x="189" y="423"/>
                  </a:lnTo>
                  <a:close/>
                  <a:moveTo>
                    <a:pt x="184" y="513"/>
                  </a:moveTo>
                  <a:cubicBezTo>
                    <a:pt x="195" y="499"/>
                    <a:pt x="195" y="499"/>
                    <a:pt x="195" y="499"/>
                  </a:cubicBezTo>
                  <a:cubicBezTo>
                    <a:pt x="178" y="485"/>
                    <a:pt x="178" y="485"/>
                    <a:pt x="178" y="485"/>
                  </a:cubicBezTo>
                  <a:lnTo>
                    <a:pt x="184" y="513"/>
                  </a:lnTo>
                  <a:close/>
                  <a:moveTo>
                    <a:pt x="170" y="636"/>
                  </a:moveTo>
                  <a:cubicBezTo>
                    <a:pt x="171" y="615"/>
                    <a:pt x="171" y="615"/>
                    <a:pt x="171" y="615"/>
                  </a:cubicBezTo>
                  <a:cubicBezTo>
                    <a:pt x="162" y="632"/>
                    <a:pt x="162" y="632"/>
                    <a:pt x="162" y="632"/>
                  </a:cubicBezTo>
                  <a:lnTo>
                    <a:pt x="170" y="636"/>
                  </a:lnTo>
                  <a:close/>
                  <a:moveTo>
                    <a:pt x="169" y="573"/>
                  </a:moveTo>
                  <a:cubicBezTo>
                    <a:pt x="181" y="571"/>
                    <a:pt x="181" y="571"/>
                    <a:pt x="181" y="571"/>
                  </a:cubicBezTo>
                  <a:cubicBezTo>
                    <a:pt x="169" y="559"/>
                    <a:pt x="169" y="559"/>
                    <a:pt x="169" y="559"/>
                  </a:cubicBezTo>
                  <a:lnTo>
                    <a:pt x="169" y="573"/>
                  </a:lnTo>
                  <a:close/>
                  <a:moveTo>
                    <a:pt x="82" y="14"/>
                  </a:moveTo>
                  <a:cubicBezTo>
                    <a:pt x="94" y="38"/>
                    <a:pt x="94" y="38"/>
                    <a:pt x="94" y="38"/>
                  </a:cubicBezTo>
                  <a:cubicBezTo>
                    <a:pt x="114" y="14"/>
                    <a:pt x="114" y="14"/>
                    <a:pt x="114" y="14"/>
                  </a:cubicBezTo>
                  <a:cubicBezTo>
                    <a:pt x="106" y="0"/>
                    <a:pt x="106" y="0"/>
                    <a:pt x="106" y="0"/>
                  </a:cubicBezTo>
                  <a:lnTo>
                    <a:pt x="82" y="14"/>
                  </a:ln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523" name="Freeform 315">
              <a:extLst>
                <a:ext uri="{FF2B5EF4-FFF2-40B4-BE49-F238E27FC236}">
                  <a16:creationId xmlns:a16="http://schemas.microsoft.com/office/drawing/2014/main" id="{CBED32AC-3FB6-42B1-A197-87F1EA8F92D7}"/>
                </a:ext>
              </a:extLst>
            </p:cNvPr>
            <p:cNvSpPr>
              <a:spLocks noEditPoints="1"/>
            </p:cNvSpPr>
            <p:nvPr/>
          </p:nvSpPr>
          <p:spPr bwMode="gray">
            <a:xfrm>
              <a:off x="8291334" y="2088832"/>
              <a:ext cx="51687" cy="33393"/>
            </a:xfrm>
            <a:custGeom>
              <a:avLst/>
              <a:gdLst>
                <a:gd name="T0" fmla="*/ 16 w 76"/>
                <a:gd name="T1" fmla="*/ 34 h 52"/>
                <a:gd name="T2" fmla="*/ 11 w 76"/>
                <a:gd name="T3" fmla="*/ 52 h 52"/>
                <a:gd name="T4" fmla="*/ 16 w 76"/>
                <a:gd name="T5" fmla="*/ 34 h 52"/>
                <a:gd name="T6" fmla="*/ 35 w 76"/>
                <a:gd name="T7" fmla="*/ 8 h 52"/>
                <a:gd name="T8" fmla="*/ 47 w 76"/>
                <a:gd name="T9" fmla="*/ 26 h 52"/>
                <a:gd name="T10" fmla="*/ 58 w 76"/>
                <a:gd name="T11" fmla="*/ 21 h 52"/>
                <a:gd name="T12" fmla="*/ 35 w 76"/>
                <a:gd name="T13" fmla="*/ 8 h 52"/>
                <a:gd name="T14" fmla="*/ 71 w 76"/>
                <a:gd name="T15" fmla="*/ 32 h 52"/>
                <a:gd name="T16" fmla="*/ 58 w 76"/>
                <a:gd name="T17" fmla="*/ 42 h 52"/>
                <a:gd name="T18" fmla="*/ 71 w 76"/>
                <a:gd name="T19" fmla="*/ 3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6" h="52">
                  <a:moveTo>
                    <a:pt x="16" y="34"/>
                  </a:moveTo>
                  <a:cubicBezTo>
                    <a:pt x="0" y="34"/>
                    <a:pt x="11" y="52"/>
                    <a:pt x="11" y="52"/>
                  </a:cubicBezTo>
                  <a:cubicBezTo>
                    <a:pt x="23" y="52"/>
                    <a:pt x="32" y="34"/>
                    <a:pt x="16" y="34"/>
                  </a:cubicBezTo>
                  <a:close/>
                  <a:moveTo>
                    <a:pt x="35" y="8"/>
                  </a:moveTo>
                  <a:cubicBezTo>
                    <a:pt x="28" y="16"/>
                    <a:pt x="47" y="26"/>
                    <a:pt x="47" y="26"/>
                  </a:cubicBezTo>
                  <a:cubicBezTo>
                    <a:pt x="58" y="21"/>
                    <a:pt x="58" y="21"/>
                    <a:pt x="58" y="21"/>
                  </a:cubicBezTo>
                  <a:cubicBezTo>
                    <a:pt x="58" y="21"/>
                    <a:pt x="41" y="0"/>
                    <a:pt x="35" y="8"/>
                  </a:cubicBezTo>
                  <a:close/>
                  <a:moveTo>
                    <a:pt x="71" y="32"/>
                  </a:moveTo>
                  <a:cubicBezTo>
                    <a:pt x="66" y="26"/>
                    <a:pt x="51" y="38"/>
                    <a:pt x="58" y="42"/>
                  </a:cubicBezTo>
                  <a:cubicBezTo>
                    <a:pt x="68" y="48"/>
                    <a:pt x="76" y="37"/>
                    <a:pt x="71" y="32"/>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524" name="Freeform 316">
              <a:extLst>
                <a:ext uri="{FF2B5EF4-FFF2-40B4-BE49-F238E27FC236}">
                  <a16:creationId xmlns:a16="http://schemas.microsoft.com/office/drawing/2014/main" id="{60B546A4-530E-4CA6-AC0C-C3E1124E3D68}"/>
                </a:ext>
              </a:extLst>
            </p:cNvPr>
            <p:cNvSpPr>
              <a:spLocks noEditPoints="1"/>
            </p:cNvSpPr>
            <p:nvPr/>
          </p:nvSpPr>
          <p:spPr bwMode="gray">
            <a:xfrm>
              <a:off x="8637350" y="1116632"/>
              <a:ext cx="400861" cy="739263"/>
            </a:xfrm>
            <a:custGeom>
              <a:avLst/>
              <a:gdLst>
                <a:gd name="T0" fmla="*/ 529 w 591"/>
                <a:gd name="T1" fmla="*/ 401 h 1153"/>
                <a:gd name="T2" fmla="*/ 547 w 591"/>
                <a:gd name="T3" fmla="*/ 349 h 1153"/>
                <a:gd name="T4" fmla="*/ 492 w 591"/>
                <a:gd name="T5" fmla="*/ 276 h 1153"/>
                <a:gd name="T6" fmla="*/ 448 w 591"/>
                <a:gd name="T7" fmla="*/ 241 h 1153"/>
                <a:gd name="T8" fmla="*/ 441 w 591"/>
                <a:gd name="T9" fmla="*/ 258 h 1153"/>
                <a:gd name="T10" fmla="*/ 418 w 591"/>
                <a:gd name="T11" fmla="*/ 264 h 1153"/>
                <a:gd name="T12" fmla="*/ 456 w 591"/>
                <a:gd name="T13" fmla="*/ 373 h 1153"/>
                <a:gd name="T14" fmla="*/ 443 w 591"/>
                <a:gd name="T15" fmla="*/ 450 h 1153"/>
                <a:gd name="T16" fmla="*/ 383 w 591"/>
                <a:gd name="T17" fmla="*/ 448 h 1153"/>
                <a:gd name="T18" fmla="*/ 367 w 591"/>
                <a:gd name="T19" fmla="*/ 514 h 1153"/>
                <a:gd name="T20" fmla="*/ 259 w 591"/>
                <a:gd name="T21" fmla="*/ 546 h 1153"/>
                <a:gd name="T22" fmla="*/ 179 w 591"/>
                <a:gd name="T23" fmla="*/ 601 h 1153"/>
                <a:gd name="T24" fmla="*/ 241 w 591"/>
                <a:gd name="T25" fmla="*/ 607 h 1153"/>
                <a:gd name="T26" fmla="*/ 331 w 591"/>
                <a:gd name="T27" fmla="*/ 584 h 1153"/>
                <a:gd name="T28" fmla="*/ 407 w 591"/>
                <a:gd name="T29" fmla="*/ 654 h 1153"/>
                <a:gd name="T30" fmla="*/ 415 w 591"/>
                <a:gd name="T31" fmla="*/ 583 h 1153"/>
                <a:gd name="T32" fmla="*/ 464 w 591"/>
                <a:gd name="T33" fmla="*/ 585 h 1153"/>
                <a:gd name="T34" fmla="*/ 528 w 591"/>
                <a:gd name="T35" fmla="*/ 556 h 1153"/>
                <a:gd name="T36" fmla="*/ 578 w 591"/>
                <a:gd name="T37" fmla="*/ 538 h 1153"/>
                <a:gd name="T38" fmla="*/ 299 w 591"/>
                <a:gd name="T39" fmla="*/ 628 h 1153"/>
                <a:gd name="T40" fmla="*/ 276 w 591"/>
                <a:gd name="T41" fmla="*/ 674 h 1153"/>
                <a:gd name="T42" fmla="*/ 358 w 591"/>
                <a:gd name="T43" fmla="*/ 638 h 1153"/>
                <a:gd name="T44" fmla="*/ 256 w 591"/>
                <a:gd name="T45" fmla="*/ 689 h 1153"/>
                <a:gd name="T46" fmla="*/ 184 w 591"/>
                <a:gd name="T47" fmla="*/ 634 h 1153"/>
                <a:gd name="T48" fmla="*/ 174 w 591"/>
                <a:gd name="T49" fmla="*/ 687 h 1153"/>
                <a:gd name="T50" fmla="*/ 182 w 591"/>
                <a:gd name="T51" fmla="*/ 727 h 1153"/>
                <a:gd name="T52" fmla="*/ 233 w 591"/>
                <a:gd name="T53" fmla="*/ 780 h 1153"/>
                <a:gd name="T54" fmla="*/ 172 w 591"/>
                <a:gd name="T55" fmla="*/ 718 h 1153"/>
                <a:gd name="T56" fmla="*/ 432 w 591"/>
                <a:gd name="T57" fmla="*/ 423 h 1153"/>
                <a:gd name="T58" fmla="*/ 411 w 591"/>
                <a:gd name="T59" fmla="*/ 400 h 1153"/>
                <a:gd name="T60" fmla="*/ 374 w 591"/>
                <a:gd name="T61" fmla="*/ 72 h 1153"/>
                <a:gd name="T62" fmla="*/ 354 w 591"/>
                <a:gd name="T63" fmla="*/ 123 h 1153"/>
                <a:gd name="T64" fmla="*/ 390 w 591"/>
                <a:gd name="T65" fmla="*/ 198 h 1153"/>
                <a:gd name="T66" fmla="*/ 437 w 591"/>
                <a:gd name="T67" fmla="*/ 205 h 1153"/>
                <a:gd name="T68" fmla="*/ 409 w 591"/>
                <a:gd name="T69" fmla="*/ 179 h 1153"/>
                <a:gd name="T70" fmla="*/ 557 w 591"/>
                <a:gd name="T71" fmla="*/ 147 h 1153"/>
                <a:gd name="T72" fmla="*/ 523 w 591"/>
                <a:gd name="T73" fmla="*/ 96 h 1153"/>
                <a:gd name="T74" fmla="*/ 194 w 591"/>
                <a:gd name="T75" fmla="*/ 984 h 1153"/>
                <a:gd name="T76" fmla="*/ 208 w 591"/>
                <a:gd name="T77" fmla="*/ 933 h 1153"/>
                <a:gd name="T78" fmla="*/ 208 w 591"/>
                <a:gd name="T79" fmla="*/ 933 h 1153"/>
                <a:gd name="T80" fmla="*/ 230 w 591"/>
                <a:gd name="T81" fmla="*/ 810 h 1153"/>
                <a:gd name="T82" fmla="*/ 252 w 591"/>
                <a:gd name="T83" fmla="*/ 792 h 1153"/>
                <a:gd name="T84" fmla="*/ 252 w 591"/>
                <a:gd name="T85" fmla="*/ 792 h 1153"/>
                <a:gd name="T86" fmla="*/ 32 w 591"/>
                <a:gd name="T87" fmla="*/ 1144 h 1153"/>
                <a:gd name="T88" fmla="*/ 90 w 591"/>
                <a:gd name="T89" fmla="*/ 1125 h 1153"/>
                <a:gd name="T90" fmla="*/ 16 w 591"/>
                <a:gd name="T91" fmla="*/ 1134 h 1153"/>
                <a:gd name="T92" fmla="*/ 184 w 591"/>
                <a:gd name="T93" fmla="*/ 1008 h 1153"/>
                <a:gd name="T94" fmla="*/ 198 w 591"/>
                <a:gd name="T95" fmla="*/ 1014 h 1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591" h="1153">
                  <a:moveTo>
                    <a:pt x="591" y="531"/>
                  </a:moveTo>
                  <a:cubicBezTo>
                    <a:pt x="591" y="531"/>
                    <a:pt x="559" y="513"/>
                    <a:pt x="560" y="499"/>
                  </a:cubicBezTo>
                  <a:cubicBezTo>
                    <a:pt x="561" y="485"/>
                    <a:pt x="562" y="459"/>
                    <a:pt x="556" y="447"/>
                  </a:cubicBezTo>
                  <a:cubicBezTo>
                    <a:pt x="550" y="435"/>
                    <a:pt x="526" y="418"/>
                    <a:pt x="529" y="401"/>
                  </a:cubicBezTo>
                  <a:cubicBezTo>
                    <a:pt x="532" y="384"/>
                    <a:pt x="548" y="389"/>
                    <a:pt x="548" y="389"/>
                  </a:cubicBezTo>
                  <a:cubicBezTo>
                    <a:pt x="545" y="362"/>
                    <a:pt x="545" y="362"/>
                    <a:pt x="545" y="362"/>
                  </a:cubicBezTo>
                  <a:cubicBezTo>
                    <a:pt x="537" y="356"/>
                    <a:pt x="537" y="356"/>
                    <a:pt x="537" y="356"/>
                  </a:cubicBezTo>
                  <a:cubicBezTo>
                    <a:pt x="547" y="349"/>
                    <a:pt x="547" y="349"/>
                    <a:pt x="547" y="349"/>
                  </a:cubicBezTo>
                  <a:cubicBezTo>
                    <a:pt x="547" y="349"/>
                    <a:pt x="542" y="331"/>
                    <a:pt x="538" y="321"/>
                  </a:cubicBezTo>
                  <a:cubicBezTo>
                    <a:pt x="534" y="311"/>
                    <a:pt x="520" y="303"/>
                    <a:pt x="520" y="303"/>
                  </a:cubicBezTo>
                  <a:cubicBezTo>
                    <a:pt x="516" y="290"/>
                    <a:pt x="516" y="290"/>
                    <a:pt x="516" y="290"/>
                  </a:cubicBezTo>
                  <a:cubicBezTo>
                    <a:pt x="516" y="290"/>
                    <a:pt x="501" y="283"/>
                    <a:pt x="492" y="276"/>
                  </a:cubicBezTo>
                  <a:cubicBezTo>
                    <a:pt x="483" y="269"/>
                    <a:pt x="468" y="253"/>
                    <a:pt x="468" y="244"/>
                  </a:cubicBezTo>
                  <a:cubicBezTo>
                    <a:pt x="468" y="235"/>
                    <a:pt x="465" y="231"/>
                    <a:pt x="465" y="231"/>
                  </a:cubicBezTo>
                  <a:cubicBezTo>
                    <a:pt x="465" y="231"/>
                    <a:pt x="442" y="214"/>
                    <a:pt x="439" y="226"/>
                  </a:cubicBezTo>
                  <a:cubicBezTo>
                    <a:pt x="436" y="238"/>
                    <a:pt x="448" y="241"/>
                    <a:pt x="448" y="241"/>
                  </a:cubicBezTo>
                  <a:cubicBezTo>
                    <a:pt x="455" y="237"/>
                    <a:pt x="455" y="237"/>
                    <a:pt x="455" y="237"/>
                  </a:cubicBezTo>
                  <a:cubicBezTo>
                    <a:pt x="455" y="237"/>
                    <a:pt x="463" y="256"/>
                    <a:pt x="459" y="256"/>
                  </a:cubicBezTo>
                  <a:cubicBezTo>
                    <a:pt x="455" y="256"/>
                    <a:pt x="450" y="249"/>
                    <a:pt x="450" y="249"/>
                  </a:cubicBezTo>
                  <a:cubicBezTo>
                    <a:pt x="441" y="258"/>
                    <a:pt x="441" y="258"/>
                    <a:pt x="441" y="258"/>
                  </a:cubicBezTo>
                  <a:cubicBezTo>
                    <a:pt x="428" y="237"/>
                    <a:pt x="428" y="237"/>
                    <a:pt x="428" y="237"/>
                  </a:cubicBezTo>
                  <a:cubicBezTo>
                    <a:pt x="416" y="237"/>
                    <a:pt x="416" y="237"/>
                    <a:pt x="416" y="237"/>
                  </a:cubicBezTo>
                  <a:cubicBezTo>
                    <a:pt x="430" y="261"/>
                    <a:pt x="430" y="261"/>
                    <a:pt x="430" y="261"/>
                  </a:cubicBezTo>
                  <a:cubicBezTo>
                    <a:pt x="418" y="264"/>
                    <a:pt x="418" y="264"/>
                    <a:pt x="418" y="264"/>
                  </a:cubicBezTo>
                  <a:cubicBezTo>
                    <a:pt x="437" y="296"/>
                    <a:pt x="437" y="296"/>
                    <a:pt x="437" y="296"/>
                  </a:cubicBezTo>
                  <a:cubicBezTo>
                    <a:pt x="430" y="304"/>
                    <a:pt x="430" y="304"/>
                    <a:pt x="430" y="304"/>
                  </a:cubicBezTo>
                  <a:cubicBezTo>
                    <a:pt x="430" y="304"/>
                    <a:pt x="466" y="322"/>
                    <a:pt x="464" y="337"/>
                  </a:cubicBezTo>
                  <a:cubicBezTo>
                    <a:pt x="462" y="352"/>
                    <a:pt x="456" y="373"/>
                    <a:pt x="456" y="373"/>
                  </a:cubicBezTo>
                  <a:cubicBezTo>
                    <a:pt x="454" y="391"/>
                    <a:pt x="454" y="391"/>
                    <a:pt x="454" y="391"/>
                  </a:cubicBezTo>
                  <a:cubicBezTo>
                    <a:pt x="454" y="391"/>
                    <a:pt x="475" y="404"/>
                    <a:pt x="465" y="411"/>
                  </a:cubicBezTo>
                  <a:cubicBezTo>
                    <a:pt x="455" y="418"/>
                    <a:pt x="447" y="414"/>
                    <a:pt x="447" y="414"/>
                  </a:cubicBezTo>
                  <a:cubicBezTo>
                    <a:pt x="447" y="414"/>
                    <a:pt x="454" y="444"/>
                    <a:pt x="443" y="450"/>
                  </a:cubicBezTo>
                  <a:cubicBezTo>
                    <a:pt x="432" y="456"/>
                    <a:pt x="409" y="464"/>
                    <a:pt x="409" y="464"/>
                  </a:cubicBezTo>
                  <a:cubicBezTo>
                    <a:pt x="409" y="473"/>
                    <a:pt x="409" y="473"/>
                    <a:pt x="409" y="473"/>
                  </a:cubicBezTo>
                  <a:cubicBezTo>
                    <a:pt x="409" y="473"/>
                    <a:pt x="398" y="477"/>
                    <a:pt x="389" y="467"/>
                  </a:cubicBezTo>
                  <a:cubicBezTo>
                    <a:pt x="380" y="457"/>
                    <a:pt x="383" y="448"/>
                    <a:pt x="383" y="448"/>
                  </a:cubicBezTo>
                  <a:cubicBezTo>
                    <a:pt x="386" y="435"/>
                    <a:pt x="386" y="435"/>
                    <a:pt x="386" y="435"/>
                  </a:cubicBezTo>
                  <a:cubicBezTo>
                    <a:pt x="386" y="435"/>
                    <a:pt x="360" y="440"/>
                    <a:pt x="364" y="450"/>
                  </a:cubicBezTo>
                  <a:cubicBezTo>
                    <a:pt x="368" y="460"/>
                    <a:pt x="381" y="474"/>
                    <a:pt x="379" y="481"/>
                  </a:cubicBezTo>
                  <a:cubicBezTo>
                    <a:pt x="377" y="488"/>
                    <a:pt x="363" y="504"/>
                    <a:pt x="367" y="514"/>
                  </a:cubicBezTo>
                  <a:cubicBezTo>
                    <a:pt x="371" y="524"/>
                    <a:pt x="384" y="539"/>
                    <a:pt x="374" y="540"/>
                  </a:cubicBezTo>
                  <a:cubicBezTo>
                    <a:pt x="364" y="541"/>
                    <a:pt x="338" y="529"/>
                    <a:pt x="329" y="530"/>
                  </a:cubicBezTo>
                  <a:cubicBezTo>
                    <a:pt x="320" y="531"/>
                    <a:pt x="281" y="546"/>
                    <a:pt x="278" y="546"/>
                  </a:cubicBezTo>
                  <a:cubicBezTo>
                    <a:pt x="275" y="546"/>
                    <a:pt x="259" y="546"/>
                    <a:pt x="259" y="546"/>
                  </a:cubicBezTo>
                  <a:cubicBezTo>
                    <a:pt x="251" y="538"/>
                    <a:pt x="251" y="538"/>
                    <a:pt x="251" y="538"/>
                  </a:cubicBezTo>
                  <a:cubicBezTo>
                    <a:pt x="229" y="555"/>
                    <a:pt x="229" y="555"/>
                    <a:pt x="229" y="555"/>
                  </a:cubicBezTo>
                  <a:cubicBezTo>
                    <a:pt x="229" y="555"/>
                    <a:pt x="202" y="600"/>
                    <a:pt x="198" y="600"/>
                  </a:cubicBezTo>
                  <a:cubicBezTo>
                    <a:pt x="194" y="600"/>
                    <a:pt x="179" y="601"/>
                    <a:pt x="179" y="601"/>
                  </a:cubicBezTo>
                  <a:cubicBezTo>
                    <a:pt x="179" y="601"/>
                    <a:pt x="184" y="625"/>
                    <a:pt x="191" y="625"/>
                  </a:cubicBezTo>
                  <a:cubicBezTo>
                    <a:pt x="198" y="625"/>
                    <a:pt x="210" y="621"/>
                    <a:pt x="210" y="621"/>
                  </a:cubicBezTo>
                  <a:cubicBezTo>
                    <a:pt x="210" y="621"/>
                    <a:pt x="229" y="632"/>
                    <a:pt x="234" y="630"/>
                  </a:cubicBezTo>
                  <a:cubicBezTo>
                    <a:pt x="239" y="628"/>
                    <a:pt x="241" y="607"/>
                    <a:pt x="241" y="607"/>
                  </a:cubicBezTo>
                  <a:cubicBezTo>
                    <a:pt x="256" y="615"/>
                    <a:pt x="256" y="615"/>
                    <a:pt x="256" y="615"/>
                  </a:cubicBezTo>
                  <a:cubicBezTo>
                    <a:pt x="256" y="615"/>
                    <a:pt x="290" y="598"/>
                    <a:pt x="295" y="595"/>
                  </a:cubicBezTo>
                  <a:cubicBezTo>
                    <a:pt x="300" y="592"/>
                    <a:pt x="313" y="601"/>
                    <a:pt x="321" y="600"/>
                  </a:cubicBezTo>
                  <a:cubicBezTo>
                    <a:pt x="329" y="599"/>
                    <a:pt x="314" y="584"/>
                    <a:pt x="331" y="584"/>
                  </a:cubicBezTo>
                  <a:cubicBezTo>
                    <a:pt x="348" y="584"/>
                    <a:pt x="352" y="593"/>
                    <a:pt x="352" y="593"/>
                  </a:cubicBezTo>
                  <a:cubicBezTo>
                    <a:pt x="352" y="593"/>
                    <a:pt x="372" y="580"/>
                    <a:pt x="376" y="588"/>
                  </a:cubicBezTo>
                  <a:cubicBezTo>
                    <a:pt x="380" y="596"/>
                    <a:pt x="367" y="615"/>
                    <a:pt x="367" y="615"/>
                  </a:cubicBezTo>
                  <a:cubicBezTo>
                    <a:pt x="367" y="615"/>
                    <a:pt x="387" y="654"/>
                    <a:pt x="407" y="654"/>
                  </a:cubicBezTo>
                  <a:cubicBezTo>
                    <a:pt x="427" y="654"/>
                    <a:pt x="425" y="616"/>
                    <a:pt x="425" y="616"/>
                  </a:cubicBezTo>
                  <a:cubicBezTo>
                    <a:pt x="447" y="612"/>
                    <a:pt x="447" y="612"/>
                    <a:pt x="447" y="612"/>
                  </a:cubicBezTo>
                  <a:cubicBezTo>
                    <a:pt x="447" y="612"/>
                    <a:pt x="430" y="592"/>
                    <a:pt x="427" y="591"/>
                  </a:cubicBezTo>
                  <a:cubicBezTo>
                    <a:pt x="424" y="590"/>
                    <a:pt x="415" y="583"/>
                    <a:pt x="415" y="583"/>
                  </a:cubicBezTo>
                  <a:cubicBezTo>
                    <a:pt x="426" y="568"/>
                    <a:pt x="426" y="568"/>
                    <a:pt x="426" y="568"/>
                  </a:cubicBezTo>
                  <a:cubicBezTo>
                    <a:pt x="435" y="567"/>
                    <a:pt x="429" y="581"/>
                    <a:pt x="439" y="581"/>
                  </a:cubicBezTo>
                  <a:cubicBezTo>
                    <a:pt x="449" y="581"/>
                    <a:pt x="452" y="594"/>
                    <a:pt x="452" y="594"/>
                  </a:cubicBezTo>
                  <a:cubicBezTo>
                    <a:pt x="464" y="585"/>
                    <a:pt x="464" y="585"/>
                    <a:pt x="464" y="585"/>
                  </a:cubicBezTo>
                  <a:cubicBezTo>
                    <a:pt x="464" y="585"/>
                    <a:pt x="479" y="593"/>
                    <a:pt x="494" y="589"/>
                  </a:cubicBezTo>
                  <a:cubicBezTo>
                    <a:pt x="509" y="585"/>
                    <a:pt x="491" y="564"/>
                    <a:pt x="508" y="566"/>
                  </a:cubicBezTo>
                  <a:cubicBezTo>
                    <a:pt x="525" y="568"/>
                    <a:pt x="516" y="596"/>
                    <a:pt x="527" y="590"/>
                  </a:cubicBezTo>
                  <a:cubicBezTo>
                    <a:pt x="538" y="584"/>
                    <a:pt x="520" y="561"/>
                    <a:pt x="528" y="556"/>
                  </a:cubicBezTo>
                  <a:cubicBezTo>
                    <a:pt x="536" y="551"/>
                    <a:pt x="541" y="553"/>
                    <a:pt x="541" y="553"/>
                  </a:cubicBezTo>
                  <a:cubicBezTo>
                    <a:pt x="541" y="553"/>
                    <a:pt x="543" y="522"/>
                    <a:pt x="555" y="534"/>
                  </a:cubicBezTo>
                  <a:cubicBezTo>
                    <a:pt x="567" y="546"/>
                    <a:pt x="548" y="571"/>
                    <a:pt x="568" y="570"/>
                  </a:cubicBezTo>
                  <a:cubicBezTo>
                    <a:pt x="588" y="569"/>
                    <a:pt x="578" y="538"/>
                    <a:pt x="578" y="538"/>
                  </a:cubicBezTo>
                  <a:lnTo>
                    <a:pt x="591" y="531"/>
                  </a:lnTo>
                  <a:close/>
                  <a:moveTo>
                    <a:pt x="338" y="618"/>
                  </a:moveTo>
                  <a:cubicBezTo>
                    <a:pt x="338" y="618"/>
                    <a:pt x="321" y="605"/>
                    <a:pt x="312" y="606"/>
                  </a:cubicBezTo>
                  <a:cubicBezTo>
                    <a:pt x="292" y="608"/>
                    <a:pt x="299" y="628"/>
                    <a:pt x="299" y="628"/>
                  </a:cubicBezTo>
                  <a:cubicBezTo>
                    <a:pt x="299" y="628"/>
                    <a:pt x="282" y="622"/>
                    <a:pt x="272" y="624"/>
                  </a:cubicBezTo>
                  <a:cubicBezTo>
                    <a:pt x="262" y="626"/>
                    <a:pt x="269" y="648"/>
                    <a:pt x="269" y="648"/>
                  </a:cubicBezTo>
                  <a:cubicBezTo>
                    <a:pt x="257" y="659"/>
                    <a:pt x="257" y="659"/>
                    <a:pt x="257" y="659"/>
                  </a:cubicBezTo>
                  <a:cubicBezTo>
                    <a:pt x="257" y="659"/>
                    <a:pt x="270" y="667"/>
                    <a:pt x="276" y="674"/>
                  </a:cubicBezTo>
                  <a:cubicBezTo>
                    <a:pt x="282" y="681"/>
                    <a:pt x="305" y="695"/>
                    <a:pt x="305" y="695"/>
                  </a:cubicBezTo>
                  <a:cubicBezTo>
                    <a:pt x="305" y="695"/>
                    <a:pt x="299" y="664"/>
                    <a:pt x="314" y="654"/>
                  </a:cubicBezTo>
                  <a:cubicBezTo>
                    <a:pt x="329" y="644"/>
                    <a:pt x="351" y="672"/>
                    <a:pt x="351" y="672"/>
                  </a:cubicBezTo>
                  <a:cubicBezTo>
                    <a:pt x="351" y="672"/>
                    <a:pt x="356" y="650"/>
                    <a:pt x="358" y="638"/>
                  </a:cubicBezTo>
                  <a:cubicBezTo>
                    <a:pt x="360" y="626"/>
                    <a:pt x="351" y="615"/>
                    <a:pt x="351" y="615"/>
                  </a:cubicBezTo>
                  <a:lnTo>
                    <a:pt x="338" y="618"/>
                  </a:lnTo>
                  <a:close/>
                  <a:moveTo>
                    <a:pt x="241" y="709"/>
                  </a:moveTo>
                  <a:cubicBezTo>
                    <a:pt x="241" y="698"/>
                    <a:pt x="256" y="689"/>
                    <a:pt x="256" y="689"/>
                  </a:cubicBezTo>
                  <a:cubicBezTo>
                    <a:pt x="255" y="677"/>
                    <a:pt x="232" y="662"/>
                    <a:pt x="232" y="662"/>
                  </a:cubicBezTo>
                  <a:cubicBezTo>
                    <a:pt x="232" y="662"/>
                    <a:pt x="231" y="652"/>
                    <a:pt x="224" y="649"/>
                  </a:cubicBezTo>
                  <a:cubicBezTo>
                    <a:pt x="217" y="646"/>
                    <a:pt x="212" y="648"/>
                    <a:pt x="212" y="648"/>
                  </a:cubicBezTo>
                  <a:cubicBezTo>
                    <a:pt x="212" y="648"/>
                    <a:pt x="191" y="634"/>
                    <a:pt x="184" y="634"/>
                  </a:cubicBezTo>
                  <a:cubicBezTo>
                    <a:pt x="177" y="634"/>
                    <a:pt x="168" y="646"/>
                    <a:pt x="168" y="646"/>
                  </a:cubicBezTo>
                  <a:cubicBezTo>
                    <a:pt x="143" y="660"/>
                    <a:pt x="143" y="660"/>
                    <a:pt x="143" y="660"/>
                  </a:cubicBezTo>
                  <a:cubicBezTo>
                    <a:pt x="162" y="693"/>
                    <a:pt x="162" y="693"/>
                    <a:pt x="162" y="693"/>
                  </a:cubicBezTo>
                  <a:cubicBezTo>
                    <a:pt x="174" y="687"/>
                    <a:pt x="174" y="687"/>
                    <a:pt x="174" y="687"/>
                  </a:cubicBezTo>
                  <a:cubicBezTo>
                    <a:pt x="174" y="687"/>
                    <a:pt x="167" y="668"/>
                    <a:pt x="175" y="672"/>
                  </a:cubicBezTo>
                  <a:cubicBezTo>
                    <a:pt x="183" y="676"/>
                    <a:pt x="195" y="697"/>
                    <a:pt x="195" y="697"/>
                  </a:cubicBezTo>
                  <a:cubicBezTo>
                    <a:pt x="194" y="722"/>
                    <a:pt x="194" y="722"/>
                    <a:pt x="194" y="722"/>
                  </a:cubicBezTo>
                  <a:cubicBezTo>
                    <a:pt x="182" y="727"/>
                    <a:pt x="182" y="727"/>
                    <a:pt x="182" y="727"/>
                  </a:cubicBezTo>
                  <a:cubicBezTo>
                    <a:pt x="182" y="727"/>
                    <a:pt x="193" y="774"/>
                    <a:pt x="203" y="776"/>
                  </a:cubicBezTo>
                  <a:cubicBezTo>
                    <a:pt x="213" y="778"/>
                    <a:pt x="211" y="746"/>
                    <a:pt x="211" y="746"/>
                  </a:cubicBezTo>
                  <a:cubicBezTo>
                    <a:pt x="232" y="753"/>
                    <a:pt x="232" y="753"/>
                    <a:pt x="232" y="753"/>
                  </a:cubicBezTo>
                  <a:cubicBezTo>
                    <a:pt x="232" y="753"/>
                    <a:pt x="229" y="780"/>
                    <a:pt x="233" y="780"/>
                  </a:cubicBezTo>
                  <a:cubicBezTo>
                    <a:pt x="237" y="780"/>
                    <a:pt x="251" y="756"/>
                    <a:pt x="251" y="756"/>
                  </a:cubicBezTo>
                  <a:cubicBezTo>
                    <a:pt x="251" y="756"/>
                    <a:pt x="241" y="720"/>
                    <a:pt x="241" y="709"/>
                  </a:cubicBezTo>
                  <a:close/>
                  <a:moveTo>
                    <a:pt x="183" y="693"/>
                  </a:moveTo>
                  <a:cubicBezTo>
                    <a:pt x="172" y="718"/>
                    <a:pt x="172" y="718"/>
                    <a:pt x="172" y="718"/>
                  </a:cubicBezTo>
                  <a:cubicBezTo>
                    <a:pt x="184" y="715"/>
                    <a:pt x="184" y="715"/>
                    <a:pt x="184" y="715"/>
                  </a:cubicBezTo>
                  <a:lnTo>
                    <a:pt x="183" y="693"/>
                  </a:lnTo>
                  <a:close/>
                  <a:moveTo>
                    <a:pt x="424" y="424"/>
                  </a:moveTo>
                  <a:cubicBezTo>
                    <a:pt x="432" y="423"/>
                    <a:pt x="432" y="423"/>
                    <a:pt x="432" y="423"/>
                  </a:cubicBezTo>
                  <a:cubicBezTo>
                    <a:pt x="431" y="407"/>
                    <a:pt x="431" y="407"/>
                    <a:pt x="431" y="407"/>
                  </a:cubicBezTo>
                  <a:cubicBezTo>
                    <a:pt x="425" y="405"/>
                    <a:pt x="425" y="405"/>
                    <a:pt x="425" y="405"/>
                  </a:cubicBezTo>
                  <a:cubicBezTo>
                    <a:pt x="415" y="392"/>
                    <a:pt x="415" y="392"/>
                    <a:pt x="415" y="392"/>
                  </a:cubicBezTo>
                  <a:cubicBezTo>
                    <a:pt x="411" y="400"/>
                    <a:pt x="411" y="400"/>
                    <a:pt x="411" y="400"/>
                  </a:cubicBezTo>
                  <a:cubicBezTo>
                    <a:pt x="419" y="409"/>
                    <a:pt x="419" y="409"/>
                    <a:pt x="419" y="409"/>
                  </a:cubicBezTo>
                  <a:lnTo>
                    <a:pt x="424" y="424"/>
                  </a:lnTo>
                  <a:close/>
                  <a:moveTo>
                    <a:pt x="372" y="57"/>
                  </a:moveTo>
                  <a:cubicBezTo>
                    <a:pt x="374" y="72"/>
                    <a:pt x="374" y="72"/>
                    <a:pt x="374" y="72"/>
                  </a:cubicBezTo>
                  <a:cubicBezTo>
                    <a:pt x="374" y="72"/>
                    <a:pt x="391" y="83"/>
                    <a:pt x="391" y="90"/>
                  </a:cubicBezTo>
                  <a:cubicBezTo>
                    <a:pt x="391" y="97"/>
                    <a:pt x="384" y="110"/>
                    <a:pt x="384" y="110"/>
                  </a:cubicBezTo>
                  <a:cubicBezTo>
                    <a:pt x="384" y="110"/>
                    <a:pt x="402" y="132"/>
                    <a:pt x="397" y="133"/>
                  </a:cubicBezTo>
                  <a:cubicBezTo>
                    <a:pt x="391" y="134"/>
                    <a:pt x="359" y="125"/>
                    <a:pt x="354" y="123"/>
                  </a:cubicBezTo>
                  <a:cubicBezTo>
                    <a:pt x="348" y="122"/>
                    <a:pt x="369" y="143"/>
                    <a:pt x="369" y="143"/>
                  </a:cubicBezTo>
                  <a:cubicBezTo>
                    <a:pt x="352" y="161"/>
                    <a:pt x="352" y="161"/>
                    <a:pt x="352" y="161"/>
                  </a:cubicBezTo>
                  <a:cubicBezTo>
                    <a:pt x="352" y="161"/>
                    <a:pt x="358" y="173"/>
                    <a:pt x="361" y="179"/>
                  </a:cubicBezTo>
                  <a:cubicBezTo>
                    <a:pt x="363" y="184"/>
                    <a:pt x="390" y="198"/>
                    <a:pt x="390" y="198"/>
                  </a:cubicBezTo>
                  <a:cubicBezTo>
                    <a:pt x="390" y="198"/>
                    <a:pt x="381" y="231"/>
                    <a:pt x="404" y="230"/>
                  </a:cubicBezTo>
                  <a:cubicBezTo>
                    <a:pt x="414" y="229"/>
                    <a:pt x="398" y="211"/>
                    <a:pt x="410" y="211"/>
                  </a:cubicBezTo>
                  <a:cubicBezTo>
                    <a:pt x="423" y="211"/>
                    <a:pt x="433" y="211"/>
                    <a:pt x="433" y="211"/>
                  </a:cubicBezTo>
                  <a:cubicBezTo>
                    <a:pt x="437" y="205"/>
                    <a:pt x="437" y="205"/>
                    <a:pt x="437" y="205"/>
                  </a:cubicBezTo>
                  <a:cubicBezTo>
                    <a:pt x="412" y="189"/>
                    <a:pt x="412" y="189"/>
                    <a:pt x="412" y="189"/>
                  </a:cubicBezTo>
                  <a:cubicBezTo>
                    <a:pt x="399" y="189"/>
                    <a:pt x="399" y="189"/>
                    <a:pt x="399" y="189"/>
                  </a:cubicBezTo>
                  <a:cubicBezTo>
                    <a:pt x="399" y="189"/>
                    <a:pt x="365" y="176"/>
                    <a:pt x="381" y="169"/>
                  </a:cubicBezTo>
                  <a:cubicBezTo>
                    <a:pt x="398" y="162"/>
                    <a:pt x="409" y="179"/>
                    <a:pt x="409" y="179"/>
                  </a:cubicBezTo>
                  <a:cubicBezTo>
                    <a:pt x="409" y="179"/>
                    <a:pt x="423" y="168"/>
                    <a:pt x="433" y="166"/>
                  </a:cubicBezTo>
                  <a:cubicBezTo>
                    <a:pt x="442" y="165"/>
                    <a:pt x="513" y="202"/>
                    <a:pt x="519" y="198"/>
                  </a:cubicBezTo>
                  <a:cubicBezTo>
                    <a:pt x="524" y="194"/>
                    <a:pt x="505" y="155"/>
                    <a:pt x="523" y="148"/>
                  </a:cubicBezTo>
                  <a:cubicBezTo>
                    <a:pt x="541" y="141"/>
                    <a:pt x="539" y="157"/>
                    <a:pt x="557" y="147"/>
                  </a:cubicBezTo>
                  <a:cubicBezTo>
                    <a:pt x="575" y="137"/>
                    <a:pt x="578" y="130"/>
                    <a:pt x="578" y="130"/>
                  </a:cubicBezTo>
                  <a:cubicBezTo>
                    <a:pt x="542" y="107"/>
                    <a:pt x="542" y="107"/>
                    <a:pt x="542" y="107"/>
                  </a:cubicBezTo>
                  <a:cubicBezTo>
                    <a:pt x="542" y="107"/>
                    <a:pt x="542" y="83"/>
                    <a:pt x="535" y="78"/>
                  </a:cubicBezTo>
                  <a:cubicBezTo>
                    <a:pt x="528" y="72"/>
                    <a:pt x="523" y="96"/>
                    <a:pt x="523" y="96"/>
                  </a:cubicBezTo>
                  <a:cubicBezTo>
                    <a:pt x="523" y="96"/>
                    <a:pt x="455" y="80"/>
                    <a:pt x="440" y="69"/>
                  </a:cubicBezTo>
                  <a:cubicBezTo>
                    <a:pt x="424" y="58"/>
                    <a:pt x="350" y="0"/>
                    <a:pt x="340" y="11"/>
                  </a:cubicBezTo>
                  <a:cubicBezTo>
                    <a:pt x="330" y="22"/>
                    <a:pt x="372" y="57"/>
                    <a:pt x="372" y="57"/>
                  </a:cubicBezTo>
                  <a:close/>
                  <a:moveTo>
                    <a:pt x="194" y="984"/>
                  </a:moveTo>
                  <a:cubicBezTo>
                    <a:pt x="209" y="984"/>
                    <a:pt x="209" y="984"/>
                    <a:pt x="209" y="984"/>
                  </a:cubicBezTo>
                  <a:cubicBezTo>
                    <a:pt x="192" y="972"/>
                    <a:pt x="192" y="972"/>
                    <a:pt x="192" y="972"/>
                  </a:cubicBezTo>
                  <a:lnTo>
                    <a:pt x="194" y="984"/>
                  </a:lnTo>
                  <a:close/>
                  <a:moveTo>
                    <a:pt x="208" y="933"/>
                  </a:moveTo>
                  <a:cubicBezTo>
                    <a:pt x="210" y="942"/>
                    <a:pt x="214" y="942"/>
                    <a:pt x="214" y="942"/>
                  </a:cubicBezTo>
                  <a:cubicBezTo>
                    <a:pt x="224" y="944"/>
                    <a:pt x="225" y="934"/>
                    <a:pt x="225" y="934"/>
                  </a:cubicBezTo>
                  <a:cubicBezTo>
                    <a:pt x="225" y="934"/>
                    <a:pt x="240" y="933"/>
                    <a:pt x="233" y="922"/>
                  </a:cubicBezTo>
                  <a:cubicBezTo>
                    <a:pt x="226" y="912"/>
                    <a:pt x="205" y="924"/>
                    <a:pt x="208" y="933"/>
                  </a:cubicBezTo>
                  <a:close/>
                  <a:moveTo>
                    <a:pt x="214" y="956"/>
                  </a:moveTo>
                  <a:cubicBezTo>
                    <a:pt x="204" y="952"/>
                    <a:pt x="205" y="961"/>
                    <a:pt x="205" y="961"/>
                  </a:cubicBezTo>
                  <a:cubicBezTo>
                    <a:pt x="220" y="968"/>
                    <a:pt x="225" y="960"/>
                    <a:pt x="214" y="956"/>
                  </a:cubicBezTo>
                  <a:close/>
                  <a:moveTo>
                    <a:pt x="230" y="810"/>
                  </a:moveTo>
                  <a:cubicBezTo>
                    <a:pt x="230" y="814"/>
                    <a:pt x="217" y="820"/>
                    <a:pt x="217" y="820"/>
                  </a:cubicBezTo>
                  <a:cubicBezTo>
                    <a:pt x="234" y="829"/>
                    <a:pt x="234" y="829"/>
                    <a:pt x="234" y="829"/>
                  </a:cubicBezTo>
                  <a:cubicBezTo>
                    <a:pt x="234" y="829"/>
                    <a:pt x="230" y="806"/>
                    <a:pt x="230" y="810"/>
                  </a:cubicBezTo>
                  <a:close/>
                  <a:moveTo>
                    <a:pt x="252" y="792"/>
                  </a:moveTo>
                  <a:cubicBezTo>
                    <a:pt x="252" y="796"/>
                    <a:pt x="248" y="805"/>
                    <a:pt x="248" y="805"/>
                  </a:cubicBezTo>
                  <a:cubicBezTo>
                    <a:pt x="257" y="825"/>
                    <a:pt x="257" y="825"/>
                    <a:pt x="257" y="825"/>
                  </a:cubicBezTo>
                  <a:cubicBezTo>
                    <a:pt x="258" y="814"/>
                    <a:pt x="258" y="814"/>
                    <a:pt x="258" y="814"/>
                  </a:cubicBezTo>
                  <a:cubicBezTo>
                    <a:pt x="258" y="814"/>
                    <a:pt x="252" y="788"/>
                    <a:pt x="252" y="792"/>
                  </a:cubicBezTo>
                  <a:close/>
                  <a:moveTo>
                    <a:pt x="32" y="1144"/>
                  </a:moveTo>
                  <a:cubicBezTo>
                    <a:pt x="36" y="1144"/>
                    <a:pt x="54" y="1138"/>
                    <a:pt x="54" y="1138"/>
                  </a:cubicBezTo>
                  <a:cubicBezTo>
                    <a:pt x="36" y="1129"/>
                    <a:pt x="36" y="1129"/>
                    <a:pt x="36" y="1129"/>
                  </a:cubicBezTo>
                  <a:cubicBezTo>
                    <a:pt x="36" y="1129"/>
                    <a:pt x="28" y="1144"/>
                    <a:pt x="32" y="1144"/>
                  </a:cubicBezTo>
                  <a:close/>
                  <a:moveTo>
                    <a:pt x="81" y="1117"/>
                  </a:moveTo>
                  <a:cubicBezTo>
                    <a:pt x="72" y="1100"/>
                    <a:pt x="72" y="1100"/>
                    <a:pt x="72" y="1100"/>
                  </a:cubicBezTo>
                  <a:cubicBezTo>
                    <a:pt x="72" y="1110"/>
                    <a:pt x="72" y="1110"/>
                    <a:pt x="72" y="1110"/>
                  </a:cubicBezTo>
                  <a:cubicBezTo>
                    <a:pt x="70" y="1126"/>
                    <a:pt x="85" y="1133"/>
                    <a:pt x="90" y="1125"/>
                  </a:cubicBezTo>
                  <a:cubicBezTo>
                    <a:pt x="96" y="1117"/>
                    <a:pt x="81" y="1117"/>
                    <a:pt x="81" y="1117"/>
                  </a:cubicBezTo>
                  <a:close/>
                  <a:moveTo>
                    <a:pt x="16" y="1134"/>
                  </a:moveTo>
                  <a:cubicBezTo>
                    <a:pt x="0" y="1133"/>
                    <a:pt x="9" y="1150"/>
                    <a:pt x="9" y="1150"/>
                  </a:cubicBezTo>
                  <a:cubicBezTo>
                    <a:pt x="21" y="1153"/>
                    <a:pt x="32" y="1136"/>
                    <a:pt x="16" y="1134"/>
                  </a:cubicBezTo>
                  <a:close/>
                  <a:moveTo>
                    <a:pt x="118" y="1033"/>
                  </a:moveTo>
                  <a:cubicBezTo>
                    <a:pt x="118" y="1041"/>
                    <a:pt x="129" y="1041"/>
                    <a:pt x="129" y="1041"/>
                  </a:cubicBezTo>
                  <a:cubicBezTo>
                    <a:pt x="136" y="1029"/>
                    <a:pt x="118" y="1025"/>
                    <a:pt x="118" y="1033"/>
                  </a:cubicBezTo>
                  <a:close/>
                  <a:moveTo>
                    <a:pt x="184" y="1008"/>
                  </a:moveTo>
                  <a:cubicBezTo>
                    <a:pt x="174" y="1018"/>
                    <a:pt x="165" y="1050"/>
                    <a:pt x="165" y="1050"/>
                  </a:cubicBezTo>
                  <a:cubicBezTo>
                    <a:pt x="178" y="1053"/>
                    <a:pt x="178" y="1053"/>
                    <a:pt x="178" y="1053"/>
                  </a:cubicBezTo>
                  <a:cubicBezTo>
                    <a:pt x="178" y="1053"/>
                    <a:pt x="190" y="1032"/>
                    <a:pt x="186" y="1032"/>
                  </a:cubicBezTo>
                  <a:cubicBezTo>
                    <a:pt x="182" y="1032"/>
                    <a:pt x="198" y="1014"/>
                    <a:pt x="198" y="1014"/>
                  </a:cubicBezTo>
                  <a:cubicBezTo>
                    <a:pt x="198" y="1014"/>
                    <a:pt x="193" y="997"/>
                    <a:pt x="184" y="1008"/>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525" name="Freeform 317">
              <a:extLst>
                <a:ext uri="{FF2B5EF4-FFF2-40B4-BE49-F238E27FC236}">
                  <a16:creationId xmlns:a16="http://schemas.microsoft.com/office/drawing/2014/main" id="{1906F6B3-456B-4A56-9458-C7D51F09F8A1}"/>
                </a:ext>
              </a:extLst>
            </p:cNvPr>
            <p:cNvSpPr>
              <a:spLocks noEditPoints="1"/>
            </p:cNvSpPr>
            <p:nvPr/>
          </p:nvSpPr>
          <p:spPr bwMode="gray">
            <a:xfrm>
              <a:off x="5340011" y="37736"/>
              <a:ext cx="4100498" cy="1233373"/>
            </a:xfrm>
            <a:custGeom>
              <a:avLst/>
              <a:gdLst>
                <a:gd name="T0" fmla="*/ 1604 w 6045"/>
                <a:gd name="T1" fmla="*/ 319 h 1923"/>
                <a:gd name="T2" fmla="*/ 1125 w 6045"/>
                <a:gd name="T3" fmla="*/ 38 h 1923"/>
                <a:gd name="T4" fmla="*/ 1119 w 6045"/>
                <a:gd name="T5" fmla="*/ 335 h 1923"/>
                <a:gd name="T6" fmla="*/ 1136 w 6045"/>
                <a:gd name="T7" fmla="*/ 227 h 1923"/>
                <a:gd name="T8" fmla="*/ 1032 w 6045"/>
                <a:gd name="T9" fmla="*/ 349 h 1923"/>
                <a:gd name="T10" fmla="*/ 4026 w 6045"/>
                <a:gd name="T11" fmla="*/ 259 h 1923"/>
                <a:gd name="T12" fmla="*/ 2394 w 6045"/>
                <a:gd name="T13" fmla="*/ 103 h 1923"/>
                <a:gd name="T14" fmla="*/ 3618 w 6045"/>
                <a:gd name="T15" fmla="*/ 235 h 1923"/>
                <a:gd name="T16" fmla="*/ 113 w 6045"/>
                <a:gd name="T17" fmla="*/ 1236 h 1923"/>
                <a:gd name="T18" fmla="*/ 755 w 6045"/>
                <a:gd name="T19" fmla="*/ 45 h 1923"/>
                <a:gd name="T20" fmla="*/ 5033 w 6045"/>
                <a:gd name="T21" fmla="*/ 1361 h 1923"/>
                <a:gd name="T22" fmla="*/ 5193 w 6045"/>
                <a:gd name="T23" fmla="*/ 1629 h 1923"/>
                <a:gd name="T24" fmla="*/ 5935 w 6045"/>
                <a:gd name="T25" fmla="*/ 632 h 1923"/>
                <a:gd name="T26" fmla="*/ 5061 w 6045"/>
                <a:gd name="T27" fmla="*/ 515 h 1923"/>
                <a:gd name="T28" fmla="*/ 4321 w 6045"/>
                <a:gd name="T29" fmla="*/ 409 h 1923"/>
                <a:gd name="T30" fmla="*/ 3936 w 6045"/>
                <a:gd name="T31" fmla="*/ 365 h 1923"/>
                <a:gd name="T32" fmla="*/ 3577 w 6045"/>
                <a:gd name="T33" fmla="*/ 386 h 1923"/>
                <a:gd name="T34" fmla="*/ 3251 w 6045"/>
                <a:gd name="T35" fmla="*/ 351 h 1923"/>
                <a:gd name="T36" fmla="*/ 2915 w 6045"/>
                <a:gd name="T37" fmla="*/ 313 h 1923"/>
                <a:gd name="T38" fmla="*/ 2906 w 6045"/>
                <a:gd name="T39" fmla="*/ 254 h 1923"/>
                <a:gd name="T40" fmla="*/ 2423 w 6045"/>
                <a:gd name="T41" fmla="*/ 210 h 1923"/>
                <a:gd name="T42" fmla="*/ 2038 w 6045"/>
                <a:gd name="T43" fmla="*/ 402 h 1923"/>
                <a:gd name="T44" fmla="*/ 1740 w 6045"/>
                <a:gd name="T45" fmla="*/ 389 h 1923"/>
                <a:gd name="T46" fmla="*/ 1845 w 6045"/>
                <a:gd name="T47" fmla="*/ 542 h 1923"/>
                <a:gd name="T48" fmla="*/ 1684 w 6045"/>
                <a:gd name="T49" fmla="*/ 417 h 1923"/>
                <a:gd name="T50" fmla="*/ 1499 w 6045"/>
                <a:gd name="T51" fmla="*/ 522 h 1923"/>
                <a:gd name="T52" fmla="*/ 1060 w 6045"/>
                <a:gd name="T53" fmla="*/ 545 h 1923"/>
                <a:gd name="T54" fmla="*/ 795 w 6045"/>
                <a:gd name="T55" fmla="*/ 644 h 1923"/>
                <a:gd name="T56" fmla="*/ 508 w 6045"/>
                <a:gd name="T57" fmla="*/ 670 h 1923"/>
                <a:gd name="T58" fmla="*/ 357 w 6045"/>
                <a:gd name="T59" fmla="*/ 475 h 1923"/>
                <a:gd name="T60" fmla="*/ 323 w 6045"/>
                <a:gd name="T61" fmla="*/ 703 h 1923"/>
                <a:gd name="T62" fmla="*/ 303 w 6045"/>
                <a:gd name="T63" fmla="*/ 980 h 1923"/>
                <a:gd name="T64" fmla="*/ 382 w 6045"/>
                <a:gd name="T65" fmla="*/ 1163 h 1923"/>
                <a:gd name="T66" fmla="*/ 538 w 6045"/>
                <a:gd name="T67" fmla="*/ 1342 h 1923"/>
                <a:gd name="T68" fmla="*/ 827 w 6045"/>
                <a:gd name="T69" fmla="*/ 1472 h 1923"/>
                <a:gd name="T70" fmla="*/ 752 w 6045"/>
                <a:gd name="T71" fmla="*/ 1694 h 1923"/>
                <a:gd name="T72" fmla="*/ 1214 w 6045"/>
                <a:gd name="T73" fmla="*/ 1892 h 1923"/>
                <a:gd name="T74" fmla="*/ 1231 w 6045"/>
                <a:gd name="T75" fmla="*/ 1631 h 1923"/>
                <a:gd name="T76" fmla="*/ 1419 w 6045"/>
                <a:gd name="T77" fmla="*/ 1396 h 1923"/>
                <a:gd name="T78" fmla="*/ 1765 w 6045"/>
                <a:gd name="T79" fmla="*/ 1244 h 1923"/>
                <a:gd name="T80" fmla="*/ 2222 w 6045"/>
                <a:gd name="T81" fmla="*/ 1256 h 1923"/>
                <a:gd name="T82" fmla="*/ 2847 w 6045"/>
                <a:gd name="T83" fmla="*/ 1496 h 1923"/>
                <a:gd name="T84" fmla="*/ 3152 w 6045"/>
                <a:gd name="T85" fmla="*/ 1456 h 1923"/>
                <a:gd name="T86" fmla="*/ 3428 w 6045"/>
                <a:gd name="T87" fmla="*/ 1441 h 1923"/>
                <a:gd name="T88" fmla="*/ 3929 w 6045"/>
                <a:gd name="T89" fmla="*/ 1447 h 1923"/>
                <a:gd name="T90" fmla="*/ 4174 w 6045"/>
                <a:gd name="T91" fmla="*/ 1268 h 1923"/>
                <a:gd name="T92" fmla="*/ 4630 w 6045"/>
                <a:gd name="T93" fmla="*/ 1533 h 1923"/>
                <a:gd name="T94" fmla="*/ 4843 w 6045"/>
                <a:gd name="T95" fmla="*/ 1667 h 1923"/>
                <a:gd name="T96" fmla="*/ 4985 w 6045"/>
                <a:gd name="T97" fmla="*/ 1754 h 1923"/>
                <a:gd name="T98" fmla="*/ 4903 w 6045"/>
                <a:gd name="T99" fmla="*/ 1298 h 1923"/>
                <a:gd name="T100" fmla="*/ 4580 w 6045"/>
                <a:gd name="T101" fmla="*/ 1205 h 1923"/>
                <a:gd name="T102" fmla="*/ 4885 w 6045"/>
                <a:gd name="T103" fmla="*/ 977 h 1923"/>
                <a:gd name="T104" fmla="*/ 5110 w 6045"/>
                <a:gd name="T105" fmla="*/ 890 h 1923"/>
                <a:gd name="T106" fmla="*/ 5374 w 6045"/>
                <a:gd name="T107" fmla="*/ 897 h 1923"/>
                <a:gd name="T108" fmla="*/ 5630 w 6045"/>
                <a:gd name="T109" fmla="*/ 1386 h 1923"/>
                <a:gd name="T110" fmla="*/ 5463 w 6045"/>
                <a:gd name="T111" fmla="*/ 992 h 1923"/>
                <a:gd name="T112" fmla="*/ 5791 w 6045"/>
                <a:gd name="T113" fmla="*/ 813 h 1923"/>
                <a:gd name="T114" fmla="*/ 5719 w 6045"/>
                <a:gd name="T115" fmla="*/ 660 h 1923"/>
                <a:gd name="T116" fmla="*/ 3494 w 6045"/>
                <a:gd name="T117" fmla="*/ 1368 h 1923"/>
                <a:gd name="T118" fmla="*/ 3579 w 6045"/>
                <a:gd name="T119" fmla="*/ 1259 h 1923"/>
                <a:gd name="T120" fmla="*/ 943 w 6045"/>
                <a:gd name="T121" fmla="*/ 537 h 1923"/>
                <a:gd name="T122" fmla="*/ 924 w 6045"/>
                <a:gd name="T123" fmla="*/ 25 h 19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045" h="1923">
                  <a:moveTo>
                    <a:pt x="1866" y="364"/>
                  </a:moveTo>
                  <a:cubicBezTo>
                    <a:pt x="1845" y="359"/>
                    <a:pt x="1845" y="359"/>
                    <a:pt x="1845" y="359"/>
                  </a:cubicBezTo>
                  <a:cubicBezTo>
                    <a:pt x="1828" y="373"/>
                    <a:pt x="1828" y="373"/>
                    <a:pt x="1828" y="373"/>
                  </a:cubicBezTo>
                  <a:cubicBezTo>
                    <a:pt x="1854" y="380"/>
                    <a:pt x="1854" y="380"/>
                    <a:pt x="1854" y="380"/>
                  </a:cubicBezTo>
                  <a:lnTo>
                    <a:pt x="1866" y="364"/>
                  </a:lnTo>
                  <a:close/>
                  <a:moveTo>
                    <a:pt x="1894" y="346"/>
                  </a:moveTo>
                  <a:cubicBezTo>
                    <a:pt x="1869" y="329"/>
                    <a:pt x="1876" y="352"/>
                    <a:pt x="1876" y="352"/>
                  </a:cubicBezTo>
                  <a:cubicBezTo>
                    <a:pt x="1901" y="362"/>
                    <a:pt x="1919" y="363"/>
                    <a:pt x="1894" y="346"/>
                  </a:cubicBezTo>
                  <a:close/>
                  <a:moveTo>
                    <a:pt x="1138" y="13"/>
                  </a:moveTo>
                  <a:cubicBezTo>
                    <a:pt x="1148" y="11"/>
                    <a:pt x="1162" y="1"/>
                    <a:pt x="1155" y="1"/>
                  </a:cubicBezTo>
                  <a:cubicBezTo>
                    <a:pt x="1148" y="1"/>
                    <a:pt x="1100" y="1"/>
                    <a:pt x="1100" y="1"/>
                  </a:cubicBezTo>
                  <a:cubicBezTo>
                    <a:pt x="1097" y="10"/>
                    <a:pt x="1097" y="10"/>
                    <a:pt x="1097" y="10"/>
                  </a:cubicBezTo>
                  <a:cubicBezTo>
                    <a:pt x="1124" y="7"/>
                    <a:pt x="1124" y="7"/>
                    <a:pt x="1124" y="7"/>
                  </a:cubicBezTo>
                  <a:cubicBezTo>
                    <a:pt x="1124" y="7"/>
                    <a:pt x="1128" y="14"/>
                    <a:pt x="1138" y="13"/>
                  </a:cubicBezTo>
                  <a:close/>
                  <a:moveTo>
                    <a:pt x="1163" y="39"/>
                  </a:moveTo>
                  <a:cubicBezTo>
                    <a:pt x="1168" y="39"/>
                    <a:pt x="1176" y="34"/>
                    <a:pt x="1176" y="34"/>
                  </a:cubicBezTo>
                  <a:cubicBezTo>
                    <a:pt x="1176" y="34"/>
                    <a:pt x="1203" y="42"/>
                    <a:pt x="1210" y="35"/>
                  </a:cubicBezTo>
                  <a:cubicBezTo>
                    <a:pt x="1217" y="28"/>
                    <a:pt x="1211" y="17"/>
                    <a:pt x="1189" y="17"/>
                  </a:cubicBezTo>
                  <a:cubicBezTo>
                    <a:pt x="1166" y="17"/>
                    <a:pt x="1145" y="34"/>
                    <a:pt x="1145" y="34"/>
                  </a:cubicBezTo>
                  <a:cubicBezTo>
                    <a:pt x="1149" y="39"/>
                    <a:pt x="1159" y="39"/>
                    <a:pt x="1163" y="39"/>
                  </a:cubicBezTo>
                  <a:close/>
                  <a:moveTo>
                    <a:pt x="1590" y="341"/>
                  </a:moveTo>
                  <a:cubicBezTo>
                    <a:pt x="1623" y="333"/>
                    <a:pt x="1612" y="323"/>
                    <a:pt x="1604" y="319"/>
                  </a:cubicBezTo>
                  <a:cubicBezTo>
                    <a:pt x="1596" y="315"/>
                    <a:pt x="1566" y="319"/>
                    <a:pt x="1566" y="319"/>
                  </a:cubicBezTo>
                  <a:cubicBezTo>
                    <a:pt x="1566" y="319"/>
                    <a:pt x="1572" y="345"/>
                    <a:pt x="1590" y="341"/>
                  </a:cubicBezTo>
                  <a:close/>
                  <a:moveTo>
                    <a:pt x="1062" y="20"/>
                  </a:moveTo>
                  <a:cubicBezTo>
                    <a:pt x="1034" y="17"/>
                    <a:pt x="1034" y="17"/>
                    <a:pt x="1034" y="17"/>
                  </a:cubicBezTo>
                  <a:cubicBezTo>
                    <a:pt x="1041" y="25"/>
                    <a:pt x="1041" y="25"/>
                    <a:pt x="1041" y="25"/>
                  </a:cubicBezTo>
                  <a:lnTo>
                    <a:pt x="1062" y="20"/>
                  </a:lnTo>
                  <a:close/>
                  <a:moveTo>
                    <a:pt x="1264" y="465"/>
                  </a:moveTo>
                  <a:cubicBezTo>
                    <a:pt x="1259" y="473"/>
                    <a:pt x="1324" y="507"/>
                    <a:pt x="1330" y="491"/>
                  </a:cubicBezTo>
                  <a:cubicBezTo>
                    <a:pt x="1336" y="475"/>
                    <a:pt x="1270" y="455"/>
                    <a:pt x="1264" y="465"/>
                  </a:cubicBezTo>
                  <a:close/>
                  <a:moveTo>
                    <a:pt x="2074" y="83"/>
                  </a:moveTo>
                  <a:cubicBezTo>
                    <a:pt x="2084" y="73"/>
                    <a:pt x="2084" y="73"/>
                    <a:pt x="2084" y="73"/>
                  </a:cubicBezTo>
                  <a:cubicBezTo>
                    <a:pt x="2024" y="73"/>
                    <a:pt x="2024" y="73"/>
                    <a:pt x="2024" y="73"/>
                  </a:cubicBezTo>
                  <a:lnTo>
                    <a:pt x="2074" y="83"/>
                  </a:lnTo>
                  <a:close/>
                  <a:moveTo>
                    <a:pt x="1044" y="68"/>
                  </a:moveTo>
                  <a:cubicBezTo>
                    <a:pt x="1090" y="66"/>
                    <a:pt x="1090" y="66"/>
                    <a:pt x="1090" y="66"/>
                  </a:cubicBezTo>
                  <a:cubicBezTo>
                    <a:pt x="1075" y="56"/>
                    <a:pt x="1075" y="56"/>
                    <a:pt x="1075" y="56"/>
                  </a:cubicBezTo>
                  <a:lnTo>
                    <a:pt x="1044" y="68"/>
                  </a:lnTo>
                  <a:close/>
                  <a:moveTo>
                    <a:pt x="1051" y="39"/>
                  </a:moveTo>
                  <a:cubicBezTo>
                    <a:pt x="1064" y="48"/>
                    <a:pt x="1066" y="52"/>
                    <a:pt x="1066" y="52"/>
                  </a:cubicBezTo>
                  <a:cubicBezTo>
                    <a:pt x="1083" y="44"/>
                    <a:pt x="1083" y="44"/>
                    <a:pt x="1083" y="44"/>
                  </a:cubicBezTo>
                  <a:cubicBezTo>
                    <a:pt x="1083" y="44"/>
                    <a:pt x="1076" y="49"/>
                    <a:pt x="1090" y="49"/>
                  </a:cubicBezTo>
                  <a:cubicBezTo>
                    <a:pt x="1104" y="49"/>
                    <a:pt x="1125" y="38"/>
                    <a:pt x="1125" y="38"/>
                  </a:cubicBezTo>
                  <a:cubicBezTo>
                    <a:pt x="1089" y="32"/>
                    <a:pt x="1089" y="32"/>
                    <a:pt x="1089" y="32"/>
                  </a:cubicBezTo>
                  <a:cubicBezTo>
                    <a:pt x="1079" y="38"/>
                    <a:pt x="1079" y="38"/>
                    <a:pt x="1079" y="38"/>
                  </a:cubicBezTo>
                  <a:cubicBezTo>
                    <a:pt x="1079" y="38"/>
                    <a:pt x="1065" y="32"/>
                    <a:pt x="1061" y="34"/>
                  </a:cubicBezTo>
                  <a:cubicBezTo>
                    <a:pt x="1057" y="35"/>
                    <a:pt x="1051" y="39"/>
                    <a:pt x="1051" y="39"/>
                  </a:cubicBezTo>
                  <a:close/>
                  <a:moveTo>
                    <a:pt x="1113" y="23"/>
                  </a:moveTo>
                  <a:cubicBezTo>
                    <a:pt x="1071" y="23"/>
                    <a:pt x="1071" y="23"/>
                    <a:pt x="1071" y="23"/>
                  </a:cubicBezTo>
                  <a:cubicBezTo>
                    <a:pt x="1106" y="31"/>
                    <a:pt x="1106" y="31"/>
                    <a:pt x="1106" y="31"/>
                  </a:cubicBezTo>
                  <a:lnTo>
                    <a:pt x="1113" y="23"/>
                  </a:lnTo>
                  <a:close/>
                  <a:moveTo>
                    <a:pt x="1032" y="349"/>
                  </a:moveTo>
                  <a:cubicBezTo>
                    <a:pt x="1002" y="354"/>
                    <a:pt x="1002" y="354"/>
                    <a:pt x="1002" y="354"/>
                  </a:cubicBezTo>
                  <a:cubicBezTo>
                    <a:pt x="1011" y="366"/>
                    <a:pt x="1011" y="366"/>
                    <a:pt x="1011" y="366"/>
                  </a:cubicBezTo>
                  <a:cubicBezTo>
                    <a:pt x="1030" y="357"/>
                    <a:pt x="1030" y="357"/>
                    <a:pt x="1030" y="357"/>
                  </a:cubicBezTo>
                  <a:cubicBezTo>
                    <a:pt x="1020" y="373"/>
                    <a:pt x="1020" y="373"/>
                    <a:pt x="1020" y="373"/>
                  </a:cubicBezTo>
                  <a:cubicBezTo>
                    <a:pt x="1020" y="373"/>
                    <a:pt x="992" y="379"/>
                    <a:pt x="994" y="390"/>
                  </a:cubicBezTo>
                  <a:cubicBezTo>
                    <a:pt x="996" y="401"/>
                    <a:pt x="1023" y="405"/>
                    <a:pt x="1035" y="405"/>
                  </a:cubicBezTo>
                  <a:cubicBezTo>
                    <a:pt x="1048" y="405"/>
                    <a:pt x="1065" y="408"/>
                    <a:pt x="1076" y="414"/>
                  </a:cubicBezTo>
                  <a:cubicBezTo>
                    <a:pt x="1086" y="420"/>
                    <a:pt x="1085" y="437"/>
                    <a:pt x="1088" y="438"/>
                  </a:cubicBezTo>
                  <a:cubicBezTo>
                    <a:pt x="1091" y="440"/>
                    <a:pt x="1140" y="447"/>
                    <a:pt x="1140" y="447"/>
                  </a:cubicBezTo>
                  <a:cubicBezTo>
                    <a:pt x="1214" y="443"/>
                    <a:pt x="1214" y="443"/>
                    <a:pt x="1214" y="443"/>
                  </a:cubicBezTo>
                  <a:cubicBezTo>
                    <a:pt x="1214" y="443"/>
                    <a:pt x="1154" y="437"/>
                    <a:pt x="1138" y="411"/>
                  </a:cubicBezTo>
                  <a:cubicBezTo>
                    <a:pt x="1122" y="385"/>
                    <a:pt x="1106" y="385"/>
                    <a:pt x="1122" y="361"/>
                  </a:cubicBezTo>
                  <a:cubicBezTo>
                    <a:pt x="1138" y="337"/>
                    <a:pt x="1119" y="335"/>
                    <a:pt x="1119" y="335"/>
                  </a:cubicBezTo>
                  <a:cubicBezTo>
                    <a:pt x="1146" y="331"/>
                    <a:pt x="1146" y="331"/>
                    <a:pt x="1146" y="331"/>
                  </a:cubicBezTo>
                  <a:cubicBezTo>
                    <a:pt x="1135" y="319"/>
                    <a:pt x="1135" y="319"/>
                    <a:pt x="1135" y="319"/>
                  </a:cubicBezTo>
                  <a:cubicBezTo>
                    <a:pt x="1158" y="322"/>
                    <a:pt x="1158" y="322"/>
                    <a:pt x="1158" y="322"/>
                  </a:cubicBezTo>
                  <a:cubicBezTo>
                    <a:pt x="1145" y="314"/>
                    <a:pt x="1145" y="314"/>
                    <a:pt x="1145" y="314"/>
                  </a:cubicBezTo>
                  <a:cubicBezTo>
                    <a:pt x="1161" y="316"/>
                    <a:pt x="1161" y="316"/>
                    <a:pt x="1161" y="316"/>
                  </a:cubicBezTo>
                  <a:cubicBezTo>
                    <a:pt x="1165" y="306"/>
                    <a:pt x="1165" y="306"/>
                    <a:pt x="1165" y="306"/>
                  </a:cubicBezTo>
                  <a:cubicBezTo>
                    <a:pt x="1151" y="299"/>
                    <a:pt x="1151" y="299"/>
                    <a:pt x="1151" y="299"/>
                  </a:cubicBezTo>
                  <a:cubicBezTo>
                    <a:pt x="1151" y="299"/>
                    <a:pt x="1178" y="303"/>
                    <a:pt x="1182" y="299"/>
                  </a:cubicBezTo>
                  <a:cubicBezTo>
                    <a:pt x="1186" y="295"/>
                    <a:pt x="1171" y="285"/>
                    <a:pt x="1171" y="285"/>
                  </a:cubicBezTo>
                  <a:cubicBezTo>
                    <a:pt x="1193" y="287"/>
                    <a:pt x="1193" y="287"/>
                    <a:pt x="1193" y="287"/>
                  </a:cubicBezTo>
                  <a:cubicBezTo>
                    <a:pt x="1191" y="268"/>
                    <a:pt x="1191" y="268"/>
                    <a:pt x="1191" y="268"/>
                  </a:cubicBezTo>
                  <a:cubicBezTo>
                    <a:pt x="1191" y="268"/>
                    <a:pt x="1205" y="279"/>
                    <a:pt x="1223" y="271"/>
                  </a:cubicBezTo>
                  <a:cubicBezTo>
                    <a:pt x="1242" y="264"/>
                    <a:pt x="1254" y="250"/>
                    <a:pt x="1254" y="250"/>
                  </a:cubicBezTo>
                  <a:cubicBezTo>
                    <a:pt x="1254" y="250"/>
                    <a:pt x="1399" y="229"/>
                    <a:pt x="1420" y="220"/>
                  </a:cubicBezTo>
                  <a:cubicBezTo>
                    <a:pt x="1442" y="210"/>
                    <a:pt x="1463" y="195"/>
                    <a:pt x="1430" y="184"/>
                  </a:cubicBezTo>
                  <a:cubicBezTo>
                    <a:pt x="1397" y="172"/>
                    <a:pt x="1363" y="188"/>
                    <a:pt x="1348" y="194"/>
                  </a:cubicBezTo>
                  <a:cubicBezTo>
                    <a:pt x="1334" y="200"/>
                    <a:pt x="1290" y="215"/>
                    <a:pt x="1270" y="212"/>
                  </a:cubicBezTo>
                  <a:cubicBezTo>
                    <a:pt x="1249" y="210"/>
                    <a:pt x="1218" y="206"/>
                    <a:pt x="1218" y="206"/>
                  </a:cubicBezTo>
                  <a:cubicBezTo>
                    <a:pt x="1207" y="223"/>
                    <a:pt x="1207" y="223"/>
                    <a:pt x="1207" y="223"/>
                  </a:cubicBezTo>
                  <a:cubicBezTo>
                    <a:pt x="1190" y="214"/>
                    <a:pt x="1190" y="214"/>
                    <a:pt x="1190" y="214"/>
                  </a:cubicBezTo>
                  <a:cubicBezTo>
                    <a:pt x="1155" y="228"/>
                    <a:pt x="1155" y="228"/>
                    <a:pt x="1155" y="228"/>
                  </a:cubicBezTo>
                  <a:cubicBezTo>
                    <a:pt x="1136" y="227"/>
                    <a:pt x="1136" y="227"/>
                    <a:pt x="1136" y="227"/>
                  </a:cubicBezTo>
                  <a:cubicBezTo>
                    <a:pt x="1117" y="242"/>
                    <a:pt x="1117" y="242"/>
                    <a:pt x="1117" y="242"/>
                  </a:cubicBezTo>
                  <a:cubicBezTo>
                    <a:pt x="1131" y="247"/>
                    <a:pt x="1131" y="247"/>
                    <a:pt x="1131" y="247"/>
                  </a:cubicBezTo>
                  <a:cubicBezTo>
                    <a:pt x="1098" y="248"/>
                    <a:pt x="1098" y="248"/>
                    <a:pt x="1098" y="248"/>
                  </a:cubicBezTo>
                  <a:cubicBezTo>
                    <a:pt x="1079" y="254"/>
                    <a:pt x="1079" y="254"/>
                    <a:pt x="1079" y="254"/>
                  </a:cubicBezTo>
                  <a:cubicBezTo>
                    <a:pt x="1080" y="263"/>
                    <a:pt x="1080" y="263"/>
                    <a:pt x="1080" y="263"/>
                  </a:cubicBezTo>
                  <a:cubicBezTo>
                    <a:pt x="1097" y="254"/>
                    <a:pt x="1097" y="254"/>
                    <a:pt x="1097" y="254"/>
                  </a:cubicBezTo>
                  <a:cubicBezTo>
                    <a:pt x="1098" y="263"/>
                    <a:pt x="1098" y="263"/>
                    <a:pt x="1098" y="263"/>
                  </a:cubicBezTo>
                  <a:cubicBezTo>
                    <a:pt x="1117" y="265"/>
                    <a:pt x="1117" y="265"/>
                    <a:pt x="1117" y="265"/>
                  </a:cubicBezTo>
                  <a:cubicBezTo>
                    <a:pt x="1111" y="273"/>
                    <a:pt x="1111" y="273"/>
                    <a:pt x="1111" y="273"/>
                  </a:cubicBezTo>
                  <a:cubicBezTo>
                    <a:pt x="1085" y="273"/>
                    <a:pt x="1085" y="273"/>
                    <a:pt x="1085" y="273"/>
                  </a:cubicBezTo>
                  <a:cubicBezTo>
                    <a:pt x="1081" y="282"/>
                    <a:pt x="1081" y="282"/>
                    <a:pt x="1081" y="282"/>
                  </a:cubicBezTo>
                  <a:cubicBezTo>
                    <a:pt x="1099" y="285"/>
                    <a:pt x="1099" y="285"/>
                    <a:pt x="1099" y="285"/>
                  </a:cubicBezTo>
                  <a:cubicBezTo>
                    <a:pt x="1068" y="287"/>
                    <a:pt x="1068" y="287"/>
                    <a:pt x="1068" y="287"/>
                  </a:cubicBezTo>
                  <a:cubicBezTo>
                    <a:pt x="1090" y="293"/>
                    <a:pt x="1090" y="293"/>
                    <a:pt x="1090" y="293"/>
                  </a:cubicBezTo>
                  <a:cubicBezTo>
                    <a:pt x="1061" y="295"/>
                    <a:pt x="1061" y="295"/>
                    <a:pt x="1061" y="295"/>
                  </a:cubicBezTo>
                  <a:cubicBezTo>
                    <a:pt x="1059" y="309"/>
                    <a:pt x="1059" y="309"/>
                    <a:pt x="1059" y="309"/>
                  </a:cubicBezTo>
                  <a:cubicBezTo>
                    <a:pt x="1039" y="316"/>
                    <a:pt x="1039" y="316"/>
                    <a:pt x="1039" y="316"/>
                  </a:cubicBezTo>
                  <a:cubicBezTo>
                    <a:pt x="1046" y="326"/>
                    <a:pt x="1046" y="326"/>
                    <a:pt x="1046" y="326"/>
                  </a:cubicBezTo>
                  <a:cubicBezTo>
                    <a:pt x="1073" y="314"/>
                    <a:pt x="1073" y="314"/>
                    <a:pt x="1073" y="314"/>
                  </a:cubicBezTo>
                  <a:cubicBezTo>
                    <a:pt x="1062" y="332"/>
                    <a:pt x="1062" y="332"/>
                    <a:pt x="1062" y="332"/>
                  </a:cubicBezTo>
                  <a:cubicBezTo>
                    <a:pt x="1062" y="332"/>
                    <a:pt x="1041" y="327"/>
                    <a:pt x="1033" y="334"/>
                  </a:cubicBezTo>
                  <a:cubicBezTo>
                    <a:pt x="1026" y="341"/>
                    <a:pt x="1032" y="349"/>
                    <a:pt x="1032" y="349"/>
                  </a:cubicBezTo>
                  <a:close/>
                  <a:moveTo>
                    <a:pt x="3856" y="331"/>
                  </a:moveTo>
                  <a:cubicBezTo>
                    <a:pt x="3904" y="325"/>
                    <a:pt x="3904" y="325"/>
                    <a:pt x="3904" y="325"/>
                  </a:cubicBezTo>
                  <a:cubicBezTo>
                    <a:pt x="3976" y="335"/>
                    <a:pt x="3976" y="335"/>
                    <a:pt x="3976" y="335"/>
                  </a:cubicBezTo>
                  <a:cubicBezTo>
                    <a:pt x="3976" y="335"/>
                    <a:pt x="3954" y="311"/>
                    <a:pt x="3938" y="307"/>
                  </a:cubicBezTo>
                  <a:cubicBezTo>
                    <a:pt x="3922" y="303"/>
                    <a:pt x="3866" y="311"/>
                    <a:pt x="3866" y="311"/>
                  </a:cubicBezTo>
                  <a:lnTo>
                    <a:pt x="3856" y="331"/>
                  </a:lnTo>
                  <a:close/>
                  <a:moveTo>
                    <a:pt x="3858" y="253"/>
                  </a:moveTo>
                  <a:cubicBezTo>
                    <a:pt x="3896" y="257"/>
                    <a:pt x="3896" y="257"/>
                    <a:pt x="3896" y="257"/>
                  </a:cubicBezTo>
                  <a:cubicBezTo>
                    <a:pt x="3906" y="247"/>
                    <a:pt x="3904" y="235"/>
                    <a:pt x="3886" y="235"/>
                  </a:cubicBezTo>
                  <a:cubicBezTo>
                    <a:pt x="3868" y="235"/>
                    <a:pt x="3808" y="221"/>
                    <a:pt x="3816" y="233"/>
                  </a:cubicBezTo>
                  <a:cubicBezTo>
                    <a:pt x="3824" y="245"/>
                    <a:pt x="3858" y="253"/>
                    <a:pt x="3858" y="253"/>
                  </a:cubicBezTo>
                  <a:close/>
                  <a:moveTo>
                    <a:pt x="3818" y="289"/>
                  </a:moveTo>
                  <a:cubicBezTo>
                    <a:pt x="3792" y="315"/>
                    <a:pt x="3848" y="313"/>
                    <a:pt x="3856" y="303"/>
                  </a:cubicBezTo>
                  <a:cubicBezTo>
                    <a:pt x="3864" y="293"/>
                    <a:pt x="3825" y="282"/>
                    <a:pt x="3818" y="289"/>
                  </a:cubicBezTo>
                  <a:close/>
                  <a:moveTo>
                    <a:pt x="2050" y="65"/>
                  </a:moveTo>
                  <a:cubicBezTo>
                    <a:pt x="2050" y="65"/>
                    <a:pt x="2106" y="69"/>
                    <a:pt x="2118" y="65"/>
                  </a:cubicBezTo>
                  <a:cubicBezTo>
                    <a:pt x="2130" y="61"/>
                    <a:pt x="2172" y="65"/>
                    <a:pt x="2164" y="49"/>
                  </a:cubicBezTo>
                  <a:cubicBezTo>
                    <a:pt x="2156" y="33"/>
                    <a:pt x="2082" y="11"/>
                    <a:pt x="2082" y="11"/>
                  </a:cubicBezTo>
                  <a:cubicBezTo>
                    <a:pt x="2082" y="11"/>
                    <a:pt x="2026" y="1"/>
                    <a:pt x="2024" y="21"/>
                  </a:cubicBezTo>
                  <a:cubicBezTo>
                    <a:pt x="2022" y="41"/>
                    <a:pt x="2050" y="65"/>
                    <a:pt x="2050" y="65"/>
                  </a:cubicBezTo>
                  <a:close/>
                  <a:moveTo>
                    <a:pt x="4094" y="273"/>
                  </a:moveTo>
                  <a:cubicBezTo>
                    <a:pt x="4122" y="259"/>
                    <a:pt x="4026" y="259"/>
                    <a:pt x="4026" y="259"/>
                  </a:cubicBezTo>
                  <a:cubicBezTo>
                    <a:pt x="4026" y="259"/>
                    <a:pt x="4006" y="241"/>
                    <a:pt x="3998" y="241"/>
                  </a:cubicBezTo>
                  <a:cubicBezTo>
                    <a:pt x="3990" y="241"/>
                    <a:pt x="3966" y="245"/>
                    <a:pt x="3966" y="245"/>
                  </a:cubicBezTo>
                  <a:cubicBezTo>
                    <a:pt x="3942" y="243"/>
                    <a:pt x="3942" y="243"/>
                    <a:pt x="3942" y="243"/>
                  </a:cubicBezTo>
                  <a:cubicBezTo>
                    <a:pt x="3966" y="259"/>
                    <a:pt x="3966" y="259"/>
                    <a:pt x="3966" y="259"/>
                  </a:cubicBezTo>
                  <a:cubicBezTo>
                    <a:pt x="3966" y="259"/>
                    <a:pt x="4066" y="287"/>
                    <a:pt x="4094" y="273"/>
                  </a:cubicBezTo>
                  <a:close/>
                  <a:moveTo>
                    <a:pt x="5070" y="495"/>
                  </a:moveTo>
                  <a:cubicBezTo>
                    <a:pt x="5078" y="485"/>
                    <a:pt x="5004" y="475"/>
                    <a:pt x="5004" y="475"/>
                  </a:cubicBezTo>
                  <a:cubicBezTo>
                    <a:pt x="5004" y="483"/>
                    <a:pt x="5062" y="505"/>
                    <a:pt x="5070" y="495"/>
                  </a:cubicBezTo>
                  <a:close/>
                  <a:moveTo>
                    <a:pt x="2112" y="81"/>
                  </a:moveTo>
                  <a:cubicBezTo>
                    <a:pt x="2112" y="89"/>
                    <a:pt x="2178" y="95"/>
                    <a:pt x="2178" y="95"/>
                  </a:cubicBezTo>
                  <a:cubicBezTo>
                    <a:pt x="2212" y="91"/>
                    <a:pt x="2212" y="91"/>
                    <a:pt x="2212" y="91"/>
                  </a:cubicBezTo>
                  <a:cubicBezTo>
                    <a:pt x="2250" y="105"/>
                    <a:pt x="2250" y="105"/>
                    <a:pt x="2250" y="105"/>
                  </a:cubicBezTo>
                  <a:cubicBezTo>
                    <a:pt x="2292" y="103"/>
                    <a:pt x="2292" y="103"/>
                    <a:pt x="2292" y="103"/>
                  </a:cubicBezTo>
                  <a:cubicBezTo>
                    <a:pt x="2286" y="85"/>
                    <a:pt x="2268" y="59"/>
                    <a:pt x="2250" y="61"/>
                  </a:cubicBezTo>
                  <a:cubicBezTo>
                    <a:pt x="2232" y="63"/>
                    <a:pt x="2214" y="75"/>
                    <a:pt x="2214" y="75"/>
                  </a:cubicBezTo>
                  <a:cubicBezTo>
                    <a:pt x="2200" y="59"/>
                    <a:pt x="2200" y="59"/>
                    <a:pt x="2200" y="59"/>
                  </a:cubicBezTo>
                  <a:cubicBezTo>
                    <a:pt x="2200" y="59"/>
                    <a:pt x="2112" y="73"/>
                    <a:pt x="2112" y="81"/>
                  </a:cubicBezTo>
                  <a:close/>
                  <a:moveTo>
                    <a:pt x="2392" y="133"/>
                  </a:moveTo>
                  <a:cubicBezTo>
                    <a:pt x="2498" y="127"/>
                    <a:pt x="2498" y="127"/>
                    <a:pt x="2498" y="127"/>
                  </a:cubicBezTo>
                  <a:cubicBezTo>
                    <a:pt x="2470" y="111"/>
                    <a:pt x="2470" y="111"/>
                    <a:pt x="2470" y="111"/>
                  </a:cubicBezTo>
                  <a:cubicBezTo>
                    <a:pt x="2470" y="111"/>
                    <a:pt x="2432" y="91"/>
                    <a:pt x="2422" y="91"/>
                  </a:cubicBezTo>
                  <a:cubicBezTo>
                    <a:pt x="2412" y="91"/>
                    <a:pt x="2394" y="103"/>
                    <a:pt x="2394" y="103"/>
                  </a:cubicBezTo>
                  <a:cubicBezTo>
                    <a:pt x="2394" y="103"/>
                    <a:pt x="2388" y="75"/>
                    <a:pt x="2366" y="75"/>
                  </a:cubicBezTo>
                  <a:cubicBezTo>
                    <a:pt x="2344" y="75"/>
                    <a:pt x="2332" y="141"/>
                    <a:pt x="2332" y="141"/>
                  </a:cubicBezTo>
                  <a:cubicBezTo>
                    <a:pt x="2348" y="149"/>
                    <a:pt x="2348" y="149"/>
                    <a:pt x="2348" y="149"/>
                  </a:cubicBezTo>
                  <a:cubicBezTo>
                    <a:pt x="2366" y="145"/>
                    <a:pt x="2392" y="133"/>
                    <a:pt x="2392" y="133"/>
                  </a:cubicBezTo>
                  <a:close/>
                  <a:moveTo>
                    <a:pt x="3752" y="279"/>
                  </a:moveTo>
                  <a:cubicBezTo>
                    <a:pt x="3762" y="261"/>
                    <a:pt x="3762" y="261"/>
                    <a:pt x="3762" y="261"/>
                  </a:cubicBezTo>
                  <a:cubicBezTo>
                    <a:pt x="3762" y="261"/>
                    <a:pt x="3788" y="261"/>
                    <a:pt x="3798" y="261"/>
                  </a:cubicBezTo>
                  <a:cubicBezTo>
                    <a:pt x="3808" y="261"/>
                    <a:pt x="3838" y="259"/>
                    <a:pt x="3838" y="259"/>
                  </a:cubicBezTo>
                  <a:cubicBezTo>
                    <a:pt x="3796" y="239"/>
                    <a:pt x="3796" y="239"/>
                    <a:pt x="3796" y="239"/>
                  </a:cubicBezTo>
                  <a:cubicBezTo>
                    <a:pt x="3804" y="225"/>
                    <a:pt x="3804" y="225"/>
                    <a:pt x="3804" y="225"/>
                  </a:cubicBezTo>
                  <a:cubicBezTo>
                    <a:pt x="3744" y="213"/>
                    <a:pt x="3744" y="213"/>
                    <a:pt x="3744" y="213"/>
                  </a:cubicBezTo>
                  <a:cubicBezTo>
                    <a:pt x="3754" y="231"/>
                    <a:pt x="3754" y="231"/>
                    <a:pt x="3754" y="231"/>
                  </a:cubicBezTo>
                  <a:cubicBezTo>
                    <a:pt x="3754" y="231"/>
                    <a:pt x="3632" y="191"/>
                    <a:pt x="3634" y="221"/>
                  </a:cubicBezTo>
                  <a:cubicBezTo>
                    <a:pt x="3636" y="251"/>
                    <a:pt x="3752" y="279"/>
                    <a:pt x="3752" y="279"/>
                  </a:cubicBezTo>
                  <a:close/>
                  <a:moveTo>
                    <a:pt x="2882" y="289"/>
                  </a:moveTo>
                  <a:cubicBezTo>
                    <a:pt x="2914" y="295"/>
                    <a:pt x="2914" y="295"/>
                    <a:pt x="2914" y="295"/>
                  </a:cubicBezTo>
                  <a:cubicBezTo>
                    <a:pt x="2934" y="297"/>
                    <a:pt x="2954" y="285"/>
                    <a:pt x="2924" y="279"/>
                  </a:cubicBezTo>
                  <a:cubicBezTo>
                    <a:pt x="2894" y="273"/>
                    <a:pt x="2882" y="289"/>
                    <a:pt x="2882" y="289"/>
                  </a:cubicBezTo>
                  <a:close/>
                  <a:moveTo>
                    <a:pt x="3618" y="235"/>
                  </a:moveTo>
                  <a:cubicBezTo>
                    <a:pt x="3582" y="223"/>
                    <a:pt x="3582" y="223"/>
                    <a:pt x="3582" y="223"/>
                  </a:cubicBezTo>
                  <a:cubicBezTo>
                    <a:pt x="3598" y="245"/>
                    <a:pt x="3598" y="245"/>
                    <a:pt x="3598" y="245"/>
                  </a:cubicBezTo>
                  <a:lnTo>
                    <a:pt x="3618" y="235"/>
                  </a:lnTo>
                  <a:close/>
                  <a:moveTo>
                    <a:pt x="5328" y="443"/>
                  </a:moveTo>
                  <a:cubicBezTo>
                    <a:pt x="5340" y="439"/>
                    <a:pt x="5358" y="437"/>
                    <a:pt x="5384" y="437"/>
                  </a:cubicBezTo>
                  <a:cubicBezTo>
                    <a:pt x="5410" y="437"/>
                    <a:pt x="5414" y="421"/>
                    <a:pt x="5396" y="419"/>
                  </a:cubicBezTo>
                  <a:cubicBezTo>
                    <a:pt x="5378" y="417"/>
                    <a:pt x="5346" y="405"/>
                    <a:pt x="5334" y="405"/>
                  </a:cubicBezTo>
                  <a:cubicBezTo>
                    <a:pt x="5322" y="405"/>
                    <a:pt x="5294" y="405"/>
                    <a:pt x="5294" y="427"/>
                  </a:cubicBezTo>
                  <a:cubicBezTo>
                    <a:pt x="5294" y="451"/>
                    <a:pt x="5316" y="447"/>
                    <a:pt x="5328" y="443"/>
                  </a:cubicBezTo>
                  <a:close/>
                  <a:moveTo>
                    <a:pt x="111" y="1194"/>
                  </a:moveTo>
                  <a:cubicBezTo>
                    <a:pt x="103" y="1195"/>
                    <a:pt x="79" y="1198"/>
                    <a:pt x="79" y="1198"/>
                  </a:cubicBezTo>
                  <a:cubicBezTo>
                    <a:pt x="77" y="1192"/>
                    <a:pt x="77" y="1192"/>
                    <a:pt x="77" y="1192"/>
                  </a:cubicBezTo>
                  <a:cubicBezTo>
                    <a:pt x="69" y="1193"/>
                    <a:pt x="69" y="1193"/>
                    <a:pt x="69" y="1193"/>
                  </a:cubicBezTo>
                  <a:cubicBezTo>
                    <a:pt x="66" y="1187"/>
                    <a:pt x="66" y="1187"/>
                    <a:pt x="66" y="1187"/>
                  </a:cubicBezTo>
                  <a:cubicBezTo>
                    <a:pt x="61" y="1187"/>
                    <a:pt x="61" y="1187"/>
                    <a:pt x="61" y="1187"/>
                  </a:cubicBezTo>
                  <a:cubicBezTo>
                    <a:pt x="61" y="1192"/>
                    <a:pt x="53" y="1201"/>
                    <a:pt x="53" y="1201"/>
                  </a:cubicBezTo>
                  <a:cubicBezTo>
                    <a:pt x="53" y="1201"/>
                    <a:pt x="12" y="1196"/>
                    <a:pt x="6" y="1203"/>
                  </a:cubicBezTo>
                  <a:cubicBezTo>
                    <a:pt x="0" y="1210"/>
                    <a:pt x="13" y="1219"/>
                    <a:pt x="13" y="1219"/>
                  </a:cubicBezTo>
                  <a:cubicBezTo>
                    <a:pt x="8" y="1228"/>
                    <a:pt x="8" y="1228"/>
                    <a:pt x="8" y="1228"/>
                  </a:cubicBezTo>
                  <a:cubicBezTo>
                    <a:pt x="8" y="1227"/>
                    <a:pt x="8" y="1227"/>
                    <a:pt x="8" y="1227"/>
                  </a:cubicBezTo>
                  <a:cubicBezTo>
                    <a:pt x="13" y="1232"/>
                    <a:pt x="13" y="1232"/>
                    <a:pt x="13" y="1232"/>
                  </a:cubicBezTo>
                  <a:cubicBezTo>
                    <a:pt x="13" y="1232"/>
                    <a:pt x="25" y="1227"/>
                    <a:pt x="34" y="1229"/>
                  </a:cubicBezTo>
                  <a:cubicBezTo>
                    <a:pt x="43" y="1231"/>
                    <a:pt x="51" y="1236"/>
                    <a:pt x="51" y="1236"/>
                  </a:cubicBezTo>
                  <a:cubicBezTo>
                    <a:pt x="51" y="1236"/>
                    <a:pt x="82" y="1234"/>
                    <a:pt x="90" y="1235"/>
                  </a:cubicBezTo>
                  <a:cubicBezTo>
                    <a:pt x="98" y="1236"/>
                    <a:pt x="113" y="1236"/>
                    <a:pt x="113" y="1236"/>
                  </a:cubicBezTo>
                  <a:cubicBezTo>
                    <a:pt x="113" y="1236"/>
                    <a:pt x="109" y="1230"/>
                    <a:pt x="117" y="1231"/>
                  </a:cubicBezTo>
                  <a:cubicBezTo>
                    <a:pt x="112" y="1221"/>
                    <a:pt x="112" y="1221"/>
                    <a:pt x="112" y="1221"/>
                  </a:cubicBezTo>
                  <a:cubicBezTo>
                    <a:pt x="112" y="1221"/>
                    <a:pt x="120" y="1214"/>
                    <a:pt x="121" y="1209"/>
                  </a:cubicBezTo>
                  <a:cubicBezTo>
                    <a:pt x="122" y="1204"/>
                    <a:pt x="119" y="1193"/>
                    <a:pt x="111" y="1194"/>
                  </a:cubicBezTo>
                  <a:close/>
                  <a:moveTo>
                    <a:pt x="698" y="59"/>
                  </a:moveTo>
                  <a:cubicBezTo>
                    <a:pt x="712" y="49"/>
                    <a:pt x="712" y="49"/>
                    <a:pt x="712" y="49"/>
                  </a:cubicBezTo>
                  <a:cubicBezTo>
                    <a:pt x="712" y="49"/>
                    <a:pt x="677" y="42"/>
                    <a:pt x="698" y="59"/>
                  </a:cubicBezTo>
                  <a:close/>
                  <a:moveTo>
                    <a:pt x="664" y="48"/>
                  </a:moveTo>
                  <a:cubicBezTo>
                    <a:pt x="720" y="35"/>
                    <a:pt x="720" y="35"/>
                    <a:pt x="720" y="35"/>
                  </a:cubicBezTo>
                  <a:cubicBezTo>
                    <a:pt x="702" y="30"/>
                    <a:pt x="702" y="30"/>
                    <a:pt x="702" y="30"/>
                  </a:cubicBezTo>
                  <a:cubicBezTo>
                    <a:pt x="668" y="38"/>
                    <a:pt x="668" y="38"/>
                    <a:pt x="668" y="38"/>
                  </a:cubicBezTo>
                  <a:cubicBezTo>
                    <a:pt x="634" y="37"/>
                    <a:pt x="634" y="37"/>
                    <a:pt x="634" y="37"/>
                  </a:cubicBezTo>
                  <a:cubicBezTo>
                    <a:pt x="650" y="44"/>
                    <a:pt x="650" y="44"/>
                    <a:pt x="650" y="44"/>
                  </a:cubicBezTo>
                  <a:lnTo>
                    <a:pt x="664" y="48"/>
                  </a:lnTo>
                  <a:close/>
                  <a:moveTo>
                    <a:pt x="754" y="61"/>
                  </a:moveTo>
                  <a:cubicBezTo>
                    <a:pt x="757" y="51"/>
                    <a:pt x="757" y="51"/>
                    <a:pt x="757" y="51"/>
                  </a:cubicBezTo>
                  <a:cubicBezTo>
                    <a:pt x="774" y="51"/>
                    <a:pt x="774" y="51"/>
                    <a:pt x="774" y="51"/>
                  </a:cubicBezTo>
                  <a:cubicBezTo>
                    <a:pt x="779" y="45"/>
                    <a:pt x="779" y="45"/>
                    <a:pt x="779" y="45"/>
                  </a:cubicBezTo>
                  <a:cubicBezTo>
                    <a:pt x="779" y="45"/>
                    <a:pt x="806" y="48"/>
                    <a:pt x="816" y="42"/>
                  </a:cubicBezTo>
                  <a:cubicBezTo>
                    <a:pt x="826" y="37"/>
                    <a:pt x="791" y="37"/>
                    <a:pt x="791" y="37"/>
                  </a:cubicBezTo>
                  <a:cubicBezTo>
                    <a:pt x="791" y="37"/>
                    <a:pt x="791" y="27"/>
                    <a:pt x="774" y="27"/>
                  </a:cubicBezTo>
                  <a:cubicBezTo>
                    <a:pt x="757" y="27"/>
                    <a:pt x="755" y="45"/>
                    <a:pt x="755" y="45"/>
                  </a:cubicBezTo>
                  <a:cubicBezTo>
                    <a:pt x="755" y="45"/>
                    <a:pt x="719" y="51"/>
                    <a:pt x="722" y="56"/>
                  </a:cubicBezTo>
                  <a:cubicBezTo>
                    <a:pt x="724" y="62"/>
                    <a:pt x="754" y="61"/>
                    <a:pt x="754" y="61"/>
                  </a:cubicBezTo>
                  <a:close/>
                  <a:moveTo>
                    <a:pt x="786" y="53"/>
                  </a:moveTo>
                  <a:cubicBezTo>
                    <a:pt x="776" y="59"/>
                    <a:pt x="776" y="59"/>
                    <a:pt x="776" y="59"/>
                  </a:cubicBezTo>
                  <a:cubicBezTo>
                    <a:pt x="789" y="66"/>
                    <a:pt x="789" y="66"/>
                    <a:pt x="789" y="66"/>
                  </a:cubicBezTo>
                  <a:cubicBezTo>
                    <a:pt x="802" y="72"/>
                    <a:pt x="802" y="72"/>
                    <a:pt x="802" y="72"/>
                  </a:cubicBezTo>
                  <a:cubicBezTo>
                    <a:pt x="834" y="69"/>
                    <a:pt x="834" y="69"/>
                    <a:pt x="834" y="69"/>
                  </a:cubicBezTo>
                  <a:cubicBezTo>
                    <a:pt x="833" y="61"/>
                    <a:pt x="833" y="61"/>
                    <a:pt x="833" y="61"/>
                  </a:cubicBezTo>
                  <a:cubicBezTo>
                    <a:pt x="810" y="61"/>
                    <a:pt x="810" y="61"/>
                    <a:pt x="810" y="61"/>
                  </a:cubicBezTo>
                  <a:lnTo>
                    <a:pt x="786" y="53"/>
                  </a:lnTo>
                  <a:close/>
                  <a:moveTo>
                    <a:pt x="5213" y="1622"/>
                  </a:moveTo>
                  <a:cubicBezTo>
                    <a:pt x="5191" y="1599"/>
                    <a:pt x="5191" y="1599"/>
                    <a:pt x="5191" y="1599"/>
                  </a:cubicBezTo>
                  <a:cubicBezTo>
                    <a:pt x="5191" y="1599"/>
                    <a:pt x="5169" y="1593"/>
                    <a:pt x="5156" y="1575"/>
                  </a:cubicBezTo>
                  <a:cubicBezTo>
                    <a:pt x="5144" y="1557"/>
                    <a:pt x="5136" y="1516"/>
                    <a:pt x="5136" y="1516"/>
                  </a:cubicBezTo>
                  <a:cubicBezTo>
                    <a:pt x="5136" y="1516"/>
                    <a:pt x="5112" y="1502"/>
                    <a:pt x="5125" y="1495"/>
                  </a:cubicBezTo>
                  <a:cubicBezTo>
                    <a:pt x="5137" y="1488"/>
                    <a:pt x="5213" y="1526"/>
                    <a:pt x="5213" y="1526"/>
                  </a:cubicBezTo>
                  <a:cubicBezTo>
                    <a:pt x="5163" y="1489"/>
                    <a:pt x="5163" y="1489"/>
                    <a:pt x="5163" y="1489"/>
                  </a:cubicBezTo>
                  <a:cubicBezTo>
                    <a:pt x="5163" y="1489"/>
                    <a:pt x="5144" y="1459"/>
                    <a:pt x="5134" y="1452"/>
                  </a:cubicBezTo>
                  <a:cubicBezTo>
                    <a:pt x="5125" y="1445"/>
                    <a:pt x="5109" y="1435"/>
                    <a:pt x="5109" y="1435"/>
                  </a:cubicBezTo>
                  <a:cubicBezTo>
                    <a:pt x="5057" y="1379"/>
                    <a:pt x="5057" y="1379"/>
                    <a:pt x="5057" y="1379"/>
                  </a:cubicBezTo>
                  <a:cubicBezTo>
                    <a:pt x="5040" y="1380"/>
                    <a:pt x="5040" y="1380"/>
                    <a:pt x="5040" y="1380"/>
                  </a:cubicBezTo>
                  <a:cubicBezTo>
                    <a:pt x="5033" y="1361"/>
                    <a:pt x="5033" y="1361"/>
                    <a:pt x="5033" y="1361"/>
                  </a:cubicBezTo>
                  <a:cubicBezTo>
                    <a:pt x="5033" y="1361"/>
                    <a:pt x="5023" y="1363"/>
                    <a:pt x="5011" y="1351"/>
                  </a:cubicBezTo>
                  <a:cubicBezTo>
                    <a:pt x="4999" y="1338"/>
                    <a:pt x="5003" y="1322"/>
                    <a:pt x="5003" y="1322"/>
                  </a:cubicBezTo>
                  <a:cubicBezTo>
                    <a:pt x="4983" y="1297"/>
                    <a:pt x="4983" y="1297"/>
                    <a:pt x="4983" y="1297"/>
                  </a:cubicBezTo>
                  <a:cubicBezTo>
                    <a:pt x="4969" y="1298"/>
                    <a:pt x="4969" y="1298"/>
                    <a:pt x="4969" y="1298"/>
                  </a:cubicBezTo>
                  <a:cubicBezTo>
                    <a:pt x="4960" y="1279"/>
                    <a:pt x="4960" y="1279"/>
                    <a:pt x="4960" y="1279"/>
                  </a:cubicBezTo>
                  <a:cubicBezTo>
                    <a:pt x="4933" y="1259"/>
                    <a:pt x="4933" y="1259"/>
                    <a:pt x="4933" y="1259"/>
                  </a:cubicBezTo>
                  <a:cubicBezTo>
                    <a:pt x="4925" y="1243"/>
                    <a:pt x="4925" y="1243"/>
                    <a:pt x="4925" y="1243"/>
                  </a:cubicBezTo>
                  <a:cubicBezTo>
                    <a:pt x="4925" y="1243"/>
                    <a:pt x="4907" y="1230"/>
                    <a:pt x="4900" y="1235"/>
                  </a:cubicBezTo>
                  <a:cubicBezTo>
                    <a:pt x="4893" y="1239"/>
                    <a:pt x="4939" y="1272"/>
                    <a:pt x="4933" y="1275"/>
                  </a:cubicBezTo>
                  <a:cubicBezTo>
                    <a:pt x="4928" y="1277"/>
                    <a:pt x="4915" y="1262"/>
                    <a:pt x="4913" y="1277"/>
                  </a:cubicBezTo>
                  <a:cubicBezTo>
                    <a:pt x="4910" y="1293"/>
                    <a:pt x="4939" y="1322"/>
                    <a:pt x="4939" y="1322"/>
                  </a:cubicBezTo>
                  <a:cubicBezTo>
                    <a:pt x="4939" y="1322"/>
                    <a:pt x="4946" y="1340"/>
                    <a:pt x="4953" y="1347"/>
                  </a:cubicBezTo>
                  <a:cubicBezTo>
                    <a:pt x="4960" y="1354"/>
                    <a:pt x="5007" y="1384"/>
                    <a:pt x="5018" y="1398"/>
                  </a:cubicBezTo>
                  <a:cubicBezTo>
                    <a:pt x="5029" y="1412"/>
                    <a:pt x="5028" y="1434"/>
                    <a:pt x="5041" y="1445"/>
                  </a:cubicBezTo>
                  <a:cubicBezTo>
                    <a:pt x="5055" y="1456"/>
                    <a:pt x="5087" y="1512"/>
                    <a:pt x="5087" y="1512"/>
                  </a:cubicBezTo>
                  <a:cubicBezTo>
                    <a:pt x="5087" y="1512"/>
                    <a:pt x="5093" y="1535"/>
                    <a:pt x="5100" y="1535"/>
                  </a:cubicBezTo>
                  <a:cubicBezTo>
                    <a:pt x="5107" y="1535"/>
                    <a:pt x="5120" y="1545"/>
                    <a:pt x="5127" y="1555"/>
                  </a:cubicBezTo>
                  <a:cubicBezTo>
                    <a:pt x="5134" y="1564"/>
                    <a:pt x="5134" y="1584"/>
                    <a:pt x="5134" y="1584"/>
                  </a:cubicBezTo>
                  <a:cubicBezTo>
                    <a:pt x="5162" y="1607"/>
                    <a:pt x="5162" y="1607"/>
                    <a:pt x="5162" y="1607"/>
                  </a:cubicBezTo>
                  <a:cubicBezTo>
                    <a:pt x="5172" y="1643"/>
                    <a:pt x="5172" y="1643"/>
                    <a:pt x="5172" y="1643"/>
                  </a:cubicBezTo>
                  <a:cubicBezTo>
                    <a:pt x="5198" y="1671"/>
                    <a:pt x="5198" y="1671"/>
                    <a:pt x="5198" y="1671"/>
                  </a:cubicBezTo>
                  <a:cubicBezTo>
                    <a:pt x="5198" y="1671"/>
                    <a:pt x="5184" y="1632"/>
                    <a:pt x="5193" y="1629"/>
                  </a:cubicBezTo>
                  <a:cubicBezTo>
                    <a:pt x="5201" y="1627"/>
                    <a:pt x="5205" y="1636"/>
                    <a:pt x="5205" y="1636"/>
                  </a:cubicBezTo>
                  <a:cubicBezTo>
                    <a:pt x="5226" y="1636"/>
                    <a:pt x="5226" y="1636"/>
                    <a:pt x="5226" y="1636"/>
                  </a:cubicBezTo>
                  <a:cubicBezTo>
                    <a:pt x="5248" y="1663"/>
                    <a:pt x="5248" y="1663"/>
                    <a:pt x="5248" y="1663"/>
                  </a:cubicBezTo>
                  <a:cubicBezTo>
                    <a:pt x="5249" y="1646"/>
                    <a:pt x="5249" y="1646"/>
                    <a:pt x="5249" y="1646"/>
                  </a:cubicBezTo>
                  <a:cubicBezTo>
                    <a:pt x="5229" y="1621"/>
                    <a:pt x="5229" y="1621"/>
                    <a:pt x="5229" y="1621"/>
                  </a:cubicBezTo>
                  <a:lnTo>
                    <a:pt x="5213" y="1622"/>
                  </a:lnTo>
                  <a:close/>
                  <a:moveTo>
                    <a:pt x="899" y="58"/>
                  </a:moveTo>
                  <a:cubicBezTo>
                    <a:pt x="905" y="46"/>
                    <a:pt x="905" y="46"/>
                    <a:pt x="905" y="46"/>
                  </a:cubicBezTo>
                  <a:cubicBezTo>
                    <a:pt x="876" y="42"/>
                    <a:pt x="876" y="42"/>
                    <a:pt x="876" y="42"/>
                  </a:cubicBezTo>
                  <a:cubicBezTo>
                    <a:pt x="861" y="52"/>
                    <a:pt x="861" y="52"/>
                    <a:pt x="861" y="52"/>
                  </a:cubicBezTo>
                  <a:cubicBezTo>
                    <a:pt x="864" y="61"/>
                    <a:pt x="864" y="61"/>
                    <a:pt x="864" y="61"/>
                  </a:cubicBezTo>
                  <a:lnTo>
                    <a:pt x="899" y="58"/>
                  </a:lnTo>
                  <a:close/>
                  <a:moveTo>
                    <a:pt x="771" y="1607"/>
                  </a:moveTo>
                  <a:cubicBezTo>
                    <a:pt x="771" y="1607"/>
                    <a:pt x="773" y="1608"/>
                    <a:pt x="774" y="1608"/>
                  </a:cubicBezTo>
                  <a:cubicBezTo>
                    <a:pt x="773" y="1608"/>
                    <a:pt x="771" y="1607"/>
                    <a:pt x="771" y="1607"/>
                  </a:cubicBezTo>
                  <a:close/>
                  <a:moveTo>
                    <a:pt x="771" y="1607"/>
                  </a:moveTo>
                  <a:cubicBezTo>
                    <a:pt x="770" y="1607"/>
                    <a:pt x="770" y="1607"/>
                    <a:pt x="770" y="1607"/>
                  </a:cubicBezTo>
                  <a:cubicBezTo>
                    <a:pt x="770" y="1607"/>
                    <a:pt x="770" y="1607"/>
                    <a:pt x="771" y="1607"/>
                  </a:cubicBezTo>
                  <a:close/>
                  <a:moveTo>
                    <a:pt x="6034" y="664"/>
                  </a:moveTo>
                  <a:cubicBezTo>
                    <a:pt x="6023" y="650"/>
                    <a:pt x="5993" y="645"/>
                    <a:pt x="5993" y="645"/>
                  </a:cubicBezTo>
                  <a:cubicBezTo>
                    <a:pt x="5962" y="631"/>
                    <a:pt x="5962" y="631"/>
                    <a:pt x="5962" y="631"/>
                  </a:cubicBezTo>
                  <a:cubicBezTo>
                    <a:pt x="5935" y="632"/>
                    <a:pt x="5935" y="632"/>
                    <a:pt x="5935" y="632"/>
                  </a:cubicBezTo>
                  <a:cubicBezTo>
                    <a:pt x="5915" y="619"/>
                    <a:pt x="5915" y="619"/>
                    <a:pt x="5915" y="619"/>
                  </a:cubicBezTo>
                  <a:cubicBezTo>
                    <a:pt x="5854" y="615"/>
                    <a:pt x="5854" y="615"/>
                    <a:pt x="5854" y="615"/>
                  </a:cubicBezTo>
                  <a:cubicBezTo>
                    <a:pt x="5829" y="603"/>
                    <a:pt x="5829" y="603"/>
                    <a:pt x="5829" y="603"/>
                  </a:cubicBezTo>
                  <a:cubicBezTo>
                    <a:pt x="5805" y="605"/>
                    <a:pt x="5805" y="605"/>
                    <a:pt x="5805" y="605"/>
                  </a:cubicBezTo>
                  <a:cubicBezTo>
                    <a:pt x="5838" y="630"/>
                    <a:pt x="5838" y="630"/>
                    <a:pt x="5838" y="630"/>
                  </a:cubicBezTo>
                  <a:cubicBezTo>
                    <a:pt x="5874" y="646"/>
                    <a:pt x="5874" y="646"/>
                    <a:pt x="5874" y="646"/>
                  </a:cubicBezTo>
                  <a:cubicBezTo>
                    <a:pt x="5874" y="646"/>
                    <a:pt x="5834" y="652"/>
                    <a:pt x="5822" y="642"/>
                  </a:cubicBezTo>
                  <a:cubicBezTo>
                    <a:pt x="5810" y="632"/>
                    <a:pt x="5809" y="610"/>
                    <a:pt x="5756" y="592"/>
                  </a:cubicBezTo>
                  <a:cubicBezTo>
                    <a:pt x="5703" y="574"/>
                    <a:pt x="5687" y="567"/>
                    <a:pt x="5633" y="558"/>
                  </a:cubicBezTo>
                  <a:cubicBezTo>
                    <a:pt x="5579" y="549"/>
                    <a:pt x="5466" y="523"/>
                    <a:pt x="5412" y="510"/>
                  </a:cubicBezTo>
                  <a:cubicBezTo>
                    <a:pt x="5358" y="497"/>
                    <a:pt x="5297" y="488"/>
                    <a:pt x="5297" y="488"/>
                  </a:cubicBezTo>
                  <a:cubicBezTo>
                    <a:pt x="5175" y="490"/>
                    <a:pt x="5175" y="490"/>
                    <a:pt x="5175" y="490"/>
                  </a:cubicBezTo>
                  <a:cubicBezTo>
                    <a:pt x="5166" y="478"/>
                    <a:pt x="5166" y="478"/>
                    <a:pt x="5166" y="478"/>
                  </a:cubicBezTo>
                  <a:cubicBezTo>
                    <a:pt x="5135" y="480"/>
                    <a:pt x="5135" y="480"/>
                    <a:pt x="5135" y="480"/>
                  </a:cubicBezTo>
                  <a:cubicBezTo>
                    <a:pt x="5124" y="472"/>
                    <a:pt x="5124" y="472"/>
                    <a:pt x="5124" y="472"/>
                  </a:cubicBezTo>
                  <a:cubicBezTo>
                    <a:pt x="5088" y="471"/>
                    <a:pt x="5088" y="471"/>
                    <a:pt x="5088" y="471"/>
                  </a:cubicBezTo>
                  <a:cubicBezTo>
                    <a:pt x="5105" y="483"/>
                    <a:pt x="5105" y="483"/>
                    <a:pt x="5105" y="483"/>
                  </a:cubicBezTo>
                  <a:cubicBezTo>
                    <a:pt x="5100" y="497"/>
                    <a:pt x="5100" y="497"/>
                    <a:pt x="5100" y="497"/>
                  </a:cubicBezTo>
                  <a:cubicBezTo>
                    <a:pt x="5100" y="497"/>
                    <a:pt x="5199" y="520"/>
                    <a:pt x="5170" y="533"/>
                  </a:cubicBezTo>
                  <a:cubicBezTo>
                    <a:pt x="5141" y="546"/>
                    <a:pt x="5123" y="529"/>
                    <a:pt x="5123" y="529"/>
                  </a:cubicBezTo>
                  <a:cubicBezTo>
                    <a:pt x="5106" y="515"/>
                    <a:pt x="5106" y="515"/>
                    <a:pt x="5106" y="515"/>
                  </a:cubicBezTo>
                  <a:cubicBezTo>
                    <a:pt x="5061" y="515"/>
                    <a:pt x="5061" y="515"/>
                    <a:pt x="5061" y="515"/>
                  </a:cubicBezTo>
                  <a:cubicBezTo>
                    <a:pt x="5024" y="492"/>
                    <a:pt x="5024" y="492"/>
                    <a:pt x="5024" y="492"/>
                  </a:cubicBezTo>
                  <a:cubicBezTo>
                    <a:pt x="5024" y="492"/>
                    <a:pt x="5006" y="496"/>
                    <a:pt x="5002" y="499"/>
                  </a:cubicBezTo>
                  <a:cubicBezTo>
                    <a:pt x="4998" y="502"/>
                    <a:pt x="4966" y="501"/>
                    <a:pt x="4966" y="501"/>
                  </a:cubicBezTo>
                  <a:cubicBezTo>
                    <a:pt x="4962" y="493"/>
                    <a:pt x="4962" y="493"/>
                    <a:pt x="4962" y="493"/>
                  </a:cubicBezTo>
                  <a:cubicBezTo>
                    <a:pt x="4900" y="496"/>
                    <a:pt x="4900" y="496"/>
                    <a:pt x="4900" y="496"/>
                  </a:cubicBezTo>
                  <a:cubicBezTo>
                    <a:pt x="4884" y="484"/>
                    <a:pt x="4884" y="484"/>
                    <a:pt x="4884" y="484"/>
                  </a:cubicBezTo>
                  <a:cubicBezTo>
                    <a:pt x="4879" y="490"/>
                    <a:pt x="4879" y="490"/>
                    <a:pt x="4879" y="490"/>
                  </a:cubicBezTo>
                  <a:cubicBezTo>
                    <a:pt x="4879" y="490"/>
                    <a:pt x="4801" y="483"/>
                    <a:pt x="4806" y="493"/>
                  </a:cubicBezTo>
                  <a:cubicBezTo>
                    <a:pt x="4811" y="503"/>
                    <a:pt x="4840" y="527"/>
                    <a:pt x="4840" y="527"/>
                  </a:cubicBezTo>
                  <a:cubicBezTo>
                    <a:pt x="4840" y="527"/>
                    <a:pt x="4804" y="506"/>
                    <a:pt x="4799" y="501"/>
                  </a:cubicBezTo>
                  <a:cubicBezTo>
                    <a:pt x="4794" y="496"/>
                    <a:pt x="4728" y="488"/>
                    <a:pt x="4728" y="488"/>
                  </a:cubicBezTo>
                  <a:cubicBezTo>
                    <a:pt x="4728" y="488"/>
                    <a:pt x="4718" y="470"/>
                    <a:pt x="4693" y="457"/>
                  </a:cubicBezTo>
                  <a:cubicBezTo>
                    <a:pt x="4668" y="444"/>
                    <a:pt x="4630" y="438"/>
                    <a:pt x="4613" y="437"/>
                  </a:cubicBezTo>
                  <a:cubicBezTo>
                    <a:pt x="4596" y="436"/>
                    <a:pt x="4561" y="432"/>
                    <a:pt x="4561" y="432"/>
                  </a:cubicBezTo>
                  <a:cubicBezTo>
                    <a:pt x="4527" y="425"/>
                    <a:pt x="4527" y="425"/>
                    <a:pt x="4527" y="425"/>
                  </a:cubicBezTo>
                  <a:cubicBezTo>
                    <a:pt x="4518" y="429"/>
                    <a:pt x="4518" y="429"/>
                    <a:pt x="4518" y="429"/>
                  </a:cubicBezTo>
                  <a:cubicBezTo>
                    <a:pt x="4478" y="427"/>
                    <a:pt x="4478" y="427"/>
                    <a:pt x="4478" y="427"/>
                  </a:cubicBezTo>
                  <a:cubicBezTo>
                    <a:pt x="4478" y="427"/>
                    <a:pt x="4473" y="447"/>
                    <a:pt x="4451" y="444"/>
                  </a:cubicBezTo>
                  <a:cubicBezTo>
                    <a:pt x="4429" y="441"/>
                    <a:pt x="4400" y="439"/>
                    <a:pt x="4400" y="439"/>
                  </a:cubicBezTo>
                  <a:cubicBezTo>
                    <a:pt x="4400" y="439"/>
                    <a:pt x="4370" y="419"/>
                    <a:pt x="4353" y="418"/>
                  </a:cubicBezTo>
                  <a:cubicBezTo>
                    <a:pt x="4336" y="417"/>
                    <a:pt x="4327" y="420"/>
                    <a:pt x="4327" y="420"/>
                  </a:cubicBezTo>
                  <a:cubicBezTo>
                    <a:pt x="4321" y="409"/>
                    <a:pt x="4321" y="409"/>
                    <a:pt x="4321" y="409"/>
                  </a:cubicBezTo>
                  <a:cubicBezTo>
                    <a:pt x="4296" y="407"/>
                    <a:pt x="4296" y="407"/>
                    <a:pt x="4296" y="407"/>
                  </a:cubicBezTo>
                  <a:cubicBezTo>
                    <a:pt x="4253" y="403"/>
                    <a:pt x="4253" y="403"/>
                    <a:pt x="4253" y="403"/>
                  </a:cubicBezTo>
                  <a:cubicBezTo>
                    <a:pt x="4277" y="395"/>
                    <a:pt x="4277" y="395"/>
                    <a:pt x="4277" y="395"/>
                  </a:cubicBezTo>
                  <a:cubicBezTo>
                    <a:pt x="4251" y="382"/>
                    <a:pt x="4251" y="382"/>
                    <a:pt x="4251" y="382"/>
                  </a:cubicBezTo>
                  <a:cubicBezTo>
                    <a:pt x="4251" y="382"/>
                    <a:pt x="4158" y="369"/>
                    <a:pt x="4155" y="375"/>
                  </a:cubicBezTo>
                  <a:cubicBezTo>
                    <a:pt x="4152" y="381"/>
                    <a:pt x="4164" y="400"/>
                    <a:pt x="4149" y="401"/>
                  </a:cubicBezTo>
                  <a:cubicBezTo>
                    <a:pt x="4134" y="402"/>
                    <a:pt x="4114" y="398"/>
                    <a:pt x="4114" y="398"/>
                  </a:cubicBezTo>
                  <a:cubicBezTo>
                    <a:pt x="4126" y="390"/>
                    <a:pt x="4126" y="390"/>
                    <a:pt x="4126" y="390"/>
                  </a:cubicBezTo>
                  <a:cubicBezTo>
                    <a:pt x="4116" y="380"/>
                    <a:pt x="4116" y="380"/>
                    <a:pt x="4116" y="380"/>
                  </a:cubicBezTo>
                  <a:cubicBezTo>
                    <a:pt x="4116" y="380"/>
                    <a:pt x="4110" y="380"/>
                    <a:pt x="4096" y="382"/>
                  </a:cubicBezTo>
                  <a:cubicBezTo>
                    <a:pt x="4082" y="384"/>
                    <a:pt x="4068" y="379"/>
                    <a:pt x="4068" y="379"/>
                  </a:cubicBezTo>
                  <a:cubicBezTo>
                    <a:pt x="4079" y="374"/>
                    <a:pt x="4079" y="374"/>
                    <a:pt x="4079" y="374"/>
                  </a:cubicBezTo>
                  <a:cubicBezTo>
                    <a:pt x="4109" y="371"/>
                    <a:pt x="4109" y="371"/>
                    <a:pt x="4109" y="371"/>
                  </a:cubicBezTo>
                  <a:cubicBezTo>
                    <a:pt x="4147" y="394"/>
                    <a:pt x="4147" y="394"/>
                    <a:pt x="4147" y="394"/>
                  </a:cubicBezTo>
                  <a:cubicBezTo>
                    <a:pt x="4149" y="375"/>
                    <a:pt x="4149" y="375"/>
                    <a:pt x="4149" y="375"/>
                  </a:cubicBezTo>
                  <a:cubicBezTo>
                    <a:pt x="4110" y="362"/>
                    <a:pt x="4110" y="362"/>
                    <a:pt x="4110" y="362"/>
                  </a:cubicBezTo>
                  <a:cubicBezTo>
                    <a:pt x="4037" y="366"/>
                    <a:pt x="4037" y="366"/>
                    <a:pt x="4037" y="366"/>
                  </a:cubicBezTo>
                  <a:cubicBezTo>
                    <a:pt x="4036" y="357"/>
                    <a:pt x="4036" y="357"/>
                    <a:pt x="4036" y="357"/>
                  </a:cubicBezTo>
                  <a:cubicBezTo>
                    <a:pt x="3955" y="362"/>
                    <a:pt x="3955" y="362"/>
                    <a:pt x="3955" y="362"/>
                  </a:cubicBezTo>
                  <a:cubicBezTo>
                    <a:pt x="3924" y="349"/>
                    <a:pt x="3924" y="349"/>
                    <a:pt x="3924" y="349"/>
                  </a:cubicBezTo>
                  <a:cubicBezTo>
                    <a:pt x="3911" y="349"/>
                    <a:pt x="3911" y="349"/>
                    <a:pt x="3911" y="349"/>
                  </a:cubicBezTo>
                  <a:cubicBezTo>
                    <a:pt x="3936" y="365"/>
                    <a:pt x="3936" y="365"/>
                    <a:pt x="3936" y="365"/>
                  </a:cubicBezTo>
                  <a:cubicBezTo>
                    <a:pt x="3936" y="365"/>
                    <a:pt x="3884" y="364"/>
                    <a:pt x="3892" y="372"/>
                  </a:cubicBezTo>
                  <a:cubicBezTo>
                    <a:pt x="3900" y="380"/>
                    <a:pt x="3910" y="385"/>
                    <a:pt x="3910" y="385"/>
                  </a:cubicBezTo>
                  <a:cubicBezTo>
                    <a:pt x="3931" y="383"/>
                    <a:pt x="3931" y="383"/>
                    <a:pt x="3931" y="383"/>
                  </a:cubicBezTo>
                  <a:cubicBezTo>
                    <a:pt x="3931" y="388"/>
                    <a:pt x="3931" y="388"/>
                    <a:pt x="3931" y="388"/>
                  </a:cubicBezTo>
                  <a:cubicBezTo>
                    <a:pt x="3970" y="414"/>
                    <a:pt x="3970" y="414"/>
                    <a:pt x="3970" y="414"/>
                  </a:cubicBezTo>
                  <a:cubicBezTo>
                    <a:pt x="3970" y="414"/>
                    <a:pt x="3964" y="415"/>
                    <a:pt x="3949" y="414"/>
                  </a:cubicBezTo>
                  <a:cubicBezTo>
                    <a:pt x="3934" y="413"/>
                    <a:pt x="3914" y="398"/>
                    <a:pt x="3909" y="403"/>
                  </a:cubicBezTo>
                  <a:cubicBezTo>
                    <a:pt x="3904" y="408"/>
                    <a:pt x="3900" y="411"/>
                    <a:pt x="3900" y="411"/>
                  </a:cubicBezTo>
                  <a:cubicBezTo>
                    <a:pt x="3917" y="425"/>
                    <a:pt x="3917" y="425"/>
                    <a:pt x="3917" y="425"/>
                  </a:cubicBezTo>
                  <a:cubicBezTo>
                    <a:pt x="3881" y="420"/>
                    <a:pt x="3881" y="420"/>
                    <a:pt x="3881" y="420"/>
                  </a:cubicBezTo>
                  <a:cubicBezTo>
                    <a:pt x="3881" y="420"/>
                    <a:pt x="3832" y="404"/>
                    <a:pt x="3824" y="405"/>
                  </a:cubicBezTo>
                  <a:cubicBezTo>
                    <a:pt x="3816" y="406"/>
                    <a:pt x="3788" y="418"/>
                    <a:pt x="3788" y="418"/>
                  </a:cubicBezTo>
                  <a:cubicBezTo>
                    <a:pt x="3743" y="414"/>
                    <a:pt x="3743" y="414"/>
                    <a:pt x="3743" y="414"/>
                  </a:cubicBezTo>
                  <a:cubicBezTo>
                    <a:pt x="3743" y="414"/>
                    <a:pt x="3705" y="396"/>
                    <a:pt x="3702" y="392"/>
                  </a:cubicBezTo>
                  <a:cubicBezTo>
                    <a:pt x="3699" y="388"/>
                    <a:pt x="3692" y="398"/>
                    <a:pt x="3695" y="406"/>
                  </a:cubicBezTo>
                  <a:cubicBezTo>
                    <a:pt x="3698" y="414"/>
                    <a:pt x="3725" y="442"/>
                    <a:pt x="3709" y="443"/>
                  </a:cubicBezTo>
                  <a:cubicBezTo>
                    <a:pt x="3693" y="444"/>
                    <a:pt x="3614" y="415"/>
                    <a:pt x="3611" y="413"/>
                  </a:cubicBezTo>
                  <a:cubicBezTo>
                    <a:pt x="3608" y="411"/>
                    <a:pt x="3589" y="394"/>
                    <a:pt x="3589" y="394"/>
                  </a:cubicBezTo>
                  <a:cubicBezTo>
                    <a:pt x="3587" y="404"/>
                    <a:pt x="3587" y="404"/>
                    <a:pt x="3587" y="404"/>
                  </a:cubicBezTo>
                  <a:cubicBezTo>
                    <a:pt x="3550" y="393"/>
                    <a:pt x="3550" y="393"/>
                    <a:pt x="3550" y="393"/>
                  </a:cubicBezTo>
                  <a:cubicBezTo>
                    <a:pt x="3533" y="381"/>
                    <a:pt x="3533" y="381"/>
                    <a:pt x="3533" y="381"/>
                  </a:cubicBezTo>
                  <a:cubicBezTo>
                    <a:pt x="3533" y="381"/>
                    <a:pt x="3571" y="391"/>
                    <a:pt x="3577" y="386"/>
                  </a:cubicBezTo>
                  <a:cubicBezTo>
                    <a:pt x="3583" y="381"/>
                    <a:pt x="3554" y="367"/>
                    <a:pt x="3554" y="367"/>
                  </a:cubicBezTo>
                  <a:cubicBezTo>
                    <a:pt x="3531" y="367"/>
                    <a:pt x="3531" y="367"/>
                    <a:pt x="3531" y="367"/>
                  </a:cubicBezTo>
                  <a:cubicBezTo>
                    <a:pt x="3531" y="367"/>
                    <a:pt x="3542" y="361"/>
                    <a:pt x="3535" y="356"/>
                  </a:cubicBezTo>
                  <a:cubicBezTo>
                    <a:pt x="3528" y="351"/>
                    <a:pt x="3508" y="351"/>
                    <a:pt x="3508" y="351"/>
                  </a:cubicBezTo>
                  <a:cubicBezTo>
                    <a:pt x="3516" y="342"/>
                    <a:pt x="3516" y="342"/>
                    <a:pt x="3516" y="342"/>
                  </a:cubicBezTo>
                  <a:cubicBezTo>
                    <a:pt x="3516" y="342"/>
                    <a:pt x="3484" y="333"/>
                    <a:pt x="3480" y="333"/>
                  </a:cubicBezTo>
                  <a:cubicBezTo>
                    <a:pt x="3476" y="333"/>
                    <a:pt x="3461" y="323"/>
                    <a:pt x="3461" y="323"/>
                  </a:cubicBezTo>
                  <a:cubicBezTo>
                    <a:pt x="3430" y="323"/>
                    <a:pt x="3430" y="323"/>
                    <a:pt x="3430" y="323"/>
                  </a:cubicBezTo>
                  <a:cubicBezTo>
                    <a:pt x="3430" y="323"/>
                    <a:pt x="3439" y="326"/>
                    <a:pt x="3416" y="327"/>
                  </a:cubicBezTo>
                  <a:cubicBezTo>
                    <a:pt x="3393" y="328"/>
                    <a:pt x="3378" y="320"/>
                    <a:pt x="3378" y="320"/>
                  </a:cubicBezTo>
                  <a:cubicBezTo>
                    <a:pt x="3364" y="326"/>
                    <a:pt x="3364" y="326"/>
                    <a:pt x="3364" y="326"/>
                  </a:cubicBezTo>
                  <a:cubicBezTo>
                    <a:pt x="3362" y="317"/>
                    <a:pt x="3362" y="317"/>
                    <a:pt x="3362" y="317"/>
                  </a:cubicBezTo>
                  <a:cubicBezTo>
                    <a:pt x="3330" y="311"/>
                    <a:pt x="3330" y="311"/>
                    <a:pt x="3330" y="311"/>
                  </a:cubicBezTo>
                  <a:cubicBezTo>
                    <a:pt x="3323" y="305"/>
                    <a:pt x="3323" y="305"/>
                    <a:pt x="3323" y="305"/>
                  </a:cubicBezTo>
                  <a:cubicBezTo>
                    <a:pt x="3318" y="318"/>
                    <a:pt x="3318" y="318"/>
                    <a:pt x="3318" y="318"/>
                  </a:cubicBezTo>
                  <a:cubicBezTo>
                    <a:pt x="3309" y="319"/>
                    <a:pt x="3309" y="319"/>
                    <a:pt x="3309" y="319"/>
                  </a:cubicBezTo>
                  <a:cubicBezTo>
                    <a:pt x="3327" y="334"/>
                    <a:pt x="3327" y="334"/>
                    <a:pt x="3327" y="334"/>
                  </a:cubicBezTo>
                  <a:cubicBezTo>
                    <a:pt x="3344" y="354"/>
                    <a:pt x="3344" y="354"/>
                    <a:pt x="3344" y="354"/>
                  </a:cubicBezTo>
                  <a:cubicBezTo>
                    <a:pt x="3310" y="350"/>
                    <a:pt x="3310" y="350"/>
                    <a:pt x="3310" y="350"/>
                  </a:cubicBezTo>
                  <a:cubicBezTo>
                    <a:pt x="3306" y="344"/>
                    <a:pt x="3306" y="344"/>
                    <a:pt x="3306" y="344"/>
                  </a:cubicBezTo>
                  <a:cubicBezTo>
                    <a:pt x="3262" y="347"/>
                    <a:pt x="3262" y="347"/>
                    <a:pt x="3262" y="347"/>
                  </a:cubicBezTo>
                  <a:cubicBezTo>
                    <a:pt x="3251" y="351"/>
                    <a:pt x="3251" y="351"/>
                    <a:pt x="3251" y="351"/>
                  </a:cubicBezTo>
                  <a:cubicBezTo>
                    <a:pt x="3250" y="343"/>
                    <a:pt x="3250" y="343"/>
                    <a:pt x="3250" y="343"/>
                  </a:cubicBezTo>
                  <a:cubicBezTo>
                    <a:pt x="3221" y="349"/>
                    <a:pt x="3221" y="349"/>
                    <a:pt x="3221" y="349"/>
                  </a:cubicBezTo>
                  <a:cubicBezTo>
                    <a:pt x="3216" y="341"/>
                    <a:pt x="3216" y="341"/>
                    <a:pt x="3216" y="341"/>
                  </a:cubicBezTo>
                  <a:cubicBezTo>
                    <a:pt x="3178" y="342"/>
                    <a:pt x="3178" y="342"/>
                    <a:pt x="3178" y="342"/>
                  </a:cubicBezTo>
                  <a:cubicBezTo>
                    <a:pt x="3156" y="335"/>
                    <a:pt x="3156" y="335"/>
                    <a:pt x="3156" y="335"/>
                  </a:cubicBezTo>
                  <a:cubicBezTo>
                    <a:pt x="3167" y="321"/>
                    <a:pt x="3167" y="321"/>
                    <a:pt x="3167" y="321"/>
                  </a:cubicBezTo>
                  <a:cubicBezTo>
                    <a:pt x="3082" y="320"/>
                    <a:pt x="3082" y="320"/>
                    <a:pt x="3082" y="320"/>
                  </a:cubicBezTo>
                  <a:cubicBezTo>
                    <a:pt x="3077" y="314"/>
                    <a:pt x="3077" y="314"/>
                    <a:pt x="3077" y="314"/>
                  </a:cubicBezTo>
                  <a:cubicBezTo>
                    <a:pt x="3071" y="317"/>
                    <a:pt x="3071" y="317"/>
                    <a:pt x="3071" y="317"/>
                  </a:cubicBezTo>
                  <a:cubicBezTo>
                    <a:pt x="3065" y="313"/>
                    <a:pt x="3065" y="313"/>
                    <a:pt x="3065" y="313"/>
                  </a:cubicBezTo>
                  <a:cubicBezTo>
                    <a:pt x="3030" y="315"/>
                    <a:pt x="3030" y="315"/>
                    <a:pt x="3030" y="315"/>
                  </a:cubicBezTo>
                  <a:cubicBezTo>
                    <a:pt x="3034" y="323"/>
                    <a:pt x="3034" y="323"/>
                    <a:pt x="3034" y="323"/>
                  </a:cubicBezTo>
                  <a:cubicBezTo>
                    <a:pt x="2997" y="319"/>
                    <a:pt x="2997" y="319"/>
                    <a:pt x="2997" y="319"/>
                  </a:cubicBezTo>
                  <a:cubicBezTo>
                    <a:pt x="2987" y="324"/>
                    <a:pt x="2987" y="324"/>
                    <a:pt x="2987" y="324"/>
                  </a:cubicBezTo>
                  <a:cubicBezTo>
                    <a:pt x="3008" y="331"/>
                    <a:pt x="3008" y="331"/>
                    <a:pt x="3008" y="331"/>
                  </a:cubicBezTo>
                  <a:cubicBezTo>
                    <a:pt x="2981" y="330"/>
                    <a:pt x="2981" y="330"/>
                    <a:pt x="2981" y="330"/>
                  </a:cubicBezTo>
                  <a:cubicBezTo>
                    <a:pt x="2978" y="318"/>
                    <a:pt x="2978" y="318"/>
                    <a:pt x="2978" y="318"/>
                  </a:cubicBezTo>
                  <a:cubicBezTo>
                    <a:pt x="2961" y="303"/>
                    <a:pt x="2961" y="303"/>
                    <a:pt x="2961" y="303"/>
                  </a:cubicBezTo>
                  <a:cubicBezTo>
                    <a:pt x="2947" y="303"/>
                    <a:pt x="2947" y="303"/>
                    <a:pt x="2947" y="303"/>
                  </a:cubicBezTo>
                  <a:cubicBezTo>
                    <a:pt x="2954" y="318"/>
                    <a:pt x="2954" y="318"/>
                    <a:pt x="2954" y="318"/>
                  </a:cubicBezTo>
                  <a:cubicBezTo>
                    <a:pt x="2919" y="318"/>
                    <a:pt x="2919" y="318"/>
                    <a:pt x="2919" y="318"/>
                  </a:cubicBezTo>
                  <a:cubicBezTo>
                    <a:pt x="2915" y="313"/>
                    <a:pt x="2915" y="313"/>
                    <a:pt x="2915" y="313"/>
                  </a:cubicBezTo>
                  <a:cubicBezTo>
                    <a:pt x="2906" y="313"/>
                    <a:pt x="2906" y="313"/>
                    <a:pt x="2906" y="313"/>
                  </a:cubicBezTo>
                  <a:cubicBezTo>
                    <a:pt x="2902" y="303"/>
                    <a:pt x="2902" y="303"/>
                    <a:pt x="2902" y="303"/>
                  </a:cubicBezTo>
                  <a:cubicBezTo>
                    <a:pt x="2893" y="303"/>
                    <a:pt x="2893" y="303"/>
                    <a:pt x="2893" y="303"/>
                  </a:cubicBezTo>
                  <a:cubicBezTo>
                    <a:pt x="2882" y="306"/>
                    <a:pt x="2882" y="306"/>
                    <a:pt x="2882" y="306"/>
                  </a:cubicBezTo>
                  <a:cubicBezTo>
                    <a:pt x="2866" y="298"/>
                    <a:pt x="2866" y="298"/>
                    <a:pt x="2866" y="298"/>
                  </a:cubicBezTo>
                  <a:cubicBezTo>
                    <a:pt x="2846" y="312"/>
                    <a:pt x="2846" y="312"/>
                    <a:pt x="2846" y="312"/>
                  </a:cubicBezTo>
                  <a:cubicBezTo>
                    <a:pt x="2882" y="316"/>
                    <a:pt x="2882" y="316"/>
                    <a:pt x="2882" y="316"/>
                  </a:cubicBezTo>
                  <a:cubicBezTo>
                    <a:pt x="2890" y="317"/>
                    <a:pt x="2890" y="317"/>
                    <a:pt x="2890" y="317"/>
                  </a:cubicBezTo>
                  <a:cubicBezTo>
                    <a:pt x="2890" y="317"/>
                    <a:pt x="2877" y="328"/>
                    <a:pt x="2870" y="328"/>
                  </a:cubicBezTo>
                  <a:cubicBezTo>
                    <a:pt x="2863" y="328"/>
                    <a:pt x="2858" y="327"/>
                    <a:pt x="2852" y="329"/>
                  </a:cubicBezTo>
                  <a:cubicBezTo>
                    <a:pt x="2846" y="331"/>
                    <a:pt x="2844" y="337"/>
                    <a:pt x="2839" y="337"/>
                  </a:cubicBezTo>
                  <a:cubicBezTo>
                    <a:pt x="2834" y="337"/>
                    <a:pt x="2790" y="338"/>
                    <a:pt x="2790" y="338"/>
                  </a:cubicBezTo>
                  <a:cubicBezTo>
                    <a:pt x="2768" y="341"/>
                    <a:pt x="2768" y="341"/>
                    <a:pt x="2768" y="341"/>
                  </a:cubicBezTo>
                  <a:cubicBezTo>
                    <a:pt x="2758" y="358"/>
                    <a:pt x="2758" y="358"/>
                    <a:pt x="2758" y="358"/>
                  </a:cubicBezTo>
                  <a:cubicBezTo>
                    <a:pt x="2742" y="354"/>
                    <a:pt x="2742" y="354"/>
                    <a:pt x="2742" y="354"/>
                  </a:cubicBezTo>
                  <a:cubicBezTo>
                    <a:pt x="2742" y="354"/>
                    <a:pt x="2745" y="338"/>
                    <a:pt x="2753" y="334"/>
                  </a:cubicBezTo>
                  <a:cubicBezTo>
                    <a:pt x="2761" y="330"/>
                    <a:pt x="2773" y="330"/>
                    <a:pt x="2773" y="330"/>
                  </a:cubicBezTo>
                  <a:cubicBezTo>
                    <a:pt x="2778" y="319"/>
                    <a:pt x="2778" y="319"/>
                    <a:pt x="2778" y="319"/>
                  </a:cubicBezTo>
                  <a:cubicBezTo>
                    <a:pt x="2806" y="316"/>
                    <a:pt x="2806" y="316"/>
                    <a:pt x="2806" y="316"/>
                  </a:cubicBezTo>
                  <a:cubicBezTo>
                    <a:pt x="2836" y="294"/>
                    <a:pt x="2836" y="294"/>
                    <a:pt x="2836" y="294"/>
                  </a:cubicBezTo>
                  <a:cubicBezTo>
                    <a:pt x="2836" y="294"/>
                    <a:pt x="2835" y="281"/>
                    <a:pt x="2847" y="276"/>
                  </a:cubicBezTo>
                  <a:cubicBezTo>
                    <a:pt x="2859" y="271"/>
                    <a:pt x="2908" y="272"/>
                    <a:pt x="2906" y="254"/>
                  </a:cubicBezTo>
                  <a:cubicBezTo>
                    <a:pt x="2904" y="236"/>
                    <a:pt x="2889" y="232"/>
                    <a:pt x="2889" y="232"/>
                  </a:cubicBezTo>
                  <a:cubicBezTo>
                    <a:pt x="2862" y="234"/>
                    <a:pt x="2862" y="234"/>
                    <a:pt x="2862" y="234"/>
                  </a:cubicBezTo>
                  <a:cubicBezTo>
                    <a:pt x="2885" y="224"/>
                    <a:pt x="2885" y="224"/>
                    <a:pt x="2885" y="224"/>
                  </a:cubicBezTo>
                  <a:cubicBezTo>
                    <a:pt x="2885" y="224"/>
                    <a:pt x="2865" y="209"/>
                    <a:pt x="2860" y="210"/>
                  </a:cubicBezTo>
                  <a:cubicBezTo>
                    <a:pt x="2855" y="211"/>
                    <a:pt x="2838" y="212"/>
                    <a:pt x="2838" y="212"/>
                  </a:cubicBezTo>
                  <a:cubicBezTo>
                    <a:pt x="2838" y="212"/>
                    <a:pt x="2832" y="196"/>
                    <a:pt x="2819" y="196"/>
                  </a:cubicBezTo>
                  <a:cubicBezTo>
                    <a:pt x="2806" y="196"/>
                    <a:pt x="2792" y="201"/>
                    <a:pt x="2792" y="201"/>
                  </a:cubicBezTo>
                  <a:cubicBezTo>
                    <a:pt x="2756" y="192"/>
                    <a:pt x="2756" y="192"/>
                    <a:pt x="2756" y="192"/>
                  </a:cubicBezTo>
                  <a:cubicBezTo>
                    <a:pt x="2662" y="189"/>
                    <a:pt x="2662" y="189"/>
                    <a:pt x="2662" y="189"/>
                  </a:cubicBezTo>
                  <a:cubicBezTo>
                    <a:pt x="2665" y="201"/>
                    <a:pt x="2665" y="201"/>
                    <a:pt x="2665" y="201"/>
                  </a:cubicBezTo>
                  <a:cubicBezTo>
                    <a:pt x="2620" y="201"/>
                    <a:pt x="2620" y="201"/>
                    <a:pt x="2620" y="201"/>
                  </a:cubicBezTo>
                  <a:cubicBezTo>
                    <a:pt x="2620" y="201"/>
                    <a:pt x="2639" y="184"/>
                    <a:pt x="2627" y="179"/>
                  </a:cubicBezTo>
                  <a:cubicBezTo>
                    <a:pt x="2615" y="174"/>
                    <a:pt x="2564" y="180"/>
                    <a:pt x="2564" y="180"/>
                  </a:cubicBezTo>
                  <a:cubicBezTo>
                    <a:pt x="2523" y="176"/>
                    <a:pt x="2523" y="176"/>
                    <a:pt x="2523" y="176"/>
                  </a:cubicBezTo>
                  <a:cubicBezTo>
                    <a:pt x="2523" y="176"/>
                    <a:pt x="2570" y="174"/>
                    <a:pt x="2564" y="165"/>
                  </a:cubicBezTo>
                  <a:cubicBezTo>
                    <a:pt x="2558" y="156"/>
                    <a:pt x="2511" y="155"/>
                    <a:pt x="2511" y="155"/>
                  </a:cubicBezTo>
                  <a:cubicBezTo>
                    <a:pt x="2483" y="151"/>
                    <a:pt x="2483" y="151"/>
                    <a:pt x="2483" y="151"/>
                  </a:cubicBezTo>
                  <a:cubicBezTo>
                    <a:pt x="2480" y="161"/>
                    <a:pt x="2480" y="161"/>
                    <a:pt x="2480" y="161"/>
                  </a:cubicBezTo>
                  <a:cubicBezTo>
                    <a:pt x="2480" y="161"/>
                    <a:pt x="2431" y="159"/>
                    <a:pt x="2435" y="173"/>
                  </a:cubicBezTo>
                  <a:cubicBezTo>
                    <a:pt x="2439" y="187"/>
                    <a:pt x="2485" y="202"/>
                    <a:pt x="2485" y="202"/>
                  </a:cubicBezTo>
                  <a:cubicBezTo>
                    <a:pt x="2389" y="196"/>
                    <a:pt x="2389" y="196"/>
                    <a:pt x="2389" y="196"/>
                  </a:cubicBezTo>
                  <a:cubicBezTo>
                    <a:pt x="2423" y="210"/>
                    <a:pt x="2423" y="210"/>
                    <a:pt x="2423" y="210"/>
                  </a:cubicBezTo>
                  <a:cubicBezTo>
                    <a:pt x="2388" y="215"/>
                    <a:pt x="2388" y="215"/>
                    <a:pt x="2388" y="215"/>
                  </a:cubicBezTo>
                  <a:cubicBezTo>
                    <a:pt x="2388" y="215"/>
                    <a:pt x="2331" y="233"/>
                    <a:pt x="2321" y="227"/>
                  </a:cubicBezTo>
                  <a:cubicBezTo>
                    <a:pt x="2311" y="221"/>
                    <a:pt x="2326" y="209"/>
                    <a:pt x="2326" y="209"/>
                  </a:cubicBezTo>
                  <a:cubicBezTo>
                    <a:pt x="2326" y="209"/>
                    <a:pt x="2278" y="209"/>
                    <a:pt x="2269" y="211"/>
                  </a:cubicBezTo>
                  <a:cubicBezTo>
                    <a:pt x="2260" y="213"/>
                    <a:pt x="2246" y="225"/>
                    <a:pt x="2246" y="225"/>
                  </a:cubicBezTo>
                  <a:cubicBezTo>
                    <a:pt x="2246" y="225"/>
                    <a:pt x="2183" y="230"/>
                    <a:pt x="2168" y="233"/>
                  </a:cubicBezTo>
                  <a:cubicBezTo>
                    <a:pt x="2153" y="236"/>
                    <a:pt x="2120" y="243"/>
                    <a:pt x="2120" y="243"/>
                  </a:cubicBezTo>
                  <a:cubicBezTo>
                    <a:pt x="2091" y="266"/>
                    <a:pt x="2091" y="266"/>
                    <a:pt x="2091" y="266"/>
                  </a:cubicBezTo>
                  <a:cubicBezTo>
                    <a:pt x="2091" y="266"/>
                    <a:pt x="2059" y="264"/>
                    <a:pt x="2073" y="278"/>
                  </a:cubicBezTo>
                  <a:cubicBezTo>
                    <a:pt x="2087" y="292"/>
                    <a:pt x="2112" y="302"/>
                    <a:pt x="2112" y="302"/>
                  </a:cubicBezTo>
                  <a:cubicBezTo>
                    <a:pt x="2082" y="308"/>
                    <a:pt x="2082" y="308"/>
                    <a:pt x="2082" y="308"/>
                  </a:cubicBezTo>
                  <a:cubicBezTo>
                    <a:pt x="2068" y="317"/>
                    <a:pt x="2068" y="317"/>
                    <a:pt x="2068" y="317"/>
                  </a:cubicBezTo>
                  <a:cubicBezTo>
                    <a:pt x="2001" y="315"/>
                    <a:pt x="2001" y="315"/>
                    <a:pt x="2001" y="315"/>
                  </a:cubicBezTo>
                  <a:cubicBezTo>
                    <a:pt x="1996" y="320"/>
                    <a:pt x="1996" y="320"/>
                    <a:pt x="1996" y="320"/>
                  </a:cubicBezTo>
                  <a:cubicBezTo>
                    <a:pt x="1971" y="311"/>
                    <a:pt x="1971" y="311"/>
                    <a:pt x="1971" y="311"/>
                  </a:cubicBezTo>
                  <a:cubicBezTo>
                    <a:pt x="1960" y="318"/>
                    <a:pt x="1960" y="318"/>
                    <a:pt x="1960" y="318"/>
                  </a:cubicBezTo>
                  <a:cubicBezTo>
                    <a:pt x="1960" y="318"/>
                    <a:pt x="1922" y="314"/>
                    <a:pt x="1920" y="322"/>
                  </a:cubicBezTo>
                  <a:cubicBezTo>
                    <a:pt x="1918" y="330"/>
                    <a:pt x="1919" y="345"/>
                    <a:pt x="1930" y="347"/>
                  </a:cubicBezTo>
                  <a:cubicBezTo>
                    <a:pt x="1941" y="349"/>
                    <a:pt x="1947" y="365"/>
                    <a:pt x="1947" y="365"/>
                  </a:cubicBezTo>
                  <a:cubicBezTo>
                    <a:pt x="1947" y="365"/>
                    <a:pt x="1982" y="375"/>
                    <a:pt x="1991" y="375"/>
                  </a:cubicBezTo>
                  <a:cubicBezTo>
                    <a:pt x="2000" y="375"/>
                    <a:pt x="2019" y="380"/>
                    <a:pt x="2026" y="383"/>
                  </a:cubicBezTo>
                  <a:cubicBezTo>
                    <a:pt x="2033" y="386"/>
                    <a:pt x="2049" y="402"/>
                    <a:pt x="2038" y="402"/>
                  </a:cubicBezTo>
                  <a:cubicBezTo>
                    <a:pt x="2027" y="402"/>
                    <a:pt x="2003" y="404"/>
                    <a:pt x="2003" y="404"/>
                  </a:cubicBezTo>
                  <a:cubicBezTo>
                    <a:pt x="2003" y="404"/>
                    <a:pt x="1957" y="384"/>
                    <a:pt x="1941" y="380"/>
                  </a:cubicBezTo>
                  <a:cubicBezTo>
                    <a:pt x="1925" y="376"/>
                    <a:pt x="1901" y="373"/>
                    <a:pt x="1893" y="373"/>
                  </a:cubicBezTo>
                  <a:cubicBezTo>
                    <a:pt x="1885" y="373"/>
                    <a:pt x="1864" y="371"/>
                    <a:pt x="1866" y="379"/>
                  </a:cubicBezTo>
                  <a:cubicBezTo>
                    <a:pt x="1868" y="387"/>
                    <a:pt x="1894" y="397"/>
                    <a:pt x="1877" y="398"/>
                  </a:cubicBezTo>
                  <a:cubicBezTo>
                    <a:pt x="1860" y="399"/>
                    <a:pt x="1854" y="387"/>
                    <a:pt x="1844" y="387"/>
                  </a:cubicBezTo>
                  <a:cubicBezTo>
                    <a:pt x="1834" y="387"/>
                    <a:pt x="1820" y="377"/>
                    <a:pt x="1819" y="390"/>
                  </a:cubicBezTo>
                  <a:cubicBezTo>
                    <a:pt x="1818" y="403"/>
                    <a:pt x="1832" y="416"/>
                    <a:pt x="1847" y="415"/>
                  </a:cubicBezTo>
                  <a:cubicBezTo>
                    <a:pt x="1862" y="414"/>
                    <a:pt x="1885" y="421"/>
                    <a:pt x="1895" y="421"/>
                  </a:cubicBezTo>
                  <a:cubicBezTo>
                    <a:pt x="1905" y="421"/>
                    <a:pt x="1921" y="437"/>
                    <a:pt x="1921" y="437"/>
                  </a:cubicBezTo>
                  <a:cubicBezTo>
                    <a:pt x="1900" y="437"/>
                    <a:pt x="1900" y="437"/>
                    <a:pt x="1900" y="437"/>
                  </a:cubicBezTo>
                  <a:cubicBezTo>
                    <a:pt x="1900" y="437"/>
                    <a:pt x="1894" y="427"/>
                    <a:pt x="1880" y="427"/>
                  </a:cubicBezTo>
                  <a:cubicBezTo>
                    <a:pt x="1866" y="427"/>
                    <a:pt x="1823" y="425"/>
                    <a:pt x="1823" y="425"/>
                  </a:cubicBezTo>
                  <a:cubicBezTo>
                    <a:pt x="1820" y="417"/>
                    <a:pt x="1820" y="417"/>
                    <a:pt x="1820" y="417"/>
                  </a:cubicBezTo>
                  <a:cubicBezTo>
                    <a:pt x="1803" y="417"/>
                    <a:pt x="1803" y="417"/>
                    <a:pt x="1803" y="417"/>
                  </a:cubicBezTo>
                  <a:cubicBezTo>
                    <a:pt x="1800" y="406"/>
                    <a:pt x="1800" y="406"/>
                    <a:pt x="1800" y="406"/>
                  </a:cubicBezTo>
                  <a:cubicBezTo>
                    <a:pt x="1778" y="395"/>
                    <a:pt x="1778" y="395"/>
                    <a:pt x="1778" y="395"/>
                  </a:cubicBezTo>
                  <a:cubicBezTo>
                    <a:pt x="1778" y="395"/>
                    <a:pt x="1803" y="383"/>
                    <a:pt x="1793" y="374"/>
                  </a:cubicBezTo>
                  <a:cubicBezTo>
                    <a:pt x="1783" y="365"/>
                    <a:pt x="1769" y="354"/>
                    <a:pt x="1769" y="354"/>
                  </a:cubicBezTo>
                  <a:cubicBezTo>
                    <a:pt x="1748" y="353"/>
                    <a:pt x="1748" y="353"/>
                    <a:pt x="1748" y="353"/>
                  </a:cubicBezTo>
                  <a:cubicBezTo>
                    <a:pt x="1748" y="353"/>
                    <a:pt x="1778" y="370"/>
                    <a:pt x="1769" y="378"/>
                  </a:cubicBezTo>
                  <a:cubicBezTo>
                    <a:pt x="1760" y="386"/>
                    <a:pt x="1740" y="389"/>
                    <a:pt x="1740" y="389"/>
                  </a:cubicBezTo>
                  <a:cubicBezTo>
                    <a:pt x="1727" y="416"/>
                    <a:pt x="1727" y="416"/>
                    <a:pt x="1727" y="416"/>
                  </a:cubicBezTo>
                  <a:cubicBezTo>
                    <a:pt x="1776" y="441"/>
                    <a:pt x="1776" y="441"/>
                    <a:pt x="1776" y="441"/>
                  </a:cubicBezTo>
                  <a:cubicBezTo>
                    <a:pt x="1776" y="441"/>
                    <a:pt x="1789" y="436"/>
                    <a:pt x="1789" y="442"/>
                  </a:cubicBezTo>
                  <a:cubicBezTo>
                    <a:pt x="1789" y="448"/>
                    <a:pt x="1782" y="479"/>
                    <a:pt x="1782" y="479"/>
                  </a:cubicBezTo>
                  <a:cubicBezTo>
                    <a:pt x="1789" y="492"/>
                    <a:pt x="1789" y="492"/>
                    <a:pt x="1789" y="492"/>
                  </a:cubicBezTo>
                  <a:cubicBezTo>
                    <a:pt x="1813" y="496"/>
                    <a:pt x="1813" y="496"/>
                    <a:pt x="1813" y="496"/>
                  </a:cubicBezTo>
                  <a:cubicBezTo>
                    <a:pt x="1812" y="514"/>
                    <a:pt x="1812" y="514"/>
                    <a:pt x="1812" y="514"/>
                  </a:cubicBezTo>
                  <a:cubicBezTo>
                    <a:pt x="1852" y="522"/>
                    <a:pt x="1852" y="522"/>
                    <a:pt x="1852" y="522"/>
                  </a:cubicBezTo>
                  <a:cubicBezTo>
                    <a:pt x="1852" y="522"/>
                    <a:pt x="1882" y="510"/>
                    <a:pt x="1896" y="511"/>
                  </a:cubicBezTo>
                  <a:cubicBezTo>
                    <a:pt x="1910" y="512"/>
                    <a:pt x="1928" y="524"/>
                    <a:pt x="1928" y="524"/>
                  </a:cubicBezTo>
                  <a:cubicBezTo>
                    <a:pt x="1928" y="524"/>
                    <a:pt x="1957" y="528"/>
                    <a:pt x="1970" y="537"/>
                  </a:cubicBezTo>
                  <a:cubicBezTo>
                    <a:pt x="1983" y="546"/>
                    <a:pt x="1986" y="557"/>
                    <a:pt x="1986" y="557"/>
                  </a:cubicBezTo>
                  <a:cubicBezTo>
                    <a:pt x="1986" y="557"/>
                    <a:pt x="1953" y="561"/>
                    <a:pt x="1966" y="569"/>
                  </a:cubicBezTo>
                  <a:cubicBezTo>
                    <a:pt x="1979" y="577"/>
                    <a:pt x="1993" y="584"/>
                    <a:pt x="1993" y="584"/>
                  </a:cubicBezTo>
                  <a:cubicBezTo>
                    <a:pt x="2021" y="583"/>
                    <a:pt x="2021" y="583"/>
                    <a:pt x="2021" y="583"/>
                  </a:cubicBezTo>
                  <a:cubicBezTo>
                    <a:pt x="2021" y="583"/>
                    <a:pt x="2005" y="591"/>
                    <a:pt x="1992" y="591"/>
                  </a:cubicBezTo>
                  <a:cubicBezTo>
                    <a:pt x="1979" y="591"/>
                    <a:pt x="1963" y="582"/>
                    <a:pt x="1963" y="582"/>
                  </a:cubicBezTo>
                  <a:cubicBezTo>
                    <a:pt x="1963" y="582"/>
                    <a:pt x="1964" y="559"/>
                    <a:pt x="1949" y="550"/>
                  </a:cubicBezTo>
                  <a:cubicBezTo>
                    <a:pt x="1934" y="541"/>
                    <a:pt x="1922" y="536"/>
                    <a:pt x="1922" y="536"/>
                  </a:cubicBezTo>
                  <a:cubicBezTo>
                    <a:pt x="1922" y="536"/>
                    <a:pt x="1918" y="521"/>
                    <a:pt x="1906" y="522"/>
                  </a:cubicBezTo>
                  <a:cubicBezTo>
                    <a:pt x="1894" y="523"/>
                    <a:pt x="1862" y="529"/>
                    <a:pt x="1862" y="529"/>
                  </a:cubicBezTo>
                  <a:cubicBezTo>
                    <a:pt x="1862" y="529"/>
                    <a:pt x="1844" y="531"/>
                    <a:pt x="1845" y="542"/>
                  </a:cubicBezTo>
                  <a:cubicBezTo>
                    <a:pt x="1846" y="553"/>
                    <a:pt x="1878" y="571"/>
                    <a:pt x="1878" y="575"/>
                  </a:cubicBezTo>
                  <a:cubicBezTo>
                    <a:pt x="1878" y="579"/>
                    <a:pt x="1859" y="591"/>
                    <a:pt x="1859" y="591"/>
                  </a:cubicBezTo>
                  <a:cubicBezTo>
                    <a:pt x="1857" y="620"/>
                    <a:pt x="1857" y="620"/>
                    <a:pt x="1857" y="620"/>
                  </a:cubicBezTo>
                  <a:cubicBezTo>
                    <a:pt x="1829" y="634"/>
                    <a:pt x="1829" y="634"/>
                    <a:pt x="1829" y="634"/>
                  </a:cubicBezTo>
                  <a:cubicBezTo>
                    <a:pt x="1829" y="634"/>
                    <a:pt x="1823" y="655"/>
                    <a:pt x="1810" y="649"/>
                  </a:cubicBezTo>
                  <a:cubicBezTo>
                    <a:pt x="1797" y="643"/>
                    <a:pt x="1771" y="645"/>
                    <a:pt x="1771" y="645"/>
                  </a:cubicBezTo>
                  <a:cubicBezTo>
                    <a:pt x="1733" y="641"/>
                    <a:pt x="1733" y="641"/>
                    <a:pt x="1733" y="641"/>
                  </a:cubicBezTo>
                  <a:cubicBezTo>
                    <a:pt x="1733" y="641"/>
                    <a:pt x="1690" y="626"/>
                    <a:pt x="1701" y="625"/>
                  </a:cubicBezTo>
                  <a:cubicBezTo>
                    <a:pt x="1712" y="624"/>
                    <a:pt x="1735" y="623"/>
                    <a:pt x="1735" y="623"/>
                  </a:cubicBezTo>
                  <a:cubicBezTo>
                    <a:pt x="1748" y="627"/>
                    <a:pt x="1748" y="627"/>
                    <a:pt x="1748" y="627"/>
                  </a:cubicBezTo>
                  <a:cubicBezTo>
                    <a:pt x="1763" y="616"/>
                    <a:pt x="1763" y="616"/>
                    <a:pt x="1763" y="616"/>
                  </a:cubicBezTo>
                  <a:cubicBezTo>
                    <a:pt x="1763" y="616"/>
                    <a:pt x="1801" y="625"/>
                    <a:pt x="1801" y="614"/>
                  </a:cubicBezTo>
                  <a:cubicBezTo>
                    <a:pt x="1801" y="603"/>
                    <a:pt x="1803" y="588"/>
                    <a:pt x="1803" y="588"/>
                  </a:cubicBezTo>
                  <a:cubicBezTo>
                    <a:pt x="1819" y="583"/>
                    <a:pt x="1819" y="583"/>
                    <a:pt x="1819" y="583"/>
                  </a:cubicBezTo>
                  <a:cubicBezTo>
                    <a:pt x="1821" y="569"/>
                    <a:pt x="1821" y="569"/>
                    <a:pt x="1821" y="569"/>
                  </a:cubicBezTo>
                  <a:cubicBezTo>
                    <a:pt x="1810" y="567"/>
                    <a:pt x="1810" y="567"/>
                    <a:pt x="1810" y="567"/>
                  </a:cubicBezTo>
                  <a:cubicBezTo>
                    <a:pt x="1810" y="567"/>
                    <a:pt x="1826" y="547"/>
                    <a:pt x="1816" y="543"/>
                  </a:cubicBezTo>
                  <a:cubicBezTo>
                    <a:pt x="1806" y="539"/>
                    <a:pt x="1763" y="541"/>
                    <a:pt x="1761" y="525"/>
                  </a:cubicBezTo>
                  <a:cubicBezTo>
                    <a:pt x="1759" y="509"/>
                    <a:pt x="1761" y="490"/>
                    <a:pt x="1752" y="485"/>
                  </a:cubicBezTo>
                  <a:cubicBezTo>
                    <a:pt x="1743" y="480"/>
                    <a:pt x="1730" y="464"/>
                    <a:pt x="1730" y="464"/>
                  </a:cubicBezTo>
                  <a:cubicBezTo>
                    <a:pt x="1726" y="440"/>
                    <a:pt x="1726" y="440"/>
                    <a:pt x="1726" y="440"/>
                  </a:cubicBezTo>
                  <a:cubicBezTo>
                    <a:pt x="1684" y="417"/>
                    <a:pt x="1684" y="417"/>
                    <a:pt x="1684" y="417"/>
                  </a:cubicBezTo>
                  <a:cubicBezTo>
                    <a:pt x="1684" y="417"/>
                    <a:pt x="1711" y="396"/>
                    <a:pt x="1697" y="376"/>
                  </a:cubicBezTo>
                  <a:cubicBezTo>
                    <a:pt x="1683" y="356"/>
                    <a:pt x="1651" y="356"/>
                    <a:pt x="1651" y="356"/>
                  </a:cubicBezTo>
                  <a:cubicBezTo>
                    <a:pt x="1562" y="348"/>
                    <a:pt x="1562" y="348"/>
                    <a:pt x="1562" y="348"/>
                  </a:cubicBezTo>
                  <a:cubicBezTo>
                    <a:pt x="1555" y="368"/>
                    <a:pt x="1555" y="368"/>
                    <a:pt x="1555" y="368"/>
                  </a:cubicBezTo>
                  <a:cubicBezTo>
                    <a:pt x="1566" y="379"/>
                    <a:pt x="1566" y="379"/>
                    <a:pt x="1566" y="379"/>
                  </a:cubicBezTo>
                  <a:cubicBezTo>
                    <a:pt x="1561" y="402"/>
                    <a:pt x="1561" y="402"/>
                    <a:pt x="1561" y="402"/>
                  </a:cubicBezTo>
                  <a:cubicBezTo>
                    <a:pt x="1523" y="418"/>
                    <a:pt x="1523" y="418"/>
                    <a:pt x="1523" y="418"/>
                  </a:cubicBezTo>
                  <a:cubicBezTo>
                    <a:pt x="1517" y="437"/>
                    <a:pt x="1517" y="437"/>
                    <a:pt x="1517" y="437"/>
                  </a:cubicBezTo>
                  <a:cubicBezTo>
                    <a:pt x="1538" y="439"/>
                    <a:pt x="1538" y="439"/>
                    <a:pt x="1538" y="439"/>
                  </a:cubicBezTo>
                  <a:cubicBezTo>
                    <a:pt x="1561" y="474"/>
                    <a:pt x="1561" y="474"/>
                    <a:pt x="1561" y="474"/>
                  </a:cubicBezTo>
                  <a:cubicBezTo>
                    <a:pt x="1552" y="486"/>
                    <a:pt x="1552" y="486"/>
                    <a:pt x="1552" y="486"/>
                  </a:cubicBezTo>
                  <a:cubicBezTo>
                    <a:pt x="1571" y="501"/>
                    <a:pt x="1571" y="501"/>
                    <a:pt x="1571" y="501"/>
                  </a:cubicBezTo>
                  <a:cubicBezTo>
                    <a:pt x="1594" y="495"/>
                    <a:pt x="1594" y="495"/>
                    <a:pt x="1594" y="495"/>
                  </a:cubicBezTo>
                  <a:cubicBezTo>
                    <a:pt x="1594" y="495"/>
                    <a:pt x="1612" y="516"/>
                    <a:pt x="1625" y="519"/>
                  </a:cubicBezTo>
                  <a:cubicBezTo>
                    <a:pt x="1638" y="522"/>
                    <a:pt x="1651" y="522"/>
                    <a:pt x="1651" y="522"/>
                  </a:cubicBezTo>
                  <a:cubicBezTo>
                    <a:pt x="1648" y="559"/>
                    <a:pt x="1648" y="559"/>
                    <a:pt x="1648" y="559"/>
                  </a:cubicBezTo>
                  <a:cubicBezTo>
                    <a:pt x="1635" y="545"/>
                    <a:pt x="1635" y="545"/>
                    <a:pt x="1635" y="545"/>
                  </a:cubicBezTo>
                  <a:cubicBezTo>
                    <a:pt x="1625" y="551"/>
                    <a:pt x="1625" y="551"/>
                    <a:pt x="1625" y="551"/>
                  </a:cubicBezTo>
                  <a:cubicBezTo>
                    <a:pt x="1625" y="551"/>
                    <a:pt x="1572" y="524"/>
                    <a:pt x="1556" y="521"/>
                  </a:cubicBezTo>
                  <a:cubicBezTo>
                    <a:pt x="1540" y="518"/>
                    <a:pt x="1516" y="520"/>
                    <a:pt x="1516" y="520"/>
                  </a:cubicBezTo>
                  <a:cubicBezTo>
                    <a:pt x="1505" y="508"/>
                    <a:pt x="1505" y="508"/>
                    <a:pt x="1505" y="508"/>
                  </a:cubicBezTo>
                  <a:cubicBezTo>
                    <a:pt x="1499" y="522"/>
                    <a:pt x="1499" y="522"/>
                    <a:pt x="1499" y="522"/>
                  </a:cubicBezTo>
                  <a:cubicBezTo>
                    <a:pt x="1483" y="504"/>
                    <a:pt x="1483" y="504"/>
                    <a:pt x="1483" y="504"/>
                  </a:cubicBezTo>
                  <a:cubicBezTo>
                    <a:pt x="1483" y="504"/>
                    <a:pt x="1441" y="490"/>
                    <a:pt x="1434" y="490"/>
                  </a:cubicBezTo>
                  <a:cubicBezTo>
                    <a:pt x="1427" y="490"/>
                    <a:pt x="1406" y="491"/>
                    <a:pt x="1406" y="491"/>
                  </a:cubicBezTo>
                  <a:cubicBezTo>
                    <a:pt x="1406" y="491"/>
                    <a:pt x="1357" y="485"/>
                    <a:pt x="1353" y="488"/>
                  </a:cubicBezTo>
                  <a:cubicBezTo>
                    <a:pt x="1349" y="491"/>
                    <a:pt x="1340" y="491"/>
                    <a:pt x="1340" y="499"/>
                  </a:cubicBezTo>
                  <a:cubicBezTo>
                    <a:pt x="1340" y="507"/>
                    <a:pt x="1366" y="521"/>
                    <a:pt x="1366" y="521"/>
                  </a:cubicBezTo>
                  <a:cubicBezTo>
                    <a:pt x="1353" y="541"/>
                    <a:pt x="1353" y="541"/>
                    <a:pt x="1353" y="541"/>
                  </a:cubicBezTo>
                  <a:cubicBezTo>
                    <a:pt x="1344" y="534"/>
                    <a:pt x="1344" y="534"/>
                    <a:pt x="1344" y="534"/>
                  </a:cubicBezTo>
                  <a:cubicBezTo>
                    <a:pt x="1344" y="551"/>
                    <a:pt x="1344" y="551"/>
                    <a:pt x="1344" y="551"/>
                  </a:cubicBezTo>
                  <a:cubicBezTo>
                    <a:pt x="1344" y="551"/>
                    <a:pt x="1320" y="550"/>
                    <a:pt x="1320" y="545"/>
                  </a:cubicBezTo>
                  <a:cubicBezTo>
                    <a:pt x="1320" y="540"/>
                    <a:pt x="1325" y="518"/>
                    <a:pt x="1311" y="519"/>
                  </a:cubicBezTo>
                  <a:cubicBezTo>
                    <a:pt x="1297" y="520"/>
                    <a:pt x="1261" y="543"/>
                    <a:pt x="1256" y="546"/>
                  </a:cubicBezTo>
                  <a:cubicBezTo>
                    <a:pt x="1251" y="549"/>
                    <a:pt x="1240" y="535"/>
                    <a:pt x="1219" y="537"/>
                  </a:cubicBezTo>
                  <a:cubicBezTo>
                    <a:pt x="1198" y="539"/>
                    <a:pt x="1174" y="550"/>
                    <a:pt x="1172" y="558"/>
                  </a:cubicBezTo>
                  <a:cubicBezTo>
                    <a:pt x="1170" y="566"/>
                    <a:pt x="1123" y="562"/>
                    <a:pt x="1123" y="562"/>
                  </a:cubicBezTo>
                  <a:cubicBezTo>
                    <a:pt x="1131" y="545"/>
                    <a:pt x="1131" y="545"/>
                    <a:pt x="1131" y="545"/>
                  </a:cubicBezTo>
                  <a:cubicBezTo>
                    <a:pt x="1130" y="521"/>
                    <a:pt x="1130" y="521"/>
                    <a:pt x="1130" y="521"/>
                  </a:cubicBezTo>
                  <a:cubicBezTo>
                    <a:pt x="1130" y="521"/>
                    <a:pt x="1086" y="529"/>
                    <a:pt x="1086" y="538"/>
                  </a:cubicBezTo>
                  <a:cubicBezTo>
                    <a:pt x="1086" y="547"/>
                    <a:pt x="1092" y="554"/>
                    <a:pt x="1092" y="554"/>
                  </a:cubicBezTo>
                  <a:cubicBezTo>
                    <a:pt x="1074" y="555"/>
                    <a:pt x="1074" y="555"/>
                    <a:pt x="1074" y="555"/>
                  </a:cubicBezTo>
                  <a:cubicBezTo>
                    <a:pt x="1074" y="540"/>
                    <a:pt x="1074" y="540"/>
                    <a:pt x="1074" y="540"/>
                  </a:cubicBezTo>
                  <a:cubicBezTo>
                    <a:pt x="1060" y="545"/>
                    <a:pt x="1060" y="545"/>
                    <a:pt x="1060" y="545"/>
                  </a:cubicBezTo>
                  <a:cubicBezTo>
                    <a:pt x="1025" y="548"/>
                    <a:pt x="1025" y="548"/>
                    <a:pt x="1025" y="548"/>
                  </a:cubicBezTo>
                  <a:cubicBezTo>
                    <a:pt x="996" y="568"/>
                    <a:pt x="996" y="568"/>
                    <a:pt x="996" y="568"/>
                  </a:cubicBezTo>
                  <a:cubicBezTo>
                    <a:pt x="963" y="571"/>
                    <a:pt x="963" y="571"/>
                    <a:pt x="963" y="571"/>
                  </a:cubicBezTo>
                  <a:cubicBezTo>
                    <a:pt x="970" y="584"/>
                    <a:pt x="970" y="584"/>
                    <a:pt x="970" y="584"/>
                  </a:cubicBezTo>
                  <a:cubicBezTo>
                    <a:pt x="970" y="584"/>
                    <a:pt x="944" y="578"/>
                    <a:pt x="941" y="589"/>
                  </a:cubicBezTo>
                  <a:cubicBezTo>
                    <a:pt x="938" y="600"/>
                    <a:pt x="941" y="615"/>
                    <a:pt x="941" y="615"/>
                  </a:cubicBezTo>
                  <a:cubicBezTo>
                    <a:pt x="890" y="621"/>
                    <a:pt x="890" y="621"/>
                    <a:pt x="890" y="621"/>
                  </a:cubicBezTo>
                  <a:cubicBezTo>
                    <a:pt x="890" y="621"/>
                    <a:pt x="875" y="610"/>
                    <a:pt x="870" y="609"/>
                  </a:cubicBezTo>
                  <a:cubicBezTo>
                    <a:pt x="865" y="608"/>
                    <a:pt x="843" y="614"/>
                    <a:pt x="843" y="600"/>
                  </a:cubicBezTo>
                  <a:cubicBezTo>
                    <a:pt x="843" y="586"/>
                    <a:pt x="843" y="569"/>
                    <a:pt x="860" y="575"/>
                  </a:cubicBezTo>
                  <a:cubicBezTo>
                    <a:pt x="877" y="581"/>
                    <a:pt x="898" y="575"/>
                    <a:pt x="898" y="575"/>
                  </a:cubicBezTo>
                  <a:cubicBezTo>
                    <a:pt x="898" y="575"/>
                    <a:pt x="860" y="544"/>
                    <a:pt x="854" y="541"/>
                  </a:cubicBezTo>
                  <a:cubicBezTo>
                    <a:pt x="848" y="538"/>
                    <a:pt x="773" y="539"/>
                    <a:pt x="773" y="539"/>
                  </a:cubicBezTo>
                  <a:cubicBezTo>
                    <a:pt x="779" y="548"/>
                    <a:pt x="779" y="548"/>
                    <a:pt x="779" y="548"/>
                  </a:cubicBezTo>
                  <a:cubicBezTo>
                    <a:pt x="779" y="548"/>
                    <a:pt x="810" y="543"/>
                    <a:pt x="805" y="563"/>
                  </a:cubicBezTo>
                  <a:cubicBezTo>
                    <a:pt x="800" y="583"/>
                    <a:pt x="790" y="612"/>
                    <a:pt x="797" y="612"/>
                  </a:cubicBezTo>
                  <a:cubicBezTo>
                    <a:pt x="804" y="612"/>
                    <a:pt x="830" y="620"/>
                    <a:pt x="830" y="620"/>
                  </a:cubicBezTo>
                  <a:cubicBezTo>
                    <a:pt x="828" y="645"/>
                    <a:pt x="828" y="645"/>
                    <a:pt x="828" y="645"/>
                  </a:cubicBezTo>
                  <a:cubicBezTo>
                    <a:pt x="834" y="664"/>
                    <a:pt x="834" y="664"/>
                    <a:pt x="834" y="664"/>
                  </a:cubicBezTo>
                  <a:cubicBezTo>
                    <a:pt x="813" y="650"/>
                    <a:pt x="813" y="650"/>
                    <a:pt x="813" y="650"/>
                  </a:cubicBezTo>
                  <a:cubicBezTo>
                    <a:pt x="798" y="666"/>
                    <a:pt x="798" y="666"/>
                    <a:pt x="798" y="666"/>
                  </a:cubicBezTo>
                  <a:cubicBezTo>
                    <a:pt x="795" y="644"/>
                    <a:pt x="795" y="644"/>
                    <a:pt x="795" y="644"/>
                  </a:cubicBezTo>
                  <a:cubicBezTo>
                    <a:pt x="749" y="632"/>
                    <a:pt x="749" y="632"/>
                    <a:pt x="749" y="632"/>
                  </a:cubicBezTo>
                  <a:cubicBezTo>
                    <a:pt x="729" y="657"/>
                    <a:pt x="729" y="657"/>
                    <a:pt x="729" y="657"/>
                  </a:cubicBezTo>
                  <a:cubicBezTo>
                    <a:pt x="711" y="658"/>
                    <a:pt x="711" y="658"/>
                    <a:pt x="711" y="658"/>
                  </a:cubicBezTo>
                  <a:cubicBezTo>
                    <a:pt x="711" y="658"/>
                    <a:pt x="705" y="669"/>
                    <a:pt x="695" y="673"/>
                  </a:cubicBezTo>
                  <a:cubicBezTo>
                    <a:pt x="685" y="677"/>
                    <a:pt x="665" y="681"/>
                    <a:pt x="673" y="688"/>
                  </a:cubicBezTo>
                  <a:cubicBezTo>
                    <a:pt x="681" y="695"/>
                    <a:pt x="713" y="718"/>
                    <a:pt x="713" y="718"/>
                  </a:cubicBezTo>
                  <a:cubicBezTo>
                    <a:pt x="725" y="735"/>
                    <a:pt x="725" y="735"/>
                    <a:pt x="725" y="735"/>
                  </a:cubicBezTo>
                  <a:cubicBezTo>
                    <a:pt x="705" y="726"/>
                    <a:pt x="705" y="726"/>
                    <a:pt x="705" y="726"/>
                  </a:cubicBezTo>
                  <a:cubicBezTo>
                    <a:pt x="705" y="726"/>
                    <a:pt x="687" y="736"/>
                    <a:pt x="674" y="730"/>
                  </a:cubicBezTo>
                  <a:cubicBezTo>
                    <a:pt x="661" y="724"/>
                    <a:pt x="618" y="717"/>
                    <a:pt x="618" y="717"/>
                  </a:cubicBezTo>
                  <a:cubicBezTo>
                    <a:pt x="618" y="717"/>
                    <a:pt x="612" y="693"/>
                    <a:pt x="597" y="699"/>
                  </a:cubicBezTo>
                  <a:cubicBezTo>
                    <a:pt x="582" y="705"/>
                    <a:pt x="574" y="711"/>
                    <a:pt x="574" y="711"/>
                  </a:cubicBezTo>
                  <a:cubicBezTo>
                    <a:pt x="562" y="712"/>
                    <a:pt x="562" y="712"/>
                    <a:pt x="562" y="712"/>
                  </a:cubicBezTo>
                  <a:cubicBezTo>
                    <a:pt x="592" y="738"/>
                    <a:pt x="592" y="738"/>
                    <a:pt x="592" y="738"/>
                  </a:cubicBezTo>
                  <a:cubicBezTo>
                    <a:pt x="592" y="738"/>
                    <a:pt x="632" y="739"/>
                    <a:pt x="632" y="746"/>
                  </a:cubicBezTo>
                  <a:cubicBezTo>
                    <a:pt x="632" y="753"/>
                    <a:pt x="614" y="764"/>
                    <a:pt x="614" y="764"/>
                  </a:cubicBezTo>
                  <a:cubicBezTo>
                    <a:pt x="572" y="754"/>
                    <a:pt x="572" y="754"/>
                    <a:pt x="572" y="754"/>
                  </a:cubicBezTo>
                  <a:cubicBezTo>
                    <a:pt x="572" y="754"/>
                    <a:pt x="557" y="740"/>
                    <a:pt x="547" y="739"/>
                  </a:cubicBezTo>
                  <a:cubicBezTo>
                    <a:pt x="537" y="738"/>
                    <a:pt x="511" y="749"/>
                    <a:pt x="509" y="735"/>
                  </a:cubicBezTo>
                  <a:cubicBezTo>
                    <a:pt x="507" y="721"/>
                    <a:pt x="508" y="705"/>
                    <a:pt x="508" y="705"/>
                  </a:cubicBezTo>
                  <a:cubicBezTo>
                    <a:pt x="495" y="697"/>
                    <a:pt x="495" y="697"/>
                    <a:pt x="495" y="697"/>
                  </a:cubicBezTo>
                  <a:cubicBezTo>
                    <a:pt x="495" y="697"/>
                    <a:pt x="516" y="679"/>
                    <a:pt x="508" y="670"/>
                  </a:cubicBezTo>
                  <a:cubicBezTo>
                    <a:pt x="500" y="661"/>
                    <a:pt x="444" y="646"/>
                    <a:pt x="444" y="646"/>
                  </a:cubicBezTo>
                  <a:cubicBezTo>
                    <a:pt x="424" y="631"/>
                    <a:pt x="424" y="631"/>
                    <a:pt x="424" y="631"/>
                  </a:cubicBezTo>
                  <a:cubicBezTo>
                    <a:pt x="408" y="620"/>
                    <a:pt x="408" y="620"/>
                    <a:pt x="408" y="620"/>
                  </a:cubicBezTo>
                  <a:cubicBezTo>
                    <a:pt x="398" y="610"/>
                    <a:pt x="398" y="610"/>
                    <a:pt x="398" y="610"/>
                  </a:cubicBezTo>
                  <a:cubicBezTo>
                    <a:pt x="424" y="609"/>
                    <a:pt x="424" y="609"/>
                    <a:pt x="424" y="609"/>
                  </a:cubicBezTo>
                  <a:cubicBezTo>
                    <a:pt x="424" y="609"/>
                    <a:pt x="419" y="618"/>
                    <a:pt x="438" y="622"/>
                  </a:cubicBezTo>
                  <a:cubicBezTo>
                    <a:pt x="457" y="626"/>
                    <a:pt x="482" y="623"/>
                    <a:pt x="482" y="623"/>
                  </a:cubicBezTo>
                  <a:cubicBezTo>
                    <a:pt x="482" y="623"/>
                    <a:pt x="498" y="641"/>
                    <a:pt x="510" y="643"/>
                  </a:cubicBezTo>
                  <a:cubicBezTo>
                    <a:pt x="522" y="645"/>
                    <a:pt x="576" y="650"/>
                    <a:pt x="576" y="650"/>
                  </a:cubicBezTo>
                  <a:cubicBezTo>
                    <a:pt x="576" y="650"/>
                    <a:pt x="613" y="666"/>
                    <a:pt x="656" y="655"/>
                  </a:cubicBezTo>
                  <a:cubicBezTo>
                    <a:pt x="699" y="644"/>
                    <a:pt x="741" y="629"/>
                    <a:pt x="719" y="609"/>
                  </a:cubicBezTo>
                  <a:cubicBezTo>
                    <a:pt x="697" y="589"/>
                    <a:pt x="696" y="576"/>
                    <a:pt x="667" y="570"/>
                  </a:cubicBezTo>
                  <a:cubicBezTo>
                    <a:pt x="638" y="564"/>
                    <a:pt x="598" y="549"/>
                    <a:pt x="579" y="542"/>
                  </a:cubicBezTo>
                  <a:cubicBezTo>
                    <a:pt x="560" y="535"/>
                    <a:pt x="526" y="518"/>
                    <a:pt x="506" y="517"/>
                  </a:cubicBezTo>
                  <a:cubicBezTo>
                    <a:pt x="486" y="516"/>
                    <a:pt x="467" y="516"/>
                    <a:pt x="455" y="516"/>
                  </a:cubicBezTo>
                  <a:cubicBezTo>
                    <a:pt x="443" y="516"/>
                    <a:pt x="421" y="516"/>
                    <a:pt x="421" y="516"/>
                  </a:cubicBezTo>
                  <a:cubicBezTo>
                    <a:pt x="413" y="506"/>
                    <a:pt x="413" y="506"/>
                    <a:pt x="413" y="506"/>
                  </a:cubicBezTo>
                  <a:cubicBezTo>
                    <a:pt x="394" y="507"/>
                    <a:pt x="394" y="507"/>
                    <a:pt x="394" y="507"/>
                  </a:cubicBezTo>
                  <a:cubicBezTo>
                    <a:pt x="373" y="498"/>
                    <a:pt x="373" y="498"/>
                    <a:pt x="373" y="498"/>
                  </a:cubicBezTo>
                  <a:cubicBezTo>
                    <a:pt x="394" y="493"/>
                    <a:pt x="394" y="493"/>
                    <a:pt x="394" y="493"/>
                  </a:cubicBezTo>
                  <a:cubicBezTo>
                    <a:pt x="406" y="485"/>
                    <a:pt x="406" y="485"/>
                    <a:pt x="406" y="485"/>
                  </a:cubicBezTo>
                  <a:cubicBezTo>
                    <a:pt x="406" y="485"/>
                    <a:pt x="363" y="469"/>
                    <a:pt x="357" y="475"/>
                  </a:cubicBezTo>
                  <a:cubicBezTo>
                    <a:pt x="351" y="481"/>
                    <a:pt x="348" y="490"/>
                    <a:pt x="348" y="490"/>
                  </a:cubicBezTo>
                  <a:cubicBezTo>
                    <a:pt x="335" y="490"/>
                    <a:pt x="335" y="490"/>
                    <a:pt x="335" y="490"/>
                  </a:cubicBezTo>
                  <a:cubicBezTo>
                    <a:pt x="333" y="493"/>
                    <a:pt x="329" y="497"/>
                    <a:pt x="321" y="498"/>
                  </a:cubicBezTo>
                  <a:cubicBezTo>
                    <a:pt x="303" y="501"/>
                    <a:pt x="304" y="498"/>
                    <a:pt x="304" y="498"/>
                  </a:cubicBezTo>
                  <a:cubicBezTo>
                    <a:pt x="300" y="506"/>
                    <a:pt x="300" y="506"/>
                    <a:pt x="300" y="506"/>
                  </a:cubicBezTo>
                  <a:cubicBezTo>
                    <a:pt x="285" y="507"/>
                    <a:pt x="285" y="507"/>
                    <a:pt x="285" y="507"/>
                  </a:cubicBezTo>
                  <a:cubicBezTo>
                    <a:pt x="285" y="507"/>
                    <a:pt x="284" y="521"/>
                    <a:pt x="275" y="522"/>
                  </a:cubicBezTo>
                  <a:cubicBezTo>
                    <a:pt x="270" y="522"/>
                    <a:pt x="266" y="521"/>
                    <a:pt x="262" y="519"/>
                  </a:cubicBezTo>
                  <a:cubicBezTo>
                    <a:pt x="261" y="528"/>
                    <a:pt x="261" y="528"/>
                    <a:pt x="261" y="528"/>
                  </a:cubicBezTo>
                  <a:cubicBezTo>
                    <a:pt x="261" y="528"/>
                    <a:pt x="265" y="534"/>
                    <a:pt x="266" y="537"/>
                  </a:cubicBezTo>
                  <a:cubicBezTo>
                    <a:pt x="267" y="540"/>
                    <a:pt x="254" y="542"/>
                    <a:pt x="254" y="542"/>
                  </a:cubicBezTo>
                  <a:cubicBezTo>
                    <a:pt x="254" y="542"/>
                    <a:pt x="257" y="545"/>
                    <a:pt x="259" y="557"/>
                  </a:cubicBezTo>
                  <a:cubicBezTo>
                    <a:pt x="261" y="569"/>
                    <a:pt x="275" y="561"/>
                    <a:pt x="281" y="561"/>
                  </a:cubicBezTo>
                  <a:cubicBezTo>
                    <a:pt x="287" y="561"/>
                    <a:pt x="292" y="568"/>
                    <a:pt x="296" y="573"/>
                  </a:cubicBezTo>
                  <a:cubicBezTo>
                    <a:pt x="300" y="578"/>
                    <a:pt x="306" y="581"/>
                    <a:pt x="315" y="591"/>
                  </a:cubicBezTo>
                  <a:cubicBezTo>
                    <a:pt x="324" y="601"/>
                    <a:pt x="300" y="603"/>
                    <a:pt x="300" y="608"/>
                  </a:cubicBezTo>
                  <a:cubicBezTo>
                    <a:pt x="300" y="613"/>
                    <a:pt x="283" y="620"/>
                    <a:pt x="283" y="620"/>
                  </a:cubicBezTo>
                  <a:cubicBezTo>
                    <a:pt x="296" y="631"/>
                    <a:pt x="296" y="631"/>
                    <a:pt x="296" y="631"/>
                  </a:cubicBezTo>
                  <a:cubicBezTo>
                    <a:pt x="296" y="631"/>
                    <a:pt x="337" y="663"/>
                    <a:pt x="343" y="673"/>
                  </a:cubicBezTo>
                  <a:cubicBezTo>
                    <a:pt x="349" y="683"/>
                    <a:pt x="321" y="677"/>
                    <a:pt x="321" y="677"/>
                  </a:cubicBezTo>
                  <a:cubicBezTo>
                    <a:pt x="316" y="697"/>
                    <a:pt x="316" y="697"/>
                    <a:pt x="316" y="697"/>
                  </a:cubicBezTo>
                  <a:cubicBezTo>
                    <a:pt x="323" y="703"/>
                    <a:pt x="323" y="703"/>
                    <a:pt x="323" y="703"/>
                  </a:cubicBezTo>
                  <a:cubicBezTo>
                    <a:pt x="323" y="713"/>
                    <a:pt x="323" y="713"/>
                    <a:pt x="323" y="713"/>
                  </a:cubicBezTo>
                  <a:cubicBezTo>
                    <a:pt x="323" y="713"/>
                    <a:pt x="342" y="718"/>
                    <a:pt x="343" y="722"/>
                  </a:cubicBezTo>
                  <a:cubicBezTo>
                    <a:pt x="344" y="726"/>
                    <a:pt x="337" y="737"/>
                    <a:pt x="337" y="737"/>
                  </a:cubicBezTo>
                  <a:cubicBezTo>
                    <a:pt x="352" y="740"/>
                    <a:pt x="352" y="740"/>
                    <a:pt x="352" y="740"/>
                  </a:cubicBezTo>
                  <a:cubicBezTo>
                    <a:pt x="352" y="740"/>
                    <a:pt x="363" y="748"/>
                    <a:pt x="364" y="752"/>
                  </a:cubicBezTo>
                  <a:cubicBezTo>
                    <a:pt x="365" y="756"/>
                    <a:pt x="344" y="770"/>
                    <a:pt x="344" y="770"/>
                  </a:cubicBezTo>
                  <a:cubicBezTo>
                    <a:pt x="383" y="788"/>
                    <a:pt x="383" y="788"/>
                    <a:pt x="383" y="788"/>
                  </a:cubicBezTo>
                  <a:cubicBezTo>
                    <a:pt x="383" y="788"/>
                    <a:pt x="406" y="807"/>
                    <a:pt x="405" y="815"/>
                  </a:cubicBezTo>
                  <a:cubicBezTo>
                    <a:pt x="404" y="823"/>
                    <a:pt x="395" y="830"/>
                    <a:pt x="391" y="837"/>
                  </a:cubicBezTo>
                  <a:cubicBezTo>
                    <a:pt x="387" y="844"/>
                    <a:pt x="366" y="856"/>
                    <a:pt x="366" y="856"/>
                  </a:cubicBezTo>
                  <a:cubicBezTo>
                    <a:pt x="366" y="856"/>
                    <a:pt x="338" y="882"/>
                    <a:pt x="334" y="887"/>
                  </a:cubicBezTo>
                  <a:cubicBezTo>
                    <a:pt x="330" y="892"/>
                    <a:pt x="289" y="916"/>
                    <a:pt x="289" y="916"/>
                  </a:cubicBezTo>
                  <a:cubicBezTo>
                    <a:pt x="293" y="923"/>
                    <a:pt x="293" y="923"/>
                    <a:pt x="293" y="923"/>
                  </a:cubicBezTo>
                  <a:cubicBezTo>
                    <a:pt x="313" y="912"/>
                    <a:pt x="313" y="912"/>
                    <a:pt x="313" y="912"/>
                  </a:cubicBezTo>
                  <a:cubicBezTo>
                    <a:pt x="315" y="923"/>
                    <a:pt x="315" y="923"/>
                    <a:pt x="315" y="923"/>
                  </a:cubicBezTo>
                  <a:cubicBezTo>
                    <a:pt x="315" y="923"/>
                    <a:pt x="328" y="936"/>
                    <a:pt x="334" y="939"/>
                  </a:cubicBezTo>
                  <a:cubicBezTo>
                    <a:pt x="340" y="942"/>
                    <a:pt x="367" y="942"/>
                    <a:pt x="367" y="942"/>
                  </a:cubicBezTo>
                  <a:cubicBezTo>
                    <a:pt x="376" y="954"/>
                    <a:pt x="376" y="954"/>
                    <a:pt x="376" y="954"/>
                  </a:cubicBezTo>
                  <a:cubicBezTo>
                    <a:pt x="376" y="954"/>
                    <a:pt x="337" y="945"/>
                    <a:pt x="335" y="951"/>
                  </a:cubicBezTo>
                  <a:cubicBezTo>
                    <a:pt x="333" y="957"/>
                    <a:pt x="333" y="961"/>
                    <a:pt x="333" y="961"/>
                  </a:cubicBezTo>
                  <a:cubicBezTo>
                    <a:pt x="307" y="962"/>
                    <a:pt x="307" y="962"/>
                    <a:pt x="307" y="962"/>
                  </a:cubicBezTo>
                  <a:cubicBezTo>
                    <a:pt x="303" y="980"/>
                    <a:pt x="303" y="980"/>
                    <a:pt x="303" y="980"/>
                  </a:cubicBezTo>
                  <a:cubicBezTo>
                    <a:pt x="303" y="980"/>
                    <a:pt x="300" y="979"/>
                    <a:pt x="295" y="978"/>
                  </a:cubicBezTo>
                  <a:cubicBezTo>
                    <a:pt x="292" y="988"/>
                    <a:pt x="292" y="988"/>
                    <a:pt x="292" y="988"/>
                  </a:cubicBezTo>
                  <a:cubicBezTo>
                    <a:pt x="295" y="997"/>
                    <a:pt x="295" y="997"/>
                    <a:pt x="295" y="997"/>
                  </a:cubicBezTo>
                  <a:cubicBezTo>
                    <a:pt x="295" y="997"/>
                    <a:pt x="288" y="1001"/>
                    <a:pt x="284" y="1003"/>
                  </a:cubicBezTo>
                  <a:cubicBezTo>
                    <a:pt x="280" y="1005"/>
                    <a:pt x="281" y="1019"/>
                    <a:pt x="281" y="1019"/>
                  </a:cubicBezTo>
                  <a:cubicBezTo>
                    <a:pt x="290" y="1023"/>
                    <a:pt x="290" y="1023"/>
                    <a:pt x="290" y="1023"/>
                  </a:cubicBezTo>
                  <a:cubicBezTo>
                    <a:pt x="285" y="1041"/>
                    <a:pt x="285" y="1041"/>
                    <a:pt x="285" y="1041"/>
                  </a:cubicBezTo>
                  <a:cubicBezTo>
                    <a:pt x="292" y="1043"/>
                    <a:pt x="292" y="1043"/>
                    <a:pt x="292" y="1043"/>
                  </a:cubicBezTo>
                  <a:cubicBezTo>
                    <a:pt x="301" y="1055"/>
                    <a:pt x="301" y="1055"/>
                    <a:pt x="301" y="1055"/>
                  </a:cubicBezTo>
                  <a:cubicBezTo>
                    <a:pt x="288" y="1064"/>
                    <a:pt x="288" y="1064"/>
                    <a:pt x="288" y="1064"/>
                  </a:cubicBezTo>
                  <a:cubicBezTo>
                    <a:pt x="288" y="1072"/>
                    <a:pt x="288" y="1072"/>
                    <a:pt x="288" y="1072"/>
                  </a:cubicBezTo>
                  <a:cubicBezTo>
                    <a:pt x="288" y="1072"/>
                    <a:pt x="309" y="1082"/>
                    <a:pt x="310" y="1087"/>
                  </a:cubicBezTo>
                  <a:cubicBezTo>
                    <a:pt x="311" y="1092"/>
                    <a:pt x="298" y="1094"/>
                    <a:pt x="298" y="1094"/>
                  </a:cubicBezTo>
                  <a:cubicBezTo>
                    <a:pt x="297" y="1103"/>
                    <a:pt x="297" y="1103"/>
                    <a:pt x="297" y="1103"/>
                  </a:cubicBezTo>
                  <a:cubicBezTo>
                    <a:pt x="310" y="1107"/>
                    <a:pt x="310" y="1107"/>
                    <a:pt x="310" y="1107"/>
                  </a:cubicBezTo>
                  <a:cubicBezTo>
                    <a:pt x="310" y="1107"/>
                    <a:pt x="315" y="1118"/>
                    <a:pt x="322" y="1124"/>
                  </a:cubicBezTo>
                  <a:cubicBezTo>
                    <a:pt x="328" y="1129"/>
                    <a:pt x="328" y="1139"/>
                    <a:pt x="328" y="1143"/>
                  </a:cubicBezTo>
                  <a:cubicBezTo>
                    <a:pt x="332" y="1144"/>
                    <a:pt x="336" y="1144"/>
                    <a:pt x="339" y="1145"/>
                  </a:cubicBezTo>
                  <a:cubicBezTo>
                    <a:pt x="347" y="1146"/>
                    <a:pt x="348" y="1153"/>
                    <a:pt x="348" y="1153"/>
                  </a:cubicBezTo>
                  <a:cubicBezTo>
                    <a:pt x="354" y="1147"/>
                    <a:pt x="354" y="1147"/>
                    <a:pt x="354" y="1147"/>
                  </a:cubicBezTo>
                  <a:cubicBezTo>
                    <a:pt x="380" y="1153"/>
                    <a:pt x="380" y="1153"/>
                    <a:pt x="380" y="1153"/>
                  </a:cubicBezTo>
                  <a:cubicBezTo>
                    <a:pt x="382" y="1163"/>
                    <a:pt x="382" y="1163"/>
                    <a:pt x="382" y="1163"/>
                  </a:cubicBezTo>
                  <a:cubicBezTo>
                    <a:pt x="404" y="1151"/>
                    <a:pt x="404" y="1151"/>
                    <a:pt x="404" y="1151"/>
                  </a:cubicBezTo>
                  <a:cubicBezTo>
                    <a:pt x="404" y="1151"/>
                    <a:pt x="426" y="1162"/>
                    <a:pt x="437" y="1167"/>
                  </a:cubicBezTo>
                  <a:cubicBezTo>
                    <a:pt x="448" y="1172"/>
                    <a:pt x="434" y="1186"/>
                    <a:pt x="434" y="1186"/>
                  </a:cubicBezTo>
                  <a:cubicBezTo>
                    <a:pt x="442" y="1196"/>
                    <a:pt x="442" y="1196"/>
                    <a:pt x="442" y="1196"/>
                  </a:cubicBezTo>
                  <a:cubicBezTo>
                    <a:pt x="438" y="1208"/>
                    <a:pt x="438" y="1208"/>
                    <a:pt x="438" y="1208"/>
                  </a:cubicBezTo>
                  <a:cubicBezTo>
                    <a:pt x="438" y="1208"/>
                    <a:pt x="443" y="1213"/>
                    <a:pt x="451" y="1215"/>
                  </a:cubicBezTo>
                  <a:cubicBezTo>
                    <a:pt x="459" y="1217"/>
                    <a:pt x="462" y="1238"/>
                    <a:pt x="462" y="1238"/>
                  </a:cubicBezTo>
                  <a:cubicBezTo>
                    <a:pt x="482" y="1245"/>
                    <a:pt x="482" y="1245"/>
                    <a:pt x="482" y="1245"/>
                  </a:cubicBezTo>
                  <a:cubicBezTo>
                    <a:pt x="484" y="1260"/>
                    <a:pt x="484" y="1260"/>
                    <a:pt x="484" y="1260"/>
                  </a:cubicBezTo>
                  <a:cubicBezTo>
                    <a:pt x="484" y="1260"/>
                    <a:pt x="494" y="1258"/>
                    <a:pt x="507" y="1261"/>
                  </a:cubicBezTo>
                  <a:cubicBezTo>
                    <a:pt x="520" y="1264"/>
                    <a:pt x="512" y="1273"/>
                    <a:pt x="512" y="1273"/>
                  </a:cubicBezTo>
                  <a:cubicBezTo>
                    <a:pt x="526" y="1281"/>
                    <a:pt x="526" y="1281"/>
                    <a:pt x="526" y="1281"/>
                  </a:cubicBezTo>
                  <a:cubicBezTo>
                    <a:pt x="526" y="1281"/>
                    <a:pt x="517" y="1290"/>
                    <a:pt x="509" y="1297"/>
                  </a:cubicBezTo>
                  <a:cubicBezTo>
                    <a:pt x="501" y="1304"/>
                    <a:pt x="488" y="1296"/>
                    <a:pt x="488" y="1296"/>
                  </a:cubicBezTo>
                  <a:cubicBezTo>
                    <a:pt x="488" y="1296"/>
                    <a:pt x="486" y="1290"/>
                    <a:pt x="472" y="1293"/>
                  </a:cubicBezTo>
                  <a:cubicBezTo>
                    <a:pt x="458" y="1296"/>
                    <a:pt x="485" y="1318"/>
                    <a:pt x="485" y="1318"/>
                  </a:cubicBezTo>
                  <a:cubicBezTo>
                    <a:pt x="485" y="1318"/>
                    <a:pt x="485" y="1332"/>
                    <a:pt x="488" y="1333"/>
                  </a:cubicBezTo>
                  <a:cubicBezTo>
                    <a:pt x="490" y="1333"/>
                    <a:pt x="490" y="1343"/>
                    <a:pt x="491" y="1351"/>
                  </a:cubicBezTo>
                  <a:cubicBezTo>
                    <a:pt x="486" y="1351"/>
                    <a:pt x="481" y="1350"/>
                    <a:pt x="477" y="1349"/>
                  </a:cubicBezTo>
                  <a:cubicBezTo>
                    <a:pt x="490" y="1351"/>
                    <a:pt x="510" y="1355"/>
                    <a:pt x="516" y="1352"/>
                  </a:cubicBezTo>
                  <a:cubicBezTo>
                    <a:pt x="524" y="1348"/>
                    <a:pt x="520" y="1339"/>
                    <a:pt x="520" y="1339"/>
                  </a:cubicBezTo>
                  <a:cubicBezTo>
                    <a:pt x="538" y="1342"/>
                    <a:pt x="538" y="1342"/>
                    <a:pt x="538" y="1342"/>
                  </a:cubicBezTo>
                  <a:cubicBezTo>
                    <a:pt x="549" y="1337"/>
                    <a:pt x="549" y="1337"/>
                    <a:pt x="549" y="1337"/>
                  </a:cubicBezTo>
                  <a:cubicBezTo>
                    <a:pt x="579" y="1336"/>
                    <a:pt x="579" y="1336"/>
                    <a:pt x="579" y="1336"/>
                  </a:cubicBezTo>
                  <a:cubicBezTo>
                    <a:pt x="585" y="1350"/>
                    <a:pt x="585" y="1350"/>
                    <a:pt x="585" y="1350"/>
                  </a:cubicBezTo>
                  <a:cubicBezTo>
                    <a:pt x="585" y="1350"/>
                    <a:pt x="606" y="1356"/>
                    <a:pt x="604" y="1362"/>
                  </a:cubicBezTo>
                  <a:cubicBezTo>
                    <a:pt x="602" y="1368"/>
                    <a:pt x="594" y="1369"/>
                    <a:pt x="594" y="1369"/>
                  </a:cubicBezTo>
                  <a:cubicBezTo>
                    <a:pt x="599" y="1381"/>
                    <a:pt x="599" y="1381"/>
                    <a:pt x="599" y="1381"/>
                  </a:cubicBezTo>
                  <a:cubicBezTo>
                    <a:pt x="600" y="1392"/>
                    <a:pt x="600" y="1392"/>
                    <a:pt x="600" y="1392"/>
                  </a:cubicBezTo>
                  <a:cubicBezTo>
                    <a:pt x="623" y="1394"/>
                    <a:pt x="623" y="1394"/>
                    <a:pt x="623" y="1394"/>
                  </a:cubicBezTo>
                  <a:cubicBezTo>
                    <a:pt x="651" y="1406"/>
                    <a:pt x="651" y="1406"/>
                    <a:pt x="651" y="1406"/>
                  </a:cubicBezTo>
                  <a:cubicBezTo>
                    <a:pt x="658" y="1435"/>
                    <a:pt x="658" y="1435"/>
                    <a:pt x="658" y="1435"/>
                  </a:cubicBezTo>
                  <a:cubicBezTo>
                    <a:pt x="662" y="1438"/>
                    <a:pt x="662" y="1438"/>
                    <a:pt x="662" y="1438"/>
                  </a:cubicBezTo>
                  <a:cubicBezTo>
                    <a:pt x="680" y="1434"/>
                    <a:pt x="680" y="1434"/>
                    <a:pt x="680" y="1434"/>
                  </a:cubicBezTo>
                  <a:cubicBezTo>
                    <a:pt x="680" y="1434"/>
                    <a:pt x="688" y="1438"/>
                    <a:pt x="696" y="1442"/>
                  </a:cubicBezTo>
                  <a:cubicBezTo>
                    <a:pt x="704" y="1446"/>
                    <a:pt x="702" y="1441"/>
                    <a:pt x="713" y="1440"/>
                  </a:cubicBezTo>
                  <a:cubicBezTo>
                    <a:pt x="724" y="1439"/>
                    <a:pt x="733" y="1445"/>
                    <a:pt x="733" y="1445"/>
                  </a:cubicBezTo>
                  <a:cubicBezTo>
                    <a:pt x="733" y="1445"/>
                    <a:pt x="729" y="1435"/>
                    <a:pt x="738" y="1436"/>
                  </a:cubicBezTo>
                  <a:cubicBezTo>
                    <a:pt x="747" y="1437"/>
                    <a:pt x="749" y="1448"/>
                    <a:pt x="755" y="1452"/>
                  </a:cubicBezTo>
                  <a:cubicBezTo>
                    <a:pt x="761" y="1456"/>
                    <a:pt x="764" y="1461"/>
                    <a:pt x="764" y="1461"/>
                  </a:cubicBezTo>
                  <a:cubicBezTo>
                    <a:pt x="764" y="1461"/>
                    <a:pt x="776" y="1455"/>
                    <a:pt x="780" y="1455"/>
                  </a:cubicBezTo>
                  <a:cubicBezTo>
                    <a:pt x="784" y="1455"/>
                    <a:pt x="797" y="1464"/>
                    <a:pt x="797" y="1464"/>
                  </a:cubicBezTo>
                  <a:cubicBezTo>
                    <a:pt x="797" y="1464"/>
                    <a:pt x="811" y="1462"/>
                    <a:pt x="818" y="1464"/>
                  </a:cubicBezTo>
                  <a:cubicBezTo>
                    <a:pt x="825" y="1466"/>
                    <a:pt x="827" y="1472"/>
                    <a:pt x="827" y="1472"/>
                  </a:cubicBezTo>
                  <a:cubicBezTo>
                    <a:pt x="840" y="1481"/>
                    <a:pt x="840" y="1481"/>
                    <a:pt x="840" y="1481"/>
                  </a:cubicBezTo>
                  <a:cubicBezTo>
                    <a:pt x="840" y="1481"/>
                    <a:pt x="857" y="1475"/>
                    <a:pt x="858" y="1485"/>
                  </a:cubicBezTo>
                  <a:cubicBezTo>
                    <a:pt x="859" y="1495"/>
                    <a:pt x="860" y="1502"/>
                    <a:pt x="860" y="1502"/>
                  </a:cubicBezTo>
                  <a:cubicBezTo>
                    <a:pt x="846" y="1509"/>
                    <a:pt x="846" y="1509"/>
                    <a:pt x="846" y="1509"/>
                  </a:cubicBezTo>
                  <a:cubicBezTo>
                    <a:pt x="846" y="1509"/>
                    <a:pt x="863" y="1512"/>
                    <a:pt x="862" y="1518"/>
                  </a:cubicBezTo>
                  <a:cubicBezTo>
                    <a:pt x="861" y="1524"/>
                    <a:pt x="844" y="1522"/>
                    <a:pt x="845" y="1525"/>
                  </a:cubicBezTo>
                  <a:cubicBezTo>
                    <a:pt x="846" y="1528"/>
                    <a:pt x="858" y="1536"/>
                    <a:pt x="859" y="1542"/>
                  </a:cubicBezTo>
                  <a:cubicBezTo>
                    <a:pt x="860" y="1548"/>
                    <a:pt x="868" y="1561"/>
                    <a:pt x="856" y="1565"/>
                  </a:cubicBezTo>
                  <a:cubicBezTo>
                    <a:pt x="844" y="1569"/>
                    <a:pt x="821" y="1567"/>
                    <a:pt x="821" y="1567"/>
                  </a:cubicBezTo>
                  <a:cubicBezTo>
                    <a:pt x="821" y="1567"/>
                    <a:pt x="813" y="1576"/>
                    <a:pt x="810" y="1580"/>
                  </a:cubicBezTo>
                  <a:cubicBezTo>
                    <a:pt x="807" y="1584"/>
                    <a:pt x="794" y="1584"/>
                    <a:pt x="794" y="1584"/>
                  </a:cubicBezTo>
                  <a:cubicBezTo>
                    <a:pt x="797" y="1609"/>
                    <a:pt x="797" y="1609"/>
                    <a:pt x="797" y="1609"/>
                  </a:cubicBezTo>
                  <a:cubicBezTo>
                    <a:pt x="796" y="1610"/>
                    <a:pt x="795" y="1610"/>
                    <a:pt x="795" y="1610"/>
                  </a:cubicBezTo>
                  <a:cubicBezTo>
                    <a:pt x="796" y="1610"/>
                    <a:pt x="797" y="1609"/>
                    <a:pt x="799" y="1609"/>
                  </a:cubicBezTo>
                  <a:cubicBezTo>
                    <a:pt x="810" y="1603"/>
                    <a:pt x="839" y="1594"/>
                    <a:pt x="840" y="1603"/>
                  </a:cubicBezTo>
                  <a:cubicBezTo>
                    <a:pt x="841" y="1611"/>
                    <a:pt x="819" y="1627"/>
                    <a:pt x="819" y="1627"/>
                  </a:cubicBezTo>
                  <a:cubicBezTo>
                    <a:pt x="786" y="1637"/>
                    <a:pt x="786" y="1637"/>
                    <a:pt x="786" y="1637"/>
                  </a:cubicBezTo>
                  <a:cubicBezTo>
                    <a:pt x="816" y="1660"/>
                    <a:pt x="816" y="1660"/>
                    <a:pt x="816" y="1660"/>
                  </a:cubicBezTo>
                  <a:cubicBezTo>
                    <a:pt x="816" y="1660"/>
                    <a:pt x="792" y="1665"/>
                    <a:pt x="791" y="1675"/>
                  </a:cubicBezTo>
                  <a:cubicBezTo>
                    <a:pt x="790" y="1685"/>
                    <a:pt x="790" y="1696"/>
                    <a:pt x="790" y="1696"/>
                  </a:cubicBezTo>
                  <a:cubicBezTo>
                    <a:pt x="790" y="1696"/>
                    <a:pt x="777" y="1705"/>
                    <a:pt x="772" y="1705"/>
                  </a:cubicBezTo>
                  <a:cubicBezTo>
                    <a:pt x="767" y="1705"/>
                    <a:pt x="752" y="1694"/>
                    <a:pt x="752" y="1694"/>
                  </a:cubicBezTo>
                  <a:cubicBezTo>
                    <a:pt x="748" y="1705"/>
                    <a:pt x="748" y="1705"/>
                    <a:pt x="748" y="1705"/>
                  </a:cubicBezTo>
                  <a:cubicBezTo>
                    <a:pt x="748" y="1705"/>
                    <a:pt x="760" y="1718"/>
                    <a:pt x="763" y="1718"/>
                  </a:cubicBezTo>
                  <a:cubicBezTo>
                    <a:pt x="766" y="1718"/>
                    <a:pt x="775" y="1737"/>
                    <a:pt x="775" y="1737"/>
                  </a:cubicBezTo>
                  <a:cubicBezTo>
                    <a:pt x="800" y="1735"/>
                    <a:pt x="800" y="1735"/>
                    <a:pt x="800" y="1735"/>
                  </a:cubicBezTo>
                  <a:cubicBezTo>
                    <a:pt x="800" y="1735"/>
                    <a:pt x="818" y="1754"/>
                    <a:pt x="824" y="1754"/>
                  </a:cubicBezTo>
                  <a:cubicBezTo>
                    <a:pt x="830" y="1754"/>
                    <a:pt x="842" y="1755"/>
                    <a:pt x="842" y="1755"/>
                  </a:cubicBezTo>
                  <a:cubicBezTo>
                    <a:pt x="842" y="1755"/>
                    <a:pt x="873" y="1792"/>
                    <a:pt x="881" y="1795"/>
                  </a:cubicBezTo>
                  <a:cubicBezTo>
                    <a:pt x="889" y="1798"/>
                    <a:pt x="905" y="1805"/>
                    <a:pt x="905" y="1805"/>
                  </a:cubicBezTo>
                  <a:cubicBezTo>
                    <a:pt x="905" y="1805"/>
                    <a:pt x="904" y="1805"/>
                    <a:pt x="901" y="1804"/>
                  </a:cubicBezTo>
                  <a:cubicBezTo>
                    <a:pt x="914" y="1793"/>
                    <a:pt x="914" y="1793"/>
                    <a:pt x="914" y="1793"/>
                  </a:cubicBezTo>
                  <a:cubicBezTo>
                    <a:pt x="914" y="1793"/>
                    <a:pt x="939" y="1796"/>
                    <a:pt x="955" y="1803"/>
                  </a:cubicBezTo>
                  <a:cubicBezTo>
                    <a:pt x="971" y="1810"/>
                    <a:pt x="983" y="1812"/>
                    <a:pt x="996" y="1811"/>
                  </a:cubicBezTo>
                  <a:cubicBezTo>
                    <a:pt x="1009" y="1810"/>
                    <a:pt x="1029" y="1815"/>
                    <a:pt x="1029" y="1815"/>
                  </a:cubicBezTo>
                  <a:cubicBezTo>
                    <a:pt x="1061" y="1835"/>
                    <a:pt x="1061" y="1835"/>
                    <a:pt x="1061" y="1835"/>
                  </a:cubicBezTo>
                  <a:cubicBezTo>
                    <a:pt x="1061" y="1835"/>
                    <a:pt x="1061" y="1846"/>
                    <a:pt x="1080" y="1846"/>
                  </a:cubicBezTo>
                  <a:cubicBezTo>
                    <a:pt x="1099" y="1846"/>
                    <a:pt x="1091" y="1837"/>
                    <a:pt x="1109" y="1835"/>
                  </a:cubicBezTo>
                  <a:cubicBezTo>
                    <a:pt x="1127" y="1833"/>
                    <a:pt x="1137" y="1848"/>
                    <a:pt x="1137" y="1848"/>
                  </a:cubicBezTo>
                  <a:cubicBezTo>
                    <a:pt x="1157" y="1851"/>
                    <a:pt x="1157" y="1851"/>
                    <a:pt x="1157" y="1851"/>
                  </a:cubicBezTo>
                  <a:cubicBezTo>
                    <a:pt x="1157" y="1851"/>
                    <a:pt x="1152" y="1869"/>
                    <a:pt x="1152" y="1868"/>
                  </a:cubicBezTo>
                  <a:cubicBezTo>
                    <a:pt x="1169" y="1869"/>
                    <a:pt x="1180" y="1879"/>
                    <a:pt x="1187" y="1886"/>
                  </a:cubicBezTo>
                  <a:cubicBezTo>
                    <a:pt x="1187" y="1886"/>
                    <a:pt x="1187" y="1886"/>
                    <a:pt x="1187" y="1886"/>
                  </a:cubicBezTo>
                  <a:cubicBezTo>
                    <a:pt x="1194" y="1885"/>
                    <a:pt x="1205" y="1886"/>
                    <a:pt x="1214" y="1892"/>
                  </a:cubicBezTo>
                  <a:cubicBezTo>
                    <a:pt x="1227" y="1901"/>
                    <a:pt x="1236" y="1923"/>
                    <a:pt x="1252" y="1921"/>
                  </a:cubicBezTo>
                  <a:cubicBezTo>
                    <a:pt x="1268" y="1919"/>
                    <a:pt x="1262" y="1907"/>
                    <a:pt x="1262" y="1907"/>
                  </a:cubicBezTo>
                  <a:cubicBezTo>
                    <a:pt x="1262" y="1907"/>
                    <a:pt x="1278" y="1910"/>
                    <a:pt x="1279" y="1903"/>
                  </a:cubicBezTo>
                  <a:cubicBezTo>
                    <a:pt x="1280" y="1896"/>
                    <a:pt x="1281" y="1885"/>
                    <a:pt x="1281" y="1885"/>
                  </a:cubicBezTo>
                  <a:cubicBezTo>
                    <a:pt x="1274" y="1882"/>
                    <a:pt x="1274" y="1882"/>
                    <a:pt x="1274" y="1882"/>
                  </a:cubicBezTo>
                  <a:cubicBezTo>
                    <a:pt x="1274" y="1882"/>
                    <a:pt x="1269" y="1868"/>
                    <a:pt x="1264" y="1860"/>
                  </a:cubicBezTo>
                  <a:cubicBezTo>
                    <a:pt x="1259" y="1852"/>
                    <a:pt x="1240" y="1848"/>
                    <a:pt x="1240" y="1848"/>
                  </a:cubicBezTo>
                  <a:cubicBezTo>
                    <a:pt x="1240" y="1833"/>
                    <a:pt x="1240" y="1833"/>
                    <a:pt x="1240" y="1833"/>
                  </a:cubicBezTo>
                  <a:cubicBezTo>
                    <a:pt x="1240" y="1833"/>
                    <a:pt x="1232" y="1829"/>
                    <a:pt x="1223" y="1818"/>
                  </a:cubicBezTo>
                  <a:cubicBezTo>
                    <a:pt x="1214" y="1807"/>
                    <a:pt x="1226" y="1793"/>
                    <a:pt x="1221" y="1780"/>
                  </a:cubicBezTo>
                  <a:cubicBezTo>
                    <a:pt x="1216" y="1767"/>
                    <a:pt x="1195" y="1753"/>
                    <a:pt x="1195" y="1753"/>
                  </a:cubicBezTo>
                  <a:cubicBezTo>
                    <a:pt x="1195" y="1753"/>
                    <a:pt x="1186" y="1752"/>
                    <a:pt x="1177" y="1747"/>
                  </a:cubicBezTo>
                  <a:cubicBezTo>
                    <a:pt x="1168" y="1742"/>
                    <a:pt x="1190" y="1721"/>
                    <a:pt x="1190" y="1721"/>
                  </a:cubicBezTo>
                  <a:cubicBezTo>
                    <a:pt x="1190" y="1721"/>
                    <a:pt x="1205" y="1708"/>
                    <a:pt x="1208" y="1701"/>
                  </a:cubicBezTo>
                  <a:cubicBezTo>
                    <a:pt x="1211" y="1694"/>
                    <a:pt x="1197" y="1679"/>
                    <a:pt x="1197" y="1679"/>
                  </a:cubicBezTo>
                  <a:cubicBezTo>
                    <a:pt x="1197" y="1679"/>
                    <a:pt x="1211" y="1685"/>
                    <a:pt x="1214" y="1685"/>
                  </a:cubicBezTo>
                  <a:cubicBezTo>
                    <a:pt x="1217" y="1685"/>
                    <a:pt x="1229" y="1684"/>
                    <a:pt x="1232" y="1678"/>
                  </a:cubicBezTo>
                  <a:cubicBezTo>
                    <a:pt x="1235" y="1672"/>
                    <a:pt x="1238" y="1678"/>
                    <a:pt x="1250" y="1676"/>
                  </a:cubicBezTo>
                  <a:cubicBezTo>
                    <a:pt x="1262" y="1674"/>
                    <a:pt x="1245" y="1661"/>
                    <a:pt x="1245" y="1661"/>
                  </a:cubicBezTo>
                  <a:cubicBezTo>
                    <a:pt x="1245" y="1661"/>
                    <a:pt x="1261" y="1662"/>
                    <a:pt x="1264" y="1662"/>
                  </a:cubicBezTo>
                  <a:cubicBezTo>
                    <a:pt x="1266" y="1662"/>
                    <a:pt x="1265" y="1652"/>
                    <a:pt x="1264" y="1649"/>
                  </a:cubicBezTo>
                  <a:cubicBezTo>
                    <a:pt x="1257" y="1647"/>
                    <a:pt x="1231" y="1638"/>
                    <a:pt x="1231" y="1631"/>
                  </a:cubicBezTo>
                  <a:cubicBezTo>
                    <a:pt x="1231" y="1623"/>
                    <a:pt x="1254" y="1632"/>
                    <a:pt x="1254" y="1624"/>
                  </a:cubicBezTo>
                  <a:cubicBezTo>
                    <a:pt x="1254" y="1616"/>
                    <a:pt x="1215" y="1576"/>
                    <a:pt x="1210" y="1574"/>
                  </a:cubicBezTo>
                  <a:cubicBezTo>
                    <a:pt x="1205" y="1571"/>
                    <a:pt x="1181" y="1580"/>
                    <a:pt x="1169" y="1575"/>
                  </a:cubicBezTo>
                  <a:cubicBezTo>
                    <a:pt x="1157" y="1570"/>
                    <a:pt x="1171" y="1555"/>
                    <a:pt x="1159" y="1550"/>
                  </a:cubicBezTo>
                  <a:cubicBezTo>
                    <a:pt x="1147" y="1544"/>
                    <a:pt x="1137" y="1554"/>
                    <a:pt x="1137" y="1538"/>
                  </a:cubicBezTo>
                  <a:cubicBezTo>
                    <a:pt x="1137" y="1522"/>
                    <a:pt x="1145" y="1510"/>
                    <a:pt x="1145" y="1502"/>
                  </a:cubicBezTo>
                  <a:cubicBezTo>
                    <a:pt x="1145" y="1494"/>
                    <a:pt x="1139" y="1488"/>
                    <a:pt x="1139" y="1488"/>
                  </a:cubicBezTo>
                  <a:cubicBezTo>
                    <a:pt x="1137" y="1464"/>
                    <a:pt x="1137" y="1464"/>
                    <a:pt x="1137" y="1464"/>
                  </a:cubicBezTo>
                  <a:cubicBezTo>
                    <a:pt x="1137" y="1464"/>
                    <a:pt x="1150" y="1467"/>
                    <a:pt x="1150" y="1459"/>
                  </a:cubicBezTo>
                  <a:cubicBezTo>
                    <a:pt x="1150" y="1451"/>
                    <a:pt x="1142" y="1432"/>
                    <a:pt x="1154" y="1431"/>
                  </a:cubicBezTo>
                  <a:cubicBezTo>
                    <a:pt x="1166" y="1430"/>
                    <a:pt x="1194" y="1472"/>
                    <a:pt x="1209" y="1458"/>
                  </a:cubicBezTo>
                  <a:cubicBezTo>
                    <a:pt x="1223" y="1443"/>
                    <a:pt x="1205" y="1428"/>
                    <a:pt x="1205" y="1428"/>
                  </a:cubicBezTo>
                  <a:cubicBezTo>
                    <a:pt x="1223" y="1419"/>
                    <a:pt x="1223" y="1419"/>
                    <a:pt x="1223" y="1419"/>
                  </a:cubicBezTo>
                  <a:cubicBezTo>
                    <a:pt x="1223" y="1404"/>
                    <a:pt x="1223" y="1404"/>
                    <a:pt x="1223" y="1404"/>
                  </a:cubicBezTo>
                  <a:cubicBezTo>
                    <a:pt x="1223" y="1404"/>
                    <a:pt x="1251" y="1399"/>
                    <a:pt x="1259" y="1388"/>
                  </a:cubicBezTo>
                  <a:cubicBezTo>
                    <a:pt x="1267" y="1378"/>
                    <a:pt x="1245" y="1370"/>
                    <a:pt x="1267" y="1368"/>
                  </a:cubicBezTo>
                  <a:cubicBezTo>
                    <a:pt x="1290" y="1367"/>
                    <a:pt x="1282" y="1380"/>
                    <a:pt x="1298" y="1380"/>
                  </a:cubicBezTo>
                  <a:cubicBezTo>
                    <a:pt x="1314" y="1380"/>
                    <a:pt x="1327" y="1367"/>
                    <a:pt x="1334" y="1367"/>
                  </a:cubicBezTo>
                  <a:cubicBezTo>
                    <a:pt x="1341" y="1367"/>
                    <a:pt x="1342" y="1380"/>
                    <a:pt x="1351" y="1382"/>
                  </a:cubicBezTo>
                  <a:cubicBezTo>
                    <a:pt x="1361" y="1383"/>
                    <a:pt x="1385" y="1378"/>
                    <a:pt x="1389" y="1382"/>
                  </a:cubicBezTo>
                  <a:cubicBezTo>
                    <a:pt x="1393" y="1386"/>
                    <a:pt x="1395" y="1398"/>
                    <a:pt x="1395" y="1398"/>
                  </a:cubicBezTo>
                  <a:cubicBezTo>
                    <a:pt x="1419" y="1396"/>
                    <a:pt x="1419" y="1396"/>
                    <a:pt x="1419" y="1396"/>
                  </a:cubicBezTo>
                  <a:cubicBezTo>
                    <a:pt x="1426" y="1416"/>
                    <a:pt x="1426" y="1416"/>
                    <a:pt x="1426" y="1416"/>
                  </a:cubicBezTo>
                  <a:cubicBezTo>
                    <a:pt x="1426" y="1416"/>
                    <a:pt x="1434" y="1436"/>
                    <a:pt x="1442" y="1430"/>
                  </a:cubicBezTo>
                  <a:cubicBezTo>
                    <a:pt x="1450" y="1423"/>
                    <a:pt x="1427" y="1406"/>
                    <a:pt x="1438" y="1403"/>
                  </a:cubicBezTo>
                  <a:cubicBezTo>
                    <a:pt x="1449" y="1400"/>
                    <a:pt x="1490" y="1431"/>
                    <a:pt x="1493" y="1427"/>
                  </a:cubicBezTo>
                  <a:cubicBezTo>
                    <a:pt x="1495" y="1423"/>
                    <a:pt x="1513" y="1403"/>
                    <a:pt x="1522" y="1402"/>
                  </a:cubicBezTo>
                  <a:cubicBezTo>
                    <a:pt x="1531" y="1400"/>
                    <a:pt x="1542" y="1416"/>
                    <a:pt x="1558" y="1412"/>
                  </a:cubicBezTo>
                  <a:cubicBezTo>
                    <a:pt x="1574" y="1408"/>
                    <a:pt x="1585" y="1399"/>
                    <a:pt x="1593" y="1400"/>
                  </a:cubicBezTo>
                  <a:cubicBezTo>
                    <a:pt x="1601" y="1402"/>
                    <a:pt x="1613" y="1423"/>
                    <a:pt x="1623" y="1424"/>
                  </a:cubicBezTo>
                  <a:cubicBezTo>
                    <a:pt x="1634" y="1426"/>
                    <a:pt x="1657" y="1430"/>
                    <a:pt x="1657" y="1430"/>
                  </a:cubicBezTo>
                  <a:cubicBezTo>
                    <a:pt x="1663" y="1414"/>
                    <a:pt x="1663" y="1414"/>
                    <a:pt x="1663" y="1414"/>
                  </a:cubicBezTo>
                  <a:cubicBezTo>
                    <a:pt x="1663" y="1414"/>
                    <a:pt x="1723" y="1444"/>
                    <a:pt x="1719" y="1406"/>
                  </a:cubicBezTo>
                  <a:cubicBezTo>
                    <a:pt x="1715" y="1367"/>
                    <a:pt x="1665" y="1370"/>
                    <a:pt x="1665" y="1370"/>
                  </a:cubicBezTo>
                  <a:cubicBezTo>
                    <a:pt x="1642" y="1350"/>
                    <a:pt x="1642" y="1350"/>
                    <a:pt x="1642" y="1350"/>
                  </a:cubicBezTo>
                  <a:cubicBezTo>
                    <a:pt x="1642" y="1350"/>
                    <a:pt x="1675" y="1344"/>
                    <a:pt x="1677" y="1338"/>
                  </a:cubicBezTo>
                  <a:cubicBezTo>
                    <a:pt x="1678" y="1331"/>
                    <a:pt x="1665" y="1314"/>
                    <a:pt x="1665" y="1314"/>
                  </a:cubicBezTo>
                  <a:cubicBezTo>
                    <a:pt x="1671" y="1303"/>
                    <a:pt x="1671" y="1303"/>
                    <a:pt x="1671" y="1303"/>
                  </a:cubicBezTo>
                  <a:cubicBezTo>
                    <a:pt x="1671" y="1303"/>
                    <a:pt x="1709" y="1310"/>
                    <a:pt x="1709" y="1303"/>
                  </a:cubicBezTo>
                  <a:cubicBezTo>
                    <a:pt x="1709" y="1296"/>
                    <a:pt x="1666" y="1288"/>
                    <a:pt x="1666" y="1288"/>
                  </a:cubicBezTo>
                  <a:cubicBezTo>
                    <a:pt x="1677" y="1276"/>
                    <a:pt x="1677" y="1276"/>
                    <a:pt x="1677" y="1276"/>
                  </a:cubicBezTo>
                  <a:cubicBezTo>
                    <a:pt x="1658" y="1275"/>
                    <a:pt x="1658" y="1275"/>
                    <a:pt x="1658" y="1275"/>
                  </a:cubicBezTo>
                  <a:cubicBezTo>
                    <a:pt x="1658" y="1275"/>
                    <a:pt x="1642" y="1256"/>
                    <a:pt x="1687" y="1250"/>
                  </a:cubicBezTo>
                  <a:cubicBezTo>
                    <a:pt x="1733" y="1243"/>
                    <a:pt x="1765" y="1244"/>
                    <a:pt x="1765" y="1244"/>
                  </a:cubicBezTo>
                  <a:cubicBezTo>
                    <a:pt x="1769" y="1232"/>
                    <a:pt x="1769" y="1232"/>
                    <a:pt x="1769" y="1232"/>
                  </a:cubicBezTo>
                  <a:cubicBezTo>
                    <a:pt x="1811" y="1232"/>
                    <a:pt x="1811" y="1232"/>
                    <a:pt x="1811" y="1232"/>
                  </a:cubicBezTo>
                  <a:cubicBezTo>
                    <a:pt x="1811" y="1232"/>
                    <a:pt x="1811" y="1216"/>
                    <a:pt x="1819" y="1216"/>
                  </a:cubicBezTo>
                  <a:cubicBezTo>
                    <a:pt x="1827" y="1216"/>
                    <a:pt x="1855" y="1220"/>
                    <a:pt x="1877" y="1215"/>
                  </a:cubicBezTo>
                  <a:cubicBezTo>
                    <a:pt x="1898" y="1210"/>
                    <a:pt x="1918" y="1203"/>
                    <a:pt x="1918" y="1203"/>
                  </a:cubicBezTo>
                  <a:cubicBezTo>
                    <a:pt x="1918" y="1203"/>
                    <a:pt x="1915" y="1183"/>
                    <a:pt x="1949" y="1182"/>
                  </a:cubicBezTo>
                  <a:cubicBezTo>
                    <a:pt x="1982" y="1180"/>
                    <a:pt x="1995" y="1191"/>
                    <a:pt x="2001" y="1191"/>
                  </a:cubicBezTo>
                  <a:cubicBezTo>
                    <a:pt x="2006" y="1191"/>
                    <a:pt x="2013" y="1182"/>
                    <a:pt x="2021" y="1187"/>
                  </a:cubicBezTo>
                  <a:cubicBezTo>
                    <a:pt x="2029" y="1192"/>
                    <a:pt x="2034" y="1210"/>
                    <a:pt x="2034" y="1210"/>
                  </a:cubicBezTo>
                  <a:cubicBezTo>
                    <a:pt x="2034" y="1210"/>
                    <a:pt x="2046" y="1210"/>
                    <a:pt x="2046" y="1216"/>
                  </a:cubicBezTo>
                  <a:cubicBezTo>
                    <a:pt x="2046" y="1223"/>
                    <a:pt x="2045" y="1244"/>
                    <a:pt x="2050" y="1244"/>
                  </a:cubicBezTo>
                  <a:cubicBezTo>
                    <a:pt x="2055" y="1244"/>
                    <a:pt x="2083" y="1240"/>
                    <a:pt x="2083" y="1240"/>
                  </a:cubicBezTo>
                  <a:cubicBezTo>
                    <a:pt x="2090" y="1230"/>
                    <a:pt x="2090" y="1230"/>
                    <a:pt x="2090" y="1230"/>
                  </a:cubicBezTo>
                  <a:cubicBezTo>
                    <a:pt x="2109" y="1251"/>
                    <a:pt x="2109" y="1251"/>
                    <a:pt x="2109" y="1251"/>
                  </a:cubicBezTo>
                  <a:cubicBezTo>
                    <a:pt x="2122" y="1243"/>
                    <a:pt x="2122" y="1243"/>
                    <a:pt x="2122" y="1243"/>
                  </a:cubicBezTo>
                  <a:cubicBezTo>
                    <a:pt x="2139" y="1254"/>
                    <a:pt x="2139" y="1254"/>
                    <a:pt x="2139" y="1254"/>
                  </a:cubicBezTo>
                  <a:cubicBezTo>
                    <a:pt x="2139" y="1254"/>
                    <a:pt x="2145" y="1242"/>
                    <a:pt x="2154" y="1251"/>
                  </a:cubicBezTo>
                  <a:cubicBezTo>
                    <a:pt x="2163" y="1260"/>
                    <a:pt x="2142" y="1276"/>
                    <a:pt x="2153" y="1278"/>
                  </a:cubicBezTo>
                  <a:cubicBezTo>
                    <a:pt x="2163" y="1279"/>
                    <a:pt x="2165" y="1266"/>
                    <a:pt x="2171" y="1268"/>
                  </a:cubicBezTo>
                  <a:cubicBezTo>
                    <a:pt x="2178" y="1271"/>
                    <a:pt x="2193" y="1287"/>
                    <a:pt x="2201" y="1280"/>
                  </a:cubicBezTo>
                  <a:cubicBezTo>
                    <a:pt x="2209" y="1274"/>
                    <a:pt x="2201" y="1266"/>
                    <a:pt x="2207" y="1262"/>
                  </a:cubicBezTo>
                  <a:cubicBezTo>
                    <a:pt x="2214" y="1258"/>
                    <a:pt x="2222" y="1256"/>
                    <a:pt x="2222" y="1256"/>
                  </a:cubicBezTo>
                  <a:cubicBezTo>
                    <a:pt x="2231" y="1246"/>
                    <a:pt x="2231" y="1246"/>
                    <a:pt x="2231" y="1246"/>
                  </a:cubicBezTo>
                  <a:cubicBezTo>
                    <a:pt x="2255" y="1238"/>
                    <a:pt x="2255" y="1238"/>
                    <a:pt x="2255" y="1238"/>
                  </a:cubicBezTo>
                  <a:cubicBezTo>
                    <a:pt x="2255" y="1238"/>
                    <a:pt x="2267" y="1216"/>
                    <a:pt x="2275" y="1227"/>
                  </a:cubicBezTo>
                  <a:cubicBezTo>
                    <a:pt x="2283" y="1238"/>
                    <a:pt x="2263" y="1250"/>
                    <a:pt x="2263" y="1250"/>
                  </a:cubicBezTo>
                  <a:cubicBezTo>
                    <a:pt x="2263" y="1250"/>
                    <a:pt x="2331" y="1282"/>
                    <a:pt x="2337" y="1284"/>
                  </a:cubicBezTo>
                  <a:cubicBezTo>
                    <a:pt x="2342" y="1287"/>
                    <a:pt x="2414" y="1354"/>
                    <a:pt x="2429" y="1367"/>
                  </a:cubicBezTo>
                  <a:cubicBezTo>
                    <a:pt x="2443" y="1380"/>
                    <a:pt x="2467" y="1419"/>
                    <a:pt x="2485" y="1416"/>
                  </a:cubicBezTo>
                  <a:cubicBezTo>
                    <a:pt x="2502" y="1414"/>
                    <a:pt x="2498" y="1384"/>
                    <a:pt x="2509" y="1387"/>
                  </a:cubicBezTo>
                  <a:cubicBezTo>
                    <a:pt x="2519" y="1390"/>
                    <a:pt x="2515" y="1406"/>
                    <a:pt x="2519" y="1407"/>
                  </a:cubicBezTo>
                  <a:cubicBezTo>
                    <a:pt x="2523" y="1408"/>
                    <a:pt x="2541" y="1410"/>
                    <a:pt x="2541" y="1410"/>
                  </a:cubicBezTo>
                  <a:cubicBezTo>
                    <a:pt x="2541" y="1410"/>
                    <a:pt x="2555" y="1426"/>
                    <a:pt x="2567" y="1424"/>
                  </a:cubicBezTo>
                  <a:cubicBezTo>
                    <a:pt x="2579" y="1423"/>
                    <a:pt x="2595" y="1402"/>
                    <a:pt x="2618" y="1406"/>
                  </a:cubicBezTo>
                  <a:cubicBezTo>
                    <a:pt x="2641" y="1410"/>
                    <a:pt x="2662" y="1439"/>
                    <a:pt x="2662" y="1439"/>
                  </a:cubicBezTo>
                  <a:cubicBezTo>
                    <a:pt x="2662" y="1439"/>
                    <a:pt x="2697" y="1444"/>
                    <a:pt x="2698" y="1448"/>
                  </a:cubicBezTo>
                  <a:cubicBezTo>
                    <a:pt x="2699" y="1452"/>
                    <a:pt x="2715" y="1480"/>
                    <a:pt x="2715" y="1480"/>
                  </a:cubicBezTo>
                  <a:cubicBezTo>
                    <a:pt x="2762" y="1484"/>
                    <a:pt x="2762" y="1484"/>
                    <a:pt x="2762" y="1484"/>
                  </a:cubicBezTo>
                  <a:cubicBezTo>
                    <a:pt x="2773" y="1462"/>
                    <a:pt x="2773" y="1462"/>
                    <a:pt x="2773" y="1462"/>
                  </a:cubicBezTo>
                  <a:cubicBezTo>
                    <a:pt x="2786" y="1478"/>
                    <a:pt x="2786" y="1478"/>
                    <a:pt x="2786" y="1478"/>
                  </a:cubicBezTo>
                  <a:cubicBezTo>
                    <a:pt x="2810" y="1504"/>
                    <a:pt x="2810" y="1504"/>
                    <a:pt x="2810" y="1504"/>
                  </a:cubicBezTo>
                  <a:cubicBezTo>
                    <a:pt x="2815" y="1505"/>
                    <a:pt x="2819" y="1506"/>
                    <a:pt x="2819" y="1506"/>
                  </a:cubicBezTo>
                  <a:cubicBezTo>
                    <a:pt x="2819" y="1506"/>
                    <a:pt x="2832" y="1499"/>
                    <a:pt x="2840" y="1503"/>
                  </a:cubicBezTo>
                  <a:cubicBezTo>
                    <a:pt x="2847" y="1496"/>
                    <a:pt x="2847" y="1496"/>
                    <a:pt x="2847" y="1496"/>
                  </a:cubicBezTo>
                  <a:cubicBezTo>
                    <a:pt x="2846" y="1484"/>
                    <a:pt x="2846" y="1484"/>
                    <a:pt x="2846" y="1484"/>
                  </a:cubicBezTo>
                  <a:cubicBezTo>
                    <a:pt x="2887" y="1484"/>
                    <a:pt x="2887" y="1484"/>
                    <a:pt x="2887" y="1484"/>
                  </a:cubicBezTo>
                  <a:cubicBezTo>
                    <a:pt x="2885" y="1475"/>
                    <a:pt x="2885" y="1475"/>
                    <a:pt x="2885" y="1475"/>
                  </a:cubicBezTo>
                  <a:cubicBezTo>
                    <a:pt x="2901" y="1475"/>
                    <a:pt x="2901" y="1475"/>
                    <a:pt x="2901" y="1475"/>
                  </a:cubicBezTo>
                  <a:cubicBezTo>
                    <a:pt x="2901" y="1475"/>
                    <a:pt x="2892" y="1473"/>
                    <a:pt x="2901" y="1463"/>
                  </a:cubicBezTo>
                  <a:cubicBezTo>
                    <a:pt x="2910" y="1453"/>
                    <a:pt x="2921" y="1445"/>
                    <a:pt x="2921" y="1445"/>
                  </a:cubicBezTo>
                  <a:cubicBezTo>
                    <a:pt x="2930" y="1446"/>
                    <a:pt x="2930" y="1446"/>
                    <a:pt x="2930" y="1446"/>
                  </a:cubicBezTo>
                  <a:cubicBezTo>
                    <a:pt x="2941" y="1433"/>
                    <a:pt x="2941" y="1433"/>
                    <a:pt x="2941" y="1433"/>
                  </a:cubicBezTo>
                  <a:cubicBezTo>
                    <a:pt x="2957" y="1433"/>
                    <a:pt x="2957" y="1433"/>
                    <a:pt x="2957" y="1433"/>
                  </a:cubicBezTo>
                  <a:cubicBezTo>
                    <a:pt x="2957" y="1433"/>
                    <a:pt x="2958" y="1416"/>
                    <a:pt x="2965" y="1416"/>
                  </a:cubicBezTo>
                  <a:cubicBezTo>
                    <a:pt x="2972" y="1416"/>
                    <a:pt x="2981" y="1422"/>
                    <a:pt x="2981" y="1422"/>
                  </a:cubicBezTo>
                  <a:cubicBezTo>
                    <a:pt x="2993" y="1415"/>
                    <a:pt x="2993" y="1415"/>
                    <a:pt x="2993" y="1415"/>
                  </a:cubicBezTo>
                  <a:cubicBezTo>
                    <a:pt x="2993" y="1415"/>
                    <a:pt x="2993" y="1420"/>
                    <a:pt x="2996" y="1420"/>
                  </a:cubicBezTo>
                  <a:cubicBezTo>
                    <a:pt x="2999" y="1420"/>
                    <a:pt x="3015" y="1420"/>
                    <a:pt x="3015" y="1420"/>
                  </a:cubicBezTo>
                  <a:cubicBezTo>
                    <a:pt x="3020" y="1431"/>
                    <a:pt x="3020" y="1431"/>
                    <a:pt x="3020" y="1431"/>
                  </a:cubicBezTo>
                  <a:cubicBezTo>
                    <a:pt x="3020" y="1431"/>
                    <a:pt x="3064" y="1427"/>
                    <a:pt x="3071" y="1427"/>
                  </a:cubicBezTo>
                  <a:cubicBezTo>
                    <a:pt x="3078" y="1427"/>
                    <a:pt x="3076" y="1440"/>
                    <a:pt x="3085" y="1447"/>
                  </a:cubicBezTo>
                  <a:cubicBezTo>
                    <a:pt x="3094" y="1454"/>
                    <a:pt x="3116" y="1452"/>
                    <a:pt x="3116" y="1452"/>
                  </a:cubicBezTo>
                  <a:cubicBezTo>
                    <a:pt x="3118" y="1461"/>
                    <a:pt x="3118" y="1461"/>
                    <a:pt x="3118" y="1461"/>
                  </a:cubicBezTo>
                  <a:cubicBezTo>
                    <a:pt x="3137" y="1458"/>
                    <a:pt x="3137" y="1458"/>
                    <a:pt x="3137" y="1458"/>
                  </a:cubicBezTo>
                  <a:cubicBezTo>
                    <a:pt x="3139" y="1463"/>
                    <a:pt x="3139" y="1463"/>
                    <a:pt x="3139" y="1463"/>
                  </a:cubicBezTo>
                  <a:cubicBezTo>
                    <a:pt x="3139" y="1463"/>
                    <a:pt x="3141" y="1457"/>
                    <a:pt x="3152" y="1456"/>
                  </a:cubicBezTo>
                  <a:cubicBezTo>
                    <a:pt x="3163" y="1455"/>
                    <a:pt x="3172" y="1456"/>
                    <a:pt x="3172" y="1456"/>
                  </a:cubicBezTo>
                  <a:cubicBezTo>
                    <a:pt x="3173" y="1464"/>
                    <a:pt x="3173" y="1464"/>
                    <a:pt x="3173" y="1464"/>
                  </a:cubicBezTo>
                  <a:cubicBezTo>
                    <a:pt x="3203" y="1462"/>
                    <a:pt x="3203" y="1462"/>
                    <a:pt x="3203" y="1462"/>
                  </a:cubicBezTo>
                  <a:cubicBezTo>
                    <a:pt x="3203" y="1462"/>
                    <a:pt x="3197" y="1478"/>
                    <a:pt x="3214" y="1470"/>
                  </a:cubicBezTo>
                  <a:cubicBezTo>
                    <a:pt x="3231" y="1462"/>
                    <a:pt x="3229" y="1455"/>
                    <a:pt x="3229" y="1455"/>
                  </a:cubicBezTo>
                  <a:cubicBezTo>
                    <a:pt x="3229" y="1455"/>
                    <a:pt x="3241" y="1465"/>
                    <a:pt x="3241" y="1447"/>
                  </a:cubicBezTo>
                  <a:cubicBezTo>
                    <a:pt x="3241" y="1429"/>
                    <a:pt x="3226" y="1429"/>
                    <a:pt x="3226" y="1429"/>
                  </a:cubicBezTo>
                  <a:cubicBezTo>
                    <a:pt x="3210" y="1405"/>
                    <a:pt x="3210" y="1405"/>
                    <a:pt x="3210" y="1405"/>
                  </a:cubicBezTo>
                  <a:cubicBezTo>
                    <a:pt x="3206" y="1391"/>
                    <a:pt x="3206" y="1391"/>
                    <a:pt x="3206" y="1391"/>
                  </a:cubicBezTo>
                  <a:cubicBezTo>
                    <a:pt x="3206" y="1391"/>
                    <a:pt x="3200" y="1388"/>
                    <a:pt x="3200" y="1382"/>
                  </a:cubicBezTo>
                  <a:cubicBezTo>
                    <a:pt x="3200" y="1376"/>
                    <a:pt x="3211" y="1378"/>
                    <a:pt x="3211" y="1378"/>
                  </a:cubicBezTo>
                  <a:cubicBezTo>
                    <a:pt x="3209" y="1367"/>
                    <a:pt x="3209" y="1367"/>
                    <a:pt x="3209" y="1367"/>
                  </a:cubicBezTo>
                  <a:cubicBezTo>
                    <a:pt x="3209" y="1367"/>
                    <a:pt x="3213" y="1369"/>
                    <a:pt x="3218" y="1363"/>
                  </a:cubicBezTo>
                  <a:cubicBezTo>
                    <a:pt x="3223" y="1357"/>
                    <a:pt x="3222" y="1345"/>
                    <a:pt x="3222" y="1345"/>
                  </a:cubicBezTo>
                  <a:cubicBezTo>
                    <a:pt x="3231" y="1347"/>
                    <a:pt x="3231" y="1347"/>
                    <a:pt x="3231" y="1347"/>
                  </a:cubicBezTo>
                  <a:cubicBezTo>
                    <a:pt x="3231" y="1347"/>
                    <a:pt x="3254" y="1364"/>
                    <a:pt x="3272" y="1366"/>
                  </a:cubicBezTo>
                  <a:cubicBezTo>
                    <a:pt x="3290" y="1368"/>
                    <a:pt x="3310" y="1367"/>
                    <a:pt x="3310" y="1367"/>
                  </a:cubicBezTo>
                  <a:cubicBezTo>
                    <a:pt x="3310" y="1367"/>
                    <a:pt x="3329" y="1381"/>
                    <a:pt x="3339" y="1383"/>
                  </a:cubicBezTo>
                  <a:cubicBezTo>
                    <a:pt x="3349" y="1385"/>
                    <a:pt x="3361" y="1372"/>
                    <a:pt x="3370" y="1383"/>
                  </a:cubicBezTo>
                  <a:cubicBezTo>
                    <a:pt x="3379" y="1394"/>
                    <a:pt x="3401" y="1428"/>
                    <a:pt x="3401" y="1428"/>
                  </a:cubicBezTo>
                  <a:cubicBezTo>
                    <a:pt x="3416" y="1425"/>
                    <a:pt x="3416" y="1425"/>
                    <a:pt x="3416" y="1425"/>
                  </a:cubicBezTo>
                  <a:cubicBezTo>
                    <a:pt x="3416" y="1425"/>
                    <a:pt x="3418" y="1441"/>
                    <a:pt x="3428" y="1441"/>
                  </a:cubicBezTo>
                  <a:cubicBezTo>
                    <a:pt x="3438" y="1441"/>
                    <a:pt x="3445" y="1440"/>
                    <a:pt x="3445" y="1440"/>
                  </a:cubicBezTo>
                  <a:cubicBezTo>
                    <a:pt x="3445" y="1440"/>
                    <a:pt x="3462" y="1450"/>
                    <a:pt x="3475" y="1449"/>
                  </a:cubicBezTo>
                  <a:cubicBezTo>
                    <a:pt x="3488" y="1448"/>
                    <a:pt x="3506" y="1430"/>
                    <a:pt x="3535" y="1432"/>
                  </a:cubicBezTo>
                  <a:cubicBezTo>
                    <a:pt x="3564" y="1434"/>
                    <a:pt x="3566" y="1442"/>
                    <a:pt x="3566" y="1442"/>
                  </a:cubicBezTo>
                  <a:cubicBezTo>
                    <a:pt x="3593" y="1439"/>
                    <a:pt x="3593" y="1439"/>
                    <a:pt x="3593" y="1439"/>
                  </a:cubicBezTo>
                  <a:cubicBezTo>
                    <a:pt x="3593" y="1439"/>
                    <a:pt x="3604" y="1458"/>
                    <a:pt x="3616" y="1458"/>
                  </a:cubicBezTo>
                  <a:cubicBezTo>
                    <a:pt x="3628" y="1458"/>
                    <a:pt x="3647" y="1458"/>
                    <a:pt x="3650" y="1459"/>
                  </a:cubicBezTo>
                  <a:cubicBezTo>
                    <a:pt x="3653" y="1460"/>
                    <a:pt x="3661" y="1479"/>
                    <a:pt x="3664" y="1478"/>
                  </a:cubicBezTo>
                  <a:cubicBezTo>
                    <a:pt x="3667" y="1477"/>
                    <a:pt x="3678" y="1480"/>
                    <a:pt x="3678" y="1480"/>
                  </a:cubicBezTo>
                  <a:cubicBezTo>
                    <a:pt x="3678" y="1480"/>
                    <a:pt x="3673" y="1491"/>
                    <a:pt x="3693" y="1493"/>
                  </a:cubicBezTo>
                  <a:cubicBezTo>
                    <a:pt x="3713" y="1495"/>
                    <a:pt x="3723" y="1492"/>
                    <a:pt x="3723" y="1492"/>
                  </a:cubicBezTo>
                  <a:cubicBezTo>
                    <a:pt x="3723" y="1492"/>
                    <a:pt x="3730" y="1495"/>
                    <a:pt x="3733" y="1498"/>
                  </a:cubicBezTo>
                  <a:cubicBezTo>
                    <a:pt x="3736" y="1501"/>
                    <a:pt x="3760" y="1501"/>
                    <a:pt x="3760" y="1501"/>
                  </a:cubicBezTo>
                  <a:cubicBezTo>
                    <a:pt x="3760" y="1501"/>
                    <a:pt x="3772" y="1494"/>
                    <a:pt x="3776" y="1496"/>
                  </a:cubicBezTo>
                  <a:cubicBezTo>
                    <a:pt x="3780" y="1498"/>
                    <a:pt x="3788" y="1507"/>
                    <a:pt x="3793" y="1501"/>
                  </a:cubicBezTo>
                  <a:cubicBezTo>
                    <a:pt x="3798" y="1495"/>
                    <a:pt x="3796" y="1490"/>
                    <a:pt x="3805" y="1488"/>
                  </a:cubicBezTo>
                  <a:cubicBezTo>
                    <a:pt x="3814" y="1486"/>
                    <a:pt x="3831" y="1487"/>
                    <a:pt x="3831" y="1487"/>
                  </a:cubicBezTo>
                  <a:cubicBezTo>
                    <a:pt x="3841" y="1482"/>
                    <a:pt x="3841" y="1482"/>
                    <a:pt x="3841" y="1482"/>
                  </a:cubicBezTo>
                  <a:cubicBezTo>
                    <a:pt x="3841" y="1482"/>
                    <a:pt x="3853" y="1485"/>
                    <a:pt x="3863" y="1481"/>
                  </a:cubicBezTo>
                  <a:cubicBezTo>
                    <a:pt x="3873" y="1477"/>
                    <a:pt x="3870" y="1466"/>
                    <a:pt x="3870" y="1466"/>
                  </a:cubicBezTo>
                  <a:cubicBezTo>
                    <a:pt x="3893" y="1443"/>
                    <a:pt x="3893" y="1443"/>
                    <a:pt x="3893" y="1443"/>
                  </a:cubicBezTo>
                  <a:cubicBezTo>
                    <a:pt x="3893" y="1443"/>
                    <a:pt x="3920" y="1447"/>
                    <a:pt x="3929" y="1447"/>
                  </a:cubicBezTo>
                  <a:cubicBezTo>
                    <a:pt x="3938" y="1447"/>
                    <a:pt x="3948" y="1463"/>
                    <a:pt x="3962" y="1463"/>
                  </a:cubicBezTo>
                  <a:cubicBezTo>
                    <a:pt x="3976" y="1463"/>
                    <a:pt x="3982" y="1456"/>
                    <a:pt x="3982" y="1456"/>
                  </a:cubicBezTo>
                  <a:cubicBezTo>
                    <a:pt x="4000" y="1459"/>
                    <a:pt x="4000" y="1459"/>
                    <a:pt x="4000" y="1459"/>
                  </a:cubicBezTo>
                  <a:cubicBezTo>
                    <a:pt x="4011" y="1462"/>
                    <a:pt x="4011" y="1462"/>
                    <a:pt x="4011" y="1462"/>
                  </a:cubicBezTo>
                  <a:cubicBezTo>
                    <a:pt x="4034" y="1476"/>
                    <a:pt x="4034" y="1476"/>
                    <a:pt x="4034" y="1476"/>
                  </a:cubicBezTo>
                  <a:cubicBezTo>
                    <a:pt x="4058" y="1477"/>
                    <a:pt x="4058" y="1477"/>
                    <a:pt x="4058" y="1477"/>
                  </a:cubicBezTo>
                  <a:cubicBezTo>
                    <a:pt x="4058" y="1477"/>
                    <a:pt x="4061" y="1482"/>
                    <a:pt x="4071" y="1482"/>
                  </a:cubicBezTo>
                  <a:cubicBezTo>
                    <a:pt x="4081" y="1482"/>
                    <a:pt x="4085" y="1460"/>
                    <a:pt x="4085" y="1460"/>
                  </a:cubicBezTo>
                  <a:cubicBezTo>
                    <a:pt x="4085" y="1460"/>
                    <a:pt x="4096" y="1465"/>
                    <a:pt x="4109" y="1457"/>
                  </a:cubicBezTo>
                  <a:cubicBezTo>
                    <a:pt x="4122" y="1449"/>
                    <a:pt x="4098" y="1439"/>
                    <a:pt x="4098" y="1439"/>
                  </a:cubicBezTo>
                  <a:cubicBezTo>
                    <a:pt x="4097" y="1414"/>
                    <a:pt x="4097" y="1414"/>
                    <a:pt x="4097" y="1414"/>
                  </a:cubicBezTo>
                  <a:cubicBezTo>
                    <a:pt x="4097" y="1395"/>
                    <a:pt x="4097" y="1395"/>
                    <a:pt x="4097" y="1395"/>
                  </a:cubicBezTo>
                  <a:cubicBezTo>
                    <a:pt x="4097" y="1395"/>
                    <a:pt x="4092" y="1377"/>
                    <a:pt x="4094" y="1368"/>
                  </a:cubicBezTo>
                  <a:cubicBezTo>
                    <a:pt x="4096" y="1359"/>
                    <a:pt x="4108" y="1354"/>
                    <a:pt x="4109" y="1348"/>
                  </a:cubicBezTo>
                  <a:cubicBezTo>
                    <a:pt x="4110" y="1342"/>
                    <a:pt x="4083" y="1327"/>
                    <a:pt x="4083" y="1327"/>
                  </a:cubicBezTo>
                  <a:cubicBezTo>
                    <a:pt x="4083" y="1327"/>
                    <a:pt x="4071" y="1325"/>
                    <a:pt x="4056" y="1322"/>
                  </a:cubicBezTo>
                  <a:cubicBezTo>
                    <a:pt x="4041" y="1319"/>
                    <a:pt x="4063" y="1304"/>
                    <a:pt x="4063" y="1304"/>
                  </a:cubicBezTo>
                  <a:cubicBezTo>
                    <a:pt x="4083" y="1284"/>
                    <a:pt x="4083" y="1284"/>
                    <a:pt x="4083" y="1284"/>
                  </a:cubicBezTo>
                  <a:cubicBezTo>
                    <a:pt x="4107" y="1281"/>
                    <a:pt x="4107" y="1281"/>
                    <a:pt x="4107" y="1281"/>
                  </a:cubicBezTo>
                  <a:cubicBezTo>
                    <a:pt x="4111" y="1273"/>
                    <a:pt x="4111" y="1273"/>
                    <a:pt x="4111" y="1273"/>
                  </a:cubicBezTo>
                  <a:cubicBezTo>
                    <a:pt x="4139" y="1275"/>
                    <a:pt x="4139" y="1275"/>
                    <a:pt x="4139" y="1275"/>
                  </a:cubicBezTo>
                  <a:cubicBezTo>
                    <a:pt x="4174" y="1268"/>
                    <a:pt x="4174" y="1268"/>
                    <a:pt x="4174" y="1268"/>
                  </a:cubicBezTo>
                  <a:cubicBezTo>
                    <a:pt x="4199" y="1281"/>
                    <a:pt x="4199" y="1281"/>
                    <a:pt x="4199" y="1281"/>
                  </a:cubicBezTo>
                  <a:cubicBezTo>
                    <a:pt x="4225" y="1298"/>
                    <a:pt x="4225" y="1298"/>
                    <a:pt x="4225" y="1298"/>
                  </a:cubicBezTo>
                  <a:cubicBezTo>
                    <a:pt x="4240" y="1295"/>
                    <a:pt x="4240" y="1295"/>
                    <a:pt x="4240" y="1295"/>
                  </a:cubicBezTo>
                  <a:cubicBezTo>
                    <a:pt x="4240" y="1295"/>
                    <a:pt x="4259" y="1296"/>
                    <a:pt x="4266" y="1297"/>
                  </a:cubicBezTo>
                  <a:cubicBezTo>
                    <a:pt x="4273" y="1298"/>
                    <a:pt x="4294" y="1312"/>
                    <a:pt x="4294" y="1312"/>
                  </a:cubicBezTo>
                  <a:cubicBezTo>
                    <a:pt x="4296" y="1321"/>
                    <a:pt x="4296" y="1321"/>
                    <a:pt x="4296" y="1321"/>
                  </a:cubicBezTo>
                  <a:cubicBezTo>
                    <a:pt x="4296" y="1321"/>
                    <a:pt x="4314" y="1331"/>
                    <a:pt x="4319" y="1335"/>
                  </a:cubicBezTo>
                  <a:cubicBezTo>
                    <a:pt x="4324" y="1339"/>
                    <a:pt x="4339" y="1344"/>
                    <a:pt x="4339" y="1344"/>
                  </a:cubicBezTo>
                  <a:cubicBezTo>
                    <a:pt x="4342" y="1363"/>
                    <a:pt x="4342" y="1363"/>
                    <a:pt x="4342" y="1363"/>
                  </a:cubicBezTo>
                  <a:cubicBezTo>
                    <a:pt x="4374" y="1380"/>
                    <a:pt x="4374" y="1380"/>
                    <a:pt x="4374" y="1380"/>
                  </a:cubicBezTo>
                  <a:cubicBezTo>
                    <a:pt x="4385" y="1402"/>
                    <a:pt x="4385" y="1402"/>
                    <a:pt x="4385" y="1402"/>
                  </a:cubicBezTo>
                  <a:cubicBezTo>
                    <a:pt x="4385" y="1402"/>
                    <a:pt x="4406" y="1404"/>
                    <a:pt x="4416" y="1413"/>
                  </a:cubicBezTo>
                  <a:cubicBezTo>
                    <a:pt x="4426" y="1422"/>
                    <a:pt x="4444" y="1446"/>
                    <a:pt x="4444" y="1446"/>
                  </a:cubicBezTo>
                  <a:cubicBezTo>
                    <a:pt x="4451" y="1446"/>
                    <a:pt x="4451" y="1446"/>
                    <a:pt x="4451" y="1446"/>
                  </a:cubicBezTo>
                  <a:cubicBezTo>
                    <a:pt x="4455" y="1462"/>
                    <a:pt x="4455" y="1462"/>
                    <a:pt x="4455" y="1462"/>
                  </a:cubicBezTo>
                  <a:cubicBezTo>
                    <a:pt x="4455" y="1462"/>
                    <a:pt x="4474" y="1472"/>
                    <a:pt x="4482" y="1477"/>
                  </a:cubicBezTo>
                  <a:cubicBezTo>
                    <a:pt x="4490" y="1482"/>
                    <a:pt x="4507" y="1481"/>
                    <a:pt x="4517" y="1479"/>
                  </a:cubicBezTo>
                  <a:cubicBezTo>
                    <a:pt x="4527" y="1477"/>
                    <a:pt x="4543" y="1493"/>
                    <a:pt x="4543" y="1493"/>
                  </a:cubicBezTo>
                  <a:cubicBezTo>
                    <a:pt x="4543" y="1493"/>
                    <a:pt x="4551" y="1486"/>
                    <a:pt x="4555" y="1486"/>
                  </a:cubicBezTo>
                  <a:cubicBezTo>
                    <a:pt x="4559" y="1486"/>
                    <a:pt x="4597" y="1514"/>
                    <a:pt x="4597" y="1514"/>
                  </a:cubicBezTo>
                  <a:cubicBezTo>
                    <a:pt x="4621" y="1514"/>
                    <a:pt x="4621" y="1514"/>
                    <a:pt x="4621" y="1514"/>
                  </a:cubicBezTo>
                  <a:cubicBezTo>
                    <a:pt x="4630" y="1533"/>
                    <a:pt x="4630" y="1533"/>
                    <a:pt x="4630" y="1533"/>
                  </a:cubicBezTo>
                  <a:cubicBezTo>
                    <a:pt x="4630" y="1533"/>
                    <a:pt x="4646" y="1534"/>
                    <a:pt x="4649" y="1541"/>
                  </a:cubicBezTo>
                  <a:cubicBezTo>
                    <a:pt x="4652" y="1548"/>
                    <a:pt x="4653" y="1556"/>
                    <a:pt x="4653" y="1556"/>
                  </a:cubicBezTo>
                  <a:cubicBezTo>
                    <a:pt x="4678" y="1576"/>
                    <a:pt x="4678" y="1576"/>
                    <a:pt x="4678" y="1576"/>
                  </a:cubicBezTo>
                  <a:cubicBezTo>
                    <a:pt x="4695" y="1572"/>
                    <a:pt x="4695" y="1572"/>
                    <a:pt x="4695" y="1572"/>
                  </a:cubicBezTo>
                  <a:cubicBezTo>
                    <a:pt x="4703" y="1582"/>
                    <a:pt x="4703" y="1582"/>
                    <a:pt x="4703" y="1582"/>
                  </a:cubicBezTo>
                  <a:cubicBezTo>
                    <a:pt x="4716" y="1581"/>
                    <a:pt x="4716" y="1581"/>
                    <a:pt x="4716" y="1581"/>
                  </a:cubicBezTo>
                  <a:cubicBezTo>
                    <a:pt x="4716" y="1574"/>
                    <a:pt x="4716" y="1574"/>
                    <a:pt x="4716" y="1574"/>
                  </a:cubicBezTo>
                  <a:cubicBezTo>
                    <a:pt x="4735" y="1576"/>
                    <a:pt x="4735" y="1576"/>
                    <a:pt x="4735" y="1576"/>
                  </a:cubicBezTo>
                  <a:cubicBezTo>
                    <a:pt x="4735" y="1576"/>
                    <a:pt x="4736" y="1565"/>
                    <a:pt x="4739" y="1560"/>
                  </a:cubicBezTo>
                  <a:cubicBezTo>
                    <a:pt x="4742" y="1555"/>
                    <a:pt x="4770" y="1556"/>
                    <a:pt x="4770" y="1556"/>
                  </a:cubicBezTo>
                  <a:cubicBezTo>
                    <a:pt x="4775" y="1542"/>
                    <a:pt x="4775" y="1542"/>
                    <a:pt x="4775" y="1542"/>
                  </a:cubicBezTo>
                  <a:cubicBezTo>
                    <a:pt x="4775" y="1542"/>
                    <a:pt x="4800" y="1536"/>
                    <a:pt x="4810" y="1544"/>
                  </a:cubicBezTo>
                  <a:cubicBezTo>
                    <a:pt x="4820" y="1552"/>
                    <a:pt x="4814" y="1565"/>
                    <a:pt x="4814" y="1565"/>
                  </a:cubicBezTo>
                  <a:cubicBezTo>
                    <a:pt x="4832" y="1573"/>
                    <a:pt x="4832" y="1573"/>
                    <a:pt x="4832" y="1573"/>
                  </a:cubicBezTo>
                  <a:cubicBezTo>
                    <a:pt x="4832" y="1593"/>
                    <a:pt x="4832" y="1593"/>
                    <a:pt x="4832" y="1593"/>
                  </a:cubicBezTo>
                  <a:cubicBezTo>
                    <a:pt x="4820" y="1598"/>
                    <a:pt x="4820" y="1598"/>
                    <a:pt x="4820" y="1598"/>
                  </a:cubicBezTo>
                  <a:cubicBezTo>
                    <a:pt x="4828" y="1608"/>
                    <a:pt x="4828" y="1608"/>
                    <a:pt x="4828" y="1608"/>
                  </a:cubicBezTo>
                  <a:cubicBezTo>
                    <a:pt x="4828" y="1620"/>
                    <a:pt x="4828" y="1620"/>
                    <a:pt x="4828" y="1620"/>
                  </a:cubicBezTo>
                  <a:cubicBezTo>
                    <a:pt x="4835" y="1630"/>
                    <a:pt x="4835" y="1630"/>
                    <a:pt x="4835" y="1630"/>
                  </a:cubicBezTo>
                  <a:cubicBezTo>
                    <a:pt x="4835" y="1643"/>
                    <a:pt x="4835" y="1643"/>
                    <a:pt x="4835" y="1643"/>
                  </a:cubicBezTo>
                  <a:cubicBezTo>
                    <a:pt x="4846" y="1650"/>
                    <a:pt x="4846" y="1650"/>
                    <a:pt x="4846" y="1650"/>
                  </a:cubicBezTo>
                  <a:cubicBezTo>
                    <a:pt x="4843" y="1667"/>
                    <a:pt x="4843" y="1667"/>
                    <a:pt x="4843" y="1667"/>
                  </a:cubicBezTo>
                  <a:cubicBezTo>
                    <a:pt x="4846" y="1684"/>
                    <a:pt x="4846" y="1684"/>
                    <a:pt x="4846" y="1684"/>
                  </a:cubicBezTo>
                  <a:cubicBezTo>
                    <a:pt x="4846" y="1684"/>
                    <a:pt x="4834" y="1688"/>
                    <a:pt x="4839" y="1700"/>
                  </a:cubicBezTo>
                  <a:cubicBezTo>
                    <a:pt x="4844" y="1712"/>
                    <a:pt x="4846" y="1713"/>
                    <a:pt x="4839" y="1719"/>
                  </a:cubicBezTo>
                  <a:cubicBezTo>
                    <a:pt x="4832" y="1725"/>
                    <a:pt x="4796" y="1702"/>
                    <a:pt x="4785" y="1707"/>
                  </a:cubicBezTo>
                  <a:cubicBezTo>
                    <a:pt x="4774" y="1712"/>
                    <a:pt x="4786" y="1718"/>
                    <a:pt x="4784" y="1723"/>
                  </a:cubicBezTo>
                  <a:cubicBezTo>
                    <a:pt x="4782" y="1728"/>
                    <a:pt x="4769" y="1719"/>
                    <a:pt x="4766" y="1729"/>
                  </a:cubicBezTo>
                  <a:cubicBezTo>
                    <a:pt x="4763" y="1739"/>
                    <a:pt x="4778" y="1740"/>
                    <a:pt x="4792" y="1753"/>
                  </a:cubicBezTo>
                  <a:cubicBezTo>
                    <a:pt x="4806" y="1766"/>
                    <a:pt x="4810" y="1785"/>
                    <a:pt x="4812" y="1791"/>
                  </a:cubicBezTo>
                  <a:cubicBezTo>
                    <a:pt x="4814" y="1797"/>
                    <a:pt x="4825" y="1808"/>
                    <a:pt x="4825" y="1808"/>
                  </a:cubicBezTo>
                  <a:cubicBezTo>
                    <a:pt x="4826" y="1831"/>
                    <a:pt x="4826" y="1831"/>
                    <a:pt x="4826" y="1831"/>
                  </a:cubicBezTo>
                  <a:cubicBezTo>
                    <a:pt x="4809" y="1827"/>
                    <a:pt x="4809" y="1827"/>
                    <a:pt x="4809" y="1827"/>
                  </a:cubicBezTo>
                  <a:cubicBezTo>
                    <a:pt x="4802" y="1845"/>
                    <a:pt x="4802" y="1845"/>
                    <a:pt x="4802" y="1845"/>
                  </a:cubicBezTo>
                  <a:cubicBezTo>
                    <a:pt x="4821" y="1851"/>
                    <a:pt x="4821" y="1851"/>
                    <a:pt x="4821" y="1851"/>
                  </a:cubicBezTo>
                  <a:cubicBezTo>
                    <a:pt x="4844" y="1852"/>
                    <a:pt x="4844" y="1852"/>
                    <a:pt x="4844" y="1852"/>
                  </a:cubicBezTo>
                  <a:cubicBezTo>
                    <a:pt x="4844" y="1852"/>
                    <a:pt x="4838" y="1811"/>
                    <a:pt x="4847" y="1807"/>
                  </a:cubicBezTo>
                  <a:cubicBezTo>
                    <a:pt x="4856" y="1803"/>
                    <a:pt x="4863" y="1816"/>
                    <a:pt x="4863" y="1816"/>
                  </a:cubicBezTo>
                  <a:cubicBezTo>
                    <a:pt x="4872" y="1808"/>
                    <a:pt x="4872" y="1808"/>
                    <a:pt x="4872" y="1808"/>
                  </a:cubicBezTo>
                  <a:cubicBezTo>
                    <a:pt x="4872" y="1808"/>
                    <a:pt x="4888" y="1840"/>
                    <a:pt x="4896" y="1838"/>
                  </a:cubicBezTo>
                  <a:cubicBezTo>
                    <a:pt x="4904" y="1836"/>
                    <a:pt x="4923" y="1830"/>
                    <a:pt x="4923" y="1830"/>
                  </a:cubicBezTo>
                  <a:cubicBezTo>
                    <a:pt x="4923" y="1842"/>
                    <a:pt x="4923" y="1842"/>
                    <a:pt x="4923" y="1842"/>
                  </a:cubicBezTo>
                  <a:cubicBezTo>
                    <a:pt x="4923" y="1842"/>
                    <a:pt x="4978" y="1822"/>
                    <a:pt x="4980" y="1802"/>
                  </a:cubicBezTo>
                  <a:cubicBezTo>
                    <a:pt x="4982" y="1782"/>
                    <a:pt x="4985" y="1754"/>
                    <a:pt x="4985" y="1754"/>
                  </a:cubicBezTo>
                  <a:cubicBezTo>
                    <a:pt x="4999" y="1747"/>
                    <a:pt x="4999" y="1747"/>
                    <a:pt x="4999" y="1747"/>
                  </a:cubicBezTo>
                  <a:cubicBezTo>
                    <a:pt x="4999" y="1747"/>
                    <a:pt x="4997" y="1704"/>
                    <a:pt x="5006" y="1697"/>
                  </a:cubicBezTo>
                  <a:cubicBezTo>
                    <a:pt x="5015" y="1690"/>
                    <a:pt x="5017" y="1666"/>
                    <a:pt x="5019" y="1650"/>
                  </a:cubicBezTo>
                  <a:cubicBezTo>
                    <a:pt x="5021" y="1634"/>
                    <a:pt x="5010" y="1607"/>
                    <a:pt x="5010" y="1607"/>
                  </a:cubicBezTo>
                  <a:cubicBezTo>
                    <a:pt x="5010" y="1607"/>
                    <a:pt x="5024" y="1585"/>
                    <a:pt x="5024" y="1580"/>
                  </a:cubicBezTo>
                  <a:cubicBezTo>
                    <a:pt x="5024" y="1575"/>
                    <a:pt x="5016" y="1565"/>
                    <a:pt x="5016" y="1565"/>
                  </a:cubicBezTo>
                  <a:cubicBezTo>
                    <a:pt x="5016" y="1565"/>
                    <a:pt x="5033" y="1541"/>
                    <a:pt x="5029" y="1532"/>
                  </a:cubicBezTo>
                  <a:cubicBezTo>
                    <a:pt x="5025" y="1523"/>
                    <a:pt x="5013" y="1496"/>
                    <a:pt x="5013" y="1496"/>
                  </a:cubicBezTo>
                  <a:cubicBezTo>
                    <a:pt x="5013" y="1496"/>
                    <a:pt x="5005" y="1468"/>
                    <a:pt x="4998" y="1465"/>
                  </a:cubicBezTo>
                  <a:cubicBezTo>
                    <a:pt x="4991" y="1462"/>
                    <a:pt x="4986" y="1458"/>
                    <a:pt x="4986" y="1458"/>
                  </a:cubicBezTo>
                  <a:cubicBezTo>
                    <a:pt x="4990" y="1451"/>
                    <a:pt x="4990" y="1451"/>
                    <a:pt x="4990" y="1451"/>
                  </a:cubicBezTo>
                  <a:cubicBezTo>
                    <a:pt x="4990" y="1451"/>
                    <a:pt x="4971" y="1443"/>
                    <a:pt x="4965" y="1428"/>
                  </a:cubicBezTo>
                  <a:cubicBezTo>
                    <a:pt x="4959" y="1413"/>
                    <a:pt x="4957" y="1401"/>
                    <a:pt x="4957" y="1401"/>
                  </a:cubicBezTo>
                  <a:cubicBezTo>
                    <a:pt x="4948" y="1395"/>
                    <a:pt x="4948" y="1395"/>
                    <a:pt x="4948" y="1395"/>
                  </a:cubicBezTo>
                  <a:cubicBezTo>
                    <a:pt x="4948" y="1395"/>
                    <a:pt x="4955" y="1365"/>
                    <a:pt x="4948" y="1356"/>
                  </a:cubicBezTo>
                  <a:cubicBezTo>
                    <a:pt x="4941" y="1347"/>
                    <a:pt x="4936" y="1340"/>
                    <a:pt x="4936" y="1340"/>
                  </a:cubicBezTo>
                  <a:cubicBezTo>
                    <a:pt x="4924" y="1336"/>
                    <a:pt x="4924" y="1336"/>
                    <a:pt x="4924" y="1336"/>
                  </a:cubicBezTo>
                  <a:cubicBezTo>
                    <a:pt x="4924" y="1336"/>
                    <a:pt x="4920" y="1322"/>
                    <a:pt x="4913" y="1317"/>
                  </a:cubicBezTo>
                  <a:cubicBezTo>
                    <a:pt x="4906" y="1312"/>
                    <a:pt x="4889" y="1304"/>
                    <a:pt x="4889" y="1304"/>
                  </a:cubicBezTo>
                  <a:cubicBezTo>
                    <a:pt x="4875" y="1300"/>
                    <a:pt x="4875" y="1300"/>
                    <a:pt x="4875" y="1300"/>
                  </a:cubicBezTo>
                  <a:cubicBezTo>
                    <a:pt x="4872" y="1291"/>
                    <a:pt x="4872" y="1291"/>
                    <a:pt x="4872" y="1291"/>
                  </a:cubicBezTo>
                  <a:cubicBezTo>
                    <a:pt x="4872" y="1291"/>
                    <a:pt x="4900" y="1304"/>
                    <a:pt x="4903" y="1298"/>
                  </a:cubicBezTo>
                  <a:cubicBezTo>
                    <a:pt x="4906" y="1292"/>
                    <a:pt x="4885" y="1286"/>
                    <a:pt x="4885" y="1286"/>
                  </a:cubicBezTo>
                  <a:cubicBezTo>
                    <a:pt x="4830" y="1260"/>
                    <a:pt x="4830" y="1260"/>
                    <a:pt x="4830" y="1260"/>
                  </a:cubicBezTo>
                  <a:cubicBezTo>
                    <a:pt x="4830" y="1260"/>
                    <a:pt x="4802" y="1243"/>
                    <a:pt x="4794" y="1238"/>
                  </a:cubicBezTo>
                  <a:cubicBezTo>
                    <a:pt x="4786" y="1233"/>
                    <a:pt x="4772" y="1243"/>
                    <a:pt x="4772" y="1243"/>
                  </a:cubicBezTo>
                  <a:cubicBezTo>
                    <a:pt x="4746" y="1236"/>
                    <a:pt x="4746" y="1236"/>
                    <a:pt x="4746" y="1236"/>
                  </a:cubicBezTo>
                  <a:cubicBezTo>
                    <a:pt x="4771" y="1264"/>
                    <a:pt x="4771" y="1264"/>
                    <a:pt x="4771" y="1264"/>
                  </a:cubicBezTo>
                  <a:cubicBezTo>
                    <a:pt x="4767" y="1281"/>
                    <a:pt x="4767" y="1281"/>
                    <a:pt x="4767" y="1281"/>
                  </a:cubicBezTo>
                  <a:cubicBezTo>
                    <a:pt x="4759" y="1279"/>
                    <a:pt x="4759" y="1279"/>
                    <a:pt x="4759" y="1279"/>
                  </a:cubicBezTo>
                  <a:cubicBezTo>
                    <a:pt x="4758" y="1259"/>
                    <a:pt x="4758" y="1259"/>
                    <a:pt x="4758" y="1259"/>
                  </a:cubicBezTo>
                  <a:cubicBezTo>
                    <a:pt x="4748" y="1252"/>
                    <a:pt x="4748" y="1252"/>
                    <a:pt x="4748" y="1252"/>
                  </a:cubicBezTo>
                  <a:cubicBezTo>
                    <a:pt x="4746" y="1271"/>
                    <a:pt x="4746" y="1271"/>
                    <a:pt x="4746" y="1271"/>
                  </a:cubicBezTo>
                  <a:cubicBezTo>
                    <a:pt x="4717" y="1273"/>
                    <a:pt x="4717" y="1273"/>
                    <a:pt x="4717" y="1273"/>
                  </a:cubicBezTo>
                  <a:cubicBezTo>
                    <a:pt x="4717" y="1273"/>
                    <a:pt x="4724" y="1263"/>
                    <a:pt x="4719" y="1257"/>
                  </a:cubicBezTo>
                  <a:cubicBezTo>
                    <a:pt x="4714" y="1251"/>
                    <a:pt x="4701" y="1253"/>
                    <a:pt x="4701" y="1253"/>
                  </a:cubicBezTo>
                  <a:cubicBezTo>
                    <a:pt x="4696" y="1260"/>
                    <a:pt x="4696" y="1260"/>
                    <a:pt x="4696" y="1260"/>
                  </a:cubicBezTo>
                  <a:cubicBezTo>
                    <a:pt x="4681" y="1261"/>
                    <a:pt x="4681" y="1261"/>
                    <a:pt x="4681" y="1261"/>
                  </a:cubicBezTo>
                  <a:cubicBezTo>
                    <a:pt x="4672" y="1236"/>
                    <a:pt x="4672" y="1236"/>
                    <a:pt x="4672" y="1236"/>
                  </a:cubicBezTo>
                  <a:cubicBezTo>
                    <a:pt x="4668" y="1235"/>
                    <a:pt x="4668" y="1235"/>
                    <a:pt x="4668" y="1235"/>
                  </a:cubicBezTo>
                  <a:cubicBezTo>
                    <a:pt x="4660" y="1222"/>
                    <a:pt x="4660" y="1222"/>
                    <a:pt x="4660" y="1222"/>
                  </a:cubicBezTo>
                  <a:cubicBezTo>
                    <a:pt x="4612" y="1224"/>
                    <a:pt x="4612" y="1224"/>
                    <a:pt x="4612" y="1224"/>
                  </a:cubicBezTo>
                  <a:cubicBezTo>
                    <a:pt x="4606" y="1218"/>
                    <a:pt x="4606" y="1218"/>
                    <a:pt x="4606" y="1218"/>
                  </a:cubicBezTo>
                  <a:cubicBezTo>
                    <a:pt x="4606" y="1218"/>
                    <a:pt x="4580" y="1222"/>
                    <a:pt x="4580" y="1205"/>
                  </a:cubicBezTo>
                  <a:cubicBezTo>
                    <a:pt x="4580" y="1188"/>
                    <a:pt x="4602" y="1186"/>
                    <a:pt x="4602" y="1186"/>
                  </a:cubicBezTo>
                  <a:cubicBezTo>
                    <a:pt x="4602" y="1170"/>
                    <a:pt x="4602" y="1170"/>
                    <a:pt x="4602" y="1170"/>
                  </a:cubicBezTo>
                  <a:cubicBezTo>
                    <a:pt x="4602" y="1170"/>
                    <a:pt x="4621" y="1169"/>
                    <a:pt x="4622" y="1158"/>
                  </a:cubicBezTo>
                  <a:cubicBezTo>
                    <a:pt x="4623" y="1147"/>
                    <a:pt x="4633" y="1132"/>
                    <a:pt x="4633" y="1132"/>
                  </a:cubicBezTo>
                  <a:cubicBezTo>
                    <a:pt x="4623" y="1123"/>
                    <a:pt x="4623" y="1123"/>
                    <a:pt x="4623" y="1123"/>
                  </a:cubicBezTo>
                  <a:cubicBezTo>
                    <a:pt x="4630" y="1110"/>
                    <a:pt x="4630" y="1110"/>
                    <a:pt x="4630" y="1110"/>
                  </a:cubicBezTo>
                  <a:cubicBezTo>
                    <a:pt x="4623" y="1100"/>
                    <a:pt x="4623" y="1100"/>
                    <a:pt x="4623" y="1100"/>
                  </a:cubicBezTo>
                  <a:cubicBezTo>
                    <a:pt x="4637" y="1089"/>
                    <a:pt x="4637" y="1089"/>
                    <a:pt x="4637" y="1089"/>
                  </a:cubicBezTo>
                  <a:cubicBezTo>
                    <a:pt x="4651" y="1086"/>
                    <a:pt x="4651" y="1086"/>
                    <a:pt x="4651" y="1086"/>
                  </a:cubicBezTo>
                  <a:cubicBezTo>
                    <a:pt x="4645" y="1064"/>
                    <a:pt x="4645" y="1064"/>
                    <a:pt x="4645" y="1064"/>
                  </a:cubicBezTo>
                  <a:cubicBezTo>
                    <a:pt x="4660" y="1059"/>
                    <a:pt x="4660" y="1059"/>
                    <a:pt x="4660" y="1059"/>
                  </a:cubicBezTo>
                  <a:cubicBezTo>
                    <a:pt x="4642" y="1036"/>
                    <a:pt x="4642" y="1036"/>
                    <a:pt x="4642" y="1036"/>
                  </a:cubicBezTo>
                  <a:cubicBezTo>
                    <a:pt x="4664" y="1027"/>
                    <a:pt x="4664" y="1027"/>
                    <a:pt x="4664" y="1027"/>
                  </a:cubicBezTo>
                  <a:cubicBezTo>
                    <a:pt x="4664" y="1027"/>
                    <a:pt x="4657" y="997"/>
                    <a:pt x="4673" y="987"/>
                  </a:cubicBezTo>
                  <a:cubicBezTo>
                    <a:pt x="4689" y="977"/>
                    <a:pt x="4695" y="976"/>
                    <a:pt x="4695" y="976"/>
                  </a:cubicBezTo>
                  <a:cubicBezTo>
                    <a:pt x="4695" y="976"/>
                    <a:pt x="4720" y="980"/>
                    <a:pt x="4732" y="979"/>
                  </a:cubicBezTo>
                  <a:cubicBezTo>
                    <a:pt x="4744" y="978"/>
                    <a:pt x="4796" y="982"/>
                    <a:pt x="4796" y="982"/>
                  </a:cubicBezTo>
                  <a:cubicBezTo>
                    <a:pt x="4807" y="993"/>
                    <a:pt x="4807" y="993"/>
                    <a:pt x="4807" y="993"/>
                  </a:cubicBezTo>
                  <a:cubicBezTo>
                    <a:pt x="4820" y="988"/>
                    <a:pt x="4820" y="988"/>
                    <a:pt x="4820" y="988"/>
                  </a:cubicBezTo>
                  <a:cubicBezTo>
                    <a:pt x="4815" y="976"/>
                    <a:pt x="4815" y="976"/>
                    <a:pt x="4815" y="976"/>
                  </a:cubicBezTo>
                  <a:cubicBezTo>
                    <a:pt x="4865" y="989"/>
                    <a:pt x="4865" y="989"/>
                    <a:pt x="4865" y="989"/>
                  </a:cubicBezTo>
                  <a:cubicBezTo>
                    <a:pt x="4885" y="977"/>
                    <a:pt x="4885" y="977"/>
                    <a:pt x="4885" y="977"/>
                  </a:cubicBezTo>
                  <a:cubicBezTo>
                    <a:pt x="4904" y="992"/>
                    <a:pt x="4904" y="992"/>
                    <a:pt x="4904" y="992"/>
                  </a:cubicBezTo>
                  <a:cubicBezTo>
                    <a:pt x="4909" y="968"/>
                    <a:pt x="4909" y="968"/>
                    <a:pt x="4909" y="968"/>
                  </a:cubicBezTo>
                  <a:cubicBezTo>
                    <a:pt x="4909" y="968"/>
                    <a:pt x="4932" y="966"/>
                    <a:pt x="4948" y="967"/>
                  </a:cubicBezTo>
                  <a:cubicBezTo>
                    <a:pt x="4964" y="968"/>
                    <a:pt x="4970" y="982"/>
                    <a:pt x="4976" y="980"/>
                  </a:cubicBezTo>
                  <a:cubicBezTo>
                    <a:pt x="4982" y="978"/>
                    <a:pt x="5000" y="967"/>
                    <a:pt x="5000" y="967"/>
                  </a:cubicBezTo>
                  <a:cubicBezTo>
                    <a:pt x="5016" y="981"/>
                    <a:pt x="5016" y="981"/>
                    <a:pt x="5016" y="981"/>
                  </a:cubicBezTo>
                  <a:cubicBezTo>
                    <a:pt x="5044" y="986"/>
                    <a:pt x="5044" y="986"/>
                    <a:pt x="5044" y="986"/>
                  </a:cubicBezTo>
                  <a:cubicBezTo>
                    <a:pt x="5008" y="993"/>
                    <a:pt x="5008" y="993"/>
                    <a:pt x="5008" y="993"/>
                  </a:cubicBezTo>
                  <a:cubicBezTo>
                    <a:pt x="5008" y="993"/>
                    <a:pt x="5019" y="1014"/>
                    <a:pt x="5030" y="1009"/>
                  </a:cubicBezTo>
                  <a:cubicBezTo>
                    <a:pt x="5041" y="1004"/>
                    <a:pt x="5061" y="996"/>
                    <a:pt x="5061" y="996"/>
                  </a:cubicBezTo>
                  <a:cubicBezTo>
                    <a:pt x="5079" y="1005"/>
                    <a:pt x="5079" y="1005"/>
                    <a:pt x="5079" y="1005"/>
                  </a:cubicBezTo>
                  <a:cubicBezTo>
                    <a:pt x="5094" y="993"/>
                    <a:pt x="5094" y="993"/>
                    <a:pt x="5094" y="993"/>
                  </a:cubicBezTo>
                  <a:cubicBezTo>
                    <a:pt x="5094" y="993"/>
                    <a:pt x="5121" y="1002"/>
                    <a:pt x="5129" y="998"/>
                  </a:cubicBezTo>
                  <a:cubicBezTo>
                    <a:pt x="5137" y="994"/>
                    <a:pt x="5131" y="986"/>
                    <a:pt x="5131" y="986"/>
                  </a:cubicBezTo>
                  <a:cubicBezTo>
                    <a:pt x="5155" y="988"/>
                    <a:pt x="5155" y="988"/>
                    <a:pt x="5155" y="988"/>
                  </a:cubicBezTo>
                  <a:cubicBezTo>
                    <a:pt x="5122" y="970"/>
                    <a:pt x="5122" y="970"/>
                    <a:pt x="5122" y="970"/>
                  </a:cubicBezTo>
                  <a:cubicBezTo>
                    <a:pt x="5104" y="977"/>
                    <a:pt x="5104" y="977"/>
                    <a:pt x="5104" y="977"/>
                  </a:cubicBezTo>
                  <a:cubicBezTo>
                    <a:pt x="5099" y="965"/>
                    <a:pt x="5099" y="965"/>
                    <a:pt x="5099" y="965"/>
                  </a:cubicBezTo>
                  <a:cubicBezTo>
                    <a:pt x="5099" y="965"/>
                    <a:pt x="5084" y="942"/>
                    <a:pt x="5086" y="937"/>
                  </a:cubicBezTo>
                  <a:cubicBezTo>
                    <a:pt x="5088" y="932"/>
                    <a:pt x="5105" y="918"/>
                    <a:pt x="5105" y="918"/>
                  </a:cubicBezTo>
                  <a:cubicBezTo>
                    <a:pt x="5101" y="898"/>
                    <a:pt x="5101" y="898"/>
                    <a:pt x="5101" y="898"/>
                  </a:cubicBezTo>
                  <a:cubicBezTo>
                    <a:pt x="5110" y="890"/>
                    <a:pt x="5110" y="890"/>
                    <a:pt x="5110" y="890"/>
                  </a:cubicBezTo>
                  <a:cubicBezTo>
                    <a:pt x="5110" y="890"/>
                    <a:pt x="5084" y="877"/>
                    <a:pt x="5101" y="866"/>
                  </a:cubicBezTo>
                  <a:cubicBezTo>
                    <a:pt x="5118" y="855"/>
                    <a:pt x="5154" y="866"/>
                    <a:pt x="5154" y="866"/>
                  </a:cubicBezTo>
                  <a:cubicBezTo>
                    <a:pt x="5168" y="852"/>
                    <a:pt x="5168" y="852"/>
                    <a:pt x="5168" y="852"/>
                  </a:cubicBezTo>
                  <a:cubicBezTo>
                    <a:pt x="5190" y="871"/>
                    <a:pt x="5190" y="871"/>
                    <a:pt x="5190" y="871"/>
                  </a:cubicBezTo>
                  <a:cubicBezTo>
                    <a:pt x="5209" y="860"/>
                    <a:pt x="5209" y="860"/>
                    <a:pt x="5209" y="860"/>
                  </a:cubicBezTo>
                  <a:cubicBezTo>
                    <a:pt x="5209" y="860"/>
                    <a:pt x="5222" y="893"/>
                    <a:pt x="5229" y="896"/>
                  </a:cubicBezTo>
                  <a:cubicBezTo>
                    <a:pt x="5236" y="899"/>
                    <a:pt x="5257" y="895"/>
                    <a:pt x="5257" y="895"/>
                  </a:cubicBezTo>
                  <a:cubicBezTo>
                    <a:pt x="5257" y="895"/>
                    <a:pt x="5257" y="926"/>
                    <a:pt x="5268" y="922"/>
                  </a:cubicBezTo>
                  <a:cubicBezTo>
                    <a:pt x="5279" y="918"/>
                    <a:pt x="5294" y="878"/>
                    <a:pt x="5294" y="878"/>
                  </a:cubicBezTo>
                  <a:cubicBezTo>
                    <a:pt x="5310" y="869"/>
                    <a:pt x="5310" y="869"/>
                    <a:pt x="5310" y="869"/>
                  </a:cubicBezTo>
                  <a:cubicBezTo>
                    <a:pt x="5330" y="876"/>
                    <a:pt x="5330" y="876"/>
                    <a:pt x="5330" y="876"/>
                  </a:cubicBezTo>
                  <a:cubicBezTo>
                    <a:pt x="5329" y="867"/>
                    <a:pt x="5329" y="867"/>
                    <a:pt x="5329" y="867"/>
                  </a:cubicBezTo>
                  <a:cubicBezTo>
                    <a:pt x="5310" y="857"/>
                    <a:pt x="5310" y="857"/>
                    <a:pt x="5310" y="857"/>
                  </a:cubicBezTo>
                  <a:cubicBezTo>
                    <a:pt x="5310" y="857"/>
                    <a:pt x="5263" y="823"/>
                    <a:pt x="5274" y="822"/>
                  </a:cubicBezTo>
                  <a:cubicBezTo>
                    <a:pt x="5285" y="821"/>
                    <a:pt x="5339" y="823"/>
                    <a:pt x="5339" y="823"/>
                  </a:cubicBezTo>
                  <a:cubicBezTo>
                    <a:pt x="5373" y="823"/>
                    <a:pt x="5373" y="823"/>
                    <a:pt x="5373" y="823"/>
                  </a:cubicBezTo>
                  <a:cubicBezTo>
                    <a:pt x="5373" y="823"/>
                    <a:pt x="5376" y="837"/>
                    <a:pt x="5372" y="836"/>
                  </a:cubicBezTo>
                  <a:cubicBezTo>
                    <a:pt x="5368" y="835"/>
                    <a:pt x="5329" y="823"/>
                    <a:pt x="5331" y="837"/>
                  </a:cubicBezTo>
                  <a:cubicBezTo>
                    <a:pt x="5333" y="851"/>
                    <a:pt x="5356" y="864"/>
                    <a:pt x="5356" y="864"/>
                  </a:cubicBezTo>
                  <a:cubicBezTo>
                    <a:pt x="5358" y="881"/>
                    <a:pt x="5358" y="881"/>
                    <a:pt x="5358" y="881"/>
                  </a:cubicBezTo>
                  <a:cubicBezTo>
                    <a:pt x="5378" y="884"/>
                    <a:pt x="5378" y="884"/>
                    <a:pt x="5378" y="884"/>
                  </a:cubicBezTo>
                  <a:cubicBezTo>
                    <a:pt x="5374" y="897"/>
                    <a:pt x="5374" y="897"/>
                    <a:pt x="5374" y="897"/>
                  </a:cubicBezTo>
                  <a:cubicBezTo>
                    <a:pt x="5387" y="908"/>
                    <a:pt x="5387" y="908"/>
                    <a:pt x="5387" y="908"/>
                  </a:cubicBezTo>
                  <a:cubicBezTo>
                    <a:pt x="5369" y="911"/>
                    <a:pt x="5369" y="911"/>
                    <a:pt x="5369" y="911"/>
                  </a:cubicBezTo>
                  <a:cubicBezTo>
                    <a:pt x="5364" y="922"/>
                    <a:pt x="5364" y="922"/>
                    <a:pt x="5364" y="922"/>
                  </a:cubicBezTo>
                  <a:cubicBezTo>
                    <a:pt x="5352" y="926"/>
                    <a:pt x="5352" y="926"/>
                    <a:pt x="5352" y="926"/>
                  </a:cubicBezTo>
                  <a:cubicBezTo>
                    <a:pt x="5352" y="926"/>
                    <a:pt x="5365" y="948"/>
                    <a:pt x="5358" y="960"/>
                  </a:cubicBezTo>
                  <a:cubicBezTo>
                    <a:pt x="5351" y="972"/>
                    <a:pt x="5340" y="992"/>
                    <a:pt x="5340" y="999"/>
                  </a:cubicBezTo>
                  <a:cubicBezTo>
                    <a:pt x="5340" y="1006"/>
                    <a:pt x="5358" y="1012"/>
                    <a:pt x="5345" y="1029"/>
                  </a:cubicBezTo>
                  <a:cubicBezTo>
                    <a:pt x="5332" y="1046"/>
                    <a:pt x="5310" y="1051"/>
                    <a:pt x="5310" y="1051"/>
                  </a:cubicBezTo>
                  <a:cubicBezTo>
                    <a:pt x="5313" y="1063"/>
                    <a:pt x="5313" y="1063"/>
                    <a:pt x="5313" y="1063"/>
                  </a:cubicBezTo>
                  <a:cubicBezTo>
                    <a:pt x="5300" y="1063"/>
                    <a:pt x="5300" y="1063"/>
                    <a:pt x="5300" y="1063"/>
                  </a:cubicBezTo>
                  <a:cubicBezTo>
                    <a:pt x="5300" y="1063"/>
                    <a:pt x="5324" y="1073"/>
                    <a:pt x="5322" y="1090"/>
                  </a:cubicBezTo>
                  <a:cubicBezTo>
                    <a:pt x="5320" y="1107"/>
                    <a:pt x="5313" y="1118"/>
                    <a:pt x="5320" y="1135"/>
                  </a:cubicBezTo>
                  <a:cubicBezTo>
                    <a:pt x="5327" y="1152"/>
                    <a:pt x="5392" y="1206"/>
                    <a:pt x="5392" y="1206"/>
                  </a:cubicBezTo>
                  <a:cubicBezTo>
                    <a:pt x="5432" y="1247"/>
                    <a:pt x="5432" y="1247"/>
                    <a:pt x="5432" y="1247"/>
                  </a:cubicBezTo>
                  <a:cubicBezTo>
                    <a:pt x="5441" y="1244"/>
                    <a:pt x="5441" y="1244"/>
                    <a:pt x="5441" y="1244"/>
                  </a:cubicBezTo>
                  <a:cubicBezTo>
                    <a:pt x="5494" y="1308"/>
                    <a:pt x="5494" y="1308"/>
                    <a:pt x="5494" y="1308"/>
                  </a:cubicBezTo>
                  <a:cubicBezTo>
                    <a:pt x="5529" y="1319"/>
                    <a:pt x="5529" y="1319"/>
                    <a:pt x="5529" y="1319"/>
                  </a:cubicBezTo>
                  <a:cubicBezTo>
                    <a:pt x="5544" y="1337"/>
                    <a:pt x="5544" y="1337"/>
                    <a:pt x="5544" y="1337"/>
                  </a:cubicBezTo>
                  <a:cubicBezTo>
                    <a:pt x="5544" y="1337"/>
                    <a:pt x="5583" y="1385"/>
                    <a:pt x="5590" y="1389"/>
                  </a:cubicBezTo>
                  <a:cubicBezTo>
                    <a:pt x="5597" y="1393"/>
                    <a:pt x="5608" y="1393"/>
                    <a:pt x="5608" y="1393"/>
                  </a:cubicBezTo>
                  <a:cubicBezTo>
                    <a:pt x="5608" y="1393"/>
                    <a:pt x="5602" y="1411"/>
                    <a:pt x="5617" y="1405"/>
                  </a:cubicBezTo>
                  <a:cubicBezTo>
                    <a:pt x="5632" y="1399"/>
                    <a:pt x="5630" y="1386"/>
                    <a:pt x="5630" y="1386"/>
                  </a:cubicBezTo>
                  <a:cubicBezTo>
                    <a:pt x="5623" y="1378"/>
                    <a:pt x="5623" y="1378"/>
                    <a:pt x="5623" y="1378"/>
                  </a:cubicBezTo>
                  <a:cubicBezTo>
                    <a:pt x="5623" y="1378"/>
                    <a:pt x="5638" y="1358"/>
                    <a:pt x="5635" y="1349"/>
                  </a:cubicBezTo>
                  <a:cubicBezTo>
                    <a:pt x="5632" y="1340"/>
                    <a:pt x="5601" y="1323"/>
                    <a:pt x="5608" y="1310"/>
                  </a:cubicBezTo>
                  <a:cubicBezTo>
                    <a:pt x="5615" y="1297"/>
                    <a:pt x="5624" y="1289"/>
                    <a:pt x="5627" y="1288"/>
                  </a:cubicBezTo>
                  <a:cubicBezTo>
                    <a:pt x="5630" y="1287"/>
                    <a:pt x="5650" y="1295"/>
                    <a:pt x="5650" y="1295"/>
                  </a:cubicBezTo>
                  <a:cubicBezTo>
                    <a:pt x="5650" y="1295"/>
                    <a:pt x="5628" y="1269"/>
                    <a:pt x="5622" y="1265"/>
                  </a:cubicBezTo>
                  <a:cubicBezTo>
                    <a:pt x="5616" y="1261"/>
                    <a:pt x="5601" y="1255"/>
                    <a:pt x="5604" y="1240"/>
                  </a:cubicBezTo>
                  <a:cubicBezTo>
                    <a:pt x="5607" y="1225"/>
                    <a:pt x="5625" y="1220"/>
                    <a:pt x="5625" y="1220"/>
                  </a:cubicBezTo>
                  <a:cubicBezTo>
                    <a:pt x="5625" y="1220"/>
                    <a:pt x="5654" y="1232"/>
                    <a:pt x="5652" y="1217"/>
                  </a:cubicBezTo>
                  <a:cubicBezTo>
                    <a:pt x="5650" y="1202"/>
                    <a:pt x="5637" y="1198"/>
                    <a:pt x="5621" y="1190"/>
                  </a:cubicBezTo>
                  <a:cubicBezTo>
                    <a:pt x="5605" y="1182"/>
                    <a:pt x="5591" y="1163"/>
                    <a:pt x="5590" y="1152"/>
                  </a:cubicBezTo>
                  <a:cubicBezTo>
                    <a:pt x="5589" y="1141"/>
                    <a:pt x="5583" y="1129"/>
                    <a:pt x="5583" y="1129"/>
                  </a:cubicBezTo>
                  <a:cubicBezTo>
                    <a:pt x="5590" y="1126"/>
                    <a:pt x="5590" y="1126"/>
                    <a:pt x="5590" y="1126"/>
                  </a:cubicBezTo>
                  <a:cubicBezTo>
                    <a:pt x="5590" y="1126"/>
                    <a:pt x="5616" y="1151"/>
                    <a:pt x="5622" y="1146"/>
                  </a:cubicBezTo>
                  <a:cubicBezTo>
                    <a:pt x="5628" y="1141"/>
                    <a:pt x="5604" y="1114"/>
                    <a:pt x="5604" y="1114"/>
                  </a:cubicBezTo>
                  <a:cubicBezTo>
                    <a:pt x="5581" y="1111"/>
                    <a:pt x="5581" y="1111"/>
                    <a:pt x="5581" y="1111"/>
                  </a:cubicBezTo>
                  <a:cubicBezTo>
                    <a:pt x="5548" y="1083"/>
                    <a:pt x="5548" y="1083"/>
                    <a:pt x="5548" y="1083"/>
                  </a:cubicBezTo>
                  <a:cubicBezTo>
                    <a:pt x="5548" y="1083"/>
                    <a:pt x="5552" y="1062"/>
                    <a:pt x="5536" y="1055"/>
                  </a:cubicBezTo>
                  <a:cubicBezTo>
                    <a:pt x="5520" y="1048"/>
                    <a:pt x="5508" y="1048"/>
                    <a:pt x="5508" y="1048"/>
                  </a:cubicBezTo>
                  <a:cubicBezTo>
                    <a:pt x="5509" y="1060"/>
                    <a:pt x="5509" y="1060"/>
                    <a:pt x="5509" y="1060"/>
                  </a:cubicBezTo>
                  <a:cubicBezTo>
                    <a:pt x="5509" y="1060"/>
                    <a:pt x="5465" y="1050"/>
                    <a:pt x="5464" y="1034"/>
                  </a:cubicBezTo>
                  <a:cubicBezTo>
                    <a:pt x="5463" y="1018"/>
                    <a:pt x="5471" y="1007"/>
                    <a:pt x="5463" y="992"/>
                  </a:cubicBezTo>
                  <a:cubicBezTo>
                    <a:pt x="5455" y="977"/>
                    <a:pt x="5439" y="969"/>
                    <a:pt x="5439" y="969"/>
                  </a:cubicBezTo>
                  <a:cubicBezTo>
                    <a:pt x="5439" y="969"/>
                    <a:pt x="5441" y="953"/>
                    <a:pt x="5445" y="951"/>
                  </a:cubicBezTo>
                  <a:cubicBezTo>
                    <a:pt x="5449" y="949"/>
                    <a:pt x="5458" y="956"/>
                    <a:pt x="5458" y="956"/>
                  </a:cubicBezTo>
                  <a:cubicBezTo>
                    <a:pt x="5467" y="945"/>
                    <a:pt x="5467" y="945"/>
                    <a:pt x="5467" y="945"/>
                  </a:cubicBezTo>
                  <a:cubicBezTo>
                    <a:pt x="5492" y="964"/>
                    <a:pt x="5492" y="964"/>
                    <a:pt x="5492" y="964"/>
                  </a:cubicBezTo>
                  <a:cubicBezTo>
                    <a:pt x="5497" y="959"/>
                    <a:pt x="5497" y="959"/>
                    <a:pt x="5497" y="959"/>
                  </a:cubicBezTo>
                  <a:cubicBezTo>
                    <a:pt x="5489" y="951"/>
                    <a:pt x="5489" y="951"/>
                    <a:pt x="5489" y="951"/>
                  </a:cubicBezTo>
                  <a:cubicBezTo>
                    <a:pt x="5489" y="951"/>
                    <a:pt x="5495" y="919"/>
                    <a:pt x="5506" y="925"/>
                  </a:cubicBezTo>
                  <a:cubicBezTo>
                    <a:pt x="5517" y="931"/>
                    <a:pt x="5544" y="964"/>
                    <a:pt x="5544" y="964"/>
                  </a:cubicBezTo>
                  <a:cubicBezTo>
                    <a:pt x="5551" y="931"/>
                    <a:pt x="5551" y="931"/>
                    <a:pt x="5551" y="931"/>
                  </a:cubicBezTo>
                  <a:cubicBezTo>
                    <a:pt x="5551" y="931"/>
                    <a:pt x="5608" y="924"/>
                    <a:pt x="5617" y="924"/>
                  </a:cubicBezTo>
                  <a:cubicBezTo>
                    <a:pt x="5626" y="924"/>
                    <a:pt x="5663" y="944"/>
                    <a:pt x="5663" y="944"/>
                  </a:cubicBezTo>
                  <a:cubicBezTo>
                    <a:pt x="5691" y="955"/>
                    <a:pt x="5691" y="955"/>
                    <a:pt x="5691" y="955"/>
                  </a:cubicBezTo>
                  <a:cubicBezTo>
                    <a:pt x="5671" y="915"/>
                    <a:pt x="5671" y="915"/>
                    <a:pt x="5671" y="915"/>
                  </a:cubicBezTo>
                  <a:cubicBezTo>
                    <a:pt x="5671" y="915"/>
                    <a:pt x="5703" y="916"/>
                    <a:pt x="5705" y="905"/>
                  </a:cubicBezTo>
                  <a:cubicBezTo>
                    <a:pt x="5707" y="894"/>
                    <a:pt x="5697" y="876"/>
                    <a:pt x="5697" y="876"/>
                  </a:cubicBezTo>
                  <a:cubicBezTo>
                    <a:pt x="5710" y="877"/>
                    <a:pt x="5710" y="877"/>
                    <a:pt x="5710" y="877"/>
                  </a:cubicBezTo>
                  <a:cubicBezTo>
                    <a:pt x="5713" y="861"/>
                    <a:pt x="5713" y="861"/>
                    <a:pt x="5713" y="861"/>
                  </a:cubicBezTo>
                  <a:cubicBezTo>
                    <a:pt x="5713" y="861"/>
                    <a:pt x="5752" y="870"/>
                    <a:pt x="5758" y="855"/>
                  </a:cubicBezTo>
                  <a:cubicBezTo>
                    <a:pt x="5764" y="840"/>
                    <a:pt x="5784" y="828"/>
                    <a:pt x="5784" y="828"/>
                  </a:cubicBezTo>
                  <a:cubicBezTo>
                    <a:pt x="5770" y="811"/>
                    <a:pt x="5770" y="811"/>
                    <a:pt x="5770" y="811"/>
                  </a:cubicBezTo>
                  <a:cubicBezTo>
                    <a:pt x="5791" y="813"/>
                    <a:pt x="5791" y="813"/>
                    <a:pt x="5791" y="813"/>
                  </a:cubicBezTo>
                  <a:cubicBezTo>
                    <a:pt x="5794" y="825"/>
                    <a:pt x="5794" y="825"/>
                    <a:pt x="5794" y="825"/>
                  </a:cubicBezTo>
                  <a:cubicBezTo>
                    <a:pt x="5835" y="828"/>
                    <a:pt x="5835" y="828"/>
                    <a:pt x="5835" y="828"/>
                  </a:cubicBezTo>
                  <a:cubicBezTo>
                    <a:pt x="5835" y="828"/>
                    <a:pt x="5877" y="838"/>
                    <a:pt x="5877" y="832"/>
                  </a:cubicBezTo>
                  <a:cubicBezTo>
                    <a:pt x="5877" y="826"/>
                    <a:pt x="5873" y="814"/>
                    <a:pt x="5873" y="814"/>
                  </a:cubicBezTo>
                  <a:cubicBezTo>
                    <a:pt x="5848" y="811"/>
                    <a:pt x="5848" y="811"/>
                    <a:pt x="5848" y="811"/>
                  </a:cubicBezTo>
                  <a:cubicBezTo>
                    <a:pt x="5844" y="797"/>
                    <a:pt x="5844" y="797"/>
                    <a:pt x="5844" y="797"/>
                  </a:cubicBezTo>
                  <a:cubicBezTo>
                    <a:pt x="5844" y="797"/>
                    <a:pt x="5807" y="784"/>
                    <a:pt x="5795" y="780"/>
                  </a:cubicBezTo>
                  <a:cubicBezTo>
                    <a:pt x="5783" y="776"/>
                    <a:pt x="5774" y="782"/>
                    <a:pt x="5774" y="782"/>
                  </a:cubicBezTo>
                  <a:cubicBezTo>
                    <a:pt x="5778" y="770"/>
                    <a:pt x="5778" y="770"/>
                    <a:pt x="5778" y="770"/>
                  </a:cubicBezTo>
                  <a:cubicBezTo>
                    <a:pt x="5730" y="736"/>
                    <a:pt x="5730" y="736"/>
                    <a:pt x="5730" y="736"/>
                  </a:cubicBezTo>
                  <a:cubicBezTo>
                    <a:pt x="5719" y="747"/>
                    <a:pt x="5719" y="747"/>
                    <a:pt x="5719" y="747"/>
                  </a:cubicBezTo>
                  <a:cubicBezTo>
                    <a:pt x="5719" y="747"/>
                    <a:pt x="5699" y="742"/>
                    <a:pt x="5691" y="739"/>
                  </a:cubicBezTo>
                  <a:cubicBezTo>
                    <a:pt x="5683" y="736"/>
                    <a:pt x="5672" y="727"/>
                    <a:pt x="5672" y="727"/>
                  </a:cubicBezTo>
                  <a:cubicBezTo>
                    <a:pt x="5649" y="732"/>
                    <a:pt x="5649" y="732"/>
                    <a:pt x="5649" y="732"/>
                  </a:cubicBezTo>
                  <a:cubicBezTo>
                    <a:pt x="5630" y="730"/>
                    <a:pt x="5630" y="730"/>
                    <a:pt x="5630" y="730"/>
                  </a:cubicBezTo>
                  <a:cubicBezTo>
                    <a:pt x="5630" y="730"/>
                    <a:pt x="5599" y="712"/>
                    <a:pt x="5611" y="709"/>
                  </a:cubicBezTo>
                  <a:cubicBezTo>
                    <a:pt x="5623" y="706"/>
                    <a:pt x="5635" y="713"/>
                    <a:pt x="5644" y="715"/>
                  </a:cubicBezTo>
                  <a:cubicBezTo>
                    <a:pt x="5653" y="717"/>
                    <a:pt x="5697" y="724"/>
                    <a:pt x="5697" y="724"/>
                  </a:cubicBezTo>
                  <a:cubicBezTo>
                    <a:pt x="5697" y="724"/>
                    <a:pt x="5749" y="709"/>
                    <a:pt x="5749" y="702"/>
                  </a:cubicBezTo>
                  <a:cubicBezTo>
                    <a:pt x="5749" y="695"/>
                    <a:pt x="5719" y="679"/>
                    <a:pt x="5716" y="677"/>
                  </a:cubicBezTo>
                  <a:cubicBezTo>
                    <a:pt x="5713" y="675"/>
                    <a:pt x="5664" y="658"/>
                    <a:pt x="5679" y="649"/>
                  </a:cubicBezTo>
                  <a:cubicBezTo>
                    <a:pt x="5694" y="640"/>
                    <a:pt x="5719" y="660"/>
                    <a:pt x="5719" y="660"/>
                  </a:cubicBezTo>
                  <a:cubicBezTo>
                    <a:pt x="5719" y="660"/>
                    <a:pt x="5766" y="689"/>
                    <a:pt x="5780" y="687"/>
                  </a:cubicBezTo>
                  <a:cubicBezTo>
                    <a:pt x="5794" y="685"/>
                    <a:pt x="5799" y="671"/>
                    <a:pt x="5838" y="684"/>
                  </a:cubicBezTo>
                  <a:cubicBezTo>
                    <a:pt x="5877" y="697"/>
                    <a:pt x="5911" y="711"/>
                    <a:pt x="5922" y="713"/>
                  </a:cubicBezTo>
                  <a:cubicBezTo>
                    <a:pt x="5933" y="715"/>
                    <a:pt x="5976" y="727"/>
                    <a:pt x="5976" y="727"/>
                  </a:cubicBezTo>
                  <a:cubicBezTo>
                    <a:pt x="5976" y="727"/>
                    <a:pt x="6035" y="762"/>
                    <a:pt x="6031" y="744"/>
                  </a:cubicBezTo>
                  <a:cubicBezTo>
                    <a:pt x="6027" y="726"/>
                    <a:pt x="6007" y="715"/>
                    <a:pt x="6007" y="715"/>
                  </a:cubicBezTo>
                  <a:cubicBezTo>
                    <a:pt x="6019" y="706"/>
                    <a:pt x="6019" y="706"/>
                    <a:pt x="6019" y="706"/>
                  </a:cubicBezTo>
                  <a:cubicBezTo>
                    <a:pt x="5989" y="693"/>
                    <a:pt x="5989" y="693"/>
                    <a:pt x="5989" y="693"/>
                  </a:cubicBezTo>
                  <a:cubicBezTo>
                    <a:pt x="5995" y="689"/>
                    <a:pt x="5995" y="689"/>
                    <a:pt x="5995" y="689"/>
                  </a:cubicBezTo>
                  <a:cubicBezTo>
                    <a:pt x="5962" y="672"/>
                    <a:pt x="5962" y="672"/>
                    <a:pt x="5962" y="672"/>
                  </a:cubicBezTo>
                  <a:cubicBezTo>
                    <a:pt x="5998" y="679"/>
                    <a:pt x="5998" y="679"/>
                    <a:pt x="5998" y="679"/>
                  </a:cubicBezTo>
                  <a:cubicBezTo>
                    <a:pt x="5994" y="666"/>
                    <a:pt x="5994" y="666"/>
                    <a:pt x="5994" y="666"/>
                  </a:cubicBezTo>
                  <a:cubicBezTo>
                    <a:pt x="5994" y="666"/>
                    <a:pt x="6045" y="678"/>
                    <a:pt x="6034" y="664"/>
                  </a:cubicBezTo>
                  <a:close/>
                  <a:moveTo>
                    <a:pt x="3574" y="1289"/>
                  </a:moveTo>
                  <a:cubicBezTo>
                    <a:pt x="3574" y="1289"/>
                    <a:pt x="3571" y="1303"/>
                    <a:pt x="3570" y="1306"/>
                  </a:cubicBezTo>
                  <a:cubicBezTo>
                    <a:pt x="3569" y="1309"/>
                    <a:pt x="3556" y="1316"/>
                    <a:pt x="3556" y="1316"/>
                  </a:cubicBezTo>
                  <a:cubicBezTo>
                    <a:pt x="3556" y="1316"/>
                    <a:pt x="3544" y="1322"/>
                    <a:pt x="3540" y="1322"/>
                  </a:cubicBezTo>
                  <a:cubicBezTo>
                    <a:pt x="3535" y="1322"/>
                    <a:pt x="3536" y="1334"/>
                    <a:pt x="3536" y="1334"/>
                  </a:cubicBezTo>
                  <a:cubicBezTo>
                    <a:pt x="3536" y="1334"/>
                    <a:pt x="3534" y="1327"/>
                    <a:pt x="3514" y="1334"/>
                  </a:cubicBezTo>
                  <a:cubicBezTo>
                    <a:pt x="3493" y="1340"/>
                    <a:pt x="3522" y="1350"/>
                    <a:pt x="3522" y="1350"/>
                  </a:cubicBezTo>
                  <a:cubicBezTo>
                    <a:pt x="3522" y="1350"/>
                    <a:pt x="3512" y="1358"/>
                    <a:pt x="3510" y="1367"/>
                  </a:cubicBezTo>
                  <a:cubicBezTo>
                    <a:pt x="3509" y="1377"/>
                    <a:pt x="3494" y="1368"/>
                    <a:pt x="3494" y="1368"/>
                  </a:cubicBezTo>
                  <a:cubicBezTo>
                    <a:pt x="3494" y="1368"/>
                    <a:pt x="3491" y="1382"/>
                    <a:pt x="3471" y="1382"/>
                  </a:cubicBezTo>
                  <a:cubicBezTo>
                    <a:pt x="3450" y="1382"/>
                    <a:pt x="3451" y="1377"/>
                    <a:pt x="3451" y="1377"/>
                  </a:cubicBezTo>
                  <a:cubicBezTo>
                    <a:pt x="3428" y="1371"/>
                    <a:pt x="3428" y="1371"/>
                    <a:pt x="3428" y="1371"/>
                  </a:cubicBezTo>
                  <a:cubicBezTo>
                    <a:pt x="3439" y="1365"/>
                    <a:pt x="3439" y="1365"/>
                    <a:pt x="3439" y="1365"/>
                  </a:cubicBezTo>
                  <a:cubicBezTo>
                    <a:pt x="3461" y="1365"/>
                    <a:pt x="3461" y="1365"/>
                    <a:pt x="3461" y="1365"/>
                  </a:cubicBezTo>
                  <a:cubicBezTo>
                    <a:pt x="3462" y="1360"/>
                    <a:pt x="3462" y="1360"/>
                    <a:pt x="3462" y="1360"/>
                  </a:cubicBezTo>
                  <a:cubicBezTo>
                    <a:pt x="3462" y="1360"/>
                    <a:pt x="3478" y="1360"/>
                    <a:pt x="3485" y="1353"/>
                  </a:cubicBezTo>
                  <a:cubicBezTo>
                    <a:pt x="3491" y="1347"/>
                    <a:pt x="3492" y="1328"/>
                    <a:pt x="3492" y="1328"/>
                  </a:cubicBezTo>
                  <a:cubicBezTo>
                    <a:pt x="3492" y="1328"/>
                    <a:pt x="3496" y="1327"/>
                    <a:pt x="3505" y="1325"/>
                  </a:cubicBezTo>
                  <a:cubicBezTo>
                    <a:pt x="3514" y="1323"/>
                    <a:pt x="3514" y="1307"/>
                    <a:pt x="3514" y="1307"/>
                  </a:cubicBezTo>
                  <a:cubicBezTo>
                    <a:pt x="3514" y="1307"/>
                    <a:pt x="3507" y="1303"/>
                    <a:pt x="3508" y="1297"/>
                  </a:cubicBezTo>
                  <a:cubicBezTo>
                    <a:pt x="3509" y="1292"/>
                    <a:pt x="3528" y="1275"/>
                    <a:pt x="3528" y="1275"/>
                  </a:cubicBezTo>
                  <a:cubicBezTo>
                    <a:pt x="3528" y="1264"/>
                    <a:pt x="3528" y="1264"/>
                    <a:pt x="3528" y="1264"/>
                  </a:cubicBezTo>
                  <a:cubicBezTo>
                    <a:pt x="3542" y="1251"/>
                    <a:pt x="3542" y="1251"/>
                    <a:pt x="3542" y="1251"/>
                  </a:cubicBezTo>
                  <a:cubicBezTo>
                    <a:pt x="3534" y="1240"/>
                    <a:pt x="3534" y="1240"/>
                    <a:pt x="3534" y="1240"/>
                  </a:cubicBezTo>
                  <a:cubicBezTo>
                    <a:pt x="3533" y="1187"/>
                    <a:pt x="3533" y="1187"/>
                    <a:pt x="3533" y="1187"/>
                  </a:cubicBezTo>
                  <a:cubicBezTo>
                    <a:pt x="3533" y="1187"/>
                    <a:pt x="3518" y="1165"/>
                    <a:pt x="3536" y="1160"/>
                  </a:cubicBezTo>
                  <a:cubicBezTo>
                    <a:pt x="3555" y="1156"/>
                    <a:pt x="3551" y="1181"/>
                    <a:pt x="3551" y="1181"/>
                  </a:cubicBezTo>
                  <a:cubicBezTo>
                    <a:pt x="3551" y="1181"/>
                    <a:pt x="3560" y="1188"/>
                    <a:pt x="3564" y="1203"/>
                  </a:cubicBezTo>
                  <a:cubicBezTo>
                    <a:pt x="3569" y="1219"/>
                    <a:pt x="3571" y="1229"/>
                    <a:pt x="3571" y="1229"/>
                  </a:cubicBezTo>
                  <a:cubicBezTo>
                    <a:pt x="3585" y="1248"/>
                    <a:pt x="3585" y="1248"/>
                    <a:pt x="3585" y="1248"/>
                  </a:cubicBezTo>
                  <a:cubicBezTo>
                    <a:pt x="3579" y="1259"/>
                    <a:pt x="3579" y="1259"/>
                    <a:pt x="3579" y="1259"/>
                  </a:cubicBezTo>
                  <a:cubicBezTo>
                    <a:pt x="3579" y="1259"/>
                    <a:pt x="3566" y="1265"/>
                    <a:pt x="3568" y="1272"/>
                  </a:cubicBezTo>
                  <a:cubicBezTo>
                    <a:pt x="3569" y="1280"/>
                    <a:pt x="3585" y="1271"/>
                    <a:pt x="3585" y="1271"/>
                  </a:cubicBezTo>
                  <a:cubicBezTo>
                    <a:pt x="3587" y="1282"/>
                    <a:pt x="3587" y="1282"/>
                    <a:pt x="3587" y="1282"/>
                  </a:cubicBezTo>
                  <a:lnTo>
                    <a:pt x="3574" y="1289"/>
                  </a:lnTo>
                  <a:close/>
                  <a:moveTo>
                    <a:pt x="4656" y="1185"/>
                  </a:moveTo>
                  <a:cubicBezTo>
                    <a:pt x="4650" y="1193"/>
                    <a:pt x="4662" y="1221"/>
                    <a:pt x="4684" y="1223"/>
                  </a:cubicBezTo>
                  <a:cubicBezTo>
                    <a:pt x="4702" y="1225"/>
                    <a:pt x="4662" y="1177"/>
                    <a:pt x="4656" y="1185"/>
                  </a:cubicBezTo>
                  <a:close/>
                  <a:moveTo>
                    <a:pt x="1020" y="0"/>
                  </a:moveTo>
                  <a:cubicBezTo>
                    <a:pt x="986" y="0"/>
                    <a:pt x="986" y="0"/>
                    <a:pt x="986" y="0"/>
                  </a:cubicBezTo>
                  <a:cubicBezTo>
                    <a:pt x="986" y="10"/>
                    <a:pt x="986" y="10"/>
                    <a:pt x="986" y="10"/>
                  </a:cubicBezTo>
                  <a:cubicBezTo>
                    <a:pt x="1007" y="11"/>
                    <a:pt x="1007" y="11"/>
                    <a:pt x="1007" y="11"/>
                  </a:cubicBezTo>
                  <a:cubicBezTo>
                    <a:pt x="1021" y="10"/>
                    <a:pt x="1020" y="0"/>
                    <a:pt x="1020" y="0"/>
                  </a:cubicBezTo>
                  <a:close/>
                  <a:moveTo>
                    <a:pt x="1012" y="37"/>
                  </a:moveTo>
                  <a:cubicBezTo>
                    <a:pt x="1026" y="35"/>
                    <a:pt x="1035" y="23"/>
                    <a:pt x="1017" y="23"/>
                  </a:cubicBezTo>
                  <a:cubicBezTo>
                    <a:pt x="999" y="23"/>
                    <a:pt x="1002" y="38"/>
                    <a:pt x="1012" y="37"/>
                  </a:cubicBezTo>
                  <a:close/>
                  <a:moveTo>
                    <a:pt x="943" y="537"/>
                  </a:moveTo>
                  <a:cubicBezTo>
                    <a:pt x="965" y="542"/>
                    <a:pt x="973" y="535"/>
                    <a:pt x="980" y="531"/>
                  </a:cubicBezTo>
                  <a:cubicBezTo>
                    <a:pt x="987" y="527"/>
                    <a:pt x="993" y="519"/>
                    <a:pt x="993" y="519"/>
                  </a:cubicBezTo>
                  <a:cubicBezTo>
                    <a:pt x="1002" y="518"/>
                    <a:pt x="1002" y="518"/>
                    <a:pt x="1002" y="518"/>
                  </a:cubicBezTo>
                  <a:cubicBezTo>
                    <a:pt x="1002" y="518"/>
                    <a:pt x="994" y="507"/>
                    <a:pt x="968" y="501"/>
                  </a:cubicBezTo>
                  <a:cubicBezTo>
                    <a:pt x="942" y="495"/>
                    <a:pt x="927" y="518"/>
                    <a:pt x="927" y="518"/>
                  </a:cubicBezTo>
                  <a:cubicBezTo>
                    <a:pt x="927" y="521"/>
                    <a:pt x="921" y="533"/>
                    <a:pt x="943" y="537"/>
                  </a:cubicBezTo>
                  <a:close/>
                  <a:moveTo>
                    <a:pt x="996" y="48"/>
                  </a:moveTo>
                  <a:cubicBezTo>
                    <a:pt x="1007" y="61"/>
                    <a:pt x="1000" y="62"/>
                    <a:pt x="1023" y="55"/>
                  </a:cubicBezTo>
                  <a:cubicBezTo>
                    <a:pt x="1045" y="48"/>
                    <a:pt x="1020" y="45"/>
                    <a:pt x="1016" y="45"/>
                  </a:cubicBezTo>
                  <a:cubicBezTo>
                    <a:pt x="1012" y="45"/>
                    <a:pt x="996" y="48"/>
                    <a:pt x="996" y="48"/>
                  </a:cubicBezTo>
                  <a:close/>
                  <a:moveTo>
                    <a:pt x="966" y="65"/>
                  </a:moveTo>
                  <a:cubicBezTo>
                    <a:pt x="976" y="65"/>
                    <a:pt x="1009" y="63"/>
                    <a:pt x="1003" y="62"/>
                  </a:cubicBezTo>
                  <a:cubicBezTo>
                    <a:pt x="997" y="61"/>
                    <a:pt x="985" y="52"/>
                    <a:pt x="985" y="52"/>
                  </a:cubicBezTo>
                  <a:cubicBezTo>
                    <a:pt x="954" y="52"/>
                    <a:pt x="954" y="52"/>
                    <a:pt x="954" y="52"/>
                  </a:cubicBezTo>
                  <a:cubicBezTo>
                    <a:pt x="954" y="52"/>
                    <a:pt x="957" y="65"/>
                    <a:pt x="966" y="65"/>
                  </a:cubicBezTo>
                  <a:close/>
                  <a:moveTo>
                    <a:pt x="893" y="23"/>
                  </a:moveTo>
                  <a:cubicBezTo>
                    <a:pt x="876" y="24"/>
                    <a:pt x="885" y="35"/>
                    <a:pt x="885" y="35"/>
                  </a:cubicBezTo>
                  <a:cubicBezTo>
                    <a:pt x="910" y="30"/>
                    <a:pt x="910" y="21"/>
                    <a:pt x="893" y="23"/>
                  </a:cubicBezTo>
                  <a:close/>
                  <a:moveTo>
                    <a:pt x="940" y="48"/>
                  </a:moveTo>
                  <a:cubicBezTo>
                    <a:pt x="924" y="45"/>
                    <a:pt x="924" y="45"/>
                    <a:pt x="924" y="45"/>
                  </a:cubicBezTo>
                  <a:cubicBezTo>
                    <a:pt x="930" y="61"/>
                    <a:pt x="930" y="61"/>
                    <a:pt x="930" y="61"/>
                  </a:cubicBezTo>
                  <a:lnTo>
                    <a:pt x="940" y="48"/>
                  </a:lnTo>
                  <a:close/>
                  <a:moveTo>
                    <a:pt x="972" y="10"/>
                  </a:moveTo>
                  <a:cubicBezTo>
                    <a:pt x="972" y="27"/>
                    <a:pt x="972" y="27"/>
                    <a:pt x="972" y="27"/>
                  </a:cubicBezTo>
                  <a:cubicBezTo>
                    <a:pt x="995" y="20"/>
                    <a:pt x="995" y="20"/>
                    <a:pt x="995" y="20"/>
                  </a:cubicBezTo>
                  <a:lnTo>
                    <a:pt x="972" y="10"/>
                  </a:lnTo>
                  <a:close/>
                  <a:moveTo>
                    <a:pt x="936" y="31"/>
                  </a:moveTo>
                  <a:cubicBezTo>
                    <a:pt x="936" y="31"/>
                    <a:pt x="931" y="25"/>
                    <a:pt x="924" y="25"/>
                  </a:cubicBezTo>
                  <a:cubicBezTo>
                    <a:pt x="917" y="25"/>
                    <a:pt x="919" y="38"/>
                    <a:pt x="919" y="38"/>
                  </a:cubicBezTo>
                  <a:lnTo>
                    <a:pt x="936" y="31"/>
                  </a:lnTo>
                  <a:close/>
                  <a:moveTo>
                    <a:pt x="957" y="31"/>
                  </a:moveTo>
                  <a:cubicBezTo>
                    <a:pt x="938" y="39"/>
                    <a:pt x="938" y="39"/>
                    <a:pt x="938" y="39"/>
                  </a:cubicBezTo>
                  <a:cubicBezTo>
                    <a:pt x="957" y="39"/>
                    <a:pt x="957" y="39"/>
                    <a:pt x="957" y="39"/>
                  </a:cubicBezTo>
                  <a:lnTo>
                    <a:pt x="957" y="31"/>
                  </a:lnTo>
                  <a:close/>
                  <a:moveTo>
                    <a:pt x="979" y="42"/>
                  </a:moveTo>
                  <a:cubicBezTo>
                    <a:pt x="995" y="47"/>
                    <a:pt x="1009" y="30"/>
                    <a:pt x="990" y="28"/>
                  </a:cubicBezTo>
                  <a:cubicBezTo>
                    <a:pt x="972" y="27"/>
                    <a:pt x="964" y="38"/>
                    <a:pt x="979" y="42"/>
                  </a:cubicBezTo>
                  <a:close/>
                  <a:moveTo>
                    <a:pt x="966" y="23"/>
                  </a:moveTo>
                  <a:cubicBezTo>
                    <a:pt x="965" y="7"/>
                    <a:pt x="965" y="7"/>
                    <a:pt x="965" y="7"/>
                  </a:cubicBezTo>
                  <a:cubicBezTo>
                    <a:pt x="938" y="14"/>
                    <a:pt x="938" y="14"/>
                    <a:pt x="938" y="14"/>
                  </a:cubicBezTo>
                  <a:cubicBezTo>
                    <a:pt x="944" y="24"/>
                    <a:pt x="944" y="24"/>
                    <a:pt x="944" y="24"/>
                  </a:cubicBezTo>
                  <a:lnTo>
                    <a:pt x="966" y="23"/>
                  </a:ln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526" name="Freeform 318">
              <a:extLst>
                <a:ext uri="{FF2B5EF4-FFF2-40B4-BE49-F238E27FC236}">
                  <a16:creationId xmlns:a16="http://schemas.microsoft.com/office/drawing/2014/main" id="{EF3C5A51-EA5E-4FE7-ABFC-DEEB1670AB37}"/>
                </a:ext>
              </a:extLst>
            </p:cNvPr>
            <p:cNvSpPr>
              <a:spLocks noEditPoints="1"/>
            </p:cNvSpPr>
            <p:nvPr/>
          </p:nvSpPr>
          <p:spPr bwMode="gray">
            <a:xfrm>
              <a:off x="5111439" y="372482"/>
              <a:ext cx="311270" cy="425965"/>
            </a:xfrm>
            <a:custGeom>
              <a:avLst/>
              <a:gdLst>
                <a:gd name="T0" fmla="*/ 445 w 459"/>
                <a:gd name="T1" fmla="*/ 95 h 664"/>
                <a:gd name="T2" fmla="*/ 424 w 459"/>
                <a:gd name="T3" fmla="*/ 67 h 664"/>
                <a:gd name="T4" fmla="*/ 391 w 459"/>
                <a:gd name="T5" fmla="*/ 26 h 664"/>
                <a:gd name="T6" fmla="*/ 338 w 459"/>
                <a:gd name="T7" fmla="*/ 9 h 664"/>
                <a:gd name="T8" fmla="*/ 305 w 459"/>
                <a:gd name="T9" fmla="*/ 14 h 664"/>
                <a:gd name="T10" fmla="*/ 284 w 459"/>
                <a:gd name="T11" fmla="*/ 25 h 664"/>
                <a:gd name="T12" fmla="*/ 243 w 459"/>
                <a:gd name="T13" fmla="*/ 25 h 664"/>
                <a:gd name="T14" fmla="*/ 216 w 459"/>
                <a:gd name="T15" fmla="*/ 45 h 664"/>
                <a:gd name="T16" fmla="*/ 165 w 459"/>
                <a:gd name="T17" fmla="*/ 71 h 664"/>
                <a:gd name="T18" fmla="*/ 161 w 459"/>
                <a:gd name="T19" fmla="*/ 99 h 664"/>
                <a:gd name="T20" fmla="*/ 146 w 459"/>
                <a:gd name="T21" fmla="*/ 128 h 664"/>
                <a:gd name="T22" fmla="*/ 118 w 459"/>
                <a:gd name="T23" fmla="*/ 144 h 664"/>
                <a:gd name="T24" fmla="*/ 96 w 459"/>
                <a:gd name="T25" fmla="*/ 194 h 664"/>
                <a:gd name="T26" fmla="*/ 68 w 459"/>
                <a:gd name="T27" fmla="*/ 227 h 664"/>
                <a:gd name="T28" fmla="*/ 28 w 459"/>
                <a:gd name="T29" fmla="*/ 260 h 664"/>
                <a:gd name="T30" fmla="*/ 21 w 459"/>
                <a:gd name="T31" fmla="*/ 290 h 664"/>
                <a:gd name="T32" fmla="*/ 33 w 459"/>
                <a:gd name="T33" fmla="*/ 334 h 664"/>
                <a:gd name="T34" fmla="*/ 50 w 459"/>
                <a:gd name="T35" fmla="*/ 374 h 664"/>
                <a:gd name="T36" fmla="*/ 51 w 459"/>
                <a:gd name="T37" fmla="*/ 409 h 664"/>
                <a:gd name="T38" fmla="*/ 36 w 459"/>
                <a:gd name="T39" fmla="*/ 431 h 664"/>
                <a:gd name="T40" fmla="*/ 15 w 459"/>
                <a:gd name="T41" fmla="*/ 452 h 664"/>
                <a:gd name="T42" fmla="*/ 0 w 459"/>
                <a:gd name="T43" fmla="*/ 469 h 664"/>
                <a:gd name="T44" fmla="*/ 19 w 459"/>
                <a:gd name="T45" fmla="*/ 515 h 664"/>
                <a:gd name="T46" fmla="*/ 49 w 459"/>
                <a:gd name="T47" fmla="*/ 586 h 664"/>
                <a:gd name="T48" fmla="*/ 53 w 459"/>
                <a:gd name="T49" fmla="*/ 607 h 664"/>
                <a:gd name="T50" fmla="*/ 69 w 459"/>
                <a:gd name="T51" fmla="*/ 656 h 664"/>
                <a:gd name="T52" fmla="*/ 120 w 459"/>
                <a:gd name="T53" fmla="*/ 631 h 664"/>
                <a:gd name="T54" fmla="*/ 176 w 459"/>
                <a:gd name="T55" fmla="*/ 618 h 664"/>
                <a:gd name="T56" fmla="*/ 206 w 459"/>
                <a:gd name="T57" fmla="*/ 549 h 664"/>
                <a:gd name="T58" fmla="*/ 196 w 459"/>
                <a:gd name="T59" fmla="*/ 507 h 664"/>
                <a:gd name="T60" fmla="*/ 237 w 459"/>
                <a:gd name="T61" fmla="*/ 489 h 664"/>
                <a:gd name="T62" fmla="*/ 270 w 459"/>
                <a:gd name="T63" fmla="*/ 456 h 664"/>
                <a:gd name="T64" fmla="*/ 271 w 459"/>
                <a:gd name="T65" fmla="*/ 409 h 664"/>
                <a:gd name="T66" fmla="*/ 217 w 459"/>
                <a:gd name="T67" fmla="*/ 350 h 664"/>
                <a:gd name="T68" fmla="*/ 237 w 459"/>
                <a:gd name="T69" fmla="*/ 303 h 664"/>
                <a:gd name="T70" fmla="*/ 271 w 459"/>
                <a:gd name="T71" fmla="*/ 270 h 664"/>
                <a:gd name="T72" fmla="*/ 340 w 459"/>
                <a:gd name="T73" fmla="*/ 249 h 664"/>
                <a:gd name="T74" fmla="*/ 372 w 459"/>
                <a:gd name="T75" fmla="*/ 175 h 664"/>
                <a:gd name="T76" fmla="*/ 396 w 459"/>
                <a:gd name="T77" fmla="*/ 144 h 664"/>
                <a:gd name="T78" fmla="*/ 459 w 459"/>
                <a:gd name="T79" fmla="*/ 157 h 664"/>
                <a:gd name="T80" fmla="*/ 271 w 459"/>
                <a:gd name="T81" fmla="*/ 583 h 664"/>
                <a:gd name="T82" fmla="*/ 290 w 459"/>
                <a:gd name="T83" fmla="*/ 543 h 664"/>
                <a:gd name="T84" fmla="*/ 200 w 459"/>
                <a:gd name="T85" fmla="*/ 597 h 664"/>
                <a:gd name="T86" fmla="*/ 230 w 459"/>
                <a:gd name="T87" fmla="*/ 570 h 6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59" h="664">
                  <a:moveTo>
                    <a:pt x="451" y="136"/>
                  </a:moveTo>
                  <a:cubicBezTo>
                    <a:pt x="451" y="136"/>
                    <a:pt x="436" y="126"/>
                    <a:pt x="434" y="118"/>
                  </a:cubicBezTo>
                  <a:cubicBezTo>
                    <a:pt x="432" y="110"/>
                    <a:pt x="445" y="95"/>
                    <a:pt x="445" y="95"/>
                  </a:cubicBezTo>
                  <a:cubicBezTo>
                    <a:pt x="428" y="85"/>
                    <a:pt x="428" y="85"/>
                    <a:pt x="428" y="85"/>
                  </a:cubicBezTo>
                  <a:cubicBezTo>
                    <a:pt x="432" y="72"/>
                    <a:pt x="432" y="72"/>
                    <a:pt x="432" y="72"/>
                  </a:cubicBezTo>
                  <a:cubicBezTo>
                    <a:pt x="424" y="67"/>
                    <a:pt x="424" y="67"/>
                    <a:pt x="424" y="67"/>
                  </a:cubicBezTo>
                  <a:cubicBezTo>
                    <a:pt x="424" y="67"/>
                    <a:pt x="429" y="53"/>
                    <a:pt x="430" y="48"/>
                  </a:cubicBezTo>
                  <a:cubicBezTo>
                    <a:pt x="431" y="43"/>
                    <a:pt x="413" y="38"/>
                    <a:pt x="413" y="38"/>
                  </a:cubicBezTo>
                  <a:cubicBezTo>
                    <a:pt x="391" y="26"/>
                    <a:pt x="391" y="26"/>
                    <a:pt x="391" y="26"/>
                  </a:cubicBezTo>
                  <a:cubicBezTo>
                    <a:pt x="369" y="25"/>
                    <a:pt x="369" y="25"/>
                    <a:pt x="369" y="25"/>
                  </a:cubicBezTo>
                  <a:cubicBezTo>
                    <a:pt x="361" y="17"/>
                    <a:pt x="361" y="17"/>
                    <a:pt x="361" y="17"/>
                  </a:cubicBezTo>
                  <a:cubicBezTo>
                    <a:pt x="361" y="17"/>
                    <a:pt x="348" y="13"/>
                    <a:pt x="338" y="9"/>
                  </a:cubicBezTo>
                  <a:cubicBezTo>
                    <a:pt x="332" y="7"/>
                    <a:pt x="327" y="3"/>
                    <a:pt x="324" y="1"/>
                  </a:cubicBezTo>
                  <a:cubicBezTo>
                    <a:pt x="304" y="0"/>
                    <a:pt x="304" y="0"/>
                    <a:pt x="304" y="0"/>
                  </a:cubicBezTo>
                  <a:cubicBezTo>
                    <a:pt x="305" y="14"/>
                    <a:pt x="305" y="14"/>
                    <a:pt x="305" y="14"/>
                  </a:cubicBezTo>
                  <a:cubicBezTo>
                    <a:pt x="305" y="14"/>
                    <a:pt x="298" y="11"/>
                    <a:pt x="298" y="16"/>
                  </a:cubicBezTo>
                  <a:cubicBezTo>
                    <a:pt x="298" y="21"/>
                    <a:pt x="311" y="27"/>
                    <a:pt x="303" y="29"/>
                  </a:cubicBezTo>
                  <a:cubicBezTo>
                    <a:pt x="295" y="31"/>
                    <a:pt x="284" y="25"/>
                    <a:pt x="284" y="25"/>
                  </a:cubicBezTo>
                  <a:cubicBezTo>
                    <a:pt x="275" y="25"/>
                    <a:pt x="275" y="25"/>
                    <a:pt x="275" y="25"/>
                  </a:cubicBezTo>
                  <a:cubicBezTo>
                    <a:pt x="262" y="21"/>
                    <a:pt x="262" y="21"/>
                    <a:pt x="262" y="21"/>
                  </a:cubicBezTo>
                  <a:cubicBezTo>
                    <a:pt x="243" y="25"/>
                    <a:pt x="243" y="25"/>
                    <a:pt x="243" y="25"/>
                  </a:cubicBezTo>
                  <a:cubicBezTo>
                    <a:pt x="243" y="25"/>
                    <a:pt x="243" y="12"/>
                    <a:pt x="235" y="18"/>
                  </a:cubicBezTo>
                  <a:cubicBezTo>
                    <a:pt x="227" y="24"/>
                    <a:pt x="237" y="35"/>
                    <a:pt x="234" y="40"/>
                  </a:cubicBezTo>
                  <a:cubicBezTo>
                    <a:pt x="231" y="45"/>
                    <a:pt x="216" y="45"/>
                    <a:pt x="216" y="45"/>
                  </a:cubicBezTo>
                  <a:cubicBezTo>
                    <a:pt x="190" y="49"/>
                    <a:pt x="190" y="49"/>
                    <a:pt x="190" y="49"/>
                  </a:cubicBezTo>
                  <a:cubicBezTo>
                    <a:pt x="181" y="59"/>
                    <a:pt x="181" y="59"/>
                    <a:pt x="181" y="59"/>
                  </a:cubicBezTo>
                  <a:cubicBezTo>
                    <a:pt x="181" y="59"/>
                    <a:pt x="164" y="67"/>
                    <a:pt x="165" y="71"/>
                  </a:cubicBezTo>
                  <a:cubicBezTo>
                    <a:pt x="166" y="75"/>
                    <a:pt x="177" y="83"/>
                    <a:pt x="177" y="83"/>
                  </a:cubicBezTo>
                  <a:cubicBezTo>
                    <a:pt x="172" y="93"/>
                    <a:pt x="172" y="93"/>
                    <a:pt x="172" y="93"/>
                  </a:cubicBezTo>
                  <a:cubicBezTo>
                    <a:pt x="172" y="93"/>
                    <a:pt x="167" y="94"/>
                    <a:pt x="161" y="99"/>
                  </a:cubicBezTo>
                  <a:cubicBezTo>
                    <a:pt x="155" y="104"/>
                    <a:pt x="153" y="111"/>
                    <a:pt x="153" y="111"/>
                  </a:cubicBezTo>
                  <a:cubicBezTo>
                    <a:pt x="139" y="112"/>
                    <a:pt x="139" y="112"/>
                    <a:pt x="139" y="112"/>
                  </a:cubicBezTo>
                  <a:cubicBezTo>
                    <a:pt x="139" y="112"/>
                    <a:pt x="153" y="126"/>
                    <a:pt x="146" y="128"/>
                  </a:cubicBezTo>
                  <a:cubicBezTo>
                    <a:pt x="139" y="130"/>
                    <a:pt x="130" y="135"/>
                    <a:pt x="130" y="135"/>
                  </a:cubicBezTo>
                  <a:cubicBezTo>
                    <a:pt x="116" y="128"/>
                    <a:pt x="116" y="128"/>
                    <a:pt x="116" y="128"/>
                  </a:cubicBezTo>
                  <a:cubicBezTo>
                    <a:pt x="118" y="144"/>
                    <a:pt x="118" y="144"/>
                    <a:pt x="118" y="144"/>
                  </a:cubicBezTo>
                  <a:cubicBezTo>
                    <a:pt x="115" y="149"/>
                    <a:pt x="115" y="149"/>
                    <a:pt x="115" y="149"/>
                  </a:cubicBezTo>
                  <a:cubicBezTo>
                    <a:pt x="111" y="178"/>
                    <a:pt x="111" y="178"/>
                    <a:pt x="111" y="178"/>
                  </a:cubicBezTo>
                  <a:cubicBezTo>
                    <a:pt x="111" y="178"/>
                    <a:pt x="101" y="190"/>
                    <a:pt x="96" y="194"/>
                  </a:cubicBezTo>
                  <a:cubicBezTo>
                    <a:pt x="91" y="198"/>
                    <a:pt x="82" y="204"/>
                    <a:pt x="82" y="204"/>
                  </a:cubicBezTo>
                  <a:cubicBezTo>
                    <a:pt x="82" y="204"/>
                    <a:pt x="103" y="214"/>
                    <a:pt x="99" y="223"/>
                  </a:cubicBezTo>
                  <a:cubicBezTo>
                    <a:pt x="95" y="232"/>
                    <a:pt x="68" y="227"/>
                    <a:pt x="68" y="227"/>
                  </a:cubicBezTo>
                  <a:cubicBezTo>
                    <a:pt x="68" y="227"/>
                    <a:pt x="53" y="239"/>
                    <a:pt x="46" y="244"/>
                  </a:cubicBezTo>
                  <a:cubicBezTo>
                    <a:pt x="39" y="249"/>
                    <a:pt x="33" y="254"/>
                    <a:pt x="33" y="254"/>
                  </a:cubicBezTo>
                  <a:cubicBezTo>
                    <a:pt x="28" y="260"/>
                    <a:pt x="28" y="260"/>
                    <a:pt x="28" y="260"/>
                  </a:cubicBezTo>
                  <a:cubicBezTo>
                    <a:pt x="28" y="260"/>
                    <a:pt x="22" y="265"/>
                    <a:pt x="22" y="268"/>
                  </a:cubicBezTo>
                  <a:cubicBezTo>
                    <a:pt x="22" y="271"/>
                    <a:pt x="40" y="271"/>
                    <a:pt x="34" y="277"/>
                  </a:cubicBezTo>
                  <a:cubicBezTo>
                    <a:pt x="28" y="283"/>
                    <a:pt x="19" y="285"/>
                    <a:pt x="21" y="290"/>
                  </a:cubicBezTo>
                  <a:cubicBezTo>
                    <a:pt x="23" y="295"/>
                    <a:pt x="29" y="303"/>
                    <a:pt x="29" y="303"/>
                  </a:cubicBezTo>
                  <a:cubicBezTo>
                    <a:pt x="29" y="303"/>
                    <a:pt x="40" y="310"/>
                    <a:pt x="39" y="315"/>
                  </a:cubicBezTo>
                  <a:cubicBezTo>
                    <a:pt x="38" y="320"/>
                    <a:pt x="32" y="327"/>
                    <a:pt x="33" y="334"/>
                  </a:cubicBezTo>
                  <a:cubicBezTo>
                    <a:pt x="34" y="341"/>
                    <a:pt x="42" y="348"/>
                    <a:pt x="42" y="348"/>
                  </a:cubicBezTo>
                  <a:cubicBezTo>
                    <a:pt x="42" y="348"/>
                    <a:pt x="61" y="354"/>
                    <a:pt x="59" y="361"/>
                  </a:cubicBezTo>
                  <a:cubicBezTo>
                    <a:pt x="57" y="368"/>
                    <a:pt x="50" y="374"/>
                    <a:pt x="50" y="374"/>
                  </a:cubicBezTo>
                  <a:cubicBezTo>
                    <a:pt x="35" y="377"/>
                    <a:pt x="35" y="377"/>
                    <a:pt x="35" y="377"/>
                  </a:cubicBezTo>
                  <a:cubicBezTo>
                    <a:pt x="35" y="377"/>
                    <a:pt x="41" y="394"/>
                    <a:pt x="44" y="397"/>
                  </a:cubicBezTo>
                  <a:cubicBezTo>
                    <a:pt x="47" y="400"/>
                    <a:pt x="51" y="409"/>
                    <a:pt x="51" y="409"/>
                  </a:cubicBezTo>
                  <a:cubicBezTo>
                    <a:pt x="44" y="409"/>
                    <a:pt x="44" y="409"/>
                    <a:pt x="44" y="409"/>
                  </a:cubicBezTo>
                  <a:cubicBezTo>
                    <a:pt x="44" y="426"/>
                    <a:pt x="44" y="426"/>
                    <a:pt x="44" y="426"/>
                  </a:cubicBezTo>
                  <a:cubicBezTo>
                    <a:pt x="44" y="426"/>
                    <a:pt x="41" y="431"/>
                    <a:pt x="36" y="431"/>
                  </a:cubicBezTo>
                  <a:cubicBezTo>
                    <a:pt x="31" y="431"/>
                    <a:pt x="17" y="425"/>
                    <a:pt x="19" y="431"/>
                  </a:cubicBezTo>
                  <a:cubicBezTo>
                    <a:pt x="21" y="437"/>
                    <a:pt x="21" y="441"/>
                    <a:pt x="21" y="441"/>
                  </a:cubicBezTo>
                  <a:cubicBezTo>
                    <a:pt x="21" y="441"/>
                    <a:pt x="12" y="444"/>
                    <a:pt x="15" y="452"/>
                  </a:cubicBezTo>
                  <a:cubicBezTo>
                    <a:pt x="18" y="460"/>
                    <a:pt x="24" y="461"/>
                    <a:pt x="22" y="466"/>
                  </a:cubicBezTo>
                  <a:cubicBezTo>
                    <a:pt x="20" y="471"/>
                    <a:pt x="14" y="482"/>
                    <a:pt x="14" y="482"/>
                  </a:cubicBezTo>
                  <a:cubicBezTo>
                    <a:pt x="0" y="469"/>
                    <a:pt x="0" y="469"/>
                    <a:pt x="0" y="469"/>
                  </a:cubicBezTo>
                  <a:cubicBezTo>
                    <a:pt x="2" y="510"/>
                    <a:pt x="2" y="510"/>
                    <a:pt x="2" y="510"/>
                  </a:cubicBezTo>
                  <a:cubicBezTo>
                    <a:pt x="2" y="510"/>
                    <a:pt x="16" y="499"/>
                    <a:pt x="23" y="511"/>
                  </a:cubicBezTo>
                  <a:cubicBezTo>
                    <a:pt x="30" y="523"/>
                    <a:pt x="19" y="515"/>
                    <a:pt x="19" y="515"/>
                  </a:cubicBezTo>
                  <a:cubicBezTo>
                    <a:pt x="19" y="515"/>
                    <a:pt x="14" y="549"/>
                    <a:pt x="18" y="553"/>
                  </a:cubicBezTo>
                  <a:cubicBezTo>
                    <a:pt x="22" y="557"/>
                    <a:pt x="34" y="562"/>
                    <a:pt x="34" y="562"/>
                  </a:cubicBezTo>
                  <a:cubicBezTo>
                    <a:pt x="34" y="562"/>
                    <a:pt x="43" y="579"/>
                    <a:pt x="49" y="586"/>
                  </a:cubicBezTo>
                  <a:cubicBezTo>
                    <a:pt x="55" y="593"/>
                    <a:pt x="66" y="597"/>
                    <a:pt x="66" y="597"/>
                  </a:cubicBezTo>
                  <a:cubicBezTo>
                    <a:pt x="65" y="605"/>
                    <a:pt x="65" y="605"/>
                    <a:pt x="65" y="605"/>
                  </a:cubicBezTo>
                  <a:cubicBezTo>
                    <a:pt x="53" y="607"/>
                    <a:pt x="53" y="607"/>
                    <a:pt x="53" y="607"/>
                  </a:cubicBezTo>
                  <a:cubicBezTo>
                    <a:pt x="53" y="607"/>
                    <a:pt x="51" y="615"/>
                    <a:pt x="52" y="621"/>
                  </a:cubicBezTo>
                  <a:cubicBezTo>
                    <a:pt x="53" y="627"/>
                    <a:pt x="68" y="640"/>
                    <a:pt x="68" y="640"/>
                  </a:cubicBezTo>
                  <a:cubicBezTo>
                    <a:pt x="68" y="640"/>
                    <a:pt x="64" y="653"/>
                    <a:pt x="69" y="656"/>
                  </a:cubicBezTo>
                  <a:cubicBezTo>
                    <a:pt x="74" y="659"/>
                    <a:pt x="94" y="657"/>
                    <a:pt x="94" y="657"/>
                  </a:cubicBezTo>
                  <a:cubicBezTo>
                    <a:pt x="94" y="657"/>
                    <a:pt x="122" y="664"/>
                    <a:pt x="121" y="655"/>
                  </a:cubicBezTo>
                  <a:cubicBezTo>
                    <a:pt x="120" y="646"/>
                    <a:pt x="120" y="631"/>
                    <a:pt x="120" y="631"/>
                  </a:cubicBezTo>
                  <a:cubicBezTo>
                    <a:pt x="132" y="625"/>
                    <a:pt x="132" y="625"/>
                    <a:pt x="132" y="625"/>
                  </a:cubicBezTo>
                  <a:cubicBezTo>
                    <a:pt x="133" y="615"/>
                    <a:pt x="133" y="615"/>
                    <a:pt x="133" y="615"/>
                  </a:cubicBezTo>
                  <a:cubicBezTo>
                    <a:pt x="176" y="618"/>
                    <a:pt x="176" y="618"/>
                    <a:pt x="176" y="618"/>
                  </a:cubicBezTo>
                  <a:cubicBezTo>
                    <a:pt x="185" y="623"/>
                    <a:pt x="185" y="623"/>
                    <a:pt x="185" y="623"/>
                  </a:cubicBezTo>
                  <a:cubicBezTo>
                    <a:pt x="199" y="581"/>
                    <a:pt x="199" y="581"/>
                    <a:pt x="199" y="581"/>
                  </a:cubicBezTo>
                  <a:cubicBezTo>
                    <a:pt x="199" y="581"/>
                    <a:pt x="208" y="555"/>
                    <a:pt x="206" y="549"/>
                  </a:cubicBezTo>
                  <a:cubicBezTo>
                    <a:pt x="204" y="543"/>
                    <a:pt x="198" y="532"/>
                    <a:pt x="198" y="532"/>
                  </a:cubicBezTo>
                  <a:cubicBezTo>
                    <a:pt x="198" y="532"/>
                    <a:pt x="219" y="529"/>
                    <a:pt x="217" y="518"/>
                  </a:cubicBezTo>
                  <a:cubicBezTo>
                    <a:pt x="215" y="507"/>
                    <a:pt x="196" y="507"/>
                    <a:pt x="196" y="507"/>
                  </a:cubicBezTo>
                  <a:cubicBezTo>
                    <a:pt x="209" y="502"/>
                    <a:pt x="209" y="502"/>
                    <a:pt x="209" y="502"/>
                  </a:cubicBezTo>
                  <a:cubicBezTo>
                    <a:pt x="200" y="498"/>
                    <a:pt x="200" y="498"/>
                    <a:pt x="200" y="498"/>
                  </a:cubicBezTo>
                  <a:cubicBezTo>
                    <a:pt x="200" y="498"/>
                    <a:pt x="234" y="500"/>
                    <a:pt x="237" y="489"/>
                  </a:cubicBezTo>
                  <a:cubicBezTo>
                    <a:pt x="240" y="478"/>
                    <a:pt x="245" y="472"/>
                    <a:pt x="245" y="472"/>
                  </a:cubicBezTo>
                  <a:cubicBezTo>
                    <a:pt x="245" y="472"/>
                    <a:pt x="256" y="490"/>
                    <a:pt x="266" y="478"/>
                  </a:cubicBezTo>
                  <a:cubicBezTo>
                    <a:pt x="276" y="466"/>
                    <a:pt x="270" y="456"/>
                    <a:pt x="270" y="456"/>
                  </a:cubicBezTo>
                  <a:cubicBezTo>
                    <a:pt x="270" y="456"/>
                    <a:pt x="297" y="451"/>
                    <a:pt x="290" y="437"/>
                  </a:cubicBezTo>
                  <a:cubicBezTo>
                    <a:pt x="283" y="423"/>
                    <a:pt x="271" y="420"/>
                    <a:pt x="271" y="420"/>
                  </a:cubicBezTo>
                  <a:cubicBezTo>
                    <a:pt x="271" y="409"/>
                    <a:pt x="271" y="409"/>
                    <a:pt x="271" y="409"/>
                  </a:cubicBezTo>
                  <a:cubicBezTo>
                    <a:pt x="247" y="399"/>
                    <a:pt x="247" y="399"/>
                    <a:pt x="247" y="399"/>
                  </a:cubicBezTo>
                  <a:cubicBezTo>
                    <a:pt x="247" y="399"/>
                    <a:pt x="236" y="406"/>
                    <a:pt x="228" y="399"/>
                  </a:cubicBezTo>
                  <a:cubicBezTo>
                    <a:pt x="220" y="392"/>
                    <a:pt x="217" y="350"/>
                    <a:pt x="217" y="350"/>
                  </a:cubicBezTo>
                  <a:cubicBezTo>
                    <a:pt x="217" y="350"/>
                    <a:pt x="228" y="340"/>
                    <a:pt x="229" y="329"/>
                  </a:cubicBezTo>
                  <a:cubicBezTo>
                    <a:pt x="230" y="318"/>
                    <a:pt x="219" y="308"/>
                    <a:pt x="219" y="308"/>
                  </a:cubicBezTo>
                  <a:cubicBezTo>
                    <a:pt x="219" y="308"/>
                    <a:pt x="233" y="311"/>
                    <a:pt x="237" y="303"/>
                  </a:cubicBezTo>
                  <a:cubicBezTo>
                    <a:pt x="241" y="295"/>
                    <a:pt x="232" y="283"/>
                    <a:pt x="232" y="283"/>
                  </a:cubicBezTo>
                  <a:cubicBezTo>
                    <a:pt x="232" y="283"/>
                    <a:pt x="249" y="292"/>
                    <a:pt x="254" y="287"/>
                  </a:cubicBezTo>
                  <a:cubicBezTo>
                    <a:pt x="259" y="282"/>
                    <a:pt x="271" y="270"/>
                    <a:pt x="271" y="270"/>
                  </a:cubicBezTo>
                  <a:cubicBezTo>
                    <a:pt x="291" y="273"/>
                    <a:pt x="291" y="273"/>
                    <a:pt x="291" y="273"/>
                  </a:cubicBezTo>
                  <a:cubicBezTo>
                    <a:pt x="299" y="258"/>
                    <a:pt x="299" y="258"/>
                    <a:pt x="299" y="258"/>
                  </a:cubicBezTo>
                  <a:cubicBezTo>
                    <a:pt x="299" y="258"/>
                    <a:pt x="330" y="259"/>
                    <a:pt x="340" y="249"/>
                  </a:cubicBezTo>
                  <a:cubicBezTo>
                    <a:pt x="350" y="239"/>
                    <a:pt x="364" y="213"/>
                    <a:pt x="364" y="213"/>
                  </a:cubicBezTo>
                  <a:cubicBezTo>
                    <a:pt x="352" y="198"/>
                    <a:pt x="352" y="198"/>
                    <a:pt x="352" y="198"/>
                  </a:cubicBezTo>
                  <a:cubicBezTo>
                    <a:pt x="372" y="175"/>
                    <a:pt x="372" y="175"/>
                    <a:pt x="372" y="175"/>
                  </a:cubicBezTo>
                  <a:cubicBezTo>
                    <a:pt x="361" y="162"/>
                    <a:pt x="361" y="162"/>
                    <a:pt x="361" y="162"/>
                  </a:cubicBezTo>
                  <a:cubicBezTo>
                    <a:pt x="386" y="156"/>
                    <a:pt x="386" y="156"/>
                    <a:pt x="386" y="156"/>
                  </a:cubicBezTo>
                  <a:cubicBezTo>
                    <a:pt x="396" y="144"/>
                    <a:pt x="396" y="144"/>
                    <a:pt x="396" y="144"/>
                  </a:cubicBezTo>
                  <a:cubicBezTo>
                    <a:pt x="449" y="146"/>
                    <a:pt x="449" y="146"/>
                    <a:pt x="449" y="146"/>
                  </a:cubicBezTo>
                  <a:cubicBezTo>
                    <a:pt x="457" y="159"/>
                    <a:pt x="457" y="159"/>
                    <a:pt x="457" y="159"/>
                  </a:cubicBezTo>
                  <a:cubicBezTo>
                    <a:pt x="459" y="157"/>
                    <a:pt x="459" y="157"/>
                    <a:pt x="459" y="157"/>
                  </a:cubicBezTo>
                  <a:lnTo>
                    <a:pt x="451" y="136"/>
                  </a:lnTo>
                  <a:close/>
                  <a:moveTo>
                    <a:pt x="262" y="549"/>
                  </a:moveTo>
                  <a:cubicBezTo>
                    <a:pt x="259" y="560"/>
                    <a:pt x="271" y="583"/>
                    <a:pt x="271" y="583"/>
                  </a:cubicBezTo>
                  <a:cubicBezTo>
                    <a:pt x="279" y="566"/>
                    <a:pt x="279" y="566"/>
                    <a:pt x="279" y="566"/>
                  </a:cubicBezTo>
                  <a:cubicBezTo>
                    <a:pt x="279" y="566"/>
                    <a:pt x="285" y="569"/>
                    <a:pt x="290" y="560"/>
                  </a:cubicBezTo>
                  <a:cubicBezTo>
                    <a:pt x="296" y="552"/>
                    <a:pt x="290" y="543"/>
                    <a:pt x="290" y="543"/>
                  </a:cubicBezTo>
                  <a:cubicBezTo>
                    <a:pt x="302" y="531"/>
                    <a:pt x="302" y="531"/>
                    <a:pt x="302" y="531"/>
                  </a:cubicBezTo>
                  <a:cubicBezTo>
                    <a:pt x="302" y="531"/>
                    <a:pt x="265" y="538"/>
                    <a:pt x="262" y="549"/>
                  </a:cubicBezTo>
                  <a:close/>
                  <a:moveTo>
                    <a:pt x="200" y="597"/>
                  </a:moveTo>
                  <a:cubicBezTo>
                    <a:pt x="200" y="602"/>
                    <a:pt x="199" y="615"/>
                    <a:pt x="199" y="615"/>
                  </a:cubicBezTo>
                  <a:cubicBezTo>
                    <a:pt x="207" y="615"/>
                    <a:pt x="216" y="584"/>
                    <a:pt x="216" y="584"/>
                  </a:cubicBezTo>
                  <a:cubicBezTo>
                    <a:pt x="230" y="570"/>
                    <a:pt x="230" y="570"/>
                    <a:pt x="230" y="570"/>
                  </a:cubicBezTo>
                  <a:cubicBezTo>
                    <a:pt x="226" y="557"/>
                    <a:pt x="226" y="557"/>
                    <a:pt x="226" y="557"/>
                  </a:cubicBezTo>
                  <a:cubicBezTo>
                    <a:pt x="226" y="557"/>
                    <a:pt x="200" y="591"/>
                    <a:pt x="200" y="597"/>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527" name="Freeform 319">
              <a:extLst>
                <a:ext uri="{FF2B5EF4-FFF2-40B4-BE49-F238E27FC236}">
                  <a16:creationId xmlns:a16="http://schemas.microsoft.com/office/drawing/2014/main" id="{46DEC221-1A4B-437B-BA56-F4CB12C80A18}"/>
                </a:ext>
              </a:extLst>
            </p:cNvPr>
            <p:cNvSpPr>
              <a:spLocks noEditPoints="1"/>
            </p:cNvSpPr>
            <p:nvPr/>
          </p:nvSpPr>
          <p:spPr bwMode="gray">
            <a:xfrm>
              <a:off x="4953506" y="64885"/>
              <a:ext cx="613639" cy="647500"/>
            </a:xfrm>
            <a:custGeom>
              <a:avLst/>
              <a:gdLst>
                <a:gd name="T0" fmla="*/ 453 w 905"/>
                <a:gd name="T1" fmla="*/ 40 h 1010"/>
                <a:gd name="T2" fmla="*/ 653 w 905"/>
                <a:gd name="T3" fmla="*/ 48 h 1010"/>
                <a:gd name="T4" fmla="*/ 558 w 905"/>
                <a:gd name="T5" fmla="*/ 4 h 1010"/>
                <a:gd name="T6" fmla="*/ 429 w 905"/>
                <a:gd name="T7" fmla="*/ 28 h 1010"/>
                <a:gd name="T8" fmla="*/ 281 w 905"/>
                <a:gd name="T9" fmla="*/ 93 h 1010"/>
                <a:gd name="T10" fmla="*/ 345 w 905"/>
                <a:gd name="T11" fmla="*/ 111 h 1010"/>
                <a:gd name="T12" fmla="*/ 432 w 905"/>
                <a:gd name="T13" fmla="*/ 100 h 1010"/>
                <a:gd name="T14" fmla="*/ 515 w 905"/>
                <a:gd name="T15" fmla="*/ 123 h 1010"/>
                <a:gd name="T16" fmla="*/ 551 w 905"/>
                <a:gd name="T17" fmla="*/ 82 h 1010"/>
                <a:gd name="T18" fmla="*/ 453 w 905"/>
                <a:gd name="T19" fmla="*/ 54 h 1010"/>
                <a:gd name="T20" fmla="*/ 328 w 905"/>
                <a:gd name="T21" fmla="*/ 27 h 1010"/>
                <a:gd name="T22" fmla="*/ 240 w 905"/>
                <a:gd name="T23" fmla="*/ 24 h 1010"/>
                <a:gd name="T24" fmla="*/ 417 w 905"/>
                <a:gd name="T25" fmla="*/ 467 h 1010"/>
                <a:gd name="T26" fmla="*/ 363 w 905"/>
                <a:gd name="T27" fmla="*/ 482 h 1010"/>
                <a:gd name="T28" fmla="*/ 611 w 905"/>
                <a:gd name="T29" fmla="*/ 404 h 1010"/>
                <a:gd name="T30" fmla="*/ 320 w 905"/>
                <a:gd name="T31" fmla="*/ 509 h 1010"/>
                <a:gd name="T32" fmla="*/ 902 w 905"/>
                <a:gd name="T33" fmla="*/ 421 h 1010"/>
                <a:gd name="T34" fmla="*/ 749 w 905"/>
                <a:gd name="T35" fmla="*/ 425 h 1010"/>
                <a:gd name="T36" fmla="*/ 683 w 905"/>
                <a:gd name="T37" fmla="*/ 393 h 1010"/>
                <a:gd name="T38" fmla="*/ 593 w 905"/>
                <a:gd name="T39" fmla="*/ 446 h 1010"/>
                <a:gd name="T40" fmla="*/ 507 w 905"/>
                <a:gd name="T41" fmla="*/ 444 h 1010"/>
                <a:gd name="T42" fmla="*/ 494 w 905"/>
                <a:gd name="T43" fmla="*/ 437 h 1010"/>
                <a:gd name="T44" fmla="*/ 446 w 905"/>
                <a:gd name="T45" fmla="*/ 491 h 1010"/>
                <a:gd name="T46" fmla="*/ 399 w 905"/>
                <a:gd name="T47" fmla="*/ 505 h 1010"/>
                <a:gd name="T48" fmla="*/ 360 w 905"/>
                <a:gd name="T49" fmla="*/ 526 h 1010"/>
                <a:gd name="T50" fmla="*/ 365 w 905"/>
                <a:gd name="T51" fmla="*/ 561 h 1010"/>
                <a:gd name="T52" fmla="*/ 293 w 905"/>
                <a:gd name="T53" fmla="*/ 606 h 1010"/>
                <a:gd name="T54" fmla="*/ 266 w 905"/>
                <a:gd name="T55" fmla="*/ 642 h 1010"/>
                <a:gd name="T56" fmla="*/ 237 w 905"/>
                <a:gd name="T57" fmla="*/ 689 h 1010"/>
                <a:gd name="T58" fmla="*/ 180 w 905"/>
                <a:gd name="T59" fmla="*/ 715 h 1010"/>
                <a:gd name="T60" fmla="*/ 118 w 905"/>
                <a:gd name="T61" fmla="*/ 741 h 1010"/>
                <a:gd name="T62" fmla="*/ 111 w 905"/>
                <a:gd name="T63" fmla="*/ 775 h 1010"/>
                <a:gd name="T64" fmla="*/ 72 w 905"/>
                <a:gd name="T65" fmla="*/ 808 h 1010"/>
                <a:gd name="T66" fmla="*/ 20 w 905"/>
                <a:gd name="T67" fmla="*/ 804 h 1010"/>
                <a:gd name="T68" fmla="*/ 21 w 905"/>
                <a:gd name="T69" fmla="*/ 834 h 1010"/>
                <a:gd name="T70" fmla="*/ 71 w 905"/>
                <a:gd name="T71" fmla="*/ 854 h 1010"/>
                <a:gd name="T72" fmla="*/ 0 w 905"/>
                <a:gd name="T73" fmla="*/ 858 h 1010"/>
                <a:gd name="T74" fmla="*/ 65 w 905"/>
                <a:gd name="T75" fmla="*/ 884 h 1010"/>
                <a:gd name="T76" fmla="*/ 14 w 905"/>
                <a:gd name="T77" fmla="*/ 926 h 1010"/>
                <a:gd name="T78" fmla="*/ 36 w 905"/>
                <a:gd name="T79" fmla="*/ 967 h 1010"/>
                <a:gd name="T80" fmla="*/ 103 w 905"/>
                <a:gd name="T81" fmla="*/ 1004 h 1010"/>
                <a:gd name="T82" fmla="*/ 207 w 905"/>
                <a:gd name="T83" fmla="*/ 942 h 1010"/>
                <a:gd name="T84" fmla="*/ 252 w 905"/>
                <a:gd name="T85" fmla="*/ 911 h 1010"/>
                <a:gd name="T86" fmla="*/ 268 w 905"/>
                <a:gd name="T87" fmla="*/ 857 h 1010"/>
                <a:gd name="T88" fmla="*/ 262 w 905"/>
                <a:gd name="T89" fmla="*/ 783 h 1010"/>
                <a:gd name="T90" fmla="*/ 279 w 905"/>
                <a:gd name="T91" fmla="*/ 724 h 1010"/>
                <a:gd name="T92" fmla="*/ 348 w 905"/>
                <a:gd name="T93" fmla="*/ 629 h 1010"/>
                <a:gd name="T94" fmla="*/ 386 w 905"/>
                <a:gd name="T95" fmla="*/ 591 h 1010"/>
                <a:gd name="T96" fmla="*/ 423 w 905"/>
                <a:gd name="T97" fmla="*/ 529 h 1010"/>
                <a:gd name="T98" fmla="*/ 508 w 905"/>
                <a:gd name="T99" fmla="*/ 505 h 1010"/>
                <a:gd name="T100" fmla="*/ 557 w 905"/>
                <a:gd name="T101" fmla="*/ 481 h 1010"/>
                <a:gd name="T102" fmla="*/ 594 w 905"/>
                <a:gd name="T103" fmla="*/ 480 h 1010"/>
                <a:gd name="T104" fmla="*/ 677 w 905"/>
                <a:gd name="T105" fmla="*/ 489 h 1010"/>
                <a:gd name="T106" fmla="*/ 752 w 905"/>
                <a:gd name="T107" fmla="*/ 438 h 1010"/>
                <a:gd name="T108" fmla="*/ 834 w 905"/>
                <a:gd name="T109" fmla="*/ 469 h 1010"/>
                <a:gd name="T110" fmla="*/ 891 w 905"/>
                <a:gd name="T111" fmla="*/ 456 h 1010"/>
                <a:gd name="T112" fmla="*/ 380 w 905"/>
                <a:gd name="T113" fmla="*/ 512 h 1010"/>
                <a:gd name="T114" fmla="*/ 346 w 905"/>
                <a:gd name="T115" fmla="*/ 483 h 10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905" h="1010">
                  <a:moveTo>
                    <a:pt x="215" y="87"/>
                  </a:moveTo>
                  <a:cubicBezTo>
                    <a:pt x="229" y="97"/>
                    <a:pt x="250" y="93"/>
                    <a:pt x="250" y="93"/>
                  </a:cubicBezTo>
                  <a:cubicBezTo>
                    <a:pt x="228" y="82"/>
                    <a:pt x="228" y="82"/>
                    <a:pt x="228" y="82"/>
                  </a:cubicBezTo>
                  <a:cubicBezTo>
                    <a:pt x="195" y="65"/>
                    <a:pt x="195" y="65"/>
                    <a:pt x="195" y="65"/>
                  </a:cubicBezTo>
                  <a:cubicBezTo>
                    <a:pt x="191" y="78"/>
                    <a:pt x="201" y="78"/>
                    <a:pt x="215" y="87"/>
                  </a:cubicBezTo>
                  <a:close/>
                  <a:moveTo>
                    <a:pt x="453" y="40"/>
                  </a:moveTo>
                  <a:cubicBezTo>
                    <a:pt x="481" y="40"/>
                    <a:pt x="481" y="40"/>
                    <a:pt x="481" y="40"/>
                  </a:cubicBezTo>
                  <a:cubicBezTo>
                    <a:pt x="481" y="40"/>
                    <a:pt x="512" y="51"/>
                    <a:pt x="516" y="49"/>
                  </a:cubicBezTo>
                  <a:cubicBezTo>
                    <a:pt x="520" y="48"/>
                    <a:pt x="542" y="44"/>
                    <a:pt x="547" y="44"/>
                  </a:cubicBezTo>
                  <a:cubicBezTo>
                    <a:pt x="553" y="44"/>
                    <a:pt x="599" y="62"/>
                    <a:pt x="599" y="62"/>
                  </a:cubicBezTo>
                  <a:cubicBezTo>
                    <a:pt x="613" y="47"/>
                    <a:pt x="613" y="47"/>
                    <a:pt x="613" y="47"/>
                  </a:cubicBezTo>
                  <a:cubicBezTo>
                    <a:pt x="653" y="48"/>
                    <a:pt x="653" y="48"/>
                    <a:pt x="653" y="48"/>
                  </a:cubicBezTo>
                  <a:cubicBezTo>
                    <a:pt x="656" y="35"/>
                    <a:pt x="656" y="35"/>
                    <a:pt x="656" y="35"/>
                  </a:cubicBezTo>
                  <a:cubicBezTo>
                    <a:pt x="656" y="35"/>
                    <a:pt x="677" y="42"/>
                    <a:pt x="688" y="21"/>
                  </a:cubicBezTo>
                  <a:cubicBezTo>
                    <a:pt x="699" y="0"/>
                    <a:pt x="653" y="17"/>
                    <a:pt x="653" y="17"/>
                  </a:cubicBezTo>
                  <a:cubicBezTo>
                    <a:pt x="653" y="17"/>
                    <a:pt x="650" y="7"/>
                    <a:pt x="626" y="7"/>
                  </a:cubicBezTo>
                  <a:cubicBezTo>
                    <a:pt x="602" y="7"/>
                    <a:pt x="585" y="19"/>
                    <a:pt x="578" y="17"/>
                  </a:cubicBezTo>
                  <a:cubicBezTo>
                    <a:pt x="571" y="16"/>
                    <a:pt x="577" y="4"/>
                    <a:pt x="558" y="4"/>
                  </a:cubicBezTo>
                  <a:cubicBezTo>
                    <a:pt x="540" y="4"/>
                    <a:pt x="535" y="20"/>
                    <a:pt x="535" y="20"/>
                  </a:cubicBezTo>
                  <a:cubicBezTo>
                    <a:pt x="491" y="4"/>
                    <a:pt x="491" y="4"/>
                    <a:pt x="491" y="4"/>
                  </a:cubicBezTo>
                  <a:cubicBezTo>
                    <a:pt x="491" y="4"/>
                    <a:pt x="470" y="11"/>
                    <a:pt x="447" y="16"/>
                  </a:cubicBezTo>
                  <a:cubicBezTo>
                    <a:pt x="425" y="20"/>
                    <a:pt x="440" y="4"/>
                    <a:pt x="440" y="4"/>
                  </a:cubicBezTo>
                  <a:cubicBezTo>
                    <a:pt x="419" y="14"/>
                    <a:pt x="419" y="14"/>
                    <a:pt x="419" y="14"/>
                  </a:cubicBezTo>
                  <a:cubicBezTo>
                    <a:pt x="429" y="28"/>
                    <a:pt x="429" y="28"/>
                    <a:pt x="429" y="28"/>
                  </a:cubicBezTo>
                  <a:lnTo>
                    <a:pt x="453" y="40"/>
                  </a:lnTo>
                  <a:close/>
                  <a:moveTo>
                    <a:pt x="214" y="49"/>
                  </a:moveTo>
                  <a:cubicBezTo>
                    <a:pt x="221" y="54"/>
                    <a:pt x="236" y="51"/>
                    <a:pt x="239" y="55"/>
                  </a:cubicBezTo>
                  <a:cubicBezTo>
                    <a:pt x="242" y="59"/>
                    <a:pt x="223" y="69"/>
                    <a:pt x="223" y="69"/>
                  </a:cubicBezTo>
                  <a:cubicBezTo>
                    <a:pt x="252" y="80"/>
                    <a:pt x="252" y="80"/>
                    <a:pt x="252" y="80"/>
                  </a:cubicBezTo>
                  <a:cubicBezTo>
                    <a:pt x="252" y="80"/>
                    <a:pt x="267" y="90"/>
                    <a:pt x="281" y="93"/>
                  </a:cubicBezTo>
                  <a:cubicBezTo>
                    <a:pt x="295" y="96"/>
                    <a:pt x="305" y="76"/>
                    <a:pt x="305" y="76"/>
                  </a:cubicBezTo>
                  <a:cubicBezTo>
                    <a:pt x="333" y="71"/>
                    <a:pt x="333" y="71"/>
                    <a:pt x="333" y="71"/>
                  </a:cubicBezTo>
                  <a:cubicBezTo>
                    <a:pt x="356" y="85"/>
                    <a:pt x="356" y="85"/>
                    <a:pt x="356" y="85"/>
                  </a:cubicBezTo>
                  <a:cubicBezTo>
                    <a:pt x="356" y="85"/>
                    <a:pt x="337" y="90"/>
                    <a:pt x="319" y="94"/>
                  </a:cubicBezTo>
                  <a:cubicBezTo>
                    <a:pt x="301" y="99"/>
                    <a:pt x="302" y="106"/>
                    <a:pt x="302" y="106"/>
                  </a:cubicBezTo>
                  <a:cubicBezTo>
                    <a:pt x="302" y="106"/>
                    <a:pt x="352" y="110"/>
                    <a:pt x="345" y="111"/>
                  </a:cubicBezTo>
                  <a:cubicBezTo>
                    <a:pt x="337" y="113"/>
                    <a:pt x="307" y="125"/>
                    <a:pt x="307" y="125"/>
                  </a:cubicBezTo>
                  <a:cubicBezTo>
                    <a:pt x="340" y="137"/>
                    <a:pt x="340" y="137"/>
                    <a:pt x="340" y="137"/>
                  </a:cubicBezTo>
                  <a:cubicBezTo>
                    <a:pt x="340" y="137"/>
                    <a:pt x="370" y="152"/>
                    <a:pt x="395" y="148"/>
                  </a:cubicBezTo>
                  <a:cubicBezTo>
                    <a:pt x="421" y="144"/>
                    <a:pt x="402" y="128"/>
                    <a:pt x="402" y="121"/>
                  </a:cubicBezTo>
                  <a:cubicBezTo>
                    <a:pt x="402" y="114"/>
                    <a:pt x="432" y="114"/>
                    <a:pt x="432" y="114"/>
                  </a:cubicBezTo>
                  <a:cubicBezTo>
                    <a:pt x="432" y="100"/>
                    <a:pt x="432" y="100"/>
                    <a:pt x="432" y="100"/>
                  </a:cubicBezTo>
                  <a:cubicBezTo>
                    <a:pt x="451" y="96"/>
                    <a:pt x="451" y="96"/>
                    <a:pt x="451" y="96"/>
                  </a:cubicBezTo>
                  <a:cubicBezTo>
                    <a:pt x="460" y="75"/>
                    <a:pt x="460" y="75"/>
                    <a:pt x="460" y="75"/>
                  </a:cubicBezTo>
                  <a:cubicBezTo>
                    <a:pt x="473" y="82"/>
                    <a:pt x="473" y="82"/>
                    <a:pt x="473" y="82"/>
                  </a:cubicBezTo>
                  <a:cubicBezTo>
                    <a:pt x="489" y="73"/>
                    <a:pt x="489" y="73"/>
                    <a:pt x="489" y="73"/>
                  </a:cubicBezTo>
                  <a:cubicBezTo>
                    <a:pt x="489" y="73"/>
                    <a:pt x="498" y="87"/>
                    <a:pt x="518" y="92"/>
                  </a:cubicBezTo>
                  <a:cubicBezTo>
                    <a:pt x="537" y="96"/>
                    <a:pt x="515" y="123"/>
                    <a:pt x="515" y="123"/>
                  </a:cubicBezTo>
                  <a:cubicBezTo>
                    <a:pt x="551" y="121"/>
                    <a:pt x="551" y="121"/>
                    <a:pt x="551" y="121"/>
                  </a:cubicBezTo>
                  <a:cubicBezTo>
                    <a:pt x="551" y="121"/>
                    <a:pt x="570" y="137"/>
                    <a:pt x="571" y="132"/>
                  </a:cubicBezTo>
                  <a:cubicBezTo>
                    <a:pt x="572" y="128"/>
                    <a:pt x="623" y="114"/>
                    <a:pt x="627" y="106"/>
                  </a:cubicBezTo>
                  <a:cubicBezTo>
                    <a:pt x="632" y="97"/>
                    <a:pt x="589" y="99"/>
                    <a:pt x="589" y="99"/>
                  </a:cubicBezTo>
                  <a:cubicBezTo>
                    <a:pt x="587" y="87"/>
                    <a:pt x="587" y="87"/>
                    <a:pt x="587" y="87"/>
                  </a:cubicBezTo>
                  <a:cubicBezTo>
                    <a:pt x="551" y="82"/>
                    <a:pt x="551" y="82"/>
                    <a:pt x="551" y="82"/>
                  </a:cubicBezTo>
                  <a:cubicBezTo>
                    <a:pt x="550" y="71"/>
                    <a:pt x="550" y="71"/>
                    <a:pt x="550" y="71"/>
                  </a:cubicBezTo>
                  <a:cubicBezTo>
                    <a:pt x="529" y="73"/>
                    <a:pt x="529" y="73"/>
                    <a:pt x="529" y="73"/>
                  </a:cubicBezTo>
                  <a:cubicBezTo>
                    <a:pt x="532" y="61"/>
                    <a:pt x="532" y="61"/>
                    <a:pt x="532" y="61"/>
                  </a:cubicBezTo>
                  <a:cubicBezTo>
                    <a:pt x="481" y="62"/>
                    <a:pt x="481" y="62"/>
                    <a:pt x="481" y="62"/>
                  </a:cubicBezTo>
                  <a:cubicBezTo>
                    <a:pt x="477" y="54"/>
                    <a:pt x="477" y="54"/>
                    <a:pt x="477" y="54"/>
                  </a:cubicBezTo>
                  <a:cubicBezTo>
                    <a:pt x="453" y="54"/>
                    <a:pt x="453" y="54"/>
                    <a:pt x="453" y="54"/>
                  </a:cubicBezTo>
                  <a:cubicBezTo>
                    <a:pt x="453" y="54"/>
                    <a:pt x="450" y="41"/>
                    <a:pt x="435" y="37"/>
                  </a:cubicBezTo>
                  <a:cubicBezTo>
                    <a:pt x="419" y="33"/>
                    <a:pt x="412" y="38"/>
                    <a:pt x="412" y="38"/>
                  </a:cubicBezTo>
                  <a:cubicBezTo>
                    <a:pt x="415" y="26"/>
                    <a:pt x="415" y="26"/>
                    <a:pt x="415" y="26"/>
                  </a:cubicBezTo>
                  <a:cubicBezTo>
                    <a:pt x="415" y="26"/>
                    <a:pt x="394" y="20"/>
                    <a:pt x="366" y="21"/>
                  </a:cubicBezTo>
                  <a:cubicBezTo>
                    <a:pt x="337" y="23"/>
                    <a:pt x="374" y="55"/>
                    <a:pt x="374" y="55"/>
                  </a:cubicBezTo>
                  <a:cubicBezTo>
                    <a:pt x="374" y="55"/>
                    <a:pt x="343" y="30"/>
                    <a:pt x="328" y="27"/>
                  </a:cubicBezTo>
                  <a:cubicBezTo>
                    <a:pt x="312" y="24"/>
                    <a:pt x="307" y="44"/>
                    <a:pt x="307" y="44"/>
                  </a:cubicBezTo>
                  <a:cubicBezTo>
                    <a:pt x="307" y="44"/>
                    <a:pt x="284" y="40"/>
                    <a:pt x="278" y="37"/>
                  </a:cubicBezTo>
                  <a:cubicBezTo>
                    <a:pt x="273" y="34"/>
                    <a:pt x="291" y="24"/>
                    <a:pt x="291" y="24"/>
                  </a:cubicBezTo>
                  <a:cubicBezTo>
                    <a:pt x="254" y="27"/>
                    <a:pt x="254" y="27"/>
                    <a:pt x="254" y="27"/>
                  </a:cubicBezTo>
                  <a:cubicBezTo>
                    <a:pt x="245" y="35"/>
                    <a:pt x="245" y="35"/>
                    <a:pt x="245" y="35"/>
                  </a:cubicBezTo>
                  <a:cubicBezTo>
                    <a:pt x="240" y="24"/>
                    <a:pt x="240" y="24"/>
                    <a:pt x="240" y="24"/>
                  </a:cubicBezTo>
                  <a:cubicBezTo>
                    <a:pt x="240" y="24"/>
                    <a:pt x="216" y="31"/>
                    <a:pt x="208" y="38"/>
                  </a:cubicBezTo>
                  <a:cubicBezTo>
                    <a:pt x="208" y="38"/>
                    <a:pt x="207" y="45"/>
                    <a:pt x="214" y="49"/>
                  </a:cubicBezTo>
                  <a:close/>
                  <a:moveTo>
                    <a:pt x="425" y="477"/>
                  </a:moveTo>
                  <a:cubicBezTo>
                    <a:pt x="441" y="474"/>
                    <a:pt x="440" y="464"/>
                    <a:pt x="447" y="464"/>
                  </a:cubicBezTo>
                  <a:cubicBezTo>
                    <a:pt x="453" y="464"/>
                    <a:pt x="447" y="453"/>
                    <a:pt x="447" y="453"/>
                  </a:cubicBezTo>
                  <a:cubicBezTo>
                    <a:pt x="417" y="467"/>
                    <a:pt x="417" y="467"/>
                    <a:pt x="417" y="467"/>
                  </a:cubicBezTo>
                  <a:lnTo>
                    <a:pt x="425" y="477"/>
                  </a:lnTo>
                  <a:close/>
                  <a:moveTo>
                    <a:pt x="513" y="437"/>
                  </a:moveTo>
                  <a:cubicBezTo>
                    <a:pt x="522" y="434"/>
                    <a:pt x="535" y="424"/>
                    <a:pt x="517" y="423"/>
                  </a:cubicBezTo>
                  <a:cubicBezTo>
                    <a:pt x="500" y="422"/>
                    <a:pt x="513" y="437"/>
                    <a:pt x="513" y="437"/>
                  </a:cubicBezTo>
                  <a:close/>
                  <a:moveTo>
                    <a:pt x="392" y="470"/>
                  </a:moveTo>
                  <a:cubicBezTo>
                    <a:pt x="373" y="465"/>
                    <a:pt x="363" y="482"/>
                    <a:pt x="363" y="482"/>
                  </a:cubicBezTo>
                  <a:cubicBezTo>
                    <a:pt x="379" y="486"/>
                    <a:pt x="379" y="486"/>
                    <a:pt x="379" y="486"/>
                  </a:cubicBezTo>
                  <a:cubicBezTo>
                    <a:pt x="385" y="482"/>
                    <a:pt x="411" y="474"/>
                    <a:pt x="392" y="470"/>
                  </a:cubicBezTo>
                  <a:close/>
                  <a:moveTo>
                    <a:pt x="610" y="414"/>
                  </a:moveTo>
                  <a:cubicBezTo>
                    <a:pt x="623" y="417"/>
                    <a:pt x="623" y="417"/>
                    <a:pt x="623" y="417"/>
                  </a:cubicBezTo>
                  <a:cubicBezTo>
                    <a:pt x="631" y="408"/>
                    <a:pt x="631" y="402"/>
                    <a:pt x="631" y="402"/>
                  </a:cubicBezTo>
                  <a:cubicBezTo>
                    <a:pt x="611" y="404"/>
                    <a:pt x="611" y="404"/>
                    <a:pt x="611" y="404"/>
                  </a:cubicBezTo>
                  <a:lnTo>
                    <a:pt x="610" y="414"/>
                  </a:lnTo>
                  <a:close/>
                  <a:moveTo>
                    <a:pt x="320" y="509"/>
                  </a:moveTo>
                  <a:cubicBezTo>
                    <a:pt x="304" y="509"/>
                    <a:pt x="279" y="528"/>
                    <a:pt x="285" y="532"/>
                  </a:cubicBezTo>
                  <a:cubicBezTo>
                    <a:pt x="290" y="535"/>
                    <a:pt x="315" y="520"/>
                    <a:pt x="315" y="520"/>
                  </a:cubicBezTo>
                  <a:cubicBezTo>
                    <a:pt x="338" y="516"/>
                    <a:pt x="338" y="516"/>
                    <a:pt x="338" y="516"/>
                  </a:cubicBezTo>
                  <a:cubicBezTo>
                    <a:pt x="335" y="516"/>
                    <a:pt x="336" y="509"/>
                    <a:pt x="320" y="509"/>
                  </a:cubicBezTo>
                  <a:close/>
                  <a:moveTo>
                    <a:pt x="901" y="448"/>
                  </a:moveTo>
                  <a:cubicBezTo>
                    <a:pt x="884" y="451"/>
                    <a:pt x="884" y="451"/>
                    <a:pt x="884" y="451"/>
                  </a:cubicBezTo>
                  <a:cubicBezTo>
                    <a:pt x="856" y="444"/>
                    <a:pt x="856" y="444"/>
                    <a:pt x="856" y="444"/>
                  </a:cubicBezTo>
                  <a:cubicBezTo>
                    <a:pt x="836" y="433"/>
                    <a:pt x="836" y="433"/>
                    <a:pt x="836" y="433"/>
                  </a:cubicBezTo>
                  <a:cubicBezTo>
                    <a:pt x="836" y="433"/>
                    <a:pt x="862" y="437"/>
                    <a:pt x="873" y="432"/>
                  </a:cubicBezTo>
                  <a:cubicBezTo>
                    <a:pt x="884" y="427"/>
                    <a:pt x="902" y="421"/>
                    <a:pt x="902" y="421"/>
                  </a:cubicBezTo>
                  <a:cubicBezTo>
                    <a:pt x="902" y="421"/>
                    <a:pt x="876" y="406"/>
                    <a:pt x="862" y="406"/>
                  </a:cubicBezTo>
                  <a:cubicBezTo>
                    <a:pt x="848" y="406"/>
                    <a:pt x="827" y="395"/>
                    <a:pt x="827" y="395"/>
                  </a:cubicBezTo>
                  <a:cubicBezTo>
                    <a:pt x="827" y="395"/>
                    <a:pt x="819" y="421"/>
                    <a:pt x="803" y="418"/>
                  </a:cubicBezTo>
                  <a:cubicBezTo>
                    <a:pt x="787" y="415"/>
                    <a:pt x="815" y="397"/>
                    <a:pt x="815" y="397"/>
                  </a:cubicBezTo>
                  <a:cubicBezTo>
                    <a:pt x="771" y="382"/>
                    <a:pt x="771" y="382"/>
                    <a:pt x="771" y="382"/>
                  </a:cubicBezTo>
                  <a:cubicBezTo>
                    <a:pt x="771" y="382"/>
                    <a:pt x="763" y="431"/>
                    <a:pt x="749" y="425"/>
                  </a:cubicBezTo>
                  <a:cubicBezTo>
                    <a:pt x="735" y="419"/>
                    <a:pt x="746" y="393"/>
                    <a:pt x="746" y="393"/>
                  </a:cubicBezTo>
                  <a:cubicBezTo>
                    <a:pt x="746" y="393"/>
                    <a:pt x="708" y="437"/>
                    <a:pt x="698" y="430"/>
                  </a:cubicBezTo>
                  <a:cubicBezTo>
                    <a:pt x="688" y="423"/>
                    <a:pt x="734" y="387"/>
                    <a:pt x="734" y="387"/>
                  </a:cubicBezTo>
                  <a:cubicBezTo>
                    <a:pt x="711" y="385"/>
                    <a:pt x="711" y="385"/>
                    <a:pt x="711" y="385"/>
                  </a:cubicBezTo>
                  <a:cubicBezTo>
                    <a:pt x="699" y="395"/>
                    <a:pt x="699" y="395"/>
                    <a:pt x="699" y="395"/>
                  </a:cubicBezTo>
                  <a:cubicBezTo>
                    <a:pt x="683" y="393"/>
                    <a:pt x="683" y="393"/>
                    <a:pt x="683" y="393"/>
                  </a:cubicBezTo>
                  <a:cubicBezTo>
                    <a:pt x="653" y="411"/>
                    <a:pt x="653" y="411"/>
                    <a:pt x="653" y="411"/>
                  </a:cubicBezTo>
                  <a:cubicBezTo>
                    <a:pt x="637" y="412"/>
                    <a:pt x="637" y="412"/>
                    <a:pt x="637" y="412"/>
                  </a:cubicBezTo>
                  <a:cubicBezTo>
                    <a:pt x="635" y="432"/>
                    <a:pt x="635" y="432"/>
                    <a:pt x="635" y="432"/>
                  </a:cubicBezTo>
                  <a:cubicBezTo>
                    <a:pt x="611" y="423"/>
                    <a:pt x="611" y="423"/>
                    <a:pt x="611" y="423"/>
                  </a:cubicBezTo>
                  <a:cubicBezTo>
                    <a:pt x="585" y="428"/>
                    <a:pt x="585" y="428"/>
                    <a:pt x="585" y="428"/>
                  </a:cubicBezTo>
                  <a:cubicBezTo>
                    <a:pt x="593" y="446"/>
                    <a:pt x="593" y="446"/>
                    <a:pt x="593" y="446"/>
                  </a:cubicBezTo>
                  <a:cubicBezTo>
                    <a:pt x="562" y="437"/>
                    <a:pt x="562" y="437"/>
                    <a:pt x="562" y="437"/>
                  </a:cubicBezTo>
                  <a:cubicBezTo>
                    <a:pt x="551" y="443"/>
                    <a:pt x="551" y="443"/>
                    <a:pt x="551" y="443"/>
                  </a:cubicBezTo>
                  <a:cubicBezTo>
                    <a:pt x="554" y="459"/>
                    <a:pt x="554" y="459"/>
                    <a:pt x="554" y="459"/>
                  </a:cubicBezTo>
                  <a:cubicBezTo>
                    <a:pt x="524" y="465"/>
                    <a:pt x="524" y="465"/>
                    <a:pt x="524" y="465"/>
                  </a:cubicBezTo>
                  <a:cubicBezTo>
                    <a:pt x="527" y="444"/>
                    <a:pt x="527" y="444"/>
                    <a:pt x="527" y="444"/>
                  </a:cubicBezTo>
                  <a:cubicBezTo>
                    <a:pt x="507" y="444"/>
                    <a:pt x="507" y="444"/>
                    <a:pt x="507" y="444"/>
                  </a:cubicBezTo>
                  <a:cubicBezTo>
                    <a:pt x="513" y="457"/>
                    <a:pt x="513" y="457"/>
                    <a:pt x="513" y="457"/>
                  </a:cubicBezTo>
                  <a:cubicBezTo>
                    <a:pt x="497" y="447"/>
                    <a:pt x="497" y="447"/>
                    <a:pt x="497" y="447"/>
                  </a:cubicBezTo>
                  <a:cubicBezTo>
                    <a:pt x="499" y="467"/>
                    <a:pt x="499" y="467"/>
                    <a:pt x="499" y="467"/>
                  </a:cubicBezTo>
                  <a:cubicBezTo>
                    <a:pt x="482" y="466"/>
                    <a:pt x="482" y="466"/>
                    <a:pt x="482" y="466"/>
                  </a:cubicBezTo>
                  <a:cubicBezTo>
                    <a:pt x="482" y="466"/>
                    <a:pt x="479" y="453"/>
                    <a:pt x="481" y="450"/>
                  </a:cubicBezTo>
                  <a:cubicBezTo>
                    <a:pt x="483" y="447"/>
                    <a:pt x="494" y="437"/>
                    <a:pt x="494" y="437"/>
                  </a:cubicBezTo>
                  <a:cubicBezTo>
                    <a:pt x="471" y="434"/>
                    <a:pt x="471" y="434"/>
                    <a:pt x="471" y="434"/>
                  </a:cubicBezTo>
                  <a:cubicBezTo>
                    <a:pt x="468" y="463"/>
                    <a:pt x="468" y="463"/>
                    <a:pt x="468" y="463"/>
                  </a:cubicBezTo>
                  <a:cubicBezTo>
                    <a:pt x="450" y="472"/>
                    <a:pt x="450" y="472"/>
                    <a:pt x="450" y="472"/>
                  </a:cubicBezTo>
                  <a:cubicBezTo>
                    <a:pt x="460" y="480"/>
                    <a:pt x="460" y="480"/>
                    <a:pt x="460" y="480"/>
                  </a:cubicBezTo>
                  <a:cubicBezTo>
                    <a:pt x="438" y="483"/>
                    <a:pt x="438" y="483"/>
                    <a:pt x="438" y="483"/>
                  </a:cubicBezTo>
                  <a:cubicBezTo>
                    <a:pt x="446" y="491"/>
                    <a:pt x="446" y="491"/>
                    <a:pt x="446" y="491"/>
                  </a:cubicBezTo>
                  <a:cubicBezTo>
                    <a:pt x="418" y="492"/>
                    <a:pt x="418" y="492"/>
                    <a:pt x="418" y="492"/>
                  </a:cubicBezTo>
                  <a:cubicBezTo>
                    <a:pt x="418" y="500"/>
                    <a:pt x="418" y="500"/>
                    <a:pt x="418" y="500"/>
                  </a:cubicBezTo>
                  <a:cubicBezTo>
                    <a:pt x="439" y="505"/>
                    <a:pt x="439" y="505"/>
                    <a:pt x="439" y="505"/>
                  </a:cubicBezTo>
                  <a:cubicBezTo>
                    <a:pt x="432" y="514"/>
                    <a:pt x="432" y="514"/>
                    <a:pt x="432" y="514"/>
                  </a:cubicBezTo>
                  <a:cubicBezTo>
                    <a:pt x="408" y="504"/>
                    <a:pt x="408" y="504"/>
                    <a:pt x="408" y="504"/>
                  </a:cubicBezTo>
                  <a:cubicBezTo>
                    <a:pt x="399" y="505"/>
                    <a:pt x="399" y="505"/>
                    <a:pt x="399" y="505"/>
                  </a:cubicBezTo>
                  <a:cubicBezTo>
                    <a:pt x="415" y="516"/>
                    <a:pt x="415" y="516"/>
                    <a:pt x="415" y="516"/>
                  </a:cubicBezTo>
                  <a:cubicBezTo>
                    <a:pt x="400" y="527"/>
                    <a:pt x="400" y="527"/>
                    <a:pt x="400" y="527"/>
                  </a:cubicBezTo>
                  <a:cubicBezTo>
                    <a:pt x="392" y="514"/>
                    <a:pt x="392" y="514"/>
                    <a:pt x="392" y="514"/>
                  </a:cubicBezTo>
                  <a:cubicBezTo>
                    <a:pt x="382" y="520"/>
                    <a:pt x="382" y="520"/>
                    <a:pt x="382" y="520"/>
                  </a:cubicBezTo>
                  <a:cubicBezTo>
                    <a:pt x="383" y="525"/>
                    <a:pt x="383" y="525"/>
                    <a:pt x="383" y="525"/>
                  </a:cubicBezTo>
                  <a:cubicBezTo>
                    <a:pt x="360" y="526"/>
                    <a:pt x="360" y="526"/>
                    <a:pt x="360" y="526"/>
                  </a:cubicBezTo>
                  <a:cubicBezTo>
                    <a:pt x="357" y="535"/>
                    <a:pt x="357" y="535"/>
                    <a:pt x="357" y="535"/>
                  </a:cubicBezTo>
                  <a:cubicBezTo>
                    <a:pt x="374" y="544"/>
                    <a:pt x="374" y="544"/>
                    <a:pt x="374" y="544"/>
                  </a:cubicBezTo>
                  <a:cubicBezTo>
                    <a:pt x="372" y="554"/>
                    <a:pt x="372" y="554"/>
                    <a:pt x="372" y="554"/>
                  </a:cubicBezTo>
                  <a:cubicBezTo>
                    <a:pt x="350" y="546"/>
                    <a:pt x="350" y="546"/>
                    <a:pt x="350" y="546"/>
                  </a:cubicBezTo>
                  <a:cubicBezTo>
                    <a:pt x="347" y="556"/>
                    <a:pt x="347" y="556"/>
                    <a:pt x="347" y="556"/>
                  </a:cubicBezTo>
                  <a:cubicBezTo>
                    <a:pt x="365" y="561"/>
                    <a:pt x="365" y="561"/>
                    <a:pt x="365" y="561"/>
                  </a:cubicBezTo>
                  <a:cubicBezTo>
                    <a:pt x="365" y="561"/>
                    <a:pt x="344" y="562"/>
                    <a:pt x="337" y="563"/>
                  </a:cubicBezTo>
                  <a:cubicBezTo>
                    <a:pt x="330" y="564"/>
                    <a:pt x="334" y="574"/>
                    <a:pt x="334" y="574"/>
                  </a:cubicBezTo>
                  <a:cubicBezTo>
                    <a:pt x="334" y="574"/>
                    <a:pt x="321" y="567"/>
                    <a:pt x="313" y="573"/>
                  </a:cubicBezTo>
                  <a:cubicBezTo>
                    <a:pt x="305" y="579"/>
                    <a:pt x="298" y="584"/>
                    <a:pt x="303" y="587"/>
                  </a:cubicBezTo>
                  <a:cubicBezTo>
                    <a:pt x="308" y="590"/>
                    <a:pt x="297" y="596"/>
                    <a:pt x="297" y="596"/>
                  </a:cubicBezTo>
                  <a:cubicBezTo>
                    <a:pt x="297" y="596"/>
                    <a:pt x="290" y="605"/>
                    <a:pt x="293" y="606"/>
                  </a:cubicBezTo>
                  <a:cubicBezTo>
                    <a:pt x="296" y="607"/>
                    <a:pt x="316" y="608"/>
                    <a:pt x="316" y="608"/>
                  </a:cubicBezTo>
                  <a:cubicBezTo>
                    <a:pt x="309" y="616"/>
                    <a:pt x="309" y="616"/>
                    <a:pt x="309" y="616"/>
                  </a:cubicBezTo>
                  <a:cubicBezTo>
                    <a:pt x="286" y="612"/>
                    <a:pt x="286" y="612"/>
                    <a:pt x="286" y="612"/>
                  </a:cubicBezTo>
                  <a:cubicBezTo>
                    <a:pt x="286" y="612"/>
                    <a:pt x="273" y="614"/>
                    <a:pt x="273" y="622"/>
                  </a:cubicBezTo>
                  <a:cubicBezTo>
                    <a:pt x="273" y="630"/>
                    <a:pt x="283" y="636"/>
                    <a:pt x="279" y="639"/>
                  </a:cubicBezTo>
                  <a:cubicBezTo>
                    <a:pt x="275" y="642"/>
                    <a:pt x="271" y="642"/>
                    <a:pt x="266" y="642"/>
                  </a:cubicBezTo>
                  <a:cubicBezTo>
                    <a:pt x="261" y="642"/>
                    <a:pt x="255" y="643"/>
                    <a:pt x="257" y="650"/>
                  </a:cubicBezTo>
                  <a:cubicBezTo>
                    <a:pt x="259" y="657"/>
                    <a:pt x="267" y="661"/>
                    <a:pt x="267" y="661"/>
                  </a:cubicBezTo>
                  <a:cubicBezTo>
                    <a:pt x="267" y="661"/>
                    <a:pt x="273" y="672"/>
                    <a:pt x="266" y="673"/>
                  </a:cubicBezTo>
                  <a:cubicBezTo>
                    <a:pt x="259" y="674"/>
                    <a:pt x="252" y="673"/>
                    <a:pt x="249" y="673"/>
                  </a:cubicBezTo>
                  <a:cubicBezTo>
                    <a:pt x="246" y="673"/>
                    <a:pt x="243" y="674"/>
                    <a:pt x="240" y="678"/>
                  </a:cubicBezTo>
                  <a:cubicBezTo>
                    <a:pt x="237" y="682"/>
                    <a:pt x="237" y="689"/>
                    <a:pt x="237" y="689"/>
                  </a:cubicBezTo>
                  <a:cubicBezTo>
                    <a:pt x="237" y="689"/>
                    <a:pt x="239" y="696"/>
                    <a:pt x="232" y="696"/>
                  </a:cubicBezTo>
                  <a:cubicBezTo>
                    <a:pt x="225" y="696"/>
                    <a:pt x="222" y="689"/>
                    <a:pt x="216" y="690"/>
                  </a:cubicBezTo>
                  <a:cubicBezTo>
                    <a:pt x="210" y="691"/>
                    <a:pt x="212" y="691"/>
                    <a:pt x="207" y="695"/>
                  </a:cubicBezTo>
                  <a:cubicBezTo>
                    <a:pt x="202" y="699"/>
                    <a:pt x="202" y="700"/>
                    <a:pt x="199" y="704"/>
                  </a:cubicBezTo>
                  <a:cubicBezTo>
                    <a:pt x="196" y="708"/>
                    <a:pt x="187" y="708"/>
                    <a:pt x="187" y="708"/>
                  </a:cubicBezTo>
                  <a:cubicBezTo>
                    <a:pt x="187" y="708"/>
                    <a:pt x="183" y="709"/>
                    <a:pt x="180" y="715"/>
                  </a:cubicBezTo>
                  <a:cubicBezTo>
                    <a:pt x="177" y="721"/>
                    <a:pt x="186" y="725"/>
                    <a:pt x="181" y="728"/>
                  </a:cubicBezTo>
                  <a:cubicBezTo>
                    <a:pt x="176" y="731"/>
                    <a:pt x="175" y="733"/>
                    <a:pt x="170" y="733"/>
                  </a:cubicBezTo>
                  <a:cubicBezTo>
                    <a:pt x="165" y="733"/>
                    <a:pt x="156" y="728"/>
                    <a:pt x="153" y="728"/>
                  </a:cubicBezTo>
                  <a:cubicBezTo>
                    <a:pt x="150" y="728"/>
                    <a:pt x="157" y="720"/>
                    <a:pt x="144" y="727"/>
                  </a:cubicBezTo>
                  <a:cubicBezTo>
                    <a:pt x="131" y="734"/>
                    <a:pt x="130" y="735"/>
                    <a:pt x="126" y="734"/>
                  </a:cubicBezTo>
                  <a:cubicBezTo>
                    <a:pt x="122" y="733"/>
                    <a:pt x="117" y="731"/>
                    <a:pt x="118" y="741"/>
                  </a:cubicBezTo>
                  <a:cubicBezTo>
                    <a:pt x="119" y="751"/>
                    <a:pt x="125" y="750"/>
                    <a:pt x="126" y="753"/>
                  </a:cubicBezTo>
                  <a:cubicBezTo>
                    <a:pt x="127" y="756"/>
                    <a:pt x="130" y="764"/>
                    <a:pt x="122" y="760"/>
                  </a:cubicBezTo>
                  <a:cubicBezTo>
                    <a:pt x="114" y="756"/>
                    <a:pt x="113" y="747"/>
                    <a:pt x="108" y="750"/>
                  </a:cubicBezTo>
                  <a:cubicBezTo>
                    <a:pt x="103" y="753"/>
                    <a:pt x="97" y="760"/>
                    <a:pt x="102" y="763"/>
                  </a:cubicBezTo>
                  <a:cubicBezTo>
                    <a:pt x="107" y="766"/>
                    <a:pt x="122" y="762"/>
                    <a:pt x="119" y="768"/>
                  </a:cubicBezTo>
                  <a:cubicBezTo>
                    <a:pt x="116" y="774"/>
                    <a:pt x="126" y="777"/>
                    <a:pt x="111" y="775"/>
                  </a:cubicBezTo>
                  <a:cubicBezTo>
                    <a:pt x="96" y="773"/>
                    <a:pt x="92" y="773"/>
                    <a:pt x="92" y="773"/>
                  </a:cubicBezTo>
                  <a:cubicBezTo>
                    <a:pt x="92" y="773"/>
                    <a:pt x="94" y="767"/>
                    <a:pt x="88" y="772"/>
                  </a:cubicBezTo>
                  <a:cubicBezTo>
                    <a:pt x="82" y="777"/>
                    <a:pt x="84" y="786"/>
                    <a:pt x="84" y="786"/>
                  </a:cubicBezTo>
                  <a:cubicBezTo>
                    <a:pt x="84" y="786"/>
                    <a:pt x="55" y="773"/>
                    <a:pt x="59" y="781"/>
                  </a:cubicBezTo>
                  <a:cubicBezTo>
                    <a:pt x="63" y="789"/>
                    <a:pt x="85" y="794"/>
                    <a:pt x="85" y="794"/>
                  </a:cubicBezTo>
                  <a:cubicBezTo>
                    <a:pt x="72" y="808"/>
                    <a:pt x="72" y="808"/>
                    <a:pt x="72" y="808"/>
                  </a:cubicBezTo>
                  <a:cubicBezTo>
                    <a:pt x="72" y="808"/>
                    <a:pt x="73" y="798"/>
                    <a:pt x="66" y="797"/>
                  </a:cubicBezTo>
                  <a:cubicBezTo>
                    <a:pt x="59" y="796"/>
                    <a:pt x="53" y="804"/>
                    <a:pt x="53" y="804"/>
                  </a:cubicBezTo>
                  <a:cubicBezTo>
                    <a:pt x="40" y="793"/>
                    <a:pt x="40" y="793"/>
                    <a:pt x="40" y="793"/>
                  </a:cubicBezTo>
                  <a:cubicBezTo>
                    <a:pt x="34" y="802"/>
                    <a:pt x="34" y="802"/>
                    <a:pt x="34" y="802"/>
                  </a:cubicBezTo>
                  <a:cubicBezTo>
                    <a:pt x="43" y="805"/>
                    <a:pt x="43" y="805"/>
                    <a:pt x="43" y="805"/>
                  </a:cubicBezTo>
                  <a:cubicBezTo>
                    <a:pt x="20" y="804"/>
                    <a:pt x="20" y="804"/>
                    <a:pt x="20" y="804"/>
                  </a:cubicBezTo>
                  <a:cubicBezTo>
                    <a:pt x="19" y="813"/>
                    <a:pt x="19" y="813"/>
                    <a:pt x="19" y="813"/>
                  </a:cubicBezTo>
                  <a:cubicBezTo>
                    <a:pt x="52" y="815"/>
                    <a:pt x="52" y="815"/>
                    <a:pt x="52" y="815"/>
                  </a:cubicBezTo>
                  <a:cubicBezTo>
                    <a:pt x="35" y="820"/>
                    <a:pt x="35" y="820"/>
                    <a:pt x="35" y="820"/>
                  </a:cubicBezTo>
                  <a:cubicBezTo>
                    <a:pt x="11" y="814"/>
                    <a:pt x="11" y="814"/>
                    <a:pt x="11" y="814"/>
                  </a:cubicBezTo>
                  <a:cubicBezTo>
                    <a:pt x="11" y="814"/>
                    <a:pt x="3" y="821"/>
                    <a:pt x="3" y="827"/>
                  </a:cubicBezTo>
                  <a:cubicBezTo>
                    <a:pt x="3" y="833"/>
                    <a:pt x="21" y="834"/>
                    <a:pt x="21" y="834"/>
                  </a:cubicBezTo>
                  <a:cubicBezTo>
                    <a:pt x="10" y="839"/>
                    <a:pt x="10" y="839"/>
                    <a:pt x="10" y="839"/>
                  </a:cubicBezTo>
                  <a:cubicBezTo>
                    <a:pt x="10" y="839"/>
                    <a:pt x="1" y="846"/>
                    <a:pt x="10" y="847"/>
                  </a:cubicBezTo>
                  <a:cubicBezTo>
                    <a:pt x="19" y="848"/>
                    <a:pt x="42" y="848"/>
                    <a:pt x="42" y="848"/>
                  </a:cubicBezTo>
                  <a:cubicBezTo>
                    <a:pt x="52" y="854"/>
                    <a:pt x="52" y="854"/>
                    <a:pt x="52" y="854"/>
                  </a:cubicBezTo>
                  <a:cubicBezTo>
                    <a:pt x="63" y="846"/>
                    <a:pt x="63" y="846"/>
                    <a:pt x="63" y="846"/>
                  </a:cubicBezTo>
                  <a:cubicBezTo>
                    <a:pt x="71" y="854"/>
                    <a:pt x="71" y="854"/>
                    <a:pt x="71" y="854"/>
                  </a:cubicBezTo>
                  <a:cubicBezTo>
                    <a:pt x="89" y="845"/>
                    <a:pt x="89" y="845"/>
                    <a:pt x="89" y="845"/>
                  </a:cubicBezTo>
                  <a:cubicBezTo>
                    <a:pt x="89" y="845"/>
                    <a:pt x="86" y="858"/>
                    <a:pt x="80" y="858"/>
                  </a:cubicBezTo>
                  <a:cubicBezTo>
                    <a:pt x="74" y="858"/>
                    <a:pt x="62" y="857"/>
                    <a:pt x="62" y="857"/>
                  </a:cubicBezTo>
                  <a:cubicBezTo>
                    <a:pt x="44" y="858"/>
                    <a:pt x="44" y="858"/>
                    <a:pt x="44" y="858"/>
                  </a:cubicBezTo>
                  <a:cubicBezTo>
                    <a:pt x="44" y="858"/>
                    <a:pt x="28" y="856"/>
                    <a:pt x="25" y="856"/>
                  </a:cubicBezTo>
                  <a:cubicBezTo>
                    <a:pt x="22" y="856"/>
                    <a:pt x="0" y="858"/>
                    <a:pt x="0" y="858"/>
                  </a:cubicBezTo>
                  <a:cubicBezTo>
                    <a:pt x="0" y="858"/>
                    <a:pt x="2" y="870"/>
                    <a:pt x="7" y="872"/>
                  </a:cubicBezTo>
                  <a:cubicBezTo>
                    <a:pt x="12" y="874"/>
                    <a:pt x="20" y="874"/>
                    <a:pt x="20" y="874"/>
                  </a:cubicBezTo>
                  <a:cubicBezTo>
                    <a:pt x="20" y="874"/>
                    <a:pt x="7" y="884"/>
                    <a:pt x="13" y="891"/>
                  </a:cubicBezTo>
                  <a:cubicBezTo>
                    <a:pt x="19" y="898"/>
                    <a:pt x="29" y="899"/>
                    <a:pt x="29" y="899"/>
                  </a:cubicBezTo>
                  <a:cubicBezTo>
                    <a:pt x="47" y="888"/>
                    <a:pt x="47" y="888"/>
                    <a:pt x="47" y="888"/>
                  </a:cubicBezTo>
                  <a:cubicBezTo>
                    <a:pt x="65" y="884"/>
                    <a:pt x="65" y="884"/>
                    <a:pt x="65" y="884"/>
                  </a:cubicBezTo>
                  <a:cubicBezTo>
                    <a:pt x="59" y="898"/>
                    <a:pt x="59" y="898"/>
                    <a:pt x="59" y="898"/>
                  </a:cubicBezTo>
                  <a:cubicBezTo>
                    <a:pt x="49" y="895"/>
                    <a:pt x="49" y="895"/>
                    <a:pt x="49" y="895"/>
                  </a:cubicBezTo>
                  <a:cubicBezTo>
                    <a:pt x="43" y="907"/>
                    <a:pt x="43" y="907"/>
                    <a:pt x="43" y="907"/>
                  </a:cubicBezTo>
                  <a:cubicBezTo>
                    <a:pt x="43" y="907"/>
                    <a:pt x="13" y="901"/>
                    <a:pt x="17" y="908"/>
                  </a:cubicBezTo>
                  <a:cubicBezTo>
                    <a:pt x="21" y="915"/>
                    <a:pt x="30" y="918"/>
                    <a:pt x="30" y="918"/>
                  </a:cubicBezTo>
                  <a:cubicBezTo>
                    <a:pt x="14" y="926"/>
                    <a:pt x="14" y="926"/>
                    <a:pt x="14" y="926"/>
                  </a:cubicBezTo>
                  <a:cubicBezTo>
                    <a:pt x="2" y="926"/>
                    <a:pt x="2" y="926"/>
                    <a:pt x="2" y="926"/>
                  </a:cubicBezTo>
                  <a:cubicBezTo>
                    <a:pt x="2" y="926"/>
                    <a:pt x="4" y="938"/>
                    <a:pt x="7" y="938"/>
                  </a:cubicBezTo>
                  <a:cubicBezTo>
                    <a:pt x="10" y="938"/>
                    <a:pt x="42" y="939"/>
                    <a:pt x="42" y="939"/>
                  </a:cubicBezTo>
                  <a:cubicBezTo>
                    <a:pt x="33" y="953"/>
                    <a:pt x="33" y="953"/>
                    <a:pt x="33" y="953"/>
                  </a:cubicBezTo>
                  <a:cubicBezTo>
                    <a:pt x="41" y="955"/>
                    <a:pt x="41" y="955"/>
                    <a:pt x="41" y="955"/>
                  </a:cubicBezTo>
                  <a:cubicBezTo>
                    <a:pt x="36" y="967"/>
                    <a:pt x="36" y="967"/>
                    <a:pt x="36" y="967"/>
                  </a:cubicBezTo>
                  <a:cubicBezTo>
                    <a:pt x="36" y="967"/>
                    <a:pt x="10" y="954"/>
                    <a:pt x="11" y="962"/>
                  </a:cubicBezTo>
                  <a:cubicBezTo>
                    <a:pt x="12" y="970"/>
                    <a:pt x="23" y="981"/>
                    <a:pt x="23" y="981"/>
                  </a:cubicBezTo>
                  <a:cubicBezTo>
                    <a:pt x="55" y="995"/>
                    <a:pt x="55" y="995"/>
                    <a:pt x="55" y="995"/>
                  </a:cubicBezTo>
                  <a:cubicBezTo>
                    <a:pt x="55" y="995"/>
                    <a:pt x="48" y="1000"/>
                    <a:pt x="55" y="1003"/>
                  </a:cubicBezTo>
                  <a:cubicBezTo>
                    <a:pt x="62" y="1006"/>
                    <a:pt x="83" y="1001"/>
                    <a:pt x="83" y="1001"/>
                  </a:cubicBezTo>
                  <a:cubicBezTo>
                    <a:pt x="83" y="1001"/>
                    <a:pt x="86" y="1010"/>
                    <a:pt x="103" y="1004"/>
                  </a:cubicBezTo>
                  <a:cubicBezTo>
                    <a:pt x="120" y="998"/>
                    <a:pt x="148" y="973"/>
                    <a:pt x="148" y="973"/>
                  </a:cubicBezTo>
                  <a:cubicBezTo>
                    <a:pt x="172" y="954"/>
                    <a:pt x="172" y="954"/>
                    <a:pt x="172" y="954"/>
                  </a:cubicBezTo>
                  <a:cubicBezTo>
                    <a:pt x="172" y="954"/>
                    <a:pt x="183" y="959"/>
                    <a:pt x="193" y="950"/>
                  </a:cubicBezTo>
                  <a:cubicBezTo>
                    <a:pt x="203" y="941"/>
                    <a:pt x="193" y="922"/>
                    <a:pt x="193" y="922"/>
                  </a:cubicBezTo>
                  <a:cubicBezTo>
                    <a:pt x="205" y="920"/>
                    <a:pt x="205" y="920"/>
                    <a:pt x="205" y="920"/>
                  </a:cubicBezTo>
                  <a:cubicBezTo>
                    <a:pt x="205" y="920"/>
                    <a:pt x="192" y="937"/>
                    <a:pt x="207" y="942"/>
                  </a:cubicBezTo>
                  <a:cubicBezTo>
                    <a:pt x="222" y="947"/>
                    <a:pt x="233" y="949"/>
                    <a:pt x="233" y="949"/>
                  </a:cubicBezTo>
                  <a:cubicBezTo>
                    <a:pt x="247" y="962"/>
                    <a:pt x="247" y="962"/>
                    <a:pt x="247" y="962"/>
                  </a:cubicBezTo>
                  <a:cubicBezTo>
                    <a:pt x="247" y="962"/>
                    <a:pt x="253" y="951"/>
                    <a:pt x="255" y="946"/>
                  </a:cubicBezTo>
                  <a:cubicBezTo>
                    <a:pt x="257" y="941"/>
                    <a:pt x="251" y="940"/>
                    <a:pt x="248" y="932"/>
                  </a:cubicBezTo>
                  <a:cubicBezTo>
                    <a:pt x="245" y="924"/>
                    <a:pt x="254" y="921"/>
                    <a:pt x="254" y="921"/>
                  </a:cubicBezTo>
                  <a:cubicBezTo>
                    <a:pt x="254" y="921"/>
                    <a:pt x="254" y="917"/>
                    <a:pt x="252" y="911"/>
                  </a:cubicBezTo>
                  <a:cubicBezTo>
                    <a:pt x="250" y="905"/>
                    <a:pt x="264" y="911"/>
                    <a:pt x="269" y="911"/>
                  </a:cubicBezTo>
                  <a:cubicBezTo>
                    <a:pt x="274" y="911"/>
                    <a:pt x="277" y="906"/>
                    <a:pt x="277" y="906"/>
                  </a:cubicBezTo>
                  <a:cubicBezTo>
                    <a:pt x="277" y="889"/>
                    <a:pt x="277" y="889"/>
                    <a:pt x="277" y="889"/>
                  </a:cubicBezTo>
                  <a:cubicBezTo>
                    <a:pt x="284" y="889"/>
                    <a:pt x="284" y="889"/>
                    <a:pt x="284" y="889"/>
                  </a:cubicBezTo>
                  <a:cubicBezTo>
                    <a:pt x="284" y="889"/>
                    <a:pt x="280" y="880"/>
                    <a:pt x="277" y="877"/>
                  </a:cubicBezTo>
                  <a:cubicBezTo>
                    <a:pt x="274" y="874"/>
                    <a:pt x="268" y="857"/>
                    <a:pt x="268" y="857"/>
                  </a:cubicBezTo>
                  <a:cubicBezTo>
                    <a:pt x="283" y="854"/>
                    <a:pt x="283" y="854"/>
                    <a:pt x="283" y="854"/>
                  </a:cubicBezTo>
                  <a:cubicBezTo>
                    <a:pt x="283" y="854"/>
                    <a:pt x="290" y="848"/>
                    <a:pt x="292" y="841"/>
                  </a:cubicBezTo>
                  <a:cubicBezTo>
                    <a:pt x="294" y="834"/>
                    <a:pt x="275" y="828"/>
                    <a:pt x="275" y="828"/>
                  </a:cubicBezTo>
                  <a:cubicBezTo>
                    <a:pt x="275" y="828"/>
                    <a:pt x="267" y="821"/>
                    <a:pt x="266" y="814"/>
                  </a:cubicBezTo>
                  <a:cubicBezTo>
                    <a:pt x="265" y="807"/>
                    <a:pt x="271" y="800"/>
                    <a:pt x="272" y="795"/>
                  </a:cubicBezTo>
                  <a:cubicBezTo>
                    <a:pt x="273" y="790"/>
                    <a:pt x="262" y="783"/>
                    <a:pt x="262" y="783"/>
                  </a:cubicBezTo>
                  <a:cubicBezTo>
                    <a:pt x="262" y="783"/>
                    <a:pt x="256" y="775"/>
                    <a:pt x="254" y="770"/>
                  </a:cubicBezTo>
                  <a:cubicBezTo>
                    <a:pt x="252" y="765"/>
                    <a:pt x="261" y="763"/>
                    <a:pt x="267" y="757"/>
                  </a:cubicBezTo>
                  <a:cubicBezTo>
                    <a:pt x="273" y="751"/>
                    <a:pt x="255" y="751"/>
                    <a:pt x="255" y="748"/>
                  </a:cubicBezTo>
                  <a:cubicBezTo>
                    <a:pt x="255" y="745"/>
                    <a:pt x="261" y="740"/>
                    <a:pt x="261" y="740"/>
                  </a:cubicBezTo>
                  <a:cubicBezTo>
                    <a:pt x="266" y="734"/>
                    <a:pt x="266" y="734"/>
                    <a:pt x="266" y="734"/>
                  </a:cubicBezTo>
                  <a:cubicBezTo>
                    <a:pt x="266" y="734"/>
                    <a:pt x="272" y="729"/>
                    <a:pt x="279" y="724"/>
                  </a:cubicBezTo>
                  <a:cubicBezTo>
                    <a:pt x="286" y="719"/>
                    <a:pt x="301" y="707"/>
                    <a:pt x="301" y="707"/>
                  </a:cubicBezTo>
                  <a:cubicBezTo>
                    <a:pt x="301" y="707"/>
                    <a:pt x="328" y="712"/>
                    <a:pt x="332" y="703"/>
                  </a:cubicBezTo>
                  <a:cubicBezTo>
                    <a:pt x="336" y="694"/>
                    <a:pt x="315" y="684"/>
                    <a:pt x="315" y="684"/>
                  </a:cubicBezTo>
                  <a:cubicBezTo>
                    <a:pt x="315" y="684"/>
                    <a:pt x="324" y="678"/>
                    <a:pt x="329" y="674"/>
                  </a:cubicBezTo>
                  <a:cubicBezTo>
                    <a:pt x="334" y="670"/>
                    <a:pt x="344" y="658"/>
                    <a:pt x="344" y="658"/>
                  </a:cubicBezTo>
                  <a:cubicBezTo>
                    <a:pt x="348" y="629"/>
                    <a:pt x="348" y="629"/>
                    <a:pt x="348" y="629"/>
                  </a:cubicBezTo>
                  <a:cubicBezTo>
                    <a:pt x="351" y="624"/>
                    <a:pt x="351" y="624"/>
                    <a:pt x="351" y="624"/>
                  </a:cubicBezTo>
                  <a:cubicBezTo>
                    <a:pt x="349" y="608"/>
                    <a:pt x="349" y="608"/>
                    <a:pt x="349" y="608"/>
                  </a:cubicBezTo>
                  <a:cubicBezTo>
                    <a:pt x="363" y="615"/>
                    <a:pt x="363" y="615"/>
                    <a:pt x="363" y="615"/>
                  </a:cubicBezTo>
                  <a:cubicBezTo>
                    <a:pt x="363" y="615"/>
                    <a:pt x="372" y="610"/>
                    <a:pt x="379" y="608"/>
                  </a:cubicBezTo>
                  <a:cubicBezTo>
                    <a:pt x="386" y="606"/>
                    <a:pt x="372" y="592"/>
                    <a:pt x="372" y="592"/>
                  </a:cubicBezTo>
                  <a:cubicBezTo>
                    <a:pt x="386" y="591"/>
                    <a:pt x="386" y="591"/>
                    <a:pt x="386" y="591"/>
                  </a:cubicBezTo>
                  <a:cubicBezTo>
                    <a:pt x="386" y="591"/>
                    <a:pt x="388" y="584"/>
                    <a:pt x="394" y="579"/>
                  </a:cubicBezTo>
                  <a:cubicBezTo>
                    <a:pt x="400" y="574"/>
                    <a:pt x="405" y="573"/>
                    <a:pt x="405" y="573"/>
                  </a:cubicBezTo>
                  <a:cubicBezTo>
                    <a:pt x="410" y="563"/>
                    <a:pt x="410" y="563"/>
                    <a:pt x="410" y="563"/>
                  </a:cubicBezTo>
                  <a:cubicBezTo>
                    <a:pt x="410" y="563"/>
                    <a:pt x="399" y="555"/>
                    <a:pt x="398" y="551"/>
                  </a:cubicBezTo>
                  <a:cubicBezTo>
                    <a:pt x="397" y="547"/>
                    <a:pt x="414" y="539"/>
                    <a:pt x="414" y="539"/>
                  </a:cubicBezTo>
                  <a:cubicBezTo>
                    <a:pt x="423" y="529"/>
                    <a:pt x="423" y="529"/>
                    <a:pt x="423" y="529"/>
                  </a:cubicBezTo>
                  <a:cubicBezTo>
                    <a:pt x="449" y="525"/>
                    <a:pt x="449" y="525"/>
                    <a:pt x="449" y="525"/>
                  </a:cubicBezTo>
                  <a:cubicBezTo>
                    <a:pt x="449" y="525"/>
                    <a:pt x="464" y="525"/>
                    <a:pt x="467" y="520"/>
                  </a:cubicBezTo>
                  <a:cubicBezTo>
                    <a:pt x="470" y="515"/>
                    <a:pt x="460" y="504"/>
                    <a:pt x="468" y="498"/>
                  </a:cubicBezTo>
                  <a:cubicBezTo>
                    <a:pt x="476" y="492"/>
                    <a:pt x="476" y="505"/>
                    <a:pt x="476" y="505"/>
                  </a:cubicBezTo>
                  <a:cubicBezTo>
                    <a:pt x="495" y="501"/>
                    <a:pt x="495" y="501"/>
                    <a:pt x="495" y="501"/>
                  </a:cubicBezTo>
                  <a:cubicBezTo>
                    <a:pt x="508" y="505"/>
                    <a:pt x="508" y="505"/>
                    <a:pt x="508" y="505"/>
                  </a:cubicBezTo>
                  <a:cubicBezTo>
                    <a:pt x="517" y="505"/>
                    <a:pt x="517" y="505"/>
                    <a:pt x="517" y="505"/>
                  </a:cubicBezTo>
                  <a:cubicBezTo>
                    <a:pt x="517" y="505"/>
                    <a:pt x="528" y="511"/>
                    <a:pt x="536" y="509"/>
                  </a:cubicBezTo>
                  <a:cubicBezTo>
                    <a:pt x="544" y="507"/>
                    <a:pt x="531" y="501"/>
                    <a:pt x="531" y="496"/>
                  </a:cubicBezTo>
                  <a:cubicBezTo>
                    <a:pt x="531" y="491"/>
                    <a:pt x="538" y="494"/>
                    <a:pt x="538" y="494"/>
                  </a:cubicBezTo>
                  <a:cubicBezTo>
                    <a:pt x="537" y="480"/>
                    <a:pt x="537" y="480"/>
                    <a:pt x="537" y="480"/>
                  </a:cubicBezTo>
                  <a:cubicBezTo>
                    <a:pt x="557" y="481"/>
                    <a:pt x="557" y="481"/>
                    <a:pt x="557" y="481"/>
                  </a:cubicBezTo>
                  <a:cubicBezTo>
                    <a:pt x="555" y="479"/>
                    <a:pt x="554" y="478"/>
                    <a:pt x="554" y="478"/>
                  </a:cubicBezTo>
                  <a:cubicBezTo>
                    <a:pt x="556" y="473"/>
                    <a:pt x="556" y="473"/>
                    <a:pt x="556" y="473"/>
                  </a:cubicBezTo>
                  <a:cubicBezTo>
                    <a:pt x="568" y="478"/>
                    <a:pt x="568" y="478"/>
                    <a:pt x="568" y="478"/>
                  </a:cubicBezTo>
                  <a:cubicBezTo>
                    <a:pt x="570" y="469"/>
                    <a:pt x="570" y="469"/>
                    <a:pt x="570" y="469"/>
                  </a:cubicBezTo>
                  <a:cubicBezTo>
                    <a:pt x="570" y="469"/>
                    <a:pt x="577" y="466"/>
                    <a:pt x="581" y="466"/>
                  </a:cubicBezTo>
                  <a:cubicBezTo>
                    <a:pt x="585" y="466"/>
                    <a:pt x="594" y="480"/>
                    <a:pt x="594" y="480"/>
                  </a:cubicBezTo>
                  <a:cubicBezTo>
                    <a:pt x="603" y="481"/>
                    <a:pt x="603" y="481"/>
                    <a:pt x="603" y="481"/>
                  </a:cubicBezTo>
                  <a:cubicBezTo>
                    <a:pt x="603" y="481"/>
                    <a:pt x="604" y="491"/>
                    <a:pt x="618" y="492"/>
                  </a:cubicBezTo>
                  <a:cubicBezTo>
                    <a:pt x="632" y="493"/>
                    <a:pt x="632" y="494"/>
                    <a:pt x="632" y="494"/>
                  </a:cubicBezTo>
                  <a:cubicBezTo>
                    <a:pt x="632" y="494"/>
                    <a:pt x="632" y="494"/>
                    <a:pt x="642" y="497"/>
                  </a:cubicBezTo>
                  <a:cubicBezTo>
                    <a:pt x="652" y="500"/>
                    <a:pt x="661" y="492"/>
                    <a:pt x="661" y="492"/>
                  </a:cubicBezTo>
                  <a:cubicBezTo>
                    <a:pt x="661" y="492"/>
                    <a:pt x="672" y="488"/>
                    <a:pt x="677" y="489"/>
                  </a:cubicBezTo>
                  <a:cubicBezTo>
                    <a:pt x="682" y="490"/>
                    <a:pt x="694" y="498"/>
                    <a:pt x="702" y="498"/>
                  </a:cubicBezTo>
                  <a:cubicBezTo>
                    <a:pt x="710" y="498"/>
                    <a:pt x="704" y="488"/>
                    <a:pt x="711" y="483"/>
                  </a:cubicBezTo>
                  <a:cubicBezTo>
                    <a:pt x="718" y="478"/>
                    <a:pt x="727" y="483"/>
                    <a:pt x="727" y="483"/>
                  </a:cubicBezTo>
                  <a:cubicBezTo>
                    <a:pt x="727" y="483"/>
                    <a:pt x="728" y="467"/>
                    <a:pt x="727" y="463"/>
                  </a:cubicBezTo>
                  <a:cubicBezTo>
                    <a:pt x="726" y="459"/>
                    <a:pt x="730" y="446"/>
                    <a:pt x="730" y="446"/>
                  </a:cubicBezTo>
                  <a:cubicBezTo>
                    <a:pt x="730" y="446"/>
                    <a:pt x="747" y="437"/>
                    <a:pt x="752" y="438"/>
                  </a:cubicBezTo>
                  <a:cubicBezTo>
                    <a:pt x="757" y="439"/>
                    <a:pt x="768" y="440"/>
                    <a:pt x="768" y="440"/>
                  </a:cubicBezTo>
                  <a:cubicBezTo>
                    <a:pt x="768" y="440"/>
                    <a:pt x="779" y="433"/>
                    <a:pt x="794" y="434"/>
                  </a:cubicBezTo>
                  <a:cubicBezTo>
                    <a:pt x="809" y="435"/>
                    <a:pt x="802" y="441"/>
                    <a:pt x="802" y="441"/>
                  </a:cubicBezTo>
                  <a:cubicBezTo>
                    <a:pt x="825" y="446"/>
                    <a:pt x="825" y="446"/>
                    <a:pt x="825" y="446"/>
                  </a:cubicBezTo>
                  <a:cubicBezTo>
                    <a:pt x="825" y="446"/>
                    <a:pt x="839" y="447"/>
                    <a:pt x="843" y="464"/>
                  </a:cubicBezTo>
                  <a:cubicBezTo>
                    <a:pt x="847" y="481"/>
                    <a:pt x="834" y="469"/>
                    <a:pt x="834" y="469"/>
                  </a:cubicBezTo>
                  <a:cubicBezTo>
                    <a:pt x="832" y="477"/>
                    <a:pt x="832" y="477"/>
                    <a:pt x="832" y="477"/>
                  </a:cubicBezTo>
                  <a:cubicBezTo>
                    <a:pt x="836" y="479"/>
                    <a:pt x="840" y="480"/>
                    <a:pt x="845" y="480"/>
                  </a:cubicBezTo>
                  <a:cubicBezTo>
                    <a:pt x="854" y="479"/>
                    <a:pt x="855" y="465"/>
                    <a:pt x="855" y="465"/>
                  </a:cubicBezTo>
                  <a:cubicBezTo>
                    <a:pt x="870" y="464"/>
                    <a:pt x="870" y="464"/>
                    <a:pt x="870" y="464"/>
                  </a:cubicBezTo>
                  <a:cubicBezTo>
                    <a:pt x="874" y="456"/>
                    <a:pt x="874" y="456"/>
                    <a:pt x="874" y="456"/>
                  </a:cubicBezTo>
                  <a:cubicBezTo>
                    <a:pt x="874" y="456"/>
                    <a:pt x="873" y="459"/>
                    <a:pt x="891" y="456"/>
                  </a:cubicBezTo>
                  <a:cubicBezTo>
                    <a:pt x="899" y="455"/>
                    <a:pt x="903" y="451"/>
                    <a:pt x="905" y="448"/>
                  </a:cubicBezTo>
                  <a:lnTo>
                    <a:pt x="901" y="448"/>
                  </a:lnTo>
                  <a:close/>
                  <a:moveTo>
                    <a:pt x="372" y="489"/>
                  </a:moveTo>
                  <a:cubicBezTo>
                    <a:pt x="357" y="498"/>
                    <a:pt x="357" y="498"/>
                    <a:pt x="357" y="498"/>
                  </a:cubicBezTo>
                  <a:cubicBezTo>
                    <a:pt x="362" y="511"/>
                    <a:pt x="362" y="511"/>
                    <a:pt x="362" y="511"/>
                  </a:cubicBezTo>
                  <a:cubicBezTo>
                    <a:pt x="380" y="512"/>
                    <a:pt x="380" y="512"/>
                    <a:pt x="380" y="512"/>
                  </a:cubicBezTo>
                  <a:cubicBezTo>
                    <a:pt x="376" y="499"/>
                    <a:pt x="376" y="499"/>
                    <a:pt x="376" y="499"/>
                  </a:cubicBezTo>
                  <a:lnTo>
                    <a:pt x="372" y="489"/>
                  </a:lnTo>
                  <a:close/>
                  <a:moveTo>
                    <a:pt x="346" y="483"/>
                  </a:moveTo>
                  <a:cubicBezTo>
                    <a:pt x="335" y="487"/>
                    <a:pt x="339" y="504"/>
                    <a:pt x="339" y="504"/>
                  </a:cubicBezTo>
                  <a:cubicBezTo>
                    <a:pt x="351" y="516"/>
                    <a:pt x="351" y="516"/>
                    <a:pt x="351" y="516"/>
                  </a:cubicBezTo>
                  <a:cubicBezTo>
                    <a:pt x="351" y="516"/>
                    <a:pt x="357" y="479"/>
                    <a:pt x="346" y="483"/>
                  </a:cubicBezTo>
                  <a:close/>
                  <a:moveTo>
                    <a:pt x="403" y="498"/>
                  </a:moveTo>
                  <a:cubicBezTo>
                    <a:pt x="412" y="493"/>
                    <a:pt x="427" y="490"/>
                    <a:pt x="408" y="486"/>
                  </a:cubicBezTo>
                  <a:cubicBezTo>
                    <a:pt x="389" y="483"/>
                    <a:pt x="380" y="494"/>
                    <a:pt x="380" y="494"/>
                  </a:cubicBezTo>
                  <a:cubicBezTo>
                    <a:pt x="386" y="501"/>
                    <a:pt x="386" y="501"/>
                    <a:pt x="386" y="501"/>
                  </a:cubicBezTo>
                  <a:lnTo>
                    <a:pt x="403" y="498"/>
                  </a:ln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528" name="Freeform 320">
              <a:extLst>
                <a:ext uri="{FF2B5EF4-FFF2-40B4-BE49-F238E27FC236}">
                  <a16:creationId xmlns:a16="http://schemas.microsoft.com/office/drawing/2014/main" id="{10665E99-2159-4914-BD7E-7956F9C896CC}"/>
                </a:ext>
              </a:extLst>
            </p:cNvPr>
            <p:cNvSpPr>
              <a:spLocks/>
            </p:cNvSpPr>
            <p:nvPr/>
          </p:nvSpPr>
          <p:spPr bwMode="gray">
            <a:xfrm>
              <a:off x="6115888" y="2034806"/>
              <a:ext cx="330510" cy="211761"/>
            </a:xfrm>
            <a:custGeom>
              <a:avLst/>
              <a:gdLst>
                <a:gd name="T0" fmla="*/ 311 w 487"/>
                <a:gd name="T1" fmla="*/ 13 h 330"/>
                <a:gd name="T2" fmla="*/ 247 w 487"/>
                <a:gd name="T3" fmla="*/ 45 h 330"/>
                <a:gd name="T4" fmla="*/ 222 w 487"/>
                <a:gd name="T5" fmla="*/ 82 h 330"/>
                <a:gd name="T6" fmla="*/ 222 w 487"/>
                <a:gd name="T7" fmla="*/ 94 h 330"/>
                <a:gd name="T8" fmla="*/ 210 w 487"/>
                <a:gd name="T9" fmla="*/ 106 h 330"/>
                <a:gd name="T10" fmla="*/ 187 w 487"/>
                <a:gd name="T11" fmla="*/ 89 h 330"/>
                <a:gd name="T12" fmla="*/ 143 w 487"/>
                <a:gd name="T13" fmla="*/ 89 h 330"/>
                <a:gd name="T14" fmla="*/ 116 w 487"/>
                <a:gd name="T15" fmla="*/ 81 h 330"/>
                <a:gd name="T16" fmla="*/ 76 w 487"/>
                <a:gd name="T17" fmla="*/ 82 h 330"/>
                <a:gd name="T18" fmla="*/ 64 w 487"/>
                <a:gd name="T19" fmla="*/ 88 h 330"/>
                <a:gd name="T20" fmla="*/ 46 w 487"/>
                <a:gd name="T21" fmla="*/ 89 h 330"/>
                <a:gd name="T22" fmla="*/ 31 w 487"/>
                <a:gd name="T23" fmla="*/ 80 h 330"/>
                <a:gd name="T24" fmla="*/ 22 w 487"/>
                <a:gd name="T25" fmla="*/ 114 h 330"/>
                <a:gd name="T26" fmla="*/ 21 w 487"/>
                <a:gd name="T27" fmla="*/ 127 h 330"/>
                <a:gd name="T28" fmla="*/ 8 w 487"/>
                <a:gd name="T29" fmla="*/ 141 h 330"/>
                <a:gd name="T30" fmla="*/ 2 w 487"/>
                <a:gd name="T31" fmla="*/ 164 h 330"/>
                <a:gd name="T32" fmla="*/ 24 w 487"/>
                <a:gd name="T33" fmla="*/ 193 h 330"/>
                <a:gd name="T34" fmla="*/ 15 w 487"/>
                <a:gd name="T35" fmla="*/ 270 h 330"/>
                <a:gd name="T36" fmla="*/ 36 w 487"/>
                <a:gd name="T37" fmla="*/ 292 h 330"/>
                <a:gd name="T38" fmla="*/ 60 w 487"/>
                <a:gd name="T39" fmla="*/ 325 h 330"/>
                <a:gd name="T40" fmla="*/ 106 w 487"/>
                <a:gd name="T41" fmla="*/ 321 h 330"/>
                <a:gd name="T42" fmla="*/ 133 w 487"/>
                <a:gd name="T43" fmla="*/ 287 h 330"/>
                <a:gd name="T44" fmla="*/ 182 w 487"/>
                <a:gd name="T45" fmla="*/ 290 h 330"/>
                <a:gd name="T46" fmla="*/ 243 w 487"/>
                <a:gd name="T47" fmla="*/ 282 h 330"/>
                <a:gd name="T48" fmla="*/ 292 w 487"/>
                <a:gd name="T49" fmla="*/ 243 h 330"/>
                <a:gd name="T50" fmla="*/ 334 w 487"/>
                <a:gd name="T51" fmla="*/ 213 h 330"/>
                <a:gd name="T52" fmla="*/ 397 w 487"/>
                <a:gd name="T53" fmla="*/ 181 h 330"/>
                <a:gd name="T54" fmla="*/ 446 w 487"/>
                <a:gd name="T55" fmla="*/ 180 h 330"/>
                <a:gd name="T56" fmla="*/ 479 w 487"/>
                <a:gd name="T57" fmla="*/ 125 h 330"/>
                <a:gd name="T58" fmla="*/ 487 w 487"/>
                <a:gd name="T59" fmla="*/ 120 h 330"/>
                <a:gd name="T60" fmla="*/ 433 w 487"/>
                <a:gd name="T61" fmla="*/ 0 h 330"/>
                <a:gd name="T62" fmla="*/ 311 w 487"/>
                <a:gd name="T63" fmla="*/ 13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87" h="330">
                  <a:moveTo>
                    <a:pt x="311" y="13"/>
                  </a:moveTo>
                  <a:cubicBezTo>
                    <a:pt x="299" y="13"/>
                    <a:pt x="257" y="32"/>
                    <a:pt x="247" y="45"/>
                  </a:cubicBezTo>
                  <a:cubicBezTo>
                    <a:pt x="237" y="58"/>
                    <a:pt x="222" y="82"/>
                    <a:pt x="222" y="82"/>
                  </a:cubicBezTo>
                  <a:cubicBezTo>
                    <a:pt x="222" y="94"/>
                    <a:pt x="222" y="94"/>
                    <a:pt x="222" y="94"/>
                  </a:cubicBezTo>
                  <a:cubicBezTo>
                    <a:pt x="222" y="94"/>
                    <a:pt x="215" y="106"/>
                    <a:pt x="210" y="106"/>
                  </a:cubicBezTo>
                  <a:cubicBezTo>
                    <a:pt x="205" y="106"/>
                    <a:pt x="191" y="91"/>
                    <a:pt x="187" y="89"/>
                  </a:cubicBezTo>
                  <a:cubicBezTo>
                    <a:pt x="183" y="87"/>
                    <a:pt x="143" y="89"/>
                    <a:pt x="143" y="89"/>
                  </a:cubicBezTo>
                  <a:cubicBezTo>
                    <a:pt x="143" y="89"/>
                    <a:pt x="132" y="81"/>
                    <a:pt x="116" y="81"/>
                  </a:cubicBezTo>
                  <a:cubicBezTo>
                    <a:pt x="100" y="81"/>
                    <a:pt x="81" y="82"/>
                    <a:pt x="76" y="82"/>
                  </a:cubicBezTo>
                  <a:cubicBezTo>
                    <a:pt x="71" y="82"/>
                    <a:pt x="64" y="88"/>
                    <a:pt x="64" y="88"/>
                  </a:cubicBezTo>
                  <a:cubicBezTo>
                    <a:pt x="46" y="89"/>
                    <a:pt x="46" y="89"/>
                    <a:pt x="46" y="89"/>
                  </a:cubicBezTo>
                  <a:cubicBezTo>
                    <a:pt x="46" y="89"/>
                    <a:pt x="41" y="75"/>
                    <a:pt x="31" y="80"/>
                  </a:cubicBezTo>
                  <a:cubicBezTo>
                    <a:pt x="21" y="85"/>
                    <a:pt x="22" y="114"/>
                    <a:pt x="22" y="114"/>
                  </a:cubicBezTo>
                  <a:cubicBezTo>
                    <a:pt x="22" y="114"/>
                    <a:pt x="28" y="116"/>
                    <a:pt x="21" y="127"/>
                  </a:cubicBezTo>
                  <a:cubicBezTo>
                    <a:pt x="17" y="134"/>
                    <a:pt x="12" y="138"/>
                    <a:pt x="8" y="141"/>
                  </a:cubicBezTo>
                  <a:cubicBezTo>
                    <a:pt x="6" y="150"/>
                    <a:pt x="3" y="159"/>
                    <a:pt x="2" y="164"/>
                  </a:cubicBezTo>
                  <a:cubicBezTo>
                    <a:pt x="0" y="174"/>
                    <a:pt x="24" y="193"/>
                    <a:pt x="24" y="193"/>
                  </a:cubicBezTo>
                  <a:cubicBezTo>
                    <a:pt x="15" y="270"/>
                    <a:pt x="15" y="270"/>
                    <a:pt x="15" y="270"/>
                  </a:cubicBezTo>
                  <a:cubicBezTo>
                    <a:pt x="36" y="292"/>
                    <a:pt x="36" y="292"/>
                    <a:pt x="36" y="292"/>
                  </a:cubicBezTo>
                  <a:cubicBezTo>
                    <a:pt x="36" y="292"/>
                    <a:pt x="41" y="321"/>
                    <a:pt x="60" y="325"/>
                  </a:cubicBezTo>
                  <a:cubicBezTo>
                    <a:pt x="79" y="330"/>
                    <a:pt x="94" y="329"/>
                    <a:pt x="106" y="321"/>
                  </a:cubicBezTo>
                  <a:cubicBezTo>
                    <a:pt x="118" y="313"/>
                    <a:pt x="122" y="287"/>
                    <a:pt x="133" y="287"/>
                  </a:cubicBezTo>
                  <a:cubicBezTo>
                    <a:pt x="145" y="286"/>
                    <a:pt x="160" y="293"/>
                    <a:pt x="182" y="290"/>
                  </a:cubicBezTo>
                  <a:cubicBezTo>
                    <a:pt x="204" y="287"/>
                    <a:pt x="230" y="282"/>
                    <a:pt x="243" y="282"/>
                  </a:cubicBezTo>
                  <a:cubicBezTo>
                    <a:pt x="256" y="283"/>
                    <a:pt x="277" y="249"/>
                    <a:pt x="292" y="243"/>
                  </a:cubicBezTo>
                  <a:cubicBezTo>
                    <a:pt x="308" y="238"/>
                    <a:pt x="316" y="218"/>
                    <a:pt x="334" y="213"/>
                  </a:cubicBezTo>
                  <a:cubicBezTo>
                    <a:pt x="352" y="207"/>
                    <a:pt x="397" y="181"/>
                    <a:pt x="397" y="181"/>
                  </a:cubicBezTo>
                  <a:cubicBezTo>
                    <a:pt x="446" y="180"/>
                    <a:pt x="446" y="180"/>
                    <a:pt x="446" y="180"/>
                  </a:cubicBezTo>
                  <a:cubicBezTo>
                    <a:pt x="446" y="180"/>
                    <a:pt x="466" y="135"/>
                    <a:pt x="479" y="125"/>
                  </a:cubicBezTo>
                  <a:cubicBezTo>
                    <a:pt x="480" y="123"/>
                    <a:pt x="483" y="122"/>
                    <a:pt x="487" y="120"/>
                  </a:cubicBezTo>
                  <a:cubicBezTo>
                    <a:pt x="433" y="0"/>
                    <a:pt x="433" y="0"/>
                    <a:pt x="433" y="0"/>
                  </a:cubicBezTo>
                  <a:cubicBezTo>
                    <a:pt x="433" y="0"/>
                    <a:pt x="323" y="13"/>
                    <a:pt x="311" y="13"/>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529" name="Freeform 321">
              <a:extLst>
                <a:ext uri="{FF2B5EF4-FFF2-40B4-BE49-F238E27FC236}">
                  <a16:creationId xmlns:a16="http://schemas.microsoft.com/office/drawing/2014/main" id="{320C39F8-2DCB-4FD7-841F-F1FE7C570551}"/>
                </a:ext>
              </a:extLst>
            </p:cNvPr>
            <p:cNvSpPr>
              <a:spLocks/>
            </p:cNvSpPr>
            <p:nvPr/>
          </p:nvSpPr>
          <p:spPr bwMode="gray">
            <a:xfrm>
              <a:off x="5051711" y="2609548"/>
              <a:ext cx="69777" cy="45610"/>
            </a:xfrm>
            <a:custGeom>
              <a:avLst/>
              <a:gdLst>
                <a:gd name="T0" fmla="*/ 97 w 103"/>
                <a:gd name="T1" fmla="*/ 29 h 71"/>
                <a:gd name="T2" fmla="*/ 100 w 103"/>
                <a:gd name="T3" fmla="*/ 6 h 71"/>
                <a:gd name="T4" fmla="*/ 36 w 103"/>
                <a:gd name="T5" fmla="*/ 6 h 71"/>
                <a:gd name="T6" fmla="*/ 30 w 103"/>
                <a:gd name="T7" fmla="*/ 0 h 71"/>
                <a:gd name="T8" fmla="*/ 24 w 103"/>
                <a:gd name="T9" fmla="*/ 3 h 71"/>
                <a:gd name="T10" fmla="*/ 23 w 103"/>
                <a:gd name="T11" fmla="*/ 29 h 71"/>
                <a:gd name="T12" fmla="*/ 4 w 103"/>
                <a:gd name="T13" fmla="*/ 57 h 71"/>
                <a:gd name="T14" fmla="*/ 21 w 103"/>
                <a:gd name="T15" fmla="*/ 67 h 71"/>
                <a:gd name="T16" fmla="*/ 29 w 103"/>
                <a:gd name="T17" fmla="*/ 65 h 71"/>
                <a:gd name="T18" fmla="*/ 31 w 103"/>
                <a:gd name="T19" fmla="*/ 71 h 71"/>
                <a:gd name="T20" fmla="*/ 98 w 103"/>
                <a:gd name="T21" fmla="*/ 69 h 71"/>
                <a:gd name="T22" fmla="*/ 103 w 103"/>
                <a:gd name="T23" fmla="*/ 33 h 71"/>
                <a:gd name="T24" fmla="*/ 97 w 103"/>
                <a:gd name="T25" fmla="*/ 29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3" h="71">
                  <a:moveTo>
                    <a:pt x="97" y="29"/>
                  </a:moveTo>
                  <a:cubicBezTo>
                    <a:pt x="100" y="6"/>
                    <a:pt x="100" y="6"/>
                    <a:pt x="100" y="6"/>
                  </a:cubicBezTo>
                  <a:cubicBezTo>
                    <a:pt x="36" y="6"/>
                    <a:pt x="36" y="6"/>
                    <a:pt x="36" y="6"/>
                  </a:cubicBezTo>
                  <a:cubicBezTo>
                    <a:pt x="30" y="0"/>
                    <a:pt x="30" y="0"/>
                    <a:pt x="30" y="0"/>
                  </a:cubicBezTo>
                  <a:cubicBezTo>
                    <a:pt x="24" y="3"/>
                    <a:pt x="24" y="3"/>
                    <a:pt x="24" y="3"/>
                  </a:cubicBezTo>
                  <a:cubicBezTo>
                    <a:pt x="24" y="3"/>
                    <a:pt x="28" y="21"/>
                    <a:pt x="23" y="29"/>
                  </a:cubicBezTo>
                  <a:cubicBezTo>
                    <a:pt x="18" y="37"/>
                    <a:pt x="0" y="50"/>
                    <a:pt x="4" y="57"/>
                  </a:cubicBezTo>
                  <a:cubicBezTo>
                    <a:pt x="7" y="63"/>
                    <a:pt x="17" y="66"/>
                    <a:pt x="21" y="67"/>
                  </a:cubicBezTo>
                  <a:cubicBezTo>
                    <a:pt x="29" y="65"/>
                    <a:pt x="29" y="65"/>
                    <a:pt x="29" y="65"/>
                  </a:cubicBezTo>
                  <a:cubicBezTo>
                    <a:pt x="31" y="71"/>
                    <a:pt x="31" y="71"/>
                    <a:pt x="31" y="71"/>
                  </a:cubicBezTo>
                  <a:cubicBezTo>
                    <a:pt x="31" y="71"/>
                    <a:pt x="93" y="70"/>
                    <a:pt x="98" y="69"/>
                  </a:cubicBezTo>
                  <a:cubicBezTo>
                    <a:pt x="103" y="68"/>
                    <a:pt x="103" y="33"/>
                    <a:pt x="103" y="33"/>
                  </a:cubicBezTo>
                  <a:lnTo>
                    <a:pt x="97" y="29"/>
                  </a:ln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530" name="Freeform 322">
              <a:extLst>
                <a:ext uri="{FF2B5EF4-FFF2-40B4-BE49-F238E27FC236}">
                  <a16:creationId xmlns:a16="http://schemas.microsoft.com/office/drawing/2014/main" id="{46D1EA2D-3716-47E5-8C4F-C75A873B405F}"/>
                </a:ext>
              </a:extLst>
            </p:cNvPr>
            <p:cNvSpPr>
              <a:spLocks noEditPoints="1"/>
            </p:cNvSpPr>
            <p:nvPr/>
          </p:nvSpPr>
          <p:spPr bwMode="gray">
            <a:xfrm>
              <a:off x="4512445" y="1182604"/>
              <a:ext cx="400861" cy="264973"/>
            </a:xfrm>
            <a:custGeom>
              <a:avLst/>
              <a:gdLst>
                <a:gd name="T0" fmla="*/ 527 w 591"/>
                <a:gd name="T1" fmla="*/ 205 h 413"/>
                <a:gd name="T2" fmla="*/ 511 w 591"/>
                <a:gd name="T3" fmla="*/ 226 h 413"/>
                <a:gd name="T4" fmla="*/ 531 w 591"/>
                <a:gd name="T5" fmla="*/ 237 h 413"/>
                <a:gd name="T6" fmla="*/ 536 w 591"/>
                <a:gd name="T7" fmla="*/ 212 h 413"/>
                <a:gd name="T8" fmla="*/ 461 w 591"/>
                <a:gd name="T9" fmla="*/ 249 h 413"/>
                <a:gd name="T10" fmla="*/ 560 w 591"/>
                <a:gd name="T11" fmla="*/ 198 h 413"/>
                <a:gd name="T12" fmla="*/ 560 w 591"/>
                <a:gd name="T13" fmla="*/ 198 h 413"/>
                <a:gd name="T14" fmla="*/ 534 w 591"/>
                <a:gd name="T15" fmla="*/ 86 h 413"/>
                <a:gd name="T16" fmla="*/ 527 w 591"/>
                <a:gd name="T17" fmla="*/ 67 h 413"/>
                <a:gd name="T18" fmla="*/ 514 w 591"/>
                <a:gd name="T19" fmla="*/ 77 h 413"/>
                <a:gd name="T20" fmla="*/ 496 w 591"/>
                <a:gd name="T21" fmla="*/ 70 h 413"/>
                <a:gd name="T22" fmla="*/ 479 w 591"/>
                <a:gd name="T23" fmla="*/ 68 h 413"/>
                <a:gd name="T24" fmla="*/ 459 w 591"/>
                <a:gd name="T25" fmla="*/ 56 h 413"/>
                <a:gd name="T26" fmla="*/ 437 w 591"/>
                <a:gd name="T27" fmla="*/ 48 h 413"/>
                <a:gd name="T28" fmla="*/ 417 w 591"/>
                <a:gd name="T29" fmla="*/ 63 h 413"/>
                <a:gd name="T30" fmla="*/ 395 w 591"/>
                <a:gd name="T31" fmla="*/ 54 h 413"/>
                <a:gd name="T32" fmla="*/ 376 w 591"/>
                <a:gd name="T33" fmla="*/ 51 h 413"/>
                <a:gd name="T34" fmla="*/ 342 w 591"/>
                <a:gd name="T35" fmla="*/ 38 h 413"/>
                <a:gd name="T36" fmla="*/ 327 w 591"/>
                <a:gd name="T37" fmla="*/ 29 h 413"/>
                <a:gd name="T38" fmla="*/ 320 w 591"/>
                <a:gd name="T39" fmla="*/ 23 h 413"/>
                <a:gd name="T40" fmla="*/ 234 w 591"/>
                <a:gd name="T41" fmla="*/ 22 h 413"/>
                <a:gd name="T42" fmla="*/ 156 w 591"/>
                <a:gd name="T43" fmla="*/ 7 h 413"/>
                <a:gd name="T44" fmla="*/ 91 w 591"/>
                <a:gd name="T45" fmla="*/ 8 h 413"/>
                <a:gd name="T46" fmla="*/ 49 w 591"/>
                <a:gd name="T47" fmla="*/ 18 h 413"/>
                <a:gd name="T48" fmla="*/ 21 w 591"/>
                <a:gd name="T49" fmla="*/ 67 h 413"/>
                <a:gd name="T50" fmla="*/ 15 w 591"/>
                <a:gd name="T51" fmla="*/ 101 h 413"/>
                <a:gd name="T52" fmla="*/ 50 w 591"/>
                <a:gd name="T53" fmla="*/ 94 h 413"/>
                <a:gd name="T54" fmla="*/ 61 w 591"/>
                <a:gd name="T55" fmla="*/ 99 h 413"/>
                <a:gd name="T56" fmla="*/ 85 w 591"/>
                <a:gd name="T57" fmla="*/ 96 h 413"/>
                <a:gd name="T58" fmla="*/ 115 w 591"/>
                <a:gd name="T59" fmla="*/ 108 h 413"/>
                <a:gd name="T60" fmla="*/ 94 w 591"/>
                <a:gd name="T61" fmla="*/ 144 h 413"/>
                <a:gd name="T62" fmla="*/ 96 w 591"/>
                <a:gd name="T63" fmla="*/ 181 h 413"/>
                <a:gd name="T64" fmla="*/ 94 w 591"/>
                <a:gd name="T65" fmla="*/ 205 h 413"/>
                <a:gd name="T66" fmla="*/ 61 w 591"/>
                <a:gd name="T67" fmla="*/ 217 h 413"/>
                <a:gd name="T68" fmla="*/ 77 w 591"/>
                <a:gd name="T69" fmla="*/ 240 h 413"/>
                <a:gd name="T70" fmla="*/ 66 w 591"/>
                <a:gd name="T71" fmla="*/ 276 h 413"/>
                <a:gd name="T72" fmla="*/ 84 w 591"/>
                <a:gd name="T73" fmla="*/ 301 h 413"/>
                <a:gd name="T74" fmla="*/ 60 w 591"/>
                <a:gd name="T75" fmla="*/ 325 h 413"/>
                <a:gd name="T76" fmla="*/ 61 w 591"/>
                <a:gd name="T77" fmla="*/ 351 h 413"/>
                <a:gd name="T78" fmla="*/ 81 w 591"/>
                <a:gd name="T79" fmla="*/ 350 h 413"/>
                <a:gd name="T80" fmla="*/ 109 w 591"/>
                <a:gd name="T81" fmla="*/ 365 h 413"/>
                <a:gd name="T82" fmla="*/ 110 w 591"/>
                <a:gd name="T83" fmla="*/ 383 h 413"/>
                <a:gd name="T84" fmla="*/ 136 w 591"/>
                <a:gd name="T85" fmla="*/ 413 h 413"/>
                <a:gd name="T86" fmla="*/ 177 w 591"/>
                <a:gd name="T87" fmla="*/ 389 h 413"/>
                <a:gd name="T88" fmla="*/ 235 w 591"/>
                <a:gd name="T89" fmla="*/ 377 h 413"/>
                <a:gd name="T90" fmla="*/ 265 w 591"/>
                <a:gd name="T91" fmla="*/ 378 h 413"/>
                <a:gd name="T92" fmla="*/ 297 w 591"/>
                <a:gd name="T93" fmla="*/ 374 h 413"/>
                <a:gd name="T94" fmla="*/ 331 w 591"/>
                <a:gd name="T95" fmla="*/ 329 h 413"/>
                <a:gd name="T96" fmla="*/ 356 w 591"/>
                <a:gd name="T97" fmla="*/ 315 h 413"/>
                <a:gd name="T98" fmla="*/ 401 w 591"/>
                <a:gd name="T99" fmla="*/ 270 h 413"/>
                <a:gd name="T100" fmla="*/ 385 w 591"/>
                <a:gd name="T101" fmla="*/ 215 h 413"/>
                <a:gd name="T102" fmla="*/ 424 w 591"/>
                <a:gd name="T103" fmla="*/ 172 h 413"/>
                <a:gd name="T104" fmla="*/ 438 w 591"/>
                <a:gd name="T105" fmla="*/ 146 h 413"/>
                <a:gd name="T106" fmla="*/ 514 w 591"/>
                <a:gd name="T107" fmla="*/ 113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91" h="413">
                  <a:moveTo>
                    <a:pt x="536" y="212"/>
                  </a:moveTo>
                  <a:cubicBezTo>
                    <a:pt x="536" y="212"/>
                    <a:pt x="533" y="205"/>
                    <a:pt x="527" y="205"/>
                  </a:cubicBezTo>
                  <a:cubicBezTo>
                    <a:pt x="521" y="205"/>
                    <a:pt x="498" y="218"/>
                    <a:pt x="501" y="223"/>
                  </a:cubicBezTo>
                  <a:cubicBezTo>
                    <a:pt x="504" y="228"/>
                    <a:pt x="511" y="226"/>
                    <a:pt x="511" y="226"/>
                  </a:cubicBezTo>
                  <a:cubicBezTo>
                    <a:pt x="511" y="226"/>
                    <a:pt x="515" y="235"/>
                    <a:pt x="519" y="236"/>
                  </a:cubicBezTo>
                  <a:cubicBezTo>
                    <a:pt x="523" y="237"/>
                    <a:pt x="531" y="237"/>
                    <a:pt x="531" y="237"/>
                  </a:cubicBezTo>
                  <a:cubicBezTo>
                    <a:pt x="537" y="235"/>
                    <a:pt x="547" y="225"/>
                    <a:pt x="546" y="218"/>
                  </a:cubicBezTo>
                  <a:cubicBezTo>
                    <a:pt x="545" y="211"/>
                    <a:pt x="536" y="212"/>
                    <a:pt x="536" y="212"/>
                  </a:cubicBezTo>
                  <a:close/>
                  <a:moveTo>
                    <a:pt x="447" y="261"/>
                  </a:moveTo>
                  <a:cubicBezTo>
                    <a:pt x="456" y="270"/>
                    <a:pt x="466" y="259"/>
                    <a:pt x="461" y="249"/>
                  </a:cubicBezTo>
                  <a:cubicBezTo>
                    <a:pt x="456" y="239"/>
                    <a:pt x="447" y="261"/>
                    <a:pt x="447" y="261"/>
                  </a:cubicBezTo>
                  <a:close/>
                  <a:moveTo>
                    <a:pt x="560" y="198"/>
                  </a:moveTo>
                  <a:cubicBezTo>
                    <a:pt x="560" y="198"/>
                    <a:pt x="573" y="218"/>
                    <a:pt x="582" y="213"/>
                  </a:cubicBezTo>
                  <a:cubicBezTo>
                    <a:pt x="591" y="208"/>
                    <a:pt x="570" y="191"/>
                    <a:pt x="560" y="198"/>
                  </a:cubicBezTo>
                  <a:close/>
                  <a:moveTo>
                    <a:pt x="535" y="101"/>
                  </a:moveTo>
                  <a:cubicBezTo>
                    <a:pt x="536" y="98"/>
                    <a:pt x="534" y="86"/>
                    <a:pt x="534" y="86"/>
                  </a:cubicBezTo>
                  <a:cubicBezTo>
                    <a:pt x="542" y="81"/>
                    <a:pt x="542" y="81"/>
                    <a:pt x="542" y="81"/>
                  </a:cubicBezTo>
                  <a:cubicBezTo>
                    <a:pt x="542" y="81"/>
                    <a:pt x="530" y="75"/>
                    <a:pt x="527" y="67"/>
                  </a:cubicBezTo>
                  <a:cubicBezTo>
                    <a:pt x="521" y="67"/>
                    <a:pt x="521" y="67"/>
                    <a:pt x="521" y="67"/>
                  </a:cubicBezTo>
                  <a:cubicBezTo>
                    <a:pt x="521" y="67"/>
                    <a:pt x="521" y="77"/>
                    <a:pt x="514" y="77"/>
                  </a:cubicBezTo>
                  <a:cubicBezTo>
                    <a:pt x="507" y="77"/>
                    <a:pt x="506" y="77"/>
                    <a:pt x="506" y="77"/>
                  </a:cubicBezTo>
                  <a:cubicBezTo>
                    <a:pt x="506" y="77"/>
                    <a:pt x="499" y="69"/>
                    <a:pt x="496" y="70"/>
                  </a:cubicBezTo>
                  <a:cubicBezTo>
                    <a:pt x="493" y="71"/>
                    <a:pt x="486" y="73"/>
                    <a:pt x="486" y="73"/>
                  </a:cubicBezTo>
                  <a:cubicBezTo>
                    <a:pt x="486" y="73"/>
                    <a:pt x="483" y="67"/>
                    <a:pt x="479" y="68"/>
                  </a:cubicBezTo>
                  <a:cubicBezTo>
                    <a:pt x="475" y="69"/>
                    <a:pt x="466" y="71"/>
                    <a:pt x="466" y="71"/>
                  </a:cubicBezTo>
                  <a:cubicBezTo>
                    <a:pt x="459" y="56"/>
                    <a:pt x="459" y="56"/>
                    <a:pt x="459" y="56"/>
                  </a:cubicBezTo>
                  <a:cubicBezTo>
                    <a:pt x="450" y="55"/>
                    <a:pt x="450" y="55"/>
                    <a:pt x="450" y="55"/>
                  </a:cubicBezTo>
                  <a:cubicBezTo>
                    <a:pt x="450" y="55"/>
                    <a:pt x="450" y="48"/>
                    <a:pt x="437" y="48"/>
                  </a:cubicBezTo>
                  <a:cubicBezTo>
                    <a:pt x="424" y="48"/>
                    <a:pt x="430" y="60"/>
                    <a:pt x="430" y="60"/>
                  </a:cubicBezTo>
                  <a:cubicBezTo>
                    <a:pt x="417" y="63"/>
                    <a:pt x="417" y="63"/>
                    <a:pt x="417" y="63"/>
                  </a:cubicBezTo>
                  <a:cubicBezTo>
                    <a:pt x="415" y="55"/>
                    <a:pt x="415" y="55"/>
                    <a:pt x="415" y="55"/>
                  </a:cubicBezTo>
                  <a:cubicBezTo>
                    <a:pt x="395" y="54"/>
                    <a:pt x="395" y="54"/>
                    <a:pt x="395" y="54"/>
                  </a:cubicBezTo>
                  <a:cubicBezTo>
                    <a:pt x="395" y="54"/>
                    <a:pt x="394" y="51"/>
                    <a:pt x="390" y="49"/>
                  </a:cubicBezTo>
                  <a:cubicBezTo>
                    <a:pt x="386" y="47"/>
                    <a:pt x="376" y="51"/>
                    <a:pt x="376" y="51"/>
                  </a:cubicBezTo>
                  <a:cubicBezTo>
                    <a:pt x="376" y="51"/>
                    <a:pt x="370" y="42"/>
                    <a:pt x="363" y="41"/>
                  </a:cubicBezTo>
                  <a:cubicBezTo>
                    <a:pt x="356" y="40"/>
                    <a:pt x="342" y="38"/>
                    <a:pt x="342" y="38"/>
                  </a:cubicBezTo>
                  <a:cubicBezTo>
                    <a:pt x="342" y="38"/>
                    <a:pt x="348" y="35"/>
                    <a:pt x="342" y="28"/>
                  </a:cubicBezTo>
                  <a:cubicBezTo>
                    <a:pt x="336" y="21"/>
                    <a:pt x="327" y="29"/>
                    <a:pt x="327" y="29"/>
                  </a:cubicBezTo>
                  <a:cubicBezTo>
                    <a:pt x="326" y="23"/>
                    <a:pt x="326" y="23"/>
                    <a:pt x="326" y="23"/>
                  </a:cubicBezTo>
                  <a:cubicBezTo>
                    <a:pt x="324" y="23"/>
                    <a:pt x="322" y="23"/>
                    <a:pt x="320" y="23"/>
                  </a:cubicBezTo>
                  <a:cubicBezTo>
                    <a:pt x="301" y="23"/>
                    <a:pt x="254" y="14"/>
                    <a:pt x="254" y="14"/>
                  </a:cubicBezTo>
                  <a:cubicBezTo>
                    <a:pt x="234" y="22"/>
                    <a:pt x="234" y="22"/>
                    <a:pt x="234" y="22"/>
                  </a:cubicBezTo>
                  <a:cubicBezTo>
                    <a:pt x="196" y="18"/>
                    <a:pt x="196" y="18"/>
                    <a:pt x="196" y="18"/>
                  </a:cubicBezTo>
                  <a:cubicBezTo>
                    <a:pt x="196" y="18"/>
                    <a:pt x="171" y="4"/>
                    <a:pt x="156" y="7"/>
                  </a:cubicBezTo>
                  <a:cubicBezTo>
                    <a:pt x="141" y="10"/>
                    <a:pt x="120" y="11"/>
                    <a:pt x="115" y="11"/>
                  </a:cubicBezTo>
                  <a:cubicBezTo>
                    <a:pt x="110" y="11"/>
                    <a:pt x="91" y="8"/>
                    <a:pt x="91" y="8"/>
                  </a:cubicBezTo>
                  <a:cubicBezTo>
                    <a:pt x="91" y="8"/>
                    <a:pt x="81" y="0"/>
                    <a:pt x="75" y="0"/>
                  </a:cubicBezTo>
                  <a:cubicBezTo>
                    <a:pt x="69" y="0"/>
                    <a:pt x="49" y="18"/>
                    <a:pt x="49" y="18"/>
                  </a:cubicBezTo>
                  <a:cubicBezTo>
                    <a:pt x="49" y="18"/>
                    <a:pt x="4" y="25"/>
                    <a:pt x="2" y="38"/>
                  </a:cubicBezTo>
                  <a:cubicBezTo>
                    <a:pt x="0" y="51"/>
                    <a:pt x="21" y="67"/>
                    <a:pt x="21" y="67"/>
                  </a:cubicBezTo>
                  <a:cubicBezTo>
                    <a:pt x="13" y="90"/>
                    <a:pt x="13" y="90"/>
                    <a:pt x="13" y="90"/>
                  </a:cubicBezTo>
                  <a:cubicBezTo>
                    <a:pt x="13" y="90"/>
                    <a:pt x="14" y="94"/>
                    <a:pt x="15" y="101"/>
                  </a:cubicBezTo>
                  <a:cubicBezTo>
                    <a:pt x="20" y="95"/>
                    <a:pt x="27" y="88"/>
                    <a:pt x="36" y="88"/>
                  </a:cubicBezTo>
                  <a:cubicBezTo>
                    <a:pt x="50" y="88"/>
                    <a:pt x="55" y="89"/>
                    <a:pt x="50" y="94"/>
                  </a:cubicBezTo>
                  <a:cubicBezTo>
                    <a:pt x="45" y="99"/>
                    <a:pt x="38" y="103"/>
                    <a:pt x="44" y="103"/>
                  </a:cubicBezTo>
                  <a:cubicBezTo>
                    <a:pt x="50" y="103"/>
                    <a:pt x="54" y="99"/>
                    <a:pt x="61" y="99"/>
                  </a:cubicBezTo>
                  <a:cubicBezTo>
                    <a:pt x="68" y="99"/>
                    <a:pt x="70" y="108"/>
                    <a:pt x="78" y="104"/>
                  </a:cubicBezTo>
                  <a:cubicBezTo>
                    <a:pt x="86" y="100"/>
                    <a:pt x="76" y="96"/>
                    <a:pt x="85" y="96"/>
                  </a:cubicBezTo>
                  <a:cubicBezTo>
                    <a:pt x="94" y="96"/>
                    <a:pt x="110" y="93"/>
                    <a:pt x="114" y="95"/>
                  </a:cubicBezTo>
                  <a:cubicBezTo>
                    <a:pt x="118" y="97"/>
                    <a:pt x="115" y="108"/>
                    <a:pt x="115" y="108"/>
                  </a:cubicBezTo>
                  <a:cubicBezTo>
                    <a:pt x="115" y="108"/>
                    <a:pt x="129" y="109"/>
                    <a:pt x="128" y="117"/>
                  </a:cubicBezTo>
                  <a:cubicBezTo>
                    <a:pt x="127" y="125"/>
                    <a:pt x="95" y="140"/>
                    <a:pt x="94" y="144"/>
                  </a:cubicBezTo>
                  <a:cubicBezTo>
                    <a:pt x="93" y="148"/>
                    <a:pt x="102" y="153"/>
                    <a:pt x="102" y="153"/>
                  </a:cubicBezTo>
                  <a:cubicBezTo>
                    <a:pt x="102" y="153"/>
                    <a:pt x="97" y="178"/>
                    <a:pt x="96" y="181"/>
                  </a:cubicBezTo>
                  <a:cubicBezTo>
                    <a:pt x="95" y="184"/>
                    <a:pt x="90" y="188"/>
                    <a:pt x="90" y="188"/>
                  </a:cubicBezTo>
                  <a:cubicBezTo>
                    <a:pt x="90" y="188"/>
                    <a:pt x="94" y="202"/>
                    <a:pt x="94" y="205"/>
                  </a:cubicBezTo>
                  <a:cubicBezTo>
                    <a:pt x="94" y="208"/>
                    <a:pt x="86" y="215"/>
                    <a:pt x="82" y="216"/>
                  </a:cubicBezTo>
                  <a:cubicBezTo>
                    <a:pt x="78" y="217"/>
                    <a:pt x="61" y="217"/>
                    <a:pt x="61" y="217"/>
                  </a:cubicBezTo>
                  <a:cubicBezTo>
                    <a:pt x="77" y="231"/>
                    <a:pt x="77" y="231"/>
                    <a:pt x="77" y="231"/>
                  </a:cubicBezTo>
                  <a:cubicBezTo>
                    <a:pt x="77" y="240"/>
                    <a:pt x="77" y="240"/>
                    <a:pt x="77" y="240"/>
                  </a:cubicBezTo>
                  <a:cubicBezTo>
                    <a:pt x="77" y="240"/>
                    <a:pt x="90" y="242"/>
                    <a:pt x="88" y="250"/>
                  </a:cubicBezTo>
                  <a:cubicBezTo>
                    <a:pt x="86" y="258"/>
                    <a:pt x="62" y="272"/>
                    <a:pt x="66" y="276"/>
                  </a:cubicBezTo>
                  <a:cubicBezTo>
                    <a:pt x="70" y="280"/>
                    <a:pt x="75" y="294"/>
                    <a:pt x="75" y="294"/>
                  </a:cubicBezTo>
                  <a:cubicBezTo>
                    <a:pt x="75" y="294"/>
                    <a:pt x="88" y="295"/>
                    <a:pt x="84" y="301"/>
                  </a:cubicBezTo>
                  <a:cubicBezTo>
                    <a:pt x="80" y="307"/>
                    <a:pt x="70" y="308"/>
                    <a:pt x="70" y="308"/>
                  </a:cubicBezTo>
                  <a:cubicBezTo>
                    <a:pt x="70" y="308"/>
                    <a:pt x="62" y="318"/>
                    <a:pt x="60" y="325"/>
                  </a:cubicBezTo>
                  <a:cubicBezTo>
                    <a:pt x="58" y="332"/>
                    <a:pt x="59" y="340"/>
                    <a:pt x="59" y="340"/>
                  </a:cubicBezTo>
                  <a:cubicBezTo>
                    <a:pt x="61" y="351"/>
                    <a:pt x="61" y="351"/>
                    <a:pt x="61" y="351"/>
                  </a:cubicBezTo>
                  <a:cubicBezTo>
                    <a:pt x="62" y="351"/>
                    <a:pt x="62" y="351"/>
                    <a:pt x="62" y="351"/>
                  </a:cubicBezTo>
                  <a:cubicBezTo>
                    <a:pt x="81" y="350"/>
                    <a:pt x="81" y="350"/>
                    <a:pt x="81" y="350"/>
                  </a:cubicBezTo>
                  <a:cubicBezTo>
                    <a:pt x="97" y="365"/>
                    <a:pt x="97" y="365"/>
                    <a:pt x="97" y="365"/>
                  </a:cubicBezTo>
                  <a:cubicBezTo>
                    <a:pt x="109" y="365"/>
                    <a:pt x="109" y="365"/>
                    <a:pt x="109" y="365"/>
                  </a:cubicBezTo>
                  <a:cubicBezTo>
                    <a:pt x="103" y="382"/>
                    <a:pt x="103" y="382"/>
                    <a:pt x="103" y="382"/>
                  </a:cubicBezTo>
                  <a:cubicBezTo>
                    <a:pt x="110" y="383"/>
                    <a:pt x="110" y="383"/>
                    <a:pt x="110" y="383"/>
                  </a:cubicBezTo>
                  <a:cubicBezTo>
                    <a:pt x="110" y="383"/>
                    <a:pt x="110" y="403"/>
                    <a:pt x="117" y="406"/>
                  </a:cubicBezTo>
                  <a:cubicBezTo>
                    <a:pt x="124" y="409"/>
                    <a:pt x="136" y="413"/>
                    <a:pt x="136" y="413"/>
                  </a:cubicBezTo>
                  <a:cubicBezTo>
                    <a:pt x="136" y="413"/>
                    <a:pt x="153" y="401"/>
                    <a:pt x="156" y="395"/>
                  </a:cubicBezTo>
                  <a:cubicBezTo>
                    <a:pt x="159" y="389"/>
                    <a:pt x="177" y="389"/>
                    <a:pt x="177" y="389"/>
                  </a:cubicBezTo>
                  <a:cubicBezTo>
                    <a:pt x="196" y="377"/>
                    <a:pt x="196" y="377"/>
                    <a:pt x="196" y="377"/>
                  </a:cubicBezTo>
                  <a:cubicBezTo>
                    <a:pt x="196" y="377"/>
                    <a:pt x="229" y="379"/>
                    <a:pt x="235" y="377"/>
                  </a:cubicBezTo>
                  <a:cubicBezTo>
                    <a:pt x="241" y="375"/>
                    <a:pt x="251" y="371"/>
                    <a:pt x="251" y="371"/>
                  </a:cubicBezTo>
                  <a:cubicBezTo>
                    <a:pt x="251" y="371"/>
                    <a:pt x="259" y="379"/>
                    <a:pt x="265" y="378"/>
                  </a:cubicBezTo>
                  <a:cubicBezTo>
                    <a:pt x="271" y="377"/>
                    <a:pt x="287" y="370"/>
                    <a:pt x="287" y="370"/>
                  </a:cubicBezTo>
                  <a:cubicBezTo>
                    <a:pt x="287" y="370"/>
                    <a:pt x="286" y="382"/>
                    <a:pt x="297" y="374"/>
                  </a:cubicBezTo>
                  <a:cubicBezTo>
                    <a:pt x="308" y="366"/>
                    <a:pt x="310" y="347"/>
                    <a:pt x="310" y="347"/>
                  </a:cubicBezTo>
                  <a:cubicBezTo>
                    <a:pt x="331" y="329"/>
                    <a:pt x="331" y="329"/>
                    <a:pt x="331" y="329"/>
                  </a:cubicBezTo>
                  <a:cubicBezTo>
                    <a:pt x="354" y="328"/>
                    <a:pt x="354" y="328"/>
                    <a:pt x="354" y="328"/>
                  </a:cubicBezTo>
                  <a:cubicBezTo>
                    <a:pt x="356" y="315"/>
                    <a:pt x="356" y="315"/>
                    <a:pt x="356" y="315"/>
                  </a:cubicBezTo>
                  <a:cubicBezTo>
                    <a:pt x="356" y="315"/>
                    <a:pt x="367" y="286"/>
                    <a:pt x="370" y="284"/>
                  </a:cubicBezTo>
                  <a:cubicBezTo>
                    <a:pt x="373" y="282"/>
                    <a:pt x="400" y="279"/>
                    <a:pt x="401" y="270"/>
                  </a:cubicBezTo>
                  <a:cubicBezTo>
                    <a:pt x="402" y="261"/>
                    <a:pt x="379" y="249"/>
                    <a:pt x="379" y="249"/>
                  </a:cubicBezTo>
                  <a:cubicBezTo>
                    <a:pt x="379" y="249"/>
                    <a:pt x="377" y="226"/>
                    <a:pt x="385" y="215"/>
                  </a:cubicBezTo>
                  <a:cubicBezTo>
                    <a:pt x="393" y="204"/>
                    <a:pt x="404" y="191"/>
                    <a:pt x="404" y="191"/>
                  </a:cubicBezTo>
                  <a:cubicBezTo>
                    <a:pt x="404" y="191"/>
                    <a:pt x="421" y="173"/>
                    <a:pt x="424" y="172"/>
                  </a:cubicBezTo>
                  <a:cubicBezTo>
                    <a:pt x="427" y="171"/>
                    <a:pt x="439" y="163"/>
                    <a:pt x="436" y="161"/>
                  </a:cubicBezTo>
                  <a:cubicBezTo>
                    <a:pt x="433" y="159"/>
                    <a:pt x="428" y="151"/>
                    <a:pt x="438" y="146"/>
                  </a:cubicBezTo>
                  <a:cubicBezTo>
                    <a:pt x="448" y="141"/>
                    <a:pt x="472" y="136"/>
                    <a:pt x="485" y="131"/>
                  </a:cubicBezTo>
                  <a:cubicBezTo>
                    <a:pt x="498" y="126"/>
                    <a:pt x="514" y="113"/>
                    <a:pt x="514" y="113"/>
                  </a:cubicBezTo>
                  <a:cubicBezTo>
                    <a:pt x="514" y="113"/>
                    <a:pt x="534" y="104"/>
                    <a:pt x="535" y="101"/>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algn="r" defTabSz="877824" rtl="1"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531" name="Freeform 323">
              <a:extLst>
                <a:ext uri="{FF2B5EF4-FFF2-40B4-BE49-F238E27FC236}">
                  <a16:creationId xmlns:a16="http://schemas.microsoft.com/office/drawing/2014/main" id="{4CC35037-E6A9-49AC-BE84-742C6CAF6372}"/>
                </a:ext>
              </a:extLst>
            </p:cNvPr>
            <p:cNvSpPr>
              <a:spLocks/>
            </p:cNvSpPr>
            <p:nvPr/>
          </p:nvSpPr>
          <p:spPr bwMode="gray">
            <a:xfrm>
              <a:off x="4494928" y="1239073"/>
              <a:ext cx="105096" cy="177553"/>
            </a:xfrm>
            <a:custGeom>
              <a:avLst/>
              <a:gdLst>
                <a:gd name="T0" fmla="*/ 141 w 155"/>
                <a:gd name="T1" fmla="*/ 20 h 277"/>
                <a:gd name="T2" fmla="*/ 140 w 155"/>
                <a:gd name="T3" fmla="*/ 7 h 277"/>
                <a:gd name="T4" fmla="*/ 111 w 155"/>
                <a:gd name="T5" fmla="*/ 8 h 277"/>
                <a:gd name="T6" fmla="*/ 104 w 155"/>
                <a:gd name="T7" fmla="*/ 16 h 277"/>
                <a:gd name="T8" fmla="*/ 87 w 155"/>
                <a:gd name="T9" fmla="*/ 11 h 277"/>
                <a:gd name="T10" fmla="*/ 70 w 155"/>
                <a:gd name="T11" fmla="*/ 15 h 277"/>
                <a:gd name="T12" fmla="*/ 76 w 155"/>
                <a:gd name="T13" fmla="*/ 6 h 277"/>
                <a:gd name="T14" fmla="*/ 62 w 155"/>
                <a:gd name="T15" fmla="*/ 0 h 277"/>
                <a:gd name="T16" fmla="*/ 41 w 155"/>
                <a:gd name="T17" fmla="*/ 13 h 277"/>
                <a:gd name="T18" fmla="*/ 46 w 155"/>
                <a:gd name="T19" fmla="*/ 53 h 277"/>
                <a:gd name="T20" fmla="*/ 23 w 155"/>
                <a:gd name="T21" fmla="*/ 114 h 277"/>
                <a:gd name="T22" fmla="*/ 9 w 155"/>
                <a:gd name="T23" fmla="*/ 146 h 277"/>
                <a:gd name="T24" fmla="*/ 6 w 155"/>
                <a:gd name="T25" fmla="*/ 180 h 277"/>
                <a:gd name="T26" fmla="*/ 23 w 155"/>
                <a:gd name="T27" fmla="*/ 191 h 277"/>
                <a:gd name="T28" fmla="*/ 30 w 155"/>
                <a:gd name="T29" fmla="*/ 228 h 277"/>
                <a:gd name="T30" fmla="*/ 20 w 155"/>
                <a:gd name="T31" fmla="*/ 271 h 277"/>
                <a:gd name="T32" fmla="*/ 52 w 155"/>
                <a:gd name="T33" fmla="*/ 268 h 277"/>
                <a:gd name="T34" fmla="*/ 62 w 155"/>
                <a:gd name="T35" fmla="*/ 276 h 277"/>
                <a:gd name="T36" fmla="*/ 87 w 155"/>
                <a:gd name="T37" fmla="*/ 263 h 277"/>
                <a:gd name="T38" fmla="*/ 85 w 155"/>
                <a:gd name="T39" fmla="*/ 252 h 277"/>
                <a:gd name="T40" fmla="*/ 86 w 155"/>
                <a:gd name="T41" fmla="*/ 237 h 277"/>
                <a:gd name="T42" fmla="*/ 96 w 155"/>
                <a:gd name="T43" fmla="*/ 220 h 277"/>
                <a:gd name="T44" fmla="*/ 110 w 155"/>
                <a:gd name="T45" fmla="*/ 213 h 277"/>
                <a:gd name="T46" fmla="*/ 101 w 155"/>
                <a:gd name="T47" fmla="*/ 206 h 277"/>
                <a:gd name="T48" fmla="*/ 92 w 155"/>
                <a:gd name="T49" fmla="*/ 188 h 277"/>
                <a:gd name="T50" fmla="*/ 114 w 155"/>
                <a:gd name="T51" fmla="*/ 162 h 277"/>
                <a:gd name="T52" fmla="*/ 103 w 155"/>
                <a:gd name="T53" fmla="*/ 152 h 277"/>
                <a:gd name="T54" fmla="*/ 103 w 155"/>
                <a:gd name="T55" fmla="*/ 143 h 277"/>
                <a:gd name="T56" fmla="*/ 87 w 155"/>
                <a:gd name="T57" fmla="*/ 129 h 277"/>
                <a:gd name="T58" fmla="*/ 108 w 155"/>
                <a:gd name="T59" fmla="*/ 128 h 277"/>
                <a:gd name="T60" fmla="*/ 120 w 155"/>
                <a:gd name="T61" fmla="*/ 117 h 277"/>
                <a:gd name="T62" fmla="*/ 116 w 155"/>
                <a:gd name="T63" fmla="*/ 100 h 277"/>
                <a:gd name="T64" fmla="*/ 122 w 155"/>
                <a:gd name="T65" fmla="*/ 93 h 277"/>
                <a:gd name="T66" fmla="*/ 128 w 155"/>
                <a:gd name="T67" fmla="*/ 65 h 277"/>
                <a:gd name="T68" fmla="*/ 120 w 155"/>
                <a:gd name="T69" fmla="*/ 56 h 277"/>
                <a:gd name="T70" fmla="*/ 154 w 155"/>
                <a:gd name="T71" fmla="*/ 29 h 277"/>
                <a:gd name="T72" fmla="*/ 141 w 155"/>
                <a:gd name="T73" fmla="*/ 20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55" h="277">
                  <a:moveTo>
                    <a:pt x="141" y="20"/>
                  </a:moveTo>
                  <a:cubicBezTo>
                    <a:pt x="141" y="20"/>
                    <a:pt x="144" y="9"/>
                    <a:pt x="140" y="7"/>
                  </a:cubicBezTo>
                  <a:cubicBezTo>
                    <a:pt x="136" y="5"/>
                    <a:pt x="120" y="8"/>
                    <a:pt x="111" y="8"/>
                  </a:cubicBezTo>
                  <a:cubicBezTo>
                    <a:pt x="102" y="8"/>
                    <a:pt x="112" y="12"/>
                    <a:pt x="104" y="16"/>
                  </a:cubicBezTo>
                  <a:cubicBezTo>
                    <a:pt x="96" y="20"/>
                    <a:pt x="94" y="11"/>
                    <a:pt x="87" y="11"/>
                  </a:cubicBezTo>
                  <a:cubicBezTo>
                    <a:pt x="80" y="11"/>
                    <a:pt x="76" y="15"/>
                    <a:pt x="70" y="15"/>
                  </a:cubicBezTo>
                  <a:cubicBezTo>
                    <a:pt x="64" y="15"/>
                    <a:pt x="71" y="11"/>
                    <a:pt x="76" y="6"/>
                  </a:cubicBezTo>
                  <a:cubicBezTo>
                    <a:pt x="81" y="1"/>
                    <a:pt x="76" y="0"/>
                    <a:pt x="62" y="0"/>
                  </a:cubicBezTo>
                  <a:cubicBezTo>
                    <a:pt x="53" y="0"/>
                    <a:pt x="46" y="7"/>
                    <a:pt x="41" y="13"/>
                  </a:cubicBezTo>
                  <a:cubicBezTo>
                    <a:pt x="44" y="23"/>
                    <a:pt x="47" y="40"/>
                    <a:pt x="46" y="53"/>
                  </a:cubicBezTo>
                  <a:cubicBezTo>
                    <a:pt x="45" y="74"/>
                    <a:pt x="23" y="114"/>
                    <a:pt x="23" y="114"/>
                  </a:cubicBezTo>
                  <a:cubicBezTo>
                    <a:pt x="9" y="146"/>
                    <a:pt x="9" y="146"/>
                    <a:pt x="9" y="146"/>
                  </a:cubicBezTo>
                  <a:cubicBezTo>
                    <a:pt x="9" y="146"/>
                    <a:pt x="0" y="173"/>
                    <a:pt x="6" y="180"/>
                  </a:cubicBezTo>
                  <a:cubicBezTo>
                    <a:pt x="12" y="187"/>
                    <a:pt x="23" y="191"/>
                    <a:pt x="23" y="191"/>
                  </a:cubicBezTo>
                  <a:cubicBezTo>
                    <a:pt x="30" y="228"/>
                    <a:pt x="30" y="228"/>
                    <a:pt x="30" y="228"/>
                  </a:cubicBezTo>
                  <a:cubicBezTo>
                    <a:pt x="30" y="228"/>
                    <a:pt x="14" y="270"/>
                    <a:pt x="20" y="271"/>
                  </a:cubicBezTo>
                  <a:cubicBezTo>
                    <a:pt x="26" y="272"/>
                    <a:pt x="52" y="268"/>
                    <a:pt x="52" y="268"/>
                  </a:cubicBezTo>
                  <a:cubicBezTo>
                    <a:pt x="52" y="268"/>
                    <a:pt x="56" y="277"/>
                    <a:pt x="62" y="276"/>
                  </a:cubicBezTo>
                  <a:cubicBezTo>
                    <a:pt x="67" y="275"/>
                    <a:pt x="84" y="265"/>
                    <a:pt x="87" y="263"/>
                  </a:cubicBezTo>
                  <a:cubicBezTo>
                    <a:pt x="85" y="252"/>
                    <a:pt x="85" y="252"/>
                    <a:pt x="85" y="252"/>
                  </a:cubicBezTo>
                  <a:cubicBezTo>
                    <a:pt x="85" y="252"/>
                    <a:pt x="84" y="244"/>
                    <a:pt x="86" y="237"/>
                  </a:cubicBezTo>
                  <a:cubicBezTo>
                    <a:pt x="88" y="230"/>
                    <a:pt x="96" y="220"/>
                    <a:pt x="96" y="220"/>
                  </a:cubicBezTo>
                  <a:cubicBezTo>
                    <a:pt x="96" y="220"/>
                    <a:pt x="106" y="219"/>
                    <a:pt x="110" y="213"/>
                  </a:cubicBezTo>
                  <a:cubicBezTo>
                    <a:pt x="114" y="207"/>
                    <a:pt x="101" y="206"/>
                    <a:pt x="101" y="206"/>
                  </a:cubicBezTo>
                  <a:cubicBezTo>
                    <a:pt x="101" y="206"/>
                    <a:pt x="96" y="192"/>
                    <a:pt x="92" y="188"/>
                  </a:cubicBezTo>
                  <a:cubicBezTo>
                    <a:pt x="88" y="184"/>
                    <a:pt x="112" y="170"/>
                    <a:pt x="114" y="162"/>
                  </a:cubicBezTo>
                  <a:cubicBezTo>
                    <a:pt x="116" y="154"/>
                    <a:pt x="103" y="152"/>
                    <a:pt x="103" y="152"/>
                  </a:cubicBezTo>
                  <a:cubicBezTo>
                    <a:pt x="103" y="143"/>
                    <a:pt x="103" y="143"/>
                    <a:pt x="103" y="143"/>
                  </a:cubicBezTo>
                  <a:cubicBezTo>
                    <a:pt x="87" y="129"/>
                    <a:pt x="87" y="129"/>
                    <a:pt x="87" y="129"/>
                  </a:cubicBezTo>
                  <a:cubicBezTo>
                    <a:pt x="87" y="129"/>
                    <a:pt x="104" y="129"/>
                    <a:pt x="108" y="128"/>
                  </a:cubicBezTo>
                  <a:cubicBezTo>
                    <a:pt x="112" y="127"/>
                    <a:pt x="120" y="120"/>
                    <a:pt x="120" y="117"/>
                  </a:cubicBezTo>
                  <a:cubicBezTo>
                    <a:pt x="120" y="114"/>
                    <a:pt x="116" y="100"/>
                    <a:pt x="116" y="100"/>
                  </a:cubicBezTo>
                  <a:cubicBezTo>
                    <a:pt x="116" y="100"/>
                    <a:pt x="121" y="96"/>
                    <a:pt x="122" y="93"/>
                  </a:cubicBezTo>
                  <a:cubicBezTo>
                    <a:pt x="123" y="90"/>
                    <a:pt x="128" y="65"/>
                    <a:pt x="128" y="65"/>
                  </a:cubicBezTo>
                  <a:cubicBezTo>
                    <a:pt x="128" y="65"/>
                    <a:pt x="119" y="60"/>
                    <a:pt x="120" y="56"/>
                  </a:cubicBezTo>
                  <a:cubicBezTo>
                    <a:pt x="121" y="52"/>
                    <a:pt x="153" y="37"/>
                    <a:pt x="154" y="29"/>
                  </a:cubicBezTo>
                  <a:cubicBezTo>
                    <a:pt x="155" y="21"/>
                    <a:pt x="141" y="20"/>
                    <a:pt x="141" y="20"/>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532" name="Freeform 324">
              <a:extLst>
                <a:ext uri="{FF2B5EF4-FFF2-40B4-BE49-F238E27FC236}">
                  <a16:creationId xmlns:a16="http://schemas.microsoft.com/office/drawing/2014/main" id="{B7206758-BA47-429A-B04F-708CE58F1EB4}"/>
                </a:ext>
              </a:extLst>
            </p:cNvPr>
            <p:cNvSpPr>
              <a:spLocks noEditPoints="1"/>
            </p:cNvSpPr>
            <p:nvPr/>
          </p:nvSpPr>
          <p:spPr bwMode="gray">
            <a:xfrm>
              <a:off x="2379210" y="2506382"/>
              <a:ext cx="1260300" cy="1346040"/>
            </a:xfrm>
            <a:custGeom>
              <a:avLst/>
              <a:gdLst>
                <a:gd name="T0" fmla="*/ 1096 w 1858"/>
                <a:gd name="T1" fmla="*/ 350 h 2099"/>
                <a:gd name="T2" fmla="*/ 1201 w 1858"/>
                <a:gd name="T3" fmla="*/ 299 h 2099"/>
                <a:gd name="T4" fmla="*/ 1144 w 1858"/>
                <a:gd name="T5" fmla="*/ 291 h 2099"/>
                <a:gd name="T6" fmla="*/ 1124 w 1858"/>
                <a:gd name="T7" fmla="*/ 270 h 2099"/>
                <a:gd name="T8" fmla="*/ 1087 w 1858"/>
                <a:gd name="T9" fmla="*/ 283 h 2099"/>
                <a:gd name="T10" fmla="*/ 1837 w 1858"/>
                <a:gd name="T11" fmla="*/ 583 h 2099"/>
                <a:gd name="T12" fmla="*/ 1713 w 1858"/>
                <a:gd name="T13" fmla="*/ 532 h 2099"/>
                <a:gd name="T14" fmla="*/ 1445 w 1858"/>
                <a:gd name="T15" fmla="*/ 412 h 2099"/>
                <a:gd name="T16" fmla="*/ 1377 w 1858"/>
                <a:gd name="T17" fmla="*/ 411 h 2099"/>
                <a:gd name="T18" fmla="*/ 1258 w 1858"/>
                <a:gd name="T19" fmla="*/ 316 h 2099"/>
                <a:gd name="T20" fmla="*/ 1154 w 1858"/>
                <a:gd name="T21" fmla="*/ 423 h 2099"/>
                <a:gd name="T22" fmla="*/ 1062 w 1858"/>
                <a:gd name="T23" fmla="*/ 356 h 2099"/>
                <a:gd name="T24" fmla="*/ 1095 w 1858"/>
                <a:gd name="T25" fmla="*/ 270 h 2099"/>
                <a:gd name="T26" fmla="*/ 1063 w 1858"/>
                <a:gd name="T27" fmla="*/ 52 h 2099"/>
                <a:gd name="T28" fmla="*/ 971 w 1858"/>
                <a:gd name="T29" fmla="*/ 160 h 2099"/>
                <a:gd name="T30" fmla="*/ 888 w 1858"/>
                <a:gd name="T31" fmla="*/ 145 h 2099"/>
                <a:gd name="T32" fmla="*/ 807 w 1858"/>
                <a:gd name="T33" fmla="*/ 183 h 2099"/>
                <a:gd name="T34" fmla="*/ 702 w 1858"/>
                <a:gd name="T35" fmla="*/ 221 h 2099"/>
                <a:gd name="T36" fmla="*/ 664 w 1858"/>
                <a:gd name="T37" fmla="*/ 91 h 2099"/>
                <a:gd name="T38" fmla="*/ 641 w 1858"/>
                <a:gd name="T39" fmla="*/ 7 h 2099"/>
                <a:gd name="T40" fmla="*/ 559 w 1858"/>
                <a:gd name="T41" fmla="*/ 64 h 2099"/>
                <a:gd name="T42" fmla="*/ 460 w 1858"/>
                <a:gd name="T43" fmla="*/ 60 h 2099"/>
                <a:gd name="T44" fmla="*/ 493 w 1858"/>
                <a:gd name="T45" fmla="*/ 154 h 2099"/>
                <a:gd name="T46" fmla="*/ 393 w 1858"/>
                <a:gd name="T47" fmla="*/ 251 h 2099"/>
                <a:gd name="T48" fmla="*/ 306 w 1858"/>
                <a:gd name="T49" fmla="*/ 180 h 2099"/>
                <a:gd name="T50" fmla="*/ 191 w 1858"/>
                <a:gd name="T51" fmla="*/ 223 h 2099"/>
                <a:gd name="T52" fmla="*/ 197 w 1858"/>
                <a:gd name="T53" fmla="*/ 313 h 2099"/>
                <a:gd name="T54" fmla="*/ 183 w 1858"/>
                <a:gd name="T55" fmla="*/ 518 h 2099"/>
                <a:gd name="T56" fmla="*/ 66 w 1858"/>
                <a:gd name="T57" fmla="*/ 547 h 2099"/>
                <a:gd name="T58" fmla="*/ 9 w 1858"/>
                <a:gd name="T59" fmla="*/ 674 h 2099"/>
                <a:gd name="T60" fmla="*/ 43 w 1858"/>
                <a:gd name="T61" fmla="*/ 791 h 2099"/>
                <a:gd name="T62" fmla="*/ 170 w 1858"/>
                <a:gd name="T63" fmla="*/ 874 h 2099"/>
                <a:gd name="T64" fmla="*/ 288 w 1858"/>
                <a:gd name="T65" fmla="*/ 859 h 2099"/>
                <a:gd name="T66" fmla="*/ 405 w 1858"/>
                <a:gd name="T67" fmla="*/ 814 h 2099"/>
                <a:gd name="T68" fmla="*/ 442 w 1858"/>
                <a:gd name="T69" fmla="*/ 932 h 2099"/>
                <a:gd name="T70" fmla="*/ 552 w 1858"/>
                <a:gd name="T71" fmla="*/ 986 h 2099"/>
                <a:gd name="T72" fmla="*/ 675 w 1858"/>
                <a:gd name="T73" fmla="*/ 1092 h 2099"/>
                <a:gd name="T74" fmla="*/ 816 w 1858"/>
                <a:gd name="T75" fmla="*/ 1262 h 2099"/>
                <a:gd name="T76" fmla="*/ 810 w 1858"/>
                <a:gd name="T77" fmla="*/ 1406 h 2099"/>
                <a:gd name="T78" fmla="*/ 987 w 1858"/>
                <a:gd name="T79" fmla="*/ 1564 h 2099"/>
                <a:gd name="T80" fmla="*/ 1043 w 1858"/>
                <a:gd name="T81" fmla="*/ 1690 h 2099"/>
                <a:gd name="T82" fmla="*/ 969 w 1858"/>
                <a:gd name="T83" fmla="*/ 1810 h 2099"/>
                <a:gd name="T84" fmla="*/ 915 w 1858"/>
                <a:gd name="T85" fmla="*/ 1912 h 2099"/>
                <a:gd name="T86" fmla="*/ 1049 w 1858"/>
                <a:gd name="T87" fmla="*/ 1978 h 2099"/>
                <a:gd name="T88" fmla="*/ 1118 w 1858"/>
                <a:gd name="T89" fmla="*/ 2099 h 2099"/>
                <a:gd name="T90" fmla="*/ 1165 w 1858"/>
                <a:gd name="T91" fmla="*/ 1984 h 2099"/>
                <a:gd name="T92" fmla="*/ 1208 w 1858"/>
                <a:gd name="T93" fmla="*/ 1956 h 2099"/>
                <a:gd name="T94" fmla="*/ 1200 w 1858"/>
                <a:gd name="T95" fmla="*/ 1987 h 2099"/>
                <a:gd name="T96" fmla="*/ 1294 w 1858"/>
                <a:gd name="T97" fmla="*/ 1764 h 2099"/>
                <a:gd name="T98" fmla="*/ 1279 w 1858"/>
                <a:gd name="T99" fmla="*/ 1678 h 2099"/>
                <a:gd name="T100" fmla="*/ 1311 w 1858"/>
                <a:gd name="T101" fmla="*/ 1617 h 2099"/>
                <a:gd name="T102" fmla="*/ 1412 w 1858"/>
                <a:gd name="T103" fmla="*/ 1561 h 2099"/>
                <a:gd name="T104" fmla="*/ 1459 w 1858"/>
                <a:gd name="T105" fmla="*/ 1519 h 2099"/>
                <a:gd name="T106" fmla="*/ 1571 w 1858"/>
                <a:gd name="T107" fmla="*/ 1506 h 2099"/>
                <a:gd name="T108" fmla="*/ 1629 w 1858"/>
                <a:gd name="T109" fmla="*/ 1372 h 2099"/>
                <a:gd name="T110" fmla="*/ 1671 w 1858"/>
                <a:gd name="T111" fmla="*/ 1213 h 2099"/>
                <a:gd name="T112" fmla="*/ 1674 w 1858"/>
                <a:gd name="T113" fmla="*/ 972 h 2099"/>
                <a:gd name="T114" fmla="*/ 1782 w 1858"/>
                <a:gd name="T115" fmla="*/ 855 h 20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858" h="2099">
                  <a:moveTo>
                    <a:pt x="1146" y="299"/>
                  </a:moveTo>
                  <a:cubicBezTo>
                    <a:pt x="1140" y="298"/>
                    <a:pt x="1112" y="291"/>
                    <a:pt x="1102" y="293"/>
                  </a:cubicBezTo>
                  <a:cubicBezTo>
                    <a:pt x="1092" y="295"/>
                    <a:pt x="1103" y="318"/>
                    <a:pt x="1103" y="318"/>
                  </a:cubicBezTo>
                  <a:cubicBezTo>
                    <a:pt x="1092" y="320"/>
                    <a:pt x="1092" y="320"/>
                    <a:pt x="1092" y="320"/>
                  </a:cubicBezTo>
                  <a:cubicBezTo>
                    <a:pt x="1092" y="336"/>
                    <a:pt x="1092" y="336"/>
                    <a:pt x="1092" y="336"/>
                  </a:cubicBezTo>
                  <a:cubicBezTo>
                    <a:pt x="1106" y="342"/>
                    <a:pt x="1106" y="342"/>
                    <a:pt x="1106" y="342"/>
                  </a:cubicBezTo>
                  <a:cubicBezTo>
                    <a:pt x="1096" y="350"/>
                    <a:pt x="1096" y="350"/>
                    <a:pt x="1096" y="350"/>
                  </a:cubicBezTo>
                  <a:cubicBezTo>
                    <a:pt x="1096" y="350"/>
                    <a:pt x="1099" y="366"/>
                    <a:pt x="1105" y="376"/>
                  </a:cubicBezTo>
                  <a:cubicBezTo>
                    <a:pt x="1112" y="386"/>
                    <a:pt x="1132" y="380"/>
                    <a:pt x="1139" y="380"/>
                  </a:cubicBezTo>
                  <a:cubicBezTo>
                    <a:pt x="1145" y="380"/>
                    <a:pt x="1144" y="372"/>
                    <a:pt x="1144" y="372"/>
                  </a:cubicBezTo>
                  <a:cubicBezTo>
                    <a:pt x="1144" y="372"/>
                    <a:pt x="1157" y="368"/>
                    <a:pt x="1168" y="368"/>
                  </a:cubicBezTo>
                  <a:cubicBezTo>
                    <a:pt x="1179" y="368"/>
                    <a:pt x="1186" y="355"/>
                    <a:pt x="1186" y="355"/>
                  </a:cubicBezTo>
                  <a:cubicBezTo>
                    <a:pt x="1195" y="326"/>
                    <a:pt x="1195" y="326"/>
                    <a:pt x="1195" y="326"/>
                  </a:cubicBezTo>
                  <a:cubicBezTo>
                    <a:pt x="1195" y="326"/>
                    <a:pt x="1202" y="312"/>
                    <a:pt x="1201" y="299"/>
                  </a:cubicBezTo>
                  <a:cubicBezTo>
                    <a:pt x="1200" y="286"/>
                    <a:pt x="1180" y="291"/>
                    <a:pt x="1169" y="291"/>
                  </a:cubicBezTo>
                  <a:cubicBezTo>
                    <a:pt x="1169" y="291"/>
                    <a:pt x="1153" y="300"/>
                    <a:pt x="1146" y="299"/>
                  </a:cubicBezTo>
                  <a:close/>
                  <a:moveTo>
                    <a:pt x="1144" y="291"/>
                  </a:moveTo>
                  <a:cubicBezTo>
                    <a:pt x="1159" y="286"/>
                    <a:pt x="1159" y="286"/>
                    <a:pt x="1159" y="286"/>
                  </a:cubicBezTo>
                  <a:cubicBezTo>
                    <a:pt x="1147" y="275"/>
                    <a:pt x="1147" y="275"/>
                    <a:pt x="1147" y="275"/>
                  </a:cubicBezTo>
                  <a:cubicBezTo>
                    <a:pt x="1132" y="292"/>
                    <a:pt x="1132" y="292"/>
                    <a:pt x="1132" y="292"/>
                  </a:cubicBezTo>
                  <a:lnTo>
                    <a:pt x="1144" y="291"/>
                  </a:lnTo>
                  <a:close/>
                  <a:moveTo>
                    <a:pt x="1124" y="270"/>
                  </a:moveTo>
                  <a:cubicBezTo>
                    <a:pt x="1110" y="271"/>
                    <a:pt x="1110" y="271"/>
                    <a:pt x="1110" y="271"/>
                  </a:cubicBezTo>
                  <a:cubicBezTo>
                    <a:pt x="1109" y="282"/>
                    <a:pt x="1109" y="282"/>
                    <a:pt x="1109" y="282"/>
                  </a:cubicBezTo>
                  <a:cubicBezTo>
                    <a:pt x="1131" y="283"/>
                    <a:pt x="1131" y="283"/>
                    <a:pt x="1131" y="283"/>
                  </a:cubicBezTo>
                  <a:cubicBezTo>
                    <a:pt x="1143" y="266"/>
                    <a:pt x="1143" y="266"/>
                    <a:pt x="1143" y="266"/>
                  </a:cubicBezTo>
                  <a:cubicBezTo>
                    <a:pt x="1134" y="255"/>
                    <a:pt x="1134" y="255"/>
                    <a:pt x="1134" y="255"/>
                  </a:cubicBezTo>
                  <a:lnTo>
                    <a:pt x="1124" y="270"/>
                  </a:lnTo>
                  <a:close/>
                  <a:moveTo>
                    <a:pt x="1050" y="326"/>
                  </a:moveTo>
                  <a:cubicBezTo>
                    <a:pt x="1047" y="340"/>
                    <a:pt x="1047" y="340"/>
                    <a:pt x="1047" y="340"/>
                  </a:cubicBezTo>
                  <a:cubicBezTo>
                    <a:pt x="1037" y="363"/>
                    <a:pt x="1037" y="363"/>
                    <a:pt x="1037" y="363"/>
                  </a:cubicBezTo>
                  <a:cubicBezTo>
                    <a:pt x="1057" y="351"/>
                    <a:pt x="1057" y="351"/>
                    <a:pt x="1057" y="351"/>
                  </a:cubicBezTo>
                  <a:cubicBezTo>
                    <a:pt x="1057" y="351"/>
                    <a:pt x="1079" y="321"/>
                    <a:pt x="1071" y="316"/>
                  </a:cubicBezTo>
                  <a:cubicBezTo>
                    <a:pt x="1062" y="310"/>
                    <a:pt x="1050" y="326"/>
                    <a:pt x="1050" y="326"/>
                  </a:cubicBezTo>
                  <a:close/>
                  <a:moveTo>
                    <a:pt x="1087" y="283"/>
                  </a:moveTo>
                  <a:cubicBezTo>
                    <a:pt x="1074" y="299"/>
                    <a:pt x="1074" y="299"/>
                    <a:pt x="1074" y="299"/>
                  </a:cubicBezTo>
                  <a:cubicBezTo>
                    <a:pt x="1085" y="304"/>
                    <a:pt x="1085" y="304"/>
                    <a:pt x="1085" y="304"/>
                  </a:cubicBezTo>
                  <a:cubicBezTo>
                    <a:pt x="1096" y="287"/>
                    <a:pt x="1096" y="287"/>
                    <a:pt x="1096" y="287"/>
                  </a:cubicBezTo>
                  <a:lnTo>
                    <a:pt x="1087" y="283"/>
                  </a:lnTo>
                  <a:close/>
                  <a:moveTo>
                    <a:pt x="1855" y="667"/>
                  </a:moveTo>
                  <a:cubicBezTo>
                    <a:pt x="1855" y="650"/>
                    <a:pt x="1839" y="626"/>
                    <a:pt x="1838" y="615"/>
                  </a:cubicBezTo>
                  <a:cubicBezTo>
                    <a:pt x="1837" y="604"/>
                    <a:pt x="1837" y="592"/>
                    <a:pt x="1837" y="583"/>
                  </a:cubicBezTo>
                  <a:cubicBezTo>
                    <a:pt x="1837" y="574"/>
                    <a:pt x="1819" y="558"/>
                    <a:pt x="1819" y="558"/>
                  </a:cubicBezTo>
                  <a:cubicBezTo>
                    <a:pt x="1798" y="554"/>
                    <a:pt x="1798" y="554"/>
                    <a:pt x="1798" y="554"/>
                  </a:cubicBezTo>
                  <a:cubicBezTo>
                    <a:pt x="1764" y="559"/>
                    <a:pt x="1764" y="559"/>
                    <a:pt x="1764" y="559"/>
                  </a:cubicBezTo>
                  <a:cubicBezTo>
                    <a:pt x="1753" y="549"/>
                    <a:pt x="1753" y="549"/>
                    <a:pt x="1753" y="549"/>
                  </a:cubicBezTo>
                  <a:cubicBezTo>
                    <a:pt x="1740" y="548"/>
                    <a:pt x="1740" y="548"/>
                    <a:pt x="1740" y="548"/>
                  </a:cubicBezTo>
                  <a:cubicBezTo>
                    <a:pt x="1728" y="533"/>
                    <a:pt x="1728" y="533"/>
                    <a:pt x="1728" y="533"/>
                  </a:cubicBezTo>
                  <a:cubicBezTo>
                    <a:pt x="1713" y="532"/>
                    <a:pt x="1713" y="532"/>
                    <a:pt x="1713" y="532"/>
                  </a:cubicBezTo>
                  <a:cubicBezTo>
                    <a:pt x="1713" y="532"/>
                    <a:pt x="1695" y="512"/>
                    <a:pt x="1678" y="491"/>
                  </a:cubicBezTo>
                  <a:cubicBezTo>
                    <a:pt x="1661" y="470"/>
                    <a:pt x="1612" y="439"/>
                    <a:pt x="1596" y="438"/>
                  </a:cubicBezTo>
                  <a:cubicBezTo>
                    <a:pt x="1580" y="437"/>
                    <a:pt x="1547" y="439"/>
                    <a:pt x="1547" y="439"/>
                  </a:cubicBezTo>
                  <a:cubicBezTo>
                    <a:pt x="1547" y="449"/>
                    <a:pt x="1547" y="449"/>
                    <a:pt x="1547" y="449"/>
                  </a:cubicBezTo>
                  <a:cubicBezTo>
                    <a:pt x="1547" y="449"/>
                    <a:pt x="1532" y="439"/>
                    <a:pt x="1525" y="436"/>
                  </a:cubicBezTo>
                  <a:cubicBezTo>
                    <a:pt x="1518" y="433"/>
                    <a:pt x="1492" y="432"/>
                    <a:pt x="1492" y="432"/>
                  </a:cubicBezTo>
                  <a:cubicBezTo>
                    <a:pt x="1492" y="432"/>
                    <a:pt x="1464" y="415"/>
                    <a:pt x="1445" y="412"/>
                  </a:cubicBezTo>
                  <a:cubicBezTo>
                    <a:pt x="1426" y="409"/>
                    <a:pt x="1406" y="442"/>
                    <a:pt x="1406" y="442"/>
                  </a:cubicBezTo>
                  <a:cubicBezTo>
                    <a:pt x="1395" y="429"/>
                    <a:pt x="1395" y="429"/>
                    <a:pt x="1395" y="429"/>
                  </a:cubicBezTo>
                  <a:cubicBezTo>
                    <a:pt x="1395" y="451"/>
                    <a:pt x="1395" y="451"/>
                    <a:pt x="1395" y="451"/>
                  </a:cubicBezTo>
                  <a:cubicBezTo>
                    <a:pt x="1375" y="466"/>
                    <a:pt x="1375" y="466"/>
                    <a:pt x="1375" y="466"/>
                  </a:cubicBezTo>
                  <a:cubicBezTo>
                    <a:pt x="1386" y="422"/>
                    <a:pt x="1386" y="422"/>
                    <a:pt x="1386" y="422"/>
                  </a:cubicBezTo>
                  <a:cubicBezTo>
                    <a:pt x="1386" y="422"/>
                    <a:pt x="1404" y="412"/>
                    <a:pt x="1397" y="402"/>
                  </a:cubicBezTo>
                  <a:cubicBezTo>
                    <a:pt x="1390" y="392"/>
                    <a:pt x="1377" y="411"/>
                    <a:pt x="1377" y="411"/>
                  </a:cubicBezTo>
                  <a:cubicBezTo>
                    <a:pt x="1386" y="389"/>
                    <a:pt x="1386" y="389"/>
                    <a:pt x="1386" y="389"/>
                  </a:cubicBezTo>
                  <a:cubicBezTo>
                    <a:pt x="1386" y="389"/>
                    <a:pt x="1377" y="388"/>
                    <a:pt x="1378" y="381"/>
                  </a:cubicBezTo>
                  <a:cubicBezTo>
                    <a:pt x="1379" y="374"/>
                    <a:pt x="1358" y="365"/>
                    <a:pt x="1358" y="365"/>
                  </a:cubicBezTo>
                  <a:cubicBezTo>
                    <a:pt x="1350" y="377"/>
                    <a:pt x="1350" y="377"/>
                    <a:pt x="1350" y="377"/>
                  </a:cubicBezTo>
                  <a:cubicBezTo>
                    <a:pt x="1350" y="377"/>
                    <a:pt x="1337" y="360"/>
                    <a:pt x="1327" y="350"/>
                  </a:cubicBezTo>
                  <a:cubicBezTo>
                    <a:pt x="1317" y="340"/>
                    <a:pt x="1290" y="342"/>
                    <a:pt x="1286" y="338"/>
                  </a:cubicBezTo>
                  <a:cubicBezTo>
                    <a:pt x="1282" y="334"/>
                    <a:pt x="1258" y="316"/>
                    <a:pt x="1258" y="316"/>
                  </a:cubicBezTo>
                  <a:cubicBezTo>
                    <a:pt x="1252" y="324"/>
                    <a:pt x="1252" y="324"/>
                    <a:pt x="1252" y="324"/>
                  </a:cubicBezTo>
                  <a:cubicBezTo>
                    <a:pt x="1252" y="324"/>
                    <a:pt x="1231" y="323"/>
                    <a:pt x="1221" y="322"/>
                  </a:cubicBezTo>
                  <a:cubicBezTo>
                    <a:pt x="1211" y="321"/>
                    <a:pt x="1203" y="356"/>
                    <a:pt x="1203" y="356"/>
                  </a:cubicBezTo>
                  <a:cubicBezTo>
                    <a:pt x="1210" y="368"/>
                    <a:pt x="1210" y="368"/>
                    <a:pt x="1210" y="368"/>
                  </a:cubicBezTo>
                  <a:cubicBezTo>
                    <a:pt x="1210" y="368"/>
                    <a:pt x="1196" y="369"/>
                    <a:pt x="1188" y="369"/>
                  </a:cubicBezTo>
                  <a:cubicBezTo>
                    <a:pt x="1180" y="369"/>
                    <a:pt x="1168" y="391"/>
                    <a:pt x="1168" y="391"/>
                  </a:cubicBezTo>
                  <a:cubicBezTo>
                    <a:pt x="1168" y="391"/>
                    <a:pt x="1161" y="424"/>
                    <a:pt x="1154" y="423"/>
                  </a:cubicBezTo>
                  <a:cubicBezTo>
                    <a:pt x="1147" y="422"/>
                    <a:pt x="1163" y="397"/>
                    <a:pt x="1160" y="386"/>
                  </a:cubicBezTo>
                  <a:cubicBezTo>
                    <a:pt x="1157" y="375"/>
                    <a:pt x="1137" y="396"/>
                    <a:pt x="1137" y="396"/>
                  </a:cubicBezTo>
                  <a:cubicBezTo>
                    <a:pt x="1130" y="390"/>
                    <a:pt x="1130" y="390"/>
                    <a:pt x="1130" y="390"/>
                  </a:cubicBezTo>
                  <a:cubicBezTo>
                    <a:pt x="1130" y="390"/>
                    <a:pt x="1109" y="395"/>
                    <a:pt x="1098" y="388"/>
                  </a:cubicBezTo>
                  <a:cubicBezTo>
                    <a:pt x="1087" y="381"/>
                    <a:pt x="1089" y="371"/>
                    <a:pt x="1089" y="358"/>
                  </a:cubicBezTo>
                  <a:cubicBezTo>
                    <a:pt x="1089" y="345"/>
                    <a:pt x="1084" y="337"/>
                    <a:pt x="1084" y="337"/>
                  </a:cubicBezTo>
                  <a:cubicBezTo>
                    <a:pt x="1077" y="330"/>
                    <a:pt x="1062" y="356"/>
                    <a:pt x="1062" y="356"/>
                  </a:cubicBezTo>
                  <a:cubicBezTo>
                    <a:pt x="1062" y="356"/>
                    <a:pt x="1041" y="371"/>
                    <a:pt x="1029" y="373"/>
                  </a:cubicBezTo>
                  <a:cubicBezTo>
                    <a:pt x="1017" y="375"/>
                    <a:pt x="1003" y="368"/>
                    <a:pt x="1003" y="368"/>
                  </a:cubicBezTo>
                  <a:cubicBezTo>
                    <a:pt x="1029" y="360"/>
                    <a:pt x="1029" y="360"/>
                    <a:pt x="1029" y="360"/>
                  </a:cubicBezTo>
                  <a:cubicBezTo>
                    <a:pt x="1029" y="360"/>
                    <a:pt x="1039" y="348"/>
                    <a:pt x="1042" y="343"/>
                  </a:cubicBezTo>
                  <a:cubicBezTo>
                    <a:pt x="1045" y="338"/>
                    <a:pt x="1044" y="326"/>
                    <a:pt x="1044" y="326"/>
                  </a:cubicBezTo>
                  <a:cubicBezTo>
                    <a:pt x="1044" y="326"/>
                    <a:pt x="1053" y="320"/>
                    <a:pt x="1057" y="308"/>
                  </a:cubicBezTo>
                  <a:cubicBezTo>
                    <a:pt x="1061" y="296"/>
                    <a:pt x="1085" y="277"/>
                    <a:pt x="1095" y="270"/>
                  </a:cubicBezTo>
                  <a:cubicBezTo>
                    <a:pt x="1105" y="263"/>
                    <a:pt x="1107" y="254"/>
                    <a:pt x="1111" y="245"/>
                  </a:cubicBezTo>
                  <a:cubicBezTo>
                    <a:pt x="1115" y="236"/>
                    <a:pt x="1136" y="223"/>
                    <a:pt x="1136" y="223"/>
                  </a:cubicBezTo>
                  <a:cubicBezTo>
                    <a:pt x="1123" y="221"/>
                    <a:pt x="1123" y="221"/>
                    <a:pt x="1123" y="221"/>
                  </a:cubicBezTo>
                  <a:cubicBezTo>
                    <a:pt x="1123" y="221"/>
                    <a:pt x="1135" y="215"/>
                    <a:pt x="1135" y="199"/>
                  </a:cubicBezTo>
                  <a:cubicBezTo>
                    <a:pt x="1135" y="183"/>
                    <a:pt x="1108" y="192"/>
                    <a:pt x="1098" y="181"/>
                  </a:cubicBezTo>
                  <a:cubicBezTo>
                    <a:pt x="1088" y="170"/>
                    <a:pt x="1088" y="147"/>
                    <a:pt x="1084" y="110"/>
                  </a:cubicBezTo>
                  <a:cubicBezTo>
                    <a:pt x="1080" y="73"/>
                    <a:pt x="1072" y="55"/>
                    <a:pt x="1063" y="52"/>
                  </a:cubicBezTo>
                  <a:cubicBezTo>
                    <a:pt x="1054" y="49"/>
                    <a:pt x="1060" y="68"/>
                    <a:pt x="1060" y="72"/>
                  </a:cubicBezTo>
                  <a:cubicBezTo>
                    <a:pt x="1060" y="76"/>
                    <a:pt x="1050" y="71"/>
                    <a:pt x="1048" y="66"/>
                  </a:cubicBezTo>
                  <a:cubicBezTo>
                    <a:pt x="1048" y="66"/>
                    <a:pt x="1043" y="83"/>
                    <a:pt x="1036" y="89"/>
                  </a:cubicBezTo>
                  <a:cubicBezTo>
                    <a:pt x="1029" y="95"/>
                    <a:pt x="1020" y="110"/>
                    <a:pt x="1017" y="120"/>
                  </a:cubicBezTo>
                  <a:cubicBezTo>
                    <a:pt x="1014" y="130"/>
                    <a:pt x="1013" y="149"/>
                    <a:pt x="996" y="163"/>
                  </a:cubicBezTo>
                  <a:cubicBezTo>
                    <a:pt x="996" y="163"/>
                    <a:pt x="981" y="169"/>
                    <a:pt x="975" y="169"/>
                  </a:cubicBezTo>
                  <a:cubicBezTo>
                    <a:pt x="975" y="168"/>
                    <a:pt x="971" y="160"/>
                    <a:pt x="971" y="160"/>
                  </a:cubicBezTo>
                  <a:cubicBezTo>
                    <a:pt x="967" y="165"/>
                    <a:pt x="967" y="165"/>
                    <a:pt x="967" y="165"/>
                  </a:cubicBezTo>
                  <a:cubicBezTo>
                    <a:pt x="957" y="163"/>
                    <a:pt x="957" y="163"/>
                    <a:pt x="957" y="163"/>
                  </a:cubicBezTo>
                  <a:cubicBezTo>
                    <a:pt x="957" y="163"/>
                    <a:pt x="953" y="155"/>
                    <a:pt x="947" y="161"/>
                  </a:cubicBezTo>
                  <a:cubicBezTo>
                    <a:pt x="941" y="167"/>
                    <a:pt x="943" y="173"/>
                    <a:pt x="929" y="172"/>
                  </a:cubicBezTo>
                  <a:cubicBezTo>
                    <a:pt x="915" y="171"/>
                    <a:pt x="913" y="161"/>
                    <a:pt x="913" y="161"/>
                  </a:cubicBezTo>
                  <a:cubicBezTo>
                    <a:pt x="900" y="155"/>
                    <a:pt x="900" y="155"/>
                    <a:pt x="900" y="155"/>
                  </a:cubicBezTo>
                  <a:cubicBezTo>
                    <a:pt x="900" y="155"/>
                    <a:pt x="896" y="144"/>
                    <a:pt x="888" y="145"/>
                  </a:cubicBezTo>
                  <a:cubicBezTo>
                    <a:pt x="880" y="146"/>
                    <a:pt x="871" y="157"/>
                    <a:pt x="871" y="157"/>
                  </a:cubicBezTo>
                  <a:cubicBezTo>
                    <a:pt x="853" y="157"/>
                    <a:pt x="853" y="157"/>
                    <a:pt x="853" y="157"/>
                  </a:cubicBezTo>
                  <a:cubicBezTo>
                    <a:pt x="853" y="157"/>
                    <a:pt x="854" y="148"/>
                    <a:pt x="848" y="149"/>
                  </a:cubicBezTo>
                  <a:cubicBezTo>
                    <a:pt x="842" y="150"/>
                    <a:pt x="838" y="160"/>
                    <a:pt x="841" y="166"/>
                  </a:cubicBezTo>
                  <a:cubicBezTo>
                    <a:pt x="844" y="172"/>
                    <a:pt x="858" y="182"/>
                    <a:pt x="849" y="186"/>
                  </a:cubicBezTo>
                  <a:cubicBezTo>
                    <a:pt x="840" y="190"/>
                    <a:pt x="811" y="174"/>
                    <a:pt x="811" y="174"/>
                  </a:cubicBezTo>
                  <a:cubicBezTo>
                    <a:pt x="811" y="174"/>
                    <a:pt x="815" y="181"/>
                    <a:pt x="807" y="183"/>
                  </a:cubicBezTo>
                  <a:cubicBezTo>
                    <a:pt x="799" y="185"/>
                    <a:pt x="797" y="174"/>
                    <a:pt x="787" y="175"/>
                  </a:cubicBezTo>
                  <a:cubicBezTo>
                    <a:pt x="777" y="176"/>
                    <a:pt x="773" y="192"/>
                    <a:pt x="773" y="192"/>
                  </a:cubicBezTo>
                  <a:cubicBezTo>
                    <a:pt x="752" y="193"/>
                    <a:pt x="752" y="193"/>
                    <a:pt x="752" y="193"/>
                  </a:cubicBezTo>
                  <a:cubicBezTo>
                    <a:pt x="751" y="201"/>
                    <a:pt x="751" y="201"/>
                    <a:pt x="751" y="201"/>
                  </a:cubicBezTo>
                  <a:cubicBezTo>
                    <a:pt x="751" y="201"/>
                    <a:pt x="739" y="198"/>
                    <a:pt x="733" y="202"/>
                  </a:cubicBezTo>
                  <a:cubicBezTo>
                    <a:pt x="727" y="206"/>
                    <a:pt x="732" y="219"/>
                    <a:pt x="722" y="220"/>
                  </a:cubicBezTo>
                  <a:cubicBezTo>
                    <a:pt x="712" y="221"/>
                    <a:pt x="702" y="221"/>
                    <a:pt x="702" y="221"/>
                  </a:cubicBezTo>
                  <a:cubicBezTo>
                    <a:pt x="698" y="210"/>
                    <a:pt x="698" y="210"/>
                    <a:pt x="698" y="210"/>
                  </a:cubicBezTo>
                  <a:cubicBezTo>
                    <a:pt x="689" y="210"/>
                    <a:pt x="689" y="210"/>
                    <a:pt x="689" y="210"/>
                  </a:cubicBezTo>
                  <a:cubicBezTo>
                    <a:pt x="668" y="186"/>
                    <a:pt x="668" y="186"/>
                    <a:pt x="668" y="186"/>
                  </a:cubicBezTo>
                  <a:cubicBezTo>
                    <a:pt x="668" y="186"/>
                    <a:pt x="668" y="174"/>
                    <a:pt x="668" y="166"/>
                  </a:cubicBezTo>
                  <a:cubicBezTo>
                    <a:pt x="668" y="158"/>
                    <a:pt x="651" y="155"/>
                    <a:pt x="651" y="145"/>
                  </a:cubicBezTo>
                  <a:cubicBezTo>
                    <a:pt x="651" y="135"/>
                    <a:pt x="659" y="119"/>
                    <a:pt x="659" y="119"/>
                  </a:cubicBezTo>
                  <a:cubicBezTo>
                    <a:pt x="664" y="91"/>
                    <a:pt x="664" y="91"/>
                    <a:pt x="664" y="91"/>
                  </a:cubicBezTo>
                  <a:cubicBezTo>
                    <a:pt x="664" y="91"/>
                    <a:pt x="677" y="79"/>
                    <a:pt x="678" y="73"/>
                  </a:cubicBezTo>
                  <a:cubicBezTo>
                    <a:pt x="679" y="67"/>
                    <a:pt x="670" y="63"/>
                    <a:pt x="670" y="63"/>
                  </a:cubicBezTo>
                  <a:cubicBezTo>
                    <a:pt x="671" y="44"/>
                    <a:pt x="671" y="44"/>
                    <a:pt x="671" y="44"/>
                  </a:cubicBezTo>
                  <a:cubicBezTo>
                    <a:pt x="671" y="44"/>
                    <a:pt x="649" y="50"/>
                    <a:pt x="649" y="41"/>
                  </a:cubicBezTo>
                  <a:cubicBezTo>
                    <a:pt x="649" y="41"/>
                    <a:pt x="661" y="29"/>
                    <a:pt x="658" y="15"/>
                  </a:cubicBezTo>
                  <a:cubicBezTo>
                    <a:pt x="655" y="1"/>
                    <a:pt x="646" y="0"/>
                    <a:pt x="646" y="0"/>
                  </a:cubicBezTo>
                  <a:cubicBezTo>
                    <a:pt x="641" y="7"/>
                    <a:pt x="641" y="7"/>
                    <a:pt x="641" y="7"/>
                  </a:cubicBezTo>
                  <a:cubicBezTo>
                    <a:pt x="625" y="5"/>
                    <a:pt x="625" y="5"/>
                    <a:pt x="625" y="5"/>
                  </a:cubicBezTo>
                  <a:cubicBezTo>
                    <a:pt x="625" y="5"/>
                    <a:pt x="631" y="19"/>
                    <a:pt x="627" y="26"/>
                  </a:cubicBezTo>
                  <a:cubicBezTo>
                    <a:pt x="623" y="33"/>
                    <a:pt x="612" y="31"/>
                    <a:pt x="612" y="31"/>
                  </a:cubicBezTo>
                  <a:cubicBezTo>
                    <a:pt x="614" y="41"/>
                    <a:pt x="614" y="41"/>
                    <a:pt x="614" y="41"/>
                  </a:cubicBezTo>
                  <a:cubicBezTo>
                    <a:pt x="596" y="40"/>
                    <a:pt x="596" y="40"/>
                    <a:pt x="596" y="40"/>
                  </a:cubicBezTo>
                  <a:cubicBezTo>
                    <a:pt x="596" y="40"/>
                    <a:pt x="584" y="45"/>
                    <a:pt x="582" y="51"/>
                  </a:cubicBezTo>
                  <a:cubicBezTo>
                    <a:pt x="580" y="57"/>
                    <a:pt x="566" y="64"/>
                    <a:pt x="559" y="64"/>
                  </a:cubicBezTo>
                  <a:cubicBezTo>
                    <a:pt x="552" y="64"/>
                    <a:pt x="546" y="56"/>
                    <a:pt x="538" y="59"/>
                  </a:cubicBezTo>
                  <a:cubicBezTo>
                    <a:pt x="530" y="62"/>
                    <a:pt x="533" y="96"/>
                    <a:pt x="524" y="96"/>
                  </a:cubicBezTo>
                  <a:cubicBezTo>
                    <a:pt x="515" y="96"/>
                    <a:pt x="504" y="77"/>
                    <a:pt x="500" y="73"/>
                  </a:cubicBezTo>
                  <a:cubicBezTo>
                    <a:pt x="496" y="69"/>
                    <a:pt x="491" y="77"/>
                    <a:pt x="491" y="77"/>
                  </a:cubicBezTo>
                  <a:cubicBezTo>
                    <a:pt x="481" y="71"/>
                    <a:pt x="481" y="71"/>
                    <a:pt x="481" y="71"/>
                  </a:cubicBezTo>
                  <a:cubicBezTo>
                    <a:pt x="481" y="71"/>
                    <a:pt x="469" y="79"/>
                    <a:pt x="467" y="76"/>
                  </a:cubicBezTo>
                  <a:cubicBezTo>
                    <a:pt x="465" y="73"/>
                    <a:pt x="471" y="64"/>
                    <a:pt x="460" y="60"/>
                  </a:cubicBezTo>
                  <a:cubicBezTo>
                    <a:pt x="449" y="56"/>
                    <a:pt x="440" y="64"/>
                    <a:pt x="437" y="61"/>
                  </a:cubicBezTo>
                  <a:cubicBezTo>
                    <a:pt x="434" y="58"/>
                    <a:pt x="431" y="52"/>
                    <a:pt x="431" y="52"/>
                  </a:cubicBezTo>
                  <a:cubicBezTo>
                    <a:pt x="431" y="52"/>
                    <a:pt x="421" y="71"/>
                    <a:pt x="443" y="82"/>
                  </a:cubicBezTo>
                  <a:cubicBezTo>
                    <a:pt x="465" y="93"/>
                    <a:pt x="450" y="117"/>
                    <a:pt x="450" y="117"/>
                  </a:cubicBezTo>
                  <a:cubicBezTo>
                    <a:pt x="450" y="117"/>
                    <a:pt x="463" y="128"/>
                    <a:pt x="463" y="135"/>
                  </a:cubicBezTo>
                  <a:cubicBezTo>
                    <a:pt x="463" y="142"/>
                    <a:pt x="463" y="151"/>
                    <a:pt x="463" y="151"/>
                  </a:cubicBezTo>
                  <a:cubicBezTo>
                    <a:pt x="493" y="154"/>
                    <a:pt x="493" y="154"/>
                    <a:pt x="493" y="154"/>
                  </a:cubicBezTo>
                  <a:cubicBezTo>
                    <a:pt x="493" y="154"/>
                    <a:pt x="500" y="168"/>
                    <a:pt x="488" y="174"/>
                  </a:cubicBezTo>
                  <a:cubicBezTo>
                    <a:pt x="476" y="180"/>
                    <a:pt x="463" y="177"/>
                    <a:pt x="463" y="177"/>
                  </a:cubicBezTo>
                  <a:cubicBezTo>
                    <a:pt x="463" y="177"/>
                    <a:pt x="464" y="202"/>
                    <a:pt x="451" y="206"/>
                  </a:cubicBezTo>
                  <a:cubicBezTo>
                    <a:pt x="438" y="210"/>
                    <a:pt x="433" y="214"/>
                    <a:pt x="433" y="214"/>
                  </a:cubicBezTo>
                  <a:cubicBezTo>
                    <a:pt x="431" y="220"/>
                    <a:pt x="431" y="220"/>
                    <a:pt x="431" y="220"/>
                  </a:cubicBezTo>
                  <a:cubicBezTo>
                    <a:pt x="431" y="220"/>
                    <a:pt x="419" y="218"/>
                    <a:pt x="413" y="222"/>
                  </a:cubicBezTo>
                  <a:cubicBezTo>
                    <a:pt x="407" y="226"/>
                    <a:pt x="401" y="251"/>
                    <a:pt x="393" y="251"/>
                  </a:cubicBezTo>
                  <a:cubicBezTo>
                    <a:pt x="385" y="251"/>
                    <a:pt x="396" y="234"/>
                    <a:pt x="387" y="232"/>
                  </a:cubicBezTo>
                  <a:cubicBezTo>
                    <a:pt x="378" y="230"/>
                    <a:pt x="367" y="252"/>
                    <a:pt x="357" y="246"/>
                  </a:cubicBezTo>
                  <a:cubicBezTo>
                    <a:pt x="357" y="246"/>
                    <a:pt x="345" y="244"/>
                    <a:pt x="341" y="239"/>
                  </a:cubicBezTo>
                  <a:cubicBezTo>
                    <a:pt x="337" y="234"/>
                    <a:pt x="330" y="221"/>
                    <a:pt x="330" y="221"/>
                  </a:cubicBezTo>
                  <a:cubicBezTo>
                    <a:pt x="313" y="221"/>
                    <a:pt x="313" y="221"/>
                    <a:pt x="313" y="221"/>
                  </a:cubicBezTo>
                  <a:cubicBezTo>
                    <a:pt x="313" y="221"/>
                    <a:pt x="313" y="193"/>
                    <a:pt x="311" y="187"/>
                  </a:cubicBezTo>
                  <a:cubicBezTo>
                    <a:pt x="309" y="181"/>
                    <a:pt x="306" y="180"/>
                    <a:pt x="306" y="180"/>
                  </a:cubicBezTo>
                  <a:cubicBezTo>
                    <a:pt x="306" y="180"/>
                    <a:pt x="311" y="173"/>
                    <a:pt x="304" y="170"/>
                  </a:cubicBezTo>
                  <a:cubicBezTo>
                    <a:pt x="297" y="167"/>
                    <a:pt x="288" y="190"/>
                    <a:pt x="282" y="191"/>
                  </a:cubicBezTo>
                  <a:cubicBezTo>
                    <a:pt x="276" y="192"/>
                    <a:pt x="271" y="176"/>
                    <a:pt x="265" y="176"/>
                  </a:cubicBezTo>
                  <a:cubicBezTo>
                    <a:pt x="259" y="176"/>
                    <a:pt x="259" y="193"/>
                    <a:pt x="259" y="193"/>
                  </a:cubicBezTo>
                  <a:cubicBezTo>
                    <a:pt x="215" y="197"/>
                    <a:pt x="215" y="197"/>
                    <a:pt x="215" y="197"/>
                  </a:cubicBezTo>
                  <a:cubicBezTo>
                    <a:pt x="215" y="197"/>
                    <a:pt x="201" y="184"/>
                    <a:pt x="192" y="189"/>
                  </a:cubicBezTo>
                  <a:cubicBezTo>
                    <a:pt x="183" y="194"/>
                    <a:pt x="191" y="223"/>
                    <a:pt x="191" y="223"/>
                  </a:cubicBezTo>
                  <a:cubicBezTo>
                    <a:pt x="207" y="230"/>
                    <a:pt x="207" y="230"/>
                    <a:pt x="207" y="230"/>
                  </a:cubicBezTo>
                  <a:cubicBezTo>
                    <a:pt x="214" y="228"/>
                    <a:pt x="214" y="228"/>
                    <a:pt x="214" y="228"/>
                  </a:cubicBezTo>
                  <a:cubicBezTo>
                    <a:pt x="214" y="228"/>
                    <a:pt x="233" y="248"/>
                    <a:pt x="220" y="250"/>
                  </a:cubicBezTo>
                  <a:cubicBezTo>
                    <a:pt x="207" y="252"/>
                    <a:pt x="198" y="248"/>
                    <a:pt x="198" y="248"/>
                  </a:cubicBezTo>
                  <a:cubicBezTo>
                    <a:pt x="176" y="253"/>
                    <a:pt x="176" y="253"/>
                    <a:pt x="176" y="253"/>
                  </a:cubicBezTo>
                  <a:cubicBezTo>
                    <a:pt x="174" y="295"/>
                    <a:pt x="174" y="295"/>
                    <a:pt x="174" y="295"/>
                  </a:cubicBezTo>
                  <a:cubicBezTo>
                    <a:pt x="174" y="295"/>
                    <a:pt x="195" y="304"/>
                    <a:pt x="197" y="313"/>
                  </a:cubicBezTo>
                  <a:cubicBezTo>
                    <a:pt x="199" y="322"/>
                    <a:pt x="200" y="334"/>
                    <a:pt x="200" y="334"/>
                  </a:cubicBezTo>
                  <a:cubicBezTo>
                    <a:pt x="200" y="334"/>
                    <a:pt x="214" y="349"/>
                    <a:pt x="213" y="356"/>
                  </a:cubicBezTo>
                  <a:cubicBezTo>
                    <a:pt x="212" y="363"/>
                    <a:pt x="202" y="374"/>
                    <a:pt x="202" y="374"/>
                  </a:cubicBezTo>
                  <a:cubicBezTo>
                    <a:pt x="204" y="408"/>
                    <a:pt x="204" y="408"/>
                    <a:pt x="204" y="408"/>
                  </a:cubicBezTo>
                  <a:cubicBezTo>
                    <a:pt x="193" y="438"/>
                    <a:pt x="193" y="438"/>
                    <a:pt x="193" y="438"/>
                  </a:cubicBezTo>
                  <a:cubicBezTo>
                    <a:pt x="191" y="488"/>
                    <a:pt x="191" y="488"/>
                    <a:pt x="191" y="488"/>
                  </a:cubicBezTo>
                  <a:cubicBezTo>
                    <a:pt x="191" y="488"/>
                    <a:pt x="188" y="515"/>
                    <a:pt x="183" y="518"/>
                  </a:cubicBezTo>
                  <a:cubicBezTo>
                    <a:pt x="178" y="521"/>
                    <a:pt x="171" y="518"/>
                    <a:pt x="171" y="518"/>
                  </a:cubicBezTo>
                  <a:cubicBezTo>
                    <a:pt x="171" y="518"/>
                    <a:pt x="167" y="505"/>
                    <a:pt x="157" y="506"/>
                  </a:cubicBezTo>
                  <a:cubicBezTo>
                    <a:pt x="147" y="507"/>
                    <a:pt x="136" y="522"/>
                    <a:pt x="136" y="522"/>
                  </a:cubicBezTo>
                  <a:cubicBezTo>
                    <a:pt x="117" y="519"/>
                    <a:pt x="117" y="519"/>
                    <a:pt x="117" y="519"/>
                  </a:cubicBezTo>
                  <a:cubicBezTo>
                    <a:pt x="115" y="526"/>
                    <a:pt x="115" y="526"/>
                    <a:pt x="115" y="526"/>
                  </a:cubicBezTo>
                  <a:cubicBezTo>
                    <a:pt x="94" y="526"/>
                    <a:pt x="94" y="526"/>
                    <a:pt x="94" y="526"/>
                  </a:cubicBezTo>
                  <a:cubicBezTo>
                    <a:pt x="94" y="526"/>
                    <a:pt x="68" y="543"/>
                    <a:pt x="66" y="547"/>
                  </a:cubicBezTo>
                  <a:cubicBezTo>
                    <a:pt x="64" y="551"/>
                    <a:pt x="63" y="559"/>
                    <a:pt x="63" y="559"/>
                  </a:cubicBezTo>
                  <a:cubicBezTo>
                    <a:pt x="47" y="559"/>
                    <a:pt x="47" y="559"/>
                    <a:pt x="47" y="559"/>
                  </a:cubicBezTo>
                  <a:cubicBezTo>
                    <a:pt x="46" y="597"/>
                    <a:pt x="46" y="597"/>
                    <a:pt x="46" y="597"/>
                  </a:cubicBezTo>
                  <a:cubicBezTo>
                    <a:pt x="46" y="597"/>
                    <a:pt x="31" y="606"/>
                    <a:pt x="33" y="613"/>
                  </a:cubicBezTo>
                  <a:cubicBezTo>
                    <a:pt x="35" y="620"/>
                    <a:pt x="45" y="645"/>
                    <a:pt x="39" y="636"/>
                  </a:cubicBezTo>
                  <a:cubicBezTo>
                    <a:pt x="33" y="627"/>
                    <a:pt x="20" y="644"/>
                    <a:pt x="12" y="652"/>
                  </a:cubicBezTo>
                  <a:cubicBezTo>
                    <a:pt x="4" y="660"/>
                    <a:pt x="9" y="674"/>
                    <a:pt x="9" y="674"/>
                  </a:cubicBezTo>
                  <a:cubicBezTo>
                    <a:pt x="15" y="678"/>
                    <a:pt x="15" y="678"/>
                    <a:pt x="15" y="678"/>
                  </a:cubicBezTo>
                  <a:cubicBezTo>
                    <a:pt x="15" y="678"/>
                    <a:pt x="0" y="686"/>
                    <a:pt x="0" y="691"/>
                  </a:cubicBezTo>
                  <a:cubicBezTo>
                    <a:pt x="0" y="696"/>
                    <a:pt x="15" y="702"/>
                    <a:pt x="15" y="702"/>
                  </a:cubicBezTo>
                  <a:cubicBezTo>
                    <a:pt x="17" y="720"/>
                    <a:pt x="17" y="720"/>
                    <a:pt x="17" y="720"/>
                  </a:cubicBezTo>
                  <a:cubicBezTo>
                    <a:pt x="17" y="720"/>
                    <a:pt x="30" y="741"/>
                    <a:pt x="35" y="747"/>
                  </a:cubicBezTo>
                  <a:cubicBezTo>
                    <a:pt x="40" y="753"/>
                    <a:pt x="62" y="768"/>
                    <a:pt x="60" y="773"/>
                  </a:cubicBezTo>
                  <a:cubicBezTo>
                    <a:pt x="58" y="778"/>
                    <a:pt x="43" y="791"/>
                    <a:pt x="43" y="791"/>
                  </a:cubicBezTo>
                  <a:cubicBezTo>
                    <a:pt x="43" y="791"/>
                    <a:pt x="79" y="790"/>
                    <a:pt x="82" y="797"/>
                  </a:cubicBezTo>
                  <a:cubicBezTo>
                    <a:pt x="85" y="804"/>
                    <a:pt x="93" y="823"/>
                    <a:pt x="93" y="823"/>
                  </a:cubicBezTo>
                  <a:cubicBezTo>
                    <a:pt x="135" y="819"/>
                    <a:pt x="135" y="819"/>
                    <a:pt x="135" y="819"/>
                  </a:cubicBezTo>
                  <a:cubicBezTo>
                    <a:pt x="169" y="789"/>
                    <a:pt x="169" y="789"/>
                    <a:pt x="169" y="789"/>
                  </a:cubicBezTo>
                  <a:cubicBezTo>
                    <a:pt x="169" y="789"/>
                    <a:pt x="174" y="812"/>
                    <a:pt x="172" y="816"/>
                  </a:cubicBezTo>
                  <a:cubicBezTo>
                    <a:pt x="170" y="820"/>
                    <a:pt x="165" y="834"/>
                    <a:pt x="167" y="844"/>
                  </a:cubicBezTo>
                  <a:cubicBezTo>
                    <a:pt x="169" y="854"/>
                    <a:pt x="170" y="874"/>
                    <a:pt x="170" y="874"/>
                  </a:cubicBezTo>
                  <a:cubicBezTo>
                    <a:pt x="177" y="873"/>
                    <a:pt x="177" y="873"/>
                    <a:pt x="177" y="873"/>
                  </a:cubicBezTo>
                  <a:cubicBezTo>
                    <a:pt x="177" y="873"/>
                    <a:pt x="177" y="881"/>
                    <a:pt x="185" y="881"/>
                  </a:cubicBezTo>
                  <a:cubicBezTo>
                    <a:pt x="193" y="881"/>
                    <a:pt x="189" y="872"/>
                    <a:pt x="200" y="872"/>
                  </a:cubicBezTo>
                  <a:cubicBezTo>
                    <a:pt x="211" y="872"/>
                    <a:pt x="246" y="875"/>
                    <a:pt x="246" y="875"/>
                  </a:cubicBezTo>
                  <a:cubicBezTo>
                    <a:pt x="246" y="875"/>
                    <a:pt x="249" y="886"/>
                    <a:pt x="262" y="883"/>
                  </a:cubicBezTo>
                  <a:cubicBezTo>
                    <a:pt x="275" y="880"/>
                    <a:pt x="283" y="871"/>
                    <a:pt x="283" y="871"/>
                  </a:cubicBezTo>
                  <a:cubicBezTo>
                    <a:pt x="288" y="859"/>
                    <a:pt x="288" y="859"/>
                    <a:pt x="288" y="859"/>
                  </a:cubicBezTo>
                  <a:cubicBezTo>
                    <a:pt x="312" y="858"/>
                    <a:pt x="312" y="858"/>
                    <a:pt x="312" y="858"/>
                  </a:cubicBezTo>
                  <a:cubicBezTo>
                    <a:pt x="316" y="840"/>
                    <a:pt x="316" y="840"/>
                    <a:pt x="316" y="840"/>
                  </a:cubicBezTo>
                  <a:cubicBezTo>
                    <a:pt x="340" y="841"/>
                    <a:pt x="340" y="841"/>
                    <a:pt x="340" y="841"/>
                  </a:cubicBezTo>
                  <a:cubicBezTo>
                    <a:pt x="340" y="841"/>
                    <a:pt x="350" y="815"/>
                    <a:pt x="363" y="815"/>
                  </a:cubicBezTo>
                  <a:cubicBezTo>
                    <a:pt x="376" y="815"/>
                    <a:pt x="386" y="816"/>
                    <a:pt x="386" y="816"/>
                  </a:cubicBezTo>
                  <a:cubicBezTo>
                    <a:pt x="395" y="808"/>
                    <a:pt x="395" y="808"/>
                    <a:pt x="395" y="808"/>
                  </a:cubicBezTo>
                  <a:cubicBezTo>
                    <a:pt x="395" y="808"/>
                    <a:pt x="404" y="818"/>
                    <a:pt x="405" y="814"/>
                  </a:cubicBezTo>
                  <a:cubicBezTo>
                    <a:pt x="406" y="810"/>
                    <a:pt x="419" y="802"/>
                    <a:pt x="423" y="806"/>
                  </a:cubicBezTo>
                  <a:cubicBezTo>
                    <a:pt x="427" y="810"/>
                    <a:pt x="419" y="837"/>
                    <a:pt x="419" y="837"/>
                  </a:cubicBezTo>
                  <a:cubicBezTo>
                    <a:pt x="419" y="837"/>
                    <a:pt x="411" y="850"/>
                    <a:pt x="412" y="854"/>
                  </a:cubicBezTo>
                  <a:cubicBezTo>
                    <a:pt x="413" y="858"/>
                    <a:pt x="422" y="866"/>
                    <a:pt x="422" y="875"/>
                  </a:cubicBezTo>
                  <a:cubicBezTo>
                    <a:pt x="422" y="884"/>
                    <a:pt x="415" y="890"/>
                    <a:pt x="422" y="899"/>
                  </a:cubicBezTo>
                  <a:cubicBezTo>
                    <a:pt x="429" y="908"/>
                    <a:pt x="436" y="912"/>
                    <a:pt x="436" y="912"/>
                  </a:cubicBezTo>
                  <a:cubicBezTo>
                    <a:pt x="442" y="932"/>
                    <a:pt x="442" y="932"/>
                    <a:pt x="442" y="932"/>
                  </a:cubicBezTo>
                  <a:cubicBezTo>
                    <a:pt x="442" y="932"/>
                    <a:pt x="458" y="930"/>
                    <a:pt x="461" y="935"/>
                  </a:cubicBezTo>
                  <a:cubicBezTo>
                    <a:pt x="464" y="940"/>
                    <a:pt x="460" y="951"/>
                    <a:pt x="470" y="955"/>
                  </a:cubicBezTo>
                  <a:cubicBezTo>
                    <a:pt x="480" y="959"/>
                    <a:pt x="484" y="959"/>
                    <a:pt x="488" y="960"/>
                  </a:cubicBezTo>
                  <a:cubicBezTo>
                    <a:pt x="492" y="961"/>
                    <a:pt x="502" y="954"/>
                    <a:pt x="502" y="954"/>
                  </a:cubicBezTo>
                  <a:cubicBezTo>
                    <a:pt x="502" y="954"/>
                    <a:pt x="508" y="968"/>
                    <a:pt x="516" y="968"/>
                  </a:cubicBezTo>
                  <a:cubicBezTo>
                    <a:pt x="524" y="968"/>
                    <a:pt x="531" y="961"/>
                    <a:pt x="532" y="965"/>
                  </a:cubicBezTo>
                  <a:cubicBezTo>
                    <a:pt x="533" y="969"/>
                    <a:pt x="541" y="981"/>
                    <a:pt x="552" y="986"/>
                  </a:cubicBezTo>
                  <a:cubicBezTo>
                    <a:pt x="563" y="991"/>
                    <a:pt x="579" y="992"/>
                    <a:pt x="579" y="992"/>
                  </a:cubicBezTo>
                  <a:cubicBezTo>
                    <a:pt x="579" y="992"/>
                    <a:pt x="588" y="1012"/>
                    <a:pt x="598" y="1013"/>
                  </a:cubicBezTo>
                  <a:cubicBezTo>
                    <a:pt x="608" y="1014"/>
                    <a:pt x="619" y="1009"/>
                    <a:pt x="630" y="1011"/>
                  </a:cubicBezTo>
                  <a:cubicBezTo>
                    <a:pt x="641" y="1013"/>
                    <a:pt x="661" y="1022"/>
                    <a:pt x="662" y="1032"/>
                  </a:cubicBezTo>
                  <a:cubicBezTo>
                    <a:pt x="663" y="1042"/>
                    <a:pt x="658" y="1045"/>
                    <a:pt x="662" y="1052"/>
                  </a:cubicBezTo>
                  <a:cubicBezTo>
                    <a:pt x="666" y="1059"/>
                    <a:pt x="673" y="1071"/>
                    <a:pt x="673" y="1071"/>
                  </a:cubicBezTo>
                  <a:cubicBezTo>
                    <a:pt x="675" y="1092"/>
                    <a:pt x="675" y="1092"/>
                    <a:pt x="675" y="1092"/>
                  </a:cubicBezTo>
                  <a:cubicBezTo>
                    <a:pt x="675" y="1092"/>
                    <a:pt x="660" y="1090"/>
                    <a:pt x="662" y="1096"/>
                  </a:cubicBezTo>
                  <a:cubicBezTo>
                    <a:pt x="664" y="1102"/>
                    <a:pt x="680" y="1116"/>
                    <a:pt x="680" y="1116"/>
                  </a:cubicBezTo>
                  <a:cubicBezTo>
                    <a:pt x="680" y="1116"/>
                    <a:pt x="670" y="1147"/>
                    <a:pt x="683" y="1156"/>
                  </a:cubicBezTo>
                  <a:cubicBezTo>
                    <a:pt x="696" y="1165"/>
                    <a:pt x="773" y="1163"/>
                    <a:pt x="773" y="1163"/>
                  </a:cubicBezTo>
                  <a:cubicBezTo>
                    <a:pt x="773" y="1163"/>
                    <a:pt x="762" y="1197"/>
                    <a:pt x="769" y="1206"/>
                  </a:cubicBezTo>
                  <a:cubicBezTo>
                    <a:pt x="776" y="1215"/>
                    <a:pt x="785" y="1216"/>
                    <a:pt x="796" y="1223"/>
                  </a:cubicBezTo>
                  <a:cubicBezTo>
                    <a:pt x="807" y="1230"/>
                    <a:pt x="816" y="1248"/>
                    <a:pt x="816" y="1262"/>
                  </a:cubicBezTo>
                  <a:cubicBezTo>
                    <a:pt x="816" y="1276"/>
                    <a:pt x="811" y="1302"/>
                    <a:pt x="811" y="1302"/>
                  </a:cubicBezTo>
                  <a:cubicBezTo>
                    <a:pt x="815" y="1310"/>
                    <a:pt x="815" y="1310"/>
                    <a:pt x="815" y="1310"/>
                  </a:cubicBezTo>
                  <a:cubicBezTo>
                    <a:pt x="815" y="1310"/>
                    <a:pt x="798" y="1337"/>
                    <a:pt x="800" y="1342"/>
                  </a:cubicBezTo>
                  <a:cubicBezTo>
                    <a:pt x="802" y="1347"/>
                    <a:pt x="814" y="1357"/>
                    <a:pt x="814" y="1357"/>
                  </a:cubicBezTo>
                  <a:cubicBezTo>
                    <a:pt x="814" y="1357"/>
                    <a:pt x="799" y="1365"/>
                    <a:pt x="799" y="1371"/>
                  </a:cubicBezTo>
                  <a:cubicBezTo>
                    <a:pt x="799" y="1377"/>
                    <a:pt x="808" y="1379"/>
                    <a:pt x="810" y="1386"/>
                  </a:cubicBezTo>
                  <a:cubicBezTo>
                    <a:pt x="812" y="1393"/>
                    <a:pt x="806" y="1402"/>
                    <a:pt x="810" y="1406"/>
                  </a:cubicBezTo>
                  <a:cubicBezTo>
                    <a:pt x="814" y="1410"/>
                    <a:pt x="819" y="1405"/>
                    <a:pt x="819" y="1414"/>
                  </a:cubicBezTo>
                  <a:cubicBezTo>
                    <a:pt x="819" y="1423"/>
                    <a:pt x="804" y="1459"/>
                    <a:pt x="820" y="1468"/>
                  </a:cubicBezTo>
                  <a:cubicBezTo>
                    <a:pt x="836" y="1477"/>
                    <a:pt x="880" y="1484"/>
                    <a:pt x="895" y="1481"/>
                  </a:cubicBezTo>
                  <a:cubicBezTo>
                    <a:pt x="910" y="1478"/>
                    <a:pt x="928" y="1478"/>
                    <a:pt x="932" y="1486"/>
                  </a:cubicBezTo>
                  <a:cubicBezTo>
                    <a:pt x="936" y="1494"/>
                    <a:pt x="932" y="1511"/>
                    <a:pt x="937" y="1531"/>
                  </a:cubicBezTo>
                  <a:cubicBezTo>
                    <a:pt x="942" y="1551"/>
                    <a:pt x="946" y="1572"/>
                    <a:pt x="957" y="1574"/>
                  </a:cubicBezTo>
                  <a:cubicBezTo>
                    <a:pt x="968" y="1576"/>
                    <a:pt x="972" y="1560"/>
                    <a:pt x="987" y="1564"/>
                  </a:cubicBezTo>
                  <a:cubicBezTo>
                    <a:pt x="1002" y="1568"/>
                    <a:pt x="1006" y="1576"/>
                    <a:pt x="1004" y="1596"/>
                  </a:cubicBezTo>
                  <a:cubicBezTo>
                    <a:pt x="1002" y="1616"/>
                    <a:pt x="1000" y="1626"/>
                    <a:pt x="998" y="1631"/>
                  </a:cubicBezTo>
                  <a:cubicBezTo>
                    <a:pt x="996" y="1636"/>
                    <a:pt x="995" y="1651"/>
                    <a:pt x="995" y="1651"/>
                  </a:cubicBezTo>
                  <a:cubicBezTo>
                    <a:pt x="998" y="1664"/>
                    <a:pt x="998" y="1664"/>
                    <a:pt x="998" y="1664"/>
                  </a:cubicBezTo>
                  <a:cubicBezTo>
                    <a:pt x="998" y="1664"/>
                    <a:pt x="1014" y="1653"/>
                    <a:pt x="1021" y="1657"/>
                  </a:cubicBezTo>
                  <a:cubicBezTo>
                    <a:pt x="1028" y="1661"/>
                    <a:pt x="1032" y="1682"/>
                    <a:pt x="1032" y="1682"/>
                  </a:cubicBezTo>
                  <a:cubicBezTo>
                    <a:pt x="1032" y="1682"/>
                    <a:pt x="1043" y="1681"/>
                    <a:pt x="1043" y="1690"/>
                  </a:cubicBezTo>
                  <a:cubicBezTo>
                    <a:pt x="1043" y="1699"/>
                    <a:pt x="1051" y="1737"/>
                    <a:pt x="1045" y="1743"/>
                  </a:cubicBezTo>
                  <a:cubicBezTo>
                    <a:pt x="1039" y="1749"/>
                    <a:pt x="1022" y="1751"/>
                    <a:pt x="1011" y="1756"/>
                  </a:cubicBezTo>
                  <a:cubicBezTo>
                    <a:pt x="1000" y="1761"/>
                    <a:pt x="1000" y="1779"/>
                    <a:pt x="1000" y="1779"/>
                  </a:cubicBezTo>
                  <a:cubicBezTo>
                    <a:pt x="979" y="1781"/>
                    <a:pt x="979" y="1781"/>
                    <a:pt x="979" y="1781"/>
                  </a:cubicBezTo>
                  <a:cubicBezTo>
                    <a:pt x="978" y="1792"/>
                    <a:pt x="978" y="1792"/>
                    <a:pt x="978" y="1792"/>
                  </a:cubicBezTo>
                  <a:cubicBezTo>
                    <a:pt x="972" y="1794"/>
                    <a:pt x="972" y="1794"/>
                    <a:pt x="972" y="1794"/>
                  </a:cubicBezTo>
                  <a:cubicBezTo>
                    <a:pt x="969" y="1810"/>
                    <a:pt x="969" y="1810"/>
                    <a:pt x="969" y="1810"/>
                  </a:cubicBezTo>
                  <a:cubicBezTo>
                    <a:pt x="953" y="1814"/>
                    <a:pt x="953" y="1814"/>
                    <a:pt x="953" y="1814"/>
                  </a:cubicBezTo>
                  <a:cubicBezTo>
                    <a:pt x="953" y="1814"/>
                    <a:pt x="950" y="1837"/>
                    <a:pt x="945" y="1842"/>
                  </a:cubicBezTo>
                  <a:cubicBezTo>
                    <a:pt x="940" y="1847"/>
                    <a:pt x="931" y="1852"/>
                    <a:pt x="931" y="1855"/>
                  </a:cubicBezTo>
                  <a:cubicBezTo>
                    <a:pt x="931" y="1858"/>
                    <a:pt x="928" y="1873"/>
                    <a:pt x="923" y="1878"/>
                  </a:cubicBezTo>
                  <a:cubicBezTo>
                    <a:pt x="918" y="1883"/>
                    <a:pt x="903" y="1882"/>
                    <a:pt x="903" y="1888"/>
                  </a:cubicBezTo>
                  <a:cubicBezTo>
                    <a:pt x="903" y="1894"/>
                    <a:pt x="899" y="1911"/>
                    <a:pt x="899" y="1911"/>
                  </a:cubicBezTo>
                  <a:cubicBezTo>
                    <a:pt x="915" y="1912"/>
                    <a:pt x="915" y="1912"/>
                    <a:pt x="915" y="1912"/>
                  </a:cubicBezTo>
                  <a:cubicBezTo>
                    <a:pt x="915" y="1912"/>
                    <a:pt x="921" y="1902"/>
                    <a:pt x="933" y="1904"/>
                  </a:cubicBezTo>
                  <a:cubicBezTo>
                    <a:pt x="945" y="1906"/>
                    <a:pt x="970" y="1933"/>
                    <a:pt x="970" y="1933"/>
                  </a:cubicBezTo>
                  <a:cubicBezTo>
                    <a:pt x="970" y="1933"/>
                    <a:pt x="980" y="1956"/>
                    <a:pt x="986" y="1956"/>
                  </a:cubicBezTo>
                  <a:cubicBezTo>
                    <a:pt x="992" y="1956"/>
                    <a:pt x="991" y="1942"/>
                    <a:pt x="1001" y="1945"/>
                  </a:cubicBezTo>
                  <a:cubicBezTo>
                    <a:pt x="1011" y="1948"/>
                    <a:pt x="1020" y="1964"/>
                    <a:pt x="1025" y="1967"/>
                  </a:cubicBezTo>
                  <a:cubicBezTo>
                    <a:pt x="1030" y="1970"/>
                    <a:pt x="1037" y="1969"/>
                    <a:pt x="1037" y="1969"/>
                  </a:cubicBezTo>
                  <a:cubicBezTo>
                    <a:pt x="1037" y="1969"/>
                    <a:pt x="1045" y="1976"/>
                    <a:pt x="1049" y="1978"/>
                  </a:cubicBezTo>
                  <a:cubicBezTo>
                    <a:pt x="1053" y="1980"/>
                    <a:pt x="1055" y="1993"/>
                    <a:pt x="1067" y="1997"/>
                  </a:cubicBezTo>
                  <a:cubicBezTo>
                    <a:pt x="1079" y="2001"/>
                    <a:pt x="1086" y="2000"/>
                    <a:pt x="1086" y="2000"/>
                  </a:cubicBezTo>
                  <a:cubicBezTo>
                    <a:pt x="1086" y="2000"/>
                    <a:pt x="1096" y="2024"/>
                    <a:pt x="1104" y="2029"/>
                  </a:cubicBezTo>
                  <a:cubicBezTo>
                    <a:pt x="1112" y="2034"/>
                    <a:pt x="1131" y="2033"/>
                    <a:pt x="1126" y="2042"/>
                  </a:cubicBezTo>
                  <a:cubicBezTo>
                    <a:pt x="1121" y="2051"/>
                    <a:pt x="1111" y="2064"/>
                    <a:pt x="1112" y="2071"/>
                  </a:cubicBezTo>
                  <a:cubicBezTo>
                    <a:pt x="1113" y="2078"/>
                    <a:pt x="1119" y="2078"/>
                    <a:pt x="1119" y="2078"/>
                  </a:cubicBezTo>
                  <a:cubicBezTo>
                    <a:pt x="1118" y="2099"/>
                    <a:pt x="1118" y="2099"/>
                    <a:pt x="1118" y="2099"/>
                  </a:cubicBezTo>
                  <a:cubicBezTo>
                    <a:pt x="1128" y="2098"/>
                    <a:pt x="1128" y="2098"/>
                    <a:pt x="1128" y="2098"/>
                  </a:cubicBezTo>
                  <a:cubicBezTo>
                    <a:pt x="1128" y="2096"/>
                    <a:pt x="1128" y="2096"/>
                    <a:pt x="1128" y="2096"/>
                  </a:cubicBezTo>
                  <a:cubicBezTo>
                    <a:pt x="1128" y="2096"/>
                    <a:pt x="1151" y="2070"/>
                    <a:pt x="1156" y="2061"/>
                  </a:cubicBezTo>
                  <a:cubicBezTo>
                    <a:pt x="1161" y="2052"/>
                    <a:pt x="1153" y="2031"/>
                    <a:pt x="1153" y="2031"/>
                  </a:cubicBezTo>
                  <a:cubicBezTo>
                    <a:pt x="1165" y="2013"/>
                    <a:pt x="1165" y="2013"/>
                    <a:pt x="1165" y="2013"/>
                  </a:cubicBezTo>
                  <a:cubicBezTo>
                    <a:pt x="1165" y="2013"/>
                    <a:pt x="1155" y="2005"/>
                    <a:pt x="1155" y="1995"/>
                  </a:cubicBezTo>
                  <a:cubicBezTo>
                    <a:pt x="1155" y="1985"/>
                    <a:pt x="1165" y="1984"/>
                    <a:pt x="1165" y="1984"/>
                  </a:cubicBezTo>
                  <a:cubicBezTo>
                    <a:pt x="1167" y="1968"/>
                    <a:pt x="1167" y="1968"/>
                    <a:pt x="1167" y="1968"/>
                  </a:cubicBezTo>
                  <a:cubicBezTo>
                    <a:pt x="1167" y="1968"/>
                    <a:pt x="1179" y="1966"/>
                    <a:pt x="1183" y="1962"/>
                  </a:cubicBezTo>
                  <a:cubicBezTo>
                    <a:pt x="1187" y="1958"/>
                    <a:pt x="1186" y="1944"/>
                    <a:pt x="1186" y="1936"/>
                  </a:cubicBezTo>
                  <a:cubicBezTo>
                    <a:pt x="1186" y="1928"/>
                    <a:pt x="1204" y="1911"/>
                    <a:pt x="1213" y="1909"/>
                  </a:cubicBezTo>
                  <a:cubicBezTo>
                    <a:pt x="1222" y="1907"/>
                    <a:pt x="1219" y="1931"/>
                    <a:pt x="1219" y="1931"/>
                  </a:cubicBezTo>
                  <a:cubicBezTo>
                    <a:pt x="1219" y="1931"/>
                    <a:pt x="1213" y="1941"/>
                    <a:pt x="1210" y="1943"/>
                  </a:cubicBezTo>
                  <a:cubicBezTo>
                    <a:pt x="1207" y="1945"/>
                    <a:pt x="1208" y="1956"/>
                    <a:pt x="1208" y="1956"/>
                  </a:cubicBezTo>
                  <a:cubicBezTo>
                    <a:pt x="1201" y="1960"/>
                    <a:pt x="1201" y="1960"/>
                    <a:pt x="1201" y="1960"/>
                  </a:cubicBezTo>
                  <a:cubicBezTo>
                    <a:pt x="1201" y="1969"/>
                    <a:pt x="1201" y="1969"/>
                    <a:pt x="1201" y="1969"/>
                  </a:cubicBezTo>
                  <a:cubicBezTo>
                    <a:pt x="1184" y="1987"/>
                    <a:pt x="1184" y="1987"/>
                    <a:pt x="1184" y="1987"/>
                  </a:cubicBezTo>
                  <a:cubicBezTo>
                    <a:pt x="1163" y="2002"/>
                    <a:pt x="1163" y="2002"/>
                    <a:pt x="1163" y="2002"/>
                  </a:cubicBezTo>
                  <a:cubicBezTo>
                    <a:pt x="1163" y="2002"/>
                    <a:pt x="1170" y="2008"/>
                    <a:pt x="1177" y="2006"/>
                  </a:cubicBezTo>
                  <a:cubicBezTo>
                    <a:pt x="1182" y="2005"/>
                    <a:pt x="1182" y="1993"/>
                    <a:pt x="1187" y="1990"/>
                  </a:cubicBezTo>
                  <a:cubicBezTo>
                    <a:pt x="1191" y="1986"/>
                    <a:pt x="1198" y="1989"/>
                    <a:pt x="1200" y="1987"/>
                  </a:cubicBezTo>
                  <a:cubicBezTo>
                    <a:pt x="1206" y="1978"/>
                    <a:pt x="1228" y="1944"/>
                    <a:pt x="1233" y="1920"/>
                  </a:cubicBezTo>
                  <a:cubicBezTo>
                    <a:pt x="1238" y="1896"/>
                    <a:pt x="1248" y="1874"/>
                    <a:pt x="1252" y="1860"/>
                  </a:cubicBezTo>
                  <a:cubicBezTo>
                    <a:pt x="1256" y="1846"/>
                    <a:pt x="1284" y="1829"/>
                    <a:pt x="1286" y="1825"/>
                  </a:cubicBezTo>
                  <a:cubicBezTo>
                    <a:pt x="1288" y="1821"/>
                    <a:pt x="1281" y="1811"/>
                    <a:pt x="1281" y="1811"/>
                  </a:cubicBezTo>
                  <a:cubicBezTo>
                    <a:pt x="1294" y="1802"/>
                    <a:pt x="1294" y="1802"/>
                    <a:pt x="1294" y="1802"/>
                  </a:cubicBezTo>
                  <a:cubicBezTo>
                    <a:pt x="1290" y="1778"/>
                    <a:pt x="1290" y="1778"/>
                    <a:pt x="1290" y="1778"/>
                  </a:cubicBezTo>
                  <a:cubicBezTo>
                    <a:pt x="1294" y="1764"/>
                    <a:pt x="1294" y="1764"/>
                    <a:pt x="1294" y="1764"/>
                  </a:cubicBezTo>
                  <a:cubicBezTo>
                    <a:pt x="1285" y="1759"/>
                    <a:pt x="1285" y="1759"/>
                    <a:pt x="1285" y="1759"/>
                  </a:cubicBezTo>
                  <a:cubicBezTo>
                    <a:pt x="1285" y="1759"/>
                    <a:pt x="1292" y="1750"/>
                    <a:pt x="1292" y="1742"/>
                  </a:cubicBezTo>
                  <a:cubicBezTo>
                    <a:pt x="1292" y="1734"/>
                    <a:pt x="1277" y="1728"/>
                    <a:pt x="1277" y="1728"/>
                  </a:cubicBezTo>
                  <a:cubicBezTo>
                    <a:pt x="1276" y="1705"/>
                    <a:pt x="1276" y="1705"/>
                    <a:pt x="1276" y="1705"/>
                  </a:cubicBezTo>
                  <a:cubicBezTo>
                    <a:pt x="1266" y="1694"/>
                    <a:pt x="1266" y="1694"/>
                    <a:pt x="1266" y="1694"/>
                  </a:cubicBezTo>
                  <a:cubicBezTo>
                    <a:pt x="1280" y="1695"/>
                    <a:pt x="1280" y="1695"/>
                    <a:pt x="1280" y="1695"/>
                  </a:cubicBezTo>
                  <a:cubicBezTo>
                    <a:pt x="1279" y="1678"/>
                    <a:pt x="1279" y="1678"/>
                    <a:pt x="1279" y="1678"/>
                  </a:cubicBezTo>
                  <a:cubicBezTo>
                    <a:pt x="1270" y="1673"/>
                    <a:pt x="1270" y="1673"/>
                    <a:pt x="1270" y="1673"/>
                  </a:cubicBezTo>
                  <a:cubicBezTo>
                    <a:pt x="1270" y="1673"/>
                    <a:pt x="1282" y="1670"/>
                    <a:pt x="1282" y="1665"/>
                  </a:cubicBezTo>
                  <a:cubicBezTo>
                    <a:pt x="1282" y="1660"/>
                    <a:pt x="1266" y="1650"/>
                    <a:pt x="1266" y="1650"/>
                  </a:cubicBezTo>
                  <a:cubicBezTo>
                    <a:pt x="1282" y="1639"/>
                    <a:pt x="1282" y="1639"/>
                    <a:pt x="1282" y="1639"/>
                  </a:cubicBezTo>
                  <a:cubicBezTo>
                    <a:pt x="1282" y="1639"/>
                    <a:pt x="1295" y="1653"/>
                    <a:pt x="1301" y="1652"/>
                  </a:cubicBezTo>
                  <a:cubicBezTo>
                    <a:pt x="1307" y="1651"/>
                    <a:pt x="1303" y="1639"/>
                    <a:pt x="1303" y="1639"/>
                  </a:cubicBezTo>
                  <a:cubicBezTo>
                    <a:pt x="1303" y="1639"/>
                    <a:pt x="1303" y="1627"/>
                    <a:pt x="1311" y="1617"/>
                  </a:cubicBezTo>
                  <a:cubicBezTo>
                    <a:pt x="1319" y="1607"/>
                    <a:pt x="1331" y="1610"/>
                    <a:pt x="1337" y="1605"/>
                  </a:cubicBezTo>
                  <a:cubicBezTo>
                    <a:pt x="1343" y="1600"/>
                    <a:pt x="1340" y="1596"/>
                    <a:pt x="1343" y="1589"/>
                  </a:cubicBezTo>
                  <a:cubicBezTo>
                    <a:pt x="1346" y="1582"/>
                    <a:pt x="1364" y="1579"/>
                    <a:pt x="1364" y="1579"/>
                  </a:cubicBezTo>
                  <a:cubicBezTo>
                    <a:pt x="1366" y="1571"/>
                    <a:pt x="1366" y="1571"/>
                    <a:pt x="1366" y="1571"/>
                  </a:cubicBezTo>
                  <a:cubicBezTo>
                    <a:pt x="1366" y="1571"/>
                    <a:pt x="1372" y="1574"/>
                    <a:pt x="1377" y="1573"/>
                  </a:cubicBezTo>
                  <a:cubicBezTo>
                    <a:pt x="1382" y="1572"/>
                    <a:pt x="1381" y="1560"/>
                    <a:pt x="1387" y="1559"/>
                  </a:cubicBezTo>
                  <a:cubicBezTo>
                    <a:pt x="1393" y="1558"/>
                    <a:pt x="1412" y="1561"/>
                    <a:pt x="1412" y="1561"/>
                  </a:cubicBezTo>
                  <a:cubicBezTo>
                    <a:pt x="1416" y="1571"/>
                    <a:pt x="1416" y="1571"/>
                    <a:pt x="1416" y="1571"/>
                  </a:cubicBezTo>
                  <a:cubicBezTo>
                    <a:pt x="1427" y="1569"/>
                    <a:pt x="1427" y="1569"/>
                    <a:pt x="1427" y="1569"/>
                  </a:cubicBezTo>
                  <a:cubicBezTo>
                    <a:pt x="1414" y="1554"/>
                    <a:pt x="1414" y="1554"/>
                    <a:pt x="1414" y="1554"/>
                  </a:cubicBezTo>
                  <a:cubicBezTo>
                    <a:pt x="1414" y="1554"/>
                    <a:pt x="1423" y="1550"/>
                    <a:pt x="1427" y="1545"/>
                  </a:cubicBezTo>
                  <a:cubicBezTo>
                    <a:pt x="1431" y="1540"/>
                    <a:pt x="1453" y="1539"/>
                    <a:pt x="1453" y="1539"/>
                  </a:cubicBezTo>
                  <a:cubicBezTo>
                    <a:pt x="1442" y="1529"/>
                    <a:pt x="1442" y="1529"/>
                    <a:pt x="1442" y="1529"/>
                  </a:cubicBezTo>
                  <a:cubicBezTo>
                    <a:pt x="1442" y="1529"/>
                    <a:pt x="1454" y="1519"/>
                    <a:pt x="1459" y="1519"/>
                  </a:cubicBezTo>
                  <a:cubicBezTo>
                    <a:pt x="1464" y="1519"/>
                    <a:pt x="1460" y="1535"/>
                    <a:pt x="1463" y="1535"/>
                  </a:cubicBezTo>
                  <a:cubicBezTo>
                    <a:pt x="1466" y="1535"/>
                    <a:pt x="1472" y="1518"/>
                    <a:pt x="1472" y="1518"/>
                  </a:cubicBezTo>
                  <a:cubicBezTo>
                    <a:pt x="1497" y="1523"/>
                    <a:pt x="1497" y="1523"/>
                    <a:pt x="1497" y="1523"/>
                  </a:cubicBezTo>
                  <a:cubicBezTo>
                    <a:pt x="1497" y="1523"/>
                    <a:pt x="1502" y="1503"/>
                    <a:pt x="1513" y="1502"/>
                  </a:cubicBezTo>
                  <a:cubicBezTo>
                    <a:pt x="1524" y="1501"/>
                    <a:pt x="1521" y="1523"/>
                    <a:pt x="1521" y="1523"/>
                  </a:cubicBezTo>
                  <a:cubicBezTo>
                    <a:pt x="1566" y="1518"/>
                    <a:pt x="1566" y="1518"/>
                    <a:pt x="1566" y="1518"/>
                  </a:cubicBezTo>
                  <a:cubicBezTo>
                    <a:pt x="1571" y="1506"/>
                    <a:pt x="1571" y="1506"/>
                    <a:pt x="1571" y="1506"/>
                  </a:cubicBezTo>
                  <a:cubicBezTo>
                    <a:pt x="1565" y="1499"/>
                    <a:pt x="1565" y="1499"/>
                    <a:pt x="1565" y="1499"/>
                  </a:cubicBezTo>
                  <a:cubicBezTo>
                    <a:pt x="1565" y="1499"/>
                    <a:pt x="1571" y="1491"/>
                    <a:pt x="1577" y="1482"/>
                  </a:cubicBezTo>
                  <a:cubicBezTo>
                    <a:pt x="1583" y="1473"/>
                    <a:pt x="1613" y="1468"/>
                    <a:pt x="1613" y="1468"/>
                  </a:cubicBezTo>
                  <a:cubicBezTo>
                    <a:pt x="1613" y="1468"/>
                    <a:pt x="1610" y="1455"/>
                    <a:pt x="1610" y="1452"/>
                  </a:cubicBezTo>
                  <a:cubicBezTo>
                    <a:pt x="1610" y="1449"/>
                    <a:pt x="1611" y="1408"/>
                    <a:pt x="1611" y="1408"/>
                  </a:cubicBezTo>
                  <a:cubicBezTo>
                    <a:pt x="1629" y="1388"/>
                    <a:pt x="1629" y="1388"/>
                    <a:pt x="1629" y="1388"/>
                  </a:cubicBezTo>
                  <a:cubicBezTo>
                    <a:pt x="1629" y="1372"/>
                    <a:pt x="1629" y="1372"/>
                    <a:pt x="1629" y="1372"/>
                  </a:cubicBezTo>
                  <a:cubicBezTo>
                    <a:pt x="1642" y="1369"/>
                    <a:pt x="1642" y="1369"/>
                    <a:pt x="1642" y="1369"/>
                  </a:cubicBezTo>
                  <a:cubicBezTo>
                    <a:pt x="1642" y="1347"/>
                    <a:pt x="1642" y="1347"/>
                    <a:pt x="1642" y="1347"/>
                  </a:cubicBezTo>
                  <a:cubicBezTo>
                    <a:pt x="1642" y="1347"/>
                    <a:pt x="1651" y="1342"/>
                    <a:pt x="1655" y="1342"/>
                  </a:cubicBezTo>
                  <a:cubicBezTo>
                    <a:pt x="1659" y="1342"/>
                    <a:pt x="1659" y="1317"/>
                    <a:pt x="1659" y="1317"/>
                  </a:cubicBezTo>
                  <a:cubicBezTo>
                    <a:pt x="1659" y="1317"/>
                    <a:pt x="1653" y="1288"/>
                    <a:pt x="1651" y="1273"/>
                  </a:cubicBezTo>
                  <a:cubicBezTo>
                    <a:pt x="1649" y="1258"/>
                    <a:pt x="1667" y="1246"/>
                    <a:pt x="1674" y="1240"/>
                  </a:cubicBezTo>
                  <a:cubicBezTo>
                    <a:pt x="1681" y="1234"/>
                    <a:pt x="1671" y="1213"/>
                    <a:pt x="1671" y="1213"/>
                  </a:cubicBezTo>
                  <a:cubicBezTo>
                    <a:pt x="1675" y="1175"/>
                    <a:pt x="1675" y="1175"/>
                    <a:pt x="1675" y="1175"/>
                  </a:cubicBezTo>
                  <a:cubicBezTo>
                    <a:pt x="1675" y="1175"/>
                    <a:pt x="1683" y="1145"/>
                    <a:pt x="1682" y="1134"/>
                  </a:cubicBezTo>
                  <a:cubicBezTo>
                    <a:pt x="1681" y="1123"/>
                    <a:pt x="1669" y="1065"/>
                    <a:pt x="1669" y="1065"/>
                  </a:cubicBezTo>
                  <a:cubicBezTo>
                    <a:pt x="1674" y="1041"/>
                    <a:pt x="1674" y="1041"/>
                    <a:pt x="1674" y="1041"/>
                  </a:cubicBezTo>
                  <a:cubicBezTo>
                    <a:pt x="1674" y="1041"/>
                    <a:pt x="1665" y="1010"/>
                    <a:pt x="1668" y="1002"/>
                  </a:cubicBezTo>
                  <a:cubicBezTo>
                    <a:pt x="1671" y="994"/>
                    <a:pt x="1682" y="984"/>
                    <a:pt x="1682" y="984"/>
                  </a:cubicBezTo>
                  <a:cubicBezTo>
                    <a:pt x="1674" y="972"/>
                    <a:pt x="1674" y="972"/>
                    <a:pt x="1674" y="972"/>
                  </a:cubicBezTo>
                  <a:cubicBezTo>
                    <a:pt x="1674" y="972"/>
                    <a:pt x="1681" y="962"/>
                    <a:pt x="1685" y="962"/>
                  </a:cubicBezTo>
                  <a:cubicBezTo>
                    <a:pt x="1689" y="962"/>
                    <a:pt x="1698" y="981"/>
                    <a:pt x="1698" y="981"/>
                  </a:cubicBezTo>
                  <a:cubicBezTo>
                    <a:pt x="1698" y="981"/>
                    <a:pt x="1720" y="961"/>
                    <a:pt x="1727" y="951"/>
                  </a:cubicBezTo>
                  <a:cubicBezTo>
                    <a:pt x="1734" y="941"/>
                    <a:pt x="1739" y="897"/>
                    <a:pt x="1739" y="897"/>
                  </a:cubicBezTo>
                  <a:cubicBezTo>
                    <a:pt x="1739" y="897"/>
                    <a:pt x="1745" y="893"/>
                    <a:pt x="1751" y="889"/>
                  </a:cubicBezTo>
                  <a:cubicBezTo>
                    <a:pt x="1757" y="885"/>
                    <a:pt x="1762" y="863"/>
                    <a:pt x="1762" y="863"/>
                  </a:cubicBezTo>
                  <a:cubicBezTo>
                    <a:pt x="1762" y="863"/>
                    <a:pt x="1775" y="856"/>
                    <a:pt x="1782" y="855"/>
                  </a:cubicBezTo>
                  <a:cubicBezTo>
                    <a:pt x="1789" y="854"/>
                    <a:pt x="1789" y="834"/>
                    <a:pt x="1789" y="834"/>
                  </a:cubicBezTo>
                  <a:cubicBezTo>
                    <a:pt x="1789" y="834"/>
                    <a:pt x="1803" y="829"/>
                    <a:pt x="1816" y="811"/>
                  </a:cubicBezTo>
                  <a:cubicBezTo>
                    <a:pt x="1829" y="793"/>
                    <a:pt x="1844" y="746"/>
                    <a:pt x="1844" y="746"/>
                  </a:cubicBezTo>
                  <a:cubicBezTo>
                    <a:pt x="1844" y="746"/>
                    <a:pt x="1856" y="733"/>
                    <a:pt x="1857" y="727"/>
                  </a:cubicBezTo>
                  <a:cubicBezTo>
                    <a:pt x="1858" y="721"/>
                    <a:pt x="1852" y="705"/>
                    <a:pt x="1852" y="705"/>
                  </a:cubicBezTo>
                  <a:cubicBezTo>
                    <a:pt x="1852" y="705"/>
                    <a:pt x="1855" y="684"/>
                    <a:pt x="1855" y="667"/>
                  </a:cubicBezTo>
                  <a:close/>
                </a:path>
              </a:pathLst>
            </a:custGeom>
            <a:solidFill>
              <a:schemeClr val="bg1">
                <a:lumMod val="95000"/>
              </a:schemeClr>
            </a:solidFill>
            <a:ln w="3175" cap="flat" cmpd="sng">
              <a:no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533" name="Freeform 325">
              <a:extLst>
                <a:ext uri="{FF2B5EF4-FFF2-40B4-BE49-F238E27FC236}">
                  <a16:creationId xmlns:a16="http://schemas.microsoft.com/office/drawing/2014/main" id="{F66873BE-1B49-410C-B6F1-70F5E5FF2DCD}"/>
                </a:ext>
              </a:extLst>
            </p:cNvPr>
            <p:cNvSpPr>
              <a:spLocks noEditPoints="1"/>
            </p:cNvSpPr>
            <p:nvPr/>
          </p:nvSpPr>
          <p:spPr bwMode="gray">
            <a:xfrm>
              <a:off x="2526518" y="3294513"/>
              <a:ext cx="522900" cy="1296630"/>
            </a:xfrm>
            <a:custGeom>
              <a:avLst/>
              <a:gdLst>
                <a:gd name="T0" fmla="*/ 550 w 771"/>
                <a:gd name="T1" fmla="*/ 1864 h 2022"/>
                <a:gd name="T2" fmla="*/ 572 w 771"/>
                <a:gd name="T3" fmla="*/ 1906 h 2022"/>
                <a:gd name="T4" fmla="*/ 567 w 771"/>
                <a:gd name="T5" fmla="*/ 1954 h 2022"/>
                <a:gd name="T6" fmla="*/ 690 w 771"/>
                <a:gd name="T7" fmla="*/ 1981 h 2022"/>
                <a:gd name="T8" fmla="*/ 658 w 771"/>
                <a:gd name="T9" fmla="*/ 1993 h 2022"/>
                <a:gd name="T10" fmla="*/ 617 w 771"/>
                <a:gd name="T11" fmla="*/ 1988 h 2022"/>
                <a:gd name="T12" fmla="*/ 663 w 771"/>
                <a:gd name="T13" fmla="*/ 2010 h 2022"/>
                <a:gd name="T14" fmla="*/ 500 w 771"/>
                <a:gd name="T15" fmla="*/ 1974 h 2022"/>
                <a:gd name="T16" fmla="*/ 526 w 771"/>
                <a:gd name="T17" fmla="*/ 1935 h 2022"/>
                <a:gd name="T18" fmla="*/ 471 w 771"/>
                <a:gd name="T19" fmla="*/ 1945 h 2022"/>
                <a:gd name="T20" fmla="*/ 397 w 771"/>
                <a:gd name="T21" fmla="*/ 1867 h 2022"/>
                <a:gd name="T22" fmla="*/ 345 w 771"/>
                <a:gd name="T23" fmla="*/ 1873 h 2022"/>
                <a:gd name="T24" fmla="*/ 355 w 771"/>
                <a:gd name="T25" fmla="*/ 1822 h 2022"/>
                <a:gd name="T26" fmla="*/ 326 w 771"/>
                <a:gd name="T27" fmla="*/ 1841 h 2022"/>
                <a:gd name="T28" fmla="*/ 342 w 771"/>
                <a:gd name="T29" fmla="*/ 1820 h 2022"/>
                <a:gd name="T30" fmla="*/ 287 w 771"/>
                <a:gd name="T31" fmla="*/ 1789 h 2022"/>
                <a:gd name="T32" fmla="*/ 267 w 771"/>
                <a:gd name="T33" fmla="*/ 1739 h 2022"/>
                <a:gd name="T34" fmla="*/ 257 w 771"/>
                <a:gd name="T35" fmla="*/ 1697 h 2022"/>
                <a:gd name="T36" fmla="*/ 208 w 771"/>
                <a:gd name="T37" fmla="*/ 1688 h 2022"/>
                <a:gd name="T38" fmla="*/ 144 w 771"/>
                <a:gd name="T39" fmla="*/ 1339 h 2022"/>
                <a:gd name="T40" fmla="*/ 163 w 771"/>
                <a:gd name="T41" fmla="*/ 1391 h 2022"/>
                <a:gd name="T42" fmla="*/ 186 w 771"/>
                <a:gd name="T43" fmla="*/ 1483 h 2022"/>
                <a:gd name="T44" fmla="*/ 212 w 771"/>
                <a:gd name="T45" fmla="*/ 1463 h 2022"/>
                <a:gd name="T46" fmla="*/ 143 w 771"/>
                <a:gd name="T47" fmla="*/ 1440 h 2022"/>
                <a:gd name="T48" fmla="*/ 498 w 771"/>
                <a:gd name="T49" fmla="*/ 1874 h 2022"/>
                <a:gd name="T50" fmla="*/ 449 w 771"/>
                <a:gd name="T51" fmla="*/ 1842 h 2022"/>
                <a:gd name="T52" fmla="*/ 338 w 771"/>
                <a:gd name="T53" fmla="*/ 1747 h 2022"/>
                <a:gd name="T54" fmla="*/ 317 w 771"/>
                <a:gd name="T55" fmla="*/ 1650 h 2022"/>
                <a:gd name="T56" fmla="*/ 304 w 771"/>
                <a:gd name="T57" fmla="*/ 1533 h 2022"/>
                <a:gd name="T58" fmla="*/ 272 w 771"/>
                <a:gd name="T59" fmla="*/ 1443 h 2022"/>
                <a:gd name="T60" fmla="*/ 215 w 771"/>
                <a:gd name="T61" fmla="*/ 1320 h 2022"/>
                <a:gd name="T62" fmla="*/ 187 w 771"/>
                <a:gd name="T63" fmla="*/ 1196 h 2022"/>
                <a:gd name="T64" fmla="*/ 165 w 771"/>
                <a:gd name="T65" fmla="*/ 1085 h 2022"/>
                <a:gd name="T66" fmla="*/ 166 w 771"/>
                <a:gd name="T67" fmla="*/ 954 h 2022"/>
                <a:gd name="T68" fmla="*/ 142 w 771"/>
                <a:gd name="T69" fmla="*/ 815 h 2022"/>
                <a:gd name="T70" fmla="*/ 109 w 771"/>
                <a:gd name="T71" fmla="*/ 685 h 2022"/>
                <a:gd name="T72" fmla="*/ 162 w 771"/>
                <a:gd name="T73" fmla="*/ 498 h 2022"/>
                <a:gd name="T74" fmla="*/ 184 w 771"/>
                <a:gd name="T75" fmla="*/ 293 h 2022"/>
                <a:gd name="T76" fmla="*/ 97 w 771"/>
                <a:gd name="T77" fmla="*/ 161 h 2022"/>
                <a:gd name="T78" fmla="*/ 45 w 771"/>
                <a:gd name="T79" fmla="*/ 22 h 2022"/>
                <a:gd name="T80" fmla="*/ 24 w 771"/>
                <a:gd name="T81" fmla="*/ 182 h 2022"/>
                <a:gd name="T82" fmla="*/ 47 w 771"/>
                <a:gd name="T83" fmla="*/ 417 h 2022"/>
                <a:gd name="T84" fmla="*/ 34 w 771"/>
                <a:gd name="T85" fmla="*/ 559 h 2022"/>
                <a:gd name="T86" fmla="*/ 47 w 771"/>
                <a:gd name="T87" fmla="*/ 720 h 2022"/>
                <a:gd name="T88" fmla="*/ 82 w 771"/>
                <a:gd name="T89" fmla="*/ 947 h 2022"/>
                <a:gd name="T90" fmla="*/ 72 w 771"/>
                <a:gd name="T91" fmla="*/ 1102 h 2022"/>
                <a:gd name="T92" fmla="*/ 129 w 771"/>
                <a:gd name="T93" fmla="*/ 1299 h 2022"/>
                <a:gd name="T94" fmla="*/ 193 w 771"/>
                <a:gd name="T95" fmla="*/ 1313 h 2022"/>
                <a:gd name="T96" fmla="*/ 212 w 771"/>
                <a:gd name="T97" fmla="*/ 1403 h 2022"/>
                <a:gd name="T98" fmla="*/ 252 w 771"/>
                <a:gd name="T99" fmla="*/ 1497 h 2022"/>
                <a:gd name="T100" fmla="*/ 214 w 771"/>
                <a:gd name="T101" fmla="*/ 1535 h 2022"/>
                <a:gd name="T102" fmla="*/ 176 w 771"/>
                <a:gd name="T103" fmla="*/ 1528 h 2022"/>
                <a:gd name="T104" fmla="*/ 214 w 771"/>
                <a:gd name="T105" fmla="*/ 1567 h 2022"/>
                <a:gd name="T106" fmla="*/ 257 w 771"/>
                <a:gd name="T107" fmla="*/ 1604 h 2022"/>
                <a:gd name="T108" fmla="*/ 265 w 771"/>
                <a:gd name="T109" fmla="*/ 1686 h 2022"/>
                <a:gd name="T110" fmla="*/ 298 w 771"/>
                <a:gd name="T111" fmla="*/ 1731 h 2022"/>
                <a:gd name="T112" fmla="*/ 331 w 771"/>
                <a:gd name="T113" fmla="*/ 1762 h 2022"/>
                <a:gd name="T114" fmla="*/ 407 w 771"/>
                <a:gd name="T115" fmla="*/ 1821 h 2022"/>
                <a:gd name="T116" fmla="*/ 434 w 771"/>
                <a:gd name="T117" fmla="*/ 1876 h 2022"/>
                <a:gd name="T118" fmla="*/ 459 w 771"/>
                <a:gd name="T119" fmla="*/ 1893 h 2022"/>
                <a:gd name="T120" fmla="*/ 428 w 771"/>
                <a:gd name="T121" fmla="*/ 1927 h 2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71" h="2022">
                  <a:moveTo>
                    <a:pt x="677" y="1942"/>
                  </a:moveTo>
                  <a:cubicBezTo>
                    <a:pt x="625" y="1916"/>
                    <a:pt x="625" y="1903"/>
                    <a:pt x="625" y="1903"/>
                  </a:cubicBezTo>
                  <a:cubicBezTo>
                    <a:pt x="602" y="1903"/>
                    <a:pt x="602" y="1903"/>
                    <a:pt x="602" y="1903"/>
                  </a:cubicBezTo>
                  <a:cubicBezTo>
                    <a:pt x="606" y="1892"/>
                    <a:pt x="606" y="1892"/>
                    <a:pt x="606" y="1892"/>
                  </a:cubicBezTo>
                  <a:cubicBezTo>
                    <a:pt x="580" y="1866"/>
                    <a:pt x="580" y="1866"/>
                    <a:pt x="580" y="1866"/>
                  </a:cubicBezTo>
                  <a:cubicBezTo>
                    <a:pt x="559" y="1872"/>
                    <a:pt x="559" y="1872"/>
                    <a:pt x="559" y="1872"/>
                  </a:cubicBezTo>
                  <a:cubicBezTo>
                    <a:pt x="550" y="1864"/>
                    <a:pt x="550" y="1864"/>
                    <a:pt x="550" y="1864"/>
                  </a:cubicBezTo>
                  <a:cubicBezTo>
                    <a:pt x="543" y="1876"/>
                    <a:pt x="543" y="1876"/>
                    <a:pt x="543" y="1876"/>
                  </a:cubicBezTo>
                  <a:cubicBezTo>
                    <a:pt x="530" y="1879"/>
                    <a:pt x="530" y="1879"/>
                    <a:pt x="530" y="1879"/>
                  </a:cubicBezTo>
                  <a:cubicBezTo>
                    <a:pt x="531" y="1890"/>
                    <a:pt x="531" y="1890"/>
                    <a:pt x="531" y="1890"/>
                  </a:cubicBezTo>
                  <a:cubicBezTo>
                    <a:pt x="520" y="1892"/>
                    <a:pt x="520" y="1892"/>
                    <a:pt x="520" y="1892"/>
                  </a:cubicBezTo>
                  <a:cubicBezTo>
                    <a:pt x="521" y="1910"/>
                    <a:pt x="521" y="1910"/>
                    <a:pt x="521" y="1910"/>
                  </a:cubicBezTo>
                  <a:cubicBezTo>
                    <a:pt x="534" y="1923"/>
                    <a:pt x="557" y="1900"/>
                    <a:pt x="557" y="1900"/>
                  </a:cubicBezTo>
                  <a:cubicBezTo>
                    <a:pt x="572" y="1906"/>
                    <a:pt x="572" y="1906"/>
                    <a:pt x="572" y="1906"/>
                  </a:cubicBezTo>
                  <a:cubicBezTo>
                    <a:pt x="572" y="1919"/>
                    <a:pt x="572" y="1919"/>
                    <a:pt x="572" y="1919"/>
                  </a:cubicBezTo>
                  <a:cubicBezTo>
                    <a:pt x="572" y="1919"/>
                    <a:pt x="541" y="1934"/>
                    <a:pt x="552" y="1938"/>
                  </a:cubicBezTo>
                  <a:cubicBezTo>
                    <a:pt x="562" y="1942"/>
                    <a:pt x="615" y="1960"/>
                    <a:pt x="615" y="1960"/>
                  </a:cubicBezTo>
                  <a:cubicBezTo>
                    <a:pt x="605" y="1974"/>
                    <a:pt x="605" y="1974"/>
                    <a:pt x="605" y="1974"/>
                  </a:cubicBezTo>
                  <a:cubicBezTo>
                    <a:pt x="605" y="1974"/>
                    <a:pt x="602" y="1961"/>
                    <a:pt x="592" y="1961"/>
                  </a:cubicBezTo>
                  <a:cubicBezTo>
                    <a:pt x="582" y="1961"/>
                    <a:pt x="579" y="1968"/>
                    <a:pt x="579" y="1968"/>
                  </a:cubicBezTo>
                  <a:cubicBezTo>
                    <a:pt x="567" y="1954"/>
                    <a:pt x="567" y="1954"/>
                    <a:pt x="567" y="1954"/>
                  </a:cubicBezTo>
                  <a:cubicBezTo>
                    <a:pt x="556" y="1958"/>
                    <a:pt x="556" y="1958"/>
                    <a:pt x="556" y="1958"/>
                  </a:cubicBezTo>
                  <a:cubicBezTo>
                    <a:pt x="565" y="1965"/>
                    <a:pt x="565" y="1965"/>
                    <a:pt x="565" y="1965"/>
                  </a:cubicBezTo>
                  <a:cubicBezTo>
                    <a:pt x="544" y="1962"/>
                    <a:pt x="544" y="1962"/>
                    <a:pt x="544" y="1962"/>
                  </a:cubicBezTo>
                  <a:cubicBezTo>
                    <a:pt x="544" y="1962"/>
                    <a:pt x="550" y="1978"/>
                    <a:pt x="566" y="1978"/>
                  </a:cubicBezTo>
                  <a:cubicBezTo>
                    <a:pt x="582" y="1978"/>
                    <a:pt x="595" y="1978"/>
                    <a:pt x="595" y="1978"/>
                  </a:cubicBezTo>
                  <a:cubicBezTo>
                    <a:pt x="595" y="1978"/>
                    <a:pt x="611" y="1984"/>
                    <a:pt x="621" y="1983"/>
                  </a:cubicBezTo>
                  <a:cubicBezTo>
                    <a:pt x="631" y="1981"/>
                    <a:pt x="676" y="1981"/>
                    <a:pt x="690" y="1981"/>
                  </a:cubicBezTo>
                  <a:cubicBezTo>
                    <a:pt x="705" y="1981"/>
                    <a:pt x="725" y="1994"/>
                    <a:pt x="725" y="1994"/>
                  </a:cubicBezTo>
                  <a:cubicBezTo>
                    <a:pt x="746" y="1983"/>
                    <a:pt x="746" y="1983"/>
                    <a:pt x="746" y="1983"/>
                  </a:cubicBezTo>
                  <a:cubicBezTo>
                    <a:pt x="758" y="1987"/>
                    <a:pt x="758" y="1987"/>
                    <a:pt x="758" y="1987"/>
                  </a:cubicBezTo>
                  <a:cubicBezTo>
                    <a:pt x="770" y="1986"/>
                    <a:pt x="770" y="1986"/>
                    <a:pt x="770" y="1986"/>
                  </a:cubicBezTo>
                  <a:cubicBezTo>
                    <a:pt x="771" y="1970"/>
                    <a:pt x="771" y="1970"/>
                    <a:pt x="771" y="1970"/>
                  </a:cubicBezTo>
                  <a:cubicBezTo>
                    <a:pt x="771" y="1970"/>
                    <a:pt x="729" y="1968"/>
                    <a:pt x="677" y="1942"/>
                  </a:cubicBezTo>
                  <a:close/>
                  <a:moveTo>
                    <a:pt x="658" y="1993"/>
                  </a:moveTo>
                  <a:cubicBezTo>
                    <a:pt x="676" y="2003"/>
                    <a:pt x="676" y="2003"/>
                    <a:pt x="676" y="2003"/>
                  </a:cubicBezTo>
                  <a:cubicBezTo>
                    <a:pt x="712" y="2006"/>
                    <a:pt x="712" y="2006"/>
                    <a:pt x="712" y="2006"/>
                  </a:cubicBezTo>
                  <a:cubicBezTo>
                    <a:pt x="693" y="1988"/>
                    <a:pt x="693" y="1988"/>
                    <a:pt x="693" y="1988"/>
                  </a:cubicBezTo>
                  <a:lnTo>
                    <a:pt x="658" y="1993"/>
                  </a:lnTo>
                  <a:close/>
                  <a:moveTo>
                    <a:pt x="638" y="1997"/>
                  </a:moveTo>
                  <a:cubicBezTo>
                    <a:pt x="644" y="1991"/>
                    <a:pt x="644" y="1991"/>
                    <a:pt x="644" y="1991"/>
                  </a:cubicBezTo>
                  <a:cubicBezTo>
                    <a:pt x="617" y="1988"/>
                    <a:pt x="617" y="1988"/>
                    <a:pt x="617" y="1988"/>
                  </a:cubicBezTo>
                  <a:cubicBezTo>
                    <a:pt x="593" y="1988"/>
                    <a:pt x="593" y="1988"/>
                    <a:pt x="593" y="1988"/>
                  </a:cubicBezTo>
                  <a:cubicBezTo>
                    <a:pt x="602" y="2012"/>
                    <a:pt x="602" y="2012"/>
                    <a:pt x="602" y="2012"/>
                  </a:cubicBezTo>
                  <a:cubicBezTo>
                    <a:pt x="625" y="2014"/>
                    <a:pt x="625" y="2014"/>
                    <a:pt x="625" y="2014"/>
                  </a:cubicBezTo>
                  <a:cubicBezTo>
                    <a:pt x="619" y="2004"/>
                    <a:pt x="619" y="2004"/>
                    <a:pt x="619" y="2004"/>
                  </a:cubicBezTo>
                  <a:cubicBezTo>
                    <a:pt x="625" y="2000"/>
                    <a:pt x="625" y="2000"/>
                    <a:pt x="625" y="2000"/>
                  </a:cubicBezTo>
                  <a:cubicBezTo>
                    <a:pt x="632" y="2010"/>
                    <a:pt x="632" y="2010"/>
                    <a:pt x="632" y="2010"/>
                  </a:cubicBezTo>
                  <a:cubicBezTo>
                    <a:pt x="663" y="2010"/>
                    <a:pt x="663" y="2010"/>
                    <a:pt x="663" y="2010"/>
                  </a:cubicBezTo>
                  <a:cubicBezTo>
                    <a:pt x="673" y="2022"/>
                    <a:pt x="673" y="2022"/>
                    <a:pt x="673" y="2022"/>
                  </a:cubicBezTo>
                  <a:cubicBezTo>
                    <a:pt x="686" y="2022"/>
                    <a:pt x="686" y="2022"/>
                    <a:pt x="686" y="2022"/>
                  </a:cubicBezTo>
                  <a:cubicBezTo>
                    <a:pt x="666" y="2001"/>
                    <a:pt x="666" y="2001"/>
                    <a:pt x="666" y="2001"/>
                  </a:cubicBezTo>
                  <a:lnTo>
                    <a:pt x="638" y="1997"/>
                  </a:lnTo>
                  <a:close/>
                  <a:moveTo>
                    <a:pt x="537" y="1967"/>
                  </a:moveTo>
                  <a:cubicBezTo>
                    <a:pt x="495" y="1962"/>
                    <a:pt x="495" y="1962"/>
                    <a:pt x="495" y="1962"/>
                  </a:cubicBezTo>
                  <a:cubicBezTo>
                    <a:pt x="500" y="1974"/>
                    <a:pt x="500" y="1974"/>
                    <a:pt x="500" y="1974"/>
                  </a:cubicBezTo>
                  <a:cubicBezTo>
                    <a:pt x="527" y="1973"/>
                    <a:pt x="527" y="1973"/>
                    <a:pt x="527" y="1973"/>
                  </a:cubicBezTo>
                  <a:cubicBezTo>
                    <a:pt x="537" y="1987"/>
                    <a:pt x="537" y="1987"/>
                    <a:pt x="537" y="1987"/>
                  </a:cubicBezTo>
                  <a:cubicBezTo>
                    <a:pt x="575" y="2003"/>
                    <a:pt x="575" y="2003"/>
                    <a:pt x="575" y="2003"/>
                  </a:cubicBezTo>
                  <a:cubicBezTo>
                    <a:pt x="552" y="1983"/>
                    <a:pt x="552" y="1983"/>
                    <a:pt x="552" y="1983"/>
                  </a:cubicBezTo>
                  <a:lnTo>
                    <a:pt x="537" y="1967"/>
                  </a:lnTo>
                  <a:close/>
                  <a:moveTo>
                    <a:pt x="534" y="1924"/>
                  </a:moveTo>
                  <a:cubicBezTo>
                    <a:pt x="526" y="1935"/>
                    <a:pt x="526" y="1935"/>
                    <a:pt x="526" y="1935"/>
                  </a:cubicBezTo>
                  <a:cubicBezTo>
                    <a:pt x="530" y="1955"/>
                    <a:pt x="530" y="1955"/>
                    <a:pt x="530" y="1955"/>
                  </a:cubicBezTo>
                  <a:cubicBezTo>
                    <a:pt x="546" y="1949"/>
                    <a:pt x="546" y="1949"/>
                    <a:pt x="546" y="1949"/>
                  </a:cubicBezTo>
                  <a:lnTo>
                    <a:pt x="534" y="1924"/>
                  </a:lnTo>
                  <a:close/>
                  <a:moveTo>
                    <a:pt x="515" y="1954"/>
                  </a:moveTo>
                  <a:cubicBezTo>
                    <a:pt x="513" y="1942"/>
                    <a:pt x="513" y="1942"/>
                    <a:pt x="513" y="1942"/>
                  </a:cubicBezTo>
                  <a:cubicBezTo>
                    <a:pt x="479" y="1934"/>
                    <a:pt x="479" y="1934"/>
                    <a:pt x="479" y="1934"/>
                  </a:cubicBezTo>
                  <a:cubicBezTo>
                    <a:pt x="471" y="1945"/>
                    <a:pt x="471" y="1945"/>
                    <a:pt x="471" y="1945"/>
                  </a:cubicBezTo>
                  <a:cubicBezTo>
                    <a:pt x="472" y="1958"/>
                    <a:pt x="472" y="1958"/>
                    <a:pt x="472" y="1958"/>
                  </a:cubicBezTo>
                  <a:cubicBezTo>
                    <a:pt x="495" y="1949"/>
                    <a:pt x="495" y="1949"/>
                    <a:pt x="495" y="1949"/>
                  </a:cubicBezTo>
                  <a:lnTo>
                    <a:pt x="515" y="1954"/>
                  </a:lnTo>
                  <a:close/>
                  <a:moveTo>
                    <a:pt x="407" y="1848"/>
                  </a:moveTo>
                  <a:cubicBezTo>
                    <a:pt x="407" y="1848"/>
                    <a:pt x="381" y="1835"/>
                    <a:pt x="378" y="1847"/>
                  </a:cubicBezTo>
                  <a:cubicBezTo>
                    <a:pt x="375" y="1859"/>
                    <a:pt x="371" y="1874"/>
                    <a:pt x="375" y="1874"/>
                  </a:cubicBezTo>
                  <a:cubicBezTo>
                    <a:pt x="380" y="1874"/>
                    <a:pt x="397" y="1867"/>
                    <a:pt x="397" y="1867"/>
                  </a:cubicBezTo>
                  <a:cubicBezTo>
                    <a:pt x="399" y="1883"/>
                    <a:pt x="399" y="1883"/>
                    <a:pt x="399" y="1883"/>
                  </a:cubicBezTo>
                  <a:cubicBezTo>
                    <a:pt x="420" y="1873"/>
                    <a:pt x="420" y="1873"/>
                    <a:pt x="420" y="1873"/>
                  </a:cubicBezTo>
                  <a:cubicBezTo>
                    <a:pt x="409" y="1863"/>
                    <a:pt x="409" y="1863"/>
                    <a:pt x="409" y="1863"/>
                  </a:cubicBezTo>
                  <a:cubicBezTo>
                    <a:pt x="413" y="1851"/>
                    <a:pt x="413" y="1851"/>
                    <a:pt x="413" y="1851"/>
                  </a:cubicBezTo>
                  <a:lnTo>
                    <a:pt x="407" y="1848"/>
                  </a:lnTo>
                  <a:close/>
                  <a:moveTo>
                    <a:pt x="368" y="1886"/>
                  </a:moveTo>
                  <a:cubicBezTo>
                    <a:pt x="345" y="1873"/>
                    <a:pt x="345" y="1873"/>
                    <a:pt x="345" y="1873"/>
                  </a:cubicBezTo>
                  <a:cubicBezTo>
                    <a:pt x="362" y="1892"/>
                    <a:pt x="362" y="1892"/>
                    <a:pt x="362" y="1892"/>
                  </a:cubicBezTo>
                  <a:cubicBezTo>
                    <a:pt x="393" y="1896"/>
                    <a:pt x="393" y="1896"/>
                    <a:pt x="393" y="1896"/>
                  </a:cubicBezTo>
                  <a:cubicBezTo>
                    <a:pt x="404" y="1903"/>
                    <a:pt x="404" y="1903"/>
                    <a:pt x="404" y="1903"/>
                  </a:cubicBezTo>
                  <a:cubicBezTo>
                    <a:pt x="393" y="1889"/>
                    <a:pt x="393" y="1889"/>
                    <a:pt x="393" y="1889"/>
                  </a:cubicBezTo>
                  <a:lnTo>
                    <a:pt x="368" y="1886"/>
                  </a:lnTo>
                  <a:close/>
                  <a:moveTo>
                    <a:pt x="368" y="1835"/>
                  </a:moveTo>
                  <a:cubicBezTo>
                    <a:pt x="355" y="1822"/>
                    <a:pt x="355" y="1822"/>
                    <a:pt x="355" y="1822"/>
                  </a:cubicBezTo>
                  <a:cubicBezTo>
                    <a:pt x="351" y="1844"/>
                    <a:pt x="351" y="1844"/>
                    <a:pt x="351" y="1844"/>
                  </a:cubicBezTo>
                  <a:cubicBezTo>
                    <a:pt x="336" y="1848"/>
                    <a:pt x="336" y="1848"/>
                    <a:pt x="336" y="1848"/>
                  </a:cubicBezTo>
                  <a:cubicBezTo>
                    <a:pt x="365" y="1860"/>
                    <a:pt x="365" y="1860"/>
                    <a:pt x="365" y="1860"/>
                  </a:cubicBezTo>
                  <a:lnTo>
                    <a:pt x="368" y="1835"/>
                  </a:lnTo>
                  <a:close/>
                  <a:moveTo>
                    <a:pt x="296" y="1827"/>
                  </a:moveTo>
                  <a:cubicBezTo>
                    <a:pt x="319" y="1848"/>
                    <a:pt x="319" y="1848"/>
                    <a:pt x="319" y="1848"/>
                  </a:cubicBezTo>
                  <a:cubicBezTo>
                    <a:pt x="326" y="1841"/>
                    <a:pt x="326" y="1841"/>
                    <a:pt x="326" y="1841"/>
                  </a:cubicBezTo>
                  <a:cubicBezTo>
                    <a:pt x="306" y="1818"/>
                    <a:pt x="306" y="1818"/>
                    <a:pt x="306" y="1818"/>
                  </a:cubicBezTo>
                  <a:lnTo>
                    <a:pt x="296" y="1827"/>
                  </a:lnTo>
                  <a:close/>
                  <a:moveTo>
                    <a:pt x="342" y="1820"/>
                  </a:moveTo>
                  <a:cubicBezTo>
                    <a:pt x="335" y="1814"/>
                    <a:pt x="335" y="1814"/>
                    <a:pt x="335" y="1814"/>
                  </a:cubicBezTo>
                  <a:cubicBezTo>
                    <a:pt x="329" y="1824"/>
                    <a:pt x="329" y="1824"/>
                    <a:pt x="329" y="1824"/>
                  </a:cubicBezTo>
                  <a:cubicBezTo>
                    <a:pt x="336" y="1833"/>
                    <a:pt x="336" y="1833"/>
                    <a:pt x="336" y="1833"/>
                  </a:cubicBezTo>
                  <a:lnTo>
                    <a:pt x="342" y="1820"/>
                  </a:lnTo>
                  <a:close/>
                  <a:moveTo>
                    <a:pt x="303" y="1805"/>
                  </a:moveTo>
                  <a:cubicBezTo>
                    <a:pt x="306" y="1788"/>
                    <a:pt x="306" y="1788"/>
                    <a:pt x="306" y="1788"/>
                  </a:cubicBezTo>
                  <a:cubicBezTo>
                    <a:pt x="303" y="1763"/>
                    <a:pt x="303" y="1763"/>
                    <a:pt x="303" y="1763"/>
                  </a:cubicBezTo>
                  <a:cubicBezTo>
                    <a:pt x="292" y="1759"/>
                    <a:pt x="292" y="1759"/>
                    <a:pt x="292" y="1759"/>
                  </a:cubicBezTo>
                  <a:cubicBezTo>
                    <a:pt x="292" y="1770"/>
                    <a:pt x="292" y="1770"/>
                    <a:pt x="292" y="1770"/>
                  </a:cubicBezTo>
                  <a:cubicBezTo>
                    <a:pt x="270" y="1766"/>
                    <a:pt x="270" y="1766"/>
                    <a:pt x="270" y="1766"/>
                  </a:cubicBezTo>
                  <a:cubicBezTo>
                    <a:pt x="287" y="1789"/>
                    <a:pt x="287" y="1789"/>
                    <a:pt x="287" y="1789"/>
                  </a:cubicBezTo>
                  <a:cubicBezTo>
                    <a:pt x="283" y="1818"/>
                    <a:pt x="283" y="1818"/>
                    <a:pt x="283" y="1818"/>
                  </a:cubicBezTo>
                  <a:lnTo>
                    <a:pt x="303" y="1805"/>
                  </a:lnTo>
                  <a:close/>
                  <a:moveTo>
                    <a:pt x="243" y="1752"/>
                  </a:moveTo>
                  <a:cubicBezTo>
                    <a:pt x="254" y="1753"/>
                    <a:pt x="254" y="1753"/>
                    <a:pt x="254" y="1753"/>
                  </a:cubicBezTo>
                  <a:cubicBezTo>
                    <a:pt x="261" y="1775"/>
                    <a:pt x="261" y="1775"/>
                    <a:pt x="261" y="1775"/>
                  </a:cubicBezTo>
                  <a:cubicBezTo>
                    <a:pt x="266" y="1755"/>
                    <a:pt x="266" y="1755"/>
                    <a:pt x="266" y="1755"/>
                  </a:cubicBezTo>
                  <a:cubicBezTo>
                    <a:pt x="267" y="1739"/>
                    <a:pt x="267" y="1739"/>
                    <a:pt x="267" y="1739"/>
                  </a:cubicBezTo>
                  <a:cubicBezTo>
                    <a:pt x="250" y="1734"/>
                    <a:pt x="250" y="1734"/>
                    <a:pt x="250" y="1734"/>
                  </a:cubicBezTo>
                  <a:lnTo>
                    <a:pt x="243" y="1752"/>
                  </a:lnTo>
                  <a:close/>
                  <a:moveTo>
                    <a:pt x="248" y="1727"/>
                  </a:moveTo>
                  <a:cubicBezTo>
                    <a:pt x="253" y="1726"/>
                    <a:pt x="256" y="1717"/>
                    <a:pt x="256" y="1717"/>
                  </a:cubicBezTo>
                  <a:cubicBezTo>
                    <a:pt x="276" y="1734"/>
                    <a:pt x="276" y="1734"/>
                    <a:pt x="276" y="1734"/>
                  </a:cubicBezTo>
                  <a:cubicBezTo>
                    <a:pt x="277" y="1718"/>
                    <a:pt x="277" y="1718"/>
                    <a:pt x="277" y="1718"/>
                  </a:cubicBezTo>
                  <a:cubicBezTo>
                    <a:pt x="257" y="1697"/>
                    <a:pt x="257" y="1697"/>
                    <a:pt x="257" y="1697"/>
                  </a:cubicBezTo>
                  <a:cubicBezTo>
                    <a:pt x="257" y="1697"/>
                    <a:pt x="241" y="1674"/>
                    <a:pt x="241" y="1662"/>
                  </a:cubicBezTo>
                  <a:cubicBezTo>
                    <a:pt x="241" y="1651"/>
                    <a:pt x="230" y="1639"/>
                    <a:pt x="219" y="1633"/>
                  </a:cubicBezTo>
                  <a:cubicBezTo>
                    <a:pt x="209" y="1628"/>
                    <a:pt x="209" y="1639"/>
                    <a:pt x="209" y="1639"/>
                  </a:cubicBezTo>
                  <a:cubicBezTo>
                    <a:pt x="195" y="1635"/>
                    <a:pt x="195" y="1635"/>
                    <a:pt x="195" y="1635"/>
                  </a:cubicBezTo>
                  <a:cubicBezTo>
                    <a:pt x="195" y="1635"/>
                    <a:pt x="180" y="1662"/>
                    <a:pt x="191" y="1662"/>
                  </a:cubicBezTo>
                  <a:cubicBezTo>
                    <a:pt x="201" y="1662"/>
                    <a:pt x="221" y="1662"/>
                    <a:pt x="221" y="1662"/>
                  </a:cubicBezTo>
                  <a:cubicBezTo>
                    <a:pt x="208" y="1688"/>
                    <a:pt x="208" y="1688"/>
                    <a:pt x="208" y="1688"/>
                  </a:cubicBezTo>
                  <a:cubicBezTo>
                    <a:pt x="217" y="1688"/>
                    <a:pt x="217" y="1688"/>
                    <a:pt x="217" y="1688"/>
                  </a:cubicBezTo>
                  <a:cubicBezTo>
                    <a:pt x="231" y="1675"/>
                    <a:pt x="231" y="1675"/>
                    <a:pt x="231" y="1675"/>
                  </a:cubicBezTo>
                  <a:cubicBezTo>
                    <a:pt x="230" y="1691"/>
                    <a:pt x="230" y="1691"/>
                    <a:pt x="230" y="1691"/>
                  </a:cubicBezTo>
                  <a:cubicBezTo>
                    <a:pt x="230" y="1691"/>
                    <a:pt x="244" y="1729"/>
                    <a:pt x="248" y="1727"/>
                  </a:cubicBezTo>
                  <a:close/>
                  <a:moveTo>
                    <a:pt x="163" y="1391"/>
                  </a:moveTo>
                  <a:cubicBezTo>
                    <a:pt x="165" y="1359"/>
                    <a:pt x="165" y="1359"/>
                    <a:pt x="165" y="1359"/>
                  </a:cubicBezTo>
                  <a:cubicBezTo>
                    <a:pt x="144" y="1339"/>
                    <a:pt x="144" y="1339"/>
                    <a:pt x="144" y="1339"/>
                  </a:cubicBezTo>
                  <a:cubicBezTo>
                    <a:pt x="154" y="1329"/>
                    <a:pt x="154" y="1329"/>
                    <a:pt x="154" y="1329"/>
                  </a:cubicBezTo>
                  <a:cubicBezTo>
                    <a:pt x="140" y="1313"/>
                    <a:pt x="140" y="1313"/>
                    <a:pt x="140" y="1313"/>
                  </a:cubicBezTo>
                  <a:cubicBezTo>
                    <a:pt x="117" y="1304"/>
                    <a:pt x="117" y="1304"/>
                    <a:pt x="117" y="1304"/>
                  </a:cubicBezTo>
                  <a:cubicBezTo>
                    <a:pt x="117" y="1304"/>
                    <a:pt x="114" y="1340"/>
                    <a:pt x="123" y="1343"/>
                  </a:cubicBezTo>
                  <a:cubicBezTo>
                    <a:pt x="131" y="1346"/>
                    <a:pt x="137" y="1366"/>
                    <a:pt x="137" y="1366"/>
                  </a:cubicBezTo>
                  <a:cubicBezTo>
                    <a:pt x="133" y="1379"/>
                    <a:pt x="133" y="1379"/>
                    <a:pt x="133" y="1379"/>
                  </a:cubicBezTo>
                  <a:lnTo>
                    <a:pt x="163" y="1391"/>
                  </a:lnTo>
                  <a:close/>
                  <a:moveTo>
                    <a:pt x="163" y="1453"/>
                  </a:moveTo>
                  <a:cubicBezTo>
                    <a:pt x="170" y="1461"/>
                    <a:pt x="170" y="1461"/>
                    <a:pt x="170" y="1461"/>
                  </a:cubicBezTo>
                  <a:cubicBezTo>
                    <a:pt x="188" y="1461"/>
                    <a:pt x="188" y="1461"/>
                    <a:pt x="188" y="1461"/>
                  </a:cubicBezTo>
                  <a:cubicBezTo>
                    <a:pt x="195" y="1448"/>
                    <a:pt x="195" y="1448"/>
                    <a:pt x="195" y="1448"/>
                  </a:cubicBezTo>
                  <a:cubicBezTo>
                    <a:pt x="176" y="1453"/>
                    <a:pt x="176" y="1453"/>
                    <a:pt x="176" y="1453"/>
                  </a:cubicBezTo>
                  <a:lnTo>
                    <a:pt x="163" y="1453"/>
                  </a:lnTo>
                  <a:close/>
                  <a:moveTo>
                    <a:pt x="186" y="1483"/>
                  </a:moveTo>
                  <a:cubicBezTo>
                    <a:pt x="188" y="1495"/>
                    <a:pt x="188" y="1495"/>
                    <a:pt x="188" y="1495"/>
                  </a:cubicBezTo>
                  <a:cubicBezTo>
                    <a:pt x="204" y="1505"/>
                    <a:pt x="204" y="1505"/>
                    <a:pt x="204" y="1505"/>
                  </a:cubicBezTo>
                  <a:cubicBezTo>
                    <a:pt x="204" y="1489"/>
                    <a:pt x="204" y="1489"/>
                    <a:pt x="204" y="1489"/>
                  </a:cubicBezTo>
                  <a:cubicBezTo>
                    <a:pt x="195" y="1473"/>
                    <a:pt x="195" y="1473"/>
                    <a:pt x="195" y="1473"/>
                  </a:cubicBezTo>
                  <a:cubicBezTo>
                    <a:pt x="173" y="1474"/>
                    <a:pt x="173" y="1474"/>
                    <a:pt x="173" y="1474"/>
                  </a:cubicBezTo>
                  <a:lnTo>
                    <a:pt x="186" y="1483"/>
                  </a:lnTo>
                  <a:close/>
                  <a:moveTo>
                    <a:pt x="212" y="1463"/>
                  </a:moveTo>
                  <a:cubicBezTo>
                    <a:pt x="212" y="1463"/>
                    <a:pt x="244" y="1444"/>
                    <a:pt x="222" y="1440"/>
                  </a:cubicBezTo>
                  <a:cubicBezTo>
                    <a:pt x="201" y="1435"/>
                    <a:pt x="199" y="1463"/>
                    <a:pt x="212" y="1463"/>
                  </a:cubicBezTo>
                  <a:close/>
                  <a:moveTo>
                    <a:pt x="166" y="1409"/>
                  </a:moveTo>
                  <a:cubicBezTo>
                    <a:pt x="152" y="1420"/>
                    <a:pt x="159" y="1430"/>
                    <a:pt x="169" y="1427"/>
                  </a:cubicBezTo>
                  <a:cubicBezTo>
                    <a:pt x="181" y="1423"/>
                    <a:pt x="180" y="1399"/>
                    <a:pt x="166" y="1409"/>
                  </a:cubicBezTo>
                  <a:close/>
                  <a:moveTo>
                    <a:pt x="156" y="1437"/>
                  </a:moveTo>
                  <a:cubicBezTo>
                    <a:pt x="143" y="1440"/>
                    <a:pt x="143" y="1440"/>
                    <a:pt x="143" y="1440"/>
                  </a:cubicBezTo>
                  <a:cubicBezTo>
                    <a:pt x="150" y="1453"/>
                    <a:pt x="150" y="1453"/>
                    <a:pt x="150" y="1453"/>
                  </a:cubicBezTo>
                  <a:lnTo>
                    <a:pt x="156" y="1437"/>
                  </a:lnTo>
                  <a:close/>
                  <a:moveTo>
                    <a:pt x="476" y="1919"/>
                  </a:moveTo>
                  <a:cubicBezTo>
                    <a:pt x="485" y="1915"/>
                    <a:pt x="484" y="1925"/>
                    <a:pt x="484" y="1925"/>
                  </a:cubicBezTo>
                  <a:cubicBezTo>
                    <a:pt x="484" y="1925"/>
                    <a:pt x="499" y="1928"/>
                    <a:pt x="514" y="1925"/>
                  </a:cubicBezTo>
                  <a:cubicBezTo>
                    <a:pt x="528" y="1921"/>
                    <a:pt x="498" y="1899"/>
                    <a:pt x="498" y="1899"/>
                  </a:cubicBezTo>
                  <a:cubicBezTo>
                    <a:pt x="498" y="1874"/>
                    <a:pt x="498" y="1874"/>
                    <a:pt x="498" y="1874"/>
                  </a:cubicBezTo>
                  <a:cubicBezTo>
                    <a:pt x="523" y="1872"/>
                    <a:pt x="523" y="1872"/>
                    <a:pt x="523" y="1872"/>
                  </a:cubicBezTo>
                  <a:cubicBezTo>
                    <a:pt x="521" y="1860"/>
                    <a:pt x="521" y="1860"/>
                    <a:pt x="521" y="1860"/>
                  </a:cubicBezTo>
                  <a:cubicBezTo>
                    <a:pt x="537" y="1862"/>
                    <a:pt x="537" y="1862"/>
                    <a:pt x="537" y="1862"/>
                  </a:cubicBezTo>
                  <a:cubicBezTo>
                    <a:pt x="542" y="1850"/>
                    <a:pt x="542" y="1850"/>
                    <a:pt x="542" y="1850"/>
                  </a:cubicBezTo>
                  <a:cubicBezTo>
                    <a:pt x="527" y="1838"/>
                    <a:pt x="527" y="1838"/>
                    <a:pt x="527" y="1838"/>
                  </a:cubicBezTo>
                  <a:cubicBezTo>
                    <a:pt x="527" y="1838"/>
                    <a:pt x="507" y="1839"/>
                    <a:pt x="491" y="1837"/>
                  </a:cubicBezTo>
                  <a:cubicBezTo>
                    <a:pt x="475" y="1835"/>
                    <a:pt x="449" y="1842"/>
                    <a:pt x="449" y="1842"/>
                  </a:cubicBezTo>
                  <a:cubicBezTo>
                    <a:pt x="437" y="1830"/>
                    <a:pt x="437" y="1830"/>
                    <a:pt x="437" y="1830"/>
                  </a:cubicBezTo>
                  <a:cubicBezTo>
                    <a:pt x="413" y="1819"/>
                    <a:pt x="413" y="1819"/>
                    <a:pt x="413" y="1819"/>
                  </a:cubicBezTo>
                  <a:cubicBezTo>
                    <a:pt x="406" y="1808"/>
                    <a:pt x="406" y="1808"/>
                    <a:pt x="406" y="1808"/>
                  </a:cubicBezTo>
                  <a:cubicBezTo>
                    <a:pt x="392" y="1792"/>
                    <a:pt x="392" y="1792"/>
                    <a:pt x="392" y="1792"/>
                  </a:cubicBezTo>
                  <a:cubicBezTo>
                    <a:pt x="392" y="1792"/>
                    <a:pt x="398" y="1780"/>
                    <a:pt x="383" y="1767"/>
                  </a:cubicBezTo>
                  <a:cubicBezTo>
                    <a:pt x="368" y="1754"/>
                    <a:pt x="362" y="1772"/>
                    <a:pt x="352" y="1772"/>
                  </a:cubicBezTo>
                  <a:cubicBezTo>
                    <a:pt x="342" y="1772"/>
                    <a:pt x="338" y="1747"/>
                    <a:pt x="338" y="1747"/>
                  </a:cubicBezTo>
                  <a:cubicBezTo>
                    <a:pt x="318" y="1743"/>
                    <a:pt x="318" y="1743"/>
                    <a:pt x="318" y="1743"/>
                  </a:cubicBezTo>
                  <a:cubicBezTo>
                    <a:pt x="318" y="1743"/>
                    <a:pt x="320" y="1723"/>
                    <a:pt x="315" y="1718"/>
                  </a:cubicBezTo>
                  <a:cubicBezTo>
                    <a:pt x="310" y="1713"/>
                    <a:pt x="308" y="1697"/>
                    <a:pt x="308" y="1697"/>
                  </a:cubicBezTo>
                  <a:cubicBezTo>
                    <a:pt x="315" y="1693"/>
                    <a:pt x="315" y="1693"/>
                    <a:pt x="315" y="1693"/>
                  </a:cubicBezTo>
                  <a:cubicBezTo>
                    <a:pt x="316" y="1680"/>
                    <a:pt x="316" y="1680"/>
                    <a:pt x="316" y="1680"/>
                  </a:cubicBezTo>
                  <a:cubicBezTo>
                    <a:pt x="316" y="1680"/>
                    <a:pt x="331" y="1675"/>
                    <a:pt x="334" y="1670"/>
                  </a:cubicBezTo>
                  <a:cubicBezTo>
                    <a:pt x="337" y="1665"/>
                    <a:pt x="317" y="1650"/>
                    <a:pt x="317" y="1650"/>
                  </a:cubicBezTo>
                  <a:cubicBezTo>
                    <a:pt x="317" y="1650"/>
                    <a:pt x="333" y="1641"/>
                    <a:pt x="332" y="1638"/>
                  </a:cubicBezTo>
                  <a:cubicBezTo>
                    <a:pt x="331" y="1635"/>
                    <a:pt x="312" y="1624"/>
                    <a:pt x="312" y="1624"/>
                  </a:cubicBezTo>
                  <a:cubicBezTo>
                    <a:pt x="315" y="1594"/>
                    <a:pt x="315" y="1594"/>
                    <a:pt x="315" y="1594"/>
                  </a:cubicBezTo>
                  <a:cubicBezTo>
                    <a:pt x="326" y="1590"/>
                    <a:pt x="326" y="1590"/>
                    <a:pt x="326" y="1590"/>
                  </a:cubicBezTo>
                  <a:cubicBezTo>
                    <a:pt x="316" y="1573"/>
                    <a:pt x="316" y="1573"/>
                    <a:pt x="316" y="1573"/>
                  </a:cubicBezTo>
                  <a:cubicBezTo>
                    <a:pt x="319" y="1551"/>
                    <a:pt x="319" y="1551"/>
                    <a:pt x="319" y="1551"/>
                  </a:cubicBezTo>
                  <a:cubicBezTo>
                    <a:pt x="304" y="1533"/>
                    <a:pt x="304" y="1533"/>
                    <a:pt x="304" y="1533"/>
                  </a:cubicBezTo>
                  <a:cubicBezTo>
                    <a:pt x="307" y="1518"/>
                    <a:pt x="307" y="1518"/>
                    <a:pt x="307" y="1518"/>
                  </a:cubicBezTo>
                  <a:cubicBezTo>
                    <a:pt x="291" y="1506"/>
                    <a:pt x="291" y="1506"/>
                    <a:pt x="291" y="1506"/>
                  </a:cubicBezTo>
                  <a:cubicBezTo>
                    <a:pt x="291" y="1506"/>
                    <a:pt x="304" y="1495"/>
                    <a:pt x="307" y="1487"/>
                  </a:cubicBezTo>
                  <a:cubicBezTo>
                    <a:pt x="310" y="1479"/>
                    <a:pt x="287" y="1470"/>
                    <a:pt x="287" y="1470"/>
                  </a:cubicBezTo>
                  <a:cubicBezTo>
                    <a:pt x="287" y="1470"/>
                    <a:pt x="264" y="1463"/>
                    <a:pt x="263" y="1460"/>
                  </a:cubicBezTo>
                  <a:cubicBezTo>
                    <a:pt x="262" y="1457"/>
                    <a:pt x="294" y="1460"/>
                    <a:pt x="296" y="1449"/>
                  </a:cubicBezTo>
                  <a:cubicBezTo>
                    <a:pt x="298" y="1438"/>
                    <a:pt x="279" y="1443"/>
                    <a:pt x="272" y="1443"/>
                  </a:cubicBezTo>
                  <a:cubicBezTo>
                    <a:pt x="265" y="1443"/>
                    <a:pt x="260" y="1433"/>
                    <a:pt x="260" y="1433"/>
                  </a:cubicBezTo>
                  <a:cubicBezTo>
                    <a:pt x="260" y="1433"/>
                    <a:pt x="259" y="1416"/>
                    <a:pt x="258" y="1405"/>
                  </a:cubicBezTo>
                  <a:cubicBezTo>
                    <a:pt x="257" y="1394"/>
                    <a:pt x="241" y="1393"/>
                    <a:pt x="241" y="1393"/>
                  </a:cubicBezTo>
                  <a:cubicBezTo>
                    <a:pt x="245" y="1375"/>
                    <a:pt x="245" y="1375"/>
                    <a:pt x="245" y="1375"/>
                  </a:cubicBezTo>
                  <a:cubicBezTo>
                    <a:pt x="235" y="1370"/>
                    <a:pt x="235" y="1370"/>
                    <a:pt x="235" y="1370"/>
                  </a:cubicBezTo>
                  <a:cubicBezTo>
                    <a:pt x="235" y="1370"/>
                    <a:pt x="226" y="1366"/>
                    <a:pt x="223" y="1358"/>
                  </a:cubicBezTo>
                  <a:cubicBezTo>
                    <a:pt x="220" y="1350"/>
                    <a:pt x="215" y="1320"/>
                    <a:pt x="215" y="1320"/>
                  </a:cubicBezTo>
                  <a:cubicBezTo>
                    <a:pt x="215" y="1320"/>
                    <a:pt x="226" y="1311"/>
                    <a:pt x="231" y="1312"/>
                  </a:cubicBezTo>
                  <a:cubicBezTo>
                    <a:pt x="236" y="1313"/>
                    <a:pt x="207" y="1292"/>
                    <a:pt x="204" y="1286"/>
                  </a:cubicBezTo>
                  <a:cubicBezTo>
                    <a:pt x="201" y="1280"/>
                    <a:pt x="201" y="1261"/>
                    <a:pt x="201" y="1261"/>
                  </a:cubicBezTo>
                  <a:cubicBezTo>
                    <a:pt x="201" y="1261"/>
                    <a:pt x="194" y="1250"/>
                    <a:pt x="193" y="1244"/>
                  </a:cubicBezTo>
                  <a:cubicBezTo>
                    <a:pt x="192" y="1238"/>
                    <a:pt x="197" y="1220"/>
                    <a:pt x="197" y="1220"/>
                  </a:cubicBezTo>
                  <a:cubicBezTo>
                    <a:pt x="183" y="1212"/>
                    <a:pt x="183" y="1212"/>
                    <a:pt x="183" y="1212"/>
                  </a:cubicBezTo>
                  <a:cubicBezTo>
                    <a:pt x="183" y="1212"/>
                    <a:pt x="188" y="1204"/>
                    <a:pt x="187" y="1196"/>
                  </a:cubicBezTo>
                  <a:cubicBezTo>
                    <a:pt x="186" y="1188"/>
                    <a:pt x="176" y="1183"/>
                    <a:pt x="176" y="1183"/>
                  </a:cubicBezTo>
                  <a:cubicBezTo>
                    <a:pt x="189" y="1174"/>
                    <a:pt x="189" y="1174"/>
                    <a:pt x="189" y="1174"/>
                  </a:cubicBezTo>
                  <a:cubicBezTo>
                    <a:pt x="181" y="1146"/>
                    <a:pt x="181" y="1146"/>
                    <a:pt x="181" y="1146"/>
                  </a:cubicBezTo>
                  <a:cubicBezTo>
                    <a:pt x="181" y="1146"/>
                    <a:pt x="195" y="1141"/>
                    <a:pt x="200" y="1132"/>
                  </a:cubicBezTo>
                  <a:cubicBezTo>
                    <a:pt x="205" y="1123"/>
                    <a:pt x="186" y="1114"/>
                    <a:pt x="186" y="1114"/>
                  </a:cubicBezTo>
                  <a:cubicBezTo>
                    <a:pt x="185" y="1102"/>
                    <a:pt x="185" y="1102"/>
                    <a:pt x="185" y="1102"/>
                  </a:cubicBezTo>
                  <a:cubicBezTo>
                    <a:pt x="165" y="1085"/>
                    <a:pt x="165" y="1085"/>
                    <a:pt x="165" y="1085"/>
                  </a:cubicBezTo>
                  <a:cubicBezTo>
                    <a:pt x="165" y="1085"/>
                    <a:pt x="165" y="1064"/>
                    <a:pt x="165" y="1057"/>
                  </a:cubicBezTo>
                  <a:cubicBezTo>
                    <a:pt x="165" y="1050"/>
                    <a:pt x="153" y="1017"/>
                    <a:pt x="153" y="1017"/>
                  </a:cubicBezTo>
                  <a:cubicBezTo>
                    <a:pt x="170" y="1016"/>
                    <a:pt x="170" y="1016"/>
                    <a:pt x="170" y="1016"/>
                  </a:cubicBezTo>
                  <a:cubicBezTo>
                    <a:pt x="172" y="1004"/>
                    <a:pt x="172" y="1004"/>
                    <a:pt x="172" y="1004"/>
                  </a:cubicBezTo>
                  <a:cubicBezTo>
                    <a:pt x="172" y="1004"/>
                    <a:pt x="176" y="993"/>
                    <a:pt x="175" y="983"/>
                  </a:cubicBezTo>
                  <a:cubicBezTo>
                    <a:pt x="174" y="973"/>
                    <a:pt x="157" y="955"/>
                    <a:pt x="157" y="955"/>
                  </a:cubicBezTo>
                  <a:cubicBezTo>
                    <a:pt x="166" y="954"/>
                    <a:pt x="166" y="954"/>
                    <a:pt x="166" y="954"/>
                  </a:cubicBezTo>
                  <a:cubicBezTo>
                    <a:pt x="166" y="954"/>
                    <a:pt x="167" y="915"/>
                    <a:pt x="167" y="911"/>
                  </a:cubicBezTo>
                  <a:cubicBezTo>
                    <a:pt x="167" y="907"/>
                    <a:pt x="176" y="900"/>
                    <a:pt x="179" y="894"/>
                  </a:cubicBezTo>
                  <a:cubicBezTo>
                    <a:pt x="182" y="888"/>
                    <a:pt x="167" y="869"/>
                    <a:pt x="167" y="869"/>
                  </a:cubicBezTo>
                  <a:cubicBezTo>
                    <a:pt x="165" y="844"/>
                    <a:pt x="165" y="844"/>
                    <a:pt x="165" y="844"/>
                  </a:cubicBezTo>
                  <a:cubicBezTo>
                    <a:pt x="165" y="844"/>
                    <a:pt x="161" y="846"/>
                    <a:pt x="149" y="843"/>
                  </a:cubicBezTo>
                  <a:cubicBezTo>
                    <a:pt x="137" y="840"/>
                    <a:pt x="145" y="821"/>
                    <a:pt x="145" y="821"/>
                  </a:cubicBezTo>
                  <a:cubicBezTo>
                    <a:pt x="142" y="815"/>
                    <a:pt x="142" y="815"/>
                    <a:pt x="142" y="815"/>
                  </a:cubicBezTo>
                  <a:cubicBezTo>
                    <a:pt x="134" y="794"/>
                    <a:pt x="134" y="794"/>
                    <a:pt x="134" y="794"/>
                  </a:cubicBezTo>
                  <a:cubicBezTo>
                    <a:pt x="121" y="784"/>
                    <a:pt x="121" y="784"/>
                    <a:pt x="121" y="784"/>
                  </a:cubicBezTo>
                  <a:cubicBezTo>
                    <a:pt x="121" y="784"/>
                    <a:pt x="123" y="775"/>
                    <a:pt x="125" y="771"/>
                  </a:cubicBezTo>
                  <a:cubicBezTo>
                    <a:pt x="127" y="767"/>
                    <a:pt x="104" y="752"/>
                    <a:pt x="104" y="752"/>
                  </a:cubicBezTo>
                  <a:cubicBezTo>
                    <a:pt x="104" y="752"/>
                    <a:pt x="102" y="735"/>
                    <a:pt x="102" y="730"/>
                  </a:cubicBezTo>
                  <a:cubicBezTo>
                    <a:pt x="102" y="725"/>
                    <a:pt x="112" y="724"/>
                    <a:pt x="112" y="724"/>
                  </a:cubicBezTo>
                  <a:cubicBezTo>
                    <a:pt x="109" y="685"/>
                    <a:pt x="109" y="685"/>
                    <a:pt x="109" y="685"/>
                  </a:cubicBezTo>
                  <a:cubicBezTo>
                    <a:pt x="109" y="685"/>
                    <a:pt x="118" y="690"/>
                    <a:pt x="123" y="685"/>
                  </a:cubicBezTo>
                  <a:cubicBezTo>
                    <a:pt x="128" y="680"/>
                    <a:pt x="105" y="635"/>
                    <a:pt x="104" y="631"/>
                  </a:cubicBezTo>
                  <a:cubicBezTo>
                    <a:pt x="103" y="627"/>
                    <a:pt x="112" y="619"/>
                    <a:pt x="114" y="615"/>
                  </a:cubicBezTo>
                  <a:cubicBezTo>
                    <a:pt x="116" y="611"/>
                    <a:pt x="111" y="586"/>
                    <a:pt x="111" y="576"/>
                  </a:cubicBezTo>
                  <a:cubicBezTo>
                    <a:pt x="111" y="566"/>
                    <a:pt x="129" y="558"/>
                    <a:pt x="130" y="553"/>
                  </a:cubicBezTo>
                  <a:cubicBezTo>
                    <a:pt x="131" y="548"/>
                    <a:pt x="137" y="510"/>
                    <a:pt x="137" y="510"/>
                  </a:cubicBezTo>
                  <a:cubicBezTo>
                    <a:pt x="137" y="510"/>
                    <a:pt x="159" y="509"/>
                    <a:pt x="162" y="498"/>
                  </a:cubicBezTo>
                  <a:cubicBezTo>
                    <a:pt x="165" y="487"/>
                    <a:pt x="134" y="476"/>
                    <a:pt x="134" y="476"/>
                  </a:cubicBezTo>
                  <a:cubicBezTo>
                    <a:pt x="134" y="476"/>
                    <a:pt x="151" y="464"/>
                    <a:pt x="152" y="454"/>
                  </a:cubicBezTo>
                  <a:cubicBezTo>
                    <a:pt x="153" y="444"/>
                    <a:pt x="134" y="436"/>
                    <a:pt x="129" y="429"/>
                  </a:cubicBezTo>
                  <a:cubicBezTo>
                    <a:pt x="124" y="422"/>
                    <a:pt x="134" y="413"/>
                    <a:pt x="143" y="404"/>
                  </a:cubicBezTo>
                  <a:cubicBezTo>
                    <a:pt x="152" y="395"/>
                    <a:pt x="125" y="401"/>
                    <a:pt x="124" y="387"/>
                  </a:cubicBezTo>
                  <a:cubicBezTo>
                    <a:pt x="123" y="373"/>
                    <a:pt x="178" y="349"/>
                    <a:pt x="178" y="349"/>
                  </a:cubicBezTo>
                  <a:cubicBezTo>
                    <a:pt x="184" y="293"/>
                    <a:pt x="184" y="293"/>
                    <a:pt x="184" y="293"/>
                  </a:cubicBezTo>
                  <a:cubicBezTo>
                    <a:pt x="177" y="282"/>
                    <a:pt x="177" y="282"/>
                    <a:pt x="177" y="282"/>
                  </a:cubicBezTo>
                  <a:cubicBezTo>
                    <a:pt x="170" y="284"/>
                    <a:pt x="161" y="285"/>
                    <a:pt x="153" y="284"/>
                  </a:cubicBezTo>
                  <a:cubicBezTo>
                    <a:pt x="141" y="283"/>
                    <a:pt x="142" y="257"/>
                    <a:pt x="142" y="257"/>
                  </a:cubicBezTo>
                  <a:cubicBezTo>
                    <a:pt x="129" y="241"/>
                    <a:pt x="129" y="241"/>
                    <a:pt x="129" y="241"/>
                  </a:cubicBezTo>
                  <a:cubicBezTo>
                    <a:pt x="129" y="241"/>
                    <a:pt x="131" y="211"/>
                    <a:pt x="129" y="200"/>
                  </a:cubicBezTo>
                  <a:cubicBezTo>
                    <a:pt x="126" y="189"/>
                    <a:pt x="97" y="178"/>
                    <a:pt x="97" y="178"/>
                  </a:cubicBezTo>
                  <a:cubicBezTo>
                    <a:pt x="97" y="161"/>
                    <a:pt x="97" y="161"/>
                    <a:pt x="97" y="161"/>
                  </a:cubicBezTo>
                  <a:cubicBezTo>
                    <a:pt x="97" y="161"/>
                    <a:pt x="92" y="158"/>
                    <a:pt x="88" y="148"/>
                  </a:cubicBezTo>
                  <a:cubicBezTo>
                    <a:pt x="84" y="139"/>
                    <a:pt x="99" y="127"/>
                    <a:pt x="99" y="127"/>
                  </a:cubicBezTo>
                  <a:cubicBezTo>
                    <a:pt x="88" y="116"/>
                    <a:pt x="88" y="116"/>
                    <a:pt x="88" y="116"/>
                  </a:cubicBezTo>
                  <a:cubicBezTo>
                    <a:pt x="88" y="116"/>
                    <a:pt x="96" y="110"/>
                    <a:pt x="100" y="98"/>
                  </a:cubicBezTo>
                  <a:cubicBezTo>
                    <a:pt x="104" y="86"/>
                    <a:pt x="68" y="74"/>
                    <a:pt x="68" y="74"/>
                  </a:cubicBezTo>
                  <a:cubicBezTo>
                    <a:pt x="59" y="22"/>
                    <a:pt x="59" y="22"/>
                    <a:pt x="59" y="22"/>
                  </a:cubicBezTo>
                  <a:cubicBezTo>
                    <a:pt x="45" y="22"/>
                    <a:pt x="45" y="22"/>
                    <a:pt x="45" y="22"/>
                  </a:cubicBezTo>
                  <a:cubicBezTo>
                    <a:pt x="34" y="0"/>
                    <a:pt x="34" y="0"/>
                    <a:pt x="34" y="0"/>
                  </a:cubicBezTo>
                  <a:cubicBezTo>
                    <a:pt x="23" y="7"/>
                    <a:pt x="23" y="7"/>
                    <a:pt x="23" y="7"/>
                  </a:cubicBezTo>
                  <a:cubicBezTo>
                    <a:pt x="23" y="7"/>
                    <a:pt x="35" y="21"/>
                    <a:pt x="23" y="30"/>
                  </a:cubicBezTo>
                  <a:cubicBezTo>
                    <a:pt x="16" y="36"/>
                    <a:pt x="7" y="42"/>
                    <a:pt x="1" y="46"/>
                  </a:cubicBezTo>
                  <a:cubicBezTo>
                    <a:pt x="0" y="72"/>
                    <a:pt x="0" y="72"/>
                    <a:pt x="0" y="72"/>
                  </a:cubicBezTo>
                  <a:cubicBezTo>
                    <a:pt x="0" y="72"/>
                    <a:pt x="13" y="99"/>
                    <a:pt x="19" y="119"/>
                  </a:cubicBezTo>
                  <a:cubicBezTo>
                    <a:pt x="25" y="139"/>
                    <a:pt x="24" y="169"/>
                    <a:pt x="24" y="182"/>
                  </a:cubicBezTo>
                  <a:cubicBezTo>
                    <a:pt x="24" y="195"/>
                    <a:pt x="32" y="206"/>
                    <a:pt x="33" y="229"/>
                  </a:cubicBezTo>
                  <a:cubicBezTo>
                    <a:pt x="34" y="253"/>
                    <a:pt x="34" y="290"/>
                    <a:pt x="34" y="290"/>
                  </a:cubicBezTo>
                  <a:cubicBezTo>
                    <a:pt x="20" y="298"/>
                    <a:pt x="20" y="298"/>
                    <a:pt x="20" y="298"/>
                  </a:cubicBezTo>
                  <a:cubicBezTo>
                    <a:pt x="23" y="318"/>
                    <a:pt x="23" y="318"/>
                    <a:pt x="23" y="318"/>
                  </a:cubicBezTo>
                  <a:cubicBezTo>
                    <a:pt x="38" y="327"/>
                    <a:pt x="38" y="327"/>
                    <a:pt x="38" y="327"/>
                  </a:cubicBezTo>
                  <a:cubicBezTo>
                    <a:pt x="32" y="389"/>
                    <a:pt x="32" y="389"/>
                    <a:pt x="32" y="389"/>
                  </a:cubicBezTo>
                  <a:cubicBezTo>
                    <a:pt x="47" y="417"/>
                    <a:pt x="47" y="417"/>
                    <a:pt x="47" y="417"/>
                  </a:cubicBezTo>
                  <a:cubicBezTo>
                    <a:pt x="36" y="430"/>
                    <a:pt x="36" y="430"/>
                    <a:pt x="36" y="430"/>
                  </a:cubicBezTo>
                  <a:cubicBezTo>
                    <a:pt x="42" y="472"/>
                    <a:pt x="42" y="472"/>
                    <a:pt x="42" y="472"/>
                  </a:cubicBezTo>
                  <a:cubicBezTo>
                    <a:pt x="42" y="472"/>
                    <a:pt x="49" y="475"/>
                    <a:pt x="51" y="492"/>
                  </a:cubicBezTo>
                  <a:cubicBezTo>
                    <a:pt x="53" y="508"/>
                    <a:pt x="42" y="509"/>
                    <a:pt x="42" y="509"/>
                  </a:cubicBezTo>
                  <a:cubicBezTo>
                    <a:pt x="40" y="531"/>
                    <a:pt x="40" y="531"/>
                    <a:pt x="40" y="531"/>
                  </a:cubicBezTo>
                  <a:cubicBezTo>
                    <a:pt x="47" y="540"/>
                    <a:pt x="47" y="540"/>
                    <a:pt x="47" y="540"/>
                  </a:cubicBezTo>
                  <a:cubicBezTo>
                    <a:pt x="47" y="540"/>
                    <a:pt x="40" y="545"/>
                    <a:pt x="34" y="559"/>
                  </a:cubicBezTo>
                  <a:cubicBezTo>
                    <a:pt x="28" y="573"/>
                    <a:pt x="40" y="571"/>
                    <a:pt x="40" y="571"/>
                  </a:cubicBezTo>
                  <a:cubicBezTo>
                    <a:pt x="40" y="571"/>
                    <a:pt x="44" y="580"/>
                    <a:pt x="44" y="591"/>
                  </a:cubicBezTo>
                  <a:cubicBezTo>
                    <a:pt x="44" y="602"/>
                    <a:pt x="33" y="599"/>
                    <a:pt x="33" y="619"/>
                  </a:cubicBezTo>
                  <a:cubicBezTo>
                    <a:pt x="33" y="640"/>
                    <a:pt x="49" y="638"/>
                    <a:pt x="52" y="648"/>
                  </a:cubicBezTo>
                  <a:cubicBezTo>
                    <a:pt x="56" y="657"/>
                    <a:pt x="52" y="681"/>
                    <a:pt x="52" y="681"/>
                  </a:cubicBezTo>
                  <a:cubicBezTo>
                    <a:pt x="52" y="681"/>
                    <a:pt x="45" y="679"/>
                    <a:pt x="40" y="681"/>
                  </a:cubicBezTo>
                  <a:cubicBezTo>
                    <a:pt x="36" y="683"/>
                    <a:pt x="40" y="700"/>
                    <a:pt x="47" y="720"/>
                  </a:cubicBezTo>
                  <a:cubicBezTo>
                    <a:pt x="55" y="740"/>
                    <a:pt x="66" y="770"/>
                    <a:pt x="66" y="770"/>
                  </a:cubicBezTo>
                  <a:cubicBezTo>
                    <a:pt x="66" y="770"/>
                    <a:pt x="69" y="784"/>
                    <a:pt x="76" y="790"/>
                  </a:cubicBezTo>
                  <a:cubicBezTo>
                    <a:pt x="83" y="796"/>
                    <a:pt x="79" y="826"/>
                    <a:pt x="79" y="826"/>
                  </a:cubicBezTo>
                  <a:cubicBezTo>
                    <a:pt x="76" y="845"/>
                    <a:pt x="76" y="845"/>
                    <a:pt x="76" y="845"/>
                  </a:cubicBezTo>
                  <a:cubicBezTo>
                    <a:pt x="92" y="862"/>
                    <a:pt x="92" y="862"/>
                    <a:pt x="92" y="862"/>
                  </a:cubicBezTo>
                  <a:cubicBezTo>
                    <a:pt x="92" y="862"/>
                    <a:pt x="82" y="889"/>
                    <a:pt x="82" y="903"/>
                  </a:cubicBezTo>
                  <a:cubicBezTo>
                    <a:pt x="82" y="917"/>
                    <a:pt x="82" y="947"/>
                    <a:pt x="82" y="947"/>
                  </a:cubicBezTo>
                  <a:cubicBezTo>
                    <a:pt x="66" y="972"/>
                    <a:pt x="66" y="972"/>
                    <a:pt x="66" y="972"/>
                  </a:cubicBezTo>
                  <a:cubicBezTo>
                    <a:pt x="76" y="979"/>
                    <a:pt x="76" y="979"/>
                    <a:pt x="76" y="979"/>
                  </a:cubicBezTo>
                  <a:cubicBezTo>
                    <a:pt x="76" y="979"/>
                    <a:pt x="72" y="995"/>
                    <a:pt x="72" y="1004"/>
                  </a:cubicBezTo>
                  <a:cubicBezTo>
                    <a:pt x="72" y="1012"/>
                    <a:pt x="66" y="1056"/>
                    <a:pt x="66" y="1056"/>
                  </a:cubicBezTo>
                  <a:cubicBezTo>
                    <a:pt x="56" y="1058"/>
                    <a:pt x="56" y="1058"/>
                    <a:pt x="56" y="1058"/>
                  </a:cubicBezTo>
                  <a:cubicBezTo>
                    <a:pt x="56" y="1072"/>
                    <a:pt x="56" y="1072"/>
                    <a:pt x="56" y="1072"/>
                  </a:cubicBezTo>
                  <a:cubicBezTo>
                    <a:pt x="72" y="1102"/>
                    <a:pt x="72" y="1102"/>
                    <a:pt x="72" y="1102"/>
                  </a:cubicBezTo>
                  <a:cubicBezTo>
                    <a:pt x="72" y="1102"/>
                    <a:pt x="72" y="1121"/>
                    <a:pt x="72" y="1131"/>
                  </a:cubicBezTo>
                  <a:cubicBezTo>
                    <a:pt x="72" y="1142"/>
                    <a:pt x="95" y="1149"/>
                    <a:pt x="101" y="1165"/>
                  </a:cubicBezTo>
                  <a:cubicBezTo>
                    <a:pt x="107" y="1180"/>
                    <a:pt x="98" y="1218"/>
                    <a:pt x="98" y="1218"/>
                  </a:cubicBezTo>
                  <a:cubicBezTo>
                    <a:pt x="107" y="1225"/>
                    <a:pt x="107" y="1225"/>
                    <a:pt x="107" y="1225"/>
                  </a:cubicBezTo>
                  <a:cubicBezTo>
                    <a:pt x="107" y="1225"/>
                    <a:pt x="107" y="1254"/>
                    <a:pt x="107" y="1266"/>
                  </a:cubicBezTo>
                  <a:cubicBezTo>
                    <a:pt x="107" y="1278"/>
                    <a:pt x="134" y="1286"/>
                    <a:pt x="134" y="1286"/>
                  </a:cubicBezTo>
                  <a:cubicBezTo>
                    <a:pt x="129" y="1299"/>
                    <a:pt x="129" y="1299"/>
                    <a:pt x="129" y="1299"/>
                  </a:cubicBezTo>
                  <a:cubicBezTo>
                    <a:pt x="156" y="1299"/>
                    <a:pt x="156" y="1299"/>
                    <a:pt x="156" y="1299"/>
                  </a:cubicBezTo>
                  <a:cubicBezTo>
                    <a:pt x="156" y="1279"/>
                    <a:pt x="156" y="1279"/>
                    <a:pt x="156" y="1279"/>
                  </a:cubicBezTo>
                  <a:cubicBezTo>
                    <a:pt x="156" y="1279"/>
                    <a:pt x="169" y="1289"/>
                    <a:pt x="177" y="1290"/>
                  </a:cubicBezTo>
                  <a:cubicBezTo>
                    <a:pt x="186" y="1291"/>
                    <a:pt x="186" y="1277"/>
                    <a:pt x="186" y="1277"/>
                  </a:cubicBezTo>
                  <a:cubicBezTo>
                    <a:pt x="192" y="1290"/>
                    <a:pt x="192" y="1290"/>
                    <a:pt x="192" y="1290"/>
                  </a:cubicBezTo>
                  <a:cubicBezTo>
                    <a:pt x="192" y="1290"/>
                    <a:pt x="175" y="1300"/>
                    <a:pt x="173" y="1311"/>
                  </a:cubicBezTo>
                  <a:cubicBezTo>
                    <a:pt x="170" y="1322"/>
                    <a:pt x="186" y="1310"/>
                    <a:pt x="193" y="1313"/>
                  </a:cubicBezTo>
                  <a:cubicBezTo>
                    <a:pt x="200" y="1317"/>
                    <a:pt x="198" y="1330"/>
                    <a:pt x="198" y="1330"/>
                  </a:cubicBezTo>
                  <a:cubicBezTo>
                    <a:pt x="179" y="1328"/>
                    <a:pt x="179" y="1328"/>
                    <a:pt x="179" y="1328"/>
                  </a:cubicBezTo>
                  <a:cubicBezTo>
                    <a:pt x="190" y="1341"/>
                    <a:pt x="190" y="1341"/>
                    <a:pt x="190" y="1341"/>
                  </a:cubicBezTo>
                  <a:cubicBezTo>
                    <a:pt x="183" y="1349"/>
                    <a:pt x="183" y="1349"/>
                    <a:pt x="183" y="1349"/>
                  </a:cubicBezTo>
                  <a:cubicBezTo>
                    <a:pt x="195" y="1367"/>
                    <a:pt x="195" y="1367"/>
                    <a:pt x="195" y="1367"/>
                  </a:cubicBezTo>
                  <a:cubicBezTo>
                    <a:pt x="195" y="1367"/>
                    <a:pt x="188" y="1375"/>
                    <a:pt x="181" y="1384"/>
                  </a:cubicBezTo>
                  <a:cubicBezTo>
                    <a:pt x="174" y="1394"/>
                    <a:pt x="212" y="1403"/>
                    <a:pt x="212" y="1403"/>
                  </a:cubicBezTo>
                  <a:cubicBezTo>
                    <a:pt x="212" y="1403"/>
                    <a:pt x="205" y="1409"/>
                    <a:pt x="200" y="1413"/>
                  </a:cubicBezTo>
                  <a:cubicBezTo>
                    <a:pt x="195" y="1416"/>
                    <a:pt x="202" y="1427"/>
                    <a:pt x="212" y="1432"/>
                  </a:cubicBezTo>
                  <a:cubicBezTo>
                    <a:pt x="221" y="1436"/>
                    <a:pt x="234" y="1433"/>
                    <a:pt x="234" y="1433"/>
                  </a:cubicBezTo>
                  <a:cubicBezTo>
                    <a:pt x="239" y="1457"/>
                    <a:pt x="239" y="1457"/>
                    <a:pt x="239" y="1457"/>
                  </a:cubicBezTo>
                  <a:cubicBezTo>
                    <a:pt x="239" y="1457"/>
                    <a:pt x="219" y="1470"/>
                    <a:pt x="214" y="1477"/>
                  </a:cubicBezTo>
                  <a:cubicBezTo>
                    <a:pt x="209" y="1484"/>
                    <a:pt x="228" y="1485"/>
                    <a:pt x="228" y="1485"/>
                  </a:cubicBezTo>
                  <a:cubicBezTo>
                    <a:pt x="228" y="1485"/>
                    <a:pt x="252" y="1490"/>
                    <a:pt x="252" y="1497"/>
                  </a:cubicBezTo>
                  <a:cubicBezTo>
                    <a:pt x="252" y="1504"/>
                    <a:pt x="237" y="1498"/>
                    <a:pt x="227" y="1493"/>
                  </a:cubicBezTo>
                  <a:cubicBezTo>
                    <a:pt x="218" y="1488"/>
                    <a:pt x="216" y="1503"/>
                    <a:pt x="216" y="1503"/>
                  </a:cubicBezTo>
                  <a:cubicBezTo>
                    <a:pt x="235" y="1507"/>
                    <a:pt x="235" y="1507"/>
                    <a:pt x="235" y="1507"/>
                  </a:cubicBezTo>
                  <a:cubicBezTo>
                    <a:pt x="221" y="1514"/>
                    <a:pt x="221" y="1514"/>
                    <a:pt x="221" y="1514"/>
                  </a:cubicBezTo>
                  <a:cubicBezTo>
                    <a:pt x="222" y="1531"/>
                    <a:pt x="222" y="1531"/>
                    <a:pt x="222" y="1531"/>
                  </a:cubicBezTo>
                  <a:cubicBezTo>
                    <a:pt x="222" y="1531"/>
                    <a:pt x="238" y="1523"/>
                    <a:pt x="231" y="1544"/>
                  </a:cubicBezTo>
                  <a:cubicBezTo>
                    <a:pt x="224" y="1565"/>
                    <a:pt x="214" y="1535"/>
                    <a:pt x="214" y="1535"/>
                  </a:cubicBezTo>
                  <a:cubicBezTo>
                    <a:pt x="190" y="1536"/>
                    <a:pt x="190" y="1536"/>
                    <a:pt x="190" y="1536"/>
                  </a:cubicBezTo>
                  <a:cubicBezTo>
                    <a:pt x="206" y="1529"/>
                    <a:pt x="206" y="1529"/>
                    <a:pt x="206" y="1529"/>
                  </a:cubicBezTo>
                  <a:cubicBezTo>
                    <a:pt x="206" y="1529"/>
                    <a:pt x="189" y="1511"/>
                    <a:pt x="186" y="1512"/>
                  </a:cubicBezTo>
                  <a:cubicBezTo>
                    <a:pt x="182" y="1513"/>
                    <a:pt x="185" y="1522"/>
                    <a:pt x="185" y="1522"/>
                  </a:cubicBezTo>
                  <a:cubicBezTo>
                    <a:pt x="179" y="1516"/>
                    <a:pt x="179" y="1516"/>
                    <a:pt x="179" y="1516"/>
                  </a:cubicBezTo>
                  <a:cubicBezTo>
                    <a:pt x="154" y="1523"/>
                    <a:pt x="154" y="1523"/>
                    <a:pt x="154" y="1523"/>
                  </a:cubicBezTo>
                  <a:cubicBezTo>
                    <a:pt x="176" y="1528"/>
                    <a:pt x="176" y="1528"/>
                    <a:pt x="176" y="1528"/>
                  </a:cubicBezTo>
                  <a:cubicBezTo>
                    <a:pt x="176" y="1528"/>
                    <a:pt x="172" y="1531"/>
                    <a:pt x="168" y="1537"/>
                  </a:cubicBezTo>
                  <a:cubicBezTo>
                    <a:pt x="164" y="1543"/>
                    <a:pt x="148" y="1549"/>
                    <a:pt x="147" y="1558"/>
                  </a:cubicBezTo>
                  <a:cubicBezTo>
                    <a:pt x="146" y="1568"/>
                    <a:pt x="166" y="1572"/>
                    <a:pt x="169" y="1570"/>
                  </a:cubicBezTo>
                  <a:cubicBezTo>
                    <a:pt x="173" y="1568"/>
                    <a:pt x="161" y="1559"/>
                    <a:pt x="161" y="1559"/>
                  </a:cubicBezTo>
                  <a:cubicBezTo>
                    <a:pt x="176" y="1556"/>
                    <a:pt x="176" y="1556"/>
                    <a:pt x="176" y="1556"/>
                  </a:cubicBezTo>
                  <a:cubicBezTo>
                    <a:pt x="176" y="1556"/>
                    <a:pt x="183" y="1561"/>
                    <a:pt x="187" y="1565"/>
                  </a:cubicBezTo>
                  <a:cubicBezTo>
                    <a:pt x="190" y="1570"/>
                    <a:pt x="214" y="1567"/>
                    <a:pt x="214" y="1567"/>
                  </a:cubicBezTo>
                  <a:cubicBezTo>
                    <a:pt x="214" y="1567"/>
                    <a:pt x="229" y="1574"/>
                    <a:pt x="235" y="1582"/>
                  </a:cubicBezTo>
                  <a:cubicBezTo>
                    <a:pt x="241" y="1590"/>
                    <a:pt x="222" y="1598"/>
                    <a:pt x="222" y="1598"/>
                  </a:cubicBezTo>
                  <a:cubicBezTo>
                    <a:pt x="228" y="1608"/>
                    <a:pt x="228" y="1608"/>
                    <a:pt x="228" y="1608"/>
                  </a:cubicBezTo>
                  <a:cubicBezTo>
                    <a:pt x="240" y="1604"/>
                    <a:pt x="240" y="1604"/>
                    <a:pt x="240" y="1604"/>
                  </a:cubicBezTo>
                  <a:cubicBezTo>
                    <a:pt x="240" y="1615"/>
                    <a:pt x="240" y="1615"/>
                    <a:pt x="240" y="1615"/>
                  </a:cubicBezTo>
                  <a:cubicBezTo>
                    <a:pt x="252" y="1620"/>
                    <a:pt x="252" y="1620"/>
                    <a:pt x="252" y="1620"/>
                  </a:cubicBezTo>
                  <a:cubicBezTo>
                    <a:pt x="257" y="1604"/>
                    <a:pt x="257" y="1604"/>
                    <a:pt x="257" y="1604"/>
                  </a:cubicBezTo>
                  <a:cubicBezTo>
                    <a:pt x="266" y="1620"/>
                    <a:pt x="266" y="1620"/>
                    <a:pt x="266" y="1620"/>
                  </a:cubicBezTo>
                  <a:cubicBezTo>
                    <a:pt x="266" y="1620"/>
                    <a:pt x="285" y="1620"/>
                    <a:pt x="283" y="1634"/>
                  </a:cubicBezTo>
                  <a:cubicBezTo>
                    <a:pt x="280" y="1648"/>
                    <a:pt x="258" y="1632"/>
                    <a:pt x="250" y="1630"/>
                  </a:cubicBezTo>
                  <a:cubicBezTo>
                    <a:pt x="241" y="1629"/>
                    <a:pt x="248" y="1643"/>
                    <a:pt x="248" y="1643"/>
                  </a:cubicBezTo>
                  <a:cubicBezTo>
                    <a:pt x="248" y="1643"/>
                    <a:pt x="269" y="1650"/>
                    <a:pt x="270" y="1665"/>
                  </a:cubicBezTo>
                  <a:cubicBezTo>
                    <a:pt x="271" y="1679"/>
                    <a:pt x="256" y="1674"/>
                    <a:pt x="256" y="1674"/>
                  </a:cubicBezTo>
                  <a:cubicBezTo>
                    <a:pt x="265" y="1686"/>
                    <a:pt x="265" y="1686"/>
                    <a:pt x="265" y="1686"/>
                  </a:cubicBezTo>
                  <a:cubicBezTo>
                    <a:pt x="274" y="1710"/>
                    <a:pt x="274" y="1710"/>
                    <a:pt x="274" y="1710"/>
                  </a:cubicBezTo>
                  <a:cubicBezTo>
                    <a:pt x="283" y="1681"/>
                    <a:pt x="283" y="1681"/>
                    <a:pt x="283" y="1681"/>
                  </a:cubicBezTo>
                  <a:cubicBezTo>
                    <a:pt x="283" y="1701"/>
                    <a:pt x="283" y="1701"/>
                    <a:pt x="283" y="1701"/>
                  </a:cubicBezTo>
                  <a:cubicBezTo>
                    <a:pt x="296" y="1717"/>
                    <a:pt x="296" y="1717"/>
                    <a:pt x="296" y="1717"/>
                  </a:cubicBezTo>
                  <a:cubicBezTo>
                    <a:pt x="280" y="1717"/>
                    <a:pt x="280" y="1717"/>
                    <a:pt x="280" y="1717"/>
                  </a:cubicBezTo>
                  <a:cubicBezTo>
                    <a:pt x="283" y="1730"/>
                    <a:pt x="283" y="1730"/>
                    <a:pt x="283" y="1730"/>
                  </a:cubicBezTo>
                  <a:cubicBezTo>
                    <a:pt x="298" y="1731"/>
                    <a:pt x="298" y="1731"/>
                    <a:pt x="298" y="1731"/>
                  </a:cubicBezTo>
                  <a:cubicBezTo>
                    <a:pt x="289" y="1739"/>
                    <a:pt x="289" y="1739"/>
                    <a:pt x="289" y="1739"/>
                  </a:cubicBezTo>
                  <a:cubicBezTo>
                    <a:pt x="309" y="1745"/>
                    <a:pt x="309" y="1745"/>
                    <a:pt x="309" y="1745"/>
                  </a:cubicBezTo>
                  <a:cubicBezTo>
                    <a:pt x="296" y="1753"/>
                    <a:pt x="296" y="1753"/>
                    <a:pt x="296" y="1753"/>
                  </a:cubicBezTo>
                  <a:cubicBezTo>
                    <a:pt x="315" y="1760"/>
                    <a:pt x="315" y="1760"/>
                    <a:pt x="315" y="1760"/>
                  </a:cubicBezTo>
                  <a:cubicBezTo>
                    <a:pt x="310" y="1770"/>
                    <a:pt x="310" y="1770"/>
                    <a:pt x="310" y="1770"/>
                  </a:cubicBezTo>
                  <a:cubicBezTo>
                    <a:pt x="322" y="1773"/>
                    <a:pt x="322" y="1773"/>
                    <a:pt x="322" y="1773"/>
                  </a:cubicBezTo>
                  <a:cubicBezTo>
                    <a:pt x="322" y="1773"/>
                    <a:pt x="324" y="1750"/>
                    <a:pt x="331" y="1762"/>
                  </a:cubicBezTo>
                  <a:cubicBezTo>
                    <a:pt x="338" y="1773"/>
                    <a:pt x="329" y="1779"/>
                    <a:pt x="323" y="1783"/>
                  </a:cubicBezTo>
                  <a:cubicBezTo>
                    <a:pt x="317" y="1786"/>
                    <a:pt x="323" y="1794"/>
                    <a:pt x="323" y="1794"/>
                  </a:cubicBezTo>
                  <a:cubicBezTo>
                    <a:pt x="343" y="1795"/>
                    <a:pt x="343" y="1795"/>
                    <a:pt x="343" y="1795"/>
                  </a:cubicBezTo>
                  <a:cubicBezTo>
                    <a:pt x="343" y="1795"/>
                    <a:pt x="344" y="1805"/>
                    <a:pt x="350" y="1810"/>
                  </a:cubicBezTo>
                  <a:cubicBezTo>
                    <a:pt x="356" y="1815"/>
                    <a:pt x="373" y="1824"/>
                    <a:pt x="373" y="1824"/>
                  </a:cubicBezTo>
                  <a:cubicBezTo>
                    <a:pt x="370" y="1802"/>
                    <a:pt x="370" y="1802"/>
                    <a:pt x="370" y="1802"/>
                  </a:cubicBezTo>
                  <a:cubicBezTo>
                    <a:pt x="370" y="1802"/>
                    <a:pt x="391" y="1810"/>
                    <a:pt x="407" y="1821"/>
                  </a:cubicBezTo>
                  <a:cubicBezTo>
                    <a:pt x="422" y="1831"/>
                    <a:pt x="409" y="1841"/>
                    <a:pt x="409" y="1841"/>
                  </a:cubicBezTo>
                  <a:cubicBezTo>
                    <a:pt x="420" y="1848"/>
                    <a:pt x="420" y="1848"/>
                    <a:pt x="420" y="1848"/>
                  </a:cubicBezTo>
                  <a:cubicBezTo>
                    <a:pt x="419" y="1861"/>
                    <a:pt x="419" y="1861"/>
                    <a:pt x="419" y="1861"/>
                  </a:cubicBezTo>
                  <a:cubicBezTo>
                    <a:pt x="458" y="1861"/>
                    <a:pt x="458" y="1861"/>
                    <a:pt x="458" y="1861"/>
                  </a:cubicBezTo>
                  <a:cubicBezTo>
                    <a:pt x="462" y="1868"/>
                    <a:pt x="462" y="1868"/>
                    <a:pt x="462" y="1868"/>
                  </a:cubicBezTo>
                  <a:cubicBezTo>
                    <a:pt x="442" y="1868"/>
                    <a:pt x="442" y="1868"/>
                    <a:pt x="442" y="1868"/>
                  </a:cubicBezTo>
                  <a:cubicBezTo>
                    <a:pt x="434" y="1876"/>
                    <a:pt x="434" y="1876"/>
                    <a:pt x="434" y="1876"/>
                  </a:cubicBezTo>
                  <a:cubicBezTo>
                    <a:pt x="421" y="1877"/>
                    <a:pt x="421" y="1877"/>
                    <a:pt x="421" y="1877"/>
                  </a:cubicBezTo>
                  <a:cubicBezTo>
                    <a:pt x="410" y="1889"/>
                    <a:pt x="410" y="1889"/>
                    <a:pt x="410" y="1889"/>
                  </a:cubicBezTo>
                  <a:cubicBezTo>
                    <a:pt x="430" y="1892"/>
                    <a:pt x="430" y="1892"/>
                    <a:pt x="430" y="1892"/>
                  </a:cubicBezTo>
                  <a:cubicBezTo>
                    <a:pt x="426" y="1902"/>
                    <a:pt x="426" y="1902"/>
                    <a:pt x="426" y="1902"/>
                  </a:cubicBezTo>
                  <a:cubicBezTo>
                    <a:pt x="442" y="1900"/>
                    <a:pt x="442" y="1900"/>
                    <a:pt x="442" y="1900"/>
                  </a:cubicBezTo>
                  <a:cubicBezTo>
                    <a:pt x="444" y="1887"/>
                    <a:pt x="444" y="1887"/>
                    <a:pt x="444" y="1887"/>
                  </a:cubicBezTo>
                  <a:cubicBezTo>
                    <a:pt x="459" y="1893"/>
                    <a:pt x="459" y="1893"/>
                    <a:pt x="459" y="1893"/>
                  </a:cubicBezTo>
                  <a:cubicBezTo>
                    <a:pt x="459" y="1893"/>
                    <a:pt x="477" y="1868"/>
                    <a:pt x="486" y="1875"/>
                  </a:cubicBezTo>
                  <a:cubicBezTo>
                    <a:pt x="496" y="1882"/>
                    <a:pt x="467" y="1907"/>
                    <a:pt x="467" y="1907"/>
                  </a:cubicBezTo>
                  <a:cubicBezTo>
                    <a:pt x="467" y="1907"/>
                    <a:pt x="464" y="1900"/>
                    <a:pt x="455" y="1901"/>
                  </a:cubicBezTo>
                  <a:cubicBezTo>
                    <a:pt x="447" y="1902"/>
                    <a:pt x="452" y="1913"/>
                    <a:pt x="452" y="1913"/>
                  </a:cubicBezTo>
                  <a:cubicBezTo>
                    <a:pt x="440" y="1913"/>
                    <a:pt x="440" y="1913"/>
                    <a:pt x="440" y="1913"/>
                  </a:cubicBezTo>
                  <a:cubicBezTo>
                    <a:pt x="431" y="1910"/>
                    <a:pt x="419" y="1921"/>
                    <a:pt x="419" y="1921"/>
                  </a:cubicBezTo>
                  <a:cubicBezTo>
                    <a:pt x="428" y="1927"/>
                    <a:pt x="428" y="1927"/>
                    <a:pt x="428" y="1927"/>
                  </a:cubicBezTo>
                  <a:cubicBezTo>
                    <a:pt x="430" y="1945"/>
                    <a:pt x="430" y="1945"/>
                    <a:pt x="430" y="1945"/>
                  </a:cubicBezTo>
                  <a:cubicBezTo>
                    <a:pt x="450" y="1935"/>
                    <a:pt x="450" y="1935"/>
                    <a:pt x="450" y="1935"/>
                  </a:cubicBezTo>
                  <a:cubicBezTo>
                    <a:pt x="450" y="1935"/>
                    <a:pt x="455" y="1946"/>
                    <a:pt x="461" y="1945"/>
                  </a:cubicBezTo>
                  <a:cubicBezTo>
                    <a:pt x="466" y="1944"/>
                    <a:pt x="467" y="1924"/>
                    <a:pt x="476" y="1919"/>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534" name="Freeform 326">
              <a:extLst>
                <a:ext uri="{FF2B5EF4-FFF2-40B4-BE49-F238E27FC236}">
                  <a16:creationId xmlns:a16="http://schemas.microsoft.com/office/drawing/2014/main" id="{6A94C944-ECAA-4588-80E5-3223004481CF}"/>
                </a:ext>
              </a:extLst>
            </p:cNvPr>
            <p:cNvSpPr>
              <a:spLocks/>
            </p:cNvSpPr>
            <p:nvPr/>
          </p:nvSpPr>
          <p:spPr bwMode="gray">
            <a:xfrm>
              <a:off x="2476266" y="2003585"/>
              <a:ext cx="116582" cy="71130"/>
            </a:xfrm>
            <a:custGeom>
              <a:avLst/>
              <a:gdLst>
                <a:gd name="T0" fmla="*/ 165 w 172"/>
                <a:gd name="T1" fmla="*/ 68 h 111"/>
                <a:gd name="T2" fmla="*/ 128 w 172"/>
                <a:gd name="T3" fmla="*/ 43 h 111"/>
                <a:gd name="T4" fmla="*/ 97 w 172"/>
                <a:gd name="T5" fmla="*/ 32 h 111"/>
                <a:gd name="T6" fmla="*/ 75 w 172"/>
                <a:gd name="T7" fmla="*/ 5 h 111"/>
                <a:gd name="T8" fmla="*/ 29 w 172"/>
                <a:gd name="T9" fmla="*/ 0 h 111"/>
                <a:gd name="T10" fmla="*/ 15 w 172"/>
                <a:gd name="T11" fmla="*/ 4 h 111"/>
                <a:gd name="T12" fmla="*/ 21 w 172"/>
                <a:gd name="T13" fmla="*/ 26 h 111"/>
                <a:gd name="T14" fmla="*/ 14 w 172"/>
                <a:gd name="T15" fmla="*/ 48 h 111"/>
                <a:gd name="T16" fmla="*/ 3 w 172"/>
                <a:gd name="T17" fmla="*/ 73 h 111"/>
                <a:gd name="T18" fmla="*/ 10 w 172"/>
                <a:gd name="T19" fmla="*/ 97 h 111"/>
                <a:gd name="T20" fmla="*/ 0 w 172"/>
                <a:gd name="T21" fmla="*/ 84 h 111"/>
                <a:gd name="T22" fmla="*/ 23 w 172"/>
                <a:gd name="T23" fmla="*/ 111 h 111"/>
                <a:gd name="T24" fmla="*/ 56 w 172"/>
                <a:gd name="T25" fmla="*/ 87 h 111"/>
                <a:gd name="T26" fmla="*/ 118 w 172"/>
                <a:gd name="T27" fmla="*/ 89 h 111"/>
                <a:gd name="T28" fmla="*/ 161 w 172"/>
                <a:gd name="T29" fmla="*/ 89 h 111"/>
                <a:gd name="T30" fmla="*/ 165 w 172"/>
                <a:gd name="T31" fmla="*/ 68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2" h="111">
                  <a:moveTo>
                    <a:pt x="165" y="68"/>
                  </a:moveTo>
                  <a:cubicBezTo>
                    <a:pt x="165" y="68"/>
                    <a:pt x="143" y="49"/>
                    <a:pt x="128" y="43"/>
                  </a:cubicBezTo>
                  <a:cubicBezTo>
                    <a:pt x="114" y="38"/>
                    <a:pt x="108" y="36"/>
                    <a:pt x="97" y="32"/>
                  </a:cubicBezTo>
                  <a:cubicBezTo>
                    <a:pt x="87" y="28"/>
                    <a:pt x="81" y="9"/>
                    <a:pt x="75" y="5"/>
                  </a:cubicBezTo>
                  <a:cubicBezTo>
                    <a:pt x="69" y="2"/>
                    <a:pt x="46" y="0"/>
                    <a:pt x="29" y="0"/>
                  </a:cubicBezTo>
                  <a:cubicBezTo>
                    <a:pt x="22" y="0"/>
                    <a:pt x="18" y="2"/>
                    <a:pt x="15" y="4"/>
                  </a:cubicBezTo>
                  <a:cubicBezTo>
                    <a:pt x="17" y="10"/>
                    <a:pt x="21" y="20"/>
                    <a:pt x="21" y="26"/>
                  </a:cubicBezTo>
                  <a:cubicBezTo>
                    <a:pt x="20" y="36"/>
                    <a:pt x="16" y="39"/>
                    <a:pt x="14" y="48"/>
                  </a:cubicBezTo>
                  <a:cubicBezTo>
                    <a:pt x="11" y="57"/>
                    <a:pt x="3" y="73"/>
                    <a:pt x="3" y="73"/>
                  </a:cubicBezTo>
                  <a:cubicBezTo>
                    <a:pt x="10" y="97"/>
                    <a:pt x="10" y="97"/>
                    <a:pt x="10" y="97"/>
                  </a:cubicBezTo>
                  <a:cubicBezTo>
                    <a:pt x="0" y="84"/>
                    <a:pt x="0" y="84"/>
                    <a:pt x="0" y="84"/>
                  </a:cubicBezTo>
                  <a:cubicBezTo>
                    <a:pt x="23" y="111"/>
                    <a:pt x="23" y="111"/>
                    <a:pt x="23" y="111"/>
                  </a:cubicBezTo>
                  <a:cubicBezTo>
                    <a:pt x="56" y="87"/>
                    <a:pt x="56" y="87"/>
                    <a:pt x="56" y="87"/>
                  </a:cubicBezTo>
                  <a:cubicBezTo>
                    <a:pt x="56" y="87"/>
                    <a:pt x="85" y="87"/>
                    <a:pt x="118" y="89"/>
                  </a:cubicBezTo>
                  <a:cubicBezTo>
                    <a:pt x="131" y="90"/>
                    <a:pt x="153" y="93"/>
                    <a:pt x="161" y="89"/>
                  </a:cubicBezTo>
                  <a:cubicBezTo>
                    <a:pt x="172" y="83"/>
                    <a:pt x="165" y="68"/>
                    <a:pt x="165" y="68"/>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535" name="Freeform 327">
              <a:extLst>
                <a:ext uri="{FF2B5EF4-FFF2-40B4-BE49-F238E27FC236}">
                  <a16:creationId xmlns:a16="http://schemas.microsoft.com/office/drawing/2014/main" id="{B7F6B60B-44E0-47E6-A189-FF94464F85B9}"/>
                </a:ext>
              </a:extLst>
            </p:cNvPr>
            <p:cNvSpPr>
              <a:spLocks/>
            </p:cNvSpPr>
            <p:nvPr/>
          </p:nvSpPr>
          <p:spPr bwMode="gray">
            <a:xfrm>
              <a:off x="2401032" y="2002770"/>
              <a:ext cx="89303" cy="68143"/>
            </a:xfrm>
            <a:custGeom>
              <a:avLst/>
              <a:gdLst>
                <a:gd name="T0" fmla="*/ 114 w 132"/>
                <a:gd name="T1" fmla="*/ 74 h 106"/>
                <a:gd name="T2" fmla="*/ 125 w 132"/>
                <a:gd name="T3" fmla="*/ 49 h 106"/>
                <a:gd name="T4" fmla="*/ 132 w 132"/>
                <a:gd name="T5" fmla="*/ 27 h 106"/>
                <a:gd name="T6" fmla="*/ 126 w 132"/>
                <a:gd name="T7" fmla="*/ 5 h 106"/>
                <a:gd name="T8" fmla="*/ 120 w 132"/>
                <a:gd name="T9" fmla="*/ 12 h 106"/>
                <a:gd name="T10" fmla="*/ 70 w 132"/>
                <a:gd name="T11" fmla="*/ 0 h 106"/>
                <a:gd name="T12" fmla="*/ 43 w 132"/>
                <a:gd name="T13" fmla="*/ 10 h 106"/>
                <a:gd name="T14" fmla="*/ 68 w 132"/>
                <a:gd name="T15" fmla="*/ 17 h 106"/>
                <a:gd name="T16" fmla="*/ 87 w 132"/>
                <a:gd name="T17" fmla="*/ 31 h 106"/>
                <a:gd name="T18" fmla="*/ 74 w 132"/>
                <a:gd name="T19" fmla="*/ 49 h 106"/>
                <a:gd name="T20" fmla="*/ 72 w 132"/>
                <a:gd name="T21" fmla="*/ 70 h 106"/>
                <a:gd name="T22" fmla="*/ 31 w 132"/>
                <a:gd name="T23" fmla="*/ 64 h 106"/>
                <a:gd name="T24" fmla="*/ 0 w 132"/>
                <a:gd name="T25" fmla="*/ 72 h 106"/>
                <a:gd name="T26" fmla="*/ 26 w 132"/>
                <a:gd name="T27" fmla="*/ 102 h 106"/>
                <a:gd name="T28" fmla="*/ 43 w 132"/>
                <a:gd name="T29" fmla="*/ 87 h 106"/>
                <a:gd name="T30" fmla="*/ 74 w 132"/>
                <a:gd name="T31" fmla="*/ 89 h 106"/>
                <a:gd name="T32" fmla="*/ 111 w 132"/>
                <a:gd name="T33" fmla="*/ 85 h 106"/>
                <a:gd name="T34" fmla="*/ 121 w 132"/>
                <a:gd name="T35" fmla="*/ 98 h 106"/>
                <a:gd name="T36" fmla="*/ 114 w 132"/>
                <a:gd name="T37" fmla="*/ 74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2" h="106">
                  <a:moveTo>
                    <a:pt x="114" y="74"/>
                  </a:moveTo>
                  <a:cubicBezTo>
                    <a:pt x="114" y="74"/>
                    <a:pt x="122" y="58"/>
                    <a:pt x="125" y="49"/>
                  </a:cubicBezTo>
                  <a:cubicBezTo>
                    <a:pt x="127" y="40"/>
                    <a:pt x="131" y="37"/>
                    <a:pt x="132" y="27"/>
                  </a:cubicBezTo>
                  <a:cubicBezTo>
                    <a:pt x="132" y="21"/>
                    <a:pt x="128" y="11"/>
                    <a:pt x="126" y="5"/>
                  </a:cubicBezTo>
                  <a:cubicBezTo>
                    <a:pt x="121" y="8"/>
                    <a:pt x="120" y="12"/>
                    <a:pt x="120" y="12"/>
                  </a:cubicBezTo>
                  <a:cubicBezTo>
                    <a:pt x="120" y="12"/>
                    <a:pt x="85" y="0"/>
                    <a:pt x="70" y="0"/>
                  </a:cubicBezTo>
                  <a:cubicBezTo>
                    <a:pt x="56" y="0"/>
                    <a:pt x="49" y="2"/>
                    <a:pt x="43" y="10"/>
                  </a:cubicBezTo>
                  <a:cubicBezTo>
                    <a:pt x="37" y="17"/>
                    <a:pt x="62" y="17"/>
                    <a:pt x="68" y="17"/>
                  </a:cubicBezTo>
                  <a:cubicBezTo>
                    <a:pt x="74" y="17"/>
                    <a:pt x="87" y="31"/>
                    <a:pt x="87" y="31"/>
                  </a:cubicBezTo>
                  <a:cubicBezTo>
                    <a:pt x="87" y="31"/>
                    <a:pt x="72" y="34"/>
                    <a:pt x="74" y="49"/>
                  </a:cubicBezTo>
                  <a:cubicBezTo>
                    <a:pt x="76" y="65"/>
                    <a:pt x="84" y="70"/>
                    <a:pt x="72" y="70"/>
                  </a:cubicBezTo>
                  <a:cubicBezTo>
                    <a:pt x="59" y="70"/>
                    <a:pt x="39" y="63"/>
                    <a:pt x="31" y="64"/>
                  </a:cubicBezTo>
                  <a:cubicBezTo>
                    <a:pt x="22" y="66"/>
                    <a:pt x="6" y="62"/>
                    <a:pt x="0" y="72"/>
                  </a:cubicBezTo>
                  <a:cubicBezTo>
                    <a:pt x="0" y="72"/>
                    <a:pt x="18" y="98"/>
                    <a:pt x="26" y="102"/>
                  </a:cubicBezTo>
                  <a:cubicBezTo>
                    <a:pt x="35" y="106"/>
                    <a:pt x="43" y="87"/>
                    <a:pt x="43" y="87"/>
                  </a:cubicBezTo>
                  <a:cubicBezTo>
                    <a:pt x="43" y="87"/>
                    <a:pt x="57" y="89"/>
                    <a:pt x="74" y="89"/>
                  </a:cubicBezTo>
                  <a:cubicBezTo>
                    <a:pt x="90" y="89"/>
                    <a:pt x="111" y="85"/>
                    <a:pt x="111" y="85"/>
                  </a:cubicBezTo>
                  <a:cubicBezTo>
                    <a:pt x="121" y="98"/>
                    <a:pt x="121" y="98"/>
                    <a:pt x="121" y="98"/>
                  </a:cubicBezTo>
                  <a:lnTo>
                    <a:pt x="114" y="74"/>
                  </a:ln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536" name="Freeform 328">
              <a:extLst>
                <a:ext uri="{FF2B5EF4-FFF2-40B4-BE49-F238E27FC236}">
                  <a16:creationId xmlns:a16="http://schemas.microsoft.com/office/drawing/2014/main" id="{632D29D9-E509-4E7B-833B-2F54A4F91B2D}"/>
                </a:ext>
              </a:extLst>
            </p:cNvPr>
            <p:cNvSpPr>
              <a:spLocks noEditPoints="1"/>
            </p:cNvSpPr>
            <p:nvPr/>
          </p:nvSpPr>
          <p:spPr bwMode="gray">
            <a:xfrm>
              <a:off x="2995720" y="935006"/>
              <a:ext cx="2068913" cy="1682143"/>
            </a:xfrm>
            <a:custGeom>
              <a:avLst/>
              <a:gdLst>
                <a:gd name="T0" fmla="*/ 3045 w 3050"/>
                <a:gd name="T1" fmla="*/ 429 h 2623"/>
                <a:gd name="T2" fmla="*/ 3017 w 3050"/>
                <a:gd name="T3" fmla="*/ 487 h 2623"/>
                <a:gd name="T4" fmla="*/ 3043 w 3050"/>
                <a:gd name="T5" fmla="*/ 495 h 2623"/>
                <a:gd name="T6" fmla="*/ 3048 w 3050"/>
                <a:gd name="T7" fmla="*/ 446 h 2623"/>
                <a:gd name="T8" fmla="*/ 2944 w 3050"/>
                <a:gd name="T9" fmla="*/ 106 h 2623"/>
                <a:gd name="T10" fmla="*/ 2924 w 3050"/>
                <a:gd name="T11" fmla="*/ 87 h 2623"/>
                <a:gd name="T12" fmla="*/ 2899 w 3050"/>
                <a:gd name="T13" fmla="*/ 85 h 2623"/>
                <a:gd name="T14" fmla="*/ 2877 w 3050"/>
                <a:gd name="T15" fmla="*/ 77 h 2623"/>
                <a:gd name="T16" fmla="*/ 2843 w 3050"/>
                <a:gd name="T17" fmla="*/ 61 h 2623"/>
                <a:gd name="T18" fmla="*/ 2800 w 3050"/>
                <a:gd name="T19" fmla="*/ 37 h 2623"/>
                <a:gd name="T20" fmla="*/ 2771 w 3050"/>
                <a:gd name="T21" fmla="*/ 12 h 2623"/>
                <a:gd name="T22" fmla="*/ 2715 w 3050"/>
                <a:gd name="T23" fmla="*/ 12 h 2623"/>
                <a:gd name="T24" fmla="*/ 2686 w 3050"/>
                <a:gd name="T25" fmla="*/ 60 h 2623"/>
                <a:gd name="T26" fmla="*/ 2635 w 3050"/>
                <a:gd name="T27" fmla="*/ 97 h 2623"/>
                <a:gd name="T28" fmla="*/ 2580 w 3050"/>
                <a:gd name="T29" fmla="*/ 75 h 2623"/>
                <a:gd name="T30" fmla="*/ 2550 w 3050"/>
                <a:gd name="T31" fmla="*/ 125 h 2623"/>
                <a:gd name="T32" fmla="*/ 2495 w 3050"/>
                <a:gd name="T33" fmla="*/ 124 h 2623"/>
                <a:gd name="T34" fmla="*/ 2450 w 3050"/>
                <a:gd name="T35" fmla="*/ 161 h 2623"/>
                <a:gd name="T36" fmla="*/ 2514 w 3050"/>
                <a:gd name="T37" fmla="*/ 184 h 2623"/>
                <a:gd name="T38" fmla="*/ 2572 w 3050"/>
                <a:gd name="T39" fmla="*/ 199 h 2623"/>
                <a:gd name="T40" fmla="*/ 2597 w 3050"/>
                <a:gd name="T41" fmla="*/ 248 h 2623"/>
                <a:gd name="T42" fmla="*/ 2617 w 3050"/>
                <a:gd name="T43" fmla="*/ 320 h 2623"/>
                <a:gd name="T44" fmla="*/ 2576 w 3050"/>
                <a:gd name="T45" fmla="*/ 391 h 2623"/>
                <a:gd name="T46" fmla="*/ 2578 w 3050"/>
                <a:gd name="T47" fmla="*/ 414 h 2623"/>
                <a:gd name="T48" fmla="*/ 2612 w 3050"/>
                <a:gd name="T49" fmla="*/ 437 h 2623"/>
                <a:gd name="T50" fmla="*/ 2651 w 3050"/>
                <a:gd name="T51" fmla="*/ 441 h 2623"/>
                <a:gd name="T52" fmla="*/ 2673 w 3050"/>
                <a:gd name="T53" fmla="*/ 434 h 2623"/>
                <a:gd name="T54" fmla="*/ 2697 w 3050"/>
                <a:gd name="T55" fmla="*/ 446 h 2623"/>
                <a:gd name="T56" fmla="*/ 2717 w 3050"/>
                <a:gd name="T57" fmla="*/ 454 h 2623"/>
                <a:gd name="T58" fmla="*/ 2742 w 3050"/>
                <a:gd name="T59" fmla="*/ 463 h 2623"/>
                <a:gd name="T60" fmla="*/ 2763 w 3050"/>
                <a:gd name="T61" fmla="*/ 453 h 2623"/>
                <a:gd name="T62" fmla="*/ 2822 w 3050"/>
                <a:gd name="T63" fmla="*/ 397 h 2623"/>
                <a:gd name="T64" fmla="*/ 2882 w 3050"/>
                <a:gd name="T65" fmla="*/ 421 h 2623"/>
                <a:gd name="T66" fmla="*/ 2957 w 3050"/>
                <a:gd name="T67" fmla="*/ 388 h 2623"/>
                <a:gd name="T68" fmla="*/ 2950 w 3050"/>
                <a:gd name="T69" fmla="*/ 367 h 2623"/>
                <a:gd name="T70" fmla="*/ 2940 w 3050"/>
                <a:gd name="T71" fmla="*/ 335 h 2623"/>
                <a:gd name="T72" fmla="*/ 2922 w 3050"/>
                <a:gd name="T73" fmla="*/ 314 h 2623"/>
                <a:gd name="T74" fmla="*/ 2939 w 3050"/>
                <a:gd name="T75" fmla="*/ 289 h 2623"/>
                <a:gd name="T76" fmla="*/ 2934 w 3050"/>
                <a:gd name="T77" fmla="*/ 263 h 2623"/>
                <a:gd name="T78" fmla="*/ 2902 w 3050"/>
                <a:gd name="T79" fmla="*/ 259 h 2623"/>
                <a:gd name="T80" fmla="*/ 2918 w 3050"/>
                <a:gd name="T81" fmla="*/ 226 h 2623"/>
                <a:gd name="T82" fmla="*/ 2943 w 3050"/>
                <a:gd name="T83" fmla="*/ 198 h 2623"/>
                <a:gd name="T84" fmla="*/ 2966 w 3050"/>
                <a:gd name="T85" fmla="*/ 186 h 2623"/>
                <a:gd name="T86" fmla="*/ 2976 w 3050"/>
                <a:gd name="T87" fmla="*/ 128 h 2623"/>
                <a:gd name="T88" fmla="*/ 2982 w 3050"/>
                <a:gd name="T89" fmla="*/ 106 h 2623"/>
                <a:gd name="T90" fmla="*/ 90 w 3050"/>
                <a:gd name="T91" fmla="*/ 2439 h 2623"/>
                <a:gd name="T92" fmla="*/ 32 w 3050"/>
                <a:gd name="T93" fmla="*/ 2444 h 2623"/>
                <a:gd name="T94" fmla="*/ 32 w 3050"/>
                <a:gd name="T95" fmla="*/ 2544 h 2623"/>
                <a:gd name="T96" fmla="*/ 11 w 3050"/>
                <a:gd name="T97" fmla="*/ 2594 h 2623"/>
                <a:gd name="T98" fmla="*/ 38 w 3050"/>
                <a:gd name="T99" fmla="*/ 2611 h 2623"/>
                <a:gd name="T100" fmla="*/ 62 w 3050"/>
                <a:gd name="T101" fmla="*/ 2610 h 2623"/>
                <a:gd name="T102" fmla="*/ 108 w 3050"/>
                <a:gd name="T103" fmla="*/ 2570 h 2623"/>
                <a:gd name="T104" fmla="*/ 125 w 3050"/>
                <a:gd name="T105" fmla="*/ 2479 h 26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3050" h="2623">
                  <a:moveTo>
                    <a:pt x="3048" y="446"/>
                  </a:moveTo>
                  <a:cubicBezTo>
                    <a:pt x="3043" y="444"/>
                    <a:pt x="3043" y="444"/>
                    <a:pt x="3043" y="444"/>
                  </a:cubicBezTo>
                  <a:cubicBezTo>
                    <a:pt x="3043" y="444"/>
                    <a:pt x="3049" y="436"/>
                    <a:pt x="3045" y="429"/>
                  </a:cubicBezTo>
                  <a:cubicBezTo>
                    <a:pt x="3041" y="422"/>
                    <a:pt x="3033" y="440"/>
                    <a:pt x="3033" y="440"/>
                  </a:cubicBezTo>
                  <a:cubicBezTo>
                    <a:pt x="3033" y="440"/>
                    <a:pt x="3004" y="453"/>
                    <a:pt x="3007" y="467"/>
                  </a:cubicBezTo>
                  <a:cubicBezTo>
                    <a:pt x="3010" y="481"/>
                    <a:pt x="3017" y="487"/>
                    <a:pt x="3017" y="487"/>
                  </a:cubicBezTo>
                  <a:cubicBezTo>
                    <a:pt x="3017" y="487"/>
                    <a:pt x="3008" y="498"/>
                    <a:pt x="3016" y="505"/>
                  </a:cubicBezTo>
                  <a:cubicBezTo>
                    <a:pt x="3024" y="512"/>
                    <a:pt x="3033" y="513"/>
                    <a:pt x="3033" y="513"/>
                  </a:cubicBezTo>
                  <a:cubicBezTo>
                    <a:pt x="3033" y="513"/>
                    <a:pt x="3043" y="506"/>
                    <a:pt x="3043" y="495"/>
                  </a:cubicBezTo>
                  <a:cubicBezTo>
                    <a:pt x="3043" y="484"/>
                    <a:pt x="3042" y="481"/>
                    <a:pt x="3042" y="481"/>
                  </a:cubicBezTo>
                  <a:cubicBezTo>
                    <a:pt x="3050" y="477"/>
                    <a:pt x="3050" y="477"/>
                    <a:pt x="3050" y="477"/>
                  </a:cubicBezTo>
                  <a:lnTo>
                    <a:pt x="3048" y="446"/>
                  </a:lnTo>
                  <a:close/>
                  <a:moveTo>
                    <a:pt x="2964" y="107"/>
                  </a:moveTo>
                  <a:cubicBezTo>
                    <a:pt x="2964" y="103"/>
                    <a:pt x="2964" y="103"/>
                    <a:pt x="2964" y="103"/>
                  </a:cubicBezTo>
                  <a:cubicBezTo>
                    <a:pt x="2964" y="103"/>
                    <a:pt x="2950" y="107"/>
                    <a:pt x="2944" y="106"/>
                  </a:cubicBezTo>
                  <a:cubicBezTo>
                    <a:pt x="2938" y="105"/>
                    <a:pt x="2940" y="100"/>
                    <a:pt x="2940" y="100"/>
                  </a:cubicBezTo>
                  <a:cubicBezTo>
                    <a:pt x="2923" y="100"/>
                    <a:pt x="2923" y="100"/>
                    <a:pt x="2923" y="100"/>
                  </a:cubicBezTo>
                  <a:cubicBezTo>
                    <a:pt x="2923" y="100"/>
                    <a:pt x="2927" y="90"/>
                    <a:pt x="2924" y="87"/>
                  </a:cubicBezTo>
                  <a:cubicBezTo>
                    <a:pt x="2921" y="84"/>
                    <a:pt x="2919" y="80"/>
                    <a:pt x="2919" y="80"/>
                  </a:cubicBezTo>
                  <a:cubicBezTo>
                    <a:pt x="2908" y="78"/>
                    <a:pt x="2908" y="78"/>
                    <a:pt x="2908" y="78"/>
                  </a:cubicBezTo>
                  <a:cubicBezTo>
                    <a:pt x="2899" y="85"/>
                    <a:pt x="2899" y="85"/>
                    <a:pt x="2899" y="85"/>
                  </a:cubicBezTo>
                  <a:cubicBezTo>
                    <a:pt x="2894" y="81"/>
                    <a:pt x="2894" y="81"/>
                    <a:pt x="2894" y="81"/>
                  </a:cubicBezTo>
                  <a:cubicBezTo>
                    <a:pt x="2880" y="81"/>
                    <a:pt x="2880" y="81"/>
                    <a:pt x="2880" y="81"/>
                  </a:cubicBezTo>
                  <a:cubicBezTo>
                    <a:pt x="2880" y="81"/>
                    <a:pt x="2879" y="80"/>
                    <a:pt x="2877" y="77"/>
                  </a:cubicBezTo>
                  <a:cubicBezTo>
                    <a:pt x="2875" y="74"/>
                    <a:pt x="2853" y="70"/>
                    <a:pt x="2853" y="70"/>
                  </a:cubicBezTo>
                  <a:cubicBezTo>
                    <a:pt x="2853" y="54"/>
                    <a:pt x="2853" y="54"/>
                    <a:pt x="2853" y="54"/>
                  </a:cubicBezTo>
                  <a:cubicBezTo>
                    <a:pt x="2843" y="61"/>
                    <a:pt x="2843" y="61"/>
                    <a:pt x="2843" y="61"/>
                  </a:cubicBezTo>
                  <a:cubicBezTo>
                    <a:pt x="2828" y="61"/>
                    <a:pt x="2828" y="61"/>
                    <a:pt x="2828" y="61"/>
                  </a:cubicBezTo>
                  <a:cubicBezTo>
                    <a:pt x="2828" y="61"/>
                    <a:pt x="2828" y="45"/>
                    <a:pt x="2823" y="42"/>
                  </a:cubicBezTo>
                  <a:cubicBezTo>
                    <a:pt x="2818" y="39"/>
                    <a:pt x="2800" y="37"/>
                    <a:pt x="2800" y="37"/>
                  </a:cubicBezTo>
                  <a:cubicBezTo>
                    <a:pt x="2793" y="30"/>
                    <a:pt x="2793" y="30"/>
                    <a:pt x="2793" y="30"/>
                  </a:cubicBezTo>
                  <a:cubicBezTo>
                    <a:pt x="2777" y="26"/>
                    <a:pt x="2777" y="26"/>
                    <a:pt x="2777" y="26"/>
                  </a:cubicBezTo>
                  <a:cubicBezTo>
                    <a:pt x="2771" y="12"/>
                    <a:pt x="2771" y="12"/>
                    <a:pt x="2771" y="12"/>
                  </a:cubicBezTo>
                  <a:cubicBezTo>
                    <a:pt x="2772" y="3"/>
                    <a:pt x="2772" y="3"/>
                    <a:pt x="2772" y="3"/>
                  </a:cubicBezTo>
                  <a:cubicBezTo>
                    <a:pt x="2772" y="3"/>
                    <a:pt x="2756" y="0"/>
                    <a:pt x="2746" y="4"/>
                  </a:cubicBezTo>
                  <a:cubicBezTo>
                    <a:pt x="2736" y="8"/>
                    <a:pt x="2711" y="4"/>
                    <a:pt x="2715" y="12"/>
                  </a:cubicBezTo>
                  <a:cubicBezTo>
                    <a:pt x="2719" y="20"/>
                    <a:pt x="2722" y="27"/>
                    <a:pt x="2722" y="27"/>
                  </a:cubicBezTo>
                  <a:cubicBezTo>
                    <a:pt x="2722" y="27"/>
                    <a:pt x="2730" y="44"/>
                    <a:pt x="2719" y="52"/>
                  </a:cubicBezTo>
                  <a:cubicBezTo>
                    <a:pt x="2708" y="60"/>
                    <a:pt x="2686" y="60"/>
                    <a:pt x="2686" y="60"/>
                  </a:cubicBezTo>
                  <a:cubicBezTo>
                    <a:pt x="2661" y="80"/>
                    <a:pt x="2661" y="80"/>
                    <a:pt x="2661" y="80"/>
                  </a:cubicBezTo>
                  <a:cubicBezTo>
                    <a:pt x="2670" y="86"/>
                    <a:pt x="2670" y="86"/>
                    <a:pt x="2670" y="86"/>
                  </a:cubicBezTo>
                  <a:cubicBezTo>
                    <a:pt x="2670" y="86"/>
                    <a:pt x="2650" y="98"/>
                    <a:pt x="2635" y="97"/>
                  </a:cubicBezTo>
                  <a:cubicBezTo>
                    <a:pt x="2620" y="96"/>
                    <a:pt x="2611" y="91"/>
                    <a:pt x="2611" y="91"/>
                  </a:cubicBezTo>
                  <a:cubicBezTo>
                    <a:pt x="2600" y="76"/>
                    <a:pt x="2600" y="76"/>
                    <a:pt x="2600" y="76"/>
                  </a:cubicBezTo>
                  <a:cubicBezTo>
                    <a:pt x="2600" y="76"/>
                    <a:pt x="2579" y="68"/>
                    <a:pt x="2580" y="75"/>
                  </a:cubicBezTo>
                  <a:cubicBezTo>
                    <a:pt x="2581" y="82"/>
                    <a:pt x="2592" y="96"/>
                    <a:pt x="2592" y="96"/>
                  </a:cubicBezTo>
                  <a:cubicBezTo>
                    <a:pt x="2592" y="96"/>
                    <a:pt x="2605" y="120"/>
                    <a:pt x="2587" y="123"/>
                  </a:cubicBezTo>
                  <a:cubicBezTo>
                    <a:pt x="2569" y="126"/>
                    <a:pt x="2550" y="125"/>
                    <a:pt x="2550" y="125"/>
                  </a:cubicBezTo>
                  <a:cubicBezTo>
                    <a:pt x="2543" y="136"/>
                    <a:pt x="2543" y="136"/>
                    <a:pt x="2543" y="136"/>
                  </a:cubicBezTo>
                  <a:cubicBezTo>
                    <a:pt x="2543" y="136"/>
                    <a:pt x="2527" y="116"/>
                    <a:pt x="2521" y="117"/>
                  </a:cubicBezTo>
                  <a:cubicBezTo>
                    <a:pt x="2515" y="118"/>
                    <a:pt x="2495" y="124"/>
                    <a:pt x="2495" y="124"/>
                  </a:cubicBezTo>
                  <a:cubicBezTo>
                    <a:pt x="2495" y="124"/>
                    <a:pt x="2459" y="129"/>
                    <a:pt x="2456" y="136"/>
                  </a:cubicBezTo>
                  <a:cubicBezTo>
                    <a:pt x="2453" y="143"/>
                    <a:pt x="2475" y="149"/>
                    <a:pt x="2474" y="152"/>
                  </a:cubicBezTo>
                  <a:cubicBezTo>
                    <a:pt x="2473" y="155"/>
                    <a:pt x="2444" y="153"/>
                    <a:pt x="2450" y="161"/>
                  </a:cubicBezTo>
                  <a:cubicBezTo>
                    <a:pt x="2456" y="169"/>
                    <a:pt x="2475" y="170"/>
                    <a:pt x="2475" y="170"/>
                  </a:cubicBezTo>
                  <a:cubicBezTo>
                    <a:pt x="2482" y="166"/>
                    <a:pt x="2482" y="166"/>
                    <a:pt x="2482" y="166"/>
                  </a:cubicBezTo>
                  <a:cubicBezTo>
                    <a:pt x="2514" y="184"/>
                    <a:pt x="2514" y="184"/>
                    <a:pt x="2514" y="184"/>
                  </a:cubicBezTo>
                  <a:cubicBezTo>
                    <a:pt x="2534" y="184"/>
                    <a:pt x="2534" y="184"/>
                    <a:pt x="2534" y="184"/>
                  </a:cubicBezTo>
                  <a:cubicBezTo>
                    <a:pt x="2546" y="196"/>
                    <a:pt x="2546" y="196"/>
                    <a:pt x="2546" y="196"/>
                  </a:cubicBezTo>
                  <a:cubicBezTo>
                    <a:pt x="2572" y="199"/>
                    <a:pt x="2572" y="199"/>
                    <a:pt x="2572" y="199"/>
                  </a:cubicBezTo>
                  <a:cubicBezTo>
                    <a:pt x="2553" y="209"/>
                    <a:pt x="2553" y="209"/>
                    <a:pt x="2553" y="209"/>
                  </a:cubicBezTo>
                  <a:cubicBezTo>
                    <a:pt x="2553" y="209"/>
                    <a:pt x="2572" y="240"/>
                    <a:pt x="2576" y="244"/>
                  </a:cubicBezTo>
                  <a:cubicBezTo>
                    <a:pt x="2580" y="248"/>
                    <a:pt x="2597" y="248"/>
                    <a:pt x="2597" y="248"/>
                  </a:cubicBezTo>
                  <a:cubicBezTo>
                    <a:pt x="2595" y="277"/>
                    <a:pt x="2595" y="277"/>
                    <a:pt x="2595" y="277"/>
                  </a:cubicBezTo>
                  <a:cubicBezTo>
                    <a:pt x="2608" y="297"/>
                    <a:pt x="2608" y="297"/>
                    <a:pt x="2608" y="297"/>
                  </a:cubicBezTo>
                  <a:cubicBezTo>
                    <a:pt x="2617" y="320"/>
                    <a:pt x="2617" y="320"/>
                    <a:pt x="2617" y="320"/>
                  </a:cubicBezTo>
                  <a:cubicBezTo>
                    <a:pt x="2596" y="294"/>
                    <a:pt x="2596" y="294"/>
                    <a:pt x="2596" y="294"/>
                  </a:cubicBezTo>
                  <a:cubicBezTo>
                    <a:pt x="2596" y="294"/>
                    <a:pt x="2594" y="323"/>
                    <a:pt x="2593" y="333"/>
                  </a:cubicBezTo>
                  <a:cubicBezTo>
                    <a:pt x="2592" y="343"/>
                    <a:pt x="2581" y="383"/>
                    <a:pt x="2576" y="391"/>
                  </a:cubicBezTo>
                  <a:cubicBezTo>
                    <a:pt x="2572" y="398"/>
                    <a:pt x="2574" y="407"/>
                    <a:pt x="2562" y="409"/>
                  </a:cubicBezTo>
                  <a:cubicBezTo>
                    <a:pt x="2563" y="415"/>
                    <a:pt x="2563" y="415"/>
                    <a:pt x="2563" y="415"/>
                  </a:cubicBezTo>
                  <a:cubicBezTo>
                    <a:pt x="2563" y="415"/>
                    <a:pt x="2572" y="407"/>
                    <a:pt x="2578" y="414"/>
                  </a:cubicBezTo>
                  <a:cubicBezTo>
                    <a:pt x="2584" y="421"/>
                    <a:pt x="2578" y="424"/>
                    <a:pt x="2578" y="424"/>
                  </a:cubicBezTo>
                  <a:cubicBezTo>
                    <a:pt x="2578" y="424"/>
                    <a:pt x="2592" y="426"/>
                    <a:pt x="2599" y="427"/>
                  </a:cubicBezTo>
                  <a:cubicBezTo>
                    <a:pt x="2606" y="428"/>
                    <a:pt x="2612" y="437"/>
                    <a:pt x="2612" y="437"/>
                  </a:cubicBezTo>
                  <a:cubicBezTo>
                    <a:pt x="2612" y="437"/>
                    <a:pt x="2622" y="433"/>
                    <a:pt x="2626" y="435"/>
                  </a:cubicBezTo>
                  <a:cubicBezTo>
                    <a:pt x="2630" y="437"/>
                    <a:pt x="2631" y="440"/>
                    <a:pt x="2631" y="440"/>
                  </a:cubicBezTo>
                  <a:cubicBezTo>
                    <a:pt x="2651" y="441"/>
                    <a:pt x="2651" y="441"/>
                    <a:pt x="2651" y="441"/>
                  </a:cubicBezTo>
                  <a:cubicBezTo>
                    <a:pt x="2653" y="449"/>
                    <a:pt x="2653" y="449"/>
                    <a:pt x="2653" y="449"/>
                  </a:cubicBezTo>
                  <a:cubicBezTo>
                    <a:pt x="2666" y="446"/>
                    <a:pt x="2666" y="446"/>
                    <a:pt x="2666" y="446"/>
                  </a:cubicBezTo>
                  <a:cubicBezTo>
                    <a:pt x="2666" y="446"/>
                    <a:pt x="2660" y="434"/>
                    <a:pt x="2673" y="434"/>
                  </a:cubicBezTo>
                  <a:cubicBezTo>
                    <a:pt x="2686" y="434"/>
                    <a:pt x="2686" y="441"/>
                    <a:pt x="2686" y="441"/>
                  </a:cubicBezTo>
                  <a:cubicBezTo>
                    <a:pt x="2695" y="442"/>
                    <a:pt x="2695" y="442"/>
                    <a:pt x="2695" y="442"/>
                  </a:cubicBezTo>
                  <a:cubicBezTo>
                    <a:pt x="2697" y="446"/>
                    <a:pt x="2697" y="446"/>
                    <a:pt x="2697" y="446"/>
                  </a:cubicBezTo>
                  <a:cubicBezTo>
                    <a:pt x="2698" y="445"/>
                    <a:pt x="2700" y="445"/>
                    <a:pt x="2702" y="445"/>
                  </a:cubicBezTo>
                  <a:cubicBezTo>
                    <a:pt x="2712" y="444"/>
                    <a:pt x="2716" y="445"/>
                    <a:pt x="2716" y="445"/>
                  </a:cubicBezTo>
                  <a:cubicBezTo>
                    <a:pt x="2717" y="454"/>
                    <a:pt x="2717" y="454"/>
                    <a:pt x="2717" y="454"/>
                  </a:cubicBezTo>
                  <a:cubicBezTo>
                    <a:pt x="2720" y="455"/>
                    <a:pt x="2722" y="459"/>
                    <a:pt x="2722" y="459"/>
                  </a:cubicBezTo>
                  <a:cubicBezTo>
                    <a:pt x="2722" y="459"/>
                    <a:pt x="2729" y="457"/>
                    <a:pt x="2732" y="456"/>
                  </a:cubicBezTo>
                  <a:cubicBezTo>
                    <a:pt x="2735" y="455"/>
                    <a:pt x="2742" y="463"/>
                    <a:pt x="2742" y="463"/>
                  </a:cubicBezTo>
                  <a:cubicBezTo>
                    <a:pt x="2742" y="463"/>
                    <a:pt x="2743" y="463"/>
                    <a:pt x="2750" y="463"/>
                  </a:cubicBezTo>
                  <a:cubicBezTo>
                    <a:pt x="2757" y="463"/>
                    <a:pt x="2757" y="453"/>
                    <a:pt x="2757" y="453"/>
                  </a:cubicBezTo>
                  <a:cubicBezTo>
                    <a:pt x="2763" y="453"/>
                    <a:pt x="2763" y="453"/>
                    <a:pt x="2763" y="453"/>
                  </a:cubicBezTo>
                  <a:cubicBezTo>
                    <a:pt x="2763" y="452"/>
                    <a:pt x="2763" y="451"/>
                    <a:pt x="2763" y="450"/>
                  </a:cubicBezTo>
                  <a:cubicBezTo>
                    <a:pt x="2763" y="440"/>
                    <a:pt x="2778" y="417"/>
                    <a:pt x="2785" y="413"/>
                  </a:cubicBezTo>
                  <a:cubicBezTo>
                    <a:pt x="2792" y="409"/>
                    <a:pt x="2813" y="392"/>
                    <a:pt x="2822" y="397"/>
                  </a:cubicBezTo>
                  <a:cubicBezTo>
                    <a:pt x="2831" y="402"/>
                    <a:pt x="2839" y="407"/>
                    <a:pt x="2839" y="407"/>
                  </a:cubicBezTo>
                  <a:cubicBezTo>
                    <a:pt x="2839" y="407"/>
                    <a:pt x="2862" y="401"/>
                    <a:pt x="2867" y="406"/>
                  </a:cubicBezTo>
                  <a:cubicBezTo>
                    <a:pt x="2872" y="411"/>
                    <a:pt x="2879" y="419"/>
                    <a:pt x="2882" y="421"/>
                  </a:cubicBezTo>
                  <a:cubicBezTo>
                    <a:pt x="2882" y="421"/>
                    <a:pt x="2907" y="431"/>
                    <a:pt x="2920" y="421"/>
                  </a:cubicBezTo>
                  <a:cubicBezTo>
                    <a:pt x="2933" y="411"/>
                    <a:pt x="2937" y="392"/>
                    <a:pt x="2943" y="390"/>
                  </a:cubicBezTo>
                  <a:cubicBezTo>
                    <a:pt x="2945" y="389"/>
                    <a:pt x="2951" y="389"/>
                    <a:pt x="2957" y="388"/>
                  </a:cubicBezTo>
                  <a:cubicBezTo>
                    <a:pt x="2957" y="385"/>
                    <a:pt x="2958" y="383"/>
                    <a:pt x="2960" y="383"/>
                  </a:cubicBezTo>
                  <a:cubicBezTo>
                    <a:pt x="2964" y="383"/>
                    <a:pt x="2970" y="373"/>
                    <a:pt x="2967" y="369"/>
                  </a:cubicBezTo>
                  <a:cubicBezTo>
                    <a:pt x="2964" y="365"/>
                    <a:pt x="2950" y="367"/>
                    <a:pt x="2950" y="367"/>
                  </a:cubicBezTo>
                  <a:cubicBezTo>
                    <a:pt x="2947" y="361"/>
                    <a:pt x="2947" y="361"/>
                    <a:pt x="2947" y="361"/>
                  </a:cubicBezTo>
                  <a:cubicBezTo>
                    <a:pt x="2947" y="361"/>
                    <a:pt x="2933" y="360"/>
                    <a:pt x="2934" y="350"/>
                  </a:cubicBezTo>
                  <a:cubicBezTo>
                    <a:pt x="2935" y="340"/>
                    <a:pt x="2941" y="340"/>
                    <a:pt x="2940" y="335"/>
                  </a:cubicBezTo>
                  <a:cubicBezTo>
                    <a:pt x="2939" y="330"/>
                    <a:pt x="2935" y="327"/>
                    <a:pt x="2935" y="327"/>
                  </a:cubicBezTo>
                  <a:cubicBezTo>
                    <a:pt x="2928" y="327"/>
                    <a:pt x="2928" y="327"/>
                    <a:pt x="2928" y="327"/>
                  </a:cubicBezTo>
                  <a:cubicBezTo>
                    <a:pt x="2922" y="314"/>
                    <a:pt x="2922" y="314"/>
                    <a:pt x="2922" y="314"/>
                  </a:cubicBezTo>
                  <a:cubicBezTo>
                    <a:pt x="2931" y="312"/>
                    <a:pt x="2931" y="312"/>
                    <a:pt x="2931" y="312"/>
                  </a:cubicBezTo>
                  <a:cubicBezTo>
                    <a:pt x="2931" y="312"/>
                    <a:pt x="2950" y="311"/>
                    <a:pt x="2950" y="302"/>
                  </a:cubicBezTo>
                  <a:cubicBezTo>
                    <a:pt x="2950" y="293"/>
                    <a:pt x="2939" y="289"/>
                    <a:pt x="2939" y="289"/>
                  </a:cubicBezTo>
                  <a:cubicBezTo>
                    <a:pt x="2931" y="281"/>
                    <a:pt x="2931" y="281"/>
                    <a:pt x="2931" y="281"/>
                  </a:cubicBezTo>
                  <a:cubicBezTo>
                    <a:pt x="2931" y="281"/>
                    <a:pt x="2941" y="277"/>
                    <a:pt x="2941" y="273"/>
                  </a:cubicBezTo>
                  <a:cubicBezTo>
                    <a:pt x="2941" y="269"/>
                    <a:pt x="2934" y="263"/>
                    <a:pt x="2934" y="263"/>
                  </a:cubicBezTo>
                  <a:cubicBezTo>
                    <a:pt x="2935" y="245"/>
                    <a:pt x="2935" y="245"/>
                    <a:pt x="2935" y="245"/>
                  </a:cubicBezTo>
                  <a:cubicBezTo>
                    <a:pt x="2935" y="245"/>
                    <a:pt x="2927" y="239"/>
                    <a:pt x="2920" y="243"/>
                  </a:cubicBezTo>
                  <a:cubicBezTo>
                    <a:pt x="2913" y="247"/>
                    <a:pt x="2908" y="260"/>
                    <a:pt x="2902" y="259"/>
                  </a:cubicBezTo>
                  <a:cubicBezTo>
                    <a:pt x="2896" y="258"/>
                    <a:pt x="2906" y="250"/>
                    <a:pt x="2906" y="250"/>
                  </a:cubicBezTo>
                  <a:cubicBezTo>
                    <a:pt x="2900" y="242"/>
                    <a:pt x="2900" y="242"/>
                    <a:pt x="2900" y="242"/>
                  </a:cubicBezTo>
                  <a:cubicBezTo>
                    <a:pt x="2900" y="242"/>
                    <a:pt x="2912" y="233"/>
                    <a:pt x="2918" y="226"/>
                  </a:cubicBezTo>
                  <a:cubicBezTo>
                    <a:pt x="2924" y="219"/>
                    <a:pt x="2921" y="213"/>
                    <a:pt x="2921" y="213"/>
                  </a:cubicBezTo>
                  <a:cubicBezTo>
                    <a:pt x="2921" y="213"/>
                    <a:pt x="2927" y="219"/>
                    <a:pt x="2932" y="213"/>
                  </a:cubicBezTo>
                  <a:cubicBezTo>
                    <a:pt x="2937" y="207"/>
                    <a:pt x="2943" y="198"/>
                    <a:pt x="2943" y="198"/>
                  </a:cubicBezTo>
                  <a:cubicBezTo>
                    <a:pt x="2948" y="189"/>
                    <a:pt x="2948" y="189"/>
                    <a:pt x="2948" y="189"/>
                  </a:cubicBezTo>
                  <a:cubicBezTo>
                    <a:pt x="2961" y="196"/>
                    <a:pt x="2961" y="196"/>
                    <a:pt x="2961" y="196"/>
                  </a:cubicBezTo>
                  <a:cubicBezTo>
                    <a:pt x="2966" y="186"/>
                    <a:pt x="2966" y="186"/>
                    <a:pt x="2966" y="186"/>
                  </a:cubicBezTo>
                  <a:cubicBezTo>
                    <a:pt x="2966" y="186"/>
                    <a:pt x="2962" y="177"/>
                    <a:pt x="2964" y="166"/>
                  </a:cubicBezTo>
                  <a:cubicBezTo>
                    <a:pt x="2966" y="155"/>
                    <a:pt x="2976" y="136"/>
                    <a:pt x="2976" y="136"/>
                  </a:cubicBezTo>
                  <a:cubicBezTo>
                    <a:pt x="2976" y="128"/>
                    <a:pt x="2976" y="128"/>
                    <a:pt x="2976" y="128"/>
                  </a:cubicBezTo>
                  <a:cubicBezTo>
                    <a:pt x="2990" y="117"/>
                    <a:pt x="2990" y="117"/>
                    <a:pt x="2990" y="117"/>
                  </a:cubicBezTo>
                  <a:cubicBezTo>
                    <a:pt x="2992" y="111"/>
                    <a:pt x="2992" y="111"/>
                    <a:pt x="2992" y="111"/>
                  </a:cubicBezTo>
                  <a:cubicBezTo>
                    <a:pt x="2982" y="106"/>
                    <a:pt x="2982" y="106"/>
                    <a:pt x="2982" y="106"/>
                  </a:cubicBezTo>
                  <a:lnTo>
                    <a:pt x="2964" y="107"/>
                  </a:lnTo>
                  <a:close/>
                  <a:moveTo>
                    <a:pt x="106" y="2472"/>
                  </a:moveTo>
                  <a:cubicBezTo>
                    <a:pt x="90" y="2439"/>
                    <a:pt x="90" y="2439"/>
                    <a:pt x="90" y="2439"/>
                  </a:cubicBezTo>
                  <a:cubicBezTo>
                    <a:pt x="67" y="2439"/>
                    <a:pt x="67" y="2439"/>
                    <a:pt x="67" y="2439"/>
                  </a:cubicBezTo>
                  <a:cubicBezTo>
                    <a:pt x="67" y="2439"/>
                    <a:pt x="44" y="2431"/>
                    <a:pt x="36" y="2423"/>
                  </a:cubicBezTo>
                  <a:cubicBezTo>
                    <a:pt x="32" y="2430"/>
                    <a:pt x="32" y="2439"/>
                    <a:pt x="32" y="2444"/>
                  </a:cubicBezTo>
                  <a:cubicBezTo>
                    <a:pt x="32" y="2451"/>
                    <a:pt x="21" y="2450"/>
                    <a:pt x="10" y="2467"/>
                  </a:cubicBezTo>
                  <a:cubicBezTo>
                    <a:pt x="0" y="2483"/>
                    <a:pt x="10" y="2504"/>
                    <a:pt x="11" y="2517"/>
                  </a:cubicBezTo>
                  <a:cubicBezTo>
                    <a:pt x="12" y="2529"/>
                    <a:pt x="31" y="2534"/>
                    <a:pt x="32" y="2544"/>
                  </a:cubicBezTo>
                  <a:cubicBezTo>
                    <a:pt x="33" y="2554"/>
                    <a:pt x="21" y="2559"/>
                    <a:pt x="21" y="2559"/>
                  </a:cubicBezTo>
                  <a:cubicBezTo>
                    <a:pt x="23" y="2587"/>
                    <a:pt x="23" y="2587"/>
                    <a:pt x="23" y="2587"/>
                  </a:cubicBezTo>
                  <a:cubicBezTo>
                    <a:pt x="23" y="2587"/>
                    <a:pt x="12" y="2591"/>
                    <a:pt x="11" y="2594"/>
                  </a:cubicBezTo>
                  <a:cubicBezTo>
                    <a:pt x="10" y="2597"/>
                    <a:pt x="4" y="2611"/>
                    <a:pt x="4" y="2611"/>
                  </a:cubicBezTo>
                  <a:cubicBezTo>
                    <a:pt x="4" y="2611"/>
                    <a:pt x="6" y="2621"/>
                    <a:pt x="20" y="2622"/>
                  </a:cubicBezTo>
                  <a:cubicBezTo>
                    <a:pt x="34" y="2623"/>
                    <a:pt x="32" y="2617"/>
                    <a:pt x="38" y="2611"/>
                  </a:cubicBezTo>
                  <a:cubicBezTo>
                    <a:pt x="44" y="2605"/>
                    <a:pt x="48" y="2613"/>
                    <a:pt x="48" y="2613"/>
                  </a:cubicBezTo>
                  <a:cubicBezTo>
                    <a:pt x="58" y="2615"/>
                    <a:pt x="58" y="2615"/>
                    <a:pt x="58" y="2615"/>
                  </a:cubicBezTo>
                  <a:cubicBezTo>
                    <a:pt x="62" y="2610"/>
                    <a:pt x="62" y="2610"/>
                    <a:pt x="62" y="2610"/>
                  </a:cubicBezTo>
                  <a:cubicBezTo>
                    <a:pt x="62" y="2610"/>
                    <a:pt x="66" y="2618"/>
                    <a:pt x="66" y="2619"/>
                  </a:cubicBezTo>
                  <a:cubicBezTo>
                    <a:pt x="72" y="2619"/>
                    <a:pt x="87" y="2613"/>
                    <a:pt x="87" y="2613"/>
                  </a:cubicBezTo>
                  <a:cubicBezTo>
                    <a:pt x="104" y="2599"/>
                    <a:pt x="105" y="2580"/>
                    <a:pt x="108" y="2570"/>
                  </a:cubicBezTo>
                  <a:cubicBezTo>
                    <a:pt x="111" y="2560"/>
                    <a:pt x="120" y="2545"/>
                    <a:pt x="127" y="2539"/>
                  </a:cubicBezTo>
                  <a:cubicBezTo>
                    <a:pt x="134" y="2533"/>
                    <a:pt x="139" y="2516"/>
                    <a:pt x="139" y="2516"/>
                  </a:cubicBezTo>
                  <a:cubicBezTo>
                    <a:pt x="137" y="2511"/>
                    <a:pt x="125" y="2479"/>
                    <a:pt x="125" y="2479"/>
                  </a:cubicBezTo>
                  <a:lnTo>
                    <a:pt x="106" y="2472"/>
                  </a:ln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537" name="Freeform 329">
              <a:extLst>
                <a:ext uri="{FF2B5EF4-FFF2-40B4-BE49-F238E27FC236}">
                  <a16:creationId xmlns:a16="http://schemas.microsoft.com/office/drawing/2014/main" id="{8D5BE1EF-EDC0-49A8-B8AD-225DBECBB41E}"/>
                </a:ext>
              </a:extLst>
            </p:cNvPr>
            <p:cNvSpPr>
              <a:spLocks noEditPoints="1"/>
            </p:cNvSpPr>
            <p:nvPr/>
          </p:nvSpPr>
          <p:spPr bwMode="gray">
            <a:xfrm>
              <a:off x="5276262" y="3452247"/>
              <a:ext cx="514859" cy="437368"/>
            </a:xfrm>
            <a:custGeom>
              <a:avLst/>
              <a:gdLst>
                <a:gd name="T0" fmla="*/ 725 w 759"/>
                <a:gd name="T1" fmla="*/ 254 h 682"/>
                <a:gd name="T2" fmla="*/ 696 w 759"/>
                <a:gd name="T3" fmla="*/ 278 h 682"/>
                <a:gd name="T4" fmla="*/ 673 w 759"/>
                <a:gd name="T5" fmla="*/ 221 h 682"/>
                <a:gd name="T6" fmla="*/ 708 w 759"/>
                <a:gd name="T7" fmla="*/ 206 h 682"/>
                <a:gd name="T8" fmla="*/ 727 w 759"/>
                <a:gd name="T9" fmla="*/ 125 h 682"/>
                <a:gd name="T10" fmla="*/ 696 w 759"/>
                <a:gd name="T11" fmla="*/ 15 h 682"/>
                <a:gd name="T12" fmla="*/ 649 w 759"/>
                <a:gd name="T13" fmla="*/ 8 h 682"/>
                <a:gd name="T14" fmla="*/ 586 w 759"/>
                <a:gd name="T15" fmla="*/ 2 h 682"/>
                <a:gd name="T16" fmla="*/ 549 w 759"/>
                <a:gd name="T17" fmla="*/ 25 h 682"/>
                <a:gd name="T18" fmla="*/ 495 w 759"/>
                <a:gd name="T19" fmla="*/ 77 h 682"/>
                <a:gd name="T20" fmla="*/ 461 w 759"/>
                <a:gd name="T21" fmla="*/ 137 h 682"/>
                <a:gd name="T22" fmla="*/ 436 w 759"/>
                <a:gd name="T23" fmla="*/ 152 h 682"/>
                <a:gd name="T24" fmla="*/ 402 w 759"/>
                <a:gd name="T25" fmla="*/ 192 h 682"/>
                <a:gd name="T26" fmla="*/ 364 w 759"/>
                <a:gd name="T27" fmla="*/ 190 h 682"/>
                <a:gd name="T28" fmla="*/ 337 w 759"/>
                <a:gd name="T29" fmla="*/ 179 h 682"/>
                <a:gd name="T30" fmla="*/ 290 w 759"/>
                <a:gd name="T31" fmla="*/ 212 h 682"/>
                <a:gd name="T32" fmla="*/ 263 w 759"/>
                <a:gd name="T33" fmla="*/ 240 h 682"/>
                <a:gd name="T34" fmla="*/ 244 w 759"/>
                <a:gd name="T35" fmla="*/ 251 h 682"/>
                <a:gd name="T36" fmla="*/ 193 w 759"/>
                <a:gd name="T37" fmla="*/ 231 h 682"/>
                <a:gd name="T38" fmla="*/ 196 w 759"/>
                <a:gd name="T39" fmla="*/ 189 h 682"/>
                <a:gd name="T40" fmla="*/ 166 w 759"/>
                <a:gd name="T41" fmla="*/ 143 h 682"/>
                <a:gd name="T42" fmla="*/ 142 w 759"/>
                <a:gd name="T43" fmla="*/ 343 h 682"/>
                <a:gd name="T44" fmla="*/ 129 w 759"/>
                <a:gd name="T45" fmla="*/ 353 h 682"/>
                <a:gd name="T46" fmla="*/ 114 w 759"/>
                <a:gd name="T47" fmla="*/ 367 h 682"/>
                <a:gd name="T48" fmla="*/ 88 w 759"/>
                <a:gd name="T49" fmla="*/ 369 h 682"/>
                <a:gd name="T50" fmla="*/ 65 w 759"/>
                <a:gd name="T51" fmla="*/ 357 h 682"/>
                <a:gd name="T52" fmla="*/ 41 w 759"/>
                <a:gd name="T53" fmla="*/ 330 h 682"/>
                <a:gd name="T54" fmla="*/ 12 w 759"/>
                <a:gd name="T55" fmla="*/ 340 h 682"/>
                <a:gd name="T56" fmla="*/ 0 w 759"/>
                <a:gd name="T57" fmla="*/ 345 h 682"/>
                <a:gd name="T58" fmla="*/ 31 w 759"/>
                <a:gd name="T59" fmla="*/ 407 h 682"/>
                <a:gd name="T60" fmla="*/ 83 w 759"/>
                <a:gd name="T61" fmla="*/ 523 h 682"/>
                <a:gd name="T62" fmla="*/ 61 w 759"/>
                <a:gd name="T63" fmla="*/ 572 h 682"/>
                <a:gd name="T64" fmla="*/ 81 w 759"/>
                <a:gd name="T65" fmla="*/ 649 h 682"/>
                <a:gd name="T66" fmla="*/ 103 w 759"/>
                <a:gd name="T67" fmla="*/ 650 h 682"/>
                <a:gd name="T68" fmla="*/ 145 w 759"/>
                <a:gd name="T69" fmla="*/ 679 h 682"/>
                <a:gd name="T70" fmla="*/ 233 w 759"/>
                <a:gd name="T71" fmla="*/ 662 h 682"/>
                <a:gd name="T72" fmla="*/ 292 w 759"/>
                <a:gd name="T73" fmla="*/ 646 h 682"/>
                <a:gd name="T74" fmla="*/ 366 w 759"/>
                <a:gd name="T75" fmla="*/ 646 h 682"/>
                <a:gd name="T76" fmla="*/ 406 w 759"/>
                <a:gd name="T77" fmla="*/ 637 h 682"/>
                <a:gd name="T78" fmla="*/ 473 w 759"/>
                <a:gd name="T79" fmla="*/ 617 h 682"/>
                <a:gd name="T80" fmla="*/ 538 w 759"/>
                <a:gd name="T81" fmla="*/ 565 h 682"/>
                <a:gd name="T82" fmla="*/ 615 w 759"/>
                <a:gd name="T83" fmla="*/ 500 h 682"/>
                <a:gd name="T84" fmla="*/ 686 w 759"/>
                <a:gd name="T85" fmla="*/ 379 h 682"/>
                <a:gd name="T86" fmla="*/ 748 w 759"/>
                <a:gd name="T87" fmla="*/ 297 h 682"/>
                <a:gd name="T88" fmla="*/ 746 w 759"/>
                <a:gd name="T89" fmla="*/ 250 h 682"/>
                <a:gd name="T90" fmla="*/ 563 w 759"/>
                <a:gd name="T91" fmla="*/ 428 h 682"/>
                <a:gd name="T92" fmla="*/ 531 w 759"/>
                <a:gd name="T93" fmla="*/ 456 h 682"/>
                <a:gd name="T94" fmla="*/ 498 w 759"/>
                <a:gd name="T95" fmla="*/ 437 h 682"/>
                <a:gd name="T96" fmla="*/ 481 w 759"/>
                <a:gd name="T97" fmla="*/ 401 h 682"/>
                <a:gd name="T98" fmla="*/ 500 w 759"/>
                <a:gd name="T99" fmla="*/ 389 h 682"/>
                <a:gd name="T100" fmla="*/ 519 w 759"/>
                <a:gd name="T101" fmla="*/ 362 h 682"/>
                <a:gd name="T102" fmla="*/ 535 w 759"/>
                <a:gd name="T103" fmla="*/ 351 h 682"/>
                <a:gd name="T104" fmla="*/ 564 w 759"/>
                <a:gd name="T105" fmla="*/ 349 h 682"/>
                <a:gd name="T106" fmla="*/ 591 w 759"/>
                <a:gd name="T107" fmla="*/ 377 h 682"/>
                <a:gd name="T108" fmla="*/ 577 w 759"/>
                <a:gd name="T109" fmla="*/ 406 h 6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59" h="682">
                  <a:moveTo>
                    <a:pt x="746" y="250"/>
                  </a:moveTo>
                  <a:cubicBezTo>
                    <a:pt x="738" y="246"/>
                    <a:pt x="725" y="254"/>
                    <a:pt x="725" y="254"/>
                  </a:cubicBezTo>
                  <a:cubicBezTo>
                    <a:pt x="718" y="279"/>
                    <a:pt x="718" y="279"/>
                    <a:pt x="718" y="279"/>
                  </a:cubicBezTo>
                  <a:cubicBezTo>
                    <a:pt x="718" y="279"/>
                    <a:pt x="703" y="278"/>
                    <a:pt x="696" y="278"/>
                  </a:cubicBezTo>
                  <a:cubicBezTo>
                    <a:pt x="689" y="278"/>
                    <a:pt x="666" y="262"/>
                    <a:pt x="664" y="250"/>
                  </a:cubicBezTo>
                  <a:cubicBezTo>
                    <a:pt x="662" y="238"/>
                    <a:pt x="670" y="225"/>
                    <a:pt x="673" y="221"/>
                  </a:cubicBezTo>
                  <a:cubicBezTo>
                    <a:pt x="676" y="217"/>
                    <a:pt x="682" y="192"/>
                    <a:pt x="689" y="192"/>
                  </a:cubicBezTo>
                  <a:cubicBezTo>
                    <a:pt x="696" y="192"/>
                    <a:pt x="708" y="206"/>
                    <a:pt x="708" y="206"/>
                  </a:cubicBezTo>
                  <a:cubicBezTo>
                    <a:pt x="726" y="182"/>
                    <a:pt x="726" y="182"/>
                    <a:pt x="726" y="182"/>
                  </a:cubicBezTo>
                  <a:cubicBezTo>
                    <a:pt x="726" y="182"/>
                    <a:pt x="726" y="134"/>
                    <a:pt x="727" y="125"/>
                  </a:cubicBezTo>
                  <a:cubicBezTo>
                    <a:pt x="728" y="116"/>
                    <a:pt x="707" y="84"/>
                    <a:pt x="705" y="75"/>
                  </a:cubicBezTo>
                  <a:cubicBezTo>
                    <a:pt x="703" y="66"/>
                    <a:pt x="696" y="15"/>
                    <a:pt x="696" y="15"/>
                  </a:cubicBezTo>
                  <a:cubicBezTo>
                    <a:pt x="684" y="8"/>
                    <a:pt x="684" y="8"/>
                    <a:pt x="684" y="8"/>
                  </a:cubicBezTo>
                  <a:cubicBezTo>
                    <a:pt x="684" y="8"/>
                    <a:pt x="657" y="9"/>
                    <a:pt x="649" y="8"/>
                  </a:cubicBezTo>
                  <a:cubicBezTo>
                    <a:pt x="641" y="7"/>
                    <a:pt x="625" y="0"/>
                    <a:pt x="625" y="0"/>
                  </a:cubicBezTo>
                  <a:cubicBezTo>
                    <a:pt x="586" y="2"/>
                    <a:pt x="586" y="2"/>
                    <a:pt x="586" y="2"/>
                  </a:cubicBezTo>
                  <a:cubicBezTo>
                    <a:pt x="578" y="18"/>
                    <a:pt x="578" y="18"/>
                    <a:pt x="578" y="18"/>
                  </a:cubicBezTo>
                  <a:cubicBezTo>
                    <a:pt x="578" y="18"/>
                    <a:pt x="554" y="19"/>
                    <a:pt x="549" y="25"/>
                  </a:cubicBezTo>
                  <a:cubicBezTo>
                    <a:pt x="544" y="31"/>
                    <a:pt x="530" y="57"/>
                    <a:pt x="519" y="64"/>
                  </a:cubicBezTo>
                  <a:cubicBezTo>
                    <a:pt x="508" y="71"/>
                    <a:pt x="505" y="70"/>
                    <a:pt x="495" y="77"/>
                  </a:cubicBezTo>
                  <a:cubicBezTo>
                    <a:pt x="485" y="84"/>
                    <a:pt x="484" y="107"/>
                    <a:pt x="484" y="113"/>
                  </a:cubicBezTo>
                  <a:cubicBezTo>
                    <a:pt x="484" y="119"/>
                    <a:pt x="461" y="137"/>
                    <a:pt x="461" y="137"/>
                  </a:cubicBezTo>
                  <a:cubicBezTo>
                    <a:pt x="450" y="140"/>
                    <a:pt x="450" y="140"/>
                    <a:pt x="450" y="140"/>
                  </a:cubicBezTo>
                  <a:cubicBezTo>
                    <a:pt x="436" y="152"/>
                    <a:pt x="436" y="152"/>
                    <a:pt x="436" y="152"/>
                  </a:cubicBezTo>
                  <a:cubicBezTo>
                    <a:pt x="436" y="152"/>
                    <a:pt x="432" y="185"/>
                    <a:pt x="421" y="192"/>
                  </a:cubicBezTo>
                  <a:cubicBezTo>
                    <a:pt x="410" y="199"/>
                    <a:pt x="402" y="192"/>
                    <a:pt x="402" y="192"/>
                  </a:cubicBezTo>
                  <a:cubicBezTo>
                    <a:pt x="402" y="192"/>
                    <a:pt x="399" y="197"/>
                    <a:pt x="389" y="199"/>
                  </a:cubicBezTo>
                  <a:cubicBezTo>
                    <a:pt x="379" y="201"/>
                    <a:pt x="364" y="190"/>
                    <a:pt x="364" y="190"/>
                  </a:cubicBezTo>
                  <a:cubicBezTo>
                    <a:pt x="347" y="189"/>
                    <a:pt x="347" y="189"/>
                    <a:pt x="347" y="189"/>
                  </a:cubicBezTo>
                  <a:cubicBezTo>
                    <a:pt x="337" y="179"/>
                    <a:pt x="337" y="179"/>
                    <a:pt x="337" y="179"/>
                  </a:cubicBezTo>
                  <a:cubicBezTo>
                    <a:pt x="337" y="179"/>
                    <a:pt x="321" y="167"/>
                    <a:pt x="308" y="167"/>
                  </a:cubicBezTo>
                  <a:cubicBezTo>
                    <a:pt x="295" y="167"/>
                    <a:pt x="290" y="205"/>
                    <a:pt x="290" y="212"/>
                  </a:cubicBezTo>
                  <a:cubicBezTo>
                    <a:pt x="290" y="219"/>
                    <a:pt x="279" y="217"/>
                    <a:pt x="272" y="220"/>
                  </a:cubicBezTo>
                  <a:cubicBezTo>
                    <a:pt x="265" y="223"/>
                    <a:pt x="263" y="240"/>
                    <a:pt x="263" y="240"/>
                  </a:cubicBezTo>
                  <a:cubicBezTo>
                    <a:pt x="263" y="240"/>
                    <a:pt x="253" y="238"/>
                    <a:pt x="249" y="239"/>
                  </a:cubicBezTo>
                  <a:cubicBezTo>
                    <a:pt x="245" y="240"/>
                    <a:pt x="244" y="251"/>
                    <a:pt x="244" y="251"/>
                  </a:cubicBezTo>
                  <a:cubicBezTo>
                    <a:pt x="244" y="251"/>
                    <a:pt x="198" y="256"/>
                    <a:pt x="193" y="253"/>
                  </a:cubicBezTo>
                  <a:cubicBezTo>
                    <a:pt x="188" y="250"/>
                    <a:pt x="193" y="231"/>
                    <a:pt x="193" y="231"/>
                  </a:cubicBezTo>
                  <a:cubicBezTo>
                    <a:pt x="193" y="231"/>
                    <a:pt x="201" y="218"/>
                    <a:pt x="203" y="209"/>
                  </a:cubicBezTo>
                  <a:cubicBezTo>
                    <a:pt x="205" y="200"/>
                    <a:pt x="196" y="189"/>
                    <a:pt x="196" y="189"/>
                  </a:cubicBezTo>
                  <a:cubicBezTo>
                    <a:pt x="196" y="189"/>
                    <a:pt x="197" y="179"/>
                    <a:pt x="188" y="160"/>
                  </a:cubicBezTo>
                  <a:cubicBezTo>
                    <a:pt x="184" y="152"/>
                    <a:pt x="175" y="147"/>
                    <a:pt x="166" y="143"/>
                  </a:cubicBezTo>
                  <a:cubicBezTo>
                    <a:pt x="163" y="339"/>
                    <a:pt x="163" y="339"/>
                    <a:pt x="163" y="339"/>
                  </a:cubicBezTo>
                  <a:cubicBezTo>
                    <a:pt x="163" y="339"/>
                    <a:pt x="149" y="340"/>
                    <a:pt x="142" y="343"/>
                  </a:cubicBezTo>
                  <a:cubicBezTo>
                    <a:pt x="135" y="346"/>
                    <a:pt x="137" y="351"/>
                    <a:pt x="137" y="351"/>
                  </a:cubicBezTo>
                  <a:cubicBezTo>
                    <a:pt x="129" y="353"/>
                    <a:pt x="129" y="353"/>
                    <a:pt x="129" y="353"/>
                  </a:cubicBezTo>
                  <a:cubicBezTo>
                    <a:pt x="129" y="353"/>
                    <a:pt x="132" y="367"/>
                    <a:pt x="126" y="367"/>
                  </a:cubicBezTo>
                  <a:cubicBezTo>
                    <a:pt x="121" y="367"/>
                    <a:pt x="114" y="367"/>
                    <a:pt x="114" y="367"/>
                  </a:cubicBezTo>
                  <a:cubicBezTo>
                    <a:pt x="114" y="367"/>
                    <a:pt x="110" y="361"/>
                    <a:pt x="102" y="361"/>
                  </a:cubicBezTo>
                  <a:cubicBezTo>
                    <a:pt x="94" y="361"/>
                    <a:pt x="88" y="369"/>
                    <a:pt x="88" y="369"/>
                  </a:cubicBezTo>
                  <a:cubicBezTo>
                    <a:pt x="76" y="369"/>
                    <a:pt x="76" y="369"/>
                    <a:pt x="76" y="369"/>
                  </a:cubicBezTo>
                  <a:cubicBezTo>
                    <a:pt x="76" y="369"/>
                    <a:pt x="72" y="361"/>
                    <a:pt x="65" y="357"/>
                  </a:cubicBezTo>
                  <a:cubicBezTo>
                    <a:pt x="58" y="353"/>
                    <a:pt x="49" y="359"/>
                    <a:pt x="45" y="352"/>
                  </a:cubicBezTo>
                  <a:cubicBezTo>
                    <a:pt x="40" y="345"/>
                    <a:pt x="41" y="330"/>
                    <a:pt x="41" y="330"/>
                  </a:cubicBezTo>
                  <a:cubicBezTo>
                    <a:pt x="41" y="330"/>
                    <a:pt x="31" y="318"/>
                    <a:pt x="27" y="317"/>
                  </a:cubicBezTo>
                  <a:cubicBezTo>
                    <a:pt x="23" y="316"/>
                    <a:pt x="12" y="340"/>
                    <a:pt x="12" y="340"/>
                  </a:cubicBezTo>
                  <a:cubicBezTo>
                    <a:pt x="0" y="346"/>
                    <a:pt x="0" y="346"/>
                    <a:pt x="0" y="346"/>
                  </a:cubicBezTo>
                  <a:cubicBezTo>
                    <a:pt x="0" y="345"/>
                    <a:pt x="0" y="345"/>
                    <a:pt x="0" y="345"/>
                  </a:cubicBezTo>
                  <a:cubicBezTo>
                    <a:pt x="0" y="345"/>
                    <a:pt x="7" y="368"/>
                    <a:pt x="11" y="372"/>
                  </a:cubicBezTo>
                  <a:cubicBezTo>
                    <a:pt x="15" y="376"/>
                    <a:pt x="31" y="394"/>
                    <a:pt x="31" y="407"/>
                  </a:cubicBezTo>
                  <a:cubicBezTo>
                    <a:pt x="31" y="420"/>
                    <a:pt x="28" y="446"/>
                    <a:pt x="38" y="461"/>
                  </a:cubicBezTo>
                  <a:cubicBezTo>
                    <a:pt x="48" y="476"/>
                    <a:pt x="83" y="509"/>
                    <a:pt x="83" y="523"/>
                  </a:cubicBezTo>
                  <a:cubicBezTo>
                    <a:pt x="83" y="537"/>
                    <a:pt x="82" y="564"/>
                    <a:pt x="78" y="568"/>
                  </a:cubicBezTo>
                  <a:cubicBezTo>
                    <a:pt x="74" y="572"/>
                    <a:pt x="62" y="564"/>
                    <a:pt x="61" y="572"/>
                  </a:cubicBezTo>
                  <a:cubicBezTo>
                    <a:pt x="60" y="580"/>
                    <a:pt x="63" y="588"/>
                    <a:pt x="73" y="605"/>
                  </a:cubicBezTo>
                  <a:cubicBezTo>
                    <a:pt x="83" y="622"/>
                    <a:pt x="75" y="641"/>
                    <a:pt x="81" y="649"/>
                  </a:cubicBezTo>
                  <a:cubicBezTo>
                    <a:pt x="87" y="657"/>
                    <a:pt x="84" y="646"/>
                    <a:pt x="90" y="643"/>
                  </a:cubicBezTo>
                  <a:cubicBezTo>
                    <a:pt x="96" y="640"/>
                    <a:pt x="103" y="650"/>
                    <a:pt x="103" y="650"/>
                  </a:cubicBezTo>
                  <a:cubicBezTo>
                    <a:pt x="121" y="656"/>
                    <a:pt x="121" y="656"/>
                    <a:pt x="121" y="656"/>
                  </a:cubicBezTo>
                  <a:cubicBezTo>
                    <a:pt x="121" y="656"/>
                    <a:pt x="126" y="682"/>
                    <a:pt x="145" y="679"/>
                  </a:cubicBezTo>
                  <a:cubicBezTo>
                    <a:pt x="164" y="676"/>
                    <a:pt x="165" y="662"/>
                    <a:pt x="177" y="658"/>
                  </a:cubicBezTo>
                  <a:cubicBezTo>
                    <a:pt x="189" y="654"/>
                    <a:pt x="224" y="665"/>
                    <a:pt x="233" y="662"/>
                  </a:cubicBezTo>
                  <a:cubicBezTo>
                    <a:pt x="242" y="659"/>
                    <a:pt x="238" y="638"/>
                    <a:pt x="261" y="638"/>
                  </a:cubicBezTo>
                  <a:cubicBezTo>
                    <a:pt x="284" y="638"/>
                    <a:pt x="292" y="646"/>
                    <a:pt x="292" y="646"/>
                  </a:cubicBezTo>
                  <a:cubicBezTo>
                    <a:pt x="292" y="646"/>
                    <a:pt x="303" y="635"/>
                    <a:pt x="326" y="636"/>
                  </a:cubicBezTo>
                  <a:cubicBezTo>
                    <a:pt x="349" y="637"/>
                    <a:pt x="361" y="647"/>
                    <a:pt x="366" y="646"/>
                  </a:cubicBezTo>
                  <a:cubicBezTo>
                    <a:pt x="371" y="645"/>
                    <a:pt x="383" y="635"/>
                    <a:pt x="383" y="635"/>
                  </a:cubicBezTo>
                  <a:cubicBezTo>
                    <a:pt x="383" y="635"/>
                    <a:pt x="397" y="642"/>
                    <a:pt x="406" y="637"/>
                  </a:cubicBezTo>
                  <a:cubicBezTo>
                    <a:pt x="415" y="632"/>
                    <a:pt x="427" y="624"/>
                    <a:pt x="427" y="624"/>
                  </a:cubicBezTo>
                  <a:cubicBezTo>
                    <a:pt x="427" y="624"/>
                    <a:pt x="451" y="632"/>
                    <a:pt x="473" y="617"/>
                  </a:cubicBezTo>
                  <a:cubicBezTo>
                    <a:pt x="495" y="602"/>
                    <a:pt x="525" y="573"/>
                    <a:pt x="525" y="573"/>
                  </a:cubicBezTo>
                  <a:cubicBezTo>
                    <a:pt x="538" y="565"/>
                    <a:pt x="538" y="565"/>
                    <a:pt x="538" y="565"/>
                  </a:cubicBezTo>
                  <a:cubicBezTo>
                    <a:pt x="600" y="499"/>
                    <a:pt x="600" y="499"/>
                    <a:pt x="600" y="499"/>
                  </a:cubicBezTo>
                  <a:cubicBezTo>
                    <a:pt x="615" y="500"/>
                    <a:pt x="615" y="500"/>
                    <a:pt x="615" y="500"/>
                  </a:cubicBezTo>
                  <a:cubicBezTo>
                    <a:pt x="615" y="500"/>
                    <a:pt x="652" y="449"/>
                    <a:pt x="656" y="435"/>
                  </a:cubicBezTo>
                  <a:cubicBezTo>
                    <a:pt x="660" y="421"/>
                    <a:pt x="677" y="385"/>
                    <a:pt x="686" y="379"/>
                  </a:cubicBezTo>
                  <a:cubicBezTo>
                    <a:pt x="695" y="373"/>
                    <a:pt x="726" y="360"/>
                    <a:pt x="729" y="349"/>
                  </a:cubicBezTo>
                  <a:cubicBezTo>
                    <a:pt x="732" y="338"/>
                    <a:pt x="748" y="297"/>
                    <a:pt x="748" y="297"/>
                  </a:cubicBezTo>
                  <a:cubicBezTo>
                    <a:pt x="748" y="297"/>
                    <a:pt x="754" y="280"/>
                    <a:pt x="759" y="264"/>
                  </a:cubicBezTo>
                  <a:cubicBezTo>
                    <a:pt x="755" y="258"/>
                    <a:pt x="750" y="252"/>
                    <a:pt x="746" y="250"/>
                  </a:cubicBezTo>
                  <a:close/>
                  <a:moveTo>
                    <a:pt x="580" y="418"/>
                  </a:moveTo>
                  <a:cubicBezTo>
                    <a:pt x="580" y="418"/>
                    <a:pt x="571" y="426"/>
                    <a:pt x="563" y="428"/>
                  </a:cubicBezTo>
                  <a:cubicBezTo>
                    <a:pt x="555" y="430"/>
                    <a:pt x="552" y="428"/>
                    <a:pt x="542" y="432"/>
                  </a:cubicBezTo>
                  <a:cubicBezTo>
                    <a:pt x="532" y="436"/>
                    <a:pt x="531" y="456"/>
                    <a:pt x="531" y="456"/>
                  </a:cubicBezTo>
                  <a:cubicBezTo>
                    <a:pt x="516" y="457"/>
                    <a:pt x="516" y="457"/>
                    <a:pt x="516" y="457"/>
                  </a:cubicBezTo>
                  <a:cubicBezTo>
                    <a:pt x="498" y="437"/>
                    <a:pt x="498" y="437"/>
                    <a:pt x="498" y="437"/>
                  </a:cubicBezTo>
                  <a:cubicBezTo>
                    <a:pt x="498" y="426"/>
                    <a:pt x="498" y="426"/>
                    <a:pt x="498" y="426"/>
                  </a:cubicBezTo>
                  <a:cubicBezTo>
                    <a:pt x="481" y="401"/>
                    <a:pt x="481" y="401"/>
                    <a:pt x="481" y="401"/>
                  </a:cubicBezTo>
                  <a:cubicBezTo>
                    <a:pt x="498" y="399"/>
                    <a:pt x="498" y="399"/>
                    <a:pt x="498" y="399"/>
                  </a:cubicBezTo>
                  <a:cubicBezTo>
                    <a:pt x="500" y="389"/>
                    <a:pt x="500" y="389"/>
                    <a:pt x="500" y="389"/>
                  </a:cubicBezTo>
                  <a:cubicBezTo>
                    <a:pt x="512" y="376"/>
                    <a:pt x="512" y="376"/>
                    <a:pt x="512" y="376"/>
                  </a:cubicBezTo>
                  <a:cubicBezTo>
                    <a:pt x="512" y="376"/>
                    <a:pt x="514" y="366"/>
                    <a:pt x="519" y="362"/>
                  </a:cubicBezTo>
                  <a:cubicBezTo>
                    <a:pt x="524" y="358"/>
                    <a:pt x="534" y="361"/>
                    <a:pt x="534" y="361"/>
                  </a:cubicBezTo>
                  <a:cubicBezTo>
                    <a:pt x="535" y="351"/>
                    <a:pt x="535" y="351"/>
                    <a:pt x="535" y="351"/>
                  </a:cubicBezTo>
                  <a:cubicBezTo>
                    <a:pt x="543" y="348"/>
                    <a:pt x="543" y="348"/>
                    <a:pt x="543" y="348"/>
                  </a:cubicBezTo>
                  <a:cubicBezTo>
                    <a:pt x="543" y="348"/>
                    <a:pt x="559" y="343"/>
                    <a:pt x="564" y="349"/>
                  </a:cubicBezTo>
                  <a:cubicBezTo>
                    <a:pt x="569" y="355"/>
                    <a:pt x="581" y="374"/>
                    <a:pt x="581" y="374"/>
                  </a:cubicBezTo>
                  <a:cubicBezTo>
                    <a:pt x="591" y="377"/>
                    <a:pt x="591" y="377"/>
                    <a:pt x="591" y="377"/>
                  </a:cubicBezTo>
                  <a:cubicBezTo>
                    <a:pt x="592" y="393"/>
                    <a:pt x="592" y="393"/>
                    <a:pt x="592" y="393"/>
                  </a:cubicBezTo>
                  <a:cubicBezTo>
                    <a:pt x="577" y="406"/>
                    <a:pt x="577" y="406"/>
                    <a:pt x="577" y="406"/>
                  </a:cubicBezTo>
                  <a:lnTo>
                    <a:pt x="580" y="418"/>
                  </a:ln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538" name="Freeform 330">
              <a:extLst>
                <a:ext uri="{FF2B5EF4-FFF2-40B4-BE49-F238E27FC236}">
                  <a16:creationId xmlns:a16="http://schemas.microsoft.com/office/drawing/2014/main" id="{92A87E4F-EE20-4E1C-807E-12AEBBEFC8CA}"/>
                </a:ext>
              </a:extLst>
            </p:cNvPr>
            <p:cNvSpPr>
              <a:spLocks noEditPoints="1"/>
            </p:cNvSpPr>
            <p:nvPr/>
          </p:nvSpPr>
          <p:spPr bwMode="gray">
            <a:xfrm>
              <a:off x="4581649" y="620893"/>
              <a:ext cx="267910" cy="352121"/>
            </a:xfrm>
            <a:custGeom>
              <a:avLst/>
              <a:gdLst>
                <a:gd name="T0" fmla="*/ 118 w 395"/>
                <a:gd name="T1" fmla="*/ 256 h 549"/>
                <a:gd name="T2" fmla="*/ 111 w 395"/>
                <a:gd name="T3" fmla="*/ 221 h 549"/>
                <a:gd name="T4" fmla="*/ 98 w 395"/>
                <a:gd name="T5" fmla="*/ 248 h 549"/>
                <a:gd name="T6" fmla="*/ 222 w 395"/>
                <a:gd name="T7" fmla="*/ 93 h 549"/>
                <a:gd name="T8" fmla="*/ 97 w 395"/>
                <a:gd name="T9" fmla="*/ 159 h 549"/>
                <a:gd name="T10" fmla="*/ 93 w 395"/>
                <a:gd name="T11" fmla="*/ 183 h 549"/>
                <a:gd name="T12" fmla="*/ 325 w 395"/>
                <a:gd name="T13" fmla="*/ 1 h 549"/>
                <a:gd name="T14" fmla="*/ 296 w 395"/>
                <a:gd name="T15" fmla="*/ 36 h 549"/>
                <a:gd name="T16" fmla="*/ 301 w 395"/>
                <a:gd name="T17" fmla="*/ 12 h 549"/>
                <a:gd name="T18" fmla="*/ 296 w 395"/>
                <a:gd name="T19" fmla="*/ 36 h 549"/>
                <a:gd name="T20" fmla="*/ 246 w 395"/>
                <a:gd name="T21" fmla="*/ 96 h 549"/>
                <a:gd name="T22" fmla="*/ 128 w 395"/>
                <a:gd name="T23" fmla="*/ 258 h 549"/>
                <a:gd name="T24" fmla="*/ 331 w 395"/>
                <a:gd name="T25" fmla="*/ 402 h 549"/>
                <a:gd name="T26" fmla="*/ 330 w 395"/>
                <a:gd name="T27" fmla="*/ 357 h 549"/>
                <a:gd name="T28" fmla="*/ 291 w 395"/>
                <a:gd name="T29" fmla="*/ 314 h 549"/>
                <a:gd name="T30" fmla="*/ 265 w 395"/>
                <a:gd name="T31" fmla="*/ 261 h 549"/>
                <a:gd name="T32" fmla="*/ 191 w 395"/>
                <a:gd name="T33" fmla="*/ 235 h 549"/>
                <a:gd name="T34" fmla="*/ 214 w 395"/>
                <a:gd name="T35" fmla="*/ 222 h 549"/>
                <a:gd name="T36" fmla="*/ 261 w 395"/>
                <a:gd name="T37" fmla="*/ 177 h 549"/>
                <a:gd name="T38" fmla="*/ 211 w 395"/>
                <a:gd name="T39" fmla="*/ 154 h 549"/>
                <a:gd name="T40" fmla="*/ 179 w 395"/>
                <a:gd name="T41" fmla="*/ 147 h 549"/>
                <a:gd name="T42" fmla="*/ 224 w 395"/>
                <a:gd name="T43" fmla="*/ 112 h 549"/>
                <a:gd name="T44" fmla="*/ 153 w 395"/>
                <a:gd name="T45" fmla="*/ 110 h 549"/>
                <a:gd name="T46" fmla="*/ 144 w 395"/>
                <a:gd name="T47" fmla="*/ 148 h 549"/>
                <a:gd name="T48" fmla="*/ 121 w 395"/>
                <a:gd name="T49" fmla="*/ 162 h 549"/>
                <a:gd name="T50" fmla="*/ 116 w 395"/>
                <a:gd name="T51" fmla="*/ 198 h 549"/>
                <a:gd name="T52" fmla="*/ 134 w 395"/>
                <a:gd name="T53" fmla="*/ 202 h 549"/>
                <a:gd name="T54" fmla="*/ 116 w 395"/>
                <a:gd name="T55" fmla="*/ 250 h 549"/>
                <a:gd name="T56" fmla="*/ 144 w 395"/>
                <a:gd name="T57" fmla="*/ 251 h 549"/>
                <a:gd name="T58" fmla="*/ 146 w 395"/>
                <a:gd name="T59" fmla="*/ 306 h 549"/>
                <a:gd name="T60" fmla="*/ 211 w 395"/>
                <a:gd name="T61" fmla="*/ 295 h 549"/>
                <a:gd name="T62" fmla="*/ 216 w 395"/>
                <a:gd name="T63" fmla="*/ 349 h 549"/>
                <a:gd name="T64" fmla="*/ 162 w 395"/>
                <a:gd name="T65" fmla="*/ 377 h 549"/>
                <a:gd name="T66" fmla="*/ 135 w 395"/>
                <a:gd name="T67" fmla="*/ 402 h 549"/>
                <a:gd name="T68" fmla="*/ 117 w 395"/>
                <a:gd name="T69" fmla="*/ 448 h 549"/>
                <a:gd name="T70" fmla="*/ 151 w 395"/>
                <a:gd name="T71" fmla="*/ 466 h 549"/>
                <a:gd name="T72" fmla="*/ 202 w 395"/>
                <a:gd name="T73" fmla="*/ 467 h 549"/>
                <a:gd name="T74" fmla="*/ 156 w 395"/>
                <a:gd name="T75" fmla="*/ 485 h 549"/>
                <a:gd name="T76" fmla="*/ 129 w 395"/>
                <a:gd name="T77" fmla="*/ 516 h 549"/>
                <a:gd name="T78" fmla="*/ 83 w 395"/>
                <a:gd name="T79" fmla="*/ 545 h 549"/>
                <a:gd name="T80" fmla="*/ 147 w 395"/>
                <a:gd name="T81" fmla="*/ 530 h 549"/>
                <a:gd name="T82" fmla="*/ 211 w 395"/>
                <a:gd name="T83" fmla="*/ 519 h 549"/>
                <a:gd name="T84" fmla="*/ 273 w 395"/>
                <a:gd name="T85" fmla="*/ 520 h 549"/>
                <a:gd name="T86" fmla="*/ 293 w 395"/>
                <a:gd name="T87" fmla="*/ 508 h 549"/>
                <a:gd name="T88" fmla="*/ 340 w 395"/>
                <a:gd name="T89" fmla="*/ 474 h 549"/>
                <a:gd name="T90" fmla="*/ 375 w 395"/>
                <a:gd name="T91" fmla="*/ 447 h 549"/>
                <a:gd name="T92" fmla="*/ 157 w 395"/>
                <a:gd name="T93" fmla="*/ 325 h 549"/>
                <a:gd name="T94" fmla="*/ 94 w 395"/>
                <a:gd name="T95" fmla="*/ 338 h 549"/>
                <a:gd name="T96" fmla="*/ 110 w 395"/>
                <a:gd name="T97" fmla="*/ 308 h 549"/>
                <a:gd name="T98" fmla="*/ 86 w 395"/>
                <a:gd name="T99" fmla="*/ 281 h 549"/>
                <a:gd name="T100" fmla="*/ 58 w 395"/>
                <a:gd name="T101" fmla="*/ 288 h 549"/>
                <a:gd name="T102" fmla="*/ 13 w 395"/>
                <a:gd name="T103" fmla="*/ 325 h 549"/>
                <a:gd name="T104" fmla="*/ 67 w 395"/>
                <a:gd name="T105" fmla="*/ 335 h 549"/>
                <a:gd name="T106" fmla="*/ 63 w 395"/>
                <a:gd name="T107" fmla="*/ 155 h 549"/>
                <a:gd name="T108" fmla="*/ 63 w 395"/>
                <a:gd name="T109" fmla="*/ 155 h 549"/>
                <a:gd name="T110" fmla="*/ 108 w 395"/>
                <a:gd name="T111" fmla="*/ 115 h 549"/>
                <a:gd name="T112" fmla="*/ 72 w 395"/>
                <a:gd name="T113" fmla="*/ 128 h 549"/>
                <a:gd name="T114" fmla="*/ 57 w 395"/>
                <a:gd name="T115" fmla="*/ 169 h 549"/>
                <a:gd name="T116" fmla="*/ 57 w 395"/>
                <a:gd name="T117" fmla="*/ 169 h 5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95" h="549">
                  <a:moveTo>
                    <a:pt x="118" y="256"/>
                  </a:moveTo>
                  <a:cubicBezTo>
                    <a:pt x="110" y="256"/>
                    <a:pt x="109" y="262"/>
                    <a:pt x="106" y="277"/>
                  </a:cubicBezTo>
                  <a:cubicBezTo>
                    <a:pt x="104" y="289"/>
                    <a:pt x="126" y="256"/>
                    <a:pt x="118" y="256"/>
                  </a:cubicBezTo>
                  <a:close/>
                  <a:moveTo>
                    <a:pt x="100" y="210"/>
                  </a:moveTo>
                  <a:cubicBezTo>
                    <a:pt x="96" y="210"/>
                    <a:pt x="90" y="222"/>
                    <a:pt x="94" y="225"/>
                  </a:cubicBezTo>
                  <a:cubicBezTo>
                    <a:pt x="98" y="228"/>
                    <a:pt x="111" y="221"/>
                    <a:pt x="111" y="221"/>
                  </a:cubicBezTo>
                  <a:cubicBezTo>
                    <a:pt x="111" y="221"/>
                    <a:pt x="104" y="210"/>
                    <a:pt x="100" y="210"/>
                  </a:cubicBezTo>
                  <a:close/>
                  <a:moveTo>
                    <a:pt x="87" y="261"/>
                  </a:moveTo>
                  <a:cubicBezTo>
                    <a:pt x="102" y="261"/>
                    <a:pt x="109" y="250"/>
                    <a:pt x="98" y="248"/>
                  </a:cubicBezTo>
                  <a:cubicBezTo>
                    <a:pt x="87" y="246"/>
                    <a:pt x="78" y="261"/>
                    <a:pt x="87" y="261"/>
                  </a:cubicBezTo>
                  <a:close/>
                  <a:moveTo>
                    <a:pt x="231" y="85"/>
                  </a:moveTo>
                  <a:cubicBezTo>
                    <a:pt x="223" y="78"/>
                    <a:pt x="222" y="93"/>
                    <a:pt x="222" y="93"/>
                  </a:cubicBezTo>
                  <a:cubicBezTo>
                    <a:pt x="229" y="99"/>
                    <a:pt x="239" y="92"/>
                    <a:pt x="231" y="85"/>
                  </a:cubicBezTo>
                  <a:close/>
                  <a:moveTo>
                    <a:pt x="103" y="176"/>
                  </a:moveTo>
                  <a:cubicBezTo>
                    <a:pt x="103" y="176"/>
                    <a:pt x="107" y="159"/>
                    <a:pt x="97" y="159"/>
                  </a:cubicBezTo>
                  <a:cubicBezTo>
                    <a:pt x="87" y="159"/>
                    <a:pt x="93" y="169"/>
                    <a:pt x="93" y="169"/>
                  </a:cubicBezTo>
                  <a:cubicBezTo>
                    <a:pt x="93" y="169"/>
                    <a:pt x="85" y="166"/>
                    <a:pt x="82" y="169"/>
                  </a:cubicBezTo>
                  <a:cubicBezTo>
                    <a:pt x="79" y="172"/>
                    <a:pt x="91" y="179"/>
                    <a:pt x="93" y="183"/>
                  </a:cubicBezTo>
                  <a:cubicBezTo>
                    <a:pt x="95" y="187"/>
                    <a:pt x="110" y="184"/>
                    <a:pt x="110" y="184"/>
                  </a:cubicBezTo>
                  <a:lnTo>
                    <a:pt x="103" y="176"/>
                  </a:lnTo>
                  <a:close/>
                  <a:moveTo>
                    <a:pt x="325" y="1"/>
                  </a:moveTo>
                  <a:cubicBezTo>
                    <a:pt x="318" y="2"/>
                    <a:pt x="316" y="11"/>
                    <a:pt x="316" y="11"/>
                  </a:cubicBezTo>
                  <a:cubicBezTo>
                    <a:pt x="327" y="16"/>
                    <a:pt x="332" y="0"/>
                    <a:pt x="325" y="1"/>
                  </a:cubicBezTo>
                  <a:close/>
                  <a:moveTo>
                    <a:pt x="296" y="36"/>
                  </a:moveTo>
                  <a:cubicBezTo>
                    <a:pt x="300" y="45"/>
                    <a:pt x="300" y="45"/>
                    <a:pt x="300" y="45"/>
                  </a:cubicBezTo>
                  <a:cubicBezTo>
                    <a:pt x="305" y="49"/>
                    <a:pt x="312" y="28"/>
                    <a:pt x="311" y="24"/>
                  </a:cubicBezTo>
                  <a:cubicBezTo>
                    <a:pt x="310" y="20"/>
                    <a:pt x="301" y="12"/>
                    <a:pt x="301" y="12"/>
                  </a:cubicBezTo>
                  <a:cubicBezTo>
                    <a:pt x="300" y="21"/>
                    <a:pt x="300" y="21"/>
                    <a:pt x="300" y="21"/>
                  </a:cubicBezTo>
                  <a:cubicBezTo>
                    <a:pt x="300" y="21"/>
                    <a:pt x="287" y="25"/>
                    <a:pt x="288" y="29"/>
                  </a:cubicBezTo>
                  <a:cubicBezTo>
                    <a:pt x="289" y="33"/>
                    <a:pt x="296" y="36"/>
                    <a:pt x="296" y="36"/>
                  </a:cubicBezTo>
                  <a:close/>
                  <a:moveTo>
                    <a:pt x="239" y="94"/>
                  </a:moveTo>
                  <a:cubicBezTo>
                    <a:pt x="237" y="104"/>
                    <a:pt x="237" y="104"/>
                    <a:pt x="237" y="104"/>
                  </a:cubicBezTo>
                  <a:cubicBezTo>
                    <a:pt x="246" y="96"/>
                    <a:pt x="246" y="96"/>
                    <a:pt x="246" y="96"/>
                  </a:cubicBezTo>
                  <a:lnTo>
                    <a:pt x="239" y="94"/>
                  </a:lnTo>
                  <a:close/>
                  <a:moveTo>
                    <a:pt x="137" y="269"/>
                  </a:moveTo>
                  <a:cubicBezTo>
                    <a:pt x="143" y="265"/>
                    <a:pt x="134" y="252"/>
                    <a:pt x="128" y="258"/>
                  </a:cubicBezTo>
                  <a:cubicBezTo>
                    <a:pt x="122" y="264"/>
                    <a:pt x="130" y="273"/>
                    <a:pt x="137" y="269"/>
                  </a:cubicBezTo>
                  <a:close/>
                  <a:moveTo>
                    <a:pt x="346" y="395"/>
                  </a:moveTo>
                  <a:cubicBezTo>
                    <a:pt x="346" y="395"/>
                    <a:pt x="341" y="409"/>
                    <a:pt x="331" y="402"/>
                  </a:cubicBezTo>
                  <a:cubicBezTo>
                    <a:pt x="321" y="394"/>
                    <a:pt x="341" y="387"/>
                    <a:pt x="340" y="378"/>
                  </a:cubicBezTo>
                  <a:cubicBezTo>
                    <a:pt x="339" y="369"/>
                    <a:pt x="308" y="364"/>
                    <a:pt x="308" y="359"/>
                  </a:cubicBezTo>
                  <a:cubicBezTo>
                    <a:pt x="308" y="354"/>
                    <a:pt x="330" y="357"/>
                    <a:pt x="330" y="357"/>
                  </a:cubicBezTo>
                  <a:cubicBezTo>
                    <a:pt x="321" y="349"/>
                    <a:pt x="321" y="349"/>
                    <a:pt x="321" y="349"/>
                  </a:cubicBezTo>
                  <a:cubicBezTo>
                    <a:pt x="321" y="349"/>
                    <a:pt x="312" y="328"/>
                    <a:pt x="308" y="321"/>
                  </a:cubicBezTo>
                  <a:cubicBezTo>
                    <a:pt x="304" y="314"/>
                    <a:pt x="291" y="314"/>
                    <a:pt x="291" y="314"/>
                  </a:cubicBezTo>
                  <a:cubicBezTo>
                    <a:pt x="291" y="314"/>
                    <a:pt x="283" y="305"/>
                    <a:pt x="275" y="299"/>
                  </a:cubicBezTo>
                  <a:cubicBezTo>
                    <a:pt x="267" y="293"/>
                    <a:pt x="273" y="261"/>
                    <a:pt x="273" y="261"/>
                  </a:cubicBezTo>
                  <a:cubicBezTo>
                    <a:pt x="265" y="261"/>
                    <a:pt x="265" y="261"/>
                    <a:pt x="265" y="261"/>
                  </a:cubicBezTo>
                  <a:cubicBezTo>
                    <a:pt x="265" y="261"/>
                    <a:pt x="264" y="255"/>
                    <a:pt x="250" y="245"/>
                  </a:cubicBezTo>
                  <a:cubicBezTo>
                    <a:pt x="235" y="235"/>
                    <a:pt x="216" y="245"/>
                    <a:pt x="208" y="246"/>
                  </a:cubicBezTo>
                  <a:cubicBezTo>
                    <a:pt x="200" y="247"/>
                    <a:pt x="191" y="235"/>
                    <a:pt x="191" y="235"/>
                  </a:cubicBezTo>
                  <a:cubicBezTo>
                    <a:pt x="191" y="235"/>
                    <a:pt x="205" y="240"/>
                    <a:pt x="209" y="239"/>
                  </a:cubicBezTo>
                  <a:cubicBezTo>
                    <a:pt x="213" y="238"/>
                    <a:pt x="231" y="234"/>
                    <a:pt x="232" y="228"/>
                  </a:cubicBezTo>
                  <a:cubicBezTo>
                    <a:pt x="233" y="223"/>
                    <a:pt x="214" y="222"/>
                    <a:pt x="214" y="222"/>
                  </a:cubicBezTo>
                  <a:cubicBezTo>
                    <a:pt x="230" y="218"/>
                    <a:pt x="230" y="218"/>
                    <a:pt x="230" y="218"/>
                  </a:cubicBezTo>
                  <a:cubicBezTo>
                    <a:pt x="230" y="218"/>
                    <a:pt x="239" y="211"/>
                    <a:pt x="245" y="206"/>
                  </a:cubicBezTo>
                  <a:cubicBezTo>
                    <a:pt x="250" y="201"/>
                    <a:pt x="261" y="177"/>
                    <a:pt x="261" y="177"/>
                  </a:cubicBezTo>
                  <a:cubicBezTo>
                    <a:pt x="261" y="177"/>
                    <a:pt x="276" y="168"/>
                    <a:pt x="276" y="161"/>
                  </a:cubicBezTo>
                  <a:cubicBezTo>
                    <a:pt x="276" y="154"/>
                    <a:pt x="222" y="159"/>
                    <a:pt x="222" y="159"/>
                  </a:cubicBezTo>
                  <a:cubicBezTo>
                    <a:pt x="222" y="159"/>
                    <a:pt x="223" y="154"/>
                    <a:pt x="211" y="154"/>
                  </a:cubicBezTo>
                  <a:cubicBezTo>
                    <a:pt x="199" y="154"/>
                    <a:pt x="177" y="162"/>
                    <a:pt x="177" y="162"/>
                  </a:cubicBezTo>
                  <a:cubicBezTo>
                    <a:pt x="185" y="155"/>
                    <a:pt x="185" y="155"/>
                    <a:pt x="185" y="155"/>
                  </a:cubicBezTo>
                  <a:cubicBezTo>
                    <a:pt x="179" y="147"/>
                    <a:pt x="179" y="147"/>
                    <a:pt x="179" y="147"/>
                  </a:cubicBezTo>
                  <a:cubicBezTo>
                    <a:pt x="191" y="145"/>
                    <a:pt x="191" y="145"/>
                    <a:pt x="191" y="145"/>
                  </a:cubicBezTo>
                  <a:cubicBezTo>
                    <a:pt x="212" y="132"/>
                    <a:pt x="212" y="132"/>
                    <a:pt x="212" y="132"/>
                  </a:cubicBezTo>
                  <a:cubicBezTo>
                    <a:pt x="212" y="132"/>
                    <a:pt x="223" y="123"/>
                    <a:pt x="224" y="112"/>
                  </a:cubicBezTo>
                  <a:cubicBezTo>
                    <a:pt x="225" y="105"/>
                    <a:pt x="211" y="107"/>
                    <a:pt x="203" y="108"/>
                  </a:cubicBezTo>
                  <a:cubicBezTo>
                    <a:pt x="195" y="109"/>
                    <a:pt x="183" y="115"/>
                    <a:pt x="175" y="115"/>
                  </a:cubicBezTo>
                  <a:cubicBezTo>
                    <a:pt x="167" y="115"/>
                    <a:pt x="160" y="106"/>
                    <a:pt x="153" y="110"/>
                  </a:cubicBezTo>
                  <a:cubicBezTo>
                    <a:pt x="146" y="114"/>
                    <a:pt x="153" y="124"/>
                    <a:pt x="153" y="124"/>
                  </a:cubicBezTo>
                  <a:cubicBezTo>
                    <a:pt x="153" y="124"/>
                    <a:pt x="146" y="125"/>
                    <a:pt x="141" y="129"/>
                  </a:cubicBezTo>
                  <a:cubicBezTo>
                    <a:pt x="136" y="133"/>
                    <a:pt x="144" y="148"/>
                    <a:pt x="144" y="148"/>
                  </a:cubicBezTo>
                  <a:cubicBezTo>
                    <a:pt x="115" y="151"/>
                    <a:pt x="115" y="151"/>
                    <a:pt x="115" y="151"/>
                  </a:cubicBezTo>
                  <a:cubicBezTo>
                    <a:pt x="115" y="157"/>
                    <a:pt x="115" y="157"/>
                    <a:pt x="115" y="157"/>
                  </a:cubicBezTo>
                  <a:cubicBezTo>
                    <a:pt x="121" y="162"/>
                    <a:pt x="121" y="162"/>
                    <a:pt x="121" y="162"/>
                  </a:cubicBezTo>
                  <a:cubicBezTo>
                    <a:pt x="130" y="180"/>
                    <a:pt x="130" y="180"/>
                    <a:pt x="130" y="180"/>
                  </a:cubicBezTo>
                  <a:cubicBezTo>
                    <a:pt x="130" y="180"/>
                    <a:pt x="124" y="185"/>
                    <a:pt x="121" y="188"/>
                  </a:cubicBezTo>
                  <a:cubicBezTo>
                    <a:pt x="118" y="191"/>
                    <a:pt x="116" y="198"/>
                    <a:pt x="116" y="198"/>
                  </a:cubicBezTo>
                  <a:cubicBezTo>
                    <a:pt x="105" y="203"/>
                    <a:pt x="105" y="203"/>
                    <a:pt x="105" y="203"/>
                  </a:cubicBezTo>
                  <a:cubicBezTo>
                    <a:pt x="105" y="203"/>
                    <a:pt x="111" y="212"/>
                    <a:pt x="119" y="211"/>
                  </a:cubicBezTo>
                  <a:cubicBezTo>
                    <a:pt x="127" y="210"/>
                    <a:pt x="134" y="202"/>
                    <a:pt x="134" y="202"/>
                  </a:cubicBezTo>
                  <a:cubicBezTo>
                    <a:pt x="133" y="214"/>
                    <a:pt x="133" y="214"/>
                    <a:pt x="133" y="214"/>
                  </a:cubicBezTo>
                  <a:cubicBezTo>
                    <a:pt x="133" y="214"/>
                    <a:pt x="120" y="220"/>
                    <a:pt x="115" y="228"/>
                  </a:cubicBezTo>
                  <a:cubicBezTo>
                    <a:pt x="110" y="237"/>
                    <a:pt x="116" y="250"/>
                    <a:pt x="116" y="250"/>
                  </a:cubicBezTo>
                  <a:cubicBezTo>
                    <a:pt x="116" y="250"/>
                    <a:pt x="127" y="242"/>
                    <a:pt x="134" y="247"/>
                  </a:cubicBezTo>
                  <a:cubicBezTo>
                    <a:pt x="140" y="252"/>
                    <a:pt x="153" y="241"/>
                    <a:pt x="153" y="241"/>
                  </a:cubicBezTo>
                  <a:cubicBezTo>
                    <a:pt x="144" y="251"/>
                    <a:pt x="144" y="251"/>
                    <a:pt x="144" y="251"/>
                  </a:cubicBezTo>
                  <a:cubicBezTo>
                    <a:pt x="149" y="269"/>
                    <a:pt x="149" y="269"/>
                    <a:pt x="149" y="269"/>
                  </a:cubicBezTo>
                  <a:cubicBezTo>
                    <a:pt x="149" y="269"/>
                    <a:pt x="138" y="282"/>
                    <a:pt x="130" y="296"/>
                  </a:cubicBezTo>
                  <a:cubicBezTo>
                    <a:pt x="123" y="309"/>
                    <a:pt x="146" y="306"/>
                    <a:pt x="146" y="306"/>
                  </a:cubicBezTo>
                  <a:cubicBezTo>
                    <a:pt x="146" y="306"/>
                    <a:pt x="159" y="300"/>
                    <a:pt x="166" y="303"/>
                  </a:cubicBezTo>
                  <a:cubicBezTo>
                    <a:pt x="173" y="306"/>
                    <a:pt x="189" y="293"/>
                    <a:pt x="189" y="293"/>
                  </a:cubicBezTo>
                  <a:cubicBezTo>
                    <a:pt x="211" y="295"/>
                    <a:pt x="211" y="295"/>
                    <a:pt x="211" y="295"/>
                  </a:cubicBezTo>
                  <a:cubicBezTo>
                    <a:pt x="211" y="295"/>
                    <a:pt x="188" y="308"/>
                    <a:pt x="186" y="318"/>
                  </a:cubicBezTo>
                  <a:cubicBezTo>
                    <a:pt x="185" y="328"/>
                    <a:pt x="215" y="335"/>
                    <a:pt x="215" y="335"/>
                  </a:cubicBezTo>
                  <a:cubicBezTo>
                    <a:pt x="216" y="349"/>
                    <a:pt x="216" y="349"/>
                    <a:pt x="216" y="349"/>
                  </a:cubicBezTo>
                  <a:cubicBezTo>
                    <a:pt x="208" y="361"/>
                    <a:pt x="208" y="361"/>
                    <a:pt x="208" y="361"/>
                  </a:cubicBezTo>
                  <a:cubicBezTo>
                    <a:pt x="208" y="361"/>
                    <a:pt x="210" y="375"/>
                    <a:pt x="207" y="379"/>
                  </a:cubicBezTo>
                  <a:cubicBezTo>
                    <a:pt x="204" y="383"/>
                    <a:pt x="162" y="377"/>
                    <a:pt x="162" y="377"/>
                  </a:cubicBezTo>
                  <a:cubicBezTo>
                    <a:pt x="162" y="377"/>
                    <a:pt x="152" y="374"/>
                    <a:pt x="143" y="376"/>
                  </a:cubicBezTo>
                  <a:cubicBezTo>
                    <a:pt x="134" y="378"/>
                    <a:pt x="149" y="389"/>
                    <a:pt x="149" y="389"/>
                  </a:cubicBezTo>
                  <a:cubicBezTo>
                    <a:pt x="135" y="402"/>
                    <a:pt x="135" y="402"/>
                    <a:pt x="135" y="402"/>
                  </a:cubicBezTo>
                  <a:cubicBezTo>
                    <a:pt x="163" y="400"/>
                    <a:pt x="163" y="400"/>
                    <a:pt x="163" y="400"/>
                  </a:cubicBezTo>
                  <a:cubicBezTo>
                    <a:pt x="163" y="400"/>
                    <a:pt x="163" y="423"/>
                    <a:pt x="156" y="430"/>
                  </a:cubicBezTo>
                  <a:cubicBezTo>
                    <a:pt x="149" y="437"/>
                    <a:pt x="121" y="445"/>
                    <a:pt x="117" y="448"/>
                  </a:cubicBezTo>
                  <a:cubicBezTo>
                    <a:pt x="113" y="451"/>
                    <a:pt x="118" y="466"/>
                    <a:pt x="122" y="468"/>
                  </a:cubicBezTo>
                  <a:cubicBezTo>
                    <a:pt x="126" y="470"/>
                    <a:pt x="144" y="456"/>
                    <a:pt x="144" y="456"/>
                  </a:cubicBezTo>
                  <a:cubicBezTo>
                    <a:pt x="144" y="456"/>
                    <a:pt x="147" y="462"/>
                    <a:pt x="151" y="466"/>
                  </a:cubicBezTo>
                  <a:cubicBezTo>
                    <a:pt x="155" y="470"/>
                    <a:pt x="165" y="466"/>
                    <a:pt x="165" y="466"/>
                  </a:cubicBezTo>
                  <a:cubicBezTo>
                    <a:pt x="165" y="466"/>
                    <a:pt x="173" y="475"/>
                    <a:pt x="181" y="476"/>
                  </a:cubicBezTo>
                  <a:cubicBezTo>
                    <a:pt x="190" y="477"/>
                    <a:pt x="197" y="472"/>
                    <a:pt x="202" y="467"/>
                  </a:cubicBezTo>
                  <a:cubicBezTo>
                    <a:pt x="207" y="462"/>
                    <a:pt x="220" y="463"/>
                    <a:pt x="220" y="463"/>
                  </a:cubicBezTo>
                  <a:cubicBezTo>
                    <a:pt x="220" y="463"/>
                    <a:pt x="204" y="478"/>
                    <a:pt x="194" y="485"/>
                  </a:cubicBezTo>
                  <a:cubicBezTo>
                    <a:pt x="183" y="492"/>
                    <a:pt x="163" y="485"/>
                    <a:pt x="156" y="485"/>
                  </a:cubicBezTo>
                  <a:cubicBezTo>
                    <a:pt x="149" y="485"/>
                    <a:pt x="151" y="495"/>
                    <a:pt x="151" y="495"/>
                  </a:cubicBezTo>
                  <a:cubicBezTo>
                    <a:pt x="151" y="495"/>
                    <a:pt x="142" y="495"/>
                    <a:pt x="135" y="498"/>
                  </a:cubicBezTo>
                  <a:cubicBezTo>
                    <a:pt x="127" y="501"/>
                    <a:pt x="135" y="507"/>
                    <a:pt x="129" y="516"/>
                  </a:cubicBezTo>
                  <a:cubicBezTo>
                    <a:pt x="124" y="524"/>
                    <a:pt x="117" y="520"/>
                    <a:pt x="110" y="520"/>
                  </a:cubicBezTo>
                  <a:cubicBezTo>
                    <a:pt x="103" y="520"/>
                    <a:pt x="106" y="530"/>
                    <a:pt x="99" y="536"/>
                  </a:cubicBezTo>
                  <a:cubicBezTo>
                    <a:pt x="92" y="542"/>
                    <a:pt x="83" y="541"/>
                    <a:pt x="83" y="545"/>
                  </a:cubicBezTo>
                  <a:cubicBezTo>
                    <a:pt x="83" y="549"/>
                    <a:pt x="102" y="549"/>
                    <a:pt x="105" y="549"/>
                  </a:cubicBezTo>
                  <a:cubicBezTo>
                    <a:pt x="108" y="549"/>
                    <a:pt x="116" y="539"/>
                    <a:pt x="122" y="534"/>
                  </a:cubicBezTo>
                  <a:cubicBezTo>
                    <a:pt x="128" y="529"/>
                    <a:pt x="138" y="530"/>
                    <a:pt x="147" y="530"/>
                  </a:cubicBezTo>
                  <a:cubicBezTo>
                    <a:pt x="156" y="530"/>
                    <a:pt x="159" y="540"/>
                    <a:pt x="165" y="540"/>
                  </a:cubicBezTo>
                  <a:cubicBezTo>
                    <a:pt x="171" y="540"/>
                    <a:pt x="184" y="515"/>
                    <a:pt x="191" y="512"/>
                  </a:cubicBezTo>
                  <a:cubicBezTo>
                    <a:pt x="197" y="508"/>
                    <a:pt x="211" y="519"/>
                    <a:pt x="211" y="519"/>
                  </a:cubicBezTo>
                  <a:cubicBezTo>
                    <a:pt x="228" y="520"/>
                    <a:pt x="228" y="520"/>
                    <a:pt x="228" y="520"/>
                  </a:cubicBezTo>
                  <a:cubicBezTo>
                    <a:pt x="248" y="512"/>
                    <a:pt x="248" y="512"/>
                    <a:pt x="248" y="512"/>
                  </a:cubicBezTo>
                  <a:cubicBezTo>
                    <a:pt x="248" y="512"/>
                    <a:pt x="267" y="521"/>
                    <a:pt x="273" y="520"/>
                  </a:cubicBezTo>
                  <a:cubicBezTo>
                    <a:pt x="279" y="519"/>
                    <a:pt x="265" y="508"/>
                    <a:pt x="271" y="503"/>
                  </a:cubicBezTo>
                  <a:cubicBezTo>
                    <a:pt x="277" y="498"/>
                    <a:pt x="286" y="513"/>
                    <a:pt x="286" y="513"/>
                  </a:cubicBezTo>
                  <a:cubicBezTo>
                    <a:pt x="293" y="508"/>
                    <a:pt x="293" y="508"/>
                    <a:pt x="293" y="508"/>
                  </a:cubicBezTo>
                  <a:cubicBezTo>
                    <a:pt x="293" y="508"/>
                    <a:pt x="346" y="508"/>
                    <a:pt x="359" y="501"/>
                  </a:cubicBezTo>
                  <a:cubicBezTo>
                    <a:pt x="371" y="494"/>
                    <a:pt x="379" y="479"/>
                    <a:pt x="379" y="479"/>
                  </a:cubicBezTo>
                  <a:cubicBezTo>
                    <a:pt x="340" y="474"/>
                    <a:pt x="340" y="474"/>
                    <a:pt x="340" y="474"/>
                  </a:cubicBezTo>
                  <a:cubicBezTo>
                    <a:pt x="358" y="471"/>
                    <a:pt x="358" y="471"/>
                    <a:pt x="358" y="471"/>
                  </a:cubicBezTo>
                  <a:cubicBezTo>
                    <a:pt x="354" y="461"/>
                    <a:pt x="354" y="461"/>
                    <a:pt x="354" y="461"/>
                  </a:cubicBezTo>
                  <a:cubicBezTo>
                    <a:pt x="354" y="461"/>
                    <a:pt x="368" y="448"/>
                    <a:pt x="375" y="447"/>
                  </a:cubicBezTo>
                  <a:cubicBezTo>
                    <a:pt x="382" y="446"/>
                    <a:pt x="393" y="435"/>
                    <a:pt x="394" y="415"/>
                  </a:cubicBezTo>
                  <a:cubicBezTo>
                    <a:pt x="395" y="394"/>
                    <a:pt x="346" y="395"/>
                    <a:pt x="346" y="395"/>
                  </a:cubicBezTo>
                  <a:close/>
                  <a:moveTo>
                    <a:pt x="157" y="325"/>
                  </a:moveTo>
                  <a:cubicBezTo>
                    <a:pt x="152" y="310"/>
                    <a:pt x="147" y="330"/>
                    <a:pt x="138" y="338"/>
                  </a:cubicBezTo>
                  <a:cubicBezTo>
                    <a:pt x="138" y="338"/>
                    <a:pt x="162" y="340"/>
                    <a:pt x="157" y="325"/>
                  </a:cubicBezTo>
                  <a:close/>
                  <a:moveTo>
                    <a:pt x="94" y="338"/>
                  </a:moveTo>
                  <a:cubicBezTo>
                    <a:pt x="97" y="335"/>
                    <a:pt x="99" y="329"/>
                    <a:pt x="99" y="329"/>
                  </a:cubicBezTo>
                  <a:cubicBezTo>
                    <a:pt x="99" y="329"/>
                    <a:pt x="104" y="336"/>
                    <a:pt x="107" y="330"/>
                  </a:cubicBezTo>
                  <a:cubicBezTo>
                    <a:pt x="110" y="324"/>
                    <a:pt x="117" y="314"/>
                    <a:pt x="110" y="308"/>
                  </a:cubicBezTo>
                  <a:cubicBezTo>
                    <a:pt x="103" y="302"/>
                    <a:pt x="103" y="293"/>
                    <a:pt x="103" y="293"/>
                  </a:cubicBezTo>
                  <a:cubicBezTo>
                    <a:pt x="98" y="295"/>
                    <a:pt x="98" y="295"/>
                    <a:pt x="98" y="295"/>
                  </a:cubicBezTo>
                  <a:cubicBezTo>
                    <a:pt x="98" y="295"/>
                    <a:pt x="93" y="283"/>
                    <a:pt x="86" y="281"/>
                  </a:cubicBezTo>
                  <a:cubicBezTo>
                    <a:pt x="79" y="279"/>
                    <a:pt x="61" y="282"/>
                    <a:pt x="61" y="282"/>
                  </a:cubicBezTo>
                  <a:cubicBezTo>
                    <a:pt x="61" y="282"/>
                    <a:pt x="61" y="282"/>
                    <a:pt x="61" y="281"/>
                  </a:cubicBezTo>
                  <a:cubicBezTo>
                    <a:pt x="58" y="288"/>
                    <a:pt x="58" y="288"/>
                    <a:pt x="58" y="288"/>
                  </a:cubicBezTo>
                  <a:cubicBezTo>
                    <a:pt x="28" y="302"/>
                    <a:pt x="28" y="302"/>
                    <a:pt x="28" y="302"/>
                  </a:cubicBezTo>
                  <a:cubicBezTo>
                    <a:pt x="29" y="312"/>
                    <a:pt x="29" y="312"/>
                    <a:pt x="29" y="312"/>
                  </a:cubicBezTo>
                  <a:cubicBezTo>
                    <a:pt x="29" y="312"/>
                    <a:pt x="0" y="318"/>
                    <a:pt x="13" y="325"/>
                  </a:cubicBezTo>
                  <a:cubicBezTo>
                    <a:pt x="26" y="333"/>
                    <a:pt x="38" y="335"/>
                    <a:pt x="38" y="335"/>
                  </a:cubicBezTo>
                  <a:cubicBezTo>
                    <a:pt x="55" y="319"/>
                    <a:pt x="55" y="319"/>
                    <a:pt x="55" y="319"/>
                  </a:cubicBezTo>
                  <a:cubicBezTo>
                    <a:pt x="67" y="335"/>
                    <a:pt x="67" y="335"/>
                    <a:pt x="67" y="335"/>
                  </a:cubicBezTo>
                  <a:cubicBezTo>
                    <a:pt x="89" y="340"/>
                    <a:pt x="89" y="340"/>
                    <a:pt x="89" y="340"/>
                  </a:cubicBezTo>
                  <a:cubicBezTo>
                    <a:pt x="91" y="340"/>
                    <a:pt x="93" y="339"/>
                    <a:pt x="94" y="338"/>
                  </a:cubicBezTo>
                  <a:close/>
                  <a:moveTo>
                    <a:pt x="63" y="155"/>
                  </a:moveTo>
                  <a:cubicBezTo>
                    <a:pt x="57" y="155"/>
                    <a:pt x="54" y="155"/>
                    <a:pt x="52" y="163"/>
                  </a:cubicBezTo>
                  <a:cubicBezTo>
                    <a:pt x="66" y="163"/>
                    <a:pt x="66" y="163"/>
                    <a:pt x="66" y="163"/>
                  </a:cubicBezTo>
                  <a:cubicBezTo>
                    <a:pt x="66" y="163"/>
                    <a:pt x="69" y="155"/>
                    <a:pt x="63" y="155"/>
                  </a:cubicBezTo>
                  <a:close/>
                  <a:moveTo>
                    <a:pt x="82" y="144"/>
                  </a:moveTo>
                  <a:cubicBezTo>
                    <a:pt x="82" y="144"/>
                    <a:pt x="88" y="146"/>
                    <a:pt x="94" y="145"/>
                  </a:cubicBezTo>
                  <a:cubicBezTo>
                    <a:pt x="100" y="144"/>
                    <a:pt x="108" y="115"/>
                    <a:pt x="108" y="115"/>
                  </a:cubicBezTo>
                  <a:cubicBezTo>
                    <a:pt x="108" y="115"/>
                    <a:pt x="100" y="117"/>
                    <a:pt x="94" y="122"/>
                  </a:cubicBezTo>
                  <a:cubicBezTo>
                    <a:pt x="88" y="126"/>
                    <a:pt x="86" y="133"/>
                    <a:pt x="86" y="133"/>
                  </a:cubicBezTo>
                  <a:cubicBezTo>
                    <a:pt x="86" y="133"/>
                    <a:pt x="78" y="125"/>
                    <a:pt x="72" y="128"/>
                  </a:cubicBezTo>
                  <a:cubicBezTo>
                    <a:pt x="67" y="131"/>
                    <a:pt x="73" y="153"/>
                    <a:pt x="73" y="153"/>
                  </a:cubicBezTo>
                  <a:lnTo>
                    <a:pt x="82" y="144"/>
                  </a:lnTo>
                  <a:close/>
                  <a:moveTo>
                    <a:pt x="57" y="169"/>
                  </a:moveTo>
                  <a:cubicBezTo>
                    <a:pt x="51" y="191"/>
                    <a:pt x="51" y="191"/>
                    <a:pt x="51" y="191"/>
                  </a:cubicBezTo>
                  <a:cubicBezTo>
                    <a:pt x="62" y="177"/>
                    <a:pt x="62" y="177"/>
                    <a:pt x="62" y="177"/>
                  </a:cubicBezTo>
                  <a:lnTo>
                    <a:pt x="57" y="169"/>
                  </a:ln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539" name="Freeform 331">
              <a:extLst>
                <a:ext uri="{FF2B5EF4-FFF2-40B4-BE49-F238E27FC236}">
                  <a16:creationId xmlns:a16="http://schemas.microsoft.com/office/drawing/2014/main" id="{B4CD8DF4-61CF-4E02-A071-D343E282C86C}"/>
                </a:ext>
              </a:extLst>
            </p:cNvPr>
            <p:cNvSpPr>
              <a:spLocks/>
            </p:cNvSpPr>
            <p:nvPr/>
          </p:nvSpPr>
          <p:spPr bwMode="gray">
            <a:xfrm>
              <a:off x="4513880" y="796546"/>
              <a:ext cx="128068" cy="129500"/>
            </a:xfrm>
            <a:custGeom>
              <a:avLst/>
              <a:gdLst>
                <a:gd name="T0" fmla="*/ 186 w 189"/>
                <a:gd name="T1" fmla="*/ 104 h 202"/>
                <a:gd name="T2" fmla="*/ 177 w 189"/>
                <a:gd name="T3" fmla="*/ 87 h 202"/>
                <a:gd name="T4" fmla="*/ 175 w 189"/>
                <a:gd name="T5" fmla="*/ 73 h 202"/>
                <a:gd name="T6" fmla="*/ 189 w 189"/>
                <a:gd name="T7" fmla="*/ 66 h 202"/>
                <a:gd name="T8" fmla="*/ 167 w 189"/>
                <a:gd name="T9" fmla="*/ 61 h 202"/>
                <a:gd name="T10" fmla="*/ 155 w 189"/>
                <a:gd name="T11" fmla="*/ 45 h 202"/>
                <a:gd name="T12" fmla="*/ 138 w 189"/>
                <a:gd name="T13" fmla="*/ 61 h 202"/>
                <a:gd name="T14" fmla="*/ 113 w 189"/>
                <a:gd name="T15" fmla="*/ 51 h 202"/>
                <a:gd name="T16" fmla="*/ 129 w 189"/>
                <a:gd name="T17" fmla="*/ 38 h 202"/>
                <a:gd name="T18" fmla="*/ 128 w 189"/>
                <a:gd name="T19" fmla="*/ 28 h 202"/>
                <a:gd name="T20" fmla="*/ 158 w 189"/>
                <a:gd name="T21" fmla="*/ 14 h 202"/>
                <a:gd name="T22" fmla="*/ 161 w 189"/>
                <a:gd name="T23" fmla="*/ 7 h 202"/>
                <a:gd name="T24" fmla="*/ 153 w 189"/>
                <a:gd name="T25" fmla="*/ 2 h 202"/>
                <a:gd name="T26" fmla="*/ 138 w 189"/>
                <a:gd name="T27" fmla="*/ 14 h 202"/>
                <a:gd name="T28" fmla="*/ 134 w 189"/>
                <a:gd name="T29" fmla="*/ 4 h 202"/>
                <a:gd name="T30" fmla="*/ 107 w 189"/>
                <a:gd name="T31" fmla="*/ 9 h 202"/>
                <a:gd name="T32" fmla="*/ 99 w 189"/>
                <a:gd name="T33" fmla="*/ 30 h 202"/>
                <a:gd name="T34" fmla="*/ 84 w 189"/>
                <a:gd name="T35" fmla="*/ 35 h 202"/>
                <a:gd name="T36" fmla="*/ 102 w 189"/>
                <a:gd name="T37" fmla="*/ 44 h 202"/>
                <a:gd name="T38" fmla="*/ 92 w 189"/>
                <a:gd name="T39" fmla="*/ 50 h 202"/>
                <a:gd name="T40" fmla="*/ 87 w 189"/>
                <a:gd name="T41" fmla="*/ 57 h 202"/>
                <a:gd name="T42" fmla="*/ 69 w 189"/>
                <a:gd name="T43" fmla="*/ 56 h 202"/>
                <a:gd name="T44" fmla="*/ 69 w 189"/>
                <a:gd name="T45" fmla="*/ 61 h 202"/>
                <a:gd name="T46" fmla="*/ 48 w 189"/>
                <a:gd name="T47" fmla="*/ 51 h 202"/>
                <a:gd name="T48" fmla="*/ 30 w 189"/>
                <a:gd name="T49" fmla="*/ 54 h 202"/>
                <a:gd name="T50" fmla="*/ 33 w 189"/>
                <a:gd name="T51" fmla="*/ 71 h 202"/>
                <a:gd name="T52" fmla="*/ 42 w 189"/>
                <a:gd name="T53" fmla="*/ 79 h 202"/>
                <a:gd name="T54" fmla="*/ 31 w 189"/>
                <a:gd name="T55" fmla="*/ 86 h 202"/>
                <a:gd name="T56" fmla="*/ 25 w 189"/>
                <a:gd name="T57" fmla="*/ 98 h 202"/>
                <a:gd name="T58" fmla="*/ 48 w 189"/>
                <a:gd name="T59" fmla="*/ 107 h 202"/>
                <a:gd name="T60" fmla="*/ 66 w 189"/>
                <a:gd name="T61" fmla="*/ 107 h 202"/>
                <a:gd name="T62" fmla="*/ 50 w 189"/>
                <a:gd name="T63" fmla="*/ 116 h 202"/>
                <a:gd name="T64" fmla="*/ 50 w 189"/>
                <a:gd name="T65" fmla="*/ 130 h 202"/>
                <a:gd name="T66" fmla="*/ 35 w 189"/>
                <a:gd name="T67" fmla="*/ 134 h 202"/>
                <a:gd name="T68" fmla="*/ 30 w 189"/>
                <a:gd name="T69" fmla="*/ 156 h 202"/>
                <a:gd name="T70" fmla="*/ 4 w 189"/>
                <a:gd name="T71" fmla="*/ 161 h 202"/>
                <a:gd name="T72" fmla="*/ 15 w 189"/>
                <a:gd name="T73" fmla="*/ 167 h 202"/>
                <a:gd name="T74" fmla="*/ 0 w 189"/>
                <a:gd name="T75" fmla="*/ 176 h 202"/>
                <a:gd name="T76" fmla="*/ 7 w 189"/>
                <a:gd name="T77" fmla="*/ 183 h 202"/>
                <a:gd name="T78" fmla="*/ 30 w 189"/>
                <a:gd name="T79" fmla="*/ 180 h 202"/>
                <a:gd name="T80" fmla="*/ 19 w 189"/>
                <a:gd name="T81" fmla="*/ 192 h 202"/>
                <a:gd name="T82" fmla="*/ 35 w 189"/>
                <a:gd name="T83" fmla="*/ 190 h 202"/>
                <a:gd name="T84" fmla="*/ 29 w 189"/>
                <a:gd name="T85" fmla="*/ 202 h 202"/>
                <a:gd name="T86" fmla="*/ 74 w 189"/>
                <a:gd name="T87" fmla="*/ 191 h 202"/>
                <a:gd name="T88" fmla="*/ 83 w 189"/>
                <a:gd name="T89" fmla="*/ 178 h 202"/>
                <a:gd name="T90" fmla="*/ 102 w 189"/>
                <a:gd name="T91" fmla="*/ 178 h 202"/>
                <a:gd name="T92" fmla="*/ 124 w 189"/>
                <a:gd name="T93" fmla="*/ 166 h 202"/>
                <a:gd name="T94" fmla="*/ 140 w 189"/>
                <a:gd name="T95" fmla="*/ 165 h 202"/>
                <a:gd name="T96" fmla="*/ 143 w 189"/>
                <a:gd name="T97" fmla="*/ 159 h 202"/>
                <a:gd name="T98" fmla="*/ 168 w 189"/>
                <a:gd name="T99" fmla="*/ 160 h 202"/>
                <a:gd name="T100" fmla="*/ 167 w 189"/>
                <a:gd name="T101" fmla="*/ 148 h 202"/>
                <a:gd name="T102" fmla="*/ 179 w 189"/>
                <a:gd name="T103" fmla="*/ 146 h 202"/>
                <a:gd name="T104" fmla="*/ 178 w 189"/>
                <a:gd name="T105" fmla="*/ 133 h 202"/>
                <a:gd name="T106" fmla="*/ 186 w 189"/>
                <a:gd name="T107" fmla="*/ 104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89" h="202">
                  <a:moveTo>
                    <a:pt x="186" y="104"/>
                  </a:moveTo>
                  <a:cubicBezTo>
                    <a:pt x="186" y="94"/>
                    <a:pt x="177" y="87"/>
                    <a:pt x="177" y="87"/>
                  </a:cubicBezTo>
                  <a:cubicBezTo>
                    <a:pt x="177" y="87"/>
                    <a:pt x="177" y="78"/>
                    <a:pt x="175" y="73"/>
                  </a:cubicBezTo>
                  <a:cubicBezTo>
                    <a:pt x="175" y="69"/>
                    <a:pt x="184" y="68"/>
                    <a:pt x="189" y="66"/>
                  </a:cubicBezTo>
                  <a:cubicBezTo>
                    <a:pt x="167" y="61"/>
                    <a:pt x="167" y="61"/>
                    <a:pt x="167" y="61"/>
                  </a:cubicBezTo>
                  <a:cubicBezTo>
                    <a:pt x="155" y="45"/>
                    <a:pt x="155" y="45"/>
                    <a:pt x="155" y="45"/>
                  </a:cubicBezTo>
                  <a:cubicBezTo>
                    <a:pt x="138" y="61"/>
                    <a:pt x="138" y="61"/>
                    <a:pt x="138" y="61"/>
                  </a:cubicBezTo>
                  <a:cubicBezTo>
                    <a:pt x="138" y="61"/>
                    <a:pt x="126" y="59"/>
                    <a:pt x="113" y="51"/>
                  </a:cubicBezTo>
                  <a:cubicBezTo>
                    <a:pt x="100" y="44"/>
                    <a:pt x="129" y="38"/>
                    <a:pt x="129" y="38"/>
                  </a:cubicBezTo>
                  <a:cubicBezTo>
                    <a:pt x="128" y="28"/>
                    <a:pt x="128" y="28"/>
                    <a:pt x="128" y="28"/>
                  </a:cubicBezTo>
                  <a:cubicBezTo>
                    <a:pt x="158" y="14"/>
                    <a:pt x="158" y="14"/>
                    <a:pt x="158" y="14"/>
                  </a:cubicBezTo>
                  <a:cubicBezTo>
                    <a:pt x="161" y="7"/>
                    <a:pt x="161" y="7"/>
                    <a:pt x="161" y="7"/>
                  </a:cubicBezTo>
                  <a:cubicBezTo>
                    <a:pt x="160" y="6"/>
                    <a:pt x="158" y="4"/>
                    <a:pt x="153" y="2"/>
                  </a:cubicBezTo>
                  <a:cubicBezTo>
                    <a:pt x="146" y="0"/>
                    <a:pt x="138" y="14"/>
                    <a:pt x="138" y="14"/>
                  </a:cubicBezTo>
                  <a:cubicBezTo>
                    <a:pt x="134" y="4"/>
                    <a:pt x="134" y="4"/>
                    <a:pt x="134" y="4"/>
                  </a:cubicBezTo>
                  <a:cubicBezTo>
                    <a:pt x="134" y="4"/>
                    <a:pt x="111" y="4"/>
                    <a:pt x="107" y="9"/>
                  </a:cubicBezTo>
                  <a:cubicBezTo>
                    <a:pt x="103" y="15"/>
                    <a:pt x="99" y="30"/>
                    <a:pt x="99" y="30"/>
                  </a:cubicBezTo>
                  <a:cubicBezTo>
                    <a:pt x="99" y="30"/>
                    <a:pt x="84" y="29"/>
                    <a:pt x="84" y="35"/>
                  </a:cubicBezTo>
                  <a:cubicBezTo>
                    <a:pt x="84" y="41"/>
                    <a:pt x="106" y="37"/>
                    <a:pt x="102" y="44"/>
                  </a:cubicBezTo>
                  <a:cubicBezTo>
                    <a:pt x="98" y="51"/>
                    <a:pt x="94" y="47"/>
                    <a:pt x="92" y="50"/>
                  </a:cubicBezTo>
                  <a:cubicBezTo>
                    <a:pt x="90" y="53"/>
                    <a:pt x="87" y="57"/>
                    <a:pt x="87" y="57"/>
                  </a:cubicBezTo>
                  <a:cubicBezTo>
                    <a:pt x="69" y="56"/>
                    <a:pt x="69" y="56"/>
                    <a:pt x="69" y="56"/>
                  </a:cubicBezTo>
                  <a:cubicBezTo>
                    <a:pt x="69" y="61"/>
                    <a:pt x="69" y="61"/>
                    <a:pt x="69" y="61"/>
                  </a:cubicBezTo>
                  <a:cubicBezTo>
                    <a:pt x="69" y="61"/>
                    <a:pt x="56" y="47"/>
                    <a:pt x="48" y="51"/>
                  </a:cubicBezTo>
                  <a:cubicBezTo>
                    <a:pt x="40" y="55"/>
                    <a:pt x="30" y="54"/>
                    <a:pt x="30" y="54"/>
                  </a:cubicBezTo>
                  <a:cubicBezTo>
                    <a:pt x="30" y="54"/>
                    <a:pt x="28" y="71"/>
                    <a:pt x="33" y="71"/>
                  </a:cubicBezTo>
                  <a:cubicBezTo>
                    <a:pt x="38" y="71"/>
                    <a:pt x="42" y="79"/>
                    <a:pt x="42" y="79"/>
                  </a:cubicBezTo>
                  <a:cubicBezTo>
                    <a:pt x="31" y="86"/>
                    <a:pt x="31" y="86"/>
                    <a:pt x="31" y="86"/>
                  </a:cubicBezTo>
                  <a:cubicBezTo>
                    <a:pt x="31" y="86"/>
                    <a:pt x="20" y="90"/>
                    <a:pt x="25" y="98"/>
                  </a:cubicBezTo>
                  <a:cubicBezTo>
                    <a:pt x="30" y="106"/>
                    <a:pt x="48" y="107"/>
                    <a:pt x="48" y="107"/>
                  </a:cubicBezTo>
                  <a:cubicBezTo>
                    <a:pt x="48" y="107"/>
                    <a:pt x="67" y="99"/>
                    <a:pt x="66" y="107"/>
                  </a:cubicBezTo>
                  <a:cubicBezTo>
                    <a:pt x="65" y="115"/>
                    <a:pt x="50" y="116"/>
                    <a:pt x="50" y="116"/>
                  </a:cubicBezTo>
                  <a:cubicBezTo>
                    <a:pt x="50" y="130"/>
                    <a:pt x="50" y="130"/>
                    <a:pt x="50" y="130"/>
                  </a:cubicBezTo>
                  <a:cubicBezTo>
                    <a:pt x="50" y="130"/>
                    <a:pt x="37" y="125"/>
                    <a:pt x="35" y="134"/>
                  </a:cubicBezTo>
                  <a:cubicBezTo>
                    <a:pt x="33" y="143"/>
                    <a:pt x="30" y="156"/>
                    <a:pt x="30" y="156"/>
                  </a:cubicBezTo>
                  <a:cubicBezTo>
                    <a:pt x="30" y="156"/>
                    <a:pt x="5" y="156"/>
                    <a:pt x="4" y="161"/>
                  </a:cubicBezTo>
                  <a:cubicBezTo>
                    <a:pt x="3" y="166"/>
                    <a:pt x="15" y="167"/>
                    <a:pt x="15" y="167"/>
                  </a:cubicBezTo>
                  <a:cubicBezTo>
                    <a:pt x="15" y="167"/>
                    <a:pt x="0" y="169"/>
                    <a:pt x="0" y="176"/>
                  </a:cubicBezTo>
                  <a:cubicBezTo>
                    <a:pt x="0" y="184"/>
                    <a:pt x="7" y="183"/>
                    <a:pt x="7" y="183"/>
                  </a:cubicBezTo>
                  <a:cubicBezTo>
                    <a:pt x="30" y="180"/>
                    <a:pt x="30" y="180"/>
                    <a:pt x="30" y="180"/>
                  </a:cubicBezTo>
                  <a:cubicBezTo>
                    <a:pt x="19" y="192"/>
                    <a:pt x="19" y="192"/>
                    <a:pt x="19" y="192"/>
                  </a:cubicBezTo>
                  <a:cubicBezTo>
                    <a:pt x="19" y="192"/>
                    <a:pt x="36" y="187"/>
                    <a:pt x="35" y="190"/>
                  </a:cubicBezTo>
                  <a:cubicBezTo>
                    <a:pt x="34" y="193"/>
                    <a:pt x="14" y="202"/>
                    <a:pt x="29" y="202"/>
                  </a:cubicBezTo>
                  <a:cubicBezTo>
                    <a:pt x="44" y="202"/>
                    <a:pt x="65" y="196"/>
                    <a:pt x="74" y="191"/>
                  </a:cubicBezTo>
                  <a:cubicBezTo>
                    <a:pt x="83" y="186"/>
                    <a:pt x="83" y="178"/>
                    <a:pt x="83" y="178"/>
                  </a:cubicBezTo>
                  <a:cubicBezTo>
                    <a:pt x="83" y="178"/>
                    <a:pt x="93" y="184"/>
                    <a:pt x="102" y="178"/>
                  </a:cubicBezTo>
                  <a:cubicBezTo>
                    <a:pt x="111" y="173"/>
                    <a:pt x="112" y="167"/>
                    <a:pt x="124" y="166"/>
                  </a:cubicBezTo>
                  <a:cubicBezTo>
                    <a:pt x="135" y="165"/>
                    <a:pt x="140" y="165"/>
                    <a:pt x="140" y="165"/>
                  </a:cubicBezTo>
                  <a:cubicBezTo>
                    <a:pt x="143" y="159"/>
                    <a:pt x="143" y="159"/>
                    <a:pt x="143" y="159"/>
                  </a:cubicBezTo>
                  <a:cubicBezTo>
                    <a:pt x="168" y="160"/>
                    <a:pt x="168" y="160"/>
                    <a:pt x="168" y="160"/>
                  </a:cubicBezTo>
                  <a:cubicBezTo>
                    <a:pt x="167" y="148"/>
                    <a:pt x="167" y="148"/>
                    <a:pt x="167" y="148"/>
                  </a:cubicBezTo>
                  <a:cubicBezTo>
                    <a:pt x="167" y="148"/>
                    <a:pt x="179" y="150"/>
                    <a:pt x="179" y="146"/>
                  </a:cubicBezTo>
                  <a:cubicBezTo>
                    <a:pt x="179" y="142"/>
                    <a:pt x="174" y="138"/>
                    <a:pt x="178" y="133"/>
                  </a:cubicBezTo>
                  <a:cubicBezTo>
                    <a:pt x="181" y="128"/>
                    <a:pt x="186" y="114"/>
                    <a:pt x="186" y="104"/>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540" name="Freeform 332">
              <a:extLst>
                <a:ext uri="{FF2B5EF4-FFF2-40B4-BE49-F238E27FC236}">
                  <a16:creationId xmlns:a16="http://schemas.microsoft.com/office/drawing/2014/main" id="{925F378B-E715-491F-988B-669DE7F868BF}"/>
                </a:ext>
              </a:extLst>
            </p:cNvPr>
            <p:cNvSpPr>
              <a:spLocks noEditPoints="1"/>
            </p:cNvSpPr>
            <p:nvPr/>
          </p:nvSpPr>
          <p:spPr bwMode="gray">
            <a:xfrm>
              <a:off x="3362697" y="0"/>
              <a:ext cx="1793537" cy="822067"/>
            </a:xfrm>
            <a:custGeom>
              <a:avLst/>
              <a:gdLst>
                <a:gd name="T0" fmla="*/ 1565 w 2644"/>
                <a:gd name="T1" fmla="*/ 52 h 1282"/>
                <a:gd name="T2" fmla="*/ 1392 w 2644"/>
                <a:gd name="T3" fmla="*/ 47 h 1282"/>
                <a:gd name="T4" fmla="*/ 1490 w 2644"/>
                <a:gd name="T5" fmla="*/ 10 h 1282"/>
                <a:gd name="T6" fmla="*/ 1129 w 2644"/>
                <a:gd name="T7" fmla="*/ 20 h 1282"/>
                <a:gd name="T8" fmla="*/ 1006 w 2644"/>
                <a:gd name="T9" fmla="*/ 38 h 1282"/>
                <a:gd name="T10" fmla="*/ 728 w 2644"/>
                <a:gd name="T11" fmla="*/ 51 h 1282"/>
                <a:gd name="T12" fmla="*/ 452 w 2644"/>
                <a:gd name="T13" fmla="*/ 80 h 1282"/>
                <a:gd name="T14" fmla="*/ 236 w 2644"/>
                <a:gd name="T15" fmla="*/ 157 h 1282"/>
                <a:gd name="T16" fmla="*/ 83 w 2644"/>
                <a:gd name="T17" fmla="*/ 219 h 1282"/>
                <a:gd name="T18" fmla="*/ 96 w 2644"/>
                <a:gd name="T19" fmla="*/ 231 h 1282"/>
                <a:gd name="T20" fmla="*/ 106 w 2644"/>
                <a:gd name="T21" fmla="*/ 266 h 1282"/>
                <a:gd name="T22" fmla="*/ 313 w 2644"/>
                <a:gd name="T23" fmla="*/ 274 h 1282"/>
                <a:gd name="T24" fmla="*/ 399 w 2644"/>
                <a:gd name="T25" fmla="*/ 369 h 1282"/>
                <a:gd name="T26" fmla="*/ 370 w 2644"/>
                <a:gd name="T27" fmla="*/ 445 h 1282"/>
                <a:gd name="T28" fmla="*/ 438 w 2644"/>
                <a:gd name="T29" fmla="*/ 447 h 1282"/>
                <a:gd name="T30" fmla="*/ 432 w 2644"/>
                <a:gd name="T31" fmla="*/ 517 h 1282"/>
                <a:gd name="T32" fmla="*/ 456 w 2644"/>
                <a:gd name="T33" fmla="*/ 542 h 1282"/>
                <a:gd name="T34" fmla="*/ 421 w 2644"/>
                <a:gd name="T35" fmla="*/ 578 h 1282"/>
                <a:gd name="T36" fmla="*/ 408 w 2644"/>
                <a:gd name="T37" fmla="*/ 639 h 1282"/>
                <a:gd name="T38" fmla="*/ 354 w 2644"/>
                <a:gd name="T39" fmla="*/ 640 h 1282"/>
                <a:gd name="T40" fmla="*/ 276 w 2644"/>
                <a:gd name="T41" fmla="*/ 668 h 1282"/>
                <a:gd name="T42" fmla="*/ 273 w 2644"/>
                <a:gd name="T43" fmla="*/ 727 h 1282"/>
                <a:gd name="T44" fmla="*/ 270 w 2644"/>
                <a:gd name="T45" fmla="*/ 802 h 1282"/>
                <a:gd name="T46" fmla="*/ 328 w 2644"/>
                <a:gd name="T47" fmla="*/ 798 h 1282"/>
                <a:gd name="T48" fmla="*/ 286 w 2644"/>
                <a:gd name="T49" fmla="*/ 851 h 1282"/>
                <a:gd name="T50" fmla="*/ 322 w 2644"/>
                <a:gd name="T51" fmla="*/ 925 h 1282"/>
                <a:gd name="T52" fmla="*/ 398 w 2644"/>
                <a:gd name="T53" fmla="*/ 969 h 1282"/>
                <a:gd name="T54" fmla="*/ 443 w 2644"/>
                <a:gd name="T55" fmla="*/ 1000 h 1282"/>
                <a:gd name="T56" fmla="*/ 540 w 2644"/>
                <a:gd name="T57" fmla="*/ 948 h 1282"/>
                <a:gd name="T58" fmla="*/ 585 w 2644"/>
                <a:gd name="T59" fmla="*/ 903 h 1282"/>
                <a:gd name="T60" fmla="*/ 625 w 2644"/>
                <a:gd name="T61" fmla="*/ 858 h 1282"/>
                <a:gd name="T62" fmla="*/ 673 w 2644"/>
                <a:gd name="T63" fmla="*/ 802 h 1282"/>
                <a:gd name="T64" fmla="*/ 752 w 2644"/>
                <a:gd name="T65" fmla="*/ 741 h 1282"/>
                <a:gd name="T66" fmla="*/ 841 w 2644"/>
                <a:gd name="T67" fmla="*/ 727 h 1282"/>
                <a:gd name="T68" fmla="*/ 1053 w 2644"/>
                <a:gd name="T69" fmla="*/ 599 h 1282"/>
                <a:gd name="T70" fmla="*/ 1317 w 2644"/>
                <a:gd name="T71" fmla="*/ 578 h 1282"/>
                <a:gd name="T72" fmla="*/ 1303 w 2644"/>
                <a:gd name="T73" fmla="*/ 524 h 1282"/>
                <a:gd name="T74" fmla="*/ 1217 w 2644"/>
                <a:gd name="T75" fmla="*/ 512 h 1282"/>
                <a:gd name="T76" fmla="*/ 1271 w 2644"/>
                <a:gd name="T77" fmla="*/ 465 h 1282"/>
                <a:gd name="T78" fmla="*/ 1427 w 2644"/>
                <a:gd name="T79" fmla="*/ 502 h 1282"/>
                <a:gd name="T80" fmla="*/ 1425 w 2644"/>
                <a:gd name="T81" fmla="*/ 459 h 1282"/>
                <a:gd name="T82" fmla="*/ 1303 w 2644"/>
                <a:gd name="T83" fmla="*/ 412 h 1282"/>
                <a:gd name="T84" fmla="*/ 1471 w 2644"/>
                <a:gd name="T85" fmla="*/ 404 h 1282"/>
                <a:gd name="T86" fmla="*/ 1535 w 2644"/>
                <a:gd name="T87" fmla="*/ 368 h 1282"/>
                <a:gd name="T88" fmla="*/ 1546 w 2644"/>
                <a:gd name="T89" fmla="*/ 334 h 1282"/>
                <a:gd name="T90" fmla="*/ 1594 w 2644"/>
                <a:gd name="T91" fmla="*/ 289 h 1282"/>
                <a:gd name="T92" fmla="*/ 1590 w 2644"/>
                <a:gd name="T93" fmla="*/ 221 h 1282"/>
                <a:gd name="T94" fmla="*/ 1627 w 2644"/>
                <a:gd name="T95" fmla="*/ 165 h 1282"/>
                <a:gd name="T96" fmla="*/ 1659 w 2644"/>
                <a:gd name="T97" fmla="*/ 111 h 1282"/>
                <a:gd name="T98" fmla="*/ 1807 w 2644"/>
                <a:gd name="T99" fmla="*/ 79 h 1282"/>
                <a:gd name="T100" fmla="*/ 371 w 2644"/>
                <a:gd name="T101" fmla="*/ 534 h 1282"/>
                <a:gd name="T102" fmla="*/ 2531 w 2644"/>
                <a:gd name="T103" fmla="*/ 1160 h 1282"/>
                <a:gd name="T104" fmla="*/ 2458 w 2644"/>
                <a:gd name="T105" fmla="*/ 1164 h 1282"/>
                <a:gd name="T106" fmla="*/ 2471 w 2644"/>
                <a:gd name="T107" fmla="*/ 1249 h 1282"/>
                <a:gd name="T108" fmla="*/ 2517 w 2644"/>
                <a:gd name="T109" fmla="*/ 1268 h 1282"/>
                <a:gd name="T110" fmla="*/ 2531 w 2644"/>
                <a:gd name="T111" fmla="*/ 1179 h 1282"/>
                <a:gd name="T112" fmla="*/ 2577 w 2644"/>
                <a:gd name="T113" fmla="*/ 1240 h 1282"/>
                <a:gd name="T114" fmla="*/ 2624 w 2644"/>
                <a:gd name="T115" fmla="*/ 1211 h 1282"/>
                <a:gd name="T116" fmla="*/ 2629 w 2644"/>
                <a:gd name="T117" fmla="*/ 1260 h 1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644" h="1282">
                  <a:moveTo>
                    <a:pt x="1845" y="57"/>
                  </a:moveTo>
                  <a:cubicBezTo>
                    <a:pt x="1825" y="57"/>
                    <a:pt x="1757" y="51"/>
                    <a:pt x="1752" y="57"/>
                  </a:cubicBezTo>
                  <a:cubicBezTo>
                    <a:pt x="1747" y="63"/>
                    <a:pt x="1722" y="69"/>
                    <a:pt x="1711" y="69"/>
                  </a:cubicBezTo>
                  <a:cubicBezTo>
                    <a:pt x="1700" y="69"/>
                    <a:pt x="1655" y="60"/>
                    <a:pt x="1647" y="64"/>
                  </a:cubicBezTo>
                  <a:cubicBezTo>
                    <a:pt x="1639" y="68"/>
                    <a:pt x="1587" y="83"/>
                    <a:pt x="1581" y="86"/>
                  </a:cubicBezTo>
                  <a:cubicBezTo>
                    <a:pt x="1575" y="89"/>
                    <a:pt x="1523" y="101"/>
                    <a:pt x="1532" y="94"/>
                  </a:cubicBezTo>
                  <a:cubicBezTo>
                    <a:pt x="1541" y="87"/>
                    <a:pt x="1615" y="71"/>
                    <a:pt x="1610" y="61"/>
                  </a:cubicBezTo>
                  <a:cubicBezTo>
                    <a:pt x="1605" y="51"/>
                    <a:pt x="1576" y="48"/>
                    <a:pt x="1565" y="52"/>
                  </a:cubicBezTo>
                  <a:cubicBezTo>
                    <a:pt x="1554" y="56"/>
                    <a:pt x="1536" y="63"/>
                    <a:pt x="1536" y="63"/>
                  </a:cubicBezTo>
                  <a:cubicBezTo>
                    <a:pt x="1457" y="73"/>
                    <a:pt x="1457" y="73"/>
                    <a:pt x="1457" y="73"/>
                  </a:cubicBezTo>
                  <a:cubicBezTo>
                    <a:pt x="1457" y="73"/>
                    <a:pt x="1531" y="55"/>
                    <a:pt x="1513" y="54"/>
                  </a:cubicBezTo>
                  <a:cubicBezTo>
                    <a:pt x="1495" y="53"/>
                    <a:pt x="1427" y="52"/>
                    <a:pt x="1427" y="52"/>
                  </a:cubicBezTo>
                  <a:cubicBezTo>
                    <a:pt x="1403" y="57"/>
                    <a:pt x="1403" y="57"/>
                    <a:pt x="1403" y="57"/>
                  </a:cubicBezTo>
                  <a:cubicBezTo>
                    <a:pt x="1358" y="53"/>
                    <a:pt x="1358" y="53"/>
                    <a:pt x="1358" y="53"/>
                  </a:cubicBezTo>
                  <a:cubicBezTo>
                    <a:pt x="1358" y="53"/>
                    <a:pt x="1307" y="68"/>
                    <a:pt x="1309" y="61"/>
                  </a:cubicBezTo>
                  <a:cubicBezTo>
                    <a:pt x="1311" y="54"/>
                    <a:pt x="1371" y="47"/>
                    <a:pt x="1392" y="47"/>
                  </a:cubicBezTo>
                  <a:cubicBezTo>
                    <a:pt x="1413" y="47"/>
                    <a:pt x="1548" y="45"/>
                    <a:pt x="1557" y="45"/>
                  </a:cubicBezTo>
                  <a:cubicBezTo>
                    <a:pt x="1566" y="45"/>
                    <a:pt x="1645" y="43"/>
                    <a:pt x="1636" y="35"/>
                  </a:cubicBezTo>
                  <a:cubicBezTo>
                    <a:pt x="1627" y="27"/>
                    <a:pt x="1577" y="24"/>
                    <a:pt x="1558" y="27"/>
                  </a:cubicBezTo>
                  <a:cubicBezTo>
                    <a:pt x="1539" y="30"/>
                    <a:pt x="1526" y="29"/>
                    <a:pt x="1526" y="29"/>
                  </a:cubicBezTo>
                  <a:cubicBezTo>
                    <a:pt x="1526" y="29"/>
                    <a:pt x="1551" y="18"/>
                    <a:pt x="1535" y="17"/>
                  </a:cubicBezTo>
                  <a:cubicBezTo>
                    <a:pt x="1519" y="16"/>
                    <a:pt x="1492" y="19"/>
                    <a:pt x="1492" y="19"/>
                  </a:cubicBezTo>
                  <a:cubicBezTo>
                    <a:pt x="1492" y="19"/>
                    <a:pt x="1462" y="18"/>
                    <a:pt x="1455" y="16"/>
                  </a:cubicBezTo>
                  <a:cubicBezTo>
                    <a:pt x="1448" y="14"/>
                    <a:pt x="1483" y="17"/>
                    <a:pt x="1490" y="10"/>
                  </a:cubicBezTo>
                  <a:cubicBezTo>
                    <a:pt x="1497" y="3"/>
                    <a:pt x="1454" y="5"/>
                    <a:pt x="1432" y="5"/>
                  </a:cubicBezTo>
                  <a:cubicBezTo>
                    <a:pt x="1410" y="5"/>
                    <a:pt x="1355" y="8"/>
                    <a:pt x="1355" y="8"/>
                  </a:cubicBezTo>
                  <a:cubicBezTo>
                    <a:pt x="1355" y="8"/>
                    <a:pt x="1315" y="4"/>
                    <a:pt x="1292" y="2"/>
                  </a:cubicBezTo>
                  <a:cubicBezTo>
                    <a:pt x="1269" y="0"/>
                    <a:pt x="1246" y="5"/>
                    <a:pt x="1237" y="6"/>
                  </a:cubicBezTo>
                  <a:cubicBezTo>
                    <a:pt x="1228" y="7"/>
                    <a:pt x="1210" y="7"/>
                    <a:pt x="1188" y="6"/>
                  </a:cubicBezTo>
                  <a:cubicBezTo>
                    <a:pt x="1166" y="5"/>
                    <a:pt x="1144" y="5"/>
                    <a:pt x="1146" y="10"/>
                  </a:cubicBezTo>
                  <a:cubicBezTo>
                    <a:pt x="1148" y="15"/>
                    <a:pt x="1177" y="16"/>
                    <a:pt x="1177" y="16"/>
                  </a:cubicBezTo>
                  <a:cubicBezTo>
                    <a:pt x="1177" y="16"/>
                    <a:pt x="1142" y="21"/>
                    <a:pt x="1129" y="20"/>
                  </a:cubicBezTo>
                  <a:cubicBezTo>
                    <a:pt x="1116" y="19"/>
                    <a:pt x="1061" y="13"/>
                    <a:pt x="1047" y="11"/>
                  </a:cubicBezTo>
                  <a:cubicBezTo>
                    <a:pt x="1033" y="9"/>
                    <a:pt x="995" y="13"/>
                    <a:pt x="990" y="13"/>
                  </a:cubicBezTo>
                  <a:cubicBezTo>
                    <a:pt x="985" y="13"/>
                    <a:pt x="935" y="19"/>
                    <a:pt x="956" y="24"/>
                  </a:cubicBezTo>
                  <a:cubicBezTo>
                    <a:pt x="977" y="29"/>
                    <a:pt x="1046" y="31"/>
                    <a:pt x="1046" y="31"/>
                  </a:cubicBezTo>
                  <a:cubicBezTo>
                    <a:pt x="1103" y="38"/>
                    <a:pt x="1103" y="38"/>
                    <a:pt x="1103" y="38"/>
                  </a:cubicBezTo>
                  <a:cubicBezTo>
                    <a:pt x="1103" y="38"/>
                    <a:pt x="1048" y="40"/>
                    <a:pt x="1040" y="40"/>
                  </a:cubicBezTo>
                  <a:cubicBezTo>
                    <a:pt x="1032" y="40"/>
                    <a:pt x="984" y="27"/>
                    <a:pt x="985" y="31"/>
                  </a:cubicBezTo>
                  <a:cubicBezTo>
                    <a:pt x="986" y="35"/>
                    <a:pt x="1006" y="38"/>
                    <a:pt x="1006" y="38"/>
                  </a:cubicBezTo>
                  <a:cubicBezTo>
                    <a:pt x="975" y="41"/>
                    <a:pt x="975" y="41"/>
                    <a:pt x="975" y="41"/>
                  </a:cubicBezTo>
                  <a:cubicBezTo>
                    <a:pt x="975" y="41"/>
                    <a:pt x="958" y="55"/>
                    <a:pt x="962" y="59"/>
                  </a:cubicBezTo>
                  <a:cubicBezTo>
                    <a:pt x="966" y="63"/>
                    <a:pt x="938" y="64"/>
                    <a:pt x="925" y="56"/>
                  </a:cubicBezTo>
                  <a:cubicBezTo>
                    <a:pt x="912" y="48"/>
                    <a:pt x="885" y="42"/>
                    <a:pt x="859" y="40"/>
                  </a:cubicBezTo>
                  <a:cubicBezTo>
                    <a:pt x="833" y="38"/>
                    <a:pt x="804" y="38"/>
                    <a:pt x="804" y="38"/>
                  </a:cubicBezTo>
                  <a:cubicBezTo>
                    <a:pt x="806" y="58"/>
                    <a:pt x="806" y="58"/>
                    <a:pt x="806" y="58"/>
                  </a:cubicBezTo>
                  <a:cubicBezTo>
                    <a:pt x="806" y="58"/>
                    <a:pt x="786" y="61"/>
                    <a:pt x="773" y="59"/>
                  </a:cubicBezTo>
                  <a:cubicBezTo>
                    <a:pt x="760" y="57"/>
                    <a:pt x="736" y="49"/>
                    <a:pt x="728" y="51"/>
                  </a:cubicBezTo>
                  <a:cubicBezTo>
                    <a:pt x="720" y="53"/>
                    <a:pt x="702" y="62"/>
                    <a:pt x="702" y="62"/>
                  </a:cubicBezTo>
                  <a:cubicBezTo>
                    <a:pt x="702" y="62"/>
                    <a:pt x="713" y="44"/>
                    <a:pt x="700" y="44"/>
                  </a:cubicBezTo>
                  <a:cubicBezTo>
                    <a:pt x="687" y="44"/>
                    <a:pt x="616" y="45"/>
                    <a:pt x="597" y="48"/>
                  </a:cubicBezTo>
                  <a:cubicBezTo>
                    <a:pt x="578" y="51"/>
                    <a:pt x="545" y="44"/>
                    <a:pt x="550" y="49"/>
                  </a:cubicBezTo>
                  <a:cubicBezTo>
                    <a:pt x="555" y="54"/>
                    <a:pt x="590" y="71"/>
                    <a:pt x="590" y="71"/>
                  </a:cubicBezTo>
                  <a:cubicBezTo>
                    <a:pt x="590" y="71"/>
                    <a:pt x="536" y="54"/>
                    <a:pt x="527" y="54"/>
                  </a:cubicBezTo>
                  <a:cubicBezTo>
                    <a:pt x="518" y="54"/>
                    <a:pt x="491" y="49"/>
                    <a:pt x="487" y="59"/>
                  </a:cubicBezTo>
                  <a:cubicBezTo>
                    <a:pt x="483" y="69"/>
                    <a:pt x="465" y="80"/>
                    <a:pt x="452" y="80"/>
                  </a:cubicBezTo>
                  <a:cubicBezTo>
                    <a:pt x="439" y="80"/>
                    <a:pt x="402" y="80"/>
                    <a:pt x="402" y="80"/>
                  </a:cubicBezTo>
                  <a:cubicBezTo>
                    <a:pt x="402" y="80"/>
                    <a:pt x="328" y="94"/>
                    <a:pt x="324" y="95"/>
                  </a:cubicBezTo>
                  <a:cubicBezTo>
                    <a:pt x="320" y="96"/>
                    <a:pt x="248" y="106"/>
                    <a:pt x="259" y="113"/>
                  </a:cubicBezTo>
                  <a:cubicBezTo>
                    <a:pt x="270" y="120"/>
                    <a:pt x="310" y="122"/>
                    <a:pt x="315" y="121"/>
                  </a:cubicBezTo>
                  <a:cubicBezTo>
                    <a:pt x="320" y="120"/>
                    <a:pt x="335" y="118"/>
                    <a:pt x="335" y="118"/>
                  </a:cubicBezTo>
                  <a:cubicBezTo>
                    <a:pt x="311" y="128"/>
                    <a:pt x="311" y="128"/>
                    <a:pt x="311" y="128"/>
                  </a:cubicBezTo>
                  <a:cubicBezTo>
                    <a:pt x="300" y="139"/>
                    <a:pt x="300" y="139"/>
                    <a:pt x="300" y="139"/>
                  </a:cubicBezTo>
                  <a:cubicBezTo>
                    <a:pt x="300" y="139"/>
                    <a:pt x="253" y="157"/>
                    <a:pt x="236" y="157"/>
                  </a:cubicBezTo>
                  <a:cubicBezTo>
                    <a:pt x="219" y="157"/>
                    <a:pt x="151" y="157"/>
                    <a:pt x="137" y="169"/>
                  </a:cubicBezTo>
                  <a:cubicBezTo>
                    <a:pt x="123" y="181"/>
                    <a:pt x="112" y="167"/>
                    <a:pt x="112" y="167"/>
                  </a:cubicBezTo>
                  <a:cubicBezTo>
                    <a:pt x="90" y="176"/>
                    <a:pt x="90" y="176"/>
                    <a:pt x="90" y="176"/>
                  </a:cubicBezTo>
                  <a:cubicBezTo>
                    <a:pt x="57" y="175"/>
                    <a:pt x="57" y="175"/>
                    <a:pt x="57" y="175"/>
                  </a:cubicBezTo>
                  <a:cubicBezTo>
                    <a:pt x="57" y="175"/>
                    <a:pt x="0" y="181"/>
                    <a:pt x="14" y="191"/>
                  </a:cubicBezTo>
                  <a:cubicBezTo>
                    <a:pt x="28" y="201"/>
                    <a:pt x="51" y="212"/>
                    <a:pt x="51" y="212"/>
                  </a:cubicBezTo>
                  <a:cubicBezTo>
                    <a:pt x="71" y="204"/>
                    <a:pt x="71" y="204"/>
                    <a:pt x="71" y="204"/>
                  </a:cubicBezTo>
                  <a:cubicBezTo>
                    <a:pt x="71" y="204"/>
                    <a:pt x="73" y="216"/>
                    <a:pt x="83" y="219"/>
                  </a:cubicBezTo>
                  <a:cubicBezTo>
                    <a:pt x="93" y="222"/>
                    <a:pt x="116" y="209"/>
                    <a:pt x="116" y="209"/>
                  </a:cubicBezTo>
                  <a:cubicBezTo>
                    <a:pt x="116" y="209"/>
                    <a:pt x="112" y="220"/>
                    <a:pt x="122" y="220"/>
                  </a:cubicBezTo>
                  <a:cubicBezTo>
                    <a:pt x="132" y="220"/>
                    <a:pt x="169" y="204"/>
                    <a:pt x="176" y="209"/>
                  </a:cubicBezTo>
                  <a:cubicBezTo>
                    <a:pt x="183" y="214"/>
                    <a:pt x="181" y="220"/>
                    <a:pt x="181" y="220"/>
                  </a:cubicBezTo>
                  <a:cubicBezTo>
                    <a:pt x="170" y="221"/>
                    <a:pt x="170" y="221"/>
                    <a:pt x="170" y="221"/>
                  </a:cubicBezTo>
                  <a:cubicBezTo>
                    <a:pt x="170" y="221"/>
                    <a:pt x="162" y="232"/>
                    <a:pt x="155" y="232"/>
                  </a:cubicBezTo>
                  <a:cubicBezTo>
                    <a:pt x="148" y="232"/>
                    <a:pt x="152" y="226"/>
                    <a:pt x="141" y="226"/>
                  </a:cubicBezTo>
                  <a:cubicBezTo>
                    <a:pt x="130" y="226"/>
                    <a:pt x="96" y="231"/>
                    <a:pt x="96" y="231"/>
                  </a:cubicBezTo>
                  <a:cubicBezTo>
                    <a:pt x="69" y="228"/>
                    <a:pt x="69" y="228"/>
                    <a:pt x="69" y="228"/>
                  </a:cubicBezTo>
                  <a:cubicBezTo>
                    <a:pt x="69" y="228"/>
                    <a:pt x="31" y="208"/>
                    <a:pt x="20" y="227"/>
                  </a:cubicBezTo>
                  <a:cubicBezTo>
                    <a:pt x="9" y="246"/>
                    <a:pt x="36" y="252"/>
                    <a:pt x="44" y="251"/>
                  </a:cubicBezTo>
                  <a:cubicBezTo>
                    <a:pt x="52" y="250"/>
                    <a:pt x="79" y="251"/>
                    <a:pt x="79" y="251"/>
                  </a:cubicBezTo>
                  <a:cubicBezTo>
                    <a:pt x="79" y="251"/>
                    <a:pt x="36" y="254"/>
                    <a:pt x="41" y="261"/>
                  </a:cubicBezTo>
                  <a:cubicBezTo>
                    <a:pt x="46" y="268"/>
                    <a:pt x="74" y="274"/>
                    <a:pt x="74" y="274"/>
                  </a:cubicBezTo>
                  <a:cubicBezTo>
                    <a:pt x="98" y="277"/>
                    <a:pt x="98" y="277"/>
                    <a:pt x="98" y="277"/>
                  </a:cubicBezTo>
                  <a:cubicBezTo>
                    <a:pt x="98" y="277"/>
                    <a:pt x="99" y="267"/>
                    <a:pt x="106" y="266"/>
                  </a:cubicBezTo>
                  <a:cubicBezTo>
                    <a:pt x="113" y="265"/>
                    <a:pt x="121" y="276"/>
                    <a:pt x="121" y="276"/>
                  </a:cubicBezTo>
                  <a:cubicBezTo>
                    <a:pt x="144" y="267"/>
                    <a:pt x="144" y="267"/>
                    <a:pt x="144" y="267"/>
                  </a:cubicBezTo>
                  <a:cubicBezTo>
                    <a:pt x="144" y="267"/>
                    <a:pt x="148" y="277"/>
                    <a:pt x="151" y="277"/>
                  </a:cubicBezTo>
                  <a:cubicBezTo>
                    <a:pt x="154" y="277"/>
                    <a:pt x="184" y="263"/>
                    <a:pt x="193" y="265"/>
                  </a:cubicBezTo>
                  <a:cubicBezTo>
                    <a:pt x="202" y="267"/>
                    <a:pt x="209" y="271"/>
                    <a:pt x="214" y="271"/>
                  </a:cubicBezTo>
                  <a:cubicBezTo>
                    <a:pt x="219" y="271"/>
                    <a:pt x="230" y="262"/>
                    <a:pt x="236" y="262"/>
                  </a:cubicBezTo>
                  <a:cubicBezTo>
                    <a:pt x="242" y="262"/>
                    <a:pt x="259" y="273"/>
                    <a:pt x="259" y="273"/>
                  </a:cubicBezTo>
                  <a:cubicBezTo>
                    <a:pt x="259" y="273"/>
                    <a:pt x="291" y="268"/>
                    <a:pt x="313" y="274"/>
                  </a:cubicBezTo>
                  <a:cubicBezTo>
                    <a:pt x="335" y="280"/>
                    <a:pt x="339" y="291"/>
                    <a:pt x="339" y="291"/>
                  </a:cubicBezTo>
                  <a:cubicBezTo>
                    <a:pt x="339" y="291"/>
                    <a:pt x="361" y="286"/>
                    <a:pt x="361" y="291"/>
                  </a:cubicBezTo>
                  <a:cubicBezTo>
                    <a:pt x="361" y="296"/>
                    <a:pt x="351" y="306"/>
                    <a:pt x="351" y="306"/>
                  </a:cubicBezTo>
                  <a:cubicBezTo>
                    <a:pt x="357" y="315"/>
                    <a:pt x="357" y="315"/>
                    <a:pt x="357" y="315"/>
                  </a:cubicBezTo>
                  <a:cubicBezTo>
                    <a:pt x="357" y="315"/>
                    <a:pt x="390" y="321"/>
                    <a:pt x="390" y="330"/>
                  </a:cubicBezTo>
                  <a:cubicBezTo>
                    <a:pt x="390" y="339"/>
                    <a:pt x="374" y="343"/>
                    <a:pt x="374" y="343"/>
                  </a:cubicBezTo>
                  <a:cubicBezTo>
                    <a:pt x="383" y="359"/>
                    <a:pt x="383" y="359"/>
                    <a:pt x="383" y="359"/>
                  </a:cubicBezTo>
                  <a:cubicBezTo>
                    <a:pt x="399" y="369"/>
                    <a:pt x="399" y="369"/>
                    <a:pt x="399" y="369"/>
                  </a:cubicBezTo>
                  <a:cubicBezTo>
                    <a:pt x="385" y="374"/>
                    <a:pt x="385" y="374"/>
                    <a:pt x="385" y="374"/>
                  </a:cubicBezTo>
                  <a:cubicBezTo>
                    <a:pt x="395" y="387"/>
                    <a:pt x="395" y="387"/>
                    <a:pt x="395" y="387"/>
                  </a:cubicBezTo>
                  <a:cubicBezTo>
                    <a:pt x="395" y="387"/>
                    <a:pt x="383" y="386"/>
                    <a:pt x="383" y="395"/>
                  </a:cubicBezTo>
                  <a:cubicBezTo>
                    <a:pt x="383" y="404"/>
                    <a:pt x="405" y="407"/>
                    <a:pt x="402" y="412"/>
                  </a:cubicBezTo>
                  <a:cubicBezTo>
                    <a:pt x="399" y="417"/>
                    <a:pt x="380" y="426"/>
                    <a:pt x="380" y="426"/>
                  </a:cubicBezTo>
                  <a:cubicBezTo>
                    <a:pt x="388" y="433"/>
                    <a:pt x="388" y="433"/>
                    <a:pt x="388" y="433"/>
                  </a:cubicBezTo>
                  <a:cubicBezTo>
                    <a:pt x="388" y="433"/>
                    <a:pt x="347" y="438"/>
                    <a:pt x="348" y="441"/>
                  </a:cubicBezTo>
                  <a:cubicBezTo>
                    <a:pt x="349" y="444"/>
                    <a:pt x="357" y="446"/>
                    <a:pt x="370" y="445"/>
                  </a:cubicBezTo>
                  <a:cubicBezTo>
                    <a:pt x="383" y="444"/>
                    <a:pt x="367" y="455"/>
                    <a:pt x="367" y="455"/>
                  </a:cubicBezTo>
                  <a:cubicBezTo>
                    <a:pt x="367" y="455"/>
                    <a:pt x="316" y="456"/>
                    <a:pt x="328" y="465"/>
                  </a:cubicBezTo>
                  <a:cubicBezTo>
                    <a:pt x="340" y="474"/>
                    <a:pt x="353" y="479"/>
                    <a:pt x="369" y="478"/>
                  </a:cubicBezTo>
                  <a:cubicBezTo>
                    <a:pt x="385" y="477"/>
                    <a:pt x="389" y="467"/>
                    <a:pt x="389" y="467"/>
                  </a:cubicBezTo>
                  <a:cubicBezTo>
                    <a:pt x="389" y="467"/>
                    <a:pt x="416" y="469"/>
                    <a:pt x="414" y="460"/>
                  </a:cubicBezTo>
                  <a:cubicBezTo>
                    <a:pt x="412" y="451"/>
                    <a:pt x="419" y="439"/>
                    <a:pt x="419" y="439"/>
                  </a:cubicBezTo>
                  <a:cubicBezTo>
                    <a:pt x="421" y="458"/>
                    <a:pt x="421" y="458"/>
                    <a:pt x="421" y="458"/>
                  </a:cubicBezTo>
                  <a:cubicBezTo>
                    <a:pt x="438" y="447"/>
                    <a:pt x="438" y="447"/>
                    <a:pt x="438" y="447"/>
                  </a:cubicBezTo>
                  <a:cubicBezTo>
                    <a:pt x="438" y="447"/>
                    <a:pt x="430" y="453"/>
                    <a:pt x="434" y="458"/>
                  </a:cubicBezTo>
                  <a:cubicBezTo>
                    <a:pt x="438" y="463"/>
                    <a:pt x="463" y="465"/>
                    <a:pt x="463" y="465"/>
                  </a:cubicBezTo>
                  <a:cubicBezTo>
                    <a:pt x="454" y="471"/>
                    <a:pt x="454" y="471"/>
                    <a:pt x="454" y="471"/>
                  </a:cubicBezTo>
                  <a:cubicBezTo>
                    <a:pt x="454" y="471"/>
                    <a:pt x="448" y="484"/>
                    <a:pt x="457" y="487"/>
                  </a:cubicBezTo>
                  <a:cubicBezTo>
                    <a:pt x="466" y="490"/>
                    <a:pt x="479" y="504"/>
                    <a:pt x="473" y="510"/>
                  </a:cubicBezTo>
                  <a:cubicBezTo>
                    <a:pt x="467" y="516"/>
                    <a:pt x="456" y="513"/>
                    <a:pt x="456" y="513"/>
                  </a:cubicBezTo>
                  <a:cubicBezTo>
                    <a:pt x="456" y="519"/>
                    <a:pt x="456" y="519"/>
                    <a:pt x="456" y="519"/>
                  </a:cubicBezTo>
                  <a:cubicBezTo>
                    <a:pt x="456" y="519"/>
                    <a:pt x="441" y="518"/>
                    <a:pt x="432" y="517"/>
                  </a:cubicBezTo>
                  <a:cubicBezTo>
                    <a:pt x="423" y="516"/>
                    <a:pt x="415" y="506"/>
                    <a:pt x="415" y="506"/>
                  </a:cubicBezTo>
                  <a:cubicBezTo>
                    <a:pt x="375" y="505"/>
                    <a:pt x="375" y="505"/>
                    <a:pt x="375" y="505"/>
                  </a:cubicBezTo>
                  <a:cubicBezTo>
                    <a:pt x="375" y="505"/>
                    <a:pt x="351" y="483"/>
                    <a:pt x="345" y="505"/>
                  </a:cubicBezTo>
                  <a:cubicBezTo>
                    <a:pt x="343" y="514"/>
                    <a:pt x="355" y="520"/>
                    <a:pt x="362" y="521"/>
                  </a:cubicBezTo>
                  <a:cubicBezTo>
                    <a:pt x="369" y="522"/>
                    <a:pt x="374" y="518"/>
                    <a:pt x="383" y="522"/>
                  </a:cubicBezTo>
                  <a:cubicBezTo>
                    <a:pt x="392" y="526"/>
                    <a:pt x="400" y="540"/>
                    <a:pt x="415" y="540"/>
                  </a:cubicBezTo>
                  <a:cubicBezTo>
                    <a:pt x="430" y="540"/>
                    <a:pt x="441" y="534"/>
                    <a:pt x="441" y="534"/>
                  </a:cubicBezTo>
                  <a:cubicBezTo>
                    <a:pt x="456" y="542"/>
                    <a:pt x="456" y="542"/>
                    <a:pt x="456" y="542"/>
                  </a:cubicBezTo>
                  <a:cubicBezTo>
                    <a:pt x="470" y="533"/>
                    <a:pt x="470" y="533"/>
                    <a:pt x="470" y="533"/>
                  </a:cubicBezTo>
                  <a:cubicBezTo>
                    <a:pt x="467" y="547"/>
                    <a:pt x="467" y="547"/>
                    <a:pt x="467" y="547"/>
                  </a:cubicBezTo>
                  <a:cubicBezTo>
                    <a:pt x="467" y="547"/>
                    <a:pt x="452" y="540"/>
                    <a:pt x="450" y="547"/>
                  </a:cubicBezTo>
                  <a:cubicBezTo>
                    <a:pt x="448" y="554"/>
                    <a:pt x="459" y="561"/>
                    <a:pt x="459" y="561"/>
                  </a:cubicBezTo>
                  <a:cubicBezTo>
                    <a:pt x="459" y="561"/>
                    <a:pt x="432" y="561"/>
                    <a:pt x="433" y="566"/>
                  </a:cubicBezTo>
                  <a:cubicBezTo>
                    <a:pt x="434" y="571"/>
                    <a:pt x="454" y="572"/>
                    <a:pt x="454" y="572"/>
                  </a:cubicBezTo>
                  <a:cubicBezTo>
                    <a:pt x="454" y="572"/>
                    <a:pt x="451" y="581"/>
                    <a:pt x="446" y="583"/>
                  </a:cubicBezTo>
                  <a:cubicBezTo>
                    <a:pt x="441" y="585"/>
                    <a:pt x="425" y="572"/>
                    <a:pt x="421" y="578"/>
                  </a:cubicBezTo>
                  <a:cubicBezTo>
                    <a:pt x="417" y="584"/>
                    <a:pt x="427" y="592"/>
                    <a:pt x="427" y="592"/>
                  </a:cubicBezTo>
                  <a:cubicBezTo>
                    <a:pt x="411" y="591"/>
                    <a:pt x="411" y="591"/>
                    <a:pt x="411" y="591"/>
                  </a:cubicBezTo>
                  <a:cubicBezTo>
                    <a:pt x="416" y="605"/>
                    <a:pt x="416" y="605"/>
                    <a:pt x="416" y="605"/>
                  </a:cubicBezTo>
                  <a:cubicBezTo>
                    <a:pt x="416" y="605"/>
                    <a:pt x="395" y="606"/>
                    <a:pt x="398" y="616"/>
                  </a:cubicBezTo>
                  <a:cubicBezTo>
                    <a:pt x="401" y="626"/>
                    <a:pt x="420" y="628"/>
                    <a:pt x="420" y="628"/>
                  </a:cubicBezTo>
                  <a:cubicBezTo>
                    <a:pt x="420" y="628"/>
                    <a:pt x="422" y="639"/>
                    <a:pt x="415" y="639"/>
                  </a:cubicBezTo>
                  <a:cubicBezTo>
                    <a:pt x="408" y="639"/>
                    <a:pt x="413" y="647"/>
                    <a:pt x="413" y="647"/>
                  </a:cubicBezTo>
                  <a:cubicBezTo>
                    <a:pt x="413" y="647"/>
                    <a:pt x="411" y="649"/>
                    <a:pt x="408" y="639"/>
                  </a:cubicBezTo>
                  <a:cubicBezTo>
                    <a:pt x="405" y="629"/>
                    <a:pt x="394" y="624"/>
                    <a:pt x="394" y="624"/>
                  </a:cubicBezTo>
                  <a:cubicBezTo>
                    <a:pt x="394" y="624"/>
                    <a:pt x="377" y="593"/>
                    <a:pt x="367" y="595"/>
                  </a:cubicBezTo>
                  <a:cubicBezTo>
                    <a:pt x="357" y="597"/>
                    <a:pt x="331" y="609"/>
                    <a:pt x="345" y="617"/>
                  </a:cubicBezTo>
                  <a:cubicBezTo>
                    <a:pt x="359" y="625"/>
                    <a:pt x="381" y="628"/>
                    <a:pt x="381" y="628"/>
                  </a:cubicBezTo>
                  <a:cubicBezTo>
                    <a:pt x="381" y="628"/>
                    <a:pt x="364" y="630"/>
                    <a:pt x="353" y="630"/>
                  </a:cubicBezTo>
                  <a:cubicBezTo>
                    <a:pt x="342" y="630"/>
                    <a:pt x="328" y="625"/>
                    <a:pt x="320" y="630"/>
                  </a:cubicBezTo>
                  <a:cubicBezTo>
                    <a:pt x="312" y="635"/>
                    <a:pt x="289" y="640"/>
                    <a:pt x="296" y="643"/>
                  </a:cubicBezTo>
                  <a:cubicBezTo>
                    <a:pt x="303" y="646"/>
                    <a:pt x="344" y="639"/>
                    <a:pt x="354" y="640"/>
                  </a:cubicBezTo>
                  <a:cubicBezTo>
                    <a:pt x="364" y="641"/>
                    <a:pt x="388" y="643"/>
                    <a:pt x="388" y="643"/>
                  </a:cubicBezTo>
                  <a:cubicBezTo>
                    <a:pt x="388" y="643"/>
                    <a:pt x="368" y="644"/>
                    <a:pt x="362" y="644"/>
                  </a:cubicBezTo>
                  <a:cubicBezTo>
                    <a:pt x="356" y="644"/>
                    <a:pt x="290" y="649"/>
                    <a:pt x="284" y="654"/>
                  </a:cubicBezTo>
                  <a:cubicBezTo>
                    <a:pt x="278" y="659"/>
                    <a:pt x="278" y="663"/>
                    <a:pt x="294" y="662"/>
                  </a:cubicBezTo>
                  <a:cubicBezTo>
                    <a:pt x="310" y="661"/>
                    <a:pt x="348" y="657"/>
                    <a:pt x="348" y="657"/>
                  </a:cubicBezTo>
                  <a:cubicBezTo>
                    <a:pt x="348" y="657"/>
                    <a:pt x="375" y="656"/>
                    <a:pt x="376" y="659"/>
                  </a:cubicBezTo>
                  <a:cubicBezTo>
                    <a:pt x="377" y="662"/>
                    <a:pt x="330" y="664"/>
                    <a:pt x="330" y="664"/>
                  </a:cubicBezTo>
                  <a:cubicBezTo>
                    <a:pt x="330" y="664"/>
                    <a:pt x="275" y="666"/>
                    <a:pt x="276" y="668"/>
                  </a:cubicBezTo>
                  <a:cubicBezTo>
                    <a:pt x="277" y="670"/>
                    <a:pt x="286" y="675"/>
                    <a:pt x="295" y="675"/>
                  </a:cubicBezTo>
                  <a:cubicBezTo>
                    <a:pt x="304" y="675"/>
                    <a:pt x="318" y="682"/>
                    <a:pt x="318" y="682"/>
                  </a:cubicBezTo>
                  <a:cubicBezTo>
                    <a:pt x="318" y="682"/>
                    <a:pt x="294" y="676"/>
                    <a:pt x="289" y="682"/>
                  </a:cubicBezTo>
                  <a:cubicBezTo>
                    <a:pt x="284" y="688"/>
                    <a:pt x="289" y="690"/>
                    <a:pt x="289" y="690"/>
                  </a:cubicBezTo>
                  <a:cubicBezTo>
                    <a:pt x="289" y="690"/>
                    <a:pt x="258" y="699"/>
                    <a:pt x="262" y="705"/>
                  </a:cubicBezTo>
                  <a:cubicBezTo>
                    <a:pt x="287" y="706"/>
                    <a:pt x="287" y="706"/>
                    <a:pt x="287" y="706"/>
                  </a:cubicBezTo>
                  <a:cubicBezTo>
                    <a:pt x="264" y="716"/>
                    <a:pt x="264" y="716"/>
                    <a:pt x="264" y="716"/>
                  </a:cubicBezTo>
                  <a:cubicBezTo>
                    <a:pt x="264" y="716"/>
                    <a:pt x="263" y="729"/>
                    <a:pt x="273" y="727"/>
                  </a:cubicBezTo>
                  <a:cubicBezTo>
                    <a:pt x="283" y="725"/>
                    <a:pt x="306" y="725"/>
                    <a:pt x="306" y="725"/>
                  </a:cubicBezTo>
                  <a:cubicBezTo>
                    <a:pt x="306" y="725"/>
                    <a:pt x="267" y="736"/>
                    <a:pt x="274" y="744"/>
                  </a:cubicBezTo>
                  <a:cubicBezTo>
                    <a:pt x="281" y="752"/>
                    <a:pt x="304" y="740"/>
                    <a:pt x="304" y="740"/>
                  </a:cubicBezTo>
                  <a:cubicBezTo>
                    <a:pt x="304" y="740"/>
                    <a:pt x="287" y="755"/>
                    <a:pt x="285" y="762"/>
                  </a:cubicBezTo>
                  <a:cubicBezTo>
                    <a:pt x="283" y="769"/>
                    <a:pt x="280" y="775"/>
                    <a:pt x="286" y="775"/>
                  </a:cubicBezTo>
                  <a:cubicBezTo>
                    <a:pt x="292" y="775"/>
                    <a:pt x="303" y="767"/>
                    <a:pt x="303" y="767"/>
                  </a:cubicBezTo>
                  <a:cubicBezTo>
                    <a:pt x="303" y="767"/>
                    <a:pt x="298" y="783"/>
                    <a:pt x="291" y="783"/>
                  </a:cubicBezTo>
                  <a:cubicBezTo>
                    <a:pt x="284" y="783"/>
                    <a:pt x="269" y="792"/>
                    <a:pt x="270" y="802"/>
                  </a:cubicBezTo>
                  <a:cubicBezTo>
                    <a:pt x="271" y="812"/>
                    <a:pt x="294" y="793"/>
                    <a:pt x="294" y="793"/>
                  </a:cubicBezTo>
                  <a:cubicBezTo>
                    <a:pt x="294" y="793"/>
                    <a:pt x="309" y="776"/>
                    <a:pt x="313" y="780"/>
                  </a:cubicBezTo>
                  <a:cubicBezTo>
                    <a:pt x="317" y="784"/>
                    <a:pt x="341" y="774"/>
                    <a:pt x="341" y="774"/>
                  </a:cubicBezTo>
                  <a:cubicBezTo>
                    <a:pt x="338" y="784"/>
                    <a:pt x="338" y="784"/>
                    <a:pt x="338" y="784"/>
                  </a:cubicBezTo>
                  <a:cubicBezTo>
                    <a:pt x="352" y="774"/>
                    <a:pt x="352" y="774"/>
                    <a:pt x="352" y="774"/>
                  </a:cubicBezTo>
                  <a:cubicBezTo>
                    <a:pt x="338" y="791"/>
                    <a:pt x="338" y="791"/>
                    <a:pt x="338" y="791"/>
                  </a:cubicBezTo>
                  <a:cubicBezTo>
                    <a:pt x="360" y="794"/>
                    <a:pt x="360" y="794"/>
                    <a:pt x="360" y="794"/>
                  </a:cubicBezTo>
                  <a:cubicBezTo>
                    <a:pt x="360" y="794"/>
                    <a:pt x="330" y="794"/>
                    <a:pt x="328" y="798"/>
                  </a:cubicBezTo>
                  <a:cubicBezTo>
                    <a:pt x="326" y="802"/>
                    <a:pt x="335" y="804"/>
                    <a:pt x="335" y="804"/>
                  </a:cubicBezTo>
                  <a:cubicBezTo>
                    <a:pt x="335" y="804"/>
                    <a:pt x="312" y="809"/>
                    <a:pt x="306" y="810"/>
                  </a:cubicBezTo>
                  <a:cubicBezTo>
                    <a:pt x="300" y="811"/>
                    <a:pt x="307" y="816"/>
                    <a:pt x="307" y="816"/>
                  </a:cubicBezTo>
                  <a:cubicBezTo>
                    <a:pt x="307" y="816"/>
                    <a:pt x="283" y="821"/>
                    <a:pt x="281" y="826"/>
                  </a:cubicBezTo>
                  <a:cubicBezTo>
                    <a:pt x="279" y="831"/>
                    <a:pt x="305" y="829"/>
                    <a:pt x="305" y="829"/>
                  </a:cubicBezTo>
                  <a:cubicBezTo>
                    <a:pt x="305" y="829"/>
                    <a:pt x="284" y="833"/>
                    <a:pt x="284" y="836"/>
                  </a:cubicBezTo>
                  <a:cubicBezTo>
                    <a:pt x="284" y="839"/>
                    <a:pt x="304" y="844"/>
                    <a:pt x="304" y="844"/>
                  </a:cubicBezTo>
                  <a:cubicBezTo>
                    <a:pt x="304" y="844"/>
                    <a:pt x="287" y="844"/>
                    <a:pt x="286" y="851"/>
                  </a:cubicBezTo>
                  <a:cubicBezTo>
                    <a:pt x="285" y="858"/>
                    <a:pt x="310" y="855"/>
                    <a:pt x="310" y="855"/>
                  </a:cubicBezTo>
                  <a:cubicBezTo>
                    <a:pt x="298" y="870"/>
                    <a:pt x="298" y="870"/>
                    <a:pt x="298" y="870"/>
                  </a:cubicBezTo>
                  <a:cubicBezTo>
                    <a:pt x="317" y="867"/>
                    <a:pt x="317" y="867"/>
                    <a:pt x="317" y="867"/>
                  </a:cubicBezTo>
                  <a:cubicBezTo>
                    <a:pt x="317" y="867"/>
                    <a:pt x="295" y="880"/>
                    <a:pt x="298" y="891"/>
                  </a:cubicBezTo>
                  <a:cubicBezTo>
                    <a:pt x="301" y="902"/>
                    <a:pt x="324" y="900"/>
                    <a:pt x="324" y="900"/>
                  </a:cubicBezTo>
                  <a:cubicBezTo>
                    <a:pt x="313" y="915"/>
                    <a:pt x="313" y="915"/>
                    <a:pt x="313" y="915"/>
                  </a:cubicBezTo>
                  <a:cubicBezTo>
                    <a:pt x="334" y="908"/>
                    <a:pt x="334" y="908"/>
                    <a:pt x="334" y="908"/>
                  </a:cubicBezTo>
                  <a:cubicBezTo>
                    <a:pt x="334" y="908"/>
                    <a:pt x="319" y="920"/>
                    <a:pt x="322" y="925"/>
                  </a:cubicBezTo>
                  <a:cubicBezTo>
                    <a:pt x="325" y="930"/>
                    <a:pt x="344" y="931"/>
                    <a:pt x="344" y="931"/>
                  </a:cubicBezTo>
                  <a:cubicBezTo>
                    <a:pt x="344" y="931"/>
                    <a:pt x="334" y="934"/>
                    <a:pt x="337" y="940"/>
                  </a:cubicBezTo>
                  <a:cubicBezTo>
                    <a:pt x="340" y="946"/>
                    <a:pt x="351" y="943"/>
                    <a:pt x="351" y="943"/>
                  </a:cubicBezTo>
                  <a:cubicBezTo>
                    <a:pt x="351" y="943"/>
                    <a:pt x="336" y="955"/>
                    <a:pt x="339" y="959"/>
                  </a:cubicBezTo>
                  <a:cubicBezTo>
                    <a:pt x="342" y="963"/>
                    <a:pt x="358" y="961"/>
                    <a:pt x="358" y="961"/>
                  </a:cubicBezTo>
                  <a:cubicBezTo>
                    <a:pt x="356" y="969"/>
                    <a:pt x="356" y="969"/>
                    <a:pt x="356" y="969"/>
                  </a:cubicBezTo>
                  <a:cubicBezTo>
                    <a:pt x="382" y="963"/>
                    <a:pt x="382" y="963"/>
                    <a:pt x="382" y="963"/>
                  </a:cubicBezTo>
                  <a:cubicBezTo>
                    <a:pt x="382" y="963"/>
                    <a:pt x="390" y="976"/>
                    <a:pt x="398" y="969"/>
                  </a:cubicBezTo>
                  <a:cubicBezTo>
                    <a:pt x="406" y="962"/>
                    <a:pt x="431" y="946"/>
                    <a:pt x="435" y="948"/>
                  </a:cubicBezTo>
                  <a:cubicBezTo>
                    <a:pt x="439" y="950"/>
                    <a:pt x="428" y="958"/>
                    <a:pt x="428" y="958"/>
                  </a:cubicBezTo>
                  <a:cubicBezTo>
                    <a:pt x="443" y="962"/>
                    <a:pt x="443" y="962"/>
                    <a:pt x="443" y="962"/>
                  </a:cubicBezTo>
                  <a:cubicBezTo>
                    <a:pt x="457" y="955"/>
                    <a:pt x="457" y="955"/>
                    <a:pt x="457" y="955"/>
                  </a:cubicBezTo>
                  <a:cubicBezTo>
                    <a:pt x="457" y="955"/>
                    <a:pt x="436" y="968"/>
                    <a:pt x="431" y="973"/>
                  </a:cubicBezTo>
                  <a:cubicBezTo>
                    <a:pt x="426" y="978"/>
                    <a:pt x="422" y="983"/>
                    <a:pt x="430" y="983"/>
                  </a:cubicBezTo>
                  <a:cubicBezTo>
                    <a:pt x="438" y="983"/>
                    <a:pt x="465" y="978"/>
                    <a:pt x="465" y="978"/>
                  </a:cubicBezTo>
                  <a:cubicBezTo>
                    <a:pt x="465" y="978"/>
                    <a:pt x="434" y="994"/>
                    <a:pt x="443" y="1000"/>
                  </a:cubicBezTo>
                  <a:cubicBezTo>
                    <a:pt x="452" y="1006"/>
                    <a:pt x="471" y="1000"/>
                    <a:pt x="471" y="1000"/>
                  </a:cubicBezTo>
                  <a:cubicBezTo>
                    <a:pt x="471" y="1000"/>
                    <a:pt x="481" y="1019"/>
                    <a:pt x="493" y="1012"/>
                  </a:cubicBezTo>
                  <a:cubicBezTo>
                    <a:pt x="505" y="1005"/>
                    <a:pt x="511" y="998"/>
                    <a:pt x="511" y="998"/>
                  </a:cubicBezTo>
                  <a:cubicBezTo>
                    <a:pt x="511" y="998"/>
                    <a:pt x="506" y="995"/>
                    <a:pt x="502" y="989"/>
                  </a:cubicBezTo>
                  <a:cubicBezTo>
                    <a:pt x="498" y="983"/>
                    <a:pt x="515" y="990"/>
                    <a:pt x="520" y="985"/>
                  </a:cubicBezTo>
                  <a:cubicBezTo>
                    <a:pt x="525" y="980"/>
                    <a:pt x="524" y="964"/>
                    <a:pt x="524" y="964"/>
                  </a:cubicBezTo>
                  <a:cubicBezTo>
                    <a:pt x="524" y="964"/>
                    <a:pt x="546" y="974"/>
                    <a:pt x="545" y="964"/>
                  </a:cubicBezTo>
                  <a:cubicBezTo>
                    <a:pt x="544" y="954"/>
                    <a:pt x="540" y="948"/>
                    <a:pt x="540" y="948"/>
                  </a:cubicBezTo>
                  <a:cubicBezTo>
                    <a:pt x="540" y="948"/>
                    <a:pt x="546" y="957"/>
                    <a:pt x="552" y="958"/>
                  </a:cubicBezTo>
                  <a:cubicBezTo>
                    <a:pt x="557" y="958"/>
                    <a:pt x="562" y="949"/>
                    <a:pt x="559" y="944"/>
                  </a:cubicBezTo>
                  <a:cubicBezTo>
                    <a:pt x="553" y="934"/>
                    <a:pt x="547" y="931"/>
                    <a:pt x="547" y="931"/>
                  </a:cubicBezTo>
                  <a:cubicBezTo>
                    <a:pt x="547" y="931"/>
                    <a:pt x="569" y="937"/>
                    <a:pt x="569" y="933"/>
                  </a:cubicBezTo>
                  <a:cubicBezTo>
                    <a:pt x="569" y="929"/>
                    <a:pt x="564" y="923"/>
                    <a:pt x="564" y="923"/>
                  </a:cubicBezTo>
                  <a:cubicBezTo>
                    <a:pt x="582" y="922"/>
                    <a:pt x="582" y="922"/>
                    <a:pt x="582" y="922"/>
                  </a:cubicBezTo>
                  <a:cubicBezTo>
                    <a:pt x="574" y="908"/>
                    <a:pt x="574" y="908"/>
                    <a:pt x="574" y="908"/>
                  </a:cubicBezTo>
                  <a:cubicBezTo>
                    <a:pt x="585" y="903"/>
                    <a:pt x="585" y="903"/>
                    <a:pt x="585" y="903"/>
                  </a:cubicBezTo>
                  <a:cubicBezTo>
                    <a:pt x="585" y="903"/>
                    <a:pt x="572" y="894"/>
                    <a:pt x="569" y="893"/>
                  </a:cubicBezTo>
                  <a:cubicBezTo>
                    <a:pt x="566" y="892"/>
                    <a:pt x="580" y="887"/>
                    <a:pt x="580" y="887"/>
                  </a:cubicBezTo>
                  <a:cubicBezTo>
                    <a:pt x="566" y="873"/>
                    <a:pt x="566" y="873"/>
                    <a:pt x="566" y="873"/>
                  </a:cubicBezTo>
                  <a:cubicBezTo>
                    <a:pt x="566" y="873"/>
                    <a:pt x="580" y="885"/>
                    <a:pt x="584" y="882"/>
                  </a:cubicBezTo>
                  <a:cubicBezTo>
                    <a:pt x="588" y="879"/>
                    <a:pt x="596" y="873"/>
                    <a:pt x="596" y="873"/>
                  </a:cubicBezTo>
                  <a:cubicBezTo>
                    <a:pt x="596" y="873"/>
                    <a:pt x="612" y="875"/>
                    <a:pt x="615" y="872"/>
                  </a:cubicBezTo>
                  <a:cubicBezTo>
                    <a:pt x="618" y="869"/>
                    <a:pt x="611" y="859"/>
                    <a:pt x="611" y="859"/>
                  </a:cubicBezTo>
                  <a:cubicBezTo>
                    <a:pt x="625" y="858"/>
                    <a:pt x="625" y="858"/>
                    <a:pt x="625" y="858"/>
                  </a:cubicBezTo>
                  <a:cubicBezTo>
                    <a:pt x="630" y="841"/>
                    <a:pt x="630" y="841"/>
                    <a:pt x="630" y="841"/>
                  </a:cubicBezTo>
                  <a:cubicBezTo>
                    <a:pt x="630" y="841"/>
                    <a:pt x="650" y="848"/>
                    <a:pt x="656" y="843"/>
                  </a:cubicBezTo>
                  <a:cubicBezTo>
                    <a:pt x="662" y="838"/>
                    <a:pt x="657" y="829"/>
                    <a:pt x="657" y="829"/>
                  </a:cubicBezTo>
                  <a:cubicBezTo>
                    <a:pt x="657" y="829"/>
                    <a:pt x="664" y="839"/>
                    <a:pt x="671" y="839"/>
                  </a:cubicBezTo>
                  <a:cubicBezTo>
                    <a:pt x="675" y="839"/>
                    <a:pt x="678" y="830"/>
                    <a:pt x="680" y="828"/>
                  </a:cubicBezTo>
                  <a:cubicBezTo>
                    <a:pt x="685" y="821"/>
                    <a:pt x="680" y="811"/>
                    <a:pt x="680" y="811"/>
                  </a:cubicBezTo>
                  <a:cubicBezTo>
                    <a:pt x="655" y="807"/>
                    <a:pt x="655" y="807"/>
                    <a:pt x="655" y="807"/>
                  </a:cubicBezTo>
                  <a:cubicBezTo>
                    <a:pt x="673" y="802"/>
                    <a:pt x="673" y="802"/>
                    <a:pt x="673" y="802"/>
                  </a:cubicBezTo>
                  <a:cubicBezTo>
                    <a:pt x="693" y="794"/>
                    <a:pt x="693" y="794"/>
                    <a:pt x="693" y="794"/>
                  </a:cubicBezTo>
                  <a:cubicBezTo>
                    <a:pt x="694" y="780"/>
                    <a:pt x="694" y="780"/>
                    <a:pt x="694" y="780"/>
                  </a:cubicBezTo>
                  <a:cubicBezTo>
                    <a:pt x="681" y="777"/>
                    <a:pt x="681" y="777"/>
                    <a:pt x="681" y="777"/>
                  </a:cubicBezTo>
                  <a:cubicBezTo>
                    <a:pt x="686" y="765"/>
                    <a:pt x="686" y="765"/>
                    <a:pt x="686" y="765"/>
                  </a:cubicBezTo>
                  <a:cubicBezTo>
                    <a:pt x="707" y="765"/>
                    <a:pt x="707" y="765"/>
                    <a:pt x="707" y="765"/>
                  </a:cubicBezTo>
                  <a:cubicBezTo>
                    <a:pt x="707" y="765"/>
                    <a:pt x="721" y="769"/>
                    <a:pt x="728" y="763"/>
                  </a:cubicBezTo>
                  <a:cubicBezTo>
                    <a:pt x="735" y="757"/>
                    <a:pt x="730" y="745"/>
                    <a:pt x="730" y="745"/>
                  </a:cubicBezTo>
                  <a:cubicBezTo>
                    <a:pt x="752" y="741"/>
                    <a:pt x="752" y="741"/>
                    <a:pt x="752" y="741"/>
                  </a:cubicBezTo>
                  <a:cubicBezTo>
                    <a:pt x="752" y="741"/>
                    <a:pt x="783" y="747"/>
                    <a:pt x="791" y="740"/>
                  </a:cubicBezTo>
                  <a:cubicBezTo>
                    <a:pt x="799" y="733"/>
                    <a:pt x="802" y="726"/>
                    <a:pt x="802" y="726"/>
                  </a:cubicBezTo>
                  <a:cubicBezTo>
                    <a:pt x="811" y="721"/>
                    <a:pt x="811" y="721"/>
                    <a:pt x="811" y="721"/>
                  </a:cubicBezTo>
                  <a:cubicBezTo>
                    <a:pt x="811" y="721"/>
                    <a:pt x="813" y="710"/>
                    <a:pt x="824" y="708"/>
                  </a:cubicBezTo>
                  <a:cubicBezTo>
                    <a:pt x="835" y="706"/>
                    <a:pt x="804" y="740"/>
                    <a:pt x="812" y="740"/>
                  </a:cubicBezTo>
                  <a:cubicBezTo>
                    <a:pt x="820" y="740"/>
                    <a:pt x="828" y="738"/>
                    <a:pt x="828" y="738"/>
                  </a:cubicBezTo>
                  <a:cubicBezTo>
                    <a:pt x="832" y="725"/>
                    <a:pt x="832" y="725"/>
                    <a:pt x="832" y="725"/>
                  </a:cubicBezTo>
                  <a:cubicBezTo>
                    <a:pt x="841" y="727"/>
                    <a:pt x="841" y="727"/>
                    <a:pt x="841" y="727"/>
                  </a:cubicBezTo>
                  <a:cubicBezTo>
                    <a:pt x="849" y="718"/>
                    <a:pt x="849" y="718"/>
                    <a:pt x="849" y="718"/>
                  </a:cubicBezTo>
                  <a:cubicBezTo>
                    <a:pt x="849" y="718"/>
                    <a:pt x="866" y="733"/>
                    <a:pt x="878" y="725"/>
                  </a:cubicBezTo>
                  <a:cubicBezTo>
                    <a:pt x="890" y="717"/>
                    <a:pt x="907" y="704"/>
                    <a:pt x="907" y="704"/>
                  </a:cubicBezTo>
                  <a:cubicBezTo>
                    <a:pt x="907" y="704"/>
                    <a:pt x="923" y="709"/>
                    <a:pt x="950" y="698"/>
                  </a:cubicBezTo>
                  <a:cubicBezTo>
                    <a:pt x="977" y="687"/>
                    <a:pt x="974" y="670"/>
                    <a:pt x="992" y="658"/>
                  </a:cubicBezTo>
                  <a:cubicBezTo>
                    <a:pt x="1010" y="646"/>
                    <a:pt x="1052" y="634"/>
                    <a:pt x="1052" y="634"/>
                  </a:cubicBezTo>
                  <a:cubicBezTo>
                    <a:pt x="1052" y="634"/>
                    <a:pt x="1055" y="625"/>
                    <a:pt x="1054" y="619"/>
                  </a:cubicBezTo>
                  <a:cubicBezTo>
                    <a:pt x="1053" y="613"/>
                    <a:pt x="1046" y="601"/>
                    <a:pt x="1053" y="599"/>
                  </a:cubicBezTo>
                  <a:cubicBezTo>
                    <a:pt x="1060" y="597"/>
                    <a:pt x="1071" y="625"/>
                    <a:pt x="1082" y="625"/>
                  </a:cubicBezTo>
                  <a:cubicBezTo>
                    <a:pt x="1082" y="625"/>
                    <a:pt x="1124" y="624"/>
                    <a:pt x="1135" y="622"/>
                  </a:cubicBezTo>
                  <a:cubicBezTo>
                    <a:pt x="1146" y="620"/>
                    <a:pt x="1167" y="609"/>
                    <a:pt x="1190" y="606"/>
                  </a:cubicBezTo>
                  <a:cubicBezTo>
                    <a:pt x="1213" y="603"/>
                    <a:pt x="1253" y="600"/>
                    <a:pt x="1260" y="598"/>
                  </a:cubicBezTo>
                  <a:cubicBezTo>
                    <a:pt x="1267" y="596"/>
                    <a:pt x="1273" y="589"/>
                    <a:pt x="1273" y="589"/>
                  </a:cubicBezTo>
                  <a:cubicBezTo>
                    <a:pt x="1291" y="589"/>
                    <a:pt x="1291" y="589"/>
                    <a:pt x="1291" y="589"/>
                  </a:cubicBezTo>
                  <a:cubicBezTo>
                    <a:pt x="1300" y="578"/>
                    <a:pt x="1300" y="578"/>
                    <a:pt x="1300" y="578"/>
                  </a:cubicBezTo>
                  <a:cubicBezTo>
                    <a:pt x="1317" y="578"/>
                    <a:pt x="1317" y="578"/>
                    <a:pt x="1317" y="578"/>
                  </a:cubicBezTo>
                  <a:cubicBezTo>
                    <a:pt x="1317" y="578"/>
                    <a:pt x="1335" y="561"/>
                    <a:pt x="1339" y="558"/>
                  </a:cubicBezTo>
                  <a:cubicBezTo>
                    <a:pt x="1343" y="555"/>
                    <a:pt x="1369" y="553"/>
                    <a:pt x="1369" y="553"/>
                  </a:cubicBezTo>
                  <a:cubicBezTo>
                    <a:pt x="1401" y="542"/>
                    <a:pt x="1401" y="542"/>
                    <a:pt x="1401" y="542"/>
                  </a:cubicBezTo>
                  <a:cubicBezTo>
                    <a:pt x="1422" y="537"/>
                    <a:pt x="1422" y="537"/>
                    <a:pt x="1422" y="537"/>
                  </a:cubicBezTo>
                  <a:cubicBezTo>
                    <a:pt x="1427" y="529"/>
                    <a:pt x="1427" y="529"/>
                    <a:pt x="1427" y="529"/>
                  </a:cubicBezTo>
                  <a:cubicBezTo>
                    <a:pt x="1427" y="529"/>
                    <a:pt x="1407" y="531"/>
                    <a:pt x="1395" y="531"/>
                  </a:cubicBezTo>
                  <a:cubicBezTo>
                    <a:pt x="1383" y="531"/>
                    <a:pt x="1375" y="524"/>
                    <a:pt x="1360" y="522"/>
                  </a:cubicBezTo>
                  <a:cubicBezTo>
                    <a:pt x="1345" y="520"/>
                    <a:pt x="1317" y="520"/>
                    <a:pt x="1303" y="524"/>
                  </a:cubicBezTo>
                  <a:cubicBezTo>
                    <a:pt x="1289" y="528"/>
                    <a:pt x="1269" y="528"/>
                    <a:pt x="1269" y="528"/>
                  </a:cubicBezTo>
                  <a:cubicBezTo>
                    <a:pt x="1259" y="537"/>
                    <a:pt x="1259" y="537"/>
                    <a:pt x="1259" y="537"/>
                  </a:cubicBezTo>
                  <a:cubicBezTo>
                    <a:pt x="1259" y="537"/>
                    <a:pt x="1214" y="541"/>
                    <a:pt x="1221" y="535"/>
                  </a:cubicBezTo>
                  <a:cubicBezTo>
                    <a:pt x="1228" y="529"/>
                    <a:pt x="1288" y="520"/>
                    <a:pt x="1288" y="520"/>
                  </a:cubicBezTo>
                  <a:cubicBezTo>
                    <a:pt x="1288" y="520"/>
                    <a:pt x="1348" y="508"/>
                    <a:pt x="1333" y="499"/>
                  </a:cubicBezTo>
                  <a:cubicBezTo>
                    <a:pt x="1318" y="490"/>
                    <a:pt x="1310" y="490"/>
                    <a:pt x="1310" y="490"/>
                  </a:cubicBezTo>
                  <a:cubicBezTo>
                    <a:pt x="1310" y="490"/>
                    <a:pt x="1255" y="508"/>
                    <a:pt x="1249" y="511"/>
                  </a:cubicBezTo>
                  <a:cubicBezTo>
                    <a:pt x="1243" y="514"/>
                    <a:pt x="1217" y="512"/>
                    <a:pt x="1217" y="512"/>
                  </a:cubicBezTo>
                  <a:cubicBezTo>
                    <a:pt x="1241" y="500"/>
                    <a:pt x="1241" y="500"/>
                    <a:pt x="1241" y="500"/>
                  </a:cubicBezTo>
                  <a:cubicBezTo>
                    <a:pt x="1255" y="489"/>
                    <a:pt x="1255" y="489"/>
                    <a:pt x="1255" y="489"/>
                  </a:cubicBezTo>
                  <a:cubicBezTo>
                    <a:pt x="1255" y="489"/>
                    <a:pt x="1279" y="493"/>
                    <a:pt x="1286" y="491"/>
                  </a:cubicBezTo>
                  <a:cubicBezTo>
                    <a:pt x="1293" y="489"/>
                    <a:pt x="1311" y="485"/>
                    <a:pt x="1319" y="485"/>
                  </a:cubicBezTo>
                  <a:cubicBezTo>
                    <a:pt x="1327" y="485"/>
                    <a:pt x="1349" y="483"/>
                    <a:pt x="1337" y="477"/>
                  </a:cubicBezTo>
                  <a:cubicBezTo>
                    <a:pt x="1325" y="471"/>
                    <a:pt x="1287" y="470"/>
                    <a:pt x="1287" y="470"/>
                  </a:cubicBezTo>
                  <a:cubicBezTo>
                    <a:pt x="1255" y="472"/>
                    <a:pt x="1255" y="472"/>
                    <a:pt x="1255" y="472"/>
                  </a:cubicBezTo>
                  <a:cubicBezTo>
                    <a:pt x="1271" y="465"/>
                    <a:pt x="1271" y="465"/>
                    <a:pt x="1271" y="465"/>
                  </a:cubicBezTo>
                  <a:cubicBezTo>
                    <a:pt x="1255" y="455"/>
                    <a:pt x="1255" y="455"/>
                    <a:pt x="1255" y="455"/>
                  </a:cubicBezTo>
                  <a:cubicBezTo>
                    <a:pt x="1255" y="455"/>
                    <a:pt x="1253" y="446"/>
                    <a:pt x="1257" y="446"/>
                  </a:cubicBezTo>
                  <a:cubicBezTo>
                    <a:pt x="1261" y="446"/>
                    <a:pt x="1281" y="463"/>
                    <a:pt x="1294" y="464"/>
                  </a:cubicBezTo>
                  <a:cubicBezTo>
                    <a:pt x="1307" y="465"/>
                    <a:pt x="1348" y="477"/>
                    <a:pt x="1348" y="477"/>
                  </a:cubicBezTo>
                  <a:cubicBezTo>
                    <a:pt x="1348" y="477"/>
                    <a:pt x="1366" y="469"/>
                    <a:pt x="1367" y="478"/>
                  </a:cubicBezTo>
                  <a:cubicBezTo>
                    <a:pt x="1368" y="487"/>
                    <a:pt x="1356" y="501"/>
                    <a:pt x="1377" y="507"/>
                  </a:cubicBezTo>
                  <a:cubicBezTo>
                    <a:pt x="1398" y="513"/>
                    <a:pt x="1421" y="514"/>
                    <a:pt x="1421" y="514"/>
                  </a:cubicBezTo>
                  <a:cubicBezTo>
                    <a:pt x="1421" y="514"/>
                    <a:pt x="1423" y="499"/>
                    <a:pt x="1427" y="502"/>
                  </a:cubicBezTo>
                  <a:cubicBezTo>
                    <a:pt x="1431" y="505"/>
                    <a:pt x="1427" y="520"/>
                    <a:pt x="1436" y="520"/>
                  </a:cubicBezTo>
                  <a:cubicBezTo>
                    <a:pt x="1445" y="520"/>
                    <a:pt x="1457" y="510"/>
                    <a:pt x="1457" y="510"/>
                  </a:cubicBezTo>
                  <a:cubicBezTo>
                    <a:pt x="1457" y="494"/>
                    <a:pt x="1457" y="494"/>
                    <a:pt x="1457" y="494"/>
                  </a:cubicBezTo>
                  <a:cubicBezTo>
                    <a:pt x="1451" y="492"/>
                    <a:pt x="1451" y="492"/>
                    <a:pt x="1451" y="492"/>
                  </a:cubicBezTo>
                  <a:cubicBezTo>
                    <a:pt x="1451" y="492"/>
                    <a:pt x="1465" y="481"/>
                    <a:pt x="1459" y="476"/>
                  </a:cubicBezTo>
                  <a:cubicBezTo>
                    <a:pt x="1453" y="471"/>
                    <a:pt x="1442" y="477"/>
                    <a:pt x="1442" y="477"/>
                  </a:cubicBezTo>
                  <a:cubicBezTo>
                    <a:pt x="1436" y="462"/>
                    <a:pt x="1436" y="462"/>
                    <a:pt x="1436" y="462"/>
                  </a:cubicBezTo>
                  <a:cubicBezTo>
                    <a:pt x="1425" y="459"/>
                    <a:pt x="1425" y="459"/>
                    <a:pt x="1425" y="459"/>
                  </a:cubicBezTo>
                  <a:cubicBezTo>
                    <a:pt x="1428" y="449"/>
                    <a:pt x="1428" y="449"/>
                    <a:pt x="1428" y="449"/>
                  </a:cubicBezTo>
                  <a:cubicBezTo>
                    <a:pt x="1380" y="430"/>
                    <a:pt x="1380" y="430"/>
                    <a:pt x="1380" y="430"/>
                  </a:cubicBezTo>
                  <a:cubicBezTo>
                    <a:pt x="1353" y="437"/>
                    <a:pt x="1353" y="437"/>
                    <a:pt x="1353" y="437"/>
                  </a:cubicBezTo>
                  <a:cubicBezTo>
                    <a:pt x="1347" y="434"/>
                    <a:pt x="1347" y="434"/>
                    <a:pt x="1347" y="434"/>
                  </a:cubicBezTo>
                  <a:cubicBezTo>
                    <a:pt x="1369" y="427"/>
                    <a:pt x="1369" y="427"/>
                    <a:pt x="1369" y="427"/>
                  </a:cubicBezTo>
                  <a:cubicBezTo>
                    <a:pt x="1371" y="424"/>
                    <a:pt x="1371" y="424"/>
                    <a:pt x="1371" y="424"/>
                  </a:cubicBezTo>
                  <a:cubicBezTo>
                    <a:pt x="1371" y="424"/>
                    <a:pt x="1370" y="415"/>
                    <a:pt x="1353" y="415"/>
                  </a:cubicBezTo>
                  <a:cubicBezTo>
                    <a:pt x="1336" y="415"/>
                    <a:pt x="1303" y="412"/>
                    <a:pt x="1303" y="412"/>
                  </a:cubicBezTo>
                  <a:cubicBezTo>
                    <a:pt x="1314" y="398"/>
                    <a:pt x="1314" y="398"/>
                    <a:pt x="1314" y="398"/>
                  </a:cubicBezTo>
                  <a:cubicBezTo>
                    <a:pt x="1314" y="398"/>
                    <a:pt x="1327" y="396"/>
                    <a:pt x="1337" y="400"/>
                  </a:cubicBezTo>
                  <a:cubicBezTo>
                    <a:pt x="1347" y="404"/>
                    <a:pt x="1363" y="393"/>
                    <a:pt x="1363" y="393"/>
                  </a:cubicBezTo>
                  <a:cubicBezTo>
                    <a:pt x="1381" y="390"/>
                    <a:pt x="1381" y="390"/>
                    <a:pt x="1381" y="390"/>
                  </a:cubicBezTo>
                  <a:cubicBezTo>
                    <a:pt x="1413" y="400"/>
                    <a:pt x="1413" y="400"/>
                    <a:pt x="1413" y="400"/>
                  </a:cubicBezTo>
                  <a:cubicBezTo>
                    <a:pt x="1427" y="397"/>
                    <a:pt x="1427" y="397"/>
                    <a:pt x="1427" y="397"/>
                  </a:cubicBezTo>
                  <a:cubicBezTo>
                    <a:pt x="1427" y="397"/>
                    <a:pt x="1453" y="418"/>
                    <a:pt x="1464" y="418"/>
                  </a:cubicBezTo>
                  <a:cubicBezTo>
                    <a:pt x="1475" y="418"/>
                    <a:pt x="1471" y="404"/>
                    <a:pt x="1471" y="404"/>
                  </a:cubicBezTo>
                  <a:cubicBezTo>
                    <a:pt x="1445" y="400"/>
                    <a:pt x="1445" y="400"/>
                    <a:pt x="1445" y="400"/>
                  </a:cubicBezTo>
                  <a:cubicBezTo>
                    <a:pt x="1425" y="390"/>
                    <a:pt x="1425" y="390"/>
                    <a:pt x="1425" y="390"/>
                  </a:cubicBezTo>
                  <a:cubicBezTo>
                    <a:pt x="1394" y="387"/>
                    <a:pt x="1394" y="387"/>
                    <a:pt x="1394" y="387"/>
                  </a:cubicBezTo>
                  <a:cubicBezTo>
                    <a:pt x="1394" y="387"/>
                    <a:pt x="1401" y="378"/>
                    <a:pt x="1408" y="375"/>
                  </a:cubicBezTo>
                  <a:cubicBezTo>
                    <a:pt x="1415" y="372"/>
                    <a:pt x="1432" y="390"/>
                    <a:pt x="1448" y="390"/>
                  </a:cubicBezTo>
                  <a:cubicBezTo>
                    <a:pt x="1464" y="390"/>
                    <a:pt x="1492" y="391"/>
                    <a:pt x="1492" y="391"/>
                  </a:cubicBezTo>
                  <a:cubicBezTo>
                    <a:pt x="1534" y="386"/>
                    <a:pt x="1534" y="386"/>
                    <a:pt x="1534" y="386"/>
                  </a:cubicBezTo>
                  <a:cubicBezTo>
                    <a:pt x="1535" y="368"/>
                    <a:pt x="1535" y="368"/>
                    <a:pt x="1535" y="368"/>
                  </a:cubicBezTo>
                  <a:cubicBezTo>
                    <a:pt x="1506" y="361"/>
                    <a:pt x="1506" y="361"/>
                    <a:pt x="1506" y="361"/>
                  </a:cubicBezTo>
                  <a:cubicBezTo>
                    <a:pt x="1491" y="371"/>
                    <a:pt x="1491" y="371"/>
                    <a:pt x="1491" y="371"/>
                  </a:cubicBezTo>
                  <a:cubicBezTo>
                    <a:pt x="1491" y="371"/>
                    <a:pt x="1477" y="359"/>
                    <a:pt x="1481" y="355"/>
                  </a:cubicBezTo>
                  <a:cubicBezTo>
                    <a:pt x="1485" y="351"/>
                    <a:pt x="1517" y="354"/>
                    <a:pt x="1517" y="354"/>
                  </a:cubicBezTo>
                  <a:cubicBezTo>
                    <a:pt x="1546" y="346"/>
                    <a:pt x="1546" y="346"/>
                    <a:pt x="1546" y="346"/>
                  </a:cubicBezTo>
                  <a:cubicBezTo>
                    <a:pt x="1546" y="346"/>
                    <a:pt x="1563" y="356"/>
                    <a:pt x="1576" y="352"/>
                  </a:cubicBezTo>
                  <a:cubicBezTo>
                    <a:pt x="1589" y="348"/>
                    <a:pt x="1602" y="339"/>
                    <a:pt x="1597" y="337"/>
                  </a:cubicBezTo>
                  <a:cubicBezTo>
                    <a:pt x="1592" y="335"/>
                    <a:pt x="1550" y="334"/>
                    <a:pt x="1546" y="334"/>
                  </a:cubicBezTo>
                  <a:cubicBezTo>
                    <a:pt x="1542" y="334"/>
                    <a:pt x="1550" y="326"/>
                    <a:pt x="1538" y="323"/>
                  </a:cubicBezTo>
                  <a:cubicBezTo>
                    <a:pt x="1526" y="320"/>
                    <a:pt x="1498" y="321"/>
                    <a:pt x="1498" y="321"/>
                  </a:cubicBezTo>
                  <a:cubicBezTo>
                    <a:pt x="1498" y="321"/>
                    <a:pt x="1532" y="320"/>
                    <a:pt x="1535" y="314"/>
                  </a:cubicBezTo>
                  <a:cubicBezTo>
                    <a:pt x="1538" y="308"/>
                    <a:pt x="1499" y="301"/>
                    <a:pt x="1499" y="301"/>
                  </a:cubicBezTo>
                  <a:cubicBezTo>
                    <a:pt x="1499" y="301"/>
                    <a:pt x="1521" y="296"/>
                    <a:pt x="1528" y="299"/>
                  </a:cubicBezTo>
                  <a:cubicBezTo>
                    <a:pt x="1535" y="302"/>
                    <a:pt x="1559" y="310"/>
                    <a:pt x="1565" y="308"/>
                  </a:cubicBezTo>
                  <a:cubicBezTo>
                    <a:pt x="1571" y="306"/>
                    <a:pt x="1573" y="320"/>
                    <a:pt x="1583" y="316"/>
                  </a:cubicBezTo>
                  <a:cubicBezTo>
                    <a:pt x="1593" y="312"/>
                    <a:pt x="1601" y="294"/>
                    <a:pt x="1594" y="289"/>
                  </a:cubicBezTo>
                  <a:cubicBezTo>
                    <a:pt x="1587" y="284"/>
                    <a:pt x="1570" y="272"/>
                    <a:pt x="1570" y="272"/>
                  </a:cubicBezTo>
                  <a:cubicBezTo>
                    <a:pt x="1531" y="264"/>
                    <a:pt x="1531" y="264"/>
                    <a:pt x="1531" y="264"/>
                  </a:cubicBezTo>
                  <a:cubicBezTo>
                    <a:pt x="1531" y="264"/>
                    <a:pt x="1513" y="256"/>
                    <a:pt x="1520" y="250"/>
                  </a:cubicBezTo>
                  <a:cubicBezTo>
                    <a:pt x="1527" y="244"/>
                    <a:pt x="1549" y="249"/>
                    <a:pt x="1549" y="249"/>
                  </a:cubicBezTo>
                  <a:cubicBezTo>
                    <a:pt x="1580" y="242"/>
                    <a:pt x="1580" y="242"/>
                    <a:pt x="1580" y="242"/>
                  </a:cubicBezTo>
                  <a:cubicBezTo>
                    <a:pt x="1580" y="242"/>
                    <a:pt x="1591" y="244"/>
                    <a:pt x="1623" y="246"/>
                  </a:cubicBezTo>
                  <a:cubicBezTo>
                    <a:pt x="1655" y="248"/>
                    <a:pt x="1670" y="225"/>
                    <a:pt x="1647" y="223"/>
                  </a:cubicBezTo>
                  <a:cubicBezTo>
                    <a:pt x="1624" y="221"/>
                    <a:pt x="1590" y="221"/>
                    <a:pt x="1590" y="221"/>
                  </a:cubicBezTo>
                  <a:cubicBezTo>
                    <a:pt x="1589" y="211"/>
                    <a:pt x="1589" y="211"/>
                    <a:pt x="1589" y="211"/>
                  </a:cubicBezTo>
                  <a:cubicBezTo>
                    <a:pt x="1609" y="210"/>
                    <a:pt x="1609" y="210"/>
                    <a:pt x="1609" y="210"/>
                  </a:cubicBezTo>
                  <a:cubicBezTo>
                    <a:pt x="1609" y="210"/>
                    <a:pt x="1603" y="195"/>
                    <a:pt x="1587" y="197"/>
                  </a:cubicBezTo>
                  <a:cubicBezTo>
                    <a:pt x="1571" y="199"/>
                    <a:pt x="1583" y="215"/>
                    <a:pt x="1574" y="216"/>
                  </a:cubicBezTo>
                  <a:cubicBezTo>
                    <a:pt x="1565" y="217"/>
                    <a:pt x="1540" y="204"/>
                    <a:pt x="1549" y="201"/>
                  </a:cubicBezTo>
                  <a:cubicBezTo>
                    <a:pt x="1558" y="198"/>
                    <a:pt x="1582" y="193"/>
                    <a:pt x="1585" y="185"/>
                  </a:cubicBezTo>
                  <a:cubicBezTo>
                    <a:pt x="1588" y="177"/>
                    <a:pt x="1598" y="165"/>
                    <a:pt x="1601" y="164"/>
                  </a:cubicBezTo>
                  <a:cubicBezTo>
                    <a:pt x="1604" y="163"/>
                    <a:pt x="1618" y="170"/>
                    <a:pt x="1627" y="165"/>
                  </a:cubicBezTo>
                  <a:cubicBezTo>
                    <a:pt x="1636" y="160"/>
                    <a:pt x="1649" y="151"/>
                    <a:pt x="1649" y="151"/>
                  </a:cubicBezTo>
                  <a:cubicBezTo>
                    <a:pt x="1639" y="141"/>
                    <a:pt x="1639" y="141"/>
                    <a:pt x="1639" y="141"/>
                  </a:cubicBezTo>
                  <a:cubicBezTo>
                    <a:pt x="1639" y="141"/>
                    <a:pt x="1665" y="128"/>
                    <a:pt x="1671" y="128"/>
                  </a:cubicBezTo>
                  <a:cubicBezTo>
                    <a:pt x="1677" y="128"/>
                    <a:pt x="1687" y="138"/>
                    <a:pt x="1695" y="132"/>
                  </a:cubicBezTo>
                  <a:cubicBezTo>
                    <a:pt x="1703" y="126"/>
                    <a:pt x="1723" y="122"/>
                    <a:pt x="1711" y="119"/>
                  </a:cubicBezTo>
                  <a:cubicBezTo>
                    <a:pt x="1699" y="116"/>
                    <a:pt x="1670" y="119"/>
                    <a:pt x="1670" y="119"/>
                  </a:cubicBezTo>
                  <a:cubicBezTo>
                    <a:pt x="1670" y="119"/>
                    <a:pt x="1615" y="134"/>
                    <a:pt x="1626" y="123"/>
                  </a:cubicBezTo>
                  <a:cubicBezTo>
                    <a:pt x="1637" y="112"/>
                    <a:pt x="1659" y="111"/>
                    <a:pt x="1659" y="111"/>
                  </a:cubicBezTo>
                  <a:cubicBezTo>
                    <a:pt x="1659" y="111"/>
                    <a:pt x="1700" y="113"/>
                    <a:pt x="1721" y="112"/>
                  </a:cubicBezTo>
                  <a:cubicBezTo>
                    <a:pt x="1742" y="111"/>
                    <a:pt x="1758" y="104"/>
                    <a:pt x="1758" y="104"/>
                  </a:cubicBezTo>
                  <a:cubicBezTo>
                    <a:pt x="1758" y="104"/>
                    <a:pt x="1723" y="95"/>
                    <a:pt x="1717" y="98"/>
                  </a:cubicBezTo>
                  <a:cubicBezTo>
                    <a:pt x="1711" y="101"/>
                    <a:pt x="1672" y="102"/>
                    <a:pt x="1672" y="102"/>
                  </a:cubicBezTo>
                  <a:cubicBezTo>
                    <a:pt x="1672" y="102"/>
                    <a:pt x="1625" y="105"/>
                    <a:pt x="1642" y="100"/>
                  </a:cubicBezTo>
                  <a:cubicBezTo>
                    <a:pt x="1659" y="95"/>
                    <a:pt x="1710" y="94"/>
                    <a:pt x="1710" y="94"/>
                  </a:cubicBezTo>
                  <a:cubicBezTo>
                    <a:pt x="1710" y="94"/>
                    <a:pt x="1776" y="95"/>
                    <a:pt x="1787" y="92"/>
                  </a:cubicBezTo>
                  <a:cubicBezTo>
                    <a:pt x="1798" y="89"/>
                    <a:pt x="1807" y="79"/>
                    <a:pt x="1807" y="79"/>
                  </a:cubicBezTo>
                  <a:cubicBezTo>
                    <a:pt x="1807" y="79"/>
                    <a:pt x="1834" y="80"/>
                    <a:pt x="1851" y="78"/>
                  </a:cubicBezTo>
                  <a:cubicBezTo>
                    <a:pt x="1868" y="76"/>
                    <a:pt x="1891" y="67"/>
                    <a:pt x="1891" y="67"/>
                  </a:cubicBezTo>
                  <a:cubicBezTo>
                    <a:pt x="1891" y="67"/>
                    <a:pt x="1865" y="57"/>
                    <a:pt x="1845" y="57"/>
                  </a:cubicBezTo>
                  <a:close/>
                  <a:moveTo>
                    <a:pt x="345" y="566"/>
                  </a:moveTo>
                  <a:cubicBezTo>
                    <a:pt x="353" y="568"/>
                    <a:pt x="353" y="568"/>
                    <a:pt x="353" y="568"/>
                  </a:cubicBezTo>
                  <a:cubicBezTo>
                    <a:pt x="353" y="568"/>
                    <a:pt x="371" y="564"/>
                    <a:pt x="377" y="564"/>
                  </a:cubicBezTo>
                  <a:cubicBezTo>
                    <a:pt x="383" y="564"/>
                    <a:pt x="397" y="554"/>
                    <a:pt x="395" y="546"/>
                  </a:cubicBezTo>
                  <a:cubicBezTo>
                    <a:pt x="393" y="538"/>
                    <a:pt x="371" y="534"/>
                    <a:pt x="371" y="534"/>
                  </a:cubicBezTo>
                  <a:cubicBezTo>
                    <a:pt x="371" y="534"/>
                    <a:pt x="361" y="526"/>
                    <a:pt x="351" y="526"/>
                  </a:cubicBezTo>
                  <a:cubicBezTo>
                    <a:pt x="341" y="526"/>
                    <a:pt x="337" y="532"/>
                    <a:pt x="321" y="526"/>
                  </a:cubicBezTo>
                  <a:cubicBezTo>
                    <a:pt x="317" y="542"/>
                    <a:pt x="317" y="542"/>
                    <a:pt x="317" y="542"/>
                  </a:cubicBezTo>
                  <a:cubicBezTo>
                    <a:pt x="317" y="542"/>
                    <a:pt x="309" y="546"/>
                    <a:pt x="309" y="552"/>
                  </a:cubicBezTo>
                  <a:cubicBezTo>
                    <a:pt x="309" y="558"/>
                    <a:pt x="321" y="564"/>
                    <a:pt x="321" y="564"/>
                  </a:cubicBezTo>
                  <a:cubicBezTo>
                    <a:pt x="317" y="572"/>
                    <a:pt x="317" y="572"/>
                    <a:pt x="317" y="572"/>
                  </a:cubicBezTo>
                  <a:lnTo>
                    <a:pt x="345" y="566"/>
                  </a:lnTo>
                  <a:close/>
                  <a:moveTo>
                    <a:pt x="2531" y="1160"/>
                  </a:moveTo>
                  <a:cubicBezTo>
                    <a:pt x="2535" y="1157"/>
                    <a:pt x="2548" y="1143"/>
                    <a:pt x="2545" y="1138"/>
                  </a:cubicBezTo>
                  <a:cubicBezTo>
                    <a:pt x="2542" y="1133"/>
                    <a:pt x="2538" y="1126"/>
                    <a:pt x="2538" y="1126"/>
                  </a:cubicBezTo>
                  <a:cubicBezTo>
                    <a:pt x="2538" y="1126"/>
                    <a:pt x="2520" y="1124"/>
                    <a:pt x="2519" y="1127"/>
                  </a:cubicBezTo>
                  <a:cubicBezTo>
                    <a:pt x="2518" y="1130"/>
                    <a:pt x="2498" y="1155"/>
                    <a:pt x="2498" y="1160"/>
                  </a:cubicBezTo>
                  <a:cubicBezTo>
                    <a:pt x="2498" y="1165"/>
                    <a:pt x="2501" y="1177"/>
                    <a:pt x="2501" y="1177"/>
                  </a:cubicBezTo>
                  <a:cubicBezTo>
                    <a:pt x="2488" y="1166"/>
                    <a:pt x="2488" y="1166"/>
                    <a:pt x="2488" y="1166"/>
                  </a:cubicBezTo>
                  <a:cubicBezTo>
                    <a:pt x="2482" y="1145"/>
                    <a:pt x="2482" y="1145"/>
                    <a:pt x="2482" y="1145"/>
                  </a:cubicBezTo>
                  <a:cubicBezTo>
                    <a:pt x="2482" y="1145"/>
                    <a:pt x="2457" y="1161"/>
                    <a:pt x="2458" y="1164"/>
                  </a:cubicBezTo>
                  <a:cubicBezTo>
                    <a:pt x="2459" y="1167"/>
                    <a:pt x="2472" y="1165"/>
                    <a:pt x="2473" y="1168"/>
                  </a:cubicBezTo>
                  <a:cubicBezTo>
                    <a:pt x="2474" y="1171"/>
                    <a:pt x="2483" y="1185"/>
                    <a:pt x="2483" y="1185"/>
                  </a:cubicBezTo>
                  <a:cubicBezTo>
                    <a:pt x="2460" y="1181"/>
                    <a:pt x="2460" y="1181"/>
                    <a:pt x="2460" y="1181"/>
                  </a:cubicBezTo>
                  <a:cubicBezTo>
                    <a:pt x="2460" y="1181"/>
                    <a:pt x="2448" y="1196"/>
                    <a:pt x="2449" y="1204"/>
                  </a:cubicBezTo>
                  <a:cubicBezTo>
                    <a:pt x="2450" y="1212"/>
                    <a:pt x="2466" y="1214"/>
                    <a:pt x="2466" y="1214"/>
                  </a:cubicBezTo>
                  <a:cubicBezTo>
                    <a:pt x="2466" y="1214"/>
                    <a:pt x="2452" y="1230"/>
                    <a:pt x="2455" y="1232"/>
                  </a:cubicBezTo>
                  <a:cubicBezTo>
                    <a:pt x="2458" y="1234"/>
                    <a:pt x="2472" y="1234"/>
                    <a:pt x="2472" y="1234"/>
                  </a:cubicBezTo>
                  <a:cubicBezTo>
                    <a:pt x="2471" y="1249"/>
                    <a:pt x="2471" y="1249"/>
                    <a:pt x="2471" y="1249"/>
                  </a:cubicBezTo>
                  <a:cubicBezTo>
                    <a:pt x="2463" y="1259"/>
                    <a:pt x="2463" y="1259"/>
                    <a:pt x="2463" y="1259"/>
                  </a:cubicBezTo>
                  <a:cubicBezTo>
                    <a:pt x="2473" y="1264"/>
                    <a:pt x="2473" y="1264"/>
                    <a:pt x="2473" y="1264"/>
                  </a:cubicBezTo>
                  <a:cubicBezTo>
                    <a:pt x="2473" y="1264"/>
                    <a:pt x="2480" y="1264"/>
                    <a:pt x="2484" y="1264"/>
                  </a:cubicBezTo>
                  <a:cubicBezTo>
                    <a:pt x="2488" y="1264"/>
                    <a:pt x="2496" y="1269"/>
                    <a:pt x="2496" y="1269"/>
                  </a:cubicBezTo>
                  <a:cubicBezTo>
                    <a:pt x="2496" y="1269"/>
                    <a:pt x="2498" y="1267"/>
                    <a:pt x="2506" y="1267"/>
                  </a:cubicBezTo>
                  <a:cubicBezTo>
                    <a:pt x="2513" y="1266"/>
                    <a:pt x="2514" y="1270"/>
                    <a:pt x="2514" y="1270"/>
                  </a:cubicBezTo>
                  <a:cubicBezTo>
                    <a:pt x="2514" y="1270"/>
                    <a:pt x="2515" y="1269"/>
                    <a:pt x="2517" y="1268"/>
                  </a:cubicBezTo>
                  <a:cubicBezTo>
                    <a:pt x="2517" y="1268"/>
                    <a:pt x="2517" y="1268"/>
                    <a:pt x="2517" y="1268"/>
                  </a:cubicBezTo>
                  <a:cubicBezTo>
                    <a:pt x="2513" y="1258"/>
                    <a:pt x="2510" y="1252"/>
                    <a:pt x="2510" y="1252"/>
                  </a:cubicBezTo>
                  <a:cubicBezTo>
                    <a:pt x="2521" y="1239"/>
                    <a:pt x="2521" y="1239"/>
                    <a:pt x="2521" y="1239"/>
                  </a:cubicBezTo>
                  <a:cubicBezTo>
                    <a:pt x="2521" y="1239"/>
                    <a:pt x="2503" y="1224"/>
                    <a:pt x="2513" y="1222"/>
                  </a:cubicBezTo>
                  <a:cubicBezTo>
                    <a:pt x="2523" y="1220"/>
                    <a:pt x="2531" y="1213"/>
                    <a:pt x="2531" y="1213"/>
                  </a:cubicBezTo>
                  <a:cubicBezTo>
                    <a:pt x="2535" y="1194"/>
                    <a:pt x="2535" y="1194"/>
                    <a:pt x="2535" y="1194"/>
                  </a:cubicBezTo>
                  <a:cubicBezTo>
                    <a:pt x="2549" y="1194"/>
                    <a:pt x="2549" y="1194"/>
                    <a:pt x="2549" y="1194"/>
                  </a:cubicBezTo>
                  <a:cubicBezTo>
                    <a:pt x="2554" y="1179"/>
                    <a:pt x="2554" y="1179"/>
                    <a:pt x="2554" y="1179"/>
                  </a:cubicBezTo>
                  <a:cubicBezTo>
                    <a:pt x="2531" y="1179"/>
                    <a:pt x="2531" y="1179"/>
                    <a:pt x="2531" y="1179"/>
                  </a:cubicBezTo>
                  <a:cubicBezTo>
                    <a:pt x="2531" y="1179"/>
                    <a:pt x="2527" y="1163"/>
                    <a:pt x="2531" y="1160"/>
                  </a:cubicBezTo>
                  <a:close/>
                  <a:moveTo>
                    <a:pt x="2525" y="1228"/>
                  </a:moveTo>
                  <a:cubicBezTo>
                    <a:pt x="2527" y="1252"/>
                    <a:pt x="2527" y="1252"/>
                    <a:pt x="2527" y="1252"/>
                  </a:cubicBezTo>
                  <a:cubicBezTo>
                    <a:pt x="2533" y="1252"/>
                    <a:pt x="2543" y="1262"/>
                    <a:pt x="2543" y="1262"/>
                  </a:cubicBezTo>
                  <a:cubicBezTo>
                    <a:pt x="2549" y="1244"/>
                    <a:pt x="2549" y="1244"/>
                    <a:pt x="2549" y="1244"/>
                  </a:cubicBezTo>
                  <a:cubicBezTo>
                    <a:pt x="2537" y="1230"/>
                    <a:pt x="2537" y="1230"/>
                    <a:pt x="2537" y="1230"/>
                  </a:cubicBezTo>
                  <a:lnTo>
                    <a:pt x="2525" y="1228"/>
                  </a:lnTo>
                  <a:close/>
                  <a:moveTo>
                    <a:pt x="2577" y="1240"/>
                  </a:moveTo>
                  <a:cubicBezTo>
                    <a:pt x="2576" y="1251"/>
                    <a:pt x="2567" y="1253"/>
                    <a:pt x="2579" y="1254"/>
                  </a:cubicBezTo>
                  <a:cubicBezTo>
                    <a:pt x="2591" y="1255"/>
                    <a:pt x="2596" y="1253"/>
                    <a:pt x="2596" y="1253"/>
                  </a:cubicBezTo>
                  <a:cubicBezTo>
                    <a:pt x="2596" y="1253"/>
                    <a:pt x="2604" y="1272"/>
                    <a:pt x="2605" y="1265"/>
                  </a:cubicBezTo>
                  <a:cubicBezTo>
                    <a:pt x="2607" y="1259"/>
                    <a:pt x="2617" y="1245"/>
                    <a:pt x="2619" y="1244"/>
                  </a:cubicBezTo>
                  <a:cubicBezTo>
                    <a:pt x="2621" y="1244"/>
                    <a:pt x="2630" y="1244"/>
                    <a:pt x="2622" y="1239"/>
                  </a:cubicBezTo>
                  <a:cubicBezTo>
                    <a:pt x="2614" y="1234"/>
                    <a:pt x="2607" y="1227"/>
                    <a:pt x="2610" y="1227"/>
                  </a:cubicBezTo>
                  <a:cubicBezTo>
                    <a:pt x="2613" y="1226"/>
                    <a:pt x="2620" y="1227"/>
                    <a:pt x="2615" y="1224"/>
                  </a:cubicBezTo>
                  <a:cubicBezTo>
                    <a:pt x="2610" y="1220"/>
                    <a:pt x="2624" y="1211"/>
                    <a:pt x="2624" y="1211"/>
                  </a:cubicBezTo>
                  <a:cubicBezTo>
                    <a:pt x="2624" y="1211"/>
                    <a:pt x="2616" y="1199"/>
                    <a:pt x="2615" y="1200"/>
                  </a:cubicBezTo>
                  <a:cubicBezTo>
                    <a:pt x="2614" y="1200"/>
                    <a:pt x="2601" y="1205"/>
                    <a:pt x="2601" y="1210"/>
                  </a:cubicBezTo>
                  <a:cubicBezTo>
                    <a:pt x="2601" y="1215"/>
                    <a:pt x="2601" y="1219"/>
                    <a:pt x="2601" y="1219"/>
                  </a:cubicBezTo>
                  <a:cubicBezTo>
                    <a:pt x="2601" y="1219"/>
                    <a:pt x="2592" y="1207"/>
                    <a:pt x="2590" y="1208"/>
                  </a:cubicBezTo>
                  <a:cubicBezTo>
                    <a:pt x="2588" y="1209"/>
                    <a:pt x="2585" y="1213"/>
                    <a:pt x="2585" y="1213"/>
                  </a:cubicBezTo>
                  <a:cubicBezTo>
                    <a:pt x="2569" y="1224"/>
                    <a:pt x="2569" y="1224"/>
                    <a:pt x="2569" y="1224"/>
                  </a:cubicBezTo>
                  <a:cubicBezTo>
                    <a:pt x="2569" y="1224"/>
                    <a:pt x="2578" y="1229"/>
                    <a:pt x="2577" y="1240"/>
                  </a:cubicBezTo>
                  <a:close/>
                  <a:moveTo>
                    <a:pt x="2629" y="1260"/>
                  </a:moveTo>
                  <a:cubicBezTo>
                    <a:pt x="2612" y="1266"/>
                    <a:pt x="2612" y="1266"/>
                    <a:pt x="2612" y="1266"/>
                  </a:cubicBezTo>
                  <a:cubicBezTo>
                    <a:pt x="2612" y="1266"/>
                    <a:pt x="2602" y="1270"/>
                    <a:pt x="2598" y="1269"/>
                  </a:cubicBezTo>
                  <a:cubicBezTo>
                    <a:pt x="2594" y="1269"/>
                    <a:pt x="2578" y="1262"/>
                    <a:pt x="2573" y="1262"/>
                  </a:cubicBezTo>
                  <a:cubicBezTo>
                    <a:pt x="2563" y="1262"/>
                    <a:pt x="2565" y="1273"/>
                    <a:pt x="2573" y="1272"/>
                  </a:cubicBezTo>
                  <a:cubicBezTo>
                    <a:pt x="2581" y="1270"/>
                    <a:pt x="2592" y="1282"/>
                    <a:pt x="2592" y="1282"/>
                  </a:cubicBezTo>
                  <a:cubicBezTo>
                    <a:pt x="2592" y="1282"/>
                    <a:pt x="2609" y="1279"/>
                    <a:pt x="2626" y="1275"/>
                  </a:cubicBezTo>
                  <a:cubicBezTo>
                    <a:pt x="2644" y="1272"/>
                    <a:pt x="2629" y="1260"/>
                    <a:pt x="2629" y="1260"/>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541" name="Freeform 333">
              <a:extLst>
                <a:ext uri="{FF2B5EF4-FFF2-40B4-BE49-F238E27FC236}">
                  <a16:creationId xmlns:a16="http://schemas.microsoft.com/office/drawing/2014/main" id="{B7217D20-6160-4FF7-89F3-D61266300006}"/>
                </a:ext>
              </a:extLst>
            </p:cNvPr>
            <p:cNvSpPr>
              <a:spLocks noEditPoints="1"/>
            </p:cNvSpPr>
            <p:nvPr/>
          </p:nvSpPr>
          <p:spPr bwMode="gray">
            <a:xfrm>
              <a:off x="5383370" y="658088"/>
              <a:ext cx="160803" cy="68415"/>
            </a:xfrm>
            <a:custGeom>
              <a:avLst/>
              <a:gdLst>
                <a:gd name="T0" fmla="*/ 228 w 237"/>
                <a:gd name="T1" fmla="*/ 76 h 107"/>
                <a:gd name="T2" fmla="*/ 221 w 237"/>
                <a:gd name="T3" fmla="*/ 74 h 107"/>
                <a:gd name="T4" fmla="*/ 226 w 237"/>
                <a:gd name="T5" fmla="*/ 56 h 107"/>
                <a:gd name="T6" fmla="*/ 217 w 237"/>
                <a:gd name="T7" fmla="*/ 52 h 107"/>
                <a:gd name="T8" fmla="*/ 220 w 237"/>
                <a:gd name="T9" fmla="*/ 36 h 107"/>
                <a:gd name="T10" fmla="*/ 231 w 237"/>
                <a:gd name="T11" fmla="*/ 30 h 107"/>
                <a:gd name="T12" fmla="*/ 228 w 237"/>
                <a:gd name="T13" fmla="*/ 21 h 107"/>
                <a:gd name="T14" fmla="*/ 231 w 237"/>
                <a:gd name="T15" fmla="*/ 11 h 107"/>
                <a:gd name="T16" fmla="*/ 170 w 237"/>
                <a:gd name="T17" fmla="*/ 1 h 107"/>
                <a:gd name="T18" fmla="*/ 110 w 237"/>
                <a:gd name="T19" fmla="*/ 6 h 107"/>
                <a:gd name="T20" fmla="*/ 60 w 237"/>
                <a:gd name="T21" fmla="*/ 31 h 107"/>
                <a:gd name="T22" fmla="*/ 66 w 237"/>
                <a:gd name="T23" fmla="*/ 56 h 107"/>
                <a:gd name="T24" fmla="*/ 105 w 237"/>
                <a:gd name="T25" fmla="*/ 61 h 107"/>
                <a:gd name="T26" fmla="*/ 98 w 237"/>
                <a:gd name="T27" fmla="*/ 85 h 107"/>
                <a:gd name="T28" fmla="*/ 102 w 237"/>
                <a:gd name="T29" fmla="*/ 85 h 107"/>
                <a:gd name="T30" fmla="*/ 123 w 237"/>
                <a:gd name="T31" fmla="*/ 79 h 107"/>
                <a:gd name="T32" fmla="*/ 144 w 237"/>
                <a:gd name="T33" fmla="*/ 78 h 107"/>
                <a:gd name="T34" fmla="*/ 172 w 237"/>
                <a:gd name="T35" fmla="*/ 95 h 107"/>
                <a:gd name="T36" fmla="*/ 192 w 237"/>
                <a:gd name="T37" fmla="*/ 107 h 107"/>
                <a:gd name="T38" fmla="*/ 203 w 237"/>
                <a:gd name="T39" fmla="*/ 101 h 107"/>
                <a:gd name="T40" fmla="*/ 216 w 237"/>
                <a:gd name="T41" fmla="*/ 106 h 107"/>
                <a:gd name="T42" fmla="*/ 224 w 237"/>
                <a:gd name="T43" fmla="*/ 105 h 107"/>
                <a:gd name="T44" fmla="*/ 224 w 237"/>
                <a:gd name="T45" fmla="*/ 97 h 107"/>
                <a:gd name="T46" fmla="*/ 237 w 237"/>
                <a:gd name="T47" fmla="*/ 88 h 107"/>
                <a:gd name="T48" fmla="*/ 228 w 237"/>
                <a:gd name="T49" fmla="*/ 76 h 107"/>
                <a:gd name="T50" fmla="*/ 27 w 237"/>
                <a:gd name="T51" fmla="*/ 53 h 107"/>
                <a:gd name="T52" fmla="*/ 7 w 237"/>
                <a:gd name="T53" fmla="*/ 55 h 107"/>
                <a:gd name="T54" fmla="*/ 9 w 237"/>
                <a:gd name="T55" fmla="*/ 74 h 107"/>
                <a:gd name="T56" fmla="*/ 14 w 237"/>
                <a:gd name="T57" fmla="*/ 87 h 107"/>
                <a:gd name="T58" fmla="*/ 34 w 237"/>
                <a:gd name="T59" fmla="*/ 74 h 107"/>
                <a:gd name="T60" fmla="*/ 55 w 237"/>
                <a:gd name="T61" fmla="*/ 60 h 107"/>
                <a:gd name="T62" fmla="*/ 51 w 237"/>
                <a:gd name="T63" fmla="*/ 49 h 107"/>
                <a:gd name="T64" fmla="*/ 27 w 237"/>
                <a:gd name="T65" fmla="*/ 53 h 107"/>
                <a:gd name="T66" fmla="*/ 29 w 237"/>
                <a:gd name="T67" fmla="*/ 45 h 107"/>
                <a:gd name="T68" fmla="*/ 35 w 237"/>
                <a:gd name="T69" fmla="*/ 25 h 107"/>
                <a:gd name="T70" fmla="*/ 29 w 237"/>
                <a:gd name="T71" fmla="*/ 45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37" h="107">
                  <a:moveTo>
                    <a:pt x="228" y="76"/>
                  </a:moveTo>
                  <a:cubicBezTo>
                    <a:pt x="221" y="74"/>
                    <a:pt x="221" y="74"/>
                    <a:pt x="221" y="74"/>
                  </a:cubicBezTo>
                  <a:cubicBezTo>
                    <a:pt x="226" y="56"/>
                    <a:pt x="226" y="56"/>
                    <a:pt x="226" y="56"/>
                  </a:cubicBezTo>
                  <a:cubicBezTo>
                    <a:pt x="217" y="52"/>
                    <a:pt x="217" y="52"/>
                    <a:pt x="217" y="52"/>
                  </a:cubicBezTo>
                  <a:cubicBezTo>
                    <a:pt x="217" y="52"/>
                    <a:pt x="216" y="38"/>
                    <a:pt x="220" y="36"/>
                  </a:cubicBezTo>
                  <a:cubicBezTo>
                    <a:pt x="224" y="34"/>
                    <a:pt x="231" y="30"/>
                    <a:pt x="231" y="30"/>
                  </a:cubicBezTo>
                  <a:cubicBezTo>
                    <a:pt x="228" y="21"/>
                    <a:pt x="228" y="21"/>
                    <a:pt x="228" y="21"/>
                  </a:cubicBezTo>
                  <a:cubicBezTo>
                    <a:pt x="231" y="11"/>
                    <a:pt x="231" y="11"/>
                    <a:pt x="231" y="11"/>
                  </a:cubicBezTo>
                  <a:cubicBezTo>
                    <a:pt x="215" y="8"/>
                    <a:pt x="180" y="2"/>
                    <a:pt x="170" y="1"/>
                  </a:cubicBezTo>
                  <a:cubicBezTo>
                    <a:pt x="157" y="0"/>
                    <a:pt x="110" y="6"/>
                    <a:pt x="110" y="6"/>
                  </a:cubicBezTo>
                  <a:cubicBezTo>
                    <a:pt x="110" y="6"/>
                    <a:pt x="60" y="24"/>
                    <a:pt x="60" y="31"/>
                  </a:cubicBezTo>
                  <a:cubicBezTo>
                    <a:pt x="60" y="38"/>
                    <a:pt x="66" y="56"/>
                    <a:pt x="66" y="56"/>
                  </a:cubicBezTo>
                  <a:cubicBezTo>
                    <a:pt x="105" y="61"/>
                    <a:pt x="105" y="61"/>
                    <a:pt x="105" y="61"/>
                  </a:cubicBezTo>
                  <a:cubicBezTo>
                    <a:pt x="98" y="85"/>
                    <a:pt x="98" y="85"/>
                    <a:pt x="98" y="85"/>
                  </a:cubicBezTo>
                  <a:cubicBezTo>
                    <a:pt x="102" y="85"/>
                    <a:pt x="102" y="85"/>
                    <a:pt x="102" y="85"/>
                  </a:cubicBezTo>
                  <a:cubicBezTo>
                    <a:pt x="123" y="79"/>
                    <a:pt x="123" y="79"/>
                    <a:pt x="123" y="79"/>
                  </a:cubicBezTo>
                  <a:cubicBezTo>
                    <a:pt x="123" y="79"/>
                    <a:pt x="129" y="75"/>
                    <a:pt x="144" y="78"/>
                  </a:cubicBezTo>
                  <a:cubicBezTo>
                    <a:pt x="159" y="81"/>
                    <a:pt x="161" y="86"/>
                    <a:pt x="172" y="95"/>
                  </a:cubicBezTo>
                  <a:cubicBezTo>
                    <a:pt x="183" y="104"/>
                    <a:pt x="186" y="107"/>
                    <a:pt x="192" y="107"/>
                  </a:cubicBezTo>
                  <a:cubicBezTo>
                    <a:pt x="198" y="107"/>
                    <a:pt x="200" y="100"/>
                    <a:pt x="203" y="101"/>
                  </a:cubicBezTo>
                  <a:cubicBezTo>
                    <a:pt x="206" y="102"/>
                    <a:pt x="216" y="106"/>
                    <a:pt x="216" y="106"/>
                  </a:cubicBezTo>
                  <a:cubicBezTo>
                    <a:pt x="224" y="105"/>
                    <a:pt x="224" y="105"/>
                    <a:pt x="224" y="105"/>
                  </a:cubicBezTo>
                  <a:cubicBezTo>
                    <a:pt x="224" y="97"/>
                    <a:pt x="224" y="97"/>
                    <a:pt x="224" y="97"/>
                  </a:cubicBezTo>
                  <a:cubicBezTo>
                    <a:pt x="237" y="88"/>
                    <a:pt x="237" y="88"/>
                    <a:pt x="237" y="88"/>
                  </a:cubicBezTo>
                  <a:lnTo>
                    <a:pt x="228" y="76"/>
                  </a:lnTo>
                  <a:close/>
                  <a:moveTo>
                    <a:pt x="27" y="53"/>
                  </a:moveTo>
                  <a:cubicBezTo>
                    <a:pt x="27" y="53"/>
                    <a:pt x="14" y="52"/>
                    <a:pt x="7" y="55"/>
                  </a:cubicBezTo>
                  <a:cubicBezTo>
                    <a:pt x="0" y="57"/>
                    <a:pt x="9" y="74"/>
                    <a:pt x="9" y="74"/>
                  </a:cubicBezTo>
                  <a:cubicBezTo>
                    <a:pt x="14" y="87"/>
                    <a:pt x="14" y="87"/>
                    <a:pt x="14" y="87"/>
                  </a:cubicBezTo>
                  <a:cubicBezTo>
                    <a:pt x="14" y="87"/>
                    <a:pt x="30" y="74"/>
                    <a:pt x="34" y="74"/>
                  </a:cubicBezTo>
                  <a:cubicBezTo>
                    <a:pt x="38" y="74"/>
                    <a:pt x="55" y="60"/>
                    <a:pt x="55" y="60"/>
                  </a:cubicBezTo>
                  <a:cubicBezTo>
                    <a:pt x="51" y="49"/>
                    <a:pt x="51" y="49"/>
                    <a:pt x="51" y="49"/>
                  </a:cubicBezTo>
                  <a:lnTo>
                    <a:pt x="27" y="53"/>
                  </a:lnTo>
                  <a:close/>
                  <a:moveTo>
                    <a:pt x="29" y="45"/>
                  </a:moveTo>
                  <a:cubicBezTo>
                    <a:pt x="44" y="45"/>
                    <a:pt x="48" y="23"/>
                    <a:pt x="35" y="25"/>
                  </a:cubicBezTo>
                  <a:cubicBezTo>
                    <a:pt x="22" y="28"/>
                    <a:pt x="15" y="45"/>
                    <a:pt x="29" y="45"/>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542" name="Freeform 334">
              <a:extLst>
                <a:ext uri="{FF2B5EF4-FFF2-40B4-BE49-F238E27FC236}">
                  <a16:creationId xmlns:a16="http://schemas.microsoft.com/office/drawing/2014/main" id="{D74F036F-9E24-4651-8DCD-68400190BECE}"/>
                </a:ext>
              </a:extLst>
            </p:cNvPr>
            <p:cNvSpPr>
              <a:spLocks noEditPoints="1"/>
            </p:cNvSpPr>
            <p:nvPr/>
          </p:nvSpPr>
          <p:spPr bwMode="gray">
            <a:xfrm>
              <a:off x="8733545" y="2973070"/>
              <a:ext cx="113998" cy="49411"/>
            </a:xfrm>
            <a:custGeom>
              <a:avLst/>
              <a:gdLst>
                <a:gd name="T0" fmla="*/ 53 w 168"/>
                <a:gd name="T1" fmla="*/ 33 h 77"/>
                <a:gd name="T2" fmla="*/ 53 w 168"/>
                <a:gd name="T3" fmla="*/ 33 h 77"/>
                <a:gd name="T4" fmla="*/ 53 w 168"/>
                <a:gd name="T5" fmla="*/ 33 h 77"/>
                <a:gd name="T6" fmla="*/ 53 w 168"/>
                <a:gd name="T7" fmla="*/ 33 h 77"/>
                <a:gd name="T8" fmla="*/ 152 w 168"/>
                <a:gd name="T9" fmla="*/ 0 h 77"/>
                <a:gd name="T10" fmla="*/ 139 w 168"/>
                <a:gd name="T11" fmla="*/ 14 h 77"/>
                <a:gd name="T12" fmla="*/ 84 w 168"/>
                <a:gd name="T13" fmla="*/ 15 h 77"/>
                <a:gd name="T14" fmla="*/ 67 w 168"/>
                <a:gd name="T15" fmla="*/ 33 h 77"/>
                <a:gd name="T16" fmla="*/ 53 w 168"/>
                <a:gd name="T17" fmla="*/ 33 h 77"/>
                <a:gd name="T18" fmla="*/ 60 w 168"/>
                <a:gd name="T19" fmla="*/ 47 h 77"/>
                <a:gd name="T20" fmla="*/ 50 w 168"/>
                <a:gd name="T21" fmla="*/ 66 h 77"/>
                <a:gd name="T22" fmla="*/ 52 w 168"/>
                <a:gd name="T23" fmla="*/ 77 h 77"/>
                <a:gd name="T24" fmla="*/ 57 w 168"/>
                <a:gd name="T25" fmla="*/ 72 h 77"/>
                <a:gd name="T26" fmla="*/ 67 w 168"/>
                <a:gd name="T27" fmla="*/ 69 h 77"/>
                <a:gd name="T28" fmla="*/ 89 w 168"/>
                <a:gd name="T29" fmla="*/ 53 h 77"/>
                <a:gd name="T30" fmla="*/ 111 w 168"/>
                <a:gd name="T31" fmla="*/ 59 h 77"/>
                <a:gd name="T32" fmla="*/ 168 w 168"/>
                <a:gd name="T33" fmla="*/ 9 h 77"/>
                <a:gd name="T34" fmla="*/ 152 w 168"/>
                <a:gd name="T35" fmla="*/ 0 h 77"/>
                <a:gd name="T36" fmla="*/ 0 w 168"/>
                <a:gd name="T37" fmla="*/ 58 h 77"/>
                <a:gd name="T38" fmla="*/ 4 w 168"/>
                <a:gd name="T39" fmla="*/ 67 h 77"/>
                <a:gd name="T40" fmla="*/ 24 w 168"/>
                <a:gd name="T41" fmla="*/ 61 h 77"/>
                <a:gd name="T42" fmla="*/ 28 w 168"/>
                <a:gd name="T43" fmla="*/ 48 h 77"/>
                <a:gd name="T44" fmla="*/ 11 w 168"/>
                <a:gd name="T45" fmla="*/ 47 h 77"/>
                <a:gd name="T46" fmla="*/ 0 w 168"/>
                <a:gd name="T47" fmla="*/ 58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68" h="77">
                  <a:moveTo>
                    <a:pt x="53" y="33"/>
                  </a:moveTo>
                  <a:cubicBezTo>
                    <a:pt x="53" y="33"/>
                    <a:pt x="53" y="33"/>
                    <a:pt x="53" y="33"/>
                  </a:cubicBezTo>
                  <a:cubicBezTo>
                    <a:pt x="53" y="33"/>
                    <a:pt x="53" y="33"/>
                    <a:pt x="53" y="33"/>
                  </a:cubicBezTo>
                  <a:cubicBezTo>
                    <a:pt x="53" y="33"/>
                    <a:pt x="53" y="33"/>
                    <a:pt x="53" y="33"/>
                  </a:cubicBezTo>
                  <a:close/>
                  <a:moveTo>
                    <a:pt x="152" y="0"/>
                  </a:moveTo>
                  <a:cubicBezTo>
                    <a:pt x="139" y="14"/>
                    <a:pt x="139" y="14"/>
                    <a:pt x="139" y="14"/>
                  </a:cubicBezTo>
                  <a:cubicBezTo>
                    <a:pt x="139" y="14"/>
                    <a:pt x="96" y="15"/>
                    <a:pt x="84" y="15"/>
                  </a:cubicBezTo>
                  <a:cubicBezTo>
                    <a:pt x="73" y="15"/>
                    <a:pt x="67" y="33"/>
                    <a:pt x="67" y="33"/>
                  </a:cubicBezTo>
                  <a:cubicBezTo>
                    <a:pt x="67" y="33"/>
                    <a:pt x="61" y="32"/>
                    <a:pt x="53" y="33"/>
                  </a:cubicBezTo>
                  <a:cubicBezTo>
                    <a:pt x="60" y="47"/>
                    <a:pt x="60" y="47"/>
                    <a:pt x="60" y="47"/>
                  </a:cubicBezTo>
                  <a:cubicBezTo>
                    <a:pt x="60" y="47"/>
                    <a:pt x="56" y="54"/>
                    <a:pt x="50" y="66"/>
                  </a:cubicBezTo>
                  <a:cubicBezTo>
                    <a:pt x="46" y="72"/>
                    <a:pt x="49" y="76"/>
                    <a:pt x="52" y="77"/>
                  </a:cubicBezTo>
                  <a:cubicBezTo>
                    <a:pt x="55" y="74"/>
                    <a:pt x="57" y="72"/>
                    <a:pt x="57" y="72"/>
                  </a:cubicBezTo>
                  <a:cubicBezTo>
                    <a:pt x="67" y="69"/>
                    <a:pt x="67" y="69"/>
                    <a:pt x="67" y="69"/>
                  </a:cubicBezTo>
                  <a:cubicBezTo>
                    <a:pt x="89" y="53"/>
                    <a:pt x="89" y="53"/>
                    <a:pt x="89" y="53"/>
                  </a:cubicBezTo>
                  <a:cubicBezTo>
                    <a:pt x="89" y="53"/>
                    <a:pt x="98" y="62"/>
                    <a:pt x="111" y="59"/>
                  </a:cubicBezTo>
                  <a:cubicBezTo>
                    <a:pt x="124" y="56"/>
                    <a:pt x="168" y="9"/>
                    <a:pt x="168" y="9"/>
                  </a:cubicBezTo>
                  <a:lnTo>
                    <a:pt x="152" y="0"/>
                  </a:lnTo>
                  <a:close/>
                  <a:moveTo>
                    <a:pt x="0" y="58"/>
                  </a:moveTo>
                  <a:cubicBezTo>
                    <a:pt x="4" y="67"/>
                    <a:pt x="4" y="67"/>
                    <a:pt x="4" y="67"/>
                  </a:cubicBezTo>
                  <a:cubicBezTo>
                    <a:pt x="15" y="58"/>
                    <a:pt x="24" y="61"/>
                    <a:pt x="24" y="61"/>
                  </a:cubicBezTo>
                  <a:cubicBezTo>
                    <a:pt x="24" y="61"/>
                    <a:pt x="24" y="54"/>
                    <a:pt x="28" y="48"/>
                  </a:cubicBezTo>
                  <a:cubicBezTo>
                    <a:pt x="11" y="47"/>
                    <a:pt x="11" y="47"/>
                    <a:pt x="11" y="47"/>
                  </a:cubicBezTo>
                  <a:lnTo>
                    <a:pt x="0" y="58"/>
                  </a:ln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543" name="Freeform 335">
              <a:extLst>
                <a:ext uri="{FF2B5EF4-FFF2-40B4-BE49-F238E27FC236}">
                  <a16:creationId xmlns:a16="http://schemas.microsoft.com/office/drawing/2014/main" id="{10821E7E-AF82-4385-8954-E9CFCF075531}"/>
                </a:ext>
              </a:extLst>
            </p:cNvPr>
            <p:cNvSpPr>
              <a:spLocks noEditPoints="1"/>
            </p:cNvSpPr>
            <p:nvPr/>
          </p:nvSpPr>
          <p:spPr bwMode="gray">
            <a:xfrm>
              <a:off x="9270228" y="2747464"/>
              <a:ext cx="495046" cy="314926"/>
            </a:xfrm>
            <a:custGeom>
              <a:avLst/>
              <a:gdLst>
                <a:gd name="T0" fmla="*/ 296 w 730"/>
                <a:gd name="T1" fmla="*/ 19 h 491"/>
                <a:gd name="T2" fmla="*/ 331 w 730"/>
                <a:gd name="T3" fmla="*/ 7 h 491"/>
                <a:gd name="T4" fmla="*/ 521 w 730"/>
                <a:gd name="T5" fmla="*/ 171 h 491"/>
                <a:gd name="T6" fmla="*/ 476 w 730"/>
                <a:gd name="T7" fmla="*/ 209 h 491"/>
                <a:gd name="T8" fmla="*/ 404 w 730"/>
                <a:gd name="T9" fmla="*/ 228 h 491"/>
                <a:gd name="T10" fmla="*/ 398 w 730"/>
                <a:gd name="T11" fmla="*/ 257 h 491"/>
                <a:gd name="T12" fmla="*/ 474 w 730"/>
                <a:gd name="T13" fmla="*/ 251 h 491"/>
                <a:gd name="T14" fmla="*/ 523 w 730"/>
                <a:gd name="T15" fmla="*/ 228 h 491"/>
                <a:gd name="T16" fmla="*/ 536 w 730"/>
                <a:gd name="T17" fmla="*/ 206 h 491"/>
                <a:gd name="T18" fmla="*/ 555 w 730"/>
                <a:gd name="T19" fmla="*/ 140 h 491"/>
                <a:gd name="T20" fmla="*/ 564 w 730"/>
                <a:gd name="T21" fmla="*/ 94 h 491"/>
                <a:gd name="T22" fmla="*/ 520 w 730"/>
                <a:gd name="T23" fmla="*/ 58 h 491"/>
                <a:gd name="T24" fmla="*/ 494 w 730"/>
                <a:gd name="T25" fmla="*/ 31 h 491"/>
                <a:gd name="T26" fmla="*/ 516 w 730"/>
                <a:gd name="T27" fmla="*/ 69 h 491"/>
                <a:gd name="T28" fmla="*/ 576 w 730"/>
                <a:gd name="T29" fmla="*/ 122 h 491"/>
                <a:gd name="T30" fmla="*/ 599 w 730"/>
                <a:gd name="T31" fmla="*/ 131 h 491"/>
                <a:gd name="T32" fmla="*/ 728 w 730"/>
                <a:gd name="T33" fmla="*/ 249 h 491"/>
                <a:gd name="T34" fmla="*/ 664 w 730"/>
                <a:gd name="T35" fmla="*/ 185 h 491"/>
                <a:gd name="T36" fmla="*/ 670 w 730"/>
                <a:gd name="T37" fmla="*/ 225 h 491"/>
                <a:gd name="T38" fmla="*/ 730 w 730"/>
                <a:gd name="T39" fmla="*/ 300 h 491"/>
                <a:gd name="T40" fmla="*/ 17 w 730"/>
                <a:gd name="T41" fmla="*/ 401 h 491"/>
                <a:gd name="T42" fmla="*/ 17 w 730"/>
                <a:gd name="T43" fmla="*/ 401 h 491"/>
                <a:gd name="T44" fmla="*/ 452 w 730"/>
                <a:gd name="T45" fmla="*/ 453 h 491"/>
                <a:gd name="T46" fmla="*/ 437 w 730"/>
                <a:gd name="T47" fmla="*/ 426 h 491"/>
                <a:gd name="T48" fmla="*/ 408 w 730"/>
                <a:gd name="T49" fmla="*/ 388 h 491"/>
                <a:gd name="T50" fmla="*/ 374 w 730"/>
                <a:gd name="T51" fmla="*/ 375 h 491"/>
                <a:gd name="T52" fmla="*/ 357 w 730"/>
                <a:gd name="T53" fmla="*/ 337 h 491"/>
                <a:gd name="T54" fmla="*/ 304 w 730"/>
                <a:gd name="T55" fmla="*/ 274 h 491"/>
                <a:gd name="T56" fmla="*/ 308 w 730"/>
                <a:gd name="T57" fmla="*/ 220 h 491"/>
                <a:gd name="T58" fmla="*/ 256 w 730"/>
                <a:gd name="T59" fmla="*/ 169 h 491"/>
                <a:gd name="T60" fmla="*/ 200 w 730"/>
                <a:gd name="T61" fmla="*/ 113 h 491"/>
                <a:gd name="T62" fmla="*/ 151 w 730"/>
                <a:gd name="T63" fmla="*/ 91 h 491"/>
                <a:gd name="T64" fmla="*/ 49 w 730"/>
                <a:gd name="T65" fmla="*/ 49 h 491"/>
                <a:gd name="T66" fmla="*/ 6 w 730"/>
                <a:gd name="T67" fmla="*/ 36 h 491"/>
                <a:gd name="T68" fmla="*/ 30 w 730"/>
                <a:gd name="T69" fmla="*/ 155 h 491"/>
                <a:gd name="T70" fmla="*/ 27 w 730"/>
                <a:gd name="T71" fmla="*/ 253 h 491"/>
                <a:gd name="T72" fmla="*/ 26 w 730"/>
                <a:gd name="T73" fmla="*/ 282 h 491"/>
                <a:gd name="T74" fmla="*/ 15 w 730"/>
                <a:gd name="T75" fmla="*/ 353 h 491"/>
                <a:gd name="T76" fmla="*/ 17 w 730"/>
                <a:gd name="T77" fmla="*/ 401 h 491"/>
                <a:gd name="T78" fmla="*/ 88 w 730"/>
                <a:gd name="T79" fmla="*/ 408 h 491"/>
                <a:gd name="T80" fmla="*/ 71 w 730"/>
                <a:gd name="T81" fmla="*/ 347 h 491"/>
                <a:gd name="T82" fmla="*/ 130 w 730"/>
                <a:gd name="T83" fmla="*/ 329 h 491"/>
                <a:gd name="T84" fmla="*/ 146 w 730"/>
                <a:gd name="T85" fmla="*/ 313 h 491"/>
                <a:gd name="T86" fmla="*/ 185 w 730"/>
                <a:gd name="T87" fmla="*/ 311 h 491"/>
                <a:gd name="T88" fmla="*/ 258 w 730"/>
                <a:gd name="T89" fmla="*/ 342 h 491"/>
                <a:gd name="T90" fmla="*/ 302 w 730"/>
                <a:gd name="T91" fmla="*/ 398 h 491"/>
                <a:gd name="T92" fmla="*/ 418 w 730"/>
                <a:gd name="T93" fmla="*/ 464 h 491"/>
                <a:gd name="T94" fmla="*/ 450 w 730"/>
                <a:gd name="T95" fmla="*/ 464 h 4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730" h="491">
                  <a:moveTo>
                    <a:pt x="331" y="7"/>
                  </a:moveTo>
                  <a:cubicBezTo>
                    <a:pt x="318" y="0"/>
                    <a:pt x="296" y="19"/>
                    <a:pt x="296" y="19"/>
                  </a:cubicBezTo>
                  <a:cubicBezTo>
                    <a:pt x="315" y="31"/>
                    <a:pt x="315" y="31"/>
                    <a:pt x="315" y="31"/>
                  </a:cubicBezTo>
                  <a:cubicBezTo>
                    <a:pt x="333" y="35"/>
                    <a:pt x="344" y="14"/>
                    <a:pt x="331" y="7"/>
                  </a:cubicBezTo>
                  <a:close/>
                  <a:moveTo>
                    <a:pt x="508" y="150"/>
                  </a:moveTo>
                  <a:cubicBezTo>
                    <a:pt x="499" y="159"/>
                    <a:pt x="521" y="171"/>
                    <a:pt x="521" y="171"/>
                  </a:cubicBezTo>
                  <a:cubicBezTo>
                    <a:pt x="523" y="184"/>
                    <a:pt x="523" y="184"/>
                    <a:pt x="523" y="184"/>
                  </a:cubicBezTo>
                  <a:cubicBezTo>
                    <a:pt x="476" y="209"/>
                    <a:pt x="476" y="209"/>
                    <a:pt x="476" y="209"/>
                  </a:cubicBezTo>
                  <a:cubicBezTo>
                    <a:pt x="476" y="209"/>
                    <a:pt x="452" y="207"/>
                    <a:pt x="436" y="210"/>
                  </a:cubicBezTo>
                  <a:cubicBezTo>
                    <a:pt x="420" y="213"/>
                    <a:pt x="414" y="222"/>
                    <a:pt x="404" y="228"/>
                  </a:cubicBezTo>
                  <a:cubicBezTo>
                    <a:pt x="394" y="234"/>
                    <a:pt x="388" y="222"/>
                    <a:pt x="382" y="234"/>
                  </a:cubicBezTo>
                  <a:cubicBezTo>
                    <a:pt x="398" y="257"/>
                    <a:pt x="398" y="257"/>
                    <a:pt x="398" y="257"/>
                  </a:cubicBezTo>
                  <a:cubicBezTo>
                    <a:pt x="463" y="260"/>
                    <a:pt x="463" y="260"/>
                    <a:pt x="463" y="260"/>
                  </a:cubicBezTo>
                  <a:cubicBezTo>
                    <a:pt x="474" y="251"/>
                    <a:pt x="474" y="251"/>
                    <a:pt x="474" y="251"/>
                  </a:cubicBezTo>
                  <a:cubicBezTo>
                    <a:pt x="474" y="251"/>
                    <a:pt x="486" y="251"/>
                    <a:pt x="499" y="250"/>
                  </a:cubicBezTo>
                  <a:cubicBezTo>
                    <a:pt x="513" y="248"/>
                    <a:pt x="523" y="228"/>
                    <a:pt x="523" y="228"/>
                  </a:cubicBezTo>
                  <a:cubicBezTo>
                    <a:pt x="542" y="223"/>
                    <a:pt x="542" y="223"/>
                    <a:pt x="542" y="223"/>
                  </a:cubicBezTo>
                  <a:cubicBezTo>
                    <a:pt x="536" y="206"/>
                    <a:pt x="536" y="206"/>
                    <a:pt x="536" y="206"/>
                  </a:cubicBezTo>
                  <a:cubicBezTo>
                    <a:pt x="554" y="209"/>
                    <a:pt x="554" y="209"/>
                    <a:pt x="554" y="209"/>
                  </a:cubicBezTo>
                  <a:cubicBezTo>
                    <a:pt x="554" y="209"/>
                    <a:pt x="562" y="157"/>
                    <a:pt x="555" y="140"/>
                  </a:cubicBezTo>
                  <a:cubicBezTo>
                    <a:pt x="548" y="122"/>
                    <a:pt x="517" y="141"/>
                    <a:pt x="508" y="150"/>
                  </a:cubicBezTo>
                  <a:close/>
                  <a:moveTo>
                    <a:pt x="564" y="94"/>
                  </a:moveTo>
                  <a:cubicBezTo>
                    <a:pt x="555" y="94"/>
                    <a:pt x="555" y="94"/>
                    <a:pt x="555" y="94"/>
                  </a:cubicBezTo>
                  <a:cubicBezTo>
                    <a:pt x="555" y="94"/>
                    <a:pt x="524" y="60"/>
                    <a:pt x="520" y="58"/>
                  </a:cubicBezTo>
                  <a:cubicBezTo>
                    <a:pt x="516" y="55"/>
                    <a:pt x="508" y="55"/>
                    <a:pt x="508" y="55"/>
                  </a:cubicBezTo>
                  <a:cubicBezTo>
                    <a:pt x="494" y="31"/>
                    <a:pt x="494" y="31"/>
                    <a:pt x="494" y="31"/>
                  </a:cubicBezTo>
                  <a:cubicBezTo>
                    <a:pt x="486" y="63"/>
                    <a:pt x="486" y="63"/>
                    <a:pt x="486" y="63"/>
                  </a:cubicBezTo>
                  <a:cubicBezTo>
                    <a:pt x="516" y="69"/>
                    <a:pt x="516" y="69"/>
                    <a:pt x="516" y="69"/>
                  </a:cubicBezTo>
                  <a:cubicBezTo>
                    <a:pt x="516" y="69"/>
                    <a:pt x="539" y="96"/>
                    <a:pt x="545" y="102"/>
                  </a:cubicBezTo>
                  <a:cubicBezTo>
                    <a:pt x="551" y="107"/>
                    <a:pt x="571" y="109"/>
                    <a:pt x="576" y="122"/>
                  </a:cubicBezTo>
                  <a:cubicBezTo>
                    <a:pt x="580" y="135"/>
                    <a:pt x="562" y="179"/>
                    <a:pt x="589" y="181"/>
                  </a:cubicBezTo>
                  <a:cubicBezTo>
                    <a:pt x="604" y="182"/>
                    <a:pt x="612" y="150"/>
                    <a:pt x="599" y="131"/>
                  </a:cubicBezTo>
                  <a:cubicBezTo>
                    <a:pt x="586" y="112"/>
                    <a:pt x="564" y="94"/>
                    <a:pt x="564" y="94"/>
                  </a:cubicBezTo>
                  <a:close/>
                  <a:moveTo>
                    <a:pt x="728" y="249"/>
                  </a:moveTo>
                  <a:cubicBezTo>
                    <a:pt x="687" y="202"/>
                    <a:pt x="687" y="202"/>
                    <a:pt x="687" y="202"/>
                  </a:cubicBezTo>
                  <a:cubicBezTo>
                    <a:pt x="687" y="202"/>
                    <a:pt x="683" y="177"/>
                    <a:pt x="664" y="185"/>
                  </a:cubicBezTo>
                  <a:cubicBezTo>
                    <a:pt x="653" y="190"/>
                    <a:pt x="659" y="206"/>
                    <a:pt x="659" y="206"/>
                  </a:cubicBezTo>
                  <a:cubicBezTo>
                    <a:pt x="670" y="225"/>
                    <a:pt x="670" y="225"/>
                    <a:pt x="670" y="225"/>
                  </a:cubicBezTo>
                  <a:cubicBezTo>
                    <a:pt x="687" y="257"/>
                    <a:pt x="687" y="257"/>
                    <a:pt x="687" y="257"/>
                  </a:cubicBezTo>
                  <a:cubicBezTo>
                    <a:pt x="730" y="300"/>
                    <a:pt x="730" y="300"/>
                    <a:pt x="730" y="300"/>
                  </a:cubicBezTo>
                  <a:lnTo>
                    <a:pt x="728" y="249"/>
                  </a:lnTo>
                  <a:close/>
                  <a:moveTo>
                    <a:pt x="17" y="401"/>
                  </a:moveTo>
                  <a:cubicBezTo>
                    <a:pt x="17" y="401"/>
                    <a:pt x="17" y="401"/>
                    <a:pt x="17" y="401"/>
                  </a:cubicBezTo>
                  <a:cubicBezTo>
                    <a:pt x="17" y="401"/>
                    <a:pt x="17" y="401"/>
                    <a:pt x="17" y="401"/>
                  </a:cubicBezTo>
                  <a:cubicBezTo>
                    <a:pt x="17" y="401"/>
                    <a:pt x="17" y="401"/>
                    <a:pt x="17" y="401"/>
                  </a:cubicBezTo>
                  <a:close/>
                  <a:moveTo>
                    <a:pt x="452" y="453"/>
                  </a:moveTo>
                  <a:cubicBezTo>
                    <a:pt x="425" y="436"/>
                    <a:pt x="425" y="436"/>
                    <a:pt x="425" y="436"/>
                  </a:cubicBezTo>
                  <a:cubicBezTo>
                    <a:pt x="437" y="426"/>
                    <a:pt x="437" y="426"/>
                    <a:pt x="437" y="426"/>
                  </a:cubicBezTo>
                  <a:cubicBezTo>
                    <a:pt x="437" y="426"/>
                    <a:pt x="413" y="425"/>
                    <a:pt x="406" y="418"/>
                  </a:cubicBezTo>
                  <a:cubicBezTo>
                    <a:pt x="400" y="411"/>
                    <a:pt x="408" y="397"/>
                    <a:pt x="408" y="388"/>
                  </a:cubicBezTo>
                  <a:cubicBezTo>
                    <a:pt x="408" y="379"/>
                    <a:pt x="375" y="396"/>
                    <a:pt x="375" y="396"/>
                  </a:cubicBezTo>
                  <a:cubicBezTo>
                    <a:pt x="374" y="375"/>
                    <a:pt x="374" y="375"/>
                    <a:pt x="374" y="375"/>
                  </a:cubicBezTo>
                  <a:cubicBezTo>
                    <a:pt x="357" y="367"/>
                    <a:pt x="357" y="367"/>
                    <a:pt x="357" y="367"/>
                  </a:cubicBezTo>
                  <a:cubicBezTo>
                    <a:pt x="357" y="337"/>
                    <a:pt x="357" y="337"/>
                    <a:pt x="357" y="337"/>
                  </a:cubicBezTo>
                  <a:cubicBezTo>
                    <a:pt x="321" y="311"/>
                    <a:pt x="321" y="311"/>
                    <a:pt x="321" y="311"/>
                  </a:cubicBezTo>
                  <a:cubicBezTo>
                    <a:pt x="304" y="274"/>
                    <a:pt x="304" y="274"/>
                    <a:pt x="304" y="274"/>
                  </a:cubicBezTo>
                  <a:cubicBezTo>
                    <a:pt x="304" y="274"/>
                    <a:pt x="342" y="261"/>
                    <a:pt x="342" y="245"/>
                  </a:cubicBezTo>
                  <a:cubicBezTo>
                    <a:pt x="342" y="229"/>
                    <a:pt x="308" y="220"/>
                    <a:pt x="308" y="220"/>
                  </a:cubicBezTo>
                  <a:cubicBezTo>
                    <a:pt x="306" y="216"/>
                    <a:pt x="256" y="202"/>
                    <a:pt x="256" y="202"/>
                  </a:cubicBezTo>
                  <a:cubicBezTo>
                    <a:pt x="256" y="202"/>
                    <a:pt x="252" y="189"/>
                    <a:pt x="256" y="169"/>
                  </a:cubicBezTo>
                  <a:cubicBezTo>
                    <a:pt x="260" y="150"/>
                    <a:pt x="232" y="147"/>
                    <a:pt x="232" y="147"/>
                  </a:cubicBezTo>
                  <a:cubicBezTo>
                    <a:pt x="200" y="113"/>
                    <a:pt x="200" y="113"/>
                    <a:pt x="200" y="113"/>
                  </a:cubicBezTo>
                  <a:cubicBezTo>
                    <a:pt x="175" y="114"/>
                    <a:pt x="175" y="114"/>
                    <a:pt x="175" y="114"/>
                  </a:cubicBezTo>
                  <a:cubicBezTo>
                    <a:pt x="151" y="91"/>
                    <a:pt x="151" y="91"/>
                    <a:pt x="151" y="91"/>
                  </a:cubicBezTo>
                  <a:cubicBezTo>
                    <a:pt x="131" y="87"/>
                    <a:pt x="131" y="87"/>
                    <a:pt x="131" y="87"/>
                  </a:cubicBezTo>
                  <a:cubicBezTo>
                    <a:pt x="49" y="49"/>
                    <a:pt x="49" y="49"/>
                    <a:pt x="49" y="49"/>
                  </a:cubicBezTo>
                  <a:cubicBezTo>
                    <a:pt x="33" y="55"/>
                    <a:pt x="33" y="55"/>
                    <a:pt x="33" y="55"/>
                  </a:cubicBezTo>
                  <a:cubicBezTo>
                    <a:pt x="6" y="36"/>
                    <a:pt x="6" y="36"/>
                    <a:pt x="6" y="36"/>
                  </a:cubicBezTo>
                  <a:cubicBezTo>
                    <a:pt x="32" y="55"/>
                    <a:pt x="32" y="55"/>
                    <a:pt x="32" y="55"/>
                  </a:cubicBezTo>
                  <a:cubicBezTo>
                    <a:pt x="32" y="75"/>
                    <a:pt x="30" y="139"/>
                    <a:pt x="30" y="155"/>
                  </a:cubicBezTo>
                  <a:cubicBezTo>
                    <a:pt x="30" y="175"/>
                    <a:pt x="22" y="197"/>
                    <a:pt x="24" y="212"/>
                  </a:cubicBezTo>
                  <a:cubicBezTo>
                    <a:pt x="26" y="227"/>
                    <a:pt x="27" y="253"/>
                    <a:pt x="27" y="253"/>
                  </a:cubicBezTo>
                  <a:cubicBezTo>
                    <a:pt x="27" y="253"/>
                    <a:pt x="0" y="271"/>
                    <a:pt x="11" y="277"/>
                  </a:cubicBezTo>
                  <a:cubicBezTo>
                    <a:pt x="22" y="284"/>
                    <a:pt x="26" y="282"/>
                    <a:pt x="26" y="282"/>
                  </a:cubicBezTo>
                  <a:cubicBezTo>
                    <a:pt x="26" y="282"/>
                    <a:pt x="23" y="319"/>
                    <a:pt x="21" y="327"/>
                  </a:cubicBezTo>
                  <a:cubicBezTo>
                    <a:pt x="19" y="334"/>
                    <a:pt x="15" y="353"/>
                    <a:pt x="15" y="353"/>
                  </a:cubicBezTo>
                  <a:cubicBezTo>
                    <a:pt x="19" y="369"/>
                    <a:pt x="19" y="369"/>
                    <a:pt x="19" y="369"/>
                  </a:cubicBezTo>
                  <a:cubicBezTo>
                    <a:pt x="17" y="401"/>
                    <a:pt x="17" y="401"/>
                    <a:pt x="17" y="401"/>
                  </a:cubicBezTo>
                  <a:cubicBezTo>
                    <a:pt x="34" y="405"/>
                    <a:pt x="75" y="396"/>
                    <a:pt x="75" y="396"/>
                  </a:cubicBezTo>
                  <a:cubicBezTo>
                    <a:pt x="88" y="408"/>
                    <a:pt x="88" y="408"/>
                    <a:pt x="88" y="408"/>
                  </a:cubicBezTo>
                  <a:cubicBezTo>
                    <a:pt x="88" y="408"/>
                    <a:pt x="114" y="398"/>
                    <a:pt x="126" y="388"/>
                  </a:cubicBezTo>
                  <a:cubicBezTo>
                    <a:pt x="138" y="377"/>
                    <a:pt x="71" y="347"/>
                    <a:pt x="71" y="347"/>
                  </a:cubicBezTo>
                  <a:cubicBezTo>
                    <a:pt x="71" y="347"/>
                    <a:pt x="126" y="355"/>
                    <a:pt x="138" y="353"/>
                  </a:cubicBezTo>
                  <a:cubicBezTo>
                    <a:pt x="150" y="350"/>
                    <a:pt x="130" y="329"/>
                    <a:pt x="130" y="329"/>
                  </a:cubicBezTo>
                  <a:cubicBezTo>
                    <a:pt x="130" y="329"/>
                    <a:pt x="146" y="341"/>
                    <a:pt x="151" y="338"/>
                  </a:cubicBezTo>
                  <a:cubicBezTo>
                    <a:pt x="156" y="336"/>
                    <a:pt x="146" y="313"/>
                    <a:pt x="146" y="313"/>
                  </a:cubicBezTo>
                  <a:cubicBezTo>
                    <a:pt x="146" y="313"/>
                    <a:pt x="156" y="322"/>
                    <a:pt x="163" y="324"/>
                  </a:cubicBezTo>
                  <a:cubicBezTo>
                    <a:pt x="169" y="325"/>
                    <a:pt x="179" y="312"/>
                    <a:pt x="185" y="311"/>
                  </a:cubicBezTo>
                  <a:cubicBezTo>
                    <a:pt x="192" y="309"/>
                    <a:pt x="202" y="329"/>
                    <a:pt x="209" y="333"/>
                  </a:cubicBezTo>
                  <a:cubicBezTo>
                    <a:pt x="215" y="337"/>
                    <a:pt x="240" y="332"/>
                    <a:pt x="258" y="342"/>
                  </a:cubicBezTo>
                  <a:cubicBezTo>
                    <a:pt x="277" y="353"/>
                    <a:pt x="270" y="376"/>
                    <a:pt x="277" y="388"/>
                  </a:cubicBezTo>
                  <a:cubicBezTo>
                    <a:pt x="283" y="400"/>
                    <a:pt x="296" y="392"/>
                    <a:pt x="302" y="398"/>
                  </a:cubicBezTo>
                  <a:cubicBezTo>
                    <a:pt x="307" y="405"/>
                    <a:pt x="316" y="446"/>
                    <a:pt x="330" y="456"/>
                  </a:cubicBezTo>
                  <a:cubicBezTo>
                    <a:pt x="345" y="466"/>
                    <a:pt x="409" y="460"/>
                    <a:pt x="418" y="464"/>
                  </a:cubicBezTo>
                  <a:cubicBezTo>
                    <a:pt x="427" y="468"/>
                    <a:pt x="447" y="491"/>
                    <a:pt x="459" y="491"/>
                  </a:cubicBezTo>
                  <a:cubicBezTo>
                    <a:pt x="471" y="491"/>
                    <a:pt x="450" y="464"/>
                    <a:pt x="450" y="464"/>
                  </a:cubicBezTo>
                  <a:lnTo>
                    <a:pt x="452" y="453"/>
                  </a:ln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544" name="Freeform 336">
              <a:extLst>
                <a:ext uri="{FF2B5EF4-FFF2-40B4-BE49-F238E27FC236}">
                  <a16:creationId xmlns:a16="http://schemas.microsoft.com/office/drawing/2014/main" id="{076E70D1-449F-4F7A-A6ED-BBEB3351BFF4}"/>
                </a:ext>
              </a:extLst>
            </p:cNvPr>
            <p:cNvSpPr>
              <a:spLocks noEditPoints="1"/>
            </p:cNvSpPr>
            <p:nvPr/>
          </p:nvSpPr>
          <p:spPr bwMode="gray">
            <a:xfrm>
              <a:off x="7813804" y="2491450"/>
              <a:ext cx="1477959" cy="563882"/>
            </a:xfrm>
            <a:custGeom>
              <a:avLst/>
              <a:gdLst>
                <a:gd name="T0" fmla="*/ 455 w 2179"/>
                <a:gd name="T1" fmla="*/ 287 h 879"/>
                <a:gd name="T2" fmla="*/ 603 w 2179"/>
                <a:gd name="T3" fmla="*/ 446 h 879"/>
                <a:gd name="T4" fmla="*/ 558 w 2179"/>
                <a:gd name="T5" fmla="*/ 443 h 879"/>
                <a:gd name="T6" fmla="*/ 162 w 2179"/>
                <a:gd name="T7" fmla="*/ 330 h 879"/>
                <a:gd name="T8" fmla="*/ 40 w 2179"/>
                <a:gd name="T9" fmla="*/ 174 h 879"/>
                <a:gd name="T10" fmla="*/ 1708 w 2179"/>
                <a:gd name="T11" fmla="*/ 314 h 879"/>
                <a:gd name="T12" fmla="*/ 1627 w 2179"/>
                <a:gd name="T13" fmla="*/ 412 h 879"/>
                <a:gd name="T14" fmla="*/ 1950 w 2179"/>
                <a:gd name="T15" fmla="*/ 413 h 879"/>
                <a:gd name="T16" fmla="*/ 1124 w 2179"/>
                <a:gd name="T17" fmla="*/ 485 h 879"/>
                <a:gd name="T18" fmla="*/ 1210 w 2179"/>
                <a:gd name="T19" fmla="*/ 476 h 879"/>
                <a:gd name="T20" fmla="*/ 1285 w 2179"/>
                <a:gd name="T21" fmla="*/ 614 h 879"/>
                <a:gd name="T22" fmla="*/ 1291 w 2179"/>
                <a:gd name="T23" fmla="*/ 446 h 879"/>
                <a:gd name="T24" fmla="*/ 1240 w 2179"/>
                <a:gd name="T25" fmla="*/ 370 h 879"/>
                <a:gd name="T26" fmla="*/ 1415 w 2179"/>
                <a:gd name="T27" fmla="*/ 258 h 879"/>
                <a:gd name="T28" fmla="*/ 1253 w 2179"/>
                <a:gd name="T29" fmla="*/ 232 h 879"/>
                <a:gd name="T30" fmla="*/ 1328 w 2179"/>
                <a:gd name="T31" fmla="*/ 387 h 879"/>
                <a:gd name="T32" fmla="*/ 1127 w 2179"/>
                <a:gd name="T33" fmla="*/ 743 h 879"/>
                <a:gd name="T34" fmla="*/ 1542 w 2179"/>
                <a:gd name="T35" fmla="*/ 370 h 879"/>
                <a:gd name="T36" fmla="*/ 1603 w 2179"/>
                <a:gd name="T37" fmla="*/ 288 h 879"/>
                <a:gd name="T38" fmla="*/ 1548 w 2179"/>
                <a:gd name="T39" fmla="*/ 230 h 879"/>
                <a:gd name="T40" fmla="*/ 1517 w 2179"/>
                <a:gd name="T41" fmla="*/ 471 h 879"/>
                <a:gd name="T42" fmla="*/ 1634 w 2179"/>
                <a:gd name="T43" fmla="*/ 448 h 879"/>
                <a:gd name="T44" fmla="*/ 1654 w 2179"/>
                <a:gd name="T45" fmla="*/ 509 h 879"/>
                <a:gd name="T46" fmla="*/ 2007 w 2179"/>
                <a:gd name="T47" fmla="*/ 423 h 879"/>
                <a:gd name="T48" fmla="*/ 1820 w 2179"/>
                <a:gd name="T49" fmla="*/ 350 h 879"/>
                <a:gd name="T50" fmla="*/ 1749 w 2179"/>
                <a:gd name="T51" fmla="*/ 393 h 879"/>
                <a:gd name="T52" fmla="*/ 1790 w 2179"/>
                <a:gd name="T53" fmla="*/ 530 h 879"/>
                <a:gd name="T54" fmla="*/ 1964 w 2179"/>
                <a:gd name="T55" fmla="*/ 567 h 879"/>
                <a:gd name="T56" fmla="*/ 2077 w 2179"/>
                <a:gd name="T57" fmla="*/ 729 h 879"/>
                <a:gd name="T58" fmla="*/ 2168 w 2179"/>
                <a:gd name="T59" fmla="*/ 726 h 879"/>
                <a:gd name="T60" fmla="*/ 258 w 2179"/>
                <a:gd name="T61" fmla="*/ 478 h 879"/>
                <a:gd name="T62" fmla="*/ 2037 w 2179"/>
                <a:gd name="T63" fmla="*/ 711 h 879"/>
                <a:gd name="T64" fmla="*/ 1860 w 2179"/>
                <a:gd name="T65" fmla="*/ 679 h 879"/>
                <a:gd name="T66" fmla="*/ 1427 w 2179"/>
                <a:gd name="T67" fmla="*/ 403 h 879"/>
                <a:gd name="T68" fmla="*/ 863 w 2179"/>
                <a:gd name="T69" fmla="*/ 677 h 879"/>
                <a:gd name="T70" fmla="*/ 499 w 2179"/>
                <a:gd name="T71" fmla="*/ 620 h 879"/>
                <a:gd name="T72" fmla="*/ 450 w 2179"/>
                <a:gd name="T73" fmla="*/ 413 h 879"/>
                <a:gd name="T74" fmla="*/ 340 w 2179"/>
                <a:gd name="T75" fmla="*/ 238 h 879"/>
                <a:gd name="T76" fmla="*/ 151 w 2179"/>
                <a:gd name="T77" fmla="*/ 72 h 879"/>
                <a:gd name="T78" fmla="*/ 119 w 2179"/>
                <a:gd name="T79" fmla="*/ 154 h 879"/>
                <a:gd name="T80" fmla="*/ 275 w 2179"/>
                <a:gd name="T81" fmla="*/ 408 h 879"/>
                <a:gd name="T82" fmla="*/ 444 w 2179"/>
                <a:gd name="T83" fmla="*/ 630 h 879"/>
                <a:gd name="T84" fmla="*/ 1408 w 2179"/>
                <a:gd name="T85" fmla="*/ 828 h 879"/>
                <a:gd name="T86" fmla="*/ 778 w 2179"/>
                <a:gd name="T87" fmla="*/ 674 h 879"/>
                <a:gd name="T88" fmla="*/ 535 w 2179"/>
                <a:gd name="T89" fmla="*/ 624 h 879"/>
                <a:gd name="T90" fmla="*/ 705 w 2179"/>
                <a:gd name="T91" fmla="*/ 728 h 879"/>
                <a:gd name="T92" fmla="*/ 1004 w 2179"/>
                <a:gd name="T93" fmla="*/ 484 h 879"/>
                <a:gd name="T94" fmla="*/ 1139 w 2179"/>
                <a:gd name="T95" fmla="*/ 271 h 879"/>
                <a:gd name="T96" fmla="*/ 1086 w 2179"/>
                <a:gd name="T97" fmla="*/ 110 h 879"/>
                <a:gd name="T98" fmla="*/ 939 w 2179"/>
                <a:gd name="T99" fmla="*/ 208 h 879"/>
                <a:gd name="T100" fmla="*/ 712 w 2179"/>
                <a:gd name="T101" fmla="*/ 247 h 879"/>
                <a:gd name="T102" fmla="*/ 716 w 2179"/>
                <a:gd name="T103" fmla="*/ 388 h 879"/>
                <a:gd name="T104" fmla="*/ 822 w 2179"/>
                <a:gd name="T105" fmla="*/ 472 h 879"/>
                <a:gd name="T106" fmla="*/ 974 w 2179"/>
                <a:gd name="T107" fmla="*/ 755 h 879"/>
                <a:gd name="T108" fmla="*/ 1187 w 2179"/>
                <a:gd name="T109" fmla="*/ 827 h 879"/>
                <a:gd name="T110" fmla="*/ 1151 w 2179"/>
                <a:gd name="T111" fmla="*/ 787 h 879"/>
                <a:gd name="T112" fmla="*/ 1056 w 2179"/>
                <a:gd name="T113" fmla="*/ 774 h 879"/>
                <a:gd name="T114" fmla="*/ 1067 w 2179"/>
                <a:gd name="T115" fmla="*/ 771 h 8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179" h="879">
                  <a:moveTo>
                    <a:pt x="1196" y="656"/>
                  </a:moveTo>
                  <a:cubicBezTo>
                    <a:pt x="1210" y="655"/>
                    <a:pt x="1210" y="655"/>
                    <a:pt x="1210" y="655"/>
                  </a:cubicBezTo>
                  <a:cubicBezTo>
                    <a:pt x="1218" y="637"/>
                    <a:pt x="1218" y="637"/>
                    <a:pt x="1218" y="637"/>
                  </a:cubicBezTo>
                  <a:cubicBezTo>
                    <a:pt x="1215" y="622"/>
                    <a:pt x="1215" y="622"/>
                    <a:pt x="1215" y="622"/>
                  </a:cubicBezTo>
                  <a:lnTo>
                    <a:pt x="1196" y="656"/>
                  </a:lnTo>
                  <a:close/>
                  <a:moveTo>
                    <a:pt x="453" y="310"/>
                  </a:moveTo>
                  <a:cubicBezTo>
                    <a:pt x="472" y="321"/>
                    <a:pt x="472" y="321"/>
                    <a:pt x="472" y="321"/>
                  </a:cubicBezTo>
                  <a:cubicBezTo>
                    <a:pt x="472" y="300"/>
                    <a:pt x="472" y="300"/>
                    <a:pt x="472" y="300"/>
                  </a:cubicBezTo>
                  <a:cubicBezTo>
                    <a:pt x="455" y="287"/>
                    <a:pt x="455" y="287"/>
                    <a:pt x="455" y="287"/>
                  </a:cubicBezTo>
                  <a:lnTo>
                    <a:pt x="453" y="310"/>
                  </a:lnTo>
                  <a:close/>
                  <a:moveTo>
                    <a:pt x="455" y="331"/>
                  </a:moveTo>
                  <a:cubicBezTo>
                    <a:pt x="441" y="344"/>
                    <a:pt x="441" y="344"/>
                    <a:pt x="441" y="344"/>
                  </a:cubicBezTo>
                  <a:cubicBezTo>
                    <a:pt x="458" y="365"/>
                    <a:pt x="458" y="365"/>
                    <a:pt x="458" y="365"/>
                  </a:cubicBezTo>
                  <a:lnTo>
                    <a:pt x="455" y="331"/>
                  </a:lnTo>
                  <a:close/>
                  <a:moveTo>
                    <a:pt x="611" y="478"/>
                  </a:moveTo>
                  <a:cubicBezTo>
                    <a:pt x="624" y="491"/>
                    <a:pt x="624" y="491"/>
                    <a:pt x="624" y="491"/>
                  </a:cubicBezTo>
                  <a:cubicBezTo>
                    <a:pt x="630" y="474"/>
                    <a:pt x="630" y="474"/>
                    <a:pt x="630" y="474"/>
                  </a:cubicBezTo>
                  <a:cubicBezTo>
                    <a:pt x="630" y="474"/>
                    <a:pt x="622" y="444"/>
                    <a:pt x="603" y="446"/>
                  </a:cubicBezTo>
                  <a:cubicBezTo>
                    <a:pt x="584" y="447"/>
                    <a:pt x="590" y="466"/>
                    <a:pt x="596" y="484"/>
                  </a:cubicBezTo>
                  <a:lnTo>
                    <a:pt x="611" y="478"/>
                  </a:lnTo>
                  <a:close/>
                  <a:moveTo>
                    <a:pt x="459" y="249"/>
                  </a:moveTo>
                  <a:cubicBezTo>
                    <a:pt x="454" y="237"/>
                    <a:pt x="440" y="244"/>
                    <a:pt x="450" y="260"/>
                  </a:cubicBezTo>
                  <a:cubicBezTo>
                    <a:pt x="461" y="279"/>
                    <a:pt x="464" y="261"/>
                    <a:pt x="459" y="249"/>
                  </a:cubicBezTo>
                  <a:close/>
                  <a:moveTo>
                    <a:pt x="507" y="418"/>
                  </a:moveTo>
                  <a:cubicBezTo>
                    <a:pt x="507" y="418"/>
                    <a:pt x="512" y="447"/>
                    <a:pt x="523" y="459"/>
                  </a:cubicBezTo>
                  <a:cubicBezTo>
                    <a:pt x="533" y="471"/>
                    <a:pt x="559" y="471"/>
                    <a:pt x="559" y="471"/>
                  </a:cubicBezTo>
                  <a:cubicBezTo>
                    <a:pt x="558" y="443"/>
                    <a:pt x="558" y="443"/>
                    <a:pt x="558" y="443"/>
                  </a:cubicBezTo>
                  <a:cubicBezTo>
                    <a:pt x="546" y="435"/>
                    <a:pt x="546" y="435"/>
                    <a:pt x="546" y="435"/>
                  </a:cubicBezTo>
                  <a:cubicBezTo>
                    <a:pt x="545" y="415"/>
                    <a:pt x="545" y="415"/>
                    <a:pt x="545" y="415"/>
                  </a:cubicBezTo>
                  <a:cubicBezTo>
                    <a:pt x="545" y="415"/>
                    <a:pt x="530" y="390"/>
                    <a:pt x="508" y="384"/>
                  </a:cubicBezTo>
                  <a:cubicBezTo>
                    <a:pt x="486" y="378"/>
                    <a:pt x="487" y="403"/>
                    <a:pt x="487" y="403"/>
                  </a:cubicBezTo>
                  <a:cubicBezTo>
                    <a:pt x="487" y="403"/>
                    <a:pt x="473" y="399"/>
                    <a:pt x="480" y="419"/>
                  </a:cubicBezTo>
                  <a:lnTo>
                    <a:pt x="507" y="418"/>
                  </a:lnTo>
                  <a:close/>
                  <a:moveTo>
                    <a:pt x="169" y="296"/>
                  </a:moveTo>
                  <a:cubicBezTo>
                    <a:pt x="154" y="310"/>
                    <a:pt x="154" y="310"/>
                    <a:pt x="154" y="310"/>
                  </a:cubicBezTo>
                  <a:cubicBezTo>
                    <a:pt x="162" y="330"/>
                    <a:pt x="162" y="330"/>
                    <a:pt x="162" y="330"/>
                  </a:cubicBezTo>
                  <a:cubicBezTo>
                    <a:pt x="162" y="330"/>
                    <a:pt x="152" y="348"/>
                    <a:pt x="164" y="344"/>
                  </a:cubicBezTo>
                  <a:cubicBezTo>
                    <a:pt x="171" y="341"/>
                    <a:pt x="168" y="316"/>
                    <a:pt x="168" y="316"/>
                  </a:cubicBezTo>
                  <a:cubicBezTo>
                    <a:pt x="175" y="307"/>
                    <a:pt x="175" y="307"/>
                    <a:pt x="175" y="307"/>
                  </a:cubicBezTo>
                  <a:lnTo>
                    <a:pt x="169" y="296"/>
                  </a:lnTo>
                  <a:close/>
                  <a:moveTo>
                    <a:pt x="180" y="360"/>
                  </a:moveTo>
                  <a:cubicBezTo>
                    <a:pt x="170" y="372"/>
                    <a:pt x="176" y="414"/>
                    <a:pt x="198" y="410"/>
                  </a:cubicBezTo>
                  <a:cubicBezTo>
                    <a:pt x="207" y="408"/>
                    <a:pt x="191" y="348"/>
                    <a:pt x="180" y="360"/>
                  </a:cubicBezTo>
                  <a:close/>
                  <a:moveTo>
                    <a:pt x="35" y="152"/>
                  </a:moveTo>
                  <a:cubicBezTo>
                    <a:pt x="30" y="157"/>
                    <a:pt x="28" y="173"/>
                    <a:pt x="40" y="174"/>
                  </a:cubicBezTo>
                  <a:cubicBezTo>
                    <a:pt x="52" y="176"/>
                    <a:pt x="55" y="189"/>
                    <a:pt x="66" y="181"/>
                  </a:cubicBezTo>
                  <a:cubicBezTo>
                    <a:pt x="73" y="175"/>
                    <a:pt x="40" y="146"/>
                    <a:pt x="35" y="152"/>
                  </a:cubicBezTo>
                  <a:close/>
                  <a:moveTo>
                    <a:pt x="112" y="221"/>
                  </a:moveTo>
                  <a:cubicBezTo>
                    <a:pt x="104" y="221"/>
                    <a:pt x="94" y="234"/>
                    <a:pt x="106" y="242"/>
                  </a:cubicBezTo>
                  <a:cubicBezTo>
                    <a:pt x="118" y="250"/>
                    <a:pt x="122" y="280"/>
                    <a:pt x="134" y="280"/>
                  </a:cubicBezTo>
                  <a:cubicBezTo>
                    <a:pt x="141" y="280"/>
                    <a:pt x="142" y="249"/>
                    <a:pt x="138" y="245"/>
                  </a:cubicBezTo>
                  <a:cubicBezTo>
                    <a:pt x="134" y="241"/>
                    <a:pt x="120" y="221"/>
                    <a:pt x="112" y="221"/>
                  </a:cubicBezTo>
                  <a:close/>
                  <a:moveTo>
                    <a:pt x="1721" y="328"/>
                  </a:moveTo>
                  <a:cubicBezTo>
                    <a:pt x="1721" y="328"/>
                    <a:pt x="1725" y="316"/>
                    <a:pt x="1708" y="314"/>
                  </a:cubicBezTo>
                  <a:cubicBezTo>
                    <a:pt x="1691" y="311"/>
                    <a:pt x="1680" y="316"/>
                    <a:pt x="1680" y="316"/>
                  </a:cubicBezTo>
                  <a:cubicBezTo>
                    <a:pt x="1684" y="334"/>
                    <a:pt x="1684" y="334"/>
                    <a:pt x="1684" y="334"/>
                  </a:cubicBezTo>
                  <a:cubicBezTo>
                    <a:pt x="1693" y="333"/>
                    <a:pt x="1721" y="328"/>
                    <a:pt x="1721" y="328"/>
                  </a:cubicBezTo>
                  <a:close/>
                  <a:moveTo>
                    <a:pt x="230" y="434"/>
                  </a:moveTo>
                  <a:cubicBezTo>
                    <a:pt x="239" y="433"/>
                    <a:pt x="226" y="413"/>
                    <a:pt x="218" y="418"/>
                  </a:cubicBezTo>
                  <a:cubicBezTo>
                    <a:pt x="211" y="422"/>
                    <a:pt x="220" y="436"/>
                    <a:pt x="230" y="434"/>
                  </a:cubicBezTo>
                  <a:close/>
                  <a:moveTo>
                    <a:pt x="1652" y="438"/>
                  </a:moveTo>
                  <a:cubicBezTo>
                    <a:pt x="1674" y="429"/>
                    <a:pt x="1672" y="413"/>
                    <a:pt x="1672" y="413"/>
                  </a:cubicBezTo>
                  <a:cubicBezTo>
                    <a:pt x="1627" y="412"/>
                    <a:pt x="1627" y="412"/>
                    <a:pt x="1627" y="412"/>
                  </a:cubicBezTo>
                  <a:cubicBezTo>
                    <a:pt x="1627" y="412"/>
                    <a:pt x="1630" y="447"/>
                    <a:pt x="1652" y="438"/>
                  </a:cubicBezTo>
                  <a:close/>
                  <a:moveTo>
                    <a:pt x="1609" y="194"/>
                  </a:moveTo>
                  <a:cubicBezTo>
                    <a:pt x="1624" y="182"/>
                    <a:pt x="1618" y="175"/>
                    <a:pt x="1605" y="171"/>
                  </a:cubicBezTo>
                  <a:cubicBezTo>
                    <a:pt x="1592" y="167"/>
                    <a:pt x="1586" y="172"/>
                    <a:pt x="1586" y="172"/>
                  </a:cubicBezTo>
                  <a:cubicBezTo>
                    <a:pt x="1586" y="172"/>
                    <a:pt x="1601" y="202"/>
                    <a:pt x="1609" y="194"/>
                  </a:cubicBezTo>
                  <a:close/>
                  <a:moveTo>
                    <a:pt x="1918" y="353"/>
                  </a:moveTo>
                  <a:cubicBezTo>
                    <a:pt x="1937" y="362"/>
                    <a:pt x="1945" y="353"/>
                    <a:pt x="1930" y="346"/>
                  </a:cubicBezTo>
                  <a:cubicBezTo>
                    <a:pt x="1916" y="340"/>
                    <a:pt x="1910" y="349"/>
                    <a:pt x="1918" y="353"/>
                  </a:cubicBezTo>
                  <a:close/>
                  <a:moveTo>
                    <a:pt x="1950" y="413"/>
                  </a:moveTo>
                  <a:cubicBezTo>
                    <a:pt x="1959" y="413"/>
                    <a:pt x="1986" y="406"/>
                    <a:pt x="1986" y="406"/>
                  </a:cubicBezTo>
                  <a:cubicBezTo>
                    <a:pt x="1986" y="406"/>
                    <a:pt x="1962" y="396"/>
                    <a:pt x="1957" y="395"/>
                  </a:cubicBezTo>
                  <a:cubicBezTo>
                    <a:pt x="1953" y="394"/>
                    <a:pt x="1924" y="400"/>
                    <a:pt x="1924" y="400"/>
                  </a:cubicBezTo>
                  <a:cubicBezTo>
                    <a:pt x="1924" y="400"/>
                    <a:pt x="1940" y="413"/>
                    <a:pt x="1950" y="413"/>
                  </a:cubicBezTo>
                  <a:close/>
                  <a:moveTo>
                    <a:pt x="1145" y="370"/>
                  </a:moveTo>
                  <a:cubicBezTo>
                    <a:pt x="1142" y="380"/>
                    <a:pt x="1161" y="400"/>
                    <a:pt x="1153" y="409"/>
                  </a:cubicBezTo>
                  <a:cubicBezTo>
                    <a:pt x="1145" y="418"/>
                    <a:pt x="1122" y="424"/>
                    <a:pt x="1120" y="437"/>
                  </a:cubicBezTo>
                  <a:cubicBezTo>
                    <a:pt x="1119" y="451"/>
                    <a:pt x="1130" y="464"/>
                    <a:pt x="1130" y="464"/>
                  </a:cubicBezTo>
                  <a:cubicBezTo>
                    <a:pt x="1130" y="464"/>
                    <a:pt x="1114" y="478"/>
                    <a:pt x="1124" y="485"/>
                  </a:cubicBezTo>
                  <a:cubicBezTo>
                    <a:pt x="1135" y="492"/>
                    <a:pt x="1153" y="477"/>
                    <a:pt x="1157" y="489"/>
                  </a:cubicBezTo>
                  <a:cubicBezTo>
                    <a:pt x="1161" y="501"/>
                    <a:pt x="1153" y="510"/>
                    <a:pt x="1153" y="510"/>
                  </a:cubicBezTo>
                  <a:cubicBezTo>
                    <a:pt x="1164" y="524"/>
                    <a:pt x="1164" y="524"/>
                    <a:pt x="1164" y="524"/>
                  </a:cubicBezTo>
                  <a:cubicBezTo>
                    <a:pt x="1158" y="568"/>
                    <a:pt x="1158" y="568"/>
                    <a:pt x="1158" y="568"/>
                  </a:cubicBezTo>
                  <a:cubicBezTo>
                    <a:pt x="1158" y="568"/>
                    <a:pt x="1134" y="582"/>
                    <a:pt x="1146" y="606"/>
                  </a:cubicBezTo>
                  <a:cubicBezTo>
                    <a:pt x="1157" y="630"/>
                    <a:pt x="1173" y="630"/>
                    <a:pt x="1191" y="612"/>
                  </a:cubicBezTo>
                  <a:cubicBezTo>
                    <a:pt x="1208" y="595"/>
                    <a:pt x="1188" y="566"/>
                    <a:pt x="1188" y="566"/>
                  </a:cubicBezTo>
                  <a:cubicBezTo>
                    <a:pt x="1188" y="566"/>
                    <a:pt x="1209" y="551"/>
                    <a:pt x="1209" y="530"/>
                  </a:cubicBezTo>
                  <a:cubicBezTo>
                    <a:pt x="1208" y="508"/>
                    <a:pt x="1217" y="489"/>
                    <a:pt x="1210" y="476"/>
                  </a:cubicBezTo>
                  <a:cubicBezTo>
                    <a:pt x="1202" y="464"/>
                    <a:pt x="1198" y="439"/>
                    <a:pt x="1200" y="434"/>
                  </a:cubicBezTo>
                  <a:cubicBezTo>
                    <a:pt x="1201" y="429"/>
                    <a:pt x="1207" y="401"/>
                    <a:pt x="1217" y="419"/>
                  </a:cubicBezTo>
                  <a:cubicBezTo>
                    <a:pt x="1228" y="437"/>
                    <a:pt x="1228" y="468"/>
                    <a:pt x="1228" y="468"/>
                  </a:cubicBezTo>
                  <a:cubicBezTo>
                    <a:pt x="1251" y="494"/>
                    <a:pt x="1251" y="494"/>
                    <a:pt x="1251" y="494"/>
                  </a:cubicBezTo>
                  <a:cubicBezTo>
                    <a:pt x="1248" y="529"/>
                    <a:pt x="1248" y="529"/>
                    <a:pt x="1248" y="529"/>
                  </a:cubicBezTo>
                  <a:cubicBezTo>
                    <a:pt x="1265" y="551"/>
                    <a:pt x="1265" y="551"/>
                    <a:pt x="1265" y="551"/>
                  </a:cubicBezTo>
                  <a:cubicBezTo>
                    <a:pt x="1266" y="575"/>
                    <a:pt x="1266" y="575"/>
                    <a:pt x="1266" y="575"/>
                  </a:cubicBezTo>
                  <a:cubicBezTo>
                    <a:pt x="1275" y="624"/>
                    <a:pt x="1275" y="624"/>
                    <a:pt x="1275" y="624"/>
                  </a:cubicBezTo>
                  <a:cubicBezTo>
                    <a:pt x="1285" y="614"/>
                    <a:pt x="1285" y="614"/>
                    <a:pt x="1285" y="614"/>
                  </a:cubicBezTo>
                  <a:cubicBezTo>
                    <a:pt x="1312" y="622"/>
                    <a:pt x="1312" y="622"/>
                    <a:pt x="1312" y="622"/>
                  </a:cubicBezTo>
                  <a:cubicBezTo>
                    <a:pt x="1312" y="622"/>
                    <a:pt x="1314" y="605"/>
                    <a:pt x="1313" y="592"/>
                  </a:cubicBezTo>
                  <a:cubicBezTo>
                    <a:pt x="1312" y="579"/>
                    <a:pt x="1319" y="572"/>
                    <a:pt x="1319" y="572"/>
                  </a:cubicBezTo>
                  <a:cubicBezTo>
                    <a:pt x="1325" y="588"/>
                    <a:pt x="1325" y="588"/>
                    <a:pt x="1325" y="588"/>
                  </a:cubicBezTo>
                  <a:cubicBezTo>
                    <a:pt x="1325" y="588"/>
                    <a:pt x="1342" y="590"/>
                    <a:pt x="1344" y="574"/>
                  </a:cubicBezTo>
                  <a:cubicBezTo>
                    <a:pt x="1345" y="558"/>
                    <a:pt x="1341" y="546"/>
                    <a:pt x="1341" y="546"/>
                  </a:cubicBezTo>
                  <a:cubicBezTo>
                    <a:pt x="1341" y="546"/>
                    <a:pt x="1301" y="514"/>
                    <a:pt x="1303" y="502"/>
                  </a:cubicBezTo>
                  <a:cubicBezTo>
                    <a:pt x="1305" y="490"/>
                    <a:pt x="1324" y="477"/>
                    <a:pt x="1313" y="467"/>
                  </a:cubicBezTo>
                  <a:cubicBezTo>
                    <a:pt x="1301" y="457"/>
                    <a:pt x="1292" y="454"/>
                    <a:pt x="1291" y="446"/>
                  </a:cubicBezTo>
                  <a:cubicBezTo>
                    <a:pt x="1291" y="437"/>
                    <a:pt x="1304" y="418"/>
                    <a:pt x="1290" y="412"/>
                  </a:cubicBezTo>
                  <a:cubicBezTo>
                    <a:pt x="1277" y="407"/>
                    <a:pt x="1257" y="390"/>
                    <a:pt x="1257" y="390"/>
                  </a:cubicBezTo>
                  <a:cubicBezTo>
                    <a:pt x="1257" y="390"/>
                    <a:pt x="1279" y="395"/>
                    <a:pt x="1289" y="385"/>
                  </a:cubicBezTo>
                  <a:cubicBezTo>
                    <a:pt x="1298" y="376"/>
                    <a:pt x="1308" y="354"/>
                    <a:pt x="1308" y="354"/>
                  </a:cubicBezTo>
                  <a:cubicBezTo>
                    <a:pt x="1308" y="354"/>
                    <a:pt x="1347" y="356"/>
                    <a:pt x="1348" y="348"/>
                  </a:cubicBezTo>
                  <a:cubicBezTo>
                    <a:pt x="1349" y="339"/>
                    <a:pt x="1338" y="324"/>
                    <a:pt x="1328" y="323"/>
                  </a:cubicBezTo>
                  <a:cubicBezTo>
                    <a:pt x="1317" y="323"/>
                    <a:pt x="1310" y="341"/>
                    <a:pt x="1310" y="341"/>
                  </a:cubicBezTo>
                  <a:cubicBezTo>
                    <a:pt x="1310" y="341"/>
                    <a:pt x="1281" y="333"/>
                    <a:pt x="1269" y="337"/>
                  </a:cubicBezTo>
                  <a:cubicBezTo>
                    <a:pt x="1258" y="340"/>
                    <a:pt x="1252" y="369"/>
                    <a:pt x="1240" y="370"/>
                  </a:cubicBezTo>
                  <a:cubicBezTo>
                    <a:pt x="1229" y="370"/>
                    <a:pt x="1230" y="350"/>
                    <a:pt x="1213" y="340"/>
                  </a:cubicBezTo>
                  <a:cubicBezTo>
                    <a:pt x="1196" y="330"/>
                    <a:pt x="1188" y="333"/>
                    <a:pt x="1188" y="333"/>
                  </a:cubicBezTo>
                  <a:cubicBezTo>
                    <a:pt x="1188" y="333"/>
                    <a:pt x="1193" y="274"/>
                    <a:pt x="1209" y="273"/>
                  </a:cubicBezTo>
                  <a:cubicBezTo>
                    <a:pt x="1225" y="272"/>
                    <a:pt x="1255" y="283"/>
                    <a:pt x="1269" y="279"/>
                  </a:cubicBezTo>
                  <a:cubicBezTo>
                    <a:pt x="1282" y="276"/>
                    <a:pt x="1273" y="264"/>
                    <a:pt x="1284" y="266"/>
                  </a:cubicBezTo>
                  <a:cubicBezTo>
                    <a:pt x="1296" y="267"/>
                    <a:pt x="1349" y="293"/>
                    <a:pt x="1359" y="294"/>
                  </a:cubicBezTo>
                  <a:cubicBezTo>
                    <a:pt x="1370" y="294"/>
                    <a:pt x="1372" y="285"/>
                    <a:pt x="1379" y="281"/>
                  </a:cubicBezTo>
                  <a:cubicBezTo>
                    <a:pt x="1386" y="277"/>
                    <a:pt x="1399" y="283"/>
                    <a:pt x="1408" y="278"/>
                  </a:cubicBezTo>
                  <a:cubicBezTo>
                    <a:pt x="1417" y="272"/>
                    <a:pt x="1406" y="267"/>
                    <a:pt x="1415" y="258"/>
                  </a:cubicBezTo>
                  <a:cubicBezTo>
                    <a:pt x="1423" y="249"/>
                    <a:pt x="1443" y="240"/>
                    <a:pt x="1443" y="240"/>
                  </a:cubicBezTo>
                  <a:cubicBezTo>
                    <a:pt x="1436" y="220"/>
                    <a:pt x="1436" y="220"/>
                    <a:pt x="1436" y="220"/>
                  </a:cubicBezTo>
                  <a:cubicBezTo>
                    <a:pt x="1384" y="242"/>
                    <a:pt x="1384" y="242"/>
                    <a:pt x="1384" y="242"/>
                  </a:cubicBezTo>
                  <a:cubicBezTo>
                    <a:pt x="1384" y="242"/>
                    <a:pt x="1396" y="255"/>
                    <a:pt x="1381" y="256"/>
                  </a:cubicBezTo>
                  <a:cubicBezTo>
                    <a:pt x="1366" y="257"/>
                    <a:pt x="1353" y="248"/>
                    <a:pt x="1344" y="248"/>
                  </a:cubicBezTo>
                  <a:cubicBezTo>
                    <a:pt x="1336" y="248"/>
                    <a:pt x="1321" y="261"/>
                    <a:pt x="1311" y="259"/>
                  </a:cubicBezTo>
                  <a:cubicBezTo>
                    <a:pt x="1300" y="256"/>
                    <a:pt x="1275" y="244"/>
                    <a:pt x="1268" y="244"/>
                  </a:cubicBezTo>
                  <a:cubicBezTo>
                    <a:pt x="1261" y="244"/>
                    <a:pt x="1245" y="244"/>
                    <a:pt x="1245" y="244"/>
                  </a:cubicBezTo>
                  <a:cubicBezTo>
                    <a:pt x="1253" y="232"/>
                    <a:pt x="1253" y="232"/>
                    <a:pt x="1253" y="232"/>
                  </a:cubicBezTo>
                  <a:cubicBezTo>
                    <a:pt x="1253" y="232"/>
                    <a:pt x="1226" y="225"/>
                    <a:pt x="1223" y="228"/>
                  </a:cubicBezTo>
                  <a:cubicBezTo>
                    <a:pt x="1219" y="232"/>
                    <a:pt x="1224" y="249"/>
                    <a:pt x="1212" y="256"/>
                  </a:cubicBezTo>
                  <a:cubicBezTo>
                    <a:pt x="1201" y="263"/>
                    <a:pt x="1179" y="261"/>
                    <a:pt x="1179" y="267"/>
                  </a:cubicBezTo>
                  <a:cubicBezTo>
                    <a:pt x="1179" y="273"/>
                    <a:pt x="1178" y="287"/>
                    <a:pt x="1178" y="287"/>
                  </a:cubicBezTo>
                  <a:cubicBezTo>
                    <a:pt x="1164" y="289"/>
                    <a:pt x="1164" y="289"/>
                    <a:pt x="1164" y="289"/>
                  </a:cubicBezTo>
                  <a:cubicBezTo>
                    <a:pt x="1174" y="336"/>
                    <a:pt x="1174" y="336"/>
                    <a:pt x="1174" y="336"/>
                  </a:cubicBezTo>
                  <a:cubicBezTo>
                    <a:pt x="1164" y="335"/>
                    <a:pt x="1164" y="335"/>
                    <a:pt x="1164" y="335"/>
                  </a:cubicBezTo>
                  <a:cubicBezTo>
                    <a:pt x="1164" y="335"/>
                    <a:pt x="1147" y="360"/>
                    <a:pt x="1145" y="370"/>
                  </a:cubicBezTo>
                  <a:close/>
                  <a:moveTo>
                    <a:pt x="1328" y="387"/>
                  </a:moveTo>
                  <a:cubicBezTo>
                    <a:pt x="1328" y="400"/>
                    <a:pt x="1328" y="400"/>
                    <a:pt x="1328" y="400"/>
                  </a:cubicBezTo>
                  <a:cubicBezTo>
                    <a:pt x="1328" y="400"/>
                    <a:pt x="1343" y="412"/>
                    <a:pt x="1350" y="395"/>
                  </a:cubicBezTo>
                  <a:cubicBezTo>
                    <a:pt x="1358" y="379"/>
                    <a:pt x="1328" y="387"/>
                    <a:pt x="1328" y="387"/>
                  </a:cubicBezTo>
                  <a:close/>
                  <a:moveTo>
                    <a:pt x="1127" y="743"/>
                  </a:moveTo>
                  <a:cubicBezTo>
                    <a:pt x="1118" y="740"/>
                    <a:pt x="1111" y="746"/>
                    <a:pt x="1111" y="746"/>
                  </a:cubicBezTo>
                  <a:cubicBezTo>
                    <a:pt x="1080" y="739"/>
                    <a:pt x="1080" y="739"/>
                    <a:pt x="1080" y="739"/>
                  </a:cubicBezTo>
                  <a:cubicBezTo>
                    <a:pt x="1099" y="766"/>
                    <a:pt x="1099" y="766"/>
                    <a:pt x="1099" y="766"/>
                  </a:cubicBezTo>
                  <a:cubicBezTo>
                    <a:pt x="1099" y="766"/>
                    <a:pt x="1126" y="793"/>
                    <a:pt x="1132" y="775"/>
                  </a:cubicBezTo>
                  <a:cubicBezTo>
                    <a:pt x="1137" y="758"/>
                    <a:pt x="1136" y="746"/>
                    <a:pt x="1127" y="743"/>
                  </a:cubicBezTo>
                  <a:close/>
                  <a:moveTo>
                    <a:pt x="1400" y="740"/>
                  </a:moveTo>
                  <a:cubicBezTo>
                    <a:pt x="1379" y="754"/>
                    <a:pt x="1379" y="754"/>
                    <a:pt x="1379" y="754"/>
                  </a:cubicBezTo>
                  <a:cubicBezTo>
                    <a:pt x="1400" y="759"/>
                    <a:pt x="1400" y="759"/>
                    <a:pt x="1400" y="759"/>
                  </a:cubicBezTo>
                  <a:lnTo>
                    <a:pt x="1400" y="740"/>
                  </a:lnTo>
                  <a:close/>
                  <a:moveTo>
                    <a:pt x="327" y="200"/>
                  </a:moveTo>
                  <a:cubicBezTo>
                    <a:pt x="315" y="190"/>
                    <a:pt x="304" y="196"/>
                    <a:pt x="310" y="212"/>
                  </a:cubicBezTo>
                  <a:cubicBezTo>
                    <a:pt x="314" y="226"/>
                    <a:pt x="339" y="209"/>
                    <a:pt x="327" y="200"/>
                  </a:cubicBezTo>
                  <a:close/>
                  <a:moveTo>
                    <a:pt x="1569" y="393"/>
                  </a:moveTo>
                  <a:cubicBezTo>
                    <a:pt x="1561" y="383"/>
                    <a:pt x="1542" y="370"/>
                    <a:pt x="1542" y="370"/>
                  </a:cubicBezTo>
                  <a:cubicBezTo>
                    <a:pt x="1540" y="400"/>
                    <a:pt x="1540" y="400"/>
                    <a:pt x="1540" y="400"/>
                  </a:cubicBezTo>
                  <a:cubicBezTo>
                    <a:pt x="1552" y="408"/>
                    <a:pt x="1578" y="404"/>
                    <a:pt x="1569" y="393"/>
                  </a:cubicBezTo>
                  <a:close/>
                  <a:moveTo>
                    <a:pt x="1543" y="318"/>
                  </a:moveTo>
                  <a:cubicBezTo>
                    <a:pt x="1552" y="325"/>
                    <a:pt x="1590" y="359"/>
                    <a:pt x="1599" y="356"/>
                  </a:cubicBezTo>
                  <a:cubicBezTo>
                    <a:pt x="1608" y="353"/>
                    <a:pt x="1598" y="340"/>
                    <a:pt x="1587" y="334"/>
                  </a:cubicBezTo>
                  <a:cubicBezTo>
                    <a:pt x="1577" y="328"/>
                    <a:pt x="1571" y="316"/>
                    <a:pt x="1581" y="306"/>
                  </a:cubicBezTo>
                  <a:cubicBezTo>
                    <a:pt x="1592" y="296"/>
                    <a:pt x="1611" y="306"/>
                    <a:pt x="1611" y="306"/>
                  </a:cubicBezTo>
                  <a:cubicBezTo>
                    <a:pt x="1620" y="299"/>
                    <a:pt x="1620" y="299"/>
                    <a:pt x="1620" y="299"/>
                  </a:cubicBezTo>
                  <a:cubicBezTo>
                    <a:pt x="1603" y="288"/>
                    <a:pt x="1603" y="288"/>
                    <a:pt x="1603" y="288"/>
                  </a:cubicBezTo>
                  <a:cubicBezTo>
                    <a:pt x="1603" y="288"/>
                    <a:pt x="1617" y="281"/>
                    <a:pt x="1620" y="269"/>
                  </a:cubicBezTo>
                  <a:cubicBezTo>
                    <a:pt x="1623" y="258"/>
                    <a:pt x="1608" y="250"/>
                    <a:pt x="1598" y="249"/>
                  </a:cubicBezTo>
                  <a:cubicBezTo>
                    <a:pt x="1587" y="247"/>
                    <a:pt x="1577" y="274"/>
                    <a:pt x="1565" y="275"/>
                  </a:cubicBezTo>
                  <a:cubicBezTo>
                    <a:pt x="1554" y="277"/>
                    <a:pt x="1557" y="250"/>
                    <a:pt x="1557" y="250"/>
                  </a:cubicBezTo>
                  <a:cubicBezTo>
                    <a:pt x="1557" y="250"/>
                    <a:pt x="1567" y="237"/>
                    <a:pt x="1570" y="227"/>
                  </a:cubicBezTo>
                  <a:cubicBezTo>
                    <a:pt x="1573" y="216"/>
                    <a:pt x="1567" y="211"/>
                    <a:pt x="1567" y="211"/>
                  </a:cubicBezTo>
                  <a:cubicBezTo>
                    <a:pt x="1576" y="184"/>
                    <a:pt x="1576" y="184"/>
                    <a:pt x="1576" y="184"/>
                  </a:cubicBezTo>
                  <a:cubicBezTo>
                    <a:pt x="1548" y="211"/>
                    <a:pt x="1548" y="211"/>
                    <a:pt x="1548" y="211"/>
                  </a:cubicBezTo>
                  <a:cubicBezTo>
                    <a:pt x="1548" y="230"/>
                    <a:pt x="1548" y="230"/>
                    <a:pt x="1548" y="230"/>
                  </a:cubicBezTo>
                  <a:cubicBezTo>
                    <a:pt x="1548" y="230"/>
                    <a:pt x="1525" y="240"/>
                    <a:pt x="1527" y="265"/>
                  </a:cubicBezTo>
                  <a:cubicBezTo>
                    <a:pt x="1529" y="281"/>
                    <a:pt x="1540" y="284"/>
                    <a:pt x="1543" y="293"/>
                  </a:cubicBezTo>
                  <a:cubicBezTo>
                    <a:pt x="1546" y="302"/>
                    <a:pt x="1535" y="310"/>
                    <a:pt x="1543" y="318"/>
                  </a:cubicBezTo>
                  <a:close/>
                  <a:moveTo>
                    <a:pt x="1505" y="474"/>
                  </a:moveTo>
                  <a:cubicBezTo>
                    <a:pt x="1496" y="464"/>
                    <a:pt x="1496" y="464"/>
                    <a:pt x="1496" y="464"/>
                  </a:cubicBezTo>
                  <a:cubicBezTo>
                    <a:pt x="1482" y="475"/>
                    <a:pt x="1482" y="475"/>
                    <a:pt x="1482" y="475"/>
                  </a:cubicBezTo>
                  <a:cubicBezTo>
                    <a:pt x="1482" y="475"/>
                    <a:pt x="1475" y="494"/>
                    <a:pt x="1489" y="503"/>
                  </a:cubicBezTo>
                  <a:cubicBezTo>
                    <a:pt x="1502" y="513"/>
                    <a:pt x="1521" y="509"/>
                    <a:pt x="1521" y="509"/>
                  </a:cubicBezTo>
                  <a:cubicBezTo>
                    <a:pt x="1529" y="498"/>
                    <a:pt x="1517" y="471"/>
                    <a:pt x="1517" y="471"/>
                  </a:cubicBezTo>
                  <a:lnTo>
                    <a:pt x="1505" y="474"/>
                  </a:lnTo>
                  <a:close/>
                  <a:moveTo>
                    <a:pt x="1437" y="740"/>
                  </a:moveTo>
                  <a:cubicBezTo>
                    <a:pt x="1487" y="728"/>
                    <a:pt x="1487" y="728"/>
                    <a:pt x="1487" y="728"/>
                  </a:cubicBezTo>
                  <a:cubicBezTo>
                    <a:pt x="1449" y="718"/>
                    <a:pt x="1449" y="718"/>
                    <a:pt x="1449" y="718"/>
                  </a:cubicBezTo>
                  <a:lnTo>
                    <a:pt x="1437" y="740"/>
                  </a:lnTo>
                  <a:close/>
                  <a:moveTo>
                    <a:pt x="1700" y="502"/>
                  </a:moveTo>
                  <a:cubicBezTo>
                    <a:pt x="1686" y="490"/>
                    <a:pt x="1686" y="490"/>
                    <a:pt x="1686" y="490"/>
                  </a:cubicBezTo>
                  <a:cubicBezTo>
                    <a:pt x="1687" y="479"/>
                    <a:pt x="1687" y="479"/>
                    <a:pt x="1687" y="479"/>
                  </a:cubicBezTo>
                  <a:cubicBezTo>
                    <a:pt x="1687" y="479"/>
                    <a:pt x="1681" y="458"/>
                    <a:pt x="1634" y="448"/>
                  </a:cubicBezTo>
                  <a:cubicBezTo>
                    <a:pt x="1618" y="444"/>
                    <a:pt x="1608" y="454"/>
                    <a:pt x="1597" y="459"/>
                  </a:cubicBezTo>
                  <a:cubicBezTo>
                    <a:pt x="1591" y="461"/>
                    <a:pt x="1583" y="457"/>
                    <a:pt x="1579" y="460"/>
                  </a:cubicBezTo>
                  <a:cubicBezTo>
                    <a:pt x="1566" y="468"/>
                    <a:pt x="1562" y="484"/>
                    <a:pt x="1566" y="487"/>
                  </a:cubicBezTo>
                  <a:cubicBezTo>
                    <a:pt x="1573" y="493"/>
                    <a:pt x="1580" y="479"/>
                    <a:pt x="1580" y="479"/>
                  </a:cubicBezTo>
                  <a:cubicBezTo>
                    <a:pt x="1580" y="479"/>
                    <a:pt x="1580" y="495"/>
                    <a:pt x="1591" y="497"/>
                  </a:cubicBezTo>
                  <a:cubicBezTo>
                    <a:pt x="1602" y="498"/>
                    <a:pt x="1604" y="478"/>
                    <a:pt x="1604" y="478"/>
                  </a:cubicBezTo>
                  <a:cubicBezTo>
                    <a:pt x="1604" y="478"/>
                    <a:pt x="1612" y="489"/>
                    <a:pt x="1619" y="489"/>
                  </a:cubicBezTo>
                  <a:cubicBezTo>
                    <a:pt x="1626" y="489"/>
                    <a:pt x="1644" y="474"/>
                    <a:pt x="1644" y="474"/>
                  </a:cubicBezTo>
                  <a:cubicBezTo>
                    <a:pt x="1654" y="509"/>
                    <a:pt x="1654" y="509"/>
                    <a:pt x="1654" y="509"/>
                  </a:cubicBezTo>
                  <a:cubicBezTo>
                    <a:pt x="1673" y="495"/>
                    <a:pt x="1673" y="495"/>
                    <a:pt x="1673" y="495"/>
                  </a:cubicBezTo>
                  <a:cubicBezTo>
                    <a:pt x="1695" y="519"/>
                    <a:pt x="1695" y="519"/>
                    <a:pt x="1695" y="519"/>
                  </a:cubicBezTo>
                  <a:lnTo>
                    <a:pt x="1700" y="502"/>
                  </a:lnTo>
                  <a:close/>
                  <a:moveTo>
                    <a:pt x="2179" y="454"/>
                  </a:moveTo>
                  <a:cubicBezTo>
                    <a:pt x="2153" y="435"/>
                    <a:pt x="2153" y="435"/>
                    <a:pt x="2153" y="435"/>
                  </a:cubicBezTo>
                  <a:cubicBezTo>
                    <a:pt x="2153" y="435"/>
                    <a:pt x="2134" y="437"/>
                    <a:pt x="2124" y="437"/>
                  </a:cubicBezTo>
                  <a:cubicBezTo>
                    <a:pt x="2113" y="437"/>
                    <a:pt x="2045" y="394"/>
                    <a:pt x="2032" y="390"/>
                  </a:cubicBezTo>
                  <a:cubicBezTo>
                    <a:pt x="2019" y="386"/>
                    <a:pt x="1998" y="405"/>
                    <a:pt x="1998" y="405"/>
                  </a:cubicBezTo>
                  <a:cubicBezTo>
                    <a:pt x="2007" y="423"/>
                    <a:pt x="2007" y="423"/>
                    <a:pt x="2007" y="423"/>
                  </a:cubicBezTo>
                  <a:cubicBezTo>
                    <a:pt x="1956" y="428"/>
                    <a:pt x="1956" y="428"/>
                    <a:pt x="1956" y="428"/>
                  </a:cubicBezTo>
                  <a:cubicBezTo>
                    <a:pt x="1960" y="446"/>
                    <a:pt x="1960" y="446"/>
                    <a:pt x="1960" y="446"/>
                  </a:cubicBezTo>
                  <a:cubicBezTo>
                    <a:pt x="1960" y="446"/>
                    <a:pt x="1950" y="477"/>
                    <a:pt x="1913" y="484"/>
                  </a:cubicBezTo>
                  <a:cubicBezTo>
                    <a:pt x="1876" y="492"/>
                    <a:pt x="1886" y="443"/>
                    <a:pt x="1880" y="443"/>
                  </a:cubicBezTo>
                  <a:cubicBezTo>
                    <a:pt x="1875" y="443"/>
                    <a:pt x="1869" y="465"/>
                    <a:pt x="1869" y="465"/>
                  </a:cubicBezTo>
                  <a:cubicBezTo>
                    <a:pt x="1869" y="465"/>
                    <a:pt x="1861" y="448"/>
                    <a:pt x="1861" y="439"/>
                  </a:cubicBezTo>
                  <a:cubicBezTo>
                    <a:pt x="1861" y="429"/>
                    <a:pt x="1862" y="402"/>
                    <a:pt x="1859" y="385"/>
                  </a:cubicBezTo>
                  <a:cubicBezTo>
                    <a:pt x="1857" y="368"/>
                    <a:pt x="1846" y="350"/>
                    <a:pt x="1846" y="350"/>
                  </a:cubicBezTo>
                  <a:cubicBezTo>
                    <a:pt x="1820" y="350"/>
                    <a:pt x="1820" y="350"/>
                    <a:pt x="1820" y="350"/>
                  </a:cubicBezTo>
                  <a:cubicBezTo>
                    <a:pt x="1820" y="350"/>
                    <a:pt x="1799" y="326"/>
                    <a:pt x="1781" y="326"/>
                  </a:cubicBezTo>
                  <a:cubicBezTo>
                    <a:pt x="1763" y="326"/>
                    <a:pt x="1744" y="351"/>
                    <a:pt x="1744" y="351"/>
                  </a:cubicBezTo>
                  <a:cubicBezTo>
                    <a:pt x="1728" y="355"/>
                    <a:pt x="1728" y="355"/>
                    <a:pt x="1728" y="355"/>
                  </a:cubicBezTo>
                  <a:cubicBezTo>
                    <a:pt x="1723" y="367"/>
                    <a:pt x="1723" y="367"/>
                    <a:pt x="1723" y="367"/>
                  </a:cubicBezTo>
                  <a:cubicBezTo>
                    <a:pt x="1711" y="373"/>
                    <a:pt x="1711" y="373"/>
                    <a:pt x="1711" y="373"/>
                  </a:cubicBezTo>
                  <a:cubicBezTo>
                    <a:pt x="1711" y="364"/>
                    <a:pt x="1711" y="364"/>
                    <a:pt x="1711" y="364"/>
                  </a:cubicBezTo>
                  <a:cubicBezTo>
                    <a:pt x="1711" y="364"/>
                    <a:pt x="1704" y="352"/>
                    <a:pt x="1693" y="356"/>
                  </a:cubicBezTo>
                  <a:cubicBezTo>
                    <a:pt x="1693" y="356"/>
                    <a:pt x="1693" y="369"/>
                    <a:pt x="1702" y="382"/>
                  </a:cubicBezTo>
                  <a:cubicBezTo>
                    <a:pt x="1711" y="395"/>
                    <a:pt x="1732" y="388"/>
                    <a:pt x="1749" y="393"/>
                  </a:cubicBezTo>
                  <a:cubicBezTo>
                    <a:pt x="1766" y="398"/>
                    <a:pt x="1751" y="406"/>
                    <a:pt x="1760" y="422"/>
                  </a:cubicBezTo>
                  <a:cubicBezTo>
                    <a:pt x="1769" y="437"/>
                    <a:pt x="1799" y="424"/>
                    <a:pt x="1821" y="424"/>
                  </a:cubicBezTo>
                  <a:cubicBezTo>
                    <a:pt x="1844" y="424"/>
                    <a:pt x="1845" y="429"/>
                    <a:pt x="1845" y="440"/>
                  </a:cubicBezTo>
                  <a:cubicBezTo>
                    <a:pt x="1845" y="450"/>
                    <a:pt x="1819" y="440"/>
                    <a:pt x="1811" y="441"/>
                  </a:cubicBezTo>
                  <a:cubicBezTo>
                    <a:pt x="1803" y="443"/>
                    <a:pt x="1785" y="454"/>
                    <a:pt x="1785" y="454"/>
                  </a:cubicBezTo>
                  <a:cubicBezTo>
                    <a:pt x="1785" y="454"/>
                    <a:pt x="1757" y="454"/>
                    <a:pt x="1751" y="461"/>
                  </a:cubicBezTo>
                  <a:cubicBezTo>
                    <a:pt x="1744" y="467"/>
                    <a:pt x="1774" y="474"/>
                    <a:pt x="1781" y="478"/>
                  </a:cubicBezTo>
                  <a:cubicBezTo>
                    <a:pt x="1787" y="482"/>
                    <a:pt x="1797" y="498"/>
                    <a:pt x="1797" y="498"/>
                  </a:cubicBezTo>
                  <a:cubicBezTo>
                    <a:pt x="1797" y="498"/>
                    <a:pt x="1781" y="517"/>
                    <a:pt x="1790" y="530"/>
                  </a:cubicBezTo>
                  <a:cubicBezTo>
                    <a:pt x="1799" y="543"/>
                    <a:pt x="1819" y="508"/>
                    <a:pt x="1819" y="504"/>
                  </a:cubicBezTo>
                  <a:cubicBezTo>
                    <a:pt x="1819" y="500"/>
                    <a:pt x="1838" y="471"/>
                    <a:pt x="1838" y="471"/>
                  </a:cubicBezTo>
                  <a:cubicBezTo>
                    <a:pt x="1836" y="496"/>
                    <a:pt x="1836" y="496"/>
                    <a:pt x="1836" y="496"/>
                  </a:cubicBezTo>
                  <a:cubicBezTo>
                    <a:pt x="1836" y="496"/>
                    <a:pt x="1849" y="509"/>
                    <a:pt x="1859" y="518"/>
                  </a:cubicBezTo>
                  <a:cubicBezTo>
                    <a:pt x="1870" y="528"/>
                    <a:pt x="1891" y="520"/>
                    <a:pt x="1891" y="520"/>
                  </a:cubicBezTo>
                  <a:cubicBezTo>
                    <a:pt x="1882" y="529"/>
                    <a:pt x="1882" y="529"/>
                    <a:pt x="1882" y="529"/>
                  </a:cubicBezTo>
                  <a:cubicBezTo>
                    <a:pt x="1903" y="549"/>
                    <a:pt x="1903" y="549"/>
                    <a:pt x="1903" y="549"/>
                  </a:cubicBezTo>
                  <a:cubicBezTo>
                    <a:pt x="1941" y="550"/>
                    <a:pt x="1941" y="550"/>
                    <a:pt x="1941" y="550"/>
                  </a:cubicBezTo>
                  <a:cubicBezTo>
                    <a:pt x="1964" y="567"/>
                    <a:pt x="1964" y="567"/>
                    <a:pt x="1964" y="567"/>
                  </a:cubicBezTo>
                  <a:cubicBezTo>
                    <a:pt x="1964" y="567"/>
                    <a:pt x="2006" y="581"/>
                    <a:pt x="2030" y="598"/>
                  </a:cubicBezTo>
                  <a:cubicBezTo>
                    <a:pt x="2053" y="615"/>
                    <a:pt x="2048" y="621"/>
                    <a:pt x="2049" y="640"/>
                  </a:cubicBezTo>
                  <a:cubicBezTo>
                    <a:pt x="2051" y="660"/>
                    <a:pt x="2073" y="669"/>
                    <a:pt x="2073" y="669"/>
                  </a:cubicBezTo>
                  <a:cubicBezTo>
                    <a:pt x="2073" y="669"/>
                    <a:pt x="2056" y="672"/>
                    <a:pt x="2056" y="681"/>
                  </a:cubicBezTo>
                  <a:cubicBezTo>
                    <a:pt x="2056" y="690"/>
                    <a:pt x="2082" y="691"/>
                    <a:pt x="2082" y="691"/>
                  </a:cubicBezTo>
                  <a:cubicBezTo>
                    <a:pt x="2066" y="697"/>
                    <a:pt x="2066" y="697"/>
                    <a:pt x="2066" y="697"/>
                  </a:cubicBezTo>
                  <a:cubicBezTo>
                    <a:pt x="2067" y="705"/>
                    <a:pt x="2067" y="705"/>
                    <a:pt x="2067" y="705"/>
                  </a:cubicBezTo>
                  <a:cubicBezTo>
                    <a:pt x="2072" y="708"/>
                    <a:pt x="2072" y="708"/>
                    <a:pt x="2072" y="708"/>
                  </a:cubicBezTo>
                  <a:cubicBezTo>
                    <a:pt x="2077" y="729"/>
                    <a:pt x="2077" y="729"/>
                    <a:pt x="2077" y="729"/>
                  </a:cubicBezTo>
                  <a:cubicBezTo>
                    <a:pt x="2067" y="750"/>
                    <a:pt x="2067" y="750"/>
                    <a:pt x="2067" y="750"/>
                  </a:cubicBezTo>
                  <a:cubicBezTo>
                    <a:pt x="2073" y="749"/>
                    <a:pt x="2078" y="748"/>
                    <a:pt x="2081" y="749"/>
                  </a:cubicBezTo>
                  <a:cubicBezTo>
                    <a:pt x="2086" y="752"/>
                    <a:pt x="2120" y="737"/>
                    <a:pt x="2120" y="737"/>
                  </a:cubicBezTo>
                  <a:cubicBezTo>
                    <a:pt x="2120" y="755"/>
                    <a:pt x="2120" y="755"/>
                    <a:pt x="2120" y="755"/>
                  </a:cubicBezTo>
                  <a:cubicBezTo>
                    <a:pt x="2120" y="755"/>
                    <a:pt x="2147" y="788"/>
                    <a:pt x="2159" y="797"/>
                  </a:cubicBezTo>
                  <a:cubicBezTo>
                    <a:pt x="2161" y="798"/>
                    <a:pt x="2162" y="799"/>
                    <a:pt x="2164" y="800"/>
                  </a:cubicBezTo>
                  <a:cubicBezTo>
                    <a:pt x="2166" y="768"/>
                    <a:pt x="2166" y="768"/>
                    <a:pt x="2166" y="768"/>
                  </a:cubicBezTo>
                  <a:cubicBezTo>
                    <a:pt x="2162" y="752"/>
                    <a:pt x="2162" y="752"/>
                    <a:pt x="2162" y="752"/>
                  </a:cubicBezTo>
                  <a:cubicBezTo>
                    <a:pt x="2162" y="752"/>
                    <a:pt x="2166" y="733"/>
                    <a:pt x="2168" y="726"/>
                  </a:cubicBezTo>
                  <a:cubicBezTo>
                    <a:pt x="2170" y="718"/>
                    <a:pt x="2173" y="681"/>
                    <a:pt x="2173" y="681"/>
                  </a:cubicBezTo>
                  <a:cubicBezTo>
                    <a:pt x="2173" y="681"/>
                    <a:pt x="2169" y="683"/>
                    <a:pt x="2158" y="676"/>
                  </a:cubicBezTo>
                  <a:cubicBezTo>
                    <a:pt x="2147" y="670"/>
                    <a:pt x="2174" y="652"/>
                    <a:pt x="2174" y="652"/>
                  </a:cubicBezTo>
                  <a:cubicBezTo>
                    <a:pt x="2174" y="652"/>
                    <a:pt x="2173" y="626"/>
                    <a:pt x="2171" y="611"/>
                  </a:cubicBezTo>
                  <a:cubicBezTo>
                    <a:pt x="2169" y="596"/>
                    <a:pt x="2177" y="574"/>
                    <a:pt x="2177" y="554"/>
                  </a:cubicBezTo>
                  <a:cubicBezTo>
                    <a:pt x="2177" y="538"/>
                    <a:pt x="2179" y="474"/>
                    <a:pt x="2179" y="454"/>
                  </a:cubicBezTo>
                  <a:close/>
                  <a:moveTo>
                    <a:pt x="228" y="446"/>
                  </a:moveTo>
                  <a:cubicBezTo>
                    <a:pt x="220" y="453"/>
                    <a:pt x="238" y="462"/>
                    <a:pt x="238" y="462"/>
                  </a:cubicBezTo>
                  <a:cubicBezTo>
                    <a:pt x="238" y="462"/>
                    <a:pt x="250" y="486"/>
                    <a:pt x="258" y="478"/>
                  </a:cubicBezTo>
                  <a:cubicBezTo>
                    <a:pt x="266" y="470"/>
                    <a:pt x="234" y="442"/>
                    <a:pt x="228" y="446"/>
                  </a:cubicBezTo>
                  <a:close/>
                  <a:moveTo>
                    <a:pt x="1691" y="739"/>
                  </a:moveTo>
                  <a:cubicBezTo>
                    <a:pt x="1701" y="745"/>
                    <a:pt x="1701" y="745"/>
                    <a:pt x="1701" y="745"/>
                  </a:cubicBezTo>
                  <a:cubicBezTo>
                    <a:pt x="1720" y="730"/>
                    <a:pt x="1720" y="730"/>
                    <a:pt x="1720" y="730"/>
                  </a:cubicBezTo>
                  <a:cubicBezTo>
                    <a:pt x="1720" y="730"/>
                    <a:pt x="1742" y="738"/>
                    <a:pt x="1742" y="716"/>
                  </a:cubicBezTo>
                  <a:cubicBezTo>
                    <a:pt x="1742" y="694"/>
                    <a:pt x="1691" y="720"/>
                    <a:pt x="1691" y="739"/>
                  </a:cubicBezTo>
                  <a:close/>
                  <a:moveTo>
                    <a:pt x="2068" y="714"/>
                  </a:moveTo>
                  <a:cubicBezTo>
                    <a:pt x="2067" y="713"/>
                    <a:pt x="2067" y="713"/>
                    <a:pt x="2067" y="713"/>
                  </a:cubicBezTo>
                  <a:cubicBezTo>
                    <a:pt x="2065" y="710"/>
                    <a:pt x="2056" y="702"/>
                    <a:pt x="2037" y="711"/>
                  </a:cubicBezTo>
                  <a:cubicBezTo>
                    <a:pt x="2015" y="721"/>
                    <a:pt x="2011" y="759"/>
                    <a:pt x="2011" y="759"/>
                  </a:cubicBezTo>
                  <a:cubicBezTo>
                    <a:pt x="2053" y="754"/>
                    <a:pt x="2053" y="754"/>
                    <a:pt x="2053" y="754"/>
                  </a:cubicBezTo>
                  <a:cubicBezTo>
                    <a:pt x="2053" y="754"/>
                    <a:pt x="2059" y="752"/>
                    <a:pt x="2066" y="750"/>
                  </a:cubicBezTo>
                  <a:cubicBezTo>
                    <a:pt x="2072" y="728"/>
                    <a:pt x="2072" y="728"/>
                    <a:pt x="2072" y="728"/>
                  </a:cubicBezTo>
                  <a:lnTo>
                    <a:pt x="2068" y="714"/>
                  </a:lnTo>
                  <a:close/>
                  <a:moveTo>
                    <a:pt x="1857" y="631"/>
                  </a:moveTo>
                  <a:cubicBezTo>
                    <a:pt x="1847" y="641"/>
                    <a:pt x="1847" y="641"/>
                    <a:pt x="1847" y="641"/>
                  </a:cubicBezTo>
                  <a:cubicBezTo>
                    <a:pt x="1849" y="676"/>
                    <a:pt x="1849" y="676"/>
                    <a:pt x="1849" y="676"/>
                  </a:cubicBezTo>
                  <a:cubicBezTo>
                    <a:pt x="1860" y="679"/>
                    <a:pt x="1860" y="679"/>
                    <a:pt x="1860" y="679"/>
                  </a:cubicBezTo>
                  <a:cubicBezTo>
                    <a:pt x="1859" y="666"/>
                    <a:pt x="1859" y="666"/>
                    <a:pt x="1859" y="666"/>
                  </a:cubicBezTo>
                  <a:cubicBezTo>
                    <a:pt x="1866" y="663"/>
                    <a:pt x="1866" y="663"/>
                    <a:pt x="1866" y="663"/>
                  </a:cubicBezTo>
                  <a:cubicBezTo>
                    <a:pt x="1865" y="648"/>
                    <a:pt x="1865" y="648"/>
                    <a:pt x="1865" y="648"/>
                  </a:cubicBezTo>
                  <a:cubicBezTo>
                    <a:pt x="1856" y="648"/>
                    <a:pt x="1856" y="648"/>
                    <a:pt x="1856" y="648"/>
                  </a:cubicBezTo>
                  <a:cubicBezTo>
                    <a:pt x="1868" y="628"/>
                    <a:pt x="1868" y="628"/>
                    <a:pt x="1868" y="628"/>
                  </a:cubicBezTo>
                  <a:cubicBezTo>
                    <a:pt x="1881" y="606"/>
                    <a:pt x="1881" y="606"/>
                    <a:pt x="1881" y="606"/>
                  </a:cubicBezTo>
                  <a:cubicBezTo>
                    <a:pt x="1862" y="610"/>
                    <a:pt x="1862" y="610"/>
                    <a:pt x="1862" y="610"/>
                  </a:cubicBezTo>
                  <a:lnTo>
                    <a:pt x="1857" y="631"/>
                  </a:lnTo>
                  <a:close/>
                  <a:moveTo>
                    <a:pt x="1427" y="403"/>
                  </a:moveTo>
                  <a:cubicBezTo>
                    <a:pt x="1427" y="403"/>
                    <a:pt x="1405" y="391"/>
                    <a:pt x="1398" y="394"/>
                  </a:cubicBezTo>
                  <a:cubicBezTo>
                    <a:pt x="1392" y="397"/>
                    <a:pt x="1389" y="406"/>
                    <a:pt x="1389" y="406"/>
                  </a:cubicBezTo>
                  <a:cubicBezTo>
                    <a:pt x="1396" y="420"/>
                    <a:pt x="1427" y="415"/>
                    <a:pt x="1427" y="415"/>
                  </a:cubicBezTo>
                  <a:cubicBezTo>
                    <a:pt x="1480" y="405"/>
                    <a:pt x="1480" y="405"/>
                    <a:pt x="1480" y="405"/>
                  </a:cubicBezTo>
                  <a:lnTo>
                    <a:pt x="1427" y="403"/>
                  </a:lnTo>
                  <a:close/>
                  <a:moveTo>
                    <a:pt x="879" y="696"/>
                  </a:moveTo>
                  <a:cubicBezTo>
                    <a:pt x="917" y="669"/>
                    <a:pt x="917" y="669"/>
                    <a:pt x="917" y="669"/>
                  </a:cubicBezTo>
                  <a:cubicBezTo>
                    <a:pt x="914" y="663"/>
                    <a:pt x="914" y="663"/>
                    <a:pt x="914" y="663"/>
                  </a:cubicBezTo>
                  <a:cubicBezTo>
                    <a:pt x="914" y="663"/>
                    <a:pt x="864" y="667"/>
                    <a:pt x="863" y="677"/>
                  </a:cubicBezTo>
                  <a:cubicBezTo>
                    <a:pt x="858" y="702"/>
                    <a:pt x="879" y="696"/>
                    <a:pt x="879" y="696"/>
                  </a:cubicBezTo>
                  <a:close/>
                  <a:moveTo>
                    <a:pt x="959" y="747"/>
                  </a:moveTo>
                  <a:cubicBezTo>
                    <a:pt x="949" y="747"/>
                    <a:pt x="933" y="747"/>
                    <a:pt x="933" y="747"/>
                  </a:cubicBezTo>
                  <a:cubicBezTo>
                    <a:pt x="930" y="766"/>
                    <a:pt x="930" y="766"/>
                    <a:pt x="930" y="766"/>
                  </a:cubicBezTo>
                  <a:cubicBezTo>
                    <a:pt x="930" y="766"/>
                    <a:pt x="940" y="794"/>
                    <a:pt x="953" y="783"/>
                  </a:cubicBezTo>
                  <a:cubicBezTo>
                    <a:pt x="966" y="773"/>
                    <a:pt x="969" y="747"/>
                    <a:pt x="959" y="747"/>
                  </a:cubicBezTo>
                  <a:close/>
                  <a:moveTo>
                    <a:pt x="475" y="622"/>
                  </a:moveTo>
                  <a:cubicBezTo>
                    <a:pt x="480" y="617"/>
                    <a:pt x="480" y="602"/>
                    <a:pt x="480" y="602"/>
                  </a:cubicBezTo>
                  <a:cubicBezTo>
                    <a:pt x="499" y="620"/>
                    <a:pt x="499" y="620"/>
                    <a:pt x="499" y="620"/>
                  </a:cubicBezTo>
                  <a:cubicBezTo>
                    <a:pt x="499" y="620"/>
                    <a:pt x="507" y="597"/>
                    <a:pt x="507" y="581"/>
                  </a:cubicBezTo>
                  <a:cubicBezTo>
                    <a:pt x="507" y="565"/>
                    <a:pt x="516" y="521"/>
                    <a:pt x="516" y="521"/>
                  </a:cubicBezTo>
                  <a:cubicBezTo>
                    <a:pt x="516" y="521"/>
                    <a:pt x="507" y="516"/>
                    <a:pt x="507" y="506"/>
                  </a:cubicBezTo>
                  <a:cubicBezTo>
                    <a:pt x="507" y="497"/>
                    <a:pt x="526" y="482"/>
                    <a:pt x="520" y="477"/>
                  </a:cubicBezTo>
                  <a:cubicBezTo>
                    <a:pt x="515" y="472"/>
                    <a:pt x="510" y="468"/>
                    <a:pt x="510" y="468"/>
                  </a:cubicBezTo>
                  <a:cubicBezTo>
                    <a:pt x="502" y="437"/>
                    <a:pt x="502" y="437"/>
                    <a:pt x="502" y="437"/>
                  </a:cubicBezTo>
                  <a:cubicBezTo>
                    <a:pt x="474" y="438"/>
                    <a:pt x="474" y="438"/>
                    <a:pt x="474" y="438"/>
                  </a:cubicBezTo>
                  <a:cubicBezTo>
                    <a:pt x="474" y="438"/>
                    <a:pt x="478" y="420"/>
                    <a:pt x="471" y="416"/>
                  </a:cubicBezTo>
                  <a:cubicBezTo>
                    <a:pt x="464" y="412"/>
                    <a:pt x="450" y="413"/>
                    <a:pt x="450" y="413"/>
                  </a:cubicBezTo>
                  <a:cubicBezTo>
                    <a:pt x="444" y="366"/>
                    <a:pt x="444" y="366"/>
                    <a:pt x="444" y="366"/>
                  </a:cubicBezTo>
                  <a:cubicBezTo>
                    <a:pt x="444" y="366"/>
                    <a:pt x="402" y="370"/>
                    <a:pt x="399" y="357"/>
                  </a:cubicBezTo>
                  <a:cubicBezTo>
                    <a:pt x="396" y="344"/>
                    <a:pt x="410" y="328"/>
                    <a:pt x="410" y="328"/>
                  </a:cubicBezTo>
                  <a:cubicBezTo>
                    <a:pt x="394" y="326"/>
                    <a:pt x="394" y="326"/>
                    <a:pt x="394" y="326"/>
                  </a:cubicBezTo>
                  <a:cubicBezTo>
                    <a:pt x="394" y="326"/>
                    <a:pt x="419" y="297"/>
                    <a:pt x="410" y="289"/>
                  </a:cubicBezTo>
                  <a:cubicBezTo>
                    <a:pt x="400" y="281"/>
                    <a:pt x="358" y="300"/>
                    <a:pt x="358" y="300"/>
                  </a:cubicBezTo>
                  <a:cubicBezTo>
                    <a:pt x="358" y="300"/>
                    <a:pt x="383" y="276"/>
                    <a:pt x="375" y="272"/>
                  </a:cubicBezTo>
                  <a:cubicBezTo>
                    <a:pt x="367" y="268"/>
                    <a:pt x="343" y="264"/>
                    <a:pt x="343" y="264"/>
                  </a:cubicBezTo>
                  <a:cubicBezTo>
                    <a:pt x="343" y="264"/>
                    <a:pt x="354" y="256"/>
                    <a:pt x="340" y="238"/>
                  </a:cubicBezTo>
                  <a:cubicBezTo>
                    <a:pt x="327" y="221"/>
                    <a:pt x="304" y="220"/>
                    <a:pt x="304" y="220"/>
                  </a:cubicBezTo>
                  <a:cubicBezTo>
                    <a:pt x="304" y="220"/>
                    <a:pt x="298" y="200"/>
                    <a:pt x="291" y="192"/>
                  </a:cubicBezTo>
                  <a:cubicBezTo>
                    <a:pt x="284" y="184"/>
                    <a:pt x="275" y="190"/>
                    <a:pt x="275" y="190"/>
                  </a:cubicBezTo>
                  <a:cubicBezTo>
                    <a:pt x="279" y="205"/>
                    <a:pt x="279" y="205"/>
                    <a:pt x="279" y="205"/>
                  </a:cubicBezTo>
                  <a:cubicBezTo>
                    <a:pt x="279" y="205"/>
                    <a:pt x="254" y="186"/>
                    <a:pt x="248" y="180"/>
                  </a:cubicBezTo>
                  <a:cubicBezTo>
                    <a:pt x="243" y="173"/>
                    <a:pt x="232" y="146"/>
                    <a:pt x="232" y="146"/>
                  </a:cubicBezTo>
                  <a:cubicBezTo>
                    <a:pt x="232" y="146"/>
                    <a:pt x="202" y="125"/>
                    <a:pt x="188" y="113"/>
                  </a:cubicBezTo>
                  <a:cubicBezTo>
                    <a:pt x="175" y="101"/>
                    <a:pt x="152" y="82"/>
                    <a:pt x="152" y="82"/>
                  </a:cubicBezTo>
                  <a:cubicBezTo>
                    <a:pt x="152" y="82"/>
                    <a:pt x="156" y="77"/>
                    <a:pt x="151" y="72"/>
                  </a:cubicBezTo>
                  <a:cubicBezTo>
                    <a:pt x="146" y="66"/>
                    <a:pt x="139" y="60"/>
                    <a:pt x="139" y="60"/>
                  </a:cubicBezTo>
                  <a:cubicBezTo>
                    <a:pt x="139" y="60"/>
                    <a:pt x="128" y="41"/>
                    <a:pt x="120" y="34"/>
                  </a:cubicBezTo>
                  <a:cubicBezTo>
                    <a:pt x="112" y="28"/>
                    <a:pt x="104" y="29"/>
                    <a:pt x="104" y="29"/>
                  </a:cubicBezTo>
                  <a:cubicBezTo>
                    <a:pt x="47" y="25"/>
                    <a:pt x="47" y="25"/>
                    <a:pt x="47" y="25"/>
                  </a:cubicBezTo>
                  <a:cubicBezTo>
                    <a:pt x="47" y="25"/>
                    <a:pt x="27" y="0"/>
                    <a:pt x="16" y="2"/>
                  </a:cubicBezTo>
                  <a:cubicBezTo>
                    <a:pt x="6" y="5"/>
                    <a:pt x="0" y="29"/>
                    <a:pt x="7" y="41"/>
                  </a:cubicBezTo>
                  <a:cubicBezTo>
                    <a:pt x="14" y="53"/>
                    <a:pt x="88" y="121"/>
                    <a:pt x="88" y="121"/>
                  </a:cubicBezTo>
                  <a:cubicBezTo>
                    <a:pt x="111" y="157"/>
                    <a:pt x="111" y="157"/>
                    <a:pt x="111" y="157"/>
                  </a:cubicBezTo>
                  <a:cubicBezTo>
                    <a:pt x="119" y="154"/>
                    <a:pt x="119" y="154"/>
                    <a:pt x="119" y="154"/>
                  </a:cubicBezTo>
                  <a:cubicBezTo>
                    <a:pt x="119" y="154"/>
                    <a:pt x="122" y="178"/>
                    <a:pt x="128" y="184"/>
                  </a:cubicBezTo>
                  <a:cubicBezTo>
                    <a:pt x="135" y="189"/>
                    <a:pt x="170" y="202"/>
                    <a:pt x="178" y="218"/>
                  </a:cubicBezTo>
                  <a:cubicBezTo>
                    <a:pt x="186" y="234"/>
                    <a:pt x="194" y="266"/>
                    <a:pt x="194" y="266"/>
                  </a:cubicBezTo>
                  <a:cubicBezTo>
                    <a:pt x="194" y="266"/>
                    <a:pt x="191" y="301"/>
                    <a:pt x="199" y="301"/>
                  </a:cubicBezTo>
                  <a:cubicBezTo>
                    <a:pt x="207" y="301"/>
                    <a:pt x="219" y="293"/>
                    <a:pt x="222" y="302"/>
                  </a:cubicBezTo>
                  <a:cubicBezTo>
                    <a:pt x="224" y="312"/>
                    <a:pt x="230" y="328"/>
                    <a:pt x="230" y="328"/>
                  </a:cubicBezTo>
                  <a:cubicBezTo>
                    <a:pt x="255" y="349"/>
                    <a:pt x="255" y="349"/>
                    <a:pt x="255" y="349"/>
                  </a:cubicBezTo>
                  <a:cubicBezTo>
                    <a:pt x="254" y="365"/>
                    <a:pt x="254" y="365"/>
                    <a:pt x="254" y="365"/>
                  </a:cubicBezTo>
                  <a:cubicBezTo>
                    <a:pt x="275" y="408"/>
                    <a:pt x="275" y="408"/>
                    <a:pt x="275" y="408"/>
                  </a:cubicBezTo>
                  <a:cubicBezTo>
                    <a:pt x="275" y="408"/>
                    <a:pt x="268" y="421"/>
                    <a:pt x="278" y="436"/>
                  </a:cubicBezTo>
                  <a:cubicBezTo>
                    <a:pt x="287" y="450"/>
                    <a:pt x="296" y="453"/>
                    <a:pt x="296" y="453"/>
                  </a:cubicBezTo>
                  <a:cubicBezTo>
                    <a:pt x="296" y="453"/>
                    <a:pt x="306" y="477"/>
                    <a:pt x="314" y="485"/>
                  </a:cubicBezTo>
                  <a:cubicBezTo>
                    <a:pt x="322" y="493"/>
                    <a:pt x="343" y="501"/>
                    <a:pt x="343" y="501"/>
                  </a:cubicBezTo>
                  <a:cubicBezTo>
                    <a:pt x="343" y="526"/>
                    <a:pt x="343" y="526"/>
                    <a:pt x="343" y="526"/>
                  </a:cubicBezTo>
                  <a:cubicBezTo>
                    <a:pt x="343" y="526"/>
                    <a:pt x="392" y="568"/>
                    <a:pt x="395" y="572"/>
                  </a:cubicBezTo>
                  <a:cubicBezTo>
                    <a:pt x="398" y="576"/>
                    <a:pt x="411" y="577"/>
                    <a:pt x="411" y="577"/>
                  </a:cubicBezTo>
                  <a:cubicBezTo>
                    <a:pt x="411" y="577"/>
                    <a:pt x="422" y="602"/>
                    <a:pt x="430" y="606"/>
                  </a:cubicBezTo>
                  <a:cubicBezTo>
                    <a:pt x="438" y="610"/>
                    <a:pt x="440" y="632"/>
                    <a:pt x="444" y="630"/>
                  </a:cubicBezTo>
                  <a:cubicBezTo>
                    <a:pt x="448" y="629"/>
                    <a:pt x="442" y="608"/>
                    <a:pt x="447" y="605"/>
                  </a:cubicBezTo>
                  <a:cubicBezTo>
                    <a:pt x="452" y="602"/>
                    <a:pt x="470" y="628"/>
                    <a:pt x="475" y="622"/>
                  </a:cubicBezTo>
                  <a:close/>
                  <a:moveTo>
                    <a:pt x="1416" y="798"/>
                  </a:moveTo>
                  <a:cubicBezTo>
                    <a:pt x="1409" y="784"/>
                    <a:pt x="1409" y="784"/>
                    <a:pt x="1409" y="784"/>
                  </a:cubicBezTo>
                  <a:cubicBezTo>
                    <a:pt x="1404" y="785"/>
                    <a:pt x="1397" y="786"/>
                    <a:pt x="1392" y="790"/>
                  </a:cubicBezTo>
                  <a:cubicBezTo>
                    <a:pt x="1380" y="797"/>
                    <a:pt x="1380" y="812"/>
                    <a:pt x="1380" y="812"/>
                  </a:cubicBezTo>
                  <a:cubicBezTo>
                    <a:pt x="1380" y="812"/>
                    <a:pt x="1369" y="809"/>
                    <a:pt x="1357" y="820"/>
                  </a:cubicBezTo>
                  <a:cubicBezTo>
                    <a:pt x="1345" y="832"/>
                    <a:pt x="1322" y="855"/>
                    <a:pt x="1342" y="870"/>
                  </a:cubicBezTo>
                  <a:cubicBezTo>
                    <a:pt x="1353" y="879"/>
                    <a:pt x="1393" y="842"/>
                    <a:pt x="1408" y="828"/>
                  </a:cubicBezTo>
                  <a:cubicBezTo>
                    <a:pt x="1405" y="827"/>
                    <a:pt x="1402" y="823"/>
                    <a:pt x="1406" y="817"/>
                  </a:cubicBezTo>
                  <a:cubicBezTo>
                    <a:pt x="1412" y="805"/>
                    <a:pt x="1416" y="798"/>
                    <a:pt x="1416" y="798"/>
                  </a:cubicBezTo>
                  <a:close/>
                  <a:moveTo>
                    <a:pt x="921" y="753"/>
                  </a:moveTo>
                  <a:cubicBezTo>
                    <a:pt x="921" y="734"/>
                    <a:pt x="894" y="734"/>
                    <a:pt x="879" y="731"/>
                  </a:cubicBezTo>
                  <a:cubicBezTo>
                    <a:pt x="865" y="728"/>
                    <a:pt x="866" y="759"/>
                    <a:pt x="866" y="759"/>
                  </a:cubicBezTo>
                  <a:cubicBezTo>
                    <a:pt x="841" y="740"/>
                    <a:pt x="841" y="740"/>
                    <a:pt x="841" y="740"/>
                  </a:cubicBezTo>
                  <a:cubicBezTo>
                    <a:pt x="841" y="740"/>
                    <a:pt x="847" y="724"/>
                    <a:pt x="847" y="700"/>
                  </a:cubicBezTo>
                  <a:cubicBezTo>
                    <a:pt x="847" y="677"/>
                    <a:pt x="799" y="686"/>
                    <a:pt x="799" y="686"/>
                  </a:cubicBezTo>
                  <a:cubicBezTo>
                    <a:pt x="778" y="674"/>
                    <a:pt x="778" y="674"/>
                    <a:pt x="778" y="674"/>
                  </a:cubicBezTo>
                  <a:cubicBezTo>
                    <a:pt x="775" y="659"/>
                    <a:pt x="775" y="659"/>
                    <a:pt x="775" y="659"/>
                  </a:cubicBezTo>
                  <a:cubicBezTo>
                    <a:pt x="749" y="659"/>
                    <a:pt x="749" y="659"/>
                    <a:pt x="749" y="659"/>
                  </a:cubicBezTo>
                  <a:cubicBezTo>
                    <a:pt x="749" y="659"/>
                    <a:pt x="744" y="680"/>
                    <a:pt x="744" y="684"/>
                  </a:cubicBezTo>
                  <a:cubicBezTo>
                    <a:pt x="744" y="688"/>
                    <a:pt x="709" y="677"/>
                    <a:pt x="693" y="674"/>
                  </a:cubicBezTo>
                  <a:cubicBezTo>
                    <a:pt x="677" y="671"/>
                    <a:pt x="648" y="672"/>
                    <a:pt x="648" y="672"/>
                  </a:cubicBezTo>
                  <a:cubicBezTo>
                    <a:pt x="648" y="672"/>
                    <a:pt x="630" y="650"/>
                    <a:pt x="621" y="640"/>
                  </a:cubicBezTo>
                  <a:cubicBezTo>
                    <a:pt x="612" y="630"/>
                    <a:pt x="598" y="641"/>
                    <a:pt x="598" y="641"/>
                  </a:cubicBezTo>
                  <a:cubicBezTo>
                    <a:pt x="598" y="641"/>
                    <a:pt x="573" y="628"/>
                    <a:pt x="567" y="627"/>
                  </a:cubicBezTo>
                  <a:cubicBezTo>
                    <a:pt x="561" y="625"/>
                    <a:pt x="535" y="624"/>
                    <a:pt x="535" y="624"/>
                  </a:cubicBezTo>
                  <a:cubicBezTo>
                    <a:pt x="535" y="624"/>
                    <a:pt x="524" y="615"/>
                    <a:pt x="511" y="619"/>
                  </a:cubicBezTo>
                  <a:cubicBezTo>
                    <a:pt x="498" y="624"/>
                    <a:pt x="498" y="652"/>
                    <a:pt x="491" y="656"/>
                  </a:cubicBezTo>
                  <a:cubicBezTo>
                    <a:pt x="483" y="661"/>
                    <a:pt x="469" y="666"/>
                    <a:pt x="472" y="677"/>
                  </a:cubicBezTo>
                  <a:cubicBezTo>
                    <a:pt x="496" y="672"/>
                    <a:pt x="496" y="672"/>
                    <a:pt x="496" y="672"/>
                  </a:cubicBezTo>
                  <a:cubicBezTo>
                    <a:pt x="527" y="675"/>
                    <a:pt x="527" y="675"/>
                    <a:pt x="527" y="675"/>
                  </a:cubicBezTo>
                  <a:cubicBezTo>
                    <a:pt x="527" y="675"/>
                    <a:pt x="504" y="688"/>
                    <a:pt x="514" y="699"/>
                  </a:cubicBezTo>
                  <a:cubicBezTo>
                    <a:pt x="524" y="709"/>
                    <a:pt x="558" y="691"/>
                    <a:pt x="558" y="691"/>
                  </a:cubicBezTo>
                  <a:cubicBezTo>
                    <a:pt x="558" y="691"/>
                    <a:pt x="608" y="718"/>
                    <a:pt x="623" y="722"/>
                  </a:cubicBezTo>
                  <a:cubicBezTo>
                    <a:pt x="637" y="727"/>
                    <a:pt x="687" y="728"/>
                    <a:pt x="705" y="728"/>
                  </a:cubicBezTo>
                  <a:cubicBezTo>
                    <a:pt x="722" y="728"/>
                    <a:pt x="727" y="747"/>
                    <a:pt x="737" y="756"/>
                  </a:cubicBezTo>
                  <a:cubicBezTo>
                    <a:pt x="747" y="765"/>
                    <a:pt x="780" y="771"/>
                    <a:pt x="794" y="772"/>
                  </a:cubicBezTo>
                  <a:cubicBezTo>
                    <a:pt x="809" y="774"/>
                    <a:pt x="815" y="771"/>
                    <a:pt x="837" y="772"/>
                  </a:cubicBezTo>
                  <a:cubicBezTo>
                    <a:pt x="859" y="774"/>
                    <a:pt x="877" y="801"/>
                    <a:pt x="885" y="806"/>
                  </a:cubicBezTo>
                  <a:cubicBezTo>
                    <a:pt x="894" y="810"/>
                    <a:pt x="904" y="801"/>
                    <a:pt x="904" y="801"/>
                  </a:cubicBezTo>
                  <a:cubicBezTo>
                    <a:pt x="904" y="801"/>
                    <a:pt x="921" y="810"/>
                    <a:pt x="921" y="804"/>
                  </a:cubicBezTo>
                  <a:cubicBezTo>
                    <a:pt x="921" y="793"/>
                    <a:pt x="910" y="778"/>
                    <a:pt x="910" y="778"/>
                  </a:cubicBezTo>
                  <a:cubicBezTo>
                    <a:pt x="910" y="778"/>
                    <a:pt x="921" y="772"/>
                    <a:pt x="921" y="753"/>
                  </a:cubicBezTo>
                  <a:close/>
                  <a:moveTo>
                    <a:pt x="1004" y="484"/>
                  </a:moveTo>
                  <a:cubicBezTo>
                    <a:pt x="1004" y="484"/>
                    <a:pt x="1025" y="467"/>
                    <a:pt x="1031" y="460"/>
                  </a:cubicBezTo>
                  <a:cubicBezTo>
                    <a:pt x="1036" y="453"/>
                    <a:pt x="1055" y="403"/>
                    <a:pt x="1055" y="403"/>
                  </a:cubicBezTo>
                  <a:cubicBezTo>
                    <a:pt x="1055" y="403"/>
                    <a:pt x="1037" y="401"/>
                    <a:pt x="1034" y="388"/>
                  </a:cubicBezTo>
                  <a:cubicBezTo>
                    <a:pt x="1031" y="376"/>
                    <a:pt x="1037" y="361"/>
                    <a:pt x="1042" y="348"/>
                  </a:cubicBezTo>
                  <a:cubicBezTo>
                    <a:pt x="1048" y="334"/>
                    <a:pt x="1070" y="336"/>
                    <a:pt x="1083" y="334"/>
                  </a:cubicBezTo>
                  <a:cubicBezTo>
                    <a:pt x="1095" y="333"/>
                    <a:pt x="1102" y="309"/>
                    <a:pt x="1101" y="301"/>
                  </a:cubicBezTo>
                  <a:cubicBezTo>
                    <a:pt x="1099" y="293"/>
                    <a:pt x="1079" y="301"/>
                    <a:pt x="1079" y="301"/>
                  </a:cubicBezTo>
                  <a:cubicBezTo>
                    <a:pt x="1079" y="301"/>
                    <a:pt x="1076" y="288"/>
                    <a:pt x="1088" y="275"/>
                  </a:cubicBezTo>
                  <a:cubicBezTo>
                    <a:pt x="1101" y="264"/>
                    <a:pt x="1128" y="269"/>
                    <a:pt x="1139" y="271"/>
                  </a:cubicBezTo>
                  <a:cubicBezTo>
                    <a:pt x="1150" y="274"/>
                    <a:pt x="1150" y="257"/>
                    <a:pt x="1150" y="257"/>
                  </a:cubicBezTo>
                  <a:cubicBezTo>
                    <a:pt x="1124" y="235"/>
                    <a:pt x="1124" y="235"/>
                    <a:pt x="1124" y="235"/>
                  </a:cubicBezTo>
                  <a:cubicBezTo>
                    <a:pt x="1124" y="208"/>
                    <a:pt x="1124" y="208"/>
                    <a:pt x="1124" y="208"/>
                  </a:cubicBezTo>
                  <a:cubicBezTo>
                    <a:pt x="1124" y="208"/>
                    <a:pt x="1105" y="207"/>
                    <a:pt x="1105" y="199"/>
                  </a:cubicBezTo>
                  <a:cubicBezTo>
                    <a:pt x="1105" y="191"/>
                    <a:pt x="1117" y="179"/>
                    <a:pt x="1116" y="168"/>
                  </a:cubicBezTo>
                  <a:cubicBezTo>
                    <a:pt x="1115" y="156"/>
                    <a:pt x="1082" y="153"/>
                    <a:pt x="1082" y="153"/>
                  </a:cubicBezTo>
                  <a:cubicBezTo>
                    <a:pt x="1093" y="135"/>
                    <a:pt x="1093" y="135"/>
                    <a:pt x="1093" y="135"/>
                  </a:cubicBezTo>
                  <a:cubicBezTo>
                    <a:pt x="1082" y="130"/>
                    <a:pt x="1082" y="130"/>
                    <a:pt x="1082" y="130"/>
                  </a:cubicBezTo>
                  <a:cubicBezTo>
                    <a:pt x="1086" y="110"/>
                    <a:pt x="1086" y="110"/>
                    <a:pt x="1086" y="110"/>
                  </a:cubicBezTo>
                  <a:cubicBezTo>
                    <a:pt x="1078" y="99"/>
                    <a:pt x="1078" y="99"/>
                    <a:pt x="1078" y="99"/>
                  </a:cubicBezTo>
                  <a:cubicBezTo>
                    <a:pt x="1070" y="92"/>
                    <a:pt x="1051" y="75"/>
                    <a:pt x="1047" y="75"/>
                  </a:cubicBezTo>
                  <a:cubicBezTo>
                    <a:pt x="1043" y="74"/>
                    <a:pt x="1002" y="73"/>
                    <a:pt x="987" y="74"/>
                  </a:cubicBezTo>
                  <a:cubicBezTo>
                    <a:pt x="973" y="75"/>
                    <a:pt x="980" y="97"/>
                    <a:pt x="978" y="113"/>
                  </a:cubicBezTo>
                  <a:cubicBezTo>
                    <a:pt x="977" y="129"/>
                    <a:pt x="968" y="144"/>
                    <a:pt x="968" y="144"/>
                  </a:cubicBezTo>
                  <a:cubicBezTo>
                    <a:pt x="968" y="144"/>
                    <a:pt x="961" y="143"/>
                    <a:pt x="955" y="152"/>
                  </a:cubicBezTo>
                  <a:cubicBezTo>
                    <a:pt x="948" y="161"/>
                    <a:pt x="960" y="177"/>
                    <a:pt x="960" y="177"/>
                  </a:cubicBezTo>
                  <a:cubicBezTo>
                    <a:pt x="938" y="196"/>
                    <a:pt x="938" y="196"/>
                    <a:pt x="938" y="196"/>
                  </a:cubicBezTo>
                  <a:cubicBezTo>
                    <a:pt x="939" y="208"/>
                    <a:pt x="939" y="208"/>
                    <a:pt x="939" y="208"/>
                  </a:cubicBezTo>
                  <a:cubicBezTo>
                    <a:pt x="922" y="231"/>
                    <a:pt x="922" y="231"/>
                    <a:pt x="922" y="231"/>
                  </a:cubicBezTo>
                  <a:cubicBezTo>
                    <a:pt x="906" y="231"/>
                    <a:pt x="906" y="231"/>
                    <a:pt x="906" y="231"/>
                  </a:cubicBezTo>
                  <a:cubicBezTo>
                    <a:pt x="906" y="231"/>
                    <a:pt x="888" y="244"/>
                    <a:pt x="885" y="244"/>
                  </a:cubicBezTo>
                  <a:cubicBezTo>
                    <a:pt x="882" y="245"/>
                    <a:pt x="857" y="229"/>
                    <a:pt x="853" y="227"/>
                  </a:cubicBezTo>
                  <a:cubicBezTo>
                    <a:pt x="849" y="224"/>
                    <a:pt x="824" y="227"/>
                    <a:pt x="824" y="227"/>
                  </a:cubicBezTo>
                  <a:cubicBezTo>
                    <a:pt x="824" y="227"/>
                    <a:pt x="811" y="248"/>
                    <a:pt x="801" y="254"/>
                  </a:cubicBezTo>
                  <a:cubicBezTo>
                    <a:pt x="791" y="260"/>
                    <a:pt x="778" y="251"/>
                    <a:pt x="764" y="251"/>
                  </a:cubicBezTo>
                  <a:cubicBezTo>
                    <a:pt x="749" y="251"/>
                    <a:pt x="750" y="259"/>
                    <a:pt x="746" y="261"/>
                  </a:cubicBezTo>
                  <a:cubicBezTo>
                    <a:pt x="742" y="264"/>
                    <a:pt x="720" y="256"/>
                    <a:pt x="712" y="247"/>
                  </a:cubicBezTo>
                  <a:cubicBezTo>
                    <a:pt x="708" y="243"/>
                    <a:pt x="706" y="237"/>
                    <a:pt x="703" y="231"/>
                  </a:cubicBezTo>
                  <a:cubicBezTo>
                    <a:pt x="703" y="231"/>
                    <a:pt x="703" y="231"/>
                    <a:pt x="703" y="231"/>
                  </a:cubicBezTo>
                  <a:cubicBezTo>
                    <a:pt x="703" y="231"/>
                    <a:pt x="684" y="213"/>
                    <a:pt x="671" y="227"/>
                  </a:cubicBezTo>
                  <a:cubicBezTo>
                    <a:pt x="657" y="242"/>
                    <a:pt x="650" y="278"/>
                    <a:pt x="650" y="278"/>
                  </a:cubicBezTo>
                  <a:cubicBezTo>
                    <a:pt x="666" y="300"/>
                    <a:pt x="666" y="300"/>
                    <a:pt x="666" y="300"/>
                  </a:cubicBezTo>
                  <a:cubicBezTo>
                    <a:pt x="673" y="335"/>
                    <a:pt x="673" y="335"/>
                    <a:pt x="673" y="335"/>
                  </a:cubicBezTo>
                  <a:cubicBezTo>
                    <a:pt x="704" y="353"/>
                    <a:pt x="704" y="353"/>
                    <a:pt x="704" y="353"/>
                  </a:cubicBezTo>
                  <a:cubicBezTo>
                    <a:pt x="699" y="377"/>
                    <a:pt x="699" y="377"/>
                    <a:pt x="699" y="377"/>
                  </a:cubicBezTo>
                  <a:cubicBezTo>
                    <a:pt x="716" y="388"/>
                    <a:pt x="716" y="388"/>
                    <a:pt x="716" y="388"/>
                  </a:cubicBezTo>
                  <a:cubicBezTo>
                    <a:pt x="705" y="407"/>
                    <a:pt x="705" y="407"/>
                    <a:pt x="705" y="407"/>
                  </a:cubicBezTo>
                  <a:cubicBezTo>
                    <a:pt x="718" y="425"/>
                    <a:pt x="718" y="425"/>
                    <a:pt x="718" y="425"/>
                  </a:cubicBezTo>
                  <a:cubicBezTo>
                    <a:pt x="707" y="432"/>
                    <a:pt x="707" y="432"/>
                    <a:pt x="707" y="432"/>
                  </a:cubicBezTo>
                  <a:cubicBezTo>
                    <a:pt x="717" y="470"/>
                    <a:pt x="717" y="470"/>
                    <a:pt x="717" y="470"/>
                  </a:cubicBezTo>
                  <a:cubicBezTo>
                    <a:pt x="745" y="466"/>
                    <a:pt x="745" y="466"/>
                    <a:pt x="745" y="466"/>
                  </a:cubicBezTo>
                  <a:cubicBezTo>
                    <a:pt x="765" y="473"/>
                    <a:pt x="765" y="473"/>
                    <a:pt x="765" y="473"/>
                  </a:cubicBezTo>
                  <a:cubicBezTo>
                    <a:pt x="765" y="473"/>
                    <a:pt x="777" y="451"/>
                    <a:pt x="789" y="451"/>
                  </a:cubicBezTo>
                  <a:cubicBezTo>
                    <a:pt x="801" y="451"/>
                    <a:pt x="789" y="483"/>
                    <a:pt x="801" y="493"/>
                  </a:cubicBezTo>
                  <a:cubicBezTo>
                    <a:pt x="812" y="502"/>
                    <a:pt x="822" y="472"/>
                    <a:pt x="822" y="472"/>
                  </a:cubicBezTo>
                  <a:cubicBezTo>
                    <a:pt x="840" y="484"/>
                    <a:pt x="840" y="484"/>
                    <a:pt x="840" y="484"/>
                  </a:cubicBezTo>
                  <a:cubicBezTo>
                    <a:pt x="840" y="484"/>
                    <a:pt x="856" y="470"/>
                    <a:pt x="865" y="470"/>
                  </a:cubicBezTo>
                  <a:cubicBezTo>
                    <a:pt x="874" y="469"/>
                    <a:pt x="868" y="495"/>
                    <a:pt x="878" y="498"/>
                  </a:cubicBezTo>
                  <a:cubicBezTo>
                    <a:pt x="888" y="502"/>
                    <a:pt x="919" y="486"/>
                    <a:pt x="935" y="489"/>
                  </a:cubicBezTo>
                  <a:cubicBezTo>
                    <a:pt x="951" y="493"/>
                    <a:pt x="936" y="542"/>
                    <a:pt x="936" y="542"/>
                  </a:cubicBezTo>
                  <a:cubicBezTo>
                    <a:pt x="936" y="542"/>
                    <a:pt x="950" y="538"/>
                    <a:pt x="966" y="531"/>
                  </a:cubicBezTo>
                  <a:cubicBezTo>
                    <a:pt x="982" y="523"/>
                    <a:pt x="1004" y="484"/>
                    <a:pt x="1004" y="484"/>
                  </a:cubicBezTo>
                  <a:close/>
                  <a:moveTo>
                    <a:pt x="990" y="745"/>
                  </a:moveTo>
                  <a:cubicBezTo>
                    <a:pt x="980" y="744"/>
                    <a:pt x="974" y="755"/>
                    <a:pt x="974" y="755"/>
                  </a:cubicBezTo>
                  <a:cubicBezTo>
                    <a:pt x="974" y="755"/>
                    <a:pt x="991" y="770"/>
                    <a:pt x="1002" y="763"/>
                  </a:cubicBezTo>
                  <a:cubicBezTo>
                    <a:pt x="1012" y="755"/>
                    <a:pt x="1000" y="747"/>
                    <a:pt x="990" y="745"/>
                  </a:cubicBezTo>
                  <a:close/>
                  <a:moveTo>
                    <a:pt x="1148" y="822"/>
                  </a:moveTo>
                  <a:cubicBezTo>
                    <a:pt x="1125" y="815"/>
                    <a:pt x="1125" y="815"/>
                    <a:pt x="1125" y="815"/>
                  </a:cubicBezTo>
                  <a:cubicBezTo>
                    <a:pt x="1118" y="821"/>
                    <a:pt x="1119" y="822"/>
                    <a:pt x="1129" y="838"/>
                  </a:cubicBezTo>
                  <a:cubicBezTo>
                    <a:pt x="1140" y="854"/>
                    <a:pt x="1147" y="843"/>
                    <a:pt x="1160" y="843"/>
                  </a:cubicBezTo>
                  <a:cubicBezTo>
                    <a:pt x="1173" y="843"/>
                    <a:pt x="1163" y="852"/>
                    <a:pt x="1173" y="862"/>
                  </a:cubicBezTo>
                  <a:cubicBezTo>
                    <a:pt x="1184" y="872"/>
                    <a:pt x="1204" y="863"/>
                    <a:pt x="1204" y="863"/>
                  </a:cubicBezTo>
                  <a:cubicBezTo>
                    <a:pt x="1204" y="863"/>
                    <a:pt x="1200" y="844"/>
                    <a:pt x="1187" y="827"/>
                  </a:cubicBezTo>
                  <a:cubicBezTo>
                    <a:pt x="1173" y="809"/>
                    <a:pt x="1148" y="822"/>
                    <a:pt x="1148" y="822"/>
                  </a:cubicBezTo>
                  <a:close/>
                  <a:moveTo>
                    <a:pt x="1312" y="751"/>
                  </a:moveTo>
                  <a:cubicBezTo>
                    <a:pt x="1293" y="767"/>
                    <a:pt x="1293" y="767"/>
                    <a:pt x="1293" y="767"/>
                  </a:cubicBezTo>
                  <a:cubicBezTo>
                    <a:pt x="1293" y="767"/>
                    <a:pt x="1282" y="755"/>
                    <a:pt x="1271" y="756"/>
                  </a:cubicBezTo>
                  <a:cubicBezTo>
                    <a:pt x="1261" y="758"/>
                    <a:pt x="1249" y="771"/>
                    <a:pt x="1249" y="771"/>
                  </a:cubicBezTo>
                  <a:cubicBezTo>
                    <a:pt x="1249" y="771"/>
                    <a:pt x="1239" y="745"/>
                    <a:pt x="1221" y="748"/>
                  </a:cubicBezTo>
                  <a:cubicBezTo>
                    <a:pt x="1204" y="751"/>
                    <a:pt x="1182" y="777"/>
                    <a:pt x="1182" y="777"/>
                  </a:cubicBezTo>
                  <a:cubicBezTo>
                    <a:pt x="1158" y="775"/>
                    <a:pt x="1158" y="775"/>
                    <a:pt x="1158" y="775"/>
                  </a:cubicBezTo>
                  <a:cubicBezTo>
                    <a:pt x="1151" y="787"/>
                    <a:pt x="1151" y="787"/>
                    <a:pt x="1151" y="787"/>
                  </a:cubicBezTo>
                  <a:cubicBezTo>
                    <a:pt x="1167" y="784"/>
                    <a:pt x="1167" y="784"/>
                    <a:pt x="1167" y="784"/>
                  </a:cubicBezTo>
                  <a:cubicBezTo>
                    <a:pt x="1167" y="784"/>
                    <a:pt x="1179" y="790"/>
                    <a:pt x="1191" y="795"/>
                  </a:cubicBezTo>
                  <a:cubicBezTo>
                    <a:pt x="1202" y="799"/>
                    <a:pt x="1214" y="781"/>
                    <a:pt x="1214" y="781"/>
                  </a:cubicBezTo>
                  <a:cubicBezTo>
                    <a:pt x="1276" y="780"/>
                    <a:pt x="1276" y="780"/>
                    <a:pt x="1276" y="780"/>
                  </a:cubicBezTo>
                  <a:cubicBezTo>
                    <a:pt x="1308" y="775"/>
                    <a:pt x="1308" y="775"/>
                    <a:pt x="1308" y="775"/>
                  </a:cubicBezTo>
                  <a:cubicBezTo>
                    <a:pt x="1334" y="752"/>
                    <a:pt x="1334" y="752"/>
                    <a:pt x="1334" y="752"/>
                  </a:cubicBezTo>
                  <a:cubicBezTo>
                    <a:pt x="1333" y="742"/>
                    <a:pt x="1333" y="742"/>
                    <a:pt x="1333" y="742"/>
                  </a:cubicBezTo>
                  <a:lnTo>
                    <a:pt x="1312" y="751"/>
                  </a:lnTo>
                  <a:close/>
                  <a:moveTo>
                    <a:pt x="1056" y="774"/>
                  </a:moveTo>
                  <a:cubicBezTo>
                    <a:pt x="1056" y="774"/>
                    <a:pt x="1042" y="759"/>
                    <a:pt x="1034" y="761"/>
                  </a:cubicBezTo>
                  <a:cubicBezTo>
                    <a:pt x="1025" y="762"/>
                    <a:pt x="1006" y="791"/>
                    <a:pt x="1006" y="791"/>
                  </a:cubicBezTo>
                  <a:cubicBezTo>
                    <a:pt x="1041" y="796"/>
                    <a:pt x="1041" y="796"/>
                    <a:pt x="1041" y="796"/>
                  </a:cubicBezTo>
                  <a:cubicBezTo>
                    <a:pt x="1042" y="810"/>
                    <a:pt x="1042" y="810"/>
                    <a:pt x="1042" y="810"/>
                  </a:cubicBezTo>
                  <a:cubicBezTo>
                    <a:pt x="1057" y="808"/>
                    <a:pt x="1057" y="808"/>
                    <a:pt x="1057" y="808"/>
                  </a:cubicBezTo>
                  <a:cubicBezTo>
                    <a:pt x="1063" y="794"/>
                    <a:pt x="1063" y="794"/>
                    <a:pt x="1063" y="794"/>
                  </a:cubicBezTo>
                  <a:cubicBezTo>
                    <a:pt x="1082" y="805"/>
                    <a:pt x="1082" y="805"/>
                    <a:pt x="1082" y="805"/>
                  </a:cubicBezTo>
                  <a:cubicBezTo>
                    <a:pt x="1101" y="783"/>
                    <a:pt x="1101" y="783"/>
                    <a:pt x="1101" y="783"/>
                  </a:cubicBezTo>
                  <a:cubicBezTo>
                    <a:pt x="1067" y="771"/>
                    <a:pt x="1067" y="771"/>
                    <a:pt x="1067" y="771"/>
                  </a:cubicBezTo>
                  <a:lnTo>
                    <a:pt x="1056" y="774"/>
                  </a:ln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545" name="Freeform 337">
              <a:extLst>
                <a:ext uri="{FF2B5EF4-FFF2-40B4-BE49-F238E27FC236}">
                  <a16:creationId xmlns:a16="http://schemas.microsoft.com/office/drawing/2014/main" id="{901B82D1-F90B-4027-8FBB-0C95D07C8CC3}"/>
                </a:ext>
              </a:extLst>
            </p:cNvPr>
            <p:cNvSpPr>
              <a:spLocks noEditPoints="1"/>
            </p:cNvSpPr>
            <p:nvPr/>
          </p:nvSpPr>
          <p:spPr bwMode="gray">
            <a:xfrm>
              <a:off x="9557665" y="3871155"/>
              <a:ext cx="577458" cy="420536"/>
            </a:xfrm>
            <a:custGeom>
              <a:avLst/>
              <a:gdLst>
                <a:gd name="T0" fmla="*/ 489 w 851"/>
                <a:gd name="T1" fmla="*/ 375 h 656"/>
                <a:gd name="T2" fmla="*/ 477 w 851"/>
                <a:gd name="T3" fmla="*/ 361 h 656"/>
                <a:gd name="T4" fmla="*/ 456 w 851"/>
                <a:gd name="T5" fmla="*/ 351 h 656"/>
                <a:gd name="T6" fmla="*/ 425 w 851"/>
                <a:gd name="T7" fmla="*/ 380 h 656"/>
                <a:gd name="T8" fmla="*/ 360 w 851"/>
                <a:gd name="T9" fmla="*/ 432 h 656"/>
                <a:gd name="T10" fmla="*/ 261 w 851"/>
                <a:gd name="T11" fmla="*/ 484 h 656"/>
                <a:gd name="T12" fmla="*/ 177 w 851"/>
                <a:gd name="T13" fmla="*/ 513 h 656"/>
                <a:gd name="T14" fmla="*/ 112 w 851"/>
                <a:gd name="T15" fmla="*/ 564 h 656"/>
                <a:gd name="T16" fmla="*/ 56 w 851"/>
                <a:gd name="T17" fmla="*/ 583 h 656"/>
                <a:gd name="T18" fmla="*/ 0 w 851"/>
                <a:gd name="T19" fmla="*/ 608 h 656"/>
                <a:gd name="T20" fmla="*/ 12 w 851"/>
                <a:gd name="T21" fmla="*/ 629 h 656"/>
                <a:gd name="T22" fmla="*/ 47 w 851"/>
                <a:gd name="T23" fmla="*/ 631 h 656"/>
                <a:gd name="T24" fmla="*/ 65 w 851"/>
                <a:gd name="T25" fmla="*/ 637 h 656"/>
                <a:gd name="T26" fmla="*/ 96 w 851"/>
                <a:gd name="T27" fmla="*/ 648 h 656"/>
                <a:gd name="T28" fmla="*/ 152 w 851"/>
                <a:gd name="T29" fmla="*/ 653 h 656"/>
                <a:gd name="T30" fmla="*/ 215 w 851"/>
                <a:gd name="T31" fmla="*/ 620 h 656"/>
                <a:gd name="T32" fmla="*/ 265 w 851"/>
                <a:gd name="T33" fmla="*/ 574 h 656"/>
                <a:gd name="T34" fmla="*/ 279 w 851"/>
                <a:gd name="T35" fmla="*/ 557 h 656"/>
                <a:gd name="T36" fmla="*/ 306 w 851"/>
                <a:gd name="T37" fmla="*/ 517 h 656"/>
                <a:gd name="T38" fmla="*/ 343 w 851"/>
                <a:gd name="T39" fmla="*/ 510 h 656"/>
                <a:gd name="T40" fmla="*/ 388 w 851"/>
                <a:gd name="T41" fmla="*/ 503 h 656"/>
                <a:gd name="T42" fmla="*/ 395 w 851"/>
                <a:gd name="T43" fmla="*/ 480 h 656"/>
                <a:gd name="T44" fmla="*/ 430 w 851"/>
                <a:gd name="T45" fmla="*/ 456 h 656"/>
                <a:gd name="T46" fmla="*/ 468 w 851"/>
                <a:gd name="T47" fmla="*/ 430 h 656"/>
                <a:gd name="T48" fmla="*/ 518 w 851"/>
                <a:gd name="T49" fmla="*/ 389 h 656"/>
                <a:gd name="T50" fmla="*/ 498 w 851"/>
                <a:gd name="T51" fmla="*/ 375 h 656"/>
                <a:gd name="T52" fmla="*/ 841 w 851"/>
                <a:gd name="T53" fmla="*/ 205 h 656"/>
                <a:gd name="T54" fmla="*/ 821 w 851"/>
                <a:gd name="T55" fmla="*/ 186 h 656"/>
                <a:gd name="T56" fmla="*/ 768 w 851"/>
                <a:gd name="T57" fmla="*/ 192 h 656"/>
                <a:gd name="T58" fmla="*/ 777 w 851"/>
                <a:gd name="T59" fmla="*/ 120 h 656"/>
                <a:gd name="T60" fmla="*/ 756 w 851"/>
                <a:gd name="T61" fmla="*/ 129 h 656"/>
                <a:gd name="T62" fmla="*/ 740 w 851"/>
                <a:gd name="T63" fmla="*/ 126 h 656"/>
                <a:gd name="T64" fmla="*/ 750 w 851"/>
                <a:gd name="T65" fmla="*/ 62 h 656"/>
                <a:gd name="T66" fmla="*/ 720 w 851"/>
                <a:gd name="T67" fmla="*/ 27 h 656"/>
                <a:gd name="T68" fmla="*/ 692 w 851"/>
                <a:gd name="T69" fmla="*/ 11 h 656"/>
                <a:gd name="T70" fmla="*/ 679 w 851"/>
                <a:gd name="T71" fmla="*/ 12 h 656"/>
                <a:gd name="T72" fmla="*/ 686 w 851"/>
                <a:gd name="T73" fmla="*/ 60 h 656"/>
                <a:gd name="T74" fmla="*/ 692 w 851"/>
                <a:gd name="T75" fmla="*/ 70 h 656"/>
                <a:gd name="T76" fmla="*/ 712 w 851"/>
                <a:gd name="T77" fmla="*/ 89 h 656"/>
                <a:gd name="T78" fmla="*/ 705 w 851"/>
                <a:gd name="T79" fmla="*/ 102 h 656"/>
                <a:gd name="T80" fmla="*/ 715 w 851"/>
                <a:gd name="T81" fmla="*/ 136 h 656"/>
                <a:gd name="T82" fmla="*/ 694 w 851"/>
                <a:gd name="T83" fmla="*/ 148 h 656"/>
                <a:gd name="T84" fmla="*/ 682 w 851"/>
                <a:gd name="T85" fmla="*/ 185 h 656"/>
                <a:gd name="T86" fmla="*/ 656 w 851"/>
                <a:gd name="T87" fmla="*/ 209 h 656"/>
                <a:gd name="T88" fmla="*/ 578 w 851"/>
                <a:gd name="T89" fmla="*/ 255 h 656"/>
                <a:gd name="T90" fmla="*/ 609 w 851"/>
                <a:gd name="T91" fmla="*/ 302 h 656"/>
                <a:gd name="T92" fmla="*/ 576 w 851"/>
                <a:gd name="T93" fmla="*/ 359 h 656"/>
                <a:gd name="T94" fmla="*/ 557 w 851"/>
                <a:gd name="T95" fmla="*/ 381 h 656"/>
                <a:gd name="T96" fmla="*/ 644 w 851"/>
                <a:gd name="T97" fmla="*/ 340 h 656"/>
                <a:gd name="T98" fmla="*/ 697 w 851"/>
                <a:gd name="T99" fmla="*/ 308 h 656"/>
                <a:gd name="T100" fmla="*/ 715 w 851"/>
                <a:gd name="T101" fmla="*/ 277 h 656"/>
                <a:gd name="T102" fmla="*/ 774 w 851"/>
                <a:gd name="T103" fmla="*/ 266 h 656"/>
                <a:gd name="T104" fmla="*/ 805 w 851"/>
                <a:gd name="T105" fmla="*/ 236 h 6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851" h="656">
                  <a:moveTo>
                    <a:pt x="498" y="375"/>
                  </a:moveTo>
                  <a:cubicBezTo>
                    <a:pt x="489" y="375"/>
                    <a:pt x="489" y="375"/>
                    <a:pt x="489" y="375"/>
                  </a:cubicBezTo>
                  <a:cubicBezTo>
                    <a:pt x="495" y="350"/>
                    <a:pt x="495" y="350"/>
                    <a:pt x="495" y="350"/>
                  </a:cubicBezTo>
                  <a:cubicBezTo>
                    <a:pt x="477" y="361"/>
                    <a:pt x="477" y="361"/>
                    <a:pt x="477" y="361"/>
                  </a:cubicBezTo>
                  <a:cubicBezTo>
                    <a:pt x="477" y="361"/>
                    <a:pt x="490" y="335"/>
                    <a:pt x="478" y="335"/>
                  </a:cubicBezTo>
                  <a:cubicBezTo>
                    <a:pt x="466" y="334"/>
                    <a:pt x="456" y="351"/>
                    <a:pt x="456" y="351"/>
                  </a:cubicBezTo>
                  <a:cubicBezTo>
                    <a:pt x="445" y="358"/>
                    <a:pt x="445" y="358"/>
                    <a:pt x="445" y="358"/>
                  </a:cubicBezTo>
                  <a:cubicBezTo>
                    <a:pt x="445" y="358"/>
                    <a:pt x="434" y="369"/>
                    <a:pt x="425" y="380"/>
                  </a:cubicBezTo>
                  <a:cubicBezTo>
                    <a:pt x="417" y="391"/>
                    <a:pt x="396" y="393"/>
                    <a:pt x="381" y="403"/>
                  </a:cubicBezTo>
                  <a:cubicBezTo>
                    <a:pt x="366" y="414"/>
                    <a:pt x="360" y="432"/>
                    <a:pt x="360" y="432"/>
                  </a:cubicBezTo>
                  <a:cubicBezTo>
                    <a:pt x="360" y="432"/>
                    <a:pt x="313" y="446"/>
                    <a:pt x="300" y="455"/>
                  </a:cubicBezTo>
                  <a:cubicBezTo>
                    <a:pt x="285" y="464"/>
                    <a:pt x="261" y="484"/>
                    <a:pt x="261" y="484"/>
                  </a:cubicBezTo>
                  <a:cubicBezTo>
                    <a:pt x="261" y="484"/>
                    <a:pt x="234" y="488"/>
                    <a:pt x="217" y="495"/>
                  </a:cubicBezTo>
                  <a:cubicBezTo>
                    <a:pt x="201" y="503"/>
                    <a:pt x="192" y="505"/>
                    <a:pt x="177" y="513"/>
                  </a:cubicBezTo>
                  <a:cubicBezTo>
                    <a:pt x="161" y="522"/>
                    <a:pt x="131" y="533"/>
                    <a:pt x="119" y="539"/>
                  </a:cubicBezTo>
                  <a:cubicBezTo>
                    <a:pt x="106" y="545"/>
                    <a:pt x="112" y="564"/>
                    <a:pt x="112" y="564"/>
                  </a:cubicBezTo>
                  <a:cubicBezTo>
                    <a:pt x="102" y="555"/>
                    <a:pt x="102" y="555"/>
                    <a:pt x="102" y="555"/>
                  </a:cubicBezTo>
                  <a:cubicBezTo>
                    <a:pt x="102" y="555"/>
                    <a:pt x="67" y="577"/>
                    <a:pt x="56" y="583"/>
                  </a:cubicBezTo>
                  <a:cubicBezTo>
                    <a:pt x="44" y="590"/>
                    <a:pt x="39" y="587"/>
                    <a:pt x="23" y="593"/>
                  </a:cubicBezTo>
                  <a:cubicBezTo>
                    <a:pt x="7" y="599"/>
                    <a:pt x="0" y="608"/>
                    <a:pt x="0" y="608"/>
                  </a:cubicBezTo>
                  <a:cubicBezTo>
                    <a:pt x="0" y="608"/>
                    <a:pt x="20" y="607"/>
                    <a:pt x="18" y="611"/>
                  </a:cubicBezTo>
                  <a:cubicBezTo>
                    <a:pt x="16" y="615"/>
                    <a:pt x="8" y="620"/>
                    <a:pt x="12" y="629"/>
                  </a:cubicBezTo>
                  <a:cubicBezTo>
                    <a:pt x="17" y="638"/>
                    <a:pt x="40" y="624"/>
                    <a:pt x="40" y="624"/>
                  </a:cubicBezTo>
                  <a:cubicBezTo>
                    <a:pt x="47" y="631"/>
                    <a:pt x="47" y="631"/>
                    <a:pt x="47" y="631"/>
                  </a:cubicBezTo>
                  <a:cubicBezTo>
                    <a:pt x="63" y="631"/>
                    <a:pt x="63" y="631"/>
                    <a:pt x="63" y="631"/>
                  </a:cubicBezTo>
                  <a:cubicBezTo>
                    <a:pt x="65" y="637"/>
                    <a:pt x="65" y="637"/>
                    <a:pt x="65" y="637"/>
                  </a:cubicBezTo>
                  <a:cubicBezTo>
                    <a:pt x="87" y="634"/>
                    <a:pt x="87" y="634"/>
                    <a:pt x="87" y="634"/>
                  </a:cubicBezTo>
                  <a:cubicBezTo>
                    <a:pt x="96" y="648"/>
                    <a:pt x="96" y="648"/>
                    <a:pt x="96" y="648"/>
                  </a:cubicBezTo>
                  <a:cubicBezTo>
                    <a:pt x="118" y="645"/>
                    <a:pt x="118" y="645"/>
                    <a:pt x="118" y="645"/>
                  </a:cubicBezTo>
                  <a:cubicBezTo>
                    <a:pt x="118" y="645"/>
                    <a:pt x="136" y="656"/>
                    <a:pt x="152" y="653"/>
                  </a:cubicBezTo>
                  <a:cubicBezTo>
                    <a:pt x="167" y="650"/>
                    <a:pt x="172" y="634"/>
                    <a:pt x="182" y="627"/>
                  </a:cubicBezTo>
                  <a:cubicBezTo>
                    <a:pt x="192" y="620"/>
                    <a:pt x="200" y="630"/>
                    <a:pt x="215" y="620"/>
                  </a:cubicBezTo>
                  <a:cubicBezTo>
                    <a:pt x="230" y="610"/>
                    <a:pt x="220" y="597"/>
                    <a:pt x="232" y="586"/>
                  </a:cubicBezTo>
                  <a:cubicBezTo>
                    <a:pt x="243" y="574"/>
                    <a:pt x="257" y="582"/>
                    <a:pt x="265" y="574"/>
                  </a:cubicBezTo>
                  <a:cubicBezTo>
                    <a:pt x="273" y="567"/>
                    <a:pt x="265" y="558"/>
                    <a:pt x="265" y="558"/>
                  </a:cubicBezTo>
                  <a:cubicBezTo>
                    <a:pt x="279" y="557"/>
                    <a:pt x="279" y="557"/>
                    <a:pt x="279" y="557"/>
                  </a:cubicBezTo>
                  <a:cubicBezTo>
                    <a:pt x="318" y="527"/>
                    <a:pt x="318" y="527"/>
                    <a:pt x="318" y="527"/>
                  </a:cubicBezTo>
                  <a:cubicBezTo>
                    <a:pt x="306" y="517"/>
                    <a:pt x="306" y="517"/>
                    <a:pt x="306" y="517"/>
                  </a:cubicBezTo>
                  <a:cubicBezTo>
                    <a:pt x="333" y="527"/>
                    <a:pt x="333" y="527"/>
                    <a:pt x="333" y="527"/>
                  </a:cubicBezTo>
                  <a:cubicBezTo>
                    <a:pt x="333" y="527"/>
                    <a:pt x="334" y="511"/>
                    <a:pt x="343" y="510"/>
                  </a:cubicBezTo>
                  <a:cubicBezTo>
                    <a:pt x="352" y="509"/>
                    <a:pt x="360" y="517"/>
                    <a:pt x="372" y="520"/>
                  </a:cubicBezTo>
                  <a:cubicBezTo>
                    <a:pt x="383" y="522"/>
                    <a:pt x="388" y="503"/>
                    <a:pt x="388" y="503"/>
                  </a:cubicBezTo>
                  <a:cubicBezTo>
                    <a:pt x="378" y="495"/>
                    <a:pt x="378" y="495"/>
                    <a:pt x="378" y="495"/>
                  </a:cubicBezTo>
                  <a:cubicBezTo>
                    <a:pt x="395" y="480"/>
                    <a:pt x="395" y="480"/>
                    <a:pt x="395" y="480"/>
                  </a:cubicBezTo>
                  <a:cubicBezTo>
                    <a:pt x="407" y="466"/>
                    <a:pt x="407" y="466"/>
                    <a:pt x="407" y="466"/>
                  </a:cubicBezTo>
                  <a:cubicBezTo>
                    <a:pt x="407" y="466"/>
                    <a:pt x="418" y="459"/>
                    <a:pt x="430" y="456"/>
                  </a:cubicBezTo>
                  <a:cubicBezTo>
                    <a:pt x="442" y="453"/>
                    <a:pt x="447" y="436"/>
                    <a:pt x="447" y="436"/>
                  </a:cubicBezTo>
                  <a:cubicBezTo>
                    <a:pt x="447" y="436"/>
                    <a:pt x="458" y="434"/>
                    <a:pt x="468" y="430"/>
                  </a:cubicBezTo>
                  <a:cubicBezTo>
                    <a:pt x="479" y="426"/>
                    <a:pt x="488" y="408"/>
                    <a:pt x="488" y="408"/>
                  </a:cubicBezTo>
                  <a:cubicBezTo>
                    <a:pt x="488" y="408"/>
                    <a:pt x="508" y="401"/>
                    <a:pt x="518" y="389"/>
                  </a:cubicBezTo>
                  <a:cubicBezTo>
                    <a:pt x="529" y="376"/>
                    <a:pt x="516" y="353"/>
                    <a:pt x="516" y="353"/>
                  </a:cubicBezTo>
                  <a:lnTo>
                    <a:pt x="498" y="375"/>
                  </a:lnTo>
                  <a:close/>
                  <a:moveTo>
                    <a:pt x="815" y="215"/>
                  </a:moveTo>
                  <a:cubicBezTo>
                    <a:pt x="823" y="210"/>
                    <a:pt x="831" y="213"/>
                    <a:pt x="841" y="205"/>
                  </a:cubicBezTo>
                  <a:cubicBezTo>
                    <a:pt x="851" y="197"/>
                    <a:pt x="847" y="183"/>
                    <a:pt x="839" y="176"/>
                  </a:cubicBezTo>
                  <a:cubicBezTo>
                    <a:pt x="831" y="168"/>
                    <a:pt x="821" y="186"/>
                    <a:pt x="821" y="186"/>
                  </a:cubicBezTo>
                  <a:cubicBezTo>
                    <a:pt x="821" y="186"/>
                    <a:pt x="815" y="186"/>
                    <a:pt x="806" y="184"/>
                  </a:cubicBezTo>
                  <a:cubicBezTo>
                    <a:pt x="798" y="181"/>
                    <a:pt x="780" y="195"/>
                    <a:pt x="768" y="192"/>
                  </a:cubicBezTo>
                  <a:cubicBezTo>
                    <a:pt x="756" y="189"/>
                    <a:pt x="761" y="145"/>
                    <a:pt x="761" y="145"/>
                  </a:cubicBezTo>
                  <a:cubicBezTo>
                    <a:pt x="777" y="120"/>
                    <a:pt x="777" y="120"/>
                    <a:pt x="777" y="120"/>
                  </a:cubicBezTo>
                  <a:cubicBezTo>
                    <a:pt x="777" y="120"/>
                    <a:pt x="777" y="102"/>
                    <a:pt x="767" y="103"/>
                  </a:cubicBezTo>
                  <a:cubicBezTo>
                    <a:pt x="756" y="103"/>
                    <a:pt x="756" y="119"/>
                    <a:pt x="756" y="129"/>
                  </a:cubicBezTo>
                  <a:cubicBezTo>
                    <a:pt x="755" y="138"/>
                    <a:pt x="743" y="146"/>
                    <a:pt x="743" y="146"/>
                  </a:cubicBezTo>
                  <a:cubicBezTo>
                    <a:pt x="740" y="126"/>
                    <a:pt x="740" y="126"/>
                    <a:pt x="740" y="126"/>
                  </a:cubicBezTo>
                  <a:cubicBezTo>
                    <a:pt x="726" y="113"/>
                    <a:pt x="726" y="113"/>
                    <a:pt x="726" y="113"/>
                  </a:cubicBezTo>
                  <a:cubicBezTo>
                    <a:pt x="726" y="113"/>
                    <a:pt x="750" y="82"/>
                    <a:pt x="750" y="62"/>
                  </a:cubicBezTo>
                  <a:cubicBezTo>
                    <a:pt x="751" y="42"/>
                    <a:pt x="717" y="41"/>
                    <a:pt x="717" y="41"/>
                  </a:cubicBezTo>
                  <a:cubicBezTo>
                    <a:pt x="720" y="27"/>
                    <a:pt x="720" y="27"/>
                    <a:pt x="720" y="27"/>
                  </a:cubicBezTo>
                  <a:cubicBezTo>
                    <a:pt x="707" y="25"/>
                    <a:pt x="707" y="25"/>
                    <a:pt x="707" y="25"/>
                  </a:cubicBezTo>
                  <a:cubicBezTo>
                    <a:pt x="692" y="11"/>
                    <a:pt x="692" y="11"/>
                    <a:pt x="692" y="11"/>
                  </a:cubicBezTo>
                  <a:cubicBezTo>
                    <a:pt x="699" y="0"/>
                    <a:pt x="699" y="0"/>
                    <a:pt x="699" y="0"/>
                  </a:cubicBezTo>
                  <a:cubicBezTo>
                    <a:pt x="679" y="12"/>
                    <a:pt x="679" y="12"/>
                    <a:pt x="679" y="12"/>
                  </a:cubicBezTo>
                  <a:cubicBezTo>
                    <a:pt x="692" y="35"/>
                    <a:pt x="692" y="35"/>
                    <a:pt x="692" y="35"/>
                  </a:cubicBezTo>
                  <a:cubicBezTo>
                    <a:pt x="686" y="60"/>
                    <a:pt x="686" y="60"/>
                    <a:pt x="686" y="60"/>
                  </a:cubicBezTo>
                  <a:cubicBezTo>
                    <a:pt x="701" y="66"/>
                    <a:pt x="701" y="66"/>
                    <a:pt x="701" y="66"/>
                  </a:cubicBezTo>
                  <a:cubicBezTo>
                    <a:pt x="692" y="70"/>
                    <a:pt x="692" y="70"/>
                    <a:pt x="692" y="70"/>
                  </a:cubicBezTo>
                  <a:cubicBezTo>
                    <a:pt x="696" y="84"/>
                    <a:pt x="696" y="84"/>
                    <a:pt x="696" y="84"/>
                  </a:cubicBezTo>
                  <a:cubicBezTo>
                    <a:pt x="712" y="89"/>
                    <a:pt x="712" y="89"/>
                    <a:pt x="712" y="89"/>
                  </a:cubicBezTo>
                  <a:cubicBezTo>
                    <a:pt x="696" y="97"/>
                    <a:pt x="696" y="97"/>
                    <a:pt x="696" y="97"/>
                  </a:cubicBezTo>
                  <a:cubicBezTo>
                    <a:pt x="705" y="102"/>
                    <a:pt x="705" y="102"/>
                    <a:pt x="705" y="102"/>
                  </a:cubicBezTo>
                  <a:cubicBezTo>
                    <a:pt x="705" y="102"/>
                    <a:pt x="702" y="116"/>
                    <a:pt x="702" y="122"/>
                  </a:cubicBezTo>
                  <a:cubicBezTo>
                    <a:pt x="702" y="129"/>
                    <a:pt x="715" y="136"/>
                    <a:pt x="715" y="136"/>
                  </a:cubicBezTo>
                  <a:cubicBezTo>
                    <a:pt x="702" y="138"/>
                    <a:pt x="702" y="138"/>
                    <a:pt x="702" y="138"/>
                  </a:cubicBezTo>
                  <a:cubicBezTo>
                    <a:pt x="694" y="148"/>
                    <a:pt x="694" y="148"/>
                    <a:pt x="694" y="148"/>
                  </a:cubicBezTo>
                  <a:cubicBezTo>
                    <a:pt x="705" y="154"/>
                    <a:pt x="705" y="154"/>
                    <a:pt x="705" y="154"/>
                  </a:cubicBezTo>
                  <a:cubicBezTo>
                    <a:pt x="705" y="154"/>
                    <a:pt x="684" y="174"/>
                    <a:pt x="682" y="185"/>
                  </a:cubicBezTo>
                  <a:cubicBezTo>
                    <a:pt x="681" y="196"/>
                    <a:pt x="691" y="199"/>
                    <a:pt x="691" y="199"/>
                  </a:cubicBezTo>
                  <a:cubicBezTo>
                    <a:pt x="691" y="199"/>
                    <a:pt x="669" y="203"/>
                    <a:pt x="656" y="209"/>
                  </a:cubicBezTo>
                  <a:cubicBezTo>
                    <a:pt x="643" y="214"/>
                    <a:pt x="646" y="217"/>
                    <a:pt x="630" y="229"/>
                  </a:cubicBezTo>
                  <a:cubicBezTo>
                    <a:pt x="613" y="242"/>
                    <a:pt x="599" y="243"/>
                    <a:pt x="578" y="255"/>
                  </a:cubicBezTo>
                  <a:cubicBezTo>
                    <a:pt x="557" y="268"/>
                    <a:pt x="576" y="302"/>
                    <a:pt x="576" y="302"/>
                  </a:cubicBezTo>
                  <a:cubicBezTo>
                    <a:pt x="576" y="302"/>
                    <a:pt x="599" y="300"/>
                    <a:pt x="609" y="302"/>
                  </a:cubicBezTo>
                  <a:cubicBezTo>
                    <a:pt x="619" y="304"/>
                    <a:pt x="609" y="323"/>
                    <a:pt x="609" y="338"/>
                  </a:cubicBezTo>
                  <a:cubicBezTo>
                    <a:pt x="610" y="354"/>
                    <a:pt x="593" y="353"/>
                    <a:pt x="576" y="359"/>
                  </a:cubicBezTo>
                  <a:cubicBezTo>
                    <a:pt x="559" y="365"/>
                    <a:pt x="567" y="370"/>
                    <a:pt x="567" y="370"/>
                  </a:cubicBezTo>
                  <a:cubicBezTo>
                    <a:pt x="557" y="381"/>
                    <a:pt x="557" y="381"/>
                    <a:pt x="557" y="381"/>
                  </a:cubicBezTo>
                  <a:cubicBezTo>
                    <a:pt x="557" y="381"/>
                    <a:pt x="575" y="394"/>
                    <a:pt x="589" y="390"/>
                  </a:cubicBezTo>
                  <a:cubicBezTo>
                    <a:pt x="602" y="385"/>
                    <a:pt x="633" y="351"/>
                    <a:pt x="644" y="340"/>
                  </a:cubicBezTo>
                  <a:cubicBezTo>
                    <a:pt x="655" y="329"/>
                    <a:pt x="682" y="321"/>
                    <a:pt x="687" y="321"/>
                  </a:cubicBezTo>
                  <a:cubicBezTo>
                    <a:pt x="692" y="320"/>
                    <a:pt x="697" y="308"/>
                    <a:pt x="697" y="308"/>
                  </a:cubicBezTo>
                  <a:cubicBezTo>
                    <a:pt x="697" y="308"/>
                    <a:pt x="704" y="305"/>
                    <a:pt x="715" y="301"/>
                  </a:cubicBezTo>
                  <a:cubicBezTo>
                    <a:pt x="726" y="296"/>
                    <a:pt x="715" y="277"/>
                    <a:pt x="715" y="277"/>
                  </a:cubicBezTo>
                  <a:cubicBezTo>
                    <a:pt x="715" y="277"/>
                    <a:pt x="725" y="269"/>
                    <a:pt x="738" y="263"/>
                  </a:cubicBezTo>
                  <a:cubicBezTo>
                    <a:pt x="752" y="257"/>
                    <a:pt x="762" y="269"/>
                    <a:pt x="774" y="266"/>
                  </a:cubicBezTo>
                  <a:cubicBezTo>
                    <a:pt x="786" y="264"/>
                    <a:pt x="782" y="240"/>
                    <a:pt x="782" y="240"/>
                  </a:cubicBezTo>
                  <a:cubicBezTo>
                    <a:pt x="782" y="240"/>
                    <a:pt x="793" y="237"/>
                    <a:pt x="805" y="236"/>
                  </a:cubicBezTo>
                  <a:cubicBezTo>
                    <a:pt x="816" y="235"/>
                    <a:pt x="808" y="221"/>
                    <a:pt x="815" y="215"/>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546" name="Freeform 338">
              <a:extLst>
                <a:ext uri="{FF2B5EF4-FFF2-40B4-BE49-F238E27FC236}">
                  <a16:creationId xmlns:a16="http://schemas.microsoft.com/office/drawing/2014/main" id="{63F3F7CD-47DB-4B65-98D0-28536CA567A8}"/>
                </a:ext>
              </a:extLst>
            </p:cNvPr>
            <p:cNvSpPr>
              <a:spLocks noEditPoints="1"/>
            </p:cNvSpPr>
            <p:nvPr/>
          </p:nvSpPr>
          <p:spPr bwMode="gray">
            <a:xfrm>
              <a:off x="8255441" y="3055875"/>
              <a:ext cx="1287292" cy="1137808"/>
            </a:xfrm>
            <a:custGeom>
              <a:avLst/>
              <a:gdLst>
                <a:gd name="T0" fmla="*/ 971 w 1898"/>
                <a:gd name="T1" fmla="*/ 1367 h 1774"/>
                <a:gd name="T2" fmla="*/ 1008 w 1898"/>
                <a:gd name="T3" fmla="*/ 1349 h 1774"/>
                <a:gd name="T4" fmla="*/ 1830 w 1898"/>
                <a:gd name="T5" fmla="*/ 698 h 1774"/>
                <a:gd name="T6" fmla="*/ 1797 w 1898"/>
                <a:gd name="T7" fmla="*/ 622 h 1774"/>
                <a:gd name="T8" fmla="*/ 1707 w 1898"/>
                <a:gd name="T9" fmla="*/ 471 h 1774"/>
                <a:gd name="T10" fmla="*/ 1649 w 1898"/>
                <a:gd name="T11" fmla="*/ 192 h 1774"/>
                <a:gd name="T12" fmla="*/ 1596 w 1898"/>
                <a:gd name="T13" fmla="*/ 64 h 1774"/>
                <a:gd name="T14" fmla="*/ 1541 w 1898"/>
                <a:gd name="T15" fmla="*/ 18 h 1774"/>
                <a:gd name="T16" fmla="*/ 1494 w 1898"/>
                <a:gd name="T17" fmla="*/ 189 h 1774"/>
                <a:gd name="T18" fmla="*/ 1283 w 1898"/>
                <a:gd name="T19" fmla="*/ 306 h 1774"/>
                <a:gd name="T20" fmla="*/ 1239 w 1898"/>
                <a:gd name="T21" fmla="*/ 181 h 1774"/>
                <a:gd name="T22" fmla="*/ 1269 w 1898"/>
                <a:gd name="T23" fmla="*/ 69 h 1774"/>
                <a:gd name="T24" fmla="*/ 1170 w 1898"/>
                <a:gd name="T25" fmla="*/ 75 h 1774"/>
                <a:gd name="T26" fmla="*/ 1050 w 1898"/>
                <a:gd name="T27" fmla="*/ 42 h 1774"/>
                <a:gd name="T28" fmla="*/ 1012 w 1898"/>
                <a:gd name="T29" fmla="*/ 86 h 1774"/>
                <a:gd name="T30" fmla="*/ 910 w 1898"/>
                <a:gd name="T31" fmla="*/ 212 h 1774"/>
                <a:gd name="T32" fmla="*/ 872 w 1898"/>
                <a:gd name="T33" fmla="*/ 235 h 1774"/>
                <a:gd name="T34" fmla="*/ 848 w 1898"/>
                <a:gd name="T35" fmla="*/ 215 h 1774"/>
                <a:gd name="T36" fmla="*/ 788 w 1898"/>
                <a:gd name="T37" fmla="*/ 185 h 1774"/>
                <a:gd name="T38" fmla="*/ 731 w 1898"/>
                <a:gd name="T39" fmla="*/ 238 h 1774"/>
                <a:gd name="T40" fmla="*/ 676 w 1898"/>
                <a:gd name="T41" fmla="*/ 279 h 1774"/>
                <a:gd name="T42" fmla="*/ 614 w 1898"/>
                <a:gd name="T43" fmla="*/ 310 h 1774"/>
                <a:gd name="T44" fmla="*/ 606 w 1898"/>
                <a:gd name="T45" fmla="*/ 348 h 1774"/>
                <a:gd name="T46" fmla="*/ 531 w 1898"/>
                <a:gd name="T47" fmla="*/ 409 h 1774"/>
                <a:gd name="T48" fmla="*/ 359 w 1898"/>
                <a:gd name="T49" fmla="*/ 505 h 1774"/>
                <a:gd name="T50" fmla="*/ 218 w 1898"/>
                <a:gd name="T51" fmla="*/ 554 h 1774"/>
                <a:gd name="T52" fmla="*/ 83 w 1898"/>
                <a:gd name="T53" fmla="*/ 649 h 1774"/>
                <a:gd name="T54" fmla="*/ 48 w 1898"/>
                <a:gd name="T55" fmla="*/ 813 h 1774"/>
                <a:gd name="T56" fmla="*/ 35 w 1898"/>
                <a:gd name="T57" fmla="*/ 937 h 1774"/>
                <a:gd name="T58" fmla="*/ 87 w 1898"/>
                <a:gd name="T59" fmla="*/ 1141 h 1774"/>
                <a:gd name="T60" fmla="*/ 56 w 1898"/>
                <a:gd name="T61" fmla="*/ 1305 h 1774"/>
                <a:gd name="T62" fmla="*/ 186 w 1898"/>
                <a:gd name="T63" fmla="*/ 1285 h 1774"/>
                <a:gd name="T64" fmla="*/ 384 w 1898"/>
                <a:gd name="T65" fmla="*/ 1244 h 1774"/>
                <a:gd name="T66" fmla="*/ 594 w 1898"/>
                <a:gd name="T67" fmla="*/ 1153 h 1774"/>
                <a:gd name="T68" fmla="*/ 896 w 1898"/>
                <a:gd name="T69" fmla="*/ 1136 h 1774"/>
                <a:gd name="T70" fmla="*/ 932 w 1898"/>
                <a:gd name="T71" fmla="*/ 1225 h 1774"/>
                <a:gd name="T72" fmla="*/ 962 w 1898"/>
                <a:gd name="T73" fmla="*/ 1304 h 1774"/>
                <a:gd name="T74" fmla="*/ 1060 w 1898"/>
                <a:gd name="T75" fmla="*/ 1224 h 1774"/>
                <a:gd name="T76" fmla="*/ 1083 w 1898"/>
                <a:gd name="T77" fmla="*/ 1210 h 1774"/>
                <a:gd name="T78" fmla="*/ 1011 w 1898"/>
                <a:gd name="T79" fmla="*/ 1319 h 1774"/>
                <a:gd name="T80" fmla="*/ 1072 w 1898"/>
                <a:gd name="T81" fmla="*/ 1339 h 1774"/>
                <a:gd name="T82" fmla="*/ 1118 w 1898"/>
                <a:gd name="T83" fmla="*/ 1477 h 1774"/>
                <a:gd name="T84" fmla="*/ 1319 w 1898"/>
                <a:gd name="T85" fmla="*/ 1502 h 1774"/>
                <a:gd name="T86" fmla="*/ 1360 w 1898"/>
                <a:gd name="T87" fmla="*/ 1532 h 1774"/>
                <a:gd name="T88" fmla="*/ 1533 w 1898"/>
                <a:gd name="T89" fmla="*/ 1461 h 1774"/>
                <a:gd name="T90" fmla="*/ 1641 w 1898"/>
                <a:gd name="T91" fmla="*/ 1275 h 1774"/>
                <a:gd name="T92" fmla="*/ 1874 w 1898"/>
                <a:gd name="T93" fmla="*/ 952 h 1774"/>
                <a:gd name="T94" fmla="*/ 1364 w 1898"/>
                <a:gd name="T95" fmla="*/ 1612 h 1774"/>
                <a:gd name="T96" fmla="*/ 1274 w 1898"/>
                <a:gd name="T97" fmla="*/ 1651 h 1774"/>
                <a:gd name="T98" fmla="*/ 1184 w 1898"/>
                <a:gd name="T99" fmla="*/ 1616 h 1774"/>
                <a:gd name="T100" fmla="*/ 1155 w 1898"/>
                <a:gd name="T101" fmla="*/ 1713 h 1774"/>
                <a:gd name="T102" fmla="*/ 1214 w 1898"/>
                <a:gd name="T103" fmla="*/ 1769 h 1774"/>
                <a:gd name="T104" fmla="*/ 1282 w 1898"/>
                <a:gd name="T105" fmla="*/ 1706 h 1774"/>
                <a:gd name="T106" fmla="*/ 1290 w 1898"/>
                <a:gd name="T107" fmla="*/ 195 h 1774"/>
                <a:gd name="T108" fmla="*/ 1209 w 1898"/>
                <a:gd name="T109" fmla="*/ 1549 h 1774"/>
                <a:gd name="T110" fmla="*/ 1357 w 1898"/>
                <a:gd name="T111" fmla="*/ 1597 h 17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898" h="1774">
                  <a:moveTo>
                    <a:pt x="1024" y="43"/>
                  </a:moveTo>
                  <a:cubicBezTo>
                    <a:pt x="1014" y="29"/>
                    <a:pt x="990" y="54"/>
                    <a:pt x="999" y="65"/>
                  </a:cubicBezTo>
                  <a:cubicBezTo>
                    <a:pt x="1008" y="75"/>
                    <a:pt x="1024" y="43"/>
                    <a:pt x="1024" y="43"/>
                  </a:cubicBezTo>
                  <a:close/>
                  <a:moveTo>
                    <a:pt x="986" y="1341"/>
                  </a:moveTo>
                  <a:cubicBezTo>
                    <a:pt x="972" y="1343"/>
                    <a:pt x="954" y="1348"/>
                    <a:pt x="961" y="1354"/>
                  </a:cubicBezTo>
                  <a:cubicBezTo>
                    <a:pt x="968" y="1360"/>
                    <a:pt x="971" y="1367"/>
                    <a:pt x="971" y="1367"/>
                  </a:cubicBezTo>
                  <a:cubicBezTo>
                    <a:pt x="985" y="1367"/>
                    <a:pt x="999" y="1359"/>
                    <a:pt x="999" y="1359"/>
                  </a:cubicBezTo>
                  <a:cubicBezTo>
                    <a:pt x="1007" y="1359"/>
                    <a:pt x="1007" y="1359"/>
                    <a:pt x="1007" y="1359"/>
                  </a:cubicBezTo>
                  <a:cubicBezTo>
                    <a:pt x="1011" y="1356"/>
                    <a:pt x="1011" y="1356"/>
                    <a:pt x="1011" y="1356"/>
                  </a:cubicBezTo>
                  <a:cubicBezTo>
                    <a:pt x="1022" y="1356"/>
                    <a:pt x="1022" y="1356"/>
                    <a:pt x="1022" y="1356"/>
                  </a:cubicBezTo>
                  <a:cubicBezTo>
                    <a:pt x="1026" y="1351"/>
                    <a:pt x="1026" y="1351"/>
                    <a:pt x="1026" y="1351"/>
                  </a:cubicBezTo>
                  <a:cubicBezTo>
                    <a:pt x="1008" y="1349"/>
                    <a:pt x="1008" y="1349"/>
                    <a:pt x="1008" y="1349"/>
                  </a:cubicBezTo>
                  <a:cubicBezTo>
                    <a:pt x="1008" y="1349"/>
                    <a:pt x="1000" y="1340"/>
                    <a:pt x="986" y="1341"/>
                  </a:cubicBezTo>
                  <a:close/>
                  <a:moveTo>
                    <a:pt x="1869" y="774"/>
                  </a:moveTo>
                  <a:cubicBezTo>
                    <a:pt x="1869" y="774"/>
                    <a:pt x="1866" y="733"/>
                    <a:pt x="1865" y="727"/>
                  </a:cubicBezTo>
                  <a:cubicBezTo>
                    <a:pt x="1863" y="721"/>
                    <a:pt x="1843" y="720"/>
                    <a:pt x="1843" y="720"/>
                  </a:cubicBezTo>
                  <a:cubicBezTo>
                    <a:pt x="1843" y="706"/>
                    <a:pt x="1843" y="706"/>
                    <a:pt x="1843" y="706"/>
                  </a:cubicBezTo>
                  <a:cubicBezTo>
                    <a:pt x="1830" y="698"/>
                    <a:pt x="1830" y="698"/>
                    <a:pt x="1830" y="698"/>
                  </a:cubicBezTo>
                  <a:cubicBezTo>
                    <a:pt x="1830" y="698"/>
                    <a:pt x="1835" y="681"/>
                    <a:pt x="1830" y="674"/>
                  </a:cubicBezTo>
                  <a:cubicBezTo>
                    <a:pt x="1825" y="667"/>
                    <a:pt x="1805" y="660"/>
                    <a:pt x="1805" y="660"/>
                  </a:cubicBezTo>
                  <a:cubicBezTo>
                    <a:pt x="1805" y="660"/>
                    <a:pt x="1840" y="654"/>
                    <a:pt x="1842" y="641"/>
                  </a:cubicBezTo>
                  <a:cubicBezTo>
                    <a:pt x="1844" y="627"/>
                    <a:pt x="1822" y="623"/>
                    <a:pt x="1822" y="623"/>
                  </a:cubicBezTo>
                  <a:cubicBezTo>
                    <a:pt x="1822" y="623"/>
                    <a:pt x="1815" y="602"/>
                    <a:pt x="1804" y="603"/>
                  </a:cubicBezTo>
                  <a:cubicBezTo>
                    <a:pt x="1792" y="604"/>
                    <a:pt x="1797" y="622"/>
                    <a:pt x="1797" y="622"/>
                  </a:cubicBezTo>
                  <a:cubicBezTo>
                    <a:pt x="1783" y="619"/>
                    <a:pt x="1783" y="619"/>
                    <a:pt x="1783" y="619"/>
                  </a:cubicBezTo>
                  <a:cubicBezTo>
                    <a:pt x="1783" y="619"/>
                    <a:pt x="1796" y="578"/>
                    <a:pt x="1796" y="568"/>
                  </a:cubicBezTo>
                  <a:cubicBezTo>
                    <a:pt x="1795" y="559"/>
                    <a:pt x="1775" y="557"/>
                    <a:pt x="1771" y="547"/>
                  </a:cubicBezTo>
                  <a:cubicBezTo>
                    <a:pt x="1768" y="538"/>
                    <a:pt x="1781" y="521"/>
                    <a:pt x="1777" y="507"/>
                  </a:cubicBezTo>
                  <a:cubicBezTo>
                    <a:pt x="1773" y="494"/>
                    <a:pt x="1713" y="465"/>
                    <a:pt x="1713" y="465"/>
                  </a:cubicBezTo>
                  <a:cubicBezTo>
                    <a:pt x="1707" y="471"/>
                    <a:pt x="1707" y="471"/>
                    <a:pt x="1707" y="471"/>
                  </a:cubicBezTo>
                  <a:cubicBezTo>
                    <a:pt x="1707" y="471"/>
                    <a:pt x="1679" y="439"/>
                    <a:pt x="1677" y="417"/>
                  </a:cubicBezTo>
                  <a:cubicBezTo>
                    <a:pt x="1676" y="394"/>
                    <a:pt x="1685" y="381"/>
                    <a:pt x="1685" y="361"/>
                  </a:cubicBezTo>
                  <a:cubicBezTo>
                    <a:pt x="1685" y="341"/>
                    <a:pt x="1666" y="298"/>
                    <a:pt x="1662" y="282"/>
                  </a:cubicBezTo>
                  <a:cubicBezTo>
                    <a:pt x="1658" y="266"/>
                    <a:pt x="1669" y="256"/>
                    <a:pt x="1671" y="247"/>
                  </a:cubicBezTo>
                  <a:cubicBezTo>
                    <a:pt x="1673" y="238"/>
                    <a:pt x="1666" y="200"/>
                    <a:pt x="1666" y="200"/>
                  </a:cubicBezTo>
                  <a:cubicBezTo>
                    <a:pt x="1649" y="192"/>
                    <a:pt x="1649" y="192"/>
                    <a:pt x="1649" y="192"/>
                  </a:cubicBezTo>
                  <a:cubicBezTo>
                    <a:pt x="1649" y="192"/>
                    <a:pt x="1635" y="177"/>
                    <a:pt x="1625" y="177"/>
                  </a:cubicBezTo>
                  <a:cubicBezTo>
                    <a:pt x="1615" y="176"/>
                    <a:pt x="1609" y="191"/>
                    <a:pt x="1609" y="191"/>
                  </a:cubicBezTo>
                  <a:cubicBezTo>
                    <a:pt x="1609" y="191"/>
                    <a:pt x="1602" y="176"/>
                    <a:pt x="1601" y="167"/>
                  </a:cubicBezTo>
                  <a:cubicBezTo>
                    <a:pt x="1600" y="159"/>
                    <a:pt x="1607" y="135"/>
                    <a:pt x="1607" y="135"/>
                  </a:cubicBezTo>
                  <a:cubicBezTo>
                    <a:pt x="1596" y="120"/>
                    <a:pt x="1596" y="120"/>
                    <a:pt x="1596" y="120"/>
                  </a:cubicBezTo>
                  <a:cubicBezTo>
                    <a:pt x="1596" y="64"/>
                    <a:pt x="1596" y="64"/>
                    <a:pt x="1596" y="64"/>
                  </a:cubicBezTo>
                  <a:cubicBezTo>
                    <a:pt x="1596" y="64"/>
                    <a:pt x="1575" y="50"/>
                    <a:pt x="1578" y="41"/>
                  </a:cubicBezTo>
                  <a:cubicBezTo>
                    <a:pt x="1582" y="32"/>
                    <a:pt x="1586" y="20"/>
                    <a:pt x="1581" y="15"/>
                  </a:cubicBezTo>
                  <a:cubicBezTo>
                    <a:pt x="1576" y="11"/>
                    <a:pt x="1564" y="9"/>
                    <a:pt x="1564" y="9"/>
                  </a:cubicBezTo>
                  <a:cubicBezTo>
                    <a:pt x="1565" y="0"/>
                    <a:pt x="1565" y="0"/>
                    <a:pt x="1565" y="0"/>
                  </a:cubicBezTo>
                  <a:cubicBezTo>
                    <a:pt x="1545" y="5"/>
                    <a:pt x="1545" y="5"/>
                    <a:pt x="1545" y="5"/>
                  </a:cubicBezTo>
                  <a:cubicBezTo>
                    <a:pt x="1541" y="18"/>
                    <a:pt x="1541" y="18"/>
                    <a:pt x="1541" y="18"/>
                  </a:cubicBezTo>
                  <a:cubicBezTo>
                    <a:pt x="1541" y="18"/>
                    <a:pt x="1529" y="26"/>
                    <a:pt x="1523" y="30"/>
                  </a:cubicBezTo>
                  <a:cubicBezTo>
                    <a:pt x="1518" y="34"/>
                    <a:pt x="1531" y="60"/>
                    <a:pt x="1531" y="70"/>
                  </a:cubicBezTo>
                  <a:cubicBezTo>
                    <a:pt x="1530" y="81"/>
                    <a:pt x="1496" y="118"/>
                    <a:pt x="1496" y="118"/>
                  </a:cubicBezTo>
                  <a:cubicBezTo>
                    <a:pt x="1507" y="127"/>
                    <a:pt x="1507" y="127"/>
                    <a:pt x="1507" y="127"/>
                  </a:cubicBezTo>
                  <a:cubicBezTo>
                    <a:pt x="1507" y="127"/>
                    <a:pt x="1492" y="147"/>
                    <a:pt x="1490" y="155"/>
                  </a:cubicBezTo>
                  <a:cubicBezTo>
                    <a:pt x="1488" y="163"/>
                    <a:pt x="1494" y="189"/>
                    <a:pt x="1494" y="189"/>
                  </a:cubicBezTo>
                  <a:cubicBezTo>
                    <a:pt x="1494" y="189"/>
                    <a:pt x="1473" y="273"/>
                    <a:pt x="1472" y="285"/>
                  </a:cubicBezTo>
                  <a:cubicBezTo>
                    <a:pt x="1471" y="296"/>
                    <a:pt x="1444" y="325"/>
                    <a:pt x="1444" y="325"/>
                  </a:cubicBezTo>
                  <a:cubicBezTo>
                    <a:pt x="1444" y="325"/>
                    <a:pt x="1445" y="358"/>
                    <a:pt x="1428" y="366"/>
                  </a:cubicBezTo>
                  <a:cubicBezTo>
                    <a:pt x="1411" y="373"/>
                    <a:pt x="1375" y="381"/>
                    <a:pt x="1375" y="381"/>
                  </a:cubicBezTo>
                  <a:cubicBezTo>
                    <a:pt x="1375" y="381"/>
                    <a:pt x="1354" y="347"/>
                    <a:pt x="1349" y="337"/>
                  </a:cubicBezTo>
                  <a:cubicBezTo>
                    <a:pt x="1344" y="328"/>
                    <a:pt x="1303" y="314"/>
                    <a:pt x="1283" y="306"/>
                  </a:cubicBezTo>
                  <a:cubicBezTo>
                    <a:pt x="1262" y="299"/>
                    <a:pt x="1249" y="266"/>
                    <a:pt x="1246" y="262"/>
                  </a:cubicBezTo>
                  <a:cubicBezTo>
                    <a:pt x="1243" y="259"/>
                    <a:pt x="1223" y="261"/>
                    <a:pt x="1223" y="261"/>
                  </a:cubicBezTo>
                  <a:cubicBezTo>
                    <a:pt x="1207" y="231"/>
                    <a:pt x="1207" y="231"/>
                    <a:pt x="1207" y="231"/>
                  </a:cubicBezTo>
                  <a:cubicBezTo>
                    <a:pt x="1220" y="217"/>
                    <a:pt x="1220" y="217"/>
                    <a:pt x="1220" y="217"/>
                  </a:cubicBezTo>
                  <a:cubicBezTo>
                    <a:pt x="1220" y="217"/>
                    <a:pt x="1213" y="206"/>
                    <a:pt x="1221" y="195"/>
                  </a:cubicBezTo>
                  <a:cubicBezTo>
                    <a:pt x="1229" y="184"/>
                    <a:pt x="1239" y="181"/>
                    <a:pt x="1239" y="181"/>
                  </a:cubicBezTo>
                  <a:cubicBezTo>
                    <a:pt x="1235" y="151"/>
                    <a:pt x="1235" y="151"/>
                    <a:pt x="1235" y="151"/>
                  </a:cubicBezTo>
                  <a:cubicBezTo>
                    <a:pt x="1248" y="139"/>
                    <a:pt x="1248" y="139"/>
                    <a:pt x="1248" y="139"/>
                  </a:cubicBezTo>
                  <a:cubicBezTo>
                    <a:pt x="1248" y="139"/>
                    <a:pt x="1262" y="146"/>
                    <a:pt x="1267" y="144"/>
                  </a:cubicBezTo>
                  <a:cubicBezTo>
                    <a:pt x="1273" y="142"/>
                    <a:pt x="1274" y="119"/>
                    <a:pt x="1274" y="119"/>
                  </a:cubicBezTo>
                  <a:cubicBezTo>
                    <a:pt x="1299" y="95"/>
                    <a:pt x="1299" y="95"/>
                    <a:pt x="1299" y="95"/>
                  </a:cubicBezTo>
                  <a:cubicBezTo>
                    <a:pt x="1299" y="95"/>
                    <a:pt x="1285" y="72"/>
                    <a:pt x="1269" y="69"/>
                  </a:cubicBezTo>
                  <a:cubicBezTo>
                    <a:pt x="1252" y="67"/>
                    <a:pt x="1231" y="92"/>
                    <a:pt x="1231" y="92"/>
                  </a:cubicBezTo>
                  <a:cubicBezTo>
                    <a:pt x="1229" y="78"/>
                    <a:pt x="1229" y="78"/>
                    <a:pt x="1229" y="78"/>
                  </a:cubicBezTo>
                  <a:cubicBezTo>
                    <a:pt x="1209" y="80"/>
                    <a:pt x="1209" y="80"/>
                    <a:pt x="1209" y="80"/>
                  </a:cubicBezTo>
                  <a:cubicBezTo>
                    <a:pt x="1200" y="89"/>
                    <a:pt x="1200" y="89"/>
                    <a:pt x="1200" y="89"/>
                  </a:cubicBezTo>
                  <a:cubicBezTo>
                    <a:pt x="1194" y="78"/>
                    <a:pt x="1194" y="78"/>
                    <a:pt x="1194" y="78"/>
                  </a:cubicBezTo>
                  <a:cubicBezTo>
                    <a:pt x="1170" y="75"/>
                    <a:pt x="1170" y="75"/>
                    <a:pt x="1170" y="75"/>
                  </a:cubicBezTo>
                  <a:cubicBezTo>
                    <a:pt x="1170" y="75"/>
                    <a:pt x="1144" y="56"/>
                    <a:pt x="1139" y="56"/>
                  </a:cubicBezTo>
                  <a:cubicBezTo>
                    <a:pt x="1135" y="57"/>
                    <a:pt x="1101" y="53"/>
                    <a:pt x="1101" y="53"/>
                  </a:cubicBezTo>
                  <a:cubicBezTo>
                    <a:pt x="1101" y="53"/>
                    <a:pt x="1093" y="31"/>
                    <a:pt x="1086" y="28"/>
                  </a:cubicBezTo>
                  <a:cubicBezTo>
                    <a:pt x="1080" y="24"/>
                    <a:pt x="1078" y="38"/>
                    <a:pt x="1078" y="38"/>
                  </a:cubicBezTo>
                  <a:cubicBezTo>
                    <a:pt x="1078" y="38"/>
                    <a:pt x="1053" y="25"/>
                    <a:pt x="1047" y="30"/>
                  </a:cubicBezTo>
                  <a:cubicBezTo>
                    <a:pt x="1041" y="34"/>
                    <a:pt x="1050" y="42"/>
                    <a:pt x="1050" y="42"/>
                  </a:cubicBezTo>
                  <a:cubicBezTo>
                    <a:pt x="1050" y="42"/>
                    <a:pt x="1037" y="41"/>
                    <a:pt x="1035" y="46"/>
                  </a:cubicBezTo>
                  <a:cubicBezTo>
                    <a:pt x="1032" y="52"/>
                    <a:pt x="1049" y="58"/>
                    <a:pt x="1060" y="61"/>
                  </a:cubicBezTo>
                  <a:cubicBezTo>
                    <a:pt x="1071" y="64"/>
                    <a:pt x="1077" y="56"/>
                    <a:pt x="1077" y="56"/>
                  </a:cubicBezTo>
                  <a:cubicBezTo>
                    <a:pt x="1099" y="65"/>
                    <a:pt x="1099" y="65"/>
                    <a:pt x="1099" y="65"/>
                  </a:cubicBezTo>
                  <a:cubicBezTo>
                    <a:pt x="1099" y="65"/>
                    <a:pt x="1077" y="78"/>
                    <a:pt x="1065" y="83"/>
                  </a:cubicBezTo>
                  <a:cubicBezTo>
                    <a:pt x="1054" y="88"/>
                    <a:pt x="1020" y="84"/>
                    <a:pt x="1012" y="86"/>
                  </a:cubicBezTo>
                  <a:cubicBezTo>
                    <a:pt x="1005" y="88"/>
                    <a:pt x="955" y="114"/>
                    <a:pt x="955" y="114"/>
                  </a:cubicBezTo>
                  <a:cubicBezTo>
                    <a:pt x="955" y="114"/>
                    <a:pt x="949" y="131"/>
                    <a:pt x="948" y="142"/>
                  </a:cubicBezTo>
                  <a:cubicBezTo>
                    <a:pt x="947" y="152"/>
                    <a:pt x="968" y="161"/>
                    <a:pt x="968" y="161"/>
                  </a:cubicBezTo>
                  <a:cubicBezTo>
                    <a:pt x="935" y="163"/>
                    <a:pt x="935" y="163"/>
                    <a:pt x="935" y="163"/>
                  </a:cubicBezTo>
                  <a:cubicBezTo>
                    <a:pt x="912" y="185"/>
                    <a:pt x="912" y="185"/>
                    <a:pt x="912" y="185"/>
                  </a:cubicBezTo>
                  <a:cubicBezTo>
                    <a:pt x="912" y="185"/>
                    <a:pt x="916" y="205"/>
                    <a:pt x="910" y="212"/>
                  </a:cubicBezTo>
                  <a:cubicBezTo>
                    <a:pt x="904" y="219"/>
                    <a:pt x="927" y="226"/>
                    <a:pt x="936" y="231"/>
                  </a:cubicBezTo>
                  <a:cubicBezTo>
                    <a:pt x="946" y="235"/>
                    <a:pt x="942" y="256"/>
                    <a:pt x="942" y="256"/>
                  </a:cubicBezTo>
                  <a:cubicBezTo>
                    <a:pt x="927" y="242"/>
                    <a:pt x="927" y="242"/>
                    <a:pt x="927" y="242"/>
                  </a:cubicBezTo>
                  <a:cubicBezTo>
                    <a:pt x="907" y="244"/>
                    <a:pt x="907" y="244"/>
                    <a:pt x="907" y="244"/>
                  </a:cubicBezTo>
                  <a:cubicBezTo>
                    <a:pt x="899" y="256"/>
                    <a:pt x="899" y="256"/>
                    <a:pt x="899" y="256"/>
                  </a:cubicBezTo>
                  <a:cubicBezTo>
                    <a:pt x="872" y="235"/>
                    <a:pt x="872" y="235"/>
                    <a:pt x="872" y="235"/>
                  </a:cubicBezTo>
                  <a:cubicBezTo>
                    <a:pt x="869" y="256"/>
                    <a:pt x="869" y="256"/>
                    <a:pt x="869" y="256"/>
                  </a:cubicBezTo>
                  <a:cubicBezTo>
                    <a:pt x="853" y="261"/>
                    <a:pt x="853" y="261"/>
                    <a:pt x="853" y="261"/>
                  </a:cubicBezTo>
                  <a:cubicBezTo>
                    <a:pt x="856" y="279"/>
                    <a:pt x="856" y="279"/>
                    <a:pt x="856" y="279"/>
                  </a:cubicBezTo>
                  <a:cubicBezTo>
                    <a:pt x="837" y="276"/>
                    <a:pt x="837" y="276"/>
                    <a:pt x="837" y="276"/>
                  </a:cubicBezTo>
                  <a:cubicBezTo>
                    <a:pt x="856" y="232"/>
                    <a:pt x="856" y="232"/>
                    <a:pt x="856" y="232"/>
                  </a:cubicBezTo>
                  <a:cubicBezTo>
                    <a:pt x="856" y="232"/>
                    <a:pt x="851" y="226"/>
                    <a:pt x="848" y="215"/>
                  </a:cubicBezTo>
                  <a:cubicBezTo>
                    <a:pt x="846" y="203"/>
                    <a:pt x="827" y="205"/>
                    <a:pt x="827" y="205"/>
                  </a:cubicBezTo>
                  <a:cubicBezTo>
                    <a:pt x="816" y="187"/>
                    <a:pt x="816" y="187"/>
                    <a:pt x="816" y="187"/>
                  </a:cubicBezTo>
                  <a:cubicBezTo>
                    <a:pt x="816" y="187"/>
                    <a:pt x="825" y="167"/>
                    <a:pt x="814" y="159"/>
                  </a:cubicBezTo>
                  <a:cubicBezTo>
                    <a:pt x="802" y="151"/>
                    <a:pt x="787" y="162"/>
                    <a:pt x="787" y="169"/>
                  </a:cubicBezTo>
                  <a:cubicBezTo>
                    <a:pt x="786" y="176"/>
                    <a:pt x="792" y="176"/>
                    <a:pt x="792" y="176"/>
                  </a:cubicBezTo>
                  <a:cubicBezTo>
                    <a:pt x="788" y="185"/>
                    <a:pt x="788" y="185"/>
                    <a:pt x="788" y="185"/>
                  </a:cubicBezTo>
                  <a:cubicBezTo>
                    <a:pt x="768" y="184"/>
                    <a:pt x="768" y="184"/>
                    <a:pt x="768" y="184"/>
                  </a:cubicBezTo>
                  <a:cubicBezTo>
                    <a:pt x="771" y="202"/>
                    <a:pt x="771" y="202"/>
                    <a:pt x="771" y="202"/>
                  </a:cubicBezTo>
                  <a:cubicBezTo>
                    <a:pt x="758" y="196"/>
                    <a:pt x="758" y="196"/>
                    <a:pt x="758" y="196"/>
                  </a:cubicBezTo>
                  <a:cubicBezTo>
                    <a:pt x="746" y="201"/>
                    <a:pt x="746" y="201"/>
                    <a:pt x="746" y="201"/>
                  </a:cubicBezTo>
                  <a:cubicBezTo>
                    <a:pt x="746" y="201"/>
                    <a:pt x="751" y="209"/>
                    <a:pt x="749" y="219"/>
                  </a:cubicBezTo>
                  <a:cubicBezTo>
                    <a:pt x="747" y="230"/>
                    <a:pt x="731" y="238"/>
                    <a:pt x="731" y="238"/>
                  </a:cubicBezTo>
                  <a:cubicBezTo>
                    <a:pt x="736" y="214"/>
                    <a:pt x="736" y="214"/>
                    <a:pt x="736" y="214"/>
                  </a:cubicBezTo>
                  <a:cubicBezTo>
                    <a:pt x="724" y="229"/>
                    <a:pt x="724" y="229"/>
                    <a:pt x="724" y="229"/>
                  </a:cubicBezTo>
                  <a:cubicBezTo>
                    <a:pt x="724" y="229"/>
                    <a:pt x="713" y="227"/>
                    <a:pt x="706" y="237"/>
                  </a:cubicBezTo>
                  <a:cubicBezTo>
                    <a:pt x="699" y="247"/>
                    <a:pt x="710" y="268"/>
                    <a:pt x="710" y="268"/>
                  </a:cubicBezTo>
                  <a:cubicBezTo>
                    <a:pt x="679" y="255"/>
                    <a:pt x="679" y="255"/>
                    <a:pt x="679" y="255"/>
                  </a:cubicBezTo>
                  <a:cubicBezTo>
                    <a:pt x="676" y="279"/>
                    <a:pt x="676" y="279"/>
                    <a:pt x="676" y="279"/>
                  </a:cubicBezTo>
                  <a:cubicBezTo>
                    <a:pt x="665" y="281"/>
                    <a:pt x="665" y="281"/>
                    <a:pt x="665" y="281"/>
                  </a:cubicBezTo>
                  <a:cubicBezTo>
                    <a:pt x="676" y="298"/>
                    <a:pt x="676" y="298"/>
                    <a:pt x="676" y="298"/>
                  </a:cubicBezTo>
                  <a:cubicBezTo>
                    <a:pt x="688" y="297"/>
                    <a:pt x="688" y="297"/>
                    <a:pt x="688" y="297"/>
                  </a:cubicBezTo>
                  <a:cubicBezTo>
                    <a:pt x="685" y="308"/>
                    <a:pt x="685" y="308"/>
                    <a:pt x="685" y="308"/>
                  </a:cubicBezTo>
                  <a:cubicBezTo>
                    <a:pt x="638" y="312"/>
                    <a:pt x="638" y="312"/>
                    <a:pt x="638" y="312"/>
                  </a:cubicBezTo>
                  <a:cubicBezTo>
                    <a:pt x="638" y="312"/>
                    <a:pt x="624" y="302"/>
                    <a:pt x="614" y="310"/>
                  </a:cubicBezTo>
                  <a:cubicBezTo>
                    <a:pt x="604" y="319"/>
                    <a:pt x="620" y="337"/>
                    <a:pt x="620" y="337"/>
                  </a:cubicBezTo>
                  <a:cubicBezTo>
                    <a:pt x="622" y="359"/>
                    <a:pt x="622" y="359"/>
                    <a:pt x="622" y="359"/>
                  </a:cubicBezTo>
                  <a:cubicBezTo>
                    <a:pt x="616" y="373"/>
                    <a:pt x="616" y="373"/>
                    <a:pt x="616" y="373"/>
                  </a:cubicBezTo>
                  <a:cubicBezTo>
                    <a:pt x="620" y="399"/>
                    <a:pt x="620" y="399"/>
                    <a:pt x="620" y="399"/>
                  </a:cubicBezTo>
                  <a:cubicBezTo>
                    <a:pt x="609" y="400"/>
                    <a:pt x="609" y="400"/>
                    <a:pt x="609" y="400"/>
                  </a:cubicBezTo>
                  <a:cubicBezTo>
                    <a:pt x="606" y="348"/>
                    <a:pt x="606" y="348"/>
                    <a:pt x="606" y="348"/>
                  </a:cubicBezTo>
                  <a:cubicBezTo>
                    <a:pt x="595" y="337"/>
                    <a:pt x="595" y="337"/>
                    <a:pt x="595" y="337"/>
                  </a:cubicBezTo>
                  <a:cubicBezTo>
                    <a:pt x="593" y="316"/>
                    <a:pt x="593" y="316"/>
                    <a:pt x="593" y="316"/>
                  </a:cubicBezTo>
                  <a:cubicBezTo>
                    <a:pt x="580" y="317"/>
                    <a:pt x="580" y="317"/>
                    <a:pt x="580" y="317"/>
                  </a:cubicBezTo>
                  <a:cubicBezTo>
                    <a:pt x="569" y="333"/>
                    <a:pt x="569" y="333"/>
                    <a:pt x="569" y="333"/>
                  </a:cubicBezTo>
                  <a:cubicBezTo>
                    <a:pt x="569" y="333"/>
                    <a:pt x="556" y="344"/>
                    <a:pt x="537" y="360"/>
                  </a:cubicBezTo>
                  <a:cubicBezTo>
                    <a:pt x="519" y="376"/>
                    <a:pt x="531" y="409"/>
                    <a:pt x="531" y="409"/>
                  </a:cubicBezTo>
                  <a:cubicBezTo>
                    <a:pt x="531" y="409"/>
                    <a:pt x="548" y="414"/>
                    <a:pt x="546" y="423"/>
                  </a:cubicBezTo>
                  <a:cubicBezTo>
                    <a:pt x="543" y="433"/>
                    <a:pt x="510" y="445"/>
                    <a:pt x="504" y="448"/>
                  </a:cubicBezTo>
                  <a:cubicBezTo>
                    <a:pt x="498" y="451"/>
                    <a:pt x="501" y="461"/>
                    <a:pt x="501" y="461"/>
                  </a:cubicBezTo>
                  <a:cubicBezTo>
                    <a:pt x="501" y="461"/>
                    <a:pt x="480" y="480"/>
                    <a:pt x="463" y="494"/>
                  </a:cubicBezTo>
                  <a:cubicBezTo>
                    <a:pt x="445" y="507"/>
                    <a:pt x="393" y="512"/>
                    <a:pt x="393" y="512"/>
                  </a:cubicBezTo>
                  <a:cubicBezTo>
                    <a:pt x="359" y="505"/>
                    <a:pt x="359" y="505"/>
                    <a:pt x="359" y="505"/>
                  </a:cubicBezTo>
                  <a:cubicBezTo>
                    <a:pt x="332" y="519"/>
                    <a:pt x="332" y="519"/>
                    <a:pt x="332" y="519"/>
                  </a:cubicBezTo>
                  <a:cubicBezTo>
                    <a:pt x="295" y="524"/>
                    <a:pt x="295" y="524"/>
                    <a:pt x="295" y="524"/>
                  </a:cubicBezTo>
                  <a:cubicBezTo>
                    <a:pt x="290" y="529"/>
                    <a:pt x="290" y="529"/>
                    <a:pt x="290" y="529"/>
                  </a:cubicBezTo>
                  <a:cubicBezTo>
                    <a:pt x="290" y="529"/>
                    <a:pt x="280" y="529"/>
                    <a:pt x="271" y="534"/>
                  </a:cubicBezTo>
                  <a:cubicBezTo>
                    <a:pt x="262" y="538"/>
                    <a:pt x="251" y="549"/>
                    <a:pt x="251" y="549"/>
                  </a:cubicBezTo>
                  <a:cubicBezTo>
                    <a:pt x="251" y="549"/>
                    <a:pt x="232" y="550"/>
                    <a:pt x="218" y="554"/>
                  </a:cubicBezTo>
                  <a:cubicBezTo>
                    <a:pt x="204" y="558"/>
                    <a:pt x="188" y="587"/>
                    <a:pt x="188" y="587"/>
                  </a:cubicBezTo>
                  <a:cubicBezTo>
                    <a:pt x="188" y="587"/>
                    <a:pt x="153" y="595"/>
                    <a:pt x="146" y="599"/>
                  </a:cubicBezTo>
                  <a:cubicBezTo>
                    <a:pt x="138" y="604"/>
                    <a:pt x="103" y="649"/>
                    <a:pt x="103" y="649"/>
                  </a:cubicBezTo>
                  <a:cubicBezTo>
                    <a:pt x="109" y="605"/>
                    <a:pt x="109" y="605"/>
                    <a:pt x="109" y="605"/>
                  </a:cubicBezTo>
                  <a:cubicBezTo>
                    <a:pt x="97" y="612"/>
                    <a:pt x="97" y="612"/>
                    <a:pt x="97" y="612"/>
                  </a:cubicBezTo>
                  <a:cubicBezTo>
                    <a:pt x="83" y="649"/>
                    <a:pt x="83" y="649"/>
                    <a:pt x="83" y="649"/>
                  </a:cubicBezTo>
                  <a:cubicBezTo>
                    <a:pt x="83" y="649"/>
                    <a:pt x="69" y="675"/>
                    <a:pt x="62" y="690"/>
                  </a:cubicBezTo>
                  <a:cubicBezTo>
                    <a:pt x="56" y="705"/>
                    <a:pt x="79" y="711"/>
                    <a:pt x="79" y="711"/>
                  </a:cubicBezTo>
                  <a:cubicBezTo>
                    <a:pt x="79" y="711"/>
                    <a:pt x="59" y="732"/>
                    <a:pt x="49" y="741"/>
                  </a:cubicBezTo>
                  <a:cubicBezTo>
                    <a:pt x="38" y="750"/>
                    <a:pt x="58" y="789"/>
                    <a:pt x="59" y="795"/>
                  </a:cubicBezTo>
                  <a:cubicBezTo>
                    <a:pt x="59" y="802"/>
                    <a:pt x="84" y="845"/>
                    <a:pt x="78" y="849"/>
                  </a:cubicBezTo>
                  <a:cubicBezTo>
                    <a:pt x="72" y="854"/>
                    <a:pt x="48" y="813"/>
                    <a:pt x="48" y="813"/>
                  </a:cubicBezTo>
                  <a:cubicBezTo>
                    <a:pt x="36" y="811"/>
                    <a:pt x="36" y="811"/>
                    <a:pt x="36" y="811"/>
                  </a:cubicBezTo>
                  <a:cubicBezTo>
                    <a:pt x="46" y="841"/>
                    <a:pt x="46" y="841"/>
                    <a:pt x="46" y="841"/>
                  </a:cubicBezTo>
                  <a:cubicBezTo>
                    <a:pt x="23" y="821"/>
                    <a:pt x="23" y="821"/>
                    <a:pt x="23" y="821"/>
                  </a:cubicBezTo>
                  <a:cubicBezTo>
                    <a:pt x="23" y="821"/>
                    <a:pt x="19" y="844"/>
                    <a:pt x="22" y="858"/>
                  </a:cubicBezTo>
                  <a:cubicBezTo>
                    <a:pt x="25" y="872"/>
                    <a:pt x="48" y="907"/>
                    <a:pt x="48" y="907"/>
                  </a:cubicBezTo>
                  <a:cubicBezTo>
                    <a:pt x="48" y="907"/>
                    <a:pt x="37" y="929"/>
                    <a:pt x="35" y="937"/>
                  </a:cubicBezTo>
                  <a:cubicBezTo>
                    <a:pt x="33" y="945"/>
                    <a:pt x="63" y="968"/>
                    <a:pt x="64" y="974"/>
                  </a:cubicBezTo>
                  <a:cubicBezTo>
                    <a:pt x="65" y="981"/>
                    <a:pt x="66" y="1003"/>
                    <a:pt x="60" y="1011"/>
                  </a:cubicBezTo>
                  <a:cubicBezTo>
                    <a:pt x="55" y="1019"/>
                    <a:pt x="68" y="1065"/>
                    <a:pt x="68" y="1065"/>
                  </a:cubicBezTo>
                  <a:cubicBezTo>
                    <a:pt x="68" y="1065"/>
                    <a:pt x="64" y="1067"/>
                    <a:pt x="56" y="1073"/>
                  </a:cubicBezTo>
                  <a:cubicBezTo>
                    <a:pt x="49" y="1079"/>
                    <a:pt x="65" y="1115"/>
                    <a:pt x="65" y="1115"/>
                  </a:cubicBezTo>
                  <a:cubicBezTo>
                    <a:pt x="65" y="1115"/>
                    <a:pt x="85" y="1124"/>
                    <a:pt x="87" y="1141"/>
                  </a:cubicBezTo>
                  <a:cubicBezTo>
                    <a:pt x="89" y="1157"/>
                    <a:pt x="60" y="1186"/>
                    <a:pt x="60" y="1186"/>
                  </a:cubicBezTo>
                  <a:cubicBezTo>
                    <a:pt x="60" y="1186"/>
                    <a:pt x="69" y="1219"/>
                    <a:pt x="52" y="1236"/>
                  </a:cubicBezTo>
                  <a:cubicBezTo>
                    <a:pt x="35" y="1252"/>
                    <a:pt x="4" y="1244"/>
                    <a:pt x="4" y="1244"/>
                  </a:cubicBezTo>
                  <a:cubicBezTo>
                    <a:pt x="0" y="1276"/>
                    <a:pt x="0" y="1276"/>
                    <a:pt x="0" y="1276"/>
                  </a:cubicBezTo>
                  <a:cubicBezTo>
                    <a:pt x="0" y="1276"/>
                    <a:pt x="32" y="1284"/>
                    <a:pt x="41" y="1289"/>
                  </a:cubicBezTo>
                  <a:cubicBezTo>
                    <a:pt x="50" y="1295"/>
                    <a:pt x="56" y="1305"/>
                    <a:pt x="56" y="1305"/>
                  </a:cubicBezTo>
                  <a:cubicBezTo>
                    <a:pt x="73" y="1303"/>
                    <a:pt x="73" y="1303"/>
                    <a:pt x="73" y="1303"/>
                  </a:cubicBezTo>
                  <a:cubicBezTo>
                    <a:pt x="73" y="1303"/>
                    <a:pt x="82" y="1312"/>
                    <a:pt x="96" y="1317"/>
                  </a:cubicBezTo>
                  <a:cubicBezTo>
                    <a:pt x="109" y="1322"/>
                    <a:pt x="140" y="1312"/>
                    <a:pt x="153" y="1311"/>
                  </a:cubicBezTo>
                  <a:cubicBezTo>
                    <a:pt x="165" y="1311"/>
                    <a:pt x="155" y="1295"/>
                    <a:pt x="155" y="1295"/>
                  </a:cubicBezTo>
                  <a:cubicBezTo>
                    <a:pt x="180" y="1297"/>
                    <a:pt x="180" y="1297"/>
                    <a:pt x="180" y="1297"/>
                  </a:cubicBezTo>
                  <a:cubicBezTo>
                    <a:pt x="186" y="1285"/>
                    <a:pt x="186" y="1285"/>
                    <a:pt x="186" y="1285"/>
                  </a:cubicBezTo>
                  <a:cubicBezTo>
                    <a:pt x="213" y="1281"/>
                    <a:pt x="213" y="1281"/>
                    <a:pt x="213" y="1281"/>
                  </a:cubicBezTo>
                  <a:cubicBezTo>
                    <a:pt x="213" y="1281"/>
                    <a:pt x="237" y="1256"/>
                    <a:pt x="250" y="1255"/>
                  </a:cubicBezTo>
                  <a:cubicBezTo>
                    <a:pt x="262" y="1255"/>
                    <a:pt x="274" y="1270"/>
                    <a:pt x="281" y="1268"/>
                  </a:cubicBezTo>
                  <a:cubicBezTo>
                    <a:pt x="289" y="1266"/>
                    <a:pt x="326" y="1248"/>
                    <a:pt x="326" y="1248"/>
                  </a:cubicBezTo>
                  <a:cubicBezTo>
                    <a:pt x="326" y="1248"/>
                    <a:pt x="348" y="1258"/>
                    <a:pt x="359" y="1256"/>
                  </a:cubicBezTo>
                  <a:cubicBezTo>
                    <a:pt x="370" y="1255"/>
                    <a:pt x="377" y="1245"/>
                    <a:pt x="384" y="1244"/>
                  </a:cubicBezTo>
                  <a:cubicBezTo>
                    <a:pt x="392" y="1244"/>
                    <a:pt x="411" y="1256"/>
                    <a:pt x="426" y="1253"/>
                  </a:cubicBezTo>
                  <a:cubicBezTo>
                    <a:pt x="441" y="1250"/>
                    <a:pt x="438" y="1231"/>
                    <a:pt x="438" y="1231"/>
                  </a:cubicBezTo>
                  <a:cubicBezTo>
                    <a:pt x="438" y="1231"/>
                    <a:pt x="450" y="1228"/>
                    <a:pt x="454" y="1225"/>
                  </a:cubicBezTo>
                  <a:cubicBezTo>
                    <a:pt x="459" y="1222"/>
                    <a:pt x="465" y="1195"/>
                    <a:pt x="478" y="1183"/>
                  </a:cubicBezTo>
                  <a:cubicBezTo>
                    <a:pt x="491" y="1171"/>
                    <a:pt x="524" y="1179"/>
                    <a:pt x="535" y="1176"/>
                  </a:cubicBezTo>
                  <a:cubicBezTo>
                    <a:pt x="545" y="1174"/>
                    <a:pt x="579" y="1155"/>
                    <a:pt x="594" y="1153"/>
                  </a:cubicBezTo>
                  <a:cubicBezTo>
                    <a:pt x="610" y="1151"/>
                    <a:pt x="612" y="1158"/>
                    <a:pt x="631" y="1161"/>
                  </a:cubicBezTo>
                  <a:cubicBezTo>
                    <a:pt x="650" y="1164"/>
                    <a:pt x="697" y="1131"/>
                    <a:pt x="716" y="1125"/>
                  </a:cubicBezTo>
                  <a:cubicBezTo>
                    <a:pt x="736" y="1119"/>
                    <a:pt x="819" y="1113"/>
                    <a:pt x="819" y="1113"/>
                  </a:cubicBezTo>
                  <a:cubicBezTo>
                    <a:pt x="826" y="1106"/>
                    <a:pt x="826" y="1106"/>
                    <a:pt x="826" y="1106"/>
                  </a:cubicBezTo>
                  <a:cubicBezTo>
                    <a:pt x="826" y="1106"/>
                    <a:pt x="854" y="1131"/>
                    <a:pt x="872" y="1138"/>
                  </a:cubicBezTo>
                  <a:cubicBezTo>
                    <a:pt x="889" y="1145"/>
                    <a:pt x="896" y="1136"/>
                    <a:pt x="896" y="1136"/>
                  </a:cubicBezTo>
                  <a:cubicBezTo>
                    <a:pt x="896" y="1136"/>
                    <a:pt x="899" y="1153"/>
                    <a:pt x="907" y="1156"/>
                  </a:cubicBezTo>
                  <a:cubicBezTo>
                    <a:pt x="915" y="1159"/>
                    <a:pt x="920" y="1152"/>
                    <a:pt x="920" y="1152"/>
                  </a:cubicBezTo>
                  <a:cubicBezTo>
                    <a:pt x="923" y="1167"/>
                    <a:pt x="923" y="1167"/>
                    <a:pt x="923" y="1167"/>
                  </a:cubicBezTo>
                  <a:cubicBezTo>
                    <a:pt x="923" y="1167"/>
                    <a:pt x="935" y="1165"/>
                    <a:pt x="936" y="1174"/>
                  </a:cubicBezTo>
                  <a:cubicBezTo>
                    <a:pt x="937" y="1182"/>
                    <a:pt x="918" y="1206"/>
                    <a:pt x="918" y="1206"/>
                  </a:cubicBezTo>
                  <a:cubicBezTo>
                    <a:pt x="932" y="1225"/>
                    <a:pt x="932" y="1225"/>
                    <a:pt x="932" y="1225"/>
                  </a:cubicBezTo>
                  <a:cubicBezTo>
                    <a:pt x="941" y="1216"/>
                    <a:pt x="941" y="1216"/>
                    <a:pt x="941" y="1216"/>
                  </a:cubicBezTo>
                  <a:cubicBezTo>
                    <a:pt x="954" y="1243"/>
                    <a:pt x="954" y="1243"/>
                    <a:pt x="954" y="1243"/>
                  </a:cubicBezTo>
                  <a:cubicBezTo>
                    <a:pt x="954" y="1243"/>
                    <a:pt x="963" y="1270"/>
                    <a:pt x="964" y="1279"/>
                  </a:cubicBezTo>
                  <a:cubicBezTo>
                    <a:pt x="965" y="1287"/>
                    <a:pt x="937" y="1280"/>
                    <a:pt x="937" y="1280"/>
                  </a:cubicBezTo>
                  <a:cubicBezTo>
                    <a:pt x="944" y="1303"/>
                    <a:pt x="944" y="1303"/>
                    <a:pt x="944" y="1303"/>
                  </a:cubicBezTo>
                  <a:cubicBezTo>
                    <a:pt x="944" y="1303"/>
                    <a:pt x="953" y="1303"/>
                    <a:pt x="962" y="1304"/>
                  </a:cubicBezTo>
                  <a:cubicBezTo>
                    <a:pt x="971" y="1304"/>
                    <a:pt x="970" y="1311"/>
                    <a:pt x="970" y="1311"/>
                  </a:cubicBezTo>
                  <a:cubicBezTo>
                    <a:pt x="983" y="1308"/>
                    <a:pt x="983" y="1308"/>
                    <a:pt x="983" y="1308"/>
                  </a:cubicBezTo>
                  <a:cubicBezTo>
                    <a:pt x="983" y="1308"/>
                    <a:pt x="979" y="1294"/>
                    <a:pt x="979" y="1283"/>
                  </a:cubicBezTo>
                  <a:cubicBezTo>
                    <a:pt x="980" y="1272"/>
                    <a:pt x="998" y="1263"/>
                    <a:pt x="1010" y="1261"/>
                  </a:cubicBezTo>
                  <a:cubicBezTo>
                    <a:pt x="1022" y="1258"/>
                    <a:pt x="1045" y="1222"/>
                    <a:pt x="1045" y="1222"/>
                  </a:cubicBezTo>
                  <a:cubicBezTo>
                    <a:pt x="1060" y="1224"/>
                    <a:pt x="1060" y="1224"/>
                    <a:pt x="1060" y="1224"/>
                  </a:cubicBezTo>
                  <a:cubicBezTo>
                    <a:pt x="1074" y="1191"/>
                    <a:pt x="1074" y="1191"/>
                    <a:pt x="1074" y="1191"/>
                  </a:cubicBezTo>
                  <a:cubicBezTo>
                    <a:pt x="1074" y="1191"/>
                    <a:pt x="1093" y="1188"/>
                    <a:pt x="1102" y="1187"/>
                  </a:cubicBezTo>
                  <a:cubicBezTo>
                    <a:pt x="1110" y="1186"/>
                    <a:pt x="1115" y="1156"/>
                    <a:pt x="1115" y="1156"/>
                  </a:cubicBezTo>
                  <a:cubicBezTo>
                    <a:pt x="1115" y="1156"/>
                    <a:pt x="1120" y="1180"/>
                    <a:pt x="1121" y="1187"/>
                  </a:cubicBezTo>
                  <a:cubicBezTo>
                    <a:pt x="1122" y="1195"/>
                    <a:pt x="1093" y="1209"/>
                    <a:pt x="1093" y="1209"/>
                  </a:cubicBezTo>
                  <a:cubicBezTo>
                    <a:pt x="1083" y="1210"/>
                    <a:pt x="1083" y="1210"/>
                    <a:pt x="1083" y="1210"/>
                  </a:cubicBezTo>
                  <a:cubicBezTo>
                    <a:pt x="1078" y="1217"/>
                    <a:pt x="1078" y="1217"/>
                    <a:pt x="1078" y="1217"/>
                  </a:cubicBezTo>
                  <a:cubicBezTo>
                    <a:pt x="1089" y="1240"/>
                    <a:pt x="1089" y="1240"/>
                    <a:pt x="1089" y="1240"/>
                  </a:cubicBezTo>
                  <a:cubicBezTo>
                    <a:pt x="1089" y="1240"/>
                    <a:pt x="1079" y="1244"/>
                    <a:pt x="1072" y="1248"/>
                  </a:cubicBezTo>
                  <a:cubicBezTo>
                    <a:pt x="1065" y="1253"/>
                    <a:pt x="1047" y="1276"/>
                    <a:pt x="1047" y="1276"/>
                  </a:cubicBezTo>
                  <a:cubicBezTo>
                    <a:pt x="1047" y="1276"/>
                    <a:pt x="1042" y="1295"/>
                    <a:pt x="1035" y="1299"/>
                  </a:cubicBezTo>
                  <a:cubicBezTo>
                    <a:pt x="1028" y="1304"/>
                    <a:pt x="1004" y="1313"/>
                    <a:pt x="1011" y="1319"/>
                  </a:cubicBezTo>
                  <a:cubicBezTo>
                    <a:pt x="1018" y="1326"/>
                    <a:pt x="1045" y="1316"/>
                    <a:pt x="1054" y="1313"/>
                  </a:cubicBezTo>
                  <a:cubicBezTo>
                    <a:pt x="1062" y="1309"/>
                    <a:pt x="1063" y="1296"/>
                    <a:pt x="1069" y="1287"/>
                  </a:cubicBezTo>
                  <a:cubicBezTo>
                    <a:pt x="1076" y="1277"/>
                    <a:pt x="1090" y="1267"/>
                    <a:pt x="1090" y="1267"/>
                  </a:cubicBezTo>
                  <a:cubicBezTo>
                    <a:pt x="1090" y="1267"/>
                    <a:pt x="1093" y="1292"/>
                    <a:pt x="1095" y="1298"/>
                  </a:cubicBezTo>
                  <a:cubicBezTo>
                    <a:pt x="1097" y="1304"/>
                    <a:pt x="1084" y="1315"/>
                    <a:pt x="1075" y="1320"/>
                  </a:cubicBezTo>
                  <a:cubicBezTo>
                    <a:pt x="1067" y="1325"/>
                    <a:pt x="1066" y="1333"/>
                    <a:pt x="1072" y="1339"/>
                  </a:cubicBezTo>
                  <a:cubicBezTo>
                    <a:pt x="1079" y="1344"/>
                    <a:pt x="1110" y="1344"/>
                    <a:pt x="1110" y="1344"/>
                  </a:cubicBezTo>
                  <a:cubicBezTo>
                    <a:pt x="1115" y="1351"/>
                    <a:pt x="1115" y="1351"/>
                    <a:pt x="1115" y="1351"/>
                  </a:cubicBezTo>
                  <a:cubicBezTo>
                    <a:pt x="1100" y="1364"/>
                    <a:pt x="1100" y="1364"/>
                    <a:pt x="1100" y="1364"/>
                  </a:cubicBezTo>
                  <a:cubicBezTo>
                    <a:pt x="1100" y="1364"/>
                    <a:pt x="1116" y="1393"/>
                    <a:pt x="1118" y="1403"/>
                  </a:cubicBezTo>
                  <a:cubicBezTo>
                    <a:pt x="1121" y="1414"/>
                    <a:pt x="1097" y="1430"/>
                    <a:pt x="1088" y="1441"/>
                  </a:cubicBezTo>
                  <a:cubicBezTo>
                    <a:pt x="1078" y="1452"/>
                    <a:pt x="1110" y="1474"/>
                    <a:pt x="1118" y="1477"/>
                  </a:cubicBezTo>
                  <a:cubicBezTo>
                    <a:pt x="1125" y="1480"/>
                    <a:pt x="1139" y="1500"/>
                    <a:pt x="1154" y="1505"/>
                  </a:cubicBezTo>
                  <a:cubicBezTo>
                    <a:pt x="1169" y="1510"/>
                    <a:pt x="1180" y="1501"/>
                    <a:pt x="1194" y="1504"/>
                  </a:cubicBezTo>
                  <a:cubicBezTo>
                    <a:pt x="1207" y="1507"/>
                    <a:pt x="1210" y="1524"/>
                    <a:pt x="1229" y="1527"/>
                  </a:cubicBezTo>
                  <a:cubicBezTo>
                    <a:pt x="1249" y="1531"/>
                    <a:pt x="1297" y="1498"/>
                    <a:pt x="1297" y="1498"/>
                  </a:cubicBezTo>
                  <a:cubicBezTo>
                    <a:pt x="1297" y="1498"/>
                    <a:pt x="1290" y="1484"/>
                    <a:pt x="1305" y="1475"/>
                  </a:cubicBezTo>
                  <a:cubicBezTo>
                    <a:pt x="1320" y="1466"/>
                    <a:pt x="1319" y="1502"/>
                    <a:pt x="1319" y="1502"/>
                  </a:cubicBezTo>
                  <a:cubicBezTo>
                    <a:pt x="1330" y="1501"/>
                    <a:pt x="1330" y="1501"/>
                    <a:pt x="1330" y="1501"/>
                  </a:cubicBezTo>
                  <a:cubicBezTo>
                    <a:pt x="1320" y="1517"/>
                    <a:pt x="1320" y="1517"/>
                    <a:pt x="1320" y="1517"/>
                  </a:cubicBezTo>
                  <a:cubicBezTo>
                    <a:pt x="1333" y="1518"/>
                    <a:pt x="1333" y="1518"/>
                    <a:pt x="1333" y="1518"/>
                  </a:cubicBezTo>
                  <a:cubicBezTo>
                    <a:pt x="1333" y="1518"/>
                    <a:pt x="1334" y="1530"/>
                    <a:pt x="1341" y="1539"/>
                  </a:cubicBezTo>
                  <a:cubicBezTo>
                    <a:pt x="1347" y="1547"/>
                    <a:pt x="1354" y="1543"/>
                    <a:pt x="1354" y="1543"/>
                  </a:cubicBezTo>
                  <a:cubicBezTo>
                    <a:pt x="1360" y="1532"/>
                    <a:pt x="1360" y="1532"/>
                    <a:pt x="1360" y="1532"/>
                  </a:cubicBezTo>
                  <a:cubicBezTo>
                    <a:pt x="1360" y="1532"/>
                    <a:pt x="1378" y="1530"/>
                    <a:pt x="1388" y="1521"/>
                  </a:cubicBezTo>
                  <a:cubicBezTo>
                    <a:pt x="1399" y="1513"/>
                    <a:pt x="1443" y="1482"/>
                    <a:pt x="1443" y="1482"/>
                  </a:cubicBezTo>
                  <a:cubicBezTo>
                    <a:pt x="1438" y="1472"/>
                    <a:pt x="1438" y="1472"/>
                    <a:pt x="1438" y="1472"/>
                  </a:cubicBezTo>
                  <a:cubicBezTo>
                    <a:pt x="1462" y="1468"/>
                    <a:pt x="1462" y="1468"/>
                    <a:pt x="1462" y="1468"/>
                  </a:cubicBezTo>
                  <a:cubicBezTo>
                    <a:pt x="1471" y="1476"/>
                    <a:pt x="1471" y="1476"/>
                    <a:pt x="1471" y="1476"/>
                  </a:cubicBezTo>
                  <a:cubicBezTo>
                    <a:pt x="1471" y="1476"/>
                    <a:pt x="1510" y="1469"/>
                    <a:pt x="1533" y="1461"/>
                  </a:cubicBezTo>
                  <a:cubicBezTo>
                    <a:pt x="1555" y="1452"/>
                    <a:pt x="1557" y="1408"/>
                    <a:pt x="1560" y="1396"/>
                  </a:cubicBezTo>
                  <a:cubicBezTo>
                    <a:pt x="1564" y="1385"/>
                    <a:pt x="1590" y="1370"/>
                    <a:pt x="1590" y="1370"/>
                  </a:cubicBezTo>
                  <a:cubicBezTo>
                    <a:pt x="1590" y="1355"/>
                    <a:pt x="1590" y="1355"/>
                    <a:pt x="1590" y="1355"/>
                  </a:cubicBezTo>
                  <a:cubicBezTo>
                    <a:pt x="1590" y="1355"/>
                    <a:pt x="1605" y="1349"/>
                    <a:pt x="1613" y="1338"/>
                  </a:cubicBezTo>
                  <a:cubicBezTo>
                    <a:pt x="1620" y="1328"/>
                    <a:pt x="1631" y="1314"/>
                    <a:pt x="1631" y="1314"/>
                  </a:cubicBezTo>
                  <a:cubicBezTo>
                    <a:pt x="1631" y="1314"/>
                    <a:pt x="1633" y="1285"/>
                    <a:pt x="1641" y="1275"/>
                  </a:cubicBezTo>
                  <a:cubicBezTo>
                    <a:pt x="1648" y="1266"/>
                    <a:pt x="1682" y="1228"/>
                    <a:pt x="1695" y="1222"/>
                  </a:cubicBezTo>
                  <a:cubicBezTo>
                    <a:pt x="1707" y="1216"/>
                    <a:pt x="1709" y="1185"/>
                    <a:pt x="1709" y="1185"/>
                  </a:cubicBezTo>
                  <a:cubicBezTo>
                    <a:pt x="1709" y="1185"/>
                    <a:pt x="1732" y="1189"/>
                    <a:pt x="1741" y="1179"/>
                  </a:cubicBezTo>
                  <a:cubicBezTo>
                    <a:pt x="1750" y="1170"/>
                    <a:pt x="1797" y="1111"/>
                    <a:pt x="1800" y="1104"/>
                  </a:cubicBezTo>
                  <a:cubicBezTo>
                    <a:pt x="1804" y="1098"/>
                    <a:pt x="1803" y="1067"/>
                    <a:pt x="1813" y="1060"/>
                  </a:cubicBezTo>
                  <a:cubicBezTo>
                    <a:pt x="1822" y="1053"/>
                    <a:pt x="1864" y="971"/>
                    <a:pt x="1874" y="952"/>
                  </a:cubicBezTo>
                  <a:cubicBezTo>
                    <a:pt x="1884" y="933"/>
                    <a:pt x="1872" y="920"/>
                    <a:pt x="1871" y="907"/>
                  </a:cubicBezTo>
                  <a:cubicBezTo>
                    <a:pt x="1870" y="894"/>
                    <a:pt x="1880" y="873"/>
                    <a:pt x="1889" y="859"/>
                  </a:cubicBezTo>
                  <a:cubicBezTo>
                    <a:pt x="1898" y="845"/>
                    <a:pt x="1888" y="783"/>
                    <a:pt x="1888" y="783"/>
                  </a:cubicBezTo>
                  <a:lnTo>
                    <a:pt x="1869" y="774"/>
                  </a:lnTo>
                  <a:close/>
                  <a:moveTo>
                    <a:pt x="1347" y="1624"/>
                  </a:moveTo>
                  <a:cubicBezTo>
                    <a:pt x="1349" y="1631"/>
                    <a:pt x="1373" y="1619"/>
                    <a:pt x="1364" y="1612"/>
                  </a:cubicBezTo>
                  <a:cubicBezTo>
                    <a:pt x="1355" y="1605"/>
                    <a:pt x="1347" y="1624"/>
                    <a:pt x="1347" y="1624"/>
                  </a:cubicBezTo>
                  <a:close/>
                  <a:moveTo>
                    <a:pt x="1332" y="1632"/>
                  </a:moveTo>
                  <a:cubicBezTo>
                    <a:pt x="1323" y="1626"/>
                    <a:pt x="1312" y="1646"/>
                    <a:pt x="1312" y="1646"/>
                  </a:cubicBezTo>
                  <a:cubicBezTo>
                    <a:pt x="1312" y="1646"/>
                    <a:pt x="1308" y="1640"/>
                    <a:pt x="1304" y="1640"/>
                  </a:cubicBezTo>
                  <a:cubicBezTo>
                    <a:pt x="1300" y="1639"/>
                    <a:pt x="1277" y="1643"/>
                    <a:pt x="1277" y="1643"/>
                  </a:cubicBezTo>
                  <a:cubicBezTo>
                    <a:pt x="1274" y="1651"/>
                    <a:pt x="1274" y="1651"/>
                    <a:pt x="1274" y="1651"/>
                  </a:cubicBezTo>
                  <a:cubicBezTo>
                    <a:pt x="1261" y="1640"/>
                    <a:pt x="1261" y="1640"/>
                    <a:pt x="1261" y="1640"/>
                  </a:cubicBezTo>
                  <a:cubicBezTo>
                    <a:pt x="1236" y="1638"/>
                    <a:pt x="1236" y="1638"/>
                    <a:pt x="1236" y="1638"/>
                  </a:cubicBezTo>
                  <a:cubicBezTo>
                    <a:pt x="1221" y="1620"/>
                    <a:pt x="1221" y="1620"/>
                    <a:pt x="1221" y="1620"/>
                  </a:cubicBezTo>
                  <a:cubicBezTo>
                    <a:pt x="1221" y="1620"/>
                    <a:pt x="1216" y="1623"/>
                    <a:pt x="1210" y="1624"/>
                  </a:cubicBezTo>
                  <a:cubicBezTo>
                    <a:pt x="1205" y="1625"/>
                    <a:pt x="1188" y="1605"/>
                    <a:pt x="1188" y="1605"/>
                  </a:cubicBezTo>
                  <a:cubicBezTo>
                    <a:pt x="1184" y="1616"/>
                    <a:pt x="1184" y="1616"/>
                    <a:pt x="1184" y="1616"/>
                  </a:cubicBezTo>
                  <a:cubicBezTo>
                    <a:pt x="1188" y="1629"/>
                    <a:pt x="1188" y="1629"/>
                    <a:pt x="1188" y="1629"/>
                  </a:cubicBezTo>
                  <a:cubicBezTo>
                    <a:pt x="1188" y="1629"/>
                    <a:pt x="1189" y="1645"/>
                    <a:pt x="1187" y="1650"/>
                  </a:cubicBezTo>
                  <a:cubicBezTo>
                    <a:pt x="1185" y="1655"/>
                    <a:pt x="1179" y="1663"/>
                    <a:pt x="1185" y="1674"/>
                  </a:cubicBezTo>
                  <a:cubicBezTo>
                    <a:pt x="1191" y="1685"/>
                    <a:pt x="1184" y="1691"/>
                    <a:pt x="1176" y="1694"/>
                  </a:cubicBezTo>
                  <a:cubicBezTo>
                    <a:pt x="1167" y="1696"/>
                    <a:pt x="1160" y="1686"/>
                    <a:pt x="1160" y="1686"/>
                  </a:cubicBezTo>
                  <a:cubicBezTo>
                    <a:pt x="1160" y="1686"/>
                    <a:pt x="1156" y="1700"/>
                    <a:pt x="1155" y="1713"/>
                  </a:cubicBezTo>
                  <a:cubicBezTo>
                    <a:pt x="1154" y="1727"/>
                    <a:pt x="1166" y="1748"/>
                    <a:pt x="1166" y="1748"/>
                  </a:cubicBezTo>
                  <a:cubicBezTo>
                    <a:pt x="1181" y="1750"/>
                    <a:pt x="1181" y="1750"/>
                    <a:pt x="1181" y="1750"/>
                  </a:cubicBezTo>
                  <a:cubicBezTo>
                    <a:pt x="1168" y="1757"/>
                    <a:pt x="1168" y="1757"/>
                    <a:pt x="1168" y="1757"/>
                  </a:cubicBezTo>
                  <a:cubicBezTo>
                    <a:pt x="1173" y="1774"/>
                    <a:pt x="1173" y="1774"/>
                    <a:pt x="1173" y="1774"/>
                  </a:cubicBezTo>
                  <a:cubicBezTo>
                    <a:pt x="1173" y="1774"/>
                    <a:pt x="1185" y="1769"/>
                    <a:pt x="1191" y="1766"/>
                  </a:cubicBezTo>
                  <a:cubicBezTo>
                    <a:pt x="1198" y="1763"/>
                    <a:pt x="1203" y="1773"/>
                    <a:pt x="1214" y="1769"/>
                  </a:cubicBezTo>
                  <a:cubicBezTo>
                    <a:pt x="1225" y="1764"/>
                    <a:pt x="1232" y="1748"/>
                    <a:pt x="1239" y="1752"/>
                  </a:cubicBezTo>
                  <a:cubicBezTo>
                    <a:pt x="1247" y="1757"/>
                    <a:pt x="1236" y="1768"/>
                    <a:pt x="1236" y="1768"/>
                  </a:cubicBezTo>
                  <a:cubicBezTo>
                    <a:pt x="1247" y="1772"/>
                    <a:pt x="1247" y="1772"/>
                    <a:pt x="1247" y="1772"/>
                  </a:cubicBezTo>
                  <a:cubicBezTo>
                    <a:pt x="1247" y="1772"/>
                    <a:pt x="1268" y="1744"/>
                    <a:pt x="1277" y="1738"/>
                  </a:cubicBezTo>
                  <a:cubicBezTo>
                    <a:pt x="1285" y="1733"/>
                    <a:pt x="1268" y="1726"/>
                    <a:pt x="1268" y="1726"/>
                  </a:cubicBezTo>
                  <a:cubicBezTo>
                    <a:pt x="1282" y="1706"/>
                    <a:pt x="1282" y="1706"/>
                    <a:pt x="1282" y="1706"/>
                  </a:cubicBezTo>
                  <a:cubicBezTo>
                    <a:pt x="1282" y="1706"/>
                    <a:pt x="1292" y="1710"/>
                    <a:pt x="1303" y="1704"/>
                  </a:cubicBezTo>
                  <a:cubicBezTo>
                    <a:pt x="1314" y="1699"/>
                    <a:pt x="1305" y="1678"/>
                    <a:pt x="1315" y="1667"/>
                  </a:cubicBezTo>
                  <a:cubicBezTo>
                    <a:pt x="1326" y="1656"/>
                    <a:pt x="1340" y="1638"/>
                    <a:pt x="1332" y="1632"/>
                  </a:cubicBezTo>
                  <a:close/>
                  <a:moveTo>
                    <a:pt x="1269" y="162"/>
                  </a:moveTo>
                  <a:cubicBezTo>
                    <a:pt x="1263" y="162"/>
                    <a:pt x="1259" y="193"/>
                    <a:pt x="1259" y="193"/>
                  </a:cubicBezTo>
                  <a:cubicBezTo>
                    <a:pt x="1269" y="207"/>
                    <a:pt x="1290" y="195"/>
                    <a:pt x="1290" y="195"/>
                  </a:cubicBezTo>
                  <a:cubicBezTo>
                    <a:pt x="1286" y="186"/>
                    <a:pt x="1286" y="186"/>
                    <a:pt x="1286" y="186"/>
                  </a:cubicBezTo>
                  <a:cubicBezTo>
                    <a:pt x="1290" y="167"/>
                    <a:pt x="1290" y="167"/>
                    <a:pt x="1290" y="167"/>
                  </a:cubicBezTo>
                  <a:cubicBezTo>
                    <a:pt x="1290" y="167"/>
                    <a:pt x="1274" y="162"/>
                    <a:pt x="1269" y="162"/>
                  </a:cubicBezTo>
                  <a:close/>
                  <a:moveTo>
                    <a:pt x="1182" y="1554"/>
                  </a:moveTo>
                  <a:cubicBezTo>
                    <a:pt x="1175" y="1581"/>
                    <a:pt x="1175" y="1581"/>
                    <a:pt x="1175" y="1581"/>
                  </a:cubicBezTo>
                  <a:cubicBezTo>
                    <a:pt x="1209" y="1549"/>
                    <a:pt x="1209" y="1549"/>
                    <a:pt x="1209" y="1549"/>
                  </a:cubicBezTo>
                  <a:lnTo>
                    <a:pt x="1182" y="1554"/>
                  </a:lnTo>
                  <a:close/>
                  <a:moveTo>
                    <a:pt x="1357" y="1597"/>
                  </a:moveTo>
                  <a:cubicBezTo>
                    <a:pt x="1345" y="1572"/>
                    <a:pt x="1345" y="1572"/>
                    <a:pt x="1345" y="1572"/>
                  </a:cubicBezTo>
                  <a:cubicBezTo>
                    <a:pt x="1345" y="1572"/>
                    <a:pt x="1333" y="1579"/>
                    <a:pt x="1332" y="1587"/>
                  </a:cubicBezTo>
                  <a:cubicBezTo>
                    <a:pt x="1332" y="1594"/>
                    <a:pt x="1334" y="1597"/>
                    <a:pt x="1343" y="1600"/>
                  </a:cubicBezTo>
                  <a:cubicBezTo>
                    <a:pt x="1352" y="1603"/>
                    <a:pt x="1357" y="1597"/>
                    <a:pt x="1357" y="1597"/>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547" name="Freeform 339">
              <a:extLst>
                <a:ext uri="{FF2B5EF4-FFF2-40B4-BE49-F238E27FC236}">
                  <a16:creationId xmlns:a16="http://schemas.microsoft.com/office/drawing/2014/main" id="{109FEBA6-2969-4396-8F3B-EBE89D0A0455}"/>
                </a:ext>
              </a:extLst>
            </p:cNvPr>
            <p:cNvSpPr>
              <a:spLocks/>
            </p:cNvSpPr>
            <p:nvPr/>
          </p:nvSpPr>
          <p:spPr bwMode="gray">
            <a:xfrm>
              <a:off x="2356238" y="1218439"/>
              <a:ext cx="14932" cy="16018"/>
            </a:xfrm>
            <a:custGeom>
              <a:avLst/>
              <a:gdLst>
                <a:gd name="T0" fmla="*/ 0 w 22"/>
                <a:gd name="T1" fmla="*/ 15 h 25"/>
                <a:gd name="T2" fmla="*/ 12 w 22"/>
                <a:gd name="T3" fmla="*/ 22 h 25"/>
                <a:gd name="T4" fmla="*/ 15 w 22"/>
                <a:gd name="T5" fmla="*/ 9 h 25"/>
                <a:gd name="T6" fmla="*/ 0 w 22"/>
                <a:gd name="T7" fmla="*/ 15 h 25"/>
              </a:gdLst>
              <a:ahLst/>
              <a:cxnLst>
                <a:cxn ang="0">
                  <a:pos x="T0" y="T1"/>
                </a:cxn>
                <a:cxn ang="0">
                  <a:pos x="T2" y="T3"/>
                </a:cxn>
                <a:cxn ang="0">
                  <a:pos x="T4" y="T5"/>
                </a:cxn>
                <a:cxn ang="0">
                  <a:pos x="T6" y="T7"/>
                </a:cxn>
              </a:cxnLst>
              <a:rect l="0" t="0" r="r" b="b"/>
              <a:pathLst>
                <a:path w="22" h="25">
                  <a:moveTo>
                    <a:pt x="0" y="15"/>
                  </a:moveTo>
                  <a:cubicBezTo>
                    <a:pt x="0" y="15"/>
                    <a:pt x="2" y="25"/>
                    <a:pt x="12" y="22"/>
                  </a:cubicBezTo>
                  <a:cubicBezTo>
                    <a:pt x="22" y="19"/>
                    <a:pt x="18" y="18"/>
                    <a:pt x="15" y="9"/>
                  </a:cubicBezTo>
                  <a:cubicBezTo>
                    <a:pt x="12" y="0"/>
                    <a:pt x="0" y="4"/>
                    <a:pt x="0" y="15"/>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548" name="Freeform 340">
              <a:extLst>
                <a:ext uri="{FF2B5EF4-FFF2-40B4-BE49-F238E27FC236}">
                  <a16:creationId xmlns:a16="http://schemas.microsoft.com/office/drawing/2014/main" id="{9076F241-4082-4210-B196-8F492864D269}"/>
                </a:ext>
              </a:extLst>
            </p:cNvPr>
            <p:cNvSpPr>
              <a:spLocks noEditPoints="1"/>
            </p:cNvSpPr>
            <p:nvPr/>
          </p:nvSpPr>
          <p:spPr bwMode="gray">
            <a:xfrm>
              <a:off x="1184667" y="8415"/>
              <a:ext cx="2522036" cy="1236359"/>
            </a:xfrm>
            <a:custGeom>
              <a:avLst/>
              <a:gdLst>
                <a:gd name="T0" fmla="*/ 1824 w 3718"/>
                <a:gd name="T1" fmla="*/ 304 h 1928"/>
                <a:gd name="T2" fmla="*/ 1868 w 3718"/>
                <a:gd name="T3" fmla="*/ 216 h 1928"/>
                <a:gd name="T4" fmla="*/ 141 w 3718"/>
                <a:gd name="T5" fmla="*/ 1354 h 1928"/>
                <a:gd name="T6" fmla="*/ 138 w 3718"/>
                <a:gd name="T7" fmla="*/ 1561 h 1928"/>
                <a:gd name="T8" fmla="*/ 1554 w 3718"/>
                <a:gd name="T9" fmla="*/ 213 h 1928"/>
                <a:gd name="T10" fmla="*/ 34 w 3718"/>
                <a:gd name="T11" fmla="*/ 1340 h 1928"/>
                <a:gd name="T12" fmla="*/ 1227 w 3718"/>
                <a:gd name="T13" fmla="*/ 437 h 1928"/>
                <a:gd name="T14" fmla="*/ 2245 w 3718"/>
                <a:gd name="T15" fmla="*/ 414 h 1928"/>
                <a:gd name="T16" fmla="*/ 2627 w 3718"/>
                <a:gd name="T17" fmla="*/ 171 h 1928"/>
                <a:gd name="T18" fmla="*/ 2592 w 3718"/>
                <a:gd name="T19" fmla="*/ 114 h 1928"/>
                <a:gd name="T20" fmla="*/ 2731 w 3718"/>
                <a:gd name="T21" fmla="*/ 327 h 1928"/>
                <a:gd name="T22" fmla="*/ 2578 w 3718"/>
                <a:gd name="T23" fmla="*/ 240 h 1928"/>
                <a:gd name="T24" fmla="*/ 2488 w 3718"/>
                <a:gd name="T25" fmla="*/ 156 h 1928"/>
                <a:gd name="T26" fmla="*/ 1744 w 3718"/>
                <a:gd name="T27" fmla="*/ 405 h 1928"/>
                <a:gd name="T28" fmla="*/ 1851 w 3718"/>
                <a:gd name="T29" fmla="*/ 586 h 1928"/>
                <a:gd name="T30" fmla="*/ 2278 w 3718"/>
                <a:gd name="T31" fmla="*/ 144 h 1928"/>
                <a:gd name="T32" fmla="*/ 3024 w 3718"/>
                <a:gd name="T33" fmla="*/ 564 h 1928"/>
                <a:gd name="T34" fmla="*/ 2988 w 3718"/>
                <a:gd name="T35" fmla="*/ 474 h 1928"/>
                <a:gd name="T36" fmla="*/ 2753 w 3718"/>
                <a:gd name="T37" fmla="*/ 381 h 1928"/>
                <a:gd name="T38" fmla="*/ 2565 w 3718"/>
                <a:gd name="T39" fmla="*/ 358 h 1928"/>
                <a:gd name="T40" fmla="*/ 2816 w 3718"/>
                <a:gd name="T41" fmla="*/ 590 h 1928"/>
                <a:gd name="T42" fmla="*/ 2732 w 3718"/>
                <a:gd name="T43" fmla="*/ 829 h 1928"/>
                <a:gd name="T44" fmla="*/ 2995 w 3718"/>
                <a:gd name="T45" fmla="*/ 792 h 1928"/>
                <a:gd name="T46" fmla="*/ 3152 w 3718"/>
                <a:gd name="T47" fmla="*/ 694 h 1928"/>
                <a:gd name="T48" fmla="*/ 2821 w 3718"/>
                <a:gd name="T49" fmla="*/ 613 h 1928"/>
                <a:gd name="T50" fmla="*/ 3034 w 3718"/>
                <a:gd name="T51" fmla="*/ 25 h 1928"/>
                <a:gd name="T52" fmla="*/ 3027 w 3718"/>
                <a:gd name="T53" fmla="*/ 92 h 1928"/>
                <a:gd name="T54" fmla="*/ 2737 w 3718"/>
                <a:gd name="T55" fmla="*/ 191 h 1928"/>
                <a:gd name="T56" fmla="*/ 2975 w 3718"/>
                <a:gd name="T57" fmla="*/ 248 h 1928"/>
                <a:gd name="T58" fmla="*/ 3379 w 3718"/>
                <a:gd name="T59" fmla="*/ 91 h 1928"/>
                <a:gd name="T60" fmla="*/ 2747 w 3718"/>
                <a:gd name="T61" fmla="*/ 549 h 1928"/>
                <a:gd name="T62" fmla="*/ 2686 w 3718"/>
                <a:gd name="T63" fmla="*/ 1536 h 1928"/>
                <a:gd name="T64" fmla="*/ 2958 w 3718"/>
                <a:gd name="T65" fmla="*/ 1304 h 1928"/>
                <a:gd name="T66" fmla="*/ 2899 w 3718"/>
                <a:gd name="T67" fmla="*/ 1093 h 1928"/>
                <a:gd name="T68" fmla="*/ 2744 w 3718"/>
                <a:gd name="T69" fmla="*/ 1079 h 1928"/>
                <a:gd name="T70" fmla="*/ 2677 w 3718"/>
                <a:gd name="T71" fmla="*/ 900 h 1928"/>
                <a:gd name="T72" fmla="*/ 2180 w 3718"/>
                <a:gd name="T73" fmla="*/ 1298 h 1928"/>
                <a:gd name="T74" fmla="*/ 1908 w 3718"/>
                <a:gd name="T75" fmla="*/ 1200 h 1928"/>
                <a:gd name="T76" fmla="*/ 1986 w 3718"/>
                <a:gd name="T77" fmla="*/ 814 h 1928"/>
                <a:gd name="T78" fmla="*/ 2401 w 3718"/>
                <a:gd name="T79" fmla="*/ 658 h 1928"/>
                <a:gd name="T80" fmla="*/ 2262 w 3718"/>
                <a:gd name="T81" fmla="*/ 563 h 1928"/>
                <a:gd name="T82" fmla="*/ 2163 w 3718"/>
                <a:gd name="T83" fmla="*/ 561 h 1928"/>
                <a:gd name="T84" fmla="*/ 1863 w 3718"/>
                <a:gd name="T85" fmla="*/ 625 h 1928"/>
                <a:gd name="T86" fmla="*/ 1155 w 3718"/>
                <a:gd name="T87" fmla="*/ 554 h 1928"/>
                <a:gd name="T88" fmla="*/ 983 w 3718"/>
                <a:gd name="T89" fmla="*/ 514 h 1928"/>
                <a:gd name="T90" fmla="*/ 52 w 3718"/>
                <a:gd name="T91" fmla="*/ 964 h 1928"/>
                <a:gd name="T92" fmla="*/ 225 w 3718"/>
                <a:gd name="T93" fmla="*/ 1187 h 1928"/>
                <a:gd name="T94" fmla="*/ 184 w 3718"/>
                <a:gd name="T95" fmla="*/ 1387 h 1928"/>
                <a:gd name="T96" fmla="*/ 1394 w 3718"/>
                <a:gd name="T97" fmla="*/ 1537 h 1928"/>
                <a:gd name="T98" fmla="*/ 1727 w 3718"/>
                <a:gd name="T99" fmla="*/ 1604 h 1928"/>
                <a:gd name="T100" fmla="*/ 1868 w 3718"/>
                <a:gd name="T101" fmla="*/ 1783 h 1928"/>
                <a:gd name="T102" fmla="*/ 1928 w 3718"/>
                <a:gd name="T103" fmla="*/ 1826 h 1928"/>
                <a:gd name="T104" fmla="*/ 2453 w 3718"/>
                <a:gd name="T105" fmla="*/ 1735 h 1928"/>
                <a:gd name="T106" fmla="*/ 2655 w 3718"/>
                <a:gd name="T107" fmla="*/ 1772 h 1928"/>
                <a:gd name="T108" fmla="*/ 2574 w 3718"/>
                <a:gd name="T109" fmla="*/ 1597 h 1928"/>
                <a:gd name="T110" fmla="*/ 2967 w 3718"/>
                <a:gd name="T111" fmla="*/ 1436 h 1928"/>
                <a:gd name="T112" fmla="*/ 1119 w 3718"/>
                <a:gd name="T113" fmla="*/ 664 h 1928"/>
                <a:gd name="T114" fmla="*/ 990 w 3718"/>
                <a:gd name="T115" fmla="*/ 760 h 1928"/>
                <a:gd name="T116" fmla="*/ 985 w 3718"/>
                <a:gd name="T117" fmla="*/ 939 h 1928"/>
                <a:gd name="T118" fmla="*/ 1403 w 3718"/>
                <a:gd name="T119" fmla="*/ 1433 h 1928"/>
                <a:gd name="T120" fmla="*/ 2456 w 3718"/>
                <a:gd name="T121" fmla="*/ 825 h 1928"/>
                <a:gd name="T122" fmla="*/ 2386 w 3718"/>
                <a:gd name="T123" fmla="*/ 823 h 19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718" h="1928">
                  <a:moveTo>
                    <a:pt x="2074" y="170"/>
                  </a:moveTo>
                  <a:cubicBezTo>
                    <a:pt x="2084" y="169"/>
                    <a:pt x="2113" y="177"/>
                    <a:pt x="2115" y="169"/>
                  </a:cubicBezTo>
                  <a:cubicBezTo>
                    <a:pt x="2117" y="160"/>
                    <a:pt x="2107" y="154"/>
                    <a:pt x="2091" y="154"/>
                  </a:cubicBezTo>
                  <a:cubicBezTo>
                    <a:pt x="2074" y="154"/>
                    <a:pt x="2009" y="165"/>
                    <a:pt x="2009" y="165"/>
                  </a:cubicBezTo>
                  <a:cubicBezTo>
                    <a:pt x="2009" y="165"/>
                    <a:pt x="2065" y="171"/>
                    <a:pt x="2074" y="170"/>
                  </a:cubicBezTo>
                  <a:close/>
                  <a:moveTo>
                    <a:pt x="1990" y="214"/>
                  </a:moveTo>
                  <a:cubicBezTo>
                    <a:pt x="2052" y="218"/>
                    <a:pt x="2047" y="199"/>
                    <a:pt x="2047" y="199"/>
                  </a:cubicBezTo>
                  <a:cubicBezTo>
                    <a:pt x="2043" y="189"/>
                    <a:pt x="2043" y="189"/>
                    <a:pt x="2043" y="189"/>
                  </a:cubicBezTo>
                  <a:cubicBezTo>
                    <a:pt x="2089" y="184"/>
                    <a:pt x="2089" y="184"/>
                    <a:pt x="2089" y="184"/>
                  </a:cubicBezTo>
                  <a:cubicBezTo>
                    <a:pt x="2078" y="176"/>
                    <a:pt x="2078" y="176"/>
                    <a:pt x="2078" y="176"/>
                  </a:cubicBezTo>
                  <a:cubicBezTo>
                    <a:pt x="2033" y="178"/>
                    <a:pt x="2033" y="178"/>
                    <a:pt x="2033" y="178"/>
                  </a:cubicBezTo>
                  <a:cubicBezTo>
                    <a:pt x="2025" y="186"/>
                    <a:pt x="2025" y="186"/>
                    <a:pt x="2025" y="186"/>
                  </a:cubicBezTo>
                  <a:cubicBezTo>
                    <a:pt x="2025" y="186"/>
                    <a:pt x="1966" y="173"/>
                    <a:pt x="1959" y="189"/>
                  </a:cubicBezTo>
                  <a:cubicBezTo>
                    <a:pt x="1953" y="205"/>
                    <a:pt x="1990" y="214"/>
                    <a:pt x="1990" y="214"/>
                  </a:cubicBezTo>
                  <a:close/>
                  <a:moveTo>
                    <a:pt x="1785" y="257"/>
                  </a:moveTo>
                  <a:cubicBezTo>
                    <a:pt x="1749" y="275"/>
                    <a:pt x="1749" y="275"/>
                    <a:pt x="1749" y="275"/>
                  </a:cubicBezTo>
                  <a:cubicBezTo>
                    <a:pt x="1749" y="275"/>
                    <a:pt x="1784" y="281"/>
                    <a:pt x="1768" y="284"/>
                  </a:cubicBezTo>
                  <a:cubicBezTo>
                    <a:pt x="1752" y="288"/>
                    <a:pt x="1694" y="292"/>
                    <a:pt x="1694" y="292"/>
                  </a:cubicBezTo>
                  <a:cubicBezTo>
                    <a:pt x="1680" y="308"/>
                    <a:pt x="1680" y="308"/>
                    <a:pt x="1680" y="308"/>
                  </a:cubicBezTo>
                  <a:cubicBezTo>
                    <a:pt x="1717" y="303"/>
                    <a:pt x="1717" y="303"/>
                    <a:pt x="1717" y="303"/>
                  </a:cubicBezTo>
                  <a:cubicBezTo>
                    <a:pt x="1717" y="303"/>
                    <a:pt x="1732" y="308"/>
                    <a:pt x="1751" y="311"/>
                  </a:cubicBezTo>
                  <a:cubicBezTo>
                    <a:pt x="1770" y="314"/>
                    <a:pt x="1826" y="295"/>
                    <a:pt x="1826" y="295"/>
                  </a:cubicBezTo>
                  <a:cubicBezTo>
                    <a:pt x="1824" y="304"/>
                    <a:pt x="1824" y="304"/>
                    <a:pt x="1824" y="304"/>
                  </a:cubicBezTo>
                  <a:cubicBezTo>
                    <a:pt x="1824" y="304"/>
                    <a:pt x="1862" y="299"/>
                    <a:pt x="1892" y="297"/>
                  </a:cubicBezTo>
                  <a:cubicBezTo>
                    <a:pt x="1920" y="295"/>
                    <a:pt x="1895" y="302"/>
                    <a:pt x="1885" y="304"/>
                  </a:cubicBezTo>
                  <a:cubicBezTo>
                    <a:pt x="1875" y="305"/>
                    <a:pt x="1841" y="309"/>
                    <a:pt x="1816" y="312"/>
                  </a:cubicBezTo>
                  <a:cubicBezTo>
                    <a:pt x="1791" y="315"/>
                    <a:pt x="1760" y="326"/>
                    <a:pt x="1760" y="326"/>
                  </a:cubicBezTo>
                  <a:cubicBezTo>
                    <a:pt x="1760" y="326"/>
                    <a:pt x="1788" y="331"/>
                    <a:pt x="1838" y="333"/>
                  </a:cubicBezTo>
                  <a:cubicBezTo>
                    <a:pt x="1886" y="334"/>
                    <a:pt x="1920" y="313"/>
                    <a:pt x="1920" y="313"/>
                  </a:cubicBezTo>
                  <a:cubicBezTo>
                    <a:pt x="1970" y="300"/>
                    <a:pt x="1970" y="300"/>
                    <a:pt x="1970" y="300"/>
                  </a:cubicBezTo>
                  <a:cubicBezTo>
                    <a:pt x="1970" y="300"/>
                    <a:pt x="1987" y="306"/>
                    <a:pt x="2035" y="300"/>
                  </a:cubicBezTo>
                  <a:cubicBezTo>
                    <a:pt x="2081" y="294"/>
                    <a:pt x="2084" y="284"/>
                    <a:pt x="2103" y="279"/>
                  </a:cubicBezTo>
                  <a:cubicBezTo>
                    <a:pt x="2121" y="274"/>
                    <a:pt x="2106" y="254"/>
                    <a:pt x="2086" y="254"/>
                  </a:cubicBezTo>
                  <a:cubicBezTo>
                    <a:pt x="2066" y="255"/>
                    <a:pt x="2072" y="268"/>
                    <a:pt x="2072" y="268"/>
                  </a:cubicBezTo>
                  <a:cubicBezTo>
                    <a:pt x="2045" y="267"/>
                    <a:pt x="2045" y="267"/>
                    <a:pt x="2045" y="267"/>
                  </a:cubicBezTo>
                  <a:cubicBezTo>
                    <a:pt x="2045" y="267"/>
                    <a:pt x="2050" y="260"/>
                    <a:pt x="2055" y="252"/>
                  </a:cubicBezTo>
                  <a:cubicBezTo>
                    <a:pt x="2060" y="244"/>
                    <a:pt x="2073" y="229"/>
                    <a:pt x="2061" y="229"/>
                  </a:cubicBezTo>
                  <a:cubicBezTo>
                    <a:pt x="2049" y="228"/>
                    <a:pt x="2024" y="239"/>
                    <a:pt x="1991" y="249"/>
                  </a:cubicBezTo>
                  <a:cubicBezTo>
                    <a:pt x="1957" y="259"/>
                    <a:pt x="2012" y="256"/>
                    <a:pt x="2012" y="256"/>
                  </a:cubicBezTo>
                  <a:cubicBezTo>
                    <a:pt x="2009" y="272"/>
                    <a:pt x="2009" y="272"/>
                    <a:pt x="2009" y="272"/>
                  </a:cubicBezTo>
                  <a:cubicBezTo>
                    <a:pt x="1929" y="282"/>
                    <a:pt x="1929" y="282"/>
                    <a:pt x="1929" y="282"/>
                  </a:cubicBezTo>
                  <a:cubicBezTo>
                    <a:pt x="1929" y="282"/>
                    <a:pt x="1923" y="262"/>
                    <a:pt x="1928" y="253"/>
                  </a:cubicBezTo>
                  <a:cubicBezTo>
                    <a:pt x="1932" y="244"/>
                    <a:pt x="1875" y="240"/>
                    <a:pt x="1875" y="240"/>
                  </a:cubicBezTo>
                  <a:lnTo>
                    <a:pt x="1785" y="257"/>
                  </a:lnTo>
                  <a:close/>
                  <a:moveTo>
                    <a:pt x="1887" y="230"/>
                  </a:moveTo>
                  <a:cubicBezTo>
                    <a:pt x="1905" y="215"/>
                    <a:pt x="1886" y="206"/>
                    <a:pt x="1868" y="216"/>
                  </a:cubicBezTo>
                  <a:cubicBezTo>
                    <a:pt x="1849" y="226"/>
                    <a:pt x="1887" y="230"/>
                    <a:pt x="1887" y="230"/>
                  </a:cubicBezTo>
                  <a:close/>
                  <a:moveTo>
                    <a:pt x="2008" y="377"/>
                  </a:moveTo>
                  <a:cubicBezTo>
                    <a:pt x="1988" y="361"/>
                    <a:pt x="1988" y="361"/>
                    <a:pt x="1988" y="361"/>
                  </a:cubicBezTo>
                  <a:cubicBezTo>
                    <a:pt x="1969" y="363"/>
                    <a:pt x="1969" y="363"/>
                    <a:pt x="1969" y="363"/>
                  </a:cubicBezTo>
                  <a:cubicBezTo>
                    <a:pt x="1969" y="363"/>
                    <a:pt x="1957" y="348"/>
                    <a:pt x="1932" y="357"/>
                  </a:cubicBezTo>
                  <a:cubicBezTo>
                    <a:pt x="1906" y="365"/>
                    <a:pt x="1964" y="389"/>
                    <a:pt x="1964" y="389"/>
                  </a:cubicBezTo>
                  <a:lnTo>
                    <a:pt x="2008" y="377"/>
                  </a:lnTo>
                  <a:close/>
                  <a:moveTo>
                    <a:pt x="1638" y="280"/>
                  </a:moveTo>
                  <a:cubicBezTo>
                    <a:pt x="1598" y="290"/>
                    <a:pt x="1626" y="295"/>
                    <a:pt x="1626" y="295"/>
                  </a:cubicBezTo>
                  <a:cubicBezTo>
                    <a:pt x="1683" y="281"/>
                    <a:pt x="1679" y="269"/>
                    <a:pt x="1638" y="280"/>
                  </a:cubicBezTo>
                  <a:close/>
                  <a:moveTo>
                    <a:pt x="1978" y="572"/>
                  </a:moveTo>
                  <a:cubicBezTo>
                    <a:pt x="1997" y="574"/>
                    <a:pt x="2006" y="580"/>
                    <a:pt x="2022" y="588"/>
                  </a:cubicBezTo>
                  <a:cubicBezTo>
                    <a:pt x="2038" y="596"/>
                    <a:pt x="2092" y="587"/>
                    <a:pt x="2092" y="587"/>
                  </a:cubicBezTo>
                  <a:cubicBezTo>
                    <a:pt x="2078" y="542"/>
                    <a:pt x="2078" y="542"/>
                    <a:pt x="2078" y="542"/>
                  </a:cubicBezTo>
                  <a:cubicBezTo>
                    <a:pt x="2012" y="528"/>
                    <a:pt x="2012" y="528"/>
                    <a:pt x="2012" y="528"/>
                  </a:cubicBezTo>
                  <a:cubicBezTo>
                    <a:pt x="1990" y="553"/>
                    <a:pt x="1990" y="553"/>
                    <a:pt x="1990" y="553"/>
                  </a:cubicBezTo>
                  <a:cubicBezTo>
                    <a:pt x="1968" y="555"/>
                    <a:pt x="1968" y="555"/>
                    <a:pt x="1968" y="555"/>
                  </a:cubicBezTo>
                  <a:cubicBezTo>
                    <a:pt x="1968" y="555"/>
                    <a:pt x="1959" y="571"/>
                    <a:pt x="1978" y="572"/>
                  </a:cubicBezTo>
                  <a:close/>
                  <a:moveTo>
                    <a:pt x="109" y="1360"/>
                  </a:moveTo>
                  <a:cubicBezTo>
                    <a:pt x="109" y="1369"/>
                    <a:pt x="126" y="1366"/>
                    <a:pt x="126" y="1366"/>
                  </a:cubicBezTo>
                  <a:cubicBezTo>
                    <a:pt x="124" y="1383"/>
                    <a:pt x="124" y="1383"/>
                    <a:pt x="124" y="1383"/>
                  </a:cubicBezTo>
                  <a:cubicBezTo>
                    <a:pt x="143" y="1371"/>
                    <a:pt x="143" y="1371"/>
                    <a:pt x="143" y="1371"/>
                  </a:cubicBezTo>
                  <a:cubicBezTo>
                    <a:pt x="141" y="1354"/>
                    <a:pt x="141" y="1354"/>
                    <a:pt x="141" y="1354"/>
                  </a:cubicBezTo>
                  <a:cubicBezTo>
                    <a:pt x="141" y="1354"/>
                    <a:pt x="109" y="1351"/>
                    <a:pt x="109" y="1360"/>
                  </a:cubicBezTo>
                  <a:close/>
                  <a:moveTo>
                    <a:pt x="166" y="1535"/>
                  </a:moveTo>
                  <a:cubicBezTo>
                    <a:pt x="166" y="1535"/>
                    <a:pt x="163" y="1521"/>
                    <a:pt x="164" y="1514"/>
                  </a:cubicBezTo>
                  <a:cubicBezTo>
                    <a:pt x="165" y="1507"/>
                    <a:pt x="170" y="1495"/>
                    <a:pt x="162" y="1485"/>
                  </a:cubicBezTo>
                  <a:cubicBezTo>
                    <a:pt x="162" y="1485"/>
                    <a:pt x="136" y="1481"/>
                    <a:pt x="127" y="1479"/>
                  </a:cubicBezTo>
                  <a:cubicBezTo>
                    <a:pt x="118" y="1477"/>
                    <a:pt x="103" y="1453"/>
                    <a:pt x="91" y="1452"/>
                  </a:cubicBezTo>
                  <a:cubicBezTo>
                    <a:pt x="79" y="1451"/>
                    <a:pt x="59" y="1463"/>
                    <a:pt x="64" y="1471"/>
                  </a:cubicBezTo>
                  <a:cubicBezTo>
                    <a:pt x="69" y="1479"/>
                    <a:pt x="78" y="1477"/>
                    <a:pt x="78" y="1477"/>
                  </a:cubicBezTo>
                  <a:cubicBezTo>
                    <a:pt x="87" y="1471"/>
                    <a:pt x="87" y="1471"/>
                    <a:pt x="87" y="1471"/>
                  </a:cubicBezTo>
                  <a:cubicBezTo>
                    <a:pt x="94" y="1476"/>
                    <a:pt x="94" y="1476"/>
                    <a:pt x="94" y="1476"/>
                  </a:cubicBezTo>
                  <a:cubicBezTo>
                    <a:pt x="88" y="1483"/>
                    <a:pt x="88" y="1483"/>
                    <a:pt x="88" y="1483"/>
                  </a:cubicBezTo>
                  <a:cubicBezTo>
                    <a:pt x="88" y="1483"/>
                    <a:pt x="59" y="1488"/>
                    <a:pt x="67" y="1497"/>
                  </a:cubicBezTo>
                  <a:cubicBezTo>
                    <a:pt x="75" y="1506"/>
                    <a:pt x="90" y="1497"/>
                    <a:pt x="90" y="1497"/>
                  </a:cubicBezTo>
                  <a:cubicBezTo>
                    <a:pt x="85" y="1512"/>
                    <a:pt x="85" y="1512"/>
                    <a:pt x="85" y="1512"/>
                  </a:cubicBezTo>
                  <a:cubicBezTo>
                    <a:pt x="100" y="1511"/>
                    <a:pt x="100" y="1511"/>
                    <a:pt x="100" y="1511"/>
                  </a:cubicBezTo>
                  <a:cubicBezTo>
                    <a:pt x="86" y="1522"/>
                    <a:pt x="86" y="1522"/>
                    <a:pt x="86" y="1522"/>
                  </a:cubicBezTo>
                  <a:cubicBezTo>
                    <a:pt x="112" y="1520"/>
                    <a:pt x="112" y="1520"/>
                    <a:pt x="112" y="1520"/>
                  </a:cubicBezTo>
                  <a:cubicBezTo>
                    <a:pt x="112" y="1520"/>
                    <a:pt x="85" y="1531"/>
                    <a:pt x="91" y="1536"/>
                  </a:cubicBezTo>
                  <a:cubicBezTo>
                    <a:pt x="97" y="1541"/>
                    <a:pt x="109" y="1520"/>
                    <a:pt x="115" y="1531"/>
                  </a:cubicBezTo>
                  <a:cubicBezTo>
                    <a:pt x="121" y="1542"/>
                    <a:pt x="99" y="1546"/>
                    <a:pt x="105" y="1553"/>
                  </a:cubicBezTo>
                  <a:cubicBezTo>
                    <a:pt x="111" y="1560"/>
                    <a:pt x="137" y="1555"/>
                    <a:pt x="137" y="1555"/>
                  </a:cubicBezTo>
                  <a:cubicBezTo>
                    <a:pt x="150" y="1547"/>
                    <a:pt x="150" y="1547"/>
                    <a:pt x="150" y="1547"/>
                  </a:cubicBezTo>
                  <a:cubicBezTo>
                    <a:pt x="138" y="1561"/>
                    <a:pt x="138" y="1561"/>
                    <a:pt x="138" y="1561"/>
                  </a:cubicBezTo>
                  <a:cubicBezTo>
                    <a:pt x="138" y="1561"/>
                    <a:pt x="113" y="1561"/>
                    <a:pt x="124" y="1570"/>
                  </a:cubicBezTo>
                  <a:cubicBezTo>
                    <a:pt x="135" y="1579"/>
                    <a:pt x="144" y="1579"/>
                    <a:pt x="144" y="1579"/>
                  </a:cubicBezTo>
                  <a:cubicBezTo>
                    <a:pt x="144" y="1579"/>
                    <a:pt x="168" y="1596"/>
                    <a:pt x="180" y="1586"/>
                  </a:cubicBezTo>
                  <a:cubicBezTo>
                    <a:pt x="192" y="1576"/>
                    <a:pt x="201" y="1568"/>
                    <a:pt x="192" y="1557"/>
                  </a:cubicBezTo>
                  <a:cubicBezTo>
                    <a:pt x="183" y="1546"/>
                    <a:pt x="166" y="1535"/>
                    <a:pt x="166" y="1535"/>
                  </a:cubicBezTo>
                  <a:close/>
                  <a:moveTo>
                    <a:pt x="1536" y="249"/>
                  </a:moveTo>
                  <a:cubicBezTo>
                    <a:pt x="1536" y="249"/>
                    <a:pt x="1574" y="242"/>
                    <a:pt x="1583" y="248"/>
                  </a:cubicBezTo>
                  <a:cubicBezTo>
                    <a:pt x="1593" y="254"/>
                    <a:pt x="1587" y="264"/>
                    <a:pt x="1599" y="264"/>
                  </a:cubicBezTo>
                  <a:cubicBezTo>
                    <a:pt x="1612" y="264"/>
                    <a:pt x="1634" y="259"/>
                    <a:pt x="1634" y="259"/>
                  </a:cubicBezTo>
                  <a:cubicBezTo>
                    <a:pt x="1634" y="259"/>
                    <a:pt x="1650" y="268"/>
                    <a:pt x="1665" y="261"/>
                  </a:cubicBezTo>
                  <a:cubicBezTo>
                    <a:pt x="1681" y="255"/>
                    <a:pt x="1678" y="238"/>
                    <a:pt x="1678" y="238"/>
                  </a:cubicBezTo>
                  <a:cubicBezTo>
                    <a:pt x="1700" y="238"/>
                    <a:pt x="1700" y="238"/>
                    <a:pt x="1700" y="238"/>
                  </a:cubicBezTo>
                  <a:cubicBezTo>
                    <a:pt x="1744" y="224"/>
                    <a:pt x="1744" y="224"/>
                    <a:pt x="1744" y="224"/>
                  </a:cubicBezTo>
                  <a:cubicBezTo>
                    <a:pt x="1719" y="247"/>
                    <a:pt x="1719" y="247"/>
                    <a:pt x="1719" y="247"/>
                  </a:cubicBezTo>
                  <a:cubicBezTo>
                    <a:pt x="1754" y="253"/>
                    <a:pt x="1754" y="253"/>
                    <a:pt x="1754" y="253"/>
                  </a:cubicBezTo>
                  <a:cubicBezTo>
                    <a:pt x="1791" y="238"/>
                    <a:pt x="1791" y="238"/>
                    <a:pt x="1791" y="238"/>
                  </a:cubicBezTo>
                  <a:cubicBezTo>
                    <a:pt x="1854" y="209"/>
                    <a:pt x="1854" y="209"/>
                    <a:pt x="1854" y="209"/>
                  </a:cubicBezTo>
                  <a:cubicBezTo>
                    <a:pt x="1854" y="209"/>
                    <a:pt x="1806" y="194"/>
                    <a:pt x="1797" y="194"/>
                  </a:cubicBezTo>
                  <a:cubicBezTo>
                    <a:pt x="1787" y="194"/>
                    <a:pt x="1734" y="190"/>
                    <a:pt x="1734" y="190"/>
                  </a:cubicBezTo>
                  <a:cubicBezTo>
                    <a:pt x="1683" y="198"/>
                    <a:pt x="1683" y="198"/>
                    <a:pt x="1683" y="198"/>
                  </a:cubicBezTo>
                  <a:cubicBezTo>
                    <a:pt x="1680" y="212"/>
                    <a:pt x="1680" y="212"/>
                    <a:pt x="1680" y="212"/>
                  </a:cubicBezTo>
                  <a:cubicBezTo>
                    <a:pt x="1602" y="218"/>
                    <a:pt x="1602" y="218"/>
                    <a:pt x="1602" y="218"/>
                  </a:cubicBezTo>
                  <a:cubicBezTo>
                    <a:pt x="1602" y="218"/>
                    <a:pt x="1576" y="209"/>
                    <a:pt x="1554" y="213"/>
                  </a:cubicBezTo>
                  <a:cubicBezTo>
                    <a:pt x="1532" y="216"/>
                    <a:pt x="1535" y="224"/>
                    <a:pt x="1535" y="224"/>
                  </a:cubicBezTo>
                  <a:cubicBezTo>
                    <a:pt x="1535" y="229"/>
                    <a:pt x="1536" y="249"/>
                    <a:pt x="1536" y="249"/>
                  </a:cubicBezTo>
                  <a:close/>
                  <a:moveTo>
                    <a:pt x="100" y="1323"/>
                  </a:moveTo>
                  <a:cubicBezTo>
                    <a:pt x="102" y="1338"/>
                    <a:pt x="113" y="1344"/>
                    <a:pt x="113" y="1344"/>
                  </a:cubicBezTo>
                  <a:cubicBezTo>
                    <a:pt x="121" y="1323"/>
                    <a:pt x="121" y="1323"/>
                    <a:pt x="121" y="1323"/>
                  </a:cubicBezTo>
                  <a:cubicBezTo>
                    <a:pt x="121" y="1323"/>
                    <a:pt x="98" y="1308"/>
                    <a:pt x="100" y="1323"/>
                  </a:cubicBezTo>
                  <a:close/>
                  <a:moveTo>
                    <a:pt x="82" y="1291"/>
                  </a:moveTo>
                  <a:cubicBezTo>
                    <a:pt x="78" y="1290"/>
                    <a:pt x="62" y="1294"/>
                    <a:pt x="56" y="1297"/>
                  </a:cubicBezTo>
                  <a:cubicBezTo>
                    <a:pt x="50" y="1300"/>
                    <a:pt x="45" y="1315"/>
                    <a:pt x="35" y="1315"/>
                  </a:cubicBezTo>
                  <a:cubicBezTo>
                    <a:pt x="25" y="1315"/>
                    <a:pt x="24" y="1307"/>
                    <a:pt x="34" y="1307"/>
                  </a:cubicBezTo>
                  <a:cubicBezTo>
                    <a:pt x="44" y="1307"/>
                    <a:pt x="62" y="1294"/>
                    <a:pt x="48" y="1295"/>
                  </a:cubicBezTo>
                  <a:cubicBezTo>
                    <a:pt x="34" y="1296"/>
                    <a:pt x="32" y="1299"/>
                    <a:pt x="32" y="1299"/>
                  </a:cubicBezTo>
                  <a:cubicBezTo>
                    <a:pt x="32" y="1299"/>
                    <a:pt x="35" y="1285"/>
                    <a:pt x="24" y="1289"/>
                  </a:cubicBezTo>
                  <a:cubicBezTo>
                    <a:pt x="13" y="1293"/>
                    <a:pt x="11" y="1306"/>
                    <a:pt x="11" y="1306"/>
                  </a:cubicBezTo>
                  <a:cubicBezTo>
                    <a:pt x="3" y="1324"/>
                    <a:pt x="3" y="1324"/>
                    <a:pt x="3" y="1324"/>
                  </a:cubicBezTo>
                  <a:cubicBezTo>
                    <a:pt x="3" y="1324"/>
                    <a:pt x="0" y="1336"/>
                    <a:pt x="3" y="1337"/>
                  </a:cubicBezTo>
                  <a:cubicBezTo>
                    <a:pt x="6" y="1338"/>
                    <a:pt x="9" y="1347"/>
                    <a:pt x="9" y="1347"/>
                  </a:cubicBezTo>
                  <a:cubicBezTo>
                    <a:pt x="0" y="1351"/>
                    <a:pt x="0" y="1351"/>
                    <a:pt x="0" y="1351"/>
                  </a:cubicBezTo>
                  <a:cubicBezTo>
                    <a:pt x="5" y="1386"/>
                    <a:pt x="5" y="1386"/>
                    <a:pt x="5" y="1386"/>
                  </a:cubicBezTo>
                  <a:cubicBezTo>
                    <a:pt x="5" y="1386"/>
                    <a:pt x="0" y="1398"/>
                    <a:pt x="16" y="1397"/>
                  </a:cubicBezTo>
                  <a:cubicBezTo>
                    <a:pt x="27" y="1396"/>
                    <a:pt x="16" y="1379"/>
                    <a:pt x="13" y="1372"/>
                  </a:cubicBezTo>
                  <a:cubicBezTo>
                    <a:pt x="10" y="1365"/>
                    <a:pt x="18" y="1359"/>
                    <a:pt x="23" y="1356"/>
                  </a:cubicBezTo>
                  <a:cubicBezTo>
                    <a:pt x="28" y="1353"/>
                    <a:pt x="36" y="1344"/>
                    <a:pt x="34" y="1340"/>
                  </a:cubicBezTo>
                  <a:cubicBezTo>
                    <a:pt x="34" y="1340"/>
                    <a:pt x="32" y="1329"/>
                    <a:pt x="38" y="1324"/>
                  </a:cubicBezTo>
                  <a:cubicBezTo>
                    <a:pt x="44" y="1319"/>
                    <a:pt x="55" y="1308"/>
                    <a:pt x="64" y="1303"/>
                  </a:cubicBezTo>
                  <a:cubicBezTo>
                    <a:pt x="73" y="1298"/>
                    <a:pt x="86" y="1292"/>
                    <a:pt x="82" y="1291"/>
                  </a:cubicBezTo>
                  <a:close/>
                  <a:moveTo>
                    <a:pt x="1263" y="454"/>
                  </a:moveTo>
                  <a:cubicBezTo>
                    <a:pt x="1268" y="466"/>
                    <a:pt x="1238" y="482"/>
                    <a:pt x="1266" y="478"/>
                  </a:cubicBezTo>
                  <a:cubicBezTo>
                    <a:pt x="1294" y="474"/>
                    <a:pt x="1328" y="462"/>
                    <a:pt x="1328" y="462"/>
                  </a:cubicBezTo>
                  <a:cubicBezTo>
                    <a:pt x="1354" y="468"/>
                    <a:pt x="1354" y="468"/>
                    <a:pt x="1354" y="468"/>
                  </a:cubicBezTo>
                  <a:cubicBezTo>
                    <a:pt x="1405" y="430"/>
                    <a:pt x="1405" y="430"/>
                    <a:pt x="1405" y="430"/>
                  </a:cubicBezTo>
                  <a:cubicBezTo>
                    <a:pt x="1493" y="402"/>
                    <a:pt x="1493" y="402"/>
                    <a:pt x="1493" y="402"/>
                  </a:cubicBezTo>
                  <a:cubicBezTo>
                    <a:pt x="1576" y="379"/>
                    <a:pt x="1576" y="379"/>
                    <a:pt x="1576" y="379"/>
                  </a:cubicBezTo>
                  <a:cubicBezTo>
                    <a:pt x="1642" y="366"/>
                    <a:pt x="1642" y="366"/>
                    <a:pt x="1642" y="366"/>
                  </a:cubicBezTo>
                  <a:cubicBezTo>
                    <a:pt x="1642" y="366"/>
                    <a:pt x="1603" y="334"/>
                    <a:pt x="1600" y="330"/>
                  </a:cubicBezTo>
                  <a:cubicBezTo>
                    <a:pt x="1596" y="327"/>
                    <a:pt x="1549" y="333"/>
                    <a:pt x="1549" y="333"/>
                  </a:cubicBezTo>
                  <a:cubicBezTo>
                    <a:pt x="1505" y="339"/>
                    <a:pt x="1505" y="339"/>
                    <a:pt x="1505" y="339"/>
                  </a:cubicBezTo>
                  <a:cubicBezTo>
                    <a:pt x="1481" y="321"/>
                    <a:pt x="1481" y="321"/>
                    <a:pt x="1481" y="321"/>
                  </a:cubicBezTo>
                  <a:cubicBezTo>
                    <a:pt x="1427" y="328"/>
                    <a:pt x="1427" y="328"/>
                    <a:pt x="1427" y="328"/>
                  </a:cubicBezTo>
                  <a:cubicBezTo>
                    <a:pt x="1393" y="338"/>
                    <a:pt x="1393" y="338"/>
                    <a:pt x="1393" y="338"/>
                  </a:cubicBezTo>
                  <a:cubicBezTo>
                    <a:pt x="1383" y="351"/>
                    <a:pt x="1383" y="351"/>
                    <a:pt x="1383" y="351"/>
                  </a:cubicBezTo>
                  <a:cubicBezTo>
                    <a:pt x="1372" y="371"/>
                    <a:pt x="1372" y="371"/>
                    <a:pt x="1372" y="371"/>
                  </a:cubicBezTo>
                  <a:cubicBezTo>
                    <a:pt x="1340" y="380"/>
                    <a:pt x="1340" y="380"/>
                    <a:pt x="1340" y="380"/>
                  </a:cubicBezTo>
                  <a:cubicBezTo>
                    <a:pt x="1294" y="393"/>
                    <a:pt x="1294" y="393"/>
                    <a:pt x="1294" y="393"/>
                  </a:cubicBezTo>
                  <a:cubicBezTo>
                    <a:pt x="1307" y="401"/>
                    <a:pt x="1307" y="401"/>
                    <a:pt x="1307" y="401"/>
                  </a:cubicBezTo>
                  <a:cubicBezTo>
                    <a:pt x="1227" y="437"/>
                    <a:pt x="1227" y="437"/>
                    <a:pt x="1227" y="437"/>
                  </a:cubicBezTo>
                  <a:cubicBezTo>
                    <a:pt x="1227" y="437"/>
                    <a:pt x="1259" y="442"/>
                    <a:pt x="1263" y="454"/>
                  </a:cubicBezTo>
                  <a:close/>
                  <a:moveTo>
                    <a:pt x="132" y="1313"/>
                  </a:moveTo>
                  <a:cubicBezTo>
                    <a:pt x="125" y="1331"/>
                    <a:pt x="125" y="1331"/>
                    <a:pt x="125" y="1331"/>
                  </a:cubicBezTo>
                  <a:cubicBezTo>
                    <a:pt x="127" y="1343"/>
                    <a:pt x="127" y="1343"/>
                    <a:pt x="127" y="1343"/>
                  </a:cubicBezTo>
                  <a:cubicBezTo>
                    <a:pt x="143" y="1333"/>
                    <a:pt x="143" y="1333"/>
                    <a:pt x="143" y="1333"/>
                  </a:cubicBezTo>
                  <a:lnTo>
                    <a:pt x="132" y="1313"/>
                  </a:lnTo>
                  <a:close/>
                  <a:moveTo>
                    <a:pt x="2786" y="403"/>
                  </a:moveTo>
                  <a:cubicBezTo>
                    <a:pt x="2802" y="409"/>
                    <a:pt x="2824" y="395"/>
                    <a:pt x="2824" y="395"/>
                  </a:cubicBezTo>
                  <a:cubicBezTo>
                    <a:pt x="2865" y="394"/>
                    <a:pt x="2865" y="394"/>
                    <a:pt x="2865" y="394"/>
                  </a:cubicBezTo>
                  <a:cubicBezTo>
                    <a:pt x="2865" y="394"/>
                    <a:pt x="2891" y="404"/>
                    <a:pt x="2899" y="398"/>
                  </a:cubicBezTo>
                  <a:cubicBezTo>
                    <a:pt x="2906" y="393"/>
                    <a:pt x="2900" y="370"/>
                    <a:pt x="2883" y="366"/>
                  </a:cubicBezTo>
                  <a:cubicBezTo>
                    <a:pt x="2865" y="362"/>
                    <a:pt x="2849" y="367"/>
                    <a:pt x="2849" y="367"/>
                  </a:cubicBezTo>
                  <a:cubicBezTo>
                    <a:pt x="2823" y="367"/>
                    <a:pt x="2823" y="367"/>
                    <a:pt x="2823" y="367"/>
                  </a:cubicBezTo>
                  <a:cubicBezTo>
                    <a:pt x="2823" y="367"/>
                    <a:pt x="2793" y="355"/>
                    <a:pt x="2782" y="364"/>
                  </a:cubicBezTo>
                  <a:cubicBezTo>
                    <a:pt x="2772" y="372"/>
                    <a:pt x="2768" y="378"/>
                    <a:pt x="2768" y="378"/>
                  </a:cubicBezTo>
                  <a:cubicBezTo>
                    <a:pt x="2781" y="385"/>
                    <a:pt x="2781" y="385"/>
                    <a:pt x="2781" y="385"/>
                  </a:cubicBezTo>
                  <a:cubicBezTo>
                    <a:pt x="2781" y="385"/>
                    <a:pt x="2772" y="397"/>
                    <a:pt x="2786" y="403"/>
                  </a:cubicBezTo>
                  <a:close/>
                  <a:moveTo>
                    <a:pt x="2471" y="347"/>
                  </a:moveTo>
                  <a:cubicBezTo>
                    <a:pt x="2457" y="346"/>
                    <a:pt x="2380" y="337"/>
                    <a:pt x="2339" y="339"/>
                  </a:cubicBezTo>
                  <a:cubicBezTo>
                    <a:pt x="2300" y="340"/>
                    <a:pt x="2311" y="339"/>
                    <a:pt x="2310" y="347"/>
                  </a:cubicBezTo>
                  <a:cubicBezTo>
                    <a:pt x="2308" y="356"/>
                    <a:pt x="2294" y="359"/>
                    <a:pt x="2260" y="367"/>
                  </a:cubicBezTo>
                  <a:cubicBezTo>
                    <a:pt x="2227" y="374"/>
                    <a:pt x="2259" y="375"/>
                    <a:pt x="2257" y="397"/>
                  </a:cubicBezTo>
                  <a:cubicBezTo>
                    <a:pt x="2245" y="414"/>
                    <a:pt x="2245" y="414"/>
                    <a:pt x="2245" y="414"/>
                  </a:cubicBezTo>
                  <a:cubicBezTo>
                    <a:pt x="2265" y="426"/>
                    <a:pt x="2265" y="426"/>
                    <a:pt x="2265" y="426"/>
                  </a:cubicBezTo>
                  <a:cubicBezTo>
                    <a:pt x="2318" y="404"/>
                    <a:pt x="2318" y="404"/>
                    <a:pt x="2318" y="404"/>
                  </a:cubicBezTo>
                  <a:cubicBezTo>
                    <a:pt x="2318" y="404"/>
                    <a:pt x="2299" y="397"/>
                    <a:pt x="2323" y="390"/>
                  </a:cubicBezTo>
                  <a:cubicBezTo>
                    <a:pt x="2348" y="383"/>
                    <a:pt x="2365" y="403"/>
                    <a:pt x="2365" y="403"/>
                  </a:cubicBezTo>
                  <a:cubicBezTo>
                    <a:pt x="2403" y="398"/>
                    <a:pt x="2403" y="398"/>
                    <a:pt x="2403" y="398"/>
                  </a:cubicBezTo>
                  <a:cubicBezTo>
                    <a:pt x="2398" y="383"/>
                    <a:pt x="2398" y="383"/>
                    <a:pt x="2398" y="383"/>
                  </a:cubicBezTo>
                  <a:cubicBezTo>
                    <a:pt x="2398" y="383"/>
                    <a:pt x="2447" y="381"/>
                    <a:pt x="2457" y="369"/>
                  </a:cubicBezTo>
                  <a:cubicBezTo>
                    <a:pt x="2467" y="358"/>
                    <a:pt x="2484" y="347"/>
                    <a:pt x="2471" y="347"/>
                  </a:cubicBezTo>
                  <a:close/>
                  <a:moveTo>
                    <a:pt x="2526" y="101"/>
                  </a:moveTo>
                  <a:cubicBezTo>
                    <a:pt x="2489" y="105"/>
                    <a:pt x="2489" y="105"/>
                    <a:pt x="2489" y="105"/>
                  </a:cubicBezTo>
                  <a:cubicBezTo>
                    <a:pt x="2503" y="123"/>
                    <a:pt x="2503" y="123"/>
                    <a:pt x="2503" y="123"/>
                  </a:cubicBezTo>
                  <a:lnTo>
                    <a:pt x="2526" y="101"/>
                  </a:lnTo>
                  <a:close/>
                  <a:moveTo>
                    <a:pt x="2406" y="324"/>
                  </a:moveTo>
                  <a:cubicBezTo>
                    <a:pt x="2417" y="317"/>
                    <a:pt x="2442" y="298"/>
                    <a:pt x="2438" y="290"/>
                  </a:cubicBezTo>
                  <a:cubicBezTo>
                    <a:pt x="2434" y="281"/>
                    <a:pt x="2400" y="283"/>
                    <a:pt x="2389" y="284"/>
                  </a:cubicBezTo>
                  <a:cubicBezTo>
                    <a:pt x="2366" y="286"/>
                    <a:pt x="2322" y="301"/>
                    <a:pt x="2334" y="309"/>
                  </a:cubicBezTo>
                  <a:cubicBezTo>
                    <a:pt x="2346" y="316"/>
                    <a:pt x="2406" y="324"/>
                    <a:pt x="2406" y="324"/>
                  </a:cubicBezTo>
                  <a:close/>
                  <a:moveTo>
                    <a:pt x="2634" y="123"/>
                  </a:moveTo>
                  <a:cubicBezTo>
                    <a:pt x="2598" y="131"/>
                    <a:pt x="2598" y="131"/>
                    <a:pt x="2598" y="131"/>
                  </a:cubicBezTo>
                  <a:cubicBezTo>
                    <a:pt x="2623" y="142"/>
                    <a:pt x="2623" y="142"/>
                    <a:pt x="2623" y="142"/>
                  </a:cubicBezTo>
                  <a:cubicBezTo>
                    <a:pt x="2623" y="142"/>
                    <a:pt x="2609" y="146"/>
                    <a:pt x="2611" y="156"/>
                  </a:cubicBezTo>
                  <a:cubicBezTo>
                    <a:pt x="2613" y="165"/>
                    <a:pt x="2640" y="162"/>
                    <a:pt x="2640" y="162"/>
                  </a:cubicBezTo>
                  <a:cubicBezTo>
                    <a:pt x="2627" y="171"/>
                    <a:pt x="2627" y="171"/>
                    <a:pt x="2627" y="171"/>
                  </a:cubicBezTo>
                  <a:cubicBezTo>
                    <a:pt x="2627" y="171"/>
                    <a:pt x="2645" y="175"/>
                    <a:pt x="2659" y="184"/>
                  </a:cubicBezTo>
                  <a:cubicBezTo>
                    <a:pt x="2673" y="192"/>
                    <a:pt x="2698" y="172"/>
                    <a:pt x="2698" y="172"/>
                  </a:cubicBezTo>
                  <a:cubicBezTo>
                    <a:pt x="2714" y="164"/>
                    <a:pt x="2714" y="164"/>
                    <a:pt x="2714" y="164"/>
                  </a:cubicBezTo>
                  <a:cubicBezTo>
                    <a:pt x="2714" y="164"/>
                    <a:pt x="2719" y="170"/>
                    <a:pt x="2725" y="181"/>
                  </a:cubicBezTo>
                  <a:cubicBezTo>
                    <a:pt x="2732" y="191"/>
                    <a:pt x="2756" y="173"/>
                    <a:pt x="2765" y="171"/>
                  </a:cubicBezTo>
                  <a:cubicBezTo>
                    <a:pt x="2774" y="169"/>
                    <a:pt x="2787" y="155"/>
                    <a:pt x="2787" y="155"/>
                  </a:cubicBezTo>
                  <a:cubicBezTo>
                    <a:pt x="2795" y="164"/>
                    <a:pt x="2795" y="164"/>
                    <a:pt x="2795" y="164"/>
                  </a:cubicBezTo>
                  <a:cubicBezTo>
                    <a:pt x="2795" y="164"/>
                    <a:pt x="2808" y="151"/>
                    <a:pt x="2810" y="146"/>
                  </a:cubicBezTo>
                  <a:cubicBezTo>
                    <a:pt x="2812" y="141"/>
                    <a:pt x="2865" y="143"/>
                    <a:pt x="2877" y="143"/>
                  </a:cubicBezTo>
                  <a:cubicBezTo>
                    <a:pt x="2889" y="143"/>
                    <a:pt x="2886" y="129"/>
                    <a:pt x="2886" y="129"/>
                  </a:cubicBezTo>
                  <a:cubicBezTo>
                    <a:pt x="2844" y="128"/>
                    <a:pt x="2844" y="128"/>
                    <a:pt x="2844" y="128"/>
                  </a:cubicBezTo>
                  <a:cubicBezTo>
                    <a:pt x="2864" y="117"/>
                    <a:pt x="2864" y="117"/>
                    <a:pt x="2864" y="117"/>
                  </a:cubicBezTo>
                  <a:cubicBezTo>
                    <a:pt x="2864" y="117"/>
                    <a:pt x="2872" y="97"/>
                    <a:pt x="2867" y="90"/>
                  </a:cubicBezTo>
                  <a:cubicBezTo>
                    <a:pt x="2863" y="84"/>
                    <a:pt x="2829" y="102"/>
                    <a:pt x="2829" y="102"/>
                  </a:cubicBezTo>
                  <a:cubicBezTo>
                    <a:pt x="2826" y="85"/>
                    <a:pt x="2826" y="85"/>
                    <a:pt x="2826" y="85"/>
                  </a:cubicBezTo>
                  <a:cubicBezTo>
                    <a:pt x="2794" y="91"/>
                    <a:pt x="2794" y="91"/>
                    <a:pt x="2794" y="91"/>
                  </a:cubicBezTo>
                  <a:cubicBezTo>
                    <a:pt x="2794" y="91"/>
                    <a:pt x="2791" y="71"/>
                    <a:pt x="2781" y="60"/>
                  </a:cubicBezTo>
                  <a:cubicBezTo>
                    <a:pt x="2772" y="49"/>
                    <a:pt x="2730" y="72"/>
                    <a:pt x="2730" y="72"/>
                  </a:cubicBezTo>
                  <a:cubicBezTo>
                    <a:pt x="2678" y="75"/>
                    <a:pt x="2678" y="75"/>
                    <a:pt x="2678" y="75"/>
                  </a:cubicBezTo>
                  <a:cubicBezTo>
                    <a:pt x="2695" y="88"/>
                    <a:pt x="2695" y="88"/>
                    <a:pt x="2695" y="88"/>
                  </a:cubicBezTo>
                  <a:cubicBezTo>
                    <a:pt x="2695" y="88"/>
                    <a:pt x="2658" y="85"/>
                    <a:pt x="2645" y="89"/>
                  </a:cubicBezTo>
                  <a:cubicBezTo>
                    <a:pt x="2633" y="93"/>
                    <a:pt x="2653" y="106"/>
                    <a:pt x="2653" y="106"/>
                  </a:cubicBezTo>
                  <a:cubicBezTo>
                    <a:pt x="2653" y="106"/>
                    <a:pt x="2596" y="100"/>
                    <a:pt x="2592" y="114"/>
                  </a:cubicBezTo>
                  <a:cubicBezTo>
                    <a:pt x="2587" y="128"/>
                    <a:pt x="2634" y="123"/>
                    <a:pt x="2634" y="123"/>
                  </a:cubicBezTo>
                  <a:close/>
                  <a:moveTo>
                    <a:pt x="2644" y="199"/>
                  </a:moveTo>
                  <a:cubicBezTo>
                    <a:pt x="2622" y="203"/>
                    <a:pt x="2622" y="213"/>
                    <a:pt x="2622" y="213"/>
                  </a:cubicBezTo>
                  <a:cubicBezTo>
                    <a:pt x="2640" y="216"/>
                    <a:pt x="2640" y="216"/>
                    <a:pt x="2640" y="216"/>
                  </a:cubicBezTo>
                  <a:cubicBezTo>
                    <a:pt x="2655" y="216"/>
                    <a:pt x="2667" y="195"/>
                    <a:pt x="2644" y="199"/>
                  </a:cubicBezTo>
                  <a:close/>
                  <a:moveTo>
                    <a:pt x="2488" y="226"/>
                  </a:moveTo>
                  <a:cubicBezTo>
                    <a:pt x="2484" y="226"/>
                    <a:pt x="2476" y="222"/>
                    <a:pt x="2476" y="222"/>
                  </a:cubicBezTo>
                  <a:cubicBezTo>
                    <a:pt x="2476" y="222"/>
                    <a:pt x="2416" y="222"/>
                    <a:pt x="2416" y="230"/>
                  </a:cubicBezTo>
                  <a:cubicBezTo>
                    <a:pt x="2416" y="239"/>
                    <a:pt x="2435" y="241"/>
                    <a:pt x="2435" y="241"/>
                  </a:cubicBezTo>
                  <a:cubicBezTo>
                    <a:pt x="2436" y="253"/>
                    <a:pt x="2436" y="253"/>
                    <a:pt x="2436" y="253"/>
                  </a:cubicBezTo>
                  <a:cubicBezTo>
                    <a:pt x="2436" y="253"/>
                    <a:pt x="2486" y="258"/>
                    <a:pt x="2490" y="256"/>
                  </a:cubicBezTo>
                  <a:cubicBezTo>
                    <a:pt x="2494" y="254"/>
                    <a:pt x="2506" y="255"/>
                    <a:pt x="2512" y="255"/>
                  </a:cubicBezTo>
                  <a:cubicBezTo>
                    <a:pt x="2510" y="263"/>
                    <a:pt x="2508" y="274"/>
                    <a:pt x="2508" y="274"/>
                  </a:cubicBezTo>
                  <a:cubicBezTo>
                    <a:pt x="2471" y="301"/>
                    <a:pt x="2471" y="301"/>
                    <a:pt x="2471" y="301"/>
                  </a:cubicBezTo>
                  <a:cubicBezTo>
                    <a:pt x="2485" y="307"/>
                    <a:pt x="2485" y="307"/>
                    <a:pt x="2485" y="307"/>
                  </a:cubicBezTo>
                  <a:cubicBezTo>
                    <a:pt x="2485" y="307"/>
                    <a:pt x="2461" y="322"/>
                    <a:pt x="2473" y="322"/>
                  </a:cubicBezTo>
                  <a:cubicBezTo>
                    <a:pt x="2485" y="322"/>
                    <a:pt x="2503" y="312"/>
                    <a:pt x="2503" y="312"/>
                  </a:cubicBezTo>
                  <a:cubicBezTo>
                    <a:pt x="2503" y="312"/>
                    <a:pt x="2494" y="325"/>
                    <a:pt x="2513" y="324"/>
                  </a:cubicBezTo>
                  <a:cubicBezTo>
                    <a:pt x="2532" y="323"/>
                    <a:pt x="2568" y="311"/>
                    <a:pt x="2568" y="311"/>
                  </a:cubicBezTo>
                  <a:cubicBezTo>
                    <a:pt x="2569" y="325"/>
                    <a:pt x="2569" y="325"/>
                    <a:pt x="2569" y="325"/>
                  </a:cubicBezTo>
                  <a:cubicBezTo>
                    <a:pt x="2614" y="322"/>
                    <a:pt x="2614" y="322"/>
                    <a:pt x="2614" y="322"/>
                  </a:cubicBezTo>
                  <a:cubicBezTo>
                    <a:pt x="2667" y="332"/>
                    <a:pt x="2667" y="332"/>
                    <a:pt x="2667" y="332"/>
                  </a:cubicBezTo>
                  <a:cubicBezTo>
                    <a:pt x="2731" y="327"/>
                    <a:pt x="2731" y="327"/>
                    <a:pt x="2731" y="327"/>
                  </a:cubicBezTo>
                  <a:cubicBezTo>
                    <a:pt x="2749" y="312"/>
                    <a:pt x="2749" y="312"/>
                    <a:pt x="2749" y="312"/>
                  </a:cubicBezTo>
                  <a:cubicBezTo>
                    <a:pt x="2749" y="312"/>
                    <a:pt x="2738" y="326"/>
                    <a:pt x="2751" y="327"/>
                  </a:cubicBezTo>
                  <a:cubicBezTo>
                    <a:pt x="2764" y="328"/>
                    <a:pt x="2839" y="326"/>
                    <a:pt x="2839" y="326"/>
                  </a:cubicBezTo>
                  <a:cubicBezTo>
                    <a:pt x="2846" y="312"/>
                    <a:pt x="2846" y="312"/>
                    <a:pt x="2846" y="312"/>
                  </a:cubicBezTo>
                  <a:cubicBezTo>
                    <a:pt x="2890" y="294"/>
                    <a:pt x="2890" y="294"/>
                    <a:pt x="2890" y="294"/>
                  </a:cubicBezTo>
                  <a:cubicBezTo>
                    <a:pt x="2879" y="290"/>
                    <a:pt x="2879" y="290"/>
                    <a:pt x="2879" y="290"/>
                  </a:cubicBezTo>
                  <a:cubicBezTo>
                    <a:pt x="2879" y="281"/>
                    <a:pt x="2879" y="281"/>
                    <a:pt x="2879" y="281"/>
                  </a:cubicBezTo>
                  <a:cubicBezTo>
                    <a:pt x="2879" y="281"/>
                    <a:pt x="2834" y="270"/>
                    <a:pt x="2818" y="270"/>
                  </a:cubicBezTo>
                  <a:cubicBezTo>
                    <a:pt x="2802" y="270"/>
                    <a:pt x="2681" y="294"/>
                    <a:pt x="2681" y="294"/>
                  </a:cubicBezTo>
                  <a:cubicBezTo>
                    <a:pt x="2681" y="294"/>
                    <a:pt x="2666" y="283"/>
                    <a:pt x="2658" y="282"/>
                  </a:cubicBezTo>
                  <a:cubicBezTo>
                    <a:pt x="2651" y="281"/>
                    <a:pt x="2621" y="294"/>
                    <a:pt x="2621" y="294"/>
                  </a:cubicBezTo>
                  <a:cubicBezTo>
                    <a:pt x="2608" y="280"/>
                    <a:pt x="2608" y="280"/>
                    <a:pt x="2608" y="280"/>
                  </a:cubicBezTo>
                  <a:cubicBezTo>
                    <a:pt x="2596" y="286"/>
                    <a:pt x="2596" y="286"/>
                    <a:pt x="2596" y="286"/>
                  </a:cubicBezTo>
                  <a:cubicBezTo>
                    <a:pt x="2574" y="282"/>
                    <a:pt x="2574" y="282"/>
                    <a:pt x="2574" y="282"/>
                  </a:cubicBezTo>
                  <a:cubicBezTo>
                    <a:pt x="2596" y="274"/>
                    <a:pt x="2596" y="274"/>
                    <a:pt x="2596" y="274"/>
                  </a:cubicBezTo>
                  <a:cubicBezTo>
                    <a:pt x="2583" y="268"/>
                    <a:pt x="2583" y="268"/>
                    <a:pt x="2583" y="268"/>
                  </a:cubicBezTo>
                  <a:cubicBezTo>
                    <a:pt x="2546" y="272"/>
                    <a:pt x="2546" y="272"/>
                    <a:pt x="2546" y="272"/>
                  </a:cubicBezTo>
                  <a:cubicBezTo>
                    <a:pt x="2570" y="265"/>
                    <a:pt x="2570" y="265"/>
                    <a:pt x="2570" y="265"/>
                  </a:cubicBezTo>
                  <a:cubicBezTo>
                    <a:pt x="2569" y="260"/>
                    <a:pt x="2569" y="260"/>
                    <a:pt x="2569" y="260"/>
                  </a:cubicBezTo>
                  <a:cubicBezTo>
                    <a:pt x="2615" y="259"/>
                    <a:pt x="2615" y="259"/>
                    <a:pt x="2615" y="259"/>
                  </a:cubicBezTo>
                  <a:cubicBezTo>
                    <a:pt x="2592" y="251"/>
                    <a:pt x="2592" y="251"/>
                    <a:pt x="2592" y="251"/>
                  </a:cubicBezTo>
                  <a:cubicBezTo>
                    <a:pt x="2576" y="251"/>
                    <a:pt x="2576" y="251"/>
                    <a:pt x="2576" y="251"/>
                  </a:cubicBezTo>
                  <a:cubicBezTo>
                    <a:pt x="2576" y="251"/>
                    <a:pt x="2588" y="241"/>
                    <a:pt x="2578" y="240"/>
                  </a:cubicBezTo>
                  <a:cubicBezTo>
                    <a:pt x="2570" y="239"/>
                    <a:pt x="2539" y="241"/>
                    <a:pt x="2523" y="244"/>
                  </a:cubicBezTo>
                  <a:cubicBezTo>
                    <a:pt x="2521" y="237"/>
                    <a:pt x="2492" y="226"/>
                    <a:pt x="2488" y="226"/>
                  </a:cubicBezTo>
                  <a:close/>
                  <a:moveTo>
                    <a:pt x="2173" y="281"/>
                  </a:moveTo>
                  <a:cubicBezTo>
                    <a:pt x="2182" y="281"/>
                    <a:pt x="2226" y="288"/>
                    <a:pt x="2226" y="288"/>
                  </a:cubicBezTo>
                  <a:cubicBezTo>
                    <a:pt x="2226" y="288"/>
                    <a:pt x="2202" y="308"/>
                    <a:pt x="2217" y="308"/>
                  </a:cubicBezTo>
                  <a:cubicBezTo>
                    <a:pt x="2232" y="308"/>
                    <a:pt x="2270" y="308"/>
                    <a:pt x="2270" y="308"/>
                  </a:cubicBezTo>
                  <a:cubicBezTo>
                    <a:pt x="2284" y="308"/>
                    <a:pt x="2309" y="302"/>
                    <a:pt x="2305" y="294"/>
                  </a:cubicBezTo>
                  <a:cubicBezTo>
                    <a:pt x="2301" y="285"/>
                    <a:pt x="2341" y="282"/>
                    <a:pt x="2339" y="273"/>
                  </a:cubicBezTo>
                  <a:cubicBezTo>
                    <a:pt x="2338" y="265"/>
                    <a:pt x="2376" y="259"/>
                    <a:pt x="2362" y="247"/>
                  </a:cubicBezTo>
                  <a:cubicBezTo>
                    <a:pt x="2348" y="236"/>
                    <a:pt x="2329" y="244"/>
                    <a:pt x="2329" y="244"/>
                  </a:cubicBezTo>
                  <a:cubicBezTo>
                    <a:pt x="2329" y="244"/>
                    <a:pt x="2282" y="229"/>
                    <a:pt x="2279" y="238"/>
                  </a:cubicBezTo>
                  <a:cubicBezTo>
                    <a:pt x="2276" y="246"/>
                    <a:pt x="2276" y="267"/>
                    <a:pt x="2276" y="267"/>
                  </a:cubicBezTo>
                  <a:cubicBezTo>
                    <a:pt x="2276" y="267"/>
                    <a:pt x="2255" y="242"/>
                    <a:pt x="2244" y="251"/>
                  </a:cubicBezTo>
                  <a:cubicBezTo>
                    <a:pt x="2232" y="259"/>
                    <a:pt x="2222" y="283"/>
                    <a:pt x="2213" y="276"/>
                  </a:cubicBezTo>
                  <a:cubicBezTo>
                    <a:pt x="2205" y="270"/>
                    <a:pt x="2200" y="245"/>
                    <a:pt x="2191" y="243"/>
                  </a:cubicBezTo>
                  <a:cubicBezTo>
                    <a:pt x="2181" y="241"/>
                    <a:pt x="2155" y="243"/>
                    <a:pt x="2156" y="256"/>
                  </a:cubicBezTo>
                  <a:cubicBezTo>
                    <a:pt x="2157" y="269"/>
                    <a:pt x="2165" y="281"/>
                    <a:pt x="2173" y="281"/>
                  </a:cubicBezTo>
                  <a:close/>
                  <a:moveTo>
                    <a:pt x="2477" y="192"/>
                  </a:moveTo>
                  <a:cubicBezTo>
                    <a:pt x="2487" y="195"/>
                    <a:pt x="2490" y="205"/>
                    <a:pt x="2490" y="205"/>
                  </a:cubicBezTo>
                  <a:cubicBezTo>
                    <a:pt x="2490" y="205"/>
                    <a:pt x="2532" y="202"/>
                    <a:pt x="2552" y="201"/>
                  </a:cubicBezTo>
                  <a:cubicBezTo>
                    <a:pt x="2571" y="200"/>
                    <a:pt x="2528" y="189"/>
                    <a:pt x="2528" y="189"/>
                  </a:cubicBezTo>
                  <a:cubicBezTo>
                    <a:pt x="2528" y="189"/>
                    <a:pt x="2537" y="179"/>
                    <a:pt x="2547" y="177"/>
                  </a:cubicBezTo>
                  <a:cubicBezTo>
                    <a:pt x="2558" y="175"/>
                    <a:pt x="2518" y="162"/>
                    <a:pt x="2488" y="156"/>
                  </a:cubicBezTo>
                  <a:cubicBezTo>
                    <a:pt x="2488" y="156"/>
                    <a:pt x="2464" y="160"/>
                    <a:pt x="2460" y="164"/>
                  </a:cubicBezTo>
                  <a:cubicBezTo>
                    <a:pt x="2456" y="169"/>
                    <a:pt x="2468" y="190"/>
                    <a:pt x="2477" y="192"/>
                  </a:cubicBezTo>
                  <a:close/>
                  <a:moveTo>
                    <a:pt x="2188" y="339"/>
                  </a:moveTo>
                  <a:cubicBezTo>
                    <a:pt x="2188" y="339"/>
                    <a:pt x="2127" y="341"/>
                    <a:pt x="2093" y="352"/>
                  </a:cubicBezTo>
                  <a:cubicBezTo>
                    <a:pt x="2060" y="363"/>
                    <a:pt x="2112" y="372"/>
                    <a:pt x="2101" y="385"/>
                  </a:cubicBezTo>
                  <a:cubicBezTo>
                    <a:pt x="2090" y="399"/>
                    <a:pt x="2068" y="364"/>
                    <a:pt x="2030" y="380"/>
                  </a:cubicBezTo>
                  <a:cubicBezTo>
                    <a:pt x="2042" y="405"/>
                    <a:pt x="2042" y="405"/>
                    <a:pt x="2042" y="405"/>
                  </a:cubicBezTo>
                  <a:cubicBezTo>
                    <a:pt x="2042" y="405"/>
                    <a:pt x="2048" y="415"/>
                    <a:pt x="2065" y="418"/>
                  </a:cubicBezTo>
                  <a:cubicBezTo>
                    <a:pt x="2083" y="421"/>
                    <a:pt x="2082" y="456"/>
                    <a:pt x="2082" y="456"/>
                  </a:cubicBezTo>
                  <a:cubicBezTo>
                    <a:pt x="2082" y="456"/>
                    <a:pt x="2152" y="447"/>
                    <a:pt x="2174" y="442"/>
                  </a:cubicBezTo>
                  <a:cubicBezTo>
                    <a:pt x="2196" y="436"/>
                    <a:pt x="2196" y="395"/>
                    <a:pt x="2196" y="395"/>
                  </a:cubicBezTo>
                  <a:cubicBezTo>
                    <a:pt x="2152" y="385"/>
                    <a:pt x="2152" y="385"/>
                    <a:pt x="2152" y="385"/>
                  </a:cubicBezTo>
                  <a:cubicBezTo>
                    <a:pt x="2152" y="385"/>
                    <a:pt x="2205" y="367"/>
                    <a:pt x="2232" y="358"/>
                  </a:cubicBezTo>
                  <a:cubicBezTo>
                    <a:pt x="2258" y="348"/>
                    <a:pt x="2188" y="339"/>
                    <a:pt x="2188" y="339"/>
                  </a:cubicBezTo>
                  <a:close/>
                  <a:moveTo>
                    <a:pt x="1929" y="499"/>
                  </a:moveTo>
                  <a:cubicBezTo>
                    <a:pt x="1927" y="493"/>
                    <a:pt x="1862" y="494"/>
                    <a:pt x="1862" y="494"/>
                  </a:cubicBezTo>
                  <a:cubicBezTo>
                    <a:pt x="1915" y="466"/>
                    <a:pt x="1915" y="466"/>
                    <a:pt x="1915" y="466"/>
                  </a:cubicBezTo>
                  <a:cubicBezTo>
                    <a:pt x="1915" y="466"/>
                    <a:pt x="1947" y="392"/>
                    <a:pt x="1918" y="383"/>
                  </a:cubicBezTo>
                  <a:cubicBezTo>
                    <a:pt x="1891" y="375"/>
                    <a:pt x="1852" y="393"/>
                    <a:pt x="1852" y="393"/>
                  </a:cubicBezTo>
                  <a:cubicBezTo>
                    <a:pt x="1852" y="393"/>
                    <a:pt x="1826" y="447"/>
                    <a:pt x="1802" y="450"/>
                  </a:cubicBezTo>
                  <a:cubicBezTo>
                    <a:pt x="1778" y="453"/>
                    <a:pt x="1818" y="413"/>
                    <a:pt x="1816" y="403"/>
                  </a:cubicBezTo>
                  <a:cubicBezTo>
                    <a:pt x="1814" y="393"/>
                    <a:pt x="1750" y="392"/>
                    <a:pt x="1750" y="392"/>
                  </a:cubicBezTo>
                  <a:cubicBezTo>
                    <a:pt x="1744" y="405"/>
                    <a:pt x="1744" y="405"/>
                    <a:pt x="1744" y="405"/>
                  </a:cubicBezTo>
                  <a:cubicBezTo>
                    <a:pt x="1744" y="405"/>
                    <a:pt x="1708" y="420"/>
                    <a:pt x="1671" y="423"/>
                  </a:cubicBezTo>
                  <a:cubicBezTo>
                    <a:pt x="1635" y="425"/>
                    <a:pt x="1687" y="412"/>
                    <a:pt x="1723" y="400"/>
                  </a:cubicBezTo>
                  <a:cubicBezTo>
                    <a:pt x="1761" y="388"/>
                    <a:pt x="1704" y="386"/>
                    <a:pt x="1704" y="386"/>
                  </a:cubicBezTo>
                  <a:cubicBezTo>
                    <a:pt x="1664" y="398"/>
                    <a:pt x="1664" y="398"/>
                    <a:pt x="1664" y="398"/>
                  </a:cubicBezTo>
                  <a:cubicBezTo>
                    <a:pt x="1636" y="401"/>
                    <a:pt x="1636" y="401"/>
                    <a:pt x="1636" y="401"/>
                  </a:cubicBezTo>
                  <a:cubicBezTo>
                    <a:pt x="1636" y="401"/>
                    <a:pt x="1651" y="391"/>
                    <a:pt x="1667" y="380"/>
                  </a:cubicBezTo>
                  <a:cubicBezTo>
                    <a:pt x="1682" y="369"/>
                    <a:pt x="1663" y="371"/>
                    <a:pt x="1663" y="371"/>
                  </a:cubicBezTo>
                  <a:cubicBezTo>
                    <a:pt x="1564" y="402"/>
                    <a:pt x="1564" y="402"/>
                    <a:pt x="1564" y="402"/>
                  </a:cubicBezTo>
                  <a:cubicBezTo>
                    <a:pt x="1550" y="403"/>
                    <a:pt x="1550" y="403"/>
                    <a:pt x="1550" y="403"/>
                  </a:cubicBezTo>
                  <a:cubicBezTo>
                    <a:pt x="1494" y="420"/>
                    <a:pt x="1494" y="420"/>
                    <a:pt x="1494" y="420"/>
                  </a:cubicBezTo>
                  <a:cubicBezTo>
                    <a:pt x="1496" y="428"/>
                    <a:pt x="1496" y="428"/>
                    <a:pt x="1496" y="428"/>
                  </a:cubicBezTo>
                  <a:cubicBezTo>
                    <a:pt x="1456" y="443"/>
                    <a:pt x="1456" y="443"/>
                    <a:pt x="1456" y="443"/>
                  </a:cubicBezTo>
                  <a:cubicBezTo>
                    <a:pt x="1447" y="453"/>
                    <a:pt x="1447" y="453"/>
                    <a:pt x="1447" y="453"/>
                  </a:cubicBezTo>
                  <a:cubicBezTo>
                    <a:pt x="1465" y="461"/>
                    <a:pt x="1465" y="461"/>
                    <a:pt x="1465" y="461"/>
                  </a:cubicBezTo>
                  <a:cubicBezTo>
                    <a:pt x="1465" y="461"/>
                    <a:pt x="1487" y="446"/>
                    <a:pt x="1492" y="458"/>
                  </a:cubicBezTo>
                  <a:cubicBezTo>
                    <a:pt x="1497" y="470"/>
                    <a:pt x="1451" y="464"/>
                    <a:pt x="1440" y="483"/>
                  </a:cubicBezTo>
                  <a:cubicBezTo>
                    <a:pt x="1428" y="503"/>
                    <a:pt x="1587" y="484"/>
                    <a:pt x="1565" y="502"/>
                  </a:cubicBezTo>
                  <a:cubicBezTo>
                    <a:pt x="1544" y="519"/>
                    <a:pt x="1417" y="508"/>
                    <a:pt x="1406" y="525"/>
                  </a:cubicBezTo>
                  <a:cubicBezTo>
                    <a:pt x="1395" y="542"/>
                    <a:pt x="1427" y="540"/>
                    <a:pt x="1450" y="552"/>
                  </a:cubicBezTo>
                  <a:cubicBezTo>
                    <a:pt x="1473" y="564"/>
                    <a:pt x="1438" y="557"/>
                    <a:pt x="1434" y="574"/>
                  </a:cubicBezTo>
                  <a:cubicBezTo>
                    <a:pt x="1430" y="590"/>
                    <a:pt x="1533" y="582"/>
                    <a:pt x="1533" y="582"/>
                  </a:cubicBezTo>
                  <a:cubicBezTo>
                    <a:pt x="1533" y="582"/>
                    <a:pt x="1702" y="566"/>
                    <a:pt x="1741" y="554"/>
                  </a:cubicBezTo>
                  <a:cubicBezTo>
                    <a:pt x="1768" y="545"/>
                    <a:pt x="1819" y="583"/>
                    <a:pt x="1851" y="586"/>
                  </a:cubicBezTo>
                  <a:cubicBezTo>
                    <a:pt x="1884" y="588"/>
                    <a:pt x="1895" y="551"/>
                    <a:pt x="1895" y="551"/>
                  </a:cubicBezTo>
                  <a:cubicBezTo>
                    <a:pt x="1843" y="550"/>
                    <a:pt x="1843" y="550"/>
                    <a:pt x="1843" y="550"/>
                  </a:cubicBezTo>
                  <a:cubicBezTo>
                    <a:pt x="1865" y="533"/>
                    <a:pt x="1865" y="533"/>
                    <a:pt x="1865" y="533"/>
                  </a:cubicBezTo>
                  <a:cubicBezTo>
                    <a:pt x="1865" y="533"/>
                    <a:pt x="1897" y="539"/>
                    <a:pt x="1929" y="532"/>
                  </a:cubicBezTo>
                  <a:cubicBezTo>
                    <a:pt x="1962" y="525"/>
                    <a:pt x="1931" y="506"/>
                    <a:pt x="1929" y="499"/>
                  </a:cubicBezTo>
                  <a:close/>
                  <a:moveTo>
                    <a:pt x="1909" y="590"/>
                  </a:moveTo>
                  <a:cubicBezTo>
                    <a:pt x="1941" y="591"/>
                    <a:pt x="1947" y="573"/>
                    <a:pt x="1925" y="574"/>
                  </a:cubicBezTo>
                  <a:cubicBezTo>
                    <a:pt x="1903" y="574"/>
                    <a:pt x="1909" y="590"/>
                    <a:pt x="1909" y="590"/>
                  </a:cubicBezTo>
                  <a:close/>
                  <a:moveTo>
                    <a:pt x="2183" y="224"/>
                  </a:moveTo>
                  <a:cubicBezTo>
                    <a:pt x="2201" y="221"/>
                    <a:pt x="2202" y="193"/>
                    <a:pt x="2187" y="193"/>
                  </a:cubicBezTo>
                  <a:cubicBezTo>
                    <a:pt x="2173" y="193"/>
                    <a:pt x="2166" y="226"/>
                    <a:pt x="2183" y="224"/>
                  </a:cubicBezTo>
                  <a:close/>
                  <a:moveTo>
                    <a:pt x="2307" y="155"/>
                  </a:moveTo>
                  <a:cubicBezTo>
                    <a:pt x="2307" y="155"/>
                    <a:pt x="2289" y="172"/>
                    <a:pt x="2303" y="173"/>
                  </a:cubicBezTo>
                  <a:cubicBezTo>
                    <a:pt x="2317" y="174"/>
                    <a:pt x="2349" y="175"/>
                    <a:pt x="2349" y="175"/>
                  </a:cubicBezTo>
                  <a:cubicBezTo>
                    <a:pt x="2349" y="175"/>
                    <a:pt x="2363" y="191"/>
                    <a:pt x="2380" y="191"/>
                  </a:cubicBezTo>
                  <a:cubicBezTo>
                    <a:pt x="2398" y="191"/>
                    <a:pt x="2411" y="177"/>
                    <a:pt x="2411" y="177"/>
                  </a:cubicBezTo>
                  <a:cubicBezTo>
                    <a:pt x="2402" y="169"/>
                    <a:pt x="2402" y="169"/>
                    <a:pt x="2402" y="169"/>
                  </a:cubicBezTo>
                  <a:cubicBezTo>
                    <a:pt x="2423" y="165"/>
                    <a:pt x="2423" y="165"/>
                    <a:pt x="2423" y="165"/>
                  </a:cubicBezTo>
                  <a:cubicBezTo>
                    <a:pt x="2393" y="143"/>
                    <a:pt x="2393" y="143"/>
                    <a:pt x="2393" y="143"/>
                  </a:cubicBezTo>
                  <a:cubicBezTo>
                    <a:pt x="2365" y="147"/>
                    <a:pt x="2365" y="147"/>
                    <a:pt x="2365" y="147"/>
                  </a:cubicBezTo>
                  <a:cubicBezTo>
                    <a:pt x="2355" y="132"/>
                    <a:pt x="2355" y="132"/>
                    <a:pt x="2355" y="132"/>
                  </a:cubicBezTo>
                  <a:cubicBezTo>
                    <a:pt x="2336" y="132"/>
                    <a:pt x="2336" y="132"/>
                    <a:pt x="2336" y="132"/>
                  </a:cubicBezTo>
                  <a:cubicBezTo>
                    <a:pt x="2314" y="132"/>
                    <a:pt x="2279" y="132"/>
                    <a:pt x="2278" y="144"/>
                  </a:cubicBezTo>
                  <a:cubicBezTo>
                    <a:pt x="2277" y="156"/>
                    <a:pt x="2307" y="155"/>
                    <a:pt x="2307" y="155"/>
                  </a:cubicBezTo>
                  <a:close/>
                  <a:moveTo>
                    <a:pt x="2285" y="872"/>
                  </a:moveTo>
                  <a:cubicBezTo>
                    <a:pt x="2230" y="922"/>
                    <a:pt x="2320" y="886"/>
                    <a:pt x="2320" y="886"/>
                  </a:cubicBezTo>
                  <a:cubicBezTo>
                    <a:pt x="2366" y="843"/>
                    <a:pt x="2339" y="821"/>
                    <a:pt x="2285" y="872"/>
                  </a:cubicBezTo>
                  <a:close/>
                  <a:moveTo>
                    <a:pt x="2943" y="929"/>
                  </a:moveTo>
                  <a:cubicBezTo>
                    <a:pt x="2953" y="921"/>
                    <a:pt x="2946" y="918"/>
                    <a:pt x="2946" y="918"/>
                  </a:cubicBezTo>
                  <a:cubicBezTo>
                    <a:pt x="2946" y="918"/>
                    <a:pt x="2924" y="913"/>
                    <a:pt x="2921" y="922"/>
                  </a:cubicBezTo>
                  <a:cubicBezTo>
                    <a:pt x="2921" y="922"/>
                    <a:pt x="2932" y="936"/>
                    <a:pt x="2943" y="929"/>
                  </a:cubicBezTo>
                  <a:close/>
                  <a:moveTo>
                    <a:pt x="2077" y="1360"/>
                  </a:moveTo>
                  <a:cubicBezTo>
                    <a:pt x="2105" y="1356"/>
                    <a:pt x="2070" y="1342"/>
                    <a:pt x="2070" y="1342"/>
                  </a:cubicBezTo>
                  <a:cubicBezTo>
                    <a:pt x="2026" y="1351"/>
                    <a:pt x="2048" y="1363"/>
                    <a:pt x="2077" y="1360"/>
                  </a:cubicBezTo>
                  <a:close/>
                  <a:moveTo>
                    <a:pt x="3172" y="665"/>
                  </a:moveTo>
                  <a:cubicBezTo>
                    <a:pt x="3167" y="669"/>
                    <a:pt x="3155" y="660"/>
                    <a:pt x="3155" y="660"/>
                  </a:cubicBezTo>
                  <a:cubicBezTo>
                    <a:pt x="3133" y="673"/>
                    <a:pt x="3133" y="673"/>
                    <a:pt x="3133" y="673"/>
                  </a:cubicBezTo>
                  <a:cubicBezTo>
                    <a:pt x="3135" y="656"/>
                    <a:pt x="3135" y="656"/>
                    <a:pt x="3135" y="656"/>
                  </a:cubicBezTo>
                  <a:cubicBezTo>
                    <a:pt x="3107" y="656"/>
                    <a:pt x="3107" y="656"/>
                    <a:pt x="3107" y="656"/>
                  </a:cubicBezTo>
                  <a:cubicBezTo>
                    <a:pt x="3107" y="656"/>
                    <a:pt x="3139" y="646"/>
                    <a:pt x="3133" y="636"/>
                  </a:cubicBezTo>
                  <a:cubicBezTo>
                    <a:pt x="3128" y="625"/>
                    <a:pt x="3079" y="624"/>
                    <a:pt x="3079" y="624"/>
                  </a:cubicBezTo>
                  <a:cubicBezTo>
                    <a:pt x="3073" y="613"/>
                    <a:pt x="3073" y="613"/>
                    <a:pt x="3073" y="613"/>
                  </a:cubicBezTo>
                  <a:cubicBezTo>
                    <a:pt x="3041" y="612"/>
                    <a:pt x="3041" y="612"/>
                    <a:pt x="3041" y="612"/>
                  </a:cubicBezTo>
                  <a:cubicBezTo>
                    <a:pt x="2997" y="581"/>
                    <a:pt x="2997" y="581"/>
                    <a:pt x="2997" y="581"/>
                  </a:cubicBezTo>
                  <a:cubicBezTo>
                    <a:pt x="3044" y="578"/>
                    <a:pt x="3044" y="578"/>
                    <a:pt x="3044" y="578"/>
                  </a:cubicBezTo>
                  <a:cubicBezTo>
                    <a:pt x="3024" y="564"/>
                    <a:pt x="3024" y="564"/>
                    <a:pt x="3024" y="564"/>
                  </a:cubicBezTo>
                  <a:cubicBezTo>
                    <a:pt x="3024" y="564"/>
                    <a:pt x="3037" y="560"/>
                    <a:pt x="3041" y="560"/>
                  </a:cubicBezTo>
                  <a:cubicBezTo>
                    <a:pt x="3045" y="560"/>
                    <a:pt x="3097" y="572"/>
                    <a:pt x="3091" y="558"/>
                  </a:cubicBezTo>
                  <a:cubicBezTo>
                    <a:pt x="3084" y="545"/>
                    <a:pt x="3029" y="548"/>
                    <a:pt x="3029" y="548"/>
                  </a:cubicBezTo>
                  <a:cubicBezTo>
                    <a:pt x="3011" y="546"/>
                    <a:pt x="3011" y="546"/>
                    <a:pt x="3011" y="546"/>
                  </a:cubicBezTo>
                  <a:cubicBezTo>
                    <a:pt x="3011" y="546"/>
                    <a:pt x="3088" y="544"/>
                    <a:pt x="3091" y="534"/>
                  </a:cubicBezTo>
                  <a:cubicBezTo>
                    <a:pt x="3093" y="525"/>
                    <a:pt x="3069" y="525"/>
                    <a:pt x="3069" y="525"/>
                  </a:cubicBezTo>
                  <a:cubicBezTo>
                    <a:pt x="3000" y="536"/>
                    <a:pt x="3000" y="536"/>
                    <a:pt x="3000" y="536"/>
                  </a:cubicBezTo>
                  <a:cubicBezTo>
                    <a:pt x="3040" y="512"/>
                    <a:pt x="3040" y="512"/>
                    <a:pt x="3040" y="512"/>
                  </a:cubicBezTo>
                  <a:cubicBezTo>
                    <a:pt x="3040" y="512"/>
                    <a:pt x="3093" y="518"/>
                    <a:pt x="3077" y="504"/>
                  </a:cubicBezTo>
                  <a:cubicBezTo>
                    <a:pt x="3061" y="489"/>
                    <a:pt x="3035" y="489"/>
                    <a:pt x="3035" y="489"/>
                  </a:cubicBezTo>
                  <a:cubicBezTo>
                    <a:pt x="3009" y="504"/>
                    <a:pt x="3009" y="504"/>
                    <a:pt x="3009" y="504"/>
                  </a:cubicBezTo>
                  <a:cubicBezTo>
                    <a:pt x="2999" y="500"/>
                    <a:pt x="2999" y="500"/>
                    <a:pt x="2999" y="500"/>
                  </a:cubicBezTo>
                  <a:cubicBezTo>
                    <a:pt x="2971" y="520"/>
                    <a:pt x="2971" y="520"/>
                    <a:pt x="2971" y="520"/>
                  </a:cubicBezTo>
                  <a:cubicBezTo>
                    <a:pt x="2973" y="505"/>
                    <a:pt x="2973" y="505"/>
                    <a:pt x="2973" y="505"/>
                  </a:cubicBezTo>
                  <a:cubicBezTo>
                    <a:pt x="2959" y="517"/>
                    <a:pt x="2959" y="517"/>
                    <a:pt x="2959" y="517"/>
                  </a:cubicBezTo>
                  <a:cubicBezTo>
                    <a:pt x="2973" y="497"/>
                    <a:pt x="2973" y="497"/>
                    <a:pt x="2973" y="497"/>
                  </a:cubicBezTo>
                  <a:cubicBezTo>
                    <a:pt x="2973" y="497"/>
                    <a:pt x="2993" y="502"/>
                    <a:pt x="3003" y="493"/>
                  </a:cubicBezTo>
                  <a:cubicBezTo>
                    <a:pt x="3012" y="484"/>
                    <a:pt x="3012" y="470"/>
                    <a:pt x="3005" y="472"/>
                  </a:cubicBezTo>
                  <a:cubicBezTo>
                    <a:pt x="2999" y="473"/>
                    <a:pt x="2991" y="485"/>
                    <a:pt x="2991" y="485"/>
                  </a:cubicBezTo>
                  <a:cubicBezTo>
                    <a:pt x="2967" y="486"/>
                    <a:pt x="2967" y="486"/>
                    <a:pt x="2967" y="486"/>
                  </a:cubicBezTo>
                  <a:cubicBezTo>
                    <a:pt x="2952" y="493"/>
                    <a:pt x="2952" y="493"/>
                    <a:pt x="2952" y="493"/>
                  </a:cubicBezTo>
                  <a:cubicBezTo>
                    <a:pt x="2968" y="474"/>
                    <a:pt x="2968" y="474"/>
                    <a:pt x="2968" y="474"/>
                  </a:cubicBezTo>
                  <a:cubicBezTo>
                    <a:pt x="2988" y="474"/>
                    <a:pt x="2988" y="474"/>
                    <a:pt x="2988" y="474"/>
                  </a:cubicBezTo>
                  <a:cubicBezTo>
                    <a:pt x="2988" y="474"/>
                    <a:pt x="3012" y="465"/>
                    <a:pt x="2999" y="457"/>
                  </a:cubicBezTo>
                  <a:cubicBezTo>
                    <a:pt x="2985" y="449"/>
                    <a:pt x="2941" y="469"/>
                    <a:pt x="2941" y="469"/>
                  </a:cubicBezTo>
                  <a:cubicBezTo>
                    <a:pt x="2933" y="460"/>
                    <a:pt x="2933" y="460"/>
                    <a:pt x="2933" y="460"/>
                  </a:cubicBezTo>
                  <a:cubicBezTo>
                    <a:pt x="2917" y="472"/>
                    <a:pt x="2917" y="472"/>
                    <a:pt x="2917" y="472"/>
                  </a:cubicBezTo>
                  <a:cubicBezTo>
                    <a:pt x="2932" y="452"/>
                    <a:pt x="2932" y="452"/>
                    <a:pt x="2932" y="452"/>
                  </a:cubicBezTo>
                  <a:cubicBezTo>
                    <a:pt x="2895" y="465"/>
                    <a:pt x="2895" y="465"/>
                    <a:pt x="2895" y="465"/>
                  </a:cubicBezTo>
                  <a:cubicBezTo>
                    <a:pt x="2895" y="450"/>
                    <a:pt x="2895" y="450"/>
                    <a:pt x="2895" y="450"/>
                  </a:cubicBezTo>
                  <a:cubicBezTo>
                    <a:pt x="2895" y="450"/>
                    <a:pt x="2931" y="441"/>
                    <a:pt x="2931" y="437"/>
                  </a:cubicBezTo>
                  <a:cubicBezTo>
                    <a:pt x="2931" y="433"/>
                    <a:pt x="2881" y="442"/>
                    <a:pt x="2881" y="442"/>
                  </a:cubicBezTo>
                  <a:cubicBezTo>
                    <a:pt x="2880" y="434"/>
                    <a:pt x="2880" y="434"/>
                    <a:pt x="2880" y="434"/>
                  </a:cubicBezTo>
                  <a:cubicBezTo>
                    <a:pt x="2880" y="434"/>
                    <a:pt x="2928" y="424"/>
                    <a:pt x="2923" y="417"/>
                  </a:cubicBezTo>
                  <a:cubicBezTo>
                    <a:pt x="2917" y="410"/>
                    <a:pt x="2852" y="409"/>
                    <a:pt x="2844" y="406"/>
                  </a:cubicBezTo>
                  <a:cubicBezTo>
                    <a:pt x="2836" y="404"/>
                    <a:pt x="2820" y="406"/>
                    <a:pt x="2819" y="410"/>
                  </a:cubicBezTo>
                  <a:cubicBezTo>
                    <a:pt x="2817" y="414"/>
                    <a:pt x="2828" y="428"/>
                    <a:pt x="2828" y="428"/>
                  </a:cubicBezTo>
                  <a:cubicBezTo>
                    <a:pt x="2804" y="424"/>
                    <a:pt x="2804" y="424"/>
                    <a:pt x="2804" y="424"/>
                  </a:cubicBezTo>
                  <a:cubicBezTo>
                    <a:pt x="2807" y="442"/>
                    <a:pt x="2807" y="442"/>
                    <a:pt x="2807" y="442"/>
                  </a:cubicBezTo>
                  <a:cubicBezTo>
                    <a:pt x="2793" y="425"/>
                    <a:pt x="2793" y="425"/>
                    <a:pt x="2793" y="425"/>
                  </a:cubicBezTo>
                  <a:cubicBezTo>
                    <a:pt x="2768" y="441"/>
                    <a:pt x="2768" y="441"/>
                    <a:pt x="2768" y="441"/>
                  </a:cubicBezTo>
                  <a:cubicBezTo>
                    <a:pt x="2768" y="441"/>
                    <a:pt x="2773" y="426"/>
                    <a:pt x="2768" y="422"/>
                  </a:cubicBezTo>
                  <a:cubicBezTo>
                    <a:pt x="2763" y="418"/>
                    <a:pt x="2715" y="438"/>
                    <a:pt x="2715" y="438"/>
                  </a:cubicBezTo>
                  <a:cubicBezTo>
                    <a:pt x="2727" y="413"/>
                    <a:pt x="2727" y="413"/>
                    <a:pt x="2727" y="413"/>
                  </a:cubicBezTo>
                  <a:cubicBezTo>
                    <a:pt x="2727" y="413"/>
                    <a:pt x="2767" y="412"/>
                    <a:pt x="2767" y="402"/>
                  </a:cubicBezTo>
                  <a:cubicBezTo>
                    <a:pt x="2767" y="393"/>
                    <a:pt x="2753" y="381"/>
                    <a:pt x="2753" y="381"/>
                  </a:cubicBezTo>
                  <a:cubicBezTo>
                    <a:pt x="2753" y="381"/>
                    <a:pt x="2777" y="364"/>
                    <a:pt x="2761" y="361"/>
                  </a:cubicBezTo>
                  <a:cubicBezTo>
                    <a:pt x="2745" y="358"/>
                    <a:pt x="2699" y="362"/>
                    <a:pt x="2699" y="362"/>
                  </a:cubicBezTo>
                  <a:cubicBezTo>
                    <a:pt x="2684" y="373"/>
                    <a:pt x="2684" y="373"/>
                    <a:pt x="2684" y="373"/>
                  </a:cubicBezTo>
                  <a:cubicBezTo>
                    <a:pt x="2625" y="374"/>
                    <a:pt x="2625" y="374"/>
                    <a:pt x="2625" y="374"/>
                  </a:cubicBezTo>
                  <a:cubicBezTo>
                    <a:pt x="2632" y="385"/>
                    <a:pt x="2632" y="385"/>
                    <a:pt x="2632" y="385"/>
                  </a:cubicBezTo>
                  <a:cubicBezTo>
                    <a:pt x="2652" y="393"/>
                    <a:pt x="2652" y="393"/>
                    <a:pt x="2652" y="393"/>
                  </a:cubicBezTo>
                  <a:cubicBezTo>
                    <a:pt x="2623" y="385"/>
                    <a:pt x="2623" y="385"/>
                    <a:pt x="2623" y="385"/>
                  </a:cubicBezTo>
                  <a:cubicBezTo>
                    <a:pt x="2629" y="401"/>
                    <a:pt x="2629" y="401"/>
                    <a:pt x="2629" y="401"/>
                  </a:cubicBezTo>
                  <a:cubicBezTo>
                    <a:pt x="2629" y="401"/>
                    <a:pt x="2597" y="388"/>
                    <a:pt x="2588" y="400"/>
                  </a:cubicBezTo>
                  <a:cubicBezTo>
                    <a:pt x="2579" y="412"/>
                    <a:pt x="2596" y="424"/>
                    <a:pt x="2596" y="424"/>
                  </a:cubicBezTo>
                  <a:cubicBezTo>
                    <a:pt x="2599" y="441"/>
                    <a:pt x="2599" y="441"/>
                    <a:pt x="2599" y="441"/>
                  </a:cubicBezTo>
                  <a:cubicBezTo>
                    <a:pt x="2599" y="441"/>
                    <a:pt x="2579" y="429"/>
                    <a:pt x="2568" y="432"/>
                  </a:cubicBezTo>
                  <a:cubicBezTo>
                    <a:pt x="2557" y="434"/>
                    <a:pt x="2543" y="453"/>
                    <a:pt x="2555" y="454"/>
                  </a:cubicBezTo>
                  <a:cubicBezTo>
                    <a:pt x="2567" y="456"/>
                    <a:pt x="2571" y="462"/>
                    <a:pt x="2571" y="462"/>
                  </a:cubicBezTo>
                  <a:cubicBezTo>
                    <a:pt x="2540" y="477"/>
                    <a:pt x="2540" y="477"/>
                    <a:pt x="2540" y="477"/>
                  </a:cubicBezTo>
                  <a:cubicBezTo>
                    <a:pt x="2500" y="481"/>
                    <a:pt x="2500" y="481"/>
                    <a:pt x="2500" y="481"/>
                  </a:cubicBezTo>
                  <a:cubicBezTo>
                    <a:pt x="2500" y="481"/>
                    <a:pt x="2539" y="473"/>
                    <a:pt x="2539" y="464"/>
                  </a:cubicBezTo>
                  <a:cubicBezTo>
                    <a:pt x="2539" y="454"/>
                    <a:pt x="2515" y="453"/>
                    <a:pt x="2525" y="440"/>
                  </a:cubicBezTo>
                  <a:cubicBezTo>
                    <a:pt x="2536" y="426"/>
                    <a:pt x="2549" y="425"/>
                    <a:pt x="2549" y="425"/>
                  </a:cubicBezTo>
                  <a:cubicBezTo>
                    <a:pt x="2549" y="406"/>
                    <a:pt x="2549" y="406"/>
                    <a:pt x="2549" y="406"/>
                  </a:cubicBezTo>
                  <a:cubicBezTo>
                    <a:pt x="2549" y="406"/>
                    <a:pt x="2584" y="384"/>
                    <a:pt x="2596" y="378"/>
                  </a:cubicBezTo>
                  <a:cubicBezTo>
                    <a:pt x="2608" y="373"/>
                    <a:pt x="2653" y="366"/>
                    <a:pt x="2645" y="362"/>
                  </a:cubicBezTo>
                  <a:cubicBezTo>
                    <a:pt x="2637" y="358"/>
                    <a:pt x="2591" y="357"/>
                    <a:pt x="2565" y="358"/>
                  </a:cubicBezTo>
                  <a:cubicBezTo>
                    <a:pt x="2540" y="360"/>
                    <a:pt x="2472" y="401"/>
                    <a:pt x="2472" y="401"/>
                  </a:cubicBezTo>
                  <a:cubicBezTo>
                    <a:pt x="2472" y="401"/>
                    <a:pt x="2443" y="414"/>
                    <a:pt x="2433" y="416"/>
                  </a:cubicBezTo>
                  <a:cubicBezTo>
                    <a:pt x="2424" y="417"/>
                    <a:pt x="2420" y="428"/>
                    <a:pt x="2420" y="428"/>
                  </a:cubicBezTo>
                  <a:cubicBezTo>
                    <a:pt x="2420" y="428"/>
                    <a:pt x="2373" y="454"/>
                    <a:pt x="2391" y="461"/>
                  </a:cubicBezTo>
                  <a:cubicBezTo>
                    <a:pt x="2408" y="468"/>
                    <a:pt x="2460" y="464"/>
                    <a:pt x="2453" y="473"/>
                  </a:cubicBezTo>
                  <a:cubicBezTo>
                    <a:pt x="2447" y="482"/>
                    <a:pt x="2360" y="481"/>
                    <a:pt x="2381" y="496"/>
                  </a:cubicBezTo>
                  <a:cubicBezTo>
                    <a:pt x="2403" y="510"/>
                    <a:pt x="2429" y="513"/>
                    <a:pt x="2429" y="513"/>
                  </a:cubicBezTo>
                  <a:cubicBezTo>
                    <a:pt x="2460" y="501"/>
                    <a:pt x="2460" y="501"/>
                    <a:pt x="2460" y="501"/>
                  </a:cubicBezTo>
                  <a:cubicBezTo>
                    <a:pt x="2460" y="501"/>
                    <a:pt x="2451" y="517"/>
                    <a:pt x="2473" y="517"/>
                  </a:cubicBezTo>
                  <a:cubicBezTo>
                    <a:pt x="2496" y="517"/>
                    <a:pt x="2584" y="536"/>
                    <a:pt x="2595" y="530"/>
                  </a:cubicBezTo>
                  <a:cubicBezTo>
                    <a:pt x="2605" y="525"/>
                    <a:pt x="2581" y="513"/>
                    <a:pt x="2581" y="513"/>
                  </a:cubicBezTo>
                  <a:cubicBezTo>
                    <a:pt x="2581" y="513"/>
                    <a:pt x="2648" y="520"/>
                    <a:pt x="2659" y="521"/>
                  </a:cubicBezTo>
                  <a:cubicBezTo>
                    <a:pt x="2669" y="522"/>
                    <a:pt x="2696" y="533"/>
                    <a:pt x="2705" y="528"/>
                  </a:cubicBezTo>
                  <a:cubicBezTo>
                    <a:pt x="2715" y="522"/>
                    <a:pt x="2696" y="502"/>
                    <a:pt x="2696" y="502"/>
                  </a:cubicBezTo>
                  <a:cubicBezTo>
                    <a:pt x="2727" y="496"/>
                    <a:pt x="2727" y="496"/>
                    <a:pt x="2727" y="496"/>
                  </a:cubicBezTo>
                  <a:cubicBezTo>
                    <a:pt x="2727" y="496"/>
                    <a:pt x="2735" y="518"/>
                    <a:pt x="2739" y="517"/>
                  </a:cubicBezTo>
                  <a:cubicBezTo>
                    <a:pt x="2743" y="516"/>
                    <a:pt x="2757" y="532"/>
                    <a:pt x="2757" y="532"/>
                  </a:cubicBezTo>
                  <a:cubicBezTo>
                    <a:pt x="2777" y="525"/>
                    <a:pt x="2777" y="525"/>
                    <a:pt x="2777" y="525"/>
                  </a:cubicBezTo>
                  <a:cubicBezTo>
                    <a:pt x="2777" y="525"/>
                    <a:pt x="2769" y="545"/>
                    <a:pt x="2773" y="546"/>
                  </a:cubicBezTo>
                  <a:cubicBezTo>
                    <a:pt x="2777" y="548"/>
                    <a:pt x="2807" y="554"/>
                    <a:pt x="2807" y="554"/>
                  </a:cubicBezTo>
                  <a:cubicBezTo>
                    <a:pt x="2807" y="554"/>
                    <a:pt x="2785" y="573"/>
                    <a:pt x="2793" y="573"/>
                  </a:cubicBezTo>
                  <a:cubicBezTo>
                    <a:pt x="2801" y="573"/>
                    <a:pt x="2820" y="573"/>
                    <a:pt x="2820" y="573"/>
                  </a:cubicBezTo>
                  <a:cubicBezTo>
                    <a:pt x="2816" y="590"/>
                    <a:pt x="2816" y="590"/>
                    <a:pt x="2816" y="590"/>
                  </a:cubicBezTo>
                  <a:cubicBezTo>
                    <a:pt x="2816" y="590"/>
                    <a:pt x="2849" y="594"/>
                    <a:pt x="2849" y="610"/>
                  </a:cubicBezTo>
                  <a:cubicBezTo>
                    <a:pt x="2849" y="626"/>
                    <a:pt x="2827" y="660"/>
                    <a:pt x="2821" y="661"/>
                  </a:cubicBezTo>
                  <a:cubicBezTo>
                    <a:pt x="2816" y="662"/>
                    <a:pt x="2728" y="701"/>
                    <a:pt x="2728" y="701"/>
                  </a:cubicBezTo>
                  <a:cubicBezTo>
                    <a:pt x="2728" y="701"/>
                    <a:pt x="2756" y="720"/>
                    <a:pt x="2741" y="726"/>
                  </a:cubicBezTo>
                  <a:cubicBezTo>
                    <a:pt x="2727" y="733"/>
                    <a:pt x="2707" y="734"/>
                    <a:pt x="2707" y="734"/>
                  </a:cubicBezTo>
                  <a:cubicBezTo>
                    <a:pt x="2655" y="741"/>
                    <a:pt x="2655" y="741"/>
                    <a:pt x="2655" y="741"/>
                  </a:cubicBezTo>
                  <a:cubicBezTo>
                    <a:pt x="2649" y="756"/>
                    <a:pt x="2649" y="756"/>
                    <a:pt x="2649" y="756"/>
                  </a:cubicBezTo>
                  <a:cubicBezTo>
                    <a:pt x="2640" y="742"/>
                    <a:pt x="2640" y="742"/>
                    <a:pt x="2640" y="742"/>
                  </a:cubicBezTo>
                  <a:cubicBezTo>
                    <a:pt x="2640" y="742"/>
                    <a:pt x="2613" y="733"/>
                    <a:pt x="2600" y="736"/>
                  </a:cubicBezTo>
                  <a:cubicBezTo>
                    <a:pt x="2587" y="738"/>
                    <a:pt x="2588" y="750"/>
                    <a:pt x="2588" y="750"/>
                  </a:cubicBezTo>
                  <a:cubicBezTo>
                    <a:pt x="2588" y="750"/>
                    <a:pt x="2543" y="760"/>
                    <a:pt x="2543" y="776"/>
                  </a:cubicBezTo>
                  <a:cubicBezTo>
                    <a:pt x="2543" y="800"/>
                    <a:pt x="2577" y="794"/>
                    <a:pt x="2604" y="785"/>
                  </a:cubicBezTo>
                  <a:cubicBezTo>
                    <a:pt x="2631" y="776"/>
                    <a:pt x="2637" y="777"/>
                    <a:pt x="2637" y="777"/>
                  </a:cubicBezTo>
                  <a:cubicBezTo>
                    <a:pt x="2637" y="777"/>
                    <a:pt x="2656" y="790"/>
                    <a:pt x="2663" y="785"/>
                  </a:cubicBezTo>
                  <a:cubicBezTo>
                    <a:pt x="2669" y="780"/>
                    <a:pt x="2665" y="769"/>
                    <a:pt x="2665" y="769"/>
                  </a:cubicBezTo>
                  <a:cubicBezTo>
                    <a:pt x="2681" y="754"/>
                    <a:pt x="2681" y="754"/>
                    <a:pt x="2681" y="754"/>
                  </a:cubicBezTo>
                  <a:cubicBezTo>
                    <a:pt x="2681" y="754"/>
                    <a:pt x="2668" y="766"/>
                    <a:pt x="2677" y="769"/>
                  </a:cubicBezTo>
                  <a:cubicBezTo>
                    <a:pt x="2687" y="772"/>
                    <a:pt x="2721" y="772"/>
                    <a:pt x="2721" y="772"/>
                  </a:cubicBezTo>
                  <a:cubicBezTo>
                    <a:pt x="2721" y="772"/>
                    <a:pt x="2707" y="778"/>
                    <a:pt x="2708" y="785"/>
                  </a:cubicBezTo>
                  <a:cubicBezTo>
                    <a:pt x="2709" y="792"/>
                    <a:pt x="2731" y="796"/>
                    <a:pt x="2731" y="796"/>
                  </a:cubicBezTo>
                  <a:cubicBezTo>
                    <a:pt x="2731" y="796"/>
                    <a:pt x="2717" y="805"/>
                    <a:pt x="2728" y="812"/>
                  </a:cubicBezTo>
                  <a:cubicBezTo>
                    <a:pt x="2739" y="818"/>
                    <a:pt x="2763" y="818"/>
                    <a:pt x="2763" y="818"/>
                  </a:cubicBezTo>
                  <a:cubicBezTo>
                    <a:pt x="2732" y="829"/>
                    <a:pt x="2732" y="829"/>
                    <a:pt x="2732" y="829"/>
                  </a:cubicBezTo>
                  <a:cubicBezTo>
                    <a:pt x="2732" y="829"/>
                    <a:pt x="2737" y="850"/>
                    <a:pt x="2743" y="849"/>
                  </a:cubicBezTo>
                  <a:cubicBezTo>
                    <a:pt x="2748" y="848"/>
                    <a:pt x="2759" y="841"/>
                    <a:pt x="2759" y="841"/>
                  </a:cubicBezTo>
                  <a:cubicBezTo>
                    <a:pt x="2759" y="841"/>
                    <a:pt x="2761" y="856"/>
                    <a:pt x="2771" y="857"/>
                  </a:cubicBezTo>
                  <a:cubicBezTo>
                    <a:pt x="2780" y="858"/>
                    <a:pt x="2801" y="861"/>
                    <a:pt x="2801" y="861"/>
                  </a:cubicBezTo>
                  <a:cubicBezTo>
                    <a:pt x="2801" y="861"/>
                    <a:pt x="2800" y="878"/>
                    <a:pt x="2816" y="882"/>
                  </a:cubicBezTo>
                  <a:cubicBezTo>
                    <a:pt x="2832" y="886"/>
                    <a:pt x="2843" y="878"/>
                    <a:pt x="2857" y="886"/>
                  </a:cubicBezTo>
                  <a:cubicBezTo>
                    <a:pt x="2872" y="894"/>
                    <a:pt x="2908" y="909"/>
                    <a:pt x="2908" y="909"/>
                  </a:cubicBezTo>
                  <a:cubicBezTo>
                    <a:pt x="2908" y="909"/>
                    <a:pt x="2919" y="889"/>
                    <a:pt x="2907" y="876"/>
                  </a:cubicBezTo>
                  <a:cubicBezTo>
                    <a:pt x="2895" y="862"/>
                    <a:pt x="2875" y="850"/>
                    <a:pt x="2875" y="850"/>
                  </a:cubicBezTo>
                  <a:cubicBezTo>
                    <a:pt x="2875" y="850"/>
                    <a:pt x="2855" y="825"/>
                    <a:pt x="2860" y="817"/>
                  </a:cubicBezTo>
                  <a:cubicBezTo>
                    <a:pt x="2865" y="809"/>
                    <a:pt x="2888" y="832"/>
                    <a:pt x="2888" y="832"/>
                  </a:cubicBezTo>
                  <a:cubicBezTo>
                    <a:pt x="2888" y="812"/>
                    <a:pt x="2888" y="812"/>
                    <a:pt x="2888" y="812"/>
                  </a:cubicBezTo>
                  <a:cubicBezTo>
                    <a:pt x="2888" y="812"/>
                    <a:pt x="2897" y="837"/>
                    <a:pt x="2907" y="837"/>
                  </a:cubicBezTo>
                  <a:cubicBezTo>
                    <a:pt x="2916" y="837"/>
                    <a:pt x="2931" y="833"/>
                    <a:pt x="2931" y="833"/>
                  </a:cubicBezTo>
                  <a:cubicBezTo>
                    <a:pt x="2931" y="833"/>
                    <a:pt x="2927" y="854"/>
                    <a:pt x="2937" y="853"/>
                  </a:cubicBezTo>
                  <a:cubicBezTo>
                    <a:pt x="2948" y="852"/>
                    <a:pt x="2952" y="864"/>
                    <a:pt x="2952" y="864"/>
                  </a:cubicBezTo>
                  <a:cubicBezTo>
                    <a:pt x="2965" y="849"/>
                    <a:pt x="2965" y="849"/>
                    <a:pt x="2965" y="849"/>
                  </a:cubicBezTo>
                  <a:cubicBezTo>
                    <a:pt x="2965" y="849"/>
                    <a:pt x="2975" y="861"/>
                    <a:pt x="2980" y="858"/>
                  </a:cubicBezTo>
                  <a:cubicBezTo>
                    <a:pt x="2985" y="856"/>
                    <a:pt x="2979" y="840"/>
                    <a:pt x="2979" y="840"/>
                  </a:cubicBezTo>
                  <a:cubicBezTo>
                    <a:pt x="2989" y="809"/>
                    <a:pt x="2989" y="809"/>
                    <a:pt x="2989" y="809"/>
                  </a:cubicBezTo>
                  <a:cubicBezTo>
                    <a:pt x="2989" y="809"/>
                    <a:pt x="2989" y="836"/>
                    <a:pt x="2997" y="836"/>
                  </a:cubicBezTo>
                  <a:cubicBezTo>
                    <a:pt x="3005" y="836"/>
                    <a:pt x="3009" y="808"/>
                    <a:pt x="3009" y="808"/>
                  </a:cubicBezTo>
                  <a:cubicBezTo>
                    <a:pt x="2995" y="792"/>
                    <a:pt x="2995" y="792"/>
                    <a:pt x="2995" y="792"/>
                  </a:cubicBezTo>
                  <a:cubicBezTo>
                    <a:pt x="3009" y="788"/>
                    <a:pt x="3009" y="788"/>
                    <a:pt x="3009" y="788"/>
                  </a:cubicBezTo>
                  <a:cubicBezTo>
                    <a:pt x="2997" y="778"/>
                    <a:pt x="2997" y="778"/>
                    <a:pt x="2997" y="778"/>
                  </a:cubicBezTo>
                  <a:cubicBezTo>
                    <a:pt x="2999" y="765"/>
                    <a:pt x="2999" y="765"/>
                    <a:pt x="2999" y="765"/>
                  </a:cubicBezTo>
                  <a:cubicBezTo>
                    <a:pt x="2979" y="768"/>
                    <a:pt x="2979" y="768"/>
                    <a:pt x="2979" y="768"/>
                  </a:cubicBezTo>
                  <a:cubicBezTo>
                    <a:pt x="2979" y="757"/>
                    <a:pt x="2979" y="757"/>
                    <a:pt x="2979" y="757"/>
                  </a:cubicBezTo>
                  <a:cubicBezTo>
                    <a:pt x="2964" y="757"/>
                    <a:pt x="2964" y="757"/>
                    <a:pt x="2964" y="757"/>
                  </a:cubicBezTo>
                  <a:cubicBezTo>
                    <a:pt x="2963" y="724"/>
                    <a:pt x="2963" y="724"/>
                    <a:pt x="2963" y="724"/>
                  </a:cubicBezTo>
                  <a:cubicBezTo>
                    <a:pt x="2941" y="725"/>
                    <a:pt x="2941" y="725"/>
                    <a:pt x="2941" y="725"/>
                  </a:cubicBezTo>
                  <a:cubicBezTo>
                    <a:pt x="2941" y="725"/>
                    <a:pt x="2929" y="705"/>
                    <a:pt x="2941" y="702"/>
                  </a:cubicBezTo>
                  <a:cubicBezTo>
                    <a:pt x="2953" y="700"/>
                    <a:pt x="2961" y="717"/>
                    <a:pt x="2969" y="714"/>
                  </a:cubicBezTo>
                  <a:cubicBezTo>
                    <a:pt x="2977" y="712"/>
                    <a:pt x="2976" y="686"/>
                    <a:pt x="2976" y="686"/>
                  </a:cubicBezTo>
                  <a:cubicBezTo>
                    <a:pt x="2991" y="690"/>
                    <a:pt x="2991" y="690"/>
                    <a:pt x="2991" y="690"/>
                  </a:cubicBezTo>
                  <a:cubicBezTo>
                    <a:pt x="3016" y="678"/>
                    <a:pt x="3016" y="678"/>
                    <a:pt x="3016" y="678"/>
                  </a:cubicBezTo>
                  <a:cubicBezTo>
                    <a:pt x="3016" y="678"/>
                    <a:pt x="3017" y="710"/>
                    <a:pt x="3024" y="704"/>
                  </a:cubicBezTo>
                  <a:cubicBezTo>
                    <a:pt x="3031" y="697"/>
                    <a:pt x="3044" y="697"/>
                    <a:pt x="3044" y="697"/>
                  </a:cubicBezTo>
                  <a:cubicBezTo>
                    <a:pt x="3036" y="709"/>
                    <a:pt x="3036" y="709"/>
                    <a:pt x="3036" y="709"/>
                  </a:cubicBezTo>
                  <a:cubicBezTo>
                    <a:pt x="3051" y="710"/>
                    <a:pt x="3051" y="710"/>
                    <a:pt x="3051" y="710"/>
                  </a:cubicBezTo>
                  <a:cubicBezTo>
                    <a:pt x="3044" y="729"/>
                    <a:pt x="3044" y="729"/>
                    <a:pt x="3044" y="729"/>
                  </a:cubicBezTo>
                  <a:cubicBezTo>
                    <a:pt x="3044" y="729"/>
                    <a:pt x="3067" y="770"/>
                    <a:pt x="3083" y="760"/>
                  </a:cubicBezTo>
                  <a:cubicBezTo>
                    <a:pt x="3099" y="749"/>
                    <a:pt x="3101" y="724"/>
                    <a:pt x="3101" y="724"/>
                  </a:cubicBezTo>
                  <a:cubicBezTo>
                    <a:pt x="3108" y="714"/>
                    <a:pt x="3108" y="714"/>
                    <a:pt x="3108" y="714"/>
                  </a:cubicBezTo>
                  <a:cubicBezTo>
                    <a:pt x="3108" y="714"/>
                    <a:pt x="3127" y="730"/>
                    <a:pt x="3140" y="721"/>
                  </a:cubicBezTo>
                  <a:cubicBezTo>
                    <a:pt x="3153" y="712"/>
                    <a:pt x="3152" y="694"/>
                    <a:pt x="3152" y="694"/>
                  </a:cubicBezTo>
                  <a:cubicBezTo>
                    <a:pt x="3152" y="694"/>
                    <a:pt x="3187" y="704"/>
                    <a:pt x="3201" y="688"/>
                  </a:cubicBezTo>
                  <a:cubicBezTo>
                    <a:pt x="3216" y="672"/>
                    <a:pt x="3177" y="661"/>
                    <a:pt x="3172" y="665"/>
                  </a:cubicBezTo>
                  <a:close/>
                  <a:moveTo>
                    <a:pt x="2983" y="872"/>
                  </a:moveTo>
                  <a:cubicBezTo>
                    <a:pt x="2963" y="876"/>
                    <a:pt x="2963" y="876"/>
                    <a:pt x="2963" y="876"/>
                  </a:cubicBezTo>
                  <a:cubicBezTo>
                    <a:pt x="2960" y="885"/>
                    <a:pt x="2960" y="885"/>
                    <a:pt x="2960" y="885"/>
                  </a:cubicBezTo>
                  <a:cubicBezTo>
                    <a:pt x="2983" y="882"/>
                    <a:pt x="2983" y="882"/>
                    <a:pt x="2983" y="882"/>
                  </a:cubicBezTo>
                  <a:lnTo>
                    <a:pt x="2983" y="872"/>
                  </a:lnTo>
                  <a:close/>
                  <a:moveTo>
                    <a:pt x="2758" y="861"/>
                  </a:moveTo>
                  <a:cubicBezTo>
                    <a:pt x="2746" y="862"/>
                    <a:pt x="2747" y="878"/>
                    <a:pt x="2761" y="878"/>
                  </a:cubicBezTo>
                  <a:cubicBezTo>
                    <a:pt x="2785" y="878"/>
                    <a:pt x="2771" y="859"/>
                    <a:pt x="2758" y="861"/>
                  </a:cubicBezTo>
                  <a:close/>
                  <a:moveTo>
                    <a:pt x="2555" y="832"/>
                  </a:moveTo>
                  <a:cubicBezTo>
                    <a:pt x="2565" y="822"/>
                    <a:pt x="2540" y="818"/>
                    <a:pt x="2540" y="818"/>
                  </a:cubicBezTo>
                  <a:cubicBezTo>
                    <a:pt x="2540" y="818"/>
                    <a:pt x="2540" y="847"/>
                    <a:pt x="2555" y="832"/>
                  </a:cubicBezTo>
                  <a:close/>
                  <a:moveTo>
                    <a:pt x="2800" y="969"/>
                  </a:moveTo>
                  <a:cubicBezTo>
                    <a:pt x="2777" y="971"/>
                    <a:pt x="2777" y="971"/>
                    <a:pt x="2777" y="971"/>
                  </a:cubicBezTo>
                  <a:cubicBezTo>
                    <a:pt x="2801" y="987"/>
                    <a:pt x="2801" y="987"/>
                    <a:pt x="2801" y="987"/>
                  </a:cubicBezTo>
                  <a:cubicBezTo>
                    <a:pt x="2820" y="978"/>
                    <a:pt x="2800" y="969"/>
                    <a:pt x="2800" y="969"/>
                  </a:cubicBezTo>
                  <a:close/>
                  <a:moveTo>
                    <a:pt x="2779" y="582"/>
                  </a:moveTo>
                  <a:cubicBezTo>
                    <a:pt x="2752" y="576"/>
                    <a:pt x="2779" y="594"/>
                    <a:pt x="2779" y="594"/>
                  </a:cubicBezTo>
                  <a:cubicBezTo>
                    <a:pt x="2795" y="592"/>
                    <a:pt x="2807" y="588"/>
                    <a:pt x="2779" y="582"/>
                  </a:cubicBezTo>
                  <a:close/>
                  <a:moveTo>
                    <a:pt x="2779" y="626"/>
                  </a:moveTo>
                  <a:cubicBezTo>
                    <a:pt x="2821" y="624"/>
                    <a:pt x="2821" y="624"/>
                    <a:pt x="2821" y="624"/>
                  </a:cubicBezTo>
                  <a:cubicBezTo>
                    <a:pt x="2821" y="613"/>
                    <a:pt x="2821" y="613"/>
                    <a:pt x="2821" y="613"/>
                  </a:cubicBezTo>
                  <a:cubicBezTo>
                    <a:pt x="2791" y="615"/>
                    <a:pt x="2791" y="615"/>
                    <a:pt x="2791" y="615"/>
                  </a:cubicBezTo>
                  <a:lnTo>
                    <a:pt x="2779" y="626"/>
                  </a:lnTo>
                  <a:close/>
                  <a:moveTo>
                    <a:pt x="3715" y="26"/>
                  </a:moveTo>
                  <a:cubicBezTo>
                    <a:pt x="3713" y="23"/>
                    <a:pt x="3658" y="28"/>
                    <a:pt x="3658" y="28"/>
                  </a:cubicBezTo>
                  <a:cubicBezTo>
                    <a:pt x="3660" y="18"/>
                    <a:pt x="3660" y="18"/>
                    <a:pt x="3660" y="18"/>
                  </a:cubicBezTo>
                  <a:cubicBezTo>
                    <a:pt x="3660" y="18"/>
                    <a:pt x="3625" y="10"/>
                    <a:pt x="3612" y="10"/>
                  </a:cubicBezTo>
                  <a:cubicBezTo>
                    <a:pt x="3599" y="10"/>
                    <a:pt x="3527" y="25"/>
                    <a:pt x="3527" y="25"/>
                  </a:cubicBezTo>
                  <a:cubicBezTo>
                    <a:pt x="3560" y="10"/>
                    <a:pt x="3560" y="10"/>
                    <a:pt x="3560" y="10"/>
                  </a:cubicBezTo>
                  <a:cubicBezTo>
                    <a:pt x="3515" y="12"/>
                    <a:pt x="3515" y="12"/>
                    <a:pt x="3515" y="12"/>
                  </a:cubicBezTo>
                  <a:cubicBezTo>
                    <a:pt x="3515" y="12"/>
                    <a:pt x="3479" y="0"/>
                    <a:pt x="3469" y="2"/>
                  </a:cubicBezTo>
                  <a:cubicBezTo>
                    <a:pt x="3458" y="4"/>
                    <a:pt x="3453" y="15"/>
                    <a:pt x="3453" y="15"/>
                  </a:cubicBezTo>
                  <a:cubicBezTo>
                    <a:pt x="3453" y="15"/>
                    <a:pt x="3427" y="3"/>
                    <a:pt x="3418" y="3"/>
                  </a:cubicBezTo>
                  <a:cubicBezTo>
                    <a:pt x="3409" y="3"/>
                    <a:pt x="3389" y="18"/>
                    <a:pt x="3389" y="18"/>
                  </a:cubicBezTo>
                  <a:cubicBezTo>
                    <a:pt x="3363" y="10"/>
                    <a:pt x="3363" y="10"/>
                    <a:pt x="3363" y="10"/>
                  </a:cubicBezTo>
                  <a:cubicBezTo>
                    <a:pt x="3290" y="7"/>
                    <a:pt x="3290" y="7"/>
                    <a:pt x="3290" y="7"/>
                  </a:cubicBezTo>
                  <a:cubicBezTo>
                    <a:pt x="3308" y="25"/>
                    <a:pt x="3308" y="25"/>
                    <a:pt x="3308" y="25"/>
                  </a:cubicBezTo>
                  <a:cubicBezTo>
                    <a:pt x="3266" y="11"/>
                    <a:pt x="3266" y="11"/>
                    <a:pt x="3266" y="11"/>
                  </a:cubicBezTo>
                  <a:cubicBezTo>
                    <a:pt x="3225" y="18"/>
                    <a:pt x="3225" y="18"/>
                    <a:pt x="3225" y="18"/>
                  </a:cubicBezTo>
                  <a:cubicBezTo>
                    <a:pt x="3225" y="18"/>
                    <a:pt x="3195" y="12"/>
                    <a:pt x="3179" y="12"/>
                  </a:cubicBezTo>
                  <a:cubicBezTo>
                    <a:pt x="3163" y="12"/>
                    <a:pt x="3114" y="24"/>
                    <a:pt x="3114" y="24"/>
                  </a:cubicBezTo>
                  <a:cubicBezTo>
                    <a:pt x="3172" y="42"/>
                    <a:pt x="3172" y="42"/>
                    <a:pt x="3172" y="42"/>
                  </a:cubicBezTo>
                  <a:cubicBezTo>
                    <a:pt x="3114" y="34"/>
                    <a:pt x="3114" y="34"/>
                    <a:pt x="3114" y="34"/>
                  </a:cubicBezTo>
                  <a:cubicBezTo>
                    <a:pt x="3114" y="34"/>
                    <a:pt x="3059" y="23"/>
                    <a:pt x="3034" y="25"/>
                  </a:cubicBezTo>
                  <a:cubicBezTo>
                    <a:pt x="3010" y="28"/>
                    <a:pt x="3018" y="42"/>
                    <a:pt x="3018" y="42"/>
                  </a:cubicBezTo>
                  <a:cubicBezTo>
                    <a:pt x="3018" y="42"/>
                    <a:pt x="2956" y="36"/>
                    <a:pt x="2943" y="36"/>
                  </a:cubicBezTo>
                  <a:cubicBezTo>
                    <a:pt x="2930" y="36"/>
                    <a:pt x="2830" y="46"/>
                    <a:pt x="2826" y="48"/>
                  </a:cubicBezTo>
                  <a:cubicBezTo>
                    <a:pt x="2823" y="50"/>
                    <a:pt x="2849" y="56"/>
                    <a:pt x="2849" y="56"/>
                  </a:cubicBezTo>
                  <a:cubicBezTo>
                    <a:pt x="2905" y="59"/>
                    <a:pt x="2905" y="59"/>
                    <a:pt x="2905" y="59"/>
                  </a:cubicBezTo>
                  <a:cubicBezTo>
                    <a:pt x="2850" y="67"/>
                    <a:pt x="2850" y="67"/>
                    <a:pt x="2850" y="67"/>
                  </a:cubicBezTo>
                  <a:cubicBezTo>
                    <a:pt x="2850" y="67"/>
                    <a:pt x="2870" y="76"/>
                    <a:pt x="2884" y="76"/>
                  </a:cubicBezTo>
                  <a:cubicBezTo>
                    <a:pt x="2898" y="76"/>
                    <a:pt x="2935" y="70"/>
                    <a:pt x="2935" y="70"/>
                  </a:cubicBezTo>
                  <a:cubicBezTo>
                    <a:pt x="2935" y="70"/>
                    <a:pt x="2960" y="62"/>
                    <a:pt x="2978" y="62"/>
                  </a:cubicBezTo>
                  <a:cubicBezTo>
                    <a:pt x="2997" y="62"/>
                    <a:pt x="3040" y="71"/>
                    <a:pt x="3040" y="71"/>
                  </a:cubicBezTo>
                  <a:cubicBezTo>
                    <a:pt x="3040" y="71"/>
                    <a:pt x="2989" y="72"/>
                    <a:pt x="2977" y="73"/>
                  </a:cubicBezTo>
                  <a:cubicBezTo>
                    <a:pt x="2965" y="74"/>
                    <a:pt x="2930" y="87"/>
                    <a:pt x="2930" y="87"/>
                  </a:cubicBezTo>
                  <a:cubicBezTo>
                    <a:pt x="2930" y="87"/>
                    <a:pt x="2958" y="87"/>
                    <a:pt x="2979" y="89"/>
                  </a:cubicBezTo>
                  <a:cubicBezTo>
                    <a:pt x="3001" y="91"/>
                    <a:pt x="3006" y="83"/>
                    <a:pt x="3006" y="83"/>
                  </a:cubicBezTo>
                  <a:cubicBezTo>
                    <a:pt x="3050" y="83"/>
                    <a:pt x="3050" y="83"/>
                    <a:pt x="3050" y="83"/>
                  </a:cubicBezTo>
                  <a:cubicBezTo>
                    <a:pt x="3050" y="83"/>
                    <a:pt x="3064" y="84"/>
                    <a:pt x="3081" y="84"/>
                  </a:cubicBezTo>
                  <a:cubicBezTo>
                    <a:pt x="3098" y="84"/>
                    <a:pt x="3138" y="73"/>
                    <a:pt x="3142" y="70"/>
                  </a:cubicBezTo>
                  <a:cubicBezTo>
                    <a:pt x="3147" y="66"/>
                    <a:pt x="3173" y="63"/>
                    <a:pt x="3186" y="59"/>
                  </a:cubicBezTo>
                  <a:cubicBezTo>
                    <a:pt x="3199" y="54"/>
                    <a:pt x="3220" y="59"/>
                    <a:pt x="3220" y="59"/>
                  </a:cubicBezTo>
                  <a:cubicBezTo>
                    <a:pt x="3162" y="76"/>
                    <a:pt x="3162" y="76"/>
                    <a:pt x="3162" y="76"/>
                  </a:cubicBezTo>
                  <a:cubicBezTo>
                    <a:pt x="3185" y="77"/>
                    <a:pt x="3185" y="77"/>
                    <a:pt x="3185" y="77"/>
                  </a:cubicBezTo>
                  <a:cubicBezTo>
                    <a:pt x="3153" y="87"/>
                    <a:pt x="3153" y="87"/>
                    <a:pt x="3153" y="87"/>
                  </a:cubicBezTo>
                  <a:cubicBezTo>
                    <a:pt x="3153" y="87"/>
                    <a:pt x="3040" y="92"/>
                    <a:pt x="3027" y="92"/>
                  </a:cubicBezTo>
                  <a:cubicBezTo>
                    <a:pt x="3014" y="92"/>
                    <a:pt x="3014" y="104"/>
                    <a:pt x="3014" y="104"/>
                  </a:cubicBezTo>
                  <a:cubicBezTo>
                    <a:pt x="3065" y="119"/>
                    <a:pt x="3065" y="119"/>
                    <a:pt x="3065" y="119"/>
                  </a:cubicBezTo>
                  <a:cubicBezTo>
                    <a:pt x="3065" y="119"/>
                    <a:pt x="3045" y="125"/>
                    <a:pt x="3033" y="125"/>
                  </a:cubicBezTo>
                  <a:cubicBezTo>
                    <a:pt x="3022" y="125"/>
                    <a:pt x="2974" y="99"/>
                    <a:pt x="2974" y="99"/>
                  </a:cubicBezTo>
                  <a:cubicBezTo>
                    <a:pt x="2974" y="99"/>
                    <a:pt x="2925" y="100"/>
                    <a:pt x="2912" y="100"/>
                  </a:cubicBezTo>
                  <a:cubicBezTo>
                    <a:pt x="2899" y="100"/>
                    <a:pt x="2891" y="115"/>
                    <a:pt x="2891" y="115"/>
                  </a:cubicBezTo>
                  <a:cubicBezTo>
                    <a:pt x="2912" y="126"/>
                    <a:pt x="2912" y="126"/>
                    <a:pt x="2912" y="126"/>
                  </a:cubicBezTo>
                  <a:cubicBezTo>
                    <a:pt x="2912" y="126"/>
                    <a:pt x="2923" y="142"/>
                    <a:pt x="2940" y="145"/>
                  </a:cubicBezTo>
                  <a:cubicBezTo>
                    <a:pt x="2956" y="148"/>
                    <a:pt x="2989" y="144"/>
                    <a:pt x="2989" y="144"/>
                  </a:cubicBezTo>
                  <a:cubicBezTo>
                    <a:pt x="2989" y="144"/>
                    <a:pt x="2981" y="153"/>
                    <a:pt x="2964" y="155"/>
                  </a:cubicBezTo>
                  <a:cubicBezTo>
                    <a:pt x="2948" y="157"/>
                    <a:pt x="2917" y="151"/>
                    <a:pt x="2909" y="149"/>
                  </a:cubicBezTo>
                  <a:cubicBezTo>
                    <a:pt x="2902" y="147"/>
                    <a:pt x="2846" y="157"/>
                    <a:pt x="2828" y="157"/>
                  </a:cubicBezTo>
                  <a:cubicBezTo>
                    <a:pt x="2809" y="157"/>
                    <a:pt x="2774" y="182"/>
                    <a:pt x="2774" y="182"/>
                  </a:cubicBezTo>
                  <a:cubicBezTo>
                    <a:pt x="2823" y="174"/>
                    <a:pt x="2823" y="174"/>
                    <a:pt x="2823" y="174"/>
                  </a:cubicBezTo>
                  <a:cubicBezTo>
                    <a:pt x="2821" y="186"/>
                    <a:pt x="2821" y="186"/>
                    <a:pt x="2821" y="186"/>
                  </a:cubicBezTo>
                  <a:cubicBezTo>
                    <a:pt x="2863" y="174"/>
                    <a:pt x="2863" y="174"/>
                    <a:pt x="2863" y="174"/>
                  </a:cubicBezTo>
                  <a:cubicBezTo>
                    <a:pt x="2816" y="192"/>
                    <a:pt x="2816" y="192"/>
                    <a:pt x="2816" y="192"/>
                  </a:cubicBezTo>
                  <a:cubicBezTo>
                    <a:pt x="2816" y="192"/>
                    <a:pt x="2824" y="203"/>
                    <a:pt x="2840" y="203"/>
                  </a:cubicBezTo>
                  <a:cubicBezTo>
                    <a:pt x="2857" y="203"/>
                    <a:pt x="2902" y="186"/>
                    <a:pt x="2902" y="186"/>
                  </a:cubicBezTo>
                  <a:cubicBezTo>
                    <a:pt x="2834" y="212"/>
                    <a:pt x="2834" y="212"/>
                    <a:pt x="2834" y="212"/>
                  </a:cubicBezTo>
                  <a:cubicBezTo>
                    <a:pt x="2789" y="209"/>
                    <a:pt x="2789" y="209"/>
                    <a:pt x="2789" y="209"/>
                  </a:cubicBezTo>
                  <a:cubicBezTo>
                    <a:pt x="2780" y="192"/>
                    <a:pt x="2780" y="192"/>
                    <a:pt x="2780" y="192"/>
                  </a:cubicBezTo>
                  <a:cubicBezTo>
                    <a:pt x="2780" y="192"/>
                    <a:pt x="2747" y="189"/>
                    <a:pt x="2737" y="191"/>
                  </a:cubicBezTo>
                  <a:cubicBezTo>
                    <a:pt x="2727" y="193"/>
                    <a:pt x="2741" y="218"/>
                    <a:pt x="2741" y="218"/>
                  </a:cubicBezTo>
                  <a:cubicBezTo>
                    <a:pt x="2741" y="218"/>
                    <a:pt x="2697" y="222"/>
                    <a:pt x="2691" y="222"/>
                  </a:cubicBezTo>
                  <a:cubicBezTo>
                    <a:pt x="2684" y="222"/>
                    <a:pt x="2654" y="237"/>
                    <a:pt x="2634" y="239"/>
                  </a:cubicBezTo>
                  <a:cubicBezTo>
                    <a:pt x="2622" y="240"/>
                    <a:pt x="2613" y="241"/>
                    <a:pt x="2610" y="241"/>
                  </a:cubicBezTo>
                  <a:cubicBezTo>
                    <a:pt x="2607" y="241"/>
                    <a:pt x="2626" y="247"/>
                    <a:pt x="2641" y="247"/>
                  </a:cubicBezTo>
                  <a:cubicBezTo>
                    <a:pt x="2656" y="247"/>
                    <a:pt x="2663" y="240"/>
                    <a:pt x="2663" y="240"/>
                  </a:cubicBezTo>
                  <a:cubicBezTo>
                    <a:pt x="2655" y="252"/>
                    <a:pt x="2655" y="252"/>
                    <a:pt x="2655" y="252"/>
                  </a:cubicBezTo>
                  <a:cubicBezTo>
                    <a:pt x="2680" y="247"/>
                    <a:pt x="2680" y="247"/>
                    <a:pt x="2680" y="247"/>
                  </a:cubicBezTo>
                  <a:cubicBezTo>
                    <a:pt x="2695" y="240"/>
                    <a:pt x="2695" y="240"/>
                    <a:pt x="2695" y="240"/>
                  </a:cubicBezTo>
                  <a:cubicBezTo>
                    <a:pt x="2695" y="248"/>
                    <a:pt x="2695" y="248"/>
                    <a:pt x="2695" y="248"/>
                  </a:cubicBezTo>
                  <a:cubicBezTo>
                    <a:pt x="2712" y="246"/>
                    <a:pt x="2712" y="246"/>
                    <a:pt x="2712" y="246"/>
                  </a:cubicBezTo>
                  <a:cubicBezTo>
                    <a:pt x="2728" y="244"/>
                    <a:pt x="2728" y="244"/>
                    <a:pt x="2728" y="244"/>
                  </a:cubicBezTo>
                  <a:cubicBezTo>
                    <a:pt x="2728" y="244"/>
                    <a:pt x="2729" y="253"/>
                    <a:pt x="2740" y="254"/>
                  </a:cubicBezTo>
                  <a:cubicBezTo>
                    <a:pt x="2751" y="255"/>
                    <a:pt x="2773" y="241"/>
                    <a:pt x="2773" y="241"/>
                  </a:cubicBezTo>
                  <a:cubicBezTo>
                    <a:pt x="2778" y="250"/>
                    <a:pt x="2778" y="250"/>
                    <a:pt x="2778" y="250"/>
                  </a:cubicBezTo>
                  <a:cubicBezTo>
                    <a:pt x="2796" y="240"/>
                    <a:pt x="2796" y="240"/>
                    <a:pt x="2796" y="240"/>
                  </a:cubicBezTo>
                  <a:cubicBezTo>
                    <a:pt x="2796" y="240"/>
                    <a:pt x="2802" y="248"/>
                    <a:pt x="2810" y="251"/>
                  </a:cubicBezTo>
                  <a:cubicBezTo>
                    <a:pt x="2819" y="253"/>
                    <a:pt x="2828" y="242"/>
                    <a:pt x="2828" y="242"/>
                  </a:cubicBezTo>
                  <a:cubicBezTo>
                    <a:pt x="2828" y="242"/>
                    <a:pt x="2837" y="250"/>
                    <a:pt x="2850" y="250"/>
                  </a:cubicBezTo>
                  <a:cubicBezTo>
                    <a:pt x="2863" y="250"/>
                    <a:pt x="2853" y="238"/>
                    <a:pt x="2853" y="238"/>
                  </a:cubicBezTo>
                  <a:cubicBezTo>
                    <a:pt x="2891" y="252"/>
                    <a:pt x="2891" y="252"/>
                    <a:pt x="2891" y="252"/>
                  </a:cubicBezTo>
                  <a:cubicBezTo>
                    <a:pt x="2891" y="252"/>
                    <a:pt x="2898" y="261"/>
                    <a:pt x="2902" y="261"/>
                  </a:cubicBezTo>
                  <a:cubicBezTo>
                    <a:pt x="2906" y="261"/>
                    <a:pt x="2964" y="248"/>
                    <a:pt x="2975" y="248"/>
                  </a:cubicBezTo>
                  <a:cubicBezTo>
                    <a:pt x="2986" y="248"/>
                    <a:pt x="3011" y="238"/>
                    <a:pt x="3015" y="231"/>
                  </a:cubicBezTo>
                  <a:cubicBezTo>
                    <a:pt x="3019" y="225"/>
                    <a:pt x="2973" y="230"/>
                    <a:pt x="2973" y="230"/>
                  </a:cubicBezTo>
                  <a:cubicBezTo>
                    <a:pt x="2973" y="230"/>
                    <a:pt x="2982" y="223"/>
                    <a:pt x="2975" y="220"/>
                  </a:cubicBezTo>
                  <a:cubicBezTo>
                    <a:pt x="2969" y="218"/>
                    <a:pt x="2943" y="220"/>
                    <a:pt x="2943" y="220"/>
                  </a:cubicBezTo>
                  <a:cubicBezTo>
                    <a:pt x="2905" y="214"/>
                    <a:pt x="2905" y="214"/>
                    <a:pt x="2905" y="214"/>
                  </a:cubicBezTo>
                  <a:cubicBezTo>
                    <a:pt x="2917" y="201"/>
                    <a:pt x="2917" y="201"/>
                    <a:pt x="2917" y="201"/>
                  </a:cubicBezTo>
                  <a:cubicBezTo>
                    <a:pt x="2959" y="215"/>
                    <a:pt x="2959" y="215"/>
                    <a:pt x="2959" y="215"/>
                  </a:cubicBezTo>
                  <a:cubicBezTo>
                    <a:pt x="2959" y="215"/>
                    <a:pt x="3014" y="212"/>
                    <a:pt x="3034" y="211"/>
                  </a:cubicBezTo>
                  <a:cubicBezTo>
                    <a:pt x="3055" y="210"/>
                    <a:pt x="3050" y="192"/>
                    <a:pt x="3050" y="192"/>
                  </a:cubicBezTo>
                  <a:cubicBezTo>
                    <a:pt x="3050" y="192"/>
                    <a:pt x="3075" y="187"/>
                    <a:pt x="3094" y="187"/>
                  </a:cubicBezTo>
                  <a:cubicBezTo>
                    <a:pt x="3112" y="187"/>
                    <a:pt x="3150" y="178"/>
                    <a:pt x="3150" y="178"/>
                  </a:cubicBezTo>
                  <a:cubicBezTo>
                    <a:pt x="3132" y="167"/>
                    <a:pt x="3132" y="167"/>
                    <a:pt x="3132" y="167"/>
                  </a:cubicBezTo>
                  <a:cubicBezTo>
                    <a:pt x="3132" y="167"/>
                    <a:pt x="3155" y="167"/>
                    <a:pt x="3180" y="161"/>
                  </a:cubicBezTo>
                  <a:cubicBezTo>
                    <a:pt x="3205" y="156"/>
                    <a:pt x="3147" y="146"/>
                    <a:pt x="3147" y="146"/>
                  </a:cubicBezTo>
                  <a:cubicBezTo>
                    <a:pt x="3147" y="146"/>
                    <a:pt x="3115" y="147"/>
                    <a:pt x="3104" y="143"/>
                  </a:cubicBezTo>
                  <a:cubicBezTo>
                    <a:pt x="3094" y="139"/>
                    <a:pt x="3152" y="125"/>
                    <a:pt x="3155" y="126"/>
                  </a:cubicBezTo>
                  <a:cubicBezTo>
                    <a:pt x="3158" y="127"/>
                    <a:pt x="3200" y="131"/>
                    <a:pt x="3200" y="131"/>
                  </a:cubicBezTo>
                  <a:cubicBezTo>
                    <a:pt x="3200" y="131"/>
                    <a:pt x="3248" y="129"/>
                    <a:pt x="3263" y="126"/>
                  </a:cubicBezTo>
                  <a:cubicBezTo>
                    <a:pt x="3278" y="122"/>
                    <a:pt x="3229" y="120"/>
                    <a:pt x="3247" y="113"/>
                  </a:cubicBezTo>
                  <a:cubicBezTo>
                    <a:pt x="3264" y="105"/>
                    <a:pt x="3296" y="119"/>
                    <a:pt x="3316" y="119"/>
                  </a:cubicBezTo>
                  <a:cubicBezTo>
                    <a:pt x="3335" y="119"/>
                    <a:pt x="3328" y="102"/>
                    <a:pt x="3328" y="102"/>
                  </a:cubicBezTo>
                  <a:cubicBezTo>
                    <a:pt x="3376" y="105"/>
                    <a:pt x="3376" y="105"/>
                    <a:pt x="3376" y="105"/>
                  </a:cubicBezTo>
                  <a:cubicBezTo>
                    <a:pt x="3379" y="91"/>
                    <a:pt x="3379" y="91"/>
                    <a:pt x="3379" y="91"/>
                  </a:cubicBezTo>
                  <a:cubicBezTo>
                    <a:pt x="3379" y="91"/>
                    <a:pt x="3392" y="95"/>
                    <a:pt x="3401" y="95"/>
                  </a:cubicBezTo>
                  <a:cubicBezTo>
                    <a:pt x="3409" y="95"/>
                    <a:pt x="3440" y="83"/>
                    <a:pt x="3440" y="83"/>
                  </a:cubicBezTo>
                  <a:cubicBezTo>
                    <a:pt x="3440" y="83"/>
                    <a:pt x="3499" y="73"/>
                    <a:pt x="3531" y="67"/>
                  </a:cubicBezTo>
                  <a:cubicBezTo>
                    <a:pt x="3564" y="62"/>
                    <a:pt x="3567" y="57"/>
                    <a:pt x="3562" y="57"/>
                  </a:cubicBezTo>
                  <a:cubicBezTo>
                    <a:pt x="3558" y="57"/>
                    <a:pt x="3491" y="60"/>
                    <a:pt x="3491" y="60"/>
                  </a:cubicBezTo>
                  <a:cubicBezTo>
                    <a:pt x="3474" y="67"/>
                    <a:pt x="3474" y="67"/>
                    <a:pt x="3474" y="67"/>
                  </a:cubicBezTo>
                  <a:cubicBezTo>
                    <a:pt x="3428" y="64"/>
                    <a:pt x="3428" y="64"/>
                    <a:pt x="3428" y="64"/>
                  </a:cubicBezTo>
                  <a:cubicBezTo>
                    <a:pt x="3481" y="61"/>
                    <a:pt x="3481" y="61"/>
                    <a:pt x="3481" y="61"/>
                  </a:cubicBezTo>
                  <a:cubicBezTo>
                    <a:pt x="3479" y="52"/>
                    <a:pt x="3479" y="52"/>
                    <a:pt x="3479" y="52"/>
                  </a:cubicBezTo>
                  <a:cubicBezTo>
                    <a:pt x="3512" y="57"/>
                    <a:pt x="3512" y="57"/>
                    <a:pt x="3512" y="57"/>
                  </a:cubicBezTo>
                  <a:cubicBezTo>
                    <a:pt x="3512" y="57"/>
                    <a:pt x="3517" y="49"/>
                    <a:pt x="3526" y="49"/>
                  </a:cubicBezTo>
                  <a:cubicBezTo>
                    <a:pt x="3534" y="49"/>
                    <a:pt x="3635" y="45"/>
                    <a:pt x="3653" y="44"/>
                  </a:cubicBezTo>
                  <a:cubicBezTo>
                    <a:pt x="3671" y="43"/>
                    <a:pt x="3718" y="30"/>
                    <a:pt x="3715" y="26"/>
                  </a:cubicBezTo>
                  <a:close/>
                  <a:moveTo>
                    <a:pt x="2687" y="644"/>
                  </a:moveTo>
                  <a:cubicBezTo>
                    <a:pt x="2722" y="650"/>
                    <a:pt x="2732" y="643"/>
                    <a:pt x="2747" y="633"/>
                  </a:cubicBezTo>
                  <a:cubicBezTo>
                    <a:pt x="2763" y="624"/>
                    <a:pt x="2759" y="608"/>
                    <a:pt x="2745" y="604"/>
                  </a:cubicBezTo>
                  <a:cubicBezTo>
                    <a:pt x="2731" y="601"/>
                    <a:pt x="2698" y="610"/>
                    <a:pt x="2698" y="610"/>
                  </a:cubicBezTo>
                  <a:cubicBezTo>
                    <a:pt x="2660" y="634"/>
                    <a:pt x="2652" y="639"/>
                    <a:pt x="2687" y="644"/>
                  </a:cubicBezTo>
                  <a:close/>
                  <a:moveTo>
                    <a:pt x="2674" y="560"/>
                  </a:moveTo>
                  <a:cubicBezTo>
                    <a:pt x="2658" y="565"/>
                    <a:pt x="2633" y="576"/>
                    <a:pt x="2657" y="571"/>
                  </a:cubicBezTo>
                  <a:cubicBezTo>
                    <a:pt x="2680" y="566"/>
                    <a:pt x="2700" y="558"/>
                    <a:pt x="2700" y="558"/>
                  </a:cubicBezTo>
                  <a:cubicBezTo>
                    <a:pt x="2724" y="540"/>
                    <a:pt x="2690" y="555"/>
                    <a:pt x="2674" y="560"/>
                  </a:cubicBezTo>
                  <a:close/>
                  <a:moveTo>
                    <a:pt x="2747" y="549"/>
                  </a:moveTo>
                  <a:cubicBezTo>
                    <a:pt x="2733" y="543"/>
                    <a:pt x="2722" y="562"/>
                    <a:pt x="2735" y="566"/>
                  </a:cubicBezTo>
                  <a:cubicBezTo>
                    <a:pt x="2735" y="566"/>
                    <a:pt x="2761" y="555"/>
                    <a:pt x="2747" y="549"/>
                  </a:cubicBezTo>
                  <a:close/>
                  <a:moveTo>
                    <a:pt x="2349" y="710"/>
                  </a:moveTo>
                  <a:cubicBezTo>
                    <a:pt x="2337" y="712"/>
                    <a:pt x="2327" y="729"/>
                    <a:pt x="2346" y="729"/>
                  </a:cubicBezTo>
                  <a:cubicBezTo>
                    <a:pt x="2357" y="729"/>
                    <a:pt x="2362" y="708"/>
                    <a:pt x="2349" y="710"/>
                  </a:cubicBezTo>
                  <a:close/>
                  <a:moveTo>
                    <a:pt x="2390" y="712"/>
                  </a:moveTo>
                  <a:cubicBezTo>
                    <a:pt x="2374" y="710"/>
                    <a:pt x="2385" y="727"/>
                    <a:pt x="2385" y="727"/>
                  </a:cubicBezTo>
                  <a:cubicBezTo>
                    <a:pt x="2396" y="726"/>
                    <a:pt x="2405" y="713"/>
                    <a:pt x="2390" y="712"/>
                  </a:cubicBezTo>
                  <a:close/>
                  <a:moveTo>
                    <a:pt x="2500" y="829"/>
                  </a:moveTo>
                  <a:cubicBezTo>
                    <a:pt x="2477" y="841"/>
                    <a:pt x="2509" y="849"/>
                    <a:pt x="2509" y="849"/>
                  </a:cubicBezTo>
                  <a:cubicBezTo>
                    <a:pt x="2532" y="836"/>
                    <a:pt x="2524" y="816"/>
                    <a:pt x="2500" y="829"/>
                  </a:cubicBezTo>
                  <a:close/>
                  <a:moveTo>
                    <a:pt x="2653" y="1691"/>
                  </a:moveTo>
                  <a:cubicBezTo>
                    <a:pt x="2633" y="1687"/>
                    <a:pt x="2622" y="1678"/>
                    <a:pt x="2622" y="1678"/>
                  </a:cubicBezTo>
                  <a:cubicBezTo>
                    <a:pt x="2612" y="1687"/>
                    <a:pt x="2612" y="1687"/>
                    <a:pt x="2612" y="1687"/>
                  </a:cubicBezTo>
                  <a:cubicBezTo>
                    <a:pt x="2612" y="1687"/>
                    <a:pt x="2629" y="1696"/>
                    <a:pt x="2633" y="1699"/>
                  </a:cubicBezTo>
                  <a:cubicBezTo>
                    <a:pt x="2637" y="1702"/>
                    <a:pt x="2656" y="1701"/>
                    <a:pt x="2656" y="1701"/>
                  </a:cubicBezTo>
                  <a:cubicBezTo>
                    <a:pt x="2656" y="1701"/>
                    <a:pt x="2666" y="1706"/>
                    <a:pt x="2676" y="1705"/>
                  </a:cubicBezTo>
                  <a:cubicBezTo>
                    <a:pt x="2687" y="1704"/>
                    <a:pt x="2691" y="1693"/>
                    <a:pt x="2691" y="1693"/>
                  </a:cubicBezTo>
                  <a:cubicBezTo>
                    <a:pt x="2691" y="1693"/>
                    <a:pt x="2674" y="1695"/>
                    <a:pt x="2653" y="1691"/>
                  </a:cubicBezTo>
                  <a:close/>
                  <a:moveTo>
                    <a:pt x="2731" y="1524"/>
                  </a:moveTo>
                  <a:cubicBezTo>
                    <a:pt x="2731" y="1524"/>
                    <a:pt x="2698" y="1516"/>
                    <a:pt x="2671" y="1515"/>
                  </a:cubicBezTo>
                  <a:cubicBezTo>
                    <a:pt x="2644" y="1514"/>
                    <a:pt x="2686" y="1526"/>
                    <a:pt x="2686" y="1526"/>
                  </a:cubicBezTo>
                  <a:cubicBezTo>
                    <a:pt x="2686" y="1536"/>
                    <a:pt x="2686" y="1536"/>
                    <a:pt x="2686" y="1536"/>
                  </a:cubicBezTo>
                  <a:cubicBezTo>
                    <a:pt x="2686" y="1536"/>
                    <a:pt x="2719" y="1541"/>
                    <a:pt x="2748" y="1546"/>
                  </a:cubicBezTo>
                  <a:cubicBezTo>
                    <a:pt x="2777" y="1551"/>
                    <a:pt x="2804" y="1540"/>
                    <a:pt x="2731" y="1524"/>
                  </a:cubicBezTo>
                  <a:close/>
                  <a:moveTo>
                    <a:pt x="2793" y="1702"/>
                  </a:moveTo>
                  <a:cubicBezTo>
                    <a:pt x="2780" y="1699"/>
                    <a:pt x="2766" y="1706"/>
                    <a:pt x="2761" y="1709"/>
                  </a:cubicBezTo>
                  <a:cubicBezTo>
                    <a:pt x="2765" y="1706"/>
                    <a:pt x="2774" y="1700"/>
                    <a:pt x="2783" y="1690"/>
                  </a:cubicBezTo>
                  <a:cubicBezTo>
                    <a:pt x="2795" y="1677"/>
                    <a:pt x="2764" y="1676"/>
                    <a:pt x="2750" y="1692"/>
                  </a:cubicBezTo>
                  <a:cubicBezTo>
                    <a:pt x="2744" y="1706"/>
                    <a:pt x="2744" y="1706"/>
                    <a:pt x="2744" y="1706"/>
                  </a:cubicBezTo>
                  <a:cubicBezTo>
                    <a:pt x="2736" y="1720"/>
                    <a:pt x="2736" y="1720"/>
                    <a:pt x="2736" y="1720"/>
                  </a:cubicBezTo>
                  <a:cubicBezTo>
                    <a:pt x="2773" y="1715"/>
                    <a:pt x="2773" y="1715"/>
                    <a:pt x="2773" y="1715"/>
                  </a:cubicBezTo>
                  <a:cubicBezTo>
                    <a:pt x="2773" y="1715"/>
                    <a:pt x="2810" y="1706"/>
                    <a:pt x="2793" y="1702"/>
                  </a:cubicBezTo>
                  <a:close/>
                  <a:moveTo>
                    <a:pt x="3058" y="1312"/>
                  </a:moveTo>
                  <a:cubicBezTo>
                    <a:pt x="3051" y="1320"/>
                    <a:pt x="3052" y="1335"/>
                    <a:pt x="3037" y="1324"/>
                  </a:cubicBezTo>
                  <a:cubicBezTo>
                    <a:pt x="3022" y="1313"/>
                    <a:pt x="3046" y="1306"/>
                    <a:pt x="3046" y="1306"/>
                  </a:cubicBezTo>
                  <a:cubicBezTo>
                    <a:pt x="3043" y="1289"/>
                    <a:pt x="3043" y="1289"/>
                    <a:pt x="3043" y="1289"/>
                  </a:cubicBezTo>
                  <a:cubicBezTo>
                    <a:pt x="3023" y="1288"/>
                    <a:pt x="3023" y="1288"/>
                    <a:pt x="3023" y="1288"/>
                  </a:cubicBezTo>
                  <a:cubicBezTo>
                    <a:pt x="3023" y="1288"/>
                    <a:pt x="2977" y="1308"/>
                    <a:pt x="2974" y="1312"/>
                  </a:cubicBezTo>
                  <a:cubicBezTo>
                    <a:pt x="2971" y="1316"/>
                    <a:pt x="2935" y="1320"/>
                    <a:pt x="2935" y="1320"/>
                  </a:cubicBezTo>
                  <a:cubicBezTo>
                    <a:pt x="2914" y="1334"/>
                    <a:pt x="2914" y="1334"/>
                    <a:pt x="2914" y="1334"/>
                  </a:cubicBezTo>
                  <a:cubicBezTo>
                    <a:pt x="2922" y="1319"/>
                    <a:pt x="2922" y="1319"/>
                    <a:pt x="2922" y="1319"/>
                  </a:cubicBezTo>
                  <a:cubicBezTo>
                    <a:pt x="2907" y="1308"/>
                    <a:pt x="2907" y="1308"/>
                    <a:pt x="2907" y="1308"/>
                  </a:cubicBezTo>
                  <a:cubicBezTo>
                    <a:pt x="2930" y="1313"/>
                    <a:pt x="2930" y="1313"/>
                    <a:pt x="2930" y="1313"/>
                  </a:cubicBezTo>
                  <a:cubicBezTo>
                    <a:pt x="2940" y="1305"/>
                    <a:pt x="2940" y="1305"/>
                    <a:pt x="2940" y="1305"/>
                  </a:cubicBezTo>
                  <a:cubicBezTo>
                    <a:pt x="2958" y="1304"/>
                    <a:pt x="2958" y="1304"/>
                    <a:pt x="2958" y="1304"/>
                  </a:cubicBezTo>
                  <a:cubicBezTo>
                    <a:pt x="2960" y="1291"/>
                    <a:pt x="2960" y="1291"/>
                    <a:pt x="2960" y="1291"/>
                  </a:cubicBezTo>
                  <a:cubicBezTo>
                    <a:pt x="2960" y="1291"/>
                    <a:pt x="2981" y="1294"/>
                    <a:pt x="2993" y="1289"/>
                  </a:cubicBezTo>
                  <a:cubicBezTo>
                    <a:pt x="3005" y="1284"/>
                    <a:pt x="3022" y="1275"/>
                    <a:pt x="3022" y="1275"/>
                  </a:cubicBezTo>
                  <a:cubicBezTo>
                    <a:pt x="3022" y="1275"/>
                    <a:pt x="3070" y="1280"/>
                    <a:pt x="3069" y="1275"/>
                  </a:cubicBezTo>
                  <a:cubicBezTo>
                    <a:pt x="3068" y="1270"/>
                    <a:pt x="3050" y="1262"/>
                    <a:pt x="3050" y="1262"/>
                  </a:cubicBezTo>
                  <a:cubicBezTo>
                    <a:pt x="3049" y="1246"/>
                    <a:pt x="3049" y="1246"/>
                    <a:pt x="3049" y="1246"/>
                  </a:cubicBezTo>
                  <a:cubicBezTo>
                    <a:pt x="3049" y="1246"/>
                    <a:pt x="3021" y="1255"/>
                    <a:pt x="3015" y="1254"/>
                  </a:cubicBezTo>
                  <a:cubicBezTo>
                    <a:pt x="3009" y="1253"/>
                    <a:pt x="3007" y="1241"/>
                    <a:pt x="3007" y="1241"/>
                  </a:cubicBezTo>
                  <a:cubicBezTo>
                    <a:pt x="2967" y="1253"/>
                    <a:pt x="2967" y="1253"/>
                    <a:pt x="2967" y="1253"/>
                  </a:cubicBezTo>
                  <a:cubicBezTo>
                    <a:pt x="2969" y="1233"/>
                    <a:pt x="2969" y="1233"/>
                    <a:pt x="2969" y="1233"/>
                  </a:cubicBezTo>
                  <a:cubicBezTo>
                    <a:pt x="2940" y="1243"/>
                    <a:pt x="2940" y="1243"/>
                    <a:pt x="2940" y="1243"/>
                  </a:cubicBezTo>
                  <a:cubicBezTo>
                    <a:pt x="2940" y="1243"/>
                    <a:pt x="2971" y="1208"/>
                    <a:pt x="2963" y="1204"/>
                  </a:cubicBezTo>
                  <a:cubicBezTo>
                    <a:pt x="2955" y="1200"/>
                    <a:pt x="2930" y="1200"/>
                    <a:pt x="2930" y="1200"/>
                  </a:cubicBezTo>
                  <a:cubicBezTo>
                    <a:pt x="2933" y="1184"/>
                    <a:pt x="2933" y="1184"/>
                    <a:pt x="2933" y="1184"/>
                  </a:cubicBezTo>
                  <a:cubicBezTo>
                    <a:pt x="2911" y="1184"/>
                    <a:pt x="2911" y="1184"/>
                    <a:pt x="2911" y="1184"/>
                  </a:cubicBezTo>
                  <a:cubicBezTo>
                    <a:pt x="2920" y="1170"/>
                    <a:pt x="2920" y="1170"/>
                    <a:pt x="2920" y="1170"/>
                  </a:cubicBezTo>
                  <a:cubicBezTo>
                    <a:pt x="2902" y="1154"/>
                    <a:pt x="2902" y="1154"/>
                    <a:pt x="2902" y="1154"/>
                  </a:cubicBezTo>
                  <a:cubicBezTo>
                    <a:pt x="2902" y="1154"/>
                    <a:pt x="2932" y="1161"/>
                    <a:pt x="2940" y="1155"/>
                  </a:cubicBezTo>
                  <a:cubicBezTo>
                    <a:pt x="2948" y="1149"/>
                    <a:pt x="2959" y="1144"/>
                    <a:pt x="2959" y="1144"/>
                  </a:cubicBezTo>
                  <a:cubicBezTo>
                    <a:pt x="2929" y="1126"/>
                    <a:pt x="2929" y="1126"/>
                    <a:pt x="2929" y="1126"/>
                  </a:cubicBezTo>
                  <a:cubicBezTo>
                    <a:pt x="2962" y="1107"/>
                    <a:pt x="2962" y="1107"/>
                    <a:pt x="2962" y="1107"/>
                  </a:cubicBezTo>
                  <a:cubicBezTo>
                    <a:pt x="2929" y="1092"/>
                    <a:pt x="2929" y="1092"/>
                    <a:pt x="2929" y="1092"/>
                  </a:cubicBezTo>
                  <a:cubicBezTo>
                    <a:pt x="2899" y="1093"/>
                    <a:pt x="2899" y="1093"/>
                    <a:pt x="2899" y="1093"/>
                  </a:cubicBezTo>
                  <a:cubicBezTo>
                    <a:pt x="2935" y="1080"/>
                    <a:pt x="2935" y="1080"/>
                    <a:pt x="2935" y="1080"/>
                  </a:cubicBezTo>
                  <a:cubicBezTo>
                    <a:pt x="2910" y="1074"/>
                    <a:pt x="2910" y="1074"/>
                    <a:pt x="2910" y="1074"/>
                  </a:cubicBezTo>
                  <a:cubicBezTo>
                    <a:pt x="2940" y="1060"/>
                    <a:pt x="2940" y="1060"/>
                    <a:pt x="2940" y="1060"/>
                  </a:cubicBezTo>
                  <a:cubicBezTo>
                    <a:pt x="2935" y="1044"/>
                    <a:pt x="2935" y="1044"/>
                    <a:pt x="2935" y="1044"/>
                  </a:cubicBezTo>
                  <a:cubicBezTo>
                    <a:pt x="2913" y="1042"/>
                    <a:pt x="2913" y="1042"/>
                    <a:pt x="2913" y="1042"/>
                  </a:cubicBezTo>
                  <a:cubicBezTo>
                    <a:pt x="2913" y="1042"/>
                    <a:pt x="2931" y="1032"/>
                    <a:pt x="2923" y="1013"/>
                  </a:cubicBezTo>
                  <a:cubicBezTo>
                    <a:pt x="2915" y="994"/>
                    <a:pt x="2907" y="997"/>
                    <a:pt x="2907" y="997"/>
                  </a:cubicBezTo>
                  <a:cubicBezTo>
                    <a:pt x="2916" y="983"/>
                    <a:pt x="2916" y="983"/>
                    <a:pt x="2916" y="983"/>
                  </a:cubicBezTo>
                  <a:cubicBezTo>
                    <a:pt x="2916" y="983"/>
                    <a:pt x="2892" y="994"/>
                    <a:pt x="2887" y="1001"/>
                  </a:cubicBezTo>
                  <a:cubicBezTo>
                    <a:pt x="2882" y="1008"/>
                    <a:pt x="2886" y="1014"/>
                    <a:pt x="2886" y="1014"/>
                  </a:cubicBezTo>
                  <a:cubicBezTo>
                    <a:pt x="2867" y="1008"/>
                    <a:pt x="2867" y="1008"/>
                    <a:pt x="2867" y="1008"/>
                  </a:cubicBezTo>
                  <a:cubicBezTo>
                    <a:pt x="2871" y="1030"/>
                    <a:pt x="2871" y="1030"/>
                    <a:pt x="2871" y="1030"/>
                  </a:cubicBezTo>
                  <a:cubicBezTo>
                    <a:pt x="2853" y="1029"/>
                    <a:pt x="2853" y="1029"/>
                    <a:pt x="2853" y="1029"/>
                  </a:cubicBezTo>
                  <a:cubicBezTo>
                    <a:pt x="2845" y="1043"/>
                    <a:pt x="2845" y="1043"/>
                    <a:pt x="2845" y="1043"/>
                  </a:cubicBezTo>
                  <a:cubicBezTo>
                    <a:pt x="2850" y="1049"/>
                    <a:pt x="2850" y="1049"/>
                    <a:pt x="2850" y="1049"/>
                  </a:cubicBezTo>
                  <a:cubicBezTo>
                    <a:pt x="2834" y="1050"/>
                    <a:pt x="2834" y="1050"/>
                    <a:pt x="2834" y="1050"/>
                  </a:cubicBezTo>
                  <a:cubicBezTo>
                    <a:pt x="2819" y="1080"/>
                    <a:pt x="2819" y="1080"/>
                    <a:pt x="2819" y="1080"/>
                  </a:cubicBezTo>
                  <a:cubicBezTo>
                    <a:pt x="2811" y="1080"/>
                    <a:pt x="2811" y="1080"/>
                    <a:pt x="2811" y="1080"/>
                  </a:cubicBezTo>
                  <a:cubicBezTo>
                    <a:pt x="2821" y="1055"/>
                    <a:pt x="2821" y="1055"/>
                    <a:pt x="2821" y="1055"/>
                  </a:cubicBezTo>
                  <a:cubicBezTo>
                    <a:pt x="2821" y="1055"/>
                    <a:pt x="2811" y="1040"/>
                    <a:pt x="2802" y="1049"/>
                  </a:cubicBezTo>
                  <a:cubicBezTo>
                    <a:pt x="2793" y="1058"/>
                    <a:pt x="2781" y="1071"/>
                    <a:pt x="2774" y="1072"/>
                  </a:cubicBezTo>
                  <a:cubicBezTo>
                    <a:pt x="2767" y="1073"/>
                    <a:pt x="2739" y="1094"/>
                    <a:pt x="2739" y="1094"/>
                  </a:cubicBezTo>
                  <a:cubicBezTo>
                    <a:pt x="2744" y="1079"/>
                    <a:pt x="2744" y="1079"/>
                    <a:pt x="2744" y="1079"/>
                  </a:cubicBezTo>
                  <a:cubicBezTo>
                    <a:pt x="2743" y="1068"/>
                    <a:pt x="2743" y="1068"/>
                    <a:pt x="2743" y="1068"/>
                  </a:cubicBezTo>
                  <a:cubicBezTo>
                    <a:pt x="2718" y="1089"/>
                    <a:pt x="2718" y="1089"/>
                    <a:pt x="2718" y="1089"/>
                  </a:cubicBezTo>
                  <a:cubicBezTo>
                    <a:pt x="2674" y="1099"/>
                    <a:pt x="2674" y="1099"/>
                    <a:pt x="2674" y="1099"/>
                  </a:cubicBezTo>
                  <a:cubicBezTo>
                    <a:pt x="2715" y="1085"/>
                    <a:pt x="2715" y="1085"/>
                    <a:pt x="2715" y="1085"/>
                  </a:cubicBezTo>
                  <a:cubicBezTo>
                    <a:pt x="2715" y="1085"/>
                    <a:pt x="2739" y="1058"/>
                    <a:pt x="2726" y="1052"/>
                  </a:cubicBezTo>
                  <a:cubicBezTo>
                    <a:pt x="2713" y="1046"/>
                    <a:pt x="2698" y="1052"/>
                    <a:pt x="2698" y="1052"/>
                  </a:cubicBezTo>
                  <a:cubicBezTo>
                    <a:pt x="2698" y="1052"/>
                    <a:pt x="2665" y="1067"/>
                    <a:pt x="2667" y="1056"/>
                  </a:cubicBezTo>
                  <a:cubicBezTo>
                    <a:pt x="2669" y="1045"/>
                    <a:pt x="2686" y="1042"/>
                    <a:pt x="2686" y="1042"/>
                  </a:cubicBezTo>
                  <a:cubicBezTo>
                    <a:pt x="2685" y="1049"/>
                    <a:pt x="2685" y="1049"/>
                    <a:pt x="2685" y="1049"/>
                  </a:cubicBezTo>
                  <a:cubicBezTo>
                    <a:pt x="2699" y="1044"/>
                    <a:pt x="2699" y="1044"/>
                    <a:pt x="2699" y="1044"/>
                  </a:cubicBezTo>
                  <a:cubicBezTo>
                    <a:pt x="2696" y="1025"/>
                    <a:pt x="2696" y="1025"/>
                    <a:pt x="2696" y="1025"/>
                  </a:cubicBezTo>
                  <a:cubicBezTo>
                    <a:pt x="2696" y="1025"/>
                    <a:pt x="2721" y="1011"/>
                    <a:pt x="2712" y="1004"/>
                  </a:cubicBezTo>
                  <a:cubicBezTo>
                    <a:pt x="2703" y="997"/>
                    <a:pt x="2676" y="993"/>
                    <a:pt x="2676" y="993"/>
                  </a:cubicBezTo>
                  <a:cubicBezTo>
                    <a:pt x="2676" y="993"/>
                    <a:pt x="2721" y="995"/>
                    <a:pt x="2724" y="983"/>
                  </a:cubicBezTo>
                  <a:cubicBezTo>
                    <a:pt x="2727" y="971"/>
                    <a:pt x="2730" y="968"/>
                    <a:pt x="2736" y="964"/>
                  </a:cubicBezTo>
                  <a:cubicBezTo>
                    <a:pt x="2742" y="960"/>
                    <a:pt x="2762" y="959"/>
                    <a:pt x="2752" y="950"/>
                  </a:cubicBezTo>
                  <a:cubicBezTo>
                    <a:pt x="2742" y="941"/>
                    <a:pt x="2732" y="957"/>
                    <a:pt x="2732" y="957"/>
                  </a:cubicBezTo>
                  <a:cubicBezTo>
                    <a:pt x="2726" y="940"/>
                    <a:pt x="2726" y="940"/>
                    <a:pt x="2726" y="940"/>
                  </a:cubicBezTo>
                  <a:cubicBezTo>
                    <a:pt x="2726" y="940"/>
                    <a:pt x="2695" y="941"/>
                    <a:pt x="2686" y="941"/>
                  </a:cubicBezTo>
                  <a:cubicBezTo>
                    <a:pt x="2677" y="941"/>
                    <a:pt x="2675" y="926"/>
                    <a:pt x="2683" y="923"/>
                  </a:cubicBezTo>
                  <a:cubicBezTo>
                    <a:pt x="2691" y="920"/>
                    <a:pt x="2692" y="913"/>
                    <a:pt x="2685" y="911"/>
                  </a:cubicBezTo>
                  <a:cubicBezTo>
                    <a:pt x="2678" y="909"/>
                    <a:pt x="2672" y="916"/>
                    <a:pt x="2672" y="916"/>
                  </a:cubicBezTo>
                  <a:cubicBezTo>
                    <a:pt x="2677" y="900"/>
                    <a:pt x="2677" y="900"/>
                    <a:pt x="2677" y="900"/>
                  </a:cubicBezTo>
                  <a:cubicBezTo>
                    <a:pt x="2653" y="904"/>
                    <a:pt x="2653" y="904"/>
                    <a:pt x="2653" y="904"/>
                  </a:cubicBezTo>
                  <a:cubicBezTo>
                    <a:pt x="2653" y="904"/>
                    <a:pt x="2657" y="875"/>
                    <a:pt x="2640" y="875"/>
                  </a:cubicBezTo>
                  <a:cubicBezTo>
                    <a:pt x="2623" y="875"/>
                    <a:pt x="2595" y="892"/>
                    <a:pt x="2595" y="892"/>
                  </a:cubicBezTo>
                  <a:cubicBezTo>
                    <a:pt x="2595" y="892"/>
                    <a:pt x="2587" y="881"/>
                    <a:pt x="2579" y="881"/>
                  </a:cubicBezTo>
                  <a:cubicBezTo>
                    <a:pt x="2571" y="881"/>
                    <a:pt x="2554" y="890"/>
                    <a:pt x="2554" y="890"/>
                  </a:cubicBezTo>
                  <a:cubicBezTo>
                    <a:pt x="2554" y="890"/>
                    <a:pt x="2508" y="868"/>
                    <a:pt x="2492" y="871"/>
                  </a:cubicBezTo>
                  <a:cubicBezTo>
                    <a:pt x="2476" y="874"/>
                    <a:pt x="2470" y="886"/>
                    <a:pt x="2470" y="886"/>
                  </a:cubicBezTo>
                  <a:cubicBezTo>
                    <a:pt x="2470" y="886"/>
                    <a:pt x="2449" y="896"/>
                    <a:pt x="2456" y="904"/>
                  </a:cubicBezTo>
                  <a:cubicBezTo>
                    <a:pt x="2463" y="912"/>
                    <a:pt x="2476" y="913"/>
                    <a:pt x="2470" y="921"/>
                  </a:cubicBezTo>
                  <a:cubicBezTo>
                    <a:pt x="2464" y="929"/>
                    <a:pt x="2439" y="945"/>
                    <a:pt x="2439" y="945"/>
                  </a:cubicBezTo>
                  <a:cubicBezTo>
                    <a:pt x="2421" y="952"/>
                    <a:pt x="2421" y="952"/>
                    <a:pt x="2421" y="952"/>
                  </a:cubicBezTo>
                  <a:cubicBezTo>
                    <a:pt x="2438" y="961"/>
                    <a:pt x="2438" y="961"/>
                    <a:pt x="2438" y="961"/>
                  </a:cubicBezTo>
                  <a:cubicBezTo>
                    <a:pt x="2438" y="961"/>
                    <a:pt x="2423" y="968"/>
                    <a:pt x="2422" y="977"/>
                  </a:cubicBezTo>
                  <a:cubicBezTo>
                    <a:pt x="2421" y="986"/>
                    <a:pt x="2429" y="993"/>
                    <a:pt x="2421" y="1003"/>
                  </a:cubicBezTo>
                  <a:cubicBezTo>
                    <a:pt x="2413" y="1013"/>
                    <a:pt x="2406" y="1005"/>
                    <a:pt x="2393" y="1013"/>
                  </a:cubicBezTo>
                  <a:cubicBezTo>
                    <a:pt x="2380" y="1021"/>
                    <a:pt x="2382" y="1034"/>
                    <a:pt x="2382" y="1034"/>
                  </a:cubicBezTo>
                  <a:cubicBezTo>
                    <a:pt x="2382" y="1034"/>
                    <a:pt x="2366" y="1037"/>
                    <a:pt x="2360" y="1043"/>
                  </a:cubicBezTo>
                  <a:cubicBezTo>
                    <a:pt x="2354" y="1049"/>
                    <a:pt x="2334" y="1054"/>
                    <a:pt x="2336" y="1062"/>
                  </a:cubicBezTo>
                  <a:cubicBezTo>
                    <a:pt x="2338" y="1070"/>
                    <a:pt x="2375" y="1084"/>
                    <a:pt x="2375" y="1093"/>
                  </a:cubicBezTo>
                  <a:cubicBezTo>
                    <a:pt x="2375" y="1102"/>
                    <a:pt x="2374" y="1167"/>
                    <a:pt x="2339" y="1187"/>
                  </a:cubicBezTo>
                  <a:cubicBezTo>
                    <a:pt x="2304" y="1207"/>
                    <a:pt x="2259" y="1242"/>
                    <a:pt x="2241" y="1243"/>
                  </a:cubicBezTo>
                  <a:cubicBezTo>
                    <a:pt x="2223" y="1244"/>
                    <a:pt x="2174" y="1247"/>
                    <a:pt x="2171" y="1256"/>
                  </a:cubicBezTo>
                  <a:cubicBezTo>
                    <a:pt x="2168" y="1265"/>
                    <a:pt x="2180" y="1293"/>
                    <a:pt x="2180" y="1298"/>
                  </a:cubicBezTo>
                  <a:cubicBezTo>
                    <a:pt x="2180" y="1303"/>
                    <a:pt x="2159" y="1324"/>
                    <a:pt x="2155" y="1339"/>
                  </a:cubicBezTo>
                  <a:cubicBezTo>
                    <a:pt x="2151" y="1354"/>
                    <a:pt x="2154" y="1387"/>
                    <a:pt x="2154" y="1387"/>
                  </a:cubicBezTo>
                  <a:cubicBezTo>
                    <a:pt x="2154" y="1387"/>
                    <a:pt x="2120" y="1404"/>
                    <a:pt x="2119" y="1409"/>
                  </a:cubicBezTo>
                  <a:cubicBezTo>
                    <a:pt x="2118" y="1414"/>
                    <a:pt x="2117" y="1431"/>
                    <a:pt x="2117" y="1431"/>
                  </a:cubicBezTo>
                  <a:cubicBezTo>
                    <a:pt x="2104" y="1447"/>
                    <a:pt x="2104" y="1447"/>
                    <a:pt x="2104" y="1447"/>
                  </a:cubicBezTo>
                  <a:cubicBezTo>
                    <a:pt x="2104" y="1447"/>
                    <a:pt x="2111" y="1423"/>
                    <a:pt x="2100" y="1422"/>
                  </a:cubicBezTo>
                  <a:cubicBezTo>
                    <a:pt x="2089" y="1421"/>
                    <a:pt x="2067" y="1435"/>
                    <a:pt x="2072" y="1446"/>
                  </a:cubicBezTo>
                  <a:cubicBezTo>
                    <a:pt x="2077" y="1457"/>
                    <a:pt x="2071" y="1466"/>
                    <a:pt x="2071" y="1466"/>
                  </a:cubicBezTo>
                  <a:cubicBezTo>
                    <a:pt x="2071" y="1466"/>
                    <a:pt x="2069" y="1446"/>
                    <a:pt x="2063" y="1441"/>
                  </a:cubicBezTo>
                  <a:cubicBezTo>
                    <a:pt x="2057" y="1436"/>
                    <a:pt x="2019" y="1447"/>
                    <a:pt x="2019" y="1447"/>
                  </a:cubicBezTo>
                  <a:cubicBezTo>
                    <a:pt x="2019" y="1447"/>
                    <a:pt x="2055" y="1426"/>
                    <a:pt x="2051" y="1413"/>
                  </a:cubicBezTo>
                  <a:cubicBezTo>
                    <a:pt x="2047" y="1400"/>
                    <a:pt x="2011" y="1389"/>
                    <a:pt x="2011" y="1389"/>
                  </a:cubicBezTo>
                  <a:cubicBezTo>
                    <a:pt x="2011" y="1389"/>
                    <a:pt x="2028" y="1386"/>
                    <a:pt x="2028" y="1379"/>
                  </a:cubicBezTo>
                  <a:cubicBezTo>
                    <a:pt x="2028" y="1372"/>
                    <a:pt x="2016" y="1346"/>
                    <a:pt x="2016" y="1346"/>
                  </a:cubicBezTo>
                  <a:cubicBezTo>
                    <a:pt x="2038" y="1331"/>
                    <a:pt x="2038" y="1331"/>
                    <a:pt x="2038" y="1331"/>
                  </a:cubicBezTo>
                  <a:cubicBezTo>
                    <a:pt x="2037" y="1316"/>
                    <a:pt x="2037" y="1316"/>
                    <a:pt x="2037" y="1316"/>
                  </a:cubicBezTo>
                  <a:cubicBezTo>
                    <a:pt x="2054" y="1305"/>
                    <a:pt x="2054" y="1305"/>
                    <a:pt x="2054" y="1305"/>
                  </a:cubicBezTo>
                  <a:cubicBezTo>
                    <a:pt x="2053" y="1280"/>
                    <a:pt x="2053" y="1280"/>
                    <a:pt x="2053" y="1280"/>
                  </a:cubicBezTo>
                  <a:cubicBezTo>
                    <a:pt x="2053" y="1280"/>
                    <a:pt x="2102" y="1253"/>
                    <a:pt x="2078" y="1241"/>
                  </a:cubicBezTo>
                  <a:cubicBezTo>
                    <a:pt x="2054" y="1229"/>
                    <a:pt x="1982" y="1233"/>
                    <a:pt x="1982" y="1233"/>
                  </a:cubicBezTo>
                  <a:cubicBezTo>
                    <a:pt x="1958" y="1241"/>
                    <a:pt x="1958" y="1241"/>
                    <a:pt x="1958" y="1241"/>
                  </a:cubicBezTo>
                  <a:cubicBezTo>
                    <a:pt x="1958" y="1241"/>
                    <a:pt x="1976" y="1220"/>
                    <a:pt x="1966" y="1215"/>
                  </a:cubicBezTo>
                  <a:cubicBezTo>
                    <a:pt x="1956" y="1210"/>
                    <a:pt x="1908" y="1200"/>
                    <a:pt x="1908" y="1200"/>
                  </a:cubicBezTo>
                  <a:cubicBezTo>
                    <a:pt x="1908" y="1200"/>
                    <a:pt x="1913" y="1178"/>
                    <a:pt x="1894" y="1164"/>
                  </a:cubicBezTo>
                  <a:cubicBezTo>
                    <a:pt x="1875" y="1150"/>
                    <a:pt x="1850" y="1149"/>
                    <a:pt x="1850" y="1149"/>
                  </a:cubicBezTo>
                  <a:cubicBezTo>
                    <a:pt x="1850" y="1149"/>
                    <a:pt x="1851" y="1137"/>
                    <a:pt x="1823" y="1136"/>
                  </a:cubicBezTo>
                  <a:cubicBezTo>
                    <a:pt x="1795" y="1135"/>
                    <a:pt x="1726" y="1147"/>
                    <a:pt x="1726" y="1147"/>
                  </a:cubicBezTo>
                  <a:cubicBezTo>
                    <a:pt x="1726" y="1147"/>
                    <a:pt x="1759" y="1137"/>
                    <a:pt x="1760" y="1125"/>
                  </a:cubicBezTo>
                  <a:cubicBezTo>
                    <a:pt x="1761" y="1113"/>
                    <a:pt x="1779" y="1061"/>
                    <a:pt x="1779" y="1061"/>
                  </a:cubicBezTo>
                  <a:cubicBezTo>
                    <a:pt x="1779" y="1061"/>
                    <a:pt x="1749" y="1055"/>
                    <a:pt x="1746" y="1057"/>
                  </a:cubicBezTo>
                  <a:cubicBezTo>
                    <a:pt x="1743" y="1059"/>
                    <a:pt x="1720" y="1075"/>
                    <a:pt x="1720" y="1075"/>
                  </a:cubicBezTo>
                  <a:cubicBezTo>
                    <a:pt x="1730" y="1056"/>
                    <a:pt x="1730" y="1056"/>
                    <a:pt x="1730" y="1056"/>
                  </a:cubicBezTo>
                  <a:cubicBezTo>
                    <a:pt x="1726" y="1041"/>
                    <a:pt x="1726" y="1041"/>
                    <a:pt x="1726" y="1041"/>
                  </a:cubicBezTo>
                  <a:cubicBezTo>
                    <a:pt x="1726" y="1041"/>
                    <a:pt x="1752" y="1019"/>
                    <a:pt x="1764" y="998"/>
                  </a:cubicBezTo>
                  <a:cubicBezTo>
                    <a:pt x="1776" y="977"/>
                    <a:pt x="1844" y="940"/>
                    <a:pt x="1844" y="940"/>
                  </a:cubicBezTo>
                  <a:cubicBezTo>
                    <a:pt x="1838" y="929"/>
                    <a:pt x="1838" y="929"/>
                    <a:pt x="1838" y="929"/>
                  </a:cubicBezTo>
                  <a:cubicBezTo>
                    <a:pt x="1881" y="915"/>
                    <a:pt x="1881" y="915"/>
                    <a:pt x="1881" y="915"/>
                  </a:cubicBezTo>
                  <a:cubicBezTo>
                    <a:pt x="1882" y="904"/>
                    <a:pt x="1882" y="904"/>
                    <a:pt x="1882" y="904"/>
                  </a:cubicBezTo>
                  <a:cubicBezTo>
                    <a:pt x="1909" y="900"/>
                    <a:pt x="1909" y="900"/>
                    <a:pt x="1909" y="900"/>
                  </a:cubicBezTo>
                  <a:cubicBezTo>
                    <a:pt x="1911" y="887"/>
                    <a:pt x="1911" y="887"/>
                    <a:pt x="1911" y="887"/>
                  </a:cubicBezTo>
                  <a:cubicBezTo>
                    <a:pt x="1932" y="884"/>
                    <a:pt x="1932" y="884"/>
                    <a:pt x="1932" y="884"/>
                  </a:cubicBezTo>
                  <a:cubicBezTo>
                    <a:pt x="1966" y="857"/>
                    <a:pt x="1966" y="857"/>
                    <a:pt x="1966" y="857"/>
                  </a:cubicBezTo>
                  <a:cubicBezTo>
                    <a:pt x="1966" y="857"/>
                    <a:pt x="2040" y="860"/>
                    <a:pt x="2040" y="847"/>
                  </a:cubicBezTo>
                  <a:cubicBezTo>
                    <a:pt x="2040" y="834"/>
                    <a:pt x="2020" y="819"/>
                    <a:pt x="2020" y="819"/>
                  </a:cubicBezTo>
                  <a:cubicBezTo>
                    <a:pt x="1980" y="824"/>
                    <a:pt x="1980" y="824"/>
                    <a:pt x="1980" y="824"/>
                  </a:cubicBezTo>
                  <a:cubicBezTo>
                    <a:pt x="1986" y="814"/>
                    <a:pt x="1986" y="814"/>
                    <a:pt x="1986" y="814"/>
                  </a:cubicBezTo>
                  <a:cubicBezTo>
                    <a:pt x="1950" y="800"/>
                    <a:pt x="1950" y="800"/>
                    <a:pt x="1950" y="800"/>
                  </a:cubicBezTo>
                  <a:cubicBezTo>
                    <a:pt x="1966" y="795"/>
                    <a:pt x="1966" y="795"/>
                    <a:pt x="1966" y="795"/>
                  </a:cubicBezTo>
                  <a:cubicBezTo>
                    <a:pt x="2021" y="811"/>
                    <a:pt x="2021" y="811"/>
                    <a:pt x="2021" y="811"/>
                  </a:cubicBezTo>
                  <a:cubicBezTo>
                    <a:pt x="2021" y="811"/>
                    <a:pt x="2042" y="833"/>
                    <a:pt x="2061" y="825"/>
                  </a:cubicBezTo>
                  <a:cubicBezTo>
                    <a:pt x="2080" y="817"/>
                    <a:pt x="2096" y="784"/>
                    <a:pt x="2103" y="789"/>
                  </a:cubicBezTo>
                  <a:cubicBezTo>
                    <a:pt x="2110" y="794"/>
                    <a:pt x="2131" y="804"/>
                    <a:pt x="2140" y="802"/>
                  </a:cubicBezTo>
                  <a:cubicBezTo>
                    <a:pt x="2140" y="802"/>
                    <a:pt x="2185" y="783"/>
                    <a:pt x="2203" y="776"/>
                  </a:cubicBezTo>
                  <a:cubicBezTo>
                    <a:pt x="2221" y="769"/>
                    <a:pt x="2255" y="750"/>
                    <a:pt x="2243" y="747"/>
                  </a:cubicBezTo>
                  <a:cubicBezTo>
                    <a:pt x="2231" y="744"/>
                    <a:pt x="2175" y="744"/>
                    <a:pt x="2175" y="744"/>
                  </a:cubicBezTo>
                  <a:cubicBezTo>
                    <a:pt x="2171" y="728"/>
                    <a:pt x="2171" y="728"/>
                    <a:pt x="2171" y="728"/>
                  </a:cubicBezTo>
                  <a:cubicBezTo>
                    <a:pt x="2115" y="708"/>
                    <a:pt x="2115" y="708"/>
                    <a:pt x="2115" y="708"/>
                  </a:cubicBezTo>
                  <a:cubicBezTo>
                    <a:pt x="2115" y="708"/>
                    <a:pt x="2171" y="700"/>
                    <a:pt x="2186" y="706"/>
                  </a:cubicBezTo>
                  <a:cubicBezTo>
                    <a:pt x="2201" y="712"/>
                    <a:pt x="2215" y="738"/>
                    <a:pt x="2230" y="738"/>
                  </a:cubicBezTo>
                  <a:cubicBezTo>
                    <a:pt x="2245" y="738"/>
                    <a:pt x="2324" y="700"/>
                    <a:pt x="2324" y="700"/>
                  </a:cubicBezTo>
                  <a:cubicBezTo>
                    <a:pt x="2305" y="692"/>
                    <a:pt x="2305" y="692"/>
                    <a:pt x="2305" y="692"/>
                  </a:cubicBezTo>
                  <a:cubicBezTo>
                    <a:pt x="2305" y="692"/>
                    <a:pt x="2319" y="680"/>
                    <a:pt x="2337" y="680"/>
                  </a:cubicBezTo>
                  <a:cubicBezTo>
                    <a:pt x="2355" y="680"/>
                    <a:pt x="2360" y="694"/>
                    <a:pt x="2360" y="694"/>
                  </a:cubicBezTo>
                  <a:cubicBezTo>
                    <a:pt x="2380" y="701"/>
                    <a:pt x="2380" y="701"/>
                    <a:pt x="2380" y="701"/>
                  </a:cubicBezTo>
                  <a:cubicBezTo>
                    <a:pt x="2381" y="688"/>
                    <a:pt x="2381" y="688"/>
                    <a:pt x="2381" y="688"/>
                  </a:cubicBezTo>
                  <a:cubicBezTo>
                    <a:pt x="2381" y="688"/>
                    <a:pt x="2395" y="705"/>
                    <a:pt x="2400" y="696"/>
                  </a:cubicBezTo>
                  <a:cubicBezTo>
                    <a:pt x="2405" y="687"/>
                    <a:pt x="2388" y="669"/>
                    <a:pt x="2388" y="669"/>
                  </a:cubicBezTo>
                  <a:cubicBezTo>
                    <a:pt x="2374" y="663"/>
                    <a:pt x="2374" y="663"/>
                    <a:pt x="2374" y="663"/>
                  </a:cubicBezTo>
                  <a:cubicBezTo>
                    <a:pt x="2401" y="658"/>
                    <a:pt x="2401" y="658"/>
                    <a:pt x="2401" y="658"/>
                  </a:cubicBezTo>
                  <a:cubicBezTo>
                    <a:pt x="2401" y="658"/>
                    <a:pt x="2415" y="697"/>
                    <a:pt x="2424" y="695"/>
                  </a:cubicBezTo>
                  <a:cubicBezTo>
                    <a:pt x="2433" y="693"/>
                    <a:pt x="2546" y="660"/>
                    <a:pt x="2532" y="641"/>
                  </a:cubicBezTo>
                  <a:cubicBezTo>
                    <a:pt x="2518" y="622"/>
                    <a:pt x="2507" y="607"/>
                    <a:pt x="2518" y="600"/>
                  </a:cubicBezTo>
                  <a:cubicBezTo>
                    <a:pt x="2529" y="593"/>
                    <a:pt x="2579" y="591"/>
                    <a:pt x="2580" y="585"/>
                  </a:cubicBezTo>
                  <a:cubicBezTo>
                    <a:pt x="2581" y="579"/>
                    <a:pt x="2570" y="553"/>
                    <a:pt x="2570" y="553"/>
                  </a:cubicBezTo>
                  <a:cubicBezTo>
                    <a:pt x="2558" y="538"/>
                    <a:pt x="2558" y="538"/>
                    <a:pt x="2558" y="538"/>
                  </a:cubicBezTo>
                  <a:cubicBezTo>
                    <a:pt x="2558" y="538"/>
                    <a:pt x="2496" y="520"/>
                    <a:pt x="2470" y="538"/>
                  </a:cubicBezTo>
                  <a:cubicBezTo>
                    <a:pt x="2444" y="556"/>
                    <a:pt x="2466" y="568"/>
                    <a:pt x="2466" y="568"/>
                  </a:cubicBezTo>
                  <a:cubicBezTo>
                    <a:pt x="2442" y="583"/>
                    <a:pt x="2442" y="583"/>
                    <a:pt x="2442" y="583"/>
                  </a:cubicBezTo>
                  <a:cubicBezTo>
                    <a:pt x="2428" y="583"/>
                    <a:pt x="2428" y="583"/>
                    <a:pt x="2428" y="583"/>
                  </a:cubicBezTo>
                  <a:cubicBezTo>
                    <a:pt x="2383" y="614"/>
                    <a:pt x="2383" y="614"/>
                    <a:pt x="2383" y="614"/>
                  </a:cubicBezTo>
                  <a:cubicBezTo>
                    <a:pt x="2366" y="621"/>
                    <a:pt x="2366" y="621"/>
                    <a:pt x="2366" y="621"/>
                  </a:cubicBezTo>
                  <a:cubicBezTo>
                    <a:pt x="2366" y="621"/>
                    <a:pt x="2354" y="639"/>
                    <a:pt x="2350" y="642"/>
                  </a:cubicBezTo>
                  <a:cubicBezTo>
                    <a:pt x="2346" y="645"/>
                    <a:pt x="2327" y="646"/>
                    <a:pt x="2327" y="646"/>
                  </a:cubicBezTo>
                  <a:cubicBezTo>
                    <a:pt x="2304" y="658"/>
                    <a:pt x="2304" y="658"/>
                    <a:pt x="2304" y="658"/>
                  </a:cubicBezTo>
                  <a:cubicBezTo>
                    <a:pt x="2304" y="658"/>
                    <a:pt x="2293" y="624"/>
                    <a:pt x="2299" y="613"/>
                  </a:cubicBezTo>
                  <a:cubicBezTo>
                    <a:pt x="2305" y="602"/>
                    <a:pt x="2336" y="607"/>
                    <a:pt x="2341" y="591"/>
                  </a:cubicBezTo>
                  <a:cubicBezTo>
                    <a:pt x="2346" y="575"/>
                    <a:pt x="2330" y="558"/>
                    <a:pt x="2327" y="558"/>
                  </a:cubicBezTo>
                  <a:cubicBezTo>
                    <a:pt x="2324" y="558"/>
                    <a:pt x="2271" y="582"/>
                    <a:pt x="2271" y="582"/>
                  </a:cubicBezTo>
                  <a:cubicBezTo>
                    <a:pt x="2252" y="603"/>
                    <a:pt x="2252" y="603"/>
                    <a:pt x="2252" y="603"/>
                  </a:cubicBezTo>
                  <a:cubicBezTo>
                    <a:pt x="2246" y="594"/>
                    <a:pt x="2246" y="594"/>
                    <a:pt x="2246" y="594"/>
                  </a:cubicBezTo>
                  <a:cubicBezTo>
                    <a:pt x="2264" y="576"/>
                    <a:pt x="2264" y="576"/>
                    <a:pt x="2264" y="576"/>
                  </a:cubicBezTo>
                  <a:cubicBezTo>
                    <a:pt x="2262" y="563"/>
                    <a:pt x="2262" y="563"/>
                    <a:pt x="2262" y="563"/>
                  </a:cubicBezTo>
                  <a:cubicBezTo>
                    <a:pt x="2292" y="552"/>
                    <a:pt x="2292" y="552"/>
                    <a:pt x="2292" y="552"/>
                  </a:cubicBezTo>
                  <a:cubicBezTo>
                    <a:pt x="2265" y="547"/>
                    <a:pt x="2265" y="547"/>
                    <a:pt x="2265" y="547"/>
                  </a:cubicBezTo>
                  <a:cubicBezTo>
                    <a:pt x="2270" y="537"/>
                    <a:pt x="2270" y="537"/>
                    <a:pt x="2270" y="537"/>
                  </a:cubicBezTo>
                  <a:cubicBezTo>
                    <a:pt x="2238" y="547"/>
                    <a:pt x="2238" y="547"/>
                    <a:pt x="2238" y="547"/>
                  </a:cubicBezTo>
                  <a:cubicBezTo>
                    <a:pt x="2224" y="539"/>
                    <a:pt x="2224" y="539"/>
                    <a:pt x="2224" y="539"/>
                  </a:cubicBezTo>
                  <a:cubicBezTo>
                    <a:pt x="2249" y="530"/>
                    <a:pt x="2249" y="530"/>
                    <a:pt x="2249" y="530"/>
                  </a:cubicBezTo>
                  <a:cubicBezTo>
                    <a:pt x="2250" y="520"/>
                    <a:pt x="2250" y="520"/>
                    <a:pt x="2250" y="520"/>
                  </a:cubicBezTo>
                  <a:cubicBezTo>
                    <a:pt x="2250" y="520"/>
                    <a:pt x="2286" y="528"/>
                    <a:pt x="2284" y="515"/>
                  </a:cubicBezTo>
                  <a:cubicBezTo>
                    <a:pt x="2282" y="502"/>
                    <a:pt x="2254" y="505"/>
                    <a:pt x="2266" y="488"/>
                  </a:cubicBezTo>
                  <a:cubicBezTo>
                    <a:pt x="2278" y="471"/>
                    <a:pt x="2289" y="446"/>
                    <a:pt x="2273" y="445"/>
                  </a:cubicBezTo>
                  <a:cubicBezTo>
                    <a:pt x="2248" y="435"/>
                    <a:pt x="2248" y="435"/>
                    <a:pt x="2248" y="435"/>
                  </a:cubicBezTo>
                  <a:cubicBezTo>
                    <a:pt x="2229" y="443"/>
                    <a:pt x="2229" y="443"/>
                    <a:pt x="2229" y="443"/>
                  </a:cubicBezTo>
                  <a:cubicBezTo>
                    <a:pt x="2229" y="443"/>
                    <a:pt x="2202" y="445"/>
                    <a:pt x="2201" y="449"/>
                  </a:cubicBezTo>
                  <a:cubicBezTo>
                    <a:pt x="2200" y="453"/>
                    <a:pt x="2208" y="462"/>
                    <a:pt x="2202" y="463"/>
                  </a:cubicBezTo>
                  <a:cubicBezTo>
                    <a:pt x="2196" y="464"/>
                    <a:pt x="2160" y="457"/>
                    <a:pt x="2152" y="466"/>
                  </a:cubicBezTo>
                  <a:cubicBezTo>
                    <a:pt x="2144" y="475"/>
                    <a:pt x="2127" y="484"/>
                    <a:pt x="2136" y="488"/>
                  </a:cubicBezTo>
                  <a:cubicBezTo>
                    <a:pt x="2145" y="492"/>
                    <a:pt x="2156" y="494"/>
                    <a:pt x="2156" y="494"/>
                  </a:cubicBezTo>
                  <a:cubicBezTo>
                    <a:pt x="2156" y="494"/>
                    <a:pt x="2107" y="507"/>
                    <a:pt x="2109" y="520"/>
                  </a:cubicBezTo>
                  <a:cubicBezTo>
                    <a:pt x="2111" y="533"/>
                    <a:pt x="2138" y="543"/>
                    <a:pt x="2138" y="543"/>
                  </a:cubicBezTo>
                  <a:cubicBezTo>
                    <a:pt x="2154" y="536"/>
                    <a:pt x="2154" y="536"/>
                    <a:pt x="2154" y="536"/>
                  </a:cubicBezTo>
                  <a:cubicBezTo>
                    <a:pt x="2154" y="536"/>
                    <a:pt x="2153" y="557"/>
                    <a:pt x="2159" y="554"/>
                  </a:cubicBezTo>
                  <a:cubicBezTo>
                    <a:pt x="2165" y="551"/>
                    <a:pt x="2194" y="546"/>
                    <a:pt x="2183" y="554"/>
                  </a:cubicBezTo>
                  <a:cubicBezTo>
                    <a:pt x="2172" y="562"/>
                    <a:pt x="2163" y="561"/>
                    <a:pt x="2163" y="561"/>
                  </a:cubicBezTo>
                  <a:cubicBezTo>
                    <a:pt x="2150" y="556"/>
                    <a:pt x="2150" y="556"/>
                    <a:pt x="2150" y="556"/>
                  </a:cubicBezTo>
                  <a:cubicBezTo>
                    <a:pt x="2148" y="565"/>
                    <a:pt x="2148" y="565"/>
                    <a:pt x="2148" y="565"/>
                  </a:cubicBezTo>
                  <a:cubicBezTo>
                    <a:pt x="2148" y="565"/>
                    <a:pt x="2112" y="571"/>
                    <a:pt x="2124" y="575"/>
                  </a:cubicBezTo>
                  <a:cubicBezTo>
                    <a:pt x="2136" y="579"/>
                    <a:pt x="2163" y="559"/>
                    <a:pt x="2157" y="572"/>
                  </a:cubicBezTo>
                  <a:cubicBezTo>
                    <a:pt x="2151" y="585"/>
                    <a:pt x="2132" y="594"/>
                    <a:pt x="2119" y="598"/>
                  </a:cubicBezTo>
                  <a:cubicBezTo>
                    <a:pt x="2106" y="602"/>
                    <a:pt x="2086" y="617"/>
                    <a:pt x="2086" y="617"/>
                  </a:cubicBezTo>
                  <a:cubicBezTo>
                    <a:pt x="2086" y="617"/>
                    <a:pt x="2064" y="605"/>
                    <a:pt x="2060" y="612"/>
                  </a:cubicBezTo>
                  <a:cubicBezTo>
                    <a:pt x="2056" y="619"/>
                    <a:pt x="2035" y="625"/>
                    <a:pt x="2036" y="635"/>
                  </a:cubicBezTo>
                  <a:cubicBezTo>
                    <a:pt x="2037" y="645"/>
                    <a:pt x="2030" y="654"/>
                    <a:pt x="2030" y="654"/>
                  </a:cubicBezTo>
                  <a:cubicBezTo>
                    <a:pt x="2026" y="645"/>
                    <a:pt x="2026" y="645"/>
                    <a:pt x="2026" y="645"/>
                  </a:cubicBezTo>
                  <a:cubicBezTo>
                    <a:pt x="2026" y="645"/>
                    <a:pt x="2001" y="644"/>
                    <a:pt x="2003" y="638"/>
                  </a:cubicBezTo>
                  <a:cubicBezTo>
                    <a:pt x="2005" y="632"/>
                    <a:pt x="2047" y="604"/>
                    <a:pt x="2047" y="604"/>
                  </a:cubicBezTo>
                  <a:cubicBezTo>
                    <a:pt x="2022" y="604"/>
                    <a:pt x="2022" y="604"/>
                    <a:pt x="2022" y="604"/>
                  </a:cubicBezTo>
                  <a:cubicBezTo>
                    <a:pt x="2022" y="604"/>
                    <a:pt x="2015" y="590"/>
                    <a:pt x="2008" y="590"/>
                  </a:cubicBezTo>
                  <a:cubicBezTo>
                    <a:pt x="2001" y="590"/>
                    <a:pt x="1985" y="596"/>
                    <a:pt x="1985" y="596"/>
                  </a:cubicBezTo>
                  <a:cubicBezTo>
                    <a:pt x="1985" y="596"/>
                    <a:pt x="1964" y="589"/>
                    <a:pt x="1961" y="597"/>
                  </a:cubicBezTo>
                  <a:cubicBezTo>
                    <a:pt x="1958" y="605"/>
                    <a:pt x="1956" y="612"/>
                    <a:pt x="1960" y="613"/>
                  </a:cubicBezTo>
                  <a:cubicBezTo>
                    <a:pt x="1964" y="614"/>
                    <a:pt x="1993" y="627"/>
                    <a:pt x="1983" y="630"/>
                  </a:cubicBezTo>
                  <a:cubicBezTo>
                    <a:pt x="1973" y="633"/>
                    <a:pt x="1955" y="618"/>
                    <a:pt x="1955" y="618"/>
                  </a:cubicBezTo>
                  <a:cubicBezTo>
                    <a:pt x="1941" y="609"/>
                    <a:pt x="1941" y="609"/>
                    <a:pt x="1941" y="609"/>
                  </a:cubicBezTo>
                  <a:cubicBezTo>
                    <a:pt x="1940" y="629"/>
                    <a:pt x="1940" y="629"/>
                    <a:pt x="1940" y="629"/>
                  </a:cubicBezTo>
                  <a:cubicBezTo>
                    <a:pt x="1940" y="629"/>
                    <a:pt x="1925" y="638"/>
                    <a:pt x="1916" y="636"/>
                  </a:cubicBezTo>
                  <a:cubicBezTo>
                    <a:pt x="1907" y="634"/>
                    <a:pt x="1874" y="625"/>
                    <a:pt x="1863" y="625"/>
                  </a:cubicBezTo>
                  <a:cubicBezTo>
                    <a:pt x="1852" y="625"/>
                    <a:pt x="1830" y="629"/>
                    <a:pt x="1819" y="628"/>
                  </a:cubicBezTo>
                  <a:cubicBezTo>
                    <a:pt x="1808" y="627"/>
                    <a:pt x="1791" y="610"/>
                    <a:pt x="1791" y="610"/>
                  </a:cubicBezTo>
                  <a:cubicBezTo>
                    <a:pt x="1752" y="613"/>
                    <a:pt x="1752" y="613"/>
                    <a:pt x="1752" y="613"/>
                  </a:cubicBezTo>
                  <a:cubicBezTo>
                    <a:pt x="1752" y="613"/>
                    <a:pt x="1737" y="599"/>
                    <a:pt x="1729" y="597"/>
                  </a:cubicBezTo>
                  <a:cubicBezTo>
                    <a:pt x="1721" y="595"/>
                    <a:pt x="1704" y="595"/>
                    <a:pt x="1692" y="601"/>
                  </a:cubicBezTo>
                  <a:cubicBezTo>
                    <a:pt x="1680" y="607"/>
                    <a:pt x="1685" y="609"/>
                    <a:pt x="1672" y="609"/>
                  </a:cubicBezTo>
                  <a:cubicBezTo>
                    <a:pt x="1659" y="609"/>
                    <a:pt x="1631" y="602"/>
                    <a:pt x="1624" y="611"/>
                  </a:cubicBezTo>
                  <a:cubicBezTo>
                    <a:pt x="1617" y="620"/>
                    <a:pt x="1605" y="646"/>
                    <a:pt x="1605" y="646"/>
                  </a:cubicBezTo>
                  <a:cubicBezTo>
                    <a:pt x="1597" y="666"/>
                    <a:pt x="1597" y="666"/>
                    <a:pt x="1597" y="666"/>
                  </a:cubicBezTo>
                  <a:cubicBezTo>
                    <a:pt x="1576" y="668"/>
                    <a:pt x="1576" y="668"/>
                    <a:pt x="1576" y="668"/>
                  </a:cubicBezTo>
                  <a:cubicBezTo>
                    <a:pt x="1571" y="687"/>
                    <a:pt x="1571" y="687"/>
                    <a:pt x="1571" y="687"/>
                  </a:cubicBezTo>
                  <a:cubicBezTo>
                    <a:pt x="1556" y="654"/>
                    <a:pt x="1556" y="654"/>
                    <a:pt x="1556" y="654"/>
                  </a:cubicBezTo>
                  <a:cubicBezTo>
                    <a:pt x="1556" y="654"/>
                    <a:pt x="1598" y="665"/>
                    <a:pt x="1587" y="646"/>
                  </a:cubicBezTo>
                  <a:cubicBezTo>
                    <a:pt x="1576" y="627"/>
                    <a:pt x="1544" y="625"/>
                    <a:pt x="1544" y="625"/>
                  </a:cubicBezTo>
                  <a:cubicBezTo>
                    <a:pt x="1546" y="616"/>
                    <a:pt x="1546" y="616"/>
                    <a:pt x="1546" y="616"/>
                  </a:cubicBezTo>
                  <a:cubicBezTo>
                    <a:pt x="1546" y="616"/>
                    <a:pt x="1477" y="629"/>
                    <a:pt x="1440" y="629"/>
                  </a:cubicBezTo>
                  <a:cubicBezTo>
                    <a:pt x="1403" y="629"/>
                    <a:pt x="1337" y="625"/>
                    <a:pt x="1350" y="619"/>
                  </a:cubicBezTo>
                  <a:cubicBezTo>
                    <a:pt x="1363" y="613"/>
                    <a:pt x="1447" y="616"/>
                    <a:pt x="1427" y="594"/>
                  </a:cubicBezTo>
                  <a:cubicBezTo>
                    <a:pt x="1407" y="572"/>
                    <a:pt x="1388" y="570"/>
                    <a:pt x="1364" y="572"/>
                  </a:cubicBezTo>
                  <a:cubicBezTo>
                    <a:pt x="1340" y="574"/>
                    <a:pt x="1301" y="560"/>
                    <a:pt x="1295" y="557"/>
                  </a:cubicBezTo>
                  <a:cubicBezTo>
                    <a:pt x="1289" y="554"/>
                    <a:pt x="1271" y="554"/>
                    <a:pt x="1271" y="554"/>
                  </a:cubicBezTo>
                  <a:cubicBezTo>
                    <a:pt x="1271" y="554"/>
                    <a:pt x="1223" y="527"/>
                    <a:pt x="1205" y="528"/>
                  </a:cubicBezTo>
                  <a:cubicBezTo>
                    <a:pt x="1187" y="529"/>
                    <a:pt x="1155" y="554"/>
                    <a:pt x="1155" y="554"/>
                  </a:cubicBezTo>
                  <a:cubicBezTo>
                    <a:pt x="1119" y="554"/>
                    <a:pt x="1119" y="554"/>
                    <a:pt x="1119" y="554"/>
                  </a:cubicBezTo>
                  <a:cubicBezTo>
                    <a:pt x="1139" y="542"/>
                    <a:pt x="1139" y="542"/>
                    <a:pt x="1139" y="542"/>
                  </a:cubicBezTo>
                  <a:cubicBezTo>
                    <a:pt x="1139" y="534"/>
                    <a:pt x="1139" y="534"/>
                    <a:pt x="1139" y="534"/>
                  </a:cubicBezTo>
                  <a:cubicBezTo>
                    <a:pt x="1156" y="514"/>
                    <a:pt x="1156" y="514"/>
                    <a:pt x="1156" y="514"/>
                  </a:cubicBezTo>
                  <a:cubicBezTo>
                    <a:pt x="1156" y="514"/>
                    <a:pt x="1117" y="532"/>
                    <a:pt x="1110" y="539"/>
                  </a:cubicBezTo>
                  <a:cubicBezTo>
                    <a:pt x="1103" y="546"/>
                    <a:pt x="1087" y="568"/>
                    <a:pt x="1072" y="553"/>
                  </a:cubicBezTo>
                  <a:cubicBezTo>
                    <a:pt x="1057" y="538"/>
                    <a:pt x="1078" y="522"/>
                    <a:pt x="1075" y="511"/>
                  </a:cubicBezTo>
                  <a:cubicBezTo>
                    <a:pt x="1072" y="500"/>
                    <a:pt x="1049" y="489"/>
                    <a:pt x="1046" y="498"/>
                  </a:cubicBezTo>
                  <a:cubicBezTo>
                    <a:pt x="1043" y="507"/>
                    <a:pt x="1056" y="513"/>
                    <a:pt x="1056" y="513"/>
                  </a:cubicBezTo>
                  <a:cubicBezTo>
                    <a:pt x="1056" y="513"/>
                    <a:pt x="1036" y="511"/>
                    <a:pt x="1025" y="515"/>
                  </a:cubicBezTo>
                  <a:cubicBezTo>
                    <a:pt x="1014" y="519"/>
                    <a:pt x="998" y="530"/>
                    <a:pt x="993" y="534"/>
                  </a:cubicBezTo>
                  <a:cubicBezTo>
                    <a:pt x="988" y="538"/>
                    <a:pt x="970" y="533"/>
                    <a:pt x="970" y="533"/>
                  </a:cubicBezTo>
                  <a:cubicBezTo>
                    <a:pt x="970" y="533"/>
                    <a:pt x="923" y="543"/>
                    <a:pt x="919" y="544"/>
                  </a:cubicBezTo>
                  <a:cubicBezTo>
                    <a:pt x="915" y="545"/>
                    <a:pt x="890" y="560"/>
                    <a:pt x="890" y="560"/>
                  </a:cubicBezTo>
                  <a:cubicBezTo>
                    <a:pt x="876" y="547"/>
                    <a:pt x="876" y="547"/>
                    <a:pt x="876" y="547"/>
                  </a:cubicBezTo>
                  <a:cubicBezTo>
                    <a:pt x="876" y="547"/>
                    <a:pt x="843" y="564"/>
                    <a:pt x="833" y="565"/>
                  </a:cubicBezTo>
                  <a:cubicBezTo>
                    <a:pt x="823" y="566"/>
                    <a:pt x="805" y="578"/>
                    <a:pt x="805" y="578"/>
                  </a:cubicBezTo>
                  <a:cubicBezTo>
                    <a:pt x="783" y="580"/>
                    <a:pt x="783" y="580"/>
                    <a:pt x="783" y="580"/>
                  </a:cubicBezTo>
                  <a:cubicBezTo>
                    <a:pt x="783" y="580"/>
                    <a:pt x="800" y="562"/>
                    <a:pt x="815" y="559"/>
                  </a:cubicBezTo>
                  <a:cubicBezTo>
                    <a:pt x="830" y="556"/>
                    <a:pt x="864" y="543"/>
                    <a:pt x="864" y="543"/>
                  </a:cubicBezTo>
                  <a:cubicBezTo>
                    <a:pt x="864" y="543"/>
                    <a:pt x="895" y="546"/>
                    <a:pt x="906" y="541"/>
                  </a:cubicBezTo>
                  <a:cubicBezTo>
                    <a:pt x="917" y="536"/>
                    <a:pt x="978" y="522"/>
                    <a:pt x="978" y="522"/>
                  </a:cubicBezTo>
                  <a:cubicBezTo>
                    <a:pt x="978" y="522"/>
                    <a:pt x="990" y="519"/>
                    <a:pt x="983" y="514"/>
                  </a:cubicBezTo>
                  <a:cubicBezTo>
                    <a:pt x="976" y="509"/>
                    <a:pt x="955" y="516"/>
                    <a:pt x="955" y="516"/>
                  </a:cubicBezTo>
                  <a:cubicBezTo>
                    <a:pt x="955" y="516"/>
                    <a:pt x="937" y="515"/>
                    <a:pt x="930" y="517"/>
                  </a:cubicBezTo>
                  <a:cubicBezTo>
                    <a:pt x="923" y="519"/>
                    <a:pt x="916" y="527"/>
                    <a:pt x="911" y="528"/>
                  </a:cubicBezTo>
                  <a:cubicBezTo>
                    <a:pt x="906" y="529"/>
                    <a:pt x="887" y="529"/>
                    <a:pt x="887" y="529"/>
                  </a:cubicBezTo>
                  <a:cubicBezTo>
                    <a:pt x="872" y="532"/>
                    <a:pt x="872" y="532"/>
                    <a:pt x="872" y="532"/>
                  </a:cubicBezTo>
                  <a:cubicBezTo>
                    <a:pt x="872" y="532"/>
                    <a:pt x="855" y="532"/>
                    <a:pt x="843" y="535"/>
                  </a:cubicBezTo>
                  <a:cubicBezTo>
                    <a:pt x="831" y="538"/>
                    <a:pt x="820" y="550"/>
                    <a:pt x="820" y="550"/>
                  </a:cubicBezTo>
                  <a:cubicBezTo>
                    <a:pt x="806" y="552"/>
                    <a:pt x="806" y="552"/>
                    <a:pt x="806" y="552"/>
                  </a:cubicBezTo>
                  <a:cubicBezTo>
                    <a:pt x="771" y="565"/>
                    <a:pt x="771" y="565"/>
                    <a:pt x="771" y="565"/>
                  </a:cubicBezTo>
                  <a:cubicBezTo>
                    <a:pt x="771" y="565"/>
                    <a:pt x="756" y="568"/>
                    <a:pt x="753" y="571"/>
                  </a:cubicBezTo>
                  <a:cubicBezTo>
                    <a:pt x="750" y="574"/>
                    <a:pt x="748" y="590"/>
                    <a:pt x="741" y="586"/>
                  </a:cubicBezTo>
                  <a:cubicBezTo>
                    <a:pt x="734" y="582"/>
                    <a:pt x="733" y="567"/>
                    <a:pt x="744" y="565"/>
                  </a:cubicBezTo>
                  <a:cubicBezTo>
                    <a:pt x="755" y="563"/>
                    <a:pt x="784" y="553"/>
                    <a:pt x="793" y="547"/>
                  </a:cubicBezTo>
                  <a:cubicBezTo>
                    <a:pt x="802" y="541"/>
                    <a:pt x="760" y="535"/>
                    <a:pt x="753" y="544"/>
                  </a:cubicBezTo>
                  <a:cubicBezTo>
                    <a:pt x="746" y="553"/>
                    <a:pt x="719" y="558"/>
                    <a:pt x="712" y="558"/>
                  </a:cubicBezTo>
                  <a:cubicBezTo>
                    <a:pt x="705" y="558"/>
                    <a:pt x="705" y="585"/>
                    <a:pt x="705" y="585"/>
                  </a:cubicBezTo>
                  <a:cubicBezTo>
                    <a:pt x="689" y="576"/>
                    <a:pt x="689" y="576"/>
                    <a:pt x="689" y="576"/>
                  </a:cubicBezTo>
                  <a:cubicBezTo>
                    <a:pt x="647" y="570"/>
                    <a:pt x="647" y="570"/>
                    <a:pt x="647" y="570"/>
                  </a:cubicBezTo>
                  <a:cubicBezTo>
                    <a:pt x="647" y="570"/>
                    <a:pt x="621" y="558"/>
                    <a:pt x="623" y="553"/>
                  </a:cubicBezTo>
                  <a:cubicBezTo>
                    <a:pt x="625" y="548"/>
                    <a:pt x="629" y="539"/>
                    <a:pt x="629" y="539"/>
                  </a:cubicBezTo>
                  <a:cubicBezTo>
                    <a:pt x="555" y="540"/>
                    <a:pt x="555" y="540"/>
                    <a:pt x="555" y="540"/>
                  </a:cubicBezTo>
                  <a:cubicBezTo>
                    <a:pt x="567" y="540"/>
                    <a:pt x="567" y="540"/>
                    <a:pt x="567" y="540"/>
                  </a:cubicBezTo>
                  <a:cubicBezTo>
                    <a:pt x="52" y="964"/>
                    <a:pt x="52" y="964"/>
                    <a:pt x="52" y="964"/>
                  </a:cubicBezTo>
                  <a:cubicBezTo>
                    <a:pt x="52" y="964"/>
                    <a:pt x="26" y="978"/>
                    <a:pt x="32" y="984"/>
                  </a:cubicBezTo>
                  <a:cubicBezTo>
                    <a:pt x="38" y="990"/>
                    <a:pt x="67" y="984"/>
                    <a:pt x="67" y="984"/>
                  </a:cubicBezTo>
                  <a:cubicBezTo>
                    <a:pt x="70" y="984"/>
                    <a:pt x="79" y="979"/>
                    <a:pt x="79" y="979"/>
                  </a:cubicBezTo>
                  <a:cubicBezTo>
                    <a:pt x="103" y="979"/>
                    <a:pt x="103" y="979"/>
                    <a:pt x="103" y="979"/>
                  </a:cubicBezTo>
                  <a:cubicBezTo>
                    <a:pt x="88" y="994"/>
                    <a:pt x="88" y="994"/>
                    <a:pt x="88" y="994"/>
                  </a:cubicBezTo>
                  <a:cubicBezTo>
                    <a:pt x="88" y="994"/>
                    <a:pt x="88" y="1003"/>
                    <a:pt x="88" y="1013"/>
                  </a:cubicBezTo>
                  <a:cubicBezTo>
                    <a:pt x="88" y="1024"/>
                    <a:pt x="107" y="1032"/>
                    <a:pt x="107" y="1032"/>
                  </a:cubicBezTo>
                  <a:cubicBezTo>
                    <a:pt x="107" y="1032"/>
                    <a:pt x="88" y="1051"/>
                    <a:pt x="93" y="1051"/>
                  </a:cubicBezTo>
                  <a:cubicBezTo>
                    <a:pt x="99" y="1051"/>
                    <a:pt x="115" y="1038"/>
                    <a:pt x="115" y="1038"/>
                  </a:cubicBezTo>
                  <a:cubicBezTo>
                    <a:pt x="115" y="1038"/>
                    <a:pt x="136" y="1031"/>
                    <a:pt x="143" y="1031"/>
                  </a:cubicBezTo>
                  <a:cubicBezTo>
                    <a:pt x="151" y="1031"/>
                    <a:pt x="157" y="1021"/>
                    <a:pt x="157" y="1021"/>
                  </a:cubicBezTo>
                  <a:cubicBezTo>
                    <a:pt x="169" y="1021"/>
                    <a:pt x="169" y="1021"/>
                    <a:pt x="169" y="1021"/>
                  </a:cubicBezTo>
                  <a:cubicBezTo>
                    <a:pt x="171" y="1013"/>
                    <a:pt x="171" y="1013"/>
                    <a:pt x="171" y="1013"/>
                  </a:cubicBezTo>
                  <a:cubicBezTo>
                    <a:pt x="171" y="1013"/>
                    <a:pt x="199" y="1003"/>
                    <a:pt x="217" y="1008"/>
                  </a:cubicBezTo>
                  <a:cubicBezTo>
                    <a:pt x="236" y="1014"/>
                    <a:pt x="209" y="1024"/>
                    <a:pt x="209" y="1024"/>
                  </a:cubicBezTo>
                  <a:cubicBezTo>
                    <a:pt x="209" y="1041"/>
                    <a:pt x="209" y="1041"/>
                    <a:pt x="209" y="1041"/>
                  </a:cubicBezTo>
                  <a:cubicBezTo>
                    <a:pt x="203" y="1052"/>
                    <a:pt x="203" y="1052"/>
                    <a:pt x="203" y="1052"/>
                  </a:cubicBezTo>
                  <a:cubicBezTo>
                    <a:pt x="203" y="1052"/>
                    <a:pt x="210" y="1054"/>
                    <a:pt x="216" y="1072"/>
                  </a:cubicBezTo>
                  <a:cubicBezTo>
                    <a:pt x="223" y="1089"/>
                    <a:pt x="206" y="1108"/>
                    <a:pt x="206" y="1108"/>
                  </a:cubicBezTo>
                  <a:cubicBezTo>
                    <a:pt x="206" y="1132"/>
                    <a:pt x="206" y="1132"/>
                    <a:pt x="206" y="1132"/>
                  </a:cubicBezTo>
                  <a:cubicBezTo>
                    <a:pt x="206" y="1132"/>
                    <a:pt x="200" y="1149"/>
                    <a:pt x="195" y="1162"/>
                  </a:cubicBezTo>
                  <a:cubicBezTo>
                    <a:pt x="190" y="1175"/>
                    <a:pt x="218" y="1176"/>
                    <a:pt x="218" y="1180"/>
                  </a:cubicBezTo>
                  <a:cubicBezTo>
                    <a:pt x="218" y="1185"/>
                    <a:pt x="225" y="1187"/>
                    <a:pt x="225" y="1187"/>
                  </a:cubicBezTo>
                  <a:cubicBezTo>
                    <a:pt x="225" y="1187"/>
                    <a:pt x="235" y="1186"/>
                    <a:pt x="235" y="1194"/>
                  </a:cubicBezTo>
                  <a:cubicBezTo>
                    <a:pt x="235" y="1202"/>
                    <a:pt x="208" y="1213"/>
                    <a:pt x="208" y="1213"/>
                  </a:cubicBezTo>
                  <a:cubicBezTo>
                    <a:pt x="208" y="1213"/>
                    <a:pt x="208" y="1229"/>
                    <a:pt x="198" y="1239"/>
                  </a:cubicBezTo>
                  <a:cubicBezTo>
                    <a:pt x="194" y="1243"/>
                    <a:pt x="173" y="1254"/>
                    <a:pt x="152" y="1264"/>
                  </a:cubicBezTo>
                  <a:cubicBezTo>
                    <a:pt x="150" y="1269"/>
                    <a:pt x="149" y="1274"/>
                    <a:pt x="148" y="1278"/>
                  </a:cubicBezTo>
                  <a:cubicBezTo>
                    <a:pt x="147" y="1285"/>
                    <a:pt x="142" y="1299"/>
                    <a:pt x="142" y="1299"/>
                  </a:cubicBezTo>
                  <a:cubicBezTo>
                    <a:pt x="133" y="1305"/>
                    <a:pt x="133" y="1305"/>
                    <a:pt x="133" y="1305"/>
                  </a:cubicBezTo>
                  <a:cubicBezTo>
                    <a:pt x="133" y="1305"/>
                    <a:pt x="142" y="1309"/>
                    <a:pt x="143" y="1316"/>
                  </a:cubicBezTo>
                  <a:cubicBezTo>
                    <a:pt x="144" y="1323"/>
                    <a:pt x="151" y="1326"/>
                    <a:pt x="151" y="1326"/>
                  </a:cubicBezTo>
                  <a:cubicBezTo>
                    <a:pt x="151" y="1326"/>
                    <a:pt x="201" y="1287"/>
                    <a:pt x="201" y="1296"/>
                  </a:cubicBezTo>
                  <a:cubicBezTo>
                    <a:pt x="201" y="1305"/>
                    <a:pt x="185" y="1306"/>
                    <a:pt x="183" y="1311"/>
                  </a:cubicBezTo>
                  <a:cubicBezTo>
                    <a:pt x="181" y="1316"/>
                    <a:pt x="185" y="1326"/>
                    <a:pt x="185" y="1326"/>
                  </a:cubicBezTo>
                  <a:cubicBezTo>
                    <a:pt x="194" y="1333"/>
                    <a:pt x="194" y="1333"/>
                    <a:pt x="194" y="1333"/>
                  </a:cubicBezTo>
                  <a:cubicBezTo>
                    <a:pt x="165" y="1332"/>
                    <a:pt x="165" y="1332"/>
                    <a:pt x="165" y="1332"/>
                  </a:cubicBezTo>
                  <a:cubicBezTo>
                    <a:pt x="165" y="1332"/>
                    <a:pt x="143" y="1359"/>
                    <a:pt x="153" y="1360"/>
                  </a:cubicBezTo>
                  <a:cubicBezTo>
                    <a:pt x="163" y="1361"/>
                    <a:pt x="169" y="1367"/>
                    <a:pt x="169" y="1367"/>
                  </a:cubicBezTo>
                  <a:cubicBezTo>
                    <a:pt x="169" y="1367"/>
                    <a:pt x="157" y="1388"/>
                    <a:pt x="164" y="1385"/>
                  </a:cubicBezTo>
                  <a:cubicBezTo>
                    <a:pt x="171" y="1382"/>
                    <a:pt x="212" y="1354"/>
                    <a:pt x="212" y="1354"/>
                  </a:cubicBezTo>
                  <a:cubicBezTo>
                    <a:pt x="211" y="1363"/>
                    <a:pt x="211" y="1363"/>
                    <a:pt x="211" y="1363"/>
                  </a:cubicBezTo>
                  <a:cubicBezTo>
                    <a:pt x="192" y="1374"/>
                    <a:pt x="192" y="1374"/>
                    <a:pt x="192" y="1374"/>
                  </a:cubicBezTo>
                  <a:cubicBezTo>
                    <a:pt x="207" y="1380"/>
                    <a:pt x="207" y="1380"/>
                    <a:pt x="207" y="1380"/>
                  </a:cubicBezTo>
                  <a:cubicBezTo>
                    <a:pt x="207" y="1380"/>
                    <a:pt x="202" y="1400"/>
                    <a:pt x="194" y="1398"/>
                  </a:cubicBezTo>
                  <a:cubicBezTo>
                    <a:pt x="186" y="1396"/>
                    <a:pt x="184" y="1387"/>
                    <a:pt x="184" y="1387"/>
                  </a:cubicBezTo>
                  <a:cubicBezTo>
                    <a:pt x="184" y="1387"/>
                    <a:pt x="151" y="1397"/>
                    <a:pt x="145" y="1403"/>
                  </a:cubicBezTo>
                  <a:cubicBezTo>
                    <a:pt x="139" y="1409"/>
                    <a:pt x="133" y="1417"/>
                    <a:pt x="133" y="1417"/>
                  </a:cubicBezTo>
                  <a:cubicBezTo>
                    <a:pt x="133" y="1417"/>
                    <a:pt x="151" y="1412"/>
                    <a:pt x="156" y="1412"/>
                  </a:cubicBezTo>
                  <a:cubicBezTo>
                    <a:pt x="161" y="1412"/>
                    <a:pt x="182" y="1412"/>
                    <a:pt x="182" y="1412"/>
                  </a:cubicBezTo>
                  <a:cubicBezTo>
                    <a:pt x="182" y="1412"/>
                    <a:pt x="146" y="1421"/>
                    <a:pt x="140" y="1424"/>
                  </a:cubicBezTo>
                  <a:cubicBezTo>
                    <a:pt x="134" y="1427"/>
                    <a:pt x="138" y="1435"/>
                    <a:pt x="138" y="1435"/>
                  </a:cubicBezTo>
                  <a:cubicBezTo>
                    <a:pt x="138" y="1435"/>
                    <a:pt x="105" y="1423"/>
                    <a:pt x="114" y="1437"/>
                  </a:cubicBezTo>
                  <a:cubicBezTo>
                    <a:pt x="123" y="1451"/>
                    <a:pt x="132" y="1455"/>
                    <a:pt x="132" y="1455"/>
                  </a:cubicBezTo>
                  <a:cubicBezTo>
                    <a:pt x="164" y="1444"/>
                    <a:pt x="164" y="1444"/>
                    <a:pt x="164" y="1444"/>
                  </a:cubicBezTo>
                  <a:cubicBezTo>
                    <a:pt x="173" y="1459"/>
                    <a:pt x="173" y="1459"/>
                    <a:pt x="173" y="1459"/>
                  </a:cubicBezTo>
                  <a:cubicBezTo>
                    <a:pt x="198" y="1445"/>
                    <a:pt x="198" y="1445"/>
                    <a:pt x="198" y="1445"/>
                  </a:cubicBezTo>
                  <a:cubicBezTo>
                    <a:pt x="198" y="1445"/>
                    <a:pt x="165" y="1479"/>
                    <a:pt x="176" y="1478"/>
                  </a:cubicBezTo>
                  <a:cubicBezTo>
                    <a:pt x="187" y="1477"/>
                    <a:pt x="217" y="1454"/>
                    <a:pt x="217" y="1454"/>
                  </a:cubicBezTo>
                  <a:cubicBezTo>
                    <a:pt x="217" y="1454"/>
                    <a:pt x="190" y="1484"/>
                    <a:pt x="194" y="1484"/>
                  </a:cubicBezTo>
                  <a:cubicBezTo>
                    <a:pt x="198" y="1484"/>
                    <a:pt x="216" y="1479"/>
                    <a:pt x="216" y="1479"/>
                  </a:cubicBezTo>
                  <a:cubicBezTo>
                    <a:pt x="216" y="1479"/>
                    <a:pt x="178" y="1508"/>
                    <a:pt x="190" y="1509"/>
                  </a:cubicBezTo>
                  <a:cubicBezTo>
                    <a:pt x="202" y="1510"/>
                    <a:pt x="229" y="1490"/>
                    <a:pt x="229" y="1490"/>
                  </a:cubicBezTo>
                  <a:cubicBezTo>
                    <a:pt x="229" y="1490"/>
                    <a:pt x="203" y="1518"/>
                    <a:pt x="210" y="1520"/>
                  </a:cubicBezTo>
                  <a:cubicBezTo>
                    <a:pt x="217" y="1522"/>
                    <a:pt x="233" y="1526"/>
                    <a:pt x="233" y="1529"/>
                  </a:cubicBezTo>
                  <a:cubicBezTo>
                    <a:pt x="233" y="1531"/>
                    <a:pt x="231" y="1548"/>
                    <a:pt x="228" y="1561"/>
                  </a:cubicBezTo>
                  <a:cubicBezTo>
                    <a:pt x="228" y="1561"/>
                    <a:pt x="228" y="1561"/>
                    <a:pt x="228" y="1561"/>
                  </a:cubicBezTo>
                  <a:cubicBezTo>
                    <a:pt x="1370" y="1561"/>
                    <a:pt x="1370" y="1561"/>
                    <a:pt x="1370" y="1561"/>
                  </a:cubicBezTo>
                  <a:cubicBezTo>
                    <a:pt x="1370" y="1561"/>
                    <a:pt x="1384" y="1526"/>
                    <a:pt x="1394" y="1537"/>
                  </a:cubicBezTo>
                  <a:cubicBezTo>
                    <a:pt x="1404" y="1547"/>
                    <a:pt x="1379" y="1557"/>
                    <a:pt x="1388" y="1566"/>
                  </a:cubicBezTo>
                  <a:cubicBezTo>
                    <a:pt x="1396" y="1574"/>
                    <a:pt x="1415" y="1575"/>
                    <a:pt x="1415" y="1575"/>
                  </a:cubicBezTo>
                  <a:cubicBezTo>
                    <a:pt x="1415" y="1575"/>
                    <a:pt x="1422" y="1585"/>
                    <a:pt x="1430" y="1585"/>
                  </a:cubicBezTo>
                  <a:cubicBezTo>
                    <a:pt x="1438" y="1585"/>
                    <a:pt x="1436" y="1573"/>
                    <a:pt x="1449" y="1573"/>
                  </a:cubicBezTo>
                  <a:cubicBezTo>
                    <a:pt x="1462" y="1573"/>
                    <a:pt x="1465" y="1593"/>
                    <a:pt x="1471" y="1593"/>
                  </a:cubicBezTo>
                  <a:cubicBezTo>
                    <a:pt x="1477" y="1593"/>
                    <a:pt x="1484" y="1596"/>
                    <a:pt x="1487" y="1593"/>
                  </a:cubicBezTo>
                  <a:cubicBezTo>
                    <a:pt x="1490" y="1590"/>
                    <a:pt x="1503" y="1614"/>
                    <a:pt x="1509" y="1608"/>
                  </a:cubicBezTo>
                  <a:cubicBezTo>
                    <a:pt x="1515" y="1602"/>
                    <a:pt x="1531" y="1591"/>
                    <a:pt x="1531" y="1591"/>
                  </a:cubicBezTo>
                  <a:cubicBezTo>
                    <a:pt x="1531" y="1601"/>
                    <a:pt x="1531" y="1601"/>
                    <a:pt x="1531" y="1601"/>
                  </a:cubicBezTo>
                  <a:cubicBezTo>
                    <a:pt x="1561" y="1600"/>
                    <a:pt x="1561" y="1600"/>
                    <a:pt x="1561" y="1600"/>
                  </a:cubicBezTo>
                  <a:cubicBezTo>
                    <a:pt x="1561" y="1600"/>
                    <a:pt x="1558" y="1606"/>
                    <a:pt x="1586" y="1606"/>
                  </a:cubicBezTo>
                  <a:cubicBezTo>
                    <a:pt x="1598" y="1598"/>
                    <a:pt x="1605" y="1585"/>
                    <a:pt x="1606" y="1582"/>
                  </a:cubicBezTo>
                  <a:cubicBezTo>
                    <a:pt x="1607" y="1578"/>
                    <a:pt x="1626" y="1586"/>
                    <a:pt x="1626" y="1586"/>
                  </a:cubicBezTo>
                  <a:cubicBezTo>
                    <a:pt x="1634" y="1580"/>
                    <a:pt x="1634" y="1580"/>
                    <a:pt x="1634" y="1580"/>
                  </a:cubicBezTo>
                  <a:cubicBezTo>
                    <a:pt x="1634" y="1580"/>
                    <a:pt x="1641" y="1568"/>
                    <a:pt x="1642" y="1565"/>
                  </a:cubicBezTo>
                  <a:cubicBezTo>
                    <a:pt x="1643" y="1562"/>
                    <a:pt x="1651" y="1575"/>
                    <a:pt x="1651" y="1575"/>
                  </a:cubicBezTo>
                  <a:cubicBezTo>
                    <a:pt x="1668" y="1572"/>
                    <a:pt x="1668" y="1572"/>
                    <a:pt x="1668" y="1572"/>
                  </a:cubicBezTo>
                  <a:cubicBezTo>
                    <a:pt x="1668" y="1572"/>
                    <a:pt x="1659" y="1562"/>
                    <a:pt x="1668" y="1555"/>
                  </a:cubicBezTo>
                  <a:cubicBezTo>
                    <a:pt x="1677" y="1548"/>
                    <a:pt x="1686" y="1563"/>
                    <a:pt x="1686" y="1563"/>
                  </a:cubicBezTo>
                  <a:cubicBezTo>
                    <a:pt x="1704" y="1563"/>
                    <a:pt x="1704" y="1563"/>
                    <a:pt x="1704" y="1563"/>
                  </a:cubicBezTo>
                  <a:cubicBezTo>
                    <a:pt x="1708" y="1567"/>
                    <a:pt x="1708" y="1567"/>
                    <a:pt x="1708" y="1567"/>
                  </a:cubicBezTo>
                  <a:cubicBezTo>
                    <a:pt x="1708" y="1567"/>
                    <a:pt x="1728" y="1568"/>
                    <a:pt x="1733" y="1573"/>
                  </a:cubicBezTo>
                  <a:cubicBezTo>
                    <a:pt x="1738" y="1578"/>
                    <a:pt x="1727" y="1604"/>
                    <a:pt x="1727" y="1604"/>
                  </a:cubicBezTo>
                  <a:cubicBezTo>
                    <a:pt x="1733" y="1611"/>
                    <a:pt x="1733" y="1611"/>
                    <a:pt x="1733" y="1611"/>
                  </a:cubicBezTo>
                  <a:cubicBezTo>
                    <a:pt x="1727" y="1626"/>
                    <a:pt x="1727" y="1626"/>
                    <a:pt x="1727" y="1626"/>
                  </a:cubicBezTo>
                  <a:cubicBezTo>
                    <a:pt x="1727" y="1626"/>
                    <a:pt x="1766" y="1603"/>
                    <a:pt x="1777" y="1610"/>
                  </a:cubicBezTo>
                  <a:cubicBezTo>
                    <a:pt x="1788" y="1617"/>
                    <a:pt x="1760" y="1627"/>
                    <a:pt x="1759" y="1631"/>
                  </a:cubicBezTo>
                  <a:cubicBezTo>
                    <a:pt x="1758" y="1635"/>
                    <a:pt x="1773" y="1638"/>
                    <a:pt x="1773" y="1643"/>
                  </a:cubicBezTo>
                  <a:cubicBezTo>
                    <a:pt x="1773" y="1648"/>
                    <a:pt x="1757" y="1654"/>
                    <a:pt x="1757" y="1659"/>
                  </a:cubicBezTo>
                  <a:cubicBezTo>
                    <a:pt x="1757" y="1664"/>
                    <a:pt x="1770" y="1664"/>
                    <a:pt x="1767" y="1671"/>
                  </a:cubicBezTo>
                  <a:cubicBezTo>
                    <a:pt x="1764" y="1678"/>
                    <a:pt x="1758" y="1679"/>
                    <a:pt x="1758" y="1679"/>
                  </a:cubicBezTo>
                  <a:cubicBezTo>
                    <a:pt x="1756" y="1685"/>
                    <a:pt x="1756" y="1685"/>
                    <a:pt x="1756" y="1685"/>
                  </a:cubicBezTo>
                  <a:cubicBezTo>
                    <a:pt x="1769" y="1685"/>
                    <a:pt x="1769" y="1685"/>
                    <a:pt x="1769" y="1685"/>
                  </a:cubicBezTo>
                  <a:cubicBezTo>
                    <a:pt x="1765" y="1700"/>
                    <a:pt x="1765" y="1700"/>
                    <a:pt x="1765" y="1700"/>
                  </a:cubicBezTo>
                  <a:cubicBezTo>
                    <a:pt x="1771" y="1700"/>
                    <a:pt x="1778" y="1701"/>
                    <a:pt x="1781" y="1701"/>
                  </a:cubicBezTo>
                  <a:cubicBezTo>
                    <a:pt x="1786" y="1700"/>
                    <a:pt x="1794" y="1703"/>
                    <a:pt x="1806" y="1704"/>
                  </a:cubicBezTo>
                  <a:cubicBezTo>
                    <a:pt x="1818" y="1705"/>
                    <a:pt x="1825" y="1703"/>
                    <a:pt x="1825" y="1703"/>
                  </a:cubicBezTo>
                  <a:cubicBezTo>
                    <a:pt x="1837" y="1703"/>
                    <a:pt x="1852" y="1715"/>
                    <a:pt x="1863" y="1715"/>
                  </a:cubicBezTo>
                  <a:cubicBezTo>
                    <a:pt x="1874" y="1715"/>
                    <a:pt x="1884" y="1715"/>
                    <a:pt x="1884" y="1715"/>
                  </a:cubicBezTo>
                  <a:cubicBezTo>
                    <a:pt x="1906" y="1715"/>
                    <a:pt x="1904" y="1729"/>
                    <a:pt x="1904" y="1738"/>
                  </a:cubicBezTo>
                  <a:cubicBezTo>
                    <a:pt x="1904" y="1747"/>
                    <a:pt x="1914" y="1736"/>
                    <a:pt x="1914" y="1746"/>
                  </a:cubicBezTo>
                  <a:cubicBezTo>
                    <a:pt x="1914" y="1756"/>
                    <a:pt x="1910" y="1759"/>
                    <a:pt x="1905" y="1764"/>
                  </a:cubicBezTo>
                  <a:cubicBezTo>
                    <a:pt x="1900" y="1769"/>
                    <a:pt x="1918" y="1777"/>
                    <a:pt x="1918" y="1777"/>
                  </a:cubicBezTo>
                  <a:cubicBezTo>
                    <a:pt x="1903" y="1776"/>
                    <a:pt x="1903" y="1776"/>
                    <a:pt x="1903" y="1776"/>
                  </a:cubicBezTo>
                  <a:cubicBezTo>
                    <a:pt x="1903" y="1776"/>
                    <a:pt x="1903" y="1785"/>
                    <a:pt x="1896" y="1793"/>
                  </a:cubicBezTo>
                  <a:cubicBezTo>
                    <a:pt x="1888" y="1800"/>
                    <a:pt x="1887" y="1793"/>
                    <a:pt x="1868" y="1783"/>
                  </a:cubicBezTo>
                  <a:cubicBezTo>
                    <a:pt x="1849" y="1773"/>
                    <a:pt x="1855" y="1754"/>
                    <a:pt x="1855" y="1754"/>
                  </a:cubicBezTo>
                  <a:cubicBezTo>
                    <a:pt x="1844" y="1749"/>
                    <a:pt x="1844" y="1749"/>
                    <a:pt x="1844" y="1749"/>
                  </a:cubicBezTo>
                  <a:cubicBezTo>
                    <a:pt x="1846" y="1761"/>
                    <a:pt x="1846" y="1761"/>
                    <a:pt x="1846" y="1761"/>
                  </a:cubicBezTo>
                  <a:cubicBezTo>
                    <a:pt x="1846" y="1761"/>
                    <a:pt x="1854" y="1774"/>
                    <a:pt x="1846" y="1788"/>
                  </a:cubicBezTo>
                  <a:cubicBezTo>
                    <a:pt x="1838" y="1802"/>
                    <a:pt x="1820" y="1806"/>
                    <a:pt x="1812" y="1819"/>
                  </a:cubicBezTo>
                  <a:cubicBezTo>
                    <a:pt x="1804" y="1832"/>
                    <a:pt x="1801" y="1844"/>
                    <a:pt x="1793" y="1853"/>
                  </a:cubicBezTo>
                  <a:cubicBezTo>
                    <a:pt x="1785" y="1861"/>
                    <a:pt x="1769" y="1868"/>
                    <a:pt x="1762" y="1864"/>
                  </a:cubicBezTo>
                  <a:cubicBezTo>
                    <a:pt x="1758" y="1869"/>
                    <a:pt x="1755" y="1873"/>
                    <a:pt x="1755" y="1873"/>
                  </a:cubicBezTo>
                  <a:cubicBezTo>
                    <a:pt x="1755" y="1873"/>
                    <a:pt x="1757" y="1894"/>
                    <a:pt x="1749" y="1894"/>
                  </a:cubicBezTo>
                  <a:cubicBezTo>
                    <a:pt x="1741" y="1894"/>
                    <a:pt x="1696" y="1916"/>
                    <a:pt x="1706" y="1926"/>
                  </a:cubicBezTo>
                  <a:cubicBezTo>
                    <a:pt x="1707" y="1926"/>
                    <a:pt x="1707" y="1927"/>
                    <a:pt x="1708" y="1928"/>
                  </a:cubicBezTo>
                  <a:cubicBezTo>
                    <a:pt x="1716" y="1924"/>
                    <a:pt x="1723" y="1921"/>
                    <a:pt x="1724" y="1921"/>
                  </a:cubicBezTo>
                  <a:cubicBezTo>
                    <a:pt x="1727" y="1921"/>
                    <a:pt x="1731" y="1926"/>
                    <a:pt x="1731" y="1926"/>
                  </a:cubicBezTo>
                  <a:cubicBezTo>
                    <a:pt x="1731" y="1926"/>
                    <a:pt x="1746" y="1912"/>
                    <a:pt x="1754" y="1910"/>
                  </a:cubicBezTo>
                  <a:cubicBezTo>
                    <a:pt x="1762" y="1908"/>
                    <a:pt x="1770" y="1911"/>
                    <a:pt x="1770" y="1911"/>
                  </a:cubicBezTo>
                  <a:cubicBezTo>
                    <a:pt x="1770" y="1911"/>
                    <a:pt x="1775" y="1890"/>
                    <a:pt x="1800" y="1889"/>
                  </a:cubicBezTo>
                  <a:cubicBezTo>
                    <a:pt x="1825" y="1888"/>
                    <a:pt x="1842" y="1895"/>
                    <a:pt x="1842" y="1895"/>
                  </a:cubicBezTo>
                  <a:cubicBezTo>
                    <a:pt x="1858" y="1881"/>
                    <a:pt x="1858" y="1881"/>
                    <a:pt x="1858" y="1881"/>
                  </a:cubicBezTo>
                  <a:cubicBezTo>
                    <a:pt x="1900" y="1883"/>
                    <a:pt x="1900" y="1883"/>
                    <a:pt x="1900" y="1883"/>
                  </a:cubicBezTo>
                  <a:cubicBezTo>
                    <a:pt x="1903" y="1880"/>
                    <a:pt x="1905" y="1878"/>
                    <a:pt x="1906" y="1876"/>
                  </a:cubicBezTo>
                  <a:cubicBezTo>
                    <a:pt x="1908" y="1870"/>
                    <a:pt x="1908" y="1866"/>
                    <a:pt x="1907" y="1862"/>
                  </a:cubicBezTo>
                  <a:cubicBezTo>
                    <a:pt x="1889" y="1866"/>
                    <a:pt x="1883" y="1865"/>
                    <a:pt x="1882" y="1858"/>
                  </a:cubicBezTo>
                  <a:cubicBezTo>
                    <a:pt x="1881" y="1848"/>
                    <a:pt x="1915" y="1826"/>
                    <a:pt x="1928" y="1826"/>
                  </a:cubicBezTo>
                  <a:cubicBezTo>
                    <a:pt x="1941" y="1826"/>
                    <a:pt x="1960" y="1821"/>
                    <a:pt x="1964" y="1821"/>
                  </a:cubicBezTo>
                  <a:cubicBezTo>
                    <a:pt x="1968" y="1821"/>
                    <a:pt x="1985" y="1815"/>
                    <a:pt x="1985" y="1815"/>
                  </a:cubicBezTo>
                  <a:cubicBezTo>
                    <a:pt x="1985" y="1815"/>
                    <a:pt x="2012" y="1825"/>
                    <a:pt x="2016" y="1825"/>
                  </a:cubicBezTo>
                  <a:cubicBezTo>
                    <a:pt x="2020" y="1825"/>
                    <a:pt x="2020" y="1809"/>
                    <a:pt x="2020" y="1809"/>
                  </a:cubicBezTo>
                  <a:cubicBezTo>
                    <a:pt x="2020" y="1809"/>
                    <a:pt x="2027" y="1800"/>
                    <a:pt x="2037" y="1803"/>
                  </a:cubicBezTo>
                  <a:cubicBezTo>
                    <a:pt x="2040" y="1804"/>
                    <a:pt x="2042" y="1805"/>
                    <a:pt x="2043" y="1806"/>
                  </a:cubicBezTo>
                  <a:cubicBezTo>
                    <a:pt x="2045" y="1805"/>
                    <a:pt x="2047" y="1804"/>
                    <a:pt x="2048" y="1804"/>
                  </a:cubicBezTo>
                  <a:cubicBezTo>
                    <a:pt x="2054" y="1804"/>
                    <a:pt x="2056" y="1802"/>
                    <a:pt x="2064" y="1802"/>
                  </a:cubicBezTo>
                  <a:cubicBezTo>
                    <a:pt x="2072" y="1802"/>
                    <a:pt x="2106" y="1764"/>
                    <a:pt x="2123" y="1764"/>
                  </a:cubicBezTo>
                  <a:cubicBezTo>
                    <a:pt x="2140" y="1764"/>
                    <a:pt x="2271" y="1764"/>
                    <a:pt x="2271" y="1764"/>
                  </a:cubicBezTo>
                  <a:cubicBezTo>
                    <a:pt x="2271" y="1764"/>
                    <a:pt x="2271" y="1749"/>
                    <a:pt x="2283" y="1749"/>
                  </a:cubicBezTo>
                  <a:cubicBezTo>
                    <a:pt x="2295" y="1749"/>
                    <a:pt x="2303" y="1748"/>
                    <a:pt x="2303" y="1748"/>
                  </a:cubicBezTo>
                  <a:cubicBezTo>
                    <a:pt x="2303" y="1748"/>
                    <a:pt x="2314" y="1727"/>
                    <a:pt x="2323" y="1727"/>
                  </a:cubicBezTo>
                  <a:cubicBezTo>
                    <a:pt x="2333" y="1727"/>
                    <a:pt x="2340" y="1734"/>
                    <a:pt x="2340" y="1727"/>
                  </a:cubicBezTo>
                  <a:cubicBezTo>
                    <a:pt x="2340" y="1720"/>
                    <a:pt x="2343" y="1698"/>
                    <a:pt x="2349" y="1698"/>
                  </a:cubicBezTo>
                  <a:cubicBezTo>
                    <a:pt x="2355" y="1698"/>
                    <a:pt x="2363" y="1690"/>
                    <a:pt x="2363" y="1690"/>
                  </a:cubicBezTo>
                  <a:cubicBezTo>
                    <a:pt x="2363" y="1676"/>
                    <a:pt x="2363" y="1676"/>
                    <a:pt x="2363" y="1676"/>
                  </a:cubicBezTo>
                  <a:cubicBezTo>
                    <a:pt x="2390" y="1657"/>
                    <a:pt x="2390" y="1657"/>
                    <a:pt x="2390" y="1657"/>
                  </a:cubicBezTo>
                  <a:cubicBezTo>
                    <a:pt x="2390" y="1657"/>
                    <a:pt x="2401" y="1636"/>
                    <a:pt x="2414" y="1636"/>
                  </a:cubicBezTo>
                  <a:cubicBezTo>
                    <a:pt x="2427" y="1636"/>
                    <a:pt x="2418" y="1645"/>
                    <a:pt x="2430" y="1645"/>
                  </a:cubicBezTo>
                  <a:cubicBezTo>
                    <a:pt x="2442" y="1645"/>
                    <a:pt x="2469" y="1634"/>
                    <a:pt x="2469" y="1651"/>
                  </a:cubicBezTo>
                  <a:cubicBezTo>
                    <a:pt x="2469" y="1668"/>
                    <a:pt x="2439" y="1725"/>
                    <a:pt x="2442" y="1728"/>
                  </a:cubicBezTo>
                  <a:cubicBezTo>
                    <a:pt x="2445" y="1731"/>
                    <a:pt x="2453" y="1735"/>
                    <a:pt x="2453" y="1735"/>
                  </a:cubicBezTo>
                  <a:cubicBezTo>
                    <a:pt x="2453" y="1735"/>
                    <a:pt x="2439" y="1748"/>
                    <a:pt x="2444" y="1753"/>
                  </a:cubicBezTo>
                  <a:cubicBezTo>
                    <a:pt x="2449" y="1758"/>
                    <a:pt x="2457" y="1755"/>
                    <a:pt x="2457" y="1755"/>
                  </a:cubicBezTo>
                  <a:cubicBezTo>
                    <a:pt x="2458" y="1759"/>
                    <a:pt x="2458" y="1759"/>
                    <a:pt x="2458" y="1759"/>
                  </a:cubicBezTo>
                  <a:cubicBezTo>
                    <a:pt x="2462" y="1761"/>
                    <a:pt x="2472" y="1765"/>
                    <a:pt x="2484" y="1760"/>
                  </a:cubicBezTo>
                  <a:cubicBezTo>
                    <a:pt x="2499" y="1754"/>
                    <a:pt x="2511" y="1738"/>
                    <a:pt x="2511" y="1738"/>
                  </a:cubicBezTo>
                  <a:cubicBezTo>
                    <a:pt x="2517" y="1752"/>
                    <a:pt x="2517" y="1752"/>
                    <a:pt x="2517" y="1752"/>
                  </a:cubicBezTo>
                  <a:cubicBezTo>
                    <a:pt x="2517" y="1752"/>
                    <a:pt x="2549" y="1738"/>
                    <a:pt x="2554" y="1734"/>
                  </a:cubicBezTo>
                  <a:cubicBezTo>
                    <a:pt x="2559" y="1730"/>
                    <a:pt x="2580" y="1724"/>
                    <a:pt x="2580" y="1724"/>
                  </a:cubicBezTo>
                  <a:cubicBezTo>
                    <a:pt x="2590" y="1725"/>
                    <a:pt x="2590" y="1725"/>
                    <a:pt x="2590" y="1725"/>
                  </a:cubicBezTo>
                  <a:cubicBezTo>
                    <a:pt x="2561" y="1748"/>
                    <a:pt x="2561" y="1748"/>
                    <a:pt x="2561" y="1748"/>
                  </a:cubicBezTo>
                  <a:cubicBezTo>
                    <a:pt x="2622" y="1742"/>
                    <a:pt x="2622" y="1742"/>
                    <a:pt x="2622" y="1742"/>
                  </a:cubicBezTo>
                  <a:cubicBezTo>
                    <a:pt x="2622" y="1742"/>
                    <a:pt x="2593" y="1745"/>
                    <a:pt x="2592" y="1751"/>
                  </a:cubicBezTo>
                  <a:cubicBezTo>
                    <a:pt x="2591" y="1757"/>
                    <a:pt x="2587" y="1764"/>
                    <a:pt x="2587" y="1764"/>
                  </a:cubicBezTo>
                  <a:cubicBezTo>
                    <a:pt x="2587" y="1764"/>
                    <a:pt x="2568" y="1753"/>
                    <a:pt x="2561" y="1756"/>
                  </a:cubicBezTo>
                  <a:cubicBezTo>
                    <a:pt x="2554" y="1759"/>
                    <a:pt x="2486" y="1793"/>
                    <a:pt x="2483" y="1801"/>
                  </a:cubicBezTo>
                  <a:cubicBezTo>
                    <a:pt x="2480" y="1809"/>
                    <a:pt x="2474" y="1833"/>
                    <a:pt x="2479" y="1834"/>
                  </a:cubicBezTo>
                  <a:cubicBezTo>
                    <a:pt x="2484" y="1835"/>
                    <a:pt x="2491" y="1829"/>
                    <a:pt x="2491" y="1829"/>
                  </a:cubicBezTo>
                  <a:cubicBezTo>
                    <a:pt x="2491" y="1829"/>
                    <a:pt x="2489" y="1845"/>
                    <a:pt x="2498" y="1843"/>
                  </a:cubicBezTo>
                  <a:cubicBezTo>
                    <a:pt x="2507" y="1841"/>
                    <a:pt x="2513" y="1828"/>
                    <a:pt x="2513" y="1828"/>
                  </a:cubicBezTo>
                  <a:cubicBezTo>
                    <a:pt x="2513" y="1828"/>
                    <a:pt x="2539" y="1825"/>
                    <a:pt x="2553" y="1813"/>
                  </a:cubicBezTo>
                  <a:cubicBezTo>
                    <a:pt x="2567" y="1801"/>
                    <a:pt x="2582" y="1780"/>
                    <a:pt x="2582" y="1780"/>
                  </a:cubicBezTo>
                  <a:cubicBezTo>
                    <a:pt x="2582" y="1780"/>
                    <a:pt x="2582" y="1796"/>
                    <a:pt x="2596" y="1793"/>
                  </a:cubicBezTo>
                  <a:cubicBezTo>
                    <a:pt x="2610" y="1790"/>
                    <a:pt x="2644" y="1775"/>
                    <a:pt x="2655" y="1772"/>
                  </a:cubicBezTo>
                  <a:cubicBezTo>
                    <a:pt x="2666" y="1769"/>
                    <a:pt x="2718" y="1756"/>
                    <a:pt x="2718" y="1756"/>
                  </a:cubicBezTo>
                  <a:cubicBezTo>
                    <a:pt x="2709" y="1746"/>
                    <a:pt x="2709" y="1746"/>
                    <a:pt x="2709" y="1746"/>
                  </a:cubicBezTo>
                  <a:cubicBezTo>
                    <a:pt x="2713" y="1733"/>
                    <a:pt x="2713" y="1733"/>
                    <a:pt x="2713" y="1733"/>
                  </a:cubicBezTo>
                  <a:cubicBezTo>
                    <a:pt x="2692" y="1737"/>
                    <a:pt x="2692" y="1737"/>
                    <a:pt x="2692" y="1737"/>
                  </a:cubicBezTo>
                  <a:cubicBezTo>
                    <a:pt x="2691" y="1721"/>
                    <a:pt x="2691" y="1721"/>
                    <a:pt x="2691" y="1721"/>
                  </a:cubicBezTo>
                  <a:cubicBezTo>
                    <a:pt x="2691" y="1721"/>
                    <a:pt x="2667" y="1735"/>
                    <a:pt x="2661" y="1734"/>
                  </a:cubicBezTo>
                  <a:cubicBezTo>
                    <a:pt x="2655" y="1733"/>
                    <a:pt x="2657" y="1724"/>
                    <a:pt x="2657" y="1724"/>
                  </a:cubicBezTo>
                  <a:cubicBezTo>
                    <a:pt x="2657" y="1724"/>
                    <a:pt x="2625" y="1727"/>
                    <a:pt x="2619" y="1722"/>
                  </a:cubicBezTo>
                  <a:cubicBezTo>
                    <a:pt x="2613" y="1717"/>
                    <a:pt x="2605" y="1707"/>
                    <a:pt x="2614" y="1707"/>
                  </a:cubicBezTo>
                  <a:cubicBezTo>
                    <a:pt x="2623" y="1707"/>
                    <a:pt x="2610" y="1694"/>
                    <a:pt x="2599" y="1697"/>
                  </a:cubicBezTo>
                  <a:cubicBezTo>
                    <a:pt x="2588" y="1700"/>
                    <a:pt x="2584" y="1681"/>
                    <a:pt x="2584" y="1676"/>
                  </a:cubicBezTo>
                  <a:cubicBezTo>
                    <a:pt x="2584" y="1671"/>
                    <a:pt x="2596" y="1658"/>
                    <a:pt x="2596" y="1658"/>
                  </a:cubicBezTo>
                  <a:cubicBezTo>
                    <a:pt x="2580" y="1657"/>
                    <a:pt x="2580" y="1657"/>
                    <a:pt x="2580" y="1657"/>
                  </a:cubicBezTo>
                  <a:cubicBezTo>
                    <a:pt x="2580" y="1657"/>
                    <a:pt x="2599" y="1642"/>
                    <a:pt x="2606" y="1634"/>
                  </a:cubicBezTo>
                  <a:cubicBezTo>
                    <a:pt x="2613" y="1626"/>
                    <a:pt x="2632" y="1607"/>
                    <a:pt x="2632" y="1607"/>
                  </a:cubicBezTo>
                  <a:cubicBezTo>
                    <a:pt x="2622" y="1604"/>
                    <a:pt x="2622" y="1604"/>
                    <a:pt x="2622" y="1604"/>
                  </a:cubicBezTo>
                  <a:cubicBezTo>
                    <a:pt x="2608" y="1622"/>
                    <a:pt x="2608" y="1622"/>
                    <a:pt x="2608" y="1622"/>
                  </a:cubicBezTo>
                  <a:cubicBezTo>
                    <a:pt x="2593" y="1614"/>
                    <a:pt x="2593" y="1614"/>
                    <a:pt x="2593" y="1614"/>
                  </a:cubicBezTo>
                  <a:cubicBezTo>
                    <a:pt x="2574" y="1628"/>
                    <a:pt x="2574" y="1628"/>
                    <a:pt x="2574" y="1628"/>
                  </a:cubicBezTo>
                  <a:cubicBezTo>
                    <a:pt x="2571" y="1615"/>
                    <a:pt x="2571" y="1615"/>
                    <a:pt x="2571" y="1615"/>
                  </a:cubicBezTo>
                  <a:cubicBezTo>
                    <a:pt x="2552" y="1608"/>
                    <a:pt x="2552" y="1608"/>
                    <a:pt x="2552" y="1608"/>
                  </a:cubicBezTo>
                  <a:cubicBezTo>
                    <a:pt x="2537" y="1610"/>
                    <a:pt x="2537" y="1610"/>
                    <a:pt x="2537" y="1610"/>
                  </a:cubicBezTo>
                  <a:cubicBezTo>
                    <a:pt x="2574" y="1597"/>
                    <a:pt x="2574" y="1597"/>
                    <a:pt x="2574" y="1597"/>
                  </a:cubicBezTo>
                  <a:cubicBezTo>
                    <a:pt x="2574" y="1597"/>
                    <a:pt x="2581" y="1607"/>
                    <a:pt x="2591" y="1606"/>
                  </a:cubicBezTo>
                  <a:cubicBezTo>
                    <a:pt x="2601" y="1605"/>
                    <a:pt x="2624" y="1587"/>
                    <a:pt x="2624" y="1587"/>
                  </a:cubicBezTo>
                  <a:cubicBezTo>
                    <a:pt x="2624" y="1587"/>
                    <a:pt x="2650" y="1592"/>
                    <a:pt x="2651" y="1585"/>
                  </a:cubicBezTo>
                  <a:cubicBezTo>
                    <a:pt x="2652" y="1578"/>
                    <a:pt x="2644" y="1567"/>
                    <a:pt x="2644" y="1567"/>
                  </a:cubicBezTo>
                  <a:cubicBezTo>
                    <a:pt x="2660" y="1566"/>
                    <a:pt x="2660" y="1566"/>
                    <a:pt x="2660" y="1566"/>
                  </a:cubicBezTo>
                  <a:cubicBezTo>
                    <a:pt x="2660" y="1566"/>
                    <a:pt x="2651" y="1543"/>
                    <a:pt x="2609" y="1543"/>
                  </a:cubicBezTo>
                  <a:cubicBezTo>
                    <a:pt x="2567" y="1543"/>
                    <a:pt x="2517" y="1564"/>
                    <a:pt x="2494" y="1569"/>
                  </a:cubicBezTo>
                  <a:cubicBezTo>
                    <a:pt x="2471" y="1574"/>
                    <a:pt x="2434" y="1597"/>
                    <a:pt x="2427" y="1603"/>
                  </a:cubicBezTo>
                  <a:cubicBezTo>
                    <a:pt x="2420" y="1609"/>
                    <a:pt x="2378" y="1642"/>
                    <a:pt x="2368" y="1650"/>
                  </a:cubicBezTo>
                  <a:cubicBezTo>
                    <a:pt x="2358" y="1658"/>
                    <a:pt x="2322" y="1663"/>
                    <a:pt x="2322" y="1663"/>
                  </a:cubicBezTo>
                  <a:cubicBezTo>
                    <a:pt x="2322" y="1663"/>
                    <a:pt x="2372" y="1635"/>
                    <a:pt x="2381" y="1626"/>
                  </a:cubicBezTo>
                  <a:cubicBezTo>
                    <a:pt x="2390" y="1617"/>
                    <a:pt x="2403" y="1603"/>
                    <a:pt x="2403" y="1603"/>
                  </a:cubicBezTo>
                  <a:cubicBezTo>
                    <a:pt x="2388" y="1594"/>
                    <a:pt x="2388" y="1594"/>
                    <a:pt x="2388" y="1594"/>
                  </a:cubicBezTo>
                  <a:cubicBezTo>
                    <a:pt x="2388" y="1594"/>
                    <a:pt x="2409" y="1602"/>
                    <a:pt x="2414" y="1597"/>
                  </a:cubicBezTo>
                  <a:cubicBezTo>
                    <a:pt x="2419" y="1592"/>
                    <a:pt x="2469" y="1559"/>
                    <a:pt x="2481" y="1550"/>
                  </a:cubicBezTo>
                  <a:cubicBezTo>
                    <a:pt x="2493" y="1541"/>
                    <a:pt x="2531" y="1535"/>
                    <a:pt x="2535" y="1537"/>
                  </a:cubicBezTo>
                  <a:cubicBezTo>
                    <a:pt x="2539" y="1539"/>
                    <a:pt x="2561" y="1501"/>
                    <a:pt x="2591" y="1496"/>
                  </a:cubicBezTo>
                  <a:cubicBezTo>
                    <a:pt x="2621" y="1491"/>
                    <a:pt x="2697" y="1487"/>
                    <a:pt x="2713" y="1487"/>
                  </a:cubicBezTo>
                  <a:cubicBezTo>
                    <a:pt x="2729" y="1487"/>
                    <a:pt x="2788" y="1504"/>
                    <a:pt x="2798" y="1502"/>
                  </a:cubicBezTo>
                  <a:cubicBezTo>
                    <a:pt x="2808" y="1500"/>
                    <a:pt x="2829" y="1489"/>
                    <a:pt x="2839" y="1488"/>
                  </a:cubicBezTo>
                  <a:cubicBezTo>
                    <a:pt x="2849" y="1487"/>
                    <a:pt x="2880" y="1482"/>
                    <a:pt x="2892" y="1473"/>
                  </a:cubicBezTo>
                  <a:cubicBezTo>
                    <a:pt x="2904" y="1464"/>
                    <a:pt x="2930" y="1439"/>
                    <a:pt x="2940" y="1437"/>
                  </a:cubicBezTo>
                  <a:cubicBezTo>
                    <a:pt x="2950" y="1435"/>
                    <a:pt x="2967" y="1436"/>
                    <a:pt x="2967" y="1436"/>
                  </a:cubicBezTo>
                  <a:cubicBezTo>
                    <a:pt x="2967" y="1436"/>
                    <a:pt x="2980" y="1424"/>
                    <a:pt x="2990" y="1424"/>
                  </a:cubicBezTo>
                  <a:cubicBezTo>
                    <a:pt x="3000" y="1424"/>
                    <a:pt x="3001" y="1429"/>
                    <a:pt x="3018" y="1421"/>
                  </a:cubicBezTo>
                  <a:cubicBezTo>
                    <a:pt x="3018" y="1421"/>
                    <a:pt x="3083" y="1404"/>
                    <a:pt x="3077" y="1394"/>
                  </a:cubicBezTo>
                  <a:cubicBezTo>
                    <a:pt x="3071" y="1384"/>
                    <a:pt x="3052" y="1371"/>
                    <a:pt x="3052" y="1371"/>
                  </a:cubicBezTo>
                  <a:cubicBezTo>
                    <a:pt x="3052" y="1371"/>
                    <a:pt x="3076" y="1373"/>
                    <a:pt x="3076" y="1364"/>
                  </a:cubicBezTo>
                  <a:cubicBezTo>
                    <a:pt x="3076" y="1355"/>
                    <a:pt x="3072" y="1343"/>
                    <a:pt x="3072" y="1343"/>
                  </a:cubicBezTo>
                  <a:cubicBezTo>
                    <a:pt x="3072" y="1343"/>
                    <a:pt x="3100" y="1347"/>
                    <a:pt x="3094" y="1331"/>
                  </a:cubicBezTo>
                  <a:cubicBezTo>
                    <a:pt x="3088" y="1315"/>
                    <a:pt x="3065" y="1304"/>
                    <a:pt x="3058" y="1312"/>
                  </a:cubicBezTo>
                  <a:close/>
                  <a:moveTo>
                    <a:pt x="969" y="735"/>
                  </a:moveTo>
                  <a:cubicBezTo>
                    <a:pt x="976" y="730"/>
                    <a:pt x="1004" y="720"/>
                    <a:pt x="1004" y="720"/>
                  </a:cubicBezTo>
                  <a:cubicBezTo>
                    <a:pt x="1004" y="720"/>
                    <a:pt x="999" y="712"/>
                    <a:pt x="1005" y="709"/>
                  </a:cubicBezTo>
                  <a:cubicBezTo>
                    <a:pt x="1011" y="706"/>
                    <a:pt x="1029" y="715"/>
                    <a:pt x="1051" y="709"/>
                  </a:cubicBezTo>
                  <a:cubicBezTo>
                    <a:pt x="1073" y="703"/>
                    <a:pt x="1053" y="691"/>
                    <a:pt x="1034" y="691"/>
                  </a:cubicBezTo>
                  <a:cubicBezTo>
                    <a:pt x="1015" y="691"/>
                    <a:pt x="1010" y="698"/>
                    <a:pt x="999" y="703"/>
                  </a:cubicBezTo>
                  <a:cubicBezTo>
                    <a:pt x="988" y="708"/>
                    <a:pt x="989" y="698"/>
                    <a:pt x="989" y="698"/>
                  </a:cubicBezTo>
                  <a:cubicBezTo>
                    <a:pt x="977" y="703"/>
                    <a:pt x="977" y="703"/>
                    <a:pt x="977" y="703"/>
                  </a:cubicBezTo>
                  <a:cubicBezTo>
                    <a:pt x="954" y="700"/>
                    <a:pt x="954" y="700"/>
                    <a:pt x="954" y="700"/>
                  </a:cubicBezTo>
                  <a:cubicBezTo>
                    <a:pt x="954" y="700"/>
                    <a:pt x="933" y="710"/>
                    <a:pt x="924" y="707"/>
                  </a:cubicBezTo>
                  <a:cubicBezTo>
                    <a:pt x="915" y="704"/>
                    <a:pt x="950" y="694"/>
                    <a:pt x="960" y="689"/>
                  </a:cubicBezTo>
                  <a:cubicBezTo>
                    <a:pt x="970" y="684"/>
                    <a:pt x="979" y="690"/>
                    <a:pt x="992" y="690"/>
                  </a:cubicBezTo>
                  <a:cubicBezTo>
                    <a:pt x="1005" y="690"/>
                    <a:pt x="1001" y="681"/>
                    <a:pt x="1001" y="681"/>
                  </a:cubicBezTo>
                  <a:cubicBezTo>
                    <a:pt x="1071" y="676"/>
                    <a:pt x="1071" y="676"/>
                    <a:pt x="1071" y="676"/>
                  </a:cubicBezTo>
                  <a:cubicBezTo>
                    <a:pt x="1071" y="676"/>
                    <a:pt x="1106" y="666"/>
                    <a:pt x="1119" y="664"/>
                  </a:cubicBezTo>
                  <a:cubicBezTo>
                    <a:pt x="1132" y="662"/>
                    <a:pt x="1140" y="669"/>
                    <a:pt x="1140" y="669"/>
                  </a:cubicBezTo>
                  <a:cubicBezTo>
                    <a:pt x="1140" y="669"/>
                    <a:pt x="1143" y="663"/>
                    <a:pt x="1150" y="660"/>
                  </a:cubicBezTo>
                  <a:cubicBezTo>
                    <a:pt x="1157" y="657"/>
                    <a:pt x="1179" y="667"/>
                    <a:pt x="1179" y="667"/>
                  </a:cubicBezTo>
                  <a:cubicBezTo>
                    <a:pt x="1179" y="667"/>
                    <a:pt x="1157" y="673"/>
                    <a:pt x="1149" y="677"/>
                  </a:cubicBezTo>
                  <a:cubicBezTo>
                    <a:pt x="1141" y="681"/>
                    <a:pt x="1107" y="683"/>
                    <a:pt x="1107" y="683"/>
                  </a:cubicBezTo>
                  <a:cubicBezTo>
                    <a:pt x="1105" y="691"/>
                    <a:pt x="1105" y="691"/>
                    <a:pt x="1105" y="691"/>
                  </a:cubicBezTo>
                  <a:cubicBezTo>
                    <a:pt x="1123" y="691"/>
                    <a:pt x="1123" y="691"/>
                    <a:pt x="1123" y="691"/>
                  </a:cubicBezTo>
                  <a:cubicBezTo>
                    <a:pt x="1123" y="691"/>
                    <a:pt x="1134" y="694"/>
                    <a:pt x="1138" y="694"/>
                  </a:cubicBezTo>
                  <a:cubicBezTo>
                    <a:pt x="1142" y="694"/>
                    <a:pt x="1168" y="691"/>
                    <a:pt x="1182" y="690"/>
                  </a:cubicBezTo>
                  <a:cubicBezTo>
                    <a:pt x="1196" y="689"/>
                    <a:pt x="1176" y="680"/>
                    <a:pt x="1176" y="680"/>
                  </a:cubicBezTo>
                  <a:cubicBezTo>
                    <a:pt x="1213" y="679"/>
                    <a:pt x="1213" y="679"/>
                    <a:pt x="1213" y="679"/>
                  </a:cubicBezTo>
                  <a:cubicBezTo>
                    <a:pt x="1213" y="679"/>
                    <a:pt x="1208" y="692"/>
                    <a:pt x="1189" y="698"/>
                  </a:cubicBezTo>
                  <a:cubicBezTo>
                    <a:pt x="1170" y="704"/>
                    <a:pt x="1158" y="711"/>
                    <a:pt x="1158" y="711"/>
                  </a:cubicBezTo>
                  <a:cubicBezTo>
                    <a:pt x="1158" y="711"/>
                    <a:pt x="1157" y="723"/>
                    <a:pt x="1149" y="725"/>
                  </a:cubicBezTo>
                  <a:cubicBezTo>
                    <a:pt x="1141" y="727"/>
                    <a:pt x="1119" y="716"/>
                    <a:pt x="1119" y="716"/>
                  </a:cubicBezTo>
                  <a:cubicBezTo>
                    <a:pt x="1114" y="723"/>
                    <a:pt x="1114" y="723"/>
                    <a:pt x="1114" y="723"/>
                  </a:cubicBezTo>
                  <a:cubicBezTo>
                    <a:pt x="1104" y="714"/>
                    <a:pt x="1104" y="714"/>
                    <a:pt x="1104" y="714"/>
                  </a:cubicBezTo>
                  <a:cubicBezTo>
                    <a:pt x="1094" y="724"/>
                    <a:pt x="1094" y="724"/>
                    <a:pt x="1094" y="724"/>
                  </a:cubicBezTo>
                  <a:cubicBezTo>
                    <a:pt x="1094" y="724"/>
                    <a:pt x="1086" y="718"/>
                    <a:pt x="1080" y="725"/>
                  </a:cubicBezTo>
                  <a:cubicBezTo>
                    <a:pt x="1074" y="732"/>
                    <a:pt x="1086" y="738"/>
                    <a:pt x="1086" y="738"/>
                  </a:cubicBezTo>
                  <a:cubicBezTo>
                    <a:pt x="1065" y="741"/>
                    <a:pt x="1065" y="741"/>
                    <a:pt x="1065" y="741"/>
                  </a:cubicBezTo>
                  <a:cubicBezTo>
                    <a:pt x="1065" y="741"/>
                    <a:pt x="1050" y="751"/>
                    <a:pt x="1047" y="751"/>
                  </a:cubicBezTo>
                  <a:cubicBezTo>
                    <a:pt x="1044" y="751"/>
                    <a:pt x="1001" y="764"/>
                    <a:pt x="990" y="760"/>
                  </a:cubicBezTo>
                  <a:cubicBezTo>
                    <a:pt x="979" y="756"/>
                    <a:pt x="1018" y="749"/>
                    <a:pt x="1033" y="746"/>
                  </a:cubicBezTo>
                  <a:cubicBezTo>
                    <a:pt x="1048" y="743"/>
                    <a:pt x="1070" y="726"/>
                    <a:pt x="1057" y="724"/>
                  </a:cubicBezTo>
                  <a:cubicBezTo>
                    <a:pt x="1044" y="722"/>
                    <a:pt x="992" y="751"/>
                    <a:pt x="979" y="753"/>
                  </a:cubicBezTo>
                  <a:cubicBezTo>
                    <a:pt x="966" y="755"/>
                    <a:pt x="940" y="751"/>
                    <a:pt x="931" y="746"/>
                  </a:cubicBezTo>
                  <a:cubicBezTo>
                    <a:pt x="922" y="741"/>
                    <a:pt x="962" y="740"/>
                    <a:pt x="969" y="735"/>
                  </a:cubicBezTo>
                  <a:close/>
                  <a:moveTo>
                    <a:pt x="1324" y="872"/>
                  </a:moveTo>
                  <a:cubicBezTo>
                    <a:pt x="1324" y="869"/>
                    <a:pt x="1312" y="855"/>
                    <a:pt x="1308" y="862"/>
                  </a:cubicBezTo>
                  <a:cubicBezTo>
                    <a:pt x="1304" y="869"/>
                    <a:pt x="1305" y="876"/>
                    <a:pt x="1305" y="876"/>
                  </a:cubicBezTo>
                  <a:cubicBezTo>
                    <a:pt x="1305" y="876"/>
                    <a:pt x="1291" y="868"/>
                    <a:pt x="1285" y="870"/>
                  </a:cubicBezTo>
                  <a:cubicBezTo>
                    <a:pt x="1279" y="872"/>
                    <a:pt x="1283" y="879"/>
                    <a:pt x="1283" y="879"/>
                  </a:cubicBezTo>
                  <a:cubicBezTo>
                    <a:pt x="1266" y="881"/>
                    <a:pt x="1266" y="881"/>
                    <a:pt x="1266" y="881"/>
                  </a:cubicBezTo>
                  <a:cubicBezTo>
                    <a:pt x="1266" y="881"/>
                    <a:pt x="1254" y="877"/>
                    <a:pt x="1239" y="887"/>
                  </a:cubicBezTo>
                  <a:cubicBezTo>
                    <a:pt x="1224" y="897"/>
                    <a:pt x="1195" y="916"/>
                    <a:pt x="1181" y="919"/>
                  </a:cubicBezTo>
                  <a:cubicBezTo>
                    <a:pt x="1167" y="922"/>
                    <a:pt x="1147" y="928"/>
                    <a:pt x="1147" y="928"/>
                  </a:cubicBezTo>
                  <a:cubicBezTo>
                    <a:pt x="1147" y="928"/>
                    <a:pt x="1116" y="920"/>
                    <a:pt x="1108" y="928"/>
                  </a:cubicBezTo>
                  <a:cubicBezTo>
                    <a:pt x="1100" y="936"/>
                    <a:pt x="1094" y="947"/>
                    <a:pt x="1094" y="947"/>
                  </a:cubicBezTo>
                  <a:cubicBezTo>
                    <a:pt x="1065" y="947"/>
                    <a:pt x="1065" y="947"/>
                    <a:pt x="1065" y="947"/>
                  </a:cubicBezTo>
                  <a:cubicBezTo>
                    <a:pt x="1059" y="953"/>
                    <a:pt x="1059" y="953"/>
                    <a:pt x="1059" y="953"/>
                  </a:cubicBezTo>
                  <a:cubicBezTo>
                    <a:pt x="1059" y="953"/>
                    <a:pt x="1045" y="950"/>
                    <a:pt x="1038" y="952"/>
                  </a:cubicBezTo>
                  <a:cubicBezTo>
                    <a:pt x="1031" y="954"/>
                    <a:pt x="1012" y="957"/>
                    <a:pt x="1005" y="956"/>
                  </a:cubicBezTo>
                  <a:cubicBezTo>
                    <a:pt x="998" y="955"/>
                    <a:pt x="987" y="947"/>
                    <a:pt x="984" y="948"/>
                  </a:cubicBezTo>
                  <a:cubicBezTo>
                    <a:pt x="981" y="949"/>
                    <a:pt x="963" y="946"/>
                    <a:pt x="963" y="942"/>
                  </a:cubicBezTo>
                  <a:cubicBezTo>
                    <a:pt x="963" y="938"/>
                    <a:pt x="985" y="939"/>
                    <a:pt x="985" y="939"/>
                  </a:cubicBezTo>
                  <a:cubicBezTo>
                    <a:pt x="985" y="939"/>
                    <a:pt x="994" y="929"/>
                    <a:pt x="997" y="929"/>
                  </a:cubicBezTo>
                  <a:cubicBezTo>
                    <a:pt x="1000" y="929"/>
                    <a:pt x="1008" y="937"/>
                    <a:pt x="1018" y="937"/>
                  </a:cubicBezTo>
                  <a:cubicBezTo>
                    <a:pt x="1028" y="937"/>
                    <a:pt x="1028" y="929"/>
                    <a:pt x="1028" y="929"/>
                  </a:cubicBezTo>
                  <a:cubicBezTo>
                    <a:pt x="1039" y="929"/>
                    <a:pt x="1039" y="929"/>
                    <a:pt x="1039" y="929"/>
                  </a:cubicBezTo>
                  <a:cubicBezTo>
                    <a:pt x="1039" y="929"/>
                    <a:pt x="1049" y="911"/>
                    <a:pt x="1059" y="910"/>
                  </a:cubicBezTo>
                  <a:cubicBezTo>
                    <a:pt x="1069" y="909"/>
                    <a:pt x="1072" y="918"/>
                    <a:pt x="1090" y="911"/>
                  </a:cubicBezTo>
                  <a:cubicBezTo>
                    <a:pt x="1108" y="904"/>
                    <a:pt x="1093" y="882"/>
                    <a:pt x="1093" y="882"/>
                  </a:cubicBezTo>
                  <a:cubicBezTo>
                    <a:pt x="1093" y="882"/>
                    <a:pt x="1071" y="868"/>
                    <a:pt x="1085" y="862"/>
                  </a:cubicBezTo>
                  <a:cubicBezTo>
                    <a:pt x="1091" y="859"/>
                    <a:pt x="1099" y="872"/>
                    <a:pt x="1099" y="872"/>
                  </a:cubicBezTo>
                  <a:cubicBezTo>
                    <a:pt x="1107" y="871"/>
                    <a:pt x="1107" y="871"/>
                    <a:pt x="1107" y="871"/>
                  </a:cubicBezTo>
                  <a:cubicBezTo>
                    <a:pt x="1119" y="882"/>
                    <a:pt x="1119" y="882"/>
                    <a:pt x="1119" y="882"/>
                  </a:cubicBezTo>
                  <a:cubicBezTo>
                    <a:pt x="1119" y="882"/>
                    <a:pt x="1133" y="881"/>
                    <a:pt x="1137" y="884"/>
                  </a:cubicBezTo>
                  <a:cubicBezTo>
                    <a:pt x="1141" y="887"/>
                    <a:pt x="1130" y="902"/>
                    <a:pt x="1153" y="901"/>
                  </a:cubicBezTo>
                  <a:cubicBezTo>
                    <a:pt x="1176" y="900"/>
                    <a:pt x="1176" y="895"/>
                    <a:pt x="1176" y="895"/>
                  </a:cubicBezTo>
                  <a:cubicBezTo>
                    <a:pt x="1187" y="896"/>
                    <a:pt x="1187" y="896"/>
                    <a:pt x="1187" y="896"/>
                  </a:cubicBezTo>
                  <a:cubicBezTo>
                    <a:pt x="1187" y="896"/>
                    <a:pt x="1227" y="880"/>
                    <a:pt x="1241" y="871"/>
                  </a:cubicBezTo>
                  <a:cubicBezTo>
                    <a:pt x="1255" y="862"/>
                    <a:pt x="1277" y="855"/>
                    <a:pt x="1295" y="854"/>
                  </a:cubicBezTo>
                  <a:cubicBezTo>
                    <a:pt x="1313" y="853"/>
                    <a:pt x="1351" y="857"/>
                    <a:pt x="1348" y="861"/>
                  </a:cubicBezTo>
                  <a:cubicBezTo>
                    <a:pt x="1345" y="865"/>
                    <a:pt x="1324" y="875"/>
                    <a:pt x="1324" y="872"/>
                  </a:cubicBezTo>
                  <a:close/>
                  <a:moveTo>
                    <a:pt x="1405" y="1355"/>
                  </a:moveTo>
                  <a:cubicBezTo>
                    <a:pt x="1405" y="1355"/>
                    <a:pt x="1402" y="1384"/>
                    <a:pt x="1403" y="1393"/>
                  </a:cubicBezTo>
                  <a:cubicBezTo>
                    <a:pt x="1404" y="1402"/>
                    <a:pt x="1399" y="1411"/>
                    <a:pt x="1396" y="1416"/>
                  </a:cubicBezTo>
                  <a:cubicBezTo>
                    <a:pt x="1393" y="1421"/>
                    <a:pt x="1400" y="1422"/>
                    <a:pt x="1403" y="1433"/>
                  </a:cubicBezTo>
                  <a:cubicBezTo>
                    <a:pt x="1406" y="1444"/>
                    <a:pt x="1382" y="1471"/>
                    <a:pt x="1382" y="1471"/>
                  </a:cubicBezTo>
                  <a:cubicBezTo>
                    <a:pt x="1368" y="1466"/>
                    <a:pt x="1368" y="1466"/>
                    <a:pt x="1368" y="1466"/>
                  </a:cubicBezTo>
                  <a:cubicBezTo>
                    <a:pt x="1368" y="1466"/>
                    <a:pt x="1365" y="1485"/>
                    <a:pt x="1348" y="1482"/>
                  </a:cubicBezTo>
                  <a:cubicBezTo>
                    <a:pt x="1331" y="1479"/>
                    <a:pt x="1387" y="1431"/>
                    <a:pt x="1387" y="1419"/>
                  </a:cubicBezTo>
                  <a:cubicBezTo>
                    <a:pt x="1387" y="1407"/>
                    <a:pt x="1366" y="1427"/>
                    <a:pt x="1366" y="1427"/>
                  </a:cubicBezTo>
                  <a:cubicBezTo>
                    <a:pt x="1379" y="1406"/>
                    <a:pt x="1379" y="1406"/>
                    <a:pt x="1379" y="1406"/>
                  </a:cubicBezTo>
                  <a:cubicBezTo>
                    <a:pt x="1379" y="1406"/>
                    <a:pt x="1383" y="1393"/>
                    <a:pt x="1372" y="1390"/>
                  </a:cubicBezTo>
                  <a:cubicBezTo>
                    <a:pt x="1361" y="1387"/>
                    <a:pt x="1367" y="1407"/>
                    <a:pt x="1354" y="1407"/>
                  </a:cubicBezTo>
                  <a:cubicBezTo>
                    <a:pt x="1341" y="1407"/>
                    <a:pt x="1351" y="1376"/>
                    <a:pt x="1351" y="1376"/>
                  </a:cubicBezTo>
                  <a:cubicBezTo>
                    <a:pt x="1351" y="1376"/>
                    <a:pt x="1345" y="1370"/>
                    <a:pt x="1343" y="1361"/>
                  </a:cubicBezTo>
                  <a:cubicBezTo>
                    <a:pt x="1341" y="1352"/>
                    <a:pt x="1365" y="1352"/>
                    <a:pt x="1367" y="1346"/>
                  </a:cubicBezTo>
                  <a:cubicBezTo>
                    <a:pt x="1369" y="1340"/>
                    <a:pt x="1347" y="1349"/>
                    <a:pt x="1343" y="1340"/>
                  </a:cubicBezTo>
                  <a:cubicBezTo>
                    <a:pt x="1342" y="1338"/>
                    <a:pt x="1372" y="1307"/>
                    <a:pt x="1382" y="1303"/>
                  </a:cubicBezTo>
                  <a:cubicBezTo>
                    <a:pt x="1392" y="1299"/>
                    <a:pt x="1391" y="1306"/>
                    <a:pt x="1395" y="1307"/>
                  </a:cubicBezTo>
                  <a:cubicBezTo>
                    <a:pt x="1399" y="1308"/>
                    <a:pt x="1410" y="1305"/>
                    <a:pt x="1418" y="1322"/>
                  </a:cubicBezTo>
                  <a:cubicBezTo>
                    <a:pt x="1426" y="1339"/>
                    <a:pt x="1405" y="1355"/>
                    <a:pt x="1405" y="1355"/>
                  </a:cubicBezTo>
                  <a:close/>
                  <a:moveTo>
                    <a:pt x="156" y="1459"/>
                  </a:moveTo>
                  <a:cubicBezTo>
                    <a:pt x="146" y="1456"/>
                    <a:pt x="147" y="1473"/>
                    <a:pt x="147" y="1473"/>
                  </a:cubicBezTo>
                  <a:cubicBezTo>
                    <a:pt x="155" y="1473"/>
                    <a:pt x="166" y="1462"/>
                    <a:pt x="156" y="1459"/>
                  </a:cubicBezTo>
                  <a:close/>
                  <a:moveTo>
                    <a:pt x="2216" y="1197"/>
                  </a:moveTo>
                  <a:cubicBezTo>
                    <a:pt x="2248" y="1196"/>
                    <a:pt x="2259" y="1170"/>
                    <a:pt x="2228" y="1170"/>
                  </a:cubicBezTo>
                  <a:cubicBezTo>
                    <a:pt x="2196" y="1171"/>
                    <a:pt x="2216" y="1197"/>
                    <a:pt x="2216" y="1197"/>
                  </a:cubicBezTo>
                  <a:close/>
                  <a:moveTo>
                    <a:pt x="2456" y="825"/>
                  </a:moveTo>
                  <a:cubicBezTo>
                    <a:pt x="2456" y="825"/>
                    <a:pt x="2433" y="822"/>
                    <a:pt x="2423" y="814"/>
                  </a:cubicBezTo>
                  <a:cubicBezTo>
                    <a:pt x="2413" y="806"/>
                    <a:pt x="2418" y="785"/>
                    <a:pt x="2418" y="785"/>
                  </a:cubicBezTo>
                  <a:cubicBezTo>
                    <a:pt x="2397" y="769"/>
                    <a:pt x="2397" y="769"/>
                    <a:pt x="2397" y="769"/>
                  </a:cubicBezTo>
                  <a:cubicBezTo>
                    <a:pt x="2370" y="772"/>
                    <a:pt x="2370" y="772"/>
                    <a:pt x="2370" y="772"/>
                  </a:cubicBezTo>
                  <a:cubicBezTo>
                    <a:pt x="2366" y="763"/>
                    <a:pt x="2366" y="763"/>
                    <a:pt x="2366" y="763"/>
                  </a:cubicBezTo>
                  <a:cubicBezTo>
                    <a:pt x="2353" y="741"/>
                    <a:pt x="2353" y="741"/>
                    <a:pt x="2353" y="741"/>
                  </a:cubicBezTo>
                  <a:cubicBezTo>
                    <a:pt x="2330" y="745"/>
                    <a:pt x="2330" y="745"/>
                    <a:pt x="2330" y="745"/>
                  </a:cubicBezTo>
                  <a:cubicBezTo>
                    <a:pt x="2317" y="738"/>
                    <a:pt x="2317" y="738"/>
                    <a:pt x="2317" y="738"/>
                  </a:cubicBezTo>
                  <a:cubicBezTo>
                    <a:pt x="2329" y="727"/>
                    <a:pt x="2329" y="727"/>
                    <a:pt x="2329" y="727"/>
                  </a:cubicBezTo>
                  <a:cubicBezTo>
                    <a:pt x="2327" y="710"/>
                    <a:pt x="2327" y="710"/>
                    <a:pt x="2327" y="710"/>
                  </a:cubicBezTo>
                  <a:cubicBezTo>
                    <a:pt x="2293" y="728"/>
                    <a:pt x="2293" y="728"/>
                    <a:pt x="2293" y="728"/>
                  </a:cubicBezTo>
                  <a:cubicBezTo>
                    <a:pt x="2276" y="736"/>
                    <a:pt x="2276" y="736"/>
                    <a:pt x="2276" y="736"/>
                  </a:cubicBezTo>
                  <a:cubicBezTo>
                    <a:pt x="2257" y="764"/>
                    <a:pt x="2257" y="764"/>
                    <a:pt x="2257" y="764"/>
                  </a:cubicBezTo>
                  <a:cubicBezTo>
                    <a:pt x="2257" y="764"/>
                    <a:pt x="2226" y="771"/>
                    <a:pt x="2224" y="777"/>
                  </a:cubicBezTo>
                  <a:cubicBezTo>
                    <a:pt x="2222" y="783"/>
                    <a:pt x="2234" y="790"/>
                    <a:pt x="2224" y="793"/>
                  </a:cubicBezTo>
                  <a:cubicBezTo>
                    <a:pt x="2215" y="797"/>
                    <a:pt x="2186" y="807"/>
                    <a:pt x="2186" y="807"/>
                  </a:cubicBezTo>
                  <a:cubicBezTo>
                    <a:pt x="2203" y="815"/>
                    <a:pt x="2203" y="815"/>
                    <a:pt x="2203" y="815"/>
                  </a:cubicBezTo>
                  <a:cubicBezTo>
                    <a:pt x="2203" y="815"/>
                    <a:pt x="2230" y="811"/>
                    <a:pt x="2231" y="814"/>
                  </a:cubicBezTo>
                  <a:cubicBezTo>
                    <a:pt x="2231" y="817"/>
                    <a:pt x="2225" y="822"/>
                    <a:pt x="2225" y="833"/>
                  </a:cubicBezTo>
                  <a:cubicBezTo>
                    <a:pt x="2225" y="844"/>
                    <a:pt x="2268" y="845"/>
                    <a:pt x="2287" y="835"/>
                  </a:cubicBezTo>
                  <a:cubicBezTo>
                    <a:pt x="2306" y="826"/>
                    <a:pt x="2296" y="808"/>
                    <a:pt x="2324" y="809"/>
                  </a:cubicBezTo>
                  <a:cubicBezTo>
                    <a:pt x="2351" y="809"/>
                    <a:pt x="2355" y="818"/>
                    <a:pt x="2355" y="818"/>
                  </a:cubicBezTo>
                  <a:cubicBezTo>
                    <a:pt x="2386" y="823"/>
                    <a:pt x="2386" y="823"/>
                    <a:pt x="2386" y="823"/>
                  </a:cubicBezTo>
                  <a:cubicBezTo>
                    <a:pt x="2390" y="834"/>
                    <a:pt x="2390" y="834"/>
                    <a:pt x="2390" y="834"/>
                  </a:cubicBezTo>
                  <a:cubicBezTo>
                    <a:pt x="2452" y="838"/>
                    <a:pt x="2452" y="838"/>
                    <a:pt x="2452" y="838"/>
                  </a:cubicBezTo>
                  <a:lnTo>
                    <a:pt x="2456" y="825"/>
                  </a:lnTo>
                  <a:close/>
                  <a:moveTo>
                    <a:pt x="2393" y="886"/>
                  </a:moveTo>
                  <a:cubicBezTo>
                    <a:pt x="2352" y="899"/>
                    <a:pt x="2393" y="913"/>
                    <a:pt x="2393" y="913"/>
                  </a:cubicBezTo>
                  <a:cubicBezTo>
                    <a:pt x="2415" y="897"/>
                    <a:pt x="2434" y="872"/>
                    <a:pt x="2393" y="886"/>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549" name="Freeform 341">
              <a:extLst>
                <a:ext uri="{FF2B5EF4-FFF2-40B4-BE49-F238E27FC236}">
                  <a16:creationId xmlns:a16="http://schemas.microsoft.com/office/drawing/2014/main" id="{BA5517DC-6234-403E-BE88-797983E84F3B}"/>
                </a:ext>
              </a:extLst>
            </p:cNvPr>
            <p:cNvSpPr>
              <a:spLocks/>
            </p:cNvSpPr>
            <p:nvPr/>
          </p:nvSpPr>
          <p:spPr bwMode="gray">
            <a:xfrm>
              <a:off x="2137717" y="2687193"/>
              <a:ext cx="427279" cy="636912"/>
            </a:xfrm>
            <a:custGeom>
              <a:avLst/>
              <a:gdLst>
                <a:gd name="T0" fmla="*/ 604 w 630"/>
                <a:gd name="T1" fmla="*/ 869 h 993"/>
                <a:gd name="T2" fmla="*/ 575 w 630"/>
                <a:gd name="T3" fmla="*/ 854 h 993"/>
                <a:gd name="T4" fmla="*/ 581 w 630"/>
                <a:gd name="T5" fmla="*/ 821 h 993"/>
                <a:gd name="T6" fmla="*/ 607 w 630"/>
                <a:gd name="T7" fmla="*/ 835 h 993"/>
                <a:gd name="T8" fmla="*/ 603 w 630"/>
                <a:gd name="T9" fmla="*/ 799 h 993"/>
                <a:gd name="T10" fmla="*/ 605 w 630"/>
                <a:gd name="T11" fmla="*/ 744 h 993"/>
                <a:gd name="T12" fmla="*/ 609 w 630"/>
                <a:gd name="T13" fmla="*/ 694 h 993"/>
                <a:gd name="T14" fmla="*/ 597 w 630"/>
                <a:gd name="T15" fmla="*/ 632 h 993"/>
                <a:gd name="T16" fmla="*/ 556 w 630"/>
                <a:gd name="T17" fmla="*/ 590 h 993"/>
                <a:gd name="T18" fmla="*/ 533 w 630"/>
                <a:gd name="T19" fmla="*/ 591 h 993"/>
                <a:gd name="T20" fmla="*/ 523 w 630"/>
                <a:gd name="T21" fmla="*/ 562 h 993"/>
                <a:gd name="T22" fmla="*/ 525 w 630"/>
                <a:gd name="T23" fmla="*/ 507 h 993"/>
                <a:gd name="T24" fmla="*/ 449 w 630"/>
                <a:gd name="T25" fmla="*/ 541 h 993"/>
                <a:gd name="T26" fmla="*/ 399 w 630"/>
                <a:gd name="T27" fmla="*/ 509 h 993"/>
                <a:gd name="T28" fmla="*/ 391 w 630"/>
                <a:gd name="T29" fmla="*/ 465 h 993"/>
                <a:gd name="T30" fmla="*/ 371 w 630"/>
                <a:gd name="T31" fmla="*/ 420 h 993"/>
                <a:gd name="T32" fmla="*/ 371 w 630"/>
                <a:gd name="T33" fmla="*/ 396 h 993"/>
                <a:gd name="T34" fmla="*/ 368 w 630"/>
                <a:gd name="T35" fmla="*/ 370 h 993"/>
                <a:gd name="T36" fmla="*/ 389 w 630"/>
                <a:gd name="T37" fmla="*/ 331 h 993"/>
                <a:gd name="T38" fmla="*/ 403 w 630"/>
                <a:gd name="T39" fmla="*/ 277 h 993"/>
                <a:gd name="T40" fmla="*/ 422 w 630"/>
                <a:gd name="T41" fmla="*/ 265 h 993"/>
                <a:gd name="T42" fmla="*/ 471 w 630"/>
                <a:gd name="T43" fmla="*/ 244 h 993"/>
                <a:gd name="T44" fmla="*/ 492 w 630"/>
                <a:gd name="T45" fmla="*/ 240 h 993"/>
                <a:gd name="T46" fmla="*/ 527 w 630"/>
                <a:gd name="T47" fmla="*/ 236 h 993"/>
                <a:gd name="T48" fmla="*/ 543 w 630"/>
                <a:gd name="T49" fmla="*/ 227 h 993"/>
                <a:gd name="T50" fmla="*/ 526 w 630"/>
                <a:gd name="T51" fmla="*/ 207 h 993"/>
                <a:gd name="T52" fmla="*/ 520 w 630"/>
                <a:gd name="T53" fmla="*/ 171 h 993"/>
                <a:gd name="T54" fmla="*/ 505 w 630"/>
                <a:gd name="T55" fmla="*/ 135 h 993"/>
                <a:gd name="T56" fmla="*/ 472 w 630"/>
                <a:gd name="T57" fmla="*/ 130 h 993"/>
                <a:gd name="T58" fmla="*/ 434 w 630"/>
                <a:gd name="T59" fmla="*/ 138 h 993"/>
                <a:gd name="T60" fmla="*/ 388 w 630"/>
                <a:gd name="T61" fmla="*/ 106 h 993"/>
                <a:gd name="T62" fmla="*/ 364 w 630"/>
                <a:gd name="T63" fmla="*/ 73 h 993"/>
                <a:gd name="T64" fmla="*/ 343 w 630"/>
                <a:gd name="T65" fmla="*/ 57 h 993"/>
                <a:gd name="T66" fmla="*/ 327 w 630"/>
                <a:gd name="T67" fmla="*/ 33 h 993"/>
                <a:gd name="T68" fmla="*/ 264 w 630"/>
                <a:gd name="T69" fmla="*/ 0 h 993"/>
                <a:gd name="T70" fmla="*/ 278 w 630"/>
                <a:gd name="T71" fmla="*/ 1 h 993"/>
                <a:gd name="T72" fmla="*/ 284 w 630"/>
                <a:gd name="T73" fmla="*/ 31 h 993"/>
                <a:gd name="T74" fmla="*/ 277 w 630"/>
                <a:gd name="T75" fmla="*/ 58 h 993"/>
                <a:gd name="T76" fmla="*/ 218 w 630"/>
                <a:gd name="T77" fmla="*/ 143 h 993"/>
                <a:gd name="T78" fmla="*/ 147 w 630"/>
                <a:gd name="T79" fmla="*/ 186 h 993"/>
                <a:gd name="T80" fmla="*/ 142 w 630"/>
                <a:gd name="T81" fmla="*/ 201 h 993"/>
                <a:gd name="T82" fmla="*/ 128 w 630"/>
                <a:gd name="T83" fmla="*/ 252 h 993"/>
                <a:gd name="T84" fmla="*/ 103 w 630"/>
                <a:gd name="T85" fmla="*/ 270 h 993"/>
                <a:gd name="T86" fmla="*/ 69 w 630"/>
                <a:gd name="T87" fmla="*/ 243 h 993"/>
                <a:gd name="T88" fmla="*/ 40 w 630"/>
                <a:gd name="T89" fmla="*/ 246 h 993"/>
                <a:gd name="T90" fmla="*/ 37 w 630"/>
                <a:gd name="T91" fmla="*/ 224 h 993"/>
                <a:gd name="T92" fmla="*/ 43 w 630"/>
                <a:gd name="T93" fmla="*/ 188 h 993"/>
                <a:gd name="T94" fmla="*/ 0 w 630"/>
                <a:gd name="T95" fmla="*/ 254 h 993"/>
                <a:gd name="T96" fmla="*/ 9 w 630"/>
                <a:gd name="T97" fmla="*/ 282 h 993"/>
                <a:gd name="T98" fmla="*/ 8 w 630"/>
                <a:gd name="T99" fmla="*/ 331 h 993"/>
                <a:gd name="T100" fmla="*/ 85 w 630"/>
                <a:gd name="T101" fmla="*/ 394 h 993"/>
                <a:gd name="T102" fmla="*/ 126 w 630"/>
                <a:gd name="T103" fmla="*/ 462 h 993"/>
                <a:gd name="T104" fmla="*/ 169 w 630"/>
                <a:gd name="T105" fmla="*/ 547 h 993"/>
                <a:gd name="T106" fmla="*/ 214 w 630"/>
                <a:gd name="T107" fmla="*/ 622 h 993"/>
                <a:gd name="T108" fmla="*/ 267 w 630"/>
                <a:gd name="T109" fmla="*/ 715 h 993"/>
                <a:gd name="T110" fmla="*/ 304 w 630"/>
                <a:gd name="T111" fmla="*/ 803 h 993"/>
                <a:gd name="T112" fmla="*/ 400 w 630"/>
                <a:gd name="T113" fmla="*/ 869 h 993"/>
                <a:gd name="T114" fmla="*/ 516 w 630"/>
                <a:gd name="T115" fmla="*/ 939 h 993"/>
                <a:gd name="T116" fmla="*/ 540 w 630"/>
                <a:gd name="T117" fmla="*/ 968 h 993"/>
                <a:gd name="T118" fmla="*/ 574 w 630"/>
                <a:gd name="T119" fmla="*/ 993 h 993"/>
                <a:gd name="T120" fmla="*/ 596 w 630"/>
                <a:gd name="T121" fmla="*/ 954 h 993"/>
                <a:gd name="T122" fmla="*/ 601 w 630"/>
                <a:gd name="T123" fmla="*/ 929 h 993"/>
                <a:gd name="T124" fmla="*/ 630 w 630"/>
                <a:gd name="T125" fmla="*/ 889 h 9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630" h="993">
                  <a:moveTo>
                    <a:pt x="622" y="880"/>
                  </a:moveTo>
                  <a:cubicBezTo>
                    <a:pt x="622" y="880"/>
                    <a:pt x="612" y="873"/>
                    <a:pt x="604" y="869"/>
                  </a:cubicBezTo>
                  <a:cubicBezTo>
                    <a:pt x="596" y="865"/>
                    <a:pt x="593" y="857"/>
                    <a:pt x="593" y="857"/>
                  </a:cubicBezTo>
                  <a:cubicBezTo>
                    <a:pt x="593" y="857"/>
                    <a:pt x="579" y="859"/>
                    <a:pt x="575" y="854"/>
                  </a:cubicBezTo>
                  <a:cubicBezTo>
                    <a:pt x="580" y="840"/>
                    <a:pt x="580" y="840"/>
                    <a:pt x="580" y="840"/>
                  </a:cubicBezTo>
                  <a:cubicBezTo>
                    <a:pt x="580" y="840"/>
                    <a:pt x="576" y="825"/>
                    <a:pt x="581" y="821"/>
                  </a:cubicBezTo>
                  <a:cubicBezTo>
                    <a:pt x="584" y="818"/>
                    <a:pt x="598" y="830"/>
                    <a:pt x="607" y="838"/>
                  </a:cubicBezTo>
                  <a:cubicBezTo>
                    <a:pt x="607" y="836"/>
                    <a:pt x="607" y="835"/>
                    <a:pt x="607" y="835"/>
                  </a:cubicBezTo>
                  <a:cubicBezTo>
                    <a:pt x="612" y="824"/>
                    <a:pt x="612" y="824"/>
                    <a:pt x="612" y="824"/>
                  </a:cubicBezTo>
                  <a:cubicBezTo>
                    <a:pt x="612" y="824"/>
                    <a:pt x="604" y="813"/>
                    <a:pt x="603" y="799"/>
                  </a:cubicBezTo>
                  <a:cubicBezTo>
                    <a:pt x="601" y="784"/>
                    <a:pt x="616" y="776"/>
                    <a:pt x="620" y="766"/>
                  </a:cubicBezTo>
                  <a:cubicBezTo>
                    <a:pt x="624" y="757"/>
                    <a:pt x="605" y="744"/>
                    <a:pt x="605" y="744"/>
                  </a:cubicBezTo>
                  <a:cubicBezTo>
                    <a:pt x="618" y="724"/>
                    <a:pt x="618" y="724"/>
                    <a:pt x="618" y="724"/>
                  </a:cubicBezTo>
                  <a:cubicBezTo>
                    <a:pt x="609" y="694"/>
                    <a:pt x="609" y="694"/>
                    <a:pt x="609" y="694"/>
                  </a:cubicBezTo>
                  <a:cubicBezTo>
                    <a:pt x="609" y="694"/>
                    <a:pt x="619" y="683"/>
                    <a:pt x="620" y="677"/>
                  </a:cubicBezTo>
                  <a:cubicBezTo>
                    <a:pt x="622" y="670"/>
                    <a:pt x="612" y="645"/>
                    <a:pt x="597" y="632"/>
                  </a:cubicBezTo>
                  <a:cubicBezTo>
                    <a:pt x="586" y="621"/>
                    <a:pt x="579" y="600"/>
                    <a:pt x="577" y="591"/>
                  </a:cubicBezTo>
                  <a:cubicBezTo>
                    <a:pt x="568" y="590"/>
                    <a:pt x="560" y="590"/>
                    <a:pt x="556" y="590"/>
                  </a:cubicBezTo>
                  <a:cubicBezTo>
                    <a:pt x="545" y="590"/>
                    <a:pt x="549" y="599"/>
                    <a:pt x="541" y="599"/>
                  </a:cubicBezTo>
                  <a:cubicBezTo>
                    <a:pt x="533" y="599"/>
                    <a:pt x="533" y="591"/>
                    <a:pt x="533" y="591"/>
                  </a:cubicBezTo>
                  <a:cubicBezTo>
                    <a:pt x="526" y="592"/>
                    <a:pt x="526" y="592"/>
                    <a:pt x="526" y="592"/>
                  </a:cubicBezTo>
                  <a:cubicBezTo>
                    <a:pt x="526" y="592"/>
                    <a:pt x="525" y="572"/>
                    <a:pt x="523" y="562"/>
                  </a:cubicBezTo>
                  <a:cubicBezTo>
                    <a:pt x="521" y="552"/>
                    <a:pt x="526" y="538"/>
                    <a:pt x="528" y="534"/>
                  </a:cubicBezTo>
                  <a:cubicBezTo>
                    <a:pt x="530" y="530"/>
                    <a:pt x="525" y="507"/>
                    <a:pt x="525" y="507"/>
                  </a:cubicBezTo>
                  <a:cubicBezTo>
                    <a:pt x="491" y="537"/>
                    <a:pt x="491" y="537"/>
                    <a:pt x="491" y="537"/>
                  </a:cubicBezTo>
                  <a:cubicBezTo>
                    <a:pt x="449" y="541"/>
                    <a:pt x="449" y="541"/>
                    <a:pt x="449" y="541"/>
                  </a:cubicBezTo>
                  <a:cubicBezTo>
                    <a:pt x="449" y="541"/>
                    <a:pt x="441" y="522"/>
                    <a:pt x="438" y="515"/>
                  </a:cubicBezTo>
                  <a:cubicBezTo>
                    <a:pt x="435" y="508"/>
                    <a:pt x="399" y="509"/>
                    <a:pt x="399" y="509"/>
                  </a:cubicBezTo>
                  <a:cubicBezTo>
                    <a:pt x="399" y="509"/>
                    <a:pt x="414" y="496"/>
                    <a:pt x="416" y="491"/>
                  </a:cubicBezTo>
                  <a:cubicBezTo>
                    <a:pt x="418" y="486"/>
                    <a:pt x="396" y="471"/>
                    <a:pt x="391" y="465"/>
                  </a:cubicBezTo>
                  <a:cubicBezTo>
                    <a:pt x="386" y="459"/>
                    <a:pt x="373" y="438"/>
                    <a:pt x="373" y="438"/>
                  </a:cubicBezTo>
                  <a:cubicBezTo>
                    <a:pt x="371" y="420"/>
                    <a:pt x="371" y="420"/>
                    <a:pt x="371" y="420"/>
                  </a:cubicBezTo>
                  <a:cubicBezTo>
                    <a:pt x="371" y="420"/>
                    <a:pt x="356" y="414"/>
                    <a:pt x="356" y="409"/>
                  </a:cubicBezTo>
                  <a:cubicBezTo>
                    <a:pt x="356" y="404"/>
                    <a:pt x="371" y="396"/>
                    <a:pt x="371" y="396"/>
                  </a:cubicBezTo>
                  <a:cubicBezTo>
                    <a:pt x="365" y="392"/>
                    <a:pt x="365" y="392"/>
                    <a:pt x="365" y="392"/>
                  </a:cubicBezTo>
                  <a:cubicBezTo>
                    <a:pt x="365" y="392"/>
                    <a:pt x="360" y="378"/>
                    <a:pt x="368" y="370"/>
                  </a:cubicBezTo>
                  <a:cubicBezTo>
                    <a:pt x="376" y="362"/>
                    <a:pt x="389" y="345"/>
                    <a:pt x="395" y="354"/>
                  </a:cubicBezTo>
                  <a:cubicBezTo>
                    <a:pt x="401" y="363"/>
                    <a:pt x="391" y="338"/>
                    <a:pt x="389" y="331"/>
                  </a:cubicBezTo>
                  <a:cubicBezTo>
                    <a:pt x="387" y="324"/>
                    <a:pt x="402" y="315"/>
                    <a:pt x="402" y="315"/>
                  </a:cubicBezTo>
                  <a:cubicBezTo>
                    <a:pt x="403" y="277"/>
                    <a:pt x="403" y="277"/>
                    <a:pt x="403" y="277"/>
                  </a:cubicBezTo>
                  <a:cubicBezTo>
                    <a:pt x="419" y="277"/>
                    <a:pt x="419" y="277"/>
                    <a:pt x="419" y="277"/>
                  </a:cubicBezTo>
                  <a:cubicBezTo>
                    <a:pt x="419" y="277"/>
                    <a:pt x="420" y="269"/>
                    <a:pt x="422" y="265"/>
                  </a:cubicBezTo>
                  <a:cubicBezTo>
                    <a:pt x="424" y="261"/>
                    <a:pt x="450" y="244"/>
                    <a:pt x="450" y="244"/>
                  </a:cubicBezTo>
                  <a:cubicBezTo>
                    <a:pt x="471" y="244"/>
                    <a:pt x="471" y="244"/>
                    <a:pt x="471" y="244"/>
                  </a:cubicBezTo>
                  <a:cubicBezTo>
                    <a:pt x="473" y="237"/>
                    <a:pt x="473" y="237"/>
                    <a:pt x="473" y="237"/>
                  </a:cubicBezTo>
                  <a:cubicBezTo>
                    <a:pt x="492" y="240"/>
                    <a:pt x="492" y="240"/>
                    <a:pt x="492" y="240"/>
                  </a:cubicBezTo>
                  <a:cubicBezTo>
                    <a:pt x="492" y="240"/>
                    <a:pt x="503" y="225"/>
                    <a:pt x="513" y="224"/>
                  </a:cubicBezTo>
                  <a:cubicBezTo>
                    <a:pt x="523" y="223"/>
                    <a:pt x="527" y="236"/>
                    <a:pt x="527" y="236"/>
                  </a:cubicBezTo>
                  <a:cubicBezTo>
                    <a:pt x="527" y="236"/>
                    <a:pt x="534" y="239"/>
                    <a:pt x="539" y="236"/>
                  </a:cubicBezTo>
                  <a:cubicBezTo>
                    <a:pt x="541" y="235"/>
                    <a:pt x="542" y="231"/>
                    <a:pt x="543" y="227"/>
                  </a:cubicBezTo>
                  <a:cubicBezTo>
                    <a:pt x="532" y="223"/>
                    <a:pt x="532" y="223"/>
                    <a:pt x="532" y="223"/>
                  </a:cubicBezTo>
                  <a:cubicBezTo>
                    <a:pt x="526" y="207"/>
                    <a:pt x="526" y="207"/>
                    <a:pt x="526" y="207"/>
                  </a:cubicBezTo>
                  <a:cubicBezTo>
                    <a:pt x="526" y="207"/>
                    <a:pt x="512" y="212"/>
                    <a:pt x="509" y="206"/>
                  </a:cubicBezTo>
                  <a:cubicBezTo>
                    <a:pt x="506" y="201"/>
                    <a:pt x="515" y="171"/>
                    <a:pt x="520" y="171"/>
                  </a:cubicBezTo>
                  <a:cubicBezTo>
                    <a:pt x="525" y="171"/>
                    <a:pt x="533" y="163"/>
                    <a:pt x="533" y="148"/>
                  </a:cubicBezTo>
                  <a:cubicBezTo>
                    <a:pt x="533" y="134"/>
                    <a:pt x="505" y="135"/>
                    <a:pt x="505" y="135"/>
                  </a:cubicBezTo>
                  <a:cubicBezTo>
                    <a:pt x="505" y="135"/>
                    <a:pt x="497" y="123"/>
                    <a:pt x="493" y="122"/>
                  </a:cubicBezTo>
                  <a:cubicBezTo>
                    <a:pt x="489" y="121"/>
                    <a:pt x="481" y="130"/>
                    <a:pt x="472" y="130"/>
                  </a:cubicBezTo>
                  <a:cubicBezTo>
                    <a:pt x="464" y="130"/>
                    <a:pt x="463" y="123"/>
                    <a:pt x="449" y="120"/>
                  </a:cubicBezTo>
                  <a:cubicBezTo>
                    <a:pt x="435" y="117"/>
                    <a:pt x="434" y="138"/>
                    <a:pt x="434" y="138"/>
                  </a:cubicBezTo>
                  <a:cubicBezTo>
                    <a:pt x="434" y="138"/>
                    <a:pt x="412" y="138"/>
                    <a:pt x="393" y="133"/>
                  </a:cubicBezTo>
                  <a:cubicBezTo>
                    <a:pt x="374" y="128"/>
                    <a:pt x="389" y="113"/>
                    <a:pt x="388" y="106"/>
                  </a:cubicBezTo>
                  <a:cubicBezTo>
                    <a:pt x="387" y="98"/>
                    <a:pt x="369" y="97"/>
                    <a:pt x="369" y="97"/>
                  </a:cubicBezTo>
                  <a:cubicBezTo>
                    <a:pt x="369" y="97"/>
                    <a:pt x="367" y="79"/>
                    <a:pt x="364" y="73"/>
                  </a:cubicBezTo>
                  <a:cubicBezTo>
                    <a:pt x="362" y="67"/>
                    <a:pt x="354" y="70"/>
                    <a:pt x="354" y="70"/>
                  </a:cubicBezTo>
                  <a:cubicBezTo>
                    <a:pt x="343" y="57"/>
                    <a:pt x="343" y="57"/>
                    <a:pt x="343" y="57"/>
                  </a:cubicBezTo>
                  <a:cubicBezTo>
                    <a:pt x="335" y="57"/>
                    <a:pt x="335" y="57"/>
                    <a:pt x="335" y="57"/>
                  </a:cubicBezTo>
                  <a:cubicBezTo>
                    <a:pt x="327" y="33"/>
                    <a:pt x="327" y="33"/>
                    <a:pt x="327" y="33"/>
                  </a:cubicBezTo>
                  <a:cubicBezTo>
                    <a:pt x="327" y="33"/>
                    <a:pt x="297" y="9"/>
                    <a:pt x="290" y="5"/>
                  </a:cubicBezTo>
                  <a:cubicBezTo>
                    <a:pt x="284" y="1"/>
                    <a:pt x="274" y="1"/>
                    <a:pt x="264" y="0"/>
                  </a:cubicBezTo>
                  <a:cubicBezTo>
                    <a:pt x="264" y="0"/>
                    <a:pt x="264" y="0"/>
                    <a:pt x="264" y="0"/>
                  </a:cubicBezTo>
                  <a:cubicBezTo>
                    <a:pt x="269" y="0"/>
                    <a:pt x="273" y="1"/>
                    <a:pt x="278" y="1"/>
                  </a:cubicBezTo>
                  <a:cubicBezTo>
                    <a:pt x="279" y="19"/>
                    <a:pt x="268" y="19"/>
                    <a:pt x="268" y="19"/>
                  </a:cubicBezTo>
                  <a:cubicBezTo>
                    <a:pt x="284" y="31"/>
                    <a:pt x="284" y="31"/>
                    <a:pt x="284" y="31"/>
                  </a:cubicBezTo>
                  <a:cubicBezTo>
                    <a:pt x="287" y="53"/>
                    <a:pt x="287" y="53"/>
                    <a:pt x="287" y="53"/>
                  </a:cubicBezTo>
                  <a:cubicBezTo>
                    <a:pt x="277" y="58"/>
                    <a:pt x="277" y="58"/>
                    <a:pt x="277" y="58"/>
                  </a:cubicBezTo>
                  <a:cubicBezTo>
                    <a:pt x="269" y="87"/>
                    <a:pt x="269" y="87"/>
                    <a:pt x="269" y="87"/>
                  </a:cubicBezTo>
                  <a:cubicBezTo>
                    <a:pt x="269" y="87"/>
                    <a:pt x="241" y="128"/>
                    <a:pt x="218" y="143"/>
                  </a:cubicBezTo>
                  <a:cubicBezTo>
                    <a:pt x="195" y="157"/>
                    <a:pt x="174" y="157"/>
                    <a:pt x="161" y="168"/>
                  </a:cubicBezTo>
                  <a:cubicBezTo>
                    <a:pt x="147" y="179"/>
                    <a:pt x="147" y="186"/>
                    <a:pt x="147" y="186"/>
                  </a:cubicBezTo>
                  <a:cubicBezTo>
                    <a:pt x="139" y="189"/>
                    <a:pt x="139" y="189"/>
                    <a:pt x="139" y="189"/>
                  </a:cubicBezTo>
                  <a:cubicBezTo>
                    <a:pt x="142" y="201"/>
                    <a:pt x="142" y="201"/>
                    <a:pt x="142" y="201"/>
                  </a:cubicBezTo>
                  <a:cubicBezTo>
                    <a:pt x="142" y="201"/>
                    <a:pt x="134" y="206"/>
                    <a:pt x="132" y="216"/>
                  </a:cubicBezTo>
                  <a:cubicBezTo>
                    <a:pt x="131" y="225"/>
                    <a:pt x="128" y="252"/>
                    <a:pt x="128" y="252"/>
                  </a:cubicBezTo>
                  <a:cubicBezTo>
                    <a:pt x="128" y="252"/>
                    <a:pt x="119" y="254"/>
                    <a:pt x="115" y="256"/>
                  </a:cubicBezTo>
                  <a:cubicBezTo>
                    <a:pt x="111" y="259"/>
                    <a:pt x="116" y="270"/>
                    <a:pt x="103" y="270"/>
                  </a:cubicBezTo>
                  <a:cubicBezTo>
                    <a:pt x="89" y="270"/>
                    <a:pt x="93" y="246"/>
                    <a:pt x="88" y="241"/>
                  </a:cubicBezTo>
                  <a:cubicBezTo>
                    <a:pt x="82" y="237"/>
                    <a:pt x="69" y="243"/>
                    <a:pt x="69" y="243"/>
                  </a:cubicBezTo>
                  <a:cubicBezTo>
                    <a:pt x="60" y="232"/>
                    <a:pt x="60" y="232"/>
                    <a:pt x="60" y="232"/>
                  </a:cubicBezTo>
                  <a:cubicBezTo>
                    <a:pt x="60" y="232"/>
                    <a:pt x="50" y="250"/>
                    <a:pt x="40" y="246"/>
                  </a:cubicBezTo>
                  <a:cubicBezTo>
                    <a:pt x="31" y="241"/>
                    <a:pt x="47" y="232"/>
                    <a:pt x="47" y="232"/>
                  </a:cubicBezTo>
                  <a:cubicBezTo>
                    <a:pt x="37" y="224"/>
                    <a:pt x="37" y="224"/>
                    <a:pt x="37" y="224"/>
                  </a:cubicBezTo>
                  <a:cubicBezTo>
                    <a:pt x="37" y="224"/>
                    <a:pt x="50" y="212"/>
                    <a:pt x="58" y="203"/>
                  </a:cubicBezTo>
                  <a:cubicBezTo>
                    <a:pt x="67" y="194"/>
                    <a:pt x="43" y="188"/>
                    <a:pt x="43" y="188"/>
                  </a:cubicBezTo>
                  <a:cubicBezTo>
                    <a:pt x="43" y="188"/>
                    <a:pt x="17" y="216"/>
                    <a:pt x="9" y="223"/>
                  </a:cubicBezTo>
                  <a:cubicBezTo>
                    <a:pt x="1" y="230"/>
                    <a:pt x="0" y="241"/>
                    <a:pt x="0" y="254"/>
                  </a:cubicBezTo>
                  <a:cubicBezTo>
                    <a:pt x="0" y="267"/>
                    <a:pt x="12" y="264"/>
                    <a:pt x="12" y="264"/>
                  </a:cubicBezTo>
                  <a:cubicBezTo>
                    <a:pt x="9" y="282"/>
                    <a:pt x="9" y="282"/>
                    <a:pt x="9" y="282"/>
                  </a:cubicBezTo>
                  <a:cubicBezTo>
                    <a:pt x="9" y="282"/>
                    <a:pt x="26" y="292"/>
                    <a:pt x="27" y="304"/>
                  </a:cubicBezTo>
                  <a:cubicBezTo>
                    <a:pt x="28" y="316"/>
                    <a:pt x="8" y="317"/>
                    <a:pt x="8" y="331"/>
                  </a:cubicBezTo>
                  <a:cubicBezTo>
                    <a:pt x="8" y="345"/>
                    <a:pt x="42" y="347"/>
                    <a:pt x="51" y="352"/>
                  </a:cubicBezTo>
                  <a:cubicBezTo>
                    <a:pt x="59" y="357"/>
                    <a:pt x="82" y="389"/>
                    <a:pt x="85" y="394"/>
                  </a:cubicBezTo>
                  <a:cubicBezTo>
                    <a:pt x="87" y="398"/>
                    <a:pt x="99" y="418"/>
                    <a:pt x="99" y="424"/>
                  </a:cubicBezTo>
                  <a:cubicBezTo>
                    <a:pt x="99" y="430"/>
                    <a:pt x="123" y="456"/>
                    <a:pt x="126" y="462"/>
                  </a:cubicBezTo>
                  <a:cubicBezTo>
                    <a:pt x="130" y="468"/>
                    <a:pt x="164" y="522"/>
                    <a:pt x="164" y="522"/>
                  </a:cubicBezTo>
                  <a:cubicBezTo>
                    <a:pt x="169" y="547"/>
                    <a:pt x="169" y="547"/>
                    <a:pt x="169" y="547"/>
                  </a:cubicBezTo>
                  <a:cubicBezTo>
                    <a:pt x="169" y="547"/>
                    <a:pt x="197" y="602"/>
                    <a:pt x="197" y="609"/>
                  </a:cubicBezTo>
                  <a:cubicBezTo>
                    <a:pt x="197" y="616"/>
                    <a:pt x="205" y="616"/>
                    <a:pt x="214" y="622"/>
                  </a:cubicBezTo>
                  <a:cubicBezTo>
                    <a:pt x="222" y="628"/>
                    <a:pt x="218" y="635"/>
                    <a:pt x="220" y="647"/>
                  </a:cubicBezTo>
                  <a:cubicBezTo>
                    <a:pt x="221" y="658"/>
                    <a:pt x="255" y="699"/>
                    <a:pt x="267" y="715"/>
                  </a:cubicBezTo>
                  <a:cubicBezTo>
                    <a:pt x="279" y="732"/>
                    <a:pt x="270" y="754"/>
                    <a:pt x="270" y="762"/>
                  </a:cubicBezTo>
                  <a:cubicBezTo>
                    <a:pt x="270" y="771"/>
                    <a:pt x="293" y="796"/>
                    <a:pt x="304" y="803"/>
                  </a:cubicBezTo>
                  <a:cubicBezTo>
                    <a:pt x="314" y="810"/>
                    <a:pt x="324" y="826"/>
                    <a:pt x="332" y="835"/>
                  </a:cubicBezTo>
                  <a:cubicBezTo>
                    <a:pt x="340" y="843"/>
                    <a:pt x="386" y="861"/>
                    <a:pt x="400" y="869"/>
                  </a:cubicBezTo>
                  <a:cubicBezTo>
                    <a:pt x="415" y="877"/>
                    <a:pt x="442" y="883"/>
                    <a:pt x="463" y="901"/>
                  </a:cubicBezTo>
                  <a:cubicBezTo>
                    <a:pt x="484" y="919"/>
                    <a:pt x="516" y="939"/>
                    <a:pt x="516" y="939"/>
                  </a:cubicBezTo>
                  <a:cubicBezTo>
                    <a:pt x="522" y="954"/>
                    <a:pt x="522" y="954"/>
                    <a:pt x="522" y="954"/>
                  </a:cubicBezTo>
                  <a:cubicBezTo>
                    <a:pt x="522" y="954"/>
                    <a:pt x="533" y="962"/>
                    <a:pt x="540" y="968"/>
                  </a:cubicBezTo>
                  <a:cubicBezTo>
                    <a:pt x="547" y="974"/>
                    <a:pt x="574" y="992"/>
                    <a:pt x="574" y="992"/>
                  </a:cubicBezTo>
                  <a:cubicBezTo>
                    <a:pt x="574" y="993"/>
                    <a:pt x="574" y="993"/>
                    <a:pt x="574" y="993"/>
                  </a:cubicBezTo>
                  <a:cubicBezTo>
                    <a:pt x="580" y="989"/>
                    <a:pt x="589" y="983"/>
                    <a:pt x="596" y="977"/>
                  </a:cubicBezTo>
                  <a:cubicBezTo>
                    <a:pt x="608" y="968"/>
                    <a:pt x="596" y="954"/>
                    <a:pt x="596" y="954"/>
                  </a:cubicBezTo>
                  <a:cubicBezTo>
                    <a:pt x="608" y="946"/>
                    <a:pt x="608" y="946"/>
                    <a:pt x="608" y="946"/>
                  </a:cubicBezTo>
                  <a:cubicBezTo>
                    <a:pt x="601" y="929"/>
                    <a:pt x="601" y="929"/>
                    <a:pt x="601" y="929"/>
                  </a:cubicBezTo>
                  <a:cubicBezTo>
                    <a:pt x="601" y="929"/>
                    <a:pt x="611" y="919"/>
                    <a:pt x="620" y="912"/>
                  </a:cubicBezTo>
                  <a:cubicBezTo>
                    <a:pt x="626" y="908"/>
                    <a:pt x="629" y="897"/>
                    <a:pt x="630" y="889"/>
                  </a:cubicBezTo>
                  <a:lnTo>
                    <a:pt x="622" y="880"/>
                  </a:ln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550" name="Freeform 342">
              <a:extLst>
                <a:ext uri="{FF2B5EF4-FFF2-40B4-BE49-F238E27FC236}">
                  <a16:creationId xmlns:a16="http://schemas.microsoft.com/office/drawing/2014/main" id="{9514EAF0-0A31-40EE-AB13-2BEE37DAAE0F}"/>
                </a:ext>
              </a:extLst>
            </p:cNvPr>
            <p:cNvSpPr>
              <a:spLocks noEditPoints="1"/>
            </p:cNvSpPr>
            <p:nvPr/>
          </p:nvSpPr>
          <p:spPr bwMode="gray">
            <a:xfrm>
              <a:off x="2523071" y="3020582"/>
              <a:ext cx="409763" cy="456643"/>
            </a:xfrm>
            <a:custGeom>
              <a:avLst/>
              <a:gdLst>
                <a:gd name="T0" fmla="*/ 1 w 604"/>
                <a:gd name="T1" fmla="*/ 70 h 712"/>
                <a:gd name="T2" fmla="*/ 599 w 604"/>
                <a:gd name="T3" fmla="*/ 500 h 712"/>
                <a:gd name="T4" fmla="*/ 584 w 604"/>
                <a:gd name="T5" fmla="*/ 421 h 712"/>
                <a:gd name="T6" fmla="*/ 561 w 604"/>
                <a:gd name="T7" fmla="*/ 361 h 712"/>
                <a:gd name="T8" fmla="*/ 468 w 604"/>
                <a:gd name="T9" fmla="*/ 314 h 712"/>
                <a:gd name="T10" fmla="*/ 463 w 604"/>
                <a:gd name="T11" fmla="*/ 290 h 712"/>
                <a:gd name="T12" fmla="*/ 450 w 604"/>
                <a:gd name="T13" fmla="*/ 250 h 712"/>
                <a:gd name="T14" fmla="*/ 418 w 604"/>
                <a:gd name="T15" fmla="*/ 209 h 712"/>
                <a:gd name="T16" fmla="*/ 367 w 604"/>
                <a:gd name="T17" fmla="*/ 190 h 712"/>
                <a:gd name="T18" fmla="*/ 320 w 604"/>
                <a:gd name="T19" fmla="*/ 163 h 712"/>
                <a:gd name="T20" fmla="*/ 290 w 604"/>
                <a:gd name="T21" fmla="*/ 152 h 712"/>
                <a:gd name="T22" fmla="*/ 258 w 604"/>
                <a:gd name="T23" fmla="*/ 153 h 712"/>
                <a:gd name="T24" fmla="*/ 230 w 604"/>
                <a:gd name="T25" fmla="*/ 130 h 712"/>
                <a:gd name="T26" fmla="*/ 210 w 604"/>
                <a:gd name="T27" fmla="*/ 97 h 712"/>
                <a:gd name="T28" fmla="*/ 200 w 604"/>
                <a:gd name="T29" fmla="*/ 52 h 712"/>
                <a:gd name="T30" fmla="*/ 211 w 604"/>
                <a:gd name="T31" fmla="*/ 4 h 712"/>
                <a:gd name="T32" fmla="*/ 183 w 604"/>
                <a:gd name="T33" fmla="*/ 6 h 712"/>
                <a:gd name="T34" fmla="*/ 151 w 604"/>
                <a:gd name="T35" fmla="*/ 13 h 712"/>
                <a:gd name="T36" fmla="*/ 104 w 604"/>
                <a:gd name="T37" fmla="*/ 38 h 712"/>
                <a:gd name="T38" fmla="*/ 76 w 604"/>
                <a:gd name="T39" fmla="*/ 57 h 712"/>
                <a:gd name="T40" fmla="*/ 50 w 604"/>
                <a:gd name="T41" fmla="*/ 81 h 712"/>
                <a:gd name="T42" fmla="*/ 9 w 604"/>
                <a:gd name="T43" fmla="*/ 71 h 712"/>
                <a:gd name="T44" fmla="*/ 52 w 604"/>
                <a:gd name="T45" fmla="*/ 157 h 712"/>
                <a:gd name="T46" fmla="*/ 50 w 604"/>
                <a:gd name="T47" fmla="*/ 204 h 712"/>
                <a:gd name="T48" fmla="*/ 52 w 604"/>
                <a:gd name="T49" fmla="*/ 246 h 712"/>
                <a:gd name="T50" fmla="*/ 44 w 604"/>
                <a:gd name="T51" fmla="*/ 304 h 712"/>
                <a:gd name="T52" fmla="*/ 39 w 604"/>
                <a:gd name="T53" fmla="*/ 318 h 712"/>
                <a:gd name="T54" fmla="*/ 62 w 604"/>
                <a:gd name="T55" fmla="*/ 339 h 712"/>
                <a:gd name="T56" fmla="*/ 76 w 604"/>
                <a:gd name="T57" fmla="*/ 359 h 712"/>
                <a:gd name="T58" fmla="*/ 62 w 604"/>
                <a:gd name="T59" fmla="*/ 369 h 712"/>
                <a:gd name="T60" fmla="*/ 33 w 604"/>
                <a:gd name="T61" fmla="*/ 409 h 712"/>
                <a:gd name="T62" fmla="*/ 39 w 604"/>
                <a:gd name="T63" fmla="*/ 427 h 712"/>
                <a:gd name="T64" fmla="*/ 64 w 604"/>
                <a:gd name="T65" fmla="*/ 449 h 712"/>
                <a:gd name="T66" fmla="*/ 105 w 604"/>
                <a:gd name="T67" fmla="*/ 525 h 712"/>
                <a:gd name="T68" fmla="*/ 104 w 604"/>
                <a:gd name="T69" fmla="*/ 554 h 712"/>
                <a:gd name="T70" fmla="*/ 102 w 604"/>
                <a:gd name="T71" fmla="*/ 588 h 712"/>
                <a:gd name="T72" fmla="*/ 134 w 604"/>
                <a:gd name="T73" fmla="*/ 627 h 712"/>
                <a:gd name="T74" fmla="*/ 147 w 604"/>
                <a:gd name="T75" fmla="*/ 684 h 712"/>
                <a:gd name="T76" fmla="*/ 188 w 604"/>
                <a:gd name="T77" fmla="*/ 708 h 712"/>
                <a:gd name="T78" fmla="*/ 199 w 604"/>
                <a:gd name="T79" fmla="*/ 691 h 712"/>
                <a:gd name="T80" fmla="*/ 214 w 604"/>
                <a:gd name="T81" fmla="*/ 674 h 712"/>
                <a:gd name="T82" fmla="*/ 241 w 604"/>
                <a:gd name="T83" fmla="*/ 670 h 712"/>
                <a:gd name="T84" fmla="*/ 318 w 604"/>
                <a:gd name="T85" fmla="*/ 707 h 712"/>
                <a:gd name="T86" fmla="*/ 374 w 604"/>
                <a:gd name="T87" fmla="*/ 664 h 712"/>
                <a:gd name="T88" fmla="*/ 403 w 604"/>
                <a:gd name="T89" fmla="*/ 607 h 712"/>
                <a:gd name="T90" fmla="*/ 413 w 604"/>
                <a:gd name="T91" fmla="*/ 558 h 712"/>
                <a:gd name="T92" fmla="*/ 486 w 604"/>
                <a:gd name="T93" fmla="*/ 527 h 712"/>
                <a:gd name="T94" fmla="*/ 574 w 604"/>
                <a:gd name="T95" fmla="*/ 546 h 712"/>
                <a:gd name="T96" fmla="*/ 602 w 604"/>
                <a:gd name="T97" fmla="*/ 555 h 712"/>
                <a:gd name="T98" fmla="*/ 603 w 604"/>
                <a:gd name="T99" fmla="*/ 508 h 7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604" h="712">
                  <a:moveTo>
                    <a:pt x="0" y="70"/>
                  </a:moveTo>
                  <a:cubicBezTo>
                    <a:pt x="1" y="70"/>
                    <a:pt x="1" y="70"/>
                    <a:pt x="1" y="70"/>
                  </a:cubicBezTo>
                  <a:cubicBezTo>
                    <a:pt x="1" y="70"/>
                    <a:pt x="1" y="70"/>
                    <a:pt x="0" y="70"/>
                  </a:cubicBezTo>
                  <a:close/>
                  <a:moveTo>
                    <a:pt x="599" y="500"/>
                  </a:moveTo>
                  <a:cubicBezTo>
                    <a:pt x="599" y="500"/>
                    <a:pt x="604" y="474"/>
                    <a:pt x="604" y="460"/>
                  </a:cubicBezTo>
                  <a:cubicBezTo>
                    <a:pt x="604" y="446"/>
                    <a:pt x="595" y="428"/>
                    <a:pt x="584" y="421"/>
                  </a:cubicBezTo>
                  <a:cubicBezTo>
                    <a:pt x="573" y="414"/>
                    <a:pt x="564" y="413"/>
                    <a:pt x="557" y="404"/>
                  </a:cubicBezTo>
                  <a:cubicBezTo>
                    <a:pt x="550" y="395"/>
                    <a:pt x="561" y="361"/>
                    <a:pt x="561" y="361"/>
                  </a:cubicBezTo>
                  <a:cubicBezTo>
                    <a:pt x="561" y="361"/>
                    <a:pt x="484" y="363"/>
                    <a:pt x="471" y="354"/>
                  </a:cubicBezTo>
                  <a:cubicBezTo>
                    <a:pt x="458" y="345"/>
                    <a:pt x="468" y="314"/>
                    <a:pt x="468" y="314"/>
                  </a:cubicBezTo>
                  <a:cubicBezTo>
                    <a:pt x="468" y="314"/>
                    <a:pt x="452" y="300"/>
                    <a:pt x="450" y="294"/>
                  </a:cubicBezTo>
                  <a:cubicBezTo>
                    <a:pt x="448" y="288"/>
                    <a:pt x="463" y="290"/>
                    <a:pt x="463" y="290"/>
                  </a:cubicBezTo>
                  <a:cubicBezTo>
                    <a:pt x="461" y="269"/>
                    <a:pt x="461" y="269"/>
                    <a:pt x="461" y="269"/>
                  </a:cubicBezTo>
                  <a:cubicBezTo>
                    <a:pt x="461" y="269"/>
                    <a:pt x="454" y="257"/>
                    <a:pt x="450" y="250"/>
                  </a:cubicBezTo>
                  <a:cubicBezTo>
                    <a:pt x="446" y="243"/>
                    <a:pt x="451" y="240"/>
                    <a:pt x="450" y="230"/>
                  </a:cubicBezTo>
                  <a:cubicBezTo>
                    <a:pt x="449" y="220"/>
                    <a:pt x="429" y="211"/>
                    <a:pt x="418" y="209"/>
                  </a:cubicBezTo>
                  <a:cubicBezTo>
                    <a:pt x="407" y="207"/>
                    <a:pt x="396" y="212"/>
                    <a:pt x="386" y="211"/>
                  </a:cubicBezTo>
                  <a:cubicBezTo>
                    <a:pt x="376" y="210"/>
                    <a:pt x="367" y="190"/>
                    <a:pt x="367" y="190"/>
                  </a:cubicBezTo>
                  <a:cubicBezTo>
                    <a:pt x="367" y="190"/>
                    <a:pt x="351" y="189"/>
                    <a:pt x="340" y="184"/>
                  </a:cubicBezTo>
                  <a:cubicBezTo>
                    <a:pt x="329" y="179"/>
                    <a:pt x="321" y="167"/>
                    <a:pt x="320" y="163"/>
                  </a:cubicBezTo>
                  <a:cubicBezTo>
                    <a:pt x="319" y="159"/>
                    <a:pt x="312" y="166"/>
                    <a:pt x="304" y="166"/>
                  </a:cubicBezTo>
                  <a:cubicBezTo>
                    <a:pt x="296" y="166"/>
                    <a:pt x="290" y="152"/>
                    <a:pt x="290" y="152"/>
                  </a:cubicBezTo>
                  <a:cubicBezTo>
                    <a:pt x="290" y="152"/>
                    <a:pt x="280" y="159"/>
                    <a:pt x="276" y="158"/>
                  </a:cubicBezTo>
                  <a:cubicBezTo>
                    <a:pt x="272" y="157"/>
                    <a:pt x="268" y="157"/>
                    <a:pt x="258" y="153"/>
                  </a:cubicBezTo>
                  <a:cubicBezTo>
                    <a:pt x="248" y="149"/>
                    <a:pt x="252" y="138"/>
                    <a:pt x="249" y="133"/>
                  </a:cubicBezTo>
                  <a:cubicBezTo>
                    <a:pt x="246" y="128"/>
                    <a:pt x="230" y="130"/>
                    <a:pt x="230" y="130"/>
                  </a:cubicBezTo>
                  <a:cubicBezTo>
                    <a:pt x="224" y="110"/>
                    <a:pt x="224" y="110"/>
                    <a:pt x="224" y="110"/>
                  </a:cubicBezTo>
                  <a:cubicBezTo>
                    <a:pt x="224" y="110"/>
                    <a:pt x="217" y="106"/>
                    <a:pt x="210" y="97"/>
                  </a:cubicBezTo>
                  <a:cubicBezTo>
                    <a:pt x="203" y="88"/>
                    <a:pt x="210" y="82"/>
                    <a:pt x="210" y="73"/>
                  </a:cubicBezTo>
                  <a:cubicBezTo>
                    <a:pt x="210" y="64"/>
                    <a:pt x="201" y="56"/>
                    <a:pt x="200" y="52"/>
                  </a:cubicBezTo>
                  <a:cubicBezTo>
                    <a:pt x="199" y="48"/>
                    <a:pt x="207" y="35"/>
                    <a:pt x="207" y="35"/>
                  </a:cubicBezTo>
                  <a:cubicBezTo>
                    <a:pt x="207" y="35"/>
                    <a:pt x="215" y="8"/>
                    <a:pt x="211" y="4"/>
                  </a:cubicBezTo>
                  <a:cubicBezTo>
                    <a:pt x="207" y="0"/>
                    <a:pt x="194" y="8"/>
                    <a:pt x="193" y="12"/>
                  </a:cubicBezTo>
                  <a:cubicBezTo>
                    <a:pt x="192" y="16"/>
                    <a:pt x="183" y="6"/>
                    <a:pt x="183" y="6"/>
                  </a:cubicBezTo>
                  <a:cubicBezTo>
                    <a:pt x="174" y="14"/>
                    <a:pt x="174" y="14"/>
                    <a:pt x="174" y="14"/>
                  </a:cubicBezTo>
                  <a:cubicBezTo>
                    <a:pt x="174" y="14"/>
                    <a:pt x="164" y="13"/>
                    <a:pt x="151" y="13"/>
                  </a:cubicBezTo>
                  <a:cubicBezTo>
                    <a:pt x="138" y="13"/>
                    <a:pt x="128" y="39"/>
                    <a:pt x="128" y="39"/>
                  </a:cubicBezTo>
                  <a:cubicBezTo>
                    <a:pt x="104" y="38"/>
                    <a:pt x="104" y="38"/>
                    <a:pt x="104" y="38"/>
                  </a:cubicBezTo>
                  <a:cubicBezTo>
                    <a:pt x="100" y="56"/>
                    <a:pt x="100" y="56"/>
                    <a:pt x="100" y="56"/>
                  </a:cubicBezTo>
                  <a:cubicBezTo>
                    <a:pt x="76" y="57"/>
                    <a:pt x="76" y="57"/>
                    <a:pt x="76" y="57"/>
                  </a:cubicBezTo>
                  <a:cubicBezTo>
                    <a:pt x="71" y="69"/>
                    <a:pt x="71" y="69"/>
                    <a:pt x="71" y="69"/>
                  </a:cubicBezTo>
                  <a:cubicBezTo>
                    <a:pt x="71" y="69"/>
                    <a:pt x="63" y="78"/>
                    <a:pt x="50" y="81"/>
                  </a:cubicBezTo>
                  <a:cubicBezTo>
                    <a:pt x="37" y="84"/>
                    <a:pt x="34" y="73"/>
                    <a:pt x="34" y="73"/>
                  </a:cubicBezTo>
                  <a:cubicBezTo>
                    <a:pt x="34" y="73"/>
                    <a:pt x="21" y="72"/>
                    <a:pt x="9" y="71"/>
                  </a:cubicBezTo>
                  <a:cubicBezTo>
                    <a:pt x="11" y="80"/>
                    <a:pt x="18" y="101"/>
                    <a:pt x="29" y="112"/>
                  </a:cubicBezTo>
                  <a:cubicBezTo>
                    <a:pt x="44" y="125"/>
                    <a:pt x="54" y="150"/>
                    <a:pt x="52" y="157"/>
                  </a:cubicBezTo>
                  <a:cubicBezTo>
                    <a:pt x="51" y="163"/>
                    <a:pt x="41" y="174"/>
                    <a:pt x="41" y="174"/>
                  </a:cubicBezTo>
                  <a:cubicBezTo>
                    <a:pt x="50" y="204"/>
                    <a:pt x="50" y="204"/>
                    <a:pt x="50" y="204"/>
                  </a:cubicBezTo>
                  <a:cubicBezTo>
                    <a:pt x="37" y="224"/>
                    <a:pt x="37" y="224"/>
                    <a:pt x="37" y="224"/>
                  </a:cubicBezTo>
                  <a:cubicBezTo>
                    <a:pt x="37" y="224"/>
                    <a:pt x="56" y="237"/>
                    <a:pt x="52" y="246"/>
                  </a:cubicBezTo>
                  <a:cubicBezTo>
                    <a:pt x="48" y="256"/>
                    <a:pt x="33" y="264"/>
                    <a:pt x="35" y="279"/>
                  </a:cubicBezTo>
                  <a:cubicBezTo>
                    <a:pt x="36" y="293"/>
                    <a:pt x="44" y="304"/>
                    <a:pt x="44" y="304"/>
                  </a:cubicBezTo>
                  <a:cubicBezTo>
                    <a:pt x="39" y="315"/>
                    <a:pt x="39" y="315"/>
                    <a:pt x="39" y="315"/>
                  </a:cubicBezTo>
                  <a:cubicBezTo>
                    <a:pt x="39" y="315"/>
                    <a:pt x="39" y="316"/>
                    <a:pt x="39" y="318"/>
                  </a:cubicBezTo>
                  <a:cubicBezTo>
                    <a:pt x="44" y="322"/>
                    <a:pt x="47" y="326"/>
                    <a:pt x="47" y="326"/>
                  </a:cubicBezTo>
                  <a:cubicBezTo>
                    <a:pt x="62" y="339"/>
                    <a:pt x="62" y="339"/>
                    <a:pt x="62" y="339"/>
                  </a:cubicBezTo>
                  <a:cubicBezTo>
                    <a:pt x="63" y="351"/>
                    <a:pt x="63" y="351"/>
                    <a:pt x="63" y="351"/>
                  </a:cubicBezTo>
                  <a:cubicBezTo>
                    <a:pt x="76" y="359"/>
                    <a:pt x="76" y="359"/>
                    <a:pt x="76" y="359"/>
                  </a:cubicBezTo>
                  <a:cubicBezTo>
                    <a:pt x="68" y="376"/>
                    <a:pt x="68" y="376"/>
                    <a:pt x="68" y="376"/>
                  </a:cubicBezTo>
                  <a:cubicBezTo>
                    <a:pt x="62" y="369"/>
                    <a:pt x="62" y="369"/>
                    <a:pt x="62" y="369"/>
                  </a:cubicBezTo>
                  <a:cubicBezTo>
                    <a:pt x="61" y="377"/>
                    <a:pt x="58" y="388"/>
                    <a:pt x="52" y="392"/>
                  </a:cubicBezTo>
                  <a:cubicBezTo>
                    <a:pt x="43" y="399"/>
                    <a:pt x="33" y="409"/>
                    <a:pt x="33" y="409"/>
                  </a:cubicBezTo>
                  <a:cubicBezTo>
                    <a:pt x="40" y="426"/>
                    <a:pt x="40" y="426"/>
                    <a:pt x="40" y="426"/>
                  </a:cubicBezTo>
                  <a:cubicBezTo>
                    <a:pt x="39" y="427"/>
                    <a:pt x="39" y="427"/>
                    <a:pt x="39" y="427"/>
                  </a:cubicBezTo>
                  <a:cubicBezTo>
                    <a:pt x="50" y="449"/>
                    <a:pt x="50" y="449"/>
                    <a:pt x="50" y="449"/>
                  </a:cubicBezTo>
                  <a:cubicBezTo>
                    <a:pt x="64" y="449"/>
                    <a:pt x="64" y="449"/>
                    <a:pt x="64" y="449"/>
                  </a:cubicBezTo>
                  <a:cubicBezTo>
                    <a:pt x="73" y="501"/>
                    <a:pt x="73" y="501"/>
                    <a:pt x="73" y="501"/>
                  </a:cubicBezTo>
                  <a:cubicBezTo>
                    <a:pt x="73" y="501"/>
                    <a:pt x="109" y="513"/>
                    <a:pt x="105" y="525"/>
                  </a:cubicBezTo>
                  <a:cubicBezTo>
                    <a:pt x="101" y="537"/>
                    <a:pt x="93" y="543"/>
                    <a:pt x="93" y="543"/>
                  </a:cubicBezTo>
                  <a:cubicBezTo>
                    <a:pt x="104" y="554"/>
                    <a:pt x="104" y="554"/>
                    <a:pt x="104" y="554"/>
                  </a:cubicBezTo>
                  <a:cubicBezTo>
                    <a:pt x="104" y="554"/>
                    <a:pt x="89" y="566"/>
                    <a:pt x="93" y="575"/>
                  </a:cubicBezTo>
                  <a:cubicBezTo>
                    <a:pt x="97" y="585"/>
                    <a:pt x="102" y="588"/>
                    <a:pt x="102" y="588"/>
                  </a:cubicBezTo>
                  <a:cubicBezTo>
                    <a:pt x="102" y="605"/>
                    <a:pt x="102" y="605"/>
                    <a:pt x="102" y="605"/>
                  </a:cubicBezTo>
                  <a:cubicBezTo>
                    <a:pt x="102" y="605"/>
                    <a:pt x="131" y="616"/>
                    <a:pt x="134" y="627"/>
                  </a:cubicBezTo>
                  <a:cubicBezTo>
                    <a:pt x="136" y="638"/>
                    <a:pt x="134" y="668"/>
                    <a:pt x="134" y="668"/>
                  </a:cubicBezTo>
                  <a:cubicBezTo>
                    <a:pt x="147" y="684"/>
                    <a:pt x="147" y="684"/>
                    <a:pt x="147" y="684"/>
                  </a:cubicBezTo>
                  <a:cubicBezTo>
                    <a:pt x="147" y="684"/>
                    <a:pt x="146" y="710"/>
                    <a:pt x="158" y="711"/>
                  </a:cubicBezTo>
                  <a:cubicBezTo>
                    <a:pt x="170" y="712"/>
                    <a:pt x="188" y="708"/>
                    <a:pt x="188" y="708"/>
                  </a:cubicBezTo>
                  <a:cubicBezTo>
                    <a:pt x="188" y="689"/>
                    <a:pt x="188" y="689"/>
                    <a:pt x="188" y="689"/>
                  </a:cubicBezTo>
                  <a:cubicBezTo>
                    <a:pt x="199" y="691"/>
                    <a:pt x="199" y="691"/>
                    <a:pt x="199" y="691"/>
                  </a:cubicBezTo>
                  <a:cubicBezTo>
                    <a:pt x="199" y="677"/>
                    <a:pt x="199" y="677"/>
                    <a:pt x="199" y="677"/>
                  </a:cubicBezTo>
                  <a:cubicBezTo>
                    <a:pt x="214" y="674"/>
                    <a:pt x="214" y="674"/>
                    <a:pt x="214" y="674"/>
                  </a:cubicBezTo>
                  <a:cubicBezTo>
                    <a:pt x="222" y="657"/>
                    <a:pt x="222" y="657"/>
                    <a:pt x="222" y="657"/>
                  </a:cubicBezTo>
                  <a:cubicBezTo>
                    <a:pt x="222" y="657"/>
                    <a:pt x="227" y="666"/>
                    <a:pt x="241" y="670"/>
                  </a:cubicBezTo>
                  <a:cubicBezTo>
                    <a:pt x="254" y="674"/>
                    <a:pt x="296" y="673"/>
                    <a:pt x="296" y="673"/>
                  </a:cubicBezTo>
                  <a:cubicBezTo>
                    <a:pt x="318" y="707"/>
                    <a:pt x="318" y="707"/>
                    <a:pt x="318" y="707"/>
                  </a:cubicBezTo>
                  <a:cubicBezTo>
                    <a:pt x="323" y="670"/>
                    <a:pt x="323" y="670"/>
                    <a:pt x="323" y="670"/>
                  </a:cubicBezTo>
                  <a:cubicBezTo>
                    <a:pt x="374" y="664"/>
                    <a:pt x="374" y="664"/>
                    <a:pt x="374" y="664"/>
                  </a:cubicBezTo>
                  <a:cubicBezTo>
                    <a:pt x="397" y="681"/>
                    <a:pt x="397" y="681"/>
                    <a:pt x="397" y="681"/>
                  </a:cubicBezTo>
                  <a:cubicBezTo>
                    <a:pt x="397" y="681"/>
                    <a:pt x="405" y="613"/>
                    <a:pt x="403" y="607"/>
                  </a:cubicBezTo>
                  <a:cubicBezTo>
                    <a:pt x="402" y="600"/>
                    <a:pt x="387" y="578"/>
                    <a:pt x="394" y="574"/>
                  </a:cubicBezTo>
                  <a:cubicBezTo>
                    <a:pt x="401" y="570"/>
                    <a:pt x="413" y="558"/>
                    <a:pt x="413" y="558"/>
                  </a:cubicBezTo>
                  <a:cubicBezTo>
                    <a:pt x="417" y="539"/>
                    <a:pt x="417" y="539"/>
                    <a:pt x="417" y="539"/>
                  </a:cubicBezTo>
                  <a:cubicBezTo>
                    <a:pt x="486" y="527"/>
                    <a:pt x="486" y="527"/>
                    <a:pt x="486" y="527"/>
                  </a:cubicBezTo>
                  <a:cubicBezTo>
                    <a:pt x="539" y="518"/>
                    <a:pt x="539" y="518"/>
                    <a:pt x="539" y="518"/>
                  </a:cubicBezTo>
                  <a:cubicBezTo>
                    <a:pt x="574" y="546"/>
                    <a:pt x="574" y="546"/>
                    <a:pt x="574" y="546"/>
                  </a:cubicBezTo>
                  <a:cubicBezTo>
                    <a:pt x="587" y="569"/>
                    <a:pt x="587" y="569"/>
                    <a:pt x="587" y="569"/>
                  </a:cubicBezTo>
                  <a:cubicBezTo>
                    <a:pt x="587" y="563"/>
                    <a:pt x="602" y="555"/>
                    <a:pt x="602" y="555"/>
                  </a:cubicBezTo>
                  <a:cubicBezTo>
                    <a:pt x="602" y="555"/>
                    <a:pt x="590" y="545"/>
                    <a:pt x="588" y="540"/>
                  </a:cubicBezTo>
                  <a:cubicBezTo>
                    <a:pt x="586" y="535"/>
                    <a:pt x="603" y="508"/>
                    <a:pt x="603" y="508"/>
                  </a:cubicBezTo>
                  <a:lnTo>
                    <a:pt x="599" y="500"/>
                  </a:ln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551" name="Freeform 343">
              <a:extLst>
                <a:ext uri="{FF2B5EF4-FFF2-40B4-BE49-F238E27FC236}">
                  <a16:creationId xmlns:a16="http://schemas.microsoft.com/office/drawing/2014/main" id="{832F8B64-C8A6-42DF-AA48-350DD0FB6D13}"/>
                </a:ext>
              </a:extLst>
            </p:cNvPr>
            <p:cNvSpPr>
              <a:spLocks/>
            </p:cNvSpPr>
            <p:nvPr/>
          </p:nvSpPr>
          <p:spPr bwMode="gray">
            <a:xfrm>
              <a:off x="6405048" y="1122333"/>
              <a:ext cx="541277" cy="286692"/>
            </a:xfrm>
            <a:custGeom>
              <a:avLst/>
              <a:gdLst>
                <a:gd name="T0" fmla="*/ 764 w 798"/>
                <a:gd name="T1" fmla="*/ 243 h 447"/>
                <a:gd name="T2" fmla="*/ 745 w 798"/>
                <a:gd name="T3" fmla="*/ 230 h 447"/>
                <a:gd name="T4" fmla="*/ 721 w 798"/>
                <a:gd name="T5" fmla="*/ 212 h 447"/>
                <a:gd name="T6" fmla="*/ 712 w 798"/>
                <a:gd name="T7" fmla="*/ 222 h 447"/>
                <a:gd name="T8" fmla="*/ 689 w 798"/>
                <a:gd name="T9" fmla="*/ 229 h 447"/>
                <a:gd name="T10" fmla="*/ 660 w 798"/>
                <a:gd name="T11" fmla="*/ 212 h 447"/>
                <a:gd name="T12" fmla="*/ 690 w 798"/>
                <a:gd name="T13" fmla="*/ 175 h 447"/>
                <a:gd name="T14" fmla="*/ 653 w 798"/>
                <a:gd name="T15" fmla="*/ 185 h 447"/>
                <a:gd name="T16" fmla="*/ 623 w 798"/>
                <a:gd name="T17" fmla="*/ 208 h 447"/>
                <a:gd name="T18" fmla="*/ 596 w 798"/>
                <a:gd name="T19" fmla="*/ 236 h 447"/>
                <a:gd name="T20" fmla="*/ 573 w 798"/>
                <a:gd name="T21" fmla="*/ 259 h 447"/>
                <a:gd name="T22" fmla="*/ 509 w 798"/>
                <a:gd name="T23" fmla="*/ 228 h 447"/>
                <a:gd name="T24" fmla="*/ 469 w 798"/>
                <a:gd name="T25" fmla="*/ 188 h 447"/>
                <a:gd name="T26" fmla="*/ 441 w 798"/>
                <a:gd name="T27" fmla="*/ 136 h 447"/>
                <a:gd name="T28" fmla="*/ 379 w 798"/>
                <a:gd name="T29" fmla="*/ 105 h 447"/>
                <a:gd name="T30" fmla="*/ 272 w 798"/>
                <a:gd name="T31" fmla="*/ 108 h 447"/>
                <a:gd name="T32" fmla="*/ 177 w 798"/>
                <a:gd name="T33" fmla="*/ 38 h 447"/>
                <a:gd name="T34" fmla="*/ 174 w 798"/>
                <a:gd name="T35" fmla="*/ 75 h 447"/>
                <a:gd name="T36" fmla="*/ 149 w 798"/>
                <a:gd name="T37" fmla="*/ 55 h 447"/>
                <a:gd name="T38" fmla="*/ 145 w 798"/>
                <a:gd name="T39" fmla="*/ 23 h 447"/>
                <a:gd name="T40" fmla="*/ 106 w 798"/>
                <a:gd name="T41" fmla="*/ 20 h 447"/>
                <a:gd name="T42" fmla="*/ 116 w 798"/>
                <a:gd name="T43" fmla="*/ 45 h 447"/>
                <a:gd name="T44" fmla="*/ 92 w 798"/>
                <a:gd name="T45" fmla="*/ 37 h 447"/>
                <a:gd name="T46" fmla="*/ 103 w 798"/>
                <a:gd name="T47" fmla="*/ 3 h 447"/>
                <a:gd name="T48" fmla="*/ 0 w 798"/>
                <a:gd name="T49" fmla="*/ 31 h 447"/>
                <a:gd name="T50" fmla="*/ 37 w 798"/>
                <a:gd name="T51" fmla="*/ 217 h 447"/>
                <a:gd name="T52" fmla="*/ 92 w 798"/>
                <a:gd name="T53" fmla="*/ 224 h 447"/>
                <a:gd name="T54" fmla="*/ 112 w 798"/>
                <a:gd name="T55" fmla="*/ 175 h 447"/>
                <a:gd name="T56" fmla="*/ 139 w 798"/>
                <a:gd name="T57" fmla="*/ 169 h 447"/>
                <a:gd name="T58" fmla="*/ 139 w 798"/>
                <a:gd name="T59" fmla="*/ 152 h 447"/>
                <a:gd name="T60" fmla="*/ 155 w 798"/>
                <a:gd name="T61" fmla="*/ 161 h 447"/>
                <a:gd name="T62" fmla="*/ 169 w 798"/>
                <a:gd name="T63" fmla="*/ 168 h 447"/>
                <a:gd name="T64" fmla="*/ 201 w 798"/>
                <a:gd name="T65" fmla="*/ 173 h 447"/>
                <a:gd name="T66" fmla="*/ 219 w 798"/>
                <a:gd name="T67" fmla="*/ 197 h 447"/>
                <a:gd name="T68" fmla="*/ 243 w 798"/>
                <a:gd name="T69" fmla="*/ 227 h 447"/>
                <a:gd name="T70" fmla="*/ 279 w 798"/>
                <a:gd name="T71" fmla="*/ 225 h 447"/>
                <a:gd name="T72" fmla="*/ 312 w 798"/>
                <a:gd name="T73" fmla="*/ 256 h 447"/>
                <a:gd name="T74" fmla="*/ 336 w 798"/>
                <a:gd name="T75" fmla="*/ 293 h 447"/>
                <a:gd name="T76" fmla="*/ 381 w 798"/>
                <a:gd name="T77" fmla="*/ 319 h 447"/>
                <a:gd name="T78" fmla="*/ 417 w 798"/>
                <a:gd name="T79" fmla="*/ 348 h 447"/>
                <a:gd name="T80" fmla="*/ 444 w 798"/>
                <a:gd name="T81" fmla="*/ 357 h 447"/>
                <a:gd name="T82" fmla="*/ 476 w 798"/>
                <a:gd name="T83" fmla="*/ 376 h 447"/>
                <a:gd name="T84" fmla="*/ 516 w 798"/>
                <a:gd name="T85" fmla="*/ 387 h 447"/>
                <a:gd name="T86" fmla="*/ 548 w 798"/>
                <a:gd name="T87" fmla="*/ 425 h 447"/>
                <a:gd name="T88" fmla="*/ 563 w 798"/>
                <a:gd name="T89" fmla="*/ 437 h 447"/>
                <a:gd name="T90" fmla="*/ 580 w 798"/>
                <a:gd name="T91" fmla="*/ 445 h 447"/>
                <a:gd name="T92" fmla="*/ 596 w 798"/>
                <a:gd name="T93" fmla="*/ 440 h 447"/>
                <a:gd name="T94" fmla="*/ 603 w 798"/>
                <a:gd name="T95" fmla="*/ 445 h 447"/>
                <a:gd name="T96" fmla="*/ 622 w 798"/>
                <a:gd name="T97" fmla="*/ 397 h 447"/>
                <a:gd name="T98" fmla="*/ 603 w 798"/>
                <a:gd name="T99" fmla="*/ 353 h 447"/>
                <a:gd name="T100" fmla="*/ 575 w 798"/>
                <a:gd name="T101" fmla="*/ 339 h 447"/>
                <a:gd name="T102" fmla="*/ 567 w 798"/>
                <a:gd name="T103" fmla="*/ 321 h 447"/>
                <a:gd name="T104" fmla="*/ 610 w 798"/>
                <a:gd name="T105" fmla="*/ 305 h 447"/>
                <a:gd name="T106" fmla="*/ 607 w 798"/>
                <a:gd name="T107" fmla="*/ 282 h 447"/>
                <a:gd name="T108" fmla="*/ 626 w 798"/>
                <a:gd name="T109" fmla="*/ 264 h 447"/>
                <a:gd name="T110" fmla="*/ 652 w 798"/>
                <a:gd name="T111" fmla="*/ 260 h 447"/>
                <a:gd name="T112" fmla="*/ 694 w 798"/>
                <a:gd name="T113" fmla="*/ 251 h 447"/>
                <a:gd name="T114" fmla="*/ 701 w 798"/>
                <a:gd name="T115" fmla="*/ 283 h 447"/>
                <a:gd name="T116" fmla="*/ 741 w 798"/>
                <a:gd name="T117" fmla="*/ 286 h 447"/>
                <a:gd name="T118" fmla="*/ 766 w 798"/>
                <a:gd name="T119" fmla="*/ 271 h 447"/>
                <a:gd name="T120" fmla="*/ 788 w 798"/>
                <a:gd name="T121" fmla="*/ 254 h 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98" h="447">
                  <a:moveTo>
                    <a:pt x="769" y="248"/>
                  </a:moveTo>
                  <a:cubicBezTo>
                    <a:pt x="764" y="243"/>
                    <a:pt x="764" y="243"/>
                    <a:pt x="764" y="243"/>
                  </a:cubicBezTo>
                  <a:cubicBezTo>
                    <a:pt x="751" y="241"/>
                    <a:pt x="751" y="241"/>
                    <a:pt x="751" y="241"/>
                  </a:cubicBezTo>
                  <a:cubicBezTo>
                    <a:pt x="745" y="230"/>
                    <a:pt x="745" y="230"/>
                    <a:pt x="745" y="230"/>
                  </a:cubicBezTo>
                  <a:cubicBezTo>
                    <a:pt x="732" y="230"/>
                    <a:pt x="732" y="230"/>
                    <a:pt x="732" y="230"/>
                  </a:cubicBezTo>
                  <a:cubicBezTo>
                    <a:pt x="721" y="212"/>
                    <a:pt x="721" y="212"/>
                    <a:pt x="721" y="212"/>
                  </a:cubicBezTo>
                  <a:cubicBezTo>
                    <a:pt x="721" y="222"/>
                    <a:pt x="721" y="222"/>
                    <a:pt x="721" y="222"/>
                  </a:cubicBezTo>
                  <a:cubicBezTo>
                    <a:pt x="712" y="222"/>
                    <a:pt x="712" y="222"/>
                    <a:pt x="712" y="222"/>
                  </a:cubicBezTo>
                  <a:cubicBezTo>
                    <a:pt x="713" y="231"/>
                    <a:pt x="713" y="231"/>
                    <a:pt x="713" y="231"/>
                  </a:cubicBezTo>
                  <a:cubicBezTo>
                    <a:pt x="713" y="231"/>
                    <a:pt x="694" y="233"/>
                    <a:pt x="689" y="229"/>
                  </a:cubicBezTo>
                  <a:cubicBezTo>
                    <a:pt x="684" y="225"/>
                    <a:pt x="683" y="220"/>
                    <a:pt x="683" y="220"/>
                  </a:cubicBezTo>
                  <a:cubicBezTo>
                    <a:pt x="660" y="212"/>
                    <a:pt x="660" y="212"/>
                    <a:pt x="660" y="212"/>
                  </a:cubicBezTo>
                  <a:cubicBezTo>
                    <a:pt x="660" y="212"/>
                    <a:pt x="696" y="183"/>
                    <a:pt x="694" y="178"/>
                  </a:cubicBezTo>
                  <a:cubicBezTo>
                    <a:pt x="693" y="177"/>
                    <a:pt x="692" y="176"/>
                    <a:pt x="690" y="175"/>
                  </a:cubicBezTo>
                  <a:cubicBezTo>
                    <a:pt x="671" y="184"/>
                    <a:pt x="671" y="184"/>
                    <a:pt x="671" y="184"/>
                  </a:cubicBezTo>
                  <a:cubicBezTo>
                    <a:pt x="653" y="185"/>
                    <a:pt x="653" y="185"/>
                    <a:pt x="653" y="185"/>
                  </a:cubicBezTo>
                  <a:cubicBezTo>
                    <a:pt x="645" y="203"/>
                    <a:pt x="645" y="203"/>
                    <a:pt x="645" y="203"/>
                  </a:cubicBezTo>
                  <a:cubicBezTo>
                    <a:pt x="645" y="203"/>
                    <a:pt x="633" y="205"/>
                    <a:pt x="623" y="208"/>
                  </a:cubicBezTo>
                  <a:cubicBezTo>
                    <a:pt x="612" y="211"/>
                    <a:pt x="613" y="229"/>
                    <a:pt x="613" y="229"/>
                  </a:cubicBezTo>
                  <a:cubicBezTo>
                    <a:pt x="613" y="229"/>
                    <a:pt x="605" y="229"/>
                    <a:pt x="596" y="236"/>
                  </a:cubicBezTo>
                  <a:cubicBezTo>
                    <a:pt x="587" y="243"/>
                    <a:pt x="595" y="267"/>
                    <a:pt x="595" y="267"/>
                  </a:cubicBezTo>
                  <a:cubicBezTo>
                    <a:pt x="595" y="267"/>
                    <a:pt x="584" y="261"/>
                    <a:pt x="573" y="259"/>
                  </a:cubicBezTo>
                  <a:cubicBezTo>
                    <a:pt x="563" y="256"/>
                    <a:pt x="580" y="243"/>
                    <a:pt x="573" y="233"/>
                  </a:cubicBezTo>
                  <a:cubicBezTo>
                    <a:pt x="567" y="224"/>
                    <a:pt x="520" y="233"/>
                    <a:pt x="509" y="228"/>
                  </a:cubicBezTo>
                  <a:cubicBezTo>
                    <a:pt x="499" y="223"/>
                    <a:pt x="497" y="199"/>
                    <a:pt x="488" y="188"/>
                  </a:cubicBezTo>
                  <a:cubicBezTo>
                    <a:pt x="479" y="177"/>
                    <a:pt x="479" y="191"/>
                    <a:pt x="469" y="188"/>
                  </a:cubicBezTo>
                  <a:cubicBezTo>
                    <a:pt x="460" y="185"/>
                    <a:pt x="467" y="137"/>
                    <a:pt x="461" y="136"/>
                  </a:cubicBezTo>
                  <a:cubicBezTo>
                    <a:pt x="456" y="135"/>
                    <a:pt x="441" y="136"/>
                    <a:pt x="441" y="136"/>
                  </a:cubicBezTo>
                  <a:cubicBezTo>
                    <a:pt x="441" y="136"/>
                    <a:pt x="411" y="93"/>
                    <a:pt x="404" y="93"/>
                  </a:cubicBezTo>
                  <a:cubicBezTo>
                    <a:pt x="397" y="93"/>
                    <a:pt x="379" y="105"/>
                    <a:pt x="379" y="105"/>
                  </a:cubicBezTo>
                  <a:cubicBezTo>
                    <a:pt x="379" y="105"/>
                    <a:pt x="341" y="101"/>
                    <a:pt x="325" y="101"/>
                  </a:cubicBezTo>
                  <a:cubicBezTo>
                    <a:pt x="309" y="101"/>
                    <a:pt x="272" y="108"/>
                    <a:pt x="272" y="108"/>
                  </a:cubicBezTo>
                  <a:cubicBezTo>
                    <a:pt x="223" y="60"/>
                    <a:pt x="223" y="60"/>
                    <a:pt x="223" y="60"/>
                  </a:cubicBezTo>
                  <a:cubicBezTo>
                    <a:pt x="177" y="38"/>
                    <a:pt x="177" y="38"/>
                    <a:pt x="177" y="38"/>
                  </a:cubicBezTo>
                  <a:cubicBezTo>
                    <a:pt x="181" y="47"/>
                    <a:pt x="186" y="56"/>
                    <a:pt x="183" y="61"/>
                  </a:cubicBezTo>
                  <a:cubicBezTo>
                    <a:pt x="178" y="70"/>
                    <a:pt x="174" y="75"/>
                    <a:pt x="174" y="75"/>
                  </a:cubicBezTo>
                  <a:cubicBezTo>
                    <a:pt x="174" y="75"/>
                    <a:pt x="162" y="76"/>
                    <a:pt x="154" y="70"/>
                  </a:cubicBezTo>
                  <a:cubicBezTo>
                    <a:pt x="146" y="64"/>
                    <a:pt x="149" y="55"/>
                    <a:pt x="149" y="55"/>
                  </a:cubicBezTo>
                  <a:cubicBezTo>
                    <a:pt x="142" y="36"/>
                    <a:pt x="142" y="36"/>
                    <a:pt x="142" y="36"/>
                  </a:cubicBezTo>
                  <a:cubicBezTo>
                    <a:pt x="145" y="23"/>
                    <a:pt x="145" y="23"/>
                    <a:pt x="145" y="23"/>
                  </a:cubicBezTo>
                  <a:cubicBezTo>
                    <a:pt x="112" y="7"/>
                    <a:pt x="112" y="7"/>
                    <a:pt x="112" y="7"/>
                  </a:cubicBezTo>
                  <a:cubicBezTo>
                    <a:pt x="106" y="20"/>
                    <a:pt x="106" y="20"/>
                    <a:pt x="106" y="20"/>
                  </a:cubicBezTo>
                  <a:cubicBezTo>
                    <a:pt x="106" y="20"/>
                    <a:pt x="119" y="28"/>
                    <a:pt x="119" y="37"/>
                  </a:cubicBezTo>
                  <a:cubicBezTo>
                    <a:pt x="119" y="46"/>
                    <a:pt x="116" y="45"/>
                    <a:pt x="116" y="45"/>
                  </a:cubicBezTo>
                  <a:cubicBezTo>
                    <a:pt x="116" y="45"/>
                    <a:pt x="117" y="55"/>
                    <a:pt x="106" y="57"/>
                  </a:cubicBezTo>
                  <a:cubicBezTo>
                    <a:pt x="95" y="59"/>
                    <a:pt x="98" y="39"/>
                    <a:pt x="92" y="37"/>
                  </a:cubicBezTo>
                  <a:cubicBezTo>
                    <a:pt x="86" y="35"/>
                    <a:pt x="99" y="21"/>
                    <a:pt x="99" y="21"/>
                  </a:cubicBezTo>
                  <a:cubicBezTo>
                    <a:pt x="103" y="3"/>
                    <a:pt x="103" y="3"/>
                    <a:pt x="103" y="3"/>
                  </a:cubicBezTo>
                  <a:cubicBezTo>
                    <a:pt x="96" y="0"/>
                    <a:pt x="96" y="0"/>
                    <a:pt x="96" y="0"/>
                  </a:cubicBezTo>
                  <a:cubicBezTo>
                    <a:pt x="0" y="31"/>
                    <a:pt x="0" y="31"/>
                    <a:pt x="0" y="31"/>
                  </a:cubicBezTo>
                  <a:cubicBezTo>
                    <a:pt x="35" y="218"/>
                    <a:pt x="35" y="218"/>
                    <a:pt x="35" y="218"/>
                  </a:cubicBezTo>
                  <a:cubicBezTo>
                    <a:pt x="36" y="218"/>
                    <a:pt x="36" y="217"/>
                    <a:pt x="37" y="217"/>
                  </a:cubicBezTo>
                  <a:cubicBezTo>
                    <a:pt x="44" y="217"/>
                    <a:pt x="48" y="224"/>
                    <a:pt x="48" y="224"/>
                  </a:cubicBezTo>
                  <a:cubicBezTo>
                    <a:pt x="92" y="224"/>
                    <a:pt x="92" y="224"/>
                    <a:pt x="92" y="224"/>
                  </a:cubicBezTo>
                  <a:cubicBezTo>
                    <a:pt x="92" y="224"/>
                    <a:pt x="77" y="208"/>
                    <a:pt x="79" y="195"/>
                  </a:cubicBezTo>
                  <a:cubicBezTo>
                    <a:pt x="80" y="181"/>
                    <a:pt x="112" y="175"/>
                    <a:pt x="112" y="175"/>
                  </a:cubicBezTo>
                  <a:cubicBezTo>
                    <a:pt x="112" y="175"/>
                    <a:pt x="112" y="164"/>
                    <a:pt x="116" y="163"/>
                  </a:cubicBezTo>
                  <a:cubicBezTo>
                    <a:pt x="120" y="161"/>
                    <a:pt x="139" y="169"/>
                    <a:pt x="139" y="169"/>
                  </a:cubicBezTo>
                  <a:cubicBezTo>
                    <a:pt x="119" y="151"/>
                    <a:pt x="119" y="151"/>
                    <a:pt x="119" y="151"/>
                  </a:cubicBezTo>
                  <a:cubicBezTo>
                    <a:pt x="139" y="152"/>
                    <a:pt x="139" y="152"/>
                    <a:pt x="139" y="152"/>
                  </a:cubicBezTo>
                  <a:cubicBezTo>
                    <a:pt x="143" y="145"/>
                    <a:pt x="143" y="145"/>
                    <a:pt x="143" y="145"/>
                  </a:cubicBezTo>
                  <a:cubicBezTo>
                    <a:pt x="155" y="161"/>
                    <a:pt x="155" y="161"/>
                    <a:pt x="155" y="161"/>
                  </a:cubicBezTo>
                  <a:cubicBezTo>
                    <a:pt x="171" y="160"/>
                    <a:pt x="171" y="160"/>
                    <a:pt x="171" y="160"/>
                  </a:cubicBezTo>
                  <a:cubicBezTo>
                    <a:pt x="169" y="168"/>
                    <a:pt x="169" y="168"/>
                    <a:pt x="169" y="168"/>
                  </a:cubicBezTo>
                  <a:cubicBezTo>
                    <a:pt x="179" y="172"/>
                    <a:pt x="179" y="172"/>
                    <a:pt x="179" y="172"/>
                  </a:cubicBezTo>
                  <a:cubicBezTo>
                    <a:pt x="179" y="172"/>
                    <a:pt x="192" y="169"/>
                    <a:pt x="201" y="173"/>
                  </a:cubicBezTo>
                  <a:cubicBezTo>
                    <a:pt x="211" y="177"/>
                    <a:pt x="209" y="192"/>
                    <a:pt x="209" y="192"/>
                  </a:cubicBezTo>
                  <a:cubicBezTo>
                    <a:pt x="219" y="197"/>
                    <a:pt x="219" y="197"/>
                    <a:pt x="219" y="197"/>
                  </a:cubicBezTo>
                  <a:cubicBezTo>
                    <a:pt x="219" y="197"/>
                    <a:pt x="207" y="209"/>
                    <a:pt x="212" y="219"/>
                  </a:cubicBezTo>
                  <a:cubicBezTo>
                    <a:pt x="217" y="228"/>
                    <a:pt x="243" y="227"/>
                    <a:pt x="243" y="227"/>
                  </a:cubicBezTo>
                  <a:cubicBezTo>
                    <a:pt x="279" y="231"/>
                    <a:pt x="279" y="231"/>
                    <a:pt x="279" y="231"/>
                  </a:cubicBezTo>
                  <a:cubicBezTo>
                    <a:pt x="279" y="225"/>
                    <a:pt x="279" y="225"/>
                    <a:pt x="279" y="225"/>
                  </a:cubicBezTo>
                  <a:cubicBezTo>
                    <a:pt x="303" y="237"/>
                    <a:pt x="303" y="237"/>
                    <a:pt x="303" y="237"/>
                  </a:cubicBezTo>
                  <a:cubicBezTo>
                    <a:pt x="312" y="256"/>
                    <a:pt x="312" y="256"/>
                    <a:pt x="312" y="256"/>
                  </a:cubicBezTo>
                  <a:cubicBezTo>
                    <a:pt x="325" y="271"/>
                    <a:pt x="325" y="271"/>
                    <a:pt x="325" y="271"/>
                  </a:cubicBezTo>
                  <a:cubicBezTo>
                    <a:pt x="325" y="271"/>
                    <a:pt x="333" y="283"/>
                    <a:pt x="336" y="293"/>
                  </a:cubicBezTo>
                  <a:cubicBezTo>
                    <a:pt x="339" y="304"/>
                    <a:pt x="351" y="309"/>
                    <a:pt x="357" y="312"/>
                  </a:cubicBezTo>
                  <a:cubicBezTo>
                    <a:pt x="364" y="315"/>
                    <a:pt x="377" y="317"/>
                    <a:pt x="381" y="319"/>
                  </a:cubicBezTo>
                  <a:cubicBezTo>
                    <a:pt x="385" y="320"/>
                    <a:pt x="397" y="336"/>
                    <a:pt x="397" y="336"/>
                  </a:cubicBezTo>
                  <a:cubicBezTo>
                    <a:pt x="417" y="348"/>
                    <a:pt x="417" y="348"/>
                    <a:pt x="417" y="348"/>
                  </a:cubicBezTo>
                  <a:cubicBezTo>
                    <a:pt x="435" y="349"/>
                    <a:pt x="435" y="349"/>
                    <a:pt x="435" y="349"/>
                  </a:cubicBezTo>
                  <a:cubicBezTo>
                    <a:pt x="444" y="357"/>
                    <a:pt x="444" y="357"/>
                    <a:pt x="444" y="357"/>
                  </a:cubicBezTo>
                  <a:cubicBezTo>
                    <a:pt x="455" y="360"/>
                    <a:pt x="455" y="360"/>
                    <a:pt x="455" y="360"/>
                  </a:cubicBezTo>
                  <a:cubicBezTo>
                    <a:pt x="455" y="360"/>
                    <a:pt x="469" y="371"/>
                    <a:pt x="476" y="376"/>
                  </a:cubicBezTo>
                  <a:cubicBezTo>
                    <a:pt x="483" y="381"/>
                    <a:pt x="501" y="389"/>
                    <a:pt x="501" y="389"/>
                  </a:cubicBezTo>
                  <a:cubicBezTo>
                    <a:pt x="516" y="387"/>
                    <a:pt x="516" y="387"/>
                    <a:pt x="516" y="387"/>
                  </a:cubicBezTo>
                  <a:cubicBezTo>
                    <a:pt x="549" y="405"/>
                    <a:pt x="549" y="405"/>
                    <a:pt x="549" y="405"/>
                  </a:cubicBezTo>
                  <a:cubicBezTo>
                    <a:pt x="549" y="405"/>
                    <a:pt x="537" y="417"/>
                    <a:pt x="548" y="425"/>
                  </a:cubicBezTo>
                  <a:cubicBezTo>
                    <a:pt x="554" y="430"/>
                    <a:pt x="555" y="434"/>
                    <a:pt x="555" y="437"/>
                  </a:cubicBezTo>
                  <a:cubicBezTo>
                    <a:pt x="563" y="437"/>
                    <a:pt x="563" y="437"/>
                    <a:pt x="563" y="437"/>
                  </a:cubicBezTo>
                  <a:cubicBezTo>
                    <a:pt x="571" y="431"/>
                    <a:pt x="571" y="431"/>
                    <a:pt x="571" y="431"/>
                  </a:cubicBezTo>
                  <a:cubicBezTo>
                    <a:pt x="580" y="445"/>
                    <a:pt x="580" y="445"/>
                    <a:pt x="580" y="445"/>
                  </a:cubicBezTo>
                  <a:cubicBezTo>
                    <a:pt x="591" y="440"/>
                    <a:pt x="591" y="440"/>
                    <a:pt x="591" y="440"/>
                  </a:cubicBezTo>
                  <a:cubicBezTo>
                    <a:pt x="596" y="440"/>
                    <a:pt x="596" y="440"/>
                    <a:pt x="596" y="440"/>
                  </a:cubicBezTo>
                  <a:cubicBezTo>
                    <a:pt x="596" y="440"/>
                    <a:pt x="600" y="443"/>
                    <a:pt x="605" y="447"/>
                  </a:cubicBezTo>
                  <a:cubicBezTo>
                    <a:pt x="604" y="446"/>
                    <a:pt x="603" y="446"/>
                    <a:pt x="603" y="445"/>
                  </a:cubicBezTo>
                  <a:cubicBezTo>
                    <a:pt x="602" y="439"/>
                    <a:pt x="601" y="430"/>
                    <a:pt x="605" y="426"/>
                  </a:cubicBezTo>
                  <a:cubicBezTo>
                    <a:pt x="612" y="418"/>
                    <a:pt x="622" y="408"/>
                    <a:pt x="622" y="397"/>
                  </a:cubicBezTo>
                  <a:cubicBezTo>
                    <a:pt x="622" y="386"/>
                    <a:pt x="609" y="387"/>
                    <a:pt x="603" y="377"/>
                  </a:cubicBezTo>
                  <a:cubicBezTo>
                    <a:pt x="597" y="367"/>
                    <a:pt x="608" y="358"/>
                    <a:pt x="603" y="353"/>
                  </a:cubicBezTo>
                  <a:cubicBezTo>
                    <a:pt x="598" y="348"/>
                    <a:pt x="582" y="347"/>
                    <a:pt x="582" y="347"/>
                  </a:cubicBezTo>
                  <a:cubicBezTo>
                    <a:pt x="575" y="339"/>
                    <a:pt x="575" y="339"/>
                    <a:pt x="575" y="339"/>
                  </a:cubicBezTo>
                  <a:cubicBezTo>
                    <a:pt x="561" y="336"/>
                    <a:pt x="561" y="336"/>
                    <a:pt x="561" y="336"/>
                  </a:cubicBezTo>
                  <a:cubicBezTo>
                    <a:pt x="561" y="336"/>
                    <a:pt x="561" y="326"/>
                    <a:pt x="567" y="321"/>
                  </a:cubicBezTo>
                  <a:cubicBezTo>
                    <a:pt x="573" y="316"/>
                    <a:pt x="592" y="328"/>
                    <a:pt x="607" y="319"/>
                  </a:cubicBezTo>
                  <a:cubicBezTo>
                    <a:pt x="622" y="310"/>
                    <a:pt x="610" y="305"/>
                    <a:pt x="610" y="305"/>
                  </a:cubicBezTo>
                  <a:cubicBezTo>
                    <a:pt x="620" y="296"/>
                    <a:pt x="620" y="296"/>
                    <a:pt x="620" y="296"/>
                  </a:cubicBezTo>
                  <a:cubicBezTo>
                    <a:pt x="607" y="282"/>
                    <a:pt x="607" y="282"/>
                    <a:pt x="607" y="282"/>
                  </a:cubicBezTo>
                  <a:cubicBezTo>
                    <a:pt x="607" y="282"/>
                    <a:pt x="626" y="287"/>
                    <a:pt x="632" y="281"/>
                  </a:cubicBezTo>
                  <a:cubicBezTo>
                    <a:pt x="638" y="275"/>
                    <a:pt x="625" y="268"/>
                    <a:pt x="626" y="264"/>
                  </a:cubicBezTo>
                  <a:cubicBezTo>
                    <a:pt x="627" y="260"/>
                    <a:pt x="629" y="251"/>
                    <a:pt x="635" y="251"/>
                  </a:cubicBezTo>
                  <a:cubicBezTo>
                    <a:pt x="641" y="251"/>
                    <a:pt x="644" y="265"/>
                    <a:pt x="652" y="260"/>
                  </a:cubicBezTo>
                  <a:cubicBezTo>
                    <a:pt x="660" y="255"/>
                    <a:pt x="671" y="243"/>
                    <a:pt x="675" y="241"/>
                  </a:cubicBezTo>
                  <a:cubicBezTo>
                    <a:pt x="679" y="239"/>
                    <a:pt x="694" y="251"/>
                    <a:pt x="694" y="251"/>
                  </a:cubicBezTo>
                  <a:cubicBezTo>
                    <a:pt x="678" y="272"/>
                    <a:pt x="678" y="272"/>
                    <a:pt x="678" y="272"/>
                  </a:cubicBezTo>
                  <a:cubicBezTo>
                    <a:pt x="678" y="272"/>
                    <a:pt x="698" y="278"/>
                    <a:pt x="701" y="283"/>
                  </a:cubicBezTo>
                  <a:cubicBezTo>
                    <a:pt x="708" y="280"/>
                    <a:pt x="717" y="277"/>
                    <a:pt x="721" y="276"/>
                  </a:cubicBezTo>
                  <a:cubicBezTo>
                    <a:pt x="728" y="274"/>
                    <a:pt x="732" y="290"/>
                    <a:pt x="741" y="286"/>
                  </a:cubicBezTo>
                  <a:cubicBezTo>
                    <a:pt x="750" y="282"/>
                    <a:pt x="752" y="273"/>
                    <a:pt x="752" y="273"/>
                  </a:cubicBezTo>
                  <a:cubicBezTo>
                    <a:pt x="766" y="271"/>
                    <a:pt x="766" y="271"/>
                    <a:pt x="766" y="271"/>
                  </a:cubicBezTo>
                  <a:cubicBezTo>
                    <a:pt x="766" y="265"/>
                    <a:pt x="766" y="265"/>
                    <a:pt x="766" y="265"/>
                  </a:cubicBezTo>
                  <a:cubicBezTo>
                    <a:pt x="766" y="265"/>
                    <a:pt x="778" y="266"/>
                    <a:pt x="788" y="254"/>
                  </a:cubicBezTo>
                  <a:cubicBezTo>
                    <a:pt x="798" y="242"/>
                    <a:pt x="769" y="248"/>
                    <a:pt x="769" y="248"/>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552" name="Freeform 344">
              <a:extLst>
                <a:ext uri="{FF2B5EF4-FFF2-40B4-BE49-F238E27FC236}">
                  <a16:creationId xmlns:a16="http://schemas.microsoft.com/office/drawing/2014/main" id="{BFE9B46D-AF50-4E7E-AF2B-ADE67124B2FB}"/>
                </a:ext>
              </a:extLst>
            </p:cNvPr>
            <p:cNvSpPr>
              <a:spLocks noEditPoints="1"/>
            </p:cNvSpPr>
            <p:nvPr/>
          </p:nvSpPr>
          <p:spPr bwMode="gray">
            <a:xfrm>
              <a:off x="6111294" y="794647"/>
              <a:ext cx="1134815" cy="498996"/>
            </a:xfrm>
            <a:custGeom>
              <a:avLst/>
              <a:gdLst>
                <a:gd name="T0" fmla="*/ 545 w 1673"/>
                <a:gd name="T1" fmla="*/ 518 h 778"/>
                <a:gd name="T2" fmla="*/ 1655 w 1673"/>
                <a:gd name="T3" fmla="*/ 327 h 778"/>
                <a:gd name="T4" fmla="*/ 1625 w 1673"/>
                <a:gd name="T5" fmla="*/ 304 h 778"/>
                <a:gd name="T6" fmla="*/ 1481 w 1673"/>
                <a:gd name="T7" fmla="*/ 226 h 778"/>
                <a:gd name="T8" fmla="*/ 1372 w 1673"/>
                <a:gd name="T9" fmla="*/ 207 h 778"/>
                <a:gd name="T10" fmla="*/ 1126 w 1673"/>
                <a:gd name="T11" fmla="*/ 70 h 778"/>
                <a:gd name="T12" fmla="*/ 1085 w 1673"/>
                <a:gd name="T13" fmla="*/ 76 h 778"/>
                <a:gd name="T14" fmla="*/ 1016 w 1673"/>
                <a:gd name="T15" fmla="*/ 98 h 778"/>
                <a:gd name="T16" fmla="*/ 972 w 1673"/>
                <a:gd name="T17" fmla="*/ 71 h 778"/>
                <a:gd name="T18" fmla="*/ 909 w 1673"/>
                <a:gd name="T19" fmla="*/ 36 h 778"/>
                <a:gd name="T20" fmla="*/ 812 w 1673"/>
                <a:gd name="T21" fmla="*/ 2 h 778"/>
                <a:gd name="T22" fmla="*/ 674 w 1673"/>
                <a:gd name="T23" fmla="*/ 52 h 778"/>
                <a:gd name="T24" fmla="*/ 521 w 1673"/>
                <a:gd name="T25" fmla="*/ 95 h 778"/>
                <a:gd name="T26" fmla="*/ 534 w 1673"/>
                <a:gd name="T27" fmla="*/ 123 h 778"/>
                <a:gd name="T28" fmla="*/ 528 w 1673"/>
                <a:gd name="T29" fmla="*/ 190 h 778"/>
                <a:gd name="T30" fmla="*/ 486 w 1673"/>
                <a:gd name="T31" fmla="*/ 244 h 778"/>
                <a:gd name="T32" fmla="*/ 356 w 1673"/>
                <a:gd name="T33" fmla="*/ 247 h 778"/>
                <a:gd name="T34" fmla="*/ 282 w 1673"/>
                <a:gd name="T35" fmla="*/ 216 h 778"/>
                <a:gd name="T36" fmla="*/ 197 w 1673"/>
                <a:gd name="T37" fmla="*/ 187 h 778"/>
                <a:gd name="T38" fmla="*/ 86 w 1673"/>
                <a:gd name="T39" fmla="*/ 224 h 778"/>
                <a:gd name="T40" fmla="*/ 17 w 1673"/>
                <a:gd name="T41" fmla="*/ 251 h 778"/>
                <a:gd name="T42" fmla="*/ 8 w 1673"/>
                <a:gd name="T43" fmla="*/ 322 h 778"/>
                <a:gd name="T44" fmla="*/ 73 w 1673"/>
                <a:gd name="T45" fmla="*/ 394 h 778"/>
                <a:gd name="T46" fmla="*/ 136 w 1673"/>
                <a:gd name="T47" fmla="*/ 460 h 778"/>
                <a:gd name="T48" fmla="*/ 289 w 1673"/>
                <a:gd name="T49" fmla="*/ 455 h 778"/>
                <a:gd name="T50" fmla="*/ 352 w 1673"/>
                <a:gd name="T51" fmla="*/ 524 h 778"/>
                <a:gd name="T52" fmla="*/ 338 w 1673"/>
                <a:gd name="T53" fmla="*/ 531 h 778"/>
                <a:gd name="T54" fmla="*/ 218 w 1673"/>
                <a:gd name="T55" fmla="*/ 544 h 778"/>
                <a:gd name="T56" fmla="*/ 228 w 1673"/>
                <a:gd name="T57" fmla="*/ 598 h 778"/>
                <a:gd name="T58" fmla="*/ 274 w 1673"/>
                <a:gd name="T59" fmla="*/ 654 h 778"/>
                <a:gd name="T60" fmla="*/ 328 w 1673"/>
                <a:gd name="T61" fmla="*/ 709 h 778"/>
                <a:gd name="T62" fmla="*/ 408 w 1673"/>
                <a:gd name="T63" fmla="*/ 690 h 778"/>
                <a:gd name="T64" fmla="*/ 468 w 1673"/>
                <a:gd name="T65" fmla="*/ 729 h 778"/>
                <a:gd name="T66" fmla="*/ 536 w 1673"/>
                <a:gd name="T67" fmla="*/ 513 h 778"/>
                <a:gd name="T68" fmla="*/ 582 w 1673"/>
                <a:gd name="T69" fmla="*/ 492 h 778"/>
                <a:gd name="T70" fmla="*/ 604 w 1673"/>
                <a:gd name="T71" fmla="*/ 479 h 778"/>
                <a:gd name="T72" fmla="*/ 584 w 1673"/>
                <a:gd name="T73" fmla="*/ 460 h 778"/>
                <a:gd name="T74" fmla="*/ 636 w 1673"/>
                <a:gd name="T75" fmla="*/ 455 h 778"/>
                <a:gd name="T76" fmla="*/ 590 w 1673"/>
                <a:gd name="T77" fmla="*/ 493 h 778"/>
                <a:gd name="T78" fmla="*/ 610 w 1673"/>
                <a:gd name="T79" fmla="*/ 549 h 778"/>
                <a:gd name="T80" fmla="*/ 812 w 1673"/>
                <a:gd name="T81" fmla="*/ 616 h 778"/>
                <a:gd name="T82" fmla="*/ 902 w 1673"/>
                <a:gd name="T83" fmla="*/ 699 h 778"/>
                <a:gd name="T84" fmla="*/ 1006 w 1673"/>
                <a:gd name="T85" fmla="*/ 770 h 778"/>
                <a:gd name="T86" fmla="*/ 1056 w 1673"/>
                <a:gd name="T87" fmla="*/ 719 h 778"/>
                <a:gd name="T88" fmla="*/ 1123 w 1673"/>
                <a:gd name="T89" fmla="*/ 686 h 778"/>
                <a:gd name="T90" fmla="*/ 1208 w 1673"/>
                <a:gd name="T91" fmla="*/ 672 h 778"/>
                <a:gd name="T92" fmla="*/ 1264 w 1673"/>
                <a:gd name="T93" fmla="*/ 647 h 778"/>
                <a:gd name="T94" fmla="*/ 1402 w 1673"/>
                <a:gd name="T95" fmla="*/ 651 h 778"/>
                <a:gd name="T96" fmla="*/ 1471 w 1673"/>
                <a:gd name="T97" fmla="*/ 676 h 778"/>
                <a:gd name="T98" fmla="*/ 1503 w 1673"/>
                <a:gd name="T99" fmla="*/ 659 h 778"/>
                <a:gd name="T100" fmla="*/ 1484 w 1673"/>
                <a:gd name="T101" fmla="*/ 587 h 778"/>
                <a:gd name="T102" fmla="*/ 1516 w 1673"/>
                <a:gd name="T103" fmla="*/ 518 h 778"/>
                <a:gd name="T104" fmla="*/ 1541 w 1673"/>
                <a:gd name="T105" fmla="*/ 513 h 778"/>
                <a:gd name="T106" fmla="*/ 1614 w 1673"/>
                <a:gd name="T107" fmla="*/ 434 h 778"/>
                <a:gd name="T108" fmla="*/ 1641 w 1673"/>
                <a:gd name="T109" fmla="*/ 397 h 778"/>
                <a:gd name="T110" fmla="*/ 1385 w 1673"/>
                <a:gd name="T111" fmla="*/ 465 h 778"/>
                <a:gd name="T112" fmla="*/ 1320 w 1673"/>
                <a:gd name="T113" fmla="*/ 467 h 778"/>
                <a:gd name="T114" fmla="*/ 1246 w 1673"/>
                <a:gd name="T115" fmla="*/ 460 h 778"/>
                <a:gd name="T116" fmla="*/ 1195 w 1673"/>
                <a:gd name="T117" fmla="*/ 489 h 778"/>
                <a:gd name="T118" fmla="*/ 1200 w 1673"/>
                <a:gd name="T119" fmla="*/ 542 h 778"/>
                <a:gd name="T120" fmla="*/ 1193 w 1673"/>
                <a:gd name="T121" fmla="*/ 448 h 778"/>
                <a:gd name="T122" fmla="*/ 1306 w 1673"/>
                <a:gd name="T123" fmla="*/ 458 h 778"/>
                <a:gd name="T124" fmla="*/ 1385 w 1673"/>
                <a:gd name="T125" fmla="*/ 465 h 7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673" h="778">
                  <a:moveTo>
                    <a:pt x="565" y="505"/>
                  </a:moveTo>
                  <a:cubicBezTo>
                    <a:pt x="558" y="500"/>
                    <a:pt x="557" y="497"/>
                    <a:pt x="557" y="497"/>
                  </a:cubicBezTo>
                  <a:cubicBezTo>
                    <a:pt x="548" y="511"/>
                    <a:pt x="548" y="511"/>
                    <a:pt x="548" y="511"/>
                  </a:cubicBezTo>
                  <a:cubicBezTo>
                    <a:pt x="545" y="518"/>
                    <a:pt x="545" y="518"/>
                    <a:pt x="545" y="518"/>
                  </a:cubicBezTo>
                  <a:cubicBezTo>
                    <a:pt x="578" y="534"/>
                    <a:pt x="578" y="534"/>
                    <a:pt x="578" y="534"/>
                  </a:cubicBezTo>
                  <a:cubicBezTo>
                    <a:pt x="580" y="525"/>
                    <a:pt x="580" y="525"/>
                    <a:pt x="580" y="525"/>
                  </a:cubicBezTo>
                  <a:cubicBezTo>
                    <a:pt x="580" y="525"/>
                    <a:pt x="572" y="510"/>
                    <a:pt x="565" y="505"/>
                  </a:cubicBezTo>
                  <a:close/>
                  <a:moveTo>
                    <a:pt x="1655" y="327"/>
                  </a:moveTo>
                  <a:cubicBezTo>
                    <a:pt x="1656" y="321"/>
                    <a:pt x="1666" y="322"/>
                    <a:pt x="1673" y="324"/>
                  </a:cubicBezTo>
                  <a:cubicBezTo>
                    <a:pt x="1649" y="298"/>
                    <a:pt x="1649" y="298"/>
                    <a:pt x="1649" y="298"/>
                  </a:cubicBezTo>
                  <a:cubicBezTo>
                    <a:pt x="1636" y="282"/>
                    <a:pt x="1636" y="282"/>
                    <a:pt x="1636" y="282"/>
                  </a:cubicBezTo>
                  <a:cubicBezTo>
                    <a:pt x="1625" y="304"/>
                    <a:pt x="1625" y="304"/>
                    <a:pt x="1625" y="304"/>
                  </a:cubicBezTo>
                  <a:cubicBezTo>
                    <a:pt x="1578" y="300"/>
                    <a:pt x="1578" y="300"/>
                    <a:pt x="1578" y="300"/>
                  </a:cubicBezTo>
                  <a:cubicBezTo>
                    <a:pt x="1578" y="300"/>
                    <a:pt x="1562" y="272"/>
                    <a:pt x="1561" y="268"/>
                  </a:cubicBezTo>
                  <a:cubicBezTo>
                    <a:pt x="1560" y="264"/>
                    <a:pt x="1525" y="259"/>
                    <a:pt x="1525" y="259"/>
                  </a:cubicBezTo>
                  <a:cubicBezTo>
                    <a:pt x="1525" y="259"/>
                    <a:pt x="1504" y="230"/>
                    <a:pt x="1481" y="226"/>
                  </a:cubicBezTo>
                  <a:cubicBezTo>
                    <a:pt x="1458" y="222"/>
                    <a:pt x="1442" y="243"/>
                    <a:pt x="1430" y="244"/>
                  </a:cubicBezTo>
                  <a:cubicBezTo>
                    <a:pt x="1418" y="246"/>
                    <a:pt x="1404" y="230"/>
                    <a:pt x="1404" y="230"/>
                  </a:cubicBezTo>
                  <a:cubicBezTo>
                    <a:pt x="1404" y="230"/>
                    <a:pt x="1386" y="228"/>
                    <a:pt x="1382" y="227"/>
                  </a:cubicBezTo>
                  <a:cubicBezTo>
                    <a:pt x="1378" y="226"/>
                    <a:pt x="1382" y="210"/>
                    <a:pt x="1372" y="207"/>
                  </a:cubicBezTo>
                  <a:cubicBezTo>
                    <a:pt x="1361" y="204"/>
                    <a:pt x="1365" y="234"/>
                    <a:pt x="1348" y="236"/>
                  </a:cubicBezTo>
                  <a:cubicBezTo>
                    <a:pt x="1330" y="239"/>
                    <a:pt x="1306" y="200"/>
                    <a:pt x="1292" y="187"/>
                  </a:cubicBezTo>
                  <a:cubicBezTo>
                    <a:pt x="1277" y="174"/>
                    <a:pt x="1205" y="107"/>
                    <a:pt x="1200" y="104"/>
                  </a:cubicBezTo>
                  <a:cubicBezTo>
                    <a:pt x="1194" y="102"/>
                    <a:pt x="1126" y="70"/>
                    <a:pt x="1126" y="70"/>
                  </a:cubicBezTo>
                  <a:cubicBezTo>
                    <a:pt x="1126" y="70"/>
                    <a:pt x="1146" y="58"/>
                    <a:pt x="1138" y="47"/>
                  </a:cubicBezTo>
                  <a:cubicBezTo>
                    <a:pt x="1130" y="36"/>
                    <a:pt x="1118" y="58"/>
                    <a:pt x="1118" y="58"/>
                  </a:cubicBezTo>
                  <a:cubicBezTo>
                    <a:pt x="1094" y="66"/>
                    <a:pt x="1094" y="66"/>
                    <a:pt x="1094" y="66"/>
                  </a:cubicBezTo>
                  <a:cubicBezTo>
                    <a:pt x="1085" y="76"/>
                    <a:pt x="1085" y="76"/>
                    <a:pt x="1085" y="76"/>
                  </a:cubicBezTo>
                  <a:cubicBezTo>
                    <a:pt x="1085" y="76"/>
                    <a:pt x="1077" y="78"/>
                    <a:pt x="1070" y="82"/>
                  </a:cubicBezTo>
                  <a:cubicBezTo>
                    <a:pt x="1064" y="86"/>
                    <a:pt x="1072" y="94"/>
                    <a:pt x="1064" y="100"/>
                  </a:cubicBezTo>
                  <a:cubicBezTo>
                    <a:pt x="1056" y="107"/>
                    <a:pt x="1041" y="91"/>
                    <a:pt x="1034" y="88"/>
                  </a:cubicBezTo>
                  <a:cubicBezTo>
                    <a:pt x="1028" y="86"/>
                    <a:pt x="1026" y="99"/>
                    <a:pt x="1016" y="98"/>
                  </a:cubicBezTo>
                  <a:cubicBezTo>
                    <a:pt x="1005" y="96"/>
                    <a:pt x="1026" y="80"/>
                    <a:pt x="1017" y="71"/>
                  </a:cubicBezTo>
                  <a:cubicBezTo>
                    <a:pt x="1008" y="62"/>
                    <a:pt x="1002" y="74"/>
                    <a:pt x="1002" y="74"/>
                  </a:cubicBezTo>
                  <a:cubicBezTo>
                    <a:pt x="985" y="63"/>
                    <a:pt x="985" y="63"/>
                    <a:pt x="985" y="63"/>
                  </a:cubicBezTo>
                  <a:cubicBezTo>
                    <a:pt x="972" y="71"/>
                    <a:pt x="972" y="71"/>
                    <a:pt x="972" y="71"/>
                  </a:cubicBezTo>
                  <a:cubicBezTo>
                    <a:pt x="953" y="50"/>
                    <a:pt x="953" y="50"/>
                    <a:pt x="953" y="50"/>
                  </a:cubicBezTo>
                  <a:cubicBezTo>
                    <a:pt x="946" y="60"/>
                    <a:pt x="946" y="60"/>
                    <a:pt x="946" y="60"/>
                  </a:cubicBezTo>
                  <a:cubicBezTo>
                    <a:pt x="946" y="60"/>
                    <a:pt x="918" y="64"/>
                    <a:pt x="913" y="64"/>
                  </a:cubicBezTo>
                  <a:cubicBezTo>
                    <a:pt x="908" y="64"/>
                    <a:pt x="909" y="43"/>
                    <a:pt x="909" y="36"/>
                  </a:cubicBezTo>
                  <a:cubicBezTo>
                    <a:pt x="909" y="30"/>
                    <a:pt x="897" y="30"/>
                    <a:pt x="897" y="30"/>
                  </a:cubicBezTo>
                  <a:cubicBezTo>
                    <a:pt x="897" y="30"/>
                    <a:pt x="892" y="12"/>
                    <a:pt x="884" y="7"/>
                  </a:cubicBezTo>
                  <a:cubicBezTo>
                    <a:pt x="876" y="2"/>
                    <a:pt x="869" y="11"/>
                    <a:pt x="864" y="11"/>
                  </a:cubicBezTo>
                  <a:cubicBezTo>
                    <a:pt x="858" y="11"/>
                    <a:pt x="845" y="0"/>
                    <a:pt x="812" y="2"/>
                  </a:cubicBezTo>
                  <a:cubicBezTo>
                    <a:pt x="778" y="3"/>
                    <a:pt x="781" y="23"/>
                    <a:pt x="781" y="23"/>
                  </a:cubicBezTo>
                  <a:cubicBezTo>
                    <a:pt x="781" y="23"/>
                    <a:pt x="761" y="30"/>
                    <a:pt x="740" y="35"/>
                  </a:cubicBezTo>
                  <a:cubicBezTo>
                    <a:pt x="718" y="40"/>
                    <a:pt x="690" y="36"/>
                    <a:pt x="682" y="36"/>
                  </a:cubicBezTo>
                  <a:cubicBezTo>
                    <a:pt x="674" y="36"/>
                    <a:pt x="674" y="52"/>
                    <a:pt x="674" y="52"/>
                  </a:cubicBezTo>
                  <a:cubicBezTo>
                    <a:pt x="632" y="52"/>
                    <a:pt x="632" y="52"/>
                    <a:pt x="632" y="52"/>
                  </a:cubicBezTo>
                  <a:cubicBezTo>
                    <a:pt x="628" y="64"/>
                    <a:pt x="628" y="64"/>
                    <a:pt x="628" y="64"/>
                  </a:cubicBezTo>
                  <a:cubicBezTo>
                    <a:pt x="628" y="64"/>
                    <a:pt x="596" y="63"/>
                    <a:pt x="550" y="70"/>
                  </a:cubicBezTo>
                  <a:cubicBezTo>
                    <a:pt x="505" y="76"/>
                    <a:pt x="521" y="95"/>
                    <a:pt x="521" y="95"/>
                  </a:cubicBezTo>
                  <a:cubicBezTo>
                    <a:pt x="540" y="96"/>
                    <a:pt x="540" y="96"/>
                    <a:pt x="540" y="96"/>
                  </a:cubicBezTo>
                  <a:cubicBezTo>
                    <a:pt x="529" y="108"/>
                    <a:pt x="529" y="108"/>
                    <a:pt x="529" y="108"/>
                  </a:cubicBezTo>
                  <a:cubicBezTo>
                    <a:pt x="529" y="108"/>
                    <a:pt x="572" y="116"/>
                    <a:pt x="572" y="123"/>
                  </a:cubicBezTo>
                  <a:cubicBezTo>
                    <a:pt x="572" y="130"/>
                    <a:pt x="534" y="123"/>
                    <a:pt x="534" y="123"/>
                  </a:cubicBezTo>
                  <a:cubicBezTo>
                    <a:pt x="528" y="134"/>
                    <a:pt x="528" y="134"/>
                    <a:pt x="528" y="134"/>
                  </a:cubicBezTo>
                  <a:cubicBezTo>
                    <a:pt x="528" y="134"/>
                    <a:pt x="541" y="151"/>
                    <a:pt x="540" y="158"/>
                  </a:cubicBezTo>
                  <a:cubicBezTo>
                    <a:pt x="538" y="164"/>
                    <a:pt x="505" y="170"/>
                    <a:pt x="505" y="170"/>
                  </a:cubicBezTo>
                  <a:cubicBezTo>
                    <a:pt x="528" y="190"/>
                    <a:pt x="528" y="190"/>
                    <a:pt x="528" y="190"/>
                  </a:cubicBezTo>
                  <a:cubicBezTo>
                    <a:pt x="528" y="190"/>
                    <a:pt x="578" y="187"/>
                    <a:pt x="582" y="226"/>
                  </a:cubicBezTo>
                  <a:cubicBezTo>
                    <a:pt x="586" y="264"/>
                    <a:pt x="526" y="234"/>
                    <a:pt x="526" y="234"/>
                  </a:cubicBezTo>
                  <a:cubicBezTo>
                    <a:pt x="520" y="250"/>
                    <a:pt x="520" y="250"/>
                    <a:pt x="520" y="250"/>
                  </a:cubicBezTo>
                  <a:cubicBezTo>
                    <a:pt x="520" y="250"/>
                    <a:pt x="497" y="246"/>
                    <a:pt x="486" y="244"/>
                  </a:cubicBezTo>
                  <a:cubicBezTo>
                    <a:pt x="476" y="243"/>
                    <a:pt x="464" y="222"/>
                    <a:pt x="456" y="220"/>
                  </a:cubicBezTo>
                  <a:cubicBezTo>
                    <a:pt x="448" y="219"/>
                    <a:pt x="437" y="228"/>
                    <a:pt x="421" y="232"/>
                  </a:cubicBezTo>
                  <a:cubicBezTo>
                    <a:pt x="405" y="236"/>
                    <a:pt x="394" y="220"/>
                    <a:pt x="385" y="222"/>
                  </a:cubicBezTo>
                  <a:cubicBezTo>
                    <a:pt x="376" y="223"/>
                    <a:pt x="358" y="243"/>
                    <a:pt x="356" y="247"/>
                  </a:cubicBezTo>
                  <a:cubicBezTo>
                    <a:pt x="353" y="251"/>
                    <a:pt x="312" y="220"/>
                    <a:pt x="301" y="223"/>
                  </a:cubicBezTo>
                  <a:cubicBezTo>
                    <a:pt x="290" y="226"/>
                    <a:pt x="313" y="243"/>
                    <a:pt x="305" y="250"/>
                  </a:cubicBezTo>
                  <a:cubicBezTo>
                    <a:pt x="297" y="256"/>
                    <a:pt x="289" y="236"/>
                    <a:pt x="289" y="236"/>
                  </a:cubicBezTo>
                  <a:cubicBezTo>
                    <a:pt x="282" y="216"/>
                    <a:pt x="282" y="216"/>
                    <a:pt x="282" y="216"/>
                  </a:cubicBezTo>
                  <a:cubicBezTo>
                    <a:pt x="258" y="218"/>
                    <a:pt x="258" y="218"/>
                    <a:pt x="258" y="218"/>
                  </a:cubicBezTo>
                  <a:cubicBezTo>
                    <a:pt x="258" y="218"/>
                    <a:pt x="256" y="206"/>
                    <a:pt x="252" y="202"/>
                  </a:cubicBezTo>
                  <a:cubicBezTo>
                    <a:pt x="248" y="198"/>
                    <a:pt x="224" y="203"/>
                    <a:pt x="214" y="202"/>
                  </a:cubicBezTo>
                  <a:cubicBezTo>
                    <a:pt x="205" y="200"/>
                    <a:pt x="204" y="187"/>
                    <a:pt x="197" y="187"/>
                  </a:cubicBezTo>
                  <a:cubicBezTo>
                    <a:pt x="190" y="187"/>
                    <a:pt x="177" y="200"/>
                    <a:pt x="161" y="200"/>
                  </a:cubicBezTo>
                  <a:cubicBezTo>
                    <a:pt x="145" y="200"/>
                    <a:pt x="153" y="187"/>
                    <a:pt x="130" y="188"/>
                  </a:cubicBezTo>
                  <a:cubicBezTo>
                    <a:pt x="108" y="190"/>
                    <a:pt x="130" y="198"/>
                    <a:pt x="122" y="208"/>
                  </a:cubicBezTo>
                  <a:cubicBezTo>
                    <a:pt x="114" y="219"/>
                    <a:pt x="86" y="224"/>
                    <a:pt x="86" y="224"/>
                  </a:cubicBezTo>
                  <a:cubicBezTo>
                    <a:pt x="86" y="239"/>
                    <a:pt x="86" y="239"/>
                    <a:pt x="86" y="239"/>
                  </a:cubicBezTo>
                  <a:cubicBezTo>
                    <a:pt x="68" y="248"/>
                    <a:pt x="68" y="248"/>
                    <a:pt x="68" y="248"/>
                  </a:cubicBezTo>
                  <a:cubicBezTo>
                    <a:pt x="68" y="248"/>
                    <a:pt x="86" y="263"/>
                    <a:pt x="72" y="278"/>
                  </a:cubicBezTo>
                  <a:cubicBezTo>
                    <a:pt x="57" y="292"/>
                    <a:pt x="29" y="250"/>
                    <a:pt x="17" y="251"/>
                  </a:cubicBezTo>
                  <a:cubicBezTo>
                    <a:pt x="5" y="252"/>
                    <a:pt x="13" y="271"/>
                    <a:pt x="13" y="279"/>
                  </a:cubicBezTo>
                  <a:cubicBezTo>
                    <a:pt x="13" y="287"/>
                    <a:pt x="0" y="284"/>
                    <a:pt x="0" y="284"/>
                  </a:cubicBezTo>
                  <a:cubicBezTo>
                    <a:pt x="2" y="308"/>
                    <a:pt x="2" y="308"/>
                    <a:pt x="2" y="308"/>
                  </a:cubicBezTo>
                  <a:cubicBezTo>
                    <a:pt x="2" y="308"/>
                    <a:pt x="8" y="314"/>
                    <a:pt x="8" y="322"/>
                  </a:cubicBezTo>
                  <a:cubicBezTo>
                    <a:pt x="8" y="330"/>
                    <a:pt x="0" y="342"/>
                    <a:pt x="0" y="358"/>
                  </a:cubicBezTo>
                  <a:cubicBezTo>
                    <a:pt x="0" y="374"/>
                    <a:pt x="10" y="364"/>
                    <a:pt x="22" y="370"/>
                  </a:cubicBezTo>
                  <a:cubicBezTo>
                    <a:pt x="34" y="375"/>
                    <a:pt x="20" y="390"/>
                    <a:pt x="32" y="395"/>
                  </a:cubicBezTo>
                  <a:cubicBezTo>
                    <a:pt x="44" y="400"/>
                    <a:pt x="68" y="391"/>
                    <a:pt x="73" y="394"/>
                  </a:cubicBezTo>
                  <a:cubicBezTo>
                    <a:pt x="78" y="396"/>
                    <a:pt x="117" y="436"/>
                    <a:pt x="117" y="444"/>
                  </a:cubicBezTo>
                  <a:cubicBezTo>
                    <a:pt x="117" y="452"/>
                    <a:pt x="94" y="443"/>
                    <a:pt x="94" y="451"/>
                  </a:cubicBezTo>
                  <a:cubicBezTo>
                    <a:pt x="94" y="459"/>
                    <a:pt x="129" y="470"/>
                    <a:pt x="129" y="470"/>
                  </a:cubicBezTo>
                  <a:cubicBezTo>
                    <a:pt x="136" y="460"/>
                    <a:pt x="136" y="460"/>
                    <a:pt x="136" y="460"/>
                  </a:cubicBezTo>
                  <a:cubicBezTo>
                    <a:pt x="136" y="460"/>
                    <a:pt x="145" y="462"/>
                    <a:pt x="152" y="455"/>
                  </a:cubicBezTo>
                  <a:cubicBezTo>
                    <a:pt x="158" y="448"/>
                    <a:pt x="208" y="427"/>
                    <a:pt x="214" y="430"/>
                  </a:cubicBezTo>
                  <a:cubicBezTo>
                    <a:pt x="221" y="432"/>
                    <a:pt x="242" y="448"/>
                    <a:pt x="252" y="448"/>
                  </a:cubicBezTo>
                  <a:cubicBezTo>
                    <a:pt x="261" y="448"/>
                    <a:pt x="269" y="430"/>
                    <a:pt x="289" y="455"/>
                  </a:cubicBezTo>
                  <a:cubicBezTo>
                    <a:pt x="309" y="480"/>
                    <a:pt x="293" y="488"/>
                    <a:pt x="290" y="496"/>
                  </a:cubicBezTo>
                  <a:cubicBezTo>
                    <a:pt x="288" y="504"/>
                    <a:pt x="309" y="520"/>
                    <a:pt x="316" y="523"/>
                  </a:cubicBezTo>
                  <a:cubicBezTo>
                    <a:pt x="322" y="526"/>
                    <a:pt x="333" y="511"/>
                    <a:pt x="341" y="507"/>
                  </a:cubicBezTo>
                  <a:cubicBezTo>
                    <a:pt x="349" y="503"/>
                    <a:pt x="352" y="516"/>
                    <a:pt x="352" y="524"/>
                  </a:cubicBezTo>
                  <a:cubicBezTo>
                    <a:pt x="352" y="532"/>
                    <a:pt x="364" y="542"/>
                    <a:pt x="364" y="542"/>
                  </a:cubicBezTo>
                  <a:cubicBezTo>
                    <a:pt x="337" y="543"/>
                    <a:pt x="337" y="543"/>
                    <a:pt x="337" y="543"/>
                  </a:cubicBezTo>
                  <a:cubicBezTo>
                    <a:pt x="337" y="543"/>
                    <a:pt x="338" y="563"/>
                    <a:pt x="325" y="554"/>
                  </a:cubicBezTo>
                  <a:cubicBezTo>
                    <a:pt x="312" y="544"/>
                    <a:pt x="338" y="531"/>
                    <a:pt x="338" y="531"/>
                  </a:cubicBezTo>
                  <a:cubicBezTo>
                    <a:pt x="338" y="531"/>
                    <a:pt x="290" y="528"/>
                    <a:pt x="282" y="526"/>
                  </a:cubicBezTo>
                  <a:cubicBezTo>
                    <a:pt x="274" y="523"/>
                    <a:pt x="232" y="515"/>
                    <a:pt x="232" y="515"/>
                  </a:cubicBezTo>
                  <a:cubicBezTo>
                    <a:pt x="240" y="538"/>
                    <a:pt x="240" y="538"/>
                    <a:pt x="240" y="538"/>
                  </a:cubicBezTo>
                  <a:cubicBezTo>
                    <a:pt x="240" y="538"/>
                    <a:pt x="224" y="531"/>
                    <a:pt x="218" y="544"/>
                  </a:cubicBezTo>
                  <a:cubicBezTo>
                    <a:pt x="213" y="558"/>
                    <a:pt x="249" y="559"/>
                    <a:pt x="248" y="567"/>
                  </a:cubicBezTo>
                  <a:cubicBezTo>
                    <a:pt x="246" y="575"/>
                    <a:pt x="198" y="550"/>
                    <a:pt x="193" y="562"/>
                  </a:cubicBezTo>
                  <a:cubicBezTo>
                    <a:pt x="188" y="574"/>
                    <a:pt x="221" y="582"/>
                    <a:pt x="221" y="582"/>
                  </a:cubicBezTo>
                  <a:cubicBezTo>
                    <a:pt x="221" y="582"/>
                    <a:pt x="221" y="590"/>
                    <a:pt x="228" y="598"/>
                  </a:cubicBezTo>
                  <a:cubicBezTo>
                    <a:pt x="234" y="606"/>
                    <a:pt x="248" y="622"/>
                    <a:pt x="248" y="622"/>
                  </a:cubicBezTo>
                  <a:cubicBezTo>
                    <a:pt x="246" y="636"/>
                    <a:pt x="246" y="636"/>
                    <a:pt x="246" y="636"/>
                  </a:cubicBezTo>
                  <a:cubicBezTo>
                    <a:pt x="269" y="639"/>
                    <a:pt x="269" y="639"/>
                    <a:pt x="269" y="639"/>
                  </a:cubicBezTo>
                  <a:cubicBezTo>
                    <a:pt x="274" y="654"/>
                    <a:pt x="274" y="654"/>
                    <a:pt x="274" y="654"/>
                  </a:cubicBezTo>
                  <a:cubicBezTo>
                    <a:pt x="274" y="654"/>
                    <a:pt x="309" y="654"/>
                    <a:pt x="320" y="664"/>
                  </a:cubicBezTo>
                  <a:cubicBezTo>
                    <a:pt x="330" y="675"/>
                    <a:pt x="308" y="686"/>
                    <a:pt x="306" y="696"/>
                  </a:cubicBezTo>
                  <a:cubicBezTo>
                    <a:pt x="305" y="707"/>
                    <a:pt x="316" y="708"/>
                    <a:pt x="316" y="708"/>
                  </a:cubicBezTo>
                  <a:cubicBezTo>
                    <a:pt x="317" y="704"/>
                    <a:pt x="323" y="707"/>
                    <a:pt x="328" y="709"/>
                  </a:cubicBezTo>
                  <a:cubicBezTo>
                    <a:pt x="330" y="703"/>
                    <a:pt x="336" y="683"/>
                    <a:pt x="344" y="682"/>
                  </a:cubicBezTo>
                  <a:cubicBezTo>
                    <a:pt x="349" y="681"/>
                    <a:pt x="357" y="682"/>
                    <a:pt x="363" y="683"/>
                  </a:cubicBezTo>
                  <a:cubicBezTo>
                    <a:pt x="364" y="681"/>
                    <a:pt x="364" y="679"/>
                    <a:pt x="365" y="678"/>
                  </a:cubicBezTo>
                  <a:cubicBezTo>
                    <a:pt x="368" y="674"/>
                    <a:pt x="400" y="686"/>
                    <a:pt x="408" y="690"/>
                  </a:cubicBezTo>
                  <a:cubicBezTo>
                    <a:pt x="416" y="694"/>
                    <a:pt x="426" y="707"/>
                    <a:pt x="426" y="707"/>
                  </a:cubicBezTo>
                  <a:cubicBezTo>
                    <a:pt x="426" y="707"/>
                    <a:pt x="444" y="732"/>
                    <a:pt x="454" y="738"/>
                  </a:cubicBezTo>
                  <a:cubicBezTo>
                    <a:pt x="463" y="742"/>
                    <a:pt x="464" y="732"/>
                    <a:pt x="468" y="729"/>
                  </a:cubicBezTo>
                  <a:cubicBezTo>
                    <a:pt x="468" y="729"/>
                    <a:pt x="468" y="729"/>
                    <a:pt x="468" y="729"/>
                  </a:cubicBezTo>
                  <a:cubicBezTo>
                    <a:pt x="433" y="542"/>
                    <a:pt x="433" y="542"/>
                    <a:pt x="433" y="542"/>
                  </a:cubicBezTo>
                  <a:cubicBezTo>
                    <a:pt x="529" y="511"/>
                    <a:pt x="529" y="511"/>
                    <a:pt x="529" y="511"/>
                  </a:cubicBezTo>
                  <a:cubicBezTo>
                    <a:pt x="536" y="514"/>
                    <a:pt x="536" y="514"/>
                    <a:pt x="536" y="514"/>
                  </a:cubicBezTo>
                  <a:cubicBezTo>
                    <a:pt x="536" y="513"/>
                    <a:pt x="536" y="513"/>
                    <a:pt x="536" y="513"/>
                  </a:cubicBezTo>
                  <a:cubicBezTo>
                    <a:pt x="536" y="513"/>
                    <a:pt x="540" y="501"/>
                    <a:pt x="541" y="491"/>
                  </a:cubicBezTo>
                  <a:cubicBezTo>
                    <a:pt x="542" y="481"/>
                    <a:pt x="561" y="486"/>
                    <a:pt x="561" y="486"/>
                  </a:cubicBezTo>
                  <a:cubicBezTo>
                    <a:pt x="566" y="501"/>
                    <a:pt x="566" y="501"/>
                    <a:pt x="566" y="501"/>
                  </a:cubicBezTo>
                  <a:cubicBezTo>
                    <a:pt x="566" y="501"/>
                    <a:pt x="580" y="495"/>
                    <a:pt x="582" y="492"/>
                  </a:cubicBezTo>
                  <a:cubicBezTo>
                    <a:pt x="584" y="489"/>
                    <a:pt x="568" y="471"/>
                    <a:pt x="568" y="471"/>
                  </a:cubicBezTo>
                  <a:cubicBezTo>
                    <a:pt x="578" y="471"/>
                    <a:pt x="578" y="471"/>
                    <a:pt x="578" y="471"/>
                  </a:cubicBezTo>
                  <a:cubicBezTo>
                    <a:pt x="587" y="480"/>
                    <a:pt x="587" y="480"/>
                    <a:pt x="587" y="480"/>
                  </a:cubicBezTo>
                  <a:cubicBezTo>
                    <a:pt x="604" y="479"/>
                    <a:pt x="604" y="479"/>
                    <a:pt x="604" y="479"/>
                  </a:cubicBezTo>
                  <a:cubicBezTo>
                    <a:pt x="604" y="479"/>
                    <a:pt x="618" y="483"/>
                    <a:pt x="621" y="479"/>
                  </a:cubicBezTo>
                  <a:cubicBezTo>
                    <a:pt x="624" y="475"/>
                    <a:pt x="619" y="471"/>
                    <a:pt x="615" y="471"/>
                  </a:cubicBezTo>
                  <a:cubicBezTo>
                    <a:pt x="611" y="471"/>
                    <a:pt x="603" y="466"/>
                    <a:pt x="603" y="466"/>
                  </a:cubicBezTo>
                  <a:cubicBezTo>
                    <a:pt x="603" y="466"/>
                    <a:pt x="587" y="470"/>
                    <a:pt x="584" y="460"/>
                  </a:cubicBezTo>
                  <a:cubicBezTo>
                    <a:pt x="581" y="450"/>
                    <a:pt x="604" y="452"/>
                    <a:pt x="604" y="452"/>
                  </a:cubicBezTo>
                  <a:cubicBezTo>
                    <a:pt x="613" y="444"/>
                    <a:pt x="613" y="444"/>
                    <a:pt x="613" y="444"/>
                  </a:cubicBezTo>
                  <a:cubicBezTo>
                    <a:pt x="613" y="444"/>
                    <a:pt x="625" y="461"/>
                    <a:pt x="628" y="461"/>
                  </a:cubicBezTo>
                  <a:cubicBezTo>
                    <a:pt x="631" y="461"/>
                    <a:pt x="636" y="455"/>
                    <a:pt x="636" y="455"/>
                  </a:cubicBezTo>
                  <a:cubicBezTo>
                    <a:pt x="636" y="455"/>
                    <a:pt x="645" y="465"/>
                    <a:pt x="642" y="471"/>
                  </a:cubicBezTo>
                  <a:cubicBezTo>
                    <a:pt x="639" y="477"/>
                    <a:pt x="625" y="481"/>
                    <a:pt x="625" y="481"/>
                  </a:cubicBezTo>
                  <a:cubicBezTo>
                    <a:pt x="625" y="481"/>
                    <a:pt x="617" y="488"/>
                    <a:pt x="613" y="492"/>
                  </a:cubicBezTo>
                  <a:cubicBezTo>
                    <a:pt x="609" y="496"/>
                    <a:pt x="593" y="491"/>
                    <a:pt x="590" y="493"/>
                  </a:cubicBezTo>
                  <a:cubicBezTo>
                    <a:pt x="587" y="495"/>
                    <a:pt x="587" y="506"/>
                    <a:pt x="587" y="506"/>
                  </a:cubicBezTo>
                  <a:cubicBezTo>
                    <a:pt x="587" y="506"/>
                    <a:pt x="602" y="512"/>
                    <a:pt x="606" y="513"/>
                  </a:cubicBezTo>
                  <a:cubicBezTo>
                    <a:pt x="610" y="514"/>
                    <a:pt x="613" y="523"/>
                    <a:pt x="607" y="532"/>
                  </a:cubicBezTo>
                  <a:cubicBezTo>
                    <a:pt x="604" y="536"/>
                    <a:pt x="607" y="542"/>
                    <a:pt x="610" y="549"/>
                  </a:cubicBezTo>
                  <a:cubicBezTo>
                    <a:pt x="656" y="571"/>
                    <a:pt x="656" y="571"/>
                    <a:pt x="656" y="571"/>
                  </a:cubicBezTo>
                  <a:cubicBezTo>
                    <a:pt x="705" y="619"/>
                    <a:pt x="705" y="619"/>
                    <a:pt x="705" y="619"/>
                  </a:cubicBezTo>
                  <a:cubicBezTo>
                    <a:pt x="705" y="619"/>
                    <a:pt x="742" y="612"/>
                    <a:pt x="758" y="612"/>
                  </a:cubicBezTo>
                  <a:cubicBezTo>
                    <a:pt x="774" y="612"/>
                    <a:pt x="812" y="616"/>
                    <a:pt x="812" y="616"/>
                  </a:cubicBezTo>
                  <a:cubicBezTo>
                    <a:pt x="812" y="616"/>
                    <a:pt x="830" y="604"/>
                    <a:pt x="837" y="604"/>
                  </a:cubicBezTo>
                  <a:cubicBezTo>
                    <a:pt x="844" y="604"/>
                    <a:pt x="874" y="647"/>
                    <a:pt x="874" y="647"/>
                  </a:cubicBezTo>
                  <a:cubicBezTo>
                    <a:pt x="874" y="647"/>
                    <a:pt x="889" y="646"/>
                    <a:pt x="894" y="647"/>
                  </a:cubicBezTo>
                  <a:cubicBezTo>
                    <a:pt x="900" y="648"/>
                    <a:pt x="893" y="696"/>
                    <a:pt x="902" y="699"/>
                  </a:cubicBezTo>
                  <a:cubicBezTo>
                    <a:pt x="912" y="702"/>
                    <a:pt x="912" y="688"/>
                    <a:pt x="921" y="699"/>
                  </a:cubicBezTo>
                  <a:cubicBezTo>
                    <a:pt x="930" y="710"/>
                    <a:pt x="932" y="734"/>
                    <a:pt x="942" y="739"/>
                  </a:cubicBezTo>
                  <a:cubicBezTo>
                    <a:pt x="953" y="744"/>
                    <a:pt x="1000" y="735"/>
                    <a:pt x="1006" y="744"/>
                  </a:cubicBezTo>
                  <a:cubicBezTo>
                    <a:pt x="1013" y="754"/>
                    <a:pt x="996" y="767"/>
                    <a:pt x="1006" y="770"/>
                  </a:cubicBezTo>
                  <a:cubicBezTo>
                    <a:pt x="1017" y="772"/>
                    <a:pt x="1028" y="778"/>
                    <a:pt x="1028" y="778"/>
                  </a:cubicBezTo>
                  <a:cubicBezTo>
                    <a:pt x="1028" y="778"/>
                    <a:pt x="1020" y="754"/>
                    <a:pt x="1029" y="747"/>
                  </a:cubicBezTo>
                  <a:cubicBezTo>
                    <a:pt x="1038" y="740"/>
                    <a:pt x="1046" y="740"/>
                    <a:pt x="1046" y="740"/>
                  </a:cubicBezTo>
                  <a:cubicBezTo>
                    <a:pt x="1046" y="740"/>
                    <a:pt x="1045" y="722"/>
                    <a:pt x="1056" y="719"/>
                  </a:cubicBezTo>
                  <a:cubicBezTo>
                    <a:pt x="1066" y="716"/>
                    <a:pt x="1078" y="714"/>
                    <a:pt x="1078" y="714"/>
                  </a:cubicBezTo>
                  <a:cubicBezTo>
                    <a:pt x="1086" y="696"/>
                    <a:pt x="1086" y="696"/>
                    <a:pt x="1086" y="696"/>
                  </a:cubicBezTo>
                  <a:cubicBezTo>
                    <a:pt x="1104" y="695"/>
                    <a:pt x="1104" y="695"/>
                    <a:pt x="1104" y="695"/>
                  </a:cubicBezTo>
                  <a:cubicBezTo>
                    <a:pt x="1123" y="686"/>
                    <a:pt x="1123" y="686"/>
                    <a:pt x="1123" y="686"/>
                  </a:cubicBezTo>
                  <a:cubicBezTo>
                    <a:pt x="1117" y="683"/>
                    <a:pt x="1107" y="683"/>
                    <a:pt x="1107" y="683"/>
                  </a:cubicBezTo>
                  <a:cubicBezTo>
                    <a:pt x="1107" y="683"/>
                    <a:pt x="1108" y="654"/>
                    <a:pt x="1131" y="653"/>
                  </a:cubicBezTo>
                  <a:cubicBezTo>
                    <a:pt x="1154" y="652"/>
                    <a:pt x="1185" y="672"/>
                    <a:pt x="1185" y="672"/>
                  </a:cubicBezTo>
                  <a:cubicBezTo>
                    <a:pt x="1208" y="672"/>
                    <a:pt x="1208" y="672"/>
                    <a:pt x="1208" y="672"/>
                  </a:cubicBezTo>
                  <a:cubicBezTo>
                    <a:pt x="1219" y="678"/>
                    <a:pt x="1219" y="678"/>
                    <a:pt x="1219" y="678"/>
                  </a:cubicBezTo>
                  <a:cubicBezTo>
                    <a:pt x="1219" y="678"/>
                    <a:pt x="1211" y="643"/>
                    <a:pt x="1214" y="640"/>
                  </a:cubicBezTo>
                  <a:cubicBezTo>
                    <a:pt x="1217" y="637"/>
                    <a:pt x="1230" y="635"/>
                    <a:pt x="1240" y="635"/>
                  </a:cubicBezTo>
                  <a:cubicBezTo>
                    <a:pt x="1250" y="635"/>
                    <a:pt x="1260" y="647"/>
                    <a:pt x="1264" y="647"/>
                  </a:cubicBezTo>
                  <a:cubicBezTo>
                    <a:pt x="1268" y="647"/>
                    <a:pt x="1296" y="653"/>
                    <a:pt x="1296" y="653"/>
                  </a:cubicBezTo>
                  <a:cubicBezTo>
                    <a:pt x="1308" y="649"/>
                    <a:pt x="1308" y="649"/>
                    <a:pt x="1308" y="649"/>
                  </a:cubicBezTo>
                  <a:cubicBezTo>
                    <a:pt x="1308" y="649"/>
                    <a:pt x="1356" y="649"/>
                    <a:pt x="1364" y="648"/>
                  </a:cubicBezTo>
                  <a:cubicBezTo>
                    <a:pt x="1372" y="647"/>
                    <a:pt x="1402" y="651"/>
                    <a:pt x="1402" y="651"/>
                  </a:cubicBezTo>
                  <a:cubicBezTo>
                    <a:pt x="1434" y="650"/>
                    <a:pt x="1434" y="650"/>
                    <a:pt x="1434" y="650"/>
                  </a:cubicBezTo>
                  <a:cubicBezTo>
                    <a:pt x="1442" y="658"/>
                    <a:pt x="1442" y="658"/>
                    <a:pt x="1442" y="658"/>
                  </a:cubicBezTo>
                  <a:cubicBezTo>
                    <a:pt x="1454" y="658"/>
                    <a:pt x="1454" y="658"/>
                    <a:pt x="1454" y="658"/>
                  </a:cubicBezTo>
                  <a:cubicBezTo>
                    <a:pt x="1471" y="676"/>
                    <a:pt x="1471" y="676"/>
                    <a:pt x="1471" y="676"/>
                  </a:cubicBezTo>
                  <a:cubicBezTo>
                    <a:pt x="1499" y="676"/>
                    <a:pt x="1499" y="676"/>
                    <a:pt x="1499" y="676"/>
                  </a:cubicBezTo>
                  <a:cubicBezTo>
                    <a:pt x="1513" y="681"/>
                    <a:pt x="1513" y="681"/>
                    <a:pt x="1513" y="681"/>
                  </a:cubicBezTo>
                  <a:cubicBezTo>
                    <a:pt x="1512" y="680"/>
                    <a:pt x="1512" y="680"/>
                    <a:pt x="1512" y="680"/>
                  </a:cubicBezTo>
                  <a:cubicBezTo>
                    <a:pt x="1507" y="675"/>
                    <a:pt x="1503" y="664"/>
                    <a:pt x="1503" y="659"/>
                  </a:cubicBezTo>
                  <a:cubicBezTo>
                    <a:pt x="1503" y="654"/>
                    <a:pt x="1517" y="656"/>
                    <a:pt x="1517" y="656"/>
                  </a:cubicBezTo>
                  <a:cubicBezTo>
                    <a:pt x="1517" y="656"/>
                    <a:pt x="1506" y="644"/>
                    <a:pt x="1506" y="641"/>
                  </a:cubicBezTo>
                  <a:cubicBezTo>
                    <a:pt x="1506" y="638"/>
                    <a:pt x="1522" y="641"/>
                    <a:pt x="1522" y="634"/>
                  </a:cubicBezTo>
                  <a:cubicBezTo>
                    <a:pt x="1522" y="627"/>
                    <a:pt x="1492" y="596"/>
                    <a:pt x="1484" y="587"/>
                  </a:cubicBezTo>
                  <a:cubicBezTo>
                    <a:pt x="1476" y="578"/>
                    <a:pt x="1476" y="552"/>
                    <a:pt x="1476" y="552"/>
                  </a:cubicBezTo>
                  <a:cubicBezTo>
                    <a:pt x="1476" y="552"/>
                    <a:pt x="1458" y="555"/>
                    <a:pt x="1451" y="546"/>
                  </a:cubicBezTo>
                  <a:cubicBezTo>
                    <a:pt x="1444" y="537"/>
                    <a:pt x="1475" y="530"/>
                    <a:pt x="1481" y="529"/>
                  </a:cubicBezTo>
                  <a:cubicBezTo>
                    <a:pt x="1487" y="528"/>
                    <a:pt x="1511" y="518"/>
                    <a:pt x="1516" y="518"/>
                  </a:cubicBezTo>
                  <a:cubicBezTo>
                    <a:pt x="1521" y="518"/>
                    <a:pt x="1530" y="532"/>
                    <a:pt x="1530" y="532"/>
                  </a:cubicBezTo>
                  <a:cubicBezTo>
                    <a:pt x="1543" y="525"/>
                    <a:pt x="1543" y="525"/>
                    <a:pt x="1543" y="525"/>
                  </a:cubicBezTo>
                  <a:cubicBezTo>
                    <a:pt x="1543" y="525"/>
                    <a:pt x="1550" y="539"/>
                    <a:pt x="1559" y="528"/>
                  </a:cubicBezTo>
                  <a:cubicBezTo>
                    <a:pt x="1568" y="517"/>
                    <a:pt x="1545" y="515"/>
                    <a:pt x="1541" y="513"/>
                  </a:cubicBezTo>
                  <a:cubicBezTo>
                    <a:pt x="1537" y="511"/>
                    <a:pt x="1541" y="459"/>
                    <a:pt x="1541" y="447"/>
                  </a:cubicBezTo>
                  <a:cubicBezTo>
                    <a:pt x="1541" y="435"/>
                    <a:pt x="1540" y="420"/>
                    <a:pt x="1546" y="420"/>
                  </a:cubicBezTo>
                  <a:cubicBezTo>
                    <a:pt x="1552" y="420"/>
                    <a:pt x="1577" y="432"/>
                    <a:pt x="1585" y="434"/>
                  </a:cubicBezTo>
                  <a:cubicBezTo>
                    <a:pt x="1593" y="436"/>
                    <a:pt x="1614" y="434"/>
                    <a:pt x="1614" y="434"/>
                  </a:cubicBezTo>
                  <a:cubicBezTo>
                    <a:pt x="1623" y="442"/>
                    <a:pt x="1623" y="442"/>
                    <a:pt x="1623" y="442"/>
                  </a:cubicBezTo>
                  <a:cubicBezTo>
                    <a:pt x="1634" y="430"/>
                    <a:pt x="1634" y="430"/>
                    <a:pt x="1634" y="430"/>
                  </a:cubicBezTo>
                  <a:cubicBezTo>
                    <a:pt x="1634" y="430"/>
                    <a:pt x="1642" y="431"/>
                    <a:pt x="1649" y="426"/>
                  </a:cubicBezTo>
                  <a:cubicBezTo>
                    <a:pt x="1656" y="421"/>
                    <a:pt x="1650" y="410"/>
                    <a:pt x="1641" y="397"/>
                  </a:cubicBezTo>
                  <a:cubicBezTo>
                    <a:pt x="1632" y="384"/>
                    <a:pt x="1622" y="375"/>
                    <a:pt x="1627" y="361"/>
                  </a:cubicBezTo>
                  <a:cubicBezTo>
                    <a:pt x="1632" y="347"/>
                    <a:pt x="1661" y="357"/>
                    <a:pt x="1667" y="348"/>
                  </a:cubicBezTo>
                  <a:cubicBezTo>
                    <a:pt x="1673" y="339"/>
                    <a:pt x="1654" y="336"/>
                    <a:pt x="1655" y="327"/>
                  </a:cubicBezTo>
                  <a:close/>
                  <a:moveTo>
                    <a:pt x="1385" y="465"/>
                  </a:moveTo>
                  <a:cubicBezTo>
                    <a:pt x="1380" y="470"/>
                    <a:pt x="1363" y="466"/>
                    <a:pt x="1363" y="466"/>
                  </a:cubicBezTo>
                  <a:cubicBezTo>
                    <a:pt x="1363" y="466"/>
                    <a:pt x="1361" y="472"/>
                    <a:pt x="1356" y="473"/>
                  </a:cubicBezTo>
                  <a:cubicBezTo>
                    <a:pt x="1351" y="474"/>
                    <a:pt x="1340" y="464"/>
                    <a:pt x="1340" y="464"/>
                  </a:cubicBezTo>
                  <a:cubicBezTo>
                    <a:pt x="1320" y="467"/>
                    <a:pt x="1320" y="467"/>
                    <a:pt x="1320" y="467"/>
                  </a:cubicBezTo>
                  <a:cubicBezTo>
                    <a:pt x="1299" y="463"/>
                    <a:pt x="1299" y="463"/>
                    <a:pt x="1299" y="463"/>
                  </a:cubicBezTo>
                  <a:cubicBezTo>
                    <a:pt x="1287" y="464"/>
                    <a:pt x="1287" y="464"/>
                    <a:pt x="1287" y="464"/>
                  </a:cubicBezTo>
                  <a:cubicBezTo>
                    <a:pt x="1270" y="459"/>
                    <a:pt x="1270" y="459"/>
                    <a:pt x="1270" y="459"/>
                  </a:cubicBezTo>
                  <a:cubicBezTo>
                    <a:pt x="1270" y="459"/>
                    <a:pt x="1259" y="460"/>
                    <a:pt x="1246" y="460"/>
                  </a:cubicBezTo>
                  <a:cubicBezTo>
                    <a:pt x="1233" y="460"/>
                    <a:pt x="1236" y="454"/>
                    <a:pt x="1236" y="454"/>
                  </a:cubicBezTo>
                  <a:cubicBezTo>
                    <a:pt x="1236" y="454"/>
                    <a:pt x="1228" y="462"/>
                    <a:pt x="1222" y="464"/>
                  </a:cubicBezTo>
                  <a:cubicBezTo>
                    <a:pt x="1216" y="466"/>
                    <a:pt x="1215" y="476"/>
                    <a:pt x="1209" y="484"/>
                  </a:cubicBezTo>
                  <a:cubicBezTo>
                    <a:pt x="1203" y="492"/>
                    <a:pt x="1195" y="489"/>
                    <a:pt x="1195" y="489"/>
                  </a:cubicBezTo>
                  <a:cubicBezTo>
                    <a:pt x="1199" y="507"/>
                    <a:pt x="1199" y="507"/>
                    <a:pt x="1199" y="507"/>
                  </a:cubicBezTo>
                  <a:cubicBezTo>
                    <a:pt x="1191" y="514"/>
                    <a:pt x="1191" y="514"/>
                    <a:pt x="1191" y="514"/>
                  </a:cubicBezTo>
                  <a:cubicBezTo>
                    <a:pt x="1201" y="525"/>
                    <a:pt x="1201" y="525"/>
                    <a:pt x="1201" y="525"/>
                  </a:cubicBezTo>
                  <a:cubicBezTo>
                    <a:pt x="1200" y="542"/>
                    <a:pt x="1200" y="542"/>
                    <a:pt x="1200" y="542"/>
                  </a:cubicBezTo>
                  <a:cubicBezTo>
                    <a:pt x="1196" y="541"/>
                    <a:pt x="1167" y="507"/>
                    <a:pt x="1167" y="507"/>
                  </a:cubicBezTo>
                  <a:cubicBezTo>
                    <a:pt x="1167" y="507"/>
                    <a:pt x="1163" y="492"/>
                    <a:pt x="1163" y="481"/>
                  </a:cubicBezTo>
                  <a:cubicBezTo>
                    <a:pt x="1163" y="470"/>
                    <a:pt x="1181" y="467"/>
                    <a:pt x="1185" y="466"/>
                  </a:cubicBezTo>
                  <a:cubicBezTo>
                    <a:pt x="1189" y="465"/>
                    <a:pt x="1187" y="454"/>
                    <a:pt x="1193" y="448"/>
                  </a:cubicBezTo>
                  <a:cubicBezTo>
                    <a:pt x="1199" y="442"/>
                    <a:pt x="1224" y="448"/>
                    <a:pt x="1228" y="448"/>
                  </a:cubicBezTo>
                  <a:cubicBezTo>
                    <a:pt x="1232" y="448"/>
                    <a:pt x="1240" y="442"/>
                    <a:pt x="1253" y="443"/>
                  </a:cubicBezTo>
                  <a:cubicBezTo>
                    <a:pt x="1266" y="444"/>
                    <a:pt x="1274" y="451"/>
                    <a:pt x="1281" y="452"/>
                  </a:cubicBezTo>
                  <a:cubicBezTo>
                    <a:pt x="1288" y="453"/>
                    <a:pt x="1293" y="456"/>
                    <a:pt x="1306" y="458"/>
                  </a:cubicBezTo>
                  <a:cubicBezTo>
                    <a:pt x="1319" y="460"/>
                    <a:pt x="1315" y="449"/>
                    <a:pt x="1328" y="449"/>
                  </a:cubicBezTo>
                  <a:cubicBezTo>
                    <a:pt x="1341" y="449"/>
                    <a:pt x="1360" y="454"/>
                    <a:pt x="1360" y="454"/>
                  </a:cubicBezTo>
                  <a:cubicBezTo>
                    <a:pt x="1360" y="454"/>
                    <a:pt x="1370" y="445"/>
                    <a:pt x="1384" y="443"/>
                  </a:cubicBezTo>
                  <a:cubicBezTo>
                    <a:pt x="1398" y="441"/>
                    <a:pt x="1390" y="460"/>
                    <a:pt x="1385" y="465"/>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553" name="Freeform 345">
              <a:extLst>
                <a:ext uri="{FF2B5EF4-FFF2-40B4-BE49-F238E27FC236}">
                  <a16:creationId xmlns:a16="http://schemas.microsoft.com/office/drawing/2014/main" id="{B9357A9C-3BFC-4BE4-84C6-5BE652B66D94}"/>
                </a:ext>
              </a:extLst>
            </p:cNvPr>
            <p:cNvSpPr>
              <a:spLocks/>
            </p:cNvSpPr>
            <p:nvPr/>
          </p:nvSpPr>
          <p:spPr bwMode="gray">
            <a:xfrm>
              <a:off x="5715889" y="3050173"/>
              <a:ext cx="344580" cy="571484"/>
            </a:xfrm>
            <a:custGeom>
              <a:avLst/>
              <a:gdLst>
                <a:gd name="T0" fmla="*/ 507 w 508"/>
                <a:gd name="T1" fmla="*/ 210 h 891"/>
                <a:gd name="T2" fmla="*/ 499 w 508"/>
                <a:gd name="T3" fmla="*/ 170 h 891"/>
                <a:gd name="T4" fmla="*/ 502 w 508"/>
                <a:gd name="T5" fmla="*/ 155 h 891"/>
                <a:gd name="T6" fmla="*/ 503 w 508"/>
                <a:gd name="T7" fmla="*/ 104 h 891"/>
                <a:gd name="T8" fmla="*/ 505 w 508"/>
                <a:gd name="T9" fmla="*/ 13 h 891"/>
                <a:gd name="T10" fmla="*/ 497 w 508"/>
                <a:gd name="T11" fmla="*/ 0 h 891"/>
                <a:gd name="T12" fmla="*/ 425 w 508"/>
                <a:gd name="T13" fmla="*/ 38 h 891"/>
                <a:gd name="T14" fmla="*/ 393 w 508"/>
                <a:gd name="T15" fmla="*/ 45 h 891"/>
                <a:gd name="T16" fmla="*/ 354 w 508"/>
                <a:gd name="T17" fmla="*/ 66 h 891"/>
                <a:gd name="T18" fmla="*/ 325 w 508"/>
                <a:gd name="T19" fmla="*/ 61 h 891"/>
                <a:gd name="T20" fmla="*/ 279 w 508"/>
                <a:gd name="T21" fmla="*/ 51 h 891"/>
                <a:gd name="T22" fmla="*/ 237 w 508"/>
                <a:gd name="T23" fmla="*/ 62 h 891"/>
                <a:gd name="T24" fmla="*/ 224 w 508"/>
                <a:gd name="T25" fmla="*/ 89 h 891"/>
                <a:gd name="T26" fmla="*/ 228 w 508"/>
                <a:gd name="T27" fmla="*/ 144 h 891"/>
                <a:gd name="T28" fmla="*/ 235 w 508"/>
                <a:gd name="T29" fmla="*/ 166 h 891"/>
                <a:gd name="T30" fmla="*/ 281 w 508"/>
                <a:gd name="T31" fmla="*/ 231 h 891"/>
                <a:gd name="T32" fmla="*/ 268 w 508"/>
                <a:gd name="T33" fmla="*/ 300 h 891"/>
                <a:gd name="T34" fmla="*/ 246 w 508"/>
                <a:gd name="T35" fmla="*/ 333 h 891"/>
                <a:gd name="T36" fmla="*/ 234 w 508"/>
                <a:gd name="T37" fmla="*/ 340 h 891"/>
                <a:gd name="T38" fmla="*/ 202 w 508"/>
                <a:gd name="T39" fmla="*/ 297 h 891"/>
                <a:gd name="T40" fmla="*/ 208 w 508"/>
                <a:gd name="T41" fmla="*/ 279 h 891"/>
                <a:gd name="T42" fmla="*/ 210 w 508"/>
                <a:gd name="T43" fmla="*/ 263 h 891"/>
                <a:gd name="T44" fmla="*/ 208 w 508"/>
                <a:gd name="T45" fmla="*/ 234 h 891"/>
                <a:gd name="T46" fmla="*/ 189 w 508"/>
                <a:gd name="T47" fmla="*/ 218 h 891"/>
                <a:gd name="T48" fmla="*/ 148 w 508"/>
                <a:gd name="T49" fmla="*/ 189 h 891"/>
                <a:gd name="T50" fmla="*/ 43 w 508"/>
                <a:gd name="T51" fmla="*/ 227 h 891"/>
                <a:gd name="T52" fmla="*/ 5 w 508"/>
                <a:gd name="T53" fmla="*/ 243 h 891"/>
                <a:gd name="T54" fmla="*/ 17 w 508"/>
                <a:gd name="T55" fmla="*/ 297 h 891"/>
                <a:gd name="T56" fmla="*/ 64 w 508"/>
                <a:gd name="T57" fmla="*/ 309 h 891"/>
                <a:gd name="T58" fmla="*/ 89 w 508"/>
                <a:gd name="T59" fmla="*/ 322 h 891"/>
                <a:gd name="T60" fmla="*/ 120 w 508"/>
                <a:gd name="T61" fmla="*/ 331 h 891"/>
                <a:gd name="T62" fmla="*/ 129 w 508"/>
                <a:gd name="T63" fmla="*/ 357 h 891"/>
                <a:gd name="T64" fmla="*/ 131 w 508"/>
                <a:gd name="T65" fmla="*/ 375 h 891"/>
                <a:gd name="T66" fmla="*/ 129 w 508"/>
                <a:gd name="T67" fmla="*/ 395 h 891"/>
                <a:gd name="T68" fmla="*/ 131 w 508"/>
                <a:gd name="T69" fmla="*/ 434 h 891"/>
                <a:gd name="T70" fmla="*/ 117 w 508"/>
                <a:gd name="T71" fmla="*/ 450 h 891"/>
                <a:gd name="T72" fmla="*/ 117 w 508"/>
                <a:gd name="T73" fmla="*/ 482 h 891"/>
                <a:gd name="T74" fmla="*/ 125 w 508"/>
                <a:gd name="T75" fmla="*/ 518 h 891"/>
                <a:gd name="T76" fmla="*/ 105 w 508"/>
                <a:gd name="T77" fmla="*/ 542 h 891"/>
                <a:gd name="T78" fmla="*/ 96 w 508"/>
                <a:gd name="T79" fmla="*/ 570 h 891"/>
                <a:gd name="T80" fmla="*/ 95 w 508"/>
                <a:gd name="T81" fmla="*/ 586 h 891"/>
                <a:gd name="T82" fmla="*/ 57 w 508"/>
                <a:gd name="T83" fmla="*/ 702 h 891"/>
                <a:gd name="T84" fmla="*/ 78 w 508"/>
                <a:gd name="T85" fmla="*/ 809 h 891"/>
                <a:gd name="T86" fmla="*/ 76 w 508"/>
                <a:gd name="T87" fmla="*/ 830 h 891"/>
                <a:gd name="T88" fmla="*/ 83 w 508"/>
                <a:gd name="T89" fmla="*/ 861 h 891"/>
                <a:gd name="T90" fmla="*/ 98 w 508"/>
                <a:gd name="T91" fmla="*/ 877 h 891"/>
                <a:gd name="T92" fmla="*/ 115 w 508"/>
                <a:gd name="T93" fmla="*/ 871 h 891"/>
                <a:gd name="T94" fmla="*/ 109 w 508"/>
                <a:gd name="T95" fmla="*/ 819 h 891"/>
                <a:gd name="T96" fmla="*/ 242 w 508"/>
                <a:gd name="T97" fmla="*/ 735 h 891"/>
                <a:gd name="T98" fmla="*/ 230 w 508"/>
                <a:gd name="T99" fmla="*/ 713 h 891"/>
                <a:gd name="T100" fmla="*/ 241 w 508"/>
                <a:gd name="T101" fmla="*/ 650 h 891"/>
                <a:gd name="T102" fmla="*/ 246 w 508"/>
                <a:gd name="T103" fmla="*/ 626 h 891"/>
                <a:gd name="T104" fmla="*/ 238 w 508"/>
                <a:gd name="T105" fmla="*/ 612 h 891"/>
                <a:gd name="T106" fmla="*/ 225 w 508"/>
                <a:gd name="T107" fmla="*/ 555 h 891"/>
                <a:gd name="T108" fmla="*/ 222 w 508"/>
                <a:gd name="T109" fmla="*/ 503 h 891"/>
                <a:gd name="T110" fmla="*/ 267 w 508"/>
                <a:gd name="T111" fmla="*/ 455 h 891"/>
                <a:gd name="T112" fmla="*/ 312 w 508"/>
                <a:gd name="T113" fmla="*/ 419 h 891"/>
                <a:gd name="T114" fmla="*/ 417 w 508"/>
                <a:gd name="T115" fmla="*/ 348 h 891"/>
                <a:gd name="T116" fmla="*/ 458 w 508"/>
                <a:gd name="T117" fmla="*/ 314 h 891"/>
                <a:gd name="T118" fmla="*/ 498 w 508"/>
                <a:gd name="T119" fmla="*/ 263 h 891"/>
                <a:gd name="T120" fmla="*/ 508 w 508"/>
                <a:gd name="T121" fmla="*/ 229 h 8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08" h="891">
                  <a:moveTo>
                    <a:pt x="508" y="229"/>
                  </a:moveTo>
                  <a:cubicBezTo>
                    <a:pt x="508" y="221"/>
                    <a:pt x="507" y="210"/>
                    <a:pt x="507" y="210"/>
                  </a:cubicBezTo>
                  <a:cubicBezTo>
                    <a:pt x="499" y="211"/>
                    <a:pt x="499" y="211"/>
                    <a:pt x="499" y="211"/>
                  </a:cubicBezTo>
                  <a:cubicBezTo>
                    <a:pt x="499" y="170"/>
                    <a:pt x="499" y="170"/>
                    <a:pt x="499" y="170"/>
                  </a:cubicBezTo>
                  <a:cubicBezTo>
                    <a:pt x="491" y="162"/>
                    <a:pt x="491" y="162"/>
                    <a:pt x="491" y="162"/>
                  </a:cubicBezTo>
                  <a:cubicBezTo>
                    <a:pt x="502" y="155"/>
                    <a:pt x="502" y="155"/>
                    <a:pt x="502" y="155"/>
                  </a:cubicBezTo>
                  <a:cubicBezTo>
                    <a:pt x="495" y="124"/>
                    <a:pt x="495" y="124"/>
                    <a:pt x="495" y="124"/>
                  </a:cubicBezTo>
                  <a:cubicBezTo>
                    <a:pt x="503" y="104"/>
                    <a:pt x="503" y="104"/>
                    <a:pt x="503" y="104"/>
                  </a:cubicBezTo>
                  <a:cubicBezTo>
                    <a:pt x="493" y="78"/>
                    <a:pt x="493" y="78"/>
                    <a:pt x="493" y="78"/>
                  </a:cubicBezTo>
                  <a:cubicBezTo>
                    <a:pt x="493" y="78"/>
                    <a:pt x="505" y="21"/>
                    <a:pt x="505" y="13"/>
                  </a:cubicBezTo>
                  <a:cubicBezTo>
                    <a:pt x="505" y="5"/>
                    <a:pt x="497" y="0"/>
                    <a:pt x="497" y="0"/>
                  </a:cubicBezTo>
                  <a:cubicBezTo>
                    <a:pt x="497" y="0"/>
                    <a:pt x="497" y="0"/>
                    <a:pt x="497" y="0"/>
                  </a:cubicBezTo>
                  <a:cubicBezTo>
                    <a:pt x="444" y="37"/>
                    <a:pt x="444" y="37"/>
                    <a:pt x="444" y="37"/>
                  </a:cubicBezTo>
                  <a:cubicBezTo>
                    <a:pt x="425" y="38"/>
                    <a:pt x="425" y="38"/>
                    <a:pt x="425" y="38"/>
                  </a:cubicBezTo>
                  <a:cubicBezTo>
                    <a:pt x="425" y="38"/>
                    <a:pt x="404" y="51"/>
                    <a:pt x="400" y="52"/>
                  </a:cubicBezTo>
                  <a:cubicBezTo>
                    <a:pt x="396" y="53"/>
                    <a:pt x="393" y="45"/>
                    <a:pt x="393" y="45"/>
                  </a:cubicBezTo>
                  <a:cubicBezTo>
                    <a:pt x="377" y="45"/>
                    <a:pt x="377" y="45"/>
                    <a:pt x="377" y="45"/>
                  </a:cubicBezTo>
                  <a:cubicBezTo>
                    <a:pt x="377" y="45"/>
                    <a:pt x="361" y="63"/>
                    <a:pt x="354" y="66"/>
                  </a:cubicBezTo>
                  <a:cubicBezTo>
                    <a:pt x="347" y="69"/>
                    <a:pt x="343" y="67"/>
                    <a:pt x="343" y="67"/>
                  </a:cubicBezTo>
                  <a:cubicBezTo>
                    <a:pt x="343" y="67"/>
                    <a:pt x="329" y="59"/>
                    <a:pt x="325" y="61"/>
                  </a:cubicBezTo>
                  <a:cubicBezTo>
                    <a:pt x="321" y="63"/>
                    <a:pt x="316" y="72"/>
                    <a:pt x="311" y="72"/>
                  </a:cubicBezTo>
                  <a:cubicBezTo>
                    <a:pt x="306" y="72"/>
                    <a:pt x="287" y="51"/>
                    <a:pt x="279" y="51"/>
                  </a:cubicBezTo>
                  <a:cubicBezTo>
                    <a:pt x="271" y="51"/>
                    <a:pt x="267" y="61"/>
                    <a:pt x="267" y="61"/>
                  </a:cubicBezTo>
                  <a:cubicBezTo>
                    <a:pt x="267" y="61"/>
                    <a:pt x="250" y="62"/>
                    <a:pt x="237" y="62"/>
                  </a:cubicBezTo>
                  <a:cubicBezTo>
                    <a:pt x="236" y="66"/>
                    <a:pt x="236" y="70"/>
                    <a:pt x="236" y="72"/>
                  </a:cubicBezTo>
                  <a:cubicBezTo>
                    <a:pt x="236" y="75"/>
                    <a:pt x="233" y="81"/>
                    <a:pt x="224" y="89"/>
                  </a:cubicBezTo>
                  <a:cubicBezTo>
                    <a:pt x="215" y="97"/>
                    <a:pt x="225" y="104"/>
                    <a:pt x="229" y="109"/>
                  </a:cubicBezTo>
                  <a:cubicBezTo>
                    <a:pt x="233" y="114"/>
                    <a:pt x="233" y="132"/>
                    <a:pt x="228" y="144"/>
                  </a:cubicBezTo>
                  <a:cubicBezTo>
                    <a:pt x="225" y="151"/>
                    <a:pt x="225" y="159"/>
                    <a:pt x="226" y="164"/>
                  </a:cubicBezTo>
                  <a:cubicBezTo>
                    <a:pt x="229" y="165"/>
                    <a:pt x="233" y="165"/>
                    <a:pt x="235" y="166"/>
                  </a:cubicBezTo>
                  <a:cubicBezTo>
                    <a:pt x="239" y="169"/>
                    <a:pt x="257" y="196"/>
                    <a:pt x="261" y="204"/>
                  </a:cubicBezTo>
                  <a:cubicBezTo>
                    <a:pt x="265" y="212"/>
                    <a:pt x="275" y="222"/>
                    <a:pt x="281" y="231"/>
                  </a:cubicBezTo>
                  <a:cubicBezTo>
                    <a:pt x="287" y="240"/>
                    <a:pt x="270" y="258"/>
                    <a:pt x="270" y="258"/>
                  </a:cubicBezTo>
                  <a:cubicBezTo>
                    <a:pt x="270" y="258"/>
                    <a:pt x="274" y="293"/>
                    <a:pt x="268" y="300"/>
                  </a:cubicBezTo>
                  <a:cubicBezTo>
                    <a:pt x="262" y="307"/>
                    <a:pt x="244" y="299"/>
                    <a:pt x="238" y="317"/>
                  </a:cubicBezTo>
                  <a:cubicBezTo>
                    <a:pt x="232" y="335"/>
                    <a:pt x="242" y="323"/>
                    <a:pt x="246" y="333"/>
                  </a:cubicBezTo>
                  <a:cubicBezTo>
                    <a:pt x="250" y="343"/>
                    <a:pt x="243" y="360"/>
                    <a:pt x="232" y="358"/>
                  </a:cubicBezTo>
                  <a:cubicBezTo>
                    <a:pt x="221" y="356"/>
                    <a:pt x="235" y="346"/>
                    <a:pt x="234" y="340"/>
                  </a:cubicBezTo>
                  <a:cubicBezTo>
                    <a:pt x="233" y="334"/>
                    <a:pt x="202" y="314"/>
                    <a:pt x="202" y="314"/>
                  </a:cubicBezTo>
                  <a:cubicBezTo>
                    <a:pt x="202" y="297"/>
                    <a:pt x="202" y="297"/>
                    <a:pt x="202" y="297"/>
                  </a:cubicBezTo>
                  <a:cubicBezTo>
                    <a:pt x="202" y="297"/>
                    <a:pt x="197" y="297"/>
                    <a:pt x="195" y="294"/>
                  </a:cubicBezTo>
                  <a:cubicBezTo>
                    <a:pt x="193" y="291"/>
                    <a:pt x="208" y="279"/>
                    <a:pt x="208" y="279"/>
                  </a:cubicBezTo>
                  <a:cubicBezTo>
                    <a:pt x="200" y="266"/>
                    <a:pt x="200" y="266"/>
                    <a:pt x="200" y="266"/>
                  </a:cubicBezTo>
                  <a:cubicBezTo>
                    <a:pt x="210" y="263"/>
                    <a:pt x="210" y="263"/>
                    <a:pt x="210" y="263"/>
                  </a:cubicBezTo>
                  <a:cubicBezTo>
                    <a:pt x="213" y="242"/>
                    <a:pt x="213" y="242"/>
                    <a:pt x="213" y="242"/>
                  </a:cubicBezTo>
                  <a:cubicBezTo>
                    <a:pt x="213" y="242"/>
                    <a:pt x="207" y="243"/>
                    <a:pt x="208" y="234"/>
                  </a:cubicBezTo>
                  <a:cubicBezTo>
                    <a:pt x="209" y="225"/>
                    <a:pt x="205" y="214"/>
                    <a:pt x="205" y="214"/>
                  </a:cubicBezTo>
                  <a:cubicBezTo>
                    <a:pt x="199" y="211"/>
                    <a:pt x="189" y="218"/>
                    <a:pt x="189" y="218"/>
                  </a:cubicBezTo>
                  <a:cubicBezTo>
                    <a:pt x="169" y="221"/>
                    <a:pt x="169" y="221"/>
                    <a:pt x="169" y="221"/>
                  </a:cubicBezTo>
                  <a:cubicBezTo>
                    <a:pt x="148" y="189"/>
                    <a:pt x="148" y="189"/>
                    <a:pt x="148" y="189"/>
                  </a:cubicBezTo>
                  <a:cubicBezTo>
                    <a:pt x="148" y="189"/>
                    <a:pt x="104" y="209"/>
                    <a:pt x="95" y="214"/>
                  </a:cubicBezTo>
                  <a:cubicBezTo>
                    <a:pt x="85" y="219"/>
                    <a:pt x="43" y="227"/>
                    <a:pt x="43" y="227"/>
                  </a:cubicBezTo>
                  <a:cubicBezTo>
                    <a:pt x="31" y="238"/>
                    <a:pt x="31" y="238"/>
                    <a:pt x="31" y="238"/>
                  </a:cubicBezTo>
                  <a:cubicBezTo>
                    <a:pt x="31" y="238"/>
                    <a:pt x="11" y="239"/>
                    <a:pt x="5" y="243"/>
                  </a:cubicBezTo>
                  <a:cubicBezTo>
                    <a:pt x="0" y="247"/>
                    <a:pt x="15" y="261"/>
                    <a:pt x="15" y="261"/>
                  </a:cubicBezTo>
                  <a:cubicBezTo>
                    <a:pt x="17" y="297"/>
                    <a:pt x="17" y="297"/>
                    <a:pt x="17" y="297"/>
                  </a:cubicBezTo>
                  <a:cubicBezTo>
                    <a:pt x="56" y="297"/>
                    <a:pt x="56" y="297"/>
                    <a:pt x="56" y="297"/>
                  </a:cubicBezTo>
                  <a:cubicBezTo>
                    <a:pt x="64" y="309"/>
                    <a:pt x="64" y="309"/>
                    <a:pt x="64" y="309"/>
                  </a:cubicBezTo>
                  <a:cubicBezTo>
                    <a:pt x="79" y="306"/>
                    <a:pt x="79" y="306"/>
                    <a:pt x="79" y="306"/>
                  </a:cubicBezTo>
                  <a:cubicBezTo>
                    <a:pt x="89" y="322"/>
                    <a:pt x="89" y="322"/>
                    <a:pt x="89" y="322"/>
                  </a:cubicBezTo>
                  <a:cubicBezTo>
                    <a:pt x="89" y="322"/>
                    <a:pt x="99" y="319"/>
                    <a:pt x="107" y="319"/>
                  </a:cubicBezTo>
                  <a:cubicBezTo>
                    <a:pt x="115" y="319"/>
                    <a:pt x="120" y="331"/>
                    <a:pt x="120" y="331"/>
                  </a:cubicBezTo>
                  <a:cubicBezTo>
                    <a:pt x="120" y="331"/>
                    <a:pt x="135" y="331"/>
                    <a:pt x="139" y="339"/>
                  </a:cubicBezTo>
                  <a:cubicBezTo>
                    <a:pt x="143" y="347"/>
                    <a:pt x="129" y="357"/>
                    <a:pt x="129" y="357"/>
                  </a:cubicBezTo>
                  <a:cubicBezTo>
                    <a:pt x="137" y="366"/>
                    <a:pt x="137" y="366"/>
                    <a:pt x="137" y="366"/>
                  </a:cubicBezTo>
                  <a:cubicBezTo>
                    <a:pt x="131" y="375"/>
                    <a:pt x="131" y="375"/>
                    <a:pt x="131" y="375"/>
                  </a:cubicBezTo>
                  <a:cubicBezTo>
                    <a:pt x="137" y="383"/>
                    <a:pt x="137" y="383"/>
                    <a:pt x="137" y="383"/>
                  </a:cubicBezTo>
                  <a:cubicBezTo>
                    <a:pt x="137" y="383"/>
                    <a:pt x="132" y="390"/>
                    <a:pt x="129" y="395"/>
                  </a:cubicBezTo>
                  <a:cubicBezTo>
                    <a:pt x="127" y="401"/>
                    <a:pt x="135" y="407"/>
                    <a:pt x="137" y="421"/>
                  </a:cubicBezTo>
                  <a:cubicBezTo>
                    <a:pt x="140" y="434"/>
                    <a:pt x="131" y="434"/>
                    <a:pt x="131" y="434"/>
                  </a:cubicBezTo>
                  <a:cubicBezTo>
                    <a:pt x="131" y="443"/>
                    <a:pt x="131" y="443"/>
                    <a:pt x="131" y="443"/>
                  </a:cubicBezTo>
                  <a:cubicBezTo>
                    <a:pt x="117" y="450"/>
                    <a:pt x="117" y="450"/>
                    <a:pt x="117" y="450"/>
                  </a:cubicBezTo>
                  <a:cubicBezTo>
                    <a:pt x="131" y="466"/>
                    <a:pt x="131" y="466"/>
                    <a:pt x="131" y="466"/>
                  </a:cubicBezTo>
                  <a:cubicBezTo>
                    <a:pt x="131" y="466"/>
                    <a:pt x="119" y="477"/>
                    <a:pt x="117" y="482"/>
                  </a:cubicBezTo>
                  <a:cubicBezTo>
                    <a:pt x="116" y="487"/>
                    <a:pt x="133" y="498"/>
                    <a:pt x="135" y="505"/>
                  </a:cubicBezTo>
                  <a:cubicBezTo>
                    <a:pt x="136" y="511"/>
                    <a:pt x="125" y="518"/>
                    <a:pt x="125" y="518"/>
                  </a:cubicBezTo>
                  <a:cubicBezTo>
                    <a:pt x="125" y="518"/>
                    <a:pt x="123" y="525"/>
                    <a:pt x="121" y="533"/>
                  </a:cubicBezTo>
                  <a:cubicBezTo>
                    <a:pt x="120" y="541"/>
                    <a:pt x="105" y="542"/>
                    <a:pt x="105" y="542"/>
                  </a:cubicBezTo>
                  <a:cubicBezTo>
                    <a:pt x="104" y="565"/>
                    <a:pt x="104" y="565"/>
                    <a:pt x="104" y="565"/>
                  </a:cubicBezTo>
                  <a:cubicBezTo>
                    <a:pt x="96" y="570"/>
                    <a:pt x="96" y="570"/>
                    <a:pt x="96" y="570"/>
                  </a:cubicBezTo>
                  <a:cubicBezTo>
                    <a:pt x="105" y="583"/>
                    <a:pt x="105" y="583"/>
                    <a:pt x="105" y="583"/>
                  </a:cubicBezTo>
                  <a:cubicBezTo>
                    <a:pt x="95" y="586"/>
                    <a:pt x="95" y="586"/>
                    <a:pt x="95" y="586"/>
                  </a:cubicBezTo>
                  <a:cubicBezTo>
                    <a:pt x="48" y="642"/>
                    <a:pt x="48" y="642"/>
                    <a:pt x="48" y="642"/>
                  </a:cubicBezTo>
                  <a:cubicBezTo>
                    <a:pt x="48" y="642"/>
                    <a:pt x="55" y="693"/>
                    <a:pt x="57" y="702"/>
                  </a:cubicBezTo>
                  <a:cubicBezTo>
                    <a:pt x="59" y="711"/>
                    <a:pt x="80" y="743"/>
                    <a:pt x="79" y="752"/>
                  </a:cubicBezTo>
                  <a:cubicBezTo>
                    <a:pt x="78" y="761"/>
                    <a:pt x="78" y="809"/>
                    <a:pt x="78" y="809"/>
                  </a:cubicBezTo>
                  <a:cubicBezTo>
                    <a:pt x="60" y="833"/>
                    <a:pt x="60" y="833"/>
                    <a:pt x="60" y="833"/>
                  </a:cubicBezTo>
                  <a:cubicBezTo>
                    <a:pt x="76" y="830"/>
                    <a:pt x="76" y="830"/>
                    <a:pt x="76" y="830"/>
                  </a:cubicBezTo>
                  <a:cubicBezTo>
                    <a:pt x="76" y="830"/>
                    <a:pt x="71" y="847"/>
                    <a:pt x="73" y="854"/>
                  </a:cubicBezTo>
                  <a:cubicBezTo>
                    <a:pt x="76" y="861"/>
                    <a:pt x="83" y="861"/>
                    <a:pt x="83" y="861"/>
                  </a:cubicBezTo>
                  <a:cubicBezTo>
                    <a:pt x="87" y="877"/>
                    <a:pt x="87" y="877"/>
                    <a:pt x="87" y="877"/>
                  </a:cubicBezTo>
                  <a:cubicBezTo>
                    <a:pt x="91" y="876"/>
                    <a:pt x="95" y="875"/>
                    <a:pt x="98" y="877"/>
                  </a:cubicBezTo>
                  <a:cubicBezTo>
                    <a:pt x="102" y="879"/>
                    <a:pt x="107" y="885"/>
                    <a:pt x="111" y="891"/>
                  </a:cubicBezTo>
                  <a:cubicBezTo>
                    <a:pt x="113" y="883"/>
                    <a:pt x="115" y="876"/>
                    <a:pt x="115" y="871"/>
                  </a:cubicBezTo>
                  <a:cubicBezTo>
                    <a:pt x="116" y="856"/>
                    <a:pt x="107" y="845"/>
                    <a:pt x="107" y="845"/>
                  </a:cubicBezTo>
                  <a:cubicBezTo>
                    <a:pt x="107" y="845"/>
                    <a:pt x="88" y="839"/>
                    <a:pt x="109" y="819"/>
                  </a:cubicBezTo>
                  <a:cubicBezTo>
                    <a:pt x="130" y="799"/>
                    <a:pt x="165" y="785"/>
                    <a:pt x="186" y="773"/>
                  </a:cubicBezTo>
                  <a:cubicBezTo>
                    <a:pt x="207" y="761"/>
                    <a:pt x="242" y="744"/>
                    <a:pt x="242" y="735"/>
                  </a:cubicBezTo>
                  <a:cubicBezTo>
                    <a:pt x="242" y="726"/>
                    <a:pt x="242" y="718"/>
                    <a:pt x="242" y="718"/>
                  </a:cubicBezTo>
                  <a:cubicBezTo>
                    <a:pt x="242" y="718"/>
                    <a:pt x="231" y="727"/>
                    <a:pt x="230" y="713"/>
                  </a:cubicBezTo>
                  <a:cubicBezTo>
                    <a:pt x="229" y="699"/>
                    <a:pt x="249" y="684"/>
                    <a:pt x="247" y="674"/>
                  </a:cubicBezTo>
                  <a:cubicBezTo>
                    <a:pt x="245" y="664"/>
                    <a:pt x="241" y="650"/>
                    <a:pt x="241" y="650"/>
                  </a:cubicBezTo>
                  <a:cubicBezTo>
                    <a:pt x="248" y="631"/>
                    <a:pt x="248" y="631"/>
                    <a:pt x="248" y="631"/>
                  </a:cubicBezTo>
                  <a:cubicBezTo>
                    <a:pt x="246" y="626"/>
                    <a:pt x="246" y="626"/>
                    <a:pt x="246" y="626"/>
                  </a:cubicBezTo>
                  <a:cubicBezTo>
                    <a:pt x="235" y="639"/>
                    <a:pt x="235" y="639"/>
                    <a:pt x="235" y="639"/>
                  </a:cubicBezTo>
                  <a:cubicBezTo>
                    <a:pt x="238" y="612"/>
                    <a:pt x="238" y="612"/>
                    <a:pt x="238" y="612"/>
                  </a:cubicBezTo>
                  <a:cubicBezTo>
                    <a:pt x="238" y="612"/>
                    <a:pt x="223" y="597"/>
                    <a:pt x="222" y="587"/>
                  </a:cubicBezTo>
                  <a:cubicBezTo>
                    <a:pt x="221" y="577"/>
                    <a:pt x="230" y="567"/>
                    <a:pt x="225" y="555"/>
                  </a:cubicBezTo>
                  <a:cubicBezTo>
                    <a:pt x="220" y="543"/>
                    <a:pt x="208" y="554"/>
                    <a:pt x="208" y="541"/>
                  </a:cubicBezTo>
                  <a:cubicBezTo>
                    <a:pt x="208" y="528"/>
                    <a:pt x="219" y="507"/>
                    <a:pt x="222" y="503"/>
                  </a:cubicBezTo>
                  <a:cubicBezTo>
                    <a:pt x="225" y="499"/>
                    <a:pt x="249" y="493"/>
                    <a:pt x="252" y="484"/>
                  </a:cubicBezTo>
                  <a:cubicBezTo>
                    <a:pt x="255" y="475"/>
                    <a:pt x="260" y="460"/>
                    <a:pt x="267" y="455"/>
                  </a:cubicBezTo>
                  <a:cubicBezTo>
                    <a:pt x="274" y="450"/>
                    <a:pt x="279" y="455"/>
                    <a:pt x="287" y="449"/>
                  </a:cubicBezTo>
                  <a:cubicBezTo>
                    <a:pt x="295" y="443"/>
                    <a:pt x="310" y="435"/>
                    <a:pt x="312" y="419"/>
                  </a:cubicBezTo>
                  <a:cubicBezTo>
                    <a:pt x="314" y="403"/>
                    <a:pt x="331" y="385"/>
                    <a:pt x="348" y="377"/>
                  </a:cubicBezTo>
                  <a:cubicBezTo>
                    <a:pt x="365" y="369"/>
                    <a:pt x="409" y="355"/>
                    <a:pt x="417" y="348"/>
                  </a:cubicBezTo>
                  <a:cubicBezTo>
                    <a:pt x="425" y="341"/>
                    <a:pt x="458" y="324"/>
                    <a:pt x="458" y="324"/>
                  </a:cubicBezTo>
                  <a:cubicBezTo>
                    <a:pt x="458" y="314"/>
                    <a:pt x="458" y="314"/>
                    <a:pt x="458" y="314"/>
                  </a:cubicBezTo>
                  <a:cubicBezTo>
                    <a:pt x="458" y="314"/>
                    <a:pt x="476" y="295"/>
                    <a:pt x="476" y="290"/>
                  </a:cubicBezTo>
                  <a:cubicBezTo>
                    <a:pt x="476" y="285"/>
                    <a:pt x="498" y="263"/>
                    <a:pt x="498" y="263"/>
                  </a:cubicBezTo>
                  <a:cubicBezTo>
                    <a:pt x="496" y="254"/>
                    <a:pt x="496" y="254"/>
                    <a:pt x="496" y="254"/>
                  </a:cubicBezTo>
                  <a:cubicBezTo>
                    <a:pt x="496" y="254"/>
                    <a:pt x="508" y="237"/>
                    <a:pt x="508" y="229"/>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554" name="Freeform 346">
              <a:extLst>
                <a:ext uri="{FF2B5EF4-FFF2-40B4-BE49-F238E27FC236}">
                  <a16:creationId xmlns:a16="http://schemas.microsoft.com/office/drawing/2014/main" id="{E6CD7A4A-654B-4CE6-9C8A-08C21912C989}"/>
                </a:ext>
              </a:extLst>
            </p:cNvPr>
            <p:cNvSpPr>
              <a:spLocks/>
            </p:cNvSpPr>
            <p:nvPr/>
          </p:nvSpPr>
          <p:spPr bwMode="gray">
            <a:xfrm>
              <a:off x="5800598" y="3014337"/>
              <a:ext cx="109978" cy="266602"/>
            </a:xfrm>
            <a:custGeom>
              <a:avLst/>
              <a:gdLst>
                <a:gd name="T0" fmla="*/ 156 w 162"/>
                <a:gd name="T1" fmla="*/ 287 h 416"/>
                <a:gd name="T2" fmla="*/ 136 w 162"/>
                <a:gd name="T3" fmla="*/ 260 h 416"/>
                <a:gd name="T4" fmla="*/ 110 w 162"/>
                <a:gd name="T5" fmla="*/ 222 h 416"/>
                <a:gd name="T6" fmla="*/ 101 w 162"/>
                <a:gd name="T7" fmla="*/ 220 h 416"/>
                <a:gd name="T8" fmla="*/ 105 w 162"/>
                <a:gd name="T9" fmla="*/ 229 h 416"/>
                <a:gd name="T10" fmla="*/ 114 w 162"/>
                <a:gd name="T11" fmla="*/ 237 h 416"/>
                <a:gd name="T12" fmla="*/ 113 w 162"/>
                <a:gd name="T13" fmla="*/ 264 h 416"/>
                <a:gd name="T14" fmla="*/ 105 w 162"/>
                <a:gd name="T15" fmla="*/ 253 h 416"/>
                <a:gd name="T16" fmla="*/ 90 w 162"/>
                <a:gd name="T17" fmla="*/ 257 h 416"/>
                <a:gd name="T18" fmla="*/ 86 w 162"/>
                <a:gd name="T19" fmla="*/ 234 h 416"/>
                <a:gd name="T20" fmla="*/ 81 w 162"/>
                <a:gd name="T21" fmla="*/ 220 h 416"/>
                <a:gd name="T22" fmla="*/ 81 w 162"/>
                <a:gd name="T23" fmla="*/ 195 h 416"/>
                <a:gd name="T24" fmla="*/ 64 w 162"/>
                <a:gd name="T25" fmla="*/ 171 h 416"/>
                <a:gd name="T26" fmla="*/ 59 w 162"/>
                <a:gd name="T27" fmla="*/ 154 h 416"/>
                <a:gd name="T28" fmla="*/ 77 w 162"/>
                <a:gd name="T29" fmla="*/ 126 h 416"/>
                <a:gd name="T30" fmla="*/ 84 w 162"/>
                <a:gd name="T31" fmla="*/ 108 h 416"/>
                <a:gd name="T32" fmla="*/ 81 w 162"/>
                <a:gd name="T33" fmla="*/ 90 h 416"/>
                <a:gd name="T34" fmla="*/ 78 w 162"/>
                <a:gd name="T35" fmla="*/ 51 h 416"/>
                <a:gd name="T36" fmla="*/ 64 w 162"/>
                <a:gd name="T37" fmla="*/ 37 h 416"/>
                <a:gd name="T38" fmla="*/ 60 w 162"/>
                <a:gd name="T39" fmla="*/ 10 h 416"/>
                <a:gd name="T40" fmla="*/ 41 w 162"/>
                <a:gd name="T41" fmla="*/ 10 h 416"/>
                <a:gd name="T42" fmla="*/ 35 w 162"/>
                <a:gd name="T43" fmla="*/ 0 h 416"/>
                <a:gd name="T44" fmla="*/ 20 w 162"/>
                <a:gd name="T45" fmla="*/ 1 h 416"/>
                <a:gd name="T46" fmla="*/ 20 w 162"/>
                <a:gd name="T47" fmla="*/ 9 h 416"/>
                <a:gd name="T48" fmla="*/ 35 w 162"/>
                <a:gd name="T49" fmla="*/ 16 h 416"/>
                <a:gd name="T50" fmla="*/ 37 w 162"/>
                <a:gd name="T51" fmla="*/ 42 h 416"/>
                <a:gd name="T52" fmla="*/ 46 w 162"/>
                <a:gd name="T53" fmla="*/ 41 h 416"/>
                <a:gd name="T54" fmla="*/ 46 w 162"/>
                <a:gd name="T55" fmla="*/ 54 h 416"/>
                <a:gd name="T56" fmla="*/ 52 w 162"/>
                <a:gd name="T57" fmla="*/ 64 h 416"/>
                <a:gd name="T58" fmla="*/ 30 w 162"/>
                <a:gd name="T59" fmla="*/ 75 h 416"/>
                <a:gd name="T60" fmla="*/ 30 w 162"/>
                <a:gd name="T61" fmla="*/ 86 h 416"/>
                <a:gd name="T62" fmla="*/ 37 w 162"/>
                <a:gd name="T63" fmla="*/ 92 h 416"/>
                <a:gd name="T64" fmla="*/ 33 w 162"/>
                <a:gd name="T65" fmla="*/ 105 h 416"/>
                <a:gd name="T66" fmla="*/ 34 w 162"/>
                <a:gd name="T67" fmla="*/ 153 h 416"/>
                <a:gd name="T68" fmla="*/ 42 w 162"/>
                <a:gd name="T69" fmla="*/ 157 h 416"/>
                <a:gd name="T70" fmla="*/ 14 w 162"/>
                <a:gd name="T71" fmla="*/ 175 h 416"/>
                <a:gd name="T72" fmla="*/ 16 w 162"/>
                <a:gd name="T73" fmla="*/ 200 h 416"/>
                <a:gd name="T74" fmla="*/ 1 w 162"/>
                <a:gd name="T75" fmla="*/ 226 h 416"/>
                <a:gd name="T76" fmla="*/ 23 w 162"/>
                <a:gd name="T77" fmla="*/ 245 h 416"/>
                <a:gd name="T78" fmla="*/ 44 w 162"/>
                <a:gd name="T79" fmla="*/ 277 h 416"/>
                <a:gd name="T80" fmla="*/ 64 w 162"/>
                <a:gd name="T81" fmla="*/ 274 h 416"/>
                <a:gd name="T82" fmla="*/ 80 w 162"/>
                <a:gd name="T83" fmla="*/ 270 h 416"/>
                <a:gd name="T84" fmla="*/ 83 w 162"/>
                <a:gd name="T85" fmla="*/ 290 h 416"/>
                <a:gd name="T86" fmla="*/ 88 w 162"/>
                <a:gd name="T87" fmla="*/ 298 h 416"/>
                <a:gd name="T88" fmla="*/ 85 w 162"/>
                <a:gd name="T89" fmla="*/ 319 h 416"/>
                <a:gd name="T90" fmla="*/ 75 w 162"/>
                <a:gd name="T91" fmla="*/ 322 h 416"/>
                <a:gd name="T92" fmla="*/ 83 w 162"/>
                <a:gd name="T93" fmla="*/ 335 h 416"/>
                <a:gd name="T94" fmla="*/ 70 w 162"/>
                <a:gd name="T95" fmla="*/ 350 h 416"/>
                <a:gd name="T96" fmla="*/ 77 w 162"/>
                <a:gd name="T97" fmla="*/ 353 h 416"/>
                <a:gd name="T98" fmla="*/ 77 w 162"/>
                <a:gd name="T99" fmla="*/ 370 h 416"/>
                <a:gd name="T100" fmla="*/ 109 w 162"/>
                <a:gd name="T101" fmla="*/ 396 h 416"/>
                <a:gd name="T102" fmla="*/ 107 w 162"/>
                <a:gd name="T103" fmla="*/ 414 h 416"/>
                <a:gd name="T104" fmla="*/ 121 w 162"/>
                <a:gd name="T105" fmla="*/ 389 h 416"/>
                <a:gd name="T106" fmla="*/ 113 w 162"/>
                <a:gd name="T107" fmla="*/ 373 h 416"/>
                <a:gd name="T108" fmla="*/ 143 w 162"/>
                <a:gd name="T109" fmla="*/ 356 h 416"/>
                <a:gd name="T110" fmla="*/ 145 w 162"/>
                <a:gd name="T111" fmla="*/ 314 h 416"/>
                <a:gd name="T112" fmla="*/ 156 w 162"/>
                <a:gd name="T113" fmla="*/ 287 h 4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62" h="416">
                  <a:moveTo>
                    <a:pt x="156" y="287"/>
                  </a:moveTo>
                  <a:cubicBezTo>
                    <a:pt x="150" y="278"/>
                    <a:pt x="140" y="268"/>
                    <a:pt x="136" y="260"/>
                  </a:cubicBezTo>
                  <a:cubicBezTo>
                    <a:pt x="132" y="252"/>
                    <a:pt x="114" y="225"/>
                    <a:pt x="110" y="222"/>
                  </a:cubicBezTo>
                  <a:cubicBezTo>
                    <a:pt x="108" y="221"/>
                    <a:pt x="104" y="221"/>
                    <a:pt x="101" y="220"/>
                  </a:cubicBezTo>
                  <a:cubicBezTo>
                    <a:pt x="101" y="225"/>
                    <a:pt x="103" y="228"/>
                    <a:pt x="105" y="229"/>
                  </a:cubicBezTo>
                  <a:cubicBezTo>
                    <a:pt x="110" y="231"/>
                    <a:pt x="114" y="237"/>
                    <a:pt x="114" y="237"/>
                  </a:cubicBezTo>
                  <a:cubicBezTo>
                    <a:pt x="114" y="237"/>
                    <a:pt x="119" y="262"/>
                    <a:pt x="113" y="264"/>
                  </a:cubicBezTo>
                  <a:cubicBezTo>
                    <a:pt x="107" y="266"/>
                    <a:pt x="105" y="253"/>
                    <a:pt x="105" y="253"/>
                  </a:cubicBezTo>
                  <a:cubicBezTo>
                    <a:pt x="105" y="253"/>
                    <a:pt x="93" y="259"/>
                    <a:pt x="90" y="257"/>
                  </a:cubicBezTo>
                  <a:cubicBezTo>
                    <a:pt x="87" y="255"/>
                    <a:pt x="87" y="241"/>
                    <a:pt x="86" y="234"/>
                  </a:cubicBezTo>
                  <a:cubicBezTo>
                    <a:pt x="85" y="227"/>
                    <a:pt x="83" y="224"/>
                    <a:pt x="81" y="220"/>
                  </a:cubicBezTo>
                  <a:cubicBezTo>
                    <a:pt x="79" y="216"/>
                    <a:pt x="81" y="203"/>
                    <a:pt x="81" y="195"/>
                  </a:cubicBezTo>
                  <a:cubicBezTo>
                    <a:pt x="81" y="187"/>
                    <a:pt x="76" y="181"/>
                    <a:pt x="64" y="171"/>
                  </a:cubicBezTo>
                  <a:cubicBezTo>
                    <a:pt x="52" y="161"/>
                    <a:pt x="61" y="163"/>
                    <a:pt x="59" y="154"/>
                  </a:cubicBezTo>
                  <a:cubicBezTo>
                    <a:pt x="57" y="145"/>
                    <a:pt x="67" y="137"/>
                    <a:pt x="77" y="126"/>
                  </a:cubicBezTo>
                  <a:cubicBezTo>
                    <a:pt x="87" y="115"/>
                    <a:pt x="83" y="113"/>
                    <a:pt x="84" y="108"/>
                  </a:cubicBezTo>
                  <a:cubicBezTo>
                    <a:pt x="85" y="103"/>
                    <a:pt x="81" y="98"/>
                    <a:pt x="81" y="90"/>
                  </a:cubicBezTo>
                  <a:cubicBezTo>
                    <a:pt x="81" y="82"/>
                    <a:pt x="79" y="67"/>
                    <a:pt x="78" y="51"/>
                  </a:cubicBezTo>
                  <a:cubicBezTo>
                    <a:pt x="77" y="35"/>
                    <a:pt x="75" y="44"/>
                    <a:pt x="64" y="37"/>
                  </a:cubicBezTo>
                  <a:cubicBezTo>
                    <a:pt x="53" y="30"/>
                    <a:pt x="61" y="21"/>
                    <a:pt x="60" y="10"/>
                  </a:cubicBezTo>
                  <a:cubicBezTo>
                    <a:pt x="41" y="10"/>
                    <a:pt x="41" y="10"/>
                    <a:pt x="41" y="10"/>
                  </a:cubicBezTo>
                  <a:cubicBezTo>
                    <a:pt x="35" y="0"/>
                    <a:pt x="35" y="0"/>
                    <a:pt x="35" y="0"/>
                  </a:cubicBezTo>
                  <a:cubicBezTo>
                    <a:pt x="20" y="1"/>
                    <a:pt x="20" y="1"/>
                    <a:pt x="20" y="1"/>
                  </a:cubicBezTo>
                  <a:cubicBezTo>
                    <a:pt x="20" y="9"/>
                    <a:pt x="20" y="9"/>
                    <a:pt x="20" y="9"/>
                  </a:cubicBezTo>
                  <a:cubicBezTo>
                    <a:pt x="20" y="9"/>
                    <a:pt x="34" y="9"/>
                    <a:pt x="35" y="16"/>
                  </a:cubicBezTo>
                  <a:cubicBezTo>
                    <a:pt x="36" y="23"/>
                    <a:pt x="34" y="42"/>
                    <a:pt x="37" y="42"/>
                  </a:cubicBezTo>
                  <a:cubicBezTo>
                    <a:pt x="40" y="42"/>
                    <a:pt x="46" y="41"/>
                    <a:pt x="46" y="41"/>
                  </a:cubicBezTo>
                  <a:cubicBezTo>
                    <a:pt x="46" y="54"/>
                    <a:pt x="46" y="54"/>
                    <a:pt x="46" y="54"/>
                  </a:cubicBezTo>
                  <a:cubicBezTo>
                    <a:pt x="46" y="54"/>
                    <a:pt x="58" y="57"/>
                    <a:pt x="52" y="64"/>
                  </a:cubicBezTo>
                  <a:cubicBezTo>
                    <a:pt x="46" y="71"/>
                    <a:pt x="30" y="75"/>
                    <a:pt x="30" y="75"/>
                  </a:cubicBezTo>
                  <a:cubicBezTo>
                    <a:pt x="30" y="86"/>
                    <a:pt x="30" y="86"/>
                    <a:pt x="30" y="86"/>
                  </a:cubicBezTo>
                  <a:cubicBezTo>
                    <a:pt x="37" y="92"/>
                    <a:pt x="37" y="92"/>
                    <a:pt x="37" y="92"/>
                  </a:cubicBezTo>
                  <a:cubicBezTo>
                    <a:pt x="33" y="105"/>
                    <a:pt x="33" y="105"/>
                    <a:pt x="33" y="105"/>
                  </a:cubicBezTo>
                  <a:cubicBezTo>
                    <a:pt x="34" y="153"/>
                    <a:pt x="34" y="153"/>
                    <a:pt x="34" y="153"/>
                  </a:cubicBezTo>
                  <a:cubicBezTo>
                    <a:pt x="34" y="153"/>
                    <a:pt x="45" y="150"/>
                    <a:pt x="42" y="157"/>
                  </a:cubicBezTo>
                  <a:cubicBezTo>
                    <a:pt x="39" y="164"/>
                    <a:pt x="14" y="175"/>
                    <a:pt x="14" y="175"/>
                  </a:cubicBezTo>
                  <a:cubicBezTo>
                    <a:pt x="16" y="200"/>
                    <a:pt x="16" y="200"/>
                    <a:pt x="16" y="200"/>
                  </a:cubicBezTo>
                  <a:cubicBezTo>
                    <a:pt x="16" y="200"/>
                    <a:pt x="0" y="223"/>
                    <a:pt x="1" y="226"/>
                  </a:cubicBezTo>
                  <a:cubicBezTo>
                    <a:pt x="2" y="229"/>
                    <a:pt x="23" y="245"/>
                    <a:pt x="23" y="245"/>
                  </a:cubicBezTo>
                  <a:cubicBezTo>
                    <a:pt x="44" y="277"/>
                    <a:pt x="44" y="277"/>
                    <a:pt x="44" y="277"/>
                  </a:cubicBezTo>
                  <a:cubicBezTo>
                    <a:pt x="64" y="274"/>
                    <a:pt x="64" y="274"/>
                    <a:pt x="64" y="274"/>
                  </a:cubicBezTo>
                  <a:cubicBezTo>
                    <a:pt x="64" y="274"/>
                    <a:pt x="74" y="267"/>
                    <a:pt x="80" y="270"/>
                  </a:cubicBezTo>
                  <a:cubicBezTo>
                    <a:pt x="80" y="270"/>
                    <a:pt x="84" y="281"/>
                    <a:pt x="83" y="290"/>
                  </a:cubicBezTo>
                  <a:cubicBezTo>
                    <a:pt x="82" y="299"/>
                    <a:pt x="88" y="298"/>
                    <a:pt x="88" y="298"/>
                  </a:cubicBezTo>
                  <a:cubicBezTo>
                    <a:pt x="85" y="319"/>
                    <a:pt x="85" y="319"/>
                    <a:pt x="85" y="319"/>
                  </a:cubicBezTo>
                  <a:cubicBezTo>
                    <a:pt x="75" y="322"/>
                    <a:pt x="75" y="322"/>
                    <a:pt x="75" y="322"/>
                  </a:cubicBezTo>
                  <a:cubicBezTo>
                    <a:pt x="83" y="335"/>
                    <a:pt x="83" y="335"/>
                    <a:pt x="83" y="335"/>
                  </a:cubicBezTo>
                  <a:cubicBezTo>
                    <a:pt x="83" y="335"/>
                    <a:pt x="68" y="347"/>
                    <a:pt x="70" y="350"/>
                  </a:cubicBezTo>
                  <a:cubicBezTo>
                    <a:pt x="72" y="353"/>
                    <a:pt x="77" y="353"/>
                    <a:pt x="77" y="353"/>
                  </a:cubicBezTo>
                  <a:cubicBezTo>
                    <a:pt x="77" y="370"/>
                    <a:pt x="77" y="370"/>
                    <a:pt x="77" y="370"/>
                  </a:cubicBezTo>
                  <a:cubicBezTo>
                    <a:pt x="77" y="370"/>
                    <a:pt x="108" y="390"/>
                    <a:pt x="109" y="396"/>
                  </a:cubicBezTo>
                  <a:cubicBezTo>
                    <a:pt x="110" y="402"/>
                    <a:pt x="96" y="412"/>
                    <a:pt x="107" y="414"/>
                  </a:cubicBezTo>
                  <a:cubicBezTo>
                    <a:pt x="118" y="416"/>
                    <a:pt x="125" y="399"/>
                    <a:pt x="121" y="389"/>
                  </a:cubicBezTo>
                  <a:cubicBezTo>
                    <a:pt x="117" y="379"/>
                    <a:pt x="107" y="391"/>
                    <a:pt x="113" y="373"/>
                  </a:cubicBezTo>
                  <a:cubicBezTo>
                    <a:pt x="119" y="355"/>
                    <a:pt x="137" y="363"/>
                    <a:pt x="143" y="356"/>
                  </a:cubicBezTo>
                  <a:cubicBezTo>
                    <a:pt x="149" y="349"/>
                    <a:pt x="145" y="314"/>
                    <a:pt x="145" y="314"/>
                  </a:cubicBezTo>
                  <a:cubicBezTo>
                    <a:pt x="145" y="314"/>
                    <a:pt x="162" y="296"/>
                    <a:pt x="156" y="287"/>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555" name="Freeform 347">
              <a:extLst>
                <a:ext uri="{FF2B5EF4-FFF2-40B4-BE49-F238E27FC236}">
                  <a16:creationId xmlns:a16="http://schemas.microsoft.com/office/drawing/2014/main" id="{F6972465-3180-4049-87B6-65B483A03395}"/>
                </a:ext>
              </a:extLst>
            </p:cNvPr>
            <p:cNvSpPr>
              <a:spLocks/>
            </p:cNvSpPr>
            <p:nvPr/>
          </p:nvSpPr>
          <p:spPr bwMode="gray">
            <a:xfrm>
              <a:off x="5458029" y="2970627"/>
              <a:ext cx="381910" cy="343705"/>
            </a:xfrm>
            <a:custGeom>
              <a:avLst/>
              <a:gdLst>
                <a:gd name="T0" fmla="*/ 551 w 563"/>
                <a:gd name="T1" fmla="*/ 109 h 536"/>
                <a:gd name="T2" fmla="*/ 540 w 563"/>
                <a:gd name="T3" fmla="*/ 84 h 536"/>
                <a:gd name="T4" fmla="*/ 525 w 563"/>
                <a:gd name="T5" fmla="*/ 69 h 536"/>
                <a:gd name="T6" fmla="*/ 502 w 563"/>
                <a:gd name="T7" fmla="*/ 60 h 536"/>
                <a:gd name="T8" fmla="*/ 485 w 563"/>
                <a:gd name="T9" fmla="*/ 51 h 536"/>
                <a:gd name="T10" fmla="*/ 461 w 563"/>
                <a:gd name="T11" fmla="*/ 38 h 536"/>
                <a:gd name="T12" fmla="*/ 436 w 563"/>
                <a:gd name="T13" fmla="*/ 26 h 536"/>
                <a:gd name="T14" fmla="*/ 419 w 563"/>
                <a:gd name="T15" fmla="*/ 25 h 536"/>
                <a:gd name="T16" fmla="*/ 402 w 563"/>
                <a:gd name="T17" fmla="*/ 0 h 536"/>
                <a:gd name="T18" fmla="*/ 333 w 563"/>
                <a:gd name="T19" fmla="*/ 15 h 536"/>
                <a:gd name="T20" fmla="*/ 306 w 563"/>
                <a:gd name="T21" fmla="*/ 57 h 536"/>
                <a:gd name="T22" fmla="*/ 320 w 563"/>
                <a:gd name="T23" fmla="*/ 87 h 536"/>
                <a:gd name="T24" fmla="*/ 304 w 563"/>
                <a:gd name="T25" fmla="*/ 189 h 536"/>
                <a:gd name="T26" fmla="*/ 351 w 563"/>
                <a:gd name="T27" fmla="*/ 230 h 536"/>
                <a:gd name="T28" fmla="*/ 364 w 563"/>
                <a:gd name="T29" fmla="*/ 214 h 536"/>
                <a:gd name="T30" fmla="*/ 367 w 563"/>
                <a:gd name="T31" fmla="*/ 282 h 536"/>
                <a:gd name="T32" fmla="*/ 344 w 563"/>
                <a:gd name="T33" fmla="*/ 281 h 536"/>
                <a:gd name="T34" fmla="*/ 324 w 563"/>
                <a:gd name="T35" fmla="*/ 251 h 536"/>
                <a:gd name="T36" fmla="*/ 305 w 563"/>
                <a:gd name="T37" fmla="*/ 228 h 536"/>
                <a:gd name="T38" fmla="*/ 282 w 563"/>
                <a:gd name="T39" fmla="*/ 216 h 536"/>
                <a:gd name="T40" fmla="*/ 267 w 563"/>
                <a:gd name="T41" fmla="*/ 203 h 536"/>
                <a:gd name="T42" fmla="*/ 246 w 563"/>
                <a:gd name="T43" fmla="*/ 179 h 536"/>
                <a:gd name="T44" fmla="*/ 165 w 563"/>
                <a:gd name="T45" fmla="*/ 188 h 536"/>
                <a:gd name="T46" fmla="*/ 128 w 563"/>
                <a:gd name="T47" fmla="*/ 168 h 536"/>
                <a:gd name="T48" fmla="*/ 117 w 563"/>
                <a:gd name="T49" fmla="*/ 151 h 536"/>
                <a:gd name="T50" fmla="*/ 101 w 563"/>
                <a:gd name="T51" fmla="*/ 144 h 536"/>
                <a:gd name="T52" fmla="*/ 107 w 563"/>
                <a:gd name="T53" fmla="*/ 178 h 536"/>
                <a:gd name="T54" fmla="*/ 98 w 563"/>
                <a:gd name="T55" fmla="*/ 218 h 536"/>
                <a:gd name="T56" fmla="*/ 93 w 563"/>
                <a:gd name="T57" fmla="*/ 232 h 536"/>
                <a:gd name="T58" fmla="*/ 84 w 563"/>
                <a:gd name="T59" fmla="*/ 262 h 536"/>
                <a:gd name="T60" fmla="*/ 0 w 563"/>
                <a:gd name="T61" fmla="*/ 427 h 536"/>
                <a:gd name="T62" fmla="*/ 6 w 563"/>
                <a:gd name="T63" fmla="*/ 449 h 536"/>
                <a:gd name="T64" fmla="*/ 79 w 563"/>
                <a:gd name="T65" fmla="*/ 511 h 536"/>
                <a:gd name="T66" fmla="*/ 108 w 563"/>
                <a:gd name="T67" fmla="*/ 498 h 536"/>
                <a:gd name="T68" fmla="*/ 138 w 563"/>
                <a:gd name="T69" fmla="*/ 504 h 536"/>
                <a:gd name="T70" fmla="*/ 177 w 563"/>
                <a:gd name="T71" fmla="*/ 517 h 536"/>
                <a:gd name="T72" fmla="*/ 202 w 563"/>
                <a:gd name="T73" fmla="*/ 521 h 536"/>
                <a:gd name="T74" fmla="*/ 267 w 563"/>
                <a:gd name="T75" fmla="*/ 491 h 536"/>
                <a:gd name="T76" fmla="*/ 323 w 563"/>
                <a:gd name="T77" fmla="*/ 449 h 536"/>
                <a:gd name="T78" fmla="*/ 356 w 563"/>
                <a:gd name="T79" fmla="*/ 405 h 536"/>
                <a:gd name="T80" fmla="*/ 395 w 563"/>
                <a:gd name="T81" fmla="*/ 385 h 536"/>
                <a:gd name="T82" fmla="*/ 411 w 563"/>
                <a:gd name="T83" fmla="*/ 362 h 536"/>
                <a:gd name="T84" fmla="*/ 475 w 563"/>
                <a:gd name="T85" fmla="*/ 338 h 536"/>
                <a:gd name="T86" fmla="*/ 506 w 563"/>
                <a:gd name="T87" fmla="*/ 294 h 536"/>
                <a:gd name="T88" fmla="*/ 519 w 563"/>
                <a:gd name="T89" fmla="*/ 243 h 536"/>
                <a:gd name="T90" fmla="*/ 539 w 563"/>
                <a:gd name="T91" fmla="*/ 221 h 536"/>
                <a:gd name="T92" fmla="*/ 542 w 563"/>
                <a:gd name="T93" fmla="*/ 160 h 536"/>
                <a:gd name="T94" fmla="*/ 535 w 563"/>
                <a:gd name="T95" fmla="*/ 143 h 536"/>
                <a:gd name="T96" fmla="*/ 551 w 563"/>
                <a:gd name="T97" fmla="*/ 122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63" h="536">
                  <a:moveTo>
                    <a:pt x="551" y="122"/>
                  </a:moveTo>
                  <a:cubicBezTo>
                    <a:pt x="551" y="109"/>
                    <a:pt x="551" y="109"/>
                    <a:pt x="551" y="109"/>
                  </a:cubicBezTo>
                  <a:cubicBezTo>
                    <a:pt x="551" y="109"/>
                    <a:pt x="545" y="110"/>
                    <a:pt x="542" y="110"/>
                  </a:cubicBezTo>
                  <a:cubicBezTo>
                    <a:pt x="539" y="110"/>
                    <a:pt x="541" y="91"/>
                    <a:pt x="540" y="84"/>
                  </a:cubicBezTo>
                  <a:cubicBezTo>
                    <a:pt x="539" y="77"/>
                    <a:pt x="525" y="77"/>
                    <a:pt x="525" y="77"/>
                  </a:cubicBezTo>
                  <a:cubicBezTo>
                    <a:pt x="525" y="69"/>
                    <a:pt x="525" y="69"/>
                    <a:pt x="525" y="69"/>
                  </a:cubicBezTo>
                  <a:cubicBezTo>
                    <a:pt x="514" y="59"/>
                    <a:pt x="514" y="59"/>
                    <a:pt x="514" y="59"/>
                  </a:cubicBezTo>
                  <a:cubicBezTo>
                    <a:pt x="502" y="60"/>
                    <a:pt x="502" y="60"/>
                    <a:pt x="502" y="60"/>
                  </a:cubicBezTo>
                  <a:cubicBezTo>
                    <a:pt x="500" y="49"/>
                    <a:pt x="500" y="49"/>
                    <a:pt x="500" y="49"/>
                  </a:cubicBezTo>
                  <a:cubicBezTo>
                    <a:pt x="500" y="49"/>
                    <a:pt x="490" y="55"/>
                    <a:pt x="485" y="51"/>
                  </a:cubicBezTo>
                  <a:cubicBezTo>
                    <a:pt x="480" y="47"/>
                    <a:pt x="473" y="38"/>
                    <a:pt x="473" y="38"/>
                  </a:cubicBezTo>
                  <a:cubicBezTo>
                    <a:pt x="473" y="38"/>
                    <a:pt x="464" y="41"/>
                    <a:pt x="461" y="38"/>
                  </a:cubicBezTo>
                  <a:cubicBezTo>
                    <a:pt x="458" y="35"/>
                    <a:pt x="456" y="23"/>
                    <a:pt x="456" y="23"/>
                  </a:cubicBezTo>
                  <a:cubicBezTo>
                    <a:pt x="456" y="23"/>
                    <a:pt x="444" y="27"/>
                    <a:pt x="436" y="26"/>
                  </a:cubicBezTo>
                  <a:cubicBezTo>
                    <a:pt x="434" y="31"/>
                    <a:pt x="431" y="36"/>
                    <a:pt x="428" y="38"/>
                  </a:cubicBezTo>
                  <a:cubicBezTo>
                    <a:pt x="420" y="42"/>
                    <a:pt x="419" y="25"/>
                    <a:pt x="419" y="25"/>
                  </a:cubicBezTo>
                  <a:cubicBezTo>
                    <a:pt x="419" y="25"/>
                    <a:pt x="411" y="20"/>
                    <a:pt x="400" y="16"/>
                  </a:cubicBezTo>
                  <a:cubicBezTo>
                    <a:pt x="393" y="13"/>
                    <a:pt x="398" y="6"/>
                    <a:pt x="402" y="0"/>
                  </a:cubicBezTo>
                  <a:cubicBezTo>
                    <a:pt x="394" y="4"/>
                    <a:pt x="387" y="6"/>
                    <a:pt x="383" y="7"/>
                  </a:cubicBezTo>
                  <a:cubicBezTo>
                    <a:pt x="370" y="10"/>
                    <a:pt x="333" y="15"/>
                    <a:pt x="333" y="15"/>
                  </a:cubicBezTo>
                  <a:cubicBezTo>
                    <a:pt x="333" y="15"/>
                    <a:pt x="333" y="28"/>
                    <a:pt x="333" y="35"/>
                  </a:cubicBezTo>
                  <a:cubicBezTo>
                    <a:pt x="333" y="42"/>
                    <a:pt x="306" y="57"/>
                    <a:pt x="306" y="57"/>
                  </a:cubicBezTo>
                  <a:cubicBezTo>
                    <a:pt x="306" y="57"/>
                    <a:pt x="312" y="64"/>
                    <a:pt x="315" y="66"/>
                  </a:cubicBezTo>
                  <a:cubicBezTo>
                    <a:pt x="318" y="68"/>
                    <a:pt x="320" y="87"/>
                    <a:pt x="320" y="87"/>
                  </a:cubicBezTo>
                  <a:cubicBezTo>
                    <a:pt x="320" y="87"/>
                    <a:pt x="324" y="121"/>
                    <a:pt x="324" y="135"/>
                  </a:cubicBezTo>
                  <a:cubicBezTo>
                    <a:pt x="324" y="149"/>
                    <a:pt x="302" y="171"/>
                    <a:pt x="304" y="189"/>
                  </a:cubicBezTo>
                  <a:cubicBezTo>
                    <a:pt x="306" y="207"/>
                    <a:pt x="317" y="202"/>
                    <a:pt x="323" y="209"/>
                  </a:cubicBezTo>
                  <a:cubicBezTo>
                    <a:pt x="329" y="216"/>
                    <a:pt x="341" y="230"/>
                    <a:pt x="351" y="230"/>
                  </a:cubicBezTo>
                  <a:cubicBezTo>
                    <a:pt x="361" y="230"/>
                    <a:pt x="358" y="217"/>
                    <a:pt x="358" y="217"/>
                  </a:cubicBezTo>
                  <a:cubicBezTo>
                    <a:pt x="364" y="214"/>
                    <a:pt x="364" y="214"/>
                    <a:pt x="364" y="214"/>
                  </a:cubicBezTo>
                  <a:cubicBezTo>
                    <a:pt x="372" y="214"/>
                    <a:pt x="372" y="214"/>
                    <a:pt x="372" y="214"/>
                  </a:cubicBezTo>
                  <a:cubicBezTo>
                    <a:pt x="372" y="214"/>
                    <a:pt x="373" y="279"/>
                    <a:pt x="367" y="282"/>
                  </a:cubicBezTo>
                  <a:cubicBezTo>
                    <a:pt x="361" y="285"/>
                    <a:pt x="359" y="271"/>
                    <a:pt x="359" y="271"/>
                  </a:cubicBezTo>
                  <a:cubicBezTo>
                    <a:pt x="344" y="281"/>
                    <a:pt x="344" y="281"/>
                    <a:pt x="344" y="281"/>
                  </a:cubicBezTo>
                  <a:cubicBezTo>
                    <a:pt x="332" y="281"/>
                    <a:pt x="332" y="281"/>
                    <a:pt x="332" y="281"/>
                  </a:cubicBezTo>
                  <a:cubicBezTo>
                    <a:pt x="332" y="281"/>
                    <a:pt x="329" y="258"/>
                    <a:pt x="324" y="251"/>
                  </a:cubicBezTo>
                  <a:cubicBezTo>
                    <a:pt x="319" y="244"/>
                    <a:pt x="313" y="247"/>
                    <a:pt x="313" y="247"/>
                  </a:cubicBezTo>
                  <a:cubicBezTo>
                    <a:pt x="313" y="247"/>
                    <a:pt x="311" y="236"/>
                    <a:pt x="305" y="228"/>
                  </a:cubicBezTo>
                  <a:cubicBezTo>
                    <a:pt x="299" y="220"/>
                    <a:pt x="294" y="228"/>
                    <a:pt x="290" y="228"/>
                  </a:cubicBezTo>
                  <a:cubicBezTo>
                    <a:pt x="286" y="228"/>
                    <a:pt x="287" y="220"/>
                    <a:pt x="282" y="216"/>
                  </a:cubicBezTo>
                  <a:cubicBezTo>
                    <a:pt x="277" y="212"/>
                    <a:pt x="275" y="218"/>
                    <a:pt x="267" y="217"/>
                  </a:cubicBezTo>
                  <a:cubicBezTo>
                    <a:pt x="259" y="216"/>
                    <a:pt x="267" y="207"/>
                    <a:pt x="267" y="203"/>
                  </a:cubicBezTo>
                  <a:cubicBezTo>
                    <a:pt x="267" y="199"/>
                    <a:pt x="257" y="199"/>
                    <a:pt x="253" y="194"/>
                  </a:cubicBezTo>
                  <a:cubicBezTo>
                    <a:pt x="249" y="189"/>
                    <a:pt x="258" y="184"/>
                    <a:pt x="246" y="179"/>
                  </a:cubicBezTo>
                  <a:cubicBezTo>
                    <a:pt x="234" y="174"/>
                    <a:pt x="237" y="200"/>
                    <a:pt x="232" y="204"/>
                  </a:cubicBezTo>
                  <a:cubicBezTo>
                    <a:pt x="227" y="208"/>
                    <a:pt x="175" y="195"/>
                    <a:pt x="165" y="188"/>
                  </a:cubicBezTo>
                  <a:cubicBezTo>
                    <a:pt x="155" y="181"/>
                    <a:pt x="159" y="162"/>
                    <a:pt x="159" y="162"/>
                  </a:cubicBezTo>
                  <a:cubicBezTo>
                    <a:pt x="128" y="168"/>
                    <a:pt x="128" y="168"/>
                    <a:pt x="128" y="168"/>
                  </a:cubicBezTo>
                  <a:cubicBezTo>
                    <a:pt x="128" y="168"/>
                    <a:pt x="142" y="178"/>
                    <a:pt x="125" y="177"/>
                  </a:cubicBezTo>
                  <a:cubicBezTo>
                    <a:pt x="108" y="176"/>
                    <a:pt x="117" y="151"/>
                    <a:pt x="117" y="151"/>
                  </a:cubicBezTo>
                  <a:cubicBezTo>
                    <a:pt x="106" y="153"/>
                    <a:pt x="106" y="153"/>
                    <a:pt x="106" y="153"/>
                  </a:cubicBezTo>
                  <a:cubicBezTo>
                    <a:pt x="101" y="144"/>
                    <a:pt x="101" y="144"/>
                    <a:pt x="101" y="144"/>
                  </a:cubicBezTo>
                  <a:cubicBezTo>
                    <a:pt x="96" y="154"/>
                    <a:pt x="96" y="154"/>
                    <a:pt x="96" y="154"/>
                  </a:cubicBezTo>
                  <a:cubicBezTo>
                    <a:pt x="96" y="154"/>
                    <a:pt x="110" y="175"/>
                    <a:pt x="107" y="178"/>
                  </a:cubicBezTo>
                  <a:cubicBezTo>
                    <a:pt x="104" y="181"/>
                    <a:pt x="96" y="183"/>
                    <a:pt x="96" y="183"/>
                  </a:cubicBezTo>
                  <a:cubicBezTo>
                    <a:pt x="98" y="218"/>
                    <a:pt x="98" y="218"/>
                    <a:pt x="98" y="218"/>
                  </a:cubicBezTo>
                  <a:cubicBezTo>
                    <a:pt x="106" y="229"/>
                    <a:pt x="106" y="229"/>
                    <a:pt x="106" y="229"/>
                  </a:cubicBezTo>
                  <a:cubicBezTo>
                    <a:pt x="93" y="232"/>
                    <a:pt x="93" y="232"/>
                    <a:pt x="93" y="232"/>
                  </a:cubicBezTo>
                  <a:cubicBezTo>
                    <a:pt x="93" y="232"/>
                    <a:pt x="99" y="248"/>
                    <a:pt x="97" y="255"/>
                  </a:cubicBezTo>
                  <a:cubicBezTo>
                    <a:pt x="95" y="262"/>
                    <a:pt x="84" y="262"/>
                    <a:pt x="84" y="262"/>
                  </a:cubicBezTo>
                  <a:cubicBezTo>
                    <a:pt x="1" y="260"/>
                    <a:pt x="1" y="260"/>
                    <a:pt x="1" y="260"/>
                  </a:cubicBezTo>
                  <a:cubicBezTo>
                    <a:pt x="0" y="427"/>
                    <a:pt x="0" y="427"/>
                    <a:pt x="0" y="427"/>
                  </a:cubicBezTo>
                  <a:cubicBezTo>
                    <a:pt x="6" y="437"/>
                    <a:pt x="6" y="437"/>
                    <a:pt x="6" y="437"/>
                  </a:cubicBezTo>
                  <a:cubicBezTo>
                    <a:pt x="6" y="449"/>
                    <a:pt x="6" y="449"/>
                    <a:pt x="6" y="449"/>
                  </a:cubicBezTo>
                  <a:cubicBezTo>
                    <a:pt x="64" y="507"/>
                    <a:pt x="64" y="507"/>
                    <a:pt x="64" y="507"/>
                  </a:cubicBezTo>
                  <a:cubicBezTo>
                    <a:pt x="79" y="511"/>
                    <a:pt x="79" y="511"/>
                    <a:pt x="79" y="511"/>
                  </a:cubicBezTo>
                  <a:cubicBezTo>
                    <a:pt x="92" y="503"/>
                    <a:pt x="92" y="503"/>
                    <a:pt x="92" y="503"/>
                  </a:cubicBezTo>
                  <a:cubicBezTo>
                    <a:pt x="92" y="503"/>
                    <a:pt x="99" y="498"/>
                    <a:pt x="108" y="498"/>
                  </a:cubicBezTo>
                  <a:cubicBezTo>
                    <a:pt x="117" y="498"/>
                    <a:pt x="118" y="506"/>
                    <a:pt x="118" y="506"/>
                  </a:cubicBezTo>
                  <a:cubicBezTo>
                    <a:pt x="138" y="504"/>
                    <a:pt x="138" y="504"/>
                    <a:pt x="138" y="504"/>
                  </a:cubicBezTo>
                  <a:cubicBezTo>
                    <a:pt x="151" y="517"/>
                    <a:pt x="151" y="517"/>
                    <a:pt x="151" y="517"/>
                  </a:cubicBezTo>
                  <a:cubicBezTo>
                    <a:pt x="151" y="517"/>
                    <a:pt x="175" y="513"/>
                    <a:pt x="177" y="517"/>
                  </a:cubicBezTo>
                  <a:cubicBezTo>
                    <a:pt x="179" y="521"/>
                    <a:pt x="185" y="527"/>
                    <a:pt x="189" y="527"/>
                  </a:cubicBezTo>
                  <a:cubicBezTo>
                    <a:pt x="193" y="527"/>
                    <a:pt x="195" y="515"/>
                    <a:pt x="202" y="521"/>
                  </a:cubicBezTo>
                  <a:cubicBezTo>
                    <a:pt x="209" y="527"/>
                    <a:pt x="210" y="536"/>
                    <a:pt x="228" y="527"/>
                  </a:cubicBezTo>
                  <a:cubicBezTo>
                    <a:pt x="246" y="518"/>
                    <a:pt x="267" y="491"/>
                    <a:pt x="267" y="491"/>
                  </a:cubicBezTo>
                  <a:cubicBezTo>
                    <a:pt x="267" y="491"/>
                    <a:pt x="269" y="475"/>
                    <a:pt x="276" y="468"/>
                  </a:cubicBezTo>
                  <a:cubicBezTo>
                    <a:pt x="283" y="461"/>
                    <a:pt x="322" y="450"/>
                    <a:pt x="323" y="449"/>
                  </a:cubicBezTo>
                  <a:cubicBezTo>
                    <a:pt x="324" y="448"/>
                    <a:pt x="321" y="425"/>
                    <a:pt x="321" y="425"/>
                  </a:cubicBezTo>
                  <a:cubicBezTo>
                    <a:pt x="321" y="425"/>
                    <a:pt x="339" y="411"/>
                    <a:pt x="356" y="405"/>
                  </a:cubicBezTo>
                  <a:cubicBezTo>
                    <a:pt x="369" y="400"/>
                    <a:pt x="387" y="400"/>
                    <a:pt x="396" y="401"/>
                  </a:cubicBezTo>
                  <a:cubicBezTo>
                    <a:pt x="395" y="385"/>
                    <a:pt x="395" y="385"/>
                    <a:pt x="395" y="385"/>
                  </a:cubicBezTo>
                  <a:cubicBezTo>
                    <a:pt x="395" y="385"/>
                    <a:pt x="380" y="371"/>
                    <a:pt x="385" y="367"/>
                  </a:cubicBezTo>
                  <a:cubicBezTo>
                    <a:pt x="391" y="363"/>
                    <a:pt x="411" y="362"/>
                    <a:pt x="411" y="362"/>
                  </a:cubicBezTo>
                  <a:cubicBezTo>
                    <a:pt x="423" y="351"/>
                    <a:pt x="423" y="351"/>
                    <a:pt x="423" y="351"/>
                  </a:cubicBezTo>
                  <a:cubicBezTo>
                    <a:pt x="423" y="351"/>
                    <a:pt x="465" y="343"/>
                    <a:pt x="475" y="338"/>
                  </a:cubicBezTo>
                  <a:cubicBezTo>
                    <a:pt x="484" y="333"/>
                    <a:pt x="528" y="313"/>
                    <a:pt x="528" y="313"/>
                  </a:cubicBezTo>
                  <a:cubicBezTo>
                    <a:pt x="528" y="313"/>
                    <a:pt x="507" y="297"/>
                    <a:pt x="506" y="294"/>
                  </a:cubicBezTo>
                  <a:cubicBezTo>
                    <a:pt x="505" y="291"/>
                    <a:pt x="521" y="268"/>
                    <a:pt x="521" y="268"/>
                  </a:cubicBezTo>
                  <a:cubicBezTo>
                    <a:pt x="519" y="243"/>
                    <a:pt x="519" y="243"/>
                    <a:pt x="519" y="243"/>
                  </a:cubicBezTo>
                  <a:cubicBezTo>
                    <a:pt x="519" y="243"/>
                    <a:pt x="544" y="232"/>
                    <a:pt x="547" y="225"/>
                  </a:cubicBezTo>
                  <a:cubicBezTo>
                    <a:pt x="550" y="218"/>
                    <a:pt x="539" y="221"/>
                    <a:pt x="539" y="221"/>
                  </a:cubicBezTo>
                  <a:cubicBezTo>
                    <a:pt x="538" y="173"/>
                    <a:pt x="538" y="173"/>
                    <a:pt x="538" y="173"/>
                  </a:cubicBezTo>
                  <a:cubicBezTo>
                    <a:pt x="542" y="160"/>
                    <a:pt x="542" y="160"/>
                    <a:pt x="542" y="160"/>
                  </a:cubicBezTo>
                  <a:cubicBezTo>
                    <a:pt x="535" y="154"/>
                    <a:pt x="535" y="154"/>
                    <a:pt x="535" y="154"/>
                  </a:cubicBezTo>
                  <a:cubicBezTo>
                    <a:pt x="535" y="143"/>
                    <a:pt x="535" y="143"/>
                    <a:pt x="535" y="143"/>
                  </a:cubicBezTo>
                  <a:cubicBezTo>
                    <a:pt x="535" y="143"/>
                    <a:pt x="551" y="139"/>
                    <a:pt x="557" y="132"/>
                  </a:cubicBezTo>
                  <a:cubicBezTo>
                    <a:pt x="563" y="125"/>
                    <a:pt x="551" y="122"/>
                    <a:pt x="551" y="122"/>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556" name="Freeform 348">
              <a:extLst>
                <a:ext uri="{FF2B5EF4-FFF2-40B4-BE49-F238E27FC236}">
                  <a16:creationId xmlns:a16="http://schemas.microsoft.com/office/drawing/2014/main" id="{18EBCF2A-4FDD-45CD-BF6B-7A9E5C2D5435}"/>
                </a:ext>
              </a:extLst>
            </p:cNvPr>
            <p:cNvSpPr>
              <a:spLocks/>
            </p:cNvSpPr>
            <p:nvPr/>
          </p:nvSpPr>
          <p:spPr bwMode="gray">
            <a:xfrm>
              <a:off x="5149343" y="2501766"/>
              <a:ext cx="611916" cy="651572"/>
            </a:xfrm>
            <a:custGeom>
              <a:avLst/>
              <a:gdLst>
                <a:gd name="T0" fmla="*/ 838 w 902"/>
                <a:gd name="T1" fmla="*/ 264 h 1016"/>
                <a:gd name="T2" fmla="*/ 853 w 902"/>
                <a:gd name="T3" fmla="*/ 230 h 1016"/>
                <a:gd name="T4" fmla="*/ 890 w 902"/>
                <a:gd name="T5" fmla="*/ 163 h 1016"/>
                <a:gd name="T6" fmla="*/ 873 w 902"/>
                <a:gd name="T7" fmla="*/ 127 h 1016"/>
                <a:gd name="T8" fmla="*/ 869 w 902"/>
                <a:gd name="T9" fmla="*/ 98 h 1016"/>
                <a:gd name="T10" fmla="*/ 820 w 902"/>
                <a:gd name="T11" fmla="*/ 39 h 1016"/>
                <a:gd name="T12" fmla="*/ 765 w 902"/>
                <a:gd name="T13" fmla="*/ 61 h 1016"/>
                <a:gd name="T14" fmla="*/ 713 w 902"/>
                <a:gd name="T15" fmla="*/ 13 h 1016"/>
                <a:gd name="T16" fmla="*/ 659 w 902"/>
                <a:gd name="T17" fmla="*/ 10 h 1016"/>
                <a:gd name="T18" fmla="*/ 611 w 902"/>
                <a:gd name="T19" fmla="*/ 23 h 1016"/>
                <a:gd name="T20" fmla="*/ 560 w 902"/>
                <a:gd name="T21" fmla="*/ 32 h 1016"/>
                <a:gd name="T22" fmla="*/ 509 w 902"/>
                <a:gd name="T23" fmla="*/ 30 h 1016"/>
                <a:gd name="T24" fmla="*/ 462 w 902"/>
                <a:gd name="T25" fmla="*/ 63 h 1016"/>
                <a:gd name="T26" fmla="*/ 394 w 902"/>
                <a:gd name="T27" fmla="*/ 53 h 1016"/>
                <a:gd name="T28" fmla="*/ 346 w 902"/>
                <a:gd name="T29" fmla="*/ 15 h 1016"/>
                <a:gd name="T30" fmla="*/ 302 w 902"/>
                <a:gd name="T31" fmla="*/ 72 h 1016"/>
                <a:gd name="T32" fmla="*/ 301 w 902"/>
                <a:gd name="T33" fmla="*/ 103 h 1016"/>
                <a:gd name="T34" fmla="*/ 276 w 902"/>
                <a:gd name="T35" fmla="*/ 217 h 1016"/>
                <a:gd name="T36" fmla="*/ 262 w 902"/>
                <a:gd name="T37" fmla="*/ 289 h 1016"/>
                <a:gd name="T38" fmla="*/ 213 w 902"/>
                <a:gd name="T39" fmla="*/ 359 h 1016"/>
                <a:gd name="T40" fmla="*/ 187 w 902"/>
                <a:gd name="T41" fmla="*/ 477 h 1016"/>
                <a:gd name="T42" fmla="*/ 129 w 902"/>
                <a:gd name="T43" fmla="*/ 540 h 1016"/>
                <a:gd name="T44" fmla="*/ 83 w 902"/>
                <a:gd name="T45" fmla="*/ 533 h 1016"/>
                <a:gd name="T46" fmla="*/ 43 w 902"/>
                <a:gd name="T47" fmla="*/ 537 h 1016"/>
                <a:gd name="T48" fmla="*/ 9 w 902"/>
                <a:gd name="T49" fmla="*/ 565 h 1016"/>
                <a:gd name="T50" fmla="*/ 12 w 902"/>
                <a:gd name="T51" fmla="*/ 617 h 1016"/>
                <a:gd name="T52" fmla="*/ 57 w 902"/>
                <a:gd name="T53" fmla="*/ 607 h 1016"/>
                <a:gd name="T54" fmla="*/ 98 w 902"/>
                <a:gd name="T55" fmla="*/ 611 h 1016"/>
                <a:gd name="T56" fmla="*/ 153 w 902"/>
                <a:gd name="T57" fmla="*/ 609 h 1016"/>
                <a:gd name="T58" fmla="*/ 200 w 902"/>
                <a:gd name="T59" fmla="*/ 608 h 1016"/>
                <a:gd name="T60" fmla="*/ 223 w 902"/>
                <a:gd name="T61" fmla="*/ 664 h 1016"/>
                <a:gd name="T62" fmla="*/ 240 w 902"/>
                <a:gd name="T63" fmla="*/ 709 h 1016"/>
                <a:gd name="T64" fmla="*/ 270 w 902"/>
                <a:gd name="T65" fmla="*/ 726 h 1016"/>
                <a:gd name="T66" fmla="*/ 296 w 902"/>
                <a:gd name="T67" fmla="*/ 724 h 1016"/>
                <a:gd name="T68" fmla="*/ 337 w 902"/>
                <a:gd name="T69" fmla="*/ 720 h 1016"/>
                <a:gd name="T70" fmla="*/ 343 w 902"/>
                <a:gd name="T71" fmla="*/ 672 h 1016"/>
                <a:gd name="T72" fmla="*/ 391 w 902"/>
                <a:gd name="T73" fmla="*/ 678 h 1016"/>
                <a:gd name="T74" fmla="*/ 452 w 902"/>
                <a:gd name="T75" fmla="*/ 703 h 1016"/>
                <a:gd name="T76" fmla="*/ 461 w 902"/>
                <a:gd name="T77" fmla="*/ 747 h 1016"/>
                <a:gd name="T78" fmla="*/ 451 w 902"/>
                <a:gd name="T79" fmla="*/ 799 h 1016"/>
                <a:gd name="T80" fmla="*/ 471 w 902"/>
                <a:gd name="T81" fmla="*/ 869 h 1016"/>
                <a:gd name="T82" fmla="*/ 485 w 902"/>
                <a:gd name="T83" fmla="*/ 886 h 1016"/>
                <a:gd name="T84" fmla="*/ 526 w 902"/>
                <a:gd name="T85" fmla="*/ 880 h 1016"/>
                <a:gd name="T86" fmla="*/ 556 w 902"/>
                <a:gd name="T87" fmla="*/ 875 h 1016"/>
                <a:gd name="T88" fmla="*/ 580 w 902"/>
                <a:gd name="T89" fmla="*/ 908 h 1016"/>
                <a:gd name="T90" fmla="*/ 620 w 902"/>
                <a:gd name="T91" fmla="*/ 919 h 1016"/>
                <a:gd name="T92" fmla="*/ 708 w 902"/>
                <a:gd name="T93" fmla="*/ 925 h 1016"/>
                <a:gd name="T94" fmla="*/ 737 w 902"/>
                <a:gd name="T95" fmla="*/ 947 h 1016"/>
                <a:gd name="T96" fmla="*/ 768 w 902"/>
                <a:gd name="T97" fmla="*/ 978 h 1016"/>
                <a:gd name="T98" fmla="*/ 799 w 902"/>
                <a:gd name="T99" fmla="*/ 1012 h 1016"/>
                <a:gd name="T100" fmla="*/ 827 w 902"/>
                <a:gd name="T101" fmla="*/ 945 h 1016"/>
                <a:gd name="T102" fmla="*/ 806 w 902"/>
                <a:gd name="T103" fmla="*/ 961 h 1016"/>
                <a:gd name="T104" fmla="*/ 779 w 902"/>
                <a:gd name="T105" fmla="*/ 866 h 1016"/>
                <a:gd name="T106" fmla="*/ 761 w 902"/>
                <a:gd name="T107" fmla="*/ 788 h 1016"/>
                <a:gd name="T108" fmla="*/ 838 w 902"/>
                <a:gd name="T109" fmla="*/ 738 h 1016"/>
                <a:gd name="T110" fmla="*/ 850 w 902"/>
                <a:gd name="T111" fmla="*/ 710 h 1016"/>
                <a:gd name="T112" fmla="*/ 828 w 902"/>
                <a:gd name="T113" fmla="*/ 658 h 1016"/>
                <a:gd name="T114" fmla="*/ 810 w 902"/>
                <a:gd name="T115" fmla="*/ 589 h 1016"/>
                <a:gd name="T116" fmla="*/ 802 w 902"/>
                <a:gd name="T117" fmla="*/ 502 h 1016"/>
                <a:gd name="T118" fmla="*/ 816 w 902"/>
                <a:gd name="T119" fmla="*/ 471 h 1016"/>
                <a:gd name="T120" fmla="*/ 795 w 902"/>
                <a:gd name="T121" fmla="*/ 434 h 1016"/>
                <a:gd name="T122" fmla="*/ 799 w 902"/>
                <a:gd name="T123" fmla="*/ 384 h 10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02" h="1016">
                  <a:moveTo>
                    <a:pt x="828" y="315"/>
                  </a:moveTo>
                  <a:cubicBezTo>
                    <a:pt x="828" y="295"/>
                    <a:pt x="828" y="295"/>
                    <a:pt x="828" y="295"/>
                  </a:cubicBezTo>
                  <a:cubicBezTo>
                    <a:pt x="838" y="264"/>
                    <a:pt x="838" y="264"/>
                    <a:pt x="838" y="264"/>
                  </a:cubicBezTo>
                  <a:cubicBezTo>
                    <a:pt x="840" y="247"/>
                    <a:pt x="840" y="247"/>
                    <a:pt x="840" y="247"/>
                  </a:cubicBezTo>
                  <a:cubicBezTo>
                    <a:pt x="853" y="239"/>
                    <a:pt x="853" y="239"/>
                    <a:pt x="853" y="239"/>
                  </a:cubicBezTo>
                  <a:cubicBezTo>
                    <a:pt x="853" y="230"/>
                    <a:pt x="853" y="230"/>
                    <a:pt x="853" y="230"/>
                  </a:cubicBezTo>
                  <a:cubicBezTo>
                    <a:pt x="869" y="222"/>
                    <a:pt x="869" y="222"/>
                    <a:pt x="869" y="222"/>
                  </a:cubicBezTo>
                  <a:cubicBezTo>
                    <a:pt x="869" y="222"/>
                    <a:pt x="902" y="182"/>
                    <a:pt x="902" y="174"/>
                  </a:cubicBezTo>
                  <a:cubicBezTo>
                    <a:pt x="902" y="166"/>
                    <a:pt x="890" y="163"/>
                    <a:pt x="890" y="163"/>
                  </a:cubicBezTo>
                  <a:cubicBezTo>
                    <a:pt x="890" y="163"/>
                    <a:pt x="879" y="164"/>
                    <a:pt x="876" y="158"/>
                  </a:cubicBezTo>
                  <a:cubicBezTo>
                    <a:pt x="873" y="153"/>
                    <a:pt x="882" y="142"/>
                    <a:pt x="883" y="137"/>
                  </a:cubicBezTo>
                  <a:cubicBezTo>
                    <a:pt x="884" y="131"/>
                    <a:pt x="873" y="127"/>
                    <a:pt x="873" y="127"/>
                  </a:cubicBezTo>
                  <a:cubicBezTo>
                    <a:pt x="886" y="113"/>
                    <a:pt x="886" y="113"/>
                    <a:pt x="886" y="113"/>
                  </a:cubicBezTo>
                  <a:cubicBezTo>
                    <a:pt x="880" y="100"/>
                    <a:pt x="880" y="100"/>
                    <a:pt x="880" y="100"/>
                  </a:cubicBezTo>
                  <a:cubicBezTo>
                    <a:pt x="869" y="98"/>
                    <a:pt x="869" y="98"/>
                    <a:pt x="869" y="98"/>
                  </a:cubicBezTo>
                  <a:cubicBezTo>
                    <a:pt x="866" y="84"/>
                    <a:pt x="866" y="84"/>
                    <a:pt x="866" y="84"/>
                  </a:cubicBezTo>
                  <a:cubicBezTo>
                    <a:pt x="866" y="84"/>
                    <a:pt x="847" y="80"/>
                    <a:pt x="839" y="68"/>
                  </a:cubicBezTo>
                  <a:cubicBezTo>
                    <a:pt x="831" y="56"/>
                    <a:pt x="827" y="39"/>
                    <a:pt x="820" y="39"/>
                  </a:cubicBezTo>
                  <a:cubicBezTo>
                    <a:pt x="813" y="39"/>
                    <a:pt x="814" y="57"/>
                    <a:pt x="803" y="57"/>
                  </a:cubicBezTo>
                  <a:cubicBezTo>
                    <a:pt x="792" y="57"/>
                    <a:pt x="791" y="45"/>
                    <a:pt x="782" y="45"/>
                  </a:cubicBezTo>
                  <a:cubicBezTo>
                    <a:pt x="773" y="45"/>
                    <a:pt x="765" y="61"/>
                    <a:pt x="765" y="61"/>
                  </a:cubicBezTo>
                  <a:cubicBezTo>
                    <a:pt x="734" y="46"/>
                    <a:pt x="734" y="46"/>
                    <a:pt x="734" y="46"/>
                  </a:cubicBezTo>
                  <a:cubicBezTo>
                    <a:pt x="734" y="32"/>
                    <a:pt x="734" y="32"/>
                    <a:pt x="734" y="32"/>
                  </a:cubicBezTo>
                  <a:cubicBezTo>
                    <a:pt x="713" y="13"/>
                    <a:pt x="713" y="13"/>
                    <a:pt x="713" y="13"/>
                  </a:cubicBezTo>
                  <a:cubicBezTo>
                    <a:pt x="709" y="5"/>
                    <a:pt x="709" y="5"/>
                    <a:pt x="709" y="5"/>
                  </a:cubicBezTo>
                  <a:cubicBezTo>
                    <a:pt x="709" y="5"/>
                    <a:pt x="705" y="16"/>
                    <a:pt x="685" y="21"/>
                  </a:cubicBezTo>
                  <a:cubicBezTo>
                    <a:pt x="665" y="26"/>
                    <a:pt x="659" y="10"/>
                    <a:pt x="659" y="10"/>
                  </a:cubicBezTo>
                  <a:cubicBezTo>
                    <a:pt x="638" y="13"/>
                    <a:pt x="638" y="13"/>
                    <a:pt x="638" y="13"/>
                  </a:cubicBezTo>
                  <a:cubicBezTo>
                    <a:pt x="638" y="13"/>
                    <a:pt x="630" y="0"/>
                    <a:pt x="623" y="1"/>
                  </a:cubicBezTo>
                  <a:cubicBezTo>
                    <a:pt x="616" y="2"/>
                    <a:pt x="611" y="23"/>
                    <a:pt x="611" y="23"/>
                  </a:cubicBezTo>
                  <a:cubicBezTo>
                    <a:pt x="611" y="23"/>
                    <a:pt x="593" y="28"/>
                    <a:pt x="589" y="28"/>
                  </a:cubicBezTo>
                  <a:cubicBezTo>
                    <a:pt x="585" y="28"/>
                    <a:pt x="576" y="18"/>
                    <a:pt x="576" y="18"/>
                  </a:cubicBezTo>
                  <a:cubicBezTo>
                    <a:pt x="560" y="32"/>
                    <a:pt x="560" y="32"/>
                    <a:pt x="560" y="32"/>
                  </a:cubicBezTo>
                  <a:cubicBezTo>
                    <a:pt x="548" y="32"/>
                    <a:pt x="548" y="32"/>
                    <a:pt x="548" y="32"/>
                  </a:cubicBezTo>
                  <a:cubicBezTo>
                    <a:pt x="548" y="32"/>
                    <a:pt x="535" y="41"/>
                    <a:pt x="529" y="46"/>
                  </a:cubicBezTo>
                  <a:cubicBezTo>
                    <a:pt x="523" y="51"/>
                    <a:pt x="509" y="30"/>
                    <a:pt x="509" y="30"/>
                  </a:cubicBezTo>
                  <a:cubicBezTo>
                    <a:pt x="509" y="30"/>
                    <a:pt x="502" y="43"/>
                    <a:pt x="495" y="46"/>
                  </a:cubicBezTo>
                  <a:cubicBezTo>
                    <a:pt x="488" y="49"/>
                    <a:pt x="493" y="63"/>
                    <a:pt x="484" y="70"/>
                  </a:cubicBezTo>
                  <a:cubicBezTo>
                    <a:pt x="475" y="77"/>
                    <a:pt x="462" y="63"/>
                    <a:pt x="462" y="63"/>
                  </a:cubicBezTo>
                  <a:cubicBezTo>
                    <a:pt x="462" y="63"/>
                    <a:pt x="444" y="63"/>
                    <a:pt x="434" y="64"/>
                  </a:cubicBezTo>
                  <a:cubicBezTo>
                    <a:pt x="424" y="65"/>
                    <a:pt x="418" y="53"/>
                    <a:pt x="418" y="53"/>
                  </a:cubicBezTo>
                  <a:cubicBezTo>
                    <a:pt x="418" y="53"/>
                    <a:pt x="409" y="53"/>
                    <a:pt x="394" y="53"/>
                  </a:cubicBezTo>
                  <a:cubicBezTo>
                    <a:pt x="379" y="53"/>
                    <a:pt x="391" y="38"/>
                    <a:pt x="388" y="34"/>
                  </a:cubicBezTo>
                  <a:cubicBezTo>
                    <a:pt x="385" y="30"/>
                    <a:pt x="372" y="32"/>
                    <a:pt x="372" y="32"/>
                  </a:cubicBezTo>
                  <a:cubicBezTo>
                    <a:pt x="372" y="32"/>
                    <a:pt x="375" y="17"/>
                    <a:pt x="346" y="15"/>
                  </a:cubicBezTo>
                  <a:cubicBezTo>
                    <a:pt x="317" y="13"/>
                    <a:pt x="327" y="32"/>
                    <a:pt x="317" y="46"/>
                  </a:cubicBezTo>
                  <a:cubicBezTo>
                    <a:pt x="307" y="60"/>
                    <a:pt x="308" y="49"/>
                    <a:pt x="300" y="59"/>
                  </a:cubicBezTo>
                  <a:cubicBezTo>
                    <a:pt x="292" y="69"/>
                    <a:pt x="302" y="72"/>
                    <a:pt x="302" y="72"/>
                  </a:cubicBezTo>
                  <a:cubicBezTo>
                    <a:pt x="302" y="82"/>
                    <a:pt x="302" y="82"/>
                    <a:pt x="302" y="82"/>
                  </a:cubicBezTo>
                  <a:cubicBezTo>
                    <a:pt x="292" y="96"/>
                    <a:pt x="292" y="96"/>
                    <a:pt x="292" y="96"/>
                  </a:cubicBezTo>
                  <a:cubicBezTo>
                    <a:pt x="301" y="103"/>
                    <a:pt x="301" y="103"/>
                    <a:pt x="301" y="103"/>
                  </a:cubicBezTo>
                  <a:cubicBezTo>
                    <a:pt x="301" y="103"/>
                    <a:pt x="301" y="114"/>
                    <a:pt x="301" y="122"/>
                  </a:cubicBezTo>
                  <a:cubicBezTo>
                    <a:pt x="301" y="130"/>
                    <a:pt x="286" y="159"/>
                    <a:pt x="277" y="169"/>
                  </a:cubicBezTo>
                  <a:cubicBezTo>
                    <a:pt x="268" y="179"/>
                    <a:pt x="275" y="206"/>
                    <a:pt x="276" y="217"/>
                  </a:cubicBezTo>
                  <a:cubicBezTo>
                    <a:pt x="277" y="228"/>
                    <a:pt x="267" y="236"/>
                    <a:pt x="265" y="244"/>
                  </a:cubicBezTo>
                  <a:cubicBezTo>
                    <a:pt x="263" y="252"/>
                    <a:pt x="272" y="259"/>
                    <a:pt x="272" y="270"/>
                  </a:cubicBezTo>
                  <a:cubicBezTo>
                    <a:pt x="272" y="281"/>
                    <a:pt x="262" y="289"/>
                    <a:pt x="262" y="289"/>
                  </a:cubicBezTo>
                  <a:cubicBezTo>
                    <a:pt x="259" y="321"/>
                    <a:pt x="259" y="321"/>
                    <a:pt x="259" y="321"/>
                  </a:cubicBezTo>
                  <a:cubicBezTo>
                    <a:pt x="259" y="321"/>
                    <a:pt x="253" y="336"/>
                    <a:pt x="243" y="343"/>
                  </a:cubicBezTo>
                  <a:cubicBezTo>
                    <a:pt x="233" y="350"/>
                    <a:pt x="220" y="356"/>
                    <a:pt x="213" y="359"/>
                  </a:cubicBezTo>
                  <a:cubicBezTo>
                    <a:pt x="206" y="362"/>
                    <a:pt x="206" y="385"/>
                    <a:pt x="205" y="394"/>
                  </a:cubicBezTo>
                  <a:cubicBezTo>
                    <a:pt x="204" y="403"/>
                    <a:pt x="186" y="410"/>
                    <a:pt x="186" y="410"/>
                  </a:cubicBezTo>
                  <a:cubicBezTo>
                    <a:pt x="187" y="477"/>
                    <a:pt x="187" y="477"/>
                    <a:pt x="187" y="477"/>
                  </a:cubicBezTo>
                  <a:cubicBezTo>
                    <a:pt x="170" y="507"/>
                    <a:pt x="170" y="507"/>
                    <a:pt x="170" y="507"/>
                  </a:cubicBezTo>
                  <a:cubicBezTo>
                    <a:pt x="170" y="507"/>
                    <a:pt x="160" y="510"/>
                    <a:pt x="154" y="510"/>
                  </a:cubicBezTo>
                  <a:cubicBezTo>
                    <a:pt x="148" y="510"/>
                    <a:pt x="136" y="531"/>
                    <a:pt x="129" y="540"/>
                  </a:cubicBezTo>
                  <a:cubicBezTo>
                    <a:pt x="122" y="549"/>
                    <a:pt x="119" y="554"/>
                    <a:pt x="104" y="554"/>
                  </a:cubicBezTo>
                  <a:cubicBezTo>
                    <a:pt x="89" y="554"/>
                    <a:pt x="107" y="531"/>
                    <a:pt x="100" y="524"/>
                  </a:cubicBezTo>
                  <a:cubicBezTo>
                    <a:pt x="93" y="517"/>
                    <a:pt x="83" y="533"/>
                    <a:pt x="83" y="533"/>
                  </a:cubicBezTo>
                  <a:cubicBezTo>
                    <a:pt x="70" y="532"/>
                    <a:pt x="70" y="532"/>
                    <a:pt x="70" y="532"/>
                  </a:cubicBezTo>
                  <a:cubicBezTo>
                    <a:pt x="70" y="532"/>
                    <a:pt x="71" y="548"/>
                    <a:pt x="59" y="553"/>
                  </a:cubicBezTo>
                  <a:cubicBezTo>
                    <a:pt x="47" y="558"/>
                    <a:pt x="43" y="537"/>
                    <a:pt x="43" y="537"/>
                  </a:cubicBezTo>
                  <a:cubicBezTo>
                    <a:pt x="36" y="540"/>
                    <a:pt x="36" y="540"/>
                    <a:pt x="36" y="540"/>
                  </a:cubicBezTo>
                  <a:cubicBezTo>
                    <a:pt x="33" y="548"/>
                    <a:pt x="33" y="548"/>
                    <a:pt x="33" y="548"/>
                  </a:cubicBezTo>
                  <a:cubicBezTo>
                    <a:pt x="9" y="565"/>
                    <a:pt x="9" y="565"/>
                    <a:pt x="9" y="565"/>
                  </a:cubicBezTo>
                  <a:cubicBezTo>
                    <a:pt x="9" y="565"/>
                    <a:pt x="21" y="591"/>
                    <a:pt x="13" y="595"/>
                  </a:cubicBezTo>
                  <a:cubicBezTo>
                    <a:pt x="10" y="597"/>
                    <a:pt x="5" y="599"/>
                    <a:pt x="0" y="602"/>
                  </a:cubicBezTo>
                  <a:cubicBezTo>
                    <a:pt x="4" y="605"/>
                    <a:pt x="11" y="612"/>
                    <a:pt x="12" y="617"/>
                  </a:cubicBezTo>
                  <a:cubicBezTo>
                    <a:pt x="35" y="607"/>
                    <a:pt x="35" y="607"/>
                    <a:pt x="35" y="607"/>
                  </a:cubicBezTo>
                  <a:cubicBezTo>
                    <a:pt x="52" y="609"/>
                    <a:pt x="52" y="609"/>
                    <a:pt x="52" y="609"/>
                  </a:cubicBezTo>
                  <a:cubicBezTo>
                    <a:pt x="57" y="607"/>
                    <a:pt x="57" y="607"/>
                    <a:pt x="57" y="607"/>
                  </a:cubicBezTo>
                  <a:cubicBezTo>
                    <a:pt x="65" y="609"/>
                    <a:pt x="65" y="609"/>
                    <a:pt x="65" y="609"/>
                  </a:cubicBezTo>
                  <a:cubicBezTo>
                    <a:pt x="80" y="605"/>
                    <a:pt x="80" y="605"/>
                    <a:pt x="80" y="605"/>
                  </a:cubicBezTo>
                  <a:cubicBezTo>
                    <a:pt x="80" y="605"/>
                    <a:pt x="91" y="612"/>
                    <a:pt x="98" y="611"/>
                  </a:cubicBezTo>
                  <a:cubicBezTo>
                    <a:pt x="105" y="610"/>
                    <a:pt x="123" y="607"/>
                    <a:pt x="123" y="607"/>
                  </a:cubicBezTo>
                  <a:cubicBezTo>
                    <a:pt x="123" y="607"/>
                    <a:pt x="136" y="609"/>
                    <a:pt x="141" y="609"/>
                  </a:cubicBezTo>
                  <a:cubicBezTo>
                    <a:pt x="146" y="609"/>
                    <a:pt x="153" y="609"/>
                    <a:pt x="153" y="609"/>
                  </a:cubicBezTo>
                  <a:cubicBezTo>
                    <a:pt x="163" y="606"/>
                    <a:pt x="163" y="606"/>
                    <a:pt x="163" y="606"/>
                  </a:cubicBezTo>
                  <a:cubicBezTo>
                    <a:pt x="177" y="607"/>
                    <a:pt x="177" y="607"/>
                    <a:pt x="177" y="607"/>
                  </a:cubicBezTo>
                  <a:cubicBezTo>
                    <a:pt x="177" y="607"/>
                    <a:pt x="195" y="599"/>
                    <a:pt x="200" y="608"/>
                  </a:cubicBezTo>
                  <a:cubicBezTo>
                    <a:pt x="205" y="617"/>
                    <a:pt x="211" y="621"/>
                    <a:pt x="211" y="621"/>
                  </a:cubicBezTo>
                  <a:cubicBezTo>
                    <a:pt x="212" y="651"/>
                    <a:pt x="212" y="651"/>
                    <a:pt x="212" y="651"/>
                  </a:cubicBezTo>
                  <a:cubicBezTo>
                    <a:pt x="212" y="651"/>
                    <a:pt x="222" y="658"/>
                    <a:pt x="223" y="664"/>
                  </a:cubicBezTo>
                  <a:cubicBezTo>
                    <a:pt x="224" y="670"/>
                    <a:pt x="222" y="686"/>
                    <a:pt x="222" y="686"/>
                  </a:cubicBezTo>
                  <a:cubicBezTo>
                    <a:pt x="222" y="686"/>
                    <a:pt x="228" y="689"/>
                    <a:pt x="233" y="695"/>
                  </a:cubicBezTo>
                  <a:cubicBezTo>
                    <a:pt x="238" y="701"/>
                    <a:pt x="240" y="709"/>
                    <a:pt x="240" y="709"/>
                  </a:cubicBezTo>
                  <a:cubicBezTo>
                    <a:pt x="246" y="717"/>
                    <a:pt x="246" y="717"/>
                    <a:pt x="246" y="717"/>
                  </a:cubicBezTo>
                  <a:cubicBezTo>
                    <a:pt x="249" y="727"/>
                    <a:pt x="249" y="727"/>
                    <a:pt x="249" y="727"/>
                  </a:cubicBezTo>
                  <a:cubicBezTo>
                    <a:pt x="270" y="726"/>
                    <a:pt x="270" y="726"/>
                    <a:pt x="270" y="726"/>
                  </a:cubicBezTo>
                  <a:cubicBezTo>
                    <a:pt x="277" y="731"/>
                    <a:pt x="277" y="731"/>
                    <a:pt x="277" y="731"/>
                  </a:cubicBezTo>
                  <a:cubicBezTo>
                    <a:pt x="281" y="724"/>
                    <a:pt x="281" y="724"/>
                    <a:pt x="281" y="724"/>
                  </a:cubicBezTo>
                  <a:cubicBezTo>
                    <a:pt x="296" y="724"/>
                    <a:pt x="296" y="724"/>
                    <a:pt x="296" y="724"/>
                  </a:cubicBezTo>
                  <a:cubicBezTo>
                    <a:pt x="303" y="718"/>
                    <a:pt x="303" y="718"/>
                    <a:pt x="303" y="718"/>
                  </a:cubicBezTo>
                  <a:cubicBezTo>
                    <a:pt x="307" y="723"/>
                    <a:pt x="307" y="723"/>
                    <a:pt x="307" y="723"/>
                  </a:cubicBezTo>
                  <a:cubicBezTo>
                    <a:pt x="337" y="720"/>
                    <a:pt x="337" y="720"/>
                    <a:pt x="337" y="720"/>
                  </a:cubicBezTo>
                  <a:cubicBezTo>
                    <a:pt x="337" y="720"/>
                    <a:pt x="336" y="706"/>
                    <a:pt x="339" y="702"/>
                  </a:cubicBezTo>
                  <a:cubicBezTo>
                    <a:pt x="342" y="698"/>
                    <a:pt x="349" y="698"/>
                    <a:pt x="349" y="693"/>
                  </a:cubicBezTo>
                  <a:cubicBezTo>
                    <a:pt x="349" y="688"/>
                    <a:pt x="338" y="676"/>
                    <a:pt x="343" y="672"/>
                  </a:cubicBezTo>
                  <a:cubicBezTo>
                    <a:pt x="348" y="668"/>
                    <a:pt x="377" y="671"/>
                    <a:pt x="377" y="671"/>
                  </a:cubicBezTo>
                  <a:cubicBezTo>
                    <a:pt x="377" y="671"/>
                    <a:pt x="377" y="663"/>
                    <a:pt x="386" y="666"/>
                  </a:cubicBezTo>
                  <a:cubicBezTo>
                    <a:pt x="395" y="669"/>
                    <a:pt x="391" y="678"/>
                    <a:pt x="391" y="678"/>
                  </a:cubicBezTo>
                  <a:cubicBezTo>
                    <a:pt x="392" y="686"/>
                    <a:pt x="392" y="686"/>
                    <a:pt x="392" y="686"/>
                  </a:cubicBezTo>
                  <a:cubicBezTo>
                    <a:pt x="452" y="685"/>
                    <a:pt x="452" y="685"/>
                    <a:pt x="452" y="685"/>
                  </a:cubicBezTo>
                  <a:cubicBezTo>
                    <a:pt x="452" y="703"/>
                    <a:pt x="452" y="703"/>
                    <a:pt x="452" y="703"/>
                  </a:cubicBezTo>
                  <a:cubicBezTo>
                    <a:pt x="445" y="713"/>
                    <a:pt x="445" y="713"/>
                    <a:pt x="445" y="713"/>
                  </a:cubicBezTo>
                  <a:cubicBezTo>
                    <a:pt x="448" y="727"/>
                    <a:pt x="448" y="727"/>
                    <a:pt x="448" y="727"/>
                  </a:cubicBezTo>
                  <a:cubicBezTo>
                    <a:pt x="448" y="727"/>
                    <a:pt x="461" y="740"/>
                    <a:pt x="461" y="747"/>
                  </a:cubicBezTo>
                  <a:cubicBezTo>
                    <a:pt x="461" y="754"/>
                    <a:pt x="453" y="763"/>
                    <a:pt x="453" y="763"/>
                  </a:cubicBezTo>
                  <a:cubicBezTo>
                    <a:pt x="456" y="779"/>
                    <a:pt x="456" y="779"/>
                    <a:pt x="456" y="779"/>
                  </a:cubicBezTo>
                  <a:cubicBezTo>
                    <a:pt x="456" y="779"/>
                    <a:pt x="451" y="791"/>
                    <a:pt x="451" y="799"/>
                  </a:cubicBezTo>
                  <a:cubicBezTo>
                    <a:pt x="451" y="807"/>
                    <a:pt x="457" y="815"/>
                    <a:pt x="464" y="822"/>
                  </a:cubicBezTo>
                  <a:cubicBezTo>
                    <a:pt x="471" y="829"/>
                    <a:pt x="475" y="847"/>
                    <a:pt x="475" y="847"/>
                  </a:cubicBezTo>
                  <a:cubicBezTo>
                    <a:pt x="475" y="847"/>
                    <a:pt x="474" y="862"/>
                    <a:pt x="471" y="869"/>
                  </a:cubicBezTo>
                  <a:cubicBezTo>
                    <a:pt x="468" y="876"/>
                    <a:pt x="465" y="888"/>
                    <a:pt x="468" y="892"/>
                  </a:cubicBezTo>
                  <a:cubicBezTo>
                    <a:pt x="471" y="896"/>
                    <a:pt x="479" y="898"/>
                    <a:pt x="479" y="898"/>
                  </a:cubicBezTo>
                  <a:cubicBezTo>
                    <a:pt x="485" y="886"/>
                    <a:pt x="485" y="886"/>
                    <a:pt x="485" y="886"/>
                  </a:cubicBezTo>
                  <a:cubicBezTo>
                    <a:pt x="503" y="890"/>
                    <a:pt x="503" y="890"/>
                    <a:pt x="503" y="890"/>
                  </a:cubicBezTo>
                  <a:cubicBezTo>
                    <a:pt x="519" y="885"/>
                    <a:pt x="519" y="885"/>
                    <a:pt x="519" y="885"/>
                  </a:cubicBezTo>
                  <a:cubicBezTo>
                    <a:pt x="519" y="885"/>
                    <a:pt x="519" y="880"/>
                    <a:pt x="526" y="880"/>
                  </a:cubicBezTo>
                  <a:cubicBezTo>
                    <a:pt x="533" y="880"/>
                    <a:pt x="537" y="887"/>
                    <a:pt x="537" y="887"/>
                  </a:cubicBezTo>
                  <a:cubicBezTo>
                    <a:pt x="551" y="885"/>
                    <a:pt x="551" y="885"/>
                    <a:pt x="551" y="885"/>
                  </a:cubicBezTo>
                  <a:cubicBezTo>
                    <a:pt x="556" y="875"/>
                    <a:pt x="556" y="875"/>
                    <a:pt x="556" y="875"/>
                  </a:cubicBezTo>
                  <a:cubicBezTo>
                    <a:pt x="561" y="884"/>
                    <a:pt x="561" y="884"/>
                    <a:pt x="561" y="884"/>
                  </a:cubicBezTo>
                  <a:cubicBezTo>
                    <a:pt x="572" y="882"/>
                    <a:pt x="572" y="882"/>
                    <a:pt x="572" y="882"/>
                  </a:cubicBezTo>
                  <a:cubicBezTo>
                    <a:pt x="572" y="882"/>
                    <a:pt x="563" y="907"/>
                    <a:pt x="580" y="908"/>
                  </a:cubicBezTo>
                  <a:cubicBezTo>
                    <a:pt x="597" y="909"/>
                    <a:pt x="583" y="899"/>
                    <a:pt x="583" y="899"/>
                  </a:cubicBezTo>
                  <a:cubicBezTo>
                    <a:pt x="614" y="893"/>
                    <a:pt x="614" y="893"/>
                    <a:pt x="614" y="893"/>
                  </a:cubicBezTo>
                  <a:cubicBezTo>
                    <a:pt x="614" y="893"/>
                    <a:pt x="610" y="912"/>
                    <a:pt x="620" y="919"/>
                  </a:cubicBezTo>
                  <a:cubicBezTo>
                    <a:pt x="630" y="926"/>
                    <a:pt x="682" y="939"/>
                    <a:pt x="687" y="935"/>
                  </a:cubicBezTo>
                  <a:cubicBezTo>
                    <a:pt x="692" y="931"/>
                    <a:pt x="689" y="905"/>
                    <a:pt x="701" y="910"/>
                  </a:cubicBezTo>
                  <a:cubicBezTo>
                    <a:pt x="713" y="915"/>
                    <a:pt x="704" y="920"/>
                    <a:pt x="708" y="925"/>
                  </a:cubicBezTo>
                  <a:cubicBezTo>
                    <a:pt x="712" y="930"/>
                    <a:pt x="722" y="930"/>
                    <a:pt x="722" y="934"/>
                  </a:cubicBezTo>
                  <a:cubicBezTo>
                    <a:pt x="722" y="938"/>
                    <a:pt x="714" y="947"/>
                    <a:pt x="722" y="948"/>
                  </a:cubicBezTo>
                  <a:cubicBezTo>
                    <a:pt x="730" y="949"/>
                    <a:pt x="732" y="943"/>
                    <a:pt x="737" y="947"/>
                  </a:cubicBezTo>
                  <a:cubicBezTo>
                    <a:pt x="742" y="951"/>
                    <a:pt x="741" y="959"/>
                    <a:pt x="745" y="959"/>
                  </a:cubicBezTo>
                  <a:cubicBezTo>
                    <a:pt x="749" y="959"/>
                    <a:pt x="754" y="951"/>
                    <a:pt x="760" y="959"/>
                  </a:cubicBezTo>
                  <a:cubicBezTo>
                    <a:pt x="766" y="967"/>
                    <a:pt x="768" y="978"/>
                    <a:pt x="768" y="978"/>
                  </a:cubicBezTo>
                  <a:cubicBezTo>
                    <a:pt x="768" y="978"/>
                    <a:pt x="774" y="975"/>
                    <a:pt x="779" y="982"/>
                  </a:cubicBezTo>
                  <a:cubicBezTo>
                    <a:pt x="784" y="989"/>
                    <a:pt x="787" y="1012"/>
                    <a:pt x="787" y="1012"/>
                  </a:cubicBezTo>
                  <a:cubicBezTo>
                    <a:pt x="799" y="1012"/>
                    <a:pt x="799" y="1012"/>
                    <a:pt x="799" y="1012"/>
                  </a:cubicBezTo>
                  <a:cubicBezTo>
                    <a:pt x="814" y="1002"/>
                    <a:pt x="814" y="1002"/>
                    <a:pt x="814" y="1002"/>
                  </a:cubicBezTo>
                  <a:cubicBezTo>
                    <a:pt x="814" y="1002"/>
                    <a:pt x="816" y="1016"/>
                    <a:pt x="822" y="1013"/>
                  </a:cubicBezTo>
                  <a:cubicBezTo>
                    <a:pt x="828" y="1010"/>
                    <a:pt x="827" y="945"/>
                    <a:pt x="827" y="945"/>
                  </a:cubicBezTo>
                  <a:cubicBezTo>
                    <a:pt x="819" y="945"/>
                    <a:pt x="819" y="945"/>
                    <a:pt x="819" y="945"/>
                  </a:cubicBezTo>
                  <a:cubicBezTo>
                    <a:pt x="813" y="948"/>
                    <a:pt x="813" y="948"/>
                    <a:pt x="813" y="948"/>
                  </a:cubicBezTo>
                  <a:cubicBezTo>
                    <a:pt x="813" y="948"/>
                    <a:pt x="816" y="961"/>
                    <a:pt x="806" y="961"/>
                  </a:cubicBezTo>
                  <a:cubicBezTo>
                    <a:pt x="796" y="961"/>
                    <a:pt x="784" y="947"/>
                    <a:pt x="778" y="940"/>
                  </a:cubicBezTo>
                  <a:cubicBezTo>
                    <a:pt x="772" y="933"/>
                    <a:pt x="761" y="938"/>
                    <a:pt x="759" y="920"/>
                  </a:cubicBezTo>
                  <a:cubicBezTo>
                    <a:pt x="757" y="902"/>
                    <a:pt x="779" y="880"/>
                    <a:pt x="779" y="866"/>
                  </a:cubicBezTo>
                  <a:cubicBezTo>
                    <a:pt x="779" y="852"/>
                    <a:pt x="775" y="818"/>
                    <a:pt x="775" y="818"/>
                  </a:cubicBezTo>
                  <a:cubicBezTo>
                    <a:pt x="775" y="818"/>
                    <a:pt x="773" y="799"/>
                    <a:pt x="770" y="797"/>
                  </a:cubicBezTo>
                  <a:cubicBezTo>
                    <a:pt x="767" y="795"/>
                    <a:pt x="761" y="788"/>
                    <a:pt x="761" y="788"/>
                  </a:cubicBezTo>
                  <a:cubicBezTo>
                    <a:pt x="761" y="788"/>
                    <a:pt x="788" y="773"/>
                    <a:pt x="788" y="766"/>
                  </a:cubicBezTo>
                  <a:cubicBezTo>
                    <a:pt x="788" y="759"/>
                    <a:pt x="788" y="746"/>
                    <a:pt x="788" y="746"/>
                  </a:cubicBezTo>
                  <a:cubicBezTo>
                    <a:pt x="788" y="746"/>
                    <a:pt x="825" y="741"/>
                    <a:pt x="838" y="738"/>
                  </a:cubicBezTo>
                  <a:cubicBezTo>
                    <a:pt x="842" y="737"/>
                    <a:pt x="849" y="735"/>
                    <a:pt x="857" y="731"/>
                  </a:cubicBezTo>
                  <a:cubicBezTo>
                    <a:pt x="860" y="728"/>
                    <a:pt x="862" y="726"/>
                    <a:pt x="862" y="726"/>
                  </a:cubicBezTo>
                  <a:cubicBezTo>
                    <a:pt x="862" y="726"/>
                    <a:pt x="855" y="714"/>
                    <a:pt x="850" y="710"/>
                  </a:cubicBezTo>
                  <a:cubicBezTo>
                    <a:pt x="846" y="706"/>
                    <a:pt x="849" y="688"/>
                    <a:pt x="849" y="681"/>
                  </a:cubicBezTo>
                  <a:cubicBezTo>
                    <a:pt x="849" y="674"/>
                    <a:pt x="837" y="678"/>
                    <a:pt x="834" y="677"/>
                  </a:cubicBezTo>
                  <a:cubicBezTo>
                    <a:pt x="831" y="676"/>
                    <a:pt x="828" y="666"/>
                    <a:pt x="828" y="658"/>
                  </a:cubicBezTo>
                  <a:cubicBezTo>
                    <a:pt x="828" y="650"/>
                    <a:pt x="819" y="649"/>
                    <a:pt x="812" y="642"/>
                  </a:cubicBezTo>
                  <a:cubicBezTo>
                    <a:pt x="805" y="635"/>
                    <a:pt x="803" y="618"/>
                    <a:pt x="804" y="612"/>
                  </a:cubicBezTo>
                  <a:cubicBezTo>
                    <a:pt x="805" y="606"/>
                    <a:pt x="810" y="596"/>
                    <a:pt x="810" y="589"/>
                  </a:cubicBezTo>
                  <a:cubicBezTo>
                    <a:pt x="810" y="582"/>
                    <a:pt x="800" y="582"/>
                    <a:pt x="796" y="572"/>
                  </a:cubicBezTo>
                  <a:cubicBezTo>
                    <a:pt x="792" y="562"/>
                    <a:pt x="796" y="550"/>
                    <a:pt x="797" y="538"/>
                  </a:cubicBezTo>
                  <a:cubicBezTo>
                    <a:pt x="798" y="526"/>
                    <a:pt x="799" y="515"/>
                    <a:pt x="802" y="502"/>
                  </a:cubicBezTo>
                  <a:cubicBezTo>
                    <a:pt x="804" y="494"/>
                    <a:pt x="810" y="495"/>
                    <a:pt x="814" y="498"/>
                  </a:cubicBezTo>
                  <a:cubicBezTo>
                    <a:pt x="814" y="496"/>
                    <a:pt x="814" y="494"/>
                    <a:pt x="814" y="494"/>
                  </a:cubicBezTo>
                  <a:cubicBezTo>
                    <a:pt x="814" y="494"/>
                    <a:pt x="816" y="480"/>
                    <a:pt x="816" y="471"/>
                  </a:cubicBezTo>
                  <a:cubicBezTo>
                    <a:pt x="816" y="462"/>
                    <a:pt x="801" y="454"/>
                    <a:pt x="801" y="454"/>
                  </a:cubicBezTo>
                  <a:cubicBezTo>
                    <a:pt x="795" y="434"/>
                    <a:pt x="795" y="434"/>
                    <a:pt x="795" y="434"/>
                  </a:cubicBezTo>
                  <a:cubicBezTo>
                    <a:pt x="795" y="434"/>
                    <a:pt x="795" y="434"/>
                    <a:pt x="795" y="434"/>
                  </a:cubicBezTo>
                  <a:cubicBezTo>
                    <a:pt x="791" y="433"/>
                    <a:pt x="787" y="432"/>
                    <a:pt x="786" y="428"/>
                  </a:cubicBezTo>
                  <a:cubicBezTo>
                    <a:pt x="782" y="420"/>
                    <a:pt x="804" y="410"/>
                    <a:pt x="806" y="406"/>
                  </a:cubicBezTo>
                  <a:cubicBezTo>
                    <a:pt x="807" y="403"/>
                    <a:pt x="797" y="392"/>
                    <a:pt x="799" y="384"/>
                  </a:cubicBezTo>
                  <a:cubicBezTo>
                    <a:pt x="800" y="376"/>
                    <a:pt x="824" y="365"/>
                    <a:pt x="824" y="365"/>
                  </a:cubicBezTo>
                  <a:lnTo>
                    <a:pt x="828" y="315"/>
                  </a:ln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557" name="Freeform 349">
              <a:extLst>
                <a:ext uri="{FF2B5EF4-FFF2-40B4-BE49-F238E27FC236}">
                  <a16:creationId xmlns:a16="http://schemas.microsoft.com/office/drawing/2014/main" id="{73396C9C-B58F-4FA6-8CE6-313E0A553A3F}"/>
                </a:ext>
              </a:extLst>
            </p:cNvPr>
            <p:cNvSpPr>
              <a:spLocks/>
            </p:cNvSpPr>
            <p:nvPr/>
          </p:nvSpPr>
          <p:spPr bwMode="gray">
            <a:xfrm>
              <a:off x="5688610" y="2772440"/>
              <a:ext cx="59153" cy="71945"/>
            </a:xfrm>
            <a:custGeom>
              <a:avLst/>
              <a:gdLst>
                <a:gd name="T0" fmla="*/ 21 w 87"/>
                <a:gd name="T1" fmla="*/ 49 h 112"/>
                <a:gd name="T2" fmla="*/ 19 w 87"/>
                <a:gd name="T3" fmla="*/ 72 h 112"/>
                <a:gd name="T4" fmla="*/ 25 w 87"/>
                <a:gd name="T5" fmla="*/ 112 h 112"/>
                <a:gd name="T6" fmla="*/ 45 w 87"/>
                <a:gd name="T7" fmla="*/ 103 h 112"/>
                <a:gd name="T8" fmla="*/ 61 w 87"/>
                <a:gd name="T9" fmla="*/ 68 h 112"/>
                <a:gd name="T10" fmla="*/ 80 w 87"/>
                <a:gd name="T11" fmla="*/ 56 h 112"/>
                <a:gd name="T12" fmla="*/ 78 w 87"/>
                <a:gd name="T13" fmla="*/ 47 h 112"/>
                <a:gd name="T14" fmla="*/ 86 w 87"/>
                <a:gd name="T15" fmla="*/ 44 h 112"/>
                <a:gd name="T16" fmla="*/ 87 w 87"/>
                <a:gd name="T17" fmla="*/ 33 h 112"/>
                <a:gd name="T18" fmla="*/ 65 w 87"/>
                <a:gd name="T19" fmla="*/ 23 h 112"/>
                <a:gd name="T20" fmla="*/ 71 w 87"/>
                <a:gd name="T21" fmla="*/ 0 h 112"/>
                <a:gd name="T22" fmla="*/ 77 w 87"/>
                <a:gd name="T23" fmla="*/ 0 h 112"/>
                <a:gd name="T24" fmla="*/ 74 w 87"/>
                <a:gd name="T25" fmla="*/ 0 h 112"/>
                <a:gd name="T26" fmla="*/ 44 w 87"/>
                <a:gd name="T27" fmla="*/ 0 h 112"/>
                <a:gd name="T28" fmla="*/ 39 w 87"/>
                <a:gd name="T29" fmla="*/ 17 h 112"/>
                <a:gd name="T30" fmla="*/ 22 w 87"/>
                <a:gd name="T31" fmla="*/ 24 h 112"/>
                <a:gd name="T32" fmla="*/ 9 w 87"/>
                <a:gd name="T33" fmla="*/ 11 h 112"/>
                <a:gd name="T34" fmla="*/ 0 w 87"/>
                <a:gd name="T35" fmla="*/ 12 h 112"/>
                <a:gd name="T36" fmla="*/ 6 w 87"/>
                <a:gd name="T37" fmla="*/ 32 h 112"/>
                <a:gd name="T38" fmla="*/ 21 w 87"/>
                <a:gd name="T39" fmla="*/ 49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7" h="112">
                  <a:moveTo>
                    <a:pt x="21" y="49"/>
                  </a:moveTo>
                  <a:cubicBezTo>
                    <a:pt x="21" y="58"/>
                    <a:pt x="19" y="72"/>
                    <a:pt x="19" y="72"/>
                  </a:cubicBezTo>
                  <a:cubicBezTo>
                    <a:pt x="19" y="72"/>
                    <a:pt x="19" y="99"/>
                    <a:pt x="25" y="112"/>
                  </a:cubicBezTo>
                  <a:cubicBezTo>
                    <a:pt x="29" y="112"/>
                    <a:pt x="35" y="110"/>
                    <a:pt x="45" y="103"/>
                  </a:cubicBezTo>
                  <a:cubicBezTo>
                    <a:pt x="61" y="91"/>
                    <a:pt x="54" y="81"/>
                    <a:pt x="61" y="68"/>
                  </a:cubicBezTo>
                  <a:cubicBezTo>
                    <a:pt x="68" y="55"/>
                    <a:pt x="80" y="56"/>
                    <a:pt x="80" y="56"/>
                  </a:cubicBezTo>
                  <a:cubicBezTo>
                    <a:pt x="78" y="47"/>
                    <a:pt x="78" y="47"/>
                    <a:pt x="78" y="47"/>
                  </a:cubicBezTo>
                  <a:cubicBezTo>
                    <a:pt x="86" y="44"/>
                    <a:pt x="86" y="44"/>
                    <a:pt x="86" y="44"/>
                  </a:cubicBezTo>
                  <a:cubicBezTo>
                    <a:pt x="87" y="33"/>
                    <a:pt x="87" y="33"/>
                    <a:pt x="87" y="33"/>
                  </a:cubicBezTo>
                  <a:cubicBezTo>
                    <a:pt x="87" y="33"/>
                    <a:pt x="63" y="32"/>
                    <a:pt x="65" y="23"/>
                  </a:cubicBezTo>
                  <a:cubicBezTo>
                    <a:pt x="67" y="14"/>
                    <a:pt x="71" y="0"/>
                    <a:pt x="71" y="0"/>
                  </a:cubicBezTo>
                  <a:cubicBezTo>
                    <a:pt x="71" y="0"/>
                    <a:pt x="74" y="0"/>
                    <a:pt x="77" y="0"/>
                  </a:cubicBezTo>
                  <a:cubicBezTo>
                    <a:pt x="74" y="0"/>
                    <a:pt x="74" y="0"/>
                    <a:pt x="74" y="0"/>
                  </a:cubicBezTo>
                  <a:cubicBezTo>
                    <a:pt x="44" y="0"/>
                    <a:pt x="44" y="0"/>
                    <a:pt x="44" y="0"/>
                  </a:cubicBezTo>
                  <a:cubicBezTo>
                    <a:pt x="39" y="17"/>
                    <a:pt x="39" y="17"/>
                    <a:pt x="39" y="17"/>
                  </a:cubicBezTo>
                  <a:cubicBezTo>
                    <a:pt x="39" y="17"/>
                    <a:pt x="26" y="24"/>
                    <a:pt x="22" y="24"/>
                  </a:cubicBezTo>
                  <a:cubicBezTo>
                    <a:pt x="18" y="24"/>
                    <a:pt x="9" y="11"/>
                    <a:pt x="9" y="11"/>
                  </a:cubicBezTo>
                  <a:cubicBezTo>
                    <a:pt x="9" y="11"/>
                    <a:pt x="5" y="12"/>
                    <a:pt x="0" y="12"/>
                  </a:cubicBezTo>
                  <a:cubicBezTo>
                    <a:pt x="6" y="32"/>
                    <a:pt x="6" y="32"/>
                    <a:pt x="6" y="32"/>
                  </a:cubicBezTo>
                  <a:cubicBezTo>
                    <a:pt x="6" y="32"/>
                    <a:pt x="21" y="40"/>
                    <a:pt x="21" y="49"/>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558" name="Freeform 350">
              <a:extLst>
                <a:ext uri="{FF2B5EF4-FFF2-40B4-BE49-F238E27FC236}">
                  <a16:creationId xmlns:a16="http://schemas.microsoft.com/office/drawing/2014/main" id="{0EA3A2B3-3D32-464E-9F31-A1C4AC0F3267}"/>
                </a:ext>
              </a:extLst>
            </p:cNvPr>
            <p:cNvSpPr>
              <a:spLocks noEditPoints="1"/>
            </p:cNvSpPr>
            <p:nvPr/>
          </p:nvSpPr>
          <p:spPr bwMode="gray">
            <a:xfrm>
              <a:off x="5706988" y="2724929"/>
              <a:ext cx="346016" cy="371397"/>
            </a:xfrm>
            <a:custGeom>
              <a:avLst/>
              <a:gdLst>
                <a:gd name="T0" fmla="*/ 477 w 510"/>
                <a:gd name="T1" fmla="*/ 478 h 579"/>
                <a:gd name="T2" fmla="*/ 458 w 510"/>
                <a:gd name="T3" fmla="*/ 405 h 579"/>
                <a:gd name="T4" fmla="*/ 456 w 510"/>
                <a:gd name="T5" fmla="*/ 360 h 579"/>
                <a:gd name="T6" fmla="*/ 436 w 510"/>
                <a:gd name="T7" fmla="*/ 290 h 579"/>
                <a:gd name="T8" fmla="*/ 455 w 510"/>
                <a:gd name="T9" fmla="*/ 198 h 579"/>
                <a:gd name="T10" fmla="*/ 391 w 510"/>
                <a:gd name="T11" fmla="*/ 118 h 579"/>
                <a:gd name="T12" fmla="*/ 216 w 510"/>
                <a:gd name="T13" fmla="*/ 1 h 579"/>
                <a:gd name="T14" fmla="*/ 206 w 510"/>
                <a:gd name="T15" fmla="*/ 1 h 579"/>
                <a:gd name="T16" fmla="*/ 194 w 510"/>
                <a:gd name="T17" fmla="*/ 31 h 579"/>
                <a:gd name="T18" fmla="*/ 206 w 510"/>
                <a:gd name="T19" fmla="*/ 59 h 579"/>
                <a:gd name="T20" fmla="*/ 162 w 510"/>
                <a:gd name="T21" fmla="*/ 71 h 579"/>
                <a:gd name="T22" fmla="*/ 161 w 510"/>
                <a:gd name="T23" fmla="*/ 99 h 579"/>
                <a:gd name="T24" fmla="*/ 150 w 510"/>
                <a:gd name="T25" fmla="*/ 73 h 579"/>
                <a:gd name="T26" fmla="*/ 123 w 510"/>
                <a:gd name="T27" fmla="*/ 66 h 579"/>
                <a:gd name="T28" fmla="*/ 104 w 510"/>
                <a:gd name="T29" fmla="*/ 80 h 579"/>
                <a:gd name="T30" fmla="*/ 112 w 510"/>
                <a:gd name="T31" fmla="*/ 2 h 579"/>
                <a:gd name="T32" fmla="*/ 51 w 510"/>
                <a:gd name="T33" fmla="*/ 0 h 579"/>
                <a:gd name="T34" fmla="*/ 60 w 510"/>
                <a:gd name="T35" fmla="*/ 31 h 579"/>
                <a:gd name="T36" fmla="*/ 64 w 510"/>
                <a:gd name="T37" fmla="*/ 64 h 579"/>
                <a:gd name="T38" fmla="*/ 38 w 510"/>
                <a:gd name="T39" fmla="*/ 97 h 579"/>
                <a:gd name="T40" fmla="*/ 59 w 510"/>
                <a:gd name="T41" fmla="*/ 118 h 579"/>
                <a:gd name="T42" fmla="*/ 53 w 510"/>
                <a:gd name="T43" fmla="*/ 130 h 579"/>
                <a:gd name="T44" fmla="*/ 18 w 510"/>
                <a:gd name="T45" fmla="*/ 177 h 579"/>
                <a:gd name="T46" fmla="*/ 0 w 510"/>
                <a:gd name="T47" fmla="*/ 194 h 579"/>
                <a:gd name="T48" fmla="*/ 8 w 510"/>
                <a:gd name="T49" fmla="*/ 226 h 579"/>
                <a:gd name="T50" fmla="*/ 9 w 510"/>
                <a:gd name="T51" fmla="*/ 279 h 579"/>
                <a:gd name="T52" fmla="*/ 51 w 510"/>
                <a:gd name="T53" fmla="*/ 322 h 579"/>
                <a:gd name="T54" fmla="*/ 56 w 510"/>
                <a:gd name="T55" fmla="*/ 370 h 579"/>
                <a:gd name="T56" fmla="*/ 69 w 510"/>
                <a:gd name="T57" fmla="*/ 409 h 579"/>
                <a:gd name="T58" fmla="*/ 94 w 510"/>
                <a:gd name="T59" fmla="*/ 421 h 579"/>
                <a:gd name="T60" fmla="*/ 118 w 510"/>
                <a:gd name="T61" fmla="*/ 434 h 579"/>
                <a:gd name="T62" fmla="*/ 135 w 510"/>
                <a:gd name="T63" fmla="*/ 443 h 579"/>
                <a:gd name="T64" fmla="*/ 158 w 510"/>
                <a:gd name="T65" fmla="*/ 452 h 579"/>
                <a:gd name="T66" fmla="*/ 179 w 510"/>
                <a:gd name="T67" fmla="*/ 461 h 579"/>
                <a:gd name="T68" fmla="*/ 212 w 510"/>
                <a:gd name="T69" fmla="*/ 453 h 579"/>
                <a:gd name="T70" fmla="*/ 232 w 510"/>
                <a:gd name="T71" fmla="*/ 514 h 579"/>
                <a:gd name="T72" fmla="*/ 231 w 510"/>
                <a:gd name="T73" fmla="*/ 539 h 579"/>
                <a:gd name="T74" fmla="*/ 249 w 510"/>
                <a:gd name="T75" fmla="*/ 569 h 579"/>
                <a:gd name="T76" fmla="*/ 292 w 510"/>
                <a:gd name="T77" fmla="*/ 558 h 579"/>
                <a:gd name="T78" fmla="*/ 338 w 510"/>
                <a:gd name="T79" fmla="*/ 568 h 579"/>
                <a:gd name="T80" fmla="*/ 367 w 510"/>
                <a:gd name="T81" fmla="*/ 573 h 579"/>
                <a:gd name="T82" fmla="*/ 406 w 510"/>
                <a:gd name="T83" fmla="*/ 552 h 579"/>
                <a:gd name="T84" fmla="*/ 438 w 510"/>
                <a:gd name="T85" fmla="*/ 545 h 579"/>
                <a:gd name="T86" fmla="*/ 510 w 510"/>
                <a:gd name="T87" fmla="*/ 507 h 579"/>
                <a:gd name="T88" fmla="*/ 481 w 510"/>
                <a:gd name="T89" fmla="*/ 237 h 579"/>
                <a:gd name="T90" fmla="*/ 481 w 510"/>
                <a:gd name="T91" fmla="*/ 237 h 579"/>
                <a:gd name="T92" fmla="*/ 478 w 510"/>
                <a:gd name="T93" fmla="*/ 294 h 579"/>
                <a:gd name="T94" fmla="*/ 458 w 510"/>
                <a:gd name="T95" fmla="*/ 251 h 5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510" h="579">
                  <a:moveTo>
                    <a:pt x="507" y="496"/>
                  </a:moveTo>
                  <a:cubicBezTo>
                    <a:pt x="507" y="496"/>
                    <a:pt x="479" y="489"/>
                    <a:pt x="477" y="478"/>
                  </a:cubicBezTo>
                  <a:cubicBezTo>
                    <a:pt x="475" y="467"/>
                    <a:pt x="473" y="436"/>
                    <a:pt x="473" y="436"/>
                  </a:cubicBezTo>
                  <a:cubicBezTo>
                    <a:pt x="458" y="405"/>
                    <a:pt x="458" y="405"/>
                    <a:pt x="458" y="405"/>
                  </a:cubicBezTo>
                  <a:cubicBezTo>
                    <a:pt x="467" y="374"/>
                    <a:pt x="467" y="374"/>
                    <a:pt x="467" y="374"/>
                  </a:cubicBezTo>
                  <a:cubicBezTo>
                    <a:pt x="456" y="360"/>
                    <a:pt x="456" y="360"/>
                    <a:pt x="456" y="360"/>
                  </a:cubicBezTo>
                  <a:cubicBezTo>
                    <a:pt x="456" y="360"/>
                    <a:pt x="476" y="325"/>
                    <a:pt x="471" y="317"/>
                  </a:cubicBezTo>
                  <a:cubicBezTo>
                    <a:pt x="466" y="309"/>
                    <a:pt x="439" y="302"/>
                    <a:pt x="436" y="290"/>
                  </a:cubicBezTo>
                  <a:cubicBezTo>
                    <a:pt x="433" y="278"/>
                    <a:pt x="450" y="239"/>
                    <a:pt x="451" y="232"/>
                  </a:cubicBezTo>
                  <a:cubicBezTo>
                    <a:pt x="452" y="226"/>
                    <a:pt x="454" y="203"/>
                    <a:pt x="455" y="198"/>
                  </a:cubicBezTo>
                  <a:cubicBezTo>
                    <a:pt x="380" y="128"/>
                    <a:pt x="380" y="128"/>
                    <a:pt x="380" y="128"/>
                  </a:cubicBezTo>
                  <a:cubicBezTo>
                    <a:pt x="380" y="128"/>
                    <a:pt x="388" y="122"/>
                    <a:pt x="391" y="118"/>
                  </a:cubicBezTo>
                  <a:cubicBezTo>
                    <a:pt x="394" y="114"/>
                    <a:pt x="382" y="105"/>
                    <a:pt x="382" y="105"/>
                  </a:cubicBezTo>
                  <a:cubicBezTo>
                    <a:pt x="216" y="1"/>
                    <a:pt x="216" y="1"/>
                    <a:pt x="216" y="1"/>
                  </a:cubicBezTo>
                  <a:cubicBezTo>
                    <a:pt x="206" y="1"/>
                    <a:pt x="206" y="1"/>
                    <a:pt x="206" y="1"/>
                  </a:cubicBezTo>
                  <a:cubicBezTo>
                    <a:pt x="206" y="1"/>
                    <a:pt x="206" y="1"/>
                    <a:pt x="206" y="1"/>
                  </a:cubicBezTo>
                  <a:cubicBezTo>
                    <a:pt x="206" y="10"/>
                    <a:pt x="209" y="24"/>
                    <a:pt x="209" y="24"/>
                  </a:cubicBezTo>
                  <a:cubicBezTo>
                    <a:pt x="194" y="31"/>
                    <a:pt x="194" y="31"/>
                    <a:pt x="194" y="31"/>
                  </a:cubicBezTo>
                  <a:cubicBezTo>
                    <a:pt x="194" y="31"/>
                    <a:pt x="181" y="40"/>
                    <a:pt x="176" y="55"/>
                  </a:cubicBezTo>
                  <a:cubicBezTo>
                    <a:pt x="171" y="70"/>
                    <a:pt x="206" y="59"/>
                    <a:pt x="206" y="59"/>
                  </a:cubicBezTo>
                  <a:cubicBezTo>
                    <a:pt x="206" y="59"/>
                    <a:pt x="187" y="75"/>
                    <a:pt x="181" y="78"/>
                  </a:cubicBezTo>
                  <a:cubicBezTo>
                    <a:pt x="175" y="81"/>
                    <a:pt x="171" y="72"/>
                    <a:pt x="162" y="71"/>
                  </a:cubicBezTo>
                  <a:cubicBezTo>
                    <a:pt x="153" y="70"/>
                    <a:pt x="154" y="89"/>
                    <a:pt x="154" y="89"/>
                  </a:cubicBezTo>
                  <a:cubicBezTo>
                    <a:pt x="161" y="99"/>
                    <a:pt x="161" y="99"/>
                    <a:pt x="161" y="99"/>
                  </a:cubicBezTo>
                  <a:cubicBezTo>
                    <a:pt x="161" y="99"/>
                    <a:pt x="158" y="100"/>
                    <a:pt x="148" y="99"/>
                  </a:cubicBezTo>
                  <a:cubicBezTo>
                    <a:pt x="138" y="98"/>
                    <a:pt x="150" y="73"/>
                    <a:pt x="150" y="73"/>
                  </a:cubicBezTo>
                  <a:cubicBezTo>
                    <a:pt x="138" y="78"/>
                    <a:pt x="138" y="78"/>
                    <a:pt x="138" y="78"/>
                  </a:cubicBezTo>
                  <a:cubicBezTo>
                    <a:pt x="138" y="78"/>
                    <a:pt x="130" y="66"/>
                    <a:pt x="123" y="66"/>
                  </a:cubicBezTo>
                  <a:cubicBezTo>
                    <a:pt x="113" y="66"/>
                    <a:pt x="114" y="92"/>
                    <a:pt x="109" y="92"/>
                  </a:cubicBezTo>
                  <a:cubicBezTo>
                    <a:pt x="104" y="92"/>
                    <a:pt x="104" y="80"/>
                    <a:pt x="104" y="80"/>
                  </a:cubicBezTo>
                  <a:cubicBezTo>
                    <a:pt x="104" y="80"/>
                    <a:pt x="99" y="54"/>
                    <a:pt x="101" y="40"/>
                  </a:cubicBezTo>
                  <a:cubicBezTo>
                    <a:pt x="103" y="26"/>
                    <a:pt x="111" y="8"/>
                    <a:pt x="112" y="2"/>
                  </a:cubicBezTo>
                  <a:cubicBezTo>
                    <a:pt x="112" y="1"/>
                    <a:pt x="112" y="1"/>
                    <a:pt x="112" y="0"/>
                  </a:cubicBezTo>
                  <a:cubicBezTo>
                    <a:pt x="51" y="0"/>
                    <a:pt x="51" y="0"/>
                    <a:pt x="51" y="0"/>
                  </a:cubicBezTo>
                  <a:cubicBezTo>
                    <a:pt x="46" y="13"/>
                    <a:pt x="46" y="13"/>
                    <a:pt x="46" y="13"/>
                  </a:cubicBezTo>
                  <a:cubicBezTo>
                    <a:pt x="46" y="13"/>
                    <a:pt x="56" y="23"/>
                    <a:pt x="60" y="31"/>
                  </a:cubicBezTo>
                  <a:cubicBezTo>
                    <a:pt x="64" y="39"/>
                    <a:pt x="58" y="44"/>
                    <a:pt x="58" y="44"/>
                  </a:cubicBezTo>
                  <a:cubicBezTo>
                    <a:pt x="58" y="44"/>
                    <a:pt x="64" y="52"/>
                    <a:pt x="64" y="64"/>
                  </a:cubicBezTo>
                  <a:cubicBezTo>
                    <a:pt x="64" y="76"/>
                    <a:pt x="44" y="74"/>
                    <a:pt x="44" y="74"/>
                  </a:cubicBezTo>
                  <a:cubicBezTo>
                    <a:pt x="44" y="74"/>
                    <a:pt x="40" y="88"/>
                    <a:pt x="38" y="97"/>
                  </a:cubicBezTo>
                  <a:cubicBezTo>
                    <a:pt x="36" y="106"/>
                    <a:pt x="60" y="107"/>
                    <a:pt x="60" y="107"/>
                  </a:cubicBezTo>
                  <a:cubicBezTo>
                    <a:pt x="59" y="118"/>
                    <a:pt x="59" y="118"/>
                    <a:pt x="59" y="118"/>
                  </a:cubicBezTo>
                  <a:cubicBezTo>
                    <a:pt x="51" y="121"/>
                    <a:pt x="51" y="121"/>
                    <a:pt x="51" y="121"/>
                  </a:cubicBezTo>
                  <a:cubicBezTo>
                    <a:pt x="53" y="130"/>
                    <a:pt x="53" y="130"/>
                    <a:pt x="53" y="130"/>
                  </a:cubicBezTo>
                  <a:cubicBezTo>
                    <a:pt x="53" y="130"/>
                    <a:pt x="41" y="129"/>
                    <a:pt x="34" y="142"/>
                  </a:cubicBezTo>
                  <a:cubicBezTo>
                    <a:pt x="27" y="155"/>
                    <a:pt x="34" y="165"/>
                    <a:pt x="18" y="177"/>
                  </a:cubicBezTo>
                  <a:cubicBezTo>
                    <a:pt x="11" y="182"/>
                    <a:pt x="6" y="184"/>
                    <a:pt x="2" y="185"/>
                  </a:cubicBezTo>
                  <a:cubicBezTo>
                    <a:pt x="0" y="194"/>
                    <a:pt x="0" y="194"/>
                    <a:pt x="0" y="194"/>
                  </a:cubicBezTo>
                  <a:cubicBezTo>
                    <a:pt x="0" y="194"/>
                    <a:pt x="6" y="205"/>
                    <a:pt x="9" y="209"/>
                  </a:cubicBezTo>
                  <a:cubicBezTo>
                    <a:pt x="12" y="213"/>
                    <a:pt x="8" y="226"/>
                    <a:pt x="8" y="226"/>
                  </a:cubicBezTo>
                  <a:cubicBezTo>
                    <a:pt x="8" y="226"/>
                    <a:pt x="19" y="256"/>
                    <a:pt x="15" y="261"/>
                  </a:cubicBezTo>
                  <a:cubicBezTo>
                    <a:pt x="11" y="266"/>
                    <a:pt x="8" y="269"/>
                    <a:pt x="9" y="279"/>
                  </a:cubicBezTo>
                  <a:cubicBezTo>
                    <a:pt x="10" y="289"/>
                    <a:pt x="18" y="294"/>
                    <a:pt x="24" y="296"/>
                  </a:cubicBezTo>
                  <a:cubicBezTo>
                    <a:pt x="30" y="298"/>
                    <a:pt x="47" y="316"/>
                    <a:pt x="51" y="322"/>
                  </a:cubicBezTo>
                  <a:cubicBezTo>
                    <a:pt x="55" y="328"/>
                    <a:pt x="51" y="337"/>
                    <a:pt x="49" y="345"/>
                  </a:cubicBezTo>
                  <a:cubicBezTo>
                    <a:pt x="47" y="353"/>
                    <a:pt x="56" y="370"/>
                    <a:pt x="56" y="370"/>
                  </a:cubicBezTo>
                  <a:cubicBezTo>
                    <a:pt x="74" y="394"/>
                    <a:pt x="74" y="394"/>
                    <a:pt x="74" y="394"/>
                  </a:cubicBezTo>
                  <a:cubicBezTo>
                    <a:pt x="74" y="394"/>
                    <a:pt x="72" y="401"/>
                    <a:pt x="69" y="409"/>
                  </a:cubicBezTo>
                  <a:cubicBezTo>
                    <a:pt x="77" y="410"/>
                    <a:pt x="89" y="406"/>
                    <a:pt x="89" y="406"/>
                  </a:cubicBezTo>
                  <a:cubicBezTo>
                    <a:pt x="89" y="406"/>
                    <a:pt x="91" y="418"/>
                    <a:pt x="94" y="421"/>
                  </a:cubicBezTo>
                  <a:cubicBezTo>
                    <a:pt x="97" y="424"/>
                    <a:pt x="106" y="421"/>
                    <a:pt x="106" y="421"/>
                  </a:cubicBezTo>
                  <a:cubicBezTo>
                    <a:pt x="106" y="421"/>
                    <a:pt x="113" y="430"/>
                    <a:pt x="118" y="434"/>
                  </a:cubicBezTo>
                  <a:cubicBezTo>
                    <a:pt x="123" y="438"/>
                    <a:pt x="133" y="432"/>
                    <a:pt x="133" y="432"/>
                  </a:cubicBezTo>
                  <a:cubicBezTo>
                    <a:pt x="135" y="443"/>
                    <a:pt x="135" y="443"/>
                    <a:pt x="135" y="443"/>
                  </a:cubicBezTo>
                  <a:cubicBezTo>
                    <a:pt x="147" y="442"/>
                    <a:pt x="147" y="442"/>
                    <a:pt x="147" y="442"/>
                  </a:cubicBezTo>
                  <a:cubicBezTo>
                    <a:pt x="158" y="452"/>
                    <a:pt x="158" y="452"/>
                    <a:pt x="158" y="452"/>
                  </a:cubicBezTo>
                  <a:cubicBezTo>
                    <a:pt x="173" y="451"/>
                    <a:pt x="173" y="451"/>
                    <a:pt x="173" y="451"/>
                  </a:cubicBezTo>
                  <a:cubicBezTo>
                    <a:pt x="179" y="461"/>
                    <a:pt x="179" y="461"/>
                    <a:pt x="179" y="461"/>
                  </a:cubicBezTo>
                  <a:cubicBezTo>
                    <a:pt x="198" y="461"/>
                    <a:pt x="198" y="461"/>
                    <a:pt x="198" y="461"/>
                  </a:cubicBezTo>
                  <a:cubicBezTo>
                    <a:pt x="198" y="461"/>
                    <a:pt x="202" y="448"/>
                    <a:pt x="212" y="453"/>
                  </a:cubicBezTo>
                  <a:cubicBezTo>
                    <a:pt x="222" y="458"/>
                    <a:pt x="230" y="479"/>
                    <a:pt x="230" y="479"/>
                  </a:cubicBezTo>
                  <a:cubicBezTo>
                    <a:pt x="232" y="514"/>
                    <a:pt x="232" y="514"/>
                    <a:pt x="232" y="514"/>
                  </a:cubicBezTo>
                  <a:cubicBezTo>
                    <a:pt x="232" y="514"/>
                    <a:pt x="237" y="515"/>
                    <a:pt x="237" y="522"/>
                  </a:cubicBezTo>
                  <a:cubicBezTo>
                    <a:pt x="237" y="529"/>
                    <a:pt x="234" y="531"/>
                    <a:pt x="231" y="539"/>
                  </a:cubicBezTo>
                  <a:cubicBezTo>
                    <a:pt x="228" y="547"/>
                    <a:pt x="250" y="557"/>
                    <a:pt x="250" y="557"/>
                  </a:cubicBezTo>
                  <a:cubicBezTo>
                    <a:pt x="249" y="569"/>
                    <a:pt x="249" y="569"/>
                    <a:pt x="249" y="569"/>
                  </a:cubicBezTo>
                  <a:cubicBezTo>
                    <a:pt x="262" y="569"/>
                    <a:pt x="280" y="568"/>
                    <a:pt x="280" y="568"/>
                  </a:cubicBezTo>
                  <a:cubicBezTo>
                    <a:pt x="280" y="568"/>
                    <a:pt x="284" y="558"/>
                    <a:pt x="292" y="558"/>
                  </a:cubicBezTo>
                  <a:cubicBezTo>
                    <a:pt x="300" y="558"/>
                    <a:pt x="319" y="579"/>
                    <a:pt x="324" y="579"/>
                  </a:cubicBezTo>
                  <a:cubicBezTo>
                    <a:pt x="329" y="579"/>
                    <a:pt x="334" y="570"/>
                    <a:pt x="338" y="568"/>
                  </a:cubicBezTo>
                  <a:cubicBezTo>
                    <a:pt x="342" y="566"/>
                    <a:pt x="356" y="574"/>
                    <a:pt x="356" y="574"/>
                  </a:cubicBezTo>
                  <a:cubicBezTo>
                    <a:pt x="356" y="574"/>
                    <a:pt x="360" y="576"/>
                    <a:pt x="367" y="573"/>
                  </a:cubicBezTo>
                  <a:cubicBezTo>
                    <a:pt x="374" y="570"/>
                    <a:pt x="390" y="552"/>
                    <a:pt x="390" y="552"/>
                  </a:cubicBezTo>
                  <a:cubicBezTo>
                    <a:pt x="406" y="552"/>
                    <a:pt x="406" y="552"/>
                    <a:pt x="406" y="552"/>
                  </a:cubicBezTo>
                  <a:cubicBezTo>
                    <a:pt x="406" y="552"/>
                    <a:pt x="409" y="560"/>
                    <a:pt x="413" y="559"/>
                  </a:cubicBezTo>
                  <a:cubicBezTo>
                    <a:pt x="417" y="558"/>
                    <a:pt x="438" y="545"/>
                    <a:pt x="438" y="545"/>
                  </a:cubicBezTo>
                  <a:cubicBezTo>
                    <a:pt x="457" y="544"/>
                    <a:pt x="457" y="544"/>
                    <a:pt x="457" y="544"/>
                  </a:cubicBezTo>
                  <a:cubicBezTo>
                    <a:pt x="510" y="507"/>
                    <a:pt x="510" y="507"/>
                    <a:pt x="510" y="507"/>
                  </a:cubicBezTo>
                  <a:lnTo>
                    <a:pt x="507" y="496"/>
                  </a:lnTo>
                  <a:close/>
                  <a:moveTo>
                    <a:pt x="481" y="237"/>
                  </a:moveTo>
                  <a:cubicBezTo>
                    <a:pt x="497" y="235"/>
                    <a:pt x="483" y="196"/>
                    <a:pt x="476" y="204"/>
                  </a:cubicBezTo>
                  <a:cubicBezTo>
                    <a:pt x="468" y="212"/>
                    <a:pt x="468" y="239"/>
                    <a:pt x="481" y="237"/>
                  </a:cubicBezTo>
                  <a:close/>
                  <a:moveTo>
                    <a:pt x="452" y="278"/>
                  </a:moveTo>
                  <a:cubicBezTo>
                    <a:pt x="452" y="278"/>
                    <a:pt x="468" y="296"/>
                    <a:pt x="478" y="294"/>
                  </a:cubicBezTo>
                  <a:cubicBezTo>
                    <a:pt x="487" y="292"/>
                    <a:pt x="470" y="272"/>
                    <a:pt x="470" y="272"/>
                  </a:cubicBezTo>
                  <a:cubicBezTo>
                    <a:pt x="470" y="272"/>
                    <a:pt x="474" y="251"/>
                    <a:pt x="458" y="251"/>
                  </a:cubicBezTo>
                  <a:cubicBezTo>
                    <a:pt x="442" y="251"/>
                    <a:pt x="452" y="278"/>
                    <a:pt x="452" y="278"/>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559" name="Freeform 351">
              <a:extLst>
                <a:ext uri="{FF2B5EF4-FFF2-40B4-BE49-F238E27FC236}">
                  <a16:creationId xmlns:a16="http://schemas.microsoft.com/office/drawing/2014/main" id="{4DAC6A77-8A4A-44A8-B7E4-0A59EEA7E358}"/>
                </a:ext>
              </a:extLst>
            </p:cNvPr>
            <p:cNvSpPr>
              <a:spLocks noEditPoints="1"/>
            </p:cNvSpPr>
            <p:nvPr/>
          </p:nvSpPr>
          <p:spPr bwMode="gray">
            <a:xfrm>
              <a:off x="5708423" y="2544119"/>
              <a:ext cx="180330" cy="201444"/>
            </a:xfrm>
            <a:custGeom>
              <a:avLst/>
              <a:gdLst>
                <a:gd name="T0" fmla="*/ 204 w 266"/>
                <a:gd name="T1" fmla="*/ 283 h 314"/>
                <a:gd name="T2" fmla="*/ 214 w 266"/>
                <a:gd name="T3" fmla="*/ 283 h 314"/>
                <a:gd name="T4" fmla="*/ 215 w 266"/>
                <a:gd name="T5" fmla="*/ 282 h 314"/>
                <a:gd name="T6" fmla="*/ 204 w 266"/>
                <a:gd name="T7" fmla="*/ 283 h 314"/>
                <a:gd name="T8" fmla="*/ 262 w 266"/>
                <a:gd name="T9" fmla="*/ 127 h 314"/>
                <a:gd name="T10" fmla="*/ 246 w 266"/>
                <a:gd name="T11" fmla="*/ 97 h 314"/>
                <a:gd name="T12" fmla="*/ 255 w 266"/>
                <a:gd name="T13" fmla="*/ 87 h 314"/>
                <a:gd name="T14" fmla="*/ 234 w 266"/>
                <a:gd name="T15" fmla="*/ 62 h 314"/>
                <a:gd name="T16" fmla="*/ 235 w 266"/>
                <a:gd name="T17" fmla="*/ 57 h 314"/>
                <a:gd name="T18" fmla="*/ 226 w 266"/>
                <a:gd name="T19" fmla="*/ 42 h 314"/>
                <a:gd name="T20" fmla="*/ 228 w 266"/>
                <a:gd name="T21" fmla="*/ 27 h 314"/>
                <a:gd name="T22" fmla="*/ 215 w 266"/>
                <a:gd name="T23" fmla="*/ 22 h 314"/>
                <a:gd name="T24" fmla="*/ 208 w 266"/>
                <a:gd name="T25" fmla="*/ 0 h 314"/>
                <a:gd name="T26" fmla="*/ 200 w 266"/>
                <a:gd name="T27" fmla="*/ 0 h 314"/>
                <a:gd name="T28" fmla="*/ 178 w 266"/>
                <a:gd name="T29" fmla="*/ 25 h 314"/>
                <a:gd name="T30" fmla="*/ 161 w 266"/>
                <a:gd name="T31" fmla="*/ 17 h 314"/>
                <a:gd name="T32" fmla="*/ 149 w 266"/>
                <a:gd name="T33" fmla="*/ 25 h 314"/>
                <a:gd name="T34" fmla="*/ 133 w 266"/>
                <a:gd name="T35" fmla="*/ 24 h 314"/>
                <a:gd name="T36" fmla="*/ 120 w 266"/>
                <a:gd name="T37" fmla="*/ 39 h 314"/>
                <a:gd name="T38" fmla="*/ 106 w 266"/>
                <a:gd name="T39" fmla="*/ 21 h 314"/>
                <a:gd name="T40" fmla="*/ 99 w 266"/>
                <a:gd name="T41" fmla="*/ 22 h 314"/>
                <a:gd name="T42" fmla="*/ 92 w 266"/>
                <a:gd name="T43" fmla="*/ 29 h 314"/>
                <a:gd name="T44" fmla="*/ 72 w 266"/>
                <a:gd name="T45" fmla="*/ 21 h 314"/>
                <a:gd name="T46" fmla="*/ 56 w 266"/>
                <a:gd name="T47" fmla="*/ 34 h 314"/>
                <a:gd name="T48" fmla="*/ 62 w 266"/>
                <a:gd name="T49" fmla="*/ 47 h 314"/>
                <a:gd name="T50" fmla="*/ 49 w 266"/>
                <a:gd name="T51" fmla="*/ 61 h 314"/>
                <a:gd name="T52" fmla="*/ 59 w 266"/>
                <a:gd name="T53" fmla="*/ 71 h 314"/>
                <a:gd name="T54" fmla="*/ 52 w 266"/>
                <a:gd name="T55" fmla="*/ 92 h 314"/>
                <a:gd name="T56" fmla="*/ 66 w 266"/>
                <a:gd name="T57" fmla="*/ 97 h 314"/>
                <a:gd name="T58" fmla="*/ 78 w 266"/>
                <a:gd name="T59" fmla="*/ 108 h 314"/>
                <a:gd name="T60" fmla="*/ 45 w 266"/>
                <a:gd name="T61" fmla="*/ 156 h 314"/>
                <a:gd name="T62" fmla="*/ 29 w 266"/>
                <a:gd name="T63" fmla="*/ 164 h 314"/>
                <a:gd name="T64" fmla="*/ 29 w 266"/>
                <a:gd name="T65" fmla="*/ 173 h 314"/>
                <a:gd name="T66" fmla="*/ 16 w 266"/>
                <a:gd name="T67" fmla="*/ 181 h 314"/>
                <a:gd name="T68" fmla="*/ 14 w 266"/>
                <a:gd name="T69" fmla="*/ 198 h 314"/>
                <a:gd name="T70" fmla="*/ 4 w 266"/>
                <a:gd name="T71" fmla="*/ 229 h 314"/>
                <a:gd name="T72" fmla="*/ 4 w 266"/>
                <a:gd name="T73" fmla="*/ 249 h 314"/>
                <a:gd name="T74" fmla="*/ 0 w 266"/>
                <a:gd name="T75" fmla="*/ 299 h 314"/>
                <a:gd name="T76" fmla="*/ 10 w 266"/>
                <a:gd name="T77" fmla="*/ 299 h 314"/>
                <a:gd name="T78" fmla="*/ 22 w 266"/>
                <a:gd name="T79" fmla="*/ 307 h 314"/>
                <a:gd name="T80" fmla="*/ 33 w 266"/>
                <a:gd name="T81" fmla="*/ 283 h 314"/>
                <a:gd name="T82" fmla="*/ 49 w 266"/>
                <a:gd name="T83" fmla="*/ 282 h 314"/>
                <a:gd name="T84" fmla="*/ 110 w 266"/>
                <a:gd name="T85" fmla="*/ 282 h 314"/>
                <a:gd name="T86" fmla="*/ 102 w 266"/>
                <a:gd name="T87" fmla="*/ 265 h 314"/>
                <a:gd name="T88" fmla="*/ 111 w 266"/>
                <a:gd name="T89" fmla="*/ 246 h 314"/>
                <a:gd name="T90" fmla="*/ 118 w 266"/>
                <a:gd name="T91" fmla="*/ 223 h 314"/>
                <a:gd name="T92" fmla="*/ 160 w 266"/>
                <a:gd name="T93" fmla="*/ 216 h 314"/>
                <a:gd name="T94" fmla="*/ 176 w 266"/>
                <a:gd name="T95" fmla="*/ 202 h 314"/>
                <a:gd name="T96" fmla="*/ 182 w 266"/>
                <a:gd name="T97" fmla="*/ 219 h 314"/>
                <a:gd name="T98" fmla="*/ 200 w 266"/>
                <a:gd name="T99" fmla="*/ 215 h 314"/>
                <a:gd name="T100" fmla="*/ 207 w 266"/>
                <a:gd name="T101" fmla="*/ 217 h 314"/>
                <a:gd name="T102" fmla="*/ 207 w 266"/>
                <a:gd name="T103" fmla="*/ 219 h 314"/>
                <a:gd name="T104" fmla="*/ 218 w 266"/>
                <a:gd name="T105" fmla="*/ 201 h 314"/>
                <a:gd name="T106" fmla="*/ 219 w 266"/>
                <a:gd name="T107" fmla="*/ 190 h 314"/>
                <a:gd name="T108" fmla="*/ 231 w 266"/>
                <a:gd name="T109" fmla="*/ 179 h 314"/>
                <a:gd name="T110" fmla="*/ 234 w 266"/>
                <a:gd name="T111" fmla="*/ 164 h 314"/>
                <a:gd name="T112" fmla="*/ 247 w 266"/>
                <a:gd name="T113" fmla="*/ 160 h 314"/>
                <a:gd name="T114" fmla="*/ 251 w 266"/>
                <a:gd name="T115" fmla="*/ 145 h 314"/>
                <a:gd name="T116" fmla="*/ 262 w 266"/>
                <a:gd name="T117" fmla="*/ 127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66" h="314">
                  <a:moveTo>
                    <a:pt x="204" y="283"/>
                  </a:moveTo>
                  <a:cubicBezTo>
                    <a:pt x="214" y="283"/>
                    <a:pt x="214" y="283"/>
                    <a:pt x="214" y="283"/>
                  </a:cubicBezTo>
                  <a:cubicBezTo>
                    <a:pt x="215" y="282"/>
                    <a:pt x="215" y="282"/>
                    <a:pt x="215" y="282"/>
                  </a:cubicBezTo>
                  <a:cubicBezTo>
                    <a:pt x="209" y="282"/>
                    <a:pt x="204" y="282"/>
                    <a:pt x="204" y="283"/>
                  </a:cubicBezTo>
                  <a:close/>
                  <a:moveTo>
                    <a:pt x="262" y="127"/>
                  </a:moveTo>
                  <a:cubicBezTo>
                    <a:pt x="258" y="121"/>
                    <a:pt x="245" y="102"/>
                    <a:pt x="246" y="97"/>
                  </a:cubicBezTo>
                  <a:cubicBezTo>
                    <a:pt x="247" y="92"/>
                    <a:pt x="255" y="87"/>
                    <a:pt x="255" y="87"/>
                  </a:cubicBezTo>
                  <a:cubicBezTo>
                    <a:pt x="234" y="62"/>
                    <a:pt x="234" y="62"/>
                    <a:pt x="234" y="62"/>
                  </a:cubicBezTo>
                  <a:cubicBezTo>
                    <a:pt x="235" y="57"/>
                    <a:pt x="235" y="57"/>
                    <a:pt x="235" y="57"/>
                  </a:cubicBezTo>
                  <a:cubicBezTo>
                    <a:pt x="235" y="57"/>
                    <a:pt x="224" y="48"/>
                    <a:pt x="226" y="42"/>
                  </a:cubicBezTo>
                  <a:cubicBezTo>
                    <a:pt x="228" y="36"/>
                    <a:pt x="228" y="27"/>
                    <a:pt x="228" y="27"/>
                  </a:cubicBezTo>
                  <a:cubicBezTo>
                    <a:pt x="228" y="27"/>
                    <a:pt x="215" y="35"/>
                    <a:pt x="215" y="22"/>
                  </a:cubicBezTo>
                  <a:cubicBezTo>
                    <a:pt x="215" y="9"/>
                    <a:pt x="208" y="0"/>
                    <a:pt x="208" y="0"/>
                  </a:cubicBezTo>
                  <a:cubicBezTo>
                    <a:pt x="200" y="0"/>
                    <a:pt x="200" y="0"/>
                    <a:pt x="200" y="0"/>
                  </a:cubicBezTo>
                  <a:cubicBezTo>
                    <a:pt x="200" y="0"/>
                    <a:pt x="191" y="27"/>
                    <a:pt x="178" y="25"/>
                  </a:cubicBezTo>
                  <a:cubicBezTo>
                    <a:pt x="165" y="23"/>
                    <a:pt x="166" y="17"/>
                    <a:pt x="161" y="17"/>
                  </a:cubicBezTo>
                  <a:cubicBezTo>
                    <a:pt x="156" y="17"/>
                    <a:pt x="149" y="25"/>
                    <a:pt x="149" y="25"/>
                  </a:cubicBezTo>
                  <a:cubicBezTo>
                    <a:pt x="133" y="24"/>
                    <a:pt x="133" y="24"/>
                    <a:pt x="133" y="24"/>
                  </a:cubicBezTo>
                  <a:cubicBezTo>
                    <a:pt x="120" y="39"/>
                    <a:pt x="120" y="39"/>
                    <a:pt x="120" y="39"/>
                  </a:cubicBezTo>
                  <a:cubicBezTo>
                    <a:pt x="106" y="21"/>
                    <a:pt x="106" y="21"/>
                    <a:pt x="106" y="21"/>
                  </a:cubicBezTo>
                  <a:cubicBezTo>
                    <a:pt x="99" y="22"/>
                    <a:pt x="99" y="22"/>
                    <a:pt x="99" y="22"/>
                  </a:cubicBezTo>
                  <a:cubicBezTo>
                    <a:pt x="99" y="22"/>
                    <a:pt x="98" y="30"/>
                    <a:pt x="92" y="29"/>
                  </a:cubicBezTo>
                  <a:cubicBezTo>
                    <a:pt x="86" y="28"/>
                    <a:pt x="77" y="21"/>
                    <a:pt x="72" y="21"/>
                  </a:cubicBezTo>
                  <a:cubicBezTo>
                    <a:pt x="67" y="21"/>
                    <a:pt x="56" y="34"/>
                    <a:pt x="56" y="34"/>
                  </a:cubicBezTo>
                  <a:cubicBezTo>
                    <a:pt x="62" y="47"/>
                    <a:pt x="62" y="47"/>
                    <a:pt x="62" y="47"/>
                  </a:cubicBezTo>
                  <a:cubicBezTo>
                    <a:pt x="49" y="61"/>
                    <a:pt x="49" y="61"/>
                    <a:pt x="49" y="61"/>
                  </a:cubicBezTo>
                  <a:cubicBezTo>
                    <a:pt x="49" y="61"/>
                    <a:pt x="60" y="65"/>
                    <a:pt x="59" y="71"/>
                  </a:cubicBezTo>
                  <a:cubicBezTo>
                    <a:pt x="58" y="76"/>
                    <a:pt x="49" y="87"/>
                    <a:pt x="52" y="92"/>
                  </a:cubicBezTo>
                  <a:cubicBezTo>
                    <a:pt x="55" y="98"/>
                    <a:pt x="66" y="97"/>
                    <a:pt x="66" y="97"/>
                  </a:cubicBezTo>
                  <a:cubicBezTo>
                    <a:pt x="66" y="97"/>
                    <a:pt x="78" y="100"/>
                    <a:pt x="78" y="108"/>
                  </a:cubicBezTo>
                  <a:cubicBezTo>
                    <a:pt x="78" y="116"/>
                    <a:pt x="45" y="156"/>
                    <a:pt x="45" y="156"/>
                  </a:cubicBezTo>
                  <a:cubicBezTo>
                    <a:pt x="29" y="164"/>
                    <a:pt x="29" y="164"/>
                    <a:pt x="29" y="164"/>
                  </a:cubicBezTo>
                  <a:cubicBezTo>
                    <a:pt x="29" y="173"/>
                    <a:pt x="29" y="173"/>
                    <a:pt x="29" y="173"/>
                  </a:cubicBezTo>
                  <a:cubicBezTo>
                    <a:pt x="16" y="181"/>
                    <a:pt x="16" y="181"/>
                    <a:pt x="16" y="181"/>
                  </a:cubicBezTo>
                  <a:cubicBezTo>
                    <a:pt x="14" y="198"/>
                    <a:pt x="14" y="198"/>
                    <a:pt x="14" y="198"/>
                  </a:cubicBezTo>
                  <a:cubicBezTo>
                    <a:pt x="4" y="229"/>
                    <a:pt x="4" y="229"/>
                    <a:pt x="4" y="229"/>
                  </a:cubicBezTo>
                  <a:cubicBezTo>
                    <a:pt x="4" y="249"/>
                    <a:pt x="4" y="249"/>
                    <a:pt x="4" y="249"/>
                  </a:cubicBezTo>
                  <a:cubicBezTo>
                    <a:pt x="0" y="299"/>
                    <a:pt x="0" y="299"/>
                    <a:pt x="0" y="299"/>
                  </a:cubicBezTo>
                  <a:cubicBezTo>
                    <a:pt x="10" y="299"/>
                    <a:pt x="10" y="299"/>
                    <a:pt x="10" y="299"/>
                  </a:cubicBezTo>
                  <a:cubicBezTo>
                    <a:pt x="10" y="299"/>
                    <a:pt x="16" y="314"/>
                    <a:pt x="22" y="307"/>
                  </a:cubicBezTo>
                  <a:cubicBezTo>
                    <a:pt x="29" y="299"/>
                    <a:pt x="33" y="283"/>
                    <a:pt x="33" y="283"/>
                  </a:cubicBezTo>
                  <a:cubicBezTo>
                    <a:pt x="49" y="282"/>
                    <a:pt x="49" y="282"/>
                    <a:pt x="49" y="282"/>
                  </a:cubicBezTo>
                  <a:cubicBezTo>
                    <a:pt x="110" y="282"/>
                    <a:pt x="110" y="282"/>
                    <a:pt x="110" y="282"/>
                  </a:cubicBezTo>
                  <a:cubicBezTo>
                    <a:pt x="110" y="277"/>
                    <a:pt x="104" y="271"/>
                    <a:pt x="102" y="265"/>
                  </a:cubicBezTo>
                  <a:cubicBezTo>
                    <a:pt x="100" y="258"/>
                    <a:pt x="107" y="250"/>
                    <a:pt x="111" y="246"/>
                  </a:cubicBezTo>
                  <a:cubicBezTo>
                    <a:pt x="115" y="242"/>
                    <a:pt x="109" y="230"/>
                    <a:pt x="118" y="223"/>
                  </a:cubicBezTo>
                  <a:cubicBezTo>
                    <a:pt x="127" y="216"/>
                    <a:pt x="157" y="218"/>
                    <a:pt x="160" y="216"/>
                  </a:cubicBezTo>
                  <a:cubicBezTo>
                    <a:pt x="163" y="214"/>
                    <a:pt x="170" y="202"/>
                    <a:pt x="176" y="202"/>
                  </a:cubicBezTo>
                  <a:cubicBezTo>
                    <a:pt x="182" y="202"/>
                    <a:pt x="182" y="219"/>
                    <a:pt x="182" y="219"/>
                  </a:cubicBezTo>
                  <a:cubicBezTo>
                    <a:pt x="182" y="219"/>
                    <a:pt x="189" y="212"/>
                    <a:pt x="200" y="215"/>
                  </a:cubicBezTo>
                  <a:cubicBezTo>
                    <a:pt x="202" y="215"/>
                    <a:pt x="204" y="216"/>
                    <a:pt x="207" y="217"/>
                  </a:cubicBezTo>
                  <a:cubicBezTo>
                    <a:pt x="207" y="218"/>
                    <a:pt x="207" y="218"/>
                    <a:pt x="207" y="219"/>
                  </a:cubicBezTo>
                  <a:cubicBezTo>
                    <a:pt x="207" y="208"/>
                    <a:pt x="218" y="201"/>
                    <a:pt x="218" y="201"/>
                  </a:cubicBezTo>
                  <a:cubicBezTo>
                    <a:pt x="219" y="190"/>
                    <a:pt x="219" y="190"/>
                    <a:pt x="219" y="190"/>
                  </a:cubicBezTo>
                  <a:cubicBezTo>
                    <a:pt x="231" y="179"/>
                    <a:pt x="231" y="179"/>
                    <a:pt x="231" y="179"/>
                  </a:cubicBezTo>
                  <a:cubicBezTo>
                    <a:pt x="231" y="179"/>
                    <a:pt x="227" y="170"/>
                    <a:pt x="234" y="164"/>
                  </a:cubicBezTo>
                  <a:cubicBezTo>
                    <a:pt x="241" y="158"/>
                    <a:pt x="247" y="160"/>
                    <a:pt x="247" y="160"/>
                  </a:cubicBezTo>
                  <a:cubicBezTo>
                    <a:pt x="251" y="145"/>
                    <a:pt x="251" y="145"/>
                    <a:pt x="251" y="145"/>
                  </a:cubicBezTo>
                  <a:cubicBezTo>
                    <a:pt x="251" y="145"/>
                    <a:pt x="266" y="133"/>
                    <a:pt x="262" y="127"/>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560" name="Freeform 352">
              <a:extLst>
                <a:ext uri="{FF2B5EF4-FFF2-40B4-BE49-F238E27FC236}">
                  <a16:creationId xmlns:a16="http://schemas.microsoft.com/office/drawing/2014/main" id="{01678E3B-8CAE-47FF-BCE4-2AB697CADD9D}"/>
                </a:ext>
              </a:extLst>
            </p:cNvPr>
            <p:cNvSpPr>
              <a:spLocks/>
            </p:cNvSpPr>
            <p:nvPr/>
          </p:nvSpPr>
          <p:spPr bwMode="gray">
            <a:xfrm>
              <a:off x="5847404" y="2525658"/>
              <a:ext cx="256424" cy="326330"/>
            </a:xfrm>
            <a:custGeom>
              <a:avLst/>
              <a:gdLst>
                <a:gd name="T0" fmla="*/ 337 w 378"/>
                <a:gd name="T1" fmla="*/ 100 h 509"/>
                <a:gd name="T2" fmla="*/ 358 w 378"/>
                <a:gd name="T3" fmla="*/ 79 h 509"/>
                <a:gd name="T4" fmla="*/ 378 w 378"/>
                <a:gd name="T5" fmla="*/ 43 h 509"/>
                <a:gd name="T6" fmla="*/ 362 w 378"/>
                <a:gd name="T7" fmla="*/ 37 h 509"/>
                <a:gd name="T8" fmla="*/ 358 w 378"/>
                <a:gd name="T9" fmla="*/ 41 h 509"/>
                <a:gd name="T10" fmla="*/ 340 w 378"/>
                <a:gd name="T11" fmla="*/ 40 h 509"/>
                <a:gd name="T12" fmla="*/ 324 w 378"/>
                <a:gd name="T13" fmla="*/ 23 h 509"/>
                <a:gd name="T14" fmla="*/ 312 w 378"/>
                <a:gd name="T15" fmla="*/ 32 h 509"/>
                <a:gd name="T16" fmla="*/ 283 w 378"/>
                <a:gd name="T17" fmla="*/ 46 h 509"/>
                <a:gd name="T18" fmla="*/ 278 w 378"/>
                <a:gd name="T19" fmla="*/ 56 h 509"/>
                <a:gd name="T20" fmla="*/ 265 w 378"/>
                <a:gd name="T21" fmla="*/ 70 h 509"/>
                <a:gd name="T22" fmla="*/ 234 w 378"/>
                <a:gd name="T23" fmla="*/ 61 h 509"/>
                <a:gd name="T24" fmla="*/ 194 w 378"/>
                <a:gd name="T25" fmla="*/ 57 h 509"/>
                <a:gd name="T26" fmla="*/ 143 w 378"/>
                <a:gd name="T27" fmla="*/ 17 h 509"/>
                <a:gd name="T28" fmla="*/ 96 w 378"/>
                <a:gd name="T29" fmla="*/ 15 h 509"/>
                <a:gd name="T30" fmla="*/ 90 w 378"/>
                <a:gd name="T31" fmla="*/ 0 h 509"/>
                <a:gd name="T32" fmla="*/ 77 w 378"/>
                <a:gd name="T33" fmla="*/ 8 h 509"/>
                <a:gd name="T34" fmla="*/ 17 w 378"/>
                <a:gd name="T35" fmla="*/ 9 h 509"/>
                <a:gd name="T36" fmla="*/ 3 w 378"/>
                <a:gd name="T37" fmla="*/ 29 h 509"/>
                <a:gd name="T38" fmla="*/ 10 w 378"/>
                <a:gd name="T39" fmla="*/ 51 h 509"/>
                <a:gd name="T40" fmla="*/ 23 w 378"/>
                <a:gd name="T41" fmla="*/ 56 h 509"/>
                <a:gd name="T42" fmla="*/ 21 w 378"/>
                <a:gd name="T43" fmla="*/ 71 h 509"/>
                <a:gd name="T44" fmla="*/ 30 w 378"/>
                <a:gd name="T45" fmla="*/ 86 h 509"/>
                <a:gd name="T46" fmla="*/ 29 w 378"/>
                <a:gd name="T47" fmla="*/ 91 h 509"/>
                <a:gd name="T48" fmla="*/ 50 w 378"/>
                <a:gd name="T49" fmla="*/ 116 h 509"/>
                <a:gd name="T50" fmla="*/ 41 w 378"/>
                <a:gd name="T51" fmla="*/ 126 h 509"/>
                <a:gd name="T52" fmla="*/ 57 w 378"/>
                <a:gd name="T53" fmla="*/ 156 h 509"/>
                <a:gd name="T54" fmla="*/ 46 w 378"/>
                <a:gd name="T55" fmla="*/ 174 h 509"/>
                <a:gd name="T56" fmla="*/ 42 w 378"/>
                <a:gd name="T57" fmla="*/ 189 h 509"/>
                <a:gd name="T58" fmla="*/ 29 w 378"/>
                <a:gd name="T59" fmla="*/ 193 h 509"/>
                <a:gd name="T60" fmla="*/ 26 w 378"/>
                <a:gd name="T61" fmla="*/ 208 h 509"/>
                <a:gd name="T62" fmla="*/ 14 w 378"/>
                <a:gd name="T63" fmla="*/ 219 h 509"/>
                <a:gd name="T64" fmla="*/ 13 w 378"/>
                <a:gd name="T65" fmla="*/ 230 h 509"/>
                <a:gd name="T66" fmla="*/ 2 w 378"/>
                <a:gd name="T67" fmla="*/ 248 h 509"/>
                <a:gd name="T68" fmla="*/ 18 w 378"/>
                <a:gd name="T69" fmla="*/ 270 h 509"/>
                <a:gd name="T70" fmla="*/ 25 w 378"/>
                <a:gd name="T71" fmla="*/ 262 h 509"/>
                <a:gd name="T72" fmla="*/ 39 w 378"/>
                <a:gd name="T73" fmla="*/ 261 h 509"/>
                <a:gd name="T74" fmla="*/ 42 w 378"/>
                <a:gd name="T75" fmla="*/ 273 h 509"/>
                <a:gd name="T76" fmla="*/ 33 w 378"/>
                <a:gd name="T77" fmla="*/ 275 h 509"/>
                <a:gd name="T78" fmla="*/ 23 w 378"/>
                <a:gd name="T79" fmla="*/ 283 h 509"/>
                <a:gd name="T80" fmla="*/ 9 w 378"/>
                <a:gd name="T81" fmla="*/ 283 h 509"/>
                <a:gd name="T82" fmla="*/ 13 w 378"/>
                <a:gd name="T83" fmla="*/ 302 h 509"/>
                <a:gd name="T84" fmla="*/ 9 w 378"/>
                <a:gd name="T85" fmla="*/ 312 h 509"/>
                <a:gd name="T86" fmla="*/ 175 w 378"/>
                <a:gd name="T87" fmla="*/ 416 h 509"/>
                <a:gd name="T88" fmla="*/ 184 w 378"/>
                <a:gd name="T89" fmla="*/ 429 h 509"/>
                <a:gd name="T90" fmla="*/ 173 w 378"/>
                <a:gd name="T91" fmla="*/ 439 h 509"/>
                <a:gd name="T92" fmla="*/ 248 w 378"/>
                <a:gd name="T93" fmla="*/ 509 h 509"/>
                <a:gd name="T94" fmla="*/ 248 w 378"/>
                <a:gd name="T95" fmla="*/ 508 h 509"/>
                <a:gd name="T96" fmla="*/ 261 w 378"/>
                <a:gd name="T97" fmla="*/ 505 h 509"/>
                <a:gd name="T98" fmla="*/ 281 w 378"/>
                <a:gd name="T99" fmla="*/ 463 h 509"/>
                <a:gd name="T100" fmla="*/ 279 w 378"/>
                <a:gd name="T101" fmla="*/ 441 h 509"/>
                <a:gd name="T102" fmla="*/ 299 w 378"/>
                <a:gd name="T103" fmla="*/ 424 h 509"/>
                <a:gd name="T104" fmla="*/ 301 w 378"/>
                <a:gd name="T105" fmla="*/ 398 h 509"/>
                <a:gd name="T106" fmla="*/ 324 w 378"/>
                <a:gd name="T107" fmla="*/ 388 h 509"/>
                <a:gd name="T108" fmla="*/ 328 w 378"/>
                <a:gd name="T109" fmla="*/ 361 h 509"/>
                <a:gd name="T110" fmla="*/ 360 w 378"/>
                <a:gd name="T111" fmla="*/ 351 h 509"/>
                <a:gd name="T112" fmla="*/ 364 w 378"/>
                <a:gd name="T113" fmla="*/ 343 h 509"/>
                <a:gd name="T114" fmla="*/ 336 w 378"/>
                <a:gd name="T115" fmla="*/ 303 h 509"/>
                <a:gd name="T116" fmla="*/ 337 w 378"/>
                <a:gd name="T117" fmla="*/ 100 h 5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78" h="509">
                  <a:moveTo>
                    <a:pt x="337" y="100"/>
                  </a:moveTo>
                  <a:cubicBezTo>
                    <a:pt x="337" y="100"/>
                    <a:pt x="351" y="87"/>
                    <a:pt x="358" y="79"/>
                  </a:cubicBezTo>
                  <a:cubicBezTo>
                    <a:pt x="365" y="71"/>
                    <a:pt x="378" y="43"/>
                    <a:pt x="378" y="43"/>
                  </a:cubicBezTo>
                  <a:cubicBezTo>
                    <a:pt x="362" y="37"/>
                    <a:pt x="362" y="37"/>
                    <a:pt x="362" y="37"/>
                  </a:cubicBezTo>
                  <a:cubicBezTo>
                    <a:pt x="358" y="41"/>
                    <a:pt x="358" y="41"/>
                    <a:pt x="358" y="41"/>
                  </a:cubicBezTo>
                  <a:cubicBezTo>
                    <a:pt x="340" y="40"/>
                    <a:pt x="340" y="40"/>
                    <a:pt x="340" y="40"/>
                  </a:cubicBezTo>
                  <a:cubicBezTo>
                    <a:pt x="324" y="23"/>
                    <a:pt x="324" y="23"/>
                    <a:pt x="324" y="23"/>
                  </a:cubicBezTo>
                  <a:cubicBezTo>
                    <a:pt x="312" y="32"/>
                    <a:pt x="312" y="32"/>
                    <a:pt x="312" y="32"/>
                  </a:cubicBezTo>
                  <a:cubicBezTo>
                    <a:pt x="312" y="32"/>
                    <a:pt x="290" y="40"/>
                    <a:pt x="283" y="46"/>
                  </a:cubicBezTo>
                  <a:cubicBezTo>
                    <a:pt x="276" y="52"/>
                    <a:pt x="278" y="56"/>
                    <a:pt x="278" y="56"/>
                  </a:cubicBezTo>
                  <a:cubicBezTo>
                    <a:pt x="265" y="70"/>
                    <a:pt x="265" y="70"/>
                    <a:pt x="265" y="70"/>
                  </a:cubicBezTo>
                  <a:cubicBezTo>
                    <a:pt x="265" y="70"/>
                    <a:pt x="247" y="63"/>
                    <a:pt x="234" y="61"/>
                  </a:cubicBezTo>
                  <a:cubicBezTo>
                    <a:pt x="221" y="59"/>
                    <a:pt x="194" y="57"/>
                    <a:pt x="194" y="57"/>
                  </a:cubicBezTo>
                  <a:cubicBezTo>
                    <a:pt x="143" y="17"/>
                    <a:pt x="143" y="17"/>
                    <a:pt x="143" y="17"/>
                  </a:cubicBezTo>
                  <a:cubicBezTo>
                    <a:pt x="96" y="15"/>
                    <a:pt x="96" y="15"/>
                    <a:pt x="96" y="15"/>
                  </a:cubicBezTo>
                  <a:cubicBezTo>
                    <a:pt x="90" y="0"/>
                    <a:pt x="90" y="0"/>
                    <a:pt x="90" y="0"/>
                  </a:cubicBezTo>
                  <a:cubicBezTo>
                    <a:pt x="77" y="8"/>
                    <a:pt x="77" y="8"/>
                    <a:pt x="77" y="8"/>
                  </a:cubicBezTo>
                  <a:cubicBezTo>
                    <a:pt x="17" y="9"/>
                    <a:pt x="17" y="9"/>
                    <a:pt x="17" y="9"/>
                  </a:cubicBezTo>
                  <a:cubicBezTo>
                    <a:pt x="3" y="29"/>
                    <a:pt x="3" y="29"/>
                    <a:pt x="3" y="29"/>
                  </a:cubicBezTo>
                  <a:cubicBezTo>
                    <a:pt x="3" y="29"/>
                    <a:pt x="10" y="38"/>
                    <a:pt x="10" y="51"/>
                  </a:cubicBezTo>
                  <a:cubicBezTo>
                    <a:pt x="10" y="64"/>
                    <a:pt x="23" y="56"/>
                    <a:pt x="23" y="56"/>
                  </a:cubicBezTo>
                  <a:cubicBezTo>
                    <a:pt x="23" y="56"/>
                    <a:pt x="23" y="65"/>
                    <a:pt x="21" y="71"/>
                  </a:cubicBezTo>
                  <a:cubicBezTo>
                    <a:pt x="19" y="77"/>
                    <a:pt x="30" y="86"/>
                    <a:pt x="30" y="86"/>
                  </a:cubicBezTo>
                  <a:cubicBezTo>
                    <a:pt x="29" y="91"/>
                    <a:pt x="29" y="91"/>
                    <a:pt x="29" y="91"/>
                  </a:cubicBezTo>
                  <a:cubicBezTo>
                    <a:pt x="50" y="116"/>
                    <a:pt x="50" y="116"/>
                    <a:pt x="50" y="116"/>
                  </a:cubicBezTo>
                  <a:cubicBezTo>
                    <a:pt x="50" y="116"/>
                    <a:pt x="42" y="121"/>
                    <a:pt x="41" y="126"/>
                  </a:cubicBezTo>
                  <a:cubicBezTo>
                    <a:pt x="40" y="131"/>
                    <a:pt x="53" y="150"/>
                    <a:pt x="57" y="156"/>
                  </a:cubicBezTo>
                  <a:cubicBezTo>
                    <a:pt x="61" y="162"/>
                    <a:pt x="46" y="174"/>
                    <a:pt x="46" y="174"/>
                  </a:cubicBezTo>
                  <a:cubicBezTo>
                    <a:pt x="42" y="189"/>
                    <a:pt x="42" y="189"/>
                    <a:pt x="42" y="189"/>
                  </a:cubicBezTo>
                  <a:cubicBezTo>
                    <a:pt x="42" y="189"/>
                    <a:pt x="36" y="187"/>
                    <a:pt x="29" y="193"/>
                  </a:cubicBezTo>
                  <a:cubicBezTo>
                    <a:pt x="22" y="199"/>
                    <a:pt x="26" y="208"/>
                    <a:pt x="26" y="208"/>
                  </a:cubicBezTo>
                  <a:cubicBezTo>
                    <a:pt x="14" y="219"/>
                    <a:pt x="14" y="219"/>
                    <a:pt x="14" y="219"/>
                  </a:cubicBezTo>
                  <a:cubicBezTo>
                    <a:pt x="13" y="230"/>
                    <a:pt x="13" y="230"/>
                    <a:pt x="13" y="230"/>
                  </a:cubicBezTo>
                  <a:cubicBezTo>
                    <a:pt x="13" y="230"/>
                    <a:pt x="2" y="237"/>
                    <a:pt x="2" y="248"/>
                  </a:cubicBezTo>
                  <a:cubicBezTo>
                    <a:pt x="2" y="259"/>
                    <a:pt x="11" y="269"/>
                    <a:pt x="18" y="270"/>
                  </a:cubicBezTo>
                  <a:cubicBezTo>
                    <a:pt x="25" y="271"/>
                    <a:pt x="25" y="262"/>
                    <a:pt x="25" y="262"/>
                  </a:cubicBezTo>
                  <a:cubicBezTo>
                    <a:pt x="39" y="261"/>
                    <a:pt x="39" y="261"/>
                    <a:pt x="39" y="261"/>
                  </a:cubicBezTo>
                  <a:cubicBezTo>
                    <a:pt x="42" y="273"/>
                    <a:pt x="42" y="273"/>
                    <a:pt x="42" y="273"/>
                  </a:cubicBezTo>
                  <a:cubicBezTo>
                    <a:pt x="33" y="275"/>
                    <a:pt x="33" y="275"/>
                    <a:pt x="33" y="275"/>
                  </a:cubicBezTo>
                  <a:cubicBezTo>
                    <a:pt x="23" y="283"/>
                    <a:pt x="23" y="283"/>
                    <a:pt x="23" y="283"/>
                  </a:cubicBezTo>
                  <a:cubicBezTo>
                    <a:pt x="23" y="283"/>
                    <a:pt x="18" y="273"/>
                    <a:pt x="9" y="283"/>
                  </a:cubicBezTo>
                  <a:cubicBezTo>
                    <a:pt x="0" y="293"/>
                    <a:pt x="13" y="302"/>
                    <a:pt x="13" y="302"/>
                  </a:cubicBezTo>
                  <a:cubicBezTo>
                    <a:pt x="9" y="312"/>
                    <a:pt x="9" y="312"/>
                    <a:pt x="9" y="312"/>
                  </a:cubicBezTo>
                  <a:cubicBezTo>
                    <a:pt x="175" y="416"/>
                    <a:pt x="175" y="416"/>
                    <a:pt x="175" y="416"/>
                  </a:cubicBezTo>
                  <a:cubicBezTo>
                    <a:pt x="175" y="416"/>
                    <a:pt x="187" y="425"/>
                    <a:pt x="184" y="429"/>
                  </a:cubicBezTo>
                  <a:cubicBezTo>
                    <a:pt x="181" y="433"/>
                    <a:pt x="173" y="439"/>
                    <a:pt x="173" y="439"/>
                  </a:cubicBezTo>
                  <a:cubicBezTo>
                    <a:pt x="248" y="509"/>
                    <a:pt x="248" y="509"/>
                    <a:pt x="248" y="509"/>
                  </a:cubicBezTo>
                  <a:cubicBezTo>
                    <a:pt x="248" y="508"/>
                    <a:pt x="248" y="508"/>
                    <a:pt x="248" y="508"/>
                  </a:cubicBezTo>
                  <a:cubicBezTo>
                    <a:pt x="261" y="505"/>
                    <a:pt x="261" y="505"/>
                    <a:pt x="261" y="505"/>
                  </a:cubicBezTo>
                  <a:cubicBezTo>
                    <a:pt x="281" y="463"/>
                    <a:pt x="281" y="463"/>
                    <a:pt x="281" y="463"/>
                  </a:cubicBezTo>
                  <a:cubicBezTo>
                    <a:pt x="281" y="463"/>
                    <a:pt x="279" y="448"/>
                    <a:pt x="279" y="441"/>
                  </a:cubicBezTo>
                  <a:cubicBezTo>
                    <a:pt x="279" y="434"/>
                    <a:pt x="300" y="434"/>
                    <a:pt x="299" y="424"/>
                  </a:cubicBezTo>
                  <a:cubicBezTo>
                    <a:pt x="298" y="414"/>
                    <a:pt x="293" y="401"/>
                    <a:pt x="301" y="398"/>
                  </a:cubicBezTo>
                  <a:cubicBezTo>
                    <a:pt x="309" y="395"/>
                    <a:pt x="324" y="388"/>
                    <a:pt x="324" y="388"/>
                  </a:cubicBezTo>
                  <a:cubicBezTo>
                    <a:pt x="328" y="361"/>
                    <a:pt x="328" y="361"/>
                    <a:pt x="328" y="361"/>
                  </a:cubicBezTo>
                  <a:cubicBezTo>
                    <a:pt x="328" y="361"/>
                    <a:pt x="352" y="366"/>
                    <a:pt x="360" y="351"/>
                  </a:cubicBezTo>
                  <a:cubicBezTo>
                    <a:pt x="361" y="349"/>
                    <a:pt x="362" y="346"/>
                    <a:pt x="364" y="343"/>
                  </a:cubicBezTo>
                  <a:cubicBezTo>
                    <a:pt x="336" y="303"/>
                    <a:pt x="336" y="303"/>
                    <a:pt x="336" y="303"/>
                  </a:cubicBezTo>
                  <a:lnTo>
                    <a:pt x="337" y="100"/>
                  </a:ln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561" name="Freeform 353">
              <a:extLst>
                <a:ext uri="{FF2B5EF4-FFF2-40B4-BE49-F238E27FC236}">
                  <a16:creationId xmlns:a16="http://schemas.microsoft.com/office/drawing/2014/main" id="{65DABF3D-DBBC-4F16-8889-7C4085743905}"/>
                </a:ext>
              </a:extLst>
            </p:cNvPr>
            <p:cNvSpPr>
              <a:spLocks noEditPoints="1"/>
            </p:cNvSpPr>
            <p:nvPr/>
          </p:nvSpPr>
          <p:spPr bwMode="gray">
            <a:xfrm>
              <a:off x="1955951" y="2176523"/>
              <a:ext cx="149317" cy="143074"/>
            </a:xfrm>
            <a:custGeom>
              <a:avLst/>
              <a:gdLst>
                <a:gd name="T0" fmla="*/ 128 w 220"/>
                <a:gd name="T1" fmla="*/ 204 h 223"/>
                <a:gd name="T2" fmla="*/ 128 w 220"/>
                <a:gd name="T3" fmla="*/ 204 h 223"/>
                <a:gd name="T4" fmla="*/ 128 w 220"/>
                <a:gd name="T5" fmla="*/ 204 h 223"/>
                <a:gd name="T6" fmla="*/ 128 w 220"/>
                <a:gd name="T7" fmla="*/ 204 h 223"/>
                <a:gd name="T8" fmla="*/ 218 w 220"/>
                <a:gd name="T9" fmla="*/ 15 h 223"/>
                <a:gd name="T10" fmla="*/ 211 w 220"/>
                <a:gd name="T11" fmla="*/ 1 h 223"/>
                <a:gd name="T12" fmla="*/ 192 w 220"/>
                <a:gd name="T13" fmla="*/ 2 h 223"/>
                <a:gd name="T14" fmla="*/ 181 w 220"/>
                <a:gd name="T15" fmla="*/ 2 h 223"/>
                <a:gd name="T16" fmla="*/ 168 w 220"/>
                <a:gd name="T17" fmla="*/ 12 h 223"/>
                <a:gd name="T18" fmla="*/ 143 w 220"/>
                <a:gd name="T19" fmla="*/ 1 h 223"/>
                <a:gd name="T20" fmla="*/ 133 w 220"/>
                <a:gd name="T21" fmla="*/ 20 h 223"/>
                <a:gd name="T22" fmla="*/ 120 w 220"/>
                <a:gd name="T23" fmla="*/ 21 h 223"/>
                <a:gd name="T24" fmla="*/ 119 w 220"/>
                <a:gd name="T25" fmla="*/ 31 h 223"/>
                <a:gd name="T26" fmla="*/ 92 w 220"/>
                <a:gd name="T27" fmla="*/ 54 h 223"/>
                <a:gd name="T28" fmla="*/ 78 w 220"/>
                <a:gd name="T29" fmla="*/ 45 h 223"/>
                <a:gd name="T30" fmla="*/ 65 w 220"/>
                <a:gd name="T31" fmla="*/ 59 h 223"/>
                <a:gd name="T32" fmla="*/ 45 w 220"/>
                <a:gd name="T33" fmla="*/ 58 h 223"/>
                <a:gd name="T34" fmla="*/ 44 w 220"/>
                <a:gd name="T35" fmla="*/ 85 h 223"/>
                <a:gd name="T36" fmla="*/ 35 w 220"/>
                <a:gd name="T37" fmla="*/ 87 h 223"/>
                <a:gd name="T38" fmla="*/ 33 w 220"/>
                <a:gd name="T39" fmla="*/ 98 h 223"/>
                <a:gd name="T40" fmla="*/ 19 w 220"/>
                <a:gd name="T41" fmla="*/ 102 h 223"/>
                <a:gd name="T42" fmla="*/ 0 w 220"/>
                <a:gd name="T43" fmla="*/ 102 h 223"/>
                <a:gd name="T44" fmla="*/ 32 w 220"/>
                <a:gd name="T45" fmla="*/ 136 h 223"/>
                <a:gd name="T46" fmla="*/ 50 w 220"/>
                <a:gd name="T47" fmla="*/ 175 h 223"/>
                <a:gd name="T48" fmla="*/ 80 w 220"/>
                <a:gd name="T49" fmla="*/ 199 h 223"/>
                <a:gd name="T50" fmla="*/ 92 w 220"/>
                <a:gd name="T51" fmla="*/ 198 h 223"/>
                <a:gd name="T52" fmla="*/ 92 w 220"/>
                <a:gd name="T53" fmla="*/ 197 h 223"/>
                <a:gd name="T54" fmla="*/ 81 w 220"/>
                <a:gd name="T55" fmla="*/ 187 h 223"/>
                <a:gd name="T56" fmla="*/ 95 w 220"/>
                <a:gd name="T57" fmla="*/ 181 h 223"/>
                <a:gd name="T58" fmla="*/ 90 w 220"/>
                <a:gd name="T59" fmla="*/ 175 h 223"/>
                <a:gd name="T60" fmla="*/ 79 w 220"/>
                <a:gd name="T61" fmla="*/ 177 h 223"/>
                <a:gd name="T62" fmla="*/ 79 w 220"/>
                <a:gd name="T63" fmla="*/ 149 h 223"/>
                <a:gd name="T64" fmla="*/ 123 w 220"/>
                <a:gd name="T65" fmla="*/ 185 h 223"/>
                <a:gd name="T66" fmla="*/ 128 w 220"/>
                <a:gd name="T67" fmla="*/ 204 h 223"/>
                <a:gd name="T68" fmla="*/ 132 w 220"/>
                <a:gd name="T69" fmla="*/ 204 h 223"/>
                <a:gd name="T70" fmla="*/ 150 w 220"/>
                <a:gd name="T71" fmla="*/ 211 h 223"/>
                <a:gd name="T72" fmla="*/ 162 w 220"/>
                <a:gd name="T73" fmla="*/ 223 h 223"/>
                <a:gd name="T74" fmla="*/ 183 w 220"/>
                <a:gd name="T75" fmla="*/ 220 h 223"/>
                <a:gd name="T76" fmla="*/ 170 w 220"/>
                <a:gd name="T77" fmla="*/ 192 h 223"/>
                <a:gd name="T78" fmla="*/ 182 w 220"/>
                <a:gd name="T79" fmla="*/ 172 h 223"/>
                <a:gd name="T80" fmla="*/ 177 w 220"/>
                <a:gd name="T81" fmla="*/ 151 h 223"/>
                <a:gd name="T82" fmla="*/ 181 w 220"/>
                <a:gd name="T83" fmla="*/ 119 h 223"/>
                <a:gd name="T84" fmla="*/ 191 w 220"/>
                <a:gd name="T85" fmla="*/ 131 h 223"/>
                <a:gd name="T86" fmla="*/ 194 w 220"/>
                <a:gd name="T87" fmla="*/ 74 h 223"/>
                <a:gd name="T88" fmla="*/ 209 w 220"/>
                <a:gd name="T89" fmla="*/ 44 h 223"/>
                <a:gd name="T90" fmla="*/ 218 w 220"/>
                <a:gd name="T91" fmla="*/ 15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20" h="223">
                  <a:moveTo>
                    <a:pt x="128" y="204"/>
                  </a:moveTo>
                  <a:cubicBezTo>
                    <a:pt x="128" y="204"/>
                    <a:pt x="128" y="204"/>
                    <a:pt x="128" y="204"/>
                  </a:cubicBezTo>
                  <a:cubicBezTo>
                    <a:pt x="128" y="204"/>
                    <a:pt x="128" y="204"/>
                    <a:pt x="128" y="204"/>
                  </a:cubicBezTo>
                  <a:cubicBezTo>
                    <a:pt x="128" y="204"/>
                    <a:pt x="128" y="204"/>
                    <a:pt x="128" y="204"/>
                  </a:cubicBezTo>
                  <a:close/>
                  <a:moveTo>
                    <a:pt x="218" y="15"/>
                  </a:moveTo>
                  <a:cubicBezTo>
                    <a:pt x="216" y="10"/>
                    <a:pt x="210" y="5"/>
                    <a:pt x="211" y="1"/>
                  </a:cubicBezTo>
                  <a:cubicBezTo>
                    <a:pt x="192" y="2"/>
                    <a:pt x="192" y="2"/>
                    <a:pt x="192" y="2"/>
                  </a:cubicBezTo>
                  <a:cubicBezTo>
                    <a:pt x="192" y="2"/>
                    <a:pt x="185" y="2"/>
                    <a:pt x="181" y="2"/>
                  </a:cubicBezTo>
                  <a:cubicBezTo>
                    <a:pt x="177" y="2"/>
                    <a:pt x="178" y="11"/>
                    <a:pt x="168" y="12"/>
                  </a:cubicBezTo>
                  <a:cubicBezTo>
                    <a:pt x="158" y="13"/>
                    <a:pt x="152" y="2"/>
                    <a:pt x="143" y="1"/>
                  </a:cubicBezTo>
                  <a:cubicBezTo>
                    <a:pt x="134" y="0"/>
                    <a:pt x="133" y="20"/>
                    <a:pt x="133" y="20"/>
                  </a:cubicBezTo>
                  <a:cubicBezTo>
                    <a:pt x="120" y="21"/>
                    <a:pt x="120" y="21"/>
                    <a:pt x="120" y="21"/>
                  </a:cubicBezTo>
                  <a:cubicBezTo>
                    <a:pt x="119" y="31"/>
                    <a:pt x="119" y="31"/>
                    <a:pt x="119" y="31"/>
                  </a:cubicBezTo>
                  <a:cubicBezTo>
                    <a:pt x="119" y="31"/>
                    <a:pt x="107" y="54"/>
                    <a:pt x="92" y="54"/>
                  </a:cubicBezTo>
                  <a:cubicBezTo>
                    <a:pt x="77" y="54"/>
                    <a:pt x="86" y="46"/>
                    <a:pt x="78" y="45"/>
                  </a:cubicBezTo>
                  <a:cubicBezTo>
                    <a:pt x="70" y="44"/>
                    <a:pt x="65" y="59"/>
                    <a:pt x="65" y="59"/>
                  </a:cubicBezTo>
                  <a:cubicBezTo>
                    <a:pt x="65" y="59"/>
                    <a:pt x="60" y="58"/>
                    <a:pt x="45" y="58"/>
                  </a:cubicBezTo>
                  <a:cubicBezTo>
                    <a:pt x="30" y="58"/>
                    <a:pt x="44" y="85"/>
                    <a:pt x="44" y="85"/>
                  </a:cubicBezTo>
                  <a:cubicBezTo>
                    <a:pt x="35" y="87"/>
                    <a:pt x="35" y="87"/>
                    <a:pt x="35" y="87"/>
                  </a:cubicBezTo>
                  <a:cubicBezTo>
                    <a:pt x="35" y="87"/>
                    <a:pt x="39" y="96"/>
                    <a:pt x="33" y="98"/>
                  </a:cubicBezTo>
                  <a:cubicBezTo>
                    <a:pt x="27" y="100"/>
                    <a:pt x="19" y="102"/>
                    <a:pt x="19" y="102"/>
                  </a:cubicBezTo>
                  <a:cubicBezTo>
                    <a:pt x="0" y="102"/>
                    <a:pt x="0" y="102"/>
                    <a:pt x="0" y="102"/>
                  </a:cubicBezTo>
                  <a:cubicBezTo>
                    <a:pt x="32" y="136"/>
                    <a:pt x="32" y="136"/>
                    <a:pt x="32" y="136"/>
                  </a:cubicBezTo>
                  <a:cubicBezTo>
                    <a:pt x="32" y="136"/>
                    <a:pt x="40" y="167"/>
                    <a:pt x="50" y="175"/>
                  </a:cubicBezTo>
                  <a:cubicBezTo>
                    <a:pt x="59" y="182"/>
                    <a:pt x="77" y="196"/>
                    <a:pt x="80" y="199"/>
                  </a:cubicBezTo>
                  <a:cubicBezTo>
                    <a:pt x="83" y="198"/>
                    <a:pt x="89" y="197"/>
                    <a:pt x="92" y="198"/>
                  </a:cubicBezTo>
                  <a:cubicBezTo>
                    <a:pt x="92" y="197"/>
                    <a:pt x="92" y="197"/>
                    <a:pt x="92" y="197"/>
                  </a:cubicBezTo>
                  <a:cubicBezTo>
                    <a:pt x="89" y="195"/>
                    <a:pt x="78" y="191"/>
                    <a:pt x="81" y="187"/>
                  </a:cubicBezTo>
                  <a:cubicBezTo>
                    <a:pt x="84" y="183"/>
                    <a:pt x="99" y="188"/>
                    <a:pt x="95" y="181"/>
                  </a:cubicBezTo>
                  <a:cubicBezTo>
                    <a:pt x="91" y="175"/>
                    <a:pt x="90" y="175"/>
                    <a:pt x="90" y="175"/>
                  </a:cubicBezTo>
                  <a:cubicBezTo>
                    <a:pt x="90" y="175"/>
                    <a:pt x="79" y="179"/>
                    <a:pt x="79" y="177"/>
                  </a:cubicBezTo>
                  <a:cubicBezTo>
                    <a:pt x="78" y="175"/>
                    <a:pt x="72" y="147"/>
                    <a:pt x="79" y="149"/>
                  </a:cubicBezTo>
                  <a:cubicBezTo>
                    <a:pt x="86" y="151"/>
                    <a:pt x="119" y="177"/>
                    <a:pt x="123" y="185"/>
                  </a:cubicBezTo>
                  <a:cubicBezTo>
                    <a:pt x="126" y="189"/>
                    <a:pt x="127" y="197"/>
                    <a:pt x="128" y="204"/>
                  </a:cubicBezTo>
                  <a:cubicBezTo>
                    <a:pt x="129" y="204"/>
                    <a:pt x="131" y="204"/>
                    <a:pt x="132" y="204"/>
                  </a:cubicBezTo>
                  <a:cubicBezTo>
                    <a:pt x="145" y="205"/>
                    <a:pt x="150" y="211"/>
                    <a:pt x="150" y="211"/>
                  </a:cubicBezTo>
                  <a:cubicBezTo>
                    <a:pt x="150" y="211"/>
                    <a:pt x="150" y="223"/>
                    <a:pt x="162" y="223"/>
                  </a:cubicBezTo>
                  <a:cubicBezTo>
                    <a:pt x="168" y="223"/>
                    <a:pt x="176" y="222"/>
                    <a:pt x="183" y="220"/>
                  </a:cubicBezTo>
                  <a:cubicBezTo>
                    <a:pt x="180" y="218"/>
                    <a:pt x="170" y="205"/>
                    <a:pt x="170" y="192"/>
                  </a:cubicBezTo>
                  <a:cubicBezTo>
                    <a:pt x="170" y="177"/>
                    <a:pt x="182" y="181"/>
                    <a:pt x="182" y="172"/>
                  </a:cubicBezTo>
                  <a:cubicBezTo>
                    <a:pt x="182" y="163"/>
                    <a:pt x="177" y="151"/>
                    <a:pt x="177" y="151"/>
                  </a:cubicBezTo>
                  <a:cubicBezTo>
                    <a:pt x="181" y="119"/>
                    <a:pt x="181" y="119"/>
                    <a:pt x="181" y="119"/>
                  </a:cubicBezTo>
                  <a:cubicBezTo>
                    <a:pt x="191" y="131"/>
                    <a:pt x="191" y="131"/>
                    <a:pt x="191" y="131"/>
                  </a:cubicBezTo>
                  <a:cubicBezTo>
                    <a:pt x="194" y="74"/>
                    <a:pt x="194" y="74"/>
                    <a:pt x="194" y="74"/>
                  </a:cubicBezTo>
                  <a:cubicBezTo>
                    <a:pt x="194" y="74"/>
                    <a:pt x="200" y="53"/>
                    <a:pt x="209" y="44"/>
                  </a:cubicBezTo>
                  <a:cubicBezTo>
                    <a:pt x="218" y="35"/>
                    <a:pt x="220" y="20"/>
                    <a:pt x="218" y="15"/>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562" name="Freeform 354">
              <a:extLst>
                <a:ext uri="{FF2B5EF4-FFF2-40B4-BE49-F238E27FC236}">
                  <a16:creationId xmlns:a16="http://schemas.microsoft.com/office/drawing/2014/main" id="{6E3C39E7-7FC5-4383-B2A6-07509617903A}"/>
                </a:ext>
              </a:extLst>
            </p:cNvPr>
            <p:cNvSpPr>
              <a:spLocks/>
            </p:cNvSpPr>
            <p:nvPr/>
          </p:nvSpPr>
          <p:spPr bwMode="gray">
            <a:xfrm>
              <a:off x="1997300" y="2303037"/>
              <a:ext cx="109978" cy="97464"/>
            </a:xfrm>
            <a:custGeom>
              <a:avLst/>
              <a:gdLst>
                <a:gd name="T0" fmla="*/ 146 w 162"/>
                <a:gd name="T1" fmla="*/ 133 h 152"/>
                <a:gd name="T2" fmla="*/ 159 w 162"/>
                <a:gd name="T3" fmla="*/ 122 h 152"/>
                <a:gd name="T4" fmla="*/ 145 w 162"/>
                <a:gd name="T5" fmla="*/ 115 h 152"/>
                <a:gd name="T6" fmla="*/ 145 w 162"/>
                <a:gd name="T7" fmla="*/ 93 h 152"/>
                <a:gd name="T8" fmla="*/ 162 w 162"/>
                <a:gd name="T9" fmla="*/ 87 h 152"/>
                <a:gd name="T10" fmla="*/ 140 w 162"/>
                <a:gd name="T11" fmla="*/ 66 h 152"/>
                <a:gd name="T12" fmla="*/ 124 w 162"/>
                <a:gd name="T13" fmla="*/ 39 h 152"/>
                <a:gd name="T14" fmla="*/ 122 w 162"/>
                <a:gd name="T15" fmla="*/ 24 h 152"/>
                <a:gd name="T16" fmla="*/ 122 w 162"/>
                <a:gd name="T17" fmla="*/ 23 h 152"/>
                <a:gd name="T18" fmla="*/ 122 w 162"/>
                <a:gd name="T19" fmla="*/ 23 h 152"/>
                <a:gd name="T20" fmla="*/ 101 w 162"/>
                <a:gd name="T21" fmla="*/ 26 h 152"/>
                <a:gd name="T22" fmla="*/ 89 w 162"/>
                <a:gd name="T23" fmla="*/ 14 h 152"/>
                <a:gd name="T24" fmla="*/ 71 w 162"/>
                <a:gd name="T25" fmla="*/ 7 h 152"/>
                <a:gd name="T26" fmla="*/ 59 w 162"/>
                <a:gd name="T27" fmla="*/ 12 h 152"/>
                <a:gd name="T28" fmla="*/ 33 w 162"/>
                <a:gd name="T29" fmla="*/ 1 h 152"/>
                <a:gd name="T30" fmla="*/ 19 w 162"/>
                <a:gd name="T31" fmla="*/ 2 h 152"/>
                <a:gd name="T32" fmla="*/ 19 w 162"/>
                <a:gd name="T33" fmla="*/ 2 h 152"/>
                <a:gd name="T34" fmla="*/ 10 w 162"/>
                <a:gd name="T35" fmla="*/ 19 h 152"/>
                <a:gd name="T36" fmla="*/ 20 w 162"/>
                <a:gd name="T37" fmla="*/ 32 h 152"/>
                <a:gd name="T38" fmla="*/ 9 w 162"/>
                <a:gd name="T39" fmla="*/ 60 h 152"/>
                <a:gd name="T40" fmla="*/ 33 w 162"/>
                <a:gd name="T41" fmla="*/ 72 h 152"/>
                <a:gd name="T42" fmla="*/ 53 w 162"/>
                <a:gd name="T43" fmla="*/ 85 h 152"/>
                <a:gd name="T44" fmla="*/ 51 w 162"/>
                <a:gd name="T45" fmla="*/ 67 h 152"/>
                <a:gd name="T46" fmla="*/ 33 w 162"/>
                <a:gd name="T47" fmla="*/ 49 h 152"/>
                <a:gd name="T48" fmla="*/ 67 w 162"/>
                <a:gd name="T49" fmla="*/ 70 h 152"/>
                <a:gd name="T50" fmla="*/ 68 w 162"/>
                <a:gd name="T51" fmla="*/ 89 h 152"/>
                <a:gd name="T52" fmla="*/ 95 w 162"/>
                <a:gd name="T53" fmla="*/ 94 h 152"/>
                <a:gd name="T54" fmla="*/ 108 w 162"/>
                <a:gd name="T55" fmla="*/ 121 h 152"/>
                <a:gd name="T56" fmla="*/ 108 w 162"/>
                <a:gd name="T57" fmla="*/ 138 h 152"/>
                <a:gd name="T58" fmla="*/ 131 w 162"/>
                <a:gd name="T59" fmla="*/ 150 h 152"/>
                <a:gd name="T60" fmla="*/ 122 w 162"/>
                <a:gd name="T61" fmla="*/ 133 h 152"/>
                <a:gd name="T62" fmla="*/ 141 w 162"/>
                <a:gd name="T63" fmla="*/ 152 h 152"/>
                <a:gd name="T64" fmla="*/ 145 w 162"/>
                <a:gd name="T65" fmla="*/ 147 h 152"/>
                <a:gd name="T66" fmla="*/ 146 w 162"/>
                <a:gd name="T67" fmla="*/ 133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62" h="152">
                  <a:moveTo>
                    <a:pt x="146" y="133"/>
                  </a:moveTo>
                  <a:cubicBezTo>
                    <a:pt x="146" y="133"/>
                    <a:pt x="159" y="127"/>
                    <a:pt x="159" y="122"/>
                  </a:cubicBezTo>
                  <a:cubicBezTo>
                    <a:pt x="159" y="117"/>
                    <a:pt x="145" y="115"/>
                    <a:pt x="145" y="115"/>
                  </a:cubicBezTo>
                  <a:cubicBezTo>
                    <a:pt x="145" y="115"/>
                    <a:pt x="135" y="96"/>
                    <a:pt x="145" y="93"/>
                  </a:cubicBezTo>
                  <a:cubicBezTo>
                    <a:pt x="151" y="91"/>
                    <a:pt x="158" y="88"/>
                    <a:pt x="162" y="87"/>
                  </a:cubicBezTo>
                  <a:cubicBezTo>
                    <a:pt x="154" y="82"/>
                    <a:pt x="143" y="75"/>
                    <a:pt x="140" y="66"/>
                  </a:cubicBezTo>
                  <a:cubicBezTo>
                    <a:pt x="136" y="53"/>
                    <a:pt x="124" y="39"/>
                    <a:pt x="124" y="39"/>
                  </a:cubicBezTo>
                  <a:cubicBezTo>
                    <a:pt x="122" y="24"/>
                    <a:pt x="122" y="24"/>
                    <a:pt x="122" y="24"/>
                  </a:cubicBezTo>
                  <a:cubicBezTo>
                    <a:pt x="122" y="24"/>
                    <a:pt x="122" y="24"/>
                    <a:pt x="122" y="23"/>
                  </a:cubicBezTo>
                  <a:cubicBezTo>
                    <a:pt x="122" y="23"/>
                    <a:pt x="122" y="23"/>
                    <a:pt x="122" y="23"/>
                  </a:cubicBezTo>
                  <a:cubicBezTo>
                    <a:pt x="115" y="25"/>
                    <a:pt x="107" y="26"/>
                    <a:pt x="101" y="26"/>
                  </a:cubicBezTo>
                  <a:cubicBezTo>
                    <a:pt x="89" y="26"/>
                    <a:pt x="89" y="14"/>
                    <a:pt x="89" y="14"/>
                  </a:cubicBezTo>
                  <a:cubicBezTo>
                    <a:pt x="89" y="14"/>
                    <a:pt x="84" y="8"/>
                    <a:pt x="71" y="7"/>
                  </a:cubicBezTo>
                  <a:cubicBezTo>
                    <a:pt x="58" y="6"/>
                    <a:pt x="59" y="12"/>
                    <a:pt x="59" y="12"/>
                  </a:cubicBezTo>
                  <a:cubicBezTo>
                    <a:pt x="59" y="12"/>
                    <a:pt x="39" y="3"/>
                    <a:pt x="33" y="1"/>
                  </a:cubicBezTo>
                  <a:cubicBezTo>
                    <a:pt x="29" y="0"/>
                    <a:pt x="23" y="1"/>
                    <a:pt x="19" y="2"/>
                  </a:cubicBezTo>
                  <a:cubicBezTo>
                    <a:pt x="19" y="2"/>
                    <a:pt x="19" y="2"/>
                    <a:pt x="19" y="2"/>
                  </a:cubicBezTo>
                  <a:cubicBezTo>
                    <a:pt x="10" y="19"/>
                    <a:pt x="10" y="19"/>
                    <a:pt x="10" y="19"/>
                  </a:cubicBezTo>
                  <a:cubicBezTo>
                    <a:pt x="10" y="19"/>
                    <a:pt x="26" y="28"/>
                    <a:pt x="20" y="32"/>
                  </a:cubicBezTo>
                  <a:cubicBezTo>
                    <a:pt x="14" y="36"/>
                    <a:pt x="0" y="46"/>
                    <a:pt x="9" y="60"/>
                  </a:cubicBezTo>
                  <a:cubicBezTo>
                    <a:pt x="18" y="74"/>
                    <a:pt x="33" y="72"/>
                    <a:pt x="33" y="72"/>
                  </a:cubicBezTo>
                  <a:cubicBezTo>
                    <a:pt x="33" y="72"/>
                    <a:pt x="50" y="92"/>
                    <a:pt x="53" y="85"/>
                  </a:cubicBezTo>
                  <a:cubicBezTo>
                    <a:pt x="56" y="78"/>
                    <a:pt x="51" y="67"/>
                    <a:pt x="51" y="67"/>
                  </a:cubicBezTo>
                  <a:cubicBezTo>
                    <a:pt x="51" y="67"/>
                    <a:pt x="24" y="49"/>
                    <a:pt x="33" y="49"/>
                  </a:cubicBezTo>
                  <a:cubicBezTo>
                    <a:pt x="42" y="49"/>
                    <a:pt x="67" y="70"/>
                    <a:pt x="67" y="70"/>
                  </a:cubicBezTo>
                  <a:cubicBezTo>
                    <a:pt x="67" y="70"/>
                    <a:pt x="64" y="89"/>
                    <a:pt x="68" y="89"/>
                  </a:cubicBezTo>
                  <a:cubicBezTo>
                    <a:pt x="72" y="89"/>
                    <a:pt x="95" y="94"/>
                    <a:pt x="95" y="94"/>
                  </a:cubicBezTo>
                  <a:cubicBezTo>
                    <a:pt x="108" y="121"/>
                    <a:pt x="108" y="121"/>
                    <a:pt x="108" y="121"/>
                  </a:cubicBezTo>
                  <a:cubicBezTo>
                    <a:pt x="108" y="121"/>
                    <a:pt x="99" y="129"/>
                    <a:pt x="108" y="138"/>
                  </a:cubicBezTo>
                  <a:cubicBezTo>
                    <a:pt x="117" y="147"/>
                    <a:pt x="131" y="150"/>
                    <a:pt x="131" y="150"/>
                  </a:cubicBezTo>
                  <a:cubicBezTo>
                    <a:pt x="122" y="133"/>
                    <a:pt x="122" y="133"/>
                    <a:pt x="122" y="133"/>
                  </a:cubicBezTo>
                  <a:cubicBezTo>
                    <a:pt x="141" y="152"/>
                    <a:pt x="141" y="152"/>
                    <a:pt x="141" y="152"/>
                  </a:cubicBezTo>
                  <a:cubicBezTo>
                    <a:pt x="145" y="147"/>
                    <a:pt x="145" y="147"/>
                    <a:pt x="145" y="147"/>
                  </a:cubicBezTo>
                  <a:lnTo>
                    <a:pt x="146" y="133"/>
                  </a:ln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563" name="Freeform 355">
              <a:extLst>
                <a:ext uri="{FF2B5EF4-FFF2-40B4-BE49-F238E27FC236}">
                  <a16:creationId xmlns:a16="http://schemas.microsoft.com/office/drawing/2014/main" id="{81128DDC-871D-4A8D-B8CF-C8B206F2BFAF}"/>
                </a:ext>
              </a:extLst>
            </p:cNvPr>
            <p:cNvSpPr>
              <a:spLocks/>
            </p:cNvSpPr>
            <p:nvPr/>
          </p:nvSpPr>
          <p:spPr bwMode="gray">
            <a:xfrm>
              <a:off x="5319623" y="1188305"/>
              <a:ext cx="54271" cy="57827"/>
            </a:xfrm>
            <a:custGeom>
              <a:avLst/>
              <a:gdLst>
                <a:gd name="T0" fmla="*/ 79 w 80"/>
                <a:gd name="T1" fmla="*/ 27 h 90"/>
                <a:gd name="T2" fmla="*/ 73 w 80"/>
                <a:gd name="T3" fmla="*/ 31 h 90"/>
                <a:gd name="T4" fmla="*/ 65 w 80"/>
                <a:gd name="T5" fmla="*/ 17 h 90"/>
                <a:gd name="T6" fmla="*/ 56 w 80"/>
                <a:gd name="T7" fmla="*/ 10 h 90"/>
                <a:gd name="T8" fmla="*/ 46 w 80"/>
                <a:gd name="T9" fmla="*/ 0 h 90"/>
                <a:gd name="T10" fmla="*/ 29 w 80"/>
                <a:gd name="T11" fmla="*/ 0 h 90"/>
                <a:gd name="T12" fmla="*/ 29 w 80"/>
                <a:gd name="T13" fmla="*/ 15 h 90"/>
                <a:gd name="T14" fmla="*/ 18 w 80"/>
                <a:gd name="T15" fmla="*/ 14 h 90"/>
                <a:gd name="T16" fmla="*/ 9 w 80"/>
                <a:gd name="T17" fmla="*/ 29 h 90"/>
                <a:gd name="T18" fmla="*/ 4 w 80"/>
                <a:gd name="T19" fmla="*/ 29 h 90"/>
                <a:gd name="T20" fmla="*/ 3 w 80"/>
                <a:gd name="T21" fmla="*/ 39 h 90"/>
                <a:gd name="T22" fmla="*/ 17 w 80"/>
                <a:gd name="T23" fmla="*/ 48 h 90"/>
                <a:gd name="T24" fmla="*/ 4 w 80"/>
                <a:gd name="T25" fmla="*/ 64 h 90"/>
                <a:gd name="T26" fmla="*/ 6 w 80"/>
                <a:gd name="T27" fmla="*/ 65 h 90"/>
                <a:gd name="T28" fmla="*/ 24 w 80"/>
                <a:gd name="T29" fmla="*/ 62 h 90"/>
                <a:gd name="T30" fmla="*/ 24 w 80"/>
                <a:gd name="T31" fmla="*/ 74 h 90"/>
                <a:gd name="T32" fmla="*/ 41 w 80"/>
                <a:gd name="T33" fmla="*/ 90 h 90"/>
                <a:gd name="T34" fmla="*/ 48 w 80"/>
                <a:gd name="T35" fmla="*/ 81 h 90"/>
                <a:gd name="T36" fmla="*/ 46 w 80"/>
                <a:gd name="T37" fmla="*/ 71 h 90"/>
                <a:gd name="T38" fmla="*/ 40 w 80"/>
                <a:gd name="T39" fmla="*/ 74 h 90"/>
                <a:gd name="T40" fmla="*/ 31 w 80"/>
                <a:gd name="T41" fmla="*/ 68 h 90"/>
                <a:gd name="T42" fmla="*/ 46 w 80"/>
                <a:gd name="T43" fmla="*/ 68 h 90"/>
                <a:gd name="T44" fmla="*/ 52 w 80"/>
                <a:gd name="T45" fmla="*/ 63 h 90"/>
                <a:gd name="T46" fmla="*/ 54 w 80"/>
                <a:gd name="T47" fmla="*/ 49 h 90"/>
                <a:gd name="T48" fmla="*/ 72 w 80"/>
                <a:gd name="T49" fmla="*/ 59 h 90"/>
                <a:gd name="T50" fmla="*/ 78 w 80"/>
                <a:gd name="T51" fmla="*/ 53 h 90"/>
                <a:gd name="T52" fmla="*/ 80 w 80"/>
                <a:gd name="T53" fmla="*/ 56 h 90"/>
                <a:gd name="T54" fmla="*/ 79 w 80"/>
                <a:gd name="T55" fmla="*/ 27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80" h="90">
                  <a:moveTo>
                    <a:pt x="79" y="27"/>
                  </a:moveTo>
                  <a:cubicBezTo>
                    <a:pt x="73" y="31"/>
                    <a:pt x="73" y="31"/>
                    <a:pt x="73" y="31"/>
                  </a:cubicBezTo>
                  <a:cubicBezTo>
                    <a:pt x="65" y="17"/>
                    <a:pt x="65" y="17"/>
                    <a:pt x="65" y="17"/>
                  </a:cubicBezTo>
                  <a:cubicBezTo>
                    <a:pt x="56" y="10"/>
                    <a:pt x="56" y="10"/>
                    <a:pt x="56" y="10"/>
                  </a:cubicBezTo>
                  <a:cubicBezTo>
                    <a:pt x="46" y="0"/>
                    <a:pt x="46" y="0"/>
                    <a:pt x="46" y="0"/>
                  </a:cubicBezTo>
                  <a:cubicBezTo>
                    <a:pt x="39" y="2"/>
                    <a:pt x="29" y="0"/>
                    <a:pt x="29" y="0"/>
                  </a:cubicBezTo>
                  <a:cubicBezTo>
                    <a:pt x="29" y="15"/>
                    <a:pt x="29" y="15"/>
                    <a:pt x="29" y="15"/>
                  </a:cubicBezTo>
                  <a:cubicBezTo>
                    <a:pt x="29" y="15"/>
                    <a:pt x="21" y="10"/>
                    <a:pt x="18" y="14"/>
                  </a:cubicBezTo>
                  <a:cubicBezTo>
                    <a:pt x="15" y="18"/>
                    <a:pt x="9" y="29"/>
                    <a:pt x="9" y="29"/>
                  </a:cubicBezTo>
                  <a:cubicBezTo>
                    <a:pt x="4" y="29"/>
                    <a:pt x="4" y="29"/>
                    <a:pt x="4" y="29"/>
                  </a:cubicBezTo>
                  <a:cubicBezTo>
                    <a:pt x="4" y="29"/>
                    <a:pt x="0" y="36"/>
                    <a:pt x="3" y="39"/>
                  </a:cubicBezTo>
                  <a:cubicBezTo>
                    <a:pt x="6" y="42"/>
                    <a:pt x="17" y="48"/>
                    <a:pt x="17" y="48"/>
                  </a:cubicBezTo>
                  <a:cubicBezTo>
                    <a:pt x="4" y="64"/>
                    <a:pt x="4" y="64"/>
                    <a:pt x="4" y="64"/>
                  </a:cubicBezTo>
                  <a:cubicBezTo>
                    <a:pt x="5" y="65"/>
                    <a:pt x="6" y="65"/>
                    <a:pt x="6" y="65"/>
                  </a:cubicBezTo>
                  <a:cubicBezTo>
                    <a:pt x="13" y="67"/>
                    <a:pt x="24" y="62"/>
                    <a:pt x="24" y="62"/>
                  </a:cubicBezTo>
                  <a:cubicBezTo>
                    <a:pt x="24" y="74"/>
                    <a:pt x="24" y="74"/>
                    <a:pt x="24" y="74"/>
                  </a:cubicBezTo>
                  <a:cubicBezTo>
                    <a:pt x="41" y="90"/>
                    <a:pt x="41" y="90"/>
                    <a:pt x="41" y="90"/>
                  </a:cubicBezTo>
                  <a:cubicBezTo>
                    <a:pt x="48" y="81"/>
                    <a:pt x="48" y="81"/>
                    <a:pt x="48" y="81"/>
                  </a:cubicBezTo>
                  <a:cubicBezTo>
                    <a:pt x="46" y="71"/>
                    <a:pt x="46" y="71"/>
                    <a:pt x="46" y="71"/>
                  </a:cubicBezTo>
                  <a:cubicBezTo>
                    <a:pt x="40" y="74"/>
                    <a:pt x="40" y="74"/>
                    <a:pt x="40" y="74"/>
                  </a:cubicBezTo>
                  <a:cubicBezTo>
                    <a:pt x="31" y="68"/>
                    <a:pt x="31" y="68"/>
                    <a:pt x="31" y="68"/>
                  </a:cubicBezTo>
                  <a:cubicBezTo>
                    <a:pt x="46" y="68"/>
                    <a:pt x="46" y="68"/>
                    <a:pt x="46" y="68"/>
                  </a:cubicBezTo>
                  <a:cubicBezTo>
                    <a:pt x="52" y="63"/>
                    <a:pt x="52" y="63"/>
                    <a:pt x="52" y="63"/>
                  </a:cubicBezTo>
                  <a:cubicBezTo>
                    <a:pt x="54" y="49"/>
                    <a:pt x="54" y="49"/>
                    <a:pt x="54" y="49"/>
                  </a:cubicBezTo>
                  <a:cubicBezTo>
                    <a:pt x="72" y="59"/>
                    <a:pt x="72" y="59"/>
                    <a:pt x="72" y="59"/>
                  </a:cubicBezTo>
                  <a:cubicBezTo>
                    <a:pt x="78" y="53"/>
                    <a:pt x="78" y="53"/>
                    <a:pt x="78" y="53"/>
                  </a:cubicBezTo>
                  <a:cubicBezTo>
                    <a:pt x="80" y="56"/>
                    <a:pt x="80" y="56"/>
                    <a:pt x="80" y="56"/>
                  </a:cubicBezTo>
                  <a:lnTo>
                    <a:pt x="79" y="27"/>
                  </a:ln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564" name="Freeform 356">
              <a:extLst>
                <a:ext uri="{FF2B5EF4-FFF2-40B4-BE49-F238E27FC236}">
                  <a16:creationId xmlns:a16="http://schemas.microsoft.com/office/drawing/2014/main" id="{3C742E74-3184-4C3A-B822-56AA28D93C0E}"/>
                </a:ext>
              </a:extLst>
            </p:cNvPr>
            <p:cNvSpPr>
              <a:spLocks noEditPoints="1"/>
            </p:cNvSpPr>
            <p:nvPr/>
          </p:nvSpPr>
          <p:spPr bwMode="gray">
            <a:xfrm>
              <a:off x="5329961" y="1096542"/>
              <a:ext cx="125484" cy="149591"/>
            </a:xfrm>
            <a:custGeom>
              <a:avLst/>
              <a:gdLst>
                <a:gd name="T0" fmla="*/ 167 w 185"/>
                <a:gd name="T1" fmla="*/ 152 h 233"/>
                <a:gd name="T2" fmla="*/ 160 w 185"/>
                <a:gd name="T3" fmla="*/ 140 h 233"/>
                <a:gd name="T4" fmla="*/ 166 w 185"/>
                <a:gd name="T5" fmla="*/ 120 h 233"/>
                <a:gd name="T6" fmla="*/ 161 w 185"/>
                <a:gd name="T7" fmla="*/ 102 h 233"/>
                <a:gd name="T8" fmla="*/ 171 w 185"/>
                <a:gd name="T9" fmla="*/ 88 h 233"/>
                <a:gd name="T10" fmla="*/ 139 w 185"/>
                <a:gd name="T11" fmla="*/ 91 h 233"/>
                <a:gd name="T12" fmla="*/ 117 w 185"/>
                <a:gd name="T13" fmla="*/ 82 h 233"/>
                <a:gd name="T14" fmla="*/ 115 w 185"/>
                <a:gd name="T15" fmla="*/ 56 h 233"/>
                <a:gd name="T16" fmla="*/ 91 w 185"/>
                <a:gd name="T17" fmla="*/ 48 h 233"/>
                <a:gd name="T18" fmla="*/ 77 w 185"/>
                <a:gd name="T19" fmla="*/ 27 h 233"/>
                <a:gd name="T20" fmla="*/ 48 w 185"/>
                <a:gd name="T21" fmla="*/ 6 h 233"/>
                <a:gd name="T22" fmla="*/ 18 w 185"/>
                <a:gd name="T23" fmla="*/ 17 h 233"/>
                <a:gd name="T24" fmla="*/ 0 w 185"/>
                <a:gd name="T25" fmla="*/ 21 h 233"/>
                <a:gd name="T26" fmla="*/ 6 w 185"/>
                <a:gd name="T27" fmla="*/ 40 h 233"/>
                <a:gd name="T28" fmla="*/ 8 w 185"/>
                <a:gd name="T29" fmla="*/ 53 h 233"/>
                <a:gd name="T30" fmla="*/ 12 w 185"/>
                <a:gd name="T31" fmla="*/ 65 h 233"/>
                <a:gd name="T32" fmla="*/ 5 w 185"/>
                <a:gd name="T33" fmla="*/ 72 h 233"/>
                <a:gd name="T34" fmla="*/ 27 w 185"/>
                <a:gd name="T35" fmla="*/ 76 h 233"/>
                <a:gd name="T36" fmla="*/ 15 w 185"/>
                <a:gd name="T37" fmla="*/ 106 h 233"/>
                <a:gd name="T38" fmla="*/ 37 w 185"/>
                <a:gd name="T39" fmla="*/ 118 h 233"/>
                <a:gd name="T40" fmla="*/ 35 w 185"/>
                <a:gd name="T41" fmla="*/ 140 h 233"/>
                <a:gd name="T42" fmla="*/ 41 w 185"/>
                <a:gd name="T43" fmla="*/ 153 h 233"/>
                <a:gd name="T44" fmla="*/ 58 w 185"/>
                <a:gd name="T45" fmla="*/ 174 h 233"/>
                <a:gd name="T46" fmla="*/ 65 w 185"/>
                <a:gd name="T47" fmla="*/ 199 h 233"/>
                <a:gd name="T48" fmla="*/ 71 w 185"/>
                <a:gd name="T49" fmla="*/ 211 h 233"/>
                <a:gd name="T50" fmla="*/ 84 w 185"/>
                <a:gd name="T51" fmla="*/ 221 h 233"/>
                <a:gd name="T52" fmla="*/ 95 w 185"/>
                <a:gd name="T53" fmla="*/ 229 h 233"/>
                <a:gd name="T54" fmla="*/ 112 w 185"/>
                <a:gd name="T55" fmla="*/ 221 h 233"/>
                <a:gd name="T56" fmla="*/ 128 w 185"/>
                <a:gd name="T57" fmla="*/ 213 h 233"/>
                <a:gd name="T58" fmla="*/ 158 w 185"/>
                <a:gd name="T59" fmla="*/ 207 h 233"/>
                <a:gd name="T60" fmla="*/ 165 w 185"/>
                <a:gd name="T61" fmla="*/ 192 h 233"/>
                <a:gd name="T62" fmla="*/ 177 w 185"/>
                <a:gd name="T63" fmla="*/ 180 h 233"/>
                <a:gd name="T64" fmla="*/ 180 w 185"/>
                <a:gd name="T65" fmla="*/ 159 h 233"/>
                <a:gd name="T66" fmla="*/ 27 w 185"/>
                <a:gd name="T67" fmla="*/ 144 h 233"/>
                <a:gd name="T68" fmla="*/ 24 w 185"/>
                <a:gd name="T69" fmla="*/ 144 h 233"/>
                <a:gd name="T70" fmla="*/ 24 w 185"/>
                <a:gd name="T71" fmla="*/ 144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85" h="233">
                  <a:moveTo>
                    <a:pt x="180" y="159"/>
                  </a:moveTo>
                  <a:cubicBezTo>
                    <a:pt x="167" y="152"/>
                    <a:pt x="167" y="152"/>
                    <a:pt x="167" y="152"/>
                  </a:cubicBezTo>
                  <a:cubicBezTo>
                    <a:pt x="169" y="145"/>
                    <a:pt x="169" y="145"/>
                    <a:pt x="169" y="145"/>
                  </a:cubicBezTo>
                  <a:cubicBezTo>
                    <a:pt x="160" y="140"/>
                    <a:pt x="160" y="140"/>
                    <a:pt x="160" y="140"/>
                  </a:cubicBezTo>
                  <a:cubicBezTo>
                    <a:pt x="157" y="128"/>
                    <a:pt x="157" y="128"/>
                    <a:pt x="157" y="128"/>
                  </a:cubicBezTo>
                  <a:cubicBezTo>
                    <a:pt x="166" y="120"/>
                    <a:pt x="166" y="120"/>
                    <a:pt x="166" y="120"/>
                  </a:cubicBezTo>
                  <a:cubicBezTo>
                    <a:pt x="168" y="106"/>
                    <a:pt x="168" y="106"/>
                    <a:pt x="168" y="106"/>
                  </a:cubicBezTo>
                  <a:cubicBezTo>
                    <a:pt x="161" y="102"/>
                    <a:pt x="161" y="102"/>
                    <a:pt x="161" y="102"/>
                  </a:cubicBezTo>
                  <a:cubicBezTo>
                    <a:pt x="168" y="94"/>
                    <a:pt x="168" y="94"/>
                    <a:pt x="168" y="94"/>
                  </a:cubicBezTo>
                  <a:cubicBezTo>
                    <a:pt x="171" y="88"/>
                    <a:pt x="171" y="88"/>
                    <a:pt x="171" y="88"/>
                  </a:cubicBezTo>
                  <a:cubicBezTo>
                    <a:pt x="155" y="84"/>
                    <a:pt x="155" y="84"/>
                    <a:pt x="155" y="84"/>
                  </a:cubicBezTo>
                  <a:cubicBezTo>
                    <a:pt x="139" y="91"/>
                    <a:pt x="139" y="91"/>
                    <a:pt x="139" y="91"/>
                  </a:cubicBezTo>
                  <a:cubicBezTo>
                    <a:pt x="133" y="84"/>
                    <a:pt x="133" y="84"/>
                    <a:pt x="133" y="84"/>
                  </a:cubicBezTo>
                  <a:cubicBezTo>
                    <a:pt x="117" y="82"/>
                    <a:pt x="117" y="82"/>
                    <a:pt x="117" y="82"/>
                  </a:cubicBezTo>
                  <a:cubicBezTo>
                    <a:pt x="112" y="71"/>
                    <a:pt x="112" y="71"/>
                    <a:pt x="112" y="71"/>
                  </a:cubicBezTo>
                  <a:cubicBezTo>
                    <a:pt x="112" y="71"/>
                    <a:pt x="117" y="62"/>
                    <a:pt x="115" y="56"/>
                  </a:cubicBezTo>
                  <a:cubicBezTo>
                    <a:pt x="113" y="50"/>
                    <a:pt x="101" y="49"/>
                    <a:pt x="99" y="54"/>
                  </a:cubicBezTo>
                  <a:cubicBezTo>
                    <a:pt x="97" y="59"/>
                    <a:pt x="91" y="48"/>
                    <a:pt x="91" y="48"/>
                  </a:cubicBezTo>
                  <a:cubicBezTo>
                    <a:pt x="83" y="25"/>
                    <a:pt x="83" y="25"/>
                    <a:pt x="83" y="25"/>
                  </a:cubicBezTo>
                  <a:cubicBezTo>
                    <a:pt x="77" y="27"/>
                    <a:pt x="77" y="27"/>
                    <a:pt x="77" y="27"/>
                  </a:cubicBezTo>
                  <a:cubicBezTo>
                    <a:pt x="62" y="13"/>
                    <a:pt x="62" y="13"/>
                    <a:pt x="62" y="13"/>
                  </a:cubicBezTo>
                  <a:cubicBezTo>
                    <a:pt x="48" y="6"/>
                    <a:pt x="48" y="6"/>
                    <a:pt x="48" y="6"/>
                  </a:cubicBezTo>
                  <a:cubicBezTo>
                    <a:pt x="48" y="6"/>
                    <a:pt x="33" y="0"/>
                    <a:pt x="30" y="6"/>
                  </a:cubicBezTo>
                  <a:cubicBezTo>
                    <a:pt x="27" y="12"/>
                    <a:pt x="18" y="17"/>
                    <a:pt x="18" y="17"/>
                  </a:cubicBezTo>
                  <a:cubicBezTo>
                    <a:pt x="3" y="17"/>
                    <a:pt x="3" y="17"/>
                    <a:pt x="3" y="17"/>
                  </a:cubicBezTo>
                  <a:cubicBezTo>
                    <a:pt x="0" y="21"/>
                    <a:pt x="0" y="21"/>
                    <a:pt x="0" y="21"/>
                  </a:cubicBezTo>
                  <a:cubicBezTo>
                    <a:pt x="2" y="22"/>
                    <a:pt x="2" y="22"/>
                    <a:pt x="2" y="22"/>
                  </a:cubicBezTo>
                  <a:cubicBezTo>
                    <a:pt x="6" y="40"/>
                    <a:pt x="6" y="40"/>
                    <a:pt x="6" y="40"/>
                  </a:cubicBezTo>
                  <a:cubicBezTo>
                    <a:pt x="11" y="41"/>
                    <a:pt x="11" y="41"/>
                    <a:pt x="11" y="41"/>
                  </a:cubicBezTo>
                  <a:cubicBezTo>
                    <a:pt x="8" y="53"/>
                    <a:pt x="8" y="53"/>
                    <a:pt x="8" y="53"/>
                  </a:cubicBezTo>
                  <a:cubicBezTo>
                    <a:pt x="8" y="53"/>
                    <a:pt x="24" y="56"/>
                    <a:pt x="25" y="59"/>
                  </a:cubicBezTo>
                  <a:cubicBezTo>
                    <a:pt x="26" y="62"/>
                    <a:pt x="12" y="65"/>
                    <a:pt x="12" y="65"/>
                  </a:cubicBezTo>
                  <a:cubicBezTo>
                    <a:pt x="10" y="72"/>
                    <a:pt x="10" y="72"/>
                    <a:pt x="10" y="72"/>
                  </a:cubicBezTo>
                  <a:cubicBezTo>
                    <a:pt x="5" y="72"/>
                    <a:pt x="5" y="72"/>
                    <a:pt x="5" y="72"/>
                  </a:cubicBezTo>
                  <a:cubicBezTo>
                    <a:pt x="8" y="77"/>
                    <a:pt x="8" y="77"/>
                    <a:pt x="8" y="77"/>
                  </a:cubicBezTo>
                  <a:cubicBezTo>
                    <a:pt x="8" y="77"/>
                    <a:pt x="27" y="71"/>
                    <a:pt x="27" y="76"/>
                  </a:cubicBezTo>
                  <a:cubicBezTo>
                    <a:pt x="27" y="81"/>
                    <a:pt x="15" y="95"/>
                    <a:pt x="15" y="95"/>
                  </a:cubicBezTo>
                  <a:cubicBezTo>
                    <a:pt x="15" y="106"/>
                    <a:pt x="15" y="106"/>
                    <a:pt x="15" y="106"/>
                  </a:cubicBezTo>
                  <a:cubicBezTo>
                    <a:pt x="15" y="106"/>
                    <a:pt x="19" y="103"/>
                    <a:pt x="26" y="105"/>
                  </a:cubicBezTo>
                  <a:cubicBezTo>
                    <a:pt x="33" y="107"/>
                    <a:pt x="37" y="118"/>
                    <a:pt x="37" y="118"/>
                  </a:cubicBezTo>
                  <a:cubicBezTo>
                    <a:pt x="23" y="120"/>
                    <a:pt x="23" y="120"/>
                    <a:pt x="23" y="120"/>
                  </a:cubicBezTo>
                  <a:cubicBezTo>
                    <a:pt x="23" y="120"/>
                    <a:pt x="37" y="133"/>
                    <a:pt x="35" y="140"/>
                  </a:cubicBezTo>
                  <a:cubicBezTo>
                    <a:pt x="34" y="142"/>
                    <a:pt x="33" y="143"/>
                    <a:pt x="31" y="143"/>
                  </a:cubicBezTo>
                  <a:cubicBezTo>
                    <a:pt x="41" y="153"/>
                    <a:pt x="41" y="153"/>
                    <a:pt x="41" y="153"/>
                  </a:cubicBezTo>
                  <a:cubicBezTo>
                    <a:pt x="50" y="160"/>
                    <a:pt x="50" y="160"/>
                    <a:pt x="50" y="160"/>
                  </a:cubicBezTo>
                  <a:cubicBezTo>
                    <a:pt x="58" y="174"/>
                    <a:pt x="58" y="174"/>
                    <a:pt x="58" y="174"/>
                  </a:cubicBezTo>
                  <a:cubicBezTo>
                    <a:pt x="64" y="170"/>
                    <a:pt x="64" y="170"/>
                    <a:pt x="64" y="170"/>
                  </a:cubicBezTo>
                  <a:cubicBezTo>
                    <a:pt x="65" y="199"/>
                    <a:pt x="65" y="199"/>
                    <a:pt x="65" y="199"/>
                  </a:cubicBezTo>
                  <a:cubicBezTo>
                    <a:pt x="63" y="196"/>
                    <a:pt x="63" y="196"/>
                    <a:pt x="63" y="196"/>
                  </a:cubicBezTo>
                  <a:cubicBezTo>
                    <a:pt x="71" y="211"/>
                    <a:pt x="71" y="211"/>
                    <a:pt x="71" y="211"/>
                  </a:cubicBezTo>
                  <a:cubicBezTo>
                    <a:pt x="80" y="211"/>
                    <a:pt x="80" y="211"/>
                    <a:pt x="80" y="211"/>
                  </a:cubicBezTo>
                  <a:cubicBezTo>
                    <a:pt x="84" y="221"/>
                    <a:pt x="84" y="221"/>
                    <a:pt x="84" y="221"/>
                  </a:cubicBezTo>
                  <a:cubicBezTo>
                    <a:pt x="84" y="233"/>
                    <a:pt x="84" y="233"/>
                    <a:pt x="84" y="233"/>
                  </a:cubicBezTo>
                  <a:cubicBezTo>
                    <a:pt x="95" y="229"/>
                    <a:pt x="95" y="229"/>
                    <a:pt x="95" y="229"/>
                  </a:cubicBezTo>
                  <a:cubicBezTo>
                    <a:pt x="100" y="221"/>
                    <a:pt x="100" y="221"/>
                    <a:pt x="100" y="221"/>
                  </a:cubicBezTo>
                  <a:cubicBezTo>
                    <a:pt x="100" y="221"/>
                    <a:pt x="105" y="221"/>
                    <a:pt x="112" y="221"/>
                  </a:cubicBezTo>
                  <a:cubicBezTo>
                    <a:pt x="119" y="221"/>
                    <a:pt x="115" y="213"/>
                    <a:pt x="115" y="213"/>
                  </a:cubicBezTo>
                  <a:cubicBezTo>
                    <a:pt x="128" y="213"/>
                    <a:pt x="128" y="213"/>
                    <a:pt x="128" y="213"/>
                  </a:cubicBezTo>
                  <a:cubicBezTo>
                    <a:pt x="132" y="209"/>
                    <a:pt x="132" y="209"/>
                    <a:pt x="132" y="209"/>
                  </a:cubicBezTo>
                  <a:cubicBezTo>
                    <a:pt x="158" y="207"/>
                    <a:pt x="158" y="207"/>
                    <a:pt x="158" y="207"/>
                  </a:cubicBezTo>
                  <a:cubicBezTo>
                    <a:pt x="158" y="207"/>
                    <a:pt x="166" y="206"/>
                    <a:pt x="167" y="203"/>
                  </a:cubicBezTo>
                  <a:cubicBezTo>
                    <a:pt x="168" y="200"/>
                    <a:pt x="165" y="192"/>
                    <a:pt x="165" y="192"/>
                  </a:cubicBezTo>
                  <a:cubicBezTo>
                    <a:pt x="165" y="192"/>
                    <a:pt x="162" y="185"/>
                    <a:pt x="164" y="181"/>
                  </a:cubicBezTo>
                  <a:cubicBezTo>
                    <a:pt x="166" y="177"/>
                    <a:pt x="177" y="180"/>
                    <a:pt x="177" y="180"/>
                  </a:cubicBezTo>
                  <a:cubicBezTo>
                    <a:pt x="177" y="180"/>
                    <a:pt x="181" y="173"/>
                    <a:pt x="183" y="169"/>
                  </a:cubicBezTo>
                  <a:cubicBezTo>
                    <a:pt x="185" y="165"/>
                    <a:pt x="180" y="159"/>
                    <a:pt x="180" y="159"/>
                  </a:cubicBezTo>
                  <a:close/>
                  <a:moveTo>
                    <a:pt x="24" y="144"/>
                  </a:moveTo>
                  <a:cubicBezTo>
                    <a:pt x="25" y="144"/>
                    <a:pt x="26" y="144"/>
                    <a:pt x="27" y="144"/>
                  </a:cubicBezTo>
                  <a:cubicBezTo>
                    <a:pt x="26" y="144"/>
                    <a:pt x="25" y="144"/>
                    <a:pt x="24" y="144"/>
                  </a:cubicBezTo>
                  <a:close/>
                  <a:moveTo>
                    <a:pt x="24" y="144"/>
                  </a:moveTo>
                  <a:cubicBezTo>
                    <a:pt x="22" y="144"/>
                    <a:pt x="19" y="144"/>
                    <a:pt x="18" y="143"/>
                  </a:cubicBezTo>
                  <a:cubicBezTo>
                    <a:pt x="19" y="144"/>
                    <a:pt x="22" y="144"/>
                    <a:pt x="24" y="144"/>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565" name="Freeform 357">
              <a:extLst>
                <a:ext uri="{FF2B5EF4-FFF2-40B4-BE49-F238E27FC236}">
                  <a16:creationId xmlns:a16="http://schemas.microsoft.com/office/drawing/2014/main" id="{6242CD47-CEEA-4B02-94ED-6D23C7FD8B9C}"/>
                </a:ext>
              </a:extLst>
            </p:cNvPr>
            <p:cNvSpPr>
              <a:spLocks noEditPoints="1"/>
            </p:cNvSpPr>
            <p:nvPr/>
          </p:nvSpPr>
          <p:spPr bwMode="gray">
            <a:xfrm>
              <a:off x="179356" y="307053"/>
              <a:ext cx="1389805" cy="568225"/>
            </a:xfrm>
            <a:custGeom>
              <a:avLst/>
              <a:gdLst>
                <a:gd name="T0" fmla="*/ 1650 w 2049"/>
                <a:gd name="T1" fmla="*/ 628 h 886"/>
                <a:gd name="T2" fmla="*/ 1600 w 2049"/>
                <a:gd name="T3" fmla="*/ 619 h 886"/>
                <a:gd name="T4" fmla="*/ 1594 w 2049"/>
                <a:gd name="T5" fmla="*/ 717 h 886"/>
                <a:gd name="T6" fmla="*/ 1594 w 2049"/>
                <a:gd name="T7" fmla="*/ 777 h 886"/>
                <a:gd name="T8" fmla="*/ 1677 w 2049"/>
                <a:gd name="T9" fmla="*/ 696 h 886"/>
                <a:gd name="T10" fmla="*/ 1691 w 2049"/>
                <a:gd name="T11" fmla="*/ 558 h 886"/>
                <a:gd name="T12" fmla="*/ 1597 w 2049"/>
                <a:gd name="T13" fmla="*/ 572 h 886"/>
                <a:gd name="T14" fmla="*/ 1561 w 2049"/>
                <a:gd name="T15" fmla="*/ 513 h 886"/>
                <a:gd name="T16" fmla="*/ 2008 w 2049"/>
                <a:gd name="T17" fmla="*/ 53 h 886"/>
                <a:gd name="T18" fmla="*/ 1735 w 2049"/>
                <a:gd name="T19" fmla="*/ 24 h 886"/>
                <a:gd name="T20" fmla="*/ 1622 w 2049"/>
                <a:gd name="T21" fmla="*/ 0 h 886"/>
                <a:gd name="T22" fmla="*/ 1141 w 2049"/>
                <a:gd name="T23" fmla="*/ 107 h 886"/>
                <a:gd name="T24" fmla="*/ 1138 w 2049"/>
                <a:gd name="T25" fmla="*/ 211 h 886"/>
                <a:gd name="T26" fmla="*/ 1051 w 2049"/>
                <a:gd name="T27" fmla="*/ 238 h 886"/>
                <a:gd name="T28" fmla="*/ 837 w 2049"/>
                <a:gd name="T29" fmla="*/ 261 h 886"/>
                <a:gd name="T30" fmla="*/ 939 w 2049"/>
                <a:gd name="T31" fmla="*/ 316 h 886"/>
                <a:gd name="T32" fmla="*/ 1037 w 2049"/>
                <a:gd name="T33" fmla="*/ 311 h 886"/>
                <a:gd name="T34" fmla="*/ 898 w 2049"/>
                <a:gd name="T35" fmla="*/ 357 h 886"/>
                <a:gd name="T36" fmla="*/ 745 w 2049"/>
                <a:gd name="T37" fmla="*/ 404 h 886"/>
                <a:gd name="T38" fmla="*/ 643 w 2049"/>
                <a:gd name="T39" fmla="*/ 462 h 886"/>
                <a:gd name="T40" fmla="*/ 689 w 2049"/>
                <a:gd name="T41" fmla="*/ 491 h 886"/>
                <a:gd name="T42" fmla="*/ 619 w 2049"/>
                <a:gd name="T43" fmla="*/ 510 h 886"/>
                <a:gd name="T44" fmla="*/ 678 w 2049"/>
                <a:gd name="T45" fmla="*/ 554 h 886"/>
                <a:gd name="T46" fmla="*/ 694 w 2049"/>
                <a:gd name="T47" fmla="*/ 576 h 886"/>
                <a:gd name="T48" fmla="*/ 785 w 2049"/>
                <a:gd name="T49" fmla="*/ 580 h 886"/>
                <a:gd name="T50" fmla="*/ 815 w 2049"/>
                <a:gd name="T51" fmla="*/ 598 h 886"/>
                <a:gd name="T52" fmla="*/ 697 w 2049"/>
                <a:gd name="T53" fmla="*/ 654 h 886"/>
                <a:gd name="T54" fmla="*/ 491 w 2049"/>
                <a:gd name="T55" fmla="*/ 747 h 886"/>
                <a:gd name="T56" fmla="*/ 385 w 2049"/>
                <a:gd name="T57" fmla="*/ 763 h 886"/>
                <a:gd name="T58" fmla="*/ 373 w 2049"/>
                <a:gd name="T59" fmla="*/ 783 h 886"/>
                <a:gd name="T60" fmla="*/ 514 w 2049"/>
                <a:gd name="T61" fmla="*/ 746 h 886"/>
                <a:gd name="T62" fmla="*/ 653 w 2049"/>
                <a:gd name="T63" fmla="*/ 697 h 886"/>
                <a:gd name="T64" fmla="*/ 841 w 2049"/>
                <a:gd name="T65" fmla="*/ 628 h 886"/>
                <a:gd name="T66" fmla="*/ 1015 w 2049"/>
                <a:gd name="T67" fmla="*/ 545 h 886"/>
                <a:gd name="T68" fmla="*/ 1234 w 2049"/>
                <a:gd name="T69" fmla="*/ 485 h 886"/>
                <a:gd name="T70" fmla="*/ 1075 w 2049"/>
                <a:gd name="T71" fmla="*/ 536 h 886"/>
                <a:gd name="T72" fmla="*/ 1211 w 2049"/>
                <a:gd name="T73" fmla="*/ 530 h 886"/>
                <a:gd name="T74" fmla="*/ 1336 w 2049"/>
                <a:gd name="T75" fmla="*/ 492 h 886"/>
                <a:gd name="T76" fmla="*/ 1472 w 2049"/>
                <a:gd name="T77" fmla="*/ 532 h 886"/>
                <a:gd name="T78" fmla="*/ 1541 w 2049"/>
                <a:gd name="T79" fmla="*/ 573 h 886"/>
                <a:gd name="T80" fmla="*/ 1630 w 2049"/>
                <a:gd name="T81" fmla="*/ 585 h 886"/>
                <a:gd name="T82" fmla="*/ 1679 w 2049"/>
                <a:gd name="T83" fmla="*/ 607 h 886"/>
                <a:gd name="T84" fmla="*/ 1636 w 2049"/>
                <a:gd name="T85" fmla="*/ 670 h 886"/>
                <a:gd name="T86" fmla="*/ 1660 w 2049"/>
                <a:gd name="T87" fmla="*/ 733 h 886"/>
                <a:gd name="T88" fmla="*/ 1623 w 2049"/>
                <a:gd name="T89" fmla="*/ 785 h 886"/>
                <a:gd name="T90" fmla="*/ 1707 w 2049"/>
                <a:gd name="T91" fmla="*/ 721 h 886"/>
                <a:gd name="T92" fmla="*/ 1598 w 2049"/>
                <a:gd name="T93" fmla="*/ 704 h 886"/>
                <a:gd name="T94" fmla="*/ 1546 w 2049"/>
                <a:gd name="T95" fmla="*/ 720 h 886"/>
                <a:gd name="T96" fmla="*/ 510 w 2049"/>
                <a:gd name="T97" fmla="*/ 517 h 886"/>
                <a:gd name="T98" fmla="*/ 76 w 2049"/>
                <a:gd name="T99" fmla="*/ 849 h 886"/>
                <a:gd name="T100" fmla="*/ 859 w 2049"/>
                <a:gd name="T101" fmla="*/ 663 h 886"/>
                <a:gd name="T102" fmla="*/ 881 w 2049"/>
                <a:gd name="T103" fmla="*/ 664 h 886"/>
                <a:gd name="T104" fmla="*/ 908 w 2049"/>
                <a:gd name="T105" fmla="*/ 635 h 886"/>
                <a:gd name="T106" fmla="*/ 1646 w 2049"/>
                <a:gd name="T107" fmla="*/ 762 h 886"/>
                <a:gd name="T108" fmla="*/ 923 w 2049"/>
                <a:gd name="T109" fmla="*/ 630 h 886"/>
                <a:gd name="T110" fmla="*/ 290 w 2049"/>
                <a:gd name="T111" fmla="*/ 788 h 886"/>
                <a:gd name="T112" fmla="*/ 221 w 2049"/>
                <a:gd name="T113" fmla="*/ 814 h 8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049" h="886">
                  <a:moveTo>
                    <a:pt x="1636" y="622"/>
                  </a:moveTo>
                  <a:cubicBezTo>
                    <a:pt x="1628" y="629"/>
                    <a:pt x="1614" y="645"/>
                    <a:pt x="1614" y="645"/>
                  </a:cubicBezTo>
                  <a:cubicBezTo>
                    <a:pt x="1602" y="669"/>
                    <a:pt x="1602" y="669"/>
                    <a:pt x="1602" y="669"/>
                  </a:cubicBezTo>
                  <a:cubicBezTo>
                    <a:pt x="1602" y="669"/>
                    <a:pt x="1623" y="665"/>
                    <a:pt x="1633" y="656"/>
                  </a:cubicBezTo>
                  <a:cubicBezTo>
                    <a:pt x="1643" y="647"/>
                    <a:pt x="1640" y="638"/>
                    <a:pt x="1640" y="638"/>
                  </a:cubicBezTo>
                  <a:cubicBezTo>
                    <a:pt x="1650" y="628"/>
                    <a:pt x="1650" y="628"/>
                    <a:pt x="1650" y="628"/>
                  </a:cubicBezTo>
                  <a:cubicBezTo>
                    <a:pt x="1650" y="628"/>
                    <a:pt x="1644" y="615"/>
                    <a:pt x="1636" y="622"/>
                  </a:cubicBezTo>
                  <a:close/>
                  <a:moveTo>
                    <a:pt x="1600" y="619"/>
                  </a:moveTo>
                  <a:cubicBezTo>
                    <a:pt x="1600" y="619"/>
                    <a:pt x="1575" y="626"/>
                    <a:pt x="1576" y="633"/>
                  </a:cubicBezTo>
                  <a:cubicBezTo>
                    <a:pt x="1577" y="640"/>
                    <a:pt x="1586" y="650"/>
                    <a:pt x="1586" y="650"/>
                  </a:cubicBezTo>
                  <a:cubicBezTo>
                    <a:pt x="1597" y="654"/>
                    <a:pt x="1614" y="646"/>
                    <a:pt x="1614" y="636"/>
                  </a:cubicBezTo>
                  <a:cubicBezTo>
                    <a:pt x="1614" y="626"/>
                    <a:pt x="1600" y="619"/>
                    <a:pt x="1600" y="619"/>
                  </a:cubicBezTo>
                  <a:close/>
                  <a:moveTo>
                    <a:pt x="1544" y="792"/>
                  </a:moveTo>
                  <a:cubicBezTo>
                    <a:pt x="1553" y="793"/>
                    <a:pt x="1553" y="793"/>
                    <a:pt x="1553" y="793"/>
                  </a:cubicBezTo>
                  <a:cubicBezTo>
                    <a:pt x="1559" y="768"/>
                    <a:pt x="1559" y="768"/>
                    <a:pt x="1559" y="768"/>
                  </a:cubicBezTo>
                  <a:cubicBezTo>
                    <a:pt x="1548" y="773"/>
                    <a:pt x="1548" y="773"/>
                    <a:pt x="1548" y="773"/>
                  </a:cubicBezTo>
                  <a:lnTo>
                    <a:pt x="1544" y="792"/>
                  </a:lnTo>
                  <a:close/>
                  <a:moveTo>
                    <a:pt x="1594" y="717"/>
                  </a:moveTo>
                  <a:cubicBezTo>
                    <a:pt x="1581" y="726"/>
                    <a:pt x="1581" y="726"/>
                    <a:pt x="1581" y="726"/>
                  </a:cubicBezTo>
                  <a:cubicBezTo>
                    <a:pt x="1581" y="726"/>
                    <a:pt x="1587" y="732"/>
                    <a:pt x="1591" y="733"/>
                  </a:cubicBezTo>
                  <a:cubicBezTo>
                    <a:pt x="1595" y="734"/>
                    <a:pt x="1577" y="743"/>
                    <a:pt x="1573" y="745"/>
                  </a:cubicBezTo>
                  <a:cubicBezTo>
                    <a:pt x="1569" y="747"/>
                    <a:pt x="1563" y="758"/>
                    <a:pt x="1568" y="767"/>
                  </a:cubicBezTo>
                  <a:cubicBezTo>
                    <a:pt x="1573" y="776"/>
                    <a:pt x="1572" y="794"/>
                    <a:pt x="1572" y="794"/>
                  </a:cubicBezTo>
                  <a:cubicBezTo>
                    <a:pt x="1572" y="794"/>
                    <a:pt x="1586" y="786"/>
                    <a:pt x="1594" y="777"/>
                  </a:cubicBezTo>
                  <a:cubicBezTo>
                    <a:pt x="1602" y="768"/>
                    <a:pt x="1590" y="756"/>
                    <a:pt x="1590" y="756"/>
                  </a:cubicBezTo>
                  <a:cubicBezTo>
                    <a:pt x="1590" y="756"/>
                    <a:pt x="1600" y="755"/>
                    <a:pt x="1609" y="745"/>
                  </a:cubicBezTo>
                  <a:cubicBezTo>
                    <a:pt x="1618" y="735"/>
                    <a:pt x="1594" y="717"/>
                    <a:pt x="1594" y="717"/>
                  </a:cubicBezTo>
                  <a:close/>
                  <a:moveTo>
                    <a:pt x="1707" y="721"/>
                  </a:moveTo>
                  <a:cubicBezTo>
                    <a:pt x="1707" y="721"/>
                    <a:pt x="1700" y="719"/>
                    <a:pt x="1700" y="714"/>
                  </a:cubicBezTo>
                  <a:cubicBezTo>
                    <a:pt x="1700" y="710"/>
                    <a:pt x="1672" y="709"/>
                    <a:pt x="1677" y="696"/>
                  </a:cubicBezTo>
                  <a:cubicBezTo>
                    <a:pt x="1682" y="683"/>
                    <a:pt x="1688" y="666"/>
                    <a:pt x="1688" y="666"/>
                  </a:cubicBezTo>
                  <a:cubicBezTo>
                    <a:pt x="1688" y="642"/>
                    <a:pt x="1688" y="642"/>
                    <a:pt x="1688" y="642"/>
                  </a:cubicBezTo>
                  <a:cubicBezTo>
                    <a:pt x="1688" y="642"/>
                    <a:pt x="1705" y="623"/>
                    <a:pt x="1698" y="606"/>
                  </a:cubicBezTo>
                  <a:cubicBezTo>
                    <a:pt x="1692" y="588"/>
                    <a:pt x="1685" y="586"/>
                    <a:pt x="1685" y="586"/>
                  </a:cubicBezTo>
                  <a:cubicBezTo>
                    <a:pt x="1691" y="575"/>
                    <a:pt x="1691" y="575"/>
                    <a:pt x="1691" y="575"/>
                  </a:cubicBezTo>
                  <a:cubicBezTo>
                    <a:pt x="1691" y="558"/>
                    <a:pt x="1691" y="558"/>
                    <a:pt x="1691" y="558"/>
                  </a:cubicBezTo>
                  <a:cubicBezTo>
                    <a:pt x="1691" y="558"/>
                    <a:pt x="1718" y="548"/>
                    <a:pt x="1699" y="542"/>
                  </a:cubicBezTo>
                  <a:cubicBezTo>
                    <a:pt x="1681" y="537"/>
                    <a:pt x="1653" y="547"/>
                    <a:pt x="1653" y="547"/>
                  </a:cubicBezTo>
                  <a:cubicBezTo>
                    <a:pt x="1651" y="555"/>
                    <a:pt x="1651" y="555"/>
                    <a:pt x="1651" y="555"/>
                  </a:cubicBezTo>
                  <a:cubicBezTo>
                    <a:pt x="1639" y="555"/>
                    <a:pt x="1639" y="555"/>
                    <a:pt x="1639" y="555"/>
                  </a:cubicBezTo>
                  <a:cubicBezTo>
                    <a:pt x="1639" y="555"/>
                    <a:pt x="1633" y="565"/>
                    <a:pt x="1625" y="565"/>
                  </a:cubicBezTo>
                  <a:cubicBezTo>
                    <a:pt x="1618" y="565"/>
                    <a:pt x="1597" y="572"/>
                    <a:pt x="1597" y="572"/>
                  </a:cubicBezTo>
                  <a:cubicBezTo>
                    <a:pt x="1597" y="572"/>
                    <a:pt x="1581" y="585"/>
                    <a:pt x="1575" y="585"/>
                  </a:cubicBezTo>
                  <a:cubicBezTo>
                    <a:pt x="1570" y="585"/>
                    <a:pt x="1589" y="566"/>
                    <a:pt x="1589" y="566"/>
                  </a:cubicBezTo>
                  <a:cubicBezTo>
                    <a:pt x="1589" y="566"/>
                    <a:pt x="1570" y="558"/>
                    <a:pt x="1570" y="547"/>
                  </a:cubicBezTo>
                  <a:cubicBezTo>
                    <a:pt x="1570" y="537"/>
                    <a:pt x="1570" y="528"/>
                    <a:pt x="1570" y="528"/>
                  </a:cubicBezTo>
                  <a:cubicBezTo>
                    <a:pt x="1585" y="513"/>
                    <a:pt x="1585" y="513"/>
                    <a:pt x="1585" y="513"/>
                  </a:cubicBezTo>
                  <a:cubicBezTo>
                    <a:pt x="1561" y="513"/>
                    <a:pt x="1561" y="513"/>
                    <a:pt x="1561" y="513"/>
                  </a:cubicBezTo>
                  <a:cubicBezTo>
                    <a:pt x="1561" y="513"/>
                    <a:pt x="1552" y="518"/>
                    <a:pt x="1549" y="518"/>
                  </a:cubicBezTo>
                  <a:cubicBezTo>
                    <a:pt x="1549" y="518"/>
                    <a:pt x="1520" y="524"/>
                    <a:pt x="1514" y="518"/>
                  </a:cubicBezTo>
                  <a:cubicBezTo>
                    <a:pt x="1508" y="512"/>
                    <a:pt x="1534" y="498"/>
                    <a:pt x="1534" y="498"/>
                  </a:cubicBezTo>
                  <a:cubicBezTo>
                    <a:pt x="2049" y="74"/>
                    <a:pt x="2049" y="74"/>
                    <a:pt x="2049" y="74"/>
                  </a:cubicBezTo>
                  <a:cubicBezTo>
                    <a:pt x="2037" y="74"/>
                    <a:pt x="2037" y="74"/>
                    <a:pt x="2037" y="74"/>
                  </a:cubicBezTo>
                  <a:cubicBezTo>
                    <a:pt x="2037" y="74"/>
                    <a:pt x="2034" y="51"/>
                    <a:pt x="2008" y="53"/>
                  </a:cubicBezTo>
                  <a:cubicBezTo>
                    <a:pt x="1982" y="55"/>
                    <a:pt x="1951" y="64"/>
                    <a:pt x="1947" y="64"/>
                  </a:cubicBezTo>
                  <a:cubicBezTo>
                    <a:pt x="1943" y="64"/>
                    <a:pt x="1916" y="50"/>
                    <a:pt x="1912" y="48"/>
                  </a:cubicBezTo>
                  <a:cubicBezTo>
                    <a:pt x="1908" y="46"/>
                    <a:pt x="1858" y="47"/>
                    <a:pt x="1858" y="47"/>
                  </a:cubicBezTo>
                  <a:cubicBezTo>
                    <a:pt x="1858" y="47"/>
                    <a:pt x="1842" y="39"/>
                    <a:pt x="1824" y="37"/>
                  </a:cubicBezTo>
                  <a:cubicBezTo>
                    <a:pt x="1806" y="35"/>
                    <a:pt x="1735" y="38"/>
                    <a:pt x="1732" y="38"/>
                  </a:cubicBezTo>
                  <a:cubicBezTo>
                    <a:pt x="1729" y="38"/>
                    <a:pt x="1735" y="24"/>
                    <a:pt x="1735" y="24"/>
                  </a:cubicBezTo>
                  <a:cubicBezTo>
                    <a:pt x="1735" y="24"/>
                    <a:pt x="1699" y="19"/>
                    <a:pt x="1694" y="18"/>
                  </a:cubicBezTo>
                  <a:cubicBezTo>
                    <a:pt x="1689" y="17"/>
                    <a:pt x="1656" y="24"/>
                    <a:pt x="1656" y="24"/>
                  </a:cubicBezTo>
                  <a:cubicBezTo>
                    <a:pt x="1676" y="2"/>
                    <a:pt x="1676" y="2"/>
                    <a:pt x="1676" y="2"/>
                  </a:cubicBezTo>
                  <a:cubicBezTo>
                    <a:pt x="1621" y="24"/>
                    <a:pt x="1621" y="24"/>
                    <a:pt x="1621" y="24"/>
                  </a:cubicBezTo>
                  <a:cubicBezTo>
                    <a:pt x="1642" y="2"/>
                    <a:pt x="1642" y="2"/>
                    <a:pt x="1642" y="2"/>
                  </a:cubicBezTo>
                  <a:cubicBezTo>
                    <a:pt x="1622" y="0"/>
                    <a:pt x="1622" y="0"/>
                    <a:pt x="1622" y="0"/>
                  </a:cubicBezTo>
                  <a:cubicBezTo>
                    <a:pt x="1622" y="0"/>
                    <a:pt x="1591" y="22"/>
                    <a:pt x="1561" y="22"/>
                  </a:cubicBezTo>
                  <a:cubicBezTo>
                    <a:pt x="1531" y="22"/>
                    <a:pt x="1485" y="16"/>
                    <a:pt x="1477" y="24"/>
                  </a:cubicBezTo>
                  <a:cubicBezTo>
                    <a:pt x="1469" y="32"/>
                    <a:pt x="1439" y="39"/>
                    <a:pt x="1439" y="39"/>
                  </a:cubicBezTo>
                  <a:cubicBezTo>
                    <a:pt x="1439" y="39"/>
                    <a:pt x="1390" y="39"/>
                    <a:pt x="1364" y="42"/>
                  </a:cubicBezTo>
                  <a:cubicBezTo>
                    <a:pt x="1338" y="45"/>
                    <a:pt x="1277" y="91"/>
                    <a:pt x="1235" y="97"/>
                  </a:cubicBezTo>
                  <a:cubicBezTo>
                    <a:pt x="1193" y="103"/>
                    <a:pt x="1141" y="107"/>
                    <a:pt x="1141" y="107"/>
                  </a:cubicBezTo>
                  <a:cubicBezTo>
                    <a:pt x="1141" y="107"/>
                    <a:pt x="1078" y="128"/>
                    <a:pt x="1081" y="133"/>
                  </a:cubicBezTo>
                  <a:cubicBezTo>
                    <a:pt x="1084" y="138"/>
                    <a:pt x="1105" y="149"/>
                    <a:pt x="1105" y="149"/>
                  </a:cubicBezTo>
                  <a:cubicBezTo>
                    <a:pt x="1105" y="149"/>
                    <a:pt x="1118" y="172"/>
                    <a:pt x="1112" y="175"/>
                  </a:cubicBezTo>
                  <a:cubicBezTo>
                    <a:pt x="1106" y="178"/>
                    <a:pt x="1097" y="187"/>
                    <a:pt x="1097" y="187"/>
                  </a:cubicBezTo>
                  <a:cubicBezTo>
                    <a:pt x="1157" y="188"/>
                    <a:pt x="1157" y="188"/>
                    <a:pt x="1157" y="188"/>
                  </a:cubicBezTo>
                  <a:cubicBezTo>
                    <a:pt x="1138" y="211"/>
                    <a:pt x="1138" y="211"/>
                    <a:pt x="1138" y="211"/>
                  </a:cubicBezTo>
                  <a:cubicBezTo>
                    <a:pt x="1182" y="213"/>
                    <a:pt x="1182" y="213"/>
                    <a:pt x="1182" y="213"/>
                  </a:cubicBezTo>
                  <a:cubicBezTo>
                    <a:pt x="1175" y="225"/>
                    <a:pt x="1175" y="225"/>
                    <a:pt x="1175" y="225"/>
                  </a:cubicBezTo>
                  <a:cubicBezTo>
                    <a:pt x="1139" y="224"/>
                    <a:pt x="1139" y="224"/>
                    <a:pt x="1139" y="224"/>
                  </a:cubicBezTo>
                  <a:cubicBezTo>
                    <a:pt x="1132" y="232"/>
                    <a:pt x="1132" y="232"/>
                    <a:pt x="1132" y="232"/>
                  </a:cubicBezTo>
                  <a:cubicBezTo>
                    <a:pt x="1110" y="232"/>
                    <a:pt x="1110" y="232"/>
                    <a:pt x="1110" y="232"/>
                  </a:cubicBezTo>
                  <a:cubicBezTo>
                    <a:pt x="1110" y="232"/>
                    <a:pt x="1076" y="238"/>
                    <a:pt x="1051" y="238"/>
                  </a:cubicBezTo>
                  <a:cubicBezTo>
                    <a:pt x="1026" y="238"/>
                    <a:pt x="1031" y="228"/>
                    <a:pt x="1045" y="223"/>
                  </a:cubicBezTo>
                  <a:cubicBezTo>
                    <a:pt x="1059" y="218"/>
                    <a:pt x="1017" y="215"/>
                    <a:pt x="1017" y="215"/>
                  </a:cubicBezTo>
                  <a:cubicBezTo>
                    <a:pt x="1017" y="215"/>
                    <a:pt x="969" y="213"/>
                    <a:pt x="967" y="221"/>
                  </a:cubicBezTo>
                  <a:cubicBezTo>
                    <a:pt x="965" y="229"/>
                    <a:pt x="969" y="234"/>
                    <a:pt x="969" y="234"/>
                  </a:cubicBezTo>
                  <a:cubicBezTo>
                    <a:pt x="969" y="234"/>
                    <a:pt x="934" y="236"/>
                    <a:pt x="911" y="239"/>
                  </a:cubicBezTo>
                  <a:cubicBezTo>
                    <a:pt x="888" y="242"/>
                    <a:pt x="820" y="255"/>
                    <a:pt x="837" y="261"/>
                  </a:cubicBezTo>
                  <a:cubicBezTo>
                    <a:pt x="854" y="267"/>
                    <a:pt x="877" y="270"/>
                    <a:pt x="877" y="270"/>
                  </a:cubicBezTo>
                  <a:cubicBezTo>
                    <a:pt x="848" y="280"/>
                    <a:pt x="848" y="280"/>
                    <a:pt x="848" y="280"/>
                  </a:cubicBezTo>
                  <a:cubicBezTo>
                    <a:pt x="840" y="307"/>
                    <a:pt x="840" y="307"/>
                    <a:pt x="840" y="307"/>
                  </a:cubicBezTo>
                  <a:cubicBezTo>
                    <a:pt x="840" y="307"/>
                    <a:pt x="864" y="311"/>
                    <a:pt x="880" y="311"/>
                  </a:cubicBezTo>
                  <a:cubicBezTo>
                    <a:pt x="896" y="311"/>
                    <a:pt x="910" y="308"/>
                    <a:pt x="910" y="308"/>
                  </a:cubicBezTo>
                  <a:cubicBezTo>
                    <a:pt x="939" y="316"/>
                    <a:pt x="939" y="316"/>
                    <a:pt x="939" y="316"/>
                  </a:cubicBezTo>
                  <a:cubicBezTo>
                    <a:pt x="948" y="304"/>
                    <a:pt x="948" y="304"/>
                    <a:pt x="948" y="304"/>
                  </a:cubicBezTo>
                  <a:cubicBezTo>
                    <a:pt x="957" y="315"/>
                    <a:pt x="957" y="315"/>
                    <a:pt x="957" y="315"/>
                  </a:cubicBezTo>
                  <a:cubicBezTo>
                    <a:pt x="957" y="315"/>
                    <a:pt x="989" y="297"/>
                    <a:pt x="994" y="297"/>
                  </a:cubicBezTo>
                  <a:cubicBezTo>
                    <a:pt x="999" y="297"/>
                    <a:pt x="1007" y="303"/>
                    <a:pt x="1017" y="299"/>
                  </a:cubicBezTo>
                  <a:cubicBezTo>
                    <a:pt x="1027" y="295"/>
                    <a:pt x="1045" y="281"/>
                    <a:pt x="1046" y="290"/>
                  </a:cubicBezTo>
                  <a:cubicBezTo>
                    <a:pt x="1047" y="299"/>
                    <a:pt x="1037" y="311"/>
                    <a:pt x="1037" y="311"/>
                  </a:cubicBezTo>
                  <a:cubicBezTo>
                    <a:pt x="999" y="312"/>
                    <a:pt x="999" y="312"/>
                    <a:pt x="999" y="312"/>
                  </a:cubicBezTo>
                  <a:cubicBezTo>
                    <a:pt x="1004" y="333"/>
                    <a:pt x="1004" y="333"/>
                    <a:pt x="1004" y="333"/>
                  </a:cubicBezTo>
                  <a:cubicBezTo>
                    <a:pt x="1004" y="333"/>
                    <a:pt x="976" y="360"/>
                    <a:pt x="958" y="361"/>
                  </a:cubicBezTo>
                  <a:cubicBezTo>
                    <a:pt x="940" y="362"/>
                    <a:pt x="920" y="362"/>
                    <a:pt x="920" y="362"/>
                  </a:cubicBezTo>
                  <a:cubicBezTo>
                    <a:pt x="910" y="350"/>
                    <a:pt x="910" y="350"/>
                    <a:pt x="910" y="350"/>
                  </a:cubicBezTo>
                  <a:cubicBezTo>
                    <a:pt x="898" y="357"/>
                    <a:pt x="898" y="357"/>
                    <a:pt x="898" y="357"/>
                  </a:cubicBezTo>
                  <a:cubicBezTo>
                    <a:pt x="898" y="365"/>
                    <a:pt x="898" y="365"/>
                    <a:pt x="898" y="365"/>
                  </a:cubicBezTo>
                  <a:cubicBezTo>
                    <a:pt x="898" y="365"/>
                    <a:pt x="857" y="389"/>
                    <a:pt x="844" y="381"/>
                  </a:cubicBezTo>
                  <a:cubicBezTo>
                    <a:pt x="831" y="373"/>
                    <a:pt x="824" y="371"/>
                    <a:pt x="824" y="371"/>
                  </a:cubicBezTo>
                  <a:cubicBezTo>
                    <a:pt x="762" y="406"/>
                    <a:pt x="762" y="406"/>
                    <a:pt x="762" y="406"/>
                  </a:cubicBezTo>
                  <a:cubicBezTo>
                    <a:pt x="748" y="418"/>
                    <a:pt x="748" y="418"/>
                    <a:pt x="748" y="418"/>
                  </a:cubicBezTo>
                  <a:cubicBezTo>
                    <a:pt x="745" y="404"/>
                    <a:pt x="745" y="404"/>
                    <a:pt x="745" y="404"/>
                  </a:cubicBezTo>
                  <a:cubicBezTo>
                    <a:pt x="745" y="404"/>
                    <a:pt x="720" y="415"/>
                    <a:pt x="706" y="420"/>
                  </a:cubicBezTo>
                  <a:cubicBezTo>
                    <a:pt x="692" y="425"/>
                    <a:pt x="682" y="440"/>
                    <a:pt x="682" y="440"/>
                  </a:cubicBezTo>
                  <a:cubicBezTo>
                    <a:pt x="662" y="434"/>
                    <a:pt x="662" y="434"/>
                    <a:pt x="662" y="434"/>
                  </a:cubicBezTo>
                  <a:cubicBezTo>
                    <a:pt x="662" y="447"/>
                    <a:pt x="662" y="447"/>
                    <a:pt x="662" y="447"/>
                  </a:cubicBezTo>
                  <a:cubicBezTo>
                    <a:pt x="662" y="447"/>
                    <a:pt x="649" y="441"/>
                    <a:pt x="646" y="447"/>
                  </a:cubicBezTo>
                  <a:cubicBezTo>
                    <a:pt x="643" y="453"/>
                    <a:pt x="643" y="462"/>
                    <a:pt x="643" y="462"/>
                  </a:cubicBezTo>
                  <a:cubicBezTo>
                    <a:pt x="636" y="471"/>
                    <a:pt x="636" y="471"/>
                    <a:pt x="636" y="471"/>
                  </a:cubicBezTo>
                  <a:cubicBezTo>
                    <a:pt x="676" y="457"/>
                    <a:pt x="676" y="457"/>
                    <a:pt x="676" y="457"/>
                  </a:cubicBezTo>
                  <a:cubicBezTo>
                    <a:pt x="661" y="469"/>
                    <a:pt x="661" y="469"/>
                    <a:pt x="661" y="469"/>
                  </a:cubicBezTo>
                  <a:cubicBezTo>
                    <a:pt x="661" y="475"/>
                    <a:pt x="661" y="475"/>
                    <a:pt x="661" y="475"/>
                  </a:cubicBezTo>
                  <a:cubicBezTo>
                    <a:pt x="648" y="483"/>
                    <a:pt x="648" y="483"/>
                    <a:pt x="648" y="483"/>
                  </a:cubicBezTo>
                  <a:cubicBezTo>
                    <a:pt x="648" y="483"/>
                    <a:pt x="698" y="482"/>
                    <a:pt x="689" y="491"/>
                  </a:cubicBezTo>
                  <a:cubicBezTo>
                    <a:pt x="680" y="500"/>
                    <a:pt x="658" y="498"/>
                    <a:pt x="658" y="498"/>
                  </a:cubicBezTo>
                  <a:cubicBezTo>
                    <a:pt x="641" y="502"/>
                    <a:pt x="641" y="502"/>
                    <a:pt x="641" y="502"/>
                  </a:cubicBezTo>
                  <a:cubicBezTo>
                    <a:pt x="649" y="494"/>
                    <a:pt x="649" y="494"/>
                    <a:pt x="649" y="494"/>
                  </a:cubicBezTo>
                  <a:cubicBezTo>
                    <a:pt x="640" y="489"/>
                    <a:pt x="640" y="489"/>
                    <a:pt x="640" y="489"/>
                  </a:cubicBezTo>
                  <a:cubicBezTo>
                    <a:pt x="640" y="489"/>
                    <a:pt x="611" y="500"/>
                    <a:pt x="612" y="503"/>
                  </a:cubicBezTo>
                  <a:cubicBezTo>
                    <a:pt x="613" y="506"/>
                    <a:pt x="619" y="510"/>
                    <a:pt x="619" y="510"/>
                  </a:cubicBezTo>
                  <a:cubicBezTo>
                    <a:pt x="619" y="510"/>
                    <a:pt x="608" y="537"/>
                    <a:pt x="612" y="538"/>
                  </a:cubicBezTo>
                  <a:cubicBezTo>
                    <a:pt x="616" y="539"/>
                    <a:pt x="659" y="536"/>
                    <a:pt x="659" y="536"/>
                  </a:cubicBezTo>
                  <a:cubicBezTo>
                    <a:pt x="691" y="518"/>
                    <a:pt x="691" y="518"/>
                    <a:pt x="691" y="518"/>
                  </a:cubicBezTo>
                  <a:cubicBezTo>
                    <a:pt x="738" y="499"/>
                    <a:pt x="738" y="499"/>
                    <a:pt x="738" y="499"/>
                  </a:cubicBezTo>
                  <a:cubicBezTo>
                    <a:pt x="738" y="499"/>
                    <a:pt x="694" y="520"/>
                    <a:pt x="689" y="528"/>
                  </a:cubicBezTo>
                  <a:cubicBezTo>
                    <a:pt x="684" y="536"/>
                    <a:pt x="685" y="552"/>
                    <a:pt x="678" y="554"/>
                  </a:cubicBezTo>
                  <a:cubicBezTo>
                    <a:pt x="671" y="556"/>
                    <a:pt x="659" y="549"/>
                    <a:pt x="653" y="558"/>
                  </a:cubicBezTo>
                  <a:cubicBezTo>
                    <a:pt x="647" y="567"/>
                    <a:pt x="643" y="577"/>
                    <a:pt x="638" y="582"/>
                  </a:cubicBezTo>
                  <a:cubicBezTo>
                    <a:pt x="633" y="587"/>
                    <a:pt x="618" y="596"/>
                    <a:pt x="618" y="596"/>
                  </a:cubicBezTo>
                  <a:cubicBezTo>
                    <a:pt x="654" y="592"/>
                    <a:pt x="654" y="592"/>
                    <a:pt x="654" y="592"/>
                  </a:cubicBezTo>
                  <a:cubicBezTo>
                    <a:pt x="647" y="604"/>
                    <a:pt x="647" y="604"/>
                    <a:pt x="647" y="604"/>
                  </a:cubicBezTo>
                  <a:cubicBezTo>
                    <a:pt x="647" y="604"/>
                    <a:pt x="677" y="573"/>
                    <a:pt x="694" y="576"/>
                  </a:cubicBezTo>
                  <a:cubicBezTo>
                    <a:pt x="711" y="579"/>
                    <a:pt x="702" y="584"/>
                    <a:pt x="702" y="584"/>
                  </a:cubicBezTo>
                  <a:cubicBezTo>
                    <a:pt x="718" y="582"/>
                    <a:pt x="718" y="582"/>
                    <a:pt x="718" y="582"/>
                  </a:cubicBezTo>
                  <a:cubicBezTo>
                    <a:pt x="718" y="582"/>
                    <a:pt x="705" y="607"/>
                    <a:pt x="719" y="607"/>
                  </a:cubicBezTo>
                  <a:cubicBezTo>
                    <a:pt x="733" y="607"/>
                    <a:pt x="750" y="585"/>
                    <a:pt x="750" y="585"/>
                  </a:cubicBezTo>
                  <a:cubicBezTo>
                    <a:pt x="778" y="572"/>
                    <a:pt x="778" y="572"/>
                    <a:pt x="778" y="572"/>
                  </a:cubicBezTo>
                  <a:cubicBezTo>
                    <a:pt x="785" y="580"/>
                    <a:pt x="785" y="580"/>
                    <a:pt x="785" y="580"/>
                  </a:cubicBezTo>
                  <a:cubicBezTo>
                    <a:pt x="765" y="582"/>
                    <a:pt x="765" y="582"/>
                    <a:pt x="765" y="582"/>
                  </a:cubicBezTo>
                  <a:cubicBezTo>
                    <a:pt x="765" y="582"/>
                    <a:pt x="751" y="596"/>
                    <a:pt x="762" y="596"/>
                  </a:cubicBezTo>
                  <a:cubicBezTo>
                    <a:pt x="773" y="596"/>
                    <a:pt x="819" y="583"/>
                    <a:pt x="819" y="583"/>
                  </a:cubicBezTo>
                  <a:cubicBezTo>
                    <a:pt x="847" y="571"/>
                    <a:pt x="847" y="571"/>
                    <a:pt x="847" y="571"/>
                  </a:cubicBezTo>
                  <a:cubicBezTo>
                    <a:pt x="815" y="588"/>
                    <a:pt x="815" y="588"/>
                    <a:pt x="815" y="588"/>
                  </a:cubicBezTo>
                  <a:cubicBezTo>
                    <a:pt x="815" y="598"/>
                    <a:pt x="815" y="598"/>
                    <a:pt x="815" y="598"/>
                  </a:cubicBezTo>
                  <a:cubicBezTo>
                    <a:pt x="815" y="598"/>
                    <a:pt x="797" y="599"/>
                    <a:pt x="786" y="603"/>
                  </a:cubicBezTo>
                  <a:cubicBezTo>
                    <a:pt x="775" y="607"/>
                    <a:pt x="767" y="620"/>
                    <a:pt x="767" y="620"/>
                  </a:cubicBezTo>
                  <a:cubicBezTo>
                    <a:pt x="747" y="622"/>
                    <a:pt x="747" y="622"/>
                    <a:pt x="747" y="622"/>
                  </a:cubicBezTo>
                  <a:cubicBezTo>
                    <a:pt x="723" y="642"/>
                    <a:pt x="723" y="642"/>
                    <a:pt x="723" y="642"/>
                  </a:cubicBezTo>
                  <a:cubicBezTo>
                    <a:pt x="724" y="651"/>
                    <a:pt x="724" y="651"/>
                    <a:pt x="724" y="651"/>
                  </a:cubicBezTo>
                  <a:cubicBezTo>
                    <a:pt x="697" y="654"/>
                    <a:pt x="697" y="654"/>
                    <a:pt x="697" y="654"/>
                  </a:cubicBezTo>
                  <a:cubicBezTo>
                    <a:pt x="697" y="654"/>
                    <a:pt x="652" y="663"/>
                    <a:pt x="647" y="670"/>
                  </a:cubicBezTo>
                  <a:cubicBezTo>
                    <a:pt x="642" y="677"/>
                    <a:pt x="645" y="691"/>
                    <a:pt x="636" y="691"/>
                  </a:cubicBezTo>
                  <a:cubicBezTo>
                    <a:pt x="627" y="691"/>
                    <a:pt x="600" y="691"/>
                    <a:pt x="584" y="693"/>
                  </a:cubicBezTo>
                  <a:cubicBezTo>
                    <a:pt x="568" y="695"/>
                    <a:pt x="515" y="734"/>
                    <a:pt x="515" y="734"/>
                  </a:cubicBezTo>
                  <a:cubicBezTo>
                    <a:pt x="500" y="737"/>
                    <a:pt x="500" y="737"/>
                    <a:pt x="500" y="737"/>
                  </a:cubicBezTo>
                  <a:cubicBezTo>
                    <a:pt x="491" y="747"/>
                    <a:pt x="491" y="747"/>
                    <a:pt x="491" y="747"/>
                  </a:cubicBezTo>
                  <a:cubicBezTo>
                    <a:pt x="490" y="736"/>
                    <a:pt x="490" y="736"/>
                    <a:pt x="490" y="736"/>
                  </a:cubicBezTo>
                  <a:cubicBezTo>
                    <a:pt x="490" y="736"/>
                    <a:pt x="458" y="732"/>
                    <a:pt x="447" y="738"/>
                  </a:cubicBezTo>
                  <a:cubicBezTo>
                    <a:pt x="436" y="744"/>
                    <a:pt x="412" y="754"/>
                    <a:pt x="412" y="754"/>
                  </a:cubicBezTo>
                  <a:cubicBezTo>
                    <a:pt x="403" y="752"/>
                    <a:pt x="403" y="752"/>
                    <a:pt x="403" y="752"/>
                  </a:cubicBezTo>
                  <a:cubicBezTo>
                    <a:pt x="404" y="760"/>
                    <a:pt x="404" y="760"/>
                    <a:pt x="404" y="760"/>
                  </a:cubicBezTo>
                  <a:cubicBezTo>
                    <a:pt x="385" y="763"/>
                    <a:pt x="385" y="763"/>
                    <a:pt x="385" y="763"/>
                  </a:cubicBezTo>
                  <a:cubicBezTo>
                    <a:pt x="378" y="769"/>
                    <a:pt x="378" y="769"/>
                    <a:pt x="378" y="769"/>
                  </a:cubicBezTo>
                  <a:cubicBezTo>
                    <a:pt x="362" y="767"/>
                    <a:pt x="362" y="767"/>
                    <a:pt x="362" y="767"/>
                  </a:cubicBezTo>
                  <a:cubicBezTo>
                    <a:pt x="345" y="782"/>
                    <a:pt x="345" y="782"/>
                    <a:pt x="345" y="782"/>
                  </a:cubicBezTo>
                  <a:cubicBezTo>
                    <a:pt x="350" y="788"/>
                    <a:pt x="350" y="788"/>
                    <a:pt x="350" y="788"/>
                  </a:cubicBezTo>
                  <a:cubicBezTo>
                    <a:pt x="360" y="776"/>
                    <a:pt x="360" y="776"/>
                    <a:pt x="360" y="776"/>
                  </a:cubicBezTo>
                  <a:cubicBezTo>
                    <a:pt x="373" y="783"/>
                    <a:pt x="373" y="783"/>
                    <a:pt x="373" y="783"/>
                  </a:cubicBezTo>
                  <a:cubicBezTo>
                    <a:pt x="387" y="771"/>
                    <a:pt x="387" y="771"/>
                    <a:pt x="387" y="771"/>
                  </a:cubicBezTo>
                  <a:cubicBezTo>
                    <a:pt x="388" y="779"/>
                    <a:pt x="388" y="779"/>
                    <a:pt x="388" y="779"/>
                  </a:cubicBezTo>
                  <a:cubicBezTo>
                    <a:pt x="388" y="779"/>
                    <a:pt x="409" y="778"/>
                    <a:pt x="417" y="771"/>
                  </a:cubicBezTo>
                  <a:cubicBezTo>
                    <a:pt x="425" y="764"/>
                    <a:pt x="441" y="750"/>
                    <a:pt x="450" y="748"/>
                  </a:cubicBezTo>
                  <a:cubicBezTo>
                    <a:pt x="459" y="746"/>
                    <a:pt x="451" y="762"/>
                    <a:pt x="464" y="762"/>
                  </a:cubicBezTo>
                  <a:cubicBezTo>
                    <a:pt x="477" y="762"/>
                    <a:pt x="514" y="746"/>
                    <a:pt x="514" y="746"/>
                  </a:cubicBezTo>
                  <a:cubicBezTo>
                    <a:pt x="536" y="752"/>
                    <a:pt x="536" y="752"/>
                    <a:pt x="536" y="752"/>
                  </a:cubicBezTo>
                  <a:cubicBezTo>
                    <a:pt x="548" y="740"/>
                    <a:pt x="548" y="740"/>
                    <a:pt x="548" y="740"/>
                  </a:cubicBezTo>
                  <a:cubicBezTo>
                    <a:pt x="548" y="740"/>
                    <a:pt x="585" y="738"/>
                    <a:pt x="596" y="729"/>
                  </a:cubicBezTo>
                  <a:cubicBezTo>
                    <a:pt x="607" y="720"/>
                    <a:pt x="619" y="706"/>
                    <a:pt x="628" y="705"/>
                  </a:cubicBezTo>
                  <a:cubicBezTo>
                    <a:pt x="637" y="704"/>
                    <a:pt x="649" y="704"/>
                    <a:pt x="649" y="704"/>
                  </a:cubicBezTo>
                  <a:cubicBezTo>
                    <a:pt x="653" y="697"/>
                    <a:pt x="653" y="697"/>
                    <a:pt x="653" y="697"/>
                  </a:cubicBezTo>
                  <a:cubicBezTo>
                    <a:pt x="677" y="697"/>
                    <a:pt x="677" y="697"/>
                    <a:pt x="677" y="697"/>
                  </a:cubicBezTo>
                  <a:cubicBezTo>
                    <a:pt x="684" y="691"/>
                    <a:pt x="684" y="691"/>
                    <a:pt x="684" y="691"/>
                  </a:cubicBezTo>
                  <a:cubicBezTo>
                    <a:pt x="684" y="691"/>
                    <a:pt x="717" y="684"/>
                    <a:pt x="732" y="677"/>
                  </a:cubicBezTo>
                  <a:cubicBezTo>
                    <a:pt x="747" y="670"/>
                    <a:pt x="762" y="656"/>
                    <a:pt x="762" y="656"/>
                  </a:cubicBezTo>
                  <a:cubicBezTo>
                    <a:pt x="803" y="650"/>
                    <a:pt x="803" y="650"/>
                    <a:pt x="803" y="650"/>
                  </a:cubicBezTo>
                  <a:cubicBezTo>
                    <a:pt x="841" y="628"/>
                    <a:pt x="841" y="628"/>
                    <a:pt x="841" y="628"/>
                  </a:cubicBezTo>
                  <a:cubicBezTo>
                    <a:pt x="841" y="628"/>
                    <a:pt x="885" y="627"/>
                    <a:pt x="892" y="620"/>
                  </a:cubicBezTo>
                  <a:cubicBezTo>
                    <a:pt x="899" y="613"/>
                    <a:pt x="912" y="601"/>
                    <a:pt x="912" y="601"/>
                  </a:cubicBezTo>
                  <a:cubicBezTo>
                    <a:pt x="912" y="601"/>
                    <a:pt x="954" y="594"/>
                    <a:pt x="958" y="586"/>
                  </a:cubicBezTo>
                  <a:cubicBezTo>
                    <a:pt x="962" y="578"/>
                    <a:pt x="947" y="578"/>
                    <a:pt x="947" y="578"/>
                  </a:cubicBezTo>
                  <a:cubicBezTo>
                    <a:pt x="947" y="578"/>
                    <a:pt x="970" y="562"/>
                    <a:pt x="979" y="557"/>
                  </a:cubicBezTo>
                  <a:cubicBezTo>
                    <a:pt x="988" y="552"/>
                    <a:pt x="1015" y="545"/>
                    <a:pt x="1015" y="545"/>
                  </a:cubicBezTo>
                  <a:cubicBezTo>
                    <a:pt x="1066" y="526"/>
                    <a:pt x="1066" y="526"/>
                    <a:pt x="1066" y="526"/>
                  </a:cubicBezTo>
                  <a:cubicBezTo>
                    <a:pt x="1060" y="513"/>
                    <a:pt x="1060" y="513"/>
                    <a:pt x="1060" y="513"/>
                  </a:cubicBezTo>
                  <a:cubicBezTo>
                    <a:pt x="1060" y="513"/>
                    <a:pt x="1083" y="519"/>
                    <a:pt x="1090" y="514"/>
                  </a:cubicBezTo>
                  <a:cubicBezTo>
                    <a:pt x="1097" y="509"/>
                    <a:pt x="1130" y="494"/>
                    <a:pt x="1130" y="494"/>
                  </a:cubicBezTo>
                  <a:cubicBezTo>
                    <a:pt x="1130" y="494"/>
                    <a:pt x="1188" y="470"/>
                    <a:pt x="1196" y="467"/>
                  </a:cubicBezTo>
                  <a:cubicBezTo>
                    <a:pt x="1204" y="464"/>
                    <a:pt x="1234" y="485"/>
                    <a:pt x="1234" y="485"/>
                  </a:cubicBezTo>
                  <a:cubicBezTo>
                    <a:pt x="1210" y="485"/>
                    <a:pt x="1210" y="485"/>
                    <a:pt x="1210" y="485"/>
                  </a:cubicBezTo>
                  <a:cubicBezTo>
                    <a:pt x="1197" y="477"/>
                    <a:pt x="1197" y="477"/>
                    <a:pt x="1197" y="477"/>
                  </a:cubicBezTo>
                  <a:cubicBezTo>
                    <a:pt x="1174" y="493"/>
                    <a:pt x="1174" y="493"/>
                    <a:pt x="1174" y="493"/>
                  </a:cubicBezTo>
                  <a:cubicBezTo>
                    <a:pt x="1151" y="493"/>
                    <a:pt x="1151" y="493"/>
                    <a:pt x="1151" y="493"/>
                  </a:cubicBezTo>
                  <a:cubicBezTo>
                    <a:pt x="1151" y="493"/>
                    <a:pt x="1128" y="515"/>
                    <a:pt x="1119" y="518"/>
                  </a:cubicBezTo>
                  <a:cubicBezTo>
                    <a:pt x="1110" y="521"/>
                    <a:pt x="1071" y="527"/>
                    <a:pt x="1075" y="536"/>
                  </a:cubicBezTo>
                  <a:cubicBezTo>
                    <a:pt x="1079" y="545"/>
                    <a:pt x="1099" y="544"/>
                    <a:pt x="1099" y="544"/>
                  </a:cubicBezTo>
                  <a:cubicBezTo>
                    <a:pt x="1099" y="544"/>
                    <a:pt x="1079" y="552"/>
                    <a:pt x="1075" y="552"/>
                  </a:cubicBezTo>
                  <a:cubicBezTo>
                    <a:pt x="1071" y="552"/>
                    <a:pt x="1042" y="551"/>
                    <a:pt x="1042" y="557"/>
                  </a:cubicBezTo>
                  <a:cubicBezTo>
                    <a:pt x="1042" y="563"/>
                    <a:pt x="1045" y="576"/>
                    <a:pt x="1065" y="568"/>
                  </a:cubicBezTo>
                  <a:cubicBezTo>
                    <a:pt x="1085" y="560"/>
                    <a:pt x="1129" y="536"/>
                    <a:pt x="1147" y="532"/>
                  </a:cubicBezTo>
                  <a:cubicBezTo>
                    <a:pt x="1165" y="528"/>
                    <a:pt x="1197" y="537"/>
                    <a:pt x="1211" y="530"/>
                  </a:cubicBezTo>
                  <a:cubicBezTo>
                    <a:pt x="1225" y="523"/>
                    <a:pt x="1247" y="502"/>
                    <a:pt x="1247" y="502"/>
                  </a:cubicBezTo>
                  <a:cubicBezTo>
                    <a:pt x="1245" y="492"/>
                    <a:pt x="1245" y="492"/>
                    <a:pt x="1245" y="492"/>
                  </a:cubicBezTo>
                  <a:cubicBezTo>
                    <a:pt x="1245" y="492"/>
                    <a:pt x="1299" y="471"/>
                    <a:pt x="1309" y="472"/>
                  </a:cubicBezTo>
                  <a:cubicBezTo>
                    <a:pt x="1319" y="473"/>
                    <a:pt x="1322" y="483"/>
                    <a:pt x="1322" y="483"/>
                  </a:cubicBezTo>
                  <a:cubicBezTo>
                    <a:pt x="1364" y="470"/>
                    <a:pt x="1364" y="470"/>
                    <a:pt x="1364" y="470"/>
                  </a:cubicBezTo>
                  <a:cubicBezTo>
                    <a:pt x="1336" y="492"/>
                    <a:pt x="1336" y="492"/>
                    <a:pt x="1336" y="492"/>
                  </a:cubicBezTo>
                  <a:cubicBezTo>
                    <a:pt x="1350" y="498"/>
                    <a:pt x="1350" y="498"/>
                    <a:pt x="1350" y="498"/>
                  </a:cubicBezTo>
                  <a:cubicBezTo>
                    <a:pt x="1350" y="498"/>
                    <a:pt x="1346" y="510"/>
                    <a:pt x="1350" y="510"/>
                  </a:cubicBezTo>
                  <a:cubicBezTo>
                    <a:pt x="1354" y="510"/>
                    <a:pt x="1395" y="485"/>
                    <a:pt x="1395" y="485"/>
                  </a:cubicBezTo>
                  <a:cubicBezTo>
                    <a:pt x="1395" y="485"/>
                    <a:pt x="1356" y="515"/>
                    <a:pt x="1367" y="520"/>
                  </a:cubicBezTo>
                  <a:cubicBezTo>
                    <a:pt x="1378" y="525"/>
                    <a:pt x="1406" y="526"/>
                    <a:pt x="1406" y="526"/>
                  </a:cubicBezTo>
                  <a:cubicBezTo>
                    <a:pt x="1472" y="532"/>
                    <a:pt x="1472" y="532"/>
                    <a:pt x="1472" y="532"/>
                  </a:cubicBezTo>
                  <a:cubicBezTo>
                    <a:pt x="1493" y="519"/>
                    <a:pt x="1493" y="519"/>
                    <a:pt x="1493" y="519"/>
                  </a:cubicBezTo>
                  <a:cubicBezTo>
                    <a:pt x="1493" y="519"/>
                    <a:pt x="1480" y="541"/>
                    <a:pt x="1491" y="542"/>
                  </a:cubicBezTo>
                  <a:cubicBezTo>
                    <a:pt x="1502" y="543"/>
                    <a:pt x="1534" y="541"/>
                    <a:pt x="1534" y="541"/>
                  </a:cubicBezTo>
                  <a:cubicBezTo>
                    <a:pt x="1556" y="535"/>
                    <a:pt x="1556" y="535"/>
                    <a:pt x="1556" y="535"/>
                  </a:cubicBezTo>
                  <a:cubicBezTo>
                    <a:pt x="1556" y="535"/>
                    <a:pt x="1517" y="549"/>
                    <a:pt x="1520" y="557"/>
                  </a:cubicBezTo>
                  <a:cubicBezTo>
                    <a:pt x="1523" y="565"/>
                    <a:pt x="1541" y="573"/>
                    <a:pt x="1541" y="573"/>
                  </a:cubicBezTo>
                  <a:cubicBezTo>
                    <a:pt x="1541" y="573"/>
                    <a:pt x="1539" y="609"/>
                    <a:pt x="1551" y="609"/>
                  </a:cubicBezTo>
                  <a:cubicBezTo>
                    <a:pt x="1563" y="609"/>
                    <a:pt x="1594" y="606"/>
                    <a:pt x="1594" y="606"/>
                  </a:cubicBezTo>
                  <a:cubicBezTo>
                    <a:pt x="1587" y="585"/>
                    <a:pt x="1587" y="585"/>
                    <a:pt x="1587" y="585"/>
                  </a:cubicBezTo>
                  <a:cubicBezTo>
                    <a:pt x="1601" y="580"/>
                    <a:pt x="1601" y="580"/>
                    <a:pt x="1601" y="580"/>
                  </a:cubicBezTo>
                  <a:cubicBezTo>
                    <a:pt x="1610" y="591"/>
                    <a:pt x="1610" y="591"/>
                    <a:pt x="1610" y="591"/>
                  </a:cubicBezTo>
                  <a:cubicBezTo>
                    <a:pt x="1630" y="585"/>
                    <a:pt x="1630" y="585"/>
                    <a:pt x="1630" y="585"/>
                  </a:cubicBezTo>
                  <a:cubicBezTo>
                    <a:pt x="1630" y="585"/>
                    <a:pt x="1610" y="608"/>
                    <a:pt x="1621" y="612"/>
                  </a:cubicBezTo>
                  <a:cubicBezTo>
                    <a:pt x="1632" y="616"/>
                    <a:pt x="1650" y="586"/>
                    <a:pt x="1650" y="586"/>
                  </a:cubicBezTo>
                  <a:cubicBezTo>
                    <a:pt x="1670" y="557"/>
                    <a:pt x="1670" y="557"/>
                    <a:pt x="1670" y="557"/>
                  </a:cubicBezTo>
                  <a:cubicBezTo>
                    <a:pt x="1652" y="599"/>
                    <a:pt x="1652" y="599"/>
                    <a:pt x="1652" y="599"/>
                  </a:cubicBezTo>
                  <a:cubicBezTo>
                    <a:pt x="1656" y="615"/>
                    <a:pt x="1656" y="615"/>
                    <a:pt x="1656" y="615"/>
                  </a:cubicBezTo>
                  <a:cubicBezTo>
                    <a:pt x="1679" y="607"/>
                    <a:pt x="1679" y="607"/>
                    <a:pt x="1679" y="607"/>
                  </a:cubicBezTo>
                  <a:cubicBezTo>
                    <a:pt x="1664" y="623"/>
                    <a:pt x="1664" y="623"/>
                    <a:pt x="1664" y="623"/>
                  </a:cubicBezTo>
                  <a:cubicBezTo>
                    <a:pt x="1681" y="638"/>
                    <a:pt x="1681" y="638"/>
                    <a:pt x="1681" y="638"/>
                  </a:cubicBezTo>
                  <a:cubicBezTo>
                    <a:pt x="1669" y="635"/>
                    <a:pt x="1669" y="635"/>
                    <a:pt x="1669" y="635"/>
                  </a:cubicBezTo>
                  <a:cubicBezTo>
                    <a:pt x="1667" y="647"/>
                    <a:pt x="1667" y="647"/>
                    <a:pt x="1667" y="647"/>
                  </a:cubicBezTo>
                  <a:cubicBezTo>
                    <a:pt x="1648" y="660"/>
                    <a:pt x="1648" y="660"/>
                    <a:pt x="1648" y="660"/>
                  </a:cubicBezTo>
                  <a:cubicBezTo>
                    <a:pt x="1636" y="670"/>
                    <a:pt x="1636" y="670"/>
                    <a:pt x="1636" y="670"/>
                  </a:cubicBezTo>
                  <a:cubicBezTo>
                    <a:pt x="1657" y="681"/>
                    <a:pt x="1657" y="681"/>
                    <a:pt x="1657" y="681"/>
                  </a:cubicBezTo>
                  <a:cubicBezTo>
                    <a:pt x="1654" y="702"/>
                    <a:pt x="1654" y="702"/>
                    <a:pt x="1654" y="702"/>
                  </a:cubicBezTo>
                  <a:cubicBezTo>
                    <a:pt x="1642" y="714"/>
                    <a:pt x="1642" y="714"/>
                    <a:pt x="1642" y="714"/>
                  </a:cubicBezTo>
                  <a:cubicBezTo>
                    <a:pt x="1654" y="719"/>
                    <a:pt x="1654" y="719"/>
                    <a:pt x="1654" y="719"/>
                  </a:cubicBezTo>
                  <a:cubicBezTo>
                    <a:pt x="1639" y="733"/>
                    <a:pt x="1639" y="733"/>
                    <a:pt x="1639" y="733"/>
                  </a:cubicBezTo>
                  <a:cubicBezTo>
                    <a:pt x="1660" y="733"/>
                    <a:pt x="1660" y="733"/>
                    <a:pt x="1660" y="733"/>
                  </a:cubicBezTo>
                  <a:cubicBezTo>
                    <a:pt x="1685" y="724"/>
                    <a:pt x="1685" y="724"/>
                    <a:pt x="1685" y="724"/>
                  </a:cubicBezTo>
                  <a:cubicBezTo>
                    <a:pt x="1663" y="750"/>
                    <a:pt x="1663" y="750"/>
                    <a:pt x="1663" y="750"/>
                  </a:cubicBezTo>
                  <a:cubicBezTo>
                    <a:pt x="1652" y="760"/>
                    <a:pt x="1652" y="760"/>
                    <a:pt x="1652" y="760"/>
                  </a:cubicBezTo>
                  <a:cubicBezTo>
                    <a:pt x="1667" y="765"/>
                    <a:pt x="1667" y="765"/>
                    <a:pt x="1667" y="765"/>
                  </a:cubicBezTo>
                  <a:cubicBezTo>
                    <a:pt x="1637" y="777"/>
                    <a:pt x="1637" y="777"/>
                    <a:pt x="1637" y="777"/>
                  </a:cubicBezTo>
                  <a:cubicBezTo>
                    <a:pt x="1623" y="785"/>
                    <a:pt x="1623" y="785"/>
                    <a:pt x="1623" y="785"/>
                  </a:cubicBezTo>
                  <a:cubicBezTo>
                    <a:pt x="1637" y="791"/>
                    <a:pt x="1637" y="791"/>
                    <a:pt x="1637" y="791"/>
                  </a:cubicBezTo>
                  <a:cubicBezTo>
                    <a:pt x="1637" y="791"/>
                    <a:pt x="1636" y="794"/>
                    <a:pt x="1634" y="798"/>
                  </a:cubicBezTo>
                  <a:cubicBezTo>
                    <a:pt x="1655" y="788"/>
                    <a:pt x="1676" y="777"/>
                    <a:pt x="1680" y="773"/>
                  </a:cubicBezTo>
                  <a:cubicBezTo>
                    <a:pt x="1690" y="763"/>
                    <a:pt x="1690" y="747"/>
                    <a:pt x="1690" y="747"/>
                  </a:cubicBezTo>
                  <a:cubicBezTo>
                    <a:pt x="1690" y="747"/>
                    <a:pt x="1717" y="736"/>
                    <a:pt x="1717" y="728"/>
                  </a:cubicBezTo>
                  <a:cubicBezTo>
                    <a:pt x="1717" y="720"/>
                    <a:pt x="1707" y="721"/>
                    <a:pt x="1707" y="721"/>
                  </a:cubicBezTo>
                  <a:close/>
                  <a:moveTo>
                    <a:pt x="1598" y="704"/>
                  </a:moveTo>
                  <a:cubicBezTo>
                    <a:pt x="1604" y="718"/>
                    <a:pt x="1624" y="696"/>
                    <a:pt x="1624" y="696"/>
                  </a:cubicBezTo>
                  <a:cubicBezTo>
                    <a:pt x="1639" y="692"/>
                    <a:pt x="1639" y="692"/>
                    <a:pt x="1639" y="692"/>
                  </a:cubicBezTo>
                  <a:cubicBezTo>
                    <a:pt x="1638" y="682"/>
                    <a:pt x="1638" y="682"/>
                    <a:pt x="1638" y="682"/>
                  </a:cubicBezTo>
                  <a:cubicBezTo>
                    <a:pt x="1620" y="679"/>
                    <a:pt x="1620" y="679"/>
                    <a:pt x="1620" y="679"/>
                  </a:cubicBezTo>
                  <a:cubicBezTo>
                    <a:pt x="1620" y="679"/>
                    <a:pt x="1595" y="697"/>
                    <a:pt x="1598" y="704"/>
                  </a:cubicBezTo>
                  <a:close/>
                  <a:moveTo>
                    <a:pt x="1583" y="656"/>
                  </a:moveTo>
                  <a:cubicBezTo>
                    <a:pt x="1576" y="653"/>
                    <a:pt x="1559" y="664"/>
                    <a:pt x="1558" y="670"/>
                  </a:cubicBezTo>
                  <a:cubicBezTo>
                    <a:pt x="1557" y="676"/>
                    <a:pt x="1550" y="689"/>
                    <a:pt x="1550" y="689"/>
                  </a:cubicBezTo>
                  <a:cubicBezTo>
                    <a:pt x="1549" y="698"/>
                    <a:pt x="1549" y="698"/>
                    <a:pt x="1549" y="698"/>
                  </a:cubicBezTo>
                  <a:cubicBezTo>
                    <a:pt x="1549" y="698"/>
                    <a:pt x="1541" y="702"/>
                    <a:pt x="1540" y="709"/>
                  </a:cubicBezTo>
                  <a:cubicBezTo>
                    <a:pt x="1539" y="716"/>
                    <a:pt x="1546" y="720"/>
                    <a:pt x="1546" y="720"/>
                  </a:cubicBezTo>
                  <a:cubicBezTo>
                    <a:pt x="1546" y="720"/>
                    <a:pt x="1559" y="700"/>
                    <a:pt x="1576" y="687"/>
                  </a:cubicBezTo>
                  <a:cubicBezTo>
                    <a:pt x="1593" y="674"/>
                    <a:pt x="1590" y="659"/>
                    <a:pt x="1583" y="656"/>
                  </a:cubicBezTo>
                  <a:close/>
                  <a:moveTo>
                    <a:pt x="525" y="542"/>
                  </a:moveTo>
                  <a:cubicBezTo>
                    <a:pt x="547" y="540"/>
                    <a:pt x="594" y="519"/>
                    <a:pt x="578" y="515"/>
                  </a:cubicBezTo>
                  <a:cubicBezTo>
                    <a:pt x="561" y="510"/>
                    <a:pt x="539" y="507"/>
                    <a:pt x="533" y="513"/>
                  </a:cubicBezTo>
                  <a:cubicBezTo>
                    <a:pt x="527" y="519"/>
                    <a:pt x="514" y="506"/>
                    <a:pt x="510" y="517"/>
                  </a:cubicBezTo>
                  <a:cubicBezTo>
                    <a:pt x="507" y="528"/>
                    <a:pt x="513" y="543"/>
                    <a:pt x="525" y="542"/>
                  </a:cubicBezTo>
                  <a:close/>
                  <a:moveTo>
                    <a:pt x="0" y="886"/>
                  </a:moveTo>
                  <a:cubicBezTo>
                    <a:pt x="41" y="880"/>
                    <a:pt x="41" y="880"/>
                    <a:pt x="41" y="880"/>
                  </a:cubicBezTo>
                  <a:cubicBezTo>
                    <a:pt x="49" y="869"/>
                    <a:pt x="49" y="869"/>
                    <a:pt x="49" y="869"/>
                  </a:cubicBezTo>
                  <a:cubicBezTo>
                    <a:pt x="90" y="863"/>
                    <a:pt x="90" y="863"/>
                    <a:pt x="90" y="863"/>
                  </a:cubicBezTo>
                  <a:cubicBezTo>
                    <a:pt x="76" y="849"/>
                    <a:pt x="76" y="849"/>
                    <a:pt x="76" y="849"/>
                  </a:cubicBezTo>
                  <a:lnTo>
                    <a:pt x="0" y="886"/>
                  </a:lnTo>
                  <a:close/>
                  <a:moveTo>
                    <a:pt x="908" y="635"/>
                  </a:moveTo>
                  <a:cubicBezTo>
                    <a:pt x="905" y="636"/>
                    <a:pt x="892" y="641"/>
                    <a:pt x="892" y="641"/>
                  </a:cubicBezTo>
                  <a:cubicBezTo>
                    <a:pt x="892" y="641"/>
                    <a:pt x="884" y="634"/>
                    <a:pt x="879" y="635"/>
                  </a:cubicBezTo>
                  <a:cubicBezTo>
                    <a:pt x="874" y="636"/>
                    <a:pt x="875" y="651"/>
                    <a:pt x="875" y="651"/>
                  </a:cubicBezTo>
                  <a:cubicBezTo>
                    <a:pt x="859" y="663"/>
                    <a:pt x="859" y="663"/>
                    <a:pt x="859" y="663"/>
                  </a:cubicBezTo>
                  <a:cubicBezTo>
                    <a:pt x="859" y="646"/>
                    <a:pt x="859" y="646"/>
                    <a:pt x="859" y="646"/>
                  </a:cubicBezTo>
                  <a:cubicBezTo>
                    <a:pt x="859" y="646"/>
                    <a:pt x="845" y="641"/>
                    <a:pt x="831" y="654"/>
                  </a:cubicBezTo>
                  <a:cubicBezTo>
                    <a:pt x="831" y="654"/>
                    <a:pt x="814" y="665"/>
                    <a:pt x="811" y="672"/>
                  </a:cubicBezTo>
                  <a:cubicBezTo>
                    <a:pt x="809" y="680"/>
                    <a:pt x="831" y="681"/>
                    <a:pt x="831" y="681"/>
                  </a:cubicBezTo>
                  <a:cubicBezTo>
                    <a:pt x="831" y="681"/>
                    <a:pt x="861" y="681"/>
                    <a:pt x="872" y="676"/>
                  </a:cubicBezTo>
                  <a:cubicBezTo>
                    <a:pt x="884" y="671"/>
                    <a:pt x="881" y="664"/>
                    <a:pt x="881" y="664"/>
                  </a:cubicBezTo>
                  <a:cubicBezTo>
                    <a:pt x="899" y="661"/>
                    <a:pt x="899" y="661"/>
                    <a:pt x="899" y="661"/>
                  </a:cubicBezTo>
                  <a:cubicBezTo>
                    <a:pt x="900" y="655"/>
                    <a:pt x="900" y="655"/>
                    <a:pt x="900" y="655"/>
                  </a:cubicBezTo>
                  <a:cubicBezTo>
                    <a:pt x="925" y="654"/>
                    <a:pt x="925" y="654"/>
                    <a:pt x="925" y="654"/>
                  </a:cubicBezTo>
                  <a:cubicBezTo>
                    <a:pt x="931" y="638"/>
                    <a:pt x="931" y="638"/>
                    <a:pt x="931" y="638"/>
                  </a:cubicBezTo>
                  <a:cubicBezTo>
                    <a:pt x="920" y="640"/>
                    <a:pt x="920" y="640"/>
                    <a:pt x="920" y="640"/>
                  </a:cubicBezTo>
                  <a:cubicBezTo>
                    <a:pt x="920" y="640"/>
                    <a:pt x="912" y="634"/>
                    <a:pt x="908" y="635"/>
                  </a:cubicBezTo>
                  <a:close/>
                  <a:moveTo>
                    <a:pt x="107" y="860"/>
                  </a:moveTo>
                  <a:cubicBezTo>
                    <a:pt x="135" y="859"/>
                    <a:pt x="135" y="859"/>
                    <a:pt x="135" y="859"/>
                  </a:cubicBezTo>
                  <a:cubicBezTo>
                    <a:pt x="161" y="840"/>
                    <a:pt x="161" y="840"/>
                    <a:pt x="161" y="840"/>
                  </a:cubicBezTo>
                  <a:cubicBezTo>
                    <a:pt x="152" y="829"/>
                    <a:pt x="152" y="829"/>
                    <a:pt x="152" y="829"/>
                  </a:cubicBezTo>
                  <a:lnTo>
                    <a:pt x="107" y="860"/>
                  </a:lnTo>
                  <a:close/>
                  <a:moveTo>
                    <a:pt x="1646" y="762"/>
                  </a:moveTo>
                  <a:cubicBezTo>
                    <a:pt x="1652" y="749"/>
                    <a:pt x="1637" y="734"/>
                    <a:pt x="1627" y="744"/>
                  </a:cubicBezTo>
                  <a:cubicBezTo>
                    <a:pt x="1617" y="754"/>
                    <a:pt x="1611" y="784"/>
                    <a:pt x="1611" y="784"/>
                  </a:cubicBezTo>
                  <a:cubicBezTo>
                    <a:pt x="1611" y="784"/>
                    <a:pt x="1624" y="773"/>
                    <a:pt x="1629" y="773"/>
                  </a:cubicBezTo>
                  <a:cubicBezTo>
                    <a:pt x="1634" y="773"/>
                    <a:pt x="1640" y="775"/>
                    <a:pt x="1646" y="762"/>
                  </a:cubicBezTo>
                  <a:close/>
                  <a:moveTo>
                    <a:pt x="953" y="609"/>
                  </a:moveTo>
                  <a:cubicBezTo>
                    <a:pt x="940" y="618"/>
                    <a:pt x="916" y="623"/>
                    <a:pt x="923" y="630"/>
                  </a:cubicBezTo>
                  <a:cubicBezTo>
                    <a:pt x="934" y="641"/>
                    <a:pt x="959" y="629"/>
                    <a:pt x="959" y="629"/>
                  </a:cubicBezTo>
                  <a:cubicBezTo>
                    <a:pt x="966" y="620"/>
                    <a:pt x="966" y="620"/>
                    <a:pt x="966" y="620"/>
                  </a:cubicBezTo>
                  <a:cubicBezTo>
                    <a:pt x="966" y="620"/>
                    <a:pt x="982" y="624"/>
                    <a:pt x="979" y="618"/>
                  </a:cubicBezTo>
                  <a:cubicBezTo>
                    <a:pt x="977" y="612"/>
                    <a:pt x="967" y="600"/>
                    <a:pt x="953" y="609"/>
                  </a:cubicBezTo>
                  <a:close/>
                  <a:moveTo>
                    <a:pt x="331" y="777"/>
                  </a:moveTo>
                  <a:cubicBezTo>
                    <a:pt x="319" y="777"/>
                    <a:pt x="290" y="788"/>
                    <a:pt x="290" y="788"/>
                  </a:cubicBezTo>
                  <a:cubicBezTo>
                    <a:pt x="290" y="788"/>
                    <a:pt x="253" y="802"/>
                    <a:pt x="254" y="809"/>
                  </a:cubicBezTo>
                  <a:cubicBezTo>
                    <a:pt x="256" y="818"/>
                    <a:pt x="270" y="812"/>
                    <a:pt x="289" y="806"/>
                  </a:cubicBezTo>
                  <a:cubicBezTo>
                    <a:pt x="308" y="799"/>
                    <a:pt x="328" y="809"/>
                    <a:pt x="335" y="803"/>
                  </a:cubicBezTo>
                  <a:cubicBezTo>
                    <a:pt x="342" y="797"/>
                    <a:pt x="344" y="777"/>
                    <a:pt x="331" y="777"/>
                  </a:cubicBezTo>
                  <a:close/>
                  <a:moveTo>
                    <a:pt x="219" y="828"/>
                  </a:moveTo>
                  <a:cubicBezTo>
                    <a:pt x="221" y="814"/>
                    <a:pt x="221" y="814"/>
                    <a:pt x="221" y="814"/>
                  </a:cubicBezTo>
                  <a:cubicBezTo>
                    <a:pt x="184" y="829"/>
                    <a:pt x="184" y="829"/>
                    <a:pt x="184" y="829"/>
                  </a:cubicBezTo>
                  <a:lnTo>
                    <a:pt x="219" y="828"/>
                  </a:ln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566" name="Freeform 358">
              <a:extLst>
                <a:ext uri="{FF2B5EF4-FFF2-40B4-BE49-F238E27FC236}">
                  <a16:creationId xmlns:a16="http://schemas.microsoft.com/office/drawing/2014/main" id="{06AC0D5E-EDE9-471B-8E1A-4DDE54E3D456}"/>
                </a:ext>
              </a:extLst>
            </p:cNvPr>
            <p:cNvSpPr>
              <a:spLocks noEditPoints="1"/>
            </p:cNvSpPr>
            <p:nvPr/>
          </p:nvSpPr>
          <p:spPr bwMode="gray">
            <a:xfrm>
              <a:off x="1089620" y="986861"/>
              <a:ext cx="1769704" cy="836457"/>
            </a:xfrm>
            <a:custGeom>
              <a:avLst/>
              <a:gdLst>
                <a:gd name="T0" fmla="*/ 2480 w 2609"/>
                <a:gd name="T1" fmla="*/ 201 h 1304"/>
                <a:gd name="T2" fmla="*/ 2188 w 2609"/>
                <a:gd name="T3" fmla="*/ 278 h 1304"/>
                <a:gd name="T4" fmla="*/ 2132 w 2609"/>
                <a:gd name="T5" fmla="*/ 324 h 1304"/>
                <a:gd name="T6" fmla="*/ 2049 w 2609"/>
                <a:gd name="T7" fmla="*/ 357 h 1304"/>
                <a:gd name="T8" fmla="*/ 1824 w 2609"/>
                <a:gd name="T9" fmla="*/ 413 h 1304"/>
                <a:gd name="T10" fmla="*/ 1906 w 2609"/>
                <a:gd name="T11" fmla="*/ 294 h 1304"/>
                <a:gd name="T12" fmla="*/ 1888 w 2609"/>
                <a:gd name="T13" fmla="*/ 211 h 1304"/>
                <a:gd name="T14" fmla="*/ 1909 w 2609"/>
                <a:gd name="T15" fmla="*/ 159 h 1304"/>
                <a:gd name="T16" fmla="*/ 1821 w 2609"/>
                <a:gd name="T17" fmla="*/ 151 h 1304"/>
                <a:gd name="T18" fmla="*/ 1700 w 2609"/>
                <a:gd name="T19" fmla="*/ 142 h 1304"/>
                <a:gd name="T20" fmla="*/ 1667 w 2609"/>
                <a:gd name="T21" fmla="*/ 101 h 1304"/>
                <a:gd name="T22" fmla="*/ 1627 w 2609"/>
                <a:gd name="T23" fmla="*/ 67 h 1304"/>
                <a:gd name="T24" fmla="*/ 1510 w 2609"/>
                <a:gd name="T25" fmla="*/ 35 h 1304"/>
                <a:gd name="T26" fmla="*/ 292 w 2609"/>
                <a:gd name="T27" fmla="*/ 130 h 1304"/>
                <a:gd name="T28" fmla="*/ 255 w 2609"/>
                <a:gd name="T29" fmla="*/ 78 h 1304"/>
                <a:gd name="T30" fmla="*/ 250 w 2609"/>
                <a:gd name="T31" fmla="*/ 177 h 1304"/>
                <a:gd name="T32" fmla="*/ 66 w 2609"/>
                <a:gd name="T33" fmla="*/ 387 h 1304"/>
                <a:gd name="T34" fmla="*/ 29 w 2609"/>
                <a:gd name="T35" fmla="*/ 605 h 1304"/>
                <a:gd name="T36" fmla="*/ 20 w 2609"/>
                <a:gd name="T37" fmla="*/ 688 h 1304"/>
                <a:gd name="T38" fmla="*/ 108 w 2609"/>
                <a:gd name="T39" fmla="*/ 822 h 1304"/>
                <a:gd name="T40" fmla="*/ 380 w 2609"/>
                <a:gd name="T41" fmla="*/ 973 h 1304"/>
                <a:gd name="T42" fmla="*/ 625 w 2609"/>
                <a:gd name="T43" fmla="*/ 975 h 1304"/>
                <a:gd name="T44" fmla="*/ 756 w 2609"/>
                <a:gd name="T45" fmla="*/ 1047 h 1304"/>
                <a:gd name="T46" fmla="*/ 851 w 2609"/>
                <a:gd name="T47" fmla="*/ 1169 h 1304"/>
                <a:gd name="T48" fmla="*/ 914 w 2609"/>
                <a:gd name="T49" fmla="*/ 1254 h 1304"/>
                <a:gd name="T50" fmla="*/ 950 w 2609"/>
                <a:gd name="T51" fmla="*/ 1180 h 1304"/>
                <a:gd name="T52" fmla="*/ 999 w 2609"/>
                <a:gd name="T53" fmla="*/ 1128 h 1304"/>
                <a:gd name="T54" fmla="*/ 1143 w 2609"/>
                <a:gd name="T55" fmla="*/ 1040 h 1304"/>
                <a:gd name="T56" fmla="*/ 1288 w 2609"/>
                <a:gd name="T57" fmla="*/ 1079 h 1304"/>
                <a:gd name="T58" fmla="*/ 1354 w 2609"/>
                <a:gd name="T59" fmla="*/ 1087 h 1304"/>
                <a:gd name="T60" fmla="*/ 1365 w 2609"/>
                <a:gd name="T61" fmla="*/ 1024 h 1304"/>
                <a:gd name="T62" fmla="*/ 1487 w 2609"/>
                <a:gd name="T63" fmla="*/ 1024 h 1304"/>
                <a:gd name="T64" fmla="*/ 1616 w 2609"/>
                <a:gd name="T65" fmla="*/ 1079 h 1304"/>
                <a:gd name="T66" fmla="*/ 1634 w 2609"/>
                <a:gd name="T67" fmla="*/ 1212 h 1304"/>
                <a:gd name="T68" fmla="*/ 1681 w 2609"/>
                <a:gd name="T69" fmla="*/ 1304 h 1304"/>
                <a:gd name="T70" fmla="*/ 1730 w 2609"/>
                <a:gd name="T71" fmla="*/ 1112 h 1304"/>
                <a:gd name="T72" fmla="*/ 1780 w 2609"/>
                <a:gd name="T73" fmla="*/ 919 h 1304"/>
                <a:gd name="T74" fmla="*/ 1864 w 2609"/>
                <a:gd name="T75" fmla="*/ 859 h 1304"/>
                <a:gd name="T76" fmla="*/ 2013 w 2609"/>
                <a:gd name="T77" fmla="*/ 773 h 1304"/>
                <a:gd name="T78" fmla="*/ 2015 w 2609"/>
                <a:gd name="T79" fmla="*/ 726 h 1304"/>
                <a:gd name="T80" fmla="*/ 2016 w 2609"/>
                <a:gd name="T81" fmla="*/ 647 h 1304"/>
                <a:gd name="T82" fmla="*/ 2025 w 2609"/>
                <a:gd name="T83" fmla="*/ 586 h 1304"/>
                <a:gd name="T84" fmla="*/ 2077 w 2609"/>
                <a:gd name="T85" fmla="*/ 596 h 1304"/>
                <a:gd name="T86" fmla="*/ 2136 w 2609"/>
                <a:gd name="T87" fmla="*/ 513 h 1304"/>
                <a:gd name="T88" fmla="*/ 2240 w 2609"/>
                <a:gd name="T89" fmla="*/ 475 h 1304"/>
                <a:gd name="T90" fmla="*/ 2355 w 2609"/>
                <a:gd name="T91" fmla="*/ 411 h 1304"/>
                <a:gd name="T92" fmla="*/ 2409 w 2609"/>
                <a:gd name="T93" fmla="*/ 388 h 1304"/>
                <a:gd name="T94" fmla="*/ 2423 w 2609"/>
                <a:gd name="T95" fmla="*/ 324 h 1304"/>
                <a:gd name="T96" fmla="*/ 2556 w 2609"/>
                <a:gd name="T97" fmla="*/ 260 h 1304"/>
                <a:gd name="T98" fmla="*/ 2582 w 2609"/>
                <a:gd name="T99" fmla="*/ 202 h 1304"/>
                <a:gd name="T100" fmla="*/ 1784 w 2609"/>
                <a:gd name="T101" fmla="*/ 255 h 1304"/>
                <a:gd name="T102" fmla="*/ 1734 w 2609"/>
                <a:gd name="T103" fmla="*/ 342 h 1304"/>
                <a:gd name="T104" fmla="*/ 1687 w 2609"/>
                <a:gd name="T105" fmla="*/ 307 h 1304"/>
                <a:gd name="T106" fmla="*/ 1772 w 2609"/>
                <a:gd name="T107" fmla="*/ 194 h 1304"/>
                <a:gd name="T108" fmla="*/ 1862 w 2609"/>
                <a:gd name="T109" fmla="*/ 199 h 13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609" h="1304">
                  <a:moveTo>
                    <a:pt x="2570" y="119"/>
                  </a:moveTo>
                  <a:cubicBezTo>
                    <a:pt x="2558" y="119"/>
                    <a:pt x="2567" y="110"/>
                    <a:pt x="2554" y="110"/>
                  </a:cubicBezTo>
                  <a:cubicBezTo>
                    <a:pt x="2541" y="110"/>
                    <a:pt x="2530" y="131"/>
                    <a:pt x="2530" y="131"/>
                  </a:cubicBezTo>
                  <a:cubicBezTo>
                    <a:pt x="2503" y="150"/>
                    <a:pt x="2503" y="150"/>
                    <a:pt x="2503" y="150"/>
                  </a:cubicBezTo>
                  <a:cubicBezTo>
                    <a:pt x="2503" y="164"/>
                    <a:pt x="2503" y="164"/>
                    <a:pt x="2503" y="164"/>
                  </a:cubicBezTo>
                  <a:cubicBezTo>
                    <a:pt x="2503" y="164"/>
                    <a:pt x="2495" y="172"/>
                    <a:pt x="2489" y="172"/>
                  </a:cubicBezTo>
                  <a:cubicBezTo>
                    <a:pt x="2483" y="172"/>
                    <a:pt x="2480" y="194"/>
                    <a:pt x="2480" y="201"/>
                  </a:cubicBezTo>
                  <a:cubicBezTo>
                    <a:pt x="2480" y="208"/>
                    <a:pt x="2473" y="201"/>
                    <a:pt x="2463" y="201"/>
                  </a:cubicBezTo>
                  <a:cubicBezTo>
                    <a:pt x="2454" y="201"/>
                    <a:pt x="2443" y="222"/>
                    <a:pt x="2443" y="222"/>
                  </a:cubicBezTo>
                  <a:cubicBezTo>
                    <a:pt x="2443" y="222"/>
                    <a:pt x="2435" y="223"/>
                    <a:pt x="2423" y="223"/>
                  </a:cubicBezTo>
                  <a:cubicBezTo>
                    <a:pt x="2411" y="223"/>
                    <a:pt x="2411" y="238"/>
                    <a:pt x="2411" y="238"/>
                  </a:cubicBezTo>
                  <a:cubicBezTo>
                    <a:pt x="2411" y="238"/>
                    <a:pt x="2280" y="238"/>
                    <a:pt x="2263" y="238"/>
                  </a:cubicBezTo>
                  <a:cubicBezTo>
                    <a:pt x="2246" y="238"/>
                    <a:pt x="2212" y="276"/>
                    <a:pt x="2204" y="276"/>
                  </a:cubicBezTo>
                  <a:cubicBezTo>
                    <a:pt x="2196" y="276"/>
                    <a:pt x="2194" y="278"/>
                    <a:pt x="2188" y="278"/>
                  </a:cubicBezTo>
                  <a:cubicBezTo>
                    <a:pt x="2187" y="278"/>
                    <a:pt x="2185" y="279"/>
                    <a:pt x="2183" y="280"/>
                  </a:cubicBezTo>
                  <a:cubicBezTo>
                    <a:pt x="2188" y="285"/>
                    <a:pt x="2189" y="291"/>
                    <a:pt x="2189" y="291"/>
                  </a:cubicBezTo>
                  <a:cubicBezTo>
                    <a:pt x="2189" y="291"/>
                    <a:pt x="2188" y="299"/>
                    <a:pt x="2181" y="305"/>
                  </a:cubicBezTo>
                  <a:cubicBezTo>
                    <a:pt x="2174" y="311"/>
                    <a:pt x="2174" y="321"/>
                    <a:pt x="2174" y="321"/>
                  </a:cubicBezTo>
                  <a:cubicBezTo>
                    <a:pt x="2162" y="320"/>
                    <a:pt x="2162" y="320"/>
                    <a:pt x="2162" y="320"/>
                  </a:cubicBezTo>
                  <a:cubicBezTo>
                    <a:pt x="2162" y="320"/>
                    <a:pt x="2162" y="324"/>
                    <a:pt x="2150" y="329"/>
                  </a:cubicBezTo>
                  <a:cubicBezTo>
                    <a:pt x="2138" y="334"/>
                    <a:pt x="2132" y="324"/>
                    <a:pt x="2132" y="324"/>
                  </a:cubicBezTo>
                  <a:cubicBezTo>
                    <a:pt x="2132" y="324"/>
                    <a:pt x="2127" y="332"/>
                    <a:pt x="2114" y="333"/>
                  </a:cubicBezTo>
                  <a:cubicBezTo>
                    <a:pt x="2101" y="334"/>
                    <a:pt x="2097" y="324"/>
                    <a:pt x="2088" y="323"/>
                  </a:cubicBezTo>
                  <a:cubicBezTo>
                    <a:pt x="2079" y="322"/>
                    <a:pt x="2072" y="330"/>
                    <a:pt x="2051" y="335"/>
                  </a:cubicBezTo>
                  <a:cubicBezTo>
                    <a:pt x="2050" y="335"/>
                    <a:pt x="2048" y="336"/>
                    <a:pt x="2047" y="336"/>
                  </a:cubicBezTo>
                  <a:cubicBezTo>
                    <a:pt x="2048" y="340"/>
                    <a:pt x="2048" y="344"/>
                    <a:pt x="2046" y="350"/>
                  </a:cubicBezTo>
                  <a:cubicBezTo>
                    <a:pt x="2045" y="352"/>
                    <a:pt x="2043" y="354"/>
                    <a:pt x="2040" y="357"/>
                  </a:cubicBezTo>
                  <a:cubicBezTo>
                    <a:pt x="2049" y="357"/>
                    <a:pt x="2049" y="357"/>
                    <a:pt x="2049" y="357"/>
                  </a:cubicBezTo>
                  <a:cubicBezTo>
                    <a:pt x="2049" y="357"/>
                    <a:pt x="1969" y="398"/>
                    <a:pt x="1961" y="401"/>
                  </a:cubicBezTo>
                  <a:cubicBezTo>
                    <a:pt x="1953" y="404"/>
                    <a:pt x="1945" y="407"/>
                    <a:pt x="1925" y="412"/>
                  </a:cubicBezTo>
                  <a:cubicBezTo>
                    <a:pt x="1905" y="417"/>
                    <a:pt x="1897" y="423"/>
                    <a:pt x="1890" y="426"/>
                  </a:cubicBezTo>
                  <a:cubicBezTo>
                    <a:pt x="1883" y="429"/>
                    <a:pt x="1871" y="427"/>
                    <a:pt x="1871" y="427"/>
                  </a:cubicBezTo>
                  <a:cubicBezTo>
                    <a:pt x="1871" y="427"/>
                    <a:pt x="1871" y="432"/>
                    <a:pt x="1859" y="433"/>
                  </a:cubicBezTo>
                  <a:cubicBezTo>
                    <a:pt x="1847" y="434"/>
                    <a:pt x="1846" y="423"/>
                    <a:pt x="1846" y="423"/>
                  </a:cubicBezTo>
                  <a:cubicBezTo>
                    <a:pt x="1846" y="423"/>
                    <a:pt x="1824" y="420"/>
                    <a:pt x="1824" y="413"/>
                  </a:cubicBezTo>
                  <a:cubicBezTo>
                    <a:pt x="1824" y="413"/>
                    <a:pt x="1837" y="407"/>
                    <a:pt x="1848" y="402"/>
                  </a:cubicBezTo>
                  <a:cubicBezTo>
                    <a:pt x="1847" y="401"/>
                    <a:pt x="1847" y="400"/>
                    <a:pt x="1846" y="400"/>
                  </a:cubicBezTo>
                  <a:cubicBezTo>
                    <a:pt x="1836" y="390"/>
                    <a:pt x="1881" y="368"/>
                    <a:pt x="1889" y="368"/>
                  </a:cubicBezTo>
                  <a:cubicBezTo>
                    <a:pt x="1897" y="368"/>
                    <a:pt x="1895" y="347"/>
                    <a:pt x="1895" y="347"/>
                  </a:cubicBezTo>
                  <a:cubicBezTo>
                    <a:pt x="1895" y="347"/>
                    <a:pt x="1898" y="343"/>
                    <a:pt x="1902" y="338"/>
                  </a:cubicBezTo>
                  <a:cubicBezTo>
                    <a:pt x="1902" y="337"/>
                    <a:pt x="1901" y="337"/>
                    <a:pt x="1901" y="337"/>
                  </a:cubicBezTo>
                  <a:cubicBezTo>
                    <a:pt x="1895" y="331"/>
                    <a:pt x="1908" y="302"/>
                    <a:pt x="1906" y="294"/>
                  </a:cubicBezTo>
                  <a:cubicBezTo>
                    <a:pt x="1904" y="286"/>
                    <a:pt x="1890" y="293"/>
                    <a:pt x="1884" y="298"/>
                  </a:cubicBezTo>
                  <a:cubicBezTo>
                    <a:pt x="1878" y="303"/>
                    <a:pt x="1850" y="321"/>
                    <a:pt x="1848" y="308"/>
                  </a:cubicBezTo>
                  <a:cubicBezTo>
                    <a:pt x="1847" y="302"/>
                    <a:pt x="1871" y="288"/>
                    <a:pt x="1874" y="283"/>
                  </a:cubicBezTo>
                  <a:cubicBezTo>
                    <a:pt x="1877" y="278"/>
                    <a:pt x="1888" y="275"/>
                    <a:pt x="1897" y="269"/>
                  </a:cubicBezTo>
                  <a:cubicBezTo>
                    <a:pt x="1906" y="263"/>
                    <a:pt x="1898" y="240"/>
                    <a:pt x="1898" y="240"/>
                  </a:cubicBezTo>
                  <a:cubicBezTo>
                    <a:pt x="1898" y="240"/>
                    <a:pt x="1901" y="245"/>
                    <a:pt x="1909" y="228"/>
                  </a:cubicBezTo>
                  <a:cubicBezTo>
                    <a:pt x="1917" y="211"/>
                    <a:pt x="1897" y="218"/>
                    <a:pt x="1888" y="211"/>
                  </a:cubicBezTo>
                  <a:cubicBezTo>
                    <a:pt x="1879" y="204"/>
                    <a:pt x="1879" y="198"/>
                    <a:pt x="1879" y="198"/>
                  </a:cubicBezTo>
                  <a:cubicBezTo>
                    <a:pt x="1879" y="198"/>
                    <a:pt x="1876" y="205"/>
                    <a:pt x="1871" y="200"/>
                  </a:cubicBezTo>
                  <a:cubicBezTo>
                    <a:pt x="1866" y="195"/>
                    <a:pt x="1872" y="185"/>
                    <a:pt x="1872" y="185"/>
                  </a:cubicBezTo>
                  <a:cubicBezTo>
                    <a:pt x="1896" y="189"/>
                    <a:pt x="1896" y="189"/>
                    <a:pt x="1896" y="189"/>
                  </a:cubicBezTo>
                  <a:cubicBezTo>
                    <a:pt x="1896" y="189"/>
                    <a:pt x="1900" y="186"/>
                    <a:pt x="1897" y="178"/>
                  </a:cubicBezTo>
                  <a:cubicBezTo>
                    <a:pt x="1896" y="174"/>
                    <a:pt x="1900" y="174"/>
                    <a:pt x="1905" y="174"/>
                  </a:cubicBezTo>
                  <a:cubicBezTo>
                    <a:pt x="1909" y="159"/>
                    <a:pt x="1909" y="159"/>
                    <a:pt x="1909" y="159"/>
                  </a:cubicBezTo>
                  <a:cubicBezTo>
                    <a:pt x="1896" y="159"/>
                    <a:pt x="1896" y="159"/>
                    <a:pt x="1896" y="159"/>
                  </a:cubicBezTo>
                  <a:cubicBezTo>
                    <a:pt x="1894" y="167"/>
                    <a:pt x="1894" y="167"/>
                    <a:pt x="1894" y="167"/>
                  </a:cubicBezTo>
                  <a:cubicBezTo>
                    <a:pt x="1878" y="161"/>
                    <a:pt x="1878" y="161"/>
                    <a:pt x="1878" y="161"/>
                  </a:cubicBezTo>
                  <a:cubicBezTo>
                    <a:pt x="1877" y="147"/>
                    <a:pt x="1877" y="147"/>
                    <a:pt x="1877" y="147"/>
                  </a:cubicBezTo>
                  <a:cubicBezTo>
                    <a:pt x="1868" y="149"/>
                    <a:pt x="1868" y="149"/>
                    <a:pt x="1868" y="149"/>
                  </a:cubicBezTo>
                  <a:cubicBezTo>
                    <a:pt x="1857" y="154"/>
                    <a:pt x="1857" y="154"/>
                    <a:pt x="1857" y="154"/>
                  </a:cubicBezTo>
                  <a:cubicBezTo>
                    <a:pt x="1821" y="151"/>
                    <a:pt x="1821" y="151"/>
                    <a:pt x="1821" y="151"/>
                  </a:cubicBezTo>
                  <a:cubicBezTo>
                    <a:pt x="1821" y="151"/>
                    <a:pt x="1808" y="162"/>
                    <a:pt x="1787" y="160"/>
                  </a:cubicBezTo>
                  <a:cubicBezTo>
                    <a:pt x="1766" y="158"/>
                    <a:pt x="1771" y="144"/>
                    <a:pt x="1767" y="139"/>
                  </a:cubicBezTo>
                  <a:cubicBezTo>
                    <a:pt x="1763" y="134"/>
                    <a:pt x="1743" y="145"/>
                    <a:pt x="1740" y="136"/>
                  </a:cubicBezTo>
                  <a:cubicBezTo>
                    <a:pt x="1777" y="115"/>
                    <a:pt x="1777" y="115"/>
                    <a:pt x="1777" y="115"/>
                  </a:cubicBezTo>
                  <a:cubicBezTo>
                    <a:pt x="1777" y="115"/>
                    <a:pt x="1772" y="110"/>
                    <a:pt x="1765" y="110"/>
                  </a:cubicBezTo>
                  <a:cubicBezTo>
                    <a:pt x="1758" y="110"/>
                    <a:pt x="1744" y="122"/>
                    <a:pt x="1740" y="123"/>
                  </a:cubicBezTo>
                  <a:cubicBezTo>
                    <a:pt x="1736" y="124"/>
                    <a:pt x="1714" y="137"/>
                    <a:pt x="1700" y="142"/>
                  </a:cubicBezTo>
                  <a:cubicBezTo>
                    <a:pt x="1686" y="147"/>
                    <a:pt x="1670" y="144"/>
                    <a:pt x="1670" y="144"/>
                  </a:cubicBezTo>
                  <a:cubicBezTo>
                    <a:pt x="1664" y="153"/>
                    <a:pt x="1664" y="153"/>
                    <a:pt x="1664" y="153"/>
                  </a:cubicBezTo>
                  <a:cubicBezTo>
                    <a:pt x="1664" y="153"/>
                    <a:pt x="1640" y="155"/>
                    <a:pt x="1631" y="154"/>
                  </a:cubicBezTo>
                  <a:cubicBezTo>
                    <a:pt x="1622" y="153"/>
                    <a:pt x="1646" y="136"/>
                    <a:pt x="1646" y="136"/>
                  </a:cubicBezTo>
                  <a:cubicBezTo>
                    <a:pt x="1646" y="136"/>
                    <a:pt x="1636" y="140"/>
                    <a:pt x="1617" y="141"/>
                  </a:cubicBezTo>
                  <a:cubicBezTo>
                    <a:pt x="1598" y="142"/>
                    <a:pt x="1596" y="154"/>
                    <a:pt x="1579" y="148"/>
                  </a:cubicBezTo>
                  <a:cubicBezTo>
                    <a:pt x="1562" y="142"/>
                    <a:pt x="1655" y="109"/>
                    <a:pt x="1667" y="101"/>
                  </a:cubicBezTo>
                  <a:cubicBezTo>
                    <a:pt x="1679" y="93"/>
                    <a:pt x="1694" y="90"/>
                    <a:pt x="1713" y="86"/>
                  </a:cubicBezTo>
                  <a:cubicBezTo>
                    <a:pt x="1718" y="85"/>
                    <a:pt x="1722" y="83"/>
                    <a:pt x="1726" y="80"/>
                  </a:cubicBezTo>
                  <a:cubicBezTo>
                    <a:pt x="1698" y="80"/>
                    <a:pt x="1701" y="74"/>
                    <a:pt x="1701" y="74"/>
                  </a:cubicBezTo>
                  <a:cubicBezTo>
                    <a:pt x="1671" y="75"/>
                    <a:pt x="1671" y="75"/>
                    <a:pt x="1671" y="75"/>
                  </a:cubicBezTo>
                  <a:cubicBezTo>
                    <a:pt x="1671" y="65"/>
                    <a:pt x="1671" y="65"/>
                    <a:pt x="1671" y="65"/>
                  </a:cubicBezTo>
                  <a:cubicBezTo>
                    <a:pt x="1671" y="65"/>
                    <a:pt x="1655" y="76"/>
                    <a:pt x="1649" y="82"/>
                  </a:cubicBezTo>
                  <a:cubicBezTo>
                    <a:pt x="1643" y="88"/>
                    <a:pt x="1630" y="64"/>
                    <a:pt x="1627" y="67"/>
                  </a:cubicBezTo>
                  <a:cubicBezTo>
                    <a:pt x="1624" y="70"/>
                    <a:pt x="1617" y="67"/>
                    <a:pt x="1611" y="67"/>
                  </a:cubicBezTo>
                  <a:cubicBezTo>
                    <a:pt x="1605" y="67"/>
                    <a:pt x="1602" y="47"/>
                    <a:pt x="1589" y="47"/>
                  </a:cubicBezTo>
                  <a:cubicBezTo>
                    <a:pt x="1576" y="47"/>
                    <a:pt x="1578" y="59"/>
                    <a:pt x="1570" y="59"/>
                  </a:cubicBezTo>
                  <a:cubicBezTo>
                    <a:pt x="1562" y="59"/>
                    <a:pt x="1555" y="49"/>
                    <a:pt x="1555" y="49"/>
                  </a:cubicBezTo>
                  <a:cubicBezTo>
                    <a:pt x="1555" y="49"/>
                    <a:pt x="1536" y="48"/>
                    <a:pt x="1528" y="40"/>
                  </a:cubicBezTo>
                  <a:cubicBezTo>
                    <a:pt x="1519" y="31"/>
                    <a:pt x="1544" y="21"/>
                    <a:pt x="1534" y="11"/>
                  </a:cubicBezTo>
                  <a:cubicBezTo>
                    <a:pt x="1524" y="0"/>
                    <a:pt x="1510" y="35"/>
                    <a:pt x="1510" y="35"/>
                  </a:cubicBezTo>
                  <a:cubicBezTo>
                    <a:pt x="368" y="35"/>
                    <a:pt x="368" y="35"/>
                    <a:pt x="368" y="35"/>
                  </a:cubicBezTo>
                  <a:cubicBezTo>
                    <a:pt x="367" y="42"/>
                    <a:pt x="365" y="48"/>
                    <a:pt x="364" y="50"/>
                  </a:cubicBezTo>
                  <a:cubicBezTo>
                    <a:pt x="360" y="56"/>
                    <a:pt x="359" y="80"/>
                    <a:pt x="359" y="80"/>
                  </a:cubicBezTo>
                  <a:cubicBezTo>
                    <a:pt x="337" y="92"/>
                    <a:pt x="337" y="92"/>
                    <a:pt x="337" y="92"/>
                  </a:cubicBezTo>
                  <a:cubicBezTo>
                    <a:pt x="335" y="104"/>
                    <a:pt x="335" y="104"/>
                    <a:pt x="335" y="104"/>
                  </a:cubicBezTo>
                  <a:cubicBezTo>
                    <a:pt x="324" y="119"/>
                    <a:pt x="324" y="119"/>
                    <a:pt x="324" y="119"/>
                  </a:cubicBezTo>
                  <a:cubicBezTo>
                    <a:pt x="292" y="130"/>
                    <a:pt x="292" y="130"/>
                    <a:pt x="292" y="130"/>
                  </a:cubicBezTo>
                  <a:cubicBezTo>
                    <a:pt x="315" y="117"/>
                    <a:pt x="315" y="117"/>
                    <a:pt x="315" y="117"/>
                  </a:cubicBezTo>
                  <a:cubicBezTo>
                    <a:pt x="300" y="115"/>
                    <a:pt x="300" y="115"/>
                    <a:pt x="300" y="115"/>
                  </a:cubicBezTo>
                  <a:cubicBezTo>
                    <a:pt x="300" y="115"/>
                    <a:pt x="314" y="95"/>
                    <a:pt x="318" y="92"/>
                  </a:cubicBezTo>
                  <a:cubicBezTo>
                    <a:pt x="322" y="89"/>
                    <a:pt x="342" y="75"/>
                    <a:pt x="332" y="75"/>
                  </a:cubicBezTo>
                  <a:cubicBezTo>
                    <a:pt x="322" y="75"/>
                    <a:pt x="313" y="77"/>
                    <a:pt x="303" y="76"/>
                  </a:cubicBezTo>
                  <a:cubicBezTo>
                    <a:pt x="293" y="75"/>
                    <a:pt x="284" y="57"/>
                    <a:pt x="275" y="61"/>
                  </a:cubicBezTo>
                  <a:cubicBezTo>
                    <a:pt x="266" y="65"/>
                    <a:pt x="257" y="57"/>
                    <a:pt x="255" y="78"/>
                  </a:cubicBezTo>
                  <a:cubicBezTo>
                    <a:pt x="253" y="99"/>
                    <a:pt x="255" y="111"/>
                    <a:pt x="252" y="113"/>
                  </a:cubicBezTo>
                  <a:cubicBezTo>
                    <a:pt x="249" y="115"/>
                    <a:pt x="239" y="130"/>
                    <a:pt x="239" y="130"/>
                  </a:cubicBezTo>
                  <a:cubicBezTo>
                    <a:pt x="257" y="134"/>
                    <a:pt x="257" y="134"/>
                    <a:pt x="257" y="134"/>
                  </a:cubicBezTo>
                  <a:cubicBezTo>
                    <a:pt x="238" y="137"/>
                    <a:pt x="238" y="137"/>
                    <a:pt x="238" y="137"/>
                  </a:cubicBezTo>
                  <a:cubicBezTo>
                    <a:pt x="241" y="148"/>
                    <a:pt x="241" y="148"/>
                    <a:pt x="241" y="148"/>
                  </a:cubicBezTo>
                  <a:cubicBezTo>
                    <a:pt x="230" y="165"/>
                    <a:pt x="230" y="165"/>
                    <a:pt x="230" y="165"/>
                  </a:cubicBezTo>
                  <a:cubicBezTo>
                    <a:pt x="230" y="165"/>
                    <a:pt x="251" y="173"/>
                    <a:pt x="250" y="177"/>
                  </a:cubicBezTo>
                  <a:cubicBezTo>
                    <a:pt x="249" y="181"/>
                    <a:pt x="218" y="175"/>
                    <a:pt x="218" y="175"/>
                  </a:cubicBezTo>
                  <a:cubicBezTo>
                    <a:pt x="218" y="175"/>
                    <a:pt x="179" y="235"/>
                    <a:pt x="169" y="247"/>
                  </a:cubicBezTo>
                  <a:cubicBezTo>
                    <a:pt x="159" y="259"/>
                    <a:pt x="112" y="315"/>
                    <a:pt x="112" y="315"/>
                  </a:cubicBezTo>
                  <a:cubicBezTo>
                    <a:pt x="114" y="330"/>
                    <a:pt x="114" y="330"/>
                    <a:pt x="114" y="330"/>
                  </a:cubicBezTo>
                  <a:cubicBezTo>
                    <a:pt x="114" y="330"/>
                    <a:pt x="101" y="332"/>
                    <a:pt x="90" y="344"/>
                  </a:cubicBezTo>
                  <a:cubicBezTo>
                    <a:pt x="79" y="356"/>
                    <a:pt x="79" y="374"/>
                    <a:pt x="79" y="374"/>
                  </a:cubicBezTo>
                  <a:cubicBezTo>
                    <a:pt x="66" y="387"/>
                    <a:pt x="66" y="387"/>
                    <a:pt x="66" y="387"/>
                  </a:cubicBezTo>
                  <a:cubicBezTo>
                    <a:pt x="63" y="421"/>
                    <a:pt x="63" y="421"/>
                    <a:pt x="63" y="421"/>
                  </a:cubicBezTo>
                  <a:cubicBezTo>
                    <a:pt x="63" y="421"/>
                    <a:pt x="39" y="453"/>
                    <a:pt x="33" y="459"/>
                  </a:cubicBezTo>
                  <a:cubicBezTo>
                    <a:pt x="27" y="465"/>
                    <a:pt x="6" y="477"/>
                    <a:pt x="8" y="488"/>
                  </a:cubicBezTo>
                  <a:cubicBezTo>
                    <a:pt x="10" y="499"/>
                    <a:pt x="26" y="506"/>
                    <a:pt x="23" y="516"/>
                  </a:cubicBezTo>
                  <a:cubicBezTo>
                    <a:pt x="20" y="526"/>
                    <a:pt x="0" y="550"/>
                    <a:pt x="0" y="562"/>
                  </a:cubicBezTo>
                  <a:cubicBezTo>
                    <a:pt x="0" y="574"/>
                    <a:pt x="13" y="615"/>
                    <a:pt x="13" y="615"/>
                  </a:cubicBezTo>
                  <a:cubicBezTo>
                    <a:pt x="29" y="605"/>
                    <a:pt x="29" y="605"/>
                    <a:pt x="29" y="605"/>
                  </a:cubicBezTo>
                  <a:cubicBezTo>
                    <a:pt x="74" y="609"/>
                    <a:pt x="74" y="609"/>
                    <a:pt x="74" y="609"/>
                  </a:cubicBezTo>
                  <a:cubicBezTo>
                    <a:pt x="74" y="609"/>
                    <a:pt x="36" y="609"/>
                    <a:pt x="33" y="615"/>
                  </a:cubicBezTo>
                  <a:cubicBezTo>
                    <a:pt x="30" y="621"/>
                    <a:pt x="31" y="635"/>
                    <a:pt x="31" y="635"/>
                  </a:cubicBezTo>
                  <a:cubicBezTo>
                    <a:pt x="31" y="635"/>
                    <a:pt x="20" y="620"/>
                    <a:pt x="16" y="626"/>
                  </a:cubicBezTo>
                  <a:cubicBezTo>
                    <a:pt x="12" y="632"/>
                    <a:pt x="2" y="651"/>
                    <a:pt x="7" y="659"/>
                  </a:cubicBezTo>
                  <a:cubicBezTo>
                    <a:pt x="12" y="667"/>
                    <a:pt x="25" y="667"/>
                    <a:pt x="25" y="667"/>
                  </a:cubicBezTo>
                  <a:cubicBezTo>
                    <a:pt x="25" y="667"/>
                    <a:pt x="23" y="688"/>
                    <a:pt x="20" y="688"/>
                  </a:cubicBezTo>
                  <a:cubicBezTo>
                    <a:pt x="17" y="688"/>
                    <a:pt x="7" y="700"/>
                    <a:pt x="7" y="709"/>
                  </a:cubicBezTo>
                  <a:cubicBezTo>
                    <a:pt x="7" y="718"/>
                    <a:pt x="20" y="733"/>
                    <a:pt x="20" y="733"/>
                  </a:cubicBezTo>
                  <a:cubicBezTo>
                    <a:pt x="20" y="733"/>
                    <a:pt x="40" y="763"/>
                    <a:pt x="39" y="770"/>
                  </a:cubicBezTo>
                  <a:cubicBezTo>
                    <a:pt x="38" y="777"/>
                    <a:pt x="16" y="799"/>
                    <a:pt x="28" y="803"/>
                  </a:cubicBezTo>
                  <a:cubicBezTo>
                    <a:pt x="40" y="807"/>
                    <a:pt x="65" y="807"/>
                    <a:pt x="65" y="807"/>
                  </a:cubicBezTo>
                  <a:cubicBezTo>
                    <a:pt x="65" y="807"/>
                    <a:pt x="67" y="828"/>
                    <a:pt x="79" y="828"/>
                  </a:cubicBezTo>
                  <a:cubicBezTo>
                    <a:pt x="91" y="828"/>
                    <a:pt x="108" y="822"/>
                    <a:pt x="108" y="822"/>
                  </a:cubicBezTo>
                  <a:cubicBezTo>
                    <a:pt x="111" y="841"/>
                    <a:pt x="111" y="841"/>
                    <a:pt x="111" y="841"/>
                  </a:cubicBezTo>
                  <a:cubicBezTo>
                    <a:pt x="111" y="841"/>
                    <a:pt x="143" y="852"/>
                    <a:pt x="143" y="867"/>
                  </a:cubicBezTo>
                  <a:cubicBezTo>
                    <a:pt x="143" y="875"/>
                    <a:pt x="140" y="889"/>
                    <a:pt x="138" y="901"/>
                  </a:cubicBezTo>
                  <a:cubicBezTo>
                    <a:pt x="141" y="903"/>
                    <a:pt x="141" y="903"/>
                    <a:pt x="141" y="903"/>
                  </a:cubicBezTo>
                  <a:cubicBezTo>
                    <a:pt x="240" y="899"/>
                    <a:pt x="240" y="899"/>
                    <a:pt x="240" y="899"/>
                  </a:cubicBezTo>
                  <a:cubicBezTo>
                    <a:pt x="230" y="909"/>
                    <a:pt x="240" y="909"/>
                    <a:pt x="240" y="909"/>
                  </a:cubicBezTo>
                  <a:cubicBezTo>
                    <a:pt x="380" y="973"/>
                    <a:pt x="380" y="973"/>
                    <a:pt x="380" y="973"/>
                  </a:cubicBezTo>
                  <a:cubicBezTo>
                    <a:pt x="512" y="971"/>
                    <a:pt x="512" y="971"/>
                    <a:pt x="512" y="971"/>
                  </a:cubicBezTo>
                  <a:cubicBezTo>
                    <a:pt x="512" y="971"/>
                    <a:pt x="512" y="971"/>
                    <a:pt x="516" y="968"/>
                  </a:cubicBezTo>
                  <a:cubicBezTo>
                    <a:pt x="519" y="964"/>
                    <a:pt x="517" y="960"/>
                    <a:pt x="517" y="954"/>
                  </a:cubicBezTo>
                  <a:cubicBezTo>
                    <a:pt x="517" y="948"/>
                    <a:pt x="524" y="944"/>
                    <a:pt x="524" y="944"/>
                  </a:cubicBezTo>
                  <a:cubicBezTo>
                    <a:pt x="597" y="944"/>
                    <a:pt x="597" y="944"/>
                    <a:pt x="597" y="944"/>
                  </a:cubicBezTo>
                  <a:cubicBezTo>
                    <a:pt x="612" y="959"/>
                    <a:pt x="607" y="967"/>
                    <a:pt x="607" y="967"/>
                  </a:cubicBezTo>
                  <a:cubicBezTo>
                    <a:pt x="625" y="975"/>
                    <a:pt x="625" y="975"/>
                    <a:pt x="625" y="975"/>
                  </a:cubicBezTo>
                  <a:cubicBezTo>
                    <a:pt x="631" y="996"/>
                    <a:pt x="631" y="996"/>
                    <a:pt x="631" y="996"/>
                  </a:cubicBezTo>
                  <a:cubicBezTo>
                    <a:pt x="631" y="996"/>
                    <a:pt x="642" y="997"/>
                    <a:pt x="653" y="1008"/>
                  </a:cubicBezTo>
                  <a:cubicBezTo>
                    <a:pt x="663" y="1018"/>
                    <a:pt x="653" y="1060"/>
                    <a:pt x="653" y="1060"/>
                  </a:cubicBezTo>
                  <a:cubicBezTo>
                    <a:pt x="653" y="1060"/>
                    <a:pt x="684" y="1094"/>
                    <a:pt x="703" y="1094"/>
                  </a:cubicBezTo>
                  <a:cubicBezTo>
                    <a:pt x="722" y="1094"/>
                    <a:pt x="735" y="1060"/>
                    <a:pt x="739" y="1056"/>
                  </a:cubicBezTo>
                  <a:cubicBezTo>
                    <a:pt x="743" y="1052"/>
                    <a:pt x="755" y="1053"/>
                    <a:pt x="755" y="1053"/>
                  </a:cubicBezTo>
                  <a:cubicBezTo>
                    <a:pt x="756" y="1047"/>
                    <a:pt x="756" y="1047"/>
                    <a:pt x="756" y="1047"/>
                  </a:cubicBezTo>
                  <a:cubicBezTo>
                    <a:pt x="766" y="1052"/>
                    <a:pt x="766" y="1052"/>
                    <a:pt x="766" y="1052"/>
                  </a:cubicBezTo>
                  <a:cubicBezTo>
                    <a:pt x="795" y="1053"/>
                    <a:pt x="795" y="1053"/>
                    <a:pt x="795" y="1053"/>
                  </a:cubicBezTo>
                  <a:cubicBezTo>
                    <a:pt x="795" y="1053"/>
                    <a:pt x="815" y="1084"/>
                    <a:pt x="823" y="1092"/>
                  </a:cubicBezTo>
                  <a:cubicBezTo>
                    <a:pt x="831" y="1100"/>
                    <a:pt x="823" y="1115"/>
                    <a:pt x="823" y="1124"/>
                  </a:cubicBezTo>
                  <a:cubicBezTo>
                    <a:pt x="823" y="1133"/>
                    <a:pt x="834" y="1140"/>
                    <a:pt x="834" y="1140"/>
                  </a:cubicBezTo>
                  <a:cubicBezTo>
                    <a:pt x="834" y="1140"/>
                    <a:pt x="835" y="1146"/>
                    <a:pt x="835" y="1153"/>
                  </a:cubicBezTo>
                  <a:cubicBezTo>
                    <a:pt x="835" y="1161"/>
                    <a:pt x="844" y="1162"/>
                    <a:pt x="851" y="1169"/>
                  </a:cubicBezTo>
                  <a:cubicBezTo>
                    <a:pt x="858" y="1176"/>
                    <a:pt x="848" y="1179"/>
                    <a:pt x="848" y="1179"/>
                  </a:cubicBezTo>
                  <a:cubicBezTo>
                    <a:pt x="848" y="1206"/>
                    <a:pt x="848" y="1206"/>
                    <a:pt x="848" y="1206"/>
                  </a:cubicBezTo>
                  <a:cubicBezTo>
                    <a:pt x="856" y="1212"/>
                    <a:pt x="856" y="1212"/>
                    <a:pt x="856" y="1212"/>
                  </a:cubicBezTo>
                  <a:cubicBezTo>
                    <a:pt x="856" y="1212"/>
                    <a:pt x="854" y="1220"/>
                    <a:pt x="854" y="1231"/>
                  </a:cubicBezTo>
                  <a:cubicBezTo>
                    <a:pt x="854" y="1242"/>
                    <a:pt x="884" y="1243"/>
                    <a:pt x="884" y="1243"/>
                  </a:cubicBezTo>
                  <a:cubicBezTo>
                    <a:pt x="890" y="1254"/>
                    <a:pt x="890" y="1254"/>
                    <a:pt x="890" y="1254"/>
                  </a:cubicBezTo>
                  <a:cubicBezTo>
                    <a:pt x="890" y="1254"/>
                    <a:pt x="909" y="1254"/>
                    <a:pt x="914" y="1254"/>
                  </a:cubicBezTo>
                  <a:cubicBezTo>
                    <a:pt x="919" y="1254"/>
                    <a:pt x="917" y="1264"/>
                    <a:pt x="928" y="1264"/>
                  </a:cubicBezTo>
                  <a:cubicBezTo>
                    <a:pt x="933" y="1264"/>
                    <a:pt x="937" y="1263"/>
                    <a:pt x="940" y="1262"/>
                  </a:cubicBezTo>
                  <a:cubicBezTo>
                    <a:pt x="930" y="1213"/>
                    <a:pt x="930" y="1213"/>
                    <a:pt x="930" y="1213"/>
                  </a:cubicBezTo>
                  <a:cubicBezTo>
                    <a:pt x="942" y="1202"/>
                    <a:pt x="942" y="1202"/>
                    <a:pt x="942" y="1202"/>
                  </a:cubicBezTo>
                  <a:cubicBezTo>
                    <a:pt x="929" y="1193"/>
                    <a:pt x="929" y="1193"/>
                    <a:pt x="929" y="1193"/>
                  </a:cubicBezTo>
                  <a:cubicBezTo>
                    <a:pt x="929" y="1180"/>
                    <a:pt x="929" y="1180"/>
                    <a:pt x="929" y="1180"/>
                  </a:cubicBezTo>
                  <a:cubicBezTo>
                    <a:pt x="929" y="1180"/>
                    <a:pt x="947" y="1192"/>
                    <a:pt x="950" y="1180"/>
                  </a:cubicBezTo>
                  <a:cubicBezTo>
                    <a:pt x="953" y="1168"/>
                    <a:pt x="950" y="1159"/>
                    <a:pt x="950" y="1159"/>
                  </a:cubicBezTo>
                  <a:cubicBezTo>
                    <a:pt x="966" y="1157"/>
                    <a:pt x="966" y="1157"/>
                    <a:pt x="966" y="1157"/>
                  </a:cubicBezTo>
                  <a:cubicBezTo>
                    <a:pt x="971" y="1139"/>
                    <a:pt x="971" y="1139"/>
                    <a:pt x="971" y="1139"/>
                  </a:cubicBezTo>
                  <a:cubicBezTo>
                    <a:pt x="981" y="1144"/>
                    <a:pt x="981" y="1144"/>
                    <a:pt x="981" y="1144"/>
                  </a:cubicBezTo>
                  <a:cubicBezTo>
                    <a:pt x="994" y="1137"/>
                    <a:pt x="994" y="1137"/>
                    <a:pt x="994" y="1137"/>
                  </a:cubicBezTo>
                  <a:cubicBezTo>
                    <a:pt x="989" y="1121"/>
                    <a:pt x="989" y="1121"/>
                    <a:pt x="989" y="1121"/>
                  </a:cubicBezTo>
                  <a:cubicBezTo>
                    <a:pt x="999" y="1128"/>
                    <a:pt x="999" y="1128"/>
                    <a:pt x="999" y="1128"/>
                  </a:cubicBezTo>
                  <a:cubicBezTo>
                    <a:pt x="999" y="1128"/>
                    <a:pt x="1003" y="1106"/>
                    <a:pt x="1009" y="1110"/>
                  </a:cubicBezTo>
                  <a:cubicBezTo>
                    <a:pt x="1015" y="1114"/>
                    <a:pt x="1016" y="1125"/>
                    <a:pt x="1022" y="1122"/>
                  </a:cubicBezTo>
                  <a:cubicBezTo>
                    <a:pt x="1028" y="1119"/>
                    <a:pt x="1056" y="1111"/>
                    <a:pt x="1064" y="1103"/>
                  </a:cubicBezTo>
                  <a:cubicBezTo>
                    <a:pt x="1072" y="1095"/>
                    <a:pt x="1086" y="1076"/>
                    <a:pt x="1086" y="1076"/>
                  </a:cubicBezTo>
                  <a:cubicBezTo>
                    <a:pt x="1086" y="1076"/>
                    <a:pt x="1078" y="1053"/>
                    <a:pt x="1088" y="1052"/>
                  </a:cubicBezTo>
                  <a:cubicBezTo>
                    <a:pt x="1098" y="1051"/>
                    <a:pt x="1109" y="1075"/>
                    <a:pt x="1121" y="1068"/>
                  </a:cubicBezTo>
                  <a:cubicBezTo>
                    <a:pt x="1133" y="1061"/>
                    <a:pt x="1137" y="1033"/>
                    <a:pt x="1143" y="1040"/>
                  </a:cubicBezTo>
                  <a:cubicBezTo>
                    <a:pt x="1149" y="1047"/>
                    <a:pt x="1152" y="1053"/>
                    <a:pt x="1157" y="1053"/>
                  </a:cubicBezTo>
                  <a:cubicBezTo>
                    <a:pt x="1162" y="1053"/>
                    <a:pt x="1173" y="1037"/>
                    <a:pt x="1173" y="1037"/>
                  </a:cubicBezTo>
                  <a:cubicBezTo>
                    <a:pt x="1173" y="1037"/>
                    <a:pt x="1192" y="1068"/>
                    <a:pt x="1206" y="1066"/>
                  </a:cubicBezTo>
                  <a:cubicBezTo>
                    <a:pt x="1220" y="1064"/>
                    <a:pt x="1222" y="1033"/>
                    <a:pt x="1238" y="1049"/>
                  </a:cubicBezTo>
                  <a:cubicBezTo>
                    <a:pt x="1254" y="1065"/>
                    <a:pt x="1246" y="1083"/>
                    <a:pt x="1256" y="1083"/>
                  </a:cubicBezTo>
                  <a:cubicBezTo>
                    <a:pt x="1266" y="1083"/>
                    <a:pt x="1282" y="1090"/>
                    <a:pt x="1282" y="1090"/>
                  </a:cubicBezTo>
                  <a:cubicBezTo>
                    <a:pt x="1282" y="1090"/>
                    <a:pt x="1281" y="1074"/>
                    <a:pt x="1288" y="1079"/>
                  </a:cubicBezTo>
                  <a:cubicBezTo>
                    <a:pt x="1295" y="1084"/>
                    <a:pt x="1303" y="1103"/>
                    <a:pt x="1308" y="1091"/>
                  </a:cubicBezTo>
                  <a:cubicBezTo>
                    <a:pt x="1313" y="1079"/>
                    <a:pt x="1306" y="1064"/>
                    <a:pt x="1306" y="1064"/>
                  </a:cubicBezTo>
                  <a:cubicBezTo>
                    <a:pt x="1320" y="1069"/>
                    <a:pt x="1320" y="1069"/>
                    <a:pt x="1320" y="1069"/>
                  </a:cubicBezTo>
                  <a:cubicBezTo>
                    <a:pt x="1325" y="1080"/>
                    <a:pt x="1325" y="1080"/>
                    <a:pt x="1325" y="1080"/>
                  </a:cubicBezTo>
                  <a:cubicBezTo>
                    <a:pt x="1335" y="1083"/>
                    <a:pt x="1335" y="1083"/>
                    <a:pt x="1335" y="1083"/>
                  </a:cubicBezTo>
                  <a:cubicBezTo>
                    <a:pt x="1335" y="1092"/>
                    <a:pt x="1335" y="1092"/>
                    <a:pt x="1335" y="1092"/>
                  </a:cubicBezTo>
                  <a:cubicBezTo>
                    <a:pt x="1335" y="1092"/>
                    <a:pt x="1359" y="1099"/>
                    <a:pt x="1354" y="1087"/>
                  </a:cubicBezTo>
                  <a:cubicBezTo>
                    <a:pt x="1349" y="1075"/>
                    <a:pt x="1335" y="1070"/>
                    <a:pt x="1335" y="1070"/>
                  </a:cubicBezTo>
                  <a:cubicBezTo>
                    <a:pt x="1329" y="1060"/>
                    <a:pt x="1329" y="1060"/>
                    <a:pt x="1329" y="1060"/>
                  </a:cubicBezTo>
                  <a:cubicBezTo>
                    <a:pt x="1329" y="1060"/>
                    <a:pt x="1349" y="1057"/>
                    <a:pt x="1347" y="1049"/>
                  </a:cubicBezTo>
                  <a:cubicBezTo>
                    <a:pt x="1345" y="1041"/>
                    <a:pt x="1343" y="1039"/>
                    <a:pt x="1334" y="1040"/>
                  </a:cubicBezTo>
                  <a:cubicBezTo>
                    <a:pt x="1325" y="1041"/>
                    <a:pt x="1298" y="1044"/>
                    <a:pt x="1307" y="1030"/>
                  </a:cubicBezTo>
                  <a:cubicBezTo>
                    <a:pt x="1316" y="1016"/>
                    <a:pt x="1325" y="1027"/>
                    <a:pt x="1336" y="1030"/>
                  </a:cubicBezTo>
                  <a:cubicBezTo>
                    <a:pt x="1347" y="1033"/>
                    <a:pt x="1355" y="1031"/>
                    <a:pt x="1365" y="1024"/>
                  </a:cubicBezTo>
                  <a:cubicBezTo>
                    <a:pt x="1375" y="1017"/>
                    <a:pt x="1386" y="1017"/>
                    <a:pt x="1386" y="1017"/>
                  </a:cubicBezTo>
                  <a:cubicBezTo>
                    <a:pt x="1387" y="1021"/>
                    <a:pt x="1387" y="1021"/>
                    <a:pt x="1387" y="1021"/>
                  </a:cubicBezTo>
                  <a:cubicBezTo>
                    <a:pt x="1387" y="1021"/>
                    <a:pt x="1417" y="1021"/>
                    <a:pt x="1417" y="1014"/>
                  </a:cubicBezTo>
                  <a:cubicBezTo>
                    <a:pt x="1417" y="1007"/>
                    <a:pt x="1423" y="992"/>
                    <a:pt x="1426" y="997"/>
                  </a:cubicBezTo>
                  <a:cubicBezTo>
                    <a:pt x="1429" y="1002"/>
                    <a:pt x="1429" y="1024"/>
                    <a:pt x="1429" y="1024"/>
                  </a:cubicBezTo>
                  <a:cubicBezTo>
                    <a:pt x="1429" y="1024"/>
                    <a:pt x="1462" y="1012"/>
                    <a:pt x="1471" y="1013"/>
                  </a:cubicBezTo>
                  <a:cubicBezTo>
                    <a:pt x="1480" y="1014"/>
                    <a:pt x="1487" y="1024"/>
                    <a:pt x="1487" y="1024"/>
                  </a:cubicBezTo>
                  <a:cubicBezTo>
                    <a:pt x="1487" y="1024"/>
                    <a:pt x="1484" y="1008"/>
                    <a:pt x="1494" y="1012"/>
                  </a:cubicBezTo>
                  <a:cubicBezTo>
                    <a:pt x="1504" y="1016"/>
                    <a:pt x="1504" y="1030"/>
                    <a:pt x="1504" y="1030"/>
                  </a:cubicBezTo>
                  <a:cubicBezTo>
                    <a:pt x="1524" y="1025"/>
                    <a:pt x="1524" y="1025"/>
                    <a:pt x="1524" y="1025"/>
                  </a:cubicBezTo>
                  <a:cubicBezTo>
                    <a:pt x="1520" y="1033"/>
                    <a:pt x="1520" y="1033"/>
                    <a:pt x="1520" y="1033"/>
                  </a:cubicBezTo>
                  <a:cubicBezTo>
                    <a:pt x="1520" y="1033"/>
                    <a:pt x="1521" y="1065"/>
                    <a:pt x="1539" y="1061"/>
                  </a:cubicBezTo>
                  <a:cubicBezTo>
                    <a:pt x="1557" y="1057"/>
                    <a:pt x="1570" y="1031"/>
                    <a:pt x="1588" y="1035"/>
                  </a:cubicBezTo>
                  <a:cubicBezTo>
                    <a:pt x="1606" y="1039"/>
                    <a:pt x="1607" y="1073"/>
                    <a:pt x="1616" y="1079"/>
                  </a:cubicBezTo>
                  <a:cubicBezTo>
                    <a:pt x="1625" y="1085"/>
                    <a:pt x="1643" y="1085"/>
                    <a:pt x="1643" y="1085"/>
                  </a:cubicBezTo>
                  <a:cubicBezTo>
                    <a:pt x="1640" y="1111"/>
                    <a:pt x="1640" y="1111"/>
                    <a:pt x="1640" y="1111"/>
                  </a:cubicBezTo>
                  <a:cubicBezTo>
                    <a:pt x="1640" y="1111"/>
                    <a:pt x="1621" y="1139"/>
                    <a:pt x="1623" y="1147"/>
                  </a:cubicBezTo>
                  <a:cubicBezTo>
                    <a:pt x="1625" y="1155"/>
                    <a:pt x="1635" y="1156"/>
                    <a:pt x="1635" y="1156"/>
                  </a:cubicBezTo>
                  <a:cubicBezTo>
                    <a:pt x="1640" y="1166"/>
                    <a:pt x="1640" y="1166"/>
                    <a:pt x="1640" y="1166"/>
                  </a:cubicBezTo>
                  <a:cubicBezTo>
                    <a:pt x="1621" y="1179"/>
                    <a:pt x="1621" y="1179"/>
                    <a:pt x="1621" y="1179"/>
                  </a:cubicBezTo>
                  <a:cubicBezTo>
                    <a:pt x="1634" y="1212"/>
                    <a:pt x="1634" y="1212"/>
                    <a:pt x="1634" y="1212"/>
                  </a:cubicBezTo>
                  <a:cubicBezTo>
                    <a:pt x="1634" y="1212"/>
                    <a:pt x="1649" y="1193"/>
                    <a:pt x="1650" y="1199"/>
                  </a:cubicBezTo>
                  <a:cubicBezTo>
                    <a:pt x="1651" y="1205"/>
                    <a:pt x="1639" y="1230"/>
                    <a:pt x="1639" y="1230"/>
                  </a:cubicBezTo>
                  <a:cubicBezTo>
                    <a:pt x="1649" y="1227"/>
                    <a:pt x="1649" y="1227"/>
                    <a:pt x="1649" y="1227"/>
                  </a:cubicBezTo>
                  <a:cubicBezTo>
                    <a:pt x="1652" y="1259"/>
                    <a:pt x="1652" y="1259"/>
                    <a:pt x="1652" y="1259"/>
                  </a:cubicBezTo>
                  <a:cubicBezTo>
                    <a:pt x="1652" y="1259"/>
                    <a:pt x="1669" y="1259"/>
                    <a:pt x="1669" y="1265"/>
                  </a:cubicBezTo>
                  <a:cubicBezTo>
                    <a:pt x="1669" y="1271"/>
                    <a:pt x="1666" y="1287"/>
                    <a:pt x="1666" y="1287"/>
                  </a:cubicBezTo>
                  <a:cubicBezTo>
                    <a:pt x="1681" y="1304"/>
                    <a:pt x="1681" y="1304"/>
                    <a:pt x="1681" y="1304"/>
                  </a:cubicBezTo>
                  <a:cubicBezTo>
                    <a:pt x="1681" y="1304"/>
                    <a:pt x="1705" y="1298"/>
                    <a:pt x="1707" y="1291"/>
                  </a:cubicBezTo>
                  <a:cubicBezTo>
                    <a:pt x="1709" y="1284"/>
                    <a:pt x="1711" y="1271"/>
                    <a:pt x="1711" y="1271"/>
                  </a:cubicBezTo>
                  <a:cubicBezTo>
                    <a:pt x="1723" y="1271"/>
                    <a:pt x="1723" y="1271"/>
                    <a:pt x="1723" y="1271"/>
                  </a:cubicBezTo>
                  <a:cubicBezTo>
                    <a:pt x="1723" y="1271"/>
                    <a:pt x="1722" y="1250"/>
                    <a:pt x="1729" y="1240"/>
                  </a:cubicBezTo>
                  <a:cubicBezTo>
                    <a:pt x="1736" y="1230"/>
                    <a:pt x="1740" y="1213"/>
                    <a:pt x="1737" y="1203"/>
                  </a:cubicBezTo>
                  <a:cubicBezTo>
                    <a:pt x="1734" y="1193"/>
                    <a:pt x="1724" y="1160"/>
                    <a:pt x="1724" y="1151"/>
                  </a:cubicBezTo>
                  <a:cubicBezTo>
                    <a:pt x="1724" y="1142"/>
                    <a:pt x="1730" y="1128"/>
                    <a:pt x="1730" y="1112"/>
                  </a:cubicBezTo>
                  <a:cubicBezTo>
                    <a:pt x="1730" y="1096"/>
                    <a:pt x="1710" y="1070"/>
                    <a:pt x="1714" y="1056"/>
                  </a:cubicBezTo>
                  <a:cubicBezTo>
                    <a:pt x="1718" y="1042"/>
                    <a:pt x="1710" y="1002"/>
                    <a:pt x="1722" y="987"/>
                  </a:cubicBezTo>
                  <a:cubicBezTo>
                    <a:pt x="1734" y="972"/>
                    <a:pt x="1742" y="948"/>
                    <a:pt x="1742" y="948"/>
                  </a:cubicBezTo>
                  <a:cubicBezTo>
                    <a:pt x="1752" y="942"/>
                    <a:pt x="1752" y="942"/>
                    <a:pt x="1752" y="942"/>
                  </a:cubicBezTo>
                  <a:cubicBezTo>
                    <a:pt x="1765" y="929"/>
                    <a:pt x="1765" y="929"/>
                    <a:pt x="1765" y="929"/>
                  </a:cubicBezTo>
                  <a:cubicBezTo>
                    <a:pt x="1771" y="913"/>
                    <a:pt x="1771" y="913"/>
                    <a:pt x="1771" y="913"/>
                  </a:cubicBezTo>
                  <a:cubicBezTo>
                    <a:pt x="1780" y="919"/>
                    <a:pt x="1780" y="919"/>
                    <a:pt x="1780" y="919"/>
                  </a:cubicBezTo>
                  <a:cubicBezTo>
                    <a:pt x="1783" y="905"/>
                    <a:pt x="1783" y="905"/>
                    <a:pt x="1783" y="905"/>
                  </a:cubicBezTo>
                  <a:cubicBezTo>
                    <a:pt x="1783" y="905"/>
                    <a:pt x="1813" y="909"/>
                    <a:pt x="1818" y="903"/>
                  </a:cubicBezTo>
                  <a:cubicBezTo>
                    <a:pt x="1823" y="897"/>
                    <a:pt x="1819" y="886"/>
                    <a:pt x="1819" y="886"/>
                  </a:cubicBezTo>
                  <a:cubicBezTo>
                    <a:pt x="1832" y="887"/>
                    <a:pt x="1832" y="887"/>
                    <a:pt x="1832" y="887"/>
                  </a:cubicBezTo>
                  <a:cubicBezTo>
                    <a:pt x="1836" y="881"/>
                    <a:pt x="1836" y="881"/>
                    <a:pt x="1836" y="881"/>
                  </a:cubicBezTo>
                  <a:cubicBezTo>
                    <a:pt x="1847" y="880"/>
                    <a:pt x="1847" y="880"/>
                    <a:pt x="1847" y="880"/>
                  </a:cubicBezTo>
                  <a:cubicBezTo>
                    <a:pt x="1864" y="859"/>
                    <a:pt x="1864" y="859"/>
                    <a:pt x="1864" y="859"/>
                  </a:cubicBezTo>
                  <a:cubicBezTo>
                    <a:pt x="1864" y="859"/>
                    <a:pt x="1868" y="839"/>
                    <a:pt x="1887" y="834"/>
                  </a:cubicBezTo>
                  <a:cubicBezTo>
                    <a:pt x="1906" y="829"/>
                    <a:pt x="1917" y="840"/>
                    <a:pt x="1926" y="831"/>
                  </a:cubicBezTo>
                  <a:cubicBezTo>
                    <a:pt x="1935" y="822"/>
                    <a:pt x="1941" y="805"/>
                    <a:pt x="1941" y="805"/>
                  </a:cubicBezTo>
                  <a:cubicBezTo>
                    <a:pt x="1951" y="807"/>
                    <a:pt x="1951" y="807"/>
                    <a:pt x="1951" y="807"/>
                  </a:cubicBezTo>
                  <a:cubicBezTo>
                    <a:pt x="1956" y="792"/>
                    <a:pt x="1956" y="792"/>
                    <a:pt x="1956" y="792"/>
                  </a:cubicBezTo>
                  <a:cubicBezTo>
                    <a:pt x="2010" y="789"/>
                    <a:pt x="2010" y="789"/>
                    <a:pt x="2010" y="789"/>
                  </a:cubicBezTo>
                  <a:cubicBezTo>
                    <a:pt x="2013" y="773"/>
                    <a:pt x="2013" y="773"/>
                    <a:pt x="2013" y="773"/>
                  </a:cubicBezTo>
                  <a:cubicBezTo>
                    <a:pt x="1988" y="775"/>
                    <a:pt x="1988" y="775"/>
                    <a:pt x="1988" y="775"/>
                  </a:cubicBezTo>
                  <a:cubicBezTo>
                    <a:pt x="1988" y="775"/>
                    <a:pt x="2002" y="770"/>
                    <a:pt x="2001" y="763"/>
                  </a:cubicBezTo>
                  <a:cubicBezTo>
                    <a:pt x="2000" y="756"/>
                    <a:pt x="1990" y="749"/>
                    <a:pt x="1990" y="749"/>
                  </a:cubicBezTo>
                  <a:cubicBezTo>
                    <a:pt x="2013" y="745"/>
                    <a:pt x="2013" y="745"/>
                    <a:pt x="2013" y="745"/>
                  </a:cubicBezTo>
                  <a:cubicBezTo>
                    <a:pt x="2029" y="751"/>
                    <a:pt x="2029" y="751"/>
                    <a:pt x="2029" y="751"/>
                  </a:cubicBezTo>
                  <a:cubicBezTo>
                    <a:pt x="2052" y="727"/>
                    <a:pt x="2052" y="727"/>
                    <a:pt x="2052" y="727"/>
                  </a:cubicBezTo>
                  <a:cubicBezTo>
                    <a:pt x="2015" y="726"/>
                    <a:pt x="2015" y="726"/>
                    <a:pt x="2015" y="726"/>
                  </a:cubicBezTo>
                  <a:cubicBezTo>
                    <a:pt x="2013" y="709"/>
                    <a:pt x="2013" y="709"/>
                    <a:pt x="2013" y="709"/>
                  </a:cubicBezTo>
                  <a:cubicBezTo>
                    <a:pt x="2022" y="718"/>
                    <a:pt x="2022" y="718"/>
                    <a:pt x="2022" y="718"/>
                  </a:cubicBezTo>
                  <a:cubicBezTo>
                    <a:pt x="2052" y="707"/>
                    <a:pt x="2052" y="707"/>
                    <a:pt x="2052" y="707"/>
                  </a:cubicBezTo>
                  <a:cubicBezTo>
                    <a:pt x="2055" y="668"/>
                    <a:pt x="2055" y="668"/>
                    <a:pt x="2055" y="668"/>
                  </a:cubicBezTo>
                  <a:cubicBezTo>
                    <a:pt x="2036" y="676"/>
                    <a:pt x="2036" y="676"/>
                    <a:pt x="2036" y="676"/>
                  </a:cubicBezTo>
                  <a:cubicBezTo>
                    <a:pt x="2032" y="658"/>
                    <a:pt x="2032" y="658"/>
                    <a:pt x="2032" y="658"/>
                  </a:cubicBezTo>
                  <a:cubicBezTo>
                    <a:pt x="2016" y="647"/>
                    <a:pt x="2016" y="647"/>
                    <a:pt x="2016" y="647"/>
                  </a:cubicBezTo>
                  <a:cubicBezTo>
                    <a:pt x="2045" y="662"/>
                    <a:pt x="2045" y="662"/>
                    <a:pt x="2045" y="662"/>
                  </a:cubicBezTo>
                  <a:cubicBezTo>
                    <a:pt x="2052" y="656"/>
                    <a:pt x="2052" y="656"/>
                    <a:pt x="2052" y="656"/>
                  </a:cubicBezTo>
                  <a:cubicBezTo>
                    <a:pt x="2039" y="646"/>
                    <a:pt x="2039" y="646"/>
                    <a:pt x="2039" y="646"/>
                  </a:cubicBezTo>
                  <a:cubicBezTo>
                    <a:pt x="2057" y="646"/>
                    <a:pt x="2057" y="646"/>
                    <a:pt x="2057" y="646"/>
                  </a:cubicBezTo>
                  <a:cubicBezTo>
                    <a:pt x="2057" y="646"/>
                    <a:pt x="2035" y="617"/>
                    <a:pt x="2035" y="610"/>
                  </a:cubicBezTo>
                  <a:cubicBezTo>
                    <a:pt x="2035" y="603"/>
                    <a:pt x="2040" y="600"/>
                    <a:pt x="2040" y="600"/>
                  </a:cubicBezTo>
                  <a:cubicBezTo>
                    <a:pt x="2040" y="600"/>
                    <a:pt x="2023" y="589"/>
                    <a:pt x="2025" y="586"/>
                  </a:cubicBezTo>
                  <a:cubicBezTo>
                    <a:pt x="2027" y="583"/>
                    <a:pt x="2046" y="571"/>
                    <a:pt x="2046" y="571"/>
                  </a:cubicBezTo>
                  <a:cubicBezTo>
                    <a:pt x="2041" y="589"/>
                    <a:pt x="2041" y="589"/>
                    <a:pt x="2041" y="589"/>
                  </a:cubicBezTo>
                  <a:cubicBezTo>
                    <a:pt x="2062" y="606"/>
                    <a:pt x="2062" y="606"/>
                    <a:pt x="2062" y="606"/>
                  </a:cubicBezTo>
                  <a:cubicBezTo>
                    <a:pt x="2062" y="606"/>
                    <a:pt x="2070" y="582"/>
                    <a:pt x="2070" y="569"/>
                  </a:cubicBezTo>
                  <a:cubicBezTo>
                    <a:pt x="2070" y="556"/>
                    <a:pt x="2108" y="525"/>
                    <a:pt x="2107" y="533"/>
                  </a:cubicBezTo>
                  <a:cubicBezTo>
                    <a:pt x="2106" y="541"/>
                    <a:pt x="2083" y="574"/>
                    <a:pt x="2083" y="574"/>
                  </a:cubicBezTo>
                  <a:cubicBezTo>
                    <a:pt x="2077" y="596"/>
                    <a:pt x="2077" y="596"/>
                    <a:pt x="2077" y="596"/>
                  </a:cubicBezTo>
                  <a:cubicBezTo>
                    <a:pt x="2090" y="597"/>
                    <a:pt x="2090" y="597"/>
                    <a:pt x="2090" y="597"/>
                  </a:cubicBezTo>
                  <a:cubicBezTo>
                    <a:pt x="2090" y="597"/>
                    <a:pt x="2087" y="619"/>
                    <a:pt x="2082" y="623"/>
                  </a:cubicBezTo>
                  <a:cubicBezTo>
                    <a:pt x="2077" y="627"/>
                    <a:pt x="2059" y="661"/>
                    <a:pt x="2066" y="661"/>
                  </a:cubicBezTo>
                  <a:cubicBezTo>
                    <a:pt x="2073" y="661"/>
                    <a:pt x="2083" y="637"/>
                    <a:pt x="2089" y="632"/>
                  </a:cubicBezTo>
                  <a:cubicBezTo>
                    <a:pt x="2095" y="627"/>
                    <a:pt x="2125" y="611"/>
                    <a:pt x="2127" y="598"/>
                  </a:cubicBezTo>
                  <a:cubicBezTo>
                    <a:pt x="2129" y="585"/>
                    <a:pt x="2125" y="564"/>
                    <a:pt x="2125" y="553"/>
                  </a:cubicBezTo>
                  <a:cubicBezTo>
                    <a:pt x="2125" y="542"/>
                    <a:pt x="2129" y="516"/>
                    <a:pt x="2136" y="513"/>
                  </a:cubicBezTo>
                  <a:cubicBezTo>
                    <a:pt x="2143" y="510"/>
                    <a:pt x="2138" y="515"/>
                    <a:pt x="2135" y="528"/>
                  </a:cubicBezTo>
                  <a:cubicBezTo>
                    <a:pt x="2132" y="541"/>
                    <a:pt x="2144" y="545"/>
                    <a:pt x="2144" y="545"/>
                  </a:cubicBezTo>
                  <a:cubicBezTo>
                    <a:pt x="2144" y="545"/>
                    <a:pt x="2138" y="570"/>
                    <a:pt x="2141" y="570"/>
                  </a:cubicBezTo>
                  <a:cubicBezTo>
                    <a:pt x="2144" y="570"/>
                    <a:pt x="2175" y="531"/>
                    <a:pt x="2185" y="521"/>
                  </a:cubicBezTo>
                  <a:cubicBezTo>
                    <a:pt x="2195" y="511"/>
                    <a:pt x="2217" y="495"/>
                    <a:pt x="2214" y="491"/>
                  </a:cubicBezTo>
                  <a:cubicBezTo>
                    <a:pt x="2211" y="487"/>
                    <a:pt x="2202" y="490"/>
                    <a:pt x="2202" y="480"/>
                  </a:cubicBezTo>
                  <a:cubicBezTo>
                    <a:pt x="2202" y="470"/>
                    <a:pt x="2220" y="475"/>
                    <a:pt x="2240" y="475"/>
                  </a:cubicBezTo>
                  <a:cubicBezTo>
                    <a:pt x="2260" y="475"/>
                    <a:pt x="2306" y="453"/>
                    <a:pt x="2306" y="453"/>
                  </a:cubicBezTo>
                  <a:cubicBezTo>
                    <a:pt x="2293" y="447"/>
                    <a:pt x="2293" y="447"/>
                    <a:pt x="2293" y="447"/>
                  </a:cubicBezTo>
                  <a:cubicBezTo>
                    <a:pt x="2293" y="447"/>
                    <a:pt x="2269" y="458"/>
                    <a:pt x="2257" y="459"/>
                  </a:cubicBezTo>
                  <a:cubicBezTo>
                    <a:pt x="2245" y="460"/>
                    <a:pt x="2225" y="468"/>
                    <a:pt x="2228" y="455"/>
                  </a:cubicBezTo>
                  <a:cubicBezTo>
                    <a:pt x="2231" y="442"/>
                    <a:pt x="2266" y="439"/>
                    <a:pt x="2266" y="439"/>
                  </a:cubicBezTo>
                  <a:cubicBezTo>
                    <a:pt x="2326" y="438"/>
                    <a:pt x="2326" y="438"/>
                    <a:pt x="2326" y="438"/>
                  </a:cubicBezTo>
                  <a:cubicBezTo>
                    <a:pt x="2355" y="411"/>
                    <a:pt x="2355" y="411"/>
                    <a:pt x="2355" y="411"/>
                  </a:cubicBezTo>
                  <a:cubicBezTo>
                    <a:pt x="2361" y="421"/>
                    <a:pt x="2361" y="421"/>
                    <a:pt x="2361" y="421"/>
                  </a:cubicBezTo>
                  <a:cubicBezTo>
                    <a:pt x="2379" y="412"/>
                    <a:pt x="2379" y="412"/>
                    <a:pt x="2379" y="412"/>
                  </a:cubicBezTo>
                  <a:cubicBezTo>
                    <a:pt x="2377" y="435"/>
                    <a:pt x="2377" y="435"/>
                    <a:pt x="2377" y="435"/>
                  </a:cubicBezTo>
                  <a:cubicBezTo>
                    <a:pt x="2397" y="422"/>
                    <a:pt x="2397" y="422"/>
                    <a:pt x="2397" y="422"/>
                  </a:cubicBezTo>
                  <a:cubicBezTo>
                    <a:pt x="2413" y="418"/>
                    <a:pt x="2413" y="418"/>
                    <a:pt x="2413" y="418"/>
                  </a:cubicBezTo>
                  <a:cubicBezTo>
                    <a:pt x="2418" y="396"/>
                    <a:pt x="2418" y="396"/>
                    <a:pt x="2418" y="396"/>
                  </a:cubicBezTo>
                  <a:cubicBezTo>
                    <a:pt x="2409" y="388"/>
                    <a:pt x="2409" y="388"/>
                    <a:pt x="2409" y="388"/>
                  </a:cubicBezTo>
                  <a:cubicBezTo>
                    <a:pt x="2407" y="407"/>
                    <a:pt x="2407" y="407"/>
                    <a:pt x="2407" y="407"/>
                  </a:cubicBezTo>
                  <a:cubicBezTo>
                    <a:pt x="2391" y="410"/>
                    <a:pt x="2391" y="410"/>
                    <a:pt x="2391" y="410"/>
                  </a:cubicBezTo>
                  <a:cubicBezTo>
                    <a:pt x="2391" y="391"/>
                    <a:pt x="2391" y="391"/>
                    <a:pt x="2391" y="391"/>
                  </a:cubicBezTo>
                  <a:cubicBezTo>
                    <a:pt x="2378" y="377"/>
                    <a:pt x="2378" y="377"/>
                    <a:pt x="2378" y="377"/>
                  </a:cubicBezTo>
                  <a:cubicBezTo>
                    <a:pt x="2394" y="369"/>
                    <a:pt x="2394" y="369"/>
                    <a:pt x="2394" y="369"/>
                  </a:cubicBezTo>
                  <a:cubicBezTo>
                    <a:pt x="2398" y="346"/>
                    <a:pt x="2398" y="346"/>
                    <a:pt x="2398" y="346"/>
                  </a:cubicBezTo>
                  <a:cubicBezTo>
                    <a:pt x="2398" y="346"/>
                    <a:pt x="2413" y="329"/>
                    <a:pt x="2423" y="324"/>
                  </a:cubicBezTo>
                  <a:cubicBezTo>
                    <a:pt x="2433" y="319"/>
                    <a:pt x="2438" y="301"/>
                    <a:pt x="2438" y="301"/>
                  </a:cubicBezTo>
                  <a:cubicBezTo>
                    <a:pt x="2457" y="306"/>
                    <a:pt x="2457" y="306"/>
                    <a:pt x="2457" y="306"/>
                  </a:cubicBezTo>
                  <a:cubicBezTo>
                    <a:pt x="2467" y="291"/>
                    <a:pt x="2467" y="291"/>
                    <a:pt x="2467" y="291"/>
                  </a:cubicBezTo>
                  <a:cubicBezTo>
                    <a:pt x="2467" y="291"/>
                    <a:pt x="2470" y="302"/>
                    <a:pt x="2479" y="296"/>
                  </a:cubicBezTo>
                  <a:cubicBezTo>
                    <a:pt x="2488" y="290"/>
                    <a:pt x="2515" y="266"/>
                    <a:pt x="2515" y="266"/>
                  </a:cubicBezTo>
                  <a:cubicBezTo>
                    <a:pt x="2516" y="284"/>
                    <a:pt x="2516" y="284"/>
                    <a:pt x="2516" y="284"/>
                  </a:cubicBezTo>
                  <a:cubicBezTo>
                    <a:pt x="2516" y="284"/>
                    <a:pt x="2547" y="265"/>
                    <a:pt x="2556" y="260"/>
                  </a:cubicBezTo>
                  <a:cubicBezTo>
                    <a:pt x="2565" y="255"/>
                    <a:pt x="2597" y="254"/>
                    <a:pt x="2597" y="254"/>
                  </a:cubicBezTo>
                  <a:cubicBezTo>
                    <a:pt x="2597" y="232"/>
                    <a:pt x="2597" y="232"/>
                    <a:pt x="2597" y="232"/>
                  </a:cubicBezTo>
                  <a:cubicBezTo>
                    <a:pt x="2597" y="232"/>
                    <a:pt x="2598" y="232"/>
                    <a:pt x="2598" y="233"/>
                  </a:cubicBezTo>
                  <a:cubicBezTo>
                    <a:pt x="2597" y="229"/>
                    <a:pt x="2597" y="229"/>
                    <a:pt x="2597" y="229"/>
                  </a:cubicBezTo>
                  <a:cubicBezTo>
                    <a:pt x="2597" y="229"/>
                    <a:pt x="2589" y="232"/>
                    <a:pt x="2584" y="227"/>
                  </a:cubicBezTo>
                  <a:cubicBezTo>
                    <a:pt x="2579" y="222"/>
                    <a:pt x="2593" y="209"/>
                    <a:pt x="2593" y="209"/>
                  </a:cubicBezTo>
                  <a:cubicBezTo>
                    <a:pt x="2593" y="209"/>
                    <a:pt x="2585" y="205"/>
                    <a:pt x="2582" y="202"/>
                  </a:cubicBezTo>
                  <a:cubicBezTo>
                    <a:pt x="2579" y="199"/>
                    <a:pt x="2609" y="142"/>
                    <a:pt x="2609" y="125"/>
                  </a:cubicBezTo>
                  <a:cubicBezTo>
                    <a:pt x="2609" y="108"/>
                    <a:pt x="2582" y="119"/>
                    <a:pt x="2570" y="119"/>
                  </a:cubicBezTo>
                  <a:close/>
                  <a:moveTo>
                    <a:pt x="1811" y="252"/>
                  </a:moveTo>
                  <a:cubicBezTo>
                    <a:pt x="1797" y="252"/>
                    <a:pt x="1817" y="235"/>
                    <a:pt x="1810" y="232"/>
                  </a:cubicBezTo>
                  <a:cubicBezTo>
                    <a:pt x="1803" y="229"/>
                    <a:pt x="1793" y="242"/>
                    <a:pt x="1793" y="242"/>
                  </a:cubicBezTo>
                  <a:cubicBezTo>
                    <a:pt x="1788" y="244"/>
                    <a:pt x="1788" y="244"/>
                    <a:pt x="1788" y="244"/>
                  </a:cubicBezTo>
                  <a:cubicBezTo>
                    <a:pt x="1784" y="255"/>
                    <a:pt x="1784" y="255"/>
                    <a:pt x="1784" y="255"/>
                  </a:cubicBezTo>
                  <a:cubicBezTo>
                    <a:pt x="1773" y="251"/>
                    <a:pt x="1773" y="251"/>
                    <a:pt x="1773" y="251"/>
                  </a:cubicBezTo>
                  <a:cubicBezTo>
                    <a:pt x="1773" y="251"/>
                    <a:pt x="1773" y="262"/>
                    <a:pt x="1770" y="269"/>
                  </a:cubicBezTo>
                  <a:cubicBezTo>
                    <a:pt x="1767" y="276"/>
                    <a:pt x="1757" y="279"/>
                    <a:pt x="1752" y="284"/>
                  </a:cubicBezTo>
                  <a:cubicBezTo>
                    <a:pt x="1747" y="289"/>
                    <a:pt x="1753" y="297"/>
                    <a:pt x="1753" y="297"/>
                  </a:cubicBezTo>
                  <a:cubicBezTo>
                    <a:pt x="1753" y="297"/>
                    <a:pt x="1749" y="297"/>
                    <a:pt x="1736" y="311"/>
                  </a:cubicBezTo>
                  <a:cubicBezTo>
                    <a:pt x="1723" y="325"/>
                    <a:pt x="1741" y="325"/>
                    <a:pt x="1741" y="333"/>
                  </a:cubicBezTo>
                  <a:cubicBezTo>
                    <a:pt x="1741" y="341"/>
                    <a:pt x="1734" y="342"/>
                    <a:pt x="1734" y="342"/>
                  </a:cubicBezTo>
                  <a:cubicBezTo>
                    <a:pt x="1734" y="342"/>
                    <a:pt x="1742" y="346"/>
                    <a:pt x="1719" y="378"/>
                  </a:cubicBezTo>
                  <a:cubicBezTo>
                    <a:pt x="1696" y="410"/>
                    <a:pt x="1651" y="420"/>
                    <a:pt x="1651" y="420"/>
                  </a:cubicBezTo>
                  <a:cubicBezTo>
                    <a:pt x="1654" y="400"/>
                    <a:pt x="1654" y="400"/>
                    <a:pt x="1654" y="400"/>
                  </a:cubicBezTo>
                  <a:cubicBezTo>
                    <a:pt x="1654" y="400"/>
                    <a:pt x="1650" y="393"/>
                    <a:pt x="1648" y="389"/>
                  </a:cubicBezTo>
                  <a:cubicBezTo>
                    <a:pt x="1646" y="385"/>
                    <a:pt x="1663" y="365"/>
                    <a:pt x="1665" y="358"/>
                  </a:cubicBezTo>
                  <a:cubicBezTo>
                    <a:pt x="1667" y="351"/>
                    <a:pt x="1661" y="350"/>
                    <a:pt x="1663" y="338"/>
                  </a:cubicBezTo>
                  <a:cubicBezTo>
                    <a:pt x="1665" y="326"/>
                    <a:pt x="1687" y="307"/>
                    <a:pt x="1687" y="307"/>
                  </a:cubicBezTo>
                  <a:cubicBezTo>
                    <a:pt x="1687" y="298"/>
                    <a:pt x="1687" y="298"/>
                    <a:pt x="1687" y="298"/>
                  </a:cubicBezTo>
                  <a:cubicBezTo>
                    <a:pt x="1687" y="298"/>
                    <a:pt x="1708" y="283"/>
                    <a:pt x="1711" y="277"/>
                  </a:cubicBezTo>
                  <a:cubicBezTo>
                    <a:pt x="1714" y="271"/>
                    <a:pt x="1746" y="240"/>
                    <a:pt x="1746" y="240"/>
                  </a:cubicBezTo>
                  <a:cubicBezTo>
                    <a:pt x="1725" y="246"/>
                    <a:pt x="1725" y="246"/>
                    <a:pt x="1725" y="246"/>
                  </a:cubicBezTo>
                  <a:cubicBezTo>
                    <a:pt x="1725" y="246"/>
                    <a:pt x="1702" y="265"/>
                    <a:pt x="1698" y="260"/>
                  </a:cubicBezTo>
                  <a:cubicBezTo>
                    <a:pt x="1694" y="255"/>
                    <a:pt x="1734" y="231"/>
                    <a:pt x="1739" y="223"/>
                  </a:cubicBezTo>
                  <a:cubicBezTo>
                    <a:pt x="1744" y="215"/>
                    <a:pt x="1772" y="194"/>
                    <a:pt x="1772" y="194"/>
                  </a:cubicBezTo>
                  <a:cubicBezTo>
                    <a:pt x="1777" y="200"/>
                    <a:pt x="1777" y="200"/>
                    <a:pt x="1777" y="200"/>
                  </a:cubicBezTo>
                  <a:cubicBezTo>
                    <a:pt x="1787" y="194"/>
                    <a:pt x="1787" y="194"/>
                    <a:pt x="1787" y="194"/>
                  </a:cubicBezTo>
                  <a:cubicBezTo>
                    <a:pt x="1787" y="194"/>
                    <a:pt x="1782" y="203"/>
                    <a:pt x="1792" y="202"/>
                  </a:cubicBezTo>
                  <a:cubicBezTo>
                    <a:pt x="1802" y="201"/>
                    <a:pt x="1799" y="187"/>
                    <a:pt x="1799" y="187"/>
                  </a:cubicBezTo>
                  <a:cubicBezTo>
                    <a:pt x="1815" y="192"/>
                    <a:pt x="1815" y="192"/>
                    <a:pt x="1815" y="192"/>
                  </a:cubicBezTo>
                  <a:cubicBezTo>
                    <a:pt x="1815" y="192"/>
                    <a:pt x="1837" y="181"/>
                    <a:pt x="1847" y="184"/>
                  </a:cubicBezTo>
                  <a:cubicBezTo>
                    <a:pt x="1857" y="187"/>
                    <a:pt x="1862" y="199"/>
                    <a:pt x="1862" y="199"/>
                  </a:cubicBezTo>
                  <a:cubicBezTo>
                    <a:pt x="1845" y="205"/>
                    <a:pt x="1845" y="205"/>
                    <a:pt x="1845" y="205"/>
                  </a:cubicBezTo>
                  <a:cubicBezTo>
                    <a:pt x="1847" y="222"/>
                    <a:pt x="1847" y="222"/>
                    <a:pt x="1847" y="222"/>
                  </a:cubicBezTo>
                  <a:cubicBezTo>
                    <a:pt x="1847" y="222"/>
                    <a:pt x="1835" y="220"/>
                    <a:pt x="1828" y="220"/>
                  </a:cubicBezTo>
                  <a:cubicBezTo>
                    <a:pt x="1821" y="220"/>
                    <a:pt x="1824" y="237"/>
                    <a:pt x="1824" y="237"/>
                  </a:cubicBezTo>
                  <a:cubicBezTo>
                    <a:pt x="1824" y="237"/>
                    <a:pt x="1825" y="252"/>
                    <a:pt x="1811" y="252"/>
                  </a:cubicBezTo>
                  <a:close/>
                </a:path>
              </a:pathLst>
            </a:custGeom>
            <a:solidFill>
              <a:schemeClr val="bg1">
                <a:lumMod val="95000"/>
              </a:schemeClr>
            </a:solidFill>
            <a:ln w="3175" cap="flat" cmpd="sng">
              <a:no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567" name="Freeform 359">
              <a:extLst>
                <a:ext uri="{FF2B5EF4-FFF2-40B4-BE49-F238E27FC236}">
                  <a16:creationId xmlns:a16="http://schemas.microsoft.com/office/drawing/2014/main" id="{290FA296-6EFF-4447-A455-40934A7008B8}"/>
                </a:ext>
              </a:extLst>
            </p:cNvPr>
            <p:cNvSpPr>
              <a:spLocks noEditPoints="1"/>
            </p:cNvSpPr>
            <p:nvPr/>
          </p:nvSpPr>
          <p:spPr bwMode="gray">
            <a:xfrm>
              <a:off x="3836207" y="1324321"/>
              <a:ext cx="185211" cy="93664"/>
            </a:xfrm>
            <a:custGeom>
              <a:avLst/>
              <a:gdLst>
                <a:gd name="T0" fmla="*/ 11 w 273"/>
                <a:gd name="T1" fmla="*/ 2 h 146"/>
                <a:gd name="T2" fmla="*/ 6 w 273"/>
                <a:gd name="T3" fmla="*/ 13 h 146"/>
                <a:gd name="T4" fmla="*/ 11 w 273"/>
                <a:gd name="T5" fmla="*/ 2 h 146"/>
                <a:gd name="T6" fmla="*/ 115 w 273"/>
                <a:gd name="T7" fmla="*/ 57 h 146"/>
                <a:gd name="T8" fmla="*/ 142 w 273"/>
                <a:gd name="T9" fmla="*/ 62 h 146"/>
                <a:gd name="T10" fmla="*/ 129 w 273"/>
                <a:gd name="T11" fmla="*/ 52 h 146"/>
                <a:gd name="T12" fmla="*/ 119 w 273"/>
                <a:gd name="T13" fmla="*/ 52 h 146"/>
                <a:gd name="T14" fmla="*/ 115 w 273"/>
                <a:gd name="T15" fmla="*/ 57 h 146"/>
                <a:gd name="T16" fmla="*/ 190 w 273"/>
                <a:gd name="T17" fmla="*/ 47 h 146"/>
                <a:gd name="T18" fmla="*/ 180 w 273"/>
                <a:gd name="T19" fmla="*/ 38 h 146"/>
                <a:gd name="T20" fmla="*/ 169 w 273"/>
                <a:gd name="T21" fmla="*/ 43 h 146"/>
                <a:gd name="T22" fmla="*/ 190 w 273"/>
                <a:gd name="T23" fmla="*/ 47 h 146"/>
                <a:gd name="T24" fmla="*/ 249 w 273"/>
                <a:gd name="T25" fmla="*/ 100 h 146"/>
                <a:gd name="T26" fmla="*/ 266 w 273"/>
                <a:gd name="T27" fmla="*/ 93 h 146"/>
                <a:gd name="T28" fmla="*/ 249 w 273"/>
                <a:gd name="T29" fmla="*/ 90 h 146"/>
                <a:gd name="T30" fmla="*/ 232 w 273"/>
                <a:gd name="T31" fmla="*/ 87 h 146"/>
                <a:gd name="T32" fmla="*/ 249 w 273"/>
                <a:gd name="T33" fmla="*/ 100 h 146"/>
                <a:gd name="T34" fmla="*/ 260 w 273"/>
                <a:gd name="T35" fmla="*/ 145 h 146"/>
                <a:gd name="T36" fmla="*/ 260 w 273"/>
                <a:gd name="T37" fmla="*/ 131 h 146"/>
                <a:gd name="T38" fmla="*/ 260 w 273"/>
                <a:gd name="T39" fmla="*/ 145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73" h="146">
                  <a:moveTo>
                    <a:pt x="11" y="2"/>
                  </a:moveTo>
                  <a:cubicBezTo>
                    <a:pt x="15" y="4"/>
                    <a:pt x="12" y="16"/>
                    <a:pt x="6" y="13"/>
                  </a:cubicBezTo>
                  <a:cubicBezTo>
                    <a:pt x="0" y="11"/>
                    <a:pt x="6" y="0"/>
                    <a:pt x="11" y="2"/>
                  </a:cubicBezTo>
                  <a:close/>
                  <a:moveTo>
                    <a:pt x="115" y="57"/>
                  </a:moveTo>
                  <a:cubicBezTo>
                    <a:pt x="121" y="68"/>
                    <a:pt x="142" y="62"/>
                    <a:pt x="142" y="62"/>
                  </a:cubicBezTo>
                  <a:cubicBezTo>
                    <a:pt x="129" y="52"/>
                    <a:pt x="129" y="52"/>
                    <a:pt x="129" y="52"/>
                  </a:cubicBezTo>
                  <a:cubicBezTo>
                    <a:pt x="119" y="52"/>
                    <a:pt x="119" y="52"/>
                    <a:pt x="119" y="52"/>
                  </a:cubicBezTo>
                  <a:lnTo>
                    <a:pt x="115" y="57"/>
                  </a:lnTo>
                  <a:close/>
                  <a:moveTo>
                    <a:pt x="190" y="47"/>
                  </a:moveTo>
                  <a:cubicBezTo>
                    <a:pt x="190" y="47"/>
                    <a:pt x="185" y="39"/>
                    <a:pt x="180" y="38"/>
                  </a:cubicBezTo>
                  <a:cubicBezTo>
                    <a:pt x="175" y="36"/>
                    <a:pt x="169" y="43"/>
                    <a:pt x="169" y="43"/>
                  </a:cubicBezTo>
                  <a:cubicBezTo>
                    <a:pt x="181" y="57"/>
                    <a:pt x="190" y="47"/>
                    <a:pt x="190" y="47"/>
                  </a:cubicBezTo>
                  <a:close/>
                  <a:moveTo>
                    <a:pt x="249" y="100"/>
                  </a:moveTo>
                  <a:cubicBezTo>
                    <a:pt x="256" y="101"/>
                    <a:pt x="267" y="100"/>
                    <a:pt x="266" y="93"/>
                  </a:cubicBezTo>
                  <a:cubicBezTo>
                    <a:pt x="265" y="86"/>
                    <a:pt x="253" y="90"/>
                    <a:pt x="249" y="90"/>
                  </a:cubicBezTo>
                  <a:cubicBezTo>
                    <a:pt x="245" y="91"/>
                    <a:pt x="232" y="87"/>
                    <a:pt x="232" y="87"/>
                  </a:cubicBezTo>
                  <a:cubicBezTo>
                    <a:pt x="226" y="96"/>
                    <a:pt x="241" y="99"/>
                    <a:pt x="249" y="100"/>
                  </a:cubicBezTo>
                  <a:close/>
                  <a:moveTo>
                    <a:pt x="260" y="145"/>
                  </a:moveTo>
                  <a:cubicBezTo>
                    <a:pt x="273" y="146"/>
                    <a:pt x="260" y="131"/>
                    <a:pt x="260" y="131"/>
                  </a:cubicBezTo>
                  <a:cubicBezTo>
                    <a:pt x="259" y="129"/>
                    <a:pt x="248" y="144"/>
                    <a:pt x="260" y="145"/>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568" name="Freeform 360">
              <a:extLst>
                <a:ext uri="{FF2B5EF4-FFF2-40B4-BE49-F238E27FC236}">
                  <a16:creationId xmlns:a16="http://schemas.microsoft.com/office/drawing/2014/main" id="{BD195F1D-FBF6-4279-ACDF-C20FE38E59FF}"/>
                </a:ext>
              </a:extLst>
            </p:cNvPr>
            <p:cNvSpPr>
              <a:spLocks/>
            </p:cNvSpPr>
            <p:nvPr/>
          </p:nvSpPr>
          <p:spPr bwMode="gray">
            <a:xfrm>
              <a:off x="8290760" y="2433080"/>
              <a:ext cx="312706" cy="227779"/>
            </a:xfrm>
            <a:custGeom>
              <a:avLst/>
              <a:gdLst>
                <a:gd name="T0" fmla="*/ 444 w 461"/>
                <a:gd name="T1" fmla="*/ 131 h 355"/>
                <a:gd name="T2" fmla="*/ 461 w 461"/>
                <a:gd name="T3" fmla="*/ 111 h 355"/>
                <a:gd name="T4" fmla="*/ 444 w 461"/>
                <a:gd name="T5" fmla="*/ 105 h 355"/>
                <a:gd name="T6" fmla="*/ 433 w 461"/>
                <a:gd name="T7" fmla="*/ 88 h 355"/>
                <a:gd name="T8" fmla="*/ 393 w 461"/>
                <a:gd name="T9" fmla="*/ 77 h 355"/>
                <a:gd name="T10" fmla="*/ 380 w 461"/>
                <a:gd name="T11" fmla="*/ 46 h 355"/>
                <a:gd name="T12" fmla="*/ 354 w 461"/>
                <a:gd name="T13" fmla="*/ 42 h 355"/>
                <a:gd name="T14" fmla="*/ 343 w 461"/>
                <a:gd name="T15" fmla="*/ 1 h 355"/>
                <a:gd name="T16" fmla="*/ 339 w 461"/>
                <a:gd name="T17" fmla="*/ 14 h 355"/>
                <a:gd name="T18" fmla="*/ 329 w 461"/>
                <a:gd name="T19" fmla="*/ 0 h 355"/>
                <a:gd name="T20" fmla="*/ 323 w 461"/>
                <a:gd name="T21" fmla="*/ 41 h 355"/>
                <a:gd name="T22" fmla="*/ 301 w 461"/>
                <a:gd name="T23" fmla="*/ 50 h 355"/>
                <a:gd name="T24" fmla="*/ 293 w 461"/>
                <a:gd name="T25" fmla="*/ 77 h 355"/>
                <a:gd name="T26" fmla="*/ 276 w 461"/>
                <a:gd name="T27" fmla="*/ 83 h 355"/>
                <a:gd name="T28" fmla="*/ 283 w 461"/>
                <a:gd name="T29" fmla="*/ 107 h 355"/>
                <a:gd name="T30" fmla="*/ 243 w 461"/>
                <a:gd name="T31" fmla="*/ 101 h 355"/>
                <a:gd name="T32" fmla="*/ 236 w 461"/>
                <a:gd name="T33" fmla="*/ 102 h 355"/>
                <a:gd name="T34" fmla="*/ 266 w 461"/>
                <a:gd name="T35" fmla="*/ 177 h 355"/>
                <a:gd name="T36" fmla="*/ 255 w 461"/>
                <a:gd name="T37" fmla="*/ 171 h 355"/>
                <a:gd name="T38" fmla="*/ 242 w 461"/>
                <a:gd name="T39" fmla="*/ 151 h 355"/>
                <a:gd name="T40" fmla="*/ 242 w 461"/>
                <a:gd name="T41" fmla="*/ 183 h 355"/>
                <a:gd name="T42" fmla="*/ 231 w 461"/>
                <a:gd name="T43" fmla="*/ 191 h 355"/>
                <a:gd name="T44" fmla="*/ 214 w 461"/>
                <a:gd name="T45" fmla="*/ 166 h 355"/>
                <a:gd name="T46" fmla="*/ 206 w 461"/>
                <a:gd name="T47" fmla="*/ 160 h 355"/>
                <a:gd name="T48" fmla="*/ 200 w 461"/>
                <a:gd name="T49" fmla="*/ 166 h 355"/>
                <a:gd name="T50" fmla="*/ 176 w 461"/>
                <a:gd name="T51" fmla="*/ 213 h 355"/>
                <a:gd name="T52" fmla="*/ 110 w 461"/>
                <a:gd name="T53" fmla="*/ 235 h 355"/>
                <a:gd name="T54" fmla="*/ 69 w 461"/>
                <a:gd name="T55" fmla="*/ 262 h 355"/>
                <a:gd name="T56" fmla="*/ 60 w 461"/>
                <a:gd name="T57" fmla="*/ 285 h 355"/>
                <a:gd name="T58" fmla="*/ 65 w 461"/>
                <a:gd name="T59" fmla="*/ 317 h 355"/>
                <a:gd name="T60" fmla="*/ 23 w 461"/>
                <a:gd name="T61" fmla="*/ 305 h 355"/>
                <a:gd name="T62" fmla="*/ 0 w 461"/>
                <a:gd name="T63" fmla="*/ 322 h 355"/>
                <a:gd name="T64" fmla="*/ 0 w 461"/>
                <a:gd name="T65" fmla="*/ 322 h 355"/>
                <a:gd name="T66" fmla="*/ 9 w 461"/>
                <a:gd name="T67" fmla="*/ 338 h 355"/>
                <a:gd name="T68" fmla="*/ 43 w 461"/>
                <a:gd name="T69" fmla="*/ 352 h 355"/>
                <a:gd name="T70" fmla="*/ 61 w 461"/>
                <a:gd name="T71" fmla="*/ 342 h 355"/>
                <a:gd name="T72" fmla="*/ 98 w 461"/>
                <a:gd name="T73" fmla="*/ 345 h 355"/>
                <a:gd name="T74" fmla="*/ 121 w 461"/>
                <a:gd name="T75" fmla="*/ 318 h 355"/>
                <a:gd name="T76" fmla="*/ 150 w 461"/>
                <a:gd name="T77" fmla="*/ 318 h 355"/>
                <a:gd name="T78" fmla="*/ 182 w 461"/>
                <a:gd name="T79" fmla="*/ 335 h 355"/>
                <a:gd name="T80" fmla="*/ 203 w 461"/>
                <a:gd name="T81" fmla="*/ 322 h 355"/>
                <a:gd name="T82" fmla="*/ 219 w 461"/>
                <a:gd name="T83" fmla="*/ 322 h 355"/>
                <a:gd name="T84" fmla="*/ 236 w 461"/>
                <a:gd name="T85" fmla="*/ 299 h 355"/>
                <a:gd name="T86" fmla="*/ 235 w 461"/>
                <a:gd name="T87" fmla="*/ 287 h 355"/>
                <a:gd name="T88" fmla="*/ 257 w 461"/>
                <a:gd name="T89" fmla="*/ 268 h 355"/>
                <a:gd name="T90" fmla="*/ 252 w 461"/>
                <a:gd name="T91" fmla="*/ 243 h 355"/>
                <a:gd name="T92" fmla="*/ 265 w 461"/>
                <a:gd name="T93" fmla="*/ 235 h 355"/>
                <a:gd name="T94" fmla="*/ 275 w 461"/>
                <a:gd name="T95" fmla="*/ 204 h 355"/>
                <a:gd name="T96" fmla="*/ 284 w 461"/>
                <a:gd name="T97" fmla="*/ 165 h 355"/>
                <a:gd name="T98" fmla="*/ 344 w 461"/>
                <a:gd name="T99" fmla="*/ 166 h 355"/>
                <a:gd name="T100" fmla="*/ 375 w 461"/>
                <a:gd name="T101" fmla="*/ 190 h 355"/>
                <a:gd name="T102" fmla="*/ 374 w 461"/>
                <a:gd name="T103" fmla="*/ 189 h 355"/>
                <a:gd name="T104" fmla="*/ 387 w 461"/>
                <a:gd name="T105" fmla="*/ 186 h 355"/>
                <a:gd name="T106" fmla="*/ 378 w 461"/>
                <a:gd name="T107" fmla="*/ 144 h 355"/>
                <a:gd name="T108" fmla="*/ 402 w 461"/>
                <a:gd name="T109" fmla="*/ 162 h 355"/>
                <a:gd name="T110" fmla="*/ 427 w 461"/>
                <a:gd name="T111" fmla="*/ 160 h 355"/>
                <a:gd name="T112" fmla="*/ 408 w 461"/>
                <a:gd name="T113" fmla="*/ 126 h 355"/>
                <a:gd name="T114" fmla="*/ 444 w 461"/>
                <a:gd name="T115" fmla="*/ 131 h 3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461" h="355">
                  <a:moveTo>
                    <a:pt x="444" y="131"/>
                  </a:moveTo>
                  <a:cubicBezTo>
                    <a:pt x="461" y="111"/>
                    <a:pt x="461" y="111"/>
                    <a:pt x="461" y="111"/>
                  </a:cubicBezTo>
                  <a:cubicBezTo>
                    <a:pt x="444" y="105"/>
                    <a:pt x="444" y="105"/>
                    <a:pt x="444" y="105"/>
                  </a:cubicBezTo>
                  <a:cubicBezTo>
                    <a:pt x="444" y="105"/>
                    <a:pt x="441" y="93"/>
                    <a:pt x="433" y="88"/>
                  </a:cubicBezTo>
                  <a:cubicBezTo>
                    <a:pt x="425" y="82"/>
                    <a:pt x="393" y="77"/>
                    <a:pt x="393" y="77"/>
                  </a:cubicBezTo>
                  <a:cubicBezTo>
                    <a:pt x="393" y="77"/>
                    <a:pt x="392" y="58"/>
                    <a:pt x="380" y="46"/>
                  </a:cubicBezTo>
                  <a:cubicBezTo>
                    <a:pt x="367" y="33"/>
                    <a:pt x="354" y="42"/>
                    <a:pt x="354" y="42"/>
                  </a:cubicBezTo>
                  <a:cubicBezTo>
                    <a:pt x="343" y="1"/>
                    <a:pt x="343" y="1"/>
                    <a:pt x="343" y="1"/>
                  </a:cubicBezTo>
                  <a:cubicBezTo>
                    <a:pt x="339" y="14"/>
                    <a:pt x="339" y="14"/>
                    <a:pt x="339" y="14"/>
                  </a:cubicBezTo>
                  <a:cubicBezTo>
                    <a:pt x="329" y="0"/>
                    <a:pt x="329" y="0"/>
                    <a:pt x="329" y="0"/>
                  </a:cubicBezTo>
                  <a:cubicBezTo>
                    <a:pt x="323" y="41"/>
                    <a:pt x="323" y="41"/>
                    <a:pt x="323" y="41"/>
                  </a:cubicBezTo>
                  <a:cubicBezTo>
                    <a:pt x="323" y="41"/>
                    <a:pt x="308" y="45"/>
                    <a:pt x="301" y="50"/>
                  </a:cubicBezTo>
                  <a:cubicBezTo>
                    <a:pt x="294" y="55"/>
                    <a:pt x="293" y="77"/>
                    <a:pt x="293" y="77"/>
                  </a:cubicBezTo>
                  <a:cubicBezTo>
                    <a:pt x="276" y="83"/>
                    <a:pt x="276" y="83"/>
                    <a:pt x="276" y="83"/>
                  </a:cubicBezTo>
                  <a:cubicBezTo>
                    <a:pt x="283" y="107"/>
                    <a:pt x="283" y="107"/>
                    <a:pt x="283" y="107"/>
                  </a:cubicBezTo>
                  <a:cubicBezTo>
                    <a:pt x="283" y="107"/>
                    <a:pt x="259" y="104"/>
                    <a:pt x="243" y="101"/>
                  </a:cubicBezTo>
                  <a:cubicBezTo>
                    <a:pt x="241" y="100"/>
                    <a:pt x="238" y="101"/>
                    <a:pt x="236" y="102"/>
                  </a:cubicBezTo>
                  <a:cubicBezTo>
                    <a:pt x="259" y="120"/>
                    <a:pt x="266" y="177"/>
                    <a:pt x="266" y="177"/>
                  </a:cubicBezTo>
                  <a:cubicBezTo>
                    <a:pt x="255" y="171"/>
                    <a:pt x="255" y="171"/>
                    <a:pt x="255" y="171"/>
                  </a:cubicBezTo>
                  <a:cubicBezTo>
                    <a:pt x="242" y="151"/>
                    <a:pt x="242" y="151"/>
                    <a:pt x="242" y="151"/>
                  </a:cubicBezTo>
                  <a:cubicBezTo>
                    <a:pt x="242" y="151"/>
                    <a:pt x="243" y="175"/>
                    <a:pt x="242" y="183"/>
                  </a:cubicBezTo>
                  <a:cubicBezTo>
                    <a:pt x="241" y="190"/>
                    <a:pt x="231" y="191"/>
                    <a:pt x="231" y="191"/>
                  </a:cubicBezTo>
                  <a:cubicBezTo>
                    <a:pt x="214" y="166"/>
                    <a:pt x="214" y="166"/>
                    <a:pt x="214" y="166"/>
                  </a:cubicBezTo>
                  <a:cubicBezTo>
                    <a:pt x="206" y="160"/>
                    <a:pt x="206" y="160"/>
                    <a:pt x="206" y="160"/>
                  </a:cubicBezTo>
                  <a:cubicBezTo>
                    <a:pt x="200" y="166"/>
                    <a:pt x="200" y="166"/>
                    <a:pt x="200" y="166"/>
                  </a:cubicBezTo>
                  <a:cubicBezTo>
                    <a:pt x="200" y="166"/>
                    <a:pt x="192" y="201"/>
                    <a:pt x="176" y="213"/>
                  </a:cubicBezTo>
                  <a:cubicBezTo>
                    <a:pt x="160" y="224"/>
                    <a:pt x="119" y="232"/>
                    <a:pt x="110" y="235"/>
                  </a:cubicBezTo>
                  <a:cubicBezTo>
                    <a:pt x="101" y="237"/>
                    <a:pt x="69" y="262"/>
                    <a:pt x="69" y="262"/>
                  </a:cubicBezTo>
                  <a:cubicBezTo>
                    <a:pt x="60" y="285"/>
                    <a:pt x="60" y="285"/>
                    <a:pt x="60" y="285"/>
                  </a:cubicBezTo>
                  <a:cubicBezTo>
                    <a:pt x="60" y="285"/>
                    <a:pt x="84" y="303"/>
                    <a:pt x="65" y="317"/>
                  </a:cubicBezTo>
                  <a:cubicBezTo>
                    <a:pt x="47" y="331"/>
                    <a:pt x="34" y="308"/>
                    <a:pt x="23" y="305"/>
                  </a:cubicBezTo>
                  <a:cubicBezTo>
                    <a:pt x="13" y="303"/>
                    <a:pt x="0" y="322"/>
                    <a:pt x="0" y="322"/>
                  </a:cubicBezTo>
                  <a:cubicBezTo>
                    <a:pt x="0" y="322"/>
                    <a:pt x="0" y="322"/>
                    <a:pt x="0" y="322"/>
                  </a:cubicBezTo>
                  <a:cubicBezTo>
                    <a:pt x="3" y="328"/>
                    <a:pt x="5" y="334"/>
                    <a:pt x="9" y="338"/>
                  </a:cubicBezTo>
                  <a:cubicBezTo>
                    <a:pt x="17" y="347"/>
                    <a:pt x="39" y="355"/>
                    <a:pt x="43" y="352"/>
                  </a:cubicBezTo>
                  <a:cubicBezTo>
                    <a:pt x="47" y="350"/>
                    <a:pt x="46" y="342"/>
                    <a:pt x="61" y="342"/>
                  </a:cubicBezTo>
                  <a:cubicBezTo>
                    <a:pt x="75" y="342"/>
                    <a:pt x="88" y="351"/>
                    <a:pt x="98" y="345"/>
                  </a:cubicBezTo>
                  <a:cubicBezTo>
                    <a:pt x="108" y="339"/>
                    <a:pt x="121" y="318"/>
                    <a:pt x="121" y="318"/>
                  </a:cubicBezTo>
                  <a:cubicBezTo>
                    <a:pt x="121" y="318"/>
                    <a:pt x="146" y="315"/>
                    <a:pt x="150" y="318"/>
                  </a:cubicBezTo>
                  <a:cubicBezTo>
                    <a:pt x="154" y="320"/>
                    <a:pt x="179" y="336"/>
                    <a:pt x="182" y="335"/>
                  </a:cubicBezTo>
                  <a:cubicBezTo>
                    <a:pt x="185" y="335"/>
                    <a:pt x="203" y="322"/>
                    <a:pt x="203" y="322"/>
                  </a:cubicBezTo>
                  <a:cubicBezTo>
                    <a:pt x="219" y="322"/>
                    <a:pt x="219" y="322"/>
                    <a:pt x="219" y="322"/>
                  </a:cubicBezTo>
                  <a:cubicBezTo>
                    <a:pt x="236" y="299"/>
                    <a:pt x="236" y="299"/>
                    <a:pt x="236" y="299"/>
                  </a:cubicBezTo>
                  <a:cubicBezTo>
                    <a:pt x="235" y="287"/>
                    <a:pt x="235" y="287"/>
                    <a:pt x="235" y="287"/>
                  </a:cubicBezTo>
                  <a:cubicBezTo>
                    <a:pt x="257" y="268"/>
                    <a:pt x="257" y="268"/>
                    <a:pt x="257" y="268"/>
                  </a:cubicBezTo>
                  <a:cubicBezTo>
                    <a:pt x="257" y="268"/>
                    <a:pt x="245" y="252"/>
                    <a:pt x="252" y="243"/>
                  </a:cubicBezTo>
                  <a:cubicBezTo>
                    <a:pt x="258" y="234"/>
                    <a:pt x="265" y="235"/>
                    <a:pt x="265" y="235"/>
                  </a:cubicBezTo>
                  <a:cubicBezTo>
                    <a:pt x="265" y="235"/>
                    <a:pt x="274" y="220"/>
                    <a:pt x="275" y="204"/>
                  </a:cubicBezTo>
                  <a:cubicBezTo>
                    <a:pt x="277" y="188"/>
                    <a:pt x="270" y="166"/>
                    <a:pt x="284" y="165"/>
                  </a:cubicBezTo>
                  <a:cubicBezTo>
                    <a:pt x="299" y="164"/>
                    <a:pt x="340" y="165"/>
                    <a:pt x="344" y="166"/>
                  </a:cubicBezTo>
                  <a:cubicBezTo>
                    <a:pt x="348" y="166"/>
                    <a:pt x="367" y="183"/>
                    <a:pt x="375" y="190"/>
                  </a:cubicBezTo>
                  <a:cubicBezTo>
                    <a:pt x="374" y="189"/>
                    <a:pt x="374" y="189"/>
                    <a:pt x="374" y="189"/>
                  </a:cubicBezTo>
                  <a:cubicBezTo>
                    <a:pt x="387" y="186"/>
                    <a:pt x="387" y="186"/>
                    <a:pt x="387" y="186"/>
                  </a:cubicBezTo>
                  <a:cubicBezTo>
                    <a:pt x="378" y="144"/>
                    <a:pt x="378" y="144"/>
                    <a:pt x="378" y="144"/>
                  </a:cubicBezTo>
                  <a:cubicBezTo>
                    <a:pt x="378" y="144"/>
                    <a:pt x="393" y="160"/>
                    <a:pt x="402" y="162"/>
                  </a:cubicBezTo>
                  <a:cubicBezTo>
                    <a:pt x="412" y="163"/>
                    <a:pt x="427" y="160"/>
                    <a:pt x="427" y="160"/>
                  </a:cubicBezTo>
                  <a:cubicBezTo>
                    <a:pt x="427" y="160"/>
                    <a:pt x="402" y="136"/>
                    <a:pt x="408" y="126"/>
                  </a:cubicBezTo>
                  <a:cubicBezTo>
                    <a:pt x="413" y="115"/>
                    <a:pt x="444" y="131"/>
                    <a:pt x="444" y="131"/>
                  </a:cubicBez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569" name="Freeform 361">
              <a:extLst>
                <a:ext uri="{FF2B5EF4-FFF2-40B4-BE49-F238E27FC236}">
                  <a16:creationId xmlns:a16="http://schemas.microsoft.com/office/drawing/2014/main" id="{491FB7DA-92F3-428A-AF11-F40F0C737921}"/>
                </a:ext>
              </a:extLst>
            </p:cNvPr>
            <p:cNvSpPr>
              <a:spLocks/>
            </p:cNvSpPr>
            <p:nvPr/>
          </p:nvSpPr>
          <p:spPr bwMode="gray">
            <a:xfrm>
              <a:off x="8430315" y="2498508"/>
              <a:ext cx="40775" cy="57284"/>
            </a:xfrm>
            <a:custGeom>
              <a:avLst/>
              <a:gdLst>
                <a:gd name="T0" fmla="*/ 25 w 60"/>
                <a:gd name="T1" fmla="*/ 89 h 89"/>
                <a:gd name="T2" fmla="*/ 36 w 60"/>
                <a:gd name="T3" fmla="*/ 81 h 89"/>
                <a:gd name="T4" fmla="*/ 36 w 60"/>
                <a:gd name="T5" fmla="*/ 49 h 89"/>
                <a:gd name="T6" fmla="*/ 49 w 60"/>
                <a:gd name="T7" fmla="*/ 69 h 89"/>
                <a:gd name="T8" fmla="*/ 60 w 60"/>
                <a:gd name="T9" fmla="*/ 75 h 89"/>
                <a:gd name="T10" fmla="*/ 30 w 60"/>
                <a:gd name="T11" fmla="*/ 0 h 89"/>
                <a:gd name="T12" fmla="*/ 21 w 60"/>
                <a:gd name="T13" fmla="*/ 34 h 89"/>
                <a:gd name="T14" fmla="*/ 0 w 60"/>
                <a:gd name="T15" fmla="*/ 58 h 89"/>
                <a:gd name="T16" fmla="*/ 8 w 60"/>
                <a:gd name="T17" fmla="*/ 64 h 89"/>
                <a:gd name="T18" fmla="*/ 25 w 60"/>
                <a:gd name="T19" fmla="*/ 89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89">
                  <a:moveTo>
                    <a:pt x="25" y="89"/>
                  </a:moveTo>
                  <a:cubicBezTo>
                    <a:pt x="25" y="89"/>
                    <a:pt x="35" y="88"/>
                    <a:pt x="36" y="81"/>
                  </a:cubicBezTo>
                  <a:cubicBezTo>
                    <a:pt x="37" y="73"/>
                    <a:pt x="36" y="49"/>
                    <a:pt x="36" y="49"/>
                  </a:cubicBezTo>
                  <a:cubicBezTo>
                    <a:pt x="49" y="69"/>
                    <a:pt x="49" y="69"/>
                    <a:pt x="49" y="69"/>
                  </a:cubicBezTo>
                  <a:cubicBezTo>
                    <a:pt x="60" y="75"/>
                    <a:pt x="60" y="75"/>
                    <a:pt x="60" y="75"/>
                  </a:cubicBezTo>
                  <a:cubicBezTo>
                    <a:pt x="60" y="75"/>
                    <a:pt x="53" y="18"/>
                    <a:pt x="30" y="0"/>
                  </a:cubicBezTo>
                  <a:cubicBezTo>
                    <a:pt x="22" y="8"/>
                    <a:pt x="21" y="34"/>
                    <a:pt x="21" y="34"/>
                  </a:cubicBezTo>
                  <a:cubicBezTo>
                    <a:pt x="0" y="58"/>
                    <a:pt x="0" y="58"/>
                    <a:pt x="0" y="58"/>
                  </a:cubicBezTo>
                  <a:cubicBezTo>
                    <a:pt x="8" y="64"/>
                    <a:pt x="8" y="64"/>
                    <a:pt x="8" y="64"/>
                  </a:cubicBezTo>
                  <a:lnTo>
                    <a:pt x="25" y="89"/>
                  </a:lnTo>
                  <a:close/>
                </a:path>
              </a:pathLst>
            </a:custGeom>
            <a:solidFill>
              <a:schemeClr val="bg1">
                <a:lumMod val="95000"/>
              </a:schemeClr>
            </a:solidFill>
            <a:ln w="3175" cap="flat" cmpd="sng">
              <a:solidFill>
                <a:srgbClr val="E6E6E6"/>
              </a:solidFill>
              <a:prstDash val="solid"/>
              <a:miter lim="800000"/>
              <a:headEnd type="none" w="med" len="med"/>
              <a:tailEnd type="none" w="med" len="med"/>
            </a:ln>
            <a:effectLst/>
          </p:spPr>
          <p:txBody>
            <a:bodyPr/>
            <a:lstStyle/>
            <a:p>
              <a:pPr marL="0" marR="0" lvl="0" indent="0" defTabSz="877824"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a:ln>
                  <a:noFill/>
                </a:ln>
                <a:solidFill>
                  <a:prstClr val="black"/>
                </a:solidFill>
                <a:effectLst/>
                <a:uLnTx/>
                <a:uFillTx/>
              </a:endParaRPr>
            </a:p>
          </p:txBody>
        </p:sp>
        <p:sp>
          <p:nvSpPr>
            <p:cNvPr id="570" name="Freeform 233">
              <a:extLst>
                <a:ext uri="{FF2B5EF4-FFF2-40B4-BE49-F238E27FC236}">
                  <a16:creationId xmlns:a16="http://schemas.microsoft.com/office/drawing/2014/main" id="{693E0B4B-0A68-4A3F-8A89-3623801FDD7D}"/>
                </a:ext>
              </a:extLst>
            </p:cNvPr>
            <p:cNvSpPr>
              <a:spLocks/>
            </p:cNvSpPr>
            <p:nvPr userDrawn="1"/>
          </p:nvSpPr>
          <p:spPr bwMode="gray">
            <a:xfrm>
              <a:off x="6089471" y="1316719"/>
              <a:ext cx="650681" cy="506055"/>
            </a:xfrm>
            <a:custGeom>
              <a:avLst/>
              <a:gdLst>
                <a:gd name="T0" fmla="*/ 900 w 959"/>
                <a:gd name="T1" fmla="*/ 739 h 789"/>
                <a:gd name="T2" fmla="*/ 931 w 959"/>
                <a:gd name="T3" fmla="*/ 708 h 789"/>
                <a:gd name="T4" fmla="*/ 933 w 959"/>
                <a:gd name="T5" fmla="*/ 673 h 789"/>
                <a:gd name="T6" fmla="*/ 929 w 959"/>
                <a:gd name="T7" fmla="*/ 621 h 789"/>
                <a:gd name="T8" fmla="*/ 884 w 959"/>
                <a:gd name="T9" fmla="*/ 609 h 789"/>
                <a:gd name="T10" fmla="*/ 825 w 959"/>
                <a:gd name="T11" fmla="*/ 533 h 789"/>
                <a:gd name="T12" fmla="*/ 839 w 959"/>
                <a:gd name="T13" fmla="*/ 453 h 789"/>
                <a:gd name="T14" fmla="*/ 784 w 959"/>
                <a:gd name="T15" fmla="*/ 364 h 789"/>
                <a:gd name="T16" fmla="*/ 780 w 959"/>
                <a:gd name="T17" fmla="*/ 315 h 789"/>
                <a:gd name="T18" fmla="*/ 784 w 959"/>
                <a:gd name="T19" fmla="*/ 280 h 789"/>
                <a:gd name="T20" fmla="*/ 799 w 959"/>
                <a:gd name="T21" fmla="*/ 225 h 789"/>
                <a:gd name="T22" fmla="*/ 786 w 959"/>
                <a:gd name="T23" fmla="*/ 189 h 789"/>
                <a:gd name="T24" fmla="*/ 723 w 959"/>
                <a:gd name="T25" fmla="*/ 149 h 789"/>
                <a:gd name="T26" fmla="*/ 648 w 959"/>
                <a:gd name="T27" fmla="*/ 116 h 789"/>
                <a:gd name="T28" fmla="*/ 602 w 959"/>
                <a:gd name="T29" fmla="*/ 103 h 789"/>
                <a:gd name="T30" fmla="*/ 556 w 959"/>
                <a:gd name="T31" fmla="*/ 85 h 789"/>
                <a:gd name="T32" fmla="*/ 487 w 959"/>
                <a:gd name="T33" fmla="*/ 115 h 789"/>
                <a:gd name="T34" fmla="*/ 452 w 959"/>
                <a:gd name="T35" fmla="*/ 133 h 789"/>
                <a:gd name="T36" fmla="*/ 399 w 959"/>
                <a:gd name="T37" fmla="*/ 164 h 789"/>
                <a:gd name="T38" fmla="*/ 309 w 959"/>
                <a:gd name="T39" fmla="*/ 155 h 789"/>
                <a:gd name="T40" fmla="*/ 233 w 959"/>
                <a:gd name="T41" fmla="*/ 110 h 789"/>
                <a:gd name="T42" fmla="*/ 199 w 959"/>
                <a:gd name="T43" fmla="*/ 69 h 789"/>
                <a:gd name="T44" fmla="*/ 181 w 959"/>
                <a:gd name="T45" fmla="*/ 33 h 789"/>
                <a:gd name="T46" fmla="*/ 128 w 959"/>
                <a:gd name="T47" fmla="*/ 35 h 789"/>
                <a:gd name="T48" fmla="*/ 45 w 959"/>
                <a:gd name="T49" fmla="*/ 30 h 789"/>
                <a:gd name="T50" fmla="*/ 0 w 959"/>
                <a:gd name="T51" fmla="*/ 24 h 789"/>
                <a:gd name="T52" fmla="*/ 24 w 959"/>
                <a:gd name="T53" fmla="*/ 78 h 789"/>
                <a:gd name="T54" fmla="*/ 37 w 959"/>
                <a:gd name="T55" fmla="*/ 129 h 789"/>
                <a:gd name="T56" fmla="*/ 79 w 959"/>
                <a:gd name="T57" fmla="*/ 203 h 789"/>
                <a:gd name="T58" fmla="*/ 123 w 959"/>
                <a:gd name="T59" fmla="*/ 212 h 789"/>
                <a:gd name="T60" fmla="*/ 110 w 959"/>
                <a:gd name="T61" fmla="*/ 258 h 789"/>
                <a:gd name="T62" fmla="*/ 96 w 959"/>
                <a:gd name="T63" fmla="*/ 286 h 789"/>
                <a:gd name="T64" fmla="*/ 140 w 959"/>
                <a:gd name="T65" fmla="*/ 344 h 789"/>
                <a:gd name="T66" fmla="*/ 185 w 959"/>
                <a:gd name="T67" fmla="*/ 390 h 789"/>
                <a:gd name="T68" fmla="*/ 220 w 959"/>
                <a:gd name="T69" fmla="*/ 472 h 789"/>
                <a:gd name="T70" fmla="*/ 253 w 959"/>
                <a:gd name="T71" fmla="*/ 510 h 789"/>
                <a:gd name="T72" fmla="*/ 298 w 959"/>
                <a:gd name="T73" fmla="*/ 516 h 789"/>
                <a:gd name="T74" fmla="*/ 316 w 959"/>
                <a:gd name="T75" fmla="*/ 524 h 789"/>
                <a:gd name="T76" fmla="*/ 338 w 959"/>
                <a:gd name="T77" fmla="*/ 541 h 789"/>
                <a:gd name="T78" fmla="*/ 371 w 959"/>
                <a:gd name="T79" fmla="*/ 583 h 789"/>
                <a:gd name="T80" fmla="*/ 387 w 959"/>
                <a:gd name="T81" fmla="*/ 600 h 789"/>
                <a:gd name="T82" fmla="*/ 431 w 959"/>
                <a:gd name="T83" fmla="*/ 644 h 789"/>
                <a:gd name="T84" fmla="*/ 526 w 959"/>
                <a:gd name="T85" fmla="*/ 703 h 789"/>
                <a:gd name="T86" fmla="*/ 565 w 959"/>
                <a:gd name="T87" fmla="*/ 715 h 789"/>
                <a:gd name="T88" fmla="*/ 606 w 959"/>
                <a:gd name="T89" fmla="*/ 691 h 789"/>
                <a:gd name="T90" fmla="*/ 641 w 959"/>
                <a:gd name="T91" fmla="*/ 682 h 789"/>
                <a:gd name="T92" fmla="*/ 718 w 959"/>
                <a:gd name="T93" fmla="*/ 752 h 789"/>
                <a:gd name="T94" fmla="*/ 805 w 959"/>
                <a:gd name="T95" fmla="*/ 781 h 789"/>
                <a:gd name="T96" fmla="*/ 889 w 959"/>
                <a:gd name="T97" fmla="*/ 786 h 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959" h="789">
                  <a:moveTo>
                    <a:pt x="890" y="786"/>
                  </a:moveTo>
                  <a:cubicBezTo>
                    <a:pt x="889" y="779"/>
                    <a:pt x="885" y="751"/>
                    <a:pt x="890" y="749"/>
                  </a:cubicBezTo>
                  <a:cubicBezTo>
                    <a:pt x="896" y="746"/>
                    <a:pt x="900" y="739"/>
                    <a:pt x="900" y="739"/>
                  </a:cubicBezTo>
                  <a:cubicBezTo>
                    <a:pt x="902" y="728"/>
                    <a:pt x="902" y="728"/>
                    <a:pt x="902" y="728"/>
                  </a:cubicBezTo>
                  <a:cubicBezTo>
                    <a:pt x="902" y="728"/>
                    <a:pt x="911" y="730"/>
                    <a:pt x="915" y="724"/>
                  </a:cubicBezTo>
                  <a:cubicBezTo>
                    <a:pt x="919" y="718"/>
                    <a:pt x="913" y="714"/>
                    <a:pt x="931" y="708"/>
                  </a:cubicBezTo>
                  <a:cubicBezTo>
                    <a:pt x="949" y="702"/>
                    <a:pt x="951" y="715"/>
                    <a:pt x="955" y="710"/>
                  </a:cubicBezTo>
                  <a:cubicBezTo>
                    <a:pt x="959" y="705"/>
                    <a:pt x="958" y="689"/>
                    <a:pt x="950" y="678"/>
                  </a:cubicBezTo>
                  <a:cubicBezTo>
                    <a:pt x="942" y="667"/>
                    <a:pt x="936" y="680"/>
                    <a:pt x="933" y="673"/>
                  </a:cubicBezTo>
                  <a:cubicBezTo>
                    <a:pt x="930" y="666"/>
                    <a:pt x="931" y="643"/>
                    <a:pt x="931" y="643"/>
                  </a:cubicBezTo>
                  <a:cubicBezTo>
                    <a:pt x="928" y="641"/>
                    <a:pt x="928" y="641"/>
                    <a:pt x="928" y="641"/>
                  </a:cubicBezTo>
                  <a:cubicBezTo>
                    <a:pt x="929" y="621"/>
                    <a:pt x="929" y="621"/>
                    <a:pt x="929" y="621"/>
                  </a:cubicBezTo>
                  <a:cubicBezTo>
                    <a:pt x="916" y="622"/>
                    <a:pt x="916" y="622"/>
                    <a:pt x="916" y="622"/>
                  </a:cubicBezTo>
                  <a:cubicBezTo>
                    <a:pt x="907" y="611"/>
                    <a:pt x="907" y="611"/>
                    <a:pt x="907" y="611"/>
                  </a:cubicBezTo>
                  <a:cubicBezTo>
                    <a:pt x="907" y="611"/>
                    <a:pt x="892" y="619"/>
                    <a:pt x="884" y="609"/>
                  </a:cubicBezTo>
                  <a:cubicBezTo>
                    <a:pt x="876" y="599"/>
                    <a:pt x="862" y="579"/>
                    <a:pt x="856" y="568"/>
                  </a:cubicBezTo>
                  <a:cubicBezTo>
                    <a:pt x="850" y="557"/>
                    <a:pt x="830" y="538"/>
                    <a:pt x="830" y="538"/>
                  </a:cubicBezTo>
                  <a:cubicBezTo>
                    <a:pt x="830" y="538"/>
                    <a:pt x="825" y="537"/>
                    <a:pt x="825" y="533"/>
                  </a:cubicBezTo>
                  <a:cubicBezTo>
                    <a:pt x="825" y="529"/>
                    <a:pt x="841" y="515"/>
                    <a:pt x="848" y="505"/>
                  </a:cubicBezTo>
                  <a:cubicBezTo>
                    <a:pt x="855" y="495"/>
                    <a:pt x="866" y="482"/>
                    <a:pt x="860" y="465"/>
                  </a:cubicBezTo>
                  <a:cubicBezTo>
                    <a:pt x="854" y="448"/>
                    <a:pt x="839" y="453"/>
                    <a:pt x="839" y="453"/>
                  </a:cubicBezTo>
                  <a:cubicBezTo>
                    <a:pt x="839" y="453"/>
                    <a:pt x="809" y="453"/>
                    <a:pt x="809" y="445"/>
                  </a:cubicBezTo>
                  <a:cubicBezTo>
                    <a:pt x="809" y="437"/>
                    <a:pt x="809" y="423"/>
                    <a:pt x="809" y="412"/>
                  </a:cubicBezTo>
                  <a:cubicBezTo>
                    <a:pt x="809" y="401"/>
                    <a:pt x="782" y="377"/>
                    <a:pt x="784" y="364"/>
                  </a:cubicBezTo>
                  <a:cubicBezTo>
                    <a:pt x="786" y="351"/>
                    <a:pt x="801" y="343"/>
                    <a:pt x="800" y="337"/>
                  </a:cubicBezTo>
                  <a:cubicBezTo>
                    <a:pt x="799" y="331"/>
                    <a:pt x="778" y="334"/>
                    <a:pt x="778" y="334"/>
                  </a:cubicBezTo>
                  <a:cubicBezTo>
                    <a:pt x="780" y="315"/>
                    <a:pt x="780" y="315"/>
                    <a:pt x="780" y="315"/>
                  </a:cubicBezTo>
                  <a:cubicBezTo>
                    <a:pt x="780" y="315"/>
                    <a:pt x="769" y="306"/>
                    <a:pt x="772" y="301"/>
                  </a:cubicBezTo>
                  <a:cubicBezTo>
                    <a:pt x="775" y="296"/>
                    <a:pt x="789" y="291"/>
                    <a:pt x="789" y="291"/>
                  </a:cubicBezTo>
                  <a:cubicBezTo>
                    <a:pt x="784" y="280"/>
                    <a:pt x="784" y="280"/>
                    <a:pt x="784" y="280"/>
                  </a:cubicBezTo>
                  <a:cubicBezTo>
                    <a:pt x="798" y="276"/>
                    <a:pt x="798" y="276"/>
                    <a:pt x="798" y="276"/>
                  </a:cubicBezTo>
                  <a:cubicBezTo>
                    <a:pt x="798" y="276"/>
                    <a:pt x="791" y="246"/>
                    <a:pt x="792" y="239"/>
                  </a:cubicBezTo>
                  <a:cubicBezTo>
                    <a:pt x="793" y="232"/>
                    <a:pt x="799" y="225"/>
                    <a:pt x="799" y="225"/>
                  </a:cubicBezTo>
                  <a:cubicBezTo>
                    <a:pt x="792" y="207"/>
                    <a:pt x="792" y="207"/>
                    <a:pt x="792" y="207"/>
                  </a:cubicBezTo>
                  <a:cubicBezTo>
                    <a:pt x="793" y="192"/>
                    <a:pt x="793" y="192"/>
                    <a:pt x="793" y="192"/>
                  </a:cubicBezTo>
                  <a:cubicBezTo>
                    <a:pt x="786" y="189"/>
                    <a:pt x="786" y="189"/>
                    <a:pt x="786" y="189"/>
                  </a:cubicBezTo>
                  <a:cubicBezTo>
                    <a:pt x="785" y="167"/>
                    <a:pt x="785" y="167"/>
                    <a:pt x="785" y="167"/>
                  </a:cubicBezTo>
                  <a:cubicBezTo>
                    <a:pt x="743" y="169"/>
                    <a:pt x="743" y="169"/>
                    <a:pt x="743" y="169"/>
                  </a:cubicBezTo>
                  <a:cubicBezTo>
                    <a:pt x="743" y="169"/>
                    <a:pt x="729" y="153"/>
                    <a:pt x="723" y="149"/>
                  </a:cubicBezTo>
                  <a:cubicBezTo>
                    <a:pt x="717" y="145"/>
                    <a:pt x="704" y="143"/>
                    <a:pt x="704" y="143"/>
                  </a:cubicBezTo>
                  <a:cubicBezTo>
                    <a:pt x="704" y="143"/>
                    <a:pt x="696" y="125"/>
                    <a:pt x="691" y="121"/>
                  </a:cubicBezTo>
                  <a:cubicBezTo>
                    <a:pt x="686" y="117"/>
                    <a:pt x="648" y="116"/>
                    <a:pt x="648" y="116"/>
                  </a:cubicBezTo>
                  <a:cubicBezTo>
                    <a:pt x="645" y="120"/>
                    <a:pt x="645" y="120"/>
                    <a:pt x="645" y="120"/>
                  </a:cubicBezTo>
                  <a:cubicBezTo>
                    <a:pt x="645" y="120"/>
                    <a:pt x="624" y="103"/>
                    <a:pt x="619" y="103"/>
                  </a:cubicBezTo>
                  <a:cubicBezTo>
                    <a:pt x="614" y="103"/>
                    <a:pt x="602" y="103"/>
                    <a:pt x="602" y="103"/>
                  </a:cubicBezTo>
                  <a:cubicBezTo>
                    <a:pt x="602" y="103"/>
                    <a:pt x="601" y="89"/>
                    <a:pt x="595" y="85"/>
                  </a:cubicBezTo>
                  <a:cubicBezTo>
                    <a:pt x="589" y="81"/>
                    <a:pt x="580" y="86"/>
                    <a:pt x="580" y="86"/>
                  </a:cubicBezTo>
                  <a:cubicBezTo>
                    <a:pt x="580" y="86"/>
                    <a:pt x="559" y="83"/>
                    <a:pt x="556" y="85"/>
                  </a:cubicBezTo>
                  <a:cubicBezTo>
                    <a:pt x="553" y="87"/>
                    <a:pt x="551" y="93"/>
                    <a:pt x="551" y="93"/>
                  </a:cubicBezTo>
                  <a:cubicBezTo>
                    <a:pt x="551" y="93"/>
                    <a:pt x="535" y="88"/>
                    <a:pt x="524" y="90"/>
                  </a:cubicBezTo>
                  <a:cubicBezTo>
                    <a:pt x="513" y="92"/>
                    <a:pt x="487" y="115"/>
                    <a:pt x="487" y="115"/>
                  </a:cubicBezTo>
                  <a:cubicBezTo>
                    <a:pt x="487" y="123"/>
                    <a:pt x="487" y="123"/>
                    <a:pt x="487" y="123"/>
                  </a:cubicBezTo>
                  <a:cubicBezTo>
                    <a:pt x="487" y="123"/>
                    <a:pt x="476" y="132"/>
                    <a:pt x="472" y="133"/>
                  </a:cubicBezTo>
                  <a:cubicBezTo>
                    <a:pt x="468" y="134"/>
                    <a:pt x="452" y="133"/>
                    <a:pt x="452" y="133"/>
                  </a:cubicBezTo>
                  <a:cubicBezTo>
                    <a:pt x="452" y="133"/>
                    <a:pt x="472" y="159"/>
                    <a:pt x="460" y="161"/>
                  </a:cubicBezTo>
                  <a:cubicBezTo>
                    <a:pt x="448" y="163"/>
                    <a:pt x="437" y="156"/>
                    <a:pt x="437" y="156"/>
                  </a:cubicBezTo>
                  <a:cubicBezTo>
                    <a:pt x="437" y="156"/>
                    <a:pt x="412" y="161"/>
                    <a:pt x="399" y="164"/>
                  </a:cubicBezTo>
                  <a:cubicBezTo>
                    <a:pt x="386" y="167"/>
                    <a:pt x="379" y="176"/>
                    <a:pt x="371" y="175"/>
                  </a:cubicBezTo>
                  <a:cubicBezTo>
                    <a:pt x="363" y="174"/>
                    <a:pt x="355" y="165"/>
                    <a:pt x="345" y="165"/>
                  </a:cubicBezTo>
                  <a:cubicBezTo>
                    <a:pt x="335" y="165"/>
                    <a:pt x="323" y="165"/>
                    <a:pt x="309" y="155"/>
                  </a:cubicBezTo>
                  <a:cubicBezTo>
                    <a:pt x="295" y="145"/>
                    <a:pt x="287" y="128"/>
                    <a:pt x="287" y="128"/>
                  </a:cubicBezTo>
                  <a:cubicBezTo>
                    <a:pt x="287" y="128"/>
                    <a:pt x="258" y="125"/>
                    <a:pt x="255" y="125"/>
                  </a:cubicBezTo>
                  <a:cubicBezTo>
                    <a:pt x="252" y="125"/>
                    <a:pt x="240" y="118"/>
                    <a:pt x="233" y="110"/>
                  </a:cubicBezTo>
                  <a:cubicBezTo>
                    <a:pt x="226" y="102"/>
                    <a:pt x="218" y="80"/>
                    <a:pt x="218" y="80"/>
                  </a:cubicBezTo>
                  <a:cubicBezTo>
                    <a:pt x="208" y="78"/>
                    <a:pt x="208" y="78"/>
                    <a:pt x="208" y="78"/>
                  </a:cubicBezTo>
                  <a:cubicBezTo>
                    <a:pt x="208" y="78"/>
                    <a:pt x="205" y="72"/>
                    <a:pt x="199" y="69"/>
                  </a:cubicBezTo>
                  <a:cubicBezTo>
                    <a:pt x="193" y="66"/>
                    <a:pt x="180" y="58"/>
                    <a:pt x="180" y="53"/>
                  </a:cubicBezTo>
                  <a:cubicBezTo>
                    <a:pt x="180" y="48"/>
                    <a:pt x="190" y="52"/>
                    <a:pt x="190" y="46"/>
                  </a:cubicBezTo>
                  <a:cubicBezTo>
                    <a:pt x="190" y="40"/>
                    <a:pt x="181" y="38"/>
                    <a:pt x="181" y="33"/>
                  </a:cubicBezTo>
                  <a:cubicBezTo>
                    <a:pt x="181" y="28"/>
                    <a:pt x="190" y="28"/>
                    <a:pt x="188" y="22"/>
                  </a:cubicBezTo>
                  <a:cubicBezTo>
                    <a:pt x="186" y="16"/>
                    <a:pt x="179" y="4"/>
                    <a:pt x="173" y="4"/>
                  </a:cubicBezTo>
                  <a:cubicBezTo>
                    <a:pt x="167" y="4"/>
                    <a:pt x="131" y="31"/>
                    <a:pt x="128" y="35"/>
                  </a:cubicBezTo>
                  <a:cubicBezTo>
                    <a:pt x="125" y="39"/>
                    <a:pt x="117" y="50"/>
                    <a:pt x="114" y="51"/>
                  </a:cubicBezTo>
                  <a:cubicBezTo>
                    <a:pt x="111" y="52"/>
                    <a:pt x="102" y="52"/>
                    <a:pt x="87" y="52"/>
                  </a:cubicBezTo>
                  <a:cubicBezTo>
                    <a:pt x="72" y="52"/>
                    <a:pt x="55" y="38"/>
                    <a:pt x="45" y="30"/>
                  </a:cubicBezTo>
                  <a:cubicBezTo>
                    <a:pt x="35" y="22"/>
                    <a:pt x="38" y="4"/>
                    <a:pt x="29" y="2"/>
                  </a:cubicBezTo>
                  <a:cubicBezTo>
                    <a:pt x="20" y="0"/>
                    <a:pt x="16" y="22"/>
                    <a:pt x="16" y="22"/>
                  </a:cubicBezTo>
                  <a:cubicBezTo>
                    <a:pt x="0" y="24"/>
                    <a:pt x="0" y="24"/>
                    <a:pt x="0" y="24"/>
                  </a:cubicBezTo>
                  <a:cubicBezTo>
                    <a:pt x="11" y="40"/>
                    <a:pt x="11" y="40"/>
                    <a:pt x="11" y="40"/>
                  </a:cubicBezTo>
                  <a:cubicBezTo>
                    <a:pt x="12" y="55"/>
                    <a:pt x="12" y="55"/>
                    <a:pt x="12" y="55"/>
                  </a:cubicBezTo>
                  <a:cubicBezTo>
                    <a:pt x="12" y="55"/>
                    <a:pt x="19" y="76"/>
                    <a:pt x="24" y="78"/>
                  </a:cubicBezTo>
                  <a:cubicBezTo>
                    <a:pt x="29" y="80"/>
                    <a:pt x="16" y="99"/>
                    <a:pt x="16" y="99"/>
                  </a:cubicBezTo>
                  <a:cubicBezTo>
                    <a:pt x="37" y="111"/>
                    <a:pt x="37" y="111"/>
                    <a:pt x="37" y="111"/>
                  </a:cubicBezTo>
                  <a:cubicBezTo>
                    <a:pt x="37" y="129"/>
                    <a:pt x="37" y="129"/>
                    <a:pt x="37" y="129"/>
                  </a:cubicBezTo>
                  <a:cubicBezTo>
                    <a:pt x="53" y="134"/>
                    <a:pt x="53" y="134"/>
                    <a:pt x="53" y="134"/>
                  </a:cubicBezTo>
                  <a:cubicBezTo>
                    <a:pt x="53" y="134"/>
                    <a:pt x="58" y="171"/>
                    <a:pt x="70" y="182"/>
                  </a:cubicBezTo>
                  <a:cubicBezTo>
                    <a:pt x="82" y="193"/>
                    <a:pt x="79" y="203"/>
                    <a:pt x="79" y="203"/>
                  </a:cubicBezTo>
                  <a:cubicBezTo>
                    <a:pt x="93" y="205"/>
                    <a:pt x="93" y="205"/>
                    <a:pt x="93" y="205"/>
                  </a:cubicBezTo>
                  <a:cubicBezTo>
                    <a:pt x="104" y="217"/>
                    <a:pt x="104" y="217"/>
                    <a:pt x="104" y="217"/>
                  </a:cubicBezTo>
                  <a:cubicBezTo>
                    <a:pt x="104" y="217"/>
                    <a:pt x="118" y="208"/>
                    <a:pt x="123" y="212"/>
                  </a:cubicBezTo>
                  <a:cubicBezTo>
                    <a:pt x="128" y="216"/>
                    <a:pt x="112" y="225"/>
                    <a:pt x="112" y="229"/>
                  </a:cubicBezTo>
                  <a:cubicBezTo>
                    <a:pt x="112" y="233"/>
                    <a:pt x="126" y="242"/>
                    <a:pt x="123" y="250"/>
                  </a:cubicBezTo>
                  <a:cubicBezTo>
                    <a:pt x="120" y="258"/>
                    <a:pt x="110" y="258"/>
                    <a:pt x="110" y="258"/>
                  </a:cubicBezTo>
                  <a:cubicBezTo>
                    <a:pt x="109" y="267"/>
                    <a:pt x="109" y="267"/>
                    <a:pt x="109" y="267"/>
                  </a:cubicBezTo>
                  <a:cubicBezTo>
                    <a:pt x="110" y="280"/>
                    <a:pt x="110" y="280"/>
                    <a:pt x="110" y="280"/>
                  </a:cubicBezTo>
                  <a:cubicBezTo>
                    <a:pt x="110" y="280"/>
                    <a:pt x="97" y="279"/>
                    <a:pt x="96" y="286"/>
                  </a:cubicBezTo>
                  <a:cubicBezTo>
                    <a:pt x="95" y="293"/>
                    <a:pt x="104" y="300"/>
                    <a:pt x="104" y="300"/>
                  </a:cubicBezTo>
                  <a:cubicBezTo>
                    <a:pt x="104" y="300"/>
                    <a:pt x="94" y="305"/>
                    <a:pt x="96" y="314"/>
                  </a:cubicBezTo>
                  <a:cubicBezTo>
                    <a:pt x="98" y="323"/>
                    <a:pt x="140" y="344"/>
                    <a:pt x="140" y="344"/>
                  </a:cubicBezTo>
                  <a:cubicBezTo>
                    <a:pt x="140" y="371"/>
                    <a:pt x="140" y="371"/>
                    <a:pt x="140" y="371"/>
                  </a:cubicBezTo>
                  <a:cubicBezTo>
                    <a:pt x="153" y="372"/>
                    <a:pt x="153" y="372"/>
                    <a:pt x="153" y="372"/>
                  </a:cubicBezTo>
                  <a:cubicBezTo>
                    <a:pt x="153" y="372"/>
                    <a:pt x="174" y="390"/>
                    <a:pt x="185" y="390"/>
                  </a:cubicBezTo>
                  <a:cubicBezTo>
                    <a:pt x="196" y="390"/>
                    <a:pt x="198" y="402"/>
                    <a:pt x="198" y="402"/>
                  </a:cubicBezTo>
                  <a:cubicBezTo>
                    <a:pt x="220" y="427"/>
                    <a:pt x="220" y="427"/>
                    <a:pt x="220" y="427"/>
                  </a:cubicBezTo>
                  <a:cubicBezTo>
                    <a:pt x="220" y="427"/>
                    <a:pt x="212" y="466"/>
                    <a:pt x="220" y="472"/>
                  </a:cubicBezTo>
                  <a:cubicBezTo>
                    <a:pt x="228" y="478"/>
                    <a:pt x="233" y="478"/>
                    <a:pt x="233" y="478"/>
                  </a:cubicBezTo>
                  <a:cubicBezTo>
                    <a:pt x="237" y="497"/>
                    <a:pt x="237" y="497"/>
                    <a:pt x="237" y="497"/>
                  </a:cubicBezTo>
                  <a:cubicBezTo>
                    <a:pt x="237" y="497"/>
                    <a:pt x="252" y="501"/>
                    <a:pt x="253" y="510"/>
                  </a:cubicBezTo>
                  <a:cubicBezTo>
                    <a:pt x="254" y="519"/>
                    <a:pt x="275" y="533"/>
                    <a:pt x="282" y="528"/>
                  </a:cubicBezTo>
                  <a:cubicBezTo>
                    <a:pt x="289" y="523"/>
                    <a:pt x="267" y="512"/>
                    <a:pt x="283" y="505"/>
                  </a:cubicBezTo>
                  <a:cubicBezTo>
                    <a:pt x="299" y="498"/>
                    <a:pt x="298" y="516"/>
                    <a:pt x="298" y="516"/>
                  </a:cubicBezTo>
                  <a:cubicBezTo>
                    <a:pt x="305" y="522"/>
                    <a:pt x="305" y="522"/>
                    <a:pt x="305" y="522"/>
                  </a:cubicBezTo>
                  <a:cubicBezTo>
                    <a:pt x="306" y="521"/>
                    <a:pt x="308" y="521"/>
                    <a:pt x="311" y="522"/>
                  </a:cubicBezTo>
                  <a:cubicBezTo>
                    <a:pt x="313" y="523"/>
                    <a:pt x="314" y="523"/>
                    <a:pt x="316" y="524"/>
                  </a:cubicBezTo>
                  <a:cubicBezTo>
                    <a:pt x="317" y="523"/>
                    <a:pt x="318" y="521"/>
                    <a:pt x="318" y="520"/>
                  </a:cubicBezTo>
                  <a:cubicBezTo>
                    <a:pt x="319" y="516"/>
                    <a:pt x="330" y="513"/>
                    <a:pt x="333" y="515"/>
                  </a:cubicBezTo>
                  <a:cubicBezTo>
                    <a:pt x="336" y="517"/>
                    <a:pt x="331" y="538"/>
                    <a:pt x="338" y="541"/>
                  </a:cubicBezTo>
                  <a:cubicBezTo>
                    <a:pt x="345" y="544"/>
                    <a:pt x="360" y="555"/>
                    <a:pt x="360" y="555"/>
                  </a:cubicBezTo>
                  <a:cubicBezTo>
                    <a:pt x="360" y="555"/>
                    <a:pt x="358" y="560"/>
                    <a:pt x="358" y="565"/>
                  </a:cubicBezTo>
                  <a:cubicBezTo>
                    <a:pt x="363" y="571"/>
                    <a:pt x="368" y="577"/>
                    <a:pt x="371" y="583"/>
                  </a:cubicBezTo>
                  <a:cubicBezTo>
                    <a:pt x="371" y="583"/>
                    <a:pt x="371" y="583"/>
                    <a:pt x="371" y="583"/>
                  </a:cubicBezTo>
                  <a:cubicBezTo>
                    <a:pt x="375" y="585"/>
                    <a:pt x="378" y="587"/>
                    <a:pt x="378" y="587"/>
                  </a:cubicBezTo>
                  <a:cubicBezTo>
                    <a:pt x="387" y="600"/>
                    <a:pt x="387" y="600"/>
                    <a:pt x="387" y="600"/>
                  </a:cubicBezTo>
                  <a:cubicBezTo>
                    <a:pt x="387" y="600"/>
                    <a:pt x="389" y="624"/>
                    <a:pt x="399" y="626"/>
                  </a:cubicBezTo>
                  <a:cubicBezTo>
                    <a:pt x="409" y="628"/>
                    <a:pt x="409" y="644"/>
                    <a:pt x="409" y="644"/>
                  </a:cubicBezTo>
                  <a:cubicBezTo>
                    <a:pt x="431" y="644"/>
                    <a:pt x="431" y="644"/>
                    <a:pt x="431" y="644"/>
                  </a:cubicBezTo>
                  <a:cubicBezTo>
                    <a:pt x="443" y="656"/>
                    <a:pt x="443" y="656"/>
                    <a:pt x="443" y="656"/>
                  </a:cubicBezTo>
                  <a:cubicBezTo>
                    <a:pt x="451" y="654"/>
                    <a:pt x="458" y="652"/>
                    <a:pt x="465" y="656"/>
                  </a:cubicBezTo>
                  <a:cubicBezTo>
                    <a:pt x="475" y="661"/>
                    <a:pt x="504" y="686"/>
                    <a:pt x="526" y="703"/>
                  </a:cubicBezTo>
                  <a:cubicBezTo>
                    <a:pt x="527" y="704"/>
                    <a:pt x="528" y="704"/>
                    <a:pt x="529" y="704"/>
                  </a:cubicBezTo>
                  <a:cubicBezTo>
                    <a:pt x="535" y="704"/>
                    <a:pt x="546" y="706"/>
                    <a:pt x="546" y="706"/>
                  </a:cubicBezTo>
                  <a:cubicBezTo>
                    <a:pt x="546" y="706"/>
                    <a:pt x="549" y="720"/>
                    <a:pt x="565" y="715"/>
                  </a:cubicBezTo>
                  <a:cubicBezTo>
                    <a:pt x="581" y="710"/>
                    <a:pt x="584" y="703"/>
                    <a:pt x="584" y="703"/>
                  </a:cubicBezTo>
                  <a:cubicBezTo>
                    <a:pt x="600" y="705"/>
                    <a:pt x="600" y="705"/>
                    <a:pt x="600" y="705"/>
                  </a:cubicBezTo>
                  <a:cubicBezTo>
                    <a:pt x="606" y="691"/>
                    <a:pt x="606" y="691"/>
                    <a:pt x="606" y="691"/>
                  </a:cubicBezTo>
                  <a:cubicBezTo>
                    <a:pt x="620" y="689"/>
                    <a:pt x="620" y="689"/>
                    <a:pt x="620" y="689"/>
                  </a:cubicBezTo>
                  <a:cubicBezTo>
                    <a:pt x="636" y="674"/>
                    <a:pt x="636" y="674"/>
                    <a:pt x="636" y="674"/>
                  </a:cubicBezTo>
                  <a:cubicBezTo>
                    <a:pt x="641" y="682"/>
                    <a:pt x="641" y="682"/>
                    <a:pt x="641" y="682"/>
                  </a:cubicBezTo>
                  <a:cubicBezTo>
                    <a:pt x="649" y="680"/>
                    <a:pt x="656" y="679"/>
                    <a:pt x="659" y="683"/>
                  </a:cubicBezTo>
                  <a:cubicBezTo>
                    <a:pt x="672" y="694"/>
                    <a:pt x="686" y="717"/>
                    <a:pt x="688" y="735"/>
                  </a:cubicBezTo>
                  <a:cubicBezTo>
                    <a:pt x="690" y="754"/>
                    <a:pt x="718" y="752"/>
                    <a:pt x="718" y="752"/>
                  </a:cubicBezTo>
                  <a:cubicBezTo>
                    <a:pt x="718" y="752"/>
                    <a:pt x="717" y="759"/>
                    <a:pt x="730" y="762"/>
                  </a:cubicBezTo>
                  <a:cubicBezTo>
                    <a:pt x="743" y="765"/>
                    <a:pt x="774" y="761"/>
                    <a:pt x="774" y="761"/>
                  </a:cubicBezTo>
                  <a:cubicBezTo>
                    <a:pt x="774" y="761"/>
                    <a:pt x="800" y="781"/>
                    <a:pt x="805" y="781"/>
                  </a:cubicBezTo>
                  <a:cubicBezTo>
                    <a:pt x="810" y="781"/>
                    <a:pt x="828" y="772"/>
                    <a:pt x="828" y="772"/>
                  </a:cubicBezTo>
                  <a:cubicBezTo>
                    <a:pt x="828" y="772"/>
                    <a:pt x="854" y="788"/>
                    <a:pt x="872" y="789"/>
                  </a:cubicBezTo>
                  <a:cubicBezTo>
                    <a:pt x="878" y="789"/>
                    <a:pt x="884" y="788"/>
                    <a:pt x="889" y="786"/>
                  </a:cubicBezTo>
                  <a:lnTo>
                    <a:pt x="890" y="786"/>
                  </a:lnTo>
                  <a:close/>
                </a:path>
              </a:pathLst>
            </a:custGeom>
            <a:solidFill>
              <a:srgbClr val="F0BE0F"/>
            </a:solidFill>
            <a:ln w="3175" cap="flat" cmpd="sng">
              <a:solidFill>
                <a:srgbClr val="E6E6E6"/>
              </a:solidFill>
              <a:prstDash val="solid"/>
              <a:miter lim="800000"/>
              <a:headEnd type="none" w="med" len="med"/>
              <a:tailEnd type="none" w="med" len="med"/>
            </a:ln>
            <a:effectLst/>
          </p:spPr>
          <p:txBody>
            <a:bodyPr/>
            <a:lstStyle/>
            <a:p>
              <a:pPr marL="0" marR="0" lvl="0" indent="0" algn="r" defTabSz="877824" rtl="1" eaLnBrk="1" fontAlgn="auto" latinLnBrk="0" hangingPunct="1">
                <a:lnSpc>
                  <a:spcPct val="100000"/>
                </a:lnSpc>
                <a:spcBef>
                  <a:spcPts val="0"/>
                </a:spcBef>
                <a:spcAft>
                  <a:spcPts val="0"/>
                </a:spcAft>
                <a:buClrTx/>
                <a:buSzTx/>
                <a:buFontTx/>
                <a:buNone/>
                <a:tabLst/>
                <a:defRPr/>
              </a:pPr>
              <a:endParaRPr kumimoji="0" lang="de-DE" sz="1728" b="0" i="0" u="none" strike="noStrike" kern="0" cap="none" spc="0" normalizeH="0" baseline="0" noProof="0" dirty="0">
                <a:ln>
                  <a:noFill/>
                </a:ln>
                <a:solidFill>
                  <a:prstClr val="black"/>
                </a:solidFill>
                <a:effectLst/>
                <a:uLnTx/>
                <a:uFillTx/>
              </a:endParaRPr>
            </a:p>
          </p:txBody>
        </p:sp>
        <p:sp>
          <p:nvSpPr>
            <p:cNvPr id="571" name="Oval 570">
              <a:extLst>
                <a:ext uri="{FF2B5EF4-FFF2-40B4-BE49-F238E27FC236}">
                  <a16:creationId xmlns:a16="http://schemas.microsoft.com/office/drawing/2014/main" id="{60DC8F17-BA59-45DA-8FED-0EEF02DDD324}"/>
                </a:ext>
              </a:extLst>
            </p:cNvPr>
            <p:cNvSpPr/>
            <p:nvPr userDrawn="1"/>
          </p:nvSpPr>
          <p:spPr>
            <a:xfrm>
              <a:off x="5797174" y="1131292"/>
              <a:ext cx="1018205" cy="962621"/>
            </a:xfrm>
            <a:prstGeom prst="ellipse">
              <a:avLst/>
            </a:prstGeom>
            <a:noFill/>
            <a:ln w="6350">
              <a:solidFill>
                <a:srgbClr val="F0BE0F">
                  <a:alpha val="9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457200" rtl="1" eaLnBrk="1" latinLnBrk="0" hangingPunct="1"/>
              <a:endParaRPr lang="en-US" sz="1728"/>
            </a:p>
          </p:txBody>
        </p:sp>
        <p:sp>
          <p:nvSpPr>
            <p:cNvPr id="572" name="Oval 571">
              <a:extLst>
                <a:ext uri="{FF2B5EF4-FFF2-40B4-BE49-F238E27FC236}">
                  <a16:creationId xmlns:a16="http://schemas.microsoft.com/office/drawing/2014/main" id="{5B1380CC-D7C5-47A4-BAD4-C7A8E7CED3A7}"/>
                </a:ext>
              </a:extLst>
            </p:cNvPr>
            <p:cNvSpPr/>
            <p:nvPr userDrawn="1"/>
          </p:nvSpPr>
          <p:spPr>
            <a:xfrm>
              <a:off x="5275174" y="727325"/>
              <a:ext cx="1689960" cy="1597704"/>
            </a:xfrm>
            <a:prstGeom prst="ellipse">
              <a:avLst/>
            </a:prstGeom>
            <a:noFill/>
            <a:ln w="6350">
              <a:solidFill>
                <a:srgbClr val="F0BE0F">
                  <a:alpha val="75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457200" rtl="1" eaLnBrk="1" latinLnBrk="0" hangingPunct="1"/>
              <a:endParaRPr lang="en-US" sz="1728"/>
            </a:p>
          </p:txBody>
        </p:sp>
        <p:sp>
          <p:nvSpPr>
            <p:cNvPr id="573" name="Oval 572">
              <a:extLst>
                <a:ext uri="{FF2B5EF4-FFF2-40B4-BE49-F238E27FC236}">
                  <a16:creationId xmlns:a16="http://schemas.microsoft.com/office/drawing/2014/main" id="{589B227E-C2B8-4F03-93A8-3152518E842D}"/>
                </a:ext>
              </a:extLst>
            </p:cNvPr>
            <p:cNvSpPr/>
            <p:nvPr userDrawn="1"/>
          </p:nvSpPr>
          <p:spPr>
            <a:xfrm>
              <a:off x="4625084" y="400097"/>
              <a:ext cx="2467642" cy="2332931"/>
            </a:xfrm>
            <a:prstGeom prst="ellipse">
              <a:avLst/>
            </a:prstGeom>
            <a:noFill/>
            <a:ln w="6350">
              <a:solidFill>
                <a:srgbClr val="F0BE0F">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457200" rtl="1" eaLnBrk="1" latinLnBrk="0" hangingPunct="1"/>
              <a:endParaRPr lang="en-US" sz="1728"/>
            </a:p>
          </p:txBody>
        </p:sp>
        <p:sp>
          <p:nvSpPr>
            <p:cNvPr id="574" name="Oval 573">
              <a:extLst>
                <a:ext uri="{FF2B5EF4-FFF2-40B4-BE49-F238E27FC236}">
                  <a16:creationId xmlns:a16="http://schemas.microsoft.com/office/drawing/2014/main" id="{8EFB08F0-9E71-4E96-B67C-7D647F67941B}"/>
                </a:ext>
              </a:extLst>
            </p:cNvPr>
            <p:cNvSpPr/>
            <p:nvPr userDrawn="1"/>
          </p:nvSpPr>
          <p:spPr>
            <a:xfrm>
              <a:off x="3922621" y="80275"/>
              <a:ext cx="3337078" cy="3154903"/>
            </a:xfrm>
            <a:prstGeom prst="ellipse">
              <a:avLst/>
            </a:prstGeom>
            <a:noFill/>
            <a:ln w="6350">
              <a:solidFill>
                <a:srgbClr val="F0BE0F">
                  <a:alpha val="25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457200" rtl="1" eaLnBrk="1" latinLnBrk="0" hangingPunct="1"/>
              <a:endParaRPr lang="en-US" sz="1728"/>
            </a:p>
          </p:txBody>
        </p:sp>
      </p:grpSp>
      <p:sp>
        <p:nvSpPr>
          <p:cNvPr id="578" name="TextBox 577">
            <a:extLst>
              <a:ext uri="{FF2B5EF4-FFF2-40B4-BE49-F238E27FC236}">
                <a16:creationId xmlns:a16="http://schemas.microsoft.com/office/drawing/2014/main" id="{B40CDC1F-9C14-44B7-9338-C12B2579B01D}"/>
              </a:ext>
            </a:extLst>
          </p:cNvPr>
          <p:cNvSpPr txBox="1"/>
          <p:nvPr userDrawn="1"/>
        </p:nvSpPr>
        <p:spPr>
          <a:xfrm>
            <a:off x="457696" y="4980569"/>
            <a:ext cx="1394933" cy="246221"/>
          </a:xfrm>
          <a:prstGeom prst="rect">
            <a:avLst/>
          </a:prstGeom>
          <a:noFill/>
        </p:spPr>
        <p:txBody>
          <a:bodyPr wrap="none" rtlCol="0">
            <a:spAutoFit/>
          </a:bodyPr>
          <a:lstStyle/>
          <a:p>
            <a:pPr algn="ctr"/>
            <a:r>
              <a:rPr lang="en-US" sz="1000" b="1" dirty="0">
                <a:solidFill>
                  <a:srgbClr val="C1C1C1"/>
                </a:solidFill>
                <a:latin typeface="Calvino" pitchFamily="2" charset="0"/>
              </a:rPr>
              <a:t>Backing the </a:t>
            </a:r>
            <a:r>
              <a:rPr lang="en-US" sz="1000" b="1" dirty="0">
                <a:solidFill>
                  <a:schemeClr val="tx1">
                    <a:lumMod val="75000"/>
                    <a:lumOff val="25000"/>
                  </a:schemeClr>
                </a:solidFill>
                <a:latin typeface="Calvino" pitchFamily="2" charset="0"/>
              </a:rPr>
              <a:t>Vanguards</a:t>
            </a:r>
          </a:p>
        </p:txBody>
      </p:sp>
      <p:sp>
        <p:nvSpPr>
          <p:cNvPr id="579" name="Rectangle: Rounded Corners 578">
            <a:extLst>
              <a:ext uri="{FF2B5EF4-FFF2-40B4-BE49-F238E27FC236}">
                <a16:creationId xmlns:a16="http://schemas.microsoft.com/office/drawing/2014/main" id="{5A9BDEE9-67F5-4C18-A908-57DBF287BAFD}"/>
              </a:ext>
            </a:extLst>
          </p:cNvPr>
          <p:cNvSpPr/>
          <p:nvPr userDrawn="1"/>
        </p:nvSpPr>
        <p:spPr>
          <a:xfrm flipV="1">
            <a:off x="559430" y="5301017"/>
            <a:ext cx="4258459" cy="18000"/>
          </a:xfrm>
          <a:prstGeom prst="roundRect">
            <a:avLst>
              <a:gd name="adj" fmla="val 50000"/>
            </a:avLst>
          </a:prstGeom>
          <a:gradFill flip="none" rotWithShape="1">
            <a:gsLst>
              <a:gs pos="0">
                <a:schemeClr val="tx1">
                  <a:lumMod val="50000"/>
                  <a:lumOff val="50000"/>
                </a:schemeClr>
              </a:gs>
              <a:gs pos="100000">
                <a:schemeClr val="bg1">
                  <a:lumMod val="0"/>
                  <a:lumOff val="100000"/>
                  <a:alpha val="7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457200" rtl="0" eaLnBrk="1" latinLnBrk="0" hangingPunct="1"/>
            <a:endParaRPr lang="en-US" sz="1728">
              <a:latin typeface="Calvino" pitchFamily="2" charset="0"/>
              <a:cs typeface="Shabnam FD" panose="020B0603030804020204" pitchFamily="34" charset="-78"/>
            </a:endParaRPr>
          </a:p>
        </p:txBody>
      </p:sp>
      <p:sp>
        <p:nvSpPr>
          <p:cNvPr id="580" name="TextBox 579">
            <a:extLst>
              <a:ext uri="{FF2B5EF4-FFF2-40B4-BE49-F238E27FC236}">
                <a16:creationId xmlns:a16="http://schemas.microsoft.com/office/drawing/2014/main" id="{69D07E24-40FC-40D6-851D-592168CF1E20}"/>
              </a:ext>
            </a:extLst>
          </p:cNvPr>
          <p:cNvSpPr txBox="1"/>
          <p:nvPr userDrawn="1"/>
        </p:nvSpPr>
        <p:spPr>
          <a:xfrm>
            <a:off x="409628" y="5363228"/>
            <a:ext cx="4492786" cy="738664"/>
          </a:xfrm>
          <a:prstGeom prst="rect">
            <a:avLst/>
          </a:prstGeom>
          <a:noFill/>
        </p:spPr>
        <p:txBody>
          <a:bodyPr wrap="square" rtlCol="0">
            <a:spAutoFit/>
          </a:bodyPr>
          <a:lstStyle/>
          <a:p>
            <a:pPr algn="justLow" rtl="1"/>
            <a:r>
              <a:rPr lang="fa-IR" sz="900" b="1" dirty="0">
                <a:solidFill>
                  <a:schemeClr val="bg1">
                    <a:lumMod val="50000"/>
                  </a:schemeClr>
                </a:solidFill>
                <a:latin typeface="Shabnam Bold FD" panose="020B0603030804020204" pitchFamily="34" charset="-78"/>
                <a:cs typeface="Shabnam Bold FD" panose="020B0603030804020204" pitchFamily="34" charset="-78"/>
              </a:rPr>
              <a:t>آدرس: </a:t>
            </a:r>
            <a:r>
              <a:rPr lang="fa-IR" sz="900" dirty="0">
                <a:solidFill>
                  <a:schemeClr val="bg1">
                    <a:lumMod val="50000"/>
                  </a:schemeClr>
                </a:solidFill>
                <a:latin typeface="Shabnam FD" panose="020B0603030804020204" pitchFamily="34" charset="-78"/>
                <a:cs typeface="Shabnam FD" panose="020B0603030804020204" pitchFamily="34" charset="-78"/>
              </a:rPr>
              <a:t>خیابان قائم مقام فراهانی، میدان </a:t>
            </a:r>
            <a:r>
              <a:rPr lang="fa-IR" sz="900" dirty="0" err="1">
                <a:solidFill>
                  <a:schemeClr val="bg1">
                    <a:lumMod val="50000"/>
                  </a:schemeClr>
                </a:solidFill>
                <a:latin typeface="Shabnam FD" panose="020B0603030804020204" pitchFamily="34" charset="-78"/>
                <a:cs typeface="Shabnam FD" panose="020B0603030804020204" pitchFamily="34" charset="-78"/>
              </a:rPr>
              <a:t>طومانیان</a:t>
            </a:r>
            <a:r>
              <a:rPr lang="en-US" sz="900" dirty="0">
                <a:solidFill>
                  <a:schemeClr val="bg1">
                    <a:lumMod val="50000"/>
                  </a:schemeClr>
                </a:solidFill>
                <a:latin typeface="Shabnam FD" panose="020B0603030804020204" pitchFamily="34" charset="-78"/>
                <a:cs typeface="Shabnam FD" panose="020B0603030804020204" pitchFamily="34" charset="-78"/>
              </a:rPr>
              <a:t> </a:t>
            </a:r>
            <a:r>
              <a:rPr lang="fa-IR" sz="900" dirty="0">
                <a:solidFill>
                  <a:schemeClr val="bg1">
                    <a:lumMod val="50000"/>
                  </a:schemeClr>
                </a:solidFill>
                <a:latin typeface="Shabnam FD" panose="020B0603030804020204" pitchFamily="34" charset="-78"/>
                <a:cs typeface="Shabnam FD" panose="020B0603030804020204" pitchFamily="34" charset="-78"/>
              </a:rPr>
              <a:t>(شعاع)، خیابان </a:t>
            </a:r>
            <a:r>
              <a:rPr lang="fa-IR" sz="900" dirty="0" err="1">
                <a:solidFill>
                  <a:schemeClr val="bg1">
                    <a:lumMod val="50000"/>
                  </a:schemeClr>
                </a:solidFill>
                <a:latin typeface="Shabnam FD" panose="020B0603030804020204" pitchFamily="34" charset="-78"/>
                <a:cs typeface="Shabnam FD" panose="020B0603030804020204" pitchFamily="34" charset="-78"/>
              </a:rPr>
              <a:t>خدری</a:t>
            </a:r>
            <a:r>
              <a:rPr lang="fa-IR" sz="900" dirty="0">
                <a:solidFill>
                  <a:schemeClr val="bg1">
                    <a:lumMod val="50000"/>
                  </a:schemeClr>
                </a:solidFill>
                <a:latin typeface="Shabnam FD" panose="020B0603030804020204" pitchFamily="34" charset="-78"/>
                <a:cs typeface="Shabnam FD" panose="020B0603030804020204" pitchFamily="34" charset="-78"/>
              </a:rPr>
              <a:t>، پلاک پنج، طبقه نهم</a:t>
            </a:r>
            <a:endParaRPr lang="en-US" sz="900" dirty="0">
              <a:solidFill>
                <a:schemeClr val="bg1">
                  <a:lumMod val="50000"/>
                </a:schemeClr>
              </a:solidFill>
              <a:latin typeface="Shabnam FD" panose="020B0603030804020204" pitchFamily="34" charset="-78"/>
              <a:cs typeface="Shabnam FD" panose="020B0603030804020204" pitchFamily="34" charset="-78"/>
            </a:endParaRPr>
          </a:p>
          <a:p>
            <a:pPr algn="justLow" rtl="1"/>
            <a:endParaRPr lang="fa-IR" sz="200" dirty="0">
              <a:solidFill>
                <a:schemeClr val="bg1">
                  <a:lumMod val="50000"/>
                </a:schemeClr>
              </a:solidFill>
              <a:latin typeface="Shabnam FD" panose="020B0603030804020204" pitchFamily="34" charset="-78"/>
              <a:cs typeface="Shabnam FD" panose="020B0603030804020204" pitchFamily="34" charset="-78"/>
            </a:endParaRPr>
          </a:p>
          <a:p>
            <a:pPr algn="justLow" rtl="1"/>
            <a:r>
              <a:rPr lang="fa-IR" sz="900" b="1" dirty="0">
                <a:solidFill>
                  <a:schemeClr val="bg1">
                    <a:lumMod val="50000"/>
                  </a:schemeClr>
                </a:solidFill>
                <a:latin typeface="Shabnam Bold FD" panose="020B0603030804020204" pitchFamily="34" charset="-78"/>
                <a:cs typeface="Shabnam Bold FD" panose="020B0603030804020204" pitchFamily="34" charset="-78"/>
              </a:rPr>
              <a:t>تلفن: </a:t>
            </a:r>
            <a:r>
              <a:rPr lang="fa-IR" sz="900" dirty="0">
                <a:solidFill>
                  <a:schemeClr val="bg1">
                    <a:lumMod val="50000"/>
                  </a:schemeClr>
                </a:solidFill>
                <a:latin typeface="Shabnam FD" panose="020B0603030804020204" pitchFamily="34" charset="-78"/>
                <a:cs typeface="Shabnam FD" panose="020B0603030804020204" pitchFamily="34" charset="-78"/>
              </a:rPr>
              <a:t>2152189901 98+</a:t>
            </a:r>
            <a:endParaRPr lang="en-US" sz="900" dirty="0">
              <a:solidFill>
                <a:schemeClr val="bg1">
                  <a:lumMod val="50000"/>
                </a:schemeClr>
              </a:solidFill>
              <a:latin typeface="Shabnam FD" panose="020B0603030804020204" pitchFamily="34" charset="-78"/>
              <a:cs typeface="Shabnam FD" panose="020B0603030804020204" pitchFamily="34" charset="-78"/>
            </a:endParaRPr>
          </a:p>
          <a:p>
            <a:pPr algn="justLow" rtl="1"/>
            <a:endParaRPr lang="fa-IR" sz="200" dirty="0">
              <a:solidFill>
                <a:schemeClr val="bg1">
                  <a:lumMod val="50000"/>
                </a:schemeClr>
              </a:solidFill>
              <a:latin typeface="Shabnam FD" panose="020B0603030804020204" pitchFamily="34" charset="-78"/>
              <a:cs typeface="Shabnam FD" panose="020B0603030804020204" pitchFamily="34" charset="-78"/>
            </a:endParaRPr>
          </a:p>
          <a:p>
            <a:pPr algn="justLow" rtl="1"/>
            <a:r>
              <a:rPr lang="fa-IR" sz="900" b="1" dirty="0">
                <a:solidFill>
                  <a:schemeClr val="bg1">
                    <a:lumMod val="50000"/>
                  </a:schemeClr>
                </a:solidFill>
                <a:latin typeface="Shabnam Bold FD" panose="020B0603030804020204" pitchFamily="34" charset="-78"/>
                <a:cs typeface="Shabnam Bold FD" panose="020B0603030804020204" pitchFamily="34" charset="-78"/>
              </a:rPr>
              <a:t>ایمیل: </a:t>
            </a:r>
            <a:r>
              <a:rPr lang="en-US" sz="900" u="none" kern="1200" dirty="0" err="1">
                <a:solidFill>
                  <a:schemeClr val="bg1">
                    <a:lumMod val="50000"/>
                  </a:schemeClr>
                </a:solidFill>
                <a:latin typeface="Shabnam FD" panose="020B0603030804020204" pitchFamily="34" charset="-78"/>
                <a:ea typeface="+mn-ea"/>
                <a:cs typeface="Shabnam FD" panose="020B0603030804020204" pitchFamily="34" charset="-78"/>
              </a:rPr>
              <a:t>office@ilia.co</a:t>
            </a:r>
            <a:endParaRPr lang="en-US" sz="900" u="none" kern="1200" dirty="0">
              <a:solidFill>
                <a:schemeClr val="bg1">
                  <a:lumMod val="50000"/>
                </a:schemeClr>
              </a:solidFill>
              <a:latin typeface="Shabnam FD" panose="020B0603030804020204" pitchFamily="34" charset="-78"/>
              <a:ea typeface="+mn-ea"/>
              <a:cs typeface="Shabnam FD" panose="020B0603030804020204" pitchFamily="34" charset="-78"/>
            </a:endParaRPr>
          </a:p>
          <a:p>
            <a:pPr algn="justLow" rtl="1"/>
            <a:endParaRPr lang="en-US" sz="200" dirty="0">
              <a:solidFill>
                <a:schemeClr val="bg1">
                  <a:lumMod val="50000"/>
                </a:schemeClr>
              </a:solidFill>
              <a:latin typeface="Shabnam FD" panose="020B0603030804020204" pitchFamily="34" charset="-78"/>
              <a:cs typeface="Shabnam FD" panose="020B0603030804020204" pitchFamily="34" charset="-78"/>
            </a:endParaRPr>
          </a:p>
          <a:p>
            <a:pPr algn="justLow" rtl="1"/>
            <a:r>
              <a:rPr lang="fa-IR" sz="900" b="1" u="none" dirty="0" err="1">
                <a:solidFill>
                  <a:schemeClr val="bg1">
                    <a:lumMod val="50000"/>
                  </a:schemeClr>
                </a:solidFill>
                <a:latin typeface="Shabnam Bold FD" panose="020B0603030804020204" pitchFamily="34" charset="-78"/>
                <a:cs typeface="Shabnam Bold FD" panose="020B0603030804020204" pitchFamily="34" charset="-78"/>
              </a:rPr>
              <a:t>وب‌سایت</a:t>
            </a:r>
            <a:r>
              <a:rPr lang="fa-IR" sz="900" b="1" u="none" dirty="0">
                <a:solidFill>
                  <a:schemeClr val="bg1">
                    <a:lumMod val="50000"/>
                  </a:schemeClr>
                </a:solidFill>
                <a:latin typeface="Shabnam Bold FD" panose="020B0603030804020204" pitchFamily="34" charset="-78"/>
                <a:cs typeface="Shabnam Bold FD" panose="020B0603030804020204" pitchFamily="34" charset="-78"/>
              </a:rPr>
              <a:t>: </a:t>
            </a:r>
            <a:r>
              <a:rPr lang="en-US" sz="900" u="none" dirty="0" err="1">
                <a:solidFill>
                  <a:schemeClr val="bg1">
                    <a:lumMod val="50000"/>
                  </a:schemeClr>
                </a:solidFill>
                <a:latin typeface="Shabnam FD" panose="020B0603030804020204" pitchFamily="34" charset="-78"/>
                <a:cs typeface="Shabnam FD" panose="020B0603030804020204" pitchFamily="34" charset="-78"/>
              </a:rPr>
              <a:t>ilia.co</a:t>
            </a:r>
            <a:endParaRPr lang="en-US" sz="900" u="none" dirty="0">
              <a:solidFill>
                <a:schemeClr val="bg1">
                  <a:lumMod val="50000"/>
                </a:schemeClr>
              </a:solidFill>
              <a:latin typeface="Shabnam FD" panose="020B0603030804020204" pitchFamily="34" charset="-78"/>
              <a:cs typeface="Shabnam FD" panose="020B0603030804020204" pitchFamily="34" charset="-78"/>
            </a:endParaRPr>
          </a:p>
        </p:txBody>
      </p:sp>
    </p:spTree>
    <p:extLst>
      <p:ext uri="{BB962C8B-B14F-4D97-AF65-F5344CB8AC3E}">
        <p14:creationId xmlns:p14="http://schemas.microsoft.com/office/powerpoint/2010/main" val="2548382245"/>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8701701"/>
      </p:ext>
    </p:extLst>
  </p:cSld>
  <p:clrMap bg1="lt1" tx1="dk1" bg2="lt2" tx2="dk2" accent1="accent1" accent2="accent2" accent3="accent3" accent4="accent4" accent5="accent5" accent6="accent6" hlink="hlink" folHlink="folHlink"/>
  <p:sldLayoutIdLst>
    <p:sldLayoutId id="2147483763" r:id="rId1"/>
    <p:sldLayoutId id="2147483772" r:id="rId2"/>
    <p:sldLayoutId id="2147483767" r:id="rId3"/>
    <p:sldLayoutId id="2147483768" r:id="rId4"/>
    <p:sldLayoutId id="2147483769" r:id="rId5"/>
    <p:sldLayoutId id="2147483773" r:id="rId6"/>
    <p:sldLayoutId id="2147483770" r:id="rId7"/>
  </p:sldLayoutIdLst>
  <p:txStyles>
    <p:titleStyle>
      <a:lvl1pPr algn="l" defTabSz="1021516" rtl="0" eaLnBrk="1" latinLnBrk="0" hangingPunct="1">
        <a:lnSpc>
          <a:spcPct val="90000"/>
        </a:lnSpc>
        <a:spcBef>
          <a:spcPct val="0"/>
        </a:spcBef>
        <a:buNone/>
        <a:defRPr sz="4915" kern="1200">
          <a:solidFill>
            <a:schemeClr val="tx1"/>
          </a:solidFill>
          <a:latin typeface="+mj-lt"/>
          <a:ea typeface="+mj-ea"/>
          <a:cs typeface="+mj-cs"/>
        </a:defRPr>
      </a:lvl1pPr>
    </p:titleStyle>
    <p:bodyStyle>
      <a:lvl1pPr marL="255379" indent="-255379" algn="l" defTabSz="1021516" rtl="0" eaLnBrk="1" latinLnBrk="0" hangingPunct="1">
        <a:lnSpc>
          <a:spcPct val="90000"/>
        </a:lnSpc>
        <a:spcBef>
          <a:spcPts val="1117"/>
        </a:spcBef>
        <a:buFont typeface="Arial" panose="020B0604020202020204" pitchFamily="34" charset="0"/>
        <a:buChar char="•"/>
        <a:defRPr sz="3127" kern="1200">
          <a:solidFill>
            <a:schemeClr val="tx1"/>
          </a:solidFill>
          <a:latin typeface="+mn-lt"/>
          <a:ea typeface="+mn-ea"/>
          <a:cs typeface="+mn-cs"/>
        </a:defRPr>
      </a:lvl1pPr>
      <a:lvl2pPr marL="766136" indent="-255379" algn="l" defTabSz="1021516" rtl="0" eaLnBrk="1" latinLnBrk="0" hangingPunct="1">
        <a:lnSpc>
          <a:spcPct val="90000"/>
        </a:lnSpc>
        <a:spcBef>
          <a:spcPts val="558"/>
        </a:spcBef>
        <a:buFont typeface="Arial" panose="020B0604020202020204" pitchFamily="34" charset="0"/>
        <a:buChar char="•"/>
        <a:defRPr sz="2682" kern="1200">
          <a:solidFill>
            <a:schemeClr val="tx1"/>
          </a:solidFill>
          <a:latin typeface="+mn-lt"/>
          <a:ea typeface="+mn-ea"/>
          <a:cs typeface="+mn-cs"/>
        </a:defRPr>
      </a:lvl2pPr>
      <a:lvl3pPr marL="1276895" indent="-255379" algn="l" defTabSz="1021516" rtl="0" eaLnBrk="1" latinLnBrk="0" hangingPunct="1">
        <a:lnSpc>
          <a:spcPct val="90000"/>
        </a:lnSpc>
        <a:spcBef>
          <a:spcPts val="558"/>
        </a:spcBef>
        <a:buFont typeface="Arial" panose="020B0604020202020204" pitchFamily="34" charset="0"/>
        <a:buChar char="•"/>
        <a:defRPr sz="2234" kern="1200">
          <a:solidFill>
            <a:schemeClr val="tx1"/>
          </a:solidFill>
          <a:latin typeface="+mn-lt"/>
          <a:ea typeface="+mn-ea"/>
          <a:cs typeface="+mn-cs"/>
        </a:defRPr>
      </a:lvl3pPr>
      <a:lvl4pPr marL="1787653" indent="-255379" algn="l" defTabSz="1021516" rtl="0" eaLnBrk="1" latinLnBrk="0" hangingPunct="1">
        <a:lnSpc>
          <a:spcPct val="90000"/>
        </a:lnSpc>
        <a:spcBef>
          <a:spcPts val="558"/>
        </a:spcBef>
        <a:buFont typeface="Arial" panose="020B0604020202020204" pitchFamily="34" charset="0"/>
        <a:buChar char="•"/>
        <a:defRPr sz="2011" kern="1200">
          <a:solidFill>
            <a:schemeClr val="tx1"/>
          </a:solidFill>
          <a:latin typeface="+mn-lt"/>
          <a:ea typeface="+mn-ea"/>
          <a:cs typeface="+mn-cs"/>
        </a:defRPr>
      </a:lvl4pPr>
      <a:lvl5pPr marL="2298410" indent="-255379" algn="l" defTabSz="1021516" rtl="0" eaLnBrk="1" latinLnBrk="0" hangingPunct="1">
        <a:lnSpc>
          <a:spcPct val="90000"/>
        </a:lnSpc>
        <a:spcBef>
          <a:spcPts val="558"/>
        </a:spcBef>
        <a:buFont typeface="Arial" panose="020B0604020202020204" pitchFamily="34" charset="0"/>
        <a:buChar char="•"/>
        <a:defRPr sz="2011" kern="1200">
          <a:solidFill>
            <a:schemeClr val="tx1"/>
          </a:solidFill>
          <a:latin typeface="+mn-lt"/>
          <a:ea typeface="+mn-ea"/>
          <a:cs typeface="+mn-cs"/>
        </a:defRPr>
      </a:lvl5pPr>
      <a:lvl6pPr marL="2809168" indent="-255379" algn="l" defTabSz="1021516" rtl="0" eaLnBrk="1" latinLnBrk="0" hangingPunct="1">
        <a:lnSpc>
          <a:spcPct val="90000"/>
        </a:lnSpc>
        <a:spcBef>
          <a:spcPts val="558"/>
        </a:spcBef>
        <a:buFont typeface="Arial" panose="020B0604020202020204" pitchFamily="34" charset="0"/>
        <a:buChar char="•"/>
        <a:defRPr sz="2011" kern="1200">
          <a:solidFill>
            <a:schemeClr val="tx1"/>
          </a:solidFill>
          <a:latin typeface="+mn-lt"/>
          <a:ea typeface="+mn-ea"/>
          <a:cs typeface="+mn-cs"/>
        </a:defRPr>
      </a:lvl6pPr>
      <a:lvl7pPr marL="3319927" indent="-255379" algn="l" defTabSz="1021516" rtl="0" eaLnBrk="1" latinLnBrk="0" hangingPunct="1">
        <a:lnSpc>
          <a:spcPct val="90000"/>
        </a:lnSpc>
        <a:spcBef>
          <a:spcPts val="558"/>
        </a:spcBef>
        <a:buFont typeface="Arial" panose="020B0604020202020204" pitchFamily="34" charset="0"/>
        <a:buChar char="•"/>
        <a:defRPr sz="2011" kern="1200">
          <a:solidFill>
            <a:schemeClr val="tx1"/>
          </a:solidFill>
          <a:latin typeface="+mn-lt"/>
          <a:ea typeface="+mn-ea"/>
          <a:cs typeface="+mn-cs"/>
        </a:defRPr>
      </a:lvl7pPr>
      <a:lvl8pPr marL="3830683" indent="-255379" algn="l" defTabSz="1021516" rtl="0" eaLnBrk="1" latinLnBrk="0" hangingPunct="1">
        <a:lnSpc>
          <a:spcPct val="90000"/>
        </a:lnSpc>
        <a:spcBef>
          <a:spcPts val="558"/>
        </a:spcBef>
        <a:buFont typeface="Arial" panose="020B0604020202020204" pitchFamily="34" charset="0"/>
        <a:buChar char="•"/>
        <a:defRPr sz="2011" kern="1200">
          <a:solidFill>
            <a:schemeClr val="tx1"/>
          </a:solidFill>
          <a:latin typeface="+mn-lt"/>
          <a:ea typeface="+mn-ea"/>
          <a:cs typeface="+mn-cs"/>
        </a:defRPr>
      </a:lvl8pPr>
      <a:lvl9pPr marL="4341442" indent="-255379" algn="l" defTabSz="1021516" rtl="0" eaLnBrk="1" latinLnBrk="0" hangingPunct="1">
        <a:lnSpc>
          <a:spcPct val="90000"/>
        </a:lnSpc>
        <a:spcBef>
          <a:spcPts val="558"/>
        </a:spcBef>
        <a:buFont typeface="Arial" panose="020B0604020202020204" pitchFamily="34" charset="0"/>
        <a:buChar char="•"/>
        <a:defRPr sz="2011" kern="1200">
          <a:solidFill>
            <a:schemeClr val="tx1"/>
          </a:solidFill>
          <a:latin typeface="+mn-lt"/>
          <a:ea typeface="+mn-ea"/>
          <a:cs typeface="+mn-cs"/>
        </a:defRPr>
      </a:lvl9pPr>
    </p:bodyStyle>
    <p:otherStyle>
      <a:defPPr>
        <a:defRPr lang="en-US"/>
      </a:defPPr>
      <a:lvl1pPr marL="0" algn="l" defTabSz="1021516" rtl="0" eaLnBrk="1" latinLnBrk="0" hangingPunct="1">
        <a:defRPr sz="2011" kern="1200">
          <a:solidFill>
            <a:schemeClr val="tx1"/>
          </a:solidFill>
          <a:latin typeface="+mn-lt"/>
          <a:ea typeface="+mn-ea"/>
          <a:cs typeface="+mn-cs"/>
        </a:defRPr>
      </a:lvl1pPr>
      <a:lvl2pPr marL="510759" algn="l" defTabSz="1021516" rtl="0" eaLnBrk="1" latinLnBrk="0" hangingPunct="1">
        <a:defRPr sz="2011" kern="1200">
          <a:solidFill>
            <a:schemeClr val="tx1"/>
          </a:solidFill>
          <a:latin typeface="+mn-lt"/>
          <a:ea typeface="+mn-ea"/>
          <a:cs typeface="+mn-cs"/>
        </a:defRPr>
      </a:lvl2pPr>
      <a:lvl3pPr marL="1021516" algn="l" defTabSz="1021516" rtl="0" eaLnBrk="1" latinLnBrk="0" hangingPunct="1">
        <a:defRPr sz="2011" kern="1200">
          <a:solidFill>
            <a:schemeClr val="tx1"/>
          </a:solidFill>
          <a:latin typeface="+mn-lt"/>
          <a:ea typeface="+mn-ea"/>
          <a:cs typeface="+mn-cs"/>
        </a:defRPr>
      </a:lvl3pPr>
      <a:lvl4pPr marL="1532275" algn="l" defTabSz="1021516" rtl="0" eaLnBrk="1" latinLnBrk="0" hangingPunct="1">
        <a:defRPr sz="2011" kern="1200">
          <a:solidFill>
            <a:schemeClr val="tx1"/>
          </a:solidFill>
          <a:latin typeface="+mn-lt"/>
          <a:ea typeface="+mn-ea"/>
          <a:cs typeface="+mn-cs"/>
        </a:defRPr>
      </a:lvl4pPr>
      <a:lvl5pPr marL="2043033" algn="l" defTabSz="1021516" rtl="0" eaLnBrk="1" latinLnBrk="0" hangingPunct="1">
        <a:defRPr sz="2011" kern="1200">
          <a:solidFill>
            <a:schemeClr val="tx1"/>
          </a:solidFill>
          <a:latin typeface="+mn-lt"/>
          <a:ea typeface="+mn-ea"/>
          <a:cs typeface="+mn-cs"/>
        </a:defRPr>
      </a:lvl5pPr>
      <a:lvl6pPr marL="2553787" algn="l" defTabSz="1021516" rtl="0" eaLnBrk="1" latinLnBrk="0" hangingPunct="1">
        <a:defRPr sz="2011" kern="1200">
          <a:solidFill>
            <a:schemeClr val="tx1"/>
          </a:solidFill>
          <a:latin typeface="+mn-lt"/>
          <a:ea typeface="+mn-ea"/>
          <a:cs typeface="+mn-cs"/>
        </a:defRPr>
      </a:lvl6pPr>
      <a:lvl7pPr marL="3064546" algn="l" defTabSz="1021516" rtl="0" eaLnBrk="1" latinLnBrk="0" hangingPunct="1">
        <a:defRPr sz="2011" kern="1200">
          <a:solidFill>
            <a:schemeClr val="tx1"/>
          </a:solidFill>
          <a:latin typeface="+mn-lt"/>
          <a:ea typeface="+mn-ea"/>
          <a:cs typeface="+mn-cs"/>
        </a:defRPr>
      </a:lvl7pPr>
      <a:lvl8pPr marL="3575304" algn="l" defTabSz="1021516" rtl="0" eaLnBrk="1" latinLnBrk="0" hangingPunct="1">
        <a:defRPr sz="2011" kern="1200">
          <a:solidFill>
            <a:schemeClr val="tx1"/>
          </a:solidFill>
          <a:latin typeface="+mn-lt"/>
          <a:ea typeface="+mn-ea"/>
          <a:cs typeface="+mn-cs"/>
        </a:defRPr>
      </a:lvl8pPr>
      <a:lvl9pPr marL="4086063" algn="l" defTabSz="1021516" rtl="0" eaLnBrk="1" latinLnBrk="0" hangingPunct="1">
        <a:defRPr sz="2011"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022">
          <p15:clr>
            <a:srgbClr val="F26B43"/>
          </p15:clr>
        </p15:guide>
        <p15:guide id="2" pos="3686">
          <p15:clr>
            <a:srgbClr val="F26B43"/>
          </p15:clr>
        </p15:guide>
        <p15:guide id="3" orient="horz" pos="2073">
          <p15:clr>
            <a:srgbClr val="F26B43"/>
          </p15:clr>
        </p15:guide>
        <p15:guide id="4" pos="35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jpg"/><Relationship Id="rId2" Type="http://schemas.openxmlformats.org/officeDocument/2006/relationships/image" Target="../media/image7.png"/><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svg"/><Relationship Id="rId1" Type="http://schemas.openxmlformats.org/officeDocument/2006/relationships/slideLayout" Target="../slideLayouts/slideLayout3.xml"/><Relationship Id="rId6" Type="http://schemas.openxmlformats.org/officeDocument/2006/relationships/image" Target="../media/image18.svg"/><Relationship Id="rId5" Type="http://schemas.openxmlformats.org/officeDocument/2006/relationships/image" Target="../media/image17.svg"/><Relationship Id="rId4" Type="http://schemas.openxmlformats.org/officeDocument/2006/relationships/image" Target="../media/image16.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20.svg"/><Relationship Id="rId7" Type="http://schemas.openxmlformats.org/officeDocument/2006/relationships/image" Target="../media/image24.svg"/><Relationship Id="rId2" Type="http://schemas.openxmlformats.org/officeDocument/2006/relationships/image" Target="../media/image19.svg"/><Relationship Id="rId1" Type="http://schemas.openxmlformats.org/officeDocument/2006/relationships/slideLayout" Target="../slideLayouts/slideLayout3.xml"/><Relationship Id="rId6" Type="http://schemas.openxmlformats.org/officeDocument/2006/relationships/image" Target="../media/image23.svg"/><Relationship Id="rId5" Type="http://schemas.openxmlformats.org/officeDocument/2006/relationships/image" Target="../media/image22.svg"/><Relationship Id="rId4" Type="http://schemas.openxmlformats.org/officeDocument/2006/relationships/image" Target="../media/image21.svg"/><Relationship Id="rId9" Type="http://schemas.openxmlformats.org/officeDocument/2006/relationships/image" Target="../media/image26.sv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8" Type="http://schemas.openxmlformats.org/officeDocument/2006/relationships/hyperlink" Target="https://www.startupceo.coach/feeds/why-startup-founders-avoid-difficult-decisions-and-what-it-actually-costs" TargetMode="External"/><Relationship Id="rId13" Type="http://schemas.openxmlformats.org/officeDocument/2006/relationships/hyperlink" Target="https://www.eghtesadonline.com/fa/news/2071705/" TargetMode="External"/><Relationship Id="rId18" Type="http://schemas.openxmlformats.org/officeDocument/2006/relationships/hyperlink" Target="https://www.pwc.com/gx/en/news-room/press-releases/2025/pwc-2025-global-asset-wealth-management-report.html" TargetMode="External"/><Relationship Id="rId3" Type="http://schemas.openxmlformats.org/officeDocument/2006/relationships/hyperlink" Target="https://www.finra.org/investors/insights/investing-emerging-and-frontier-markets" TargetMode="External"/><Relationship Id="rId7" Type="http://schemas.openxmlformats.org/officeDocument/2006/relationships/hyperlink" Target="https://www.bruegel.org/analysis/growing-impact-political-risk-financial-markets" TargetMode="External"/><Relationship Id="rId12" Type="http://schemas.openxmlformats.org/officeDocument/2006/relationships/hyperlink" Target="https://www.lazardassetmanagement.com/us/en_us/research-insights/investment-insights/investment-research/emerging-markets-spotlight" TargetMode="External"/><Relationship Id="rId17" Type="http://schemas.openxmlformats.org/officeDocument/2006/relationships/hyperlink" Target="https://www.cbinsights.com/research/report/startup-failure-reasons-top/" TargetMode="External"/><Relationship Id="rId2" Type="http://schemas.openxmlformats.org/officeDocument/2006/relationships/notesSlide" Target="../notesSlides/notesSlide1.xml"/><Relationship Id="rId16" Type="http://schemas.openxmlformats.org/officeDocument/2006/relationships/hyperlink" Target="https://www.pwc.com/gx/en/news-room/press-releases/2026/pwc-2026-global-ceo-survey.html" TargetMode="External"/><Relationship Id="rId20" Type="http://schemas.openxmlformats.org/officeDocument/2006/relationships/hyperlink" Target="https://blogs.worldbank.org/en/developmenttalk/global-trade-s-rollercoaster-ride" TargetMode="External"/><Relationship Id="rId1" Type="http://schemas.openxmlformats.org/officeDocument/2006/relationships/slideLayout" Target="../slideLayouts/slideLayout3.xml"/><Relationship Id="rId6" Type="http://schemas.openxmlformats.org/officeDocument/2006/relationships/hyperlink" Target="https://www.elibrary.imf.org/display/book/9798229023184/CH001.xml" TargetMode="External"/><Relationship Id="rId11" Type="http://schemas.openxmlformats.org/officeDocument/2006/relationships/hyperlink" Target="https://www.investor.gov/introduction-investing/getting-started/working-investment-professional/check-out-your-investment-professional" TargetMode="External"/><Relationship Id="rId5" Type="http://schemas.openxmlformats.org/officeDocument/2006/relationships/hyperlink" Target="https://www.imf.org/en/publications/gfsr" TargetMode="External"/><Relationship Id="rId15" Type="http://schemas.openxmlformats.org/officeDocument/2006/relationships/hyperlink" Target="https://nabzebourse.com/fa/news/119988/" TargetMode="External"/><Relationship Id="rId10" Type="http://schemas.openxmlformats.org/officeDocument/2006/relationships/hyperlink" Target="https://steveblank.com/category/harvard-business-review/" TargetMode="External"/><Relationship Id="rId19" Type="http://schemas.openxmlformats.org/officeDocument/2006/relationships/hyperlink" Target="https://openknowledge.worldbank.org/entities/publication/a2c8fea0-4059-490f-879f-4fda91c67313" TargetMode="External"/><Relationship Id="rId4" Type="http://schemas.openxmlformats.org/officeDocument/2006/relationships/hyperlink" Target="https://www.nrdcompanies.com/insights/business-ready-2025-report-insights/" TargetMode="External"/><Relationship Id="rId9" Type="http://schemas.openxmlformats.org/officeDocument/2006/relationships/hyperlink" Target="https://hbr.org/2025/07/how-to-identify-the-perfect-cofounder" TargetMode="External"/><Relationship Id="rId14" Type="http://schemas.openxmlformats.org/officeDocument/2006/relationships/hyperlink" Target="https://nabzebourse.com/fa/news/109131/" TargetMode="Externa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288F75-9611-DC37-0F42-1C51AE6F8279}"/>
              </a:ext>
            </a:extLst>
          </p:cNvPr>
          <p:cNvSpPr>
            <a:spLocks noGrp="1"/>
          </p:cNvSpPr>
          <p:nvPr>
            <p:ph type="title"/>
          </p:nvPr>
        </p:nvSpPr>
        <p:spPr>
          <a:xfrm>
            <a:off x="422606" y="1837896"/>
            <a:ext cx="10832440" cy="693069"/>
          </a:xfrm>
        </p:spPr>
        <p:txBody>
          <a:bodyPr/>
          <a:lstStyle/>
          <a:p>
            <a:r>
              <a:rPr kumimoji="0" lang="fa-IR" sz="3600" b="1" i="0" u="none" strike="noStrike" kern="1200" cap="none" spc="0" normalizeH="0" baseline="0" noProof="0" dirty="0">
                <a:ln>
                  <a:noFill/>
                </a:ln>
                <a:solidFill>
                  <a:prstClr val="white"/>
                </a:solidFill>
                <a:effectLst/>
                <a:uLnTx/>
                <a:uFillTx/>
                <a:latin typeface="Yekan Bakh FaNum" pitchFamily="2" charset="-78"/>
                <a:ea typeface="+mj-ea"/>
                <a:cs typeface="Yekan Bakh FaNum" pitchFamily="2" charset="-78"/>
              </a:rPr>
              <a:t>طراحی مدل ارزش، عملیاتی و مالی </a:t>
            </a:r>
            <a:r>
              <a:rPr kumimoji="0" lang="fa-IR" sz="3600" b="1" i="0" u="none" strike="noStrike" kern="1200" cap="none" spc="0" normalizeH="0" baseline="0" noProof="0" dirty="0">
                <a:ln>
                  <a:noFill/>
                </a:ln>
                <a:solidFill>
                  <a:srgbClr val="FFC000"/>
                </a:solidFill>
                <a:effectLst/>
                <a:uLnTx/>
                <a:uFillTx/>
                <a:latin typeface="Yekan Bakh FaNum" pitchFamily="2" charset="-78"/>
                <a:ea typeface="+mj-ea"/>
                <a:cs typeface="Yekan Bakh FaNum" pitchFamily="2" charset="-78"/>
              </a:rPr>
              <a:t>کسب‌وکار</a:t>
            </a:r>
            <a:endParaRPr lang="en-GB" dirty="0"/>
          </a:p>
        </p:txBody>
      </p:sp>
      <p:sp>
        <p:nvSpPr>
          <p:cNvPr id="4" name="Text Placeholder 3">
            <a:extLst>
              <a:ext uri="{FF2B5EF4-FFF2-40B4-BE49-F238E27FC236}">
                <a16:creationId xmlns:a16="http://schemas.microsoft.com/office/drawing/2014/main" id="{5FE1E8A9-CBF7-9776-0B43-0CF91E778708}"/>
              </a:ext>
            </a:extLst>
          </p:cNvPr>
          <p:cNvSpPr>
            <a:spLocks noGrp="1"/>
          </p:cNvSpPr>
          <p:nvPr>
            <p:ph type="body" sz="quarter" idx="18"/>
          </p:nvPr>
        </p:nvSpPr>
        <p:spPr>
          <a:xfrm>
            <a:off x="422604" y="1531761"/>
            <a:ext cx="10832441" cy="292750"/>
          </a:xfrm>
        </p:spPr>
        <p:txBody>
          <a:bodyPr/>
          <a:lstStyle/>
          <a:p>
            <a:r>
              <a:rPr lang="fa-IR" dirty="0"/>
              <a:t>سند مدل کسب‌وکار «اکوسیستم فرصت ایران»، </a:t>
            </a:r>
          </a:p>
          <a:p>
            <a:endParaRPr lang="en-GB" dirty="0"/>
          </a:p>
        </p:txBody>
      </p:sp>
      <p:sp>
        <p:nvSpPr>
          <p:cNvPr id="5" name="Text Placeholder 4">
            <a:extLst>
              <a:ext uri="{FF2B5EF4-FFF2-40B4-BE49-F238E27FC236}">
                <a16:creationId xmlns:a16="http://schemas.microsoft.com/office/drawing/2014/main" id="{38224302-4C1C-FA14-1546-6CF05E2B75B2}"/>
              </a:ext>
            </a:extLst>
          </p:cNvPr>
          <p:cNvSpPr>
            <a:spLocks noGrp="1"/>
          </p:cNvSpPr>
          <p:nvPr>
            <p:ph type="body" sz="quarter" idx="15"/>
          </p:nvPr>
        </p:nvSpPr>
        <p:spPr/>
        <p:txBody>
          <a:bodyPr/>
          <a:lstStyle/>
          <a:p>
            <a:r>
              <a:rPr lang="fa-IR" dirty="0"/>
              <a:t>تهیه شده برای هم‌بنیانگذاران سیمرغ </a:t>
            </a:r>
          </a:p>
          <a:p>
            <a:endParaRPr lang="en-GB" dirty="0"/>
          </a:p>
        </p:txBody>
      </p:sp>
      <p:sp>
        <p:nvSpPr>
          <p:cNvPr id="6" name="Text Placeholder 5">
            <a:extLst>
              <a:ext uri="{FF2B5EF4-FFF2-40B4-BE49-F238E27FC236}">
                <a16:creationId xmlns:a16="http://schemas.microsoft.com/office/drawing/2014/main" id="{A33A18B0-EB77-5B5C-8452-0AFCCBA8569D}"/>
              </a:ext>
            </a:extLst>
          </p:cNvPr>
          <p:cNvSpPr>
            <a:spLocks noGrp="1"/>
          </p:cNvSpPr>
          <p:nvPr>
            <p:ph type="body" sz="quarter" idx="16"/>
          </p:nvPr>
        </p:nvSpPr>
        <p:spPr/>
        <p:txBody>
          <a:bodyPr/>
          <a:lstStyle/>
          <a:p>
            <a:r>
              <a:rPr lang="fa-IR" dirty="0"/>
              <a:t>شهریور ۱۴۰۵</a:t>
            </a:r>
            <a:endParaRPr lang="en-GB" dirty="0"/>
          </a:p>
        </p:txBody>
      </p:sp>
    </p:spTree>
    <p:extLst>
      <p:ext uri="{BB962C8B-B14F-4D97-AF65-F5344CB8AC3E}">
        <p14:creationId xmlns:p14="http://schemas.microsoft.com/office/powerpoint/2010/main" val="14543497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D94AB0C-FF21-5B00-FD69-3E2E5730B32C}"/>
              </a:ext>
            </a:extLst>
          </p:cNvPr>
          <p:cNvSpPr>
            <a:spLocks noGrp="1"/>
          </p:cNvSpPr>
          <p:nvPr>
            <p:ph type="body" sz="quarter" idx="10"/>
          </p:nvPr>
        </p:nvSpPr>
        <p:spPr/>
        <p:txBody>
          <a:bodyPr/>
          <a:lstStyle/>
          <a:p>
            <a:endParaRPr lang="en-GB"/>
          </a:p>
        </p:txBody>
      </p:sp>
      <p:sp>
        <p:nvSpPr>
          <p:cNvPr id="3" name="Text Placeholder 2">
            <a:extLst>
              <a:ext uri="{FF2B5EF4-FFF2-40B4-BE49-F238E27FC236}">
                <a16:creationId xmlns:a16="http://schemas.microsoft.com/office/drawing/2014/main" id="{268A8716-42D8-5841-422D-7BF59C31A059}"/>
              </a:ext>
            </a:extLst>
          </p:cNvPr>
          <p:cNvSpPr>
            <a:spLocks noGrp="1"/>
          </p:cNvSpPr>
          <p:nvPr>
            <p:ph type="body" sz="quarter" idx="12"/>
          </p:nvPr>
        </p:nvSpPr>
        <p:spPr/>
        <p:txBody>
          <a:bodyPr/>
          <a:lstStyle/>
          <a:p>
            <a:r>
              <a:rPr lang="fa-IR" dirty="0"/>
              <a:t>سودآوری ماشین سرمایه جهان، با اجرای استراتژی </a:t>
            </a:r>
            <a:r>
              <a:rPr lang="en-GB" dirty="0"/>
              <a:t>Always on War</a:t>
            </a:r>
          </a:p>
        </p:txBody>
      </p:sp>
      <p:sp>
        <p:nvSpPr>
          <p:cNvPr id="4" name="Rounded Rectangle 2">
            <a:extLst>
              <a:ext uri="{FF2B5EF4-FFF2-40B4-BE49-F238E27FC236}">
                <a16:creationId xmlns:a16="http://schemas.microsoft.com/office/drawing/2014/main" id="{F632902A-7EC2-BF09-9DB9-77557B636275}"/>
              </a:ext>
            </a:extLst>
          </p:cNvPr>
          <p:cNvSpPr/>
          <p:nvPr/>
        </p:nvSpPr>
        <p:spPr>
          <a:xfrm>
            <a:off x="6348843" y="1592386"/>
            <a:ext cx="4536375" cy="539399"/>
          </a:xfrm>
          <a:prstGeom prst="roundRect">
            <a:avLst>
              <a:gd name="adj" fmla="val 10569"/>
            </a:avLst>
          </a:prstGeom>
          <a:solidFill>
            <a:schemeClr val="bg1">
              <a:lumMod val="95000"/>
              <a:alpha val="46000"/>
            </a:schemeClr>
          </a:solidFill>
          <a:ln w="3175">
            <a:solidFill>
              <a:srgbClr val="F0BE0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457200" rtl="1" eaLnBrk="1" latinLnBrk="0" hangingPunct="1"/>
            <a:r>
              <a:rPr lang="fa-IR" sz="1400" b="1" dirty="0">
                <a:solidFill>
                  <a:srgbClr val="F0BE0F"/>
                </a:solidFill>
                <a:latin typeface="Yekan Bakh" pitchFamily="2" charset="-78"/>
                <a:ea typeface="Yekan Bakh" pitchFamily="2" charset="-78"/>
                <a:cs typeface="Yekan Bakh" pitchFamily="2" charset="-78"/>
              </a:rPr>
              <a:t>دولت / حاکمیت</a:t>
            </a:r>
          </a:p>
          <a:p>
            <a:pPr marL="0" algn="ctr" defTabSz="457200" rtl="1" eaLnBrk="1" latinLnBrk="0" hangingPunct="1"/>
            <a:r>
              <a:rPr lang="fa-IR" sz="900" dirty="0">
                <a:solidFill>
                  <a:schemeClr val="tx1">
                    <a:lumMod val="50000"/>
                    <a:lumOff val="50000"/>
                  </a:schemeClr>
                </a:solidFill>
                <a:latin typeface="Yekan Bakh" pitchFamily="2" charset="-78"/>
                <a:ea typeface="Yekan Bakh" pitchFamily="2" charset="-78"/>
                <a:cs typeface="Yekan Bakh" pitchFamily="2" charset="-78"/>
              </a:rPr>
              <a:t>در دست دارنده قدرت</a:t>
            </a:r>
            <a:endParaRPr lang="en-IR" sz="900" dirty="0">
              <a:solidFill>
                <a:schemeClr val="tx1">
                  <a:lumMod val="50000"/>
                  <a:lumOff val="50000"/>
                </a:schemeClr>
              </a:solidFill>
              <a:latin typeface="Yekan Bakh" pitchFamily="2" charset="-78"/>
              <a:ea typeface="Yekan Bakh" pitchFamily="2" charset="-78"/>
              <a:cs typeface="Yekan Bakh" pitchFamily="2" charset="-78"/>
            </a:endParaRPr>
          </a:p>
        </p:txBody>
      </p:sp>
      <p:sp>
        <p:nvSpPr>
          <p:cNvPr id="5" name="Rounded Rectangle 3">
            <a:extLst>
              <a:ext uri="{FF2B5EF4-FFF2-40B4-BE49-F238E27FC236}">
                <a16:creationId xmlns:a16="http://schemas.microsoft.com/office/drawing/2014/main" id="{8C603122-855D-FA39-114C-22060590B398}"/>
              </a:ext>
            </a:extLst>
          </p:cNvPr>
          <p:cNvSpPr/>
          <p:nvPr/>
        </p:nvSpPr>
        <p:spPr>
          <a:xfrm>
            <a:off x="9784523" y="2657733"/>
            <a:ext cx="1100695" cy="540385"/>
          </a:xfrm>
          <a:prstGeom prst="roundRect">
            <a:avLst>
              <a:gd name="adj" fmla="val 10569"/>
            </a:avLst>
          </a:prstGeom>
          <a:solidFill>
            <a:schemeClr val="bg1">
              <a:lumMod val="95000"/>
              <a:alpha val="46000"/>
            </a:schemeClr>
          </a:solidFill>
          <a:ln w="3175">
            <a:solidFill>
              <a:srgbClr val="F0BE0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457200" rtl="1" eaLnBrk="1" latinLnBrk="0" hangingPunct="1"/>
            <a:r>
              <a:rPr lang="fa-IR" sz="1200" b="1" dirty="0">
                <a:solidFill>
                  <a:srgbClr val="F0BE0F"/>
                </a:solidFill>
                <a:latin typeface="Yekan Bakh" pitchFamily="2" charset="-78"/>
                <a:ea typeface="Yekan Bakh" pitchFamily="2" charset="-78"/>
                <a:cs typeface="Yekan Bakh" pitchFamily="2" charset="-78"/>
              </a:rPr>
              <a:t>نهادها</a:t>
            </a:r>
            <a:endParaRPr lang="en-IR" sz="800" dirty="0">
              <a:solidFill>
                <a:srgbClr val="F0BE0F"/>
              </a:solidFill>
              <a:latin typeface="Yekan Bakh" pitchFamily="2" charset="-78"/>
              <a:ea typeface="Yekan Bakh" pitchFamily="2" charset="-78"/>
              <a:cs typeface="Yekan Bakh" pitchFamily="2" charset="-78"/>
            </a:endParaRPr>
          </a:p>
        </p:txBody>
      </p:sp>
      <p:sp>
        <p:nvSpPr>
          <p:cNvPr id="6" name="Rounded Rectangle 4">
            <a:extLst>
              <a:ext uri="{FF2B5EF4-FFF2-40B4-BE49-F238E27FC236}">
                <a16:creationId xmlns:a16="http://schemas.microsoft.com/office/drawing/2014/main" id="{4CA88850-4E84-CD5C-E018-3B75CA3C9AAA}"/>
              </a:ext>
            </a:extLst>
          </p:cNvPr>
          <p:cNvSpPr/>
          <p:nvPr/>
        </p:nvSpPr>
        <p:spPr>
          <a:xfrm>
            <a:off x="8639297" y="2657733"/>
            <a:ext cx="1100695" cy="540385"/>
          </a:xfrm>
          <a:prstGeom prst="roundRect">
            <a:avLst>
              <a:gd name="adj" fmla="val 10569"/>
            </a:avLst>
          </a:prstGeom>
          <a:solidFill>
            <a:schemeClr val="bg1">
              <a:lumMod val="95000"/>
              <a:alpha val="46000"/>
            </a:schemeClr>
          </a:solidFill>
          <a:ln w="3175">
            <a:solidFill>
              <a:srgbClr val="F0BE0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457200" rtl="1" eaLnBrk="1" latinLnBrk="0" hangingPunct="1"/>
            <a:r>
              <a:rPr lang="fa-IR" sz="1200" b="1" dirty="0" err="1">
                <a:solidFill>
                  <a:srgbClr val="F0BE0F"/>
                </a:solidFill>
                <a:latin typeface="Yekan Bakh" pitchFamily="2" charset="-78"/>
                <a:ea typeface="Yekan Bakh" pitchFamily="2" charset="-78"/>
                <a:cs typeface="Yekan Bakh" pitchFamily="2" charset="-78"/>
              </a:rPr>
              <a:t>بانک‌ها</a:t>
            </a:r>
            <a:endParaRPr lang="en-IR" sz="800" dirty="0">
              <a:solidFill>
                <a:srgbClr val="F0BE0F"/>
              </a:solidFill>
              <a:latin typeface="Yekan Bakh" pitchFamily="2" charset="-78"/>
              <a:ea typeface="Yekan Bakh" pitchFamily="2" charset="-78"/>
              <a:cs typeface="Yekan Bakh" pitchFamily="2" charset="-78"/>
            </a:endParaRPr>
          </a:p>
        </p:txBody>
      </p:sp>
      <p:sp>
        <p:nvSpPr>
          <p:cNvPr id="7" name="Rounded Rectangle 5">
            <a:extLst>
              <a:ext uri="{FF2B5EF4-FFF2-40B4-BE49-F238E27FC236}">
                <a16:creationId xmlns:a16="http://schemas.microsoft.com/office/drawing/2014/main" id="{9C528C17-DD9A-5C6E-23F6-37621BA161B9}"/>
              </a:ext>
            </a:extLst>
          </p:cNvPr>
          <p:cNvSpPr/>
          <p:nvPr/>
        </p:nvSpPr>
        <p:spPr>
          <a:xfrm>
            <a:off x="7494070" y="2657733"/>
            <a:ext cx="1100695" cy="540385"/>
          </a:xfrm>
          <a:prstGeom prst="roundRect">
            <a:avLst>
              <a:gd name="adj" fmla="val 10569"/>
            </a:avLst>
          </a:prstGeom>
          <a:solidFill>
            <a:schemeClr val="bg1">
              <a:lumMod val="95000"/>
              <a:alpha val="46000"/>
            </a:schemeClr>
          </a:solidFill>
          <a:ln w="3175">
            <a:solidFill>
              <a:srgbClr val="F0BE0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457200" rtl="1" eaLnBrk="1" latinLnBrk="0" hangingPunct="1"/>
            <a:r>
              <a:rPr lang="fa-IR" sz="1200" b="1" dirty="0" err="1">
                <a:solidFill>
                  <a:srgbClr val="F0BE0F"/>
                </a:solidFill>
                <a:latin typeface="Yekan Bakh" pitchFamily="2" charset="-78"/>
                <a:ea typeface="Yekan Bakh" pitchFamily="2" charset="-78"/>
                <a:cs typeface="Yekan Bakh" pitchFamily="2" charset="-78"/>
              </a:rPr>
              <a:t>سرمایه‌داران</a:t>
            </a:r>
            <a:endParaRPr lang="en-IR" sz="800" dirty="0">
              <a:solidFill>
                <a:srgbClr val="F0BE0F"/>
              </a:solidFill>
              <a:latin typeface="Yekan Bakh" pitchFamily="2" charset="-78"/>
              <a:ea typeface="Yekan Bakh" pitchFamily="2" charset="-78"/>
              <a:cs typeface="Yekan Bakh" pitchFamily="2" charset="-78"/>
            </a:endParaRPr>
          </a:p>
        </p:txBody>
      </p:sp>
      <p:sp>
        <p:nvSpPr>
          <p:cNvPr id="8" name="Rounded Rectangle 6">
            <a:extLst>
              <a:ext uri="{FF2B5EF4-FFF2-40B4-BE49-F238E27FC236}">
                <a16:creationId xmlns:a16="http://schemas.microsoft.com/office/drawing/2014/main" id="{3DABAEA7-8261-9D5B-1CCB-4D5A64EE1A2A}"/>
              </a:ext>
            </a:extLst>
          </p:cNvPr>
          <p:cNvSpPr/>
          <p:nvPr/>
        </p:nvSpPr>
        <p:spPr>
          <a:xfrm>
            <a:off x="6348843" y="2657733"/>
            <a:ext cx="1100695" cy="540385"/>
          </a:xfrm>
          <a:prstGeom prst="roundRect">
            <a:avLst>
              <a:gd name="adj" fmla="val 10569"/>
            </a:avLst>
          </a:prstGeom>
          <a:solidFill>
            <a:schemeClr val="bg1">
              <a:lumMod val="95000"/>
              <a:alpha val="46000"/>
            </a:schemeClr>
          </a:solidFill>
          <a:ln w="3175">
            <a:solidFill>
              <a:srgbClr val="F0BE0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457200" rtl="1" eaLnBrk="1" latinLnBrk="0" hangingPunct="1"/>
            <a:r>
              <a:rPr lang="fa-IR" sz="1200" b="1" dirty="0">
                <a:solidFill>
                  <a:srgbClr val="F0BE0F"/>
                </a:solidFill>
                <a:latin typeface="Yekan Bakh" pitchFamily="2" charset="-78"/>
                <a:ea typeface="Yekan Bakh" pitchFamily="2" charset="-78"/>
                <a:cs typeface="Yekan Bakh" pitchFamily="2" charset="-78"/>
              </a:rPr>
              <a:t>منابع</a:t>
            </a:r>
            <a:endParaRPr lang="en-IR" sz="800" dirty="0">
              <a:solidFill>
                <a:srgbClr val="F0BE0F"/>
              </a:solidFill>
              <a:latin typeface="Yekan Bakh" pitchFamily="2" charset="-78"/>
              <a:ea typeface="Yekan Bakh" pitchFamily="2" charset="-78"/>
              <a:cs typeface="Yekan Bakh" pitchFamily="2" charset="-78"/>
            </a:endParaRPr>
          </a:p>
        </p:txBody>
      </p:sp>
      <p:cxnSp>
        <p:nvCxnSpPr>
          <p:cNvPr id="11" name="Straight Arrow Connector 10">
            <a:extLst>
              <a:ext uri="{FF2B5EF4-FFF2-40B4-BE49-F238E27FC236}">
                <a16:creationId xmlns:a16="http://schemas.microsoft.com/office/drawing/2014/main" id="{25989254-1937-6EA8-3964-54941B89F3DF}"/>
              </a:ext>
            </a:extLst>
          </p:cNvPr>
          <p:cNvCxnSpPr>
            <a:cxnSpLocks/>
            <a:stCxn id="7" idx="0"/>
          </p:cNvCxnSpPr>
          <p:nvPr/>
        </p:nvCxnSpPr>
        <p:spPr>
          <a:xfrm flipH="1" flipV="1">
            <a:off x="8042145" y="2125849"/>
            <a:ext cx="2273" cy="531884"/>
          </a:xfrm>
          <a:prstGeom prst="straightConnector1">
            <a:avLst/>
          </a:prstGeom>
          <a:ln w="3175">
            <a:solidFill>
              <a:srgbClr val="F0BE0F"/>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BDD8C76C-CA72-A3A2-70CA-ED6EE8145EE3}"/>
              </a:ext>
            </a:extLst>
          </p:cNvPr>
          <p:cNvCxnSpPr>
            <a:cxnSpLocks/>
            <a:stCxn id="6" idx="0"/>
          </p:cNvCxnSpPr>
          <p:nvPr/>
        </p:nvCxnSpPr>
        <p:spPr>
          <a:xfrm flipH="1" flipV="1">
            <a:off x="9187372" y="2147332"/>
            <a:ext cx="2273" cy="510401"/>
          </a:xfrm>
          <a:prstGeom prst="straightConnector1">
            <a:avLst/>
          </a:prstGeom>
          <a:ln w="3175">
            <a:solidFill>
              <a:srgbClr val="F0BE0F"/>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179A6B59-DFAC-FDEB-B57A-26947B0F1AAE}"/>
              </a:ext>
            </a:extLst>
          </p:cNvPr>
          <p:cNvCxnSpPr>
            <a:cxnSpLocks/>
            <a:stCxn id="5" idx="0"/>
          </p:cNvCxnSpPr>
          <p:nvPr/>
        </p:nvCxnSpPr>
        <p:spPr>
          <a:xfrm flipH="1" flipV="1">
            <a:off x="10332599" y="2125849"/>
            <a:ext cx="2272" cy="531884"/>
          </a:xfrm>
          <a:prstGeom prst="straightConnector1">
            <a:avLst/>
          </a:prstGeom>
          <a:ln w="3175">
            <a:solidFill>
              <a:srgbClr val="F0BE0F"/>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86EE62BA-4394-A6AF-9D6D-58275F5C7569}"/>
              </a:ext>
            </a:extLst>
          </p:cNvPr>
          <p:cNvSpPr txBox="1"/>
          <p:nvPr/>
        </p:nvSpPr>
        <p:spPr>
          <a:xfrm>
            <a:off x="8661498" y="2950911"/>
            <a:ext cx="184730" cy="246221"/>
          </a:xfrm>
          <a:prstGeom prst="rect">
            <a:avLst/>
          </a:prstGeom>
          <a:noFill/>
        </p:spPr>
        <p:txBody>
          <a:bodyPr wrap="none" rtlCol="0">
            <a:spAutoFit/>
          </a:bodyPr>
          <a:lstStyle/>
          <a:p>
            <a:pPr marL="0" algn="ctr" defTabSz="457200" rtl="1" eaLnBrk="1" latinLnBrk="0" hangingPunct="1"/>
            <a:endParaRPr lang="en-IR" sz="1000" dirty="0">
              <a:solidFill>
                <a:schemeClr val="tx1">
                  <a:lumMod val="50000"/>
                  <a:lumOff val="50000"/>
                </a:schemeClr>
              </a:solidFill>
              <a:latin typeface="Yekan Bakh" pitchFamily="2" charset="-78"/>
              <a:ea typeface="Yekan Bakh" pitchFamily="2" charset="-78"/>
              <a:cs typeface="Yekan Bakh" pitchFamily="2" charset="-78"/>
            </a:endParaRPr>
          </a:p>
        </p:txBody>
      </p:sp>
      <p:pic>
        <p:nvPicPr>
          <p:cNvPr id="17" name="Picture 16" descr="File:Flag of China.png - Wikimedia Commons">
            <a:extLst>
              <a:ext uri="{FF2B5EF4-FFF2-40B4-BE49-F238E27FC236}">
                <a16:creationId xmlns:a16="http://schemas.microsoft.com/office/drawing/2014/main" id="{E172E36B-D5A0-1C31-55DB-F789889675E3}"/>
              </a:ext>
            </a:extLst>
          </p:cNvPr>
          <p:cNvPicPr>
            <a:picLocks noChangeAspect="1"/>
          </p:cNvPicPr>
          <p:nvPr/>
        </p:nvPicPr>
        <p:blipFill>
          <a:blip r:embed="rId2"/>
          <a:stretch>
            <a:fillRect/>
          </a:stretch>
        </p:blipFill>
        <p:spPr>
          <a:xfrm>
            <a:off x="6485677" y="1261569"/>
            <a:ext cx="493776" cy="277134"/>
          </a:xfrm>
          <a:prstGeom prst="roundRect">
            <a:avLst>
              <a:gd name="adj" fmla="val 8594"/>
            </a:avLst>
          </a:prstGeom>
          <a:solidFill>
            <a:srgbClr val="FFFFFF">
              <a:shade val="85000"/>
            </a:srgbClr>
          </a:solidFill>
          <a:ln w="3175">
            <a:noFill/>
          </a:ln>
          <a:effectLst/>
        </p:spPr>
      </p:pic>
      <p:pic>
        <p:nvPicPr>
          <p:cNvPr id="18" name="Picture 17" descr="File:Flag of Russia.svg - Wikipedia">
            <a:extLst>
              <a:ext uri="{FF2B5EF4-FFF2-40B4-BE49-F238E27FC236}">
                <a16:creationId xmlns:a16="http://schemas.microsoft.com/office/drawing/2014/main" id="{364E7E49-158D-9F8A-DBBB-261A53A285CE}"/>
              </a:ext>
            </a:extLst>
          </p:cNvPr>
          <p:cNvPicPr>
            <a:picLocks noChangeAspect="1"/>
          </p:cNvPicPr>
          <p:nvPr/>
        </p:nvPicPr>
        <p:blipFill>
          <a:blip r:embed="rId3"/>
          <a:stretch>
            <a:fillRect/>
          </a:stretch>
        </p:blipFill>
        <p:spPr>
          <a:xfrm>
            <a:off x="7016331" y="1261322"/>
            <a:ext cx="493776" cy="277628"/>
          </a:xfrm>
          <a:prstGeom prst="roundRect">
            <a:avLst>
              <a:gd name="adj" fmla="val 8594"/>
            </a:avLst>
          </a:prstGeom>
          <a:solidFill>
            <a:srgbClr val="FFFFFF">
              <a:shade val="85000"/>
            </a:srgbClr>
          </a:solidFill>
          <a:ln w="3175">
            <a:solidFill>
              <a:schemeClr val="bg1">
                <a:lumMod val="65000"/>
              </a:schemeClr>
            </a:solidFill>
          </a:ln>
          <a:effectLst/>
        </p:spPr>
      </p:pic>
      <p:pic>
        <p:nvPicPr>
          <p:cNvPr id="19" name="Picture 18" descr="File:Iran flag 300.png - Wikimedia Commons">
            <a:extLst>
              <a:ext uri="{FF2B5EF4-FFF2-40B4-BE49-F238E27FC236}">
                <a16:creationId xmlns:a16="http://schemas.microsoft.com/office/drawing/2014/main" id="{45E5616B-FECC-7B74-7922-EB43B35A55EE}"/>
              </a:ext>
            </a:extLst>
          </p:cNvPr>
          <p:cNvPicPr>
            <a:picLocks noChangeAspect="1"/>
          </p:cNvPicPr>
          <p:nvPr/>
        </p:nvPicPr>
        <p:blipFill>
          <a:blip r:embed="rId4"/>
          <a:stretch>
            <a:fillRect/>
          </a:stretch>
        </p:blipFill>
        <p:spPr>
          <a:xfrm>
            <a:off x="7546985" y="1257806"/>
            <a:ext cx="497206" cy="284660"/>
          </a:xfrm>
          <a:prstGeom prst="roundRect">
            <a:avLst>
              <a:gd name="adj" fmla="val 8594"/>
            </a:avLst>
          </a:prstGeom>
          <a:solidFill>
            <a:srgbClr val="FFFFFF">
              <a:shade val="85000"/>
            </a:srgbClr>
          </a:solidFill>
          <a:ln w="3175">
            <a:noFill/>
          </a:ln>
          <a:effectLst/>
        </p:spPr>
      </p:pic>
      <p:sp>
        <p:nvSpPr>
          <p:cNvPr id="21" name="Rounded Rectangle 20">
            <a:extLst>
              <a:ext uri="{FF2B5EF4-FFF2-40B4-BE49-F238E27FC236}">
                <a16:creationId xmlns:a16="http://schemas.microsoft.com/office/drawing/2014/main" id="{90CC66C0-63DB-C868-8F81-D5F785CAF606}"/>
              </a:ext>
            </a:extLst>
          </p:cNvPr>
          <p:cNvSpPr/>
          <p:nvPr/>
        </p:nvSpPr>
        <p:spPr>
          <a:xfrm>
            <a:off x="681000" y="1592386"/>
            <a:ext cx="4536374" cy="539399"/>
          </a:xfrm>
          <a:prstGeom prst="roundRect">
            <a:avLst>
              <a:gd name="adj" fmla="val 10569"/>
            </a:avLst>
          </a:prstGeom>
          <a:solidFill>
            <a:schemeClr val="bg1">
              <a:lumMod val="95000"/>
              <a:alpha val="46000"/>
            </a:schemeClr>
          </a:solidFill>
          <a:ln w="3175">
            <a:solidFill>
              <a:srgbClr val="1E276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457200" rtl="1" eaLnBrk="1" latinLnBrk="0" hangingPunct="1"/>
            <a:r>
              <a:rPr lang="fa-IR" sz="1400" b="1" dirty="0">
                <a:solidFill>
                  <a:schemeClr val="tx2">
                    <a:lumMod val="50000"/>
                  </a:schemeClr>
                </a:solidFill>
                <a:latin typeface="Yekan Bakh" pitchFamily="2" charset="-78"/>
                <a:ea typeface="Yekan Bakh" pitchFamily="2" charset="-78"/>
                <a:cs typeface="Yekan Bakh" pitchFamily="2" charset="-78"/>
              </a:rPr>
              <a:t>سرمایه</a:t>
            </a:r>
          </a:p>
          <a:p>
            <a:pPr marL="0" algn="ctr" defTabSz="457200" rtl="1" eaLnBrk="1" latinLnBrk="0" hangingPunct="1"/>
            <a:r>
              <a:rPr lang="fa-IR" sz="900" dirty="0" err="1">
                <a:solidFill>
                  <a:schemeClr val="tx1">
                    <a:lumMod val="50000"/>
                    <a:lumOff val="50000"/>
                  </a:schemeClr>
                </a:solidFill>
                <a:latin typeface="Yekan Bakh" pitchFamily="2" charset="-78"/>
                <a:ea typeface="Yekan Bakh" pitchFamily="2" charset="-78"/>
                <a:cs typeface="Yekan Bakh" pitchFamily="2" charset="-78"/>
              </a:rPr>
              <a:t>وال‌استریت</a:t>
            </a:r>
            <a:r>
              <a:rPr lang="fa-IR" sz="900" dirty="0">
                <a:solidFill>
                  <a:schemeClr val="tx1">
                    <a:lumMod val="50000"/>
                    <a:lumOff val="50000"/>
                  </a:schemeClr>
                </a:solidFill>
                <a:latin typeface="Yekan Bakh" pitchFamily="2" charset="-78"/>
                <a:ea typeface="Yekan Bakh" pitchFamily="2" charset="-78"/>
                <a:cs typeface="Yekan Bakh" pitchFamily="2" charset="-78"/>
              </a:rPr>
              <a:t>، </a:t>
            </a:r>
            <a:r>
              <a:rPr lang="fa-IR" sz="900" dirty="0" err="1">
                <a:solidFill>
                  <a:schemeClr val="tx1">
                    <a:lumMod val="50000"/>
                    <a:lumOff val="50000"/>
                  </a:schemeClr>
                </a:solidFill>
                <a:latin typeface="Yekan Bakh" pitchFamily="2" charset="-78"/>
                <a:ea typeface="Yekan Bakh" pitchFamily="2" charset="-78"/>
                <a:cs typeface="Yekan Bakh" pitchFamily="2" charset="-78"/>
              </a:rPr>
              <a:t>بانک‌ها</a:t>
            </a:r>
            <a:r>
              <a:rPr lang="fa-IR" sz="900" dirty="0">
                <a:solidFill>
                  <a:schemeClr val="tx1">
                    <a:lumMod val="50000"/>
                    <a:lumOff val="50000"/>
                  </a:schemeClr>
                </a:solidFill>
                <a:latin typeface="Yekan Bakh" pitchFamily="2" charset="-78"/>
                <a:ea typeface="Yekan Bakh" pitchFamily="2" charset="-78"/>
                <a:cs typeface="Yekan Bakh" pitchFamily="2" charset="-78"/>
              </a:rPr>
              <a:t>، مالکین دارایی</a:t>
            </a:r>
            <a:endParaRPr lang="en-IR" sz="900" dirty="0">
              <a:solidFill>
                <a:schemeClr val="tx1">
                  <a:lumMod val="50000"/>
                  <a:lumOff val="50000"/>
                </a:schemeClr>
              </a:solidFill>
              <a:latin typeface="Yekan Bakh" pitchFamily="2" charset="-78"/>
              <a:ea typeface="Yekan Bakh" pitchFamily="2" charset="-78"/>
              <a:cs typeface="Yekan Bakh" pitchFamily="2" charset="-78"/>
            </a:endParaRPr>
          </a:p>
        </p:txBody>
      </p:sp>
      <p:cxnSp>
        <p:nvCxnSpPr>
          <p:cNvPr id="27" name="Straight Arrow Connector 26">
            <a:extLst>
              <a:ext uri="{FF2B5EF4-FFF2-40B4-BE49-F238E27FC236}">
                <a16:creationId xmlns:a16="http://schemas.microsoft.com/office/drawing/2014/main" id="{17D85B6B-02B8-F783-2DD7-182099C2C7A3}"/>
              </a:ext>
            </a:extLst>
          </p:cNvPr>
          <p:cNvCxnSpPr>
            <a:cxnSpLocks/>
          </p:cNvCxnSpPr>
          <p:nvPr/>
        </p:nvCxnSpPr>
        <p:spPr>
          <a:xfrm flipV="1">
            <a:off x="1491546" y="2127436"/>
            <a:ext cx="0" cy="531884"/>
          </a:xfrm>
          <a:prstGeom prst="straightConnector1">
            <a:avLst/>
          </a:prstGeom>
          <a:ln w="3175">
            <a:solidFill>
              <a:srgbClr val="1E2761"/>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EB6ED48F-B6D9-499B-B63A-BCCD376894D7}"/>
              </a:ext>
            </a:extLst>
          </p:cNvPr>
          <p:cNvSpPr txBox="1"/>
          <p:nvPr/>
        </p:nvSpPr>
        <p:spPr>
          <a:xfrm>
            <a:off x="600396" y="2193323"/>
            <a:ext cx="891150" cy="400110"/>
          </a:xfrm>
          <a:prstGeom prst="rect">
            <a:avLst/>
          </a:prstGeom>
          <a:noFill/>
        </p:spPr>
        <p:txBody>
          <a:bodyPr wrap="square" rtlCol="0">
            <a:spAutoFit/>
          </a:bodyPr>
          <a:lstStyle/>
          <a:p>
            <a:pPr marL="0" algn="ctr" defTabSz="457200" rtl="1" eaLnBrk="1" latinLnBrk="0" hangingPunct="1"/>
            <a:r>
              <a:rPr lang="fa-IR" sz="1000" dirty="0">
                <a:solidFill>
                  <a:schemeClr val="tx1">
                    <a:lumMod val="50000"/>
                    <a:lumOff val="50000"/>
                  </a:schemeClr>
                </a:solidFill>
                <a:latin typeface="Yekan Bakh" pitchFamily="2" charset="-78"/>
                <a:ea typeface="Yekan Bakh" pitchFamily="2" charset="-78"/>
                <a:cs typeface="Yekan Bakh" pitchFamily="2" charset="-78"/>
              </a:rPr>
              <a:t>به سرمایه پاسخگو است</a:t>
            </a:r>
            <a:endParaRPr lang="en-IR" sz="1000" dirty="0">
              <a:solidFill>
                <a:schemeClr val="tx1">
                  <a:lumMod val="50000"/>
                  <a:lumOff val="50000"/>
                </a:schemeClr>
              </a:solidFill>
              <a:latin typeface="Yekan Bakh" pitchFamily="2" charset="-78"/>
              <a:ea typeface="Yekan Bakh" pitchFamily="2" charset="-78"/>
              <a:cs typeface="Yekan Bakh" pitchFamily="2" charset="-78"/>
            </a:endParaRPr>
          </a:p>
        </p:txBody>
      </p:sp>
      <p:sp>
        <p:nvSpPr>
          <p:cNvPr id="31" name="Rounded Rectangle 30">
            <a:extLst>
              <a:ext uri="{FF2B5EF4-FFF2-40B4-BE49-F238E27FC236}">
                <a16:creationId xmlns:a16="http://schemas.microsoft.com/office/drawing/2014/main" id="{43750A1A-EE4C-95B7-2523-37473FA2720B}"/>
              </a:ext>
            </a:extLst>
          </p:cNvPr>
          <p:cNvSpPr/>
          <p:nvPr/>
        </p:nvSpPr>
        <p:spPr>
          <a:xfrm>
            <a:off x="680999" y="2657733"/>
            <a:ext cx="4536375" cy="539399"/>
          </a:xfrm>
          <a:prstGeom prst="roundRect">
            <a:avLst>
              <a:gd name="adj" fmla="val 10569"/>
            </a:avLst>
          </a:prstGeom>
          <a:solidFill>
            <a:schemeClr val="bg1">
              <a:lumMod val="95000"/>
              <a:alpha val="46000"/>
            </a:schemeClr>
          </a:solidFill>
          <a:ln w="3175">
            <a:solidFill>
              <a:srgbClr val="1E276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457200" rtl="1" eaLnBrk="1" latinLnBrk="0" hangingPunct="1"/>
            <a:r>
              <a:rPr lang="fa-IR" sz="1400" b="1" dirty="0">
                <a:solidFill>
                  <a:schemeClr val="tx2">
                    <a:lumMod val="50000"/>
                  </a:schemeClr>
                </a:solidFill>
                <a:latin typeface="Yekan Bakh" pitchFamily="2" charset="-78"/>
                <a:ea typeface="Yekan Bakh" pitchFamily="2" charset="-78"/>
                <a:cs typeface="Yekan Bakh" pitchFamily="2" charset="-78"/>
              </a:rPr>
              <a:t>دولت</a:t>
            </a:r>
          </a:p>
          <a:p>
            <a:pPr marL="0" algn="ctr" defTabSz="457200" rtl="1" eaLnBrk="1" latinLnBrk="0" hangingPunct="1"/>
            <a:r>
              <a:rPr lang="fa-IR" sz="900" dirty="0" err="1">
                <a:solidFill>
                  <a:schemeClr val="tx1">
                    <a:lumMod val="50000"/>
                    <a:lumOff val="50000"/>
                  </a:schemeClr>
                </a:solidFill>
                <a:latin typeface="Yekan Bakh" pitchFamily="2" charset="-78"/>
                <a:ea typeface="Yekan Bakh" pitchFamily="2" charset="-78"/>
                <a:cs typeface="Yekan Bakh" pitchFamily="2" charset="-78"/>
              </a:rPr>
              <a:t>سیاست‌مداران</a:t>
            </a:r>
            <a:endParaRPr lang="en-IR" sz="900" dirty="0">
              <a:solidFill>
                <a:schemeClr val="tx1">
                  <a:lumMod val="50000"/>
                  <a:lumOff val="50000"/>
                </a:schemeClr>
              </a:solidFill>
              <a:latin typeface="Yekan Bakh" pitchFamily="2" charset="-78"/>
              <a:ea typeface="Yekan Bakh" pitchFamily="2" charset="-78"/>
              <a:cs typeface="Yekan Bakh" pitchFamily="2" charset="-78"/>
            </a:endParaRPr>
          </a:p>
        </p:txBody>
      </p:sp>
      <p:cxnSp>
        <p:nvCxnSpPr>
          <p:cNvPr id="33" name="Straight Arrow Connector 32">
            <a:extLst>
              <a:ext uri="{FF2B5EF4-FFF2-40B4-BE49-F238E27FC236}">
                <a16:creationId xmlns:a16="http://schemas.microsoft.com/office/drawing/2014/main" id="{F96CB2EF-AE74-CE1B-33DB-49F511BF3C90}"/>
              </a:ext>
            </a:extLst>
          </p:cNvPr>
          <p:cNvCxnSpPr>
            <a:cxnSpLocks/>
          </p:cNvCxnSpPr>
          <p:nvPr/>
        </p:nvCxnSpPr>
        <p:spPr>
          <a:xfrm>
            <a:off x="4344560" y="2127436"/>
            <a:ext cx="0" cy="531884"/>
          </a:xfrm>
          <a:prstGeom prst="straightConnector1">
            <a:avLst/>
          </a:prstGeom>
          <a:ln w="3175">
            <a:solidFill>
              <a:srgbClr val="1E2761"/>
            </a:solidFill>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DCEA6346-9469-69B7-FCE0-B9ADEA95A249}"/>
              </a:ext>
            </a:extLst>
          </p:cNvPr>
          <p:cNvSpPr txBox="1"/>
          <p:nvPr/>
        </p:nvSpPr>
        <p:spPr>
          <a:xfrm>
            <a:off x="4289363" y="2193323"/>
            <a:ext cx="1035965" cy="400110"/>
          </a:xfrm>
          <a:prstGeom prst="rect">
            <a:avLst/>
          </a:prstGeom>
          <a:noFill/>
        </p:spPr>
        <p:txBody>
          <a:bodyPr wrap="square" rtlCol="0">
            <a:spAutoFit/>
          </a:bodyPr>
          <a:lstStyle/>
          <a:p>
            <a:pPr marL="0" algn="ctr" defTabSz="457200" rtl="1" eaLnBrk="1" latinLnBrk="0" hangingPunct="1"/>
            <a:r>
              <a:rPr lang="fa-IR" sz="1000" dirty="0">
                <a:solidFill>
                  <a:schemeClr val="tx1">
                    <a:lumMod val="50000"/>
                    <a:lumOff val="50000"/>
                  </a:schemeClr>
                </a:solidFill>
                <a:latin typeface="Yekan Bakh" pitchFamily="2" charset="-78"/>
                <a:ea typeface="Yekan Bakh" pitchFamily="2" charset="-78"/>
                <a:cs typeface="Yekan Bakh" pitchFamily="2" charset="-78"/>
              </a:rPr>
              <a:t>تامین </a:t>
            </a:r>
            <a:r>
              <a:rPr lang="fa-IR" sz="1000" dirty="0" err="1">
                <a:solidFill>
                  <a:schemeClr val="tx1">
                    <a:lumMod val="50000"/>
                    <a:lumOff val="50000"/>
                  </a:schemeClr>
                </a:solidFill>
                <a:latin typeface="Yekan Bakh" pitchFamily="2" charset="-78"/>
                <a:ea typeface="Yekan Bakh" pitchFamily="2" charset="-78"/>
                <a:cs typeface="Yekan Bakh" pitchFamily="2" charset="-78"/>
              </a:rPr>
              <a:t>کمپین‌ها</a:t>
            </a:r>
            <a:r>
              <a:rPr lang="fa-IR" sz="1000" dirty="0">
                <a:solidFill>
                  <a:schemeClr val="tx1">
                    <a:lumMod val="50000"/>
                    <a:lumOff val="50000"/>
                  </a:schemeClr>
                </a:solidFill>
                <a:latin typeface="Yekan Bakh" pitchFamily="2" charset="-78"/>
                <a:ea typeface="Yekan Bakh" pitchFamily="2" charset="-78"/>
                <a:cs typeface="Yekan Bakh" pitchFamily="2" charset="-78"/>
              </a:rPr>
              <a:t> و تبلیغات</a:t>
            </a:r>
            <a:endParaRPr lang="en-IR" sz="1000" dirty="0">
              <a:solidFill>
                <a:schemeClr val="tx1">
                  <a:lumMod val="50000"/>
                  <a:lumOff val="50000"/>
                </a:schemeClr>
              </a:solidFill>
              <a:latin typeface="Yekan Bakh" pitchFamily="2" charset="-78"/>
              <a:ea typeface="Yekan Bakh" pitchFamily="2" charset="-78"/>
              <a:cs typeface="Yekan Bakh" pitchFamily="2" charset="-78"/>
            </a:endParaRPr>
          </a:p>
        </p:txBody>
      </p:sp>
      <p:pic>
        <p:nvPicPr>
          <p:cNvPr id="40" name="Picture 39" descr="File:Flag of the United States.png - Wikimedia Commons">
            <a:extLst>
              <a:ext uri="{FF2B5EF4-FFF2-40B4-BE49-F238E27FC236}">
                <a16:creationId xmlns:a16="http://schemas.microsoft.com/office/drawing/2014/main" id="{DD809904-4B9C-4788-2761-BB8149BD7B52}"/>
              </a:ext>
            </a:extLst>
          </p:cNvPr>
          <p:cNvPicPr>
            <a:picLocks noChangeAspect="1"/>
          </p:cNvPicPr>
          <p:nvPr/>
        </p:nvPicPr>
        <p:blipFill>
          <a:blip r:embed="rId5"/>
          <a:stretch>
            <a:fillRect/>
          </a:stretch>
        </p:blipFill>
        <p:spPr>
          <a:xfrm>
            <a:off x="1211214" y="1257806"/>
            <a:ext cx="541136" cy="284660"/>
          </a:xfrm>
          <a:prstGeom prst="roundRect">
            <a:avLst>
              <a:gd name="adj" fmla="val 8594"/>
            </a:avLst>
          </a:prstGeom>
          <a:solidFill>
            <a:srgbClr val="FFFFFF">
              <a:shade val="85000"/>
            </a:srgbClr>
          </a:solidFill>
          <a:ln>
            <a:noFill/>
          </a:ln>
          <a:effectLst/>
        </p:spPr>
      </p:pic>
      <p:pic>
        <p:nvPicPr>
          <p:cNvPr id="42" name="Picture 41" descr="United Kingdom Flag Icon SVG Vector &amp; PNG Free Download | UXWing">
            <a:extLst>
              <a:ext uri="{FF2B5EF4-FFF2-40B4-BE49-F238E27FC236}">
                <a16:creationId xmlns:a16="http://schemas.microsoft.com/office/drawing/2014/main" id="{13BE1764-7393-0DC7-28EE-A20B5B2D6A63}"/>
              </a:ext>
            </a:extLst>
          </p:cNvPr>
          <p:cNvPicPr>
            <a:picLocks noChangeAspect="1"/>
          </p:cNvPicPr>
          <p:nvPr/>
        </p:nvPicPr>
        <p:blipFill>
          <a:blip r:embed="rId6"/>
          <a:srcRect t="14697" b="14719"/>
          <a:stretch>
            <a:fillRect/>
          </a:stretch>
        </p:blipFill>
        <p:spPr>
          <a:xfrm>
            <a:off x="680999" y="1253278"/>
            <a:ext cx="493776" cy="293717"/>
          </a:xfrm>
          <a:prstGeom prst="rect">
            <a:avLst/>
          </a:prstGeom>
        </p:spPr>
      </p:pic>
      <p:grpSp>
        <p:nvGrpSpPr>
          <p:cNvPr id="26" name="Group 25">
            <a:extLst>
              <a:ext uri="{FF2B5EF4-FFF2-40B4-BE49-F238E27FC236}">
                <a16:creationId xmlns:a16="http://schemas.microsoft.com/office/drawing/2014/main" id="{C3312E50-DE53-A921-97CC-167F73C1F5C8}"/>
              </a:ext>
            </a:extLst>
          </p:cNvPr>
          <p:cNvGrpSpPr/>
          <p:nvPr/>
        </p:nvGrpSpPr>
        <p:grpSpPr>
          <a:xfrm>
            <a:off x="680999" y="3370078"/>
            <a:ext cx="4536375" cy="353173"/>
            <a:chOff x="680999" y="3473492"/>
            <a:chExt cx="4536375" cy="353173"/>
          </a:xfrm>
        </p:grpSpPr>
        <p:sp>
          <p:nvSpPr>
            <p:cNvPr id="43" name="Triangle 42">
              <a:extLst>
                <a:ext uri="{FF2B5EF4-FFF2-40B4-BE49-F238E27FC236}">
                  <a16:creationId xmlns:a16="http://schemas.microsoft.com/office/drawing/2014/main" id="{1A511969-15E6-0A51-F88D-3F4195A9E2C0}"/>
                </a:ext>
              </a:extLst>
            </p:cNvPr>
            <p:cNvSpPr/>
            <p:nvPr/>
          </p:nvSpPr>
          <p:spPr>
            <a:xfrm rot="10800000">
              <a:off x="680999" y="3489039"/>
              <a:ext cx="4536375" cy="337626"/>
            </a:xfrm>
            <a:prstGeom prst="triangle">
              <a:avLst/>
            </a:prstGeom>
            <a:solidFill>
              <a:srgbClr val="1E2761">
                <a:alpha val="13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457200" rtl="1" eaLnBrk="1" latinLnBrk="0" hangingPunct="1"/>
              <a:endParaRPr lang="en-IR">
                <a:latin typeface="Yekan Bakh" pitchFamily="2" charset="-78"/>
                <a:ea typeface="Yekan Bakh" pitchFamily="2" charset="-78"/>
                <a:cs typeface="Yekan Bakh" pitchFamily="2" charset="-78"/>
              </a:endParaRPr>
            </a:p>
          </p:txBody>
        </p:sp>
        <p:sp>
          <p:nvSpPr>
            <p:cNvPr id="49" name="TextBox 48">
              <a:extLst>
                <a:ext uri="{FF2B5EF4-FFF2-40B4-BE49-F238E27FC236}">
                  <a16:creationId xmlns:a16="http://schemas.microsoft.com/office/drawing/2014/main" id="{29F41C6C-B844-96D8-BFCA-CFFBB732679D}"/>
                </a:ext>
              </a:extLst>
            </p:cNvPr>
            <p:cNvSpPr txBox="1"/>
            <p:nvPr/>
          </p:nvSpPr>
          <p:spPr>
            <a:xfrm>
              <a:off x="1329576" y="3473492"/>
              <a:ext cx="3239221" cy="246221"/>
            </a:xfrm>
            <a:prstGeom prst="rect">
              <a:avLst/>
            </a:prstGeom>
            <a:noFill/>
          </p:spPr>
          <p:txBody>
            <a:bodyPr wrap="square" rtlCol="0">
              <a:spAutoFit/>
            </a:bodyPr>
            <a:lstStyle/>
            <a:p>
              <a:pPr marL="0" algn="ctr" defTabSz="457200" rtl="1" eaLnBrk="1" latinLnBrk="0" hangingPunct="1"/>
              <a:r>
                <a:rPr lang="fa-IR" sz="1000" b="1" dirty="0">
                  <a:latin typeface="Yekan Bakh" pitchFamily="2" charset="-78"/>
                  <a:ea typeface="Yekan Bakh" pitchFamily="2" charset="-78"/>
                  <a:cs typeface="Yekan Bakh" pitchFamily="2" charset="-78"/>
                </a:rPr>
                <a:t>از طریق سه اهرم کلیدی، کنترل جهان را در دست دارند</a:t>
              </a:r>
              <a:endParaRPr lang="en-IR" sz="1000" b="1" dirty="0">
                <a:latin typeface="Yekan Bakh" pitchFamily="2" charset="-78"/>
                <a:ea typeface="Yekan Bakh" pitchFamily="2" charset="-78"/>
                <a:cs typeface="Yekan Bakh" pitchFamily="2" charset="-78"/>
              </a:endParaRPr>
            </a:p>
          </p:txBody>
        </p:sp>
      </p:grpSp>
      <p:sp>
        <p:nvSpPr>
          <p:cNvPr id="52" name="Rounded Rectangle 51">
            <a:extLst>
              <a:ext uri="{FF2B5EF4-FFF2-40B4-BE49-F238E27FC236}">
                <a16:creationId xmlns:a16="http://schemas.microsoft.com/office/drawing/2014/main" id="{DE97E5BE-B5A2-0A45-FC08-6D70237AB87F}"/>
              </a:ext>
            </a:extLst>
          </p:cNvPr>
          <p:cNvSpPr/>
          <p:nvPr/>
        </p:nvSpPr>
        <p:spPr>
          <a:xfrm>
            <a:off x="3872889" y="3972696"/>
            <a:ext cx="1344485" cy="432794"/>
          </a:xfrm>
          <a:prstGeom prst="roundRect">
            <a:avLst>
              <a:gd name="adj" fmla="val 10569"/>
            </a:avLst>
          </a:prstGeom>
          <a:solidFill>
            <a:schemeClr val="bg1">
              <a:lumMod val="95000"/>
              <a:alpha val="46000"/>
            </a:schemeClr>
          </a:solidFill>
          <a:ln w="3175">
            <a:solidFill>
              <a:srgbClr val="1E276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457200" rtl="1" eaLnBrk="1" latinLnBrk="0" hangingPunct="1"/>
            <a:r>
              <a:rPr lang="fa-IR" sz="1200" b="1" dirty="0">
                <a:solidFill>
                  <a:srgbClr val="1E2761"/>
                </a:solidFill>
                <a:latin typeface="Yekan Bakh" pitchFamily="2" charset="-78"/>
                <a:ea typeface="Yekan Bakh" pitchFamily="2" charset="-78"/>
                <a:cs typeface="Yekan Bakh" pitchFamily="2" charset="-78"/>
              </a:rPr>
              <a:t>صنعت مالی (</a:t>
            </a:r>
            <a:r>
              <a:rPr lang="en-US" sz="1200" b="1" dirty="0">
                <a:solidFill>
                  <a:srgbClr val="1E2761"/>
                </a:solidFill>
                <a:latin typeface="Yekan Bakh" pitchFamily="2" charset="-78"/>
                <a:ea typeface="Yekan Bakh" pitchFamily="2" charset="-78"/>
                <a:cs typeface="Yekan Bakh" pitchFamily="2" charset="-78"/>
              </a:rPr>
              <a:t>FIC</a:t>
            </a:r>
            <a:r>
              <a:rPr lang="fa-IR" sz="1200" b="1" dirty="0">
                <a:solidFill>
                  <a:srgbClr val="1E2761"/>
                </a:solidFill>
                <a:latin typeface="Yekan Bakh" pitchFamily="2" charset="-78"/>
                <a:ea typeface="Yekan Bakh" pitchFamily="2" charset="-78"/>
                <a:cs typeface="Yekan Bakh" pitchFamily="2" charset="-78"/>
              </a:rPr>
              <a:t>)</a:t>
            </a:r>
            <a:endParaRPr lang="en-IR" sz="1100" dirty="0">
              <a:solidFill>
                <a:srgbClr val="1E2761"/>
              </a:solidFill>
              <a:latin typeface="Yekan Bakh" pitchFamily="2" charset="-78"/>
              <a:ea typeface="Yekan Bakh" pitchFamily="2" charset="-78"/>
              <a:cs typeface="Yekan Bakh" pitchFamily="2" charset="-78"/>
            </a:endParaRPr>
          </a:p>
        </p:txBody>
      </p:sp>
      <p:sp>
        <p:nvSpPr>
          <p:cNvPr id="54" name="Rounded Rectangle 53">
            <a:extLst>
              <a:ext uri="{FF2B5EF4-FFF2-40B4-BE49-F238E27FC236}">
                <a16:creationId xmlns:a16="http://schemas.microsoft.com/office/drawing/2014/main" id="{C7F348B3-E5DC-3B5E-CC2F-DCD7C82F9126}"/>
              </a:ext>
            </a:extLst>
          </p:cNvPr>
          <p:cNvSpPr/>
          <p:nvPr/>
        </p:nvSpPr>
        <p:spPr>
          <a:xfrm>
            <a:off x="2276944" y="3972696"/>
            <a:ext cx="1344485" cy="432794"/>
          </a:xfrm>
          <a:prstGeom prst="roundRect">
            <a:avLst>
              <a:gd name="adj" fmla="val 10569"/>
            </a:avLst>
          </a:prstGeom>
          <a:solidFill>
            <a:schemeClr val="bg1">
              <a:lumMod val="95000"/>
              <a:alpha val="46000"/>
            </a:schemeClr>
          </a:solidFill>
          <a:ln w="3175">
            <a:solidFill>
              <a:srgbClr val="1E276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457200" rtl="1" eaLnBrk="1" latinLnBrk="0" hangingPunct="1"/>
            <a:r>
              <a:rPr lang="fa-IR" sz="1200" b="1" dirty="0">
                <a:solidFill>
                  <a:srgbClr val="1E2761"/>
                </a:solidFill>
                <a:latin typeface="Yekan Bakh" pitchFamily="2" charset="-78"/>
                <a:ea typeface="Yekan Bakh" pitchFamily="2" charset="-78"/>
                <a:cs typeface="Yekan Bakh" pitchFamily="2" charset="-78"/>
              </a:rPr>
              <a:t>صنعت نظامی (</a:t>
            </a:r>
            <a:r>
              <a:rPr lang="en-US" sz="1200" b="1" dirty="0">
                <a:solidFill>
                  <a:srgbClr val="1E2761"/>
                </a:solidFill>
                <a:latin typeface="Yekan Bakh" pitchFamily="2" charset="-78"/>
                <a:ea typeface="Yekan Bakh" pitchFamily="2" charset="-78"/>
                <a:cs typeface="Yekan Bakh" pitchFamily="2" charset="-78"/>
              </a:rPr>
              <a:t>MIC</a:t>
            </a:r>
            <a:r>
              <a:rPr lang="fa-IR" sz="1200" b="1" dirty="0">
                <a:solidFill>
                  <a:srgbClr val="1E2761"/>
                </a:solidFill>
                <a:latin typeface="Yekan Bakh" pitchFamily="2" charset="-78"/>
                <a:ea typeface="Yekan Bakh" pitchFamily="2" charset="-78"/>
                <a:cs typeface="Yekan Bakh" pitchFamily="2" charset="-78"/>
              </a:rPr>
              <a:t>)</a:t>
            </a:r>
            <a:endParaRPr lang="en-IR" sz="800" dirty="0">
              <a:solidFill>
                <a:srgbClr val="1E2761"/>
              </a:solidFill>
              <a:latin typeface="Yekan Bakh" pitchFamily="2" charset="-78"/>
              <a:ea typeface="Yekan Bakh" pitchFamily="2" charset="-78"/>
              <a:cs typeface="Yekan Bakh" pitchFamily="2" charset="-78"/>
            </a:endParaRPr>
          </a:p>
        </p:txBody>
      </p:sp>
      <p:sp>
        <p:nvSpPr>
          <p:cNvPr id="55" name="Rounded Rectangle 54">
            <a:extLst>
              <a:ext uri="{FF2B5EF4-FFF2-40B4-BE49-F238E27FC236}">
                <a16:creationId xmlns:a16="http://schemas.microsoft.com/office/drawing/2014/main" id="{47A5E007-901D-D383-5AA4-5EAE80E1066E}"/>
              </a:ext>
            </a:extLst>
          </p:cNvPr>
          <p:cNvSpPr/>
          <p:nvPr/>
        </p:nvSpPr>
        <p:spPr>
          <a:xfrm>
            <a:off x="680999" y="3972696"/>
            <a:ext cx="1344485" cy="432794"/>
          </a:xfrm>
          <a:prstGeom prst="roundRect">
            <a:avLst>
              <a:gd name="adj" fmla="val 10569"/>
            </a:avLst>
          </a:prstGeom>
          <a:solidFill>
            <a:schemeClr val="bg1">
              <a:lumMod val="95000"/>
              <a:alpha val="46000"/>
            </a:schemeClr>
          </a:solidFill>
          <a:ln w="3175">
            <a:solidFill>
              <a:srgbClr val="1E276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457200" rtl="1" eaLnBrk="1" latinLnBrk="0" hangingPunct="1"/>
            <a:r>
              <a:rPr lang="fa-IR" sz="1200" b="1" dirty="0">
                <a:solidFill>
                  <a:srgbClr val="1E2761"/>
                </a:solidFill>
                <a:latin typeface="Yekan Bakh" pitchFamily="2" charset="-78"/>
                <a:ea typeface="Yekan Bakh" pitchFamily="2" charset="-78"/>
                <a:cs typeface="Yekan Bakh" pitchFamily="2" charset="-78"/>
              </a:rPr>
              <a:t>صنعت فنی (</a:t>
            </a:r>
            <a:r>
              <a:rPr lang="en-US" sz="1200" b="1" dirty="0">
                <a:solidFill>
                  <a:srgbClr val="1E2761"/>
                </a:solidFill>
                <a:latin typeface="Yekan Bakh" pitchFamily="2" charset="-78"/>
                <a:ea typeface="Yekan Bakh" pitchFamily="2" charset="-78"/>
                <a:cs typeface="Yekan Bakh" pitchFamily="2" charset="-78"/>
              </a:rPr>
              <a:t>TIC</a:t>
            </a:r>
            <a:r>
              <a:rPr lang="fa-IR" sz="1200" b="1" dirty="0">
                <a:solidFill>
                  <a:srgbClr val="1E2761"/>
                </a:solidFill>
                <a:latin typeface="Yekan Bakh" pitchFamily="2" charset="-78"/>
                <a:ea typeface="Yekan Bakh" pitchFamily="2" charset="-78"/>
                <a:cs typeface="Yekan Bakh" pitchFamily="2" charset="-78"/>
              </a:rPr>
              <a:t>)</a:t>
            </a:r>
            <a:endParaRPr lang="en-IR" sz="800" dirty="0">
              <a:solidFill>
                <a:srgbClr val="1E2761"/>
              </a:solidFill>
              <a:latin typeface="Yekan Bakh" pitchFamily="2" charset="-78"/>
              <a:ea typeface="Yekan Bakh" pitchFamily="2" charset="-78"/>
              <a:cs typeface="Yekan Bakh" pitchFamily="2" charset="-78"/>
            </a:endParaRPr>
          </a:p>
        </p:txBody>
      </p:sp>
      <p:sp>
        <p:nvSpPr>
          <p:cNvPr id="56" name="TextBox 55">
            <a:extLst>
              <a:ext uri="{FF2B5EF4-FFF2-40B4-BE49-F238E27FC236}">
                <a16:creationId xmlns:a16="http://schemas.microsoft.com/office/drawing/2014/main" id="{4810F4CF-8587-F94D-D372-BEDE2E467D9E}"/>
              </a:ext>
            </a:extLst>
          </p:cNvPr>
          <p:cNvSpPr txBox="1"/>
          <p:nvPr/>
        </p:nvSpPr>
        <p:spPr>
          <a:xfrm>
            <a:off x="680996" y="4746884"/>
            <a:ext cx="4536376" cy="1092607"/>
          </a:xfrm>
          <a:prstGeom prst="rect">
            <a:avLst/>
          </a:prstGeom>
          <a:noFill/>
        </p:spPr>
        <p:txBody>
          <a:bodyPr wrap="square" rtlCol="0">
            <a:spAutoFit/>
          </a:bodyPr>
          <a:lstStyle/>
          <a:p>
            <a:pPr marL="0" algn="justLow" defTabSz="457200" rtl="1" eaLnBrk="1" latinLnBrk="0" hangingPunct="1">
              <a:spcAft>
                <a:spcPts val="600"/>
              </a:spcAft>
            </a:pPr>
            <a:r>
              <a:rPr lang="fa-IR" sz="1000" dirty="0">
                <a:solidFill>
                  <a:srgbClr val="1E2761"/>
                </a:solidFill>
                <a:latin typeface="Yekan Bakh FaNum" pitchFamily="2" charset="-78"/>
                <a:ea typeface="Yekan Bakh FaNum" pitchFamily="2" charset="-78"/>
                <a:cs typeface="Yekan Bakh FaNum" pitchFamily="2" charset="-78"/>
              </a:rPr>
              <a:t>از اوایل قرن نوزدهم به بعد، ماشین سرمایه بهترین استراتژی که برای سودآوری دنبال کرده، استراتژی </a:t>
            </a:r>
            <a:r>
              <a:rPr lang="fa-IR" sz="1000" b="1" dirty="0">
                <a:solidFill>
                  <a:srgbClr val="1E2761"/>
                </a:solidFill>
                <a:latin typeface="Yekan Bakh FaNum" pitchFamily="2" charset="-78"/>
                <a:ea typeface="Yekan Bakh FaNum" pitchFamily="2" charset="-78"/>
                <a:cs typeface="Yekan Bakh FaNum" pitchFamily="2" charset="-78"/>
              </a:rPr>
              <a:t>همیشه در جنگ (</a:t>
            </a:r>
            <a:r>
              <a:rPr lang="en-US" sz="1000" b="1" dirty="0">
                <a:solidFill>
                  <a:srgbClr val="1E2761"/>
                </a:solidFill>
                <a:latin typeface="Yekan Bakh FaNum" pitchFamily="2" charset="-78"/>
                <a:ea typeface="Yekan Bakh FaNum" pitchFamily="2" charset="-78"/>
                <a:cs typeface="Yekan Bakh FaNum" pitchFamily="2" charset="-78"/>
              </a:rPr>
              <a:t>Always on War</a:t>
            </a:r>
            <a:r>
              <a:rPr lang="fa-IR" sz="1000" b="1" dirty="0">
                <a:solidFill>
                  <a:srgbClr val="1E2761"/>
                </a:solidFill>
                <a:latin typeface="Yekan Bakh FaNum" pitchFamily="2" charset="-78"/>
                <a:ea typeface="Yekan Bakh FaNum" pitchFamily="2" charset="-78"/>
                <a:cs typeface="Yekan Bakh FaNum" pitchFamily="2" charset="-78"/>
              </a:rPr>
              <a:t>) </a:t>
            </a:r>
            <a:r>
              <a:rPr lang="fa-IR" sz="1000" dirty="0">
                <a:solidFill>
                  <a:srgbClr val="1E2761"/>
                </a:solidFill>
                <a:latin typeface="Yekan Bakh FaNum" pitchFamily="2" charset="-78"/>
                <a:ea typeface="Yekan Bakh FaNum" pitchFamily="2" charset="-78"/>
                <a:cs typeface="Yekan Bakh FaNum" pitchFamily="2" charset="-78"/>
              </a:rPr>
              <a:t>با نیت </a:t>
            </a:r>
            <a:r>
              <a:rPr lang="fa-IR" sz="1000" dirty="0" err="1">
                <a:solidFill>
                  <a:srgbClr val="1E2761"/>
                </a:solidFill>
                <a:latin typeface="Yekan Bakh FaNum" pitchFamily="2" charset="-78"/>
                <a:ea typeface="Yekan Bakh FaNum" pitchFamily="2" charset="-78"/>
                <a:cs typeface="Yekan Bakh FaNum" pitchFamily="2" charset="-78"/>
              </a:rPr>
              <a:t>متمرکزسازی</a:t>
            </a:r>
            <a:r>
              <a:rPr lang="fa-IR" sz="1000" dirty="0">
                <a:solidFill>
                  <a:srgbClr val="1E2761"/>
                </a:solidFill>
                <a:latin typeface="Yekan Bakh FaNum" pitchFamily="2" charset="-78"/>
                <a:ea typeface="Yekan Bakh FaNum" pitchFamily="2" charset="-78"/>
                <a:cs typeface="Yekan Bakh FaNum" pitchFamily="2" charset="-78"/>
              </a:rPr>
              <a:t> سرمایه و قدرت بوده است که اهرم‌های مالی و نظامی در آن به شدت فعال هستند و از طریق ۴ ابزار اصلی، از فتح کشوری به کشور دیگر </a:t>
            </a:r>
            <a:r>
              <a:rPr lang="fa-IR" sz="1000" dirty="0" err="1">
                <a:solidFill>
                  <a:srgbClr val="1E2761"/>
                </a:solidFill>
                <a:latin typeface="Yekan Bakh FaNum" pitchFamily="2" charset="-78"/>
                <a:ea typeface="Yekan Bakh FaNum" pitchFamily="2" charset="-78"/>
                <a:cs typeface="Yekan Bakh FaNum" pitchFamily="2" charset="-78"/>
              </a:rPr>
              <a:t>می‌روند</a:t>
            </a:r>
            <a:r>
              <a:rPr lang="fa-IR" sz="1000" dirty="0">
                <a:solidFill>
                  <a:srgbClr val="1E2761"/>
                </a:solidFill>
                <a:latin typeface="Yekan Bakh FaNum" pitchFamily="2" charset="-78"/>
                <a:ea typeface="Yekan Bakh FaNum" pitchFamily="2" charset="-78"/>
                <a:cs typeface="Yekan Bakh FaNum" pitchFamily="2" charset="-78"/>
              </a:rPr>
              <a:t>:</a:t>
            </a:r>
          </a:p>
          <a:p>
            <a:pPr marL="228600" indent="-228600" algn="justLow" defTabSz="457200" rtl="1" eaLnBrk="1" latinLnBrk="0" hangingPunct="1">
              <a:buAutoNum type="arabicPeriod"/>
            </a:pPr>
            <a:r>
              <a:rPr lang="fa-IR" sz="1000" dirty="0">
                <a:solidFill>
                  <a:srgbClr val="1E2761"/>
                </a:solidFill>
                <a:latin typeface="Yekan Bakh FaNum" pitchFamily="2" charset="-78"/>
                <a:ea typeface="Yekan Bakh FaNum" pitchFamily="2" charset="-78"/>
                <a:cs typeface="Yekan Bakh FaNum" pitchFamily="2" charset="-78"/>
              </a:rPr>
              <a:t>تحریم</a:t>
            </a:r>
          </a:p>
          <a:p>
            <a:pPr marL="228600" indent="-228600" algn="justLow" defTabSz="457200" rtl="1" eaLnBrk="1" latinLnBrk="0" hangingPunct="1">
              <a:buAutoNum type="arabicPeriod"/>
            </a:pPr>
            <a:r>
              <a:rPr lang="fa-IR" sz="1000" dirty="0">
                <a:solidFill>
                  <a:srgbClr val="1E2761"/>
                </a:solidFill>
                <a:latin typeface="Yekan Bakh FaNum" pitchFamily="2" charset="-78"/>
                <a:ea typeface="Yekan Bakh FaNum" pitchFamily="2" charset="-78"/>
                <a:cs typeface="Yekan Bakh FaNum" pitchFamily="2" charset="-78"/>
              </a:rPr>
              <a:t>مسدود کردن ورود نقدینگی</a:t>
            </a:r>
          </a:p>
        </p:txBody>
      </p:sp>
      <p:sp>
        <p:nvSpPr>
          <p:cNvPr id="57" name="Triangle 56">
            <a:extLst>
              <a:ext uri="{FF2B5EF4-FFF2-40B4-BE49-F238E27FC236}">
                <a16:creationId xmlns:a16="http://schemas.microsoft.com/office/drawing/2014/main" id="{E311FDB2-A151-74AE-FE8B-215CE3B36A70}"/>
              </a:ext>
            </a:extLst>
          </p:cNvPr>
          <p:cNvSpPr/>
          <p:nvPr/>
        </p:nvSpPr>
        <p:spPr>
          <a:xfrm rot="10800000">
            <a:off x="680998" y="4496500"/>
            <a:ext cx="4536374" cy="173385"/>
          </a:xfrm>
          <a:prstGeom prst="triangle">
            <a:avLst/>
          </a:prstGeom>
          <a:solidFill>
            <a:srgbClr val="1E2761">
              <a:alpha val="13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457200" rtl="1" eaLnBrk="1" latinLnBrk="0" hangingPunct="1"/>
            <a:endParaRPr lang="en-IR">
              <a:latin typeface="Yekan Bakh" pitchFamily="2" charset="-78"/>
              <a:ea typeface="Yekan Bakh" pitchFamily="2" charset="-78"/>
              <a:cs typeface="Yekan Bakh" pitchFamily="2" charset="-78"/>
            </a:endParaRPr>
          </a:p>
        </p:txBody>
      </p:sp>
      <p:sp>
        <p:nvSpPr>
          <p:cNvPr id="58" name="Triangle 57">
            <a:extLst>
              <a:ext uri="{FF2B5EF4-FFF2-40B4-BE49-F238E27FC236}">
                <a16:creationId xmlns:a16="http://schemas.microsoft.com/office/drawing/2014/main" id="{DC493A59-9C85-74CB-5D05-35BF79168704}"/>
              </a:ext>
            </a:extLst>
          </p:cNvPr>
          <p:cNvSpPr/>
          <p:nvPr/>
        </p:nvSpPr>
        <p:spPr>
          <a:xfrm rot="5400000">
            <a:off x="3698029" y="3597920"/>
            <a:ext cx="4170160" cy="159098"/>
          </a:xfrm>
          <a:prstGeom prst="triangl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457200" rtl="1" eaLnBrk="1" latinLnBrk="0" hangingPunct="1"/>
            <a:endParaRPr lang="en-IR">
              <a:latin typeface="Yekan Bakh" pitchFamily="2" charset="-78"/>
              <a:ea typeface="Yekan Bakh" pitchFamily="2" charset="-78"/>
              <a:cs typeface="Yekan Bakh" pitchFamily="2" charset="-78"/>
            </a:endParaRPr>
          </a:p>
        </p:txBody>
      </p:sp>
      <p:sp>
        <p:nvSpPr>
          <p:cNvPr id="69" name="TextBox 68">
            <a:extLst>
              <a:ext uri="{FF2B5EF4-FFF2-40B4-BE49-F238E27FC236}">
                <a16:creationId xmlns:a16="http://schemas.microsoft.com/office/drawing/2014/main" id="{28456E70-D91E-8517-0C21-8F0CBA727267}"/>
              </a:ext>
            </a:extLst>
          </p:cNvPr>
          <p:cNvSpPr txBox="1"/>
          <p:nvPr/>
        </p:nvSpPr>
        <p:spPr>
          <a:xfrm>
            <a:off x="529860" y="5417505"/>
            <a:ext cx="2765554" cy="400110"/>
          </a:xfrm>
          <a:prstGeom prst="rect">
            <a:avLst/>
          </a:prstGeom>
          <a:noFill/>
        </p:spPr>
        <p:txBody>
          <a:bodyPr wrap="square" rtlCol="0">
            <a:spAutoFit/>
          </a:bodyPr>
          <a:lstStyle/>
          <a:p>
            <a:pPr marL="228600" indent="-228600" algn="r" defTabSz="457200" rtl="1" eaLnBrk="1" latinLnBrk="0" hangingPunct="1">
              <a:buFont typeface="+mj-lt"/>
              <a:buAutoNum type="arabicPeriod" startAt="3"/>
            </a:pPr>
            <a:r>
              <a:rPr lang="fa-IR" sz="1000" dirty="0">
                <a:latin typeface="Yekan Bakh FaNum" pitchFamily="2" charset="-78"/>
                <a:ea typeface="Yekan Bakh FaNum" pitchFamily="2" charset="-78"/>
                <a:cs typeface="Yekan Bakh FaNum" pitchFamily="2" charset="-78"/>
              </a:rPr>
              <a:t>جنگ و </a:t>
            </a:r>
            <a:r>
              <a:rPr lang="fa-IR" sz="1000" dirty="0" err="1">
                <a:latin typeface="Yekan Bakh FaNum" pitchFamily="2" charset="-78"/>
                <a:ea typeface="Yekan Bakh FaNum" pitchFamily="2" charset="-78"/>
                <a:cs typeface="Yekan Bakh FaNum" pitchFamily="2" charset="-78"/>
              </a:rPr>
              <a:t>تورم‌زایی</a:t>
            </a:r>
            <a:endParaRPr lang="fa-IR" sz="1000" dirty="0">
              <a:latin typeface="Yekan Bakh FaNum" pitchFamily="2" charset="-78"/>
              <a:ea typeface="Yekan Bakh FaNum" pitchFamily="2" charset="-78"/>
              <a:cs typeface="Yekan Bakh FaNum" pitchFamily="2" charset="-78"/>
            </a:endParaRPr>
          </a:p>
          <a:p>
            <a:pPr marL="228600" indent="-228600" algn="r" defTabSz="457200" rtl="1" eaLnBrk="1" latinLnBrk="0" hangingPunct="1">
              <a:buFont typeface="+mj-lt"/>
              <a:buAutoNum type="arabicPeriod" startAt="3"/>
            </a:pPr>
            <a:r>
              <a:rPr lang="fa-IR" sz="1000" dirty="0" err="1">
                <a:latin typeface="Yekan Bakh FaNum" pitchFamily="2" charset="-78"/>
                <a:ea typeface="Yekan Bakh FaNum" pitchFamily="2" charset="-78"/>
                <a:cs typeface="Yekan Bakh FaNum" pitchFamily="2" charset="-78"/>
              </a:rPr>
              <a:t>پروپاگاندا</a:t>
            </a:r>
            <a:r>
              <a:rPr lang="fa-IR" sz="1000" dirty="0">
                <a:latin typeface="Yekan Bakh FaNum" pitchFamily="2" charset="-78"/>
                <a:ea typeface="Yekan Bakh FaNum" pitchFamily="2" charset="-78"/>
                <a:cs typeface="Yekan Bakh FaNum" pitchFamily="2" charset="-78"/>
              </a:rPr>
              <a:t> و تحریک داخلی</a:t>
            </a:r>
          </a:p>
        </p:txBody>
      </p:sp>
      <p:pic>
        <p:nvPicPr>
          <p:cNvPr id="59" name="Picture 58" descr="File:Flag of the United States.png - Wikimedia Commons">
            <a:extLst>
              <a:ext uri="{FF2B5EF4-FFF2-40B4-BE49-F238E27FC236}">
                <a16:creationId xmlns:a16="http://schemas.microsoft.com/office/drawing/2014/main" id="{0126568C-1CF8-CE11-07C6-4DE995BED585}"/>
              </a:ext>
            </a:extLst>
          </p:cNvPr>
          <p:cNvPicPr>
            <a:picLocks noChangeAspect="1"/>
          </p:cNvPicPr>
          <p:nvPr/>
        </p:nvPicPr>
        <p:blipFill>
          <a:blip r:embed="rId5"/>
          <a:stretch>
            <a:fillRect/>
          </a:stretch>
        </p:blipFill>
        <p:spPr>
          <a:xfrm>
            <a:off x="6492552" y="4719692"/>
            <a:ext cx="403166" cy="212082"/>
          </a:xfrm>
          <a:prstGeom prst="roundRect">
            <a:avLst>
              <a:gd name="adj" fmla="val 8594"/>
            </a:avLst>
          </a:prstGeom>
          <a:solidFill>
            <a:srgbClr val="FFFFFF">
              <a:shade val="85000"/>
            </a:srgbClr>
          </a:solidFill>
          <a:ln>
            <a:noFill/>
          </a:ln>
          <a:effectLst/>
        </p:spPr>
      </p:pic>
      <p:pic>
        <p:nvPicPr>
          <p:cNvPr id="60" name="Picture 59" descr="United Kingdom Flag Icon SVG Vector &amp; PNG Free Download | UXWing">
            <a:extLst>
              <a:ext uri="{FF2B5EF4-FFF2-40B4-BE49-F238E27FC236}">
                <a16:creationId xmlns:a16="http://schemas.microsoft.com/office/drawing/2014/main" id="{C68B81C2-0642-C4DD-9C22-5B97F6F082C2}"/>
              </a:ext>
            </a:extLst>
          </p:cNvPr>
          <p:cNvPicPr>
            <a:picLocks noChangeAspect="1"/>
          </p:cNvPicPr>
          <p:nvPr/>
        </p:nvPicPr>
        <p:blipFill>
          <a:blip r:embed="rId6"/>
          <a:srcRect t="14697" b="14719"/>
          <a:stretch>
            <a:fillRect/>
          </a:stretch>
        </p:blipFill>
        <p:spPr>
          <a:xfrm>
            <a:off x="6492552" y="4028402"/>
            <a:ext cx="403166" cy="284575"/>
          </a:xfrm>
          <a:prstGeom prst="rect">
            <a:avLst/>
          </a:prstGeom>
        </p:spPr>
      </p:pic>
      <p:pic>
        <p:nvPicPr>
          <p:cNvPr id="61" name="Picture 60" descr="Israeli flag png Images - Free Download on Magnific ...">
            <a:extLst>
              <a:ext uri="{FF2B5EF4-FFF2-40B4-BE49-F238E27FC236}">
                <a16:creationId xmlns:a16="http://schemas.microsoft.com/office/drawing/2014/main" id="{D932D371-A5FD-F7A0-39B6-5489514CA731}"/>
              </a:ext>
            </a:extLst>
          </p:cNvPr>
          <p:cNvPicPr>
            <a:picLocks noChangeAspect="1"/>
          </p:cNvPicPr>
          <p:nvPr/>
        </p:nvPicPr>
        <p:blipFill>
          <a:blip r:embed="rId7"/>
          <a:srcRect t="15753" b="12516"/>
          <a:stretch>
            <a:fillRect/>
          </a:stretch>
        </p:blipFill>
        <p:spPr>
          <a:xfrm>
            <a:off x="6476465" y="5338489"/>
            <a:ext cx="410029" cy="294119"/>
          </a:xfrm>
          <a:prstGeom prst="rect">
            <a:avLst/>
          </a:prstGeom>
        </p:spPr>
      </p:pic>
      <p:cxnSp>
        <p:nvCxnSpPr>
          <p:cNvPr id="62" name="Straight Arrow Connector 61">
            <a:extLst>
              <a:ext uri="{FF2B5EF4-FFF2-40B4-BE49-F238E27FC236}">
                <a16:creationId xmlns:a16="http://schemas.microsoft.com/office/drawing/2014/main" id="{D290132A-DCE8-94D3-D5A2-5935C3AC53CC}"/>
              </a:ext>
            </a:extLst>
          </p:cNvPr>
          <p:cNvCxnSpPr>
            <a:cxnSpLocks/>
          </p:cNvCxnSpPr>
          <p:nvPr/>
        </p:nvCxnSpPr>
        <p:spPr>
          <a:xfrm flipH="1">
            <a:off x="6694135" y="4946054"/>
            <a:ext cx="2336" cy="406715"/>
          </a:xfrm>
          <a:prstGeom prst="straightConnector1">
            <a:avLst/>
          </a:prstGeom>
          <a:ln w="3175">
            <a:solidFill>
              <a:srgbClr val="F0BE0F"/>
            </a:solidFill>
            <a:tailEnd type="triangle"/>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29047CD7-ADD8-2946-171E-F48718FD2E33}"/>
              </a:ext>
            </a:extLst>
          </p:cNvPr>
          <p:cNvSpPr txBox="1"/>
          <p:nvPr/>
        </p:nvSpPr>
        <p:spPr>
          <a:xfrm>
            <a:off x="7033688" y="3970634"/>
            <a:ext cx="1583343" cy="400110"/>
          </a:xfrm>
          <a:prstGeom prst="rect">
            <a:avLst/>
          </a:prstGeom>
          <a:noFill/>
        </p:spPr>
        <p:txBody>
          <a:bodyPr wrap="square" rtlCol="0">
            <a:spAutoFit/>
          </a:bodyPr>
          <a:lstStyle/>
          <a:p>
            <a:pPr marL="0" algn="justLow" defTabSz="457200" rtl="1" eaLnBrk="1" latinLnBrk="0" hangingPunct="1"/>
            <a:r>
              <a:rPr lang="fa-IR" sz="1000" dirty="0">
                <a:solidFill>
                  <a:schemeClr val="tx1">
                    <a:lumMod val="75000"/>
                    <a:lumOff val="25000"/>
                  </a:schemeClr>
                </a:solidFill>
                <a:latin typeface="Yekan Bakh" pitchFamily="2" charset="-78"/>
                <a:ea typeface="Yekan Bakh" pitchFamily="2" charset="-78"/>
                <a:cs typeface="Yekan Bakh" pitchFamily="2" charset="-78"/>
              </a:rPr>
              <a:t>مشارکت در ۳۷ جنگ بین </a:t>
            </a:r>
            <a:r>
              <a:rPr lang="fa-IR" sz="1000" dirty="0" err="1">
                <a:solidFill>
                  <a:schemeClr val="tx1">
                    <a:lumMod val="75000"/>
                    <a:lumOff val="25000"/>
                  </a:schemeClr>
                </a:solidFill>
                <a:latin typeface="Yekan Bakh" pitchFamily="2" charset="-78"/>
                <a:ea typeface="Yekan Bakh" pitchFamily="2" charset="-78"/>
                <a:cs typeface="Yekan Bakh" pitchFamily="2" charset="-78"/>
              </a:rPr>
              <a:t>سال‌های</a:t>
            </a:r>
            <a:r>
              <a:rPr lang="fa-IR" sz="1000" dirty="0">
                <a:solidFill>
                  <a:schemeClr val="tx1">
                    <a:lumMod val="75000"/>
                    <a:lumOff val="25000"/>
                  </a:schemeClr>
                </a:solidFill>
                <a:latin typeface="Yekan Bakh" pitchFamily="2" charset="-78"/>
                <a:ea typeface="Yekan Bakh" pitchFamily="2" charset="-78"/>
                <a:cs typeface="Yekan Bakh" pitchFamily="2" charset="-78"/>
              </a:rPr>
              <a:t> ۱۸۱۵ تا ۱۹۱۴</a:t>
            </a:r>
            <a:endParaRPr lang="en-IR" sz="1000" dirty="0">
              <a:solidFill>
                <a:schemeClr val="tx1">
                  <a:lumMod val="75000"/>
                  <a:lumOff val="25000"/>
                </a:schemeClr>
              </a:solidFill>
              <a:latin typeface="Yekan Bakh" pitchFamily="2" charset="-78"/>
              <a:ea typeface="Yekan Bakh" pitchFamily="2" charset="-78"/>
              <a:cs typeface="Yekan Bakh" pitchFamily="2" charset="-78"/>
            </a:endParaRPr>
          </a:p>
        </p:txBody>
      </p:sp>
      <p:sp>
        <p:nvSpPr>
          <p:cNvPr id="67" name="TextBox 66">
            <a:extLst>
              <a:ext uri="{FF2B5EF4-FFF2-40B4-BE49-F238E27FC236}">
                <a16:creationId xmlns:a16="http://schemas.microsoft.com/office/drawing/2014/main" id="{80ECB923-6270-DD1C-B651-2826F728E9B6}"/>
              </a:ext>
            </a:extLst>
          </p:cNvPr>
          <p:cNvSpPr txBox="1"/>
          <p:nvPr/>
        </p:nvSpPr>
        <p:spPr>
          <a:xfrm>
            <a:off x="7033688" y="4512647"/>
            <a:ext cx="1588015" cy="553998"/>
          </a:xfrm>
          <a:prstGeom prst="rect">
            <a:avLst/>
          </a:prstGeom>
          <a:noFill/>
        </p:spPr>
        <p:txBody>
          <a:bodyPr wrap="square" rtlCol="0">
            <a:spAutoFit/>
          </a:bodyPr>
          <a:lstStyle/>
          <a:p>
            <a:pPr marL="0" algn="justLow" defTabSz="457200" rtl="1" eaLnBrk="1" latinLnBrk="0" hangingPunct="1"/>
            <a:r>
              <a:rPr lang="fa-IR" sz="1000" dirty="0">
                <a:solidFill>
                  <a:schemeClr val="tx1">
                    <a:lumMod val="75000"/>
                    <a:lumOff val="25000"/>
                  </a:schemeClr>
                </a:solidFill>
                <a:latin typeface="Yekan Bakh" pitchFamily="2" charset="-78"/>
                <a:ea typeface="Yekan Bakh" pitchFamily="2" charset="-78"/>
                <a:cs typeface="Yekan Bakh" pitchFamily="2" charset="-78"/>
              </a:rPr>
              <a:t>ایالات متحده آمریکا حدود ۹۳٪ از کل عمر خود را در جنگ گذارنده است</a:t>
            </a:r>
            <a:endParaRPr lang="en-IR" sz="1000" dirty="0">
              <a:solidFill>
                <a:schemeClr val="tx1">
                  <a:lumMod val="75000"/>
                  <a:lumOff val="25000"/>
                </a:schemeClr>
              </a:solidFill>
              <a:latin typeface="Yekan Bakh" pitchFamily="2" charset="-78"/>
              <a:ea typeface="Yekan Bakh" pitchFamily="2" charset="-78"/>
              <a:cs typeface="Yekan Bakh" pitchFamily="2" charset="-78"/>
            </a:endParaRPr>
          </a:p>
        </p:txBody>
      </p:sp>
      <p:sp>
        <p:nvSpPr>
          <p:cNvPr id="68" name="TextBox 67">
            <a:extLst>
              <a:ext uri="{FF2B5EF4-FFF2-40B4-BE49-F238E27FC236}">
                <a16:creationId xmlns:a16="http://schemas.microsoft.com/office/drawing/2014/main" id="{98E32D45-AE6C-B5BD-08B3-E4F6811255CD}"/>
              </a:ext>
            </a:extLst>
          </p:cNvPr>
          <p:cNvSpPr txBox="1"/>
          <p:nvPr/>
        </p:nvSpPr>
        <p:spPr>
          <a:xfrm>
            <a:off x="7033688" y="5208549"/>
            <a:ext cx="1588015" cy="553998"/>
          </a:xfrm>
          <a:prstGeom prst="rect">
            <a:avLst/>
          </a:prstGeom>
          <a:noFill/>
        </p:spPr>
        <p:txBody>
          <a:bodyPr wrap="square" rtlCol="0">
            <a:spAutoFit/>
          </a:bodyPr>
          <a:lstStyle/>
          <a:p>
            <a:pPr marL="0" algn="justLow" defTabSz="457200" rtl="1" eaLnBrk="1" latinLnBrk="0" hangingPunct="1"/>
            <a:r>
              <a:rPr lang="fa-IR" sz="1000" dirty="0">
                <a:solidFill>
                  <a:schemeClr val="tx1">
                    <a:lumMod val="75000"/>
                    <a:lumOff val="25000"/>
                  </a:schemeClr>
                </a:solidFill>
                <a:latin typeface="Yekan Bakh" pitchFamily="2" charset="-78"/>
                <a:ea typeface="Yekan Bakh" pitchFamily="2" charset="-78"/>
                <a:cs typeface="Yekan Bakh" pitchFamily="2" charset="-78"/>
              </a:rPr>
              <a:t>اسرائیل از سال ۱۹۴۸، در ۷ جنگ بزرگ خاورمیانه مشارکت داشته است</a:t>
            </a:r>
            <a:endParaRPr lang="en-IR" sz="1000" dirty="0">
              <a:solidFill>
                <a:schemeClr val="tx1">
                  <a:lumMod val="75000"/>
                  <a:lumOff val="25000"/>
                </a:schemeClr>
              </a:solidFill>
              <a:latin typeface="Yekan Bakh" pitchFamily="2" charset="-78"/>
              <a:ea typeface="Yekan Bakh" pitchFamily="2" charset="-78"/>
              <a:cs typeface="Yekan Bakh" pitchFamily="2" charset="-78"/>
            </a:endParaRPr>
          </a:p>
        </p:txBody>
      </p:sp>
      <p:sp>
        <p:nvSpPr>
          <p:cNvPr id="70" name="Right Brace 69">
            <a:extLst>
              <a:ext uri="{FF2B5EF4-FFF2-40B4-BE49-F238E27FC236}">
                <a16:creationId xmlns:a16="http://schemas.microsoft.com/office/drawing/2014/main" id="{A12D07B6-C0EE-5368-C3D7-2B4249A49275}"/>
              </a:ext>
            </a:extLst>
          </p:cNvPr>
          <p:cNvSpPr/>
          <p:nvPr/>
        </p:nvSpPr>
        <p:spPr>
          <a:xfrm>
            <a:off x="8673014" y="3970634"/>
            <a:ext cx="159098" cy="1791913"/>
          </a:xfrm>
          <a:prstGeom prst="rightBrace">
            <a:avLst/>
          </a:prstGeom>
          <a:ln>
            <a:solidFill>
              <a:srgbClr val="F0BE0F"/>
            </a:solidFill>
          </a:ln>
        </p:spPr>
        <p:style>
          <a:lnRef idx="1">
            <a:schemeClr val="accent1"/>
          </a:lnRef>
          <a:fillRef idx="0">
            <a:schemeClr val="accent1"/>
          </a:fillRef>
          <a:effectRef idx="0">
            <a:schemeClr val="accent1"/>
          </a:effectRef>
          <a:fontRef idx="minor">
            <a:schemeClr val="tx1"/>
          </a:fontRef>
        </p:style>
        <p:txBody>
          <a:bodyPr rtlCol="0" anchor="ctr"/>
          <a:lstStyle/>
          <a:p>
            <a:pPr marL="0" algn="ctr" defTabSz="457200" rtl="1" eaLnBrk="1" latinLnBrk="0" hangingPunct="1"/>
            <a:endParaRPr lang="en-IR">
              <a:latin typeface="Yekan Bakh" pitchFamily="2" charset="-78"/>
              <a:ea typeface="Yekan Bakh" pitchFamily="2" charset="-78"/>
              <a:cs typeface="Yekan Bakh" pitchFamily="2" charset="-78"/>
            </a:endParaRPr>
          </a:p>
        </p:txBody>
      </p:sp>
      <p:sp>
        <p:nvSpPr>
          <p:cNvPr id="71" name="TextBox 70">
            <a:extLst>
              <a:ext uri="{FF2B5EF4-FFF2-40B4-BE49-F238E27FC236}">
                <a16:creationId xmlns:a16="http://schemas.microsoft.com/office/drawing/2014/main" id="{08DB942C-6603-2CE2-0CBB-C8D73229D364}"/>
              </a:ext>
            </a:extLst>
          </p:cNvPr>
          <p:cNvSpPr txBox="1"/>
          <p:nvPr/>
        </p:nvSpPr>
        <p:spPr>
          <a:xfrm>
            <a:off x="8885263" y="4174093"/>
            <a:ext cx="2197675" cy="1384995"/>
          </a:xfrm>
          <a:prstGeom prst="rect">
            <a:avLst/>
          </a:prstGeom>
          <a:noFill/>
        </p:spPr>
        <p:txBody>
          <a:bodyPr wrap="square" rtlCol="0">
            <a:spAutoFit/>
          </a:bodyPr>
          <a:lstStyle/>
          <a:p>
            <a:pPr marL="0" algn="justLow" defTabSz="457200" rtl="1" eaLnBrk="1" latinLnBrk="0" hangingPunct="1"/>
            <a:r>
              <a:rPr lang="fa-IR" sz="1400" dirty="0">
                <a:solidFill>
                  <a:schemeClr val="tx1">
                    <a:lumMod val="75000"/>
                    <a:lumOff val="25000"/>
                  </a:schemeClr>
                </a:solidFill>
                <a:latin typeface="Yekan Bakh" pitchFamily="2" charset="-78"/>
                <a:ea typeface="Yekan Bakh" pitchFamily="2" charset="-78"/>
                <a:cs typeface="Yekan Bakh" pitchFamily="2" charset="-78"/>
              </a:rPr>
              <a:t>خلق سود برای ماشین سرمایه، با استراتژی </a:t>
            </a:r>
            <a:r>
              <a:rPr lang="en-US" sz="1400" dirty="0">
                <a:solidFill>
                  <a:schemeClr val="tx1">
                    <a:lumMod val="75000"/>
                    <a:lumOff val="25000"/>
                  </a:schemeClr>
                </a:solidFill>
                <a:latin typeface="Yekan Bakh" pitchFamily="2" charset="-78"/>
                <a:ea typeface="Yekan Bakh" pitchFamily="2" charset="-78"/>
                <a:cs typeface="Yekan Bakh" pitchFamily="2" charset="-78"/>
              </a:rPr>
              <a:t>Always on War</a:t>
            </a:r>
            <a:r>
              <a:rPr lang="fa-IR" sz="1400" dirty="0">
                <a:solidFill>
                  <a:schemeClr val="tx1">
                    <a:lumMod val="75000"/>
                    <a:lumOff val="25000"/>
                  </a:schemeClr>
                </a:solidFill>
                <a:latin typeface="Yekan Bakh" pitchFamily="2" charset="-78"/>
                <a:ea typeface="Yekan Bakh" pitchFamily="2" charset="-78"/>
                <a:cs typeface="Yekan Bakh" pitchFamily="2" charset="-78"/>
              </a:rPr>
              <a:t> از </a:t>
            </a:r>
            <a:r>
              <a:rPr lang="fa-IR" sz="1400" dirty="0" err="1">
                <a:solidFill>
                  <a:schemeClr val="tx1">
                    <a:lumMod val="75000"/>
                    <a:lumOff val="25000"/>
                  </a:schemeClr>
                </a:solidFill>
                <a:latin typeface="Yekan Bakh" pitchFamily="2" charset="-78"/>
                <a:ea typeface="Yekan Bakh" pitchFamily="2" charset="-78"/>
                <a:cs typeface="Yekan Bakh" pitchFamily="2" charset="-78"/>
              </a:rPr>
              <a:t>طریقِ</a:t>
            </a:r>
            <a:r>
              <a:rPr lang="fa-IR" sz="1400" dirty="0">
                <a:solidFill>
                  <a:schemeClr val="tx1">
                    <a:lumMod val="75000"/>
                    <a:lumOff val="25000"/>
                  </a:schemeClr>
                </a:solidFill>
                <a:latin typeface="Yekan Bakh" pitchFamily="2" charset="-78"/>
                <a:ea typeface="Yekan Bakh" pitchFamily="2" charset="-78"/>
                <a:cs typeface="Yekan Bakh" pitchFamily="2" charset="-78"/>
              </a:rPr>
              <a:t>:</a:t>
            </a:r>
          </a:p>
          <a:p>
            <a:pPr marL="0" algn="justLow" defTabSz="457200" rtl="1" eaLnBrk="1" latinLnBrk="0" hangingPunct="1"/>
            <a:endParaRPr lang="fa-IR" sz="1400" dirty="0">
              <a:solidFill>
                <a:schemeClr val="tx1">
                  <a:lumMod val="75000"/>
                  <a:lumOff val="25000"/>
                </a:schemeClr>
              </a:solidFill>
              <a:latin typeface="Yekan Bakh" pitchFamily="2" charset="-78"/>
              <a:ea typeface="Yekan Bakh" pitchFamily="2" charset="-78"/>
              <a:cs typeface="Yekan Bakh" pitchFamily="2" charset="-78"/>
            </a:endParaRPr>
          </a:p>
          <a:p>
            <a:pPr marL="228600" indent="-228600" algn="justLow" defTabSz="457200" rtl="1" eaLnBrk="1" latinLnBrk="0" hangingPunct="1">
              <a:buAutoNum type="arabicPeriod"/>
            </a:pPr>
            <a:r>
              <a:rPr lang="fa-IR" sz="1400" dirty="0">
                <a:solidFill>
                  <a:schemeClr val="tx1">
                    <a:lumMod val="75000"/>
                    <a:lumOff val="25000"/>
                  </a:schemeClr>
                </a:solidFill>
                <a:latin typeface="Yekan Bakh" pitchFamily="2" charset="-78"/>
                <a:ea typeface="Yekan Bakh" pitchFamily="2" charset="-78"/>
                <a:cs typeface="Yekan Bakh" pitchFamily="2" charset="-78"/>
              </a:rPr>
              <a:t>فروش سلاح</a:t>
            </a:r>
          </a:p>
          <a:p>
            <a:pPr marL="228600" indent="-228600" algn="justLow" defTabSz="457200" rtl="1" eaLnBrk="1" latinLnBrk="0" hangingPunct="1">
              <a:buAutoNum type="arabicPeriod"/>
            </a:pPr>
            <a:r>
              <a:rPr lang="fa-IR" sz="1400" dirty="0">
                <a:solidFill>
                  <a:schemeClr val="tx1">
                    <a:lumMod val="75000"/>
                    <a:lumOff val="25000"/>
                  </a:schemeClr>
                </a:solidFill>
                <a:latin typeface="Yekan Bakh" pitchFamily="2" charset="-78"/>
                <a:ea typeface="Yekan Bakh" pitchFamily="2" charset="-78"/>
                <a:cs typeface="Yekan Bakh" pitchFamily="2" charset="-78"/>
              </a:rPr>
              <a:t>بازسازی </a:t>
            </a:r>
            <a:r>
              <a:rPr lang="fa-IR" sz="1400" dirty="0" err="1">
                <a:solidFill>
                  <a:schemeClr val="tx1">
                    <a:lumMod val="75000"/>
                    <a:lumOff val="25000"/>
                  </a:schemeClr>
                </a:solidFill>
                <a:latin typeface="Yekan Bakh" pitchFamily="2" charset="-78"/>
                <a:ea typeface="Yekan Bakh" pitchFamily="2" charset="-78"/>
                <a:cs typeface="Yekan Bakh" pitchFamily="2" charset="-78"/>
              </a:rPr>
              <a:t>شهر‌های</a:t>
            </a:r>
            <a:r>
              <a:rPr lang="fa-IR" sz="1400" dirty="0">
                <a:solidFill>
                  <a:schemeClr val="tx1">
                    <a:lumMod val="75000"/>
                    <a:lumOff val="25000"/>
                  </a:schemeClr>
                </a:solidFill>
                <a:latin typeface="Yekan Bakh" pitchFamily="2" charset="-78"/>
                <a:ea typeface="Yekan Bakh" pitchFamily="2" charset="-78"/>
                <a:cs typeface="Yekan Bakh" pitchFamily="2" charset="-78"/>
              </a:rPr>
              <a:t> ویرانه</a:t>
            </a:r>
            <a:endParaRPr lang="en-IR" sz="1400" dirty="0">
              <a:solidFill>
                <a:schemeClr val="tx1">
                  <a:lumMod val="75000"/>
                  <a:lumOff val="25000"/>
                </a:schemeClr>
              </a:solidFill>
              <a:latin typeface="Yekan Bakh" pitchFamily="2" charset="-78"/>
              <a:ea typeface="Yekan Bakh" pitchFamily="2" charset="-78"/>
              <a:cs typeface="Yekan Bakh" pitchFamily="2" charset="-78"/>
            </a:endParaRPr>
          </a:p>
        </p:txBody>
      </p:sp>
      <p:grpSp>
        <p:nvGrpSpPr>
          <p:cNvPr id="28" name="Group 27">
            <a:extLst>
              <a:ext uri="{FF2B5EF4-FFF2-40B4-BE49-F238E27FC236}">
                <a16:creationId xmlns:a16="http://schemas.microsoft.com/office/drawing/2014/main" id="{9D68B10F-13B0-7550-F338-8FCB91AEC038}"/>
              </a:ext>
            </a:extLst>
          </p:cNvPr>
          <p:cNvGrpSpPr/>
          <p:nvPr/>
        </p:nvGrpSpPr>
        <p:grpSpPr>
          <a:xfrm>
            <a:off x="6348843" y="3370078"/>
            <a:ext cx="4536375" cy="353173"/>
            <a:chOff x="680999" y="3473492"/>
            <a:chExt cx="4536375" cy="353173"/>
          </a:xfrm>
        </p:grpSpPr>
        <p:sp>
          <p:nvSpPr>
            <p:cNvPr id="29" name="Triangle 42">
              <a:extLst>
                <a:ext uri="{FF2B5EF4-FFF2-40B4-BE49-F238E27FC236}">
                  <a16:creationId xmlns:a16="http://schemas.microsoft.com/office/drawing/2014/main" id="{B29CFEA2-B193-7AF7-6CA2-E4B9C0E47F77}"/>
                </a:ext>
              </a:extLst>
            </p:cNvPr>
            <p:cNvSpPr/>
            <p:nvPr/>
          </p:nvSpPr>
          <p:spPr>
            <a:xfrm rot="10800000">
              <a:off x="680999" y="3489039"/>
              <a:ext cx="4536375" cy="337626"/>
            </a:xfrm>
            <a:prstGeom prst="triangle">
              <a:avLst/>
            </a:prstGeom>
            <a:solidFill>
              <a:srgbClr val="F0BE0F">
                <a:alpha val="13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457200" rtl="1" eaLnBrk="1" latinLnBrk="0" hangingPunct="1"/>
              <a:endParaRPr lang="en-IR">
                <a:latin typeface="Yekan Bakh" pitchFamily="2" charset="-78"/>
                <a:ea typeface="Yekan Bakh" pitchFamily="2" charset="-78"/>
                <a:cs typeface="Yekan Bakh" pitchFamily="2" charset="-78"/>
              </a:endParaRPr>
            </a:p>
          </p:txBody>
        </p:sp>
        <p:sp>
          <p:nvSpPr>
            <p:cNvPr id="32" name="TextBox 31">
              <a:extLst>
                <a:ext uri="{FF2B5EF4-FFF2-40B4-BE49-F238E27FC236}">
                  <a16:creationId xmlns:a16="http://schemas.microsoft.com/office/drawing/2014/main" id="{80F697B0-F6A1-FF1B-0491-C694D74CD0E8}"/>
                </a:ext>
              </a:extLst>
            </p:cNvPr>
            <p:cNvSpPr txBox="1"/>
            <p:nvPr/>
          </p:nvSpPr>
          <p:spPr>
            <a:xfrm>
              <a:off x="1329576" y="3473492"/>
              <a:ext cx="3239221" cy="246221"/>
            </a:xfrm>
            <a:prstGeom prst="rect">
              <a:avLst/>
            </a:prstGeom>
            <a:noFill/>
          </p:spPr>
          <p:txBody>
            <a:bodyPr wrap="square" rtlCol="0">
              <a:spAutoFit/>
            </a:bodyPr>
            <a:lstStyle/>
            <a:p>
              <a:pPr marL="0" algn="ctr" defTabSz="457200" rtl="1" eaLnBrk="1" latinLnBrk="0" hangingPunct="1"/>
              <a:r>
                <a:rPr lang="fa-IR" sz="1000" b="1" dirty="0">
                  <a:latin typeface="Yekan Bakh" pitchFamily="2" charset="-78"/>
                  <a:ea typeface="Yekan Bakh" pitchFamily="2" charset="-78"/>
                  <a:cs typeface="Yekan Bakh" pitchFamily="2" charset="-78"/>
                </a:rPr>
                <a:t>همگی به دولت/حاکمیت پاسخگو هستند</a:t>
              </a:r>
            </a:p>
          </p:txBody>
        </p:sp>
      </p:grpSp>
      <p:cxnSp>
        <p:nvCxnSpPr>
          <p:cNvPr id="38" name="Straight Arrow Connector 37">
            <a:extLst>
              <a:ext uri="{FF2B5EF4-FFF2-40B4-BE49-F238E27FC236}">
                <a16:creationId xmlns:a16="http://schemas.microsoft.com/office/drawing/2014/main" id="{96D7B7C1-9FCE-4EB2-700C-1D067E6250EE}"/>
              </a:ext>
            </a:extLst>
          </p:cNvPr>
          <p:cNvCxnSpPr>
            <a:cxnSpLocks/>
          </p:cNvCxnSpPr>
          <p:nvPr/>
        </p:nvCxnSpPr>
        <p:spPr>
          <a:xfrm flipH="1" flipV="1">
            <a:off x="6898054" y="2125849"/>
            <a:ext cx="2273" cy="531884"/>
          </a:xfrm>
          <a:prstGeom prst="straightConnector1">
            <a:avLst/>
          </a:prstGeom>
          <a:ln w="3175">
            <a:solidFill>
              <a:srgbClr val="F0BE0F"/>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02B2DBC4-1253-DFF2-6C8B-BD3531CF5200}"/>
              </a:ext>
            </a:extLst>
          </p:cNvPr>
          <p:cNvCxnSpPr>
            <a:cxnSpLocks/>
          </p:cNvCxnSpPr>
          <p:nvPr/>
        </p:nvCxnSpPr>
        <p:spPr>
          <a:xfrm flipH="1">
            <a:off x="6694135" y="4309575"/>
            <a:ext cx="2336" cy="406715"/>
          </a:xfrm>
          <a:prstGeom prst="straightConnector1">
            <a:avLst/>
          </a:prstGeom>
          <a:ln w="3175">
            <a:solidFill>
              <a:srgbClr val="F0BE0F"/>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872EE2C1-9CEC-8812-7E7C-F7F0739CE2A8}"/>
              </a:ext>
            </a:extLst>
          </p:cNvPr>
          <p:cNvSpPr txBox="1"/>
          <p:nvPr/>
        </p:nvSpPr>
        <p:spPr>
          <a:xfrm>
            <a:off x="5443591" y="3261971"/>
            <a:ext cx="898003" cy="830997"/>
          </a:xfrm>
          <a:prstGeom prst="rect">
            <a:avLst/>
          </a:prstGeom>
          <a:noFill/>
        </p:spPr>
        <p:txBody>
          <a:bodyPr wrap="none" rtlCol="0" anchor="ctr">
            <a:spAutoFit/>
          </a:bodyPr>
          <a:lstStyle/>
          <a:p>
            <a:pPr marL="0" algn="ctr" defTabSz="457200" rtl="0" eaLnBrk="1" latinLnBrk="0" hangingPunct="1"/>
            <a:r>
              <a:rPr lang="en-US" sz="4800" b="1" dirty="0">
                <a:solidFill>
                  <a:schemeClr val="tx1">
                    <a:lumMod val="75000"/>
                    <a:lumOff val="25000"/>
                  </a:schemeClr>
                </a:solidFill>
                <a:latin typeface="Yekan Bakh" pitchFamily="2" charset="-78"/>
                <a:ea typeface="Yekan Bakh" pitchFamily="2" charset="-78"/>
                <a:cs typeface="Yekan Bakh" pitchFamily="2" charset="-78"/>
              </a:rPr>
              <a:t>VS</a:t>
            </a:r>
            <a:endParaRPr lang="en-IR" sz="4800" b="1" dirty="0">
              <a:solidFill>
                <a:schemeClr val="tx1">
                  <a:lumMod val="75000"/>
                  <a:lumOff val="25000"/>
                </a:schemeClr>
              </a:solidFill>
              <a:latin typeface="Yekan Bakh" pitchFamily="2" charset="-78"/>
              <a:ea typeface="Yekan Bakh" pitchFamily="2" charset="-78"/>
              <a:cs typeface="Yekan Bakh" pitchFamily="2" charset="-78"/>
            </a:endParaRPr>
          </a:p>
        </p:txBody>
      </p:sp>
    </p:spTree>
    <p:extLst>
      <p:ext uri="{BB962C8B-B14F-4D97-AF65-F5344CB8AC3E}">
        <p14:creationId xmlns:p14="http://schemas.microsoft.com/office/powerpoint/2010/main" val="32976626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7774371-E062-B486-C12B-AF155E47B00B}"/>
              </a:ext>
            </a:extLst>
          </p:cNvPr>
          <p:cNvSpPr>
            <a:spLocks noGrp="1"/>
          </p:cNvSpPr>
          <p:nvPr>
            <p:ph type="body" sz="quarter" idx="10"/>
          </p:nvPr>
        </p:nvSpPr>
        <p:spPr/>
        <p:txBody>
          <a:bodyPr/>
          <a:lstStyle/>
          <a:p>
            <a:endParaRPr lang="en-GB"/>
          </a:p>
        </p:txBody>
      </p:sp>
      <p:sp>
        <p:nvSpPr>
          <p:cNvPr id="3" name="Text Placeholder 2">
            <a:extLst>
              <a:ext uri="{FF2B5EF4-FFF2-40B4-BE49-F238E27FC236}">
                <a16:creationId xmlns:a16="http://schemas.microsoft.com/office/drawing/2014/main" id="{09F18815-8D80-5B45-C9E7-DFCB1E7B2D0C}"/>
              </a:ext>
            </a:extLst>
          </p:cNvPr>
          <p:cNvSpPr>
            <a:spLocks noGrp="1"/>
          </p:cNvSpPr>
          <p:nvPr>
            <p:ph type="body" sz="quarter" idx="12"/>
          </p:nvPr>
        </p:nvSpPr>
        <p:spPr/>
        <p:txBody>
          <a:bodyPr/>
          <a:lstStyle/>
          <a:p>
            <a:r>
              <a:rPr lang="fa-IR" dirty="0"/>
              <a:t>منبع سودآورتر برای ماشین سرمایه؛ مالکیت شبکه دیجیتال و هوش مصنوعی </a:t>
            </a:r>
          </a:p>
        </p:txBody>
      </p:sp>
      <p:graphicFrame>
        <p:nvGraphicFramePr>
          <p:cNvPr id="5" name="Table 4">
            <a:extLst>
              <a:ext uri="{FF2B5EF4-FFF2-40B4-BE49-F238E27FC236}">
                <a16:creationId xmlns:a16="http://schemas.microsoft.com/office/drawing/2014/main" id="{E525F059-10E4-8F61-C198-F256E4AFE8BF}"/>
              </a:ext>
            </a:extLst>
          </p:cNvPr>
          <p:cNvGraphicFramePr>
            <a:graphicFrameLocks noGrp="1"/>
          </p:cNvGraphicFramePr>
          <p:nvPr>
            <p:extLst>
              <p:ext uri="{D42A27DB-BD31-4B8C-83A1-F6EECF244321}">
                <p14:modId xmlns:p14="http://schemas.microsoft.com/office/powerpoint/2010/main" val="1711466268"/>
              </p:ext>
            </p:extLst>
          </p:nvPr>
        </p:nvGraphicFramePr>
        <p:xfrm>
          <a:off x="1410413" y="3989162"/>
          <a:ext cx="8835714" cy="1440180"/>
        </p:xfrm>
        <a:graphic>
          <a:graphicData uri="http://schemas.openxmlformats.org/drawingml/2006/table">
            <a:tbl>
              <a:tblPr firstRow="1" bandRow="1">
                <a:tableStyleId>{5C22544A-7EE6-4342-B048-85BDC9FD1C3A}</a:tableStyleId>
              </a:tblPr>
              <a:tblGrid>
                <a:gridCol w="3949146">
                  <a:extLst>
                    <a:ext uri="{9D8B030D-6E8A-4147-A177-3AD203B41FA5}">
                      <a16:colId xmlns:a16="http://schemas.microsoft.com/office/drawing/2014/main" val="4041865935"/>
                    </a:ext>
                  </a:extLst>
                </a:gridCol>
                <a:gridCol w="3949146">
                  <a:extLst>
                    <a:ext uri="{9D8B030D-6E8A-4147-A177-3AD203B41FA5}">
                      <a16:colId xmlns:a16="http://schemas.microsoft.com/office/drawing/2014/main" val="1340540160"/>
                    </a:ext>
                  </a:extLst>
                </a:gridCol>
                <a:gridCol w="937422">
                  <a:extLst>
                    <a:ext uri="{9D8B030D-6E8A-4147-A177-3AD203B41FA5}">
                      <a16:colId xmlns:a16="http://schemas.microsoft.com/office/drawing/2014/main" val="731802636"/>
                    </a:ext>
                  </a:extLst>
                </a:gridCol>
              </a:tblGrid>
              <a:tr h="220596">
                <a:tc>
                  <a:txBody>
                    <a:bodyPr/>
                    <a:lstStyle/>
                    <a:p>
                      <a:endParaRPr lang="en-IR" sz="1050" dirty="0">
                        <a:solidFill>
                          <a:schemeClr val="tx1">
                            <a:lumMod val="75000"/>
                            <a:lumOff val="25000"/>
                          </a:schemeClr>
                        </a:solidFill>
                        <a:latin typeface="Yekan Bakh FaNum" pitchFamily="2" charset="-78"/>
                        <a:cs typeface="Yekan Bakh FaNum" pitchFamily="2" charset="-78"/>
                      </a:endParaRPr>
                    </a:p>
                  </a:txBody>
                  <a:tcPr>
                    <a:solidFill>
                      <a:srgbClr val="1E2761"/>
                    </a:solidFill>
                  </a:tcPr>
                </a:tc>
                <a:tc>
                  <a:txBody>
                    <a:bodyPr/>
                    <a:lstStyle/>
                    <a:p>
                      <a:endParaRPr lang="en-IR" sz="1050" dirty="0">
                        <a:solidFill>
                          <a:schemeClr val="tx1">
                            <a:lumMod val="75000"/>
                            <a:lumOff val="25000"/>
                          </a:schemeClr>
                        </a:solidFill>
                        <a:latin typeface="Yekan Bakh FaNum" pitchFamily="2" charset="-78"/>
                        <a:cs typeface="Yekan Bakh FaNum" pitchFamily="2" charset="-78"/>
                      </a:endParaRPr>
                    </a:p>
                  </a:txBody>
                  <a:tcPr>
                    <a:solidFill>
                      <a:srgbClr val="1E2761"/>
                    </a:solidFill>
                  </a:tcPr>
                </a:tc>
                <a:tc>
                  <a:txBody>
                    <a:bodyPr/>
                    <a:lstStyle/>
                    <a:p>
                      <a:endParaRPr lang="en-IR" sz="1050" dirty="0">
                        <a:solidFill>
                          <a:schemeClr val="tx1">
                            <a:lumMod val="75000"/>
                            <a:lumOff val="25000"/>
                          </a:schemeClr>
                        </a:solidFill>
                        <a:latin typeface="Yekan Bakh FaNum" pitchFamily="2" charset="-78"/>
                        <a:cs typeface="Yekan Bakh FaNum" pitchFamily="2" charset="-78"/>
                      </a:endParaRPr>
                    </a:p>
                  </a:txBody>
                  <a:tcPr>
                    <a:solidFill>
                      <a:srgbClr val="1E2761"/>
                    </a:solidFill>
                  </a:tcPr>
                </a:tc>
                <a:extLst>
                  <a:ext uri="{0D108BD9-81ED-4DB2-BD59-A6C34878D82A}">
                    <a16:rowId xmlns:a16="http://schemas.microsoft.com/office/drawing/2014/main" val="910236992"/>
                  </a:ext>
                </a:extLst>
              </a:tr>
              <a:tr h="182217">
                <a:tc>
                  <a:txBody>
                    <a:bodyPr/>
                    <a:lstStyle/>
                    <a:p>
                      <a:pPr marL="171450" marR="0" lvl="0" indent="-171450" algn="r" defTabSz="1021516" rtl="1" eaLnBrk="1" fontAlgn="auto" latinLnBrk="0" hangingPunct="1">
                        <a:lnSpc>
                          <a:spcPct val="100000"/>
                        </a:lnSpc>
                        <a:spcBef>
                          <a:spcPts val="0"/>
                        </a:spcBef>
                        <a:spcAft>
                          <a:spcPts val="0"/>
                        </a:spcAft>
                        <a:buClrTx/>
                        <a:buSzTx/>
                        <a:buFont typeface="Arial" panose="020B0604020202020204" pitchFamily="34" charset="0"/>
                        <a:buChar char="•"/>
                        <a:tabLst/>
                        <a:defRPr/>
                      </a:pPr>
                      <a:r>
                        <a:rPr lang="fa-IR" sz="900" dirty="0">
                          <a:solidFill>
                            <a:schemeClr val="tx1">
                              <a:lumMod val="75000"/>
                              <a:lumOff val="25000"/>
                            </a:schemeClr>
                          </a:solidFill>
                          <a:latin typeface="Yekan Bakh FaNum" pitchFamily="2" charset="-78"/>
                          <a:cs typeface="Yekan Bakh FaNum" pitchFamily="2" charset="-78"/>
                        </a:rPr>
                        <a:t>دیجیتال به عنوان خدمت اصلی (</a:t>
                      </a:r>
                      <a:r>
                        <a:rPr lang="en-US" sz="900" dirty="0">
                          <a:solidFill>
                            <a:schemeClr val="tx1">
                              <a:lumMod val="75000"/>
                              <a:lumOff val="25000"/>
                            </a:schemeClr>
                          </a:solidFill>
                          <a:latin typeface="Yekan Bakh FaNum" pitchFamily="2" charset="-78"/>
                          <a:cs typeface="Yekan Bakh FaNum" pitchFamily="2" charset="-78"/>
                        </a:rPr>
                        <a:t>Digital/AI as a service</a:t>
                      </a:r>
                      <a:r>
                        <a:rPr lang="fa-IR" sz="900" dirty="0">
                          <a:solidFill>
                            <a:schemeClr val="tx1">
                              <a:lumMod val="75000"/>
                              <a:lumOff val="25000"/>
                            </a:schemeClr>
                          </a:solidFill>
                          <a:latin typeface="Yekan Bakh FaNum" pitchFamily="2" charset="-78"/>
                          <a:cs typeface="Yekan Bakh FaNum" pitchFamily="2" charset="-78"/>
                        </a:rPr>
                        <a:t>)</a:t>
                      </a:r>
                      <a:endParaRPr lang="en-IR" sz="900" dirty="0">
                        <a:solidFill>
                          <a:schemeClr val="tx1">
                            <a:lumMod val="75000"/>
                            <a:lumOff val="25000"/>
                          </a:schemeClr>
                        </a:solidFill>
                        <a:latin typeface="Yekan Bakh FaNum" pitchFamily="2" charset="-78"/>
                        <a:cs typeface="Yekan Bakh FaNum" pitchFamily="2" charset="-78"/>
                      </a:endParaRPr>
                    </a:p>
                  </a:txBody>
                  <a:tcPr>
                    <a:solidFill>
                      <a:schemeClr val="bg1">
                        <a:lumMod val="95000"/>
                      </a:schemeClr>
                    </a:solidFill>
                  </a:tcPr>
                </a:tc>
                <a:tc>
                  <a:txBody>
                    <a:bodyPr/>
                    <a:lstStyle/>
                    <a:p>
                      <a:pPr marL="171450" indent="-171450" algn="r" defTabSz="1021516" rtl="1" eaLnBrk="1" latinLnBrk="0" hangingPunct="1">
                        <a:buFont typeface="Arial" panose="020B0604020202020204" pitchFamily="34" charset="0"/>
                        <a:buChar char="•"/>
                      </a:pPr>
                      <a:r>
                        <a:rPr lang="fa-IR" sz="900" dirty="0">
                          <a:solidFill>
                            <a:schemeClr val="tx1">
                              <a:lumMod val="75000"/>
                              <a:lumOff val="25000"/>
                            </a:schemeClr>
                          </a:solidFill>
                          <a:latin typeface="Yekan Bakh FaNum" pitchFamily="2" charset="-78"/>
                          <a:cs typeface="Yekan Bakh FaNum" pitchFamily="2" charset="-78"/>
                        </a:rPr>
                        <a:t>جنگ به عنوان خدمت اصلی (</a:t>
                      </a:r>
                      <a:r>
                        <a:rPr lang="en-US" sz="900" dirty="0">
                          <a:solidFill>
                            <a:schemeClr val="tx1">
                              <a:lumMod val="75000"/>
                              <a:lumOff val="25000"/>
                            </a:schemeClr>
                          </a:solidFill>
                          <a:latin typeface="Yekan Bakh FaNum" pitchFamily="2" charset="-78"/>
                          <a:cs typeface="Yekan Bakh FaNum" pitchFamily="2" charset="-78"/>
                        </a:rPr>
                        <a:t>War as a service</a:t>
                      </a:r>
                      <a:r>
                        <a:rPr lang="fa-IR" sz="900" dirty="0">
                          <a:solidFill>
                            <a:schemeClr val="tx1">
                              <a:lumMod val="75000"/>
                              <a:lumOff val="25000"/>
                            </a:schemeClr>
                          </a:solidFill>
                          <a:latin typeface="Yekan Bakh FaNum" pitchFamily="2" charset="-78"/>
                          <a:cs typeface="Yekan Bakh FaNum" pitchFamily="2" charset="-78"/>
                        </a:rPr>
                        <a:t>)</a:t>
                      </a:r>
                      <a:endParaRPr lang="en-IR" sz="900" dirty="0">
                        <a:solidFill>
                          <a:schemeClr val="tx1">
                            <a:lumMod val="75000"/>
                            <a:lumOff val="25000"/>
                          </a:schemeClr>
                        </a:solidFill>
                        <a:latin typeface="Yekan Bakh FaNum" pitchFamily="2" charset="-78"/>
                        <a:cs typeface="Yekan Bakh FaNum" pitchFamily="2" charset="-78"/>
                      </a:endParaRPr>
                    </a:p>
                  </a:txBody>
                  <a:tcPr>
                    <a:solidFill>
                      <a:schemeClr val="bg1">
                        <a:lumMod val="95000"/>
                      </a:schemeClr>
                    </a:solidFill>
                  </a:tcPr>
                </a:tc>
                <a:tc>
                  <a:txBody>
                    <a:bodyPr/>
                    <a:lstStyle/>
                    <a:p>
                      <a:pPr marL="0" algn="r" defTabSz="1021516" rtl="1" eaLnBrk="1" latinLnBrk="0" hangingPunct="1"/>
                      <a:r>
                        <a:rPr lang="fa-IR" sz="900" b="1" dirty="0">
                          <a:solidFill>
                            <a:schemeClr val="tx1">
                              <a:lumMod val="75000"/>
                              <a:lumOff val="25000"/>
                            </a:schemeClr>
                          </a:solidFill>
                          <a:latin typeface="Yekan Bakh FaNum" pitchFamily="2" charset="-78"/>
                          <a:cs typeface="Yekan Bakh FaNum" pitchFamily="2" charset="-78"/>
                        </a:rPr>
                        <a:t>رویکرد کلیدی</a:t>
                      </a:r>
                      <a:endParaRPr lang="en-IR" sz="900" b="1" dirty="0">
                        <a:solidFill>
                          <a:schemeClr val="tx1">
                            <a:lumMod val="75000"/>
                            <a:lumOff val="25000"/>
                          </a:schemeClr>
                        </a:solidFill>
                        <a:latin typeface="Yekan Bakh FaNum" pitchFamily="2" charset="-78"/>
                        <a:cs typeface="Yekan Bakh FaNum" pitchFamily="2" charset="-78"/>
                      </a:endParaRPr>
                    </a:p>
                  </a:txBody>
                  <a:tcPr>
                    <a:solidFill>
                      <a:schemeClr val="bg1">
                        <a:lumMod val="95000"/>
                      </a:schemeClr>
                    </a:solidFill>
                  </a:tcPr>
                </a:tc>
                <a:extLst>
                  <a:ext uri="{0D108BD9-81ED-4DB2-BD59-A6C34878D82A}">
                    <a16:rowId xmlns:a16="http://schemas.microsoft.com/office/drawing/2014/main" val="2602293563"/>
                  </a:ext>
                </a:extLst>
              </a:tr>
              <a:tr h="337382">
                <a:tc>
                  <a:txBody>
                    <a:bodyPr/>
                    <a:lstStyle/>
                    <a:p>
                      <a:pPr marL="171450" indent="-171450" algn="r" defTabSz="1021516" rtl="1" eaLnBrk="1" latinLnBrk="0" hangingPunct="1">
                        <a:buFont typeface="Arial" panose="020B0604020202020204" pitchFamily="34" charset="0"/>
                        <a:buChar char="•"/>
                      </a:pPr>
                      <a:r>
                        <a:rPr lang="fa-IR" sz="900" dirty="0">
                          <a:solidFill>
                            <a:schemeClr val="tx1">
                              <a:lumMod val="75000"/>
                              <a:lumOff val="25000"/>
                            </a:schemeClr>
                          </a:solidFill>
                          <a:latin typeface="Yekan Bakh FaNum" pitchFamily="2" charset="-78"/>
                          <a:cs typeface="Yekan Bakh FaNum" pitchFamily="2" charset="-78"/>
                        </a:rPr>
                        <a:t>صنعت مالی</a:t>
                      </a:r>
                    </a:p>
                    <a:p>
                      <a:pPr marL="171450" indent="-171450" algn="r" defTabSz="1021516" rtl="1" eaLnBrk="1" latinLnBrk="0" hangingPunct="1">
                        <a:buFont typeface="Arial" panose="020B0604020202020204" pitchFamily="34" charset="0"/>
                        <a:buChar char="•"/>
                      </a:pPr>
                      <a:r>
                        <a:rPr lang="fa-IR" sz="900" dirty="0">
                          <a:solidFill>
                            <a:schemeClr val="tx1">
                              <a:lumMod val="75000"/>
                              <a:lumOff val="25000"/>
                            </a:schemeClr>
                          </a:solidFill>
                          <a:latin typeface="Yekan Bakh FaNum" pitchFamily="2" charset="-78"/>
                          <a:cs typeface="Yekan Bakh FaNum" pitchFamily="2" charset="-78"/>
                        </a:rPr>
                        <a:t>صنعت فنی</a:t>
                      </a:r>
                      <a:endParaRPr lang="en-IR" sz="900" dirty="0">
                        <a:solidFill>
                          <a:schemeClr val="tx1">
                            <a:lumMod val="75000"/>
                            <a:lumOff val="25000"/>
                          </a:schemeClr>
                        </a:solidFill>
                        <a:latin typeface="Yekan Bakh FaNum" pitchFamily="2" charset="-78"/>
                        <a:cs typeface="Yekan Bakh FaNum" pitchFamily="2" charset="-78"/>
                      </a:endParaRPr>
                    </a:p>
                  </a:txBody>
                  <a:tcPr>
                    <a:solidFill>
                      <a:schemeClr val="bg1">
                        <a:lumMod val="95000"/>
                      </a:schemeClr>
                    </a:solidFill>
                  </a:tcPr>
                </a:tc>
                <a:tc>
                  <a:txBody>
                    <a:bodyPr/>
                    <a:lstStyle/>
                    <a:p>
                      <a:pPr marL="171450" indent="-171450" algn="r" defTabSz="1021516" rtl="1" eaLnBrk="1" latinLnBrk="0" hangingPunct="1">
                        <a:buFont typeface="Arial" panose="020B0604020202020204" pitchFamily="34" charset="0"/>
                        <a:buChar char="•"/>
                      </a:pPr>
                      <a:r>
                        <a:rPr lang="fa-IR" sz="900" dirty="0">
                          <a:solidFill>
                            <a:schemeClr val="tx1">
                              <a:lumMod val="75000"/>
                              <a:lumOff val="25000"/>
                            </a:schemeClr>
                          </a:solidFill>
                          <a:latin typeface="Yekan Bakh FaNum" pitchFamily="2" charset="-78"/>
                          <a:cs typeface="Yekan Bakh FaNum" pitchFamily="2" charset="-78"/>
                        </a:rPr>
                        <a:t>صنعت مالی</a:t>
                      </a:r>
                    </a:p>
                    <a:p>
                      <a:pPr marL="171450" indent="-171450" algn="r" defTabSz="1021516" rtl="1" eaLnBrk="1" latinLnBrk="0" hangingPunct="1">
                        <a:buFont typeface="Arial" panose="020B0604020202020204" pitchFamily="34" charset="0"/>
                        <a:buChar char="•"/>
                      </a:pPr>
                      <a:r>
                        <a:rPr lang="fa-IR" sz="900" dirty="0">
                          <a:solidFill>
                            <a:schemeClr val="tx1">
                              <a:lumMod val="75000"/>
                              <a:lumOff val="25000"/>
                            </a:schemeClr>
                          </a:solidFill>
                          <a:latin typeface="Yekan Bakh FaNum" pitchFamily="2" charset="-78"/>
                          <a:cs typeface="Yekan Bakh FaNum" pitchFamily="2" charset="-78"/>
                        </a:rPr>
                        <a:t>صنعت نظامی</a:t>
                      </a:r>
                      <a:endParaRPr lang="en-IR" sz="900" dirty="0">
                        <a:solidFill>
                          <a:schemeClr val="tx1">
                            <a:lumMod val="75000"/>
                            <a:lumOff val="25000"/>
                          </a:schemeClr>
                        </a:solidFill>
                        <a:latin typeface="Yekan Bakh FaNum" pitchFamily="2" charset="-78"/>
                        <a:cs typeface="Yekan Bakh FaNum" pitchFamily="2" charset="-78"/>
                      </a:endParaRPr>
                    </a:p>
                  </a:txBody>
                  <a:tcPr>
                    <a:solidFill>
                      <a:schemeClr val="bg1">
                        <a:lumMod val="95000"/>
                      </a:schemeClr>
                    </a:solidFill>
                  </a:tcPr>
                </a:tc>
                <a:tc>
                  <a:txBody>
                    <a:bodyPr/>
                    <a:lstStyle/>
                    <a:p>
                      <a:pPr marL="0" algn="r" defTabSz="1021516" rtl="1" eaLnBrk="1" latinLnBrk="0" hangingPunct="1"/>
                      <a:r>
                        <a:rPr lang="fa-IR" sz="900" b="1" dirty="0">
                          <a:solidFill>
                            <a:schemeClr val="tx1">
                              <a:lumMod val="75000"/>
                              <a:lumOff val="25000"/>
                            </a:schemeClr>
                          </a:solidFill>
                          <a:latin typeface="Yekan Bakh FaNum" pitchFamily="2" charset="-78"/>
                          <a:cs typeface="Yekan Bakh FaNum" pitchFamily="2" charset="-78"/>
                        </a:rPr>
                        <a:t>اهرم‌های اصلی</a:t>
                      </a:r>
                      <a:endParaRPr lang="en-IR" sz="900" b="1" dirty="0">
                        <a:solidFill>
                          <a:schemeClr val="tx1">
                            <a:lumMod val="75000"/>
                            <a:lumOff val="25000"/>
                          </a:schemeClr>
                        </a:solidFill>
                        <a:latin typeface="Yekan Bakh FaNum" pitchFamily="2" charset="-78"/>
                        <a:cs typeface="Yekan Bakh FaNum" pitchFamily="2" charset="-78"/>
                      </a:endParaRPr>
                    </a:p>
                  </a:txBody>
                  <a:tcPr>
                    <a:solidFill>
                      <a:schemeClr val="bg1">
                        <a:lumMod val="95000"/>
                      </a:schemeClr>
                    </a:solidFill>
                  </a:tcPr>
                </a:tc>
                <a:extLst>
                  <a:ext uri="{0D108BD9-81ED-4DB2-BD59-A6C34878D82A}">
                    <a16:rowId xmlns:a16="http://schemas.microsoft.com/office/drawing/2014/main" val="4080145810"/>
                  </a:ext>
                </a:extLst>
              </a:tr>
              <a:tr h="207620">
                <a:tc>
                  <a:txBody>
                    <a:bodyPr/>
                    <a:lstStyle/>
                    <a:p>
                      <a:pPr marL="171450" indent="-171450" algn="r" defTabSz="1021516" rtl="1" eaLnBrk="1" latinLnBrk="0" hangingPunct="1">
                        <a:buFont typeface="Arial" panose="020B0604020202020204" pitchFamily="34" charset="0"/>
                        <a:buChar char="•"/>
                      </a:pPr>
                      <a:r>
                        <a:rPr lang="fa-IR" sz="900" dirty="0">
                          <a:solidFill>
                            <a:schemeClr val="tx1">
                              <a:lumMod val="75000"/>
                              <a:lumOff val="25000"/>
                            </a:schemeClr>
                          </a:solidFill>
                          <a:latin typeface="Yekan Bakh FaNum" pitchFamily="2" charset="-78"/>
                          <a:cs typeface="Yekan Bakh FaNum" pitchFamily="2" charset="-78"/>
                        </a:rPr>
                        <a:t>برپایی صلح (چون ساخت فناوری در جای با ثبات ممکن است)</a:t>
                      </a:r>
                      <a:endParaRPr lang="en-IR" sz="900" dirty="0">
                        <a:solidFill>
                          <a:schemeClr val="tx1">
                            <a:lumMod val="75000"/>
                            <a:lumOff val="25000"/>
                          </a:schemeClr>
                        </a:solidFill>
                        <a:latin typeface="Yekan Bakh FaNum" pitchFamily="2" charset="-78"/>
                        <a:cs typeface="Yekan Bakh FaNum" pitchFamily="2" charset="-78"/>
                      </a:endParaRPr>
                    </a:p>
                  </a:txBody>
                  <a:tcPr>
                    <a:solidFill>
                      <a:schemeClr val="bg1">
                        <a:lumMod val="95000"/>
                      </a:schemeClr>
                    </a:solidFill>
                  </a:tcPr>
                </a:tc>
                <a:tc>
                  <a:txBody>
                    <a:bodyPr/>
                    <a:lstStyle/>
                    <a:p>
                      <a:pPr marL="171450" indent="-171450" algn="r" defTabSz="1021516" rtl="1" eaLnBrk="1" latinLnBrk="0" hangingPunct="1">
                        <a:buFont typeface="Arial" panose="020B0604020202020204" pitchFamily="34" charset="0"/>
                        <a:buChar char="•"/>
                      </a:pPr>
                      <a:r>
                        <a:rPr lang="fa-IR" sz="900" dirty="0">
                          <a:solidFill>
                            <a:schemeClr val="tx1">
                              <a:lumMod val="75000"/>
                              <a:lumOff val="25000"/>
                            </a:schemeClr>
                          </a:solidFill>
                          <a:latin typeface="Yekan Bakh FaNum" pitchFamily="2" charset="-78"/>
                          <a:cs typeface="Yekan Bakh FaNum" pitchFamily="2" charset="-78"/>
                        </a:rPr>
                        <a:t>برپایی جنگ (به واسطه نیاز به سلاح و بازسازی شهرها)</a:t>
                      </a:r>
                      <a:endParaRPr lang="en-IR" sz="900" dirty="0">
                        <a:solidFill>
                          <a:schemeClr val="tx1">
                            <a:lumMod val="75000"/>
                            <a:lumOff val="25000"/>
                          </a:schemeClr>
                        </a:solidFill>
                        <a:latin typeface="Yekan Bakh FaNum" pitchFamily="2" charset="-78"/>
                        <a:cs typeface="Yekan Bakh FaNum" pitchFamily="2" charset="-78"/>
                      </a:endParaRPr>
                    </a:p>
                  </a:txBody>
                  <a:tcPr>
                    <a:solidFill>
                      <a:schemeClr val="bg1">
                        <a:lumMod val="95000"/>
                      </a:schemeClr>
                    </a:solidFill>
                  </a:tcPr>
                </a:tc>
                <a:tc>
                  <a:txBody>
                    <a:bodyPr/>
                    <a:lstStyle/>
                    <a:p>
                      <a:pPr marL="0" algn="r" defTabSz="1021516" rtl="1" eaLnBrk="1" latinLnBrk="0" hangingPunct="1"/>
                      <a:r>
                        <a:rPr lang="fa-IR" sz="900" b="1" dirty="0">
                          <a:solidFill>
                            <a:schemeClr val="tx1">
                              <a:lumMod val="75000"/>
                              <a:lumOff val="25000"/>
                            </a:schemeClr>
                          </a:solidFill>
                          <a:latin typeface="Yekan Bakh FaNum" pitchFamily="2" charset="-78"/>
                          <a:cs typeface="Yekan Bakh FaNum" pitchFamily="2" charset="-78"/>
                        </a:rPr>
                        <a:t>نیازمندی</a:t>
                      </a:r>
                      <a:endParaRPr lang="en-IR" sz="900" b="1" dirty="0">
                        <a:solidFill>
                          <a:schemeClr val="tx1">
                            <a:lumMod val="75000"/>
                            <a:lumOff val="25000"/>
                          </a:schemeClr>
                        </a:solidFill>
                        <a:latin typeface="Yekan Bakh FaNum" pitchFamily="2" charset="-78"/>
                        <a:cs typeface="Yekan Bakh FaNum" pitchFamily="2" charset="-78"/>
                      </a:endParaRPr>
                    </a:p>
                  </a:txBody>
                  <a:tcPr>
                    <a:solidFill>
                      <a:schemeClr val="bg1">
                        <a:lumMod val="95000"/>
                      </a:schemeClr>
                    </a:solidFill>
                  </a:tcPr>
                </a:tc>
                <a:extLst>
                  <a:ext uri="{0D108BD9-81ED-4DB2-BD59-A6C34878D82A}">
                    <a16:rowId xmlns:a16="http://schemas.microsoft.com/office/drawing/2014/main" val="3204703158"/>
                  </a:ext>
                </a:extLst>
              </a:tr>
              <a:tr h="337382">
                <a:tc>
                  <a:txBody>
                    <a:bodyPr/>
                    <a:lstStyle/>
                    <a:p>
                      <a:pPr marL="171450" indent="-171450" algn="r" defTabSz="1021516" rtl="1" eaLnBrk="1" latinLnBrk="0" hangingPunct="1">
                        <a:buFont typeface="Arial" panose="020B0604020202020204" pitchFamily="34" charset="0"/>
                        <a:buChar char="•"/>
                      </a:pPr>
                      <a:r>
                        <a:rPr lang="fa-IR" sz="900" dirty="0">
                          <a:solidFill>
                            <a:schemeClr val="tx1">
                              <a:lumMod val="75000"/>
                              <a:lumOff val="25000"/>
                            </a:schemeClr>
                          </a:solidFill>
                          <a:latin typeface="Yekan Bakh FaNum" pitchFamily="2" charset="-78"/>
                          <a:cs typeface="Yekan Bakh FaNum" pitchFamily="2" charset="-78"/>
                        </a:rPr>
                        <a:t>اتمام دادن به جنگ</a:t>
                      </a:r>
                    </a:p>
                    <a:p>
                      <a:pPr marL="171450" indent="-171450" algn="r" defTabSz="1021516" rtl="1" eaLnBrk="1" latinLnBrk="0" hangingPunct="1">
                        <a:buFont typeface="Arial" panose="020B0604020202020204" pitchFamily="34" charset="0"/>
                        <a:buChar char="•"/>
                      </a:pPr>
                      <a:r>
                        <a:rPr lang="fa-IR" sz="900" dirty="0">
                          <a:solidFill>
                            <a:schemeClr val="tx1">
                              <a:lumMod val="75000"/>
                              <a:lumOff val="25000"/>
                            </a:schemeClr>
                          </a:solidFill>
                          <a:latin typeface="Yekan Bakh FaNum" pitchFamily="2" charset="-78"/>
                          <a:cs typeface="Yekan Bakh FaNum" pitchFamily="2" charset="-78"/>
                        </a:rPr>
                        <a:t>شراکت/مالکیت در </a:t>
                      </a:r>
                      <a:r>
                        <a:rPr lang="fa-IR" sz="900" dirty="0" err="1">
                          <a:solidFill>
                            <a:schemeClr val="tx1">
                              <a:lumMod val="75000"/>
                              <a:lumOff val="25000"/>
                            </a:schemeClr>
                          </a:solidFill>
                          <a:latin typeface="Yekan Bakh FaNum" pitchFamily="2" charset="-78"/>
                          <a:cs typeface="Yekan Bakh FaNum" pitchFamily="2" charset="-78"/>
                        </a:rPr>
                        <a:t>سرمایه‌گذاری</a:t>
                      </a:r>
                      <a:r>
                        <a:rPr lang="fa-IR" sz="900" dirty="0">
                          <a:solidFill>
                            <a:schemeClr val="tx1">
                              <a:lumMod val="75000"/>
                              <a:lumOff val="25000"/>
                            </a:schemeClr>
                          </a:solidFill>
                          <a:latin typeface="Yekan Bakh FaNum" pitchFamily="2" charset="-78"/>
                          <a:cs typeface="Yekan Bakh FaNum" pitchFamily="2" charset="-78"/>
                        </a:rPr>
                        <a:t> بر روی </a:t>
                      </a:r>
                      <a:r>
                        <a:rPr lang="fa-IR" sz="900" dirty="0" err="1">
                          <a:solidFill>
                            <a:schemeClr val="tx1">
                              <a:lumMod val="75000"/>
                              <a:lumOff val="25000"/>
                            </a:schemeClr>
                          </a:solidFill>
                          <a:latin typeface="Yekan Bakh FaNum" pitchFamily="2" charset="-78"/>
                          <a:cs typeface="Yekan Bakh FaNum" pitchFamily="2" charset="-78"/>
                        </a:rPr>
                        <a:t>زیرساخت‌ها</a:t>
                      </a:r>
                      <a:endParaRPr lang="en-IR" sz="900" dirty="0">
                        <a:solidFill>
                          <a:schemeClr val="tx1">
                            <a:lumMod val="75000"/>
                            <a:lumOff val="25000"/>
                          </a:schemeClr>
                        </a:solidFill>
                        <a:latin typeface="Yekan Bakh FaNum" pitchFamily="2" charset="-78"/>
                        <a:cs typeface="Yekan Bakh FaNum" pitchFamily="2" charset="-78"/>
                      </a:endParaRPr>
                    </a:p>
                  </a:txBody>
                  <a:tcPr>
                    <a:solidFill>
                      <a:schemeClr val="bg1">
                        <a:lumMod val="95000"/>
                      </a:schemeClr>
                    </a:solidFill>
                  </a:tcPr>
                </a:tc>
                <a:tc>
                  <a:txBody>
                    <a:bodyPr/>
                    <a:lstStyle/>
                    <a:p>
                      <a:pPr marL="171450" indent="-171450" algn="r" defTabSz="1021516" rtl="1" eaLnBrk="1" latinLnBrk="0" hangingPunct="1">
                        <a:buFont typeface="Arial" panose="020B0604020202020204" pitchFamily="34" charset="0"/>
                        <a:buChar char="•"/>
                      </a:pPr>
                      <a:r>
                        <a:rPr lang="fa-IR" sz="900" dirty="0">
                          <a:solidFill>
                            <a:schemeClr val="tx1">
                              <a:lumMod val="75000"/>
                              <a:lumOff val="25000"/>
                            </a:schemeClr>
                          </a:solidFill>
                          <a:latin typeface="Yekan Bakh FaNum" pitchFamily="2" charset="-78"/>
                          <a:cs typeface="Yekan Bakh FaNum" pitchFamily="2" charset="-78"/>
                        </a:rPr>
                        <a:t>جنگ مستقیم</a:t>
                      </a:r>
                    </a:p>
                    <a:p>
                      <a:pPr marL="171450" indent="-171450" algn="r" defTabSz="1021516" rtl="1" eaLnBrk="1" latinLnBrk="0" hangingPunct="1">
                        <a:buFont typeface="Arial" panose="020B0604020202020204" pitchFamily="34" charset="0"/>
                        <a:buChar char="•"/>
                      </a:pPr>
                      <a:r>
                        <a:rPr lang="fa-IR" sz="900" dirty="0">
                          <a:solidFill>
                            <a:schemeClr val="tx1">
                              <a:lumMod val="75000"/>
                              <a:lumOff val="25000"/>
                            </a:schemeClr>
                          </a:solidFill>
                          <a:latin typeface="Yekan Bakh FaNum" pitchFamily="2" charset="-78"/>
                          <a:cs typeface="Yekan Bakh FaNum" pitchFamily="2" charset="-78"/>
                        </a:rPr>
                        <a:t>نیروی </a:t>
                      </a:r>
                      <a:r>
                        <a:rPr lang="fa-IR" sz="900" dirty="0" err="1">
                          <a:solidFill>
                            <a:schemeClr val="tx1">
                              <a:lumMod val="75000"/>
                              <a:lumOff val="25000"/>
                            </a:schemeClr>
                          </a:solidFill>
                          <a:latin typeface="Yekan Bakh FaNum" pitchFamily="2" charset="-78"/>
                          <a:cs typeface="Yekan Bakh FaNum" pitchFamily="2" charset="-78"/>
                        </a:rPr>
                        <a:t>نیابتی</a:t>
                      </a:r>
                      <a:r>
                        <a:rPr lang="fa-IR" sz="900" dirty="0">
                          <a:solidFill>
                            <a:schemeClr val="tx1">
                              <a:lumMod val="75000"/>
                              <a:lumOff val="25000"/>
                            </a:schemeClr>
                          </a:solidFill>
                          <a:latin typeface="Yekan Bakh FaNum" pitchFamily="2" charset="-78"/>
                          <a:cs typeface="Yekan Bakh FaNum" pitchFamily="2" charset="-78"/>
                        </a:rPr>
                        <a:t> برای برپایی جنگ</a:t>
                      </a:r>
                      <a:endParaRPr lang="en-IR" sz="900" dirty="0">
                        <a:solidFill>
                          <a:schemeClr val="tx1">
                            <a:lumMod val="75000"/>
                            <a:lumOff val="25000"/>
                          </a:schemeClr>
                        </a:solidFill>
                        <a:latin typeface="Yekan Bakh FaNum" pitchFamily="2" charset="-78"/>
                        <a:cs typeface="Yekan Bakh FaNum" pitchFamily="2" charset="-78"/>
                      </a:endParaRPr>
                    </a:p>
                  </a:txBody>
                  <a:tcPr>
                    <a:solidFill>
                      <a:schemeClr val="bg1">
                        <a:lumMod val="95000"/>
                      </a:schemeClr>
                    </a:solidFill>
                  </a:tcPr>
                </a:tc>
                <a:tc>
                  <a:txBody>
                    <a:bodyPr/>
                    <a:lstStyle/>
                    <a:p>
                      <a:pPr marL="0" algn="r" defTabSz="1021516" rtl="1" eaLnBrk="1" latinLnBrk="0" hangingPunct="1"/>
                      <a:r>
                        <a:rPr lang="fa-IR" sz="900" b="1" dirty="0">
                          <a:solidFill>
                            <a:schemeClr val="tx1">
                              <a:lumMod val="75000"/>
                              <a:lumOff val="25000"/>
                            </a:schemeClr>
                          </a:solidFill>
                          <a:latin typeface="Yekan Bakh FaNum" pitchFamily="2" charset="-78"/>
                          <a:cs typeface="Yekan Bakh FaNum" pitchFamily="2" charset="-78"/>
                        </a:rPr>
                        <a:t>تاکتیک </a:t>
                      </a:r>
                      <a:r>
                        <a:rPr lang="fa-IR" sz="900" b="1" dirty="0" err="1">
                          <a:solidFill>
                            <a:schemeClr val="tx1">
                              <a:lumMod val="75000"/>
                              <a:lumOff val="25000"/>
                            </a:schemeClr>
                          </a:solidFill>
                          <a:latin typeface="Yekan Bakh FaNum" pitchFamily="2" charset="-78"/>
                          <a:cs typeface="Yekan Bakh FaNum" pitchFamily="2" charset="-78"/>
                        </a:rPr>
                        <a:t>پیاده‌سازی</a:t>
                      </a:r>
                      <a:endParaRPr lang="en-IR" sz="900" b="1" dirty="0">
                        <a:solidFill>
                          <a:schemeClr val="tx1">
                            <a:lumMod val="75000"/>
                            <a:lumOff val="25000"/>
                          </a:schemeClr>
                        </a:solidFill>
                        <a:latin typeface="Yekan Bakh FaNum" pitchFamily="2" charset="-78"/>
                        <a:cs typeface="Yekan Bakh FaNum" pitchFamily="2" charset="-78"/>
                      </a:endParaRPr>
                    </a:p>
                  </a:txBody>
                  <a:tcPr>
                    <a:solidFill>
                      <a:schemeClr val="bg1">
                        <a:lumMod val="95000"/>
                      </a:schemeClr>
                    </a:solidFill>
                  </a:tcPr>
                </a:tc>
                <a:extLst>
                  <a:ext uri="{0D108BD9-81ED-4DB2-BD59-A6C34878D82A}">
                    <a16:rowId xmlns:a16="http://schemas.microsoft.com/office/drawing/2014/main" val="776041148"/>
                  </a:ext>
                </a:extLst>
              </a:tr>
            </a:tbl>
          </a:graphicData>
        </a:graphic>
      </p:graphicFrame>
      <p:sp>
        <p:nvSpPr>
          <p:cNvPr id="7" name="Left-Right Arrow 2">
            <a:extLst>
              <a:ext uri="{FF2B5EF4-FFF2-40B4-BE49-F238E27FC236}">
                <a16:creationId xmlns:a16="http://schemas.microsoft.com/office/drawing/2014/main" id="{D9FBFEA8-69A5-EEAC-4600-2D9F197C7973}"/>
              </a:ext>
            </a:extLst>
          </p:cNvPr>
          <p:cNvSpPr/>
          <p:nvPr/>
        </p:nvSpPr>
        <p:spPr>
          <a:xfrm>
            <a:off x="1130172" y="3959977"/>
            <a:ext cx="9396196" cy="296194"/>
          </a:xfrm>
          <a:prstGeom prst="leftRightArrow">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457200" rtl="1" eaLnBrk="1" latinLnBrk="0" hangingPunct="1"/>
            <a:endParaRPr lang="en-IR" dirty="0"/>
          </a:p>
        </p:txBody>
      </p:sp>
      <p:sp>
        <p:nvSpPr>
          <p:cNvPr id="9" name="TextBox 8">
            <a:extLst>
              <a:ext uri="{FF2B5EF4-FFF2-40B4-BE49-F238E27FC236}">
                <a16:creationId xmlns:a16="http://schemas.microsoft.com/office/drawing/2014/main" id="{5D0A1141-64FF-E481-C3CF-02EED4E50890}"/>
              </a:ext>
            </a:extLst>
          </p:cNvPr>
          <p:cNvSpPr txBox="1"/>
          <p:nvPr/>
        </p:nvSpPr>
        <p:spPr>
          <a:xfrm>
            <a:off x="6910533" y="3977269"/>
            <a:ext cx="1064715" cy="261610"/>
          </a:xfrm>
          <a:prstGeom prst="rect">
            <a:avLst/>
          </a:prstGeom>
          <a:noFill/>
        </p:spPr>
        <p:txBody>
          <a:bodyPr wrap="none" rtlCol="0">
            <a:spAutoFit/>
          </a:bodyPr>
          <a:lstStyle/>
          <a:p>
            <a:pPr algn="ctr"/>
            <a:r>
              <a:rPr lang="en-US" sz="1100" b="1" dirty="0">
                <a:solidFill>
                  <a:schemeClr val="tx1">
                    <a:lumMod val="65000"/>
                    <a:lumOff val="35000"/>
                  </a:schemeClr>
                </a:solidFill>
                <a:latin typeface="Acumin Pro Regular" panose="020B0504020202020204" pitchFamily="34" charset="77"/>
              </a:rPr>
              <a:t>Always on War</a:t>
            </a:r>
            <a:endParaRPr lang="en-IR" sz="1100" b="1" dirty="0">
              <a:solidFill>
                <a:schemeClr val="tx1">
                  <a:lumMod val="65000"/>
                  <a:lumOff val="35000"/>
                </a:schemeClr>
              </a:solidFill>
              <a:latin typeface="Acumin Pro Regular" panose="020B0504020202020204" pitchFamily="34" charset="77"/>
            </a:endParaRPr>
          </a:p>
        </p:txBody>
      </p:sp>
      <p:sp>
        <p:nvSpPr>
          <p:cNvPr id="11" name="TextBox 10">
            <a:extLst>
              <a:ext uri="{FF2B5EF4-FFF2-40B4-BE49-F238E27FC236}">
                <a16:creationId xmlns:a16="http://schemas.microsoft.com/office/drawing/2014/main" id="{3650310E-EF66-6682-05F1-A1F802B8F06D}"/>
              </a:ext>
            </a:extLst>
          </p:cNvPr>
          <p:cNvSpPr txBox="1"/>
          <p:nvPr/>
        </p:nvSpPr>
        <p:spPr>
          <a:xfrm>
            <a:off x="2628437" y="3977269"/>
            <a:ext cx="1162498" cy="261610"/>
          </a:xfrm>
          <a:prstGeom prst="rect">
            <a:avLst/>
          </a:prstGeom>
          <a:noFill/>
        </p:spPr>
        <p:txBody>
          <a:bodyPr wrap="none" rtlCol="0">
            <a:spAutoFit/>
          </a:bodyPr>
          <a:lstStyle/>
          <a:p>
            <a:pPr algn="ctr"/>
            <a:r>
              <a:rPr lang="en-US" sz="1100" b="1" dirty="0">
                <a:solidFill>
                  <a:schemeClr val="tx1">
                    <a:lumMod val="65000"/>
                    <a:lumOff val="35000"/>
                  </a:schemeClr>
                </a:solidFill>
                <a:latin typeface="Acumin Pro Regular" panose="020B0504020202020204" pitchFamily="34" charset="77"/>
                <a:cs typeface="Yekan Bakh FaNum" pitchFamily="2" charset="-78"/>
              </a:rPr>
              <a:t>Always on Peace</a:t>
            </a:r>
            <a:endParaRPr lang="en-IR" sz="1100" b="1" dirty="0">
              <a:solidFill>
                <a:schemeClr val="tx1">
                  <a:lumMod val="65000"/>
                  <a:lumOff val="35000"/>
                </a:schemeClr>
              </a:solidFill>
              <a:latin typeface="Acumin Pro Regular" panose="020B0504020202020204" pitchFamily="34" charset="77"/>
              <a:cs typeface="Yekan Bakh FaNum" pitchFamily="2" charset="-78"/>
            </a:endParaRPr>
          </a:p>
        </p:txBody>
      </p:sp>
      <p:grpSp>
        <p:nvGrpSpPr>
          <p:cNvPr id="50" name="Group 49">
            <a:extLst>
              <a:ext uri="{FF2B5EF4-FFF2-40B4-BE49-F238E27FC236}">
                <a16:creationId xmlns:a16="http://schemas.microsoft.com/office/drawing/2014/main" id="{4F86D077-1742-45B4-353D-BE4BBA2C6213}"/>
              </a:ext>
            </a:extLst>
          </p:cNvPr>
          <p:cNvGrpSpPr/>
          <p:nvPr/>
        </p:nvGrpSpPr>
        <p:grpSpPr>
          <a:xfrm>
            <a:off x="5070932" y="3551134"/>
            <a:ext cx="1441628" cy="286588"/>
            <a:chOff x="5070932" y="3644972"/>
            <a:chExt cx="1441628" cy="286588"/>
          </a:xfrm>
        </p:grpSpPr>
        <p:sp>
          <p:nvSpPr>
            <p:cNvPr id="13" name="Chevron 5">
              <a:extLst>
                <a:ext uri="{FF2B5EF4-FFF2-40B4-BE49-F238E27FC236}">
                  <a16:creationId xmlns:a16="http://schemas.microsoft.com/office/drawing/2014/main" id="{95DA1869-2543-BC09-F18E-93200F388A59}"/>
                </a:ext>
              </a:extLst>
            </p:cNvPr>
            <p:cNvSpPr/>
            <p:nvPr/>
          </p:nvSpPr>
          <p:spPr>
            <a:xfrm rot="10800000">
              <a:off x="5070932" y="3644972"/>
              <a:ext cx="450781" cy="286588"/>
            </a:xfrm>
            <a:prstGeom prst="chevron">
              <a:avLst/>
            </a:prstGeom>
            <a:solidFill>
              <a:srgbClr val="1E27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457200" rtl="1" eaLnBrk="1" latinLnBrk="0" hangingPunct="1"/>
              <a:endParaRPr lang="en-IR">
                <a:solidFill>
                  <a:schemeClr val="tx1"/>
                </a:solidFill>
              </a:endParaRPr>
            </a:p>
          </p:txBody>
        </p:sp>
        <p:sp>
          <p:nvSpPr>
            <p:cNvPr id="15" name="Chevron 6">
              <a:extLst>
                <a:ext uri="{FF2B5EF4-FFF2-40B4-BE49-F238E27FC236}">
                  <a16:creationId xmlns:a16="http://schemas.microsoft.com/office/drawing/2014/main" id="{600C4345-9FAB-B796-5EBA-025704F4AAB0}"/>
                </a:ext>
              </a:extLst>
            </p:cNvPr>
            <p:cNvSpPr/>
            <p:nvPr/>
          </p:nvSpPr>
          <p:spPr>
            <a:xfrm rot="10800000">
              <a:off x="5401214" y="3644972"/>
              <a:ext cx="450781" cy="286588"/>
            </a:xfrm>
            <a:prstGeom prst="chevron">
              <a:avLst/>
            </a:prstGeom>
            <a:solidFill>
              <a:srgbClr val="1E27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R">
                <a:solidFill>
                  <a:schemeClr val="tx1"/>
                </a:solidFill>
              </a:endParaRPr>
            </a:p>
          </p:txBody>
        </p:sp>
        <p:sp>
          <p:nvSpPr>
            <p:cNvPr id="17" name="Chevron 7">
              <a:extLst>
                <a:ext uri="{FF2B5EF4-FFF2-40B4-BE49-F238E27FC236}">
                  <a16:creationId xmlns:a16="http://schemas.microsoft.com/office/drawing/2014/main" id="{BE8B3E29-4BBE-B904-ECA8-2AA5CBFF3A33}"/>
                </a:ext>
              </a:extLst>
            </p:cNvPr>
            <p:cNvSpPr/>
            <p:nvPr/>
          </p:nvSpPr>
          <p:spPr>
            <a:xfrm rot="10800000">
              <a:off x="5731496" y="3644972"/>
              <a:ext cx="450781" cy="286588"/>
            </a:xfrm>
            <a:prstGeom prst="chevron">
              <a:avLst/>
            </a:prstGeom>
            <a:solidFill>
              <a:srgbClr val="1E27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R">
                <a:solidFill>
                  <a:schemeClr val="tx1"/>
                </a:solidFill>
              </a:endParaRPr>
            </a:p>
          </p:txBody>
        </p:sp>
        <p:sp>
          <p:nvSpPr>
            <p:cNvPr id="19" name="Chevron 8">
              <a:extLst>
                <a:ext uri="{FF2B5EF4-FFF2-40B4-BE49-F238E27FC236}">
                  <a16:creationId xmlns:a16="http://schemas.microsoft.com/office/drawing/2014/main" id="{02E9E9FB-2468-F4C6-0DD9-0C1D0EFA8399}"/>
                </a:ext>
              </a:extLst>
            </p:cNvPr>
            <p:cNvSpPr/>
            <p:nvPr/>
          </p:nvSpPr>
          <p:spPr>
            <a:xfrm rot="10800000">
              <a:off x="6061779" y="3644972"/>
              <a:ext cx="450781" cy="286588"/>
            </a:xfrm>
            <a:prstGeom prst="chevron">
              <a:avLst/>
            </a:prstGeom>
            <a:solidFill>
              <a:srgbClr val="1E27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R">
                <a:solidFill>
                  <a:schemeClr val="tx1"/>
                </a:solidFill>
              </a:endParaRPr>
            </a:p>
          </p:txBody>
        </p:sp>
      </p:grpSp>
      <p:sp>
        <p:nvSpPr>
          <p:cNvPr id="21" name="TextBox 20">
            <a:extLst>
              <a:ext uri="{FF2B5EF4-FFF2-40B4-BE49-F238E27FC236}">
                <a16:creationId xmlns:a16="http://schemas.microsoft.com/office/drawing/2014/main" id="{C94FCE4D-6C07-87ED-E0F8-1825F1B8EB60}"/>
              </a:ext>
            </a:extLst>
          </p:cNvPr>
          <p:cNvSpPr txBox="1"/>
          <p:nvPr/>
        </p:nvSpPr>
        <p:spPr>
          <a:xfrm>
            <a:off x="437288" y="1170818"/>
            <a:ext cx="10806285" cy="400110"/>
          </a:xfrm>
          <a:prstGeom prst="rect">
            <a:avLst/>
          </a:prstGeom>
          <a:noFill/>
        </p:spPr>
        <p:txBody>
          <a:bodyPr wrap="square" rtlCol="0">
            <a:spAutoFit/>
          </a:bodyPr>
          <a:lstStyle/>
          <a:p>
            <a:pPr marL="0" algn="justLow" defTabSz="457200" rtl="1" eaLnBrk="1" latinLnBrk="0" hangingPunct="1"/>
            <a:r>
              <a:rPr lang="fa-IR" sz="1000" dirty="0">
                <a:solidFill>
                  <a:schemeClr val="tx1">
                    <a:lumMod val="75000"/>
                    <a:lumOff val="25000"/>
                  </a:schemeClr>
                </a:solidFill>
                <a:latin typeface="Yekan Bakh FaNum" pitchFamily="2" charset="-78"/>
                <a:cs typeface="Yekan Bakh FaNum" pitchFamily="2" charset="-78"/>
              </a:rPr>
              <a:t>ماشین سرمایه در </a:t>
            </a:r>
            <a:r>
              <a:rPr lang="fa-IR" sz="1000" dirty="0" err="1">
                <a:solidFill>
                  <a:schemeClr val="tx1">
                    <a:lumMod val="75000"/>
                    <a:lumOff val="25000"/>
                  </a:schemeClr>
                </a:solidFill>
                <a:latin typeface="Yekan Bakh FaNum" pitchFamily="2" charset="-78"/>
                <a:cs typeface="Yekan Bakh FaNum" pitchFamily="2" charset="-78"/>
              </a:rPr>
              <a:t>سال‌های</a:t>
            </a:r>
            <a:r>
              <a:rPr lang="fa-IR" sz="1000" dirty="0">
                <a:solidFill>
                  <a:schemeClr val="tx1">
                    <a:lumMod val="75000"/>
                    <a:lumOff val="25000"/>
                  </a:schemeClr>
                </a:solidFill>
                <a:latin typeface="Yekan Bakh FaNum" pitchFamily="2" charset="-78"/>
                <a:cs typeface="Yekan Bakh FaNum" pitchFamily="2" charset="-78"/>
              </a:rPr>
              <a:t> اخیر به این نتیجه رسیده است کسب درآمد از جنگ پرهزینه‌ شده و </a:t>
            </a:r>
            <a:r>
              <a:rPr lang="fa-IR" sz="1000" dirty="0" err="1">
                <a:solidFill>
                  <a:schemeClr val="tx1">
                    <a:lumMod val="75000"/>
                    <a:lumOff val="25000"/>
                  </a:schemeClr>
                </a:solidFill>
                <a:latin typeface="Yekan Bakh FaNum" pitchFamily="2" charset="-78"/>
                <a:cs typeface="Yekan Bakh FaNum" pitchFamily="2" charset="-78"/>
              </a:rPr>
              <a:t>بازیِ</a:t>
            </a:r>
            <a:r>
              <a:rPr lang="fa-IR" sz="1000" dirty="0">
                <a:solidFill>
                  <a:schemeClr val="tx1">
                    <a:lumMod val="75000"/>
                    <a:lumOff val="25000"/>
                  </a:schemeClr>
                </a:solidFill>
                <a:latin typeface="Yekan Bakh FaNum" pitchFamily="2" charset="-78"/>
                <a:cs typeface="Yekan Bakh FaNum" pitchFamily="2" charset="-78"/>
              </a:rPr>
              <a:t> </a:t>
            </a:r>
            <a:r>
              <a:rPr lang="fa-IR" sz="1000" dirty="0" err="1">
                <a:solidFill>
                  <a:schemeClr val="tx1">
                    <a:lumMod val="75000"/>
                    <a:lumOff val="25000"/>
                  </a:schemeClr>
                </a:solidFill>
                <a:latin typeface="Yekan Bakh FaNum" pitchFamily="2" charset="-78"/>
                <a:cs typeface="Yekan Bakh FaNum" pitchFamily="2" charset="-78"/>
              </a:rPr>
              <a:t>سودآورتری</a:t>
            </a:r>
            <a:r>
              <a:rPr lang="fa-IR" sz="1000" dirty="0">
                <a:solidFill>
                  <a:schemeClr val="tx1">
                    <a:lumMod val="75000"/>
                    <a:lumOff val="25000"/>
                  </a:schemeClr>
                </a:solidFill>
                <a:latin typeface="Yekan Bakh FaNum" pitchFamily="2" charset="-78"/>
                <a:cs typeface="Yekan Bakh FaNum" pitchFamily="2" charset="-78"/>
              </a:rPr>
              <a:t> از آن ظهور پیدا کرده است، یعنی </a:t>
            </a:r>
            <a:r>
              <a:rPr lang="fa-IR" sz="1000" b="1" dirty="0">
                <a:solidFill>
                  <a:schemeClr val="tx1">
                    <a:lumMod val="75000"/>
                    <a:lumOff val="25000"/>
                  </a:schemeClr>
                </a:solidFill>
                <a:latin typeface="Yekan Bakh FaNum" pitchFamily="2" charset="-78"/>
                <a:cs typeface="Yekan Bakh FaNum" pitchFamily="2" charset="-78"/>
              </a:rPr>
              <a:t>مالکیت و ساخت آخرین فناوری موردنیاز بشر (</a:t>
            </a:r>
            <a:r>
              <a:rPr lang="en-US" sz="1000" b="1" dirty="0">
                <a:solidFill>
                  <a:schemeClr val="tx1">
                    <a:lumMod val="75000"/>
                    <a:lumOff val="25000"/>
                  </a:schemeClr>
                </a:solidFill>
                <a:latin typeface="Yekan Bakh FaNum" pitchFamily="2" charset="-78"/>
                <a:cs typeface="Yekan Bakh FaNum" pitchFamily="2" charset="-78"/>
              </a:rPr>
              <a:t>TIC</a:t>
            </a:r>
            <a:r>
              <a:rPr lang="fa-IR" sz="1000" b="1" dirty="0">
                <a:solidFill>
                  <a:schemeClr val="tx1">
                    <a:lumMod val="75000"/>
                    <a:lumOff val="25000"/>
                  </a:schemeClr>
                </a:solidFill>
                <a:latin typeface="Yekan Bakh FaNum" pitchFamily="2" charset="-78"/>
                <a:cs typeface="Yekan Bakh FaNum" pitchFamily="2" charset="-78"/>
              </a:rPr>
              <a:t>).</a:t>
            </a:r>
          </a:p>
          <a:p>
            <a:pPr marL="0" algn="justLow" defTabSz="457200" rtl="1" eaLnBrk="1" latinLnBrk="0" hangingPunct="1"/>
            <a:r>
              <a:rPr lang="fa-IR" sz="1000" dirty="0">
                <a:solidFill>
                  <a:schemeClr val="tx1">
                    <a:lumMod val="75000"/>
                    <a:lumOff val="25000"/>
                  </a:schemeClr>
                </a:solidFill>
                <a:latin typeface="Yekan Bakh FaNum" pitchFamily="2" charset="-78"/>
                <a:cs typeface="Yekan Bakh FaNum" pitchFamily="2" charset="-78"/>
              </a:rPr>
              <a:t>سه واقعیت این فرضیه را محتمل تر نشان </a:t>
            </a:r>
            <a:r>
              <a:rPr lang="fa-IR" sz="1000" dirty="0" err="1">
                <a:solidFill>
                  <a:schemeClr val="tx1">
                    <a:lumMod val="75000"/>
                    <a:lumOff val="25000"/>
                  </a:schemeClr>
                </a:solidFill>
                <a:latin typeface="Yekan Bakh FaNum" pitchFamily="2" charset="-78"/>
                <a:cs typeface="Yekan Bakh FaNum" pitchFamily="2" charset="-78"/>
              </a:rPr>
              <a:t>می‌دهد</a:t>
            </a:r>
            <a:r>
              <a:rPr lang="fa-IR" sz="1000" dirty="0">
                <a:solidFill>
                  <a:schemeClr val="tx1">
                    <a:lumMod val="75000"/>
                    <a:lumOff val="25000"/>
                  </a:schemeClr>
                </a:solidFill>
                <a:latin typeface="Yekan Bakh FaNum" pitchFamily="2" charset="-78"/>
                <a:cs typeface="Yekan Bakh FaNum" pitchFamily="2" charset="-78"/>
              </a:rPr>
              <a:t> که </a:t>
            </a:r>
            <a:r>
              <a:rPr lang="fa-IR" sz="1000" dirty="0" err="1">
                <a:solidFill>
                  <a:schemeClr val="tx1">
                    <a:lumMod val="75000"/>
                    <a:lumOff val="25000"/>
                  </a:schemeClr>
                </a:solidFill>
                <a:latin typeface="Yekan Bakh FaNum" pitchFamily="2" charset="-78"/>
                <a:cs typeface="Yekan Bakh FaNum" pitchFamily="2" charset="-78"/>
              </a:rPr>
              <a:t>پول‌ها</a:t>
            </a:r>
            <a:r>
              <a:rPr lang="fa-IR" sz="1000" dirty="0">
                <a:solidFill>
                  <a:schemeClr val="tx1">
                    <a:lumMod val="75000"/>
                    <a:lumOff val="25000"/>
                  </a:schemeClr>
                </a:solidFill>
                <a:latin typeface="Yekan Bakh FaNum" pitchFamily="2" charset="-78"/>
                <a:cs typeface="Yekan Bakh FaNum" pitchFamily="2" charset="-78"/>
              </a:rPr>
              <a:t> در حال انتقال به زمین بازی جدید و </a:t>
            </a:r>
            <a:r>
              <a:rPr lang="fa-IR" sz="1000" dirty="0" err="1">
                <a:solidFill>
                  <a:schemeClr val="tx1">
                    <a:lumMod val="75000"/>
                    <a:lumOff val="25000"/>
                  </a:schemeClr>
                </a:solidFill>
                <a:latin typeface="Yekan Bakh FaNum" pitchFamily="2" charset="-78"/>
                <a:cs typeface="Yekan Bakh FaNum" pitchFamily="2" charset="-78"/>
              </a:rPr>
              <a:t>فاصله‌گیری</a:t>
            </a:r>
            <a:r>
              <a:rPr lang="fa-IR" sz="1000" dirty="0">
                <a:solidFill>
                  <a:schemeClr val="tx1">
                    <a:lumMod val="75000"/>
                    <a:lumOff val="25000"/>
                  </a:schemeClr>
                </a:solidFill>
                <a:latin typeface="Yekan Bakh FaNum" pitchFamily="2" charset="-78"/>
                <a:cs typeface="Yekan Bakh FaNum" pitchFamily="2" charset="-78"/>
              </a:rPr>
              <a:t> از </a:t>
            </a:r>
            <a:r>
              <a:rPr lang="fa-IR" sz="1000" dirty="0" err="1">
                <a:solidFill>
                  <a:schemeClr val="tx1">
                    <a:lumMod val="75000"/>
                    <a:lumOff val="25000"/>
                  </a:schemeClr>
                </a:solidFill>
                <a:latin typeface="Yekan Bakh FaNum" pitchFamily="2" charset="-78"/>
                <a:cs typeface="Yekan Bakh FaNum" pitchFamily="2" charset="-78"/>
              </a:rPr>
              <a:t>جنگِ</a:t>
            </a:r>
            <a:r>
              <a:rPr lang="fa-IR" sz="1000" dirty="0">
                <a:solidFill>
                  <a:schemeClr val="tx1">
                    <a:lumMod val="75000"/>
                    <a:lumOff val="25000"/>
                  </a:schemeClr>
                </a:solidFill>
                <a:latin typeface="Yekan Bakh FaNum" pitchFamily="2" charset="-78"/>
                <a:cs typeface="Yekan Bakh FaNum" pitchFamily="2" charset="-78"/>
              </a:rPr>
              <a:t> ابدی هستند:</a:t>
            </a:r>
            <a:r>
              <a:rPr lang="fa-IR" sz="1000" b="1" dirty="0">
                <a:solidFill>
                  <a:schemeClr val="tx1">
                    <a:lumMod val="75000"/>
                    <a:lumOff val="25000"/>
                  </a:schemeClr>
                </a:solidFill>
                <a:latin typeface="Yekan Bakh FaNum" pitchFamily="2" charset="-78"/>
                <a:cs typeface="Yekan Bakh FaNum" pitchFamily="2" charset="-78"/>
              </a:rPr>
              <a:t>  </a:t>
            </a:r>
          </a:p>
        </p:txBody>
      </p:sp>
      <p:grpSp>
        <p:nvGrpSpPr>
          <p:cNvPr id="46" name="Group 45">
            <a:extLst>
              <a:ext uri="{FF2B5EF4-FFF2-40B4-BE49-F238E27FC236}">
                <a16:creationId xmlns:a16="http://schemas.microsoft.com/office/drawing/2014/main" id="{52E375C7-C3F7-C507-E98C-39589ED8F648}"/>
              </a:ext>
            </a:extLst>
          </p:cNvPr>
          <p:cNvGrpSpPr/>
          <p:nvPr/>
        </p:nvGrpSpPr>
        <p:grpSpPr>
          <a:xfrm>
            <a:off x="8012074" y="1921479"/>
            <a:ext cx="2514294" cy="744865"/>
            <a:chOff x="8143506" y="1921479"/>
            <a:chExt cx="2915543" cy="744865"/>
          </a:xfrm>
        </p:grpSpPr>
        <p:sp>
          <p:nvSpPr>
            <p:cNvPr id="23" name="Rounded Rectangle 14">
              <a:extLst>
                <a:ext uri="{FF2B5EF4-FFF2-40B4-BE49-F238E27FC236}">
                  <a16:creationId xmlns:a16="http://schemas.microsoft.com/office/drawing/2014/main" id="{6BC9C2D4-0F6C-7113-C5B9-4195BF46116E}"/>
                </a:ext>
              </a:extLst>
            </p:cNvPr>
            <p:cNvSpPr/>
            <p:nvPr/>
          </p:nvSpPr>
          <p:spPr>
            <a:xfrm>
              <a:off x="8143507" y="1921479"/>
              <a:ext cx="2915542" cy="369333"/>
            </a:xfrm>
            <a:prstGeom prst="roundRect">
              <a:avLst>
                <a:gd name="adj" fmla="val 10569"/>
              </a:avLst>
            </a:prstGeom>
            <a:noFill/>
            <a:ln w="3175">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457200" rtl="1" eaLnBrk="1" latinLnBrk="0" hangingPunct="1"/>
              <a:r>
                <a:rPr lang="fa-IR" sz="1400" b="1" dirty="0">
                  <a:solidFill>
                    <a:schemeClr val="tx2">
                      <a:lumMod val="50000"/>
                    </a:schemeClr>
                  </a:solidFill>
                  <a:latin typeface="Yekan Bakh FaNum" pitchFamily="2" charset="-78"/>
                  <a:cs typeface="Yekan Bakh FaNum" pitchFamily="2" charset="-78"/>
                </a:rPr>
                <a:t>استراتژی خروج</a:t>
              </a:r>
              <a:endParaRPr lang="en-IR" sz="900" dirty="0">
                <a:solidFill>
                  <a:schemeClr val="tx1">
                    <a:lumMod val="50000"/>
                    <a:lumOff val="50000"/>
                  </a:schemeClr>
                </a:solidFill>
                <a:latin typeface="Yekan Bakh FaNum" pitchFamily="2" charset="-78"/>
                <a:cs typeface="Yekan Bakh FaNum" pitchFamily="2" charset="-78"/>
              </a:endParaRPr>
            </a:p>
          </p:txBody>
        </p:sp>
        <p:sp>
          <p:nvSpPr>
            <p:cNvPr id="25" name="TextBox 24">
              <a:extLst>
                <a:ext uri="{FF2B5EF4-FFF2-40B4-BE49-F238E27FC236}">
                  <a16:creationId xmlns:a16="http://schemas.microsoft.com/office/drawing/2014/main" id="{6628A60C-854A-1E49-B06C-FC8E90EC05F0}"/>
                </a:ext>
              </a:extLst>
            </p:cNvPr>
            <p:cNvSpPr txBox="1"/>
            <p:nvPr/>
          </p:nvSpPr>
          <p:spPr>
            <a:xfrm>
              <a:off x="8143506" y="2327790"/>
              <a:ext cx="2913641" cy="338554"/>
            </a:xfrm>
            <a:prstGeom prst="rect">
              <a:avLst/>
            </a:prstGeom>
            <a:noFill/>
          </p:spPr>
          <p:txBody>
            <a:bodyPr wrap="square" rtlCol="0">
              <a:spAutoFit/>
            </a:bodyPr>
            <a:lstStyle/>
            <a:p>
              <a:pPr marL="171450" indent="-171450" algn="r" defTabSz="457200" rtl="1" eaLnBrk="1" latinLnBrk="0" hangingPunct="1">
                <a:buFont typeface="Arial" panose="020B0604020202020204" pitchFamily="34" charset="0"/>
                <a:buChar char="•"/>
              </a:pPr>
              <a:r>
                <a:rPr lang="fa-IR" sz="800" dirty="0">
                  <a:solidFill>
                    <a:schemeClr val="tx1">
                      <a:lumMod val="50000"/>
                      <a:lumOff val="50000"/>
                    </a:schemeClr>
                  </a:solidFill>
                  <a:latin typeface="Yekan Bakh FaNum" pitchFamily="2" charset="-78"/>
                  <a:cs typeface="Yekan Bakh FaNum" pitchFamily="2" charset="-78"/>
                </a:rPr>
                <a:t>توجه و تلاش بسیار زیاد برای خروج از </a:t>
              </a:r>
              <a:r>
                <a:rPr lang="fa-IR" sz="800" dirty="0" err="1">
                  <a:solidFill>
                    <a:schemeClr val="tx1">
                      <a:lumMod val="50000"/>
                      <a:lumOff val="50000"/>
                    </a:schemeClr>
                  </a:solidFill>
                  <a:latin typeface="Yekan Bakh FaNum" pitchFamily="2" charset="-78"/>
                  <a:cs typeface="Yekan Bakh FaNum" pitchFamily="2" charset="-78"/>
                </a:rPr>
                <a:t>جنگ‌های</a:t>
              </a:r>
              <a:r>
                <a:rPr lang="fa-IR" sz="800" dirty="0">
                  <a:solidFill>
                    <a:schemeClr val="tx1">
                      <a:lumMod val="50000"/>
                      <a:lumOff val="50000"/>
                    </a:schemeClr>
                  </a:solidFill>
                  <a:latin typeface="Yekan Bakh FaNum" pitchFamily="2" charset="-78"/>
                  <a:cs typeface="Yekan Bakh FaNum" pitchFamily="2" charset="-78"/>
                </a:rPr>
                <a:t> متعدد </a:t>
              </a:r>
            </a:p>
            <a:p>
              <a:pPr marL="171450" indent="-171450" algn="r" defTabSz="457200" rtl="1" eaLnBrk="1" latinLnBrk="0" hangingPunct="1">
                <a:buFont typeface="Arial" panose="020B0604020202020204" pitchFamily="34" charset="0"/>
                <a:buChar char="•"/>
              </a:pPr>
              <a:r>
                <a:rPr lang="fa-IR" sz="800" dirty="0">
                  <a:solidFill>
                    <a:schemeClr val="tx1">
                      <a:lumMod val="50000"/>
                      <a:lumOff val="50000"/>
                    </a:schemeClr>
                  </a:solidFill>
                  <a:latin typeface="Yekan Bakh FaNum" pitchFamily="2" charset="-78"/>
                  <a:cs typeface="Yekan Bakh FaNum" pitchFamily="2" charset="-78"/>
                </a:rPr>
                <a:t>زدن ضربات نهایی برای تعیین تکلیف </a:t>
              </a:r>
              <a:r>
                <a:rPr lang="fa-IR" sz="800" dirty="0" err="1">
                  <a:solidFill>
                    <a:schemeClr val="tx1">
                      <a:lumMod val="50000"/>
                      <a:lumOff val="50000"/>
                    </a:schemeClr>
                  </a:solidFill>
                  <a:latin typeface="Yekan Bakh FaNum" pitchFamily="2" charset="-78"/>
                  <a:cs typeface="Yekan Bakh FaNum" pitchFamily="2" charset="-78"/>
                </a:rPr>
                <a:t>جنگ‌ها</a:t>
              </a:r>
              <a:endParaRPr lang="fa-IR" sz="800" dirty="0">
                <a:solidFill>
                  <a:schemeClr val="tx1">
                    <a:lumMod val="50000"/>
                    <a:lumOff val="50000"/>
                  </a:schemeClr>
                </a:solidFill>
                <a:latin typeface="Yekan Bakh FaNum" pitchFamily="2" charset="-78"/>
                <a:cs typeface="Yekan Bakh FaNum" pitchFamily="2" charset="-78"/>
              </a:endParaRPr>
            </a:p>
          </p:txBody>
        </p:sp>
      </p:grpSp>
      <p:grpSp>
        <p:nvGrpSpPr>
          <p:cNvPr id="45" name="Group 44">
            <a:extLst>
              <a:ext uri="{FF2B5EF4-FFF2-40B4-BE49-F238E27FC236}">
                <a16:creationId xmlns:a16="http://schemas.microsoft.com/office/drawing/2014/main" id="{647020F2-1C33-8DAD-35E6-AE93F40B30DC}"/>
              </a:ext>
            </a:extLst>
          </p:cNvPr>
          <p:cNvGrpSpPr/>
          <p:nvPr/>
        </p:nvGrpSpPr>
        <p:grpSpPr>
          <a:xfrm>
            <a:off x="4571532" y="1921479"/>
            <a:ext cx="2515115" cy="991086"/>
            <a:chOff x="4392802" y="1921479"/>
            <a:chExt cx="2916495" cy="991086"/>
          </a:xfrm>
        </p:grpSpPr>
        <p:sp>
          <p:nvSpPr>
            <p:cNvPr id="27" name="Rounded Rectangle 16">
              <a:extLst>
                <a:ext uri="{FF2B5EF4-FFF2-40B4-BE49-F238E27FC236}">
                  <a16:creationId xmlns:a16="http://schemas.microsoft.com/office/drawing/2014/main" id="{EEF83E65-43BB-1298-C4FF-EE6E930B8E18}"/>
                </a:ext>
              </a:extLst>
            </p:cNvPr>
            <p:cNvSpPr/>
            <p:nvPr/>
          </p:nvSpPr>
          <p:spPr>
            <a:xfrm>
              <a:off x="4393755" y="1921479"/>
              <a:ext cx="2915542" cy="369333"/>
            </a:xfrm>
            <a:prstGeom prst="roundRect">
              <a:avLst>
                <a:gd name="adj" fmla="val 10569"/>
              </a:avLst>
            </a:prstGeom>
            <a:noFill/>
            <a:ln w="3175">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457200" rtl="1" eaLnBrk="1" latinLnBrk="0" hangingPunct="1"/>
              <a:r>
                <a:rPr lang="fa-IR" sz="1400" b="1" dirty="0">
                  <a:solidFill>
                    <a:schemeClr val="tx2">
                      <a:lumMod val="50000"/>
                    </a:schemeClr>
                  </a:solidFill>
                  <a:latin typeface="Yekan Bakh FaNum" pitchFamily="2" charset="-78"/>
                  <a:cs typeface="Yekan Bakh FaNum" pitchFamily="2" charset="-78"/>
                </a:rPr>
                <a:t>نمایندگان جنبش</a:t>
              </a:r>
              <a:endParaRPr lang="en-IR" sz="900" dirty="0">
                <a:solidFill>
                  <a:schemeClr val="tx1">
                    <a:lumMod val="50000"/>
                    <a:lumOff val="50000"/>
                  </a:schemeClr>
                </a:solidFill>
                <a:latin typeface="Yekan Bakh FaNum" pitchFamily="2" charset="-78"/>
                <a:cs typeface="Yekan Bakh FaNum" pitchFamily="2" charset="-78"/>
              </a:endParaRPr>
            </a:p>
          </p:txBody>
        </p:sp>
        <p:sp>
          <p:nvSpPr>
            <p:cNvPr id="29" name="TextBox 28">
              <a:extLst>
                <a:ext uri="{FF2B5EF4-FFF2-40B4-BE49-F238E27FC236}">
                  <a16:creationId xmlns:a16="http://schemas.microsoft.com/office/drawing/2014/main" id="{5AE63509-7BF1-728F-0C1F-D976241CC0EE}"/>
                </a:ext>
              </a:extLst>
            </p:cNvPr>
            <p:cNvSpPr txBox="1"/>
            <p:nvPr/>
          </p:nvSpPr>
          <p:spPr>
            <a:xfrm>
              <a:off x="4392802" y="2327790"/>
              <a:ext cx="2915542" cy="584775"/>
            </a:xfrm>
            <a:prstGeom prst="rect">
              <a:avLst/>
            </a:prstGeom>
            <a:noFill/>
          </p:spPr>
          <p:txBody>
            <a:bodyPr wrap="square" rtlCol="0">
              <a:spAutoFit/>
            </a:bodyPr>
            <a:lstStyle/>
            <a:p>
              <a:pPr marL="171450" indent="-171450" algn="r" defTabSz="457200" rtl="1" eaLnBrk="1" latinLnBrk="0" hangingPunct="1">
                <a:buFont typeface="Arial" panose="020B0604020202020204" pitchFamily="34" charset="0"/>
                <a:buChar char="•"/>
              </a:pPr>
              <a:r>
                <a:rPr lang="fa-IR" sz="800" dirty="0">
                  <a:solidFill>
                    <a:schemeClr val="tx1">
                      <a:lumMod val="50000"/>
                      <a:lumOff val="50000"/>
                    </a:schemeClr>
                  </a:solidFill>
                  <a:latin typeface="Yekan Bakh FaNum" pitchFamily="2" charset="-78"/>
                  <a:cs typeface="Yekan Bakh FaNum" pitchFamily="2" charset="-78"/>
                </a:rPr>
                <a:t>دونالد </a:t>
              </a:r>
              <a:r>
                <a:rPr lang="fa-IR" sz="800" dirty="0" err="1">
                  <a:solidFill>
                    <a:schemeClr val="tx1">
                      <a:lumMod val="50000"/>
                      <a:lumOff val="50000"/>
                    </a:schemeClr>
                  </a:solidFill>
                  <a:latin typeface="Yekan Bakh FaNum" pitchFamily="2" charset="-78"/>
                  <a:cs typeface="Yekan Bakh FaNum" pitchFamily="2" charset="-78"/>
                </a:rPr>
                <a:t>ترامپ</a:t>
              </a:r>
              <a:r>
                <a:rPr lang="fa-IR" sz="800" dirty="0">
                  <a:solidFill>
                    <a:schemeClr val="tx1">
                      <a:lumMod val="50000"/>
                      <a:lumOff val="50000"/>
                    </a:schemeClr>
                  </a:solidFill>
                  <a:latin typeface="Yekan Bakh FaNum" pitchFamily="2" charset="-78"/>
                  <a:cs typeface="Yekan Bakh FaNum" pitchFamily="2" charset="-78"/>
                </a:rPr>
                <a:t> (</a:t>
              </a:r>
              <a:r>
                <a:rPr lang="fa-IR" sz="800" dirty="0" err="1">
                  <a:solidFill>
                    <a:schemeClr val="tx1">
                      <a:lumMod val="50000"/>
                      <a:lumOff val="50000"/>
                    </a:schemeClr>
                  </a:solidFill>
                  <a:latin typeface="Yekan Bakh FaNum" pitchFamily="2" charset="-78"/>
                  <a:cs typeface="Yekan Bakh FaNum" pitchFamily="2" charset="-78"/>
                </a:rPr>
                <a:t>سرمایه‌گذاری</a:t>
              </a:r>
              <a:r>
                <a:rPr lang="fa-IR" sz="800" dirty="0">
                  <a:solidFill>
                    <a:schemeClr val="tx1">
                      <a:lumMod val="50000"/>
                      <a:lumOff val="50000"/>
                    </a:schemeClr>
                  </a:solidFill>
                  <a:latin typeface="Yekan Bakh FaNum" pitchFamily="2" charset="-78"/>
                  <a:cs typeface="Yekan Bakh FaNum" pitchFamily="2" charset="-78"/>
                </a:rPr>
                <a:t> </a:t>
              </a:r>
              <a:r>
                <a:rPr lang="fa-IR" sz="800" dirty="0" err="1">
                  <a:solidFill>
                    <a:schemeClr val="tx1">
                      <a:lumMod val="50000"/>
                      <a:lumOff val="50000"/>
                    </a:schemeClr>
                  </a:solidFill>
                  <a:latin typeface="Yekan Bakh FaNum" pitchFamily="2" charset="-78"/>
                  <a:cs typeface="Yekan Bakh FaNum" pitchFamily="2" charset="-78"/>
                </a:rPr>
                <a:t>ایلان</a:t>
              </a:r>
              <a:r>
                <a:rPr lang="fa-IR" sz="800" dirty="0">
                  <a:solidFill>
                    <a:schemeClr val="tx1">
                      <a:lumMod val="50000"/>
                      <a:lumOff val="50000"/>
                    </a:schemeClr>
                  </a:solidFill>
                  <a:latin typeface="Yekan Bakh FaNum" pitchFamily="2" charset="-78"/>
                  <a:cs typeface="Yekan Bakh FaNum" pitchFamily="2" charset="-78"/>
                </a:rPr>
                <a:t> ماسک برای </a:t>
              </a:r>
              <a:r>
                <a:rPr lang="fa-IR" sz="800" dirty="0" err="1">
                  <a:solidFill>
                    <a:schemeClr val="tx1">
                      <a:lumMod val="50000"/>
                      <a:lumOff val="50000"/>
                    </a:schemeClr>
                  </a:solidFill>
                  <a:latin typeface="Yekan Bakh FaNum" pitchFamily="2" charset="-78"/>
                  <a:cs typeface="Yekan Bakh FaNum" pitchFamily="2" charset="-78"/>
                </a:rPr>
                <a:t>رای‌دهی</a:t>
              </a:r>
              <a:r>
                <a:rPr lang="fa-IR" sz="800" dirty="0">
                  <a:solidFill>
                    <a:schemeClr val="tx1">
                      <a:lumMod val="50000"/>
                      <a:lumOff val="50000"/>
                    </a:schemeClr>
                  </a:solidFill>
                  <a:latin typeface="Yekan Bakh FaNum" pitchFamily="2" charset="-78"/>
                  <a:cs typeface="Yekan Bakh FaNum" pitchFamily="2" charset="-78"/>
                </a:rPr>
                <a:t> به </a:t>
              </a:r>
              <a:r>
                <a:rPr lang="fa-IR" sz="800" dirty="0" err="1">
                  <a:solidFill>
                    <a:schemeClr val="tx1">
                      <a:lumMod val="50000"/>
                      <a:lumOff val="50000"/>
                    </a:schemeClr>
                  </a:solidFill>
                  <a:latin typeface="Yekan Bakh FaNum" pitchFamily="2" charset="-78"/>
                  <a:cs typeface="Yekan Bakh FaNum" pitchFamily="2" charset="-78"/>
                </a:rPr>
                <a:t>ترامپ</a:t>
              </a:r>
              <a:r>
                <a:rPr lang="fa-IR" sz="800" dirty="0">
                  <a:solidFill>
                    <a:schemeClr val="tx1">
                      <a:lumMod val="50000"/>
                      <a:lumOff val="50000"/>
                    </a:schemeClr>
                  </a:solidFill>
                  <a:latin typeface="Yekan Bakh FaNum" pitchFamily="2" charset="-78"/>
                  <a:cs typeface="Yekan Bakh FaNum" pitchFamily="2" charset="-78"/>
                </a:rPr>
                <a:t>)</a:t>
              </a:r>
            </a:p>
            <a:p>
              <a:pPr marL="171450" indent="-171450" algn="r" defTabSz="457200" rtl="1" eaLnBrk="1" latinLnBrk="0" hangingPunct="1">
                <a:buFont typeface="Arial" panose="020B0604020202020204" pitchFamily="34" charset="0"/>
                <a:buChar char="•"/>
              </a:pPr>
              <a:r>
                <a:rPr lang="fa-IR" sz="800" dirty="0" err="1">
                  <a:solidFill>
                    <a:schemeClr val="tx1">
                      <a:lumMod val="50000"/>
                      <a:lumOff val="50000"/>
                    </a:schemeClr>
                  </a:solidFill>
                  <a:latin typeface="Yekan Bakh FaNum" pitchFamily="2" charset="-78"/>
                  <a:cs typeface="Yekan Bakh FaNum" pitchFamily="2" charset="-78"/>
                </a:rPr>
                <a:t>جی‌.دی</a:t>
              </a:r>
              <a:r>
                <a:rPr lang="fa-IR" sz="800" dirty="0">
                  <a:solidFill>
                    <a:schemeClr val="tx1">
                      <a:lumMod val="50000"/>
                      <a:lumOff val="50000"/>
                    </a:schemeClr>
                  </a:solidFill>
                  <a:latin typeface="Yekan Bakh FaNum" pitchFamily="2" charset="-78"/>
                  <a:cs typeface="Yekan Bakh FaNum" pitchFamily="2" charset="-78"/>
                </a:rPr>
                <a:t>‌ </a:t>
              </a:r>
              <a:r>
                <a:rPr lang="fa-IR" sz="800" dirty="0" err="1">
                  <a:solidFill>
                    <a:schemeClr val="tx1">
                      <a:lumMod val="50000"/>
                      <a:lumOff val="50000"/>
                    </a:schemeClr>
                  </a:solidFill>
                  <a:latin typeface="Yekan Bakh FaNum" pitchFamily="2" charset="-78"/>
                  <a:cs typeface="Yekan Bakh FaNum" pitchFamily="2" charset="-78"/>
                </a:rPr>
                <a:t>ونس</a:t>
              </a:r>
              <a:r>
                <a:rPr lang="fa-IR" sz="800" dirty="0">
                  <a:solidFill>
                    <a:schemeClr val="tx1">
                      <a:lumMod val="50000"/>
                      <a:lumOff val="50000"/>
                    </a:schemeClr>
                  </a:solidFill>
                  <a:latin typeface="Yekan Bakh FaNum" pitchFamily="2" charset="-78"/>
                  <a:cs typeface="Yekan Bakh FaNum" pitchFamily="2" charset="-78"/>
                </a:rPr>
                <a:t> (</a:t>
              </a:r>
              <a:r>
                <a:rPr lang="fa-IR" sz="800" dirty="0" err="1">
                  <a:solidFill>
                    <a:schemeClr val="tx1">
                      <a:lumMod val="50000"/>
                      <a:lumOff val="50000"/>
                    </a:schemeClr>
                  </a:solidFill>
                  <a:latin typeface="Yekan Bakh FaNum" pitchFamily="2" charset="-78"/>
                  <a:cs typeface="Yekan Bakh FaNum" pitchFamily="2" charset="-78"/>
                </a:rPr>
                <a:t>سرمایه‌گذاری</a:t>
              </a:r>
              <a:r>
                <a:rPr lang="fa-IR" sz="800" dirty="0">
                  <a:solidFill>
                    <a:schemeClr val="tx1">
                      <a:lumMod val="50000"/>
                      <a:lumOff val="50000"/>
                    </a:schemeClr>
                  </a:solidFill>
                  <a:latin typeface="Yekan Bakh FaNum" pitchFamily="2" charset="-78"/>
                  <a:cs typeface="Yekan Bakh FaNum" pitchFamily="2" charset="-78"/>
                </a:rPr>
                <a:t> پیتر </a:t>
              </a:r>
              <a:r>
                <a:rPr lang="fa-IR" sz="800" dirty="0" err="1">
                  <a:solidFill>
                    <a:schemeClr val="tx1">
                      <a:lumMod val="50000"/>
                      <a:lumOff val="50000"/>
                    </a:schemeClr>
                  </a:solidFill>
                  <a:latin typeface="Yekan Bakh FaNum" pitchFamily="2" charset="-78"/>
                  <a:cs typeface="Yekan Bakh FaNum" pitchFamily="2" charset="-78"/>
                </a:rPr>
                <a:t>تیلز</a:t>
              </a:r>
              <a:r>
                <a:rPr lang="fa-IR" sz="800" dirty="0">
                  <a:solidFill>
                    <a:schemeClr val="tx1">
                      <a:lumMod val="50000"/>
                      <a:lumOff val="50000"/>
                    </a:schemeClr>
                  </a:solidFill>
                  <a:latin typeface="Yekan Bakh FaNum" pitchFamily="2" charset="-78"/>
                  <a:cs typeface="Yekan Bakh FaNum" pitchFamily="2" charset="-78"/>
                </a:rPr>
                <a:t> برای </a:t>
              </a:r>
              <a:r>
                <a:rPr lang="fa-IR" sz="800" dirty="0" err="1">
                  <a:solidFill>
                    <a:schemeClr val="tx1">
                      <a:lumMod val="50000"/>
                      <a:lumOff val="50000"/>
                    </a:schemeClr>
                  </a:solidFill>
                  <a:latin typeface="Yekan Bakh FaNum" pitchFamily="2" charset="-78"/>
                  <a:cs typeface="Yekan Bakh FaNum" pitchFamily="2" charset="-78"/>
                </a:rPr>
                <a:t>راه‌یابی</a:t>
              </a:r>
              <a:r>
                <a:rPr lang="fa-IR" sz="800" dirty="0">
                  <a:solidFill>
                    <a:schemeClr val="tx1">
                      <a:lumMod val="50000"/>
                      <a:lumOff val="50000"/>
                    </a:schemeClr>
                  </a:solidFill>
                  <a:latin typeface="Yekan Bakh FaNum" pitchFamily="2" charset="-78"/>
                  <a:cs typeface="Yekan Bakh FaNum" pitchFamily="2" charset="-78"/>
                </a:rPr>
                <a:t> او به کابینه ایالات متحده)</a:t>
              </a:r>
            </a:p>
          </p:txBody>
        </p:sp>
      </p:grpSp>
      <p:sp>
        <p:nvSpPr>
          <p:cNvPr id="31" name="Plus 18">
            <a:extLst>
              <a:ext uri="{FF2B5EF4-FFF2-40B4-BE49-F238E27FC236}">
                <a16:creationId xmlns:a16="http://schemas.microsoft.com/office/drawing/2014/main" id="{AEE6761E-1ADB-B2E6-E9A4-55611154C652}"/>
              </a:ext>
            </a:extLst>
          </p:cNvPr>
          <p:cNvSpPr/>
          <p:nvPr/>
        </p:nvSpPr>
        <p:spPr>
          <a:xfrm>
            <a:off x="7367446" y="1921480"/>
            <a:ext cx="363828" cy="369332"/>
          </a:xfrm>
          <a:prstGeom prst="mathPlus">
            <a:avLst/>
          </a:prstGeom>
          <a:solidFill>
            <a:srgbClr val="F0BE0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457200" rtl="1" eaLnBrk="1" latinLnBrk="0" hangingPunct="1"/>
            <a:endParaRPr lang="en-IR"/>
          </a:p>
        </p:txBody>
      </p:sp>
      <p:grpSp>
        <p:nvGrpSpPr>
          <p:cNvPr id="44" name="Group 43">
            <a:extLst>
              <a:ext uri="{FF2B5EF4-FFF2-40B4-BE49-F238E27FC236}">
                <a16:creationId xmlns:a16="http://schemas.microsoft.com/office/drawing/2014/main" id="{3F9F7E79-D430-760B-AD36-5675BD6527C9}"/>
              </a:ext>
            </a:extLst>
          </p:cNvPr>
          <p:cNvGrpSpPr/>
          <p:nvPr/>
        </p:nvGrpSpPr>
        <p:grpSpPr>
          <a:xfrm>
            <a:off x="1130172" y="1921479"/>
            <a:ext cx="2515934" cy="867976"/>
            <a:chOff x="642098" y="1921479"/>
            <a:chExt cx="2917445" cy="867976"/>
          </a:xfrm>
        </p:grpSpPr>
        <p:sp>
          <p:nvSpPr>
            <p:cNvPr id="33" name="Rounded Rectangle 19">
              <a:extLst>
                <a:ext uri="{FF2B5EF4-FFF2-40B4-BE49-F238E27FC236}">
                  <a16:creationId xmlns:a16="http://schemas.microsoft.com/office/drawing/2014/main" id="{12703F87-4639-C717-5908-BEB147259BA2}"/>
                </a:ext>
              </a:extLst>
            </p:cNvPr>
            <p:cNvSpPr/>
            <p:nvPr/>
          </p:nvSpPr>
          <p:spPr>
            <a:xfrm>
              <a:off x="644001" y="1921479"/>
              <a:ext cx="2915542" cy="369333"/>
            </a:xfrm>
            <a:prstGeom prst="roundRect">
              <a:avLst>
                <a:gd name="adj" fmla="val 10569"/>
              </a:avLst>
            </a:prstGeom>
            <a:noFill/>
            <a:ln w="3175">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457200" rtl="1" eaLnBrk="1" latinLnBrk="0" hangingPunct="1"/>
              <a:r>
                <a:rPr lang="fa-IR" sz="1400" b="1" dirty="0">
                  <a:solidFill>
                    <a:schemeClr val="tx2">
                      <a:lumMod val="50000"/>
                    </a:schemeClr>
                  </a:solidFill>
                  <a:latin typeface="Yekan Bakh FaNum" pitchFamily="2" charset="-78"/>
                  <a:cs typeface="Yekan Bakh FaNum" pitchFamily="2" charset="-78"/>
                </a:rPr>
                <a:t>روایت</a:t>
              </a:r>
              <a:endParaRPr lang="en-IR" sz="900" dirty="0">
                <a:solidFill>
                  <a:schemeClr val="tx1">
                    <a:lumMod val="50000"/>
                    <a:lumOff val="50000"/>
                  </a:schemeClr>
                </a:solidFill>
                <a:latin typeface="Yekan Bakh FaNum" pitchFamily="2" charset="-78"/>
                <a:cs typeface="Yekan Bakh FaNum" pitchFamily="2" charset="-78"/>
              </a:endParaRPr>
            </a:p>
          </p:txBody>
        </p:sp>
        <p:sp>
          <p:nvSpPr>
            <p:cNvPr id="35" name="TextBox 34">
              <a:extLst>
                <a:ext uri="{FF2B5EF4-FFF2-40B4-BE49-F238E27FC236}">
                  <a16:creationId xmlns:a16="http://schemas.microsoft.com/office/drawing/2014/main" id="{FC2A7889-8831-B72F-7FED-80C15F113383}"/>
                </a:ext>
              </a:extLst>
            </p:cNvPr>
            <p:cNvSpPr txBox="1"/>
            <p:nvPr/>
          </p:nvSpPr>
          <p:spPr>
            <a:xfrm>
              <a:off x="642098" y="2327790"/>
              <a:ext cx="2915542" cy="461665"/>
            </a:xfrm>
            <a:prstGeom prst="rect">
              <a:avLst/>
            </a:prstGeom>
            <a:noFill/>
          </p:spPr>
          <p:txBody>
            <a:bodyPr wrap="square" rtlCol="0">
              <a:spAutoFit/>
            </a:bodyPr>
            <a:lstStyle/>
            <a:p>
              <a:pPr marL="171450" indent="-171450" algn="r" rtl="1">
                <a:buFont typeface="Arial" panose="020B0604020202020204" pitchFamily="34" charset="0"/>
                <a:buChar char="•"/>
              </a:pPr>
              <a:r>
                <a:rPr lang="fa-IR" sz="800" dirty="0">
                  <a:solidFill>
                    <a:schemeClr val="tx1">
                      <a:lumMod val="50000"/>
                      <a:lumOff val="50000"/>
                    </a:schemeClr>
                  </a:solidFill>
                  <a:latin typeface="Yekan Bakh FaNum" pitchFamily="2" charset="-78"/>
                  <a:cs typeface="Yekan Bakh FaNum" pitchFamily="2" charset="-78"/>
                </a:rPr>
                <a:t>رواج یافتن فرهنگ عمومی انتقاد از تحرکات </a:t>
              </a:r>
              <a:r>
                <a:rPr lang="fa-IR" sz="800" dirty="0" err="1">
                  <a:solidFill>
                    <a:schemeClr val="tx1">
                      <a:lumMod val="50000"/>
                      <a:lumOff val="50000"/>
                    </a:schemeClr>
                  </a:solidFill>
                  <a:latin typeface="Yekan Bakh FaNum" pitchFamily="2" charset="-78"/>
                  <a:cs typeface="Yekan Bakh FaNum" pitchFamily="2" charset="-78"/>
                </a:rPr>
                <a:t>جنگ‌ستیز</a:t>
              </a:r>
              <a:r>
                <a:rPr lang="fa-IR" sz="800" dirty="0">
                  <a:solidFill>
                    <a:schemeClr val="tx1">
                      <a:lumMod val="50000"/>
                      <a:lumOff val="50000"/>
                    </a:schemeClr>
                  </a:solidFill>
                  <a:latin typeface="Yekan Bakh FaNum" pitchFamily="2" charset="-78"/>
                  <a:cs typeface="Yekan Bakh FaNum" pitchFamily="2" charset="-78"/>
                </a:rPr>
                <a:t> اسرائیل</a:t>
              </a:r>
            </a:p>
            <a:p>
              <a:pPr marL="171450" indent="-171450" algn="r" rtl="1">
                <a:buFont typeface="Arial" panose="020B0604020202020204" pitchFamily="34" charset="0"/>
                <a:buChar char="•"/>
              </a:pPr>
              <a:r>
                <a:rPr lang="fa-IR" sz="800" dirty="0">
                  <a:solidFill>
                    <a:schemeClr val="tx1">
                      <a:lumMod val="50000"/>
                      <a:lumOff val="50000"/>
                    </a:schemeClr>
                  </a:solidFill>
                  <a:latin typeface="Yekan Bakh FaNum" pitchFamily="2" charset="-78"/>
                  <a:cs typeface="Yekan Bakh FaNum" pitchFamily="2" charset="-78"/>
                </a:rPr>
                <a:t>رواج یافتن فرهنگ صلح در ایالات متحده</a:t>
              </a:r>
            </a:p>
          </p:txBody>
        </p:sp>
      </p:grpSp>
      <p:sp>
        <p:nvSpPr>
          <p:cNvPr id="37" name="Plus 21">
            <a:extLst>
              <a:ext uri="{FF2B5EF4-FFF2-40B4-BE49-F238E27FC236}">
                <a16:creationId xmlns:a16="http://schemas.microsoft.com/office/drawing/2014/main" id="{3B582E4D-23CE-0C0E-D606-A13DBBB92484}"/>
              </a:ext>
            </a:extLst>
          </p:cNvPr>
          <p:cNvSpPr/>
          <p:nvPr/>
        </p:nvSpPr>
        <p:spPr>
          <a:xfrm>
            <a:off x="3926905" y="1921479"/>
            <a:ext cx="363828" cy="369332"/>
          </a:xfrm>
          <a:prstGeom prst="mathPlus">
            <a:avLst/>
          </a:prstGeom>
          <a:solidFill>
            <a:srgbClr val="F0BE0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457200" rtl="1" eaLnBrk="1" latinLnBrk="0" hangingPunct="1"/>
            <a:endParaRPr lang="en-IR"/>
          </a:p>
        </p:txBody>
      </p:sp>
      <p:sp>
        <p:nvSpPr>
          <p:cNvPr id="39" name="Triangle 22">
            <a:extLst>
              <a:ext uri="{FF2B5EF4-FFF2-40B4-BE49-F238E27FC236}">
                <a16:creationId xmlns:a16="http://schemas.microsoft.com/office/drawing/2014/main" id="{9EA93A61-3B8B-5C6E-A830-0E4352BAB460}"/>
              </a:ext>
            </a:extLst>
          </p:cNvPr>
          <p:cNvSpPr/>
          <p:nvPr/>
        </p:nvSpPr>
        <p:spPr>
          <a:xfrm rot="10800000">
            <a:off x="1128531" y="2915062"/>
            <a:ext cx="9396196" cy="484632"/>
          </a:xfrm>
          <a:prstGeom prst="triangle">
            <a:avLst/>
          </a:prstGeom>
          <a:solidFill>
            <a:srgbClr val="F0BE0F">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457200" rtl="1" eaLnBrk="1" latinLnBrk="0" hangingPunct="1"/>
            <a:endParaRPr lang="en-IR"/>
          </a:p>
        </p:txBody>
      </p:sp>
      <p:sp>
        <p:nvSpPr>
          <p:cNvPr id="41" name="TextBox 40">
            <a:extLst>
              <a:ext uri="{FF2B5EF4-FFF2-40B4-BE49-F238E27FC236}">
                <a16:creationId xmlns:a16="http://schemas.microsoft.com/office/drawing/2014/main" id="{3484F391-38DB-228A-FF62-29B527C46218}"/>
              </a:ext>
            </a:extLst>
          </p:cNvPr>
          <p:cNvSpPr txBox="1"/>
          <p:nvPr/>
        </p:nvSpPr>
        <p:spPr>
          <a:xfrm>
            <a:off x="3327814" y="2951604"/>
            <a:ext cx="5066675" cy="400110"/>
          </a:xfrm>
          <a:prstGeom prst="rect">
            <a:avLst/>
          </a:prstGeom>
          <a:noFill/>
        </p:spPr>
        <p:txBody>
          <a:bodyPr wrap="square" rtlCol="0">
            <a:spAutoFit/>
          </a:bodyPr>
          <a:lstStyle/>
          <a:p>
            <a:pPr marL="0" algn="ctr" defTabSz="457200" rtl="1" eaLnBrk="1" latinLnBrk="0" hangingPunct="1"/>
            <a:r>
              <a:rPr lang="fa-IR" sz="1000" dirty="0">
                <a:solidFill>
                  <a:schemeClr val="tx1">
                    <a:lumMod val="75000"/>
                    <a:lumOff val="25000"/>
                  </a:schemeClr>
                </a:solidFill>
                <a:latin typeface="Yekan Bakh FaNum" pitchFamily="2" charset="-78"/>
                <a:cs typeface="Yekan Bakh FaNum" pitchFamily="2" charset="-78"/>
              </a:rPr>
              <a:t>انتقال پول از جنگ به ساخت فناوری، نیاز به یک استراتژی کاملا </a:t>
            </a:r>
            <a:r>
              <a:rPr lang="fa-IR" sz="1000" dirty="0" err="1">
                <a:solidFill>
                  <a:schemeClr val="tx1">
                    <a:lumMod val="75000"/>
                    <a:lumOff val="25000"/>
                  </a:schemeClr>
                </a:solidFill>
                <a:latin typeface="Yekan Bakh FaNum" pitchFamily="2" charset="-78"/>
                <a:cs typeface="Yekan Bakh FaNum" pitchFamily="2" charset="-78"/>
              </a:rPr>
              <a:t>منتاقض</a:t>
            </a:r>
            <a:r>
              <a:rPr lang="fa-IR" sz="1000" dirty="0">
                <a:solidFill>
                  <a:schemeClr val="tx1">
                    <a:lumMod val="75000"/>
                    <a:lumOff val="25000"/>
                  </a:schemeClr>
                </a:solidFill>
                <a:latin typeface="Yekan Bakh FaNum" pitchFamily="2" charset="-78"/>
                <a:cs typeface="Yekan Bakh FaNum" pitchFamily="2" charset="-78"/>
              </a:rPr>
              <a:t> یعنی </a:t>
            </a:r>
            <a:r>
              <a:rPr lang="fa-IR" sz="1000" b="1" dirty="0">
                <a:solidFill>
                  <a:schemeClr val="tx1">
                    <a:lumMod val="75000"/>
                    <a:lumOff val="25000"/>
                  </a:schemeClr>
                </a:solidFill>
                <a:latin typeface="Yekan Bakh FaNum" pitchFamily="2" charset="-78"/>
                <a:cs typeface="Yekan Bakh FaNum" pitchFamily="2" charset="-78"/>
              </a:rPr>
              <a:t>همیشه در صلح (</a:t>
            </a:r>
            <a:r>
              <a:rPr lang="en-US" sz="1000" b="1" dirty="0">
                <a:solidFill>
                  <a:schemeClr val="tx1">
                    <a:lumMod val="75000"/>
                    <a:lumOff val="25000"/>
                  </a:schemeClr>
                </a:solidFill>
                <a:latin typeface="Yekan Bakh FaNum" pitchFamily="2" charset="-78"/>
                <a:cs typeface="Yekan Bakh FaNum" pitchFamily="2" charset="-78"/>
              </a:rPr>
              <a:t>Always on Peace</a:t>
            </a:r>
            <a:r>
              <a:rPr lang="fa-IR" sz="1000" b="1" dirty="0">
                <a:solidFill>
                  <a:schemeClr val="tx1">
                    <a:lumMod val="75000"/>
                    <a:lumOff val="25000"/>
                  </a:schemeClr>
                </a:solidFill>
                <a:latin typeface="Yekan Bakh FaNum" pitchFamily="2" charset="-78"/>
                <a:cs typeface="Yekan Bakh FaNum" pitchFamily="2" charset="-78"/>
              </a:rPr>
              <a:t>) </a:t>
            </a:r>
            <a:r>
              <a:rPr lang="fa-IR" sz="1000" dirty="0">
                <a:solidFill>
                  <a:schemeClr val="tx1">
                    <a:lumMod val="75000"/>
                    <a:lumOff val="25000"/>
                  </a:schemeClr>
                </a:solidFill>
                <a:latin typeface="Yekan Bakh FaNum" pitchFamily="2" charset="-78"/>
                <a:cs typeface="Yekan Bakh FaNum" pitchFamily="2" charset="-78"/>
              </a:rPr>
              <a:t>دارد</a:t>
            </a:r>
            <a:endParaRPr lang="en-IR" sz="1000" dirty="0">
              <a:solidFill>
                <a:schemeClr val="tx1">
                  <a:lumMod val="75000"/>
                  <a:lumOff val="25000"/>
                </a:schemeClr>
              </a:solidFill>
              <a:latin typeface="Yekan Bakh FaNum" pitchFamily="2" charset="-78"/>
              <a:cs typeface="Yekan Bakh FaNum" pitchFamily="2" charset="-78"/>
            </a:endParaRPr>
          </a:p>
        </p:txBody>
      </p:sp>
    </p:spTree>
    <p:extLst>
      <p:ext uri="{BB962C8B-B14F-4D97-AF65-F5344CB8AC3E}">
        <p14:creationId xmlns:p14="http://schemas.microsoft.com/office/powerpoint/2010/main" val="11877769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61A65D3-FB5D-CB69-1709-0684BBEB9809}"/>
              </a:ext>
            </a:extLst>
          </p:cNvPr>
          <p:cNvSpPr>
            <a:spLocks noGrp="1"/>
          </p:cNvSpPr>
          <p:nvPr>
            <p:ph type="body" sz="quarter" idx="10"/>
          </p:nvPr>
        </p:nvSpPr>
        <p:spPr/>
        <p:txBody>
          <a:bodyPr/>
          <a:lstStyle/>
          <a:p>
            <a:endParaRPr lang="en-GB"/>
          </a:p>
        </p:txBody>
      </p:sp>
      <p:sp>
        <p:nvSpPr>
          <p:cNvPr id="3" name="Text Placeholder 2">
            <a:extLst>
              <a:ext uri="{FF2B5EF4-FFF2-40B4-BE49-F238E27FC236}">
                <a16:creationId xmlns:a16="http://schemas.microsoft.com/office/drawing/2014/main" id="{B3AB7E90-03BF-25DB-78F3-65554330B405}"/>
              </a:ext>
            </a:extLst>
          </p:cNvPr>
          <p:cNvSpPr>
            <a:spLocks noGrp="1"/>
          </p:cNvSpPr>
          <p:nvPr>
            <p:ph type="body" sz="quarter" idx="12"/>
          </p:nvPr>
        </p:nvSpPr>
        <p:spPr/>
        <p:txBody>
          <a:bodyPr/>
          <a:lstStyle/>
          <a:p>
            <a:r>
              <a:rPr lang="fa-IR" dirty="0"/>
              <a:t>ایران، حلقه مفقوده در زمین بازی جدید (مطلوبِ ماشین سرمایه)</a:t>
            </a:r>
          </a:p>
        </p:txBody>
      </p:sp>
      <p:grpSp>
        <p:nvGrpSpPr>
          <p:cNvPr id="36" name="Group 35">
            <a:extLst>
              <a:ext uri="{FF2B5EF4-FFF2-40B4-BE49-F238E27FC236}">
                <a16:creationId xmlns:a16="http://schemas.microsoft.com/office/drawing/2014/main" id="{D11C140B-689B-A316-56D7-FD49BF2C8B95}"/>
              </a:ext>
            </a:extLst>
          </p:cNvPr>
          <p:cNvGrpSpPr/>
          <p:nvPr/>
        </p:nvGrpSpPr>
        <p:grpSpPr>
          <a:xfrm>
            <a:off x="817188" y="1487277"/>
            <a:ext cx="10068674" cy="4223650"/>
            <a:chOff x="1137918" y="1487277"/>
            <a:chExt cx="10068674" cy="4223650"/>
          </a:xfrm>
        </p:grpSpPr>
        <p:grpSp>
          <p:nvGrpSpPr>
            <p:cNvPr id="35" name="Group 34">
              <a:extLst>
                <a:ext uri="{FF2B5EF4-FFF2-40B4-BE49-F238E27FC236}">
                  <a16:creationId xmlns:a16="http://schemas.microsoft.com/office/drawing/2014/main" id="{11537B08-0CE2-F678-CDE9-707720A76565}"/>
                </a:ext>
              </a:extLst>
            </p:cNvPr>
            <p:cNvGrpSpPr/>
            <p:nvPr/>
          </p:nvGrpSpPr>
          <p:grpSpPr>
            <a:xfrm>
              <a:off x="1217818" y="4840593"/>
              <a:ext cx="9988774" cy="870334"/>
              <a:chOff x="1217818" y="4983814"/>
              <a:chExt cx="9988774" cy="870334"/>
            </a:xfrm>
          </p:grpSpPr>
          <p:sp>
            <p:nvSpPr>
              <p:cNvPr id="4" name="Rectangle: Rounded Corners 3">
                <a:extLst>
                  <a:ext uri="{FF2B5EF4-FFF2-40B4-BE49-F238E27FC236}">
                    <a16:creationId xmlns:a16="http://schemas.microsoft.com/office/drawing/2014/main" id="{7CC0E8F5-0698-A2B3-F2C1-FAAE8FE13C5C}"/>
                  </a:ext>
                </a:extLst>
              </p:cNvPr>
              <p:cNvSpPr/>
              <p:nvPr/>
            </p:nvSpPr>
            <p:spPr>
              <a:xfrm>
                <a:off x="1217818" y="4983814"/>
                <a:ext cx="9988774" cy="870334"/>
              </a:xfrm>
              <a:prstGeom prst="roundRect">
                <a:avLst/>
              </a:prstGeom>
              <a:solidFill>
                <a:schemeClr val="bg1">
                  <a:lumMod val="95000"/>
                  <a:alpha val="25000"/>
                </a:schemeClr>
              </a:solidFill>
              <a:ln w="3175">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8" name="Group 27">
                <a:extLst>
                  <a:ext uri="{FF2B5EF4-FFF2-40B4-BE49-F238E27FC236}">
                    <a16:creationId xmlns:a16="http://schemas.microsoft.com/office/drawing/2014/main" id="{0A31ABE2-978A-AA64-A113-AB84BEB418EC}"/>
                  </a:ext>
                </a:extLst>
              </p:cNvPr>
              <p:cNvGrpSpPr/>
              <p:nvPr/>
            </p:nvGrpSpPr>
            <p:grpSpPr>
              <a:xfrm>
                <a:off x="2808576" y="5044885"/>
                <a:ext cx="8033570" cy="748193"/>
                <a:chOff x="2808576" y="4983814"/>
                <a:chExt cx="8033570" cy="748193"/>
              </a:xfrm>
            </p:grpSpPr>
            <p:grpSp>
              <p:nvGrpSpPr>
                <p:cNvPr id="27" name="Group 26">
                  <a:extLst>
                    <a:ext uri="{FF2B5EF4-FFF2-40B4-BE49-F238E27FC236}">
                      <a16:creationId xmlns:a16="http://schemas.microsoft.com/office/drawing/2014/main" id="{E20C0A7C-F99F-2AC2-ADC7-7540A926F7B0}"/>
                    </a:ext>
                  </a:extLst>
                </p:cNvPr>
                <p:cNvGrpSpPr/>
                <p:nvPr/>
              </p:nvGrpSpPr>
              <p:grpSpPr>
                <a:xfrm>
                  <a:off x="2808576" y="4983814"/>
                  <a:ext cx="8033570" cy="315904"/>
                  <a:chOff x="2808576" y="4892374"/>
                  <a:chExt cx="8033570" cy="315904"/>
                </a:xfrm>
              </p:grpSpPr>
              <p:pic>
                <p:nvPicPr>
                  <p:cNvPr id="6" name="Picture 5">
                    <a:extLst>
                      <a:ext uri="{FF2B5EF4-FFF2-40B4-BE49-F238E27FC236}">
                        <a16:creationId xmlns:a16="http://schemas.microsoft.com/office/drawing/2014/main" id="{D35B57CD-4AD3-C080-D3F0-0A90E3F99492}"/>
                      </a:ext>
                    </a:extLst>
                  </p:cNvPr>
                  <p:cNvPicPr>
                    <a:picLocks noChangeAspect="1"/>
                  </p:cNvPicPr>
                  <p:nvPr/>
                </p:nvPicPr>
                <p:blipFill>
                  <a:blip r:embed="rId2">
                    <a:duotone>
                      <a:schemeClr val="accent2">
                        <a:shade val="45000"/>
                        <a:satMod val="135000"/>
                      </a:schemeClr>
                      <a:prstClr val="white"/>
                    </a:duotone>
                  </a:blip>
                  <a:stretch>
                    <a:fillRect/>
                  </a:stretch>
                </p:blipFill>
                <p:spPr>
                  <a:xfrm>
                    <a:off x="10526242" y="4892374"/>
                    <a:ext cx="315904" cy="315904"/>
                  </a:xfrm>
                  <a:prstGeom prst="rect">
                    <a:avLst/>
                  </a:prstGeom>
                </p:spPr>
              </p:pic>
              <p:sp>
                <p:nvSpPr>
                  <p:cNvPr id="8" name="TextBox 7">
                    <a:extLst>
                      <a:ext uri="{FF2B5EF4-FFF2-40B4-BE49-F238E27FC236}">
                        <a16:creationId xmlns:a16="http://schemas.microsoft.com/office/drawing/2014/main" id="{FFBBE51C-57B7-258E-D1CA-FA3D0432F22D}"/>
                      </a:ext>
                    </a:extLst>
                  </p:cNvPr>
                  <p:cNvSpPr txBox="1"/>
                  <p:nvPr/>
                </p:nvSpPr>
                <p:spPr>
                  <a:xfrm>
                    <a:off x="2808576" y="4911827"/>
                    <a:ext cx="7717666" cy="276999"/>
                  </a:xfrm>
                  <a:prstGeom prst="rect">
                    <a:avLst/>
                  </a:prstGeom>
                  <a:noFill/>
                </p:spPr>
                <p:txBody>
                  <a:bodyPr wrap="square" rtlCol="0">
                    <a:spAutoFit/>
                  </a:bodyPr>
                  <a:lstStyle/>
                  <a:p>
                    <a:pPr marL="0" algn="r" defTabSz="457200" rtl="1" eaLnBrk="1" latinLnBrk="0" hangingPunct="1"/>
                    <a:r>
                      <a:rPr lang="fa-IR" sz="1200" b="1" dirty="0">
                        <a:solidFill>
                          <a:srgbClr val="F0BE0F"/>
                        </a:solidFill>
                        <a:latin typeface="Yekan Bakh FaNum" pitchFamily="2" charset="-78"/>
                        <a:cs typeface="Yekan Bakh FaNum" pitchFamily="2" charset="-78"/>
                      </a:rPr>
                      <a:t>نتیجه: </a:t>
                    </a:r>
                    <a:r>
                      <a:rPr lang="fa-IR" sz="1200" b="1" dirty="0">
                        <a:solidFill>
                          <a:srgbClr val="1E2761"/>
                        </a:solidFill>
                        <a:latin typeface="Yekan Bakh FaNum" pitchFamily="2" charset="-78"/>
                        <a:cs typeface="Yekan Bakh FaNum" pitchFamily="2" charset="-78"/>
                      </a:rPr>
                      <a:t>که ایران گشودگی اقتصادی بالایی به سمت ماشین سرمایه خواهد داشت </a:t>
                    </a:r>
                    <a:endParaRPr lang="en-IR" sz="1200" b="1" dirty="0">
                      <a:solidFill>
                        <a:srgbClr val="1E2761"/>
                      </a:solidFill>
                      <a:latin typeface="Yekan Bakh FaNum" pitchFamily="2" charset="-78"/>
                      <a:cs typeface="Yekan Bakh FaNum" pitchFamily="2" charset="-78"/>
                    </a:endParaRPr>
                  </a:p>
                </p:txBody>
              </p:sp>
            </p:grpSp>
            <p:sp>
              <p:nvSpPr>
                <p:cNvPr id="10" name="TextBox 9">
                  <a:extLst>
                    <a:ext uri="{FF2B5EF4-FFF2-40B4-BE49-F238E27FC236}">
                      <a16:creationId xmlns:a16="http://schemas.microsoft.com/office/drawing/2014/main" id="{E964A015-EA6D-FC60-C6D9-318C5565EBF2}"/>
                    </a:ext>
                  </a:extLst>
                </p:cNvPr>
                <p:cNvSpPr txBox="1"/>
                <p:nvPr/>
              </p:nvSpPr>
              <p:spPr>
                <a:xfrm>
                  <a:off x="4091155" y="5270342"/>
                  <a:ext cx="6435087" cy="461665"/>
                </a:xfrm>
                <a:prstGeom prst="rect">
                  <a:avLst/>
                </a:prstGeom>
                <a:noFill/>
              </p:spPr>
              <p:txBody>
                <a:bodyPr wrap="square" rtlCol="0">
                  <a:spAutoFit/>
                </a:bodyPr>
                <a:lstStyle/>
                <a:p>
                  <a:pPr marL="171450" indent="-171450" algn="r" defTabSz="457200" rtl="1" eaLnBrk="1" latinLnBrk="0" hangingPunct="1">
                    <a:buFont typeface="Wingdings" pitchFamily="2" charset="2"/>
                    <a:buChar char="ü"/>
                  </a:pPr>
                  <a:r>
                    <a:rPr lang="fa-IR" sz="800" dirty="0">
                      <a:solidFill>
                        <a:schemeClr val="tx1">
                          <a:lumMod val="50000"/>
                          <a:lumOff val="50000"/>
                        </a:schemeClr>
                      </a:solidFill>
                      <a:latin typeface="Yekan Bakh FaNum" pitchFamily="2" charset="-78"/>
                      <a:cs typeface="Yekan Bakh FaNum" pitchFamily="2" charset="-78"/>
                    </a:rPr>
                    <a:t>پایان یافتن زودهنگام </a:t>
                  </a:r>
                  <a:r>
                    <a:rPr lang="fa-IR" sz="800" dirty="0" err="1">
                      <a:solidFill>
                        <a:schemeClr val="tx1">
                          <a:lumMod val="50000"/>
                          <a:lumOff val="50000"/>
                        </a:schemeClr>
                      </a:solidFill>
                      <a:latin typeface="Yekan Bakh FaNum" pitchFamily="2" charset="-78"/>
                      <a:cs typeface="Yekan Bakh FaNum" pitchFamily="2" charset="-78"/>
                    </a:rPr>
                    <a:t>جنگ‌های</a:t>
                  </a:r>
                  <a:r>
                    <a:rPr lang="fa-IR" sz="800" dirty="0">
                      <a:solidFill>
                        <a:schemeClr val="tx1">
                          <a:lumMod val="50000"/>
                          <a:lumOff val="50000"/>
                        </a:schemeClr>
                      </a:solidFill>
                      <a:latin typeface="Yekan Bakh FaNum" pitchFamily="2" charset="-78"/>
                      <a:cs typeface="Yekan Bakh FaNum" pitchFamily="2" charset="-78"/>
                    </a:rPr>
                    <a:t> مستقیم سال ۱۴۰۴</a:t>
                  </a:r>
                </a:p>
                <a:p>
                  <a:pPr marL="171450" indent="-171450" algn="r" defTabSz="457200" rtl="1" eaLnBrk="1" latinLnBrk="0" hangingPunct="1">
                    <a:buFont typeface="Wingdings" pitchFamily="2" charset="2"/>
                    <a:buChar char="ü"/>
                  </a:pPr>
                  <a:r>
                    <a:rPr lang="fa-IR" sz="800" dirty="0">
                      <a:solidFill>
                        <a:schemeClr val="tx1">
                          <a:lumMod val="50000"/>
                          <a:lumOff val="50000"/>
                        </a:schemeClr>
                      </a:solidFill>
                      <a:latin typeface="Yekan Bakh FaNum" pitchFamily="2" charset="-78"/>
                      <a:cs typeface="Yekan Bakh FaNum" pitchFamily="2" charset="-78"/>
                    </a:rPr>
                    <a:t>توافق و تفاهم با ایالات متحده آمریکا</a:t>
                  </a:r>
                </a:p>
                <a:p>
                  <a:pPr marL="171450" indent="-171450" algn="r" defTabSz="457200" rtl="1" eaLnBrk="1" latinLnBrk="0" hangingPunct="1">
                    <a:buFont typeface="Wingdings" pitchFamily="2" charset="2"/>
                    <a:buChar char="ü"/>
                  </a:pPr>
                  <a:r>
                    <a:rPr lang="fa-IR" sz="800" dirty="0" err="1">
                      <a:solidFill>
                        <a:schemeClr val="tx1">
                          <a:lumMod val="50000"/>
                          <a:lumOff val="50000"/>
                        </a:schemeClr>
                      </a:solidFill>
                      <a:latin typeface="Yekan Bakh FaNum" pitchFamily="2" charset="-78"/>
                      <a:cs typeface="Yekan Bakh FaNum" pitchFamily="2" charset="-78"/>
                    </a:rPr>
                    <a:t>فکت</a:t>
                  </a:r>
                  <a:r>
                    <a:rPr lang="fa-IR" sz="800" dirty="0">
                      <a:solidFill>
                        <a:schemeClr val="tx1">
                          <a:lumMod val="50000"/>
                          <a:lumOff val="50000"/>
                        </a:schemeClr>
                      </a:solidFill>
                      <a:latin typeface="Yekan Bakh FaNum" pitchFamily="2" charset="-78"/>
                      <a:cs typeface="Yekan Bakh FaNum" pitchFamily="2" charset="-78"/>
                    </a:rPr>
                    <a:t> </a:t>
                  </a:r>
                  <a:r>
                    <a:rPr lang="fa-IR" sz="800" dirty="0" err="1">
                      <a:solidFill>
                        <a:schemeClr val="tx1">
                          <a:lumMod val="50000"/>
                          <a:lumOff val="50000"/>
                        </a:schemeClr>
                      </a:solidFill>
                      <a:latin typeface="Yekan Bakh FaNum" pitchFamily="2" charset="-78"/>
                      <a:cs typeface="Yekan Bakh FaNum" pitchFamily="2" charset="-78"/>
                    </a:rPr>
                    <a:t>سرمایه‌گذاری</a:t>
                  </a:r>
                  <a:r>
                    <a:rPr lang="fa-IR" sz="800" dirty="0">
                      <a:solidFill>
                        <a:schemeClr val="tx1">
                          <a:lumMod val="50000"/>
                          <a:lumOff val="50000"/>
                        </a:schemeClr>
                      </a:solidFill>
                      <a:latin typeface="Yekan Bakh FaNum" pitchFamily="2" charset="-78"/>
                      <a:cs typeface="Yekan Bakh FaNum" pitchFamily="2" charset="-78"/>
                    </a:rPr>
                    <a:t> ۳۰۰ میلیارد دلاری در ایران به عنوان بندی از </a:t>
                  </a:r>
                  <a:r>
                    <a:rPr lang="fa-IR" sz="800" dirty="0" err="1">
                      <a:solidFill>
                        <a:schemeClr val="tx1">
                          <a:lumMod val="50000"/>
                          <a:lumOff val="50000"/>
                        </a:schemeClr>
                      </a:solidFill>
                      <a:latin typeface="Yekan Bakh FaNum" pitchFamily="2" charset="-78"/>
                      <a:cs typeface="Yekan Bakh FaNum" pitchFamily="2" charset="-78"/>
                    </a:rPr>
                    <a:t>تفاهم‌نامه</a:t>
                  </a:r>
                  <a:endParaRPr lang="fa-IR" sz="800" dirty="0">
                    <a:solidFill>
                      <a:schemeClr val="tx1">
                        <a:lumMod val="50000"/>
                        <a:lumOff val="50000"/>
                      </a:schemeClr>
                    </a:solidFill>
                    <a:latin typeface="Yekan Bakh FaNum" pitchFamily="2" charset="-78"/>
                    <a:cs typeface="Yekan Bakh FaNum" pitchFamily="2" charset="-78"/>
                  </a:endParaRPr>
                </a:p>
              </p:txBody>
            </p:sp>
          </p:grpSp>
        </p:grpSp>
        <p:grpSp>
          <p:nvGrpSpPr>
            <p:cNvPr id="33" name="Group 32">
              <a:extLst>
                <a:ext uri="{FF2B5EF4-FFF2-40B4-BE49-F238E27FC236}">
                  <a16:creationId xmlns:a16="http://schemas.microsoft.com/office/drawing/2014/main" id="{6CAE94DA-C8F1-3E92-7CB1-11D6BD8960C8}"/>
                </a:ext>
              </a:extLst>
            </p:cNvPr>
            <p:cNvGrpSpPr/>
            <p:nvPr/>
          </p:nvGrpSpPr>
          <p:grpSpPr>
            <a:xfrm>
              <a:off x="1137918" y="4151750"/>
              <a:ext cx="10068671" cy="489334"/>
              <a:chOff x="1137918" y="4081541"/>
              <a:chExt cx="10068671" cy="489334"/>
            </a:xfrm>
          </p:grpSpPr>
          <p:sp>
            <p:nvSpPr>
              <p:cNvPr id="22" name="Triangle 9">
                <a:extLst>
                  <a:ext uri="{FF2B5EF4-FFF2-40B4-BE49-F238E27FC236}">
                    <a16:creationId xmlns:a16="http://schemas.microsoft.com/office/drawing/2014/main" id="{B8C4C807-9F5C-E38E-3663-6C5B6FDB142A}"/>
                  </a:ext>
                </a:extLst>
              </p:cNvPr>
              <p:cNvSpPr/>
              <p:nvPr/>
            </p:nvSpPr>
            <p:spPr>
              <a:xfrm rot="10800000">
                <a:off x="1137918" y="4081541"/>
                <a:ext cx="10068671" cy="489334"/>
              </a:xfrm>
              <a:prstGeom prst="triangle">
                <a:avLst/>
              </a:prstGeom>
              <a:solidFill>
                <a:srgbClr val="F0BE0F">
                  <a:alpha val="2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457200" rtl="1" eaLnBrk="1" latinLnBrk="0" hangingPunct="1"/>
                <a:endParaRPr lang="en-IR"/>
              </a:p>
            </p:txBody>
          </p:sp>
          <p:sp>
            <p:nvSpPr>
              <p:cNvPr id="24" name="TextBox 23">
                <a:extLst>
                  <a:ext uri="{FF2B5EF4-FFF2-40B4-BE49-F238E27FC236}">
                    <a16:creationId xmlns:a16="http://schemas.microsoft.com/office/drawing/2014/main" id="{C87999BA-5A56-ACE1-3C7C-30342442FE55}"/>
                  </a:ext>
                </a:extLst>
              </p:cNvPr>
              <p:cNvSpPr txBox="1"/>
              <p:nvPr/>
            </p:nvSpPr>
            <p:spPr>
              <a:xfrm>
                <a:off x="3638916" y="4092316"/>
                <a:ext cx="5066675" cy="338554"/>
              </a:xfrm>
              <a:prstGeom prst="rect">
                <a:avLst/>
              </a:prstGeom>
              <a:noFill/>
            </p:spPr>
            <p:txBody>
              <a:bodyPr wrap="square" rtlCol="0">
                <a:spAutoFit/>
              </a:bodyPr>
              <a:lstStyle/>
              <a:p>
                <a:pPr marL="0" algn="ctr" defTabSz="457200" rtl="1" eaLnBrk="1" latinLnBrk="0" hangingPunct="1"/>
                <a:r>
                  <a:rPr lang="fa-IR" sz="800" dirty="0">
                    <a:solidFill>
                      <a:schemeClr val="tx1">
                        <a:lumMod val="75000"/>
                        <a:lumOff val="25000"/>
                      </a:schemeClr>
                    </a:solidFill>
                    <a:latin typeface="Yekan Bakh FaNum" pitchFamily="2" charset="-78"/>
                    <a:cs typeface="Yekan Bakh FaNum" pitchFamily="2" charset="-78"/>
                  </a:rPr>
                  <a:t>نتیجه این منطق فکری است که اگر ایران در بازی جدید، جز بازیگران و </a:t>
                </a:r>
                <a:r>
                  <a:rPr lang="fa-IR" sz="800" dirty="0" err="1">
                    <a:solidFill>
                      <a:schemeClr val="tx1">
                        <a:lumMod val="75000"/>
                        <a:lumOff val="25000"/>
                      </a:schemeClr>
                    </a:solidFill>
                    <a:latin typeface="Yekan Bakh FaNum" pitchFamily="2" charset="-78"/>
                    <a:cs typeface="Yekan Bakh FaNum" pitchFamily="2" charset="-78"/>
                  </a:rPr>
                  <a:t>ذی‌نفعان</a:t>
                </a:r>
                <a:r>
                  <a:rPr lang="fa-IR" sz="800" dirty="0">
                    <a:solidFill>
                      <a:schemeClr val="tx1">
                        <a:lumMod val="75000"/>
                        <a:lumOff val="25000"/>
                      </a:schemeClr>
                    </a:solidFill>
                    <a:latin typeface="Yekan Bakh FaNum" pitchFamily="2" charset="-78"/>
                    <a:cs typeface="Yekan Bakh FaNum" pitchFamily="2" charset="-78"/>
                  </a:rPr>
                  <a:t> آن نباشد، </a:t>
                </a:r>
                <a:r>
                  <a:rPr lang="fa-IR" sz="800" dirty="0" err="1">
                    <a:solidFill>
                      <a:schemeClr val="tx1">
                        <a:lumMod val="75000"/>
                        <a:lumOff val="25000"/>
                      </a:schemeClr>
                    </a:solidFill>
                    <a:latin typeface="Yekan Bakh FaNum" pitchFamily="2" charset="-78"/>
                    <a:cs typeface="Yekan Bakh FaNum" pitchFamily="2" charset="-78"/>
                  </a:rPr>
                  <a:t>می‌تواند</a:t>
                </a:r>
                <a:r>
                  <a:rPr lang="fa-IR" sz="800" dirty="0">
                    <a:solidFill>
                      <a:schemeClr val="tx1">
                        <a:lumMod val="75000"/>
                        <a:lumOff val="25000"/>
                      </a:schemeClr>
                    </a:solidFill>
                    <a:latin typeface="Yekan Bakh FaNum" pitchFamily="2" charset="-78"/>
                    <a:cs typeface="Yekan Bakh FaNum" pitchFamily="2" charset="-78"/>
                  </a:rPr>
                  <a:t> هر دو اهرم کلیدی مورد نیاز (</a:t>
                </a:r>
                <a:r>
                  <a:rPr lang="en-US" sz="800" dirty="0">
                    <a:solidFill>
                      <a:schemeClr val="tx1">
                        <a:lumMod val="75000"/>
                        <a:lumOff val="25000"/>
                      </a:schemeClr>
                    </a:solidFill>
                    <a:latin typeface="Yekan Bakh FaNum" pitchFamily="2" charset="-78"/>
                    <a:cs typeface="Yekan Bakh FaNum" pitchFamily="2" charset="-78"/>
                  </a:rPr>
                  <a:t>&amp; TIC</a:t>
                </a:r>
                <a:r>
                  <a:rPr lang="fa-IR" sz="800" dirty="0">
                    <a:solidFill>
                      <a:schemeClr val="tx1">
                        <a:lumMod val="75000"/>
                        <a:lumOff val="25000"/>
                      </a:schemeClr>
                    </a:solidFill>
                    <a:latin typeface="Yekan Bakh FaNum" pitchFamily="2" charset="-78"/>
                    <a:cs typeface="Yekan Bakh FaNum" pitchFamily="2" charset="-78"/>
                  </a:rPr>
                  <a:t> </a:t>
                </a:r>
                <a:r>
                  <a:rPr lang="en-US" sz="800" dirty="0">
                    <a:solidFill>
                      <a:schemeClr val="tx1">
                        <a:lumMod val="75000"/>
                        <a:lumOff val="25000"/>
                      </a:schemeClr>
                    </a:solidFill>
                    <a:latin typeface="Yekan Bakh FaNum" pitchFamily="2" charset="-78"/>
                    <a:cs typeface="Yekan Bakh FaNum" pitchFamily="2" charset="-78"/>
                  </a:rPr>
                  <a:t>FIC</a:t>
                </a:r>
                <a:r>
                  <a:rPr lang="fa-IR" sz="800" dirty="0">
                    <a:solidFill>
                      <a:schemeClr val="tx1">
                        <a:lumMod val="75000"/>
                        <a:lumOff val="25000"/>
                      </a:schemeClr>
                    </a:solidFill>
                    <a:latin typeface="Yekan Bakh FaNum" pitchFamily="2" charset="-78"/>
                    <a:cs typeface="Yekan Bakh FaNum" pitchFamily="2" charset="-78"/>
                  </a:rPr>
                  <a:t>) را </a:t>
                </a:r>
                <a:r>
                  <a:rPr lang="fa-IR" sz="800" dirty="0" err="1">
                    <a:solidFill>
                      <a:schemeClr val="tx1">
                        <a:lumMod val="75000"/>
                        <a:lumOff val="25000"/>
                      </a:schemeClr>
                    </a:solidFill>
                    <a:latin typeface="Yekan Bakh FaNum" pitchFamily="2" charset="-78"/>
                    <a:cs typeface="Yekan Bakh FaNum" pitchFamily="2" charset="-78"/>
                  </a:rPr>
                  <a:t>بگونه‌ای</a:t>
                </a:r>
                <a:r>
                  <a:rPr lang="fa-IR" sz="800" dirty="0">
                    <a:solidFill>
                      <a:schemeClr val="tx1">
                        <a:lumMod val="75000"/>
                        <a:lumOff val="25000"/>
                      </a:schemeClr>
                    </a:solidFill>
                    <a:latin typeface="Yekan Bakh FaNum" pitchFamily="2" charset="-78"/>
                    <a:cs typeface="Yekan Bakh FaNum" pitchFamily="2" charset="-78"/>
                  </a:rPr>
                  <a:t> از بین ببرد که کل بازی جدید از سودآوری فاصله بگیرد</a:t>
                </a:r>
                <a:endParaRPr lang="en-IR" sz="800" dirty="0">
                  <a:solidFill>
                    <a:schemeClr val="tx1">
                      <a:lumMod val="75000"/>
                      <a:lumOff val="25000"/>
                    </a:schemeClr>
                  </a:solidFill>
                  <a:latin typeface="Yekan Bakh FaNum" pitchFamily="2" charset="-78"/>
                  <a:cs typeface="Yekan Bakh FaNum" pitchFamily="2" charset="-78"/>
                </a:endParaRPr>
              </a:p>
            </p:txBody>
          </p:sp>
        </p:grpSp>
        <p:grpSp>
          <p:nvGrpSpPr>
            <p:cNvPr id="34" name="Group 33">
              <a:extLst>
                <a:ext uri="{FF2B5EF4-FFF2-40B4-BE49-F238E27FC236}">
                  <a16:creationId xmlns:a16="http://schemas.microsoft.com/office/drawing/2014/main" id="{8B764794-1509-A509-E1FD-28AB84CD6755}"/>
                </a:ext>
              </a:extLst>
            </p:cNvPr>
            <p:cNvGrpSpPr/>
            <p:nvPr/>
          </p:nvGrpSpPr>
          <p:grpSpPr>
            <a:xfrm>
              <a:off x="1217818" y="1487277"/>
              <a:ext cx="9988774" cy="2464963"/>
              <a:chOff x="1217818" y="1487277"/>
              <a:chExt cx="9988774" cy="2464963"/>
            </a:xfrm>
          </p:grpSpPr>
          <p:sp>
            <p:nvSpPr>
              <p:cNvPr id="12" name="Rectangle: Top Corners Rounded 11">
                <a:extLst>
                  <a:ext uri="{FF2B5EF4-FFF2-40B4-BE49-F238E27FC236}">
                    <a16:creationId xmlns:a16="http://schemas.microsoft.com/office/drawing/2014/main" id="{843A78F5-105B-D22C-9C70-8505D1B9F723}"/>
                  </a:ext>
                </a:extLst>
              </p:cNvPr>
              <p:cNvSpPr/>
              <p:nvPr/>
            </p:nvSpPr>
            <p:spPr>
              <a:xfrm>
                <a:off x="6544019" y="1487277"/>
                <a:ext cx="4662573" cy="453140"/>
              </a:xfrm>
              <a:prstGeom prst="round2SameRect">
                <a:avLst>
                  <a:gd name="adj1" fmla="val 38151"/>
                  <a:gd name="adj2" fmla="val 0"/>
                </a:avLst>
              </a:prstGeom>
              <a:solidFill>
                <a:srgbClr val="1E27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fa-IR" sz="1050" b="1" dirty="0">
                    <a:solidFill>
                      <a:schemeClr val="bg1"/>
                    </a:solidFill>
                    <a:latin typeface="Yekan Bakh" pitchFamily="2" charset="-78"/>
                    <a:ea typeface="Yekan Bakh" pitchFamily="2" charset="-78"/>
                    <a:cs typeface="Yekan Bakh" pitchFamily="2" charset="-78"/>
                  </a:rPr>
                  <a:t>ایران نه تنها در استراتژی سابق منفعتی برای ماشین سرمایه ایجاد نکرده است</a:t>
                </a:r>
              </a:p>
            </p:txBody>
          </p:sp>
          <p:sp>
            <p:nvSpPr>
              <p:cNvPr id="14" name="Rectangle: Top Corners Rounded 13">
                <a:extLst>
                  <a:ext uri="{FF2B5EF4-FFF2-40B4-BE49-F238E27FC236}">
                    <a16:creationId xmlns:a16="http://schemas.microsoft.com/office/drawing/2014/main" id="{F1F69BC0-72DA-4EE9-9ACD-A59592820016}"/>
                  </a:ext>
                </a:extLst>
              </p:cNvPr>
              <p:cNvSpPr/>
              <p:nvPr/>
            </p:nvSpPr>
            <p:spPr>
              <a:xfrm flipV="1">
                <a:off x="6544019" y="2025456"/>
                <a:ext cx="4662573" cy="1926784"/>
              </a:xfrm>
              <a:prstGeom prst="round2SameRect">
                <a:avLst>
                  <a:gd name="adj1" fmla="val 8836"/>
                  <a:gd name="adj2" fmla="val 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a-IR" sz="1050" dirty="0">
                  <a:solidFill>
                    <a:srgbClr val="1E2761"/>
                  </a:solidFill>
                  <a:latin typeface="Yekan Bakh" pitchFamily="2" charset="-78"/>
                  <a:ea typeface="Yekan Bakh" pitchFamily="2" charset="-78"/>
                  <a:cs typeface="Yekan Bakh" pitchFamily="2" charset="-78"/>
                </a:endParaRPr>
              </a:p>
            </p:txBody>
          </p:sp>
          <p:sp>
            <p:nvSpPr>
              <p:cNvPr id="16" name="TextBox 15">
                <a:extLst>
                  <a:ext uri="{FF2B5EF4-FFF2-40B4-BE49-F238E27FC236}">
                    <a16:creationId xmlns:a16="http://schemas.microsoft.com/office/drawing/2014/main" id="{1A78BD0C-C6E7-EB52-9246-03736CC6ED39}"/>
                  </a:ext>
                </a:extLst>
              </p:cNvPr>
              <p:cNvSpPr txBox="1"/>
              <p:nvPr/>
            </p:nvSpPr>
            <p:spPr>
              <a:xfrm>
                <a:off x="6544018" y="2036808"/>
                <a:ext cx="4662573" cy="1529265"/>
              </a:xfrm>
              <a:prstGeom prst="rect">
                <a:avLst/>
              </a:prstGeom>
              <a:noFill/>
            </p:spPr>
            <p:txBody>
              <a:bodyPr wrap="square" rtlCol="0">
                <a:spAutoFit/>
              </a:bodyPr>
              <a:lstStyle/>
              <a:p>
                <a:pPr marL="0" algn="justLow" defTabSz="457200" rtl="1" eaLnBrk="1" latinLnBrk="0" hangingPunct="1">
                  <a:lnSpc>
                    <a:spcPct val="150000"/>
                  </a:lnSpc>
                </a:pPr>
                <a:r>
                  <a:rPr lang="fa-IR" sz="900" dirty="0">
                    <a:solidFill>
                      <a:schemeClr val="tx1">
                        <a:lumMod val="75000"/>
                        <a:lumOff val="25000"/>
                      </a:schemeClr>
                    </a:solidFill>
                    <a:latin typeface="Yekan Bakh FaNum" pitchFamily="2" charset="-78"/>
                    <a:cs typeface="Yekan Bakh FaNum" pitchFamily="2" charset="-78"/>
                  </a:rPr>
                  <a:t>ایالات متحده آمریکا در سال‌های اخیر، با استراتژی A</a:t>
                </a:r>
                <a:r>
                  <a:rPr lang="en-US" sz="900" dirty="0" err="1">
                    <a:solidFill>
                      <a:schemeClr val="tx1">
                        <a:lumMod val="75000"/>
                        <a:lumOff val="25000"/>
                      </a:schemeClr>
                    </a:solidFill>
                    <a:latin typeface="Yekan Bakh FaNum" pitchFamily="2" charset="-78"/>
                    <a:cs typeface="Yekan Bakh FaNum" pitchFamily="2" charset="-78"/>
                  </a:rPr>
                  <a:t>lways</a:t>
                </a:r>
                <a:r>
                  <a:rPr lang="en-US" sz="900" dirty="0">
                    <a:solidFill>
                      <a:schemeClr val="tx1">
                        <a:lumMod val="75000"/>
                        <a:lumOff val="25000"/>
                      </a:schemeClr>
                    </a:solidFill>
                    <a:latin typeface="Yekan Bakh FaNum" pitchFamily="2" charset="-78"/>
                    <a:cs typeface="Yekan Bakh FaNum" pitchFamily="2" charset="-78"/>
                  </a:rPr>
                  <a:t> on War</a:t>
                </a:r>
                <a:r>
                  <a:rPr lang="fa-IR" sz="900" dirty="0">
                    <a:solidFill>
                      <a:schemeClr val="tx1">
                        <a:lumMod val="75000"/>
                        <a:lumOff val="25000"/>
                      </a:schemeClr>
                    </a:solidFill>
                    <a:latin typeface="Yekan Bakh FaNum" pitchFamily="2" charset="-78"/>
                    <a:cs typeface="Yekan Bakh FaNum" pitchFamily="2" charset="-78"/>
                  </a:rPr>
                  <a:t>، هر چهار اهرم را روی ایران اعمال کرده است:</a:t>
                </a:r>
              </a:p>
              <a:p>
                <a:pPr marL="228600" indent="-228600" algn="justLow" defTabSz="457200" rtl="1" eaLnBrk="1" latinLnBrk="0" hangingPunct="1">
                  <a:lnSpc>
                    <a:spcPct val="150000"/>
                  </a:lnSpc>
                  <a:buAutoNum type="arabicPeriod"/>
                </a:pPr>
                <a:r>
                  <a:rPr lang="fa-IR" sz="900" dirty="0" err="1">
                    <a:solidFill>
                      <a:schemeClr val="tx1">
                        <a:lumMod val="75000"/>
                        <a:lumOff val="25000"/>
                      </a:schemeClr>
                    </a:solidFill>
                    <a:latin typeface="Yekan Bakh FaNum" pitchFamily="2" charset="-78"/>
                    <a:cs typeface="Yekan Bakh FaNum" pitchFamily="2" charset="-78"/>
                  </a:rPr>
                  <a:t>تحریم‌های</a:t>
                </a:r>
                <a:r>
                  <a:rPr lang="fa-IR" sz="900" dirty="0">
                    <a:solidFill>
                      <a:schemeClr val="tx1">
                        <a:lumMod val="75000"/>
                        <a:lumOff val="25000"/>
                      </a:schemeClr>
                    </a:solidFill>
                    <a:latin typeface="Yekan Bakh FaNum" pitchFamily="2" charset="-78"/>
                    <a:cs typeface="Yekan Bakh FaNum" pitchFamily="2" charset="-78"/>
                  </a:rPr>
                  <a:t> شدید خصوصا از </a:t>
                </a:r>
                <a:r>
                  <a:rPr lang="fa-IR" sz="900" dirty="0" err="1">
                    <a:solidFill>
                      <a:schemeClr val="tx1">
                        <a:lumMod val="75000"/>
                        <a:lumOff val="25000"/>
                      </a:schemeClr>
                    </a:solidFill>
                    <a:latin typeface="Yekan Bakh FaNum" pitchFamily="2" charset="-78"/>
                    <a:cs typeface="Yekan Bakh FaNum" pitchFamily="2" charset="-78"/>
                  </a:rPr>
                  <a:t>سال‌های</a:t>
                </a:r>
                <a:r>
                  <a:rPr lang="fa-IR" sz="900" dirty="0">
                    <a:solidFill>
                      <a:schemeClr val="tx1">
                        <a:lumMod val="75000"/>
                        <a:lumOff val="25000"/>
                      </a:schemeClr>
                    </a:solidFill>
                    <a:latin typeface="Yekan Bakh FaNum" pitchFamily="2" charset="-78"/>
                    <a:cs typeface="Yekan Bakh FaNum" pitchFamily="2" charset="-78"/>
                  </a:rPr>
                  <a:t> ۲۰۱۸ به بعد</a:t>
                </a:r>
              </a:p>
              <a:p>
                <a:pPr marL="228600" indent="-228600" algn="justLow" defTabSz="457200" rtl="1" eaLnBrk="1" latinLnBrk="0" hangingPunct="1">
                  <a:lnSpc>
                    <a:spcPct val="150000"/>
                  </a:lnSpc>
                  <a:buAutoNum type="arabicPeriod"/>
                </a:pPr>
                <a:r>
                  <a:rPr lang="fa-IR" sz="900" dirty="0">
                    <a:solidFill>
                      <a:schemeClr val="tx1">
                        <a:lumMod val="75000"/>
                        <a:lumOff val="25000"/>
                      </a:schemeClr>
                    </a:solidFill>
                    <a:latin typeface="Yekan Bakh FaNum" pitchFamily="2" charset="-78"/>
                    <a:cs typeface="Yekan Bakh FaNum" pitchFamily="2" charset="-78"/>
                  </a:rPr>
                  <a:t>مسدود کردن ورود پول و بلوکه کردن نقدینگی ایران در کشورهای مختلف</a:t>
                </a:r>
              </a:p>
              <a:p>
                <a:pPr marL="228600" indent="-228600" algn="justLow" defTabSz="457200" rtl="1" eaLnBrk="1" latinLnBrk="0" hangingPunct="1">
                  <a:lnSpc>
                    <a:spcPct val="150000"/>
                  </a:lnSpc>
                  <a:buAutoNum type="arabicPeriod"/>
                </a:pPr>
                <a:r>
                  <a:rPr lang="fa-IR" sz="900" dirty="0">
                    <a:solidFill>
                      <a:schemeClr val="tx1">
                        <a:lumMod val="75000"/>
                        <a:lumOff val="25000"/>
                      </a:schemeClr>
                    </a:solidFill>
                    <a:latin typeface="Yekan Bakh FaNum" pitchFamily="2" charset="-78"/>
                    <a:cs typeface="Yekan Bakh FaNum" pitchFamily="2" charset="-78"/>
                  </a:rPr>
                  <a:t>ورود (</a:t>
                </a:r>
                <a:r>
                  <a:rPr lang="fa-IR" sz="900" dirty="0" err="1">
                    <a:solidFill>
                      <a:schemeClr val="tx1">
                        <a:lumMod val="75000"/>
                        <a:lumOff val="25000"/>
                      </a:schemeClr>
                    </a:solidFill>
                    <a:latin typeface="Yekan Bakh FaNum" pitchFamily="2" charset="-78"/>
                    <a:cs typeface="Yekan Bakh FaNum" pitchFamily="2" charset="-78"/>
                  </a:rPr>
                  <a:t>خودآگاه</a:t>
                </a:r>
                <a:r>
                  <a:rPr lang="fa-IR" sz="900" dirty="0">
                    <a:solidFill>
                      <a:schemeClr val="tx1">
                        <a:lumMod val="75000"/>
                        <a:lumOff val="25000"/>
                      </a:schemeClr>
                    </a:solidFill>
                    <a:latin typeface="Yekan Bakh FaNum" pitchFamily="2" charset="-78"/>
                    <a:cs typeface="Yekan Bakh FaNum" pitchFamily="2" charset="-78"/>
                  </a:rPr>
                  <a:t> یا ناخودآگاه) ایران به </a:t>
                </a:r>
                <a:r>
                  <a:rPr lang="fa-IR" sz="900" dirty="0" err="1">
                    <a:solidFill>
                      <a:schemeClr val="tx1">
                        <a:lumMod val="75000"/>
                        <a:lumOff val="25000"/>
                      </a:schemeClr>
                    </a:solidFill>
                    <a:latin typeface="Yekan Bakh FaNum" pitchFamily="2" charset="-78"/>
                    <a:cs typeface="Yekan Bakh FaNum" pitchFamily="2" charset="-78"/>
                  </a:rPr>
                  <a:t>جنگ‌های</a:t>
                </a:r>
                <a:r>
                  <a:rPr lang="fa-IR" sz="900" dirty="0">
                    <a:solidFill>
                      <a:schemeClr val="tx1">
                        <a:lumMod val="75000"/>
                        <a:lumOff val="25000"/>
                      </a:schemeClr>
                    </a:solidFill>
                    <a:latin typeface="Yekan Bakh FaNum" pitchFamily="2" charset="-78"/>
                    <a:cs typeface="Yekan Bakh FaNum" pitchFamily="2" charset="-78"/>
                  </a:rPr>
                  <a:t> مختلف از جمله </a:t>
                </a:r>
                <a:r>
                  <a:rPr lang="fa-IR" sz="900" dirty="0" err="1">
                    <a:solidFill>
                      <a:schemeClr val="tx1">
                        <a:lumMod val="75000"/>
                        <a:lumOff val="25000"/>
                      </a:schemeClr>
                    </a:solidFill>
                    <a:latin typeface="Yekan Bakh FaNum" pitchFamily="2" charset="-78"/>
                    <a:cs typeface="Yekan Bakh FaNum" pitchFamily="2" charset="-78"/>
                  </a:rPr>
                  <a:t>جنگ‌های</a:t>
                </a:r>
                <a:r>
                  <a:rPr lang="fa-IR" sz="900" dirty="0">
                    <a:solidFill>
                      <a:schemeClr val="tx1">
                        <a:lumMod val="75000"/>
                        <a:lumOff val="25000"/>
                      </a:schemeClr>
                    </a:solidFill>
                    <a:latin typeface="Yekan Bakh FaNum" pitchFamily="2" charset="-78"/>
                    <a:cs typeface="Yekan Bakh FaNum" pitchFamily="2" charset="-78"/>
                  </a:rPr>
                  <a:t> مستقیم سال ۱۴۰۴</a:t>
                </a:r>
              </a:p>
              <a:p>
                <a:pPr marL="228600" indent="-228600" algn="justLow" defTabSz="457200" rtl="1" eaLnBrk="1" latinLnBrk="0" hangingPunct="1">
                  <a:lnSpc>
                    <a:spcPct val="150000"/>
                  </a:lnSpc>
                  <a:buAutoNum type="arabicPeriod"/>
                </a:pPr>
                <a:r>
                  <a:rPr lang="fa-IR" sz="900" dirty="0" err="1">
                    <a:solidFill>
                      <a:schemeClr val="tx1">
                        <a:lumMod val="75000"/>
                        <a:lumOff val="25000"/>
                      </a:schemeClr>
                    </a:solidFill>
                    <a:latin typeface="Yekan Bakh FaNum" pitchFamily="2" charset="-78"/>
                    <a:cs typeface="Yekan Bakh FaNum" pitchFamily="2" charset="-78"/>
                  </a:rPr>
                  <a:t>تلاش‌های</a:t>
                </a:r>
                <a:r>
                  <a:rPr lang="fa-IR" sz="900" dirty="0">
                    <a:solidFill>
                      <a:schemeClr val="tx1">
                        <a:lumMod val="75000"/>
                        <a:lumOff val="25000"/>
                      </a:schemeClr>
                    </a:solidFill>
                    <a:latin typeface="Yekan Bakh FaNum" pitchFamily="2" charset="-78"/>
                    <a:cs typeface="Yekan Bakh FaNum" pitchFamily="2" charset="-78"/>
                  </a:rPr>
                  <a:t> متعدد برای ایجاد </a:t>
                </a:r>
                <a:r>
                  <a:rPr lang="fa-IR" sz="900" dirty="0" err="1">
                    <a:solidFill>
                      <a:schemeClr val="tx1">
                        <a:lumMod val="75000"/>
                        <a:lumOff val="25000"/>
                      </a:schemeClr>
                    </a:solidFill>
                    <a:latin typeface="Yekan Bakh FaNum" pitchFamily="2" charset="-78"/>
                    <a:cs typeface="Yekan Bakh FaNum" pitchFamily="2" charset="-78"/>
                  </a:rPr>
                  <a:t>جنبش‌های</a:t>
                </a:r>
                <a:r>
                  <a:rPr lang="fa-IR" sz="900" dirty="0">
                    <a:solidFill>
                      <a:schemeClr val="tx1">
                        <a:lumMod val="75000"/>
                        <a:lumOff val="25000"/>
                      </a:schemeClr>
                    </a:solidFill>
                    <a:latin typeface="Yekan Bakh FaNum" pitchFamily="2" charset="-78"/>
                    <a:cs typeface="Yekan Bakh FaNum" pitchFamily="2" charset="-78"/>
                  </a:rPr>
                  <a:t> داخلی در ایران (حجاب، تغییر رژیم و ...)</a:t>
                </a:r>
              </a:p>
            </p:txBody>
          </p:sp>
          <p:sp>
            <p:nvSpPr>
              <p:cNvPr id="13" name="Rectangle: Top Corners Rounded 12">
                <a:extLst>
                  <a:ext uri="{FF2B5EF4-FFF2-40B4-BE49-F238E27FC236}">
                    <a16:creationId xmlns:a16="http://schemas.microsoft.com/office/drawing/2014/main" id="{6A71875A-639F-8A85-8B87-D913C8E4DCDA}"/>
                  </a:ext>
                </a:extLst>
              </p:cNvPr>
              <p:cNvSpPr/>
              <p:nvPr/>
            </p:nvSpPr>
            <p:spPr>
              <a:xfrm>
                <a:off x="1217819" y="1487277"/>
                <a:ext cx="4662573" cy="453140"/>
              </a:xfrm>
              <a:prstGeom prst="round2SameRect">
                <a:avLst>
                  <a:gd name="adj1" fmla="val 38151"/>
                  <a:gd name="adj2" fmla="val 0"/>
                </a:avLst>
              </a:prstGeom>
              <a:solidFill>
                <a:srgbClr val="1E27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fa-IR" sz="1050" b="1" dirty="0">
                    <a:solidFill>
                      <a:schemeClr val="bg1"/>
                    </a:solidFill>
                    <a:latin typeface="Yekan Bakh" pitchFamily="2" charset="-78"/>
                    <a:ea typeface="Yekan Bakh" pitchFamily="2" charset="-78"/>
                    <a:cs typeface="Yekan Bakh" pitchFamily="2" charset="-78"/>
                  </a:rPr>
                  <a:t>اگر در زمین بازی جدید (مالکیت فناوری) نباشد، می‌تواند کل بازی را خراب کند</a:t>
                </a:r>
              </a:p>
            </p:txBody>
          </p:sp>
          <p:sp>
            <p:nvSpPr>
              <p:cNvPr id="17" name="Rectangle: Top Corners Rounded 16">
                <a:extLst>
                  <a:ext uri="{FF2B5EF4-FFF2-40B4-BE49-F238E27FC236}">
                    <a16:creationId xmlns:a16="http://schemas.microsoft.com/office/drawing/2014/main" id="{5AE3178D-814A-6243-61E0-7C24E0F26A2D}"/>
                  </a:ext>
                </a:extLst>
              </p:cNvPr>
              <p:cNvSpPr/>
              <p:nvPr/>
            </p:nvSpPr>
            <p:spPr>
              <a:xfrm flipV="1">
                <a:off x="1217819" y="2025456"/>
                <a:ext cx="4662573" cy="1926784"/>
              </a:xfrm>
              <a:prstGeom prst="round2SameRect">
                <a:avLst>
                  <a:gd name="adj1" fmla="val 8836"/>
                  <a:gd name="adj2" fmla="val 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a-IR" sz="1050" dirty="0">
                  <a:solidFill>
                    <a:srgbClr val="1E2761"/>
                  </a:solidFill>
                  <a:latin typeface="Yekan Bakh" pitchFamily="2" charset="-78"/>
                  <a:ea typeface="Yekan Bakh" pitchFamily="2" charset="-78"/>
                  <a:cs typeface="Yekan Bakh" pitchFamily="2" charset="-78"/>
                </a:endParaRPr>
              </a:p>
            </p:txBody>
          </p:sp>
          <p:sp>
            <p:nvSpPr>
              <p:cNvPr id="18" name="TextBox 17">
                <a:extLst>
                  <a:ext uri="{FF2B5EF4-FFF2-40B4-BE49-F238E27FC236}">
                    <a16:creationId xmlns:a16="http://schemas.microsoft.com/office/drawing/2014/main" id="{52209F85-E893-4D89-77A3-09F11D79A7DA}"/>
                  </a:ext>
                </a:extLst>
              </p:cNvPr>
              <p:cNvSpPr txBox="1"/>
              <p:nvPr/>
            </p:nvSpPr>
            <p:spPr>
              <a:xfrm>
                <a:off x="1217818" y="2036808"/>
                <a:ext cx="4662573" cy="1737014"/>
              </a:xfrm>
              <a:prstGeom prst="rect">
                <a:avLst/>
              </a:prstGeom>
              <a:noFill/>
            </p:spPr>
            <p:txBody>
              <a:bodyPr wrap="square" rtlCol="0">
                <a:spAutoFit/>
              </a:bodyPr>
              <a:lstStyle/>
              <a:p>
                <a:pPr marL="0" algn="justLow" defTabSz="457200" rtl="1" eaLnBrk="1" latinLnBrk="0" hangingPunct="1">
                  <a:lnSpc>
                    <a:spcPct val="150000"/>
                  </a:lnSpc>
                </a:pPr>
                <a:r>
                  <a:rPr lang="fa-IR" sz="900" dirty="0">
                    <a:solidFill>
                      <a:schemeClr val="tx1">
                        <a:lumMod val="75000"/>
                        <a:lumOff val="25000"/>
                      </a:schemeClr>
                    </a:solidFill>
                    <a:latin typeface="Yekan Bakh FaNum" pitchFamily="2" charset="-78"/>
                    <a:cs typeface="Yekan Bakh FaNum" pitchFamily="2" charset="-78"/>
                  </a:rPr>
                  <a:t>ایران، خصوصا در حین جنگ آخر با اسرائیل و ایالات متحده، اهرم‌های متعددی را رو کرد که نیاز به او در بازی جدید را جدی‌تر نشان می‌دهد:</a:t>
                </a:r>
              </a:p>
              <a:p>
                <a:pPr marL="0" algn="justLow" defTabSz="457200" rtl="1" eaLnBrk="1" latinLnBrk="0" hangingPunct="1">
                  <a:lnSpc>
                    <a:spcPct val="150000"/>
                  </a:lnSpc>
                </a:pPr>
                <a:r>
                  <a:rPr lang="fa-IR" sz="900" dirty="0">
                    <a:solidFill>
                      <a:schemeClr val="tx1">
                        <a:lumMod val="75000"/>
                        <a:lumOff val="25000"/>
                      </a:schemeClr>
                    </a:solidFill>
                    <a:latin typeface="Yekan Bakh FaNum" pitchFamily="2" charset="-78"/>
                    <a:cs typeface="Yekan Bakh FaNum" pitchFamily="2" charset="-78"/>
                  </a:rPr>
                  <a:t>از نظر نظامی مستقیما نمی‌تواند پیروز شود اما با صبر زیاد می‌تواند اقتصاد جهانی را متزلزل کند (برخلاف نیازمندی بازی جدید)</a:t>
                </a:r>
              </a:p>
              <a:p>
                <a:pPr marL="0" algn="justLow" defTabSz="457200" rtl="1" eaLnBrk="1" latinLnBrk="0" hangingPunct="1">
                  <a:lnSpc>
                    <a:spcPct val="150000"/>
                  </a:lnSpc>
                </a:pPr>
                <a:r>
                  <a:rPr lang="fa-IR" sz="900" dirty="0">
                    <a:solidFill>
                      <a:schemeClr val="tx1">
                        <a:lumMod val="75000"/>
                        <a:lumOff val="25000"/>
                      </a:schemeClr>
                    </a:solidFill>
                    <a:latin typeface="Yekan Bakh FaNum" pitchFamily="2" charset="-78"/>
                    <a:cs typeface="Yekan Bakh FaNum" pitchFamily="2" charset="-78"/>
                  </a:rPr>
                  <a:t>مناطقی که پیش‌رو در بازی جدید بودند را می‌تواند در معرض خطر قرار دهد (خصوصا کشورهای حاشیه خلیج فارس)</a:t>
                </a:r>
              </a:p>
              <a:p>
                <a:pPr marL="0" algn="justLow" defTabSz="457200" rtl="1" eaLnBrk="1" latinLnBrk="0" hangingPunct="1">
                  <a:lnSpc>
                    <a:spcPct val="150000"/>
                  </a:lnSpc>
                </a:pPr>
                <a:r>
                  <a:rPr lang="fa-IR" sz="900" dirty="0">
                    <a:solidFill>
                      <a:schemeClr val="tx1">
                        <a:lumMod val="75000"/>
                        <a:lumOff val="25000"/>
                      </a:schemeClr>
                    </a:solidFill>
                    <a:latin typeface="Yekan Bakh FaNum" pitchFamily="2" charset="-78"/>
                    <a:cs typeface="Yekan Bakh FaNum" pitchFamily="2" charset="-78"/>
                  </a:rPr>
                  <a:t>با استفاده از ابزارها مختلف (از جمله تنگه هرمز) می‌تواند هزینه بازی جدید را به اندازه‌ای بالا ببرد که مقرون به صرفه برای ماشین سرمایه نباشد</a:t>
                </a:r>
              </a:p>
            </p:txBody>
          </p:sp>
          <p:sp>
            <p:nvSpPr>
              <p:cNvPr id="20" name="Plus 8">
                <a:extLst>
                  <a:ext uri="{FF2B5EF4-FFF2-40B4-BE49-F238E27FC236}">
                    <a16:creationId xmlns:a16="http://schemas.microsoft.com/office/drawing/2014/main" id="{07CCFDD2-6A27-CBE7-BFE4-912B8C2B54B0}"/>
                  </a:ext>
                </a:extLst>
              </p:cNvPr>
              <p:cNvSpPr/>
              <p:nvPr/>
            </p:nvSpPr>
            <p:spPr>
              <a:xfrm>
                <a:off x="6044896" y="2804182"/>
                <a:ext cx="363828" cy="369332"/>
              </a:xfrm>
              <a:prstGeom prst="mathPlus">
                <a:avLst/>
              </a:prstGeom>
              <a:solidFill>
                <a:srgbClr val="F0BE0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457200" rtl="1" eaLnBrk="1" latinLnBrk="0" hangingPunct="1"/>
                <a:endParaRPr lang="en-IR"/>
              </a:p>
            </p:txBody>
          </p:sp>
          <p:sp>
            <p:nvSpPr>
              <p:cNvPr id="26" name="TextBox 25">
                <a:extLst>
                  <a:ext uri="{FF2B5EF4-FFF2-40B4-BE49-F238E27FC236}">
                    <a16:creationId xmlns:a16="http://schemas.microsoft.com/office/drawing/2014/main" id="{F49035CB-9022-8197-2198-2E8D9673BE12}"/>
                  </a:ext>
                </a:extLst>
              </p:cNvPr>
              <p:cNvSpPr txBox="1"/>
              <p:nvPr/>
            </p:nvSpPr>
            <p:spPr>
              <a:xfrm>
                <a:off x="5988426" y="1575347"/>
                <a:ext cx="447558" cy="261610"/>
              </a:xfrm>
              <a:prstGeom prst="rect">
                <a:avLst/>
              </a:prstGeom>
              <a:solidFill>
                <a:schemeClr val="bg1">
                  <a:lumMod val="95000"/>
                </a:schemeClr>
              </a:solidFill>
            </p:spPr>
            <p:txBody>
              <a:bodyPr wrap="none" rtlCol="0">
                <a:spAutoFit/>
              </a:bodyPr>
              <a:lstStyle/>
              <a:p>
                <a:pPr marL="0" algn="ctr" defTabSz="457200" rtl="0" eaLnBrk="1" latinLnBrk="0" hangingPunct="1"/>
                <a:r>
                  <a:rPr lang="fa-IR" sz="1050" b="1" dirty="0">
                    <a:latin typeface="Yekan Bakh FaNum" pitchFamily="2" charset="-78"/>
                    <a:cs typeface="Yekan Bakh FaNum" pitchFamily="2" charset="-78"/>
                  </a:rPr>
                  <a:t>بلکه</a:t>
                </a:r>
                <a:endParaRPr lang="en-IR" sz="1050" b="1" dirty="0">
                  <a:latin typeface="Yekan Bakh FaNum" pitchFamily="2" charset="-78"/>
                  <a:cs typeface="Yekan Bakh FaNum" pitchFamily="2" charset="-78"/>
                </a:endParaRPr>
              </a:p>
            </p:txBody>
          </p:sp>
        </p:grpSp>
      </p:grpSp>
    </p:spTree>
    <p:extLst>
      <p:ext uri="{BB962C8B-B14F-4D97-AF65-F5344CB8AC3E}">
        <p14:creationId xmlns:p14="http://schemas.microsoft.com/office/powerpoint/2010/main" val="24238892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BDAC2426-5652-892D-EAB3-BBFC31DA2770}"/>
              </a:ext>
            </a:extLst>
          </p:cNvPr>
          <p:cNvGrpSpPr/>
          <p:nvPr/>
        </p:nvGrpSpPr>
        <p:grpSpPr>
          <a:xfrm>
            <a:off x="407773" y="2406299"/>
            <a:ext cx="4699486" cy="1770764"/>
            <a:chOff x="407773" y="2799527"/>
            <a:chExt cx="4699486" cy="1770764"/>
          </a:xfrm>
        </p:grpSpPr>
        <p:sp>
          <p:nvSpPr>
            <p:cNvPr id="3" name="Title 1">
              <a:extLst>
                <a:ext uri="{FF2B5EF4-FFF2-40B4-BE49-F238E27FC236}">
                  <a16:creationId xmlns:a16="http://schemas.microsoft.com/office/drawing/2014/main" id="{224D39FE-AD1D-93B2-5D17-0825E1507E3C}"/>
                </a:ext>
              </a:extLst>
            </p:cNvPr>
            <p:cNvSpPr txBox="1">
              <a:spLocks/>
            </p:cNvSpPr>
            <p:nvPr/>
          </p:nvSpPr>
          <p:spPr>
            <a:xfrm>
              <a:off x="904811" y="2799527"/>
              <a:ext cx="3705411" cy="693069"/>
            </a:xfrm>
            <a:prstGeom prst="rect">
              <a:avLst/>
            </a:prstGeom>
          </p:spPr>
          <p:txBody>
            <a:bodyPr lIns="91440" tIns="45720" rIns="91440" bIns="45720" anchor="t"/>
            <a:lstStyle>
              <a:lvl1pPr algn="justLow" defTabSz="1021516" rtl="1" eaLnBrk="1" latinLnBrk="0" hangingPunct="1">
                <a:lnSpc>
                  <a:spcPct val="90000"/>
                </a:lnSpc>
                <a:spcBef>
                  <a:spcPct val="0"/>
                </a:spcBef>
                <a:buNone/>
                <a:defRPr sz="4500" b="1" kern="1200">
                  <a:solidFill>
                    <a:schemeClr val="tx1">
                      <a:lumMod val="75000"/>
                      <a:lumOff val="25000"/>
                    </a:schemeClr>
                  </a:solidFill>
                  <a:latin typeface="Shabnam Bold FD" panose="020B0603030804020204" pitchFamily="34" charset="-78"/>
                  <a:ea typeface="+mj-ea"/>
                  <a:cs typeface="Shabnam Bold FD" panose="020B0603030804020204" pitchFamily="34" charset="-78"/>
                </a:defRPr>
              </a:lvl1pPr>
            </a:lstStyle>
            <a:p>
              <a:pPr marL="0" marR="0" lvl="0" indent="0" algn="ctr" defTabSz="1021516" rtl="0" eaLnBrk="1" fontAlgn="auto" latinLnBrk="0" hangingPunct="1">
                <a:lnSpc>
                  <a:spcPct val="90000"/>
                </a:lnSpc>
                <a:spcBef>
                  <a:spcPct val="0"/>
                </a:spcBef>
                <a:spcAft>
                  <a:spcPts val="0"/>
                </a:spcAft>
                <a:buClrTx/>
                <a:buSzTx/>
                <a:buFontTx/>
                <a:buNone/>
                <a:tabLst/>
                <a:defRPr/>
              </a:pPr>
              <a:r>
                <a:rPr kumimoji="0" lang="fa-IR" sz="3200" b="1" i="0" strike="noStrike" kern="1200" cap="none" spc="0" normalizeH="0" baseline="0" noProof="0" dirty="0">
                  <a:ln>
                    <a:noFill/>
                  </a:ln>
                  <a:solidFill>
                    <a:sysClr val="window" lastClr="FFFFFF">
                      <a:lumMod val="75000"/>
                      <a:lumOff val="25000"/>
                    </a:sysClr>
                  </a:solidFill>
                  <a:effectLst/>
                  <a:uLnTx/>
                  <a:uFillTx/>
                  <a:latin typeface="Yekan Bakh" pitchFamily="2" charset="-78"/>
                  <a:ea typeface="Yekan Bakh" pitchFamily="2" charset="-78"/>
                  <a:cs typeface="Yekan Bakh" pitchFamily="2" charset="-78"/>
                </a:rPr>
                <a:t>مسیر اجرایی پروژه </a:t>
              </a:r>
            </a:p>
          </p:txBody>
        </p:sp>
        <p:cxnSp>
          <p:nvCxnSpPr>
            <p:cNvPr id="4" name="Straight Connector 3">
              <a:extLst>
                <a:ext uri="{FF2B5EF4-FFF2-40B4-BE49-F238E27FC236}">
                  <a16:creationId xmlns:a16="http://schemas.microsoft.com/office/drawing/2014/main" id="{64FE0BF9-0098-4DDC-747F-939E577F8E15}"/>
                </a:ext>
              </a:extLst>
            </p:cNvPr>
            <p:cNvCxnSpPr>
              <a:cxnSpLocks/>
            </p:cNvCxnSpPr>
            <p:nvPr/>
          </p:nvCxnSpPr>
          <p:spPr>
            <a:xfrm flipV="1">
              <a:off x="407773" y="3492596"/>
              <a:ext cx="4699486" cy="19385"/>
            </a:xfrm>
            <a:prstGeom prst="line">
              <a:avLst/>
            </a:prstGeom>
            <a:ln w="3175">
              <a:solidFill>
                <a:srgbClr val="F0BE0F">
                  <a:alpha val="74000"/>
                </a:srgb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CDB67797-3816-0003-8540-FA48022D3F7A}"/>
                </a:ext>
              </a:extLst>
            </p:cNvPr>
            <p:cNvSpPr txBox="1"/>
            <p:nvPr/>
          </p:nvSpPr>
          <p:spPr>
            <a:xfrm>
              <a:off x="593931" y="3654747"/>
              <a:ext cx="761426" cy="248914"/>
            </a:xfrm>
            <a:prstGeom prst="rect">
              <a:avLst/>
            </a:prstGeom>
            <a:noFill/>
          </p:spPr>
          <p:txBody>
            <a:bodyPr wrap="square" anchor="ctr">
              <a:spAutoFit/>
            </a:bodyPr>
            <a:lstStyle/>
            <a:p>
              <a:pPr marR="0" lvl="0" algn="ctr" defTabSz="914400" rtl="1" eaLnBrk="1" fontAlgn="auto" latinLnBrk="0" hangingPunct="1">
                <a:lnSpc>
                  <a:spcPct val="90000"/>
                </a:lnSpc>
                <a:spcBef>
                  <a:spcPts val="1117"/>
                </a:spcBef>
                <a:spcAft>
                  <a:spcPts val="0"/>
                </a:spcAft>
                <a:buClr>
                  <a:srgbClr val="F0BE0F"/>
                </a:buClr>
                <a:buSzTx/>
                <a:tabLst/>
                <a:defRPr/>
              </a:pPr>
              <a:r>
                <a:rPr kumimoji="0" lang="fa-IR" sz="1050" b="1" i="0" u="none" strike="noStrike" kern="1200" cap="none" spc="0" normalizeH="0" baseline="0" noProof="0" dirty="0">
                  <a:ln>
                    <a:noFill/>
                  </a:ln>
                  <a:solidFill>
                    <a:schemeClr val="bg1">
                      <a:lumMod val="50000"/>
                    </a:schemeClr>
                  </a:solidFill>
                  <a:effectLst/>
                  <a:uLnTx/>
                  <a:uFillTx/>
                  <a:latin typeface="Yekan Bakh" pitchFamily="2" charset="-78"/>
                  <a:ea typeface="Yekan Bakh" pitchFamily="2" charset="-78"/>
                  <a:cs typeface="Yekan Bakh" pitchFamily="2" charset="-78"/>
                </a:rPr>
                <a:t>اسلاید</a:t>
              </a:r>
              <a:endParaRPr kumimoji="0" lang="en-US" sz="1050" b="1" i="0" u="none" strike="noStrike" kern="1200" cap="none" spc="0" normalizeH="0" baseline="0" noProof="0" dirty="0">
                <a:ln>
                  <a:noFill/>
                </a:ln>
                <a:solidFill>
                  <a:schemeClr val="bg1">
                    <a:lumMod val="50000"/>
                  </a:schemeClr>
                </a:solidFill>
                <a:effectLst/>
                <a:uLnTx/>
                <a:uFillTx/>
                <a:latin typeface="Yekan Bakh" pitchFamily="2" charset="-78"/>
                <a:ea typeface="Yekan Bakh" pitchFamily="2" charset="-78"/>
                <a:cs typeface="Yekan Bakh" pitchFamily="2" charset="-78"/>
              </a:endParaRPr>
            </a:p>
          </p:txBody>
        </p:sp>
        <p:sp>
          <p:nvSpPr>
            <p:cNvPr id="8" name="TextBox 7">
              <a:extLst>
                <a:ext uri="{FF2B5EF4-FFF2-40B4-BE49-F238E27FC236}">
                  <a16:creationId xmlns:a16="http://schemas.microsoft.com/office/drawing/2014/main" id="{9C9A8292-570D-4E57-D8DA-2CAE11BE8C3E}"/>
                </a:ext>
              </a:extLst>
            </p:cNvPr>
            <p:cNvSpPr txBox="1"/>
            <p:nvPr/>
          </p:nvSpPr>
          <p:spPr>
            <a:xfrm>
              <a:off x="1648542" y="3956730"/>
              <a:ext cx="3458717" cy="263149"/>
            </a:xfrm>
            <a:prstGeom prst="rect">
              <a:avLst/>
            </a:prstGeom>
            <a:noFill/>
          </p:spPr>
          <p:txBody>
            <a:bodyPr wrap="square" anchor="ctr">
              <a:spAutoFit/>
            </a:bodyPr>
            <a:lstStyle/>
            <a:p>
              <a:pPr marL="285750" marR="0" lvl="0" indent="-285750" algn="r" defTabSz="914400" rtl="1" eaLnBrk="1" fontAlgn="auto" latinLnBrk="0" hangingPunct="1">
                <a:lnSpc>
                  <a:spcPct val="90000"/>
                </a:lnSpc>
                <a:spcBef>
                  <a:spcPts val="1117"/>
                </a:spcBef>
                <a:spcAft>
                  <a:spcPts val="0"/>
                </a:spcAft>
                <a:buClr>
                  <a:srgbClr val="F0BE0F"/>
                </a:buClr>
                <a:buSzTx/>
                <a:buFont typeface="Arial" panose="020B0604020202020204" pitchFamily="34" charset="0"/>
                <a:buChar char="•"/>
                <a:tabLst/>
                <a:defRPr/>
              </a:pPr>
              <a:r>
                <a:rPr kumimoji="0" lang="fa-IR" sz="1200" i="0" u="none" strike="noStrike" kern="1200" cap="none" spc="0" normalizeH="0" baseline="0" noProof="0" dirty="0">
                  <a:ln>
                    <a:noFill/>
                  </a:ln>
                  <a:solidFill>
                    <a:schemeClr val="bg1">
                      <a:lumMod val="75000"/>
                    </a:schemeClr>
                  </a:solidFill>
                  <a:effectLst/>
                  <a:uLnTx/>
                  <a:uFillTx/>
                  <a:latin typeface="Yekan Bakh" pitchFamily="2" charset="-78"/>
                  <a:ea typeface="Yekan Bakh" pitchFamily="2" charset="-78"/>
                  <a:cs typeface="Yekan Bakh" pitchFamily="2" charset="-78"/>
                </a:rPr>
                <a:t>منطق شکل‌گیری کسب‌وکار </a:t>
              </a:r>
            </a:p>
          </p:txBody>
        </p:sp>
        <p:sp>
          <p:nvSpPr>
            <p:cNvPr id="9" name="TextBox 8">
              <a:extLst>
                <a:ext uri="{FF2B5EF4-FFF2-40B4-BE49-F238E27FC236}">
                  <a16:creationId xmlns:a16="http://schemas.microsoft.com/office/drawing/2014/main" id="{C287F44D-9685-3015-74E5-874441E73115}"/>
                </a:ext>
              </a:extLst>
            </p:cNvPr>
            <p:cNvSpPr txBox="1"/>
            <p:nvPr/>
          </p:nvSpPr>
          <p:spPr>
            <a:xfrm>
              <a:off x="525137" y="3942496"/>
              <a:ext cx="899015" cy="291618"/>
            </a:xfrm>
            <a:prstGeom prst="rect">
              <a:avLst/>
            </a:prstGeom>
            <a:noFill/>
          </p:spPr>
          <p:txBody>
            <a:bodyPr wrap="square" anchor="ctr">
              <a:spAutoFit/>
            </a:bodyPr>
            <a:lstStyle/>
            <a:p>
              <a:pPr marR="0" lvl="0" algn="ctr" defTabSz="914400" eaLnBrk="1" fontAlgn="auto" latinLnBrk="0" hangingPunct="1">
                <a:lnSpc>
                  <a:spcPct val="90000"/>
                </a:lnSpc>
                <a:spcBef>
                  <a:spcPts val="1117"/>
                </a:spcBef>
                <a:spcAft>
                  <a:spcPts val="0"/>
                </a:spcAft>
                <a:buClr>
                  <a:srgbClr val="F0BE0F"/>
                </a:buClr>
                <a:buSzTx/>
                <a:tabLst/>
                <a:defRPr/>
              </a:pPr>
              <a:r>
                <a:rPr lang="fa-IR" sz="1400" b="1" dirty="0">
                  <a:solidFill>
                    <a:schemeClr val="accent2">
                      <a:lumMod val="60000"/>
                      <a:lumOff val="40000"/>
                    </a:schemeClr>
                  </a:solidFill>
                  <a:latin typeface="Yekan Bakh FaNum SmBoldSmCond" pitchFamily="2" charset="-78"/>
                  <a:ea typeface="Yekan Bakh FaNum SmBoldSmCond" pitchFamily="2" charset="-78"/>
                  <a:cs typeface="Yekan Bakh FaNum SmBoldSmCond" pitchFamily="2" charset="-78"/>
                </a:rPr>
                <a:t>۷</a:t>
              </a:r>
              <a:endParaRPr kumimoji="0" lang="en-US" sz="1400" b="1" i="0" u="none" strike="noStrike" kern="1200" cap="none" spc="0" normalizeH="0" baseline="0" noProof="0" dirty="0">
                <a:ln>
                  <a:noFill/>
                </a:ln>
                <a:solidFill>
                  <a:schemeClr val="accent2">
                    <a:lumMod val="60000"/>
                    <a:lumOff val="40000"/>
                  </a:schemeClr>
                </a:solidFill>
                <a:effectLst/>
                <a:uLnTx/>
                <a:uFillTx/>
                <a:latin typeface="Yekan Bakh FaNum SmBoldSmCond" pitchFamily="2" charset="-78"/>
                <a:ea typeface="Yekan Bakh FaNum SmBoldSmCond" pitchFamily="2" charset="-78"/>
                <a:cs typeface="Yekan Bakh FaNum SmBoldSmCond" pitchFamily="2" charset="-78"/>
              </a:endParaRPr>
            </a:p>
          </p:txBody>
        </p:sp>
        <p:sp>
          <p:nvSpPr>
            <p:cNvPr id="11" name="TextBox 10">
              <a:extLst>
                <a:ext uri="{FF2B5EF4-FFF2-40B4-BE49-F238E27FC236}">
                  <a16:creationId xmlns:a16="http://schemas.microsoft.com/office/drawing/2014/main" id="{ADA9FBC4-532A-C487-D763-9FB1FC4EFE3C}"/>
                </a:ext>
              </a:extLst>
            </p:cNvPr>
            <p:cNvSpPr txBox="1"/>
            <p:nvPr/>
          </p:nvSpPr>
          <p:spPr>
            <a:xfrm>
              <a:off x="1648542" y="4292907"/>
              <a:ext cx="3458717" cy="263149"/>
            </a:xfrm>
            <a:prstGeom prst="rect">
              <a:avLst/>
            </a:prstGeom>
            <a:noFill/>
          </p:spPr>
          <p:txBody>
            <a:bodyPr wrap="square" anchor="ctr">
              <a:spAutoFit/>
            </a:bodyPr>
            <a:lstStyle/>
            <a:p>
              <a:pPr marL="285750" marR="0" lvl="0" indent="-285750" algn="r" defTabSz="914400" rtl="1" eaLnBrk="1" fontAlgn="auto" latinLnBrk="0" hangingPunct="1">
                <a:lnSpc>
                  <a:spcPct val="90000"/>
                </a:lnSpc>
                <a:spcBef>
                  <a:spcPts val="1117"/>
                </a:spcBef>
                <a:spcAft>
                  <a:spcPts val="0"/>
                </a:spcAft>
                <a:buClr>
                  <a:srgbClr val="F0BE0F"/>
                </a:buClr>
                <a:buSzTx/>
                <a:buFont typeface="Arial" panose="020B0604020202020204" pitchFamily="34" charset="0"/>
                <a:buChar char="•"/>
                <a:tabLst/>
                <a:defRPr/>
              </a:pPr>
              <a:r>
                <a:rPr kumimoji="0" lang="fa-IR" sz="1200" i="0" u="none" strike="noStrike" kern="1200" cap="none" spc="0" normalizeH="0" baseline="0" noProof="0" dirty="0">
                  <a:ln>
                    <a:noFill/>
                  </a:ln>
                  <a:solidFill>
                    <a:schemeClr val="bg1">
                      <a:lumMod val="75000"/>
                    </a:schemeClr>
                  </a:solidFill>
                  <a:effectLst/>
                  <a:uLnTx/>
                  <a:uFillTx/>
                  <a:latin typeface="Yekan Bakh" pitchFamily="2" charset="-78"/>
                  <a:ea typeface="Yekan Bakh" pitchFamily="2" charset="-78"/>
                  <a:cs typeface="Yekan Bakh" pitchFamily="2" charset="-78"/>
                </a:rPr>
                <a:t>مدل کسب‌وکار </a:t>
              </a:r>
            </a:p>
          </p:txBody>
        </p:sp>
        <p:sp>
          <p:nvSpPr>
            <p:cNvPr id="12" name="TextBox 11">
              <a:extLst>
                <a:ext uri="{FF2B5EF4-FFF2-40B4-BE49-F238E27FC236}">
                  <a16:creationId xmlns:a16="http://schemas.microsoft.com/office/drawing/2014/main" id="{14AC9FAF-8003-5370-21A3-1885D515FD5F}"/>
                </a:ext>
              </a:extLst>
            </p:cNvPr>
            <p:cNvSpPr txBox="1"/>
            <p:nvPr/>
          </p:nvSpPr>
          <p:spPr>
            <a:xfrm>
              <a:off x="525137" y="4278673"/>
              <a:ext cx="899015" cy="291618"/>
            </a:xfrm>
            <a:prstGeom prst="rect">
              <a:avLst/>
            </a:prstGeom>
            <a:noFill/>
          </p:spPr>
          <p:txBody>
            <a:bodyPr wrap="square" anchor="ctr">
              <a:spAutoFit/>
            </a:bodyPr>
            <a:lstStyle/>
            <a:p>
              <a:pPr marR="0" lvl="0" algn="ctr" defTabSz="914400" eaLnBrk="1" fontAlgn="auto" latinLnBrk="0" hangingPunct="1">
                <a:lnSpc>
                  <a:spcPct val="90000"/>
                </a:lnSpc>
                <a:spcBef>
                  <a:spcPts val="1117"/>
                </a:spcBef>
                <a:spcAft>
                  <a:spcPts val="0"/>
                </a:spcAft>
                <a:buClr>
                  <a:srgbClr val="F0BE0F"/>
                </a:buClr>
                <a:buSzTx/>
                <a:tabLst/>
                <a:defRPr/>
              </a:pPr>
              <a:r>
                <a:rPr lang="fa-IR" sz="1400" b="1" dirty="0">
                  <a:solidFill>
                    <a:schemeClr val="accent2">
                      <a:lumMod val="60000"/>
                      <a:lumOff val="40000"/>
                    </a:schemeClr>
                  </a:solidFill>
                  <a:latin typeface="Yekan Bakh FaNum SmBoldSmCond" pitchFamily="2" charset="-78"/>
                  <a:ea typeface="Yekan Bakh FaNum SmBoldSmCond" pitchFamily="2" charset="-78"/>
                  <a:cs typeface="Yekan Bakh FaNum SmBoldSmCond" pitchFamily="2" charset="-78"/>
                </a:rPr>
                <a:t>۸</a:t>
              </a:r>
              <a:endParaRPr kumimoji="0" lang="en-US" sz="1400" b="1" i="0" u="none" strike="noStrike" kern="1200" cap="none" spc="0" normalizeH="0" baseline="0" noProof="0" dirty="0">
                <a:ln>
                  <a:noFill/>
                </a:ln>
                <a:solidFill>
                  <a:schemeClr val="accent2">
                    <a:lumMod val="60000"/>
                    <a:lumOff val="40000"/>
                  </a:schemeClr>
                </a:solidFill>
                <a:effectLst/>
                <a:uLnTx/>
                <a:uFillTx/>
                <a:latin typeface="Yekan Bakh FaNum SmBoldSmCond" pitchFamily="2" charset="-78"/>
                <a:ea typeface="Yekan Bakh FaNum SmBoldSmCond" pitchFamily="2" charset="-78"/>
                <a:cs typeface="Yekan Bakh FaNum SmBoldSmCond" pitchFamily="2" charset="-78"/>
              </a:endParaRPr>
            </a:p>
          </p:txBody>
        </p:sp>
      </p:grpSp>
    </p:spTree>
    <p:extLst>
      <p:ext uri="{BB962C8B-B14F-4D97-AF65-F5344CB8AC3E}">
        <p14:creationId xmlns:p14="http://schemas.microsoft.com/office/powerpoint/2010/main" val="25658463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B2B10AA-E53A-A141-453F-8ED3B8F0F32A}"/>
              </a:ext>
            </a:extLst>
          </p:cNvPr>
          <p:cNvSpPr>
            <a:spLocks noGrp="1"/>
          </p:cNvSpPr>
          <p:nvPr>
            <p:ph type="body" sz="quarter" idx="10"/>
          </p:nvPr>
        </p:nvSpPr>
        <p:spPr/>
        <p:txBody>
          <a:bodyPr/>
          <a:lstStyle/>
          <a:p>
            <a:r>
              <a:rPr lang="fa-IR" dirty="0"/>
              <a:t>منطق شکل‌گیری کسب‌وکار </a:t>
            </a:r>
          </a:p>
        </p:txBody>
      </p:sp>
      <p:sp>
        <p:nvSpPr>
          <p:cNvPr id="3" name="Text Placeholder 2">
            <a:extLst>
              <a:ext uri="{FF2B5EF4-FFF2-40B4-BE49-F238E27FC236}">
                <a16:creationId xmlns:a16="http://schemas.microsoft.com/office/drawing/2014/main" id="{1DA3067A-D0BA-02E1-B0A2-EACA3EC439A6}"/>
              </a:ext>
            </a:extLst>
          </p:cNvPr>
          <p:cNvSpPr>
            <a:spLocks noGrp="1"/>
          </p:cNvSpPr>
          <p:nvPr>
            <p:ph type="body" sz="quarter" idx="12"/>
          </p:nvPr>
        </p:nvSpPr>
        <p:spPr/>
        <p:txBody>
          <a:bodyPr/>
          <a:lstStyle/>
          <a:p>
            <a:r>
              <a:rPr lang="fa-IR" dirty="0"/>
              <a:t>مسیر راه‌اندازی یک کسب‌وکار خطی نیست، بلکه یک چرخه یادگیری و آزمایش و بهبود است. </a:t>
            </a:r>
          </a:p>
        </p:txBody>
      </p:sp>
      <p:sp>
        <p:nvSpPr>
          <p:cNvPr id="4" name="TextBox 3">
            <a:extLst>
              <a:ext uri="{FF2B5EF4-FFF2-40B4-BE49-F238E27FC236}">
                <a16:creationId xmlns:a16="http://schemas.microsoft.com/office/drawing/2014/main" id="{D9811386-D6CF-473E-254B-7CFC89E1EA19}"/>
              </a:ext>
            </a:extLst>
          </p:cNvPr>
          <p:cNvSpPr txBox="1"/>
          <p:nvPr/>
        </p:nvSpPr>
        <p:spPr>
          <a:xfrm>
            <a:off x="437288" y="1228724"/>
            <a:ext cx="10807003" cy="461665"/>
          </a:xfrm>
          <a:prstGeom prst="rect">
            <a:avLst/>
          </a:prstGeom>
          <a:noFill/>
        </p:spPr>
        <p:txBody>
          <a:bodyPr wrap="square" rtlCol="0">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Vision</a:t>
            </a:r>
            <a:r>
              <a:rPr kumimoji="0" lang="fa-IR" sz="12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و </a:t>
            </a:r>
            <a:r>
              <a:rPr kumimoji="0" lang="en-US" sz="12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Mission</a:t>
            </a:r>
            <a:r>
              <a:rPr kumimoji="0" lang="fa-IR" sz="12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اولیه، جهت حرکت را تعیین می‌کنند؛ </a:t>
            </a:r>
            <a:r>
              <a:rPr kumimoji="0" lang="en-US" sz="12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Business Model</a:t>
            </a:r>
            <a:r>
              <a:rPr kumimoji="0" lang="fa-IR" sz="12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آن جهت را به یک منطق اقتصادی تبدیل می‌کند؛ </a:t>
            </a:r>
            <a:r>
              <a:rPr kumimoji="0" lang="en-US" sz="12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Validation</a:t>
            </a:r>
            <a:r>
              <a:rPr kumimoji="0" lang="fa-IR" sz="12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واقعیت را وارد تصمیم می‌کند؛ و در نهایت، </a:t>
            </a:r>
            <a:r>
              <a:rPr kumimoji="0" lang="en-US" sz="12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Vision/Mission</a:t>
            </a:r>
            <a:r>
              <a:rPr kumimoji="0" lang="fa-IR" sz="12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و </a:t>
            </a:r>
            <a:r>
              <a:rPr kumimoji="0" lang="en-US" sz="12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Business Model</a:t>
            </a:r>
            <a:r>
              <a:rPr kumimoji="0" lang="fa-IR" sz="12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در یک چرخه اصلاحی با یکدیگر هم‌راستا می‌شوند.</a:t>
            </a:r>
          </a:p>
        </p:txBody>
      </p:sp>
      <p:sp>
        <p:nvSpPr>
          <p:cNvPr id="5" name="Rectangle 4">
            <a:extLst>
              <a:ext uri="{FF2B5EF4-FFF2-40B4-BE49-F238E27FC236}">
                <a16:creationId xmlns:a16="http://schemas.microsoft.com/office/drawing/2014/main" id="{2E3D450B-4433-AAB6-DD1D-7B980286EB30}"/>
              </a:ext>
            </a:extLst>
          </p:cNvPr>
          <p:cNvSpPr/>
          <p:nvPr/>
        </p:nvSpPr>
        <p:spPr>
          <a:xfrm>
            <a:off x="9098774" y="2034738"/>
            <a:ext cx="2058779" cy="733421"/>
          </a:xfrm>
          <a:prstGeom prst="rect">
            <a:avLst/>
          </a:prstGeom>
          <a:solidFill>
            <a:srgbClr val="1E2761">
              <a:alpha val="19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4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جهت‌گیری اولیه کسب‌وکار</a:t>
            </a:r>
          </a:p>
        </p:txBody>
      </p:sp>
      <p:cxnSp>
        <p:nvCxnSpPr>
          <p:cNvPr id="10" name="Straight Connector 9">
            <a:extLst>
              <a:ext uri="{FF2B5EF4-FFF2-40B4-BE49-F238E27FC236}">
                <a16:creationId xmlns:a16="http://schemas.microsoft.com/office/drawing/2014/main" id="{ED9CE358-CA99-8155-C757-739B250C5BED}"/>
              </a:ext>
            </a:extLst>
          </p:cNvPr>
          <p:cNvCxnSpPr>
            <a:cxnSpLocks/>
          </p:cNvCxnSpPr>
          <p:nvPr/>
        </p:nvCxnSpPr>
        <p:spPr>
          <a:xfrm>
            <a:off x="9098774" y="2768159"/>
            <a:ext cx="2058779" cy="0"/>
          </a:xfrm>
          <a:prstGeom prst="line">
            <a:avLst/>
          </a:prstGeom>
          <a:ln w="57150">
            <a:solidFill>
              <a:srgbClr val="1E2761"/>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AF330A66-5813-84A4-1CDA-6A28DF284A84}"/>
              </a:ext>
            </a:extLst>
          </p:cNvPr>
          <p:cNvSpPr/>
          <p:nvPr/>
        </p:nvSpPr>
        <p:spPr>
          <a:xfrm>
            <a:off x="6963385" y="2034738"/>
            <a:ext cx="2097084" cy="733421"/>
          </a:xfrm>
          <a:prstGeom prst="rect">
            <a:avLst/>
          </a:prstGeom>
          <a:solidFill>
            <a:srgbClr val="1E2761">
              <a:alpha val="19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400" b="1" i="0" u="none" strike="noStrike" kern="1200" cap="none" spc="0" normalizeH="0" baseline="0" noProof="0">
                <a:ln>
                  <a:noFill/>
                </a:ln>
                <a:solidFill>
                  <a:schemeClr val="bg1"/>
                </a:solidFill>
                <a:effectLst/>
                <a:uLnTx/>
                <a:uFillTx/>
                <a:latin typeface="Yekan Bakh" pitchFamily="2" charset="-78"/>
                <a:ea typeface="Yekan Bakh" pitchFamily="2" charset="-78"/>
                <a:cs typeface="Yekan Bakh" pitchFamily="2" charset="-78"/>
              </a:rPr>
              <a:t>مدل اولیه کسب‌وکار </a:t>
            </a:r>
            <a:endParaRPr kumimoji="0" lang="en-US" sz="1400" b="1" i="0" u="none" strike="noStrike" kern="1200" cap="none" spc="0" normalizeH="0" baseline="0" noProof="0">
              <a:ln>
                <a:noFill/>
              </a:ln>
              <a:solidFill>
                <a:schemeClr val="bg1"/>
              </a:solidFill>
              <a:effectLst/>
              <a:uLnTx/>
              <a:uFillTx/>
              <a:latin typeface="Yekan Bakh" pitchFamily="2" charset="-78"/>
              <a:ea typeface="Yekan Bakh" pitchFamily="2" charset="-78"/>
              <a:cs typeface="Yekan Bakh" pitchFamily="2" charset="-78"/>
            </a:endParaRPr>
          </a:p>
        </p:txBody>
      </p:sp>
      <p:cxnSp>
        <p:nvCxnSpPr>
          <p:cNvPr id="14" name="Straight Connector 13">
            <a:extLst>
              <a:ext uri="{FF2B5EF4-FFF2-40B4-BE49-F238E27FC236}">
                <a16:creationId xmlns:a16="http://schemas.microsoft.com/office/drawing/2014/main" id="{484E1D53-32D0-F0BD-5FC0-276AC6E50A67}"/>
              </a:ext>
            </a:extLst>
          </p:cNvPr>
          <p:cNvCxnSpPr>
            <a:cxnSpLocks/>
          </p:cNvCxnSpPr>
          <p:nvPr/>
        </p:nvCxnSpPr>
        <p:spPr>
          <a:xfrm>
            <a:off x="6963385" y="2768159"/>
            <a:ext cx="2097084" cy="0"/>
          </a:xfrm>
          <a:prstGeom prst="line">
            <a:avLst/>
          </a:prstGeom>
          <a:ln w="57150">
            <a:solidFill>
              <a:srgbClr val="1E2761"/>
            </a:solidFill>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3E746F45-9260-B7D3-A16F-3E93EC3F106B}"/>
              </a:ext>
            </a:extLst>
          </p:cNvPr>
          <p:cNvSpPr/>
          <p:nvPr/>
        </p:nvSpPr>
        <p:spPr>
          <a:xfrm>
            <a:off x="4827997" y="2034738"/>
            <a:ext cx="2097084" cy="733421"/>
          </a:xfrm>
          <a:prstGeom prst="rect">
            <a:avLst/>
          </a:prstGeom>
          <a:solidFill>
            <a:srgbClr val="1E2761">
              <a:alpha val="19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400" b="1" i="0" u="none" strike="noStrike" kern="1200" cap="none" spc="0" normalizeH="0" baseline="0" noProof="0">
                <a:ln>
                  <a:noFill/>
                </a:ln>
                <a:solidFill>
                  <a:schemeClr val="bg1"/>
                </a:solidFill>
                <a:effectLst/>
                <a:uLnTx/>
                <a:uFillTx/>
                <a:latin typeface="Yekan Bakh" pitchFamily="2" charset="-78"/>
                <a:ea typeface="Yekan Bakh" pitchFamily="2" charset="-78"/>
                <a:cs typeface="Yekan Bakh" pitchFamily="2" charset="-78"/>
              </a:rPr>
              <a:t>اعتبارسنجی پایپ‌لاین</a:t>
            </a:r>
            <a:endParaRPr kumimoji="0" lang="en-US" sz="1400" b="1" i="0" u="none" strike="noStrike" kern="1200" cap="none" spc="0" normalizeH="0" baseline="0" noProof="0">
              <a:ln>
                <a:noFill/>
              </a:ln>
              <a:solidFill>
                <a:schemeClr val="bg1"/>
              </a:solidFill>
              <a:effectLst/>
              <a:uLnTx/>
              <a:uFillTx/>
              <a:latin typeface="Yekan Bakh" pitchFamily="2" charset="-78"/>
              <a:ea typeface="Yekan Bakh" pitchFamily="2" charset="-78"/>
              <a:cs typeface="Yekan Bakh" pitchFamily="2" charset="-78"/>
            </a:endParaRPr>
          </a:p>
        </p:txBody>
      </p:sp>
      <p:cxnSp>
        <p:nvCxnSpPr>
          <p:cNvPr id="17" name="Straight Connector 16">
            <a:extLst>
              <a:ext uri="{FF2B5EF4-FFF2-40B4-BE49-F238E27FC236}">
                <a16:creationId xmlns:a16="http://schemas.microsoft.com/office/drawing/2014/main" id="{DF01239B-D377-BB70-92A9-7263FD49F301}"/>
              </a:ext>
            </a:extLst>
          </p:cNvPr>
          <p:cNvCxnSpPr>
            <a:cxnSpLocks/>
          </p:cNvCxnSpPr>
          <p:nvPr/>
        </p:nvCxnSpPr>
        <p:spPr>
          <a:xfrm>
            <a:off x="4827997" y="2768159"/>
            <a:ext cx="2097084" cy="0"/>
          </a:xfrm>
          <a:prstGeom prst="line">
            <a:avLst/>
          </a:prstGeom>
          <a:ln w="57150">
            <a:solidFill>
              <a:srgbClr val="1E2761"/>
            </a:solidFill>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216BF571-2D77-A0F1-0F02-7A21E9E69F47}"/>
              </a:ext>
            </a:extLst>
          </p:cNvPr>
          <p:cNvSpPr/>
          <p:nvPr/>
        </p:nvSpPr>
        <p:spPr>
          <a:xfrm>
            <a:off x="2692609" y="2034738"/>
            <a:ext cx="2097084" cy="733421"/>
          </a:xfrm>
          <a:prstGeom prst="rect">
            <a:avLst/>
          </a:prstGeom>
          <a:solidFill>
            <a:srgbClr val="1E2761">
              <a:alpha val="19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400" b="1" i="0" u="none" strike="noStrike" kern="1200" cap="none" spc="0" normalizeH="0" baseline="0" noProof="0">
                <a:ln>
                  <a:noFill/>
                </a:ln>
                <a:solidFill>
                  <a:schemeClr val="bg1"/>
                </a:solidFill>
                <a:effectLst/>
                <a:uLnTx/>
                <a:uFillTx/>
                <a:latin typeface="Yekan Bakh" pitchFamily="2" charset="-78"/>
                <a:ea typeface="Yekan Bakh" pitchFamily="2" charset="-78"/>
                <a:cs typeface="Yekan Bakh" pitchFamily="2" charset="-78"/>
              </a:rPr>
              <a:t>مدل کسب‌و‌کار نهایی</a:t>
            </a:r>
            <a:endParaRPr kumimoji="0" lang="en-US" sz="1400" b="1" i="0" u="none" strike="noStrike" kern="1200" cap="none" spc="0" normalizeH="0" baseline="0" noProof="0">
              <a:ln>
                <a:noFill/>
              </a:ln>
              <a:solidFill>
                <a:schemeClr val="bg1"/>
              </a:solidFill>
              <a:effectLst/>
              <a:uLnTx/>
              <a:uFillTx/>
              <a:latin typeface="Yekan Bakh" pitchFamily="2" charset="-78"/>
              <a:ea typeface="Yekan Bakh" pitchFamily="2" charset="-78"/>
              <a:cs typeface="Yekan Bakh" pitchFamily="2" charset="-78"/>
            </a:endParaRPr>
          </a:p>
        </p:txBody>
      </p:sp>
      <p:cxnSp>
        <p:nvCxnSpPr>
          <p:cNvPr id="20" name="Straight Connector 19">
            <a:extLst>
              <a:ext uri="{FF2B5EF4-FFF2-40B4-BE49-F238E27FC236}">
                <a16:creationId xmlns:a16="http://schemas.microsoft.com/office/drawing/2014/main" id="{A6425842-257A-7BC2-92D4-828D87092149}"/>
              </a:ext>
            </a:extLst>
          </p:cNvPr>
          <p:cNvCxnSpPr>
            <a:cxnSpLocks/>
          </p:cNvCxnSpPr>
          <p:nvPr/>
        </p:nvCxnSpPr>
        <p:spPr>
          <a:xfrm>
            <a:off x="2692609" y="2768159"/>
            <a:ext cx="2097084" cy="0"/>
          </a:xfrm>
          <a:prstGeom prst="line">
            <a:avLst/>
          </a:prstGeom>
          <a:ln w="57150">
            <a:solidFill>
              <a:srgbClr val="1E2761"/>
            </a:solidFill>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0CE6AF94-3FC5-C9BA-59C1-56B1DB0FA9A5}"/>
              </a:ext>
            </a:extLst>
          </p:cNvPr>
          <p:cNvSpPr/>
          <p:nvPr/>
        </p:nvSpPr>
        <p:spPr>
          <a:xfrm>
            <a:off x="557221" y="2034738"/>
            <a:ext cx="2097084" cy="733421"/>
          </a:xfrm>
          <a:prstGeom prst="rect">
            <a:avLst/>
          </a:prstGeom>
          <a:solidFill>
            <a:srgbClr val="1E2761">
              <a:alpha val="19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400" b="1" i="0" u="none" strike="noStrike" kern="1200" cap="none" spc="0" normalizeH="0" baseline="0" noProof="0">
                <a:ln>
                  <a:noFill/>
                </a:ln>
                <a:solidFill>
                  <a:schemeClr val="bg1"/>
                </a:solidFill>
                <a:effectLst/>
                <a:uLnTx/>
                <a:uFillTx/>
                <a:latin typeface="Yekan Bakh" pitchFamily="2" charset="-78"/>
                <a:ea typeface="Yekan Bakh" pitchFamily="2" charset="-78"/>
                <a:cs typeface="Yekan Bakh" pitchFamily="2" charset="-78"/>
              </a:rPr>
              <a:t>جهت‌گیری نهایی کسب‌وکار</a:t>
            </a:r>
            <a:endParaRPr kumimoji="0" lang="en-US" sz="1400" b="1" i="0" u="none" strike="noStrike" kern="1200" cap="none" spc="0" normalizeH="0" baseline="0" noProof="0">
              <a:ln>
                <a:noFill/>
              </a:ln>
              <a:solidFill>
                <a:schemeClr val="bg1"/>
              </a:solidFill>
              <a:effectLst/>
              <a:uLnTx/>
              <a:uFillTx/>
              <a:latin typeface="Yekan Bakh" pitchFamily="2" charset="-78"/>
              <a:ea typeface="Yekan Bakh" pitchFamily="2" charset="-78"/>
              <a:cs typeface="Yekan Bakh" pitchFamily="2" charset="-78"/>
            </a:endParaRPr>
          </a:p>
        </p:txBody>
      </p:sp>
      <p:cxnSp>
        <p:nvCxnSpPr>
          <p:cNvPr id="23" name="Straight Connector 22">
            <a:extLst>
              <a:ext uri="{FF2B5EF4-FFF2-40B4-BE49-F238E27FC236}">
                <a16:creationId xmlns:a16="http://schemas.microsoft.com/office/drawing/2014/main" id="{E84FA7BB-D765-733D-88AC-5F7F525389AD}"/>
              </a:ext>
            </a:extLst>
          </p:cNvPr>
          <p:cNvCxnSpPr>
            <a:cxnSpLocks/>
          </p:cNvCxnSpPr>
          <p:nvPr/>
        </p:nvCxnSpPr>
        <p:spPr>
          <a:xfrm>
            <a:off x="557221" y="2768159"/>
            <a:ext cx="2097084" cy="0"/>
          </a:xfrm>
          <a:prstGeom prst="line">
            <a:avLst/>
          </a:prstGeom>
          <a:ln w="57150">
            <a:solidFill>
              <a:srgbClr val="1E2761"/>
            </a:solidFill>
          </a:ln>
        </p:spPr>
        <p:style>
          <a:lnRef idx="1">
            <a:schemeClr val="accent1"/>
          </a:lnRef>
          <a:fillRef idx="0">
            <a:schemeClr val="accent1"/>
          </a:fillRef>
          <a:effectRef idx="0">
            <a:schemeClr val="accent1"/>
          </a:effectRef>
          <a:fontRef idx="minor">
            <a:schemeClr val="tx1"/>
          </a:fontRef>
        </p:style>
      </p:cxnSp>
      <p:sp>
        <p:nvSpPr>
          <p:cNvPr id="24" name="Arrow: Chevron 23">
            <a:extLst>
              <a:ext uri="{FF2B5EF4-FFF2-40B4-BE49-F238E27FC236}">
                <a16:creationId xmlns:a16="http://schemas.microsoft.com/office/drawing/2014/main" id="{18032033-5EB0-CC52-E90A-4D27C703E621}"/>
              </a:ext>
            </a:extLst>
          </p:cNvPr>
          <p:cNvSpPr/>
          <p:nvPr/>
        </p:nvSpPr>
        <p:spPr>
          <a:xfrm rot="10800000">
            <a:off x="8949783" y="2292601"/>
            <a:ext cx="221372" cy="217693"/>
          </a:xfrm>
          <a:prstGeom prst="chevron">
            <a:avLst>
              <a:gd name="adj" fmla="val 59844"/>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25" name="Arrow: Chevron 24">
            <a:extLst>
              <a:ext uri="{FF2B5EF4-FFF2-40B4-BE49-F238E27FC236}">
                <a16:creationId xmlns:a16="http://schemas.microsoft.com/office/drawing/2014/main" id="{DCF743C8-2E6A-A7A3-5A3E-DC30D2211E18}"/>
              </a:ext>
            </a:extLst>
          </p:cNvPr>
          <p:cNvSpPr/>
          <p:nvPr/>
        </p:nvSpPr>
        <p:spPr>
          <a:xfrm rot="10800000">
            <a:off x="6814394" y="2292600"/>
            <a:ext cx="221372" cy="217693"/>
          </a:xfrm>
          <a:prstGeom prst="chevron">
            <a:avLst>
              <a:gd name="adj" fmla="val 59844"/>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26" name="Arrow: Chevron 25">
            <a:extLst>
              <a:ext uri="{FF2B5EF4-FFF2-40B4-BE49-F238E27FC236}">
                <a16:creationId xmlns:a16="http://schemas.microsoft.com/office/drawing/2014/main" id="{78B81A55-2634-3240-E88E-9B9EAA3EBA08}"/>
              </a:ext>
            </a:extLst>
          </p:cNvPr>
          <p:cNvSpPr/>
          <p:nvPr/>
        </p:nvSpPr>
        <p:spPr>
          <a:xfrm rot="10800000">
            <a:off x="4678410" y="2292384"/>
            <a:ext cx="221372" cy="217693"/>
          </a:xfrm>
          <a:prstGeom prst="chevron">
            <a:avLst>
              <a:gd name="adj" fmla="val 59844"/>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27" name="Arrow: Chevron 26">
            <a:extLst>
              <a:ext uri="{FF2B5EF4-FFF2-40B4-BE49-F238E27FC236}">
                <a16:creationId xmlns:a16="http://schemas.microsoft.com/office/drawing/2014/main" id="{AF2AAAFC-1DCA-0996-0B85-BC8B7B51821E}"/>
              </a:ext>
            </a:extLst>
          </p:cNvPr>
          <p:cNvSpPr/>
          <p:nvPr/>
        </p:nvSpPr>
        <p:spPr>
          <a:xfrm rot="10800000">
            <a:off x="2562771" y="2292384"/>
            <a:ext cx="221372" cy="217693"/>
          </a:xfrm>
          <a:prstGeom prst="chevron">
            <a:avLst>
              <a:gd name="adj" fmla="val 59844"/>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28" name="TextBox 27">
            <a:extLst>
              <a:ext uri="{FF2B5EF4-FFF2-40B4-BE49-F238E27FC236}">
                <a16:creationId xmlns:a16="http://schemas.microsoft.com/office/drawing/2014/main" id="{E2DE3583-EEDB-EE55-CEB8-BF40352CEF9E}"/>
              </a:ext>
            </a:extLst>
          </p:cNvPr>
          <p:cNvSpPr txBox="1"/>
          <p:nvPr/>
        </p:nvSpPr>
        <p:spPr>
          <a:xfrm>
            <a:off x="10563726" y="1807441"/>
            <a:ext cx="680565" cy="276999"/>
          </a:xfrm>
          <a:prstGeom prst="rect">
            <a:avLst/>
          </a:prstGeom>
          <a:noFill/>
        </p:spPr>
        <p:txBody>
          <a:bodyPr wrap="square" rtlCol="0">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2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مرحله: </a:t>
            </a:r>
            <a:endParaRPr kumimoji="0" lang="en-US" sz="12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p:txBody>
      </p:sp>
      <p:sp>
        <p:nvSpPr>
          <p:cNvPr id="29" name="TextBox 28">
            <a:extLst>
              <a:ext uri="{FF2B5EF4-FFF2-40B4-BE49-F238E27FC236}">
                <a16:creationId xmlns:a16="http://schemas.microsoft.com/office/drawing/2014/main" id="{48346031-EDCB-AF59-5805-E8F4C6CA0F9B}"/>
              </a:ext>
            </a:extLst>
          </p:cNvPr>
          <p:cNvSpPr txBox="1"/>
          <p:nvPr/>
        </p:nvSpPr>
        <p:spPr>
          <a:xfrm>
            <a:off x="10563726" y="3099969"/>
            <a:ext cx="680565" cy="276999"/>
          </a:xfrm>
          <a:prstGeom prst="rect">
            <a:avLst/>
          </a:prstGeom>
          <a:noFill/>
        </p:spPr>
        <p:txBody>
          <a:bodyPr wrap="square" rtlCol="0">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200" b="1" i="0" u="none" strike="noStrike" kern="1200" cap="none" spc="0" normalizeH="0" baseline="0" noProof="0">
                <a:ln>
                  <a:noFill/>
                </a:ln>
                <a:solidFill>
                  <a:srgbClr val="F0BE0F"/>
                </a:solidFill>
                <a:effectLst/>
                <a:uLnTx/>
                <a:uFillTx/>
                <a:latin typeface="Yekan Bakh" pitchFamily="2" charset="-78"/>
                <a:ea typeface="Yekan Bakh" pitchFamily="2" charset="-78"/>
                <a:cs typeface="Yekan Bakh" pitchFamily="2" charset="-78"/>
              </a:rPr>
              <a:t>هدف: </a:t>
            </a:r>
            <a:endParaRPr kumimoji="0" lang="en-US" sz="1200" b="1" i="0" u="none" strike="noStrike" kern="1200" cap="none" spc="0" normalizeH="0" baseline="0" noProof="0">
              <a:ln>
                <a:noFill/>
              </a:ln>
              <a:solidFill>
                <a:srgbClr val="F0BE0F"/>
              </a:solidFill>
              <a:effectLst/>
              <a:uLnTx/>
              <a:uFillTx/>
              <a:latin typeface="Yekan Bakh" pitchFamily="2" charset="-78"/>
              <a:ea typeface="Yekan Bakh" pitchFamily="2" charset="-78"/>
              <a:cs typeface="Yekan Bakh" pitchFamily="2" charset="-78"/>
            </a:endParaRPr>
          </a:p>
        </p:txBody>
      </p:sp>
      <p:sp>
        <p:nvSpPr>
          <p:cNvPr id="30" name="TextBox 29">
            <a:extLst>
              <a:ext uri="{FF2B5EF4-FFF2-40B4-BE49-F238E27FC236}">
                <a16:creationId xmlns:a16="http://schemas.microsoft.com/office/drawing/2014/main" id="{393C3642-A019-A7C3-BD70-12F56C7F24EA}"/>
              </a:ext>
            </a:extLst>
          </p:cNvPr>
          <p:cNvSpPr txBox="1"/>
          <p:nvPr/>
        </p:nvSpPr>
        <p:spPr>
          <a:xfrm>
            <a:off x="9098774" y="3292475"/>
            <a:ext cx="2058779" cy="461665"/>
          </a:xfrm>
          <a:prstGeom prst="rect">
            <a:avLst/>
          </a:prstGeom>
          <a:noFill/>
        </p:spPr>
        <p:txBody>
          <a:bodyPr wrap="square" rtlCol="0">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2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مشخص‌کردن جهت و مقصد کلی کسب‌وکار</a:t>
            </a:r>
            <a:endParaRPr kumimoji="0" lang="en-US" sz="12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31" name="TextBox 30">
            <a:extLst>
              <a:ext uri="{FF2B5EF4-FFF2-40B4-BE49-F238E27FC236}">
                <a16:creationId xmlns:a16="http://schemas.microsoft.com/office/drawing/2014/main" id="{641C5BED-053B-2457-268C-202A4AD3DE40}"/>
              </a:ext>
            </a:extLst>
          </p:cNvPr>
          <p:cNvSpPr txBox="1"/>
          <p:nvPr/>
        </p:nvSpPr>
        <p:spPr>
          <a:xfrm>
            <a:off x="6963386" y="3292475"/>
            <a:ext cx="2097084" cy="461665"/>
          </a:xfrm>
          <a:prstGeom prst="rect">
            <a:avLst/>
          </a:prstGeom>
          <a:noFill/>
        </p:spPr>
        <p:txBody>
          <a:bodyPr wrap="square" rtlCol="0">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2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تبدیل ایده به یک منطق اولیه اجرایی برای کسب‌وکار</a:t>
            </a:r>
            <a:endParaRPr kumimoji="0" lang="en-US" sz="12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32" name="TextBox 31">
            <a:extLst>
              <a:ext uri="{FF2B5EF4-FFF2-40B4-BE49-F238E27FC236}">
                <a16:creationId xmlns:a16="http://schemas.microsoft.com/office/drawing/2014/main" id="{45FE2A15-C3C7-D9F7-7723-04BB0D0CA47C}"/>
              </a:ext>
            </a:extLst>
          </p:cNvPr>
          <p:cNvSpPr txBox="1"/>
          <p:nvPr/>
        </p:nvSpPr>
        <p:spPr>
          <a:xfrm>
            <a:off x="4827997" y="3292475"/>
            <a:ext cx="2097084" cy="461665"/>
          </a:xfrm>
          <a:prstGeom prst="rect">
            <a:avLst/>
          </a:prstGeom>
          <a:noFill/>
        </p:spPr>
        <p:txBody>
          <a:bodyPr wrap="square" rtlCol="0">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2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بررسی اینکه فرضیات با واقعیت بازار سازگارند یا نه</a:t>
            </a:r>
            <a:endParaRPr kumimoji="0" lang="en-US" sz="12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33" name="TextBox 32">
            <a:extLst>
              <a:ext uri="{FF2B5EF4-FFF2-40B4-BE49-F238E27FC236}">
                <a16:creationId xmlns:a16="http://schemas.microsoft.com/office/drawing/2014/main" id="{0BBEA2BE-4401-995E-B837-5AA3EBFB5607}"/>
              </a:ext>
            </a:extLst>
          </p:cNvPr>
          <p:cNvSpPr txBox="1"/>
          <p:nvPr/>
        </p:nvSpPr>
        <p:spPr>
          <a:xfrm>
            <a:off x="2692609" y="3292475"/>
            <a:ext cx="2097084" cy="646331"/>
          </a:xfrm>
          <a:prstGeom prst="rect">
            <a:avLst/>
          </a:prstGeom>
          <a:noFill/>
        </p:spPr>
        <p:txBody>
          <a:bodyPr wrap="square" rtlCol="0">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2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اصلاح مدل کسب‌وکار بر اساس شواهد بازار و نیازهای مشتریان</a:t>
            </a:r>
            <a:endParaRPr kumimoji="0" lang="en-US" sz="12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34" name="TextBox 33">
            <a:extLst>
              <a:ext uri="{FF2B5EF4-FFF2-40B4-BE49-F238E27FC236}">
                <a16:creationId xmlns:a16="http://schemas.microsoft.com/office/drawing/2014/main" id="{0D6254EB-679C-A923-3ADF-7E879310062C}"/>
              </a:ext>
            </a:extLst>
          </p:cNvPr>
          <p:cNvSpPr txBox="1"/>
          <p:nvPr/>
        </p:nvSpPr>
        <p:spPr>
          <a:xfrm>
            <a:off x="341697" y="3292475"/>
            <a:ext cx="2350912" cy="646331"/>
          </a:xfrm>
          <a:prstGeom prst="rect">
            <a:avLst/>
          </a:prstGeom>
          <a:noFill/>
        </p:spPr>
        <p:txBody>
          <a:bodyPr wrap="square" rtlCol="0">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2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نهایی‌کردن هویت و جهت کسب‌وکار بر اساس مدل معتبرشده</a:t>
            </a:r>
            <a:endParaRPr kumimoji="0" lang="en-US" sz="12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cxnSp>
        <p:nvCxnSpPr>
          <p:cNvPr id="36" name="Straight Connector 35">
            <a:extLst>
              <a:ext uri="{FF2B5EF4-FFF2-40B4-BE49-F238E27FC236}">
                <a16:creationId xmlns:a16="http://schemas.microsoft.com/office/drawing/2014/main" id="{C9AA454E-868A-02BB-B01E-CE22365401C3}"/>
              </a:ext>
            </a:extLst>
          </p:cNvPr>
          <p:cNvCxnSpPr>
            <a:cxnSpLocks/>
          </p:cNvCxnSpPr>
          <p:nvPr/>
        </p:nvCxnSpPr>
        <p:spPr>
          <a:xfrm>
            <a:off x="9079621" y="2756932"/>
            <a:ext cx="0" cy="2194560"/>
          </a:xfrm>
          <a:prstGeom prst="line">
            <a:avLst/>
          </a:prstGeom>
          <a:ln>
            <a:solidFill>
              <a:srgbClr val="1E2761"/>
            </a:solidFill>
            <a:prstDash val="dash"/>
          </a:ln>
        </p:spPr>
        <p:style>
          <a:lnRef idx="1">
            <a:schemeClr val="accent4"/>
          </a:lnRef>
          <a:fillRef idx="0">
            <a:schemeClr val="accent4"/>
          </a:fillRef>
          <a:effectRef idx="0">
            <a:schemeClr val="accent4"/>
          </a:effectRef>
          <a:fontRef idx="minor">
            <a:schemeClr val="tx1"/>
          </a:fontRef>
        </p:style>
      </p:cxnSp>
      <p:cxnSp>
        <p:nvCxnSpPr>
          <p:cNvPr id="37" name="Straight Connector 36">
            <a:extLst>
              <a:ext uri="{FF2B5EF4-FFF2-40B4-BE49-F238E27FC236}">
                <a16:creationId xmlns:a16="http://schemas.microsoft.com/office/drawing/2014/main" id="{8BF65B29-5DDC-2BD6-03D0-017A0B389446}"/>
              </a:ext>
            </a:extLst>
          </p:cNvPr>
          <p:cNvCxnSpPr>
            <a:cxnSpLocks/>
          </p:cNvCxnSpPr>
          <p:nvPr/>
        </p:nvCxnSpPr>
        <p:spPr>
          <a:xfrm>
            <a:off x="6944233" y="2756932"/>
            <a:ext cx="0" cy="2194560"/>
          </a:xfrm>
          <a:prstGeom prst="line">
            <a:avLst/>
          </a:prstGeom>
          <a:ln>
            <a:solidFill>
              <a:srgbClr val="1E2761"/>
            </a:solidFill>
            <a:prstDash val="dash"/>
          </a:ln>
        </p:spPr>
        <p:style>
          <a:lnRef idx="1">
            <a:schemeClr val="accent4"/>
          </a:lnRef>
          <a:fillRef idx="0">
            <a:schemeClr val="accent4"/>
          </a:fillRef>
          <a:effectRef idx="0">
            <a:schemeClr val="accent4"/>
          </a:effectRef>
          <a:fontRef idx="minor">
            <a:schemeClr val="tx1"/>
          </a:fontRef>
        </p:style>
      </p:cxnSp>
      <p:cxnSp>
        <p:nvCxnSpPr>
          <p:cNvPr id="38" name="Straight Connector 37">
            <a:extLst>
              <a:ext uri="{FF2B5EF4-FFF2-40B4-BE49-F238E27FC236}">
                <a16:creationId xmlns:a16="http://schemas.microsoft.com/office/drawing/2014/main" id="{431FCB68-1939-A831-C728-A9A4F373DDA6}"/>
              </a:ext>
            </a:extLst>
          </p:cNvPr>
          <p:cNvCxnSpPr>
            <a:cxnSpLocks/>
          </p:cNvCxnSpPr>
          <p:nvPr/>
        </p:nvCxnSpPr>
        <p:spPr>
          <a:xfrm>
            <a:off x="4808338" y="2756932"/>
            <a:ext cx="0" cy="2194560"/>
          </a:xfrm>
          <a:prstGeom prst="line">
            <a:avLst/>
          </a:prstGeom>
          <a:ln>
            <a:solidFill>
              <a:srgbClr val="1E2761"/>
            </a:solidFill>
            <a:prstDash val="dash"/>
          </a:ln>
        </p:spPr>
        <p:style>
          <a:lnRef idx="1">
            <a:schemeClr val="accent4"/>
          </a:lnRef>
          <a:fillRef idx="0">
            <a:schemeClr val="accent4"/>
          </a:fillRef>
          <a:effectRef idx="0">
            <a:schemeClr val="accent4"/>
          </a:effectRef>
          <a:fontRef idx="minor">
            <a:schemeClr val="tx1"/>
          </a:fontRef>
        </p:style>
      </p:cxnSp>
      <p:cxnSp>
        <p:nvCxnSpPr>
          <p:cNvPr id="39" name="Straight Connector 38">
            <a:extLst>
              <a:ext uri="{FF2B5EF4-FFF2-40B4-BE49-F238E27FC236}">
                <a16:creationId xmlns:a16="http://schemas.microsoft.com/office/drawing/2014/main" id="{8E1F0873-9935-32A3-4288-FE061F96F2CF}"/>
              </a:ext>
            </a:extLst>
          </p:cNvPr>
          <p:cNvCxnSpPr>
            <a:cxnSpLocks/>
          </p:cNvCxnSpPr>
          <p:nvPr/>
        </p:nvCxnSpPr>
        <p:spPr>
          <a:xfrm>
            <a:off x="2673457" y="2756932"/>
            <a:ext cx="0" cy="2194560"/>
          </a:xfrm>
          <a:prstGeom prst="line">
            <a:avLst/>
          </a:prstGeom>
          <a:ln>
            <a:solidFill>
              <a:srgbClr val="1E2761"/>
            </a:solidFill>
            <a:prstDash val="dash"/>
          </a:ln>
        </p:spPr>
        <p:style>
          <a:lnRef idx="1">
            <a:schemeClr val="accent4"/>
          </a:lnRef>
          <a:fillRef idx="0">
            <a:schemeClr val="accent4"/>
          </a:fillRef>
          <a:effectRef idx="0">
            <a:schemeClr val="accent4"/>
          </a:effectRef>
          <a:fontRef idx="minor">
            <a:schemeClr val="tx1"/>
          </a:fontRef>
        </p:style>
      </p:cxnSp>
      <p:sp>
        <p:nvSpPr>
          <p:cNvPr id="42" name="TextBox 41">
            <a:extLst>
              <a:ext uri="{FF2B5EF4-FFF2-40B4-BE49-F238E27FC236}">
                <a16:creationId xmlns:a16="http://schemas.microsoft.com/office/drawing/2014/main" id="{750A905A-BE0C-562F-0A52-ED49A2B2AA94}"/>
              </a:ext>
            </a:extLst>
          </p:cNvPr>
          <p:cNvSpPr txBox="1"/>
          <p:nvPr/>
        </p:nvSpPr>
        <p:spPr>
          <a:xfrm>
            <a:off x="10120964" y="4036359"/>
            <a:ext cx="1123327" cy="276999"/>
          </a:xfrm>
          <a:prstGeom prst="rect">
            <a:avLst/>
          </a:prstGeom>
          <a:noFill/>
        </p:spPr>
        <p:txBody>
          <a:bodyPr wrap="square" rtlCol="0">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200" b="1" i="0" u="none" strike="noStrike" kern="1200" cap="none" spc="0" normalizeH="0" baseline="0" noProof="0">
                <a:ln>
                  <a:noFill/>
                </a:ln>
                <a:solidFill>
                  <a:srgbClr val="F0BE0F"/>
                </a:solidFill>
                <a:effectLst/>
                <a:uLnTx/>
                <a:uFillTx/>
                <a:latin typeface="Yekan Bakh" pitchFamily="2" charset="-78"/>
                <a:ea typeface="Yekan Bakh" pitchFamily="2" charset="-78"/>
                <a:cs typeface="Yekan Bakh" pitchFamily="2" charset="-78"/>
              </a:rPr>
              <a:t>نوع اقدام: </a:t>
            </a:r>
            <a:endParaRPr kumimoji="0" lang="en-US" sz="1200" b="1" i="0" u="none" strike="noStrike" kern="1200" cap="none" spc="0" normalizeH="0" baseline="0" noProof="0">
              <a:ln>
                <a:noFill/>
              </a:ln>
              <a:solidFill>
                <a:srgbClr val="F0BE0F"/>
              </a:solidFill>
              <a:effectLst/>
              <a:uLnTx/>
              <a:uFillTx/>
              <a:latin typeface="Yekan Bakh" pitchFamily="2" charset="-78"/>
              <a:ea typeface="Yekan Bakh" pitchFamily="2" charset="-78"/>
              <a:cs typeface="Yekan Bakh" pitchFamily="2" charset="-78"/>
            </a:endParaRPr>
          </a:p>
        </p:txBody>
      </p:sp>
      <p:sp>
        <p:nvSpPr>
          <p:cNvPr id="43" name="TextBox 42">
            <a:extLst>
              <a:ext uri="{FF2B5EF4-FFF2-40B4-BE49-F238E27FC236}">
                <a16:creationId xmlns:a16="http://schemas.microsoft.com/office/drawing/2014/main" id="{1576B1F6-DDE3-E49C-C8CA-7A2941A01FD0}"/>
              </a:ext>
            </a:extLst>
          </p:cNvPr>
          <p:cNvSpPr txBox="1"/>
          <p:nvPr/>
        </p:nvSpPr>
        <p:spPr>
          <a:xfrm>
            <a:off x="9098774" y="4228865"/>
            <a:ext cx="2058779" cy="646331"/>
          </a:xfrm>
          <a:prstGeom prst="rect">
            <a:avLst/>
          </a:prstGeom>
          <a:noFill/>
        </p:spPr>
        <p:txBody>
          <a:bodyPr wrap="square" rtlCol="0">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200" b="1"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جهت‌دهی</a:t>
            </a:r>
          </a:p>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2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a:t>
            </a:r>
            <a:r>
              <a:rPr kumimoji="0" lang="en-US" sz="12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Direction Setting</a:t>
            </a:r>
            <a:r>
              <a:rPr kumimoji="0" lang="fa-IR" sz="12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a:t>
            </a:r>
          </a:p>
          <a:p>
            <a:pPr marL="0" marR="0" lvl="0" indent="0" algn="r" defTabSz="457200" rtl="1"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44" name="TextBox 43">
            <a:extLst>
              <a:ext uri="{FF2B5EF4-FFF2-40B4-BE49-F238E27FC236}">
                <a16:creationId xmlns:a16="http://schemas.microsoft.com/office/drawing/2014/main" id="{082FF8CA-0F3D-324E-F768-D2A9CCA35E99}"/>
              </a:ext>
            </a:extLst>
          </p:cNvPr>
          <p:cNvSpPr txBox="1"/>
          <p:nvPr/>
        </p:nvSpPr>
        <p:spPr>
          <a:xfrm>
            <a:off x="6963386" y="4228865"/>
            <a:ext cx="2097084" cy="461665"/>
          </a:xfrm>
          <a:prstGeom prst="rect">
            <a:avLst/>
          </a:prstGeom>
          <a:noFill/>
        </p:spPr>
        <p:txBody>
          <a:bodyPr wrap="square" rtlCol="0">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200" b="1"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طراحی فرضیه</a:t>
            </a:r>
          </a:p>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2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a:t>
            </a:r>
            <a:r>
              <a:rPr kumimoji="0" lang="en-US" sz="12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Hypothesis Design</a:t>
            </a:r>
            <a:r>
              <a:rPr kumimoji="0" lang="fa-IR" sz="12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a:t>
            </a:r>
            <a:endParaRPr kumimoji="0" lang="en-US" sz="12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45" name="TextBox 44">
            <a:extLst>
              <a:ext uri="{FF2B5EF4-FFF2-40B4-BE49-F238E27FC236}">
                <a16:creationId xmlns:a16="http://schemas.microsoft.com/office/drawing/2014/main" id="{0F3C727F-61F2-2685-1A44-5A8DEA9516D9}"/>
              </a:ext>
            </a:extLst>
          </p:cNvPr>
          <p:cNvSpPr txBox="1"/>
          <p:nvPr/>
        </p:nvSpPr>
        <p:spPr>
          <a:xfrm>
            <a:off x="4827997" y="4228865"/>
            <a:ext cx="2097084" cy="461665"/>
          </a:xfrm>
          <a:prstGeom prst="rect">
            <a:avLst/>
          </a:prstGeom>
          <a:noFill/>
        </p:spPr>
        <p:txBody>
          <a:bodyPr wrap="square" rtlCol="0">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200" b="1"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اعتبارسنجی</a:t>
            </a:r>
          </a:p>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2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a:t>
            </a:r>
            <a:r>
              <a:rPr kumimoji="0" lang="en-US" sz="12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Validation</a:t>
            </a:r>
            <a:r>
              <a:rPr kumimoji="0" lang="fa-IR" sz="12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a:t>
            </a:r>
            <a:endParaRPr kumimoji="0" lang="en-US" sz="12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46" name="TextBox 45">
            <a:extLst>
              <a:ext uri="{FF2B5EF4-FFF2-40B4-BE49-F238E27FC236}">
                <a16:creationId xmlns:a16="http://schemas.microsoft.com/office/drawing/2014/main" id="{59D79782-4D94-0EB4-9B20-A11CD131C0DE}"/>
              </a:ext>
            </a:extLst>
          </p:cNvPr>
          <p:cNvSpPr txBox="1"/>
          <p:nvPr/>
        </p:nvSpPr>
        <p:spPr>
          <a:xfrm>
            <a:off x="2692609" y="4228865"/>
            <a:ext cx="2097084" cy="646331"/>
          </a:xfrm>
          <a:prstGeom prst="rect">
            <a:avLst/>
          </a:prstGeom>
          <a:noFill/>
        </p:spPr>
        <p:txBody>
          <a:bodyPr wrap="square" rtlCol="0">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200" b="1"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بازطراحی</a:t>
            </a:r>
          </a:p>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2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a:t>
            </a:r>
            <a:r>
              <a:rPr kumimoji="0" lang="en-US" sz="12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Iteration</a:t>
            </a:r>
            <a:r>
              <a:rPr kumimoji="0" lang="fa-IR" sz="12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a:t>
            </a:r>
          </a:p>
          <a:p>
            <a:pPr marL="0" marR="0" lvl="0" indent="0" algn="r" defTabSz="457200" rtl="1"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47" name="TextBox 46">
            <a:extLst>
              <a:ext uri="{FF2B5EF4-FFF2-40B4-BE49-F238E27FC236}">
                <a16:creationId xmlns:a16="http://schemas.microsoft.com/office/drawing/2014/main" id="{5DD1C988-5BF4-157F-CB50-1C724B99D17D}"/>
              </a:ext>
            </a:extLst>
          </p:cNvPr>
          <p:cNvSpPr txBox="1"/>
          <p:nvPr/>
        </p:nvSpPr>
        <p:spPr>
          <a:xfrm>
            <a:off x="341697" y="4228865"/>
            <a:ext cx="2350912" cy="461665"/>
          </a:xfrm>
          <a:prstGeom prst="rect">
            <a:avLst/>
          </a:prstGeom>
          <a:noFill/>
        </p:spPr>
        <p:txBody>
          <a:bodyPr wrap="square" rtlCol="0">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200" b="1"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تثبیت استراتژیک</a:t>
            </a:r>
          </a:p>
          <a:p>
            <a:pPr marL="0" marR="0" lvl="0" indent="0" algn="r" defTabSz="457200" rtl="1"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Strategic Alignment)</a:t>
            </a:r>
            <a:r>
              <a:rPr kumimoji="0" lang="fa-IR" sz="12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a:t>
            </a:r>
            <a:endParaRPr kumimoji="0" lang="en-US" sz="12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Tree>
    <p:extLst>
      <p:ext uri="{BB962C8B-B14F-4D97-AF65-F5344CB8AC3E}">
        <p14:creationId xmlns:p14="http://schemas.microsoft.com/office/powerpoint/2010/main" val="42352682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E0AC4C4-6BE4-E313-2596-99E4165D92E6}"/>
              </a:ext>
            </a:extLst>
          </p:cNvPr>
          <p:cNvSpPr>
            <a:spLocks noGrp="1"/>
          </p:cNvSpPr>
          <p:nvPr>
            <p:ph type="body" sz="quarter" idx="10"/>
          </p:nvPr>
        </p:nvSpPr>
        <p:spPr/>
        <p:txBody>
          <a:bodyPr/>
          <a:lstStyle/>
          <a:p>
            <a:r>
              <a:rPr lang="fa-IR" dirty="0">
                <a:latin typeface="Yekan Bakh" pitchFamily="2" charset="-78"/>
                <a:ea typeface="Yekan Bakh" pitchFamily="2" charset="-78"/>
                <a:cs typeface="Yekan Bakh" pitchFamily="2" charset="-78"/>
              </a:rPr>
              <a:t>مدل کسب‌وکار </a:t>
            </a:r>
          </a:p>
        </p:txBody>
      </p:sp>
      <p:sp>
        <p:nvSpPr>
          <p:cNvPr id="3" name="Text Placeholder 2">
            <a:extLst>
              <a:ext uri="{FF2B5EF4-FFF2-40B4-BE49-F238E27FC236}">
                <a16:creationId xmlns:a16="http://schemas.microsoft.com/office/drawing/2014/main" id="{65B5267E-970C-907D-8E8F-10691EF1B69A}"/>
              </a:ext>
            </a:extLst>
          </p:cNvPr>
          <p:cNvSpPr>
            <a:spLocks noGrp="1"/>
          </p:cNvSpPr>
          <p:nvPr>
            <p:ph type="body" sz="quarter" idx="12"/>
          </p:nvPr>
        </p:nvSpPr>
        <p:spPr>
          <a:xfrm>
            <a:off x="555629" y="567444"/>
            <a:ext cx="10710133" cy="715363"/>
          </a:xfrm>
        </p:spPr>
        <p:txBody>
          <a:bodyPr/>
          <a:lstStyle/>
          <a:p>
            <a:r>
              <a:rPr lang="fa-IR" dirty="0">
                <a:latin typeface="Yekan Bakh" pitchFamily="2" charset="-78"/>
                <a:ea typeface="Yekan Bakh" pitchFamily="2" charset="-78"/>
                <a:cs typeface="Yekan Bakh" pitchFamily="2" charset="-78"/>
              </a:rPr>
              <a:t>موتور اصلی کسب‌وکار در ۹ بخش کلیدی طراحی می‌شود: </a:t>
            </a:r>
          </a:p>
        </p:txBody>
      </p:sp>
      <p:cxnSp>
        <p:nvCxnSpPr>
          <p:cNvPr id="1052" name="Straight Connector 1051">
            <a:extLst>
              <a:ext uri="{FF2B5EF4-FFF2-40B4-BE49-F238E27FC236}">
                <a16:creationId xmlns:a16="http://schemas.microsoft.com/office/drawing/2014/main" id="{00E99EFA-061A-75C9-EBAD-80891DEB0B85}"/>
              </a:ext>
            </a:extLst>
          </p:cNvPr>
          <p:cNvCxnSpPr>
            <a:cxnSpLocks/>
          </p:cNvCxnSpPr>
          <p:nvPr/>
        </p:nvCxnSpPr>
        <p:spPr>
          <a:xfrm>
            <a:off x="2538516" y="1603501"/>
            <a:ext cx="0" cy="2926080"/>
          </a:xfrm>
          <a:prstGeom prst="line">
            <a:avLst/>
          </a:prstGeom>
          <a:ln w="6350">
            <a:solidFill>
              <a:schemeClr val="bg1">
                <a:lumMod val="85000"/>
              </a:schemeClr>
            </a:solidFill>
            <a:prstDash val="dash"/>
          </a:ln>
        </p:spPr>
        <p:style>
          <a:lnRef idx="1">
            <a:schemeClr val="accent4"/>
          </a:lnRef>
          <a:fillRef idx="0">
            <a:schemeClr val="accent4"/>
          </a:fillRef>
          <a:effectRef idx="0">
            <a:schemeClr val="accent4"/>
          </a:effectRef>
          <a:fontRef idx="minor">
            <a:schemeClr val="tx1"/>
          </a:fontRef>
        </p:style>
      </p:cxnSp>
      <p:cxnSp>
        <p:nvCxnSpPr>
          <p:cNvPr id="1053" name="Straight Connector 1052">
            <a:extLst>
              <a:ext uri="{FF2B5EF4-FFF2-40B4-BE49-F238E27FC236}">
                <a16:creationId xmlns:a16="http://schemas.microsoft.com/office/drawing/2014/main" id="{8776A741-AB36-BE46-70D5-E612208376E2}"/>
              </a:ext>
            </a:extLst>
          </p:cNvPr>
          <p:cNvCxnSpPr>
            <a:cxnSpLocks/>
          </p:cNvCxnSpPr>
          <p:nvPr/>
        </p:nvCxnSpPr>
        <p:spPr>
          <a:xfrm>
            <a:off x="4809384" y="1603501"/>
            <a:ext cx="0" cy="2926080"/>
          </a:xfrm>
          <a:prstGeom prst="line">
            <a:avLst/>
          </a:prstGeom>
          <a:ln w="6350">
            <a:solidFill>
              <a:schemeClr val="bg1">
                <a:lumMod val="85000"/>
              </a:schemeClr>
            </a:solidFill>
            <a:prstDash val="dash"/>
          </a:ln>
        </p:spPr>
        <p:style>
          <a:lnRef idx="1">
            <a:schemeClr val="accent4"/>
          </a:lnRef>
          <a:fillRef idx="0">
            <a:schemeClr val="accent4"/>
          </a:fillRef>
          <a:effectRef idx="0">
            <a:schemeClr val="accent4"/>
          </a:effectRef>
          <a:fontRef idx="minor">
            <a:schemeClr val="tx1"/>
          </a:fontRef>
        </p:style>
      </p:cxnSp>
      <p:cxnSp>
        <p:nvCxnSpPr>
          <p:cNvPr id="1058" name="Straight Connector 1057">
            <a:extLst>
              <a:ext uri="{FF2B5EF4-FFF2-40B4-BE49-F238E27FC236}">
                <a16:creationId xmlns:a16="http://schemas.microsoft.com/office/drawing/2014/main" id="{920B57BD-4993-FA2C-6809-20573FAD9049}"/>
              </a:ext>
            </a:extLst>
          </p:cNvPr>
          <p:cNvCxnSpPr>
            <a:cxnSpLocks/>
          </p:cNvCxnSpPr>
          <p:nvPr/>
        </p:nvCxnSpPr>
        <p:spPr>
          <a:xfrm>
            <a:off x="6911496" y="1603501"/>
            <a:ext cx="0" cy="2926080"/>
          </a:xfrm>
          <a:prstGeom prst="line">
            <a:avLst/>
          </a:prstGeom>
          <a:ln w="6350">
            <a:solidFill>
              <a:schemeClr val="bg1">
                <a:lumMod val="85000"/>
              </a:schemeClr>
            </a:solidFill>
            <a:prstDash val="dash"/>
          </a:ln>
        </p:spPr>
        <p:style>
          <a:lnRef idx="1">
            <a:schemeClr val="accent4"/>
          </a:lnRef>
          <a:fillRef idx="0">
            <a:schemeClr val="accent4"/>
          </a:fillRef>
          <a:effectRef idx="0">
            <a:schemeClr val="accent4"/>
          </a:effectRef>
          <a:fontRef idx="minor">
            <a:schemeClr val="tx1"/>
          </a:fontRef>
        </p:style>
      </p:cxnSp>
      <p:cxnSp>
        <p:nvCxnSpPr>
          <p:cNvPr id="1064" name="Straight Connector 1063">
            <a:extLst>
              <a:ext uri="{FF2B5EF4-FFF2-40B4-BE49-F238E27FC236}">
                <a16:creationId xmlns:a16="http://schemas.microsoft.com/office/drawing/2014/main" id="{130E61E6-CD6B-1414-B218-FFFFF0099956}"/>
              </a:ext>
            </a:extLst>
          </p:cNvPr>
          <p:cNvCxnSpPr>
            <a:cxnSpLocks/>
          </p:cNvCxnSpPr>
          <p:nvPr/>
        </p:nvCxnSpPr>
        <p:spPr>
          <a:xfrm>
            <a:off x="9182364" y="1603501"/>
            <a:ext cx="0" cy="2926080"/>
          </a:xfrm>
          <a:prstGeom prst="line">
            <a:avLst/>
          </a:prstGeom>
          <a:ln w="6350">
            <a:solidFill>
              <a:schemeClr val="bg1">
                <a:lumMod val="85000"/>
              </a:schemeClr>
            </a:solidFill>
            <a:prstDash val="dash"/>
          </a:ln>
        </p:spPr>
        <p:style>
          <a:lnRef idx="1">
            <a:schemeClr val="accent4"/>
          </a:lnRef>
          <a:fillRef idx="0">
            <a:schemeClr val="accent4"/>
          </a:fillRef>
          <a:effectRef idx="0">
            <a:schemeClr val="accent4"/>
          </a:effectRef>
          <a:fontRef idx="minor">
            <a:schemeClr val="tx1"/>
          </a:fontRef>
        </p:style>
      </p:cxnSp>
      <p:cxnSp>
        <p:nvCxnSpPr>
          <p:cNvPr id="1070" name="Straight Connector 1069">
            <a:extLst>
              <a:ext uri="{FF2B5EF4-FFF2-40B4-BE49-F238E27FC236}">
                <a16:creationId xmlns:a16="http://schemas.microsoft.com/office/drawing/2014/main" id="{398AC5ED-4C27-DC16-8050-63AFC89EB2CA}"/>
              </a:ext>
            </a:extLst>
          </p:cNvPr>
          <p:cNvCxnSpPr>
            <a:cxnSpLocks/>
          </p:cNvCxnSpPr>
          <p:nvPr/>
        </p:nvCxnSpPr>
        <p:spPr>
          <a:xfrm>
            <a:off x="5851525" y="4621355"/>
            <a:ext cx="0" cy="1005840"/>
          </a:xfrm>
          <a:prstGeom prst="line">
            <a:avLst/>
          </a:prstGeom>
          <a:ln w="6350">
            <a:solidFill>
              <a:schemeClr val="bg1">
                <a:lumMod val="85000"/>
              </a:schemeClr>
            </a:solidFill>
            <a:prstDash val="dash"/>
          </a:ln>
        </p:spPr>
        <p:style>
          <a:lnRef idx="1">
            <a:schemeClr val="accent4"/>
          </a:lnRef>
          <a:fillRef idx="0">
            <a:schemeClr val="accent4"/>
          </a:fillRef>
          <a:effectRef idx="0">
            <a:schemeClr val="accent4"/>
          </a:effectRef>
          <a:fontRef idx="minor">
            <a:schemeClr val="tx1"/>
          </a:fontRef>
        </p:style>
      </p:cxnSp>
      <p:cxnSp>
        <p:nvCxnSpPr>
          <p:cNvPr id="1075" name="Straight Connector 1074">
            <a:extLst>
              <a:ext uri="{FF2B5EF4-FFF2-40B4-BE49-F238E27FC236}">
                <a16:creationId xmlns:a16="http://schemas.microsoft.com/office/drawing/2014/main" id="{A81EBE86-94AC-38B1-6011-A0EB3767B80B}"/>
              </a:ext>
            </a:extLst>
          </p:cNvPr>
          <p:cNvCxnSpPr>
            <a:cxnSpLocks/>
          </p:cNvCxnSpPr>
          <p:nvPr/>
        </p:nvCxnSpPr>
        <p:spPr>
          <a:xfrm flipH="1">
            <a:off x="512712" y="4578452"/>
            <a:ext cx="10698480" cy="0"/>
          </a:xfrm>
          <a:prstGeom prst="line">
            <a:avLst/>
          </a:prstGeom>
          <a:ln w="6350">
            <a:solidFill>
              <a:schemeClr val="bg1">
                <a:lumMod val="85000"/>
              </a:schemeClr>
            </a:solidFill>
            <a:prstDash val="dash"/>
          </a:ln>
        </p:spPr>
        <p:style>
          <a:lnRef idx="1">
            <a:schemeClr val="accent4"/>
          </a:lnRef>
          <a:fillRef idx="0">
            <a:schemeClr val="accent4"/>
          </a:fillRef>
          <a:effectRef idx="0">
            <a:schemeClr val="accent4"/>
          </a:effectRef>
          <a:fontRef idx="minor">
            <a:schemeClr val="tx1"/>
          </a:fontRef>
        </p:style>
      </p:cxnSp>
      <p:sp>
        <p:nvSpPr>
          <p:cNvPr id="1076" name="TextBox 1075">
            <a:extLst>
              <a:ext uri="{FF2B5EF4-FFF2-40B4-BE49-F238E27FC236}">
                <a16:creationId xmlns:a16="http://schemas.microsoft.com/office/drawing/2014/main" id="{7E4D763C-E44E-889A-9C0F-8DE06A809255}"/>
              </a:ext>
            </a:extLst>
          </p:cNvPr>
          <p:cNvSpPr txBox="1"/>
          <p:nvPr/>
        </p:nvSpPr>
        <p:spPr>
          <a:xfrm>
            <a:off x="5982104" y="4926953"/>
            <a:ext cx="5238442" cy="761747"/>
          </a:xfrm>
          <a:prstGeom prst="rect">
            <a:avLst/>
          </a:prstGeom>
          <a:noFill/>
        </p:spPr>
        <p:txBody>
          <a:bodyPr wrap="square" rtlCol="0">
            <a:spAutoFit/>
          </a:bodyPr>
          <a:lstStyle/>
          <a:p>
            <a:pPr marL="115888" marR="0" lvl="0" indent="-115888" algn="justLow" defTabSz="457200" rtl="1" eaLnBrk="1" fontAlgn="auto" latinLnBrk="0" hangingPunct="1">
              <a:lnSpc>
                <a:spcPct val="10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مشتریان واقعاً حاضرند بابت چه ارزشی پول پرداخت کنند؟</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a:p>
            <a:pPr marL="115888" marR="0" lvl="0" indent="-115888" algn="justLow" defTabSz="457200" rtl="1" eaLnBrk="1" fontAlgn="auto" latinLnBrk="0" hangingPunct="1">
              <a:lnSpc>
                <a:spcPct val="10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در حال حاضر بابت چه چیزی پول می‌پردازند؟</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a:p>
            <a:pPr marL="115888" marR="0" lvl="0" indent="-115888" algn="justLow" defTabSz="457200" rtl="1" eaLnBrk="1" fontAlgn="auto" latinLnBrk="0" hangingPunct="1">
              <a:lnSpc>
                <a:spcPct val="10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مدل درآمدی ما چیست؟</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a:p>
            <a:pPr marL="115888" marR="0" lvl="0" indent="-115888" algn="justLow" defTabSz="457200" rtl="1" eaLnBrk="1" fontAlgn="auto" latinLnBrk="0" hangingPunct="1">
              <a:lnSpc>
                <a:spcPct val="10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تاکتیک‌های قیمت‌گذاری ما کدامند؟</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p:txBody>
      </p:sp>
      <p:sp>
        <p:nvSpPr>
          <p:cNvPr id="1077" name="TextBox 1076">
            <a:extLst>
              <a:ext uri="{FF2B5EF4-FFF2-40B4-BE49-F238E27FC236}">
                <a16:creationId xmlns:a16="http://schemas.microsoft.com/office/drawing/2014/main" id="{81FE4495-B775-C3C6-F944-A69260EBDF72}"/>
              </a:ext>
            </a:extLst>
          </p:cNvPr>
          <p:cNvSpPr txBox="1"/>
          <p:nvPr/>
        </p:nvSpPr>
        <p:spPr>
          <a:xfrm>
            <a:off x="482504" y="4926953"/>
            <a:ext cx="5219631" cy="584775"/>
          </a:xfrm>
          <a:prstGeom prst="rect">
            <a:avLst/>
          </a:prstGeom>
          <a:noFill/>
        </p:spPr>
        <p:txBody>
          <a:bodyPr wrap="square" rtlCol="0">
            <a:spAutoFit/>
          </a:bodyPr>
          <a:lstStyle/>
          <a:p>
            <a:pPr marL="115888" marR="0" lvl="0" indent="-115888" algn="justLow" defTabSz="457200" rtl="1" eaLnBrk="1" fontAlgn="auto" latinLnBrk="0" hangingPunct="1">
              <a:lnSpc>
                <a:spcPct val="10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مهم‌ترین هزینه‌های ذاتیِ مدل کسب‌وکار ما چیست؟</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a:p>
            <a:pPr marL="115888" marR="0" lvl="0" indent="-115888" algn="justLow" defTabSz="457200" rtl="1" eaLnBrk="1" fontAlgn="auto" latinLnBrk="0" hangingPunct="1">
              <a:lnSpc>
                <a:spcPct val="10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کدام منابع کلیدی گران‌ترین هستند؟</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a:p>
            <a:pPr marL="115888" marR="0" lvl="0" indent="-115888" algn="justLow" defTabSz="457200" rtl="1" eaLnBrk="1" fontAlgn="auto" latinLnBrk="0" hangingPunct="1">
              <a:lnSpc>
                <a:spcPct val="10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کدام فعالیت‌های کلیدی بیشترین هزینه را دارند؟</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p:txBody>
      </p:sp>
      <p:grpSp>
        <p:nvGrpSpPr>
          <p:cNvPr id="1150" name="Group 1149">
            <a:extLst>
              <a:ext uri="{FF2B5EF4-FFF2-40B4-BE49-F238E27FC236}">
                <a16:creationId xmlns:a16="http://schemas.microsoft.com/office/drawing/2014/main" id="{2D201BC4-A92A-204C-EE03-7D586ED9BDFF}"/>
              </a:ext>
            </a:extLst>
          </p:cNvPr>
          <p:cNvGrpSpPr/>
          <p:nvPr/>
        </p:nvGrpSpPr>
        <p:grpSpPr>
          <a:xfrm>
            <a:off x="9245866" y="1467537"/>
            <a:ext cx="1974683" cy="1746406"/>
            <a:chOff x="9245866" y="1162738"/>
            <a:chExt cx="1974683" cy="1746406"/>
          </a:xfrm>
        </p:grpSpPr>
        <p:sp>
          <p:nvSpPr>
            <p:cNvPr id="1078" name="TextBox 1077">
              <a:extLst>
                <a:ext uri="{FF2B5EF4-FFF2-40B4-BE49-F238E27FC236}">
                  <a16:creationId xmlns:a16="http://schemas.microsoft.com/office/drawing/2014/main" id="{729CFA71-15A9-DF85-5F29-8D2DF44ACD84}"/>
                </a:ext>
              </a:extLst>
            </p:cNvPr>
            <p:cNvSpPr txBox="1"/>
            <p:nvPr/>
          </p:nvSpPr>
          <p:spPr>
            <a:xfrm>
              <a:off x="9245866" y="1510684"/>
              <a:ext cx="1974682" cy="1398460"/>
            </a:xfrm>
            <a:prstGeom prst="rect">
              <a:avLst/>
            </a:prstGeom>
            <a:noFill/>
          </p:spPr>
          <p:txBody>
            <a:bodyPr wrap="square" rtlCol="0">
              <a:spAutoFit/>
            </a:bodyPr>
            <a:lstStyle/>
            <a:p>
              <a:pPr marL="115888" marR="0" lvl="0" indent="-115888" algn="justLow" defTabSz="457200" rtl="1" eaLnBrk="1" fontAlgn="auto" latinLnBrk="0" hangingPunct="1">
                <a:lnSpc>
                  <a:spcPct val="15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ما برای چه کسانی ارزش‌آفرینی می‌کنیم؟</a:t>
              </a:r>
            </a:p>
            <a:p>
              <a:pPr marL="115888" marR="0" lvl="0" indent="-115888" algn="justLow" defTabSz="457200" rtl="1" eaLnBrk="1" fontAlgn="auto" latinLnBrk="0" hangingPunct="1">
                <a:lnSpc>
                  <a:spcPct val="15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مهم‌ترین مشتریان ما چه کسانی هستند؟</a:t>
              </a:r>
            </a:p>
            <a:p>
              <a:pPr marL="115888" marR="0" lvl="0" indent="-115888" algn="justLow" defTabSz="457200" rtl="1" eaLnBrk="1" fontAlgn="auto" latinLnBrk="0" hangingPunct="1">
                <a:lnSpc>
                  <a:spcPct val="15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آرکی‌تایپ‌ها (الگوها/پرتره‌های شخصیتی) مشتریان ما کدامند؟</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p:txBody>
        </p:sp>
        <p:sp>
          <p:nvSpPr>
            <p:cNvPr id="1079" name="Rectangle: Rounded Corners 1078">
              <a:extLst>
                <a:ext uri="{FF2B5EF4-FFF2-40B4-BE49-F238E27FC236}">
                  <a16:creationId xmlns:a16="http://schemas.microsoft.com/office/drawing/2014/main" id="{CF55F8C7-1B87-4309-88CB-81A07742DA24}"/>
                </a:ext>
              </a:extLst>
            </p:cNvPr>
            <p:cNvSpPr/>
            <p:nvPr/>
          </p:nvSpPr>
          <p:spPr>
            <a:xfrm>
              <a:off x="10946229" y="1162738"/>
              <a:ext cx="274320" cy="274320"/>
            </a:xfrm>
            <a:prstGeom prst="roundRect">
              <a:avLst>
                <a:gd name="adj" fmla="val 20381"/>
              </a:avLst>
            </a:prstGeom>
            <a:solidFill>
              <a:srgbClr val="F0BE0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endParaRPr lang="fa-IR" sz="1600" b="1" dirty="0">
                <a:latin typeface="Yekan Bakh" pitchFamily="2" charset="-78"/>
                <a:ea typeface="Yekan Bakh" pitchFamily="2" charset="-78"/>
                <a:cs typeface="Yekan Bakh" pitchFamily="2" charset="-78"/>
              </a:endParaRPr>
            </a:p>
          </p:txBody>
        </p:sp>
        <p:sp>
          <p:nvSpPr>
            <p:cNvPr id="1080" name="TextBox 1079">
              <a:extLst>
                <a:ext uri="{FF2B5EF4-FFF2-40B4-BE49-F238E27FC236}">
                  <a16:creationId xmlns:a16="http://schemas.microsoft.com/office/drawing/2014/main" id="{699943EB-29F9-B296-6F9E-F0499B7DE026}"/>
                </a:ext>
              </a:extLst>
            </p:cNvPr>
            <p:cNvSpPr txBox="1"/>
            <p:nvPr/>
          </p:nvSpPr>
          <p:spPr>
            <a:xfrm>
              <a:off x="10965421" y="1163059"/>
              <a:ext cx="235936" cy="307777"/>
            </a:xfrm>
            <a:prstGeom prst="rect">
              <a:avLst/>
            </a:prstGeom>
            <a:noFill/>
          </p:spPr>
          <p:txBody>
            <a:bodyPr wrap="square" rtlCol="0" anchor="ctr">
              <a:spAutoFit/>
            </a:bodyPr>
            <a:lstStyle/>
            <a:p>
              <a:pPr algn="ctr"/>
              <a:r>
                <a:rPr lang="fa-IR" sz="1400" b="1" dirty="0">
                  <a:solidFill>
                    <a:schemeClr val="bg1"/>
                  </a:solidFill>
                  <a:latin typeface="Yekan Bakh FaNum" pitchFamily="2" charset="-78"/>
                  <a:ea typeface="Yekan Bakh FaNum" pitchFamily="2" charset="-78"/>
                  <a:cs typeface="Yekan Bakh FaNum" pitchFamily="2" charset="-78"/>
                </a:rPr>
                <a:t>۱</a:t>
              </a:r>
              <a:endParaRPr lang="en-GB" sz="1400" b="1" dirty="0">
                <a:solidFill>
                  <a:schemeClr val="bg1"/>
                </a:solidFill>
                <a:latin typeface="Yekan Bakh FaNum" pitchFamily="2" charset="-78"/>
                <a:ea typeface="Yekan Bakh FaNum" pitchFamily="2" charset="-78"/>
                <a:cs typeface="Yekan Bakh FaNum" pitchFamily="2" charset="-78"/>
              </a:endParaRPr>
            </a:p>
          </p:txBody>
        </p:sp>
        <p:sp>
          <p:nvSpPr>
            <p:cNvPr id="1081" name="Rectangle: Rounded Corners 1080">
              <a:extLst>
                <a:ext uri="{FF2B5EF4-FFF2-40B4-BE49-F238E27FC236}">
                  <a16:creationId xmlns:a16="http://schemas.microsoft.com/office/drawing/2014/main" id="{26427850-7B97-1385-FE8B-A2E51D150E13}"/>
                </a:ext>
              </a:extLst>
            </p:cNvPr>
            <p:cNvSpPr/>
            <p:nvPr/>
          </p:nvSpPr>
          <p:spPr>
            <a:xfrm>
              <a:off x="9245866" y="1162738"/>
              <a:ext cx="1682279" cy="274320"/>
            </a:xfrm>
            <a:prstGeom prst="roundRect">
              <a:avLst>
                <a:gd name="adj" fmla="val 20381"/>
              </a:avLst>
            </a:prstGeom>
            <a:solidFill>
              <a:srgbClr val="F0BE0F">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fa-IR" sz="1100" b="1" dirty="0">
                  <a:solidFill>
                    <a:srgbClr val="004D80"/>
                  </a:solidFill>
                  <a:latin typeface="Yekan Bakh" pitchFamily="2" charset="-78"/>
                  <a:ea typeface="Yekan Bakh" pitchFamily="2" charset="-78"/>
                  <a:cs typeface="Yekan Bakh" pitchFamily="2" charset="-78"/>
                </a:rPr>
                <a:t>بخش‌های مشتریان</a:t>
              </a:r>
            </a:p>
          </p:txBody>
        </p:sp>
      </p:grpSp>
      <p:sp>
        <p:nvSpPr>
          <p:cNvPr id="1082" name="TextBox 1081">
            <a:extLst>
              <a:ext uri="{FF2B5EF4-FFF2-40B4-BE49-F238E27FC236}">
                <a16:creationId xmlns:a16="http://schemas.microsoft.com/office/drawing/2014/main" id="{7A958845-2BDB-FFEF-D37B-3DD74617484B}"/>
              </a:ext>
            </a:extLst>
          </p:cNvPr>
          <p:cNvSpPr txBox="1"/>
          <p:nvPr/>
        </p:nvSpPr>
        <p:spPr>
          <a:xfrm>
            <a:off x="4872888" y="1815483"/>
            <a:ext cx="1975104" cy="2514150"/>
          </a:xfrm>
          <a:prstGeom prst="rect">
            <a:avLst/>
          </a:prstGeom>
          <a:noFill/>
        </p:spPr>
        <p:txBody>
          <a:bodyPr wrap="square" rtlCol="0">
            <a:spAutoFit/>
          </a:bodyPr>
          <a:lstStyle/>
          <a:p>
            <a:pPr marL="115888" marR="0" lvl="0" indent="-115888" algn="justLow" defTabSz="457200" rtl="1" eaLnBrk="1" fontAlgn="auto" latinLnBrk="0" hangingPunct="1">
              <a:lnSpc>
                <a:spcPct val="15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چه ارزشی را به مشتری ارائه می‌دهیم؟</a:t>
            </a:r>
          </a:p>
          <a:p>
            <a:pPr marL="115888" marR="0" lvl="0" indent="-115888" algn="justLow" defTabSz="457200" rtl="1" eaLnBrk="1" fontAlgn="auto" latinLnBrk="0" hangingPunct="1">
              <a:lnSpc>
                <a:spcPct val="15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به حل کدام‌یک از مسائل مشتریان خود کمک می‌کنیم؟</a:t>
            </a:r>
          </a:p>
          <a:p>
            <a:pPr marL="115888" marR="0" lvl="0" indent="-115888" algn="justLow" defTabSz="457200" rtl="1" eaLnBrk="1" fontAlgn="auto" latinLnBrk="0" hangingPunct="1">
              <a:lnSpc>
                <a:spcPct val="15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چه بسته‌ای از محصولات و خدمات را به هر بخش از مشتریان عرضه می‌کنیم؟</a:t>
            </a:r>
          </a:p>
          <a:p>
            <a:pPr marL="115888" marR="0" lvl="0" indent="-115888" algn="justLow" defTabSz="457200" rtl="1" eaLnBrk="1" fontAlgn="auto" latinLnBrk="0" hangingPunct="1">
              <a:lnSpc>
                <a:spcPct val="15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کدام‌یک از نیازهای مشتریان را برطرف می‌سازیم؟</a:t>
            </a:r>
          </a:p>
          <a:p>
            <a:pPr marL="115888" marR="0" lvl="0" indent="-115888" algn="justLow" defTabSz="457200" rtl="1" eaLnBrk="1" fontAlgn="auto" latinLnBrk="0" hangingPunct="1">
              <a:lnSpc>
                <a:spcPct val="15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«کمینه اکوسیستم پذیرفتنی» (</a:t>
            </a:r>
            <a:r>
              <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MVE</a:t>
            </a: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 ما چیست؟</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p:txBody>
      </p:sp>
      <p:sp>
        <p:nvSpPr>
          <p:cNvPr id="1083" name="Rectangle: Rounded Corners 1082">
            <a:extLst>
              <a:ext uri="{FF2B5EF4-FFF2-40B4-BE49-F238E27FC236}">
                <a16:creationId xmlns:a16="http://schemas.microsoft.com/office/drawing/2014/main" id="{CAD96C54-B930-8085-8BA8-5568DB91BAFE}"/>
              </a:ext>
            </a:extLst>
          </p:cNvPr>
          <p:cNvSpPr/>
          <p:nvPr/>
        </p:nvSpPr>
        <p:spPr>
          <a:xfrm>
            <a:off x="6573462" y="1467537"/>
            <a:ext cx="274320" cy="274320"/>
          </a:xfrm>
          <a:prstGeom prst="roundRect">
            <a:avLst>
              <a:gd name="adj" fmla="val 20381"/>
            </a:avLst>
          </a:prstGeom>
          <a:solidFill>
            <a:srgbClr val="F0BE0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endParaRPr lang="fa-IR" sz="1600" b="1" dirty="0">
              <a:latin typeface="Yekan Bakh" pitchFamily="2" charset="-78"/>
              <a:ea typeface="Yekan Bakh" pitchFamily="2" charset="-78"/>
              <a:cs typeface="Yekan Bakh" pitchFamily="2" charset="-78"/>
            </a:endParaRPr>
          </a:p>
        </p:txBody>
      </p:sp>
      <p:sp>
        <p:nvSpPr>
          <p:cNvPr id="1084" name="TextBox 1083">
            <a:extLst>
              <a:ext uri="{FF2B5EF4-FFF2-40B4-BE49-F238E27FC236}">
                <a16:creationId xmlns:a16="http://schemas.microsoft.com/office/drawing/2014/main" id="{6B4B611A-D67A-871A-29C7-4BAC643898AF}"/>
              </a:ext>
            </a:extLst>
          </p:cNvPr>
          <p:cNvSpPr txBox="1"/>
          <p:nvPr/>
        </p:nvSpPr>
        <p:spPr>
          <a:xfrm>
            <a:off x="6592654" y="1467858"/>
            <a:ext cx="235936" cy="307777"/>
          </a:xfrm>
          <a:prstGeom prst="rect">
            <a:avLst/>
          </a:prstGeom>
          <a:noFill/>
        </p:spPr>
        <p:txBody>
          <a:bodyPr wrap="square" rtlCol="0" anchor="ctr">
            <a:spAutoFit/>
          </a:bodyPr>
          <a:lstStyle/>
          <a:p>
            <a:pPr algn="ctr"/>
            <a:r>
              <a:rPr lang="fa-IR" sz="1400" b="1" dirty="0">
                <a:solidFill>
                  <a:schemeClr val="bg1"/>
                </a:solidFill>
                <a:latin typeface="Yekan Bakh FaNum" pitchFamily="2" charset="-78"/>
                <a:ea typeface="Yekan Bakh FaNum" pitchFamily="2" charset="-78"/>
                <a:cs typeface="Yekan Bakh FaNum" pitchFamily="2" charset="-78"/>
              </a:rPr>
              <a:t>۲</a:t>
            </a:r>
            <a:endParaRPr lang="en-GB" sz="1400" b="1" dirty="0">
              <a:solidFill>
                <a:schemeClr val="bg1"/>
              </a:solidFill>
              <a:latin typeface="Yekan Bakh FaNum" pitchFamily="2" charset="-78"/>
              <a:ea typeface="Yekan Bakh FaNum" pitchFamily="2" charset="-78"/>
              <a:cs typeface="Yekan Bakh FaNum" pitchFamily="2" charset="-78"/>
            </a:endParaRPr>
          </a:p>
        </p:txBody>
      </p:sp>
      <p:sp>
        <p:nvSpPr>
          <p:cNvPr id="1085" name="Rectangle: Rounded Corners 1084">
            <a:extLst>
              <a:ext uri="{FF2B5EF4-FFF2-40B4-BE49-F238E27FC236}">
                <a16:creationId xmlns:a16="http://schemas.microsoft.com/office/drawing/2014/main" id="{61B98443-65E1-6ED2-B04A-A811530A6C4C}"/>
              </a:ext>
            </a:extLst>
          </p:cNvPr>
          <p:cNvSpPr/>
          <p:nvPr/>
        </p:nvSpPr>
        <p:spPr>
          <a:xfrm>
            <a:off x="4873099" y="1467537"/>
            <a:ext cx="1682279" cy="274320"/>
          </a:xfrm>
          <a:prstGeom prst="roundRect">
            <a:avLst>
              <a:gd name="adj" fmla="val 20381"/>
            </a:avLst>
          </a:prstGeom>
          <a:solidFill>
            <a:srgbClr val="F0BE0F">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fa-IR" sz="1100" b="1" dirty="0">
                <a:solidFill>
                  <a:srgbClr val="004D80"/>
                </a:solidFill>
                <a:latin typeface="Yekan Bakh" pitchFamily="2" charset="-78"/>
                <a:ea typeface="Yekan Bakh" pitchFamily="2" charset="-78"/>
                <a:cs typeface="Yekan Bakh" pitchFamily="2" charset="-78"/>
              </a:rPr>
              <a:t>ارزش‌های پیشنهادی</a:t>
            </a:r>
          </a:p>
        </p:txBody>
      </p:sp>
      <p:sp>
        <p:nvSpPr>
          <p:cNvPr id="1086" name="TextBox 1085">
            <a:extLst>
              <a:ext uri="{FF2B5EF4-FFF2-40B4-BE49-F238E27FC236}">
                <a16:creationId xmlns:a16="http://schemas.microsoft.com/office/drawing/2014/main" id="{E44E9BDD-AB77-74FC-DA6F-BA40E08881B0}"/>
              </a:ext>
            </a:extLst>
          </p:cNvPr>
          <p:cNvSpPr txBox="1"/>
          <p:nvPr/>
        </p:nvSpPr>
        <p:spPr>
          <a:xfrm>
            <a:off x="499908" y="1815483"/>
            <a:ext cx="1975104" cy="1852430"/>
          </a:xfrm>
          <a:prstGeom prst="rect">
            <a:avLst/>
          </a:prstGeom>
          <a:noFill/>
        </p:spPr>
        <p:txBody>
          <a:bodyPr wrap="square" rtlCol="0">
            <a:spAutoFit/>
          </a:bodyPr>
          <a:lstStyle/>
          <a:p>
            <a:pPr marL="115888" marR="0" lvl="0" indent="-115888" algn="justLow" defTabSz="457200" rtl="1" eaLnBrk="1" fontAlgn="auto" latinLnBrk="0" hangingPunct="1">
              <a:lnSpc>
                <a:spcPct val="15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شرکای کلیدی ما چه کسانی هستند؟</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a:p>
            <a:pPr marL="115888" marR="0" lvl="0" indent="-115888" algn="justLow" defTabSz="457200" rtl="1" eaLnBrk="1" fontAlgn="auto" latinLnBrk="0" hangingPunct="1">
              <a:lnSpc>
                <a:spcPct val="15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تأمین‌کنندگان کلیدی ما چه کسانی هستند؟</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a:p>
            <a:pPr marL="115888" marR="0" lvl="0" indent="-115888" algn="justLow" defTabSz="457200" rtl="1" eaLnBrk="1" fontAlgn="auto" latinLnBrk="0" hangingPunct="1">
              <a:lnSpc>
                <a:spcPct val="15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کدام‌یک از منابع کلیدی را از طریق شرکای خود تأمین می‌کنیم؟</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a:p>
            <a:pPr marL="115888" marR="0" lvl="0" indent="-115888" algn="justLow" defTabSz="457200" rtl="1" eaLnBrk="1" fontAlgn="auto" latinLnBrk="0" hangingPunct="1">
              <a:lnSpc>
                <a:spcPct val="15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شرکای ما چه فعالیت‌های کلیدی را انجام می‌دهند؟</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p:txBody>
      </p:sp>
      <p:sp>
        <p:nvSpPr>
          <p:cNvPr id="1091" name="Rectangle: Rounded Corners 1090">
            <a:extLst>
              <a:ext uri="{FF2B5EF4-FFF2-40B4-BE49-F238E27FC236}">
                <a16:creationId xmlns:a16="http://schemas.microsoft.com/office/drawing/2014/main" id="{E1B48F81-4DF1-8C97-863E-BC1EE9D0B00E}"/>
              </a:ext>
            </a:extLst>
          </p:cNvPr>
          <p:cNvSpPr/>
          <p:nvPr/>
        </p:nvSpPr>
        <p:spPr>
          <a:xfrm>
            <a:off x="2200482" y="1467537"/>
            <a:ext cx="274320" cy="274320"/>
          </a:xfrm>
          <a:prstGeom prst="roundRect">
            <a:avLst>
              <a:gd name="adj" fmla="val 20381"/>
            </a:avLst>
          </a:prstGeom>
          <a:solidFill>
            <a:srgbClr val="F0BE0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a-IR" sz="1600" b="1" dirty="0">
              <a:latin typeface="Yekan Bakh" pitchFamily="2" charset="-78"/>
              <a:ea typeface="Yekan Bakh" pitchFamily="2" charset="-78"/>
              <a:cs typeface="Yekan Bakh" pitchFamily="2" charset="-78"/>
            </a:endParaRPr>
          </a:p>
        </p:txBody>
      </p:sp>
      <p:sp>
        <p:nvSpPr>
          <p:cNvPr id="1092" name="TextBox 1091">
            <a:extLst>
              <a:ext uri="{FF2B5EF4-FFF2-40B4-BE49-F238E27FC236}">
                <a16:creationId xmlns:a16="http://schemas.microsoft.com/office/drawing/2014/main" id="{21BE0886-A632-1E1A-826F-EC00A23374AB}"/>
              </a:ext>
            </a:extLst>
          </p:cNvPr>
          <p:cNvSpPr txBox="1"/>
          <p:nvPr/>
        </p:nvSpPr>
        <p:spPr>
          <a:xfrm>
            <a:off x="2219674" y="1467858"/>
            <a:ext cx="235936" cy="307777"/>
          </a:xfrm>
          <a:prstGeom prst="rect">
            <a:avLst/>
          </a:prstGeom>
          <a:noFill/>
        </p:spPr>
        <p:txBody>
          <a:bodyPr wrap="square" rtlCol="0" anchor="ctr">
            <a:spAutoFit/>
          </a:bodyPr>
          <a:lstStyle/>
          <a:p>
            <a:pPr algn="ctr"/>
            <a:r>
              <a:rPr lang="fa-IR" sz="1400" b="1" dirty="0">
                <a:solidFill>
                  <a:schemeClr val="bg1"/>
                </a:solidFill>
                <a:latin typeface="Yekan Bakh FaNum" pitchFamily="2" charset="-78"/>
                <a:ea typeface="Yekan Bakh FaNum" pitchFamily="2" charset="-78"/>
                <a:cs typeface="Yekan Bakh FaNum" pitchFamily="2" charset="-78"/>
              </a:rPr>
              <a:t>۸</a:t>
            </a:r>
            <a:endParaRPr lang="en-GB" sz="1400" b="1" dirty="0">
              <a:solidFill>
                <a:schemeClr val="bg1"/>
              </a:solidFill>
              <a:latin typeface="Yekan Bakh FaNum" pitchFamily="2" charset="-78"/>
              <a:ea typeface="Yekan Bakh FaNum" pitchFamily="2" charset="-78"/>
              <a:cs typeface="Yekan Bakh FaNum" pitchFamily="2" charset="-78"/>
            </a:endParaRPr>
          </a:p>
        </p:txBody>
      </p:sp>
      <p:sp>
        <p:nvSpPr>
          <p:cNvPr id="1093" name="Rectangle: Rounded Corners 1092">
            <a:extLst>
              <a:ext uri="{FF2B5EF4-FFF2-40B4-BE49-F238E27FC236}">
                <a16:creationId xmlns:a16="http://schemas.microsoft.com/office/drawing/2014/main" id="{D6BB96A3-2361-1495-39DF-64D31C50AEB7}"/>
              </a:ext>
            </a:extLst>
          </p:cNvPr>
          <p:cNvSpPr/>
          <p:nvPr/>
        </p:nvSpPr>
        <p:spPr>
          <a:xfrm>
            <a:off x="500119" y="1467537"/>
            <a:ext cx="1682279" cy="274320"/>
          </a:xfrm>
          <a:prstGeom prst="roundRect">
            <a:avLst>
              <a:gd name="adj" fmla="val 20381"/>
            </a:avLst>
          </a:prstGeom>
          <a:solidFill>
            <a:srgbClr val="F0BE0F">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1100" b="1" dirty="0">
                <a:solidFill>
                  <a:srgbClr val="004D80"/>
                </a:solidFill>
                <a:latin typeface="Yekan Bakh" pitchFamily="2" charset="-78"/>
                <a:ea typeface="Yekan Bakh" pitchFamily="2" charset="-78"/>
                <a:cs typeface="Yekan Bakh" pitchFamily="2" charset="-78"/>
              </a:rPr>
              <a:t>مشارکت‌های کلیدی</a:t>
            </a:r>
          </a:p>
        </p:txBody>
      </p:sp>
      <p:sp>
        <p:nvSpPr>
          <p:cNvPr id="1094" name="Rectangle: Rounded Corners 1093">
            <a:extLst>
              <a:ext uri="{FF2B5EF4-FFF2-40B4-BE49-F238E27FC236}">
                <a16:creationId xmlns:a16="http://schemas.microsoft.com/office/drawing/2014/main" id="{7A34E8CF-9E55-989C-51FE-650484081AEA}"/>
              </a:ext>
            </a:extLst>
          </p:cNvPr>
          <p:cNvSpPr/>
          <p:nvPr/>
        </p:nvSpPr>
        <p:spPr>
          <a:xfrm>
            <a:off x="10946229" y="4619102"/>
            <a:ext cx="274320" cy="274320"/>
          </a:xfrm>
          <a:prstGeom prst="roundRect">
            <a:avLst>
              <a:gd name="adj" fmla="val 20381"/>
            </a:avLst>
          </a:prstGeom>
          <a:solidFill>
            <a:srgbClr val="F0BE0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endParaRPr lang="fa-IR" sz="1600" b="1" dirty="0">
              <a:latin typeface="Yekan Bakh" pitchFamily="2" charset="-78"/>
              <a:ea typeface="Yekan Bakh" pitchFamily="2" charset="-78"/>
              <a:cs typeface="Yekan Bakh" pitchFamily="2" charset="-78"/>
            </a:endParaRPr>
          </a:p>
        </p:txBody>
      </p:sp>
      <p:sp>
        <p:nvSpPr>
          <p:cNvPr id="1095" name="TextBox 1094">
            <a:extLst>
              <a:ext uri="{FF2B5EF4-FFF2-40B4-BE49-F238E27FC236}">
                <a16:creationId xmlns:a16="http://schemas.microsoft.com/office/drawing/2014/main" id="{DA3F8261-B248-FE61-F3B9-1FDC7A642535}"/>
              </a:ext>
            </a:extLst>
          </p:cNvPr>
          <p:cNvSpPr txBox="1"/>
          <p:nvPr/>
        </p:nvSpPr>
        <p:spPr>
          <a:xfrm>
            <a:off x="10965421" y="4619423"/>
            <a:ext cx="235936" cy="307777"/>
          </a:xfrm>
          <a:prstGeom prst="rect">
            <a:avLst/>
          </a:prstGeom>
          <a:noFill/>
        </p:spPr>
        <p:txBody>
          <a:bodyPr wrap="square" rtlCol="0" anchor="ctr">
            <a:spAutoFit/>
          </a:bodyPr>
          <a:lstStyle/>
          <a:p>
            <a:pPr algn="ctr"/>
            <a:r>
              <a:rPr lang="fa-IR" sz="1400" b="1" dirty="0">
                <a:solidFill>
                  <a:schemeClr val="bg1"/>
                </a:solidFill>
                <a:latin typeface="Yekan Bakh FaNum" pitchFamily="2" charset="-78"/>
                <a:ea typeface="Yekan Bakh FaNum" pitchFamily="2" charset="-78"/>
                <a:cs typeface="Yekan Bakh FaNum" pitchFamily="2" charset="-78"/>
              </a:rPr>
              <a:t>۵</a:t>
            </a:r>
            <a:endParaRPr lang="en-GB" sz="1400" b="1" dirty="0">
              <a:solidFill>
                <a:schemeClr val="bg1"/>
              </a:solidFill>
              <a:latin typeface="Yekan Bakh FaNum" pitchFamily="2" charset="-78"/>
              <a:ea typeface="Yekan Bakh FaNum" pitchFamily="2" charset="-78"/>
              <a:cs typeface="Yekan Bakh FaNum" pitchFamily="2" charset="-78"/>
            </a:endParaRPr>
          </a:p>
        </p:txBody>
      </p:sp>
      <p:sp>
        <p:nvSpPr>
          <p:cNvPr id="1096" name="Rectangle: Rounded Corners 1095">
            <a:extLst>
              <a:ext uri="{FF2B5EF4-FFF2-40B4-BE49-F238E27FC236}">
                <a16:creationId xmlns:a16="http://schemas.microsoft.com/office/drawing/2014/main" id="{474294E0-9126-FB51-3CBE-B5D1947AFA46}"/>
              </a:ext>
            </a:extLst>
          </p:cNvPr>
          <p:cNvSpPr/>
          <p:nvPr/>
        </p:nvSpPr>
        <p:spPr>
          <a:xfrm>
            <a:off x="5982104" y="4619102"/>
            <a:ext cx="4946041" cy="274320"/>
          </a:xfrm>
          <a:prstGeom prst="roundRect">
            <a:avLst>
              <a:gd name="adj" fmla="val 20381"/>
            </a:avLst>
          </a:prstGeom>
          <a:solidFill>
            <a:srgbClr val="F0BE0F">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rtl="1"/>
            <a:r>
              <a:rPr lang="fa-IR" sz="1100" b="1" dirty="0">
                <a:solidFill>
                  <a:srgbClr val="004D80"/>
                </a:solidFill>
                <a:latin typeface="Yekan Bakh" pitchFamily="2" charset="-78"/>
                <a:ea typeface="Yekan Bakh" pitchFamily="2" charset="-78"/>
                <a:cs typeface="Yekan Bakh" pitchFamily="2" charset="-78"/>
              </a:rPr>
              <a:t>جریان‌های درآمدی</a:t>
            </a:r>
          </a:p>
        </p:txBody>
      </p:sp>
      <p:sp>
        <p:nvSpPr>
          <p:cNvPr id="1097" name="Rectangle: Rounded Corners 1096">
            <a:extLst>
              <a:ext uri="{FF2B5EF4-FFF2-40B4-BE49-F238E27FC236}">
                <a16:creationId xmlns:a16="http://schemas.microsoft.com/office/drawing/2014/main" id="{A61A78E5-8BAB-CBD2-FF8D-C70DECEF8F6D}"/>
              </a:ext>
            </a:extLst>
          </p:cNvPr>
          <p:cNvSpPr/>
          <p:nvPr/>
        </p:nvSpPr>
        <p:spPr>
          <a:xfrm>
            <a:off x="5427818" y="4619102"/>
            <a:ext cx="274320" cy="274320"/>
          </a:xfrm>
          <a:prstGeom prst="roundRect">
            <a:avLst>
              <a:gd name="adj" fmla="val 20381"/>
            </a:avLst>
          </a:prstGeom>
          <a:solidFill>
            <a:srgbClr val="F0BE0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endParaRPr lang="fa-IR" sz="1600" b="1" dirty="0">
              <a:latin typeface="Yekan Bakh" pitchFamily="2" charset="-78"/>
              <a:ea typeface="Yekan Bakh" pitchFamily="2" charset="-78"/>
              <a:cs typeface="Yekan Bakh" pitchFamily="2" charset="-78"/>
            </a:endParaRPr>
          </a:p>
        </p:txBody>
      </p:sp>
      <p:sp>
        <p:nvSpPr>
          <p:cNvPr id="1098" name="TextBox 1097">
            <a:extLst>
              <a:ext uri="{FF2B5EF4-FFF2-40B4-BE49-F238E27FC236}">
                <a16:creationId xmlns:a16="http://schemas.microsoft.com/office/drawing/2014/main" id="{244A44E4-3B61-49BB-7206-3B3EA7AA6773}"/>
              </a:ext>
            </a:extLst>
          </p:cNvPr>
          <p:cNvSpPr txBox="1"/>
          <p:nvPr/>
        </p:nvSpPr>
        <p:spPr>
          <a:xfrm>
            <a:off x="5447010" y="4619423"/>
            <a:ext cx="235936" cy="307777"/>
          </a:xfrm>
          <a:prstGeom prst="rect">
            <a:avLst/>
          </a:prstGeom>
          <a:noFill/>
        </p:spPr>
        <p:txBody>
          <a:bodyPr wrap="square" rtlCol="0" anchor="ctr">
            <a:spAutoFit/>
          </a:bodyPr>
          <a:lstStyle/>
          <a:p>
            <a:pPr algn="ctr"/>
            <a:r>
              <a:rPr lang="fa-IR" sz="1400" b="1" dirty="0">
                <a:solidFill>
                  <a:schemeClr val="bg1"/>
                </a:solidFill>
                <a:latin typeface="Yekan Bakh FaNum" pitchFamily="2" charset="-78"/>
                <a:ea typeface="Yekan Bakh FaNum" pitchFamily="2" charset="-78"/>
                <a:cs typeface="Yekan Bakh FaNum" pitchFamily="2" charset="-78"/>
              </a:rPr>
              <a:t>۹</a:t>
            </a:r>
            <a:endParaRPr lang="en-GB" sz="1400" b="1" dirty="0">
              <a:solidFill>
                <a:schemeClr val="bg1"/>
              </a:solidFill>
              <a:latin typeface="Yekan Bakh FaNum" pitchFamily="2" charset="-78"/>
              <a:ea typeface="Yekan Bakh FaNum" pitchFamily="2" charset="-78"/>
              <a:cs typeface="Yekan Bakh FaNum" pitchFamily="2" charset="-78"/>
            </a:endParaRPr>
          </a:p>
        </p:txBody>
      </p:sp>
      <p:sp>
        <p:nvSpPr>
          <p:cNvPr id="1100" name="Rectangle: Rounded Corners 1099">
            <a:extLst>
              <a:ext uri="{FF2B5EF4-FFF2-40B4-BE49-F238E27FC236}">
                <a16:creationId xmlns:a16="http://schemas.microsoft.com/office/drawing/2014/main" id="{060BFFA6-8386-A6AC-676A-21861867FCAD}"/>
              </a:ext>
            </a:extLst>
          </p:cNvPr>
          <p:cNvSpPr/>
          <p:nvPr/>
        </p:nvSpPr>
        <p:spPr>
          <a:xfrm>
            <a:off x="463693" y="4619102"/>
            <a:ext cx="4946041" cy="274320"/>
          </a:xfrm>
          <a:prstGeom prst="roundRect">
            <a:avLst>
              <a:gd name="adj" fmla="val 20381"/>
            </a:avLst>
          </a:prstGeom>
          <a:solidFill>
            <a:srgbClr val="F0BE0F">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rtl="1"/>
            <a:r>
              <a:rPr lang="fa-IR" sz="1100" b="1" dirty="0">
                <a:solidFill>
                  <a:srgbClr val="004D80"/>
                </a:solidFill>
                <a:latin typeface="Yekan Bakh" pitchFamily="2" charset="-78"/>
                <a:ea typeface="Yekan Bakh" pitchFamily="2" charset="-78"/>
                <a:cs typeface="Yekan Bakh" pitchFamily="2" charset="-78"/>
              </a:rPr>
              <a:t>ساختار هزینه‌ها</a:t>
            </a:r>
          </a:p>
        </p:txBody>
      </p:sp>
      <p:cxnSp>
        <p:nvCxnSpPr>
          <p:cNvPr id="1101" name="Straight Connector 1100">
            <a:extLst>
              <a:ext uri="{FF2B5EF4-FFF2-40B4-BE49-F238E27FC236}">
                <a16:creationId xmlns:a16="http://schemas.microsoft.com/office/drawing/2014/main" id="{BD1A9FB0-53E7-F89F-0CD0-8DF13980D553}"/>
              </a:ext>
            </a:extLst>
          </p:cNvPr>
          <p:cNvCxnSpPr>
            <a:cxnSpLocks/>
          </p:cNvCxnSpPr>
          <p:nvPr/>
        </p:nvCxnSpPr>
        <p:spPr>
          <a:xfrm flipH="1">
            <a:off x="6975000" y="2971073"/>
            <a:ext cx="2143860" cy="0"/>
          </a:xfrm>
          <a:prstGeom prst="line">
            <a:avLst/>
          </a:prstGeom>
          <a:ln w="6350">
            <a:solidFill>
              <a:schemeClr val="bg1">
                <a:lumMod val="85000"/>
              </a:schemeClr>
            </a:solidFill>
            <a:prstDash val="dash"/>
          </a:ln>
        </p:spPr>
        <p:style>
          <a:lnRef idx="1">
            <a:schemeClr val="accent4"/>
          </a:lnRef>
          <a:fillRef idx="0">
            <a:schemeClr val="accent4"/>
          </a:fillRef>
          <a:effectRef idx="0">
            <a:schemeClr val="accent4"/>
          </a:effectRef>
          <a:fontRef idx="minor">
            <a:schemeClr val="tx1"/>
          </a:fontRef>
        </p:style>
      </p:cxnSp>
      <p:sp>
        <p:nvSpPr>
          <p:cNvPr id="1103" name="TextBox 1102">
            <a:extLst>
              <a:ext uri="{FF2B5EF4-FFF2-40B4-BE49-F238E27FC236}">
                <a16:creationId xmlns:a16="http://schemas.microsoft.com/office/drawing/2014/main" id="{D6DAC688-D402-0B9F-AFDF-666453DAFB99}"/>
              </a:ext>
            </a:extLst>
          </p:cNvPr>
          <p:cNvSpPr txBox="1"/>
          <p:nvPr/>
        </p:nvSpPr>
        <p:spPr>
          <a:xfrm>
            <a:off x="7059378" y="3423791"/>
            <a:ext cx="1975104" cy="1000274"/>
          </a:xfrm>
          <a:prstGeom prst="rect">
            <a:avLst/>
          </a:prstGeom>
          <a:noFill/>
        </p:spPr>
        <p:txBody>
          <a:bodyPr wrap="square" rtlCol="0">
            <a:spAutoFit/>
          </a:bodyPr>
          <a:lstStyle/>
          <a:p>
            <a:pPr marL="115888" marR="0" lvl="0" indent="-115888" algn="justLow" defTabSz="457200" rtl="1" eaLnBrk="1" fontAlgn="auto" latinLnBrk="0" hangingPunct="1">
              <a:lnSpc>
                <a:spcPct val="10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مشتریان تمایل دارند از چه طریقی به آن‌ها دسترسی داشته باشیم؟</a:t>
            </a:r>
          </a:p>
          <a:p>
            <a:pPr marL="115888" marR="0" lvl="0" indent="-115888" algn="justLow" defTabSz="457200" rtl="1" eaLnBrk="1" fontAlgn="auto" latinLnBrk="0" hangingPunct="1">
              <a:lnSpc>
                <a:spcPct val="10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سایر شرکت‌ها در حال حاضر چگونه به آن‌ها دسترسی دارند؟</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a:p>
            <a:pPr marL="115888" marR="0" lvl="0" indent="-115888" algn="justLow" defTabSz="457200" rtl="1" eaLnBrk="1" fontAlgn="auto" latinLnBrk="0" hangingPunct="1">
              <a:lnSpc>
                <a:spcPct val="10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چگونه این کانال‌ها را با روال‌های روزمره مشتریان یکپارچه می‌کنیم؟</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p:txBody>
      </p:sp>
      <p:sp>
        <p:nvSpPr>
          <p:cNvPr id="1104" name="TextBox 1103">
            <a:extLst>
              <a:ext uri="{FF2B5EF4-FFF2-40B4-BE49-F238E27FC236}">
                <a16:creationId xmlns:a16="http://schemas.microsoft.com/office/drawing/2014/main" id="{78FC3A2A-23B4-78E9-D043-A68617EE5485}"/>
              </a:ext>
            </a:extLst>
          </p:cNvPr>
          <p:cNvSpPr txBox="1"/>
          <p:nvPr/>
        </p:nvSpPr>
        <p:spPr>
          <a:xfrm>
            <a:off x="7059378" y="1815483"/>
            <a:ext cx="1975104" cy="1138773"/>
          </a:xfrm>
          <a:prstGeom prst="rect">
            <a:avLst/>
          </a:prstGeom>
          <a:noFill/>
        </p:spPr>
        <p:txBody>
          <a:bodyPr wrap="square" rtlCol="0">
            <a:spAutoFit/>
          </a:bodyPr>
          <a:lstStyle/>
          <a:p>
            <a:pPr marL="115888" marR="0" lvl="0" indent="-115888" algn="justLow" defTabSz="457200" rtl="1" eaLnBrk="1" fontAlgn="auto" latinLnBrk="0" hangingPunct="1">
              <a:lnSpc>
                <a:spcPct val="10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چگونه مشتریان را جذب می‌کنیم، آن‌ها را حفظ می‌کنیم و توسعه می‌دهیم؟</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a:p>
            <a:pPr marL="115888" marR="0" lvl="0" indent="-115888" algn="justLow" defTabSz="457200" rtl="1" eaLnBrk="1" fontAlgn="auto" latinLnBrk="0" hangingPunct="1">
              <a:lnSpc>
                <a:spcPct val="10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چه نوع روابطی را با مشتریان پایه‌گذاری کرده‌ایم؟</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a:p>
            <a:pPr marL="115888" marR="0" lvl="0" indent="-115888" algn="justLow" defTabSz="457200" rtl="1" eaLnBrk="1" fontAlgn="auto" latinLnBrk="0" hangingPunct="1">
              <a:lnSpc>
                <a:spcPct val="10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این روابط چگونه با سایر بخش‌های مدل کسب‌وکار ما یکپارچه شده‌اند؟</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p:txBody>
      </p:sp>
      <p:grpSp>
        <p:nvGrpSpPr>
          <p:cNvPr id="1105" name="Group 1104">
            <a:extLst>
              <a:ext uri="{FF2B5EF4-FFF2-40B4-BE49-F238E27FC236}">
                <a16:creationId xmlns:a16="http://schemas.microsoft.com/office/drawing/2014/main" id="{00B10952-FE4A-878A-E661-3503E898B975}"/>
              </a:ext>
            </a:extLst>
          </p:cNvPr>
          <p:cNvGrpSpPr/>
          <p:nvPr/>
        </p:nvGrpSpPr>
        <p:grpSpPr>
          <a:xfrm>
            <a:off x="7059589" y="1467537"/>
            <a:ext cx="1974683" cy="308098"/>
            <a:chOff x="9235887" y="1514246"/>
            <a:chExt cx="1974683" cy="308098"/>
          </a:xfrm>
        </p:grpSpPr>
        <p:sp>
          <p:nvSpPr>
            <p:cNvPr id="1107" name="Rectangle: Rounded Corners 1106">
              <a:extLst>
                <a:ext uri="{FF2B5EF4-FFF2-40B4-BE49-F238E27FC236}">
                  <a16:creationId xmlns:a16="http://schemas.microsoft.com/office/drawing/2014/main" id="{D0B31330-1187-E6C8-E8B0-762056193885}"/>
                </a:ext>
              </a:extLst>
            </p:cNvPr>
            <p:cNvSpPr/>
            <p:nvPr/>
          </p:nvSpPr>
          <p:spPr>
            <a:xfrm>
              <a:off x="10936250" y="1514246"/>
              <a:ext cx="274320" cy="274320"/>
            </a:xfrm>
            <a:prstGeom prst="roundRect">
              <a:avLst>
                <a:gd name="adj" fmla="val 20381"/>
              </a:avLst>
            </a:prstGeom>
            <a:solidFill>
              <a:srgbClr val="F0BE0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endParaRPr lang="fa-IR" sz="1600" b="1" dirty="0">
                <a:latin typeface="Yekan Bakh" pitchFamily="2" charset="-78"/>
                <a:ea typeface="Yekan Bakh" pitchFamily="2" charset="-78"/>
                <a:cs typeface="Yekan Bakh" pitchFamily="2" charset="-78"/>
              </a:endParaRPr>
            </a:p>
          </p:txBody>
        </p:sp>
        <p:sp>
          <p:nvSpPr>
            <p:cNvPr id="1108" name="TextBox 1107">
              <a:extLst>
                <a:ext uri="{FF2B5EF4-FFF2-40B4-BE49-F238E27FC236}">
                  <a16:creationId xmlns:a16="http://schemas.microsoft.com/office/drawing/2014/main" id="{8F54C2F5-0778-163A-B4AF-724C1DCC30D6}"/>
                </a:ext>
              </a:extLst>
            </p:cNvPr>
            <p:cNvSpPr txBox="1"/>
            <p:nvPr/>
          </p:nvSpPr>
          <p:spPr>
            <a:xfrm>
              <a:off x="10955442" y="1514567"/>
              <a:ext cx="235936" cy="307777"/>
            </a:xfrm>
            <a:prstGeom prst="rect">
              <a:avLst/>
            </a:prstGeom>
            <a:noFill/>
          </p:spPr>
          <p:txBody>
            <a:bodyPr wrap="square" rtlCol="0" anchor="ctr">
              <a:spAutoFit/>
            </a:bodyPr>
            <a:lstStyle/>
            <a:p>
              <a:pPr algn="ctr"/>
              <a:r>
                <a:rPr lang="fa-IR" sz="1400" b="1" dirty="0">
                  <a:solidFill>
                    <a:schemeClr val="bg1"/>
                  </a:solidFill>
                  <a:latin typeface="Yekan Bakh FaNum" pitchFamily="2" charset="-78"/>
                  <a:ea typeface="Yekan Bakh FaNum" pitchFamily="2" charset="-78"/>
                  <a:cs typeface="Yekan Bakh FaNum" pitchFamily="2" charset="-78"/>
                </a:rPr>
                <a:t>۴</a:t>
              </a:r>
              <a:endParaRPr lang="en-GB" sz="1400" b="1" dirty="0">
                <a:solidFill>
                  <a:schemeClr val="bg1"/>
                </a:solidFill>
                <a:latin typeface="Yekan Bakh FaNum" pitchFamily="2" charset="-78"/>
                <a:ea typeface="Yekan Bakh FaNum" pitchFamily="2" charset="-78"/>
                <a:cs typeface="Yekan Bakh FaNum" pitchFamily="2" charset="-78"/>
              </a:endParaRPr>
            </a:p>
          </p:txBody>
        </p:sp>
        <p:sp>
          <p:nvSpPr>
            <p:cNvPr id="1109" name="Rectangle: Rounded Corners 1108">
              <a:extLst>
                <a:ext uri="{FF2B5EF4-FFF2-40B4-BE49-F238E27FC236}">
                  <a16:creationId xmlns:a16="http://schemas.microsoft.com/office/drawing/2014/main" id="{F8DBF62C-D4CE-FB40-D262-97597E498199}"/>
                </a:ext>
              </a:extLst>
            </p:cNvPr>
            <p:cNvSpPr/>
            <p:nvPr/>
          </p:nvSpPr>
          <p:spPr>
            <a:xfrm>
              <a:off x="9235887" y="1514246"/>
              <a:ext cx="1682279" cy="274320"/>
            </a:xfrm>
            <a:prstGeom prst="roundRect">
              <a:avLst>
                <a:gd name="adj" fmla="val 20381"/>
              </a:avLst>
            </a:prstGeom>
            <a:solidFill>
              <a:srgbClr val="F0BE0F">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fa-IR" sz="1100" b="1" dirty="0">
                  <a:solidFill>
                    <a:srgbClr val="004D80"/>
                  </a:solidFill>
                  <a:latin typeface="Yekan Bakh" pitchFamily="2" charset="-78"/>
                  <a:ea typeface="Yekan Bakh" pitchFamily="2" charset="-78"/>
                  <a:cs typeface="Yekan Bakh" pitchFamily="2" charset="-78"/>
                </a:rPr>
                <a:t>ارتباط با مشتری</a:t>
              </a:r>
            </a:p>
          </p:txBody>
        </p:sp>
      </p:grpSp>
      <p:grpSp>
        <p:nvGrpSpPr>
          <p:cNvPr id="1110" name="Group 1109">
            <a:extLst>
              <a:ext uri="{FF2B5EF4-FFF2-40B4-BE49-F238E27FC236}">
                <a16:creationId xmlns:a16="http://schemas.microsoft.com/office/drawing/2014/main" id="{431BB66C-02EA-EFA5-5DD4-3910E360C8EB}"/>
              </a:ext>
            </a:extLst>
          </p:cNvPr>
          <p:cNvGrpSpPr/>
          <p:nvPr/>
        </p:nvGrpSpPr>
        <p:grpSpPr>
          <a:xfrm>
            <a:off x="7059589" y="3078880"/>
            <a:ext cx="1974683" cy="308098"/>
            <a:chOff x="9235887" y="1514246"/>
            <a:chExt cx="1974683" cy="308098"/>
          </a:xfrm>
        </p:grpSpPr>
        <p:sp>
          <p:nvSpPr>
            <p:cNvPr id="1111" name="Rectangle: Rounded Corners 1110">
              <a:extLst>
                <a:ext uri="{FF2B5EF4-FFF2-40B4-BE49-F238E27FC236}">
                  <a16:creationId xmlns:a16="http://schemas.microsoft.com/office/drawing/2014/main" id="{D83D8128-E6C1-2C2C-6D1D-D56A2086D54C}"/>
                </a:ext>
              </a:extLst>
            </p:cNvPr>
            <p:cNvSpPr/>
            <p:nvPr/>
          </p:nvSpPr>
          <p:spPr>
            <a:xfrm>
              <a:off x="10936250" y="1514246"/>
              <a:ext cx="274320" cy="274320"/>
            </a:xfrm>
            <a:prstGeom prst="roundRect">
              <a:avLst>
                <a:gd name="adj" fmla="val 20381"/>
              </a:avLst>
            </a:prstGeom>
            <a:solidFill>
              <a:srgbClr val="F0BE0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a-IR" sz="1600" b="1" dirty="0">
                <a:latin typeface="Yekan Bakh" pitchFamily="2" charset="-78"/>
                <a:ea typeface="Yekan Bakh" pitchFamily="2" charset="-78"/>
                <a:cs typeface="Yekan Bakh" pitchFamily="2" charset="-78"/>
              </a:endParaRPr>
            </a:p>
          </p:txBody>
        </p:sp>
        <p:sp>
          <p:nvSpPr>
            <p:cNvPr id="1112" name="TextBox 1111">
              <a:extLst>
                <a:ext uri="{FF2B5EF4-FFF2-40B4-BE49-F238E27FC236}">
                  <a16:creationId xmlns:a16="http://schemas.microsoft.com/office/drawing/2014/main" id="{F3D73222-E780-D85C-9FCF-400C3E484FDD}"/>
                </a:ext>
              </a:extLst>
            </p:cNvPr>
            <p:cNvSpPr txBox="1"/>
            <p:nvPr/>
          </p:nvSpPr>
          <p:spPr>
            <a:xfrm>
              <a:off x="10955442" y="1514567"/>
              <a:ext cx="235936" cy="307777"/>
            </a:xfrm>
            <a:prstGeom prst="rect">
              <a:avLst/>
            </a:prstGeom>
            <a:noFill/>
          </p:spPr>
          <p:txBody>
            <a:bodyPr wrap="square" rtlCol="0" anchor="ctr">
              <a:spAutoFit/>
            </a:bodyPr>
            <a:lstStyle/>
            <a:p>
              <a:pPr algn="ctr"/>
              <a:r>
                <a:rPr lang="fa-IR" sz="1400" b="1" dirty="0">
                  <a:solidFill>
                    <a:schemeClr val="bg1"/>
                  </a:solidFill>
                  <a:latin typeface="Yekan Bakh FaNum" pitchFamily="2" charset="-78"/>
                  <a:ea typeface="Yekan Bakh FaNum" pitchFamily="2" charset="-78"/>
                  <a:cs typeface="Yekan Bakh FaNum" pitchFamily="2" charset="-78"/>
                </a:rPr>
                <a:t>۳</a:t>
              </a:r>
              <a:endParaRPr lang="en-GB" sz="1400" b="1" dirty="0">
                <a:solidFill>
                  <a:schemeClr val="bg1"/>
                </a:solidFill>
                <a:latin typeface="Yekan Bakh FaNum" pitchFamily="2" charset="-78"/>
                <a:ea typeface="Yekan Bakh FaNum" pitchFamily="2" charset="-78"/>
                <a:cs typeface="Yekan Bakh FaNum" pitchFamily="2" charset="-78"/>
              </a:endParaRPr>
            </a:p>
          </p:txBody>
        </p:sp>
        <p:sp>
          <p:nvSpPr>
            <p:cNvPr id="1113" name="Rectangle: Rounded Corners 1112">
              <a:extLst>
                <a:ext uri="{FF2B5EF4-FFF2-40B4-BE49-F238E27FC236}">
                  <a16:creationId xmlns:a16="http://schemas.microsoft.com/office/drawing/2014/main" id="{D4CAE31A-BD56-B476-564A-CE4BDA5F98DE}"/>
                </a:ext>
              </a:extLst>
            </p:cNvPr>
            <p:cNvSpPr/>
            <p:nvPr/>
          </p:nvSpPr>
          <p:spPr>
            <a:xfrm>
              <a:off x="9235887" y="1514246"/>
              <a:ext cx="1682279" cy="274320"/>
            </a:xfrm>
            <a:prstGeom prst="roundRect">
              <a:avLst>
                <a:gd name="adj" fmla="val 20381"/>
              </a:avLst>
            </a:prstGeom>
            <a:solidFill>
              <a:srgbClr val="F0BE0F">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1100" b="1" dirty="0">
                  <a:solidFill>
                    <a:srgbClr val="004D80"/>
                  </a:solidFill>
                  <a:latin typeface="Yekan Bakh" pitchFamily="2" charset="-78"/>
                  <a:ea typeface="Yekan Bakh" pitchFamily="2" charset="-78"/>
                  <a:cs typeface="Yekan Bakh" pitchFamily="2" charset="-78"/>
                </a:rPr>
                <a:t>کانال‌ها</a:t>
              </a:r>
            </a:p>
          </p:txBody>
        </p:sp>
      </p:grpSp>
      <p:cxnSp>
        <p:nvCxnSpPr>
          <p:cNvPr id="1114" name="Straight Connector 1113">
            <a:extLst>
              <a:ext uri="{FF2B5EF4-FFF2-40B4-BE49-F238E27FC236}">
                <a16:creationId xmlns:a16="http://schemas.microsoft.com/office/drawing/2014/main" id="{946F6D07-19F7-9CF6-D557-61CAF0A0D962}"/>
              </a:ext>
            </a:extLst>
          </p:cNvPr>
          <p:cNvCxnSpPr>
            <a:cxnSpLocks/>
          </p:cNvCxnSpPr>
          <p:nvPr/>
        </p:nvCxnSpPr>
        <p:spPr>
          <a:xfrm flipH="1">
            <a:off x="2602020" y="2971073"/>
            <a:ext cx="2143860" cy="0"/>
          </a:xfrm>
          <a:prstGeom prst="line">
            <a:avLst/>
          </a:prstGeom>
          <a:noFill/>
          <a:ln w="6350">
            <a:solidFill>
              <a:schemeClr val="bg1">
                <a:lumMod val="85000"/>
              </a:schemeClr>
            </a:solidFill>
            <a:prstDash val="dash"/>
          </a:ln>
        </p:spPr>
      </p:cxnSp>
      <p:sp>
        <p:nvSpPr>
          <p:cNvPr id="1115" name="TextBox 1114">
            <a:extLst>
              <a:ext uri="{FF2B5EF4-FFF2-40B4-BE49-F238E27FC236}">
                <a16:creationId xmlns:a16="http://schemas.microsoft.com/office/drawing/2014/main" id="{817EB328-D826-7043-5C98-E905162CB098}"/>
              </a:ext>
            </a:extLst>
          </p:cNvPr>
          <p:cNvSpPr txBox="1"/>
          <p:nvPr/>
        </p:nvSpPr>
        <p:spPr>
          <a:xfrm>
            <a:off x="2686398" y="3423791"/>
            <a:ext cx="1975104" cy="1000274"/>
          </a:xfrm>
          <a:prstGeom prst="rect">
            <a:avLst/>
          </a:prstGeom>
          <a:noFill/>
        </p:spPr>
        <p:txBody>
          <a:bodyPr wrap="square" rtlCol="0">
            <a:spAutoFit/>
          </a:bodyPr>
          <a:lstStyle/>
          <a:p>
            <a:pPr marL="115888" marR="0" lvl="0" indent="-115888" algn="justLow" defTabSz="457200" rtl="1" eaLnBrk="1" fontAlgn="auto" latinLnBrk="0" hangingPunct="1">
              <a:lnSpc>
                <a:spcPct val="10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ارزش پیشنهادی ما مستلزم چه منابع کلیدی است؟</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a:p>
            <a:pPr marL="115888" marR="0" lvl="0" indent="-115888" algn="justLow" defTabSz="457200" rtl="1" eaLnBrk="1" fontAlgn="auto" latinLnBrk="0" hangingPunct="1">
              <a:lnSpc>
                <a:spcPct val="10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کانال‌های توزیع ما به چه منابعی نیاز دارند؟</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a:p>
            <a:pPr marL="115888" marR="0" lvl="0" indent="-115888" algn="justLow" defTabSz="457200" rtl="1" eaLnBrk="1" fontAlgn="auto" latinLnBrk="0" hangingPunct="1">
              <a:lnSpc>
                <a:spcPct val="10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ارتباط با مشتریان نیازمند چه منابعی است؟</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p:txBody>
      </p:sp>
      <p:sp>
        <p:nvSpPr>
          <p:cNvPr id="1116" name="TextBox 1115">
            <a:extLst>
              <a:ext uri="{FF2B5EF4-FFF2-40B4-BE49-F238E27FC236}">
                <a16:creationId xmlns:a16="http://schemas.microsoft.com/office/drawing/2014/main" id="{9245AD67-EBEE-A347-94A4-48EC014295F1}"/>
              </a:ext>
            </a:extLst>
          </p:cNvPr>
          <p:cNvSpPr txBox="1"/>
          <p:nvPr/>
        </p:nvSpPr>
        <p:spPr>
          <a:xfrm>
            <a:off x="2686398" y="1815483"/>
            <a:ext cx="1975104" cy="1000274"/>
          </a:xfrm>
          <a:prstGeom prst="rect">
            <a:avLst/>
          </a:prstGeom>
          <a:noFill/>
        </p:spPr>
        <p:txBody>
          <a:bodyPr wrap="square" rtlCol="0">
            <a:spAutoFit/>
          </a:bodyPr>
          <a:lstStyle/>
          <a:p>
            <a:pPr marL="115888" marR="0" lvl="0" indent="-115888" algn="justLow" defTabSz="457200" rtl="1" eaLnBrk="1" fontAlgn="auto" latinLnBrk="0" hangingPunct="1">
              <a:lnSpc>
                <a:spcPct val="10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ارزش پیشنهادی ما مستلزم چه فعالیت‌های کلیدی است؟</a:t>
            </a:r>
          </a:p>
          <a:p>
            <a:pPr marL="115888" marR="0" lvl="0" indent="-115888" algn="justLow" defTabSz="457200" rtl="1" eaLnBrk="1" fontAlgn="auto" latinLnBrk="0" hangingPunct="1">
              <a:lnSpc>
                <a:spcPct val="10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کانال‌های توزیع ما به چه فعالیت‌هایی نیاز دارند؟</a:t>
            </a:r>
          </a:p>
          <a:p>
            <a:pPr marL="115888" marR="0" lvl="0" indent="-115888" algn="justLow" defTabSz="457200" rtl="1" eaLnBrk="1" fontAlgn="auto" latinLnBrk="0" hangingPunct="1">
              <a:lnSpc>
                <a:spcPct val="10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ارتباط با مشتریان چه فعالیت‌هایی را می‌طلبد؟</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p:txBody>
      </p:sp>
      <p:sp>
        <p:nvSpPr>
          <p:cNvPr id="1117" name="Rectangle: Rounded Corners 1116">
            <a:extLst>
              <a:ext uri="{FF2B5EF4-FFF2-40B4-BE49-F238E27FC236}">
                <a16:creationId xmlns:a16="http://schemas.microsoft.com/office/drawing/2014/main" id="{686EB492-F72F-F793-D86C-0B9BF9CCE477}"/>
              </a:ext>
            </a:extLst>
          </p:cNvPr>
          <p:cNvSpPr/>
          <p:nvPr/>
        </p:nvSpPr>
        <p:spPr>
          <a:xfrm>
            <a:off x="4386972" y="1467537"/>
            <a:ext cx="274320" cy="274320"/>
          </a:xfrm>
          <a:prstGeom prst="roundRect">
            <a:avLst>
              <a:gd name="adj" fmla="val 20381"/>
            </a:avLst>
          </a:prstGeom>
          <a:solidFill>
            <a:srgbClr val="F0BE0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endParaRPr lang="fa-IR" sz="1600" b="1" dirty="0">
              <a:latin typeface="Yekan Bakh" pitchFamily="2" charset="-78"/>
              <a:ea typeface="Yekan Bakh" pitchFamily="2" charset="-78"/>
              <a:cs typeface="Yekan Bakh" pitchFamily="2" charset="-78"/>
            </a:endParaRPr>
          </a:p>
        </p:txBody>
      </p:sp>
      <p:sp>
        <p:nvSpPr>
          <p:cNvPr id="1118" name="TextBox 1117">
            <a:extLst>
              <a:ext uri="{FF2B5EF4-FFF2-40B4-BE49-F238E27FC236}">
                <a16:creationId xmlns:a16="http://schemas.microsoft.com/office/drawing/2014/main" id="{249F291C-475A-B665-A93D-D0B3AB7D12AC}"/>
              </a:ext>
            </a:extLst>
          </p:cNvPr>
          <p:cNvSpPr txBox="1"/>
          <p:nvPr/>
        </p:nvSpPr>
        <p:spPr>
          <a:xfrm>
            <a:off x="4406164" y="1467858"/>
            <a:ext cx="235936" cy="307777"/>
          </a:xfrm>
          <a:prstGeom prst="rect">
            <a:avLst/>
          </a:prstGeom>
          <a:noFill/>
        </p:spPr>
        <p:txBody>
          <a:bodyPr wrap="square" rtlCol="0" anchor="ctr">
            <a:spAutoFit/>
          </a:bodyPr>
          <a:lstStyle/>
          <a:p>
            <a:pPr algn="ctr"/>
            <a:r>
              <a:rPr lang="fa-IR" sz="1400" b="1" dirty="0">
                <a:solidFill>
                  <a:schemeClr val="bg1"/>
                </a:solidFill>
                <a:latin typeface="Yekan Bakh FaNum" pitchFamily="2" charset="-78"/>
                <a:ea typeface="Yekan Bakh FaNum" pitchFamily="2" charset="-78"/>
                <a:cs typeface="Yekan Bakh FaNum" pitchFamily="2" charset="-78"/>
              </a:rPr>
              <a:t>۷</a:t>
            </a:r>
            <a:endParaRPr lang="en-GB" sz="1400" b="1" dirty="0">
              <a:solidFill>
                <a:schemeClr val="bg1"/>
              </a:solidFill>
              <a:latin typeface="Yekan Bakh FaNum" pitchFamily="2" charset="-78"/>
              <a:ea typeface="Yekan Bakh FaNum" pitchFamily="2" charset="-78"/>
              <a:cs typeface="Yekan Bakh FaNum" pitchFamily="2" charset="-78"/>
            </a:endParaRPr>
          </a:p>
        </p:txBody>
      </p:sp>
      <p:sp>
        <p:nvSpPr>
          <p:cNvPr id="1119" name="Rectangle: Rounded Corners 1118">
            <a:extLst>
              <a:ext uri="{FF2B5EF4-FFF2-40B4-BE49-F238E27FC236}">
                <a16:creationId xmlns:a16="http://schemas.microsoft.com/office/drawing/2014/main" id="{3377025F-0BA4-F132-2ABF-349DCA20AB67}"/>
              </a:ext>
            </a:extLst>
          </p:cNvPr>
          <p:cNvSpPr/>
          <p:nvPr/>
        </p:nvSpPr>
        <p:spPr>
          <a:xfrm>
            <a:off x="2686609" y="1467537"/>
            <a:ext cx="1682279" cy="274320"/>
          </a:xfrm>
          <a:prstGeom prst="roundRect">
            <a:avLst>
              <a:gd name="adj" fmla="val 20381"/>
            </a:avLst>
          </a:prstGeom>
          <a:solidFill>
            <a:srgbClr val="F0BE0F">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fa-IR" sz="1100" b="1" dirty="0">
                <a:solidFill>
                  <a:srgbClr val="004D80"/>
                </a:solidFill>
                <a:latin typeface="Yekan Bakh" pitchFamily="2" charset="-78"/>
                <a:ea typeface="Yekan Bakh" pitchFamily="2" charset="-78"/>
                <a:cs typeface="Yekan Bakh" pitchFamily="2" charset="-78"/>
              </a:rPr>
              <a:t>فعالیت‌های کلیدی</a:t>
            </a:r>
          </a:p>
        </p:txBody>
      </p:sp>
      <p:sp>
        <p:nvSpPr>
          <p:cNvPr id="1120" name="Rectangle: Rounded Corners 1119">
            <a:extLst>
              <a:ext uri="{FF2B5EF4-FFF2-40B4-BE49-F238E27FC236}">
                <a16:creationId xmlns:a16="http://schemas.microsoft.com/office/drawing/2014/main" id="{8015C380-9345-B2D6-5C9E-B1AB930531DA}"/>
              </a:ext>
            </a:extLst>
          </p:cNvPr>
          <p:cNvSpPr/>
          <p:nvPr/>
        </p:nvSpPr>
        <p:spPr>
          <a:xfrm>
            <a:off x="4386972" y="3078880"/>
            <a:ext cx="274320" cy="274320"/>
          </a:xfrm>
          <a:prstGeom prst="roundRect">
            <a:avLst>
              <a:gd name="adj" fmla="val 20381"/>
            </a:avLst>
          </a:prstGeom>
          <a:solidFill>
            <a:srgbClr val="F0BE0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a-IR" sz="1600" b="1" dirty="0">
              <a:latin typeface="Yekan Bakh" pitchFamily="2" charset="-78"/>
              <a:ea typeface="Yekan Bakh" pitchFamily="2" charset="-78"/>
              <a:cs typeface="Yekan Bakh" pitchFamily="2" charset="-78"/>
            </a:endParaRPr>
          </a:p>
        </p:txBody>
      </p:sp>
      <p:sp>
        <p:nvSpPr>
          <p:cNvPr id="1121" name="TextBox 1120">
            <a:extLst>
              <a:ext uri="{FF2B5EF4-FFF2-40B4-BE49-F238E27FC236}">
                <a16:creationId xmlns:a16="http://schemas.microsoft.com/office/drawing/2014/main" id="{233A82F3-8FA0-B2AD-F7A6-FD2E2D00BB82}"/>
              </a:ext>
            </a:extLst>
          </p:cNvPr>
          <p:cNvSpPr txBox="1"/>
          <p:nvPr/>
        </p:nvSpPr>
        <p:spPr>
          <a:xfrm>
            <a:off x="4406164" y="3079201"/>
            <a:ext cx="235936" cy="307777"/>
          </a:xfrm>
          <a:prstGeom prst="rect">
            <a:avLst/>
          </a:prstGeom>
          <a:noFill/>
        </p:spPr>
        <p:txBody>
          <a:bodyPr wrap="square" rtlCol="0" anchor="ctr">
            <a:spAutoFit/>
          </a:bodyPr>
          <a:lstStyle/>
          <a:p>
            <a:pPr algn="ctr"/>
            <a:r>
              <a:rPr lang="fa-IR" sz="1400" b="1" dirty="0">
                <a:solidFill>
                  <a:schemeClr val="bg1"/>
                </a:solidFill>
                <a:latin typeface="Yekan Bakh FaNum" pitchFamily="2" charset="-78"/>
                <a:ea typeface="Yekan Bakh FaNum" pitchFamily="2" charset="-78"/>
                <a:cs typeface="Yekan Bakh FaNum" pitchFamily="2" charset="-78"/>
              </a:rPr>
              <a:t>۶</a:t>
            </a:r>
            <a:endParaRPr lang="en-GB" sz="1400" b="1" dirty="0">
              <a:solidFill>
                <a:schemeClr val="bg1"/>
              </a:solidFill>
              <a:latin typeface="Yekan Bakh FaNum" pitchFamily="2" charset="-78"/>
              <a:ea typeface="Yekan Bakh FaNum" pitchFamily="2" charset="-78"/>
              <a:cs typeface="Yekan Bakh FaNum" pitchFamily="2" charset="-78"/>
            </a:endParaRPr>
          </a:p>
        </p:txBody>
      </p:sp>
      <p:sp>
        <p:nvSpPr>
          <p:cNvPr id="1122" name="Rectangle: Rounded Corners 1121">
            <a:extLst>
              <a:ext uri="{FF2B5EF4-FFF2-40B4-BE49-F238E27FC236}">
                <a16:creationId xmlns:a16="http://schemas.microsoft.com/office/drawing/2014/main" id="{633E8221-305A-A919-7814-BE5588C9FDCD}"/>
              </a:ext>
            </a:extLst>
          </p:cNvPr>
          <p:cNvSpPr/>
          <p:nvPr/>
        </p:nvSpPr>
        <p:spPr>
          <a:xfrm>
            <a:off x="2686609" y="3078880"/>
            <a:ext cx="1682279" cy="274320"/>
          </a:xfrm>
          <a:prstGeom prst="roundRect">
            <a:avLst>
              <a:gd name="adj" fmla="val 20381"/>
            </a:avLst>
          </a:prstGeom>
          <a:solidFill>
            <a:srgbClr val="F0BE0F">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1100" b="1" dirty="0">
                <a:solidFill>
                  <a:srgbClr val="004D80"/>
                </a:solidFill>
                <a:latin typeface="Yekan Bakh" pitchFamily="2" charset="-78"/>
                <a:ea typeface="Yekan Bakh" pitchFamily="2" charset="-78"/>
                <a:cs typeface="Yekan Bakh" pitchFamily="2" charset="-78"/>
              </a:rPr>
              <a:t>منابع کلیدی</a:t>
            </a:r>
          </a:p>
        </p:txBody>
      </p:sp>
      <p:cxnSp>
        <p:nvCxnSpPr>
          <p:cNvPr id="1139" name="Straight Connector 1138">
            <a:extLst>
              <a:ext uri="{FF2B5EF4-FFF2-40B4-BE49-F238E27FC236}">
                <a16:creationId xmlns:a16="http://schemas.microsoft.com/office/drawing/2014/main" id="{AA6069A4-905A-5AA9-AE11-E4BCF5F5C072}"/>
              </a:ext>
            </a:extLst>
          </p:cNvPr>
          <p:cNvCxnSpPr>
            <a:cxnSpLocks/>
          </p:cNvCxnSpPr>
          <p:nvPr/>
        </p:nvCxnSpPr>
        <p:spPr>
          <a:xfrm>
            <a:off x="4808068" y="1603501"/>
            <a:ext cx="0" cy="2926080"/>
          </a:xfrm>
          <a:prstGeom prst="line">
            <a:avLst/>
          </a:prstGeom>
          <a:ln w="6350">
            <a:solidFill>
              <a:schemeClr val="bg1">
                <a:lumMod val="85000"/>
              </a:schemeClr>
            </a:solidFill>
            <a:prstDash val="dash"/>
          </a:ln>
        </p:spPr>
        <p:style>
          <a:lnRef idx="1">
            <a:schemeClr val="accent4"/>
          </a:lnRef>
          <a:fillRef idx="0">
            <a:schemeClr val="accent4"/>
          </a:fillRef>
          <a:effectRef idx="0">
            <a:schemeClr val="accent4"/>
          </a:effectRef>
          <a:fontRef idx="minor">
            <a:schemeClr val="tx1"/>
          </a:fontRef>
        </p:style>
      </p:cxnSp>
    </p:spTree>
    <p:extLst>
      <p:ext uri="{BB962C8B-B14F-4D97-AF65-F5344CB8AC3E}">
        <p14:creationId xmlns:p14="http://schemas.microsoft.com/office/powerpoint/2010/main" val="28577805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744E1-D842-0079-3438-CC90E7FF5AEE}"/>
            </a:ext>
          </a:extLst>
        </p:cNvPr>
        <p:cNvGrpSpPr/>
        <p:nvPr/>
      </p:nvGrpSpPr>
      <p:grpSpPr>
        <a:xfrm>
          <a:off x="0" y="0"/>
          <a:ext cx="0" cy="0"/>
          <a:chOff x="0" y="0"/>
          <a:chExt cx="0" cy="0"/>
        </a:xfrm>
      </p:grpSpPr>
      <p:grpSp>
        <p:nvGrpSpPr>
          <p:cNvPr id="37" name="Group 36">
            <a:extLst>
              <a:ext uri="{FF2B5EF4-FFF2-40B4-BE49-F238E27FC236}">
                <a16:creationId xmlns:a16="http://schemas.microsoft.com/office/drawing/2014/main" id="{B867072F-2FE3-6BE9-0451-2381923A934F}"/>
              </a:ext>
            </a:extLst>
          </p:cNvPr>
          <p:cNvGrpSpPr/>
          <p:nvPr/>
        </p:nvGrpSpPr>
        <p:grpSpPr>
          <a:xfrm>
            <a:off x="357485" y="2103301"/>
            <a:ext cx="4749774" cy="2376760"/>
            <a:chOff x="357485" y="2529707"/>
            <a:chExt cx="4749774" cy="2376760"/>
          </a:xfrm>
        </p:grpSpPr>
        <p:sp>
          <p:nvSpPr>
            <p:cNvPr id="5" name="Title 1">
              <a:extLst>
                <a:ext uri="{FF2B5EF4-FFF2-40B4-BE49-F238E27FC236}">
                  <a16:creationId xmlns:a16="http://schemas.microsoft.com/office/drawing/2014/main" id="{12D68983-02C9-F6C6-C2AE-66D356CE9EFB}"/>
                </a:ext>
              </a:extLst>
            </p:cNvPr>
            <p:cNvSpPr txBox="1">
              <a:spLocks/>
            </p:cNvSpPr>
            <p:nvPr/>
          </p:nvSpPr>
          <p:spPr>
            <a:xfrm>
              <a:off x="357485" y="2529707"/>
              <a:ext cx="4749774" cy="693069"/>
            </a:xfrm>
            <a:prstGeom prst="rect">
              <a:avLst/>
            </a:prstGeom>
          </p:spPr>
          <p:txBody>
            <a:bodyPr lIns="91440" tIns="45720" rIns="91440" bIns="45720" anchor="t"/>
            <a:lstStyle>
              <a:lvl1pPr algn="justLow" defTabSz="1021516" rtl="1" eaLnBrk="1" latinLnBrk="0" hangingPunct="1">
                <a:lnSpc>
                  <a:spcPct val="90000"/>
                </a:lnSpc>
                <a:spcBef>
                  <a:spcPct val="0"/>
                </a:spcBef>
                <a:buNone/>
                <a:defRPr sz="4500" b="1" kern="1200">
                  <a:solidFill>
                    <a:schemeClr val="tx1">
                      <a:lumMod val="75000"/>
                      <a:lumOff val="25000"/>
                    </a:schemeClr>
                  </a:solidFill>
                  <a:latin typeface="Shabnam Bold FD" panose="020B0603030804020204" pitchFamily="34" charset="-78"/>
                  <a:ea typeface="+mj-ea"/>
                  <a:cs typeface="Shabnam Bold FD" panose="020B0603030804020204" pitchFamily="34" charset="-78"/>
                </a:defRPr>
              </a:lvl1pPr>
            </a:lstStyle>
            <a:p>
              <a:pPr marL="0" marR="0" lvl="0" indent="0" algn="ctr" defTabSz="1021516" rtl="1" eaLnBrk="1" fontAlgn="auto" latinLnBrk="0" hangingPunct="1">
                <a:lnSpc>
                  <a:spcPct val="90000"/>
                </a:lnSpc>
                <a:spcBef>
                  <a:spcPct val="0"/>
                </a:spcBef>
                <a:spcAft>
                  <a:spcPts val="300"/>
                </a:spcAft>
                <a:buClrTx/>
                <a:buSzTx/>
                <a:buFontTx/>
                <a:buNone/>
                <a:tabLst/>
                <a:defRPr/>
              </a:pPr>
              <a:r>
                <a:rPr kumimoji="0" lang="fa-IR" sz="3200" b="1" i="0" strike="noStrike" kern="1200" cap="none" spc="0" normalizeH="0" baseline="0" noProof="0" dirty="0">
                  <a:ln>
                    <a:noFill/>
                  </a:ln>
                  <a:solidFill>
                    <a:sysClr val="window" lastClr="FFFFFF">
                      <a:lumMod val="75000"/>
                      <a:lumOff val="25000"/>
                    </a:sysClr>
                  </a:solidFill>
                  <a:effectLst/>
                  <a:uLnTx/>
                  <a:uFillTx/>
                  <a:latin typeface="Yekan Bakh" pitchFamily="2" charset="-78"/>
                  <a:ea typeface="Yekan Bakh" pitchFamily="2" charset="-78"/>
                  <a:cs typeface="Yekan Bakh" pitchFamily="2" charset="-78"/>
                </a:rPr>
                <a:t>بررسی</a:t>
              </a:r>
              <a:endParaRPr kumimoji="0" lang="en-US" sz="3200" b="1" i="0" strike="noStrike" kern="1200" cap="none" spc="0" normalizeH="0" baseline="0" noProof="0" dirty="0">
                <a:ln>
                  <a:noFill/>
                </a:ln>
                <a:solidFill>
                  <a:sysClr val="window" lastClr="FFFFFF">
                    <a:lumMod val="75000"/>
                    <a:lumOff val="25000"/>
                  </a:sysClr>
                </a:solidFill>
                <a:effectLst/>
                <a:uLnTx/>
                <a:uFillTx/>
                <a:latin typeface="Yekan Bakh" pitchFamily="2" charset="-78"/>
                <a:ea typeface="Yekan Bakh" pitchFamily="2" charset="-78"/>
                <a:cs typeface="Yekan Bakh" pitchFamily="2" charset="-78"/>
              </a:endParaRPr>
            </a:p>
            <a:p>
              <a:pPr marL="0" marR="0" lvl="0" indent="0" algn="ctr" defTabSz="1021516" rtl="1" eaLnBrk="1" fontAlgn="auto" latinLnBrk="0" hangingPunct="1">
                <a:lnSpc>
                  <a:spcPct val="90000"/>
                </a:lnSpc>
                <a:spcBef>
                  <a:spcPct val="0"/>
                </a:spcBef>
                <a:spcAft>
                  <a:spcPts val="0"/>
                </a:spcAft>
                <a:buClrTx/>
                <a:buSzTx/>
                <a:buFontTx/>
                <a:buNone/>
                <a:tabLst/>
                <a:defRPr/>
              </a:pPr>
              <a:r>
                <a:rPr kumimoji="0" lang="fa-IR" sz="3200" b="1" i="0" strike="noStrike" kern="1200" cap="none" spc="0" normalizeH="0" baseline="0" noProof="0" dirty="0">
                  <a:ln>
                    <a:noFill/>
                  </a:ln>
                  <a:solidFill>
                    <a:sysClr val="window" lastClr="FFFFFF">
                      <a:lumMod val="75000"/>
                      <a:lumOff val="25000"/>
                    </a:sysClr>
                  </a:solidFill>
                  <a:effectLst/>
                  <a:uLnTx/>
                  <a:uFillTx/>
                  <a:latin typeface="Yekan Bakh" pitchFamily="2" charset="-78"/>
                  <a:ea typeface="Yekan Bakh" pitchFamily="2" charset="-78"/>
                  <a:cs typeface="Yekan Bakh" pitchFamily="2" charset="-78"/>
                </a:rPr>
                <a:t>پروژه‌های مشابه سیمرغ</a:t>
              </a:r>
            </a:p>
          </p:txBody>
        </p:sp>
        <p:cxnSp>
          <p:nvCxnSpPr>
            <p:cNvPr id="7" name="Straight Connector 6">
              <a:extLst>
                <a:ext uri="{FF2B5EF4-FFF2-40B4-BE49-F238E27FC236}">
                  <a16:creationId xmlns:a16="http://schemas.microsoft.com/office/drawing/2014/main" id="{EB31B48A-6F69-71CB-AD05-EB55574579C9}"/>
                </a:ext>
              </a:extLst>
            </p:cNvPr>
            <p:cNvCxnSpPr>
              <a:cxnSpLocks/>
            </p:cNvCxnSpPr>
            <p:nvPr/>
          </p:nvCxnSpPr>
          <p:spPr>
            <a:xfrm>
              <a:off x="525137" y="3624406"/>
              <a:ext cx="4582122" cy="0"/>
            </a:xfrm>
            <a:prstGeom prst="line">
              <a:avLst/>
            </a:prstGeom>
            <a:ln w="3175">
              <a:solidFill>
                <a:srgbClr val="F0BE0F">
                  <a:alpha val="74000"/>
                </a:srgbClr>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198B0511-B73B-97C9-5965-53D6FA5C5641}"/>
                </a:ext>
              </a:extLst>
            </p:cNvPr>
            <p:cNvSpPr txBox="1"/>
            <p:nvPr/>
          </p:nvSpPr>
          <p:spPr>
            <a:xfrm>
              <a:off x="593931" y="3654747"/>
              <a:ext cx="761426" cy="248914"/>
            </a:xfrm>
            <a:prstGeom prst="rect">
              <a:avLst/>
            </a:prstGeom>
            <a:noFill/>
          </p:spPr>
          <p:txBody>
            <a:bodyPr wrap="square" anchor="ctr">
              <a:spAutoFit/>
            </a:bodyPr>
            <a:lstStyle/>
            <a:p>
              <a:pPr marR="0" lvl="0" algn="ctr" defTabSz="914400" rtl="1" eaLnBrk="1" fontAlgn="auto" latinLnBrk="0" hangingPunct="1">
                <a:lnSpc>
                  <a:spcPct val="90000"/>
                </a:lnSpc>
                <a:spcBef>
                  <a:spcPts val="1117"/>
                </a:spcBef>
                <a:spcAft>
                  <a:spcPts val="0"/>
                </a:spcAft>
                <a:buClr>
                  <a:srgbClr val="F0BE0F"/>
                </a:buClr>
                <a:buSzTx/>
                <a:tabLst/>
                <a:defRPr/>
              </a:pPr>
              <a:r>
                <a:rPr kumimoji="0" lang="fa-IR" sz="1050" b="1" i="0" u="none" strike="noStrike" kern="1200" cap="none" spc="0" normalizeH="0" baseline="0" noProof="0" dirty="0">
                  <a:ln>
                    <a:noFill/>
                  </a:ln>
                  <a:solidFill>
                    <a:schemeClr val="bg1">
                      <a:lumMod val="50000"/>
                    </a:schemeClr>
                  </a:solidFill>
                  <a:effectLst/>
                  <a:uLnTx/>
                  <a:uFillTx/>
                  <a:latin typeface="Yekan Bakh" pitchFamily="2" charset="-78"/>
                  <a:ea typeface="Yekan Bakh" pitchFamily="2" charset="-78"/>
                  <a:cs typeface="Yekan Bakh" pitchFamily="2" charset="-78"/>
                </a:rPr>
                <a:t>اسلاید</a:t>
              </a:r>
              <a:endParaRPr kumimoji="0" lang="en-US" sz="1050" b="1" i="0" u="none" strike="noStrike" kern="1200" cap="none" spc="0" normalizeH="0" baseline="0" noProof="0" dirty="0">
                <a:ln>
                  <a:noFill/>
                </a:ln>
                <a:solidFill>
                  <a:schemeClr val="bg1">
                    <a:lumMod val="50000"/>
                  </a:schemeClr>
                </a:solidFill>
                <a:effectLst/>
                <a:uLnTx/>
                <a:uFillTx/>
                <a:latin typeface="Yekan Bakh" pitchFamily="2" charset="-78"/>
                <a:ea typeface="Yekan Bakh" pitchFamily="2" charset="-78"/>
                <a:cs typeface="Yekan Bakh" pitchFamily="2" charset="-78"/>
              </a:endParaRPr>
            </a:p>
          </p:txBody>
        </p:sp>
        <p:sp>
          <p:nvSpPr>
            <p:cNvPr id="13" name="TextBox 12">
              <a:extLst>
                <a:ext uri="{FF2B5EF4-FFF2-40B4-BE49-F238E27FC236}">
                  <a16:creationId xmlns:a16="http://schemas.microsoft.com/office/drawing/2014/main" id="{5D4A22A1-25A0-0B4C-C7A7-2291A0370F99}"/>
                </a:ext>
              </a:extLst>
            </p:cNvPr>
            <p:cNvSpPr txBox="1"/>
            <p:nvPr/>
          </p:nvSpPr>
          <p:spPr>
            <a:xfrm>
              <a:off x="1648542" y="3956730"/>
              <a:ext cx="3458717" cy="263149"/>
            </a:xfrm>
            <a:prstGeom prst="rect">
              <a:avLst/>
            </a:prstGeom>
            <a:noFill/>
          </p:spPr>
          <p:txBody>
            <a:bodyPr wrap="square" anchor="ctr">
              <a:spAutoFit/>
            </a:bodyPr>
            <a:lstStyle/>
            <a:p>
              <a:pPr marL="285750" marR="0" lvl="0" indent="-285750" algn="r" defTabSz="914400" rtl="1" eaLnBrk="1" fontAlgn="auto" latinLnBrk="0" hangingPunct="1">
                <a:lnSpc>
                  <a:spcPct val="90000"/>
                </a:lnSpc>
                <a:spcBef>
                  <a:spcPts val="1117"/>
                </a:spcBef>
                <a:spcAft>
                  <a:spcPts val="0"/>
                </a:spcAft>
                <a:buClr>
                  <a:srgbClr val="F0BE0F"/>
                </a:buClr>
                <a:buSzTx/>
                <a:buFont typeface="Arial" panose="020B0604020202020204" pitchFamily="34" charset="0"/>
                <a:buChar char="•"/>
                <a:tabLst/>
                <a:defRPr/>
              </a:pPr>
              <a:r>
                <a:rPr kumimoji="0" lang="fa-IR" sz="1200" i="0" u="none" strike="noStrike" kern="1200" cap="none" spc="0" normalizeH="0" baseline="0" noProof="0" dirty="0">
                  <a:ln>
                    <a:noFill/>
                  </a:ln>
                  <a:solidFill>
                    <a:schemeClr val="bg1">
                      <a:lumMod val="75000"/>
                    </a:schemeClr>
                  </a:solidFill>
                  <a:effectLst/>
                  <a:uLnTx/>
                  <a:uFillTx/>
                  <a:latin typeface="Yekan Bakh" pitchFamily="2" charset="-78"/>
                  <a:ea typeface="Yekan Bakh" pitchFamily="2" charset="-78"/>
                  <a:cs typeface="Yekan Bakh" pitchFamily="2" charset="-78"/>
                </a:rPr>
                <a:t>پروفایل </a:t>
              </a:r>
              <a:r>
                <a:rPr kumimoji="0" lang="en-US" sz="1200" i="0" u="none" strike="noStrike" kern="1200" cap="none" spc="0" normalizeH="0" baseline="0" noProof="0" dirty="0">
                  <a:ln>
                    <a:noFill/>
                  </a:ln>
                  <a:solidFill>
                    <a:schemeClr val="bg1">
                      <a:lumMod val="75000"/>
                    </a:schemeClr>
                  </a:solidFill>
                  <a:effectLst/>
                  <a:uLnTx/>
                  <a:uFillTx/>
                  <a:latin typeface="Yekan Bakh" pitchFamily="2" charset="-78"/>
                  <a:ea typeface="Yekan Bakh" pitchFamily="2" charset="-78"/>
                  <a:cs typeface="Yekan Bakh" pitchFamily="2" charset="-78"/>
                </a:rPr>
                <a:t>Enterprise Europe Network</a:t>
              </a:r>
            </a:p>
          </p:txBody>
        </p:sp>
        <p:sp>
          <p:nvSpPr>
            <p:cNvPr id="21" name="TextBox 20">
              <a:extLst>
                <a:ext uri="{FF2B5EF4-FFF2-40B4-BE49-F238E27FC236}">
                  <a16:creationId xmlns:a16="http://schemas.microsoft.com/office/drawing/2014/main" id="{7563DF38-EED2-3CCB-9B52-90FD26A9A68B}"/>
                </a:ext>
              </a:extLst>
            </p:cNvPr>
            <p:cNvSpPr txBox="1"/>
            <p:nvPr/>
          </p:nvSpPr>
          <p:spPr>
            <a:xfrm>
              <a:off x="525137" y="3942496"/>
              <a:ext cx="899015" cy="291618"/>
            </a:xfrm>
            <a:prstGeom prst="rect">
              <a:avLst/>
            </a:prstGeom>
            <a:noFill/>
          </p:spPr>
          <p:txBody>
            <a:bodyPr wrap="square" anchor="ctr">
              <a:spAutoFit/>
            </a:bodyPr>
            <a:lstStyle/>
            <a:p>
              <a:pPr marR="0" lvl="0" algn="ctr" defTabSz="914400" eaLnBrk="1" fontAlgn="auto" latinLnBrk="0" hangingPunct="1">
                <a:lnSpc>
                  <a:spcPct val="90000"/>
                </a:lnSpc>
                <a:spcBef>
                  <a:spcPts val="1117"/>
                </a:spcBef>
                <a:spcAft>
                  <a:spcPts val="0"/>
                </a:spcAft>
                <a:buClr>
                  <a:srgbClr val="F0BE0F"/>
                </a:buClr>
                <a:buSzTx/>
                <a:tabLst/>
                <a:defRPr/>
              </a:pPr>
              <a:r>
                <a:rPr lang="fa-IR" sz="1400" b="1" dirty="0">
                  <a:solidFill>
                    <a:schemeClr val="accent2">
                      <a:lumMod val="60000"/>
                      <a:lumOff val="40000"/>
                    </a:schemeClr>
                  </a:solidFill>
                  <a:latin typeface="Yekan Bakh FaNum SmBoldSmCond" pitchFamily="2" charset="-78"/>
                  <a:ea typeface="Yekan Bakh FaNum SmBoldSmCond" pitchFamily="2" charset="-78"/>
                  <a:cs typeface="Yekan Bakh FaNum SmBoldSmCond" pitchFamily="2" charset="-78"/>
                </a:rPr>
                <a:t>۱۰</a:t>
              </a:r>
              <a:endParaRPr kumimoji="0" lang="en-US" sz="1400" b="1" i="0" u="none" strike="noStrike" kern="1200" cap="none" spc="0" normalizeH="0" baseline="0" noProof="0" dirty="0">
                <a:ln>
                  <a:noFill/>
                </a:ln>
                <a:solidFill>
                  <a:schemeClr val="accent2">
                    <a:lumMod val="60000"/>
                    <a:lumOff val="40000"/>
                  </a:schemeClr>
                </a:solidFill>
                <a:effectLst/>
                <a:uLnTx/>
                <a:uFillTx/>
                <a:latin typeface="Yekan Bakh FaNum SmBoldSmCond" pitchFamily="2" charset="-78"/>
                <a:ea typeface="Yekan Bakh FaNum SmBoldSmCond" pitchFamily="2" charset="-78"/>
                <a:cs typeface="Yekan Bakh FaNum SmBoldSmCond" pitchFamily="2" charset="-78"/>
              </a:endParaRPr>
            </a:p>
          </p:txBody>
        </p:sp>
        <p:sp>
          <p:nvSpPr>
            <p:cNvPr id="27" name="TextBox 26">
              <a:extLst>
                <a:ext uri="{FF2B5EF4-FFF2-40B4-BE49-F238E27FC236}">
                  <a16:creationId xmlns:a16="http://schemas.microsoft.com/office/drawing/2014/main" id="{9E295DC3-226C-2D49-5BDB-518C4522B97B}"/>
                </a:ext>
              </a:extLst>
            </p:cNvPr>
            <p:cNvSpPr txBox="1"/>
            <p:nvPr/>
          </p:nvSpPr>
          <p:spPr>
            <a:xfrm>
              <a:off x="1648542" y="4292907"/>
              <a:ext cx="3458717" cy="263149"/>
            </a:xfrm>
            <a:prstGeom prst="rect">
              <a:avLst/>
            </a:prstGeom>
            <a:noFill/>
          </p:spPr>
          <p:txBody>
            <a:bodyPr wrap="square" anchor="ctr">
              <a:spAutoFit/>
            </a:bodyPr>
            <a:lstStyle/>
            <a:p>
              <a:pPr marL="285750" marR="0" lvl="0" indent="-285750" algn="r" defTabSz="914400" rtl="1" eaLnBrk="1" fontAlgn="auto" latinLnBrk="0" hangingPunct="1">
                <a:lnSpc>
                  <a:spcPct val="90000"/>
                </a:lnSpc>
                <a:spcBef>
                  <a:spcPts val="1117"/>
                </a:spcBef>
                <a:spcAft>
                  <a:spcPts val="0"/>
                </a:spcAft>
                <a:buClr>
                  <a:srgbClr val="F0BE0F"/>
                </a:buClr>
                <a:buSzTx/>
                <a:buFont typeface="Arial" panose="020B0604020202020204" pitchFamily="34" charset="0"/>
                <a:buChar char="•"/>
                <a:tabLst/>
                <a:defRPr/>
              </a:pPr>
              <a:r>
                <a:rPr kumimoji="0" lang="fa-IR" sz="1200" i="0" u="none" strike="noStrike" kern="1200" cap="none" spc="0" normalizeH="0" baseline="0" noProof="0" dirty="0">
                  <a:ln>
                    <a:noFill/>
                  </a:ln>
                  <a:solidFill>
                    <a:schemeClr val="bg1">
                      <a:lumMod val="75000"/>
                    </a:schemeClr>
                  </a:solidFill>
                  <a:effectLst/>
                  <a:uLnTx/>
                  <a:uFillTx/>
                  <a:latin typeface="Yekan Bakh" pitchFamily="2" charset="-78"/>
                  <a:ea typeface="Yekan Bakh" pitchFamily="2" charset="-78"/>
                  <a:cs typeface="Yekan Bakh" pitchFamily="2" charset="-78"/>
                </a:rPr>
                <a:t>مدل درآمدی</a:t>
              </a:r>
            </a:p>
          </p:txBody>
        </p:sp>
        <p:sp>
          <p:nvSpPr>
            <p:cNvPr id="29" name="TextBox 28">
              <a:extLst>
                <a:ext uri="{FF2B5EF4-FFF2-40B4-BE49-F238E27FC236}">
                  <a16:creationId xmlns:a16="http://schemas.microsoft.com/office/drawing/2014/main" id="{0F0C5845-6A5D-C07F-3E93-19A4B16ACC9A}"/>
                </a:ext>
              </a:extLst>
            </p:cNvPr>
            <p:cNvSpPr txBox="1"/>
            <p:nvPr/>
          </p:nvSpPr>
          <p:spPr>
            <a:xfrm>
              <a:off x="525137" y="4278673"/>
              <a:ext cx="899015" cy="291618"/>
            </a:xfrm>
            <a:prstGeom prst="rect">
              <a:avLst/>
            </a:prstGeom>
            <a:noFill/>
          </p:spPr>
          <p:txBody>
            <a:bodyPr wrap="square" anchor="ctr">
              <a:spAutoFit/>
            </a:bodyPr>
            <a:lstStyle/>
            <a:p>
              <a:pPr marR="0" lvl="0" algn="ctr" defTabSz="914400" eaLnBrk="1" fontAlgn="auto" latinLnBrk="0" hangingPunct="1">
                <a:lnSpc>
                  <a:spcPct val="90000"/>
                </a:lnSpc>
                <a:spcBef>
                  <a:spcPts val="1117"/>
                </a:spcBef>
                <a:spcAft>
                  <a:spcPts val="0"/>
                </a:spcAft>
                <a:buClr>
                  <a:srgbClr val="F0BE0F"/>
                </a:buClr>
                <a:buSzTx/>
                <a:tabLst/>
                <a:defRPr/>
              </a:pPr>
              <a:r>
                <a:rPr kumimoji="0" lang="fa-IR" sz="1400" b="1" i="0" u="none" strike="noStrike" kern="1200" cap="none" spc="0" normalizeH="0" baseline="0" noProof="0" dirty="0">
                  <a:ln>
                    <a:noFill/>
                  </a:ln>
                  <a:solidFill>
                    <a:schemeClr val="accent2">
                      <a:lumMod val="60000"/>
                      <a:lumOff val="40000"/>
                    </a:schemeClr>
                  </a:solidFill>
                  <a:effectLst/>
                  <a:uLnTx/>
                  <a:uFillTx/>
                  <a:latin typeface="Yekan Bakh FaNum SmBoldSmCond" pitchFamily="2" charset="-78"/>
                  <a:ea typeface="Yekan Bakh FaNum SmBoldSmCond" pitchFamily="2" charset="-78"/>
                  <a:cs typeface="Yekan Bakh FaNum SmBoldSmCond" pitchFamily="2" charset="-78"/>
                </a:rPr>
                <a:t>۱۱-۱۲</a:t>
              </a:r>
              <a:endParaRPr kumimoji="0" lang="en-US" sz="1400" b="1" i="0" u="none" strike="noStrike" kern="1200" cap="none" spc="0" normalizeH="0" baseline="0" noProof="0" dirty="0">
                <a:ln>
                  <a:noFill/>
                </a:ln>
                <a:solidFill>
                  <a:schemeClr val="accent2">
                    <a:lumMod val="60000"/>
                    <a:lumOff val="40000"/>
                  </a:schemeClr>
                </a:solidFill>
                <a:effectLst/>
                <a:uLnTx/>
                <a:uFillTx/>
                <a:latin typeface="Yekan Bakh FaNum SmBoldSmCond" pitchFamily="2" charset="-78"/>
                <a:ea typeface="Yekan Bakh FaNum SmBoldSmCond" pitchFamily="2" charset="-78"/>
                <a:cs typeface="Yekan Bakh FaNum SmBoldSmCond" pitchFamily="2" charset="-78"/>
              </a:endParaRPr>
            </a:p>
          </p:txBody>
        </p:sp>
        <p:sp>
          <p:nvSpPr>
            <p:cNvPr id="33" name="TextBox 32">
              <a:extLst>
                <a:ext uri="{FF2B5EF4-FFF2-40B4-BE49-F238E27FC236}">
                  <a16:creationId xmlns:a16="http://schemas.microsoft.com/office/drawing/2014/main" id="{77DC9104-DEC6-1429-2B3B-953CF7776E4C}"/>
                </a:ext>
              </a:extLst>
            </p:cNvPr>
            <p:cNvSpPr txBox="1"/>
            <p:nvPr/>
          </p:nvSpPr>
          <p:spPr>
            <a:xfrm>
              <a:off x="1648542" y="4629083"/>
              <a:ext cx="3458717" cy="263149"/>
            </a:xfrm>
            <a:prstGeom prst="rect">
              <a:avLst/>
            </a:prstGeom>
            <a:noFill/>
          </p:spPr>
          <p:txBody>
            <a:bodyPr wrap="square" anchor="ctr">
              <a:spAutoFit/>
            </a:bodyPr>
            <a:lstStyle/>
            <a:p>
              <a:pPr marL="285750" marR="0" lvl="0" indent="-285750" algn="r" defTabSz="914400" rtl="1" eaLnBrk="1" fontAlgn="auto" latinLnBrk="0" hangingPunct="1">
                <a:lnSpc>
                  <a:spcPct val="90000"/>
                </a:lnSpc>
                <a:spcBef>
                  <a:spcPts val="1117"/>
                </a:spcBef>
                <a:spcAft>
                  <a:spcPts val="0"/>
                </a:spcAft>
                <a:buClr>
                  <a:srgbClr val="F0BE0F"/>
                </a:buClr>
                <a:buSzTx/>
                <a:buFont typeface="Arial" panose="020B0604020202020204" pitchFamily="34" charset="0"/>
                <a:buChar char="•"/>
                <a:tabLst/>
                <a:defRPr/>
              </a:pPr>
              <a:r>
                <a:rPr kumimoji="0" lang="fa-IR" sz="1200" i="0" u="none" strike="noStrike" kern="1200" cap="none" spc="0" normalizeH="0" baseline="0" noProof="0" dirty="0">
                  <a:ln>
                    <a:noFill/>
                  </a:ln>
                  <a:solidFill>
                    <a:schemeClr val="bg1">
                      <a:lumMod val="75000"/>
                    </a:schemeClr>
                  </a:solidFill>
                  <a:effectLst/>
                  <a:uLnTx/>
                  <a:uFillTx/>
                  <a:latin typeface="Yekan Bakh" pitchFamily="2" charset="-78"/>
                  <a:ea typeface="Yekan Bakh" pitchFamily="2" charset="-78"/>
                  <a:cs typeface="Yekan Bakh" pitchFamily="2" charset="-78"/>
                </a:rPr>
                <a:t>ارزش پیشنهادی</a:t>
              </a:r>
            </a:p>
          </p:txBody>
        </p:sp>
        <p:sp>
          <p:nvSpPr>
            <p:cNvPr id="35" name="TextBox 34">
              <a:extLst>
                <a:ext uri="{FF2B5EF4-FFF2-40B4-BE49-F238E27FC236}">
                  <a16:creationId xmlns:a16="http://schemas.microsoft.com/office/drawing/2014/main" id="{E78016B8-71CD-8C74-9B1A-D3E61458F290}"/>
                </a:ext>
              </a:extLst>
            </p:cNvPr>
            <p:cNvSpPr txBox="1"/>
            <p:nvPr/>
          </p:nvSpPr>
          <p:spPr>
            <a:xfrm>
              <a:off x="525137" y="4614849"/>
              <a:ext cx="899015" cy="291618"/>
            </a:xfrm>
            <a:prstGeom prst="rect">
              <a:avLst/>
            </a:prstGeom>
            <a:noFill/>
          </p:spPr>
          <p:txBody>
            <a:bodyPr wrap="square" anchor="ctr">
              <a:spAutoFit/>
            </a:bodyPr>
            <a:lstStyle/>
            <a:p>
              <a:pPr marR="0" lvl="0" algn="ctr" defTabSz="914400" eaLnBrk="1" fontAlgn="auto" latinLnBrk="0" hangingPunct="1">
                <a:lnSpc>
                  <a:spcPct val="90000"/>
                </a:lnSpc>
                <a:spcBef>
                  <a:spcPts val="1117"/>
                </a:spcBef>
                <a:spcAft>
                  <a:spcPts val="0"/>
                </a:spcAft>
                <a:buClr>
                  <a:srgbClr val="F0BE0F"/>
                </a:buClr>
                <a:buSzTx/>
                <a:tabLst/>
                <a:defRPr/>
              </a:pPr>
              <a:r>
                <a:rPr lang="fa-IR" sz="1400" b="1" dirty="0">
                  <a:solidFill>
                    <a:schemeClr val="accent2">
                      <a:lumMod val="60000"/>
                      <a:lumOff val="40000"/>
                    </a:schemeClr>
                  </a:solidFill>
                  <a:latin typeface="Yekan Bakh FaNum SmBoldSmCond" pitchFamily="2" charset="-78"/>
                  <a:ea typeface="Yekan Bakh FaNum SmBoldSmCond" pitchFamily="2" charset="-78"/>
                  <a:cs typeface="Yekan Bakh FaNum SmBoldSmCond" pitchFamily="2" charset="-78"/>
                </a:rPr>
                <a:t>۱۳-۱۴</a:t>
              </a:r>
              <a:endParaRPr kumimoji="0" lang="en-US" sz="1400" b="1" i="0" u="none" strike="noStrike" kern="1200" cap="none" spc="0" normalizeH="0" baseline="0" noProof="0" dirty="0">
                <a:ln>
                  <a:noFill/>
                </a:ln>
                <a:solidFill>
                  <a:schemeClr val="accent2">
                    <a:lumMod val="60000"/>
                    <a:lumOff val="40000"/>
                  </a:schemeClr>
                </a:solidFill>
                <a:effectLst/>
                <a:uLnTx/>
                <a:uFillTx/>
                <a:latin typeface="Yekan Bakh FaNum SmBoldSmCond" pitchFamily="2" charset="-78"/>
                <a:ea typeface="Yekan Bakh FaNum SmBoldSmCond" pitchFamily="2" charset="-78"/>
                <a:cs typeface="Yekan Bakh FaNum SmBoldSmCond" pitchFamily="2" charset="-78"/>
              </a:endParaRPr>
            </a:p>
          </p:txBody>
        </p:sp>
      </p:grpSp>
    </p:spTree>
    <p:extLst>
      <p:ext uri="{BB962C8B-B14F-4D97-AF65-F5344CB8AC3E}">
        <p14:creationId xmlns:p14="http://schemas.microsoft.com/office/powerpoint/2010/main" val="26991812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9B73E71-552F-7758-A827-E58285E80F74}"/>
              </a:ext>
            </a:extLst>
          </p:cNvPr>
          <p:cNvSpPr>
            <a:spLocks noGrp="1"/>
          </p:cNvSpPr>
          <p:nvPr>
            <p:ph type="body" sz="quarter" idx="10"/>
          </p:nvPr>
        </p:nvSpPr>
        <p:spPr/>
        <p:txBody>
          <a:bodyPr/>
          <a:lstStyle/>
          <a:p>
            <a:r>
              <a:rPr lang="en-GB" dirty="0"/>
              <a:t>Enterprise Europe Network</a:t>
            </a:r>
          </a:p>
        </p:txBody>
      </p:sp>
      <p:sp>
        <p:nvSpPr>
          <p:cNvPr id="3" name="Text Placeholder 2">
            <a:extLst>
              <a:ext uri="{FF2B5EF4-FFF2-40B4-BE49-F238E27FC236}">
                <a16:creationId xmlns:a16="http://schemas.microsoft.com/office/drawing/2014/main" id="{B3736328-A318-D217-146E-08AC1EEF0126}"/>
              </a:ext>
            </a:extLst>
          </p:cNvPr>
          <p:cNvSpPr>
            <a:spLocks noGrp="1"/>
          </p:cNvSpPr>
          <p:nvPr>
            <p:ph type="body" sz="quarter" idx="12"/>
          </p:nvPr>
        </p:nvSpPr>
        <p:spPr/>
        <p:txBody>
          <a:bodyPr/>
          <a:lstStyle/>
          <a:p>
            <a:r>
              <a:rPr lang="en-GB" dirty="0"/>
              <a:t>EEN </a:t>
            </a:r>
            <a:r>
              <a:rPr lang="fa-IR" dirty="0"/>
              <a:t>با شبکه‌ای جهانی، بستری گسترده برای دسترسی به بازار، شریک، فناوری و منابع مالی فراهم می‌کند</a:t>
            </a:r>
          </a:p>
        </p:txBody>
      </p:sp>
      <p:sp>
        <p:nvSpPr>
          <p:cNvPr id="19" name="Rectangle: Rounded Corners 18">
            <a:extLst>
              <a:ext uri="{FF2B5EF4-FFF2-40B4-BE49-F238E27FC236}">
                <a16:creationId xmlns:a16="http://schemas.microsoft.com/office/drawing/2014/main" id="{4CF288B9-EAD3-D8F9-15A2-F7AF15B0A3ED}"/>
              </a:ext>
            </a:extLst>
          </p:cNvPr>
          <p:cNvSpPr/>
          <p:nvPr/>
        </p:nvSpPr>
        <p:spPr>
          <a:xfrm>
            <a:off x="1303024" y="3113115"/>
            <a:ext cx="8975617" cy="598106"/>
          </a:xfrm>
          <a:prstGeom prst="roundRect">
            <a:avLst/>
          </a:prstGeom>
          <a:solidFill>
            <a:schemeClr val="bg1">
              <a:lumMod val="95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50000"/>
              </a:lnSpc>
              <a:spcBef>
                <a:spcPts val="0"/>
              </a:spcBef>
              <a:spcAft>
                <a:spcPts val="0"/>
              </a:spcAft>
              <a:buClrTx/>
              <a:buSzTx/>
              <a:buFontTx/>
              <a:buNone/>
              <a:tabLst/>
              <a:defRPr/>
            </a:pPr>
            <a:r>
              <a:rPr kumimoji="0" lang="fa-IR" sz="105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 مزیت اصلی </a:t>
            </a:r>
            <a:r>
              <a:rPr kumimoji="0" lang="en-US" sz="105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EEN</a:t>
            </a:r>
            <a:r>
              <a:rPr kumimoji="0" lang="fa-IR" sz="105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 در پیدا کردن شریک، متخصص، بازار، فناوری، سرمایه و نهاد مناسب است.</a:t>
            </a:r>
          </a:p>
          <a:p>
            <a:pPr marL="0" marR="0" lvl="0" indent="0" algn="ctr" defTabSz="457200" rtl="1" eaLnBrk="1" fontAlgn="auto" latinLnBrk="0" hangingPunct="1">
              <a:lnSpc>
                <a:spcPct val="150000"/>
              </a:lnSpc>
              <a:spcBef>
                <a:spcPts val="0"/>
              </a:spcBef>
              <a:spcAft>
                <a:spcPts val="0"/>
              </a:spcAft>
              <a:buClrTx/>
              <a:buSzTx/>
              <a:buFontTx/>
              <a:buNone/>
              <a:tabLst/>
              <a:defRPr/>
            </a:pPr>
            <a:r>
              <a:rPr kumimoji="0" lang="fa-IR" sz="1050" b="1" i="0" u="none" strike="noStrike" kern="1200" cap="none" spc="0" normalizeH="0" baseline="0" noProof="0" dirty="0">
                <a:ln>
                  <a:noFill/>
                </a:ln>
                <a:solidFill>
                  <a:srgbClr val="003399"/>
                </a:solidFill>
                <a:effectLst/>
                <a:uLnTx/>
                <a:uFillTx/>
                <a:latin typeface="Yekan Bakh" pitchFamily="2" charset="-78"/>
                <a:ea typeface="Yekan Bakh" pitchFamily="2" charset="-78"/>
                <a:cs typeface="Yekan Bakh" pitchFamily="2" charset="-78"/>
              </a:rPr>
              <a:t>- اما اجرای معامله، فروش، مذاکره تجاری و </a:t>
            </a:r>
            <a:r>
              <a:rPr kumimoji="0" lang="fa-IR" sz="1050" b="1" i="0" u="none" strike="noStrike" kern="1200" cap="none" spc="0" normalizeH="0" baseline="0" noProof="0" dirty="0" err="1">
                <a:ln>
                  <a:noFill/>
                </a:ln>
                <a:solidFill>
                  <a:srgbClr val="003399"/>
                </a:solidFill>
                <a:effectLst/>
                <a:uLnTx/>
                <a:uFillTx/>
                <a:latin typeface="Yekan Bakh" pitchFamily="2" charset="-78"/>
                <a:ea typeface="Yekan Bakh" pitchFamily="2" charset="-78"/>
                <a:cs typeface="Yekan Bakh" pitchFamily="2" charset="-78"/>
              </a:rPr>
              <a:t>عملیاتی‌کردن</a:t>
            </a:r>
            <a:r>
              <a:rPr kumimoji="0" lang="fa-IR" sz="1050" b="1" i="0" u="none" strike="noStrike" kern="1200" cap="none" spc="0" normalizeH="0" baseline="0" noProof="0" dirty="0">
                <a:ln>
                  <a:noFill/>
                </a:ln>
                <a:solidFill>
                  <a:srgbClr val="003399"/>
                </a:solidFill>
                <a:effectLst/>
                <a:uLnTx/>
                <a:uFillTx/>
                <a:latin typeface="Yekan Bakh" pitchFamily="2" charset="-78"/>
                <a:ea typeface="Yekan Bakh" pitchFamily="2" charset="-78"/>
                <a:cs typeface="Yekan Bakh" pitchFamily="2" charset="-78"/>
              </a:rPr>
              <a:t> همکاری عمدتاً بر عهده </a:t>
            </a:r>
            <a:r>
              <a:rPr kumimoji="0" lang="fa-IR" sz="1050" b="1" i="0" u="none" strike="noStrike" kern="1200" cap="none" spc="0" normalizeH="0" baseline="0" noProof="0" dirty="0" err="1">
                <a:ln>
                  <a:noFill/>
                </a:ln>
                <a:solidFill>
                  <a:srgbClr val="003399"/>
                </a:solidFill>
                <a:effectLst/>
                <a:uLnTx/>
                <a:uFillTx/>
                <a:latin typeface="Yekan Bakh" pitchFamily="2" charset="-78"/>
                <a:ea typeface="Yekan Bakh" pitchFamily="2" charset="-78"/>
                <a:cs typeface="Yekan Bakh" pitchFamily="2" charset="-78"/>
              </a:rPr>
              <a:t>شرکت‌هاست</a:t>
            </a:r>
            <a:r>
              <a:rPr kumimoji="0" lang="fa-IR" sz="1050" b="1" i="0" u="none" strike="noStrike" kern="1200" cap="none" spc="0" normalizeH="0" baseline="0" noProof="0" dirty="0">
                <a:ln>
                  <a:noFill/>
                </a:ln>
                <a:solidFill>
                  <a:srgbClr val="003399"/>
                </a:solidFill>
                <a:effectLst/>
                <a:uLnTx/>
                <a:uFillTx/>
                <a:latin typeface="Yekan Bakh" pitchFamily="2" charset="-78"/>
                <a:ea typeface="Yekan Bakh" pitchFamily="2" charset="-78"/>
                <a:cs typeface="Yekan Bakh" pitchFamily="2" charset="-78"/>
              </a:rPr>
              <a:t>.</a:t>
            </a:r>
            <a:endParaRPr kumimoji="0" lang="en-US" sz="1050" b="1" i="0" u="none" strike="noStrike" kern="1200" cap="none" spc="0" normalizeH="0" baseline="0" noProof="0" dirty="0">
              <a:ln>
                <a:noFill/>
              </a:ln>
              <a:solidFill>
                <a:srgbClr val="003399"/>
              </a:solidFill>
              <a:effectLst/>
              <a:uLnTx/>
              <a:uFillTx/>
              <a:latin typeface="Yekan Bakh" pitchFamily="2" charset="-78"/>
              <a:ea typeface="Yekan Bakh" pitchFamily="2" charset="-78"/>
              <a:cs typeface="Yekan Bakh" pitchFamily="2" charset="-78"/>
            </a:endParaRPr>
          </a:p>
        </p:txBody>
      </p:sp>
      <p:sp>
        <p:nvSpPr>
          <p:cNvPr id="32" name="Rectangle: Rounded Corners 31">
            <a:extLst>
              <a:ext uri="{FF2B5EF4-FFF2-40B4-BE49-F238E27FC236}">
                <a16:creationId xmlns:a16="http://schemas.microsoft.com/office/drawing/2014/main" id="{D91BB4FA-D989-B950-D6FB-9C53AB09ABE7}"/>
              </a:ext>
            </a:extLst>
          </p:cNvPr>
          <p:cNvSpPr/>
          <p:nvPr/>
        </p:nvSpPr>
        <p:spPr>
          <a:xfrm>
            <a:off x="3698156" y="1441676"/>
            <a:ext cx="1793360" cy="1297830"/>
          </a:xfrm>
          <a:prstGeom prst="roundRect">
            <a:avLst/>
          </a:prstGeom>
          <a:no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2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دسترسی به شرکت‌ها</a:t>
            </a:r>
          </a:p>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fa-IR" sz="4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2000" b="1" i="0" u="none" strike="noStrike" kern="1200" cap="none" spc="0" normalizeH="0" baseline="0" noProof="0" dirty="0">
                <a:ln>
                  <a:noFill/>
                </a:ln>
                <a:solidFill>
                  <a:srgbClr val="003399"/>
                </a:solidFill>
                <a:effectLst/>
                <a:uLnTx/>
                <a:uFillTx/>
                <a:latin typeface="Yekan Bakh" pitchFamily="2" charset="-78"/>
                <a:ea typeface="Yekan Bakh" pitchFamily="2" charset="-78"/>
                <a:cs typeface="Yekan Bakh" pitchFamily="2" charset="-78"/>
              </a:rPr>
              <a:t>۲۶۰/۰۰۰</a:t>
            </a:r>
            <a:r>
              <a:rPr kumimoji="0" lang="fa-IR" b="1" i="0" u="none" strike="noStrike" kern="1200" cap="none" spc="0" normalizeH="0" baseline="0" noProof="0" dirty="0">
                <a:ln>
                  <a:noFill/>
                </a:ln>
                <a:solidFill>
                  <a:schemeClr val="tx2">
                    <a:lumMod val="75000"/>
                  </a:schemeClr>
                </a:solidFill>
                <a:effectLst/>
                <a:uLnTx/>
                <a:uFillTx/>
                <a:latin typeface="Yekan Bakh" pitchFamily="2" charset="-78"/>
                <a:ea typeface="Yekan Bakh" pitchFamily="2" charset="-78"/>
                <a:cs typeface="Yekan Bakh" pitchFamily="2" charset="-78"/>
              </a:rPr>
              <a:t> </a:t>
            </a:r>
          </a:p>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شرکت در سال</a:t>
            </a:r>
          </a:p>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(عموما </a:t>
            </a:r>
            <a:r>
              <a:rPr kumimoji="0" lang="en-US" sz="105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SME</a:t>
            </a:r>
            <a:r>
              <a:rPr kumimoji="0" lang="fa-IR" sz="105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 و </a:t>
            </a:r>
            <a:r>
              <a:rPr kumimoji="0" lang="fa-IR" sz="1050" b="0" i="0" u="none" strike="noStrike" kern="1200" cap="none" spc="0" normalizeH="0" baseline="0" noProof="0" dirty="0" err="1">
                <a:ln>
                  <a:noFill/>
                </a:ln>
                <a:solidFill>
                  <a:prstClr val="black">
                    <a:lumMod val="75000"/>
                    <a:lumOff val="25000"/>
                  </a:prstClr>
                </a:solidFill>
                <a:effectLst/>
                <a:uLnTx/>
                <a:uFillTx/>
                <a:latin typeface="Yekan Bakh" pitchFamily="2" charset="-78"/>
                <a:ea typeface="Yekan Bakh" pitchFamily="2" charset="-78"/>
                <a:cs typeface="Yekan Bakh" pitchFamily="2" charset="-78"/>
              </a:rPr>
              <a:t>استارتاپ</a:t>
            </a:r>
            <a:r>
              <a:rPr kumimoji="0" lang="fa-IR" sz="105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a:t>
            </a:r>
            <a:endParaRPr kumimoji="0" lang="en-US" sz="12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28" name="Rectangle: Rounded Corners 27">
            <a:extLst>
              <a:ext uri="{FF2B5EF4-FFF2-40B4-BE49-F238E27FC236}">
                <a16:creationId xmlns:a16="http://schemas.microsoft.com/office/drawing/2014/main" id="{3B79F4B8-97D0-686F-DCE1-BEB241EDFE05}"/>
              </a:ext>
            </a:extLst>
          </p:cNvPr>
          <p:cNvSpPr/>
          <p:nvPr/>
        </p:nvSpPr>
        <p:spPr>
          <a:xfrm>
            <a:off x="1303024" y="1441676"/>
            <a:ext cx="1793360" cy="1297830"/>
          </a:xfrm>
          <a:prstGeom prst="roundRect">
            <a:avLst/>
          </a:prstGeom>
          <a:no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2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فرصت‌های همکاری</a:t>
            </a:r>
          </a:p>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fa-IR" sz="4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2000" b="1" i="0" u="none" strike="noStrike" kern="1200" cap="none" spc="0" normalizeH="0" baseline="0" noProof="0" dirty="0">
                <a:ln>
                  <a:noFill/>
                </a:ln>
                <a:solidFill>
                  <a:srgbClr val="003399"/>
                </a:solidFill>
                <a:effectLst/>
                <a:uLnTx/>
                <a:uFillTx/>
                <a:latin typeface="Yekan Bakh" pitchFamily="2" charset="-78"/>
                <a:ea typeface="Yekan Bakh" pitchFamily="2" charset="-78"/>
                <a:cs typeface="Yekan Bakh" pitchFamily="2" charset="-78"/>
              </a:rPr>
              <a:t>۵/۷۰۰</a:t>
            </a:r>
            <a:endParaRPr kumimoji="0" lang="fa-IR" b="1" i="0" u="none" strike="noStrike" kern="1200" cap="none" spc="0" normalizeH="0" baseline="0" noProof="0" dirty="0">
              <a:ln>
                <a:noFill/>
              </a:ln>
              <a:solidFill>
                <a:srgbClr val="003399"/>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2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فرصت فعال</a:t>
            </a:r>
            <a:endParaRPr kumimoji="0" lang="en-US" sz="1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30" name="Rectangle: Rounded Corners 29">
            <a:extLst>
              <a:ext uri="{FF2B5EF4-FFF2-40B4-BE49-F238E27FC236}">
                <a16:creationId xmlns:a16="http://schemas.microsoft.com/office/drawing/2014/main" id="{536DB402-AA71-C6FE-6581-5D577441E2C7}"/>
              </a:ext>
            </a:extLst>
          </p:cNvPr>
          <p:cNvSpPr/>
          <p:nvPr/>
        </p:nvSpPr>
        <p:spPr>
          <a:xfrm>
            <a:off x="6090151" y="1441676"/>
            <a:ext cx="1793360" cy="1297830"/>
          </a:xfrm>
          <a:prstGeom prst="roundRect">
            <a:avLst/>
          </a:prstGeom>
          <a:no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2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شبکه متخصصان</a:t>
            </a:r>
          </a:p>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fa-IR" sz="4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2000" b="1" i="0" u="none" strike="noStrike" kern="1200" cap="none" spc="0" normalizeH="0" baseline="0" noProof="0" dirty="0">
                <a:ln>
                  <a:noFill/>
                </a:ln>
                <a:solidFill>
                  <a:srgbClr val="003399"/>
                </a:solidFill>
                <a:effectLst/>
                <a:uLnTx/>
                <a:uFillTx/>
                <a:latin typeface="Yekan Bakh" pitchFamily="2" charset="-78"/>
                <a:ea typeface="Yekan Bakh" pitchFamily="2" charset="-78"/>
                <a:cs typeface="Yekan Bakh" pitchFamily="2" charset="-78"/>
              </a:rPr>
              <a:t>۳۰۰۰+</a:t>
            </a:r>
            <a:r>
              <a:rPr kumimoji="0" lang="fa-IR" b="1" i="0" u="none" strike="noStrike" kern="1200" cap="none" spc="0" normalizeH="0" baseline="0" noProof="0" dirty="0">
                <a:ln>
                  <a:noFill/>
                </a:ln>
                <a:solidFill>
                  <a:srgbClr val="003399"/>
                </a:solidFill>
                <a:effectLst/>
                <a:uLnTx/>
                <a:uFillTx/>
                <a:latin typeface="Yekan Bakh" pitchFamily="2" charset="-78"/>
                <a:ea typeface="Yekan Bakh" pitchFamily="2" charset="-78"/>
                <a:cs typeface="Yekan Bakh" pitchFamily="2" charset="-78"/>
              </a:rPr>
              <a:t> </a:t>
            </a:r>
          </a:p>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2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متخصص</a:t>
            </a:r>
            <a:endParaRPr kumimoji="0" lang="en-US" sz="1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5" name="Rectangle: Rounded Corners 4">
            <a:extLst>
              <a:ext uri="{FF2B5EF4-FFF2-40B4-BE49-F238E27FC236}">
                <a16:creationId xmlns:a16="http://schemas.microsoft.com/office/drawing/2014/main" id="{ECCD0DBC-EE90-3C53-825A-FF39EDC6FC47}"/>
              </a:ext>
            </a:extLst>
          </p:cNvPr>
          <p:cNvSpPr/>
          <p:nvPr/>
        </p:nvSpPr>
        <p:spPr>
          <a:xfrm>
            <a:off x="8485281" y="1441676"/>
            <a:ext cx="1793360" cy="1297830"/>
          </a:xfrm>
          <a:prstGeom prst="roundRect">
            <a:avLst/>
          </a:prstGeom>
          <a:no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2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شبکه بین‌المللی</a:t>
            </a:r>
          </a:p>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fa-IR" sz="4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2000" b="1" i="0" u="none" strike="noStrike" kern="1200" cap="none" spc="0" normalizeH="0" baseline="0" noProof="0" dirty="0">
                <a:ln>
                  <a:noFill/>
                </a:ln>
                <a:solidFill>
                  <a:srgbClr val="003399"/>
                </a:solidFill>
                <a:effectLst/>
                <a:uLnTx/>
                <a:uFillTx/>
                <a:latin typeface="Yekan Bakh" pitchFamily="2" charset="-78"/>
                <a:ea typeface="Yekan Bakh" pitchFamily="2" charset="-78"/>
                <a:cs typeface="Yekan Bakh" pitchFamily="2" charset="-78"/>
              </a:rPr>
              <a:t>۵۶۹</a:t>
            </a:r>
            <a:r>
              <a:rPr kumimoji="0" lang="fa-IR" b="1" i="0" u="none" strike="noStrike" kern="1200" cap="none" spc="0" normalizeH="0" baseline="0" noProof="0" dirty="0">
                <a:ln>
                  <a:noFill/>
                </a:ln>
                <a:solidFill>
                  <a:srgbClr val="7030A0"/>
                </a:solidFill>
                <a:effectLst/>
                <a:uLnTx/>
                <a:uFillTx/>
                <a:latin typeface="Yekan Bakh" pitchFamily="2" charset="-78"/>
                <a:ea typeface="Yekan Bakh" pitchFamily="2" charset="-78"/>
                <a:cs typeface="Yekan Bakh" pitchFamily="2" charset="-78"/>
              </a:rPr>
              <a:t> </a:t>
            </a:r>
            <a:r>
              <a:rPr kumimoji="0" lang="fa-IR" sz="11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سازمان در </a:t>
            </a:r>
            <a:r>
              <a:rPr kumimoji="0" lang="fa-IR" sz="2000" b="1" i="0" u="none" strike="noStrike" kern="1200" cap="none" spc="0" normalizeH="0" baseline="0" noProof="0" dirty="0">
                <a:ln>
                  <a:noFill/>
                </a:ln>
                <a:solidFill>
                  <a:srgbClr val="003399"/>
                </a:solidFill>
                <a:effectLst/>
                <a:uLnTx/>
                <a:uFillTx/>
                <a:latin typeface="Yekan Bakh" pitchFamily="2" charset="-78"/>
                <a:ea typeface="Yekan Bakh" pitchFamily="2" charset="-78"/>
                <a:cs typeface="Yekan Bakh" pitchFamily="2" charset="-78"/>
              </a:rPr>
              <a:t>۵۶</a:t>
            </a:r>
            <a:r>
              <a:rPr kumimoji="0" lang="fa-IR" b="1" i="0" u="none" strike="noStrike" kern="1200" cap="none" spc="0" normalizeH="0" baseline="0" noProof="0" dirty="0">
                <a:ln>
                  <a:noFill/>
                </a:ln>
                <a:solidFill>
                  <a:srgbClr val="7030A0"/>
                </a:solidFill>
                <a:effectLst/>
                <a:uLnTx/>
                <a:uFillTx/>
                <a:latin typeface="Yekan Bakh" pitchFamily="2" charset="-78"/>
                <a:ea typeface="Yekan Bakh" pitchFamily="2" charset="-78"/>
                <a:cs typeface="Yekan Bakh" pitchFamily="2" charset="-78"/>
              </a:rPr>
              <a:t> </a:t>
            </a:r>
            <a:r>
              <a:rPr kumimoji="0" lang="fa-IR" sz="11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کشور</a:t>
            </a:r>
            <a:endParaRPr kumimoji="0" lang="en-US" sz="1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grpSp>
        <p:nvGrpSpPr>
          <p:cNvPr id="14" name="Group 13">
            <a:extLst>
              <a:ext uri="{FF2B5EF4-FFF2-40B4-BE49-F238E27FC236}">
                <a16:creationId xmlns:a16="http://schemas.microsoft.com/office/drawing/2014/main" id="{38B22490-7D67-0300-1891-F925C270C00C}"/>
              </a:ext>
            </a:extLst>
          </p:cNvPr>
          <p:cNvGrpSpPr/>
          <p:nvPr/>
        </p:nvGrpSpPr>
        <p:grpSpPr>
          <a:xfrm>
            <a:off x="2893722" y="1808583"/>
            <a:ext cx="7672998" cy="564016"/>
            <a:chOff x="2782667" y="1751027"/>
            <a:chExt cx="7672998" cy="564016"/>
          </a:xfrm>
        </p:grpSpPr>
        <p:sp>
          <p:nvSpPr>
            <p:cNvPr id="67" name="Rectangle 66">
              <a:extLst>
                <a:ext uri="{FF2B5EF4-FFF2-40B4-BE49-F238E27FC236}">
                  <a16:creationId xmlns:a16="http://schemas.microsoft.com/office/drawing/2014/main" id="{D1E695D1-3D85-DE3B-8EFA-07AFE83A5CF8}"/>
                </a:ext>
              </a:extLst>
            </p:cNvPr>
            <p:cNvSpPr/>
            <p:nvPr/>
          </p:nvSpPr>
          <p:spPr>
            <a:xfrm>
              <a:off x="5225488" y="1826509"/>
              <a:ext cx="465329" cy="38490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Yekan Bakh" pitchFamily="2" charset="-78"/>
                <a:ea typeface="Yekan Bakh" pitchFamily="2" charset="-78"/>
                <a:cs typeface="Yekan Bakh" pitchFamily="2" charset="-78"/>
              </a:endParaRPr>
            </a:p>
          </p:txBody>
        </p:sp>
        <p:pic>
          <p:nvPicPr>
            <p:cNvPr id="51" name="Graphic 50" descr="City with solid fill">
              <a:extLst>
                <a:ext uri="{FF2B5EF4-FFF2-40B4-BE49-F238E27FC236}">
                  <a16:creationId xmlns:a16="http://schemas.microsoft.com/office/drawing/2014/main" id="{9F6DB439-AE9C-AE8B-79CF-99730E83C47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174662" y="1751027"/>
              <a:ext cx="516155" cy="516155"/>
            </a:xfrm>
            <a:prstGeom prst="rect">
              <a:avLst/>
            </a:prstGeom>
          </p:spPr>
        </p:pic>
        <p:sp>
          <p:nvSpPr>
            <p:cNvPr id="74" name="Rectangle 73">
              <a:extLst>
                <a:ext uri="{FF2B5EF4-FFF2-40B4-BE49-F238E27FC236}">
                  <a16:creationId xmlns:a16="http://schemas.microsoft.com/office/drawing/2014/main" id="{5A02B20D-0D76-D41F-2461-6994BEE91DB9}"/>
                </a:ext>
              </a:extLst>
            </p:cNvPr>
            <p:cNvSpPr/>
            <p:nvPr/>
          </p:nvSpPr>
          <p:spPr>
            <a:xfrm>
              <a:off x="2795635" y="1826818"/>
              <a:ext cx="465329" cy="38490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Yekan Bakh" pitchFamily="2" charset="-78"/>
                <a:ea typeface="Yekan Bakh" pitchFamily="2" charset="-78"/>
                <a:cs typeface="Yekan Bakh" pitchFamily="2" charset="-78"/>
              </a:endParaRPr>
            </a:p>
          </p:txBody>
        </p:sp>
        <p:pic>
          <p:nvPicPr>
            <p:cNvPr id="47" name="Graphic 46" descr="Social network with solid fill">
              <a:extLst>
                <a:ext uri="{FF2B5EF4-FFF2-40B4-BE49-F238E27FC236}">
                  <a16:creationId xmlns:a16="http://schemas.microsoft.com/office/drawing/2014/main" id="{60D07615-FD6D-4DCF-17E0-E215152FD0D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82667" y="1798888"/>
              <a:ext cx="516155" cy="516155"/>
            </a:xfrm>
            <a:prstGeom prst="rect">
              <a:avLst/>
            </a:prstGeom>
          </p:spPr>
        </p:pic>
        <p:sp>
          <p:nvSpPr>
            <p:cNvPr id="70" name="Rectangle 69">
              <a:extLst>
                <a:ext uri="{FF2B5EF4-FFF2-40B4-BE49-F238E27FC236}">
                  <a16:creationId xmlns:a16="http://schemas.microsoft.com/office/drawing/2014/main" id="{3CA30E6C-0DBF-FAD2-921A-3F41D700B032}"/>
                </a:ext>
              </a:extLst>
            </p:cNvPr>
            <p:cNvSpPr/>
            <p:nvPr/>
          </p:nvSpPr>
          <p:spPr>
            <a:xfrm>
              <a:off x="7595207" y="1833651"/>
              <a:ext cx="465329" cy="38490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Yekan Bakh" pitchFamily="2" charset="-78"/>
                <a:ea typeface="Yekan Bakh" pitchFamily="2" charset="-78"/>
                <a:cs typeface="Yekan Bakh" pitchFamily="2" charset="-78"/>
              </a:endParaRPr>
            </a:p>
          </p:txBody>
        </p:sp>
        <p:pic>
          <p:nvPicPr>
            <p:cNvPr id="57" name="Graphic 56" descr="Briefcase with solid fill">
              <a:extLst>
                <a:ext uri="{FF2B5EF4-FFF2-40B4-BE49-F238E27FC236}">
                  <a16:creationId xmlns:a16="http://schemas.microsoft.com/office/drawing/2014/main" id="{81BD0E9F-7857-D12E-71B5-CA9E5593CB6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569793" y="1785152"/>
              <a:ext cx="516155" cy="516155"/>
            </a:xfrm>
            <a:prstGeom prst="rect">
              <a:avLst/>
            </a:prstGeom>
          </p:spPr>
        </p:pic>
        <p:sp>
          <p:nvSpPr>
            <p:cNvPr id="72" name="Rectangle 71">
              <a:extLst>
                <a:ext uri="{FF2B5EF4-FFF2-40B4-BE49-F238E27FC236}">
                  <a16:creationId xmlns:a16="http://schemas.microsoft.com/office/drawing/2014/main" id="{37966FE3-EB15-655C-591C-6362C2BDFE47}"/>
                </a:ext>
              </a:extLst>
            </p:cNvPr>
            <p:cNvSpPr/>
            <p:nvPr/>
          </p:nvSpPr>
          <p:spPr>
            <a:xfrm>
              <a:off x="9990336" y="1846270"/>
              <a:ext cx="465329" cy="38490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pic>
          <p:nvPicPr>
            <p:cNvPr id="61" name="Graphic 60" descr="Earth globe: Americas with solid fill">
              <a:extLst>
                <a:ext uri="{FF2B5EF4-FFF2-40B4-BE49-F238E27FC236}">
                  <a16:creationId xmlns:a16="http://schemas.microsoft.com/office/drawing/2014/main" id="{61F3B896-A51A-B704-C35C-695C3C9AA9B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939510" y="1798570"/>
              <a:ext cx="516155" cy="516155"/>
            </a:xfrm>
            <a:prstGeom prst="rect">
              <a:avLst/>
            </a:prstGeom>
          </p:spPr>
        </p:pic>
      </p:grpSp>
      <p:sp>
        <p:nvSpPr>
          <p:cNvPr id="36" name="Rectangle: Rounded Corners 35">
            <a:extLst>
              <a:ext uri="{FF2B5EF4-FFF2-40B4-BE49-F238E27FC236}">
                <a16:creationId xmlns:a16="http://schemas.microsoft.com/office/drawing/2014/main" id="{27D522FA-B2ED-7571-7381-1C932BAF746C}"/>
              </a:ext>
            </a:extLst>
          </p:cNvPr>
          <p:cNvSpPr/>
          <p:nvPr/>
        </p:nvSpPr>
        <p:spPr>
          <a:xfrm>
            <a:off x="4938714" y="4318048"/>
            <a:ext cx="1630327" cy="623976"/>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200" b="1" i="0" u="none" strike="noStrike" kern="1200" cap="none" spc="0" normalizeH="0" baseline="0" noProof="0" dirty="0">
                <a:ln>
                  <a:noFill/>
                </a:ln>
                <a:solidFill>
                  <a:srgbClr val="003399"/>
                </a:solidFill>
                <a:effectLst/>
                <a:uLnTx/>
                <a:uFillTx/>
                <a:latin typeface="Yekan Bakh" pitchFamily="2" charset="-78"/>
                <a:ea typeface="Yekan Bakh" pitchFamily="2" charset="-78"/>
                <a:cs typeface="Yekan Bakh" pitchFamily="2" charset="-78"/>
              </a:rPr>
              <a:t>اطلاعات و رصد مقررات </a:t>
            </a:r>
            <a:endParaRPr kumimoji="0" lang="en-US" sz="1050" b="1" i="0" u="none" strike="noStrike" kern="1200" cap="none" spc="0" normalizeH="0" baseline="0" noProof="0" dirty="0">
              <a:ln>
                <a:noFill/>
              </a:ln>
              <a:solidFill>
                <a:srgbClr val="003399"/>
              </a:solidFill>
              <a:effectLst/>
              <a:uLnTx/>
              <a:uFillTx/>
              <a:latin typeface="Yekan Bakh" pitchFamily="2" charset="-78"/>
              <a:ea typeface="Yekan Bakh" pitchFamily="2" charset="-78"/>
              <a:cs typeface="Yekan Bakh" pitchFamily="2" charset="-78"/>
            </a:endParaRPr>
          </a:p>
        </p:txBody>
      </p:sp>
      <p:cxnSp>
        <p:nvCxnSpPr>
          <p:cNvPr id="63" name="Straight Connector 62">
            <a:extLst>
              <a:ext uri="{FF2B5EF4-FFF2-40B4-BE49-F238E27FC236}">
                <a16:creationId xmlns:a16="http://schemas.microsoft.com/office/drawing/2014/main" id="{D328D180-3C7D-076E-4E1A-2C7896AC9FA1}"/>
              </a:ext>
            </a:extLst>
          </p:cNvPr>
          <p:cNvCxnSpPr>
            <a:cxnSpLocks/>
          </p:cNvCxnSpPr>
          <p:nvPr/>
        </p:nvCxnSpPr>
        <p:spPr>
          <a:xfrm>
            <a:off x="5064668" y="4840445"/>
            <a:ext cx="1378419" cy="0"/>
          </a:xfrm>
          <a:prstGeom prst="line">
            <a:avLst/>
          </a:prstGeom>
          <a:ln w="635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
        <p:nvSpPr>
          <p:cNvPr id="85" name="Rectangle: Rounded Corners 84">
            <a:extLst>
              <a:ext uri="{FF2B5EF4-FFF2-40B4-BE49-F238E27FC236}">
                <a16:creationId xmlns:a16="http://schemas.microsoft.com/office/drawing/2014/main" id="{94BC7632-14C2-9077-1F31-831849B55010}"/>
              </a:ext>
            </a:extLst>
          </p:cNvPr>
          <p:cNvSpPr/>
          <p:nvPr/>
        </p:nvSpPr>
        <p:spPr>
          <a:xfrm>
            <a:off x="4857197" y="4855039"/>
            <a:ext cx="1793360" cy="623976"/>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ارائه اطلاعات و راهنمایی درباره قوانین، استانداردها و الزامات ورود و فعالیت در بازارهای اروپایی</a:t>
            </a:r>
            <a:endParaRPr kumimoji="0" lang="en-US" sz="9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40" name="Rectangle: Rounded Corners 39">
            <a:extLst>
              <a:ext uri="{FF2B5EF4-FFF2-40B4-BE49-F238E27FC236}">
                <a16:creationId xmlns:a16="http://schemas.microsoft.com/office/drawing/2014/main" id="{5B9759B9-B311-C2FA-21F7-A702DC632138}"/>
              </a:ext>
            </a:extLst>
          </p:cNvPr>
          <p:cNvSpPr/>
          <p:nvPr/>
        </p:nvSpPr>
        <p:spPr>
          <a:xfrm>
            <a:off x="1204135" y="4318048"/>
            <a:ext cx="1630327" cy="623976"/>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200" b="1" i="0" u="none" strike="noStrike" kern="1200" cap="none" spc="0" normalizeH="0" baseline="0" noProof="0" dirty="0">
                <a:ln>
                  <a:noFill/>
                </a:ln>
                <a:solidFill>
                  <a:srgbClr val="003399"/>
                </a:solidFill>
                <a:effectLst/>
                <a:uLnTx/>
                <a:uFillTx/>
                <a:latin typeface="Yekan Bakh" pitchFamily="2" charset="-78"/>
                <a:ea typeface="Yekan Bakh" pitchFamily="2" charset="-78"/>
                <a:cs typeface="Yekan Bakh" pitchFamily="2" charset="-78"/>
              </a:rPr>
              <a:t>پایداری</a:t>
            </a:r>
            <a:endParaRPr kumimoji="0" lang="en-US" sz="1050" b="1" i="0" u="none" strike="noStrike" kern="1200" cap="none" spc="0" normalizeH="0" baseline="0" noProof="0" dirty="0">
              <a:ln>
                <a:noFill/>
              </a:ln>
              <a:solidFill>
                <a:srgbClr val="003399"/>
              </a:solidFill>
              <a:effectLst/>
              <a:uLnTx/>
              <a:uFillTx/>
              <a:latin typeface="Yekan Bakh" pitchFamily="2" charset="-78"/>
              <a:ea typeface="Yekan Bakh" pitchFamily="2" charset="-78"/>
              <a:cs typeface="Yekan Bakh" pitchFamily="2" charset="-78"/>
            </a:endParaRPr>
          </a:p>
        </p:txBody>
      </p:sp>
      <p:cxnSp>
        <p:nvCxnSpPr>
          <p:cNvPr id="64" name="Straight Connector 63">
            <a:extLst>
              <a:ext uri="{FF2B5EF4-FFF2-40B4-BE49-F238E27FC236}">
                <a16:creationId xmlns:a16="http://schemas.microsoft.com/office/drawing/2014/main" id="{19262DEB-40A9-ADB2-FC5B-706B913616AF}"/>
              </a:ext>
            </a:extLst>
          </p:cNvPr>
          <p:cNvCxnSpPr>
            <a:cxnSpLocks/>
          </p:cNvCxnSpPr>
          <p:nvPr/>
        </p:nvCxnSpPr>
        <p:spPr>
          <a:xfrm>
            <a:off x="1308904" y="4840445"/>
            <a:ext cx="1378419" cy="0"/>
          </a:xfrm>
          <a:prstGeom prst="line">
            <a:avLst/>
          </a:prstGeom>
          <a:ln w="635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
        <p:nvSpPr>
          <p:cNvPr id="87" name="Rectangle: Rounded Corners 86">
            <a:extLst>
              <a:ext uri="{FF2B5EF4-FFF2-40B4-BE49-F238E27FC236}">
                <a16:creationId xmlns:a16="http://schemas.microsoft.com/office/drawing/2014/main" id="{B38CABB0-AA4A-2B54-CA97-2C91E7AB12B8}"/>
              </a:ext>
            </a:extLst>
          </p:cNvPr>
          <p:cNvSpPr/>
          <p:nvPr/>
        </p:nvSpPr>
        <p:spPr>
          <a:xfrm>
            <a:off x="1136331" y="4855039"/>
            <a:ext cx="1793360" cy="623976"/>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ارائه </a:t>
            </a:r>
            <a:r>
              <a:rPr kumimoji="0" lang="fa-IR" sz="1050" b="0" i="0" u="none" strike="noStrike" kern="1200" cap="none" spc="0" normalizeH="0" baseline="0" noProof="0" dirty="0" err="1">
                <a:ln>
                  <a:noFill/>
                </a:ln>
                <a:solidFill>
                  <a:prstClr val="black">
                    <a:lumMod val="75000"/>
                    <a:lumOff val="25000"/>
                  </a:prstClr>
                </a:solidFill>
                <a:effectLst/>
                <a:uLnTx/>
                <a:uFillTx/>
                <a:latin typeface="Yekan Bakh" pitchFamily="2" charset="-78"/>
                <a:ea typeface="Yekan Bakh" pitchFamily="2" charset="-78"/>
                <a:cs typeface="Yekan Bakh" pitchFamily="2" charset="-78"/>
              </a:rPr>
              <a:t>راهکار</a:t>
            </a:r>
            <a:r>
              <a:rPr kumimoji="0" lang="fa-IR" sz="105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 و دسترسی به منابع برای بهبود بهره‌وری انرژی، کاهش انتشار و حرکت به سمت کسب‌وکار پایدار</a:t>
            </a:r>
            <a:endParaRPr kumimoji="0" lang="en-US" sz="9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38" name="Rectangle: Rounded Corners 37">
            <a:extLst>
              <a:ext uri="{FF2B5EF4-FFF2-40B4-BE49-F238E27FC236}">
                <a16:creationId xmlns:a16="http://schemas.microsoft.com/office/drawing/2014/main" id="{0EFF265F-DF25-1693-01A0-CEFB353D4B8A}"/>
              </a:ext>
            </a:extLst>
          </p:cNvPr>
          <p:cNvSpPr/>
          <p:nvPr/>
        </p:nvSpPr>
        <p:spPr>
          <a:xfrm>
            <a:off x="3078281" y="4318048"/>
            <a:ext cx="1630327" cy="623976"/>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200" b="1" i="0" u="none" strike="noStrike" kern="1200" cap="none" spc="0" normalizeH="0" baseline="0" noProof="0" dirty="0" err="1">
                <a:ln>
                  <a:noFill/>
                </a:ln>
                <a:solidFill>
                  <a:srgbClr val="003399"/>
                </a:solidFill>
                <a:effectLst/>
                <a:uLnTx/>
                <a:uFillTx/>
                <a:latin typeface="Yekan Bakh" pitchFamily="2" charset="-78"/>
                <a:ea typeface="Yekan Bakh" pitchFamily="2" charset="-78"/>
                <a:cs typeface="Yekan Bakh" pitchFamily="2" charset="-78"/>
              </a:rPr>
              <a:t>دیجیتال‌سازی</a:t>
            </a:r>
            <a:endParaRPr kumimoji="0" lang="en-US" sz="1050" b="1" i="0" u="none" strike="noStrike" kern="1200" cap="none" spc="0" normalizeH="0" baseline="0" noProof="0" dirty="0">
              <a:ln>
                <a:noFill/>
              </a:ln>
              <a:solidFill>
                <a:srgbClr val="003399"/>
              </a:solidFill>
              <a:effectLst/>
              <a:uLnTx/>
              <a:uFillTx/>
              <a:latin typeface="Yekan Bakh" pitchFamily="2" charset="-78"/>
              <a:ea typeface="Yekan Bakh" pitchFamily="2" charset="-78"/>
              <a:cs typeface="Yekan Bakh" pitchFamily="2" charset="-78"/>
            </a:endParaRPr>
          </a:p>
        </p:txBody>
      </p:sp>
      <p:cxnSp>
        <p:nvCxnSpPr>
          <p:cNvPr id="65" name="Straight Connector 64">
            <a:extLst>
              <a:ext uri="{FF2B5EF4-FFF2-40B4-BE49-F238E27FC236}">
                <a16:creationId xmlns:a16="http://schemas.microsoft.com/office/drawing/2014/main" id="{C4287EA3-4682-574D-1335-EC655A56C93B}"/>
              </a:ext>
            </a:extLst>
          </p:cNvPr>
          <p:cNvCxnSpPr>
            <a:cxnSpLocks/>
          </p:cNvCxnSpPr>
          <p:nvPr/>
        </p:nvCxnSpPr>
        <p:spPr>
          <a:xfrm>
            <a:off x="3204235" y="4840445"/>
            <a:ext cx="1378419" cy="0"/>
          </a:xfrm>
          <a:prstGeom prst="line">
            <a:avLst/>
          </a:prstGeom>
          <a:ln w="635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
        <p:nvSpPr>
          <p:cNvPr id="89" name="Rectangle: Rounded Corners 88">
            <a:extLst>
              <a:ext uri="{FF2B5EF4-FFF2-40B4-BE49-F238E27FC236}">
                <a16:creationId xmlns:a16="http://schemas.microsoft.com/office/drawing/2014/main" id="{3000AF84-C8BB-D8C4-209F-66AB38A0A610}"/>
              </a:ext>
            </a:extLst>
          </p:cNvPr>
          <p:cNvSpPr/>
          <p:nvPr/>
        </p:nvSpPr>
        <p:spPr>
          <a:xfrm>
            <a:off x="2996764" y="4855039"/>
            <a:ext cx="1793360" cy="623976"/>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کمک به شناسایی و </a:t>
            </a:r>
            <a:r>
              <a:rPr kumimoji="0" lang="fa-IR" sz="1050" b="0" i="0" u="none" strike="noStrike" kern="1200" cap="none" spc="0" normalizeH="0" baseline="0" noProof="0" dirty="0" err="1">
                <a:ln>
                  <a:noFill/>
                </a:ln>
                <a:solidFill>
                  <a:prstClr val="black">
                    <a:lumMod val="75000"/>
                    <a:lumOff val="25000"/>
                  </a:prstClr>
                </a:solidFill>
                <a:effectLst/>
                <a:uLnTx/>
                <a:uFillTx/>
                <a:latin typeface="Yekan Bakh" pitchFamily="2" charset="-78"/>
                <a:ea typeface="Yekan Bakh" pitchFamily="2" charset="-78"/>
                <a:cs typeface="Yekan Bakh" pitchFamily="2" charset="-78"/>
              </a:rPr>
              <a:t>به‌کارگیری</a:t>
            </a:r>
            <a:r>
              <a:rPr kumimoji="0" lang="fa-IR" sz="105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 راهکارهای دیجیتال برای بهبود </a:t>
            </a:r>
            <a:r>
              <a:rPr kumimoji="0" lang="fa-IR" sz="1050" b="0" i="0" u="none" strike="noStrike" kern="1200" cap="none" spc="0" normalizeH="0" baseline="0" noProof="0" dirty="0" err="1">
                <a:ln>
                  <a:noFill/>
                </a:ln>
                <a:solidFill>
                  <a:prstClr val="black">
                    <a:lumMod val="75000"/>
                    <a:lumOff val="25000"/>
                  </a:prstClr>
                </a:solidFill>
                <a:effectLst/>
                <a:uLnTx/>
                <a:uFillTx/>
                <a:latin typeface="Yekan Bakh" pitchFamily="2" charset="-78"/>
                <a:ea typeface="Yekan Bakh" pitchFamily="2" charset="-78"/>
                <a:cs typeface="Yekan Bakh" pitchFamily="2" charset="-78"/>
              </a:rPr>
              <a:t>فرایندها</a:t>
            </a:r>
            <a:r>
              <a:rPr kumimoji="0" lang="fa-IR" sz="105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 تجارت و مدل کسب‌وکار</a:t>
            </a:r>
            <a:endParaRPr kumimoji="0" lang="en-US" sz="9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34" name="Rectangle: Rounded Corners 33">
            <a:extLst>
              <a:ext uri="{FF2B5EF4-FFF2-40B4-BE49-F238E27FC236}">
                <a16:creationId xmlns:a16="http://schemas.microsoft.com/office/drawing/2014/main" id="{83B74DE7-836A-CE9F-C1E8-D140080A2296}"/>
              </a:ext>
            </a:extLst>
          </p:cNvPr>
          <p:cNvSpPr/>
          <p:nvPr/>
        </p:nvSpPr>
        <p:spPr>
          <a:xfrm>
            <a:off x="6799147" y="4318048"/>
            <a:ext cx="1630327" cy="623976"/>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200" b="1" i="0" u="none" strike="noStrike" kern="1200" cap="none" spc="0" normalizeH="0" baseline="0" noProof="0" dirty="0">
                <a:ln>
                  <a:noFill/>
                </a:ln>
                <a:solidFill>
                  <a:srgbClr val="003399"/>
                </a:solidFill>
                <a:effectLst/>
                <a:uLnTx/>
                <a:uFillTx/>
                <a:latin typeface="Yekan Bakh" pitchFamily="2" charset="-78"/>
                <a:ea typeface="Yekan Bakh" pitchFamily="2" charset="-78"/>
                <a:cs typeface="Yekan Bakh" pitchFamily="2" charset="-78"/>
              </a:rPr>
              <a:t>نوآوری و انتقال فناوری</a:t>
            </a:r>
            <a:endParaRPr kumimoji="0" lang="en-US" sz="1050" b="1" i="0" u="none" strike="noStrike" kern="1200" cap="none" spc="0" normalizeH="0" baseline="0" noProof="0" dirty="0">
              <a:ln>
                <a:noFill/>
              </a:ln>
              <a:solidFill>
                <a:srgbClr val="003399"/>
              </a:solidFill>
              <a:effectLst/>
              <a:uLnTx/>
              <a:uFillTx/>
              <a:latin typeface="Yekan Bakh" pitchFamily="2" charset="-78"/>
              <a:ea typeface="Yekan Bakh" pitchFamily="2" charset="-78"/>
              <a:cs typeface="Yekan Bakh" pitchFamily="2" charset="-78"/>
            </a:endParaRPr>
          </a:p>
        </p:txBody>
      </p:sp>
      <p:cxnSp>
        <p:nvCxnSpPr>
          <p:cNvPr id="66" name="Straight Connector 65">
            <a:extLst>
              <a:ext uri="{FF2B5EF4-FFF2-40B4-BE49-F238E27FC236}">
                <a16:creationId xmlns:a16="http://schemas.microsoft.com/office/drawing/2014/main" id="{BA3F328C-51CC-BB30-9816-9FB23D3E8900}"/>
              </a:ext>
            </a:extLst>
          </p:cNvPr>
          <p:cNvCxnSpPr>
            <a:cxnSpLocks/>
          </p:cNvCxnSpPr>
          <p:nvPr/>
        </p:nvCxnSpPr>
        <p:spPr>
          <a:xfrm>
            <a:off x="6925101" y="4840445"/>
            <a:ext cx="1378419" cy="0"/>
          </a:xfrm>
          <a:prstGeom prst="line">
            <a:avLst/>
          </a:prstGeom>
          <a:ln w="635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
        <p:nvSpPr>
          <p:cNvPr id="91" name="Rectangle: Rounded Corners 90">
            <a:extLst>
              <a:ext uri="{FF2B5EF4-FFF2-40B4-BE49-F238E27FC236}">
                <a16:creationId xmlns:a16="http://schemas.microsoft.com/office/drawing/2014/main" id="{FFBD42B6-7BA6-76F0-F84C-737552DF9A5B}"/>
              </a:ext>
            </a:extLst>
          </p:cNvPr>
          <p:cNvSpPr/>
          <p:nvPr/>
        </p:nvSpPr>
        <p:spPr>
          <a:xfrm>
            <a:off x="6717630" y="4855039"/>
            <a:ext cx="1793360" cy="623976"/>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اتصال شرکت‌ها به فناوری، شرکای </a:t>
            </a:r>
            <a:r>
              <a:rPr kumimoji="0" lang="fa-IR" sz="1050" b="0" i="0" u="none" strike="noStrike" kern="1200" cap="none" spc="0" normalizeH="0" baseline="0" noProof="0" dirty="0" err="1">
                <a:ln>
                  <a:noFill/>
                </a:ln>
                <a:solidFill>
                  <a:prstClr val="black">
                    <a:lumMod val="75000"/>
                    <a:lumOff val="25000"/>
                  </a:prstClr>
                </a:solidFill>
                <a:effectLst/>
                <a:uLnTx/>
                <a:uFillTx/>
                <a:latin typeface="Yekan Bakh" pitchFamily="2" charset="-78"/>
                <a:ea typeface="Yekan Bakh" pitchFamily="2" charset="-78"/>
                <a:cs typeface="Yekan Bakh" pitchFamily="2" charset="-78"/>
              </a:rPr>
              <a:t>تحقیق‌وتوسعه</a:t>
            </a:r>
            <a:r>
              <a:rPr kumimoji="0" lang="fa-IR" sz="105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 و فرصت‌های </a:t>
            </a:r>
            <a:r>
              <a:rPr kumimoji="0" lang="fa-IR" sz="1050" b="0" i="0" u="none" strike="noStrike" kern="1200" cap="none" spc="0" normalizeH="0" baseline="0" noProof="0" dirty="0" err="1">
                <a:ln>
                  <a:noFill/>
                </a:ln>
                <a:solidFill>
                  <a:prstClr val="black">
                    <a:lumMod val="75000"/>
                    <a:lumOff val="25000"/>
                  </a:prstClr>
                </a:solidFill>
                <a:effectLst/>
                <a:uLnTx/>
                <a:uFillTx/>
                <a:latin typeface="Yekan Bakh" pitchFamily="2" charset="-78"/>
                <a:ea typeface="Yekan Bakh" pitchFamily="2" charset="-78"/>
                <a:cs typeface="Yekan Bakh" pitchFamily="2" charset="-78"/>
              </a:rPr>
              <a:t>تجاری‌سازی</a:t>
            </a:r>
            <a:r>
              <a:rPr kumimoji="0" lang="fa-IR" sz="105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 و انتقال فناوری</a:t>
            </a:r>
            <a:endParaRPr kumimoji="0" lang="en-US" sz="9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77" name="Rectangle: Rounded Corners 76">
            <a:extLst>
              <a:ext uri="{FF2B5EF4-FFF2-40B4-BE49-F238E27FC236}">
                <a16:creationId xmlns:a16="http://schemas.microsoft.com/office/drawing/2014/main" id="{B267E2EA-2F3E-EDEC-2D82-A98B69C2819A}"/>
              </a:ext>
            </a:extLst>
          </p:cNvPr>
          <p:cNvSpPr/>
          <p:nvPr/>
        </p:nvSpPr>
        <p:spPr>
          <a:xfrm>
            <a:off x="8659582" y="4318048"/>
            <a:ext cx="1630327" cy="623976"/>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200" b="1" i="0" u="none" strike="noStrike" kern="1200" cap="none" spc="0" normalizeH="0" baseline="0" noProof="0" dirty="0">
                <a:ln>
                  <a:noFill/>
                </a:ln>
                <a:solidFill>
                  <a:srgbClr val="003399"/>
                </a:solidFill>
                <a:effectLst/>
                <a:uLnTx/>
                <a:uFillTx/>
                <a:latin typeface="Yekan Bakh" pitchFamily="2" charset="-78"/>
                <a:ea typeface="Yekan Bakh" pitchFamily="2" charset="-78"/>
                <a:cs typeface="Yekan Bakh" pitchFamily="2" charset="-78"/>
              </a:rPr>
              <a:t>تامین مالی</a:t>
            </a:r>
            <a:endParaRPr kumimoji="0" lang="en-US" sz="1050" b="1" i="0" u="none" strike="noStrike" kern="1200" cap="none" spc="0" normalizeH="0" baseline="0" noProof="0" dirty="0">
              <a:ln>
                <a:noFill/>
              </a:ln>
              <a:solidFill>
                <a:srgbClr val="003399"/>
              </a:solidFill>
              <a:effectLst/>
              <a:uLnTx/>
              <a:uFillTx/>
              <a:latin typeface="Yekan Bakh" pitchFamily="2" charset="-78"/>
              <a:ea typeface="Yekan Bakh" pitchFamily="2" charset="-78"/>
              <a:cs typeface="Yekan Bakh" pitchFamily="2" charset="-78"/>
            </a:endParaRPr>
          </a:p>
        </p:txBody>
      </p:sp>
      <p:cxnSp>
        <p:nvCxnSpPr>
          <p:cNvPr id="78" name="Straight Connector 77">
            <a:extLst>
              <a:ext uri="{FF2B5EF4-FFF2-40B4-BE49-F238E27FC236}">
                <a16:creationId xmlns:a16="http://schemas.microsoft.com/office/drawing/2014/main" id="{470AFA33-D3A9-60CE-0400-A51FB9F60814}"/>
              </a:ext>
            </a:extLst>
          </p:cNvPr>
          <p:cNvCxnSpPr>
            <a:cxnSpLocks/>
          </p:cNvCxnSpPr>
          <p:nvPr/>
        </p:nvCxnSpPr>
        <p:spPr>
          <a:xfrm>
            <a:off x="8785536" y="4840445"/>
            <a:ext cx="1378419" cy="0"/>
          </a:xfrm>
          <a:prstGeom prst="line">
            <a:avLst/>
          </a:prstGeom>
          <a:ln w="635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
        <p:nvSpPr>
          <p:cNvPr id="93" name="Rectangle: Rounded Corners 92">
            <a:extLst>
              <a:ext uri="{FF2B5EF4-FFF2-40B4-BE49-F238E27FC236}">
                <a16:creationId xmlns:a16="http://schemas.microsoft.com/office/drawing/2014/main" id="{1B07EBB1-D52E-13D1-2398-749E4B80D2C2}"/>
              </a:ext>
            </a:extLst>
          </p:cNvPr>
          <p:cNvSpPr/>
          <p:nvPr/>
        </p:nvSpPr>
        <p:spPr>
          <a:xfrm>
            <a:off x="8578065" y="4855039"/>
            <a:ext cx="1793360" cy="623976"/>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شناسایی منابع مالی و سرمایه‌گذاران و کمک به </a:t>
            </a:r>
            <a:r>
              <a:rPr kumimoji="0" lang="fa-IR" sz="1050" b="0" i="0" u="none" strike="noStrike" kern="1200" cap="none" spc="0" normalizeH="0" baseline="0" noProof="0" dirty="0" err="1">
                <a:ln>
                  <a:noFill/>
                </a:ln>
                <a:solidFill>
                  <a:prstClr val="black">
                    <a:lumMod val="75000"/>
                    <a:lumOff val="25000"/>
                  </a:prstClr>
                </a:solidFill>
                <a:effectLst/>
                <a:uLnTx/>
                <a:uFillTx/>
                <a:latin typeface="Yekan Bakh" pitchFamily="2" charset="-78"/>
                <a:ea typeface="Yekan Bakh" pitchFamily="2" charset="-78"/>
                <a:cs typeface="Yekan Bakh" pitchFamily="2" charset="-78"/>
              </a:rPr>
              <a:t>آماده‌سازی</a:t>
            </a:r>
            <a:r>
              <a:rPr kumimoji="0" lang="fa-IR" sz="105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 شرکت برای جذب سرمایه و دریافت حمایت مالی</a:t>
            </a:r>
            <a:endParaRPr kumimoji="0" lang="en-US" sz="9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cxnSp>
        <p:nvCxnSpPr>
          <p:cNvPr id="10" name="Straight Connector 9">
            <a:extLst>
              <a:ext uri="{FF2B5EF4-FFF2-40B4-BE49-F238E27FC236}">
                <a16:creationId xmlns:a16="http://schemas.microsoft.com/office/drawing/2014/main" id="{05FA6A64-64EF-AE6E-622D-6EBA793D3B4F}"/>
              </a:ext>
            </a:extLst>
          </p:cNvPr>
          <p:cNvCxnSpPr>
            <a:cxnSpLocks/>
          </p:cNvCxnSpPr>
          <p:nvPr/>
        </p:nvCxnSpPr>
        <p:spPr>
          <a:xfrm>
            <a:off x="1303024" y="4282546"/>
            <a:ext cx="8894142" cy="0"/>
          </a:xfrm>
          <a:prstGeom prst="line">
            <a:avLst/>
          </a:prstGeom>
          <a:ln w="6350">
            <a:solidFill>
              <a:srgbClr val="F0BE0F"/>
            </a:solidFill>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C7C353CB-5B43-7045-41C0-6D50E89689B5}"/>
              </a:ext>
            </a:extLst>
          </p:cNvPr>
          <p:cNvSpPr txBox="1"/>
          <p:nvPr/>
        </p:nvSpPr>
        <p:spPr>
          <a:xfrm>
            <a:off x="4889174" y="4084831"/>
            <a:ext cx="1721842" cy="307777"/>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4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فعالیت‌ها</a:t>
            </a:r>
            <a:endParaRPr kumimoji="0" lang="en-US" sz="1800" b="1"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endParaRPr>
          </a:p>
        </p:txBody>
      </p:sp>
      <p:pic>
        <p:nvPicPr>
          <p:cNvPr id="6" name="Graphic 5" descr="European Commission logo">
            <a:extLst>
              <a:ext uri="{FF2B5EF4-FFF2-40B4-BE49-F238E27FC236}">
                <a16:creationId xmlns:a16="http://schemas.microsoft.com/office/drawing/2014/main" id="{AA2C5913-1AE4-9FA5-BFFD-1C06D57A5EC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59481" y="256653"/>
            <a:ext cx="952272" cy="824633"/>
          </a:xfrm>
          <a:prstGeom prst="rect">
            <a:avLst/>
          </a:prstGeom>
        </p:spPr>
      </p:pic>
    </p:spTree>
    <p:extLst>
      <p:ext uri="{BB962C8B-B14F-4D97-AF65-F5344CB8AC3E}">
        <p14:creationId xmlns:p14="http://schemas.microsoft.com/office/powerpoint/2010/main" val="31872102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DAD98B7-2D5A-C58A-8092-3EB1CD3E54BD}"/>
              </a:ext>
            </a:extLst>
          </p:cNvPr>
          <p:cNvSpPr>
            <a:spLocks noGrp="1"/>
          </p:cNvSpPr>
          <p:nvPr>
            <p:ph type="body" sz="quarter" idx="10"/>
          </p:nvPr>
        </p:nvSpPr>
        <p:spPr/>
        <p:txBody>
          <a:bodyPr/>
          <a:lstStyle/>
          <a:p>
            <a:endParaRPr lang="en-GB"/>
          </a:p>
        </p:txBody>
      </p:sp>
      <p:sp>
        <p:nvSpPr>
          <p:cNvPr id="3" name="Text Placeholder 2">
            <a:extLst>
              <a:ext uri="{FF2B5EF4-FFF2-40B4-BE49-F238E27FC236}">
                <a16:creationId xmlns:a16="http://schemas.microsoft.com/office/drawing/2014/main" id="{F78052E2-6A53-A612-39A5-B70F0F6D3E3F}"/>
              </a:ext>
            </a:extLst>
          </p:cNvPr>
          <p:cNvSpPr>
            <a:spLocks noGrp="1"/>
          </p:cNvSpPr>
          <p:nvPr>
            <p:ph type="body" sz="quarter" idx="12"/>
          </p:nvPr>
        </p:nvSpPr>
        <p:spPr/>
        <p:txBody>
          <a:bodyPr/>
          <a:lstStyle/>
          <a:p>
            <a:r>
              <a:rPr lang="fa-IR" dirty="0"/>
              <a:t>مدل درآمدی/۱</a:t>
            </a:r>
          </a:p>
        </p:txBody>
      </p:sp>
      <p:cxnSp>
        <p:nvCxnSpPr>
          <p:cNvPr id="30" name="Straight Connector 29">
            <a:extLst>
              <a:ext uri="{FF2B5EF4-FFF2-40B4-BE49-F238E27FC236}">
                <a16:creationId xmlns:a16="http://schemas.microsoft.com/office/drawing/2014/main" id="{0181DE41-28F9-E67A-0264-4CF9D546B683}"/>
              </a:ext>
            </a:extLst>
          </p:cNvPr>
          <p:cNvCxnSpPr>
            <a:cxnSpLocks/>
          </p:cNvCxnSpPr>
          <p:nvPr/>
        </p:nvCxnSpPr>
        <p:spPr>
          <a:xfrm>
            <a:off x="505144" y="1776568"/>
            <a:ext cx="10692762" cy="0"/>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sp>
        <p:nvSpPr>
          <p:cNvPr id="24" name="Rectangle: Rounded Corners 23">
            <a:extLst>
              <a:ext uri="{FF2B5EF4-FFF2-40B4-BE49-F238E27FC236}">
                <a16:creationId xmlns:a16="http://schemas.microsoft.com/office/drawing/2014/main" id="{104A2A01-77DC-C58B-456A-01DB75689170}"/>
              </a:ext>
            </a:extLst>
          </p:cNvPr>
          <p:cNvSpPr/>
          <p:nvPr/>
        </p:nvSpPr>
        <p:spPr>
          <a:xfrm>
            <a:off x="8421322" y="1393125"/>
            <a:ext cx="2267712" cy="317371"/>
          </a:xfrm>
          <a:prstGeom prst="roundRect">
            <a:avLst/>
          </a:prstGeom>
          <a:solidFill>
            <a:srgbClr val="F6B30A">
              <a:alpha val="25000"/>
            </a:srgbClr>
          </a:solidFill>
          <a:ln w="635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مدل درآمدی</a:t>
            </a:r>
            <a:endParaRPr kumimoji="0" lang="en-US" sz="11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18" name="Rectangle: Rounded Corners 17">
            <a:extLst>
              <a:ext uri="{FF2B5EF4-FFF2-40B4-BE49-F238E27FC236}">
                <a16:creationId xmlns:a16="http://schemas.microsoft.com/office/drawing/2014/main" id="{6FCB9A64-3493-F86D-1A2E-0D04568D9BB7}"/>
              </a:ext>
            </a:extLst>
          </p:cNvPr>
          <p:cNvSpPr/>
          <p:nvPr/>
        </p:nvSpPr>
        <p:spPr>
          <a:xfrm>
            <a:off x="8421321" y="1842640"/>
            <a:ext cx="2263576" cy="541329"/>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حق‌الزحمه ثابت پروژه‌ای</a:t>
            </a:r>
            <a:endParaRPr kumimoji="0" lang="en-US" sz="11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(Fixed Project Fee)</a:t>
            </a:r>
          </a:p>
        </p:txBody>
      </p:sp>
      <p:sp>
        <p:nvSpPr>
          <p:cNvPr id="44" name="Rectangle: Rounded Corners 43">
            <a:extLst>
              <a:ext uri="{FF2B5EF4-FFF2-40B4-BE49-F238E27FC236}">
                <a16:creationId xmlns:a16="http://schemas.microsoft.com/office/drawing/2014/main" id="{8DB75093-7EFF-2B4B-F29E-EB573762EB52}"/>
              </a:ext>
            </a:extLst>
          </p:cNvPr>
          <p:cNvSpPr/>
          <p:nvPr/>
        </p:nvSpPr>
        <p:spPr>
          <a:xfrm>
            <a:off x="8421321" y="2433723"/>
            <a:ext cx="2263576" cy="541329"/>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حق‌الزحمه ثابت ماهانه</a:t>
            </a:r>
          </a:p>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(Monthly Retainer)</a:t>
            </a:r>
          </a:p>
        </p:txBody>
      </p:sp>
      <p:sp>
        <p:nvSpPr>
          <p:cNvPr id="48" name="Rectangle: Rounded Corners 47">
            <a:extLst>
              <a:ext uri="{FF2B5EF4-FFF2-40B4-BE49-F238E27FC236}">
                <a16:creationId xmlns:a16="http://schemas.microsoft.com/office/drawing/2014/main" id="{5D0F67BD-9AA4-056D-0367-915E8FC13A2F}"/>
              </a:ext>
            </a:extLst>
          </p:cNvPr>
          <p:cNvSpPr/>
          <p:nvPr/>
        </p:nvSpPr>
        <p:spPr>
          <a:xfrm>
            <a:off x="8421321" y="3024806"/>
            <a:ext cx="2263576" cy="541329"/>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حق‌الزحمه ثابت سالانه</a:t>
            </a:r>
            <a:endParaRPr kumimoji="0" lang="en-US" sz="11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a:t>
            </a:r>
            <a:r>
              <a:rPr kumimoji="0" lang="en-US" sz="11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(Annual Retainer</a:t>
            </a:r>
          </a:p>
        </p:txBody>
      </p:sp>
      <p:sp>
        <p:nvSpPr>
          <p:cNvPr id="52" name="Rectangle: Rounded Corners 51">
            <a:extLst>
              <a:ext uri="{FF2B5EF4-FFF2-40B4-BE49-F238E27FC236}">
                <a16:creationId xmlns:a16="http://schemas.microsoft.com/office/drawing/2014/main" id="{440EF25F-57B1-7290-6851-7EF894B84141}"/>
              </a:ext>
            </a:extLst>
          </p:cNvPr>
          <p:cNvSpPr/>
          <p:nvPr/>
        </p:nvSpPr>
        <p:spPr>
          <a:xfrm>
            <a:off x="8421321" y="3615889"/>
            <a:ext cx="2263576" cy="541329"/>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حق‌الزحمه ساعتی / روزانه</a:t>
            </a:r>
            <a:endParaRPr kumimoji="0" lang="en-US" sz="11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(Hourly / Daily Fee)</a:t>
            </a:r>
          </a:p>
        </p:txBody>
      </p:sp>
      <p:sp>
        <p:nvSpPr>
          <p:cNvPr id="56" name="Rectangle: Rounded Corners 55">
            <a:extLst>
              <a:ext uri="{FF2B5EF4-FFF2-40B4-BE49-F238E27FC236}">
                <a16:creationId xmlns:a16="http://schemas.microsoft.com/office/drawing/2014/main" id="{3A93FD1F-092F-4462-4A1A-20973D29C817}"/>
              </a:ext>
            </a:extLst>
          </p:cNvPr>
          <p:cNvSpPr/>
          <p:nvPr/>
        </p:nvSpPr>
        <p:spPr>
          <a:xfrm>
            <a:off x="8421321" y="4206972"/>
            <a:ext cx="2263576" cy="541329"/>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حق‌الزحمه سالانه نمایندگی </a:t>
            </a:r>
            <a:endParaRPr kumimoji="0" lang="en-US" sz="11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(Annual Representation Fee)</a:t>
            </a:r>
          </a:p>
        </p:txBody>
      </p:sp>
      <p:sp>
        <p:nvSpPr>
          <p:cNvPr id="60" name="Rectangle: Rounded Corners 59">
            <a:extLst>
              <a:ext uri="{FF2B5EF4-FFF2-40B4-BE49-F238E27FC236}">
                <a16:creationId xmlns:a16="http://schemas.microsoft.com/office/drawing/2014/main" id="{27E5B94D-C449-EBC5-3C1F-0533C9B2F69A}"/>
              </a:ext>
            </a:extLst>
          </p:cNvPr>
          <p:cNvSpPr/>
          <p:nvPr/>
        </p:nvSpPr>
        <p:spPr>
          <a:xfrm>
            <a:off x="8421321" y="4798055"/>
            <a:ext cx="2263576" cy="541329"/>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کمیسیون فروش</a:t>
            </a:r>
            <a:endParaRPr kumimoji="0" lang="en-US" sz="11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(Sales Commission)</a:t>
            </a:r>
          </a:p>
        </p:txBody>
      </p:sp>
      <p:sp>
        <p:nvSpPr>
          <p:cNvPr id="64" name="Rectangle: Rounded Corners 63">
            <a:extLst>
              <a:ext uri="{FF2B5EF4-FFF2-40B4-BE49-F238E27FC236}">
                <a16:creationId xmlns:a16="http://schemas.microsoft.com/office/drawing/2014/main" id="{CAA6EF67-C535-2B7A-3E86-FCB39BE324BC}"/>
              </a:ext>
            </a:extLst>
          </p:cNvPr>
          <p:cNvSpPr/>
          <p:nvPr/>
        </p:nvSpPr>
        <p:spPr>
          <a:xfrm>
            <a:off x="8421321" y="5389138"/>
            <a:ext cx="2263576" cy="541329"/>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کارمزد موفقیت</a:t>
            </a:r>
            <a:endParaRPr kumimoji="0" lang="en-US" sz="11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(Success Fee)</a:t>
            </a:r>
          </a:p>
        </p:txBody>
      </p:sp>
      <p:sp>
        <p:nvSpPr>
          <p:cNvPr id="26" name="Rectangle: Rounded Corners 25">
            <a:extLst>
              <a:ext uri="{FF2B5EF4-FFF2-40B4-BE49-F238E27FC236}">
                <a16:creationId xmlns:a16="http://schemas.microsoft.com/office/drawing/2014/main" id="{B0FEBB19-60D1-538C-BFC0-B3DBCCC25E35}"/>
              </a:ext>
            </a:extLst>
          </p:cNvPr>
          <p:cNvSpPr/>
          <p:nvPr/>
        </p:nvSpPr>
        <p:spPr>
          <a:xfrm>
            <a:off x="6059620" y="1383528"/>
            <a:ext cx="2267712" cy="317371"/>
          </a:xfrm>
          <a:prstGeom prst="roundRect">
            <a:avLst/>
          </a:prstGeom>
          <a:solidFill>
            <a:srgbClr val="F6B30A">
              <a:alpha val="25000"/>
            </a:srgbClr>
          </a:solidFill>
          <a:ln w="635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نمونه واقعی</a:t>
            </a:r>
            <a:endParaRPr kumimoji="0" lang="en-US" sz="11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22" name="Rectangle: Rounded Corners 21">
            <a:extLst>
              <a:ext uri="{FF2B5EF4-FFF2-40B4-BE49-F238E27FC236}">
                <a16:creationId xmlns:a16="http://schemas.microsoft.com/office/drawing/2014/main" id="{A9E64D80-30AF-1A40-B31E-3E80A03C120B}"/>
              </a:ext>
            </a:extLst>
          </p:cNvPr>
          <p:cNvSpPr/>
          <p:nvPr/>
        </p:nvSpPr>
        <p:spPr>
          <a:xfrm>
            <a:off x="6059623" y="1842639"/>
            <a:ext cx="2267712" cy="541329"/>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FOSS، U.S. Commercial Service</a:t>
            </a:r>
            <a:endParaRPr kumimoji="0" lang="fa-IR" sz="9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45" name="Rectangle: Rounded Corners 44">
            <a:extLst>
              <a:ext uri="{FF2B5EF4-FFF2-40B4-BE49-F238E27FC236}">
                <a16:creationId xmlns:a16="http://schemas.microsoft.com/office/drawing/2014/main" id="{5CD3BDB1-788C-63B3-8F24-46A405299361}"/>
              </a:ext>
            </a:extLst>
          </p:cNvPr>
          <p:cNvSpPr/>
          <p:nvPr/>
        </p:nvSpPr>
        <p:spPr>
          <a:xfrm>
            <a:off x="6059623" y="2433722"/>
            <a:ext cx="2267712" cy="541329"/>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Abyss، Boomer، Hispania</a:t>
            </a:r>
            <a:endParaRPr kumimoji="0" lang="fa-IR" sz="9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49" name="Rectangle: Rounded Corners 48">
            <a:extLst>
              <a:ext uri="{FF2B5EF4-FFF2-40B4-BE49-F238E27FC236}">
                <a16:creationId xmlns:a16="http://schemas.microsoft.com/office/drawing/2014/main" id="{ABBFDD68-A95B-9039-DBEA-4E02D7D215D9}"/>
              </a:ext>
            </a:extLst>
          </p:cNvPr>
          <p:cNvSpPr/>
          <p:nvPr/>
        </p:nvSpPr>
        <p:spPr>
          <a:xfrm>
            <a:off x="6059623" y="3024805"/>
            <a:ext cx="2267712" cy="541329"/>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FOSS</a:t>
            </a:r>
            <a:endParaRPr kumimoji="0" lang="fa-IR" sz="9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53" name="Rectangle: Rounded Corners 52">
            <a:extLst>
              <a:ext uri="{FF2B5EF4-FFF2-40B4-BE49-F238E27FC236}">
                <a16:creationId xmlns:a16="http://schemas.microsoft.com/office/drawing/2014/main" id="{46BA5016-D6A4-EA25-E3F0-F6DA486B354D}"/>
              </a:ext>
            </a:extLst>
          </p:cNvPr>
          <p:cNvSpPr/>
          <p:nvPr/>
        </p:nvSpPr>
        <p:spPr>
          <a:xfrm>
            <a:off x="6059623" y="3615888"/>
            <a:ext cx="2267712" cy="541329"/>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U.S. Commercial Service، EIC Service Catalogue</a:t>
            </a:r>
            <a:endParaRPr kumimoji="0" lang="fa-IR" sz="9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57" name="Rectangle: Rounded Corners 56">
            <a:extLst>
              <a:ext uri="{FF2B5EF4-FFF2-40B4-BE49-F238E27FC236}">
                <a16:creationId xmlns:a16="http://schemas.microsoft.com/office/drawing/2014/main" id="{2EF3BDC6-EA9E-B372-9E7E-12648C885499}"/>
              </a:ext>
            </a:extLst>
          </p:cNvPr>
          <p:cNvSpPr/>
          <p:nvPr/>
        </p:nvSpPr>
        <p:spPr>
          <a:xfrm>
            <a:off x="6059623" y="4206971"/>
            <a:ext cx="2267712" cy="541329"/>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نزدیک‌ترین نمونه: </a:t>
            </a:r>
            <a:r>
              <a:rPr kumimoji="0" lang="en-US" sz="9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Abyss</a:t>
            </a:r>
            <a:endParaRPr kumimoji="0" lang="fa-IR" sz="9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61" name="Rectangle: Rounded Corners 60">
            <a:extLst>
              <a:ext uri="{FF2B5EF4-FFF2-40B4-BE49-F238E27FC236}">
                <a16:creationId xmlns:a16="http://schemas.microsoft.com/office/drawing/2014/main" id="{8D9AA0CC-5C35-8685-784E-8781316286D6}"/>
              </a:ext>
            </a:extLst>
          </p:cNvPr>
          <p:cNvSpPr/>
          <p:nvPr/>
        </p:nvSpPr>
        <p:spPr>
          <a:xfrm>
            <a:off x="6059623" y="4798054"/>
            <a:ext cx="2267712" cy="541329"/>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Boomer / Commercial Agents</a:t>
            </a:r>
            <a:endParaRPr kumimoji="0" lang="fa-IR" sz="9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65" name="Rectangle: Rounded Corners 64">
            <a:extLst>
              <a:ext uri="{FF2B5EF4-FFF2-40B4-BE49-F238E27FC236}">
                <a16:creationId xmlns:a16="http://schemas.microsoft.com/office/drawing/2014/main" id="{C5D1AF08-AAC5-0DD5-69A4-C87819B87C23}"/>
              </a:ext>
            </a:extLst>
          </p:cNvPr>
          <p:cNvSpPr/>
          <p:nvPr/>
        </p:nvSpPr>
        <p:spPr>
          <a:xfrm>
            <a:off x="6059623" y="5389137"/>
            <a:ext cx="2267712" cy="541329"/>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err="1">
                <a:ln>
                  <a:noFill/>
                </a:ln>
                <a:solidFill>
                  <a:prstClr val="black">
                    <a:lumMod val="75000"/>
                    <a:lumOff val="25000"/>
                  </a:prstClr>
                </a:solidFill>
                <a:effectLst/>
                <a:uLnTx/>
                <a:uFillTx/>
                <a:latin typeface="Yekan Bakh" pitchFamily="2" charset="-78"/>
                <a:ea typeface="Yekan Bakh" pitchFamily="2" charset="-78"/>
                <a:cs typeface="Yekan Bakh" pitchFamily="2" charset="-78"/>
              </a:rPr>
              <a:t>Corvian</a:t>
            </a:r>
            <a:r>
              <a:rPr kumimoji="0" lang="en-US" sz="9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 Lyndon</a:t>
            </a:r>
            <a:endParaRPr kumimoji="0" lang="fa-IR" sz="9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20" name="Rectangle: Rounded Corners 19">
            <a:extLst>
              <a:ext uri="{FF2B5EF4-FFF2-40B4-BE49-F238E27FC236}">
                <a16:creationId xmlns:a16="http://schemas.microsoft.com/office/drawing/2014/main" id="{4775A417-0A48-35E1-0BB6-8C9F3D2E7840}"/>
              </a:ext>
            </a:extLst>
          </p:cNvPr>
          <p:cNvSpPr/>
          <p:nvPr/>
        </p:nvSpPr>
        <p:spPr>
          <a:xfrm>
            <a:off x="505144" y="1842640"/>
            <a:ext cx="5460489" cy="541329"/>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a:ln>
                  <a:noFill/>
                </a:ln>
                <a:solidFill>
                  <a:prstClr val="black">
                    <a:lumMod val="75000"/>
                    <a:lumOff val="25000"/>
                  </a:prstClr>
                </a:solidFill>
                <a:effectLst/>
                <a:uLnTx/>
                <a:uFillTx/>
                <a:latin typeface="Yekan Bakh" pitchFamily="2" charset="-78"/>
                <a:ea typeface="Yekan Bakh" pitchFamily="2" charset="-78"/>
                <a:cs typeface="Yekan Bakh" pitchFamily="2" charset="-78"/>
              </a:rPr>
              <a:t>مشتری برای یک پروژه یا مأموریت مشخص، مبلغی ثابت پرداخت می‌کند.</a:t>
            </a:r>
            <a:endParaRPr kumimoji="0" lang="fa-IR" sz="9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28" name="Rectangle: Rounded Corners 27">
            <a:extLst>
              <a:ext uri="{FF2B5EF4-FFF2-40B4-BE49-F238E27FC236}">
                <a16:creationId xmlns:a16="http://schemas.microsoft.com/office/drawing/2014/main" id="{E84E26E6-A3FD-148C-3E79-C39C4502A838}"/>
              </a:ext>
            </a:extLst>
          </p:cNvPr>
          <p:cNvSpPr/>
          <p:nvPr/>
        </p:nvSpPr>
        <p:spPr>
          <a:xfrm>
            <a:off x="505144" y="1383528"/>
            <a:ext cx="5460490" cy="317371"/>
          </a:xfrm>
          <a:prstGeom prst="roundRect">
            <a:avLst/>
          </a:prstGeom>
          <a:solidFill>
            <a:srgbClr val="F6B30A">
              <a:alpha val="25000"/>
            </a:srgbClr>
          </a:solidFill>
          <a:ln w="635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1" i="0" u="none" strike="noStrike" kern="1200" cap="none" spc="0" normalizeH="0" baseline="0" noProof="0">
                <a:ln>
                  <a:noFill/>
                </a:ln>
                <a:solidFill>
                  <a:prstClr val="black">
                    <a:lumMod val="75000"/>
                    <a:lumOff val="25000"/>
                  </a:prstClr>
                </a:solidFill>
                <a:effectLst/>
                <a:uLnTx/>
                <a:uFillTx/>
                <a:latin typeface="Yekan Bakh" pitchFamily="2" charset="-78"/>
                <a:ea typeface="Yekan Bakh" pitchFamily="2" charset="-78"/>
                <a:cs typeface="Yekan Bakh" pitchFamily="2" charset="-78"/>
              </a:rPr>
              <a:t>منطق درآمد</a:t>
            </a:r>
            <a:endParaRPr kumimoji="0" lang="en-US" sz="11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46" name="Rectangle: Rounded Corners 45">
            <a:extLst>
              <a:ext uri="{FF2B5EF4-FFF2-40B4-BE49-F238E27FC236}">
                <a16:creationId xmlns:a16="http://schemas.microsoft.com/office/drawing/2014/main" id="{1CBA955F-1C68-4B59-7F94-61BC73432468}"/>
              </a:ext>
            </a:extLst>
          </p:cNvPr>
          <p:cNvSpPr/>
          <p:nvPr/>
        </p:nvSpPr>
        <p:spPr>
          <a:xfrm>
            <a:off x="505144" y="2433723"/>
            <a:ext cx="5460489" cy="541329"/>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مشتری برای دریافت مستمر خدمات توسعه کسب‌وکار، نمایندگی یا توسعه بازار، مبلغ ثابتی را ماهانه پرداخت می‌کند.</a:t>
            </a:r>
          </a:p>
        </p:txBody>
      </p:sp>
      <p:sp>
        <p:nvSpPr>
          <p:cNvPr id="50" name="Rectangle: Rounded Corners 49">
            <a:extLst>
              <a:ext uri="{FF2B5EF4-FFF2-40B4-BE49-F238E27FC236}">
                <a16:creationId xmlns:a16="http://schemas.microsoft.com/office/drawing/2014/main" id="{A226ABE3-1B7C-68DF-2745-83F21AC4E2BF}"/>
              </a:ext>
            </a:extLst>
          </p:cNvPr>
          <p:cNvSpPr/>
          <p:nvPr/>
        </p:nvSpPr>
        <p:spPr>
          <a:xfrm>
            <a:off x="505144" y="3024806"/>
            <a:ext cx="5460489" cy="541329"/>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مشتری برای دریافت خدمات مستمر توسعه کسب‌وکار بین‌المللی، قرارداد سالانه منعقد می‌کند و مبلغ مشخصی می‌پردازد.</a:t>
            </a:r>
          </a:p>
        </p:txBody>
      </p:sp>
      <p:sp>
        <p:nvSpPr>
          <p:cNvPr id="54" name="Rectangle: Rounded Corners 53">
            <a:extLst>
              <a:ext uri="{FF2B5EF4-FFF2-40B4-BE49-F238E27FC236}">
                <a16:creationId xmlns:a16="http://schemas.microsoft.com/office/drawing/2014/main" id="{EEAFD7BE-FA7A-BAEF-3658-99040B2DC2FD}"/>
              </a:ext>
            </a:extLst>
          </p:cNvPr>
          <p:cNvSpPr/>
          <p:nvPr/>
        </p:nvSpPr>
        <p:spPr>
          <a:xfrm>
            <a:off x="505144" y="3615889"/>
            <a:ext cx="5460489" cy="541329"/>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مشتری بر اساس میزان زمان صرف‌شده توسط متخصص یا تیم، به‌صورت ساعتی یا روزانه هزینه پرداخت می‌کند.</a:t>
            </a:r>
          </a:p>
        </p:txBody>
      </p:sp>
      <p:sp>
        <p:nvSpPr>
          <p:cNvPr id="58" name="Rectangle: Rounded Corners 57">
            <a:extLst>
              <a:ext uri="{FF2B5EF4-FFF2-40B4-BE49-F238E27FC236}">
                <a16:creationId xmlns:a16="http://schemas.microsoft.com/office/drawing/2014/main" id="{5D6F5453-EBF2-4DFC-AF4C-744753B8AF08}"/>
              </a:ext>
            </a:extLst>
          </p:cNvPr>
          <p:cNvSpPr/>
          <p:nvPr/>
        </p:nvSpPr>
        <p:spPr>
          <a:xfrm>
            <a:off x="505144" y="4206972"/>
            <a:ext cx="5460489" cy="541329"/>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شرکت برای اینکه ارائه‌دهنده خدمات به‌صورت مستمر نماینده آن در یک بازار باشد، مبلغی دوره‌ای، معمولاً سالانه، پرداخت می‌کند.</a:t>
            </a:r>
          </a:p>
        </p:txBody>
      </p:sp>
      <p:sp>
        <p:nvSpPr>
          <p:cNvPr id="62" name="Rectangle: Rounded Corners 61">
            <a:extLst>
              <a:ext uri="{FF2B5EF4-FFF2-40B4-BE49-F238E27FC236}">
                <a16:creationId xmlns:a16="http://schemas.microsoft.com/office/drawing/2014/main" id="{5349EC91-D54E-0945-E0FA-A727709736A4}"/>
              </a:ext>
            </a:extLst>
          </p:cNvPr>
          <p:cNvSpPr/>
          <p:nvPr/>
        </p:nvSpPr>
        <p:spPr>
          <a:xfrm>
            <a:off x="505144" y="4798055"/>
            <a:ext cx="5460489" cy="541329"/>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ارائه‌دهنده در ازای فروش یا معامله‌ای که ایجاد یا تسهیل کرده، درصدی از ارزش فروش یا معامله را دریافت می‌کند.</a:t>
            </a:r>
          </a:p>
        </p:txBody>
      </p:sp>
      <p:sp>
        <p:nvSpPr>
          <p:cNvPr id="66" name="Rectangle: Rounded Corners 65">
            <a:extLst>
              <a:ext uri="{FF2B5EF4-FFF2-40B4-BE49-F238E27FC236}">
                <a16:creationId xmlns:a16="http://schemas.microsoft.com/office/drawing/2014/main" id="{699A8DFA-91C9-4C1C-1001-CA4B483DE87D}"/>
              </a:ext>
            </a:extLst>
          </p:cNvPr>
          <p:cNvSpPr/>
          <p:nvPr/>
        </p:nvSpPr>
        <p:spPr>
          <a:xfrm>
            <a:off x="505144" y="5389138"/>
            <a:ext cx="5460489" cy="541329"/>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پرداخت تنها در صورت تحقق نتیجه مشخص، مانند نهایی‌شدن معامله؛ در </a:t>
            </a:r>
            <a:r>
              <a:rPr kumimoji="0" lang="en-US" sz="9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M&amp;A </a:t>
            </a:r>
            <a:r>
              <a:rPr kumimoji="0" lang="fa-IR" sz="9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معمولاً درصدی از ارزش معامله است.</a:t>
            </a:r>
          </a:p>
        </p:txBody>
      </p:sp>
      <p:sp>
        <p:nvSpPr>
          <p:cNvPr id="72" name="Rectangle: Rounded Corners 71">
            <a:extLst>
              <a:ext uri="{FF2B5EF4-FFF2-40B4-BE49-F238E27FC236}">
                <a16:creationId xmlns:a16="http://schemas.microsoft.com/office/drawing/2014/main" id="{DCEBF96C-F370-D2E8-7CAB-DF7BF1936681}"/>
              </a:ext>
            </a:extLst>
          </p:cNvPr>
          <p:cNvSpPr/>
          <p:nvPr/>
        </p:nvSpPr>
        <p:spPr>
          <a:xfrm>
            <a:off x="10783021" y="1393125"/>
            <a:ext cx="458012" cy="317371"/>
          </a:xfrm>
          <a:prstGeom prst="roundRect">
            <a:avLst/>
          </a:prstGeom>
          <a:solidFill>
            <a:srgbClr val="F6B30A">
              <a:alpha val="25000"/>
            </a:srgbClr>
          </a:solidFill>
          <a:ln w="635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a:t>
            </a:r>
          </a:p>
        </p:txBody>
      </p:sp>
      <p:sp>
        <p:nvSpPr>
          <p:cNvPr id="73" name="Rectangle: Rounded Corners 72">
            <a:extLst>
              <a:ext uri="{FF2B5EF4-FFF2-40B4-BE49-F238E27FC236}">
                <a16:creationId xmlns:a16="http://schemas.microsoft.com/office/drawing/2014/main" id="{BA7BE622-D256-DBFB-CC1C-53316D837F3A}"/>
              </a:ext>
            </a:extLst>
          </p:cNvPr>
          <p:cNvSpPr/>
          <p:nvPr/>
        </p:nvSpPr>
        <p:spPr>
          <a:xfrm>
            <a:off x="10783020" y="1842640"/>
            <a:ext cx="457177" cy="541329"/>
          </a:xfrm>
          <a:prstGeom prst="roundRect">
            <a:avLst>
              <a:gd name="adj" fmla="val 9524"/>
            </a:avLst>
          </a:prstGeom>
          <a:solidFill>
            <a:srgbClr val="F6B30A">
              <a:alpha val="2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6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۱</a:t>
            </a:r>
            <a:endParaRPr kumimoji="0" lang="en-US" sz="16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74" name="Rectangle: Rounded Corners 73">
            <a:extLst>
              <a:ext uri="{FF2B5EF4-FFF2-40B4-BE49-F238E27FC236}">
                <a16:creationId xmlns:a16="http://schemas.microsoft.com/office/drawing/2014/main" id="{EBFA9B84-17CD-DB25-706E-7B59790A3BB1}"/>
              </a:ext>
            </a:extLst>
          </p:cNvPr>
          <p:cNvSpPr/>
          <p:nvPr/>
        </p:nvSpPr>
        <p:spPr>
          <a:xfrm>
            <a:off x="10783020" y="2433723"/>
            <a:ext cx="457177" cy="541329"/>
          </a:xfrm>
          <a:prstGeom prst="roundRect">
            <a:avLst>
              <a:gd name="adj" fmla="val 9524"/>
            </a:avLst>
          </a:prstGeom>
          <a:solidFill>
            <a:srgbClr val="F6B30A">
              <a:alpha val="2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6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۲</a:t>
            </a:r>
            <a:endParaRPr kumimoji="0" lang="en-US" sz="16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75" name="Rectangle: Rounded Corners 74">
            <a:extLst>
              <a:ext uri="{FF2B5EF4-FFF2-40B4-BE49-F238E27FC236}">
                <a16:creationId xmlns:a16="http://schemas.microsoft.com/office/drawing/2014/main" id="{37D33AE6-D209-459E-69B4-A400C3597935}"/>
              </a:ext>
            </a:extLst>
          </p:cNvPr>
          <p:cNvSpPr/>
          <p:nvPr/>
        </p:nvSpPr>
        <p:spPr>
          <a:xfrm>
            <a:off x="10783020" y="3024806"/>
            <a:ext cx="457177" cy="541329"/>
          </a:xfrm>
          <a:prstGeom prst="roundRect">
            <a:avLst>
              <a:gd name="adj" fmla="val 9524"/>
            </a:avLst>
          </a:prstGeom>
          <a:solidFill>
            <a:srgbClr val="F6B30A">
              <a:alpha val="2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6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۳</a:t>
            </a:r>
            <a:endParaRPr kumimoji="0" lang="en-US" sz="16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76" name="Rectangle: Rounded Corners 75">
            <a:extLst>
              <a:ext uri="{FF2B5EF4-FFF2-40B4-BE49-F238E27FC236}">
                <a16:creationId xmlns:a16="http://schemas.microsoft.com/office/drawing/2014/main" id="{D5E89D26-232B-9E3A-6A7E-868B0DD28EC5}"/>
              </a:ext>
            </a:extLst>
          </p:cNvPr>
          <p:cNvSpPr/>
          <p:nvPr/>
        </p:nvSpPr>
        <p:spPr>
          <a:xfrm>
            <a:off x="10783020" y="3615889"/>
            <a:ext cx="457177" cy="541329"/>
          </a:xfrm>
          <a:prstGeom prst="roundRect">
            <a:avLst>
              <a:gd name="adj" fmla="val 9524"/>
            </a:avLst>
          </a:prstGeom>
          <a:solidFill>
            <a:srgbClr val="F6B30A">
              <a:alpha val="2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6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۴</a:t>
            </a:r>
            <a:endParaRPr kumimoji="0" lang="en-US" sz="16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77" name="Rectangle: Rounded Corners 76">
            <a:extLst>
              <a:ext uri="{FF2B5EF4-FFF2-40B4-BE49-F238E27FC236}">
                <a16:creationId xmlns:a16="http://schemas.microsoft.com/office/drawing/2014/main" id="{1E5A372C-D6AA-D43C-F3CD-B0F9E5CF8C11}"/>
              </a:ext>
            </a:extLst>
          </p:cNvPr>
          <p:cNvSpPr/>
          <p:nvPr/>
        </p:nvSpPr>
        <p:spPr>
          <a:xfrm>
            <a:off x="10783020" y="4206972"/>
            <a:ext cx="457177" cy="541329"/>
          </a:xfrm>
          <a:prstGeom prst="roundRect">
            <a:avLst>
              <a:gd name="adj" fmla="val 9524"/>
            </a:avLst>
          </a:prstGeom>
          <a:solidFill>
            <a:srgbClr val="F6B30A">
              <a:alpha val="2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6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۵</a:t>
            </a:r>
            <a:endParaRPr kumimoji="0" lang="en-US" sz="16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78" name="Rectangle: Rounded Corners 77">
            <a:extLst>
              <a:ext uri="{FF2B5EF4-FFF2-40B4-BE49-F238E27FC236}">
                <a16:creationId xmlns:a16="http://schemas.microsoft.com/office/drawing/2014/main" id="{C4AA6495-03BC-899F-A8CF-219A74B020A5}"/>
              </a:ext>
            </a:extLst>
          </p:cNvPr>
          <p:cNvSpPr/>
          <p:nvPr/>
        </p:nvSpPr>
        <p:spPr>
          <a:xfrm>
            <a:off x="10783020" y="4798055"/>
            <a:ext cx="457177" cy="541329"/>
          </a:xfrm>
          <a:prstGeom prst="roundRect">
            <a:avLst>
              <a:gd name="adj" fmla="val 9524"/>
            </a:avLst>
          </a:prstGeom>
          <a:solidFill>
            <a:srgbClr val="F6B30A">
              <a:alpha val="2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6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۶</a:t>
            </a:r>
            <a:endParaRPr kumimoji="0" lang="en-US" sz="16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79" name="Rectangle: Rounded Corners 78">
            <a:extLst>
              <a:ext uri="{FF2B5EF4-FFF2-40B4-BE49-F238E27FC236}">
                <a16:creationId xmlns:a16="http://schemas.microsoft.com/office/drawing/2014/main" id="{5D0F8F68-38F7-9529-FCDD-28933F534288}"/>
              </a:ext>
            </a:extLst>
          </p:cNvPr>
          <p:cNvSpPr/>
          <p:nvPr/>
        </p:nvSpPr>
        <p:spPr>
          <a:xfrm>
            <a:off x="10783020" y="5389138"/>
            <a:ext cx="457177" cy="541329"/>
          </a:xfrm>
          <a:prstGeom prst="roundRect">
            <a:avLst>
              <a:gd name="adj" fmla="val 9524"/>
            </a:avLst>
          </a:prstGeom>
          <a:solidFill>
            <a:srgbClr val="F6B30A">
              <a:alpha val="2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6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۷</a:t>
            </a:r>
            <a:endParaRPr kumimoji="0" lang="en-US" sz="16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Tree>
    <p:extLst>
      <p:ext uri="{BB962C8B-B14F-4D97-AF65-F5344CB8AC3E}">
        <p14:creationId xmlns:p14="http://schemas.microsoft.com/office/powerpoint/2010/main" val="38144445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9739F48-F0C6-C09A-E7DF-28711F0D286E}"/>
              </a:ext>
            </a:extLst>
          </p:cNvPr>
          <p:cNvSpPr>
            <a:spLocks noGrp="1"/>
          </p:cNvSpPr>
          <p:nvPr>
            <p:ph type="body" sz="quarter" idx="10"/>
          </p:nvPr>
        </p:nvSpPr>
        <p:spPr/>
        <p:txBody>
          <a:bodyPr/>
          <a:lstStyle/>
          <a:p>
            <a:endParaRPr lang="en-GB"/>
          </a:p>
        </p:txBody>
      </p:sp>
      <p:sp>
        <p:nvSpPr>
          <p:cNvPr id="3" name="Text Placeholder 2">
            <a:extLst>
              <a:ext uri="{FF2B5EF4-FFF2-40B4-BE49-F238E27FC236}">
                <a16:creationId xmlns:a16="http://schemas.microsoft.com/office/drawing/2014/main" id="{49D3D0EB-A955-9A67-C88A-DAF11A66D0C8}"/>
              </a:ext>
            </a:extLst>
          </p:cNvPr>
          <p:cNvSpPr>
            <a:spLocks noGrp="1"/>
          </p:cNvSpPr>
          <p:nvPr>
            <p:ph type="body" sz="quarter" idx="12"/>
          </p:nvPr>
        </p:nvSpPr>
        <p:spPr/>
        <p:txBody>
          <a:bodyPr/>
          <a:lstStyle/>
          <a:p>
            <a:r>
              <a:rPr lang="fa-IR" dirty="0"/>
              <a:t>مدل درآمدی/۲</a:t>
            </a:r>
          </a:p>
          <a:p>
            <a:endParaRPr lang="en-GB" dirty="0"/>
          </a:p>
        </p:txBody>
      </p:sp>
      <p:sp>
        <p:nvSpPr>
          <p:cNvPr id="5" name="TextBox 4">
            <a:extLst>
              <a:ext uri="{FF2B5EF4-FFF2-40B4-BE49-F238E27FC236}">
                <a16:creationId xmlns:a16="http://schemas.microsoft.com/office/drawing/2014/main" id="{5B53CA9A-7D73-4A4A-5DE5-AA14327600DC}"/>
              </a:ext>
            </a:extLst>
          </p:cNvPr>
          <p:cNvSpPr txBox="1"/>
          <p:nvPr/>
        </p:nvSpPr>
        <p:spPr>
          <a:xfrm>
            <a:off x="-1590261" y="3110948"/>
            <a:ext cx="184731" cy="369332"/>
          </a:xfrm>
          <a:prstGeom prst="rect">
            <a:avLst/>
          </a:prstGeom>
          <a:noFill/>
        </p:spPr>
        <p:txBody>
          <a:bodyPr wrap="none" rtlCol="0">
            <a:spAutoFit/>
          </a:bodyPr>
          <a:lstStyle/>
          <a:p>
            <a:endParaRPr lang="en-GB" dirty="0"/>
          </a:p>
        </p:txBody>
      </p:sp>
      <p:cxnSp>
        <p:nvCxnSpPr>
          <p:cNvPr id="30" name="Straight Connector 29">
            <a:extLst>
              <a:ext uri="{FF2B5EF4-FFF2-40B4-BE49-F238E27FC236}">
                <a16:creationId xmlns:a16="http://schemas.microsoft.com/office/drawing/2014/main" id="{1E6951E4-DF41-3FE9-4405-1FDD0B6099DA}"/>
              </a:ext>
            </a:extLst>
          </p:cNvPr>
          <p:cNvCxnSpPr>
            <a:cxnSpLocks/>
          </p:cNvCxnSpPr>
          <p:nvPr/>
        </p:nvCxnSpPr>
        <p:spPr>
          <a:xfrm>
            <a:off x="505144" y="1776568"/>
            <a:ext cx="10692762" cy="0"/>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sp>
        <p:nvSpPr>
          <p:cNvPr id="24" name="Rectangle: Rounded Corners 23">
            <a:extLst>
              <a:ext uri="{FF2B5EF4-FFF2-40B4-BE49-F238E27FC236}">
                <a16:creationId xmlns:a16="http://schemas.microsoft.com/office/drawing/2014/main" id="{F3F52365-E3BA-C173-A493-7F44F2A5FE21}"/>
              </a:ext>
            </a:extLst>
          </p:cNvPr>
          <p:cNvSpPr/>
          <p:nvPr/>
        </p:nvSpPr>
        <p:spPr>
          <a:xfrm>
            <a:off x="8421322" y="1393125"/>
            <a:ext cx="2267712" cy="317371"/>
          </a:xfrm>
          <a:prstGeom prst="roundRect">
            <a:avLst/>
          </a:prstGeom>
          <a:solidFill>
            <a:srgbClr val="F6B30A">
              <a:alpha val="25000"/>
            </a:srgbClr>
          </a:solidFill>
          <a:ln w="635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مدل درآمدی</a:t>
            </a:r>
            <a:endParaRPr kumimoji="0" lang="en-US" sz="11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18" name="Rectangle: Rounded Corners 17">
            <a:extLst>
              <a:ext uri="{FF2B5EF4-FFF2-40B4-BE49-F238E27FC236}">
                <a16:creationId xmlns:a16="http://schemas.microsoft.com/office/drawing/2014/main" id="{832C77D5-38A8-CF3E-823A-DCF09C642EAB}"/>
              </a:ext>
            </a:extLst>
          </p:cNvPr>
          <p:cNvSpPr/>
          <p:nvPr/>
        </p:nvSpPr>
        <p:spPr>
          <a:xfrm>
            <a:off x="8421321" y="1842640"/>
            <a:ext cx="2263576" cy="541329"/>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حق‌الزحمه ثابت + کارمزد موفقیت (</a:t>
            </a:r>
            <a:r>
              <a:rPr kumimoji="0" lang="en-US" sz="11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Fixed Fee + Success Fee</a:t>
            </a:r>
            <a:r>
              <a:rPr kumimoji="0" lang="fa-IR" sz="11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a:t>
            </a:r>
            <a:endParaRPr kumimoji="0" lang="en-US" sz="11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44" name="Rectangle: Rounded Corners 43">
            <a:extLst>
              <a:ext uri="{FF2B5EF4-FFF2-40B4-BE49-F238E27FC236}">
                <a16:creationId xmlns:a16="http://schemas.microsoft.com/office/drawing/2014/main" id="{14C87215-23EE-6F3C-32EB-8F5A3A715072}"/>
              </a:ext>
            </a:extLst>
          </p:cNvPr>
          <p:cNvSpPr/>
          <p:nvPr/>
        </p:nvSpPr>
        <p:spPr>
          <a:xfrm>
            <a:off x="8421321" y="2433723"/>
            <a:ext cx="2263576" cy="541329"/>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پرداخت به‌ازای سرنخ / معرفی</a:t>
            </a:r>
            <a:endParaRPr kumimoji="0" lang="en-US" sz="11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 </a:t>
            </a:r>
            <a:r>
              <a:rPr kumimoji="0" lang="en-US" sz="8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(Pay-per-Lead / Pay-per-Introduction)</a:t>
            </a:r>
            <a:endParaRPr kumimoji="0" lang="en-US" sz="11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48" name="Rectangle: Rounded Corners 47">
            <a:extLst>
              <a:ext uri="{FF2B5EF4-FFF2-40B4-BE49-F238E27FC236}">
                <a16:creationId xmlns:a16="http://schemas.microsoft.com/office/drawing/2014/main" id="{6D2DCA45-C2F9-5C9B-789C-7F41A667F8A9}"/>
              </a:ext>
            </a:extLst>
          </p:cNvPr>
          <p:cNvSpPr/>
          <p:nvPr/>
        </p:nvSpPr>
        <p:spPr>
          <a:xfrm>
            <a:off x="8421321" y="3024806"/>
            <a:ext cx="2263576" cy="541329"/>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هزینه به‌ازای جلسه / تطبیق</a:t>
            </a:r>
            <a:endParaRPr kumimoji="0" lang="en-US" sz="11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(Per-Meeting / Per-Match Fee)</a:t>
            </a:r>
          </a:p>
        </p:txBody>
      </p:sp>
      <p:sp>
        <p:nvSpPr>
          <p:cNvPr id="52" name="Rectangle: Rounded Corners 51">
            <a:extLst>
              <a:ext uri="{FF2B5EF4-FFF2-40B4-BE49-F238E27FC236}">
                <a16:creationId xmlns:a16="http://schemas.microsoft.com/office/drawing/2014/main" id="{9C16446B-8FA2-ADA8-0DA2-BE8D1E8CE500}"/>
              </a:ext>
            </a:extLst>
          </p:cNvPr>
          <p:cNvSpPr/>
          <p:nvPr/>
        </p:nvSpPr>
        <p:spPr>
          <a:xfrm>
            <a:off x="8421321" y="3615889"/>
            <a:ext cx="2263576" cy="541329"/>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عضویت / اشتراک</a:t>
            </a:r>
            <a:endParaRPr kumimoji="0" lang="en-US" sz="11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(Membership / Subscription)</a:t>
            </a:r>
          </a:p>
        </p:txBody>
      </p:sp>
      <p:sp>
        <p:nvSpPr>
          <p:cNvPr id="56" name="Rectangle: Rounded Corners 55">
            <a:extLst>
              <a:ext uri="{FF2B5EF4-FFF2-40B4-BE49-F238E27FC236}">
                <a16:creationId xmlns:a16="http://schemas.microsoft.com/office/drawing/2014/main" id="{9DB330A8-FB99-18C2-1F17-D284918F7ECF}"/>
              </a:ext>
            </a:extLst>
          </p:cNvPr>
          <p:cNvSpPr/>
          <p:nvPr/>
        </p:nvSpPr>
        <p:spPr>
          <a:xfrm>
            <a:off x="8421321" y="4206972"/>
            <a:ext cx="2263576" cy="541329"/>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هزینه حضور / مشارکت در رویداد (</a:t>
            </a:r>
            <a:r>
              <a:rPr kumimoji="0" lang="en-US" sz="11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(Event / Participation Fee</a:t>
            </a:r>
          </a:p>
        </p:txBody>
      </p:sp>
      <p:sp>
        <p:nvSpPr>
          <p:cNvPr id="60" name="Rectangle: Rounded Corners 59">
            <a:extLst>
              <a:ext uri="{FF2B5EF4-FFF2-40B4-BE49-F238E27FC236}">
                <a16:creationId xmlns:a16="http://schemas.microsoft.com/office/drawing/2014/main" id="{867F4DC2-26C1-DDA7-290B-57BEEA5DB1B9}"/>
              </a:ext>
            </a:extLst>
          </p:cNvPr>
          <p:cNvSpPr/>
          <p:nvPr/>
        </p:nvSpPr>
        <p:spPr>
          <a:xfrm>
            <a:off x="8421321" y="4798055"/>
            <a:ext cx="2263576" cy="541329"/>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اسپانسرینگ / تبلیغات </a:t>
            </a:r>
            <a:r>
              <a:rPr kumimoji="0" lang="en-US" sz="11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(Sponsorship / Advertising)</a:t>
            </a:r>
          </a:p>
        </p:txBody>
      </p:sp>
      <p:sp>
        <p:nvSpPr>
          <p:cNvPr id="64" name="Rectangle: Rounded Corners 63">
            <a:extLst>
              <a:ext uri="{FF2B5EF4-FFF2-40B4-BE49-F238E27FC236}">
                <a16:creationId xmlns:a16="http://schemas.microsoft.com/office/drawing/2014/main" id="{1C56C538-77FF-36D3-F7A6-6F6361572898}"/>
              </a:ext>
            </a:extLst>
          </p:cNvPr>
          <p:cNvSpPr/>
          <p:nvPr/>
        </p:nvSpPr>
        <p:spPr>
          <a:xfrm>
            <a:off x="8421321" y="5389138"/>
            <a:ext cx="2263576" cy="541329"/>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قرارداد دولتی / کارمزد خدمات دولتی</a:t>
            </a:r>
            <a:endParaRPr kumimoji="0" lang="en-US" sz="105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(Government Contract / User Fee)</a:t>
            </a:r>
          </a:p>
        </p:txBody>
      </p:sp>
      <p:sp>
        <p:nvSpPr>
          <p:cNvPr id="26" name="Rectangle: Rounded Corners 25">
            <a:extLst>
              <a:ext uri="{FF2B5EF4-FFF2-40B4-BE49-F238E27FC236}">
                <a16:creationId xmlns:a16="http://schemas.microsoft.com/office/drawing/2014/main" id="{E6D42A30-8DD3-00F1-F6F1-DC6F082C9697}"/>
              </a:ext>
            </a:extLst>
          </p:cNvPr>
          <p:cNvSpPr/>
          <p:nvPr/>
        </p:nvSpPr>
        <p:spPr>
          <a:xfrm>
            <a:off x="6059620" y="1383528"/>
            <a:ext cx="2267712" cy="317371"/>
          </a:xfrm>
          <a:prstGeom prst="roundRect">
            <a:avLst/>
          </a:prstGeom>
          <a:solidFill>
            <a:srgbClr val="F6B30A">
              <a:alpha val="25000"/>
            </a:srgbClr>
          </a:solidFill>
          <a:ln w="635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نمونه واقعی</a:t>
            </a:r>
            <a:endParaRPr kumimoji="0" lang="en-US" sz="11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22" name="Rectangle: Rounded Corners 21">
            <a:extLst>
              <a:ext uri="{FF2B5EF4-FFF2-40B4-BE49-F238E27FC236}">
                <a16:creationId xmlns:a16="http://schemas.microsoft.com/office/drawing/2014/main" id="{F2A33F86-E98F-17AA-4687-0EB8BEC68B49}"/>
              </a:ext>
            </a:extLst>
          </p:cNvPr>
          <p:cNvSpPr/>
          <p:nvPr/>
        </p:nvSpPr>
        <p:spPr>
          <a:xfrm>
            <a:off x="6059623" y="1842639"/>
            <a:ext cx="2267712" cy="541329"/>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FOSS، Hispania، M&amp;A Advisory</a:t>
            </a:r>
            <a:endParaRPr kumimoji="0" lang="fa-IR" sz="9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45" name="Rectangle: Rounded Corners 44">
            <a:extLst>
              <a:ext uri="{FF2B5EF4-FFF2-40B4-BE49-F238E27FC236}">
                <a16:creationId xmlns:a16="http://schemas.microsoft.com/office/drawing/2014/main" id="{996286B0-0514-E654-8ED3-849E54AA6E31}"/>
              </a:ext>
            </a:extLst>
          </p:cNvPr>
          <p:cNvSpPr/>
          <p:nvPr/>
        </p:nvSpPr>
        <p:spPr>
          <a:xfrm>
            <a:off x="6059623" y="2433722"/>
            <a:ext cx="2267712" cy="541329"/>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err="1">
                <a:ln>
                  <a:noFill/>
                </a:ln>
                <a:solidFill>
                  <a:prstClr val="black">
                    <a:lumMod val="75000"/>
                    <a:lumOff val="25000"/>
                  </a:prstClr>
                </a:solidFill>
                <a:effectLst/>
                <a:uLnTx/>
                <a:uFillTx/>
                <a:latin typeface="Yekan Bakh" pitchFamily="2" charset="-78"/>
                <a:ea typeface="Yekan Bakh" pitchFamily="2" charset="-78"/>
                <a:cs typeface="Yekan Bakh" pitchFamily="2" charset="-78"/>
              </a:rPr>
              <a:t>FindLight</a:t>
            </a:r>
            <a:endParaRPr kumimoji="0" lang="fa-IR" sz="9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49" name="Rectangle: Rounded Corners 48">
            <a:extLst>
              <a:ext uri="{FF2B5EF4-FFF2-40B4-BE49-F238E27FC236}">
                <a16:creationId xmlns:a16="http://schemas.microsoft.com/office/drawing/2014/main" id="{51343B9A-B9C2-5342-14E4-2EA38EA3F7C4}"/>
              </a:ext>
            </a:extLst>
          </p:cNvPr>
          <p:cNvSpPr/>
          <p:nvPr/>
        </p:nvSpPr>
        <p:spPr>
          <a:xfrm>
            <a:off x="6059623" y="3024805"/>
            <a:ext cx="2267712" cy="541329"/>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U.S. Commercial Service / Trade Missions</a:t>
            </a:r>
            <a:endParaRPr kumimoji="0" lang="fa-IR" sz="9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53" name="Rectangle: Rounded Corners 52">
            <a:extLst>
              <a:ext uri="{FF2B5EF4-FFF2-40B4-BE49-F238E27FC236}">
                <a16:creationId xmlns:a16="http://schemas.microsoft.com/office/drawing/2014/main" id="{A5893C70-A820-F513-E04A-DAACD2ABEBB7}"/>
              </a:ext>
            </a:extLst>
          </p:cNvPr>
          <p:cNvSpPr/>
          <p:nvPr/>
        </p:nvSpPr>
        <p:spPr>
          <a:xfrm>
            <a:off x="6059623" y="3615888"/>
            <a:ext cx="2267712" cy="541329"/>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Chartered Institute</a:t>
            </a:r>
            <a:endParaRPr kumimoji="0" lang="fa-IR" sz="9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57" name="Rectangle: Rounded Corners 56">
            <a:extLst>
              <a:ext uri="{FF2B5EF4-FFF2-40B4-BE49-F238E27FC236}">
                <a16:creationId xmlns:a16="http://schemas.microsoft.com/office/drawing/2014/main" id="{CDA30649-8CD4-5251-CE92-E7ECAF417AFB}"/>
              </a:ext>
            </a:extLst>
          </p:cNvPr>
          <p:cNvSpPr/>
          <p:nvPr/>
        </p:nvSpPr>
        <p:spPr>
          <a:xfrm>
            <a:off x="6059623" y="4206971"/>
            <a:ext cx="2267712" cy="541329"/>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LCCUK / U.S. Commercial Service</a:t>
            </a:r>
            <a:endParaRPr kumimoji="0" lang="fa-IR" sz="9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61" name="Rectangle: Rounded Corners 60">
            <a:extLst>
              <a:ext uri="{FF2B5EF4-FFF2-40B4-BE49-F238E27FC236}">
                <a16:creationId xmlns:a16="http://schemas.microsoft.com/office/drawing/2014/main" id="{997F9DFA-D87A-01F0-07D6-A2278582035E}"/>
              </a:ext>
            </a:extLst>
          </p:cNvPr>
          <p:cNvSpPr/>
          <p:nvPr/>
        </p:nvSpPr>
        <p:spPr>
          <a:xfrm>
            <a:off x="6059623" y="4798054"/>
            <a:ext cx="2267712" cy="541329"/>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err="1">
                <a:ln>
                  <a:noFill/>
                </a:ln>
                <a:solidFill>
                  <a:prstClr val="black">
                    <a:lumMod val="75000"/>
                    <a:lumOff val="25000"/>
                  </a:prstClr>
                </a:solidFill>
                <a:effectLst/>
                <a:uLnTx/>
                <a:uFillTx/>
                <a:latin typeface="Yekan Bakh" pitchFamily="2" charset="-78"/>
                <a:ea typeface="Yekan Bakh" pitchFamily="2" charset="-78"/>
                <a:cs typeface="Yekan Bakh" pitchFamily="2" charset="-78"/>
              </a:rPr>
              <a:t>CenBiz</a:t>
            </a:r>
            <a:r>
              <a:rPr kumimoji="0" lang="en-US" sz="9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 Chartered Institute</a:t>
            </a:r>
            <a:endParaRPr kumimoji="0" lang="fa-IR" sz="9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65" name="Rectangle: Rounded Corners 64">
            <a:extLst>
              <a:ext uri="{FF2B5EF4-FFF2-40B4-BE49-F238E27FC236}">
                <a16:creationId xmlns:a16="http://schemas.microsoft.com/office/drawing/2014/main" id="{C0A09F78-5AFF-A1E9-0467-55DB1D314837}"/>
              </a:ext>
            </a:extLst>
          </p:cNvPr>
          <p:cNvSpPr/>
          <p:nvPr/>
        </p:nvSpPr>
        <p:spPr>
          <a:xfrm>
            <a:off x="6059623" y="5389137"/>
            <a:ext cx="2267712" cy="541329"/>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U.S. Commercial Service</a:t>
            </a:r>
            <a:endParaRPr kumimoji="0" lang="fa-IR" sz="9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20" name="Rectangle: Rounded Corners 19">
            <a:extLst>
              <a:ext uri="{FF2B5EF4-FFF2-40B4-BE49-F238E27FC236}">
                <a16:creationId xmlns:a16="http://schemas.microsoft.com/office/drawing/2014/main" id="{B313952F-2C40-39D3-993E-223333DD2AF4}"/>
              </a:ext>
            </a:extLst>
          </p:cNvPr>
          <p:cNvSpPr/>
          <p:nvPr/>
        </p:nvSpPr>
        <p:spPr>
          <a:xfrm>
            <a:off x="505144" y="1842640"/>
            <a:ext cx="5460489" cy="541329"/>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مشتری یک مبلغ پایه برای انجام خدمات پرداخت می‌کند و در صورت تحقق نتیجه مشخص، مبلغ یا درصد اضافه‌ای نیز پرداخت می‌شود.</a:t>
            </a:r>
          </a:p>
        </p:txBody>
      </p:sp>
      <p:sp>
        <p:nvSpPr>
          <p:cNvPr id="28" name="Rectangle: Rounded Corners 27">
            <a:extLst>
              <a:ext uri="{FF2B5EF4-FFF2-40B4-BE49-F238E27FC236}">
                <a16:creationId xmlns:a16="http://schemas.microsoft.com/office/drawing/2014/main" id="{59D73F04-E776-A342-3BB1-830EFD14F117}"/>
              </a:ext>
            </a:extLst>
          </p:cNvPr>
          <p:cNvSpPr/>
          <p:nvPr/>
        </p:nvSpPr>
        <p:spPr>
          <a:xfrm>
            <a:off x="505144" y="1383528"/>
            <a:ext cx="5460490" cy="317371"/>
          </a:xfrm>
          <a:prstGeom prst="roundRect">
            <a:avLst/>
          </a:prstGeom>
          <a:solidFill>
            <a:srgbClr val="F6B30A">
              <a:alpha val="25000"/>
            </a:srgbClr>
          </a:solidFill>
          <a:ln w="635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1" i="0" u="none" strike="noStrike" kern="1200" cap="none" spc="0" normalizeH="0" baseline="0" noProof="0">
                <a:ln>
                  <a:noFill/>
                </a:ln>
                <a:solidFill>
                  <a:prstClr val="black">
                    <a:lumMod val="75000"/>
                    <a:lumOff val="25000"/>
                  </a:prstClr>
                </a:solidFill>
                <a:effectLst/>
                <a:uLnTx/>
                <a:uFillTx/>
                <a:latin typeface="Yekan Bakh" pitchFamily="2" charset="-78"/>
                <a:ea typeface="Yekan Bakh" pitchFamily="2" charset="-78"/>
                <a:cs typeface="Yekan Bakh" pitchFamily="2" charset="-78"/>
              </a:rPr>
              <a:t>منطق درآمد</a:t>
            </a:r>
            <a:endParaRPr kumimoji="0" lang="en-US" sz="11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46" name="Rectangle: Rounded Corners 45">
            <a:extLst>
              <a:ext uri="{FF2B5EF4-FFF2-40B4-BE49-F238E27FC236}">
                <a16:creationId xmlns:a16="http://schemas.microsoft.com/office/drawing/2014/main" id="{58F40DBE-523E-D0D5-E5EE-5F8684F844F5}"/>
              </a:ext>
            </a:extLst>
          </p:cNvPr>
          <p:cNvSpPr/>
          <p:nvPr/>
        </p:nvSpPr>
        <p:spPr>
          <a:xfrm>
            <a:off x="505144" y="2433723"/>
            <a:ext cx="5460489" cy="541329"/>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مشتری به‌جای پرداخت هزینه ثابت، به‌ازای هر سرنخ تجاری واجد شرایط یا هر معرفی معتبر هزینه پرداخت می‌کند.</a:t>
            </a:r>
          </a:p>
        </p:txBody>
      </p:sp>
      <p:sp>
        <p:nvSpPr>
          <p:cNvPr id="50" name="Rectangle: Rounded Corners 49">
            <a:extLst>
              <a:ext uri="{FF2B5EF4-FFF2-40B4-BE49-F238E27FC236}">
                <a16:creationId xmlns:a16="http://schemas.microsoft.com/office/drawing/2014/main" id="{08681980-0B3C-D615-9591-1D48225F883E}"/>
              </a:ext>
            </a:extLst>
          </p:cNvPr>
          <p:cNvSpPr/>
          <p:nvPr/>
        </p:nvSpPr>
        <p:spPr>
          <a:xfrm>
            <a:off x="505144" y="3024806"/>
            <a:ext cx="5460489" cy="541329"/>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مشتری برای هر جلسه </a:t>
            </a:r>
            <a:r>
              <a:rPr kumimoji="0" lang="en-US" sz="9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B2B، </a:t>
            </a:r>
            <a:r>
              <a:rPr kumimoji="0" lang="fa-IR" sz="9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تطبیق تجاری یا مجموعه مشخصی از جلسات و تطبیق‌ها مبلغ مشخصی پرداخت می‌کند.</a:t>
            </a:r>
          </a:p>
        </p:txBody>
      </p:sp>
      <p:sp>
        <p:nvSpPr>
          <p:cNvPr id="54" name="Rectangle: Rounded Corners 53">
            <a:extLst>
              <a:ext uri="{FF2B5EF4-FFF2-40B4-BE49-F238E27FC236}">
                <a16:creationId xmlns:a16="http://schemas.microsoft.com/office/drawing/2014/main" id="{5ADBE585-C8FC-4209-F32E-FC91A1B0F97B}"/>
              </a:ext>
            </a:extLst>
          </p:cNvPr>
          <p:cNvSpPr/>
          <p:nvPr/>
        </p:nvSpPr>
        <p:spPr>
          <a:xfrm>
            <a:off x="505144" y="3615889"/>
            <a:ext cx="5460489" cy="541329"/>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مشتری با پرداخت حق عضویت دوره‌ای، به شبکه، تخصص، خدمات و فرصت‌های تجاری دسترسی پیدا می‌کند.</a:t>
            </a:r>
          </a:p>
        </p:txBody>
      </p:sp>
      <p:sp>
        <p:nvSpPr>
          <p:cNvPr id="58" name="Rectangle: Rounded Corners 57">
            <a:extLst>
              <a:ext uri="{FF2B5EF4-FFF2-40B4-BE49-F238E27FC236}">
                <a16:creationId xmlns:a16="http://schemas.microsoft.com/office/drawing/2014/main" id="{FE38E4AA-5A60-28F9-07F9-40C39AC907CA}"/>
              </a:ext>
            </a:extLst>
          </p:cNvPr>
          <p:cNvSpPr/>
          <p:nvPr/>
        </p:nvSpPr>
        <p:spPr>
          <a:xfrm>
            <a:off x="505144" y="4206972"/>
            <a:ext cx="5460489" cy="541329"/>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شرکت برای حضور در یک رویداد، هیئت تجاری، نمایشگاه یا برنامه</a:t>
            </a:r>
            <a:r>
              <a:rPr kumimoji="0" lang="en-US" sz="9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B2B </a:t>
            </a:r>
            <a:r>
              <a:rPr kumimoji="0" lang="fa-IR" sz="9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 مبلغ مشخصی پرداخت می‌کند.</a:t>
            </a:r>
          </a:p>
        </p:txBody>
      </p:sp>
      <p:sp>
        <p:nvSpPr>
          <p:cNvPr id="62" name="Rectangle: Rounded Corners 61">
            <a:extLst>
              <a:ext uri="{FF2B5EF4-FFF2-40B4-BE49-F238E27FC236}">
                <a16:creationId xmlns:a16="http://schemas.microsoft.com/office/drawing/2014/main" id="{6905B020-0B4A-7B00-A73A-59A7C21EB335}"/>
              </a:ext>
            </a:extLst>
          </p:cNvPr>
          <p:cNvSpPr/>
          <p:nvPr/>
        </p:nvSpPr>
        <p:spPr>
          <a:xfrm>
            <a:off x="505144" y="4798055"/>
            <a:ext cx="5460489" cy="541329"/>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یک شرکت یا شخص ثالث برای دسترسی به مخاطبان، خریداران یا تصمیم‌گیرندگان شبکه، بابت تبلیغات یا حمایت مالی هزینه پرداخت می‌کند.</a:t>
            </a:r>
          </a:p>
        </p:txBody>
      </p:sp>
      <p:sp>
        <p:nvSpPr>
          <p:cNvPr id="66" name="Rectangle: Rounded Corners 65">
            <a:extLst>
              <a:ext uri="{FF2B5EF4-FFF2-40B4-BE49-F238E27FC236}">
                <a16:creationId xmlns:a16="http://schemas.microsoft.com/office/drawing/2014/main" id="{C4D908BC-6E5D-A084-FE94-33D661EBEE31}"/>
              </a:ext>
            </a:extLst>
          </p:cNvPr>
          <p:cNvSpPr/>
          <p:nvPr/>
        </p:nvSpPr>
        <p:spPr>
          <a:xfrm>
            <a:off x="505144" y="5389138"/>
            <a:ext cx="5460489" cy="541329"/>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دولت یا یک نهاد عمومی هزینه ارائه خدمت را تأمین می‌کند یا از شرکت دریافت‌کننده خدمت، کارمزد مشخصی دریافت می‌شود.</a:t>
            </a:r>
          </a:p>
        </p:txBody>
      </p:sp>
      <p:sp>
        <p:nvSpPr>
          <p:cNvPr id="72" name="Rectangle: Rounded Corners 71">
            <a:extLst>
              <a:ext uri="{FF2B5EF4-FFF2-40B4-BE49-F238E27FC236}">
                <a16:creationId xmlns:a16="http://schemas.microsoft.com/office/drawing/2014/main" id="{D4B81884-6FAC-AE91-4337-B9EEF99F3CDB}"/>
              </a:ext>
            </a:extLst>
          </p:cNvPr>
          <p:cNvSpPr/>
          <p:nvPr/>
        </p:nvSpPr>
        <p:spPr>
          <a:xfrm>
            <a:off x="10783021" y="1393125"/>
            <a:ext cx="458012" cy="317371"/>
          </a:xfrm>
          <a:prstGeom prst="roundRect">
            <a:avLst/>
          </a:prstGeom>
          <a:solidFill>
            <a:srgbClr val="F6B30A">
              <a:alpha val="25000"/>
            </a:srgbClr>
          </a:solidFill>
          <a:ln w="635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a:t>
            </a:r>
          </a:p>
        </p:txBody>
      </p:sp>
      <p:sp>
        <p:nvSpPr>
          <p:cNvPr id="73" name="Rectangle: Rounded Corners 72">
            <a:extLst>
              <a:ext uri="{FF2B5EF4-FFF2-40B4-BE49-F238E27FC236}">
                <a16:creationId xmlns:a16="http://schemas.microsoft.com/office/drawing/2014/main" id="{6876A4A7-079C-F106-7BB7-5E3FC25DEC3E}"/>
              </a:ext>
            </a:extLst>
          </p:cNvPr>
          <p:cNvSpPr/>
          <p:nvPr/>
        </p:nvSpPr>
        <p:spPr>
          <a:xfrm>
            <a:off x="10783020" y="1842640"/>
            <a:ext cx="457177" cy="541329"/>
          </a:xfrm>
          <a:prstGeom prst="roundRect">
            <a:avLst>
              <a:gd name="adj" fmla="val 9524"/>
            </a:avLst>
          </a:prstGeom>
          <a:solidFill>
            <a:srgbClr val="F6B30A">
              <a:alpha val="2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6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۸</a:t>
            </a:r>
            <a:endParaRPr kumimoji="0" lang="en-US" sz="16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74" name="Rectangle: Rounded Corners 73">
            <a:extLst>
              <a:ext uri="{FF2B5EF4-FFF2-40B4-BE49-F238E27FC236}">
                <a16:creationId xmlns:a16="http://schemas.microsoft.com/office/drawing/2014/main" id="{4CEDC1E4-E62D-A8FF-C017-10FB6CA53E06}"/>
              </a:ext>
            </a:extLst>
          </p:cNvPr>
          <p:cNvSpPr/>
          <p:nvPr/>
        </p:nvSpPr>
        <p:spPr>
          <a:xfrm>
            <a:off x="10783020" y="2433723"/>
            <a:ext cx="457177" cy="541329"/>
          </a:xfrm>
          <a:prstGeom prst="roundRect">
            <a:avLst>
              <a:gd name="adj" fmla="val 9524"/>
            </a:avLst>
          </a:prstGeom>
          <a:solidFill>
            <a:srgbClr val="F6B30A">
              <a:alpha val="2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6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۹</a:t>
            </a:r>
            <a:endParaRPr kumimoji="0" lang="en-US" sz="16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75" name="Rectangle: Rounded Corners 74">
            <a:extLst>
              <a:ext uri="{FF2B5EF4-FFF2-40B4-BE49-F238E27FC236}">
                <a16:creationId xmlns:a16="http://schemas.microsoft.com/office/drawing/2014/main" id="{F3BF03DB-6D0C-82CB-E6BF-F274F7465A5F}"/>
              </a:ext>
            </a:extLst>
          </p:cNvPr>
          <p:cNvSpPr/>
          <p:nvPr/>
        </p:nvSpPr>
        <p:spPr>
          <a:xfrm>
            <a:off x="10783020" y="3024806"/>
            <a:ext cx="457177" cy="541329"/>
          </a:xfrm>
          <a:prstGeom prst="roundRect">
            <a:avLst>
              <a:gd name="adj" fmla="val 9524"/>
            </a:avLst>
          </a:prstGeom>
          <a:solidFill>
            <a:srgbClr val="F6B30A">
              <a:alpha val="2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6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۱۰</a:t>
            </a:r>
            <a:endParaRPr kumimoji="0" lang="en-US" sz="16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76" name="Rectangle: Rounded Corners 75">
            <a:extLst>
              <a:ext uri="{FF2B5EF4-FFF2-40B4-BE49-F238E27FC236}">
                <a16:creationId xmlns:a16="http://schemas.microsoft.com/office/drawing/2014/main" id="{818175A7-30D9-9337-46FF-6B67E295F0E1}"/>
              </a:ext>
            </a:extLst>
          </p:cNvPr>
          <p:cNvSpPr/>
          <p:nvPr/>
        </p:nvSpPr>
        <p:spPr>
          <a:xfrm>
            <a:off x="10783020" y="3615889"/>
            <a:ext cx="457177" cy="541329"/>
          </a:xfrm>
          <a:prstGeom prst="roundRect">
            <a:avLst>
              <a:gd name="adj" fmla="val 9524"/>
            </a:avLst>
          </a:prstGeom>
          <a:solidFill>
            <a:srgbClr val="F6B30A">
              <a:alpha val="2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6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۱۱</a:t>
            </a:r>
            <a:endParaRPr kumimoji="0" lang="en-US" sz="16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77" name="Rectangle: Rounded Corners 76">
            <a:extLst>
              <a:ext uri="{FF2B5EF4-FFF2-40B4-BE49-F238E27FC236}">
                <a16:creationId xmlns:a16="http://schemas.microsoft.com/office/drawing/2014/main" id="{E3F1C3AA-1E35-0C8D-3921-B846A1CE5D28}"/>
              </a:ext>
            </a:extLst>
          </p:cNvPr>
          <p:cNvSpPr/>
          <p:nvPr/>
        </p:nvSpPr>
        <p:spPr>
          <a:xfrm>
            <a:off x="10783020" y="4206972"/>
            <a:ext cx="457177" cy="541329"/>
          </a:xfrm>
          <a:prstGeom prst="roundRect">
            <a:avLst>
              <a:gd name="adj" fmla="val 9524"/>
            </a:avLst>
          </a:prstGeom>
          <a:solidFill>
            <a:srgbClr val="F6B30A">
              <a:alpha val="2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6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۱۲</a:t>
            </a:r>
            <a:endParaRPr kumimoji="0" lang="en-US" sz="16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78" name="Rectangle: Rounded Corners 77">
            <a:extLst>
              <a:ext uri="{FF2B5EF4-FFF2-40B4-BE49-F238E27FC236}">
                <a16:creationId xmlns:a16="http://schemas.microsoft.com/office/drawing/2014/main" id="{670B0EB7-4370-9C87-11BF-9A2D3E12E1B8}"/>
              </a:ext>
            </a:extLst>
          </p:cNvPr>
          <p:cNvSpPr/>
          <p:nvPr/>
        </p:nvSpPr>
        <p:spPr>
          <a:xfrm>
            <a:off x="10783020" y="4798055"/>
            <a:ext cx="457177" cy="541329"/>
          </a:xfrm>
          <a:prstGeom prst="roundRect">
            <a:avLst>
              <a:gd name="adj" fmla="val 9524"/>
            </a:avLst>
          </a:prstGeom>
          <a:solidFill>
            <a:srgbClr val="F6B30A">
              <a:alpha val="2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6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۱۳</a:t>
            </a:r>
            <a:endParaRPr kumimoji="0" lang="en-US" sz="16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79" name="Rectangle: Rounded Corners 78">
            <a:extLst>
              <a:ext uri="{FF2B5EF4-FFF2-40B4-BE49-F238E27FC236}">
                <a16:creationId xmlns:a16="http://schemas.microsoft.com/office/drawing/2014/main" id="{1A084863-B9F6-4046-BCEC-B0380E4D7AB4}"/>
              </a:ext>
            </a:extLst>
          </p:cNvPr>
          <p:cNvSpPr/>
          <p:nvPr/>
        </p:nvSpPr>
        <p:spPr>
          <a:xfrm>
            <a:off x="10783020" y="5389138"/>
            <a:ext cx="457177" cy="541329"/>
          </a:xfrm>
          <a:prstGeom prst="roundRect">
            <a:avLst>
              <a:gd name="adj" fmla="val 9524"/>
            </a:avLst>
          </a:prstGeom>
          <a:solidFill>
            <a:srgbClr val="F6B30A">
              <a:alpha val="2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6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۱۴</a:t>
            </a:r>
            <a:endParaRPr kumimoji="0" lang="en-US" sz="16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Tree>
    <p:extLst>
      <p:ext uri="{BB962C8B-B14F-4D97-AF65-F5344CB8AC3E}">
        <p14:creationId xmlns:p14="http://schemas.microsoft.com/office/powerpoint/2010/main" val="9284225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4BECC10-E2AD-DA1C-10AF-23BE2802A7F9}"/>
              </a:ext>
            </a:extLst>
          </p:cNvPr>
          <p:cNvSpPr>
            <a:spLocks noGrp="1"/>
          </p:cNvSpPr>
          <p:nvPr>
            <p:ph type="body" sz="quarter" idx="10"/>
          </p:nvPr>
        </p:nvSpPr>
        <p:spPr/>
        <p:txBody>
          <a:bodyPr/>
          <a:lstStyle/>
          <a:p>
            <a:endParaRPr lang="en-GB"/>
          </a:p>
        </p:txBody>
      </p:sp>
      <p:sp>
        <p:nvSpPr>
          <p:cNvPr id="3" name="Text Placeholder 2">
            <a:extLst>
              <a:ext uri="{FF2B5EF4-FFF2-40B4-BE49-F238E27FC236}">
                <a16:creationId xmlns:a16="http://schemas.microsoft.com/office/drawing/2014/main" id="{F0E28F4D-46DC-3C32-014B-EBB32EFE3490}"/>
              </a:ext>
            </a:extLst>
          </p:cNvPr>
          <p:cNvSpPr>
            <a:spLocks noGrp="1"/>
          </p:cNvSpPr>
          <p:nvPr>
            <p:ph type="body" sz="quarter" idx="12"/>
          </p:nvPr>
        </p:nvSpPr>
        <p:spPr/>
        <p:txBody>
          <a:bodyPr/>
          <a:lstStyle/>
          <a:p>
            <a:r>
              <a:rPr lang="fa-IR" dirty="0"/>
              <a:t>ارزش پیشنهادی/۱</a:t>
            </a:r>
          </a:p>
        </p:txBody>
      </p:sp>
      <p:sp>
        <p:nvSpPr>
          <p:cNvPr id="5" name="Rectangle: Rounded Corners 4">
            <a:extLst>
              <a:ext uri="{FF2B5EF4-FFF2-40B4-BE49-F238E27FC236}">
                <a16:creationId xmlns:a16="http://schemas.microsoft.com/office/drawing/2014/main" id="{25952A95-4A98-F18D-D66A-5030D84B509F}"/>
              </a:ext>
            </a:extLst>
          </p:cNvPr>
          <p:cNvSpPr/>
          <p:nvPr/>
        </p:nvSpPr>
        <p:spPr>
          <a:xfrm>
            <a:off x="10508105" y="1439563"/>
            <a:ext cx="736187" cy="840931"/>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9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شرکت / مدل</a:t>
            </a:r>
            <a:endParaRPr kumimoji="0" lang="en-US" sz="9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7" name="Isosceles Triangle 6">
            <a:extLst>
              <a:ext uri="{FF2B5EF4-FFF2-40B4-BE49-F238E27FC236}">
                <a16:creationId xmlns:a16="http://schemas.microsoft.com/office/drawing/2014/main" id="{1B55C4C1-F8B5-1934-C758-82D3B0160C80}"/>
              </a:ext>
            </a:extLst>
          </p:cNvPr>
          <p:cNvSpPr/>
          <p:nvPr/>
        </p:nvSpPr>
        <p:spPr>
          <a:xfrm rot="16200000">
            <a:off x="9986455" y="1788824"/>
            <a:ext cx="840931" cy="142409"/>
          </a:xfrm>
          <a:prstGeom prst="triangle">
            <a:avLst/>
          </a:prstGeom>
          <a:solidFill>
            <a:srgbClr val="F6B30A">
              <a:alpha val="3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prstClr val="white"/>
              </a:solidFill>
              <a:effectLst/>
              <a:uLnTx/>
              <a:uFillTx/>
              <a:latin typeface="Calibri"/>
              <a:ea typeface="+mn-ea"/>
              <a:cs typeface="Calibri"/>
            </a:endParaRPr>
          </a:p>
        </p:txBody>
      </p:sp>
      <p:sp>
        <p:nvSpPr>
          <p:cNvPr id="9" name="Rectangle: Rounded Corners 8">
            <a:extLst>
              <a:ext uri="{FF2B5EF4-FFF2-40B4-BE49-F238E27FC236}">
                <a16:creationId xmlns:a16="http://schemas.microsoft.com/office/drawing/2014/main" id="{A9D23B3C-B646-9D53-A359-F3D633055C8D}"/>
              </a:ext>
            </a:extLst>
          </p:cNvPr>
          <p:cNvSpPr/>
          <p:nvPr/>
        </p:nvSpPr>
        <p:spPr>
          <a:xfrm>
            <a:off x="10508105" y="2314411"/>
            <a:ext cx="736187" cy="837694"/>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9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طرفین تطبیق</a:t>
            </a:r>
            <a:endParaRPr kumimoji="0" lang="en-US" sz="9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11" name="Isosceles Triangle 10">
            <a:extLst>
              <a:ext uri="{FF2B5EF4-FFF2-40B4-BE49-F238E27FC236}">
                <a16:creationId xmlns:a16="http://schemas.microsoft.com/office/drawing/2014/main" id="{CC064686-A94B-489C-B8AD-BA5DD467B539}"/>
              </a:ext>
            </a:extLst>
          </p:cNvPr>
          <p:cNvSpPr/>
          <p:nvPr/>
        </p:nvSpPr>
        <p:spPr>
          <a:xfrm rot="16200000">
            <a:off x="9986455" y="2663672"/>
            <a:ext cx="840931" cy="142409"/>
          </a:xfrm>
          <a:prstGeom prst="triangle">
            <a:avLst/>
          </a:prstGeom>
          <a:solidFill>
            <a:srgbClr val="F6B30A">
              <a:alpha val="3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3" name="Rectangle: Rounded Corners 12">
            <a:extLst>
              <a:ext uri="{FF2B5EF4-FFF2-40B4-BE49-F238E27FC236}">
                <a16:creationId xmlns:a16="http://schemas.microsoft.com/office/drawing/2014/main" id="{D091845E-A3B0-74F7-96FB-3BFF21A984A3}"/>
              </a:ext>
            </a:extLst>
          </p:cNvPr>
          <p:cNvSpPr/>
          <p:nvPr/>
        </p:nvSpPr>
        <p:spPr>
          <a:xfrm>
            <a:off x="10508105" y="3187641"/>
            <a:ext cx="736187" cy="1320964"/>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9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گزاره کلیدی ارزش پیشنهادی</a:t>
            </a:r>
            <a:endParaRPr kumimoji="0" lang="en-US" sz="9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15" name="Isosceles Triangle 14">
            <a:extLst>
              <a:ext uri="{FF2B5EF4-FFF2-40B4-BE49-F238E27FC236}">
                <a16:creationId xmlns:a16="http://schemas.microsoft.com/office/drawing/2014/main" id="{BAD5AC06-851F-CFBD-368C-41E71578CEBA}"/>
              </a:ext>
            </a:extLst>
          </p:cNvPr>
          <p:cNvSpPr/>
          <p:nvPr/>
        </p:nvSpPr>
        <p:spPr>
          <a:xfrm rot="16200000">
            <a:off x="9746439" y="3776917"/>
            <a:ext cx="1320963" cy="142409"/>
          </a:xfrm>
          <a:prstGeom prst="triangle">
            <a:avLst/>
          </a:prstGeom>
          <a:solidFill>
            <a:srgbClr val="F6B30A">
              <a:alpha val="3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7" name="Rectangle: Rounded Corners 16">
            <a:extLst>
              <a:ext uri="{FF2B5EF4-FFF2-40B4-BE49-F238E27FC236}">
                <a16:creationId xmlns:a16="http://schemas.microsoft.com/office/drawing/2014/main" id="{59E553C0-F8E6-9624-5F82-5A8063D5B38E}"/>
              </a:ext>
            </a:extLst>
          </p:cNvPr>
          <p:cNvSpPr/>
          <p:nvPr/>
        </p:nvSpPr>
        <p:spPr>
          <a:xfrm>
            <a:off x="10508105" y="4540905"/>
            <a:ext cx="736187" cy="1325880"/>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9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مسئله‌ای که عملاً برای مشتری حل می‌کند</a:t>
            </a:r>
            <a:endParaRPr kumimoji="0" lang="en-US" sz="9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19" name="Isosceles Triangle 18">
            <a:extLst>
              <a:ext uri="{FF2B5EF4-FFF2-40B4-BE49-F238E27FC236}">
                <a16:creationId xmlns:a16="http://schemas.microsoft.com/office/drawing/2014/main" id="{C361E4AE-669B-5B88-F157-3B06DA5C27B2}"/>
              </a:ext>
            </a:extLst>
          </p:cNvPr>
          <p:cNvSpPr/>
          <p:nvPr/>
        </p:nvSpPr>
        <p:spPr>
          <a:xfrm rot="16200000">
            <a:off x="9746439" y="5130181"/>
            <a:ext cx="1320963" cy="142409"/>
          </a:xfrm>
          <a:prstGeom prst="triangle">
            <a:avLst/>
          </a:prstGeom>
          <a:solidFill>
            <a:srgbClr val="F6B30A">
              <a:alpha val="3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21" name="Rectangle: Rounded Corners 20">
            <a:extLst>
              <a:ext uri="{FF2B5EF4-FFF2-40B4-BE49-F238E27FC236}">
                <a16:creationId xmlns:a16="http://schemas.microsoft.com/office/drawing/2014/main" id="{155EE814-5C1A-381A-9906-433F779E71C6}"/>
              </a:ext>
            </a:extLst>
          </p:cNvPr>
          <p:cNvSpPr/>
          <p:nvPr/>
        </p:nvSpPr>
        <p:spPr>
          <a:xfrm>
            <a:off x="9367648" y="1470696"/>
            <a:ext cx="903319" cy="840931"/>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Enterprise Europe Network (EEN)</a:t>
            </a:r>
          </a:p>
        </p:txBody>
      </p:sp>
      <p:sp>
        <p:nvSpPr>
          <p:cNvPr id="23" name="Rectangle: Rounded Corners 22">
            <a:extLst>
              <a:ext uri="{FF2B5EF4-FFF2-40B4-BE49-F238E27FC236}">
                <a16:creationId xmlns:a16="http://schemas.microsoft.com/office/drawing/2014/main" id="{2D4B7C84-2F21-3DB4-0886-B6883ECD197C}"/>
              </a:ext>
            </a:extLst>
          </p:cNvPr>
          <p:cNvSpPr/>
          <p:nvPr/>
        </p:nvSpPr>
        <p:spPr>
          <a:xfrm>
            <a:off x="9367648" y="2343925"/>
            <a:ext cx="903319" cy="840931"/>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50000"/>
              </a:lnSpc>
              <a:spcBef>
                <a:spcPts val="0"/>
              </a:spcBef>
              <a:spcAft>
                <a:spcPts val="0"/>
              </a:spcAft>
              <a:buClrTx/>
              <a:buSzTx/>
              <a:buFontTx/>
              <a:buNone/>
              <a:tabLst/>
              <a:defRPr/>
            </a:pPr>
            <a:r>
              <a:rPr kumimoji="0" lang="fa-IR" sz="7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شرکت ↔ شرکت / شریک تجاری</a:t>
            </a:r>
            <a:endParaRPr kumimoji="0" lang="en-US" sz="7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25" name="Rectangle: Rounded Corners 24">
            <a:extLst>
              <a:ext uri="{FF2B5EF4-FFF2-40B4-BE49-F238E27FC236}">
                <a16:creationId xmlns:a16="http://schemas.microsoft.com/office/drawing/2014/main" id="{1D9E71E2-C084-4D8D-61A8-C068C9510B7F}"/>
              </a:ext>
            </a:extLst>
          </p:cNvPr>
          <p:cNvSpPr/>
          <p:nvPr/>
        </p:nvSpPr>
        <p:spPr>
          <a:xfrm>
            <a:off x="9367648" y="3218773"/>
            <a:ext cx="903319" cy="1320963"/>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50000"/>
              </a:lnSpc>
              <a:spcBef>
                <a:spcPts val="0"/>
              </a:spcBef>
              <a:spcAft>
                <a:spcPts val="0"/>
              </a:spcAft>
              <a:buClrTx/>
              <a:buSzTx/>
              <a:buFontTx/>
              <a:buNone/>
              <a:tabLst/>
              <a:defRPr/>
            </a:pPr>
            <a:r>
              <a:rPr kumimoji="0" lang="fa-IR" sz="7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یافتن شریک تجاری بین‌المللی و کمک به شرکت‌ها برای ورود به بازارهای جدید</a:t>
            </a:r>
            <a:endParaRPr kumimoji="0" lang="en-US" sz="7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27" name="Rectangle: Rounded Corners 26">
            <a:extLst>
              <a:ext uri="{FF2B5EF4-FFF2-40B4-BE49-F238E27FC236}">
                <a16:creationId xmlns:a16="http://schemas.microsoft.com/office/drawing/2014/main" id="{96F136CF-83C3-695F-E18D-4F85553E8E8D}"/>
              </a:ext>
            </a:extLst>
          </p:cNvPr>
          <p:cNvSpPr/>
          <p:nvPr/>
        </p:nvSpPr>
        <p:spPr>
          <a:xfrm>
            <a:off x="9367648" y="4572037"/>
            <a:ext cx="903319" cy="1320963"/>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50000"/>
              </a:lnSpc>
              <a:spcBef>
                <a:spcPts val="0"/>
              </a:spcBef>
              <a:spcAft>
                <a:spcPts val="0"/>
              </a:spcAft>
              <a:buClrTx/>
              <a:buSzTx/>
              <a:buFontTx/>
              <a:buNone/>
              <a:tabLst/>
              <a:defRPr/>
            </a:pPr>
            <a:r>
              <a:rPr kumimoji="0" lang="fa-IR" sz="7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کاهش زمان و دشواری یافتن شریک معتبر خارجی و فراهم‌کردن دسترسی به شبکه‌ای از شرکای بالقوه</a:t>
            </a:r>
            <a:endParaRPr kumimoji="0" lang="en-US" sz="7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29" name="Rectangle: Rounded Corners 28">
            <a:extLst>
              <a:ext uri="{FF2B5EF4-FFF2-40B4-BE49-F238E27FC236}">
                <a16:creationId xmlns:a16="http://schemas.microsoft.com/office/drawing/2014/main" id="{0AE05E5A-1648-F80E-F268-A57F8DEF82B9}"/>
              </a:ext>
            </a:extLst>
          </p:cNvPr>
          <p:cNvSpPr/>
          <p:nvPr/>
        </p:nvSpPr>
        <p:spPr>
          <a:xfrm>
            <a:off x="9317381" y="1358994"/>
            <a:ext cx="1003853" cy="4587384"/>
          </a:xfrm>
          <a:prstGeom prst="roundRect">
            <a:avLst>
              <a:gd name="adj" fmla="val 7404"/>
            </a:avLst>
          </a:prstGeom>
          <a:noFill/>
          <a:ln w="6350">
            <a:solidFill>
              <a:srgbClr val="F6B30A"/>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31" name="Rectangle 30">
            <a:extLst>
              <a:ext uri="{FF2B5EF4-FFF2-40B4-BE49-F238E27FC236}">
                <a16:creationId xmlns:a16="http://schemas.microsoft.com/office/drawing/2014/main" id="{80C3B924-8FFF-382B-1B4B-5688E71BB253}"/>
              </a:ext>
            </a:extLst>
          </p:cNvPr>
          <p:cNvSpPr/>
          <p:nvPr/>
        </p:nvSpPr>
        <p:spPr>
          <a:xfrm>
            <a:off x="9677920" y="1303662"/>
            <a:ext cx="282774" cy="1474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prstClr val="white"/>
              </a:solidFill>
              <a:effectLst/>
              <a:uLnTx/>
              <a:uFillTx/>
              <a:latin typeface="Calibri"/>
              <a:ea typeface="+mn-ea"/>
              <a:cs typeface="Calibri"/>
            </a:endParaRPr>
          </a:p>
        </p:txBody>
      </p:sp>
      <p:sp>
        <p:nvSpPr>
          <p:cNvPr id="33" name="TextBox 32">
            <a:extLst>
              <a:ext uri="{FF2B5EF4-FFF2-40B4-BE49-F238E27FC236}">
                <a16:creationId xmlns:a16="http://schemas.microsoft.com/office/drawing/2014/main" id="{341DFBD5-7769-FE15-9712-F7C7B5C63E47}"/>
              </a:ext>
            </a:extLst>
          </p:cNvPr>
          <p:cNvSpPr txBox="1"/>
          <p:nvPr/>
        </p:nvSpPr>
        <p:spPr>
          <a:xfrm>
            <a:off x="9677920" y="1194438"/>
            <a:ext cx="282774" cy="369332"/>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800" b="1" i="0" u="none" strike="noStrike" kern="1200" cap="none" spc="0" normalizeH="0" baseline="0" noProof="0" dirty="0">
                <a:ln>
                  <a:noFill/>
                </a:ln>
                <a:solidFill>
                  <a:srgbClr val="FDBF03"/>
                </a:solidFill>
                <a:effectLst/>
                <a:uLnTx/>
                <a:uFillTx/>
                <a:latin typeface="Yekan Bakh" pitchFamily="2" charset="-78"/>
                <a:ea typeface="Yekan Bakh" pitchFamily="2" charset="-78"/>
                <a:cs typeface="Yekan Bakh" pitchFamily="2" charset="-78"/>
              </a:rPr>
              <a:t>۱</a:t>
            </a:r>
            <a:endParaRPr kumimoji="0" lang="en-GB" sz="1800" b="1" i="0" u="none" strike="noStrike" kern="1200" cap="none" spc="0" normalizeH="0" baseline="0" noProof="0" dirty="0">
              <a:ln>
                <a:noFill/>
              </a:ln>
              <a:solidFill>
                <a:srgbClr val="FDBF03"/>
              </a:solidFill>
              <a:effectLst/>
              <a:uLnTx/>
              <a:uFillTx/>
              <a:latin typeface="Yekan Bakh" pitchFamily="2" charset="-78"/>
              <a:ea typeface="Yekan Bakh" pitchFamily="2" charset="-78"/>
              <a:cs typeface="Yekan Bakh" pitchFamily="2" charset="-78"/>
            </a:endParaRPr>
          </a:p>
        </p:txBody>
      </p:sp>
      <p:sp>
        <p:nvSpPr>
          <p:cNvPr id="35" name="Rectangle: Rounded Corners 34">
            <a:extLst>
              <a:ext uri="{FF2B5EF4-FFF2-40B4-BE49-F238E27FC236}">
                <a16:creationId xmlns:a16="http://schemas.microsoft.com/office/drawing/2014/main" id="{DE660FBE-7671-851C-6999-B29A5F05EC22}"/>
              </a:ext>
            </a:extLst>
          </p:cNvPr>
          <p:cNvSpPr/>
          <p:nvPr/>
        </p:nvSpPr>
        <p:spPr>
          <a:xfrm>
            <a:off x="8260320" y="1470696"/>
            <a:ext cx="903319" cy="840931"/>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U.S. Commercial Service – </a:t>
            </a:r>
            <a:r>
              <a:rPr kumimoji="0" lang="fa-IR" sz="8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جست‌وجوی شریک بین‌المللی</a:t>
            </a:r>
            <a:endParaRPr kumimoji="0" lang="en-US" sz="8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37" name="Rectangle: Rounded Corners 36">
            <a:extLst>
              <a:ext uri="{FF2B5EF4-FFF2-40B4-BE49-F238E27FC236}">
                <a16:creationId xmlns:a16="http://schemas.microsoft.com/office/drawing/2014/main" id="{6ADBEA6F-1E10-440D-4478-BC378EB8319F}"/>
              </a:ext>
            </a:extLst>
          </p:cNvPr>
          <p:cNvSpPr/>
          <p:nvPr/>
        </p:nvSpPr>
        <p:spPr>
          <a:xfrm>
            <a:off x="8260320" y="2343925"/>
            <a:ext cx="903319" cy="840931"/>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50000"/>
              </a:lnSpc>
              <a:spcBef>
                <a:spcPts val="0"/>
              </a:spcBef>
              <a:spcAft>
                <a:spcPts val="0"/>
              </a:spcAft>
              <a:buClrTx/>
              <a:buSzTx/>
              <a:buFontTx/>
              <a:buNone/>
              <a:tabLst/>
              <a:defRPr/>
            </a:pPr>
            <a:r>
              <a:rPr kumimoji="0" lang="fa-IR" sz="7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صادرکننده ↔ خریدار / شریک خارجی</a:t>
            </a:r>
            <a:endParaRPr kumimoji="0" lang="en-US" sz="7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39" name="Rectangle: Rounded Corners 38">
            <a:extLst>
              <a:ext uri="{FF2B5EF4-FFF2-40B4-BE49-F238E27FC236}">
                <a16:creationId xmlns:a16="http://schemas.microsoft.com/office/drawing/2014/main" id="{565C0CC1-85D3-56A1-B751-BF44D16E6FB0}"/>
              </a:ext>
            </a:extLst>
          </p:cNvPr>
          <p:cNvSpPr/>
          <p:nvPr/>
        </p:nvSpPr>
        <p:spPr>
          <a:xfrm>
            <a:off x="8260320" y="3218773"/>
            <a:ext cx="903319" cy="1320963"/>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50000"/>
              </a:lnSpc>
              <a:spcBef>
                <a:spcPts val="0"/>
              </a:spcBef>
              <a:spcAft>
                <a:spcPts val="0"/>
              </a:spcAft>
              <a:buClrTx/>
              <a:buSzTx/>
              <a:buFontTx/>
              <a:buNone/>
              <a:tabLst/>
              <a:defRPr/>
            </a:pPr>
            <a:r>
              <a:rPr kumimoji="0" lang="fa-IR" sz="7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یافتن و معرفی شرکای بالقوه خارجی متناسب با نیاز شرکت</a:t>
            </a:r>
            <a:endParaRPr kumimoji="0" lang="en-US" sz="7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41" name="Rectangle: Rounded Corners 40">
            <a:extLst>
              <a:ext uri="{FF2B5EF4-FFF2-40B4-BE49-F238E27FC236}">
                <a16:creationId xmlns:a16="http://schemas.microsoft.com/office/drawing/2014/main" id="{DBE65949-0B17-DAB6-62D0-23EA33443C9A}"/>
              </a:ext>
            </a:extLst>
          </p:cNvPr>
          <p:cNvSpPr/>
          <p:nvPr/>
        </p:nvSpPr>
        <p:spPr>
          <a:xfrm>
            <a:off x="8260320" y="4572037"/>
            <a:ext cx="903319" cy="1320963"/>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50000"/>
              </a:lnSpc>
              <a:spcBef>
                <a:spcPts val="0"/>
              </a:spcBef>
              <a:spcAft>
                <a:spcPts val="0"/>
              </a:spcAft>
              <a:buClrTx/>
              <a:buSzTx/>
              <a:buFontTx/>
              <a:buNone/>
              <a:tabLst/>
              <a:defRPr/>
            </a:pPr>
            <a:r>
              <a:rPr kumimoji="0" lang="fa-IR" sz="7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شرکت به‌جای جست‌وجوی مستقل در بازار، فهرستی از طرف‌های بالقوه متناسب دریافت می‌کند</a:t>
            </a:r>
            <a:endParaRPr kumimoji="0" lang="en-US" sz="7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43" name="Rectangle: Rounded Corners 42">
            <a:extLst>
              <a:ext uri="{FF2B5EF4-FFF2-40B4-BE49-F238E27FC236}">
                <a16:creationId xmlns:a16="http://schemas.microsoft.com/office/drawing/2014/main" id="{A658BA80-F086-A1B2-2C76-A50EDDADD1A2}"/>
              </a:ext>
            </a:extLst>
          </p:cNvPr>
          <p:cNvSpPr/>
          <p:nvPr/>
        </p:nvSpPr>
        <p:spPr>
          <a:xfrm>
            <a:off x="8210053" y="1358994"/>
            <a:ext cx="1003853" cy="4587384"/>
          </a:xfrm>
          <a:prstGeom prst="roundRect">
            <a:avLst>
              <a:gd name="adj" fmla="val 7404"/>
            </a:avLst>
          </a:prstGeom>
          <a:noFill/>
          <a:ln w="6350">
            <a:solidFill>
              <a:srgbClr val="F6B30A"/>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5" name="Rectangle 44">
            <a:extLst>
              <a:ext uri="{FF2B5EF4-FFF2-40B4-BE49-F238E27FC236}">
                <a16:creationId xmlns:a16="http://schemas.microsoft.com/office/drawing/2014/main" id="{5C461F5D-9E50-8A2C-BE7F-F4715BFC287A}"/>
              </a:ext>
            </a:extLst>
          </p:cNvPr>
          <p:cNvSpPr/>
          <p:nvPr/>
        </p:nvSpPr>
        <p:spPr>
          <a:xfrm>
            <a:off x="8570592" y="1303662"/>
            <a:ext cx="282774" cy="1474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prstClr val="white"/>
              </a:solidFill>
              <a:effectLst/>
              <a:uLnTx/>
              <a:uFillTx/>
              <a:latin typeface="Calibri"/>
              <a:ea typeface="+mn-ea"/>
              <a:cs typeface="Calibri"/>
            </a:endParaRPr>
          </a:p>
        </p:txBody>
      </p:sp>
      <p:sp>
        <p:nvSpPr>
          <p:cNvPr id="47" name="TextBox 46">
            <a:extLst>
              <a:ext uri="{FF2B5EF4-FFF2-40B4-BE49-F238E27FC236}">
                <a16:creationId xmlns:a16="http://schemas.microsoft.com/office/drawing/2014/main" id="{F80A595D-F3A8-D7A8-C262-11ACAE33A0AC}"/>
              </a:ext>
            </a:extLst>
          </p:cNvPr>
          <p:cNvSpPr txBox="1"/>
          <p:nvPr/>
        </p:nvSpPr>
        <p:spPr>
          <a:xfrm>
            <a:off x="8570592" y="1194438"/>
            <a:ext cx="282774" cy="369332"/>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800" b="1" i="0" u="none" strike="noStrike" kern="1200" cap="none" spc="0" normalizeH="0" baseline="0" noProof="0" dirty="0">
                <a:ln>
                  <a:noFill/>
                </a:ln>
                <a:solidFill>
                  <a:srgbClr val="FDBF03"/>
                </a:solidFill>
                <a:effectLst/>
                <a:uLnTx/>
                <a:uFillTx/>
                <a:latin typeface="Yekan Bakh" pitchFamily="2" charset="-78"/>
                <a:ea typeface="Yekan Bakh" pitchFamily="2" charset="-78"/>
                <a:cs typeface="Yekan Bakh" pitchFamily="2" charset="-78"/>
              </a:rPr>
              <a:t>۲</a:t>
            </a:r>
            <a:endParaRPr kumimoji="0" lang="en-GB" sz="1800" b="1" i="0" u="none" strike="noStrike" kern="1200" cap="none" spc="0" normalizeH="0" baseline="0" noProof="0" dirty="0">
              <a:ln>
                <a:noFill/>
              </a:ln>
              <a:solidFill>
                <a:srgbClr val="FDBF03"/>
              </a:solidFill>
              <a:effectLst/>
              <a:uLnTx/>
              <a:uFillTx/>
              <a:latin typeface="Yekan Bakh" pitchFamily="2" charset="-78"/>
              <a:ea typeface="Yekan Bakh" pitchFamily="2" charset="-78"/>
              <a:cs typeface="Yekan Bakh" pitchFamily="2" charset="-78"/>
            </a:endParaRPr>
          </a:p>
        </p:txBody>
      </p:sp>
      <p:sp>
        <p:nvSpPr>
          <p:cNvPr id="49" name="Rectangle: Rounded Corners 48">
            <a:extLst>
              <a:ext uri="{FF2B5EF4-FFF2-40B4-BE49-F238E27FC236}">
                <a16:creationId xmlns:a16="http://schemas.microsoft.com/office/drawing/2014/main" id="{30E8666A-2D27-6D29-48C6-2C6717ADD1F2}"/>
              </a:ext>
            </a:extLst>
          </p:cNvPr>
          <p:cNvSpPr/>
          <p:nvPr/>
        </p:nvSpPr>
        <p:spPr>
          <a:xfrm>
            <a:off x="7152992" y="1470696"/>
            <a:ext cx="903319" cy="840931"/>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U.S. Commercial Service – Gold Key / </a:t>
            </a:r>
            <a:r>
              <a:rPr kumimoji="0" lang="fa-IR" sz="8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مأموریت‌های تجاری</a:t>
            </a:r>
            <a:endParaRPr kumimoji="0" lang="en-US" sz="8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51" name="Rectangle: Rounded Corners 50">
            <a:extLst>
              <a:ext uri="{FF2B5EF4-FFF2-40B4-BE49-F238E27FC236}">
                <a16:creationId xmlns:a16="http://schemas.microsoft.com/office/drawing/2014/main" id="{5C505241-D0F4-0F39-10F6-67E15192B73A}"/>
              </a:ext>
            </a:extLst>
          </p:cNvPr>
          <p:cNvSpPr/>
          <p:nvPr/>
        </p:nvSpPr>
        <p:spPr>
          <a:xfrm>
            <a:off x="7152992" y="2343925"/>
            <a:ext cx="903319" cy="840931"/>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50000"/>
              </a:lnSpc>
              <a:spcBef>
                <a:spcPts val="0"/>
              </a:spcBef>
              <a:spcAft>
                <a:spcPts val="0"/>
              </a:spcAft>
              <a:buClrTx/>
              <a:buSzTx/>
              <a:buFontTx/>
              <a:buNone/>
              <a:tabLst/>
              <a:defRPr/>
            </a:pPr>
            <a:r>
              <a:rPr kumimoji="0" lang="fa-IR" sz="7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شرکت ↔ خریدار / شریک / نهاد دولتی خارجی</a:t>
            </a:r>
            <a:endParaRPr kumimoji="0" lang="en-US" sz="7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53" name="Rectangle: Rounded Corners 52">
            <a:extLst>
              <a:ext uri="{FF2B5EF4-FFF2-40B4-BE49-F238E27FC236}">
                <a16:creationId xmlns:a16="http://schemas.microsoft.com/office/drawing/2014/main" id="{EC8FF894-4749-5F24-EBC3-2D0DB45EFE61}"/>
              </a:ext>
            </a:extLst>
          </p:cNvPr>
          <p:cNvSpPr/>
          <p:nvPr/>
        </p:nvSpPr>
        <p:spPr>
          <a:xfrm>
            <a:off x="7152992" y="3218773"/>
            <a:ext cx="903319" cy="1320963"/>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50000"/>
              </a:lnSpc>
              <a:spcBef>
                <a:spcPts val="0"/>
              </a:spcBef>
              <a:spcAft>
                <a:spcPts val="0"/>
              </a:spcAft>
              <a:buClrTx/>
              <a:buSzTx/>
              <a:buFontTx/>
              <a:buNone/>
              <a:tabLst/>
              <a:defRPr/>
            </a:pPr>
            <a:r>
              <a:rPr kumimoji="0" lang="fa-IR" sz="7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برگزاری جلسات </a:t>
            </a:r>
            <a:r>
              <a:rPr kumimoji="0" lang="en-US" sz="7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B2B</a:t>
            </a:r>
            <a:r>
              <a:rPr kumimoji="0" lang="fa-IR" sz="7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 از پیش هماهنگ‌شده با طرف‌های منتخب</a:t>
            </a:r>
            <a:endParaRPr kumimoji="0" lang="en-US" sz="7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55" name="Rectangle: Rounded Corners 54">
            <a:extLst>
              <a:ext uri="{FF2B5EF4-FFF2-40B4-BE49-F238E27FC236}">
                <a16:creationId xmlns:a16="http://schemas.microsoft.com/office/drawing/2014/main" id="{6B27156E-9367-8AB3-C850-91DE2BF1BC20}"/>
              </a:ext>
            </a:extLst>
          </p:cNvPr>
          <p:cNvSpPr/>
          <p:nvPr/>
        </p:nvSpPr>
        <p:spPr>
          <a:xfrm>
            <a:off x="7152992" y="4572037"/>
            <a:ext cx="903319" cy="1320963"/>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50000"/>
              </a:lnSpc>
              <a:spcBef>
                <a:spcPts val="0"/>
              </a:spcBef>
              <a:spcAft>
                <a:spcPts val="0"/>
              </a:spcAft>
              <a:buClrTx/>
              <a:buSzTx/>
              <a:buFontTx/>
              <a:buNone/>
              <a:tabLst/>
              <a:defRPr/>
            </a:pPr>
            <a:r>
              <a:rPr kumimoji="0" lang="fa-IR" sz="7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تبدیل شبکه‌سازی در یک بازار ناشناخته به جلسات مشخص و قابل پیگیری با طرف‌های مرتبط</a:t>
            </a:r>
            <a:endParaRPr kumimoji="0" lang="en-US" sz="7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57" name="Rectangle: Rounded Corners 56">
            <a:extLst>
              <a:ext uri="{FF2B5EF4-FFF2-40B4-BE49-F238E27FC236}">
                <a16:creationId xmlns:a16="http://schemas.microsoft.com/office/drawing/2014/main" id="{F1096553-5599-5816-4CBB-0F50604600F0}"/>
              </a:ext>
            </a:extLst>
          </p:cNvPr>
          <p:cNvSpPr/>
          <p:nvPr/>
        </p:nvSpPr>
        <p:spPr>
          <a:xfrm>
            <a:off x="7102725" y="1358994"/>
            <a:ext cx="1003853" cy="4587384"/>
          </a:xfrm>
          <a:prstGeom prst="roundRect">
            <a:avLst>
              <a:gd name="adj" fmla="val 7404"/>
            </a:avLst>
          </a:prstGeom>
          <a:noFill/>
          <a:ln w="6350">
            <a:solidFill>
              <a:srgbClr val="F6B30A"/>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59" name="Rectangle 58">
            <a:extLst>
              <a:ext uri="{FF2B5EF4-FFF2-40B4-BE49-F238E27FC236}">
                <a16:creationId xmlns:a16="http://schemas.microsoft.com/office/drawing/2014/main" id="{CEC66CA8-A824-B8CB-AAEE-8E420FCF3BB8}"/>
              </a:ext>
            </a:extLst>
          </p:cNvPr>
          <p:cNvSpPr/>
          <p:nvPr/>
        </p:nvSpPr>
        <p:spPr>
          <a:xfrm>
            <a:off x="7463264" y="1303662"/>
            <a:ext cx="282774" cy="1474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prstClr val="white"/>
              </a:solidFill>
              <a:effectLst/>
              <a:uLnTx/>
              <a:uFillTx/>
              <a:latin typeface="Calibri"/>
              <a:ea typeface="+mn-ea"/>
              <a:cs typeface="Calibri"/>
            </a:endParaRPr>
          </a:p>
        </p:txBody>
      </p:sp>
      <p:sp>
        <p:nvSpPr>
          <p:cNvPr id="61" name="TextBox 60">
            <a:extLst>
              <a:ext uri="{FF2B5EF4-FFF2-40B4-BE49-F238E27FC236}">
                <a16:creationId xmlns:a16="http://schemas.microsoft.com/office/drawing/2014/main" id="{1BCB9BEE-673C-0536-D1EE-E78AE1695DDE}"/>
              </a:ext>
            </a:extLst>
          </p:cNvPr>
          <p:cNvSpPr txBox="1"/>
          <p:nvPr/>
        </p:nvSpPr>
        <p:spPr>
          <a:xfrm>
            <a:off x="7463264" y="1194438"/>
            <a:ext cx="282774" cy="369332"/>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800" b="1" i="0" u="none" strike="noStrike" kern="1200" cap="none" spc="0" normalizeH="0" baseline="0" noProof="0" dirty="0">
                <a:ln>
                  <a:noFill/>
                </a:ln>
                <a:solidFill>
                  <a:srgbClr val="FDBF03"/>
                </a:solidFill>
                <a:effectLst/>
                <a:uLnTx/>
                <a:uFillTx/>
                <a:latin typeface="Yekan Bakh" pitchFamily="2" charset="-78"/>
                <a:ea typeface="Yekan Bakh" pitchFamily="2" charset="-78"/>
                <a:cs typeface="Yekan Bakh" pitchFamily="2" charset="-78"/>
              </a:rPr>
              <a:t>۳</a:t>
            </a:r>
            <a:endParaRPr kumimoji="0" lang="en-GB" sz="1800" b="1" i="0" u="none" strike="noStrike" kern="1200" cap="none" spc="0" normalizeH="0" baseline="0" noProof="0" dirty="0">
              <a:ln>
                <a:noFill/>
              </a:ln>
              <a:solidFill>
                <a:srgbClr val="FDBF03"/>
              </a:solidFill>
              <a:effectLst/>
              <a:uLnTx/>
              <a:uFillTx/>
              <a:latin typeface="Yekan Bakh" pitchFamily="2" charset="-78"/>
              <a:ea typeface="Yekan Bakh" pitchFamily="2" charset="-78"/>
              <a:cs typeface="Yekan Bakh" pitchFamily="2" charset="-78"/>
            </a:endParaRPr>
          </a:p>
        </p:txBody>
      </p:sp>
      <p:sp>
        <p:nvSpPr>
          <p:cNvPr id="63" name="Rectangle: Rounded Corners 62">
            <a:extLst>
              <a:ext uri="{FF2B5EF4-FFF2-40B4-BE49-F238E27FC236}">
                <a16:creationId xmlns:a16="http://schemas.microsoft.com/office/drawing/2014/main" id="{FF92DF1A-E2C2-9906-BB9B-EA1D2F20569E}"/>
              </a:ext>
            </a:extLst>
          </p:cNvPr>
          <p:cNvSpPr/>
          <p:nvPr/>
        </p:nvSpPr>
        <p:spPr>
          <a:xfrm>
            <a:off x="6045664" y="1470696"/>
            <a:ext cx="903319" cy="840931"/>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Absolute Advantage</a:t>
            </a:r>
          </a:p>
        </p:txBody>
      </p:sp>
      <p:sp>
        <p:nvSpPr>
          <p:cNvPr id="65" name="Rectangle: Rounded Corners 64">
            <a:extLst>
              <a:ext uri="{FF2B5EF4-FFF2-40B4-BE49-F238E27FC236}">
                <a16:creationId xmlns:a16="http://schemas.microsoft.com/office/drawing/2014/main" id="{4B333BAC-2C42-C076-0C24-2E1FC4C01890}"/>
              </a:ext>
            </a:extLst>
          </p:cNvPr>
          <p:cNvSpPr/>
          <p:nvPr/>
        </p:nvSpPr>
        <p:spPr>
          <a:xfrm>
            <a:off x="6045664" y="2343925"/>
            <a:ext cx="903319" cy="840931"/>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50000"/>
              </a:lnSpc>
              <a:spcBef>
                <a:spcPts val="0"/>
              </a:spcBef>
              <a:spcAft>
                <a:spcPts val="0"/>
              </a:spcAft>
              <a:buClrTx/>
              <a:buSzTx/>
              <a:buFontTx/>
              <a:buNone/>
              <a:tabLst/>
              <a:defRPr/>
            </a:pPr>
            <a:r>
              <a:rPr kumimoji="0" lang="fa-IR" sz="7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برند ↔ خرده‌فروش خارجی</a:t>
            </a:r>
            <a:endParaRPr kumimoji="0" lang="en-US" sz="7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67" name="Rectangle: Rounded Corners 66">
            <a:extLst>
              <a:ext uri="{FF2B5EF4-FFF2-40B4-BE49-F238E27FC236}">
                <a16:creationId xmlns:a16="http://schemas.microsoft.com/office/drawing/2014/main" id="{DFB0F535-B4E6-82D2-1B16-5F857D5E959B}"/>
              </a:ext>
            </a:extLst>
          </p:cNvPr>
          <p:cNvSpPr/>
          <p:nvPr/>
        </p:nvSpPr>
        <p:spPr>
          <a:xfrm>
            <a:off x="6045664" y="3218773"/>
            <a:ext cx="903319" cy="1320963"/>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50000"/>
              </a:lnSpc>
              <a:spcBef>
                <a:spcPts val="0"/>
              </a:spcBef>
              <a:spcAft>
                <a:spcPts val="0"/>
              </a:spcAft>
              <a:buClrTx/>
              <a:buSzTx/>
              <a:buFontTx/>
              <a:buNone/>
              <a:tabLst/>
              <a:defRPr/>
            </a:pPr>
            <a:r>
              <a:rPr kumimoji="0" lang="fa-IR" sz="7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یافتن خرده‌فروشان خارجی واجد شرایط و قرار دادن محصول در مقابل خریداران مناسب</a:t>
            </a:r>
            <a:endParaRPr kumimoji="0" lang="en-US" sz="7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69" name="Rectangle: Rounded Corners 68">
            <a:extLst>
              <a:ext uri="{FF2B5EF4-FFF2-40B4-BE49-F238E27FC236}">
                <a16:creationId xmlns:a16="http://schemas.microsoft.com/office/drawing/2014/main" id="{981B343A-843C-066C-96E8-D9EF8E54F8AF}"/>
              </a:ext>
            </a:extLst>
          </p:cNvPr>
          <p:cNvSpPr/>
          <p:nvPr/>
        </p:nvSpPr>
        <p:spPr>
          <a:xfrm>
            <a:off x="6045664" y="4572037"/>
            <a:ext cx="903319" cy="1320963"/>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50000"/>
              </a:lnSpc>
              <a:spcBef>
                <a:spcPts val="0"/>
              </a:spcBef>
              <a:spcAft>
                <a:spcPts val="0"/>
              </a:spcAft>
              <a:buClrTx/>
              <a:buSzTx/>
              <a:buFontTx/>
              <a:buNone/>
              <a:tabLst/>
              <a:defRPr/>
            </a:pPr>
            <a:r>
              <a:rPr kumimoji="0" lang="fa-IR" sz="7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شرکت را از مرحله «جست‌وجوی خریدار» به دسترسی مستقیم به خریداران واقعی می‌رساند</a:t>
            </a:r>
            <a:endParaRPr kumimoji="0" lang="en-US" sz="7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71" name="Rectangle: Rounded Corners 70">
            <a:extLst>
              <a:ext uri="{FF2B5EF4-FFF2-40B4-BE49-F238E27FC236}">
                <a16:creationId xmlns:a16="http://schemas.microsoft.com/office/drawing/2014/main" id="{9CDEA63C-EECC-2200-923B-797A8E771A06}"/>
              </a:ext>
            </a:extLst>
          </p:cNvPr>
          <p:cNvSpPr/>
          <p:nvPr/>
        </p:nvSpPr>
        <p:spPr>
          <a:xfrm>
            <a:off x="5995397" y="1358994"/>
            <a:ext cx="1003853" cy="4587384"/>
          </a:xfrm>
          <a:prstGeom prst="roundRect">
            <a:avLst>
              <a:gd name="adj" fmla="val 7404"/>
            </a:avLst>
          </a:prstGeom>
          <a:noFill/>
          <a:ln w="6350">
            <a:solidFill>
              <a:srgbClr val="F6B30A"/>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73" name="Rectangle 72">
            <a:extLst>
              <a:ext uri="{FF2B5EF4-FFF2-40B4-BE49-F238E27FC236}">
                <a16:creationId xmlns:a16="http://schemas.microsoft.com/office/drawing/2014/main" id="{78EAD160-E3F7-6972-4D67-2EA883C38E9A}"/>
              </a:ext>
            </a:extLst>
          </p:cNvPr>
          <p:cNvSpPr/>
          <p:nvPr/>
        </p:nvSpPr>
        <p:spPr>
          <a:xfrm>
            <a:off x="6355936" y="1303662"/>
            <a:ext cx="282774" cy="1474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prstClr val="white"/>
              </a:solidFill>
              <a:effectLst/>
              <a:uLnTx/>
              <a:uFillTx/>
              <a:latin typeface="Calibri"/>
              <a:ea typeface="+mn-ea"/>
              <a:cs typeface="Calibri"/>
            </a:endParaRPr>
          </a:p>
        </p:txBody>
      </p:sp>
      <p:sp>
        <p:nvSpPr>
          <p:cNvPr id="75" name="TextBox 74">
            <a:extLst>
              <a:ext uri="{FF2B5EF4-FFF2-40B4-BE49-F238E27FC236}">
                <a16:creationId xmlns:a16="http://schemas.microsoft.com/office/drawing/2014/main" id="{D4711D29-8A49-ED95-89E6-77A3969BE752}"/>
              </a:ext>
            </a:extLst>
          </p:cNvPr>
          <p:cNvSpPr txBox="1"/>
          <p:nvPr/>
        </p:nvSpPr>
        <p:spPr>
          <a:xfrm>
            <a:off x="6355936" y="1194438"/>
            <a:ext cx="282774" cy="369332"/>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800" b="1" i="0" u="none" strike="noStrike" kern="1200" cap="none" spc="0" normalizeH="0" baseline="0" noProof="0" dirty="0">
                <a:ln>
                  <a:noFill/>
                </a:ln>
                <a:solidFill>
                  <a:srgbClr val="FDBF03"/>
                </a:solidFill>
                <a:effectLst/>
                <a:uLnTx/>
                <a:uFillTx/>
                <a:latin typeface="Yekan Bakh" pitchFamily="2" charset="-78"/>
                <a:ea typeface="Yekan Bakh" pitchFamily="2" charset="-78"/>
                <a:cs typeface="Yekan Bakh" pitchFamily="2" charset="-78"/>
              </a:rPr>
              <a:t>۴</a:t>
            </a:r>
            <a:endParaRPr kumimoji="0" lang="en-GB" sz="1800" b="1" i="0" u="none" strike="noStrike" kern="1200" cap="none" spc="0" normalizeH="0" baseline="0" noProof="0" dirty="0">
              <a:ln>
                <a:noFill/>
              </a:ln>
              <a:solidFill>
                <a:srgbClr val="FDBF03"/>
              </a:solidFill>
              <a:effectLst/>
              <a:uLnTx/>
              <a:uFillTx/>
              <a:latin typeface="Yekan Bakh" pitchFamily="2" charset="-78"/>
              <a:ea typeface="Yekan Bakh" pitchFamily="2" charset="-78"/>
              <a:cs typeface="Yekan Bakh" pitchFamily="2" charset="-78"/>
            </a:endParaRPr>
          </a:p>
        </p:txBody>
      </p:sp>
      <p:sp>
        <p:nvSpPr>
          <p:cNvPr id="77" name="Rectangle: Rounded Corners 76">
            <a:extLst>
              <a:ext uri="{FF2B5EF4-FFF2-40B4-BE49-F238E27FC236}">
                <a16:creationId xmlns:a16="http://schemas.microsoft.com/office/drawing/2014/main" id="{4837CF1E-4100-0848-FECE-BDFF81D9AE27}"/>
              </a:ext>
            </a:extLst>
          </p:cNvPr>
          <p:cNvSpPr/>
          <p:nvPr/>
        </p:nvSpPr>
        <p:spPr>
          <a:xfrm>
            <a:off x="4938336" y="1470696"/>
            <a:ext cx="903319" cy="840931"/>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err="1">
                <a:ln>
                  <a:noFill/>
                </a:ln>
                <a:solidFill>
                  <a:prstClr val="black">
                    <a:lumMod val="75000"/>
                    <a:lumOff val="25000"/>
                  </a:prstClr>
                </a:solidFill>
                <a:effectLst/>
                <a:uLnTx/>
                <a:uFillTx/>
                <a:latin typeface="Yekan Bakh" pitchFamily="2" charset="-78"/>
                <a:ea typeface="Yekan Bakh" pitchFamily="2" charset="-78"/>
                <a:cs typeface="Yekan Bakh" pitchFamily="2" charset="-78"/>
              </a:rPr>
              <a:t>Buyerton</a:t>
            </a:r>
            <a:endParaRPr kumimoji="0" lang="en-US" sz="8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79" name="Rectangle: Rounded Corners 78">
            <a:extLst>
              <a:ext uri="{FF2B5EF4-FFF2-40B4-BE49-F238E27FC236}">
                <a16:creationId xmlns:a16="http://schemas.microsoft.com/office/drawing/2014/main" id="{28EF00AC-17E2-A753-33E3-85E1D0006024}"/>
              </a:ext>
            </a:extLst>
          </p:cNvPr>
          <p:cNvSpPr/>
          <p:nvPr/>
        </p:nvSpPr>
        <p:spPr>
          <a:xfrm>
            <a:off x="4938336" y="2343925"/>
            <a:ext cx="903319" cy="840931"/>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50000"/>
              </a:lnSpc>
              <a:spcBef>
                <a:spcPts val="0"/>
              </a:spcBef>
              <a:spcAft>
                <a:spcPts val="0"/>
              </a:spcAft>
              <a:buClrTx/>
              <a:buSzTx/>
              <a:buFontTx/>
              <a:buNone/>
              <a:tabLst/>
              <a:defRPr/>
            </a:pPr>
            <a:r>
              <a:rPr kumimoji="0" lang="fa-IR" sz="7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تولیدکننده / صادرکننده ↔ خریدار / توزیع‌کننده</a:t>
            </a:r>
            <a:endParaRPr kumimoji="0" lang="en-US" sz="7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81" name="Rectangle: Rounded Corners 80">
            <a:extLst>
              <a:ext uri="{FF2B5EF4-FFF2-40B4-BE49-F238E27FC236}">
                <a16:creationId xmlns:a16="http://schemas.microsoft.com/office/drawing/2014/main" id="{CF1E91A6-9798-116E-A768-CC13C1B298E7}"/>
              </a:ext>
            </a:extLst>
          </p:cNvPr>
          <p:cNvSpPr/>
          <p:nvPr/>
        </p:nvSpPr>
        <p:spPr>
          <a:xfrm>
            <a:off x="4938336" y="3218773"/>
            <a:ext cx="903319" cy="1320963"/>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50000"/>
              </a:lnSpc>
              <a:spcBef>
                <a:spcPts val="0"/>
              </a:spcBef>
              <a:spcAft>
                <a:spcPts val="0"/>
              </a:spcAft>
              <a:buClrTx/>
              <a:buSzTx/>
              <a:buFontTx/>
              <a:buNone/>
              <a:tabLst/>
              <a:defRPr/>
            </a:pPr>
            <a:r>
              <a:rPr kumimoji="0" lang="fa-IR" sz="7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ایجاد یک درگاه تجاری برای ورود و توسعه در بازار هند</a:t>
            </a:r>
            <a:endParaRPr kumimoji="0" lang="en-US" sz="7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83" name="Rectangle: Rounded Corners 82">
            <a:extLst>
              <a:ext uri="{FF2B5EF4-FFF2-40B4-BE49-F238E27FC236}">
                <a16:creationId xmlns:a16="http://schemas.microsoft.com/office/drawing/2014/main" id="{EACB415A-B963-428F-3812-8A99C8767EA3}"/>
              </a:ext>
            </a:extLst>
          </p:cNvPr>
          <p:cNvSpPr/>
          <p:nvPr/>
        </p:nvSpPr>
        <p:spPr>
          <a:xfrm>
            <a:off x="4938336" y="4572037"/>
            <a:ext cx="903319" cy="1320963"/>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50000"/>
              </a:lnSpc>
              <a:spcBef>
                <a:spcPts val="0"/>
              </a:spcBef>
              <a:spcAft>
                <a:spcPts val="0"/>
              </a:spcAft>
              <a:buClrTx/>
              <a:buSzTx/>
              <a:buFontTx/>
              <a:buNone/>
              <a:tabLst/>
              <a:defRPr/>
            </a:pPr>
            <a:r>
              <a:rPr kumimoji="0" lang="fa-IR" sz="7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شرکت خارجی بدون ایجاد دفتر داخلی می‌تواند بازار را توسعه دهد، خریدار پیدا کند و حضور تجاری محلی ایجاد کند</a:t>
            </a:r>
            <a:endParaRPr kumimoji="0" lang="en-US" sz="7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85" name="Rectangle: Rounded Corners 84">
            <a:extLst>
              <a:ext uri="{FF2B5EF4-FFF2-40B4-BE49-F238E27FC236}">
                <a16:creationId xmlns:a16="http://schemas.microsoft.com/office/drawing/2014/main" id="{E765ADF0-C564-A395-61D6-9FB26B2703EF}"/>
              </a:ext>
            </a:extLst>
          </p:cNvPr>
          <p:cNvSpPr/>
          <p:nvPr/>
        </p:nvSpPr>
        <p:spPr>
          <a:xfrm>
            <a:off x="4888069" y="1358994"/>
            <a:ext cx="1003853" cy="4587384"/>
          </a:xfrm>
          <a:prstGeom prst="roundRect">
            <a:avLst>
              <a:gd name="adj" fmla="val 7404"/>
            </a:avLst>
          </a:prstGeom>
          <a:noFill/>
          <a:ln w="6350">
            <a:solidFill>
              <a:srgbClr val="F6B30A"/>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87" name="Rectangle 86">
            <a:extLst>
              <a:ext uri="{FF2B5EF4-FFF2-40B4-BE49-F238E27FC236}">
                <a16:creationId xmlns:a16="http://schemas.microsoft.com/office/drawing/2014/main" id="{A9BB55D6-92DD-A7A7-9C43-DA24C5A54DA2}"/>
              </a:ext>
            </a:extLst>
          </p:cNvPr>
          <p:cNvSpPr/>
          <p:nvPr/>
        </p:nvSpPr>
        <p:spPr>
          <a:xfrm>
            <a:off x="5248608" y="1303662"/>
            <a:ext cx="282774" cy="1474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prstClr val="white"/>
              </a:solidFill>
              <a:effectLst/>
              <a:uLnTx/>
              <a:uFillTx/>
              <a:latin typeface="Calibri"/>
              <a:ea typeface="+mn-ea"/>
              <a:cs typeface="Calibri"/>
            </a:endParaRPr>
          </a:p>
        </p:txBody>
      </p:sp>
      <p:sp>
        <p:nvSpPr>
          <p:cNvPr id="89" name="TextBox 88">
            <a:extLst>
              <a:ext uri="{FF2B5EF4-FFF2-40B4-BE49-F238E27FC236}">
                <a16:creationId xmlns:a16="http://schemas.microsoft.com/office/drawing/2014/main" id="{743B4AF6-4E9B-BD36-88F6-DCB908246746}"/>
              </a:ext>
            </a:extLst>
          </p:cNvPr>
          <p:cNvSpPr txBox="1"/>
          <p:nvPr/>
        </p:nvSpPr>
        <p:spPr>
          <a:xfrm>
            <a:off x="5248608" y="1194438"/>
            <a:ext cx="282774" cy="369332"/>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800" b="1" i="0" u="none" strike="noStrike" kern="1200" cap="none" spc="0" normalizeH="0" baseline="0" noProof="0" dirty="0">
                <a:ln>
                  <a:noFill/>
                </a:ln>
                <a:solidFill>
                  <a:srgbClr val="FDBF03"/>
                </a:solidFill>
                <a:effectLst/>
                <a:uLnTx/>
                <a:uFillTx/>
                <a:latin typeface="Yekan Bakh" pitchFamily="2" charset="-78"/>
                <a:ea typeface="Yekan Bakh" pitchFamily="2" charset="-78"/>
                <a:cs typeface="Yekan Bakh" pitchFamily="2" charset="-78"/>
              </a:rPr>
              <a:t>۵</a:t>
            </a:r>
            <a:endParaRPr kumimoji="0" lang="en-GB" sz="1800" b="1" i="0" u="none" strike="noStrike" kern="1200" cap="none" spc="0" normalizeH="0" baseline="0" noProof="0" dirty="0">
              <a:ln>
                <a:noFill/>
              </a:ln>
              <a:solidFill>
                <a:srgbClr val="FDBF03"/>
              </a:solidFill>
              <a:effectLst/>
              <a:uLnTx/>
              <a:uFillTx/>
              <a:latin typeface="Yekan Bakh" pitchFamily="2" charset="-78"/>
              <a:ea typeface="Yekan Bakh" pitchFamily="2" charset="-78"/>
              <a:cs typeface="Yekan Bakh" pitchFamily="2" charset="-78"/>
            </a:endParaRPr>
          </a:p>
        </p:txBody>
      </p:sp>
      <p:sp>
        <p:nvSpPr>
          <p:cNvPr id="91" name="Rectangle: Rounded Corners 90">
            <a:extLst>
              <a:ext uri="{FF2B5EF4-FFF2-40B4-BE49-F238E27FC236}">
                <a16:creationId xmlns:a16="http://schemas.microsoft.com/office/drawing/2014/main" id="{EE68D7F4-572D-7385-9B6A-B96899BD5978}"/>
              </a:ext>
            </a:extLst>
          </p:cNvPr>
          <p:cNvSpPr/>
          <p:nvPr/>
        </p:nvSpPr>
        <p:spPr>
          <a:xfrm>
            <a:off x="3831008" y="1470696"/>
            <a:ext cx="903319" cy="840931"/>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err="1">
                <a:ln>
                  <a:noFill/>
                </a:ln>
                <a:solidFill>
                  <a:prstClr val="black">
                    <a:lumMod val="75000"/>
                    <a:lumOff val="25000"/>
                  </a:prstClr>
                </a:solidFill>
                <a:effectLst/>
                <a:uLnTx/>
                <a:uFillTx/>
                <a:latin typeface="Yekan Bakh" pitchFamily="2" charset="-78"/>
                <a:ea typeface="Yekan Bakh" pitchFamily="2" charset="-78"/>
                <a:cs typeface="Yekan Bakh" pitchFamily="2" charset="-78"/>
              </a:rPr>
              <a:t>Konomocha</a:t>
            </a:r>
            <a:endParaRPr kumimoji="0" lang="en-US" sz="8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93" name="Rectangle: Rounded Corners 92">
            <a:extLst>
              <a:ext uri="{FF2B5EF4-FFF2-40B4-BE49-F238E27FC236}">
                <a16:creationId xmlns:a16="http://schemas.microsoft.com/office/drawing/2014/main" id="{2C4EFEA7-3A79-914D-8B35-B024AB01AFB4}"/>
              </a:ext>
            </a:extLst>
          </p:cNvPr>
          <p:cNvSpPr/>
          <p:nvPr/>
        </p:nvSpPr>
        <p:spPr>
          <a:xfrm>
            <a:off x="3831008" y="2343925"/>
            <a:ext cx="903319" cy="840931"/>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50000"/>
              </a:lnSpc>
              <a:spcBef>
                <a:spcPts val="0"/>
              </a:spcBef>
              <a:spcAft>
                <a:spcPts val="0"/>
              </a:spcAft>
              <a:buClrTx/>
              <a:buSzTx/>
              <a:buFontTx/>
              <a:buNone/>
              <a:tabLst/>
              <a:defRPr/>
            </a:pPr>
            <a:r>
              <a:rPr kumimoji="0" lang="fa-IR" sz="7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برند ↔ خرده‌فروش / خریدار</a:t>
            </a:r>
            <a:endParaRPr kumimoji="0" lang="en-US" sz="7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95" name="Rectangle: Rounded Corners 94">
            <a:extLst>
              <a:ext uri="{FF2B5EF4-FFF2-40B4-BE49-F238E27FC236}">
                <a16:creationId xmlns:a16="http://schemas.microsoft.com/office/drawing/2014/main" id="{4839FD7C-A3EC-A438-13B9-C4F50FF681EC}"/>
              </a:ext>
            </a:extLst>
          </p:cNvPr>
          <p:cNvSpPr/>
          <p:nvPr/>
        </p:nvSpPr>
        <p:spPr>
          <a:xfrm>
            <a:off x="3831008" y="3218773"/>
            <a:ext cx="903319" cy="1320963"/>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50000"/>
              </a:lnSpc>
              <a:spcBef>
                <a:spcPts val="0"/>
              </a:spcBef>
              <a:spcAft>
                <a:spcPts val="0"/>
              </a:spcAft>
              <a:buClrTx/>
              <a:buSzTx/>
              <a:buFontTx/>
              <a:buNone/>
              <a:tabLst/>
              <a:defRPr/>
            </a:pPr>
            <a:r>
              <a:rPr kumimoji="0" lang="fa-IR" sz="7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نمایندگی فروش و فروش فعال در بازار خارجی</a:t>
            </a:r>
            <a:endParaRPr kumimoji="0" lang="en-US" sz="7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97" name="Rectangle: Rounded Corners 96">
            <a:extLst>
              <a:ext uri="{FF2B5EF4-FFF2-40B4-BE49-F238E27FC236}">
                <a16:creationId xmlns:a16="http://schemas.microsoft.com/office/drawing/2014/main" id="{8A8F3069-81CC-48AB-FFA8-7F33C14C2255}"/>
              </a:ext>
            </a:extLst>
          </p:cNvPr>
          <p:cNvSpPr/>
          <p:nvPr/>
        </p:nvSpPr>
        <p:spPr>
          <a:xfrm>
            <a:off x="3831008" y="4572037"/>
            <a:ext cx="903319" cy="1320963"/>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50000"/>
              </a:lnSpc>
              <a:spcBef>
                <a:spcPts val="0"/>
              </a:spcBef>
              <a:spcAft>
                <a:spcPts val="0"/>
              </a:spcAft>
              <a:buClrTx/>
              <a:buSzTx/>
              <a:buFontTx/>
              <a:buNone/>
              <a:tabLst/>
              <a:defRPr/>
            </a:pPr>
            <a:r>
              <a:rPr kumimoji="0" lang="fa-IR" sz="7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فقط خریدار معرفی نمی‌کند؛ فروش، مدیریت حساب و سفارش‌های مجدد را نیز پیگیری می‌کند</a:t>
            </a:r>
            <a:endParaRPr kumimoji="0" lang="en-US" sz="7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99" name="Rectangle: Rounded Corners 98">
            <a:extLst>
              <a:ext uri="{FF2B5EF4-FFF2-40B4-BE49-F238E27FC236}">
                <a16:creationId xmlns:a16="http://schemas.microsoft.com/office/drawing/2014/main" id="{6B2B4743-FB59-B34E-3463-9F162FD0A995}"/>
              </a:ext>
            </a:extLst>
          </p:cNvPr>
          <p:cNvSpPr/>
          <p:nvPr/>
        </p:nvSpPr>
        <p:spPr>
          <a:xfrm>
            <a:off x="3780741" y="1358994"/>
            <a:ext cx="1003853" cy="4587384"/>
          </a:xfrm>
          <a:prstGeom prst="roundRect">
            <a:avLst>
              <a:gd name="adj" fmla="val 7404"/>
            </a:avLst>
          </a:prstGeom>
          <a:noFill/>
          <a:ln w="6350">
            <a:solidFill>
              <a:srgbClr val="F6B30A"/>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01" name="Rectangle 100">
            <a:extLst>
              <a:ext uri="{FF2B5EF4-FFF2-40B4-BE49-F238E27FC236}">
                <a16:creationId xmlns:a16="http://schemas.microsoft.com/office/drawing/2014/main" id="{E0AF3828-0FA2-A061-A034-EB852951F092}"/>
              </a:ext>
            </a:extLst>
          </p:cNvPr>
          <p:cNvSpPr/>
          <p:nvPr/>
        </p:nvSpPr>
        <p:spPr>
          <a:xfrm>
            <a:off x="4141280" y="1303662"/>
            <a:ext cx="282774" cy="1474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prstClr val="white"/>
              </a:solidFill>
              <a:effectLst/>
              <a:uLnTx/>
              <a:uFillTx/>
              <a:latin typeface="Calibri"/>
              <a:ea typeface="+mn-ea"/>
              <a:cs typeface="Calibri"/>
            </a:endParaRPr>
          </a:p>
        </p:txBody>
      </p:sp>
      <p:sp>
        <p:nvSpPr>
          <p:cNvPr id="103" name="TextBox 102">
            <a:extLst>
              <a:ext uri="{FF2B5EF4-FFF2-40B4-BE49-F238E27FC236}">
                <a16:creationId xmlns:a16="http://schemas.microsoft.com/office/drawing/2014/main" id="{2E08DF53-82D1-5A5D-3A02-F437ED742F13}"/>
              </a:ext>
            </a:extLst>
          </p:cNvPr>
          <p:cNvSpPr txBox="1"/>
          <p:nvPr/>
        </p:nvSpPr>
        <p:spPr>
          <a:xfrm>
            <a:off x="4141280" y="1194438"/>
            <a:ext cx="282774" cy="369332"/>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800" b="1" i="0" u="none" strike="noStrike" kern="1200" cap="none" spc="0" normalizeH="0" baseline="0" noProof="0" dirty="0">
                <a:ln>
                  <a:noFill/>
                </a:ln>
                <a:solidFill>
                  <a:srgbClr val="FDBF03"/>
                </a:solidFill>
                <a:effectLst/>
                <a:uLnTx/>
                <a:uFillTx/>
                <a:latin typeface="Yekan Bakh" pitchFamily="2" charset="-78"/>
                <a:ea typeface="Yekan Bakh" pitchFamily="2" charset="-78"/>
                <a:cs typeface="Yekan Bakh" pitchFamily="2" charset="-78"/>
              </a:rPr>
              <a:t>۶</a:t>
            </a:r>
            <a:endParaRPr kumimoji="0" lang="en-GB" sz="1800" b="1" i="0" u="none" strike="noStrike" kern="1200" cap="none" spc="0" normalizeH="0" baseline="0" noProof="0" dirty="0">
              <a:ln>
                <a:noFill/>
              </a:ln>
              <a:solidFill>
                <a:srgbClr val="FDBF03"/>
              </a:solidFill>
              <a:effectLst/>
              <a:uLnTx/>
              <a:uFillTx/>
              <a:latin typeface="Yekan Bakh" pitchFamily="2" charset="-78"/>
              <a:ea typeface="Yekan Bakh" pitchFamily="2" charset="-78"/>
              <a:cs typeface="Yekan Bakh" pitchFamily="2" charset="-78"/>
            </a:endParaRPr>
          </a:p>
        </p:txBody>
      </p:sp>
      <p:sp>
        <p:nvSpPr>
          <p:cNvPr id="105" name="Rectangle: Rounded Corners 104">
            <a:extLst>
              <a:ext uri="{FF2B5EF4-FFF2-40B4-BE49-F238E27FC236}">
                <a16:creationId xmlns:a16="http://schemas.microsoft.com/office/drawing/2014/main" id="{7297A06D-38BB-392F-9B55-AF2F70468677}"/>
              </a:ext>
            </a:extLst>
          </p:cNvPr>
          <p:cNvSpPr/>
          <p:nvPr/>
        </p:nvSpPr>
        <p:spPr>
          <a:xfrm>
            <a:off x="2723680" y="1470696"/>
            <a:ext cx="903319" cy="840931"/>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FOSS International</a:t>
            </a:r>
          </a:p>
        </p:txBody>
      </p:sp>
      <p:sp>
        <p:nvSpPr>
          <p:cNvPr id="107" name="Rectangle: Rounded Corners 106">
            <a:extLst>
              <a:ext uri="{FF2B5EF4-FFF2-40B4-BE49-F238E27FC236}">
                <a16:creationId xmlns:a16="http://schemas.microsoft.com/office/drawing/2014/main" id="{554762B9-42AC-5A6F-8095-CA34ECE842D4}"/>
              </a:ext>
            </a:extLst>
          </p:cNvPr>
          <p:cNvSpPr/>
          <p:nvPr/>
        </p:nvSpPr>
        <p:spPr>
          <a:xfrm>
            <a:off x="2723680" y="2343925"/>
            <a:ext cx="903319" cy="840931"/>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50000"/>
              </a:lnSpc>
              <a:spcBef>
                <a:spcPts val="0"/>
              </a:spcBef>
              <a:spcAft>
                <a:spcPts val="0"/>
              </a:spcAft>
              <a:buClrTx/>
              <a:buSzTx/>
              <a:buFontTx/>
              <a:buNone/>
              <a:tabLst/>
              <a:defRPr/>
            </a:pPr>
            <a:r>
              <a:rPr kumimoji="0" lang="fa-IR" sz="7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شرکت ↔ بازار / مشتری / شریک</a:t>
            </a:r>
            <a:endParaRPr kumimoji="0" lang="en-US" sz="7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109" name="Rectangle: Rounded Corners 108">
            <a:extLst>
              <a:ext uri="{FF2B5EF4-FFF2-40B4-BE49-F238E27FC236}">
                <a16:creationId xmlns:a16="http://schemas.microsoft.com/office/drawing/2014/main" id="{09541F42-DDEC-E8AD-6AD9-65E77529FDFF}"/>
              </a:ext>
            </a:extLst>
          </p:cNvPr>
          <p:cNvSpPr/>
          <p:nvPr/>
        </p:nvSpPr>
        <p:spPr>
          <a:xfrm>
            <a:off x="2723680" y="3218773"/>
            <a:ext cx="903319" cy="1320963"/>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50000"/>
              </a:lnSpc>
              <a:spcBef>
                <a:spcPts val="0"/>
              </a:spcBef>
              <a:spcAft>
                <a:spcPts val="0"/>
              </a:spcAft>
              <a:buClrTx/>
              <a:buSzTx/>
              <a:buFontTx/>
              <a:buNone/>
              <a:tabLst/>
              <a:defRPr/>
            </a:pPr>
            <a:r>
              <a:rPr kumimoji="0" lang="fa-IR" sz="7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تبدیل توسعه بین‌المللی به یک کارکرد تجاری برون‌سپاری‌شده</a:t>
            </a:r>
            <a:endParaRPr kumimoji="0" lang="en-US" sz="7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111" name="Rectangle: Rounded Corners 110">
            <a:extLst>
              <a:ext uri="{FF2B5EF4-FFF2-40B4-BE49-F238E27FC236}">
                <a16:creationId xmlns:a16="http://schemas.microsoft.com/office/drawing/2014/main" id="{B36874B3-1DB7-7A7D-BA27-3D8BD57BFBF9}"/>
              </a:ext>
            </a:extLst>
          </p:cNvPr>
          <p:cNvSpPr/>
          <p:nvPr/>
        </p:nvSpPr>
        <p:spPr>
          <a:xfrm>
            <a:off x="2723680" y="4572037"/>
            <a:ext cx="903319" cy="1320963"/>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50000"/>
              </a:lnSpc>
              <a:spcBef>
                <a:spcPts val="0"/>
              </a:spcBef>
              <a:spcAft>
                <a:spcPts val="0"/>
              </a:spcAft>
              <a:buClrTx/>
              <a:buSzTx/>
              <a:buFontTx/>
              <a:buNone/>
              <a:tabLst/>
              <a:defRPr/>
            </a:pPr>
            <a:r>
              <a:rPr kumimoji="0" lang="fa-IR" sz="7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شرکت به‌جای ایجاد تیم بین‌المللی از صفر، تحقیقات بازار، توسعه کسب‌وکار و اجرا را برون‌سپاری می‌کند</a:t>
            </a:r>
            <a:endParaRPr kumimoji="0" lang="en-US" sz="7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113" name="Rectangle: Rounded Corners 112">
            <a:extLst>
              <a:ext uri="{FF2B5EF4-FFF2-40B4-BE49-F238E27FC236}">
                <a16:creationId xmlns:a16="http://schemas.microsoft.com/office/drawing/2014/main" id="{1891F642-5693-9C18-F1D9-DDD99D57AF84}"/>
              </a:ext>
            </a:extLst>
          </p:cNvPr>
          <p:cNvSpPr/>
          <p:nvPr/>
        </p:nvSpPr>
        <p:spPr>
          <a:xfrm>
            <a:off x="2673413" y="1358994"/>
            <a:ext cx="1003853" cy="4587384"/>
          </a:xfrm>
          <a:prstGeom prst="roundRect">
            <a:avLst>
              <a:gd name="adj" fmla="val 7404"/>
            </a:avLst>
          </a:prstGeom>
          <a:noFill/>
          <a:ln w="6350">
            <a:solidFill>
              <a:srgbClr val="F6B30A"/>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15" name="Rectangle 114">
            <a:extLst>
              <a:ext uri="{FF2B5EF4-FFF2-40B4-BE49-F238E27FC236}">
                <a16:creationId xmlns:a16="http://schemas.microsoft.com/office/drawing/2014/main" id="{660AE76B-3FF3-9422-8A31-A68FCF8CE648}"/>
              </a:ext>
            </a:extLst>
          </p:cNvPr>
          <p:cNvSpPr/>
          <p:nvPr/>
        </p:nvSpPr>
        <p:spPr>
          <a:xfrm>
            <a:off x="3033952" y="1303662"/>
            <a:ext cx="282774" cy="1474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prstClr val="white"/>
              </a:solidFill>
              <a:effectLst/>
              <a:uLnTx/>
              <a:uFillTx/>
              <a:latin typeface="Calibri"/>
              <a:ea typeface="+mn-ea"/>
              <a:cs typeface="Calibri"/>
            </a:endParaRPr>
          </a:p>
        </p:txBody>
      </p:sp>
      <p:sp>
        <p:nvSpPr>
          <p:cNvPr id="117" name="TextBox 116">
            <a:extLst>
              <a:ext uri="{FF2B5EF4-FFF2-40B4-BE49-F238E27FC236}">
                <a16:creationId xmlns:a16="http://schemas.microsoft.com/office/drawing/2014/main" id="{EC47F493-01B5-A8E6-0EE2-7F9AC43EFDD4}"/>
              </a:ext>
            </a:extLst>
          </p:cNvPr>
          <p:cNvSpPr txBox="1"/>
          <p:nvPr/>
        </p:nvSpPr>
        <p:spPr>
          <a:xfrm>
            <a:off x="3033952" y="1194438"/>
            <a:ext cx="282774" cy="369332"/>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800" b="1" i="0" u="none" strike="noStrike" kern="1200" cap="none" spc="0" normalizeH="0" baseline="0" noProof="0" dirty="0">
                <a:ln>
                  <a:noFill/>
                </a:ln>
                <a:solidFill>
                  <a:srgbClr val="FDBF03"/>
                </a:solidFill>
                <a:effectLst/>
                <a:uLnTx/>
                <a:uFillTx/>
                <a:latin typeface="Yekan Bakh" pitchFamily="2" charset="-78"/>
                <a:ea typeface="Yekan Bakh" pitchFamily="2" charset="-78"/>
                <a:cs typeface="Yekan Bakh" pitchFamily="2" charset="-78"/>
              </a:rPr>
              <a:t>۷</a:t>
            </a:r>
            <a:endParaRPr kumimoji="0" lang="en-GB" sz="1800" b="1" i="0" u="none" strike="noStrike" kern="1200" cap="none" spc="0" normalizeH="0" baseline="0" noProof="0" dirty="0">
              <a:ln>
                <a:noFill/>
              </a:ln>
              <a:solidFill>
                <a:srgbClr val="FDBF03"/>
              </a:solidFill>
              <a:effectLst/>
              <a:uLnTx/>
              <a:uFillTx/>
              <a:latin typeface="Yekan Bakh" pitchFamily="2" charset="-78"/>
              <a:ea typeface="Yekan Bakh" pitchFamily="2" charset="-78"/>
              <a:cs typeface="Yekan Bakh" pitchFamily="2" charset="-78"/>
            </a:endParaRPr>
          </a:p>
        </p:txBody>
      </p:sp>
      <p:sp>
        <p:nvSpPr>
          <p:cNvPr id="119" name="Rectangle: Rounded Corners 118">
            <a:extLst>
              <a:ext uri="{FF2B5EF4-FFF2-40B4-BE49-F238E27FC236}">
                <a16:creationId xmlns:a16="http://schemas.microsoft.com/office/drawing/2014/main" id="{7F2019C5-8713-7687-6915-42C412C51CB1}"/>
              </a:ext>
            </a:extLst>
          </p:cNvPr>
          <p:cNvSpPr/>
          <p:nvPr/>
        </p:nvSpPr>
        <p:spPr>
          <a:xfrm>
            <a:off x="1616352" y="1470696"/>
            <a:ext cx="903319" cy="840931"/>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Hispania Sales</a:t>
            </a:r>
          </a:p>
        </p:txBody>
      </p:sp>
      <p:sp>
        <p:nvSpPr>
          <p:cNvPr id="121" name="Rectangle: Rounded Corners 120">
            <a:extLst>
              <a:ext uri="{FF2B5EF4-FFF2-40B4-BE49-F238E27FC236}">
                <a16:creationId xmlns:a16="http://schemas.microsoft.com/office/drawing/2014/main" id="{FD25FE2D-51E5-6435-0A61-15E675BD55E3}"/>
              </a:ext>
            </a:extLst>
          </p:cNvPr>
          <p:cNvSpPr/>
          <p:nvPr/>
        </p:nvSpPr>
        <p:spPr>
          <a:xfrm>
            <a:off x="1616352" y="2343925"/>
            <a:ext cx="903319" cy="840931"/>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50000"/>
              </a:lnSpc>
              <a:spcBef>
                <a:spcPts val="0"/>
              </a:spcBef>
              <a:spcAft>
                <a:spcPts val="0"/>
              </a:spcAft>
              <a:buClrTx/>
              <a:buSzTx/>
              <a:buFontTx/>
              <a:buNone/>
              <a:tabLst/>
              <a:defRPr/>
            </a:pPr>
            <a:r>
              <a:rPr kumimoji="0" lang="fa-IR" sz="7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شرکت خارجی ↔ مشتری اسپانیایی</a:t>
            </a:r>
            <a:endParaRPr kumimoji="0" lang="en-US" sz="7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123" name="Rectangle: Rounded Corners 122">
            <a:extLst>
              <a:ext uri="{FF2B5EF4-FFF2-40B4-BE49-F238E27FC236}">
                <a16:creationId xmlns:a16="http://schemas.microsoft.com/office/drawing/2014/main" id="{BC0DB0D0-7B87-803E-E4D7-6384EDF43779}"/>
              </a:ext>
            </a:extLst>
          </p:cNvPr>
          <p:cNvSpPr/>
          <p:nvPr/>
        </p:nvSpPr>
        <p:spPr>
          <a:xfrm>
            <a:off x="1616352" y="3218773"/>
            <a:ext cx="903319" cy="1320963"/>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50000"/>
              </a:lnSpc>
              <a:spcBef>
                <a:spcPts val="0"/>
              </a:spcBef>
              <a:spcAft>
                <a:spcPts val="0"/>
              </a:spcAft>
              <a:buClrTx/>
              <a:buSzTx/>
              <a:buFontTx/>
              <a:buNone/>
              <a:tabLst/>
              <a:defRPr/>
            </a:pPr>
            <a:r>
              <a:rPr kumimoji="0" lang="fa-IR" sz="7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ایجاد کانال فروش در اسپانیا</a:t>
            </a:r>
            <a:endParaRPr kumimoji="0" lang="en-US" sz="7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125" name="Rectangle: Rounded Corners 124">
            <a:extLst>
              <a:ext uri="{FF2B5EF4-FFF2-40B4-BE49-F238E27FC236}">
                <a16:creationId xmlns:a16="http://schemas.microsoft.com/office/drawing/2014/main" id="{87CDBEAF-D671-E360-36FD-BC247173E9F0}"/>
              </a:ext>
            </a:extLst>
          </p:cNvPr>
          <p:cNvSpPr/>
          <p:nvPr/>
        </p:nvSpPr>
        <p:spPr>
          <a:xfrm>
            <a:off x="1616352" y="4572037"/>
            <a:ext cx="903319" cy="1320963"/>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50000"/>
              </a:lnSpc>
              <a:spcBef>
                <a:spcPts val="0"/>
              </a:spcBef>
              <a:spcAft>
                <a:spcPts val="0"/>
              </a:spcAft>
              <a:buClrTx/>
              <a:buSzTx/>
              <a:buFontTx/>
              <a:buNone/>
              <a:tabLst/>
              <a:defRPr/>
            </a:pPr>
            <a:r>
              <a:rPr kumimoji="0" lang="fa-IR" sz="7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شرکت خارجی را از «قصد ورود به اسپانیا» به ایجاد پایپ‌لاین فروش و کانال فروش محلی می‌رساند</a:t>
            </a:r>
            <a:endParaRPr kumimoji="0" lang="en-US" sz="7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127" name="Rectangle: Rounded Corners 126">
            <a:extLst>
              <a:ext uri="{FF2B5EF4-FFF2-40B4-BE49-F238E27FC236}">
                <a16:creationId xmlns:a16="http://schemas.microsoft.com/office/drawing/2014/main" id="{8B14FF35-0799-F7BC-A8C3-9F138CCFA64D}"/>
              </a:ext>
            </a:extLst>
          </p:cNvPr>
          <p:cNvSpPr/>
          <p:nvPr/>
        </p:nvSpPr>
        <p:spPr>
          <a:xfrm>
            <a:off x="1566085" y="1358994"/>
            <a:ext cx="1003853" cy="4587384"/>
          </a:xfrm>
          <a:prstGeom prst="roundRect">
            <a:avLst>
              <a:gd name="adj" fmla="val 7404"/>
            </a:avLst>
          </a:prstGeom>
          <a:noFill/>
          <a:ln w="6350">
            <a:solidFill>
              <a:srgbClr val="F6B30A"/>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29" name="Rectangle 128">
            <a:extLst>
              <a:ext uri="{FF2B5EF4-FFF2-40B4-BE49-F238E27FC236}">
                <a16:creationId xmlns:a16="http://schemas.microsoft.com/office/drawing/2014/main" id="{92C09B5A-66D3-9FD6-A80A-5C741547D692}"/>
              </a:ext>
            </a:extLst>
          </p:cNvPr>
          <p:cNvSpPr/>
          <p:nvPr/>
        </p:nvSpPr>
        <p:spPr>
          <a:xfrm>
            <a:off x="1926624" y="1303662"/>
            <a:ext cx="282774" cy="1474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prstClr val="white"/>
              </a:solidFill>
              <a:effectLst/>
              <a:uLnTx/>
              <a:uFillTx/>
              <a:latin typeface="Calibri"/>
              <a:ea typeface="+mn-ea"/>
              <a:cs typeface="Calibri"/>
            </a:endParaRPr>
          </a:p>
        </p:txBody>
      </p:sp>
      <p:sp>
        <p:nvSpPr>
          <p:cNvPr id="131" name="TextBox 130">
            <a:extLst>
              <a:ext uri="{FF2B5EF4-FFF2-40B4-BE49-F238E27FC236}">
                <a16:creationId xmlns:a16="http://schemas.microsoft.com/office/drawing/2014/main" id="{F8EB9C7E-DAB2-693B-80AC-F66B06C6B346}"/>
              </a:ext>
            </a:extLst>
          </p:cNvPr>
          <p:cNvSpPr txBox="1"/>
          <p:nvPr/>
        </p:nvSpPr>
        <p:spPr>
          <a:xfrm>
            <a:off x="1926624" y="1194438"/>
            <a:ext cx="282774" cy="369332"/>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800" b="1" i="0" u="none" strike="noStrike" kern="1200" cap="none" spc="0" normalizeH="0" baseline="0" noProof="0" dirty="0">
                <a:ln>
                  <a:noFill/>
                </a:ln>
                <a:solidFill>
                  <a:srgbClr val="FDBF03"/>
                </a:solidFill>
                <a:effectLst/>
                <a:uLnTx/>
                <a:uFillTx/>
                <a:latin typeface="Yekan Bakh" pitchFamily="2" charset="-78"/>
                <a:ea typeface="Yekan Bakh" pitchFamily="2" charset="-78"/>
                <a:cs typeface="Yekan Bakh" pitchFamily="2" charset="-78"/>
              </a:rPr>
              <a:t>۸</a:t>
            </a:r>
            <a:endParaRPr kumimoji="0" lang="en-GB" sz="1800" b="1" i="0" u="none" strike="noStrike" kern="1200" cap="none" spc="0" normalizeH="0" baseline="0" noProof="0" dirty="0">
              <a:ln>
                <a:noFill/>
              </a:ln>
              <a:solidFill>
                <a:srgbClr val="FDBF03"/>
              </a:solidFill>
              <a:effectLst/>
              <a:uLnTx/>
              <a:uFillTx/>
              <a:latin typeface="Yekan Bakh" pitchFamily="2" charset="-78"/>
              <a:ea typeface="Yekan Bakh" pitchFamily="2" charset="-78"/>
              <a:cs typeface="Yekan Bakh" pitchFamily="2" charset="-78"/>
            </a:endParaRPr>
          </a:p>
        </p:txBody>
      </p:sp>
      <p:sp>
        <p:nvSpPr>
          <p:cNvPr id="133" name="Rectangle: Rounded Corners 132">
            <a:extLst>
              <a:ext uri="{FF2B5EF4-FFF2-40B4-BE49-F238E27FC236}">
                <a16:creationId xmlns:a16="http://schemas.microsoft.com/office/drawing/2014/main" id="{2E4D16B2-376D-F583-21C0-755045EBE318}"/>
              </a:ext>
            </a:extLst>
          </p:cNvPr>
          <p:cNvSpPr/>
          <p:nvPr/>
        </p:nvSpPr>
        <p:spPr>
          <a:xfrm>
            <a:off x="509024" y="1470696"/>
            <a:ext cx="903319" cy="840931"/>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Going Global Live /</a:t>
            </a:r>
            <a:endParaRPr kumimoji="0" lang="fa-IR" sz="8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خدمات مأموریت تجاری</a:t>
            </a:r>
            <a:endParaRPr kumimoji="0" lang="en-US" sz="8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135" name="Rectangle: Rounded Corners 134">
            <a:extLst>
              <a:ext uri="{FF2B5EF4-FFF2-40B4-BE49-F238E27FC236}">
                <a16:creationId xmlns:a16="http://schemas.microsoft.com/office/drawing/2014/main" id="{33A8BE53-E15F-AE8B-1479-4990B6ECEBCA}"/>
              </a:ext>
            </a:extLst>
          </p:cNvPr>
          <p:cNvSpPr/>
          <p:nvPr/>
        </p:nvSpPr>
        <p:spPr>
          <a:xfrm>
            <a:off x="509024" y="2343925"/>
            <a:ext cx="903319" cy="840931"/>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50000"/>
              </a:lnSpc>
              <a:spcBef>
                <a:spcPts val="0"/>
              </a:spcBef>
              <a:spcAft>
                <a:spcPts val="0"/>
              </a:spcAft>
              <a:buClrTx/>
              <a:buSzTx/>
              <a:buFontTx/>
              <a:buNone/>
              <a:tabLst/>
              <a:defRPr/>
            </a:pPr>
            <a:r>
              <a:rPr kumimoji="0" lang="fa-IR" sz="7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شرکت ↔ مدیران / ارتباطات تجاری خارجی</a:t>
            </a:r>
            <a:endParaRPr kumimoji="0" lang="en-US" sz="7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137" name="Rectangle: Rounded Corners 136">
            <a:extLst>
              <a:ext uri="{FF2B5EF4-FFF2-40B4-BE49-F238E27FC236}">
                <a16:creationId xmlns:a16="http://schemas.microsoft.com/office/drawing/2014/main" id="{B5A831FC-CBA6-E642-090B-420BD3997D15}"/>
              </a:ext>
            </a:extLst>
          </p:cNvPr>
          <p:cNvSpPr/>
          <p:nvPr/>
        </p:nvSpPr>
        <p:spPr>
          <a:xfrm>
            <a:off x="509024" y="3218773"/>
            <a:ext cx="903319" cy="1320963"/>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50000"/>
              </a:lnSpc>
              <a:spcBef>
                <a:spcPts val="0"/>
              </a:spcBef>
              <a:spcAft>
                <a:spcPts val="0"/>
              </a:spcAft>
              <a:buClrTx/>
              <a:buSzTx/>
              <a:buFontTx/>
              <a:buNone/>
              <a:tabLst/>
              <a:defRPr/>
            </a:pPr>
            <a:r>
              <a:rPr kumimoji="0" lang="fa-IR" sz="7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تطبیق و هماهنگی شخصی‌سازی‌شده جلسات </a:t>
            </a:r>
            <a:r>
              <a:rPr kumimoji="0" lang="en-US" sz="7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B2B</a:t>
            </a:r>
          </a:p>
        </p:txBody>
      </p:sp>
      <p:sp>
        <p:nvSpPr>
          <p:cNvPr id="139" name="Rectangle: Rounded Corners 138">
            <a:extLst>
              <a:ext uri="{FF2B5EF4-FFF2-40B4-BE49-F238E27FC236}">
                <a16:creationId xmlns:a16="http://schemas.microsoft.com/office/drawing/2014/main" id="{7E507083-489E-A3A2-F15E-446278D2D823}"/>
              </a:ext>
            </a:extLst>
          </p:cNvPr>
          <p:cNvSpPr/>
          <p:nvPr/>
        </p:nvSpPr>
        <p:spPr>
          <a:xfrm>
            <a:off x="509024" y="4572037"/>
            <a:ext cx="903319" cy="1320963"/>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50000"/>
              </a:lnSpc>
              <a:spcBef>
                <a:spcPts val="0"/>
              </a:spcBef>
              <a:spcAft>
                <a:spcPts val="0"/>
              </a:spcAft>
              <a:buClrTx/>
              <a:buSzTx/>
              <a:buFontTx/>
              <a:buNone/>
              <a:tabLst/>
              <a:defRPr/>
            </a:pPr>
            <a:r>
              <a:rPr kumimoji="0" lang="fa-IR" sz="7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شرکت به‌جای شبکه‌سازی تصادفی، برنامه‌ای شخصی‌سازی‌شده از جلسات مرتبط دریافت می‌کند</a:t>
            </a:r>
            <a:endParaRPr kumimoji="0" lang="en-US" sz="7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141" name="Rectangle: Rounded Corners 140">
            <a:extLst>
              <a:ext uri="{FF2B5EF4-FFF2-40B4-BE49-F238E27FC236}">
                <a16:creationId xmlns:a16="http://schemas.microsoft.com/office/drawing/2014/main" id="{3B21E5A0-797A-7C3F-F310-F4B89C363909}"/>
              </a:ext>
            </a:extLst>
          </p:cNvPr>
          <p:cNvSpPr/>
          <p:nvPr/>
        </p:nvSpPr>
        <p:spPr>
          <a:xfrm>
            <a:off x="458757" y="1358994"/>
            <a:ext cx="1003853" cy="4587384"/>
          </a:xfrm>
          <a:prstGeom prst="roundRect">
            <a:avLst>
              <a:gd name="adj" fmla="val 7404"/>
            </a:avLst>
          </a:prstGeom>
          <a:noFill/>
          <a:ln w="6350">
            <a:solidFill>
              <a:srgbClr val="F6B30A"/>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43" name="Rectangle 142">
            <a:extLst>
              <a:ext uri="{FF2B5EF4-FFF2-40B4-BE49-F238E27FC236}">
                <a16:creationId xmlns:a16="http://schemas.microsoft.com/office/drawing/2014/main" id="{CED2A647-56E1-2D04-D95A-DA549A3CDEEE}"/>
              </a:ext>
            </a:extLst>
          </p:cNvPr>
          <p:cNvSpPr/>
          <p:nvPr/>
        </p:nvSpPr>
        <p:spPr>
          <a:xfrm>
            <a:off x="819296" y="1303662"/>
            <a:ext cx="282774" cy="1474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prstClr val="white"/>
              </a:solidFill>
              <a:effectLst/>
              <a:uLnTx/>
              <a:uFillTx/>
              <a:latin typeface="Calibri"/>
              <a:ea typeface="+mn-ea"/>
              <a:cs typeface="Calibri"/>
            </a:endParaRPr>
          </a:p>
        </p:txBody>
      </p:sp>
      <p:sp>
        <p:nvSpPr>
          <p:cNvPr id="145" name="TextBox 144">
            <a:extLst>
              <a:ext uri="{FF2B5EF4-FFF2-40B4-BE49-F238E27FC236}">
                <a16:creationId xmlns:a16="http://schemas.microsoft.com/office/drawing/2014/main" id="{1816E536-7622-0336-3603-70CC56ADE8C7}"/>
              </a:ext>
            </a:extLst>
          </p:cNvPr>
          <p:cNvSpPr txBox="1"/>
          <p:nvPr/>
        </p:nvSpPr>
        <p:spPr>
          <a:xfrm>
            <a:off x="819296" y="1194438"/>
            <a:ext cx="282774" cy="369332"/>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800" b="1" i="0" u="none" strike="noStrike" kern="1200" cap="none" spc="0" normalizeH="0" baseline="0" noProof="0" dirty="0">
                <a:ln>
                  <a:noFill/>
                </a:ln>
                <a:solidFill>
                  <a:srgbClr val="FDBF03"/>
                </a:solidFill>
                <a:effectLst/>
                <a:uLnTx/>
                <a:uFillTx/>
                <a:latin typeface="Yekan Bakh" pitchFamily="2" charset="-78"/>
                <a:ea typeface="Yekan Bakh" pitchFamily="2" charset="-78"/>
                <a:cs typeface="Yekan Bakh" pitchFamily="2" charset="-78"/>
              </a:rPr>
              <a:t>۹</a:t>
            </a:r>
            <a:endParaRPr kumimoji="0" lang="en-GB" sz="1800" b="1" i="0" u="none" strike="noStrike" kern="1200" cap="none" spc="0" normalizeH="0" baseline="0" noProof="0" dirty="0">
              <a:ln>
                <a:noFill/>
              </a:ln>
              <a:solidFill>
                <a:srgbClr val="FDBF03"/>
              </a:solidFill>
              <a:effectLst/>
              <a:uLnTx/>
              <a:uFillTx/>
              <a:latin typeface="Yekan Bakh" pitchFamily="2" charset="-78"/>
              <a:ea typeface="Yekan Bakh" pitchFamily="2" charset="-78"/>
              <a:cs typeface="Yekan Bakh" pitchFamily="2" charset="-78"/>
            </a:endParaRPr>
          </a:p>
        </p:txBody>
      </p:sp>
    </p:spTree>
    <p:extLst>
      <p:ext uri="{BB962C8B-B14F-4D97-AF65-F5344CB8AC3E}">
        <p14:creationId xmlns:p14="http://schemas.microsoft.com/office/powerpoint/2010/main" val="12629397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0DD283B-5818-2890-DE4B-440FED5FDC1D}"/>
              </a:ext>
            </a:extLst>
          </p:cNvPr>
          <p:cNvSpPr>
            <a:spLocks noGrp="1"/>
          </p:cNvSpPr>
          <p:nvPr>
            <p:ph type="body" sz="quarter" idx="10"/>
          </p:nvPr>
        </p:nvSpPr>
        <p:spPr/>
        <p:txBody>
          <a:bodyPr/>
          <a:lstStyle/>
          <a:p>
            <a:endParaRPr lang="en-GB"/>
          </a:p>
        </p:txBody>
      </p:sp>
      <p:sp>
        <p:nvSpPr>
          <p:cNvPr id="3" name="Text Placeholder 2">
            <a:extLst>
              <a:ext uri="{FF2B5EF4-FFF2-40B4-BE49-F238E27FC236}">
                <a16:creationId xmlns:a16="http://schemas.microsoft.com/office/drawing/2014/main" id="{26DA5C86-0FE1-FEB2-3775-12A73F3B7F97}"/>
              </a:ext>
            </a:extLst>
          </p:cNvPr>
          <p:cNvSpPr>
            <a:spLocks noGrp="1"/>
          </p:cNvSpPr>
          <p:nvPr>
            <p:ph type="body" sz="quarter" idx="12"/>
          </p:nvPr>
        </p:nvSpPr>
        <p:spPr/>
        <p:txBody>
          <a:bodyPr/>
          <a:lstStyle/>
          <a:p>
            <a:r>
              <a:rPr lang="fa-IR" dirty="0"/>
              <a:t>ارزش پیشنهادی/۲</a:t>
            </a:r>
          </a:p>
        </p:txBody>
      </p:sp>
      <p:sp>
        <p:nvSpPr>
          <p:cNvPr id="5" name="Rectangle: Rounded Corners 4">
            <a:extLst>
              <a:ext uri="{FF2B5EF4-FFF2-40B4-BE49-F238E27FC236}">
                <a16:creationId xmlns:a16="http://schemas.microsoft.com/office/drawing/2014/main" id="{B69A1771-E11F-5D76-2048-B99529035245}"/>
              </a:ext>
            </a:extLst>
          </p:cNvPr>
          <p:cNvSpPr/>
          <p:nvPr/>
        </p:nvSpPr>
        <p:spPr>
          <a:xfrm>
            <a:off x="9317381" y="1358994"/>
            <a:ext cx="1003853" cy="4587384"/>
          </a:xfrm>
          <a:prstGeom prst="roundRect">
            <a:avLst>
              <a:gd name="adj" fmla="val 7404"/>
            </a:avLst>
          </a:prstGeom>
          <a:noFill/>
          <a:ln w="6350">
            <a:solidFill>
              <a:srgbClr val="F6B30A"/>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7" name="Rectangle: Rounded Corners 6">
            <a:extLst>
              <a:ext uri="{FF2B5EF4-FFF2-40B4-BE49-F238E27FC236}">
                <a16:creationId xmlns:a16="http://schemas.microsoft.com/office/drawing/2014/main" id="{21B8BB4A-460F-34D3-6262-82A5BC1C5B4C}"/>
              </a:ext>
            </a:extLst>
          </p:cNvPr>
          <p:cNvSpPr/>
          <p:nvPr/>
        </p:nvSpPr>
        <p:spPr>
          <a:xfrm>
            <a:off x="8210053" y="1358994"/>
            <a:ext cx="1003853" cy="4587384"/>
          </a:xfrm>
          <a:prstGeom prst="roundRect">
            <a:avLst>
              <a:gd name="adj" fmla="val 7404"/>
            </a:avLst>
          </a:prstGeom>
          <a:noFill/>
          <a:ln w="6350">
            <a:solidFill>
              <a:srgbClr val="F6B30A"/>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9" name="Rectangle: Rounded Corners 8">
            <a:extLst>
              <a:ext uri="{FF2B5EF4-FFF2-40B4-BE49-F238E27FC236}">
                <a16:creationId xmlns:a16="http://schemas.microsoft.com/office/drawing/2014/main" id="{7B3725CE-8420-AE7A-0EFD-7850AA1E547C}"/>
              </a:ext>
            </a:extLst>
          </p:cNvPr>
          <p:cNvSpPr/>
          <p:nvPr/>
        </p:nvSpPr>
        <p:spPr>
          <a:xfrm>
            <a:off x="7102725" y="1358994"/>
            <a:ext cx="1003853" cy="4587384"/>
          </a:xfrm>
          <a:prstGeom prst="roundRect">
            <a:avLst>
              <a:gd name="adj" fmla="val 7404"/>
            </a:avLst>
          </a:prstGeom>
          <a:noFill/>
          <a:ln w="6350">
            <a:solidFill>
              <a:srgbClr val="F6B30A"/>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1" name="Rectangle: Rounded Corners 10">
            <a:extLst>
              <a:ext uri="{FF2B5EF4-FFF2-40B4-BE49-F238E27FC236}">
                <a16:creationId xmlns:a16="http://schemas.microsoft.com/office/drawing/2014/main" id="{C053E3E3-3C4A-14E2-D25F-0496DCEA8C68}"/>
              </a:ext>
            </a:extLst>
          </p:cNvPr>
          <p:cNvSpPr/>
          <p:nvPr/>
        </p:nvSpPr>
        <p:spPr>
          <a:xfrm>
            <a:off x="5995397" y="1358994"/>
            <a:ext cx="1003853" cy="4587384"/>
          </a:xfrm>
          <a:prstGeom prst="roundRect">
            <a:avLst>
              <a:gd name="adj" fmla="val 7404"/>
            </a:avLst>
          </a:prstGeom>
          <a:noFill/>
          <a:ln w="6350">
            <a:solidFill>
              <a:srgbClr val="F6B30A"/>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3" name="Rectangle: Rounded Corners 12">
            <a:extLst>
              <a:ext uri="{FF2B5EF4-FFF2-40B4-BE49-F238E27FC236}">
                <a16:creationId xmlns:a16="http://schemas.microsoft.com/office/drawing/2014/main" id="{A982FA62-7D3D-B7B1-BAC0-7EEA19D230D0}"/>
              </a:ext>
            </a:extLst>
          </p:cNvPr>
          <p:cNvSpPr/>
          <p:nvPr/>
        </p:nvSpPr>
        <p:spPr>
          <a:xfrm>
            <a:off x="4888069" y="1358994"/>
            <a:ext cx="1003853" cy="4587384"/>
          </a:xfrm>
          <a:prstGeom prst="roundRect">
            <a:avLst>
              <a:gd name="adj" fmla="val 7404"/>
            </a:avLst>
          </a:prstGeom>
          <a:noFill/>
          <a:ln w="6350">
            <a:solidFill>
              <a:srgbClr val="F6B30A"/>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5" name="Rectangle: Rounded Corners 14">
            <a:extLst>
              <a:ext uri="{FF2B5EF4-FFF2-40B4-BE49-F238E27FC236}">
                <a16:creationId xmlns:a16="http://schemas.microsoft.com/office/drawing/2014/main" id="{93162601-B0DD-A743-72C1-896AF192F5D1}"/>
              </a:ext>
            </a:extLst>
          </p:cNvPr>
          <p:cNvSpPr/>
          <p:nvPr/>
        </p:nvSpPr>
        <p:spPr>
          <a:xfrm>
            <a:off x="3780741" y="1358994"/>
            <a:ext cx="1003853" cy="4587384"/>
          </a:xfrm>
          <a:prstGeom prst="roundRect">
            <a:avLst>
              <a:gd name="adj" fmla="val 7404"/>
            </a:avLst>
          </a:prstGeom>
          <a:noFill/>
          <a:ln w="6350">
            <a:solidFill>
              <a:srgbClr val="F6B30A"/>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7" name="Rectangle: Rounded Corners 16">
            <a:extLst>
              <a:ext uri="{FF2B5EF4-FFF2-40B4-BE49-F238E27FC236}">
                <a16:creationId xmlns:a16="http://schemas.microsoft.com/office/drawing/2014/main" id="{BE403A29-F638-ACAC-EF59-C61E38C74D59}"/>
              </a:ext>
            </a:extLst>
          </p:cNvPr>
          <p:cNvSpPr/>
          <p:nvPr/>
        </p:nvSpPr>
        <p:spPr>
          <a:xfrm>
            <a:off x="2673413" y="1358994"/>
            <a:ext cx="1003853" cy="4587384"/>
          </a:xfrm>
          <a:prstGeom prst="roundRect">
            <a:avLst>
              <a:gd name="adj" fmla="val 7404"/>
            </a:avLst>
          </a:prstGeom>
          <a:noFill/>
          <a:ln w="6350">
            <a:solidFill>
              <a:srgbClr val="F6B30A"/>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9" name="Rectangle: Rounded Corners 18">
            <a:extLst>
              <a:ext uri="{FF2B5EF4-FFF2-40B4-BE49-F238E27FC236}">
                <a16:creationId xmlns:a16="http://schemas.microsoft.com/office/drawing/2014/main" id="{70387F86-3863-0D06-D576-8C921C3B2319}"/>
              </a:ext>
            </a:extLst>
          </p:cNvPr>
          <p:cNvSpPr/>
          <p:nvPr/>
        </p:nvSpPr>
        <p:spPr>
          <a:xfrm>
            <a:off x="1566085" y="1358994"/>
            <a:ext cx="1003853" cy="4587384"/>
          </a:xfrm>
          <a:prstGeom prst="roundRect">
            <a:avLst>
              <a:gd name="adj" fmla="val 7404"/>
            </a:avLst>
          </a:prstGeom>
          <a:noFill/>
          <a:ln w="6350">
            <a:solidFill>
              <a:srgbClr val="F6B30A"/>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21" name="Rectangle: Rounded Corners 20">
            <a:extLst>
              <a:ext uri="{FF2B5EF4-FFF2-40B4-BE49-F238E27FC236}">
                <a16:creationId xmlns:a16="http://schemas.microsoft.com/office/drawing/2014/main" id="{BC0719EE-5CC5-1305-3174-EFFF42261041}"/>
              </a:ext>
            </a:extLst>
          </p:cNvPr>
          <p:cNvSpPr/>
          <p:nvPr/>
        </p:nvSpPr>
        <p:spPr>
          <a:xfrm>
            <a:off x="458757" y="1358994"/>
            <a:ext cx="1003853" cy="4587384"/>
          </a:xfrm>
          <a:prstGeom prst="roundRect">
            <a:avLst>
              <a:gd name="adj" fmla="val 7404"/>
            </a:avLst>
          </a:prstGeom>
          <a:noFill/>
          <a:ln w="6350">
            <a:solidFill>
              <a:srgbClr val="F6B30A"/>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23" name="Rectangle: Rounded Corners 22">
            <a:extLst>
              <a:ext uri="{FF2B5EF4-FFF2-40B4-BE49-F238E27FC236}">
                <a16:creationId xmlns:a16="http://schemas.microsoft.com/office/drawing/2014/main" id="{FE99257A-D5CA-2330-80C1-423D256C42B5}"/>
              </a:ext>
            </a:extLst>
          </p:cNvPr>
          <p:cNvSpPr/>
          <p:nvPr/>
        </p:nvSpPr>
        <p:spPr>
          <a:xfrm>
            <a:off x="10508105" y="1439563"/>
            <a:ext cx="736187" cy="840931"/>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9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شرکت / مدل</a:t>
            </a:r>
            <a:endParaRPr kumimoji="0" lang="en-US" sz="9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25" name="Isosceles Triangle 24">
            <a:extLst>
              <a:ext uri="{FF2B5EF4-FFF2-40B4-BE49-F238E27FC236}">
                <a16:creationId xmlns:a16="http://schemas.microsoft.com/office/drawing/2014/main" id="{1ED476C5-1A4A-2F83-53AA-044321824757}"/>
              </a:ext>
            </a:extLst>
          </p:cNvPr>
          <p:cNvSpPr/>
          <p:nvPr/>
        </p:nvSpPr>
        <p:spPr>
          <a:xfrm rot="16200000">
            <a:off x="9986455" y="1788824"/>
            <a:ext cx="840931" cy="142409"/>
          </a:xfrm>
          <a:prstGeom prst="triangle">
            <a:avLst/>
          </a:prstGeom>
          <a:solidFill>
            <a:srgbClr val="F6B30A">
              <a:alpha val="3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prstClr val="white"/>
              </a:solidFill>
              <a:effectLst/>
              <a:uLnTx/>
              <a:uFillTx/>
              <a:latin typeface="Calibri"/>
              <a:ea typeface="+mn-ea"/>
              <a:cs typeface="Calibri"/>
            </a:endParaRPr>
          </a:p>
        </p:txBody>
      </p:sp>
      <p:sp>
        <p:nvSpPr>
          <p:cNvPr id="27" name="Rectangle: Rounded Corners 26">
            <a:extLst>
              <a:ext uri="{FF2B5EF4-FFF2-40B4-BE49-F238E27FC236}">
                <a16:creationId xmlns:a16="http://schemas.microsoft.com/office/drawing/2014/main" id="{0D966610-4979-D50F-E971-DA279A5259D4}"/>
              </a:ext>
            </a:extLst>
          </p:cNvPr>
          <p:cNvSpPr/>
          <p:nvPr/>
        </p:nvSpPr>
        <p:spPr>
          <a:xfrm>
            <a:off x="10508105" y="2314411"/>
            <a:ext cx="736187" cy="837694"/>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9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طرفین تطبیق</a:t>
            </a:r>
            <a:endParaRPr kumimoji="0" lang="en-US" sz="9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29" name="Isosceles Triangle 28">
            <a:extLst>
              <a:ext uri="{FF2B5EF4-FFF2-40B4-BE49-F238E27FC236}">
                <a16:creationId xmlns:a16="http://schemas.microsoft.com/office/drawing/2014/main" id="{A12C5F20-2B7E-3ED3-3B4D-38F669D75454}"/>
              </a:ext>
            </a:extLst>
          </p:cNvPr>
          <p:cNvSpPr/>
          <p:nvPr/>
        </p:nvSpPr>
        <p:spPr>
          <a:xfrm rot="16200000">
            <a:off x="9986455" y="2663672"/>
            <a:ext cx="840931" cy="142409"/>
          </a:xfrm>
          <a:prstGeom prst="triangle">
            <a:avLst/>
          </a:prstGeom>
          <a:solidFill>
            <a:srgbClr val="F6B30A">
              <a:alpha val="3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31" name="Rectangle: Rounded Corners 30">
            <a:extLst>
              <a:ext uri="{FF2B5EF4-FFF2-40B4-BE49-F238E27FC236}">
                <a16:creationId xmlns:a16="http://schemas.microsoft.com/office/drawing/2014/main" id="{F6F45E69-5863-DDBF-6699-FCCA86022FAC}"/>
              </a:ext>
            </a:extLst>
          </p:cNvPr>
          <p:cNvSpPr/>
          <p:nvPr/>
        </p:nvSpPr>
        <p:spPr>
          <a:xfrm>
            <a:off x="10508105" y="3187641"/>
            <a:ext cx="736187" cy="1320964"/>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9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گزاره کلیدی ارزش پیشنهادی</a:t>
            </a:r>
            <a:endParaRPr kumimoji="0" lang="en-US" sz="9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33" name="Isosceles Triangle 32">
            <a:extLst>
              <a:ext uri="{FF2B5EF4-FFF2-40B4-BE49-F238E27FC236}">
                <a16:creationId xmlns:a16="http://schemas.microsoft.com/office/drawing/2014/main" id="{6AC4E3D9-6C4B-A9CD-6415-696C71D4104C}"/>
              </a:ext>
            </a:extLst>
          </p:cNvPr>
          <p:cNvSpPr/>
          <p:nvPr/>
        </p:nvSpPr>
        <p:spPr>
          <a:xfrm rot="16200000">
            <a:off x="9746439" y="3776917"/>
            <a:ext cx="1320963" cy="142409"/>
          </a:xfrm>
          <a:prstGeom prst="triangle">
            <a:avLst/>
          </a:prstGeom>
          <a:solidFill>
            <a:srgbClr val="F6B30A">
              <a:alpha val="3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35" name="Rectangle: Rounded Corners 34">
            <a:extLst>
              <a:ext uri="{FF2B5EF4-FFF2-40B4-BE49-F238E27FC236}">
                <a16:creationId xmlns:a16="http://schemas.microsoft.com/office/drawing/2014/main" id="{1B5E9AD1-B453-7C08-B606-87B8A43C5C42}"/>
              </a:ext>
            </a:extLst>
          </p:cNvPr>
          <p:cNvSpPr/>
          <p:nvPr/>
        </p:nvSpPr>
        <p:spPr>
          <a:xfrm>
            <a:off x="10508105" y="4540905"/>
            <a:ext cx="736187" cy="1325880"/>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9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مسئله‌ای که عملاً برای مشتری حل می‌کند</a:t>
            </a:r>
            <a:endParaRPr kumimoji="0" lang="en-US" sz="9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37" name="Isosceles Triangle 36">
            <a:extLst>
              <a:ext uri="{FF2B5EF4-FFF2-40B4-BE49-F238E27FC236}">
                <a16:creationId xmlns:a16="http://schemas.microsoft.com/office/drawing/2014/main" id="{7E0D9AEF-4F11-9BA2-903E-E91302572D5D}"/>
              </a:ext>
            </a:extLst>
          </p:cNvPr>
          <p:cNvSpPr/>
          <p:nvPr/>
        </p:nvSpPr>
        <p:spPr>
          <a:xfrm rot="16200000">
            <a:off x="9746439" y="5130181"/>
            <a:ext cx="1320963" cy="142409"/>
          </a:xfrm>
          <a:prstGeom prst="triangle">
            <a:avLst/>
          </a:prstGeom>
          <a:solidFill>
            <a:srgbClr val="F6B30A">
              <a:alpha val="3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39" name="Rectangle: Rounded Corners 38">
            <a:extLst>
              <a:ext uri="{FF2B5EF4-FFF2-40B4-BE49-F238E27FC236}">
                <a16:creationId xmlns:a16="http://schemas.microsoft.com/office/drawing/2014/main" id="{76756EB3-25D6-92FC-CC9E-D3BD0A00059B}"/>
              </a:ext>
            </a:extLst>
          </p:cNvPr>
          <p:cNvSpPr/>
          <p:nvPr/>
        </p:nvSpPr>
        <p:spPr>
          <a:xfrm>
            <a:off x="9367648" y="1470696"/>
            <a:ext cx="903319" cy="840931"/>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UK Trade Mission</a:t>
            </a:r>
          </a:p>
        </p:txBody>
      </p:sp>
      <p:sp>
        <p:nvSpPr>
          <p:cNvPr id="41" name="Rectangle: Rounded Corners 40">
            <a:extLst>
              <a:ext uri="{FF2B5EF4-FFF2-40B4-BE49-F238E27FC236}">
                <a16:creationId xmlns:a16="http://schemas.microsoft.com/office/drawing/2014/main" id="{C57D656C-2FCA-2750-A61C-CAD7F9C4DBF4}"/>
              </a:ext>
            </a:extLst>
          </p:cNvPr>
          <p:cNvSpPr/>
          <p:nvPr/>
        </p:nvSpPr>
        <p:spPr>
          <a:xfrm>
            <a:off x="9367648" y="2343925"/>
            <a:ext cx="903319" cy="840931"/>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50000"/>
              </a:lnSpc>
              <a:spcBef>
                <a:spcPts val="0"/>
              </a:spcBef>
              <a:spcAft>
                <a:spcPts val="0"/>
              </a:spcAft>
              <a:buClrTx/>
              <a:buSzTx/>
              <a:buFontTx/>
              <a:buNone/>
              <a:tabLst/>
              <a:defRPr/>
            </a:pPr>
            <a:r>
              <a:rPr kumimoji="0" lang="fa-IR" sz="7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شرکت ↔ شریک / سرمایه‌گذار / سیاست‌گذار</a:t>
            </a:r>
            <a:endParaRPr kumimoji="0" lang="en-US" sz="7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43" name="Rectangle: Rounded Corners 42">
            <a:extLst>
              <a:ext uri="{FF2B5EF4-FFF2-40B4-BE49-F238E27FC236}">
                <a16:creationId xmlns:a16="http://schemas.microsoft.com/office/drawing/2014/main" id="{E82373CA-16F0-AA57-578F-D86926FA4515}"/>
              </a:ext>
            </a:extLst>
          </p:cNvPr>
          <p:cNvSpPr/>
          <p:nvPr/>
        </p:nvSpPr>
        <p:spPr>
          <a:xfrm>
            <a:off x="9367648" y="3218773"/>
            <a:ext cx="903319" cy="1320963"/>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50000"/>
              </a:lnSpc>
              <a:spcBef>
                <a:spcPts val="0"/>
              </a:spcBef>
              <a:spcAft>
                <a:spcPts val="0"/>
              </a:spcAft>
              <a:buClrTx/>
              <a:buSzTx/>
              <a:buFontTx/>
              <a:buNone/>
              <a:tabLst/>
              <a:defRPr/>
            </a:pPr>
            <a:r>
              <a:rPr kumimoji="0" lang="fa-IR" sz="7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برگزاری جلسات 1:1 و هدفمند </a:t>
            </a:r>
            <a:r>
              <a:rPr kumimoji="0" lang="en-US" sz="7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B2B</a:t>
            </a:r>
          </a:p>
        </p:txBody>
      </p:sp>
      <p:sp>
        <p:nvSpPr>
          <p:cNvPr id="45" name="Rectangle: Rounded Corners 44">
            <a:extLst>
              <a:ext uri="{FF2B5EF4-FFF2-40B4-BE49-F238E27FC236}">
                <a16:creationId xmlns:a16="http://schemas.microsoft.com/office/drawing/2014/main" id="{363F5CDD-9458-653D-4B9F-400CADCD0993}"/>
              </a:ext>
            </a:extLst>
          </p:cNvPr>
          <p:cNvSpPr/>
          <p:nvPr/>
        </p:nvSpPr>
        <p:spPr>
          <a:xfrm>
            <a:off x="9367648" y="4572037"/>
            <a:ext cx="903319" cy="1320963"/>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50000"/>
              </a:lnSpc>
              <a:spcBef>
                <a:spcPts val="0"/>
              </a:spcBef>
              <a:spcAft>
                <a:spcPts val="0"/>
              </a:spcAft>
              <a:buClrTx/>
              <a:buSzTx/>
              <a:buFontTx/>
              <a:buNone/>
              <a:tabLst/>
              <a:defRPr/>
            </a:pPr>
            <a:r>
              <a:rPr kumimoji="0" lang="fa-IR" sz="7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دسترسی ساختاریافته به افراد و سازمان‌هایی که شرکت احتمالاً به‌تنهایی نمی‌تواند به آن‌ها دسترسی پیدا کند</a:t>
            </a:r>
            <a:endParaRPr kumimoji="0" lang="en-US" sz="7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47" name="Rectangle 46">
            <a:extLst>
              <a:ext uri="{FF2B5EF4-FFF2-40B4-BE49-F238E27FC236}">
                <a16:creationId xmlns:a16="http://schemas.microsoft.com/office/drawing/2014/main" id="{3307F0E0-77F6-FE72-AAD1-43E9F735ABAC}"/>
              </a:ext>
            </a:extLst>
          </p:cNvPr>
          <p:cNvSpPr/>
          <p:nvPr/>
        </p:nvSpPr>
        <p:spPr>
          <a:xfrm>
            <a:off x="9637407" y="1303662"/>
            <a:ext cx="363801" cy="1474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prstClr val="white"/>
              </a:solidFill>
              <a:effectLst/>
              <a:uLnTx/>
              <a:uFillTx/>
              <a:latin typeface="Calibri"/>
              <a:ea typeface="+mn-ea"/>
              <a:cs typeface="Calibri"/>
            </a:endParaRPr>
          </a:p>
        </p:txBody>
      </p:sp>
      <p:sp>
        <p:nvSpPr>
          <p:cNvPr id="49" name="TextBox 48">
            <a:extLst>
              <a:ext uri="{FF2B5EF4-FFF2-40B4-BE49-F238E27FC236}">
                <a16:creationId xmlns:a16="http://schemas.microsoft.com/office/drawing/2014/main" id="{B72EBCA8-429E-E4DF-85F7-39906A2FE5F4}"/>
              </a:ext>
            </a:extLst>
          </p:cNvPr>
          <p:cNvSpPr txBox="1"/>
          <p:nvPr/>
        </p:nvSpPr>
        <p:spPr>
          <a:xfrm>
            <a:off x="9592099" y="1194438"/>
            <a:ext cx="454417" cy="369332"/>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800" b="1" i="0" u="none" strike="noStrike" kern="1200" cap="none" spc="0" normalizeH="0" baseline="0" noProof="0" dirty="0">
                <a:ln>
                  <a:noFill/>
                </a:ln>
                <a:solidFill>
                  <a:srgbClr val="FDBF03"/>
                </a:solidFill>
                <a:effectLst/>
                <a:uLnTx/>
                <a:uFillTx/>
                <a:latin typeface="Yekan Bakh" pitchFamily="2" charset="-78"/>
                <a:ea typeface="Yekan Bakh" pitchFamily="2" charset="-78"/>
                <a:cs typeface="Yekan Bakh" pitchFamily="2" charset="-78"/>
              </a:rPr>
              <a:t>۱۰</a:t>
            </a:r>
            <a:endParaRPr kumimoji="0" lang="en-GB" sz="1800" b="1" i="0" u="none" strike="noStrike" kern="1200" cap="none" spc="0" normalizeH="0" baseline="0" noProof="0" dirty="0">
              <a:ln>
                <a:noFill/>
              </a:ln>
              <a:solidFill>
                <a:srgbClr val="FDBF03"/>
              </a:solidFill>
              <a:effectLst/>
              <a:uLnTx/>
              <a:uFillTx/>
              <a:latin typeface="Yekan Bakh" pitchFamily="2" charset="-78"/>
              <a:ea typeface="Yekan Bakh" pitchFamily="2" charset="-78"/>
              <a:cs typeface="Yekan Bakh" pitchFamily="2" charset="-78"/>
            </a:endParaRPr>
          </a:p>
        </p:txBody>
      </p:sp>
      <p:sp>
        <p:nvSpPr>
          <p:cNvPr id="51" name="Rectangle: Rounded Corners 50">
            <a:extLst>
              <a:ext uri="{FF2B5EF4-FFF2-40B4-BE49-F238E27FC236}">
                <a16:creationId xmlns:a16="http://schemas.microsoft.com/office/drawing/2014/main" id="{9AF0C85E-CDB0-BCBD-4067-9A105CE36B22}"/>
              </a:ext>
            </a:extLst>
          </p:cNvPr>
          <p:cNvSpPr/>
          <p:nvPr/>
        </p:nvSpPr>
        <p:spPr>
          <a:xfrm>
            <a:off x="8260320" y="1470696"/>
            <a:ext cx="903319" cy="840931"/>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err="1">
                <a:ln>
                  <a:noFill/>
                </a:ln>
                <a:solidFill>
                  <a:prstClr val="black">
                    <a:lumMod val="75000"/>
                    <a:lumOff val="25000"/>
                  </a:prstClr>
                </a:solidFill>
                <a:effectLst/>
                <a:uLnTx/>
                <a:uFillTx/>
                <a:latin typeface="Yekan Bakh" pitchFamily="2" charset="-78"/>
                <a:ea typeface="Yekan Bakh" pitchFamily="2" charset="-78"/>
                <a:cs typeface="Yekan Bakh" pitchFamily="2" charset="-78"/>
              </a:rPr>
              <a:t>Xpylon</a:t>
            </a:r>
            <a:endParaRPr kumimoji="0" lang="en-US" sz="8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53" name="Rectangle: Rounded Corners 52">
            <a:extLst>
              <a:ext uri="{FF2B5EF4-FFF2-40B4-BE49-F238E27FC236}">
                <a16:creationId xmlns:a16="http://schemas.microsoft.com/office/drawing/2014/main" id="{1E7231D8-1968-A919-4E7D-D82490B7AF2F}"/>
              </a:ext>
            </a:extLst>
          </p:cNvPr>
          <p:cNvSpPr/>
          <p:nvPr/>
        </p:nvSpPr>
        <p:spPr>
          <a:xfrm>
            <a:off x="8260320" y="2343925"/>
            <a:ext cx="903319" cy="840931"/>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50000"/>
              </a:lnSpc>
              <a:spcBef>
                <a:spcPts val="0"/>
              </a:spcBef>
              <a:spcAft>
                <a:spcPts val="0"/>
              </a:spcAft>
              <a:buClrTx/>
              <a:buSzTx/>
              <a:buFontTx/>
              <a:buNone/>
              <a:tabLst/>
              <a:defRPr/>
            </a:pPr>
            <a:r>
              <a:rPr kumimoji="0" lang="fa-IR" sz="7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خریدار ↔ فروشنده / سرمایه‌گذار / طرف تجاری</a:t>
            </a:r>
            <a:endParaRPr kumimoji="0" lang="en-US" sz="7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55" name="Rectangle: Rounded Corners 54">
            <a:extLst>
              <a:ext uri="{FF2B5EF4-FFF2-40B4-BE49-F238E27FC236}">
                <a16:creationId xmlns:a16="http://schemas.microsoft.com/office/drawing/2014/main" id="{76613CEA-1871-025F-9653-4BB8290F1C8C}"/>
              </a:ext>
            </a:extLst>
          </p:cNvPr>
          <p:cNvSpPr/>
          <p:nvPr/>
        </p:nvSpPr>
        <p:spPr>
          <a:xfrm>
            <a:off x="8260320" y="3218773"/>
            <a:ext cx="903319" cy="1320963"/>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50000"/>
              </a:lnSpc>
              <a:spcBef>
                <a:spcPts val="0"/>
              </a:spcBef>
              <a:spcAft>
                <a:spcPts val="0"/>
              </a:spcAft>
              <a:buClrTx/>
              <a:buSzTx/>
              <a:buFontTx/>
              <a:buNone/>
              <a:tabLst/>
              <a:defRPr/>
            </a:pPr>
            <a:r>
              <a:rPr kumimoji="0" lang="fa-IR" sz="7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تطبیق مستمر شبکه‌ای از طرف‌های واجد شرایط</a:t>
            </a:r>
            <a:endParaRPr kumimoji="0" lang="en-US" sz="7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57" name="Rectangle: Rounded Corners 56">
            <a:extLst>
              <a:ext uri="{FF2B5EF4-FFF2-40B4-BE49-F238E27FC236}">
                <a16:creationId xmlns:a16="http://schemas.microsoft.com/office/drawing/2014/main" id="{C67C7BC0-5AE3-D36D-39DB-40F855EFB5C2}"/>
              </a:ext>
            </a:extLst>
          </p:cNvPr>
          <p:cNvSpPr/>
          <p:nvPr/>
        </p:nvSpPr>
        <p:spPr>
          <a:xfrm>
            <a:off x="8260320" y="4572037"/>
            <a:ext cx="903319" cy="1320963"/>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50000"/>
              </a:lnSpc>
              <a:spcBef>
                <a:spcPts val="0"/>
              </a:spcBef>
              <a:spcAft>
                <a:spcPts val="0"/>
              </a:spcAft>
              <a:buClrTx/>
              <a:buSzTx/>
              <a:buFontTx/>
              <a:buNone/>
              <a:tabLst/>
              <a:defRPr/>
            </a:pPr>
            <a:r>
              <a:rPr kumimoji="0" lang="fa-IR" sz="7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یافتن فرصت تجاری مناسب بر اساس نیاز و قصد واقعی طرفین، نه صرفا جست‌وجوی شرکت‌ها</a:t>
            </a:r>
            <a:endParaRPr kumimoji="0" lang="en-US" sz="7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59" name="Rectangle 58">
            <a:extLst>
              <a:ext uri="{FF2B5EF4-FFF2-40B4-BE49-F238E27FC236}">
                <a16:creationId xmlns:a16="http://schemas.microsoft.com/office/drawing/2014/main" id="{26F0226F-C2F9-C210-5282-15FF28BC9B83}"/>
              </a:ext>
            </a:extLst>
          </p:cNvPr>
          <p:cNvSpPr/>
          <p:nvPr/>
        </p:nvSpPr>
        <p:spPr>
          <a:xfrm>
            <a:off x="8530079" y="1303662"/>
            <a:ext cx="363801" cy="1474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prstClr val="white"/>
              </a:solidFill>
              <a:effectLst/>
              <a:uLnTx/>
              <a:uFillTx/>
              <a:latin typeface="Calibri"/>
              <a:ea typeface="+mn-ea"/>
              <a:cs typeface="Calibri"/>
            </a:endParaRPr>
          </a:p>
        </p:txBody>
      </p:sp>
      <p:sp>
        <p:nvSpPr>
          <p:cNvPr id="61" name="TextBox 60">
            <a:extLst>
              <a:ext uri="{FF2B5EF4-FFF2-40B4-BE49-F238E27FC236}">
                <a16:creationId xmlns:a16="http://schemas.microsoft.com/office/drawing/2014/main" id="{B441D751-AF42-1793-0205-409D534CF35D}"/>
              </a:ext>
            </a:extLst>
          </p:cNvPr>
          <p:cNvSpPr txBox="1"/>
          <p:nvPr/>
        </p:nvSpPr>
        <p:spPr>
          <a:xfrm>
            <a:off x="8484771" y="1194438"/>
            <a:ext cx="454417" cy="369332"/>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800" b="1" i="0" u="none" strike="noStrike" kern="1200" cap="none" spc="0" normalizeH="0" baseline="0" noProof="0" dirty="0">
                <a:ln>
                  <a:noFill/>
                </a:ln>
                <a:solidFill>
                  <a:srgbClr val="FDBF03"/>
                </a:solidFill>
                <a:effectLst/>
                <a:uLnTx/>
                <a:uFillTx/>
                <a:latin typeface="Yekan Bakh" pitchFamily="2" charset="-78"/>
                <a:ea typeface="Yekan Bakh" pitchFamily="2" charset="-78"/>
                <a:cs typeface="Yekan Bakh" pitchFamily="2" charset="-78"/>
              </a:rPr>
              <a:t>۱۱</a:t>
            </a:r>
            <a:endParaRPr kumimoji="0" lang="en-GB" sz="1800" b="1" i="0" u="none" strike="noStrike" kern="1200" cap="none" spc="0" normalizeH="0" baseline="0" noProof="0" dirty="0">
              <a:ln>
                <a:noFill/>
              </a:ln>
              <a:solidFill>
                <a:srgbClr val="FDBF03"/>
              </a:solidFill>
              <a:effectLst/>
              <a:uLnTx/>
              <a:uFillTx/>
              <a:latin typeface="Yekan Bakh" pitchFamily="2" charset="-78"/>
              <a:ea typeface="Yekan Bakh" pitchFamily="2" charset="-78"/>
              <a:cs typeface="Yekan Bakh" pitchFamily="2" charset="-78"/>
            </a:endParaRPr>
          </a:p>
        </p:txBody>
      </p:sp>
      <p:sp>
        <p:nvSpPr>
          <p:cNvPr id="63" name="Rectangle: Rounded Corners 62">
            <a:extLst>
              <a:ext uri="{FF2B5EF4-FFF2-40B4-BE49-F238E27FC236}">
                <a16:creationId xmlns:a16="http://schemas.microsoft.com/office/drawing/2014/main" id="{F8AE5C4D-1B76-ABAE-61AF-7BEBD6C40C87}"/>
              </a:ext>
            </a:extLst>
          </p:cNvPr>
          <p:cNvSpPr/>
          <p:nvPr/>
        </p:nvSpPr>
        <p:spPr>
          <a:xfrm>
            <a:off x="7152992" y="1470696"/>
            <a:ext cx="903319" cy="840931"/>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err="1">
                <a:ln>
                  <a:noFill/>
                </a:ln>
                <a:solidFill>
                  <a:prstClr val="black">
                    <a:lumMod val="75000"/>
                    <a:lumOff val="25000"/>
                  </a:prstClr>
                </a:solidFill>
                <a:effectLst/>
                <a:uLnTx/>
                <a:uFillTx/>
                <a:latin typeface="Yekan Bakh" pitchFamily="2" charset="-78"/>
                <a:ea typeface="Yekan Bakh" pitchFamily="2" charset="-78"/>
                <a:cs typeface="Yekan Bakh" pitchFamily="2" charset="-78"/>
              </a:rPr>
              <a:t>FindLight</a:t>
            </a:r>
            <a:r>
              <a:rPr kumimoji="0" lang="en-US" sz="8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 / </a:t>
            </a:r>
            <a:r>
              <a:rPr kumimoji="0" lang="en-US" sz="800" b="1" i="0" u="none" strike="noStrike" kern="1200" cap="none" spc="0" normalizeH="0" baseline="0" noProof="0" dirty="0" err="1">
                <a:ln>
                  <a:noFill/>
                </a:ln>
                <a:solidFill>
                  <a:prstClr val="black">
                    <a:lumMod val="75000"/>
                    <a:lumOff val="25000"/>
                  </a:prstClr>
                </a:solidFill>
                <a:effectLst/>
                <a:uLnTx/>
                <a:uFillTx/>
                <a:latin typeface="Yekan Bakh" pitchFamily="2" charset="-78"/>
                <a:ea typeface="Yekan Bakh" pitchFamily="2" charset="-78"/>
                <a:cs typeface="Yekan Bakh" pitchFamily="2" charset="-78"/>
              </a:rPr>
              <a:t>Glasswing</a:t>
            </a:r>
            <a:endParaRPr kumimoji="0" lang="en-US" sz="8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65" name="Rectangle: Rounded Corners 64">
            <a:extLst>
              <a:ext uri="{FF2B5EF4-FFF2-40B4-BE49-F238E27FC236}">
                <a16:creationId xmlns:a16="http://schemas.microsoft.com/office/drawing/2014/main" id="{C778D8DC-C21A-4915-F959-3D2DF42304AB}"/>
              </a:ext>
            </a:extLst>
          </p:cNvPr>
          <p:cNvSpPr/>
          <p:nvPr/>
        </p:nvSpPr>
        <p:spPr>
          <a:xfrm>
            <a:off x="7152992" y="2343925"/>
            <a:ext cx="903319" cy="840931"/>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50000"/>
              </a:lnSpc>
              <a:spcBef>
                <a:spcPts val="0"/>
              </a:spcBef>
              <a:spcAft>
                <a:spcPts val="0"/>
              </a:spcAft>
              <a:buClrTx/>
              <a:buSzTx/>
              <a:buFontTx/>
              <a:buNone/>
              <a:tabLst/>
              <a:defRPr/>
            </a:pPr>
            <a:r>
              <a:rPr kumimoji="0" lang="fa-IR" sz="7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خریدار ↔ تأمین‌کننده</a:t>
            </a:r>
            <a:endParaRPr kumimoji="0" lang="en-US" sz="7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67" name="Rectangle: Rounded Corners 66">
            <a:extLst>
              <a:ext uri="{FF2B5EF4-FFF2-40B4-BE49-F238E27FC236}">
                <a16:creationId xmlns:a16="http://schemas.microsoft.com/office/drawing/2014/main" id="{988293E5-91F4-7C53-C80D-E5DB7B948E97}"/>
              </a:ext>
            </a:extLst>
          </p:cNvPr>
          <p:cNvSpPr/>
          <p:nvPr/>
        </p:nvSpPr>
        <p:spPr>
          <a:xfrm>
            <a:off x="7152992" y="3218773"/>
            <a:ext cx="903319" cy="1320963"/>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50000"/>
              </a:lnSpc>
              <a:spcBef>
                <a:spcPts val="0"/>
              </a:spcBef>
              <a:spcAft>
                <a:spcPts val="0"/>
              </a:spcAft>
              <a:buClrTx/>
              <a:buSzTx/>
              <a:buFontTx/>
              <a:buNone/>
              <a:tabLst/>
              <a:defRPr/>
            </a:pPr>
            <a:r>
              <a:rPr kumimoji="0" lang="fa-IR" sz="7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ایجاد سرنخ‌های خرید واجد شرایط</a:t>
            </a:r>
            <a:endParaRPr kumimoji="0" lang="en-US" sz="7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69" name="Rectangle: Rounded Corners 68">
            <a:extLst>
              <a:ext uri="{FF2B5EF4-FFF2-40B4-BE49-F238E27FC236}">
                <a16:creationId xmlns:a16="http://schemas.microsoft.com/office/drawing/2014/main" id="{CAA7A9AB-25A4-7195-23DC-894F5A3192FF}"/>
              </a:ext>
            </a:extLst>
          </p:cNvPr>
          <p:cNvSpPr/>
          <p:nvPr/>
        </p:nvSpPr>
        <p:spPr>
          <a:xfrm>
            <a:off x="7152992" y="4572037"/>
            <a:ext cx="903319" cy="1320963"/>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50000"/>
              </a:lnSpc>
              <a:spcBef>
                <a:spcPts val="0"/>
              </a:spcBef>
              <a:spcAft>
                <a:spcPts val="0"/>
              </a:spcAft>
              <a:buClrTx/>
              <a:buSzTx/>
              <a:buFontTx/>
              <a:buNone/>
              <a:tabLst/>
              <a:defRPr/>
            </a:pPr>
            <a:r>
              <a:rPr kumimoji="0" lang="fa-IR" sz="7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تأمین‌کننده به‌جای انجام مستقل </a:t>
            </a:r>
            <a:r>
              <a:rPr kumimoji="0" lang="en-US" sz="7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Lead</a:t>
            </a:r>
            <a:r>
              <a:rPr kumimoji="0" lang="fa-IR" sz="7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 </a:t>
            </a:r>
            <a:r>
              <a:rPr kumimoji="0" lang="en-US" sz="7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Generation، </a:t>
            </a:r>
            <a:r>
              <a:rPr kumimoji="0" lang="fa-IR" sz="7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درخواست‌های خرید مرتبط دریافت می‌کند</a:t>
            </a:r>
            <a:endParaRPr kumimoji="0" lang="en-US" sz="7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71" name="Rectangle 70">
            <a:extLst>
              <a:ext uri="{FF2B5EF4-FFF2-40B4-BE49-F238E27FC236}">
                <a16:creationId xmlns:a16="http://schemas.microsoft.com/office/drawing/2014/main" id="{21E08E6C-4E1B-EBEB-E3C6-4CB342FE050D}"/>
              </a:ext>
            </a:extLst>
          </p:cNvPr>
          <p:cNvSpPr/>
          <p:nvPr/>
        </p:nvSpPr>
        <p:spPr>
          <a:xfrm>
            <a:off x="7422751" y="1303662"/>
            <a:ext cx="363801" cy="1474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prstClr val="white"/>
              </a:solidFill>
              <a:effectLst/>
              <a:uLnTx/>
              <a:uFillTx/>
              <a:latin typeface="Calibri"/>
              <a:ea typeface="+mn-ea"/>
              <a:cs typeface="Calibri"/>
            </a:endParaRPr>
          </a:p>
        </p:txBody>
      </p:sp>
      <p:sp>
        <p:nvSpPr>
          <p:cNvPr id="73" name="TextBox 72">
            <a:extLst>
              <a:ext uri="{FF2B5EF4-FFF2-40B4-BE49-F238E27FC236}">
                <a16:creationId xmlns:a16="http://schemas.microsoft.com/office/drawing/2014/main" id="{A37D27F6-A3EB-A0B7-BAF4-ED7B02BC1779}"/>
              </a:ext>
            </a:extLst>
          </p:cNvPr>
          <p:cNvSpPr txBox="1"/>
          <p:nvPr/>
        </p:nvSpPr>
        <p:spPr>
          <a:xfrm>
            <a:off x="7377443" y="1194438"/>
            <a:ext cx="454417" cy="369332"/>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800" b="1" i="0" u="none" strike="noStrike" kern="1200" cap="none" spc="0" normalizeH="0" baseline="0" noProof="0" dirty="0">
                <a:ln>
                  <a:noFill/>
                </a:ln>
                <a:solidFill>
                  <a:srgbClr val="FDBF03"/>
                </a:solidFill>
                <a:effectLst/>
                <a:uLnTx/>
                <a:uFillTx/>
                <a:latin typeface="Yekan Bakh" pitchFamily="2" charset="-78"/>
                <a:ea typeface="Yekan Bakh" pitchFamily="2" charset="-78"/>
                <a:cs typeface="Yekan Bakh" pitchFamily="2" charset="-78"/>
              </a:rPr>
              <a:t>۱۲</a:t>
            </a:r>
            <a:endParaRPr kumimoji="0" lang="en-GB" sz="1800" b="1" i="0" u="none" strike="noStrike" kern="1200" cap="none" spc="0" normalizeH="0" baseline="0" noProof="0" dirty="0">
              <a:ln>
                <a:noFill/>
              </a:ln>
              <a:solidFill>
                <a:srgbClr val="FDBF03"/>
              </a:solidFill>
              <a:effectLst/>
              <a:uLnTx/>
              <a:uFillTx/>
              <a:latin typeface="Yekan Bakh" pitchFamily="2" charset="-78"/>
              <a:ea typeface="Yekan Bakh" pitchFamily="2" charset="-78"/>
              <a:cs typeface="Yekan Bakh" pitchFamily="2" charset="-78"/>
            </a:endParaRPr>
          </a:p>
        </p:txBody>
      </p:sp>
      <p:sp>
        <p:nvSpPr>
          <p:cNvPr id="75" name="Rectangle: Rounded Corners 74">
            <a:extLst>
              <a:ext uri="{FF2B5EF4-FFF2-40B4-BE49-F238E27FC236}">
                <a16:creationId xmlns:a16="http://schemas.microsoft.com/office/drawing/2014/main" id="{6931A0C5-CB89-325F-F6FC-E291BA959BDC}"/>
              </a:ext>
            </a:extLst>
          </p:cNvPr>
          <p:cNvSpPr/>
          <p:nvPr/>
        </p:nvSpPr>
        <p:spPr>
          <a:xfrm>
            <a:off x="6045664" y="1470696"/>
            <a:ext cx="903319" cy="840931"/>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err="1">
                <a:ln>
                  <a:noFill/>
                </a:ln>
                <a:solidFill>
                  <a:prstClr val="black">
                    <a:lumMod val="75000"/>
                    <a:lumOff val="25000"/>
                  </a:prstClr>
                </a:solidFill>
                <a:effectLst/>
                <a:uLnTx/>
                <a:uFillTx/>
                <a:latin typeface="Yekan Bakh" pitchFamily="2" charset="-78"/>
                <a:ea typeface="Yekan Bakh" pitchFamily="2" charset="-78"/>
                <a:cs typeface="Yekan Bakh" pitchFamily="2" charset="-78"/>
              </a:rPr>
              <a:t>Mahanant</a:t>
            </a:r>
            <a:r>
              <a:rPr kumimoji="0" lang="en-US" sz="8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 Enterprises</a:t>
            </a:r>
          </a:p>
        </p:txBody>
      </p:sp>
      <p:sp>
        <p:nvSpPr>
          <p:cNvPr id="77" name="Rectangle: Rounded Corners 76">
            <a:extLst>
              <a:ext uri="{FF2B5EF4-FFF2-40B4-BE49-F238E27FC236}">
                <a16:creationId xmlns:a16="http://schemas.microsoft.com/office/drawing/2014/main" id="{4EB5C4CA-3709-C447-A819-A6C94260E975}"/>
              </a:ext>
            </a:extLst>
          </p:cNvPr>
          <p:cNvSpPr/>
          <p:nvPr/>
        </p:nvSpPr>
        <p:spPr>
          <a:xfrm>
            <a:off x="6045664" y="2343925"/>
            <a:ext cx="903319" cy="840931"/>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50000"/>
              </a:lnSpc>
              <a:spcBef>
                <a:spcPts val="0"/>
              </a:spcBef>
              <a:spcAft>
                <a:spcPts val="0"/>
              </a:spcAft>
              <a:buClrTx/>
              <a:buSzTx/>
              <a:buFontTx/>
              <a:buNone/>
              <a:tabLst/>
              <a:defRPr/>
            </a:pPr>
            <a:r>
              <a:rPr kumimoji="0" lang="fa-IR" sz="7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خریدار ↔ تأمین‌کننده</a:t>
            </a:r>
            <a:endParaRPr kumimoji="0" lang="en-US" sz="7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79" name="Rectangle: Rounded Corners 78">
            <a:extLst>
              <a:ext uri="{FF2B5EF4-FFF2-40B4-BE49-F238E27FC236}">
                <a16:creationId xmlns:a16="http://schemas.microsoft.com/office/drawing/2014/main" id="{BC6D6D96-333E-01DF-5277-F6C6674235F2}"/>
              </a:ext>
            </a:extLst>
          </p:cNvPr>
          <p:cNvSpPr/>
          <p:nvPr/>
        </p:nvSpPr>
        <p:spPr>
          <a:xfrm>
            <a:off x="6045664" y="3218773"/>
            <a:ext cx="903319" cy="1320963"/>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50000"/>
              </a:lnSpc>
              <a:spcBef>
                <a:spcPts val="0"/>
              </a:spcBef>
              <a:spcAft>
                <a:spcPts val="0"/>
              </a:spcAft>
              <a:buClrTx/>
              <a:buSzTx/>
              <a:buFontTx/>
              <a:buNone/>
              <a:tabLst/>
              <a:defRPr/>
            </a:pPr>
            <a:r>
              <a:rPr kumimoji="0" lang="fa-IR" sz="7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تطبیق خریدار و تأمین‌کننده در بازارهای بین‌المللی</a:t>
            </a:r>
            <a:endParaRPr kumimoji="0" lang="en-US" sz="7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81" name="Rectangle: Rounded Corners 80">
            <a:extLst>
              <a:ext uri="{FF2B5EF4-FFF2-40B4-BE49-F238E27FC236}">
                <a16:creationId xmlns:a16="http://schemas.microsoft.com/office/drawing/2014/main" id="{B2FE7DC9-1AE3-7407-0C43-477F3AAA6603}"/>
              </a:ext>
            </a:extLst>
          </p:cNvPr>
          <p:cNvSpPr/>
          <p:nvPr/>
        </p:nvSpPr>
        <p:spPr>
          <a:xfrm>
            <a:off x="6045664" y="4572037"/>
            <a:ext cx="903319" cy="1320963"/>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50000"/>
              </a:lnSpc>
              <a:spcBef>
                <a:spcPts val="0"/>
              </a:spcBef>
              <a:spcAft>
                <a:spcPts val="0"/>
              </a:spcAft>
              <a:buClrTx/>
              <a:buSzTx/>
              <a:buFontTx/>
              <a:buNone/>
              <a:tabLst/>
              <a:defRPr/>
            </a:pPr>
            <a:r>
              <a:rPr kumimoji="0" lang="fa-IR" sz="7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علاوه بر یافتن طرف مقابل، در تأمین، مذاکره و هماهنگی صادرات نیز کمک می‌کند</a:t>
            </a:r>
            <a:endParaRPr kumimoji="0" lang="en-US" sz="7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83" name="Rectangle 82">
            <a:extLst>
              <a:ext uri="{FF2B5EF4-FFF2-40B4-BE49-F238E27FC236}">
                <a16:creationId xmlns:a16="http://schemas.microsoft.com/office/drawing/2014/main" id="{4BF4FE73-DD30-713D-C766-7F8C44DA5259}"/>
              </a:ext>
            </a:extLst>
          </p:cNvPr>
          <p:cNvSpPr/>
          <p:nvPr/>
        </p:nvSpPr>
        <p:spPr>
          <a:xfrm>
            <a:off x="6315423" y="1303662"/>
            <a:ext cx="363801" cy="1474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prstClr val="white"/>
              </a:solidFill>
              <a:effectLst/>
              <a:uLnTx/>
              <a:uFillTx/>
              <a:latin typeface="Calibri"/>
              <a:ea typeface="+mn-ea"/>
              <a:cs typeface="Calibri"/>
            </a:endParaRPr>
          </a:p>
        </p:txBody>
      </p:sp>
      <p:sp>
        <p:nvSpPr>
          <p:cNvPr id="85" name="TextBox 84">
            <a:extLst>
              <a:ext uri="{FF2B5EF4-FFF2-40B4-BE49-F238E27FC236}">
                <a16:creationId xmlns:a16="http://schemas.microsoft.com/office/drawing/2014/main" id="{7558F91D-942D-D5DF-BDEA-49D8FD08744C}"/>
              </a:ext>
            </a:extLst>
          </p:cNvPr>
          <p:cNvSpPr txBox="1"/>
          <p:nvPr/>
        </p:nvSpPr>
        <p:spPr>
          <a:xfrm>
            <a:off x="6270115" y="1194438"/>
            <a:ext cx="454417" cy="369332"/>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800" b="1" i="0" u="none" strike="noStrike" kern="1200" cap="none" spc="0" normalizeH="0" baseline="0" noProof="0" dirty="0">
                <a:ln>
                  <a:noFill/>
                </a:ln>
                <a:solidFill>
                  <a:srgbClr val="FDBF03"/>
                </a:solidFill>
                <a:effectLst/>
                <a:uLnTx/>
                <a:uFillTx/>
                <a:latin typeface="Yekan Bakh" pitchFamily="2" charset="-78"/>
                <a:ea typeface="Yekan Bakh" pitchFamily="2" charset="-78"/>
                <a:cs typeface="Yekan Bakh" pitchFamily="2" charset="-78"/>
              </a:rPr>
              <a:t>۱۳</a:t>
            </a:r>
            <a:endParaRPr kumimoji="0" lang="en-GB" sz="1800" b="1" i="0" u="none" strike="noStrike" kern="1200" cap="none" spc="0" normalizeH="0" baseline="0" noProof="0" dirty="0">
              <a:ln>
                <a:noFill/>
              </a:ln>
              <a:solidFill>
                <a:srgbClr val="FDBF03"/>
              </a:solidFill>
              <a:effectLst/>
              <a:uLnTx/>
              <a:uFillTx/>
              <a:latin typeface="Yekan Bakh" pitchFamily="2" charset="-78"/>
              <a:ea typeface="Yekan Bakh" pitchFamily="2" charset="-78"/>
              <a:cs typeface="Yekan Bakh" pitchFamily="2" charset="-78"/>
            </a:endParaRPr>
          </a:p>
        </p:txBody>
      </p:sp>
      <p:sp>
        <p:nvSpPr>
          <p:cNvPr id="87" name="Rectangle: Rounded Corners 86">
            <a:extLst>
              <a:ext uri="{FF2B5EF4-FFF2-40B4-BE49-F238E27FC236}">
                <a16:creationId xmlns:a16="http://schemas.microsoft.com/office/drawing/2014/main" id="{73ABDFC7-4018-54B8-4007-6375B266466B}"/>
              </a:ext>
            </a:extLst>
          </p:cNvPr>
          <p:cNvSpPr/>
          <p:nvPr/>
        </p:nvSpPr>
        <p:spPr>
          <a:xfrm>
            <a:off x="4938336" y="1470696"/>
            <a:ext cx="903319" cy="840931"/>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TTAI EMA</a:t>
            </a:r>
          </a:p>
        </p:txBody>
      </p:sp>
      <p:sp>
        <p:nvSpPr>
          <p:cNvPr id="89" name="Rectangle: Rounded Corners 88">
            <a:extLst>
              <a:ext uri="{FF2B5EF4-FFF2-40B4-BE49-F238E27FC236}">
                <a16:creationId xmlns:a16="http://schemas.microsoft.com/office/drawing/2014/main" id="{385CC791-58C8-E222-B69E-AAE824380002}"/>
              </a:ext>
            </a:extLst>
          </p:cNvPr>
          <p:cNvSpPr/>
          <p:nvPr/>
        </p:nvSpPr>
        <p:spPr>
          <a:xfrm>
            <a:off x="4938336" y="2343925"/>
            <a:ext cx="903319" cy="840931"/>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50000"/>
              </a:lnSpc>
              <a:spcBef>
                <a:spcPts val="0"/>
              </a:spcBef>
              <a:spcAft>
                <a:spcPts val="0"/>
              </a:spcAft>
              <a:buClrTx/>
              <a:buSzTx/>
              <a:buFontTx/>
              <a:buNone/>
              <a:tabLst/>
              <a:defRPr/>
            </a:pPr>
            <a:r>
              <a:rPr kumimoji="0" lang="fa-IR" sz="7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خریدار ↔ تأمین‌کننده / توزیع‌کننده / شریک</a:t>
            </a:r>
            <a:endParaRPr kumimoji="0" lang="en-US" sz="7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91" name="Rectangle: Rounded Corners 90">
            <a:extLst>
              <a:ext uri="{FF2B5EF4-FFF2-40B4-BE49-F238E27FC236}">
                <a16:creationId xmlns:a16="http://schemas.microsoft.com/office/drawing/2014/main" id="{7BEB85D9-FD4B-AAC1-EB56-9A46F9B75083}"/>
              </a:ext>
            </a:extLst>
          </p:cNvPr>
          <p:cNvSpPr/>
          <p:nvPr/>
        </p:nvSpPr>
        <p:spPr>
          <a:xfrm>
            <a:off x="4938336" y="3218773"/>
            <a:ext cx="903319" cy="1320963"/>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50000"/>
              </a:lnSpc>
              <a:spcBef>
                <a:spcPts val="0"/>
              </a:spcBef>
              <a:spcAft>
                <a:spcPts val="0"/>
              </a:spcAft>
              <a:buClrTx/>
              <a:buSzTx/>
              <a:buFontTx/>
              <a:buNone/>
              <a:tabLst/>
              <a:defRPr/>
            </a:pPr>
            <a:r>
              <a:rPr kumimoji="0" lang="fa-IR" sz="7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ترکیب تطبیق خریدار و تأمین‌کننده، یافتن توزیع‌کننده و شریک و ورود به بازار</a:t>
            </a:r>
            <a:endParaRPr kumimoji="0" lang="en-US" sz="7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93" name="Rectangle: Rounded Corners 92">
            <a:extLst>
              <a:ext uri="{FF2B5EF4-FFF2-40B4-BE49-F238E27FC236}">
                <a16:creationId xmlns:a16="http://schemas.microsoft.com/office/drawing/2014/main" id="{EFAFD8DB-D89B-73E3-44DA-7FB5ED908F29}"/>
              </a:ext>
            </a:extLst>
          </p:cNvPr>
          <p:cNvSpPr/>
          <p:nvPr/>
        </p:nvSpPr>
        <p:spPr>
          <a:xfrm>
            <a:off x="4938336" y="4572037"/>
            <a:ext cx="903319" cy="1320963"/>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50000"/>
              </a:lnSpc>
              <a:spcBef>
                <a:spcPts val="0"/>
              </a:spcBef>
              <a:spcAft>
                <a:spcPts val="0"/>
              </a:spcAft>
              <a:buClrTx/>
              <a:buSzTx/>
              <a:buFontTx/>
              <a:buNone/>
              <a:tabLst/>
              <a:defRPr/>
            </a:pPr>
            <a:r>
              <a:rPr kumimoji="0" lang="fa-IR" sz="7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به‌جای خرید چند خدمت جداگانه، مجموعه‌ای از خدمات توسعه بازار را یکجا ارائه می‌کند</a:t>
            </a:r>
            <a:endParaRPr kumimoji="0" lang="en-US" sz="7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95" name="Rectangle 94">
            <a:extLst>
              <a:ext uri="{FF2B5EF4-FFF2-40B4-BE49-F238E27FC236}">
                <a16:creationId xmlns:a16="http://schemas.microsoft.com/office/drawing/2014/main" id="{C4E119BA-0F17-AF0F-4907-26841E62AB0D}"/>
              </a:ext>
            </a:extLst>
          </p:cNvPr>
          <p:cNvSpPr/>
          <p:nvPr/>
        </p:nvSpPr>
        <p:spPr>
          <a:xfrm>
            <a:off x="5208095" y="1303662"/>
            <a:ext cx="363801" cy="1474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prstClr val="white"/>
              </a:solidFill>
              <a:effectLst/>
              <a:uLnTx/>
              <a:uFillTx/>
              <a:latin typeface="Calibri"/>
              <a:ea typeface="+mn-ea"/>
              <a:cs typeface="Calibri"/>
            </a:endParaRPr>
          </a:p>
        </p:txBody>
      </p:sp>
      <p:sp>
        <p:nvSpPr>
          <p:cNvPr id="97" name="TextBox 96">
            <a:extLst>
              <a:ext uri="{FF2B5EF4-FFF2-40B4-BE49-F238E27FC236}">
                <a16:creationId xmlns:a16="http://schemas.microsoft.com/office/drawing/2014/main" id="{4AAA9656-2A29-AFCF-2A5D-2C6B2A890F52}"/>
              </a:ext>
            </a:extLst>
          </p:cNvPr>
          <p:cNvSpPr txBox="1"/>
          <p:nvPr/>
        </p:nvSpPr>
        <p:spPr>
          <a:xfrm>
            <a:off x="5162787" y="1194438"/>
            <a:ext cx="454417" cy="369332"/>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800" b="1" i="0" u="none" strike="noStrike" kern="1200" cap="none" spc="0" normalizeH="0" baseline="0" noProof="0" dirty="0">
                <a:ln>
                  <a:noFill/>
                </a:ln>
                <a:solidFill>
                  <a:srgbClr val="FDBF03"/>
                </a:solidFill>
                <a:effectLst/>
                <a:uLnTx/>
                <a:uFillTx/>
                <a:latin typeface="Yekan Bakh" pitchFamily="2" charset="-78"/>
                <a:ea typeface="Yekan Bakh" pitchFamily="2" charset="-78"/>
                <a:cs typeface="Yekan Bakh" pitchFamily="2" charset="-78"/>
              </a:rPr>
              <a:t>۱۴</a:t>
            </a:r>
            <a:endParaRPr kumimoji="0" lang="en-GB" sz="1800" b="1" i="0" u="none" strike="noStrike" kern="1200" cap="none" spc="0" normalizeH="0" baseline="0" noProof="0" dirty="0">
              <a:ln>
                <a:noFill/>
              </a:ln>
              <a:solidFill>
                <a:srgbClr val="FDBF03"/>
              </a:solidFill>
              <a:effectLst/>
              <a:uLnTx/>
              <a:uFillTx/>
              <a:latin typeface="Yekan Bakh" pitchFamily="2" charset="-78"/>
              <a:ea typeface="Yekan Bakh" pitchFamily="2" charset="-78"/>
              <a:cs typeface="Yekan Bakh" pitchFamily="2" charset="-78"/>
            </a:endParaRPr>
          </a:p>
        </p:txBody>
      </p:sp>
      <p:sp>
        <p:nvSpPr>
          <p:cNvPr id="99" name="Rectangle: Rounded Corners 98">
            <a:extLst>
              <a:ext uri="{FF2B5EF4-FFF2-40B4-BE49-F238E27FC236}">
                <a16:creationId xmlns:a16="http://schemas.microsoft.com/office/drawing/2014/main" id="{2587B8E2-4F8F-1514-00B3-723CDBDCB616}"/>
              </a:ext>
            </a:extLst>
          </p:cNvPr>
          <p:cNvSpPr/>
          <p:nvPr/>
        </p:nvSpPr>
        <p:spPr>
          <a:xfrm>
            <a:off x="3831008" y="1470696"/>
            <a:ext cx="903319" cy="840931"/>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err="1">
                <a:ln>
                  <a:noFill/>
                </a:ln>
                <a:solidFill>
                  <a:prstClr val="black">
                    <a:lumMod val="75000"/>
                    <a:lumOff val="25000"/>
                  </a:prstClr>
                </a:solidFill>
                <a:effectLst/>
                <a:uLnTx/>
                <a:uFillTx/>
                <a:latin typeface="Yekan Bakh" pitchFamily="2" charset="-78"/>
                <a:ea typeface="Yekan Bakh" pitchFamily="2" charset="-78"/>
                <a:cs typeface="Yekan Bakh" pitchFamily="2" charset="-78"/>
              </a:rPr>
              <a:t>Nahawand</a:t>
            </a:r>
            <a:endParaRPr kumimoji="0" lang="en-US" sz="8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101" name="Rectangle: Rounded Corners 100">
            <a:extLst>
              <a:ext uri="{FF2B5EF4-FFF2-40B4-BE49-F238E27FC236}">
                <a16:creationId xmlns:a16="http://schemas.microsoft.com/office/drawing/2014/main" id="{50A75202-B958-C0BD-C3FC-2D714BCCD56F}"/>
              </a:ext>
            </a:extLst>
          </p:cNvPr>
          <p:cNvSpPr/>
          <p:nvPr/>
        </p:nvSpPr>
        <p:spPr>
          <a:xfrm>
            <a:off x="3831008" y="2343925"/>
            <a:ext cx="903319" cy="840931"/>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50000"/>
              </a:lnSpc>
              <a:spcBef>
                <a:spcPts val="0"/>
              </a:spcBef>
              <a:spcAft>
                <a:spcPts val="0"/>
              </a:spcAft>
              <a:buClrTx/>
              <a:buSzTx/>
              <a:buFontTx/>
              <a:buNone/>
              <a:tabLst/>
              <a:defRPr/>
            </a:pPr>
            <a:r>
              <a:rPr kumimoji="0" lang="fa-IR" sz="7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تأمین‌کننده منطقه‌ای ↔ خریدار جهانی</a:t>
            </a:r>
            <a:endParaRPr kumimoji="0" lang="en-US" sz="7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103" name="Rectangle: Rounded Corners 102">
            <a:extLst>
              <a:ext uri="{FF2B5EF4-FFF2-40B4-BE49-F238E27FC236}">
                <a16:creationId xmlns:a16="http://schemas.microsoft.com/office/drawing/2014/main" id="{92979279-A785-100A-867A-C7F1CE752BDF}"/>
              </a:ext>
            </a:extLst>
          </p:cNvPr>
          <p:cNvSpPr/>
          <p:nvPr/>
        </p:nvSpPr>
        <p:spPr>
          <a:xfrm>
            <a:off x="3831008" y="3218773"/>
            <a:ext cx="903319" cy="1320963"/>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50000"/>
              </a:lnSpc>
              <a:spcBef>
                <a:spcPts val="0"/>
              </a:spcBef>
              <a:spcAft>
                <a:spcPts val="0"/>
              </a:spcAft>
              <a:buClrTx/>
              <a:buSzTx/>
              <a:buFontTx/>
              <a:buNone/>
              <a:tabLst/>
              <a:defRPr/>
            </a:pPr>
            <a:r>
              <a:rPr kumimoji="0" lang="fa-IR" sz="7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ایجاد ارتباط مبتنی بر اعتماد میان تأمین‌کنندگان اعتبارسنجی‌شده و خریداران بین‌المللی</a:t>
            </a:r>
            <a:endParaRPr kumimoji="0" lang="en-US" sz="7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105" name="Rectangle: Rounded Corners 104">
            <a:extLst>
              <a:ext uri="{FF2B5EF4-FFF2-40B4-BE49-F238E27FC236}">
                <a16:creationId xmlns:a16="http://schemas.microsoft.com/office/drawing/2014/main" id="{F8D97FD5-F592-0B7D-071D-56BE0121F01B}"/>
              </a:ext>
            </a:extLst>
          </p:cNvPr>
          <p:cNvSpPr/>
          <p:nvPr/>
        </p:nvSpPr>
        <p:spPr>
          <a:xfrm>
            <a:off x="3831008" y="4572037"/>
            <a:ext cx="903319" cy="1320963"/>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50000"/>
              </a:lnSpc>
              <a:spcBef>
                <a:spcPts val="0"/>
              </a:spcBef>
              <a:spcAft>
                <a:spcPts val="0"/>
              </a:spcAft>
              <a:buClrTx/>
              <a:buSzTx/>
              <a:buFontTx/>
              <a:buNone/>
              <a:tabLst/>
              <a:defRPr/>
            </a:pPr>
            <a:r>
              <a:rPr kumimoji="0" lang="fa-IR" sz="7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مسئله اعتماد و اعتبار طرفین را پیش از معرفی کاهش می‌دهد</a:t>
            </a:r>
            <a:endParaRPr kumimoji="0" lang="en-US" sz="7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107" name="Rectangle 106">
            <a:extLst>
              <a:ext uri="{FF2B5EF4-FFF2-40B4-BE49-F238E27FC236}">
                <a16:creationId xmlns:a16="http://schemas.microsoft.com/office/drawing/2014/main" id="{2C91E5FB-1994-295A-D51A-5D97E95D5DE7}"/>
              </a:ext>
            </a:extLst>
          </p:cNvPr>
          <p:cNvSpPr/>
          <p:nvPr/>
        </p:nvSpPr>
        <p:spPr>
          <a:xfrm>
            <a:off x="4100767" y="1303662"/>
            <a:ext cx="363801" cy="1474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prstClr val="white"/>
              </a:solidFill>
              <a:effectLst/>
              <a:uLnTx/>
              <a:uFillTx/>
              <a:latin typeface="Calibri"/>
              <a:ea typeface="+mn-ea"/>
              <a:cs typeface="Calibri"/>
            </a:endParaRPr>
          </a:p>
        </p:txBody>
      </p:sp>
      <p:sp>
        <p:nvSpPr>
          <p:cNvPr id="109" name="TextBox 108">
            <a:extLst>
              <a:ext uri="{FF2B5EF4-FFF2-40B4-BE49-F238E27FC236}">
                <a16:creationId xmlns:a16="http://schemas.microsoft.com/office/drawing/2014/main" id="{59D44A81-A72A-0343-AAFD-89000DE13344}"/>
              </a:ext>
            </a:extLst>
          </p:cNvPr>
          <p:cNvSpPr txBox="1"/>
          <p:nvPr/>
        </p:nvSpPr>
        <p:spPr>
          <a:xfrm>
            <a:off x="4055459" y="1194438"/>
            <a:ext cx="454417" cy="369332"/>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800" b="1" i="0" u="none" strike="noStrike" kern="1200" cap="none" spc="0" normalizeH="0" baseline="0" noProof="0" dirty="0">
                <a:ln>
                  <a:noFill/>
                </a:ln>
                <a:solidFill>
                  <a:srgbClr val="FDBF03"/>
                </a:solidFill>
                <a:effectLst/>
                <a:uLnTx/>
                <a:uFillTx/>
                <a:latin typeface="Yekan Bakh" pitchFamily="2" charset="-78"/>
                <a:ea typeface="Yekan Bakh" pitchFamily="2" charset="-78"/>
                <a:cs typeface="Yekan Bakh" pitchFamily="2" charset="-78"/>
              </a:rPr>
              <a:t>۱۵</a:t>
            </a:r>
            <a:endParaRPr kumimoji="0" lang="en-GB" sz="1800" b="1" i="0" u="none" strike="noStrike" kern="1200" cap="none" spc="0" normalizeH="0" baseline="0" noProof="0" dirty="0">
              <a:ln>
                <a:noFill/>
              </a:ln>
              <a:solidFill>
                <a:srgbClr val="FDBF03"/>
              </a:solidFill>
              <a:effectLst/>
              <a:uLnTx/>
              <a:uFillTx/>
              <a:latin typeface="Yekan Bakh" pitchFamily="2" charset="-78"/>
              <a:ea typeface="Yekan Bakh" pitchFamily="2" charset="-78"/>
              <a:cs typeface="Yekan Bakh" pitchFamily="2" charset="-78"/>
            </a:endParaRPr>
          </a:p>
        </p:txBody>
      </p:sp>
      <p:sp>
        <p:nvSpPr>
          <p:cNvPr id="111" name="Rectangle: Rounded Corners 110">
            <a:extLst>
              <a:ext uri="{FF2B5EF4-FFF2-40B4-BE49-F238E27FC236}">
                <a16:creationId xmlns:a16="http://schemas.microsoft.com/office/drawing/2014/main" id="{7B6B7354-5888-2E2E-AB69-D4FCF5949186}"/>
              </a:ext>
            </a:extLst>
          </p:cNvPr>
          <p:cNvSpPr/>
          <p:nvPr/>
        </p:nvSpPr>
        <p:spPr>
          <a:xfrm>
            <a:off x="2723680" y="1470696"/>
            <a:ext cx="903319" cy="840931"/>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HYIP / Apex Commerce Grid</a:t>
            </a:r>
          </a:p>
        </p:txBody>
      </p:sp>
      <p:sp>
        <p:nvSpPr>
          <p:cNvPr id="113" name="Rectangle: Rounded Corners 112">
            <a:extLst>
              <a:ext uri="{FF2B5EF4-FFF2-40B4-BE49-F238E27FC236}">
                <a16:creationId xmlns:a16="http://schemas.microsoft.com/office/drawing/2014/main" id="{FF05AE3C-B24F-9C2C-572A-D6AA22752977}"/>
              </a:ext>
            </a:extLst>
          </p:cNvPr>
          <p:cNvSpPr/>
          <p:nvPr/>
        </p:nvSpPr>
        <p:spPr>
          <a:xfrm>
            <a:off x="2723680" y="2343925"/>
            <a:ext cx="903319" cy="840931"/>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50000"/>
              </a:lnSpc>
              <a:spcBef>
                <a:spcPts val="0"/>
              </a:spcBef>
              <a:spcAft>
                <a:spcPts val="0"/>
              </a:spcAft>
              <a:buClrTx/>
              <a:buSzTx/>
              <a:buFontTx/>
              <a:buNone/>
              <a:tabLst/>
              <a:defRPr/>
            </a:pPr>
            <a:r>
              <a:rPr kumimoji="0" lang="fa-IR" sz="7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تأمین‌کننده</a:t>
            </a:r>
            <a:r>
              <a:rPr kumimoji="0" lang="en-US" sz="7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B2B ↔</a:t>
            </a:r>
            <a:r>
              <a:rPr kumimoji="0" lang="fa-IR" sz="7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 خریدار سازمانی / کانال توزیع</a:t>
            </a:r>
            <a:endParaRPr kumimoji="0" lang="en-US" sz="7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115" name="Rectangle: Rounded Corners 114">
            <a:extLst>
              <a:ext uri="{FF2B5EF4-FFF2-40B4-BE49-F238E27FC236}">
                <a16:creationId xmlns:a16="http://schemas.microsoft.com/office/drawing/2014/main" id="{8C41AC61-2D0A-5DFC-0DCA-E7FBB0467DD0}"/>
              </a:ext>
            </a:extLst>
          </p:cNvPr>
          <p:cNvSpPr/>
          <p:nvPr/>
        </p:nvSpPr>
        <p:spPr>
          <a:xfrm>
            <a:off x="2723680" y="3218773"/>
            <a:ext cx="903319" cy="1320963"/>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50000"/>
              </a:lnSpc>
              <a:spcBef>
                <a:spcPts val="0"/>
              </a:spcBef>
              <a:spcAft>
                <a:spcPts val="0"/>
              </a:spcAft>
              <a:buClrTx/>
              <a:buSzTx/>
              <a:buFontTx/>
              <a:buNone/>
              <a:tabLst/>
              <a:defRPr/>
            </a:pPr>
            <a:r>
              <a:rPr kumimoji="0" lang="fa-IR" sz="7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دسترسی به پایپ‌لاین فروش بین‌المللی از پیش ایجادشده</a:t>
            </a:r>
            <a:endParaRPr kumimoji="0" lang="en-US" sz="7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117" name="Rectangle: Rounded Corners 116">
            <a:extLst>
              <a:ext uri="{FF2B5EF4-FFF2-40B4-BE49-F238E27FC236}">
                <a16:creationId xmlns:a16="http://schemas.microsoft.com/office/drawing/2014/main" id="{5F4D6616-954E-D7FD-2A32-BFE3F2A8E2D6}"/>
              </a:ext>
            </a:extLst>
          </p:cNvPr>
          <p:cNvSpPr/>
          <p:nvPr/>
        </p:nvSpPr>
        <p:spPr>
          <a:xfrm>
            <a:off x="2723680" y="4572037"/>
            <a:ext cx="903319" cy="1320963"/>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50000"/>
              </a:lnSpc>
              <a:spcBef>
                <a:spcPts val="0"/>
              </a:spcBef>
              <a:spcAft>
                <a:spcPts val="0"/>
              </a:spcAft>
              <a:buClrTx/>
              <a:buSzTx/>
              <a:buFontTx/>
              <a:buNone/>
              <a:tabLst/>
              <a:defRPr/>
            </a:pPr>
            <a:r>
              <a:rPr kumimoji="0" lang="fa-IR" sz="7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شرکت لازم نیست خودش شبکه فروش بین‌المللی ایجاد کند و می‌تواند از شبکه موجود استفاده کند</a:t>
            </a:r>
            <a:endParaRPr kumimoji="0" lang="en-US" sz="7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119" name="Rectangle 118">
            <a:extLst>
              <a:ext uri="{FF2B5EF4-FFF2-40B4-BE49-F238E27FC236}">
                <a16:creationId xmlns:a16="http://schemas.microsoft.com/office/drawing/2014/main" id="{2AC62075-1FAC-3DE5-1B91-A6FE7945E98B}"/>
              </a:ext>
            </a:extLst>
          </p:cNvPr>
          <p:cNvSpPr/>
          <p:nvPr/>
        </p:nvSpPr>
        <p:spPr>
          <a:xfrm>
            <a:off x="2993439" y="1303662"/>
            <a:ext cx="363801" cy="1474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prstClr val="white"/>
              </a:solidFill>
              <a:effectLst/>
              <a:uLnTx/>
              <a:uFillTx/>
              <a:latin typeface="Calibri"/>
              <a:ea typeface="+mn-ea"/>
              <a:cs typeface="Calibri"/>
            </a:endParaRPr>
          </a:p>
        </p:txBody>
      </p:sp>
      <p:sp>
        <p:nvSpPr>
          <p:cNvPr id="121" name="TextBox 120">
            <a:extLst>
              <a:ext uri="{FF2B5EF4-FFF2-40B4-BE49-F238E27FC236}">
                <a16:creationId xmlns:a16="http://schemas.microsoft.com/office/drawing/2014/main" id="{59173877-5612-666D-1472-DD81B9436606}"/>
              </a:ext>
            </a:extLst>
          </p:cNvPr>
          <p:cNvSpPr txBox="1"/>
          <p:nvPr/>
        </p:nvSpPr>
        <p:spPr>
          <a:xfrm>
            <a:off x="2948131" y="1194438"/>
            <a:ext cx="454417" cy="369332"/>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800" b="1" i="0" u="none" strike="noStrike" kern="1200" cap="none" spc="0" normalizeH="0" baseline="0" noProof="0" dirty="0">
                <a:ln>
                  <a:noFill/>
                </a:ln>
                <a:solidFill>
                  <a:srgbClr val="FDBF03"/>
                </a:solidFill>
                <a:effectLst/>
                <a:uLnTx/>
                <a:uFillTx/>
                <a:latin typeface="Yekan Bakh" pitchFamily="2" charset="-78"/>
                <a:ea typeface="Yekan Bakh" pitchFamily="2" charset="-78"/>
                <a:cs typeface="Yekan Bakh" pitchFamily="2" charset="-78"/>
              </a:rPr>
              <a:t>۱۶</a:t>
            </a:r>
            <a:endParaRPr kumimoji="0" lang="en-GB" sz="1800" b="1" i="0" u="none" strike="noStrike" kern="1200" cap="none" spc="0" normalizeH="0" baseline="0" noProof="0" dirty="0">
              <a:ln>
                <a:noFill/>
              </a:ln>
              <a:solidFill>
                <a:srgbClr val="FDBF03"/>
              </a:solidFill>
              <a:effectLst/>
              <a:uLnTx/>
              <a:uFillTx/>
              <a:latin typeface="Yekan Bakh" pitchFamily="2" charset="-78"/>
              <a:ea typeface="Yekan Bakh" pitchFamily="2" charset="-78"/>
              <a:cs typeface="Yekan Bakh" pitchFamily="2" charset="-78"/>
            </a:endParaRPr>
          </a:p>
        </p:txBody>
      </p:sp>
      <p:sp>
        <p:nvSpPr>
          <p:cNvPr id="123" name="Rectangle: Rounded Corners 122">
            <a:extLst>
              <a:ext uri="{FF2B5EF4-FFF2-40B4-BE49-F238E27FC236}">
                <a16:creationId xmlns:a16="http://schemas.microsoft.com/office/drawing/2014/main" id="{301F42D6-CDEE-62C0-0CC1-04044D8749E4}"/>
              </a:ext>
            </a:extLst>
          </p:cNvPr>
          <p:cNvSpPr/>
          <p:nvPr/>
        </p:nvSpPr>
        <p:spPr>
          <a:xfrm>
            <a:off x="1616352" y="1470696"/>
            <a:ext cx="903319" cy="840931"/>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Lyndon Advisory</a:t>
            </a:r>
          </a:p>
        </p:txBody>
      </p:sp>
      <p:sp>
        <p:nvSpPr>
          <p:cNvPr id="125" name="Rectangle: Rounded Corners 124">
            <a:extLst>
              <a:ext uri="{FF2B5EF4-FFF2-40B4-BE49-F238E27FC236}">
                <a16:creationId xmlns:a16="http://schemas.microsoft.com/office/drawing/2014/main" id="{7771DAEB-F517-EA2D-B980-2561AF8907A7}"/>
              </a:ext>
            </a:extLst>
          </p:cNvPr>
          <p:cNvSpPr/>
          <p:nvPr/>
        </p:nvSpPr>
        <p:spPr>
          <a:xfrm>
            <a:off x="1616352" y="2343925"/>
            <a:ext cx="903319" cy="840931"/>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50000"/>
              </a:lnSpc>
              <a:spcBef>
                <a:spcPts val="0"/>
              </a:spcBef>
              <a:spcAft>
                <a:spcPts val="0"/>
              </a:spcAft>
              <a:buClrTx/>
              <a:buSzTx/>
              <a:buFontTx/>
              <a:buNone/>
              <a:tabLst/>
              <a:defRPr/>
            </a:pPr>
            <a:r>
              <a:rPr kumimoji="0" lang="fa-IR" sz="7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فروشنده شرکت ↔ خریدار / سرمایه‌گذار</a:t>
            </a:r>
            <a:endParaRPr kumimoji="0" lang="en-US" sz="7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127" name="Rectangle: Rounded Corners 126">
            <a:extLst>
              <a:ext uri="{FF2B5EF4-FFF2-40B4-BE49-F238E27FC236}">
                <a16:creationId xmlns:a16="http://schemas.microsoft.com/office/drawing/2014/main" id="{73ED8786-C809-1ECF-5DF8-69EE308562E4}"/>
              </a:ext>
            </a:extLst>
          </p:cNvPr>
          <p:cNvSpPr/>
          <p:nvPr/>
        </p:nvSpPr>
        <p:spPr>
          <a:xfrm>
            <a:off x="1616352" y="3218773"/>
            <a:ext cx="903319" cy="1320963"/>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50000"/>
              </a:lnSpc>
              <a:spcBef>
                <a:spcPts val="0"/>
              </a:spcBef>
              <a:spcAft>
                <a:spcPts val="0"/>
              </a:spcAft>
              <a:buClrTx/>
              <a:buSzTx/>
              <a:buFontTx/>
              <a:buNone/>
              <a:tabLst/>
              <a:defRPr/>
            </a:pPr>
            <a:r>
              <a:rPr kumimoji="0" lang="fa-IR" sz="7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دسترسی به شبکه خریداران فعال و جریان معاملات و مدیریت فرآیند معامله</a:t>
            </a:r>
            <a:endParaRPr kumimoji="0" lang="en-US" sz="7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129" name="Rectangle: Rounded Corners 128">
            <a:extLst>
              <a:ext uri="{FF2B5EF4-FFF2-40B4-BE49-F238E27FC236}">
                <a16:creationId xmlns:a16="http://schemas.microsoft.com/office/drawing/2014/main" id="{45C353CA-3326-E37A-ACF7-42C5171DC80F}"/>
              </a:ext>
            </a:extLst>
          </p:cNvPr>
          <p:cNvSpPr/>
          <p:nvPr/>
        </p:nvSpPr>
        <p:spPr>
          <a:xfrm>
            <a:off x="1616352" y="4572037"/>
            <a:ext cx="903319" cy="1320963"/>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50000"/>
              </a:lnSpc>
              <a:spcBef>
                <a:spcPts val="0"/>
              </a:spcBef>
              <a:spcAft>
                <a:spcPts val="0"/>
              </a:spcAft>
              <a:buClrTx/>
              <a:buSzTx/>
              <a:buFontTx/>
              <a:buNone/>
              <a:tabLst/>
              <a:defRPr/>
            </a:pPr>
            <a:r>
              <a:rPr kumimoji="0" lang="fa-IR" sz="7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علاوه بر معرفی خریدار، فرآیند معامله را تا مرحله نهایی‌شدن مدیریت می‌کند</a:t>
            </a:r>
            <a:endParaRPr kumimoji="0" lang="en-US" sz="7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131" name="Rectangle 130">
            <a:extLst>
              <a:ext uri="{FF2B5EF4-FFF2-40B4-BE49-F238E27FC236}">
                <a16:creationId xmlns:a16="http://schemas.microsoft.com/office/drawing/2014/main" id="{3A1871AD-9CB4-1391-D133-EFC07B98B20C}"/>
              </a:ext>
            </a:extLst>
          </p:cNvPr>
          <p:cNvSpPr/>
          <p:nvPr/>
        </p:nvSpPr>
        <p:spPr>
          <a:xfrm>
            <a:off x="1886111" y="1303662"/>
            <a:ext cx="363801" cy="1474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prstClr val="white"/>
              </a:solidFill>
              <a:effectLst/>
              <a:uLnTx/>
              <a:uFillTx/>
              <a:latin typeface="Calibri"/>
              <a:ea typeface="+mn-ea"/>
              <a:cs typeface="Calibri"/>
            </a:endParaRPr>
          </a:p>
        </p:txBody>
      </p:sp>
      <p:sp>
        <p:nvSpPr>
          <p:cNvPr id="133" name="TextBox 132">
            <a:extLst>
              <a:ext uri="{FF2B5EF4-FFF2-40B4-BE49-F238E27FC236}">
                <a16:creationId xmlns:a16="http://schemas.microsoft.com/office/drawing/2014/main" id="{82E06D54-A39A-A970-469E-F6666F3271F7}"/>
              </a:ext>
            </a:extLst>
          </p:cNvPr>
          <p:cNvSpPr txBox="1"/>
          <p:nvPr/>
        </p:nvSpPr>
        <p:spPr>
          <a:xfrm>
            <a:off x="1840803" y="1194438"/>
            <a:ext cx="454417" cy="369332"/>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800" b="1" i="0" u="none" strike="noStrike" kern="1200" cap="none" spc="0" normalizeH="0" baseline="0" noProof="0" dirty="0">
                <a:ln>
                  <a:noFill/>
                </a:ln>
                <a:solidFill>
                  <a:srgbClr val="FDBF03"/>
                </a:solidFill>
                <a:effectLst/>
                <a:uLnTx/>
                <a:uFillTx/>
                <a:latin typeface="Yekan Bakh" pitchFamily="2" charset="-78"/>
                <a:ea typeface="Yekan Bakh" pitchFamily="2" charset="-78"/>
                <a:cs typeface="Yekan Bakh" pitchFamily="2" charset="-78"/>
              </a:rPr>
              <a:t>۱۷</a:t>
            </a:r>
            <a:endParaRPr kumimoji="0" lang="en-GB" sz="1800" b="1" i="0" u="none" strike="noStrike" kern="1200" cap="none" spc="0" normalizeH="0" baseline="0" noProof="0" dirty="0">
              <a:ln>
                <a:noFill/>
              </a:ln>
              <a:solidFill>
                <a:srgbClr val="FDBF03"/>
              </a:solidFill>
              <a:effectLst/>
              <a:uLnTx/>
              <a:uFillTx/>
              <a:latin typeface="Yekan Bakh" pitchFamily="2" charset="-78"/>
              <a:ea typeface="Yekan Bakh" pitchFamily="2" charset="-78"/>
              <a:cs typeface="Yekan Bakh" pitchFamily="2" charset="-78"/>
            </a:endParaRPr>
          </a:p>
        </p:txBody>
      </p:sp>
      <p:sp>
        <p:nvSpPr>
          <p:cNvPr id="135" name="Rectangle: Rounded Corners 134">
            <a:extLst>
              <a:ext uri="{FF2B5EF4-FFF2-40B4-BE49-F238E27FC236}">
                <a16:creationId xmlns:a16="http://schemas.microsoft.com/office/drawing/2014/main" id="{447CE501-C371-5A4E-293A-7833F10A01D4}"/>
              </a:ext>
            </a:extLst>
          </p:cNvPr>
          <p:cNvSpPr/>
          <p:nvPr/>
        </p:nvSpPr>
        <p:spPr>
          <a:xfrm>
            <a:off x="509024" y="1470696"/>
            <a:ext cx="903319" cy="840931"/>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SIAM M&amp;A</a:t>
            </a:r>
          </a:p>
        </p:txBody>
      </p:sp>
      <p:sp>
        <p:nvSpPr>
          <p:cNvPr id="137" name="Rectangle: Rounded Corners 136">
            <a:extLst>
              <a:ext uri="{FF2B5EF4-FFF2-40B4-BE49-F238E27FC236}">
                <a16:creationId xmlns:a16="http://schemas.microsoft.com/office/drawing/2014/main" id="{96D62233-8E13-0C73-8C70-988FB94B2064}"/>
              </a:ext>
            </a:extLst>
          </p:cNvPr>
          <p:cNvSpPr/>
          <p:nvPr/>
        </p:nvSpPr>
        <p:spPr>
          <a:xfrm>
            <a:off x="509024" y="2343925"/>
            <a:ext cx="903319" cy="840931"/>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50000"/>
              </a:lnSpc>
              <a:spcBef>
                <a:spcPts val="0"/>
              </a:spcBef>
              <a:spcAft>
                <a:spcPts val="0"/>
              </a:spcAft>
              <a:buClrTx/>
              <a:buSzTx/>
              <a:buFontTx/>
              <a:buNone/>
              <a:tabLst/>
              <a:defRPr/>
            </a:pPr>
            <a:r>
              <a:rPr kumimoji="0" lang="fa-IR" sz="7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شرکت / استارتاپ ↔ خریدار / سرمایه‌گذار / شریک </a:t>
            </a:r>
            <a:r>
              <a:rPr kumimoji="0" lang="en-US" sz="7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JV</a:t>
            </a:r>
          </a:p>
        </p:txBody>
      </p:sp>
      <p:sp>
        <p:nvSpPr>
          <p:cNvPr id="139" name="Rectangle: Rounded Corners 138">
            <a:extLst>
              <a:ext uri="{FF2B5EF4-FFF2-40B4-BE49-F238E27FC236}">
                <a16:creationId xmlns:a16="http://schemas.microsoft.com/office/drawing/2014/main" id="{16AE1256-DE4F-D967-F34C-B44DF9E0810B}"/>
              </a:ext>
            </a:extLst>
          </p:cNvPr>
          <p:cNvSpPr/>
          <p:nvPr/>
        </p:nvSpPr>
        <p:spPr>
          <a:xfrm>
            <a:off x="509024" y="3218773"/>
            <a:ext cx="903319" cy="1320963"/>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50000"/>
              </a:lnSpc>
              <a:spcBef>
                <a:spcPts val="0"/>
              </a:spcBef>
              <a:spcAft>
                <a:spcPts val="0"/>
              </a:spcAft>
              <a:buClrTx/>
              <a:buSzTx/>
              <a:buFontTx/>
              <a:buNone/>
              <a:tabLst/>
              <a:defRPr/>
            </a:pPr>
            <a:r>
              <a:rPr kumimoji="0" lang="fa-IR" sz="7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دسترسی به طرف‌های واجد شرایط و اعتبارسنجی‌شده و مدیریت فرآیند محرمانه معامله</a:t>
            </a:r>
            <a:endParaRPr kumimoji="0" lang="en-US" sz="7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141" name="Rectangle: Rounded Corners 140">
            <a:extLst>
              <a:ext uri="{FF2B5EF4-FFF2-40B4-BE49-F238E27FC236}">
                <a16:creationId xmlns:a16="http://schemas.microsoft.com/office/drawing/2014/main" id="{9876444C-9270-8134-3410-411CCBBEEABD}"/>
              </a:ext>
            </a:extLst>
          </p:cNvPr>
          <p:cNvSpPr/>
          <p:nvPr/>
        </p:nvSpPr>
        <p:spPr>
          <a:xfrm>
            <a:off x="509024" y="4572037"/>
            <a:ext cx="903319" cy="1320963"/>
          </a:xfrm>
          <a:prstGeom prst="roundRect">
            <a:avLst>
              <a:gd name="adj" fmla="val 952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50000"/>
              </a:lnSpc>
              <a:spcBef>
                <a:spcPts val="0"/>
              </a:spcBef>
              <a:spcAft>
                <a:spcPts val="0"/>
              </a:spcAft>
              <a:buClrTx/>
              <a:buSzTx/>
              <a:buFontTx/>
              <a:buNone/>
              <a:tabLst/>
              <a:defRPr/>
            </a:pPr>
            <a:r>
              <a:rPr kumimoji="0" lang="fa-IR" sz="7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علاوه بر </a:t>
            </a:r>
            <a:r>
              <a:rPr kumimoji="0" lang="en-US" sz="7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Match، </a:t>
            </a:r>
            <a:r>
              <a:rPr kumimoji="0" lang="fa-IR" sz="7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غربال خریداران، حفظ محرمانگی، ارتباطات و اجرای معامله را پوشش می‌دهد</a:t>
            </a:r>
            <a:endParaRPr kumimoji="0" lang="en-US" sz="7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143" name="Rectangle 142">
            <a:extLst>
              <a:ext uri="{FF2B5EF4-FFF2-40B4-BE49-F238E27FC236}">
                <a16:creationId xmlns:a16="http://schemas.microsoft.com/office/drawing/2014/main" id="{7AA16EEF-42F2-FC28-3BAF-4B0AF87108C9}"/>
              </a:ext>
            </a:extLst>
          </p:cNvPr>
          <p:cNvSpPr/>
          <p:nvPr/>
        </p:nvSpPr>
        <p:spPr>
          <a:xfrm>
            <a:off x="778783" y="1303662"/>
            <a:ext cx="363801" cy="1474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prstClr val="white"/>
              </a:solidFill>
              <a:effectLst/>
              <a:uLnTx/>
              <a:uFillTx/>
              <a:latin typeface="Calibri"/>
              <a:ea typeface="+mn-ea"/>
              <a:cs typeface="Calibri"/>
            </a:endParaRPr>
          </a:p>
        </p:txBody>
      </p:sp>
      <p:sp>
        <p:nvSpPr>
          <p:cNvPr id="145" name="TextBox 144">
            <a:extLst>
              <a:ext uri="{FF2B5EF4-FFF2-40B4-BE49-F238E27FC236}">
                <a16:creationId xmlns:a16="http://schemas.microsoft.com/office/drawing/2014/main" id="{6D9B68A1-07A4-A185-64FC-55A040907D69}"/>
              </a:ext>
            </a:extLst>
          </p:cNvPr>
          <p:cNvSpPr txBox="1"/>
          <p:nvPr/>
        </p:nvSpPr>
        <p:spPr>
          <a:xfrm>
            <a:off x="733475" y="1194438"/>
            <a:ext cx="454417" cy="369332"/>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800" b="1" i="0" u="none" strike="noStrike" kern="1200" cap="none" spc="0" normalizeH="0" baseline="0" noProof="0" dirty="0">
                <a:ln>
                  <a:noFill/>
                </a:ln>
                <a:solidFill>
                  <a:srgbClr val="FDBF03"/>
                </a:solidFill>
                <a:effectLst/>
                <a:uLnTx/>
                <a:uFillTx/>
                <a:latin typeface="Yekan Bakh" pitchFamily="2" charset="-78"/>
                <a:ea typeface="Yekan Bakh" pitchFamily="2" charset="-78"/>
                <a:cs typeface="Yekan Bakh" pitchFamily="2" charset="-78"/>
              </a:rPr>
              <a:t>۱۸</a:t>
            </a:r>
            <a:endParaRPr kumimoji="0" lang="en-GB" sz="1800" b="1" i="0" u="none" strike="noStrike" kern="1200" cap="none" spc="0" normalizeH="0" baseline="0" noProof="0" dirty="0">
              <a:ln>
                <a:noFill/>
              </a:ln>
              <a:solidFill>
                <a:srgbClr val="FDBF03"/>
              </a:solidFill>
              <a:effectLst/>
              <a:uLnTx/>
              <a:uFillTx/>
              <a:latin typeface="Yekan Bakh" pitchFamily="2" charset="-78"/>
              <a:ea typeface="Yekan Bakh" pitchFamily="2" charset="-78"/>
              <a:cs typeface="Yekan Bakh" pitchFamily="2" charset="-78"/>
            </a:endParaRPr>
          </a:p>
        </p:txBody>
      </p:sp>
    </p:spTree>
    <p:extLst>
      <p:ext uri="{BB962C8B-B14F-4D97-AF65-F5344CB8AC3E}">
        <p14:creationId xmlns:p14="http://schemas.microsoft.com/office/powerpoint/2010/main" val="36433174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B5DAD-459A-4855-C8D7-AB7495541E6E}"/>
            </a:ext>
          </a:extLst>
        </p:cNvPr>
        <p:cNvGrpSpPr/>
        <p:nvPr/>
      </p:nvGrpSpPr>
      <p:grpSpPr>
        <a:xfrm>
          <a:off x="0" y="0"/>
          <a:ext cx="0" cy="0"/>
          <a:chOff x="0" y="0"/>
          <a:chExt cx="0" cy="0"/>
        </a:xfrm>
      </p:grpSpPr>
      <p:grpSp>
        <p:nvGrpSpPr>
          <p:cNvPr id="53" name="Group 52">
            <a:extLst>
              <a:ext uri="{FF2B5EF4-FFF2-40B4-BE49-F238E27FC236}">
                <a16:creationId xmlns:a16="http://schemas.microsoft.com/office/drawing/2014/main" id="{353308DA-EB3F-D1B0-E409-998CFC500C98}"/>
              </a:ext>
            </a:extLst>
          </p:cNvPr>
          <p:cNvGrpSpPr/>
          <p:nvPr/>
        </p:nvGrpSpPr>
        <p:grpSpPr>
          <a:xfrm>
            <a:off x="407773" y="2406299"/>
            <a:ext cx="4699486" cy="1770764"/>
            <a:chOff x="407773" y="2799527"/>
            <a:chExt cx="4699486" cy="1770764"/>
          </a:xfrm>
        </p:grpSpPr>
        <p:sp>
          <p:nvSpPr>
            <p:cNvPr id="9" name="TextBox 8">
              <a:extLst>
                <a:ext uri="{FF2B5EF4-FFF2-40B4-BE49-F238E27FC236}">
                  <a16:creationId xmlns:a16="http://schemas.microsoft.com/office/drawing/2014/main" id="{E34402E3-014B-CC19-0D6C-644844D13618}"/>
                </a:ext>
              </a:extLst>
            </p:cNvPr>
            <p:cNvSpPr txBox="1"/>
            <p:nvPr/>
          </p:nvSpPr>
          <p:spPr>
            <a:xfrm>
              <a:off x="593931" y="3654747"/>
              <a:ext cx="761426" cy="248914"/>
            </a:xfrm>
            <a:prstGeom prst="rect">
              <a:avLst/>
            </a:prstGeom>
            <a:noFill/>
          </p:spPr>
          <p:txBody>
            <a:bodyPr wrap="square" anchor="ctr">
              <a:spAutoFit/>
            </a:bodyPr>
            <a:lstStyle/>
            <a:p>
              <a:pPr marR="0" lvl="0" algn="ctr" defTabSz="914400" rtl="1" eaLnBrk="1" fontAlgn="auto" latinLnBrk="0" hangingPunct="1">
                <a:lnSpc>
                  <a:spcPct val="90000"/>
                </a:lnSpc>
                <a:spcBef>
                  <a:spcPts val="1117"/>
                </a:spcBef>
                <a:spcAft>
                  <a:spcPts val="0"/>
                </a:spcAft>
                <a:buClr>
                  <a:srgbClr val="F0BE0F"/>
                </a:buClr>
                <a:buSzTx/>
                <a:tabLst/>
                <a:defRPr/>
              </a:pPr>
              <a:r>
                <a:rPr kumimoji="0" lang="fa-IR" sz="1050" b="1" i="0" u="none" strike="noStrike" kern="1200" cap="none" spc="0" normalizeH="0" baseline="0" noProof="0" dirty="0">
                  <a:ln>
                    <a:noFill/>
                  </a:ln>
                  <a:solidFill>
                    <a:schemeClr val="bg1">
                      <a:lumMod val="50000"/>
                    </a:schemeClr>
                  </a:solidFill>
                  <a:effectLst/>
                  <a:uLnTx/>
                  <a:uFillTx/>
                  <a:latin typeface="Yekan Bakh" pitchFamily="2" charset="-78"/>
                  <a:ea typeface="Yekan Bakh" pitchFamily="2" charset="-78"/>
                  <a:cs typeface="Yekan Bakh" pitchFamily="2" charset="-78"/>
                </a:rPr>
                <a:t>اسلاید</a:t>
              </a:r>
              <a:endParaRPr kumimoji="0" lang="en-US" sz="1050" b="1" i="0" u="none" strike="noStrike" kern="1200" cap="none" spc="0" normalizeH="0" baseline="0" noProof="0" dirty="0">
                <a:ln>
                  <a:noFill/>
                </a:ln>
                <a:solidFill>
                  <a:schemeClr val="bg1">
                    <a:lumMod val="50000"/>
                  </a:schemeClr>
                </a:solidFill>
                <a:effectLst/>
                <a:uLnTx/>
                <a:uFillTx/>
                <a:latin typeface="Yekan Bakh" pitchFamily="2" charset="-78"/>
                <a:ea typeface="Yekan Bakh" pitchFamily="2" charset="-78"/>
                <a:cs typeface="Yekan Bakh" pitchFamily="2" charset="-78"/>
              </a:endParaRPr>
            </a:p>
          </p:txBody>
        </p:sp>
        <p:sp>
          <p:nvSpPr>
            <p:cNvPr id="13" name="TextBox 12">
              <a:extLst>
                <a:ext uri="{FF2B5EF4-FFF2-40B4-BE49-F238E27FC236}">
                  <a16:creationId xmlns:a16="http://schemas.microsoft.com/office/drawing/2014/main" id="{11594635-C52B-6EF0-B121-1910380150D0}"/>
                </a:ext>
              </a:extLst>
            </p:cNvPr>
            <p:cNvSpPr txBox="1"/>
            <p:nvPr/>
          </p:nvSpPr>
          <p:spPr>
            <a:xfrm>
              <a:off x="1648542" y="3956730"/>
              <a:ext cx="3458717" cy="263149"/>
            </a:xfrm>
            <a:prstGeom prst="rect">
              <a:avLst/>
            </a:prstGeom>
            <a:noFill/>
          </p:spPr>
          <p:txBody>
            <a:bodyPr wrap="square" anchor="ctr">
              <a:spAutoFit/>
            </a:bodyPr>
            <a:lstStyle/>
            <a:p>
              <a:pPr marL="285750" marR="0" lvl="0" indent="-285750" algn="r" defTabSz="914400" rtl="1" eaLnBrk="1" fontAlgn="auto" latinLnBrk="0" hangingPunct="1">
                <a:lnSpc>
                  <a:spcPct val="90000"/>
                </a:lnSpc>
                <a:spcBef>
                  <a:spcPts val="1117"/>
                </a:spcBef>
                <a:spcAft>
                  <a:spcPts val="0"/>
                </a:spcAft>
                <a:buClr>
                  <a:srgbClr val="F0BE0F"/>
                </a:buClr>
                <a:buSzTx/>
                <a:buFont typeface="Arial" panose="020B0604020202020204" pitchFamily="34" charset="0"/>
                <a:buChar char="•"/>
                <a:tabLst/>
                <a:defRPr/>
              </a:pPr>
              <a:r>
                <a:rPr kumimoji="0" lang="fa-IR" sz="1200" i="0" u="none" strike="noStrike" kern="1200" cap="none" spc="0" normalizeH="0" baseline="0" noProof="0" dirty="0">
                  <a:ln>
                    <a:noFill/>
                  </a:ln>
                  <a:solidFill>
                    <a:schemeClr val="bg1">
                      <a:lumMod val="75000"/>
                    </a:schemeClr>
                  </a:solidFill>
                  <a:effectLst/>
                  <a:uLnTx/>
                  <a:uFillTx/>
                  <a:latin typeface="Yekan Bakh" pitchFamily="2" charset="-78"/>
                  <a:ea typeface="Yekan Bakh" pitchFamily="2" charset="-78"/>
                  <a:cs typeface="Yekan Bakh" pitchFamily="2" charset="-78"/>
                </a:rPr>
                <a:t>مدل مفهومی کسب‌وکار </a:t>
              </a:r>
            </a:p>
          </p:txBody>
        </p:sp>
        <p:sp>
          <p:nvSpPr>
            <p:cNvPr id="15" name="TextBox 14">
              <a:extLst>
                <a:ext uri="{FF2B5EF4-FFF2-40B4-BE49-F238E27FC236}">
                  <a16:creationId xmlns:a16="http://schemas.microsoft.com/office/drawing/2014/main" id="{0B6E0BAE-1291-41F1-86DE-07BAF72264CF}"/>
                </a:ext>
              </a:extLst>
            </p:cNvPr>
            <p:cNvSpPr txBox="1"/>
            <p:nvPr/>
          </p:nvSpPr>
          <p:spPr>
            <a:xfrm>
              <a:off x="525137" y="3942496"/>
              <a:ext cx="899015" cy="291618"/>
            </a:xfrm>
            <a:prstGeom prst="rect">
              <a:avLst/>
            </a:prstGeom>
            <a:noFill/>
          </p:spPr>
          <p:txBody>
            <a:bodyPr wrap="square" anchor="ctr">
              <a:spAutoFit/>
            </a:bodyPr>
            <a:lstStyle/>
            <a:p>
              <a:pPr marR="0" lvl="0" algn="ctr" defTabSz="914400" eaLnBrk="1" fontAlgn="auto" latinLnBrk="0" hangingPunct="1">
                <a:lnSpc>
                  <a:spcPct val="90000"/>
                </a:lnSpc>
                <a:spcBef>
                  <a:spcPts val="1117"/>
                </a:spcBef>
                <a:spcAft>
                  <a:spcPts val="0"/>
                </a:spcAft>
                <a:buClr>
                  <a:srgbClr val="F0BE0F"/>
                </a:buClr>
                <a:buSzTx/>
                <a:tabLst/>
                <a:defRPr/>
              </a:pPr>
              <a:r>
                <a:rPr lang="fa-IR" sz="1400" b="1" dirty="0">
                  <a:solidFill>
                    <a:schemeClr val="accent2">
                      <a:lumMod val="60000"/>
                      <a:lumOff val="40000"/>
                    </a:schemeClr>
                  </a:solidFill>
                  <a:latin typeface="Yekan Bakh FaNum SmBoldSmCond" pitchFamily="2" charset="-78"/>
                  <a:ea typeface="Yekan Bakh FaNum SmBoldSmCond" pitchFamily="2" charset="-78"/>
                  <a:cs typeface="Yekan Bakh FaNum SmBoldSmCond" pitchFamily="2" charset="-78"/>
                </a:rPr>
                <a:t>۱۶-۱۷</a:t>
              </a:r>
              <a:endParaRPr kumimoji="0" lang="en-US" sz="1400" b="1" i="0" u="none" strike="noStrike" kern="1200" cap="none" spc="0" normalizeH="0" baseline="0" noProof="0" dirty="0">
                <a:ln>
                  <a:noFill/>
                </a:ln>
                <a:solidFill>
                  <a:schemeClr val="accent2">
                    <a:lumMod val="60000"/>
                    <a:lumOff val="40000"/>
                  </a:schemeClr>
                </a:solidFill>
                <a:effectLst/>
                <a:uLnTx/>
                <a:uFillTx/>
                <a:latin typeface="Yekan Bakh FaNum SmBoldSmCond" pitchFamily="2" charset="-78"/>
                <a:ea typeface="Yekan Bakh FaNum SmBoldSmCond" pitchFamily="2" charset="-78"/>
                <a:cs typeface="Yekan Bakh FaNum SmBoldSmCond" pitchFamily="2" charset="-78"/>
              </a:endParaRPr>
            </a:p>
          </p:txBody>
        </p:sp>
        <p:sp>
          <p:nvSpPr>
            <p:cNvPr id="19" name="TextBox 18">
              <a:extLst>
                <a:ext uri="{FF2B5EF4-FFF2-40B4-BE49-F238E27FC236}">
                  <a16:creationId xmlns:a16="http://schemas.microsoft.com/office/drawing/2014/main" id="{3944DEC2-3FA7-7CAD-F937-401A8561F56A}"/>
                </a:ext>
              </a:extLst>
            </p:cNvPr>
            <p:cNvSpPr txBox="1"/>
            <p:nvPr/>
          </p:nvSpPr>
          <p:spPr>
            <a:xfrm>
              <a:off x="1648542" y="4292907"/>
              <a:ext cx="3458717" cy="263149"/>
            </a:xfrm>
            <a:prstGeom prst="rect">
              <a:avLst/>
            </a:prstGeom>
            <a:noFill/>
          </p:spPr>
          <p:txBody>
            <a:bodyPr wrap="square" anchor="ctr">
              <a:spAutoFit/>
            </a:bodyPr>
            <a:lstStyle/>
            <a:p>
              <a:pPr marL="285750" marR="0" lvl="0" indent="-285750" algn="r" defTabSz="914400" rtl="1" eaLnBrk="1" fontAlgn="auto" latinLnBrk="0" hangingPunct="1">
                <a:lnSpc>
                  <a:spcPct val="90000"/>
                </a:lnSpc>
                <a:spcBef>
                  <a:spcPts val="1117"/>
                </a:spcBef>
                <a:spcAft>
                  <a:spcPts val="0"/>
                </a:spcAft>
                <a:buClr>
                  <a:srgbClr val="F0BE0F"/>
                </a:buClr>
                <a:buSzTx/>
                <a:buFont typeface="Arial" panose="020B0604020202020204" pitchFamily="34" charset="0"/>
                <a:buChar char="•"/>
                <a:tabLst/>
                <a:defRPr/>
              </a:pPr>
              <a:r>
                <a:rPr kumimoji="0" lang="fa-IR" sz="1200" i="0" u="none" strike="noStrike" kern="1200" cap="none" spc="0" normalizeH="0" baseline="0" noProof="0" dirty="0">
                  <a:ln>
                    <a:noFill/>
                  </a:ln>
                  <a:solidFill>
                    <a:schemeClr val="bg1">
                      <a:lumMod val="75000"/>
                    </a:schemeClr>
                  </a:solidFill>
                  <a:effectLst/>
                  <a:uLnTx/>
                  <a:uFillTx/>
                  <a:latin typeface="Yekan Bakh" pitchFamily="2" charset="-78"/>
                  <a:ea typeface="Yekan Bakh" pitchFamily="2" charset="-78"/>
                  <a:cs typeface="Yekan Bakh" pitchFamily="2" charset="-78"/>
                </a:rPr>
                <a:t>فرضیات کلیدی کسب‌وکار</a:t>
              </a:r>
            </a:p>
          </p:txBody>
        </p:sp>
        <p:sp>
          <p:nvSpPr>
            <p:cNvPr id="21" name="TextBox 20">
              <a:extLst>
                <a:ext uri="{FF2B5EF4-FFF2-40B4-BE49-F238E27FC236}">
                  <a16:creationId xmlns:a16="http://schemas.microsoft.com/office/drawing/2014/main" id="{F36798A4-F733-963B-D90E-06B5411D63AA}"/>
                </a:ext>
              </a:extLst>
            </p:cNvPr>
            <p:cNvSpPr txBox="1"/>
            <p:nvPr/>
          </p:nvSpPr>
          <p:spPr>
            <a:xfrm>
              <a:off x="525137" y="4278673"/>
              <a:ext cx="899015" cy="291618"/>
            </a:xfrm>
            <a:prstGeom prst="rect">
              <a:avLst/>
            </a:prstGeom>
            <a:noFill/>
          </p:spPr>
          <p:txBody>
            <a:bodyPr wrap="square" anchor="ctr">
              <a:spAutoFit/>
            </a:bodyPr>
            <a:lstStyle/>
            <a:p>
              <a:pPr marR="0" lvl="0" algn="ctr" defTabSz="914400" eaLnBrk="1" fontAlgn="auto" latinLnBrk="0" hangingPunct="1">
                <a:lnSpc>
                  <a:spcPct val="90000"/>
                </a:lnSpc>
                <a:spcBef>
                  <a:spcPts val="1117"/>
                </a:spcBef>
                <a:spcAft>
                  <a:spcPts val="0"/>
                </a:spcAft>
                <a:buClr>
                  <a:srgbClr val="F0BE0F"/>
                </a:buClr>
                <a:buSzTx/>
                <a:tabLst/>
                <a:defRPr/>
              </a:pPr>
              <a:r>
                <a:rPr lang="fa-IR" sz="1400" b="1" dirty="0">
                  <a:solidFill>
                    <a:schemeClr val="accent2">
                      <a:lumMod val="60000"/>
                      <a:lumOff val="40000"/>
                    </a:schemeClr>
                  </a:solidFill>
                  <a:latin typeface="Yekan Bakh FaNum SmBoldSmCond" pitchFamily="2" charset="-78"/>
                  <a:ea typeface="Yekan Bakh FaNum SmBoldSmCond" pitchFamily="2" charset="-78"/>
                  <a:cs typeface="Yekan Bakh FaNum SmBoldSmCond" pitchFamily="2" charset="-78"/>
                </a:rPr>
                <a:t>۱۸-۲۰</a:t>
              </a:r>
              <a:endParaRPr kumimoji="0" lang="en-US" sz="1400" b="1" i="0" u="none" strike="noStrike" kern="1200" cap="none" spc="0" normalizeH="0" baseline="0" noProof="0" dirty="0">
                <a:ln>
                  <a:noFill/>
                </a:ln>
                <a:solidFill>
                  <a:schemeClr val="accent2">
                    <a:lumMod val="60000"/>
                    <a:lumOff val="40000"/>
                  </a:schemeClr>
                </a:solidFill>
                <a:effectLst/>
                <a:uLnTx/>
                <a:uFillTx/>
                <a:latin typeface="Yekan Bakh FaNum SmBoldSmCond" pitchFamily="2" charset="-78"/>
                <a:ea typeface="Yekan Bakh FaNum SmBoldSmCond" pitchFamily="2" charset="-78"/>
                <a:cs typeface="Yekan Bakh FaNum SmBoldSmCond" pitchFamily="2" charset="-78"/>
              </a:endParaRPr>
            </a:p>
          </p:txBody>
        </p:sp>
        <p:sp>
          <p:nvSpPr>
            <p:cNvPr id="23" name="Title 1">
              <a:extLst>
                <a:ext uri="{FF2B5EF4-FFF2-40B4-BE49-F238E27FC236}">
                  <a16:creationId xmlns:a16="http://schemas.microsoft.com/office/drawing/2014/main" id="{86825EDF-F759-0C90-4FE6-77BD0CDC895B}"/>
                </a:ext>
              </a:extLst>
            </p:cNvPr>
            <p:cNvSpPr txBox="1">
              <a:spLocks/>
            </p:cNvSpPr>
            <p:nvPr/>
          </p:nvSpPr>
          <p:spPr>
            <a:xfrm>
              <a:off x="407773" y="2799527"/>
              <a:ext cx="4699486" cy="693069"/>
            </a:xfrm>
            <a:prstGeom prst="rect">
              <a:avLst/>
            </a:prstGeom>
          </p:spPr>
          <p:txBody>
            <a:bodyPr lIns="91440" tIns="45720" rIns="91440" bIns="45720" anchor="t"/>
            <a:lstStyle>
              <a:lvl1pPr algn="justLow" defTabSz="1021516" rtl="1" eaLnBrk="1" latinLnBrk="0" hangingPunct="1">
                <a:lnSpc>
                  <a:spcPct val="90000"/>
                </a:lnSpc>
                <a:spcBef>
                  <a:spcPct val="0"/>
                </a:spcBef>
                <a:buNone/>
                <a:defRPr sz="4500" b="1" kern="1200">
                  <a:solidFill>
                    <a:schemeClr val="tx1">
                      <a:lumMod val="75000"/>
                      <a:lumOff val="25000"/>
                    </a:schemeClr>
                  </a:solidFill>
                  <a:latin typeface="Shabnam Bold FD" panose="020B0603030804020204" pitchFamily="34" charset="-78"/>
                  <a:ea typeface="+mj-ea"/>
                  <a:cs typeface="Shabnam Bold FD" panose="020B0603030804020204" pitchFamily="34" charset="-78"/>
                </a:defRPr>
              </a:lvl1pPr>
            </a:lstStyle>
            <a:p>
              <a:pPr marL="0" marR="0" lvl="0" indent="0" algn="ctr" defTabSz="1021516" rtl="0" eaLnBrk="1" fontAlgn="auto" latinLnBrk="0" hangingPunct="1">
                <a:lnSpc>
                  <a:spcPct val="90000"/>
                </a:lnSpc>
                <a:spcBef>
                  <a:spcPct val="0"/>
                </a:spcBef>
                <a:spcAft>
                  <a:spcPts val="0"/>
                </a:spcAft>
                <a:buClrTx/>
                <a:buSzTx/>
                <a:buFontTx/>
                <a:buNone/>
                <a:tabLst/>
                <a:defRPr/>
              </a:pPr>
              <a:r>
                <a:rPr kumimoji="0" lang="fa-IR" sz="3200" b="1" i="0" strike="noStrike" kern="1200" cap="none" spc="0" normalizeH="0" baseline="0" noProof="0" dirty="0">
                  <a:ln>
                    <a:noFill/>
                  </a:ln>
                  <a:solidFill>
                    <a:sysClr val="window" lastClr="FFFFFF">
                      <a:lumMod val="75000"/>
                      <a:lumOff val="25000"/>
                    </a:sysClr>
                  </a:solidFill>
                  <a:effectLst/>
                  <a:uLnTx/>
                  <a:uFillTx/>
                  <a:latin typeface="Yekan Bakh" pitchFamily="2" charset="-78"/>
                  <a:ea typeface="Yekan Bakh" pitchFamily="2" charset="-78"/>
                  <a:cs typeface="Yekan Bakh" pitchFamily="2" charset="-78"/>
                </a:rPr>
                <a:t>مدل کسب‌وکار سیمرغ </a:t>
              </a:r>
            </a:p>
          </p:txBody>
        </p:sp>
        <p:cxnSp>
          <p:nvCxnSpPr>
            <p:cNvPr id="25" name="Straight Connector 24">
              <a:extLst>
                <a:ext uri="{FF2B5EF4-FFF2-40B4-BE49-F238E27FC236}">
                  <a16:creationId xmlns:a16="http://schemas.microsoft.com/office/drawing/2014/main" id="{B4BCFCF6-BC84-3AA4-A6B6-7B57E0E7230E}"/>
                </a:ext>
              </a:extLst>
            </p:cNvPr>
            <p:cNvCxnSpPr>
              <a:cxnSpLocks/>
            </p:cNvCxnSpPr>
            <p:nvPr/>
          </p:nvCxnSpPr>
          <p:spPr>
            <a:xfrm flipV="1">
              <a:off x="407773" y="3492596"/>
              <a:ext cx="4699486" cy="19385"/>
            </a:xfrm>
            <a:prstGeom prst="line">
              <a:avLst/>
            </a:prstGeom>
            <a:ln w="3175">
              <a:solidFill>
                <a:srgbClr val="F0BE0F">
                  <a:alpha val="74000"/>
                </a:srgb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9115794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84A4977-04C9-B6A0-26B8-377FECC79AAA}"/>
              </a:ext>
            </a:extLst>
          </p:cNvPr>
          <p:cNvSpPr>
            <a:spLocks noGrp="1"/>
          </p:cNvSpPr>
          <p:nvPr>
            <p:ph type="body" sz="quarter" idx="10"/>
          </p:nvPr>
        </p:nvSpPr>
        <p:spPr/>
        <p:txBody>
          <a:bodyPr/>
          <a:lstStyle/>
          <a:p>
            <a:endParaRPr lang="en-GB" dirty="0"/>
          </a:p>
        </p:txBody>
      </p:sp>
      <p:sp>
        <p:nvSpPr>
          <p:cNvPr id="3" name="Text Placeholder 2">
            <a:extLst>
              <a:ext uri="{FF2B5EF4-FFF2-40B4-BE49-F238E27FC236}">
                <a16:creationId xmlns:a16="http://schemas.microsoft.com/office/drawing/2014/main" id="{FA79B0F6-3856-C633-FC56-BC257E0F66E8}"/>
              </a:ext>
            </a:extLst>
          </p:cNvPr>
          <p:cNvSpPr>
            <a:spLocks noGrp="1"/>
          </p:cNvSpPr>
          <p:nvPr>
            <p:ph type="body" sz="quarter" idx="12"/>
          </p:nvPr>
        </p:nvSpPr>
        <p:spPr/>
        <p:txBody>
          <a:bodyPr/>
          <a:lstStyle/>
          <a:p>
            <a:r>
              <a:rPr lang="fa-IR" dirty="0"/>
              <a:t>مدل مفهومی کسب‌وکار </a:t>
            </a:r>
          </a:p>
        </p:txBody>
      </p:sp>
      <p:sp>
        <p:nvSpPr>
          <p:cNvPr id="82" name="Rectangle: Rounded Corners 81">
            <a:extLst>
              <a:ext uri="{FF2B5EF4-FFF2-40B4-BE49-F238E27FC236}">
                <a16:creationId xmlns:a16="http://schemas.microsoft.com/office/drawing/2014/main" id="{A0AFC26D-4DE5-0122-6526-38400A391E18}"/>
              </a:ext>
            </a:extLst>
          </p:cNvPr>
          <p:cNvSpPr/>
          <p:nvPr/>
        </p:nvSpPr>
        <p:spPr>
          <a:xfrm>
            <a:off x="555625" y="1304859"/>
            <a:ext cx="10591800" cy="4614990"/>
          </a:xfrm>
          <a:prstGeom prst="roundRect">
            <a:avLst>
              <a:gd name="adj" fmla="val 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Yekan Bakh" pitchFamily="2" charset="-78"/>
              <a:ea typeface="Yekan Bakh" pitchFamily="2" charset="-78"/>
              <a:cs typeface="Yekan Bakh" pitchFamily="2" charset="-78"/>
            </a:endParaRPr>
          </a:p>
        </p:txBody>
      </p:sp>
      <p:sp>
        <p:nvSpPr>
          <p:cNvPr id="6" name="Rectangle: Rounded Corners 5">
            <a:extLst>
              <a:ext uri="{FF2B5EF4-FFF2-40B4-BE49-F238E27FC236}">
                <a16:creationId xmlns:a16="http://schemas.microsoft.com/office/drawing/2014/main" id="{EF4A7889-0A03-C082-B8D4-EE3F8CEBD1D9}"/>
              </a:ext>
            </a:extLst>
          </p:cNvPr>
          <p:cNvSpPr/>
          <p:nvPr/>
        </p:nvSpPr>
        <p:spPr>
          <a:xfrm>
            <a:off x="5514880" y="520034"/>
            <a:ext cx="673289" cy="341194"/>
          </a:xfrm>
          <a:prstGeom prst="roundRect">
            <a:avLst/>
          </a:prstGeom>
          <a:noFill/>
          <a:ln>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700" b="1" i="0" u="none" strike="noStrike" kern="1200" cap="none" spc="0" normalizeH="0" baseline="0" noProof="0" dirty="0">
                <a:ln>
                  <a:noFill/>
                </a:ln>
                <a:solidFill>
                  <a:srgbClr val="0199FF">
                    <a:lumMod val="50000"/>
                  </a:srgbClr>
                </a:solidFill>
                <a:effectLst/>
                <a:uLnTx/>
                <a:uFillTx/>
                <a:latin typeface="Yekan Bakh" pitchFamily="2" charset="-78"/>
                <a:ea typeface="Yekan Bakh" pitchFamily="2" charset="-78"/>
                <a:cs typeface="Yekan Bakh" pitchFamily="2" charset="-78"/>
              </a:rPr>
              <a:t>بنیانگذاران</a:t>
            </a:r>
            <a:endParaRPr kumimoji="0" lang="en-US" sz="700" b="1" i="0" u="none" strike="noStrike" kern="1200" cap="none" spc="0" normalizeH="0" baseline="0" noProof="0" dirty="0">
              <a:ln>
                <a:noFill/>
              </a:ln>
              <a:solidFill>
                <a:srgbClr val="0199FF">
                  <a:lumMod val="50000"/>
                </a:srgbClr>
              </a:solidFill>
              <a:effectLst/>
              <a:uLnTx/>
              <a:uFillTx/>
              <a:latin typeface="Yekan Bakh" pitchFamily="2" charset="-78"/>
              <a:ea typeface="Yekan Bakh" pitchFamily="2" charset="-78"/>
              <a:cs typeface="Yekan Bakh" pitchFamily="2" charset="-78"/>
            </a:endParaRPr>
          </a:p>
        </p:txBody>
      </p:sp>
      <p:sp>
        <p:nvSpPr>
          <p:cNvPr id="7" name="Rectangle: Rounded Corners 6">
            <a:extLst>
              <a:ext uri="{FF2B5EF4-FFF2-40B4-BE49-F238E27FC236}">
                <a16:creationId xmlns:a16="http://schemas.microsoft.com/office/drawing/2014/main" id="{7C6E6F0C-DF23-9125-67B2-3A44A1314626}"/>
              </a:ext>
            </a:extLst>
          </p:cNvPr>
          <p:cNvSpPr/>
          <p:nvPr/>
        </p:nvSpPr>
        <p:spPr>
          <a:xfrm>
            <a:off x="4790958" y="993490"/>
            <a:ext cx="2121135" cy="267500"/>
          </a:xfrm>
          <a:prstGeom prst="roundRect">
            <a:avLst/>
          </a:prstGeom>
          <a:noFill/>
          <a:ln>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70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rPr>
              <a:t>هسته اکوسیستم و هماهنگ‌کننده خلق ارزش</a:t>
            </a:r>
            <a:endParaRPr kumimoji="0" lang="en-US" sz="70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endParaRPr>
          </a:p>
        </p:txBody>
      </p:sp>
      <p:sp>
        <p:nvSpPr>
          <p:cNvPr id="8" name="Rectangle: Rounded Corners 7">
            <a:extLst>
              <a:ext uri="{FF2B5EF4-FFF2-40B4-BE49-F238E27FC236}">
                <a16:creationId xmlns:a16="http://schemas.microsoft.com/office/drawing/2014/main" id="{EF38C9C2-531B-31A0-FDA0-B65D0F8630C8}"/>
              </a:ext>
            </a:extLst>
          </p:cNvPr>
          <p:cNvSpPr/>
          <p:nvPr/>
        </p:nvSpPr>
        <p:spPr>
          <a:xfrm>
            <a:off x="9976017" y="1393252"/>
            <a:ext cx="1022966" cy="267500"/>
          </a:xfrm>
          <a:prstGeom prst="roundRect">
            <a:avLst/>
          </a:prstGeom>
          <a:noFill/>
          <a:ln>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70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rPr>
              <a:t>شبکه شرکا</a:t>
            </a:r>
            <a:endParaRPr kumimoji="0" lang="en-US" sz="70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endParaRPr>
          </a:p>
        </p:txBody>
      </p:sp>
      <p:sp>
        <p:nvSpPr>
          <p:cNvPr id="9" name="Rectangle: Rounded Corners 8">
            <a:extLst>
              <a:ext uri="{FF2B5EF4-FFF2-40B4-BE49-F238E27FC236}">
                <a16:creationId xmlns:a16="http://schemas.microsoft.com/office/drawing/2014/main" id="{BFE6AE39-75AA-6257-D7E3-65310F2E7FDA}"/>
              </a:ext>
            </a:extLst>
          </p:cNvPr>
          <p:cNvSpPr/>
          <p:nvPr/>
        </p:nvSpPr>
        <p:spPr>
          <a:xfrm>
            <a:off x="715942" y="1393252"/>
            <a:ext cx="1022966" cy="267500"/>
          </a:xfrm>
          <a:prstGeom prst="roundRect">
            <a:avLst/>
          </a:prstGeom>
          <a:noFill/>
          <a:ln>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70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rPr>
              <a:t>شبکه ذی‌نفعان</a:t>
            </a:r>
            <a:endParaRPr kumimoji="0" lang="en-US" sz="70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endParaRPr>
          </a:p>
        </p:txBody>
      </p:sp>
      <p:sp>
        <p:nvSpPr>
          <p:cNvPr id="10" name="Rectangle: Rounded Corners 9">
            <a:extLst>
              <a:ext uri="{FF2B5EF4-FFF2-40B4-BE49-F238E27FC236}">
                <a16:creationId xmlns:a16="http://schemas.microsoft.com/office/drawing/2014/main" id="{281235B0-9ADA-9313-06B2-0C06EAF547BC}"/>
              </a:ext>
            </a:extLst>
          </p:cNvPr>
          <p:cNvSpPr/>
          <p:nvPr/>
        </p:nvSpPr>
        <p:spPr>
          <a:xfrm>
            <a:off x="2172594" y="1393252"/>
            <a:ext cx="7369736" cy="267500"/>
          </a:xfrm>
          <a:prstGeom prst="roundRect">
            <a:avLst/>
          </a:prstGeom>
          <a:noFill/>
          <a:ln>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70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rPr>
              <a:t>عملیات اصلی کسب‌وکار</a:t>
            </a:r>
            <a:endParaRPr kumimoji="0" lang="en-US" sz="70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endParaRPr>
          </a:p>
        </p:txBody>
      </p:sp>
      <p:sp>
        <p:nvSpPr>
          <p:cNvPr id="4" name="Oval 3">
            <a:extLst>
              <a:ext uri="{FF2B5EF4-FFF2-40B4-BE49-F238E27FC236}">
                <a16:creationId xmlns:a16="http://schemas.microsoft.com/office/drawing/2014/main" id="{5C0B3C83-28BA-918A-728D-0E87E0CAC8B7}"/>
              </a:ext>
            </a:extLst>
          </p:cNvPr>
          <p:cNvSpPr/>
          <p:nvPr/>
        </p:nvSpPr>
        <p:spPr>
          <a:xfrm>
            <a:off x="7501042" y="2752824"/>
            <a:ext cx="2612248" cy="2612249"/>
          </a:xfrm>
          <a:prstGeom prst="ellipse">
            <a:avLst/>
          </a:prstGeom>
          <a:noFill/>
          <a:ln w="28575">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Yekan Bakh" pitchFamily="2" charset="-78"/>
              <a:ea typeface="Yekan Bakh" pitchFamily="2" charset="-78"/>
              <a:cs typeface="Yekan Bakh" pitchFamily="2" charset="-78"/>
            </a:endParaRPr>
          </a:p>
        </p:txBody>
      </p:sp>
      <p:sp>
        <p:nvSpPr>
          <p:cNvPr id="11" name="Oval 10">
            <a:extLst>
              <a:ext uri="{FF2B5EF4-FFF2-40B4-BE49-F238E27FC236}">
                <a16:creationId xmlns:a16="http://schemas.microsoft.com/office/drawing/2014/main" id="{C9E81CE8-343D-F590-35F0-FAB24DE6EFAC}"/>
              </a:ext>
            </a:extLst>
          </p:cNvPr>
          <p:cNvSpPr/>
          <p:nvPr/>
        </p:nvSpPr>
        <p:spPr>
          <a:xfrm>
            <a:off x="4545402" y="2752824"/>
            <a:ext cx="2612248" cy="2612249"/>
          </a:xfrm>
          <a:prstGeom prst="ellipse">
            <a:avLst/>
          </a:prstGeom>
          <a:noFill/>
          <a:ln w="28575">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Yekan Bakh" pitchFamily="2" charset="-78"/>
              <a:ea typeface="Yekan Bakh" pitchFamily="2" charset="-78"/>
              <a:cs typeface="Yekan Bakh" pitchFamily="2" charset="-78"/>
            </a:endParaRPr>
          </a:p>
        </p:txBody>
      </p:sp>
      <p:sp>
        <p:nvSpPr>
          <p:cNvPr id="12" name="Oval 11">
            <a:extLst>
              <a:ext uri="{FF2B5EF4-FFF2-40B4-BE49-F238E27FC236}">
                <a16:creationId xmlns:a16="http://schemas.microsoft.com/office/drawing/2014/main" id="{4A7AD7E5-37D4-8127-6077-CC24BA7C2D1F}"/>
              </a:ext>
            </a:extLst>
          </p:cNvPr>
          <p:cNvSpPr/>
          <p:nvPr/>
        </p:nvSpPr>
        <p:spPr>
          <a:xfrm>
            <a:off x="1589761" y="2752824"/>
            <a:ext cx="2612248" cy="2612249"/>
          </a:xfrm>
          <a:prstGeom prst="ellipse">
            <a:avLst/>
          </a:prstGeom>
          <a:noFill/>
          <a:ln w="28575">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Yekan Bakh" pitchFamily="2" charset="-78"/>
              <a:ea typeface="Yekan Bakh" pitchFamily="2" charset="-78"/>
              <a:cs typeface="Yekan Bakh" pitchFamily="2" charset="-78"/>
            </a:endParaRPr>
          </a:p>
        </p:txBody>
      </p:sp>
      <p:sp>
        <p:nvSpPr>
          <p:cNvPr id="13" name="Rectangle: Rounded Corners 12">
            <a:extLst>
              <a:ext uri="{FF2B5EF4-FFF2-40B4-BE49-F238E27FC236}">
                <a16:creationId xmlns:a16="http://schemas.microsoft.com/office/drawing/2014/main" id="{C2A7CE0F-E933-7591-9570-280F6C97B0A5}"/>
              </a:ext>
            </a:extLst>
          </p:cNvPr>
          <p:cNvSpPr/>
          <p:nvPr/>
        </p:nvSpPr>
        <p:spPr>
          <a:xfrm>
            <a:off x="8147841" y="2649813"/>
            <a:ext cx="1318651" cy="217567"/>
          </a:xfrm>
          <a:prstGeom prst="roundRect">
            <a:avLst/>
          </a:prstGeom>
          <a:solidFill>
            <a:schemeClr val="tx2">
              <a:lumMod val="50000"/>
            </a:schemeClr>
          </a:solidFill>
          <a:ln>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prstClr val="white"/>
                </a:solidFill>
                <a:effectLst/>
                <a:uLnTx/>
                <a:uFillTx/>
                <a:latin typeface="Yekan Bakh" pitchFamily="2" charset="-78"/>
                <a:ea typeface="Yekan Bakh" pitchFamily="2" charset="-78"/>
                <a:cs typeface="Yekan Bakh" pitchFamily="2" charset="-78"/>
              </a:rPr>
              <a:t>Professional Services</a:t>
            </a:r>
          </a:p>
        </p:txBody>
      </p:sp>
      <p:sp>
        <p:nvSpPr>
          <p:cNvPr id="14" name="Rectangle: Rounded Corners 13">
            <a:extLst>
              <a:ext uri="{FF2B5EF4-FFF2-40B4-BE49-F238E27FC236}">
                <a16:creationId xmlns:a16="http://schemas.microsoft.com/office/drawing/2014/main" id="{FACEDF89-C5AD-15EE-8785-CBFD0A08A44C}"/>
              </a:ext>
            </a:extLst>
          </p:cNvPr>
          <p:cNvSpPr/>
          <p:nvPr/>
        </p:nvSpPr>
        <p:spPr>
          <a:xfrm>
            <a:off x="5192200" y="2649813"/>
            <a:ext cx="1318651" cy="217567"/>
          </a:xfrm>
          <a:prstGeom prst="roundRect">
            <a:avLst/>
          </a:prstGeom>
          <a:solidFill>
            <a:schemeClr val="tx2">
              <a:lumMod val="50000"/>
            </a:schemeClr>
          </a:solidFill>
          <a:ln>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prstClr val="white"/>
                </a:solidFill>
                <a:effectLst/>
                <a:uLnTx/>
                <a:uFillTx/>
                <a:latin typeface="Yekan Bakh" pitchFamily="2" charset="-78"/>
                <a:ea typeface="Yekan Bakh" pitchFamily="2" charset="-78"/>
                <a:cs typeface="Yekan Bakh" pitchFamily="2" charset="-78"/>
              </a:rPr>
              <a:t>Venture Building</a:t>
            </a:r>
          </a:p>
        </p:txBody>
      </p:sp>
      <p:sp>
        <p:nvSpPr>
          <p:cNvPr id="15" name="Rectangle: Rounded Corners 14">
            <a:extLst>
              <a:ext uri="{FF2B5EF4-FFF2-40B4-BE49-F238E27FC236}">
                <a16:creationId xmlns:a16="http://schemas.microsoft.com/office/drawing/2014/main" id="{E64E7256-B153-411E-C165-5AA712777D59}"/>
              </a:ext>
            </a:extLst>
          </p:cNvPr>
          <p:cNvSpPr/>
          <p:nvPr/>
        </p:nvSpPr>
        <p:spPr>
          <a:xfrm>
            <a:off x="2236560" y="2649813"/>
            <a:ext cx="1318651" cy="217567"/>
          </a:xfrm>
          <a:prstGeom prst="roundRect">
            <a:avLst/>
          </a:prstGeom>
          <a:solidFill>
            <a:schemeClr val="tx2">
              <a:lumMod val="50000"/>
            </a:schemeClr>
          </a:solidFill>
          <a:ln>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prstClr val="white"/>
                </a:solidFill>
                <a:effectLst/>
                <a:uLnTx/>
                <a:uFillTx/>
                <a:latin typeface="Yekan Bakh" pitchFamily="2" charset="-78"/>
                <a:ea typeface="Yekan Bakh" pitchFamily="2" charset="-78"/>
                <a:cs typeface="Yekan Bakh" pitchFamily="2" charset="-78"/>
              </a:rPr>
              <a:t>Investment</a:t>
            </a:r>
          </a:p>
        </p:txBody>
      </p:sp>
      <p:cxnSp>
        <p:nvCxnSpPr>
          <p:cNvPr id="18" name="Straight Arrow Connector 17">
            <a:extLst>
              <a:ext uri="{FF2B5EF4-FFF2-40B4-BE49-F238E27FC236}">
                <a16:creationId xmlns:a16="http://schemas.microsoft.com/office/drawing/2014/main" id="{33D15870-977C-8453-3F65-9CFA27CC4334}"/>
              </a:ext>
            </a:extLst>
          </p:cNvPr>
          <p:cNvCxnSpPr>
            <a:cxnSpLocks/>
          </p:cNvCxnSpPr>
          <p:nvPr/>
        </p:nvCxnSpPr>
        <p:spPr>
          <a:xfrm>
            <a:off x="8807166" y="1781549"/>
            <a:ext cx="0" cy="772729"/>
          </a:xfrm>
          <a:prstGeom prst="straightConnector1">
            <a:avLst/>
          </a:prstGeom>
          <a:ln>
            <a:solidFill>
              <a:srgbClr val="F0BE0F"/>
            </a:solidFill>
            <a:prstDash val="dash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017BFD3B-58BD-E9B1-57EE-053E55F3778D}"/>
              </a:ext>
            </a:extLst>
          </p:cNvPr>
          <p:cNvCxnSpPr>
            <a:cxnSpLocks/>
          </p:cNvCxnSpPr>
          <p:nvPr/>
        </p:nvCxnSpPr>
        <p:spPr>
          <a:xfrm>
            <a:off x="5851525" y="1781549"/>
            <a:ext cx="0" cy="772729"/>
          </a:xfrm>
          <a:prstGeom prst="straightConnector1">
            <a:avLst/>
          </a:prstGeom>
          <a:ln>
            <a:solidFill>
              <a:srgbClr val="F0BE0F"/>
            </a:solidFill>
            <a:prstDash val="dash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7D806767-EB6F-E667-8C94-00E1353B3E72}"/>
              </a:ext>
            </a:extLst>
          </p:cNvPr>
          <p:cNvCxnSpPr>
            <a:cxnSpLocks/>
          </p:cNvCxnSpPr>
          <p:nvPr/>
        </p:nvCxnSpPr>
        <p:spPr>
          <a:xfrm>
            <a:off x="2895885" y="1781549"/>
            <a:ext cx="0" cy="772729"/>
          </a:xfrm>
          <a:prstGeom prst="straightConnector1">
            <a:avLst/>
          </a:prstGeom>
          <a:ln>
            <a:solidFill>
              <a:srgbClr val="F0BE0F"/>
            </a:solidFill>
            <a:prstDash val="dashDot"/>
            <a:headEnd type="triangle"/>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14641F5E-67C1-2F7C-5ED9-2C0E559B682B}"/>
              </a:ext>
            </a:extLst>
          </p:cNvPr>
          <p:cNvSpPr txBox="1"/>
          <p:nvPr/>
        </p:nvSpPr>
        <p:spPr>
          <a:xfrm>
            <a:off x="2446240" y="2016783"/>
            <a:ext cx="899290" cy="215444"/>
          </a:xfrm>
          <a:prstGeom prst="rect">
            <a:avLst/>
          </a:prstGeom>
          <a:noFill/>
        </p:spPr>
        <p:txBody>
          <a:bodyPr wrap="square" rtlCol="0">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dirty="0">
                <a:ln>
                  <a:noFill/>
                </a:ln>
                <a:solidFill>
                  <a:srgbClr val="F0BE0F"/>
                </a:solidFill>
                <a:effectLst/>
                <a:highlight>
                  <a:srgbClr val="FFFFFF"/>
                </a:highlight>
                <a:uLnTx/>
                <a:uFillTx/>
                <a:latin typeface="Yekan Bakh" pitchFamily="2" charset="-78"/>
                <a:ea typeface="Yekan Bakh" pitchFamily="2" charset="-78"/>
                <a:cs typeface="Yekan Bakh" pitchFamily="2" charset="-78"/>
              </a:rPr>
              <a:t>جریان سرمایه</a:t>
            </a:r>
            <a:endParaRPr kumimoji="0" lang="en-US" sz="800" b="1" i="0" u="none" strike="noStrike" kern="1200" cap="none" spc="0" normalizeH="0" baseline="0" noProof="0" dirty="0">
              <a:ln>
                <a:noFill/>
              </a:ln>
              <a:solidFill>
                <a:srgbClr val="F0BE0F"/>
              </a:solidFill>
              <a:effectLst/>
              <a:highlight>
                <a:srgbClr val="FFFFFF"/>
              </a:highlight>
              <a:uLnTx/>
              <a:uFillTx/>
              <a:latin typeface="Yekan Bakh" pitchFamily="2" charset="-78"/>
              <a:ea typeface="Yekan Bakh" pitchFamily="2" charset="-78"/>
              <a:cs typeface="Yekan Bakh" pitchFamily="2" charset="-78"/>
            </a:endParaRPr>
          </a:p>
        </p:txBody>
      </p:sp>
      <p:sp>
        <p:nvSpPr>
          <p:cNvPr id="22" name="TextBox 21">
            <a:extLst>
              <a:ext uri="{FF2B5EF4-FFF2-40B4-BE49-F238E27FC236}">
                <a16:creationId xmlns:a16="http://schemas.microsoft.com/office/drawing/2014/main" id="{22B20CF4-4418-7CE2-AB92-D00E7309F5D1}"/>
              </a:ext>
            </a:extLst>
          </p:cNvPr>
          <p:cNvSpPr txBox="1"/>
          <p:nvPr/>
        </p:nvSpPr>
        <p:spPr>
          <a:xfrm>
            <a:off x="5334959" y="2016783"/>
            <a:ext cx="1033132" cy="215444"/>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a:ln>
                  <a:noFill/>
                </a:ln>
                <a:solidFill>
                  <a:srgbClr val="F0BE0F"/>
                </a:solidFill>
                <a:effectLst/>
                <a:highlight>
                  <a:srgbClr val="FFFFFF"/>
                </a:highlight>
                <a:uLnTx/>
                <a:uFillTx/>
                <a:latin typeface="Yekan Bakh" pitchFamily="2" charset="-78"/>
                <a:ea typeface="Yekan Bakh" pitchFamily="2" charset="-78"/>
                <a:cs typeface="Yekan Bakh" pitchFamily="2" charset="-78"/>
              </a:rPr>
              <a:t>جریان ایده</a:t>
            </a:r>
            <a:endParaRPr kumimoji="0" lang="en-US" sz="800" b="1" i="0" u="none" strike="noStrike" kern="1200" cap="none" spc="0" normalizeH="0" baseline="0" noProof="0">
              <a:ln>
                <a:noFill/>
              </a:ln>
              <a:solidFill>
                <a:srgbClr val="F0BE0F"/>
              </a:solidFill>
              <a:effectLst/>
              <a:highlight>
                <a:srgbClr val="FFFFFF"/>
              </a:highlight>
              <a:uLnTx/>
              <a:uFillTx/>
              <a:latin typeface="Yekan Bakh" pitchFamily="2" charset="-78"/>
              <a:ea typeface="Yekan Bakh" pitchFamily="2" charset="-78"/>
              <a:cs typeface="Yekan Bakh" pitchFamily="2" charset="-78"/>
            </a:endParaRPr>
          </a:p>
        </p:txBody>
      </p:sp>
      <p:sp>
        <p:nvSpPr>
          <p:cNvPr id="23" name="TextBox 22">
            <a:extLst>
              <a:ext uri="{FF2B5EF4-FFF2-40B4-BE49-F238E27FC236}">
                <a16:creationId xmlns:a16="http://schemas.microsoft.com/office/drawing/2014/main" id="{57D7F858-3688-955E-A936-C2DEBDA71D9E}"/>
              </a:ext>
            </a:extLst>
          </p:cNvPr>
          <p:cNvSpPr txBox="1"/>
          <p:nvPr/>
        </p:nvSpPr>
        <p:spPr>
          <a:xfrm>
            <a:off x="8290600" y="2018222"/>
            <a:ext cx="1033132" cy="215444"/>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a:ln>
                  <a:noFill/>
                </a:ln>
                <a:solidFill>
                  <a:srgbClr val="F0BE0F"/>
                </a:solidFill>
                <a:effectLst/>
                <a:highlight>
                  <a:srgbClr val="FFFFFF"/>
                </a:highlight>
                <a:uLnTx/>
                <a:uFillTx/>
                <a:latin typeface="Yekan Bakh" pitchFamily="2" charset="-78"/>
                <a:ea typeface="Yekan Bakh" pitchFamily="2" charset="-78"/>
                <a:cs typeface="Yekan Bakh" pitchFamily="2" charset="-78"/>
              </a:rPr>
              <a:t>جریان بازیگران</a:t>
            </a:r>
            <a:endParaRPr kumimoji="0" lang="en-US" sz="800" b="1" i="0" u="none" strike="noStrike" kern="1200" cap="none" spc="0" normalizeH="0" baseline="0" noProof="0">
              <a:ln>
                <a:noFill/>
              </a:ln>
              <a:solidFill>
                <a:srgbClr val="F0BE0F"/>
              </a:solidFill>
              <a:effectLst/>
              <a:highlight>
                <a:srgbClr val="FFFFFF"/>
              </a:highlight>
              <a:uLnTx/>
              <a:uFillTx/>
              <a:latin typeface="Yekan Bakh" pitchFamily="2" charset="-78"/>
              <a:ea typeface="Yekan Bakh" pitchFamily="2" charset="-78"/>
              <a:cs typeface="Yekan Bakh" pitchFamily="2" charset="-78"/>
            </a:endParaRPr>
          </a:p>
        </p:txBody>
      </p:sp>
      <p:cxnSp>
        <p:nvCxnSpPr>
          <p:cNvPr id="27" name="Connector: Curved 26">
            <a:extLst>
              <a:ext uri="{FF2B5EF4-FFF2-40B4-BE49-F238E27FC236}">
                <a16:creationId xmlns:a16="http://schemas.microsoft.com/office/drawing/2014/main" id="{498DF1A0-56A7-8228-0B00-6D56D3B50743}"/>
              </a:ext>
            </a:extLst>
          </p:cNvPr>
          <p:cNvCxnSpPr>
            <a:cxnSpLocks/>
            <a:stCxn id="4" idx="1"/>
            <a:endCxn id="11" idx="5"/>
          </p:cNvCxnSpPr>
          <p:nvPr/>
        </p:nvCxnSpPr>
        <p:spPr>
          <a:xfrm rot="16200000" flipH="1" flipV="1">
            <a:off x="6405776" y="3504697"/>
            <a:ext cx="1847139" cy="1108502"/>
          </a:xfrm>
          <a:prstGeom prst="curvedConnector5">
            <a:avLst>
              <a:gd name="adj1" fmla="val -12376"/>
              <a:gd name="adj2" fmla="val 50000"/>
              <a:gd name="adj3" fmla="val 112376"/>
            </a:avLst>
          </a:prstGeom>
          <a:ln w="19050">
            <a:solidFill>
              <a:srgbClr val="F0BE0F"/>
            </a:solidFill>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8" name="Connector: Curved 27">
            <a:extLst>
              <a:ext uri="{FF2B5EF4-FFF2-40B4-BE49-F238E27FC236}">
                <a16:creationId xmlns:a16="http://schemas.microsoft.com/office/drawing/2014/main" id="{BC77980D-2CB7-599D-7D61-0324CF66709B}"/>
              </a:ext>
            </a:extLst>
          </p:cNvPr>
          <p:cNvCxnSpPr>
            <a:cxnSpLocks/>
            <a:stCxn id="11" idx="1"/>
            <a:endCxn id="12" idx="5"/>
          </p:cNvCxnSpPr>
          <p:nvPr/>
        </p:nvCxnSpPr>
        <p:spPr>
          <a:xfrm rot="16200000" flipH="1" flipV="1">
            <a:off x="3450136" y="3504696"/>
            <a:ext cx="1847139" cy="1108503"/>
          </a:xfrm>
          <a:prstGeom prst="curvedConnector5">
            <a:avLst>
              <a:gd name="adj1" fmla="val -12376"/>
              <a:gd name="adj2" fmla="val 50000"/>
              <a:gd name="adj3" fmla="val 112376"/>
            </a:avLst>
          </a:prstGeom>
          <a:ln w="19050">
            <a:solidFill>
              <a:srgbClr val="F0BE0F"/>
            </a:solidFill>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2C5A52FE-323D-FBDA-4B5F-E746F4B536BE}"/>
              </a:ext>
            </a:extLst>
          </p:cNvPr>
          <p:cNvSpPr txBox="1"/>
          <p:nvPr/>
        </p:nvSpPr>
        <p:spPr>
          <a:xfrm>
            <a:off x="7028861" y="2835024"/>
            <a:ext cx="1033132" cy="215444"/>
          </a:xfrm>
          <a:prstGeom prst="rect">
            <a:avLst/>
          </a:prstGeom>
          <a:noFill/>
        </p:spPr>
        <p:txBody>
          <a:bodyPr wrap="square" rtlCol="0">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a:ln>
                  <a:noFill/>
                </a:ln>
                <a:solidFill>
                  <a:srgbClr val="F0BE0F"/>
                </a:solidFill>
                <a:effectLst/>
                <a:highlight>
                  <a:srgbClr val="FFFFFF"/>
                </a:highlight>
                <a:uLnTx/>
                <a:uFillTx/>
                <a:latin typeface="Yekan Bakh" pitchFamily="2" charset="-78"/>
                <a:ea typeface="Yekan Bakh" pitchFamily="2" charset="-78"/>
                <a:cs typeface="Yekan Bakh" pitchFamily="2" charset="-78"/>
              </a:rPr>
              <a:t>تقاضاهای جدید</a:t>
            </a:r>
            <a:endParaRPr kumimoji="0" lang="en-US" sz="800" b="1" i="0" u="none" strike="noStrike" kern="1200" cap="none" spc="0" normalizeH="0" baseline="0" noProof="0">
              <a:ln>
                <a:noFill/>
              </a:ln>
              <a:solidFill>
                <a:srgbClr val="F0BE0F"/>
              </a:solidFill>
              <a:effectLst/>
              <a:highlight>
                <a:srgbClr val="FFFFFF"/>
              </a:highlight>
              <a:uLnTx/>
              <a:uFillTx/>
              <a:latin typeface="Yekan Bakh" pitchFamily="2" charset="-78"/>
              <a:ea typeface="Yekan Bakh" pitchFamily="2" charset="-78"/>
              <a:cs typeface="Yekan Bakh" pitchFamily="2" charset="-78"/>
            </a:endParaRPr>
          </a:p>
        </p:txBody>
      </p:sp>
      <p:sp>
        <p:nvSpPr>
          <p:cNvPr id="34" name="TextBox 33">
            <a:extLst>
              <a:ext uri="{FF2B5EF4-FFF2-40B4-BE49-F238E27FC236}">
                <a16:creationId xmlns:a16="http://schemas.microsoft.com/office/drawing/2014/main" id="{D9CAB980-4345-C874-32EC-FDB4AA66E3AD}"/>
              </a:ext>
            </a:extLst>
          </p:cNvPr>
          <p:cNvSpPr txBox="1"/>
          <p:nvPr/>
        </p:nvSpPr>
        <p:spPr>
          <a:xfrm>
            <a:off x="6692067" y="5087128"/>
            <a:ext cx="1033132" cy="338554"/>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a:ln>
                  <a:noFill/>
                </a:ln>
                <a:solidFill>
                  <a:srgbClr val="F0BE0F"/>
                </a:solidFill>
                <a:effectLst/>
                <a:highlight>
                  <a:srgbClr val="FFFFFF"/>
                </a:highlight>
                <a:uLnTx/>
                <a:uFillTx/>
                <a:latin typeface="Yekan Bakh" pitchFamily="2" charset="-78"/>
                <a:ea typeface="Yekan Bakh" pitchFamily="2" charset="-78"/>
                <a:cs typeface="Yekan Bakh" pitchFamily="2" charset="-78"/>
              </a:rPr>
              <a:t>فرصت کسب‌وکاری باکیفیت </a:t>
            </a:r>
            <a:endParaRPr kumimoji="0" lang="en-US" sz="800" b="1" i="0" u="none" strike="noStrike" kern="1200" cap="none" spc="0" normalizeH="0" baseline="0" noProof="0">
              <a:ln>
                <a:noFill/>
              </a:ln>
              <a:solidFill>
                <a:srgbClr val="F0BE0F"/>
              </a:solidFill>
              <a:effectLst/>
              <a:highlight>
                <a:srgbClr val="FFFFFF"/>
              </a:highlight>
              <a:uLnTx/>
              <a:uFillTx/>
              <a:latin typeface="Yekan Bakh" pitchFamily="2" charset="-78"/>
              <a:ea typeface="Yekan Bakh" pitchFamily="2" charset="-78"/>
              <a:cs typeface="Yekan Bakh" pitchFamily="2" charset="-78"/>
            </a:endParaRPr>
          </a:p>
        </p:txBody>
      </p:sp>
      <p:sp>
        <p:nvSpPr>
          <p:cNvPr id="35" name="TextBox 34">
            <a:extLst>
              <a:ext uri="{FF2B5EF4-FFF2-40B4-BE49-F238E27FC236}">
                <a16:creationId xmlns:a16="http://schemas.microsoft.com/office/drawing/2014/main" id="{747CE076-1659-EB25-C1CA-0928E0ACEC8E}"/>
              </a:ext>
            </a:extLst>
          </p:cNvPr>
          <p:cNvSpPr txBox="1"/>
          <p:nvPr/>
        </p:nvSpPr>
        <p:spPr>
          <a:xfrm>
            <a:off x="3987256" y="2798191"/>
            <a:ext cx="1033132" cy="338554"/>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a:ln>
                  <a:noFill/>
                </a:ln>
                <a:solidFill>
                  <a:srgbClr val="F0BE0F"/>
                </a:solidFill>
                <a:effectLst/>
                <a:highlight>
                  <a:srgbClr val="FFFFFF"/>
                </a:highlight>
                <a:uLnTx/>
                <a:uFillTx/>
                <a:latin typeface="Yekan Bakh" pitchFamily="2" charset="-78"/>
                <a:ea typeface="Yekan Bakh" pitchFamily="2" charset="-78"/>
                <a:cs typeface="Yekan Bakh" pitchFamily="2" charset="-78"/>
              </a:rPr>
              <a:t>سرمایه و دسترسی استراتژیک</a:t>
            </a:r>
            <a:endParaRPr kumimoji="0" lang="en-US" sz="800" b="1" i="0" u="none" strike="noStrike" kern="1200" cap="none" spc="0" normalizeH="0" baseline="0" noProof="0">
              <a:ln>
                <a:noFill/>
              </a:ln>
              <a:solidFill>
                <a:srgbClr val="F0BE0F"/>
              </a:solidFill>
              <a:effectLst/>
              <a:highlight>
                <a:srgbClr val="FFFFFF"/>
              </a:highlight>
              <a:uLnTx/>
              <a:uFillTx/>
              <a:latin typeface="Yekan Bakh" pitchFamily="2" charset="-78"/>
              <a:ea typeface="Yekan Bakh" pitchFamily="2" charset="-78"/>
              <a:cs typeface="Yekan Bakh" pitchFamily="2" charset="-78"/>
            </a:endParaRPr>
          </a:p>
        </p:txBody>
      </p:sp>
      <p:sp>
        <p:nvSpPr>
          <p:cNvPr id="36" name="TextBox 35">
            <a:extLst>
              <a:ext uri="{FF2B5EF4-FFF2-40B4-BE49-F238E27FC236}">
                <a16:creationId xmlns:a16="http://schemas.microsoft.com/office/drawing/2014/main" id="{1C1E5396-68F5-C239-23EB-40034383B008}"/>
              </a:ext>
            </a:extLst>
          </p:cNvPr>
          <p:cNvSpPr txBox="1"/>
          <p:nvPr/>
        </p:nvSpPr>
        <p:spPr>
          <a:xfrm>
            <a:off x="3644383" y="5056633"/>
            <a:ext cx="1237633" cy="338554"/>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a:ln>
                  <a:noFill/>
                </a:ln>
                <a:solidFill>
                  <a:srgbClr val="F0BE0F"/>
                </a:solidFill>
                <a:effectLst/>
                <a:highlight>
                  <a:srgbClr val="FFFFFF"/>
                </a:highlight>
                <a:uLnTx/>
                <a:uFillTx/>
                <a:latin typeface="Yekan Bakh" pitchFamily="2" charset="-78"/>
                <a:ea typeface="Yekan Bakh" pitchFamily="2" charset="-78"/>
                <a:cs typeface="Yekan Bakh" pitchFamily="2" charset="-78"/>
              </a:rPr>
              <a:t>ونچرهای آماده سرمایه‌گذاری </a:t>
            </a:r>
            <a:endParaRPr kumimoji="0" lang="en-US" sz="800" b="1" i="0" u="none" strike="noStrike" kern="1200" cap="none" spc="0" normalizeH="0" baseline="0" noProof="0">
              <a:ln>
                <a:noFill/>
              </a:ln>
              <a:solidFill>
                <a:srgbClr val="F0BE0F"/>
              </a:solidFill>
              <a:effectLst/>
              <a:highlight>
                <a:srgbClr val="FFFFFF"/>
              </a:highlight>
              <a:uLnTx/>
              <a:uFillTx/>
              <a:latin typeface="Yekan Bakh" pitchFamily="2" charset="-78"/>
              <a:ea typeface="Yekan Bakh" pitchFamily="2" charset="-78"/>
              <a:cs typeface="Yekan Bakh" pitchFamily="2" charset="-78"/>
            </a:endParaRPr>
          </a:p>
        </p:txBody>
      </p:sp>
      <p:cxnSp>
        <p:nvCxnSpPr>
          <p:cNvPr id="37" name="Connector: Curved 36">
            <a:extLst>
              <a:ext uri="{FF2B5EF4-FFF2-40B4-BE49-F238E27FC236}">
                <a16:creationId xmlns:a16="http://schemas.microsoft.com/office/drawing/2014/main" id="{219FA1E7-EF2E-E74C-F1EE-31F621ADD3D3}"/>
              </a:ext>
            </a:extLst>
          </p:cNvPr>
          <p:cNvCxnSpPr>
            <a:cxnSpLocks/>
            <a:stCxn id="4" idx="6"/>
            <a:endCxn id="12" idx="2"/>
          </p:cNvCxnSpPr>
          <p:nvPr/>
        </p:nvCxnSpPr>
        <p:spPr>
          <a:xfrm flipH="1">
            <a:off x="1589761" y="4058949"/>
            <a:ext cx="8523529" cy="12700"/>
          </a:xfrm>
          <a:prstGeom prst="curvedConnector5">
            <a:avLst>
              <a:gd name="adj1" fmla="val -2682"/>
              <a:gd name="adj2" fmla="val 13253276"/>
              <a:gd name="adj3" fmla="val 102682"/>
            </a:avLst>
          </a:prstGeom>
          <a:ln w="19050">
            <a:solidFill>
              <a:srgbClr val="F0BE0F"/>
            </a:solidFill>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AC29489A-29F0-2822-65C6-54BD887448FC}"/>
              </a:ext>
            </a:extLst>
          </p:cNvPr>
          <p:cNvSpPr txBox="1"/>
          <p:nvPr/>
        </p:nvSpPr>
        <p:spPr>
          <a:xfrm>
            <a:off x="9791250" y="4685033"/>
            <a:ext cx="1033132"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a:ln>
                  <a:noFill/>
                </a:ln>
                <a:solidFill>
                  <a:srgbClr val="F0BE0F"/>
                </a:solidFill>
                <a:effectLst/>
                <a:highlight>
                  <a:srgbClr val="FFFFFF"/>
                </a:highlight>
                <a:uLnTx/>
                <a:uFillTx/>
                <a:latin typeface="Yekan Bakh" pitchFamily="2" charset="-78"/>
                <a:ea typeface="Yekan Bakh" pitchFamily="2" charset="-78"/>
                <a:cs typeface="Yekan Bakh" pitchFamily="2" charset="-78"/>
              </a:rPr>
              <a:t>خدمات جدید </a:t>
            </a:r>
            <a:br>
              <a:rPr kumimoji="0" lang="fa-IR" sz="800" b="1" i="0" u="none" strike="noStrike" kern="1200" cap="none" spc="0" normalizeH="0" baseline="0" noProof="0">
                <a:ln>
                  <a:noFill/>
                </a:ln>
                <a:solidFill>
                  <a:srgbClr val="F0BE0F"/>
                </a:solidFill>
                <a:effectLst/>
                <a:highlight>
                  <a:srgbClr val="FFFFFF"/>
                </a:highlight>
                <a:uLnTx/>
                <a:uFillTx/>
                <a:latin typeface="Yekan Bakh" pitchFamily="2" charset="-78"/>
                <a:ea typeface="Yekan Bakh" pitchFamily="2" charset="-78"/>
                <a:cs typeface="Yekan Bakh" pitchFamily="2" charset="-78"/>
              </a:rPr>
            </a:br>
            <a:r>
              <a:rPr kumimoji="0" lang="fa-IR" sz="800" b="1" i="0" u="none" strike="noStrike" kern="1200" cap="none" spc="0" normalizeH="0" baseline="0" noProof="0">
                <a:ln>
                  <a:noFill/>
                </a:ln>
                <a:solidFill>
                  <a:srgbClr val="F0BE0F"/>
                </a:solidFill>
                <a:effectLst/>
                <a:highlight>
                  <a:srgbClr val="FFFFFF"/>
                </a:highlight>
                <a:uLnTx/>
                <a:uFillTx/>
                <a:latin typeface="Yekan Bakh" pitchFamily="2" charset="-78"/>
                <a:ea typeface="Yekan Bakh" pitchFamily="2" charset="-78"/>
                <a:cs typeface="Yekan Bakh" pitchFamily="2" charset="-78"/>
              </a:rPr>
              <a:t>+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a:ln>
                  <a:noFill/>
                </a:ln>
                <a:solidFill>
                  <a:srgbClr val="F0BE0F"/>
                </a:solidFill>
                <a:effectLst/>
                <a:highlight>
                  <a:srgbClr val="FFFFFF"/>
                </a:highlight>
                <a:uLnTx/>
                <a:uFillTx/>
                <a:latin typeface="Yekan Bakh" pitchFamily="2" charset="-78"/>
                <a:ea typeface="Yekan Bakh" pitchFamily="2" charset="-78"/>
                <a:cs typeface="Yekan Bakh" pitchFamily="2" charset="-78"/>
              </a:rPr>
              <a:t>شبکه جدید </a:t>
            </a:r>
          </a:p>
        </p:txBody>
      </p:sp>
      <p:sp>
        <p:nvSpPr>
          <p:cNvPr id="42" name="TextBox 41">
            <a:extLst>
              <a:ext uri="{FF2B5EF4-FFF2-40B4-BE49-F238E27FC236}">
                <a16:creationId xmlns:a16="http://schemas.microsoft.com/office/drawing/2014/main" id="{3B203F43-B97D-0988-15D0-9BE08E1D0199}"/>
              </a:ext>
            </a:extLst>
          </p:cNvPr>
          <p:cNvSpPr txBox="1"/>
          <p:nvPr/>
        </p:nvSpPr>
        <p:spPr>
          <a:xfrm>
            <a:off x="867181" y="4685033"/>
            <a:ext cx="883937" cy="338554"/>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a:ln>
                  <a:noFill/>
                </a:ln>
                <a:solidFill>
                  <a:srgbClr val="F0BE0F"/>
                </a:solidFill>
                <a:effectLst/>
                <a:highlight>
                  <a:srgbClr val="FFFFFF"/>
                </a:highlight>
                <a:uLnTx/>
                <a:uFillTx/>
                <a:latin typeface="Yekan Bakh" pitchFamily="2" charset="-78"/>
                <a:ea typeface="Yekan Bakh" pitchFamily="2" charset="-78"/>
                <a:cs typeface="Yekan Bakh" pitchFamily="2" charset="-78"/>
              </a:rPr>
              <a:t>هوشمندی سرمایه‌گذاری </a:t>
            </a:r>
            <a:endParaRPr kumimoji="0" lang="en-US" sz="800" b="1" i="0" u="none" strike="noStrike" kern="1200" cap="none" spc="0" normalizeH="0" baseline="0" noProof="0">
              <a:ln>
                <a:noFill/>
              </a:ln>
              <a:solidFill>
                <a:srgbClr val="F0BE0F"/>
              </a:solidFill>
              <a:effectLst/>
              <a:highlight>
                <a:srgbClr val="FFFFFF"/>
              </a:highlight>
              <a:uLnTx/>
              <a:uFillTx/>
              <a:latin typeface="Yekan Bakh" pitchFamily="2" charset="-78"/>
              <a:ea typeface="Yekan Bakh" pitchFamily="2" charset="-78"/>
              <a:cs typeface="Yekan Bakh" pitchFamily="2" charset="-78"/>
            </a:endParaRPr>
          </a:p>
        </p:txBody>
      </p:sp>
      <p:sp>
        <p:nvSpPr>
          <p:cNvPr id="44" name="Oval 43">
            <a:extLst>
              <a:ext uri="{FF2B5EF4-FFF2-40B4-BE49-F238E27FC236}">
                <a16:creationId xmlns:a16="http://schemas.microsoft.com/office/drawing/2014/main" id="{269B8646-A8A7-6A99-3050-8BE2CF8B565F}"/>
              </a:ext>
            </a:extLst>
          </p:cNvPr>
          <p:cNvSpPr/>
          <p:nvPr/>
        </p:nvSpPr>
        <p:spPr>
          <a:xfrm>
            <a:off x="9801357" y="3239093"/>
            <a:ext cx="171920" cy="171920"/>
          </a:xfrm>
          <a:prstGeom prst="ellipse">
            <a:avLst/>
          </a:prstGeom>
          <a:solidFill>
            <a:schemeClr val="bg1"/>
          </a:solidFill>
          <a:ln>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Yekan Bakh" pitchFamily="2" charset="-78"/>
              <a:ea typeface="Yekan Bakh" pitchFamily="2" charset="-78"/>
              <a:cs typeface="Yekan Bakh" pitchFamily="2" charset="-78"/>
            </a:endParaRPr>
          </a:p>
        </p:txBody>
      </p:sp>
      <p:sp>
        <p:nvSpPr>
          <p:cNvPr id="45" name="Oval 44">
            <a:extLst>
              <a:ext uri="{FF2B5EF4-FFF2-40B4-BE49-F238E27FC236}">
                <a16:creationId xmlns:a16="http://schemas.microsoft.com/office/drawing/2014/main" id="{EB1028BA-709D-578A-7DCB-DF5DC19C74D2}"/>
              </a:ext>
            </a:extLst>
          </p:cNvPr>
          <p:cNvSpPr/>
          <p:nvPr/>
        </p:nvSpPr>
        <p:spPr>
          <a:xfrm>
            <a:off x="9952539" y="4355163"/>
            <a:ext cx="171920" cy="171920"/>
          </a:xfrm>
          <a:prstGeom prst="ellipse">
            <a:avLst/>
          </a:prstGeom>
          <a:solidFill>
            <a:schemeClr val="bg1"/>
          </a:solidFill>
          <a:ln>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Yekan Bakh" pitchFamily="2" charset="-78"/>
              <a:ea typeface="Yekan Bakh" pitchFamily="2" charset="-78"/>
              <a:cs typeface="Yekan Bakh" pitchFamily="2" charset="-78"/>
            </a:endParaRPr>
          </a:p>
        </p:txBody>
      </p:sp>
      <p:sp>
        <p:nvSpPr>
          <p:cNvPr id="46" name="Oval 45">
            <a:extLst>
              <a:ext uri="{FF2B5EF4-FFF2-40B4-BE49-F238E27FC236}">
                <a16:creationId xmlns:a16="http://schemas.microsoft.com/office/drawing/2014/main" id="{4448A398-0984-A74C-FBE4-88D0E96100B8}"/>
              </a:ext>
            </a:extLst>
          </p:cNvPr>
          <p:cNvSpPr/>
          <p:nvPr/>
        </p:nvSpPr>
        <p:spPr>
          <a:xfrm>
            <a:off x="9356603" y="5164406"/>
            <a:ext cx="171920" cy="171920"/>
          </a:xfrm>
          <a:prstGeom prst="ellipse">
            <a:avLst/>
          </a:prstGeom>
          <a:solidFill>
            <a:schemeClr val="bg1"/>
          </a:solidFill>
          <a:ln>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Yekan Bakh" pitchFamily="2" charset="-78"/>
              <a:ea typeface="Yekan Bakh" pitchFamily="2" charset="-78"/>
              <a:cs typeface="Yekan Bakh" pitchFamily="2" charset="-78"/>
            </a:endParaRPr>
          </a:p>
        </p:txBody>
      </p:sp>
      <p:sp>
        <p:nvSpPr>
          <p:cNvPr id="47" name="Oval 46">
            <a:extLst>
              <a:ext uri="{FF2B5EF4-FFF2-40B4-BE49-F238E27FC236}">
                <a16:creationId xmlns:a16="http://schemas.microsoft.com/office/drawing/2014/main" id="{DF31A01C-2E48-CE98-77EE-08EFDC171A05}"/>
              </a:ext>
            </a:extLst>
          </p:cNvPr>
          <p:cNvSpPr/>
          <p:nvPr/>
        </p:nvSpPr>
        <p:spPr>
          <a:xfrm>
            <a:off x="7975921" y="5036286"/>
            <a:ext cx="171920" cy="171920"/>
          </a:xfrm>
          <a:prstGeom prst="ellipse">
            <a:avLst/>
          </a:prstGeom>
          <a:solidFill>
            <a:schemeClr val="bg1"/>
          </a:solidFill>
          <a:ln>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Yekan Bakh" pitchFamily="2" charset="-78"/>
              <a:ea typeface="Yekan Bakh" pitchFamily="2" charset="-78"/>
              <a:cs typeface="Yekan Bakh" pitchFamily="2" charset="-78"/>
            </a:endParaRPr>
          </a:p>
        </p:txBody>
      </p:sp>
      <p:sp>
        <p:nvSpPr>
          <p:cNvPr id="48" name="Oval 47">
            <a:extLst>
              <a:ext uri="{FF2B5EF4-FFF2-40B4-BE49-F238E27FC236}">
                <a16:creationId xmlns:a16="http://schemas.microsoft.com/office/drawing/2014/main" id="{B0EDBAA0-EEAF-D09D-81D5-4866E6F6C4A4}"/>
              </a:ext>
            </a:extLst>
          </p:cNvPr>
          <p:cNvSpPr/>
          <p:nvPr/>
        </p:nvSpPr>
        <p:spPr>
          <a:xfrm>
            <a:off x="7428563" y="4114764"/>
            <a:ext cx="171920" cy="171920"/>
          </a:xfrm>
          <a:prstGeom prst="ellipse">
            <a:avLst/>
          </a:prstGeom>
          <a:solidFill>
            <a:schemeClr val="bg1"/>
          </a:solidFill>
          <a:ln>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Yekan Bakh" pitchFamily="2" charset="-78"/>
              <a:ea typeface="Yekan Bakh" pitchFamily="2" charset="-78"/>
              <a:cs typeface="Yekan Bakh" pitchFamily="2" charset="-78"/>
            </a:endParaRPr>
          </a:p>
        </p:txBody>
      </p:sp>
      <p:sp>
        <p:nvSpPr>
          <p:cNvPr id="50" name="TextBox 49">
            <a:extLst>
              <a:ext uri="{FF2B5EF4-FFF2-40B4-BE49-F238E27FC236}">
                <a16:creationId xmlns:a16="http://schemas.microsoft.com/office/drawing/2014/main" id="{7BCDE692-18E5-A445-3324-FBF6FF6E64B3}"/>
              </a:ext>
            </a:extLst>
          </p:cNvPr>
          <p:cNvSpPr txBox="1"/>
          <p:nvPr/>
        </p:nvSpPr>
        <p:spPr>
          <a:xfrm>
            <a:off x="8569799" y="3238311"/>
            <a:ext cx="1270499" cy="215444"/>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rPr>
              <a:t>پیدا کردن دسترسی</a:t>
            </a:r>
            <a:endParaRPr kumimoji="0" lang="en-US" sz="80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endParaRPr>
          </a:p>
        </p:txBody>
      </p:sp>
      <p:sp>
        <p:nvSpPr>
          <p:cNvPr id="51" name="TextBox 50">
            <a:extLst>
              <a:ext uri="{FF2B5EF4-FFF2-40B4-BE49-F238E27FC236}">
                <a16:creationId xmlns:a16="http://schemas.microsoft.com/office/drawing/2014/main" id="{7F10564C-7DCF-4A85-D322-667660E425C9}"/>
              </a:ext>
            </a:extLst>
          </p:cNvPr>
          <p:cNvSpPr txBox="1"/>
          <p:nvPr/>
        </p:nvSpPr>
        <p:spPr>
          <a:xfrm>
            <a:off x="8964700" y="4348025"/>
            <a:ext cx="1033132" cy="215444"/>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rPr>
              <a:t>شناخت نیاز </a:t>
            </a:r>
            <a:endParaRPr kumimoji="0" lang="en-US" sz="80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endParaRPr>
          </a:p>
        </p:txBody>
      </p:sp>
      <p:sp>
        <p:nvSpPr>
          <p:cNvPr id="52" name="TextBox 51">
            <a:extLst>
              <a:ext uri="{FF2B5EF4-FFF2-40B4-BE49-F238E27FC236}">
                <a16:creationId xmlns:a16="http://schemas.microsoft.com/office/drawing/2014/main" id="{9AB4157C-6E1E-2BBF-8E33-44DD1AF65974}"/>
              </a:ext>
            </a:extLst>
          </p:cNvPr>
          <p:cNvSpPr txBox="1"/>
          <p:nvPr/>
        </p:nvSpPr>
        <p:spPr>
          <a:xfrm>
            <a:off x="8532954" y="4950531"/>
            <a:ext cx="1033132" cy="215444"/>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rPr>
              <a:t>ارائه خدمات </a:t>
            </a:r>
            <a:endParaRPr kumimoji="0" lang="en-US" sz="80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endParaRPr>
          </a:p>
        </p:txBody>
      </p:sp>
      <p:sp>
        <p:nvSpPr>
          <p:cNvPr id="53" name="TextBox 52">
            <a:extLst>
              <a:ext uri="{FF2B5EF4-FFF2-40B4-BE49-F238E27FC236}">
                <a16:creationId xmlns:a16="http://schemas.microsoft.com/office/drawing/2014/main" id="{780438B1-C69F-E0AF-4405-D32A79CB99D3}"/>
              </a:ext>
            </a:extLst>
          </p:cNvPr>
          <p:cNvSpPr txBox="1"/>
          <p:nvPr/>
        </p:nvSpPr>
        <p:spPr>
          <a:xfrm>
            <a:off x="7365431" y="4812427"/>
            <a:ext cx="1033132" cy="215444"/>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rPr>
              <a:t>اعتماد</a:t>
            </a:r>
            <a:endParaRPr kumimoji="0" lang="en-US" sz="80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endParaRPr>
          </a:p>
        </p:txBody>
      </p:sp>
      <p:sp>
        <p:nvSpPr>
          <p:cNvPr id="54" name="TextBox 53">
            <a:extLst>
              <a:ext uri="{FF2B5EF4-FFF2-40B4-BE49-F238E27FC236}">
                <a16:creationId xmlns:a16="http://schemas.microsoft.com/office/drawing/2014/main" id="{A1F9CA64-6743-FD02-5A63-251ED7B14CB3}"/>
              </a:ext>
            </a:extLst>
          </p:cNvPr>
          <p:cNvSpPr txBox="1"/>
          <p:nvPr/>
        </p:nvSpPr>
        <p:spPr>
          <a:xfrm>
            <a:off x="7329345" y="4003456"/>
            <a:ext cx="1033132" cy="338554"/>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rPr>
              <a:t>گسترش شبکه ارتباطی</a:t>
            </a:r>
            <a:endParaRPr kumimoji="0" lang="en-US" sz="80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endParaRPr>
          </a:p>
        </p:txBody>
      </p:sp>
      <p:sp>
        <p:nvSpPr>
          <p:cNvPr id="56" name="Oval 55">
            <a:extLst>
              <a:ext uri="{FF2B5EF4-FFF2-40B4-BE49-F238E27FC236}">
                <a16:creationId xmlns:a16="http://schemas.microsoft.com/office/drawing/2014/main" id="{66BC6702-ED5F-067B-2EA6-712DBF5B40BB}"/>
              </a:ext>
            </a:extLst>
          </p:cNvPr>
          <p:cNvSpPr/>
          <p:nvPr/>
        </p:nvSpPr>
        <p:spPr>
          <a:xfrm>
            <a:off x="6613098" y="3014406"/>
            <a:ext cx="171920" cy="171920"/>
          </a:xfrm>
          <a:prstGeom prst="ellipse">
            <a:avLst/>
          </a:prstGeom>
          <a:solidFill>
            <a:schemeClr val="bg1"/>
          </a:solidFill>
          <a:ln>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Yekan Bakh" pitchFamily="2" charset="-78"/>
              <a:ea typeface="Yekan Bakh" pitchFamily="2" charset="-78"/>
              <a:cs typeface="Yekan Bakh" pitchFamily="2" charset="-78"/>
            </a:endParaRPr>
          </a:p>
        </p:txBody>
      </p:sp>
      <p:sp>
        <p:nvSpPr>
          <p:cNvPr id="57" name="TextBox 56">
            <a:extLst>
              <a:ext uri="{FF2B5EF4-FFF2-40B4-BE49-F238E27FC236}">
                <a16:creationId xmlns:a16="http://schemas.microsoft.com/office/drawing/2014/main" id="{435D5D50-8D36-25A1-48F4-9B8D0135B72C}"/>
              </a:ext>
            </a:extLst>
          </p:cNvPr>
          <p:cNvSpPr txBox="1"/>
          <p:nvPr/>
        </p:nvSpPr>
        <p:spPr>
          <a:xfrm>
            <a:off x="5618907" y="3013624"/>
            <a:ext cx="1033132" cy="215444"/>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rPr>
              <a:t>شناسایی ایده</a:t>
            </a:r>
            <a:endParaRPr kumimoji="0" lang="en-US" sz="80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endParaRPr>
          </a:p>
        </p:txBody>
      </p:sp>
      <p:sp>
        <p:nvSpPr>
          <p:cNvPr id="58" name="Oval 57">
            <a:extLst>
              <a:ext uri="{FF2B5EF4-FFF2-40B4-BE49-F238E27FC236}">
                <a16:creationId xmlns:a16="http://schemas.microsoft.com/office/drawing/2014/main" id="{B65ED249-9C7A-A6CD-EB5C-A24A4C1CD18D}"/>
              </a:ext>
            </a:extLst>
          </p:cNvPr>
          <p:cNvSpPr/>
          <p:nvPr/>
        </p:nvSpPr>
        <p:spPr>
          <a:xfrm>
            <a:off x="7004459" y="3750092"/>
            <a:ext cx="171920" cy="171920"/>
          </a:xfrm>
          <a:prstGeom prst="ellipse">
            <a:avLst/>
          </a:prstGeom>
          <a:solidFill>
            <a:schemeClr val="bg1"/>
          </a:solidFill>
          <a:ln>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Yekan Bakh" pitchFamily="2" charset="-78"/>
              <a:ea typeface="Yekan Bakh" pitchFamily="2" charset="-78"/>
              <a:cs typeface="Yekan Bakh" pitchFamily="2" charset="-78"/>
            </a:endParaRPr>
          </a:p>
        </p:txBody>
      </p:sp>
      <p:sp>
        <p:nvSpPr>
          <p:cNvPr id="59" name="TextBox 58">
            <a:extLst>
              <a:ext uri="{FF2B5EF4-FFF2-40B4-BE49-F238E27FC236}">
                <a16:creationId xmlns:a16="http://schemas.microsoft.com/office/drawing/2014/main" id="{5762EB1A-41B1-482A-37D5-49A5F906F7E9}"/>
              </a:ext>
            </a:extLst>
          </p:cNvPr>
          <p:cNvSpPr txBox="1"/>
          <p:nvPr/>
        </p:nvSpPr>
        <p:spPr>
          <a:xfrm>
            <a:off x="6010268" y="3749310"/>
            <a:ext cx="1033132" cy="215444"/>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rPr>
              <a:t>اعتبارسنجی </a:t>
            </a:r>
            <a:endParaRPr kumimoji="0" lang="en-US" sz="80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endParaRPr>
          </a:p>
        </p:txBody>
      </p:sp>
      <p:sp>
        <p:nvSpPr>
          <p:cNvPr id="60" name="Oval 59">
            <a:extLst>
              <a:ext uri="{FF2B5EF4-FFF2-40B4-BE49-F238E27FC236}">
                <a16:creationId xmlns:a16="http://schemas.microsoft.com/office/drawing/2014/main" id="{18E70CEC-105F-9B49-F244-54F8596774BD}"/>
              </a:ext>
            </a:extLst>
          </p:cNvPr>
          <p:cNvSpPr/>
          <p:nvPr/>
        </p:nvSpPr>
        <p:spPr>
          <a:xfrm>
            <a:off x="6756251" y="4787921"/>
            <a:ext cx="171920" cy="171920"/>
          </a:xfrm>
          <a:prstGeom prst="ellipse">
            <a:avLst/>
          </a:prstGeom>
          <a:solidFill>
            <a:schemeClr val="bg1"/>
          </a:solidFill>
          <a:ln>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Yekan Bakh" pitchFamily="2" charset="-78"/>
              <a:ea typeface="Yekan Bakh" pitchFamily="2" charset="-78"/>
              <a:cs typeface="Yekan Bakh" pitchFamily="2" charset="-78"/>
            </a:endParaRPr>
          </a:p>
        </p:txBody>
      </p:sp>
      <p:sp>
        <p:nvSpPr>
          <p:cNvPr id="61" name="TextBox 60">
            <a:extLst>
              <a:ext uri="{FF2B5EF4-FFF2-40B4-BE49-F238E27FC236}">
                <a16:creationId xmlns:a16="http://schemas.microsoft.com/office/drawing/2014/main" id="{68AE7B15-F14F-9864-527C-E64B2661C6DE}"/>
              </a:ext>
            </a:extLst>
          </p:cNvPr>
          <p:cNvSpPr txBox="1"/>
          <p:nvPr/>
        </p:nvSpPr>
        <p:spPr>
          <a:xfrm>
            <a:off x="5762060" y="4787139"/>
            <a:ext cx="1033132" cy="215444"/>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rPr>
              <a:t>طراحی ونچر</a:t>
            </a:r>
            <a:endParaRPr kumimoji="0" lang="en-US" sz="80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endParaRPr>
          </a:p>
        </p:txBody>
      </p:sp>
      <p:sp>
        <p:nvSpPr>
          <p:cNvPr id="62" name="Oval 61">
            <a:extLst>
              <a:ext uri="{FF2B5EF4-FFF2-40B4-BE49-F238E27FC236}">
                <a16:creationId xmlns:a16="http://schemas.microsoft.com/office/drawing/2014/main" id="{03EF3431-457B-D96F-DD57-FCE8877A012A}"/>
              </a:ext>
            </a:extLst>
          </p:cNvPr>
          <p:cNvSpPr/>
          <p:nvPr/>
        </p:nvSpPr>
        <p:spPr>
          <a:xfrm>
            <a:off x="5120015" y="5093572"/>
            <a:ext cx="171920" cy="171920"/>
          </a:xfrm>
          <a:prstGeom prst="ellipse">
            <a:avLst/>
          </a:prstGeom>
          <a:solidFill>
            <a:schemeClr val="bg1"/>
          </a:solidFill>
          <a:ln>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Yekan Bakh" pitchFamily="2" charset="-78"/>
              <a:ea typeface="Yekan Bakh" pitchFamily="2" charset="-78"/>
              <a:cs typeface="Yekan Bakh" pitchFamily="2" charset="-78"/>
            </a:endParaRPr>
          </a:p>
        </p:txBody>
      </p:sp>
      <p:sp>
        <p:nvSpPr>
          <p:cNvPr id="63" name="TextBox 62">
            <a:extLst>
              <a:ext uri="{FF2B5EF4-FFF2-40B4-BE49-F238E27FC236}">
                <a16:creationId xmlns:a16="http://schemas.microsoft.com/office/drawing/2014/main" id="{6FE0E765-0FDE-D8A7-E8E8-3AE28C06EF66}"/>
              </a:ext>
            </a:extLst>
          </p:cNvPr>
          <p:cNvSpPr txBox="1"/>
          <p:nvPr/>
        </p:nvSpPr>
        <p:spPr>
          <a:xfrm>
            <a:off x="4702493" y="4886142"/>
            <a:ext cx="1033132" cy="215444"/>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rPr>
              <a:t>توسعه ونچر</a:t>
            </a:r>
            <a:endParaRPr kumimoji="0" lang="en-US" sz="80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endParaRPr>
          </a:p>
        </p:txBody>
      </p:sp>
      <p:sp>
        <p:nvSpPr>
          <p:cNvPr id="66" name="Oval 65">
            <a:extLst>
              <a:ext uri="{FF2B5EF4-FFF2-40B4-BE49-F238E27FC236}">
                <a16:creationId xmlns:a16="http://schemas.microsoft.com/office/drawing/2014/main" id="{14110CF9-3354-C7E9-D6DB-871900FF0104}"/>
              </a:ext>
            </a:extLst>
          </p:cNvPr>
          <p:cNvSpPr/>
          <p:nvPr/>
        </p:nvSpPr>
        <p:spPr>
          <a:xfrm>
            <a:off x="4503822" y="4269203"/>
            <a:ext cx="171920" cy="171920"/>
          </a:xfrm>
          <a:prstGeom prst="ellipse">
            <a:avLst/>
          </a:prstGeom>
          <a:solidFill>
            <a:schemeClr val="bg1"/>
          </a:solidFill>
          <a:ln>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Yekan Bakh" pitchFamily="2" charset="-78"/>
              <a:ea typeface="Yekan Bakh" pitchFamily="2" charset="-78"/>
              <a:cs typeface="Yekan Bakh" pitchFamily="2" charset="-78"/>
            </a:endParaRPr>
          </a:p>
        </p:txBody>
      </p:sp>
      <p:sp>
        <p:nvSpPr>
          <p:cNvPr id="67" name="TextBox 66">
            <a:extLst>
              <a:ext uri="{FF2B5EF4-FFF2-40B4-BE49-F238E27FC236}">
                <a16:creationId xmlns:a16="http://schemas.microsoft.com/office/drawing/2014/main" id="{8EFDF2A6-0695-6074-897D-0EAC06BFDEA5}"/>
              </a:ext>
            </a:extLst>
          </p:cNvPr>
          <p:cNvSpPr txBox="1"/>
          <p:nvPr/>
        </p:nvSpPr>
        <p:spPr>
          <a:xfrm>
            <a:off x="4524152" y="4239507"/>
            <a:ext cx="1033132" cy="215444"/>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rPr>
              <a:t>ایجاد کسب‌وکار</a:t>
            </a:r>
            <a:endParaRPr kumimoji="0" lang="en-US" sz="80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endParaRPr>
          </a:p>
        </p:txBody>
      </p:sp>
      <p:sp>
        <p:nvSpPr>
          <p:cNvPr id="68" name="Oval 67">
            <a:extLst>
              <a:ext uri="{FF2B5EF4-FFF2-40B4-BE49-F238E27FC236}">
                <a16:creationId xmlns:a16="http://schemas.microsoft.com/office/drawing/2014/main" id="{96A1D251-1D72-4EE9-D89B-202839745B1D}"/>
              </a:ext>
            </a:extLst>
          </p:cNvPr>
          <p:cNvSpPr/>
          <p:nvPr/>
        </p:nvSpPr>
        <p:spPr>
          <a:xfrm>
            <a:off x="4522437" y="3561157"/>
            <a:ext cx="171920" cy="171920"/>
          </a:xfrm>
          <a:prstGeom prst="ellipse">
            <a:avLst/>
          </a:prstGeom>
          <a:solidFill>
            <a:schemeClr val="bg1"/>
          </a:solidFill>
          <a:ln>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Yekan Bakh" pitchFamily="2" charset="-78"/>
              <a:ea typeface="Yekan Bakh" pitchFamily="2" charset="-78"/>
              <a:cs typeface="Yekan Bakh" pitchFamily="2" charset="-78"/>
            </a:endParaRPr>
          </a:p>
        </p:txBody>
      </p:sp>
      <p:sp>
        <p:nvSpPr>
          <p:cNvPr id="69" name="TextBox 68">
            <a:extLst>
              <a:ext uri="{FF2B5EF4-FFF2-40B4-BE49-F238E27FC236}">
                <a16:creationId xmlns:a16="http://schemas.microsoft.com/office/drawing/2014/main" id="{4410A2E5-A183-4416-ACA0-F68B4EF901B3}"/>
              </a:ext>
            </a:extLst>
          </p:cNvPr>
          <p:cNvSpPr txBox="1"/>
          <p:nvPr/>
        </p:nvSpPr>
        <p:spPr>
          <a:xfrm>
            <a:off x="4545401" y="3522190"/>
            <a:ext cx="1033132" cy="215444"/>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rPr>
              <a:t>فرصت‌های جدید</a:t>
            </a:r>
            <a:endParaRPr kumimoji="0" lang="en-US" sz="80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endParaRPr>
          </a:p>
        </p:txBody>
      </p:sp>
      <p:sp>
        <p:nvSpPr>
          <p:cNvPr id="70" name="Oval 69">
            <a:extLst>
              <a:ext uri="{FF2B5EF4-FFF2-40B4-BE49-F238E27FC236}">
                <a16:creationId xmlns:a16="http://schemas.microsoft.com/office/drawing/2014/main" id="{63CDA667-D321-8F2E-B9E0-FF99D379ED69}"/>
              </a:ext>
            </a:extLst>
          </p:cNvPr>
          <p:cNvSpPr/>
          <p:nvPr/>
        </p:nvSpPr>
        <p:spPr>
          <a:xfrm>
            <a:off x="3677784" y="2995075"/>
            <a:ext cx="171920" cy="171920"/>
          </a:xfrm>
          <a:prstGeom prst="ellipse">
            <a:avLst/>
          </a:prstGeom>
          <a:solidFill>
            <a:schemeClr val="bg1"/>
          </a:solidFill>
          <a:ln>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Yekan Bakh" pitchFamily="2" charset="-78"/>
              <a:ea typeface="Yekan Bakh" pitchFamily="2" charset="-78"/>
              <a:cs typeface="Yekan Bakh" pitchFamily="2" charset="-78"/>
            </a:endParaRPr>
          </a:p>
        </p:txBody>
      </p:sp>
      <p:sp>
        <p:nvSpPr>
          <p:cNvPr id="71" name="TextBox 70">
            <a:extLst>
              <a:ext uri="{FF2B5EF4-FFF2-40B4-BE49-F238E27FC236}">
                <a16:creationId xmlns:a16="http://schemas.microsoft.com/office/drawing/2014/main" id="{7577F869-A0E4-D676-E0F6-A0E82EB2B80D}"/>
              </a:ext>
            </a:extLst>
          </p:cNvPr>
          <p:cNvSpPr txBox="1"/>
          <p:nvPr/>
        </p:nvSpPr>
        <p:spPr>
          <a:xfrm>
            <a:off x="2683593" y="2994293"/>
            <a:ext cx="1033132" cy="461665"/>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rPr>
              <a:t>شناسایی فرصت‌های سرمایه‌گذاری</a:t>
            </a:r>
            <a:endParaRPr kumimoji="0" lang="en-US" sz="80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endParaRPr>
          </a:p>
        </p:txBody>
      </p:sp>
      <p:sp>
        <p:nvSpPr>
          <p:cNvPr id="72" name="Oval 71">
            <a:extLst>
              <a:ext uri="{FF2B5EF4-FFF2-40B4-BE49-F238E27FC236}">
                <a16:creationId xmlns:a16="http://schemas.microsoft.com/office/drawing/2014/main" id="{D789B2BB-2839-F3EA-6A51-3403B3038229}"/>
              </a:ext>
            </a:extLst>
          </p:cNvPr>
          <p:cNvSpPr/>
          <p:nvPr/>
        </p:nvSpPr>
        <p:spPr>
          <a:xfrm>
            <a:off x="4096302" y="3885106"/>
            <a:ext cx="171920" cy="171920"/>
          </a:xfrm>
          <a:prstGeom prst="ellipse">
            <a:avLst/>
          </a:prstGeom>
          <a:solidFill>
            <a:schemeClr val="bg1"/>
          </a:solidFill>
          <a:ln>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Yekan Bakh" pitchFamily="2" charset="-78"/>
              <a:ea typeface="Yekan Bakh" pitchFamily="2" charset="-78"/>
              <a:cs typeface="Yekan Bakh" pitchFamily="2" charset="-78"/>
            </a:endParaRPr>
          </a:p>
        </p:txBody>
      </p:sp>
      <p:sp>
        <p:nvSpPr>
          <p:cNvPr id="73" name="TextBox 72">
            <a:extLst>
              <a:ext uri="{FF2B5EF4-FFF2-40B4-BE49-F238E27FC236}">
                <a16:creationId xmlns:a16="http://schemas.microsoft.com/office/drawing/2014/main" id="{09D3B179-3298-4971-533F-82C514BC5746}"/>
              </a:ext>
            </a:extLst>
          </p:cNvPr>
          <p:cNvSpPr txBox="1"/>
          <p:nvPr/>
        </p:nvSpPr>
        <p:spPr>
          <a:xfrm>
            <a:off x="3102111" y="3884324"/>
            <a:ext cx="1033132" cy="215444"/>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rPr>
              <a:t>ارزیابی‌های جامع</a:t>
            </a:r>
            <a:endParaRPr kumimoji="0" lang="en-US" sz="80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endParaRPr>
          </a:p>
        </p:txBody>
      </p:sp>
      <p:sp>
        <p:nvSpPr>
          <p:cNvPr id="74" name="Oval 73">
            <a:extLst>
              <a:ext uri="{FF2B5EF4-FFF2-40B4-BE49-F238E27FC236}">
                <a16:creationId xmlns:a16="http://schemas.microsoft.com/office/drawing/2014/main" id="{B7FCC41F-9916-6472-0B47-529DD3364CEA}"/>
              </a:ext>
            </a:extLst>
          </p:cNvPr>
          <p:cNvSpPr/>
          <p:nvPr/>
        </p:nvSpPr>
        <p:spPr>
          <a:xfrm>
            <a:off x="3939646" y="4623258"/>
            <a:ext cx="171920" cy="171920"/>
          </a:xfrm>
          <a:prstGeom prst="ellipse">
            <a:avLst/>
          </a:prstGeom>
          <a:solidFill>
            <a:schemeClr val="bg1"/>
          </a:solidFill>
          <a:ln>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Yekan Bakh" pitchFamily="2" charset="-78"/>
              <a:ea typeface="Yekan Bakh" pitchFamily="2" charset="-78"/>
              <a:cs typeface="Yekan Bakh" pitchFamily="2" charset="-78"/>
            </a:endParaRPr>
          </a:p>
        </p:txBody>
      </p:sp>
      <p:sp>
        <p:nvSpPr>
          <p:cNvPr id="75" name="TextBox 74">
            <a:extLst>
              <a:ext uri="{FF2B5EF4-FFF2-40B4-BE49-F238E27FC236}">
                <a16:creationId xmlns:a16="http://schemas.microsoft.com/office/drawing/2014/main" id="{B2BD5F3F-2427-6CB3-1C7D-AB0B1F9E2C47}"/>
              </a:ext>
            </a:extLst>
          </p:cNvPr>
          <p:cNvSpPr txBox="1"/>
          <p:nvPr/>
        </p:nvSpPr>
        <p:spPr>
          <a:xfrm>
            <a:off x="2945455" y="4593802"/>
            <a:ext cx="1033132" cy="215444"/>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rPr>
              <a:t>تخصیص سرمایه</a:t>
            </a:r>
            <a:endParaRPr kumimoji="0" lang="en-US" sz="80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endParaRPr>
          </a:p>
        </p:txBody>
      </p:sp>
      <p:sp>
        <p:nvSpPr>
          <p:cNvPr id="76" name="Oval 75">
            <a:extLst>
              <a:ext uri="{FF2B5EF4-FFF2-40B4-BE49-F238E27FC236}">
                <a16:creationId xmlns:a16="http://schemas.microsoft.com/office/drawing/2014/main" id="{B492060D-4C5A-3088-5990-43032E3E6255}"/>
              </a:ext>
            </a:extLst>
          </p:cNvPr>
          <p:cNvSpPr/>
          <p:nvPr/>
        </p:nvSpPr>
        <p:spPr>
          <a:xfrm>
            <a:off x="3168718" y="5250439"/>
            <a:ext cx="171920" cy="171920"/>
          </a:xfrm>
          <a:prstGeom prst="ellipse">
            <a:avLst/>
          </a:prstGeom>
          <a:solidFill>
            <a:schemeClr val="bg1"/>
          </a:solidFill>
          <a:ln>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Yekan Bakh" pitchFamily="2" charset="-78"/>
              <a:ea typeface="Yekan Bakh" pitchFamily="2" charset="-78"/>
              <a:cs typeface="Yekan Bakh" pitchFamily="2" charset="-78"/>
            </a:endParaRPr>
          </a:p>
        </p:txBody>
      </p:sp>
      <p:sp>
        <p:nvSpPr>
          <p:cNvPr id="77" name="TextBox 76">
            <a:extLst>
              <a:ext uri="{FF2B5EF4-FFF2-40B4-BE49-F238E27FC236}">
                <a16:creationId xmlns:a16="http://schemas.microsoft.com/office/drawing/2014/main" id="{7434315D-A2A3-B4A3-8EAD-3BB805C05E56}"/>
              </a:ext>
            </a:extLst>
          </p:cNvPr>
          <p:cNvSpPr txBox="1"/>
          <p:nvPr/>
        </p:nvSpPr>
        <p:spPr>
          <a:xfrm>
            <a:off x="2179494" y="5019534"/>
            <a:ext cx="1247962" cy="215444"/>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rPr>
              <a:t>توسعه سبد سرمایه</a:t>
            </a:r>
            <a:endParaRPr kumimoji="0" lang="en-US" sz="80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endParaRPr>
          </a:p>
        </p:txBody>
      </p:sp>
      <p:sp>
        <p:nvSpPr>
          <p:cNvPr id="78" name="Oval 77">
            <a:extLst>
              <a:ext uri="{FF2B5EF4-FFF2-40B4-BE49-F238E27FC236}">
                <a16:creationId xmlns:a16="http://schemas.microsoft.com/office/drawing/2014/main" id="{7F9E3373-9247-4649-9189-65E153FDE67E}"/>
              </a:ext>
            </a:extLst>
          </p:cNvPr>
          <p:cNvSpPr/>
          <p:nvPr/>
        </p:nvSpPr>
        <p:spPr>
          <a:xfrm>
            <a:off x="1818924" y="4787212"/>
            <a:ext cx="171920" cy="171920"/>
          </a:xfrm>
          <a:prstGeom prst="ellipse">
            <a:avLst/>
          </a:prstGeom>
          <a:solidFill>
            <a:schemeClr val="bg1"/>
          </a:solidFill>
          <a:ln>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Yekan Bakh" pitchFamily="2" charset="-78"/>
              <a:ea typeface="Yekan Bakh" pitchFamily="2" charset="-78"/>
              <a:cs typeface="Yekan Bakh" pitchFamily="2" charset="-78"/>
            </a:endParaRPr>
          </a:p>
        </p:txBody>
      </p:sp>
      <p:sp>
        <p:nvSpPr>
          <p:cNvPr id="79" name="TextBox 78">
            <a:extLst>
              <a:ext uri="{FF2B5EF4-FFF2-40B4-BE49-F238E27FC236}">
                <a16:creationId xmlns:a16="http://schemas.microsoft.com/office/drawing/2014/main" id="{51393F72-12A9-3801-4864-9518C43E6914}"/>
              </a:ext>
            </a:extLst>
          </p:cNvPr>
          <p:cNvSpPr txBox="1"/>
          <p:nvPr/>
        </p:nvSpPr>
        <p:spPr>
          <a:xfrm>
            <a:off x="1589760" y="4593802"/>
            <a:ext cx="837007" cy="215444"/>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rPr>
              <a:t>تحقق سود</a:t>
            </a:r>
            <a:endParaRPr kumimoji="0" lang="en-US" sz="80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endParaRPr>
          </a:p>
        </p:txBody>
      </p:sp>
      <p:sp>
        <p:nvSpPr>
          <p:cNvPr id="80" name="Oval 79">
            <a:extLst>
              <a:ext uri="{FF2B5EF4-FFF2-40B4-BE49-F238E27FC236}">
                <a16:creationId xmlns:a16="http://schemas.microsoft.com/office/drawing/2014/main" id="{0E569595-F527-3DC8-EDC9-9C750465BEAE}"/>
              </a:ext>
            </a:extLst>
          </p:cNvPr>
          <p:cNvSpPr/>
          <p:nvPr/>
        </p:nvSpPr>
        <p:spPr>
          <a:xfrm>
            <a:off x="1569248" y="3730206"/>
            <a:ext cx="171920" cy="171920"/>
          </a:xfrm>
          <a:prstGeom prst="ellipse">
            <a:avLst/>
          </a:prstGeom>
          <a:solidFill>
            <a:schemeClr val="bg1"/>
          </a:solidFill>
          <a:ln>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Yekan Bakh" pitchFamily="2" charset="-78"/>
              <a:ea typeface="Yekan Bakh" pitchFamily="2" charset="-78"/>
              <a:cs typeface="Yekan Bakh" pitchFamily="2" charset="-78"/>
            </a:endParaRPr>
          </a:p>
        </p:txBody>
      </p:sp>
      <p:sp>
        <p:nvSpPr>
          <p:cNvPr id="81" name="TextBox 80">
            <a:extLst>
              <a:ext uri="{FF2B5EF4-FFF2-40B4-BE49-F238E27FC236}">
                <a16:creationId xmlns:a16="http://schemas.microsoft.com/office/drawing/2014/main" id="{7AFC8EA1-9516-75F8-5280-977B65DCF31D}"/>
              </a:ext>
            </a:extLst>
          </p:cNvPr>
          <p:cNvSpPr txBox="1"/>
          <p:nvPr/>
        </p:nvSpPr>
        <p:spPr>
          <a:xfrm>
            <a:off x="1574154" y="3536796"/>
            <a:ext cx="837007" cy="338554"/>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rPr>
              <a:t>سرمایه‌گذاری مجدد </a:t>
            </a:r>
            <a:endParaRPr kumimoji="0" lang="en-US" sz="80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endParaRPr>
          </a:p>
        </p:txBody>
      </p:sp>
      <p:cxnSp>
        <p:nvCxnSpPr>
          <p:cNvPr id="84" name="Straight Arrow Connector 83">
            <a:extLst>
              <a:ext uri="{FF2B5EF4-FFF2-40B4-BE49-F238E27FC236}">
                <a16:creationId xmlns:a16="http://schemas.microsoft.com/office/drawing/2014/main" id="{E070ABCA-D598-5845-409C-FFB6D2636FF6}"/>
              </a:ext>
            </a:extLst>
          </p:cNvPr>
          <p:cNvCxnSpPr>
            <a:cxnSpLocks/>
          </p:cNvCxnSpPr>
          <p:nvPr/>
        </p:nvCxnSpPr>
        <p:spPr>
          <a:xfrm>
            <a:off x="5851389" y="873764"/>
            <a:ext cx="0" cy="91440"/>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86" name="Straight Arrow Connector 85">
            <a:extLst>
              <a:ext uri="{FF2B5EF4-FFF2-40B4-BE49-F238E27FC236}">
                <a16:creationId xmlns:a16="http://schemas.microsoft.com/office/drawing/2014/main" id="{84B40E4E-0820-2905-9BAA-4B14521A51FF}"/>
              </a:ext>
            </a:extLst>
          </p:cNvPr>
          <p:cNvCxnSpPr>
            <a:cxnSpLocks/>
          </p:cNvCxnSpPr>
          <p:nvPr/>
        </p:nvCxnSpPr>
        <p:spPr>
          <a:xfrm>
            <a:off x="5851525" y="1282299"/>
            <a:ext cx="0" cy="91440"/>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87" name="Straight Arrow Connector 86">
            <a:extLst>
              <a:ext uri="{FF2B5EF4-FFF2-40B4-BE49-F238E27FC236}">
                <a16:creationId xmlns:a16="http://schemas.microsoft.com/office/drawing/2014/main" id="{A887C7C3-E5B7-4E4D-5F65-F26B7D068582}"/>
              </a:ext>
            </a:extLst>
          </p:cNvPr>
          <p:cNvCxnSpPr>
            <a:cxnSpLocks/>
          </p:cNvCxnSpPr>
          <p:nvPr/>
        </p:nvCxnSpPr>
        <p:spPr>
          <a:xfrm rot="16200000">
            <a:off x="1973477" y="1389843"/>
            <a:ext cx="0" cy="274320"/>
          </a:xfrm>
          <a:prstGeom prst="straightConnector1">
            <a:avLst/>
          </a:prstGeom>
          <a:ln>
            <a:headEnd type="triangle" w="med" len="med"/>
            <a:tailEnd type="triangle" w="med" len="med"/>
          </a:ln>
        </p:spPr>
        <p:style>
          <a:lnRef idx="1">
            <a:schemeClr val="accent4"/>
          </a:lnRef>
          <a:fillRef idx="0">
            <a:schemeClr val="accent4"/>
          </a:fillRef>
          <a:effectRef idx="0">
            <a:schemeClr val="accent4"/>
          </a:effectRef>
          <a:fontRef idx="minor">
            <a:schemeClr val="tx1"/>
          </a:fontRef>
        </p:style>
      </p:cxnSp>
      <p:cxnSp>
        <p:nvCxnSpPr>
          <p:cNvPr id="88" name="Straight Arrow Connector 87">
            <a:extLst>
              <a:ext uri="{FF2B5EF4-FFF2-40B4-BE49-F238E27FC236}">
                <a16:creationId xmlns:a16="http://schemas.microsoft.com/office/drawing/2014/main" id="{7412FEDA-20AC-BACC-6276-6D9691C4E721}"/>
              </a:ext>
            </a:extLst>
          </p:cNvPr>
          <p:cNvCxnSpPr>
            <a:cxnSpLocks/>
          </p:cNvCxnSpPr>
          <p:nvPr/>
        </p:nvCxnSpPr>
        <p:spPr>
          <a:xfrm rot="5400000" flipH="1">
            <a:off x="9750157" y="1389842"/>
            <a:ext cx="0" cy="274320"/>
          </a:xfrm>
          <a:prstGeom prst="straightConnector1">
            <a:avLst/>
          </a:prstGeom>
          <a:ln>
            <a:headEnd type="triangle" w="med" len="med"/>
            <a:tailEnd type="triangle" w="med" len="med"/>
          </a:ln>
        </p:spPr>
        <p:style>
          <a:lnRef idx="1">
            <a:schemeClr val="accent4"/>
          </a:lnRef>
          <a:fillRef idx="0">
            <a:schemeClr val="accent4"/>
          </a:fillRef>
          <a:effectRef idx="0">
            <a:schemeClr val="accent4"/>
          </a:effectRef>
          <a:fontRef idx="minor">
            <a:schemeClr val="tx1"/>
          </a:fontRef>
        </p:style>
      </p:cxnSp>
    </p:spTree>
    <p:extLst>
      <p:ext uri="{BB962C8B-B14F-4D97-AF65-F5344CB8AC3E}">
        <p14:creationId xmlns:p14="http://schemas.microsoft.com/office/powerpoint/2010/main" val="37773991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E7929-872A-BB57-FBEE-3BD0D3C8590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B02BB38-DDA4-B9D9-D4D7-924659E321ED}"/>
              </a:ext>
            </a:extLst>
          </p:cNvPr>
          <p:cNvSpPr>
            <a:spLocks noGrp="1"/>
          </p:cNvSpPr>
          <p:nvPr>
            <p:ph type="body" sz="quarter" idx="10"/>
          </p:nvPr>
        </p:nvSpPr>
        <p:spPr/>
        <p:txBody>
          <a:bodyPr/>
          <a:lstStyle/>
          <a:p>
            <a:endParaRPr lang="en-GB" sz="1400" dirty="0"/>
          </a:p>
        </p:txBody>
      </p:sp>
      <p:sp>
        <p:nvSpPr>
          <p:cNvPr id="3" name="Text Placeholder 2">
            <a:extLst>
              <a:ext uri="{FF2B5EF4-FFF2-40B4-BE49-F238E27FC236}">
                <a16:creationId xmlns:a16="http://schemas.microsoft.com/office/drawing/2014/main" id="{31268A22-BC4A-F371-89AC-8192C59B719B}"/>
              </a:ext>
            </a:extLst>
          </p:cNvPr>
          <p:cNvSpPr>
            <a:spLocks noGrp="1"/>
          </p:cNvSpPr>
          <p:nvPr>
            <p:ph type="body" sz="quarter" idx="12"/>
          </p:nvPr>
        </p:nvSpPr>
        <p:spPr/>
        <p:txBody>
          <a:bodyPr/>
          <a:lstStyle/>
          <a:p>
            <a:r>
              <a:rPr lang="fa-IR" dirty="0">
                <a:latin typeface="Yekan Bakh" pitchFamily="2" charset="-78"/>
                <a:ea typeface="Yekan Bakh" pitchFamily="2" charset="-78"/>
                <a:cs typeface="Yekan Bakh" pitchFamily="2" charset="-78"/>
              </a:rPr>
              <a:t>مدل مفهومی کسب‌وکار </a:t>
            </a:r>
          </a:p>
        </p:txBody>
      </p:sp>
      <p:sp>
        <p:nvSpPr>
          <p:cNvPr id="82" name="Rectangle: Rounded Corners 81">
            <a:extLst>
              <a:ext uri="{FF2B5EF4-FFF2-40B4-BE49-F238E27FC236}">
                <a16:creationId xmlns:a16="http://schemas.microsoft.com/office/drawing/2014/main" id="{EB40DE06-405A-A473-95C8-1B65BD500D48}"/>
              </a:ext>
            </a:extLst>
          </p:cNvPr>
          <p:cNvSpPr/>
          <p:nvPr/>
        </p:nvSpPr>
        <p:spPr>
          <a:xfrm>
            <a:off x="555625" y="1304859"/>
            <a:ext cx="10591800" cy="4614990"/>
          </a:xfrm>
          <a:prstGeom prst="roundRect">
            <a:avLst>
              <a:gd name="adj" fmla="val 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Yekan Bakh" pitchFamily="2" charset="-78"/>
              <a:ea typeface="Yekan Bakh" pitchFamily="2" charset="-78"/>
              <a:cs typeface="Yekan Bakh" pitchFamily="2" charset="-78"/>
            </a:endParaRPr>
          </a:p>
        </p:txBody>
      </p:sp>
      <p:sp>
        <p:nvSpPr>
          <p:cNvPr id="6" name="Rectangle: Rounded Corners 5">
            <a:extLst>
              <a:ext uri="{FF2B5EF4-FFF2-40B4-BE49-F238E27FC236}">
                <a16:creationId xmlns:a16="http://schemas.microsoft.com/office/drawing/2014/main" id="{BCAFEC79-6208-E5B8-641E-5FA4AB243CBE}"/>
              </a:ext>
            </a:extLst>
          </p:cNvPr>
          <p:cNvSpPr/>
          <p:nvPr/>
        </p:nvSpPr>
        <p:spPr>
          <a:xfrm>
            <a:off x="5514880" y="520034"/>
            <a:ext cx="673289" cy="341194"/>
          </a:xfrm>
          <a:prstGeom prst="roundRect">
            <a:avLst/>
          </a:prstGeom>
          <a:noFill/>
          <a:ln>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700" b="1" i="0" u="none" strike="noStrike" kern="1200" cap="none" spc="0" normalizeH="0" baseline="0" noProof="0" dirty="0">
                <a:ln>
                  <a:noFill/>
                </a:ln>
                <a:solidFill>
                  <a:srgbClr val="0199FF">
                    <a:lumMod val="50000"/>
                  </a:srgbClr>
                </a:solidFill>
                <a:effectLst/>
                <a:uLnTx/>
                <a:uFillTx/>
                <a:latin typeface="Yekan Bakh" pitchFamily="2" charset="-78"/>
                <a:ea typeface="Yekan Bakh" pitchFamily="2" charset="-78"/>
                <a:cs typeface="Yekan Bakh" pitchFamily="2" charset="-78"/>
              </a:rPr>
              <a:t>بنیانگذاران</a:t>
            </a:r>
            <a:endParaRPr kumimoji="0" lang="en-US" sz="700" b="1" i="0" u="none" strike="noStrike" kern="1200" cap="none" spc="0" normalizeH="0" baseline="0" noProof="0" dirty="0">
              <a:ln>
                <a:noFill/>
              </a:ln>
              <a:solidFill>
                <a:srgbClr val="0199FF">
                  <a:lumMod val="50000"/>
                </a:srgbClr>
              </a:solidFill>
              <a:effectLst/>
              <a:uLnTx/>
              <a:uFillTx/>
              <a:latin typeface="Yekan Bakh" pitchFamily="2" charset="-78"/>
              <a:ea typeface="Yekan Bakh" pitchFamily="2" charset="-78"/>
              <a:cs typeface="Yekan Bakh" pitchFamily="2" charset="-78"/>
            </a:endParaRPr>
          </a:p>
        </p:txBody>
      </p:sp>
      <p:sp>
        <p:nvSpPr>
          <p:cNvPr id="7" name="Rectangle: Rounded Corners 6">
            <a:extLst>
              <a:ext uri="{FF2B5EF4-FFF2-40B4-BE49-F238E27FC236}">
                <a16:creationId xmlns:a16="http://schemas.microsoft.com/office/drawing/2014/main" id="{044DE851-C86A-7F2E-2E43-5CE6E9AFDAC5}"/>
              </a:ext>
            </a:extLst>
          </p:cNvPr>
          <p:cNvSpPr/>
          <p:nvPr/>
        </p:nvSpPr>
        <p:spPr>
          <a:xfrm>
            <a:off x="4790958" y="993490"/>
            <a:ext cx="2121135" cy="267500"/>
          </a:xfrm>
          <a:prstGeom prst="roundRect">
            <a:avLst/>
          </a:prstGeom>
          <a:noFill/>
          <a:ln>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70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rPr>
              <a:t>هسته اکوسیستم و هماهنگ‌کننده خلق ارزش</a:t>
            </a:r>
            <a:endParaRPr kumimoji="0" lang="en-US" sz="70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endParaRPr>
          </a:p>
        </p:txBody>
      </p:sp>
      <p:sp>
        <p:nvSpPr>
          <p:cNvPr id="8" name="Rectangle: Rounded Corners 7">
            <a:extLst>
              <a:ext uri="{FF2B5EF4-FFF2-40B4-BE49-F238E27FC236}">
                <a16:creationId xmlns:a16="http://schemas.microsoft.com/office/drawing/2014/main" id="{CC4ED807-4032-C065-FA93-208248505A4A}"/>
              </a:ext>
            </a:extLst>
          </p:cNvPr>
          <p:cNvSpPr/>
          <p:nvPr/>
        </p:nvSpPr>
        <p:spPr>
          <a:xfrm>
            <a:off x="9976017" y="1393252"/>
            <a:ext cx="1022966" cy="267500"/>
          </a:xfrm>
          <a:prstGeom prst="roundRect">
            <a:avLst/>
          </a:prstGeom>
          <a:noFill/>
          <a:ln>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70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rPr>
              <a:t>شبکه شرکا</a:t>
            </a:r>
            <a:endParaRPr kumimoji="0" lang="en-US" sz="70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endParaRPr>
          </a:p>
        </p:txBody>
      </p:sp>
      <p:sp>
        <p:nvSpPr>
          <p:cNvPr id="9" name="Rectangle: Rounded Corners 8">
            <a:extLst>
              <a:ext uri="{FF2B5EF4-FFF2-40B4-BE49-F238E27FC236}">
                <a16:creationId xmlns:a16="http://schemas.microsoft.com/office/drawing/2014/main" id="{ABD80767-DD13-25C2-1EB6-E88A3C73377B}"/>
              </a:ext>
            </a:extLst>
          </p:cNvPr>
          <p:cNvSpPr/>
          <p:nvPr/>
        </p:nvSpPr>
        <p:spPr>
          <a:xfrm>
            <a:off x="715942" y="1393252"/>
            <a:ext cx="1022966" cy="267500"/>
          </a:xfrm>
          <a:prstGeom prst="roundRect">
            <a:avLst/>
          </a:prstGeom>
          <a:noFill/>
          <a:ln>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70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rPr>
              <a:t>شبکه ذی‌نفعان</a:t>
            </a:r>
            <a:endParaRPr kumimoji="0" lang="en-US" sz="70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endParaRPr>
          </a:p>
        </p:txBody>
      </p:sp>
      <p:sp>
        <p:nvSpPr>
          <p:cNvPr id="10" name="Rectangle: Rounded Corners 9">
            <a:extLst>
              <a:ext uri="{FF2B5EF4-FFF2-40B4-BE49-F238E27FC236}">
                <a16:creationId xmlns:a16="http://schemas.microsoft.com/office/drawing/2014/main" id="{B4DE6841-EBEB-DF4E-B582-A2254F88840A}"/>
              </a:ext>
            </a:extLst>
          </p:cNvPr>
          <p:cNvSpPr/>
          <p:nvPr/>
        </p:nvSpPr>
        <p:spPr>
          <a:xfrm>
            <a:off x="2172594" y="1393252"/>
            <a:ext cx="7369736" cy="267500"/>
          </a:xfrm>
          <a:prstGeom prst="roundRect">
            <a:avLst/>
          </a:prstGeom>
          <a:noFill/>
          <a:ln>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70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rPr>
              <a:t>عملیات اصلی کسب‌وکار</a:t>
            </a:r>
            <a:endParaRPr kumimoji="0" lang="en-US" sz="70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endParaRPr>
          </a:p>
        </p:txBody>
      </p:sp>
      <p:sp>
        <p:nvSpPr>
          <p:cNvPr id="4" name="Oval 3">
            <a:extLst>
              <a:ext uri="{FF2B5EF4-FFF2-40B4-BE49-F238E27FC236}">
                <a16:creationId xmlns:a16="http://schemas.microsoft.com/office/drawing/2014/main" id="{53043F2A-9D97-61CB-57FA-2ED486282807}"/>
              </a:ext>
            </a:extLst>
          </p:cNvPr>
          <p:cNvSpPr/>
          <p:nvPr/>
        </p:nvSpPr>
        <p:spPr>
          <a:xfrm>
            <a:off x="7501042" y="2752824"/>
            <a:ext cx="2612248" cy="2612249"/>
          </a:xfrm>
          <a:prstGeom prst="ellipse">
            <a:avLst/>
          </a:prstGeom>
          <a:noFill/>
          <a:ln w="28575">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Yekan Bakh" pitchFamily="2" charset="-78"/>
              <a:ea typeface="Yekan Bakh" pitchFamily="2" charset="-78"/>
              <a:cs typeface="Yekan Bakh" pitchFamily="2" charset="-78"/>
            </a:endParaRPr>
          </a:p>
        </p:txBody>
      </p:sp>
      <p:sp>
        <p:nvSpPr>
          <p:cNvPr id="11" name="Oval 10">
            <a:extLst>
              <a:ext uri="{FF2B5EF4-FFF2-40B4-BE49-F238E27FC236}">
                <a16:creationId xmlns:a16="http://schemas.microsoft.com/office/drawing/2014/main" id="{3E4E2498-F754-F0EC-8B68-24C8152B0500}"/>
              </a:ext>
            </a:extLst>
          </p:cNvPr>
          <p:cNvSpPr/>
          <p:nvPr/>
        </p:nvSpPr>
        <p:spPr>
          <a:xfrm>
            <a:off x="4545402" y="2752824"/>
            <a:ext cx="2612248" cy="2612249"/>
          </a:xfrm>
          <a:prstGeom prst="ellipse">
            <a:avLst/>
          </a:prstGeom>
          <a:noFill/>
          <a:ln w="28575">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Yekan Bakh" pitchFamily="2" charset="-78"/>
              <a:ea typeface="Yekan Bakh" pitchFamily="2" charset="-78"/>
              <a:cs typeface="Yekan Bakh" pitchFamily="2" charset="-78"/>
            </a:endParaRPr>
          </a:p>
        </p:txBody>
      </p:sp>
      <p:sp>
        <p:nvSpPr>
          <p:cNvPr id="12" name="Oval 11">
            <a:extLst>
              <a:ext uri="{FF2B5EF4-FFF2-40B4-BE49-F238E27FC236}">
                <a16:creationId xmlns:a16="http://schemas.microsoft.com/office/drawing/2014/main" id="{7AFB9F0C-34B0-1557-0219-BBAFC50D2695}"/>
              </a:ext>
            </a:extLst>
          </p:cNvPr>
          <p:cNvSpPr/>
          <p:nvPr/>
        </p:nvSpPr>
        <p:spPr>
          <a:xfrm>
            <a:off x="1589761" y="2752824"/>
            <a:ext cx="2612248" cy="2612249"/>
          </a:xfrm>
          <a:prstGeom prst="ellipse">
            <a:avLst/>
          </a:prstGeom>
          <a:noFill/>
          <a:ln w="28575">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Yekan Bakh" pitchFamily="2" charset="-78"/>
              <a:ea typeface="Yekan Bakh" pitchFamily="2" charset="-78"/>
              <a:cs typeface="Yekan Bakh" pitchFamily="2" charset="-78"/>
            </a:endParaRPr>
          </a:p>
        </p:txBody>
      </p:sp>
      <p:sp>
        <p:nvSpPr>
          <p:cNvPr id="13" name="Rectangle: Rounded Corners 12">
            <a:extLst>
              <a:ext uri="{FF2B5EF4-FFF2-40B4-BE49-F238E27FC236}">
                <a16:creationId xmlns:a16="http://schemas.microsoft.com/office/drawing/2014/main" id="{3B36D56E-CDC0-0891-9F83-6BB908F4B6E7}"/>
              </a:ext>
            </a:extLst>
          </p:cNvPr>
          <p:cNvSpPr/>
          <p:nvPr/>
        </p:nvSpPr>
        <p:spPr>
          <a:xfrm>
            <a:off x="8147841" y="2649813"/>
            <a:ext cx="1318651" cy="217567"/>
          </a:xfrm>
          <a:prstGeom prst="roundRect">
            <a:avLst/>
          </a:prstGeom>
          <a:solidFill>
            <a:schemeClr val="tx2">
              <a:lumMod val="50000"/>
            </a:schemeClr>
          </a:solidFill>
          <a:ln>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prstClr val="white"/>
                </a:solidFill>
                <a:effectLst/>
                <a:uLnTx/>
                <a:uFillTx/>
                <a:latin typeface="Yekan Bakh" pitchFamily="2" charset="-78"/>
                <a:ea typeface="Yekan Bakh" pitchFamily="2" charset="-78"/>
                <a:cs typeface="Yekan Bakh" pitchFamily="2" charset="-78"/>
              </a:rPr>
              <a:t>Professional Services</a:t>
            </a:r>
          </a:p>
        </p:txBody>
      </p:sp>
      <p:sp>
        <p:nvSpPr>
          <p:cNvPr id="14" name="Rectangle: Rounded Corners 13">
            <a:extLst>
              <a:ext uri="{FF2B5EF4-FFF2-40B4-BE49-F238E27FC236}">
                <a16:creationId xmlns:a16="http://schemas.microsoft.com/office/drawing/2014/main" id="{7949314E-2C13-24D3-0A05-1993A810C736}"/>
              </a:ext>
            </a:extLst>
          </p:cNvPr>
          <p:cNvSpPr/>
          <p:nvPr/>
        </p:nvSpPr>
        <p:spPr>
          <a:xfrm>
            <a:off x="5192200" y="2649813"/>
            <a:ext cx="1318651" cy="217567"/>
          </a:xfrm>
          <a:prstGeom prst="roundRect">
            <a:avLst/>
          </a:prstGeom>
          <a:solidFill>
            <a:schemeClr val="tx2">
              <a:lumMod val="50000"/>
            </a:schemeClr>
          </a:solidFill>
          <a:ln>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prstClr val="white"/>
                </a:solidFill>
                <a:effectLst/>
                <a:uLnTx/>
                <a:uFillTx/>
                <a:latin typeface="Yekan Bakh" pitchFamily="2" charset="-78"/>
                <a:ea typeface="Yekan Bakh" pitchFamily="2" charset="-78"/>
                <a:cs typeface="Yekan Bakh" pitchFamily="2" charset="-78"/>
              </a:rPr>
              <a:t>Venture Building</a:t>
            </a:r>
          </a:p>
        </p:txBody>
      </p:sp>
      <p:sp>
        <p:nvSpPr>
          <p:cNvPr id="15" name="Rectangle: Rounded Corners 14">
            <a:extLst>
              <a:ext uri="{FF2B5EF4-FFF2-40B4-BE49-F238E27FC236}">
                <a16:creationId xmlns:a16="http://schemas.microsoft.com/office/drawing/2014/main" id="{1144A622-B4B9-8EC8-6455-570586E1DD56}"/>
              </a:ext>
            </a:extLst>
          </p:cNvPr>
          <p:cNvSpPr/>
          <p:nvPr/>
        </p:nvSpPr>
        <p:spPr>
          <a:xfrm>
            <a:off x="2236560" y="2649813"/>
            <a:ext cx="1318651" cy="217567"/>
          </a:xfrm>
          <a:prstGeom prst="roundRect">
            <a:avLst/>
          </a:prstGeom>
          <a:solidFill>
            <a:schemeClr val="tx2">
              <a:lumMod val="50000"/>
            </a:schemeClr>
          </a:solidFill>
          <a:ln>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prstClr val="white"/>
                </a:solidFill>
                <a:effectLst/>
                <a:uLnTx/>
                <a:uFillTx/>
                <a:latin typeface="Yekan Bakh" pitchFamily="2" charset="-78"/>
                <a:ea typeface="Yekan Bakh" pitchFamily="2" charset="-78"/>
                <a:cs typeface="Yekan Bakh" pitchFamily="2" charset="-78"/>
              </a:rPr>
              <a:t>Investment</a:t>
            </a:r>
          </a:p>
        </p:txBody>
      </p:sp>
      <p:cxnSp>
        <p:nvCxnSpPr>
          <p:cNvPr id="18" name="Straight Arrow Connector 17">
            <a:extLst>
              <a:ext uri="{FF2B5EF4-FFF2-40B4-BE49-F238E27FC236}">
                <a16:creationId xmlns:a16="http://schemas.microsoft.com/office/drawing/2014/main" id="{482315A9-4132-D0C2-5175-F3AFF4597F2A}"/>
              </a:ext>
            </a:extLst>
          </p:cNvPr>
          <p:cNvCxnSpPr>
            <a:cxnSpLocks/>
          </p:cNvCxnSpPr>
          <p:nvPr/>
        </p:nvCxnSpPr>
        <p:spPr>
          <a:xfrm>
            <a:off x="8807166" y="1781549"/>
            <a:ext cx="0" cy="772729"/>
          </a:xfrm>
          <a:prstGeom prst="straightConnector1">
            <a:avLst/>
          </a:prstGeom>
          <a:ln>
            <a:solidFill>
              <a:srgbClr val="F0BE0F"/>
            </a:solidFill>
            <a:prstDash val="dash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07062488-A10E-2886-05C4-42C9B027CCBC}"/>
              </a:ext>
            </a:extLst>
          </p:cNvPr>
          <p:cNvCxnSpPr>
            <a:cxnSpLocks/>
          </p:cNvCxnSpPr>
          <p:nvPr/>
        </p:nvCxnSpPr>
        <p:spPr>
          <a:xfrm>
            <a:off x="5851525" y="1781549"/>
            <a:ext cx="0" cy="772729"/>
          </a:xfrm>
          <a:prstGeom prst="straightConnector1">
            <a:avLst/>
          </a:prstGeom>
          <a:ln>
            <a:solidFill>
              <a:srgbClr val="F0BE0F"/>
            </a:solidFill>
            <a:prstDash val="dash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4AC0C664-F33E-7A17-7BE6-74659B3C6024}"/>
              </a:ext>
            </a:extLst>
          </p:cNvPr>
          <p:cNvCxnSpPr>
            <a:cxnSpLocks/>
          </p:cNvCxnSpPr>
          <p:nvPr/>
        </p:nvCxnSpPr>
        <p:spPr>
          <a:xfrm>
            <a:off x="2895885" y="1781549"/>
            <a:ext cx="0" cy="772729"/>
          </a:xfrm>
          <a:prstGeom prst="straightConnector1">
            <a:avLst/>
          </a:prstGeom>
          <a:ln>
            <a:solidFill>
              <a:srgbClr val="F0BE0F"/>
            </a:solidFill>
            <a:prstDash val="dashDot"/>
            <a:headEnd type="triangle"/>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50A6B3CA-8F5E-364A-5969-9722CD92997E}"/>
              </a:ext>
            </a:extLst>
          </p:cNvPr>
          <p:cNvSpPr txBox="1"/>
          <p:nvPr/>
        </p:nvSpPr>
        <p:spPr>
          <a:xfrm>
            <a:off x="2446240" y="2016783"/>
            <a:ext cx="899290" cy="215444"/>
          </a:xfrm>
          <a:prstGeom prst="rect">
            <a:avLst/>
          </a:prstGeom>
          <a:noFill/>
        </p:spPr>
        <p:txBody>
          <a:bodyPr wrap="square" rtlCol="0">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dirty="0">
                <a:ln>
                  <a:noFill/>
                </a:ln>
                <a:solidFill>
                  <a:srgbClr val="F0BE0F"/>
                </a:solidFill>
                <a:effectLst/>
                <a:highlight>
                  <a:srgbClr val="FFFFFF"/>
                </a:highlight>
                <a:uLnTx/>
                <a:uFillTx/>
                <a:latin typeface="Yekan Bakh" pitchFamily="2" charset="-78"/>
                <a:ea typeface="Yekan Bakh" pitchFamily="2" charset="-78"/>
                <a:cs typeface="Yekan Bakh" pitchFamily="2" charset="-78"/>
              </a:rPr>
              <a:t>جریان سرمایه</a:t>
            </a:r>
            <a:endParaRPr kumimoji="0" lang="en-US" sz="800" b="1" i="0" u="none" strike="noStrike" kern="1200" cap="none" spc="0" normalizeH="0" baseline="0" noProof="0" dirty="0">
              <a:ln>
                <a:noFill/>
              </a:ln>
              <a:solidFill>
                <a:srgbClr val="F0BE0F"/>
              </a:solidFill>
              <a:effectLst/>
              <a:highlight>
                <a:srgbClr val="FFFFFF"/>
              </a:highlight>
              <a:uLnTx/>
              <a:uFillTx/>
              <a:latin typeface="Yekan Bakh" pitchFamily="2" charset="-78"/>
              <a:ea typeface="Yekan Bakh" pitchFamily="2" charset="-78"/>
              <a:cs typeface="Yekan Bakh" pitchFamily="2" charset="-78"/>
            </a:endParaRPr>
          </a:p>
        </p:txBody>
      </p:sp>
      <p:sp>
        <p:nvSpPr>
          <p:cNvPr id="22" name="TextBox 21">
            <a:extLst>
              <a:ext uri="{FF2B5EF4-FFF2-40B4-BE49-F238E27FC236}">
                <a16:creationId xmlns:a16="http://schemas.microsoft.com/office/drawing/2014/main" id="{28A7088E-52C5-BF8E-7054-E0D6EB3B1515}"/>
              </a:ext>
            </a:extLst>
          </p:cNvPr>
          <p:cNvSpPr txBox="1"/>
          <p:nvPr/>
        </p:nvSpPr>
        <p:spPr>
          <a:xfrm>
            <a:off x="5334959" y="2016783"/>
            <a:ext cx="1033132" cy="215444"/>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a:ln>
                  <a:noFill/>
                </a:ln>
                <a:solidFill>
                  <a:srgbClr val="F0BE0F"/>
                </a:solidFill>
                <a:effectLst/>
                <a:highlight>
                  <a:srgbClr val="FFFFFF"/>
                </a:highlight>
                <a:uLnTx/>
                <a:uFillTx/>
                <a:latin typeface="Yekan Bakh" pitchFamily="2" charset="-78"/>
                <a:ea typeface="Yekan Bakh" pitchFamily="2" charset="-78"/>
                <a:cs typeface="Yekan Bakh" pitchFamily="2" charset="-78"/>
              </a:rPr>
              <a:t>جریان ایده</a:t>
            </a:r>
            <a:endParaRPr kumimoji="0" lang="en-US" sz="800" b="1" i="0" u="none" strike="noStrike" kern="1200" cap="none" spc="0" normalizeH="0" baseline="0" noProof="0">
              <a:ln>
                <a:noFill/>
              </a:ln>
              <a:solidFill>
                <a:srgbClr val="F0BE0F"/>
              </a:solidFill>
              <a:effectLst/>
              <a:highlight>
                <a:srgbClr val="FFFFFF"/>
              </a:highlight>
              <a:uLnTx/>
              <a:uFillTx/>
              <a:latin typeface="Yekan Bakh" pitchFamily="2" charset="-78"/>
              <a:ea typeface="Yekan Bakh" pitchFamily="2" charset="-78"/>
              <a:cs typeface="Yekan Bakh" pitchFamily="2" charset="-78"/>
            </a:endParaRPr>
          </a:p>
        </p:txBody>
      </p:sp>
      <p:sp>
        <p:nvSpPr>
          <p:cNvPr id="23" name="TextBox 22">
            <a:extLst>
              <a:ext uri="{FF2B5EF4-FFF2-40B4-BE49-F238E27FC236}">
                <a16:creationId xmlns:a16="http://schemas.microsoft.com/office/drawing/2014/main" id="{CB704F6F-60D5-6B88-C603-C2D05C3860F4}"/>
              </a:ext>
            </a:extLst>
          </p:cNvPr>
          <p:cNvSpPr txBox="1"/>
          <p:nvPr/>
        </p:nvSpPr>
        <p:spPr>
          <a:xfrm>
            <a:off x="8290600" y="2018222"/>
            <a:ext cx="1033132" cy="215444"/>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a:ln>
                  <a:noFill/>
                </a:ln>
                <a:solidFill>
                  <a:srgbClr val="F0BE0F"/>
                </a:solidFill>
                <a:effectLst/>
                <a:highlight>
                  <a:srgbClr val="FFFFFF"/>
                </a:highlight>
                <a:uLnTx/>
                <a:uFillTx/>
                <a:latin typeface="Yekan Bakh" pitchFamily="2" charset="-78"/>
                <a:ea typeface="Yekan Bakh" pitchFamily="2" charset="-78"/>
                <a:cs typeface="Yekan Bakh" pitchFamily="2" charset="-78"/>
              </a:rPr>
              <a:t>جریان بازیگران</a:t>
            </a:r>
            <a:endParaRPr kumimoji="0" lang="en-US" sz="800" b="1" i="0" u="none" strike="noStrike" kern="1200" cap="none" spc="0" normalizeH="0" baseline="0" noProof="0">
              <a:ln>
                <a:noFill/>
              </a:ln>
              <a:solidFill>
                <a:srgbClr val="F0BE0F"/>
              </a:solidFill>
              <a:effectLst/>
              <a:highlight>
                <a:srgbClr val="FFFFFF"/>
              </a:highlight>
              <a:uLnTx/>
              <a:uFillTx/>
              <a:latin typeface="Yekan Bakh" pitchFamily="2" charset="-78"/>
              <a:ea typeface="Yekan Bakh" pitchFamily="2" charset="-78"/>
              <a:cs typeface="Yekan Bakh" pitchFamily="2" charset="-78"/>
            </a:endParaRPr>
          </a:p>
        </p:txBody>
      </p:sp>
      <p:cxnSp>
        <p:nvCxnSpPr>
          <p:cNvPr id="27" name="Connector: Curved 26">
            <a:extLst>
              <a:ext uri="{FF2B5EF4-FFF2-40B4-BE49-F238E27FC236}">
                <a16:creationId xmlns:a16="http://schemas.microsoft.com/office/drawing/2014/main" id="{42B1C264-037F-997D-434B-DFA467235C27}"/>
              </a:ext>
            </a:extLst>
          </p:cNvPr>
          <p:cNvCxnSpPr>
            <a:cxnSpLocks/>
            <a:stCxn id="4" idx="1"/>
            <a:endCxn id="11" idx="5"/>
          </p:cNvCxnSpPr>
          <p:nvPr/>
        </p:nvCxnSpPr>
        <p:spPr>
          <a:xfrm rot="16200000" flipH="1" flipV="1">
            <a:off x="6405776" y="3504697"/>
            <a:ext cx="1847139" cy="1108502"/>
          </a:xfrm>
          <a:prstGeom prst="curvedConnector5">
            <a:avLst>
              <a:gd name="adj1" fmla="val -12376"/>
              <a:gd name="adj2" fmla="val 50000"/>
              <a:gd name="adj3" fmla="val 112376"/>
            </a:avLst>
          </a:prstGeom>
          <a:ln w="19050">
            <a:solidFill>
              <a:srgbClr val="F0BE0F"/>
            </a:solidFill>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8" name="Connector: Curved 27">
            <a:extLst>
              <a:ext uri="{FF2B5EF4-FFF2-40B4-BE49-F238E27FC236}">
                <a16:creationId xmlns:a16="http://schemas.microsoft.com/office/drawing/2014/main" id="{BC593C90-08A4-6C0C-6748-80ED753FE643}"/>
              </a:ext>
            </a:extLst>
          </p:cNvPr>
          <p:cNvCxnSpPr>
            <a:cxnSpLocks/>
            <a:stCxn id="11" idx="1"/>
            <a:endCxn id="12" idx="5"/>
          </p:cNvCxnSpPr>
          <p:nvPr/>
        </p:nvCxnSpPr>
        <p:spPr>
          <a:xfrm rot="16200000" flipH="1" flipV="1">
            <a:off x="3450136" y="3504696"/>
            <a:ext cx="1847139" cy="1108503"/>
          </a:xfrm>
          <a:prstGeom prst="curvedConnector5">
            <a:avLst>
              <a:gd name="adj1" fmla="val -12376"/>
              <a:gd name="adj2" fmla="val 50000"/>
              <a:gd name="adj3" fmla="val 112376"/>
            </a:avLst>
          </a:prstGeom>
          <a:ln w="19050">
            <a:solidFill>
              <a:srgbClr val="F0BE0F"/>
            </a:solidFill>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B40DFA18-2118-F1AF-6D8F-2B3B3B9FED42}"/>
              </a:ext>
            </a:extLst>
          </p:cNvPr>
          <p:cNvSpPr txBox="1"/>
          <p:nvPr/>
        </p:nvSpPr>
        <p:spPr>
          <a:xfrm>
            <a:off x="7028861" y="2835024"/>
            <a:ext cx="1033132" cy="215444"/>
          </a:xfrm>
          <a:prstGeom prst="rect">
            <a:avLst/>
          </a:prstGeom>
          <a:noFill/>
        </p:spPr>
        <p:txBody>
          <a:bodyPr wrap="square" rtlCol="0">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a:ln>
                  <a:noFill/>
                </a:ln>
                <a:solidFill>
                  <a:srgbClr val="F0BE0F"/>
                </a:solidFill>
                <a:effectLst/>
                <a:highlight>
                  <a:srgbClr val="FFFFFF"/>
                </a:highlight>
                <a:uLnTx/>
                <a:uFillTx/>
                <a:latin typeface="Yekan Bakh" pitchFamily="2" charset="-78"/>
                <a:ea typeface="Yekan Bakh" pitchFamily="2" charset="-78"/>
                <a:cs typeface="Yekan Bakh" pitchFamily="2" charset="-78"/>
              </a:rPr>
              <a:t>تقاضاهای جدید</a:t>
            </a:r>
            <a:endParaRPr kumimoji="0" lang="en-US" sz="800" b="1" i="0" u="none" strike="noStrike" kern="1200" cap="none" spc="0" normalizeH="0" baseline="0" noProof="0">
              <a:ln>
                <a:noFill/>
              </a:ln>
              <a:solidFill>
                <a:srgbClr val="F0BE0F"/>
              </a:solidFill>
              <a:effectLst/>
              <a:highlight>
                <a:srgbClr val="FFFFFF"/>
              </a:highlight>
              <a:uLnTx/>
              <a:uFillTx/>
              <a:latin typeface="Yekan Bakh" pitchFamily="2" charset="-78"/>
              <a:ea typeface="Yekan Bakh" pitchFamily="2" charset="-78"/>
              <a:cs typeface="Yekan Bakh" pitchFamily="2" charset="-78"/>
            </a:endParaRPr>
          </a:p>
        </p:txBody>
      </p:sp>
      <p:sp>
        <p:nvSpPr>
          <p:cNvPr id="34" name="TextBox 33">
            <a:extLst>
              <a:ext uri="{FF2B5EF4-FFF2-40B4-BE49-F238E27FC236}">
                <a16:creationId xmlns:a16="http://schemas.microsoft.com/office/drawing/2014/main" id="{E836CBCE-9B5B-94CF-8574-E74C0B2EF80B}"/>
              </a:ext>
            </a:extLst>
          </p:cNvPr>
          <p:cNvSpPr txBox="1"/>
          <p:nvPr/>
        </p:nvSpPr>
        <p:spPr>
          <a:xfrm>
            <a:off x="6692067" y="5087128"/>
            <a:ext cx="1033132" cy="338554"/>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a:ln>
                  <a:noFill/>
                </a:ln>
                <a:solidFill>
                  <a:srgbClr val="F0BE0F"/>
                </a:solidFill>
                <a:effectLst/>
                <a:highlight>
                  <a:srgbClr val="FFFFFF"/>
                </a:highlight>
                <a:uLnTx/>
                <a:uFillTx/>
                <a:latin typeface="Yekan Bakh" pitchFamily="2" charset="-78"/>
                <a:ea typeface="Yekan Bakh" pitchFamily="2" charset="-78"/>
                <a:cs typeface="Yekan Bakh" pitchFamily="2" charset="-78"/>
              </a:rPr>
              <a:t>فرصت کسب‌وکاری باکیفیت </a:t>
            </a:r>
            <a:endParaRPr kumimoji="0" lang="en-US" sz="800" b="1" i="0" u="none" strike="noStrike" kern="1200" cap="none" spc="0" normalizeH="0" baseline="0" noProof="0">
              <a:ln>
                <a:noFill/>
              </a:ln>
              <a:solidFill>
                <a:srgbClr val="F0BE0F"/>
              </a:solidFill>
              <a:effectLst/>
              <a:highlight>
                <a:srgbClr val="FFFFFF"/>
              </a:highlight>
              <a:uLnTx/>
              <a:uFillTx/>
              <a:latin typeface="Yekan Bakh" pitchFamily="2" charset="-78"/>
              <a:ea typeface="Yekan Bakh" pitchFamily="2" charset="-78"/>
              <a:cs typeface="Yekan Bakh" pitchFamily="2" charset="-78"/>
            </a:endParaRPr>
          </a:p>
        </p:txBody>
      </p:sp>
      <p:sp>
        <p:nvSpPr>
          <p:cNvPr id="35" name="TextBox 34">
            <a:extLst>
              <a:ext uri="{FF2B5EF4-FFF2-40B4-BE49-F238E27FC236}">
                <a16:creationId xmlns:a16="http://schemas.microsoft.com/office/drawing/2014/main" id="{9EF67EAA-3AC1-A39D-7107-CD9AEEB01F19}"/>
              </a:ext>
            </a:extLst>
          </p:cNvPr>
          <p:cNvSpPr txBox="1"/>
          <p:nvPr/>
        </p:nvSpPr>
        <p:spPr>
          <a:xfrm>
            <a:off x="3987256" y="2798191"/>
            <a:ext cx="1033132" cy="338554"/>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a:ln>
                  <a:noFill/>
                </a:ln>
                <a:solidFill>
                  <a:srgbClr val="F0BE0F"/>
                </a:solidFill>
                <a:effectLst/>
                <a:highlight>
                  <a:srgbClr val="FFFFFF"/>
                </a:highlight>
                <a:uLnTx/>
                <a:uFillTx/>
                <a:latin typeface="Yekan Bakh" pitchFamily="2" charset="-78"/>
                <a:ea typeface="Yekan Bakh" pitchFamily="2" charset="-78"/>
                <a:cs typeface="Yekan Bakh" pitchFamily="2" charset="-78"/>
              </a:rPr>
              <a:t>سرمایه و دسترسی استراتژیک</a:t>
            </a:r>
            <a:endParaRPr kumimoji="0" lang="en-US" sz="800" b="1" i="0" u="none" strike="noStrike" kern="1200" cap="none" spc="0" normalizeH="0" baseline="0" noProof="0">
              <a:ln>
                <a:noFill/>
              </a:ln>
              <a:solidFill>
                <a:srgbClr val="F0BE0F"/>
              </a:solidFill>
              <a:effectLst/>
              <a:highlight>
                <a:srgbClr val="FFFFFF"/>
              </a:highlight>
              <a:uLnTx/>
              <a:uFillTx/>
              <a:latin typeface="Yekan Bakh" pitchFamily="2" charset="-78"/>
              <a:ea typeface="Yekan Bakh" pitchFamily="2" charset="-78"/>
              <a:cs typeface="Yekan Bakh" pitchFamily="2" charset="-78"/>
            </a:endParaRPr>
          </a:p>
        </p:txBody>
      </p:sp>
      <p:sp>
        <p:nvSpPr>
          <p:cNvPr id="36" name="TextBox 35">
            <a:extLst>
              <a:ext uri="{FF2B5EF4-FFF2-40B4-BE49-F238E27FC236}">
                <a16:creationId xmlns:a16="http://schemas.microsoft.com/office/drawing/2014/main" id="{503FD862-9DAE-59C2-752E-06C6CD1D0E18}"/>
              </a:ext>
            </a:extLst>
          </p:cNvPr>
          <p:cNvSpPr txBox="1"/>
          <p:nvPr/>
        </p:nvSpPr>
        <p:spPr>
          <a:xfrm>
            <a:off x="3644383" y="5056633"/>
            <a:ext cx="1237633" cy="338554"/>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a:ln>
                  <a:noFill/>
                </a:ln>
                <a:solidFill>
                  <a:srgbClr val="F0BE0F"/>
                </a:solidFill>
                <a:effectLst/>
                <a:highlight>
                  <a:srgbClr val="FFFFFF"/>
                </a:highlight>
                <a:uLnTx/>
                <a:uFillTx/>
                <a:latin typeface="Yekan Bakh" pitchFamily="2" charset="-78"/>
                <a:ea typeface="Yekan Bakh" pitchFamily="2" charset="-78"/>
                <a:cs typeface="Yekan Bakh" pitchFamily="2" charset="-78"/>
              </a:rPr>
              <a:t>ونچرهای آماده سرمایه‌گذاری </a:t>
            </a:r>
            <a:endParaRPr kumimoji="0" lang="en-US" sz="800" b="1" i="0" u="none" strike="noStrike" kern="1200" cap="none" spc="0" normalizeH="0" baseline="0" noProof="0">
              <a:ln>
                <a:noFill/>
              </a:ln>
              <a:solidFill>
                <a:srgbClr val="F0BE0F"/>
              </a:solidFill>
              <a:effectLst/>
              <a:highlight>
                <a:srgbClr val="FFFFFF"/>
              </a:highlight>
              <a:uLnTx/>
              <a:uFillTx/>
              <a:latin typeface="Yekan Bakh" pitchFamily="2" charset="-78"/>
              <a:ea typeface="Yekan Bakh" pitchFamily="2" charset="-78"/>
              <a:cs typeface="Yekan Bakh" pitchFamily="2" charset="-78"/>
            </a:endParaRPr>
          </a:p>
        </p:txBody>
      </p:sp>
      <p:cxnSp>
        <p:nvCxnSpPr>
          <p:cNvPr id="37" name="Connector: Curved 36">
            <a:extLst>
              <a:ext uri="{FF2B5EF4-FFF2-40B4-BE49-F238E27FC236}">
                <a16:creationId xmlns:a16="http://schemas.microsoft.com/office/drawing/2014/main" id="{08D63F29-DA88-BC43-E6D0-79F03E0C34DD}"/>
              </a:ext>
            </a:extLst>
          </p:cNvPr>
          <p:cNvCxnSpPr>
            <a:cxnSpLocks/>
            <a:stCxn id="4" idx="6"/>
            <a:endCxn id="12" idx="2"/>
          </p:cNvCxnSpPr>
          <p:nvPr/>
        </p:nvCxnSpPr>
        <p:spPr>
          <a:xfrm flipH="1">
            <a:off x="1589761" y="4058949"/>
            <a:ext cx="8523529" cy="12700"/>
          </a:xfrm>
          <a:prstGeom prst="curvedConnector5">
            <a:avLst>
              <a:gd name="adj1" fmla="val -2682"/>
              <a:gd name="adj2" fmla="val 13253276"/>
              <a:gd name="adj3" fmla="val 102682"/>
            </a:avLst>
          </a:prstGeom>
          <a:ln w="19050">
            <a:solidFill>
              <a:srgbClr val="F0BE0F"/>
            </a:solidFill>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1EA91178-ECA3-283E-0D9C-367537A1BD4C}"/>
              </a:ext>
            </a:extLst>
          </p:cNvPr>
          <p:cNvSpPr txBox="1"/>
          <p:nvPr/>
        </p:nvSpPr>
        <p:spPr>
          <a:xfrm>
            <a:off x="9791250" y="4685033"/>
            <a:ext cx="1033132"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a:ln>
                  <a:noFill/>
                </a:ln>
                <a:solidFill>
                  <a:srgbClr val="F0BE0F"/>
                </a:solidFill>
                <a:effectLst/>
                <a:highlight>
                  <a:srgbClr val="FFFFFF"/>
                </a:highlight>
                <a:uLnTx/>
                <a:uFillTx/>
                <a:latin typeface="Yekan Bakh" pitchFamily="2" charset="-78"/>
                <a:ea typeface="Yekan Bakh" pitchFamily="2" charset="-78"/>
                <a:cs typeface="Yekan Bakh" pitchFamily="2" charset="-78"/>
              </a:rPr>
              <a:t>خدمات جدید </a:t>
            </a:r>
            <a:br>
              <a:rPr kumimoji="0" lang="fa-IR" sz="800" b="1" i="0" u="none" strike="noStrike" kern="1200" cap="none" spc="0" normalizeH="0" baseline="0" noProof="0">
                <a:ln>
                  <a:noFill/>
                </a:ln>
                <a:solidFill>
                  <a:srgbClr val="F0BE0F"/>
                </a:solidFill>
                <a:effectLst/>
                <a:highlight>
                  <a:srgbClr val="FFFFFF"/>
                </a:highlight>
                <a:uLnTx/>
                <a:uFillTx/>
                <a:latin typeface="Yekan Bakh" pitchFamily="2" charset="-78"/>
                <a:ea typeface="Yekan Bakh" pitchFamily="2" charset="-78"/>
                <a:cs typeface="Yekan Bakh" pitchFamily="2" charset="-78"/>
              </a:rPr>
            </a:br>
            <a:r>
              <a:rPr kumimoji="0" lang="fa-IR" sz="800" b="1" i="0" u="none" strike="noStrike" kern="1200" cap="none" spc="0" normalizeH="0" baseline="0" noProof="0">
                <a:ln>
                  <a:noFill/>
                </a:ln>
                <a:solidFill>
                  <a:srgbClr val="F0BE0F"/>
                </a:solidFill>
                <a:effectLst/>
                <a:highlight>
                  <a:srgbClr val="FFFFFF"/>
                </a:highlight>
                <a:uLnTx/>
                <a:uFillTx/>
                <a:latin typeface="Yekan Bakh" pitchFamily="2" charset="-78"/>
                <a:ea typeface="Yekan Bakh" pitchFamily="2" charset="-78"/>
                <a:cs typeface="Yekan Bakh" pitchFamily="2" charset="-78"/>
              </a:rPr>
              <a:t>+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a:ln>
                  <a:noFill/>
                </a:ln>
                <a:solidFill>
                  <a:srgbClr val="F0BE0F"/>
                </a:solidFill>
                <a:effectLst/>
                <a:highlight>
                  <a:srgbClr val="FFFFFF"/>
                </a:highlight>
                <a:uLnTx/>
                <a:uFillTx/>
                <a:latin typeface="Yekan Bakh" pitchFamily="2" charset="-78"/>
                <a:ea typeface="Yekan Bakh" pitchFamily="2" charset="-78"/>
                <a:cs typeface="Yekan Bakh" pitchFamily="2" charset="-78"/>
              </a:rPr>
              <a:t>شبکه جدید </a:t>
            </a:r>
          </a:p>
        </p:txBody>
      </p:sp>
      <p:sp>
        <p:nvSpPr>
          <p:cNvPr id="42" name="TextBox 41">
            <a:extLst>
              <a:ext uri="{FF2B5EF4-FFF2-40B4-BE49-F238E27FC236}">
                <a16:creationId xmlns:a16="http://schemas.microsoft.com/office/drawing/2014/main" id="{4A6CC988-E9FB-CC12-62D1-EA64E7BEECDD}"/>
              </a:ext>
            </a:extLst>
          </p:cNvPr>
          <p:cNvSpPr txBox="1"/>
          <p:nvPr/>
        </p:nvSpPr>
        <p:spPr>
          <a:xfrm>
            <a:off x="867181" y="4685033"/>
            <a:ext cx="883937" cy="338554"/>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a:ln>
                  <a:noFill/>
                </a:ln>
                <a:solidFill>
                  <a:srgbClr val="F0BE0F"/>
                </a:solidFill>
                <a:effectLst/>
                <a:highlight>
                  <a:srgbClr val="FFFFFF"/>
                </a:highlight>
                <a:uLnTx/>
                <a:uFillTx/>
                <a:latin typeface="Yekan Bakh" pitchFamily="2" charset="-78"/>
                <a:ea typeface="Yekan Bakh" pitchFamily="2" charset="-78"/>
                <a:cs typeface="Yekan Bakh" pitchFamily="2" charset="-78"/>
              </a:rPr>
              <a:t>هوشمندی سرمایه‌گذاری </a:t>
            </a:r>
            <a:endParaRPr kumimoji="0" lang="en-US" sz="800" b="1" i="0" u="none" strike="noStrike" kern="1200" cap="none" spc="0" normalizeH="0" baseline="0" noProof="0">
              <a:ln>
                <a:noFill/>
              </a:ln>
              <a:solidFill>
                <a:srgbClr val="F0BE0F"/>
              </a:solidFill>
              <a:effectLst/>
              <a:highlight>
                <a:srgbClr val="FFFFFF"/>
              </a:highlight>
              <a:uLnTx/>
              <a:uFillTx/>
              <a:latin typeface="Yekan Bakh" pitchFamily="2" charset="-78"/>
              <a:ea typeface="Yekan Bakh" pitchFamily="2" charset="-78"/>
              <a:cs typeface="Yekan Bakh" pitchFamily="2" charset="-78"/>
            </a:endParaRPr>
          </a:p>
        </p:txBody>
      </p:sp>
      <p:sp>
        <p:nvSpPr>
          <p:cNvPr id="44" name="Oval 43">
            <a:extLst>
              <a:ext uri="{FF2B5EF4-FFF2-40B4-BE49-F238E27FC236}">
                <a16:creationId xmlns:a16="http://schemas.microsoft.com/office/drawing/2014/main" id="{4EEF579B-E238-59AA-9412-150ECA894354}"/>
              </a:ext>
            </a:extLst>
          </p:cNvPr>
          <p:cNvSpPr/>
          <p:nvPr/>
        </p:nvSpPr>
        <p:spPr>
          <a:xfrm>
            <a:off x="9801357" y="3239093"/>
            <a:ext cx="171920" cy="171920"/>
          </a:xfrm>
          <a:prstGeom prst="ellipse">
            <a:avLst/>
          </a:prstGeom>
          <a:solidFill>
            <a:schemeClr val="bg1"/>
          </a:solidFill>
          <a:ln>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Yekan Bakh" pitchFamily="2" charset="-78"/>
              <a:ea typeface="Yekan Bakh" pitchFamily="2" charset="-78"/>
              <a:cs typeface="Yekan Bakh" pitchFamily="2" charset="-78"/>
            </a:endParaRPr>
          </a:p>
        </p:txBody>
      </p:sp>
      <p:sp>
        <p:nvSpPr>
          <p:cNvPr id="45" name="Oval 44">
            <a:extLst>
              <a:ext uri="{FF2B5EF4-FFF2-40B4-BE49-F238E27FC236}">
                <a16:creationId xmlns:a16="http://schemas.microsoft.com/office/drawing/2014/main" id="{BE73EF89-DCC2-6A8C-F7A7-B2EA31E1C15C}"/>
              </a:ext>
            </a:extLst>
          </p:cNvPr>
          <p:cNvSpPr/>
          <p:nvPr/>
        </p:nvSpPr>
        <p:spPr>
          <a:xfrm>
            <a:off x="9952539" y="4355163"/>
            <a:ext cx="171920" cy="171920"/>
          </a:xfrm>
          <a:prstGeom prst="ellipse">
            <a:avLst/>
          </a:prstGeom>
          <a:solidFill>
            <a:schemeClr val="bg1"/>
          </a:solidFill>
          <a:ln>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Yekan Bakh" pitchFamily="2" charset="-78"/>
              <a:ea typeface="Yekan Bakh" pitchFamily="2" charset="-78"/>
              <a:cs typeface="Yekan Bakh" pitchFamily="2" charset="-78"/>
            </a:endParaRPr>
          </a:p>
        </p:txBody>
      </p:sp>
      <p:sp>
        <p:nvSpPr>
          <p:cNvPr id="46" name="Oval 45">
            <a:extLst>
              <a:ext uri="{FF2B5EF4-FFF2-40B4-BE49-F238E27FC236}">
                <a16:creationId xmlns:a16="http://schemas.microsoft.com/office/drawing/2014/main" id="{990BAB55-E501-0F03-68B4-899A35ED01F0}"/>
              </a:ext>
            </a:extLst>
          </p:cNvPr>
          <p:cNvSpPr/>
          <p:nvPr/>
        </p:nvSpPr>
        <p:spPr>
          <a:xfrm>
            <a:off x="9356603" y="5164406"/>
            <a:ext cx="171920" cy="171920"/>
          </a:xfrm>
          <a:prstGeom prst="ellipse">
            <a:avLst/>
          </a:prstGeom>
          <a:solidFill>
            <a:schemeClr val="bg1"/>
          </a:solidFill>
          <a:ln>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Yekan Bakh" pitchFamily="2" charset="-78"/>
              <a:ea typeface="Yekan Bakh" pitchFamily="2" charset="-78"/>
              <a:cs typeface="Yekan Bakh" pitchFamily="2" charset="-78"/>
            </a:endParaRPr>
          </a:p>
        </p:txBody>
      </p:sp>
      <p:sp>
        <p:nvSpPr>
          <p:cNvPr id="47" name="Oval 46">
            <a:extLst>
              <a:ext uri="{FF2B5EF4-FFF2-40B4-BE49-F238E27FC236}">
                <a16:creationId xmlns:a16="http://schemas.microsoft.com/office/drawing/2014/main" id="{1623B1FD-D478-4D00-25CC-D20A516128DC}"/>
              </a:ext>
            </a:extLst>
          </p:cNvPr>
          <p:cNvSpPr/>
          <p:nvPr/>
        </p:nvSpPr>
        <p:spPr>
          <a:xfrm>
            <a:off x="7975921" y="5036286"/>
            <a:ext cx="171920" cy="171920"/>
          </a:xfrm>
          <a:prstGeom prst="ellipse">
            <a:avLst/>
          </a:prstGeom>
          <a:solidFill>
            <a:schemeClr val="bg1"/>
          </a:solidFill>
          <a:ln>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Yekan Bakh" pitchFamily="2" charset="-78"/>
              <a:ea typeface="Yekan Bakh" pitchFamily="2" charset="-78"/>
              <a:cs typeface="Yekan Bakh" pitchFamily="2" charset="-78"/>
            </a:endParaRPr>
          </a:p>
        </p:txBody>
      </p:sp>
      <p:sp>
        <p:nvSpPr>
          <p:cNvPr id="48" name="Oval 47">
            <a:extLst>
              <a:ext uri="{FF2B5EF4-FFF2-40B4-BE49-F238E27FC236}">
                <a16:creationId xmlns:a16="http://schemas.microsoft.com/office/drawing/2014/main" id="{2AADF514-1A22-D376-7C7F-1AE36F6A4BC4}"/>
              </a:ext>
            </a:extLst>
          </p:cNvPr>
          <p:cNvSpPr/>
          <p:nvPr/>
        </p:nvSpPr>
        <p:spPr>
          <a:xfrm>
            <a:off x="7428563" y="4114764"/>
            <a:ext cx="171920" cy="171920"/>
          </a:xfrm>
          <a:prstGeom prst="ellipse">
            <a:avLst/>
          </a:prstGeom>
          <a:solidFill>
            <a:schemeClr val="bg1"/>
          </a:solidFill>
          <a:ln>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Yekan Bakh" pitchFamily="2" charset="-78"/>
              <a:ea typeface="Yekan Bakh" pitchFamily="2" charset="-78"/>
              <a:cs typeface="Yekan Bakh" pitchFamily="2" charset="-78"/>
            </a:endParaRPr>
          </a:p>
        </p:txBody>
      </p:sp>
      <p:sp>
        <p:nvSpPr>
          <p:cNvPr id="50" name="TextBox 49">
            <a:extLst>
              <a:ext uri="{FF2B5EF4-FFF2-40B4-BE49-F238E27FC236}">
                <a16:creationId xmlns:a16="http://schemas.microsoft.com/office/drawing/2014/main" id="{B9A0EFEC-292D-E47B-3FC1-BD89C1516B2A}"/>
              </a:ext>
            </a:extLst>
          </p:cNvPr>
          <p:cNvSpPr txBox="1"/>
          <p:nvPr/>
        </p:nvSpPr>
        <p:spPr>
          <a:xfrm>
            <a:off x="8569799" y="3238311"/>
            <a:ext cx="1270499" cy="215444"/>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rPr>
              <a:t>پیدا کردن دسترسی</a:t>
            </a:r>
            <a:endParaRPr kumimoji="0" lang="en-US" sz="80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endParaRPr>
          </a:p>
        </p:txBody>
      </p:sp>
      <p:sp>
        <p:nvSpPr>
          <p:cNvPr id="51" name="TextBox 50">
            <a:extLst>
              <a:ext uri="{FF2B5EF4-FFF2-40B4-BE49-F238E27FC236}">
                <a16:creationId xmlns:a16="http://schemas.microsoft.com/office/drawing/2014/main" id="{3CF38973-DEEC-945D-CCCF-4FE9148CD018}"/>
              </a:ext>
            </a:extLst>
          </p:cNvPr>
          <p:cNvSpPr txBox="1"/>
          <p:nvPr/>
        </p:nvSpPr>
        <p:spPr>
          <a:xfrm>
            <a:off x="8964700" y="4348025"/>
            <a:ext cx="1033132" cy="215444"/>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rPr>
              <a:t>شناخت نیاز </a:t>
            </a:r>
            <a:endParaRPr kumimoji="0" lang="en-US" sz="80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endParaRPr>
          </a:p>
        </p:txBody>
      </p:sp>
      <p:sp>
        <p:nvSpPr>
          <p:cNvPr id="52" name="TextBox 51">
            <a:extLst>
              <a:ext uri="{FF2B5EF4-FFF2-40B4-BE49-F238E27FC236}">
                <a16:creationId xmlns:a16="http://schemas.microsoft.com/office/drawing/2014/main" id="{2CEAA3B9-25D7-4D18-DED2-5DDCEB75B24B}"/>
              </a:ext>
            </a:extLst>
          </p:cNvPr>
          <p:cNvSpPr txBox="1"/>
          <p:nvPr/>
        </p:nvSpPr>
        <p:spPr>
          <a:xfrm>
            <a:off x="8532954" y="4950531"/>
            <a:ext cx="1033132" cy="215444"/>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rPr>
              <a:t>ارائه خدمات </a:t>
            </a:r>
            <a:endParaRPr kumimoji="0" lang="en-US" sz="80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endParaRPr>
          </a:p>
        </p:txBody>
      </p:sp>
      <p:sp>
        <p:nvSpPr>
          <p:cNvPr id="53" name="TextBox 52">
            <a:extLst>
              <a:ext uri="{FF2B5EF4-FFF2-40B4-BE49-F238E27FC236}">
                <a16:creationId xmlns:a16="http://schemas.microsoft.com/office/drawing/2014/main" id="{724789A2-D3B8-7018-E114-B25E8799F757}"/>
              </a:ext>
            </a:extLst>
          </p:cNvPr>
          <p:cNvSpPr txBox="1"/>
          <p:nvPr/>
        </p:nvSpPr>
        <p:spPr>
          <a:xfrm>
            <a:off x="7365431" y="4812427"/>
            <a:ext cx="1033132" cy="215444"/>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rPr>
              <a:t>اعتماد</a:t>
            </a:r>
            <a:endParaRPr kumimoji="0" lang="en-US" sz="80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endParaRPr>
          </a:p>
        </p:txBody>
      </p:sp>
      <p:sp>
        <p:nvSpPr>
          <p:cNvPr id="54" name="TextBox 53">
            <a:extLst>
              <a:ext uri="{FF2B5EF4-FFF2-40B4-BE49-F238E27FC236}">
                <a16:creationId xmlns:a16="http://schemas.microsoft.com/office/drawing/2014/main" id="{5155B8BE-7C7D-35B1-C485-03F6CDBB6728}"/>
              </a:ext>
            </a:extLst>
          </p:cNvPr>
          <p:cNvSpPr txBox="1"/>
          <p:nvPr/>
        </p:nvSpPr>
        <p:spPr>
          <a:xfrm>
            <a:off x="7329345" y="4003456"/>
            <a:ext cx="1033132" cy="338554"/>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rPr>
              <a:t>گسترش شبکه ارتباطی</a:t>
            </a:r>
            <a:endParaRPr kumimoji="0" lang="en-US" sz="80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endParaRPr>
          </a:p>
        </p:txBody>
      </p:sp>
      <p:sp>
        <p:nvSpPr>
          <p:cNvPr id="56" name="Oval 55">
            <a:extLst>
              <a:ext uri="{FF2B5EF4-FFF2-40B4-BE49-F238E27FC236}">
                <a16:creationId xmlns:a16="http://schemas.microsoft.com/office/drawing/2014/main" id="{8E0F82E0-9D7F-5C51-610F-997DD4A7BF68}"/>
              </a:ext>
            </a:extLst>
          </p:cNvPr>
          <p:cNvSpPr/>
          <p:nvPr/>
        </p:nvSpPr>
        <p:spPr>
          <a:xfrm>
            <a:off x="6613098" y="3014406"/>
            <a:ext cx="171920" cy="171920"/>
          </a:xfrm>
          <a:prstGeom prst="ellipse">
            <a:avLst/>
          </a:prstGeom>
          <a:solidFill>
            <a:schemeClr val="bg1"/>
          </a:solidFill>
          <a:ln>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Yekan Bakh" pitchFamily="2" charset="-78"/>
              <a:ea typeface="Yekan Bakh" pitchFamily="2" charset="-78"/>
              <a:cs typeface="Yekan Bakh" pitchFamily="2" charset="-78"/>
            </a:endParaRPr>
          </a:p>
        </p:txBody>
      </p:sp>
      <p:sp>
        <p:nvSpPr>
          <p:cNvPr id="57" name="TextBox 56">
            <a:extLst>
              <a:ext uri="{FF2B5EF4-FFF2-40B4-BE49-F238E27FC236}">
                <a16:creationId xmlns:a16="http://schemas.microsoft.com/office/drawing/2014/main" id="{83A145B4-B323-F6DA-6EB2-103F3C987A93}"/>
              </a:ext>
            </a:extLst>
          </p:cNvPr>
          <p:cNvSpPr txBox="1"/>
          <p:nvPr/>
        </p:nvSpPr>
        <p:spPr>
          <a:xfrm>
            <a:off x="5618907" y="3013624"/>
            <a:ext cx="1033132" cy="215444"/>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rPr>
              <a:t>شناسایی ایده</a:t>
            </a:r>
            <a:endParaRPr kumimoji="0" lang="en-US" sz="80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endParaRPr>
          </a:p>
        </p:txBody>
      </p:sp>
      <p:sp>
        <p:nvSpPr>
          <p:cNvPr id="58" name="Oval 57">
            <a:extLst>
              <a:ext uri="{FF2B5EF4-FFF2-40B4-BE49-F238E27FC236}">
                <a16:creationId xmlns:a16="http://schemas.microsoft.com/office/drawing/2014/main" id="{7B425001-846B-9417-C3FB-17BB50B6845C}"/>
              </a:ext>
            </a:extLst>
          </p:cNvPr>
          <p:cNvSpPr/>
          <p:nvPr/>
        </p:nvSpPr>
        <p:spPr>
          <a:xfrm>
            <a:off x="7004459" y="3750092"/>
            <a:ext cx="171920" cy="171920"/>
          </a:xfrm>
          <a:prstGeom prst="ellipse">
            <a:avLst/>
          </a:prstGeom>
          <a:solidFill>
            <a:schemeClr val="bg1"/>
          </a:solidFill>
          <a:ln>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Yekan Bakh" pitchFamily="2" charset="-78"/>
              <a:ea typeface="Yekan Bakh" pitchFamily="2" charset="-78"/>
              <a:cs typeface="Yekan Bakh" pitchFamily="2" charset="-78"/>
            </a:endParaRPr>
          </a:p>
        </p:txBody>
      </p:sp>
      <p:sp>
        <p:nvSpPr>
          <p:cNvPr id="59" name="TextBox 58">
            <a:extLst>
              <a:ext uri="{FF2B5EF4-FFF2-40B4-BE49-F238E27FC236}">
                <a16:creationId xmlns:a16="http://schemas.microsoft.com/office/drawing/2014/main" id="{D47B1681-FDFB-B5D8-30D5-6F35AB8E5F77}"/>
              </a:ext>
            </a:extLst>
          </p:cNvPr>
          <p:cNvSpPr txBox="1"/>
          <p:nvPr/>
        </p:nvSpPr>
        <p:spPr>
          <a:xfrm>
            <a:off x="6010268" y="3749310"/>
            <a:ext cx="1033132" cy="215444"/>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rPr>
              <a:t>اعتبارسنجی </a:t>
            </a:r>
            <a:endParaRPr kumimoji="0" lang="en-US" sz="80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endParaRPr>
          </a:p>
        </p:txBody>
      </p:sp>
      <p:sp>
        <p:nvSpPr>
          <p:cNvPr id="60" name="Oval 59">
            <a:extLst>
              <a:ext uri="{FF2B5EF4-FFF2-40B4-BE49-F238E27FC236}">
                <a16:creationId xmlns:a16="http://schemas.microsoft.com/office/drawing/2014/main" id="{88924353-E48C-29B8-7AC0-BC8074645B8D}"/>
              </a:ext>
            </a:extLst>
          </p:cNvPr>
          <p:cNvSpPr/>
          <p:nvPr/>
        </p:nvSpPr>
        <p:spPr>
          <a:xfrm>
            <a:off x="6756251" y="4787921"/>
            <a:ext cx="171920" cy="171920"/>
          </a:xfrm>
          <a:prstGeom prst="ellipse">
            <a:avLst/>
          </a:prstGeom>
          <a:solidFill>
            <a:schemeClr val="bg1"/>
          </a:solidFill>
          <a:ln>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Yekan Bakh" pitchFamily="2" charset="-78"/>
              <a:ea typeface="Yekan Bakh" pitchFamily="2" charset="-78"/>
              <a:cs typeface="Yekan Bakh" pitchFamily="2" charset="-78"/>
            </a:endParaRPr>
          </a:p>
        </p:txBody>
      </p:sp>
      <p:sp>
        <p:nvSpPr>
          <p:cNvPr id="61" name="TextBox 60">
            <a:extLst>
              <a:ext uri="{FF2B5EF4-FFF2-40B4-BE49-F238E27FC236}">
                <a16:creationId xmlns:a16="http://schemas.microsoft.com/office/drawing/2014/main" id="{39AD0A63-2FBC-384B-7705-E3B8CCD0D5C1}"/>
              </a:ext>
            </a:extLst>
          </p:cNvPr>
          <p:cNvSpPr txBox="1"/>
          <p:nvPr/>
        </p:nvSpPr>
        <p:spPr>
          <a:xfrm>
            <a:off x="5762060" y="4787139"/>
            <a:ext cx="1033132" cy="215444"/>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rPr>
              <a:t>طراحی ونچر</a:t>
            </a:r>
            <a:endParaRPr kumimoji="0" lang="en-US" sz="80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endParaRPr>
          </a:p>
        </p:txBody>
      </p:sp>
      <p:sp>
        <p:nvSpPr>
          <p:cNvPr id="62" name="Oval 61">
            <a:extLst>
              <a:ext uri="{FF2B5EF4-FFF2-40B4-BE49-F238E27FC236}">
                <a16:creationId xmlns:a16="http://schemas.microsoft.com/office/drawing/2014/main" id="{853559D6-BB03-3A6C-A0DF-9651967A5765}"/>
              </a:ext>
            </a:extLst>
          </p:cNvPr>
          <p:cNvSpPr/>
          <p:nvPr/>
        </p:nvSpPr>
        <p:spPr>
          <a:xfrm>
            <a:off x="5120015" y="5093572"/>
            <a:ext cx="171920" cy="171920"/>
          </a:xfrm>
          <a:prstGeom prst="ellipse">
            <a:avLst/>
          </a:prstGeom>
          <a:solidFill>
            <a:schemeClr val="bg1"/>
          </a:solidFill>
          <a:ln>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Yekan Bakh" pitchFamily="2" charset="-78"/>
              <a:ea typeface="Yekan Bakh" pitchFamily="2" charset="-78"/>
              <a:cs typeface="Yekan Bakh" pitchFamily="2" charset="-78"/>
            </a:endParaRPr>
          </a:p>
        </p:txBody>
      </p:sp>
      <p:sp>
        <p:nvSpPr>
          <p:cNvPr id="63" name="TextBox 62">
            <a:extLst>
              <a:ext uri="{FF2B5EF4-FFF2-40B4-BE49-F238E27FC236}">
                <a16:creationId xmlns:a16="http://schemas.microsoft.com/office/drawing/2014/main" id="{6ABC3DB9-B1A9-987E-3C66-AE547277D537}"/>
              </a:ext>
            </a:extLst>
          </p:cNvPr>
          <p:cNvSpPr txBox="1"/>
          <p:nvPr/>
        </p:nvSpPr>
        <p:spPr>
          <a:xfrm>
            <a:off x="4702493" y="4886142"/>
            <a:ext cx="1033132" cy="215444"/>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rPr>
              <a:t>توسعه ونچر</a:t>
            </a:r>
            <a:endParaRPr kumimoji="0" lang="en-US" sz="80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endParaRPr>
          </a:p>
        </p:txBody>
      </p:sp>
      <p:sp>
        <p:nvSpPr>
          <p:cNvPr id="66" name="Oval 65">
            <a:extLst>
              <a:ext uri="{FF2B5EF4-FFF2-40B4-BE49-F238E27FC236}">
                <a16:creationId xmlns:a16="http://schemas.microsoft.com/office/drawing/2014/main" id="{6F82C777-0B24-498F-48E3-F70BEB7D2D84}"/>
              </a:ext>
            </a:extLst>
          </p:cNvPr>
          <p:cNvSpPr/>
          <p:nvPr/>
        </p:nvSpPr>
        <p:spPr>
          <a:xfrm>
            <a:off x="4503822" y="4269203"/>
            <a:ext cx="171920" cy="171920"/>
          </a:xfrm>
          <a:prstGeom prst="ellipse">
            <a:avLst/>
          </a:prstGeom>
          <a:solidFill>
            <a:schemeClr val="bg1"/>
          </a:solidFill>
          <a:ln>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Yekan Bakh" pitchFamily="2" charset="-78"/>
              <a:ea typeface="Yekan Bakh" pitchFamily="2" charset="-78"/>
              <a:cs typeface="Yekan Bakh" pitchFamily="2" charset="-78"/>
            </a:endParaRPr>
          </a:p>
        </p:txBody>
      </p:sp>
      <p:sp>
        <p:nvSpPr>
          <p:cNvPr id="67" name="TextBox 66">
            <a:extLst>
              <a:ext uri="{FF2B5EF4-FFF2-40B4-BE49-F238E27FC236}">
                <a16:creationId xmlns:a16="http://schemas.microsoft.com/office/drawing/2014/main" id="{6B992F2A-9878-32FB-632E-0DB9ECC2A241}"/>
              </a:ext>
            </a:extLst>
          </p:cNvPr>
          <p:cNvSpPr txBox="1"/>
          <p:nvPr/>
        </p:nvSpPr>
        <p:spPr>
          <a:xfrm>
            <a:off x="4524152" y="4239507"/>
            <a:ext cx="1033132" cy="215444"/>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rPr>
              <a:t>ایجاد کسب‌وکار</a:t>
            </a:r>
            <a:endParaRPr kumimoji="0" lang="en-US" sz="80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endParaRPr>
          </a:p>
        </p:txBody>
      </p:sp>
      <p:sp>
        <p:nvSpPr>
          <p:cNvPr id="68" name="Oval 67">
            <a:extLst>
              <a:ext uri="{FF2B5EF4-FFF2-40B4-BE49-F238E27FC236}">
                <a16:creationId xmlns:a16="http://schemas.microsoft.com/office/drawing/2014/main" id="{FD05CBF5-35E9-614F-B695-E206AD26A5B5}"/>
              </a:ext>
            </a:extLst>
          </p:cNvPr>
          <p:cNvSpPr/>
          <p:nvPr/>
        </p:nvSpPr>
        <p:spPr>
          <a:xfrm>
            <a:off x="4522437" y="3561157"/>
            <a:ext cx="171920" cy="171920"/>
          </a:xfrm>
          <a:prstGeom prst="ellipse">
            <a:avLst/>
          </a:prstGeom>
          <a:solidFill>
            <a:schemeClr val="bg1"/>
          </a:solidFill>
          <a:ln>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Yekan Bakh" pitchFamily="2" charset="-78"/>
              <a:ea typeface="Yekan Bakh" pitchFamily="2" charset="-78"/>
              <a:cs typeface="Yekan Bakh" pitchFamily="2" charset="-78"/>
            </a:endParaRPr>
          </a:p>
        </p:txBody>
      </p:sp>
      <p:sp>
        <p:nvSpPr>
          <p:cNvPr id="69" name="TextBox 68">
            <a:extLst>
              <a:ext uri="{FF2B5EF4-FFF2-40B4-BE49-F238E27FC236}">
                <a16:creationId xmlns:a16="http://schemas.microsoft.com/office/drawing/2014/main" id="{E36F0C37-61A9-590D-4D32-02560DB760E2}"/>
              </a:ext>
            </a:extLst>
          </p:cNvPr>
          <p:cNvSpPr txBox="1"/>
          <p:nvPr/>
        </p:nvSpPr>
        <p:spPr>
          <a:xfrm>
            <a:off x="4545401" y="3522190"/>
            <a:ext cx="1033132" cy="215444"/>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rPr>
              <a:t>فرصت‌های جدید</a:t>
            </a:r>
            <a:endParaRPr kumimoji="0" lang="en-US" sz="80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endParaRPr>
          </a:p>
        </p:txBody>
      </p:sp>
      <p:sp>
        <p:nvSpPr>
          <p:cNvPr id="70" name="Oval 69">
            <a:extLst>
              <a:ext uri="{FF2B5EF4-FFF2-40B4-BE49-F238E27FC236}">
                <a16:creationId xmlns:a16="http://schemas.microsoft.com/office/drawing/2014/main" id="{DB0043D6-76A1-D9B4-20C6-57A1E26D78EB}"/>
              </a:ext>
            </a:extLst>
          </p:cNvPr>
          <p:cNvSpPr/>
          <p:nvPr/>
        </p:nvSpPr>
        <p:spPr>
          <a:xfrm>
            <a:off x="3677784" y="2995075"/>
            <a:ext cx="171920" cy="171920"/>
          </a:xfrm>
          <a:prstGeom prst="ellipse">
            <a:avLst/>
          </a:prstGeom>
          <a:solidFill>
            <a:schemeClr val="bg1"/>
          </a:solidFill>
          <a:ln>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Yekan Bakh" pitchFamily="2" charset="-78"/>
              <a:ea typeface="Yekan Bakh" pitchFamily="2" charset="-78"/>
              <a:cs typeface="Yekan Bakh" pitchFamily="2" charset="-78"/>
            </a:endParaRPr>
          </a:p>
        </p:txBody>
      </p:sp>
      <p:sp>
        <p:nvSpPr>
          <p:cNvPr id="71" name="TextBox 70">
            <a:extLst>
              <a:ext uri="{FF2B5EF4-FFF2-40B4-BE49-F238E27FC236}">
                <a16:creationId xmlns:a16="http://schemas.microsoft.com/office/drawing/2014/main" id="{B397C587-87CD-42E7-550C-C70A7D4CF8E9}"/>
              </a:ext>
            </a:extLst>
          </p:cNvPr>
          <p:cNvSpPr txBox="1"/>
          <p:nvPr/>
        </p:nvSpPr>
        <p:spPr>
          <a:xfrm>
            <a:off x="2683593" y="2994293"/>
            <a:ext cx="1033132" cy="461665"/>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rPr>
              <a:t>شناسایی فرصت‌های سرمایه‌گذاری</a:t>
            </a:r>
            <a:endParaRPr kumimoji="0" lang="en-US" sz="80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endParaRPr>
          </a:p>
        </p:txBody>
      </p:sp>
      <p:sp>
        <p:nvSpPr>
          <p:cNvPr id="72" name="Oval 71">
            <a:extLst>
              <a:ext uri="{FF2B5EF4-FFF2-40B4-BE49-F238E27FC236}">
                <a16:creationId xmlns:a16="http://schemas.microsoft.com/office/drawing/2014/main" id="{1C115493-43C2-1583-AD62-1D04D4EFFF91}"/>
              </a:ext>
            </a:extLst>
          </p:cNvPr>
          <p:cNvSpPr/>
          <p:nvPr/>
        </p:nvSpPr>
        <p:spPr>
          <a:xfrm>
            <a:off x="4096302" y="3885106"/>
            <a:ext cx="171920" cy="171920"/>
          </a:xfrm>
          <a:prstGeom prst="ellipse">
            <a:avLst/>
          </a:prstGeom>
          <a:solidFill>
            <a:schemeClr val="bg1"/>
          </a:solidFill>
          <a:ln>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Yekan Bakh" pitchFamily="2" charset="-78"/>
              <a:ea typeface="Yekan Bakh" pitchFamily="2" charset="-78"/>
              <a:cs typeface="Yekan Bakh" pitchFamily="2" charset="-78"/>
            </a:endParaRPr>
          </a:p>
        </p:txBody>
      </p:sp>
      <p:sp>
        <p:nvSpPr>
          <p:cNvPr id="73" name="TextBox 72">
            <a:extLst>
              <a:ext uri="{FF2B5EF4-FFF2-40B4-BE49-F238E27FC236}">
                <a16:creationId xmlns:a16="http://schemas.microsoft.com/office/drawing/2014/main" id="{20736FD4-7A60-02CE-19D5-1B573EE9405C}"/>
              </a:ext>
            </a:extLst>
          </p:cNvPr>
          <p:cNvSpPr txBox="1"/>
          <p:nvPr/>
        </p:nvSpPr>
        <p:spPr>
          <a:xfrm>
            <a:off x="3102111" y="3884324"/>
            <a:ext cx="1033132" cy="215444"/>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rPr>
              <a:t>ارزیابی‌های جامع</a:t>
            </a:r>
            <a:endParaRPr kumimoji="0" lang="en-US" sz="80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endParaRPr>
          </a:p>
        </p:txBody>
      </p:sp>
      <p:sp>
        <p:nvSpPr>
          <p:cNvPr id="74" name="Oval 73">
            <a:extLst>
              <a:ext uri="{FF2B5EF4-FFF2-40B4-BE49-F238E27FC236}">
                <a16:creationId xmlns:a16="http://schemas.microsoft.com/office/drawing/2014/main" id="{76DD06E1-5F73-B252-7606-D8CD394924E6}"/>
              </a:ext>
            </a:extLst>
          </p:cNvPr>
          <p:cNvSpPr/>
          <p:nvPr/>
        </p:nvSpPr>
        <p:spPr>
          <a:xfrm>
            <a:off x="3939646" y="4623258"/>
            <a:ext cx="171920" cy="171920"/>
          </a:xfrm>
          <a:prstGeom prst="ellipse">
            <a:avLst/>
          </a:prstGeom>
          <a:solidFill>
            <a:schemeClr val="bg1"/>
          </a:solidFill>
          <a:ln>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Yekan Bakh" pitchFamily="2" charset="-78"/>
              <a:ea typeface="Yekan Bakh" pitchFamily="2" charset="-78"/>
              <a:cs typeface="Yekan Bakh" pitchFamily="2" charset="-78"/>
            </a:endParaRPr>
          </a:p>
        </p:txBody>
      </p:sp>
      <p:sp>
        <p:nvSpPr>
          <p:cNvPr id="75" name="TextBox 74">
            <a:extLst>
              <a:ext uri="{FF2B5EF4-FFF2-40B4-BE49-F238E27FC236}">
                <a16:creationId xmlns:a16="http://schemas.microsoft.com/office/drawing/2014/main" id="{9A001BE0-FE45-F486-FA3C-BEE6341F678F}"/>
              </a:ext>
            </a:extLst>
          </p:cNvPr>
          <p:cNvSpPr txBox="1"/>
          <p:nvPr/>
        </p:nvSpPr>
        <p:spPr>
          <a:xfrm>
            <a:off x="2945455" y="4593802"/>
            <a:ext cx="1033132" cy="215444"/>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rPr>
              <a:t>تخصیص سرمایه</a:t>
            </a:r>
            <a:endParaRPr kumimoji="0" lang="en-US" sz="80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endParaRPr>
          </a:p>
        </p:txBody>
      </p:sp>
      <p:sp>
        <p:nvSpPr>
          <p:cNvPr id="76" name="Oval 75">
            <a:extLst>
              <a:ext uri="{FF2B5EF4-FFF2-40B4-BE49-F238E27FC236}">
                <a16:creationId xmlns:a16="http://schemas.microsoft.com/office/drawing/2014/main" id="{1577A346-8A94-25FE-C06E-650D56307910}"/>
              </a:ext>
            </a:extLst>
          </p:cNvPr>
          <p:cNvSpPr/>
          <p:nvPr/>
        </p:nvSpPr>
        <p:spPr>
          <a:xfrm>
            <a:off x="3168718" y="5250439"/>
            <a:ext cx="171920" cy="171920"/>
          </a:xfrm>
          <a:prstGeom prst="ellipse">
            <a:avLst/>
          </a:prstGeom>
          <a:solidFill>
            <a:schemeClr val="bg1"/>
          </a:solidFill>
          <a:ln>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Yekan Bakh" pitchFamily="2" charset="-78"/>
              <a:ea typeface="Yekan Bakh" pitchFamily="2" charset="-78"/>
              <a:cs typeface="Yekan Bakh" pitchFamily="2" charset="-78"/>
            </a:endParaRPr>
          </a:p>
        </p:txBody>
      </p:sp>
      <p:sp>
        <p:nvSpPr>
          <p:cNvPr id="77" name="TextBox 76">
            <a:extLst>
              <a:ext uri="{FF2B5EF4-FFF2-40B4-BE49-F238E27FC236}">
                <a16:creationId xmlns:a16="http://schemas.microsoft.com/office/drawing/2014/main" id="{77D5E476-D7DB-50FC-AC9F-3AC3AABD9804}"/>
              </a:ext>
            </a:extLst>
          </p:cNvPr>
          <p:cNvSpPr txBox="1"/>
          <p:nvPr/>
        </p:nvSpPr>
        <p:spPr>
          <a:xfrm>
            <a:off x="2179494" y="5019534"/>
            <a:ext cx="1247962" cy="215444"/>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rPr>
              <a:t>توسعه سبد سرمایه</a:t>
            </a:r>
            <a:endParaRPr kumimoji="0" lang="en-US" sz="80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endParaRPr>
          </a:p>
        </p:txBody>
      </p:sp>
      <p:sp>
        <p:nvSpPr>
          <p:cNvPr id="78" name="Oval 77">
            <a:extLst>
              <a:ext uri="{FF2B5EF4-FFF2-40B4-BE49-F238E27FC236}">
                <a16:creationId xmlns:a16="http://schemas.microsoft.com/office/drawing/2014/main" id="{8024F799-4884-3C24-CE2F-597A36B4804A}"/>
              </a:ext>
            </a:extLst>
          </p:cNvPr>
          <p:cNvSpPr/>
          <p:nvPr/>
        </p:nvSpPr>
        <p:spPr>
          <a:xfrm>
            <a:off x="1818924" y="4787212"/>
            <a:ext cx="171920" cy="171920"/>
          </a:xfrm>
          <a:prstGeom prst="ellipse">
            <a:avLst/>
          </a:prstGeom>
          <a:solidFill>
            <a:schemeClr val="bg1"/>
          </a:solidFill>
          <a:ln>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Yekan Bakh" pitchFamily="2" charset="-78"/>
              <a:ea typeface="Yekan Bakh" pitchFamily="2" charset="-78"/>
              <a:cs typeface="Yekan Bakh" pitchFamily="2" charset="-78"/>
            </a:endParaRPr>
          </a:p>
        </p:txBody>
      </p:sp>
      <p:sp>
        <p:nvSpPr>
          <p:cNvPr id="79" name="TextBox 78">
            <a:extLst>
              <a:ext uri="{FF2B5EF4-FFF2-40B4-BE49-F238E27FC236}">
                <a16:creationId xmlns:a16="http://schemas.microsoft.com/office/drawing/2014/main" id="{8978F3E2-1195-6637-BF5A-3F4A9A365C14}"/>
              </a:ext>
            </a:extLst>
          </p:cNvPr>
          <p:cNvSpPr txBox="1"/>
          <p:nvPr/>
        </p:nvSpPr>
        <p:spPr>
          <a:xfrm>
            <a:off x="1589760" y="4593802"/>
            <a:ext cx="837007" cy="215444"/>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rPr>
              <a:t>تحقق سود</a:t>
            </a:r>
            <a:endParaRPr kumimoji="0" lang="en-US" sz="80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endParaRPr>
          </a:p>
        </p:txBody>
      </p:sp>
      <p:sp>
        <p:nvSpPr>
          <p:cNvPr id="80" name="Oval 79">
            <a:extLst>
              <a:ext uri="{FF2B5EF4-FFF2-40B4-BE49-F238E27FC236}">
                <a16:creationId xmlns:a16="http://schemas.microsoft.com/office/drawing/2014/main" id="{3F35B71C-33E8-0FEE-0A6A-67BC9BC8D5DD}"/>
              </a:ext>
            </a:extLst>
          </p:cNvPr>
          <p:cNvSpPr/>
          <p:nvPr/>
        </p:nvSpPr>
        <p:spPr>
          <a:xfrm>
            <a:off x="1569248" y="3730206"/>
            <a:ext cx="171920" cy="171920"/>
          </a:xfrm>
          <a:prstGeom prst="ellipse">
            <a:avLst/>
          </a:prstGeom>
          <a:solidFill>
            <a:schemeClr val="bg1"/>
          </a:solidFill>
          <a:ln>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Yekan Bakh" pitchFamily="2" charset="-78"/>
              <a:ea typeface="Yekan Bakh" pitchFamily="2" charset="-78"/>
              <a:cs typeface="Yekan Bakh" pitchFamily="2" charset="-78"/>
            </a:endParaRPr>
          </a:p>
        </p:txBody>
      </p:sp>
      <p:sp>
        <p:nvSpPr>
          <p:cNvPr id="81" name="TextBox 80">
            <a:extLst>
              <a:ext uri="{FF2B5EF4-FFF2-40B4-BE49-F238E27FC236}">
                <a16:creationId xmlns:a16="http://schemas.microsoft.com/office/drawing/2014/main" id="{70EB1AB7-9740-2C1A-0E92-192311C1B9C0}"/>
              </a:ext>
            </a:extLst>
          </p:cNvPr>
          <p:cNvSpPr txBox="1"/>
          <p:nvPr/>
        </p:nvSpPr>
        <p:spPr>
          <a:xfrm>
            <a:off x="1574154" y="3536796"/>
            <a:ext cx="837007" cy="338554"/>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rPr>
              <a:t>سرمایه‌گذاری مجدد </a:t>
            </a:r>
            <a:endParaRPr kumimoji="0" lang="en-US" sz="80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endParaRPr>
          </a:p>
        </p:txBody>
      </p:sp>
      <p:cxnSp>
        <p:nvCxnSpPr>
          <p:cNvPr id="84" name="Straight Arrow Connector 83">
            <a:extLst>
              <a:ext uri="{FF2B5EF4-FFF2-40B4-BE49-F238E27FC236}">
                <a16:creationId xmlns:a16="http://schemas.microsoft.com/office/drawing/2014/main" id="{8F4C23FB-FEA4-2C2F-8FC0-7C1BA25F8DE0}"/>
              </a:ext>
            </a:extLst>
          </p:cNvPr>
          <p:cNvCxnSpPr>
            <a:cxnSpLocks/>
          </p:cNvCxnSpPr>
          <p:nvPr/>
        </p:nvCxnSpPr>
        <p:spPr>
          <a:xfrm>
            <a:off x="5851389" y="873764"/>
            <a:ext cx="0" cy="91440"/>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86" name="Straight Arrow Connector 85">
            <a:extLst>
              <a:ext uri="{FF2B5EF4-FFF2-40B4-BE49-F238E27FC236}">
                <a16:creationId xmlns:a16="http://schemas.microsoft.com/office/drawing/2014/main" id="{1FE901CF-EFFB-7525-66E8-3B31FA1FBA0C}"/>
              </a:ext>
            </a:extLst>
          </p:cNvPr>
          <p:cNvCxnSpPr>
            <a:cxnSpLocks/>
          </p:cNvCxnSpPr>
          <p:nvPr/>
        </p:nvCxnSpPr>
        <p:spPr>
          <a:xfrm>
            <a:off x="5851525" y="1282299"/>
            <a:ext cx="0" cy="91440"/>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87" name="Straight Arrow Connector 86">
            <a:extLst>
              <a:ext uri="{FF2B5EF4-FFF2-40B4-BE49-F238E27FC236}">
                <a16:creationId xmlns:a16="http://schemas.microsoft.com/office/drawing/2014/main" id="{6665BBCD-21B4-0840-9EFB-B24940352237}"/>
              </a:ext>
            </a:extLst>
          </p:cNvPr>
          <p:cNvCxnSpPr>
            <a:cxnSpLocks/>
          </p:cNvCxnSpPr>
          <p:nvPr/>
        </p:nvCxnSpPr>
        <p:spPr>
          <a:xfrm rot="16200000">
            <a:off x="1973477" y="1389843"/>
            <a:ext cx="0" cy="274320"/>
          </a:xfrm>
          <a:prstGeom prst="straightConnector1">
            <a:avLst/>
          </a:prstGeom>
          <a:ln>
            <a:headEnd type="triangle" w="med" len="med"/>
            <a:tailEnd type="triangle" w="med" len="med"/>
          </a:ln>
        </p:spPr>
        <p:style>
          <a:lnRef idx="1">
            <a:schemeClr val="accent4"/>
          </a:lnRef>
          <a:fillRef idx="0">
            <a:schemeClr val="accent4"/>
          </a:fillRef>
          <a:effectRef idx="0">
            <a:schemeClr val="accent4"/>
          </a:effectRef>
          <a:fontRef idx="minor">
            <a:schemeClr val="tx1"/>
          </a:fontRef>
        </p:style>
      </p:cxnSp>
      <p:cxnSp>
        <p:nvCxnSpPr>
          <p:cNvPr id="88" name="Straight Arrow Connector 87">
            <a:extLst>
              <a:ext uri="{FF2B5EF4-FFF2-40B4-BE49-F238E27FC236}">
                <a16:creationId xmlns:a16="http://schemas.microsoft.com/office/drawing/2014/main" id="{6C388661-1B63-E6D6-D8B0-BBEA476908AB}"/>
              </a:ext>
            </a:extLst>
          </p:cNvPr>
          <p:cNvCxnSpPr>
            <a:cxnSpLocks/>
          </p:cNvCxnSpPr>
          <p:nvPr/>
        </p:nvCxnSpPr>
        <p:spPr>
          <a:xfrm rot="5400000" flipH="1">
            <a:off x="9750157" y="1389842"/>
            <a:ext cx="0" cy="274320"/>
          </a:xfrm>
          <a:prstGeom prst="straightConnector1">
            <a:avLst/>
          </a:prstGeom>
          <a:ln>
            <a:headEnd type="triangle" w="med" len="med"/>
            <a:tailEnd type="triangle" w="med" len="med"/>
          </a:ln>
        </p:spPr>
        <p:style>
          <a:lnRef idx="1">
            <a:schemeClr val="accent4"/>
          </a:lnRef>
          <a:fillRef idx="0">
            <a:schemeClr val="accent4"/>
          </a:fillRef>
          <a:effectRef idx="0">
            <a:schemeClr val="accent4"/>
          </a:effectRef>
          <a:fontRef idx="minor">
            <a:schemeClr val="tx1"/>
          </a:fontRef>
        </p:style>
      </p:cxnSp>
      <p:sp>
        <p:nvSpPr>
          <p:cNvPr id="5" name="Rectangle 4">
            <a:extLst>
              <a:ext uri="{FF2B5EF4-FFF2-40B4-BE49-F238E27FC236}">
                <a16:creationId xmlns:a16="http://schemas.microsoft.com/office/drawing/2014/main" id="{737F6B09-7224-9BA9-44F5-6F340D5BA662}"/>
              </a:ext>
            </a:extLst>
          </p:cNvPr>
          <p:cNvSpPr/>
          <p:nvPr/>
        </p:nvSpPr>
        <p:spPr>
          <a:xfrm>
            <a:off x="555625" y="2590800"/>
            <a:ext cx="10591791" cy="3348562"/>
          </a:xfrm>
          <a:prstGeom prst="rect">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Yekan Bakh" pitchFamily="2" charset="-78"/>
              <a:ea typeface="Yekan Bakh" pitchFamily="2" charset="-78"/>
              <a:cs typeface="Yekan Bakh" pitchFamily="2" charset="-78"/>
            </a:endParaRPr>
          </a:p>
        </p:txBody>
      </p:sp>
      <p:sp>
        <p:nvSpPr>
          <p:cNvPr id="16" name="Rectangle 15">
            <a:extLst>
              <a:ext uri="{FF2B5EF4-FFF2-40B4-BE49-F238E27FC236}">
                <a16:creationId xmlns:a16="http://schemas.microsoft.com/office/drawing/2014/main" id="{9E7A8DED-9FD0-7707-734F-8F03F679D683}"/>
              </a:ext>
            </a:extLst>
          </p:cNvPr>
          <p:cNvSpPr/>
          <p:nvPr/>
        </p:nvSpPr>
        <p:spPr>
          <a:xfrm>
            <a:off x="6064189" y="2745659"/>
            <a:ext cx="4211919" cy="2156896"/>
          </a:xfrm>
          <a:prstGeom prst="rect">
            <a:avLst/>
          </a:prstGeom>
          <a:solidFill>
            <a:srgbClr val="1E2761">
              <a:alpha val="6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200" b="1" i="0" u="none" strike="noStrike" kern="1200" cap="none" spc="0" normalizeH="0" baseline="0" noProof="0">
                <a:ln>
                  <a:noFill/>
                </a:ln>
                <a:solidFill>
                  <a:srgbClr val="FDBF03"/>
                </a:solidFill>
                <a:effectLst/>
                <a:uLnTx/>
                <a:uFillTx/>
                <a:latin typeface="Yekan Bakh" pitchFamily="2" charset="-78"/>
                <a:ea typeface="Yekan Bakh" pitchFamily="2" charset="-78"/>
                <a:cs typeface="Yekan Bakh" pitchFamily="2" charset="-78"/>
              </a:rPr>
              <a:t>ستاد مشترک</a:t>
            </a:r>
          </a:p>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DBF03"/>
                </a:solidFill>
                <a:effectLst/>
                <a:uLnTx/>
                <a:uFillTx/>
                <a:latin typeface="Yekan Bakh" pitchFamily="2" charset="-78"/>
                <a:ea typeface="Yekan Bakh" pitchFamily="2" charset="-78"/>
                <a:cs typeface="Yekan Bakh" pitchFamily="2" charset="-78"/>
              </a:rPr>
              <a:t>One Backbone</a:t>
            </a:r>
            <a:endParaRPr kumimoji="0" lang="fa-IR" sz="1200" b="1" i="0" u="none" strike="noStrike" kern="1200" cap="none" spc="0" normalizeH="0" baseline="0" noProof="0">
              <a:ln>
                <a:noFill/>
              </a:ln>
              <a:solidFill>
                <a:srgbClr val="FDBF03"/>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fa-IR" sz="1200" b="1" i="0" u="none" strike="noStrike" kern="1200" cap="none" spc="0" normalizeH="0" baseline="0" noProof="0">
              <a:ln>
                <a:noFill/>
              </a:ln>
              <a:solidFill>
                <a:srgbClr val="FDBF03"/>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200" b="1" i="0" u="none" strike="noStrike" kern="1200" cap="none" spc="0" normalizeH="0" baseline="0" noProof="0">
                <a:ln>
                  <a:noFill/>
                </a:ln>
                <a:solidFill>
                  <a:srgbClr val="FDBF03"/>
                </a:solidFill>
                <a:effectLst/>
                <a:uLnTx/>
                <a:uFillTx/>
                <a:latin typeface="Yekan Bakh" pitchFamily="2" charset="-78"/>
                <a:ea typeface="Yekan Bakh" pitchFamily="2" charset="-78"/>
                <a:cs typeface="Yekan Bakh" pitchFamily="2" charset="-78"/>
              </a:rPr>
              <a:t>یک ستاد مشترک که منابع، قابلیت‌ها و تصمیمات کلیدی را بین بیزینس‌لاین‌ها هم‌راستا می‌کند.</a:t>
            </a:r>
            <a:endParaRPr kumimoji="0" lang="en-US" sz="1200" b="1" i="0" u="none" strike="noStrike" kern="1200" cap="none" spc="0" normalizeH="0" baseline="0" noProof="0">
              <a:ln>
                <a:noFill/>
              </a:ln>
              <a:solidFill>
                <a:srgbClr val="FDBF03"/>
              </a:solidFill>
              <a:effectLst/>
              <a:uLnTx/>
              <a:uFillTx/>
              <a:latin typeface="Yekan Bakh" pitchFamily="2" charset="-78"/>
              <a:ea typeface="Yekan Bakh" pitchFamily="2" charset="-78"/>
              <a:cs typeface="Yekan Bakh" pitchFamily="2" charset="-78"/>
            </a:endParaRPr>
          </a:p>
        </p:txBody>
      </p:sp>
      <p:sp>
        <p:nvSpPr>
          <p:cNvPr id="30" name="Rectangle 29">
            <a:extLst>
              <a:ext uri="{FF2B5EF4-FFF2-40B4-BE49-F238E27FC236}">
                <a16:creationId xmlns:a16="http://schemas.microsoft.com/office/drawing/2014/main" id="{22305A69-4552-BECA-9769-1DD3D12D15D4}"/>
              </a:ext>
            </a:extLst>
          </p:cNvPr>
          <p:cNvSpPr/>
          <p:nvPr/>
        </p:nvSpPr>
        <p:spPr>
          <a:xfrm>
            <a:off x="1356835" y="2723622"/>
            <a:ext cx="4211919" cy="2156896"/>
          </a:xfrm>
          <a:prstGeom prst="rect">
            <a:avLst/>
          </a:prstGeom>
          <a:solidFill>
            <a:srgbClr val="1E2761">
              <a:alpha val="6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200" b="1" i="0" u="none" strike="noStrike" kern="1200" cap="none" spc="0" normalizeH="0" baseline="0" noProof="0" dirty="0">
                <a:ln>
                  <a:noFill/>
                </a:ln>
                <a:solidFill>
                  <a:srgbClr val="FDBF03"/>
                </a:solidFill>
                <a:effectLst/>
                <a:uLnTx/>
                <a:uFillTx/>
                <a:latin typeface="Yekan Bakh" pitchFamily="2" charset="-78"/>
                <a:ea typeface="Yekan Bakh" pitchFamily="2" charset="-78"/>
                <a:cs typeface="Yekan Bakh" pitchFamily="2" charset="-78"/>
              </a:rPr>
              <a:t>فرهنگ سازمانی مشترک</a:t>
            </a:r>
          </a:p>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DBF03"/>
                </a:solidFill>
                <a:effectLst/>
                <a:uLnTx/>
                <a:uFillTx/>
                <a:latin typeface="Yekan Bakh" pitchFamily="2" charset="-78"/>
                <a:ea typeface="Yekan Bakh" pitchFamily="2" charset="-78"/>
                <a:cs typeface="Yekan Bakh" pitchFamily="2" charset="-78"/>
              </a:rPr>
              <a:t>One Way of Being</a:t>
            </a:r>
          </a:p>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fa-IR" sz="1200" b="1" i="0" u="none" strike="noStrike" kern="1200" cap="none" spc="0" normalizeH="0" baseline="0" noProof="0" dirty="0">
              <a:ln>
                <a:noFill/>
              </a:ln>
              <a:solidFill>
                <a:srgbClr val="FDBF03"/>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200" b="1" i="0" u="none" strike="noStrike" kern="1200" cap="none" spc="0" normalizeH="0" baseline="0" noProof="0" dirty="0">
                <a:ln>
                  <a:noFill/>
                </a:ln>
                <a:solidFill>
                  <a:srgbClr val="FDBF03"/>
                </a:solidFill>
                <a:effectLst/>
                <a:uLnTx/>
                <a:uFillTx/>
                <a:latin typeface="Yekan Bakh" pitchFamily="2" charset="-78"/>
                <a:ea typeface="Yekan Bakh" pitchFamily="2" charset="-78"/>
                <a:cs typeface="Yekan Bakh" pitchFamily="2" charset="-78"/>
              </a:rPr>
              <a:t>یک فرهنگ مشترک که شیوه تعامل و کار همه را یکپارچه می‌کند.</a:t>
            </a:r>
            <a:endParaRPr kumimoji="0" lang="en-US" sz="1200" b="1" i="0" u="none" strike="noStrike" kern="1200" cap="none" spc="0" normalizeH="0" baseline="0" noProof="0" dirty="0">
              <a:ln>
                <a:noFill/>
              </a:ln>
              <a:solidFill>
                <a:srgbClr val="FDBF03"/>
              </a:solidFill>
              <a:effectLst/>
              <a:uLnTx/>
              <a:uFillTx/>
              <a:latin typeface="Yekan Bakh" pitchFamily="2" charset="-78"/>
              <a:ea typeface="Yekan Bakh" pitchFamily="2" charset="-78"/>
              <a:cs typeface="Yekan Bakh" pitchFamily="2" charset="-78"/>
            </a:endParaRPr>
          </a:p>
        </p:txBody>
      </p:sp>
      <p:sp>
        <p:nvSpPr>
          <p:cNvPr id="17" name="Rectangle: Rounded Corners 16">
            <a:extLst>
              <a:ext uri="{FF2B5EF4-FFF2-40B4-BE49-F238E27FC236}">
                <a16:creationId xmlns:a16="http://schemas.microsoft.com/office/drawing/2014/main" id="{D7BF097D-BE65-0217-D0CE-348FEB4D0F5E}"/>
              </a:ext>
            </a:extLst>
          </p:cNvPr>
          <p:cNvSpPr/>
          <p:nvPr/>
        </p:nvSpPr>
        <p:spPr>
          <a:xfrm>
            <a:off x="7959919" y="5096442"/>
            <a:ext cx="2316189" cy="535362"/>
          </a:xfrm>
          <a:prstGeom prst="roundRect">
            <a:avLst>
              <a:gd name="adj" fmla="val 50000"/>
            </a:avLst>
          </a:prstGeom>
          <a:solidFill>
            <a:schemeClr val="bg1">
              <a:alpha val="8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200" b="1" i="0" u="none" strike="noStrike" kern="1200" cap="none" spc="0" normalizeH="0" baseline="0" noProof="0">
                <a:ln>
                  <a:noFill/>
                </a:ln>
                <a:solidFill>
                  <a:srgbClr val="003399"/>
                </a:solidFill>
                <a:effectLst/>
                <a:uLnTx/>
                <a:uFillTx/>
                <a:latin typeface="Yekan Bakh" pitchFamily="2" charset="-78"/>
                <a:ea typeface="Yekan Bakh" pitchFamily="2" charset="-78"/>
                <a:cs typeface="Yekan Bakh" pitchFamily="2" charset="-78"/>
              </a:rPr>
              <a:t>اعتماد / امن بودن</a:t>
            </a:r>
          </a:p>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3399"/>
                </a:solidFill>
                <a:effectLst/>
                <a:uLnTx/>
                <a:uFillTx/>
                <a:latin typeface="Yekan Bakh" pitchFamily="2" charset="-78"/>
                <a:ea typeface="Yekan Bakh" pitchFamily="2" charset="-78"/>
                <a:cs typeface="Yekan Bakh" pitchFamily="2" charset="-78"/>
              </a:rPr>
              <a:t>Trust to Collaborate</a:t>
            </a:r>
          </a:p>
        </p:txBody>
      </p:sp>
      <p:sp>
        <p:nvSpPr>
          <p:cNvPr id="24" name="Rectangle: Rounded Corners 23">
            <a:extLst>
              <a:ext uri="{FF2B5EF4-FFF2-40B4-BE49-F238E27FC236}">
                <a16:creationId xmlns:a16="http://schemas.microsoft.com/office/drawing/2014/main" id="{ABB17274-BC8D-AD7B-3743-E1B86A909413}"/>
              </a:ext>
            </a:extLst>
          </p:cNvPr>
          <p:cNvSpPr/>
          <p:nvPr/>
        </p:nvSpPr>
        <p:spPr>
          <a:xfrm>
            <a:off x="4658377" y="5096442"/>
            <a:ext cx="2316189" cy="535362"/>
          </a:xfrm>
          <a:prstGeom prst="roundRect">
            <a:avLst>
              <a:gd name="adj" fmla="val 50000"/>
            </a:avLst>
          </a:prstGeom>
          <a:solidFill>
            <a:schemeClr val="bg1">
              <a:alpha val="8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200" b="1" i="0" u="none" strike="noStrike" kern="1200" cap="none" spc="0" normalizeH="0" baseline="0" noProof="0">
                <a:ln>
                  <a:noFill/>
                </a:ln>
                <a:solidFill>
                  <a:srgbClr val="003399"/>
                </a:solidFill>
                <a:effectLst/>
                <a:uLnTx/>
                <a:uFillTx/>
                <a:latin typeface="Yekan Bakh" pitchFamily="2" charset="-78"/>
                <a:ea typeface="Yekan Bakh" pitchFamily="2" charset="-78"/>
                <a:cs typeface="Yekan Bakh" pitchFamily="2" charset="-78"/>
              </a:rPr>
              <a:t>حرفه‌ای بودن</a:t>
            </a:r>
          </a:p>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3399"/>
                </a:solidFill>
                <a:effectLst/>
                <a:uLnTx/>
                <a:uFillTx/>
                <a:latin typeface="Yekan Bakh" pitchFamily="2" charset="-78"/>
                <a:ea typeface="Yekan Bakh" pitchFamily="2" charset="-78"/>
                <a:cs typeface="Yekan Bakh" pitchFamily="2" charset="-78"/>
              </a:rPr>
              <a:t>Professional Excellence</a:t>
            </a:r>
          </a:p>
        </p:txBody>
      </p:sp>
      <p:sp>
        <p:nvSpPr>
          <p:cNvPr id="25" name="Rectangle: Rounded Corners 24">
            <a:extLst>
              <a:ext uri="{FF2B5EF4-FFF2-40B4-BE49-F238E27FC236}">
                <a16:creationId xmlns:a16="http://schemas.microsoft.com/office/drawing/2014/main" id="{22E5CE04-B8FD-0515-F1FE-ABE5C8E962CF}"/>
              </a:ext>
            </a:extLst>
          </p:cNvPr>
          <p:cNvSpPr/>
          <p:nvPr/>
        </p:nvSpPr>
        <p:spPr>
          <a:xfrm>
            <a:off x="1356835" y="5096442"/>
            <a:ext cx="2316189" cy="535362"/>
          </a:xfrm>
          <a:prstGeom prst="roundRect">
            <a:avLst>
              <a:gd name="adj" fmla="val 50000"/>
            </a:avLst>
          </a:prstGeom>
          <a:solidFill>
            <a:schemeClr val="bg1">
              <a:alpha val="8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200" b="1" i="0" u="none" strike="noStrike" kern="1200" cap="none" spc="0" normalizeH="0" baseline="0" noProof="0" dirty="0">
                <a:ln>
                  <a:noFill/>
                </a:ln>
                <a:solidFill>
                  <a:srgbClr val="003399"/>
                </a:solidFill>
                <a:effectLst/>
                <a:uLnTx/>
                <a:uFillTx/>
                <a:latin typeface="Yekan Bakh" pitchFamily="2" charset="-78"/>
                <a:ea typeface="Yekan Bakh" pitchFamily="2" charset="-78"/>
                <a:cs typeface="Yekan Bakh" pitchFamily="2" charset="-78"/>
              </a:rPr>
              <a:t>نتیجه‌گرایی</a:t>
            </a:r>
          </a:p>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3399"/>
                </a:solidFill>
                <a:effectLst/>
                <a:uLnTx/>
                <a:uFillTx/>
                <a:latin typeface="Yekan Bakh" pitchFamily="2" charset="-78"/>
                <a:ea typeface="Yekan Bakh" pitchFamily="2" charset="-78"/>
                <a:cs typeface="Yekan Bakh" pitchFamily="2" charset="-78"/>
              </a:rPr>
              <a:t>Outcome Driven</a:t>
            </a:r>
          </a:p>
        </p:txBody>
      </p:sp>
    </p:spTree>
    <p:extLst>
      <p:ext uri="{BB962C8B-B14F-4D97-AF65-F5344CB8AC3E}">
        <p14:creationId xmlns:p14="http://schemas.microsoft.com/office/powerpoint/2010/main" val="1390852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p:tgtEl>
                                          <p:spTgt spid="1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fade">
                                      <p:cBhvr>
                                        <p:cTn id="15" dur="500"/>
                                        <p:tgtEl>
                                          <p:spTgt spid="3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500"/>
                                        <p:tgtEl>
                                          <p:spTgt spid="1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fade">
                                      <p:cBhvr>
                                        <p:cTn id="23" dur="500"/>
                                        <p:tgtEl>
                                          <p:spTgt spid="2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6" grpId="0" animBg="1"/>
      <p:bldP spid="30" grpId="0" animBg="1"/>
      <p:bldP spid="17" grpId="0" animBg="1"/>
      <p:bldP spid="24" grpId="0" animBg="1"/>
      <p:bldP spid="2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144ED3C-FC71-279B-6EAC-FCE0FC974253}"/>
              </a:ext>
            </a:extLst>
          </p:cNvPr>
          <p:cNvSpPr>
            <a:spLocks noGrp="1"/>
          </p:cNvSpPr>
          <p:nvPr>
            <p:ph type="body" sz="quarter" idx="10"/>
          </p:nvPr>
        </p:nvSpPr>
        <p:spPr/>
        <p:txBody>
          <a:bodyPr/>
          <a:lstStyle/>
          <a:p>
            <a:endParaRPr lang="en-GB" dirty="0"/>
          </a:p>
        </p:txBody>
      </p:sp>
      <p:sp>
        <p:nvSpPr>
          <p:cNvPr id="3" name="Text Placeholder 2">
            <a:extLst>
              <a:ext uri="{FF2B5EF4-FFF2-40B4-BE49-F238E27FC236}">
                <a16:creationId xmlns:a16="http://schemas.microsoft.com/office/drawing/2014/main" id="{6D9CEF05-D1AA-5547-445E-C0390A00589A}"/>
              </a:ext>
            </a:extLst>
          </p:cNvPr>
          <p:cNvSpPr>
            <a:spLocks noGrp="1"/>
          </p:cNvSpPr>
          <p:nvPr>
            <p:ph type="body" sz="quarter" idx="12"/>
          </p:nvPr>
        </p:nvSpPr>
        <p:spPr/>
        <p:txBody>
          <a:bodyPr/>
          <a:lstStyle/>
          <a:p>
            <a:r>
              <a:rPr lang="fa-IR" dirty="0"/>
              <a:t>فرضیات کلیدی کسب‌وکار (۳/۱) </a:t>
            </a:r>
          </a:p>
          <a:p>
            <a:endParaRPr lang="en-GB" dirty="0"/>
          </a:p>
        </p:txBody>
      </p:sp>
      <p:graphicFrame>
        <p:nvGraphicFramePr>
          <p:cNvPr id="5" name="Table 4">
            <a:extLst>
              <a:ext uri="{FF2B5EF4-FFF2-40B4-BE49-F238E27FC236}">
                <a16:creationId xmlns:a16="http://schemas.microsoft.com/office/drawing/2014/main" id="{91BD7E3D-DBC8-7D07-17D2-1369BCD90DD9}"/>
              </a:ext>
            </a:extLst>
          </p:cNvPr>
          <p:cNvGraphicFramePr>
            <a:graphicFrameLocks noGrp="1"/>
          </p:cNvGraphicFramePr>
          <p:nvPr>
            <p:extLst>
              <p:ext uri="{D42A27DB-BD31-4B8C-83A1-F6EECF244321}">
                <p14:modId xmlns:p14="http://schemas.microsoft.com/office/powerpoint/2010/main" val="2468077285"/>
              </p:ext>
            </p:extLst>
          </p:nvPr>
        </p:nvGraphicFramePr>
        <p:xfrm>
          <a:off x="908779" y="1276751"/>
          <a:ext cx="9885493" cy="4334662"/>
        </p:xfrm>
        <a:graphic>
          <a:graphicData uri="http://schemas.openxmlformats.org/drawingml/2006/table">
            <a:tbl>
              <a:tblPr firstRow="1" bandRow="1">
                <a:tableStyleId>{5C22544A-7EE6-4342-B048-85BDC9FD1C3A}</a:tableStyleId>
              </a:tblPr>
              <a:tblGrid>
                <a:gridCol w="7297910">
                  <a:extLst>
                    <a:ext uri="{9D8B030D-6E8A-4147-A177-3AD203B41FA5}">
                      <a16:colId xmlns:a16="http://schemas.microsoft.com/office/drawing/2014/main" val="2225969677"/>
                    </a:ext>
                  </a:extLst>
                </a:gridCol>
                <a:gridCol w="208280">
                  <a:extLst>
                    <a:ext uri="{9D8B030D-6E8A-4147-A177-3AD203B41FA5}">
                      <a16:colId xmlns:a16="http://schemas.microsoft.com/office/drawing/2014/main" val="748224083"/>
                    </a:ext>
                  </a:extLst>
                </a:gridCol>
                <a:gridCol w="2379303">
                  <a:extLst>
                    <a:ext uri="{9D8B030D-6E8A-4147-A177-3AD203B41FA5}">
                      <a16:colId xmlns:a16="http://schemas.microsoft.com/office/drawing/2014/main" val="2250883297"/>
                    </a:ext>
                  </a:extLst>
                </a:gridCol>
              </a:tblGrid>
              <a:tr h="434358">
                <a:tc>
                  <a:txBody>
                    <a:bodyPr/>
                    <a:lstStyle/>
                    <a:p>
                      <a:pPr algn="ctr" rtl="1"/>
                      <a:r>
                        <a:rPr lang="fa-IR" sz="1200" b="1" dirty="0">
                          <a:solidFill>
                            <a:schemeClr val="bg1"/>
                          </a:solidFill>
                          <a:latin typeface="Yekan Bakh" pitchFamily="2" charset="-78"/>
                          <a:ea typeface="Yekan Bakh" pitchFamily="2" charset="-78"/>
                          <a:cs typeface="Yekan Bakh" pitchFamily="2" charset="-78"/>
                        </a:rPr>
                        <a:t>فرضیه</a:t>
                      </a:r>
                      <a:endParaRPr lang="en-US" sz="1200" b="1" dirty="0">
                        <a:solidFill>
                          <a:schemeClr val="bg1"/>
                        </a:solidFill>
                        <a:latin typeface="Yekan Bakh" pitchFamily="2" charset="-78"/>
                        <a:ea typeface="Yekan Bakh" pitchFamily="2" charset="-78"/>
                        <a:cs typeface="Yekan Bakh" pitchFamily="2" charset="-78"/>
                      </a:endParaRPr>
                    </a:p>
                  </a:txBody>
                  <a:tcPr anchor="ctr">
                    <a:solidFill>
                      <a:srgbClr val="1E2761"/>
                    </a:solidFill>
                  </a:tcPr>
                </a:tc>
                <a:tc>
                  <a:txBody>
                    <a:bodyPr/>
                    <a:lstStyle/>
                    <a:p>
                      <a:pPr algn="ctr" rtl="1"/>
                      <a:endParaRPr lang="en-US" sz="1200" b="1" dirty="0">
                        <a:solidFill>
                          <a:schemeClr val="bg1"/>
                        </a:solidFill>
                        <a:latin typeface="Yekan Bakh" pitchFamily="2" charset="-78"/>
                        <a:ea typeface="Yekan Bakh" pitchFamily="2" charset="-78"/>
                        <a:cs typeface="Yekan Bakh" pitchFamily="2" charset="-78"/>
                      </a:endParaRPr>
                    </a:p>
                  </a:txBody>
                  <a:tcPr anchor="ctr">
                    <a:lnB w="12700" cap="flat" cmpd="sng" algn="ctr">
                      <a:noFill/>
                      <a:prstDash val="solid"/>
                      <a:round/>
                      <a:headEnd type="none" w="med" len="med"/>
                      <a:tailEnd type="none" w="med" len="med"/>
                    </a:lnB>
                    <a:noFill/>
                  </a:tcPr>
                </a:tc>
                <a:tc>
                  <a:txBody>
                    <a:bodyPr/>
                    <a:lstStyle/>
                    <a:p>
                      <a:pPr algn="ctr" rtl="1"/>
                      <a:r>
                        <a:rPr lang="fa-IR" sz="1200" b="1" dirty="0">
                          <a:solidFill>
                            <a:schemeClr val="bg1"/>
                          </a:solidFill>
                          <a:latin typeface="Yekan Bakh" pitchFamily="2" charset="-78"/>
                          <a:ea typeface="Yekan Bakh" pitchFamily="2" charset="-78"/>
                          <a:cs typeface="Yekan Bakh" pitchFamily="2" charset="-78"/>
                        </a:rPr>
                        <a:t>حوزه</a:t>
                      </a:r>
                      <a:endParaRPr lang="en-US" sz="1200" b="1" dirty="0">
                        <a:solidFill>
                          <a:schemeClr val="bg1"/>
                        </a:solidFill>
                        <a:latin typeface="Yekan Bakh" pitchFamily="2" charset="-78"/>
                        <a:ea typeface="Yekan Bakh" pitchFamily="2" charset="-78"/>
                        <a:cs typeface="Yekan Bakh" pitchFamily="2" charset="-78"/>
                      </a:endParaRPr>
                    </a:p>
                  </a:txBody>
                  <a:tcPr anchor="ctr">
                    <a:solidFill>
                      <a:srgbClr val="1E2761"/>
                    </a:solidFill>
                  </a:tcPr>
                </a:tc>
                <a:extLst>
                  <a:ext uri="{0D108BD9-81ED-4DB2-BD59-A6C34878D82A}">
                    <a16:rowId xmlns:a16="http://schemas.microsoft.com/office/drawing/2014/main" val="359730985"/>
                  </a:ext>
                </a:extLst>
              </a:tr>
              <a:tr h="580896">
                <a:tc>
                  <a:txBody>
                    <a:bodyPr/>
                    <a:lstStyle/>
                    <a:p>
                      <a:pPr algn="justLow" rtl="1"/>
                      <a:r>
                        <a:rPr lang="fa-IR" sz="900" kern="1200" dirty="0">
                          <a:solidFill>
                            <a:schemeClr val="tx1">
                              <a:lumMod val="50000"/>
                              <a:lumOff val="50000"/>
                            </a:schemeClr>
                          </a:solidFill>
                          <a:latin typeface="Yekan Bakh" pitchFamily="2" charset="-78"/>
                          <a:ea typeface="Yekan Bakh" pitchFamily="2" charset="-78"/>
                          <a:cs typeface="Yekan Bakh" pitchFamily="2" charset="-78"/>
                        </a:rPr>
                        <a:t>فرض می‌شود ترکیب سه بیزینس لاین شامل </a:t>
                      </a:r>
                      <a:r>
                        <a:rPr lang="en-US" sz="900" kern="1200" dirty="0">
                          <a:solidFill>
                            <a:schemeClr val="tx1">
                              <a:lumMod val="50000"/>
                              <a:lumOff val="50000"/>
                            </a:schemeClr>
                          </a:solidFill>
                          <a:latin typeface="Yekan Bakh" pitchFamily="2" charset="-78"/>
                          <a:ea typeface="Yekan Bakh" pitchFamily="2" charset="-78"/>
                          <a:cs typeface="Yekan Bakh" pitchFamily="2" charset="-78"/>
                        </a:rPr>
                        <a:t>Professional</a:t>
                      </a:r>
                      <a:r>
                        <a:rPr lang="fa-IR" sz="900" kern="1200" dirty="0">
                          <a:solidFill>
                            <a:schemeClr val="tx1">
                              <a:lumMod val="50000"/>
                              <a:lumOff val="50000"/>
                            </a:schemeClr>
                          </a:solidFill>
                          <a:latin typeface="Yekan Bakh" pitchFamily="2" charset="-78"/>
                          <a:ea typeface="Yekan Bakh" pitchFamily="2" charset="-78"/>
                          <a:cs typeface="Yekan Bakh" pitchFamily="2" charset="-78"/>
                        </a:rPr>
                        <a:t> </a:t>
                      </a:r>
                      <a:r>
                        <a:rPr lang="en-US" sz="900" kern="1200" dirty="0">
                          <a:solidFill>
                            <a:schemeClr val="tx1">
                              <a:lumMod val="50000"/>
                              <a:lumOff val="50000"/>
                            </a:schemeClr>
                          </a:solidFill>
                          <a:latin typeface="Yekan Bakh" pitchFamily="2" charset="-78"/>
                          <a:ea typeface="Yekan Bakh" pitchFamily="2" charset="-78"/>
                          <a:cs typeface="Yekan Bakh" pitchFamily="2" charset="-78"/>
                        </a:rPr>
                        <a:t>Services، Venture</a:t>
                      </a:r>
                      <a:r>
                        <a:rPr lang="fa-IR" sz="900" kern="1200" dirty="0">
                          <a:solidFill>
                            <a:schemeClr val="tx1">
                              <a:lumMod val="50000"/>
                              <a:lumOff val="50000"/>
                            </a:schemeClr>
                          </a:solidFill>
                          <a:latin typeface="Yekan Bakh" pitchFamily="2" charset="-78"/>
                          <a:ea typeface="Yekan Bakh" pitchFamily="2" charset="-78"/>
                          <a:cs typeface="Yekan Bakh" pitchFamily="2" charset="-78"/>
                        </a:rPr>
                        <a:t> </a:t>
                      </a:r>
                      <a:r>
                        <a:rPr lang="en-US" sz="900" kern="1200" dirty="0">
                          <a:solidFill>
                            <a:schemeClr val="tx1">
                              <a:lumMod val="50000"/>
                              <a:lumOff val="50000"/>
                            </a:schemeClr>
                          </a:solidFill>
                          <a:latin typeface="Yekan Bakh" pitchFamily="2" charset="-78"/>
                          <a:ea typeface="Yekan Bakh" pitchFamily="2" charset="-78"/>
                          <a:cs typeface="Yekan Bakh" pitchFamily="2" charset="-78"/>
                        </a:rPr>
                        <a:t>Building</a:t>
                      </a:r>
                      <a:r>
                        <a:rPr lang="fa-IR" sz="900" kern="1200" dirty="0">
                          <a:solidFill>
                            <a:schemeClr val="tx1">
                              <a:lumMod val="50000"/>
                              <a:lumOff val="50000"/>
                            </a:schemeClr>
                          </a:solidFill>
                          <a:latin typeface="Yekan Bakh" pitchFamily="2" charset="-78"/>
                          <a:ea typeface="Yekan Bakh" pitchFamily="2" charset="-78"/>
                          <a:cs typeface="Yekan Bakh" pitchFamily="2" charset="-78"/>
                        </a:rPr>
                        <a:t> و </a:t>
                      </a:r>
                      <a:r>
                        <a:rPr lang="en-US" sz="900" kern="1200" dirty="0">
                          <a:solidFill>
                            <a:schemeClr val="tx1">
                              <a:lumMod val="50000"/>
                              <a:lumOff val="50000"/>
                            </a:schemeClr>
                          </a:solidFill>
                          <a:latin typeface="Yekan Bakh" pitchFamily="2" charset="-78"/>
                          <a:ea typeface="Yekan Bakh" pitchFamily="2" charset="-78"/>
                          <a:cs typeface="Yekan Bakh" pitchFamily="2" charset="-78"/>
                        </a:rPr>
                        <a:t>Investment</a:t>
                      </a:r>
                      <a:r>
                        <a:rPr lang="fa-IR" sz="900" kern="1200" dirty="0">
                          <a:solidFill>
                            <a:schemeClr val="tx1">
                              <a:lumMod val="50000"/>
                              <a:lumOff val="50000"/>
                            </a:schemeClr>
                          </a:solidFill>
                          <a:latin typeface="Yekan Bakh" pitchFamily="2" charset="-78"/>
                          <a:ea typeface="Yekan Bakh" pitchFamily="2" charset="-78"/>
                          <a:cs typeface="Yekan Bakh" pitchFamily="2" charset="-78"/>
                        </a:rPr>
                        <a:t> می‌تواند یک اکوسیستم یکپارچه ایجاد کند که در آن هم به‌صورت مستقل ارزش‌آفرین باشد و هم برای سایر خطوط بیزینسی فرصت ایجاد کند.</a:t>
                      </a:r>
                      <a:endParaRPr lang="en-US" sz="900" kern="1200" dirty="0">
                        <a:solidFill>
                          <a:schemeClr val="tx1">
                            <a:lumMod val="50000"/>
                            <a:lumOff val="50000"/>
                          </a:schemeClr>
                        </a:solidFill>
                        <a:latin typeface="Yekan Bakh" pitchFamily="2" charset="-78"/>
                        <a:ea typeface="Yekan Bakh" pitchFamily="2" charset="-78"/>
                        <a:cs typeface="Yekan Bakh" pitchFamily="2" charset="-78"/>
                      </a:endParaRPr>
                    </a:p>
                  </a:txBody>
                  <a:tcPr anchor="ctr">
                    <a:lnB w="3175" cap="flat" cmpd="sng" algn="ctr">
                      <a:solidFill>
                        <a:schemeClr val="bg1">
                          <a:lumMod val="85000"/>
                        </a:schemeClr>
                      </a:solidFill>
                      <a:prstDash val="solid"/>
                      <a:round/>
                      <a:headEnd type="none" w="med" len="med"/>
                      <a:tailEnd type="none" w="med" len="med"/>
                    </a:lnB>
                    <a:solidFill>
                      <a:schemeClr val="bg1">
                        <a:lumMod val="95000"/>
                        <a:alpha val="39000"/>
                      </a:schemeClr>
                    </a:solidFill>
                  </a:tcPr>
                </a:tc>
                <a:tc>
                  <a:txBody>
                    <a:bodyPr/>
                    <a:lstStyle/>
                    <a:p>
                      <a:pPr algn="r" rtl="1"/>
                      <a:endParaRPr lang="en-US" sz="1100" dirty="0">
                        <a:solidFill>
                          <a:schemeClr val="tx1">
                            <a:lumMod val="65000"/>
                            <a:lumOff val="35000"/>
                          </a:schemeClr>
                        </a:solidFill>
                        <a:latin typeface="Yekan Bakh" pitchFamily="2" charset="-78"/>
                        <a:ea typeface="Yekan Bakh" pitchFamily="2" charset="-78"/>
                        <a:cs typeface="Yekan Bakh" pitchFamily="2" charset="-78"/>
                      </a:endParaRPr>
                    </a:p>
                  </a:txBody>
                  <a:tcPr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r" rtl="1"/>
                      <a:r>
                        <a:rPr lang="fa-IR" sz="1100" b="1" kern="1200" dirty="0">
                          <a:solidFill>
                            <a:srgbClr val="1E2761"/>
                          </a:solidFill>
                          <a:latin typeface="Yekan Bakh" pitchFamily="2" charset="-78"/>
                          <a:ea typeface="Yekan Bakh" pitchFamily="2" charset="-78"/>
                          <a:cs typeface="Yekan Bakh" pitchFamily="2" charset="-78"/>
                        </a:rPr>
                        <a:t>۱. ساختار کسب‌وکار</a:t>
                      </a:r>
                      <a:endParaRPr lang="en-US" sz="1100" b="1" kern="1200" dirty="0">
                        <a:solidFill>
                          <a:srgbClr val="1E2761"/>
                        </a:solidFill>
                        <a:latin typeface="Yekan Bakh" pitchFamily="2" charset="-78"/>
                        <a:ea typeface="Yekan Bakh" pitchFamily="2" charset="-78"/>
                        <a:cs typeface="Yekan Bakh" pitchFamily="2" charset="-78"/>
                      </a:endParaRPr>
                    </a:p>
                  </a:txBody>
                  <a:tcPr anchor="ctr">
                    <a:lnB w="3175" cap="flat" cmpd="sng" algn="ctr">
                      <a:solidFill>
                        <a:schemeClr val="bg1">
                          <a:lumMod val="85000"/>
                        </a:schemeClr>
                      </a:solidFill>
                      <a:prstDash val="solid"/>
                      <a:round/>
                      <a:headEnd type="none" w="med" len="med"/>
                      <a:tailEnd type="none" w="med" len="med"/>
                    </a:lnB>
                    <a:solidFill>
                      <a:schemeClr val="bg1">
                        <a:lumMod val="95000"/>
                        <a:alpha val="39000"/>
                      </a:schemeClr>
                    </a:solidFill>
                  </a:tcPr>
                </a:tc>
                <a:extLst>
                  <a:ext uri="{0D108BD9-81ED-4DB2-BD59-A6C34878D82A}">
                    <a16:rowId xmlns:a16="http://schemas.microsoft.com/office/drawing/2014/main" val="3008010569"/>
                  </a:ext>
                </a:extLst>
              </a:tr>
              <a:tr h="414926">
                <a:tc>
                  <a:txBody>
                    <a:bodyPr/>
                    <a:lstStyle/>
                    <a:p>
                      <a:pPr algn="justLow" rtl="1"/>
                      <a:r>
                        <a:rPr lang="fa-IR" sz="900" kern="1200" dirty="0">
                          <a:solidFill>
                            <a:schemeClr val="tx1">
                              <a:lumMod val="50000"/>
                              <a:lumOff val="50000"/>
                            </a:schemeClr>
                          </a:solidFill>
                          <a:latin typeface="Yekan Bakh" pitchFamily="2" charset="-78"/>
                          <a:ea typeface="Yekan Bakh" pitchFamily="2" charset="-78"/>
                          <a:cs typeface="Yekan Bakh" pitchFamily="2" charset="-78"/>
                        </a:rPr>
                        <a:t>فرض می‌شود شرکت‌های بین‌المللی به دلیل فاصله سیاسی، تجاری و اطلاعاتی با ایران، برای ورود یا توسعه فعالیت در ایران به یک واسط محلی معتبر و حرفه‌ای نیاز دارند.</a:t>
                      </a:r>
                      <a:endParaRPr lang="en-US" sz="900" kern="1200" dirty="0">
                        <a:solidFill>
                          <a:schemeClr val="tx1">
                            <a:lumMod val="50000"/>
                            <a:lumOff val="50000"/>
                          </a:schemeClr>
                        </a:solidFill>
                        <a:latin typeface="Yekan Bakh" pitchFamily="2" charset="-78"/>
                        <a:ea typeface="Yekan Bakh" pitchFamily="2" charset="-78"/>
                        <a:cs typeface="Yekan Bakh" pitchFamily="2" charset="-78"/>
                      </a:endParaRPr>
                    </a:p>
                  </a:txBody>
                  <a:tcPr anchor="ct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bg1">
                        <a:lumMod val="95000"/>
                        <a:alpha val="39000"/>
                      </a:schemeClr>
                    </a:solidFill>
                  </a:tcPr>
                </a:tc>
                <a:tc>
                  <a:txBody>
                    <a:bodyPr/>
                    <a:lstStyle/>
                    <a:p>
                      <a:pPr algn="r" rtl="1"/>
                      <a:endParaRPr lang="en-US" sz="1100" dirty="0">
                        <a:solidFill>
                          <a:schemeClr val="tx1">
                            <a:lumMod val="65000"/>
                            <a:lumOff val="35000"/>
                          </a:schemeClr>
                        </a:solidFill>
                        <a:latin typeface="Yekan Bakh" pitchFamily="2" charset="-78"/>
                        <a:ea typeface="Yekan Bakh" pitchFamily="2" charset="-78"/>
                        <a:cs typeface="Yekan Bakh" pitchFamily="2" charset="-78"/>
                      </a:endParaRPr>
                    </a:p>
                  </a:txBody>
                  <a:tcPr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r" rtl="1"/>
                      <a:r>
                        <a:rPr lang="fa-IR" sz="1100" b="1" kern="1200" dirty="0">
                          <a:solidFill>
                            <a:srgbClr val="1E2761"/>
                          </a:solidFill>
                          <a:latin typeface="Yekan Bakh" pitchFamily="2" charset="-78"/>
                          <a:ea typeface="Yekan Bakh" pitchFamily="2" charset="-78"/>
                          <a:cs typeface="Yekan Bakh" pitchFamily="2" charset="-78"/>
                        </a:rPr>
                        <a:t>۲. بازار هدف خارجی</a:t>
                      </a:r>
                      <a:endParaRPr lang="en-US" sz="1100" b="1" kern="1200" dirty="0">
                        <a:solidFill>
                          <a:srgbClr val="1E2761"/>
                        </a:solidFill>
                        <a:latin typeface="Yekan Bakh" pitchFamily="2" charset="-78"/>
                        <a:ea typeface="Yekan Bakh" pitchFamily="2" charset="-78"/>
                        <a:cs typeface="Yekan Bakh" pitchFamily="2" charset="-78"/>
                      </a:endParaRPr>
                    </a:p>
                  </a:txBody>
                  <a:tcPr anchor="ct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bg1">
                        <a:lumMod val="95000"/>
                        <a:alpha val="39000"/>
                      </a:schemeClr>
                    </a:solidFill>
                  </a:tcPr>
                </a:tc>
                <a:extLst>
                  <a:ext uri="{0D108BD9-81ED-4DB2-BD59-A6C34878D82A}">
                    <a16:rowId xmlns:a16="http://schemas.microsoft.com/office/drawing/2014/main" val="3602813289"/>
                  </a:ext>
                </a:extLst>
              </a:tr>
              <a:tr h="414926">
                <a:tc>
                  <a:txBody>
                    <a:bodyPr/>
                    <a:lstStyle/>
                    <a:p>
                      <a:pPr algn="justLow" rtl="1"/>
                      <a:r>
                        <a:rPr lang="fa-IR" sz="900" kern="1200" dirty="0">
                          <a:solidFill>
                            <a:schemeClr val="tx1">
                              <a:lumMod val="50000"/>
                              <a:lumOff val="50000"/>
                            </a:schemeClr>
                          </a:solidFill>
                          <a:latin typeface="Yekan Bakh" pitchFamily="2" charset="-78"/>
                          <a:ea typeface="Yekan Bakh" pitchFamily="2" charset="-78"/>
                          <a:cs typeface="Yekan Bakh" pitchFamily="2" charset="-78"/>
                        </a:rPr>
                        <a:t>فرض می‌شود شرکت‌های ایرانی، به‌ویژه در مواجهه با فرصت‌های بین‌المللی، حاضرند برای دسترسی سریع‌تر و کم‌ریسک‌تر به بازار، شریک یا سرمایه‌گذار خارجی از یک واسط حرفه‌ای استفاده کنند.</a:t>
                      </a:r>
                      <a:endParaRPr lang="en-US" sz="900" kern="1200" dirty="0">
                        <a:solidFill>
                          <a:schemeClr val="tx1">
                            <a:lumMod val="50000"/>
                            <a:lumOff val="50000"/>
                          </a:schemeClr>
                        </a:solidFill>
                        <a:latin typeface="Yekan Bakh" pitchFamily="2" charset="-78"/>
                        <a:ea typeface="Yekan Bakh" pitchFamily="2" charset="-78"/>
                        <a:cs typeface="Yekan Bakh" pitchFamily="2" charset="-78"/>
                      </a:endParaRPr>
                    </a:p>
                  </a:txBody>
                  <a:tcPr anchor="ct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bg1">
                        <a:lumMod val="95000"/>
                        <a:alpha val="39000"/>
                      </a:schemeClr>
                    </a:solidFill>
                  </a:tcPr>
                </a:tc>
                <a:tc>
                  <a:txBody>
                    <a:bodyPr/>
                    <a:lstStyle/>
                    <a:p>
                      <a:pPr algn="r" rtl="1"/>
                      <a:endParaRPr lang="en-US" sz="900">
                        <a:solidFill>
                          <a:schemeClr val="tx1">
                            <a:lumMod val="65000"/>
                            <a:lumOff val="35000"/>
                          </a:schemeClr>
                        </a:solidFill>
                        <a:latin typeface="Yekan Bakh" pitchFamily="2" charset="-78"/>
                        <a:ea typeface="Yekan Bakh" pitchFamily="2" charset="-78"/>
                        <a:cs typeface="Yekan Bakh" pitchFamily="2" charset="-78"/>
                      </a:endParaRPr>
                    </a:p>
                  </a:txBody>
                  <a:tcPr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r" rtl="1"/>
                      <a:r>
                        <a:rPr lang="fa-IR" sz="1100" b="1" kern="1200" dirty="0">
                          <a:solidFill>
                            <a:srgbClr val="1E2761"/>
                          </a:solidFill>
                          <a:latin typeface="Yekan Bakh" pitchFamily="2" charset="-78"/>
                          <a:ea typeface="Yekan Bakh" pitchFamily="2" charset="-78"/>
                          <a:cs typeface="Yekan Bakh" pitchFamily="2" charset="-78"/>
                        </a:rPr>
                        <a:t>۳. بازار هدف داخلی</a:t>
                      </a:r>
                      <a:endParaRPr lang="en-US" sz="1100" b="1" kern="1200" dirty="0">
                        <a:solidFill>
                          <a:srgbClr val="1E2761"/>
                        </a:solidFill>
                        <a:latin typeface="Yekan Bakh" pitchFamily="2" charset="-78"/>
                        <a:ea typeface="Yekan Bakh" pitchFamily="2" charset="-78"/>
                        <a:cs typeface="Yekan Bakh" pitchFamily="2" charset="-78"/>
                      </a:endParaRPr>
                    </a:p>
                  </a:txBody>
                  <a:tcPr anchor="ct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bg1">
                        <a:lumMod val="95000"/>
                        <a:alpha val="39000"/>
                      </a:schemeClr>
                    </a:solidFill>
                  </a:tcPr>
                </a:tc>
                <a:extLst>
                  <a:ext uri="{0D108BD9-81ED-4DB2-BD59-A6C34878D82A}">
                    <a16:rowId xmlns:a16="http://schemas.microsoft.com/office/drawing/2014/main" val="1927763593"/>
                  </a:ext>
                </a:extLst>
              </a:tr>
              <a:tr h="414926">
                <a:tc>
                  <a:txBody>
                    <a:bodyPr/>
                    <a:lstStyle/>
                    <a:p>
                      <a:pPr algn="justLow" rtl="1"/>
                      <a:r>
                        <a:rPr lang="fa-IR" sz="900" kern="1200" dirty="0">
                          <a:solidFill>
                            <a:schemeClr val="tx1">
                              <a:lumMod val="50000"/>
                              <a:lumOff val="50000"/>
                            </a:schemeClr>
                          </a:solidFill>
                          <a:latin typeface="Yekan Bakh" pitchFamily="2" charset="-78"/>
                          <a:ea typeface="Yekan Bakh" pitchFamily="2" charset="-78"/>
                          <a:cs typeface="Yekan Bakh" pitchFamily="2" charset="-78"/>
                        </a:rPr>
                        <a:t>فرض می‌شود ارزش اصلی سیمرغ در کاهش دو ریسک کلیدی معاملات بین‌المللی، یعنی «ریسک طرف مقابل» و «ریسک اجرای معامله»، و همچنین کاهش زمان دستیابی به نتیجه است.</a:t>
                      </a:r>
                      <a:endParaRPr lang="en-US" sz="900" kern="1200" dirty="0">
                        <a:solidFill>
                          <a:schemeClr val="tx1">
                            <a:lumMod val="50000"/>
                            <a:lumOff val="50000"/>
                          </a:schemeClr>
                        </a:solidFill>
                        <a:latin typeface="Yekan Bakh" pitchFamily="2" charset="-78"/>
                        <a:ea typeface="Yekan Bakh" pitchFamily="2" charset="-78"/>
                        <a:cs typeface="Yekan Bakh" pitchFamily="2" charset="-78"/>
                      </a:endParaRPr>
                    </a:p>
                  </a:txBody>
                  <a:tcPr anchor="ctr">
                    <a:lnR w="3175" cap="flat" cmpd="sng" algn="ctr">
                      <a:no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bg1">
                        <a:lumMod val="95000"/>
                        <a:alpha val="39000"/>
                      </a:schemeClr>
                    </a:solidFill>
                  </a:tcPr>
                </a:tc>
                <a:tc>
                  <a:txBody>
                    <a:bodyPr/>
                    <a:lstStyle/>
                    <a:p>
                      <a:pPr algn="r" rtl="1"/>
                      <a:endParaRPr lang="en-US" sz="900" dirty="0">
                        <a:solidFill>
                          <a:schemeClr val="tx1">
                            <a:lumMod val="65000"/>
                            <a:lumOff val="35000"/>
                          </a:schemeClr>
                        </a:solidFill>
                        <a:latin typeface="Yekan Bakh" pitchFamily="2" charset="-78"/>
                        <a:ea typeface="Yekan Bakh" pitchFamily="2" charset="-78"/>
                        <a:cs typeface="Yekan Bakh" pitchFamily="2" charset="-78"/>
                      </a:endParaRPr>
                    </a:p>
                  </a:txBody>
                  <a:tcPr anchor="ctr">
                    <a:lnL w="3175"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r" rtl="1"/>
                      <a:r>
                        <a:rPr lang="fa-IR" sz="1100" b="1" kern="1200" dirty="0">
                          <a:solidFill>
                            <a:srgbClr val="1E2761"/>
                          </a:solidFill>
                          <a:latin typeface="Yekan Bakh" pitchFamily="2" charset="-78"/>
                          <a:ea typeface="Yekan Bakh" pitchFamily="2" charset="-78"/>
                          <a:cs typeface="Yekan Bakh" pitchFamily="2" charset="-78"/>
                        </a:rPr>
                        <a:t>۴. ارزش پیشنهادی</a:t>
                      </a:r>
                      <a:endParaRPr lang="en-US" sz="1100" b="1" kern="1200" dirty="0">
                        <a:solidFill>
                          <a:srgbClr val="1E2761"/>
                        </a:solidFill>
                        <a:latin typeface="Yekan Bakh" pitchFamily="2" charset="-78"/>
                        <a:ea typeface="Yekan Bakh" pitchFamily="2" charset="-78"/>
                        <a:cs typeface="Yekan Bakh" pitchFamily="2" charset="-78"/>
                      </a:endParaRPr>
                    </a:p>
                  </a:txBody>
                  <a:tcPr anchor="ct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bg1">
                        <a:lumMod val="95000"/>
                        <a:alpha val="39000"/>
                      </a:schemeClr>
                    </a:solidFill>
                  </a:tcPr>
                </a:tc>
                <a:extLst>
                  <a:ext uri="{0D108BD9-81ED-4DB2-BD59-A6C34878D82A}">
                    <a16:rowId xmlns:a16="http://schemas.microsoft.com/office/drawing/2014/main" val="2592394972"/>
                  </a:ext>
                </a:extLst>
              </a:tr>
              <a:tr h="414926">
                <a:tc>
                  <a:txBody>
                    <a:bodyPr/>
                    <a:lstStyle/>
                    <a:p>
                      <a:pPr algn="justLow" rtl="1"/>
                      <a:r>
                        <a:rPr lang="fa-IR" sz="900" kern="1200" dirty="0">
                          <a:solidFill>
                            <a:schemeClr val="tx1">
                              <a:lumMod val="50000"/>
                              <a:lumOff val="50000"/>
                            </a:schemeClr>
                          </a:solidFill>
                          <a:latin typeface="Yekan Bakh" pitchFamily="2" charset="-78"/>
                          <a:ea typeface="Yekan Bakh" pitchFamily="2" charset="-78"/>
                          <a:cs typeface="Yekan Bakh" pitchFamily="2" charset="-78"/>
                        </a:rPr>
                        <a:t>فرض می‌شود محرک اصلی خرید برای شرکت‌های بزرگ، سرعت و دسترسی است؛ در حالی که برای شرکت‌های کوچک‌تر، هزینه کمتر از ایجاد قابلیت مشابه به‌صورت داخلی است. </a:t>
                      </a:r>
                      <a:endParaRPr lang="en-US" sz="900" kern="1200" dirty="0">
                        <a:solidFill>
                          <a:schemeClr val="tx1">
                            <a:lumMod val="50000"/>
                            <a:lumOff val="50000"/>
                          </a:schemeClr>
                        </a:solidFill>
                        <a:latin typeface="Yekan Bakh" pitchFamily="2" charset="-78"/>
                        <a:ea typeface="Yekan Bakh" pitchFamily="2" charset="-78"/>
                        <a:cs typeface="Yekan Bakh" pitchFamily="2" charset="-78"/>
                      </a:endParaRPr>
                    </a:p>
                  </a:txBody>
                  <a:tcPr anchor="ct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bg1">
                        <a:lumMod val="95000"/>
                        <a:alpha val="39000"/>
                      </a:schemeClr>
                    </a:solidFill>
                  </a:tcPr>
                </a:tc>
                <a:tc>
                  <a:txBody>
                    <a:bodyPr/>
                    <a:lstStyle/>
                    <a:p>
                      <a:pPr algn="r" rtl="1"/>
                      <a:endParaRPr lang="en-US" sz="900">
                        <a:solidFill>
                          <a:schemeClr val="tx1">
                            <a:lumMod val="65000"/>
                            <a:lumOff val="35000"/>
                          </a:schemeClr>
                        </a:solidFill>
                        <a:latin typeface="Yekan Bakh" pitchFamily="2" charset="-78"/>
                        <a:ea typeface="Yekan Bakh" pitchFamily="2" charset="-78"/>
                        <a:cs typeface="Yekan Bakh" pitchFamily="2" charset="-78"/>
                      </a:endParaRPr>
                    </a:p>
                  </a:txBody>
                  <a:tcPr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r" rtl="1"/>
                      <a:r>
                        <a:rPr lang="fa-IR" sz="1100" b="1" kern="1200" dirty="0">
                          <a:solidFill>
                            <a:srgbClr val="1E2761"/>
                          </a:solidFill>
                          <a:latin typeface="Yekan Bakh" pitchFamily="2" charset="-78"/>
                          <a:ea typeface="Yekan Bakh" pitchFamily="2" charset="-78"/>
                          <a:cs typeface="Yekan Bakh" pitchFamily="2" charset="-78"/>
                        </a:rPr>
                        <a:t>۵. تفاوت ارزش برای سگمنت‌ها </a:t>
                      </a:r>
                      <a:endParaRPr lang="en-US" sz="1100" b="1" kern="1200" dirty="0">
                        <a:solidFill>
                          <a:srgbClr val="1E2761"/>
                        </a:solidFill>
                        <a:latin typeface="Yekan Bakh" pitchFamily="2" charset="-78"/>
                        <a:ea typeface="Yekan Bakh" pitchFamily="2" charset="-78"/>
                        <a:cs typeface="Yekan Bakh" pitchFamily="2" charset="-78"/>
                      </a:endParaRPr>
                    </a:p>
                  </a:txBody>
                  <a:tcPr anchor="ct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bg1">
                        <a:lumMod val="95000"/>
                        <a:alpha val="39000"/>
                      </a:schemeClr>
                    </a:solidFill>
                  </a:tcPr>
                </a:tc>
                <a:extLst>
                  <a:ext uri="{0D108BD9-81ED-4DB2-BD59-A6C34878D82A}">
                    <a16:rowId xmlns:a16="http://schemas.microsoft.com/office/drawing/2014/main" val="942818257"/>
                  </a:ext>
                </a:extLst>
              </a:tr>
              <a:tr h="414926">
                <a:tc>
                  <a:txBody>
                    <a:bodyPr/>
                    <a:lstStyle/>
                    <a:p>
                      <a:pPr algn="justLow" rtl="1"/>
                      <a:r>
                        <a:rPr lang="fa-IR" sz="900" kern="1200" dirty="0">
                          <a:solidFill>
                            <a:schemeClr val="tx1">
                              <a:lumMod val="50000"/>
                              <a:lumOff val="50000"/>
                            </a:schemeClr>
                          </a:solidFill>
                          <a:latin typeface="Yekan Bakh" pitchFamily="2" charset="-78"/>
                          <a:ea typeface="Yekan Bakh" pitchFamily="2" charset="-78"/>
                          <a:cs typeface="Yekan Bakh" pitchFamily="2" charset="-78"/>
                        </a:rPr>
                        <a:t>فرض می‌شود مشتریان حاضرند از ابتدای فرآیند، بابت معرفی، ارتباط‌سازی و آماده‌سازی معامله قرارداد ببندند و درآمد سیمرغ صرفاً به </a:t>
                      </a:r>
                      <a:r>
                        <a:rPr lang="en-US" sz="900" kern="1200" dirty="0">
                          <a:solidFill>
                            <a:schemeClr val="tx1">
                              <a:lumMod val="50000"/>
                              <a:lumOff val="50000"/>
                            </a:schemeClr>
                          </a:solidFill>
                          <a:latin typeface="Yekan Bakh" pitchFamily="2" charset="-78"/>
                          <a:ea typeface="Yekan Bakh" pitchFamily="2" charset="-78"/>
                          <a:cs typeface="Yekan Bakh" pitchFamily="2" charset="-78"/>
                        </a:rPr>
                        <a:t>Success Fee</a:t>
                      </a:r>
                      <a:r>
                        <a:rPr lang="fa-IR" sz="900" kern="1200" dirty="0">
                          <a:solidFill>
                            <a:schemeClr val="tx1">
                              <a:lumMod val="50000"/>
                              <a:lumOff val="50000"/>
                            </a:schemeClr>
                          </a:solidFill>
                          <a:latin typeface="Yekan Bakh" pitchFamily="2" charset="-78"/>
                          <a:ea typeface="Yekan Bakh" pitchFamily="2" charset="-78"/>
                          <a:cs typeface="Yekan Bakh" pitchFamily="2" charset="-78"/>
                        </a:rPr>
                        <a:t> نهایی وابسته نباشد.</a:t>
                      </a:r>
                      <a:endParaRPr lang="en-US" sz="900" kern="1200" dirty="0">
                        <a:solidFill>
                          <a:schemeClr val="tx1">
                            <a:lumMod val="50000"/>
                            <a:lumOff val="50000"/>
                          </a:schemeClr>
                        </a:solidFill>
                        <a:latin typeface="Yekan Bakh" pitchFamily="2" charset="-78"/>
                        <a:ea typeface="Yekan Bakh" pitchFamily="2" charset="-78"/>
                        <a:cs typeface="Yekan Bakh" pitchFamily="2" charset="-78"/>
                      </a:endParaRPr>
                    </a:p>
                  </a:txBody>
                  <a:tcPr anchor="ct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bg1">
                        <a:lumMod val="95000"/>
                        <a:alpha val="39000"/>
                      </a:schemeClr>
                    </a:solidFill>
                  </a:tcPr>
                </a:tc>
                <a:tc>
                  <a:txBody>
                    <a:bodyPr/>
                    <a:lstStyle/>
                    <a:p>
                      <a:pPr algn="r" rtl="1"/>
                      <a:endParaRPr lang="en-US" sz="900" dirty="0">
                        <a:solidFill>
                          <a:schemeClr val="tx1">
                            <a:lumMod val="65000"/>
                            <a:lumOff val="35000"/>
                          </a:schemeClr>
                        </a:solidFill>
                        <a:latin typeface="Yekan Bakh" pitchFamily="2" charset="-78"/>
                        <a:ea typeface="Yekan Bakh" pitchFamily="2" charset="-78"/>
                        <a:cs typeface="Yekan Bakh" pitchFamily="2" charset="-78"/>
                      </a:endParaRPr>
                    </a:p>
                  </a:txBody>
                  <a:tcPr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r" rtl="1"/>
                      <a:r>
                        <a:rPr lang="fa-IR" sz="1100" b="1" kern="1200" dirty="0">
                          <a:solidFill>
                            <a:srgbClr val="1E2761"/>
                          </a:solidFill>
                          <a:latin typeface="Yekan Bakh" pitchFamily="2" charset="-78"/>
                          <a:ea typeface="Yekan Bakh" pitchFamily="2" charset="-78"/>
                          <a:cs typeface="Yekan Bakh" pitchFamily="2" charset="-78"/>
                        </a:rPr>
                        <a:t>۶. مدل درآمدی</a:t>
                      </a:r>
                      <a:endParaRPr lang="en-US" sz="1100" b="1" kern="1200" dirty="0">
                        <a:solidFill>
                          <a:srgbClr val="1E2761"/>
                        </a:solidFill>
                        <a:latin typeface="Yekan Bakh" pitchFamily="2" charset="-78"/>
                        <a:ea typeface="Yekan Bakh" pitchFamily="2" charset="-78"/>
                        <a:cs typeface="Yekan Bakh" pitchFamily="2" charset="-78"/>
                      </a:endParaRPr>
                    </a:p>
                  </a:txBody>
                  <a:tcPr anchor="ct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bg1">
                        <a:lumMod val="95000"/>
                        <a:alpha val="39000"/>
                      </a:schemeClr>
                    </a:solidFill>
                  </a:tcPr>
                </a:tc>
                <a:extLst>
                  <a:ext uri="{0D108BD9-81ED-4DB2-BD59-A6C34878D82A}">
                    <a16:rowId xmlns:a16="http://schemas.microsoft.com/office/drawing/2014/main" val="2280365725"/>
                  </a:ext>
                </a:extLst>
              </a:tr>
              <a:tr h="414926">
                <a:tc>
                  <a:txBody>
                    <a:bodyPr/>
                    <a:lstStyle/>
                    <a:p>
                      <a:pPr marL="0" marR="0" lvl="0" indent="0" algn="justLow" defTabSz="1021516" rtl="1" eaLnBrk="1" fontAlgn="auto" latinLnBrk="0" hangingPunct="1">
                        <a:lnSpc>
                          <a:spcPct val="100000"/>
                        </a:lnSpc>
                        <a:spcBef>
                          <a:spcPts val="0"/>
                        </a:spcBef>
                        <a:spcAft>
                          <a:spcPts val="0"/>
                        </a:spcAft>
                        <a:buClrTx/>
                        <a:buSzTx/>
                        <a:buFontTx/>
                        <a:buNone/>
                        <a:tabLst/>
                        <a:defRPr/>
                      </a:pPr>
                      <a:r>
                        <a:rPr lang="fa-IR" sz="900" kern="1200" dirty="0">
                          <a:solidFill>
                            <a:schemeClr val="tx1">
                              <a:lumMod val="50000"/>
                              <a:lumOff val="50000"/>
                            </a:schemeClr>
                          </a:solidFill>
                          <a:latin typeface="Yekan Bakh" pitchFamily="2" charset="-78"/>
                          <a:ea typeface="Yekan Bakh" pitchFamily="2" charset="-78"/>
                          <a:cs typeface="Yekan Bakh" pitchFamily="2" charset="-78"/>
                        </a:rPr>
                        <a:t>فرض می‌شود حتی پیش از ایجاد گشایش اقتصادی، تقاضای کافی برای خدمات «آماده‌سازی برای ورود به بازار بین‌المللی» وجود دارد و می‌توان از این مرحله درآمد و فرصت جدید ایجاد کرد.</a:t>
                      </a:r>
                      <a:endParaRPr lang="en-US" sz="900" kern="1200" dirty="0">
                        <a:solidFill>
                          <a:schemeClr val="tx1">
                            <a:lumMod val="50000"/>
                            <a:lumOff val="50000"/>
                          </a:schemeClr>
                        </a:solidFill>
                        <a:latin typeface="Yekan Bakh" pitchFamily="2" charset="-78"/>
                        <a:ea typeface="Yekan Bakh" pitchFamily="2" charset="-78"/>
                        <a:cs typeface="Yekan Bakh" pitchFamily="2" charset="-78"/>
                      </a:endParaRPr>
                    </a:p>
                  </a:txBody>
                  <a:tcPr anchor="ct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bg1">
                        <a:lumMod val="95000"/>
                        <a:alpha val="39000"/>
                      </a:schemeClr>
                    </a:solidFill>
                  </a:tcPr>
                </a:tc>
                <a:tc>
                  <a:txBody>
                    <a:bodyPr/>
                    <a:lstStyle/>
                    <a:p>
                      <a:pPr algn="r" rtl="1"/>
                      <a:endParaRPr lang="en-US" sz="900" dirty="0">
                        <a:solidFill>
                          <a:schemeClr val="tx1">
                            <a:lumMod val="65000"/>
                            <a:lumOff val="35000"/>
                          </a:schemeClr>
                        </a:solidFill>
                        <a:latin typeface="Yekan Bakh" pitchFamily="2" charset="-78"/>
                        <a:ea typeface="Yekan Bakh" pitchFamily="2" charset="-78"/>
                        <a:cs typeface="Yekan Bakh" pitchFamily="2" charset="-78"/>
                      </a:endParaRPr>
                    </a:p>
                  </a:txBody>
                  <a:tcPr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r" rtl="1"/>
                      <a:r>
                        <a:rPr lang="fa-IR" sz="1100" b="1" kern="1200" dirty="0">
                          <a:solidFill>
                            <a:srgbClr val="1E2761"/>
                          </a:solidFill>
                          <a:latin typeface="Yekan Bakh" pitchFamily="2" charset="-78"/>
                          <a:ea typeface="Yekan Bakh" pitchFamily="2" charset="-78"/>
                          <a:cs typeface="Yekan Bakh" pitchFamily="2" charset="-78"/>
                        </a:rPr>
                        <a:t>۷. بازار پیش از گشایش اقتصادی</a:t>
                      </a:r>
                      <a:endParaRPr lang="en-US" sz="1100" b="1" kern="1200" dirty="0">
                        <a:solidFill>
                          <a:srgbClr val="1E2761"/>
                        </a:solidFill>
                        <a:latin typeface="Yekan Bakh" pitchFamily="2" charset="-78"/>
                        <a:ea typeface="Yekan Bakh" pitchFamily="2" charset="-78"/>
                        <a:cs typeface="Yekan Bakh" pitchFamily="2" charset="-78"/>
                      </a:endParaRPr>
                    </a:p>
                  </a:txBody>
                  <a:tcPr anchor="ct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bg1">
                        <a:lumMod val="95000"/>
                        <a:alpha val="39000"/>
                      </a:schemeClr>
                    </a:solidFill>
                  </a:tcPr>
                </a:tc>
                <a:extLst>
                  <a:ext uri="{0D108BD9-81ED-4DB2-BD59-A6C34878D82A}">
                    <a16:rowId xmlns:a16="http://schemas.microsoft.com/office/drawing/2014/main" val="3452523160"/>
                  </a:ext>
                </a:extLst>
              </a:tr>
              <a:tr h="414926">
                <a:tc>
                  <a:txBody>
                    <a:bodyPr/>
                    <a:lstStyle/>
                    <a:p>
                      <a:pPr marL="0" marR="0" lvl="0" indent="0" algn="justLow" defTabSz="1021516" rtl="1" eaLnBrk="1" fontAlgn="auto" latinLnBrk="0" hangingPunct="1">
                        <a:lnSpc>
                          <a:spcPct val="100000"/>
                        </a:lnSpc>
                        <a:spcBef>
                          <a:spcPts val="0"/>
                        </a:spcBef>
                        <a:spcAft>
                          <a:spcPts val="0"/>
                        </a:spcAft>
                        <a:buClrTx/>
                        <a:buSzTx/>
                        <a:buFontTx/>
                        <a:buNone/>
                        <a:tabLst/>
                        <a:defRPr/>
                      </a:pPr>
                      <a:r>
                        <a:rPr lang="fa-IR" sz="900" kern="1200" dirty="0">
                          <a:solidFill>
                            <a:schemeClr val="tx1">
                              <a:lumMod val="50000"/>
                              <a:lumOff val="50000"/>
                            </a:schemeClr>
                          </a:solidFill>
                          <a:latin typeface="Yekan Bakh" pitchFamily="2" charset="-78"/>
                          <a:ea typeface="Yekan Bakh" pitchFamily="2" charset="-78"/>
                          <a:cs typeface="Yekan Bakh" pitchFamily="2" charset="-78"/>
                        </a:rPr>
                        <a:t>فرض می‌شود شبکه‌ای از </a:t>
                      </a:r>
                      <a:r>
                        <a:rPr lang="en-US" sz="900" kern="1200" dirty="0">
                          <a:solidFill>
                            <a:schemeClr val="tx1">
                              <a:lumMod val="50000"/>
                              <a:lumOff val="50000"/>
                            </a:schemeClr>
                          </a:solidFill>
                          <a:latin typeface="Yekan Bakh" pitchFamily="2" charset="-78"/>
                          <a:ea typeface="Yekan Bakh" pitchFamily="2" charset="-78"/>
                          <a:cs typeface="Yekan Bakh" pitchFamily="2" charset="-78"/>
                        </a:rPr>
                        <a:t>Partner</a:t>
                      </a:r>
                      <a:r>
                        <a:rPr lang="fa-IR" sz="900" kern="1200" dirty="0">
                          <a:solidFill>
                            <a:schemeClr val="tx1">
                              <a:lumMod val="50000"/>
                              <a:lumOff val="50000"/>
                            </a:schemeClr>
                          </a:solidFill>
                          <a:latin typeface="Yekan Bakh" pitchFamily="2" charset="-78"/>
                          <a:ea typeface="Yekan Bakh" pitchFamily="2" charset="-78"/>
                          <a:cs typeface="Yekan Bakh" pitchFamily="2" charset="-78"/>
                        </a:rPr>
                        <a:t>های تخصصی داخلی و خارجی می‌تواند بخش قابل‌توجهی از ارزیابی، </a:t>
                      </a:r>
                      <a:r>
                        <a:rPr lang="en-US" sz="900" kern="1200" dirty="0">
                          <a:solidFill>
                            <a:schemeClr val="tx1">
                              <a:lumMod val="50000"/>
                              <a:lumOff val="50000"/>
                            </a:schemeClr>
                          </a:solidFill>
                          <a:latin typeface="Yekan Bakh" pitchFamily="2" charset="-78"/>
                          <a:ea typeface="Yekan Bakh" pitchFamily="2" charset="-78"/>
                          <a:cs typeface="Yekan Bakh" pitchFamily="2" charset="-78"/>
                        </a:rPr>
                        <a:t>Due Diligence</a:t>
                      </a:r>
                      <a:r>
                        <a:rPr lang="fa-IR" sz="900" kern="1200" dirty="0">
                          <a:solidFill>
                            <a:schemeClr val="tx1">
                              <a:lumMod val="50000"/>
                              <a:lumOff val="50000"/>
                            </a:schemeClr>
                          </a:solidFill>
                          <a:latin typeface="Yekan Bakh" pitchFamily="2" charset="-78"/>
                          <a:ea typeface="Yekan Bakh" pitchFamily="2" charset="-78"/>
                          <a:cs typeface="Yekan Bakh" pitchFamily="2" charset="-78"/>
                        </a:rPr>
                        <a:t> و خدمات حرفه‌ای موردنیاز معاملات را پوشش دهد و نیاز به ایجاد تمام قابلیت‌ها در داخل سیمرغ را کاهش دهد.</a:t>
                      </a:r>
                      <a:endParaRPr lang="en-US" sz="900" kern="1200" dirty="0">
                        <a:solidFill>
                          <a:schemeClr val="tx1">
                            <a:lumMod val="50000"/>
                            <a:lumOff val="50000"/>
                          </a:schemeClr>
                        </a:solidFill>
                        <a:latin typeface="Yekan Bakh" pitchFamily="2" charset="-78"/>
                        <a:ea typeface="Yekan Bakh" pitchFamily="2" charset="-78"/>
                        <a:cs typeface="Yekan Bakh" pitchFamily="2" charset="-78"/>
                      </a:endParaRPr>
                    </a:p>
                  </a:txBody>
                  <a:tcPr anchor="ct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bg1">
                        <a:lumMod val="95000"/>
                        <a:alpha val="39000"/>
                      </a:schemeClr>
                    </a:solidFill>
                  </a:tcPr>
                </a:tc>
                <a:tc>
                  <a:txBody>
                    <a:bodyPr/>
                    <a:lstStyle/>
                    <a:p>
                      <a:pPr algn="r" rtl="1"/>
                      <a:endParaRPr lang="en-US" sz="900" dirty="0">
                        <a:solidFill>
                          <a:schemeClr val="tx1">
                            <a:lumMod val="65000"/>
                            <a:lumOff val="35000"/>
                          </a:schemeClr>
                        </a:solidFill>
                        <a:latin typeface="Yekan Bakh" pitchFamily="2" charset="-78"/>
                        <a:ea typeface="Yekan Bakh" pitchFamily="2" charset="-78"/>
                        <a:cs typeface="Yekan Bakh" pitchFamily="2" charset="-78"/>
                      </a:endParaRPr>
                    </a:p>
                  </a:txBody>
                  <a:tcPr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r" rtl="1"/>
                      <a:r>
                        <a:rPr lang="fa-IR" sz="1100" b="1" kern="1200" dirty="0">
                          <a:solidFill>
                            <a:srgbClr val="1E2761"/>
                          </a:solidFill>
                          <a:latin typeface="Yekan Bakh" pitchFamily="2" charset="-78"/>
                          <a:ea typeface="Yekan Bakh" pitchFamily="2" charset="-78"/>
                          <a:cs typeface="Yekan Bakh" pitchFamily="2" charset="-78"/>
                        </a:rPr>
                        <a:t>۸. نقش </a:t>
                      </a:r>
                      <a:r>
                        <a:rPr lang="en-US" sz="1100" b="1" kern="1200" dirty="0">
                          <a:solidFill>
                            <a:srgbClr val="1E2761"/>
                          </a:solidFill>
                          <a:latin typeface="Yekan Bakh" pitchFamily="2" charset="-78"/>
                          <a:ea typeface="Yekan Bakh" pitchFamily="2" charset="-78"/>
                          <a:cs typeface="Yekan Bakh" pitchFamily="2" charset="-78"/>
                        </a:rPr>
                        <a:t>Partner</a:t>
                      </a:r>
                      <a:r>
                        <a:rPr lang="fa-IR" sz="1100" b="1" kern="1200" dirty="0">
                          <a:solidFill>
                            <a:srgbClr val="1E2761"/>
                          </a:solidFill>
                          <a:latin typeface="Yekan Bakh" pitchFamily="2" charset="-78"/>
                          <a:ea typeface="Yekan Bakh" pitchFamily="2" charset="-78"/>
                          <a:cs typeface="Yekan Bakh" pitchFamily="2" charset="-78"/>
                        </a:rPr>
                        <a:t>ها</a:t>
                      </a:r>
                      <a:endParaRPr lang="en-US" sz="1100" b="1" kern="1200" dirty="0">
                        <a:solidFill>
                          <a:srgbClr val="1E2761"/>
                        </a:solidFill>
                        <a:latin typeface="Yekan Bakh" pitchFamily="2" charset="-78"/>
                        <a:ea typeface="Yekan Bakh" pitchFamily="2" charset="-78"/>
                        <a:cs typeface="Yekan Bakh" pitchFamily="2" charset="-78"/>
                      </a:endParaRPr>
                    </a:p>
                  </a:txBody>
                  <a:tcPr anchor="ct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bg1">
                        <a:lumMod val="95000"/>
                        <a:alpha val="39000"/>
                      </a:schemeClr>
                    </a:solidFill>
                  </a:tcPr>
                </a:tc>
                <a:extLst>
                  <a:ext uri="{0D108BD9-81ED-4DB2-BD59-A6C34878D82A}">
                    <a16:rowId xmlns:a16="http://schemas.microsoft.com/office/drawing/2014/main" val="1467917733"/>
                  </a:ext>
                </a:extLst>
              </a:tr>
              <a:tr h="414926">
                <a:tc>
                  <a:txBody>
                    <a:bodyPr/>
                    <a:lstStyle/>
                    <a:p>
                      <a:pPr algn="justLow" rtl="1"/>
                      <a:r>
                        <a:rPr lang="fa-IR" sz="900" kern="1200" dirty="0">
                          <a:solidFill>
                            <a:schemeClr val="tx1">
                              <a:lumMod val="50000"/>
                              <a:lumOff val="50000"/>
                            </a:schemeClr>
                          </a:solidFill>
                          <a:latin typeface="Yekan Bakh" pitchFamily="2" charset="-78"/>
                          <a:ea typeface="Yekan Bakh" pitchFamily="2" charset="-78"/>
                          <a:cs typeface="Yekan Bakh" pitchFamily="2" charset="-78"/>
                        </a:rPr>
                        <a:t>فرض می‌شود همکاری با برندهای معتبر بین‌المللی در حوزه‌هایی مانند </a:t>
                      </a:r>
                      <a:r>
                        <a:rPr lang="en-US" sz="900" kern="1200" dirty="0">
                          <a:solidFill>
                            <a:schemeClr val="tx1">
                              <a:lumMod val="50000"/>
                              <a:lumOff val="50000"/>
                            </a:schemeClr>
                          </a:solidFill>
                          <a:latin typeface="Yekan Bakh" pitchFamily="2" charset="-78"/>
                          <a:ea typeface="Yekan Bakh" pitchFamily="2" charset="-78"/>
                          <a:cs typeface="Yekan Bakh" pitchFamily="2" charset="-78"/>
                        </a:rPr>
                        <a:t>Audit، Legal</a:t>
                      </a:r>
                      <a:r>
                        <a:rPr lang="fa-IR" sz="900" kern="1200" dirty="0">
                          <a:solidFill>
                            <a:schemeClr val="tx1">
                              <a:lumMod val="50000"/>
                              <a:lumOff val="50000"/>
                            </a:schemeClr>
                          </a:solidFill>
                          <a:latin typeface="Yekan Bakh" pitchFamily="2" charset="-78"/>
                          <a:ea typeface="Yekan Bakh" pitchFamily="2" charset="-78"/>
                          <a:cs typeface="Yekan Bakh" pitchFamily="2" charset="-78"/>
                        </a:rPr>
                        <a:t> و </a:t>
                      </a:r>
                      <a:r>
                        <a:rPr lang="en-US" sz="900" kern="1200" dirty="0">
                          <a:solidFill>
                            <a:schemeClr val="tx1">
                              <a:lumMod val="50000"/>
                              <a:lumOff val="50000"/>
                            </a:schemeClr>
                          </a:solidFill>
                          <a:latin typeface="Yekan Bakh" pitchFamily="2" charset="-78"/>
                          <a:ea typeface="Yekan Bakh" pitchFamily="2" charset="-78"/>
                          <a:cs typeface="Yekan Bakh" pitchFamily="2" charset="-78"/>
                        </a:rPr>
                        <a:t>Due Diligence، </a:t>
                      </a:r>
                      <a:r>
                        <a:rPr lang="fa-IR" sz="900" kern="1200" dirty="0">
                          <a:solidFill>
                            <a:schemeClr val="tx1">
                              <a:lumMod val="50000"/>
                              <a:lumOff val="50000"/>
                            </a:schemeClr>
                          </a:solidFill>
                          <a:latin typeface="Yekan Bakh" pitchFamily="2" charset="-78"/>
                          <a:ea typeface="Yekan Bakh" pitchFamily="2" charset="-78"/>
                          <a:cs typeface="Yekan Bakh" pitchFamily="2" charset="-78"/>
                        </a:rPr>
                        <a:t>به‌طور معناداری اعتماد</a:t>
                      </a:r>
                      <a:r>
                        <a:rPr lang="en-US" sz="900" kern="1200" dirty="0">
                          <a:solidFill>
                            <a:schemeClr val="tx1">
                              <a:lumMod val="50000"/>
                              <a:lumOff val="50000"/>
                            </a:schemeClr>
                          </a:solidFill>
                          <a:latin typeface="Yekan Bakh" pitchFamily="2" charset="-78"/>
                          <a:ea typeface="Yekan Bakh" pitchFamily="2" charset="-78"/>
                          <a:cs typeface="Yekan Bakh" pitchFamily="2" charset="-78"/>
                        </a:rPr>
                        <a:t> </a:t>
                      </a:r>
                      <a:r>
                        <a:rPr lang="fa-IR" sz="900" kern="1200" dirty="0">
                          <a:solidFill>
                            <a:schemeClr val="tx1">
                              <a:lumMod val="50000"/>
                              <a:lumOff val="50000"/>
                            </a:schemeClr>
                          </a:solidFill>
                          <a:latin typeface="Yekan Bakh" pitchFamily="2" charset="-78"/>
                          <a:ea typeface="Yekan Bakh" pitchFamily="2" charset="-78"/>
                          <a:cs typeface="Yekan Bakh" pitchFamily="2" charset="-78"/>
                        </a:rPr>
                        <a:t>شرکت‌های خارجی نسبت به سیمرغ را افزایش می‌دهد.</a:t>
                      </a:r>
                      <a:endParaRPr lang="en-US" sz="900" kern="1200" dirty="0">
                        <a:solidFill>
                          <a:schemeClr val="tx1">
                            <a:lumMod val="50000"/>
                            <a:lumOff val="50000"/>
                          </a:schemeClr>
                        </a:solidFill>
                        <a:latin typeface="Yekan Bakh" pitchFamily="2" charset="-78"/>
                        <a:ea typeface="Yekan Bakh" pitchFamily="2" charset="-78"/>
                        <a:cs typeface="Yekan Bakh" pitchFamily="2" charset="-78"/>
                      </a:endParaRPr>
                    </a:p>
                  </a:txBody>
                  <a:tcPr anchor="ctr">
                    <a:lnT w="317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alpha val="39000"/>
                      </a:schemeClr>
                    </a:solidFill>
                  </a:tcPr>
                </a:tc>
                <a:tc>
                  <a:txBody>
                    <a:bodyPr/>
                    <a:lstStyle/>
                    <a:p>
                      <a:pPr algn="r" rtl="1"/>
                      <a:endParaRPr lang="en-US" sz="900" dirty="0">
                        <a:solidFill>
                          <a:schemeClr val="tx1">
                            <a:lumMod val="65000"/>
                            <a:lumOff val="35000"/>
                          </a:schemeClr>
                        </a:solidFill>
                        <a:latin typeface="Yekan Bakh" pitchFamily="2" charset="-78"/>
                        <a:ea typeface="Yekan Bakh" pitchFamily="2" charset="-78"/>
                        <a:cs typeface="Yekan Bakh" pitchFamily="2" charset="-78"/>
                      </a:endParaRPr>
                    </a:p>
                  </a:txBody>
                  <a:tcPr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r" rtl="1"/>
                      <a:r>
                        <a:rPr lang="fa-IR" sz="1100" b="1" kern="1200" dirty="0">
                          <a:solidFill>
                            <a:srgbClr val="1E2761"/>
                          </a:solidFill>
                          <a:latin typeface="Yekan Bakh" pitchFamily="2" charset="-78"/>
                          <a:ea typeface="Yekan Bakh" pitchFamily="2" charset="-78"/>
                          <a:cs typeface="Yekan Bakh" pitchFamily="2" charset="-78"/>
                        </a:rPr>
                        <a:t>۹. اعتبار </a:t>
                      </a:r>
                      <a:r>
                        <a:rPr lang="en-US" sz="1100" b="1" kern="1200" dirty="0">
                          <a:solidFill>
                            <a:srgbClr val="1E2761"/>
                          </a:solidFill>
                          <a:latin typeface="Yekan Bakh" pitchFamily="2" charset="-78"/>
                          <a:ea typeface="Yekan Bakh" pitchFamily="2" charset="-78"/>
                          <a:cs typeface="Yekan Bakh" pitchFamily="2" charset="-78"/>
                        </a:rPr>
                        <a:t>Partner</a:t>
                      </a:r>
                      <a:r>
                        <a:rPr lang="fa-IR" sz="1100" b="1" kern="1200" dirty="0">
                          <a:solidFill>
                            <a:srgbClr val="1E2761"/>
                          </a:solidFill>
                          <a:latin typeface="Yekan Bakh" pitchFamily="2" charset="-78"/>
                          <a:ea typeface="Yekan Bakh" pitchFamily="2" charset="-78"/>
                          <a:cs typeface="Yekan Bakh" pitchFamily="2" charset="-78"/>
                        </a:rPr>
                        <a:t>ها</a:t>
                      </a:r>
                      <a:endParaRPr lang="en-US" sz="1100" b="1" kern="1200" dirty="0">
                        <a:solidFill>
                          <a:srgbClr val="1E2761"/>
                        </a:solidFill>
                        <a:latin typeface="Yekan Bakh" pitchFamily="2" charset="-78"/>
                        <a:ea typeface="Yekan Bakh" pitchFamily="2" charset="-78"/>
                        <a:cs typeface="Yekan Bakh" pitchFamily="2" charset="-78"/>
                      </a:endParaRPr>
                    </a:p>
                  </a:txBody>
                  <a:tcPr anchor="ctr">
                    <a:lnT w="317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alpha val="39000"/>
                      </a:schemeClr>
                    </a:solidFill>
                  </a:tcPr>
                </a:tc>
                <a:extLst>
                  <a:ext uri="{0D108BD9-81ED-4DB2-BD59-A6C34878D82A}">
                    <a16:rowId xmlns:a16="http://schemas.microsoft.com/office/drawing/2014/main" val="125146764"/>
                  </a:ext>
                </a:extLst>
              </a:tr>
            </a:tbl>
          </a:graphicData>
        </a:graphic>
      </p:graphicFrame>
    </p:spTree>
    <p:extLst>
      <p:ext uri="{BB962C8B-B14F-4D97-AF65-F5344CB8AC3E}">
        <p14:creationId xmlns:p14="http://schemas.microsoft.com/office/powerpoint/2010/main" val="9272615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FE949E-2BD0-E22A-92EE-CBA1D4AB638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513ACD5-A1DB-1FCD-C451-6D6711DD3D25}"/>
              </a:ext>
            </a:extLst>
          </p:cNvPr>
          <p:cNvSpPr>
            <a:spLocks noGrp="1"/>
          </p:cNvSpPr>
          <p:nvPr>
            <p:ph type="body" sz="quarter" idx="10"/>
          </p:nvPr>
        </p:nvSpPr>
        <p:spPr/>
        <p:txBody>
          <a:bodyPr/>
          <a:lstStyle/>
          <a:p>
            <a:endParaRPr lang="en-GB"/>
          </a:p>
        </p:txBody>
      </p:sp>
      <p:sp>
        <p:nvSpPr>
          <p:cNvPr id="3" name="Text Placeholder 2">
            <a:extLst>
              <a:ext uri="{FF2B5EF4-FFF2-40B4-BE49-F238E27FC236}">
                <a16:creationId xmlns:a16="http://schemas.microsoft.com/office/drawing/2014/main" id="{D5C8F030-91E3-450D-EBAF-C32E9D364E6A}"/>
              </a:ext>
            </a:extLst>
          </p:cNvPr>
          <p:cNvSpPr>
            <a:spLocks noGrp="1"/>
          </p:cNvSpPr>
          <p:nvPr>
            <p:ph type="body" sz="quarter" idx="12"/>
          </p:nvPr>
        </p:nvSpPr>
        <p:spPr/>
        <p:txBody>
          <a:bodyPr/>
          <a:lstStyle/>
          <a:p>
            <a:r>
              <a:rPr lang="fa-IR" dirty="0"/>
              <a:t>فرضیات کلیدی کسب‌وکار (۳/۲) </a:t>
            </a:r>
          </a:p>
          <a:p>
            <a:endParaRPr lang="en-GB" dirty="0"/>
          </a:p>
        </p:txBody>
      </p:sp>
      <p:graphicFrame>
        <p:nvGraphicFramePr>
          <p:cNvPr id="5" name="Table 4">
            <a:extLst>
              <a:ext uri="{FF2B5EF4-FFF2-40B4-BE49-F238E27FC236}">
                <a16:creationId xmlns:a16="http://schemas.microsoft.com/office/drawing/2014/main" id="{85DA6238-7BBB-41A6-6FF1-AB526D794AFE}"/>
              </a:ext>
            </a:extLst>
          </p:cNvPr>
          <p:cNvGraphicFramePr>
            <a:graphicFrameLocks noGrp="1"/>
          </p:cNvGraphicFramePr>
          <p:nvPr>
            <p:extLst>
              <p:ext uri="{D42A27DB-BD31-4B8C-83A1-F6EECF244321}">
                <p14:modId xmlns:p14="http://schemas.microsoft.com/office/powerpoint/2010/main" val="456488593"/>
              </p:ext>
            </p:extLst>
          </p:nvPr>
        </p:nvGraphicFramePr>
        <p:xfrm>
          <a:off x="908779" y="1276751"/>
          <a:ext cx="9885493" cy="4334662"/>
        </p:xfrm>
        <a:graphic>
          <a:graphicData uri="http://schemas.openxmlformats.org/drawingml/2006/table">
            <a:tbl>
              <a:tblPr firstRow="1" bandRow="1">
                <a:tableStyleId>{5C22544A-7EE6-4342-B048-85BDC9FD1C3A}</a:tableStyleId>
              </a:tblPr>
              <a:tblGrid>
                <a:gridCol w="7297910">
                  <a:extLst>
                    <a:ext uri="{9D8B030D-6E8A-4147-A177-3AD203B41FA5}">
                      <a16:colId xmlns:a16="http://schemas.microsoft.com/office/drawing/2014/main" val="2225969677"/>
                    </a:ext>
                  </a:extLst>
                </a:gridCol>
                <a:gridCol w="208280">
                  <a:extLst>
                    <a:ext uri="{9D8B030D-6E8A-4147-A177-3AD203B41FA5}">
                      <a16:colId xmlns:a16="http://schemas.microsoft.com/office/drawing/2014/main" val="748224083"/>
                    </a:ext>
                  </a:extLst>
                </a:gridCol>
                <a:gridCol w="2379303">
                  <a:extLst>
                    <a:ext uri="{9D8B030D-6E8A-4147-A177-3AD203B41FA5}">
                      <a16:colId xmlns:a16="http://schemas.microsoft.com/office/drawing/2014/main" val="2250883297"/>
                    </a:ext>
                  </a:extLst>
                </a:gridCol>
              </a:tblGrid>
              <a:tr h="434358">
                <a:tc>
                  <a:txBody>
                    <a:bodyPr/>
                    <a:lstStyle/>
                    <a:p>
                      <a:pPr algn="ctr" rtl="1"/>
                      <a:r>
                        <a:rPr lang="fa-IR" sz="1200" b="1" dirty="0">
                          <a:solidFill>
                            <a:schemeClr val="bg1"/>
                          </a:solidFill>
                          <a:latin typeface="Yekan Bakh" pitchFamily="2" charset="-78"/>
                          <a:ea typeface="Yekan Bakh" pitchFamily="2" charset="-78"/>
                          <a:cs typeface="Yekan Bakh" pitchFamily="2" charset="-78"/>
                        </a:rPr>
                        <a:t>فرضیه</a:t>
                      </a:r>
                      <a:endParaRPr lang="en-US" sz="1200" b="1" dirty="0">
                        <a:solidFill>
                          <a:schemeClr val="bg1"/>
                        </a:solidFill>
                        <a:latin typeface="Yekan Bakh" pitchFamily="2" charset="-78"/>
                        <a:ea typeface="Yekan Bakh" pitchFamily="2" charset="-78"/>
                        <a:cs typeface="Yekan Bakh" pitchFamily="2" charset="-78"/>
                      </a:endParaRPr>
                    </a:p>
                  </a:txBody>
                  <a:tcPr anchor="ctr">
                    <a:solidFill>
                      <a:srgbClr val="1E2761"/>
                    </a:solidFill>
                  </a:tcPr>
                </a:tc>
                <a:tc>
                  <a:txBody>
                    <a:bodyPr/>
                    <a:lstStyle/>
                    <a:p>
                      <a:pPr algn="ctr" rtl="1"/>
                      <a:endParaRPr lang="en-US" sz="1200" b="1" dirty="0">
                        <a:solidFill>
                          <a:schemeClr val="bg1"/>
                        </a:solidFill>
                        <a:latin typeface="Yekan Bakh" pitchFamily="2" charset="-78"/>
                        <a:ea typeface="Yekan Bakh" pitchFamily="2" charset="-78"/>
                        <a:cs typeface="Yekan Bakh" pitchFamily="2" charset="-78"/>
                      </a:endParaRPr>
                    </a:p>
                  </a:txBody>
                  <a:tcPr anchor="ctr">
                    <a:lnB w="12700" cap="flat" cmpd="sng" algn="ctr">
                      <a:noFill/>
                      <a:prstDash val="solid"/>
                      <a:round/>
                      <a:headEnd type="none" w="med" len="med"/>
                      <a:tailEnd type="none" w="med" len="med"/>
                    </a:lnB>
                    <a:noFill/>
                  </a:tcPr>
                </a:tc>
                <a:tc>
                  <a:txBody>
                    <a:bodyPr/>
                    <a:lstStyle/>
                    <a:p>
                      <a:pPr algn="ctr" rtl="1"/>
                      <a:r>
                        <a:rPr lang="fa-IR" sz="1200" b="1" dirty="0">
                          <a:solidFill>
                            <a:schemeClr val="bg1"/>
                          </a:solidFill>
                          <a:latin typeface="Yekan Bakh" pitchFamily="2" charset="-78"/>
                          <a:ea typeface="Yekan Bakh" pitchFamily="2" charset="-78"/>
                          <a:cs typeface="Yekan Bakh" pitchFamily="2" charset="-78"/>
                        </a:rPr>
                        <a:t>حوزه</a:t>
                      </a:r>
                      <a:endParaRPr lang="en-US" sz="1200" b="1" dirty="0">
                        <a:solidFill>
                          <a:schemeClr val="bg1"/>
                        </a:solidFill>
                        <a:latin typeface="Yekan Bakh" pitchFamily="2" charset="-78"/>
                        <a:ea typeface="Yekan Bakh" pitchFamily="2" charset="-78"/>
                        <a:cs typeface="Yekan Bakh" pitchFamily="2" charset="-78"/>
                      </a:endParaRPr>
                    </a:p>
                  </a:txBody>
                  <a:tcPr anchor="ctr">
                    <a:solidFill>
                      <a:srgbClr val="1E2761"/>
                    </a:solidFill>
                  </a:tcPr>
                </a:tc>
                <a:extLst>
                  <a:ext uri="{0D108BD9-81ED-4DB2-BD59-A6C34878D82A}">
                    <a16:rowId xmlns:a16="http://schemas.microsoft.com/office/drawing/2014/main" val="359730985"/>
                  </a:ext>
                </a:extLst>
              </a:tr>
              <a:tr h="580896">
                <a:tc>
                  <a:txBody>
                    <a:bodyPr/>
                    <a:lstStyle/>
                    <a:p>
                      <a:pPr algn="justLow" rtl="1"/>
                      <a:r>
                        <a:rPr lang="fa-IR" sz="900" kern="1200" dirty="0">
                          <a:solidFill>
                            <a:schemeClr val="tx1">
                              <a:lumMod val="50000"/>
                              <a:lumOff val="50000"/>
                            </a:schemeClr>
                          </a:solidFill>
                          <a:latin typeface="Yekan Bakh" pitchFamily="2" charset="-78"/>
                          <a:ea typeface="Yekan Bakh" pitchFamily="2" charset="-78"/>
                          <a:cs typeface="Yekan Bakh" pitchFamily="2" charset="-78"/>
                        </a:rPr>
                        <a:t>فرض می‌شود هسته اصلی سیمرغ و شبکه ارتباطی بنیان‌گذاران در فاز اولیه، مهم‌ترین منبع ایجاد معاملات</a:t>
                      </a:r>
                      <a:r>
                        <a:rPr lang="en-US" sz="900" kern="1200" dirty="0">
                          <a:solidFill>
                            <a:schemeClr val="tx1">
                              <a:lumMod val="50000"/>
                              <a:lumOff val="50000"/>
                            </a:schemeClr>
                          </a:solidFill>
                          <a:latin typeface="Yekan Bakh" pitchFamily="2" charset="-78"/>
                          <a:ea typeface="Yekan Bakh" pitchFamily="2" charset="-78"/>
                          <a:cs typeface="Yekan Bakh" pitchFamily="2" charset="-78"/>
                        </a:rPr>
                        <a:t> </a:t>
                      </a:r>
                      <a:r>
                        <a:rPr lang="fa-IR" sz="900" kern="1200" dirty="0">
                          <a:solidFill>
                            <a:schemeClr val="tx1">
                              <a:lumMod val="50000"/>
                              <a:lumOff val="50000"/>
                            </a:schemeClr>
                          </a:solidFill>
                          <a:latin typeface="Yekan Bakh" pitchFamily="2" charset="-78"/>
                          <a:ea typeface="Yekan Bakh" pitchFamily="2" charset="-78"/>
                          <a:cs typeface="Yekan Bakh" pitchFamily="2" charset="-78"/>
                        </a:rPr>
                        <a:t>و دسترسی به ذی‌نفعان (مشتری) و شرکا (ارائه‌دهندگان خدمات حرفه‌ای)</a:t>
                      </a:r>
                      <a:r>
                        <a:rPr lang="en-US" sz="900" kern="1200" dirty="0">
                          <a:solidFill>
                            <a:schemeClr val="tx1">
                              <a:lumMod val="50000"/>
                              <a:lumOff val="50000"/>
                            </a:schemeClr>
                          </a:solidFill>
                          <a:latin typeface="Yekan Bakh" pitchFamily="2" charset="-78"/>
                          <a:ea typeface="Yekan Bakh" pitchFamily="2" charset="-78"/>
                          <a:cs typeface="Yekan Bakh" pitchFamily="2" charset="-78"/>
                        </a:rPr>
                        <a:t> </a:t>
                      </a:r>
                      <a:r>
                        <a:rPr lang="fa-IR" sz="900" kern="1200" dirty="0">
                          <a:solidFill>
                            <a:schemeClr val="tx1">
                              <a:lumMod val="50000"/>
                              <a:lumOff val="50000"/>
                            </a:schemeClr>
                          </a:solidFill>
                          <a:latin typeface="Yekan Bakh" pitchFamily="2" charset="-78"/>
                          <a:ea typeface="Yekan Bakh" pitchFamily="2" charset="-78"/>
                          <a:cs typeface="Yekan Bakh" pitchFamily="2" charset="-78"/>
                        </a:rPr>
                        <a:t>خواهد بود.</a:t>
                      </a:r>
                      <a:endParaRPr lang="en-US" sz="900" kern="1200" dirty="0">
                        <a:solidFill>
                          <a:schemeClr val="tx1">
                            <a:lumMod val="50000"/>
                            <a:lumOff val="50000"/>
                          </a:schemeClr>
                        </a:solidFill>
                        <a:latin typeface="Yekan Bakh" pitchFamily="2" charset="-78"/>
                        <a:ea typeface="Yekan Bakh" pitchFamily="2" charset="-78"/>
                        <a:cs typeface="Yekan Bakh" pitchFamily="2" charset="-78"/>
                      </a:endParaRPr>
                    </a:p>
                  </a:txBody>
                  <a:tcPr anchor="ctr">
                    <a:lnB w="3175" cap="flat" cmpd="sng" algn="ctr">
                      <a:solidFill>
                        <a:schemeClr val="bg1">
                          <a:lumMod val="85000"/>
                        </a:schemeClr>
                      </a:solidFill>
                      <a:prstDash val="solid"/>
                      <a:round/>
                      <a:headEnd type="none" w="med" len="med"/>
                      <a:tailEnd type="none" w="med" len="med"/>
                    </a:lnB>
                    <a:solidFill>
                      <a:schemeClr val="bg1">
                        <a:lumMod val="95000"/>
                        <a:alpha val="39000"/>
                      </a:schemeClr>
                    </a:solidFill>
                  </a:tcPr>
                </a:tc>
                <a:tc>
                  <a:txBody>
                    <a:bodyPr/>
                    <a:lstStyle/>
                    <a:p>
                      <a:pPr algn="r" rtl="1"/>
                      <a:endParaRPr lang="en-US" sz="1100" dirty="0">
                        <a:solidFill>
                          <a:schemeClr val="tx1">
                            <a:lumMod val="65000"/>
                            <a:lumOff val="35000"/>
                          </a:schemeClr>
                        </a:solidFill>
                        <a:latin typeface="Yekan Bakh" pitchFamily="2" charset="-78"/>
                        <a:ea typeface="Yekan Bakh" pitchFamily="2" charset="-78"/>
                        <a:cs typeface="Yekan Bakh" pitchFamily="2" charset="-78"/>
                      </a:endParaRPr>
                    </a:p>
                  </a:txBody>
                  <a:tcPr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r" rtl="1"/>
                      <a:r>
                        <a:rPr lang="fa-IR" sz="1100" b="1" kern="1200" dirty="0">
                          <a:solidFill>
                            <a:srgbClr val="1E2761"/>
                          </a:solidFill>
                          <a:latin typeface="Yekan Bakh" pitchFamily="2" charset="-78"/>
                          <a:ea typeface="Yekan Bakh" pitchFamily="2" charset="-78"/>
                          <a:cs typeface="Yekan Bakh" pitchFamily="2" charset="-78"/>
                        </a:rPr>
                        <a:t>10. مزیت </a:t>
                      </a:r>
                      <a:r>
                        <a:rPr lang="en-US" sz="1100" b="1" kern="1200" dirty="0">
                          <a:solidFill>
                            <a:srgbClr val="1E2761"/>
                          </a:solidFill>
                          <a:latin typeface="Yekan Bakh" pitchFamily="2" charset="-78"/>
                          <a:ea typeface="Yekan Bakh" pitchFamily="2" charset="-78"/>
                          <a:cs typeface="Yekan Bakh" pitchFamily="2" charset="-78"/>
                        </a:rPr>
                        <a:t>Core Team</a:t>
                      </a:r>
                    </a:p>
                  </a:txBody>
                  <a:tcPr anchor="ctr">
                    <a:lnB w="3175" cap="flat" cmpd="sng" algn="ctr">
                      <a:solidFill>
                        <a:schemeClr val="bg1">
                          <a:lumMod val="85000"/>
                        </a:schemeClr>
                      </a:solidFill>
                      <a:prstDash val="solid"/>
                      <a:round/>
                      <a:headEnd type="none" w="med" len="med"/>
                      <a:tailEnd type="none" w="med" len="med"/>
                    </a:lnB>
                    <a:solidFill>
                      <a:schemeClr val="bg1">
                        <a:lumMod val="95000"/>
                        <a:alpha val="39000"/>
                      </a:schemeClr>
                    </a:solidFill>
                  </a:tcPr>
                </a:tc>
                <a:extLst>
                  <a:ext uri="{0D108BD9-81ED-4DB2-BD59-A6C34878D82A}">
                    <a16:rowId xmlns:a16="http://schemas.microsoft.com/office/drawing/2014/main" val="3008010569"/>
                  </a:ext>
                </a:extLst>
              </a:tr>
              <a:tr h="414926">
                <a:tc>
                  <a:txBody>
                    <a:bodyPr/>
                    <a:lstStyle/>
                    <a:p>
                      <a:pPr algn="justLow" rtl="1"/>
                      <a:r>
                        <a:rPr lang="fa-IR" sz="900" kern="1200" dirty="0">
                          <a:solidFill>
                            <a:schemeClr val="tx1">
                              <a:lumMod val="50000"/>
                              <a:lumOff val="50000"/>
                            </a:schemeClr>
                          </a:solidFill>
                          <a:latin typeface="Yekan Bakh" pitchFamily="2" charset="-78"/>
                          <a:ea typeface="Yekan Bakh" pitchFamily="2" charset="-78"/>
                          <a:cs typeface="Yekan Bakh" pitchFamily="2" charset="-78"/>
                        </a:rPr>
                        <a:t>فرض می‌شود مزیت مبتنی بر روابط شخصی بنیان‌گذاران در بلندمدت قابل تبدیل به یک شبکه و سیستماتیک‌سازی است؛ در غیر این صورت رشد کسب‌وکار به ظرفیت افراد کلیدی محدود خواهد شد.</a:t>
                      </a:r>
                      <a:endParaRPr lang="en-US" sz="900" kern="1200" dirty="0">
                        <a:solidFill>
                          <a:schemeClr val="tx1">
                            <a:lumMod val="50000"/>
                            <a:lumOff val="50000"/>
                          </a:schemeClr>
                        </a:solidFill>
                        <a:latin typeface="Yekan Bakh" pitchFamily="2" charset="-78"/>
                        <a:ea typeface="Yekan Bakh" pitchFamily="2" charset="-78"/>
                        <a:cs typeface="Yekan Bakh" pitchFamily="2" charset="-78"/>
                      </a:endParaRPr>
                    </a:p>
                  </a:txBody>
                  <a:tcPr anchor="ct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bg1">
                        <a:lumMod val="95000"/>
                        <a:alpha val="39000"/>
                      </a:schemeClr>
                    </a:solidFill>
                  </a:tcPr>
                </a:tc>
                <a:tc>
                  <a:txBody>
                    <a:bodyPr/>
                    <a:lstStyle/>
                    <a:p>
                      <a:pPr algn="r" rtl="1"/>
                      <a:endParaRPr lang="en-US" sz="1100" dirty="0">
                        <a:solidFill>
                          <a:schemeClr val="tx1">
                            <a:lumMod val="65000"/>
                            <a:lumOff val="35000"/>
                          </a:schemeClr>
                        </a:solidFill>
                        <a:latin typeface="Yekan Bakh" pitchFamily="2" charset="-78"/>
                        <a:ea typeface="Yekan Bakh" pitchFamily="2" charset="-78"/>
                        <a:cs typeface="Yekan Bakh" pitchFamily="2" charset="-78"/>
                      </a:endParaRPr>
                    </a:p>
                  </a:txBody>
                  <a:tcPr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r" rtl="1"/>
                      <a:r>
                        <a:rPr lang="fa-IR" sz="1100" b="1" kern="1200" dirty="0">
                          <a:solidFill>
                            <a:srgbClr val="1E2761"/>
                          </a:solidFill>
                          <a:latin typeface="Yekan Bakh" pitchFamily="2" charset="-78"/>
                          <a:ea typeface="Yekan Bakh" pitchFamily="2" charset="-78"/>
                          <a:cs typeface="Yekan Bakh" pitchFamily="2" charset="-78"/>
                        </a:rPr>
                        <a:t>11. مقیاس‌پذیری</a:t>
                      </a:r>
                      <a:endParaRPr lang="en-US" sz="1100" b="1" kern="1200" dirty="0">
                        <a:solidFill>
                          <a:srgbClr val="1E2761"/>
                        </a:solidFill>
                        <a:latin typeface="Yekan Bakh" pitchFamily="2" charset="-78"/>
                        <a:ea typeface="Yekan Bakh" pitchFamily="2" charset="-78"/>
                        <a:cs typeface="Yekan Bakh" pitchFamily="2" charset="-78"/>
                      </a:endParaRPr>
                    </a:p>
                  </a:txBody>
                  <a:tcPr anchor="ct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bg1">
                        <a:lumMod val="95000"/>
                        <a:alpha val="39000"/>
                      </a:schemeClr>
                    </a:solidFill>
                  </a:tcPr>
                </a:tc>
                <a:extLst>
                  <a:ext uri="{0D108BD9-81ED-4DB2-BD59-A6C34878D82A}">
                    <a16:rowId xmlns:a16="http://schemas.microsoft.com/office/drawing/2014/main" val="3602813289"/>
                  </a:ext>
                </a:extLst>
              </a:tr>
              <a:tr h="414926">
                <a:tc>
                  <a:txBody>
                    <a:bodyPr/>
                    <a:lstStyle/>
                    <a:p>
                      <a:pPr algn="justLow" rtl="1"/>
                      <a:r>
                        <a:rPr lang="fa-IR" sz="900" kern="1200" dirty="0">
                          <a:solidFill>
                            <a:schemeClr val="tx1">
                              <a:lumMod val="50000"/>
                              <a:lumOff val="50000"/>
                            </a:schemeClr>
                          </a:solidFill>
                          <a:latin typeface="Yekan Bakh" pitchFamily="2" charset="-78"/>
                          <a:ea typeface="Yekan Bakh" pitchFamily="2" charset="-78"/>
                          <a:cs typeface="Yekan Bakh" pitchFamily="2" charset="-78"/>
                        </a:rPr>
                        <a:t>فرض می‌شود در مرحله اول، شهرت و اعتبار برند بنیانگذاران می‌تواند شکاف اعتماد</a:t>
                      </a:r>
                      <a:r>
                        <a:rPr lang="en-US" sz="900" kern="1200" dirty="0">
                          <a:solidFill>
                            <a:schemeClr val="tx1">
                              <a:lumMod val="50000"/>
                              <a:lumOff val="50000"/>
                            </a:schemeClr>
                          </a:solidFill>
                          <a:latin typeface="Yekan Bakh" pitchFamily="2" charset="-78"/>
                          <a:ea typeface="Yekan Bakh" pitchFamily="2" charset="-78"/>
                          <a:cs typeface="Yekan Bakh" pitchFamily="2" charset="-78"/>
                        </a:rPr>
                        <a:t> </a:t>
                      </a:r>
                      <a:r>
                        <a:rPr lang="fa-IR" sz="900" kern="1200" dirty="0">
                          <a:solidFill>
                            <a:schemeClr val="tx1">
                              <a:lumMod val="50000"/>
                              <a:lumOff val="50000"/>
                            </a:schemeClr>
                          </a:solidFill>
                          <a:latin typeface="Yekan Bakh" pitchFamily="2" charset="-78"/>
                          <a:ea typeface="Yekan Bakh" pitchFamily="2" charset="-78"/>
                          <a:cs typeface="Yekan Bakh" pitchFamily="2" charset="-78"/>
                        </a:rPr>
                        <a:t>اولیه بین طرفین معامله و سیمرغ را تا حد قابل‌قبولی پوشش دهد.</a:t>
                      </a:r>
                      <a:endParaRPr lang="en-US" sz="900" kern="1200" dirty="0">
                        <a:solidFill>
                          <a:schemeClr val="tx1">
                            <a:lumMod val="50000"/>
                            <a:lumOff val="50000"/>
                          </a:schemeClr>
                        </a:solidFill>
                        <a:latin typeface="Yekan Bakh" pitchFamily="2" charset="-78"/>
                        <a:ea typeface="Yekan Bakh" pitchFamily="2" charset="-78"/>
                        <a:cs typeface="Yekan Bakh" pitchFamily="2" charset="-78"/>
                      </a:endParaRPr>
                    </a:p>
                  </a:txBody>
                  <a:tcPr anchor="ct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bg1">
                        <a:lumMod val="95000"/>
                        <a:alpha val="39000"/>
                      </a:schemeClr>
                    </a:solidFill>
                  </a:tcPr>
                </a:tc>
                <a:tc>
                  <a:txBody>
                    <a:bodyPr/>
                    <a:lstStyle/>
                    <a:p>
                      <a:pPr algn="r" rtl="1"/>
                      <a:endParaRPr lang="en-US" sz="900">
                        <a:solidFill>
                          <a:schemeClr val="tx1">
                            <a:lumMod val="65000"/>
                            <a:lumOff val="35000"/>
                          </a:schemeClr>
                        </a:solidFill>
                        <a:latin typeface="Yekan Bakh" pitchFamily="2" charset="-78"/>
                        <a:ea typeface="Yekan Bakh" pitchFamily="2" charset="-78"/>
                        <a:cs typeface="Yekan Bakh" pitchFamily="2" charset="-78"/>
                      </a:endParaRPr>
                    </a:p>
                  </a:txBody>
                  <a:tcPr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r" rtl="1"/>
                      <a:r>
                        <a:rPr lang="fa-IR" sz="1100" b="1" kern="1200" dirty="0">
                          <a:solidFill>
                            <a:srgbClr val="1E2761"/>
                          </a:solidFill>
                          <a:latin typeface="Yekan Bakh" pitchFamily="2" charset="-78"/>
                          <a:ea typeface="Yekan Bakh" pitchFamily="2" charset="-78"/>
                          <a:cs typeface="Yekan Bakh" pitchFamily="2" charset="-78"/>
                        </a:rPr>
                        <a:t>12. </a:t>
                      </a:r>
                      <a:r>
                        <a:rPr lang="en-US" sz="1100" b="1" kern="1200" dirty="0">
                          <a:solidFill>
                            <a:srgbClr val="1E2761"/>
                          </a:solidFill>
                          <a:latin typeface="Yekan Bakh" pitchFamily="2" charset="-78"/>
                          <a:ea typeface="Yekan Bakh" pitchFamily="2" charset="-78"/>
                          <a:cs typeface="Yekan Bakh" pitchFamily="2" charset="-78"/>
                        </a:rPr>
                        <a:t> </a:t>
                      </a:r>
                      <a:r>
                        <a:rPr lang="fa-IR" sz="1100" b="1" kern="1200" dirty="0">
                          <a:solidFill>
                            <a:srgbClr val="1E2761"/>
                          </a:solidFill>
                          <a:latin typeface="Yekan Bakh" pitchFamily="2" charset="-78"/>
                          <a:ea typeface="Yekan Bakh" pitchFamily="2" charset="-78"/>
                          <a:cs typeface="Yekan Bakh" pitchFamily="2" charset="-78"/>
                        </a:rPr>
                        <a:t>اعتماد</a:t>
                      </a:r>
                      <a:r>
                        <a:rPr lang="en-US" sz="1100" b="1" kern="1200" dirty="0">
                          <a:solidFill>
                            <a:srgbClr val="1E2761"/>
                          </a:solidFill>
                          <a:latin typeface="Yekan Bakh" pitchFamily="2" charset="-78"/>
                          <a:ea typeface="Yekan Bakh" pitchFamily="2" charset="-78"/>
                          <a:cs typeface="Yekan Bakh" pitchFamily="2" charset="-78"/>
                        </a:rPr>
                        <a:t> </a:t>
                      </a:r>
                      <a:r>
                        <a:rPr lang="fa-IR" sz="1100" b="1" kern="1200" dirty="0">
                          <a:solidFill>
                            <a:srgbClr val="1E2761"/>
                          </a:solidFill>
                          <a:latin typeface="Yekan Bakh" pitchFamily="2" charset="-78"/>
                          <a:ea typeface="Yekan Bakh" pitchFamily="2" charset="-78"/>
                          <a:cs typeface="Yekan Bakh" pitchFamily="2" charset="-78"/>
                        </a:rPr>
                        <a:t>و برند</a:t>
                      </a:r>
                      <a:endParaRPr lang="en-US" sz="1100" b="1" kern="1200" dirty="0">
                        <a:solidFill>
                          <a:srgbClr val="1E2761"/>
                        </a:solidFill>
                        <a:latin typeface="Yekan Bakh" pitchFamily="2" charset="-78"/>
                        <a:ea typeface="Yekan Bakh" pitchFamily="2" charset="-78"/>
                        <a:cs typeface="Yekan Bakh" pitchFamily="2" charset="-78"/>
                      </a:endParaRPr>
                    </a:p>
                  </a:txBody>
                  <a:tcPr anchor="ct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bg1">
                        <a:lumMod val="95000"/>
                        <a:alpha val="39000"/>
                      </a:schemeClr>
                    </a:solidFill>
                  </a:tcPr>
                </a:tc>
                <a:extLst>
                  <a:ext uri="{0D108BD9-81ED-4DB2-BD59-A6C34878D82A}">
                    <a16:rowId xmlns:a16="http://schemas.microsoft.com/office/drawing/2014/main" val="1927763593"/>
                  </a:ext>
                </a:extLst>
              </a:tr>
              <a:tr h="414926">
                <a:tc>
                  <a:txBody>
                    <a:bodyPr/>
                    <a:lstStyle/>
                    <a:p>
                      <a:pPr algn="justLow" rtl="1"/>
                      <a:r>
                        <a:rPr lang="fa-IR" sz="900" kern="1200" dirty="0">
                          <a:solidFill>
                            <a:schemeClr val="tx1">
                              <a:lumMod val="50000"/>
                              <a:lumOff val="50000"/>
                            </a:schemeClr>
                          </a:solidFill>
                          <a:latin typeface="Yekan Bakh" pitchFamily="2" charset="-78"/>
                          <a:ea typeface="Yekan Bakh" pitchFamily="2" charset="-78"/>
                          <a:cs typeface="Yekan Bakh" pitchFamily="2" charset="-78"/>
                        </a:rPr>
                        <a:t>فرض می‌شود دسترسی و ارتباطات بنیانگذاران با نهادهای حاکمیتی و دولتی می‌تواند یکی از موانع ورود و اجرای معاملات بین‌المللی را کاهش دهد.</a:t>
                      </a:r>
                      <a:endParaRPr lang="en-US" sz="900" kern="1200" dirty="0">
                        <a:solidFill>
                          <a:schemeClr val="tx1">
                            <a:lumMod val="50000"/>
                            <a:lumOff val="50000"/>
                          </a:schemeClr>
                        </a:solidFill>
                        <a:latin typeface="Yekan Bakh" pitchFamily="2" charset="-78"/>
                        <a:ea typeface="Yekan Bakh" pitchFamily="2" charset="-78"/>
                        <a:cs typeface="Yekan Bakh" pitchFamily="2" charset="-78"/>
                      </a:endParaRPr>
                    </a:p>
                  </a:txBody>
                  <a:tcPr anchor="ctr">
                    <a:lnR w="3175" cap="flat" cmpd="sng" algn="ctr">
                      <a:no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bg1">
                        <a:lumMod val="95000"/>
                        <a:alpha val="39000"/>
                      </a:schemeClr>
                    </a:solidFill>
                  </a:tcPr>
                </a:tc>
                <a:tc>
                  <a:txBody>
                    <a:bodyPr/>
                    <a:lstStyle/>
                    <a:p>
                      <a:pPr algn="r" rtl="1"/>
                      <a:endParaRPr lang="en-US" sz="900" dirty="0">
                        <a:solidFill>
                          <a:schemeClr val="tx1">
                            <a:lumMod val="65000"/>
                            <a:lumOff val="35000"/>
                          </a:schemeClr>
                        </a:solidFill>
                        <a:latin typeface="Yekan Bakh" pitchFamily="2" charset="-78"/>
                        <a:ea typeface="Yekan Bakh" pitchFamily="2" charset="-78"/>
                        <a:cs typeface="Yekan Bakh" pitchFamily="2" charset="-78"/>
                      </a:endParaRPr>
                    </a:p>
                  </a:txBody>
                  <a:tcPr anchor="ctr">
                    <a:lnL w="3175"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r" rtl="1"/>
                      <a:r>
                        <a:rPr lang="fa-IR" sz="1100" b="1" kern="1200" dirty="0">
                          <a:solidFill>
                            <a:srgbClr val="1E2761"/>
                          </a:solidFill>
                          <a:latin typeface="Yekan Bakh" pitchFamily="2" charset="-78"/>
                          <a:ea typeface="Yekan Bakh" pitchFamily="2" charset="-78"/>
                          <a:cs typeface="Yekan Bakh" pitchFamily="2" charset="-78"/>
                        </a:rPr>
                        <a:t>13. مزیت نهادی </a:t>
                      </a:r>
                      <a:endParaRPr lang="en-US" sz="1100" b="1" kern="1200" dirty="0">
                        <a:solidFill>
                          <a:srgbClr val="1E2761"/>
                        </a:solidFill>
                        <a:latin typeface="Yekan Bakh" pitchFamily="2" charset="-78"/>
                        <a:ea typeface="Yekan Bakh" pitchFamily="2" charset="-78"/>
                        <a:cs typeface="Yekan Bakh" pitchFamily="2" charset="-78"/>
                      </a:endParaRPr>
                    </a:p>
                  </a:txBody>
                  <a:tcPr anchor="ct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bg1">
                        <a:lumMod val="95000"/>
                        <a:alpha val="39000"/>
                      </a:schemeClr>
                    </a:solidFill>
                  </a:tcPr>
                </a:tc>
                <a:extLst>
                  <a:ext uri="{0D108BD9-81ED-4DB2-BD59-A6C34878D82A}">
                    <a16:rowId xmlns:a16="http://schemas.microsoft.com/office/drawing/2014/main" val="2592394972"/>
                  </a:ext>
                </a:extLst>
              </a:tr>
              <a:tr h="414926">
                <a:tc>
                  <a:txBody>
                    <a:bodyPr/>
                    <a:lstStyle/>
                    <a:p>
                      <a:pPr algn="justLow" rtl="1"/>
                      <a:r>
                        <a:rPr lang="fa-IR" sz="900" kern="1200" dirty="0">
                          <a:solidFill>
                            <a:schemeClr val="tx1">
                              <a:lumMod val="50000"/>
                              <a:lumOff val="50000"/>
                            </a:schemeClr>
                          </a:solidFill>
                          <a:latin typeface="Yekan Bakh" pitchFamily="2" charset="-78"/>
                          <a:ea typeface="Yekan Bakh" pitchFamily="2" charset="-78"/>
                          <a:cs typeface="Yekan Bakh" pitchFamily="2" charset="-78"/>
                        </a:rPr>
                        <a:t>فرض می‌شود کیفیت و اعتبار شرکت‌هایی که سیمرغ به طرف خارجی معرفی می‌کند، مستقیماً بر اعتبار سیمرغ و تداوم همکاری طرف خارجی اثر می‌گذارد؛ بنابراین اعتبارسنجی کیفی بخشی از محصول سیمرغ است، نه صرفاً یک فعالیت فروش. </a:t>
                      </a:r>
                      <a:endParaRPr lang="en-US" sz="900" kern="1200" dirty="0">
                        <a:solidFill>
                          <a:schemeClr val="tx1">
                            <a:lumMod val="50000"/>
                            <a:lumOff val="50000"/>
                          </a:schemeClr>
                        </a:solidFill>
                        <a:latin typeface="Yekan Bakh" pitchFamily="2" charset="-78"/>
                        <a:ea typeface="Yekan Bakh" pitchFamily="2" charset="-78"/>
                        <a:cs typeface="Yekan Bakh" pitchFamily="2" charset="-78"/>
                      </a:endParaRPr>
                    </a:p>
                  </a:txBody>
                  <a:tcPr anchor="ct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bg1">
                        <a:lumMod val="95000"/>
                        <a:alpha val="39000"/>
                      </a:schemeClr>
                    </a:solidFill>
                  </a:tcPr>
                </a:tc>
                <a:tc>
                  <a:txBody>
                    <a:bodyPr/>
                    <a:lstStyle/>
                    <a:p>
                      <a:pPr algn="r" rtl="1"/>
                      <a:endParaRPr lang="en-US" sz="900">
                        <a:solidFill>
                          <a:schemeClr val="tx1">
                            <a:lumMod val="65000"/>
                            <a:lumOff val="35000"/>
                          </a:schemeClr>
                        </a:solidFill>
                        <a:latin typeface="Yekan Bakh" pitchFamily="2" charset="-78"/>
                        <a:ea typeface="Yekan Bakh" pitchFamily="2" charset="-78"/>
                        <a:cs typeface="Yekan Bakh" pitchFamily="2" charset="-78"/>
                      </a:endParaRPr>
                    </a:p>
                  </a:txBody>
                  <a:tcPr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r" rtl="1"/>
                      <a:r>
                        <a:rPr lang="fa-IR" sz="1100" b="1" kern="1200" dirty="0">
                          <a:solidFill>
                            <a:srgbClr val="1E2761"/>
                          </a:solidFill>
                          <a:latin typeface="Yekan Bakh" pitchFamily="2" charset="-78"/>
                          <a:ea typeface="Yekan Bakh" pitchFamily="2" charset="-78"/>
                          <a:cs typeface="Yekan Bakh" pitchFamily="2" charset="-78"/>
                        </a:rPr>
                        <a:t>14. اعتبار لیدها </a:t>
                      </a:r>
                      <a:endParaRPr lang="en-US" sz="1100" b="1" kern="1200" dirty="0">
                        <a:solidFill>
                          <a:srgbClr val="1E2761"/>
                        </a:solidFill>
                        <a:latin typeface="Yekan Bakh" pitchFamily="2" charset="-78"/>
                        <a:ea typeface="Yekan Bakh" pitchFamily="2" charset="-78"/>
                        <a:cs typeface="Yekan Bakh" pitchFamily="2" charset="-78"/>
                      </a:endParaRPr>
                    </a:p>
                  </a:txBody>
                  <a:tcPr anchor="ct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bg1">
                        <a:lumMod val="95000"/>
                        <a:alpha val="39000"/>
                      </a:schemeClr>
                    </a:solidFill>
                  </a:tcPr>
                </a:tc>
                <a:extLst>
                  <a:ext uri="{0D108BD9-81ED-4DB2-BD59-A6C34878D82A}">
                    <a16:rowId xmlns:a16="http://schemas.microsoft.com/office/drawing/2014/main" val="942818257"/>
                  </a:ext>
                </a:extLst>
              </a:tr>
              <a:tr h="414926">
                <a:tc>
                  <a:txBody>
                    <a:bodyPr/>
                    <a:lstStyle/>
                    <a:p>
                      <a:pPr algn="justLow" rtl="1"/>
                      <a:r>
                        <a:rPr lang="fa-IR" sz="900" kern="1200" dirty="0">
                          <a:solidFill>
                            <a:schemeClr val="tx1">
                              <a:lumMod val="50000"/>
                              <a:lumOff val="50000"/>
                            </a:schemeClr>
                          </a:solidFill>
                          <a:latin typeface="Yekan Bakh" pitchFamily="2" charset="-78"/>
                          <a:ea typeface="Yekan Bakh" pitchFamily="2" charset="-78"/>
                          <a:cs typeface="Yekan Bakh" pitchFamily="2" charset="-78"/>
                        </a:rPr>
                        <a:t>فرض می‌شود بخشی از شرکت‌های ایرانی پیش از تعامل با طرف خارجی، به ارتقای آمادگی سازمانی، مدیریتی، مالی یا عملیاتی نیاز دارند و این شکاف</a:t>
                      </a:r>
                      <a:r>
                        <a:rPr lang="en-US" sz="900" kern="1200" dirty="0">
                          <a:solidFill>
                            <a:schemeClr val="tx1">
                              <a:lumMod val="50000"/>
                              <a:lumOff val="50000"/>
                            </a:schemeClr>
                          </a:solidFill>
                          <a:latin typeface="Yekan Bakh" pitchFamily="2" charset="-78"/>
                          <a:ea typeface="Yekan Bakh" pitchFamily="2" charset="-78"/>
                          <a:cs typeface="Yekan Bakh" pitchFamily="2" charset="-78"/>
                        </a:rPr>
                        <a:t> </a:t>
                      </a:r>
                      <a:r>
                        <a:rPr lang="fa-IR" sz="900" kern="1200" dirty="0">
                          <a:solidFill>
                            <a:schemeClr val="tx1">
                              <a:lumMod val="50000"/>
                              <a:lumOff val="50000"/>
                            </a:schemeClr>
                          </a:solidFill>
                          <a:latin typeface="Yekan Bakh" pitchFamily="2" charset="-78"/>
                          <a:ea typeface="Yekan Bakh" pitchFamily="2" charset="-78"/>
                          <a:cs typeface="Yekan Bakh" pitchFamily="2" charset="-78"/>
                        </a:rPr>
                        <a:t>می‌تواند به یک سرویس مستقل تبدیل شود. </a:t>
                      </a:r>
                      <a:endParaRPr lang="en-US" sz="900" kern="1200" dirty="0">
                        <a:solidFill>
                          <a:schemeClr val="tx1">
                            <a:lumMod val="50000"/>
                            <a:lumOff val="50000"/>
                          </a:schemeClr>
                        </a:solidFill>
                        <a:latin typeface="Yekan Bakh" pitchFamily="2" charset="-78"/>
                        <a:ea typeface="Yekan Bakh" pitchFamily="2" charset="-78"/>
                        <a:cs typeface="Yekan Bakh" pitchFamily="2" charset="-78"/>
                      </a:endParaRPr>
                    </a:p>
                  </a:txBody>
                  <a:tcPr anchor="ct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bg1">
                        <a:lumMod val="95000"/>
                        <a:alpha val="39000"/>
                      </a:schemeClr>
                    </a:solidFill>
                  </a:tcPr>
                </a:tc>
                <a:tc>
                  <a:txBody>
                    <a:bodyPr/>
                    <a:lstStyle/>
                    <a:p>
                      <a:pPr algn="r" rtl="1"/>
                      <a:endParaRPr lang="en-US" sz="900" dirty="0">
                        <a:solidFill>
                          <a:schemeClr val="tx1">
                            <a:lumMod val="65000"/>
                            <a:lumOff val="35000"/>
                          </a:schemeClr>
                        </a:solidFill>
                        <a:latin typeface="Yekan Bakh" pitchFamily="2" charset="-78"/>
                        <a:ea typeface="Yekan Bakh" pitchFamily="2" charset="-78"/>
                        <a:cs typeface="Yekan Bakh" pitchFamily="2" charset="-78"/>
                      </a:endParaRPr>
                    </a:p>
                  </a:txBody>
                  <a:tcPr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r" rtl="1"/>
                      <a:r>
                        <a:rPr lang="fa-IR" sz="1100" b="1" kern="1200" dirty="0">
                          <a:solidFill>
                            <a:srgbClr val="1E2761"/>
                          </a:solidFill>
                          <a:latin typeface="Yekan Bakh" pitchFamily="2" charset="-78"/>
                          <a:ea typeface="Yekan Bakh" pitchFamily="2" charset="-78"/>
                          <a:cs typeface="Yekan Bakh" pitchFamily="2" charset="-78"/>
                        </a:rPr>
                        <a:t>15. آمادگی مشتری ایرانی</a:t>
                      </a:r>
                      <a:endParaRPr lang="en-US" sz="1100" b="1" kern="1200" dirty="0">
                        <a:solidFill>
                          <a:srgbClr val="1E2761"/>
                        </a:solidFill>
                        <a:latin typeface="Yekan Bakh" pitchFamily="2" charset="-78"/>
                        <a:ea typeface="Yekan Bakh" pitchFamily="2" charset="-78"/>
                        <a:cs typeface="Yekan Bakh" pitchFamily="2" charset="-78"/>
                      </a:endParaRPr>
                    </a:p>
                  </a:txBody>
                  <a:tcPr anchor="ct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bg1">
                        <a:lumMod val="95000"/>
                        <a:alpha val="39000"/>
                      </a:schemeClr>
                    </a:solidFill>
                  </a:tcPr>
                </a:tc>
                <a:extLst>
                  <a:ext uri="{0D108BD9-81ED-4DB2-BD59-A6C34878D82A}">
                    <a16:rowId xmlns:a16="http://schemas.microsoft.com/office/drawing/2014/main" val="2280365725"/>
                  </a:ext>
                </a:extLst>
              </a:tr>
              <a:tr h="414926">
                <a:tc>
                  <a:txBody>
                    <a:bodyPr/>
                    <a:lstStyle/>
                    <a:p>
                      <a:pPr marL="0" marR="0" lvl="0" indent="0" algn="justLow" defTabSz="1021516" rtl="1" eaLnBrk="1" fontAlgn="auto" latinLnBrk="0" hangingPunct="1">
                        <a:lnSpc>
                          <a:spcPct val="100000"/>
                        </a:lnSpc>
                        <a:spcBef>
                          <a:spcPts val="0"/>
                        </a:spcBef>
                        <a:spcAft>
                          <a:spcPts val="0"/>
                        </a:spcAft>
                        <a:buClrTx/>
                        <a:buSzTx/>
                        <a:buFontTx/>
                        <a:buNone/>
                        <a:tabLst/>
                        <a:defRPr/>
                      </a:pPr>
                      <a:r>
                        <a:rPr lang="fa-IR" sz="900" kern="1200" dirty="0">
                          <a:solidFill>
                            <a:schemeClr val="tx1">
                              <a:lumMod val="50000"/>
                              <a:lumOff val="50000"/>
                            </a:schemeClr>
                          </a:solidFill>
                          <a:latin typeface="Yekan Bakh" pitchFamily="2" charset="-78"/>
                          <a:ea typeface="Yekan Bakh" pitchFamily="2" charset="-78"/>
                          <a:cs typeface="Yekan Bakh" pitchFamily="2" charset="-78"/>
                        </a:rPr>
                        <a:t>فرض می‌شود می‌توان یک استاندارد یا مدل امتیازدهی برای سنجش آمادگی</a:t>
                      </a:r>
                      <a:r>
                        <a:rPr lang="en-US" sz="900" kern="1200" dirty="0">
                          <a:solidFill>
                            <a:schemeClr val="tx1">
                              <a:lumMod val="50000"/>
                              <a:lumOff val="50000"/>
                            </a:schemeClr>
                          </a:solidFill>
                          <a:latin typeface="Yekan Bakh" pitchFamily="2" charset="-78"/>
                          <a:ea typeface="Yekan Bakh" pitchFamily="2" charset="-78"/>
                          <a:cs typeface="Yekan Bakh" pitchFamily="2" charset="-78"/>
                        </a:rPr>
                        <a:t> </a:t>
                      </a:r>
                      <a:r>
                        <a:rPr lang="fa-IR" sz="900" kern="1200" dirty="0">
                          <a:solidFill>
                            <a:schemeClr val="tx1">
                              <a:lumMod val="50000"/>
                              <a:lumOff val="50000"/>
                            </a:schemeClr>
                          </a:solidFill>
                          <a:latin typeface="Yekan Bakh" pitchFamily="2" charset="-78"/>
                          <a:ea typeface="Yekan Bakh" pitchFamily="2" charset="-78"/>
                          <a:cs typeface="Yekan Bakh" pitchFamily="2" charset="-78"/>
                        </a:rPr>
                        <a:t>شرکت‌های ایرانی تعریف کرد که هم کیفیت </a:t>
                      </a:r>
                      <a:r>
                        <a:rPr lang="en-US" sz="900" kern="1200" dirty="0">
                          <a:solidFill>
                            <a:schemeClr val="tx1">
                              <a:lumMod val="50000"/>
                              <a:lumOff val="50000"/>
                            </a:schemeClr>
                          </a:solidFill>
                          <a:latin typeface="Yekan Bakh" pitchFamily="2" charset="-78"/>
                          <a:ea typeface="Yekan Bakh" pitchFamily="2" charset="-78"/>
                          <a:cs typeface="Yekan Bakh" pitchFamily="2" charset="-78"/>
                        </a:rPr>
                        <a:t>Lead</a:t>
                      </a:r>
                      <a:r>
                        <a:rPr lang="fa-IR" sz="900" kern="1200" dirty="0">
                          <a:solidFill>
                            <a:schemeClr val="tx1">
                              <a:lumMod val="50000"/>
                              <a:lumOff val="50000"/>
                            </a:schemeClr>
                          </a:solidFill>
                          <a:latin typeface="Yekan Bakh" pitchFamily="2" charset="-78"/>
                          <a:ea typeface="Yekan Bakh" pitchFamily="2" charset="-78"/>
                          <a:cs typeface="Yekan Bakh" pitchFamily="2" charset="-78"/>
                        </a:rPr>
                        <a:t>ها را افزایش دهد و هم خدمات حرفه‌ای به کسب‌وکارها را به این اکوسیستم متصل کند. </a:t>
                      </a:r>
                      <a:endParaRPr lang="en-US" sz="900" kern="1200" dirty="0">
                        <a:solidFill>
                          <a:schemeClr val="tx1">
                            <a:lumMod val="50000"/>
                            <a:lumOff val="50000"/>
                          </a:schemeClr>
                        </a:solidFill>
                        <a:latin typeface="Yekan Bakh" pitchFamily="2" charset="-78"/>
                        <a:ea typeface="Yekan Bakh" pitchFamily="2" charset="-78"/>
                        <a:cs typeface="Yekan Bakh" pitchFamily="2" charset="-78"/>
                      </a:endParaRPr>
                    </a:p>
                  </a:txBody>
                  <a:tcPr anchor="ct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bg1">
                        <a:lumMod val="95000"/>
                        <a:alpha val="39000"/>
                      </a:schemeClr>
                    </a:solidFill>
                  </a:tcPr>
                </a:tc>
                <a:tc>
                  <a:txBody>
                    <a:bodyPr/>
                    <a:lstStyle/>
                    <a:p>
                      <a:pPr algn="r" rtl="1"/>
                      <a:endParaRPr lang="en-US" sz="900" dirty="0">
                        <a:solidFill>
                          <a:schemeClr val="tx1">
                            <a:lumMod val="65000"/>
                            <a:lumOff val="35000"/>
                          </a:schemeClr>
                        </a:solidFill>
                        <a:latin typeface="Yekan Bakh" pitchFamily="2" charset="-78"/>
                        <a:ea typeface="Yekan Bakh" pitchFamily="2" charset="-78"/>
                        <a:cs typeface="Yekan Bakh" pitchFamily="2" charset="-78"/>
                      </a:endParaRPr>
                    </a:p>
                  </a:txBody>
                  <a:tcPr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r" rtl="1"/>
                      <a:r>
                        <a:rPr lang="fa-IR" sz="1100" b="1" kern="1200" dirty="0">
                          <a:solidFill>
                            <a:srgbClr val="1E2761"/>
                          </a:solidFill>
                          <a:latin typeface="Yekan Bakh" pitchFamily="2" charset="-78"/>
                          <a:ea typeface="Yekan Bakh" pitchFamily="2" charset="-78"/>
                          <a:cs typeface="Yekan Bakh" pitchFamily="2" charset="-78"/>
                        </a:rPr>
                        <a:t>16. استاندارد آمادگی</a:t>
                      </a:r>
                      <a:endParaRPr lang="en-US" sz="1100" b="1" kern="1200" dirty="0">
                        <a:solidFill>
                          <a:srgbClr val="1E2761"/>
                        </a:solidFill>
                        <a:latin typeface="Yekan Bakh" pitchFamily="2" charset="-78"/>
                        <a:ea typeface="Yekan Bakh" pitchFamily="2" charset="-78"/>
                        <a:cs typeface="Yekan Bakh" pitchFamily="2" charset="-78"/>
                      </a:endParaRPr>
                    </a:p>
                  </a:txBody>
                  <a:tcPr anchor="ct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bg1">
                        <a:lumMod val="95000"/>
                        <a:alpha val="39000"/>
                      </a:schemeClr>
                    </a:solidFill>
                  </a:tcPr>
                </a:tc>
                <a:extLst>
                  <a:ext uri="{0D108BD9-81ED-4DB2-BD59-A6C34878D82A}">
                    <a16:rowId xmlns:a16="http://schemas.microsoft.com/office/drawing/2014/main" val="3452523160"/>
                  </a:ext>
                </a:extLst>
              </a:tr>
              <a:tr h="414926">
                <a:tc>
                  <a:txBody>
                    <a:bodyPr/>
                    <a:lstStyle/>
                    <a:p>
                      <a:pPr marL="0" marR="0" lvl="0" indent="0" algn="justLow" defTabSz="1021516" rtl="1" eaLnBrk="1" fontAlgn="auto" latinLnBrk="0" hangingPunct="1">
                        <a:lnSpc>
                          <a:spcPct val="100000"/>
                        </a:lnSpc>
                        <a:spcBef>
                          <a:spcPts val="0"/>
                        </a:spcBef>
                        <a:spcAft>
                          <a:spcPts val="0"/>
                        </a:spcAft>
                        <a:buClrTx/>
                        <a:buSzTx/>
                        <a:buFontTx/>
                        <a:buNone/>
                        <a:tabLst/>
                        <a:defRPr/>
                      </a:pPr>
                      <a:r>
                        <a:rPr lang="fa-IR" sz="900" kern="1200" dirty="0">
                          <a:solidFill>
                            <a:schemeClr val="tx1">
                              <a:lumMod val="50000"/>
                              <a:lumOff val="50000"/>
                            </a:schemeClr>
                          </a:solidFill>
                          <a:latin typeface="Yekan Bakh" pitchFamily="2" charset="-78"/>
                          <a:ea typeface="Yekan Bakh" pitchFamily="2" charset="-78"/>
                          <a:cs typeface="Yekan Bakh" pitchFamily="2" charset="-78"/>
                        </a:rPr>
                        <a:t>فرض می‌شود ایجاد و نگهداری یک پایگاه مشتریان</a:t>
                      </a:r>
                      <a:r>
                        <a:rPr lang="en-US" sz="900" kern="1200" dirty="0">
                          <a:solidFill>
                            <a:schemeClr val="tx1">
                              <a:lumMod val="50000"/>
                              <a:lumOff val="50000"/>
                            </a:schemeClr>
                          </a:solidFill>
                          <a:latin typeface="Yekan Bakh" pitchFamily="2" charset="-78"/>
                          <a:ea typeface="Yekan Bakh" pitchFamily="2" charset="-78"/>
                          <a:cs typeface="Yekan Bakh" pitchFamily="2" charset="-78"/>
                        </a:rPr>
                        <a:t> </a:t>
                      </a:r>
                      <a:r>
                        <a:rPr lang="fa-IR" sz="900" kern="1200" dirty="0">
                          <a:solidFill>
                            <a:schemeClr val="tx1">
                              <a:lumMod val="50000"/>
                              <a:lumOff val="50000"/>
                            </a:schemeClr>
                          </a:solidFill>
                          <a:latin typeface="Yekan Bakh" pitchFamily="2" charset="-78"/>
                          <a:ea typeface="Yekan Bakh" pitchFamily="2" charset="-78"/>
                          <a:cs typeface="Yekan Bakh" pitchFamily="2" charset="-78"/>
                        </a:rPr>
                        <a:t>ساختاریافته از شرکت‌های ایرانی و خارجی، نیازهای آن‌ها، صنایع، قابلیت‌ها و فرصت‌های بالقوه، در طول زمان به یکی از مزیت‌های رقابتی اصلی سیمرغ تبدیل خواهد شد. </a:t>
                      </a:r>
                      <a:endParaRPr lang="en-US" sz="900" kern="1200" dirty="0">
                        <a:solidFill>
                          <a:schemeClr val="tx1">
                            <a:lumMod val="50000"/>
                            <a:lumOff val="50000"/>
                          </a:schemeClr>
                        </a:solidFill>
                        <a:latin typeface="Yekan Bakh" pitchFamily="2" charset="-78"/>
                        <a:ea typeface="Yekan Bakh" pitchFamily="2" charset="-78"/>
                        <a:cs typeface="Yekan Bakh" pitchFamily="2" charset="-78"/>
                      </a:endParaRPr>
                    </a:p>
                  </a:txBody>
                  <a:tcPr anchor="ct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bg1">
                        <a:lumMod val="95000"/>
                        <a:alpha val="39000"/>
                      </a:schemeClr>
                    </a:solidFill>
                  </a:tcPr>
                </a:tc>
                <a:tc>
                  <a:txBody>
                    <a:bodyPr/>
                    <a:lstStyle/>
                    <a:p>
                      <a:pPr algn="r" rtl="1"/>
                      <a:endParaRPr lang="en-US" sz="900" dirty="0">
                        <a:solidFill>
                          <a:schemeClr val="tx1">
                            <a:lumMod val="65000"/>
                            <a:lumOff val="35000"/>
                          </a:schemeClr>
                        </a:solidFill>
                        <a:latin typeface="Yekan Bakh" pitchFamily="2" charset="-78"/>
                        <a:ea typeface="Yekan Bakh" pitchFamily="2" charset="-78"/>
                        <a:cs typeface="Yekan Bakh" pitchFamily="2" charset="-78"/>
                      </a:endParaRPr>
                    </a:p>
                  </a:txBody>
                  <a:tcPr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r" rtl="1"/>
                      <a:r>
                        <a:rPr lang="fa-IR" sz="1100" b="1" kern="1200" dirty="0">
                          <a:solidFill>
                            <a:srgbClr val="1E2761"/>
                          </a:solidFill>
                          <a:latin typeface="Yekan Bakh" pitchFamily="2" charset="-78"/>
                          <a:ea typeface="Yekan Bakh" pitchFamily="2" charset="-78"/>
                          <a:cs typeface="Yekan Bakh" pitchFamily="2" charset="-78"/>
                        </a:rPr>
                        <a:t>17. پایگاه مشتریان به‌عنوان </a:t>
                      </a:r>
                      <a:r>
                        <a:rPr lang="en-US" sz="1100" b="1" kern="1200" dirty="0">
                          <a:solidFill>
                            <a:srgbClr val="1E2761"/>
                          </a:solidFill>
                          <a:latin typeface="Yekan Bakh" pitchFamily="2" charset="-78"/>
                          <a:ea typeface="Yekan Bakh" pitchFamily="2" charset="-78"/>
                          <a:cs typeface="Yekan Bakh" pitchFamily="2" charset="-78"/>
                        </a:rPr>
                        <a:t>Asset</a:t>
                      </a:r>
                    </a:p>
                  </a:txBody>
                  <a:tcPr anchor="ct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bg1">
                        <a:lumMod val="95000"/>
                        <a:alpha val="39000"/>
                      </a:schemeClr>
                    </a:solidFill>
                  </a:tcPr>
                </a:tc>
                <a:extLst>
                  <a:ext uri="{0D108BD9-81ED-4DB2-BD59-A6C34878D82A}">
                    <a16:rowId xmlns:a16="http://schemas.microsoft.com/office/drawing/2014/main" val="1467917733"/>
                  </a:ext>
                </a:extLst>
              </a:tr>
              <a:tr h="414926">
                <a:tc>
                  <a:txBody>
                    <a:bodyPr/>
                    <a:lstStyle/>
                    <a:p>
                      <a:pPr algn="justLow" rtl="1"/>
                      <a:r>
                        <a:rPr lang="fa-IR" sz="900" kern="1200" dirty="0">
                          <a:solidFill>
                            <a:schemeClr val="tx1">
                              <a:lumMod val="50000"/>
                              <a:lumOff val="50000"/>
                            </a:schemeClr>
                          </a:solidFill>
                          <a:latin typeface="Yekan Bakh" pitchFamily="2" charset="-78"/>
                          <a:ea typeface="Yekan Bakh" pitchFamily="2" charset="-78"/>
                          <a:cs typeface="Yekan Bakh" pitchFamily="2" charset="-78"/>
                        </a:rPr>
                        <a:t>فرض می‌شود هسته اصلی سیمرغ و شبکه ارتباطی بنیان‌گذاران در فاز اولیه، مهم‌ترین منبع ایجاد معاملات</a:t>
                      </a:r>
                      <a:r>
                        <a:rPr lang="en-US" sz="900" kern="1200" dirty="0">
                          <a:solidFill>
                            <a:schemeClr val="tx1">
                              <a:lumMod val="50000"/>
                              <a:lumOff val="50000"/>
                            </a:schemeClr>
                          </a:solidFill>
                          <a:latin typeface="Yekan Bakh" pitchFamily="2" charset="-78"/>
                          <a:ea typeface="Yekan Bakh" pitchFamily="2" charset="-78"/>
                          <a:cs typeface="Yekan Bakh" pitchFamily="2" charset="-78"/>
                        </a:rPr>
                        <a:t> </a:t>
                      </a:r>
                      <a:r>
                        <a:rPr lang="fa-IR" sz="900" kern="1200" dirty="0">
                          <a:solidFill>
                            <a:schemeClr val="tx1">
                              <a:lumMod val="50000"/>
                              <a:lumOff val="50000"/>
                            </a:schemeClr>
                          </a:solidFill>
                          <a:latin typeface="Yekan Bakh" pitchFamily="2" charset="-78"/>
                          <a:ea typeface="Yekan Bakh" pitchFamily="2" charset="-78"/>
                          <a:cs typeface="Yekan Bakh" pitchFamily="2" charset="-78"/>
                        </a:rPr>
                        <a:t>و دسترسی به ذی‌نفعان (مشتری) و شرکا (ارائه‌دهندگان خدمات حرفه‌ای)</a:t>
                      </a:r>
                      <a:r>
                        <a:rPr lang="en-US" sz="900" kern="1200" dirty="0">
                          <a:solidFill>
                            <a:schemeClr val="tx1">
                              <a:lumMod val="50000"/>
                              <a:lumOff val="50000"/>
                            </a:schemeClr>
                          </a:solidFill>
                          <a:latin typeface="Yekan Bakh" pitchFamily="2" charset="-78"/>
                          <a:ea typeface="Yekan Bakh" pitchFamily="2" charset="-78"/>
                          <a:cs typeface="Yekan Bakh" pitchFamily="2" charset="-78"/>
                        </a:rPr>
                        <a:t> </a:t>
                      </a:r>
                      <a:r>
                        <a:rPr lang="fa-IR" sz="900" kern="1200" dirty="0">
                          <a:solidFill>
                            <a:schemeClr val="tx1">
                              <a:lumMod val="50000"/>
                              <a:lumOff val="50000"/>
                            </a:schemeClr>
                          </a:solidFill>
                          <a:latin typeface="Yekan Bakh" pitchFamily="2" charset="-78"/>
                          <a:ea typeface="Yekan Bakh" pitchFamily="2" charset="-78"/>
                          <a:cs typeface="Yekan Bakh" pitchFamily="2" charset="-78"/>
                        </a:rPr>
                        <a:t>خواهد بود.</a:t>
                      </a:r>
                      <a:endParaRPr lang="en-US" sz="900" kern="1200" dirty="0">
                        <a:solidFill>
                          <a:schemeClr val="tx1">
                            <a:lumMod val="50000"/>
                            <a:lumOff val="50000"/>
                          </a:schemeClr>
                        </a:solidFill>
                        <a:latin typeface="Yekan Bakh" pitchFamily="2" charset="-78"/>
                        <a:ea typeface="Yekan Bakh" pitchFamily="2" charset="-78"/>
                        <a:cs typeface="Yekan Bakh" pitchFamily="2" charset="-78"/>
                      </a:endParaRPr>
                    </a:p>
                  </a:txBody>
                  <a:tcPr anchor="ctr">
                    <a:lnT w="317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alpha val="39000"/>
                      </a:schemeClr>
                    </a:solidFill>
                  </a:tcPr>
                </a:tc>
                <a:tc>
                  <a:txBody>
                    <a:bodyPr/>
                    <a:lstStyle/>
                    <a:p>
                      <a:pPr algn="r" rtl="1"/>
                      <a:endParaRPr lang="en-US" sz="900" dirty="0">
                        <a:solidFill>
                          <a:schemeClr val="tx1">
                            <a:lumMod val="65000"/>
                            <a:lumOff val="35000"/>
                          </a:schemeClr>
                        </a:solidFill>
                        <a:latin typeface="Yekan Bakh" pitchFamily="2" charset="-78"/>
                        <a:ea typeface="Yekan Bakh" pitchFamily="2" charset="-78"/>
                        <a:cs typeface="Yekan Bakh" pitchFamily="2" charset="-78"/>
                      </a:endParaRPr>
                    </a:p>
                  </a:txBody>
                  <a:tcPr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r" rtl="1"/>
                      <a:r>
                        <a:rPr lang="fa-IR" sz="1100" b="1" kern="1200" dirty="0">
                          <a:solidFill>
                            <a:srgbClr val="1E2761"/>
                          </a:solidFill>
                          <a:latin typeface="Yekan Bakh" pitchFamily="2" charset="-78"/>
                          <a:ea typeface="Yekan Bakh" pitchFamily="2" charset="-78"/>
                          <a:cs typeface="Yekan Bakh" pitchFamily="2" charset="-78"/>
                        </a:rPr>
                        <a:t>10. مزیت </a:t>
                      </a:r>
                      <a:r>
                        <a:rPr lang="en-US" sz="1100" b="1" kern="1200" dirty="0">
                          <a:solidFill>
                            <a:srgbClr val="1E2761"/>
                          </a:solidFill>
                          <a:latin typeface="Yekan Bakh" pitchFamily="2" charset="-78"/>
                          <a:ea typeface="Yekan Bakh" pitchFamily="2" charset="-78"/>
                          <a:cs typeface="Yekan Bakh" pitchFamily="2" charset="-78"/>
                        </a:rPr>
                        <a:t>Core Team</a:t>
                      </a:r>
                    </a:p>
                  </a:txBody>
                  <a:tcPr anchor="ctr">
                    <a:lnT w="317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alpha val="39000"/>
                      </a:schemeClr>
                    </a:solidFill>
                  </a:tcPr>
                </a:tc>
                <a:extLst>
                  <a:ext uri="{0D108BD9-81ED-4DB2-BD59-A6C34878D82A}">
                    <a16:rowId xmlns:a16="http://schemas.microsoft.com/office/drawing/2014/main" val="125146764"/>
                  </a:ext>
                </a:extLst>
              </a:tr>
            </a:tbl>
          </a:graphicData>
        </a:graphic>
      </p:graphicFrame>
    </p:spTree>
    <p:extLst>
      <p:ext uri="{BB962C8B-B14F-4D97-AF65-F5344CB8AC3E}">
        <p14:creationId xmlns:p14="http://schemas.microsoft.com/office/powerpoint/2010/main" val="25181862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618DB-5E0B-B716-E757-6213393D678A}"/>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11A3361-7F88-016F-829E-466D1AE54F2F}"/>
              </a:ext>
            </a:extLst>
          </p:cNvPr>
          <p:cNvSpPr>
            <a:spLocks noGrp="1"/>
          </p:cNvSpPr>
          <p:nvPr>
            <p:ph type="body" sz="quarter" idx="10"/>
          </p:nvPr>
        </p:nvSpPr>
        <p:spPr/>
        <p:txBody>
          <a:bodyPr/>
          <a:lstStyle/>
          <a:p>
            <a:endParaRPr lang="en-GB"/>
          </a:p>
        </p:txBody>
      </p:sp>
      <p:sp>
        <p:nvSpPr>
          <p:cNvPr id="3" name="Text Placeholder 2">
            <a:extLst>
              <a:ext uri="{FF2B5EF4-FFF2-40B4-BE49-F238E27FC236}">
                <a16:creationId xmlns:a16="http://schemas.microsoft.com/office/drawing/2014/main" id="{69E0C3C2-ED1D-C1B1-22DE-60A6B142428B}"/>
              </a:ext>
            </a:extLst>
          </p:cNvPr>
          <p:cNvSpPr>
            <a:spLocks noGrp="1"/>
          </p:cNvSpPr>
          <p:nvPr>
            <p:ph type="body" sz="quarter" idx="12"/>
          </p:nvPr>
        </p:nvSpPr>
        <p:spPr/>
        <p:txBody>
          <a:bodyPr/>
          <a:lstStyle/>
          <a:p>
            <a:r>
              <a:rPr lang="fa-IR" dirty="0"/>
              <a:t>فرضیات کلیدی کسب‌وکار (۳/۳) </a:t>
            </a:r>
          </a:p>
          <a:p>
            <a:endParaRPr lang="en-GB" dirty="0"/>
          </a:p>
        </p:txBody>
      </p:sp>
      <p:graphicFrame>
        <p:nvGraphicFramePr>
          <p:cNvPr id="5" name="Table 4">
            <a:extLst>
              <a:ext uri="{FF2B5EF4-FFF2-40B4-BE49-F238E27FC236}">
                <a16:creationId xmlns:a16="http://schemas.microsoft.com/office/drawing/2014/main" id="{57CBFDE8-C22D-6A5E-CF24-E552D1B399A6}"/>
              </a:ext>
            </a:extLst>
          </p:cNvPr>
          <p:cNvGraphicFramePr>
            <a:graphicFrameLocks noGrp="1"/>
          </p:cNvGraphicFramePr>
          <p:nvPr>
            <p:extLst>
              <p:ext uri="{D42A27DB-BD31-4B8C-83A1-F6EECF244321}">
                <p14:modId xmlns:p14="http://schemas.microsoft.com/office/powerpoint/2010/main" val="3668029759"/>
              </p:ext>
            </p:extLst>
          </p:nvPr>
        </p:nvGraphicFramePr>
        <p:xfrm>
          <a:off x="908779" y="1276751"/>
          <a:ext cx="9885493" cy="3919736"/>
        </p:xfrm>
        <a:graphic>
          <a:graphicData uri="http://schemas.openxmlformats.org/drawingml/2006/table">
            <a:tbl>
              <a:tblPr firstRow="1" bandRow="1">
                <a:tableStyleId>{5C22544A-7EE6-4342-B048-85BDC9FD1C3A}</a:tableStyleId>
              </a:tblPr>
              <a:tblGrid>
                <a:gridCol w="7297910">
                  <a:extLst>
                    <a:ext uri="{9D8B030D-6E8A-4147-A177-3AD203B41FA5}">
                      <a16:colId xmlns:a16="http://schemas.microsoft.com/office/drawing/2014/main" val="2225969677"/>
                    </a:ext>
                  </a:extLst>
                </a:gridCol>
                <a:gridCol w="208280">
                  <a:extLst>
                    <a:ext uri="{9D8B030D-6E8A-4147-A177-3AD203B41FA5}">
                      <a16:colId xmlns:a16="http://schemas.microsoft.com/office/drawing/2014/main" val="748224083"/>
                    </a:ext>
                  </a:extLst>
                </a:gridCol>
                <a:gridCol w="2379303">
                  <a:extLst>
                    <a:ext uri="{9D8B030D-6E8A-4147-A177-3AD203B41FA5}">
                      <a16:colId xmlns:a16="http://schemas.microsoft.com/office/drawing/2014/main" val="2250883297"/>
                    </a:ext>
                  </a:extLst>
                </a:gridCol>
              </a:tblGrid>
              <a:tr h="434358">
                <a:tc>
                  <a:txBody>
                    <a:bodyPr/>
                    <a:lstStyle/>
                    <a:p>
                      <a:pPr algn="ctr" rtl="1"/>
                      <a:r>
                        <a:rPr lang="fa-IR" sz="1200" b="1" dirty="0">
                          <a:solidFill>
                            <a:schemeClr val="bg1"/>
                          </a:solidFill>
                          <a:latin typeface="Yekan Bakh" pitchFamily="2" charset="-78"/>
                          <a:ea typeface="Yekan Bakh" pitchFamily="2" charset="-78"/>
                          <a:cs typeface="Yekan Bakh" pitchFamily="2" charset="-78"/>
                        </a:rPr>
                        <a:t>فرضیه</a:t>
                      </a:r>
                      <a:endParaRPr lang="en-US" sz="1200" b="1" dirty="0">
                        <a:solidFill>
                          <a:schemeClr val="bg1"/>
                        </a:solidFill>
                        <a:latin typeface="Yekan Bakh" pitchFamily="2" charset="-78"/>
                        <a:ea typeface="Yekan Bakh" pitchFamily="2" charset="-78"/>
                        <a:cs typeface="Yekan Bakh" pitchFamily="2" charset="-78"/>
                      </a:endParaRPr>
                    </a:p>
                  </a:txBody>
                  <a:tcPr anchor="ctr">
                    <a:solidFill>
                      <a:srgbClr val="1E2761"/>
                    </a:solidFill>
                  </a:tcPr>
                </a:tc>
                <a:tc>
                  <a:txBody>
                    <a:bodyPr/>
                    <a:lstStyle/>
                    <a:p>
                      <a:pPr algn="ctr" rtl="1"/>
                      <a:endParaRPr lang="en-US" sz="1200" b="1" dirty="0">
                        <a:solidFill>
                          <a:schemeClr val="bg1"/>
                        </a:solidFill>
                        <a:latin typeface="Yekan Bakh" pitchFamily="2" charset="-78"/>
                        <a:ea typeface="Yekan Bakh" pitchFamily="2" charset="-78"/>
                        <a:cs typeface="Yekan Bakh" pitchFamily="2" charset="-78"/>
                      </a:endParaRPr>
                    </a:p>
                  </a:txBody>
                  <a:tcPr anchor="ctr">
                    <a:lnB w="12700" cap="flat" cmpd="sng" algn="ctr">
                      <a:noFill/>
                      <a:prstDash val="solid"/>
                      <a:round/>
                      <a:headEnd type="none" w="med" len="med"/>
                      <a:tailEnd type="none" w="med" len="med"/>
                    </a:lnB>
                    <a:noFill/>
                  </a:tcPr>
                </a:tc>
                <a:tc>
                  <a:txBody>
                    <a:bodyPr/>
                    <a:lstStyle/>
                    <a:p>
                      <a:pPr algn="ctr" rtl="1"/>
                      <a:r>
                        <a:rPr lang="fa-IR" sz="1200" b="1" dirty="0">
                          <a:solidFill>
                            <a:schemeClr val="bg1"/>
                          </a:solidFill>
                          <a:latin typeface="Yekan Bakh" pitchFamily="2" charset="-78"/>
                          <a:ea typeface="Yekan Bakh" pitchFamily="2" charset="-78"/>
                          <a:cs typeface="Yekan Bakh" pitchFamily="2" charset="-78"/>
                        </a:rPr>
                        <a:t>حوزه</a:t>
                      </a:r>
                      <a:endParaRPr lang="en-US" sz="1200" b="1" dirty="0">
                        <a:solidFill>
                          <a:schemeClr val="bg1"/>
                        </a:solidFill>
                        <a:latin typeface="Yekan Bakh" pitchFamily="2" charset="-78"/>
                        <a:ea typeface="Yekan Bakh" pitchFamily="2" charset="-78"/>
                        <a:cs typeface="Yekan Bakh" pitchFamily="2" charset="-78"/>
                      </a:endParaRPr>
                    </a:p>
                  </a:txBody>
                  <a:tcPr anchor="ctr">
                    <a:solidFill>
                      <a:srgbClr val="1E2761"/>
                    </a:solidFill>
                  </a:tcPr>
                </a:tc>
                <a:extLst>
                  <a:ext uri="{0D108BD9-81ED-4DB2-BD59-A6C34878D82A}">
                    <a16:rowId xmlns:a16="http://schemas.microsoft.com/office/drawing/2014/main" val="359730985"/>
                  </a:ext>
                </a:extLst>
              </a:tr>
              <a:tr h="580896">
                <a:tc>
                  <a:txBody>
                    <a:bodyPr/>
                    <a:lstStyle/>
                    <a:p>
                      <a:pPr algn="justLow" rtl="1"/>
                      <a:r>
                        <a:rPr lang="fa-IR" sz="900" kern="1200" dirty="0">
                          <a:solidFill>
                            <a:schemeClr val="tx1">
                              <a:lumMod val="50000"/>
                              <a:lumOff val="50000"/>
                            </a:schemeClr>
                          </a:solidFill>
                          <a:latin typeface="Yekan Bakh" pitchFamily="2" charset="-78"/>
                          <a:ea typeface="Yekan Bakh" pitchFamily="2" charset="-78"/>
                          <a:cs typeface="Yekan Bakh" pitchFamily="2" charset="-78"/>
                        </a:rPr>
                        <a:t>فرض می‌شود سیمرغ صرفاً با تقاضای ورودی رشد نمی‌کند و با شناخت نیازها و فرصت‌ها می‌تواند به‌صورت فعالانه</a:t>
                      </a:r>
                      <a:r>
                        <a:rPr lang="en-US" sz="900" kern="1200" dirty="0">
                          <a:solidFill>
                            <a:schemeClr val="tx1">
                              <a:lumMod val="50000"/>
                              <a:lumOff val="50000"/>
                            </a:schemeClr>
                          </a:solidFill>
                          <a:latin typeface="Yekan Bakh" pitchFamily="2" charset="-78"/>
                          <a:ea typeface="Yekan Bakh" pitchFamily="2" charset="-78"/>
                          <a:cs typeface="Yekan Bakh" pitchFamily="2" charset="-78"/>
                        </a:rPr>
                        <a:t> </a:t>
                      </a:r>
                      <a:r>
                        <a:rPr lang="fa-IR" sz="900" kern="1200" dirty="0">
                          <a:solidFill>
                            <a:schemeClr val="tx1">
                              <a:lumMod val="50000"/>
                              <a:lumOff val="50000"/>
                            </a:schemeClr>
                          </a:solidFill>
                          <a:latin typeface="Yekan Bakh" pitchFamily="2" charset="-78"/>
                          <a:ea typeface="Yekan Bakh" pitchFamily="2" charset="-78"/>
                          <a:cs typeface="Yekan Bakh" pitchFamily="2" charset="-78"/>
                        </a:rPr>
                        <a:t>فرصت‌های مناسب را به شرکت‌های ایرانی یا خارجی معرفی کند. </a:t>
                      </a:r>
                      <a:endParaRPr lang="en-US" sz="900" kern="1200" dirty="0">
                        <a:solidFill>
                          <a:schemeClr val="tx1">
                            <a:lumMod val="50000"/>
                            <a:lumOff val="50000"/>
                          </a:schemeClr>
                        </a:solidFill>
                        <a:latin typeface="Yekan Bakh" pitchFamily="2" charset="-78"/>
                        <a:ea typeface="Yekan Bakh" pitchFamily="2" charset="-78"/>
                        <a:cs typeface="Yekan Bakh" pitchFamily="2" charset="-78"/>
                      </a:endParaRPr>
                    </a:p>
                  </a:txBody>
                  <a:tcPr anchor="ctr">
                    <a:lnB w="3175" cap="flat" cmpd="sng" algn="ctr">
                      <a:solidFill>
                        <a:schemeClr val="bg1">
                          <a:lumMod val="85000"/>
                        </a:schemeClr>
                      </a:solidFill>
                      <a:prstDash val="solid"/>
                      <a:round/>
                      <a:headEnd type="none" w="med" len="med"/>
                      <a:tailEnd type="none" w="med" len="med"/>
                    </a:lnB>
                    <a:solidFill>
                      <a:schemeClr val="bg1">
                        <a:lumMod val="95000"/>
                        <a:alpha val="39000"/>
                      </a:schemeClr>
                    </a:solidFill>
                  </a:tcPr>
                </a:tc>
                <a:tc>
                  <a:txBody>
                    <a:bodyPr/>
                    <a:lstStyle/>
                    <a:p>
                      <a:pPr algn="r" rtl="1"/>
                      <a:endParaRPr lang="en-US" sz="1100" dirty="0">
                        <a:solidFill>
                          <a:schemeClr val="tx1">
                            <a:lumMod val="65000"/>
                            <a:lumOff val="35000"/>
                          </a:schemeClr>
                        </a:solidFill>
                        <a:latin typeface="Yekan Bakh" pitchFamily="2" charset="-78"/>
                        <a:ea typeface="Yekan Bakh" pitchFamily="2" charset="-78"/>
                        <a:cs typeface="Yekan Bakh" pitchFamily="2" charset="-78"/>
                      </a:endParaRPr>
                    </a:p>
                  </a:txBody>
                  <a:tcPr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r" rtl="1"/>
                      <a:r>
                        <a:rPr lang="fa-IR" sz="1100" b="1" kern="1200" dirty="0">
                          <a:solidFill>
                            <a:srgbClr val="1E2761"/>
                          </a:solidFill>
                          <a:latin typeface="Yekan Bakh" pitchFamily="2" charset="-78"/>
                          <a:ea typeface="Yekan Bakh" pitchFamily="2" charset="-78"/>
                          <a:cs typeface="Yekan Bakh" pitchFamily="2" charset="-78"/>
                        </a:rPr>
                        <a:t>۱۸. رویکرد </a:t>
                      </a:r>
                      <a:r>
                        <a:rPr lang="en-US" sz="1100" b="1" kern="1200" dirty="0">
                          <a:solidFill>
                            <a:srgbClr val="1E2761"/>
                          </a:solidFill>
                          <a:latin typeface="Yekan Bakh" pitchFamily="2" charset="-78"/>
                          <a:ea typeface="Yekan Bakh" pitchFamily="2" charset="-78"/>
                          <a:cs typeface="Yekan Bakh" pitchFamily="2" charset="-78"/>
                        </a:rPr>
                        <a:t>Proactive</a:t>
                      </a:r>
                    </a:p>
                  </a:txBody>
                  <a:tcPr anchor="ctr">
                    <a:lnB w="3175" cap="flat" cmpd="sng" algn="ctr">
                      <a:solidFill>
                        <a:schemeClr val="bg1">
                          <a:lumMod val="85000"/>
                        </a:schemeClr>
                      </a:solidFill>
                      <a:prstDash val="solid"/>
                      <a:round/>
                      <a:headEnd type="none" w="med" len="med"/>
                      <a:tailEnd type="none" w="med" len="med"/>
                    </a:lnB>
                    <a:solidFill>
                      <a:schemeClr val="bg1">
                        <a:lumMod val="95000"/>
                        <a:alpha val="39000"/>
                      </a:schemeClr>
                    </a:solidFill>
                  </a:tcPr>
                </a:tc>
                <a:extLst>
                  <a:ext uri="{0D108BD9-81ED-4DB2-BD59-A6C34878D82A}">
                    <a16:rowId xmlns:a16="http://schemas.microsoft.com/office/drawing/2014/main" val="3008010569"/>
                  </a:ext>
                </a:extLst>
              </a:tr>
              <a:tr h="414926">
                <a:tc>
                  <a:txBody>
                    <a:bodyPr/>
                    <a:lstStyle/>
                    <a:p>
                      <a:pPr algn="justLow" rtl="1"/>
                      <a:r>
                        <a:rPr lang="fa-IR" sz="900" kern="1200" dirty="0">
                          <a:solidFill>
                            <a:schemeClr val="tx1">
                              <a:lumMod val="50000"/>
                              <a:lumOff val="50000"/>
                            </a:schemeClr>
                          </a:solidFill>
                          <a:latin typeface="Yekan Bakh" pitchFamily="2" charset="-78"/>
                          <a:ea typeface="Yekan Bakh" pitchFamily="2" charset="-78"/>
                          <a:cs typeface="Yekan Bakh" pitchFamily="2" charset="-78"/>
                        </a:rPr>
                        <a:t>فرض می‌شود نیاز، ارزش پیشنهادی</a:t>
                      </a:r>
                      <a:r>
                        <a:rPr lang="en-US" sz="900" kern="1200" dirty="0">
                          <a:solidFill>
                            <a:schemeClr val="tx1">
                              <a:lumMod val="50000"/>
                              <a:lumOff val="50000"/>
                            </a:schemeClr>
                          </a:solidFill>
                          <a:latin typeface="Yekan Bakh" pitchFamily="2" charset="-78"/>
                          <a:ea typeface="Yekan Bakh" pitchFamily="2" charset="-78"/>
                          <a:cs typeface="Yekan Bakh" pitchFamily="2" charset="-78"/>
                        </a:rPr>
                        <a:t>، </a:t>
                      </a:r>
                      <a:r>
                        <a:rPr lang="fa-IR" sz="900" kern="1200" dirty="0">
                          <a:solidFill>
                            <a:schemeClr val="tx1">
                              <a:lumMod val="50000"/>
                              <a:lumOff val="50000"/>
                            </a:schemeClr>
                          </a:solidFill>
                          <a:latin typeface="Yekan Bakh" pitchFamily="2" charset="-78"/>
                          <a:ea typeface="Yekan Bakh" pitchFamily="2" charset="-78"/>
                          <a:cs typeface="Yekan Bakh" pitchFamily="2" charset="-78"/>
                        </a:rPr>
                        <a:t>مدل درآمدی، کانال جذب و مدل عملیاتی برای هر بخش مشتری متفاوت است و یک مدل کسب‌وکار واحد برای همه مشتریان کارآمد نخواهد بود. </a:t>
                      </a:r>
                      <a:endParaRPr lang="en-US" sz="900" kern="1200" dirty="0">
                        <a:solidFill>
                          <a:schemeClr val="tx1">
                            <a:lumMod val="50000"/>
                            <a:lumOff val="50000"/>
                          </a:schemeClr>
                        </a:solidFill>
                        <a:latin typeface="Yekan Bakh" pitchFamily="2" charset="-78"/>
                        <a:ea typeface="Yekan Bakh" pitchFamily="2" charset="-78"/>
                        <a:cs typeface="Yekan Bakh" pitchFamily="2" charset="-78"/>
                      </a:endParaRPr>
                    </a:p>
                  </a:txBody>
                  <a:tcPr anchor="ct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bg1">
                        <a:lumMod val="95000"/>
                        <a:alpha val="39000"/>
                      </a:schemeClr>
                    </a:solidFill>
                  </a:tcPr>
                </a:tc>
                <a:tc>
                  <a:txBody>
                    <a:bodyPr/>
                    <a:lstStyle/>
                    <a:p>
                      <a:pPr algn="r" rtl="1"/>
                      <a:endParaRPr lang="en-US" sz="1100" dirty="0">
                        <a:solidFill>
                          <a:schemeClr val="tx1">
                            <a:lumMod val="65000"/>
                            <a:lumOff val="35000"/>
                          </a:schemeClr>
                        </a:solidFill>
                        <a:latin typeface="Yekan Bakh" pitchFamily="2" charset="-78"/>
                        <a:ea typeface="Yekan Bakh" pitchFamily="2" charset="-78"/>
                        <a:cs typeface="Yekan Bakh" pitchFamily="2" charset="-78"/>
                      </a:endParaRPr>
                    </a:p>
                  </a:txBody>
                  <a:tcPr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r" rtl="1"/>
                      <a:r>
                        <a:rPr lang="fa-IR" sz="1100" b="1" kern="1200" dirty="0">
                          <a:solidFill>
                            <a:srgbClr val="1E2761"/>
                          </a:solidFill>
                          <a:latin typeface="Yekan Bakh" pitchFamily="2" charset="-78"/>
                          <a:ea typeface="Yekan Bakh" pitchFamily="2" charset="-78"/>
                          <a:cs typeface="Yekan Bakh" pitchFamily="2" charset="-78"/>
                        </a:rPr>
                        <a:t>۱۹. مدل سگمنت‌محور </a:t>
                      </a:r>
                      <a:endParaRPr lang="en-US" sz="1100" b="1" kern="1200" dirty="0">
                        <a:solidFill>
                          <a:srgbClr val="1E2761"/>
                        </a:solidFill>
                        <a:latin typeface="Yekan Bakh" pitchFamily="2" charset="-78"/>
                        <a:ea typeface="Yekan Bakh" pitchFamily="2" charset="-78"/>
                        <a:cs typeface="Yekan Bakh" pitchFamily="2" charset="-78"/>
                      </a:endParaRPr>
                    </a:p>
                  </a:txBody>
                  <a:tcPr anchor="ct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bg1">
                        <a:lumMod val="95000"/>
                        <a:alpha val="39000"/>
                      </a:schemeClr>
                    </a:solidFill>
                  </a:tcPr>
                </a:tc>
                <a:extLst>
                  <a:ext uri="{0D108BD9-81ED-4DB2-BD59-A6C34878D82A}">
                    <a16:rowId xmlns:a16="http://schemas.microsoft.com/office/drawing/2014/main" val="3602813289"/>
                  </a:ext>
                </a:extLst>
              </a:tr>
              <a:tr h="414926">
                <a:tc>
                  <a:txBody>
                    <a:bodyPr/>
                    <a:lstStyle/>
                    <a:p>
                      <a:pPr algn="justLow" rtl="1"/>
                      <a:r>
                        <a:rPr lang="fa-IR" sz="900" kern="1200" dirty="0">
                          <a:solidFill>
                            <a:schemeClr val="tx1">
                              <a:lumMod val="50000"/>
                              <a:lumOff val="50000"/>
                            </a:schemeClr>
                          </a:solidFill>
                          <a:latin typeface="Yekan Bakh" pitchFamily="2" charset="-78"/>
                          <a:ea typeface="Yekan Bakh" pitchFamily="2" charset="-78"/>
                          <a:cs typeface="Yekan Bakh" pitchFamily="2" charset="-78"/>
                        </a:rPr>
                        <a:t>فرض می‌شود بازار بالقوه خدمات بسیار گسترده است، اما ورود بدون معیار به حوزه‌هایی مانند </a:t>
                      </a:r>
                      <a:r>
                        <a:rPr lang="en-US" sz="900" kern="1200" dirty="0">
                          <a:solidFill>
                            <a:schemeClr val="tx1">
                              <a:lumMod val="50000"/>
                              <a:lumOff val="50000"/>
                            </a:schemeClr>
                          </a:solidFill>
                          <a:latin typeface="Yekan Bakh" pitchFamily="2" charset="-78"/>
                          <a:ea typeface="Yekan Bakh" pitchFamily="2" charset="-78"/>
                          <a:cs typeface="Yekan Bakh" pitchFamily="2" charset="-78"/>
                        </a:rPr>
                        <a:t>M&amp;A، </a:t>
                      </a:r>
                      <a:r>
                        <a:rPr lang="fa-IR" sz="900" kern="1200" dirty="0">
                          <a:solidFill>
                            <a:schemeClr val="tx1">
                              <a:lumMod val="50000"/>
                              <a:lumOff val="50000"/>
                            </a:schemeClr>
                          </a:solidFill>
                          <a:latin typeface="Yekan Bakh" pitchFamily="2" charset="-78"/>
                          <a:ea typeface="Yekan Bakh" pitchFamily="2" charset="-78"/>
                          <a:cs typeface="Yekan Bakh" pitchFamily="2" charset="-78"/>
                        </a:rPr>
                        <a:t>آموزش، تبلیغات و سایر خدمات باعث بهم‌خوردن</a:t>
                      </a:r>
                      <a:r>
                        <a:rPr lang="en-US" sz="900" kern="1200" dirty="0">
                          <a:solidFill>
                            <a:schemeClr val="tx1">
                              <a:lumMod val="50000"/>
                              <a:lumOff val="50000"/>
                            </a:schemeClr>
                          </a:solidFill>
                          <a:latin typeface="Yekan Bakh" pitchFamily="2" charset="-78"/>
                          <a:ea typeface="Yekan Bakh" pitchFamily="2" charset="-78"/>
                          <a:cs typeface="Yekan Bakh" pitchFamily="2" charset="-78"/>
                        </a:rPr>
                        <a:t> </a:t>
                      </a:r>
                      <a:r>
                        <a:rPr lang="fa-IR" sz="900" kern="1200" dirty="0">
                          <a:solidFill>
                            <a:schemeClr val="tx1">
                              <a:lumMod val="50000"/>
                              <a:lumOff val="50000"/>
                            </a:schemeClr>
                          </a:solidFill>
                          <a:latin typeface="Yekan Bakh" pitchFamily="2" charset="-78"/>
                          <a:ea typeface="Yekan Bakh" pitchFamily="2" charset="-78"/>
                          <a:cs typeface="Yekan Bakh" pitchFamily="2" charset="-78"/>
                        </a:rPr>
                        <a:t>تمرکز می‌شود؛ بنابراین سیمرغ به یک </a:t>
                      </a:r>
                      <a:r>
                        <a:rPr lang="en-US" sz="900" kern="1200" dirty="0">
                          <a:solidFill>
                            <a:schemeClr val="tx1">
                              <a:lumMod val="50000"/>
                              <a:lumOff val="50000"/>
                            </a:schemeClr>
                          </a:solidFill>
                          <a:latin typeface="Yekan Bakh" pitchFamily="2" charset="-78"/>
                          <a:ea typeface="Yekan Bakh" pitchFamily="2" charset="-78"/>
                          <a:cs typeface="Yekan Bakh" pitchFamily="2" charset="-78"/>
                        </a:rPr>
                        <a:t>Service Selection Framework</a:t>
                      </a:r>
                      <a:r>
                        <a:rPr lang="fa-IR" sz="900" kern="1200" dirty="0">
                          <a:solidFill>
                            <a:schemeClr val="tx1">
                              <a:lumMod val="50000"/>
                              <a:lumOff val="50000"/>
                            </a:schemeClr>
                          </a:solidFill>
                          <a:latin typeface="Yekan Bakh" pitchFamily="2" charset="-78"/>
                          <a:ea typeface="Yekan Bakh" pitchFamily="2" charset="-78"/>
                          <a:cs typeface="Yekan Bakh" pitchFamily="2" charset="-78"/>
                        </a:rPr>
                        <a:t> نیاز دارد. </a:t>
                      </a:r>
                      <a:endParaRPr lang="en-US" sz="900" kern="1200" dirty="0">
                        <a:solidFill>
                          <a:schemeClr val="tx1">
                            <a:lumMod val="50000"/>
                            <a:lumOff val="50000"/>
                          </a:schemeClr>
                        </a:solidFill>
                        <a:latin typeface="Yekan Bakh" pitchFamily="2" charset="-78"/>
                        <a:ea typeface="Yekan Bakh" pitchFamily="2" charset="-78"/>
                        <a:cs typeface="Yekan Bakh" pitchFamily="2" charset="-78"/>
                      </a:endParaRPr>
                    </a:p>
                  </a:txBody>
                  <a:tcPr anchor="ct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bg1">
                        <a:lumMod val="95000"/>
                        <a:alpha val="39000"/>
                      </a:schemeClr>
                    </a:solidFill>
                  </a:tcPr>
                </a:tc>
                <a:tc>
                  <a:txBody>
                    <a:bodyPr/>
                    <a:lstStyle/>
                    <a:p>
                      <a:pPr algn="r" rtl="1"/>
                      <a:endParaRPr lang="en-US" sz="900">
                        <a:solidFill>
                          <a:schemeClr val="tx1">
                            <a:lumMod val="65000"/>
                            <a:lumOff val="35000"/>
                          </a:schemeClr>
                        </a:solidFill>
                        <a:latin typeface="Yekan Bakh" pitchFamily="2" charset="-78"/>
                        <a:ea typeface="Yekan Bakh" pitchFamily="2" charset="-78"/>
                        <a:cs typeface="Yekan Bakh" pitchFamily="2" charset="-78"/>
                      </a:endParaRPr>
                    </a:p>
                  </a:txBody>
                  <a:tcPr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r" rtl="1"/>
                      <a:r>
                        <a:rPr lang="fa-IR" sz="1100" b="1" kern="1200" dirty="0">
                          <a:solidFill>
                            <a:srgbClr val="1E2761"/>
                          </a:solidFill>
                          <a:latin typeface="Yekan Bakh" pitchFamily="2" charset="-78"/>
                          <a:ea typeface="Yekan Bakh" pitchFamily="2" charset="-78"/>
                          <a:cs typeface="Yekan Bakh" pitchFamily="2" charset="-78"/>
                        </a:rPr>
                        <a:t>۲۰. دامنه خدمات </a:t>
                      </a:r>
                      <a:endParaRPr lang="en-US" sz="1100" b="1" kern="1200" dirty="0">
                        <a:solidFill>
                          <a:srgbClr val="1E2761"/>
                        </a:solidFill>
                        <a:latin typeface="Yekan Bakh" pitchFamily="2" charset="-78"/>
                        <a:ea typeface="Yekan Bakh" pitchFamily="2" charset="-78"/>
                        <a:cs typeface="Yekan Bakh" pitchFamily="2" charset="-78"/>
                      </a:endParaRPr>
                    </a:p>
                  </a:txBody>
                  <a:tcPr anchor="ct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bg1">
                        <a:lumMod val="95000"/>
                        <a:alpha val="39000"/>
                      </a:schemeClr>
                    </a:solidFill>
                  </a:tcPr>
                </a:tc>
                <a:extLst>
                  <a:ext uri="{0D108BD9-81ED-4DB2-BD59-A6C34878D82A}">
                    <a16:rowId xmlns:a16="http://schemas.microsoft.com/office/drawing/2014/main" val="1927763593"/>
                  </a:ext>
                </a:extLst>
              </a:tr>
              <a:tr h="414926">
                <a:tc>
                  <a:txBody>
                    <a:bodyPr/>
                    <a:lstStyle/>
                    <a:p>
                      <a:pPr algn="justLow" rtl="1"/>
                      <a:r>
                        <a:rPr lang="fa-IR" sz="900" kern="1200" dirty="0">
                          <a:solidFill>
                            <a:schemeClr val="tx1">
                              <a:lumMod val="50000"/>
                              <a:lumOff val="50000"/>
                            </a:schemeClr>
                          </a:solidFill>
                          <a:latin typeface="Yekan Bakh" pitchFamily="2" charset="-78"/>
                          <a:ea typeface="Yekan Bakh" pitchFamily="2" charset="-78"/>
                          <a:cs typeface="Yekan Bakh" pitchFamily="2" charset="-78"/>
                        </a:rPr>
                        <a:t>فرض می‌شود بخشی از بازار موردنظر هم‌اکنون توسط برخی از رقبا (نیاز به تحقیقات بازار بیشتر) پوشش داده می‌شود و موفقیت سیمرغ وابسته به شناسایی دقیق فضاهای خالی بازار است.</a:t>
                      </a:r>
                      <a:endParaRPr lang="en-US" sz="900" kern="1200" dirty="0">
                        <a:solidFill>
                          <a:schemeClr val="tx1">
                            <a:lumMod val="50000"/>
                            <a:lumOff val="50000"/>
                          </a:schemeClr>
                        </a:solidFill>
                        <a:latin typeface="Yekan Bakh" pitchFamily="2" charset="-78"/>
                        <a:ea typeface="Yekan Bakh" pitchFamily="2" charset="-78"/>
                        <a:cs typeface="Yekan Bakh" pitchFamily="2" charset="-78"/>
                      </a:endParaRPr>
                    </a:p>
                  </a:txBody>
                  <a:tcPr anchor="ctr">
                    <a:lnR w="3175" cap="flat" cmpd="sng" algn="ctr">
                      <a:no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bg1">
                        <a:lumMod val="95000"/>
                        <a:alpha val="39000"/>
                      </a:schemeClr>
                    </a:solidFill>
                  </a:tcPr>
                </a:tc>
                <a:tc>
                  <a:txBody>
                    <a:bodyPr/>
                    <a:lstStyle/>
                    <a:p>
                      <a:pPr algn="r" rtl="1"/>
                      <a:endParaRPr lang="en-US" sz="900" dirty="0">
                        <a:solidFill>
                          <a:schemeClr val="tx1">
                            <a:lumMod val="65000"/>
                            <a:lumOff val="35000"/>
                          </a:schemeClr>
                        </a:solidFill>
                        <a:latin typeface="Yekan Bakh" pitchFamily="2" charset="-78"/>
                        <a:ea typeface="Yekan Bakh" pitchFamily="2" charset="-78"/>
                        <a:cs typeface="Yekan Bakh" pitchFamily="2" charset="-78"/>
                      </a:endParaRPr>
                    </a:p>
                  </a:txBody>
                  <a:tcPr anchor="ctr">
                    <a:lnL w="3175"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r" rtl="1"/>
                      <a:r>
                        <a:rPr lang="fa-IR" sz="1100" b="1" kern="1200" dirty="0">
                          <a:solidFill>
                            <a:srgbClr val="1E2761"/>
                          </a:solidFill>
                          <a:latin typeface="Yekan Bakh" pitchFamily="2" charset="-78"/>
                          <a:ea typeface="Yekan Bakh" pitchFamily="2" charset="-78"/>
                          <a:cs typeface="Yekan Bakh" pitchFamily="2" charset="-78"/>
                        </a:rPr>
                        <a:t>۲۱. رقابت</a:t>
                      </a:r>
                      <a:endParaRPr lang="en-US" sz="1100" b="1" kern="1200" dirty="0">
                        <a:solidFill>
                          <a:srgbClr val="1E2761"/>
                        </a:solidFill>
                        <a:latin typeface="Yekan Bakh" pitchFamily="2" charset="-78"/>
                        <a:ea typeface="Yekan Bakh" pitchFamily="2" charset="-78"/>
                        <a:cs typeface="Yekan Bakh" pitchFamily="2" charset="-78"/>
                      </a:endParaRPr>
                    </a:p>
                  </a:txBody>
                  <a:tcPr anchor="ct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bg1">
                        <a:lumMod val="95000"/>
                        <a:alpha val="39000"/>
                      </a:schemeClr>
                    </a:solidFill>
                  </a:tcPr>
                </a:tc>
                <a:extLst>
                  <a:ext uri="{0D108BD9-81ED-4DB2-BD59-A6C34878D82A}">
                    <a16:rowId xmlns:a16="http://schemas.microsoft.com/office/drawing/2014/main" val="2592394972"/>
                  </a:ext>
                </a:extLst>
              </a:tr>
              <a:tr h="414926">
                <a:tc>
                  <a:txBody>
                    <a:bodyPr/>
                    <a:lstStyle/>
                    <a:p>
                      <a:pPr algn="justLow" rtl="1"/>
                      <a:r>
                        <a:rPr lang="fa-IR" sz="900" kern="1200" dirty="0">
                          <a:solidFill>
                            <a:schemeClr val="tx1">
                              <a:lumMod val="50000"/>
                              <a:lumOff val="50000"/>
                            </a:schemeClr>
                          </a:solidFill>
                          <a:latin typeface="Yekan Bakh" pitchFamily="2" charset="-78"/>
                          <a:ea typeface="Yekan Bakh" pitchFamily="2" charset="-78"/>
                          <a:cs typeface="Yekan Bakh" pitchFamily="2" charset="-78"/>
                        </a:rPr>
                        <a:t>فرض می‌شود ایده کسب‌وکار به‌تنهایی قابل تقلید است، اما ترکیب هسته اصلی تیم</a:t>
                      </a:r>
                      <a:r>
                        <a:rPr lang="en-US" sz="900" kern="1200" dirty="0">
                          <a:solidFill>
                            <a:schemeClr val="tx1">
                              <a:lumMod val="50000"/>
                              <a:lumOff val="50000"/>
                            </a:schemeClr>
                          </a:solidFill>
                          <a:latin typeface="Yekan Bakh" pitchFamily="2" charset="-78"/>
                          <a:ea typeface="Yekan Bakh" pitchFamily="2" charset="-78"/>
                          <a:cs typeface="Yekan Bakh" pitchFamily="2" charset="-78"/>
                        </a:rPr>
                        <a:t>، </a:t>
                      </a:r>
                      <a:r>
                        <a:rPr lang="fa-IR" sz="900" kern="1200" dirty="0">
                          <a:solidFill>
                            <a:schemeClr val="tx1">
                              <a:lumMod val="50000"/>
                              <a:lumOff val="50000"/>
                            </a:schemeClr>
                          </a:solidFill>
                          <a:latin typeface="Yekan Bakh" pitchFamily="2" charset="-78"/>
                          <a:ea typeface="Yekan Bakh" pitchFamily="2" charset="-78"/>
                          <a:cs typeface="Yekan Bakh" pitchFamily="2" charset="-78"/>
                        </a:rPr>
                        <a:t>شبکه شرکا</a:t>
                      </a:r>
                      <a:r>
                        <a:rPr lang="en-US" sz="900" kern="1200" dirty="0">
                          <a:solidFill>
                            <a:schemeClr val="tx1">
                              <a:lumMod val="50000"/>
                              <a:lumOff val="50000"/>
                            </a:schemeClr>
                          </a:solidFill>
                          <a:latin typeface="Yekan Bakh" pitchFamily="2" charset="-78"/>
                          <a:ea typeface="Yekan Bakh" pitchFamily="2" charset="-78"/>
                          <a:cs typeface="Yekan Bakh" pitchFamily="2" charset="-78"/>
                        </a:rPr>
                        <a:t>، </a:t>
                      </a:r>
                      <a:r>
                        <a:rPr lang="fa-IR" sz="900" kern="1200" dirty="0">
                          <a:solidFill>
                            <a:schemeClr val="tx1">
                              <a:lumMod val="50000"/>
                              <a:lumOff val="50000"/>
                            </a:schemeClr>
                          </a:solidFill>
                          <a:latin typeface="Yekan Bakh" pitchFamily="2" charset="-78"/>
                          <a:ea typeface="Yekan Bakh" pitchFamily="2" charset="-78"/>
                          <a:cs typeface="Yekan Bakh" pitchFamily="2" charset="-78"/>
                        </a:rPr>
                        <a:t>پایگاه مشتریان</a:t>
                      </a:r>
                      <a:r>
                        <a:rPr lang="en-US" sz="900" kern="1200" dirty="0">
                          <a:solidFill>
                            <a:schemeClr val="tx1">
                              <a:lumMod val="50000"/>
                              <a:lumOff val="50000"/>
                            </a:schemeClr>
                          </a:solidFill>
                          <a:latin typeface="Yekan Bakh" pitchFamily="2" charset="-78"/>
                          <a:ea typeface="Yekan Bakh" pitchFamily="2" charset="-78"/>
                          <a:cs typeface="Yekan Bakh" pitchFamily="2" charset="-78"/>
                        </a:rPr>
                        <a:t>، </a:t>
                      </a:r>
                      <a:r>
                        <a:rPr lang="fa-IR" sz="900" kern="1200" dirty="0">
                          <a:solidFill>
                            <a:schemeClr val="tx1">
                              <a:lumMod val="50000"/>
                              <a:lumOff val="50000"/>
                            </a:schemeClr>
                          </a:solidFill>
                          <a:latin typeface="Yekan Bakh" pitchFamily="2" charset="-78"/>
                          <a:ea typeface="Yekan Bakh" pitchFamily="2" charset="-78"/>
                          <a:cs typeface="Yekan Bakh" pitchFamily="2" charset="-78"/>
                        </a:rPr>
                        <a:t>اعتبار برند</a:t>
                      </a:r>
                      <a:r>
                        <a:rPr lang="en-US" sz="900" kern="1200" dirty="0">
                          <a:solidFill>
                            <a:schemeClr val="tx1">
                              <a:lumMod val="50000"/>
                              <a:lumOff val="50000"/>
                            </a:schemeClr>
                          </a:solidFill>
                          <a:latin typeface="Yekan Bakh" pitchFamily="2" charset="-78"/>
                          <a:ea typeface="Yekan Bakh" pitchFamily="2" charset="-78"/>
                          <a:cs typeface="Yekan Bakh" pitchFamily="2" charset="-78"/>
                        </a:rPr>
                        <a:t>، </a:t>
                      </a:r>
                      <a:r>
                        <a:rPr lang="fa-IR" sz="900" kern="1200" dirty="0">
                          <a:solidFill>
                            <a:schemeClr val="tx1">
                              <a:lumMod val="50000"/>
                              <a:lumOff val="50000"/>
                            </a:schemeClr>
                          </a:solidFill>
                          <a:latin typeface="Yekan Bakh" pitchFamily="2" charset="-78"/>
                          <a:ea typeface="Yekan Bakh" pitchFamily="2" charset="-78"/>
                          <a:cs typeface="Yekan Bakh" pitchFamily="2" charset="-78"/>
                        </a:rPr>
                        <a:t>فرآیندهای اعتبارسنجی</a:t>
                      </a:r>
                      <a:r>
                        <a:rPr lang="en-US" sz="900" kern="1200" dirty="0">
                          <a:solidFill>
                            <a:schemeClr val="tx1">
                              <a:lumMod val="50000"/>
                              <a:lumOff val="50000"/>
                            </a:schemeClr>
                          </a:solidFill>
                          <a:latin typeface="Yekan Bakh" pitchFamily="2" charset="-78"/>
                          <a:ea typeface="Yekan Bakh" pitchFamily="2" charset="-78"/>
                          <a:cs typeface="Yekan Bakh" pitchFamily="2" charset="-78"/>
                        </a:rPr>
                        <a:t> </a:t>
                      </a:r>
                      <a:r>
                        <a:rPr lang="fa-IR" sz="900" kern="1200" dirty="0">
                          <a:solidFill>
                            <a:schemeClr val="tx1">
                              <a:lumMod val="50000"/>
                              <a:lumOff val="50000"/>
                            </a:schemeClr>
                          </a:solidFill>
                          <a:latin typeface="Yekan Bakh" pitchFamily="2" charset="-78"/>
                          <a:ea typeface="Yekan Bakh" pitchFamily="2" charset="-78"/>
                          <a:cs typeface="Yekan Bakh" pitchFamily="2" charset="-78"/>
                        </a:rPr>
                        <a:t>و توان عملیاتی</a:t>
                      </a:r>
                      <a:r>
                        <a:rPr lang="en-US" sz="900" kern="1200" dirty="0">
                          <a:solidFill>
                            <a:schemeClr val="tx1">
                              <a:lumMod val="50000"/>
                              <a:lumOff val="50000"/>
                            </a:schemeClr>
                          </a:solidFill>
                          <a:latin typeface="Yekan Bakh" pitchFamily="2" charset="-78"/>
                          <a:ea typeface="Yekan Bakh" pitchFamily="2" charset="-78"/>
                          <a:cs typeface="Yekan Bakh" pitchFamily="2" charset="-78"/>
                        </a:rPr>
                        <a:t> </a:t>
                      </a:r>
                      <a:r>
                        <a:rPr lang="fa-IR" sz="900" kern="1200" dirty="0">
                          <a:solidFill>
                            <a:schemeClr val="tx1">
                              <a:lumMod val="50000"/>
                              <a:lumOff val="50000"/>
                            </a:schemeClr>
                          </a:solidFill>
                          <a:latin typeface="Yekan Bakh" pitchFamily="2" charset="-78"/>
                          <a:ea typeface="Yekan Bakh" pitchFamily="2" charset="-78"/>
                          <a:cs typeface="Yekan Bakh" pitchFamily="2" charset="-78"/>
                        </a:rPr>
                        <a:t>می‌تواند ایجاد مزیت دشوار برای تقلید کند.</a:t>
                      </a:r>
                      <a:endParaRPr lang="en-US" sz="900" kern="1200" dirty="0">
                        <a:solidFill>
                          <a:schemeClr val="tx1">
                            <a:lumMod val="50000"/>
                            <a:lumOff val="50000"/>
                          </a:schemeClr>
                        </a:solidFill>
                        <a:latin typeface="Yekan Bakh" pitchFamily="2" charset="-78"/>
                        <a:ea typeface="Yekan Bakh" pitchFamily="2" charset="-78"/>
                        <a:cs typeface="Yekan Bakh" pitchFamily="2" charset="-78"/>
                      </a:endParaRPr>
                    </a:p>
                  </a:txBody>
                  <a:tcPr anchor="ct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bg1">
                        <a:lumMod val="95000"/>
                        <a:alpha val="39000"/>
                      </a:schemeClr>
                    </a:solidFill>
                  </a:tcPr>
                </a:tc>
                <a:tc>
                  <a:txBody>
                    <a:bodyPr/>
                    <a:lstStyle/>
                    <a:p>
                      <a:pPr algn="r" rtl="1"/>
                      <a:endParaRPr lang="en-US" sz="900">
                        <a:solidFill>
                          <a:schemeClr val="tx1">
                            <a:lumMod val="65000"/>
                            <a:lumOff val="35000"/>
                          </a:schemeClr>
                        </a:solidFill>
                        <a:latin typeface="Yekan Bakh" pitchFamily="2" charset="-78"/>
                        <a:ea typeface="Yekan Bakh" pitchFamily="2" charset="-78"/>
                        <a:cs typeface="Yekan Bakh" pitchFamily="2" charset="-78"/>
                      </a:endParaRPr>
                    </a:p>
                  </a:txBody>
                  <a:tcPr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r" rtl="1"/>
                      <a:r>
                        <a:rPr lang="fa-IR" sz="1100" b="1" kern="1200" dirty="0">
                          <a:solidFill>
                            <a:srgbClr val="1E2761"/>
                          </a:solidFill>
                          <a:latin typeface="Yekan Bakh" pitchFamily="2" charset="-78"/>
                          <a:ea typeface="Yekan Bakh" pitchFamily="2" charset="-78"/>
                          <a:cs typeface="Yekan Bakh" pitchFamily="2" charset="-78"/>
                        </a:rPr>
                        <a:t>۲۲. مزیت رقابتی</a:t>
                      </a:r>
                      <a:endParaRPr lang="en-US" sz="1100" b="1" kern="1200" dirty="0">
                        <a:solidFill>
                          <a:srgbClr val="1E2761"/>
                        </a:solidFill>
                        <a:latin typeface="Yekan Bakh" pitchFamily="2" charset="-78"/>
                        <a:ea typeface="Yekan Bakh" pitchFamily="2" charset="-78"/>
                        <a:cs typeface="Yekan Bakh" pitchFamily="2" charset="-78"/>
                      </a:endParaRPr>
                    </a:p>
                  </a:txBody>
                  <a:tcPr anchor="ct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bg1">
                        <a:lumMod val="95000"/>
                        <a:alpha val="39000"/>
                      </a:schemeClr>
                    </a:solidFill>
                  </a:tcPr>
                </a:tc>
                <a:extLst>
                  <a:ext uri="{0D108BD9-81ED-4DB2-BD59-A6C34878D82A}">
                    <a16:rowId xmlns:a16="http://schemas.microsoft.com/office/drawing/2014/main" val="942818257"/>
                  </a:ext>
                </a:extLst>
              </a:tr>
              <a:tr h="414926">
                <a:tc>
                  <a:txBody>
                    <a:bodyPr/>
                    <a:lstStyle/>
                    <a:p>
                      <a:pPr algn="justLow" rtl="1"/>
                      <a:r>
                        <a:rPr lang="fa-IR" sz="900" kern="1200" dirty="0">
                          <a:solidFill>
                            <a:schemeClr val="tx1">
                              <a:lumMod val="50000"/>
                              <a:lumOff val="50000"/>
                            </a:schemeClr>
                          </a:solidFill>
                          <a:latin typeface="Yekan Bakh" pitchFamily="2" charset="-78"/>
                          <a:ea typeface="Yekan Bakh" pitchFamily="2" charset="-78"/>
                          <a:cs typeface="Yekan Bakh" pitchFamily="2" charset="-78"/>
                        </a:rPr>
                        <a:t>فرض می‌شود برای همکاری با شرکت‌های بین‌المللی، الزامات قانونی و مجوزها یک پیش‌نیاز حیاتی است و بدون تعیین تکلیف آن، امکان‌پذیری واقعی مدل قابل قضاوت نیست. (نیاز به بررسی بیشتر) </a:t>
                      </a:r>
                      <a:endParaRPr lang="en-US" sz="900" kern="1200" dirty="0">
                        <a:solidFill>
                          <a:schemeClr val="tx1">
                            <a:lumMod val="50000"/>
                            <a:lumOff val="50000"/>
                          </a:schemeClr>
                        </a:solidFill>
                        <a:latin typeface="Yekan Bakh" pitchFamily="2" charset="-78"/>
                        <a:ea typeface="Yekan Bakh" pitchFamily="2" charset="-78"/>
                        <a:cs typeface="Yekan Bakh" pitchFamily="2" charset="-78"/>
                      </a:endParaRPr>
                    </a:p>
                  </a:txBody>
                  <a:tcPr anchor="ct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bg1">
                        <a:lumMod val="95000"/>
                        <a:alpha val="39000"/>
                      </a:schemeClr>
                    </a:solidFill>
                  </a:tcPr>
                </a:tc>
                <a:tc>
                  <a:txBody>
                    <a:bodyPr/>
                    <a:lstStyle/>
                    <a:p>
                      <a:pPr algn="r" rtl="1"/>
                      <a:endParaRPr lang="en-US" sz="900" dirty="0">
                        <a:solidFill>
                          <a:schemeClr val="tx1">
                            <a:lumMod val="65000"/>
                            <a:lumOff val="35000"/>
                          </a:schemeClr>
                        </a:solidFill>
                        <a:latin typeface="Yekan Bakh" pitchFamily="2" charset="-78"/>
                        <a:ea typeface="Yekan Bakh" pitchFamily="2" charset="-78"/>
                        <a:cs typeface="Yekan Bakh" pitchFamily="2" charset="-78"/>
                      </a:endParaRPr>
                    </a:p>
                  </a:txBody>
                  <a:tcPr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r" rtl="1"/>
                      <a:r>
                        <a:rPr lang="fa-IR" sz="1100" b="1" kern="1200" dirty="0">
                          <a:solidFill>
                            <a:srgbClr val="1E2761"/>
                          </a:solidFill>
                          <a:latin typeface="Yekan Bakh" pitchFamily="2" charset="-78"/>
                          <a:ea typeface="Yekan Bakh" pitchFamily="2" charset="-78"/>
                          <a:cs typeface="Yekan Bakh" pitchFamily="2" charset="-78"/>
                        </a:rPr>
                        <a:t>۲۳. قابلیت مجوز و </a:t>
                      </a:r>
                      <a:r>
                        <a:rPr lang="en-US" sz="1100" b="1" kern="1200" dirty="0">
                          <a:solidFill>
                            <a:srgbClr val="1E2761"/>
                          </a:solidFill>
                          <a:latin typeface="Yekan Bakh" pitchFamily="2" charset="-78"/>
                          <a:ea typeface="Yekan Bakh" pitchFamily="2" charset="-78"/>
                          <a:cs typeface="Yekan Bakh" pitchFamily="2" charset="-78"/>
                        </a:rPr>
                        <a:t>Compliance</a:t>
                      </a:r>
                    </a:p>
                  </a:txBody>
                  <a:tcPr anchor="ct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bg1">
                        <a:lumMod val="95000"/>
                        <a:alpha val="39000"/>
                      </a:schemeClr>
                    </a:solidFill>
                  </a:tcPr>
                </a:tc>
                <a:extLst>
                  <a:ext uri="{0D108BD9-81ED-4DB2-BD59-A6C34878D82A}">
                    <a16:rowId xmlns:a16="http://schemas.microsoft.com/office/drawing/2014/main" val="2280365725"/>
                  </a:ext>
                </a:extLst>
              </a:tr>
              <a:tr h="414926">
                <a:tc>
                  <a:txBody>
                    <a:bodyPr/>
                    <a:lstStyle/>
                    <a:p>
                      <a:pPr marL="0" marR="0" lvl="0" indent="0" algn="justLow" defTabSz="1021516" rtl="1" eaLnBrk="1" fontAlgn="auto" latinLnBrk="0" hangingPunct="1">
                        <a:lnSpc>
                          <a:spcPct val="100000"/>
                        </a:lnSpc>
                        <a:spcBef>
                          <a:spcPts val="0"/>
                        </a:spcBef>
                        <a:spcAft>
                          <a:spcPts val="0"/>
                        </a:spcAft>
                        <a:buClrTx/>
                        <a:buSzTx/>
                        <a:buFontTx/>
                        <a:buNone/>
                        <a:tabLst/>
                        <a:defRPr/>
                      </a:pPr>
                      <a:r>
                        <a:rPr lang="fa-IR" sz="900" kern="1200" dirty="0">
                          <a:solidFill>
                            <a:schemeClr val="tx1">
                              <a:lumMod val="50000"/>
                              <a:lumOff val="50000"/>
                            </a:schemeClr>
                          </a:solidFill>
                          <a:latin typeface="Yekan Bakh" pitchFamily="2" charset="-78"/>
                          <a:ea typeface="Yekan Bakh" pitchFamily="2" charset="-78"/>
                          <a:cs typeface="Yekan Bakh" pitchFamily="2" charset="-78"/>
                        </a:rPr>
                        <a:t>فرض می‌شود شبکه مشتریان، شرکا و فرصت‌های ایجادشده در خدمات حرفه‌ای می‌تواند منبعی برای شناسایی ایده‌های جدید و تبدیل آن‌ها به </a:t>
                      </a:r>
                      <a:r>
                        <a:rPr lang="en-US" sz="900" kern="1200" dirty="0">
                          <a:solidFill>
                            <a:schemeClr val="tx1">
                              <a:lumMod val="50000"/>
                              <a:lumOff val="50000"/>
                            </a:schemeClr>
                          </a:solidFill>
                          <a:latin typeface="Yekan Bakh" pitchFamily="2" charset="-78"/>
                          <a:ea typeface="Yekan Bakh" pitchFamily="2" charset="-78"/>
                          <a:cs typeface="Yekan Bakh" pitchFamily="2" charset="-78"/>
                        </a:rPr>
                        <a:t>Venture</a:t>
                      </a:r>
                      <a:r>
                        <a:rPr lang="fa-IR" sz="900" kern="1200" dirty="0">
                          <a:solidFill>
                            <a:schemeClr val="tx1">
                              <a:lumMod val="50000"/>
                              <a:lumOff val="50000"/>
                            </a:schemeClr>
                          </a:solidFill>
                          <a:latin typeface="Yekan Bakh" pitchFamily="2" charset="-78"/>
                          <a:ea typeface="Yekan Bakh" pitchFamily="2" charset="-78"/>
                          <a:cs typeface="Yekan Bakh" pitchFamily="2" charset="-78"/>
                        </a:rPr>
                        <a:t>های قابل سرمایه‌گذاری باشد. </a:t>
                      </a:r>
                      <a:endParaRPr lang="en-US" sz="900" kern="1200" dirty="0">
                        <a:solidFill>
                          <a:schemeClr val="tx1">
                            <a:lumMod val="50000"/>
                            <a:lumOff val="50000"/>
                          </a:schemeClr>
                        </a:solidFill>
                        <a:latin typeface="Yekan Bakh" pitchFamily="2" charset="-78"/>
                        <a:ea typeface="Yekan Bakh" pitchFamily="2" charset="-78"/>
                        <a:cs typeface="Yekan Bakh" pitchFamily="2" charset="-78"/>
                      </a:endParaRPr>
                    </a:p>
                  </a:txBody>
                  <a:tcPr anchor="ct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bg1">
                        <a:lumMod val="95000"/>
                        <a:alpha val="39000"/>
                      </a:schemeClr>
                    </a:solidFill>
                  </a:tcPr>
                </a:tc>
                <a:tc>
                  <a:txBody>
                    <a:bodyPr/>
                    <a:lstStyle/>
                    <a:p>
                      <a:pPr algn="r" rtl="1"/>
                      <a:endParaRPr lang="en-US" sz="900" dirty="0">
                        <a:solidFill>
                          <a:schemeClr val="tx1">
                            <a:lumMod val="65000"/>
                            <a:lumOff val="35000"/>
                          </a:schemeClr>
                        </a:solidFill>
                        <a:latin typeface="Yekan Bakh" pitchFamily="2" charset="-78"/>
                        <a:ea typeface="Yekan Bakh" pitchFamily="2" charset="-78"/>
                        <a:cs typeface="Yekan Bakh" pitchFamily="2" charset="-78"/>
                      </a:endParaRPr>
                    </a:p>
                  </a:txBody>
                  <a:tcPr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r" rtl="1"/>
                      <a:r>
                        <a:rPr lang="fa-IR" sz="1100" b="1" kern="1200" dirty="0">
                          <a:solidFill>
                            <a:srgbClr val="1E2761"/>
                          </a:solidFill>
                          <a:latin typeface="Yekan Bakh" pitchFamily="2" charset="-78"/>
                          <a:ea typeface="Yekan Bakh" pitchFamily="2" charset="-78"/>
                          <a:cs typeface="Yekan Bakh" pitchFamily="2" charset="-78"/>
                        </a:rPr>
                        <a:t>۲۴. خلق کسب‌وکار </a:t>
                      </a:r>
                      <a:endParaRPr lang="en-US" sz="1100" b="1" kern="1200" dirty="0">
                        <a:solidFill>
                          <a:srgbClr val="1E2761"/>
                        </a:solidFill>
                        <a:latin typeface="Yekan Bakh" pitchFamily="2" charset="-78"/>
                        <a:ea typeface="Yekan Bakh" pitchFamily="2" charset="-78"/>
                        <a:cs typeface="Yekan Bakh" pitchFamily="2" charset="-78"/>
                      </a:endParaRPr>
                    </a:p>
                  </a:txBody>
                  <a:tcPr anchor="ct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bg1">
                        <a:lumMod val="95000"/>
                        <a:alpha val="39000"/>
                      </a:schemeClr>
                    </a:solidFill>
                  </a:tcPr>
                </a:tc>
                <a:extLst>
                  <a:ext uri="{0D108BD9-81ED-4DB2-BD59-A6C34878D82A}">
                    <a16:rowId xmlns:a16="http://schemas.microsoft.com/office/drawing/2014/main" val="3452523160"/>
                  </a:ext>
                </a:extLst>
              </a:tr>
              <a:tr h="414926">
                <a:tc>
                  <a:txBody>
                    <a:bodyPr/>
                    <a:lstStyle/>
                    <a:p>
                      <a:pPr marL="0" marR="0" lvl="0" indent="0" algn="justLow" defTabSz="1021516" rtl="1" eaLnBrk="1" fontAlgn="auto" latinLnBrk="0" hangingPunct="1">
                        <a:lnSpc>
                          <a:spcPct val="100000"/>
                        </a:lnSpc>
                        <a:spcBef>
                          <a:spcPts val="0"/>
                        </a:spcBef>
                        <a:spcAft>
                          <a:spcPts val="0"/>
                        </a:spcAft>
                        <a:buClrTx/>
                        <a:buSzTx/>
                        <a:buFontTx/>
                        <a:buNone/>
                        <a:tabLst/>
                        <a:defRPr/>
                      </a:pPr>
                      <a:r>
                        <a:rPr lang="fa-IR" sz="900" kern="1200" dirty="0">
                          <a:solidFill>
                            <a:schemeClr val="tx1">
                              <a:lumMod val="50000"/>
                              <a:lumOff val="50000"/>
                            </a:schemeClr>
                          </a:solidFill>
                          <a:latin typeface="Yekan Bakh" pitchFamily="2" charset="-78"/>
                          <a:ea typeface="Yekan Bakh" pitchFamily="2" charset="-78"/>
                          <a:cs typeface="Yekan Bakh" pitchFamily="2" charset="-78"/>
                        </a:rPr>
                        <a:t>فرض می‌شود دسترسی به جریان معاملات باکیفیت از طریق خدمات حرفه‌ای و خلق کسب‌وکار</a:t>
                      </a:r>
                      <a:r>
                        <a:rPr lang="en-US" sz="900" kern="1200" dirty="0">
                          <a:solidFill>
                            <a:schemeClr val="tx1">
                              <a:lumMod val="50000"/>
                              <a:lumOff val="50000"/>
                            </a:schemeClr>
                          </a:solidFill>
                          <a:latin typeface="Yekan Bakh" pitchFamily="2" charset="-78"/>
                          <a:ea typeface="Yekan Bakh" pitchFamily="2" charset="-78"/>
                          <a:cs typeface="Yekan Bakh" pitchFamily="2" charset="-78"/>
                        </a:rPr>
                        <a:t>، </a:t>
                      </a:r>
                      <a:r>
                        <a:rPr lang="fa-IR" sz="900" kern="1200" dirty="0">
                          <a:solidFill>
                            <a:schemeClr val="tx1">
                              <a:lumMod val="50000"/>
                              <a:lumOff val="50000"/>
                            </a:schemeClr>
                          </a:solidFill>
                          <a:latin typeface="Yekan Bakh" pitchFamily="2" charset="-78"/>
                          <a:ea typeface="Yekan Bakh" pitchFamily="2" charset="-78"/>
                          <a:cs typeface="Yekan Bakh" pitchFamily="2" charset="-78"/>
                        </a:rPr>
                        <a:t>امکان ایجاد فرصت‌های سرمایه‌گذاری با بازده بالاتر از سرمایه‌گذاری مستقل را فراهم می‌کند.</a:t>
                      </a:r>
                      <a:endParaRPr lang="en-US" sz="900" kern="1200" dirty="0">
                        <a:solidFill>
                          <a:schemeClr val="tx1">
                            <a:lumMod val="50000"/>
                            <a:lumOff val="50000"/>
                          </a:schemeClr>
                        </a:solidFill>
                        <a:latin typeface="Yekan Bakh" pitchFamily="2" charset="-78"/>
                        <a:ea typeface="Yekan Bakh" pitchFamily="2" charset="-78"/>
                        <a:cs typeface="Yekan Bakh" pitchFamily="2" charset="-78"/>
                      </a:endParaRPr>
                    </a:p>
                  </a:txBody>
                  <a:tcPr anchor="ct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bg1">
                        <a:lumMod val="95000"/>
                        <a:alpha val="39000"/>
                      </a:schemeClr>
                    </a:solidFill>
                  </a:tcPr>
                </a:tc>
                <a:tc>
                  <a:txBody>
                    <a:bodyPr/>
                    <a:lstStyle/>
                    <a:p>
                      <a:pPr algn="r" rtl="1"/>
                      <a:endParaRPr lang="en-US" sz="900" dirty="0">
                        <a:solidFill>
                          <a:schemeClr val="tx1">
                            <a:lumMod val="65000"/>
                            <a:lumOff val="35000"/>
                          </a:schemeClr>
                        </a:solidFill>
                        <a:latin typeface="Yekan Bakh" pitchFamily="2" charset="-78"/>
                        <a:ea typeface="Yekan Bakh" pitchFamily="2" charset="-78"/>
                        <a:cs typeface="Yekan Bakh" pitchFamily="2" charset="-78"/>
                      </a:endParaRPr>
                    </a:p>
                  </a:txBody>
                  <a:tcPr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r" rtl="1"/>
                      <a:r>
                        <a:rPr lang="fa-IR" sz="1100" b="1" kern="1200" dirty="0">
                          <a:solidFill>
                            <a:srgbClr val="1E2761"/>
                          </a:solidFill>
                          <a:latin typeface="Yekan Bakh" pitchFamily="2" charset="-78"/>
                          <a:ea typeface="Yekan Bakh" pitchFamily="2" charset="-78"/>
                          <a:cs typeface="Yekan Bakh" pitchFamily="2" charset="-78"/>
                        </a:rPr>
                        <a:t>۲۵. سرمایه‌گذاری </a:t>
                      </a:r>
                      <a:endParaRPr lang="en-US" sz="1100" b="1" kern="1200" dirty="0">
                        <a:solidFill>
                          <a:srgbClr val="1E2761"/>
                        </a:solidFill>
                        <a:latin typeface="Yekan Bakh" pitchFamily="2" charset="-78"/>
                        <a:ea typeface="Yekan Bakh" pitchFamily="2" charset="-78"/>
                        <a:cs typeface="Yekan Bakh" pitchFamily="2" charset="-78"/>
                      </a:endParaRPr>
                    </a:p>
                  </a:txBody>
                  <a:tcPr anchor="ct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bg1">
                        <a:lumMod val="95000"/>
                        <a:alpha val="39000"/>
                      </a:schemeClr>
                    </a:solidFill>
                  </a:tcPr>
                </a:tc>
                <a:extLst>
                  <a:ext uri="{0D108BD9-81ED-4DB2-BD59-A6C34878D82A}">
                    <a16:rowId xmlns:a16="http://schemas.microsoft.com/office/drawing/2014/main" val="1467917733"/>
                  </a:ext>
                </a:extLst>
              </a:tr>
            </a:tbl>
          </a:graphicData>
        </a:graphic>
      </p:graphicFrame>
    </p:spTree>
    <p:extLst>
      <p:ext uri="{BB962C8B-B14F-4D97-AF65-F5344CB8AC3E}">
        <p14:creationId xmlns:p14="http://schemas.microsoft.com/office/powerpoint/2010/main" val="21827470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03C3A6-6639-7785-54D6-C8B275C5DCA6}"/>
            </a:ext>
          </a:extLst>
        </p:cNvPr>
        <p:cNvGrpSpPr/>
        <p:nvPr/>
      </p:nvGrpSpPr>
      <p:grpSpPr>
        <a:xfrm>
          <a:off x="0" y="0"/>
          <a:ext cx="0" cy="0"/>
          <a:chOff x="0" y="0"/>
          <a:chExt cx="0" cy="0"/>
        </a:xfrm>
      </p:grpSpPr>
      <p:grpSp>
        <p:nvGrpSpPr>
          <p:cNvPr id="29" name="Group 28">
            <a:extLst>
              <a:ext uri="{FF2B5EF4-FFF2-40B4-BE49-F238E27FC236}">
                <a16:creationId xmlns:a16="http://schemas.microsoft.com/office/drawing/2014/main" id="{191E118D-FBF2-A951-3AA7-3FFFDB0DDD8D}"/>
              </a:ext>
            </a:extLst>
          </p:cNvPr>
          <p:cNvGrpSpPr/>
          <p:nvPr/>
        </p:nvGrpSpPr>
        <p:grpSpPr>
          <a:xfrm>
            <a:off x="407773" y="1388048"/>
            <a:ext cx="4699486" cy="3807266"/>
            <a:chOff x="407773" y="2420387"/>
            <a:chExt cx="4699486" cy="3807266"/>
          </a:xfrm>
        </p:grpSpPr>
        <p:sp>
          <p:nvSpPr>
            <p:cNvPr id="9" name="TextBox 8">
              <a:extLst>
                <a:ext uri="{FF2B5EF4-FFF2-40B4-BE49-F238E27FC236}">
                  <a16:creationId xmlns:a16="http://schemas.microsoft.com/office/drawing/2014/main" id="{229E186C-4113-A5B5-3D9D-2ADB6D4DB4E7}"/>
                </a:ext>
              </a:extLst>
            </p:cNvPr>
            <p:cNvSpPr txBox="1"/>
            <p:nvPr/>
          </p:nvSpPr>
          <p:spPr>
            <a:xfrm>
              <a:off x="593931" y="3553147"/>
              <a:ext cx="761426" cy="248914"/>
            </a:xfrm>
            <a:prstGeom prst="rect">
              <a:avLst/>
            </a:prstGeom>
            <a:noFill/>
          </p:spPr>
          <p:txBody>
            <a:bodyPr wrap="square" anchor="ctr">
              <a:spAutoFit/>
            </a:bodyPr>
            <a:lstStyle/>
            <a:p>
              <a:pPr marR="0" lvl="0" algn="ctr" defTabSz="914400" rtl="1" eaLnBrk="1" fontAlgn="auto" latinLnBrk="0" hangingPunct="1">
                <a:lnSpc>
                  <a:spcPct val="90000"/>
                </a:lnSpc>
                <a:spcBef>
                  <a:spcPts val="1117"/>
                </a:spcBef>
                <a:spcAft>
                  <a:spcPts val="0"/>
                </a:spcAft>
                <a:buClr>
                  <a:srgbClr val="F0BE0F"/>
                </a:buClr>
                <a:buSzTx/>
                <a:tabLst/>
                <a:defRPr/>
              </a:pPr>
              <a:r>
                <a:rPr kumimoji="0" lang="fa-IR" sz="1050" b="1" i="0" u="none" strike="noStrike" kern="1200" cap="none" spc="0" normalizeH="0" baseline="0" noProof="0" dirty="0">
                  <a:ln>
                    <a:noFill/>
                  </a:ln>
                  <a:solidFill>
                    <a:schemeClr val="bg1">
                      <a:lumMod val="50000"/>
                    </a:schemeClr>
                  </a:solidFill>
                  <a:effectLst/>
                  <a:uLnTx/>
                  <a:uFillTx/>
                  <a:latin typeface="Yekan Bakh" pitchFamily="2" charset="-78"/>
                  <a:ea typeface="Yekan Bakh" pitchFamily="2" charset="-78"/>
                  <a:cs typeface="Yekan Bakh" pitchFamily="2" charset="-78"/>
                </a:rPr>
                <a:t>اسلاید</a:t>
              </a:r>
              <a:endParaRPr kumimoji="0" lang="en-US" sz="1050" b="1" i="0" u="none" strike="noStrike" kern="1200" cap="none" spc="0" normalizeH="0" baseline="0" noProof="0" dirty="0">
                <a:ln>
                  <a:noFill/>
                </a:ln>
                <a:solidFill>
                  <a:schemeClr val="bg1">
                    <a:lumMod val="50000"/>
                  </a:schemeClr>
                </a:solidFill>
                <a:effectLst/>
                <a:uLnTx/>
                <a:uFillTx/>
                <a:latin typeface="Yekan Bakh" pitchFamily="2" charset="-78"/>
                <a:ea typeface="Yekan Bakh" pitchFamily="2" charset="-78"/>
                <a:cs typeface="Yekan Bakh" pitchFamily="2" charset="-78"/>
              </a:endParaRPr>
            </a:p>
          </p:txBody>
        </p:sp>
        <p:sp>
          <p:nvSpPr>
            <p:cNvPr id="13" name="TextBox 12">
              <a:extLst>
                <a:ext uri="{FF2B5EF4-FFF2-40B4-BE49-F238E27FC236}">
                  <a16:creationId xmlns:a16="http://schemas.microsoft.com/office/drawing/2014/main" id="{EC04E704-1061-8AB2-B2B5-BF6CC1858129}"/>
                </a:ext>
              </a:extLst>
            </p:cNvPr>
            <p:cNvSpPr txBox="1"/>
            <p:nvPr/>
          </p:nvSpPr>
          <p:spPr>
            <a:xfrm>
              <a:off x="1648542" y="3855130"/>
              <a:ext cx="3458717" cy="263149"/>
            </a:xfrm>
            <a:prstGeom prst="rect">
              <a:avLst/>
            </a:prstGeom>
            <a:noFill/>
          </p:spPr>
          <p:txBody>
            <a:bodyPr wrap="square" anchor="ctr">
              <a:spAutoFit/>
            </a:bodyPr>
            <a:lstStyle/>
            <a:p>
              <a:pPr marL="285750" marR="0" lvl="0" indent="-285750" algn="r" defTabSz="914400" rtl="1" eaLnBrk="1" fontAlgn="auto" latinLnBrk="0" hangingPunct="1">
                <a:lnSpc>
                  <a:spcPct val="90000"/>
                </a:lnSpc>
                <a:spcBef>
                  <a:spcPts val="1117"/>
                </a:spcBef>
                <a:spcAft>
                  <a:spcPts val="0"/>
                </a:spcAft>
                <a:buClr>
                  <a:srgbClr val="F0BE0F"/>
                </a:buClr>
                <a:buSzTx/>
                <a:buFont typeface="Arial" panose="020B0604020202020204" pitchFamily="34" charset="0"/>
                <a:buChar char="•"/>
                <a:tabLst/>
                <a:defRPr/>
              </a:pPr>
              <a:r>
                <a:rPr kumimoji="0" lang="fa-IR" sz="1200" i="0" u="none" strike="noStrike" kern="1200" cap="none" spc="0" normalizeH="0" baseline="0" noProof="0" dirty="0">
                  <a:ln>
                    <a:noFill/>
                  </a:ln>
                  <a:solidFill>
                    <a:schemeClr val="bg1">
                      <a:lumMod val="75000"/>
                    </a:schemeClr>
                  </a:solidFill>
                  <a:effectLst/>
                  <a:uLnTx/>
                  <a:uFillTx/>
                  <a:latin typeface="Yekan Bakh" pitchFamily="2" charset="-78"/>
                  <a:ea typeface="Yekan Bakh" pitchFamily="2" charset="-78"/>
                  <a:cs typeface="Yekan Bakh" pitchFamily="2" charset="-78"/>
                </a:rPr>
                <a:t>مقدمه</a:t>
              </a:r>
            </a:p>
          </p:txBody>
        </p:sp>
        <p:sp>
          <p:nvSpPr>
            <p:cNvPr id="15" name="TextBox 14">
              <a:extLst>
                <a:ext uri="{FF2B5EF4-FFF2-40B4-BE49-F238E27FC236}">
                  <a16:creationId xmlns:a16="http://schemas.microsoft.com/office/drawing/2014/main" id="{D7E8C19A-92A4-E03D-AA98-282B86567070}"/>
                </a:ext>
              </a:extLst>
            </p:cNvPr>
            <p:cNvSpPr txBox="1"/>
            <p:nvPr/>
          </p:nvSpPr>
          <p:spPr>
            <a:xfrm>
              <a:off x="525137" y="3840896"/>
              <a:ext cx="899015" cy="291618"/>
            </a:xfrm>
            <a:prstGeom prst="rect">
              <a:avLst/>
            </a:prstGeom>
            <a:noFill/>
          </p:spPr>
          <p:txBody>
            <a:bodyPr wrap="square" anchor="ctr">
              <a:spAutoFit/>
            </a:bodyPr>
            <a:lstStyle/>
            <a:p>
              <a:pPr marR="0" lvl="0" algn="ctr" defTabSz="914400" eaLnBrk="1" fontAlgn="auto" latinLnBrk="0" hangingPunct="1">
                <a:lnSpc>
                  <a:spcPct val="90000"/>
                </a:lnSpc>
                <a:spcBef>
                  <a:spcPts val="1117"/>
                </a:spcBef>
                <a:spcAft>
                  <a:spcPts val="0"/>
                </a:spcAft>
                <a:buClr>
                  <a:srgbClr val="F0BE0F"/>
                </a:buClr>
                <a:buSzTx/>
                <a:tabLst/>
                <a:defRPr/>
              </a:pPr>
              <a:r>
                <a:rPr lang="fa-IR" sz="1400" b="1" dirty="0">
                  <a:solidFill>
                    <a:schemeClr val="accent2">
                      <a:lumMod val="60000"/>
                      <a:lumOff val="40000"/>
                    </a:schemeClr>
                  </a:solidFill>
                  <a:latin typeface="Yekan Bakh FaNum SmBoldSmCond" pitchFamily="2" charset="-78"/>
                  <a:ea typeface="Yekan Bakh FaNum SmBoldSmCond" pitchFamily="2" charset="-78"/>
                  <a:cs typeface="Yekan Bakh FaNum SmBoldSmCond" pitchFamily="2" charset="-78"/>
                </a:rPr>
                <a:t>۲۲-۲۳</a:t>
              </a:r>
              <a:endParaRPr kumimoji="0" lang="en-US" sz="1400" b="1" i="0" u="none" strike="noStrike" kern="1200" cap="none" spc="0" normalizeH="0" baseline="0" noProof="0" dirty="0">
                <a:ln>
                  <a:noFill/>
                </a:ln>
                <a:solidFill>
                  <a:schemeClr val="accent2">
                    <a:lumMod val="60000"/>
                    <a:lumOff val="40000"/>
                  </a:schemeClr>
                </a:solidFill>
                <a:effectLst/>
                <a:uLnTx/>
                <a:uFillTx/>
                <a:latin typeface="Yekan Bakh FaNum SmBoldSmCond" pitchFamily="2" charset="-78"/>
                <a:ea typeface="Yekan Bakh FaNum SmBoldSmCond" pitchFamily="2" charset="-78"/>
                <a:cs typeface="Yekan Bakh FaNum SmBoldSmCond" pitchFamily="2" charset="-78"/>
              </a:endParaRPr>
            </a:p>
          </p:txBody>
        </p:sp>
        <p:sp>
          <p:nvSpPr>
            <p:cNvPr id="19" name="TextBox 18">
              <a:extLst>
                <a:ext uri="{FF2B5EF4-FFF2-40B4-BE49-F238E27FC236}">
                  <a16:creationId xmlns:a16="http://schemas.microsoft.com/office/drawing/2014/main" id="{A9C77996-3980-7078-5E8D-F08CD6BBD23F}"/>
                </a:ext>
              </a:extLst>
            </p:cNvPr>
            <p:cNvSpPr txBox="1"/>
            <p:nvPr/>
          </p:nvSpPr>
          <p:spPr>
            <a:xfrm>
              <a:off x="1648542" y="4132955"/>
              <a:ext cx="3458717" cy="263149"/>
            </a:xfrm>
            <a:prstGeom prst="rect">
              <a:avLst/>
            </a:prstGeom>
            <a:noFill/>
          </p:spPr>
          <p:txBody>
            <a:bodyPr wrap="square" anchor="ctr">
              <a:spAutoFit/>
            </a:bodyPr>
            <a:lstStyle/>
            <a:p>
              <a:pPr marL="285750" marR="0" lvl="0" indent="-285750" algn="r" defTabSz="914400" rtl="1" eaLnBrk="1" fontAlgn="auto" latinLnBrk="0" hangingPunct="1">
                <a:lnSpc>
                  <a:spcPct val="90000"/>
                </a:lnSpc>
                <a:spcBef>
                  <a:spcPts val="1117"/>
                </a:spcBef>
                <a:spcAft>
                  <a:spcPts val="0"/>
                </a:spcAft>
                <a:buClr>
                  <a:srgbClr val="F0BE0F"/>
                </a:buClr>
                <a:buSzTx/>
                <a:buFont typeface="Arial" panose="020B0604020202020204" pitchFamily="34" charset="0"/>
                <a:buChar char="•"/>
                <a:tabLst/>
                <a:defRPr/>
              </a:pPr>
              <a:r>
                <a:rPr kumimoji="0" lang="fa-IR" sz="1200" i="0" u="none" strike="noStrike" kern="1200" cap="none" spc="0" normalizeH="0" baseline="0" noProof="0" dirty="0">
                  <a:ln>
                    <a:noFill/>
                  </a:ln>
                  <a:solidFill>
                    <a:schemeClr val="bg1">
                      <a:lumMod val="75000"/>
                    </a:schemeClr>
                  </a:solidFill>
                  <a:effectLst/>
                  <a:uLnTx/>
                  <a:uFillTx/>
                  <a:latin typeface="Yekan Bakh" pitchFamily="2" charset="-78"/>
                  <a:ea typeface="Yekan Bakh" pitchFamily="2" charset="-78"/>
                  <a:cs typeface="Yekan Bakh" pitchFamily="2" charset="-78"/>
                </a:rPr>
                <a:t>نقشه اولیه بازیگران در اکوسیستم سیمرغ </a:t>
              </a:r>
            </a:p>
          </p:txBody>
        </p:sp>
        <p:sp>
          <p:nvSpPr>
            <p:cNvPr id="21" name="TextBox 20">
              <a:extLst>
                <a:ext uri="{FF2B5EF4-FFF2-40B4-BE49-F238E27FC236}">
                  <a16:creationId xmlns:a16="http://schemas.microsoft.com/office/drawing/2014/main" id="{397987CE-236B-4699-956E-1CFB446B6BBE}"/>
                </a:ext>
              </a:extLst>
            </p:cNvPr>
            <p:cNvSpPr txBox="1"/>
            <p:nvPr/>
          </p:nvSpPr>
          <p:spPr>
            <a:xfrm>
              <a:off x="525137" y="4118721"/>
              <a:ext cx="899015" cy="291618"/>
            </a:xfrm>
            <a:prstGeom prst="rect">
              <a:avLst/>
            </a:prstGeom>
            <a:noFill/>
          </p:spPr>
          <p:txBody>
            <a:bodyPr wrap="square" anchor="ctr">
              <a:spAutoFit/>
            </a:bodyPr>
            <a:lstStyle/>
            <a:p>
              <a:pPr marR="0" lvl="0" algn="ctr" defTabSz="914400" eaLnBrk="1" fontAlgn="auto" latinLnBrk="0" hangingPunct="1">
                <a:lnSpc>
                  <a:spcPct val="90000"/>
                </a:lnSpc>
                <a:spcBef>
                  <a:spcPts val="1117"/>
                </a:spcBef>
                <a:spcAft>
                  <a:spcPts val="0"/>
                </a:spcAft>
                <a:buClr>
                  <a:srgbClr val="F0BE0F"/>
                </a:buClr>
                <a:buSzTx/>
                <a:tabLst/>
                <a:defRPr/>
              </a:pPr>
              <a:r>
                <a:rPr lang="fa-IR" sz="1400" b="1" dirty="0">
                  <a:solidFill>
                    <a:schemeClr val="accent2">
                      <a:lumMod val="60000"/>
                      <a:lumOff val="40000"/>
                    </a:schemeClr>
                  </a:solidFill>
                  <a:latin typeface="Yekan Bakh FaNum SmBoldSmCond" pitchFamily="2" charset="-78"/>
                  <a:ea typeface="Yekan Bakh FaNum SmBoldSmCond" pitchFamily="2" charset="-78"/>
                  <a:cs typeface="Yekan Bakh FaNum SmBoldSmCond" pitchFamily="2" charset="-78"/>
                </a:rPr>
                <a:t>۲۴</a:t>
              </a:r>
              <a:endParaRPr kumimoji="0" lang="en-US" sz="1400" b="1" i="0" u="none" strike="noStrike" kern="1200" cap="none" spc="0" normalizeH="0" baseline="0" noProof="0" dirty="0">
                <a:ln>
                  <a:noFill/>
                </a:ln>
                <a:solidFill>
                  <a:schemeClr val="accent2">
                    <a:lumMod val="60000"/>
                    <a:lumOff val="40000"/>
                  </a:schemeClr>
                </a:solidFill>
                <a:effectLst/>
                <a:uLnTx/>
                <a:uFillTx/>
                <a:latin typeface="Yekan Bakh FaNum SmBoldSmCond" pitchFamily="2" charset="-78"/>
                <a:ea typeface="Yekan Bakh FaNum SmBoldSmCond" pitchFamily="2" charset="-78"/>
                <a:cs typeface="Yekan Bakh FaNum SmBoldSmCond" pitchFamily="2" charset="-78"/>
              </a:endParaRPr>
            </a:p>
          </p:txBody>
        </p:sp>
        <p:sp>
          <p:nvSpPr>
            <p:cNvPr id="23" name="Title 1">
              <a:extLst>
                <a:ext uri="{FF2B5EF4-FFF2-40B4-BE49-F238E27FC236}">
                  <a16:creationId xmlns:a16="http://schemas.microsoft.com/office/drawing/2014/main" id="{899615E0-5437-C5DD-6FD3-49805BCD94B4}"/>
                </a:ext>
              </a:extLst>
            </p:cNvPr>
            <p:cNvSpPr txBox="1">
              <a:spLocks/>
            </p:cNvSpPr>
            <p:nvPr/>
          </p:nvSpPr>
          <p:spPr>
            <a:xfrm>
              <a:off x="407773" y="2420387"/>
              <a:ext cx="4699486" cy="693069"/>
            </a:xfrm>
            <a:prstGeom prst="rect">
              <a:avLst/>
            </a:prstGeom>
          </p:spPr>
          <p:txBody>
            <a:bodyPr lIns="91440" tIns="45720" rIns="91440" bIns="45720" anchor="t"/>
            <a:lstStyle>
              <a:lvl1pPr algn="justLow" defTabSz="1021516" rtl="1" eaLnBrk="1" latinLnBrk="0" hangingPunct="1">
                <a:lnSpc>
                  <a:spcPct val="90000"/>
                </a:lnSpc>
                <a:spcBef>
                  <a:spcPct val="0"/>
                </a:spcBef>
                <a:buNone/>
                <a:defRPr sz="4500" b="1" kern="1200">
                  <a:solidFill>
                    <a:schemeClr val="tx1">
                      <a:lumMod val="75000"/>
                      <a:lumOff val="25000"/>
                    </a:schemeClr>
                  </a:solidFill>
                  <a:latin typeface="Shabnam Bold FD" panose="020B0603030804020204" pitchFamily="34" charset="-78"/>
                  <a:ea typeface="+mj-ea"/>
                  <a:cs typeface="Shabnam Bold FD" panose="020B0603030804020204" pitchFamily="34" charset="-78"/>
                </a:defRPr>
              </a:lvl1pPr>
            </a:lstStyle>
            <a:p>
              <a:pPr marL="0" marR="0" lvl="0" indent="0" algn="ctr" defTabSz="1021516" rtl="0" eaLnBrk="1" fontAlgn="auto" latinLnBrk="0" hangingPunct="1">
                <a:lnSpc>
                  <a:spcPct val="90000"/>
                </a:lnSpc>
                <a:spcBef>
                  <a:spcPct val="0"/>
                </a:spcBef>
                <a:spcAft>
                  <a:spcPts val="0"/>
                </a:spcAft>
                <a:buClrTx/>
                <a:buSzTx/>
                <a:buFontTx/>
                <a:buNone/>
                <a:tabLst/>
                <a:defRPr/>
              </a:pPr>
              <a:r>
                <a:rPr kumimoji="0" lang="fa-IR" sz="3200" b="1" i="0" strike="noStrike" kern="1200" cap="none" spc="0" normalizeH="0" baseline="0" noProof="0" dirty="0">
                  <a:ln>
                    <a:noFill/>
                  </a:ln>
                  <a:solidFill>
                    <a:sysClr val="window" lastClr="FFFFFF">
                      <a:lumMod val="75000"/>
                      <a:lumOff val="25000"/>
                    </a:sysClr>
                  </a:solidFill>
                  <a:effectLst/>
                  <a:uLnTx/>
                  <a:uFillTx/>
                  <a:latin typeface="Yekan Bakh" pitchFamily="2" charset="-78"/>
                  <a:ea typeface="Yekan Bakh" pitchFamily="2" charset="-78"/>
                  <a:cs typeface="Yekan Bakh" pitchFamily="2" charset="-78"/>
                </a:rPr>
                <a:t>بخش‌بندی</a:t>
              </a:r>
            </a:p>
            <a:p>
              <a:pPr marL="0" marR="0" lvl="0" indent="0" algn="ctr" defTabSz="1021516" rtl="0" eaLnBrk="1" fontAlgn="auto" latinLnBrk="0" hangingPunct="1">
                <a:lnSpc>
                  <a:spcPct val="90000"/>
                </a:lnSpc>
                <a:spcBef>
                  <a:spcPct val="0"/>
                </a:spcBef>
                <a:spcAft>
                  <a:spcPts val="0"/>
                </a:spcAft>
                <a:buClrTx/>
                <a:buSzTx/>
                <a:buFontTx/>
                <a:buNone/>
                <a:tabLst/>
                <a:defRPr/>
              </a:pPr>
              <a:r>
                <a:rPr kumimoji="0" lang="fa-IR" sz="3200" b="1" i="0" strike="noStrike" kern="1200" cap="none" spc="0" normalizeH="0" baseline="0" noProof="0" dirty="0">
                  <a:ln>
                    <a:noFill/>
                  </a:ln>
                  <a:solidFill>
                    <a:sysClr val="window" lastClr="FFFFFF">
                      <a:lumMod val="75000"/>
                      <a:lumOff val="25000"/>
                    </a:sysClr>
                  </a:solidFill>
                  <a:effectLst/>
                  <a:uLnTx/>
                  <a:uFillTx/>
                  <a:latin typeface="Yekan Bakh" pitchFamily="2" charset="-78"/>
                  <a:ea typeface="Yekan Bakh" pitchFamily="2" charset="-78"/>
                  <a:cs typeface="Yekan Bakh" pitchFamily="2" charset="-78"/>
                </a:rPr>
                <a:t>مشتریان سیمرغ </a:t>
              </a:r>
            </a:p>
          </p:txBody>
        </p:sp>
        <p:cxnSp>
          <p:nvCxnSpPr>
            <p:cNvPr id="25" name="Straight Connector 24">
              <a:extLst>
                <a:ext uri="{FF2B5EF4-FFF2-40B4-BE49-F238E27FC236}">
                  <a16:creationId xmlns:a16="http://schemas.microsoft.com/office/drawing/2014/main" id="{40EE4F18-CC37-38D1-2FC2-C972A4E812F9}"/>
                </a:ext>
              </a:extLst>
            </p:cNvPr>
            <p:cNvCxnSpPr>
              <a:cxnSpLocks/>
            </p:cNvCxnSpPr>
            <p:nvPr/>
          </p:nvCxnSpPr>
          <p:spPr>
            <a:xfrm flipV="1">
              <a:off x="407773" y="3492596"/>
              <a:ext cx="4699486" cy="19385"/>
            </a:xfrm>
            <a:prstGeom prst="line">
              <a:avLst/>
            </a:prstGeom>
            <a:ln w="3175">
              <a:solidFill>
                <a:srgbClr val="F0BE0F">
                  <a:alpha val="74000"/>
                </a:srgbClr>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A0112B4D-5FF6-087A-8742-0BDF01D6C5CC}"/>
                </a:ext>
              </a:extLst>
            </p:cNvPr>
            <p:cNvSpPr txBox="1"/>
            <p:nvPr/>
          </p:nvSpPr>
          <p:spPr>
            <a:xfrm>
              <a:off x="1648542" y="4435841"/>
              <a:ext cx="3458717" cy="263149"/>
            </a:xfrm>
            <a:prstGeom prst="rect">
              <a:avLst/>
            </a:prstGeom>
            <a:noFill/>
          </p:spPr>
          <p:txBody>
            <a:bodyPr wrap="square" anchor="ctr">
              <a:spAutoFit/>
            </a:bodyPr>
            <a:lstStyle/>
            <a:p>
              <a:pPr marL="285750" marR="0" lvl="0" indent="-285750" algn="r" defTabSz="914400" rtl="1" eaLnBrk="1" fontAlgn="auto" latinLnBrk="0" hangingPunct="1">
                <a:lnSpc>
                  <a:spcPct val="90000"/>
                </a:lnSpc>
                <a:spcBef>
                  <a:spcPts val="1117"/>
                </a:spcBef>
                <a:spcAft>
                  <a:spcPts val="0"/>
                </a:spcAft>
                <a:buClr>
                  <a:srgbClr val="F0BE0F"/>
                </a:buClr>
                <a:buSzTx/>
                <a:buFont typeface="Arial" panose="020B0604020202020204" pitchFamily="34" charset="0"/>
                <a:buChar char="•"/>
                <a:tabLst/>
                <a:defRPr/>
              </a:pPr>
              <a:r>
                <a:rPr kumimoji="0" lang="fa-IR" sz="1200" i="0" u="none" strike="noStrike" kern="1200" cap="none" spc="0" normalizeH="0" baseline="0" noProof="0" dirty="0">
                  <a:ln>
                    <a:noFill/>
                  </a:ln>
                  <a:solidFill>
                    <a:schemeClr val="bg1">
                      <a:lumMod val="75000"/>
                    </a:schemeClr>
                  </a:solidFill>
                  <a:effectLst/>
                  <a:uLnTx/>
                  <a:uFillTx/>
                  <a:latin typeface="Yekan Bakh" pitchFamily="2" charset="-78"/>
                  <a:ea typeface="Yekan Bakh" pitchFamily="2" charset="-78"/>
                  <a:cs typeface="Yekan Bakh" pitchFamily="2" charset="-78"/>
                </a:rPr>
                <a:t>متدولوژی</a:t>
              </a:r>
            </a:p>
          </p:txBody>
        </p:sp>
        <p:sp>
          <p:nvSpPr>
            <p:cNvPr id="4" name="TextBox 3">
              <a:extLst>
                <a:ext uri="{FF2B5EF4-FFF2-40B4-BE49-F238E27FC236}">
                  <a16:creationId xmlns:a16="http://schemas.microsoft.com/office/drawing/2014/main" id="{A664AA42-B432-C9B4-DD13-01A1CCE6E2C6}"/>
                </a:ext>
              </a:extLst>
            </p:cNvPr>
            <p:cNvSpPr txBox="1"/>
            <p:nvPr/>
          </p:nvSpPr>
          <p:spPr>
            <a:xfrm>
              <a:off x="525137" y="4421607"/>
              <a:ext cx="899015" cy="291618"/>
            </a:xfrm>
            <a:prstGeom prst="rect">
              <a:avLst/>
            </a:prstGeom>
            <a:noFill/>
          </p:spPr>
          <p:txBody>
            <a:bodyPr wrap="square" anchor="ctr">
              <a:spAutoFit/>
            </a:bodyPr>
            <a:lstStyle/>
            <a:p>
              <a:pPr marR="0" lvl="0" algn="ctr" defTabSz="914400" eaLnBrk="1" fontAlgn="auto" latinLnBrk="0" hangingPunct="1">
                <a:lnSpc>
                  <a:spcPct val="90000"/>
                </a:lnSpc>
                <a:spcBef>
                  <a:spcPts val="1117"/>
                </a:spcBef>
                <a:spcAft>
                  <a:spcPts val="0"/>
                </a:spcAft>
                <a:buClr>
                  <a:srgbClr val="F0BE0F"/>
                </a:buClr>
                <a:buSzTx/>
                <a:tabLst/>
                <a:defRPr/>
              </a:pPr>
              <a:r>
                <a:rPr lang="fa-IR" sz="1400" b="1" dirty="0">
                  <a:solidFill>
                    <a:schemeClr val="accent2">
                      <a:lumMod val="60000"/>
                      <a:lumOff val="40000"/>
                    </a:schemeClr>
                  </a:solidFill>
                  <a:latin typeface="Yekan Bakh FaNum SmBoldSmCond" pitchFamily="2" charset="-78"/>
                  <a:ea typeface="Yekan Bakh FaNum SmBoldSmCond" pitchFamily="2" charset="-78"/>
                  <a:cs typeface="Yekan Bakh FaNum SmBoldSmCond" pitchFamily="2" charset="-78"/>
                </a:rPr>
                <a:t>۲۵</a:t>
              </a:r>
              <a:endParaRPr kumimoji="0" lang="en-US" sz="1400" b="1" i="0" u="none" strike="noStrike" kern="1200" cap="none" spc="0" normalizeH="0" baseline="0" noProof="0" dirty="0">
                <a:ln>
                  <a:noFill/>
                </a:ln>
                <a:solidFill>
                  <a:schemeClr val="accent2">
                    <a:lumMod val="60000"/>
                    <a:lumOff val="40000"/>
                  </a:schemeClr>
                </a:solidFill>
                <a:effectLst/>
                <a:uLnTx/>
                <a:uFillTx/>
                <a:latin typeface="Yekan Bakh FaNum SmBoldSmCond" pitchFamily="2" charset="-78"/>
                <a:ea typeface="Yekan Bakh FaNum SmBoldSmCond" pitchFamily="2" charset="-78"/>
                <a:cs typeface="Yekan Bakh FaNum SmBoldSmCond" pitchFamily="2" charset="-78"/>
              </a:endParaRPr>
            </a:p>
          </p:txBody>
        </p:sp>
        <p:sp>
          <p:nvSpPr>
            <p:cNvPr id="6" name="TextBox 5">
              <a:extLst>
                <a:ext uri="{FF2B5EF4-FFF2-40B4-BE49-F238E27FC236}">
                  <a16:creationId xmlns:a16="http://schemas.microsoft.com/office/drawing/2014/main" id="{FDF6550D-E760-2339-9417-DCB9FFFCEC48}"/>
                </a:ext>
              </a:extLst>
            </p:cNvPr>
            <p:cNvSpPr txBox="1"/>
            <p:nvPr/>
          </p:nvSpPr>
          <p:spPr>
            <a:xfrm>
              <a:off x="1648542" y="4738727"/>
              <a:ext cx="3458717" cy="263149"/>
            </a:xfrm>
            <a:prstGeom prst="rect">
              <a:avLst/>
            </a:prstGeom>
            <a:noFill/>
          </p:spPr>
          <p:txBody>
            <a:bodyPr wrap="square" anchor="ctr">
              <a:spAutoFit/>
            </a:bodyPr>
            <a:lstStyle/>
            <a:p>
              <a:pPr marL="285750" marR="0" lvl="0" indent="-285750" algn="r" defTabSz="914400" rtl="1" eaLnBrk="1" fontAlgn="auto" latinLnBrk="0" hangingPunct="1">
                <a:lnSpc>
                  <a:spcPct val="90000"/>
                </a:lnSpc>
                <a:spcBef>
                  <a:spcPts val="1117"/>
                </a:spcBef>
                <a:spcAft>
                  <a:spcPts val="0"/>
                </a:spcAft>
                <a:buClr>
                  <a:srgbClr val="F0BE0F"/>
                </a:buClr>
                <a:buSzTx/>
                <a:buFont typeface="Arial" panose="020B0604020202020204" pitchFamily="34" charset="0"/>
                <a:buChar char="•"/>
                <a:tabLst/>
                <a:defRPr/>
              </a:pPr>
              <a:r>
                <a:rPr kumimoji="0" lang="fa-IR" sz="1200" i="0" u="none" strike="noStrike" kern="1200" cap="none" spc="0" normalizeH="0" baseline="0" noProof="0" dirty="0">
                  <a:ln>
                    <a:noFill/>
                  </a:ln>
                  <a:solidFill>
                    <a:schemeClr val="bg1">
                      <a:lumMod val="75000"/>
                    </a:schemeClr>
                  </a:solidFill>
                  <a:effectLst/>
                  <a:uLnTx/>
                  <a:uFillTx/>
                  <a:latin typeface="Yekan Bakh" pitchFamily="2" charset="-78"/>
                  <a:ea typeface="Yekan Bakh" pitchFamily="2" charset="-78"/>
                  <a:cs typeface="Yekan Bakh" pitchFamily="2" charset="-78"/>
                </a:rPr>
                <a:t>ابعاد بخش‌بندی مشتریان </a:t>
              </a:r>
            </a:p>
          </p:txBody>
        </p:sp>
        <p:sp>
          <p:nvSpPr>
            <p:cNvPr id="7" name="TextBox 6">
              <a:extLst>
                <a:ext uri="{FF2B5EF4-FFF2-40B4-BE49-F238E27FC236}">
                  <a16:creationId xmlns:a16="http://schemas.microsoft.com/office/drawing/2014/main" id="{083A35F8-50A1-DEC3-3D2A-0FB604B0A0EB}"/>
                </a:ext>
              </a:extLst>
            </p:cNvPr>
            <p:cNvSpPr txBox="1"/>
            <p:nvPr/>
          </p:nvSpPr>
          <p:spPr>
            <a:xfrm>
              <a:off x="525137" y="4724493"/>
              <a:ext cx="899015" cy="291618"/>
            </a:xfrm>
            <a:prstGeom prst="rect">
              <a:avLst/>
            </a:prstGeom>
            <a:noFill/>
          </p:spPr>
          <p:txBody>
            <a:bodyPr wrap="square" anchor="ctr">
              <a:spAutoFit/>
            </a:bodyPr>
            <a:lstStyle/>
            <a:p>
              <a:pPr marR="0" lvl="0" algn="ctr" defTabSz="914400" eaLnBrk="1" fontAlgn="auto" latinLnBrk="0" hangingPunct="1">
                <a:lnSpc>
                  <a:spcPct val="90000"/>
                </a:lnSpc>
                <a:spcBef>
                  <a:spcPts val="1117"/>
                </a:spcBef>
                <a:spcAft>
                  <a:spcPts val="0"/>
                </a:spcAft>
                <a:buClr>
                  <a:srgbClr val="F0BE0F"/>
                </a:buClr>
                <a:buSzTx/>
                <a:tabLst/>
                <a:defRPr/>
              </a:pPr>
              <a:r>
                <a:rPr lang="fa-IR" sz="1400" b="1" dirty="0">
                  <a:solidFill>
                    <a:schemeClr val="accent2">
                      <a:lumMod val="60000"/>
                      <a:lumOff val="40000"/>
                    </a:schemeClr>
                  </a:solidFill>
                  <a:latin typeface="Yekan Bakh FaNum SmBoldSmCond" pitchFamily="2" charset="-78"/>
                  <a:ea typeface="Yekan Bakh FaNum SmBoldSmCond" pitchFamily="2" charset="-78"/>
                  <a:cs typeface="Yekan Bakh FaNum SmBoldSmCond" pitchFamily="2" charset="-78"/>
                </a:rPr>
                <a:t>۲۶-۲۸</a:t>
              </a:r>
              <a:endParaRPr kumimoji="0" lang="en-US" sz="1400" b="1" i="0" u="none" strike="noStrike" kern="1200" cap="none" spc="0" normalizeH="0" baseline="0" noProof="0" dirty="0">
                <a:ln>
                  <a:noFill/>
                </a:ln>
                <a:solidFill>
                  <a:schemeClr val="accent2">
                    <a:lumMod val="60000"/>
                    <a:lumOff val="40000"/>
                  </a:schemeClr>
                </a:solidFill>
                <a:effectLst/>
                <a:uLnTx/>
                <a:uFillTx/>
                <a:latin typeface="Yekan Bakh FaNum SmBoldSmCond" pitchFamily="2" charset="-78"/>
                <a:ea typeface="Yekan Bakh FaNum SmBoldSmCond" pitchFamily="2" charset="-78"/>
                <a:cs typeface="Yekan Bakh FaNum SmBoldSmCond" pitchFamily="2" charset="-78"/>
              </a:endParaRPr>
            </a:p>
          </p:txBody>
        </p:sp>
        <p:sp>
          <p:nvSpPr>
            <p:cNvPr id="10" name="TextBox 9">
              <a:extLst>
                <a:ext uri="{FF2B5EF4-FFF2-40B4-BE49-F238E27FC236}">
                  <a16:creationId xmlns:a16="http://schemas.microsoft.com/office/drawing/2014/main" id="{88271346-6659-4B95-28B8-2ED14F3EE276}"/>
                </a:ext>
              </a:extLst>
            </p:cNvPr>
            <p:cNvSpPr txBox="1"/>
            <p:nvPr/>
          </p:nvSpPr>
          <p:spPr>
            <a:xfrm>
              <a:off x="1648542" y="5041613"/>
              <a:ext cx="3458717" cy="263149"/>
            </a:xfrm>
            <a:prstGeom prst="rect">
              <a:avLst/>
            </a:prstGeom>
            <a:noFill/>
          </p:spPr>
          <p:txBody>
            <a:bodyPr wrap="square" anchor="ctr">
              <a:spAutoFit/>
            </a:bodyPr>
            <a:lstStyle/>
            <a:p>
              <a:pPr marL="285750" marR="0" lvl="0" indent="-285750" algn="r" defTabSz="914400" rtl="1" eaLnBrk="1" fontAlgn="auto" latinLnBrk="0" hangingPunct="1">
                <a:lnSpc>
                  <a:spcPct val="90000"/>
                </a:lnSpc>
                <a:spcBef>
                  <a:spcPts val="1117"/>
                </a:spcBef>
                <a:spcAft>
                  <a:spcPts val="0"/>
                </a:spcAft>
                <a:buClr>
                  <a:srgbClr val="F0BE0F"/>
                </a:buClr>
                <a:buSzTx/>
                <a:buFont typeface="Arial" panose="020B0604020202020204" pitchFamily="34" charset="0"/>
                <a:buChar char="•"/>
                <a:tabLst/>
                <a:defRPr/>
              </a:pPr>
              <a:r>
                <a:rPr kumimoji="0" lang="fa-IR" sz="1200" i="0" u="none" strike="noStrike" kern="1200" cap="none" spc="0" normalizeH="0" baseline="0" noProof="0" dirty="0">
                  <a:ln>
                    <a:noFill/>
                  </a:ln>
                  <a:solidFill>
                    <a:schemeClr val="bg1">
                      <a:lumMod val="75000"/>
                    </a:schemeClr>
                  </a:solidFill>
                  <a:effectLst/>
                  <a:uLnTx/>
                  <a:uFillTx/>
                  <a:latin typeface="Yekan Bakh" pitchFamily="2" charset="-78"/>
                  <a:ea typeface="Yekan Bakh" pitchFamily="2" charset="-78"/>
                  <a:cs typeface="Yekan Bakh" pitchFamily="2" charset="-78"/>
                </a:rPr>
                <a:t>بخش‌های مشتریان شناسایی شده </a:t>
              </a:r>
            </a:p>
          </p:txBody>
        </p:sp>
        <p:sp>
          <p:nvSpPr>
            <p:cNvPr id="12" name="TextBox 11">
              <a:extLst>
                <a:ext uri="{FF2B5EF4-FFF2-40B4-BE49-F238E27FC236}">
                  <a16:creationId xmlns:a16="http://schemas.microsoft.com/office/drawing/2014/main" id="{54303005-DF03-DE67-B330-1AD5C228B11F}"/>
                </a:ext>
              </a:extLst>
            </p:cNvPr>
            <p:cNvSpPr txBox="1"/>
            <p:nvPr/>
          </p:nvSpPr>
          <p:spPr>
            <a:xfrm>
              <a:off x="525137" y="5027379"/>
              <a:ext cx="899015" cy="291618"/>
            </a:xfrm>
            <a:prstGeom prst="rect">
              <a:avLst/>
            </a:prstGeom>
            <a:noFill/>
          </p:spPr>
          <p:txBody>
            <a:bodyPr wrap="square" anchor="ctr">
              <a:spAutoFit/>
            </a:bodyPr>
            <a:lstStyle/>
            <a:p>
              <a:pPr marR="0" lvl="0" algn="ctr" defTabSz="914400" eaLnBrk="1" fontAlgn="auto" latinLnBrk="0" hangingPunct="1">
                <a:lnSpc>
                  <a:spcPct val="90000"/>
                </a:lnSpc>
                <a:spcBef>
                  <a:spcPts val="1117"/>
                </a:spcBef>
                <a:spcAft>
                  <a:spcPts val="0"/>
                </a:spcAft>
                <a:buClr>
                  <a:srgbClr val="F0BE0F"/>
                </a:buClr>
                <a:buSzTx/>
                <a:tabLst/>
                <a:defRPr/>
              </a:pPr>
              <a:r>
                <a:rPr lang="fa-IR" sz="1400" b="1" dirty="0">
                  <a:solidFill>
                    <a:schemeClr val="accent2">
                      <a:lumMod val="60000"/>
                      <a:lumOff val="40000"/>
                    </a:schemeClr>
                  </a:solidFill>
                  <a:latin typeface="Yekan Bakh FaNum SmBoldSmCond" pitchFamily="2" charset="-78"/>
                  <a:ea typeface="Yekan Bakh FaNum SmBoldSmCond" pitchFamily="2" charset="-78"/>
                  <a:cs typeface="Yekan Bakh FaNum SmBoldSmCond" pitchFamily="2" charset="-78"/>
                </a:rPr>
                <a:t>۲۹</a:t>
              </a:r>
              <a:endParaRPr kumimoji="0" lang="en-US" sz="1400" b="1" i="0" u="none" strike="noStrike" kern="1200" cap="none" spc="0" normalizeH="0" baseline="0" noProof="0" dirty="0">
                <a:ln>
                  <a:noFill/>
                </a:ln>
                <a:solidFill>
                  <a:schemeClr val="accent2">
                    <a:lumMod val="60000"/>
                    <a:lumOff val="40000"/>
                  </a:schemeClr>
                </a:solidFill>
                <a:effectLst/>
                <a:uLnTx/>
                <a:uFillTx/>
                <a:latin typeface="Yekan Bakh FaNum SmBoldSmCond" pitchFamily="2" charset="-78"/>
                <a:ea typeface="Yekan Bakh FaNum SmBoldSmCond" pitchFamily="2" charset="-78"/>
                <a:cs typeface="Yekan Bakh FaNum SmBoldSmCond" pitchFamily="2" charset="-78"/>
              </a:endParaRPr>
            </a:p>
          </p:txBody>
        </p:sp>
        <p:sp>
          <p:nvSpPr>
            <p:cNvPr id="16" name="TextBox 15">
              <a:extLst>
                <a:ext uri="{FF2B5EF4-FFF2-40B4-BE49-F238E27FC236}">
                  <a16:creationId xmlns:a16="http://schemas.microsoft.com/office/drawing/2014/main" id="{47BC6FCD-DB9F-3C78-B8F0-85D1EA187DC9}"/>
                </a:ext>
              </a:extLst>
            </p:cNvPr>
            <p:cNvSpPr txBox="1"/>
            <p:nvPr/>
          </p:nvSpPr>
          <p:spPr>
            <a:xfrm>
              <a:off x="1648542" y="5344499"/>
              <a:ext cx="3458717" cy="263149"/>
            </a:xfrm>
            <a:prstGeom prst="rect">
              <a:avLst/>
            </a:prstGeom>
            <a:noFill/>
          </p:spPr>
          <p:txBody>
            <a:bodyPr wrap="square" anchor="ctr">
              <a:spAutoFit/>
            </a:bodyPr>
            <a:lstStyle/>
            <a:p>
              <a:pPr marL="285750" marR="0" lvl="0" indent="-285750" algn="r" defTabSz="914400" rtl="1" eaLnBrk="1" fontAlgn="auto" latinLnBrk="0" hangingPunct="1">
                <a:lnSpc>
                  <a:spcPct val="90000"/>
                </a:lnSpc>
                <a:spcBef>
                  <a:spcPts val="1117"/>
                </a:spcBef>
                <a:spcAft>
                  <a:spcPts val="0"/>
                </a:spcAft>
                <a:buClr>
                  <a:srgbClr val="F0BE0F"/>
                </a:buClr>
                <a:buSzTx/>
                <a:buFont typeface="Arial" panose="020B0604020202020204" pitchFamily="34" charset="0"/>
                <a:buChar char="•"/>
                <a:tabLst/>
                <a:defRPr/>
              </a:pPr>
              <a:r>
                <a:rPr kumimoji="0" lang="fa-IR" sz="1200" i="0" u="none" strike="noStrike" kern="1200" cap="none" spc="0" normalizeH="0" baseline="0" noProof="0" dirty="0">
                  <a:ln>
                    <a:noFill/>
                  </a:ln>
                  <a:solidFill>
                    <a:schemeClr val="bg1">
                      <a:lumMod val="75000"/>
                    </a:schemeClr>
                  </a:solidFill>
                  <a:effectLst/>
                  <a:uLnTx/>
                  <a:uFillTx/>
                  <a:latin typeface="Yekan Bakh" pitchFamily="2" charset="-78"/>
                  <a:ea typeface="Yekan Bakh" pitchFamily="2" charset="-78"/>
                  <a:cs typeface="Yekan Bakh" pitchFamily="2" charset="-78"/>
                </a:rPr>
                <a:t>پرسوناهای کلیدی مشتریان </a:t>
              </a:r>
            </a:p>
          </p:txBody>
        </p:sp>
        <p:sp>
          <p:nvSpPr>
            <p:cNvPr id="18" name="TextBox 17">
              <a:extLst>
                <a:ext uri="{FF2B5EF4-FFF2-40B4-BE49-F238E27FC236}">
                  <a16:creationId xmlns:a16="http://schemas.microsoft.com/office/drawing/2014/main" id="{71350C2F-17A1-E4BE-62EB-D95B88A775DD}"/>
                </a:ext>
              </a:extLst>
            </p:cNvPr>
            <p:cNvSpPr txBox="1"/>
            <p:nvPr/>
          </p:nvSpPr>
          <p:spPr>
            <a:xfrm>
              <a:off x="525137" y="5330265"/>
              <a:ext cx="899015" cy="291618"/>
            </a:xfrm>
            <a:prstGeom prst="rect">
              <a:avLst/>
            </a:prstGeom>
            <a:noFill/>
          </p:spPr>
          <p:txBody>
            <a:bodyPr wrap="square" anchor="ctr">
              <a:spAutoFit/>
            </a:bodyPr>
            <a:lstStyle/>
            <a:p>
              <a:pPr marR="0" lvl="0" algn="ctr" defTabSz="914400" eaLnBrk="1" fontAlgn="auto" latinLnBrk="0" hangingPunct="1">
                <a:lnSpc>
                  <a:spcPct val="90000"/>
                </a:lnSpc>
                <a:spcBef>
                  <a:spcPts val="1117"/>
                </a:spcBef>
                <a:spcAft>
                  <a:spcPts val="0"/>
                </a:spcAft>
                <a:buClr>
                  <a:srgbClr val="F0BE0F"/>
                </a:buClr>
                <a:buSzTx/>
                <a:tabLst/>
                <a:defRPr/>
              </a:pPr>
              <a:r>
                <a:rPr lang="fa-IR" sz="1400" b="1" dirty="0">
                  <a:solidFill>
                    <a:schemeClr val="accent2">
                      <a:lumMod val="60000"/>
                      <a:lumOff val="40000"/>
                    </a:schemeClr>
                  </a:solidFill>
                  <a:latin typeface="Yekan Bakh FaNum SmBoldSmCond" pitchFamily="2" charset="-78"/>
                  <a:ea typeface="Yekan Bakh FaNum SmBoldSmCond" pitchFamily="2" charset="-78"/>
                  <a:cs typeface="Yekan Bakh FaNum SmBoldSmCond" pitchFamily="2" charset="-78"/>
                </a:rPr>
                <a:t>۳۰</a:t>
              </a:r>
              <a:endParaRPr kumimoji="0" lang="en-US" sz="1400" b="1" i="0" u="none" strike="noStrike" kern="1200" cap="none" spc="0" normalizeH="0" baseline="0" noProof="0" dirty="0">
                <a:ln>
                  <a:noFill/>
                </a:ln>
                <a:solidFill>
                  <a:schemeClr val="accent2">
                    <a:lumMod val="60000"/>
                    <a:lumOff val="40000"/>
                  </a:schemeClr>
                </a:solidFill>
                <a:effectLst/>
                <a:uLnTx/>
                <a:uFillTx/>
                <a:latin typeface="Yekan Bakh FaNum SmBoldSmCond" pitchFamily="2" charset="-78"/>
                <a:ea typeface="Yekan Bakh FaNum SmBoldSmCond" pitchFamily="2" charset="-78"/>
                <a:cs typeface="Yekan Bakh FaNum SmBoldSmCond" pitchFamily="2" charset="-78"/>
              </a:endParaRPr>
            </a:p>
          </p:txBody>
        </p:sp>
        <p:sp>
          <p:nvSpPr>
            <p:cNvPr id="22" name="TextBox 21">
              <a:extLst>
                <a:ext uri="{FF2B5EF4-FFF2-40B4-BE49-F238E27FC236}">
                  <a16:creationId xmlns:a16="http://schemas.microsoft.com/office/drawing/2014/main" id="{662CA2E5-B389-9E5D-043E-8378BC14DD78}"/>
                </a:ext>
              </a:extLst>
            </p:cNvPr>
            <p:cNvSpPr txBox="1"/>
            <p:nvPr/>
          </p:nvSpPr>
          <p:spPr>
            <a:xfrm>
              <a:off x="1648542" y="5647385"/>
              <a:ext cx="3458717" cy="263149"/>
            </a:xfrm>
            <a:prstGeom prst="rect">
              <a:avLst/>
            </a:prstGeom>
            <a:noFill/>
          </p:spPr>
          <p:txBody>
            <a:bodyPr wrap="square" anchor="ctr">
              <a:spAutoFit/>
            </a:bodyPr>
            <a:lstStyle/>
            <a:p>
              <a:pPr marL="285750" marR="0" lvl="0" indent="-285750" algn="r" defTabSz="914400" rtl="1" eaLnBrk="1" fontAlgn="auto" latinLnBrk="0" hangingPunct="1">
                <a:lnSpc>
                  <a:spcPct val="90000"/>
                </a:lnSpc>
                <a:spcBef>
                  <a:spcPts val="1117"/>
                </a:spcBef>
                <a:spcAft>
                  <a:spcPts val="0"/>
                </a:spcAft>
                <a:buClr>
                  <a:srgbClr val="F0BE0F"/>
                </a:buClr>
                <a:buSzTx/>
                <a:buFont typeface="Arial" panose="020B0604020202020204" pitchFamily="34" charset="0"/>
                <a:buChar char="•"/>
                <a:tabLst/>
                <a:defRPr/>
              </a:pPr>
              <a:r>
                <a:rPr kumimoji="0" lang="fa-IR" sz="1200" i="0" u="none" strike="noStrike" kern="1200" cap="none" spc="0" normalizeH="0" baseline="0" noProof="0" dirty="0">
                  <a:ln>
                    <a:noFill/>
                  </a:ln>
                  <a:solidFill>
                    <a:schemeClr val="bg1">
                      <a:lumMod val="75000"/>
                    </a:schemeClr>
                  </a:solidFill>
                  <a:effectLst/>
                  <a:uLnTx/>
                  <a:uFillTx/>
                  <a:latin typeface="Yekan Bakh" pitchFamily="2" charset="-78"/>
                  <a:ea typeface="Yekan Bakh" pitchFamily="2" charset="-78"/>
                  <a:cs typeface="Yekan Bakh" pitchFamily="2" charset="-78"/>
                </a:rPr>
                <a:t>پروفایل بخش‌های مشتری</a:t>
              </a:r>
            </a:p>
          </p:txBody>
        </p:sp>
        <p:sp>
          <p:nvSpPr>
            <p:cNvPr id="24" name="TextBox 23">
              <a:extLst>
                <a:ext uri="{FF2B5EF4-FFF2-40B4-BE49-F238E27FC236}">
                  <a16:creationId xmlns:a16="http://schemas.microsoft.com/office/drawing/2014/main" id="{207CD4C3-C04C-4ED0-AE37-B9FAA569C973}"/>
                </a:ext>
              </a:extLst>
            </p:cNvPr>
            <p:cNvSpPr txBox="1"/>
            <p:nvPr/>
          </p:nvSpPr>
          <p:spPr>
            <a:xfrm>
              <a:off x="525137" y="5633151"/>
              <a:ext cx="899015" cy="291618"/>
            </a:xfrm>
            <a:prstGeom prst="rect">
              <a:avLst/>
            </a:prstGeom>
            <a:noFill/>
          </p:spPr>
          <p:txBody>
            <a:bodyPr wrap="square" anchor="ctr">
              <a:spAutoFit/>
            </a:bodyPr>
            <a:lstStyle/>
            <a:p>
              <a:pPr marR="0" lvl="0" algn="ctr" defTabSz="914400" eaLnBrk="1" fontAlgn="auto" latinLnBrk="0" hangingPunct="1">
                <a:lnSpc>
                  <a:spcPct val="90000"/>
                </a:lnSpc>
                <a:spcBef>
                  <a:spcPts val="1117"/>
                </a:spcBef>
                <a:spcAft>
                  <a:spcPts val="0"/>
                </a:spcAft>
                <a:buClr>
                  <a:srgbClr val="F0BE0F"/>
                </a:buClr>
                <a:buSzTx/>
                <a:tabLst/>
                <a:defRPr/>
              </a:pPr>
              <a:r>
                <a:rPr lang="fa-IR" sz="1400" b="1" dirty="0">
                  <a:solidFill>
                    <a:schemeClr val="accent2">
                      <a:lumMod val="60000"/>
                      <a:lumOff val="40000"/>
                    </a:schemeClr>
                  </a:solidFill>
                  <a:latin typeface="Yekan Bakh FaNum SmBoldSmCond" pitchFamily="2" charset="-78"/>
                  <a:ea typeface="Yekan Bakh FaNum SmBoldSmCond" pitchFamily="2" charset="-78"/>
                  <a:cs typeface="Yekan Bakh FaNum SmBoldSmCond" pitchFamily="2" charset="-78"/>
                </a:rPr>
                <a:t>۳۱-۴۲</a:t>
              </a:r>
              <a:endParaRPr kumimoji="0" lang="en-US" sz="1400" b="1" i="0" u="none" strike="noStrike" kern="1200" cap="none" spc="0" normalizeH="0" baseline="0" noProof="0" dirty="0">
                <a:ln>
                  <a:noFill/>
                </a:ln>
                <a:solidFill>
                  <a:schemeClr val="accent2">
                    <a:lumMod val="60000"/>
                    <a:lumOff val="40000"/>
                  </a:schemeClr>
                </a:solidFill>
                <a:effectLst/>
                <a:uLnTx/>
                <a:uFillTx/>
                <a:latin typeface="Yekan Bakh FaNum SmBoldSmCond" pitchFamily="2" charset="-78"/>
                <a:ea typeface="Yekan Bakh FaNum SmBoldSmCond" pitchFamily="2" charset="-78"/>
                <a:cs typeface="Yekan Bakh FaNum SmBoldSmCond" pitchFamily="2" charset="-78"/>
              </a:endParaRPr>
            </a:p>
          </p:txBody>
        </p:sp>
        <p:sp>
          <p:nvSpPr>
            <p:cNvPr id="27" name="TextBox 26">
              <a:extLst>
                <a:ext uri="{FF2B5EF4-FFF2-40B4-BE49-F238E27FC236}">
                  <a16:creationId xmlns:a16="http://schemas.microsoft.com/office/drawing/2014/main" id="{1990D3D3-19F9-B10D-E987-5975A6959309}"/>
                </a:ext>
              </a:extLst>
            </p:cNvPr>
            <p:cNvSpPr txBox="1"/>
            <p:nvPr/>
          </p:nvSpPr>
          <p:spPr>
            <a:xfrm>
              <a:off x="1648542" y="5950269"/>
              <a:ext cx="3458717" cy="263149"/>
            </a:xfrm>
            <a:prstGeom prst="rect">
              <a:avLst/>
            </a:prstGeom>
            <a:noFill/>
          </p:spPr>
          <p:txBody>
            <a:bodyPr wrap="square" anchor="ctr">
              <a:spAutoFit/>
            </a:bodyPr>
            <a:lstStyle/>
            <a:p>
              <a:pPr marL="285750" marR="0" lvl="0" indent="-285750" algn="r" defTabSz="914400" rtl="1" eaLnBrk="1" fontAlgn="auto" latinLnBrk="0" hangingPunct="1">
                <a:lnSpc>
                  <a:spcPct val="90000"/>
                </a:lnSpc>
                <a:spcBef>
                  <a:spcPts val="1117"/>
                </a:spcBef>
                <a:spcAft>
                  <a:spcPts val="0"/>
                </a:spcAft>
                <a:buClr>
                  <a:srgbClr val="F0BE0F"/>
                </a:buClr>
                <a:buSzTx/>
                <a:buFont typeface="Arial" panose="020B0604020202020204" pitchFamily="34" charset="0"/>
                <a:buChar char="•"/>
                <a:tabLst/>
                <a:defRPr/>
              </a:pPr>
              <a:r>
                <a:rPr kumimoji="0" lang="fa-IR" sz="1200" i="0" u="none" strike="noStrike" kern="1200" cap="none" spc="0" normalizeH="0" baseline="0" noProof="0" dirty="0">
                  <a:ln>
                    <a:noFill/>
                  </a:ln>
                  <a:solidFill>
                    <a:schemeClr val="bg1">
                      <a:lumMod val="75000"/>
                    </a:schemeClr>
                  </a:solidFill>
                  <a:effectLst/>
                  <a:uLnTx/>
                  <a:uFillTx/>
                  <a:latin typeface="Yekan Bakh" pitchFamily="2" charset="-78"/>
                  <a:ea typeface="Yekan Bakh" pitchFamily="2" charset="-78"/>
                  <a:cs typeface="Yekan Bakh" pitchFamily="2" charset="-78"/>
                </a:rPr>
                <a:t>توضیحات تکمیلی</a:t>
              </a:r>
            </a:p>
          </p:txBody>
        </p:sp>
        <p:sp>
          <p:nvSpPr>
            <p:cNvPr id="28" name="TextBox 27">
              <a:extLst>
                <a:ext uri="{FF2B5EF4-FFF2-40B4-BE49-F238E27FC236}">
                  <a16:creationId xmlns:a16="http://schemas.microsoft.com/office/drawing/2014/main" id="{0AD747DF-A80A-E564-99E8-D0C1013D6230}"/>
                </a:ext>
              </a:extLst>
            </p:cNvPr>
            <p:cNvSpPr txBox="1"/>
            <p:nvPr/>
          </p:nvSpPr>
          <p:spPr>
            <a:xfrm>
              <a:off x="525137" y="5936035"/>
              <a:ext cx="899015" cy="291618"/>
            </a:xfrm>
            <a:prstGeom prst="rect">
              <a:avLst/>
            </a:prstGeom>
            <a:noFill/>
          </p:spPr>
          <p:txBody>
            <a:bodyPr wrap="square" anchor="ctr">
              <a:spAutoFit/>
            </a:bodyPr>
            <a:lstStyle/>
            <a:p>
              <a:pPr marR="0" lvl="0" algn="ctr" defTabSz="914400" eaLnBrk="1" fontAlgn="auto" latinLnBrk="0" hangingPunct="1">
                <a:lnSpc>
                  <a:spcPct val="90000"/>
                </a:lnSpc>
                <a:spcBef>
                  <a:spcPts val="1117"/>
                </a:spcBef>
                <a:spcAft>
                  <a:spcPts val="0"/>
                </a:spcAft>
                <a:buClr>
                  <a:srgbClr val="F0BE0F"/>
                </a:buClr>
                <a:buSzTx/>
                <a:tabLst/>
                <a:defRPr/>
              </a:pPr>
              <a:r>
                <a:rPr lang="fa-IR" sz="1400" b="1" dirty="0">
                  <a:solidFill>
                    <a:schemeClr val="accent2">
                      <a:lumMod val="60000"/>
                      <a:lumOff val="40000"/>
                    </a:schemeClr>
                  </a:solidFill>
                  <a:latin typeface="Yekan Bakh FaNum SmBoldSmCond" pitchFamily="2" charset="-78"/>
                  <a:ea typeface="Yekan Bakh FaNum SmBoldSmCond" pitchFamily="2" charset="-78"/>
                  <a:cs typeface="Yekan Bakh FaNum SmBoldSmCond" pitchFamily="2" charset="-78"/>
                </a:rPr>
                <a:t>۴۳-۴۶</a:t>
              </a:r>
              <a:endParaRPr kumimoji="0" lang="en-US" sz="1400" b="1" i="0" u="none" strike="noStrike" kern="1200" cap="none" spc="0" normalizeH="0" baseline="0" noProof="0" dirty="0">
                <a:ln>
                  <a:noFill/>
                </a:ln>
                <a:solidFill>
                  <a:schemeClr val="accent2">
                    <a:lumMod val="60000"/>
                    <a:lumOff val="40000"/>
                  </a:schemeClr>
                </a:solidFill>
                <a:effectLst/>
                <a:uLnTx/>
                <a:uFillTx/>
                <a:latin typeface="Yekan Bakh FaNum SmBoldSmCond" pitchFamily="2" charset="-78"/>
                <a:ea typeface="Yekan Bakh FaNum SmBoldSmCond" pitchFamily="2" charset="-78"/>
                <a:cs typeface="Yekan Bakh FaNum SmBoldSmCond" pitchFamily="2" charset="-78"/>
              </a:endParaRPr>
            </a:p>
          </p:txBody>
        </p:sp>
      </p:grpSp>
    </p:spTree>
    <p:extLst>
      <p:ext uri="{BB962C8B-B14F-4D97-AF65-F5344CB8AC3E}">
        <p14:creationId xmlns:p14="http://schemas.microsoft.com/office/powerpoint/2010/main" val="3642284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354FB7-4A9A-EEC1-3475-2AA200866C13}"/>
            </a:ext>
          </a:extLst>
        </p:cNvPr>
        <p:cNvGrpSpPr/>
        <p:nvPr/>
      </p:nvGrpSpPr>
      <p:grpSpPr>
        <a:xfrm>
          <a:off x="0" y="0"/>
          <a:ext cx="0" cy="0"/>
          <a:chOff x="0" y="0"/>
          <a:chExt cx="0" cy="0"/>
        </a:xfrm>
      </p:grpSpPr>
      <p:cxnSp>
        <p:nvCxnSpPr>
          <p:cNvPr id="1052" name="Straight Connector 1051">
            <a:extLst>
              <a:ext uri="{FF2B5EF4-FFF2-40B4-BE49-F238E27FC236}">
                <a16:creationId xmlns:a16="http://schemas.microsoft.com/office/drawing/2014/main" id="{68861AD1-E0D5-08F1-3B2B-28954E88218C}"/>
              </a:ext>
            </a:extLst>
          </p:cNvPr>
          <p:cNvCxnSpPr>
            <a:cxnSpLocks/>
          </p:cNvCxnSpPr>
          <p:nvPr/>
        </p:nvCxnSpPr>
        <p:spPr>
          <a:xfrm>
            <a:off x="2538516" y="1298702"/>
            <a:ext cx="0" cy="2926080"/>
          </a:xfrm>
          <a:prstGeom prst="line">
            <a:avLst/>
          </a:prstGeom>
          <a:ln w="6350">
            <a:solidFill>
              <a:schemeClr val="bg1">
                <a:lumMod val="85000"/>
              </a:schemeClr>
            </a:solidFill>
            <a:prstDash val="dash"/>
          </a:ln>
        </p:spPr>
        <p:style>
          <a:lnRef idx="1">
            <a:schemeClr val="accent4"/>
          </a:lnRef>
          <a:fillRef idx="0">
            <a:schemeClr val="accent4"/>
          </a:fillRef>
          <a:effectRef idx="0">
            <a:schemeClr val="accent4"/>
          </a:effectRef>
          <a:fontRef idx="minor">
            <a:schemeClr val="tx1"/>
          </a:fontRef>
        </p:style>
      </p:cxnSp>
      <p:cxnSp>
        <p:nvCxnSpPr>
          <p:cNvPr id="1053" name="Straight Connector 1052">
            <a:extLst>
              <a:ext uri="{FF2B5EF4-FFF2-40B4-BE49-F238E27FC236}">
                <a16:creationId xmlns:a16="http://schemas.microsoft.com/office/drawing/2014/main" id="{827571CA-5394-C692-D6D4-DD73E5724E01}"/>
              </a:ext>
            </a:extLst>
          </p:cNvPr>
          <p:cNvCxnSpPr>
            <a:cxnSpLocks/>
          </p:cNvCxnSpPr>
          <p:nvPr/>
        </p:nvCxnSpPr>
        <p:spPr>
          <a:xfrm>
            <a:off x="4809384" y="1298702"/>
            <a:ext cx="0" cy="2926080"/>
          </a:xfrm>
          <a:prstGeom prst="line">
            <a:avLst/>
          </a:prstGeom>
          <a:ln w="6350">
            <a:solidFill>
              <a:schemeClr val="bg1">
                <a:lumMod val="85000"/>
              </a:schemeClr>
            </a:solidFill>
            <a:prstDash val="dash"/>
          </a:ln>
        </p:spPr>
        <p:style>
          <a:lnRef idx="1">
            <a:schemeClr val="accent4"/>
          </a:lnRef>
          <a:fillRef idx="0">
            <a:schemeClr val="accent4"/>
          </a:fillRef>
          <a:effectRef idx="0">
            <a:schemeClr val="accent4"/>
          </a:effectRef>
          <a:fontRef idx="minor">
            <a:schemeClr val="tx1"/>
          </a:fontRef>
        </p:style>
      </p:cxnSp>
      <p:cxnSp>
        <p:nvCxnSpPr>
          <p:cNvPr id="1058" name="Straight Connector 1057">
            <a:extLst>
              <a:ext uri="{FF2B5EF4-FFF2-40B4-BE49-F238E27FC236}">
                <a16:creationId xmlns:a16="http://schemas.microsoft.com/office/drawing/2014/main" id="{687C9AEF-0EAF-5645-1067-69F11CAB75EA}"/>
              </a:ext>
            </a:extLst>
          </p:cNvPr>
          <p:cNvCxnSpPr>
            <a:cxnSpLocks/>
          </p:cNvCxnSpPr>
          <p:nvPr/>
        </p:nvCxnSpPr>
        <p:spPr>
          <a:xfrm>
            <a:off x="6911496" y="1298702"/>
            <a:ext cx="0" cy="2926080"/>
          </a:xfrm>
          <a:prstGeom prst="line">
            <a:avLst/>
          </a:prstGeom>
          <a:ln w="6350">
            <a:solidFill>
              <a:schemeClr val="bg1">
                <a:lumMod val="85000"/>
              </a:schemeClr>
            </a:solidFill>
            <a:prstDash val="dash"/>
          </a:ln>
        </p:spPr>
        <p:style>
          <a:lnRef idx="1">
            <a:schemeClr val="accent4"/>
          </a:lnRef>
          <a:fillRef idx="0">
            <a:schemeClr val="accent4"/>
          </a:fillRef>
          <a:effectRef idx="0">
            <a:schemeClr val="accent4"/>
          </a:effectRef>
          <a:fontRef idx="minor">
            <a:schemeClr val="tx1"/>
          </a:fontRef>
        </p:style>
      </p:cxnSp>
      <p:cxnSp>
        <p:nvCxnSpPr>
          <p:cNvPr id="1064" name="Straight Connector 1063">
            <a:extLst>
              <a:ext uri="{FF2B5EF4-FFF2-40B4-BE49-F238E27FC236}">
                <a16:creationId xmlns:a16="http://schemas.microsoft.com/office/drawing/2014/main" id="{1F7E3F1C-E658-0E6C-658B-3AECD02DD80F}"/>
              </a:ext>
            </a:extLst>
          </p:cNvPr>
          <p:cNvCxnSpPr>
            <a:cxnSpLocks/>
          </p:cNvCxnSpPr>
          <p:nvPr/>
        </p:nvCxnSpPr>
        <p:spPr>
          <a:xfrm>
            <a:off x="9182364" y="1298702"/>
            <a:ext cx="0" cy="2926080"/>
          </a:xfrm>
          <a:prstGeom prst="line">
            <a:avLst/>
          </a:prstGeom>
          <a:ln w="6350">
            <a:solidFill>
              <a:schemeClr val="bg1">
                <a:lumMod val="85000"/>
              </a:schemeClr>
            </a:solidFill>
            <a:prstDash val="dash"/>
          </a:ln>
        </p:spPr>
        <p:style>
          <a:lnRef idx="1">
            <a:schemeClr val="accent4"/>
          </a:lnRef>
          <a:fillRef idx="0">
            <a:schemeClr val="accent4"/>
          </a:fillRef>
          <a:effectRef idx="0">
            <a:schemeClr val="accent4"/>
          </a:effectRef>
          <a:fontRef idx="minor">
            <a:schemeClr val="tx1"/>
          </a:fontRef>
        </p:style>
      </p:cxnSp>
      <p:cxnSp>
        <p:nvCxnSpPr>
          <p:cNvPr id="1070" name="Straight Connector 1069">
            <a:extLst>
              <a:ext uri="{FF2B5EF4-FFF2-40B4-BE49-F238E27FC236}">
                <a16:creationId xmlns:a16="http://schemas.microsoft.com/office/drawing/2014/main" id="{6611719A-B350-52A6-CAF1-AC3D3EC10E3D}"/>
              </a:ext>
            </a:extLst>
          </p:cNvPr>
          <p:cNvCxnSpPr>
            <a:cxnSpLocks/>
          </p:cNvCxnSpPr>
          <p:nvPr/>
        </p:nvCxnSpPr>
        <p:spPr>
          <a:xfrm>
            <a:off x="5851525" y="4316556"/>
            <a:ext cx="0" cy="1005840"/>
          </a:xfrm>
          <a:prstGeom prst="line">
            <a:avLst/>
          </a:prstGeom>
          <a:ln w="6350">
            <a:solidFill>
              <a:schemeClr val="bg1">
                <a:lumMod val="85000"/>
              </a:schemeClr>
            </a:solidFill>
            <a:prstDash val="dash"/>
          </a:ln>
        </p:spPr>
        <p:style>
          <a:lnRef idx="1">
            <a:schemeClr val="accent4"/>
          </a:lnRef>
          <a:fillRef idx="0">
            <a:schemeClr val="accent4"/>
          </a:fillRef>
          <a:effectRef idx="0">
            <a:schemeClr val="accent4"/>
          </a:effectRef>
          <a:fontRef idx="minor">
            <a:schemeClr val="tx1"/>
          </a:fontRef>
        </p:style>
      </p:cxnSp>
      <p:cxnSp>
        <p:nvCxnSpPr>
          <p:cNvPr id="1075" name="Straight Connector 1074">
            <a:extLst>
              <a:ext uri="{FF2B5EF4-FFF2-40B4-BE49-F238E27FC236}">
                <a16:creationId xmlns:a16="http://schemas.microsoft.com/office/drawing/2014/main" id="{EF6B2B90-CFD0-4725-870A-ED1B5425DDD7}"/>
              </a:ext>
            </a:extLst>
          </p:cNvPr>
          <p:cNvCxnSpPr>
            <a:cxnSpLocks/>
          </p:cNvCxnSpPr>
          <p:nvPr/>
        </p:nvCxnSpPr>
        <p:spPr>
          <a:xfrm flipH="1">
            <a:off x="512712" y="4273653"/>
            <a:ext cx="10698480" cy="0"/>
          </a:xfrm>
          <a:prstGeom prst="line">
            <a:avLst/>
          </a:prstGeom>
          <a:ln w="6350">
            <a:solidFill>
              <a:schemeClr val="bg1">
                <a:lumMod val="85000"/>
              </a:schemeClr>
            </a:solidFill>
            <a:prstDash val="dash"/>
          </a:ln>
        </p:spPr>
        <p:style>
          <a:lnRef idx="1">
            <a:schemeClr val="accent4"/>
          </a:lnRef>
          <a:fillRef idx="0">
            <a:schemeClr val="accent4"/>
          </a:fillRef>
          <a:effectRef idx="0">
            <a:schemeClr val="accent4"/>
          </a:effectRef>
          <a:fontRef idx="minor">
            <a:schemeClr val="tx1"/>
          </a:fontRef>
        </p:style>
      </p:cxnSp>
      <p:sp>
        <p:nvSpPr>
          <p:cNvPr id="1076" name="TextBox 1075">
            <a:extLst>
              <a:ext uri="{FF2B5EF4-FFF2-40B4-BE49-F238E27FC236}">
                <a16:creationId xmlns:a16="http://schemas.microsoft.com/office/drawing/2014/main" id="{A8E1DEDE-540B-8FC9-32F3-B4FA04133D76}"/>
              </a:ext>
            </a:extLst>
          </p:cNvPr>
          <p:cNvSpPr txBox="1"/>
          <p:nvPr/>
        </p:nvSpPr>
        <p:spPr>
          <a:xfrm>
            <a:off x="5982104" y="4622154"/>
            <a:ext cx="5238442" cy="761747"/>
          </a:xfrm>
          <a:prstGeom prst="rect">
            <a:avLst/>
          </a:prstGeom>
          <a:noFill/>
        </p:spPr>
        <p:txBody>
          <a:bodyPr wrap="square" rtlCol="0">
            <a:spAutoFit/>
          </a:bodyPr>
          <a:lstStyle/>
          <a:p>
            <a:pPr marL="115888" marR="0" lvl="0" indent="-115888" algn="justLow" defTabSz="457200" rtl="1" eaLnBrk="1" fontAlgn="auto" latinLnBrk="0" hangingPunct="1">
              <a:lnSpc>
                <a:spcPct val="10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مشتریان واقعاً حاضرند بابت چه ارزشی پول پرداخت کنند؟</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a:p>
            <a:pPr marL="115888" marR="0" lvl="0" indent="-115888" algn="justLow" defTabSz="457200" rtl="1" eaLnBrk="1" fontAlgn="auto" latinLnBrk="0" hangingPunct="1">
              <a:lnSpc>
                <a:spcPct val="10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در حال حاضر بابت چه چیزی پول می‌پردازند؟</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a:p>
            <a:pPr marL="115888" marR="0" lvl="0" indent="-115888" algn="justLow" defTabSz="457200" rtl="1" eaLnBrk="1" fontAlgn="auto" latinLnBrk="0" hangingPunct="1">
              <a:lnSpc>
                <a:spcPct val="10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مدل درآمدی ما چیست؟</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a:p>
            <a:pPr marL="115888" marR="0" lvl="0" indent="-115888" algn="justLow" defTabSz="457200" rtl="1" eaLnBrk="1" fontAlgn="auto" latinLnBrk="0" hangingPunct="1">
              <a:lnSpc>
                <a:spcPct val="10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تاکتیک‌های قیمت‌گذاری ما کدامند؟</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p:txBody>
      </p:sp>
      <p:sp>
        <p:nvSpPr>
          <p:cNvPr id="1077" name="TextBox 1076">
            <a:extLst>
              <a:ext uri="{FF2B5EF4-FFF2-40B4-BE49-F238E27FC236}">
                <a16:creationId xmlns:a16="http://schemas.microsoft.com/office/drawing/2014/main" id="{75B42933-1932-F4A8-9848-CCFC8B383639}"/>
              </a:ext>
            </a:extLst>
          </p:cNvPr>
          <p:cNvSpPr txBox="1"/>
          <p:nvPr/>
        </p:nvSpPr>
        <p:spPr>
          <a:xfrm>
            <a:off x="482504" y="4622154"/>
            <a:ext cx="5219631" cy="584775"/>
          </a:xfrm>
          <a:prstGeom prst="rect">
            <a:avLst/>
          </a:prstGeom>
          <a:noFill/>
        </p:spPr>
        <p:txBody>
          <a:bodyPr wrap="square" rtlCol="0">
            <a:spAutoFit/>
          </a:bodyPr>
          <a:lstStyle/>
          <a:p>
            <a:pPr marL="115888" marR="0" lvl="0" indent="-115888" algn="justLow" defTabSz="457200" rtl="1" eaLnBrk="1" fontAlgn="auto" latinLnBrk="0" hangingPunct="1">
              <a:lnSpc>
                <a:spcPct val="10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مهم‌ترین هزینه‌های ذاتیِ مدل کسب‌وکار ما چیست؟</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a:p>
            <a:pPr marL="115888" marR="0" lvl="0" indent="-115888" algn="justLow" defTabSz="457200" rtl="1" eaLnBrk="1" fontAlgn="auto" latinLnBrk="0" hangingPunct="1">
              <a:lnSpc>
                <a:spcPct val="10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کدام منابع کلیدی گران‌ترین هستند؟</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a:p>
            <a:pPr marL="115888" marR="0" lvl="0" indent="-115888" algn="justLow" defTabSz="457200" rtl="1" eaLnBrk="1" fontAlgn="auto" latinLnBrk="0" hangingPunct="1">
              <a:lnSpc>
                <a:spcPct val="10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کدام فعالیت‌های کلیدی بیشترین هزینه را دارند؟</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p:txBody>
      </p:sp>
      <p:grpSp>
        <p:nvGrpSpPr>
          <p:cNvPr id="1150" name="Group 1149">
            <a:extLst>
              <a:ext uri="{FF2B5EF4-FFF2-40B4-BE49-F238E27FC236}">
                <a16:creationId xmlns:a16="http://schemas.microsoft.com/office/drawing/2014/main" id="{5F2A9CD2-92BB-5742-C43E-2C5D562EF917}"/>
              </a:ext>
            </a:extLst>
          </p:cNvPr>
          <p:cNvGrpSpPr/>
          <p:nvPr/>
        </p:nvGrpSpPr>
        <p:grpSpPr>
          <a:xfrm>
            <a:off x="9245866" y="1162738"/>
            <a:ext cx="1974683" cy="1746406"/>
            <a:chOff x="9245866" y="1162738"/>
            <a:chExt cx="1974683" cy="1746406"/>
          </a:xfrm>
        </p:grpSpPr>
        <p:sp>
          <p:nvSpPr>
            <p:cNvPr id="1078" name="TextBox 1077">
              <a:extLst>
                <a:ext uri="{FF2B5EF4-FFF2-40B4-BE49-F238E27FC236}">
                  <a16:creationId xmlns:a16="http://schemas.microsoft.com/office/drawing/2014/main" id="{6AE48003-0709-0DF6-12A3-DB325E5526C6}"/>
                </a:ext>
              </a:extLst>
            </p:cNvPr>
            <p:cNvSpPr txBox="1"/>
            <p:nvPr/>
          </p:nvSpPr>
          <p:spPr>
            <a:xfrm>
              <a:off x="9245866" y="1510684"/>
              <a:ext cx="1974682" cy="1398460"/>
            </a:xfrm>
            <a:prstGeom prst="rect">
              <a:avLst/>
            </a:prstGeom>
            <a:noFill/>
          </p:spPr>
          <p:txBody>
            <a:bodyPr wrap="square" rtlCol="0">
              <a:spAutoFit/>
            </a:bodyPr>
            <a:lstStyle/>
            <a:p>
              <a:pPr marL="115888" marR="0" lvl="0" indent="-115888" algn="justLow" defTabSz="457200" rtl="1" eaLnBrk="1" fontAlgn="auto" latinLnBrk="0" hangingPunct="1">
                <a:lnSpc>
                  <a:spcPct val="15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ما برای چه کسانی ارزش‌آفرینی می‌کنیم؟</a:t>
              </a:r>
            </a:p>
            <a:p>
              <a:pPr marL="115888" marR="0" lvl="0" indent="-115888" algn="justLow" defTabSz="457200" rtl="1" eaLnBrk="1" fontAlgn="auto" latinLnBrk="0" hangingPunct="1">
                <a:lnSpc>
                  <a:spcPct val="15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مهم‌ترین مشتریان ما چه کسانی هستند؟</a:t>
              </a:r>
            </a:p>
            <a:p>
              <a:pPr marL="115888" marR="0" lvl="0" indent="-115888" algn="justLow" defTabSz="457200" rtl="1" eaLnBrk="1" fontAlgn="auto" latinLnBrk="0" hangingPunct="1">
                <a:lnSpc>
                  <a:spcPct val="15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آرکی‌تایپ‌ها (الگوها/پرتره‌های شخصیتی) مشتریان ما کدامند؟</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p:txBody>
        </p:sp>
        <p:sp>
          <p:nvSpPr>
            <p:cNvPr id="1079" name="Rectangle: Rounded Corners 1078">
              <a:extLst>
                <a:ext uri="{FF2B5EF4-FFF2-40B4-BE49-F238E27FC236}">
                  <a16:creationId xmlns:a16="http://schemas.microsoft.com/office/drawing/2014/main" id="{7E8CBA00-A7AD-A4BB-CD2B-85804E83CC9C}"/>
                </a:ext>
              </a:extLst>
            </p:cNvPr>
            <p:cNvSpPr/>
            <p:nvPr/>
          </p:nvSpPr>
          <p:spPr>
            <a:xfrm>
              <a:off x="10946229" y="1162738"/>
              <a:ext cx="274320" cy="274320"/>
            </a:xfrm>
            <a:prstGeom prst="roundRect">
              <a:avLst>
                <a:gd name="adj" fmla="val 20381"/>
              </a:avLst>
            </a:prstGeom>
            <a:solidFill>
              <a:srgbClr val="F0BE0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endParaRPr lang="fa-IR" sz="1600" b="1" dirty="0">
                <a:latin typeface="Yekan Bakh" pitchFamily="2" charset="-78"/>
                <a:ea typeface="Yekan Bakh" pitchFamily="2" charset="-78"/>
                <a:cs typeface="Yekan Bakh" pitchFamily="2" charset="-78"/>
              </a:endParaRPr>
            </a:p>
          </p:txBody>
        </p:sp>
        <p:sp>
          <p:nvSpPr>
            <p:cNvPr id="1080" name="TextBox 1079">
              <a:extLst>
                <a:ext uri="{FF2B5EF4-FFF2-40B4-BE49-F238E27FC236}">
                  <a16:creationId xmlns:a16="http://schemas.microsoft.com/office/drawing/2014/main" id="{EA054F3A-9611-2527-32AA-297783966C61}"/>
                </a:ext>
              </a:extLst>
            </p:cNvPr>
            <p:cNvSpPr txBox="1"/>
            <p:nvPr/>
          </p:nvSpPr>
          <p:spPr>
            <a:xfrm>
              <a:off x="10965421" y="1163059"/>
              <a:ext cx="235936" cy="307777"/>
            </a:xfrm>
            <a:prstGeom prst="rect">
              <a:avLst/>
            </a:prstGeom>
            <a:noFill/>
          </p:spPr>
          <p:txBody>
            <a:bodyPr wrap="square" rtlCol="0" anchor="ctr">
              <a:spAutoFit/>
            </a:bodyPr>
            <a:lstStyle/>
            <a:p>
              <a:pPr algn="ctr"/>
              <a:r>
                <a:rPr lang="fa-IR" sz="1400" b="1" dirty="0">
                  <a:solidFill>
                    <a:schemeClr val="bg1"/>
                  </a:solidFill>
                  <a:latin typeface="Yekan Bakh FaNum" pitchFamily="2" charset="-78"/>
                  <a:ea typeface="Yekan Bakh FaNum" pitchFamily="2" charset="-78"/>
                  <a:cs typeface="Yekan Bakh FaNum" pitchFamily="2" charset="-78"/>
                </a:rPr>
                <a:t>۱</a:t>
              </a:r>
              <a:endParaRPr lang="en-GB" sz="1400" b="1" dirty="0">
                <a:solidFill>
                  <a:schemeClr val="bg1"/>
                </a:solidFill>
                <a:latin typeface="Yekan Bakh FaNum" pitchFamily="2" charset="-78"/>
                <a:ea typeface="Yekan Bakh FaNum" pitchFamily="2" charset="-78"/>
                <a:cs typeface="Yekan Bakh FaNum" pitchFamily="2" charset="-78"/>
              </a:endParaRPr>
            </a:p>
          </p:txBody>
        </p:sp>
        <p:sp>
          <p:nvSpPr>
            <p:cNvPr id="1081" name="Rectangle: Rounded Corners 1080">
              <a:extLst>
                <a:ext uri="{FF2B5EF4-FFF2-40B4-BE49-F238E27FC236}">
                  <a16:creationId xmlns:a16="http://schemas.microsoft.com/office/drawing/2014/main" id="{DFC5AC09-45EA-99A4-D39B-FEFB43B1D049}"/>
                </a:ext>
              </a:extLst>
            </p:cNvPr>
            <p:cNvSpPr/>
            <p:nvPr/>
          </p:nvSpPr>
          <p:spPr>
            <a:xfrm>
              <a:off x="9245866" y="1162738"/>
              <a:ext cx="1682279" cy="274320"/>
            </a:xfrm>
            <a:prstGeom prst="roundRect">
              <a:avLst>
                <a:gd name="adj" fmla="val 20381"/>
              </a:avLst>
            </a:prstGeom>
            <a:solidFill>
              <a:srgbClr val="F0BE0F">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fa-IR" sz="1100" b="1" dirty="0">
                  <a:solidFill>
                    <a:srgbClr val="004D80"/>
                  </a:solidFill>
                  <a:latin typeface="Yekan Bakh" pitchFamily="2" charset="-78"/>
                  <a:ea typeface="Yekan Bakh" pitchFamily="2" charset="-78"/>
                  <a:cs typeface="Yekan Bakh" pitchFamily="2" charset="-78"/>
                </a:rPr>
                <a:t>بخش‌های مشتریان</a:t>
              </a:r>
            </a:p>
          </p:txBody>
        </p:sp>
      </p:grpSp>
      <p:sp>
        <p:nvSpPr>
          <p:cNvPr id="1082" name="TextBox 1081">
            <a:extLst>
              <a:ext uri="{FF2B5EF4-FFF2-40B4-BE49-F238E27FC236}">
                <a16:creationId xmlns:a16="http://schemas.microsoft.com/office/drawing/2014/main" id="{79975357-9B71-BE3C-BE7A-6FD996553F5B}"/>
              </a:ext>
            </a:extLst>
          </p:cNvPr>
          <p:cNvSpPr txBox="1"/>
          <p:nvPr/>
        </p:nvSpPr>
        <p:spPr>
          <a:xfrm>
            <a:off x="4872888" y="1510684"/>
            <a:ext cx="1975104" cy="2514150"/>
          </a:xfrm>
          <a:prstGeom prst="rect">
            <a:avLst/>
          </a:prstGeom>
          <a:noFill/>
        </p:spPr>
        <p:txBody>
          <a:bodyPr wrap="square" rtlCol="0">
            <a:spAutoFit/>
          </a:bodyPr>
          <a:lstStyle/>
          <a:p>
            <a:pPr marL="115888" marR="0" lvl="0" indent="-115888" algn="justLow" defTabSz="457200" rtl="1" eaLnBrk="1" fontAlgn="auto" latinLnBrk="0" hangingPunct="1">
              <a:lnSpc>
                <a:spcPct val="15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چه ارزشی را به مشتری ارائه می‌دهیم؟</a:t>
            </a:r>
          </a:p>
          <a:p>
            <a:pPr marL="115888" marR="0" lvl="0" indent="-115888" algn="justLow" defTabSz="457200" rtl="1" eaLnBrk="1" fontAlgn="auto" latinLnBrk="0" hangingPunct="1">
              <a:lnSpc>
                <a:spcPct val="15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به حل کدام‌یک از مسائل مشتریان خود کمک می‌کنیم؟</a:t>
            </a:r>
          </a:p>
          <a:p>
            <a:pPr marL="115888" marR="0" lvl="0" indent="-115888" algn="justLow" defTabSz="457200" rtl="1" eaLnBrk="1" fontAlgn="auto" latinLnBrk="0" hangingPunct="1">
              <a:lnSpc>
                <a:spcPct val="15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چه بسته‌ای از محصولات و خدمات را به هر بخش از مشتریان عرضه می‌کنیم؟</a:t>
            </a:r>
          </a:p>
          <a:p>
            <a:pPr marL="115888" marR="0" lvl="0" indent="-115888" algn="justLow" defTabSz="457200" rtl="1" eaLnBrk="1" fontAlgn="auto" latinLnBrk="0" hangingPunct="1">
              <a:lnSpc>
                <a:spcPct val="15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کدام‌یک از نیازهای مشتریان را برطرف می‌سازیم؟</a:t>
            </a:r>
          </a:p>
          <a:p>
            <a:pPr marL="115888" marR="0" lvl="0" indent="-115888" algn="justLow" defTabSz="457200" rtl="1" eaLnBrk="1" fontAlgn="auto" latinLnBrk="0" hangingPunct="1">
              <a:lnSpc>
                <a:spcPct val="15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«کمینه اکوسیستم پذیرفتنی» (</a:t>
            </a:r>
            <a:r>
              <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MVE</a:t>
            </a: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 ما چیست؟</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p:txBody>
      </p:sp>
      <p:sp>
        <p:nvSpPr>
          <p:cNvPr id="1083" name="Rectangle: Rounded Corners 1082">
            <a:extLst>
              <a:ext uri="{FF2B5EF4-FFF2-40B4-BE49-F238E27FC236}">
                <a16:creationId xmlns:a16="http://schemas.microsoft.com/office/drawing/2014/main" id="{7E216C05-3880-305F-0435-5C0EA441CD5E}"/>
              </a:ext>
            </a:extLst>
          </p:cNvPr>
          <p:cNvSpPr/>
          <p:nvPr/>
        </p:nvSpPr>
        <p:spPr>
          <a:xfrm>
            <a:off x="6573462" y="1162738"/>
            <a:ext cx="274320" cy="274320"/>
          </a:xfrm>
          <a:prstGeom prst="roundRect">
            <a:avLst>
              <a:gd name="adj" fmla="val 20381"/>
            </a:avLst>
          </a:prstGeom>
          <a:solidFill>
            <a:srgbClr val="F0BE0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endParaRPr lang="fa-IR" sz="1600" b="1" dirty="0">
              <a:latin typeface="Yekan Bakh" pitchFamily="2" charset="-78"/>
              <a:ea typeface="Yekan Bakh" pitchFamily="2" charset="-78"/>
              <a:cs typeface="Yekan Bakh" pitchFamily="2" charset="-78"/>
            </a:endParaRPr>
          </a:p>
        </p:txBody>
      </p:sp>
      <p:sp>
        <p:nvSpPr>
          <p:cNvPr id="1084" name="TextBox 1083">
            <a:extLst>
              <a:ext uri="{FF2B5EF4-FFF2-40B4-BE49-F238E27FC236}">
                <a16:creationId xmlns:a16="http://schemas.microsoft.com/office/drawing/2014/main" id="{42B02496-F457-3E26-8C01-A2E2B71F03D8}"/>
              </a:ext>
            </a:extLst>
          </p:cNvPr>
          <p:cNvSpPr txBox="1"/>
          <p:nvPr/>
        </p:nvSpPr>
        <p:spPr>
          <a:xfrm>
            <a:off x="6592654" y="1163059"/>
            <a:ext cx="235936" cy="307777"/>
          </a:xfrm>
          <a:prstGeom prst="rect">
            <a:avLst/>
          </a:prstGeom>
          <a:noFill/>
        </p:spPr>
        <p:txBody>
          <a:bodyPr wrap="square" rtlCol="0" anchor="ctr">
            <a:spAutoFit/>
          </a:bodyPr>
          <a:lstStyle/>
          <a:p>
            <a:pPr algn="ctr"/>
            <a:r>
              <a:rPr lang="fa-IR" sz="1400" b="1" dirty="0">
                <a:solidFill>
                  <a:schemeClr val="bg1"/>
                </a:solidFill>
                <a:latin typeface="Yekan Bakh FaNum" pitchFamily="2" charset="-78"/>
                <a:ea typeface="Yekan Bakh FaNum" pitchFamily="2" charset="-78"/>
                <a:cs typeface="Yekan Bakh FaNum" pitchFamily="2" charset="-78"/>
              </a:rPr>
              <a:t>۲</a:t>
            </a:r>
            <a:endParaRPr lang="en-GB" sz="1400" b="1" dirty="0">
              <a:solidFill>
                <a:schemeClr val="bg1"/>
              </a:solidFill>
              <a:latin typeface="Yekan Bakh FaNum" pitchFamily="2" charset="-78"/>
              <a:ea typeface="Yekan Bakh FaNum" pitchFamily="2" charset="-78"/>
              <a:cs typeface="Yekan Bakh FaNum" pitchFamily="2" charset="-78"/>
            </a:endParaRPr>
          </a:p>
        </p:txBody>
      </p:sp>
      <p:sp>
        <p:nvSpPr>
          <p:cNvPr id="1085" name="Rectangle: Rounded Corners 1084">
            <a:extLst>
              <a:ext uri="{FF2B5EF4-FFF2-40B4-BE49-F238E27FC236}">
                <a16:creationId xmlns:a16="http://schemas.microsoft.com/office/drawing/2014/main" id="{8AD911A8-8C12-40FA-45ED-DB8AF6694557}"/>
              </a:ext>
            </a:extLst>
          </p:cNvPr>
          <p:cNvSpPr/>
          <p:nvPr/>
        </p:nvSpPr>
        <p:spPr>
          <a:xfrm>
            <a:off x="4873099" y="1162738"/>
            <a:ext cx="1682279" cy="274320"/>
          </a:xfrm>
          <a:prstGeom prst="roundRect">
            <a:avLst>
              <a:gd name="adj" fmla="val 20381"/>
            </a:avLst>
          </a:prstGeom>
          <a:solidFill>
            <a:srgbClr val="F0BE0F">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fa-IR" sz="1100" b="1" dirty="0">
                <a:solidFill>
                  <a:srgbClr val="004D80"/>
                </a:solidFill>
                <a:latin typeface="Yekan Bakh" pitchFamily="2" charset="-78"/>
                <a:ea typeface="Yekan Bakh" pitchFamily="2" charset="-78"/>
                <a:cs typeface="Yekan Bakh" pitchFamily="2" charset="-78"/>
              </a:rPr>
              <a:t>ارزش‌های پیشنهادی</a:t>
            </a:r>
          </a:p>
        </p:txBody>
      </p:sp>
      <p:sp>
        <p:nvSpPr>
          <p:cNvPr id="1086" name="TextBox 1085">
            <a:extLst>
              <a:ext uri="{FF2B5EF4-FFF2-40B4-BE49-F238E27FC236}">
                <a16:creationId xmlns:a16="http://schemas.microsoft.com/office/drawing/2014/main" id="{D568DD83-6B86-2AAD-7767-2089BD2C5D6A}"/>
              </a:ext>
            </a:extLst>
          </p:cNvPr>
          <p:cNvSpPr txBox="1"/>
          <p:nvPr/>
        </p:nvSpPr>
        <p:spPr>
          <a:xfrm>
            <a:off x="499908" y="1510684"/>
            <a:ext cx="1975104" cy="1852430"/>
          </a:xfrm>
          <a:prstGeom prst="rect">
            <a:avLst/>
          </a:prstGeom>
          <a:noFill/>
        </p:spPr>
        <p:txBody>
          <a:bodyPr wrap="square" rtlCol="0">
            <a:spAutoFit/>
          </a:bodyPr>
          <a:lstStyle/>
          <a:p>
            <a:pPr marL="115888" marR="0" lvl="0" indent="-115888" algn="justLow" defTabSz="457200" rtl="1" eaLnBrk="1" fontAlgn="auto" latinLnBrk="0" hangingPunct="1">
              <a:lnSpc>
                <a:spcPct val="15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شرکای کلیدی ما چه کسانی هستند؟</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a:p>
            <a:pPr marL="115888" marR="0" lvl="0" indent="-115888" algn="justLow" defTabSz="457200" rtl="1" eaLnBrk="1" fontAlgn="auto" latinLnBrk="0" hangingPunct="1">
              <a:lnSpc>
                <a:spcPct val="15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تأمین‌کنندگان کلیدی ما چه کسانی هستند؟</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a:p>
            <a:pPr marL="115888" marR="0" lvl="0" indent="-115888" algn="justLow" defTabSz="457200" rtl="1" eaLnBrk="1" fontAlgn="auto" latinLnBrk="0" hangingPunct="1">
              <a:lnSpc>
                <a:spcPct val="15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کدام‌یک از منابع کلیدی را از طریق شرکای خود تأمین می‌کنیم؟</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a:p>
            <a:pPr marL="115888" marR="0" lvl="0" indent="-115888" algn="justLow" defTabSz="457200" rtl="1" eaLnBrk="1" fontAlgn="auto" latinLnBrk="0" hangingPunct="1">
              <a:lnSpc>
                <a:spcPct val="15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شرکای ما چه فعالیت‌های کلیدی را انجام می‌دهند؟</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p:txBody>
      </p:sp>
      <p:sp>
        <p:nvSpPr>
          <p:cNvPr id="1091" name="Rectangle: Rounded Corners 1090">
            <a:extLst>
              <a:ext uri="{FF2B5EF4-FFF2-40B4-BE49-F238E27FC236}">
                <a16:creationId xmlns:a16="http://schemas.microsoft.com/office/drawing/2014/main" id="{62836427-E4C3-7DEE-4931-DF9FCCB5118E}"/>
              </a:ext>
            </a:extLst>
          </p:cNvPr>
          <p:cNvSpPr/>
          <p:nvPr/>
        </p:nvSpPr>
        <p:spPr>
          <a:xfrm>
            <a:off x="2200482" y="1162738"/>
            <a:ext cx="274320" cy="274320"/>
          </a:xfrm>
          <a:prstGeom prst="roundRect">
            <a:avLst>
              <a:gd name="adj" fmla="val 20381"/>
            </a:avLst>
          </a:prstGeom>
          <a:solidFill>
            <a:srgbClr val="F0BE0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a-IR" sz="1600" b="1" dirty="0">
              <a:latin typeface="Yekan Bakh" pitchFamily="2" charset="-78"/>
              <a:ea typeface="Yekan Bakh" pitchFamily="2" charset="-78"/>
              <a:cs typeface="Yekan Bakh" pitchFamily="2" charset="-78"/>
            </a:endParaRPr>
          </a:p>
        </p:txBody>
      </p:sp>
      <p:sp>
        <p:nvSpPr>
          <p:cNvPr id="1092" name="TextBox 1091">
            <a:extLst>
              <a:ext uri="{FF2B5EF4-FFF2-40B4-BE49-F238E27FC236}">
                <a16:creationId xmlns:a16="http://schemas.microsoft.com/office/drawing/2014/main" id="{9F93E6F3-BD7F-6347-ED43-B21E6AE39A7F}"/>
              </a:ext>
            </a:extLst>
          </p:cNvPr>
          <p:cNvSpPr txBox="1"/>
          <p:nvPr/>
        </p:nvSpPr>
        <p:spPr>
          <a:xfrm>
            <a:off x="2219674" y="1163059"/>
            <a:ext cx="235936" cy="307777"/>
          </a:xfrm>
          <a:prstGeom prst="rect">
            <a:avLst/>
          </a:prstGeom>
          <a:noFill/>
        </p:spPr>
        <p:txBody>
          <a:bodyPr wrap="square" rtlCol="0" anchor="ctr">
            <a:spAutoFit/>
          </a:bodyPr>
          <a:lstStyle/>
          <a:p>
            <a:pPr algn="ctr"/>
            <a:r>
              <a:rPr lang="fa-IR" sz="1400" b="1" dirty="0">
                <a:solidFill>
                  <a:schemeClr val="bg1"/>
                </a:solidFill>
                <a:latin typeface="Yekan Bakh FaNum" pitchFamily="2" charset="-78"/>
                <a:ea typeface="Yekan Bakh FaNum" pitchFamily="2" charset="-78"/>
                <a:cs typeface="Yekan Bakh FaNum" pitchFamily="2" charset="-78"/>
              </a:rPr>
              <a:t>۸</a:t>
            </a:r>
            <a:endParaRPr lang="en-GB" sz="1400" b="1" dirty="0">
              <a:solidFill>
                <a:schemeClr val="bg1"/>
              </a:solidFill>
              <a:latin typeface="Yekan Bakh FaNum" pitchFamily="2" charset="-78"/>
              <a:ea typeface="Yekan Bakh FaNum" pitchFamily="2" charset="-78"/>
              <a:cs typeface="Yekan Bakh FaNum" pitchFamily="2" charset="-78"/>
            </a:endParaRPr>
          </a:p>
        </p:txBody>
      </p:sp>
      <p:sp>
        <p:nvSpPr>
          <p:cNvPr id="1093" name="Rectangle: Rounded Corners 1092">
            <a:extLst>
              <a:ext uri="{FF2B5EF4-FFF2-40B4-BE49-F238E27FC236}">
                <a16:creationId xmlns:a16="http://schemas.microsoft.com/office/drawing/2014/main" id="{1F89150F-0C24-09A5-6C0F-3CDF1E0804DF}"/>
              </a:ext>
            </a:extLst>
          </p:cNvPr>
          <p:cNvSpPr/>
          <p:nvPr/>
        </p:nvSpPr>
        <p:spPr>
          <a:xfrm>
            <a:off x="500119" y="1162738"/>
            <a:ext cx="1682279" cy="274320"/>
          </a:xfrm>
          <a:prstGeom prst="roundRect">
            <a:avLst>
              <a:gd name="adj" fmla="val 20381"/>
            </a:avLst>
          </a:prstGeom>
          <a:solidFill>
            <a:srgbClr val="F0BE0F">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1100" b="1" dirty="0">
                <a:solidFill>
                  <a:srgbClr val="004D80"/>
                </a:solidFill>
                <a:latin typeface="Yekan Bakh" pitchFamily="2" charset="-78"/>
                <a:ea typeface="Yekan Bakh" pitchFamily="2" charset="-78"/>
                <a:cs typeface="Yekan Bakh" pitchFamily="2" charset="-78"/>
              </a:rPr>
              <a:t>مشارکت‌های کلیدی</a:t>
            </a:r>
          </a:p>
        </p:txBody>
      </p:sp>
      <p:sp>
        <p:nvSpPr>
          <p:cNvPr id="1094" name="Rectangle: Rounded Corners 1093">
            <a:extLst>
              <a:ext uri="{FF2B5EF4-FFF2-40B4-BE49-F238E27FC236}">
                <a16:creationId xmlns:a16="http://schemas.microsoft.com/office/drawing/2014/main" id="{299C8E0E-92A5-FDE5-AC89-559423933791}"/>
              </a:ext>
            </a:extLst>
          </p:cNvPr>
          <p:cNvSpPr/>
          <p:nvPr/>
        </p:nvSpPr>
        <p:spPr>
          <a:xfrm>
            <a:off x="10946229" y="4314303"/>
            <a:ext cx="274320" cy="274320"/>
          </a:xfrm>
          <a:prstGeom prst="roundRect">
            <a:avLst>
              <a:gd name="adj" fmla="val 20381"/>
            </a:avLst>
          </a:prstGeom>
          <a:solidFill>
            <a:srgbClr val="F0BE0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endParaRPr lang="fa-IR" sz="1600" b="1" dirty="0">
              <a:latin typeface="Yekan Bakh" pitchFamily="2" charset="-78"/>
              <a:ea typeface="Yekan Bakh" pitchFamily="2" charset="-78"/>
              <a:cs typeface="Yekan Bakh" pitchFamily="2" charset="-78"/>
            </a:endParaRPr>
          </a:p>
        </p:txBody>
      </p:sp>
      <p:sp>
        <p:nvSpPr>
          <p:cNvPr id="1095" name="TextBox 1094">
            <a:extLst>
              <a:ext uri="{FF2B5EF4-FFF2-40B4-BE49-F238E27FC236}">
                <a16:creationId xmlns:a16="http://schemas.microsoft.com/office/drawing/2014/main" id="{617FD114-0BD1-8234-26DC-C131FF3F5359}"/>
              </a:ext>
            </a:extLst>
          </p:cNvPr>
          <p:cNvSpPr txBox="1"/>
          <p:nvPr/>
        </p:nvSpPr>
        <p:spPr>
          <a:xfrm>
            <a:off x="10965421" y="4314624"/>
            <a:ext cx="235936" cy="307777"/>
          </a:xfrm>
          <a:prstGeom prst="rect">
            <a:avLst/>
          </a:prstGeom>
          <a:noFill/>
        </p:spPr>
        <p:txBody>
          <a:bodyPr wrap="square" rtlCol="0" anchor="ctr">
            <a:spAutoFit/>
          </a:bodyPr>
          <a:lstStyle/>
          <a:p>
            <a:pPr algn="ctr"/>
            <a:r>
              <a:rPr lang="fa-IR" sz="1400" b="1" dirty="0">
                <a:solidFill>
                  <a:schemeClr val="bg1"/>
                </a:solidFill>
                <a:latin typeface="Yekan Bakh FaNum" pitchFamily="2" charset="-78"/>
                <a:ea typeface="Yekan Bakh FaNum" pitchFamily="2" charset="-78"/>
                <a:cs typeface="Yekan Bakh FaNum" pitchFamily="2" charset="-78"/>
              </a:rPr>
              <a:t>۵</a:t>
            </a:r>
            <a:endParaRPr lang="en-GB" sz="1400" b="1" dirty="0">
              <a:solidFill>
                <a:schemeClr val="bg1"/>
              </a:solidFill>
              <a:latin typeface="Yekan Bakh FaNum" pitchFamily="2" charset="-78"/>
              <a:ea typeface="Yekan Bakh FaNum" pitchFamily="2" charset="-78"/>
              <a:cs typeface="Yekan Bakh FaNum" pitchFamily="2" charset="-78"/>
            </a:endParaRPr>
          </a:p>
        </p:txBody>
      </p:sp>
      <p:sp>
        <p:nvSpPr>
          <p:cNvPr id="1096" name="Rectangle: Rounded Corners 1095">
            <a:extLst>
              <a:ext uri="{FF2B5EF4-FFF2-40B4-BE49-F238E27FC236}">
                <a16:creationId xmlns:a16="http://schemas.microsoft.com/office/drawing/2014/main" id="{0C0297FB-6F72-A46A-20F2-35711F983880}"/>
              </a:ext>
            </a:extLst>
          </p:cNvPr>
          <p:cNvSpPr/>
          <p:nvPr/>
        </p:nvSpPr>
        <p:spPr>
          <a:xfrm>
            <a:off x="5982104" y="4314303"/>
            <a:ext cx="4946041" cy="274320"/>
          </a:xfrm>
          <a:prstGeom prst="roundRect">
            <a:avLst>
              <a:gd name="adj" fmla="val 20381"/>
            </a:avLst>
          </a:prstGeom>
          <a:solidFill>
            <a:srgbClr val="F0BE0F">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rtl="1"/>
            <a:r>
              <a:rPr lang="fa-IR" sz="1100" b="1" dirty="0">
                <a:solidFill>
                  <a:srgbClr val="004D80"/>
                </a:solidFill>
                <a:latin typeface="Yekan Bakh" pitchFamily="2" charset="-78"/>
                <a:ea typeface="Yekan Bakh" pitchFamily="2" charset="-78"/>
                <a:cs typeface="Yekan Bakh" pitchFamily="2" charset="-78"/>
              </a:rPr>
              <a:t>جریان‌های درآمدی</a:t>
            </a:r>
          </a:p>
        </p:txBody>
      </p:sp>
      <p:sp>
        <p:nvSpPr>
          <p:cNvPr id="1097" name="Rectangle: Rounded Corners 1096">
            <a:extLst>
              <a:ext uri="{FF2B5EF4-FFF2-40B4-BE49-F238E27FC236}">
                <a16:creationId xmlns:a16="http://schemas.microsoft.com/office/drawing/2014/main" id="{D993526A-C78E-6D7E-07B8-9AB46F454BC9}"/>
              </a:ext>
            </a:extLst>
          </p:cNvPr>
          <p:cNvSpPr/>
          <p:nvPr/>
        </p:nvSpPr>
        <p:spPr>
          <a:xfrm>
            <a:off x="5427818" y="4314303"/>
            <a:ext cx="274320" cy="274320"/>
          </a:xfrm>
          <a:prstGeom prst="roundRect">
            <a:avLst>
              <a:gd name="adj" fmla="val 20381"/>
            </a:avLst>
          </a:prstGeom>
          <a:solidFill>
            <a:srgbClr val="F0BE0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endParaRPr lang="fa-IR" sz="1600" b="1" dirty="0">
              <a:latin typeface="Yekan Bakh" pitchFamily="2" charset="-78"/>
              <a:ea typeface="Yekan Bakh" pitchFamily="2" charset="-78"/>
              <a:cs typeface="Yekan Bakh" pitchFamily="2" charset="-78"/>
            </a:endParaRPr>
          </a:p>
        </p:txBody>
      </p:sp>
      <p:sp>
        <p:nvSpPr>
          <p:cNvPr id="1098" name="TextBox 1097">
            <a:extLst>
              <a:ext uri="{FF2B5EF4-FFF2-40B4-BE49-F238E27FC236}">
                <a16:creationId xmlns:a16="http://schemas.microsoft.com/office/drawing/2014/main" id="{DF0654AB-2567-F3DB-FA4B-2605C4CF24AF}"/>
              </a:ext>
            </a:extLst>
          </p:cNvPr>
          <p:cNvSpPr txBox="1"/>
          <p:nvPr/>
        </p:nvSpPr>
        <p:spPr>
          <a:xfrm>
            <a:off x="5447010" y="4314624"/>
            <a:ext cx="235936" cy="307777"/>
          </a:xfrm>
          <a:prstGeom prst="rect">
            <a:avLst/>
          </a:prstGeom>
          <a:noFill/>
        </p:spPr>
        <p:txBody>
          <a:bodyPr wrap="square" rtlCol="0" anchor="ctr">
            <a:spAutoFit/>
          </a:bodyPr>
          <a:lstStyle/>
          <a:p>
            <a:pPr algn="ctr"/>
            <a:r>
              <a:rPr lang="fa-IR" sz="1400" b="1" dirty="0">
                <a:solidFill>
                  <a:schemeClr val="bg1"/>
                </a:solidFill>
                <a:latin typeface="Yekan Bakh FaNum" pitchFamily="2" charset="-78"/>
                <a:ea typeface="Yekan Bakh FaNum" pitchFamily="2" charset="-78"/>
                <a:cs typeface="Yekan Bakh FaNum" pitchFamily="2" charset="-78"/>
              </a:rPr>
              <a:t>۹</a:t>
            </a:r>
            <a:endParaRPr lang="en-GB" sz="1400" b="1" dirty="0">
              <a:solidFill>
                <a:schemeClr val="bg1"/>
              </a:solidFill>
              <a:latin typeface="Yekan Bakh FaNum" pitchFamily="2" charset="-78"/>
              <a:ea typeface="Yekan Bakh FaNum" pitchFamily="2" charset="-78"/>
              <a:cs typeface="Yekan Bakh FaNum" pitchFamily="2" charset="-78"/>
            </a:endParaRPr>
          </a:p>
        </p:txBody>
      </p:sp>
      <p:sp>
        <p:nvSpPr>
          <p:cNvPr id="1100" name="Rectangle: Rounded Corners 1099">
            <a:extLst>
              <a:ext uri="{FF2B5EF4-FFF2-40B4-BE49-F238E27FC236}">
                <a16:creationId xmlns:a16="http://schemas.microsoft.com/office/drawing/2014/main" id="{0BF3825C-8AAC-F717-3406-39971FFEE069}"/>
              </a:ext>
            </a:extLst>
          </p:cNvPr>
          <p:cNvSpPr/>
          <p:nvPr/>
        </p:nvSpPr>
        <p:spPr>
          <a:xfrm>
            <a:off x="463693" y="4314303"/>
            <a:ext cx="4946041" cy="274320"/>
          </a:xfrm>
          <a:prstGeom prst="roundRect">
            <a:avLst>
              <a:gd name="adj" fmla="val 20381"/>
            </a:avLst>
          </a:prstGeom>
          <a:solidFill>
            <a:srgbClr val="F0BE0F">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rtl="1"/>
            <a:r>
              <a:rPr lang="fa-IR" sz="1100" b="1" dirty="0">
                <a:solidFill>
                  <a:srgbClr val="004D80"/>
                </a:solidFill>
                <a:latin typeface="Yekan Bakh" pitchFamily="2" charset="-78"/>
                <a:ea typeface="Yekan Bakh" pitchFamily="2" charset="-78"/>
                <a:cs typeface="Yekan Bakh" pitchFamily="2" charset="-78"/>
              </a:rPr>
              <a:t>ساختار هزینه‌ها</a:t>
            </a:r>
          </a:p>
        </p:txBody>
      </p:sp>
      <p:cxnSp>
        <p:nvCxnSpPr>
          <p:cNvPr id="1101" name="Straight Connector 1100">
            <a:extLst>
              <a:ext uri="{FF2B5EF4-FFF2-40B4-BE49-F238E27FC236}">
                <a16:creationId xmlns:a16="http://schemas.microsoft.com/office/drawing/2014/main" id="{30D78FBF-5717-0117-A034-5FFE4E818D76}"/>
              </a:ext>
            </a:extLst>
          </p:cNvPr>
          <p:cNvCxnSpPr>
            <a:cxnSpLocks/>
          </p:cNvCxnSpPr>
          <p:nvPr/>
        </p:nvCxnSpPr>
        <p:spPr>
          <a:xfrm flipH="1">
            <a:off x="6975000" y="2666274"/>
            <a:ext cx="2143860" cy="0"/>
          </a:xfrm>
          <a:prstGeom prst="line">
            <a:avLst/>
          </a:prstGeom>
          <a:ln w="6350">
            <a:solidFill>
              <a:schemeClr val="bg1">
                <a:lumMod val="85000"/>
              </a:schemeClr>
            </a:solidFill>
            <a:prstDash val="dash"/>
          </a:ln>
        </p:spPr>
        <p:style>
          <a:lnRef idx="1">
            <a:schemeClr val="accent4"/>
          </a:lnRef>
          <a:fillRef idx="0">
            <a:schemeClr val="accent4"/>
          </a:fillRef>
          <a:effectRef idx="0">
            <a:schemeClr val="accent4"/>
          </a:effectRef>
          <a:fontRef idx="minor">
            <a:schemeClr val="tx1"/>
          </a:fontRef>
        </p:style>
      </p:cxnSp>
      <p:sp>
        <p:nvSpPr>
          <p:cNvPr id="1103" name="TextBox 1102">
            <a:extLst>
              <a:ext uri="{FF2B5EF4-FFF2-40B4-BE49-F238E27FC236}">
                <a16:creationId xmlns:a16="http://schemas.microsoft.com/office/drawing/2014/main" id="{0C13CD50-B129-8C51-1CA4-100900E6E008}"/>
              </a:ext>
            </a:extLst>
          </p:cNvPr>
          <p:cNvSpPr txBox="1"/>
          <p:nvPr/>
        </p:nvSpPr>
        <p:spPr>
          <a:xfrm>
            <a:off x="7059378" y="3118992"/>
            <a:ext cx="1975104" cy="1000274"/>
          </a:xfrm>
          <a:prstGeom prst="rect">
            <a:avLst/>
          </a:prstGeom>
          <a:noFill/>
        </p:spPr>
        <p:txBody>
          <a:bodyPr wrap="square" rtlCol="0">
            <a:spAutoFit/>
          </a:bodyPr>
          <a:lstStyle/>
          <a:p>
            <a:pPr marL="115888" marR="0" lvl="0" indent="-115888" algn="justLow" defTabSz="457200" rtl="1" eaLnBrk="1" fontAlgn="auto" latinLnBrk="0" hangingPunct="1">
              <a:lnSpc>
                <a:spcPct val="10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مشتریان تمایل دارند از چه طریقی به آن‌ها دسترسی داشته باشیم؟</a:t>
            </a:r>
          </a:p>
          <a:p>
            <a:pPr marL="115888" marR="0" lvl="0" indent="-115888" algn="justLow" defTabSz="457200" rtl="1" eaLnBrk="1" fontAlgn="auto" latinLnBrk="0" hangingPunct="1">
              <a:lnSpc>
                <a:spcPct val="10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سایر شرکت‌ها در حال حاضر چگونه به آن‌ها دسترسی دارند؟</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a:p>
            <a:pPr marL="115888" marR="0" lvl="0" indent="-115888" algn="justLow" defTabSz="457200" rtl="1" eaLnBrk="1" fontAlgn="auto" latinLnBrk="0" hangingPunct="1">
              <a:lnSpc>
                <a:spcPct val="10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چگونه این کانال‌ها را با روال‌های روزمره مشتریان یکپارچه می‌کنیم؟</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p:txBody>
      </p:sp>
      <p:sp>
        <p:nvSpPr>
          <p:cNvPr id="1104" name="TextBox 1103">
            <a:extLst>
              <a:ext uri="{FF2B5EF4-FFF2-40B4-BE49-F238E27FC236}">
                <a16:creationId xmlns:a16="http://schemas.microsoft.com/office/drawing/2014/main" id="{90D2010E-F1E9-207C-3C68-2F70384DBE94}"/>
              </a:ext>
            </a:extLst>
          </p:cNvPr>
          <p:cNvSpPr txBox="1"/>
          <p:nvPr/>
        </p:nvSpPr>
        <p:spPr>
          <a:xfrm>
            <a:off x="7059378" y="1510684"/>
            <a:ext cx="1975104" cy="1138773"/>
          </a:xfrm>
          <a:prstGeom prst="rect">
            <a:avLst/>
          </a:prstGeom>
          <a:noFill/>
        </p:spPr>
        <p:txBody>
          <a:bodyPr wrap="square" rtlCol="0">
            <a:spAutoFit/>
          </a:bodyPr>
          <a:lstStyle/>
          <a:p>
            <a:pPr marL="115888" marR="0" lvl="0" indent="-115888" algn="justLow" defTabSz="457200" rtl="1" eaLnBrk="1" fontAlgn="auto" latinLnBrk="0" hangingPunct="1">
              <a:lnSpc>
                <a:spcPct val="10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چگونه مشتریان را جذب می‌کنیم، آن‌ها را حفظ می‌کنیم و توسعه می‌دهیم؟</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a:p>
            <a:pPr marL="115888" marR="0" lvl="0" indent="-115888" algn="justLow" defTabSz="457200" rtl="1" eaLnBrk="1" fontAlgn="auto" latinLnBrk="0" hangingPunct="1">
              <a:lnSpc>
                <a:spcPct val="10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چه نوع روابطی را با مشتریان پایه‌گذاری کرده‌ایم؟</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a:p>
            <a:pPr marL="115888" marR="0" lvl="0" indent="-115888" algn="justLow" defTabSz="457200" rtl="1" eaLnBrk="1" fontAlgn="auto" latinLnBrk="0" hangingPunct="1">
              <a:lnSpc>
                <a:spcPct val="10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این روابط چگونه با سایر بخش‌های مدل کسب‌وکار ما یکپارچه شده‌اند؟</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p:txBody>
      </p:sp>
      <p:grpSp>
        <p:nvGrpSpPr>
          <p:cNvPr id="1105" name="Group 1104">
            <a:extLst>
              <a:ext uri="{FF2B5EF4-FFF2-40B4-BE49-F238E27FC236}">
                <a16:creationId xmlns:a16="http://schemas.microsoft.com/office/drawing/2014/main" id="{15BB6536-544F-0FC8-D2CD-0529CE5AF7AD}"/>
              </a:ext>
            </a:extLst>
          </p:cNvPr>
          <p:cNvGrpSpPr/>
          <p:nvPr/>
        </p:nvGrpSpPr>
        <p:grpSpPr>
          <a:xfrm>
            <a:off x="7059589" y="1162738"/>
            <a:ext cx="1974683" cy="308098"/>
            <a:chOff x="9235887" y="1514246"/>
            <a:chExt cx="1974683" cy="308098"/>
          </a:xfrm>
        </p:grpSpPr>
        <p:sp>
          <p:nvSpPr>
            <p:cNvPr id="1107" name="Rectangle: Rounded Corners 1106">
              <a:extLst>
                <a:ext uri="{FF2B5EF4-FFF2-40B4-BE49-F238E27FC236}">
                  <a16:creationId xmlns:a16="http://schemas.microsoft.com/office/drawing/2014/main" id="{21605377-75FC-1BDF-0755-132111F11E65}"/>
                </a:ext>
              </a:extLst>
            </p:cNvPr>
            <p:cNvSpPr/>
            <p:nvPr/>
          </p:nvSpPr>
          <p:spPr>
            <a:xfrm>
              <a:off x="10936250" y="1514246"/>
              <a:ext cx="274320" cy="274320"/>
            </a:xfrm>
            <a:prstGeom prst="roundRect">
              <a:avLst>
                <a:gd name="adj" fmla="val 20381"/>
              </a:avLst>
            </a:prstGeom>
            <a:solidFill>
              <a:srgbClr val="F0BE0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endParaRPr lang="fa-IR" sz="1600" b="1" dirty="0">
                <a:latin typeface="Yekan Bakh" pitchFamily="2" charset="-78"/>
                <a:ea typeface="Yekan Bakh" pitchFamily="2" charset="-78"/>
                <a:cs typeface="Yekan Bakh" pitchFamily="2" charset="-78"/>
              </a:endParaRPr>
            </a:p>
          </p:txBody>
        </p:sp>
        <p:sp>
          <p:nvSpPr>
            <p:cNvPr id="1108" name="TextBox 1107">
              <a:extLst>
                <a:ext uri="{FF2B5EF4-FFF2-40B4-BE49-F238E27FC236}">
                  <a16:creationId xmlns:a16="http://schemas.microsoft.com/office/drawing/2014/main" id="{5B6A01C9-71EA-B9AC-68FF-68A65A9E6882}"/>
                </a:ext>
              </a:extLst>
            </p:cNvPr>
            <p:cNvSpPr txBox="1"/>
            <p:nvPr/>
          </p:nvSpPr>
          <p:spPr>
            <a:xfrm>
              <a:off x="10955442" y="1514567"/>
              <a:ext cx="235936" cy="307777"/>
            </a:xfrm>
            <a:prstGeom prst="rect">
              <a:avLst/>
            </a:prstGeom>
            <a:noFill/>
          </p:spPr>
          <p:txBody>
            <a:bodyPr wrap="square" rtlCol="0" anchor="ctr">
              <a:spAutoFit/>
            </a:bodyPr>
            <a:lstStyle/>
            <a:p>
              <a:pPr algn="ctr"/>
              <a:r>
                <a:rPr lang="fa-IR" sz="1400" b="1" dirty="0">
                  <a:solidFill>
                    <a:schemeClr val="bg1"/>
                  </a:solidFill>
                  <a:latin typeface="Yekan Bakh FaNum" pitchFamily="2" charset="-78"/>
                  <a:ea typeface="Yekan Bakh FaNum" pitchFamily="2" charset="-78"/>
                  <a:cs typeface="Yekan Bakh FaNum" pitchFamily="2" charset="-78"/>
                </a:rPr>
                <a:t>۴</a:t>
              </a:r>
              <a:endParaRPr lang="en-GB" sz="1400" b="1" dirty="0">
                <a:solidFill>
                  <a:schemeClr val="bg1"/>
                </a:solidFill>
                <a:latin typeface="Yekan Bakh FaNum" pitchFamily="2" charset="-78"/>
                <a:ea typeface="Yekan Bakh FaNum" pitchFamily="2" charset="-78"/>
                <a:cs typeface="Yekan Bakh FaNum" pitchFamily="2" charset="-78"/>
              </a:endParaRPr>
            </a:p>
          </p:txBody>
        </p:sp>
        <p:sp>
          <p:nvSpPr>
            <p:cNvPr id="1109" name="Rectangle: Rounded Corners 1108">
              <a:extLst>
                <a:ext uri="{FF2B5EF4-FFF2-40B4-BE49-F238E27FC236}">
                  <a16:creationId xmlns:a16="http://schemas.microsoft.com/office/drawing/2014/main" id="{A0F8C227-EE1E-2C84-10E0-04EE926F7C35}"/>
                </a:ext>
              </a:extLst>
            </p:cNvPr>
            <p:cNvSpPr/>
            <p:nvPr/>
          </p:nvSpPr>
          <p:spPr>
            <a:xfrm>
              <a:off x="9235887" y="1514246"/>
              <a:ext cx="1682279" cy="274320"/>
            </a:xfrm>
            <a:prstGeom prst="roundRect">
              <a:avLst>
                <a:gd name="adj" fmla="val 20381"/>
              </a:avLst>
            </a:prstGeom>
            <a:solidFill>
              <a:srgbClr val="F0BE0F">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fa-IR" sz="1100" b="1" dirty="0">
                  <a:solidFill>
                    <a:srgbClr val="004D80"/>
                  </a:solidFill>
                  <a:latin typeface="Yekan Bakh" pitchFamily="2" charset="-78"/>
                  <a:ea typeface="Yekan Bakh" pitchFamily="2" charset="-78"/>
                  <a:cs typeface="Yekan Bakh" pitchFamily="2" charset="-78"/>
                </a:rPr>
                <a:t>ارتباط با مشتری</a:t>
              </a:r>
            </a:p>
          </p:txBody>
        </p:sp>
      </p:grpSp>
      <p:grpSp>
        <p:nvGrpSpPr>
          <p:cNvPr id="1110" name="Group 1109">
            <a:extLst>
              <a:ext uri="{FF2B5EF4-FFF2-40B4-BE49-F238E27FC236}">
                <a16:creationId xmlns:a16="http://schemas.microsoft.com/office/drawing/2014/main" id="{BA1F993B-E128-3462-8D5B-F37A213AA8D8}"/>
              </a:ext>
            </a:extLst>
          </p:cNvPr>
          <p:cNvGrpSpPr/>
          <p:nvPr/>
        </p:nvGrpSpPr>
        <p:grpSpPr>
          <a:xfrm>
            <a:off x="7059589" y="2774081"/>
            <a:ext cx="1974683" cy="308098"/>
            <a:chOff x="9235887" y="1514246"/>
            <a:chExt cx="1974683" cy="308098"/>
          </a:xfrm>
        </p:grpSpPr>
        <p:sp>
          <p:nvSpPr>
            <p:cNvPr id="1111" name="Rectangle: Rounded Corners 1110">
              <a:extLst>
                <a:ext uri="{FF2B5EF4-FFF2-40B4-BE49-F238E27FC236}">
                  <a16:creationId xmlns:a16="http://schemas.microsoft.com/office/drawing/2014/main" id="{C9A8BAC1-DC74-01F7-1D39-D6881CBE11C8}"/>
                </a:ext>
              </a:extLst>
            </p:cNvPr>
            <p:cNvSpPr/>
            <p:nvPr/>
          </p:nvSpPr>
          <p:spPr>
            <a:xfrm>
              <a:off x="10936250" y="1514246"/>
              <a:ext cx="274320" cy="274320"/>
            </a:xfrm>
            <a:prstGeom prst="roundRect">
              <a:avLst>
                <a:gd name="adj" fmla="val 20381"/>
              </a:avLst>
            </a:prstGeom>
            <a:solidFill>
              <a:srgbClr val="F0BE0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a-IR" sz="1600" b="1" dirty="0">
                <a:latin typeface="Yekan Bakh" pitchFamily="2" charset="-78"/>
                <a:ea typeface="Yekan Bakh" pitchFamily="2" charset="-78"/>
                <a:cs typeface="Yekan Bakh" pitchFamily="2" charset="-78"/>
              </a:endParaRPr>
            </a:p>
          </p:txBody>
        </p:sp>
        <p:sp>
          <p:nvSpPr>
            <p:cNvPr id="1112" name="TextBox 1111">
              <a:extLst>
                <a:ext uri="{FF2B5EF4-FFF2-40B4-BE49-F238E27FC236}">
                  <a16:creationId xmlns:a16="http://schemas.microsoft.com/office/drawing/2014/main" id="{49F57BE7-3D05-DE0C-CDDB-14733C3193E4}"/>
                </a:ext>
              </a:extLst>
            </p:cNvPr>
            <p:cNvSpPr txBox="1"/>
            <p:nvPr/>
          </p:nvSpPr>
          <p:spPr>
            <a:xfrm>
              <a:off x="10955442" y="1514567"/>
              <a:ext cx="235936" cy="307777"/>
            </a:xfrm>
            <a:prstGeom prst="rect">
              <a:avLst/>
            </a:prstGeom>
            <a:noFill/>
          </p:spPr>
          <p:txBody>
            <a:bodyPr wrap="square" rtlCol="0" anchor="ctr">
              <a:spAutoFit/>
            </a:bodyPr>
            <a:lstStyle/>
            <a:p>
              <a:pPr algn="ctr"/>
              <a:r>
                <a:rPr lang="fa-IR" sz="1400" b="1" dirty="0">
                  <a:solidFill>
                    <a:schemeClr val="bg1"/>
                  </a:solidFill>
                  <a:latin typeface="Yekan Bakh FaNum" pitchFamily="2" charset="-78"/>
                  <a:ea typeface="Yekan Bakh FaNum" pitchFamily="2" charset="-78"/>
                  <a:cs typeface="Yekan Bakh FaNum" pitchFamily="2" charset="-78"/>
                </a:rPr>
                <a:t>۳</a:t>
              </a:r>
              <a:endParaRPr lang="en-GB" sz="1400" b="1" dirty="0">
                <a:solidFill>
                  <a:schemeClr val="bg1"/>
                </a:solidFill>
                <a:latin typeface="Yekan Bakh FaNum" pitchFamily="2" charset="-78"/>
                <a:ea typeface="Yekan Bakh FaNum" pitchFamily="2" charset="-78"/>
                <a:cs typeface="Yekan Bakh FaNum" pitchFamily="2" charset="-78"/>
              </a:endParaRPr>
            </a:p>
          </p:txBody>
        </p:sp>
        <p:sp>
          <p:nvSpPr>
            <p:cNvPr id="1113" name="Rectangle: Rounded Corners 1112">
              <a:extLst>
                <a:ext uri="{FF2B5EF4-FFF2-40B4-BE49-F238E27FC236}">
                  <a16:creationId xmlns:a16="http://schemas.microsoft.com/office/drawing/2014/main" id="{3B252976-B2C6-0966-F3B7-300DCCC4FEE7}"/>
                </a:ext>
              </a:extLst>
            </p:cNvPr>
            <p:cNvSpPr/>
            <p:nvPr/>
          </p:nvSpPr>
          <p:spPr>
            <a:xfrm>
              <a:off x="9235887" y="1514246"/>
              <a:ext cx="1682279" cy="274320"/>
            </a:xfrm>
            <a:prstGeom prst="roundRect">
              <a:avLst>
                <a:gd name="adj" fmla="val 20381"/>
              </a:avLst>
            </a:prstGeom>
            <a:solidFill>
              <a:srgbClr val="F0BE0F">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1100" b="1" dirty="0">
                  <a:solidFill>
                    <a:srgbClr val="004D80"/>
                  </a:solidFill>
                  <a:latin typeface="Yekan Bakh" pitchFamily="2" charset="-78"/>
                  <a:ea typeface="Yekan Bakh" pitchFamily="2" charset="-78"/>
                  <a:cs typeface="Yekan Bakh" pitchFamily="2" charset="-78"/>
                </a:rPr>
                <a:t>کانال‌ها</a:t>
              </a:r>
            </a:p>
          </p:txBody>
        </p:sp>
      </p:grpSp>
      <p:cxnSp>
        <p:nvCxnSpPr>
          <p:cNvPr id="1114" name="Straight Connector 1113">
            <a:extLst>
              <a:ext uri="{FF2B5EF4-FFF2-40B4-BE49-F238E27FC236}">
                <a16:creationId xmlns:a16="http://schemas.microsoft.com/office/drawing/2014/main" id="{8B37E72A-7F11-275B-A91E-0ECCAC06773C}"/>
              </a:ext>
            </a:extLst>
          </p:cNvPr>
          <p:cNvCxnSpPr>
            <a:cxnSpLocks/>
          </p:cNvCxnSpPr>
          <p:nvPr/>
        </p:nvCxnSpPr>
        <p:spPr>
          <a:xfrm flipH="1">
            <a:off x="2602020" y="2666274"/>
            <a:ext cx="2143860" cy="0"/>
          </a:xfrm>
          <a:prstGeom prst="line">
            <a:avLst/>
          </a:prstGeom>
          <a:noFill/>
          <a:ln w="6350">
            <a:solidFill>
              <a:schemeClr val="bg1">
                <a:lumMod val="85000"/>
              </a:schemeClr>
            </a:solidFill>
            <a:prstDash val="dash"/>
          </a:ln>
        </p:spPr>
      </p:cxnSp>
      <p:sp>
        <p:nvSpPr>
          <p:cNvPr id="1115" name="TextBox 1114">
            <a:extLst>
              <a:ext uri="{FF2B5EF4-FFF2-40B4-BE49-F238E27FC236}">
                <a16:creationId xmlns:a16="http://schemas.microsoft.com/office/drawing/2014/main" id="{AA0AC342-C1B5-2E97-ACFB-97023BE9BBD3}"/>
              </a:ext>
            </a:extLst>
          </p:cNvPr>
          <p:cNvSpPr txBox="1"/>
          <p:nvPr/>
        </p:nvSpPr>
        <p:spPr>
          <a:xfrm>
            <a:off x="2686398" y="3118992"/>
            <a:ext cx="1975104" cy="1000274"/>
          </a:xfrm>
          <a:prstGeom prst="rect">
            <a:avLst/>
          </a:prstGeom>
          <a:noFill/>
        </p:spPr>
        <p:txBody>
          <a:bodyPr wrap="square" rtlCol="0">
            <a:spAutoFit/>
          </a:bodyPr>
          <a:lstStyle/>
          <a:p>
            <a:pPr marL="115888" marR="0" lvl="0" indent="-115888" algn="justLow" defTabSz="457200" rtl="1" eaLnBrk="1" fontAlgn="auto" latinLnBrk="0" hangingPunct="1">
              <a:lnSpc>
                <a:spcPct val="10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ارزش پیشنهادی ما مستلزم چه منابع کلیدی است؟</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a:p>
            <a:pPr marL="115888" marR="0" lvl="0" indent="-115888" algn="justLow" defTabSz="457200" rtl="1" eaLnBrk="1" fontAlgn="auto" latinLnBrk="0" hangingPunct="1">
              <a:lnSpc>
                <a:spcPct val="10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کانال‌های توزیع ما به چه منابعی نیاز دارند؟</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a:p>
            <a:pPr marL="115888" marR="0" lvl="0" indent="-115888" algn="justLow" defTabSz="457200" rtl="1" eaLnBrk="1" fontAlgn="auto" latinLnBrk="0" hangingPunct="1">
              <a:lnSpc>
                <a:spcPct val="10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ارتباط با مشتریان نیازمند چه منابعی است؟</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p:txBody>
      </p:sp>
      <p:sp>
        <p:nvSpPr>
          <p:cNvPr id="1116" name="TextBox 1115">
            <a:extLst>
              <a:ext uri="{FF2B5EF4-FFF2-40B4-BE49-F238E27FC236}">
                <a16:creationId xmlns:a16="http://schemas.microsoft.com/office/drawing/2014/main" id="{A124A718-DA74-4D79-8A85-FACA5BCE5BE5}"/>
              </a:ext>
            </a:extLst>
          </p:cNvPr>
          <p:cNvSpPr txBox="1"/>
          <p:nvPr/>
        </p:nvSpPr>
        <p:spPr>
          <a:xfrm>
            <a:off x="2686398" y="1510684"/>
            <a:ext cx="1975104" cy="1000274"/>
          </a:xfrm>
          <a:prstGeom prst="rect">
            <a:avLst/>
          </a:prstGeom>
          <a:noFill/>
        </p:spPr>
        <p:txBody>
          <a:bodyPr wrap="square" rtlCol="0">
            <a:spAutoFit/>
          </a:bodyPr>
          <a:lstStyle/>
          <a:p>
            <a:pPr marL="115888" marR="0" lvl="0" indent="-115888" algn="justLow" defTabSz="457200" rtl="1" eaLnBrk="1" fontAlgn="auto" latinLnBrk="0" hangingPunct="1">
              <a:lnSpc>
                <a:spcPct val="10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ارزش پیشنهادی ما مستلزم چه فعالیت‌های کلیدی است؟</a:t>
            </a:r>
          </a:p>
          <a:p>
            <a:pPr marL="115888" marR="0" lvl="0" indent="-115888" algn="justLow" defTabSz="457200" rtl="1" eaLnBrk="1" fontAlgn="auto" latinLnBrk="0" hangingPunct="1">
              <a:lnSpc>
                <a:spcPct val="10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کانال‌های توزیع ما به چه فعالیت‌هایی نیاز دارند؟</a:t>
            </a:r>
          </a:p>
          <a:p>
            <a:pPr marL="115888" marR="0" lvl="0" indent="-115888" algn="justLow" defTabSz="457200" rtl="1" eaLnBrk="1" fontAlgn="auto" latinLnBrk="0" hangingPunct="1">
              <a:lnSpc>
                <a:spcPct val="10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ارتباط با مشتریان چه فعالیت‌هایی را می‌طلبد؟</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p:txBody>
      </p:sp>
      <p:sp>
        <p:nvSpPr>
          <p:cNvPr id="1117" name="Rectangle: Rounded Corners 1116">
            <a:extLst>
              <a:ext uri="{FF2B5EF4-FFF2-40B4-BE49-F238E27FC236}">
                <a16:creationId xmlns:a16="http://schemas.microsoft.com/office/drawing/2014/main" id="{AAB29048-3D1C-5301-A638-DCFD89ADEE4D}"/>
              </a:ext>
            </a:extLst>
          </p:cNvPr>
          <p:cNvSpPr/>
          <p:nvPr/>
        </p:nvSpPr>
        <p:spPr>
          <a:xfrm>
            <a:off x="4386972" y="1162738"/>
            <a:ext cx="274320" cy="274320"/>
          </a:xfrm>
          <a:prstGeom prst="roundRect">
            <a:avLst>
              <a:gd name="adj" fmla="val 20381"/>
            </a:avLst>
          </a:prstGeom>
          <a:solidFill>
            <a:srgbClr val="F0BE0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endParaRPr lang="fa-IR" sz="1600" b="1" dirty="0">
              <a:latin typeface="Yekan Bakh" pitchFamily="2" charset="-78"/>
              <a:ea typeface="Yekan Bakh" pitchFamily="2" charset="-78"/>
              <a:cs typeface="Yekan Bakh" pitchFamily="2" charset="-78"/>
            </a:endParaRPr>
          </a:p>
        </p:txBody>
      </p:sp>
      <p:sp>
        <p:nvSpPr>
          <p:cNvPr id="1118" name="TextBox 1117">
            <a:extLst>
              <a:ext uri="{FF2B5EF4-FFF2-40B4-BE49-F238E27FC236}">
                <a16:creationId xmlns:a16="http://schemas.microsoft.com/office/drawing/2014/main" id="{7B34079F-A01A-41F4-0852-DC52A444A809}"/>
              </a:ext>
            </a:extLst>
          </p:cNvPr>
          <p:cNvSpPr txBox="1"/>
          <p:nvPr/>
        </p:nvSpPr>
        <p:spPr>
          <a:xfrm>
            <a:off x="4406164" y="1163059"/>
            <a:ext cx="235936" cy="307777"/>
          </a:xfrm>
          <a:prstGeom prst="rect">
            <a:avLst/>
          </a:prstGeom>
          <a:noFill/>
        </p:spPr>
        <p:txBody>
          <a:bodyPr wrap="square" rtlCol="0" anchor="ctr">
            <a:spAutoFit/>
          </a:bodyPr>
          <a:lstStyle/>
          <a:p>
            <a:pPr algn="ctr"/>
            <a:r>
              <a:rPr lang="fa-IR" sz="1400" b="1" dirty="0">
                <a:solidFill>
                  <a:schemeClr val="bg1"/>
                </a:solidFill>
                <a:latin typeface="Yekan Bakh FaNum" pitchFamily="2" charset="-78"/>
                <a:ea typeface="Yekan Bakh FaNum" pitchFamily="2" charset="-78"/>
                <a:cs typeface="Yekan Bakh FaNum" pitchFamily="2" charset="-78"/>
              </a:rPr>
              <a:t>۷</a:t>
            </a:r>
            <a:endParaRPr lang="en-GB" sz="1400" b="1" dirty="0">
              <a:solidFill>
                <a:schemeClr val="bg1"/>
              </a:solidFill>
              <a:latin typeface="Yekan Bakh FaNum" pitchFamily="2" charset="-78"/>
              <a:ea typeface="Yekan Bakh FaNum" pitchFamily="2" charset="-78"/>
              <a:cs typeface="Yekan Bakh FaNum" pitchFamily="2" charset="-78"/>
            </a:endParaRPr>
          </a:p>
        </p:txBody>
      </p:sp>
      <p:sp>
        <p:nvSpPr>
          <p:cNvPr id="1119" name="Rectangle: Rounded Corners 1118">
            <a:extLst>
              <a:ext uri="{FF2B5EF4-FFF2-40B4-BE49-F238E27FC236}">
                <a16:creationId xmlns:a16="http://schemas.microsoft.com/office/drawing/2014/main" id="{1C0278C5-C13B-FD1A-6586-23D252DE6B3E}"/>
              </a:ext>
            </a:extLst>
          </p:cNvPr>
          <p:cNvSpPr/>
          <p:nvPr/>
        </p:nvSpPr>
        <p:spPr>
          <a:xfrm>
            <a:off x="2686609" y="1162738"/>
            <a:ext cx="1682279" cy="274320"/>
          </a:xfrm>
          <a:prstGeom prst="roundRect">
            <a:avLst>
              <a:gd name="adj" fmla="val 20381"/>
            </a:avLst>
          </a:prstGeom>
          <a:solidFill>
            <a:srgbClr val="F0BE0F">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fa-IR" sz="1100" b="1" dirty="0">
                <a:solidFill>
                  <a:srgbClr val="004D80"/>
                </a:solidFill>
                <a:latin typeface="Yekan Bakh" pitchFamily="2" charset="-78"/>
                <a:ea typeface="Yekan Bakh" pitchFamily="2" charset="-78"/>
                <a:cs typeface="Yekan Bakh" pitchFamily="2" charset="-78"/>
              </a:rPr>
              <a:t>فعالیت‌های کلیدی</a:t>
            </a:r>
          </a:p>
        </p:txBody>
      </p:sp>
      <p:sp>
        <p:nvSpPr>
          <p:cNvPr id="1120" name="Rectangle: Rounded Corners 1119">
            <a:extLst>
              <a:ext uri="{FF2B5EF4-FFF2-40B4-BE49-F238E27FC236}">
                <a16:creationId xmlns:a16="http://schemas.microsoft.com/office/drawing/2014/main" id="{4268F58A-B533-818A-CF8A-E09B6B6E6712}"/>
              </a:ext>
            </a:extLst>
          </p:cNvPr>
          <p:cNvSpPr/>
          <p:nvPr/>
        </p:nvSpPr>
        <p:spPr>
          <a:xfrm>
            <a:off x="4386972" y="2774081"/>
            <a:ext cx="274320" cy="274320"/>
          </a:xfrm>
          <a:prstGeom prst="roundRect">
            <a:avLst>
              <a:gd name="adj" fmla="val 20381"/>
            </a:avLst>
          </a:prstGeom>
          <a:solidFill>
            <a:srgbClr val="F0BE0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a-IR" sz="1600" b="1" dirty="0">
              <a:latin typeface="Yekan Bakh" pitchFamily="2" charset="-78"/>
              <a:ea typeface="Yekan Bakh" pitchFamily="2" charset="-78"/>
              <a:cs typeface="Yekan Bakh" pitchFamily="2" charset="-78"/>
            </a:endParaRPr>
          </a:p>
        </p:txBody>
      </p:sp>
      <p:sp>
        <p:nvSpPr>
          <p:cNvPr id="1121" name="TextBox 1120">
            <a:extLst>
              <a:ext uri="{FF2B5EF4-FFF2-40B4-BE49-F238E27FC236}">
                <a16:creationId xmlns:a16="http://schemas.microsoft.com/office/drawing/2014/main" id="{121276D8-0F58-A432-A1FA-0C6D2E2AE75F}"/>
              </a:ext>
            </a:extLst>
          </p:cNvPr>
          <p:cNvSpPr txBox="1"/>
          <p:nvPr/>
        </p:nvSpPr>
        <p:spPr>
          <a:xfrm>
            <a:off x="4406164" y="2774402"/>
            <a:ext cx="235936" cy="307777"/>
          </a:xfrm>
          <a:prstGeom prst="rect">
            <a:avLst/>
          </a:prstGeom>
          <a:noFill/>
        </p:spPr>
        <p:txBody>
          <a:bodyPr wrap="square" rtlCol="0" anchor="ctr">
            <a:spAutoFit/>
          </a:bodyPr>
          <a:lstStyle/>
          <a:p>
            <a:pPr algn="ctr"/>
            <a:r>
              <a:rPr lang="fa-IR" sz="1400" b="1" dirty="0">
                <a:solidFill>
                  <a:schemeClr val="bg1"/>
                </a:solidFill>
                <a:latin typeface="Yekan Bakh FaNum" pitchFamily="2" charset="-78"/>
                <a:ea typeface="Yekan Bakh FaNum" pitchFamily="2" charset="-78"/>
                <a:cs typeface="Yekan Bakh FaNum" pitchFamily="2" charset="-78"/>
              </a:rPr>
              <a:t>۶</a:t>
            </a:r>
            <a:endParaRPr lang="en-GB" sz="1400" b="1" dirty="0">
              <a:solidFill>
                <a:schemeClr val="bg1"/>
              </a:solidFill>
              <a:latin typeface="Yekan Bakh FaNum" pitchFamily="2" charset="-78"/>
              <a:ea typeface="Yekan Bakh FaNum" pitchFamily="2" charset="-78"/>
              <a:cs typeface="Yekan Bakh FaNum" pitchFamily="2" charset="-78"/>
            </a:endParaRPr>
          </a:p>
        </p:txBody>
      </p:sp>
      <p:sp>
        <p:nvSpPr>
          <p:cNvPr id="1122" name="Rectangle: Rounded Corners 1121">
            <a:extLst>
              <a:ext uri="{FF2B5EF4-FFF2-40B4-BE49-F238E27FC236}">
                <a16:creationId xmlns:a16="http://schemas.microsoft.com/office/drawing/2014/main" id="{777A82D5-F35A-BECF-5A90-14C19A3B228B}"/>
              </a:ext>
            </a:extLst>
          </p:cNvPr>
          <p:cNvSpPr/>
          <p:nvPr/>
        </p:nvSpPr>
        <p:spPr>
          <a:xfrm>
            <a:off x="2686609" y="2774081"/>
            <a:ext cx="1682279" cy="274320"/>
          </a:xfrm>
          <a:prstGeom prst="roundRect">
            <a:avLst>
              <a:gd name="adj" fmla="val 20381"/>
            </a:avLst>
          </a:prstGeom>
          <a:solidFill>
            <a:srgbClr val="F0BE0F">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1100" b="1" dirty="0">
                <a:solidFill>
                  <a:srgbClr val="004D80"/>
                </a:solidFill>
                <a:latin typeface="Yekan Bakh" pitchFamily="2" charset="-78"/>
                <a:ea typeface="Yekan Bakh" pitchFamily="2" charset="-78"/>
                <a:cs typeface="Yekan Bakh" pitchFamily="2" charset="-78"/>
              </a:rPr>
              <a:t>منابع کلیدی</a:t>
            </a:r>
          </a:p>
        </p:txBody>
      </p:sp>
      <p:sp>
        <p:nvSpPr>
          <p:cNvPr id="1133" name="Rectangle 1132">
            <a:extLst>
              <a:ext uri="{FF2B5EF4-FFF2-40B4-BE49-F238E27FC236}">
                <a16:creationId xmlns:a16="http://schemas.microsoft.com/office/drawing/2014/main" id="{B1205A13-4C46-6092-96A7-C137635C1E40}"/>
              </a:ext>
            </a:extLst>
          </p:cNvPr>
          <p:cNvSpPr/>
          <p:nvPr/>
        </p:nvSpPr>
        <p:spPr>
          <a:xfrm>
            <a:off x="0" y="0"/>
            <a:ext cx="11703050" cy="6583363"/>
          </a:xfrm>
          <a:prstGeom prst="rect">
            <a:avLst/>
          </a:prstGeom>
          <a:solidFill>
            <a:schemeClr val="tx1">
              <a:alpha val="4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137" name="Rectangle: Rounded Corners 1136">
            <a:extLst>
              <a:ext uri="{FF2B5EF4-FFF2-40B4-BE49-F238E27FC236}">
                <a16:creationId xmlns:a16="http://schemas.microsoft.com/office/drawing/2014/main" id="{97BC1A92-E142-F7B2-CB01-949049FD6E91}"/>
              </a:ext>
            </a:extLst>
          </p:cNvPr>
          <p:cNvSpPr/>
          <p:nvPr/>
        </p:nvSpPr>
        <p:spPr>
          <a:xfrm>
            <a:off x="9210180" y="1119213"/>
            <a:ext cx="2064624" cy="1844505"/>
          </a:xfrm>
          <a:prstGeom prst="roundRect">
            <a:avLst>
              <a:gd name="adj" fmla="val 379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139" name="Straight Connector 1138">
            <a:extLst>
              <a:ext uri="{FF2B5EF4-FFF2-40B4-BE49-F238E27FC236}">
                <a16:creationId xmlns:a16="http://schemas.microsoft.com/office/drawing/2014/main" id="{B2047884-F06B-D2F4-FFE4-2256AE14699D}"/>
              </a:ext>
            </a:extLst>
          </p:cNvPr>
          <p:cNvCxnSpPr>
            <a:cxnSpLocks/>
          </p:cNvCxnSpPr>
          <p:nvPr/>
        </p:nvCxnSpPr>
        <p:spPr>
          <a:xfrm>
            <a:off x="4808068" y="1298702"/>
            <a:ext cx="0" cy="2926080"/>
          </a:xfrm>
          <a:prstGeom prst="line">
            <a:avLst/>
          </a:prstGeom>
          <a:ln w="6350">
            <a:solidFill>
              <a:schemeClr val="bg1">
                <a:lumMod val="85000"/>
              </a:schemeClr>
            </a:solidFill>
            <a:prstDash val="dash"/>
          </a:ln>
        </p:spPr>
        <p:style>
          <a:lnRef idx="1">
            <a:schemeClr val="accent4"/>
          </a:lnRef>
          <a:fillRef idx="0">
            <a:schemeClr val="accent4"/>
          </a:fillRef>
          <a:effectRef idx="0">
            <a:schemeClr val="accent4"/>
          </a:effectRef>
          <a:fontRef idx="minor">
            <a:schemeClr val="tx1"/>
          </a:fontRef>
        </p:style>
      </p:cxnSp>
      <p:sp>
        <p:nvSpPr>
          <p:cNvPr id="1148" name="Text Placeholder 2">
            <a:extLst>
              <a:ext uri="{FF2B5EF4-FFF2-40B4-BE49-F238E27FC236}">
                <a16:creationId xmlns:a16="http://schemas.microsoft.com/office/drawing/2014/main" id="{4716A7BF-0B3C-60BE-1419-A9CCB4E102D7}"/>
              </a:ext>
            </a:extLst>
          </p:cNvPr>
          <p:cNvSpPr txBox="1">
            <a:spLocks/>
          </p:cNvSpPr>
          <p:nvPr/>
        </p:nvSpPr>
        <p:spPr>
          <a:xfrm>
            <a:off x="555629" y="567444"/>
            <a:ext cx="10710133" cy="715363"/>
          </a:xfrm>
          <a:prstGeom prst="rect">
            <a:avLst/>
          </a:prstGeom>
        </p:spPr>
        <p:txBody>
          <a:bodyPr/>
          <a:lstStyle>
            <a:lvl1pPr marL="0" indent="0" algn="justLow" defTabSz="1021516" rtl="1" eaLnBrk="1" latinLnBrk="0" hangingPunct="1">
              <a:lnSpc>
                <a:spcPct val="100000"/>
              </a:lnSpc>
              <a:spcBef>
                <a:spcPts val="600"/>
              </a:spcBef>
              <a:buFont typeface="Arial" panose="020B0604020202020204" pitchFamily="34" charset="0"/>
              <a:buNone/>
              <a:defRPr sz="1800" b="1" kern="1200">
                <a:solidFill>
                  <a:schemeClr val="tx1">
                    <a:lumMod val="75000"/>
                    <a:lumOff val="25000"/>
                  </a:schemeClr>
                </a:solidFill>
                <a:latin typeface="Yekan Bakh FaNum" pitchFamily="2" charset="-78"/>
                <a:ea typeface="+mn-ea"/>
                <a:cs typeface="Yekan Bakh FaNum" pitchFamily="2" charset="-78"/>
              </a:defRPr>
            </a:lvl1pPr>
            <a:lvl2pPr marL="766136" indent="-255379" algn="l" defTabSz="1021516" rtl="0" eaLnBrk="1" latinLnBrk="0" hangingPunct="1">
              <a:lnSpc>
                <a:spcPct val="90000"/>
              </a:lnSpc>
              <a:spcBef>
                <a:spcPts val="558"/>
              </a:spcBef>
              <a:buFont typeface="Arial" panose="020B0604020202020204" pitchFamily="34" charset="0"/>
              <a:buChar char="•"/>
              <a:defRPr sz="1600" kern="1200">
                <a:solidFill>
                  <a:schemeClr val="tx1"/>
                </a:solidFill>
                <a:latin typeface="Calvino" pitchFamily="2" charset="0"/>
                <a:ea typeface="+mn-ea"/>
                <a:cs typeface="+mn-cs"/>
              </a:defRPr>
            </a:lvl2pPr>
            <a:lvl3pPr marL="1276895" indent="-255379" algn="l" defTabSz="1021516" rtl="0" eaLnBrk="1" latinLnBrk="0" hangingPunct="1">
              <a:lnSpc>
                <a:spcPct val="90000"/>
              </a:lnSpc>
              <a:spcBef>
                <a:spcPts val="558"/>
              </a:spcBef>
              <a:buFont typeface="Arial" panose="020B0604020202020204" pitchFamily="34" charset="0"/>
              <a:buChar char="•"/>
              <a:defRPr sz="1600" kern="1200">
                <a:solidFill>
                  <a:schemeClr val="tx1"/>
                </a:solidFill>
                <a:latin typeface="Calvino" pitchFamily="2" charset="0"/>
                <a:ea typeface="+mn-ea"/>
                <a:cs typeface="+mn-cs"/>
              </a:defRPr>
            </a:lvl3pPr>
            <a:lvl4pPr marL="1787653" indent="-255379" algn="l" defTabSz="1021516" rtl="0" eaLnBrk="1" latinLnBrk="0" hangingPunct="1">
              <a:lnSpc>
                <a:spcPct val="90000"/>
              </a:lnSpc>
              <a:spcBef>
                <a:spcPts val="558"/>
              </a:spcBef>
              <a:buFont typeface="Arial" panose="020B0604020202020204" pitchFamily="34" charset="0"/>
              <a:buChar char="•"/>
              <a:defRPr sz="1600" kern="1200">
                <a:solidFill>
                  <a:schemeClr val="tx1"/>
                </a:solidFill>
                <a:latin typeface="Calvino" pitchFamily="2" charset="0"/>
                <a:ea typeface="+mn-ea"/>
                <a:cs typeface="+mn-cs"/>
              </a:defRPr>
            </a:lvl4pPr>
            <a:lvl5pPr marL="2298410" indent="-255379" algn="l" defTabSz="1021516" rtl="0" eaLnBrk="1" latinLnBrk="0" hangingPunct="1">
              <a:lnSpc>
                <a:spcPct val="90000"/>
              </a:lnSpc>
              <a:spcBef>
                <a:spcPts val="558"/>
              </a:spcBef>
              <a:buFont typeface="Arial" panose="020B0604020202020204" pitchFamily="34" charset="0"/>
              <a:buChar char="•"/>
              <a:defRPr sz="1600" kern="1200">
                <a:solidFill>
                  <a:schemeClr val="tx1"/>
                </a:solidFill>
                <a:latin typeface="Calvino" pitchFamily="2" charset="0"/>
                <a:ea typeface="+mn-ea"/>
                <a:cs typeface="+mn-cs"/>
              </a:defRPr>
            </a:lvl5pPr>
            <a:lvl6pPr marL="2809168" indent="-255379" algn="l" defTabSz="1021516" rtl="0" eaLnBrk="1" latinLnBrk="0" hangingPunct="1">
              <a:lnSpc>
                <a:spcPct val="90000"/>
              </a:lnSpc>
              <a:spcBef>
                <a:spcPts val="558"/>
              </a:spcBef>
              <a:buFont typeface="Arial" panose="020B0604020202020204" pitchFamily="34" charset="0"/>
              <a:buChar char="•"/>
              <a:defRPr sz="2011" kern="1200">
                <a:solidFill>
                  <a:schemeClr val="tx1"/>
                </a:solidFill>
                <a:latin typeface="+mn-lt"/>
                <a:ea typeface="+mn-ea"/>
                <a:cs typeface="+mn-cs"/>
              </a:defRPr>
            </a:lvl6pPr>
            <a:lvl7pPr marL="3319927" indent="-255379" algn="l" defTabSz="1021516" rtl="0" eaLnBrk="1" latinLnBrk="0" hangingPunct="1">
              <a:lnSpc>
                <a:spcPct val="90000"/>
              </a:lnSpc>
              <a:spcBef>
                <a:spcPts val="558"/>
              </a:spcBef>
              <a:buFont typeface="Arial" panose="020B0604020202020204" pitchFamily="34" charset="0"/>
              <a:buChar char="•"/>
              <a:defRPr sz="2011" kern="1200">
                <a:solidFill>
                  <a:schemeClr val="tx1"/>
                </a:solidFill>
                <a:latin typeface="+mn-lt"/>
                <a:ea typeface="+mn-ea"/>
                <a:cs typeface="+mn-cs"/>
              </a:defRPr>
            </a:lvl7pPr>
            <a:lvl8pPr marL="3830683" indent="-255379" algn="l" defTabSz="1021516" rtl="0" eaLnBrk="1" latinLnBrk="0" hangingPunct="1">
              <a:lnSpc>
                <a:spcPct val="90000"/>
              </a:lnSpc>
              <a:spcBef>
                <a:spcPts val="558"/>
              </a:spcBef>
              <a:buFont typeface="Arial" panose="020B0604020202020204" pitchFamily="34" charset="0"/>
              <a:buChar char="•"/>
              <a:defRPr sz="2011" kern="1200">
                <a:solidFill>
                  <a:schemeClr val="tx1"/>
                </a:solidFill>
                <a:latin typeface="+mn-lt"/>
                <a:ea typeface="+mn-ea"/>
                <a:cs typeface="+mn-cs"/>
              </a:defRPr>
            </a:lvl8pPr>
            <a:lvl9pPr marL="4341442" indent="-255379" algn="l" defTabSz="1021516" rtl="0" eaLnBrk="1" latinLnBrk="0" hangingPunct="1">
              <a:lnSpc>
                <a:spcPct val="90000"/>
              </a:lnSpc>
              <a:spcBef>
                <a:spcPts val="558"/>
              </a:spcBef>
              <a:buFont typeface="Arial" panose="020B0604020202020204" pitchFamily="34" charset="0"/>
              <a:buChar char="•"/>
              <a:defRPr sz="2011" kern="1200">
                <a:solidFill>
                  <a:schemeClr val="tx1"/>
                </a:solidFill>
                <a:latin typeface="+mn-lt"/>
                <a:ea typeface="+mn-ea"/>
                <a:cs typeface="+mn-cs"/>
              </a:defRPr>
            </a:lvl9pPr>
          </a:lstStyle>
          <a:p>
            <a:r>
              <a:rPr lang="fa-IR">
                <a:solidFill>
                  <a:schemeClr val="bg1"/>
                </a:solidFill>
                <a:latin typeface="Yekan Bakh" pitchFamily="2" charset="-78"/>
                <a:ea typeface="Yekan Bakh" pitchFamily="2" charset="-78"/>
                <a:cs typeface="Yekan Bakh" pitchFamily="2" charset="-78"/>
              </a:rPr>
              <a:t>موتور اصلی کسب‌وکار در ۹ بخش کلیدی طراحی می‌شود: </a:t>
            </a:r>
            <a:endParaRPr lang="fa-IR" dirty="0">
              <a:solidFill>
                <a:schemeClr val="bg1"/>
              </a:solidFill>
              <a:latin typeface="Yekan Bakh" pitchFamily="2" charset="-78"/>
              <a:ea typeface="Yekan Bakh" pitchFamily="2" charset="-78"/>
              <a:cs typeface="Yekan Bakh" pitchFamily="2" charset="-78"/>
            </a:endParaRPr>
          </a:p>
        </p:txBody>
      </p:sp>
      <p:sp>
        <p:nvSpPr>
          <p:cNvPr id="1149" name="Text Placeholder 1">
            <a:extLst>
              <a:ext uri="{FF2B5EF4-FFF2-40B4-BE49-F238E27FC236}">
                <a16:creationId xmlns:a16="http://schemas.microsoft.com/office/drawing/2014/main" id="{78BE7558-3A81-1BC9-6FFD-9A828B82ECEF}"/>
              </a:ext>
            </a:extLst>
          </p:cNvPr>
          <p:cNvSpPr>
            <a:spLocks noGrp="1"/>
          </p:cNvSpPr>
          <p:nvPr>
            <p:ph type="body" sz="quarter" idx="10"/>
          </p:nvPr>
        </p:nvSpPr>
        <p:spPr>
          <a:xfrm>
            <a:off x="5940763" y="256653"/>
            <a:ext cx="5302810" cy="250047"/>
          </a:xfrm>
        </p:spPr>
        <p:txBody>
          <a:bodyPr/>
          <a:lstStyle/>
          <a:p>
            <a:r>
              <a:rPr lang="fa-IR" dirty="0">
                <a:solidFill>
                  <a:schemeClr val="bg1">
                    <a:lumMod val="85000"/>
                  </a:schemeClr>
                </a:solidFill>
                <a:latin typeface="Yekan Bakh" pitchFamily="2" charset="-78"/>
                <a:ea typeface="Yekan Bakh" pitchFamily="2" charset="-78"/>
                <a:cs typeface="Yekan Bakh" pitchFamily="2" charset="-78"/>
              </a:rPr>
              <a:t>مقدمه</a:t>
            </a:r>
          </a:p>
        </p:txBody>
      </p:sp>
      <p:grpSp>
        <p:nvGrpSpPr>
          <p:cNvPr id="1151" name="Group 1150">
            <a:extLst>
              <a:ext uri="{FF2B5EF4-FFF2-40B4-BE49-F238E27FC236}">
                <a16:creationId xmlns:a16="http://schemas.microsoft.com/office/drawing/2014/main" id="{38516EAB-A69D-A8DD-67C2-BE388F5EEE71}"/>
              </a:ext>
            </a:extLst>
          </p:cNvPr>
          <p:cNvGrpSpPr/>
          <p:nvPr/>
        </p:nvGrpSpPr>
        <p:grpSpPr>
          <a:xfrm>
            <a:off x="9258424" y="1162738"/>
            <a:ext cx="1974683" cy="1746406"/>
            <a:chOff x="9245866" y="1162738"/>
            <a:chExt cx="1974683" cy="1746406"/>
          </a:xfrm>
        </p:grpSpPr>
        <p:sp>
          <p:nvSpPr>
            <p:cNvPr id="1152" name="TextBox 1151">
              <a:extLst>
                <a:ext uri="{FF2B5EF4-FFF2-40B4-BE49-F238E27FC236}">
                  <a16:creationId xmlns:a16="http://schemas.microsoft.com/office/drawing/2014/main" id="{BCA10F74-D347-22E7-10FE-4F182645956A}"/>
                </a:ext>
              </a:extLst>
            </p:cNvPr>
            <p:cNvSpPr txBox="1"/>
            <p:nvPr/>
          </p:nvSpPr>
          <p:spPr>
            <a:xfrm>
              <a:off x="9245866" y="1510684"/>
              <a:ext cx="1974682" cy="1398460"/>
            </a:xfrm>
            <a:prstGeom prst="rect">
              <a:avLst/>
            </a:prstGeom>
            <a:noFill/>
          </p:spPr>
          <p:txBody>
            <a:bodyPr wrap="square" rtlCol="0">
              <a:spAutoFit/>
            </a:bodyPr>
            <a:lstStyle/>
            <a:p>
              <a:pPr marL="115888" marR="0" lvl="0" indent="-115888" algn="justLow" defTabSz="457200" rtl="1" eaLnBrk="1" fontAlgn="auto" latinLnBrk="0" hangingPunct="1">
                <a:lnSpc>
                  <a:spcPct val="15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ما برای چه کسانی ارزش‌آفرینی می‌کنیم؟</a:t>
              </a:r>
            </a:p>
            <a:p>
              <a:pPr marL="115888" marR="0" lvl="0" indent="-115888" algn="justLow" defTabSz="457200" rtl="1" eaLnBrk="1" fontAlgn="auto" latinLnBrk="0" hangingPunct="1">
                <a:lnSpc>
                  <a:spcPct val="15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مهم‌ترین مشتریان ما چه کسانی هستند؟</a:t>
              </a:r>
            </a:p>
            <a:p>
              <a:pPr marL="115888" marR="0" lvl="0" indent="-115888" algn="justLow" defTabSz="457200" rtl="1" eaLnBrk="1" fontAlgn="auto" latinLnBrk="0" hangingPunct="1">
                <a:lnSpc>
                  <a:spcPct val="15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آرکی‌تایپ‌ها (الگوها/پرتره‌های شخصیتی) مشتریان ما کدامند؟</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p:txBody>
        </p:sp>
        <p:sp>
          <p:nvSpPr>
            <p:cNvPr id="1153" name="Rectangle: Rounded Corners 1152">
              <a:extLst>
                <a:ext uri="{FF2B5EF4-FFF2-40B4-BE49-F238E27FC236}">
                  <a16:creationId xmlns:a16="http://schemas.microsoft.com/office/drawing/2014/main" id="{5DE1BBD7-9B9F-25D9-374F-73157E2A51D3}"/>
                </a:ext>
              </a:extLst>
            </p:cNvPr>
            <p:cNvSpPr/>
            <p:nvPr/>
          </p:nvSpPr>
          <p:spPr>
            <a:xfrm>
              <a:off x="10946229" y="1162738"/>
              <a:ext cx="274320" cy="274320"/>
            </a:xfrm>
            <a:prstGeom prst="roundRect">
              <a:avLst>
                <a:gd name="adj" fmla="val 20381"/>
              </a:avLst>
            </a:prstGeom>
            <a:solidFill>
              <a:srgbClr val="F0BE0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endParaRPr lang="fa-IR" sz="1600" b="1" dirty="0">
                <a:latin typeface="Yekan Bakh" pitchFamily="2" charset="-78"/>
                <a:ea typeface="Yekan Bakh" pitchFamily="2" charset="-78"/>
                <a:cs typeface="Yekan Bakh" pitchFamily="2" charset="-78"/>
              </a:endParaRPr>
            </a:p>
          </p:txBody>
        </p:sp>
        <p:sp>
          <p:nvSpPr>
            <p:cNvPr id="1154" name="TextBox 1153">
              <a:extLst>
                <a:ext uri="{FF2B5EF4-FFF2-40B4-BE49-F238E27FC236}">
                  <a16:creationId xmlns:a16="http://schemas.microsoft.com/office/drawing/2014/main" id="{6C4E8408-8B8C-2C86-494F-4D7249661C83}"/>
                </a:ext>
              </a:extLst>
            </p:cNvPr>
            <p:cNvSpPr txBox="1"/>
            <p:nvPr/>
          </p:nvSpPr>
          <p:spPr>
            <a:xfrm>
              <a:off x="10965421" y="1163059"/>
              <a:ext cx="235936" cy="307777"/>
            </a:xfrm>
            <a:prstGeom prst="rect">
              <a:avLst/>
            </a:prstGeom>
            <a:noFill/>
          </p:spPr>
          <p:txBody>
            <a:bodyPr wrap="square" rtlCol="0" anchor="ctr">
              <a:spAutoFit/>
            </a:bodyPr>
            <a:lstStyle/>
            <a:p>
              <a:pPr algn="ctr"/>
              <a:r>
                <a:rPr lang="fa-IR" sz="1400" b="1" dirty="0">
                  <a:solidFill>
                    <a:schemeClr val="bg1"/>
                  </a:solidFill>
                  <a:latin typeface="Yekan Bakh FaNum" pitchFamily="2" charset="-78"/>
                  <a:ea typeface="Yekan Bakh FaNum" pitchFamily="2" charset="-78"/>
                  <a:cs typeface="Yekan Bakh FaNum" pitchFamily="2" charset="-78"/>
                </a:rPr>
                <a:t>۱</a:t>
              </a:r>
              <a:endParaRPr lang="en-GB" sz="1400" b="1" dirty="0">
                <a:solidFill>
                  <a:schemeClr val="bg1"/>
                </a:solidFill>
                <a:latin typeface="Yekan Bakh FaNum" pitchFamily="2" charset="-78"/>
                <a:ea typeface="Yekan Bakh FaNum" pitchFamily="2" charset="-78"/>
                <a:cs typeface="Yekan Bakh FaNum" pitchFamily="2" charset="-78"/>
              </a:endParaRPr>
            </a:p>
          </p:txBody>
        </p:sp>
        <p:sp>
          <p:nvSpPr>
            <p:cNvPr id="1155" name="Rectangle: Rounded Corners 1154">
              <a:extLst>
                <a:ext uri="{FF2B5EF4-FFF2-40B4-BE49-F238E27FC236}">
                  <a16:creationId xmlns:a16="http://schemas.microsoft.com/office/drawing/2014/main" id="{3F81EBD8-7067-F79F-4C8E-8894E7FB9BE5}"/>
                </a:ext>
              </a:extLst>
            </p:cNvPr>
            <p:cNvSpPr/>
            <p:nvPr/>
          </p:nvSpPr>
          <p:spPr>
            <a:xfrm>
              <a:off x="9245866" y="1162738"/>
              <a:ext cx="1682279" cy="274320"/>
            </a:xfrm>
            <a:prstGeom prst="roundRect">
              <a:avLst>
                <a:gd name="adj" fmla="val 20381"/>
              </a:avLst>
            </a:prstGeom>
            <a:solidFill>
              <a:srgbClr val="F0BE0F">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fa-IR" sz="1100" b="1" dirty="0">
                  <a:solidFill>
                    <a:srgbClr val="004D80"/>
                  </a:solidFill>
                  <a:latin typeface="Yekan Bakh" pitchFamily="2" charset="-78"/>
                  <a:ea typeface="Yekan Bakh" pitchFamily="2" charset="-78"/>
                  <a:cs typeface="Yekan Bakh" pitchFamily="2" charset="-78"/>
                </a:rPr>
                <a:t>بخش‌های مشتریان</a:t>
              </a:r>
            </a:p>
          </p:txBody>
        </p:sp>
      </p:grpSp>
    </p:spTree>
    <p:extLst>
      <p:ext uri="{BB962C8B-B14F-4D97-AF65-F5344CB8AC3E}">
        <p14:creationId xmlns:p14="http://schemas.microsoft.com/office/powerpoint/2010/main" val="12516444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61A33D5-8D8E-0EEF-C53C-6BE7018D008B}"/>
              </a:ext>
            </a:extLst>
          </p:cNvPr>
          <p:cNvSpPr>
            <a:spLocks noGrp="1"/>
          </p:cNvSpPr>
          <p:nvPr>
            <p:ph type="body" sz="quarter" idx="10"/>
          </p:nvPr>
        </p:nvSpPr>
        <p:spPr/>
        <p:txBody>
          <a:bodyPr/>
          <a:lstStyle/>
          <a:p>
            <a:r>
              <a:rPr lang="fa-IR" dirty="0"/>
              <a:t>مقدمه</a:t>
            </a:r>
            <a:endParaRPr lang="en-GB" dirty="0"/>
          </a:p>
        </p:txBody>
      </p:sp>
      <p:sp>
        <p:nvSpPr>
          <p:cNvPr id="3" name="Text Placeholder 2">
            <a:extLst>
              <a:ext uri="{FF2B5EF4-FFF2-40B4-BE49-F238E27FC236}">
                <a16:creationId xmlns:a16="http://schemas.microsoft.com/office/drawing/2014/main" id="{0E8B87DC-9D7B-A48B-F138-B0F94243A0FB}"/>
              </a:ext>
            </a:extLst>
          </p:cNvPr>
          <p:cNvSpPr>
            <a:spLocks noGrp="1"/>
          </p:cNvSpPr>
          <p:nvPr>
            <p:ph type="body" sz="quarter" idx="12"/>
          </p:nvPr>
        </p:nvSpPr>
        <p:spPr/>
        <p:txBody>
          <a:bodyPr/>
          <a:lstStyle/>
          <a:p>
            <a:r>
              <a:rPr lang="fa-IR" dirty="0"/>
              <a:t>سوال استراتژیک بخش‌بندی مشتریان</a:t>
            </a:r>
          </a:p>
        </p:txBody>
      </p:sp>
      <p:sp>
        <p:nvSpPr>
          <p:cNvPr id="5" name="TextBox 4">
            <a:extLst>
              <a:ext uri="{FF2B5EF4-FFF2-40B4-BE49-F238E27FC236}">
                <a16:creationId xmlns:a16="http://schemas.microsoft.com/office/drawing/2014/main" id="{C23234B5-3472-F39D-E47C-71C268334302}"/>
              </a:ext>
            </a:extLst>
          </p:cNvPr>
          <p:cNvSpPr txBox="1"/>
          <p:nvPr/>
        </p:nvSpPr>
        <p:spPr>
          <a:xfrm>
            <a:off x="3387387" y="2510269"/>
            <a:ext cx="7856906" cy="2392963"/>
          </a:xfrm>
          <a:prstGeom prst="rect">
            <a:avLst/>
          </a:prstGeom>
          <a:noFill/>
        </p:spPr>
        <p:txBody>
          <a:bodyPr wrap="square">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schemeClr val="bg1">
                    <a:lumMod val="75000"/>
                  </a:schemeClr>
                </a:solidFill>
                <a:effectLst/>
                <a:uLnTx/>
                <a:uFillTx/>
                <a:latin typeface="Yekan Bakh" pitchFamily="2" charset="-78"/>
                <a:ea typeface="Yekan Bakh" pitchFamily="2" charset="-78"/>
                <a:cs typeface="Yekan Bakh" pitchFamily="2" charset="-78"/>
              </a:rPr>
              <a:t>پرسش استراتژیک این نیست که «همه بازیگران چه کسانی هستند؟» یا </a:t>
            </a:r>
            <a:r>
              <a:rPr kumimoji="0" lang="fa-IR" sz="1050" b="1" i="0" u="none" strike="noStrike" kern="1200" cap="none" spc="0" normalizeH="0" baseline="0" noProof="0" dirty="0" err="1">
                <a:ln>
                  <a:noFill/>
                </a:ln>
                <a:solidFill>
                  <a:schemeClr val="bg1">
                    <a:lumMod val="75000"/>
                  </a:schemeClr>
                </a:solidFill>
                <a:effectLst/>
                <a:uLnTx/>
                <a:uFillTx/>
                <a:latin typeface="Yekan Bakh" pitchFamily="2" charset="-78"/>
                <a:ea typeface="Yekan Bakh" pitchFamily="2" charset="-78"/>
                <a:cs typeface="Yekan Bakh" pitchFamily="2" charset="-78"/>
              </a:rPr>
              <a:t>طبقه‌بندی‌های</a:t>
            </a:r>
            <a:r>
              <a:rPr kumimoji="0" lang="fa-IR" sz="1050" b="1" i="0" u="none" strike="noStrike" kern="1200" cap="none" spc="0" normalizeH="0" baseline="0" noProof="0" dirty="0">
                <a:ln>
                  <a:noFill/>
                </a:ln>
                <a:solidFill>
                  <a:schemeClr val="bg1">
                    <a:lumMod val="75000"/>
                  </a:schemeClr>
                </a:solidFill>
                <a:effectLst/>
                <a:uLnTx/>
                <a:uFillTx/>
                <a:latin typeface="Yekan Bakh" pitchFamily="2" charset="-78"/>
                <a:ea typeface="Yekan Bakh" pitchFamily="2" charset="-78"/>
                <a:cs typeface="Yekan Bakh" pitchFamily="2" charset="-78"/>
              </a:rPr>
              <a:t> مختلفی از مشتریان را ارائه بدهیم، بلکه این است:</a:t>
            </a:r>
          </a:p>
          <a:p>
            <a:pPr marL="0" marR="0" lvl="0" indent="0" algn="r" defTabSz="457200" rtl="1" eaLnBrk="1" fontAlgn="auto" latinLnBrk="0" hangingPunct="1">
              <a:lnSpc>
                <a:spcPct val="100000"/>
              </a:lnSpc>
              <a:spcBef>
                <a:spcPts val="0"/>
              </a:spcBef>
              <a:spcAft>
                <a:spcPts val="0"/>
              </a:spcAft>
              <a:buClrTx/>
              <a:buSzTx/>
              <a:buFontTx/>
              <a:buNone/>
              <a:tabLst/>
              <a:defRPr/>
            </a:pPr>
            <a:endParaRPr kumimoji="0" lang="fa-IR" sz="1100" b="0" i="0" u="none" strike="noStrike" kern="1200" cap="none" spc="0" normalizeH="0" baseline="0" noProof="0" dirty="0">
              <a:ln>
                <a:noFill/>
              </a:ln>
              <a:solidFill>
                <a:srgbClr val="C00000"/>
              </a:solidFill>
              <a:effectLst/>
              <a:uLnTx/>
              <a:uFillTx/>
              <a:latin typeface="Yekan Bakh" pitchFamily="2" charset="-78"/>
              <a:ea typeface="Yekan Bakh" pitchFamily="2" charset="-78"/>
              <a:cs typeface="Yekan Bakh" pitchFamily="2" charset="-78"/>
            </a:endParaRPr>
          </a:p>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32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کدام گروه‌های مشتریان </a:t>
            </a:r>
            <a:r>
              <a:rPr kumimoji="0" lang="fa-IR" sz="3200" b="1" i="0" u="none" strike="noStrike" kern="1200" cap="none" spc="0" normalizeH="0" baseline="0" noProof="0" dirty="0" err="1">
                <a:ln>
                  <a:noFill/>
                </a:ln>
                <a:solidFill>
                  <a:srgbClr val="1E2761"/>
                </a:solidFill>
                <a:effectLst/>
                <a:uLnTx/>
                <a:uFillTx/>
                <a:latin typeface="Yekan Bakh" pitchFamily="2" charset="-78"/>
                <a:ea typeface="Yekan Bakh" pitchFamily="2" charset="-78"/>
                <a:cs typeface="Yekan Bakh" pitchFamily="2" charset="-78"/>
              </a:rPr>
              <a:t>آن‌قدر</a:t>
            </a:r>
            <a:r>
              <a:rPr kumimoji="0" lang="fa-IR" sz="32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 با یکدیگر متفاوت هستند که ما مجبوریم فروش، </a:t>
            </a:r>
            <a:r>
              <a:rPr kumimoji="0" lang="fa-IR" sz="3200" b="1" i="0" u="none" strike="noStrike" kern="1200" cap="none" spc="0" normalizeH="0" baseline="0" noProof="0" dirty="0" err="1">
                <a:ln>
                  <a:noFill/>
                </a:ln>
                <a:solidFill>
                  <a:srgbClr val="1E2761"/>
                </a:solidFill>
                <a:effectLst/>
                <a:uLnTx/>
                <a:uFillTx/>
                <a:latin typeface="Yekan Bakh" pitchFamily="2" charset="-78"/>
                <a:ea typeface="Yekan Bakh" pitchFamily="2" charset="-78"/>
                <a:cs typeface="Yekan Bakh" pitchFamily="2" charset="-78"/>
              </a:rPr>
              <a:t>قیمت‌گذاری</a:t>
            </a:r>
            <a:r>
              <a:rPr kumimoji="0" lang="fa-IR" sz="32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 ارائه خدمت و سازماندهی متفاوتی برای آن‌ها داشته باشیم</a:t>
            </a:r>
            <a:endParaRPr kumimoji="0" lang="fa-IR" sz="32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endParaRPr>
          </a:p>
        </p:txBody>
      </p:sp>
      <p:sp>
        <p:nvSpPr>
          <p:cNvPr id="7" name="TextBox 6">
            <a:extLst>
              <a:ext uri="{FF2B5EF4-FFF2-40B4-BE49-F238E27FC236}">
                <a16:creationId xmlns:a16="http://schemas.microsoft.com/office/drawing/2014/main" id="{C57833F7-782A-3495-DFE9-BCF4DF8813A2}"/>
              </a:ext>
            </a:extLst>
          </p:cNvPr>
          <p:cNvSpPr txBox="1"/>
          <p:nvPr/>
        </p:nvSpPr>
        <p:spPr>
          <a:xfrm>
            <a:off x="0" y="1074780"/>
            <a:ext cx="3042221" cy="6447919"/>
          </a:xfrm>
          <a:prstGeom prst="rect">
            <a:avLst/>
          </a:prstGeom>
          <a:noFill/>
        </p:spPr>
        <p:txBody>
          <a:bodyPr wrap="square">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41300" b="1" i="0" u="none" strike="noStrike" kern="1200" cap="none" spc="0" normalizeH="0" baseline="0" noProof="0" dirty="0">
                <a:ln>
                  <a:noFill/>
                </a:ln>
                <a:solidFill>
                  <a:schemeClr val="accent2">
                    <a:lumMod val="20000"/>
                    <a:lumOff val="80000"/>
                  </a:schemeClr>
                </a:solidFill>
                <a:effectLst/>
                <a:uLnTx/>
                <a:uFillTx/>
                <a:latin typeface="Yekan Bakh" pitchFamily="2" charset="-78"/>
                <a:ea typeface="Yekan Bakh" pitchFamily="2" charset="-78"/>
                <a:cs typeface="Yekan Bakh" pitchFamily="2" charset="-78"/>
              </a:rPr>
              <a:t>؟</a:t>
            </a:r>
            <a:endParaRPr kumimoji="0" lang="fa-IR" sz="177700" b="0" i="0" u="none" strike="noStrike" kern="1200" cap="none" spc="0" normalizeH="0" baseline="0" noProof="0" dirty="0">
              <a:ln>
                <a:noFill/>
              </a:ln>
              <a:solidFill>
                <a:schemeClr val="accent2">
                  <a:lumMod val="20000"/>
                  <a:lumOff val="80000"/>
                </a:schemeClr>
              </a:solidFill>
              <a:effectLst/>
              <a:uLnTx/>
              <a:uFillTx/>
              <a:latin typeface="Yekan Bakh" pitchFamily="2" charset="-78"/>
              <a:ea typeface="Yekan Bakh" pitchFamily="2" charset="-78"/>
              <a:cs typeface="Yekan Bakh" pitchFamily="2" charset="-78"/>
            </a:endParaRPr>
          </a:p>
        </p:txBody>
      </p:sp>
      <p:sp>
        <p:nvSpPr>
          <p:cNvPr id="9" name="TextBox 8">
            <a:extLst>
              <a:ext uri="{FF2B5EF4-FFF2-40B4-BE49-F238E27FC236}">
                <a16:creationId xmlns:a16="http://schemas.microsoft.com/office/drawing/2014/main" id="{D1D75859-F552-B45F-E8BA-6AF9B44E2068}"/>
              </a:ext>
            </a:extLst>
          </p:cNvPr>
          <p:cNvSpPr txBox="1"/>
          <p:nvPr/>
        </p:nvSpPr>
        <p:spPr>
          <a:xfrm>
            <a:off x="555625" y="1355043"/>
            <a:ext cx="10688668" cy="461665"/>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200" b="0" i="0" u="none" strike="noStrike" kern="1200" cap="none" spc="0" normalizeH="0" baseline="0" noProof="0" dirty="0">
                <a:ln>
                  <a:noFill/>
                </a:ln>
                <a:solidFill>
                  <a:schemeClr val="tx1">
                    <a:lumMod val="50000"/>
                    <a:lumOff val="50000"/>
                  </a:schemeClr>
                </a:solidFill>
                <a:effectLst/>
                <a:uLnTx/>
                <a:uFillTx/>
                <a:latin typeface="Yekan Bakh" pitchFamily="2" charset="-78"/>
                <a:ea typeface="Yekan Bakh" pitchFamily="2" charset="-78"/>
                <a:cs typeface="Yekan Bakh" pitchFamily="2" charset="-78"/>
              </a:rPr>
              <a:t>سیمرغ یک اکوسیستم برای طراحی و مدیریت سه خط کسب‌وکار مرتبط است: خدمات حرفه‌ای (</a:t>
            </a:r>
            <a:r>
              <a:rPr kumimoji="0" lang="en-US" sz="1200" b="0" i="0" u="none" strike="noStrike" kern="1200" cap="none" spc="0" normalizeH="0" baseline="0" noProof="0" dirty="0">
                <a:ln>
                  <a:noFill/>
                </a:ln>
                <a:solidFill>
                  <a:schemeClr val="tx1">
                    <a:lumMod val="50000"/>
                    <a:lumOff val="50000"/>
                  </a:schemeClr>
                </a:solidFill>
                <a:effectLst/>
                <a:uLnTx/>
                <a:uFillTx/>
                <a:latin typeface="Yekan Bakh" pitchFamily="2" charset="-78"/>
                <a:ea typeface="Yekan Bakh" pitchFamily="2" charset="-78"/>
                <a:cs typeface="Yekan Bakh" pitchFamily="2" charset="-78"/>
              </a:rPr>
              <a:t>Professional Services</a:t>
            </a:r>
            <a:r>
              <a:rPr kumimoji="0" lang="fa-IR" sz="1200" b="0" i="0" u="none" strike="noStrike" kern="1200" cap="none" spc="0" normalizeH="0" baseline="0" noProof="0" dirty="0">
                <a:ln>
                  <a:noFill/>
                </a:ln>
                <a:solidFill>
                  <a:schemeClr val="tx1">
                    <a:lumMod val="50000"/>
                    <a:lumOff val="50000"/>
                  </a:schemeClr>
                </a:solidFill>
                <a:effectLst/>
                <a:uLnTx/>
                <a:uFillTx/>
                <a:latin typeface="Yekan Bakh" pitchFamily="2" charset="-78"/>
                <a:ea typeface="Yekan Bakh" pitchFamily="2" charset="-78"/>
                <a:cs typeface="Yekan Bakh" pitchFamily="2" charset="-78"/>
              </a:rPr>
              <a:t>)</a:t>
            </a:r>
            <a:r>
              <a:rPr kumimoji="0" lang="en-US" sz="1200" b="0" i="0" u="none" strike="noStrike" kern="1200" cap="none" spc="0" normalizeH="0" baseline="0" noProof="0" dirty="0">
                <a:ln>
                  <a:noFill/>
                </a:ln>
                <a:solidFill>
                  <a:schemeClr val="tx1">
                    <a:lumMod val="50000"/>
                    <a:lumOff val="50000"/>
                  </a:schemeClr>
                </a:solidFill>
                <a:effectLst/>
                <a:uLnTx/>
                <a:uFillTx/>
                <a:latin typeface="Yekan Bakh" pitchFamily="2" charset="-78"/>
                <a:ea typeface="Yekan Bakh" pitchFamily="2" charset="-78"/>
                <a:cs typeface="Yekan Bakh" pitchFamily="2" charset="-78"/>
              </a:rPr>
              <a:t>، </a:t>
            </a:r>
            <a:r>
              <a:rPr kumimoji="0" lang="fa-IR" sz="1200" b="0" i="0" u="none" strike="noStrike" kern="1200" cap="none" spc="0" normalizeH="0" baseline="0" noProof="0" dirty="0">
                <a:ln>
                  <a:noFill/>
                </a:ln>
                <a:solidFill>
                  <a:schemeClr val="tx1">
                    <a:lumMod val="50000"/>
                    <a:lumOff val="50000"/>
                  </a:schemeClr>
                </a:solidFill>
                <a:effectLst/>
                <a:uLnTx/>
                <a:uFillTx/>
                <a:latin typeface="Yekan Bakh" pitchFamily="2" charset="-78"/>
                <a:ea typeface="Yekan Bakh" pitchFamily="2" charset="-78"/>
                <a:cs typeface="Yekan Bakh" pitchFamily="2" charset="-78"/>
              </a:rPr>
              <a:t>خلق کسب‌وکار (</a:t>
            </a:r>
            <a:r>
              <a:rPr kumimoji="0" lang="en-US" sz="1200" b="0" i="0" u="none" strike="noStrike" kern="1200" cap="none" spc="0" normalizeH="0" baseline="0" noProof="0" dirty="0">
                <a:ln>
                  <a:noFill/>
                </a:ln>
                <a:solidFill>
                  <a:schemeClr val="tx1">
                    <a:lumMod val="50000"/>
                    <a:lumOff val="50000"/>
                  </a:schemeClr>
                </a:solidFill>
                <a:effectLst/>
                <a:uLnTx/>
                <a:uFillTx/>
                <a:latin typeface="Yekan Bakh" pitchFamily="2" charset="-78"/>
                <a:ea typeface="Yekan Bakh" pitchFamily="2" charset="-78"/>
                <a:cs typeface="Yekan Bakh" pitchFamily="2" charset="-78"/>
              </a:rPr>
              <a:t>Venture Building</a:t>
            </a:r>
            <a:r>
              <a:rPr kumimoji="0" lang="fa-IR" sz="1200" b="0" i="0" u="none" strike="noStrike" kern="1200" cap="none" spc="0" normalizeH="0" baseline="0" noProof="0" dirty="0">
                <a:ln>
                  <a:noFill/>
                </a:ln>
                <a:solidFill>
                  <a:schemeClr val="tx1">
                    <a:lumMod val="50000"/>
                    <a:lumOff val="50000"/>
                  </a:schemeClr>
                </a:solidFill>
                <a:effectLst/>
                <a:uLnTx/>
                <a:uFillTx/>
                <a:latin typeface="Yekan Bakh" pitchFamily="2" charset="-78"/>
                <a:ea typeface="Yekan Bakh" pitchFamily="2" charset="-78"/>
                <a:cs typeface="Yekan Bakh" pitchFamily="2" charset="-78"/>
              </a:rPr>
              <a:t>) و سرمایه‌گذاری (</a:t>
            </a:r>
            <a:r>
              <a:rPr kumimoji="0" lang="en-US" sz="1200" b="0" i="0" u="none" strike="noStrike" kern="1200" cap="none" spc="0" normalizeH="0" baseline="0" noProof="0" dirty="0">
                <a:ln>
                  <a:noFill/>
                </a:ln>
                <a:solidFill>
                  <a:schemeClr val="tx1">
                    <a:lumMod val="50000"/>
                    <a:lumOff val="50000"/>
                  </a:schemeClr>
                </a:solidFill>
                <a:effectLst/>
                <a:uLnTx/>
                <a:uFillTx/>
                <a:latin typeface="Yekan Bakh" pitchFamily="2" charset="-78"/>
                <a:ea typeface="Yekan Bakh" pitchFamily="2" charset="-78"/>
                <a:cs typeface="Yekan Bakh" pitchFamily="2" charset="-78"/>
              </a:rPr>
              <a:t>Investment</a:t>
            </a:r>
            <a:r>
              <a:rPr kumimoji="0" lang="fa-IR" sz="1200" b="0" i="0" u="none" strike="noStrike" kern="1200" cap="none" spc="0" normalizeH="0" baseline="0" noProof="0" dirty="0">
                <a:ln>
                  <a:noFill/>
                </a:ln>
                <a:solidFill>
                  <a:schemeClr val="tx1">
                    <a:lumMod val="50000"/>
                    <a:lumOff val="50000"/>
                  </a:schemeClr>
                </a:solidFill>
                <a:effectLst/>
                <a:uLnTx/>
                <a:uFillTx/>
                <a:latin typeface="Yekan Bakh" pitchFamily="2" charset="-78"/>
                <a:ea typeface="Yekan Bakh" pitchFamily="2" charset="-78"/>
                <a:cs typeface="Yekan Bakh" pitchFamily="2" charset="-78"/>
              </a:rPr>
              <a:t>) </a:t>
            </a:r>
            <a:endParaRPr kumimoji="0" lang="en-US" sz="1200" b="0" i="0" u="none" strike="noStrike" kern="1200" cap="none" spc="0" normalizeH="0" baseline="0" noProof="0" dirty="0">
              <a:ln>
                <a:noFill/>
              </a:ln>
              <a:solidFill>
                <a:schemeClr val="tx1">
                  <a:lumMod val="50000"/>
                  <a:lumOff val="50000"/>
                </a:schemeClr>
              </a:solidFill>
              <a:effectLst/>
              <a:uLnTx/>
              <a:uFillTx/>
              <a:latin typeface="Yekan Bakh" pitchFamily="2" charset="-78"/>
              <a:ea typeface="Yekan Bakh" pitchFamily="2" charset="-78"/>
              <a:cs typeface="Yekan Bakh" pitchFamily="2" charset="-78"/>
            </a:endParaRPr>
          </a:p>
        </p:txBody>
      </p:sp>
    </p:spTree>
    <p:extLst>
      <p:ext uri="{BB962C8B-B14F-4D97-AF65-F5344CB8AC3E}">
        <p14:creationId xmlns:p14="http://schemas.microsoft.com/office/powerpoint/2010/main" val="29476371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19E8F06-E203-67CA-4896-04539B94E142}"/>
              </a:ext>
            </a:extLst>
          </p:cNvPr>
          <p:cNvSpPr>
            <a:spLocks noGrp="1"/>
          </p:cNvSpPr>
          <p:nvPr>
            <p:ph type="body" sz="quarter" idx="10"/>
          </p:nvPr>
        </p:nvSpPr>
        <p:spPr/>
        <p:txBody>
          <a:bodyPr/>
          <a:lstStyle/>
          <a:p>
            <a:r>
              <a:rPr lang="fa-IR" dirty="0"/>
              <a:t>نقشه اولیه بازیگران در اکوسیستم سیمرغ </a:t>
            </a:r>
          </a:p>
        </p:txBody>
      </p:sp>
      <p:sp>
        <p:nvSpPr>
          <p:cNvPr id="3" name="Text Placeholder 2">
            <a:extLst>
              <a:ext uri="{FF2B5EF4-FFF2-40B4-BE49-F238E27FC236}">
                <a16:creationId xmlns:a16="http://schemas.microsoft.com/office/drawing/2014/main" id="{1740ABA6-2BE8-4D16-8147-2D964D55BFB7}"/>
              </a:ext>
            </a:extLst>
          </p:cNvPr>
          <p:cNvSpPr>
            <a:spLocks noGrp="1"/>
          </p:cNvSpPr>
          <p:nvPr>
            <p:ph type="body" sz="quarter" idx="12"/>
          </p:nvPr>
        </p:nvSpPr>
        <p:spPr/>
        <p:txBody>
          <a:bodyPr/>
          <a:lstStyle/>
          <a:p>
            <a:r>
              <a:rPr lang="fa-IR" dirty="0"/>
              <a:t>هر مشارکت‎کننده‌ای در این اکوسیستم، مشتری نیست! تنها بازیگرانی که پرداخت می‌کنند — چه به صورت نقد، سهام یا سرمایه متعهدشده — وارد بخش‌بندی مشتریان می‌شوند</a:t>
            </a:r>
          </a:p>
        </p:txBody>
      </p:sp>
      <p:sp>
        <p:nvSpPr>
          <p:cNvPr id="4" name="Rectangle 3">
            <a:extLst>
              <a:ext uri="{FF2B5EF4-FFF2-40B4-BE49-F238E27FC236}">
                <a16:creationId xmlns:a16="http://schemas.microsoft.com/office/drawing/2014/main" id="{56050A41-0420-6E66-A8A1-9DF4AEFF38F5}"/>
              </a:ext>
            </a:extLst>
          </p:cNvPr>
          <p:cNvSpPr/>
          <p:nvPr/>
        </p:nvSpPr>
        <p:spPr>
          <a:xfrm>
            <a:off x="7307942" y="1226464"/>
            <a:ext cx="3839483" cy="428172"/>
          </a:xfrm>
          <a:prstGeom prst="rect">
            <a:avLst/>
          </a:prstGeom>
          <a:solidFill>
            <a:srgbClr val="1E27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2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بازیگر اکوسیستم </a:t>
            </a:r>
            <a:endParaRPr kumimoji="0" lang="en-US" sz="12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endParaRPr>
          </a:p>
        </p:txBody>
      </p:sp>
      <p:sp>
        <p:nvSpPr>
          <p:cNvPr id="9" name="Rectangle 8">
            <a:extLst>
              <a:ext uri="{FF2B5EF4-FFF2-40B4-BE49-F238E27FC236}">
                <a16:creationId xmlns:a16="http://schemas.microsoft.com/office/drawing/2014/main" id="{31E43BDC-4B15-F346-5839-519294DA3104}"/>
              </a:ext>
            </a:extLst>
          </p:cNvPr>
          <p:cNvSpPr/>
          <p:nvPr/>
        </p:nvSpPr>
        <p:spPr>
          <a:xfrm>
            <a:off x="7307942" y="1747058"/>
            <a:ext cx="3839483" cy="428172"/>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کسب‌وکارهای ایرانی</a:t>
            </a:r>
          </a:p>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 </a:t>
            </a:r>
            <a:r>
              <a:rPr kumimoji="0" lang="fa-IR" sz="11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(که هدف اقتصادی و تجاری از انجام معامله دارند) </a:t>
            </a:r>
            <a:endParaRPr kumimoji="0" lang="en-US" sz="11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endParaRPr>
          </a:p>
        </p:txBody>
      </p:sp>
      <p:sp>
        <p:nvSpPr>
          <p:cNvPr id="14" name="Rectangle 13">
            <a:extLst>
              <a:ext uri="{FF2B5EF4-FFF2-40B4-BE49-F238E27FC236}">
                <a16:creationId xmlns:a16="http://schemas.microsoft.com/office/drawing/2014/main" id="{DF5F19E1-6D90-8EEB-0214-DB2723C50035}"/>
              </a:ext>
            </a:extLst>
          </p:cNvPr>
          <p:cNvSpPr/>
          <p:nvPr/>
        </p:nvSpPr>
        <p:spPr>
          <a:xfrm>
            <a:off x="7307942" y="2267652"/>
            <a:ext cx="3839483" cy="428172"/>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1" i="0" u="none" strike="noStrike" kern="1200" cap="none" spc="0" normalizeH="0" baseline="0" noProof="0">
                <a:ln>
                  <a:noFill/>
                </a:ln>
                <a:solidFill>
                  <a:srgbClr val="1E2761"/>
                </a:solidFill>
                <a:effectLst/>
                <a:uLnTx/>
                <a:uFillTx/>
                <a:latin typeface="Yekan Bakh" pitchFamily="2" charset="-78"/>
                <a:ea typeface="Yekan Bakh" pitchFamily="2" charset="-78"/>
                <a:cs typeface="Yekan Bakh" pitchFamily="2" charset="-78"/>
              </a:rPr>
              <a:t>کسب‌وکارهای خارجی </a:t>
            </a:r>
          </a:p>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1" i="0" u="none" strike="noStrike" kern="1200" cap="none" spc="0" normalizeH="0" baseline="0" noProof="0">
                <a:ln>
                  <a:noFill/>
                </a:ln>
                <a:solidFill>
                  <a:srgbClr val="1E2761"/>
                </a:solidFill>
                <a:effectLst/>
                <a:uLnTx/>
                <a:uFillTx/>
                <a:latin typeface="Yekan Bakh" pitchFamily="2" charset="-78"/>
                <a:ea typeface="Yekan Bakh" pitchFamily="2" charset="-78"/>
                <a:cs typeface="Yekan Bakh" pitchFamily="2" charset="-78"/>
              </a:rPr>
              <a:t> </a:t>
            </a:r>
            <a:r>
              <a:rPr kumimoji="0" lang="fa-IR" sz="1100" b="0" i="0" u="none" strike="noStrike" kern="1200" cap="none" spc="0" normalizeH="0" baseline="0" noProof="0">
                <a:ln>
                  <a:noFill/>
                </a:ln>
                <a:solidFill>
                  <a:srgbClr val="1E2761"/>
                </a:solidFill>
                <a:effectLst/>
                <a:uLnTx/>
                <a:uFillTx/>
                <a:latin typeface="Yekan Bakh" pitchFamily="2" charset="-78"/>
                <a:ea typeface="Yekan Bakh" pitchFamily="2" charset="-78"/>
                <a:cs typeface="Yekan Bakh" pitchFamily="2" charset="-78"/>
              </a:rPr>
              <a:t>(که هدف اقتصادی و تجاری از انجام معامله دارند) </a:t>
            </a:r>
            <a:r>
              <a:rPr kumimoji="0" lang="fa-IR" sz="1100" b="1" i="0" u="none" strike="noStrike" kern="1200" cap="none" spc="0" normalizeH="0" baseline="0" noProof="0">
                <a:ln>
                  <a:noFill/>
                </a:ln>
                <a:solidFill>
                  <a:srgbClr val="1E2761"/>
                </a:solidFill>
                <a:effectLst/>
                <a:uLnTx/>
                <a:uFillTx/>
                <a:latin typeface="Yekan Bakh" pitchFamily="2" charset="-78"/>
                <a:ea typeface="Yekan Bakh" pitchFamily="2" charset="-78"/>
                <a:cs typeface="Yekan Bakh" pitchFamily="2" charset="-78"/>
              </a:rPr>
              <a:t> </a:t>
            </a:r>
            <a:endParaRPr kumimoji="0" lang="en-US" sz="1100" b="1" i="0" u="none" strike="noStrike" kern="1200" cap="none" spc="0" normalizeH="0" baseline="0" noProof="0">
              <a:ln>
                <a:noFill/>
              </a:ln>
              <a:solidFill>
                <a:srgbClr val="1E2761"/>
              </a:solidFill>
              <a:effectLst/>
              <a:uLnTx/>
              <a:uFillTx/>
              <a:latin typeface="Yekan Bakh" pitchFamily="2" charset="-78"/>
              <a:ea typeface="Yekan Bakh" pitchFamily="2" charset="-78"/>
              <a:cs typeface="Yekan Bakh" pitchFamily="2" charset="-78"/>
            </a:endParaRPr>
          </a:p>
        </p:txBody>
      </p:sp>
      <p:sp>
        <p:nvSpPr>
          <p:cNvPr id="19" name="Rectangle 18">
            <a:extLst>
              <a:ext uri="{FF2B5EF4-FFF2-40B4-BE49-F238E27FC236}">
                <a16:creationId xmlns:a16="http://schemas.microsoft.com/office/drawing/2014/main" id="{8B6CCBE9-3CDD-C57B-9E03-1A500F98D943}"/>
              </a:ext>
            </a:extLst>
          </p:cNvPr>
          <p:cNvSpPr/>
          <p:nvPr/>
        </p:nvSpPr>
        <p:spPr>
          <a:xfrm>
            <a:off x="7307942" y="2788246"/>
            <a:ext cx="3839483" cy="428172"/>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1" i="0" u="none" strike="noStrike" kern="1200" cap="none" spc="0" normalizeH="0" baseline="0" noProof="0">
                <a:ln>
                  <a:noFill/>
                </a:ln>
                <a:solidFill>
                  <a:srgbClr val="1E2761"/>
                </a:solidFill>
                <a:effectLst/>
                <a:uLnTx/>
                <a:uFillTx/>
                <a:latin typeface="Yekan Bakh" pitchFamily="2" charset="-78"/>
                <a:ea typeface="Yekan Bakh" pitchFamily="2" charset="-78"/>
                <a:cs typeface="Yekan Bakh" pitchFamily="2" charset="-78"/>
              </a:rPr>
              <a:t>اشخاص صاحب دارایی</a:t>
            </a:r>
          </a:p>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a:ln>
                  <a:noFill/>
                </a:ln>
                <a:solidFill>
                  <a:srgbClr val="1E2761"/>
                </a:solidFill>
                <a:effectLst/>
                <a:uLnTx/>
                <a:uFillTx/>
                <a:latin typeface="Yekan Bakh" pitchFamily="2" charset="-78"/>
                <a:ea typeface="Yekan Bakh" pitchFamily="2" charset="-78"/>
                <a:cs typeface="Yekan Bakh" pitchFamily="2" charset="-78"/>
              </a:rPr>
              <a:t>(افرادی که به دنبال راه‌اندازی یک کسب‌وکار دارند)  </a:t>
            </a:r>
            <a:endParaRPr kumimoji="0" lang="en-US" sz="1100" b="0" i="0" u="none" strike="noStrike" kern="1200" cap="none" spc="0" normalizeH="0" baseline="0" noProof="0">
              <a:ln>
                <a:noFill/>
              </a:ln>
              <a:solidFill>
                <a:srgbClr val="1E2761"/>
              </a:solidFill>
              <a:effectLst/>
              <a:uLnTx/>
              <a:uFillTx/>
              <a:latin typeface="Yekan Bakh" pitchFamily="2" charset="-78"/>
              <a:ea typeface="Yekan Bakh" pitchFamily="2" charset="-78"/>
              <a:cs typeface="Yekan Bakh" pitchFamily="2" charset="-78"/>
            </a:endParaRPr>
          </a:p>
        </p:txBody>
      </p:sp>
      <p:sp>
        <p:nvSpPr>
          <p:cNvPr id="24" name="Rectangle 23">
            <a:extLst>
              <a:ext uri="{FF2B5EF4-FFF2-40B4-BE49-F238E27FC236}">
                <a16:creationId xmlns:a16="http://schemas.microsoft.com/office/drawing/2014/main" id="{C44C84B4-7FE4-1BFD-257E-F305B8EB4F16}"/>
              </a:ext>
            </a:extLst>
          </p:cNvPr>
          <p:cNvSpPr/>
          <p:nvPr/>
        </p:nvSpPr>
        <p:spPr>
          <a:xfrm>
            <a:off x="7307942" y="3308840"/>
            <a:ext cx="3839483" cy="428172"/>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1" i="0" u="none" strike="noStrike" kern="1200" cap="none" spc="0" normalizeH="0" baseline="0" noProof="0">
                <a:ln>
                  <a:noFill/>
                </a:ln>
                <a:solidFill>
                  <a:srgbClr val="1E2761"/>
                </a:solidFill>
                <a:effectLst/>
                <a:uLnTx/>
                <a:uFillTx/>
                <a:latin typeface="Yekan Bakh" pitchFamily="2" charset="-78"/>
                <a:ea typeface="Yekan Bakh" pitchFamily="2" charset="-78"/>
                <a:cs typeface="Yekan Bakh" pitchFamily="2" charset="-78"/>
              </a:rPr>
              <a:t>سرمایه‌داران  </a:t>
            </a:r>
          </a:p>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a:ln>
                  <a:noFill/>
                </a:ln>
                <a:solidFill>
                  <a:srgbClr val="1E2761"/>
                </a:solidFill>
                <a:effectLst/>
                <a:uLnTx/>
                <a:uFillTx/>
                <a:latin typeface="Yekan Bakh" pitchFamily="2" charset="-78"/>
                <a:ea typeface="Yekan Bakh" pitchFamily="2" charset="-78"/>
                <a:cs typeface="Yekan Bakh" pitchFamily="2" charset="-78"/>
              </a:rPr>
              <a:t>(اشخاصی که بدنبال فرصت‌های جدید سرمایه‌گذاری هستند)‌</a:t>
            </a:r>
            <a:endParaRPr kumimoji="0" lang="en-US" sz="1100" b="0" i="0" u="none" strike="noStrike" kern="1200" cap="none" spc="0" normalizeH="0" baseline="0" noProof="0">
              <a:ln>
                <a:noFill/>
              </a:ln>
              <a:solidFill>
                <a:srgbClr val="1E2761"/>
              </a:solidFill>
              <a:effectLst/>
              <a:uLnTx/>
              <a:uFillTx/>
              <a:latin typeface="Yekan Bakh" pitchFamily="2" charset="-78"/>
              <a:ea typeface="Yekan Bakh" pitchFamily="2" charset="-78"/>
              <a:cs typeface="Yekan Bakh" pitchFamily="2" charset="-78"/>
            </a:endParaRPr>
          </a:p>
        </p:txBody>
      </p:sp>
      <p:sp>
        <p:nvSpPr>
          <p:cNvPr id="29" name="Rectangle 28">
            <a:extLst>
              <a:ext uri="{FF2B5EF4-FFF2-40B4-BE49-F238E27FC236}">
                <a16:creationId xmlns:a16="http://schemas.microsoft.com/office/drawing/2014/main" id="{1CF0EDE4-26AD-87F3-8152-4C5B0C9DD573}"/>
              </a:ext>
            </a:extLst>
          </p:cNvPr>
          <p:cNvSpPr/>
          <p:nvPr/>
        </p:nvSpPr>
        <p:spPr>
          <a:xfrm>
            <a:off x="7307942" y="3829434"/>
            <a:ext cx="3839483" cy="428172"/>
          </a:xfrm>
          <a:prstGeom prst="rect">
            <a:avLst/>
          </a:prstGeom>
          <a:no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1" i="0" u="none" strike="noStrike" kern="1200" cap="none" spc="0" normalizeH="0" baseline="0" noProof="0">
                <a:ln>
                  <a:noFill/>
                </a:ln>
                <a:solidFill>
                  <a:prstClr val="black">
                    <a:lumMod val="50000"/>
                    <a:lumOff val="50000"/>
                  </a:prstClr>
                </a:solidFill>
                <a:effectLst/>
                <a:uLnTx/>
                <a:uFillTx/>
                <a:latin typeface="Yekan Bakh" pitchFamily="2" charset="-78"/>
                <a:ea typeface="Yekan Bakh" pitchFamily="2" charset="-78"/>
                <a:cs typeface="Yekan Bakh" pitchFamily="2" charset="-78"/>
              </a:rPr>
              <a:t>ارائه‌دهندگان خدمات حرفه‌ای</a:t>
            </a:r>
          </a:p>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a:ln>
                  <a:noFill/>
                </a:ln>
                <a:solidFill>
                  <a:prstClr val="black">
                    <a:lumMod val="50000"/>
                    <a:lumOff val="50000"/>
                  </a:prstClr>
                </a:solidFill>
                <a:effectLst/>
                <a:uLnTx/>
                <a:uFillTx/>
                <a:latin typeface="Yekan Bakh" pitchFamily="2" charset="-78"/>
                <a:ea typeface="Yekan Bakh" pitchFamily="2" charset="-78"/>
                <a:cs typeface="Yekan Bakh" pitchFamily="2" charset="-78"/>
              </a:rPr>
              <a:t>(شرکت مشاور مدیریت، خدمات مالی، حقوقی، فنی و ...) </a:t>
            </a:r>
            <a:endParaRPr kumimoji="0" lang="en-US" sz="1100" b="0" i="0" u="none" strike="noStrike" kern="1200" cap="none" spc="0" normalizeH="0" baseline="0" noProof="0">
              <a:ln>
                <a:noFill/>
              </a:ln>
              <a:solidFill>
                <a:prstClr val="black">
                  <a:lumMod val="50000"/>
                  <a:lumOff val="50000"/>
                </a:prstClr>
              </a:solidFill>
              <a:effectLst/>
              <a:uLnTx/>
              <a:uFillTx/>
              <a:latin typeface="Yekan Bakh" pitchFamily="2" charset="-78"/>
              <a:ea typeface="Yekan Bakh" pitchFamily="2" charset="-78"/>
              <a:cs typeface="Yekan Bakh" pitchFamily="2" charset="-78"/>
            </a:endParaRPr>
          </a:p>
        </p:txBody>
      </p:sp>
      <p:sp>
        <p:nvSpPr>
          <p:cNvPr id="34" name="Rectangle 33">
            <a:extLst>
              <a:ext uri="{FF2B5EF4-FFF2-40B4-BE49-F238E27FC236}">
                <a16:creationId xmlns:a16="http://schemas.microsoft.com/office/drawing/2014/main" id="{BE49A001-C064-A633-3843-46CE90953F82}"/>
              </a:ext>
            </a:extLst>
          </p:cNvPr>
          <p:cNvSpPr/>
          <p:nvPr/>
        </p:nvSpPr>
        <p:spPr>
          <a:xfrm>
            <a:off x="7307942" y="4350028"/>
            <a:ext cx="3839483" cy="428172"/>
          </a:xfrm>
          <a:prstGeom prst="rect">
            <a:avLst/>
          </a:prstGeom>
          <a:no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1" i="0" u="none" strike="noStrike" kern="1200" cap="none" spc="0" normalizeH="0" baseline="0" noProof="0">
                <a:ln>
                  <a:noFill/>
                </a:ln>
                <a:solidFill>
                  <a:prstClr val="black">
                    <a:lumMod val="50000"/>
                    <a:lumOff val="50000"/>
                  </a:prstClr>
                </a:solidFill>
                <a:effectLst/>
                <a:uLnTx/>
                <a:uFillTx/>
                <a:latin typeface="Yekan Bakh" pitchFamily="2" charset="-78"/>
                <a:ea typeface="Yekan Bakh" pitchFamily="2" charset="-78"/>
                <a:cs typeface="Yekan Bakh" pitchFamily="2" charset="-78"/>
              </a:rPr>
              <a:t>نهادهای حکومتی و رگولاتوری </a:t>
            </a:r>
          </a:p>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a:ln>
                  <a:noFill/>
                </a:ln>
                <a:solidFill>
                  <a:prstClr val="black">
                    <a:lumMod val="50000"/>
                    <a:lumOff val="50000"/>
                  </a:prstClr>
                </a:solidFill>
                <a:effectLst/>
                <a:uLnTx/>
                <a:uFillTx/>
                <a:latin typeface="Yekan Bakh" pitchFamily="2" charset="-78"/>
                <a:ea typeface="Yekan Bakh" pitchFamily="2" charset="-78"/>
                <a:cs typeface="Yekan Bakh" pitchFamily="2" charset="-78"/>
              </a:rPr>
              <a:t>(سازمان سرمایه‌گذاری در وزارت اقتصاد، وزرات صمت و ...)</a:t>
            </a:r>
            <a:endParaRPr kumimoji="0" lang="en-US" sz="1100" b="0" i="0" u="none" strike="noStrike" kern="1200" cap="none" spc="0" normalizeH="0" baseline="0" noProof="0">
              <a:ln>
                <a:noFill/>
              </a:ln>
              <a:solidFill>
                <a:prstClr val="black">
                  <a:lumMod val="50000"/>
                  <a:lumOff val="50000"/>
                </a:prstClr>
              </a:solidFill>
              <a:effectLst/>
              <a:uLnTx/>
              <a:uFillTx/>
              <a:latin typeface="Yekan Bakh" pitchFamily="2" charset="-78"/>
              <a:ea typeface="Yekan Bakh" pitchFamily="2" charset="-78"/>
              <a:cs typeface="Yekan Bakh" pitchFamily="2" charset="-78"/>
            </a:endParaRPr>
          </a:p>
        </p:txBody>
      </p:sp>
      <p:sp>
        <p:nvSpPr>
          <p:cNvPr id="39" name="Rectangle 38">
            <a:extLst>
              <a:ext uri="{FF2B5EF4-FFF2-40B4-BE49-F238E27FC236}">
                <a16:creationId xmlns:a16="http://schemas.microsoft.com/office/drawing/2014/main" id="{E6B9902E-332D-A724-42C4-7BF393CAAAD4}"/>
              </a:ext>
            </a:extLst>
          </p:cNvPr>
          <p:cNvSpPr/>
          <p:nvPr/>
        </p:nvSpPr>
        <p:spPr>
          <a:xfrm>
            <a:off x="7307942" y="4870622"/>
            <a:ext cx="3839483" cy="428172"/>
          </a:xfrm>
          <a:prstGeom prst="rect">
            <a:avLst/>
          </a:prstGeom>
          <a:no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1" i="0" u="none" strike="noStrike" kern="1200" cap="none" spc="0" normalizeH="0" baseline="0" noProof="0">
                <a:ln>
                  <a:noFill/>
                </a:ln>
                <a:solidFill>
                  <a:prstClr val="black">
                    <a:lumMod val="50000"/>
                    <a:lumOff val="50000"/>
                  </a:prstClr>
                </a:solidFill>
                <a:effectLst/>
                <a:uLnTx/>
                <a:uFillTx/>
                <a:latin typeface="Yekan Bakh" pitchFamily="2" charset="-78"/>
                <a:ea typeface="Yekan Bakh" pitchFamily="2" charset="-78"/>
                <a:cs typeface="Yekan Bakh" pitchFamily="2" charset="-78"/>
              </a:rPr>
              <a:t>معرفی‌کنندگان مشتری </a:t>
            </a:r>
          </a:p>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a:ln>
                  <a:noFill/>
                </a:ln>
                <a:solidFill>
                  <a:prstClr val="black">
                    <a:lumMod val="50000"/>
                    <a:lumOff val="50000"/>
                  </a:prstClr>
                </a:solidFill>
                <a:effectLst/>
                <a:uLnTx/>
                <a:uFillTx/>
                <a:latin typeface="Yekan Bakh" pitchFamily="2" charset="-78"/>
                <a:ea typeface="Yekan Bakh" pitchFamily="2" charset="-78"/>
                <a:cs typeface="Yekan Bakh" pitchFamily="2" charset="-78"/>
              </a:rPr>
              <a:t>(صنف‌ها، واسطه‌ها و اتاق‌های بازرگانی)</a:t>
            </a:r>
            <a:endParaRPr kumimoji="0" lang="en-US" sz="1100" b="0" i="0" u="none" strike="noStrike" kern="1200" cap="none" spc="0" normalizeH="0" baseline="0" noProof="0">
              <a:ln>
                <a:noFill/>
              </a:ln>
              <a:solidFill>
                <a:prstClr val="black">
                  <a:lumMod val="50000"/>
                  <a:lumOff val="50000"/>
                </a:prstClr>
              </a:solidFill>
              <a:effectLst/>
              <a:uLnTx/>
              <a:uFillTx/>
              <a:latin typeface="Yekan Bakh" pitchFamily="2" charset="-78"/>
              <a:ea typeface="Yekan Bakh" pitchFamily="2" charset="-78"/>
              <a:cs typeface="Yekan Bakh" pitchFamily="2" charset="-78"/>
            </a:endParaRPr>
          </a:p>
        </p:txBody>
      </p:sp>
      <p:sp>
        <p:nvSpPr>
          <p:cNvPr id="44" name="Rectangle 43">
            <a:extLst>
              <a:ext uri="{FF2B5EF4-FFF2-40B4-BE49-F238E27FC236}">
                <a16:creationId xmlns:a16="http://schemas.microsoft.com/office/drawing/2014/main" id="{E8C7D038-699C-AE8F-B13B-52F6E059A102}"/>
              </a:ext>
            </a:extLst>
          </p:cNvPr>
          <p:cNvSpPr/>
          <p:nvPr/>
        </p:nvSpPr>
        <p:spPr>
          <a:xfrm>
            <a:off x="7307942" y="5398474"/>
            <a:ext cx="3839483" cy="428172"/>
          </a:xfrm>
          <a:prstGeom prst="rect">
            <a:avLst/>
          </a:prstGeom>
          <a:no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1" i="0" u="none" strike="noStrike" kern="1200" cap="none" spc="0" normalizeH="0" baseline="0" noProof="0">
                <a:ln>
                  <a:noFill/>
                </a:ln>
                <a:solidFill>
                  <a:prstClr val="black">
                    <a:lumMod val="50000"/>
                    <a:lumOff val="50000"/>
                  </a:prstClr>
                </a:solidFill>
                <a:effectLst/>
                <a:uLnTx/>
                <a:uFillTx/>
                <a:latin typeface="Yekan Bakh" pitchFamily="2" charset="-78"/>
                <a:ea typeface="Yekan Bakh" pitchFamily="2" charset="-78"/>
                <a:cs typeface="Yekan Bakh" pitchFamily="2" charset="-78"/>
              </a:rPr>
              <a:t>فراهم‎کنندگان اطلاعات و دسترسی </a:t>
            </a:r>
          </a:p>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a:ln>
                  <a:noFill/>
                </a:ln>
                <a:solidFill>
                  <a:prstClr val="black">
                    <a:lumMod val="50000"/>
                    <a:lumOff val="50000"/>
                  </a:prstClr>
                </a:solidFill>
                <a:effectLst/>
                <a:uLnTx/>
                <a:uFillTx/>
                <a:latin typeface="Yekan Bakh" pitchFamily="2" charset="-78"/>
                <a:ea typeface="Yekan Bakh" pitchFamily="2" charset="-78"/>
                <a:cs typeface="Yekan Bakh" pitchFamily="2" charset="-78"/>
              </a:rPr>
              <a:t>(ایرانی‌های خارج از کشور، ...) </a:t>
            </a:r>
          </a:p>
        </p:txBody>
      </p:sp>
      <p:sp>
        <p:nvSpPr>
          <p:cNvPr id="6" name="Rectangle 5">
            <a:extLst>
              <a:ext uri="{FF2B5EF4-FFF2-40B4-BE49-F238E27FC236}">
                <a16:creationId xmlns:a16="http://schemas.microsoft.com/office/drawing/2014/main" id="{29978EE3-79DE-9E23-C2B4-F0145694B2E6}"/>
              </a:ext>
            </a:extLst>
          </p:cNvPr>
          <p:cNvSpPr/>
          <p:nvPr/>
        </p:nvSpPr>
        <p:spPr>
          <a:xfrm>
            <a:off x="5406272" y="1226464"/>
            <a:ext cx="1841950" cy="428172"/>
          </a:xfrm>
          <a:prstGeom prst="rect">
            <a:avLst/>
          </a:prstGeom>
          <a:solidFill>
            <a:srgbClr val="1E27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200" b="1" i="0" u="none" strike="noStrike" kern="1200" cap="none" spc="0" normalizeH="0" baseline="0" noProof="0">
                <a:ln>
                  <a:noFill/>
                </a:ln>
                <a:solidFill>
                  <a:schemeClr val="bg1"/>
                </a:solidFill>
                <a:effectLst/>
                <a:uLnTx/>
                <a:uFillTx/>
                <a:latin typeface="Yekan Bakh" pitchFamily="2" charset="-78"/>
                <a:ea typeface="Yekan Bakh" pitchFamily="2" charset="-78"/>
                <a:cs typeface="Yekan Bakh" pitchFamily="2" charset="-78"/>
              </a:rPr>
              <a:t>آیا پرداخت می‌کند؟</a:t>
            </a:r>
            <a:endParaRPr kumimoji="0" lang="en-US" sz="1200" b="1" i="0" u="none" strike="noStrike" kern="1200" cap="none" spc="0" normalizeH="0" baseline="0" noProof="0">
              <a:ln>
                <a:noFill/>
              </a:ln>
              <a:solidFill>
                <a:schemeClr val="bg1"/>
              </a:solidFill>
              <a:effectLst/>
              <a:uLnTx/>
              <a:uFillTx/>
              <a:latin typeface="Yekan Bakh" pitchFamily="2" charset="-78"/>
              <a:ea typeface="Yekan Bakh" pitchFamily="2" charset="-78"/>
              <a:cs typeface="Yekan Bakh" pitchFamily="2" charset="-78"/>
            </a:endParaRPr>
          </a:p>
        </p:txBody>
      </p:sp>
      <p:sp>
        <p:nvSpPr>
          <p:cNvPr id="11" name="Rectangle 10">
            <a:extLst>
              <a:ext uri="{FF2B5EF4-FFF2-40B4-BE49-F238E27FC236}">
                <a16:creationId xmlns:a16="http://schemas.microsoft.com/office/drawing/2014/main" id="{59B4E338-935D-2CC6-A20B-965A7CD7FE10}"/>
              </a:ext>
            </a:extLst>
          </p:cNvPr>
          <p:cNvSpPr/>
          <p:nvPr/>
        </p:nvSpPr>
        <p:spPr>
          <a:xfrm>
            <a:off x="5406272" y="1747058"/>
            <a:ext cx="1841950" cy="428172"/>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1" i="0" u="none" strike="noStrike" kern="1200" cap="none" spc="0" normalizeH="0" baseline="0" noProof="0">
                <a:ln>
                  <a:noFill/>
                </a:ln>
                <a:solidFill>
                  <a:srgbClr val="1E2761"/>
                </a:solidFill>
                <a:effectLst/>
                <a:uLnTx/>
                <a:uFillTx/>
                <a:latin typeface="Yekan Bakh" pitchFamily="2" charset="-78"/>
                <a:ea typeface="Yekan Bakh" pitchFamily="2" charset="-78"/>
                <a:cs typeface="Yekan Bakh" pitchFamily="2" charset="-78"/>
              </a:rPr>
              <a:t>بله </a:t>
            </a:r>
            <a:r>
              <a:rPr kumimoji="0" lang="fa-IR" sz="1100" b="0" i="0" u="none" strike="noStrike" kern="1200" cap="none" spc="0" normalizeH="0" baseline="0" noProof="0">
                <a:ln>
                  <a:noFill/>
                </a:ln>
                <a:solidFill>
                  <a:srgbClr val="1E2761"/>
                </a:solidFill>
                <a:effectLst/>
                <a:uLnTx/>
                <a:uFillTx/>
                <a:latin typeface="Yekan Bakh" pitchFamily="2" charset="-78"/>
                <a:ea typeface="Yekan Bakh" pitchFamily="2" charset="-78"/>
                <a:cs typeface="Yekan Bakh" pitchFamily="2" charset="-78"/>
              </a:rPr>
              <a:t>(حق‌الزحمه)</a:t>
            </a:r>
            <a:endParaRPr kumimoji="0" lang="en-US" sz="1100" b="0" i="0" u="none" strike="noStrike" kern="1200" cap="none" spc="0" normalizeH="0" baseline="0" noProof="0">
              <a:ln>
                <a:noFill/>
              </a:ln>
              <a:solidFill>
                <a:srgbClr val="1E2761"/>
              </a:solidFill>
              <a:effectLst/>
              <a:uLnTx/>
              <a:uFillTx/>
              <a:latin typeface="Yekan Bakh" pitchFamily="2" charset="-78"/>
              <a:ea typeface="Yekan Bakh" pitchFamily="2" charset="-78"/>
              <a:cs typeface="Yekan Bakh" pitchFamily="2" charset="-78"/>
            </a:endParaRPr>
          </a:p>
        </p:txBody>
      </p:sp>
      <p:sp>
        <p:nvSpPr>
          <p:cNvPr id="16" name="Rectangle 15">
            <a:extLst>
              <a:ext uri="{FF2B5EF4-FFF2-40B4-BE49-F238E27FC236}">
                <a16:creationId xmlns:a16="http://schemas.microsoft.com/office/drawing/2014/main" id="{2727FF93-4209-6440-2445-41E04433FD77}"/>
              </a:ext>
            </a:extLst>
          </p:cNvPr>
          <p:cNvSpPr/>
          <p:nvPr/>
        </p:nvSpPr>
        <p:spPr>
          <a:xfrm>
            <a:off x="5406272" y="2267652"/>
            <a:ext cx="1841950" cy="428172"/>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1" i="0" u="none" strike="noStrike" kern="1200" cap="none" spc="0" normalizeH="0" baseline="0" noProof="0">
                <a:ln>
                  <a:noFill/>
                </a:ln>
                <a:solidFill>
                  <a:srgbClr val="1E2761"/>
                </a:solidFill>
                <a:effectLst/>
                <a:uLnTx/>
                <a:uFillTx/>
                <a:latin typeface="Yekan Bakh" pitchFamily="2" charset="-78"/>
                <a:ea typeface="Yekan Bakh" pitchFamily="2" charset="-78"/>
                <a:cs typeface="Yekan Bakh" pitchFamily="2" charset="-78"/>
              </a:rPr>
              <a:t>بله </a:t>
            </a:r>
            <a:r>
              <a:rPr kumimoji="0" lang="fa-IR" sz="1100" b="0" i="0" u="none" strike="noStrike" kern="1200" cap="none" spc="0" normalizeH="0" baseline="0" noProof="0">
                <a:ln>
                  <a:noFill/>
                </a:ln>
                <a:solidFill>
                  <a:srgbClr val="1E2761"/>
                </a:solidFill>
                <a:effectLst/>
                <a:uLnTx/>
                <a:uFillTx/>
                <a:latin typeface="Yekan Bakh" pitchFamily="2" charset="-78"/>
                <a:ea typeface="Yekan Bakh" pitchFamily="2" charset="-78"/>
                <a:cs typeface="Yekan Bakh" pitchFamily="2" charset="-78"/>
              </a:rPr>
              <a:t>(حق‌الزحمه)</a:t>
            </a:r>
            <a:endParaRPr kumimoji="0" lang="en-US" sz="1100" b="0" i="0" u="none" strike="noStrike" kern="1200" cap="none" spc="0" normalizeH="0" baseline="0" noProof="0">
              <a:ln>
                <a:noFill/>
              </a:ln>
              <a:solidFill>
                <a:srgbClr val="1E2761"/>
              </a:solidFill>
              <a:effectLst/>
              <a:uLnTx/>
              <a:uFillTx/>
              <a:latin typeface="Yekan Bakh" pitchFamily="2" charset="-78"/>
              <a:ea typeface="Yekan Bakh" pitchFamily="2" charset="-78"/>
              <a:cs typeface="Yekan Bakh" pitchFamily="2" charset="-78"/>
            </a:endParaRPr>
          </a:p>
        </p:txBody>
      </p:sp>
      <p:sp>
        <p:nvSpPr>
          <p:cNvPr id="21" name="Rectangle 20">
            <a:extLst>
              <a:ext uri="{FF2B5EF4-FFF2-40B4-BE49-F238E27FC236}">
                <a16:creationId xmlns:a16="http://schemas.microsoft.com/office/drawing/2014/main" id="{9722FED0-67FF-F749-FE30-041FC1F3A601}"/>
              </a:ext>
            </a:extLst>
          </p:cNvPr>
          <p:cNvSpPr/>
          <p:nvPr/>
        </p:nvSpPr>
        <p:spPr>
          <a:xfrm>
            <a:off x="5406272" y="2788246"/>
            <a:ext cx="1841950" cy="428172"/>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1" i="0" u="none" strike="noStrike" kern="1200" cap="none" spc="0" normalizeH="0" baseline="0" noProof="0">
                <a:ln>
                  <a:noFill/>
                </a:ln>
                <a:solidFill>
                  <a:srgbClr val="1E2761"/>
                </a:solidFill>
                <a:effectLst/>
                <a:uLnTx/>
                <a:uFillTx/>
                <a:latin typeface="Yekan Bakh" pitchFamily="2" charset="-78"/>
                <a:ea typeface="Yekan Bakh" pitchFamily="2" charset="-78"/>
                <a:cs typeface="Yekan Bakh" pitchFamily="2" charset="-78"/>
              </a:rPr>
              <a:t>بله </a:t>
            </a:r>
            <a:r>
              <a:rPr kumimoji="0" lang="fa-IR" sz="1100" b="0" i="0" u="none" strike="noStrike" kern="1200" cap="none" spc="0" normalizeH="0" baseline="0" noProof="0">
                <a:ln>
                  <a:noFill/>
                </a:ln>
                <a:solidFill>
                  <a:srgbClr val="1E2761"/>
                </a:solidFill>
                <a:effectLst/>
                <a:uLnTx/>
                <a:uFillTx/>
                <a:latin typeface="Yekan Bakh" pitchFamily="2" charset="-78"/>
                <a:ea typeface="Yekan Bakh" pitchFamily="2" charset="-78"/>
                <a:cs typeface="Yekan Bakh" pitchFamily="2" charset="-78"/>
              </a:rPr>
              <a:t>(حق‌الزحمه + سهام)</a:t>
            </a:r>
            <a:endParaRPr kumimoji="0" lang="en-US" sz="1100" b="0" i="0" u="none" strike="noStrike" kern="1200" cap="none" spc="0" normalizeH="0" baseline="0" noProof="0">
              <a:ln>
                <a:noFill/>
              </a:ln>
              <a:solidFill>
                <a:srgbClr val="1E2761"/>
              </a:solidFill>
              <a:effectLst/>
              <a:uLnTx/>
              <a:uFillTx/>
              <a:latin typeface="Yekan Bakh" pitchFamily="2" charset="-78"/>
              <a:ea typeface="Yekan Bakh" pitchFamily="2" charset="-78"/>
              <a:cs typeface="Yekan Bakh" pitchFamily="2" charset="-78"/>
            </a:endParaRPr>
          </a:p>
        </p:txBody>
      </p:sp>
      <p:sp>
        <p:nvSpPr>
          <p:cNvPr id="26" name="Rectangle 25">
            <a:extLst>
              <a:ext uri="{FF2B5EF4-FFF2-40B4-BE49-F238E27FC236}">
                <a16:creationId xmlns:a16="http://schemas.microsoft.com/office/drawing/2014/main" id="{6BC12600-06A4-1E95-8FC6-AE803EFD8D15}"/>
              </a:ext>
            </a:extLst>
          </p:cNvPr>
          <p:cNvSpPr/>
          <p:nvPr/>
        </p:nvSpPr>
        <p:spPr>
          <a:xfrm>
            <a:off x="5406272" y="3308840"/>
            <a:ext cx="1841950" cy="428172"/>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1" i="0" u="none" strike="noStrike" kern="1200" cap="none" spc="0" normalizeH="0" baseline="0" noProof="0">
                <a:ln>
                  <a:noFill/>
                </a:ln>
                <a:solidFill>
                  <a:srgbClr val="1E2761"/>
                </a:solidFill>
                <a:effectLst/>
                <a:uLnTx/>
                <a:uFillTx/>
                <a:latin typeface="Yekan Bakh" pitchFamily="2" charset="-78"/>
                <a:ea typeface="Yekan Bakh" pitchFamily="2" charset="-78"/>
                <a:cs typeface="Yekan Bakh" pitchFamily="2" charset="-78"/>
              </a:rPr>
              <a:t>بله </a:t>
            </a:r>
            <a:r>
              <a:rPr kumimoji="0" lang="fa-IR" sz="1100" b="0" i="0" u="none" strike="noStrike" kern="1200" cap="none" spc="0" normalizeH="0" baseline="0" noProof="0">
                <a:ln>
                  <a:noFill/>
                </a:ln>
                <a:solidFill>
                  <a:srgbClr val="1E2761"/>
                </a:solidFill>
                <a:effectLst/>
                <a:uLnTx/>
                <a:uFillTx/>
                <a:latin typeface="Yekan Bakh" pitchFamily="2" charset="-78"/>
                <a:ea typeface="Yekan Bakh" pitchFamily="2" charset="-78"/>
                <a:cs typeface="Yekan Bakh" pitchFamily="2" charset="-78"/>
              </a:rPr>
              <a:t>(حق‌الزحمه+ سهم سود)</a:t>
            </a:r>
            <a:endParaRPr kumimoji="0" lang="en-US" sz="1100" b="0" i="0" u="none" strike="noStrike" kern="1200" cap="none" spc="0" normalizeH="0" baseline="0" noProof="0">
              <a:ln>
                <a:noFill/>
              </a:ln>
              <a:solidFill>
                <a:srgbClr val="1E2761"/>
              </a:solidFill>
              <a:effectLst/>
              <a:uLnTx/>
              <a:uFillTx/>
              <a:latin typeface="Yekan Bakh" pitchFamily="2" charset="-78"/>
              <a:ea typeface="Yekan Bakh" pitchFamily="2" charset="-78"/>
              <a:cs typeface="Yekan Bakh" pitchFamily="2" charset="-78"/>
            </a:endParaRPr>
          </a:p>
        </p:txBody>
      </p:sp>
      <p:sp>
        <p:nvSpPr>
          <p:cNvPr id="31" name="Rectangle 30">
            <a:extLst>
              <a:ext uri="{FF2B5EF4-FFF2-40B4-BE49-F238E27FC236}">
                <a16:creationId xmlns:a16="http://schemas.microsoft.com/office/drawing/2014/main" id="{3DCEA0FE-27B2-35CC-97E8-2DA60C321537}"/>
              </a:ext>
            </a:extLst>
          </p:cNvPr>
          <p:cNvSpPr/>
          <p:nvPr/>
        </p:nvSpPr>
        <p:spPr>
          <a:xfrm>
            <a:off x="5406272" y="3829434"/>
            <a:ext cx="1841950" cy="428172"/>
          </a:xfrm>
          <a:prstGeom prst="rect">
            <a:avLst/>
          </a:prstGeom>
          <a:no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1" i="0" u="none" strike="noStrike" kern="1200" cap="none" spc="0" normalizeH="0" baseline="0" noProof="0">
                <a:ln>
                  <a:noFill/>
                </a:ln>
                <a:solidFill>
                  <a:prstClr val="black">
                    <a:lumMod val="50000"/>
                    <a:lumOff val="50000"/>
                  </a:prstClr>
                </a:solidFill>
                <a:effectLst/>
                <a:uLnTx/>
                <a:uFillTx/>
                <a:latin typeface="Yekan Bakh" pitchFamily="2" charset="-78"/>
                <a:ea typeface="Yekan Bakh" pitchFamily="2" charset="-78"/>
                <a:cs typeface="Yekan Bakh" pitchFamily="2" charset="-78"/>
              </a:rPr>
              <a:t>خیر </a:t>
            </a:r>
            <a:r>
              <a:rPr kumimoji="0" lang="fa-IR" sz="1100" b="0" i="0" u="none" strike="noStrike" kern="1200" cap="none" spc="0" normalizeH="0" baseline="0" noProof="0">
                <a:ln>
                  <a:noFill/>
                </a:ln>
                <a:solidFill>
                  <a:prstClr val="black">
                    <a:lumMod val="50000"/>
                    <a:lumOff val="50000"/>
                  </a:prstClr>
                </a:solidFill>
                <a:effectLst/>
                <a:uLnTx/>
                <a:uFillTx/>
                <a:latin typeface="Yekan Bakh" pitchFamily="2" charset="-78"/>
                <a:ea typeface="Yekan Bakh" pitchFamily="2" charset="-78"/>
                <a:cs typeface="Yekan Bakh" pitchFamily="2" charset="-78"/>
              </a:rPr>
              <a:t>(به او پرداخت می‌شود)</a:t>
            </a:r>
            <a:endParaRPr kumimoji="0" lang="en-US" sz="1100" b="0" i="0" u="none" strike="noStrike" kern="1200" cap="none" spc="0" normalizeH="0" baseline="0" noProof="0">
              <a:ln>
                <a:noFill/>
              </a:ln>
              <a:solidFill>
                <a:prstClr val="black">
                  <a:lumMod val="50000"/>
                  <a:lumOff val="50000"/>
                </a:prstClr>
              </a:solidFill>
              <a:effectLst/>
              <a:uLnTx/>
              <a:uFillTx/>
              <a:latin typeface="Yekan Bakh" pitchFamily="2" charset="-78"/>
              <a:ea typeface="Yekan Bakh" pitchFamily="2" charset="-78"/>
              <a:cs typeface="Yekan Bakh" pitchFamily="2" charset="-78"/>
            </a:endParaRPr>
          </a:p>
        </p:txBody>
      </p:sp>
      <p:sp>
        <p:nvSpPr>
          <p:cNvPr id="36" name="Rectangle 35">
            <a:extLst>
              <a:ext uri="{FF2B5EF4-FFF2-40B4-BE49-F238E27FC236}">
                <a16:creationId xmlns:a16="http://schemas.microsoft.com/office/drawing/2014/main" id="{1F37B017-EA76-2696-EE83-E40ED93B2C2A}"/>
              </a:ext>
            </a:extLst>
          </p:cNvPr>
          <p:cNvSpPr/>
          <p:nvPr/>
        </p:nvSpPr>
        <p:spPr>
          <a:xfrm>
            <a:off x="5406272" y="4350028"/>
            <a:ext cx="1841950" cy="428172"/>
          </a:xfrm>
          <a:prstGeom prst="rect">
            <a:avLst/>
          </a:prstGeom>
          <a:no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1" i="0" u="none" strike="noStrike" kern="1200" cap="none" spc="0" normalizeH="0" baseline="0" noProof="0">
                <a:ln>
                  <a:noFill/>
                </a:ln>
                <a:solidFill>
                  <a:prstClr val="black">
                    <a:lumMod val="50000"/>
                    <a:lumOff val="50000"/>
                  </a:prstClr>
                </a:solidFill>
                <a:effectLst/>
                <a:uLnTx/>
                <a:uFillTx/>
                <a:latin typeface="Yekan Bakh" pitchFamily="2" charset="-78"/>
                <a:ea typeface="Yekan Bakh" pitchFamily="2" charset="-78"/>
                <a:cs typeface="Yekan Bakh" pitchFamily="2" charset="-78"/>
              </a:rPr>
              <a:t>خیر</a:t>
            </a:r>
            <a:endParaRPr kumimoji="0" lang="en-US" sz="1100" b="1" i="0" u="none" strike="noStrike" kern="1200" cap="none" spc="0" normalizeH="0" baseline="0" noProof="0">
              <a:ln>
                <a:noFill/>
              </a:ln>
              <a:solidFill>
                <a:prstClr val="black">
                  <a:lumMod val="50000"/>
                  <a:lumOff val="50000"/>
                </a:prstClr>
              </a:solidFill>
              <a:effectLst/>
              <a:uLnTx/>
              <a:uFillTx/>
              <a:latin typeface="Yekan Bakh" pitchFamily="2" charset="-78"/>
              <a:ea typeface="Yekan Bakh" pitchFamily="2" charset="-78"/>
              <a:cs typeface="Yekan Bakh" pitchFamily="2" charset="-78"/>
            </a:endParaRPr>
          </a:p>
        </p:txBody>
      </p:sp>
      <p:sp>
        <p:nvSpPr>
          <p:cNvPr id="41" name="Rectangle 40">
            <a:extLst>
              <a:ext uri="{FF2B5EF4-FFF2-40B4-BE49-F238E27FC236}">
                <a16:creationId xmlns:a16="http://schemas.microsoft.com/office/drawing/2014/main" id="{0A7F5BD5-D9AA-9B66-8110-1889B5F44725}"/>
              </a:ext>
            </a:extLst>
          </p:cNvPr>
          <p:cNvSpPr/>
          <p:nvPr/>
        </p:nvSpPr>
        <p:spPr>
          <a:xfrm>
            <a:off x="5406272" y="4870622"/>
            <a:ext cx="1841950" cy="428172"/>
          </a:xfrm>
          <a:prstGeom prst="rect">
            <a:avLst/>
          </a:prstGeom>
          <a:no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1" i="0" u="none" strike="noStrike" kern="1200" cap="none" spc="0" normalizeH="0" baseline="0" noProof="0">
                <a:ln>
                  <a:noFill/>
                </a:ln>
                <a:solidFill>
                  <a:prstClr val="black">
                    <a:lumMod val="50000"/>
                    <a:lumOff val="50000"/>
                  </a:prstClr>
                </a:solidFill>
                <a:effectLst/>
                <a:uLnTx/>
                <a:uFillTx/>
                <a:latin typeface="Yekan Bakh" pitchFamily="2" charset="-78"/>
                <a:ea typeface="Yekan Bakh" pitchFamily="2" charset="-78"/>
                <a:cs typeface="Yekan Bakh" pitchFamily="2" charset="-78"/>
              </a:rPr>
              <a:t>خیر </a:t>
            </a:r>
            <a:r>
              <a:rPr kumimoji="0" lang="fa-IR" sz="1100" b="0" i="0" u="none" strike="noStrike" kern="1200" cap="none" spc="0" normalizeH="0" baseline="0" noProof="0">
                <a:ln>
                  <a:noFill/>
                </a:ln>
                <a:solidFill>
                  <a:prstClr val="black">
                    <a:lumMod val="50000"/>
                    <a:lumOff val="50000"/>
                  </a:prstClr>
                </a:solidFill>
                <a:effectLst/>
                <a:uLnTx/>
                <a:uFillTx/>
                <a:latin typeface="Yekan Bakh" pitchFamily="2" charset="-78"/>
                <a:ea typeface="Yekan Bakh" pitchFamily="2" charset="-78"/>
                <a:cs typeface="Yekan Bakh" pitchFamily="2" charset="-78"/>
              </a:rPr>
              <a:t>(به او پرداخت می‌شود)</a:t>
            </a:r>
            <a:endParaRPr kumimoji="0" lang="en-US" sz="1100" b="0" i="0" u="none" strike="noStrike" kern="1200" cap="none" spc="0" normalizeH="0" baseline="0" noProof="0">
              <a:ln>
                <a:noFill/>
              </a:ln>
              <a:solidFill>
                <a:prstClr val="black">
                  <a:lumMod val="50000"/>
                  <a:lumOff val="50000"/>
                </a:prstClr>
              </a:solidFill>
              <a:effectLst/>
              <a:uLnTx/>
              <a:uFillTx/>
              <a:latin typeface="Yekan Bakh" pitchFamily="2" charset="-78"/>
              <a:ea typeface="Yekan Bakh" pitchFamily="2" charset="-78"/>
              <a:cs typeface="Yekan Bakh" pitchFamily="2" charset="-78"/>
            </a:endParaRPr>
          </a:p>
        </p:txBody>
      </p:sp>
      <p:sp>
        <p:nvSpPr>
          <p:cNvPr id="46" name="Rectangle 45">
            <a:extLst>
              <a:ext uri="{FF2B5EF4-FFF2-40B4-BE49-F238E27FC236}">
                <a16:creationId xmlns:a16="http://schemas.microsoft.com/office/drawing/2014/main" id="{BACCF0C0-AB7B-80E8-EADC-50D7D086CCAF}"/>
              </a:ext>
            </a:extLst>
          </p:cNvPr>
          <p:cNvSpPr/>
          <p:nvPr/>
        </p:nvSpPr>
        <p:spPr>
          <a:xfrm>
            <a:off x="5406272" y="5398474"/>
            <a:ext cx="1841950" cy="428172"/>
          </a:xfrm>
          <a:prstGeom prst="rect">
            <a:avLst/>
          </a:prstGeom>
          <a:no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1" i="0" u="none" strike="noStrike" kern="1200" cap="none" spc="0" normalizeH="0" baseline="0" noProof="0">
                <a:ln>
                  <a:noFill/>
                </a:ln>
                <a:solidFill>
                  <a:prstClr val="black">
                    <a:lumMod val="50000"/>
                    <a:lumOff val="50000"/>
                  </a:prstClr>
                </a:solidFill>
                <a:effectLst/>
                <a:uLnTx/>
                <a:uFillTx/>
                <a:latin typeface="Yekan Bakh" pitchFamily="2" charset="-78"/>
                <a:ea typeface="Yekan Bakh" pitchFamily="2" charset="-78"/>
                <a:cs typeface="Yekan Bakh" pitchFamily="2" charset="-78"/>
              </a:rPr>
              <a:t>خیر </a:t>
            </a:r>
            <a:r>
              <a:rPr kumimoji="0" lang="fa-IR" sz="1100" b="0" i="0" u="none" strike="noStrike" kern="1200" cap="none" spc="0" normalizeH="0" baseline="0" noProof="0">
                <a:ln>
                  <a:noFill/>
                </a:ln>
                <a:solidFill>
                  <a:prstClr val="black">
                    <a:lumMod val="50000"/>
                    <a:lumOff val="50000"/>
                  </a:prstClr>
                </a:solidFill>
                <a:effectLst/>
                <a:uLnTx/>
                <a:uFillTx/>
                <a:latin typeface="Yekan Bakh" pitchFamily="2" charset="-78"/>
                <a:ea typeface="Yekan Bakh" pitchFamily="2" charset="-78"/>
                <a:cs typeface="Yekan Bakh" pitchFamily="2" charset="-78"/>
              </a:rPr>
              <a:t>(به او پرداخت می‌شود)</a:t>
            </a:r>
            <a:endParaRPr kumimoji="0" lang="en-US" sz="1100" b="0" i="0" u="none" strike="noStrike" kern="1200" cap="none" spc="0" normalizeH="0" baseline="0" noProof="0">
              <a:ln>
                <a:noFill/>
              </a:ln>
              <a:solidFill>
                <a:prstClr val="black">
                  <a:lumMod val="50000"/>
                  <a:lumOff val="50000"/>
                </a:prstClr>
              </a:solidFill>
              <a:effectLst/>
              <a:uLnTx/>
              <a:uFillTx/>
              <a:latin typeface="Yekan Bakh" pitchFamily="2" charset="-78"/>
              <a:ea typeface="Yekan Bakh" pitchFamily="2" charset="-78"/>
              <a:cs typeface="Yekan Bakh" pitchFamily="2" charset="-78"/>
            </a:endParaRPr>
          </a:p>
        </p:txBody>
      </p:sp>
      <p:sp>
        <p:nvSpPr>
          <p:cNvPr id="7" name="Rectangle 6">
            <a:extLst>
              <a:ext uri="{FF2B5EF4-FFF2-40B4-BE49-F238E27FC236}">
                <a16:creationId xmlns:a16="http://schemas.microsoft.com/office/drawing/2014/main" id="{2C300483-3EAA-3DC1-29A0-B56D3D7B9A30}"/>
              </a:ext>
            </a:extLst>
          </p:cNvPr>
          <p:cNvSpPr/>
          <p:nvPr/>
        </p:nvSpPr>
        <p:spPr>
          <a:xfrm>
            <a:off x="4247092" y="1226464"/>
            <a:ext cx="1099459" cy="428172"/>
          </a:xfrm>
          <a:prstGeom prst="rect">
            <a:avLst/>
          </a:prstGeom>
          <a:solidFill>
            <a:srgbClr val="1E27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200" b="1" i="0" u="none" strike="noStrike" kern="1200" cap="none" spc="0" normalizeH="0" baseline="0" noProof="0">
                <a:ln>
                  <a:noFill/>
                </a:ln>
                <a:solidFill>
                  <a:schemeClr val="bg1"/>
                </a:solidFill>
                <a:effectLst/>
                <a:uLnTx/>
                <a:uFillTx/>
                <a:latin typeface="Yekan Bakh" pitchFamily="2" charset="-78"/>
                <a:ea typeface="Yekan Bakh" pitchFamily="2" charset="-78"/>
                <a:cs typeface="Yekan Bakh" pitchFamily="2" charset="-78"/>
              </a:rPr>
              <a:t>مشتری است؟</a:t>
            </a:r>
            <a:endParaRPr kumimoji="0" lang="en-US" sz="1200" b="1" i="0" u="none" strike="noStrike" kern="1200" cap="none" spc="0" normalizeH="0" baseline="0" noProof="0">
              <a:ln>
                <a:noFill/>
              </a:ln>
              <a:solidFill>
                <a:schemeClr val="bg1"/>
              </a:solidFill>
              <a:effectLst/>
              <a:uLnTx/>
              <a:uFillTx/>
              <a:latin typeface="Yekan Bakh" pitchFamily="2" charset="-78"/>
              <a:ea typeface="Yekan Bakh" pitchFamily="2" charset="-78"/>
              <a:cs typeface="Yekan Bakh" pitchFamily="2" charset="-78"/>
            </a:endParaRPr>
          </a:p>
        </p:txBody>
      </p:sp>
      <p:sp>
        <p:nvSpPr>
          <p:cNvPr id="12" name="Rectangle 11">
            <a:extLst>
              <a:ext uri="{FF2B5EF4-FFF2-40B4-BE49-F238E27FC236}">
                <a16:creationId xmlns:a16="http://schemas.microsoft.com/office/drawing/2014/main" id="{639D5E4D-D2F6-14F7-ECAA-82FC5960BD16}"/>
              </a:ext>
            </a:extLst>
          </p:cNvPr>
          <p:cNvSpPr/>
          <p:nvPr/>
        </p:nvSpPr>
        <p:spPr>
          <a:xfrm>
            <a:off x="4247092" y="1747058"/>
            <a:ext cx="1099459" cy="428172"/>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1E2761"/>
                </a:solidFill>
                <a:effectLst/>
                <a:uLnTx/>
                <a:uFillTx/>
                <a:latin typeface="Yekan Bakh" pitchFamily="2" charset="-78"/>
                <a:ea typeface="Yekan Bakh" pitchFamily="2" charset="-78"/>
                <a:cs typeface="Yekan Bakh" pitchFamily="2" charset="-78"/>
                <a:sym typeface="Wingdings 2" panose="05020102010507070707" pitchFamily="18" charset="2"/>
              </a:rPr>
              <a:t></a:t>
            </a:r>
            <a:endParaRPr kumimoji="0" lang="en-US" sz="2000" b="1" i="0" u="none" strike="noStrike" kern="1200" cap="none" spc="0" normalizeH="0" baseline="0" noProof="0">
              <a:ln>
                <a:noFill/>
              </a:ln>
              <a:solidFill>
                <a:srgbClr val="1E2761"/>
              </a:solidFill>
              <a:effectLst/>
              <a:uLnTx/>
              <a:uFillTx/>
              <a:latin typeface="Yekan Bakh" pitchFamily="2" charset="-78"/>
              <a:ea typeface="Yekan Bakh" pitchFamily="2" charset="-78"/>
              <a:cs typeface="Yekan Bakh" pitchFamily="2" charset="-78"/>
            </a:endParaRPr>
          </a:p>
        </p:txBody>
      </p:sp>
      <p:sp>
        <p:nvSpPr>
          <p:cNvPr id="17" name="Rectangle 16">
            <a:extLst>
              <a:ext uri="{FF2B5EF4-FFF2-40B4-BE49-F238E27FC236}">
                <a16:creationId xmlns:a16="http://schemas.microsoft.com/office/drawing/2014/main" id="{434E3F90-6C86-85DF-E8A2-B5E2DEF1FA20}"/>
              </a:ext>
            </a:extLst>
          </p:cNvPr>
          <p:cNvSpPr/>
          <p:nvPr/>
        </p:nvSpPr>
        <p:spPr>
          <a:xfrm>
            <a:off x="4247092" y="2267652"/>
            <a:ext cx="1099459" cy="428172"/>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1E2761"/>
                </a:solidFill>
                <a:effectLst/>
                <a:uLnTx/>
                <a:uFillTx/>
                <a:latin typeface="Yekan Bakh" pitchFamily="2" charset="-78"/>
                <a:ea typeface="Yekan Bakh" pitchFamily="2" charset="-78"/>
                <a:cs typeface="Yekan Bakh" pitchFamily="2" charset="-78"/>
                <a:sym typeface="Wingdings 2" panose="05020102010507070707" pitchFamily="18" charset="2"/>
              </a:rPr>
              <a:t></a:t>
            </a:r>
            <a:endParaRPr kumimoji="0" lang="en-US" sz="2000" b="1" i="0" u="none" strike="noStrike" kern="1200" cap="none" spc="0" normalizeH="0" baseline="0" noProof="0">
              <a:ln>
                <a:noFill/>
              </a:ln>
              <a:solidFill>
                <a:srgbClr val="1E2761"/>
              </a:solidFill>
              <a:effectLst/>
              <a:uLnTx/>
              <a:uFillTx/>
              <a:latin typeface="Yekan Bakh" pitchFamily="2" charset="-78"/>
              <a:ea typeface="Yekan Bakh" pitchFamily="2" charset="-78"/>
              <a:cs typeface="Yekan Bakh" pitchFamily="2" charset="-78"/>
            </a:endParaRPr>
          </a:p>
        </p:txBody>
      </p:sp>
      <p:sp>
        <p:nvSpPr>
          <p:cNvPr id="22" name="Rectangle 21">
            <a:extLst>
              <a:ext uri="{FF2B5EF4-FFF2-40B4-BE49-F238E27FC236}">
                <a16:creationId xmlns:a16="http://schemas.microsoft.com/office/drawing/2014/main" id="{2E9B2BDB-B761-3BDC-E106-E904CD5EBD54}"/>
              </a:ext>
            </a:extLst>
          </p:cNvPr>
          <p:cNvSpPr/>
          <p:nvPr/>
        </p:nvSpPr>
        <p:spPr>
          <a:xfrm>
            <a:off x="4247092" y="2788246"/>
            <a:ext cx="1099459" cy="428172"/>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1E2761"/>
                </a:solidFill>
                <a:effectLst/>
                <a:uLnTx/>
                <a:uFillTx/>
                <a:latin typeface="Yekan Bakh" pitchFamily="2" charset="-78"/>
                <a:ea typeface="Yekan Bakh" pitchFamily="2" charset="-78"/>
                <a:cs typeface="Yekan Bakh" pitchFamily="2" charset="-78"/>
                <a:sym typeface="Wingdings 2" panose="05020102010507070707" pitchFamily="18" charset="2"/>
              </a:rPr>
              <a:t></a:t>
            </a:r>
            <a:endParaRPr kumimoji="0" lang="en-US" sz="2000" b="1" i="0" u="none" strike="noStrike" kern="1200" cap="none" spc="0" normalizeH="0" baseline="0" noProof="0">
              <a:ln>
                <a:noFill/>
              </a:ln>
              <a:solidFill>
                <a:srgbClr val="1E2761"/>
              </a:solidFill>
              <a:effectLst/>
              <a:uLnTx/>
              <a:uFillTx/>
              <a:latin typeface="Yekan Bakh" pitchFamily="2" charset="-78"/>
              <a:ea typeface="Yekan Bakh" pitchFamily="2" charset="-78"/>
              <a:cs typeface="Yekan Bakh" pitchFamily="2" charset="-78"/>
            </a:endParaRPr>
          </a:p>
        </p:txBody>
      </p:sp>
      <p:sp>
        <p:nvSpPr>
          <p:cNvPr id="27" name="Rectangle 26">
            <a:extLst>
              <a:ext uri="{FF2B5EF4-FFF2-40B4-BE49-F238E27FC236}">
                <a16:creationId xmlns:a16="http://schemas.microsoft.com/office/drawing/2014/main" id="{A954A9E7-9BEE-F9BA-051F-D26A0C6F9872}"/>
              </a:ext>
            </a:extLst>
          </p:cNvPr>
          <p:cNvSpPr/>
          <p:nvPr/>
        </p:nvSpPr>
        <p:spPr>
          <a:xfrm>
            <a:off x="4247092" y="3308840"/>
            <a:ext cx="1099459" cy="428172"/>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1E2761"/>
                </a:solidFill>
                <a:effectLst/>
                <a:uLnTx/>
                <a:uFillTx/>
                <a:latin typeface="Yekan Bakh" pitchFamily="2" charset="-78"/>
                <a:ea typeface="Yekan Bakh" pitchFamily="2" charset="-78"/>
                <a:cs typeface="Yekan Bakh" pitchFamily="2" charset="-78"/>
                <a:sym typeface="Wingdings 2" panose="05020102010507070707" pitchFamily="18" charset="2"/>
              </a:rPr>
              <a:t></a:t>
            </a:r>
            <a:endParaRPr kumimoji="0" lang="en-US" sz="2000" b="1" i="0" u="none" strike="noStrike" kern="1200" cap="none" spc="0" normalizeH="0" baseline="0" noProof="0">
              <a:ln>
                <a:noFill/>
              </a:ln>
              <a:solidFill>
                <a:srgbClr val="1E2761"/>
              </a:solidFill>
              <a:effectLst/>
              <a:uLnTx/>
              <a:uFillTx/>
              <a:latin typeface="Yekan Bakh" pitchFamily="2" charset="-78"/>
              <a:ea typeface="Yekan Bakh" pitchFamily="2" charset="-78"/>
              <a:cs typeface="Yekan Bakh" pitchFamily="2" charset="-78"/>
            </a:endParaRPr>
          </a:p>
        </p:txBody>
      </p:sp>
      <p:sp>
        <p:nvSpPr>
          <p:cNvPr id="32" name="Rectangle 31">
            <a:extLst>
              <a:ext uri="{FF2B5EF4-FFF2-40B4-BE49-F238E27FC236}">
                <a16:creationId xmlns:a16="http://schemas.microsoft.com/office/drawing/2014/main" id="{4C7E6DCE-F3CA-8220-544C-F142D1E2D641}"/>
              </a:ext>
            </a:extLst>
          </p:cNvPr>
          <p:cNvSpPr/>
          <p:nvPr/>
        </p:nvSpPr>
        <p:spPr>
          <a:xfrm>
            <a:off x="4247092" y="3829434"/>
            <a:ext cx="1099459" cy="428172"/>
          </a:xfrm>
          <a:prstGeom prst="rect">
            <a:avLst/>
          </a:prstGeom>
          <a:no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b="0" i="0" u="none" strike="noStrike" kern="1200" cap="none" spc="0" normalizeH="0" baseline="0" noProof="0">
                <a:ln>
                  <a:noFill/>
                </a:ln>
                <a:solidFill>
                  <a:prstClr val="black">
                    <a:lumMod val="50000"/>
                    <a:lumOff val="50000"/>
                  </a:prstClr>
                </a:solidFill>
                <a:effectLst/>
                <a:uLnTx/>
                <a:uFillTx/>
                <a:latin typeface="Yekan Bakh" pitchFamily="2" charset="-78"/>
                <a:ea typeface="Yekan Bakh" pitchFamily="2" charset="-78"/>
                <a:cs typeface="Yekan Bakh" pitchFamily="2" charset="-78"/>
              </a:rPr>
              <a:t>×</a:t>
            </a:r>
            <a:endParaRPr kumimoji="0" lang="en-US" b="0" i="0" u="none" strike="noStrike" kern="1200" cap="none" spc="0" normalizeH="0" baseline="0" noProof="0">
              <a:ln>
                <a:noFill/>
              </a:ln>
              <a:solidFill>
                <a:prstClr val="black">
                  <a:lumMod val="50000"/>
                  <a:lumOff val="50000"/>
                </a:prstClr>
              </a:solidFill>
              <a:effectLst/>
              <a:uLnTx/>
              <a:uFillTx/>
              <a:latin typeface="Yekan Bakh" pitchFamily="2" charset="-78"/>
              <a:ea typeface="Yekan Bakh" pitchFamily="2" charset="-78"/>
              <a:cs typeface="Yekan Bakh" pitchFamily="2" charset="-78"/>
            </a:endParaRPr>
          </a:p>
        </p:txBody>
      </p:sp>
      <p:sp>
        <p:nvSpPr>
          <p:cNvPr id="37" name="Rectangle 36">
            <a:extLst>
              <a:ext uri="{FF2B5EF4-FFF2-40B4-BE49-F238E27FC236}">
                <a16:creationId xmlns:a16="http://schemas.microsoft.com/office/drawing/2014/main" id="{2A1953FB-21B4-0F3F-5B79-03B84B3696CC}"/>
              </a:ext>
            </a:extLst>
          </p:cNvPr>
          <p:cNvSpPr/>
          <p:nvPr/>
        </p:nvSpPr>
        <p:spPr>
          <a:xfrm>
            <a:off x="4247092" y="4350028"/>
            <a:ext cx="1099459" cy="428172"/>
          </a:xfrm>
          <a:prstGeom prst="rect">
            <a:avLst/>
          </a:prstGeom>
          <a:no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b="0" i="0" u="none" strike="noStrike" kern="1200" cap="none" spc="0" normalizeH="0" baseline="0" noProof="0">
                <a:ln>
                  <a:noFill/>
                </a:ln>
                <a:solidFill>
                  <a:prstClr val="black">
                    <a:lumMod val="50000"/>
                    <a:lumOff val="50000"/>
                  </a:prstClr>
                </a:solidFill>
                <a:effectLst/>
                <a:uLnTx/>
                <a:uFillTx/>
                <a:latin typeface="Yekan Bakh" pitchFamily="2" charset="-78"/>
                <a:ea typeface="Yekan Bakh" pitchFamily="2" charset="-78"/>
                <a:cs typeface="Yekan Bakh" pitchFamily="2" charset="-78"/>
              </a:rPr>
              <a:t>×</a:t>
            </a:r>
            <a:endParaRPr kumimoji="0" lang="en-US" b="0" i="0" u="none" strike="noStrike" kern="1200" cap="none" spc="0" normalizeH="0" baseline="0" noProof="0">
              <a:ln>
                <a:noFill/>
              </a:ln>
              <a:solidFill>
                <a:prstClr val="black">
                  <a:lumMod val="50000"/>
                  <a:lumOff val="50000"/>
                </a:prstClr>
              </a:solidFill>
              <a:effectLst/>
              <a:uLnTx/>
              <a:uFillTx/>
              <a:latin typeface="Yekan Bakh" pitchFamily="2" charset="-78"/>
              <a:ea typeface="Yekan Bakh" pitchFamily="2" charset="-78"/>
              <a:cs typeface="Yekan Bakh" pitchFamily="2" charset="-78"/>
            </a:endParaRPr>
          </a:p>
        </p:txBody>
      </p:sp>
      <p:sp>
        <p:nvSpPr>
          <p:cNvPr id="42" name="Rectangle 41">
            <a:extLst>
              <a:ext uri="{FF2B5EF4-FFF2-40B4-BE49-F238E27FC236}">
                <a16:creationId xmlns:a16="http://schemas.microsoft.com/office/drawing/2014/main" id="{5873E073-9E5F-0216-0D5C-FED85F03E86E}"/>
              </a:ext>
            </a:extLst>
          </p:cNvPr>
          <p:cNvSpPr/>
          <p:nvPr/>
        </p:nvSpPr>
        <p:spPr>
          <a:xfrm>
            <a:off x="4247092" y="4870622"/>
            <a:ext cx="1099459" cy="428172"/>
          </a:xfrm>
          <a:prstGeom prst="rect">
            <a:avLst/>
          </a:prstGeom>
          <a:no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b="0" i="0" u="none" strike="noStrike" kern="1200" cap="none" spc="0" normalizeH="0" baseline="0" noProof="0">
                <a:ln>
                  <a:noFill/>
                </a:ln>
                <a:solidFill>
                  <a:prstClr val="black">
                    <a:lumMod val="50000"/>
                    <a:lumOff val="50000"/>
                  </a:prstClr>
                </a:solidFill>
                <a:effectLst/>
                <a:uLnTx/>
                <a:uFillTx/>
                <a:latin typeface="Yekan Bakh" pitchFamily="2" charset="-78"/>
                <a:ea typeface="Yekan Bakh" pitchFamily="2" charset="-78"/>
                <a:cs typeface="Yekan Bakh" pitchFamily="2" charset="-78"/>
              </a:rPr>
              <a:t>×</a:t>
            </a:r>
            <a:endParaRPr kumimoji="0" lang="en-US" b="0" i="0" u="none" strike="noStrike" kern="1200" cap="none" spc="0" normalizeH="0" baseline="0" noProof="0">
              <a:ln>
                <a:noFill/>
              </a:ln>
              <a:solidFill>
                <a:prstClr val="black">
                  <a:lumMod val="50000"/>
                  <a:lumOff val="50000"/>
                </a:prstClr>
              </a:solidFill>
              <a:effectLst/>
              <a:uLnTx/>
              <a:uFillTx/>
              <a:latin typeface="Yekan Bakh" pitchFamily="2" charset="-78"/>
              <a:ea typeface="Yekan Bakh" pitchFamily="2" charset="-78"/>
              <a:cs typeface="Yekan Bakh" pitchFamily="2" charset="-78"/>
            </a:endParaRPr>
          </a:p>
        </p:txBody>
      </p:sp>
      <p:sp>
        <p:nvSpPr>
          <p:cNvPr id="47" name="Rectangle 46">
            <a:extLst>
              <a:ext uri="{FF2B5EF4-FFF2-40B4-BE49-F238E27FC236}">
                <a16:creationId xmlns:a16="http://schemas.microsoft.com/office/drawing/2014/main" id="{C938B23B-E758-60D6-96ED-67C987065302}"/>
              </a:ext>
            </a:extLst>
          </p:cNvPr>
          <p:cNvSpPr/>
          <p:nvPr/>
        </p:nvSpPr>
        <p:spPr>
          <a:xfrm>
            <a:off x="4247092" y="5398474"/>
            <a:ext cx="1099459" cy="428172"/>
          </a:xfrm>
          <a:prstGeom prst="rect">
            <a:avLst/>
          </a:prstGeom>
          <a:no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b="0" i="0" u="none" strike="noStrike" kern="1200" cap="none" spc="0" normalizeH="0" baseline="0" noProof="0">
                <a:ln>
                  <a:noFill/>
                </a:ln>
                <a:solidFill>
                  <a:prstClr val="black">
                    <a:lumMod val="50000"/>
                    <a:lumOff val="50000"/>
                  </a:prstClr>
                </a:solidFill>
                <a:effectLst/>
                <a:uLnTx/>
                <a:uFillTx/>
                <a:latin typeface="Yekan Bakh" pitchFamily="2" charset="-78"/>
                <a:ea typeface="Yekan Bakh" pitchFamily="2" charset="-78"/>
                <a:cs typeface="Yekan Bakh" pitchFamily="2" charset="-78"/>
              </a:rPr>
              <a:t>×</a:t>
            </a:r>
            <a:endParaRPr kumimoji="0" lang="en-US" b="0" i="0" u="none" strike="noStrike" kern="1200" cap="none" spc="0" normalizeH="0" baseline="0" noProof="0">
              <a:ln>
                <a:noFill/>
              </a:ln>
              <a:solidFill>
                <a:prstClr val="black">
                  <a:lumMod val="50000"/>
                  <a:lumOff val="50000"/>
                </a:prstClr>
              </a:solidFill>
              <a:effectLst/>
              <a:uLnTx/>
              <a:uFillTx/>
              <a:latin typeface="Yekan Bakh" pitchFamily="2" charset="-78"/>
              <a:ea typeface="Yekan Bakh" pitchFamily="2" charset="-78"/>
              <a:cs typeface="Yekan Bakh" pitchFamily="2" charset="-78"/>
            </a:endParaRPr>
          </a:p>
        </p:txBody>
      </p:sp>
      <p:sp>
        <p:nvSpPr>
          <p:cNvPr id="8" name="Rectangle 7">
            <a:extLst>
              <a:ext uri="{FF2B5EF4-FFF2-40B4-BE49-F238E27FC236}">
                <a16:creationId xmlns:a16="http://schemas.microsoft.com/office/drawing/2014/main" id="{6CC868C0-77C2-2DF9-28C5-1E07FA497A96}"/>
              </a:ext>
            </a:extLst>
          </p:cNvPr>
          <p:cNvSpPr/>
          <p:nvPr/>
        </p:nvSpPr>
        <p:spPr>
          <a:xfrm>
            <a:off x="555625" y="1226464"/>
            <a:ext cx="3631746" cy="428172"/>
          </a:xfrm>
          <a:prstGeom prst="rect">
            <a:avLst/>
          </a:prstGeom>
          <a:solidFill>
            <a:srgbClr val="1E27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200" b="1" i="0" u="none" strike="noStrike" kern="1200" cap="none" spc="0" normalizeH="0" baseline="0" noProof="0">
                <a:ln>
                  <a:noFill/>
                </a:ln>
                <a:solidFill>
                  <a:schemeClr val="bg1"/>
                </a:solidFill>
                <a:effectLst/>
                <a:uLnTx/>
                <a:uFillTx/>
                <a:latin typeface="Yekan Bakh" pitchFamily="2" charset="-78"/>
                <a:ea typeface="Yekan Bakh" pitchFamily="2" charset="-78"/>
                <a:cs typeface="Yekan Bakh" pitchFamily="2" charset="-78"/>
              </a:rPr>
              <a:t>توضیحات</a:t>
            </a:r>
            <a:endParaRPr kumimoji="0" lang="en-US" sz="1200" b="1" i="0" u="none" strike="noStrike" kern="1200" cap="none" spc="0" normalizeH="0" baseline="0" noProof="0">
              <a:ln>
                <a:noFill/>
              </a:ln>
              <a:solidFill>
                <a:schemeClr val="bg1"/>
              </a:solidFill>
              <a:effectLst/>
              <a:uLnTx/>
              <a:uFillTx/>
              <a:latin typeface="Yekan Bakh" pitchFamily="2" charset="-78"/>
              <a:ea typeface="Yekan Bakh" pitchFamily="2" charset="-78"/>
              <a:cs typeface="Yekan Bakh" pitchFamily="2" charset="-78"/>
            </a:endParaRPr>
          </a:p>
        </p:txBody>
      </p:sp>
      <p:sp>
        <p:nvSpPr>
          <p:cNvPr id="13" name="Rectangle 12">
            <a:extLst>
              <a:ext uri="{FF2B5EF4-FFF2-40B4-BE49-F238E27FC236}">
                <a16:creationId xmlns:a16="http://schemas.microsoft.com/office/drawing/2014/main" id="{E558B0FB-32DC-26C5-4AAC-5207073A8E75}"/>
              </a:ext>
            </a:extLst>
          </p:cNvPr>
          <p:cNvSpPr/>
          <p:nvPr/>
        </p:nvSpPr>
        <p:spPr>
          <a:xfrm>
            <a:off x="555625" y="1747058"/>
            <a:ext cx="3631746" cy="428172"/>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a:ln>
                  <a:noFill/>
                </a:ln>
                <a:solidFill>
                  <a:srgbClr val="1E2761"/>
                </a:solidFill>
                <a:effectLst/>
                <a:uLnTx/>
                <a:uFillTx/>
                <a:latin typeface="Yekan Bakh" pitchFamily="2" charset="-78"/>
                <a:ea typeface="Yekan Bakh" pitchFamily="2" charset="-78"/>
                <a:cs typeface="Yekan Bakh" pitchFamily="2" charset="-78"/>
              </a:rPr>
              <a:t>کسب‌وکارهایی که دارای هدف و بودجه لازم برای انجام معامله تجاری هستند. </a:t>
            </a:r>
            <a:endParaRPr kumimoji="0" lang="en-US" sz="1100" b="0" i="0" u="none" strike="noStrike" kern="1200" cap="none" spc="0" normalizeH="0" baseline="0" noProof="0">
              <a:ln>
                <a:noFill/>
              </a:ln>
              <a:solidFill>
                <a:srgbClr val="1E2761"/>
              </a:solidFill>
              <a:effectLst/>
              <a:uLnTx/>
              <a:uFillTx/>
              <a:latin typeface="Yekan Bakh" pitchFamily="2" charset="-78"/>
              <a:ea typeface="Yekan Bakh" pitchFamily="2" charset="-78"/>
              <a:cs typeface="Yekan Bakh" pitchFamily="2" charset="-78"/>
            </a:endParaRPr>
          </a:p>
        </p:txBody>
      </p:sp>
      <p:sp>
        <p:nvSpPr>
          <p:cNvPr id="18" name="Rectangle 17">
            <a:extLst>
              <a:ext uri="{FF2B5EF4-FFF2-40B4-BE49-F238E27FC236}">
                <a16:creationId xmlns:a16="http://schemas.microsoft.com/office/drawing/2014/main" id="{897850EB-1EF5-1959-F553-549390057718}"/>
              </a:ext>
            </a:extLst>
          </p:cNvPr>
          <p:cNvSpPr/>
          <p:nvPr/>
        </p:nvSpPr>
        <p:spPr>
          <a:xfrm>
            <a:off x="555625" y="2267652"/>
            <a:ext cx="3631746" cy="428172"/>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کسب‌وکارهای خارجی که خود برای ورود به بازار ایران تمایل دارند، یا از آن‌ها برای مشارکت درخواست شده است. </a:t>
            </a:r>
            <a:endParaRPr kumimoji="0" lang="en-US" sz="11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endParaRPr>
          </a:p>
        </p:txBody>
      </p:sp>
      <p:sp>
        <p:nvSpPr>
          <p:cNvPr id="23" name="Rectangle 22">
            <a:extLst>
              <a:ext uri="{FF2B5EF4-FFF2-40B4-BE49-F238E27FC236}">
                <a16:creationId xmlns:a16="http://schemas.microsoft.com/office/drawing/2014/main" id="{E5759399-9BC1-5C96-A88B-B97B7A6CA628}"/>
              </a:ext>
            </a:extLst>
          </p:cNvPr>
          <p:cNvSpPr/>
          <p:nvPr/>
        </p:nvSpPr>
        <p:spPr>
          <a:xfrm>
            <a:off x="555625" y="2788246"/>
            <a:ext cx="3631746" cy="428172"/>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کسب‌وکار را تامین مالی و به‌طور مشترک مالکیت می‌کنند؛ کنترل داراییِ آورده‌شده را در دست دارد.</a:t>
            </a:r>
            <a:endParaRPr kumimoji="0" lang="en-US" sz="11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endParaRPr>
          </a:p>
        </p:txBody>
      </p:sp>
      <p:sp>
        <p:nvSpPr>
          <p:cNvPr id="28" name="Rectangle 27">
            <a:extLst>
              <a:ext uri="{FF2B5EF4-FFF2-40B4-BE49-F238E27FC236}">
                <a16:creationId xmlns:a16="http://schemas.microsoft.com/office/drawing/2014/main" id="{F71995FC-13C4-4312-C907-5CB11F258013}"/>
              </a:ext>
            </a:extLst>
          </p:cNvPr>
          <p:cNvSpPr/>
          <p:nvPr/>
        </p:nvSpPr>
        <p:spPr>
          <a:xfrm>
            <a:off x="555625" y="3308840"/>
            <a:ext cx="3631746" cy="428172"/>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a:ln>
                  <a:noFill/>
                </a:ln>
                <a:solidFill>
                  <a:srgbClr val="1E2761"/>
                </a:solidFill>
                <a:effectLst/>
                <a:uLnTx/>
                <a:uFillTx/>
                <a:latin typeface="Yekan Bakh" pitchFamily="2" charset="-78"/>
                <a:ea typeface="Yekan Bakh" pitchFamily="2" charset="-78"/>
                <a:cs typeface="Yekan Bakh" pitchFamily="2" charset="-78"/>
              </a:rPr>
              <a:t>دسترسی به جریان معاملات (</a:t>
            </a:r>
            <a:r>
              <a:rPr kumimoji="0" lang="en-US" sz="1100" b="0" i="0" u="none" strike="noStrike" kern="1200" cap="none" spc="0" normalizeH="0" baseline="0" noProof="0">
                <a:ln>
                  <a:noFill/>
                </a:ln>
                <a:solidFill>
                  <a:srgbClr val="1E2761"/>
                </a:solidFill>
                <a:effectLst/>
                <a:uLnTx/>
                <a:uFillTx/>
                <a:latin typeface="Yekan Bakh" pitchFamily="2" charset="-78"/>
                <a:ea typeface="Yekan Bakh" pitchFamily="2" charset="-78"/>
                <a:cs typeface="Yekan Bakh" pitchFamily="2" charset="-78"/>
              </a:rPr>
              <a:t>Deal flow</a:t>
            </a:r>
            <a:r>
              <a:rPr kumimoji="0" lang="fa-IR" sz="1100" b="0" i="0" u="none" strike="noStrike" kern="1200" cap="none" spc="0" normalizeH="0" baseline="0" noProof="0">
                <a:ln>
                  <a:noFill/>
                </a:ln>
                <a:solidFill>
                  <a:srgbClr val="1E2761"/>
                </a:solidFill>
                <a:effectLst/>
                <a:uLnTx/>
                <a:uFillTx/>
                <a:latin typeface="Yekan Bakh" pitchFamily="2" charset="-78"/>
                <a:ea typeface="Yekan Bakh" pitchFamily="2" charset="-78"/>
                <a:cs typeface="Yekan Bakh" pitchFamily="2" charset="-78"/>
              </a:rPr>
              <a:t>) و ارزیابی دقیق را در ازای سرمایه خود می‌خرند.</a:t>
            </a:r>
            <a:endParaRPr kumimoji="0" lang="en-US" sz="1100" b="0" i="0" u="none" strike="noStrike" kern="1200" cap="none" spc="0" normalizeH="0" baseline="0" noProof="0">
              <a:ln>
                <a:noFill/>
              </a:ln>
              <a:solidFill>
                <a:srgbClr val="1E2761"/>
              </a:solidFill>
              <a:effectLst/>
              <a:uLnTx/>
              <a:uFillTx/>
              <a:latin typeface="Yekan Bakh" pitchFamily="2" charset="-78"/>
              <a:ea typeface="Yekan Bakh" pitchFamily="2" charset="-78"/>
              <a:cs typeface="Yekan Bakh" pitchFamily="2" charset="-78"/>
            </a:endParaRPr>
          </a:p>
        </p:txBody>
      </p:sp>
      <p:sp>
        <p:nvSpPr>
          <p:cNvPr id="33" name="Rectangle 32">
            <a:extLst>
              <a:ext uri="{FF2B5EF4-FFF2-40B4-BE49-F238E27FC236}">
                <a16:creationId xmlns:a16="http://schemas.microsoft.com/office/drawing/2014/main" id="{CCA0130B-D106-D60D-C503-F84AEC9E3BFA}"/>
              </a:ext>
            </a:extLst>
          </p:cNvPr>
          <p:cNvSpPr/>
          <p:nvPr/>
        </p:nvSpPr>
        <p:spPr>
          <a:xfrm>
            <a:off x="555625" y="3829434"/>
            <a:ext cx="3631746" cy="428172"/>
          </a:xfrm>
          <a:prstGeom prst="rect">
            <a:avLst/>
          </a:prstGeom>
          <a:no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a:ln>
                  <a:noFill/>
                </a:ln>
                <a:solidFill>
                  <a:prstClr val="black">
                    <a:lumMod val="50000"/>
                    <a:lumOff val="50000"/>
                  </a:prstClr>
                </a:solidFill>
                <a:effectLst/>
                <a:uLnTx/>
                <a:uFillTx/>
                <a:latin typeface="Yekan Bakh" pitchFamily="2" charset="-78"/>
                <a:ea typeface="Yekan Bakh" pitchFamily="2" charset="-78"/>
                <a:cs typeface="Yekan Bakh" pitchFamily="2" charset="-78"/>
              </a:rPr>
              <a:t>لایه تامین‌ این اکوسیستم است و از خدمات آن‌ها برای ایجاد ارزش به مشتریان، استفاده می‌شود. </a:t>
            </a:r>
            <a:endParaRPr kumimoji="0" lang="en-US" sz="1100" b="0" i="0" u="none" strike="noStrike" kern="1200" cap="none" spc="0" normalizeH="0" baseline="0" noProof="0">
              <a:ln>
                <a:noFill/>
              </a:ln>
              <a:solidFill>
                <a:prstClr val="black">
                  <a:lumMod val="50000"/>
                  <a:lumOff val="50000"/>
                </a:prstClr>
              </a:solidFill>
              <a:effectLst/>
              <a:uLnTx/>
              <a:uFillTx/>
              <a:latin typeface="Yekan Bakh" pitchFamily="2" charset="-78"/>
              <a:ea typeface="Yekan Bakh" pitchFamily="2" charset="-78"/>
              <a:cs typeface="Yekan Bakh" pitchFamily="2" charset="-78"/>
            </a:endParaRPr>
          </a:p>
        </p:txBody>
      </p:sp>
      <p:sp>
        <p:nvSpPr>
          <p:cNvPr id="38" name="Rectangle 37">
            <a:extLst>
              <a:ext uri="{FF2B5EF4-FFF2-40B4-BE49-F238E27FC236}">
                <a16:creationId xmlns:a16="http://schemas.microsoft.com/office/drawing/2014/main" id="{4FD9DF58-7B8A-3312-0314-63CDA94CEE2E}"/>
              </a:ext>
            </a:extLst>
          </p:cNvPr>
          <p:cNvSpPr/>
          <p:nvPr/>
        </p:nvSpPr>
        <p:spPr>
          <a:xfrm>
            <a:off x="555625" y="4350028"/>
            <a:ext cx="3631746" cy="428172"/>
          </a:xfrm>
          <a:prstGeom prst="rect">
            <a:avLst/>
          </a:prstGeom>
          <a:no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در صورت تعامل با بخش خارجی، می‌بایستی از طریق شبکه رسمی، مجوزها و اعتبارات لازم را دریافت کرد. </a:t>
            </a:r>
            <a:endParaRPr kumimoji="0" lang="en-US" sz="11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endParaRPr>
          </a:p>
        </p:txBody>
      </p:sp>
      <p:sp>
        <p:nvSpPr>
          <p:cNvPr id="43" name="Rectangle 42">
            <a:extLst>
              <a:ext uri="{FF2B5EF4-FFF2-40B4-BE49-F238E27FC236}">
                <a16:creationId xmlns:a16="http://schemas.microsoft.com/office/drawing/2014/main" id="{C183C56C-7733-5E1F-2DC4-F7B373269B9F}"/>
              </a:ext>
            </a:extLst>
          </p:cNvPr>
          <p:cNvSpPr/>
          <p:nvPr/>
        </p:nvSpPr>
        <p:spPr>
          <a:xfrm>
            <a:off x="555625" y="4870622"/>
            <a:ext cx="3631746" cy="428172"/>
          </a:xfrm>
          <a:prstGeom prst="rect">
            <a:avLst/>
          </a:prstGeom>
          <a:no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a:ln>
                  <a:noFill/>
                </a:ln>
                <a:solidFill>
                  <a:prstClr val="black">
                    <a:lumMod val="50000"/>
                    <a:lumOff val="50000"/>
                  </a:prstClr>
                </a:solidFill>
                <a:effectLst/>
                <a:uLnTx/>
                <a:uFillTx/>
                <a:latin typeface="Yekan Bakh" pitchFamily="2" charset="-78"/>
                <a:ea typeface="Yekan Bakh" pitchFamily="2" charset="-78"/>
                <a:cs typeface="Yekan Bakh" pitchFamily="2" charset="-78"/>
              </a:rPr>
              <a:t>به عنوان یکی از کانال‌های جذب مشتری می‌توانند باشند، اما خود مشتری معاملات دیگران نیستند. </a:t>
            </a:r>
            <a:endParaRPr kumimoji="0" lang="en-US" sz="1100" b="0" i="0" u="none" strike="noStrike" kern="1200" cap="none" spc="0" normalizeH="0" baseline="0" noProof="0">
              <a:ln>
                <a:noFill/>
              </a:ln>
              <a:solidFill>
                <a:prstClr val="black">
                  <a:lumMod val="50000"/>
                  <a:lumOff val="50000"/>
                </a:prstClr>
              </a:solidFill>
              <a:effectLst/>
              <a:uLnTx/>
              <a:uFillTx/>
              <a:latin typeface="Yekan Bakh" pitchFamily="2" charset="-78"/>
              <a:ea typeface="Yekan Bakh" pitchFamily="2" charset="-78"/>
              <a:cs typeface="Yekan Bakh" pitchFamily="2" charset="-78"/>
            </a:endParaRPr>
          </a:p>
        </p:txBody>
      </p:sp>
      <p:sp>
        <p:nvSpPr>
          <p:cNvPr id="48" name="Rectangle 47">
            <a:extLst>
              <a:ext uri="{FF2B5EF4-FFF2-40B4-BE49-F238E27FC236}">
                <a16:creationId xmlns:a16="http://schemas.microsoft.com/office/drawing/2014/main" id="{5DC3AC2E-D5FF-BA28-56DF-1E0BE1A64FB5}"/>
              </a:ext>
            </a:extLst>
          </p:cNvPr>
          <p:cNvSpPr/>
          <p:nvPr/>
        </p:nvSpPr>
        <p:spPr>
          <a:xfrm>
            <a:off x="555625" y="5398474"/>
            <a:ext cx="3631746" cy="428172"/>
          </a:xfrm>
          <a:prstGeom prst="rect">
            <a:avLst/>
          </a:prstGeom>
          <a:no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a:ln>
                  <a:noFill/>
                </a:ln>
                <a:solidFill>
                  <a:prstClr val="black">
                    <a:lumMod val="50000"/>
                    <a:lumOff val="50000"/>
                  </a:prstClr>
                </a:solidFill>
                <a:effectLst/>
                <a:uLnTx/>
                <a:uFillTx/>
                <a:latin typeface="Yekan Bakh" pitchFamily="2" charset="-78"/>
                <a:ea typeface="Yekan Bakh" pitchFamily="2" charset="-78"/>
                <a:cs typeface="Yekan Bakh" pitchFamily="2" charset="-78"/>
              </a:rPr>
              <a:t>ایجاد ظرفیت در کارکرد شناسایی، غربالگری و ارزیابی شرکا دارند. همچنین یک کانال ارتباطی کم‌هزینه هم هستند. </a:t>
            </a:r>
            <a:endParaRPr kumimoji="0" lang="en-US" sz="1100" b="0" i="0" u="none" strike="noStrike" kern="1200" cap="none" spc="0" normalizeH="0" baseline="0" noProof="0">
              <a:ln>
                <a:noFill/>
              </a:ln>
              <a:solidFill>
                <a:prstClr val="black">
                  <a:lumMod val="50000"/>
                  <a:lumOff val="50000"/>
                </a:prstClr>
              </a:solidFill>
              <a:effectLst/>
              <a:uLnTx/>
              <a:uFillTx/>
              <a:latin typeface="Yekan Bakh" pitchFamily="2" charset="-78"/>
              <a:ea typeface="Yekan Bakh" pitchFamily="2" charset="-78"/>
              <a:cs typeface="Yekan Bakh" pitchFamily="2" charset="-78"/>
            </a:endParaRPr>
          </a:p>
        </p:txBody>
      </p:sp>
    </p:spTree>
    <p:extLst>
      <p:ext uri="{BB962C8B-B14F-4D97-AF65-F5344CB8AC3E}">
        <p14:creationId xmlns:p14="http://schemas.microsoft.com/office/powerpoint/2010/main" val="4925022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58842BA2-03F5-E4DA-4346-64A72AFF85D9}"/>
              </a:ext>
            </a:extLst>
          </p:cNvPr>
          <p:cNvSpPr/>
          <p:nvPr/>
        </p:nvSpPr>
        <p:spPr>
          <a:xfrm>
            <a:off x="5851525" y="1282808"/>
            <a:ext cx="5392048" cy="4584302"/>
          </a:xfrm>
          <a:prstGeom prst="roundRect">
            <a:avLst>
              <a:gd name="adj" fmla="val 4261"/>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ext Placeholder 1">
            <a:extLst>
              <a:ext uri="{FF2B5EF4-FFF2-40B4-BE49-F238E27FC236}">
                <a16:creationId xmlns:a16="http://schemas.microsoft.com/office/drawing/2014/main" id="{DE55B9DB-9600-CDEC-B265-503A2DB6A476}"/>
              </a:ext>
            </a:extLst>
          </p:cNvPr>
          <p:cNvSpPr>
            <a:spLocks noGrp="1"/>
          </p:cNvSpPr>
          <p:nvPr>
            <p:ph type="body" sz="quarter" idx="10"/>
          </p:nvPr>
        </p:nvSpPr>
        <p:spPr/>
        <p:txBody>
          <a:bodyPr/>
          <a:lstStyle/>
          <a:p>
            <a:r>
              <a:rPr lang="fa-IR" dirty="0"/>
              <a:t>متدولوژی</a:t>
            </a:r>
            <a:endParaRPr lang="en-GB" dirty="0"/>
          </a:p>
        </p:txBody>
      </p:sp>
      <p:sp>
        <p:nvSpPr>
          <p:cNvPr id="3" name="Text Placeholder 2">
            <a:extLst>
              <a:ext uri="{FF2B5EF4-FFF2-40B4-BE49-F238E27FC236}">
                <a16:creationId xmlns:a16="http://schemas.microsoft.com/office/drawing/2014/main" id="{BEA3A7AD-0668-12C0-C74B-88F4AE82162B}"/>
              </a:ext>
            </a:extLst>
          </p:cNvPr>
          <p:cNvSpPr>
            <a:spLocks noGrp="1"/>
          </p:cNvSpPr>
          <p:nvPr>
            <p:ph type="body" sz="quarter" idx="12"/>
          </p:nvPr>
        </p:nvSpPr>
        <p:spPr/>
        <p:txBody>
          <a:bodyPr/>
          <a:lstStyle/>
          <a:p>
            <a:r>
              <a:rPr lang="fa-IR" dirty="0"/>
              <a:t>تفکیک مشتریان بر اساس نیاز، رفتار و ویژگی‌های سازمانی به‌منظور شناسایی تفاوت‌های مؤثر بر ارزش پیشنهادی و مدل عملیاتی است </a:t>
            </a:r>
          </a:p>
        </p:txBody>
      </p:sp>
      <p:sp>
        <p:nvSpPr>
          <p:cNvPr id="20" name="Rectangle 19">
            <a:extLst>
              <a:ext uri="{FF2B5EF4-FFF2-40B4-BE49-F238E27FC236}">
                <a16:creationId xmlns:a16="http://schemas.microsoft.com/office/drawing/2014/main" id="{807BC28B-324D-E532-849F-5A7FCA55E9BD}"/>
              </a:ext>
            </a:extLst>
          </p:cNvPr>
          <p:cNvSpPr/>
          <p:nvPr/>
        </p:nvSpPr>
        <p:spPr>
          <a:xfrm>
            <a:off x="5842881" y="1294058"/>
            <a:ext cx="5305668" cy="4571893"/>
          </a:xfrm>
          <a:prstGeom prst="rect">
            <a:avLst/>
          </a:prstGeom>
          <a:solidFill>
            <a:schemeClr val="bg1">
              <a:lumMod val="95000"/>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grpSp>
        <p:nvGrpSpPr>
          <p:cNvPr id="19" name="Group 18">
            <a:extLst>
              <a:ext uri="{FF2B5EF4-FFF2-40B4-BE49-F238E27FC236}">
                <a16:creationId xmlns:a16="http://schemas.microsoft.com/office/drawing/2014/main" id="{C7E69CD8-A214-80E6-0915-45B897D73A49}"/>
              </a:ext>
            </a:extLst>
          </p:cNvPr>
          <p:cNvGrpSpPr/>
          <p:nvPr/>
        </p:nvGrpSpPr>
        <p:grpSpPr>
          <a:xfrm>
            <a:off x="5938367" y="2001412"/>
            <a:ext cx="5222257" cy="2910457"/>
            <a:chOff x="2612517" y="1168400"/>
            <a:chExt cx="6390547" cy="3561565"/>
          </a:xfrm>
        </p:grpSpPr>
        <p:sp>
          <p:nvSpPr>
            <p:cNvPr id="4" name="Isosceles Triangle 3">
              <a:extLst>
                <a:ext uri="{FF2B5EF4-FFF2-40B4-BE49-F238E27FC236}">
                  <a16:creationId xmlns:a16="http://schemas.microsoft.com/office/drawing/2014/main" id="{4CDE8315-B730-6789-559F-1675E00352AF}"/>
                </a:ext>
              </a:extLst>
            </p:cNvPr>
            <p:cNvSpPr/>
            <p:nvPr/>
          </p:nvSpPr>
          <p:spPr>
            <a:xfrm>
              <a:off x="4361489" y="1168400"/>
              <a:ext cx="2980072" cy="2569028"/>
            </a:xfrm>
            <a:prstGeom prst="triangle">
              <a:avLst/>
            </a:prstGeom>
            <a:solidFill>
              <a:schemeClr val="accent2">
                <a:lumMod val="20000"/>
                <a:lumOff val="80000"/>
              </a:schemeClr>
            </a:solidFill>
            <a:ln>
              <a:solidFill>
                <a:srgbClr val="F0BE0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sp>
          <p:nvSpPr>
            <p:cNvPr id="6" name="TextBox 5">
              <a:extLst>
                <a:ext uri="{FF2B5EF4-FFF2-40B4-BE49-F238E27FC236}">
                  <a16:creationId xmlns:a16="http://schemas.microsoft.com/office/drawing/2014/main" id="{69575C87-5F8D-C950-0F0E-C2868FE56980}"/>
                </a:ext>
              </a:extLst>
            </p:cNvPr>
            <p:cNvSpPr txBox="1"/>
            <p:nvPr/>
          </p:nvSpPr>
          <p:spPr>
            <a:xfrm>
              <a:off x="7110132" y="1946480"/>
              <a:ext cx="919844" cy="376631"/>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E2761"/>
                  </a:solidFill>
                  <a:effectLst/>
                  <a:uLnTx/>
                  <a:uFillTx/>
                  <a:latin typeface="Yekan Bakh" pitchFamily="2" charset="-78"/>
                  <a:ea typeface="Yekan Bakh" pitchFamily="2" charset="-78"/>
                  <a:cs typeface="Yekan Bakh" pitchFamily="2" charset="-78"/>
                </a:rPr>
                <a:t>Why</a:t>
              </a:r>
            </a:p>
          </p:txBody>
        </p:sp>
        <p:sp>
          <p:nvSpPr>
            <p:cNvPr id="8" name="TextBox 7">
              <a:extLst>
                <a:ext uri="{FF2B5EF4-FFF2-40B4-BE49-F238E27FC236}">
                  <a16:creationId xmlns:a16="http://schemas.microsoft.com/office/drawing/2014/main" id="{A6EE9A04-F1D3-7172-03A0-B6AC13D1C81D}"/>
                </a:ext>
              </a:extLst>
            </p:cNvPr>
            <p:cNvSpPr txBox="1"/>
            <p:nvPr/>
          </p:nvSpPr>
          <p:spPr>
            <a:xfrm>
              <a:off x="3607147" y="1928858"/>
              <a:ext cx="919844" cy="376631"/>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How</a:t>
              </a:r>
            </a:p>
          </p:txBody>
        </p:sp>
        <p:sp>
          <p:nvSpPr>
            <p:cNvPr id="9" name="TextBox 8">
              <a:extLst>
                <a:ext uri="{FF2B5EF4-FFF2-40B4-BE49-F238E27FC236}">
                  <a16:creationId xmlns:a16="http://schemas.microsoft.com/office/drawing/2014/main" id="{47456ADD-DFF9-A263-C9FF-05A975887C02}"/>
                </a:ext>
              </a:extLst>
            </p:cNvPr>
            <p:cNvSpPr txBox="1"/>
            <p:nvPr/>
          </p:nvSpPr>
          <p:spPr>
            <a:xfrm>
              <a:off x="5391603" y="3768277"/>
              <a:ext cx="919844" cy="376631"/>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E2761"/>
                  </a:solidFill>
                  <a:effectLst/>
                  <a:uLnTx/>
                  <a:uFillTx/>
                  <a:latin typeface="Yekan Bakh" pitchFamily="2" charset="-78"/>
                  <a:ea typeface="Yekan Bakh" pitchFamily="2" charset="-78"/>
                  <a:cs typeface="Yekan Bakh" pitchFamily="2" charset="-78"/>
                </a:rPr>
                <a:t>Who</a:t>
              </a:r>
            </a:p>
          </p:txBody>
        </p:sp>
        <p:sp>
          <p:nvSpPr>
            <p:cNvPr id="11" name="TextBox 10">
              <a:extLst>
                <a:ext uri="{FF2B5EF4-FFF2-40B4-BE49-F238E27FC236}">
                  <a16:creationId xmlns:a16="http://schemas.microsoft.com/office/drawing/2014/main" id="{CDFF5E85-9552-7F5A-1BC2-DA63B7B36F11}"/>
                </a:ext>
              </a:extLst>
            </p:cNvPr>
            <p:cNvSpPr txBox="1"/>
            <p:nvPr/>
          </p:nvSpPr>
          <p:spPr>
            <a:xfrm>
              <a:off x="6867018" y="2251074"/>
              <a:ext cx="1406072" cy="414293"/>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600" b="1" i="0" u="none" strike="noStrike" kern="1200" cap="none" spc="0" normalizeH="0" baseline="0" noProof="0">
                  <a:ln>
                    <a:noFill/>
                  </a:ln>
                  <a:solidFill>
                    <a:srgbClr val="1E2761"/>
                  </a:solidFill>
                  <a:effectLst/>
                  <a:uLnTx/>
                  <a:uFillTx/>
                  <a:latin typeface="Yekan Bakh" pitchFamily="2" charset="-78"/>
                  <a:ea typeface="Yekan Bakh" pitchFamily="2" charset="-78"/>
                  <a:cs typeface="Yekan Bakh" pitchFamily="2" charset="-78"/>
                </a:rPr>
                <a:t>نیاز مشتری</a:t>
              </a:r>
              <a:endParaRPr kumimoji="0" lang="en-US" sz="1600" b="1" i="0" u="none" strike="noStrike" kern="1200" cap="none" spc="0" normalizeH="0" baseline="0" noProof="0">
                <a:ln>
                  <a:noFill/>
                </a:ln>
                <a:solidFill>
                  <a:srgbClr val="1E2761"/>
                </a:solidFill>
                <a:effectLst/>
                <a:uLnTx/>
                <a:uFillTx/>
                <a:latin typeface="Yekan Bakh" pitchFamily="2" charset="-78"/>
                <a:ea typeface="Yekan Bakh" pitchFamily="2" charset="-78"/>
                <a:cs typeface="Yekan Bakh" pitchFamily="2" charset="-78"/>
              </a:endParaRPr>
            </a:p>
          </p:txBody>
        </p:sp>
        <p:sp>
          <p:nvSpPr>
            <p:cNvPr id="12" name="TextBox 11">
              <a:extLst>
                <a:ext uri="{FF2B5EF4-FFF2-40B4-BE49-F238E27FC236}">
                  <a16:creationId xmlns:a16="http://schemas.microsoft.com/office/drawing/2014/main" id="{AAD4E2E6-5951-DC42-B7AC-38FE35EAA6D6}"/>
                </a:ext>
              </a:extLst>
            </p:cNvPr>
            <p:cNvSpPr txBox="1"/>
            <p:nvPr/>
          </p:nvSpPr>
          <p:spPr>
            <a:xfrm>
              <a:off x="3300931" y="2244393"/>
              <a:ext cx="1532272" cy="414293"/>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600" b="1" i="0" u="none" strike="noStrike" kern="1200" cap="none" spc="0" normalizeH="0" baseline="0" noProof="0">
                  <a:ln>
                    <a:noFill/>
                  </a:ln>
                  <a:solidFill>
                    <a:srgbClr val="1E2761"/>
                  </a:solidFill>
                  <a:effectLst/>
                  <a:uLnTx/>
                  <a:uFillTx/>
                  <a:latin typeface="Yekan Bakh" pitchFamily="2" charset="-78"/>
                  <a:ea typeface="Yekan Bakh" pitchFamily="2" charset="-78"/>
                  <a:cs typeface="Yekan Bakh" pitchFamily="2" charset="-78"/>
                </a:rPr>
                <a:t>رفتار مشتری</a:t>
              </a:r>
              <a:endParaRPr kumimoji="0" lang="en-US" sz="1600" b="1" i="0" u="none" strike="noStrike" kern="1200" cap="none" spc="0" normalizeH="0" baseline="0" noProof="0">
                <a:ln>
                  <a:noFill/>
                </a:ln>
                <a:solidFill>
                  <a:srgbClr val="1E2761"/>
                </a:solidFill>
                <a:effectLst/>
                <a:uLnTx/>
                <a:uFillTx/>
                <a:latin typeface="Yekan Bakh" pitchFamily="2" charset="-78"/>
                <a:ea typeface="Yekan Bakh" pitchFamily="2" charset="-78"/>
                <a:cs typeface="Yekan Bakh" pitchFamily="2" charset="-78"/>
              </a:endParaRPr>
            </a:p>
          </p:txBody>
        </p:sp>
        <p:sp>
          <p:nvSpPr>
            <p:cNvPr id="13" name="TextBox 12">
              <a:extLst>
                <a:ext uri="{FF2B5EF4-FFF2-40B4-BE49-F238E27FC236}">
                  <a16:creationId xmlns:a16="http://schemas.microsoft.com/office/drawing/2014/main" id="{DF07DECD-31D6-E1CF-D737-26510BAF69D8}"/>
                </a:ext>
              </a:extLst>
            </p:cNvPr>
            <p:cNvSpPr txBox="1"/>
            <p:nvPr/>
          </p:nvSpPr>
          <p:spPr>
            <a:xfrm>
              <a:off x="4829147" y="4052962"/>
              <a:ext cx="2054679" cy="414293"/>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600" b="1" i="0" u="none" strike="noStrike" kern="1200" cap="none" spc="0" normalizeH="0" baseline="0" noProof="0">
                  <a:ln>
                    <a:noFill/>
                  </a:ln>
                  <a:solidFill>
                    <a:srgbClr val="1E2761"/>
                  </a:solidFill>
                  <a:effectLst/>
                  <a:uLnTx/>
                  <a:uFillTx/>
                  <a:latin typeface="Yekan Bakh" pitchFamily="2" charset="-78"/>
                  <a:ea typeface="Yekan Bakh" pitchFamily="2" charset="-78"/>
                  <a:cs typeface="Yekan Bakh" pitchFamily="2" charset="-78"/>
                </a:rPr>
                <a:t>ویژگی‌های شرکت</a:t>
              </a:r>
              <a:endParaRPr kumimoji="0" lang="en-US" sz="1600" b="1" i="0" u="none" strike="noStrike" kern="1200" cap="none" spc="0" normalizeH="0" baseline="0" noProof="0">
                <a:ln>
                  <a:noFill/>
                </a:ln>
                <a:solidFill>
                  <a:srgbClr val="1E2761"/>
                </a:solidFill>
                <a:effectLst/>
                <a:uLnTx/>
                <a:uFillTx/>
                <a:latin typeface="Yekan Bakh" pitchFamily="2" charset="-78"/>
                <a:ea typeface="Yekan Bakh" pitchFamily="2" charset="-78"/>
                <a:cs typeface="Yekan Bakh" pitchFamily="2" charset="-78"/>
              </a:endParaRPr>
            </a:p>
          </p:txBody>
        </p:sp>
        <p:sp>
          <p:nvSpPr>
            <p:cNvPr id="15" name="TextBox 14">
              <a:extLst>
                <a:ext uri="{FF2B5EF4-FFF2-40B4-BE49-F238E27FC236}">
                  <a16:creationId xmlns:a16="http://schemas.microsoft.com/office/drawing/2014/main" id="{05FD250E-D597-1A80-28C8-1A9B7885D424}"/>
                </a:ext>
              </a:extLst>
            </p:cNvPr>
            <p:cNvSpPr txBox="1"/>
            <p:nvPr/>
          </p:nvSpPr>
          <p:spPr>
            <a:xfrm>
              <a:off x="6736604" y="2611487"/>
              <a:ext cx="2266460" cy="564946"/>
            </a:xfrm>
            <a:prstGeom prst="rect">
              <a:avLst/>
            </a:prstGeom>
            <a:noFill/>
          </p:spPr>
          <p:txBody>
            <a:bodyPr wrap="square">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200" b="0" i="0" u="none" strike="noStrike" kern="1200" cap="none" spc="0" normalizeH="0" baseline="0" noProof="0">
                  <a:ln>
                    <a:noFill/>
                  </a:ln>
                  <a:solidFill>
                    <a:srgbClr val="1E2761"/>
                  </a:solidFill>
                  <a:effectLst/>
                  <a:uLnTx/>
                  <a:uFillTx/>
                  <a:latin typeface="Yekan Bakh" pitchFamily="2" charset="-78"/>
                  <a:ea typeface="Yekan Bakh" pitchFamily="2" charset="-78"/>
                  <a:cs typeface="Yekan Bakh" pitchFamily="2" charset="-78"/>
                </a:rPr>
                <a:t>مشتری دقیقاً برای حل چه مسئله‌ای سراغ ما می‌آید؟</a:t>
              </a:r>
              <a:endParaRPr kumimoji="0" lang="en-US" sz="1200" b="0" i="0" u="none" strike="noStrike" kern="1200" cap="none" spc="0" normalizeH="0" baseline="0" noProof="0">
                <a:ln>
                  <a:noFill/>
                </a:ln>
                <a:solidFill>
                  <a:srgbClr val="1E2761"/>
                </a:solidFill>
                <a:effectLst/>
                <a:uLnTx/>
                <a:uFillTx/>
                <a:latin typeface="Yekan Bakh" pitchFamily="2" charset="-78"/>
                <a:ea typeface="Yekan Bakh" pitchFamily="2" charset="-78"/>
                <a:cs typeface="Yekan Bakh" pitchFamily="2" charset="-78"/>
              </a:endParaRPr>
            </a:p>
          </p:txBody>
        </p:sp>
        <p:sp>
          <p:nvSpPr>
            <p:cNvPr id="16" name="TextBox 15">
              <a:extLst>
                <a:ext uri="{FF2B5EF4-FFF2-40B4-BE49-F238E27FC236}">
                  <a16:creationId xmlns:a16="http://schemas.microsoft.com/office/drawing/2014/main" id="{E993E355-1585-65B7-8AC7-B95921B3D922}"/>
                </a:ext>
              </a:extLst>
            </p:cNvPr>
            <p:cNvSpPr txBox="1"/>
            <p:nvPr/>
          </p:nvSpPr>
          <p:spPr>
            <a:xfrm>
              <a:off x="5145212" y="2493182"/>
              <a:ext cx="1406072" cy="715597"/>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600" b="1" i="0" u="none" strike="noStrike" kern="1200" cap="none" spc="0" normalizeH="0" baseline="0" noProof="0" dirty="0">
                  <a:ln>
                    <a:noFill/>
                  </a:ln>
                  <a:solidFill>
                    <a:schemeClr val="accent2">
                      <a:lumMod val="75000"/>
                    </a:schemeClr>
                  </a:solidFill>
                  <a:effectLst/>
                  <a:uLnTx/>
                  <a:uFillTx/>
                  <a:latin typeface="Yekan Bakh" pitchFamily="2" charset="-78"/>
                  <a:ea typeface="Yekan Bakh" pitchFamily="2" charset="-78"/>
                  <a:cs typeface="Yekan Bakh" pitchFamily="2" charset="-78"/>
                </a:rPr>
                <a:t>بخش‌بندی مشتریان</a:t>
              </a:r>
              <a:endParaRPr kumimoji="0" lang="en-US" sz="1600" b="1" i="0" u="none" strike="noStrike" kern="1200" cap="none" spc="0" normalizeH="0" baseline="0" noProof="0" dirty="0">
                <a:ln>
                  <a:noFill/>
                </a:ln>
                <a:solidFill>
                  <a:schemeClr val="accent2">
                    <a:lumMod val="75000"/>
                  </a:schemeClr>
                </a:solidFill>
                <a:effectLst/>
                <a:uLnTx/>
                <a:uFillTx/>
                <a:latin typeface="Yekan Bakh" pitchFamily="2" charset="-78"/>
                <a:ea typeface="Yekan Bakh" pitchFamily="2" charset="-78"/>
                <a:cs typeface="Yekan Bakh" pitchFamily="2" charset="-78"/>
              </a:endParaRPr>
            </a:p>
          </p:txBody>
        </p:sp>
        <p:sp>
          <p:nvSpPr>
            <p:cNvPr id="17" name="TextBox 16">
              <a:extLst>
                <a:ext uri="{FF2B5EF4-FFF2-40B4-BE49-F238E27FC236}">
                  <a16:creationId xmlns:a16="http://schemas.microsoft.com/office/drawing/2014/main" id="{9DE198EF-5F4A-675C-BFBB-32066A324DE8}"/>
                </a:ext>
              </a:extLst>
            </p:cNvPr>
            <p:cNvSpPr txBox="1"/>
            <p:nvPr/>
          </p:nvSpPr>
          <p:spPr>
            <a:xfrm>
              <a:off x="3555999" y="4390998"/>
              <a:ext cx="4600975" cy="338967"/>
            </a:xfrm>
            <a:prstGeom prst="rect">
              <a:avLst/>
            </a:prstGeom>
            <a:noFill/>
          </p:spPr>
          <p:txBody>
            <a:bodyPr wrap="square">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200" b="0" i="0" u="none" strike="noStrike" kern="1200" cap="none" spc="0" normalizeH="0" baseline="0" noProof="0">
                  <a:ln>
                    <a:noFill/>
                  </a:ln>
                  <a:solidFill>
                    <a:srgbClr val="1E2761"/>
                  </a:solidFill>
                  <a:effectLst/>
                  <a:uLnTx/>
                  <a:uFillTx/>
                  <a:latin typeface="Yekan Bakh" pitchFamily="2" charset="-78"/>
                  <a:ea typeface="Yekan Bakh" pitchFamily="2" charset="-78"/>
                  <a:cs typeface="Yekan Bakh" pitchFamily="2" charset="-78"/>
                </a:rPr>
                <a:t>مشتری از نظر مشخصات سازمانی چه ویژگی‌هایی دارد؟</a:t>
              </a:r>
              <a:endParaRPr kumimoji="0" lang="en-US" sz="1200" b="0" i="0" u="none" strike="noStrike" kern="1200" cap="none" spc="0" normalizeH="0" baseline="0" noProof="0">
                <a:ln>
                  <a:noFill/>
                </a:ln>
                <a:solidFill>
                  <a:srgbClr val="1E2761"/>
                </a:solidFill>
                <a:effectLst/>
                <a:uLnTx/>
                <a:uFillTx/>
                <a:latin typeface="Yekan Bakh" pitchFamily="2" charset="-78"/>
                <a:ea typeface="Yekan Bakh" pitchFamily="2" charset="-78"/>
                <a:cs typeface="Yekan Bakh" pitchFamily="2" charset="-78"/>
              </a:endParaRPr>
            </a:p>
          </p:txBody>
        </p:sp>
        <p:sp>
          <p:nvSpPr>
            <p:cNvPr id="18" name="TextBox 17">
              <a:extLst>
                <a:ext uri="{FF2B5EF4-FFF2-40B4-BE49-F238E27FC236}">
                  <a16:creationId xmlns:a16="http://schemas.microsoft.com/office/drawing/2014/main" id="{D40BF1BE-F5A2-7F26-F382-EDEF08E03839}"/>
                </a:ext>
              </a:extLst>
            </p:cNvPr>
            <p:cNvSpPr txBox="1"/>
            <p:nvPr/>
          </p:nvSpPr>
          <p:spPr>
            <a:xfrm>
              <a:off x="2612517" y="2619258"/>
              <a:ext cx="2094990" cy="564946"/>
            </a:xfrm>
            <a:prstGeom prst="rect">
              <a:avLst/>
            </a:prstGeom>
            <a:noFill/>
          </p:spPr>
          <p:txBody>
            <a:bodyPr wrap="square">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200" b="0" i="0" u="none" strike="noStrike" kern="1200" cap="none" spc="0" normalizeH="0" baseline="0" noProof="0">
                  <a:ln>
                    <a:noFill/>
                  </a:ln>
                  <a:solidFill>
                    <a:srgbClr val="1E2761"/>
                  </a:solidFill>
                  <a:effectLst/>
                  <a:uLnTx/>
                  <a:uFillTx/>
                  <a:latin typeface="Yekan Bakh" pitchFamily="2" charset="-78"/>
                  <a:ea typeface="Yekan Bakh" pitchFamily="2" charset="-78"/>
                  <a:cs typeface="Yekan Bakh" pitchFamily="2" charset="-78"/>
                </a:rPr>
                <a:t>مشتری در عمل چطور خرید و تعامل می‌کند؟</a:t>
              </a:r>
              <a:endParaRPr kumimoji="0" lang="en-US" sz="1200" b="0" i="0" u="none" strike="noStrike" kern="1200" cap="none" spc="0" normalizeH="0" baseline="0" noProof="0">
                <a:ln>
                  <a:noFill/>
                </a:ln>
                <a:solidFill>
                  <a:srgbClr val="1E2761"/>
                </a:solidFill>
                <a:effectLst/>
                <a:uLnTx/>
                <a:uFillTx/>
                <a:latin typeface="Yekan Bakh" pitchFamily="2" charset="-78"/>
                <a:ea typeface="Yekan Bakh" pitchFamily="2" charset="-78"/>
                <a:cs typeface="Yekan Bakh" pitchFamily="2" charset="-78"/>
              </a:endParaRPr>
            </a:p>
          </p:txBody>
        </p:sp>
      </p:grpSp>
      <p:sp>
        <p:nvSpPr>
          <p:cNvPr id="24" name="TextBox 23">
            <a:extLst>
              <a:ext uri="{FF2B5EF4-FFF2-40B4-BE49-F238E27FC236}">
                <a16:creationId xmlns:a16="http://schemas.microsoft.com/office/drawing/2014/main" id="{A6ED5144-D5B6-7D54-DACF-835EAABCB8F9}"/>
              </a:ext>
            </a:extLst>
          </p:cNvPr>
          <p:cNvSpPr txBox="1"/>
          <p:nvPr/>
        </p:nvSpPr>
        <p:spPr>
          <a:xfrm>
            <a:off x="6146449" y="1363028"/>
            <a:ext cx="5006975" cy="261610"/>
          </a:xfrm>
          <a:prstGeom prst="rect">
            <a:avLst/>
          </a:prstGeom>
          <a:noFill/>
        </p:spPr>
        <p:txBody>
          <a:bodyPr wrap="square">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ابعاد مورد سنجش برای بخش‌بندی مشتریان:</a:t>
            </a:r>
            <a:endParaRPr kumimoji="0" lang="en-US" sz="1050" b="1"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grpSp>
        <p:nvGrpSpPr>
          <p:cNvPr id="7" name="Group 6">
            <a:extLst>
              <a:ext uri="{FF2B5EF4-FFF2-40B4-BE49-F238E27FC236}">
                <a16:creationId xmlns:a16="http://schemas.microsoft.com/office/drawing/2014/main" id="{A93DC083-CC51-53C7-64B8-335999F83659}"/>
              </a:ext>
            </a:extLst>
          </p:cNvPr>
          <p:cNvGrpSpPr/>
          <p:nvPr/>
        </p:nvGrpSpPr>
        <p:grpSpPr>
          <a:xfrm>
            <a:off x="542426" y="1313092"/>
            <a:ext cx="5253537" cy="4533825"/>
            <a:chOff x="542426" y="1333284"/>
            <a:chExt cx="5253537" cy="4533825"/>
          </a:xfrm>
        </p:grpSpPr>
        <p:sp>
          <p:nvSpPr>
            <p:cNvPr id="21" name="TextBox 20">
              <a:extLst>
                <a:ext uri="{FF2B5EF4-FFF2-40B4-BE49-F238E27FC236}">
                  <a16:creationId xmlns:a16="http://schemas.microsoft.com/office/drawing/2014/main" id="{1ED4A856-FB82-1A59-1F38-38EC663A4F18}"/>
                </a:ext>
              </a:extLst>
            </p:cNvPr>
            <p:cNvSpPr txBox="1"/>
            <p:nvPr/>
          </p:nvSpPr>
          <p:spPr>
            <a:xfrm>
              <a:off x="555625" y="1333284"/>
              <a:ext cx="5240338" cy="738664"/>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05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برای اینکه هر یک از ویژگی‌ها را ارزیابی کنیم که منجر به سگمنت جدیدی از مشتریان می‌شود یا خیر، از سوالات زیر استفاده می‌کنیم: </a:t>
              </a:r>
            </a:p>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fa-IR" sz="105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23" name="TextBox 22">
              <a:extLst>
                <a:ext uri="{FF2B5EF4-FFF2-40B4-BE49-F238E27FC236}">
                  <a16:creationId xmlns:a16="http://schemas.microsoft.com/office/drawing/2014/main" id="{D0FF0CD3-366F-4B11-337D-1B5D1A1D1396}"/>
                </a:ext>
              </a:extLst>
            </p:cNvPr>
            <p:cNvSpPr txBox="1"/>
            <p:nvPr/>
          </p:nvSpPr>
          <p:spPr>
            <a:xfrm>
              <a:off x="542426" y="1743864"/>
              <a:ext cx="5137928" cy="2354491"/>
            </a:xfrm>
            <a:prstGeom prst="rect">
              <a:avLst/>
            </a:prstGeom>
            <a:noFill/>
          </p:spPr>
          <p:txBody>
            <a:bodyPr wrap="square">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1. این ویژگی بین مشتریان تفاوت معنادار برای عملیات کسب‌وکار ایجاد می‌کند؟</a:t>
              </a:r>
            </a:p>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05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اگر نه </a:t>
              </a:r>
              <a:r>
                <a:rPr kumimoji="0" lang="en-US" sz="105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&lt;</a:t>
              </a:r>
              <a:r>
                <a:rPr kumimoji="0" lang="fa-IR" sz="105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حذف.</a:t>
              </a:r>
            </a:p>
            <a:p>
              <a:pPr marL="0" marR="0" lvl="0" indent="0" algn="r" defTabSz="457200" rtl="1" eaLnBrk="1" fontAlgn="auto" latinLnBrk="0" hangingPunct="1">
                <a:lnSpc>
                  <a:spcPct val="100000"/>
                </a:lnSpc>
                <a:spcBef>
                  <a:spcPts val="0"/>
                </a:spcBef>
                <a:spcAft>
                  <a:spcPts val="0"/>
                </a:spcAft>
                <a:buClrTx/>
                <a:buSzTx/>
                <a:buFontTx/>
                <a:buNone/>
                <a:tabLst/>
                <a:defRPr/>
              </a:pPr>
              <a:endParaRPr kumimoji="0" lang="fa-IR" sz="105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2. این تفاوت روی چیزی که مشتری ارزش می‌داند اثر دارد؟</a:t>
              </a:r>
            </a:p>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05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اگر نه </a:t>
              </a:r>
              <a:r>
                <a:rPr kumimoji="0" lang="en-US" sz="105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&lt;</a:t>
              </a:r>
              <a:r>
                <a:rPr kumimoji="0" lang="fa-IR" sz="105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احتمالاً برای «ارزش پیشنهادی» بی‌اهمیت است.</a:t>
              </a:r>
              <a:endParaRPr kumimoji="0" lang="en-US" sz="105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a:p>
              <a:pPr marL="0" marR="0" lvl="0" indent="0" algn="r" defTabSz="457200" rtl="1" eaLnBrk="1" fontAlgn="auto" latinLnBrk="0" hangingPunct="1">
                <a:lnSpc>
                  <a:spcPct val="100000"/>
                </a:lnSpc>
                <a:spcBef>
                  <a:spcPts val="0"/>
                </a:spcBef>
                <a:spcAft>
                  <a:spcPts val="0"/>
                </a:spcAft>
                <a:buClrTx/>
                <a:buSzTx/>
                <a:buFontTx/>
                <a:buNone/>
                <a:tabLst/>
                <a:defRPr/>
              </a:pPr>
              <a:endParaRPr kumimoji="0" lang="fa-IR" sz="105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3. این تفاوت باعث تفاوت در قابلیت</a:t>
              </a:r>
              <a:r>
                <a:rPr kumimoji="0" lang="en-US" sz="1050" b="1"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a:t>
              </a:r>
              <a:r>
                <a:rPr kumimoji="0" lang="fa-IR" sz="1050" b="1"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موردنیاز در کسب‌وکار می‌شود؟</a:t>
              </a:r>
            </a:p>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05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اگر نه </a:t>
              </a:r>
              <a:r>
                <a:rPr kumimoji="0" lang="en-US" sz="1050" b="1"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&lt;</a:t>
              </a:r>
              <a:r>
                <a:rPr kumimoji="0" lang="fa-IR" sz="105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احتمالاً برای سیستم عملیاتی کسب‌وکار بی‌اهمیت است.</a:t>
              </a:r>
              <a:endParaRPr kumimoji="0" lang="en-US" sz="105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a:p>
              <a:pPr marL="0" marR="0" lvl="0" indent="0" algn="r" defTabSz="457200" rtl="1" eaLnBrk="1" fontAlgn="auto" latinLnBrk="0" hangingPunct="1">
                <a:lnSpc>
                  <a:spcPct val="100000"/>
                </a:lnSpc>
                <a:spcBef>
                  <a:spcPts val="0"/>
                </a:spcBef>
                <a:spcAft>
                  <a:spcPts val="0"/>
                </a:spcAft>
                <a:buClrTx/>
                <a:buSzTx/>
                <a:buFontTx/>
                <a:buNone/>
                <a:tabLst/>
                <a:defRPr/>
              </a:pPr>
              <a:endParaRPr kumimoji="0" lang="fa-IR" sz="105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4. آیا این قابلیت</a:t>
              </a:r>
              <a:r>
                <a:rPr kumimoji="0" lang="en-US" sz="1050" b="1"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a:t>
              </a:r>
              <a:r>
                <a:rPr kumimoji="0" lang="fa-IR" sz="1050" b="1"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برای سازمان هزینه/پیچیدگی/ساختار متفاوت ایجاد می‌کند؟</a:t>
              </a:r>
            </a:p>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05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اگر نه </a:t>
              </a:r>
              <a:r>
                <a:rPr kumimoji="0" lang="en-US" sz="105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&lt;</a:t>
              </a:r>
              <a:r>
                <a:rPr kumimoji="0" lang="fa-IR" sz="105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احتمالاً بخش</a:t>
              </a:r>
              <a:r>
                <a:rPr kumimoji="0" lang="en-US" sz="105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a:t>
              </a:r>
              <a:r>
                <a:rPr kumimoji="0" lang="fa-IR" sz="105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جدیدی از مشتریان ایجاد نمی‌کند.</a:t>
              </a:r>
              <a:endParaRPr kumimoji="0" lang="en-US" sz="105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a:p>
              <a:pPr marL="0" marR="0" lvl="0" indent="0" algn="r" defTabSz="457200" rtl="1" eaLnBrk="1" fontAlgn="auto" latinLnBrk="0" hangingPunct="1">
                <a:lnSpc>
                  <a:spcPct val="100000"/>
                </a:lnSpc>
                <a:spcBef>
                  <a:spcPts val="0"/>
                </a:spcBef>
                <a:spcAft>
                  <a:spcPts val="0"/>
                </a:spcAft>
                <a:buClrTx/>
                <a:buSzTx/>
                <a:buFontTx/>
                <a:buNone/>
                <a:tabLst/>
                <a:defRPr/>
              </a:pPr>
              <a:endParaRPr kumimoji="0" lang="fa-IR" sz="105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5. آیا سازمان واقعاً می‌تواند نحوه پاسخ متفاوتی به این مشتری</a:t>
              </a:r>
              <a:r>
                <a:rPr kumimoji="0" lang="en-US" sz="1050" b="1"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a:t>
              </a:r>
              <a:r>
                <a:rPr kumimoji="0" lang="fa-IR" sz="1050" b="1"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بدهد؟</a:t>
              </a:r>
            </a:p>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05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اگر نه </a:t>
              </a:r>
              <a:r>
                <a:rPr kumimoji="0" lang="en-US" sz="105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&lt;</a:t>
              </a:r>
              <a:r>
                <a:rPr kumimoji="0" lang="fa-IR" sz="105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بخش تعریف‌شده</a:t>
              </a:r>
              <a:r>
                <a:rPr kumimoji="0" lang="en-US" sz="105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a:t>
              </a:r>
              <a:r>
                <a:rPr kumimoji="0" lang="fa-IR" sz="105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از نظر مدیریتی بی‌فایده است.</a:t>
              </a:r>
            </a:p>
          </p:txBody>
        </p:sp>
        <p:sp>
          <p:nvSpPr>
            <p:cNvPr id="25" name="TextBox 24">
              <a:extLst>
                <a:ext uri="{FF2B5EF4-FFF2-40B4-BE49-F238E27FC236}">
                  <a16:creationId xmlns:a16="http://schemas.microsoft.com/office/drawing/2014/main" id="{B57A2FB8-25E7-884D-DCD5-1C038FB45851}"/>
                </a:ext>
              </a:extLst>
            </p:cNvPr>
            <p:cNvSpPr txBox="1"/>
            <p:nvPr/>
          </p:nvSpPr>
          <p:spPr>
            <a:xfrm>
              <a:off x="572397" y="4320532"/>
              <a:ext cx="5223566" cy="1546577"/>
            </a:xfrm>
            <a:prstGeom prst="rect">
              <a:avLst/>
            </a:prstGeom>
            <a:noFill/>
          </p:spPr>
          <p:txBody>
            <a:bodyPr wrap="square" rtlCol="0">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05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دو اصل کلیدی در بخش‌بندی مشتریان: </a:t>
              </a:r>
            </a:p>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fa-IR" sz="105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endParaRP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05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ادغام کردن</a:t>
              </a:r>
              <a:r>
                <a:rPr kumimoji="0" lang="fa-IR" sz="105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زمانی که دو مشتری، </a:t>
              </a:r>
              <a:r>
                <a:rPr kumimoji="0" lang="fa-IR" sz="1050" b="0"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نیاز بنیادی، رفتار، فرآیند خرید، تمایل به پرداخت، ارزش پیشنهادی و الزامات مدل عملیاتی</a:t>
              </a:r>
              <a:r>
                <a:rPr kumimoji="0" lang="fa-IR" sz="1050" b="0" i="0" u="none" strike="noStrike" kern="1200" cap="none" spc="0" normalizeH="0" baseline="0" noProof="0" dirty="0">
                  <a:ln>
                    <a:noFill/>
                  </a:ln>
                  <a:solidFill>
                    <a:srgbClr val="C00000"/>
                  </a:solidFill>
                  <a:effectLst/>
                  <a:uLnTx/>
                  <a:uFillTx/>
                  <a:latin typeface="Yekan Bakh" pitchFamily="2" charset="-78"/>
                  <a:ea typeface="Yekan Bakh" pitchFamily="2" charset="-78"/>
                  <a:cs typeface="Yekan Bakh" pitchFamily="2" charset="-78"/>
                </a:rPr>
                <a:t> </a:t>
              </a:r>
              <a:r>
                <a:rPr kumimoji="0" lang="fa-IR" sz="105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یکسانی دارند، صرف‌نظر از صنعت، جغرافیا، اندازه، ملیت یا نوع معامله، در یک بخش مشخص از مشتریان قرار می‎گیرند. </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fa-IR" sz="105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endParaRP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05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تفکیک کردن</a:t>
              </a:r>
              <a:r>
                <a:rPr kumimoji="0" lang="fa-IR" sz="105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زمانی که دو مشتری به </a:t>
              </a:r>
              <a:r>
                <a:rPr kumimoji="0" lang="fa-IR" sz="1050" b="0"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ارزش پیشنهادی، رویکرد فروش، منطق قیمت‌گذاری، قابلیت‌ها، مدیریت ریسک یا مدل عملیاتی به‌طور معناداری متفاوتی </a:t>
              </a:r>
              <a:r>
                <a:rPr kumimoji="0" lang="fa-IR" sz="105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نیاز دارند، حتی اگر از نظر مشخصات شرکت کاملاً مشابه به نظر برسند.</a:t>
              </a:r>
              <a:endParaRPr kumimoji="0" lang="en-US" sz="105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26" name="Isosceles Triangle 25">
              <a:extLst>
                <a:ext uri="{FF2B5EF4-FFF2-40B4-BE49-F238E27FC236}">
                  <a16:creationId xmlns:a16="http://schemas.microsoft.com/office/drawing/2014/main" id="{31A99155-1ACD-4EE4-A38E-854CACC3FF9C}"/>
                </a:ext>
              </a:extLst>
            </p:cNvPr>
            <p:cNvSpPr/>
            <p:nvPr/>
          </p:nvSpPr>
          <p:spPr>
            <a:xfrm rot="10800000">
              <a:off x="1295633" y="4107229"/>
              <a:ext cx="3667126" cy="201155"/>
            </a:xfrm>
            <a:prstGeom prst="triangl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Yekan Bakh" pitchFamily="2" charset="-78"/>
                <a:ea typeface="Yekan Bakh" pitchFamily="2" charset="-78"/>
                <a:cs typeface="Yekan Bakh" pitchFamily="2" charset="-78"/>
              </a:endParaRPr>
            </a:p>
          </p:txBody>
        </p:sp>
      </p:grpSp>
    </p:spTree>
    <p:extLst>
      <p:ext uri="{BB962C8B-B14F-4D97-AF65-F5344CB8AC3E}">
        <p14:creationId xmlns:p14="http://schemas.microsoft.com/office/powerpoint/2010/main" val="19314735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DA2B02C-D403-E9E3-3E32-B42D3E4BA234}"/>
              </a:ext>
            </a:extLst>
          </p:cNvPr>
          <p:cNvSpPr>
            <a:spLocks noGrp="1"/>
          </p:cNvSpPr>
          <p:nvPr>
            <p:ph type="body" sz="quarter" idx="10"/>
          </p:nvPr>
        </p:nvSpPr>
        <p:spPr/>
        <p:txBody>
          <a:bodyPr/>
          <a:lstStyle/>
          <a:p>
            <a:r>
              <a:rPr lang="fa-IR" dirty="0"/>
              <a:t>ابعاد بخش‌بندی مشتریان </a:t>
            </a:r>
          </a:p>
        </p:txBody>
      </p:sp>
      <p:sp>
        <p:nvSpPr>
          <p:cNvPr id="3" name="Text Placeholder 2">
            <a:extLst>
              <a:ext uri="{FF2B5EF4-FFF2-40B4-BE49-F238E27FC236}">
                <a16:creationId xmlns:a16="http://schemas.microsoft.com/office/drawing/2014/main" id="{2D46F58B-23E2-78E6-CC93-AA6A9376ED39}"/>
              </a:ext>
            </a:extLst>
          </p:cNvPr>
          <p:cNvSpPr>
            <a:spLocks noGrp="1"/>
          </p:cNvSpPr>
          <p:nvPr>
            <p:ph type="body" sz="quarter" idx="12"/>
          </p:nvPr>
        </p:nvSpPr>
        <p:spPr/>
        <p:txBody>
          <a:bodyPr/>
          <a:lstStyle/>
          <a:p>
            <a:r>
              <a:rPr lang="fa-IR" dirty="0"/>
              <a:t>بعد نیاز </a:t>
            </a:r>
            <a:r>
              <a:rPr lang="fa-IR" sz="1400" b="0" dirty="0"/>
              <a:t>— متمایزکننده اصلی</a:t>
            </a:r>
            <a:endParaRPr lang="fa-IR" b="0" dirty="0"/>
          </a:p>
          <a:p>
            <a:endParaRPr lang="en-GB" dirty="0"/>
          </a:p>
        </p:txBody>
      </p:sp>
      <p:graphicFrame>
        <p:nvGraphicFramePr>
          <p:cNvPr id="5" name="Table 4">
            <a:extLst>
              <a:ext uri="{FF2B5EF4-FFF2-40B4-BE49-F238E27FC236}">
                <a16:creationId xmlns:a16="http://schemas.microsoft.com/office/drawing/2014/main" id="{77FFE6B8-400E-C530-CA5E-E2521B68371B}"/>
              </a:ext>
            </a:extLst>
          </p:cNvPr>
          <p:cNvGraphicFramePr>
            <a:graphicFrameLocks noGrp="1"/>
          </p:cNvGraphicFramePr>
          <p:nvPr>
            <p:extLst>
              <p:ext uri="{D42A27DB-BD31-4B8C-83A1-F6EECF244321}">
                <p14:modId xmlns:p14="http://schemas.microsoft.com/office/powerpoint/2010/main" val="57608337"/>
              </p:ext>
            </p:extLst>
          </p:nvPr>
        </p:nvGraphicFramePr>
        <p:xfrm>
          <a:off x="3675530" y="1778751"/>
          <a:ext cx="7449238" cy="3912428"/>
        </p:xfrm>
        <a:graphic>
          <a:graphicData uri="http://schemas.openxmlformats.org/drawingml/2006/table">
            <a:tbl>
              <a:tblPr firstRow="1" bandRow="1">
                <a:tableStyleId>{5C22544A-7EE6-4342-B048-85BDC9FD1C3A}</a:tableStyleId>
              </a:tblPr>
              <a:tblGrid>
                <a:gridCol w="3588682">
                  <a:extLst>
                    <a:ext uri="{9D8B030D-6E8A-4147-A177-3AD203B41FA5}">
                      <a16:colId xmlns:a16="http://schemas.microsoft.com/office/drawing/2014/main" val="2225969677"/>
                    </a:ext>
                  </a:extLst>
                </a:gridCol>
                <a:gridCol w="3860556">
                  <a:extLst>
                    <a:ext uri="{9D8B030D-6E8A-4147-A177-3AD203B41FA5}">
                      <a16:colId xmlns:a16="http://schemas.microsoft.com/office/drawing/2014/main" val="748224083"/>
                    </a:ext>
                  </a:extLst>
                </a:gridCol>
              </a:tblGrid>
              <a:tr h="533847">
                <a:tc>
                  <a:txBody>
                    <a:bodyPr/>
                    <a:lstStyle/>
                    <a:p>
                      <a:pPr algn="ctr" rtl="1"/>
                      <a:r>
                        <a:rPr lang="fa-IR" sz="1200" dirty="0">
                          <a:solidFill>
                            <a:schemeClr val="bg1"/>
                          </a:solidFill>
                          <a:latin typeface="Yekan Bakh" pitchFamily="2" charset="-78"/>
                          <a:ea typeface="Yekan Bakh" pitchFamily="2" charset="-78"/>
                          <a:cs typeface="Yekan Bakh" pitchFamily="2" charset="-78"/>
                        </a:rPr>
                        <a:t>دلایل ادغام </a:t>
                      </a:r>
                      <a:endParaRPr lang="en-US" sz="1200" dirty="0">
                        <a:solidFill>
                          <a:schemeClr val="bg1"/>
                        </a:solidFill>
                        <a:latin typeface="Yekan Bakh" pitchFamily="2" charset="-78"/>
                        <a:ea typeface="Yekan Bakh" pitchFamily="2" charset="-78"/>
                        <a:cs typeface="Yekan Bakh" pitchFamily="2" charset="-78"/>
                      </a:endParaRPr>
                    </a:p>
                  </a:txBody>
                  <a:tcPr anchor="ctr">
                    <a:solidFill>
                      <a:srgbClr val="1E2761"/>
                    </a:solidFill>
                  </a:tcPr>
                </a:tc>
                <a:tc>
                  <a:txBody>
                    <a:bodyPr/>
                    <a:lstStyle/>
                    <a:p>
                      <a:pPr algn="ctr" rtl="1"/>
                      <a:r>
                        <a:rPr lang="fa-IR" sz="1200" dirty="0">
                          <a:solidFill>
                            <a:schemeClr val="bg1"/>
                          </a:solidFill>
                          <a:latin typeface="Yekan Bakh" pitchFamily="2" charset="-78"/>
                          <a:ea typeface="Yekan Bakh" pitchFamily="2" charset="-78"/>
                          <a:cs typeface="Yekan Bakh" pitchFamily="2" charset="-78"/>
                        </a:rPr>
                        <a:t>نیازهای کاندیدِ ادغام‌شده در آن</a:t>
                      </a:r>
                      <a:endParaRPr lang="en-US" sz="1200" dirty="0">
                        <a:solidFill>
                          <a:schemeClr val="bg1"/>
                        </a:solidFill>
                        <a:latin typeface="Yekan Bakh" pitchFamily="2" charset="-78"/>
                        <a:ea typeface="Yekan Bakh" pitchFamily="2" charset="-78"/>
                        <a:cs typeface="Yekan Bakh" pitchFamily="2" charset="-78"/>
                      </a:endParaRPr>
                    </a:p>
                  </a:txBody>
                  <a:tcPr anchor="ctr">
                    <a:solidFill>
                      <a:srgbClr val="1E2761"/>
                    </a:solidFill>
                  </a:tcPr>
                </a:tc>
                <a:extLst>
                  <a:ext uri="{0D108BD9-81ED-4DB2-BD59-A6C34878D82A}">
                    <a16:rowId xmlns:a16="http://schemas.microsoft.com/office/drawing/2014/main" val="359730985"/>
                  </a:ext>
                </a:extLst>
              </a:tr>
              <a:tr h="1009184">
                <a:tc>
                  <a:txBody>
                    <a:bodyPr/>
                    <a:lstStyle/>
                    <a:p>
                      <a:pPr algn="justLow" rtl="1"/>
                      <a:r>
                        <a:rPr lang="fa-IR" sz="1000" dirty="0">
                          <a:solidFill>
                            <a:schemeClr val="tx1">
                              <a:lumMod val="65000"/>
                              <a:lumOff val="35000"/>
                            </a:schemeClr>
                          </a:solidFill>
                          <a:latin typeface="Yekan Bakh" pitchFamily="2" charset="-78"/>
                          <a:ea typeface="Yekan Bakh" pitchFamily="2" charset="-78"/>
                          <a:cs typeface="Yekan Bakh" pitchFamily="2" charset="-78"/>
                        </a:rPr>
                        <a:t>همه این موارد به مکانیسم یکسانی نیاز دارند: یافتن، اعتبارسنجی، انطباق (</a:t>
                      </a:r>
                      <a:r>
                        <a:rPr lang="en-US" sz="1000" dirty="0">
                          <a:solidFill>
                            <a:schemeClr val="tx1">
                              <a:lumMod val="65000"/>
                              <a:lumOff val="35000"/>
                            </a:schemeClr>
                          </a:solidFill>
                          <a:latin typeface="Yekan Bakh" pitchFamily="2" charset="-78"/>
                          <a:ea typeface="Yekan Bakh" pitchFamily="2" charset="-78"/>
                          <a:cs typeface="Yekan Bakh" pitchFamily="2" charset="-78"/>
                        </a:rPr>
                        <a:t>Match</a:t>
                      </a:r>
                      <a:r>
                        <a:rPr lang="fa-IR" sz="1000" dirty="0">
                          <a:solidFill>
                            <a:schemeClr val="tx1">
                              <a:lumMod val="65000"/>
                              <a:lumOff val="35000"/>
                            </a:schemeClr>
                          </a:solidFill>
                          <a:latin typeface="Yekan Bakh" pitchFamily="2" charset="-78"/>
                          <a:ea typeface="Yekan Bakh" pitchFamily="2" charset="-78"/>
                          <a:cs typeface="Yekan Bakh" pitchFamily="2" charset="-78"/>
                        </a:rPr>
                        <a:t>)</a:t>
                      </a:r>
                      <a:r>
                        <a:rPr lang="en-US" sz="1000" dirty="0">
                          <a:solidFill>
                            <a:schemeClr val="tx1">
                              <a:lumMod val="65000"/>
                              <a:lumOff val="35000"/>
                            </a:schemeClr>
                          </a:solidFill>
                          <a:latin typeface="Yekan Bakh" pitchFamily="2" charset="-78"/>
                          <a:ea typeface="Yekan Bakh" pitchFamily="2" charset="-78"/>
                          <a:cs typeface="Yekan Bakh" pitchFamily="2" charset="-78"/>
                        </a:rPr>
                        <a:t>، </a:t>
                      </a:r>
                      <a:r>
                        <a:rPr lang="fa-IR" sz="1000" dirty="0">
                          <a:solidFill>
                            <a:schemeClr val="tx1">
                              <a:lumMod val="65000"/>
                              <a:lumOff val="35000"/>
                            </a:schemeClr>
                          </a:solidFill>
                          <a:latin typeface="Yekan Bakh" pitchFamily="2" charset="-78"/>
                          <a:ea typeface="Yekan Bakh" pitchFamily="2" charset="-78"/>
                          <a:cs typeface="Yekan Bakh" pitchFamily="2" charset="-78"/>
                        </a:rPr>
                        <a:t>کاهش ریسک و اجرا. </a:t>
                      </a:r>
                    </a:p>
                    <a:p>
                      <a:pPr algn="justLow" rtl="1"/>
                      <a:r>
                        <a:rPr lang="fa-IR" sz="1000" dirty="0">
                          <a:solidFill>
                            <a:schemeClr val="tx1">
                              <a:lumMod val="65000"/>
                              <a:lumOff val="35000"/>
                            </a:schemeClr>
                          </a:solidFill>
                          <a:latin typeface="Yekan Bakh" pitchFamily="2" charset="-78"/>
                          <a:ea typeface="Yekan Bakh" pitchFamily="2" charset="-78"/>
                          <a:cs typeface="Yekan Bakh" pitchFamily="2" charset="-78"/>
                        </a:rPr>
                        <a:t>موضوع معامله متفاوت است، اما وظیفه، فرآیند خرید و مدل ارائه خدمات تغییری نمی‌کند.</a:t>
                      </a:r>
                      <a:endParaRPr lang="en-US" sz="1000" dirty="0">
                        <a:solidFill>
                          <a:schemeClr val="tx1">
                            <a:lumMod val="65000"/>
                            <a:lumOff val="35000"/>
                          </a:schemeClr>
                        </a:solidFill>
                        <a:latin typeface="Yekan Bakh" pitchFamily="2" charset="-78"/>
                        <a:ea typeface="Yekan Bakh" pitchFamily="2" charset="-78"/>
                        <a:cs typeface="Yekan Bakh" pitchFamily="2" charset="-78"/>
                      </a:endParaRPr>
                    </a:p>
                  </a:txBody>
                  <a:tcPr anchor="ctr">
                    <a:solidFill>
                      <a:schemeClr val="bg1">
                        <a:lumMod val="95000"/>
                      </a:schemeClr>
                    </a:solidFill>
                  </a:tcPr>
                </a:tc>
                <a:tc>
                  <a:txBody>
                    <a:bodyPr/>
                    <a:lstStyle/>
                    <a:p>
                      <a:pPr algn="justLow" rtl="1"/>
                      <a:r>
                        <a:rPr lang="fa-IR" sz="1000" dirty="0">
                          <a:solidFill>
                            <a:schemeClr val="tx1">
                              <a:lumMod val="65000"/>
                              <a:lumOff val="35000"/>
                            </a:schemeClr>
                          </a:solidFill>
                          <a:latin typeface="Yekan Bakh" pitchFamily="2" charset="-78"/>
                          <a:ea typeface="Yekan Bakh" pitchFamily="2" charset="-78"/>
                          <a:cs typeface="Yekan Bakh" pitchFamily="2" charset="-78"/>
                        </a:rPr>
                        <a:t>توسعه و ورود به بازار، منبع‌یابی (</a:t>
                      </a:r>
                      <a:r>
                        <a:rPr lang="en-US" sz="1000" dirty="0">
                          <a:solidFill>
                            <a:schemeClr val="tx1">
                              <a:lumMod val="65000"/>
                              <a:lumOff val="35000"/>
                            </a:schemeClr>
                          </a:solidFill>
                          <a:latin typeface="Yekan Bakh" pitchFamily="2" charset="-78"/>
                          <a:ea typeface="Yekan Bakh" pitchFamily="2" charset="-78"/>
                          <a:cs typeface="Yekan Bakh" pitchFamily="2" charset="-78"/>
                        </a:rPr>
                        <a:t>Sourcing</a:t>
                      </a:r>
                      <a:r>
                        <a:rPr lang="fa-IR" sz="1000" dirty="0">
                          <a:solidFill>
                            <a:schemeClr val="tx1">
                              <a:lumMod val="65000"/>
                              <a:lumOff val="35000"/>
                            </a:schemeClr>
                          </a:solidFill>
                          <a:latin typeface="Yekan Bakh" pitchFamily="2" charset="-78"/>
                          <a:ea typeface="Yekan Bakh" pitchFamily="2" charset="-78"/>
                          <a:cs typeface="Yekan Bakh" pitchFamily="2" charset="-78"/>
                        </a:rPr>
                        <a:t>)</a:t>
                      </a:r>
                      <a:r>
                        <a:rPr lang="en-US" sz="1000" dirty="0">
                          <a:solidFill>
                            <a:schemeClr val="tx1">
                              <a:lumMod val="65000"/>
                              <a:lumOff val="35000"/>
                            </a:schemeClr>
                          </a:solidFill>
                          <a:latin typeface="Yekan Bakh" pitchFamily="2" charset="-78"/>
                          <a:ea typeface="Yekan Bakh" pitchFamily="2" charset="-78"/>
                          <a:cs typeface="Yekan Bakh" pitchFamily="2" charset="-78"/>
                        </a:rPr>
                        <a:t>، </a:t>
                      </a:r>
                      <a:r>
                        <a:rPr lang="fa-IR" sz="1000" dirty="0">
                          <a:solidFill>
                            <a:schemeClr val="tx1">
                              <a:lumMod val="65000"/>
                              <a:lumOff val="35000"/>
                            </a:schemeClr>
                          </a:solidFill>
                          <a:latin typeface="Yekan Bakh" pitchFamily="2" charset="-78"/>
                          <a:ea typeface="Yekan Bakh" pitchFamily="2" charset="-78"/>
                          <a:cs typeface="Yekan Bakh" pitchFamily="2" charset="-78"/>
                        </a:rPr>
                        <a:t>توزیع، مشارکت استراتژیک، دسترسی به فناوری، ادغام و تملک (</a:t>
                      </a:r>
                      <a:r>
                        <a:rPr lang="en-US" sz="1000" dirty="0">
                          <a:solidFill>
                            <a:schemeClr val="tx1">
                              <a:lumMod val="65000"/>
                              <a:lumOff val="35000"/>
                            </a:schemeClr>
                          </a:solidFill>
                          <a:latin typeface="Yekan Bakh" pitchFamily="2" charset="-78"/>
                          <a:ea typeface="Yekan Bakh" pitchFamily="2" charset="-78"/>
                          <a:cs typeface="Yekan Bakh" pitchFamily="2" charset="-78"/>
                        </a:rPr>
                        <a:t>M&amp;A</a:t>
                      </a:r>
                      <a:r>
                        <a:rPr lang="fa-IR" sz="1000" dirty="0">
                          <a:solidFill>
                            <a:schemeClr val="tx1">
                              <a:lumMod val="65000"/>
                              <a:lumOff val="35000"/>
                            </a:schemeClr>
                          </a:solidFill>
                          <a:latin typeface="Yekan Bakh" pitchFamily="2" charset="-78"/>
                          <a:ea typeface="Yekan Bakh" pitchFamily="2" charset="-78"/>
                          <a:cs typeface="Yekan Bakh" pitchFamily="2" charset="-78"/>
                        </a:rPr>
                        <a:t>)</a:t>
                      </a:r>
                      <a:r>
                        <a:rPr lang="en-US" sz="1000" dirty="0">
                          <a:solidFill>
                            <a:schemeClr val="tx1">
                              <a:lumMod val="65000"/>
                              <a:lumOff val="35000"/>
                            </a:schemeClr>
                          </a:solidFill>
                          <a:latin typeface="Yekan Bakh" pitchFamily="2" charset="-78"/>
                          <a:ea typeface="Yekan Bakh" pitchFamily="2" charset="-78"/>
                          <a:cs typeface="Yekan Bakh" pitchFamily="2" charset="-78"/>
                        </a:rPr>
                        <a:t>، </a:t>
                      </a:r>
                      <a:r>
                        <a:rPr lang="fa-IR" sz="1000" dirty="0">
                          <a:solidFill>
                            <a:schemeClr val="tx1">
                              <a:lumMod val="65000"/>
                              <a:lumOff val="35000"/>
                            </a:schemeClr>
                          </a:solidFill>
                          <a:latin typeface="Yekan Bakh" pitchFamily="2" charset="-78"/>
                          <a:ea typeface="Yekan Bakh" pitchFamily="2" charset="-78"/>
                          <a:cs typeface="Yekan Bakh" pitchFamily="2" charset="-78"/>
                        </a:rPr>
                        <a:t>دسترسی به شریک محلی، دسترسی به شریک بین‌المللی، صادرات، انتقال قابلیت‌ها، جذب سرمایه، آموزش‌های حرفه‌ای کسب‌وکار، مدیریتی و فنی </a:t>
                      </a:r>
                      <a:endParaRPr lang="en-US" sz="1000" dirty="0">
                        <a:solidFill>
                          <a:schemeClr val="tx1">
                            <a:lumMod val="65000"/>
                            <a:lumOff val="35000"/>
                          </a:schemeClr>
                        </a:solidFill>
                        <a:latin typeface="Yekan Bakh" pitchFamily="2" charset="-78"/>
                        <a:ea typeface="Yekan Bakh" pitchFamily="2" charset="-78"/>
                        <a:cs typeface="Yekan Bakh" pitchFamily="2" charset="-78"/>
                      </a:endParaRPr>
                    </a:p>
                  </a:txBody>
                  <a:tcPr anchor="ctr">
                    <a:solidFill>
                      <a:schemeClr val="bg1">
                        <a:lumMod val="95000"/>
                      </a:schemeClr>
                    </a:solidFill>
                  </a:tcPr>
                </a:tc>
                <a:extLst>
                  <a:ext uri="{0D108BD9-81ED-4DB2-BD59-A6C34878D82A}">
                    <a16:rowId xmlns:a16="http://schemas.microsoft.com/office/drawing/2014/main" val="3008010569"/>
                  </a:ext>
                </a:extLst>
              </a:tr>
              <a:tr h="789799">
                <a:tc>
                  <a:txBody>
                    <a:bodyPr/>
                    <a:lstStyle/>
                    <a:p>
                      <a:pPr algn="justLow" rtl="1"/>
                      <a:r>
                        <a:rPr lang="fa-IR" sz="1000" dirty="0">
                          <a:solidFill>
                            <a:schemeClr val="tx1">
                              <a:lumMod val="65000"/>
                              <a:lumOff val="35000"/>
                            </a:schemeClr>
                          </a:solidFill>
                          <a:latin typeface="Yekan Bakh" pitchFamily="2" charset="-78"/>
                          <a:ea typeface="Yekan Bakh" pitchFamily="2" charset="-78"/>
                          <a:cs typeface="Yekan Bakh" pitchFamily="2" charset="-78"/>
                        </a:rPr>
                        <a:t>وظیفه‌ای مجزا: مشتری هنوز اصلاً امکان ورود به معامله را ندارد. خروجی/تحویلی این کار، ایجاد تغییر در خود مشتری است، نه در طرف معامله. </a:t>
                      </a:r>
                      <a:endParaRPr lang="en-US" sz="1000" dirty="0">
                        <a:solidFill>
                          <a:schemeClr val="tx1">
                            <a:lumMod val="65000"/>
                            <a:lumOff val="35000"/>
                          </a:schemeClr>
                        </a:solidFill>
                        <a:latin typeface="Yekan Bakh" pitchFamily="2" charset="-78"/>
                        <a:ea typeface="Yekan Bakh" pitchFamily="2" charset="-78"/>
                        <a:cs typeface="Yekan Bakh" pitchFamily="2" charset="-78"/>
                      </a:endParaRPr>
                    </a:p>
                  </a:txBody>
                  <a:tcPr anchor="ctr">
                    <a:solidFill>
                      <a:schemeClr val="bg1">
                        <a:lumMod val="95000"/>
                      </a:schemeClr>
                    </a:solidFill>
                  </a:tcPr>
                </a:tc>
                <a:tc>
                  <a:txBody>
                    <a:bodyPr/>
                    <a:lstStyle/>
                    <a:p>
                      <a:pPr algn="justLow" rtl="1"/>
                      <a:r>
                        <a:rPr lang="fa-IR" sz="1000" dirty="0">
                          <a:solidFill>
                            <a:schemeClr val="tx1">
                              <a:lumMod val="65000"/>
                              <a:lumOff val="35000"/>
                            </a:schemeClr>
                          </a:solidFill>
                          <a:latin typeface="Yekan Bakh" pitchFamily="2" charset="-78"/>
                          <a:ea typeface="Yekan Bakh" pitchFamily="2" charset="-78"/>
                          <a:cs typeface="Yekan Bakh" pitchFamily="2" charset="-78"/>
                        </a:rPr>
                        <a:t>ارتقای حاکمیت شرکتی، اعتبارسازی، آمادگی عملیاتی، کاهش ریسک، هدایت و تطبیق رگولاتوری</a:t>
                      </a:r>
                      <a:endParaRPr lang="en-US" sz="1000" dirty="0">
                        <a:solidFill>
                          <a:schemeClr val="tx1">
                            <a:lumMod val="65000"/>
                            <a:lumOff val="35000"/>
                          </a:schemeClr>
                        </a:solidFill>
                        <a:latin typeface="Yekan Bakh" pitchFamily="2" charset="-78"/>
                        <a:ea typeface="Yekan Bakh" pitchFamily="2" charset="-78"/>
                        <a:cs typeface="Yekan Bakh" pitchFamily="2" charset="-78"/>
                      </a:endParaRPr>
                    </a:p>
                  </a:txBody>
                  <a:tcPr anchor="ctr">
                    <a:solidFill>
                      <a:schemeClr val="bg1">
                        <a:lumMod val="95000"/>
                      </a:schemeClr>
                    </a:solidFill>
                  </a:tcPr>
                </a:tc>
                <a:extLst>
                  <a:ext uri="{0D108BD9-81ED-4DB2-BD59-A6C34878D82A}">
                    <a16:rowId xmlns:a16="http://schemas.microsoft.com/office/drawing/2014/main" val="3602813289"/>
                  </a:ext>
                </a:extLst>
              </a:tr>
              <a:tr h="789799">
                <a:tc>
                  <a:txBody>
                    <a:bodyPr/>
                    <a:lstStyle/>
                    <a:p>
                      <a:pPr algn="justLow" rtl="1"/>
                      <a:r>
                        <a:rPr lang="fa-IR" sz="1000">
                          <a:solidFill>
                            <a:schemeClr val="tx1">
                              <a:lumMod val="65000"/>
                              <a:lumOff val="35000"/>
                            </a:schemeClr>
                          </a:solidFill>
                          <a:latin typeface="Yekan Bakh" pitchFamily="2" charset="-78"/>
                          <a:ea typeface="Yekan Bakh" pitchFamily="2" charset="-78"/>
                          <a:cs typeface="Yekan Bakh" pitchFamily="2" charset="-78"/>
                        </a:rPr>
                        <a:t>همان وظیفه یکسان در مراحل مختلف یک سازمان را نشان می‌دهد. نوع مرحله صرفاً شدت کار و سهم شراکت (</a:t>
                      </a:r>
                      <a:r>
                        <a:rPr lang="en-US" sz="1000">
                          <a:solidFill>
                            <a:schemeClr val="tx1">
                              <a:lumMod val="65000"/>
                              <a:lumOff val="35000"/>
                            </a:schemeClr>
                          </a:solidFill>
                          <a:latin typeface="Yekan Bakh" pitchFamily="2" charset="-78"/>
                          <a:ea typeface="Yekan Bakh" pitchFamily="2" charset="-78"/>
                          <a:cs typeface="Yekan Bakh" pitchFamily="2" charset="-78"/>
                        </a:rPr>
                        <a:t>Equity split</a:t>
                      </a:r>
                      <a:r>
                        <a:rPr lang="fa-IR" sz="1000">
                          <a:solidFill>
                            <a:schemeClr val="tx1">
                              <a:lumMod val="65000"/>
                              <a:lumOff val="35000"/>
                            </a:schemeClr>
                          </a:solidFill>
                          <a:latin typeface="Yekan Bakh" pitchFamily="2" charset="-78"/>
                          <a:ea typeface="Yekan Bakh" pitchFamily="2" charset="-78"/>
                          <a:cs typeface="Yekan Bakh" pitchFamily="2" charset="-78"/>
                        </a:rPr>
                        <a:t>) را تغییر می‌دهد، نه ارزش پیشنهادی زیربنایی را.</a:t>
                      </a:r>
                      <a:endParaRPr lang="en-US" sz="1000">
                        <a:solidFill>
                          <a:schemeClr val="tx1">
                            <a:lumMod val="65000"/>
                            <a:lumOff val="35000"/>
                          </a:schemeClr>
                        </a:solidFill>
                        <a:latin typeface="Yekan Bakh" pitchFamily="2" charset="-78"/>
                        <a:ea typeface="Yekan Bakh" pitchFamily="2" charset="-78"/>
                        <a:cs typeface="Yekan Bakh" pitchFamily="2" charset="-78"/>
                      </a:endParaRPr>
                    </a:p>
                  </a:txBody>
                  <a:tcPr anchor="ctr">
                    <a:solidFill>
                      <a:schemeClr val="bg1">
                        <a:lumMod val="95000"/>
                      </a:schemeClr>
                    </a:solidFill>
                  </a:tcPr>
                </a:tc>
                <a:tc>
                  <a:txBody>
                    <a:bodyPr/>
                    <a:lstStyle/>
                    <a:p>
                      <a:pPr algn="justLow" rtl="1"/>
                      <a:r>
                        <a:rPr lang="fa-IR" sz="1000" dirty="0">
                          <a:solidFill>
                            <a:schemeClr val="tx1">
                              <a:lumMod val="65000"/>
                              <a:lumOff val="35000"/>
                            </a:schemeClr>
                          </a:solidFill>
                          <a:latin typeface="Yekan Bakh" pitchFamily="2" charset="-78"/>
                          <a:ea typeface="Yekan Bakh" pitchFamily="2" charset="-78"/>
                          <a:cs typeface="Yekan Bakh" pitchFamily="2" charset="-78"/>
                        </a:rPr>
                        <a:t>خلق کسب‌وکار (</a:t>
                      </a:r>
                      <a:r>
                        <a:rPr lang="en-US" sz="1000" dirty="0">
                          <a:solidFill>
                            <a:schemeClr val="tx1">
                              <a:lumMod val="65000"/>
                              <a:lumOff val="35000"/>
                            </a:schemeClr>
                          </a:solidFill>
                          <a:latin typeface="Yekan Bakh" pitchFamily="2" charset="-78"/>
                          <a:ea typeface="Yekan Bakh" pitchFamily="2" charset="-78"/>
                          <a:cs typeface="Yekan Bakh" pitchFamily="2" charset="-78"/>
                        </a:rPr>
                        <a:t>Venture creation</a:t>
                      </a:r>
                      <a:r>
                        <a:rPr lang="fa-IR" sz="1000" dirty="0">
                          <a:solidFill>
                            <a:schemeClr val="tx1">
                              <a:lumMod val="65000"/>
                              <a:lumOff val="35000"/>
                            </a:schemeClr>
                          </a:solidFill>
                          <a:latin typeface="Yekan Bakh" pitchFamily="2" charset="-78"/>
                          <a:ea typeface="Yekan Bakh" pitchFamily="2" charset="-78"/>
                          <a:cs typeface="Yekan Bakh" pitchFamily="2" charset="-78"/>
                        </a:rPr>
                        <a:t>)</a:t>
                      </a:r>
                      <a:r>
                        <a:rPr lang="en-US" sz="1000" dirty="0">
                          <a:solidFill>
                            <a:schemeClr val="tx1">
                              <a:lumMod val="65000"/>
                              <a:lumOff val="35000"/>
                            </a:schemeClr>
                          </a:solidFill>
                          <a:latin typeface="Yekan Bakh" pitchFamily="2" charset="-78"/>
                          <a:ea typeface="Yekan Bakh" pitchFamily="2" charset="-78"/>
                          <a:cs typeface="Yekan Bakh" pitchFamily="2" charset="-78"/>
                        </a:rPr>
                        <a:t>، </a:t>
                      </a:r>
                      <a:r>
                        <a:rPr lang="fa-IR" sz="1000" dirty="0">
                          <a:solidFill>
                            <a:schemeClr val="tx1">
                              <a:lumMod val="65000"/>
                              <a:lumOff val="35000"/>
                            </a:schemeClr>
                          </a:solidFill>
                          <a:latin typeface="Yekan Bakh" pitchFamily="2" charset="-78"/>
                          <a:ea typeface="Yekan Bakh" pitchFamily="2" charset="-78"/>
                          <a:cs typeface="Yekan Bakh" pitchFamily="2" charset="-78"/>
                        </a:rPr>
                        <a:t>توسعه/مقیاس‌پذیری کسب‌وکار، نوآوری، بین‌المللی‌سازی کسب‌وکارها</a:t>
                      </a:r>
                      <a:endParaRPr lang="en-US" sz="1000" dirty="0">
                        <a:solidFill>
                          <a:schemeClr val="tx1">
                            <a:lumMod val="65000"/>
                            <a:lumOff val="35000"/>
                          </a:schemeClr>
                        </a:solidFill>
                        <a:latin typeface="Yekan Bakh" pitchFamily="2" charset="-78"/>
                        <a:ea typeface="Yekan Bakh" pitchFamily="2" charset="-78"/>
                        <a:cs typeface="Yekan Bakh" pitchFamily="2" charset="-78"/>
                      </a:endParaRPr>
                    </a:p>
                  </a:txBody>
                  <a:tcPr anchor="ctr">
                    <a:solidFill>
                      <a:schemeClr val="bg1">
                        <a:lumMod val="95000"/>
                      </a:schemeClr>
                    </a:solidFill>
                  </a:tcPr>
                </a:tc>
                <a:extLst>
                  <a:ext uri="{0D108BD9-81ED-4DB2-BD59-A6C34878D82A}">
                    <a16:rowId xmlns:a16="http://schemas.microsoft.com/office/drawing/2014/main" val="1927763593"/>
                  </a:ext>
                </a:extLst>
              </a:tr>
              <a:tr h="789799">
                <a:tc>
                  <a:txBody>
                    <a:bodyPr/>
                    <a:lstStyle/>
                    <a:p>
                      <a:pPr algn="justLow" rtl="1"/>
                      <a:r>
                        <a:rPr lang="fa-IR" sz="1000">
                          <a:solidFill>
                            <a:schemeClr val="tx1">
                              <a:lumMod val="65000"/>
                              <a:lumOff val="35000"/>
                            </a:schemeClr>
                          </a:solidFill>
                          <a:latin typeface="Yekan Bakh" pitchFamily="2" charset="-78"/>
                          <a:ea typeface="Yekan Bakh" pitchFamily="2" charset="-78"/>
                          <a:cs typeface="Yekan Bakh" pitchFamily="2" charset="-78"/>
                        </a:rPr>
                        <a:t>وظیفه‌های یکسان؛ تز فکری سرمایه‌گذاری (</a:t>
                      </a:r>
                      <a:r>
                        <a:rPr lang="en-US" sz="1000">
                          <a:solidFill>
                            <a:schemeClr val="tx1">
                              <a:lumMod val="65000"/>
                              <a:lumOff val="35000"/>
                            </a:schemeClr>
                          </a:solidFill>
                          <a:latin typeface="Yekan Bakh" pitchFamily="2" charset="-78"/>
                          <a:ea typeface="Yekan Bakh" pitchFamily="2" charset="-78"/>
                          <a:cs typeface="Yekan Bakh" pitchFamily="2" charset="-78"/>
                        </a:rPr>
                        <a:t>Thesis</a:t>
                      </a:r>
                      <a:r>
                        <a:rPr lang="fa-IR" sz="1000">
                          <a:solidFill>
                            <a:schemeClr val="tx1">
                              <a:lumMod val="65000"/>
                              <a:lumOff val="35000"/>
                            </a:schemeClr>
                          </a:solidFill>
                          <a:latin typeface="Yekan Bakh" pitchFamily="2" charset="-78"/>
                          <a:ea typeface="Yekan Bakh" pitchFamily="2" charset="-78"/>
                          <a:cs typeface="Yekan Bakh" pitchFamily="2" charset="-78"/>
                        </a:rPr>
                        <a:t>) و اندازه چک/حجم سرمایه‌گذاری (</a:t>
                      </a:r>
                      <a:r>
                        <a:rPr lang="en-US" sz="1000">
                          <a:solidFill>
                            <a:schemeClr val="tx1">
                              <a:lumMod val="65000"/>
                              <a:lumOff val="35000"/>
                            </a:schemeClr>
                          </a:solidFill>
                          <a:latin typeface="Yekan Bakh" pitchFamily="2" charset="-78"/>
                          <a:ea typeface="Yekan Bakh" pitchFamily="2" charset="-78"/>
                          <a:cs typeface="Yekan Bakh" pitchFamily="2" charset="-78"/>
                        </a:rPr>
                        <a:t>Ticket size</a:t>
                      </a:r>
                      <a:r>
                        <a:rPr lang="fa-IR" sz="1000">
                          <a:solidFill>
                            <a:schemeClr val="tx1">
                              <a:lumMod val="65000"/>
                              <a:lumOff val="35000"/>
                            </a:schemeClr>
                          </a:solidFill>
                          <a:latin typeface="Yekan Bakh" pitchFamily="2" charset="-78"/>
                          <a:ea typeface="Yekan Bakh" pitchFamily="2" charset="-78"/>
                          <a:cs typeface="Yekan Bakh" pitchFamily="2" charset="-78"/>
                        </a:rPr>
                        <a:t>) صرفاً ویژگی‌های احراز صلاحیت هستند.</a:t>
                      </a:r>
                      <a:endParaRPr lang="en-US" sz="1000">
                        <a:solidFill>
                          <a:schemeClr val="tx1">
                            <a:lumMod val="65000"/>
                            <a:lumOff val="35000"/>
                          </a:schemeClr>
                        </a:solidFill>
                        <a:latin typeface="Yekan Bakh" pitchFamily="2" charset="-78"/>
                        <a:ea typeface="Yekan Bakh" pitchFamily="2" charset="-78"/>
                        <a:cs typeface="Yekan Bakh" pitchFamily="2" charset="-78"/>
                      </a:endParaRPr>
                    </a:p>
                  </a:txBody>
                  <a:tcPr anchor="ctr">
                    <a:solidFill>
                      <a:schemeClr val="bg1">
                        <a:lumMod val="95000"/>
                      </a:schemeClr>
                    </a:solidFill>
                  </a:tcPr>
                </a:tc>
                <a:tc>
                  <a:txBody>
                    <a:bodyPr/>
                    <a:lstStyle/>
                    <a:p>
                      <a:pPr algn="justLow" rtl="1"/>
                      <a:r>
                        <a:rPr lang="fa-IR" sz="1000" dirty="0">
                          <a:solidFill>
                            <a:schemeClr val="tx1">
                              <a:lumMod val="65000"/>
                              <a:lumOff val="35000"/>
                            </a:schemeClr>
                          </a:solidFill>
                          <a:latin typeface="Yekan Bakh" pitchFamily="2" charset="-78"/>
                          <a:ea typeface="Yekan Bakh" pitchFamily="2" charset="-78"/>
                          <a:cs typeface="Yekan Bakh" pitchFamily="2" charset="-78"/>
                        </a:rPr>
                        <a:t>دسترسی به سرمایه‌گذاری، تنوع‌بخشی به سبد دارایی (پورتفولیو)، سرمایه‌گذاری استراتژیک، هم‌سرمایه‌گذاری (</a:t>
                      </a:r>
                      <a:r>
                        <a:rPr lang="en-US" sz="1000" dirty="0">
                          <a:solidFill>
                            <a:schemeClr val="tx1">
                              <a:lumMod val="65000"/>
                              <a:lumOff val="35000"/>
                            </a:schemeClr>
                          </a:solidFill>
                          <a:latin typeface="Yekan Bakh" pitchFamily="2" charset="-78"/>
                          <a:ea typeface="Yekan Bakh" pitchFamily="2" charset="-78"/>
                          <a:cs typeface="Yekan Bakh" pitchFamily="2" charset="-78"/>
                        </a:rPr>
                        <a:t>Co-investment</a:t>
                      </a:r>
                      <a:r>
                        <a:rPr lang="fa-IR" sz="1000" dirty="0">
                          <a:solidFill>
                            <a:schemeClr val="tx1">
                              <a:lumMod val="65000"/>
                              <a:lumOff val="35000"/>
                            </a:schemeClr>
                          </a:solidFill>
                          <a:latin typeface="Yekan Bakh" pitchFamily="2" charset="-78"/>
                          <a:ea typeface="Yekan Bakh" pitchFamily="2" charset="-78"/>
                          <a:cs typeface="Yekan Bakh" pitchFamily="2" charset="-78"/>
                        </a:rPr>
                        <a:t>) </a:t>
                      </a:r>
                      <a:endParaRPr lang="en-US" sz="1000" dirty="0">
                        <a:solidFill>
                          <a:schemeClr val="tx1">
                            <a:lumMod val="65000"/>
                            <a:lumOff val="35000"/>
                          </a:schemeClr>
                        </a:solidFill>
                        <a:latin typeface="Yekan Bakh" pitchFamily="2" charset="-78"/>
                        <a:ea typeface="Yekan Bakh" pitchFamily="2" charset="-78"/>
                        <a:cs typeface="Yekan Bakh" pitchFamily="2" charset="-78"/>
                      </a:endParaRPr>
                    </a:p>
                  </a:txBody>
                  <a:tcPr anchor="ctr">
                    <a:solidFill>
                      <a:schemeClr val="bg1">
                        <a:lumMod val="95000"/>
                      </a:schemeClr>
                    </a:solidFill>
                  </a:tcPr>
                </a:tc>
                <a:extLst>
                  <a:ext uri="{0D108BD9-81ED-4DB2-BD59-A6C34878D82A}">
                    <a16:rowId xmlns:a16="http://schemas.microsoft.com/office/drawing/2014/main" val="2592394972"/>
                  </a:ext>
                </a:extLst>
              </a:tr>
            </a:tbl>
          </a:graphicData>
        </a:graphic>
      </p:graphicFrame>
      <p:sp>
        <p:nvSpPr>
          <p:cNvPr id="7" name="TextBox 6">
            <a:extLst>
              <a:ext uri="{FF2B5EF4-FFF2-40B4-BE49-F238E27FC236}">
                <a16:creationId xmlns:a16="http://schemas.microsoft.com/office/drawing/2014/main" id="{6EFBB3EA-3BB4-7519-A50D-C5BA2A73A7EA}"/>
              </a:ext>
            </a:extLst>
          </p:cNvPr>
          <p:cNvSpPr txBox="1"/>
          <p:nvPr/>
        </p:nvSpPr>
        <p:spPr>
          <a:xfrm>
            <a:off x="555625" y="1063388"/>
            <a:ext cx="10688668" cy="646331"/>
          </a:xfrm>
          <a:prstGeom prst="rect">
            <a:avLst/>
          </a:prstGeom>
          <a:noFill/>
        </p:spPr>
        <p:txBody>
          <a:bodyPr wrap="square" rtlCol="0">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2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بعد نیاز — </a:t>
            </a:r>
            <a:r>
              <a:rPr kumimoji="0" lang="fa-IR" sz="1200" b="1" i="0" u="none" strike="noStrike" kern="1200" cap="none" spc="0" normalizeH="0" baseline="0" noProof="0" dirty="0" err="1">
                <a:ln>
                  <a:noFill/>
                </a:ln>
                <a:solidFill>
                  <a:srgbClr val="F0BE0F"/>
                </a:solidFill>
                <a:effectLst/>
                <a:uLnTx/>
                <a:uFillTx/>
                <a:latin typeface="Yekan Bakh" pitchFamily="2" charset="-78"/>
                <a:ea typeface="Yekan Bakh" pitchFamily="2" charset="-78"/>
                <a:cs typeface="Yekan Bakh" pitchFamily="2" charset="-78"/>
              </a:rPr>
              <a:t>متمایزکننده</a:t>
            </a:r>
            <a:r>
              <a:rPr kumimoji="0" lang="fa-IR" sz="12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 اصلی</a:t>
            </a:r>
          </a:p>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2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نیازهای متعدد مشتریان، در چهار «نیاز بنیادی» (</a:t>
            </a:r>
            <a:r>
              <a:rPr kumimoji="0" lang="en-US" sz="12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Fundamental Need</a:t>
            </a:r>
            <a:r>
              <a:rPr kumimoji="0" lang="fa-IR" sz="12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ادغام و تلخیص شدند. این ادغام از آن رو موجه است که نیازهای </a:t>
            </a:r>
            <a:r>
              <a:rPr kumimoji="0" lang="fa-IR" sz="12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فهرست‌شده</a:t>
            </a:r>
            <a:r>
              <a:rPr kumimoji="0" lang="fa-IR" sz="12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موضوعات (</a:t>
            </a:r>
            <a:r>
              <a:rPr kumimoji="0" lang="en-US" sz="12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Objects</a:t>
            </a:r>
            <a:r>
              <a:rPr kumimoji="0" lang="fa-IR" sz="12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یک معامله هستند، نه وظایف متفاوت.</a:t>
            </a:r>
            <a:endParaRPr kumimoji="0" lang="en-US" sz="12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graphicFrame>
        <p:nvGraphicFramePr>
          <p:cNvPr id="9" name="Table 8">
            <a:extLst>
              <a:ext uri="{FF2B5EF4-FFF2-40B4-BE49-F238E27FC236}">
                <a16:creationId xmlns:a16="http://schemas.microsoft.com/office/drawing/2014/main" id="{EEB4C65F-DC77-8EE9-37AC-301A0B1CCFD2}"/>
              </a:ext>
            </a:extLst>
          </p:cNvPr>
          <p:cNvGraphicFramePr>
            <a:graphicFrameLocks noGrp="1"/>
          </p:cNvGraphicFramePr>
          <p:nvPr>
            <p:extLst>
              <p:ext uri="{D42A27DB-BD31-4B8C-83A1-F6EECF244321}">
                <p14:modId xmlns:p14="http://schemas.microsoft.com/office/powerpoint/2010/main" val="2106007011"/>
              </p:ext>
            </p:extLst>
          </p:nvPr>
        </p:nvGraphicFramePr>
        <p:xfrm>
          <a:off x="578282" y="1778751"/>
          <a:ext cx="2728434" cy="3912428"/>
        </p:xfrm>
        <a:graphic>
          <a:graphicData uri="http://schemas.openxmlformats.org/drawingml/2006/table">
            <a:tbl>
              <a:tblPr firstRow="1" bandRow="1">
                <a:tableStyleId>{5C22544A-7EE6-4342-B048-85BDC9FD1C3A}</a:tableStyleId>
              </a:tblPr>
              <a:tblGrid>
                <a:gridCol w="2728434">
                  <a:extLst>
                    <a:ext uri="{9D8B030D-6E8A-4147-A177-3AD203B41FA5}">
                      <a16:colId xmlns:a16="http://schemas.microsoft.com/office/drawing/2014/main" val="2250883297"/>
                    </a:ext>
                  </a:extLst>
                </a:gridCol>
              </a:tblGrid>
              <a:tr h="533847">
                <a:tc>
                  <a:txBody>
                    <a:bodyPr/>
                    <a:lstStyle/>
                    <a:p>
                      <a:pPr algn="ctr" rtl="1"/>
                      <a:r>
                        <a:rPr lang="fa-IR" sz="1200" dirty="0">
                          <a:solidFill>
                            <a:schemeClr val="bg1"/>
                          </a:solidFill>
                          <a:latin typeface="Yekan Bakh" pitchFamily="2" charset="-78"/>
                          <a:ea typeface="Yekan Bakh" pitchFamily="2" charset="-78"/>
                          <a:cs typeface="Yekan Bakh" pitchFamily="2" charset="-78"/>
                        </a:rPr>
                        <a:t>نیاز بنیادی (</a:t>
                      </a:r>
                      <a:r>
                        <a:rPr lang="en-US" sz="1200" dirty="0">
                          <a:solidFill>
                            <a:schemeClr val="bg1"/>
                          </a:solidFill>
                          <a:latin typeface="Yekan Bakh" pitchFamily="2" charset="-78"/>
                          <a:ea typeface="Yekan Bakh" pitchFamily="2" charset="-78"/>
                          <a:cs typeface="Yekan Bakh" pitchFamily="2" charset="-78"/>
                        </a:rPr>
                        <a:t>Fundamental Need</a:t>
                      </a:r>
                      <a:r>
                        <a:rPr lang="fa-IR" sz="1200" dirty="0">
                          <a:solidFill>
                            <a:schemeClr val="bg1"/>
                          </a:solidFill>
                          <a:latin typeface="Yekan Bakh" pitchFamily="2" charset="-78"/>
                          <a:ea typeface="Yekan Bakh" pitchFamily="2" charset="-78"/>
                          <a:cs typeface="Yekan Bakh" pitchFamily="2" charset="-78"/>
                        </a:rPr>
                        <a:t>)</a:t>
                      </a:r>
                      <a:endParaRPr lang="en-US" sz="1200" dirty="0">
                        <a:solidFill>
                          <a:schemeClr val="bg1"/>
                        </a:solidFill>
                        <a:latin typeface="Yekan Bakh" pitchFamily="2" charset="-78"/>
                        <a:ea typeface="Yekan Bakh" pitchFamily="2" charset="-78"/>
                        <a:cs typeface="Yekan Bakh" pitchFamily="2" charset="-78"/>
                      </a:endParaRPr>
                    </a:p>
                  </a:txBody>
                  <a:tcPr anchor="ctr">
                    <a:solidFill>
                      <a:srgbClr val="F0BE0F"/>
                    </a:solidFill>
                  </a:tcPr>
                </a:tc>
                <a:extLst>
                  <a:ext uri="{0D108BD9-81ED-4DB2-BD59-A6C34878D82A}">
                    <a16:rowId xmlns:a16="http://schemas.microsoft.com/office/drawing/2014/main" val="359730985"/>
                  </a:ext>
                </a:extLst>
              </a:tr>
              <a:tr h="1009184">
                <a:tc>
                  <a:txBody>
                    <a:bodyPr/>
                    <a:lstStyle/>
                    <a:p>
                      <a:pPr algn="ctr" rtl="1"/>
                      <a:r>
                        <a:rPr lang="fa-IR" sz="1200" b="1" dirty="0">
                          <a:solidFill>
                            <a:schemeClr val="tx1">
                              <a:lumMod val="65000"/>
                              <a:lumOff val="35000"/>
                            </a:schemeClr>
                          </a:solidFill>
                          <a:latin typeface="Yekan Bakh" pitchFamily="2" charset="-78"/>
                          <a:ea typeface="Yekan Bakh" pitchFamily="2" charset="-78"/>
                          <a:cs typeface="Yekan Bakh" pitchFamily="2" charset="-78"/>
                        </a:rPr>
                        <a:t>دستیابی به طرف معامله</a:t>
                      </a:r>
                    </a:p>
                    <a:p>
                      <a:pPr algn="ctr" rtl="1"/>
                      <a:r>
                        <a:rPr lang="fa-IR" sz="1100" b="0" dirty="0">
                          <a:solidFill>
                            <a:schemeClr val="tx1">
                              <a:lumMod val="65000"/>
                              <a:lumOff val="35000"/>
                            </a:schemeClr>
                          </a:solidFill>
                          <a:latin typeface="Yekan Bakh" pitchFamily="2" charset="-78"/>
                          <a:ea typeface="Yekan Bakh" pitchFamily="2" charset="-78"/>
                          <a:cs typeface="Yekan Bakh" pitchFamily="2" charset="-78"/>
                        </a:rPr>
                        <a:t>(</a:t>
                      </a:r>
                      <a:r>
                        <a:rPr lang="en-US" sz="1100" b="0" dirty="0">
                          <a:solidFill>
                            <a:schemeClr val="tx1">
                              <a:lumMod val="65000"/>
                              <a:lumOff val="35000"/>
                            </a:schemeClr>
                          </a:solidFill>
                          <a:latin typeface="Yekan Bakh" pitchFamily="2" charset="-78"/>
                          <a:ea typeface="Yekan Bakh" pitchFamily="2" charset="-78"/>
                          <a:cs typeface="Yekan Bakh" pitchFamily="2" charset="-78"/>
                        </a:rPr>
                        <a:t>Reach a counterparty</a:t>
                      </a:r>
                      <a:r>
                        <a:rPr lang="fa-IR" sz="1100" b="0" dirty="0">
                          <a:solidFill>
                            <a:schemeClr val="tx1">
                              <a:lumMod val="65000"/>
                              <a:lumOff val="35000"/>
                            </a:schemeClr>
                          </a:solidFill>
                          <a:latin typeface="Yekan Bakh" pitchFamily="2" charset="-78"/>
                          <a:ea typeface="Yekan Bakh" pitchFamily="2" charset="-78"/>
                          <a:cs typeface="Yekan Bakh" pitchFamily="2" charset="-78"/>
                        </a:rPr>
                        <a:t>)</a:t>
                      </a:r>
                      <a:endParaRPr lang="en-US" sz="1100" b="0" dirty="0">
                        <a:solidFill>
                          <a:schemeClr val="tx1">
                            <a:lumMod val="65000"/>
                            <a:lumOff val="35000"/>
                          </a:schemeClr>
                        </a:solidFill>
                        <a:latin typeface="Yekan Bakh" pitchFamily="2" charset="-78"/>
                        <a:ea typeface="Yekan Bakh" pitchFamily="2" charset="-78"/>
                        <a:cs typeface="Yekan Bakh" pitchFamily="2" charset="-78"/>
                      </a:endParaRPr>
                    </a:p>
                  </a:txBody>
                  <a:tcPr anchor="ctr">
                    <a:solidFill>
                      <a:schemeClr val="bg1">
                        <a:lumMod val="95000"/>
                      </a:schemeClr>
                    </a:solidFill>
                  </a:tcPr>
                </a:tc>
                <a:extLst>
                  <a:ext uri="{0D108BD9-81ED-4DB2-BD59-A6C34878D82A}">
                    <a16:rowId xmlns:a16="http://schemas.microsoft.com/office/drawing/2014/main" val="3008010569"/>
                  </a:ext>
                </a:extLst>
              </a:tr>
              <a:tr h="789799">
                <a:tc>
                  <a:txBody>
                    <a:bodyPr/>
                    <a:lstStyle/>
                    <a:p>
                      <a:pPr algn="ctr" rtl="1"/>
                      <a:r>
                        <a:rPr lang="fa-IR" sz="1200" b="1" dirty="0">
                          <a:solidFill>
                            <a:schemeClr val="tx1">
                              <a:lumMod val="65000"/>
                              <a:lumOff val="35000"/>
                            </a:schemeClr>
                          </a:solidFill>
                          <a:latin typeface="Yekan Bakh" pitchFamily="2" charset="-78"/>
                          <a:ea typeface="Yekan Bakh" pitchFamily="2" charset="-78"/>
                          <a:cs typeface="Yekan Bakh" pitchFamily="2" charset="-78"/>
                        </a:rPr>
                        <a:t>قابلیت معامله پیدا کردن</a:t>
                      </a:r>
                    </a:p>
                    <a:p>
                      <a:pPr marL="0" algn="ctr" defTabSz="1021516" rtl="1" eaLnBrk="1" latinLnBrk="0" hangingPunct="1"/>
                      <a:r>
                        <a:rPr lang="fa-IR" sz="1100" b="0" kern="1200" dirty="0">
                          <a:solidFill>
                            <a:schemeClr val="tx1">
                              <a:lumMod val="65000"/>
                              <a:lumOff val="35000"/>
                            </a:schemeClr>
                          </a:solidFill>
                          <a:latin typeface="Yekan Bakh" pitchFamily="2" charset="-78"/>
                          <a:ea typeface="Yekan Bakh" pitchFamily="2" charset="-78"/>
                          <a:cs typeface="Yekan Bakh" pitchFamily="2" charset="-78"/>
                        </a:rPr>
                        <a:t>(</a:t>
                      </a:r>
                      <a:r>
                        <a:rPr lang="en-US" sz="1100" b="0" kern="1200" dirty="0">
                          <a:solidFill>
                            <a:schemeClr val="tx1">
                              <a:lumMod val="65000"/>
                              <a:lumOff val="35000"/>
                            </a:schemeClr>
                          </a:solidFill>
                          <a:latin typeface="Yekan Bakh" pitchFamily="2" charset="-78"/>
                          <a:ea typeface="Yekan Bakh" pitchFamily="2" charset="-78"/>
                          <a:cs typeface="Yekan Bakh" pitchFamily="2" charset="-78"/>
                        </a:rPr>
                        <a:t>Become transactable</a:t>
                      </a:r>
                      <a:r>
                        <a:rPr lang="fa-IR" sz="1100" b="0" kern="1200" dirty="0">
                          <a:solidFill>
                            <a:schemeClr val="tx1">
                              <a:lumMod val="65000"/>
                              <a:lumOff val="35000"/>
                            </a:schemeClr>
                          </a:solidFill>
                          <a:latin typeface="Yekan Bakh" pitchFamily="2" charset="-78"/>
                          <a:ea typeface="Yekan Bakh" pitchFamily="2" charset="-78"/>
                          <a:cs typeface="Yekan Bakh" pitchFamily="2" charset="-78"/>
                        </a:rPr>
                        <a:t>)</a:t>
                      </a:r>
                      <a:endParaRPr lang="en-US" sz="1100" b="0" kern="1200" dirty="0">
                        <a:solidFill>
                          <a:schemeClr val="tx1">
                            <a:lumMod val="65000"/>
                            <a:lumOff val="35000"/>
                          </a:schemeClr>
                        </a:solidFill>
                        <a:latin typeface="Yekan Bakh" pitchFamily="2" charset="-78"/>
                        <a:ea typeface="Yekan Bakh" pitchFamily="2" charset="-78"/>
                        <a:cs typeface="Yekan Bakh" pitchFamily="2" charset="-78"/>
                      </a:endParaRPr>
                    </a:p>
                  </a:txBody>
                  <a:tcPr anchor="ctr">
                    <a:solidFill>
                      <a:schemeClr val="bg1">
                        <a:lumMod val="95000"/>
                      </a:schemeClr>
                    </a:solidFill>
                  </a:tcPr>
                </a:tc>
                <a:extLst>
                  <a:ext uri="{0D108BD9-81ED-4DB2-BD59-A6C34878D82A}">
                    <a16:rowId xmlns:a16="http://schemas.microsoft.com/office/drawing/2014/main" val="3602813289"/>
                  </a:ext>
                </a:extLst>
              </a:tr>
              <a:tr h="789799">
                <a:tc>
                  <a:txBody>
                    <a:bodyPr/>
                    <a:lstStyle/>
                    <a:p>
                      <a:pPr algn="ctr" rtl="1"/>
                      <a:r>
                        <a:rPr lang="fa-IR" sz="1200" b="1" dirty="0">
                          <a:solidFill>
                            <a:schemeClr val="tx1">
                              <a:lumMod val="65000"/>
                              <a:lumOff val="35000"/>
                            </a:schemeClr>
                          </a:solidFill>
                          <a:latin typeface="Yekan Bakh" pitchFamily="2" charset="-78"/>
                          <a:ea typeface="Yekan Bakh" pitchFamily="2" charset="-78"/>
                          <a:cs typeface="Yekan Bakh" pitchFamily="2" charset="-78"/>
                        </a:rPr>
                        <a:t>تبدیل یک دارایی به یک کسب‌وکار </a:t>
                      </a:r>
                    </a:p>
                    <a:p>
                      <a:pPr marL="0" algn="ctr" defTabSz="1021516" rtl="1" eaLnBrk="1" latinLnBrk="0" hangingPunct="1"/>
                      <a:r>
                        <a:rPr lang="fa-IR" sz="1100" b="0" kern="1200" dirty="0">
                          <a:solidFill>
                            <a:schemeClr val="tx1">
                              <a:lumMod val="65000"/>
                              <a:lumOff val="35000"/>
                            </a:schemeClr>
                          </a:solidFill>
                          <a:latin typeface="Yekan Bakh" pitchFamily="2" charset="-78"/>
                          <a:ea typeface="Yekan Bakh" pitchFamily="2" charset="-78"/>
                          <a:cs typeface="Yekan Bakh" pitchFamily="2" charset="-78"/>
                        </a:rPr>
                        <a:t>(</a:t>
                      </a:r>
                      <a:r>
                        <a:rPr lang="en-US" sz="1100" b="0" kern="1200" dirty="0">
                          <a:solidFill>
                            <a:schemeClr val="tx1">
                              <a:lumMod val="65000"/>
                              <a:lumOff val="35000"/>
                            </a:schemeClr>
                          </a:solidFill>
                          <a:latin typeface="Yekan Bakh" pitchFamily="2" charset="-78"/>
                          <a:ea typeface="Yekan Bakh" pitchFamily="2" charset="-78"/>
                          <a:cs typeface="Yekan Bakh" pitchFamily="2" charset="-78"/>
                        </a:rPr>
                        <a:t>Convert an asset into a venture</a:t>
                      </a:r>
                      <a:r>
                        <a:rPr lang="fa-IR" sz="1100" b="0" kern="1200" dirty="0">
                          <a:solidFill>
                            <a:schemeClr val="tx1">
                              <a:lumMod val="65000"/>
                              <a:lumOff val="35000"/>
                            </a:schemeClr>
                          </a:solidFill>
                          <a:latin typeface="Yekan Bakh" pitchFamily="2" charset="-78"/>
                          <a:ea typeface="Yekan Bakh" pitchFamily="2" charset="-78"/>
                          <a:cs typeface="Yekan Bakh" pitchFamily="2" charset="-78"/>
                        </a:rPr>
                        <a:t>)</a:t>
                      </a:r>
                      <a:endParaRPr lang="en-US" sz="1100" b="0" kern="1200" dirty="0">
                        <a:solidFill>
                          <a:schemeClr val="tx1">
                            <a:lumMod val="65000"/>
                            <a:lumOff val="35000"/>
                          </a:schemeClr>
                        </a:solidFill>
                        <a:latin typeface="Yekan Bakh" pitchFamily="2" charset="-78"/>
                        <a:ea typeface="Yekan Bakh" pitchFamily="2" charset="-78"/>
                        <a:cs typeface="Yekan Bakh" pitchFamily="2" charset="-78"/>
                      </a:endParaRPr>
                    </a:p>
                  </a:txBody>
                  <a:tcPr anchor="ctr">
                    <a:solidFill>
                      <a:schemeClr val="bg1">
                        <a:lumMod val="95000"/>
                      </a:schemeClr>
                    </a:solidFill>
                  </a:tcPr>
                </a:tc>
                <a:extLst>
                  <a:ext uri="{0D108BD9-81ED-4DB2-BD59-A6C34878D82A}">
                    <a16:rowId xmlns:a16="http://schemas.microsoft.com/office/drawing/2014/main" val="1927763593"/>
                  </a:ext>
                </a:extLst>
              </a:tr>
              <a:tr h="789799">
                <a:tc>
                  <a:txBody>
                    <a:bodyPr/>
                    <a:lstStyle/>
                    <a:p>
                      <a:pPr algn="ctr" rtl="1"/>
                      <a:r>
                        <a:rPr lang="fa-IR" sz="1200" b="1" dirty="0">
                          <a:solidFill>
                            <a:schemeClr val="tx1">
                              <a:lumMod val="65000"/>
                              <a:lumOff val="35000"/>
                            </a:schemeClr>
                          </a:solidFill>
                          <a:latin typeface="Yekan Bakh" pitchFamily="2" charset="-78"/>
                          <a:ea typeface="Yekan Bakh" pitchFamily="2" charset="-78"/>
                          <a:cs typeface="Yekan Bakh" pitchFamily="2" charset="-78"/>
                        </a:rPr>
                        <a:t>تخصیص سرمایه در فرصتِ ارزیابی‌شده</a:t>
                      </a:r>
                    </a:p>
                    <a:p>
                      <a:pPr marL="0" algn="ctr" defTabSz="1021516" rtl="1" eaLnBrk="1" latinLnBrk="0" hangingPunct="1"/>
                      <a:r>
                        <a:rPr lang="fa-IR" sz="1100" b="0" kern="1200" dirty="0">
                          <a:solidFill>
                            <a:schemeClr val="tx1">
                              <a:lumMod val="65000"/>
                              <a:lumOff val="35000"/>
                            </a:schemeClr>
                          </a:solidFill>
                          <a:latin typeface="Yekan Bakh" pitchFamily="2" charset="-78"/>
                          <a:ea typeface="Yekan Bakh" pitchFamily="2" charset="-78"/>
                          <a:cs typeface="Yekan Bakh" pitchFamily="2" charset="-78"/>
                        </a:rPr>
                        <a:t>(</a:t>
                      </a:r>
                      <a:r>
                        <a:rPr lang="en-US" sz="1100" b="0" kern="1200" dirty="0">
                          <a:solidFill>
                            <a:schemeClr val="tx1">
                              <a:lumMod val="65000"/>
                              <a:lumOff val="35000"/>
                            </a:schemeClr>
                          </a:solidFill>
                          <a:latin typeface="Yekan Bakh" pitchFamily="2" charset="-78"/>
                          <a:ea typeface="Yekan Bakh" pitchFamily="2" charset="-78"/>
                          <a:cs typeface="Yekan Bakh" pitchFamily="2" charset="-78"/>
                        </a:rPr>
                        <a:t>Deploy capital into vetted opportunity</a:t>
                      </a:r>
                      <a:r>
                        <a:rPr lang="fa-IR" sz="1100" b="0" kern="1200" dirty="0">
                          <a:solidFill>
                            <a:schemeClr val="tx1">
                              <a:lumMod val="65000"/>
                              <a:lumOff val="35000"/>
                            </a:schemeClr>
                          </a:solidFill>
                          <a:latin typeface="Yekan Bakh" pitchFamily="2" charset="-78"/>
                          <a:ea typeface="Yekan Bakh" pitchFamily="2" charset="-78"/>
                          <a:cs typeface="Yekan Bakh" pitchFamily="2" charset="-78"/>
                        </a:rPr>
                        <a:t>)</a:t>
                      </a:r>
                      <a:endParaRPr lang="en-US" sz="1100" b="0" kern="1200" dirty="0">
                        <a:solidFill>
                          <a:schemeClr val="tx1">
                            <a:lumMod val="65000"/>
                            <a:lumOff val="35000"/>
                          </a:schemeClr>
                        </a:solidFill>
                        <a:latin typeface="Yekan Bakh" pitchFamily="2" charset="-78"/>
                        <a:ea typeface="Yekan Bakh" pitchFamily="2" charset="-78"/>
                        <a:cs typeface="Yekan Bakh" pitchFamily="2" charset="-78"/>
                      </a:endParaRPr>
                    </a:p>
                  </a:txBody>
                  <a:tcPr anchor="ctr">
                    <a:solidFill>
                      <a:schemeClr val="bg1">
                        <a:lumMod val="95000"/>
                      </a:schemeClr>
                    </a:solidFill>
                  </a:tcPr>
                </a:tc>
                <a:extLst>
                  <a:ext uri="{0D108BD9-81ED-4DB2-BD59-A6C34878D82A}">
                    <a16:rowId xmlns:a16="http://schemas.microsoft.com/office/drawing/2014/main" val="2592394972"/>
                  </a:ext>
                </a:extLst>
              </a:tr>
            </a:tbl>
          </a:graphicData>
        </a:graphic>
      </p:graphicFrame>
      <p:sp>
        <p:nvSpPr>
          <p:cNvPr id="11" name="Isosceles Triangle 10">
            <a:extLst>
              <a:ext uri="{FF2B5EF4-FFF2-40B4-BE49-F238E27FC236}">
                <a16:creationId xmlns:a16="http://schemas.microsoft.com/office/drawing/2014/main" id="{C94198B9-715E-53BE-1FFB-9509BA881210}"/>
              </a:ext>
            </a:extLst>
          </p:cNvPr>
          <p:cNvSpPr/>
          <p:nvPr/>
        </p:nvSpPr>
        <p:spPr>
          <a:xfrm rot="16200000">
            <a:off x="1657560" y="3634387"/>
            <a:ext cx="3667126" cy="201155"/>
          </a:xfrm>
          <a:prstGeom prst="triangle">
            <a:avLst/>
          </a:prstGeom>
          <a:solidFill>
            <a:schemeClr val="bg1">
              <a:lumMod val="95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Yekan Bakh" pitchFamily="2" charset="-78"/>
              <a:ea typeface="Yekan Bakh" pitchFamily="2" charset="-78"/>
              <a:cs typeface="Yekan Bakh" pitchFamily="2" charset="-78"/>
            </a:endParaRPr>
          </a:p>
        </p:txBody>
      </p:sp>
    </p:spTree>
    <p:extLst>
      <p:ext uri="{BB962C8B-B14F-4D97-AF65-F5344CB8AC3E}">
        <p14:creationId xmlns:p14="http://schemas.microsoft.com/office/powerpoint/2010/main" val="16627449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789B484-2F25-0964-A06D-6D93627178ED}"/>
              </a:ext>
            </a:extLst>
          </p:cNvPr>
          <p:cNvSpPr>
            <a:spLocks noGrp="1"/>
          </p:cNvSpPr>
          <p:nvPr>
            <p:ph type="body" sz="quarter" idx="10"/>
          </p:nvPr>
        </p:nvSpPr>
        <p:spPr/>
        <p:txBody>
          <a:bodyPr/>
          <a:lstStyle/>
          <a:p>
            <a:r>
              <a:rPr lang="fa-IR" dirty="0"/>
              <a:t>ابعاد بخش‌بندی مشتریان </a:t>
            </a:r>
          </a:p>
        </p:txBody>
      </p:sp>
      <p:sp>
        <p:nvSpPr>
          <p:cNvPr id="3" name="Text Placeholder 2">
            <a:extLst>
              <a:ext uri="{FF2B5EF4-FFF2-40B4-BE49-F238E27FC236}">
                <a16:creationId xmlns:a16="http://schemas.microsoft.com/office/drawing/2014/main" id="{D71BCB66-FCD4-F603-2636-F284DF8F0E64}"/>
              </a:ext>
            </a:extLst>
          </p:cNvPr>
          <p:cNvSpPr>
            <a:spLocks noGrp="1"/>
          </p:cNvSpPr>
          <p:nvPr>
            <p:ph type="body" sz="quarter" idx="12"/>
          </p:nvPr>
        </p:nvSpPr>
        <p:spPr/>
        <p:txBody>
          <a:bodyPr/>
          <a:lstStyle/>
          <a:p>
            <a:r>
              <a:rPr lang="fa-IR" dirty="0"/>
              <a:t>بعد رفتار </a:t>
            </a:r>
            <a:r>
              <a:rPr lang="fa-IR" sz="1400" b="0" dirty="0"/>
              <a:t>— متمایزکننده ثانویه </a:t>
            </a:r>
            <a:endParaRPr lang="fa-IR" b="0" dirty="0"/>
          </a:p>
        </p:txBody>
      </p:sp>
      <p:graphicFrame>
        <p:nvGraphicFramePr>
          <p:cNvPr id="7" name="Table 6">
            <a:extLst>
              <a:ext uri="{FF2B5EF4-FFF2-40B4-BE49-F238E27FC236}">
                <a16:creationId xmlns:a16="http://schemas.microsoft.com/office/drawing/2014/main" id="{C38C3D60-7275-70C6-1F56-3370B2AA6680}"/>
              </a:ext>
            </a:extLst>
          </p:cNvPr>
          <p:cNvGraphicFramePr>
            <a:graphicFrameLocks noGrp="1"/>
          </p:cNvGraphicFramePr>
          <p:nvPr>
            <p:extLst>
              <p:ext uri="{D42A27DB-BD31-4B8C-83A1-F6EECF244321}">
                <p14:modId xmlns:p14="http://schemas.microsoft.com/office/powerpoint/2010/main" val="4165950611"/>
              </p:ext>
            </p:extLst>
          </p:nvPr>
        </p:nvGraphicFramePr>
        <p:xfrm>
          <a:off x="555625" y="1610743"/>
          <a:ext cx="10591800" cy="4328160"/>
        </p:xfrm>
        <a:graphic>
          <a:graphicData uri="http://schemas.openxmlformats.org/drawingml/2006/table">
            <a:tbl>
              <a:tblPr firstRow="1" bandRow="1">
                <a:tableStyleId>{5C22544A-7EE6-4342-B048-85BDC9FD1C3A}</a:tableStyleId>
              </a:tblPr>
              <a:tblGrid>
                <a:gridCol w="7457407">
                  <a:extLst>
                    <a:ext uri="{9D8B030D-6E8A-4147-A177-3AD203B41FA5}">
                      <a16:colId xmlns:a16="http://schemas.microsoft.com/office/drawing/2014/main" val="2225969677"/>
                    </a:ext>
                  </a:extLst>
                </a:gridCol>
                <a:gridCol w="784333">
                  <a:extLst>
                    <a:ext uri="{9D8B030D-6E8A-4147-A177-3AD203B41FA5}">
                      <a16:colId xmlns:a16="http://schemas.microsoft.com/office/drawing/2014/main" val="748224083"/>
                    </a:ext>
                  </a:extLst>
                </a:gridCol>
                <a:gridCol w="2350060">
                  <a:extLst>
                    <a:ext uri="{9D8B030D-6E8A-4147-A177-3AD203B41FA5}">
                      <a16:colId xmlns:a16="http://schemas.microsoft.com/office/drawing/2014/main" val="2250883297"/>
                    </a:ext>
                  </a:extLst>
                </a:gridCol>
              </a:tblGrid>
              <a:tr h="247155">
                <a:tc>
                  <a:txBody>
                    <a:bodyPr/>
                    <a:lstStyle/>
                    <a:p>
                      <a:pPr algn="ctr" rtl="1"/>
                      <a:r>
                        <a:rPr lang="fa-IR" sz="1200" dirty="0">
                          <a:solidFill>
                            <a:schemeClr val="bg1"/>
                          </a:solidFill>
                          <a:latin typeface="Shabnam FD" panose="020B0603030804020204" pitchFamily="34" charset="-78"/>
                          <a:cs typeface="Shabnam FD" panose="020B0603030804020204" pitchFamily="34" charset="-78"/>
                        </a:rPr>
                        <a:t>توضیحات  </a:t>
                      </a:r>
                      <a:endParaRPr lang="en-US" sz="1200" dirty="0">
                        <a:solidFill>
                          <a:schemeClr val="bg1"/>
                        </a:solidFill>
                        <a:latin typeface="Shabnam FD" panose="020B0603030804020204" pitchFamily="34" charset="-78"/>
                        <a:cs typeface="Shabnam FD" panose="020B0603030804020204" pitchFamily="34" charset="-78"/>
                      </a:endParaRPr>
                    </a:p>
                  </a:txBody>
                  <a:tcPr anchor="ctr">
                    <a:solidFill>
                      <a:srgbClr val="1E2761"/>
                    </a:solidFill>
                  </a:tcPr>
                </a:tc>
                <a:tc>
                  <a:txBody>
                    <a:bodyPr/>
                    <a:lstStyle/>
                    <a:p>
                      <a:pPr algn="ctr" rtl="1"/>
                      <a:r>
                        <a:rPr lang="fa-IR" sz="1200" dirty="0">
                          <a:solidFill>
                            <a:schemeClr val="bg1"/>
                          </a:solidFill>
                          <a:latin typeface="Shabnam FD" panose="020B0603030804020204" pitchFamily="34" charset="-78"/>
                          <a:cs typeface="Shabnam FD" panose="020B0603030804020204" pitchFamily="34" charset="-78"/>
                        </a:rPr>
                        <a:t>وضعیت</a:t>
                      </a:r>
                      <a:endParaRPr lang="en-US" sz="1200" dirty="0">
                        <a:solidFill>
                          <a:schemeClr val="bg1"/>
                        </a:solidFill>
                        <a:latin typeface="Shabnam FD" panose="020B0603030804020204" pitchFamily="34" charset="-78"/>
                        <a:cs typeface="Shabnam FD" panose="020B0603030804020204" pitchFamily="34" charset="-78"/>
                      </a:endParaRPr>
                    </a:p>
                  </a:txBody>
                  <a:tcPr anchor="ctr">
                    <a:solidFill>
                      <a:srgbClr val="1E2761"/>
                    </a:solidFill>
                  </a:tcPr>
                </a:tc>
                <a:tc>
                  <a:txBody>
                    <a:bodyPr/>
                    <a:lstStyle/>
                    <a:p>
                      <a:pPr algn="ctr" rtl="1"/>
                      <a:r>
                        <a:rPr lang="fa-IR" sz="1200" dirty="0">
                          <a:solidFill>
                            <a:schemeClr val="bg1"/>
                          </a:solidFill>
                          <a:latin typeface="Shabnam FD" panose="020B0603030804020204" pitchFamily="34" charset="-78"/>
                          <a:cs typeface="Shabnam FD" panose="020B0603030804020204" pitchFamily="34" charset="-78"/>
                        </a:rPr>
                        <a:t>متغیر رفتاری </a:t>
                      </a:r>
                      <a:r>
                        <a:rPr lang="fa-IR" sz="1000" b="0" dirty="0">
                          <a:solidFill>
                            <a:schemeClr val="bg1"/>
                          </a:solidFill>
                          <a:latin typeface="Shabnam FD" panose="020B0603030804020204" pitchFamily="34" charset="-78"/>
                          <a:cs typeface="Shabnam FD" panose="020B0603030804020204" pitchFamily="34" charset="-78"/>
                        </a:rPr>
                        <a:t>(</a:t>
                      </a:r>
                      <a:r>
                        <a:rPr lang="en-US" sz="1000" b="0" dirty="0" err="1">
                          <a:solidFill>
                            <a:schemeClr val="bg1"/>
                          </a:solidFill>
                          <a:latin typeface="Shabnam FD" panose="020B0603030804020204" pitchFamily="34" charset="-78"/>
                          <a:cs typeface="Shabnam FD" panose="020B0603030804020204" pitchFamily="34" charset="-78"/>
                        </a:rPr>
                        <a:t>Behavioural</a:t>
                      </a:r>
                      <a:r>
                        <a:rPr lang="en-US" sz="1000" b="0" dirty="0">
                          <a:solidFill>
                            <a:schemeClr val="bg1"/>
                          </a:solidFill>
                          <a:latin typeface="Shabnam FD" panose="020B0603030804020204" pitchFamily="34" charset="-78"/>
                          <a:cs typeface="Shabnam FD" panose="020B0603030804020204" pitchFamily="34" charset="-78"/>
                        </a:rPr>
                        <a:t> Variable</a:t>
                      </a:r>
                      <a:r>
                        <a:rPr lang="fa-IR" sz="1000" b="0" dirty="0">
                          <a:solidFill>
                            <a:schemeClr val="bg1"/>
                          </a:solidFill>
                          <a:latin typeface="Shabnam FD" panose="020B0603030804020204" pitchFamily="34" charset="-78"/>
                          <a:cs typeface="Shabnam FD" panose="020B0603030804020204" pitchFamily="34" charset="-78"/>
                        </a:rPr>
                        <a:t>) </a:t>
                      </a:r>
                      <a:endParaRPr lang="en-US" sz="1200" b="0" dirty="0">
                        <a:solidFill>
                          <a:schemeClr val="bg1"/>
                        </a:solidFill>
                        <a:latin typeface="Shabnam FD" panose="020B0603030804020204" pitchFamily="34" charset="-78"/>
                        <a:cs typeface="Shabnam FD" panose="020B0603030804020204" pitchFamily="34" charset="-78"/>
                      </a:endParaRPr>
                    </a:p>
                  </a:txBody>
                  <a:tcPr anchor="ctr">
                    <a:solidFill>
                      <a:srgbClr val="1E2761"/>
                    </a:solidFill>
                  </a:tcPr>
                </a:tc>
                <a:extLst>
                  <a:ext uri="{0D108BD9-81ED-4DB2-BD59-A6C34878D82A}">
                    <a16:rowId xmlns:a16="http://schemas.microsoft.com/office/drawing/2014/main" val="359730985"/>
                  </a:ext>
                </a:extLst>
              </a:tr>
              <a:tr h="228869">
                <a:tc>
                  <a:txBody>
                    <a:bodyPr/>
                    <a:lstStyle/>
                    <a:p>
                      <a:pPr algn="justLow" rtl="1"/>
                      <a:r>
                        <a:rPr lang="fa-IR" sz="1000" dirty="0">
                          <a:solidFill>
                            <a:schemeClr val="tx1">
                              <a:lumMod val="65000"/>
                              <a:lumOff val="35000"/>
                            </a:schemeClr>
                          </a:solidFill>
                          <a:latin typeface="Shabnam FD" panose="020B0603030804020204" pitchFamily="34" charset="-78"/>
                          <a:cs typeface="Shabnam FD" panose="020B0603030804020204" pitchFamily="34" charset="-78"/>
                        </a:rPr>
                        <a:t>شرکت دارای هدف مشخص و بودجه را از شرکتی که صرفاً در حال بررسی اولیه است، تفکیک می‌کند.</a:t>
                      </a:r>
                      <a:endParaRPr lang="en-US" sz="1000" dirty="0">
                        <a:solidFill>
                          <a:schemeClr val="tx1">
                            <a:lumMod val="65000"/>
                            <a:lumOff val="35000"/>
                          </a:schemeClr>
                        </a:solidFill>
                        <a:latin typeface="Shabnam FD" panose="020B0603030804020204" pitchFamily="34" charset="-78"/>
                        <a:cs typeface="Shabnam FD" panose="020B0603030804020204" pitchFamily="34" charset="-78"/>
                      </a:endParaRPr>
                    </a:p>
                  </a:txBody>
                  <a:tcPr anchor="ctr">
                    <a:solidFill>
                      <a:srgbClr val="1E2761">
                        <a:alpha val="20000"/>
                      </a:srgbClr>
                    </a:solidFill>
                  </a:tcPr>
                </a:tc>
                <a:tc>
                  <a:txBody>
                    <a:bodyPr/>
                    <a:lstStyle/>
                    <a:p>
                      <a:pPr algn="ctr" rtl="1"/>
                      <a:r>
                        <a:rPr lang="fa-IR" sz="1000" dirty="0" err="1">
                          <a:solidFill>
                            <a:schemeClr val="tx1">
                              <a:lumMod val="65000"/>
                              <a:lumOff val="35000"/>
                            </a:schemeClr>
                          </a:solidFill>
                          <a:latin typeface="Shabnam FD" panose="020B0603030804020204" pitchFamily="34" charset="-78"/>
                          <a:cs typeface="Shabnam FD" panose="020B0603030804020204" pitchFamily="34" charset="-78"/>
                        </a:rPr>
                        <a:t>متمایزکننده</a:t>
                      </a:r>
                      <a:endParaRPr lang="en-US" sz="1000" dirty="0">
                        <a:solidFill>
                          <a:schemeClr val="tx1">
                            <a:lumMod val="65000"/>
                            <a:lumOff val="35000"/>
                          </a:schemeClr>
                        </a:solidFill>
                        <a:latin typeface="Shabnam FD" panose="020B0603030804020204" pitchFamily="34" charset="-78"/>
                        <a:cs typeface="Shabnam FD" panose="020B0603030804020204" pitchFamily="34" charset="-78"/>
                      </a:endParaRPr>
                    </a:p>
                  </a:txBody>
                  <a:tcPr anchor="ctr">
                    <a:solidFill>
                      <a:srgbClr val="1E2761">
                        <a:alpha val="20000"/>
                      </a:srgbClr>
                    </a:solidFill>
                  </a:tcPr>
                </a:tc>
                <a:tc>
                  <a:txBody>
                    <a:bodyPr/>
                    <a:lstStyle/>
                    <a:p>
                      <a:pPr algn="justLow" rtl="1"/>
                      <a:r>
                        <a:rPr lang="fa-IR" sz="1000" b="1" dirty="0">
                          <a:solidFill>
                            <a:schemeClr val="tx1">
                              <a:lumMod val="65000"/>
                              <a:lumOff val="35000"/>
                            </a:schemeClr>
                          </a:solidFill>
                          <a:latin typeface="Shabnam FD" panose="020B0603030804020204" pitchFamily="34" charset="-78"/>
                          <a:cs typeface="Shabnam FD" panose="020B0603030804020204" pitchFamily="34" charset="-78"/>
                        </a:rPr>
                        <a:t>فوریت استراتژیک / میزان قابلیت</a:t>
                      </a:r>
                      <a:endParaRPr lang="en-US" sz="1000" b="1" dirty="0">
                        <a:solidFill>
                          <a:schemeClr val="tx1">
                            <a:lumMod val="65000"/>
                            <a:lumOff val="35000"/>
                          </a:schemeClr>
                        </a:solidFill>
                        <a:latin typeface="Shabnam FD" panose="020B0603030804020204" pitchFamily="34" charset="-78"/>
                        <a:cs typeface="Shabnam FD" panose="020B0603030804020204" pitchFamily="34" charset="-78"/>
                      </a:endParaRPr>
                    </a:p>
                  </a:txBody>
                  <a:tcPr anchor="ctr">
                    <a:solidFill>
                      <a:srgbClr val="1E2761">
                        <a:alpha val="20000"/>
                      </a:srgbClr>
                    </a:solidFill>
                  </a:tcPr>
                </a:tc>
                <a:extLst>
                  <a:ext uri="{0D108BD9-81ED-4DB2-BD59-A6C34878D82A}">
                    <a16:rowId xmlns:a16="http://schemas.microsoft.com/office/drawing/2014/main" val="3008010569"/>
                  </a:ext>
                </a:extLst>
              </a:tr>
              <a:tr h="228869">
                <a:tc>
                  <a:txBody>
                    <a:bodyPr/>
                    <a:lstStyle/>
                    <a:p>
                      <a:pPr algn="justLow" rtl="1"/>
                      <a:r>
                        <a:rPr lang="fa-IR" sz="1000">
                          <a:solidFill>
                            <a:schemeClr val="tx1">
                              <a:lumMod val="65000"/>
                              <a:lumOff val="35000"/>
                            </a:schemeClr>
                          </a:solidFill>
                          <a:latin typeface="Shabnam FD" panose="020B0603030804020204" pitchFamily="34" charset="-78"/>
                          <a:cs typeface="Shabnam FD" panose="020B0603030804020204" pitchFamily="34" charset="-78"/>
                        </a:rPr>
                        <a:t>مشتریانی که یک خدمت را می‌خرند از مشتریانی که مالکیت مشترک کسب‌وکار را می‌پذیرند تفکیک می‌کند. </a:t>
                      </a:r>
                      <a:endParaRPr lang="en-US" sz="1000">
                        <a:solidFill>
                          <a:schemeClr val="tx1">
                            <a:lumMod val="65000"/>
                            <a:lumOff val="35000"/>
                          </a:schemeClr>
                        </a:solidFill>
                        <a:latin typeface="Shabnam FD" panose="020B0603030804020204" pitchFamily="34" charset="-78"/>
                        <a:cs typeface="Shabnam FD" panose="020B0603030804020204" pitchFamily="34" charset="-78"/>
                      </a:endParaRPr>
                    </a:p>
                  </a:txBody>
                  <a:tcPr anchor="ctr">
                    <a:solidFill>
                      <a:srgbClr val="1E2761">
                        <a:alpha val="20000"/>
                      </a:srgbClr>
                    </a:solidFill>
                  </a:tcPr>
                </a:tc>
                <a:tc>
                  <a:txBody>
                    <a:bodyPr/>
                    <a:lstStyle/>
                    <a:p>
                      <a:pPr algn="ctr" rtl="1"/>
                      <a:r>
                        <a:rPr lang="fa-IR" sz="1000" dirty="0" err="1">
                          <a:solidFill>
                            <a:schemeClr val="tx1">
                              <a:lumMod val="65000"/>
                              <a:lumOff val="35000"/>
                            </a:schemeClr>
                          </a:solidFill>
                          <a:latin typeface="Shabnam FD" panose="020B0603030804020204" pitchFamily="34" charset="-78"/>
                          <a:cs typeface="Shabnam FD" panose="020B0603030804020204" pitchFamily="34" charset="-78"/>
                        </a:rPr>
                        <a:t>متمایزکننده</a:t>
                      </a:r>
                      <a:r>
                        <a:rPr lang="fa-IR" sz="1000" dirty="0">
                          <a:solidFill>
                            <a:schemeClr val="tx1">
                              <a:lumMod val="65000"/>
                              <a:lumOff val="35000"/>
                            </a:schemeClr>
                          </a:solidFill>
                          <a:latin typeface="Shabnam FD" panose="020B0603030804020204" pitchFamily="34" charset="-78"/>
                          <a:cs typeface="Shabnam FD" panose="020B0603030804020204" pitchFamily="34" charset="-78"/>
                        </a:rPr>
                        <a:t> </a:t>
                      </a:r>
                      <a:endParaRPr lang="en-US" sz="1000" dirty="0">
                        <a:solidFill>
                          <a:schemeClr val="tx1">
                            <a:lumMod val="65000"/>
                            <a:lumOff val="35000"/>
                          </a:schemeClr>
                        </a:solidFill>
                        <a:latin typeface="Shabnam FD" panose="020B0603030804020204" pitchFamily="34" charset="-78"/>
                        <a:cs typeface="Shabnam FD" panose="020B0603030804020204" pitchFamily="34" charset="-78"/>
                      </a:endParaRPr>
                    </a:p>
                  </a:txBody>
                  <a:tcPr anchor="ctr">
                    <a:solidFill>
                      <a:srgbClr val="1E2761">
                        <a:alpha val="20000"/>
                      </a:srgbClr>
                    </a:solidFill>
                  </a:tcPr>
                </a:tc>
                <a:tc>
                  <a:txBody>
                    <a:bodyPr/>
                    <a:lstStyle/>
                    <a:p>
                      <a:pPr algn="justLow" rtl="1"/>
                      <a:r>
                        <a:rPr lang="fa-IR" sz="1000" b="1" dirty="0">
                          <a:solidFill>
                            <a:schemeClr val="tx1">
                              <a:lumMod val="65000"/>
                              <a:lumOff val="35000"/>
                            </a:schemeClr>
                          </a:solidFill>
                          <a:latin typeface="Shabnam FD" panose="020B0603030804020204" pitchFamily="34" charset="-78"/>
                          <a:cs typeface="Shabnam FD" panose="020B0603030804020204" pitchFamily="34" charset="-78"/>
                        </a:rPr>
                        <a:t>تمایل به اشتراک‌گذاری کنترل</a:t>
                      </a:r>
                      <a:endParaRPr lang="en-US" sz="1000" b="1" dirty="0">
                        <a:solidFill>
                          <a:schemeClr val="tx1">
                            <a:lumMod val="65000"/>
                            <a:lumOff val="35000"/>
                          </a:schemeClr>
                        </a:solidFill>
                        <a:latin typeface="Shabnam FD" panose="020B0603030804020204" pitchFamily="34" charset="-78"/>
                        <a:cs typeface="Shabnam FD" panose="020B0603030804020204" pitchFamily="34" charset="-78"/>
                      </a:endParaRPr>
                    </a:p>
                  </a:txBody>
                  <a:tcPr anchor="ctr">
                    <a:solidFill>
                      <a:srgbClr val="1E2761">
                        <a:alpha val="20000"/>
                      </a:srgbClr>
                    </a:solidFill>
                  </a:tcPr>
                </a:tc>
                <a:extLst>
                  <a:ext uri="{0D108BD9-81ED-4DB2-BD59-A6C34878D82A}">
                    <a16:rowId xmlns:a16="http://schemas.microsoft.com/office/drawing/2014/main" val="3602813289"/>
                  </a:ext>
                </a:extLst>
              </a:tr>
              <a:tr h="357002">
                <a:tc>
                  <a:txBody>
                    <a:bodyPr/>
                    <a:lstStyle/>
                    <a:p>
                      <a:pPr algn="justLow" rtl="1"/>
                      <a:r>
                        <a:rPr lang="fa-IR" sz="1000" dirty="0">
                          <a:solidFill>
                            <a:schemeClr val="tx1">
                              <a:lumMod val="65000"/>
                              <a:lumOff val="35000"/>
                            </a:schemeClr>
                          </a:solidFill>
                          <a:latin typeface="Shabnam FD" panose="020B0603030804020204" pitchFamily="34" charset="-78"/>
                          <a:cs typeface="Shabnam FD" panose="020B0603030804020204" pitchFamily="34" charset="-78"/>
                        </a:rPr>
                        <a:t>مشتری بسته‌ای که متمایل به واسطه‌ها نباشد، اصلاً مشتری محسوب نمی‌شود. این یک معیار «رد صلاحیت»</a:t>
                      </a:r>
                      <a:r>
                        <a:rPr lang="en-US" sz="1000" dirty="0">
                          <a:solidFill>
                            <a:schemeClr val="tx1">
                              <a:lumMod val="65000"/>
                              <a:lumOff val="35000"/>
                            </a:schemeClr>
                          </a:solidFill>
                          <a:latin typeface="Shabnam FD" panose="020B0603030804020204" pitchFamily="34" charset="-78"/>
                          <a:cs typeface="Shabnam FD" panose="020B0603030804020204" pitchFamily="34" charset="-78"/>
                        </a:rPr>
                        <a:t> </a:t>
                      </a:r>
                      <a:r>
                        <a:rPr lang="fa-IR" sz="1000" dirty="0">
                          <a:solidFill>
                            <a:schemeClr val="tx1">
                              <a:lumMod val="65000"/>
                              <a:lumOff val="35000"/>
                            </a:schemeClr>
                          </a:solidFill>
                          <a:latin typeface="Shabnam FD" panose="020B0603030804020204" pitchFamily="34" charset="-78"/>
                          <a:cs typeface="Shabnam FD" panose="020B0603030804020204" pitchFamily="34" charset="-78"/>
                        </a:rPr>
                        <a:t>است، نه یک بخش‌بندی مجزا.</a:t>
                      </a:r>
                      <a:endParaRPr lang="en-US" sz="1000" dirty="0">
                        <a:solidFill>
                          <a:schemeClr val="tx1">
                            <a:lumMod val="65000"/>
                            <a:lumOff val="35000"/>
                          </a:schemeClr>
                        </a:solidFill>
                        <a:latin typeface="Shabnam FD" panose="020B0603030804020204" pitchFamily="34" charset="-78"/>
                        <a:cs typeface="Shabnam FD" panose="020B0603030804020204" pitchFamily="34" charset="-78"/>
                      </a:endParaRPr>
                    </a:p>
                  </a:txBody>
                  <a:tcPr anchor="ctr">
                    <a:solidFill>
                      <a:schemeClr val="bg1">
                        <a:lumMod val="95000"/>
                      </a:schemeClr>
                    </a:solidFill>
                  </a:tcPr>
                </a:tc>
                <a:tc>
                  <a:txBody>
                    <a:bodyPr/>
                    <a:lstStyle/>
                    <a:p>
                      <a:pPr algn="ctr" rtl="1"/>
                      <a:r>
                        <a:rPr lang="fa-IR" sz="1000" dirty="0">
                          <a:solidFill>
                            <a:schemeClr val="tx1">
                              <a:lumMod val="65000"/>
                              <a:lumOff val="35000"/>
                            </a:schemeClr>
                          </a:solidFill>
                          <a:latin typeface="Shabnam FD" panose="020B0603030804020204" pitchFamily="34" charset="-78"/>
                          <a:cs typeface="Shabnam FD" panose="020B0603030804020204" pitchFamily="34" charset="-78"/>
                        </a:rPr>
                        <a:t>احراز صلاحیت</a:t>
                      </a:r>
                      <a:endParaRPr lang="en-US" sz="1000" dirty="0">
                        <a:solidFill>
                          <a:schemeClr val="tx1">
                            <a:lumMod val="65000"/>
                            <a:lumOff val="35000"/>
                          </a:schemeClr>
                        </a:solidFill>
                        <a:latin typeface="Shabnam FD" panose="020B0603030804020204" pitchFamily="34" charset="-78"/>
                        <a:cs typeface="Shabnam FD" panose="020B0603030804020204" pitchFamily="34" charset="-78"/>
                      </a:endParaRPr>
                    </a:p>
                  </a:txBody>
                  <a:tcPr anchor="ctr">
                    <a:solidFill>
                      <a:schemeClr val="bg1">
                        <a:lumMod val="95000"/>
                      </a:schemeClr>
                    </a:solidFill>
                  </a:tcPr>
                </a:tc>
                <a:tc>
                  <a:txBody>
                    <a:bodyPr/>
                    <a:lstStyle/>
                    <a:p>
                      <a:pPr algn="justLow" rtl="1"/>
                      <a:r>
                        <a:rPr lang="fa-IR" sz="1000" b="1" dirty="0">
                          <a:solidFill>
                            <a:schemeClr val="tx1">
                              <a:lumMod val="65000"/>
                              <a:lumOff val="35000"/>
                            </a:schemeClr>
                          </a:solidFill>
                          <a:latin typeface="Shabnam FD" panose="020B0603030804020204" pitchFamily="34" charset="-78"/>
                          <a:cs typeface="Shabnam FD" panose="020B0603030804020204" pitchFamily="34" charset="-78"/>
                        </a:rPr>
                        <a:t>گشودگی نسبت به واسطه‌ها </a:t>
                      </a:r>
                      <a:endParaRPr lang="en-US" sz="1000" b="1" dirty="0">
                        <a:solidFill>
                          <a:schemeClr val="tx1">
                            <a:lumMod val="65000"/>
                            <a:lumOff val="35000"/>
                          </a:schemeClr>
                        </a:solidFill>
                        <a:latin typeface="Shabnam FD" panose="020B0603030804020204" pitchFamily="34" charset="-78"/>
                        <a:cs typeface="Shabnam FD" panose="020B0603030804020204" pitchFamily="34" charset="-78"/>
                      </a:endParaRPr>
                    </a:p>
                  </a:txBody>
                  <a:tcPr anchor="ctr">
                    <a:solidFill>
                      <a:schemeClr val="bg1">
                        <a:lumMod val="95000"/>
                      </a:schemeClr>
                    </a:solidFill>
                  </a:tcPr>
                </a:tc>
                <a:extLst>
                  <a:ext uri="{0D108BD9-81ED-4DB2-BD59-A6C34878D82A}">
                    <a16:rowId xmlns:a16="http://schemas.microsoft.com/office/drawing/2014/main" val="1927763593"/>
                  </a:ext>
                </a:extLst>
              </a:tr>
              <a:tr h="219693">
                <a:tc>
                  <a:txBody>
                    <a:bodyPr/>
                    <a:lstStyle/>
                    <a:p>
                      <a:pPr algn="justLow" rtl="1"/>
                      <a:r>
                        <a:rPr lang="fa-IR" sz="1000" dirty="0">
                          <a:solidFill>
                            <a:schemeClr val="tx1">
                              <a:lumMod val="65000"/>
                              <a:lumOff val="35000"/>
                            </a:schemeClr>
                          </a:solidFill>
                          <a:latin typeface="Shabnam FD" panose="020B0603030804020204" pitchFamily="34" charset="-78"/>
                          <a:cs typeface="Shabnam FD" panose="020B0603030804020204" pitchFamily="34" charset="-78"/>
                        </a:rPr>
                        <a:t>به‌طور پیوسته در تمام بخش‌ها متغیر است. بر انتخاب معامله (</a:t>
                      </a:r>
                      <a:r>
                        <a:rPr lang="en-US" sz="1000" dirty="0">
                          <a:solidFill>
                            <a:schemeClr val="tx1">
                              <a:lumMod val="65000"/>
                              <a:lumOff val="35000"/>
                            </a:schemeClr>
                          </a:solidFill>
                          <a:latin typeface="Shabnam FD" panose="020B0603030804020204" pitchFamily="34" charset="-78"/>
                          <a:cs typeface="Shabnam FD" panose="020B0603030804020204" pitchFamily="34" charset="-78"/>
                        </a:rPr>
                        <a:t>Deal selection</a:t>
                      </a:r>
                      <a:r>
                        <a:rPr lang="fa-IR" sz="1000" dirty="0">
                          <a:solidFill>
                            <a:schemeClr val="tx1">
                              <a:lumMod val="65000"/>
                              <a:lumOff val="35000"/>
                            </a:schemeClr>
                          </a:solidFill>
                          <a:latin typeface="Shabnam FD" panose="020B0603030804020204" pitchFamily="34" charset="-78"/>
                          <a:cs typeface="Shabnam FD" panose="020B0603030804020204" pitchFamily="34" charset="-78"/>
                        </a:rPr>
                        <a:t>) تاثیر می‌گذارد، نه بر طراحی ارزش پیشنهادی.</a:t>
                      </a:r>
                      <a:endParaRPr lang="en-US" sz="1000" dirty="0">
                        <a:solidFill>
                          <a:schemeClr val="tx1">
                            <a:lumMod val="65000"/>
                            <a:lumOff val="35000"/>
                          </a:schemeClr>
                        </a:solidFill>
                        <a:latin typeface="Shabnam FD" panose="020B0603030804020204" pitchFamily="34" charset="-78"/>
                        <a:cs typeface="Shabnam FD" panose="020B0603030804020204" pitchFamily="34" charset="-78"/>
                      </a:endParaRPr>
                    </a:p>
                  </a:txBody>
                  <a:tcPr anchor="ctr">
                    <a:solidFill>
                      <a:schemeClr val="bg1">
                        <a:lumMod val="95000"/>
                      </a:schemeClr>
                    </a:solidFill>
                  </a:tcPr>
                </a:tc>
                <a:tc>
                  <a:txBody>
                    <a:bodyPr/>
                    <a:lstStyle/>
                    <a:p>
                      <a:pPr algn="ctr" rtl="1"/>
                      <a:r>
                        <a:rPr lang="fa-IR" sz="1000" dirty="0">
                          <a:solidFill>
                            <a:schemeClr val="tx1">
                              <a:lumMod val="65000"/>
                              <a:lumOff val="35000"/>
                            </a:schemeClr>
                          </a:solidFill>
                          <a:latin typeface="Shabnam FD" panose="020B0603030804020204" pitchFamily="34" charset="-78"/>
                          <a:cs typeface="Shabnam FD" panose="020B0603030804020204" pitchFamily="34" charset="-78"/>
                        </a:rPr>
                        <a:t>ویژگی </a:t>
                      </a:r>
                      <a:endParaRPr lang="en-US" sz="1000" dirty="0">
                        <a:solidFill>
                          <a:schemeClr val="tx1">
                            <a:lumMod val="65000"/>
                            <a:lumOff val="35000"/>
                          </a:schemeClr>
                        </a:solidFill>
                        <a:latin typeface="Shabnam FD" panose="020B0603030804020204" pitchFamily="34" charset="-78"/>
                        <a:cs typeface="Shabnam FD" panose="020B0603030804020204" pitchFamily="34" charset="-78"/>
                      </a:endParaRPr>
                    </a:p>
                  </a:txBody>
                  <a:tcPr anchor="ctr">
                    <a:solidFill>
                      <a:schemeClr val="bg1">
                        <a:lumMod val="95000"/>
                      </a:schemeClr>
                    </a:solidFill>
                  </a:tcPr>
                </a:tc>
                <a:tc>
                  <a:txBody>
                    <a:bodyPr/>
                    <a:lstStyle/>
                    <a:p>
                      <a:pPr algn="justLow" rtl="1"/>
                      <a:r>
                        <a:rPr lang="fa-IR" sz="1000" b="1" dirty="0">
                          <a:solidFill>
                            <a:schemeClr val="tx1">
                              <a:lumMod val="65000"/>
                              <a:lumOff val="35000"/>
                            </a:schemeClr>
                          </a:solidFill>
                          <a:latin typeface="Shabnam FD" panose="020B0603030804020204" pitchFamily="34" charset="-78"/>
                          <a:cs typeface="Shabnam FD" panose="020B0603030804020204" pitchFamily="34" charset="-78"/>
                        </a:rPr>
                        <a:t>ریسک پذیری / گریزی</a:t>
                      </a:r>
                      <a:endParaRPr lang="en-US" sz="1000" b="1" dirty="0">
                        <a:solidFill>
                          <a:schemeClr val="tx1">
                            <a:lumMod val="65000"/>
                            <a:lumOff val="35000"/>
                          </a:schemeClr>
                        </a:solidFill>
                        <a:latin typeface="Shabnam FD" panose="020B0603030804020204" pitchFamily="34" charset="-78"/>
                        <a:cs typeface="Shabnam FD" panose="020B0603030804020204" pitchFamily="34" charset="-78"/>
                      </a:endParaRPr>
                    </a:p>
                  </a:txBody>
                  <a:tcPr anchor="ctr">
                    <a:solidFill>
                      <a:schemeClr val="bg1">
                        <a:lumMod val="95000"/>
                      </a:schemeClr>
                    </a:solidFill>
                  </a:tcPr>
                </a:tc>
                <a:extLst>
                  <a:ext uri="{0D108BD9-81ED-4DB2-BD59-A6C34878D82A}">
                    <a16:rowId xmlns:a16="http://schemas.microsoft.com/office/drawing/2014/main" val="2592394972"/>
                  </a:ext>
                </a:extLst>
              </a:tr>
              <a:tr h="219693">
                <a:tc>
                  <a:txBody>
                    <a:bodyPr/>
                    <a:lstStyle/>
                    <a:p>
                      <a:pPr algn="justLow" rtl="1"/>
                      <a:r>
                        <a:rPr lang="fa-IR" sz="1000">
                          <a:solidFill>
                            <a:schemeClr val="tx1">
                              <a:lumMod val="65000"/>
                              <a:lumOff val="35000"/>
                            </a:schemeClr>
                          </a:solidFill>
                          <a:latin typeface="Shabnam FD" panose="020B0603030804020204" pitchFamily="34" charset="-78"/>
                          <a:cs typeface="Shabnam FD" panose="020B0603030804020204" pitchFamily="34" charset="-78"/>
                        </a:rPr>
                        <a:t>بر اولویت‌بندی حساب‌ها و تخصیص منابع تاثیر می‌گذارد، نه بر آنچه ارائه می‌شود. </a:t>
                      </a:r>
                      <a:endParaRPr lang="en-US" sz="1000">
                        <a:solidFill>
                          <a:schemeClr val="tx1">
                            <a:lumMod val="65000"/>
                            <a:lumOff val="35000"/>
                          </a:schemeClr>
                        </a:solidFill>
                        <a:latin typeface="Shabnam FD" panose="020B0603030804020204" pitchFamily="34" charset="-78"/>
                        <a:cs typeface="Shabnam FD" panose="020B0603030804020204" pitchFamily="34" charset="-78"/>
                      </a:endParaRPr>
                    </a:p>
                  </a:txBody>
                  <a:tcPr anchor="ctr">
                    <a:solidFill>
                      <a:schemeClr val="bg1">
                        <a:lumMod val="95000"/>
                      </a:schemeClr>
                    </a:solidFill>
                  </a:tcPr>
                </a:tc>
                <a:tc>
                  <a:txBody>
                    <a:bodyPr/>
                    <a:lstStyle/>
                    <a:p>
                      <a:pPr algn="ctr" rtl="1"/>
                      <a:r>
                        <a:rPr kumimoji="0" lang="fa-IR" sz="1000" b="0" i="0" u="none" strike="noStrike" kern="1200" cap="none" spc="0" normalizeH="0" baseline="0" noProof="0" dirty="0">
                          <a:ln>
                            <a:noFill/>
                          </a:ln>
                          <a:solidFill>
                            <a:schemeClr val="tx1">
                              <a:lumMod val="65000"/>
                              <a:lumOff val="35000"/>
                            </a:schemeClr>
                          </a:solidFill>
                          <a:effectLst/>
                          <a:uLnTx/>
                          <a:uFillTx/>
                          <a:latin typeface="Shabnam FD" panose="020B0603030804020204" pitchFamily="34" charset="-78"/>
                          <a:ea typeface="+mn-ea"/>
                          <a:cs typeface="Shabnam FD" panose="020B0603030804020204" pitchFamily="34" charset="-78"/>
                        </a:rPr>
                        <a:t>ویژگی</a:t>
                      </a:r>
                      <a:endParaRPr lang="en-US" sz="1000" dirty="0">
                        <a:solidFill>
                          <a:schemeClr val="tx1">
                            <a:lumMod val="65000"/>
                            <a:lumOff val="35000"/>
                          </a:schemeClr>
                        </a:solidFill>
                        <a:latin typeface="Shabnam FD" panose="020B0603030804020204" pitchFamily="34" charset="-78"/>
                        <a:cs typeface="Shabnam FD" panose="020B0603030804020204" pitchFamily="34" charset="-78"/>
                      </a:endParaRPr>
                    </a:p>
                  </a:txBody>
                  <a:tcPr anchor="ctr">
                    <a:solidFill>
                      <a:schemeClr val="bg1">
                        <a:lumMod val="95000"/>
                      </a:schemeClr>
                    </a:solidFill>
                  </a:tcPr>
                </a:tc>
                <a:tc>
                  <a:txBody>
                    <a:bodyPr/>
                    <a:lstStyle/>
                    <a:p>
                      <a:pPr algn="justLow" rtl="1"/>
                      <a:r>
                        <a:rPr lang="fa-IR" sz="1000" b="1" dirty="0">
                          <a:solidFill>
                            <a:schemeClr val="tx1">
                              <a:lumMod val="65000"/>
                              <a:lumOff val="35000"/>
                            </a:schemeClr>
                          </a:solidFill>
                          <a:latin typeface="Shabnam FD" panose="020B0603030804020204" pitchFamily="34" charset="-78"/>
                          <a:cs typeface="Shabnam FD" panose="020B0603030804020204" pitchFamily="34" charset="-78"/>
                        </a:rPr>
                        <a:t>سرعت تصمیم‌گیری</a:t>
                      </a:r>
                      <a:endParaRPr lang="en-US" sz="1000" b="1" dirty="0">
                        <a:solidFill>
                          <a:schemeClr val="tx1">
                            <a:lumMod val="65000"/>
                            <a:lumOff val="35000"/>
                          </a:schemeClr>
                        </a:solidFill>
                        <a:latin typeface="Shabnam FD" panose="020B0603030804020204" pitchFamily="34" charset="-78"/>
                        <a:cs typeface="Shabnam FD" panose="020B0603030804020204" pitchFamily="34" charset="-78"/>
                      </a:endParaRPr>
                    </a:p>
                  </a:txBody>
                  <a:tcPr anchor="ctr">
                    <a:solidFill>
                      <a:schemeClr val="bg1">
                        <a:lumMod val="95000"/>
                      </a:schemeClr>
                    </a:solidFill>
                  </a:tcPr>
                </a:tc>
                <a:extLst>
                  <a:ext uri="{0D108BD9-81ED-4DB2-BD59-A6C34878D82A}">
                    <a16:rowId xmlns:a16="http://schemas.microsoft.com/office/drawing/2014/main" val="942818257"/>
                  </a:ext>
                </a:extLst>
              </a:tr>
              <a:tr h="219693">
                <a:tc>
                  <a:txBody>
                    <a:bodyPr/>
                    <a:lstStyle/>
                    <a:p>
                      <a:pPr algn="justLow" rtl="1"/>
                      <a:r>
                        <a:rPr lang="fa-IR" sz="1000" dirty="0">
                          <a:solidFill>
                            <a:schemeClr val="tx1">
                              <a:lumMod val="65000"/>
                              <a:lumOff val="35000"/>
                            </a:schemeClr>
                          </a:solidFill>
                          <a:latin typeface="Shabnam FD" panose="020B0603030804020204" pitchFamily="34" charset="-78"/>
                          <a:cs typeface="Shabnam FD" panose="020B0603030804020204" pitchFamily="34" charset="-78"/>
                        </a:rPr>
                        <a:t>نقشه مرکز خرید (</a:t>
                      </a:r>
                      <a:r>
                        <a:rPr lang="en-US" sz="1000" dirty="0">
                          <a:solidFill>
                            <a:schemeClr val="tx1">
                              <a:lumMod val="65000"/>
                              <a:lumOff val="35000"/>
                            </a:schemeClr>
                          </a:solidFill>
                          <a:latin typeface="Shabnam FD" panose="020B0603030804020204" pitchFamily="34" charset="-78"/>
                          <a:cs typeface="Shabnam FD" panose="020B0603030804020204" pitchFamily="34" charset="-78"/>
                        </a:rPr>
                        <a:t>Buying-</a:t>
                      </a:r>
                      <a:r>
                        <a:rPr lang="en-US" sz="1000" dirty="0" err="1">
                          <a:solidFill>
                            <a:schemeClr val="tx1">
                              <a:lumMod val="65000"/>
                              <a:lumOff val="35000"/>
                            </a:schemeClr>
                          </a:solidFill>
                          <a:latin typeface="Shabnam FD" panose="020B0603030804020204" pitchFamily="34" charset="-78"/>
                          <a:cs typeface="Shabnam FD" panose="020B0603030804020204" pitchFamily="34" charset="-78"/>
                        </a:rPr>
                        <a:t>centre</a:t>
                      </a:r>
                      <a:r>
                        <a:rPr lang="en-US" sz="1000" dirty="0">
                          <a:solidFill>
                            <a:schemeClr val="tx1">
                              <a:lumMod val="65000"/>
                              <a:lumOff val="35000"/>
                            </a:schemeClr>
                          </a:solidFill>
                          <a:latin typeface="Shabnam FD" panose="020B0603030804020204" pitchFamily="34" charset="-78"/>
                          <a:cs typeface="Shabnam FD" panose="020B0603030804020204" pitchFamily="34" charset="-78"/>
                        </a:rPr>
                        <a:t> map</a:t>
                      </a:r>
                      <a:r>
                        <a:rPr lang="fa-IR" sz="1000" dirty="0">
                          <a:solidFill>
                            <a:schemeClr val="tx1">
                              <a:lumMod val="65000"/>
                              <a:lumOff val="35000"/>
                            </a:schemeClr>
                          </a:solidFill>
                          <a:latin typeface="Shabnam FD" panose="020B0603030804020204" pitchFamily="34" charset="-78"/>
                          <a:cs typeface="Shabnam FD" panose="020B0603030804020204" pitchFamily="34" charset="-78"/>
                        </a:rPr>
                        <a:t>) و طراحی مراحل فروش (</a:t>
                      </a:r>
                      <a:r>
                        <a:rPr lang="en-US" sz="1000" dirty="0">
                          <a:solidFill>
                            <a:schemeClr val="tx1">
                              <a:lumMod val="65000"/>
                              <a:lumOff val="35000"/>
                            </a:schemeClr>
                          </a:solidFill>
                          <a:latin typeface="Shabnam FD" panose="020B0603030804020204" pitchFamily="34" charset="-78"/>
                          <a:cs typeface="Shabnam FD" panose="020B0603030804020204" pitchFamily="34" charset="-78"/>
                        </a:rPr>
                        <a:t>Sales choreography</a:t>
                      </a:r>
                      <a:r>
                        <a:rPr lang="fa-IR" sz="1000" dirty="0">
                          <a:solidFill>
                            <a:schemeClr val="tx1">
                              <a:lumMod val="65000"/>
                              <a:lumOff val="35000"/>
                            </a:schemeClr>
                          </a:solidFill>
                          <a:latin typeface="Shabnam FD" panose="020B0603030804020204" pitchFamily="34" charset="-78"/>
                          <a:cs typeface="Shabnam FD" panose="020B0603030804020204" pitchFamily="34" charset="-78"/>
                        </a:rPr>
                        <a:t>) را در درون یک حساب مشخص شکل می‌دهد. </a:t>
                      </a:r>
                      <a:endParaRPr lang="en-US" sz="1000" dirty="0">
                        <a:solidFill>
                          <a:schemeClr val="tx1">
                            <a:lumMod val="65000"/>
                            <a:lumOff val="35000"/>
                          </a:schemeClr>
                        </a:solidFill>
                        <a:latin typeface="Shabnam FD" panose="020B0603030804020204" pitchFamily="34" charset="-78"/>
                        <a:cs typeface="Shabnam FD" panose="020B0603030804020204" pitchFamily="34" charset="-78"/>
                      </a:endParaRPr>
                    </a:p>
                  </a:txBody>
                  <a:tcPr anchor="ctr">
                    <a:solidFill>
                      <a:schemeClr val="bg1">
                        <a:lumMod val="95000"/>
                      </a:schemeClr>
                    </a:solidFill>
                  </a:tcPr>
                </a:tc>
                <a:tc>
                  <a:txBody>
                    <a:bodyPr/>
                    <a:lstStyle/>
                    <a:p>
                      <a:pPr algn="ctr" rtl="1"/>
                      <a:r>
                        <a:rPr kumimoji="0" lang="fa-IR" sz="1000" b="0" i="0" u="none" strike="noStrike" kern="1200" cap="none" spc="0" normalizeH="0" baseline="0" noProof="0" dirty="0">
                          <a:ln>
                            <a:noFill/>
                          </a:ln>
                          <a:solidFill>
                            <a:schemeClr val="tx1">
                              <a:lumMod val="65000"/>
                              <a:lumOff val="35000"/>
                            </a:schemeClr>
                          </a:solidFill>
                          <a:effectLst/>
                          <a:uLnTx/>
                          <a:uFillTx/>
                          <a:latin typeface="Shabnam FD" panose="020B0603030804020204" pitchFamily="34" charset="-78"/>
                          <a:ea typeface="+mn-ea"/>
                          <a:cs typeface="Shabnam FD" panose="020B0603030804020204" pitchFamily="34" charset="-78"/>
                        </a:rPr>
                        <a:t>ویژگی</a:t>
                      </a:r>
                      <a:endParaRPr lang="en-US" sz="1000" dirty="0">
                        <a:solidFill>
                          <a:schemeClr val="tx1">
                            <a:lumMod val="65000"/>
                            <a:lumOff val="35000"/>
                          </a:schemeClr>
                        </a:solidFill>
                        <a:latin typeface="Shabnam FD" panose="020B0603030804020204" pitchFamily="34" charset="-78"/>
                        <a:cs typeface="Shabnam FD" panose="020B0603030804020204" pitchFamily="34" charset="-78"/>
                      </a:endParaRPr>
                    </a:p>
                  </a:txBody>
                  <a:tcPr anchor="ctr">
                    <a:solidFill>
                      <a:schemeClr val="bg1">
                        <a:lumMod val="95000"/>
                      </a:schemeClr>
                    </a:solidFill>
                  </a:tcPr>
                </a:tc>
                <a:tc>
                  <a:txBody>
                    <a:bodyPr/>
                    <a:lstStyle/>
                    <a:p>
                      <a:pPr algn="justLow" rtl="1"/>
                      <a:r>
                        <a:rPr lang="fa-IR" sz="1000" b="1" dirty="0">
                          <a:solidFill>
                            <a:schemeClr val="tx1">
                              <a:lumMod val="65000"/>
                              <a:lumOff val="35000"/>
                            </a:schemeClr>
                          </a:solidFill>
                          <a:latin typeface="Shabnam FD" panose="020B0603030804020204" pitchFamily="34" charset="-78"/>
                          <a:cs typeface="Shabnam FD" panose="020B0603030804020204" pitchFamily="34" charset="-78"/>
                        </a:rPr>
                        <a:t>تمرکزگرایی در تصمیم‌گیری</a:t>
                      </a:r>
                      <a:endParaRPr lang="en-US" sz="1000" b="1" dirty="0">
                        <a:solidFill>
                          <a:schemeClr val="tx1">
                            <a:lumMod val="65000"/>
                            <a:lumOff val="35000"/>
                          </a:schemeClr>
                        </a:solidFill>
                        <a:latin typeface="Shabnam FD" panose="020B0603030804020204" pitchFamily="34" charset="-78"/>
                        <a:cs typeface="Shabnam FD" panose="020B0603030804020204" pitchFamily="34" charset="-78"/>
                      </a:endParaRPr>
                    </a:p>
                  </a:txBody>
                  <a:tcPr anchor="ctr">
                    <a:solidFill>
                      <a:schemeClr val="bg1">
                        <a:lumMod val="95000"/>
                      </a:schemeClr>
                    </a:solidFill>
                  </a:tcPr>
                </a:tc>
                <a:extLst>
                  <a:ext uri="{0D108BD9-81ED-4DB2-BD59-A6C34878D82A}">
                    <a16:rowId xmlns:a16="http://schemas.microsoft.com/office/drawing/2014/main" val="2280365725"/>
                  </a:ext>
                </a:extLst>
              </a:tr>
              <a:tr h="219693">
                <a:tc>
                  <a:txBody>
                    <a:bodyPr/>
                    <a:lstStyle/>
                    <a:p>
                      <a:pPr marL="0" marR="0" lvl="0" indent="0" algn="justLow" defTabSz="1021516" rtl="1" eaLnBrk="1" fontAlgn="auto" latinLnBrk="0" hangingPunct="1">
                        <a:lnSpc>
                          <a:spcPct val="100000"/>
                        </a:lnSpc>
                        <a:spcBef>
                          <a:spcPts val="0"/>
                        </a:spcBef>
                        <a:spcAft>
                          <a:spcPts val="0"/>
                        </a:spcAft>
                        <a:buClrTx/>
                        <a:buSzTx/>
                        <a:buFontTx/>
                        <a:buNone/>
                        <a:tabLst/>
                        <a:defRPr/>
                      </a:pPr>
                      <a:r>
                        <a:rPr lang="fa-IR" sz="1000">
                          <a:solidFill>
                            <a:schemeClr val="tx1">
                              <a:lumMod val="65000"/>
                              <a:lumOff val="35000"/>
                            </a:schemeClr>
                          </a:solidFill>
                          <a:latin typeface="Shabnam FD" panose="020B0603030804020204" pitchFamily="34" charset="-78"/>
                          <a:cs typeface="Shabnam FD" panose="020B0603030804020204" pitchFamily="34" charset="-78"/>
                        </a:rPr>
                        <a:t>بر پیچیدگی قرارداد و حاشیه سود تاثیر می‌گذارد، نه بر اصل ارزش پیشنهادی.</a:t>
                      </a:r>
                      <a:endParaRPr lang="en-US" sz="1000">
                        <a:solidFill>
                          <a:schemeClr val="tx1">
                            <a:lumMod val="65000"/>
                            <a:lumOff val="35000"/>
                          </a:schemeClr>
                        </a:solidFill>
                        <a:latin typeface="Shabnam FD" panose="020B0603030804020204" pitchFamily="34" charset="-78"/>
                        <a:cs typeface="Shabnam FD" panose="020B0603030804020204" pitchFamily="34" charset="-78"/>
                      </a:endParaRPr>
                    </a:p>
                  </a:txBody>
                  <a:tcPr anchor="ctr">
                    <a:solidFill>
                      <a:schemeClr val="bg1">
                        <a:lumMod val="95000"/>
                      </a:schemeClr>
                    </a:solidFill>
                  </a:tcPr>
                </a:tc>
                <a:tc>
                  <a:txBody>
                    <a:bodyPr/>
                    <a:lstStyle/>
                    <a:p>
                      <a:pPr algn="ctr" rtl="1"/>
                      <a:r>
                        <a:rPr kumimoji="0" lang="fa-IR" sz="1000" b="0" i="0" u="none" strike="noStrike" kern="1200" cap="none" spc="0" normalizeH="0" baseline="0" noProof="0" dirty="0">
                          <a:ln>
                            <a:noFill/>
                          </a:ln>
                          <a:solidFill>
                            <a:schemeClr val="tx1">
                              <a:lumMod val="65000"/>
                              <a:lumOff val="35000"/>
                            </a:schemeClr>
                          </a:solidFill>
                          <a:effectLst/>
                          <a:uLnTx/>
                          <a:uFillTx/>
                          <a:latin typeface="Shabnam FD" panose="020B0603030804020204" pitchFamily="34" charset="-78"/>
                          <a:ea typeface="+mn-ea"/>
                          <a:cs typeface="Shabnam FD" panose="020B0603030804020204" pitchFamily="34" charset="-78"/>
                        </a:rPr>
                        <a:t>ویژگی</a:t>
                      </a:r>
                      <a:endParaRPr lang="en-US" sz="1000" dirty="0">
                        <a:solidFill>
                          <a:schemeClr val="tx1">
                            <a:lumMod val="65000"/>
                            <a:lumOff val="35000"/>
                          </a:schemeClr>
                        </a:solidFill>
                        <a:latin typeface="Shabnam FD" panose="020B0603030804020204" pitchFamily="34" charset="-78"/>
                        <a:cs typeface="Shabnam FD" panose="020B0603030804020204" pitchFamily="34" charset="-78"/>
                      </a:endParaRPr>
                    </a:p>
                  </a:txBody>
                  <a:tcPr anchor="ctr">
                    <a:solidFill>
                      <a:schemeClr val="bg1">
                        <a:lumMod val="95000"/>
                      </a:schemeClr>
                    </a:solidFill>
                  </a:tcPr>
                </a:tc>
                <a:tc>
                  <a:txBody>
                    <a:bodyPr/>
                    <a:lstStyle/>
                    <a:p>
                      <a:pPr algn="justLow" rtl="1"/>
                      <a:r>
                        <a:rPr lang="fa-IR" sz="1000" b="1" dirty="0">
                          <a:solidFill>
                            <a:schemeClr val="tx1">
                              <a:lumMod val="65000"/>
                              <a:lumOff val="35000"/>
                            </a:schemeClr>
                          </a:solidFill>
                          <a:latin typeface="Shabnam FD" panose="020B0603030804020204" pitchFamily="34" charset="-78"/>
                          <a:cs typeface="Shabnam FD" panose="020B0603030804020204" pitchFamily="34" charset="-78"/>
                        </a:rPr>
                        <a:t>استفاده از مشاوران خارجی</a:t>
                      </a:r>
                      <a:endParaRPr lang="en-US" sz="1000" b="1" dirty="0">
                        <a:solidFill>
                          <a:schemeClr val="tx1">
                            <a:lumMod val="65000"/>
                            <a:lumOff val="35000"/>
                          </a:schemeClr>
                        </a:solidFill>
                        <a:latin typeface="Shabnam FD" panose="020B0603030804020204" pitchFamily="34" charset="-78"/>
                        <a:cs typeface="Shabnam FD" panose="020B0603030804020204" pitchFamily="34" charset="-78"/>
                      </a:endParaRPr>
                    </a:p>
                  </a:txBody>
                  <a:tcPr anchor="ctr">
                    <a:solidFill>
                      <a:schemeClr val="bg1">
                        <a:lumMod val="95000"/>
                      </a:schemeClr>
                    </a:solidFill>
                  </a:tcPr>
                </a:tc>
                <a:extLst>
                  <a:ext uri="{0D108BD9-81ED-4DB2-BD59-A6C34878D82A}">
                    <a16:rowId xmlns:a16="http://schemas.microsoft.com/office/drawing/2014/main" val="3452523160"/>
                  </a:ext>
                </a:extLst>
              </a:tr>
              <a:tr h="219693">
                <a:tc>
                  <a:txBody>
                    <a:bodyPr/>
                    <a:lstStyle/>
                    <a:p>
                      <a:pPr marL="0" marR="0" lvl="0" indent="0" algn="justLow" defTabSz="1021516" rtl="1" eaLnBrk="1" fontAlgn="auto" latinLnBrk="0" hangingPunct="1">
                        <a:lnSpc>
                          <a:spcPct val="100000"/>
                        </a:lnSpc>
                        <a:spcBef>
                          <a:spcPts val="0"/>
                        </a:spcBef>
                        <a:spcAft>
                          <a:spcPts val="0"/>
                        </a:spcAft>
                        <a:buClrTx/>
                        <a:buSzTx/>
                        <a:buFontTx/>
                        <a:buNone/>
                        <a:tabLst/>
                        <a:defRPr/>
                      </a:pPr>
                      <a:r>
                        <a:rPr lang="fa-IR" sz="1000">
                          <a:solidFill>
                            <a:schemeClr val="tx1">
                              <a:lumMod val="65000"/>
                              <a:lumOff val="35000"/>
                            </a:schemeClr>
                          </a:solidFill>
                          <a:latin typeface="Shabnam FD" panose="020B0603030804020204" pitchFamily="34" charset="-78"/>
                          <a:cs typeface="Shabnam FD" panose="020B0603030804020204" pitchFamily="34" charset="-78"/>
                        </a:rPr>
                        <a:t>بر پیچیدگی قرارداد و حاشیه سود تاثیر می‌گذارد، نه بر اصل ارزش پیشنهادی. </a:t>
                      </a:r>
                      <a:endParaRPr lang="en-US" sz="1000">
                        <a:solidFill>
                          <a:schemeClr val="tx1">
                            <a:lumMod val="65000"/>
                            <a:lumOff val="35000"/>
                          </a:schemeClr>
                        </a:solidFill>
                        <a:latin typeface="Shabnam FD" panose="020B0603030804020204" pitchFamily="34" charset="-78"/>
                        <a:cs typeface="Shabnam FD" panose="020B0603030804020204" pitchFamily="34" charset="-78"/>
                      </a:endParaRPr>
                    </a:p>
                  </a:txBody>
                  <a:tcPr anchor="ctr">
                    <a:solidFill>
                      <a:schemeClr val="bg1">
                        <a:lumMod val="95000"/>
                      </a:schemeClr>
                    </a:solidFill>
                  </a:tcPr>
                </a:tc>
                <a:tc>
                  <a:txBody>
                    <a:bodyPr/>
                    <a:lstStyle/>
                    <a:p>
                      <a:pPr algn="ctr" rtl="1"/>
                      <a:r>
                        <a:rPr kumimoji="0" lang="fa-IR" sz="1000" b="0" i="0" u="none" strike="noStrike" kern="1200" cap="none" spc="0" normalizeH="0" baseline="0" noProof="0" dirty="0">
                          <a:ln>
                            <a:noFill/>
                          </a:ln>
                          <a:solidFill>
                            <a:schemeClr val="tx1">
                              <a:lumMod val="65000"/>
                              <a:lumOff val="35000"/>
                            </a:schemeClr>
                          </a:solidFill>
                          <a:effectLst/>
                          <a:uLnTx/>
                          <a:uFillTx/>
                          <a:latin typeface="Shabnam FD" panose="020B0603030804020204" pitchFamily="34" charset="-78"/>
                          <a:ea typeface="+mn-ea"/>
                          <a:cs typeface="Shabnam FD" panose="020B0603030804020204" pitchFamily="34" charset="-78"/>
                        </a:rPr>
                        <a:t>ویژگی</a:t>
                      </a:r>
                      <a:endParaRPr lang="en-US" sz="1000" dirty="0">
                        <a:solidFill>
                          <a:schemeClr val="tx1">
                            <a:lumMod val="65000"/>
                            <a:lumOff val="35000"/>
                          </a:schemeClr>
                        </a:solidFill>
                        <a:latin typeface="Shabnam FD" panose="020B0603030804020204" pitchFamily="34" charset="-78"/>
                        <a:cs typeface="Shabnam FD" panose="020B0603030804020204" pitchFamily="34" charset="-78"/>
                      </a:endParaRPr>
                    </a:p>
                  </a:txBody>
                  <a:tcPr anchor="ctr">
                    <a:solidFill>
                      <a:schemeClr val="bg1">
                        <a:lumMod val="95000"/>
                      </a:schemeClr>
                    </a:solidFill>
                  </a:tcPr>
                </a:tc>
                <a:tc>
                  <a:txBody>
                    <a:bodyPr/>
                    <a:lstStyle/>
                    <a:p>
                      <a:pPr algn="justLow" rtl="1"/>
                      <a:r>
                        <a:rPr lang="fa-IR" sz="1000" b="1" dirty="0">
                          <a:solidFill>
                            <a:schemeClr val="tx1">
                              <a:lumMod val="65000"/>
                              <a:lumOff val="35000"/>
                            </a:schemeClr>
                          </a:solidFill>
                          <a:latin typeface="Shabnam FD" panose="020B0603030804020204" pitchFamily="34" charset="-78"/>
                          <a:cs typeface="Shabnam FD" panose="020B0603030804020204" pitchFamily="34" charset="-78"/>
                        </a:rPr>
                        <a:t>پیچیدگی کاندیداهای شراکت </a:t>
                      </a:r>
                      <a:endParaRPr lang="en-US" sz="1000" b="1" dirty="0">
                        <a:solidFill>
                          <a:schemeClr val="tx1">
                            <a:lumMod val="65000"/>
                            <a:lumOff val="35000"/>
                          </a:schemeClr>
                        </a:solidFill>
                        <a:latin typeface="Shabnam FD" panose="020B0603030804020204" pitchFamily="34" charset="-78"/>
                        <a:cs typeface="Shabnam FD" panose="020B0603030804020204" pitchFamily="34" charset="-78"/>
                      </a:endParaRPr>
                    </a:p>
                  </a:txBody>
                  <a:tcPr anchor="ctr">
                    <a:solidFill>
                      <a:schemeClr val="bg1">
                        <a:lumMod val="95000"/>
                      </a:schemeClr>
                    </a:solidFill>
                  </a:tcPr>
                </a:tc>
                <a:extLst>
                  <a:ext uri="{0D108BD9-81ED-4DB2-BD59-A6C34878D82A}">
                    <a16:rowId xmlns:a16="http://schemas.microsoft.com/office/drawing/2014/main" val="1467917733"/>
                  </a:ext>
                </a:extLst>
              </a:tr>
              <a:tr h="219693">
                <a:tc>
                  <a:txBody>
                    <a:bodyPr/>
                    <a:lstStyle/>
                    <a:p>
                      <a:pPr algn="justLow" rtl="1"/>
                      <a:r>
                        <a:rPr lang="fa-IR" sz="1000">
                          <a:solidFill>
                            <a:schemeClr val="tx1">
                              <a:lumMod val="65000"/>
                              <a:lumOff val="35000"/>
                            </a:schemeClr>
                          </a:solidFill>
                          <a:latin typeface="Shabnam FD" panose="020B0603030804020204" pitchFamily="34" charset="-78"/>
                          <a:cs typeface="Shabnam FD" panose="020B0603030804020204" pitchFamily="34" charset="-78"/>
                        </a:rPr>
                        <a:t>موجب دسته‌بندی سطح خدمات به مشتریان (یک بار معامله یا مشتری تکرارشونده) می‌شود. </a:t>
                      </a:r>
                      <a:endParaRPr lang="en-US" sz="1000">
                        <a:solidFill>
                          <a:schemeClr val="tx1">
                            <a:lumMod val="65000"/>
                            <a:lumOff val="35000"/>
                          </a:schemeClr>
                        </a:solidFill>
                        <a:latin typeface="Shabnam FD" panose="020B0603030804020204" pitchFamily="34" charset="-78"/>
                        <a:cs typeface="Shabnam FD" panose="020B0603030804020204" pitchFamily="34" charset="-78"/>
                      </a:endParaRPr>
                    </a:p>
                  </a:txBody>
                  <a:tcPr anchor="ctr">
                    <a:solidFill>
                      <a:schemeClr val="bg1">
                        <a:lumMod val="95000"/>
                      </a:schemeClr>
                    </a:solidFill>
                  </a:tcPr>
                </a:tc>
                <a:tc>
                  <a:txBody>
                    <a:bodyPr/>
                    <a:lstStyle/>
                    <a:p>
                      <a:pPr algn="ctr" rtl="1"/>
                      <a:r>
                        <a:rPr kumimoji="0" lang="fa-IR" sz="1000" b="0" i="0" u="none" strike="noStrike" kern="1200" cap="none" spc="0" normalizeH="0" baseline="0" noProof="0" dirty="0">
                          <a:ln>
                            <a:noFill/>
                          </a:ln>
                          <a:solidFill>
                            <a:schemeClr val="tx1">
                              <a:lumMod val="65000"/>
                              <a:lumOff val="35000"/>
                            </a:schemeClr>
                          </a:solidFill>
                          <a:effectLst/>
                          <a:uLnTx/>
                          <a:uFillTx/>
                          <a:latin typeface="Shabnam FD" panose="020B0603030804020204" pitchFamily="34" charset="-78"/>
                          <a:ea typeface="+mn-ea"/>
                          <a:cs typeface="Shabnam FD" panose="020B0603030804020204" pitchFamily="34" charset="-78"/>
                        </a:rPr>
                        <a:t>ویژگی</a:t>
                      </a:r>
                      <a:endParaRPr lang="en-US" sz="1000" dirty="0">
                        <a:solidFill>
                          <a:schemeClr val="tx1">
                            <a:lumMod val="65000"/>
                            <a:lumOff val="35000"/>
                          </a:schemeClr>
                        </a:solidFill>
                        <a:latin typeface="Shabnam FD" panose="020B0603030804020204" pitchFamily="34" charset="-78"/>
                        <a:cs typeface="Shabnam FD" panose="020B0603030804020204" pitchFamily="34" charset="-78"/>
                      </a:endParaRPr>
                    </a:p>
                  </a:txBody>
                  <a:tcPr anchor="ctr">
                    <a:solidFill>
                      <a:schemeClr val="bg1">
                        <a:lumMod val="95000"/>
                      </a:schemeClr>
                    </a:solidFill>
                  </a:tcPr>
                </a:tc>
                <a:tc>
                  <a:txBody>
                    <a:bodyPr/>
                    <a:lstStyle/>
                    <a:p>
                      <a:pPr algn="justLow" rtl="1"/>
                      <a:r>
                        <a:rPr lang="fa-IR" sz="1000" b="1" dirty="0">
                          <a:solidFill>
                            <a:schemeClr val="tx1">
                              <a:lumMod val="65000"/>
                              <a:lumOff val="35000"/>
                            </a:schemeClr>
                          </a:solidFill>
                          <a:latin typeface="Shabnam FD" panose="020B0603030804020204" pitchFamily="34" charset="-78"/>
                          <a:cs typeface="Shabnam FD" panose="020B0603030804020204" pitchFamily="34" charset="-78"/>
                        </a:rPr>
                        <a:t>تکرار خرید  </a:t>
                      </a:r>
                      <a:endParaRPr lang="en-US" sz="1000" b="1" dirty="0">
                        <a:solidFill>
                          <a:schemeClr val="tx1">
                            <a:lumMod val="65000"/>
                            <a:lumOff val="35000"/>
                          </a:schemeClr>
                        </a:solidFill>
                        <a:latin typeface="Shabnam FD" panose="020B0603030804020204" pitchFamily="34" charset="-78"/>
                        <a:cs typeface="Shabnam FD" panose="020B0603030804020204" pitchFamily="34" charset="-78"/>
                      </a:endParaRPr>
                    </a:p>
                  </a:txBody>
                  <a:tcPr anchor="ctr">
                    <a:solidFill>
                      <a:schemeClr val="bg1">
                        <a:lumMod val="95000"/>
                      </a:schemeClr>
                    </a:solidFill>
                  </a:tcPr>
                </a:tc>
                <a:extLst>
                  <a:ext uri="{0D108BD9-81ED-4DB2-BD59-A6C34878D82A}">
                    <a16:rowId xmlns:a16="http://schemas.microsoft.com/office/drawing/2014/main" val="125146764"/>
                  </a:ext>
                </a:extLst>
              </a:tr>
              <a:tr h="219693">
                <a:tc>
                  <a:txBody>
                    <a:bodyPr/>
                    <a:lstStyle/>
                    <a:p>
                      <a:pPr algn="justLow" rtl="1"/>
                      <a:r>
                        <a:rPr lang="fa-IR" sz="1000">
                          <a:solidFill>
                            <a:schemeClr val="tx1">
                              <a:lumMod val="65000"/>
                              <a:lumOff val="35000"/>
                            </a:schemeClr>
                          </a:solidFill>
                          <a:latin typeface="Shabnam FD" panose="020B0603030804020204" pitchFamily="34" charset="-78"/>
                          <a:cs typeface="Shabnam FD" panose="020B0603030804020204" pitchFamily="34" charset="-78"/>
                        </a:rPr>
                        <a:t>نتیجه‌ی شدت نیاز است، نه یک بعد مستقل. بخش‌بندی بر این اساس موجب دوباره‌شماری بعد نیاز می‌شود.</a:t>
                      </a:r>
                      <a:endParaRPr lang="en-US" sz="1000">
                        <a:solidFill>
                          <a:schemeClr val="tx1">
                            <a:lumMod val="65000"/>
                            <a:lumOff val="35000"/>
                          </a:schemeClr>
                        </a:solidFill>
                        <a:latin typeface="Shabnam FD" panose="020B0603030804020204" pitchFamily="34" charset="-78"/>
                        <a:cs typeface="Shabnam FD" panose="020B0603030804020204" pitchFamily="34" charset="-78"/>
                      </a:endParaRPr>
                    </a:p>
                  </a:txBody>
                  <a:tcPr anchor="ctr">
                    <a:solidFill>
                      <a:schemeClr val="bg1">
                        <a:lumMod val="95000"/>
                      </a:schemeClr>
                    </a:solidFill>
                  </a:tcPr>
                </a:tc>
                <a:tc>
                  <a:txBody>
                    <a:bodyPr/>
                    <a:lstStyle/>
                    <a:p>
                      <a:pPr algn="ctr" rtl="1"/>
                      <a:r>
                        <a:rPr lang="fa-IR" sz="1000" dirty="0">
                          <a:solidFill>
                            <a:schemeClr val="tx1">
                              <a:lumMod val="65000"/>
                              <a:lumOff val="35000"/>
                            </a:schemeClr>
                          </a:solidFill>
                          <a:latin typeface="Shabnam FD" panose="020B0603030804020204" pitchFamily="34" charset="-78"/>
                          <a:cs typeface="Shabnam FD" panose="020B0603030804020204" pitchFamily="34" charset="-78"/>
                        </a:rPr>
                        <a:t>ویژگی</a:t>
                      </a:r>
                      <a:endParaRPr lang="en-US" sz="1000" dirty="0">
                        <a:solidFill>
                          <a:schemeClr val="tx1">
                            <a:lumMod val="65000"/>
                            <a:lumOff val="35000"/>
                          </a:schemeClr>
                        </a:solidFill>
                        <a:latin typeface="Shabnam FD" panose="020B0603030804020204" pitchFamily="34" charset="-78"/>
                        <a:cs typeface="Shabnam FD" panose="020B0603030804020204" pitchFamily="34" charset="-78"/>
                      </a:endParaRPr>
                    </a:p>
                  </a:txBody>
                  <a:tcPr anchor="ctr">
                    <a:solidFill>
                      <a:schemeClr val="bg1">
                        <a:lumMod val="95000"/>
                      </a:schemeClr>
                    </a:solidFill>
                  </a:tcPr>
                </a:tc>
                <a:tc>
                  <a:txBody>
                    <a:bodyPr/>
                    <a:lstStyle/>
                    <a:p>
                      <a:pPr algn="justLow" rtl="1"/>
                      <a:r>
                        <a:rPr lang="fa-IR" sz="1000" b="1" dirty="0">
                          <a:solidFill>
                            <a:schemeClr val="tx1">
                              <a:lumMod val="65000"/>
                              <a:lumOff val="35000"/>
                            </a:schemeClr>
                          </a:solidFill>
                          <a:latin typeface="Shabnam FD" panose="020B0603030804020204" pitchFamily="34" charset="-78"/>
                          <a:cs typeface="Shabnam FD" panose="020B0603030804020204" pitchFamily="34" charset="-78"/>
                        </a:rPr>
                        <a:t>تمایل به پرداخت </a:t>
                      </a:r>
                      <a:endParaRPr lang="en-US" sz="1000" b="1" dirty="0">
                        <a:solidFill>
                          <a:schemeClr val="tx1">
                            <a:lumMod val="65000"/>
                            <a:lumOff val="35000"/>
                          </a:schemeClr>
                        </a:solidFill>
                        <a:latin typeface="Shabnam FD" panose="020B0603030804020204" pitchFamily="34" charset="-78"/>
                        <a:cs typeface="Shabnam FD" panose="020B0603030804020204" pitchFamily="34" charset="-78"/>
                      </a:endParaRPr>
                    </a:p>
                  </a:txBody>
                  <a:tcPr anchor="ctr">
                    <a:solidFill>
                      <a:schemeClr val="bg1">
                        <a:lumMod val="95000"/>
                      </a:schemeClr>
                    </a:solidFill>
                  </a:tcPr>
                </a:tc>
                <a:extLst>
                  <a:ext uri="{0D108BD9-81ED-4DB2-BD59-A6C34878D82A}">
                    <a16:rowId xmlns:a16="http://schemas.microsoft.com/office/drawing/2014/main" val="935517175"/>
                  </a:ext>
                </a:extLst>
              </a:tr>
              <a:tr h="219693">
                <a:tc rowSpan="6">
                  <a:txBody>
                    <a:bodyPr/>
                    <a:lstStyle/>
                    <a:p>
                      <a:pPr algn="justLow" rtl="1"/>
                      <a:r>
                        <a:rPr lang="fa-IR" sz="1000" dirty="0">
                          <a:solidFill>
                            <a:schemeClr val="tx1">
                              <a:lumMod val="65000"/>
                              <a:lumOff val="35000"/>
                            </a:schemeClr>
                          </a:solidFill>
                          <a:latin typeface="Shabnam FD" panose="020B0603030804020204" pitchFamily="34" charset="-78"/>
                          <a:cs typeface="Shabnam FD" panose="020B0603030804020204" pitchFamily="34" charset="-78"/>
                        </a:rPr>
                        <a:t>این موارد یا بین تمام مشتریانی که وارد تعامل می‌شوند تقریباً عمومی و یکسان هستند، یا پیش‌تر در «نیاز بنیادی» لحاظ شده‌اند. افزودن آن‌ها گروه‌هایی ایجاد می‌کند که ظاهراً متفاوت اما از نظر تجاری کاملاً یکسان هستند.</a:t>
                      </a:r>
                      <a:endParaRPr lang="en-US" sz="1000" dirty="0">
                        <a:solidFill>
                          <a:schemeClr val="tx1">
                            <a:lumMod val="65000"/>
                            <a:lumOff val="35000"/>
                          </a:schemeClr>
                        </a:solidFill>
                        <a:latin typeface="Shabnam FD" panose="020B0603030804020204" pitchFamily="34" charset="-78"/>
                        <a:cs typeface="Shabnam FD" panose="020B0603030804020204" pitchFamily="34" charset="-78"/>
                      </a:endParaRPr>
                    </a:p>
                  </a:txBody>
                  <a:tcPr anchor="ctr">
                    <a:solidFill>
                      <a:schemeClr val="bg1">
                        <a:lumMod val="95000"/>
                      </a:schemeClr>
                    </a:solidFill>
                  </a:tcPr>
                </a:tc>
                <a:tc rowSpan="6">
                  <a:txBody>
                    <a:bodyPr/>
                    <a:lstStyle/>
                    <a:p>
                      <a:pPr algn="ctr" rtl="1"/>
                      <a:r>
                        <a:rPr lang="fa-IR" sz="1000" dirty="0">
                          <a:solidFill>
                            <a:schemeClr val="tx1">
                              <a:lumMod val="65000"/>
                              <a:lumOff val="35000"/>
                            </a:schemeClr>
                          </a:solidFill>
                          <a:latin typeface="Shabnam FD" panose="020B0603030804020204" pitchFamily="34" charset="-78"/>
                          <a:cs typeface="Shabnam FD" panose="020B0603030804020204" pitchFamily="34" charset="-78"/>
                        </a:rPr>
                        <a:t>رد شده </a:t>
                      </a:r>
                      <a:endParaRPr lang="en-US" sz="1000" dirty="0">
                        <a:solidFill>
                          <a:schemeClr val="tx1">
                            <a:lumMod val="65000"/>
                            <a:lumOff val="35000"/>
                          </a:schemeClr>
                        </a:solidFill>
                        <a:latin typeface="Shabnam FD" panose="020B0603030804020204" pitchFamily="34" charset="-78"/>
                        <a:cs typeface="Shabnam FD" panose="020B0603030804020204" pitchFamily="34" charset="-78"/>
                      </a:endParaRPr>
                    </a:p>
                  </a:txBody>
                  <a:tcPr anchor="ctr">
                    <a:solidFill>
                      <a:schemeClr val="bg1">
                        <a:lumMod val="95000"/>
                      </a:schemeClr>
                    </a:solidFill>
                  </a:tcPr>
                </a:tc>
                <a:tc>
                  <a:txBody>
                    <a:bodyPr/>
                    <a:lstStyle/>
                    <a:p>
                      <a:pPr algn="justLow" rtl="1"/>
                      <a:r>
                        <a:rPr lang="fa-IR" sz="1000" b="0" dirty="0">
                          <a:solidFill>
                            <a:schemeClr val="tx1">
                              <a:lumMod val="65000"/>
                              <a:lumOff val="35000"/>
                            </a:schemeClr>
                          </a:solidFill>
                          <a:latin typeface="Shabnam FD" panose="020B0603030804020204" pitchFamily="34" charset="-78"/>
                          <a:cs typeface="Shabnam FD" panose="020B0603030804020204" pitchFamily="34" charset="-78"/>
                        </a:rPr>
                        <a:t>گرایش بین‌المللی</a:t>
                      </a:r>
                      <a:endParaRPr lang="en-US" sz="1000" b="0" dirty="0">
                        <a:solidFill>
                          <a:schemeClr val="tx1">
                            <a:lumMod val="65000"/>
                            <a:lumOff val="35000"/>
                          </a:schemeClr>
                        </a:solidFill>
                        <a:latin typeface="Shabnam FD" panose="020B0603030804020204" pitchFamily="34" charset="-78"/>
                        <a:cs typeface="Shabnam FD" panose="020B0603030804020204" pitchFamily="34" charset="-78"/>
                      </a:endParaRPr>
                    </a:p>
                  </a:txBody>
                  <a:tcPr anchor="ctr">
                    <a:solidFill>
                      <a:schemeClr val="bg1">
                        <a:lumMod val="95000"/>
                      </a:schemeClr>
                    </a:solidFill>
                  </a:tcPr>
                </a:tc>
                <a:extLst>
                  <a:ext uri="{0D108BD9-81ED-4DB2-BD59-A6C34878D82A}">
                    <a16:rowId xmlns:a16="http://schemas.microsoft.com/office/drawing/2014/main" val="2569532759"/>
                  </a:ext>
                </a:extLst>
              </a:tr>
              <a:tr h="219693">
                <a:tc vMerge="1">
                  <a:txBody>
                    <a:bodyPr/>
                    <a:lstStyle/>
                    <a:p>
                      <a:pPr algn="justLow" rtl="1"/>
                      <a:endParaRPr lang="en-US" sz="1000">
                        <a:latin typeface="Shabnam FD" panose="020B0603030804020204" pitchFamily="34" charset="-78"/>
                        <a:cs typeface="Shabnam FD" panose="020B0603030804020204" pitchFamily="34" charset="-78"/>
                      </a:endParaRPr>
                    </a:p>
                  </a:txBody>
                  <a:tcPr anchor="ctr">
                    <a:solidFill>
                      <a:schemeClr val="bg1">
                        <a:lumMod val="95000"/>
                      </a:schemeClr>
                    </a:solidFill>
                  </a:tcPr>
                </a:tc>
                <a:tc vMerge="1">
                  <a:txBody>
                    <a:bodyPr/>
                    <a:lstStyle/>
                    <a:p>
                      <a:pPr algn="r" rtl="1"/>
                      <a:endParaRPr lang="en-US" sz="1000">
                        <a:latin typeface="Shabnam FD" panose="020B0603030804020204" pitchFamily="34" charset="-78"/>
                        <a:cs typeface="Shabnam FD" panose="020B0603030804020204" pitchFamily="34" charset="-78"/>
                      </a:endParaRPr>
                    </a:p>
                  </a:txBody>
                  <a:tcPr anchor="ctr">
                    <a:solidFill>
                      <a:schemeClr val="bg1">
                        <a:lumMod val="95000"/>
                      </a:schemeClr>
                    </a:solidFill>
                  </a:tcPr>
                </a:tc>
                <a:tc>
                  <a:txBody>
                    <a:bodyPr/>
                    <a:lstStyle/>
                    <a:p>
                      <a:pPr algn="justLow" rtl="1"/>
                      <a:r>
                        <a:rPr lang="fa-IR" sz="1000" b="0" dirty="0">
                          <a:solidFill>
                            <a:schemeClr val="tx1">
                              <a:lumMod val="65000"/>
                              <a:lumOff val="35000"/>
                            </a:schemeClr>
                          </a:solidFill>
                          <a:latin typeface="Shabnam FD" panose="020B0603030804020204" pitchFamily="34" charset="-78"/>
                          <a:cs typeface="Shabnam FD" panose="020B0603030804020204" pitchFamily="34" charset="-78"/>
                        </a:rPr>
                        <a:t>تمایل به مشارکت در سهام </a:t>
                      </a:r>
                      <a:endParaRPr lang="en-US" sz="1000" b="0" dirty="0">
                        <a:solidFill>
                          <a:schemeClr val="tx1">
                            <a:lumMod val="65000"/>
                            <a:lumOff val="35000"/>
                          </a:schemeClr>
                        </a:solidFill>
                        <a:latin typeface="Shabnam FD" panose="020B0603030804020204" pitchFamily="34" charset="-78"/>
                        <a:cs typeface="Shabnam FD" panose="020B0603030804020204" pitchFamily="34" charset="-78"/>
                      </a:endParaRPr>
                    </a:p>
                  </a:txBody>
                  <a:tcPr anchor="ctr">
                    <a:solidFill>
                      <a:schemeClr val="bg1">
                        <a:lumMod val="95000"/>
                      </a:schemeClr>
                    </a:solidFill>
                  </a:tcPr>
                </a:tc>
                <a:extLst>
                  <a:ext uri="{0D108BD9-81ED-4DB2-BD59-A6C34878D82A}">
                    <a16:rowId xmlns:a16="http://schemas.microsoft.com/office/drawing/2014/main" val="2801072318"/>
                  </a:ext>
                </a:extLst>
              </a:tr>
              <a:tr h="219693">
                <a:tc vMerge="1">
                  <a:txBody>
                    <a:bodyPr/>
                    <a:lstStyle/>
                    <a:p>
                      <a:pPr algn="justLow" rtl="1"/>
                      <a:endParaRPr lang="en-US" sz="1000">
                        <a:latin typeface="Shabnam FD" panose="020B0603030804020204" pitchFamily="34" charset="-78"/>
                        <a:cs typeface="Shabnam FD" panose="020B0603030804020204" pitchFamily="34" charset="-78"/>
                      </a:endParaRPr>
                    </a:p>
                  </a:txBody>
                  <a:tcPr anchor="ctr">
                    <a:solidFill>
                      <a:schemeClr val="bg1">
                        <a:lumMod val="95000"/>
                      </a:schemeClr>
                    </a:solidFill>
                  </a:tcPr>
                </a:tc>
                <a:tc vMerge="1">
                  <a:txBody>
                    <a:bodyPr/>
                    <a:lstStyle/>
                    <a:p>
                      <a:pPr algn="r" rtl="1"/>
                      <a:endParaRPr lang="en-US" sz="1000">
                        <a:latin typeface="Shabnam FD" panose="020B0603030804020204" pitchFamily="34" charset="-78"/>
                        <a:cs typeface="Shabnam FD" panose="020B0603030804020204" pitchFamily="34" charset="-78"/>
                      </a:endParaRPr>
                    </a:p>
                  </a:txBody>
                  <a:tcPr anchor="ctr">
                    <a:solidFill>
                      <a:schemeClr val="bg1">
                        <a:lumMod val="95000"/>
                      </a:schemeClr>
                    </a:solidFill>
                  </a:tcPr>
                </a:tc>
                <a:tc>
                  <a:txBody>
                    <a:bodyPr/>
                    <a:lstStyle/>
                    <a:p>
                      <a:pPr algn="justLow" rtl="1"/>
                      <a:r>
                        <a:rPr lang="fa-IR" sz="1000" b="0" dirty="0">
                          <a:solidFill>
                            <a:schemeClr val="tx1">
                              <a:lumMod val="65000"/>
                              <a:lumOff val="35000"/>
                            </a:schemeClr>
                          </a:solidFill>
                          <a:latin typeface="Shabnam FD" panose="020B0603030804020204" pitchFamily="34" charset="-78"/>
                          <a:cs typeface="Shabnam FD" panose="020B0603030804020204" pitchFamily="34" charset="-78"/>
                        </a:rPr>
                        <a:t>گرایش به نوآوری</a:t>
                      </a:r>
                      <a:endParaRPr lang="en-US" sz="1000" b="0" dirty="0">
                        <a:solidFill>
                          <a:schemeClr val="tx1">
                            <a:lumMod val="65000"/>
                            <a:lumOff val="35000"/>
                          </a:schemeClr>
                        </a:solidFill>
                        <a:latin typeface="Shabnam FD" panose="020B0603030804020204" pitchFamily="34" charset="-78"/>
                        <a:cs typeface="Shabnam FD" panose="020B0603030804020204" pitchFamily="34" charset="-78"/>
                      </a:endParaRPr>
                    </a:p>
                  </a:txBody>
                  <a:tcPr anchor="ctr">
                    <a:solidFill>
                      <a:schemeClr val="bg1">
                        <a:lumMod val="95000"/>
                      </a:schemeClr>
                    </a:solidFill>
                  </a:tcPr>
                </a:tc>
                <a:extLst>
                  <a:ext uri="{0D108BD9-81ED-4DB2-BD59-A6C34878D82A}">
                    <a16:rowId xmlns:a16="http://schemas.microsoft.com/office/drawing/2014/main" val="2054534221"/>
                  </a:ext>
                </a:extLst>
              </a:tr>
              <a:tr h="219693">
                <a:tc vMerge="1">
                  <a:txBody>
                    <a:bodyPr/>
                    <a:lstStyle/>
                    <a:p>
                      <a:pPr algn="justLow" rtl="1"/>
                      <a:endParaRPr lang="en-US" sz="1000">
                        <a:latin typeface="Shabnam FD" panose="020B0603030804020204" pitchFamily="34" charset="-78"/>
                        <a:cs typeface="Shabnam FD" panose="020B0603030804020204" pitchFamily="34" charset="-78"/>
                      </a:endParaRPr>
                    </a:p>
                  </a:txBody>
                  <a:tcPr anchor="ctr">
                    <a:solidFill>
                      <a:schemeClr val="bg1">
                        <a:lumMod val="95000"/>
                      </a:schemeClr>
                    </a:solidFill>
                  </a:tcPr>
                </a:tc>
                <a:tc vMerge="1">
                  <a:txBody>
                    <a:bodyPr/>
                    <a:lstStyle/>
                    <a:p>
                      <a:pPr algn="r" rtl="1"/>
                      <a:endParaRPr lang="en-US" sz="1000">
                        <a:latin typeface="Shabnam FD" panose="020B0603030804020204" pitchFamily="34" charset="-78"/>
                        <a:cs typeface="Shabnam FD" panose="020B0603030804020204" pitchFamily="34" charset="-78"/>
                      </a:endParaRPr>
                    </a:p>
                  </a:txBody>
                  <a:tcPr anchor="ctr">
                    <a:solidFill>
                      <a:schemeClr val="bg1">
                        <a:lumMod val="95000"/>
                      </a:schemeClr>
                    </a:solidFill>
                  </a:tcPr>
                </a:tc>
                <a:tc>
                  <a:txBody>
                    <a:bodyPr/>
                    <a:lstStyle/>
                    <a:p>
                      <a:pPr algn="justLow" rtl="1"/>
                      <a:r>
                        <a:rPr lang="fa-IR" sz="1000" b="0" dirty="0">
                          <a:solidFill>
                            <a:schemeClr val="tx1">
                              <a:lumMod val="65000"/>
                              <a:lumOff val="35000"/>
                            </a:schemeClr>
                          </a:solidFill>
                          <a:latin typeface="Shabnam FD" panose="020B0603030804020204" pitchFamily="34" charset="-78"/>
                          <a:cs typeface="Shabnam FD" panose="020B0603030804020204" pitchFamily="34" charset="-78"/>
                        </a:rPr>
                        <a:t>رفتار تخصیص سرمایه</a:t>
                      </a:r>
                      <a:endParaRPr lang="en-US" sz="1000" b="0" dirty="0">
                        <a:solidFill>
                          <a:schemeClr val="tx1">
                            <a:lumMod val="65000"/>
                            <a:lumOff val="35000"/>
                          </a:schemeClr>
                        </a:solidFill>
                        <a:latin typeface="Shabnam FD" panose="020B0603030804020204" pitchFamily="34" charset="-78"/>
                        <a:cs typeface="Shabnam FD" panose="020B0603030804020204" pitchFamily="34" charset="-78"/>
                      </a:endParaRPr>
                    </a:p>
                  </a:txBody>
                  <a:tcPr anchor="ctr">
                    <a:solidFill>
                      <a:schemeClr val="bg1">
                        <a:lumMod val="95000"/>
                      </a:schemeClr>
                    </a:solidFill>
                  </a:tcPr>
                </a:tc>
                <a:extLst>
                  <a:ext uri="{0D108BD9-81ED-4DB2-BD59-A6C34878D82A}">
                    <a16:rowId xmlns:a16="http://schemas.microsoft.com/office/drawing/2014/main" val="2061453219"/>
                  </a:ext>
                </a:extLst>
              </a:tr>
              <a:tr h="219693">
                <a:tc vMerge="1">
                  <a:txBody>
                    <a:bodyPr/>
                    <a:lstStyle/>
                    <a:p>
                      <a:pPr algn="justLow" rtl="1"/>
                      <a:endParaRPr lang="en-US" sz="1000">
                        <a:latin typeface="Shabnam FD" panose="020B0603030804020204" pitchFamily="34" charset="-78"/>
                        <a:cs typeface="Shabnam FD" panose="020B0603030804020204" pitchFamily="34" charset="-78"/>
                      </a:endParaRPr>
                    </a:p>
                  </a:txBody>
                  <a:tcPr anchor="ctr">
                    <a:solidFill>
                      <a:schemeClr val="bg1">
                        <a:lumMod val="95000"/>
                      </a:schemeClr>
                    </a:solidFill>
                  </a:tcPr>
                </a:tc>
                <a:tc vMerge="1">
                  <a:txBody>
                    <a:bodyPr/>
                    <a:lstStyle/>
                    <a:p>
                      <a:pPr algn="r" rtl="1"/>
                      <a:endParaRPr lang="en-US" sz="1000">
                        <a:latin typeface="Shabnam FD" panose="020B0603030804020204" pitchFamily="34" charset="-78"/>
                        <a:cs typeface="Shabnam FD" panose="020B0603030804020204" pitchFamily="34" charset="-78"/>
                      </a:endParaRPr>
                    </a:p>
                  </a:txBody>
                  <a:tcPr anchor="ctr">
                    <a:solidFill>
                      <a:schemeClr val="bg1">
                        <a:lumMod val="95000"/>
                      </a:schemeClr>
                    </a:solidFill>
                  </a:tcPr>
                </a:tc>
                <a:tc>
                  <a:txBody>
                    <a:bodyPr/>
                    <a:lstStyle/>
                    <a:p>
                      <a:pPr algn="justLow" rtl="1"/>
                      <a:r>
                        <a:rPr lang="fa-IR" sz="1000" b="0" dirty="0">
                          <a:solidFill>
                            <a:schemeClr val="tx1">
                              <a:lumMod val="65000"/>
                              <a:lumOff val="35000"/>
                            </a:schemeClr>
                          </a:solidFill>
                          <a:latin typeface="Shabnam FD" panose="020B0603030804020204" pitchFamily="34" charset="-78"/>
                          <a:cs typeface="Shabnam FD" panose="020B0603030804020204" pitchFamily="34" charset="-78"/>
                        </a:rPr>
                        <a:t>گرایش به ارتباطات بین‌المللی </a:t>
                      </a:r>
                      <a:endParaRPr lang="en-US" sz="1000" b="0" dirty="0">
                        <a:solidFill>
                          <a:schemeClr val="tx1">
                            <a:lumMod val="65000"/>
                            <a:lumOff val="35000"/>
                          </a:schemeClr>
                        </a:solidFill>
                        <a:latin typeface="Shabnam FD" panose="020B0603030804020204" pitchFamily="34" charset="-78"/>
                        <a:cs typeface="Shabnam FD" panose="020B0603030804020204" pitchFamily="34" charset="-78"/>
                      </a:endParaRPr>
                    </a:p>
                  </a:txBody>
                  <a:tcPr anchor="ctr">
                    <a:solidFill>
                      <a:schemeClr val="bg1">
                        <a:lumMod val="95000"/>
                      </a:schemeClr>
                    </a:solidFill>
                  </a:tcPr>
                </a:tc>
                <a:extLst>
                  <a:ext uri="{0D108BD9-81ED-4DB2-BD59-A6C34878D82A}">
                    <a16:rowId xmlns:a16="http://schemas.microsoft.com/office/drawing/2014/main" val="3181792313"/>
                  </a:ext>
                </a:extLst>
              </a:tr>
              <a:tr h="219693">
                <a:tc vMerge="1">
                  <a:txBody>
                    <a:bodyPr/>
                    <a:lstStyle/>
                    <a:p>
                      <a:pPr algn="justLow" rtl="1"/>
                      <a:endParaRPr lang="en-US" sz="1000">
                        <a:latin typeface="Shabnam FD" panose="020B0603030804020204" pitchFamily="34" charset="-78"/>
                        <a:cs typeface="Shabnam FD" panose="020B0603030804020204" pitchFamily="34" charset="-78"/>
                      </a:endParaRPr>
                    </a:p>
                  </a:txBody>
                  <a:tcPr anchor="ctr">
                    <a:solidFill>
                      <a:schemeClr val="bg1">
                        <a:lumMod val="95000"/>
                      </a:schemeClr>
                    </a:solidFill>
                  </a:tcPr>
                </a:tc>
                <a:tc vMerge="1">
                  <a:txBody>
                    <a:bodyPr/>
                    <a:lstStyle/>
                    <a:p>
                      <a:pPr algn="r" rtl="1"/>
                      <a:endParaRPr lang="en-US" sz="1000">
                        <a:latin typeface="Shabnam FD" panose="020B0603030804020204" pitchFamily="34" charset="-78"/>
                        <a:cs typeface="Shabnam FD" panose="020B0603030804020204" pitchFamily="34" charset="-78"/>
                      </a:endParaRPr>
                    </a:p>
                  </a:txBody>
                  <a:tcPr anchor="ctr">
                    <a:solidFill>
                      <a:schemeClr val="bg1">
                        <a:lumMod val="95000"/>
                      </a:schemeClr>
                    </a:solidFill>
                  </a:tcPr>
                </a:tc>
                <a:tc>
                  <a:txBody>
                    <a:bodyPr/>
                    <a:lstStyle/>
                    <a:p>
                      <a:pPr algn="justLow" rtl="1"/>
                      <a:r>
                        <a:rPr lang="fa-IR" sz="1000" b="0" dirty="0">
                          <a:solidFill>
                            <a:schemeClr val="tx1">
                              <a:lumMod val="65000"/>
                              <a:lumOff val="35000"/>
                            </a:schemeClr>
                          </a:solidFill>
                          <a:latin typeface="Shabnam FD" panose="020B0603030804020204" pitchFamily="34" charset="-78"/>
                          <a:cs typeface="Shabnam FD" panose="020B0603030804020204" pitchFamily="34" charset="-78"/>
                        </a:rPr>
                        <a:t>میزان تحمل </a:t>
                      </a:r>
                      <a:r>
                        <a:rPr lang="fa-IR" sz="1000" b="0" dirty="0" err="1">
                          <a:solidFill>
                            <a:schemeClr val="tx1">
                              <a:lumMod val="65000"/>
                              <a:lumOff val="35000"/>
                            </a:schemeClr>
                          </a:solidFill>
                          <a:latin typeface="Shabnam FD" panose="020B0603030804020204" pitchFamily="34" charset="-78"/>
                          <a:cs typeface="Shabnam FD" panose="020B0603030804020204" pitchFamily="34" charset="-78"/>
                        </a:rPr>
                        <a:t>عدم‌قطعیت</a:t>
                      </a:r>
                      <a:r>
                        <a:rPr lang="fa-IR" sz="1000" b="0" dirty="0">
                          <a:solidFill>
                            <a:schemeClr val="tx1">
                              <a:lumMod val="65000"/>
                              <a:lumOff val="35000"/>
                            </a:schemeClr>
                          </a:solidFill>
                          <a:latin typeface="Shabnam FD" panose="020B0603030804020204" pitchFamily="34" charset="-78"/>
                          <a:cs typeface="Shabnam FD" panose="020B0603030804020204" pitchFamily="34" charset="-78"/>
                        </a:rPr>
                        <a:t> و سایر موارد</a:t>
                      </a:r>
                      <a:endParaRPr lang="en-US" sz="1000" b="0" dirty="0">
                        <a:solidFill>
                          <a:schemeClr val="tx1">
                            <a:lumMod val="65000"/>
                            <a:lumOff val="35000"/>
                          </a:schemeClr>
                        </a:solidFill>
                        <a:latin typeface="Shabnam FD" panose="020B0603030804020204" pitchFamily="34" charset="-78"/>
                        <a:cs typeface="Shabnam FD" panose="020B0603030804020204" pitchFamily="34" charset="-78"/>
                      </a:endParaRPr>
                    </a:p>
                  </a:txBody>
                  <a:tcPr anchor="ctr">
                    <a:solidFill>
                      <a:schemeClr val="bg1">
                        <a:lumMod val="95000"/>
                      </a:schemeClr>
                    </a:solidFill>
                  </a:tcPr>
                </a:tc>
                <a:extLst>
                  <a:ext uri="{0D108BD9-81ED-4DB2-BD59-A6C34878D82A}">
                    <a16:rowId xmlns:a16="http://schemas.microsoft.com/office/drawing/2014/main" val="738366744"/>
                  </a:ext>
                </a:extLst>
              </a:tr>
            </a:tbl>
          </a:graphicData>
        </a:graphic>
      </p:graphicFrame>
      <p:sp>
        <p:nvSpPr>
          <p:cNvPr id="9" name="TextBox 8">
            <a:extLst>
              <a:ext uri="{FF2B5EF4-FFF2-40B4-BE49-F238E27FC236}">
                <a16:creationId xmlns:a16="http://schemas.microsoft.com/office/drawing/2014/main" id="{1367C760-5AAB-67BA-31BC-994FFC7FD42A}"/>
              </a:ext>
            </a:extLst>
          </p:cNvPr>
          <p:cNvSpPr txBox="1"/>
          <p:nvPr/>
        </p:nvSpPr>
        <p:spPr>
          <a:xfrm>
            <a:off x="555625" y="1063388"/>
            <a:ext cx="10688668" cy="461665"/>
          </a:xfrm>
          <a:prstGeom prst="rect">
            <a:avLst/>
          </a:prstGeom>
          <a:noFill/>
        </p:spPr>
        <p:txBody>
          <a:bodyPr wrap="square" rtlCol="0">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2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متغیرهای  رفتاری مورد بررسی قرار گرفتند. تنها دو مورد واقعاً «متمایزکننده»</a:t>
            </a:r>
            <a:r>
              <a:rPr kumimoji="0" lang="en-US" sz="12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Discriminating) </a:t>
            </a:r>
            <a:r>
              <a:rPr kumimoji="0" lang="fa-IR" sz="12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تشخیص داده شدند؛ مابقی متغیرها به جای تعیین عضویت در یک بخش </a:t>
            </a:r>
            <a:r>
              <a:rPr kumimoji="0" lang="en-US" sz="12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Segment)</a:t>
            </a:r>
            <a:r>
              <a:rPr kumimoji="0" lang="fa-IR" sz="12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a:t>
            </a:r>
            <a:r>
              <a:rPr kumimoji="0" lang="en-US" sz="12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a:t>
            </a:r>
            <a:r>
              <a:rPr kumimoji="0" lang="fa-IR" sz="12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شدت فعالیت را در داخل یک بخش توصیف می‌کنند.</a:t>
            </a:r>
          </a:p>
        </p:txBody>
      </p:sp>
    </p:spTree>
    <p:extLst>
      <p:ext uri="{BB962C8B-B14F-4D97-AF65-F5344CB8AC3E}">
        <p14:creationId xmlns:p14="http://schemas.microsoft.com/office/powerpoint/2010/main" val="18389385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356F80-3773-D8E0-ABB3-E43DD4A0D30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EA21E58-4B71-CD68-532E-0CD0C9B720CF}"/>
              </a:ext>
            </a:extLst>
          </p:cNvPr>
          <p:cNvSpPr>
            <a:spLocks noGrp="1"/>
          </p:cNvSpPr>
          <p:nvPr>
            <p:ph type="body" sz="quarter" idx="10"/>
          </p:nvPr>
        </p:nvSpPr>
        <p:spPr/>
        <p:txBody>
          <a:bodyPr/>
          <a:lstStyle/>
          <a:p>
            <a:r>
              <a:rPr lang="fa-IR" dirty="0"/>
              <a:t>ابعاد بخش‌بندی مشتریان </a:t>
            </a:r>
          </a:p>
        </p:txBody>
      </p:sp>
      <p:sp>
        <p:nvSpPr>
          <p:cNvPr id="3" name="Text Placeholder 2">
            <a:extLst>
              <a:ext uri="{FF2B5EF4-FFF2-40B4-BE49-F238E27FC236}">
                <a16:creationId xmlns:a16="http://schemas.microsoft.com/office/drawing/2014/main" id="{BBA9DEE0-89E6-B012-FD33-89BB43CA1356}"/>
              </a:ext>
            </a:extLst>
          </p:cNvPr>
          <p:cNvSpPr>
            <a:spLocks noGrp="1"/>
          </p:cNvSpPr>
          <p:nvPr>
            <p:ph type="body" sz="quarter" idx="12"/>
          </p:nvPr>
        </p:nvSpPr>
        <p:spPr/>
        <p:txBody>
          <a:bodyPr/>
          <a:lstStyle/>
          <a:p>
            <a:r>
              <a:rPr lang="fa-IR" dirty="0"/>
              <a:t>بعد مشخصات شرکت </a:t>
            </a:r>
            <a:r>
              <a:rPr lang="fa-IR" sz="1400" b="0" dirty="0"/>
              <a:t>— ابزارهای احراز صلاحیت </a:t>
            </a:r>
            <a:endParaRPr lang="fa-IR" b="0" dirty="0"/>
          </a:p>
        </p:txBody>
      </p:sp>
      <p:sp>
        <p:nvSpPr>
          <p:cNvPr id="9" name="TextBox 8">
            <a:extLst>
              <a:ext uri="{FF2B5EF4-FFF2-40B4-BE49-F238E27FC236}">
                <a16:creationId xmlns:a16="http://schemas.microsoft.com/office/drawing/2014/main" id="{E23CE2F1-AB9E-86EB-DAAC-B946FE8B879D}"/>
              </a:ext>
            </a:extLst>
          </p:cNvPr>
          <p:cNvSpPr txBox="1"/>
          <p:nvPr/>
        </p:nvSpPr>
        <p:spPr>
          <a:xfrm>
            <a:off x="555625" y="1063388"/>
            <a:ext cx="10688668" cy="461665"/>
          </a:xfrm>
          <a:prstGeom prst="rect">
            <a:avLst/>
          </a:prstGeom>
          <a:noFill/>
        </p:spPr>
        <p:txBody>
          <a:bodyPr wrap="square" rtlCol="0">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2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ویژگی‌های شرکت به صورت مستقیم تاثیر جدی بر بخش‌بندی جدید مشتریان ندارند، این موارد نه در ارزش پیشنهادی، بلکه در بخش‌های قیمت‌گذاری یا نحوه ارتباط، تاثیر خواهند گذاشت. </a:t>
            </a:r>
          </a:p>
        </p:txBody>
      </p:sp>
      <p:graphicFrame>
        <p:nvGraphicFramePr>
          <p:cNvPr id="5" name="Table 4">
            <a:extLst>
              <a:ext uri="{FF2B5EF4-FFF2-40B4-BE49-F238E27FC236}">
                <a16:creationId xmlns:a16="http://schemas.microsoft.com/office/drawing/2014/main" id="{0DF1BB9D-B4E2-54C7-F846-F4B3B1498613}"/>
              </a:ext>
            </a:extLst>
          </p:cNvPr>
          <p:cNvGraphicFramePr>
            <a:graphicFrameLocks noGrp="1"/>
          </p:cNvGraphicFramePr>
          <p:nvPr>
            <p:extLst>
              <p:ext uri="{D42A27DB-BD31-4B8C-83A1-F6EECF244321}">
                <p14:modId xmlns:p14="http://schemas.microsoft.com/office/powerpoint/2010/main" val="2522344891"/>
              </p:ext>
            </p:extLst>
          </p:nvPr>
        </p:nvGraphicFramePr>
        <p:xfrm>
          <a:off x="555625" y="1610743"/>
          <a:ext cx="10591800" cy="3451406"/>
        </p:xfrm>
        <a:graphic>
          <a:graphicData uri="http://schemas.openxmlformats.org/drawingml/2006/table">
            <a:tbl>
              <a:tblPr firstRow="1" bandRow="1">
                <a:tableStyleId>{5C22544A-7EE6-4342-B048-85BDC9FD1C3A}</a:tableStyleId>
              </a:tblPr>
              <a:tblGrid>
                <a:gridCol w="6774013">
                  <a:extLst>
                    <a:ext uri="{9D8B030D-6E8A-4147-A177-3AD203B41FA5}">
                      <a16:colId xmlns:a16="http://schemas.microsoft.com/office/drawing/2014/main" val="2225969677"/>
                    </a:ext>
                  </a:extLst>
                </a:gridCol>
                <a:gridCol w="1621857">
                  <a:extLst>
                    <a:ext uri="{9D8B030D-6E8A-4147-A177-3AD203B41FA5}">
                      <a16:colId xmlns:a16="http://schemas.microsoft.com/office/drawing/2014/main" val="748224083"/>
                    </a:ext>
                  </a:extLst>
                </a:gridCol>
                <a:gridCol w="2195930">
                  <a:extLst>
                    <a:ext uri="{9D8B030D-6E8A-4147-A177-3AD203B41FA5}">
                      <a16:colId xmlns:a16="http://schemas.microsoft.com/office/drawing/2014/main" val="2250883297"/>
                    </a:ext>
                  </a:extLst>
                </a:gridCol>
              </a:tblGrid>
              <a:tr h="253228">
                <a:tc>
                  <a:txBody>
                    <a:bodyPr/>
                    <a:lstStyle/>
                    <a:p>
                      <a:pPr algn="ctr" rtl="1"/>
                      <a:r>
                        <a:rPr lang="fa-IR" sz="1200" dirty="0">
                          <a:solidFill>
                            <a:schemeClr val="bg1"/>
                          </a:solidFill>
                          <a:latin typeface="Shabnam FD" panose="020B0603030804020204" pitchFamily="34" charset="-78"/>
                          <a:cs typeface="Shabnam FD" panose="020B0603030804020204" pitchFamily="34" charset="-78"/>
                        </a:rPr>
                        <a:t>کارکرد در مدل </a:t>
                      </a:r>
                      <a:endParaRPr lang="en-US" sz="1200" dirty="0">
                        <a:solidFill>
                          <a:schemeClr val="bg1"/>
                        </a:solidFill>
                        <a:latin typeface="Shabnam FD" panose="020B0603030804020204" pitchFamily="34" charset="-78"/>
                        <a:cs typeface="Shabnam FD" panose="020B0603030804020204" pitchFamily="34" charset="-78"/>
                      </a:endParaRPr>
                    </a:p>
                  </a:txBody>
                  <a:tcPr anchor="ctr">
                    <a:solidFill>
                      <a:srgbClr val="1E2761"/>
                    </a:solidFill>
                  </a:tcPr>
                </a:tc>
                <a:tc>
                  <a:txBody>
                    <a:bodyPr/>
                    <a:lstStyle/>
                    <a:p>
                      <a:pPr algn="ctr" rtl="1"/>
                      <a:r>
                        <a:rPr lang="fa-IR" sz="1200" dirty="0">
                          <a:solidFill>
                            <a:schemeClr val="bg1"/>
                          </a:solidFill>
                          <a:latin typeface="Shabnam FD" panose="020B0603030804020204" pitchFamily="34" charset="-78"/>
                          <a:cs typeface="Shabnam FD" panose="020B0603030804020204" pitchFamily="34" charset="-78"/>
                        </a:rPr>
                        <a:t>نقش در مدل کسب‌وکار </a:t>
                      </a:r>
                      <a:endParaRPr lang="en-US" sz="1200" dirty="0">
                        <a:solidFill>
                          <a:schemeClr val="bg1"/>
                        </a:solidFill>
                        <a:latin typeface="Shabnam FD" panose="020B0603030804020204" pitchFamily="34" charset="-78"/>
                        <a:cs typeface="Shabnam FD" panose="020B0603030804020204" pitchFamily="34" charset="-78"/>
                      </a:endParaRPr>
                    </a:p>
                  </a:txBody>
                  <a:tcPr anchor="ctr">
                    <a:solidFill>
                      <a:srgbClr val="1E2761"/>
                    </a:solidFill>
                  </a:tcPr>
                </a:tc>
                <a:tc>
                  <a:txBody>
                    <a:bodyPr/>
                    <a:lstStyle/>
                    <a:p>
                      <a:pPr algn="ctr" rtl="1"/>
                      <a:r>
                        <a:rPr lang="fa-IR" sz="1200" dirty="0">
                          <a:solidFill>
                            <a:schemeClr val="bg1"/>
                          </a:solidFill>
                          <a:latin typeface="Shabnam FD" panose="020B0603030804020204" pitchFamily="34" charset="-78"/>
                          <a:cs typeface="Shabnam FD" panose="020B0603030804020204" pitchFamily="34" charset="-78"/>
                        </a:rPr>
                        <a:t>ویژگی شرکت </a:t>
                      </a:r>
                      <a:r>
                        <a:rPr lang="fa-IR" sz="1000" b="0" kern="1200" dirty="0">
                          <a:solidFill>
                            <a:schemeClr val="bg1"/>
                          </a:solidFill>
                          <a:latin typeface="Shabnam FD" panose="020B0603030804020204" pitchFamily="34" charset="-78"/>
                          <a:ea typeface="+mn-ea"/>
                          <a:cs typeface="Shabnam FD" panose="020B0603030804020204" pitchFamily="34" charset="-78"/>
                        </a:rPr>
                        <a:t>(</a:t>
                      </a:r>
                      <a:r>
                        <a:rPr lang="en-US" sz="1000" b="0" kern="1200" dirty="0">
                          <a:solidFill>
                            <a:schemeClr val="bg1"/>
                          </a:solidFill>
                          <a:latin typeface="Shabnam FD" panose="020B0603030804020204" pitchFamily="34" charset="-78"/>
                          <a:ea typeface="+mn-ea"/>
                          <a:cs typeface="Shabnam FD" panose="020B0603030804020204" pitchFamily="34" charset="-78"/>
                        </a:rPr>
                        <a:t>Firmographic</a:t>
                      </a:r>
                      <a:r>
                        <a:rPr lang="fa-IR" sz="1000" b="0" kern="1200" dirty="0">
                          <a:solidFill>
                            <a:schemeClr val="bg1"/>
                          </a:solidFill>
                          <a:latin typeface="Shabnam FD" panose="020B0603030804020204" pitchFamily="34" charset="-78"/>
                          <a:ea typeface="+mn-ea"/>
                          <a:cs typeface="Shabnam FD" panose="020B0603030804020204" pitchFamily="34" charset="-78"/>
                        </a:rPr>
                        <a:t>)</a:t>
                      </a:r>
                      <a:endParaRPr lang="en-US" sz="1200" b="0" kern="1200" dirty="0">
                        <a:solidFill>
                          <a:schemeClr val="bg1"/>
                        </a:solidFill>
                        <a:latin typeface="Shabnam FD" panose="020B0603030804020204" pitchFamily="34" charset="-78"/>
                        <a:ea typeface="+mn-ea"/>
                        <a:cs typeface="Shabnam FD" panose="020B0603030804020204" pitchFamily="34" charset="-78"/>
                      </a:endParaRPr>
                    </a:p>
                  </a:txBody>
                  <a:tcPr anchor="ctr">
                    <a:solidFill>
                      <a:srgbClr val="1E2761"/>
                    </a:solidFill>
                  </a:tcPr>
                </a:tc>
                <a:extLst>
                  <a:ext uri="{0D108BD9-81ED-4DB2-BD59-A6C34878D82A}">
                    <a16:rowId xmlns:a16="http://schemas.microsoft.com/office/drawing/2014/main" val="359730985"/>
                  </a:ext>
                </a:extLst>
              </a:tr>
              <a:tr h="570083">
                <a:tc>
                  <a:txBody>
                    <a:bodyPr/>
                    <a:lstStyle/>
                    <a:p>
                      <a:pPr algn="justLow" rtl="1"/>
                      <a:r>
                        <a:rPr lang="fa-IR" sz="1000" kern="1200" dirty="0">
                          <a:solidFill>
                            <a:schemeClr val="tx1">
                              <a:lumMod val="65000"/>
                              <a:lumOff val="35000"/>
                            </a:schemeClr>
                          </a:solidFill>
                          <a:latin typeface="Shabnam FD" panose="020B0603030804020204" pitchFamily="34" charset="-78"/>
                          <a:ea typeface="+mn-ea"/>
                          <a:cs typeface="Shabnam FD" panose="020B0603030804020204" pitchFamily="34" charset="-78"/>
                        </a:rPr>
                        <a:t>هر تعامل در هر سه بیزینس لاین می‌تواند طرف دوم ایرانی یا خارجی داشته باشد. این ویژگی مشخص می‌کند کدام «روش اجرایی یا دستورالعمل» و چه میزان «بار انطباق رگولاتوری» (</a:t>
                      </a:r>
                      <a:r>
                        <a:rPr lang="en-US" sz="1000" kern="1200" dirty="0">
                          <a:solidFill>
                            <a:schemeClr val="tx1">
                              <a:lumMod val="65000"/>
                              <a:lumOff val="35000"/>
                            </a:schemeClr>
                          </a:solidFill>
                          <a:latin typeface="Shabnam FD" panose="020B0603030804020204" pitchFamily="34" charset="-78"/>
                          <a:ea typeface="+mn-ea"/>
                          <a:cs typeface="Shabnam FD" panose="020B0603030804020204" pitchFamily="34" charset="-78"/>
                        </a:rPr>
                        <a:t>Compliance load</a:t>
                      </a:r>
                      <a:r>
                        <a:rPr lang="fa-IR" sz="1000" kern="1200" dirty="0">
                          <a:solidFill>
                            <a:schemeClr val="tx1">
                              <a:lumMod val="65000"/>
                              <a:lumOff val="35000"/>
                            </a:schemeClr>
                          </a:solidFill>
                          <a:latin typeface="Shabnam FD" panose="020B0603030804020204" pitchFamily="34" charset="-78"/>
                          <a:ea typeface="+mn-ea"/>
                          <a:cs typeface="Shabnam FD" panose="020B0603030804020204" pitchFamily="34" charset="-78"/>
                        </a:rPr>
                        <a:t>) اعمال شود — اما هر دو طرف در یک بخش قرار می‌گیرند زیرا ارزش پیشنهادی یکسانی را می‌خرند. </a:t>
                      </a:r>
                      <a:endParaRPr lang="en-US" sz="1000" kern="1200" dirty="0">
                        <a:solidFill>
                          <a:schemeClr val="tx1">
                            <a:lumMod val="65000"/>
                            <a:lumOff val="35000"/>
                          </a:schemeClr>
                        </a:solidFill>
                        <a:latin typeface="Shabnam FD" panose="020B0603030804020204" pitchFamily="34" charset="-78"/>
                        <a:ea typeface="+mn-ea"/>
                        <a:cs typeface="Shabnam FD" panose="020B0603030804020204" pitchFamily="34" charset="-78"/>
                      </a:endParaRPr>
                    </a:p>
                  </a:txBody>
                  <a:tcPr anchor="ctr">
                    <a:solidFill>
                      <a:srgbClr val="1E2761">
                        <a:alpha val="20000"/>
                      </a:srgbClr>
                    </a:solidFill>
                  </a:tcPr>
                </a:tc>
                <a:tc>
                  <a:txBody>
                    <a:bodyPr/>
                    <a:lstStyle/>
                    <a:p>
                      <a:pPr algn="ctr" rtl="1"/>
                      <a:r>
                        <a:rPr lang="fa-IR" sz="1000" b="1" kern="1200" dirty="0">
                          <a:solidFill>
                            <a:schemeClr val="tx1">
                              <a:lumMod val="65000"/>
                              <a:lumOff val="35000"/>
                            </a:schemeClr>
                          </a:solidFill>
                          <a:latin typeface="Shabnam FD" panose="020B0603030804020204" pitchFamily="34" charset="-78"/>
                          <a:ea typeface="+mn-ea"/>
                          <a:cs typeface="Shabnam FD" panose="020B0603030804020204" pitchFamily="34" charset="-78"/>
                        </a:rPr>
                        <a:t>محور ساختاری </a:t>
                      </a:r>
                      <a:endParaRPr lang="en-US" sz="1000" b="1" kern="1200" dirty="0">
                        <a:solidFill>
                          <a:schemeClr val="tx1">
                            <a:lumMod val="65000"/>
                            <a:lumOff val="35000"/>
                          </a:schemeClr>
                        </a:solidFill>
                        <a:latin typeface="Shabnam FD" panose="020B0603030804020204" pitchFamily="34" charset="-78"/>
                        <a:ea typeface="+mn-ea"/>
                        <a:cs typeface="Shabnam FD" panose="020B0603030804020204" pitchFamily="34" charset="-78"/>
                      </a:endParaRPr>
                    </a:p>
                  </a:txBody>
                  <a:tcPr anchor="ctr">
                    <a:solidFill>
                      <a:srgbClr val="1E2761">
                        <a:alpha val="20000"/>
                      </a:srgbClr>
                    </a:solidFill>
                  </a:tcPr>
                </a:tc>
                <a:tc>
                  <a:txBody>
                    <a:bodyPr/>
                    <a:lstStyle/>
                    <a:p>
                      <a:pPr algn="justLow" rtl="1"/>
                      <a:r>
                        <a:rPr lang="fa-IR" sz="1000" b="1" kern="1200" dirty="0">
                          <a:solidFill>
                            <a:schemeClr val="tx1">
                              <a:lumMod val="65000"/>
                              <a:lumOff val="35000"/>
                            </a:schemeClr>
                          </a:solidFill>
                          <a:latin typeface="Shabnam FD" panose="020B0603030804020204" pitchFamily="34" charset="-78"/>
                          <a:ea typeface="+mn-ea"/>
                          <a:cs typeface="Shabnam FD" panose="020B0603030804020204" pitchFamily="34" charset="-78"/>
                        </a:rPr>
                        <a:t>شرکت ایرانی یا خارجی </a:t>
                      </a:r>
                      <a:endParaRPr lang="en-US" sz="1000" b="1" kern="1200" dirty="0">
                        <a:solidFill>
                          <a:schemeClr val="tx1">
                            <a:lumMod val="65000"/>
                            <a:lumOff val="35000"/>
                          </a:schemeClr>
                        </a:solidFill>
                        <a:latin typeface="Shabnam FD" panose="020B0603030804020204" pitchFamily="34" charset="-78"/>
                        <a:ea typeface="+mn-ea"/>
                        <a:cs typeface="Shabnam FD" panose="020B0603030804020204" pitchFamily="34" charset="-78"/>
                      </a:endParaRPr>
                    </a:p>
                  </a:txBody>
                  <a:tcPr anchor="ctr">
                    <a:solidFill>
                      <a:srgbClr val="1E2761">
                        <a:alpha val="20000"/>
                      </a:srgbClr>
                    </a:solidFill>
                  </a:tcPr>
                </a:tc>
                <a:extLst>
                  <a:ext uri="{0D108BD9-81ED-4DB2-BD59-A6C34878D82A}">
                    <a16:rowId xmlns:a16="http://schemas.microsoft.com/office/drawing/2014/main" val="3008010569"/>
                  </a:ext>
                </a:extLst>
              </a:tr>
              <a:tr h="365774">
                <a:tc>
                  <a:txBody>
                    <a:bodyPr/>
                    <a:lstStyle/>
                    <a:p>
                      <a:pPr algn="justLow" rtl="1"/>
                      <a:r>
                        <a:rPr lang="fa-IR" sz="1000" kern="1200">
                          <a:solidFill>
                            <a:schemeClr val="tx1">
                              <a:lumMod val="65000"/>
                              <a:lumOff val="35000"/>
                            </a:schemeClr>
                          </a:solidFill>
                          <a:latin typeface="Shabnam FD" panose="020B0603030804020204" pitchFamily="34" charset="-78"/>
                          <a:ea typeface="+mn-ea"/>
                          <a:cs typeface="Shabnam FD" panose="020B0603030804020204" pitchFamily="34" charset="-78"/>
                        </a:rPr>
                        <a:t>مقیاس حق‌الزحمه (</a:t>
                      </a:r>
                      <a:r>
                        <a:rPr lang="en-US" sz="1000" kern="1200">
                          <a:solidFill>
                            <a:schemeClr val="tx1">
                              <a:lumMod val="65000"/>
                              <a:lumOff val="35000"/>
                            </a:schemeClr>
                          </a:solidFill>
                          <a:latin typeface="Shabnam FD" panose="020B0603030804020204" pitchFamily="34" charset="-78"/>
                          <a:ea typeface="+mn-ea"/>
                          <a:cs typeface="Shabnam FD" panose="020B0603030804020204" pitchFamily="34" charset="-78"/>
                        </a:rPr>
                        <a:t>Fee scale</a:t>
                      </a:r>
                      <a:r>
                        <a:rPr lang="fa-IR" sz="1000" kern="1200">
                          <a:solidFill>
                            <a:schemeClr val="tx1">
                              <a:lumMod val="65000"/>
                              <a:lumOff val="35000"/>
                            </a:schemeClr>
                          </a:solidFill>
                          <a:latin typeface="Shabnam FD" panose="020B0603030804020204" pitchFamily="34" charset="-78"/>
                          <a:ea typeface="+mn-ea"/>
                          <a:cs typeface="Shabnam FD" panose="020B0603030804020204" pitchFamily="34" charset="-78"/>
                        </a:rPr>
                        <a:t>) و شدت ارائه خدمات را تعیین می‌کند. یک شرکت بزرگ و یک شرکت کوچک با وظیفه بنیادیِ یکسان، همان خدمت را با شدت متفاوتی می‌خرند. </a:t>
                      </a:r>
                      <a:endParaRPr lang="en-US" sz="1000" kern="1200">
                        <a:solidFill>
                          <a:schemeClr val="tx1">
                            <a:lumMod val="65000"/>
                            <a:lumOff val="35000"/>
                          </a:schemeClr>
                        </a:solidFill>
                        <a:latin typeface="Shabnam FD" panose="020B0603030804020204" pitchFamily="34" charset="-78"/>
                        <a:ea typeface="+mn-ea"/>
                        <a:cs typeface="Shabnam FD" panose="020B0603030804020204" pitchFamily="34" charset="-78"/>
                      </a:endParaRPr>
                    </a:p>
                  </a:txBody>
                  <a:tcPr anchor="ctr">
                    <a:solidFill>
                      <a:schemeClr val="bg1">
                        <a:lumMod val="95000"/>
                      </a:schemeClr>
                    </a:solidFill>
                  </a:tcPr>
                </a:tc>
                <a:tc>
                  <a:txBody>
                    <a:bodyPr/>
                    <a:lstStyle/>
                    <a:p>
                      <a:pPr algn="ctr" rtl="1"/>
                      <a:r>
                        <a:rPr lang="fa-IR" sz="1000" kern="1200" dirty="0">
                          <a:solidFill>
                            <a:schemeClr val="tx1">
                              <a:lumMod val="65000"/>
                              <a:lumOff val="35000"/>
                            </a:schemeClr>
                          </a:solidFill>
                          <a:latin typeface="Shabnam FD" panose="020B0603030804020204" pitchFamily="34" charset="-78"/>
                          <a:ea typeface="+mn-ea"/>
                          <a:cs typeface="Shabnam FD" panose="020B0603030804020204" pitchFamily="34" charset="-78"/>
                        </a:rPr>
                        <a:t>ویژگی قیمت‌گذاری و سطح‌بندی خدمات </a:t>
                      </a:r>
                      <a:endParaRPr lang="en-US" sz="1000" kern="1200" dirty="0">
                        <a:solidFill>
                          <a:schemeClr val="tx1">
                            <a:lumMod val="65000"/>
                            <a:lumOff val="35000"/>
                          </a:schemeClr>
                        </a:solidFill>
                        <a:latin typeface="Shabnam FD" panose="020B0603030804020204" pitchFamily="34" charset="-78"/>
                        <a:ea typeface="+mn-ea"/>
                        <a:cs typeface="Shabnam FD" panose="020B0603030804020204" pitchFamily="34" charset="-78"/>
                      </a:endParaRPr>
                    </a:p>
                  </a:txBody>
                  <a:tcPr anchor="ctr">
                    <a:solidFill>
                      <a:schemeClr val="bg1">
                        <a:lumMod val="95000"/>
                      </a:schemeClr>
                    </a:solidFill>
                  </a:tcPr>
                </a:tc>
                <a:tc>
                  <a:txBody>
                    <a:bodyPr/>
                    <a:lstStyle/>
                    <a:p>
                      <a:pPr algn="justLow" rtl="1"/>
                      <a:r>
                        <a:rPr lang="fa-IR" sz="1000" b="1" kern="1200" dirty="0">
                          <a:solidFill>
                            <a:schemeClr val="tx1">
                              <a:lumMod val="65000"/>
                              <a:lumOff val="35000"/>
                            </a:schemeClr>
                          </a:solidFill>
                          <a:latin typeface="Shabnam FD" panose="020B0603030804020204" pitchFamily="34" charset="-78"/>
                          <a:ea typeface="+mn-ea"/>
                          <a:cs typeface="Shabnam FD" panose="020B0603030804020204" pitchFamily="34" charset="-78"/>
                        </a:rPr>
                        <a:t>اندازه شرکت / مقیاس درآمدی </a:t>
                      </a:r>
                      <a:endParaRPr lang="en-US" sz="1000" b="1" kern="1200" dirty="0">
                        <a:solidFill>
                          <a:schemeClr val="tx1">
                            <a:lumMod val="65000"/>
                            <a:lumOff val="35000"/>
                          </a:schemeClr>
                        </a:solidFill>
                        <a:latin typeface="Shabnam FD" panose="020B0603030804020204" pitchFamily="34" charset="-78"/>
                        <a:ea typeface="+mn-ea"/>
                        <a:cs typeface="Shabnam FD" panose="020B0603030804020204" pitchFamily="34" charset="-78"/>
                      </a:endParaRPr>
                    </a:p>
                  </a:txBody>
                  <a:tcPr anchor="ctr">
                    <a:solidFill>
                      <a:schemeClr val="bg1">
                        <a:lumMod val="95000"/>
                      </a:schemeClr>
                    </a:solidFill>
                  </a:tcPr>
                </a:tc>
                <a:extLst>
                  <a:ext uri="{0D108BD9-81ED-4DB2-BD59-A6C34878D82A}">
                    <a16:rowId xmlns:a16="http://schemas.microsoft.com/office/drawing/2014/main" val="3602813289"/>
                  </a:ext>
                </a:extLst>
              </a:tr>
              <a:tr h="488643">
                <a:tc>
                  <a:txBody>
                    <a:bodyPr/>
                    <a:lstStyle/>
                    <a:p>
                      <a:pPr algn="justLow" rtl="1"/>
                      <a:r>
                        <a:rPr lang="fa-IR" sz="1000" kern="1200">
                          <a:solidFill>
                            <a:schemeClr val="tx1">
                              <a:lumMod val="65000"/>
                              <a:lumOff val="35000"/>
                            </a:schemeClr>
                          </a:solidFill>
                          <a:latin typeface="Shabnam FD" panose="020B0603030804020204" pitchFamily="34" charset="-78"/>
                          <a:ea typeface="+mn-ea"/>
                          <a:cs typeface="Shabnam FD" panose="020B0603030804020204" pitchFamily="34" charset="-78"/>
                        </a:rPr>
                        <a:t>تعیین می‌کند چه شریک فنی تخصیص یابد و چه فرآیند معاملاتی باید طی شود. فرآیند انجام معامله را تغییر نمی‌دهد. </a:t>
                      </a:r>
                      <a:endParaRPr lang="en-US" sz="1000" kern="1200">
                        <a:solidFill>
                          <a:schemeClr val="tx1">
                            <a:lumMod val="65000"/>
                            <a:lumOff val="35000"/>
                          </a:schemeClr>
                        </a:solidFill>
                        <a:latin typeface="Shabnam FD" panose="020B0603030804020204" pitchFamily="34" charset="-78"/>
                        <a:ea typeface="+mn-ea"/>
                        <a:cs typeface="Shabnam FD" panose="020B0603030804020204" pitchFamily="34" charset="-78"/>
                      </a:endParaRPr>
                    </a:p>
                  </a:txBody>
                  <a:tcPr anchor="ctr">
                    <a:solidFill>
                      <a:schemeClr val="bg1">
                        <a:lumMod val="95000"/>
                      </a:schemeClr>
                    </a:solidFill>
                  </a:tcPr>
                </a:tc>
                <a:tc>
                  <a:txBody>
                    <a:bodyPr/>
                    <a:lstStyle/>
                    <a:p>
                      <a:pPr algn="ctr" rtl="1"/>
                      <a:r>
                        <a:rPr lang="fa-IR" sz="1000" kern="1200" dirty="0">
                          <a:solidFill>
                            <a:schemeClr val="tx1">
                              <a:lumMod val="65000"/>
                              <a:lumOff val="35000"/>
                            </a:schemeClr>
                          </a:solidFill>
                          <a:latin typeface="Shabnam FD" panose="020B0603030804020204" pitchFamily="34" charset="-78"/>
                          <a:ea typeface="+mn-ea"/>
                          <a:cs typeface="Shabnam FD" panose="020B0603030804020204" pitchFamily="34" charset="-78"/>
                        </a:rPr>
                        <a:t>ویژگی احراز صلاحیت و انطباق شریک </a:t>
                      </a:r>
                      <a:r>
                        <a:rPr lang="fa-IR" sz="800" kern="1200" dirty="0">
                          <a:solidFill>
                            <a:schemeClr val="tx1">
                              <a:lumMod val="65000"/>
                              <a:lumOff val="35000"/>
                            </a:schemeClr>
                          </a:solidFill>
                          <a:latin typeface="Shabnam FD" panose="020B0603030804020204" pitchFamily="34" charset="-78"/>
                          <a:ea typeface="+mn-ea"/>
                          <a:cs typeface="Shabnam FD" panose="020B0603030804020204" pitchFamily="34" charset="-78"/>
                        </a:rPr>
                        <a:t>(</a:t>
                      </a:r>
                      <a:r>
                        <a:rPr lang="en-US" sz="800" kern="1200" dirty="0">
                          <a:solidFill>
                            <a:schemeClr val="tx1">
                              <a:lumMod val="65000"/>
                              <a:lumOff val="35000"/>
                            </a:schemeClr>
                          </a:solidFill>
                          <a:latin typeface="Shabnam FD" panose="020B0603030804020204" pitchFamily="34" charset="-78"/>
                          <a:ea typeface="+mn-ea"/>
                          <a:cs typeface="Shabnam FD" panose="020B0603030804020204" pitchFamily="34" charset="-78"/>
                        </a:rPr>
                        <a:t>Matchmaking</a:t>
                      </a:r>
                      <a:r>
                        <a:rPr lang="fa-IR" sz="800" kern="1200" dirty="0">
                          <a:solidFill>
                            <a:schemeClr val="tx1">
                              <a:lumMod val="65000"/>
                              <a:lumOff val="35000"/>
                            </a:schemeClr>
                          </a:solidFill>
                          <a:latin typeface="Shabnam FD" panose="020B0603030804020204" pitchFamily="34" charset="-78"/>
                          <a:ea typeface="+mn-ea"/>
                          <a:cs typeface="Shabnam FD" panose="020B0603030804020204" pitchFamily="34" charset="-78"/>
                        </a:rPr>
                        <a:t>) </a:t>
                      </a:r>
                      <a:endParaRPr lang="en-US" sz="1000" kern="1200" dirty="0">
                        <a:solidFill>
                          <a:schemeClr val="tx1">
                            <a:lumMod val="65000"/>
                            <a:lumOff val="35000"/>
                          </a:schemeClr>
                        </a:solidFill>
                        <a:latin typeface="Shabnam FD" panose="020B0603030804020204" pitchFamily="34" charset="-78"/>
                        <a:ea typeface="+mn-ea"/>
                        <a:cs typeface="Shabnam FD" panose="020B0603030804020204" pitchFamily="34" charset="-78"/>
                      </a:endParaRPr>
                    </a:p>
                  </a:txBody>
                  <a:tcPr anchor="ctr">
                    <a:solidFill>
                      <a:schemeClr val="bg1">
                        <a:lumMod val="95000"/>
                      </a:schemeClr>
                    </a:solidFill>
                  </a:tcPr>
                </a:tc>
                <a:tc>
                  <a:txBody>
                    <a:bodyPr/>
                    <a:lstStyle/>
                    <a:p>
                      <a:pPr algn="justLow" rtl="1"/>
                      <a:r>
                        <a:rPr lang="fa-IR" sz="1000" b="1" kern="1200" dirty="0">
                          <a:solidFill>
                            <a:schemeClr val="tx1">
                              <a:lumMod val="65000"/>
                              <a:lumOff val="35000"/>
                            </a:schemeClr>
                          </a:solidFill>
                          <a:latin typeface="Shabnam FD" panose="020B0603030804020204" pitchFamily="34" charset="-78"/>
                          <a:ea typeface="+mn-ea"/>
                          <a:cs typeface="Shabnam FD" panose="020B0603030804020204" pitchFamily="34" charset="-78"/>
                        </a:rPr>
                        <a:t>صنعت </a:t>
                      </a:r>
                      <a:endParaRPr lang="en-US" sz="1000" b="1" kern="1200" dirty="0">
                        <a:solidFill>
                          <a:schemeClr val="tx1">
                            <a:lumMod val="65000"/>
                            <a:lumOff val="35000"/>
                          </a:schemeClr>
                        </a:solidFill>
                        <a:latin typeface="Shabnam FD" panose="020B0603030804020204" pitchFamily="34" charset="-78"/>
                        <a:ea typeface="+mn-ea"/>
                        <a:cs typeface="Shabnam FD" panose="020B0603030804020204" pitchFamily="34" charset="-78"/>
                      </a:endParaRPr>
                    </a:p>
                  </a:txBody>
                  <a:tcPr anchor="ctr">
                    <a:solidFill>
                      <a:schemeClr val="bg1">
                        <a:lumMod val="95000"/>
                      </a:schemeClr>
                    </a:solidFill>
                  </a:tcPr>
                </a:tc>
                <a:extLst>
                  <a:ext uri="{0D108BD9-81ED-4DB2-BD59-A6C34878D82A}">
                    <a16:rowId xmlns:a16="http://schemas.microsoft.com/office/drawing/2014/main" val="1927763593"/>
                  </a:ext>
                </a:extLst>
              </a:tr>
              <a:tr h="365774">
                <a:tc>
                  <a:txBody>
                    <a:bodyPr/>
                    <a:lstStyle/>
                    <a:p>
                      <a:pPr algn="justLow" rtl="1"/>
                      <a:r>
                        <a:rPr lang="fa-IR" sz="1000" kern="1200" dirty="0">
                          <a:solidFill>
                            <a:schemeClr val="tx1">
                              <a:lumMod val="65000"/>
                              <a:lumOff val="35000"/>
                            </a:schemeClr>
                          </a:solidFill>
                          <a:latin typeface="Shabnam FD" panose="020B0603030804020204" pitchFamily="34" charset="-78"/>
                          <a:ea typeface="+mn-ea"/>
                          <a:cs typeface="Shabnam FD" panose="020B0603030804020204" pitchFamily="34" charset="-78"/>
                        </a:rPr>
                        <a:t>موضوع «قابلیت معامله» (</a:t>
                      </a:r>
                      <a:r>
                        <a:rPr lang="en-US" sz="1000" kern="1200" dirty="0">
                          <a:solidFill>
                            <a:schemeClr val="tx1">
                              <a:lumMod val="65000"/>
                              <a:lumOff val="35000"/>
                            </a:schemeClr>
                          </a:solidFill>
                          <a:latin typeface="Shabnam FD" panose="020B0603030804020204" pitchFamily="34" charset="-78"/>
                          <a:ea typeface="+mn-ea"/>
                          <a:cs typeface="Shabnam FD" panose="020B0603030804020204" pitchFamily="34" charset="-78"/>
                        </a:rPr>
                        <a:t>Transactability</a:t>
                      </a:r>
                      <a:r>
                        <a:rPr lang="fa-IR" sz="1000" kern="1200" dirty="0">
                          <a:solidFill>
                            <a:schemeClr val="tx1">
                              <a:lumMod val="65000"/>
                              <a:lumOff val="35000"/>
                            </a:schemeClr>
                          </a:solidFill>
                          <a:latin typeface="Shabnam FD" panose="020B0603030804020204" pitchFamily="34" charset="-78"/>
                          <a:ea typeface="+mn-ea"/>
                          <a:cs typeface="Shabnam FD" panose="020B0603030804020204" pitchFamily="34" charset="-78"/>
                        </a:rPr>
                        <a:t>) را کنترل می‌کند. اینکه سازمان چه سطحی از آمادگی برای معامله با یک شریک دیگر را داشته باشد، بخش‌بندی مشتریان را تغییر می‌دهد، اما سطح بلوغ لزوما بخش‌بندی را تغییر نمی‌دهد. </a:t>
                      </a:r>
                      <a:endParaRPr lang="en-US" sz="1000" kern="1200" dirty="0">
                        <a:solidFill>
                          <a:schemeClr val="tx1">
                            <a:lumMod val="65000"/>
                            <a:lumOff val="35000"/>
                          </a:schemeClr>
                        </a:solidFill>
                        <a:latin typeface="Shabnam FD" panose="020B0603030804020204" pitchFamily="34" charset="-78"/>
                        <a:ea typeface="+mn-ea"/>
                        <a:cs typeface="Shabnam FD" panose="020B0603030804020204" pitchFamily="34" charset="-78"/>
                      </a:endParaRPr>
                    </a:p>
                  </a:txBody>
                  <a:tcPr anchor="ctr">
                    <a:solidFill>
                      <a:schemeClr val="bg1">
                        <a:lumMod val="95000"/>
                      </a:schemeClr>
                    </a:solidFill>
                  </a:tcPr>
                </a:tc>
                <a:tc>
                  <a:txBody>
                    <a:bodyPr/>
                    <a:lstStyle/>
                    <a:p>
                      <a:pPr algn="ctr" rtl="1"/>
                      <a:r>
                        <a:rPr lang="fa-IR" sz="1000" kern="1200" dirty="0">
                          <a:solidFill>
                            <a:schemeClr val="tx1">
                              <a:lumMod val="65000"/>
                              <a:lumOff val="35000"/>
                            </a:schemeClr>
                          </a:solidFill>
                          <a:latin typeface="Shabnam FD" panose="020B0603030804020204" pitchFamily="34" charset="-78"/>
                          <a:ea typeface="+mn-ea"/>
                          <a:cs typeface="Shabnam FD" panose="020B0603030804020204" pitchFamily="34" charset="-78"/>
                        </a:rPr>
                        <a:t>ورودی آمادگی </a:t>
                      </a:r>
                      <a:endParaRPr lang="en-US" sz="1000" kern="1200" dirty="0">
                        <a:solidFill>
                          <a:schemeClr val="tx1">
                            <a:lumMod val="65000"/>
                            <a:lumOff val="35000"/>
                          </a:schemeClr>
                        </a:solidFill>
                        <a:latin typeface="Shabnam FD" panose="020B0603030804020204" pitchFamily="34" charset="-78"/>
                        <a:ea typeface="+mn-ea"/>
                        <a:cs typeface="Shabnam FD" panose="020B0603030804020204" pitchFamily="34" charset="-78"/>
                      </a:endParaRPr>
                    </a:p>
                  </a:txBody>
                  <a:tcPr anchor="ctr">
                    <a:solidFill>
                      <a:schemeClr val="bg1">
                        <a:lumMod val="95000"/>
                      </a:schemeClr>
                    </a:solidFill>
                  </a:tcPr>
                </a:tc>
                <a:tc>
                  <a:txBody>
                    <a:bodyPr/>
                    <a:lstStyle/>
                    <a:p>
                      <a:pPr algn="justLow" rtl="1"/>
                      <a:r>
                        <a:rPr lang="fa-IR" sz="1000" b="1" kern="1200" dirty="0">
                          <a:solidFill>
                            <a:schemeClr val="tx1">
                              <a:lumMod val="65000"/>
                              <a:lumOff val="35000"/>
                            </a:schemeClr>
                          </a:solidFill>
                          <a:latin typeface="Shabnam FD" panose="020B0603030804020204" pitchFamily="34" charset="-78"/>
                          <a:ea typeface="+mn-ea"/>
                          <a:cs typeface="Shabnam FD" panose="020B0603030804020204" pitchFamily="34" charset="-78"/>
                        </a:rPr>
                        <a:t>بلوغ / مرحله رشد </a:t>
                      </a:r>
                      <a:endParaRPr lang="en-US" sz="1000" b="1" kern="1200" dirty="0">
                        <a:solidFill>
                          <a:schemeClr val="tx1">
                            <a:lumMod val="65000"/>
                            <a:lumOff val="35000"/>
                          </a:schemeClr>
                        </a:solidFill>
                        <a:latin typeface="Shabnam FD" panose="020B0603030804020204" pitchFamily="34" charset="-78"/>
                        <a:ea typeface="+mn-ea"/>
                        <a:cs typeface="Shabnam FD" panose="020B0603030804020204" pitchFamily="34" charset="-78"/>
                      </a:endParaRPr>
                    </a:p>
                  </a:txBody>
                  <a:tcPr anchor="ctr">
                    <a:solidFill>
                      <a:schemeClr val="bg1">
                        <a:lumMod val="95000"/>
                      </a:schemeClr>
                    </a:solidFill>
                  </a:tcPr>
                </a:tc>
                <a:extLst>
                  <a:ext uri="{0D108BD9-81ED-4DB2-BD59-A6C34878D82A}">
                    <a16:rowId xmlns:a16="http://schemas.microsoft.com/office/drawing/2014/main" val="2592394972"/>
                  </a:ext>
                </a:extLst>
              </a:tr>
              <a:tr h="365774">
                <a:tc>
                  <a:txBody>
                    <a:bodyPr/>
                    <a:lstStyle/>
                    <a:p>
                      <a:pPr algn="justLow" rtl="1"/>
                      <a:r>
                        <a:rPr lang="fa-IR" sz="1000">
                          <a:solidFill>
                            <a:schemeClr val="tx1">
                              <a:lumMod val="65000"/>
                              <a:lumOff val="35000"/>
                            </a:schemeClr>
                          </a:solidFill>
                          <a:latin typeface="Shabnam FD" panose="020B0603030804020204" pitchFamily="34" charset="-78"/>
                          <a:cs typeface="Shabnam FD" panose="020B0603030804020204" pitchFamily="34" charset="-78"/>
                        </a:rPr>
                        <a:t>برای غربالگری طرف معامله و میزان در معرض تحریم بودن اهمیت دارد. یک عامل رد صلاحیت یا محرک هزینه است، نه یک بخش مجزا. </a:t>
                      </a:r>
                      <a:endParaRPr lang="en-US" sz="1000">
                        <a:solidFill>
                          <a:schemeClr val="tx1">
                            <a:lumMod val="65000"/>
                            <a:lumOff val="35000"/>
                          </a:schemeClr>
                        </a:solidFill>
                        <a:latin typeface="Shabnam FD" panose="020B0603030804020204" pitchFamily="34" charset="-78"/>
                        <a:cs typeface="Shabnam FD" panose="020B0603030804020204" pitchFamily="34" charset="-78"/>
                      </a:endParaRPr>
                    </a:p>
                  </a:txBody>
                  <a:tcPr anchor="ctr">
                    <a:solidFill>
                      <a:schemeClr val="bg1">
                        <a:lumMod val="95000"/>
                      </a:schemeClr>
                    </a:solidFill>
                  </a:tcPr>
                </a:tc>
                <a:tc>
                  <a:txBody>
                    <a:bodyPr/>
                    <a:lstStyle/>
                    <a:p>
                      <a:pPr algn="ctr" rtl="1"/>
                      <a:r>
                        <a:rPr lang="fa-IR" sz="1000" dirty="0">
                          <a:solidFill>
                            <a:schemeClr val="tx1">
                              <a:lumMod val="65000"/>
                              <a:lumOff val="35000"/>
                            </a:schemeClr>
                          </a:solidFill>
                          <a:latin typeface="Shabnam FD" panose="020B0603030804020204" pitchFamily="34" charset="-78"/>
                          <a:cs typeface="Shabnam FD" panose="020B0603030804020204" pitchFamily="34" charset="-78"/>
                        </a:rPr>
                        <a:t>ویژگی ریسک و انطباق </a:t>
                      </a:r>
                      <a:endParaRPr lang="en-US" sz="1000" dirty="0">
                        <a:solidFill>
                          <a:schemeClr val="tx1">
                            <a:lumMod val="65000"/>
                            <a:lumOff val="35000"/>
                          </a:schemeClr>
                        </a:solidFill>
                        <a:latin typeface="Shabnam FD" panose="020B0603030804020204" pitchFamily="34" charset="-78"/>
                        <a:cs typeface="Shabnam FD" panose="020B0603030804020204" pitchFamily="34" charset="-78"/>
                      </a:endParaRPr>
                    </a:p>
                  </a:txBody>
                  <a:tcPr anchor="ctr">
                    <a:solidFill>
                      <a:schemeClr val="bg1">
                        <a:lumMod val="95000"/>
                      </a:schemeClr>
                    </a:solidFill>
                  </a:tcPr>
                </a:tc>
                <a:tc>
                  <a:txBody>
                    <a:bodyPr/>
                    <a:lstStyle/>
                    <a:p>
                      <a:pPr algn="justLow" rtl="1"/>
                      <a:r>
                        <a:rPr lang="fa-IR" sz="1000" b="1" dirty="0">
                          <a:solidFill>
                            <a:schemeClr val="tx1">
                              <a:lumMod val="65000"/>
                              <a:lumOff val="35000"/>
                            </a:schemeClr>
                          </a:solidFill>
                          <a:latin typeface="Shabnam FD" panose="020B0603030804020204" pitchFamily="34" charset="-78"/>
                          <a:cs typeface="Shabnam FD" panose="020B0603030804020204" pitchFamily="34" charset="-78"/>
                        </a:rPr>
                        <a:t>ساختار مالکیت </a:t>
                      </a:r>
                      <a:endParaRPr lang="en-US" sz="1000" b="1" dirty="0">
                        <a:solidFill>
                          <a:schemeClr val="tx1">
                            <a:lumMod val="65000"/>
                            <a:lumOff val="35000"/>
                          </a:schemeClr>
                        </a:solidFill>
                        <a:latin typeface="Shabnam FD" panose="020B0603030804020204" pitchFamily="34" charset="-78"/>
                        <a:cs typeface="Shabnam FD" panose="020B0603030804020204" pitchFamily="34" charset="-78"/>
                      </a:endParaRPr>
                    </a:p>
                  </a:txBody>
                  <a:tcPr anchor="ctr">
                    <a:solidFill>
                      <a:schemeClr val="bg1">
                        <a:lumMod val="95000"/>
                      </a:schemeClr>
                    </a:solidFill>
                  </a:tcPr>
                </a:tc>
                <a:extLst>
                  <a:ext uri="{0D108BD9-81ED-4DB2-BD59-A6C34878D82A}">
                    <a16:rowId xmlns:a16="http://schemas.microsoft.com/office/drawing/2014/main" val="942818257"/>
                  </a:ext>
                </a:extLst>
              </a:tr>
              <a:tr h="225092">
                <a:tc>
                  <a:txBody>
                    <a:bodyPr/>
                    <a:lstStyle/>
                    <a:p>
                      <a:pPr algn="justLow" rtl="1"/>
                      <a:r>
                        <a:rPr lang="fa-IR" sz="1000" dirty="0">
                          <a:solidFill>
                            <a:schemeClr val="tx1">
                              <a:lumMod val="65000"/>
                              <a:lumOff val="35000"/>
                            </a:schemeClr>
                          </a:solidFill>
                          <a:latin typeface="Shabnam FD" panose="020B0603030804020204" pitchFamily="34" charset="-78"/>
                          <a:cs typeface="Shabnam FD" panose="020B0603030804020204" pitchFamily="34" charset="-78"/>
                        </a:rPr>
                        <a:t>تجربه قبلی در تجارت بین‌المللی و همکاری مشترک با شرکای خارجی، با میزان «قابلیت معامله» همبستگی دارد. </a:t>
                      </a:r>
                      <a:endParaRPr lang="en-US" sz="1000" dirty="0">
                        <a:solidFill>
                          <a:schemeClr val="tx1">
                            <a:lumMod val="65000"/>
                            <a:lumOff val="35000"/>
                          </a:schemeClr>
                        </a:solidFill>
                        <a:latin typeface="Shabnam FD" panose="020B0603030804020204" pitchFamily="34" charset="-78"/>
                        <a:cs typeface="Shabnam FD" panose="020B0603030804020204" pitchFamily="34" charset="-78"/>
                      </a:endParaRPr>
                    </a:p>
                  </a:txBody>
                  <a:tcPr anchor="ctr">
                    <a:solidFill>
                      <a:schemeClr val="bg1">
                        <a:lumMod val="95000"/>
                      </a:schemeClr>
                    </a:solidFill>
                  </a:tcPr>
                </a:tc>
                <a:tc>
                  <a:txBody>
                    <a:bodyPr/>
                    <a:lstStyle/>
                    <a:p>
                      <a:pPr algn="ctr" rtl="1"/>
                      <a:r>
                        <a:rPr lang="fa-IR" sz="1000" dirty="0">
                          <a:solidFill>
                            <a:schemeClr val="tx1">
                              <a:lumMod val="65000"/>
                              <a:lumOff val="35000"/>
                            </a:schemeClr>
                          </a:solidFill>
                          <a:latin typeface="Shabnam FD" panose="020B0603030804020204" pitchFamily="34" charset="-78"/>
                          <a:cs typeface="Shabnam FD" panose="020B0603030804020204" pitchFamily="34" charset="-78"/>
                        </a:rPr>
                        <a:t>ورودی آمادگی </a:t>
                      </a:r>
                      <a:endParaRPr lang="en-US" sz="1000" dirty="0">
                        <a:solidFill>
                          <a:schemeClr val="tx1">
                            <a:lumMod val="65000"/>
                            <a:lumOff val="35000"/>
                          </a:schemeClr>
                        </a:solidFill>
                        <a:latin typeface="Shabnam FD" panose="020B0603030804020204" pitchFamily="34" charset="-78"/>
                        <a:cs typeface="Shabnam FD" panose="020B0603030804020204" pitchFamily="34" charset="-78"/>
                      </a:endParaRPr>
                    </a:p>
                  </a:txBody>
                  <a:tcPr anchor="ctr">
                    <a:solidFill>
                      <a:schemeClr val="bg1">
                        <a:lumMod val="95000"/>
                      </a:schemeClr>
                    </a:solidFill>
                  </a:tcPr>
                </a:tc>
                <a:tc>
                  <a:txBody>
                    <a:bodyPr/>
                    <a:lstStyle/>
                    <a:p>
                      <a:pPr algn="justLow" rtl="1"/>
                      <a:r>
                        <a:rPr lang="fa-IR" sz="1000" b="1" dirty="0">
                          <a:solidFill>
                            <a:schemeClr val="tx1">
                              <a:lumMod val="65000"/>
                              <a:lumOff val="35000"/>
                            </a:schemeClr>
                          </a:solidFill>
                          <a:latin typeface="Shabnam FD" panose="020B0603030804020204" pitchFamily="34" charset="-78"/>
                          <a:cs typeface="Shabnam FD" panose="020B0603030804020204" pitchFamily="34" charset="-78"/>
                        </a:rPr>
                        <a:t>حضور / گستره بین‌المللی </a:t>
                      </a:r>
                      <a:endParaRPr lang="en-US" sz="1000" b="1" dirty="0">
                        <a:solidFill>
                          <a:schemeClr val="tx1">
                            <a:lumMod val="65000"/>
                            <a:lumOff val="35000"/>
                          </a:schemeClr>
                        </a:solidFill>
                        <a:latin typeface="Shabnam FD" panose="020B0603030804020204" pitchFamily="34" charset="-78"/>
                        <a:cs typeface="Shabnam FD" panose="020B0603030804020204" pitchFamily="34" charset="-78"/>
                      </a:endParaRPr>
                    </a:p>
                  </a:txBody>
                  <a:tcPr anchor="ctr">
                    <a:solidFill>
                      <a:schemeClr val="bg1">
                        <a:lumMod val="95000"/>
                      </a:schemeClr>
                    </a:solidFill>
                  </a:tcPr>
                </a:tc>
                <a:extLst>
                  <a:ext uri="{0D108BD9-81ED-4DB2-BD59-A6C34878D82A}">
                    <a16:rowId xmlns:a16="http://schemas.microsoft.com/office/drawing/2014/main" val="2280365725"/>
                  </a:ext>
                </a:extLst>
              </a:tr>
              <a:tr h="222631">
                <a:tc rowSpan="3">
                  <a:txBody>
                    <a:bodyPr/>
                    <a:lstStyle/>
                    <a:p>
                      <a:pPr algn="justLow" rtl="1"/>
                      <a:r>
                        <a:rPr lang="fa-IR" sz="900" dirty="0">
                          <a:solidFill>
                            <a:schemeClr val="tx1">
                              <a:lumMod val="50000"/>
                              <a:lumOff val="50000"/>
                            </a:schemeClr>
                          </a:solidFill>
                          <a:latin typeface="Shabnam FD" panose="020B0603030804020204" pitchFamily="34" charset="-78"/>
                          <a:cs typeface="Shabnam FD" panose="020B0603030804020204" pitchFamily="34" charset="-78"/>
                        </a:rPr>
                        <a:t>هیچ ارتباطی با تغییر رفتار مشتریان هدف ما ندارد. </a:t>
                      </a:r>
                      <a:endParaRPr lang="en-US" sz="900" dirty="0">
                        <a:solidFill>
                          <a:schemeClr val="tx1">
                            <a:lumMod val="50000"/>
                            <a:lumOff val="50000"/>
                          </a:schemeClr>
                        </a:solidFill>
                        <a:latin typeface="Shabnam FD" panose="020B0603030804020204" pitchFamily="34" charset="-78"/>
                        <a:cs typeface="Shabnam FD" panose="020B0603030804020204" pitchFamily="34" charset="-78"/>
                      </a:endParaRPr>
                    </a:p>
                  </a:txBody>
                  <a:tcPr anchor="ctr">
                    <a:solidFill>
                      <a:schemeClr val="bg1">
                        <a:lumMod val="95000"/>
                      </a:schemeClr>
                    </a:solidFill>
                  </a:tcPr>
                </a:tc>
                <a:tc rowSpan="3">
                  <a:txBody>
                    <a:bodyPr/>
                    <a:lstStyle/>
                    <a:p>
                      <a:pPr algn="ctr" rtl="1"/>
                      <a:r>
                        <a:rPr lang="fa-IR" sz="900" dirty="0">
                          <a:solidFill>
                            <a:schemeClr val="tx1">
                              <a:lumMod val="50000"/>
                              <a:lumOff val="50000"/>
                            </a:schemeClr>
                          </a:solidFill>
                          <a:latin typeface="Shabnam FD" panose="020B0603030804020204" pitchFamily="34" charset="-78"/>
                          <a:cs typeface="Shabnam FD" panose="020B0603030804020204" pitchFamily="34" charset="-78"/>
                        </a:rPr>
                        <a:t>بدون استفاده </a:t>
                      </a:r>
                      <a:endParaRPr lang="en-US" sz="900" dirty="0">
                        <a:solidFill>
                          <a:schemeClr val="tx1">
                            <a:lumMod val="50000"/>
                            <a:lumOff val="50000"/>
                          </a:schemeClr>
                        </a:solidFill>
                        <a:latin typeface="Shabnam FD" panose="020B0603030804020204" pitchFamily="34" charset="-78"/>
                        <a:cs typeface="Shabnam FD" panose="020B0603030804020204" pitchFamily="34" charset="-78"/>
                      </a:endParaRPr>
                    </a:p>
                  </a:txBody>
                  <a:tcPr anchor="ctr">
                    <a:solidFill>
                      <a:schemeClr val="bg1">
                        <a:lumMod val="95000"/>
                      </a:schemeClr>
                    </a:solidFill>
                  </a:tcPr>
                </a:tc>
                <a:tc>
                  <a:txBody>
                    <a:bodyPr/>
                    <a:lstStyle/>
                    <a:p>
                      <a:pPr algn="justLow" rtl="1"/>
                      <a:r>
                        <a:rPr lang="fa-IR" sz="900" b="0" dirty="0">
                          <a:solidFill>
                            <a:schemeClr val="tx1">
                              <a:lumMod val="50000"/>
                              <a:lumOff val="50000"/>
                            </a:schemeClr>
                          </a:solidFill>
                          <a:latin typeface="Shabnam FD" panose="020B0603030804020204" pitchFamily="34" charset="-78"/>
                          <a:cs typeface="Shabnam FD" panose="020B0603030804020204" pitchFamily="34" charset="-78"/>
                        </a:rPr>
                        <a:t>مدل کسب‌وکار </a:t>
                      </a:r>
                      <a:endParaRPr lang="en-US" sz="900" b="0" dirty="0">
                        <a:solidFill>
                          <a:schemeClr val="tx1">
                            <a:lumMod val="50000"/>
                            <a:lumOff val="50000"/>
                          </a:schemeClr>
                        </a:solidFill>
                        <a:latin typeface="Shabnam FD" panose="020B0603030804020204" pitchFamily="34" charset="-78"/>
                        <a:cs typeface="Shabnam FD" panose="020B0603030804020204" pitchFamily="34" charset="-78"/>
                      </a:endParaRPr>
                    </a:p>
                  </a:txBody>
                  <a:tcPr anchor="ctr">
                    <a:solidFill>
                      <a:schemeClr val="bg1">
                        <a:lumMod val="95000"/>
                      </a:schemeClr>
                    </a:solidFill>
                  </a:tcPr>
                </a:tc>
                <a:extLst>
                  <a:ext uri="{0D108BD9-81ED-4DB2-BD59-A6C34878D82A}">
                    <a16:rowId xmlns:a16="http://schemas.microsoft.com/office/drawing/2014/main" val="2569532759"/>
                  </a:ext>
                </a:extLst>
              </a:tr>
              <a:tr h="222631">
                <a:tc vMerge="1">
                  <a:txBody>
                    <a:bodyPr/>
                    <a:lstStyle/>
                    <a:p>
                      <a:pPr algn="justLow" rtl="1"/>
                      <a:endParaRPr lang="en-US" sz="1000">
                        <a:latin typeface="Shabnam FD" panose="020B0603030804020204" pitchFamily="34" charset="-78"/>
                        <a:cs typeface="Shabnam FD" panose="020B0603030804020204" pitchFamily="34" charset="-78"/>
                      </a:endParaRPr>
                    </a:p>
                  </a:txBody>
                  <a:tcPr anchor="ctr">
                    <a:solidFill>
                      <a:schemeClr val="bg1">
                        <a:lumMod val="95000"/>
                      </a:schemeClr>
                    </a:solidFill>
                  </a:tcPr>
                </a:tc>
                <a:tc vMerge="1">
                  <a:txBody>
                    <a:bodyPr/>
                    <a:lstStyle/>
                    <a:p>
                      <a:pPr algn="r" rtl="1"/>
                      <a:endParaRPr lang="en-US" sz="1000">
                        <a:latin typeface="Shabnam FD" panose="020B0603030804020204" pitchFamily="34" charset="-78"/>
                        <a:cs typeface="Shabnam FD" panose="020B0603030804020204" pitchFamily="34" charset="-78"/>
                      </a:endParaRPr>
                    </a:p>
                  </a:txBody>
                  <a:tcPr anchor="ctr">
                    <a:solidFill>
                      <a:schemeClr val="bg1">
                        <a:lumMod val="95000"/>
                      </a:schemeClr>
                    </a:solidFill>
                  </a:tcPr>
                </a:tc>
                <a:tc>
                  <a:txBody>
                    <a:bodyPr/>
                    <a:lstStyle/>
                    <a:p>
                      <a:pPr algn="justLow" rtl="1"/>
                      <a:r>
                        <a:rPr lang="fa-IR" sz="900" b="0" dirty="0">
                          <a:solidFill>
                            <a:schemeClr val="tx1">
                              <a:lumMod val="50000"/>
                              <a:lumOff val="50000"/>
                            </a:schemeClr>
                          </a:solidFill>
                          <a:latin typeface="Shabnam FD" panose="020B0603030804020204" pitchFamily="34" charset="-78"/>
                          <a:cs typeface="Shabnam FD" panose="020B0603030804020204" pitchFamily="34" charset="-78"/>
                        </a:rPr>
                        <a:t>میزان سرمایه</a:t>
                      </a:r>
                      <a:endParaRPr lang="en-US" sz="900" b="0" dirty="0">
                        <a:solidFill>
                          <a:schemeClr val="tx1">
                            <a:lumMod val="50000"/>
                            <a:lumOff val="50000"/>
                          </a:schemeClr>
                        </a:solidFill>
                        <a:latin typeface="Shabnam FD" panose="020B0603030804020204" pitchFamily="34" charset="-78"/>
                        <a:cs typeface="Shabnam FD" panose="020B0603030804020204" pitchFamily="34" charset="-78"/>
                      </a:endParaRPr>
                    </a:p>
                  </a:txBody>
                  <a:tcPr anchor="ctr">
                    <a:solidFill>
                      <a:schemeClr val="bg1">
                        <a:lumMod val="95000"/>
                      </a:schemeClr>
                    </a:solidFill>
                  </a:tcPr>
                </a:tc>
                <a:extLst>
                  <a:ext uri="{0D108BD9-81ED-4DB2-BD59-A6C34878D82A}">
                    <a16:rowId xmlns:a16="http://schemas.microsoft.com/office/drawing/2014/main" val="2801072318"/>
                  </a:ext>
                </a:extLst>
              </a:tr>
              <a:tr h="222631">
                <a:tc vMerge="1">
                  <a:txBody>
                    <a:bodyPr/>
                    <a:lstStyle/>
                    <a:p>
                      <a:pPr algn="justLow" rtl="1"/>
                      <a:endParaRPr lang="en-US" sz="1000">
                        <a:latin typeface="Shabnam FD" panose="020B0603030804020204" pitchFamily="34" charset="-78"/>
                        <a:cs typeface="Shabnam FD" panose="020B0603030804020204" pitchFamily="34" charset="-78"/>
                      </a:endParaRPr>
                    </a:p>
                  </a:txBody>
                  <a:tcPr anchor="ctr">
                    <a:solidFill>
                      <a:schemeClr val="bg1">
                        <a:lumMod val="95000"/>
                      </a:schemeClr>
                    </a:solidFill>
                  </a:tcPr>
                </a:tc>
                <a:tc vMerge="1">
                  <a:txBody>
                    <a:bodyPr/>
                    <a:lstStyle/>
                    <a:p>
                      <a:pPr algn="r" rtl="1"/>
                      <a:endParaRPr lang="en-US" sz="1000">
                        <a:latin typeface="Shabnam FD" panose="020B0603030804020204" pitchFamily="34" charset="-78"/>
                        <a:cs typeface="Shabnam FD" panose="020B0603030804020204" pitchFamily="34" charset="-78"/>
                      </a:endParaRPr>
                    </a:p>
                  </a:txBody>
                  <a:tcPr anchor="ctr">
                    <a:solidFill>
                      <a:schemeClr val="bg1">
                        <a:lumMod val="95000"/>
                      </a:schemeClr>
                    </a:solidFill>
                  </a:tcPr>
                </a:tc>
                <a:tc>
                  <a:txBody>
                    <a:bodyPr/>
                    <a:lstStyle/>
                    <a:p>
                      <a:pPr algn="justLow" rtl="1"/>
                      <a:r>
                        <a:rPr lang="fa-IR" sz="900" b="0" dirty="0">
                          <a:solidFill>
                            <a:schemeClr val="tx1">
                              <a:lumMod val="50000"/>
                              <a:lumOff val="50000"/>
                            </a:schemeClr>
                          </a:solidFill>
                          <a:latin typeface="Shabnam FD" panose="020B0603030804020204" pitchFamily="34" charset="-78"/>
                          <a:cs typeface="Shabnam FD" panose="020B0603030804020204" pitchFamily="34" charset="-78"/>
                        </a:rPr>
                        <a:t>بلوغ فناوری و تکنولوژی </a:t>
                      </a:r>
                      <a:endParaRPr lang="en-US" sz="900" b="0" dirty="0">
                        <a:solidFill>
                          <a:schemeClr val="tx1">
                            <a:lumMod val="50000"/>
                            <a:lumOff val="50000"/>
                          </a:schemeClr>
                        </a:solidFill>
                        <a:latin typeface="Shabnam FD" panose="020B0603030804020204" pitchFamily="34" charset="-78"/>
                        <a:cs typeface="Shabnam FD" panose="020B0603030804020204" pitchFamily="34" charset="-78"/>
                      </a:endParaRPr>
                    </a:p>
                  </a:txBody>
                  <a:tcPr anchor="ctr">
                    <a:solidFill>
                      <a:schemeClr val="bg1">
                        <a:lumMod val="95000"/>
                      </a:schemeClr>
                    </a:solidFill>
                  </a:tcPr>
                </a:tc>
                <a:extLst>
                  <a:ext uri="{0D108BD9-81ED-4DB2-BD59-A6C34878D82A}">
                    <a16:rowId xmlns:a16="http://schemas.microsoft.com/office/drawing/2014/main" val="2054534221"/>
                  </a:ext>
                </a:extLst>
              </a:tr>
            </a:tbl>
          </a:graphicData>
        </a:graphic>
      </p:graphicFrame>
      <p:sp>
        <p:nvSpPr>
          <p:cNvPr id="6" name="TextBox 5">
            <a:extLst>
              <a:ext uri="{FF2B5EF4-FFF2-40B4-BE49-F238E27FC236}">
                <a16:creationId xmlns:a16="http://schemas.microsoft.com/office/drawing/2014/main" id="{EE55B7A7-8BE8-D7A7-C689-DB14B4E2FC69}"/>
              </a:ext>
            </a:extLst>
          </p:cNvPr>
          <p:cNvSpPr txBox="1"/>
          <p:nvPr/>
        </p:nvSpPr>
        <p:spPr>
          <a:xfrm>
            <a:off x="555625" y="5226085"/>
            <a:ext cx="10688668" cy="577081"/>
          </a:xfrm>
          <a:prstGeom prst="rect">
            <a:avLst/>
          </a:prstGeom>
          <a:noFill/>
        </p:spPr>
        <p:txBody>
          <a:bodyPr wrap="square" rtlCol="0">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050" b="0" i="0" u="none" strike="noStrike" kern="1200" cap="none" spc="0" normalizeH="0" baseline="0" noProof="0" dirty="0">
                <a:ln>
                  <a:noFill/>
                </a:ln>
                <a:solidFill>
                  <a:schemeClr val="tx1">
                    <a:lumMod val="50000"/>
                    <a:lumOff val="50000"/>
                  </a:schemeClr>
                </a:solidFill>
                <a:effectLst/>
                <a:uLnTx/>
                <a:uFillTx/>
                <a:latin typeface="Yekan Bakh" pitchFamily="2" charset="-78"/>
                <a:ea typeface="Yekan Bakh" pitchFamily="2" charset="-78"/>
                <a:cs typeface="Yekan Bakh" pitchFamily="2" charset="-78"/>
              </a:rPr>
              <a:t>«شرکت‌های تولیدی»، «شرکت‌های کوچک و متوسط (</a:t>
            </a:r>
            <a:r>
              <a:rPr kumimoji="0" lang="en-US" sz="1050" b="0" i="0" u="none" strike="noStrike" kern="1200" cap="none" spc="0" normalizeH="0" baseline="0" noProof="0" dirty="0">
                <a:ln>
                  <a:noFill/>
                </a:ln>
                <a:solidFill>
                  <a:schemeClr val="tx1">
                    <a:lumMod val="50000"/>
                    <a:lumOff val="50000"/>
                  </a:schemeClr>
                </a:solidFill>
                <a:effectLst/>
                <a:uLnTx/>
                <a:uFillTx/>
                <a:latin typeface="Yekan Bakh" pitchFamily="2" charset="-78"/>
                <a:ea typeface="Yekan Bakh" pitchFamily="2" charset="-78"/>
                <a:cs typeface="Yekan Bakh" pitchFamily="2" charset="-78"/>
              </a:rPr>
              <a:t>SMEs)»، «</a:t>
            </a:r>
            <a:r>
              <a:rPr kumimoji="0" lang="fa-IR" sz="1050" b="0" i="0" u="none" strike="noStrike" kern="1200" cap="none" spc="0" normalizeH="0" baseline="0" noProof="0" dirty="0">
                <a:ln>
                  <a:noFill/>
                </a:ln>
                <a:solidFill>
                  <a:schemeClr val="tx1">
                    <a:lumMod val="50000"/>
                    <a:lumOff val="50000"/>
                  </a:schemeClr>
                </a:solidFill>
                <a:effectLst/>
                <a:uLnTx/>
                <a:uFillTx/>
                <a:latin typeface="Yekan Bakh" pitchFamily="2" charset="-78"/>
                <a:ea typeface="Yekan Bakh" pitchFamily="2" charset="-78"/>
                <a:cs typeface="Yekan Bakh" pitchFamily="2" charset="-78"/>
              </a:rPr>
              <a:t>شرکت‌های فناوری» و «شرکت‌های دولتی»، در این معماری بخش (</a:t>
            </a:r>
            <a:r>
              <a:rPr kumimoji="0" lang="en-US" sz="1050" b="0" i="0" u="none" strike="noStrike" kern="1200" cap="none" spc="0" normalizeH="0" baseline="0" noProof="0" dirty="0">
                <a:ln>
                  <a:noFill/>
                </a:ln>
                <a:solidFill>
                  <a:schemeClr val="tx1">
                    <a:lumMod val="50000"/>
                    <a:lumOff val="50000"/>
                  </a:schemeClr>
                </a:solidFill>
                <a:effectLst/>
                <a:uLnTx/>
                <a:uFillTx/>
                <a:latin typeface="Yekan Bakh" pitchFamily="2" charset="-78"/>
                <a:ea typeface="Yekan Bakh" pitchFamily="2" charset="-78"/>
                <a:cs typeface="Yekan Bakh" pitchFamily="2" charset="-78"/>
              </a:rPr>
              <a:t>Segment) </a:t>
            </a:r>
            <a:r>
              <a:rPr kumimoji="0" lang="fa-IR" sz="1050" b="0" i="0" u="none" strike="noStrike" kern="1200" cap="none" spc="0" normalizeH="0" baseline="0" noProof="0" dirty="0">
                <a:ln>
                  <a:noFill/>
                </a:ln>
                <a:solidFill>
                  <a:schemeClr val="tx1">
                    <a:lumMod val="50000"/>
                    <a:lumOff val="50000"/>
                  </a:schemeClr>
                </a:solidFill>
                <a:effectLst/>
                <a:uLnTx/>
                <a:uFillTx/>
                <a:latin typeface="Yekan Bakh" pitchFamily="2" charset="-78"/>
                <a:ea typeface="Yekan Bakh" pitchFamily="2" charset="-78"/>
                <a:cs typeface="Yekan Bakh" pitchFamily="2" charset="-78"/>
              </a:rPr>
              <a:t>محسوب نمی‌شوند. هر کدام از این موارد، ویژگی‌هایی هستند که برای احراز صلاحیت و قیمت‌گذاری یک بخش استفاده می‌شوند. ارتقای هر یک از این موارد به وضعیت «بخش»، گروه‌هایی ایجاد می‌کند که نیازمند </a:t>
            </a:r>
            <a:r>
              <a:rPr kumimoji="0" lang="fa-IR" sz="105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توصیفات متفاوت اما دارنده ارزش پیشنهادی یکسان </a:t>
            </a:r>
            <a:r>
              <a:rPr kumimoji="0" lang="fa-IR" sz="105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هستند.</a:t>
            </a:r>
          </a:p>
        </p:txBody>
      </p:sp>
    </p:spTree>
    <p:extLst>
      <p:ext uri="{BB962C8B-B14F-4D97-AF65-F5344CB8AC3E}">
        <p14:creationId xmlns:p14="http://schemas.microsoft.com/office/powerpoint/2010/main" val="333718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0754D2C-3354-3A5E-F494-879E7382E4AD}"/>
              </a:ext>
            </a:extLst>
          </p:cNvPr>
          <p:cNvSpPr>
            <a:spLocks noGrp="1"/>
          </p:cNvSpPr>
          <p:nvPr>
            <p:ph type="body" sz="quarter" idx="10"/>
          </p:nvPr>
        </p:nvSpPr>
        <p:spPr/>
        <p:txBody>
          <a:bodyPr/>
          <a:lstStyle/>
          <a:p>
            <a:r>
              <a:rPr lang="fa-IR" dirty="0"/>
              <a:t>بخش‌های مشتریان شناسایی شده </a:t>
            </a:r>
            <a:endParaRPr lang="en-US" dirty="0"/>
          </a:p>
        </p:txBody>
      </p:sp>
      <p:sp>
        <p:nvSpPr>
          <p:cNvPr id="3" name="Text Placeholder 2">
            <a:extLst>
              <a:ext uri="{FF2B5EF4-FFF2-40B4-BE49-F238E27FC236}">
                <a16:creationId xmlns:a16="http://schemas.microsoft.com/office/drawing/2014/main" id="{28A6FB0D-AA23-35E9-9F71-2DAED38DFAF0}"/>
              </a:ext>
            </a:extLst>
          </p:cNvPr>
          <p:cNvSpPr>
            <a:spLocks noGrp="1"/>
          </p:cNvSpPr>
          <p:nvPr>
            <p:ph type="body" sz="quarter" idx="12"/>
          </p:nvPr>
        </p:nvSpPr>
        <p:spPr/>
        <p:txBody>
          <a:bodyPr/>
          <a:lstStyle/>
          <a:p>
            <a:r>
              <a:rPr lang="fa-IR" dirty="0"/>
              <a:t>بر اساس تحلیل اولیه، در هر یک از سه بعد، 32 پروفایل مشتری استخراج می‌شود، که بعد از حذف همپوشانی‌ها به شش پرسونای منحصربفرد از مشتریان می‌رسیم</a:t>
            </a:r>
          </a:p>
        </p:txBody>
      </p:sp>
      <p:sp>
        <p:nvSpPr>
          <p:cNvPr id="39" name="Rectangle 38">
            <a:extLst>
              <a:ext uri="{FF2B5EF4-FFF2-40B4-BE49-F238E27FC236}">
                <a16:creationId xmlns:a16="http://schemas.microsoft.com/office/drawing/2014/main" id="{D70E8F0C-E2AD-5E54-7E21-947F824992A1}"/>
              </a:ext>
            </a:extLst>
          </p:cNvPr>
          <p:cNvSpPr/>
          <p:nvPr/>
        </p:nvSpPr>
        <p:spPr>
          <a:xfrm>
            <a:off x="6154269" y="1624638"/>
            <a:ext cx="4994279" cy="4241313"/>
          </a:xfrm>
          <a:prstGeom prst="rect">
            <a:avLst/>
          </a:prstGeom>
          <a:solidFill>
            <a:schemeClr val="bg1">
              <a:lumMod val="95000"/>
              <a:alpha val="2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sp>
        <p:nvSpPr>
          <p:cNvPr id="4" name="Isosceles Triangle 3">
            <a:extLst>
              <a:ext uri="{FF2B5EF4-FFF2-40B4-BE49-F238E27FC236}">
                <a16:creationId xmlns:a16="http://schemas.microsoft.com/office/drawing/2014/main" id="{4CDE8315-B730-6789-559F-1675E00352AF}"/>
              </a:ext>
            </a:extLst>
          </p:cNvPr>
          <p:cNvSpPr/>
          <p:nvPr/>
        </p:nvSpPr>
        <p:spPr>
          <a:xfrm>
            <a:off x="7410759" y="2031463"/>
            <a:ext cx="2435269" cy="2099371"/>
          </a:xfrm>
          <a:prstGeom prst="triangle">
            <a:avLst/>
          </a:prstGeom>
          <a:solidFill>
            <a:schemeClr val="accent2">
              <a:lumMod val="20000"/>
              <a:lumOff val="80000"/>
            </a:schemeClr>
          </a:solidFill>
          <a:ln>
            <a:solidFill>
              <a:srgbClr val="F0BE0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sp>
        <p:nvSpPr>
          <p:cNvPr id="6" name="TextBox 5">
            <a:extLst>
              <a:ext uri="{FF2B5EF4-FFF2-40B4-BE49-F238E27FC236}">
                <a16:creationId xmlns:a16="http://schemas.microsoft.com/office/drawing/2014/main" id="{69575C87-5F8D-C950-0F0E-C2868FE56980}"/>
              </a:ext>
            </a:extLst>
          </p:cNvPr>
          <p:cNvSpPr txBox="1"/>
          <p:nvPr/>
        </p:nvSpPr>
        <p:spPr>
          <a:xfrm>
            <a:off x="9351667" y="2667298"/>
            <a:ext cx="751682" cy="307777"/>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Why</a:t>
            </a:r>
          </a:p>
        </p:txBody>
      </p:sp>
      <p:sp>
        <p:nvSpPr>
          <p:cNvPr id="8" name="TextBox 7">
            <a:extLst>
              <a:ext uri="{FF2B5EF4-FFF2-40B4-BE49-F238E27FC236}">
                <a16:creationId xmlns:a16="http://schemas.microsoft.com/office/drawing/2014/main" id="{A6EE9A04-F1D3-7172-03A0-B6AC13D1C81D}"/>
              </a:ext>
            </a:extLst>
          </p:cNvPr>
          <p:cNvSpPr txBox="1"/>
          <p:nvPr/>
        </p:nvSpPr>
        <p:spPr>
          <a:xfrm>
            <a:off x="7044554" y="2652898"/>
            <a:ext cx="751682" cy="307777"/>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How</a:t>
            </a:r>
          </a:p>
        </p:txBody>
      </p:sp>
      <p:sp>
        <p:nvSpPr>
          <p:cNvPr id="9" name="TextBox 8">
            <a:extLst>
              <a:ext uri="{FF2B5EF4-FFF2-40B4-BE49-F238E27FC236}">
                <a16:creationId xmlns:a16="http://schemas.microsoft.com/office/drawing/2014/main" id="{47456ADD-DFF9-A263-C9FF-05A975887C02}"/>
              </a:ext>
            </a:extLst>
          </p:cNvPr>
          <p:cNvSpPr txBox="1"/>
          <p:nvPr/>
        </p:nvSpPr>
        <p:spPr>
          <a:xfrm>
            <a:off x="8256607" y="4156043"/>
            <a:ext cx="751682" cy="307777"/>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Who</a:t>
            </a:r>
          </a:p>
        </p:txBody>
      </p:sp>
      <p:sp>
        <p:nvSpPr>
          <p:cNvPr id="11" name="TextBox 10">
            <a:extLst>
              <a:ext uri="{FF2B5EF4-FFF2-40B4-BE49-F238E27FC236}">
                <a16:creationId xmlns:a16="http://schemas.microsoft.com/office/drawing/2014/main" id="{CDFF5E85-9552-7F5A-1BC2-DA63B7B36F11}"/>
              </a:ext>
            </a:extLst>
          </p:cNvPr>
          <p:cNvSpPr txBox="1"/>
          <p:nvPr/>
        </p:nvSpPr>
        <p:spPr>
          <a:xfrm>
            <a:off x="9351667" y="2916208"/>
            <a:ext cx="1149020" cy="338554"/>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600" b="1"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نیاز مشتری</a:t>
            </a:r>
            <a:endParaRPr kumimoji="0" lang="en-US" sz="1600" b="1"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12" name="TextBox 11">
            <a:extLst>
              <a:ext uri="{FF2B5EF4-FFF2-40B4-BE49-F238E27FC236}">
                <a16:creationId xmlns:a16="http://schemas.microsoft.com/office/drawing/2014/main" id="{AAD4E2E6-5951-DC42-B7AC-38FE35EAA6D6}"/>
              </a:ext>
            </a:extLst>
          </p:cNvPr>
          <p:cNvSpPr txBox="1"/>
          <p:nvPr/>
        </p:nvSpPr>
        <p:spPr>
          <a:xfrm>
            <a:off x="6544087" y="2910748"/>
            <a:ext cx="1252149" cy="338554"/>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600" b="1"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رفتار مشتری</a:t>
            </a:r>
            <a:endParaRPr kumimoji="0" lang="en-US" sz="1600" b="1"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13" name="TextBox 12">
            <a:extLst>
              <a:ext uri="{FF2B5EF4-FFF2-40B4-BE49-F238E27FC236}">
                <a16:creationId xmlns:a16="http://schemas.microsoft.com/office/drawing/2014/main" id="{DF07DECD-31D6-E1CF-D737-26510BAF69D8}"/>
              </a:ext>
            </a:extLst>
          </p:cNvPr>
          <p:cNvSpPr txBox="1"/>
          <p:nvPr/>
        </p:nvSpPr>
        <p:spPr>
          <a:xfrm>
            <a:off x="7792922" y="4388683"/>
            <a:ext cx="1679052" cy="338554"/>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600" b="1"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ویژگی‌های شرکت</a:t>
            </a:r>
            <a:endParaRPr kumimoji="0" lang="en-US" sz="1600" b="1"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15" name="TextBox 14">
            <a:extLst>
              <a:ext uri="{FF2B5EF4-FFF2-40B4-BE49-F238E27FC236}">
                <a16:creationId xmlns:a16="http://schemas.microsoft.com/office/drawing/2014/main" id="{05FD250E-D597-1A80-28C8-1A9B7885D424}"/>
              </a:ext>
            </a:extLst>
          </p:cNvPr>
          <p:cNvSpPr txBox="1"/>
          <p:nvPr/>
        </p:nvSpPr>
        <p:spPr>
          <a:xfrm>
            <a:off x="9351667" y="3210732"/>
            <a:ext cx="1852116" cy="461665"/>
          </a:xfrm>
          <a:prstGeom prst="rect">
            <a:avLst/>
          </a:prstGeom>
          <a:noFill/>
        </p:spPr>
        <p:txBody>
          <a:bodyPr wrap="square">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2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مشتری دقیقاً برای حل چه مسئله‌ای سراغ ما می‌آید؟</a:t>
            </a:r>
            <a:endParaRPr kumimoji="0" lang="en-US" sz="12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16" name="TextBox 15">
            <a:extLst>
              <a:ext uri="{FF2B5EF4-FFF2-40B4-BE49-F238E27FC236}">
                <a16:creationId xmlns:a16="http://schemas.microsoft.com/office/drawing/2014/main" id="{E993E355-1585-65B7-8AC7-B95921B3D922}"/>
              </a:ext>
            </a:extLst>
          </p:cNvPr>
          <p:cNvSpPr txBox="1"/>
          <p:nvPr/>
        </p:nvSpPr>
        <p:spPr>
          <a:xfrm>
            <a:off x="8051206" y="3114055"/>
            <a:ext cx="1149020" cy="584775"/>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بخش‌بندی مشتریان</a:t>
            </a:r>
            <a:endParaRPr kumimoji="0" lang="en-US" sz="1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p:txBody>
      </p:sp>
      <p:sp>
        <p:nvSpPr>
          <p:cNvPr id="17" name="TextBox 16">
            <a:extLst>
              <a:ext uri="{FF2B5EF4-FFF2-40B4-BE49-F238E27FC236}">
                <a16:creationId xmlns:a16="http://schemas.microsoft.com/office/drawing/2014/main" id="{9DE198EF-5F4A-675C-BFBB-32066A324DE8}"/>
              </a:ext>
            </a:extLst>
          </p:cNvPr>
          <p:cNvSpPr txBox="1"/>
          <p:nvPr/>
        </p:nvSpPr>
        <p:spPr>
          <a:xfrm>
            <a:off x="6752525" y="4664921"/>
            <a:ext cx="3759846" cy="276999"/>
          </a:xfrm>
          <a:prstGeom prst="rect">
            <a:avLst/>
          </a:prstGeom>
          <a:noFill/>
        </p:spPr>
        <p:txBody>
          <a:bodyPr wrap="square">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2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مشتری از نظر مشخصات سازمانی چه ویژگی‌هایی دارد؟</a:t>
            </a:r>
            <a:endParaRPr kumimoji="0" lang="en-US" sz="12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18" name="TextBox 17">
            <a:extLst>
              <a:ext uri="{FF2B5EF4-FFF2-40B4-BE49-F238E27FC236}">
                <a16:creationId xmlns:a16="http://schemas.microsoft.com/office/drawing/2014/main" id="{D40BF1BE-F5A2-7F26-F382-EDEF08E03839}"/>
              </a:ext>
            </a:extLst>
          </p:cNvPr>
          <p:cNvSpPr txBox="1"/>
          <p:nvPr/>
        </p:nvSpPr>
        <p:spPr>
          <a:xfrm>
            <a:off x="6084242" y="3217082"/>
            <a:ext cx="1711994" cy="461665"/>
          </a:xfrm>
          <a:prstGeom prst="rect">
            <a:avLst/>
          </a:prstGeom>
          <a:noFill/>
        </p:spPr>
        <p:txBody>
          <a:bodyPr wrap="square">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2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مشتری در عمل چطور خرید و تعامل می‌کند؟</a:t>
            </a:r>
            <a:endParaRPr kumimoji="0" lang="en-US" sz="12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24" name="TextBox 23">
            <a:extLst>
              <a:ext uri="{FF2B5EF4-FFF2-40B4-BE49-F238E27FC236}">
                <a16:creationId xmlns:a16="http://schemas.microsoft.com/office/drawing/2014/main" id="{A6ED5144-D5B6-7D54-DACF-835EAABCB8F9}"/>
              </a:ext>
            </a:extLst>
          </p:cNvPr>
          <p:cNvSpPr txBox="1"/>
          <p:nvPr/>
        </p:nvSpPr>
        <p:spPr>
          <a:xfrm>
            <a:off x="6146449" y="1671502"/>
            <a:ext cx="5006975" cy="261610"/>
          </a:xfrm>
          <a:prstGeom prst="rect">
            <a:avLst/>
          </a:prstGeom>
          <a:noFill/>
        </p:spPr>
        <p:txBody>
          <a:bodyPr wrap="square">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05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نتایج فاکتورهای تاثیرگذار در هر بعد: </a:t>
            </a:r>
            <a:endParaRPr kumimoji="0" lang="en-US" sz="105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7" name="Isosceles Triangle 6">
            <a:extLst>
              <a:ext uri="{FF2B5EF4-FFF2-40B4-BE49-F238E27FC236}">
                <a16:creationId xmlns:a16="http://schemas.microsoft.com/office/drawing/2014/main" id="{7C61C827-E438-450C-9CB5-4BBCE651827E}"/>
              </a:ext>
            </a:extLst>
          </p:cNvPr>
          <p:cNvSpPr/>
          <p:nvPr/>
        </p:nvSpPr>
        <p:spPr>
          <a:xfrm rot="16200000">
            <a:off x="4114790" y="3644717"/>
            <a:ext cx="3667126" cy="201155"/>
          </a:xfrm>
          <a:prstGeom prst="triangl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Yekan Bakh" pitchFamily="2" charset="-78"/>
              <a:ea typeface="Yekan Bakh" pitchFamily="2" charset="-78"/>
              <a:cs typeface="Yekan Bakh" pitchFamily="2" charset="-78"/>
            </a:endParaRPr>
          </a:p>
        </p:txBody>
      </p:sp>
      <p:grpSp>
        <p:nvGrpSpPr>
          <p:cNvPr id="28" name="Group 27">
            <a:extLst>
              <a:ext uri="{FF2B5EF4-FFF2-40B4-BE49-F238E27FC236}">
                <a16:creationId xmlns:a16="http://schemas.microsoft.com/office/drawing/2014/main" id="{5CBF77DB-D91C-9183-0973-A0023FE31782}"/>
              </a:ext>
            </a:extLst>
          </p:cNvPr>
          <p:cNvGrpSpPr/>
          <p:nvPr/>
        </p:nvGrpSpPr>
        <p:grpSpPr>
          <a:xfrm>
            <a:off x="912032" y="1624638"/>
            <a:ext cx="4745383" cy="4068857"/>
            <a:chOff x="922986" y="1363028"/>
            <a:chExt cx="4292958" cy="4259494"/>
          </a:xfrm>
        </p:grpSpPr>
        <p:cxnSp>
          <p:nvCxnSpPr>
            <p:cNvPr id="14" name="Straight Arrow Connector 13">
              <a:extLst>
                <a:ext uri="{FF2B5EF4-FFF2-40B4-BE49-F238E27FC236}">
                  <a16:creationId xmlns:a16="http://schemas.microsoft.com/office/drawing/2014/main" id="{F1D8E8D6-F2B9-A0A9-D700-54346C3CD639}"/>
                </a:ext>
              </a:extLst>
            </p:cNvPr>
            <p:cNvCxnSpPr/>
            <p:nvPr/>
          </p:nvCxnSpPr>
          <p:spPr>
            <a:xfrm>
              <a:off x="922986" y="5470122"/>
              <a:ext cx="4292958" cy="0"/>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22" name="Straight Arrow Connector 21">
              <a:extLst>
                <a:ext uri="{FF2B5EF4-FFF2-40B4-BE49-F238E27FC236}">
                  <a16:creationId xmlns:a16="http://schemas.microsoft.com/office/drawing/2014/main" id="{1260641A-34C1-62EC-57FA-8A59C94DC1D6}"/>
                </a:ext>
              </a:extLst>
            </p:cNvPr>
            <p:cNvCxnSpPr>
              <a:cxnSpLocks/>
            </p:cNvCxnSpPr>
            <p:nvPr/>
          </p:nvCxnSpPr>
          <p:spPr>
            <a:xfrm flipV="1">
              <a:off x="1075386" y="1363028"/>
              <a:ext cx="0" cy="4259494"/>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grpSp>
      <p:cxnSp>
        <p:nvCxnSpPr>
          <p:cNvPr id="36" name="Straight Connector 35">
            <a:extLst>
              <a:ext uri="{FF2B5EF4-FFF2-40B4-BE49-F238E27FC236}">
                <a16:creationId xmlns:a16="http://schemas.microsoft.com/office/drawing/2014/main" id="{6F6E4973-3CFC-6736-80C9-0C1463F59B43}"/>
              </a:ext>
            </a:extLst>
          </p:cNvPr>
          <p:cNvCxnSpPr>
            <a:cxnSpLocks/>
          </p:cNvCxnSpPr>
          <p:nvPr/>
        </p:nvCxnSpPr>
        <p:spPr>
          <a:xfrm flipH="1">
            <a:off x="2215229" y="1700012"/>
            <a:ext cx="0" cy="3840480"/>
          </a:xfrm>
          <a:prstGeom prst="line">
            <a:avLst/>
          </a:prstGeom>
          <a:ln>
            <a:solidFill>
              <a:schemeClr val="bg1">
                <a:lumMod val="85000"/>
              </a:schemeClr>
            </a:solidFill>
          </a:ln>
        </p:spPr>
        <p:style>
          <a:lnRef idx="1">
            <a:schemeClr val="accent3"/>
          </a:lnRef>
          <a:fillRef idx="0">
            <a:schemeClr val="accent3"/>
          </a:fillRef>
          <a:effectRef idx="0">
            <a:schemeClr val="accent3"/>
          </a:effectRef>
          <a:fontRef idx="minor">
            <a:schemeClr val="tx1"/>
          </a:fontRef>
        </p:style>
      </p:cxnSp>
      <p:cxnSp>
        <p:nvCxnSpPr>
          <p:cNvPr id="37" name="Straight Connector 36">
            <a:extLst>
              <a:ext uri="{FF2B5EF4-FFF2-40B4-BE49-F238E27FC236}">
                <a16:creationId xmlns:a16="http://schemas.microsoft.com/office/drawing/2014/main" id="{A36E4B20-000B-51A1-B63D-CB020287AB91}"/>
              </a:ext>
            </a:extLst>
          </p:cNvPr>
          <p:cNvCxnSpPr>
            <a:cxnSpLocks/>
          </p:cNvCxnSpPr>
          <p:nvPr/>
        </p:nvCxnSpPr>
        <p:spPr>
          <a:xfrm flipH="1">
            <a:off x="3337045" y="1700012"/>
            <a:ext cx="0" cy="3840480"/>
          </a:xfrm>
          <a:prstGeom prst="line">
            <a:avLst/>
          </a:prstGeom>
          <a:ln>
            <a:solidFill>
              <a:schemeClr val="bg1">
                <a:lumMod val="85000"/>
              </a:schemeClr>
            </a:solidFill>
          </a:ln>
        </p:spPr>
        <p:style>
          <a:lnRef idx="1">
            <a:schemeClr val="accent3"/>
          </a:lnRef>
          <a:fillRef idx="0">
            <a:schemeClr val="accent3"/>
          </a:fillRef>
          <a:effectRef idx="0">
            <a:schemeClr val="accent3"/>
          </a:effectRef>
          <a:fontRef idx="minor">
            <a:schemeClr val="tx1"/>
          </a:fontRef>
        </p:style>
      </p:cxnSp>
      <p:cxnSp>
        <p:nvCxnSpPr>
          <p:cNvPr id="38" name="Straight Connector 37">
            <a:extLst>
              <a:ext uri="{FF2B5EF4-FFF2-40B4-BE49-F238E27FC236}">
                <a16:creationId xmlns:a16="http://schemas.microsoft.com/office/drawing/2014/main" id="{C0B6316F-C8DB-94B9-E329-7A43BCDAC60F}"/>
              </a:ext>
            </a:extLst>
          </p:cNvPr>
          <p:cNvCxnSpPr>
            <a:cxnSpLocks/>
          </p:cNvCxnSpPr>
          <p:nvPr/>
        </p:nvCxnSpPr>
        <p:spPr>
          <a:xfrm flipH="1">
            <a:off x="4440650" y="1700012"/>
            <a:ext cx="0" cy="3840480"/>
          </a:xfrm>
          <a:prstGeom prst="line">
            <a:avLst/>
          </a:prstGeom>
          <a:ln>
            <a:solidFill>
              <a:schemeClr val="bg1">
                <a:lumMod val="85000"/>
              </a:schemeClr>
            </a:solidFill>
          </a:ln>
        </p:spPr>
        <p:style>
          <a:lnRef idx="1">
            <a:schemeClr val="accent3"/>
          </a:lnRef>
          <a:fillRef idx="0">
            <a:schemeClr val="accent3"/>
          </a:fillRef>
          <a:effectRef idx="0">
            <a:schemeClr val="accent3"/>
          </a:effectRef>
          <a:fontRef idx="minor">
            <a:schemeClr val="tx1"/>
          </a:fontRef>
        </p:style>
      </p:cxnSp>
      <p:cxnSp>
        <p:nvCxnSpPr>
          <p:cNvPr id="43" name="Straight Connector 42">
            <a:extLst>
              <a:ext uri="{FF2B5EF4-FFF2-40B4-BE49-F238E27FC236}">
                <a16:creationId xmlns:a16="http://schemas.microsoft.com/office/drawing/2014/main" id="{BB68813A-78C0-CE1A-1AE0-D172E307FAB4}"/>
              </a:ext>
            </a:extLst>
          </p:cNvPr>
          <p:cNvCxnSpPr>
            <a:cxnSpLocks/>
          </p:cNvCxnSpPr>
          <p:nvPr/>
        </p:nvCxnSpPr>
        <p:spPr>
          <a:xfrm flipH="1">
            <a:off x="1091298" y="4596903"/>
            <a:ext cx="4480560" cy="0"/>
          </a:xfrm>
          <a:prstGeom prst="line">
            <a:avLst/>
          </a:prstGeom>
          <a:ln>
            <a:solidFill>
              <a:schemeClr val="bg1">
                <a:lumMod val="85000"/>
              </a:schemeClr>
            </a:solidFill>
          </a:ln>
        </p:spPr>
        <p:style>
          <a:lnRef idx="1">
            <a:schemeClr val="accent3"/>
          </a:lnRef>
          <a:fillRef idx="0">
            <a:schemeClr val="accent3"/>
          </a:fillRef>
          <a:effectRef idx="0">
            <a:schemeClr val="accent3"/>
          </a:effectRef>
          <a:fontRef idx="minor">
            <a:schemeClr val="tx1"/>
          </a:fontRef>
        </p:style>
      </p:cxnSp>
      <p:cxnSp>
        <p:nvCxnSpPr>
          <p:cNvPr id="44" name="Straight Connector 43">
            <a:extLst>
              <a:ext uri="{FF2B5EF4-FFF2-40B4-BE49-F238E27FC236}">
                <a16:creationId xmlns:a16="http://schemas.microsoft.com/office/drawing/2014/main" id="{5DDAF257-6ED9-EB5B-CE74-DD1BB1A71E4E}"/>
              </a:ext>
            </a:extLst>
          </p:cNvPr>
          <p:cNvCxnSpPr>
            <a:cxnSpLocks/>
          </p:cNvCxnSpPr>
          <p:nvPr/>
        </p:nvCxnSpPr>
        <p:spPr>
          <a:xfrm flipH="1">
            <a:off x="1102104" y="3608237"/>
            <a:ext cx="4480560" cy="0"/>
          </a:xfrm>
          <a:prstGeom prst="line">
            <a:avLst/>
          </a:prstGeom>
          <a:ln>
            <a:solidFill>
              <a:schemeClr val="bg1">
                <a:lumMod val="85000"/>
              </a:schemeClr>
            </a:solidFill>
          </a:ln>
        </p:spPr>
        <p:style>
          <a:lnRef idx="1">
            <a:schemeClr val="accent3"/>
          </a:lnRef>
          <a:fillRef idx="0">
            <a:schemeClr val="accent3"/>
          </a:fillRef>
          <a:effectRef idx="0">
            <a:schemeClr val="accent3"/>
          </a:effectRef>
          <a:fontRef idx="minor">
            <a:schemeClr val="tx1"/>
          </a:fontRef>
        </p:style>
      </p:cxnSp>
      <p:cxnSp>
        <p:nvCxnSpPr>
          <p:cNvPr id="45" name="Straight Connector 44">
            <a:extLst>
              <a:ext uri="{FF2B5EF4-FFF2-40B4-BE49-F238E27FC236}">
                <a16:creationId xmlns:a16="http://schemas.microsoft.com/office/drawing/2014/main" id="{26CF50D0-8113-96B7-FD9A-64CE61329907}"/>
              </a:ext>
            </a:extLst>
          </p:cNvPr>
          <p:cNvCxnSpPr>
            <a:cxnSpLocks/>
          </p:cNvCxnSpPr>
          <p:nvPr/>
        </p:nvCxnSpPr>
        <p:spPr>
          <a:xfrm flipH="1">
            <a:off x="1112910" y="2649622"/>
            <a:ext cx="4480560" cy="0"/>
          </a:xfrm>
          <a:prstGeom prst="line">
            <a:avLst/>
          </a:prstGeom>
          <a:ln>
            <a:solidFill>
              <a:schemeClr val="bg1">
                <a:lumMod val="85000"/>
              </a:schemeClr>
            </a:solidFill>
          </a:ln>
        </p:spPr>
        <p:style>
          <a:lnRef idx="1">
            <a:schemeClr val="accent3"/>
          </a:lnRef>
          <a:fillRef idx="0">
            <a:schemeClr val="accent3"/>
          </a:fillRef>
          <a:effectRef idx="0">
            <a:schemeClr val="accent3"/>
          </a:effectRef>
          <a:fontRef idx="minor">
            <a:schemeClr val="tx1"/>
          </a:fontRef>
        </p:style>
      </p:cxnSp>
      <p:sp>
        <p:nvSpPr>
          <p:cNvPr id="47" name="TextBox 46">
            <a:extLst>
              <a:ext uri="{FF2B5EF4-FFF2-40B4-BE49-F238E27FC236}">
                <a16:creationId xmlns:a16="http://schemas.microsoft.com/office/drawing/2014/main" id="{8E857315-EBF0-F658-7B71-B8A480FA5F4F}"/>
              </a:ext>
            </a:extLst>
          </p:cNvPr>
          <p:cNvSpPr txBox="1"/>
          <p:nvPr/>
        </p:nvSpPr>
        <p:spPr>
          <a:xfrm rot="16200000">
            <a:off x="-200007" y="4481487"/>
            <a:ext cx="1688318" cy="230832"/>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a:ln>
                  <a:noFill/>
                </a:ln>
                <a:solidFill>
                  <a:schemeClr val="tx1">
                    <a:lumMod val="50000"/>
                    <a:lumOff val="50000"/>
                  </a:schemeClr>
                </a:solidFill>
                <a:effectLst/>
                <a:uLnTx/>
                <a:uFillTx/>
                <a:latin typeface="Yekan Bakh" pitchFamily="2" charset="-78"/>
                <a:ea typeface="Yekan Bakh" pitchFamily="2" charset="-78"/>
                <a:cs typeface="Yekan Bakh" pitchFamily="2" charset="-78"/>
              </a:rPr>
              <a:t>فوریت استراتژیک و قابلیت </a:t>
            </a:r>
          </a:p>
        </p:txBody>
      </p:sp>
      <p:sp>
        <p:nvSpPr>
          <p:cNvPr id="48" name="TextBox 47">
            <a:extLst>
              <a:ext uri="{FF2B5EF4-FFF2-40B4-BE49-F238E27FC236}">
                <a16:creationId xmlns:a16="http://schemas.microsoft.com/office/drawing/2014/main" id="{F6277EF2-A0F9-5069-E180-2C4D94F581DD}"/>
              </a:ext>
            </a:extLst>
          </p:cNvPr>
          <p:cNvSpPr txBox="1"/>
          <p:nvPr/>
        </p:nvSpPr>
        <p:spPr>
          <a:xfrm>
            <a:off x="654781" y="4016438"/>
            <a:ext cx="514501" cy="230832"/>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900" b="1" i="0" u="none" strike="noStrike" kern="1200" cap="none" spc="0" normalizeH="0" baseline="0" noProof="0">
                <a:ln>
                  <a:noFill/>
                </a:ln>
                <a:solidFill>
                  <a:schemeClr val="tx1">
                    <a:lumMod val="50000"/>
                    <a:lumOff val="50000"/>
                  </a:schemeClr>
                </a:solidFill>
                <a:effectLst/>
                <a:uLnTx/>
                <a:uFillTx/>
                <a:latin typeface="Yekan Bakh" pitchFamily="2" charset="-78"/>
                <a:ea typeface="Yekan Bakh" pitchFamily="2" charset="-78"/>
                <a:cs typeface="Yekan Bakh" pitchFamily="2" charset="-78"/>
              </a:rPr>
              <a:t>دارد</a:t>
            </a:r>
          </a:p>
        </p:txBody>
      </p:sp>
      <p:sp>
        <p:nvSpPr>
          <p:cNvPr id="49" name="TextBox 48">
            <a:extLst>
              <a:ext uri="{FF2B5EF4-FFF2-40B4-BE49-F238E27FC236}">
                <a16:creationId xmlns:a16="http://schemas.microsoft.com/office/drawing/2014/main" id="{27E7E032-4800-2A2B-2B9B-308B21968C7E}"/>
              </a:ext>
            </a:extLst>
          </p:cNvPr>
          <p:cNvSpPr txBox="1"/>
          <p:nvPr/>
        </p:nvSpPr>
        <p:spPr>
          <a:xfrm>
            <a:off x="654781" y="4926533"/>
            <a:ext cx="514501" cy="230832"/>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900" b="1" i="0" u="none" strike="noStrike" kern="1200" cap="none" spc="0" normalizeH="0" baseline="0" noProof="0">
                <a:ln>
                  <a:noFill/>
                </a:ln>
                <a:solidFill>
                  <a:schemeClr val="tx1">
                    <a:lumMod val="50000"/>
                    <a:lumOff val="50000"/>
                  </a:schemeClr>
                </a:solidFill>
                <a:effectLst/>
                <a:uLnTx/>
                <a:uFillTx/>
                <a:latin typeface="Yekan Bakh" pitchFamily="2" charset="-78"/>
                <a:ea typeface="Yekan Bakh" pitchFamily="2" charset="-78"/>
                <a:cs typeface="Yekan Bakh" pitchFamily="2" charset="-78"/>
              </a:rPr>
              <a:t>ندارد</a:t>
            </a:r>
          </a:p>
        </p:txBody>
      </p:sp>
      <p:sp>
        <p:nvSpPr>
          <p:cNvPr id="50" name="TextBox 49">
            <a:extLst>
              <a:ext uri="{FF2B5EF4-FFF2-40B4-BE49-F238E27FC236}">
                <a16:creationId xmlns:a16="http://schemas.microsoft.com/office/drawing/2014/main" id="{71395735-A696-447F-D553-00A6EBDED6E6}"/>
              </a:ext>
            </a:extLst>
          </p:cNvPr>
          <p:cNvSpPr txBox="1"/>
          <p:nvPr/>
        </p:nvSpPr>
        <p:spPr>
          <a:xfrm rot="16200000">
            <a:off x="-195375" y="2585385"/>
            <a:ext cx="1688318" cy="230832"/>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900" b="1" i="0" u="none" strike="noStrike" kern="1200" cap="none" spc="0" normalizeH="0" baseline="0" noProof="0" dirty="0">
                <a:ln>
                  <a:noFill/>
                </a:ln>
                <a:solidFill>
                  <a:schemeClr val="tx1">
                    <a:lumMod val="50000"/>
                    <a:lumOff val="50000"/>
                  </a:schemeClr>
                </a:solidFill>
                <a:effectLst/>
                <a:uLnTx/>
                <a:uFillTx/>
                <a:latin typeface="Yekan Bakh" pitchFamily="2" charset="-78"/>
                <a:ea typeface="Yekan Bakh" pitchFamily="2" charset="-78"/>
                <a:cs typeface="Yekan Bakh" pitchFamily="2" charset="-78"/>
              </a:rPr>
              <a:t>تمایل به اشتراک‌گذاری کنترل</a:t>
            </a:r>
          </a:p>
        </p:txBody>
      </p:sp>
      <p:sp>
        <p:nvSpPr>
          <p:cNvPr id="51" name="TextBox 50">
            <a:extLst>
              <a:ext uri="{FF2B5EF4-FFF2-40B4-BE49-F238E27FC236}">
                <a16:creationId xmlns:a16="http://schemas.microsoft.com/office/drawing/2014/main" id="{1BEA62D0-D556-931C-F348-21508C460BEA}"/>
              </a:ext>
            </a:extLst>
          </p:cNvPr>
          <p:cNvSpPr txBox="1"/>
          <p:nvPr/>
        </p:nvSpPr>
        <p:spPr>
          <a:xfrm>
            <a:off x="659413" y="2120336"/>
            <a:ext cx="514501" cy="230832"/>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900" b="1" i="0" u="none" strike="noStrike" kern="1200" cap="none" spc="0" normalizeH="0" baseline="0" noProof="0">
                <a:ln>
                  <a:noFill/>
                </a:ln>
                <a:solidFill>
                  <a:schemeClr val="tx1">
                    <a:lumMod val="50000"/>
                    <a:lumOff val="50000"/>
                  </a:schemeClr>
                </a:solidFill>
                <a:effectLst/>
                <a:uLnTx/>
                <a:uFillTx/>
                <a:latin typeface="Yekan Bakh" pitchFamily="2" charset="-78"/>
                <a:ea typeface="Yekan Bakh" pitchFamily="2" charset="-78"/>
                <a:cs typeface="Yekan Bakh" pitchFamily="2" charset="-78"/>
              </a:rPr>
              <a:t>دارد</a:t>
            </a:r>
          </a:p>
        </p:txBody>
      </p:sp>
      <p:sp>
        <p:nvSpPr>
          <p:cNvPr id="52" name="TextBox 51">
            <a:extLst>
              <a:ext uri="{FF2B5EF4-FFF2-40B4-BE49-F238E27FC236}">
                <a16:creationId xmlns:a16="http://schemas.microsoft.com/office/drawing/2014/main" id="{8B75F852-937F-9713-B789-52C52AD2B4A9}"/>
              </a:ext>
            </a:extLst>
          </p:cNvPr>
          <p:cNvSpPr txBox="1"/>
          <p:nvPr/>
        </p:nvSpPr>
        <p:spPr>
          <a:xfrm>
            <a:off x="659413" y="3030431"/>
            <a:ext cx="514501" cy="230832"/>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900" b="1" i="0" u="none" strike="noStrike" kern="1200" cap="none" spc="0" normalizeH="0" baseline="0" noProof="0">
                <a:ln>
                  <a:noFill/>
                </a:ln>
                <a:solidFill>
                  <a:schemeClr val="tx1">
                    <a:lumMod val="50000"/>
                    <a:lumOff val="50000"/>
                  </a:schemeClr>
                </a:solidFill>
                <a:effectLst/>
                <a:uLnTx/>
                <a:uFillTx/>
                <a:latin typeface="Yekan Bakh" pitchFamily="2" charset="-78"/>
                <a:ea typeface="Yekan Bakh" pitchFamily="2" charset="-78"/>
                <a:cs typeface="Yekan Bakh" pitchFamily="2" charset="-78"/>
              </a:rPr>
              <a:t>ندارد</a:t>
            </a:r>
          </a:p>
        </p:txBody>
      </p:sp>
      <p:sp>
        <p:nvSpPr>
          <p:cNvPr id="31" name="TextBox 30">
            <a:extLst>
              <a:ext uri="{FF2B5EF4-FFF2-40B4-BE49-F238E27FC236}">
                <a16:creationId xmlns:a16="http://schemas.microsoft.com/office/drawing/2014/main" id="{3BB1666D-008E-793A-B8B1-028116C4AF8F}"/>
              </a:ext>
            </a:extLst>
          </p:cNvPr>
          <p:cNvSpPr txBox="1"/>
          <p:nvPr/>
        </p:nvSpPr>
        <p:spPr>
          <a:xfrm>
            <a:off x="1225720" y="5547916"/>
            <a:ext cx="854298" cy="369332"/>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900" b="1" i="0" u="none" strike="noStrike" kern="1200" cap="none" spc="0" normalizeH="0" baseline="0" noProof="0">
                <a:ln>
                  <a:noFill/>
                </a:ln>
                <a:solidFill>
                  <a:schemeClr val="tx1">
                    <a:lumMod val="50000"/>
                    <a:lumOff val="50000"/>
                  </a:schemeClr>
                </a:solidFill>
                <a:effectLst/>
                <a:uLnTx/>
                <a:uFillTx/>
                <a:latin typeface="Yekan Bakh" pitchFamily="2" charset="-78"/>
                <a:ea typeface="Yekan Bakh" pitchFamily="2" charset="-78"/>
                <a:cs typeface="Yekan Bakh" pitchFamily="2" charset="-78"/>
              </a:rPr>
              <a:t>دستیابی به طرف معامله</a:t>
            </a:r>
          </a:p>
        </p:txBody>
      </p:sp>
      <p:sp>
        <p:nvSpPr>
          <p:cNvPr id="53" name="Oval 52">
            <a:extLst>
              <a:ext uri="{FF2B5EF4-FFF2-40B4-BE49-F238E27FC236}">
                <a16:creationId xmlns:a16="http://schemas.microsoft.com/office/drawing/2014/main" id="{88B9AF37-9095-23E5-AA37-7E149C26B35F}"/>
              </a:ext>
            </a:extLst>
          </p:cNvPr>
          <p:cNvSpPr/>
          <p:nvPr/>
        </p:nvSpPr>
        <p:spPr>
          <a:xfrm>
            <a:off x="1122520" y="1808220"/>
            <a:ext cx="531953" cy="531953"/>
          </a:xfrm>
          <a:prstGeom prst="ellipse">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rPr>
              <a:t>ایرانی</a:t>
            </a:r>
            <a:endParaRPr kumimoji="0" lang="en-US" sz="600" b="0"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54" name="Oval 53">
            <a:extLst>
              <a:ext uri="{FF2B5EF4-FFF2-40B4-BE49-F238E27FC236}">
                <a16:creationId xmlns:a16="http://schemas.microsoft.com/office/drawing/2014/main" id="{46F421EE-50B6-45E7-4701-AB1F0870E84A}"/>
              </a:ext>
            </a:extLst>
          </p:cNvPr>
          <p:cNvSpPr/>
          <p:nvPr/>
        </p:nvSpPr>
        <p:spPr>
          <a:xfrm>
            <a:off x="1653836" y="2035338"/>
            <a:ext cx="531953" cy="531953"/>
          </a:xfrm>
          <a:prstGeom prst="ellipse">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rPr>
              <a:t>خارجی</a:t>
            </a:r>
            <a:endParaRPr kumimoji="0" lang="en-US" sz="600" b="0"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57" name="Oval 56">
            <a:extLst>
              <a:ext uri="{FF2B5EF4-FFF2-40B4-BE49-F238E27FC236}">
                <a16:creationId xmlns:a16="http://schemas.microsoft.com/office/drawing/2014/main" id="{98D14A23-8446-7358-B28B-AE6421EE66B2}"/>
              </a:ext>
            </a:extLst>
          </p:cNvPr>
          <p:cNvSpPr/>
          <p:nvPr/>
        </p:nvSpPr>
        <p:spPr>
          <a:xfrm>
            <a:off x="1122520" y="2766144"/>
            <a:ext cx="531953" cy="531953"/>
          </a:xfrm>
          <a:prstGeom prst="ellipse">
            <a:avLst/>
          </a:prstGeom>
          <a:solidFill>
            <a:srgbClr val="1E276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a:ln>
                  <a:noFill/>
                </a:ln>
                <a:solidFill>
                  <a:prstClr val="white"/>
                </a:solidFill>
                <a:effectLst/>
                <a:uLnTx/>
                <a:uFillTx/>
                <a:latin typeface="Yekan Bakh" pitchFamily="2" charset="-78"/>
                <a:ea typeface="Yekan Bakh" pitchFamily="2" charset="-78"/>
                <a:cs typeface="Yekan Bakh" pitchFamily="2" charset="-78"/>
              </a:rPr>
              <a:t>ایرانی</a:t>
            </a:r>
            <a:endParaRPr kumimoji="0" lang="en-US" sz="600" b="0" i="0" u="none" strike="noStrike" kern="1200" cap="none" spc="0" normalizeH="0" baseline="0" noProof="0">
              <a:ln>
                <a:noFill/>
              </a:ln>
              <a:solidFill>
                <a:prstClr val="white"/>
              </a:solidFill>
              <a:effectLst/>
              <a:uLnTx/>
              <a:uFillTx/>
              <a:latin typeface="Yekan Bakh" pitchFamily="2" charset="-78"/>
              <a:ea typeface="Yekan Bakh" pitchFamily="2" charset="-78"/>
              <a:cs typeface="Yekan Bakh" pitchFamily="2" charset="-78"/>
            </a:endParaRPr>
          </a:p>
        </p:txBody>
      </p:sp>
      <p:sp>
        <p:nvSpPr>
          <p:cNvPr id="58" name="Oval 57">
            <a:extLst>
              <a:ext uri="{FF2B5EF4-FFF2-40B4-BE49-F238E27FC236}">
                <a16:creationId xmlns:a16="http://schemas.microsoft.com/office/drawing/2014/main" id="{100B584D-20A8-13CD-EAFB-D280E578325B}"/>
              </a:ext>
            </a:extLst>
          </p:cNvPr>
          <p:cNvSpPr/>
          <p:nvPr/>
        </p:nvSpPr>
        <p:spPr>
          <a:xfrm>
            <a:off x="1653836" y="2993262"/>
            <a:ext cx="531953" cy="531953"/>
          </a:xfrm>
          <a:prstGeom prst="ellipse">
            <a:avLst/>
          </a:prstGeom>
          <a:solidFill>
            <a:srgbClr val="1E276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a:ln>
                  <a:noFill/>
                </a:ln>
                <a:solidFill>
                  <a:prstClr val="white"/>
                </a:solidFill>
                <a:effectLst/>
                <a:uLnTx/>
                <a:uFillTx/>
                <a:latin typeface="Yekan Bakh" pitchFamily="2" charset="-78"/>
                <a:ea typeface="Yekan Bakh" pitchFamily="2" charset="-78"/>
                <a:cs typeface="Yekan Bakh" pitchFamily="2" charset="-78"/>
              </a:rPr>
              <a:t>خارجی</a:t>
            </a:r>
            <a:endParaRPr kumimoji="0" lang="en-US" sz="600" b="0" i="0" u="none" strike="noStrike" kern="1200" cap="none" spc="0" normalizeH="0" baseline="0" noProof="0">
              <a:ln>
                <a:noFill/>
              </a:ln>
              <a:solidFill>
                <a:prstClr val="white"/>
              </a:solidFill>
              <a:effectLst/>
              <a:uLnTx/>
              <a:uFillTx/>
              <a:latin typeface="Yekan Bakh" pitchFamily="2" charset="-78"/>
              <a:ea typeface="Yekan Bakh" pitchFamily="2" charset="-78"/>
              <a:cs typeface="Yekan Bakh" pitchFamily="2" charset="-78"/>
            </a:endParaRPr>
          </a:p>
        </p:txBody>
      </p:sp>
      <p:sp>
        <p:nvSpPr>
          <p:cNvPr id="60" name="Oval 59">
            <a:extLst>
              <a:ext uri="{FF2B5EF4-FFF2-40B4-BE49-F238E27FC236}">
                <a16:creationId xmlns:a16="http://schemas.microsoft.com/office/drawing/2014/main" id="{4F76DA2C-0198-0390-CF26-A818675F1C36}"/>
              </a:ext>
            </a:extLst>
          </p:cNvPr>
          <p:cNvSpPr/>
          <p:nvPr/>
        </p:nvSpPr>
        <p:spPr>
          <a:xfrm>
            <a:off x="1122520" y="3724068"/>
            <a:ext cx="531953" cy="531953"/>
          </a:xfrm>
          <a:prstGeom prst="ellipse">
            <a:avLst/>
          </a:prstGeom>
          <a:solidFill>
            <a:srgbClr val="1E276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a:ln>
                  <a:noFill/>
                </a:ln>
                <a:solidFill>
                  <a:prstClr val="white"/>
                </a:solidFill>
                <a:effectLst/>
                <a:uLnTx/>
                <a:uFillTx/>
                <a:latin typeface="Yekan Bakh" pitchFamily="2" charset="-78"/>
                <a:ea typeface="Yekan Bakh" pitchFamily="2" charset="-78"/>
                <a:cs typeface="Yekan Bakh" pitchFamily="2" charset="-78"/>
              </a:rPr>
              <a:t>ایرانی</a:t>
            </a:r>
            <a:endParaRPr kumimoji="0" lang="en-US" sz="600" b="0" i="0" u="none" strike="noStrike" kern="1200" cap="none" spc="0" normalizeH="0" baseline="0" noProof="0">
              <a:ln>
                <a:noFill/>
              </a:ln>
              <a:solidFill>
                <a:prstClr val="white"/>
              </a:solidFill>
              <a:effectLst/>
              <a:uLnTx/>
              <a:uFillTx/>
              <a:latin typeface="Yekan Bakh" pitchFamily="2" charset="-78"/>
              <a:ea typeface="Yekan Bakh" pitchFamily="2" charset="-78"/>
              <a:cs typeface="Yekan Bakh" pitchFamily="2" charset="-78"/>
            </a:endParaRPr>
          </a:p>
        </p:txBody>
      </p:sp>
      <p:sp>
        <p:nvSpPr>
          <p:cNvPr id="61" name="Oval 60">
            <a:extLst>
              <a:ext uri="{FF2B5EF4-FFF2-40B4-BE49-F238E27FC236}">
                <a16:creationId xmlns:a16="http://schemas.microsoft.com/office/drawing/2014/main" id="{F31245D0-0495-6EE9-82BC-F5BCC2D5F5C4}"/>
              </a:ext>
            </a:extLst>
          </p:cNvPr>
          <p:cNvSpPr/>
          <p:nvPr/>
        </p:nvSpPr>
        <p:spPr>
          <a:xfrm>
            <a:off x="1653836" y="3951186"/>
            <a:ext cx="531953" cy="531953"/>
          </a:xfrm>
          <a:prstGeom prst="ellipse">
            <a:avLst/>
          </a:prstGeom>
          <a:solidFill>
            <a:srgbClr val="1E276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a:ln>
                  <a:noFill/>
                </a:ln>
                <a:solidFill>
                  <a:prstClr val="white"/>
                </a:solidFill>
                <a:effectLst/>
                <a:uLnTx/>
                <a:uFillTx/>
                <a:latin typeface="Yekan Bakh" pitchFamily="2" charset="-78"/>
                <a:ea typeface="Yekan Bakh" pitchFamily="2" charset="-78"/>
                <a:cs typeface="Yekan Bakh" pitchFamily="2" charset="-78"/>
              </a:rPr>
              <a:t>خارجی</a:t>
            </a:r>
            <a:endParaRPr kumimoji="0" lang="en-US" sz="600" b="0" i="0" u="none" strike="noStrike" kern="1200" cap="none" spc="0" normalizeH="0" baseline="0" noProof="0">
              <a:ln>
                <a:noFill/>
              </a:ln>
              <a:solidFill>
                <a:prstClr val="white"/>
              </a:solidFill>
              <a:effectLst/>
              <a:uLnTx/>
              <a:uFillTx/>
              <a:latin typeface="Yekan Bakh" pitchFamily="2" charset="-78"/>
              <a:ea typeface="Yekan Bakh" pitchFamily="2" charset="-78"/>
              <a:cs typeface="Yekan Bakh" pitchFamily="2" charset="-78"/>
            </a:endParaRPr>
          </a:p>
        </p:txBody>
      </p:sp>
      <p:sp>
        <p:nvSpPr>
          <p:cNvPr id="63" name="Oval 62">
            <a:extLst>
              <a:ext uri="{FF2B5EF4-FFF2-40B4-BE49-F238E27FC236}">
                <a16:creationId xmlns:a16="http://schemas.microsoft.com/office/drawing/2014/main" id="{660E6445-2367-3EE8-6D0F-BF483B5BD7DB}"/>
              </a:ext>
            </a:extLst>
          </p:cNvPr>
          <p:cNvSpPr/>
          <p:nvPr/>
        </p:nvSpPr>
        <p:spPr>
          <a:xfrm>
            <a:off x="1122520" y="4681991"/>
            <a:ext cx="531953" cy="531953"/>
          </a:xfrm>
          <a:prstGeom prst="ellipse">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rPr>
              <a:t>ایرانی</a:t>
            </a:r>
            <a:endParaRPr kumimoji="0" lang="en-US" sz="600" b="0"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64" name="Oval 63">
            <a:extLst>
              <a:ext uri="{FF2B5EF4-FFF2-40B4-BE49-F238E27FC236}">
                <a16:creationId xmlns:a16="http://schemas.microsoft.com/office/drawing/2014/main" id="{EB7C74F1-EF91-A5F5-DB74-9D5AA5F1F26C}"/>
              </a:ext>
            </a:extLst>
          </p:cNvPr>
          <p:cNvSpPr/>
          <p:nvPr/>
        </p:nvSpPr>
        <p:spPr>
          <a:xfrm>
            <a:off x="1653836" y="4909109"/>
            <a:ext cx="531953" cy="531953"/>
          </a:xfrm>
          <a:prstGeom prst="ellipse">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rPr>
              <a:t>خارجی</a:t>
            </a:r>
            <a:endParaRPr kumimoji="0" lang="en-US" sz="600" b="0"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115" name="Rectangle: Rounded Corners 114">
            <a:extLst>
              <a:ext uri="{FF2B5EF4-FFF2-40B4-BE49-F238E27FC236}">
                <a16:creationId xmlns:a16="http://schemas.microsoft.com/office/drawing/2014/main" id="{B209A831-DEAD-16B6-AF41-9564349596A1}"/>
              </a:ext>
            </a:extLst>
          </p:cNvPr>
          <p:cNvSpPr/>
          <p:nvPr/>
        </p:nvSpPr>
        <p:spPr>
          <a:xfrm>
            <a:off x="1119950" y="1624638"/>
            <a:ext cx="531200" cy="3898274"/>
          </a:xfrm>
          <a:prstGeom prst="roundRect">
            <a:avLst/>
          </a:prstGeom>
          <a:noFill/>
          <a:ln w="6350">
            <a:solidFill>
              <a:srgbClr val="F0BE0F"/>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Yekan Bakh" pitchFamily="2" charset="-78"/>
              <a:ea typeface="Yekan Bakh" pitchFamily="2" charset="-78"/>
              <a:cs typeface="Yekan Bakh" pitchFamily="2" charset="-78"/>
            </a:endParaRPr>
          </a:p>
        </p:txBody>
      </p:sp>
      <p:sp>
        <p:nvSpPr>
          <p:cNvPr id="116" name="Rectangle: Rounded Corners 115">
            <a:extLst>
              <a:ext uri="{FF2B5EF4-FFF2-40B4-BE49-F238E27FC236}">
                <a16:creationId xmlns:a16="http://schemas.microsoft.com/office/drawing/2014/main" id="{0539794D-8A03-5141-F6C6-907886108639}"/>
              </a:ext>
            </a:extLst>
          </p:cNvPr>
          <p:cNvSpPr/>
          <p:nvPr/>
        </p:nvSpPr>
        <p:spPr>
          <a:xfrm>
            <a:off x="1651785" y="1624638"/>
            <a:ext cx="531200" cy="3898274"/>
          </a:xfrm>
          <a:prstGeom prst="roundRect">
            <a:avLst/>
          </a:prstGeom>
          <a:noFill/>
          <a:ln w="6350">
            <a:solidFill>
              <a:srgbClr val="F0BE0F"/>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Yekan Bakh" pitchFamily="2" charset="-78"/>
              <a:ea typeface="Yekan Bakh" pitchFamily="2" charset="-78"/>
              <a:cs typeface="Yekan Bakh" pitchFamily="2" charset="-78"/>
            </a:endParaRPr>
          </a:p>
        </p:txBody>
      </p:sp>
      <p:sp>
        <p:nvSpPr>
          <p:cNvPr id="32" name="TextBox 31">
            <a:extLst>
              <a:ext uri="{FF2B5EF4-FFF2-40B4-BE49-F238E27FC236}">
                <a16:creationId xmlns:a16="http://schemas.microsoft.com/office/drawing/2014/main" id="{C5B647ED-2E03-1D76-0FD9-E2BCC234794F}"/>
              </a:ext>
            </a:extLst>
          </p:cNvPr>
          <p:cNvSpPr txBox="1"/>
          <p:nvPr/>
        </p:nvSpPr>
        <p:spPr>
          <a:xfrm>
            <a:off x="2348988" y="5547916"/>
            <a:ext cx="854298" cy="369332"/>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900" b="1" i="0" u="none" strike="noStrike" kern="1200" cap="none" spc="0" normalizeH="0" baseline="0" noProof="0">
                <a:ln>
                  <a:noFill/>
                </a:ln>
                <a:solidFill>
                  <a:schemeClr val="tx1">
                    <a:lumMod val="50000"/>
                    <a:lumOff val="50000"/>
                  </a:schemeClr>
                </a:solidFill>
                <a:effectLst/>
                <a:uLnTx/>
                <a:uFillTx/>
                <a:latin typeface="Yekan Bakh" pitchFamily="2" charset="-78"/>
                <a:ea typeface="Yekan Bakh" pitchFamily="2" charset="-78"/>
                <a:cs typeface="Yekan Bakh" pitchFamily="2" charset="-78"/>
              </a:rPr>
              <a:t>قابلیت معامله پیدا کردن</a:t>
            </a:r>
          </a:p>
        </p:txBody>
      </p:sp>
      <p:sp>
        <p:nvSpPr>
          <p:cNvPr id="69" name="Oval 68">
            <a:extLst>
              <a:ext uri="{FF2B5EF4-FFF2-40B4-BE49-F238E27FC236}">
                <a16:creationId xmlns:a16="http://schemas.microsoft.com/office/drawing/2014/main" id="{B5B6801E-28E3-2124-BA62-4E7334FF0507}"/>
              </a:ext>
            </a:extLst>
          </p:cNvPr>
          <p:cNvSpPr/>
          <p:nvPr/>
        </p:nvSpPr>
        <p:spPr>
          <a:xfrm>
            <a:off x="2244669" y="1808220"/>
            <a:ext cx="531953" cy="531953"/>
          </a:xfrm>
          <a:prstGeom prst="ellipse">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rPr>
              <a:t>ایرانی</a:t>
            </a:r>
            <a:endParaRPr kumimoji="0" lang="en-US" sz="600" b="0"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70" name="Oval 69">
            <a:extLst>
              <a:ext uri="{FF2B5EF4-FFF2-40B4-BE49-F238E27FC236}">
                <a16:creationId xmlns:a16="http://schemas.microsoft.com/office/drawing/2014/main" id="{71A6D322-4C03-39D6-1BBB-742A10C8E939}"/>
              </a:ext>
            </a:extLst>
          </p:cNvPr>
          <p:cNvSpPr/>
          <p:nvPr/>
        </p:nvSpPr>
        <p:spPr>
          <a:xfrm>
            <a:off x="2775652" y="2035338"/>
            <a:ext cx="531953" cy="531953"/>
          </a:xfrm>
          <a:prstGeom prst="ellipse">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rPr>
              <a:t>خارجی</a:t>
            </a:r>
            <a:endParaRPr kumimoji="0" lang="en-US" sz="600" b="0"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72" name="Oval 71">
            <a:extLst>
              <a:ext uri="{FF2B5EF4-FFF2-40B4-BE49-F238E27FC236}">
                <a16:creationId xmlns:a16="http://schemas.microsoft.com/office/drawing/2014/main" id="{9FD197F2-7DB6-8989-EA1E-F4758ADEDA53}"/>
              </a:ext>
            </a:extLst>
          </p:cNvPr>
          <p:cNvSpPr/>
          <p:nvPr/>
        </p:nvSpPr>
        <p:spPr>
          <a:xfrm>
            <a:off x="2244669" y="2766144"/>
            <a:ext cx="531953" cy="531953"/>
          </a:xfrm>
          <a:prstGeom prst="ellipse">
            <a:avLst/>
          </a:prstGeom>
          <a:solidFill>
            <a:srgbClr val="1E276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a:ln>
                  <a:noFill/>
                </a:ln>
                <a:solidFill>
                  <a:prstClr val="white"/>
                </a:solidFill>
                <a:effectLst/>
                <a:uLnTx/>
                <a:uFillTx/>
                <a:latin typeface="Yekan Bakh" pitchFamily="2" charset="-78"/>
                <a:ea typeface="Yekan Bakh" pitchFamily="2" charset="-78"/>
                <a:cs typeface="Yekan Bakh" pitchFamily="2" charset="-78"/>
              </a:rPr>
              <a:t>ایرانی</a:t>
            </a:r>
            <a:endParaRPr kumimoji="0" lang="en-US" sz="600" b="0" i="0" u="none" strike="noStrike" kern="1200" cap="none" spc="0" normalizeH="0" baseline="0" noProof="0">
              <a:ln>
                <a:noFill/>
              </a:ln>
              <a:solidFill>
                <a:prstClr val="white"/>
              </a:solidFill>
              <a:effectLst/>
              <a:uLnTx/>
              <a:uFillTx/>
              <a:latin typeface="Yekan Bakh" pitchFamily="2" charset="-78"/>
              <a:ea typeface="Yekan Bakh" pitchFamily="2" charset="-78"/>
              <a:cs typeface="Yekan Bakh" pitchFamily="2" charset="-78"/>
            </a:endParaRPr>
          </a:p>
        </p:txBody>
      </p:sp>
      <p:sp>
        <p:nvSpPr>
          <p:cNvPr id="73" name="Oval 72">
            <a:extLst>
              <a:ext uri="{FF2B5EF4-FFF2-40B4-BE49-F238E27FC236}">
                <a16:creationId xmlns:a16="http://schemas.microsoft.com/office/drawing/2014/main" id="{EAA772C1-3DA1-06A6-07DD-C63E64BE3CF5}"/>
              </a:ext>
            </a:extLst>
          </p:cNvPr>
          <p:cNvSpPr/>
          <p:nvPr/>
        </p:nvSpPr>
        <p:spPr>
          <a:xfrm>
            <a:off x="2775652" y="2993262"/>
            <a:ext cx="531953" cy="531953"/>
          </a:xfrm>
          <a:prstGeom prst="ellipse">
            <a:avLst/>
          </a:prstGeom>
          <a:solidFill>
            <a:srgbClr val="1E276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a:ln>
                  <a:noFill/>
                </a:ln>
                <a:solidFill>
                  <a:prstClr val="white"/>
                </a:solidFill>
                <a:effectLst/>
                <a:uLnTx/>
                <a:uFillTx/>
                <a:latin typeface="Yekan Bakh" pitchFamily="2" charset="-78"/>
                <a:ea typeface="Yekan Bakh" pitchFamily="2" charset="-78"/>
                <a:cs typeface="Yekan Bakh" pitchFamily="2" charset="-78"/>
              </a:rPr>
              <a:t>خارجی</a:t>
            </a:r>
            <a:endParaRPr kumimoji="0" lang="en-US" sz="600" b="0" i="0" u="none" strike="noStrike" kern="1200" cap="none" spc="0" normalizeH="0" baseline="0" noProof="0">
              <a:ln>
                <a:noFill/>
              </a:ln>
              <a:solidFill>
                <a:prstClr val="white"/>
              </a:solidFill>
              <a:effectLst/>
              <a:uLnTx/>
              <a:uFillTx/>
              <a:latin typeface="Yekan Bakh" pitchFamily="2" charset="-78"/>
              <a:ea typeface="Yekan Bakh" pitchFamily="2" charset="-78"/>
              <a:cs typeface="Yekan Bakh" pitchFamily="2" charset="-78"/>
            </a:endParaRPr>
          </a:p>
        </p:txBody>
      </p:sp>
      <p:sp>
        <p:nvSpPr>
          <p:cNvPr id="75" name="Oval 74">
            <a:extLst>
              <a:ext uri="{FF2B5EF4-FFF2-40B4-BE49-F238E27FC236}">
                <a16:creationId xmlns:a16="http://schemas.microsoft.com/office/drawing/2014/main" id="{C958D386-9F54-5966-3063-1A6954D9D0C4}"/>
              </a:ext>
            </a:extLst>
          </p:cNvPr>
          <p:cNvSpPr/>
          <p:nvPr/>
        </p:nvSpPr>
        <p:spPr>
          <a:xfrm>
            <a:off x="2244669" y="3724068"/>
            <a:ext cx="531953" cy="531953"/>
          </a:xfrm>
          <a:prstGeom prst="ellipse">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rPr>
              <a:t>ایرانی</a:t>
            </a:r>
            <a:endParaRPr kumimoji="0" lang="en-US" sz="600" b="0"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76" name="Oval 75">
            <a:extLst>
              <a:ext uri="{FF2B5EF4-FFF2-40B4-BE49-F238E27FC236}">
                <a16:creationId xmlns:a16="http://schemas.microsoft.com/office/drawing/2014/main" id="{11B1A481-EEDC-9601-8905-BAD6A68E0D34}"/>
              </a:ext>
            </a:extLst>
          </p:cNvPr>
          <p:cNvSpPr/>
          <p:nvPr/>
        </p:nvSpPr>
        <p:spPr>
          <a:xfrm>
            <a:off x="2775652" y="3951186"/>
            <a:ext cx="531953" cy="531953"/>
          </a:xfrm>
          <a:prstGeom prst="ellipse">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rPr>
              <a:t>خارجی</a:t>
            </a:r>
            <a:endParaRPr kumimoji="0" lang="en-US" sz="600" b="0"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78" name="Oval 77">
            <a:extLst>
              <a:ext uri="{FF2B5EF4-FFF2-40B4-BE49-F238E27FC236}">
                <a16:creationId xmlns:a16="http://schemas.microsoft.com/office/drawing/2014/main" id="{C684AAD5-C768-BBC3-BA0B-B06488E72999}"/>
              </a:ext>
            </a:extLst>
          </p:cNvPr>
          <p:cNvSpPr/>
          <p:nvPr/>
        </p:nvSpPr>
        <p:spPr>
          <a:xfrm>
            <a:off x="2244669" y="4681991"/>
            <a:ext cx="531953" cy="531953"/>
          </a:xfrm>
          <a:prstGeom prst="ellipse">
            <a:avLst/>
          </a:prstGeom>
          <a:solidFill>
            <a:srgbClr val="1E276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a:ln>
                  <a:noFill/>
                </a:ln>
                <a:solidFill>
                  <a:prstClr val="white"/>
                </a:solidFill>
                <a:effectLst/>
                <a:uLnTx/>
                <a:uFillTx/>
                <a:latin typeface="Yekan Bakh" pitchFamily="2" charset="-78"/>
                <a:ea typeface="Yekan Bakh" pitchFamily="2" charset="-78"/>
                <a:cs typeface="Yekan Bakh" pitchFamily="2" charset="-78"/>
              </a:rPr>
              <a:t>ایرانی</a:t>
            </a:r>
            <a:endParaRPr kumimoji="0" lang="en-US" sz="600" b="0" i="0" u="none" strike="noStrike" kern="1200" cap="none" spc="0" normalizeH="0" baseline="0" noProof="0">
              <a:ln>
                <a:noFill/>
              </a:ln>
              <a:solidFill>
                <a:prstClr val="white"/>
              </a:solidFill>
              <a:effectLst/>
              <a:uLnTx/>
              <a:uFillTx/>
              <a:latin typeface="Yekan Bakh" pitchFamily="2" charset="-78"/>
              <a:ea typeface="Yekan Bakh" pitchFamily="2" charset="-78"/>
              <a:cs typeface="Yekan Bakh" pitchFamily="2" charset="-78"/>
            </a:endParaRPr>
          </a:p>
        </p:txBody>
      </p:sp>
      <p:sp>
        <p:nvSpPr>
          <p:cNvPr id="79" name="Oval 78">
            <a:extLst>
              <a:ext uri="{FF2B5EF4-FFF2-40B4-BE49-F238E27FC236}">
                <a16:creationId xmlns:a16="http://schemas.microsoft.com/office/drawing/2014/main" id="{98BCC041-EAA1-DD93-749C-4EA136EE5DDB}"/>
              </a:ext>
            </a:extLst>
          </p:cNvPr>
          <p:cNvSpPr/>
          <p:nvPr/>
        </p:nvSpPr>
        <p:spPr>
          <a:xfrm>
            <a:off x="2775652" y="4909109"/>
            <a:ext cx="531953" cy="531953"/>
          </a:xfrm>
          <a:prstGeom prst="ellipse">
            <a:avLst/>
          </a:prstGeom>
          <a:solidFill>
            <a:srgbClr val="1E276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خارجی</a:t>
            </a:r>
            <a:endParaRPr kumimoji="0" lang="en-US" sz="600" b="0"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sp>
        <p:nvSpPr>
          <p:cNvPr id="117" name="Rectangle: Rounded Corners 116">
            <a:extLst>
              <a:ext uri="{FF2B5EF4-FFF2-40B4-BE49-F238E27FC236}">
                <a16:creationId xmlns:a16="http://schemas.microsoft.com/office/drawing/2014/main" id="{6EB16370-0434-3CBE-1973-D4E31A63A858}"/>
              </a:ext>
            </a:extLst>
          </p:cNvPr>
          <p:cNvSpPr/>
          <p:nvPr/>
        </p:nvSpPr>
        <p:spPr>
          <a:xfrm>
            <a:off x="2245045" y="1624638"/>
            <a:ext cx="531200" cy="3898274"/>
          </a:xfrm>
          <a:prstGeom prst="roundRect">
            <a:avLst/>
          </a:prstGeom>
          <a:noFill/>
          <a:ln w="6350">
            <a:solidFill>
              <a:srgbClr val="F0BE0F"/>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Yekan Bakh" pitchFamily="2" charset="-78"/>
              <a:ea typeface="Yekan Bakh" pitchFamily="2" charset="-78"/>
              <a:cs typeface="Yekan Bakh" pitchFamily="2" charset="-78"/>
            </a:endParaRPr>
          </a:p>
        </p:txBody>
      </p:sp>
      <p:sp>
        <p:nvSpPr>
          <p:cNvPr id="118" name="Rectangle: Rounded Corners 117">
            <a:extLst>
              <a:ext uri="{FF2B5EF4-FFF2-40B4-BE49-F238E27FC236}">
                <a16:creationId xmlns:a16="http://schemas.microsoft.com/office/drawing/2014/main" id="{2BBA90C9-B9FD-7800-67EB-772886FD370F}"/>
              </a:ext>
            </a:extLst>
          </p:cNvPr>
          <p:cNvSpPr/>
          <p:nvPr/>
        </p:nvSpPr>
        <p:spPr>
          <a:xfrm>
            <a:off x="2776028" y="1624638"/>
            <a:ext cx="531200" cy="3898274"/>
          </a:xfrm>
          <a:prstGeom prst="roundRect">
            <a:avLst/>
          </a:prstGeom>
          <a:noFill/>
          <a:ln w="6350">
            <a:solidFill>
              <a:srgbClr val="F0BE0F"/>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Yekan Bakh" pitchFamily="2" charset="-78"/>
              <a:ea typeface="Yekan Bakh" pitchFamily="2" charset="-78"/>
              <a:cs typeface="Yekan Bakh" pitchFamily="2" charset="-78"/>
            </a:endParaRPr>
          </a:p>
        </p:txBody>
      </p:sp>
      <p:sp>
        <p:nvSpPr>
          <p:cNvPr id="33" name="TextBox 32">
            <a:extLst>
              <a:ext uri="{FF2B5EF4-FFF2-40B4-BE49-F238E27FC236}">
                <a16:creationId xmlns:a16="http://schemas.microsoft.com/office/drawing/2014/main" id="{3F28823A-AFA1-18CC-6E72-0BEEAF86E941}"/>
              </a:ext>
            </a:extLst>
          </p:cNvPr>
          <p:cNvSpPr txBox="1"/>
          <p:nvPr/>
        </p:nvSpPr>
        <p:spPr>
          <a:xfrm>
            <a:off x="3461698" y="5547916"/>
            <a:ext cx="854298" cy="369332"/>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900" b="1" i="0" u="none" strike="noStrike" kern="1200" cap="none" spc="0" normalizeH="0" baseline="0" noProof="0">
                <a:ln>
                  <a:noFill/>
                </a:ln>
                <a:solidFill>
                  <a:schemeClr val="tx1">
                    <a:lumMod val="50000"/>
                    <a:lumOff val="50000"/>
                  </a:schemeClr>
                </a:solidFill>
                <a:effectLst/>
                <a:uLnTx/>
                <a:uFillTx/>
                <a:latin typeface="Yekan Bakh" pitchFamily="2" charset="-78"/>
                <a:ea typeface="Yekan Bakh" pitchFamily="2" charset="-78"/>
                <a:cs typeface="Yekan Bakh" pitchFamily="2" charset="-78"/>
              </a:rPr>
              <a:t>تبدیل دارایی به کسب‌وکار </a:t>
            </a:r>
          </a:p>
        </p:txBody>
      </p:sp>
      <p:sp>
        <p:nvSpPr>
          <p:cNvPr id="87" name="Oval 86">
            <a:extLst>
              <a:ext uri="{FF2B5EF4-FFF2-40B4-BE49-F238E27FC236}">
                <a16:creationId xmlns:a16="http://schemas.microsoft.com/office/drawing/2014/main" id="{F9120776-4BF0-C335-E584-D2CAE2BF861D}"/>
              </a:ext>
            </a:extLst>
          </p:cNvPr>
          <p:cNvSpPr/>
          <p:nvPr/>
        </p:nvSpPr>
        <p:spPr>
          <a:xfrm>
            <a:off x="3500320" y="4681991"/>
            <a:ext cx="777055" cy="777055"/>
          </a:xfrm>
          <a:prstGeom prst="ellipse">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rPr>
              <a:t>ایرانی / خارجی</a:t>
            </a:r>
            <a:endParaRPr kumimoji="0" lang="en-US" sz="6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endParaRPr>
          </a:p>
        </p:txBody>
      </p:sp>
      <p:sp>
        <p:nvSpPr>
          <p:cNvPr id="108" name="Oval 107">
            <a:extLst>
              <a:ext uri="{FF2B5EF4-FFF2-40B4-BE49-F238E27FC236}">
                <a16:creationId xmlns:a16="http://schemas.microsoft.com/office/drawing/2014/main" id="{2EF0183E-4788-B760-B125-4F65353621A3}"/>
              </a:ext>
            </a:extLst>
          </p:cNvPr>
          <p:cNvSpPr/>
          <p:nvPr/>
        </p:nvSpPr>
        <p:spPr>
          <a:xfrm>
            <a:off x="3500320" y="3718072"/>
            <a:ext cx="777055" cy="777055"/>
          </a:xfrm>
          <a:prstGeom prst="ellipse">
            <a:avLst/>
          </a:prstGeom>
          <a:solidFill>
            <a:srgbClr val="1E276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ایرانی / خارجی</a:t>
            </a:r>
            <a:endParaRPr kumimoji="0" lang="en-US" sz="600" b="0"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sp>
        <p:nvSpPr>
          <p:cNvPr id="109" name="Oval 108">
            <a:extLst>
              <a:ext uri="{FF2B5EF4-FFF2-40B4-BE49-F238E27FC236}">
                <a16:creationId xmlns:a16="http://schemas.microsoft.com/office/drawing/2014/main" id="{4D66469B-65B0-4BEA-7ED2-55D14DC1BE76}"/>
              </a:ext>
            </a:extLst>
          </p:cNvPr>
          <p:cNvSpPr/>
          <p:nvPr/>
        </p:nvSpPr>
        <p:spPr>
          <a:xfrm>
            <a:off x="3500320" y="2754154"/>
            <a:ext cx="777055" cy="777055"/>
          </a:xfrm>
          <a:prstGeom prst="ellipse">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rPr>
              <a:t>ایرانی / خارجی</a:t>
            </a:r>
            <a:endParaRPr kumimoji="0" lang="en-US" sz="6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endParaRPr>
          </a:p>
        </p:txBody>
      </p:sp>
      <p:sp>
        <p:nvSpPr>
          <p:cNvPr id="110" name="Oval 109">
            <a:extLst>
              <a:ext uri="{FF2B5EF4-FFF2-40B4-BE49-F238E27FC236}">
                <a16:creationId xmlns:a16="http://schemas.microsoft.com/office/drawing/2014/main" id="{0FCD8CA5-BA40-6C1E-FDCB-413FF5D91F03}"/>
              </a:ext>
            </a:extLst>
          </p:cNvPr>
          <p:cNvSpPr/>
          <p:nvPr/>
        </p:nvSpPr>
        <p:spPr>
          <a:xfrm>
            <a:off x="3500320" y="1790236"/>
            <a:ext cx="777055" cy="777055"/>
          </a:xfrm>
          <a:prstGeom prst="ellipse">
            <a:avLst/>
          </a:prstGeom>
          <a:solidFill>
            <a:srgbClr val="1E276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ایرانی / خارجی</a:t>
            </a:r>
            <a:endParaRPr kumimoji="0" lang="en-US" sz="600" b="0"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sp>
        <p:nvSpPr>
          <p:cNvPr id="119" name="Rectangle: Rounded Corners 118">
            <a:extLst>
              <a:ext uri="{FF2B5EF4-FFF2-40B4-BE49-F238E27FC236}">
                <a16:creationId xmlns:a16="http://schemas.microsoft.com/office/drawing/2014/main" id="{DEE935B7-B6CA-67DE-AA09-097E9A553548}"/>
              </a:ext>
            </a:extLst>
          </p:cNvPr>
          <p:cNvSpPr/>
          <p:nvPr/>
        </p:nvSpPr>
        <p:spPr>
          <a:xfrm>
            <a:off x="3366485" y="1624638"/>
            <a:ext cx="1044725" cy="3898274"/>
          </a:xfrm>
          <a:prstGeom prst="roundRect">
            <a:avLst>
              <a:gd name="adj" fmla="val 9373"/>
            </a:avLst>
          </a:prstGeom>
          <a:noFill/>
          <a:ln w="6350">
            <a:solidFill>
              <a:srgbClr val="F0BE0F"/>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Yekan Bakh" pitchFamily="2" charset="-78"/>
              <a:ea typeface="Yekan Bakh" pitchFamily="2" charset="-78"/>
              <a:cs typeface="Yekan Bakh" pitchFamily="2" charset="-78"/>
            </a:endParaRPr>
          </a:p>
        </p:txBody>
      </p:sp>
      <p:sp>
        <p:nvSpPr>
          <p:cNvPr id="34" name="TextBox 33">
            <a:extLst>
              <a:ext uri="{FF2B5EF4-FFF2-40B4-BE49-F238E27FC236}">
                <a16:creationId xmlns:a16="http://schemas.microsoft.com/office/drawing/2014/main" id="{3061369D-DE73-F370-F26C-4ED1A42188B8}"/>
              </a:ext>
            </a:extLst>
          </p:cNvPr>
          <p:cNvSpPr txBox="1"/>
          <p:nvPr/>
        </p:nvSpPr>
        <p:spPr>
          <a:xfrm>
            <a:off x="4529579" y="5547916"/>
            <a:ext cx="925746" cy="369332"/>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900" b="1" i="0" u="none" strike="noStrike" kern="1200" cap="none" spc="0" normalizeH="0" baseline="0" noProof="0">
                <a:ln>
                  <a:noFill/>
                </a:ln>
                <a:solidFill>
                  <a:schemeClr val="tx1">
                    <a:lumMod val="50000"/>
                    <a:lumOff val="50000"/>
                  </a:schemeClr>
                </a:solidFill>
                <a:effectLst/>
                <a:uLnTx/>
                <a:uFillTx/>
                <a:latin typeface="Yekan Bakh" pitchFamily="2" charset="-78"/>
                <a:ea typeface="Yekan Bakh" pitchFamily="2" charset="-78"/>
                <a:cs typeface="Yekan Bakh" pitchFamily="2" charset="-78"/>
              </a:rPr>
              <a:t>تخصیص سرمایه </a:t>
            </a:r>
          </a:p>
        </p:txBody>
      </p:sp>
      <p:sp>
        <p:nvSpPr>
          <p:cNvPr id="111" name="Oval 110">
            <a:extLst>
              <a:ext uri="{FF2B5EF4-FFF2-40B4-BE49-F238E27FC236}">
                <a16:creationId xmlns:a16="http://schemas.microsoft.com/office/drawing/2014/main" id="{C2118AAC-94E5-83A2-31FC-1E93F5E9637C}"/>
              </a:ext>
            </a:extLst>
          </p:cNvPr>
          <p:cNvSpPr/>
          <p:nvPr/>
        </p:nvSpPr>
        <p:spPr>
          <a:xfrm>
            <a:off x="4603925" y="4695742"/>
            <a:ext cx="777055" cy="777055"/>
          </a:xfrm>
          <a:prstGeom prst="ellipse">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rPr>
              <a:t>ایرانی / خارجی</a:t>
            </a:r>
            <a:endParaRPr kumimoji="0" lang="en-US" sz="6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endParaRPr>
          </a:p>
        </p:txBody>
      </p:sp>
      <p:sp>
        <p:nvSpPr>
          <p:cNvPr id="112" name="Oval 111">
            <a:extLst>
              <a:ext uri="{FF2B5EF4-FFF2-40B4-BE49-F238E27FC236}">
                <a16:creationId xmlns:a16="http://schemas.microsoft.com/office/drawing/2014/main" id="{63EFB3FC-CB8A-976D-9F94-D25A7B092842}"/>
              </a:ext>
            </a:extLst>
          </p:cNvPr>
          <p:cNvSpPr/>
          <p:nvPr/>
        </p:nvSpPr>
        <p:spPr>
          <a:xfrm>
            <a:off x="4603925" y="3731823"/>
            <a:ext cx="777055" cy="777055"/>
          </a:xfrm>
          <a:prstGeom prst="ellipse">
            <a:avLst/>
          </a:prstGeom>
          <a:solidFill>
            <a:srgbClr val="1E276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ایرانی / خارجی</a:t>
            </a:r>
            <a:endParaRPr kumimoji="0" lang="en-US" sz="600" b="0"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sp>
        <p:nvSpPr>
          <p:cNvPr id="113" name="Oval 112">
            <a:extLst>
              <a:ext uri="{FF2B5EF4-FFF2-40B4-BE49-F238E27FC236}">
                <a16:creationId xmlns:a16="http://schemas.microsoft.com/office/drawing/2014/main" id="{2CB0A21F-BB43-475E-52EF-C00B5D6030DD}"/>
              </a:ext>
            </a:extLst>
          </p:cNvPr>
          <p:cNvSpPr/>
          <p:nvPr/>
        </p:nvSpPr>
        <p:spPr>
          <a:xfrm>
            <a:off x="4603925" y="2767905"/>
            <a:ext cx="777055" cy="777055"/>
          </a:xfrm>
          <a:prstGeom prst="ellipse">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rPr>
              <a:t>ایرانی / خارجی</a:t>
            </a:r>
            <a:endParaRPr kumimoji="0" lang="en-US" sz="6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endParaRPr>
          </a:p>
        </p:txBody>
      </p:sp>
      <p:sp>
        <p:nvSpPr>
          <p:cNvPr id="114" name="Oval 113">
            <a:extLst>
              <a:ext uri="{FF2B5EF4-FFF2-40B4-BE49-F238E27FC236}">
                <a16:creationId xmlns:a16="http://schemas.microsoft.com/office/drawing/2014/main" id="{C5A269F9-C062-C866-FDBE-2D80D1086834}"/>
              </a:ext>
            </a:extLst>
          </p:cNvPr>
          <p:cNvSpPr/>
          <p:nvPr/>
        </p:nvSpPr>
        <p:spPr>
          <a:xfrm>
            <a:off x="4603925" y="1803987"/>
            <a:ext cx="777055" cy="777055"/>
          </a:xfrm>
          <a:prstGeom prst="ellipse">
            <a:avLst/>
          </a:prstGeom>
          <a:solidFill>
            <a:srgbClr val="1E276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ایرانی / خارجی</a:t>
            </a:r>
            <a:endParaRPr kumimoji="0" lang="en-US" sz="600" b="0"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sp>
        <p:nvSpPr>
          <p:cNvPr id="120" name="Rectangle: Rounded Corners 119">
            <a:extLst>
              <a:ext uri="{FF2B5EF4-FFF2-40B4-BE49-F238E27FC236}">
                <a16:creationId xmlns:a16="http://schemas.microsoft.com/office/drawing/2014/main" id="{902093EB-B75E-B010-19C1-0989708667E1}"/>
              </a:ext>
            </a:extLst>
          </p:cNvPr>
          <p:cNvSpPr/>
          <p:nvPr/>
        </p:nvSpPr>
        <p:spPr>
          <a:xfrm>
            <a:off x="4470090" y="1624638"/>
            <a:ext cx="1044725" cy="3898274"/>
          </a:xfrm>
          <a:prstGeom prst="roundRect">
            <a:avLst>
              <a:gd name="adj" fmla="val 9373"/>
            </a:avLst>
          </a:prstGeom>
          <a:noFill/>
          <a:ln w="6350">
            <a:solidFill>
              <a:srgbClr val="F0BE0F"/>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Yekan Bakh" pitchFamily="2" charset="-78"/>
              <a:ea typeface="Yekan Bakh" pitchFamily="2" charset="-78"/>
              <a:cs typeface="Yekan Bakh" pitchFamily="2" charset="-78"/>
            </a:endParaRPr>
          </a:p>
        </p:txBody>
      </p:sp>
    </p:spTree>
    <p:extLst>
      <p:ext uri="{BB962C8B-B14F-4D97-AF65-F5344CB8AC3E}">
        <p14:creationId xmlns:p14="http://schemas.microsoft.com/office/powerpoint/2010/main" val="17110132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F280A8E-FE76-F7A7-DD25-756688C12239}"/>
              </a:ext>
            </a:extLst>
          </p:cNvPr>
          <p:cNvSpPr>
            <a:spLocks noGrp="1"/>
          </p:cNvSpPr>
          <p:nvPr>
            <p:ph type="body" sz="quarter" idx="10"/>
          </p:nvPr>
        </p:nvSpPr>
        <p:spPr/>
        <p:txBody>
          <a:bodyPr/>
          <a:lstStyle/>
          <a:p>
            <a:r>
              <a:rPr lang="fa-IR" dirty="0">
                <a:latin typeface="Yekan Bakh" pitchFamily="2" charset="-78"/>
                <a:ea typeface="Yekan Bakh" pitchFamily="2" charset="-78"/>
                <a:cs typeface="Yekan Bakh" pitchFamily="2" charset="-78"/>
              </a:rPr>
              <a:t>پرسوناهای کلیدی مشتریان </a:t>
            </a:r>
          </a:p>
        </p:txBody>
      </p:sp>
      <p:sp>
        <p:nvSpPr>
          <p:cNvPr id="3" name="Text Placeholder 2">
            <a:extLst>
              <a:ext uri="{FF2B5EF4-FFF2-40B4-BE49-F238E27FC236}">
                <a16:creationId xmlns:a16="http://schemas.microsoft.com/office/drawing/2014/main" id="{E4952CBA-2D0D-A44E-9DD5-8676DF46FFE1}"/>
              </a:ext>
            </a:extLst>
          </p:cNvPr>
          <p:cNvSpPr>
            <a:spLocks noGrp="1"/>
          </p:cNvSpPr>
          <p:nvPr>
            <p:ph type="body" sz="quarter" idx="12"/>
          </p:nvPr>
        </p:nvSpPr>
        <p:spPr/>
        <p:txBody>
          <a:bodyPr/>
          <a:lstStyle/>
          <a:p>
            <a:r>
              <a:rPr lang="fa-IR" dirty="0">
                <a:latin typeface="Yekan Bakh" pitchFamily="2" charset="-78"/>
                <a:ea typeface="Yekan Bakh" pitchFamily="2" charset="-78"/>
                <a:cs typeface="Yekan Bakh" pitchFamily="2" charset="-78"/>
              </a:rPr>
              <a:t>پرسوناهای مشتری در نیاز، هدف و فرآیندی که در مدل عملیاتی سیمرغ طی می‌کنند، متفاوت است </a:t>
            </a:r>
          </a:p>
        </p:txBody>
      </p:sp>
      <p:sp>
        <p:nvSpPr>
          <p:cNvPr id="5" name="TextBox 4">
            <a:extLst>
              <a:ext uri="{FF2B5EF4-FFF2-40B4-BE49-F238E27FC236}">
                <a16:creationId xmlns:a16="http://schemas.microsoft.com/office/drawing/2014/main" id="{64B6213A-F33D-C7A9-6C52-8C30EE1C902F}"/>
              </a:ext>
            </a:extLst>
          </p:cNvPr>
          <p:cNvSpPr txBox="1"/>
          <p:nvPr/>
        </p:nvSpPr>
        <p:spPr>
          <a:xfrm>
            <a:off x="8932589" y="1452913"/>
            <a:ext cx="1614761" cy="707886"/>
          </a:xfrm>
          <a:prstGeom prst="rect">
            <a:avLst/>
          </a:prstGeom>
          <a:noFill/>
        </p:spPr>
        <p:txBody>
          <a:bodyPr wrap="square" rtlCol="0">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2800" b="0" i="0" u="none" strike="noStrike" kern="1200" cap="none" spc="0" normalizeH="0" baseline="0" noProof="0" dirty="0">
                <a:ln>
                  <a:solidFill>
                    <a:srgbClr val="F0BE0F"/>
                  </a:solidFill>
                </a:ln>
                <a:noFill/>
                <a:effectLst/>
                <a:uLnTx/>
                <a:uFillTx/>
                <a:latin typeface="Yekan Bakh FaNum Black" pitchFamily="2" charset="-78"/>
                <a:ea typeface="Yekan Bakh FaNum Black" pitchFamily="2" charset="-78"/>
                <a:cs typeface="Yekan Bakh FaNum Black" pitchFamily="2" charset="-78"/>
              </a:rPr>
              <a:t>1</a:t>
            </a:r>
          </a:p>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200" b="1" i="0" u="none" strike="noStrike" kern="1200" cap="none" spc="0" normalizeH="0" baseline="0" noProof="0" dirty="0" err="1">
                <a:solidFill>
                  <a:srgbClr val="FFC000"/>
                </a:solidFill>
                <a:effectLst/>
                <a:uLnTx/>
                <a:uFillTx/>
                <a:latin typeface="Yekan Bakh" pitchFamily="2" charset="-78"/>
                <a:ea typeface="Yekan Bakh" pitchFamily="2" charset="-78"/>
                <a:cs typeface="Yekan Bakh" pitchFamily="2" charset="-78"/>
              </a:rPr>
              <a:t>کسب‎وکار</a:t>
            </a:r>
            <a:r>
              <a:rPr kumimoji="0" lang="fa-IR" sz="1200" b="1" i="0" u="none" strike="noStrike" kern="1200" cap="none" spc="0" normalizeH="0" baseline="0" noProof="0" dirty="0">
                <a:solidFill>
                  <a:srgbClr val="FFC000"/>
                </a:solidFill>
                <a:effectLst/>
                <a:uLnTx/>
                <a:uFillTx/>
                <a:latin typeface="Yekan Bakh" pitchFamily="2" charset="-78"/>
                <a:ea typeface="Yekan Bakh" pitchFamily="2" charset="-78"/>
                <a:cs typeface="Yekan Bakh" pitchFamily="2" charset="-78"/>
              </a:rPr>
              <a:t> تراز ایرانی</a:t>
            </a:r>
            <a:endParaRPr kumimoji="0" lang="en-US" sz="1200" b="1" i="0" u="none" strike="noStrike" kern="1200" cap="none" spc="0" normalizeH="0" baseline="0" noProof="0" dirty="0">
              <a:solidFill>
                <a:srgbClr val="FFC000"/>
              </a:solidFill>
              <a:effectLst/>
              <a:uLnTx/>
              <a:uFillTx/>
              <a:latin typeface="Yekan Bakh" pitchFamily="2" charset="-78"/>
              <a:ea typeface="Yekan Bakh" pitchFamily="2" charset="-78"/>
              <a:cs typeface="Yekan Bakh" pitchFamily="2" charset="-78"/>
            </a:endParaRPr>
          </a:p>
        </p:txBody>
      </p:sp>
      <p:cxnSp>
        <p:nvCxnSpPr>
          <p:cNvPr id="7" name="Straight Connector 6">
            <a:extLst>
              <a:ext uri="{FF2B5EF4-FFF2-40B4-BE49-F238E27FC236}">
                <a16:creationId xmlns:a16="http://schemas.microsoft.com/office/drawing/2014/main" id="{46CD3BFC-5B63-884B-5FD3-85F35AA54B28}"/>
              </a:ext>
            </a:extLst>
          </p:cNvPr>
          <p:cNvCxnSpPr>
            <a:cxnSpLocks/>
          </p:cNvCxnSpPr>
          <p:nvPr/>
        </p:nvCxnSpPr>
        <p:spPr>
          <a:xfrm flipH="1">
            <a:off x="9048358" y="2338038"/>
            <a:ext cx="1383224" cy="0"/>
          </a:xfrm>
          <a:prstGeom prst="line">
            <a:avLst/>
          </a:prstGeom>
          <a:ln w="28575">
            <a:solidFill>
              <a:srgbClr val="F0BE0F"/>
            </a:solidFill>
          </a:ln>
        </p:spPr>
        <p:style>
          <a:lnRef idx="1">
            <a:schemeClr val="accent4"/>
          </a:lnRef>
          <a:fillRef idx="0">
            <a:schemeClr val="accent4"/>
          </a:fillRef>
          <a:effectRef idx="0">
            <a:schemeClr val="accent4"/>
          </a:effectRef>
          <a:fontRef idx="minor">
            <a:schemeClr val="tx1"/>
          </a:fontRef>
        </p:style>
      </p:cxnSp>
      <p:sp>
        <p:nvSpPr>
          <p:cNvPr id="8" name="TextBox 7">
            <a:extLst>
              <a:ext uri="{FF2B5EF4-FFF2-40B4-BE49-F238E27FC236}">
                <a16:creationId xmlns:a16="http://schemas.microsoft.com/office/drawing/2014/main" id="{BA7F37AF-02D8-B33F-36C0-64DE5D5A533B}"/>
              </a:ext>
            </a:extLst>
          </p:cNvPr>
          <p:cNvSpPr txBox="1"/>
          <p:nvPr/>
        </p:nvSpPr>
        <p:spPr>
          <a:xfrm>
            <a:off x="8932589" y="2370123"/>
            <a:ext cx="1614761" cy="2693045"/>
          </a:xfrm>
          <a:prstGeom prst="rect">
            <a:avLst/>
          </a:prstGeom>
          <a:noFill/>
        </p:spPr>
        <p:txBody>
          <a:bodyPr wrap="square" rtlCol="0">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2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rPr>
              <a:t>ایرانی</a:t>
            </a:r>
          </a:p>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fa-IR" sz="12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2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rPr>
              <a:t>غیر از سیمرغ</a:t>
            </a:r>
          </a:p>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fa-IR" sz="12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endParaRPr>
          </a:p>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rPr>
              <a:t>دسترسی به یک شریک تجاری بین‌المللی و اینکه توسط آن شریک به عنوان یک مجموعه معتبر برای همکاری پذیرفته شود. </a:t>
            </a:r>
          </a:p>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fa-IR" sz="11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endParaRPr>
          </a:p>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rPr>
              <a:t>مزیت رقابتی و استراتژیک کسب می‌کنند، بودجه و اعتبار لازم را دارند. </a:t>
            </a:r>
            <a:endParaRPr kumimoji="0" lang="en-US" sz="11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endParaRPr>
          </a:p>
        </p:txBody>
      </p:sp>
      <p:cxnSp>
        <p:nvCxnSpPr>
          <p:cNvPr id="9" name="Straight Connector 8">
            <a:extLst>
              <a:ext uri="{FF2B5EF4-FFF2-40B4-BE49-F238E27FC236}">
                <a16:creationId xmlns:a16="http://schemas.microsoft.com/office/drawing/2014/main" id="{8FCCD07B-4C99-0DC3-98E3-C46704FD1602}"/>
              </a:ext>
            </a:extLst>
          </p:cNvPr>
          <p:cNvCxnSpPr>
            <a:cxnSpLocks/>
          </p:cNvCxnSpPr>
          <p:nvPr/>
        </p:nvCxnSpPr>
        <p:spPr>
          <a:xfrm flipH="1">
            <a:off x="9048358" y="2687288"/>
            <a:ext cx="1383224" cy="0"/>
          </a:xfrm>
          <a:prstGeom prst="line">
            <a:avLst/>
          </a:prstGeom>
          <a:ln>
            <a:solidFill>
              <a:srgbClr val="F0BE0F"/>
            </a:solidFill>
          </a:ln>
        </p:spPr>
        <p:style>
          <a:lnRef idx="1">
            <a:schemeClr val="accent4"/>
          </a:lnRef>
          <a:fillRef idx="0">
            <a:schemeClr val="accent4"/>
          </a:fillRef>
          <a:effectRef idx="0">
            <a:schemeClr val="accent4"/>
          </a:effectRef>
          <a:fontRef idx="minor">
            <a:schemeClr val="tx1"/>
          </a:fontRef>
        </p:style>
      </p:cxnSp>
      <p:cxnSp>
        <p:nvCxnSpPr>
          <p:cNvPr id="10" name="Straight Connector 9">
            <a:extLst>
              <a:ext uri="{FF2B5EF4-FFF2-40B4-BE49-F238E27FC236}">
                <a16:creationId xmlns:a16="http://schemas.microsoft.com/office/drawing/2014/main" id="{D40A06F0-C30D-9A99-CD7E-C1EFE91FF087}"/>
              </a:ext>
            </a:extLst>
          </p:cNvPr>
          <p:cNvCxnSpPr>
            <a:cxnSpLocks/>
          </p:cNvCxnSpPr>
          <p:nvPr/>
        </p:nvCxnSpPr>
        <p:spPr>
          <a:xfrm flipH="1">
            <a:off x="9048358" y="3049238"/>
            <a:ext cx="1383224" cy="0"/>
          </a:xfrm>
          <a:prstGeom prst="line">
            <a:avLst/>
          </a:prstGeom>
          <a:ln>
            <a:solidFill>
              <a:srgbClr val="F0BE0F"/>
            </a:solidFill>
          </a:ln>
        </p:spPr>
        <p:style>
          <a:lnRef idx="1">
            <a:schemeClr val="accent4"/>
          </a:lnRef>
          <a:fillRef idx="0">
            <a:schemeClr val="accent4"/>
          </a:fillRef>
          <a:effectRef idx="0">
            <a:schemeClr val="accent4"/>
          </a:effectRef>
          <a:fontRef idx="minor">
            <a:schemeClr val="tx1"/>
          </a:fontRef>
        </p:style>
      </p:cxnSp>
      <p:cxnSp>
        <p:nvCxnSpPr>
          <p:cNvPr id="11" name="Straight Connector 10">
            <a:extLst>
              <a:ext uri="{FF2B5EF4-FFF2-40B4-BE49-F238E27FC236}">
                <a16:creationId xmlns:a16="http://schemas.microsoft.com/office/drawing/2014/main" id="{C78CF72C-5F8E-5076-2F3F-EB5C35A63A97}"/>
              </a:ext>
            </a:extLst>
          </p:cNvPr>
          <p:cNvCxnSpPr>
            <a:cxnSpLocks/>
          </p:cNvCxnSpPr>
          <p:nvPr/>
        </p:nvCxnSpPr>
        <p:spPr>
          <a:xfrm flipH="1">
            <a:off x="9048358" y="4230175"/>
            <a:ext cx="1383224" cy="0"/>
          </a:xfrm>
          <a:prstGeom prst="line">
            <a:avLst/>
          </a:prstGeom>
          <a:ln>
            <a:solidFill>
              <a:srgbClr val="F0BE0F"/>
            </a:solidFill>
          </a:ln>
        </p:spPr>
        <p:style>
          <a:lnRef idx="1">
            <a:schemeClr val="accent4"/>
          </a:lnRef>
          <a:fillRef idx="0">
            <a:schemeClr val="accent4"/>
          </a:fillRef>
          <a:effectRef idx="0">
            <a:schemeClr val="accent4"/>
          </a:effectRef>
          <a:fontRef idx="minor">
            <a:schemeClr val="tx1"/>
          </a:fontRef>
        </p:style>
      </p:cxnSp>
      <p:cxnSp>
        <p:nvCxnSpPr>
          <p:cNvPr id="12" name="Straight Connector 11">
            <a:extLst>
              <a:ext uri="{FF2B5EF4-FFF2-40B4-BE49-F238E27FC236}">
                <a16:creationId xmlns:a16="http://schemas.microsoft.com/office/drawing/2014/main" id="{D1182359-7508-41D0-BAB6-1D8D01650523}"/>
              </a:ext>
            </a:extLst>
          </p:cNvPr>
          <p:cNvCxnSpPr>
            <a:cxnSpLocks/>
          </p:cNvCxnSpPr>
          <p:nvPr/>
        </p:nvCxnSpPr>
        <p:spPr>
          <a:xfrm flipH="1">
            <a:off x="9048358" y="5058405"/>
            <a:ext cx="1383224" cy="0"/>
          </a:xfrm>
          <a:prstGeom prst="line">
            <a:avLst/>
          </a:prstGeom>
          <a:ln>
            <a:solidFill>
              <a:srgbClr val="F0BE0F"/>
            </a:solidFill>
          </a:ln>
        </p:spPr>
        <p:style>
          <a:lnRef idx="1">
            <a:schemeClr val="accent4"/>
          </a:lnRef>
          <a:fillRef idx="0">
            <a:schemeClr val="accent4"/>
          </a:fillRef>
          <a:effectRef idx="0">
            <a:schemeClr val="accent4"/>
          </a:effectRef>
          <a:fontRef idx="minor">
            <a:schemeClr val="tx1"/>
          </a:fontRef>
        </p:style>
      </p:cxnSp>
      <p:sp>
        <p:nvSpPr>
          <p:cNvPr id="15" name="TextBox 14">
            <a:extLst>
              <a:ext uri="{FF2B5EF4-FFF2-40B4-BE49-F238E27FC236}">
                <a16:creationId xmlns:a16="http://schemas.microsoft.com/office/drawing/2014/main" id="{36B8DBDF-F483-1FF5-6332-B687CFC6DA9C}"/>
              </a:ext>
            </a:extLst>
          </p:cNvPr>
          <p:cNvSpPr txBox="1"/>
          <p:nvPr/>
        </p:nvSpPr>
        <p:spPr>
          <a:xfrm>
            <a:off x="7094366" y="1452913"/>
            <a:ext cx="1793893" cy="707886"/>
          </a:xfrm>
          <a:prstGeom prst="rect">
            <a:avLst/>
          </a:prstGeom>
          <a:noFill/>
        </p:spPr>
        <p:txBody>
          <a:bodyPr wrap="square" rtlCol="0">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2800" b="0" i="0" u="none" strike="noStrike" kern="1200" cap="none" spc="0" normalizeH="0" baseline="0" noProof="0" dirty="0">
                <a:ln>
                  <a:solidFill>
                    <a:srgbClr val="0199FF">
                      <a:lumMod val="50000"/>
                    </a:srgbClr>
                  </a:solidFill>
                </a:ln>
                <a:noFill/>
                <a:effectLst/>
                <a:uLnTx/>
                <a:uFillTx/>
                <a:latin typeface="Yekan Bakh FaNum Black" pitchFamily="2" charset="-78"/>
                <a:ea typeface="Yekan Bakh FaNum Black" pitchFamily="2" charset="-78"/>
                <a:cs typeface="Yekan Bakh FaNum Black" pitchFamily="2" charset="-78"/>
              </a:rPr>
              <a:t>2</a:t>
            </a:r>
          </a:p>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200" b="1" i="0" u="none" strike="noStrike" kern="1200" cap="none" spc="0" normalizeH="0" baseline="0" noProof="0" dirty="0" err="1">
                <a:solidFill>
                  <a:srgbClr val="0199FF">
                    <a:lumMod val="50000"/>
                  </a:srgbClr>
                </a:solidFill>
                <a:effectLst/>
                <a:uLnTx/>
                <a:uFillTx/>
                <a:latin typeface="Yekan Bakh" pitchFamily="2" charset="-78"/>
                <a:ea typeface="Yekan Bakh" pitchFamily="2" charset="-78"/>
                <a:cs typeface="Yekan Bakh" pitchFamily="2" charset="-78"/>
              </a:rPr>
              <a:t>کسب‎وکار</a:t>
            </a:r>
            <a:r>
              <a:rPr kumimoji="0" lang="fa-IR" sz="1200" b="1" i="0" u="none" strike="noStrike" kern="1200" cap="none" spc="0" normalizeH="0" baseline="0" noProof="0" dirty="0">
                <a:solidFill>
                  <a:srgbClr val="0199FF">
                    <a:lumMod val="50000"/>
                  </a:srgbClr>
                </a:solidFill>
                <a:effectLst/>
                <a:uLnTx/>
                <a:uFillTx/>
                <a:latin typeface="Yekan Bakh" pitchFamily="2" charset="-78"/>
                <a:ea typeface="Yekan Bakh" pitchFamily="2" charset="-78"/>
                <a:cs typeface="Yekan Bakh" pitchFamily="2" charset="-78"/>
              </a:rPr>
              <a:t> تراز خارجی</a:t>
            </a:r>
            <a:endParaRPr kumimoji="0" lang="en-US" sz="1200" b="1" i="0" u="none" strike="noStrike" kern="1200" cap="none" spc="0" normalizeH="0" baseline="0" noProof="0" dirty="0">
              <a:solidFill>
                <a:srgbClr val="0199FF">
                  <a:lumMod val="50000"/>
                </a:srgbClr>
              </a:solidFill>
              <a:effectLst/>
              <a:uLnTx/>
              <a:uFillTx/>
              <a:latin typeface="Yekan Bakh" pitchFamily="2" charset="-78"/>
              <a:ea typeface="Yekan Bakh" pitchFamily="2" charset="-78"/>
              <a:cs typeface="Yekan Bakh" pitchFamily="2" charset="-78"/>
            </a:endParaRPr>
          </a:p>
        </p:txBody>
      </p:sp>
      <p:cxnSp>
        <p:nvCxnSpPr>
          <p:cNvPr id="16" name="Straight Connector 15">
            <a:extLst>
              <a:ext uri="{FF2B5EF4-FFF2-40B4-BE49-F238E27FC236}">
                <a16:creationId xmlns:a16="http://schemas.microsoft.com/office/drawing/2014/main" id="{7306D574-A649-4A06-E55B-09C697A2E561}"/>
              </a:ext>
            </a:extLst>
          </p:cNvPr>
          <p:cNvCxnSpPr>
            <a:cxnSpLocks/>
          </p:cNvCxnSpPr>
          <p:nvPr/>
        </p:nvCxnSpPr>
        <p:spPr>
          <a:xfrm flipH="1">
            <a:off x="7325094" y="2338038"/>
            <a:ext cx="1383224" cy="0"/>
          </a:xfrm>
          <a:prstGeom prst="line">
            <a:avLst/>
          </a:prstGeom>
          <a:ln w="28575">
            <a:solidFill>
              <a:schemeClr val="tx2">
                <a:lumMod val="50000"/>
              </a:schemeClr>
            </a:solidFill>
          </a:ln>
        </p:spPr>
        <p:style>
          <a:lnRef idx="1">
            <a:schemeClr val="accent4"/>
          </a:lnRef>
          <a:fillRef idx="0">
            <a:schemeClr val="accent4"/>
          </a:fillRef>
          <a:effectRef idx="0">
            <a:schemeClr val="accent4"/>
          </a:effectRef>
          <a:fontRef idx="minor">
            <a:schemeClr val="tx1"/>
          </a:fontRef>
        </p:style>
      </p:cxnSp>
      <p:sp>
        <p:nvSpPr>
          <p:cNvPr id="17" name="TextBox 16">
            <a:extLst>
              <a:ext uri="{FF2B5EF4-FFF2-40B4-BE49-F238E27FC236}">
                <a16:creationId xmlns:a16="http://schemas.microsoft.com/office/drawing/2014/main" id="{313FD748-DCC9-ADC1-DCFB-3F28C214E710}"/>
              </a:ext>
            </a:extLst>
          </p:cNvPr>
          <p:cNvSpPr txBox="1"/>
          <p:nvPr/>
        </p:nvSpPr>
        <p:spPr>
          <a:xfrm>
            <a:off x="7209325" y="2370123"/>
            <a:ext cx="1614761" cy="2693045"/>
          </a:xfrm>
          <a:prstGeom prst="rect">
            <a:avLst/>
          </a:prstGeom>
          <a:noFill/>
        </p:spPr>
        <p:txBody>
          <a:bodyPr wrap="square" rtlCol="0">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2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rPr>
              <a:t>خارجی (بین‌المللی)</a:t>
            </a:r>
          </a:p>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fa-IR" sz="12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2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rPr>
              <a:t>غیر از سیمرغ </a:t>
            </a:r>
          </a:p>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fa-IR" sz="12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endParaRPr>
          </a:p>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rPr>
              <a:t>دسترسی به یک بازار جدید و بزرگ و اطمینان از اینکه معامله طبق استاندارد و تعهدات تعریف شده، انجام خواهد شد. </a:t>
            </a:r>
          </a:p>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fa-IR" sz="11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endParaRPr>
          </a:p>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rPr>
              <a:t>به دنبال تامین مواد اولیه موردنیاز یا بازاری جدید برای محصولات و یا خدمات خود هستند</a:t>
            </a:r>
            <a:endParaRPr kumimoji="0" lang="en-US" sz="11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endParaRPr>
          </a:p>
        </p:txBody>
      </p:sp>
      <p:cxnSp>
        <p:nvCxnSpPr>
          <p:cNvPr id="18" name="Straight Connector 17">
            <a:extLst>
              <a:ext uri="{FF2B5EF4-FFF2-40B4-BE49-F238E27FC236}">
                <a16:creationId xmlns:a16="http://schemas.microsoft.com/office/drawing/2014/main" id="{4DDBEC37-95B0-A92F-AB7E-20841AEBF080}"/>
              </a:ext>
            </a:extLst>
          </p:cNvPr>
          <p:cNvCxnSpPr>
            <a:cxnSpLocks/>
          </p:cNvCxnSpPr>
          <p:nvPr/>
        </p:nvCxnSpPr>
        <p:spPr>
          <a:xfrm flipH="1">
            <a:off x="7325094" y="2687288"/>
            <a:ext cx="1383224" cy="0"/>
          </a:xfrm>
          <a:prstGeom prst="line">
            <a:avLst/>
          </a:prstGeom>
          <a:ln>
            <a:solidFill>
              <a:schemeClr val="tx2">
                <a:lumMod val="50000"/>
              </a:schemeClr>
            </a:solidFill>
          </a:ln>
        </p:spPr>
        <p:style>
          <a:lnRef idx="1">
            <a:schemeClr val="accent4"/>
          </a:lnRef>
          <a:fillRef idx="0">
            <a:schemeClr val="accent4"/>
          </a:fillRef>
          <a:effectRef idx="0">
            <a:schemeClr val="accent4"/>
          </a:effectRef>
          <a:fontRef idx="minor">
            <a:schemeClr val="tx1"/>
          </a:fontRef>
        </p:style>
      </p:cxnSp>
      <p:cxnSp>
        <p:nvCxnSpPr>
          <p:cNvPr id="19" name="Straight Connector 18">
            <a:extLst>
              <a:ext uri="{FF2B5EF4-FFF2-40B4-BE49-F238E27FC236}">
                <a16:creationId xmlns:a16="http://schemas.microsoft.com/office/drawing/2014/main" id="{8E461249-625C-9687-BF13-E62042BDB4AF}"/>
              </a:ext>
            </a:extLst>
          </p:cNvPr>
          <p:cNvCxnSpPr>
            <a:cxnSpLocks/>
          </p:cNvCxnSpPr>
          <p:nvPr/>
        </p:nvCxnSpPr>
        <p:spPr>
          <a:xfrm flipH="1">
            <a:off x="7325094" y="3049238"/>
            <a:ext cx="1383224" cy="0"/>
          </a:xfrm>
          <a:prstGeom prst="line">
            <a:avLst/>
          </a:prstGeom>
          <a:ln>
            <a:solidFill>
              <a:schemeClr val="tx2">
                <a:lumMod val="50000"/>
              </a:schemeClr>
            </a:solidFill>
          </a:ln>
        </p:spPr>
        <p:style>
          <a:lnRef idx="1">
            <a:schemeClr val="accent4"/>
          </a:lnRef>
          <a:fillRef idx="0">
            <a:schemeClr val="accent4"/>
          </a:fillRef>
          <a:effectRef idx="0">
            <a:schemeClr val="accent4"/>
          </a:effectRef>
          <a:fontRef idx="minor">
            <a:schemeClr val="tx1"/>
          </a:fontRef>
        </p:style>
      </p:cxnSp>
      <p:cxnSp>
        <p:nvCxnSpPr>
          <p:cNvPr id="20" name="Straight Connector 19">
            <a:extLst>
              <a:ext uri="{FF2B5EF4-FFF2-40B4-BE49-F238E27FC236}">
                <a16:creationId xmlns:a16="http://schemas.microsoft.com/office/drawing/2014/main" id="{DCB49E70-4B9E-9218-77BA-9F23788A274D}"/>
              </a:ext>
            </a:extLst>
          </p:cNvPr>
          <p:cNvCxnSpPr>
            <a:cxnSpLocks/>
          </p:cNvCxnSpPr>
          <p:nvPr/>
        </p:nvCxnSpPr>
        <p:spPr>
          <a:xfrm flipH="1">
            <a:off x="7325094" y="4230175"/>
            <a:ext cx="1383224" cy="0"/>
          </a:xfrm>
          <a:prstGeom prst="line">
            <a:avLst/>
          </a:prstGeom>
          <a:ln>
            <a:solidFill>
              <a:schemeClr val="tx2">
                <a:lumMod val="50000"/>
              </a:schemeClr>
            </a:solidFill>
          </a:ln>
        </p:spPr>
        <p:style>
          <a:lnRef idx="1">
            <a:schemeClr val="accent4"/>
          </a:lnRef>
          <a:fillRef idx="0">
            <a:schemeClr val="accent4"/>
          </a:fillRef>
          <a:effectRef idx="0">
            <a:schemeClr val="accent4"/>
          </a:effectRef>
          <a:fontRef idx="minor">
            <a:schemeClr val="tx1"/>
          </a:fontRef>
        </p:style>
      </p:cxnSp>
      <p:cxnSp>
        <p:nvCxnSpPr>
          <p:cNvPr id="21" name="Straight Connector 20">
            <a:extLst>
              <a:ext uri="{FF2B5EF4-FFF2-40B4-BE49-F238E27FC236}">
                <a16:creationId xmlns:a16="http://schemas.microsoft.com/office/drawing/2014/main" id="{164AA19E-0CA2-351C-78BB-5EDDEF5454DA}"/>
              </a:ext>
            </a:extLst>
          </p:cNvPr>
          <p:cNvCxnSpPr>
            <a:cxnSpLocks/>
          </p:cNvCxnSpPr>
          <p:nvPr/>
        </p:nvCxnSpPr>
        <p:spPr>
          <a:xfrm flipH="1">
            <a:off x="7325094" y="5058405"/>
            <a:ext cx="1383224" cy="0"/>
          </a:xfrm>
          <a:prstGeom prst="line">
            <a:avLst/>
          </a:prstGeom>
          <a:ln>
            <a:solidFill>
              <a:schemeClr val="tx2">
                <a:lumMod val="50000"/>
              </a:schemeClr>
            </a:solidFill>
          </a:ln>
        </p:spPr>
        <p:style>
          <a:lnRef idx="1">
            <a:schemeClr val="accent4"/>
          </a:lnRef>
          <a:fillRef idx="0">
            <a:schemeClr val="accent4"/>
          </a:fillRef>
          <a:effectRef idx="0">
            <a:schemeClr val="accent4"/>
          </a:effectRef>
          <a:fontRef idx="minor">
            <a:schemeClr val="tx1"/>
          </a:fontRef>
        </p:style>
      </p:cxnSp>
      <p:sp>
        <p:nvSpPr>
          <p:cNvPr id="23" name="TextBox 22">
            <a:extLst>
              <a:ext uri="{FF2B5EF4-FFF2-40B4-BE49-F238E27FC236}">
                <a16:creationId xmlns:a16="http://schemas.microsoft.com/office/drawing/2014/main" id="{B126BD03-5341-55AF-523A-3EC28AA8E2CB}"/>
              </a:ext>
            </a:extLst>
          </p:cNvPr>
          <p:cNvSpPr txBox="1"/>
          <p:nvPr/>
        </p:nvSpPr>
        <p:spPr>
          <a:xfrm>
            <a:off x="5435275" y="1452913"/>
            <a:ext cx="1614761" cy="707886"/>
          </a:xfrm>
          <a:prstGeom prst="rect">
            <a:avLst/>
          </a:prstGeom>
          <a:noFill/>
        </p:spPr>
        <p:txBody>
          <a:bodyPr wrap="square" rtlCol="0">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2800" b="0" i="0" u="none" strike="noStrike" kern="1200" cap="none" spc="0" normalizeH="0" baseline="0" noProof="0" dirty="0">
                <a:ln>
                  <a:solidFill>
                    <a:srgbClr val="92D050"/>
                  </a:solidFill>
                </a:ln>
                <a:noFill/>
                <a:effectLst/>
                <a:uLnTx/>
                <a:uFillTx/>
                <a:latin typeface="Yekan Bakh FaNum Black" pitchFamily="2" charset="-78"/>
                <a:ea typeface="Yekan Bakh FaNum Black" pitchFamily="2" charset="-78"/>
                <a:cs typeface="Yekan Bakh FaNum Black" pitchFamily="2" charset="-78"/>
              </a:rPr>
              <a:t>3</a:t>
            </a:r>
          </a:p>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200" b="1" i="0" u="none" strike="noStrike" kern="1200" cap="none" spc="0" normalizeH="0" baseline="0" noProof="0" dirty="0" err="1">
                <a:solidFill>
                  <a:srgbClr val="92D050"/>
                </a:solidFill>
                <a:effectLst/>
                <a:uLnTx/>
                <a:uFillTx/>
                <a:latin typeface="Yekan Bakh" pitchFamily="2" charset="-78"/>
                <a:ea typeface="Yekan Bakh" pitchFamily="2" charset="-78"/>
                <a:cs typeface="Yekan Bakh" pitchFamily="2" charset="-78"/>
              </a:rPr>
              <a:t>کسب‎وکار</a:t>
            </a:r>
            <a:r>
              <a:rPr kumimoji="0" lang="fa-IR" sz="1200" b="1" i="0" u="none" strike="noStrike" kern="1200" cap="none" spc="0" normalizeH="0" baseline="0" noProof="0" dirty="0">
                <a:solidFill>
                  <a:srgbClr val="92D050"/>
                </a:solidFill>
                <a:effectLst/>
                <a:uLnTx/>
                <a:uFillTx/>
                <a:latin typeface="Yekan Bakh" pitchFamily="2" charset="-78"/>
                <a:ea typeface="Yekan Bakh" pitchFamily="2" charset="-78"/>
                <a:cs typeface="Yekan Bakh" pitchFamily="2" charset="-78"/>
              </a:rPr>
              <a:t> مشتاق</a:t>
            </a:r>
            <a:endParaRPr kumimoji="0" lang="en-US" sz="1200" b="1" i="0" u="none" strike="noStrike" kern="1200" cap="none" spc="0" normalizeH="0" baseline="0" noProof="0" dirty="0">
              <a:solidFill>
                <a:srgbClr val="92D050"/>
              </a:solidFill>
              <a:effectLst/>
              <a:uLnTx/>
              <a:uFillTx/>
              <a:latin typeface="Yekan Bakh" pitchFamily="2" charset="-78"/>
              <a:ea typeface="Yekan Bakh" pitchFamily="2" charset="-78"/>
              <a:cs typeface="Yekan Bakh" pitchFamily="2" charset="-78"/>
            </a:endParaRPr>
          </a:p>
        </p:txBody>
      </p:sp>
      <p:cxnSp>
        <p:nvCxnSpPr>
          <p:cNvPr id="24" name="Straight Connector 23">
            <a:extLst>
              <a:ext uri="{FF2B5EF4-FFF2-40B4-BE49-F238E27FC236}">
                <a16:creationId xmlns:a16="http://schemas.microsoft.com/office/drawing/2014/main" id="{DC968C76-6D37-17C2-1B06-0F3C86DFAE7B}"/>
              </a:ext>
            </a:extLst>
          </p:cNvPr>
          <p:cNvCxnSpPr>
            <a:cxnSpLocks/>
          </p:cNvCxnSpPr>
          <p:nvPr/>
        </p:nvCxnSpPr>
        <p:spPr>
          <a:xfrm flipH="1">
            <a:off x="5551044" y="2338038"/>
            <a:ext cx="1383224" cy="0"/>
          </a:xfrm>
          <a:prstGeom prst="line">
            <a:avLst/>
          </a:prstGeom>
          <a:ln w="28575">
            <a:solidFill>
              <a:srgbClr val="92D050"/>
            </a:solidFill>
          </a:ln>
        </p:spPr>
        <p:style>
          <a:lnRef idx="1">
            <a:schemeClr val="accent4"/>
          </a:lnRef>
          <a:fillRef idx="0">
            <a:schemeClr val="accent4"/>
          </a:fillRef>
          <a:effectRef idx="0">
            <a:schemeClr val="accent4"/>
          </a:effectRef>
          <a:fontRef idx="minor">
            <a:schemeClr val="tx1"/>
          </a:fontRef>
        </p:style>
      </p:cxnSp>
      <p:sp>
        <p:nvSpPr>
          <p:cNvPr id="25" name="TextBox 24">
            <a:extLst>
              <a:ext uri="{FF2B5EF4-FFF2-40B4-BE49-F238E27FC236}">
                <a16:creationId xmlns:a16="http://schemas.microsoft.com/office/drawing/2014/main" id="{22CF7CE3-F70A-4EFC-B522-8E46B8158DD9}"/>
              </a:ext>
            </a:extLst>
          </p:cNvPr>
          <p:cNvSpPr txBox="1"/>
          <p:nvPr/>
        </p:nvSpPr>
        <p:spPr>
          <a:xfrm>
            <a:off x="5435275" y="2370123"/>
            <a:ext cx="1614761" cy="2693045"/>
          </a:xfrm>
          <a:prstGeom prst="rect">
            <a:avLst/>
          </a:prstGeom>
          <a:noFill/>
        </p:spPr>
        <p:txBody>
          <a:bodyPr wrap="square" rtlCol="0">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2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rPr>
              <a:t>ایرانی</a:t>
            </a:r>
          </a:p>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fa-IR" sz="12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2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rPr>
              <a:t>غیر از سیمرغ </a:t>
            </a:r>
          </a:p>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fa-IR" sz="12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endParaRPr>
          </a:p>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rPr>
              <a:t>ایجاد قابلیت در سازمان و محصولات خود برای اینکه در زمان مناسب بتوانند با شرکت‌های خارجی، تجارت داشته باشند. </a:t>
            </a:r>
          </a:p>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fa-IR" sz="11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endParaRPr>
          </a:p>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rPr>
              <a:t>دارای انگیزه، برای </a:t>
            </a:r>
            <a:r>
              <a:rPr kumimoji="0" lang="fa-IR" sz="1100" b="0" i="0" u="none" strike="noStrike" kern="1200" cap="none" spc="0" normalizeH="0" baseline="0" noProof="0" dirty="0" err="1">
                <a:ln>
                  <a:noFill/>
                </a:ln>
                <a:solidFill>
                  <a:prstClr val="black"/>
                </a:solidFill>
                <a:effectLst/>
                <a:uLnTx/>
                <a:uFillTx/>
                <a:latin typeface="Yekan Bakh" pitchFamily="2" charset="-78"/>
                <a:ea typeface="Yekan Bakh" pitchFamily="2" charset="-78"/>
                <a:cs typeface="Yekan Bakh" pitchFamily="2" charset="-78"/>
              </a:rPr>
              <a:t>وورد</a:t>
            </a:r>
            <a:r>
              <a:rPr kumimoji="0" lang="fa-IR" sz="11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rPr>
              <a:t> به بازارهای خارجی، اما شاخص آمادگی مناسبی ندارند </a:t>
            </a:r>
            <a:endParaRPr kumimoji="0" lang="en-US" sz="11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endParaRPr>
          </a:p>
        </p:txBody>
      </p:sp>
      <p:cxnSp>
        <p:nvCxnSpPr>
          <p:cNvPr id="26" name="Straight Connector 25">
            <a:extLst>
              <a:ext uri="{FF2B5EF4-FFF2-40B4-BE49-F238E27FC236}">
                <a16:creationId xmlns:a16="http://schemas.microsoft.com/office/drawing/2014/main" id="{FA552B2E-FCB8-EBA8-B093-C07648CAD649}"/>
              </a:ext>
            </a:extLst>
          </p:cNvPr>
          <p:cNvCxnSpPr>
            <a:cxnSpLocks/>
          </p:cNvCxnSpPr>
          <p:nvPr/>
        </p:nvCxnSpPr>
        <p:spPr>
          <a:xfrm flipH="1">
            <a:off x="5551044" y="2687288"/>
            <a:ext cx="1383224" cy="0"/>
          </a:xfrm>
          <a:prstGeom prst="line">
            <a:avLst/>
          </a:prstGeom>
          <a:ln>
            <a:solidFill>
              <a:srgbClr val="92D050"/>
            </a:solidFill>
          </a:ln>
        </p:spPr>
        <p:style>
          <a:lnRef idx="1">
            <a:schemeClr val="accent4"/>
          </a:lnRef>
          <a:fillRef idx="0">
            <a:schemeClr val="accent4"/>
          </a:fillRef>
          <a:effectRef idx="0">
            <a:schemeClr val="accent4"/>
          </a:effectRef>
          <a:fontRef idx="minor">
            <a:schemeClr val="tx1"/>
          </a:fontRef>
        </p:style>
      </p:cxnSp>
      <p:cxnSp>
        <p:nvCxnSpPr>
          <p:cNvPr id="27" name="Straight Connector 26">
            <a:extLst>
              <a:ext uri="{FF2B5EF4-FFF2-40B4-BE49-F238E27FC236}">
                <a16:creationId xmlns:a16="http://schemas.microsoft.com/office/drawing/2014/main" id="{F18C1691-F218-CB42-09A3-A8FD228F41D1}"/>
              </a:ext>
            </a:extLst>
          </p:cNvPr>
          <p:cNvCxnSpPr>
            <a:cxnSpLocks/>
          </p:cNvCxnSpPr>
          <p:nvPr/>
        </p:nvCxnSpPr>
        <p:spPr>
          <a:xfrm flipH="1">
            <a:off x="5551044" y="3049238"/>
            <a:ext cx="1383224" cy="0"/>
          </a:xfrm>
          <a:prstGeom prst="line">
            <a:avLst/>
          </a:prstGeom>
          <a:ln>
            <a:solidFill>
              <a:srgbClr val="92D050"/>
            </a:solidFill>
          </a:ln>
        </p:spPr>
        <p:style>
          <a:lnRef idx="1">
            <a:schemeClr val="accent4"/>
          </a:lnRef>
          <a:fillRef idx="0">
            <a:schemeClr val="accent4"/>
          </a:fillRef>
          <a:effectRef idx="0">
            <a:schemeClr val="accent4"/>
          </a:effectRef>
          <a:fontRef idx="minor">
            <a:schemeClr val="tx1"/>
          </a:fontRef>
        </p:style>
      </p:cxnSp>
      <p:cxnSp>
        <p:nvCxnSpPr>
          <p:cNvPr id="28" name="Straight Connector 27">
            <a:extLst>
              <a:ext uri="{FF2B5EF4-FFF2-40B4-BE49-F238E27FC236}">
                <a16:creationId xmlns:a16="http://schemas.microsoft.com/office/drawing/2014/main" id="{52BDFF29-951A-1FB4-9F86-9141A2A991F5}"/>
              </a:ext>
            </a:extLst>
          </p:cNvPr>
          <p:cNvCxnSpPr>
            <a:cxnSpLocks/>
          </p:cNvCxnSpPr>
          <p:nvPr/>
        </p:nvCxnSpPr>
        <p:spPr>
          <a:xfrm flipH="1">
            <a:off x="5551044" y="4230175"/>
            <a:ext cx="1383224" cy="0"/>
          </a:xfrm>
          <a:prstGeom prst="line">
            <a:avLst/>
          </a:prstGeom>
          <a:ln>
            <a:solidFill>
              <a:srgbClr val="92D050"/>
            </a:solidFill>
          </a:ln>
        </p:spPr>
        <p:style>
          <a:lnRef idx="1">
            <a:schemeClr val="accent4"/>
          </a:lnRef>
          <a:fillRef idx="0">
            <a:schemeClr val="accent4"/>
          </a:fillRef>
          <a:effectRef idx="0">
            <a:schemeClr val="accent4"/>
          </a:effectRef>
          <a:fontRef idx="minor">
            <a:schemeClr val="tx1"/>
          </a:fontRef>
        </p:style>
      </p:cxnSp>
      <p:cxnSp>
        <p:nvCxnSpPr>
          <p:cNvPr id="29" name="Straight Connector 28">
            <a:extLst>
              <a:ext uri="{FF2B5EF4-FFF2-40B4-BE49-F238E27FC236}">
                <a16:creationId xmlns:a16="http://schemas.microsoft.com/office/drawing/2014/main" id="{9E0911BC-C91B-2042-A5BD-10ED8C6BF4D7}"/>
              </a:ext>
            </a:extLst>
          </p:cNvPr>
          <p:cNvCxnSpPr>
            <a:cxnSpLocks/>
          </p:cNvCxnSpPr>
          <p:nvPr/>
        </p:nvCxnSpPr>
        <p:spPr>
          <a:xfrm flipH="1">
            <a:off x="5551044" y="5058405"/>
            <a:ext cx="1383224" cy="0"/>
          </a:xfrm>
          <a:prstGeom prst="line">
            <a:avLst/>
          </a:prstGeom>
          <a:ln>
            <a:solidFill>
              <a:srgbClr val="92D050"/>
            </a:solidFill>
          </a:ln>
        </p:spPr>
        <p:style>
          <a:lnRef idx="1">
            <a:schemeClr val="accent4"/>
          </a:lnRef>
          <a:fillRef idx="0">
            <a:schemeClr val="accent4"/>
          </a:fillRef>
          <a:effectRef idx="0">
            <a:schemeClr val="accent4"/>
          </a:effectRef>
          <a:fontRef idx="minor">
            <a:schemeClr val="tx1"/>
          </a:fontRef>
        </p:style>
      </p:cxnSp>
      <p:sp>
        <p:nvSpPr>
          <p:cNvPr id="31" name="TextBox 30">
            <a:extLst>
              <a:ext uri="{FF2B5EF4-FFF2-40B4-BE49-F238E27FC236}">
                <a16:creationId xmlns:a16="http://schemas.microsoft.com/office/drawing/2014/main" id="{28B16C50-8D1E-257C-6E16-39A6C57491DC}"/>
              </a:ext>
            </a:extLst>
          </p:cNvPr>
          <p:cNvSpPr txBox="1"/>
          <p:nvPr/>
        </p:nvSpPr>
        <p:spPr>
          <a:xfrm>
            <a:off x="3776184" y="1452913"/>
            <a:ext cx="1614761" cy="707886"/>
          </a:xfrm>
          <a:prstGeom prst="rect">
            <a:avLst/>
          </a:prstGeom>
          <a:noFill/>
        </p:spPr>
        <p:txBody>
          <a:bodyPr wrap="square" rtlCol="0">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2800" b="0" i="0" u="none" strike="noStrike" kern="1200" cap="none" spc="0" normalizeH="0" baseline="0" noProof="0" dirty="0">
                <a:ln>
                  <a:solidFill>
                    <a:srgbClr val="0199FF"/>
                  </a:solidFill>
                </a:ln>
                <a:noFill/>
                <a:effectLst/>
                <a:uLnTx/>
                <a:uFillTx/>
                <a:latin typeface="Yekan Bakh FaNum Black" pitchFamily="2" charset="-78"/>
                <a:ea typeface="Yekan Bakh FaNum Black" pitchFamily="2" charset="-78"/>
                <a:cs typeface="Yekan Bakh FaNum Black" pitchFamily="2" charset="-78"/>
              </a:rPr>
              <a:t>4</a:t>
            </a:r>
          </a:p>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200" b="1" i="0" u="none" strike="noStrike" kern="1200" cap="none" spc="0" normalizeH="0" baseline="0" noProof="0" dirty="0">
                <a:solidFill>
                  <a:srgbClr val="0199FF"/>
                </a:solidFill>
                <a:effectLst/>
                <a:uLnTx/>
                <a:uFillTx/>
                <a:latin typeface="Yekan Bakh" pitchFamily="2" charset="-78"/>
                <a:ea typeface="Yekan Bakh" pitchFamily="2" charset="-78"/>
                <a:cs typeface="Yekan Bakh" pitchFamily="2" charset="-78"/>
              </a:rPr>
              <a:t>کسب‌وکار کنجکاو</a:t>
            </a:r>
            <a:endParaRPr kumimoji="0" lang="en-US" sz="1200" b="1" i="0" u="none" strike="noStrike" kern="1200" cap="none" spc="0" normalizeH="0" baseline="0" noProof="0" dirty="0">
              <a:solidFill>
                <a:srgbClr val="0199FF"/>
              </a:solidFill>
              <a:effectLst/>
              <a:uLnTx/>
              <a:uFillTx/>
              <a:latin typeface="Yekan Bakh" pitchFamily="2" charset="-78"/>
              <a:ea typeface="Yekan Bakh" pitchFamily="2" charset="-78"/>
              <a:cs typeface="Yekan Bakh" pitchFamily="2" charset="-78"/>
            </a:endParaRPr>
          </a:p>
        </p:txBody>
      </p:sp>
      <p:cxnSp>
        <p:nvCxnSpPr>
          <p:cNvPr id="32" name="Straight Connector 31">
            <a:extLst>
              <a:ext uri="{FF2B5EF4-FFF2-40B4-BE49-F238E27FC236}">
                <a16:creationId xmlns:a16="http://schemas.microsoft.com/office/drawing/2014/main" id="{0DBE2633-F49E-E92C-07F9-A30DED5BA15A}"/>
              </a:ext>
            </a:extLst>
          </p:cNvPr>
          <p:cNvCxnSpPr>
            <a:cxnSpLocks/>
          </p:cNvCxnSpPr>
          <p:nvPr/>
        </p:nvCxnSpPr>
        <p:spPr>
          <a:xfrm flipH="1">
            <a:off x="3891953" y="2338038"/>
            <a:ext cx="1383224" cy="0"/>
          </a:xfrm>
          <a:prstGeom prst="line">
            <a:avLst/>
          </a:prstGeom>
          <a:ln w="28575">
            <a:solidFill>
              <a:schemeClr val="tx2"/>
            </a:solidFill>
          </a:ln>
        </p:spPr>
        <p:style>
          <a:lnRef idx="1">
            <a:schemeClr val="accent4"/>
          </a:lnRef>
          <a:fillRef idx="0">
            <a:schemeClr val="accent4"/>
          </a:fillRef>
          <a:effectRef idx="0">
            <a:schemeClr val="accent4"/>
          </a:effectRef>
          <a:fontRef idx="minor">
            <a:schemeClr val="tx1"/>
          </a:fontRef>
        </p:style>
      </p:cxnSp>
      <p:sp>
        <p:nvSpPr>
          <p:cNvPr id="33" name="TextBox 32">
            <a:extLst>
              <a:ext uri="{FF2B5EF4-FFF2-40B4-BE49-F238E27FC236}">
                <a16:creationId xmlns:a16="http://schemas.microsoft.com/office/drawing/2014/main" id="{0238C8AF-8F7A-4354-2E6D-86B4F74E3754}"/>
              </a:ext>
            </a:extLst>
          </p:cNvPr>
          <p:cNvSpPr txBox="1"/>
          <p:nvPr/>
        </p:nvSpPr>
        <p:spPr>
          <a:xfrm>
            <a:off x="3776184" y="2370123"/>
            <a:ext cx="1614761" cy="2693045"/>
          </a:xfrm>
          <a:prstGeom prst="rect">
            <a:avLst/>
          </a:prstGeom>
          <a:noFill/>
        </p:spPr>
        <p:txBody>
          <a:bodyPr wrap="square" rtlCol="0">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2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rPr>
              <a:t>خارجی (بین‌المللی)</a:t>
            </a:r>
          </a:p>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fa-IR" sz="12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2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rPr>
              <a:t>غیر از سیمرغ</a:t>
            </a:r>
          </a:p>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fa-IR" sz="12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endParaRPr>
          </a:p>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rPr>
              <a:t>شناسایی فرصت یا بازارهای نوظهور و آماده بودن برای استفاده قبل از ایجاد تعهد است، صرفا دنبال کاهش </a:t>
            </a:r>
            <a:r>
              <a:rPr kumimoji="0" lang="fa-IR" sz="1100" b="0" i="0" u="none" strike="noStrike" kern="1200" cap="none" spc="0" normalizeH="0" baseline="0" noProof="0" dirty="0" err="1">
                <a:ln>
                  <a:noFill/>
                </a:ln>
                <a:solidFill>
                  <a:prstClr val="black"/>
                </a:solidFill>
                <a:effectLst/>
                <a:uLnTx/>
                <a:uFillTx/>
                <a:latin typeface="Yekan Bakh" pitchFamily="2" charset="-78"/>
                <a:ea typeface="Yekan Bakh" pitchFamily="2" charset="-78"/>
                <a:cs typeface="Yekan Bakh" pitchFamily="2" charset="-78"/>
              </a:rPr>
              <a:t>عدم‌قطعیت</a:t>
            </a:r>
            <a:r>
              <a:rPr kumimoji="0" lang="fa-IR" sz="11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rPr>
              <a:t> </a:t>
            </a:r>
            <a:r>
              <a:rPr kumimoji="0" lang="fa-IR" sz="1100" b="0" i="0" u="none" strike="noStrike" kern="1200" cap="none" spc="0" normalizeH="0" baseline="0" noProof="0" dirty="0" err="1">
                <a:ln>
                  <a:noFill/>
                </a:ln>
                <a:solidFill>
                  <a:prstClr val="black"/>
                </a:solidFill>
                <a:effectLst/>
                <a:uLnTx/>
                <a:uFillTx/>
                <a:latin typeface="Yekan Bakh" pitchFamily="2" charset="-78"/>
                <a:ea typeface="Yekan Bakh" pitchFamily="2" charset="-78"/>
                <a:cs typeface="Yekan Bakh" pitchFamily="2" charset="-78"/>
              </a:rPr>
              <a:t>می‎باشد</a:t>
            </a:r>
            <a:endParaRPr kumimoji="0" lang="fa-IR" sz="11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endParaRPr>
          </a:p>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fa-IR" sz="11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endParaRPr>
          </a:p>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rPr>
              <a:t>شرکت صرفا در </a:t>
            </a:r>
            <a:r>
              <a:rPr kumimoji="0" lang="fa-IR" sz="1100" b="0" i="0" u="none" strike="noStrike" kern="1200" cap="none" spc="0" normalizeH="0" baseline="0" noProof="0" dirty="0" err="1">
                <a:ln>
                  <a:noFill/>
                </a:ln>
                <a:solidFill>
                  <a:prstClr val="black"/>
                </a:solidFill>
                <a:effectLst/>
                <a:uLnTx/>
                <a:uFillTx/>
                <a:latin typeface="Yekan Bakh" pitchFamily="2" charset="-78"/>
                <a:ea typeface="Yekan Bakh" pitchFamily="2" charset="-78"/>
                <a:cs typeface="Yekan Bakh" pitchFamily="2" charset="-78"/>
              </a:rPr>
              <a:t>جستجوری</a:t>
            </a:r>
            <a:r>
              <a:rPr kumimoji="0" lang="fa-IR" sz="11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rPr>
              <a:t> اطلاعات از یک بازار جدید </a:t>
            </a:r>
            <a:r>
              <a:rPr kumimoji="0" lang="fa-IR" sz="1100" b="0" i="0" u="none" strike="noStrike" kern="1200" cap="none" spc="0" normalizeH="0" baseline="0" noProof="0" dirty="0" err="1">
                <a:ln>
                  <a:noFill/>
                </a:ln>
                <a:solidFill>
                  <a:prstClr val="black"/>
                </a:solidFill>
                <a:effectLst/>
                <a:uLnTx/>
                <a:uFillTx/>
                <a:latin typeface="Yekan Bakh" pitchFamily="2" charset="-78"/>
                <a:ea typeface="Yekan Bakh" pitchFamily="2" charset="-78"/>
                <a:cs typeface="Yekan Bakh" pitchFamily="2" charset="-78"/>
              </a:rPr>
              <a:t>بوجود</a:t>
            </a:r>
            <a:r>
              <a:rPr kumimoji="0" lang="fa-IR" sz="11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rPr>
              <a:t> آمده است</a:t>
            </a:r>
            <a:endParaRPr kumimoji="0" lang="en-US" sz="11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endParaRPr>
          </a:p>
        </p:txBody>
      </p:sp>
      <p:cxnSp>
        <p:nvCxnSpPr>
          <p:cNvPr id="34" name="Straight Connector 33">
            <a:extLst>
              <a:ext uri="{FF2B5EF4-FFF2-40B4-BE49-F238E27FC236}">
                <a16:creationId xmlns:a16="http://schemas.microsoft.com/office/drawing/2014/main" id="{F972495E-5049-AC0E-DF13-428FD490186C}"/>
              </a:ext>
            </a:extLst>
          </p:cNvPr>
          <p:cNvCxnSpPr>
            <a:cxnSpLocks/>
          </p:cNvCxnSpPr>
          <p:nvPr/>
        </p:nvCxnSpPr>
        <p:spPr>
          <a:xfrm flipH="1">
            <a:off x="3891953" y="2687288"/>
            <a:ext cx="1383224" cy="0"/>
          </a:xfrm>
          <a:prstGeom prst="line">
            <a:avLst/>
          </a:prstGeom>
          <a:ln>
            <a:solidFill>
              <a:schemeClr val="tx2"/>
            </a:solidFill>
          </a:ln>
        </p:spPr>
        <p:style>
          <a:lnRef idx="1">
            <a:schemeClr val="accent4"/>
          </a:lnRef>
          <a:fillRef idx="0">
            <a:schemeClr val="accent4"/>
          </a:fillRef>
          <a:effectRef idx="0">
            <a:schemeClr val="accent4"/>
          </a:effectRef>
          <a:fontRef idx="minor">
            <a:schemeClr val="tx1"/>
          </a:fontRef>
        </p:style>
      </p:cxnSp>
      <p:cxnSp>
        <p:nvCxnSpPr>
          <p:cNvPr id="35" name="Straight Connector 34">
            <a:extLst>
              <a:ext uri="{FF2B5EF4-FFF2-40B4-BE49-F238E27FC236}">
                <a16:creationId xmlns:a16="http://schemas.microsoft.com/office/drawing/2014/main" id="{71EA5315-BF74-2D7E-C39F-FA531535A0BF}"/>
              </a:ext>
            </a:extLst>
          </p:cNvPr>
          <p:cNvCxnSpPr>
            <a:cxnSpLocks/>
          </p:cNvCxnSpPr>
          <p:nvPr/>
        </p:nvCxnSpPr>
        <p:spPr>
          <a:xfrm flipH="1">
            <a:off x="3891953" y="3049238"/>
            <a:ext cx="1383224" cy="0"/>
          </a:xfrm>
          <a:prstGeom prst="line">
            <a:avLst/>
          </a:prstGeom>
          <a:ln>
            <a:solidFill>
              <a:schemeClr val="tx2"/>
            </a:solidFill>
          </a:ln>
        </p:spPr>
        <p:style>
          <a:lnRef idx="1">
            <a:schemeClr val="accent4"/>
          </a:lnRef>
          <a:fillRef idx="0">
            <a:schemeClr val="accent4"/>
          </a:fillRef>
          <a:effectRef idx="0">
            <a:schemeClr val="accent4"/>
          </a:effectRef>
          <a:fontRef idx="minor">
            <a:schemeClr val="tx1"/>
          </a:fontRef>
        </p:style>
      </p:cxnSp>
      <p:cxnSp>
        <p:nvCxnSpPr>
          <p:cNvPr id="36" name="Straight Connector 35">
            <a:extLst>
              <a:ext uri="{FF2B5EF4-FFF2-40B4-BE49-F238E27FC236}">
                <a16:creationId xmlns:a16="http://schemas.microsoft.com/office/drawing/2014/main" id="{B7C97559-8E82-631A-39D9-14FF22798DC0}"/>
              </a:ext>
            </a:extLst>
          </p:cNvPr>
          <p:cNvCxnSpPr>
            <a:cxnSpLocks/>
          </p:cNvCxnSpPr>
          <p:nvPr/>
        </p:nvCxnSpPr>
        <p:spPr>
          <a:xfrm flipH="1">
            <a:off x="3891953" y="4230175"/>
            <a:ext cx="1383224" cy="0"/>
          </a:xfrm>
          <a:prstGeom prst="line">
            <a:avLst/>
          </a:prstGeom>
          <a:ln>
            <a:solidFill>
              <a:schemeClr val="tx2"/>
            </a:solidFill>
          </a:ln>
        </p:spPr>
        <p:style>
          <a:lnRef idx="1">
            <a:schemeClr val="accent4"/>
          </a:lnRef>
          <a:fillRef idx="0">
            <a:schemeClr val="accent4"/>
          </a:fillRef>
          <a:effectRef idx="0">
            <a:schemeClr val="accent4"/>
          </a:effectRef>
          <a:fontRef idx="minor">
            <a:schemeClr val="tx1"/>
          </a:fontRef>
        </p:style>
      </p:cxnSp>
      <p:cxnSp>
        <p:nvCxnSpPr>
          <p:cNvPr id="37" name="Straight Connector 36">
            <a:extLst>
              <a:ext uri="{FF2B5EF4-FFF2-40B4-BE49-F238E27FC236}">
                <a16:creationId xmlns:a16="http://schemas.microsoft.com/office/drawing/2014/main" id="{53CA6354-8BFF-3544-DB05-4F29651FFE78}"/>
              </a:ext>
            </a:extLst>
          </p:cNvPr>
          <p:cNvCxnSpPr>
            <a:cxnSpLocks/>
          </p:cNvCxnSpPr>
          <p:nvPr/>
        </p:nvCxnSpPr>
        <p:spPr>
          <a:xfrm flipH="1">
            <a:off x="3891953" y="5058405"/>
            <a:ext cx="1383224" cy="0"/>
          </a:xfrm>
          <a:prstGeom prst="line">
            <a:avLst/>
          </a:prstGeom>
          <a:ln>
            <a:solidFill>
              <a:schemeClr val="tx2"/>
            </a:solidFill>
          </a:ln>
        </p:spPr>
        <p:style>
          <a:lnRef idx="1">
            <a:schemeClr val="accent4"/>
          </a:lnRef>
          <a:fillRef idx="0">
            <a:schemeClr val="accent4"/>
          </a:fillRef>
          <a:effectRef idx="0">
            <a:schemeClr val="accent4"/>
          </a:effectRef>
          <a:fontRef idx="minor">
            <a:schemeClr val="tx1"/>
          </a:fontRef>
        </p:style>
      </p:cxnSp>
      <p:sp>
        <p:nvSpPr>
          <p:cNvPr id="39" name="TextBox 38">
            <a:extLst>
              <a:ext uri="{FF2B5EF4-FFF2-40B4-BE49-F238E27FC236}">
                <a16:creationId xmlns:a16="http://schemas.microsoft.com/office/drawing/2014/main" id="{F45E14EF-6497-980D-E392-AD331E8F8B2F}"/>
              </a:ext>
            </a:extLst>
          </p:cNvPr>
          <p:cNvSpPr txBox="1"/>
          <p:nvPr/>
        </p:nvSpPr>
        <p:spPr>
          <a:xfrm>
            <a:off x="2174243" y="1452913"/>
            <a:ext cx="1614761" cy="707886"/>
          </a:xfrm>
          <a:prstGeom prst="rect">
            <a:avLst/>
          </a:prstGeom>
          <a:noFill/>
        </p:spPr>
        <p:txBody>
          <a:bodyPr wrap="square" rtlCol="0">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2800" b="0" i="0" u="none" strike="noStrike" kern="1200" cap="none" spc="0" normalizeH="0" baseline="0" noProof="0" dirty="0">
                <a:ln>
                  <a:solidFill>
                    <a:srgbClr val="FF3399"/>
                  </a:solidFill>
                </a:ln>
                <a:noFill/>
                <a:effectLst/>
                <a:uLnTx/>
                <a:uFillTx/>
                <a:latin typeface="Yekan Bakh FaNum Black" pitchFamily="2" charset="-78"/>
                <a:ea typeface="Yekan Bakh FaNum Black" pitchFamily="2" charset="-78"/>
                <a:cs typeface="Yekan Bakh FaNum Black" pitchFamily="2" charset="-78"/>
              </a:rPr>
              <a:t>5</a:t>
            </a:r>
          </a:p>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200" b="1" i="0" u="none" strike="noStrike" kern="1200" cap="none" spc="0" normalizeH="0" baseline="0" noProof="0" dirty="0">
                <a:solidFill>
                  <a:srgbClr val="FF3399"/>
                </a:solidFill>
                <a:effectLst/>
                <a:uLnTx/>
                <a:uFillTx/>
                <a:latin typeface="Yekan Bakh" pitchFamily="2" charset="-78"/>
                <a:ea typeface="Yekan Bakh" pitchFamily="2" charset="-78"/>
                <a:cs typeface="Yekan Bakh" pitchFamily="2" charset="-78"/>
              </a:rPr>
              <a:t>خالق کسب‌وکار</a:t>
            </a:r>
            <a:endParaRPr kumimoji="0" lang="en-US" sz="1200" b="1" i="0" u="none" strike="noStrike" kern="1200" cap="none" spc="0" normalizeH="0" baseline="0" noProof="0" dirty="0">
              <a:solidFill>
                <a:srgbClr val="FF3399"/>
              </a:solidFill>
              <a:effectLst/>
              <a:uLnTx/>
              <a:uFillTx/>
              <a:latin typeface="Yekan Bakh" pitchFamily="2" charset="-78"/>
              <a:ea typeface="Yekan Bakh" pitchFamily="2" charset="-78"/>
              <a:cs typeface="Yekan Bakh" pitchFamily="2" charset="-78"/>
            </a:endParaRPr>
          </a:p>
        </p:txBody>
      </p:sp>
      <p:cxnSp>
        <p:nvCxnSpPr>
          <p:cNvPr id="40" name="Straight Connector 39">
            <a:extLst>
              <a:ext uri="{FF2B5EF4-FFF2-40B4-BE49-F238E27FC236}">
                <a16:creationId xmlns:a16="http://schemas.microsoft.com/office/drawing/2014/main" id="{A04EFC5B-9563-12D1-A0A9-506D3F86E2B2}"/>
              </a:ext>
            </a:extLst>
          </p:cNvPr>
          <p:cNvCxnSpPr>
            <a:cxnSpLocks/>
          </p:cNvCxnSpPr>
          <p:nvPr/>
        </p:nvCxnSpPr>
        <p:spPr>
          <a:xfrm flipH="1">
            <a:off x="2290012" y="2338038"/>
            <a:ext cx="1383224" cy="0"/>
          </a:xfrm>
          <a:prstGeom prst="line">
            <a:avLst/>
          </a:prstGeom>
          <a:ln w="28575">
            <a:solidFill>
              <a:schemeClr val="bg2"/>
            </a:solidFill>
          </a:ln>
        </p:spPr>
        <p:style>
          <a:lnRef idx="1">
            <a:schemeClr val="accent4"/>
          </a:lnRef>
          <a:fillRef idx="0">
            <a:schemeClr val="accent4"/>
          </a:fillRef>
          <a:effectRef idx="0">
            <a:schemeClr val="accent4"/>
          </a:effectRef>
          <a:fontRef idx="minor">
            <a:schemeClr val="tx1"/>
          </a:fontRef>
        </p:style>
      </p:cxnSp>
      <p:sp>
        <p:nvSpPr>
          <p:cNvPr id="41" name="TextBox 40">
            <a:extLst>
              <a:ext uri="{FF2B5EF4-FFF2-40B4-BE49-F238E27FC236}">
                <a16:creationId xmlns:a16="http://schemas.microsoft.com/office/drawing/2014/main" id="{D9F9EC7E-EA22-699B-0B06-D50A5ED349F6}"/>
              </a:ext>
            </a:extLst>
          </p:cNvPr>
          <p:cNvSpPr txBox="1"/>
          <p:nvPr/>
        </p:nvSpPr>
        <p:spPr>
          <a:xfrm>
            <a:off x="2174243" y="2370122"/>
            <a:ext cx="1614761" cy="2523768"/>
          </a:xfrm>
          <a:prstGeom prst="rect">
            <a:avLst/>
          </a:prstGeom>
          <a:noFill/>
        </p:spPr>
        <p:txBody>
          <a:bodyPr wrap="square" rtlCol="0">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2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rPr>
              <a:t>هر دو طرف</a:t>
            </a:r>
          </a:p>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fa-IR" sz="12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2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rPr>
              <a:t>سیمرغ</a:t>
            </a:r>
          </a:p>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fa-IR" sz="12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endParaRPr>
          </a:p>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rPr>
              <a:t>تبدیل یک ایده، فرصت یا دارایی به یک کسب‌وکار از طریق شریک شدن با تیمی که </a:t>
            </a:r>
            <a:r>
              <a:rPr kumimoji="0" lang="fa-IR" sz="1100" b="0" i="0" u="none" strike="noStrike" kern="1200" cap="none" spc="0" normalizeH="0" baseline="0" noProof="0" dirty="0" err="1">
                <a:ln>
                  <a:noFill/>
                </a:ln>
                <a:solidFill>
                  <a:prstClr val="black"/>
                </a:solidFill>
                <a:effectLst/>
                <a:uLnTx/>
                <a:uFillTx/>
                <a:latin typeface="Yekan Bakh" pitchFamily="2" charset="-78"/>
                <a:ea typeface="Yekan Bakh" pitchFamily="2" charset="-78"/>
                <a:cs typeface="Yekan Bakh" pitchFamily="2" charset="-78"/>
              </a:rPr>
              <a:t>می‌توانند</a:t>
            </a:r>
            <a:r>
              <a:rPr kumimoji="0" lang="fa-IR" sz="11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rPr>
              <a:t> کسب‌وکار را عملیاتی نمایند. </a:t>
            </a:r>
          </a:p>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fa-IR" sz="11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endParaRPr>
          </a:p>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rPr>
              <a:t>تمایل به </a:t>
            </a:r>
            <a:r>
              <a:rPr kumimoji="0" lang="fa-IR" sz="1100" b="0" i="0" u="none" strike="noStrike" kern="1200" cap="none" spc="0" normalizeH="0" baseline="0" noProof="0" dirty="0" err="1">
                <a:ln>
                  <a:noFill/>
                </a:ln>
                <a:solidFill>
                  <a:prstClr val="black"/>
                </a:solidFill>
                <a:effectLst/>
                <a:uLnTx/>
                <a:uFillTx/>
                <a:latin typeface="Yekan Bakh" pitchFamily="2" charset="-78"/>
                <a:ea typeface="Yekan Bakh" pitchFamily="2" charset="-78"/>
                <a:cs typeface="Yekan Bakh" pitchFamily="2" charset="-78"/>
              </a:rPr>
              <a:t>اشتراک‌گذاری</a:t>
            </a:r>
            <a:r>
              <a:rPr kumimoji="0" lang="fa-IR" sz="11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rPr>
              <a:t> مالکیت یا مدیریت کسب‌وکار جدید دارد</a:t>
            </a:r>
            <a:endParaRPr kumimoji="0" lang="en-US" sz="11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endParaRPr>
          </a:p>
        </p:txBody>
      </p:sp>
      <p:cxnSp>
        <p:nvCxnSpPr>
          <p:cNvPr id="42" name="Straight Connector 41">
            <a:extLst>
              <a:ext uri="{FF2B5EF4-FFF2-40B4-BE49-F238E27FC236}">
                <a16:creationId xmlns:a16="http://schemas.microsoft.com/office/drawing/2014/main" id="{2FBA693D-9E14-E3DD-0104-4368683640CF}"/>
              </a:ext>
            </a:extLst>
          </p:cNvPr>
          <p:cNvCxnSpPr>
            <a:cxnSpLocks/>
          </p:cNvCxnSpPr>
          <p:nvPr/>
        </p:nvCxnSpPr>
        <p:spPr>
          <a:xfrm flipH="1">
            <a:off x="2290012" y="2687288"/>
            <a:ext cx="1383224" cy="0"/>
          </a:xfrm>
          <a:prstGeom prst="line">
            <a:avLst/>
          </a:prstGeom>
          <a:ln>
            <a:solidFill>
              <a:schemeClr val="bg2"/>
            </a:solidFill>
          </a:ln>
        </p:spPr>
        <p:style>
          <a:lnRef idx="1">
            <a:schemeClr val="accent4"/>
          </a:lnRef>
          <a:fillRef idx="0">
            <a:schemeClr val="accent4"/>
          </a:fillRef>
          <a:effectRef idx="0">
            <a:schemeClr val="accent4"/>
          </a:effectRef>
          <a:fontRef idx="minor">
            <a:schemeClr val="tx1"/>
          </a:fontRef>
        </p:style>
      </p:cxnSp>
      <p:cxnSp>
        <p:nvCxnSpPr>
          <p:cNvPr id="43" name="Straight Connector 42">
            <a:extLst>
              <a:ext uri="{FF2B5EF4-FFF2-40B4-BE49-F238E27FC236}">
                <a16:creationId xmlns:a16="http://schemas.microsoft.com/office/drawing/2014/main" id="{19B19573-EA4C-E040-80B9-AEA9BF37F7B4}"/>
              </a:ext>
            </a:extLst>
          </p:cNvPr>
          <p:cNvCxnSpPr>
            <a:cxnSpLocks/>
          </p:cNvCxnSpPr>
          <p:nvPr/>
        </p:nvCxnSpPr>
        <p:spPr>
          <a:xfrm flipH="1">
            <a:off x="2290012" y="3049238"/>
            <a:ext cx="1383224" cy="0"/>
          </a:xfrm>
          <a:prstGeom prst="line">
            <a:avLst/>
          </a:prstGeom>
          <a:ln>
            <a:solidFill>
              <a:schemeClr val="bg2"/>
            </a:solidFill>
          </a:ln>
        </p:spPr>
        <p:style>
          <a:lnRef idx="1">
            <a:schemeClr val="accent4"/>
          </a:lnRef>
          <a:fillRef idx="0">
            <a:schemeClr val="accent4"/>
          </a:fillRef>
          <a:effectRef idx="0">
            <a:schemeClr val="accent4"/>
          </a:effectRef>
          <a:fontRef idx="minor">
            <a:schemeClr val="tx1"/>
          </a:fontRef>
        </p:style>
      </p:cxnSp>
      <p:cxnSp>
        <p:nvCxnSpPr>
          <p:cNvPr id="44" name="Straight Connector 43">
            <a:extLst>
              <a:ext uri="{FF2B5EF4-FFF2-40B4-BE49-F238E27FC236}">
                <a16:creationId xmlns:a16="http://schemas.microsoft.com/office/drawing/2014/main" id="{BD68A42D-53B5-C9CA-2102-109221CEF6B7}"/>
              </a:ext>
            </a:extLst>
          </p:cNvPr>
          <p:cNvCxnSpPr>
            <a:cxnSpLocks/>
          </p:cNvCxnSpPr>
          <p:nvPr/>
        </p:nvCxnSpPr>
        <p:spPr>
          <a:xfrm flipH="1">
            <a:off x="2290012" y="4230175"/>
            <a:ext cx="1383224" cy="0"/>
          </a:xfrm>
          <a:prstGeom prst="line">
            <a:avLst/>
          </a:prstGeom>
          <a:ln>
            <a:solidFill>
              <a:schemeClr val="bg2"/>
            </a:solidFill>
          </a:ln>
        </p:spPr>
        <p:style>
          <a:lnRef idx="1">
            <a:schemeClr val="accent4"/>
          </a:lnRef>
          <a:fillRef idx="0">
            <a:schemeClr val="accent4"/>
          </a:fillRef>
          <a:effectRef idx="0">
            <a:schemeClr val="accent4"/>
          </a:effectRef>
          <a:fontRef idx="minor">
            <a:schemeClr val="tx1"/>
          </a:fontRef>
        </p:style>
      </p:cxnSp>
      <p:cxnSp>
        <p:nvCxnSpPr>
          <p:cNvPr id="45" name="Straight Connector 44">
            <a:extLst>
              <a:ext uri="{FF2B5EF4-FFF2-40B4-BE49-F238E27FC236}">
                <a16:creationId xmlns:a16="http://schemas.microsoft.com/office/drawing/2014/main" id="{617D7052-1284-28C7-A0B7-2D2149FAE866}"/>
              </a:ext>
            </a:extLst>
          </p:cNvPr>
          <p:cNvCxnSpPr>
            <a:cxnSpLocks/>
          </p:cNvCxnSpPr>
          <p:nvPr/>
        </p:nvCxnSpPr>
        <p:spPr>
          <a:xfrm flipH="1">
            <a:off x="2290012" y="5058405"/>
            <a:ext cx="1383224" cy="0"/>
          </a:xfrm>
          <a:prstGeom prst="line">
            <a:avLst/>
          </a:prstGeom>
          <a:ln>
            <a:solidFill>
              <a:schemeClr val="bg2"/>
            </a:solidFill>
          </a:ln>
        </p:spPr>
        <p:style>
          <a:lnRef idx="1">
            <a:schemeClr val="accent4"/>
          </a:lnRef>
          <a:fillRef idx="0">
            <a:schemeClr val="accent4"/>
          </a:fillRef>
          <a:effectRef idx="0">
            <a:schemeClr val="accent4"/>
          </a:effectRef>
          <a:fontRef idx="minor">
            <a:schemeClr val="tx1"/>
          </a:fontRef>
        </p:style>
      </p:cxnSp>
      <p:sp>
        <p:nvSpPr>
          <p:cNvPr id="49" name="TextBox 48">
            <a:extLst>
              <a:ext uri="{FF2B5EF4-FFF2-40B4-BE49-F238E27FC236}">
                <a16:creationId xmlns:a16="http://schemas.microsoft.com/office/drawing/2014/main" id="{3251CFAF-7B26-C1D2-4400-BC47583CA29A}"/>
              </a:ext>
            </a:extLst>
          </p:cNvPr>
          <p:cNvSpPr txBox="1"/>
          <p:nvPr/>
        </p:nvSpPr>
        <p:spPr>
          <a:xfrm>
            <a:off x="572302" y="1452913"/>
            <a:ext cx="1614761" cy="707886"/>
          </a:xfrm>
          <a:prstGeom prst="rect">
            <a:avLst/>
          </a:prstGeom>
          <a:noFill/>
        </p:spPr>
        <p:txBody>
          <a:bodyPr wrap="square" rtlCol="0">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2800" b="0" i="0" u="none" strike="noStrike" kern="1200" cap="none" spc="0" normalizeH="0" baseline="0" noProof="0" dirty="0">
                <a:ln>
                  <a:solidFill>
                    <a:srgbClr val="FF6600"/>
                  </a:solidFill>
                </a:ln>
                <a:noFill/>
                <a:effectLst/>
                <a:uLnTx/>
                <a:uFillTx/>
                <a:latin typeface="Yekan Bakh FaNum Black" pitchFamily="2" charset="-78"/>
                <a:ea typeface="Yekan Bakh FaNum Black" pitchFamily="2" charset="-78"/>
                <a:cs typeface="Yekan Bakh FaNum Black" pitchFamily="2" charset="-78"/>
              </a:rPr>
              <a:t>6</a:t>
            </a:r>
          </a:p>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200" b="1" i="0" u="none" strike="noStrike" kern="1200" cap="none" spc="0" normalizeH="0" baseline="0" noProof="0" dirty="0" err="1">
                <a:solidFill>
                  <a:srgbClr val="FF6600"/>
                </a:solidFill>
                <a:effectLst/>
                <a:uLnTx/>
                <a:uFillTx/>
                <a:latin typeface="Yekan Bakh" pitchFamily="2" charset="-78"/>
                <a:ea typeface="Yekan Bakh" pitchFamily="2" charset="-78"/>
                <a:cs typeface="Yekan Bakh" pitchFamily="2" charset="-78"/>
              </a:rPr>
              <a:t>سرمایه‌گذار</a:t>
            </a:r>
            <a:endParaRPr kumimoji="0" lang="en-US" sz="1200" b="1" i="0" u="none" strike="noStrike" kern="1200" cap="none" spc="0" normalizeH="0" baseline="0" noProof="0" dirty="0">
              <a:solidFill>
                <a:srgbClr val="FF6600"/>
              </a:solidFill>
              <a:effectLst/>
              <a:uLnTx/>
              <a:uFillTx/>
              <a:latin typeface="Yekan Bakh" pitchFamily="2" charset="-78"/>
              <a:ea typeface="Yekan Bakh" pitchFamily="2" charset="-78"/>
              <a:cs typeface="Yekan Bakh" pitchFamily="2" charset="-78"/>
            </a:endParaRPr>
          </a:p>
        </p:txBody>
      </p:sp>
      <p:cxnSp>
        <p:nvCxnSpPr>
          <p:cNvPr id="50" name="Straight Connector 49">
            <a:extLst>
              <a:ext uri="{FF2B5EF4-FFF2-40B4-BE49-F238E27FC236}">
                <a16:creationId xmlns:a16="http://schemas.microsoft.com/office/drawing/2014/main" id="{2C3CBD0D-E610-F7CD-04B9-792E52AA852C}"/>
              </a:ext>
            </a:extLst>
          </p:cNvPr>
          <p:cNvCxnSpPr>
            <a:cxnSpLocks/>
          </p:cNvCxnSpPr>
          <p:nvPr/>
        </p:nvCxnSpPr>
        <p:spPr>
          <a:xfrm flipH="1">
            <a:off x="688071" y="2338038"/>
            <a:ext cx="1383224" cy="0"/>
          </a:xfrm>
          <a:prstGeom prst="line">
            <a:avLst/>
          </a:prstGeom>
          <a:ln w="28575">
            <a:solidFill>
              <a:srgbClr val="FF6600"/>
            </a:solidFill>
          </a:ln>
        </p:spPr>
        <p:style>
          <a:lnRef idx="1">
            <a:schemeClr val="accent4"/>
          </a:lnRef>
          <a:fillRef idx="0">
            <a:schemeClr val="accent4"/>
          </a:fillRef>
          <a:effectRef idx="0">
            <a:schemeClr val="accent4"/>
          </a:effectRef>
          <a:fontRef idx="minor">
            <a:schemeClr val="tx1"/>
          </a:fontRef>
        </p:style>
      </p:cxnSp>
      <p:sp>
        <p:nvSpPr>
          <p:cNvPr id="51" name="TextBox 50">
            <a:extLst>
              <a:ext uri="{FF2B5EF4-FFF2-40B4-BE49-F238E27FC236}">
                <a16:creationId xmlns:a16="http://schemas.microsoft.com/office/drawing/2014/main" id="{3D2A2C6C-2B97-DF37-B663-3649FF1DF0E8}"/>
              </a:ext>
            </a:extLst>
          </p:cNvPr>
          <p:cNvSpPr txBox="1"/>
          <p:nvPr/>
        </p:nvSpPr>
        <p:spPr>
          <a:xfrm>
            <a:off x="572302" y="2370122"/>
            <a:ext cx="1614761" cy="2693045"/>
          </a:xfrm>
          <a:prstGeom prst="rect">
            <a:avLst/>
          </a:prstGeom>
          <a:noFill/>
        </p:spPr>
        <p:txBody>
          <a:bodyPr wrap="square" rtlCol="0">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2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rPr>
              <a:t>هر دو طرف</a:t>
            </a:r>
          </a:p>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fa-IR" sz="12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2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rPr>
              <a:t>سیمرغ</a:t>
            </a:r>
          </a:p>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fa-IR" sz="12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endParaRPr>
          </a:p>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rPr>
              <a:t>تخصیص سرمایه در </a:t>
            </a:r>
            <a:r>
              <a:rPr kumimoji="0" lang="fa-IR" sz="1100" b="0" i="0" u="none" strike="noStrike" kern="1200" cap="none" spc="0" normalizeH="0" baseline="0" noProof="0" dirty="0" err="1">
                <a:ln>
                  <a:noFill/>
                </a:ln>
                <a:solidFill>
                  <a:prstClr val="black"/>
                </a:solidFill>
                <a:effectLst/>
                <a:uLnTx/>
                <a:uFillTx/>
                <a:latin typeface="Yekan Bakh" pitchFamily="2" charset="-78"/>
                <a:ea typeface="Yekan Bakh" pitchFamily="2" charset="-78"/>
                <a:cs typeface="Yekan Bakh" pitchFamily="2" charset="-78"/>
              </a:rPr>
              <a:t>فرصتِ</a:t>
            </a:r>
            <a:r>
              <a:rPr kumimoji="0" lang="fa-IR" sz="11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rPr>
              <a:t> </a:t>
            </a:r>
            <a:r>
              <a:rPr kumimoji="0" lang="fa-IR" sz="1100" b="0" i="0" u="none" strike="noStrike" kern="1200" cap="none" spc="0" normalizeH="0" baseline="0" noProof="0" dirty="0" err="1">
                <a:ln>
                  <a:noFill/>
                </a:ln>
                <a:solidFill>
                  <a:prstClr val="black"/>
                </a:solidFill>
                <a:effectLst/>
                <a:uLnTx/>
                <a:uFillTx/>
                <a:latin typeface="Yekan Bakh" pitchFamily="2" charset="-78"/>
                <a:ea typeface="Yekan Bakh" pitchFamily="2" charset="-78"/>
                <a:cs typeface="Yekan Bakh" pitchFamily="2" charset="-78"/>
              </a:rPr>
              <a:t>ارزیابی‌شده</a:t>
            </a:r>
            <a:r>
              <a:rPr kumimoji="0" lang="fa-IR" sz="11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rPr>
              <a:t> و قابل مطمئن و دارای بازدهی و در برخی شرایط تضمین مشخص. </a:t>
            </a:r>
          </a:p>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endParaRPr>
          </a:p>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fa-IR" sz="11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endParaRPr>
          </a:p>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rPr>
              <a:t>انگیزه اصلی، اطمینان از اینکه سیمرغ بازدهی مالی مناسبی را خواهد داشت. </a:t>
            </a:r>
            <a:endParaRPr kumimoji="0" lang="en-US" sz="11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endParaRPr>
          </a:p>
        </p:txBody>
      </p:sp>
      <p:cxnSp>
        <p:nvCxnSpPr>
          <p:cNvPr id="52" name="Straight Connector 51">
            <a:extLst>
              <a:ext uri="{FF2B5EF4-FFF2-40B4-BE49-F238E27FC236}">
                <a16:creationId xmlns:a16="http://schemas.microsoft.com/office/drawing/2014/main" id="{DA07BC9D-CD2E-CEF1-EE5F-B5851437BB48}"/>
              </a:ext>
            </a:extLst>
          </p:cNvPr>
          <p:cNvCxnSpPr>
            <a:cxnSpLocks/>
          </p:cNvCxnSpPr>
          <p:nvPr/>
        </p:nvCxnSpPr>
        <p:spPr>
          <a:xfrm flipH="1">
            <a:off x="688071" y="2687288"/>
            <a:ext cx="1383224" cy="0"/>
          </a:xfrm>
          <a:prstGeom prst="line">
            <a:avLst/>
          </a:prstGeom>
          <a:ln>
            <a:solidFill>
              <a:srgbClr val="FF6600"/>
            </a:solidFill>
          </a:ln>
        </p:spPr>
        <p:style>
          <a:lnRef idx="1">
            <a:schemeClr val="accent4"/>
          </a:lnRef>
          <a:fillRef idx="0">
            <a:schemeClr val="accent4"/>
          </a:fillRef>
          <a:effectRef idx="0">
            <a:schemeClr val="accent4"/>
          </a:effectRef>
          <a:fontRef idx="minor">
            <a:schemeClr val="tx1"/>
          </a:fontRef>
        </p:style>
      </p:cxnSp>
      <p:cxnSp>
        <p:nvCxnSpPr>
          <p:cNvPr id="53" name="Straight Connector 52">
            <a:extLst>
              <a:ext uri="{FF2B5EF4-FFF2-40B4-BE49-F238E27FC236}">
                <a16:creationId xmlns:a16="http://schemas.microsoft.com/office/drawing/2014/main" id="{9765C13D-F760-14C4-A4B5-36DECE3DB9C9}"/>
              </a:ext>
            </a:extLst>
          </p:cNvPr>
          <p:cNvCxnSpPr>
            <a:cxnSpLocks/>
          </p:cNvCxnSpPr>
          <p:nvPr/>
        </p:nvCxnSpPr>
        <p:spPr>
          <a:xfrm flipH="1">
            <a:off x="688071" y="3049238"/>
            <a:ext cx="1383224" cy="0"/>
          </a:xfrm>
          <a:prstGeom prst="line">
            <a:avLst/>
          </a:prstGeom>
          <a:ln>
            <a:solidFill>
              <a:srgbClr val="FF6600"/>
            </a:solidFill>
          </a:ln>
        </p:spPr>
        <p:style>
          <a:lnRef idx="1">
            <a:schemeClr val="accent4"/>
          </a:lnRef>
          <a:fillRef idx="0">
            <a:schemeClr val="accent4"/>
          </a:fillRef>
          <a:effectRef idx="0">
            <a:schemeClr val="accent4"/>
          </a:effectRef>
          <a:fontRef idx="minor">
            <a:schemeClr val="tx1"/>
          </a:fontRef>
        </p:style>
      </p:cxnSp>
      <p:cxnSp>
        <p:nvCxnSpPr>
          <p:cNvPr id="54" name="Straight Connector 53">
            <a:extLst>
              <a:ext uri="{FF2B5EF4-FFF2-40B4-BE49-F238E27FC236}">
                <a16:creationId xmlns:a16="http://schemas.microsoft.com/office/drawing/2014/main" id="{C074BF2D-DB46-4B7B-AF3B-A9ECAED196D7}"/>
              </a:ext>
            </a:extLst>
          </p:cNvPr>
          <p:cNvCxnSpPr>
            <a:cxnSpLocks/>
          </p:cNvCxnSpPr>
          <p:nvPr/>
        </p:nvCxnSpPr>
        <p:spPr>
          <a:xfrm flipH="1">
            <a:off x="688071" y="4230175"/>
            <a:ext cx="1383224" cy="0"/>
          </a:xfrm>
          <a:prstGeom prst="line">
            <a:avLst/>
          </a:prstGeom>
          <a:ln>
            <a:solidFill>
              <a:srgbClr val="FF6600"/>
            </a:solidFill>
          </a:ln>
        </p:spPr>
        <p:style>
          <a:lnRef idx="1">
            <a:schemeClr val="accent4"/>
          </a:lnRef>
          <a:fillRef idx="0">
            <a:schemeClr val="accent4"/>
          </a:fillRef>
          <a:effectRef idx="0">
            <a:schemeClr val="accent4"/>
          </a:effectRef>
          <a:fontRef idx="minor">
            <a:schemeClr val="tx1"/>
          </a:fontRef>
        </p:style>
      </p:cxnSp>
      <p:cxnSp>
        <p:nvCxnSpPr>
          <p:cNvPr id="55" name="Straight Connector 54">
            <a:extLst>
              <a:ext uri="{FF2B5EF4-FFF2-40B4-BE49-F238E27FC236}">
                <a16:creationId xmlns:a16="http://schemas.microsoft.com/office/drawing/2014/main" id="{4DEDF3C4-F000-B598-5C71-6EE25EB5CBBC}"/>
              </a:ext>
            </a:extLst>
          </p:cNvPr>
          <p:cNvCxnSpPr>
            <a:cxnSpLocks/>
          </p:cNvCxnSpPr>
          <p:nvPr/>
        </p:nvCxnSpPr>
        <p:spPr>
          <a:xfrm flipH="1">
            <a:off x="688071" y="5058405"/>
            <a:ext cx="1383224" cy="0"/>
          </a:xfrm>
          <a:prstGeom prst="line">
            <a:avLst/>
          </a:prstGeom>
          <a:ln>
            <a:solidFill>
              <a:srgbClr val="FF6600"/>
            </a:solidFill>
          </a:ln>
        </p:spPr>
        <p:style>
          <a:lnRef idx="1">
            <a:schemeClr val="accent4"/>
          </a:lnRef>
          <a:fillRef idx="0">
            <a:schemeClr val="accent4"/>
          </a:fillRef>
          <a:effectRef idx="0">
            <a:schemeClr val="accent4"/>
          </a:effectRef>
          <a:fontRef idx="minor">
            <a:schemeClr val="tx1"/>
          </a:fontRef>
        </p:style>
      </p:cxnSp>
      <p:sp>
        <p:nvSpPr>
          <p:cNvPr id="56" name="TextBox 55">
            <a:extLst>
              <a:ext uri="{FF2B5EF4-FFF2-40B4-BE49-F238E27FC236}">
                <a16:creationId xmlns:a16="http://schemas.microsoft.com/office/drawing/2014/main" id="{05F1251B-049B-7B45-E4E9-474FC1A0A17E}"/>
              </a:ext>
            </a:extLst>
          </p:cNvPr>
          <p:cNvSpPr txBox="1"/>
          <p:nvPr/>
        </p:nvSpPr>
        <p:spPr>
          <a:xfrm>
            <a:off x="10506075" y="1904567"/>
            <a:ext cx="915210" cy="2885405"/>
          </a:xfrm>
          <a:prstGeom prst="rect">
            <a:avLst/>
          </a:prstGeom>
          <a:noFill/>
        </p:spPr>
        <p:txBody>
          <a:bodyPr wrap="square" rtlCol="0">
            <a:spAutoFit/>
          </a:bodyPr>
          <a:lstStyle/>
          <a:p>
            <a:pPr marL="0" marR="0" lvl="0" indent="0" algn="l" defTabSz="457200" rtl="1" eaLnBrk="1" fontAlgn="auto" latinLnBrk="0" hangingPunct="1">
              <a:lnSpc>
                <a:spcPct val="100000"/>
              </a:lnSpc>
              <a:spcBef>
                <a:spcPts val="0"/>
              </a:spcBef>
              <a:spcAft>
                <a:spcPts val="0"/>
              </a:spcAft>
              <a:buClrTx/>
              <a:buSzTx/>
              <a:buFontTx/>
              <a:buNone/>
              <a:tabLst/>
              <a:defRPr/>
            </a:pPr>
            <a:r>
              <a:rPr kumimoji="0" lang="fa-IR" sz="105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نوع مشتری</a:t>
            </a:r>
          </a:p>
          <a:p>
            <a:pPr marL="0" marR="0" lvl="0" indent="0" algn="l" defTabSz="457200" rtl="1" eaLnBrk="1" fontAlgn="auto" latinLnBrk="0" hangingPunct="1">
              <a:lnSpc>
                <a:spcPct val="100000"/>
              </a:lnSpc>
              <a:spcBef>
                <a:spcPts val="0"/>
              </a:spcBef>
              <a:spcAft>
                <a:spcPts val="0"/>
              </a:spcAft>
              <a:buClrTx/>
              <a:buSzTx/>
              <a:buFontTx/>
              <a:buNone/>
              <a:tabLst/>
              <a:defRPr/>
            </a:pPr>
            <a:endParaRPr kumimoji="0" lang="fa-IR" sz="105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endParaRPr>
          </a:p>
          <a:p>
            <a:pPr marL="0" marR="0" lvl="0" indent="0" algn="l" defTabSz="457200" rtl="1" eaLnBrk="1" fontAlgn="auto" latinLnBrk="0" hangingPunct="1">
              <a:lnSpc>
                <a:spcPct val="100000"/>
              </a:lnSpc>
              <a:spcBef>
                <a:spcPts val="0"/>
              </a:spcBef>
              <a:spcAft>
                <a:spcPts val="0"/>
              </a:spcAft>
              <a:buClrTx/>
              <a:buSzTx/>
              <a:buFontTx/>
              <a:buNone/>
              <a:tabLst/>
              <a:defRPr/>
            </a:pPr>
            <a:endParaRPr kumimoji="0" lang="fa-IR"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endParaRPr>
          </a:p>
          <a:p>
            <a:pPr marL="0" marR="0" lvl="0" indent="0" algn="l" defTabSz="457200" rtl="1" eaLnBrk="1" fontAlgn="auto" latinLnBrk="0" hangingPunct="1">
              <a:lnSpc>
                <a:spcPct val="100000"/>
              </a:lnSpc>
              <a:spcBef>
                <a:spcPts val="0"/>
              </a:spcBef>
              <a:spcAft>
                <a:spcPts val="0"/>
              </a:spcAft>
              <a:buClrTx/>
              <a:buSzTx/>
              <a:buFontTx/>
              <a:buNone/>
              <a:tabLst/>
              <a:defRPr/>
            </a:pPr>
            <a:endParaRPr kumimoji="0" lang="fa-IR" sz="3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endParaRPr>
          </a:p>
          <a:p>
            <a:pPr marL="0" marR="0" lvl="0" indent="0" algn="l" defTabSz="457200" rtl="1" eaLnBrk="1" fontAlgn="auto" latinLnBrk="0" hangingPunct="1">
              <a:lnSpc>
                <a:spcPct val="100000"/>
              </a:lnSpc>
              <a:spcBef>
                <a:spcPts val="0"/>
              </a:spcBef>
              <a:spcAft>
                <a:spcPts val="0"/>
              </a:spcAft>
              <a:buClrTx/>
              <a:buSzTx/>
              <a:buFontTx/>
              <a:buNone/>
              <a:tabLst/>
              <a:defRPr/>
            </a:pPr>
            <a:r>
              <a:rPr kumimoji="0" lang="fa-IR" sz="105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هویت شرکت</a:t>
            </a:r>
          </a:p>
          <a:p>
            <a:pPr marL="0" marR="0" lvl="0" indent="0" algn="l" defTabSz="457200" rtl="1" eaLnBrk="1" fontAlgn="auto" latinLnBrk="0" hangingPunct="1">
              <a:lnSpc>
                <a:spcPct val="100000"/>
              </a:lnSpc>
              <a:spcBef>
                <a:spcPts val="0"/>
              </a:spcBef>
              <a:spcAft>
                <a:spcPts val="0"/>
              </a:spcAft>
              <a:buClrTx/>
              <a:buSzTx/>
              <a:buFontTx/>
              <a:buNone/>
              <a:tabLst/>
              <a:defRPr/>
            </a:pPr>
            <a:endParaRPr kumimoji="0" lang="fa-IR" sz="14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endParaRPr>
          </a:p>
          <a:p>
            <a:pPr marL="0" marR="0" lvl="0" indent="0" algn="l" defTabSz="457200" rtl="1" eaLnBrk="1" fontAlgn="auto" latinLnBrk="0" hangingPunct="1">
              <a:lnSpc>
                <a:spcPct val="100000"/>
              </a:lnSpc>
              <a:spcBef>
                <a:spcPts val="0"/>
              </a:spcBef>
              <a:spcAft>
                <a:spcPts val="0"/>
              </a:spcAft>
              <a:buClrTx/>
              <a:buSzTx/>
              <a:buFontTx/>
              <a:buNone/>
              <a:tabLst/>
              <a:defRPr/>
            </a:pPr>
            <a:r>
              <a:rPr kumimoji="0" lang="fa-IR" sz="105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طرف مقابل</a:t>
            </a:r>
          </a:p>
          <a:p>
            <a:pPr marL="0" marR="0" lvl="0" indent="0" algn="l" defTabSz="457200" rtl="1" eaLnBrk="1" fontAlgn="auto" latinLnBrk="0" hangingPunct="1">
              <a:lnSpc>
                <a:spcPct val="100000"/>
              </a:lnSpc>
              <a:spcBef>
                <a:spcPts val="0"/>
              </a:spcBef>
              <a:spcAft>
                <a:spcPts val="0"/>
              </a:spcAft>
              <a:buClrTx/>
              <a:buSzTx/>
              <a:buFontTx/>
              <a:buNone/>
              <a:tabLst/>
              <a:defRPr/>
            </a:pPr>
            <a:endParaRPr kumimoji="0" lang="fa-IR" sz="105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endParaRPr>
          </a:p>
          <a:p>
            <a:pPr marL="0" marR="0" lvl="0" indent="0" algn="l" defTabSz="457200" rtl="1" eaLnBrk="1" fontAlgn="auto" latinLnBrk="0" hangingPunct="1">
              <a:lnSpc>
                <a:spcPct val="100000"/>
              </a:lnSpc>
              <a:spcBef>
                <a:spcPts val="0"/>
              </a:spcBef>
              <a:spcAft>
                <a:spcPts val="0"/>
              </a:spcAft>
              <a:buClrTx/>
              <a:buSzTx/>
              <a:buFontTx/>
              <a:buNone/>
              <a:tabLst/>
              <a:defRPr/>
            </a:pPr>
            <a:endParaRPr kumimoji="0" lang="fa-IR" sz="20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endParaRPr>
          </a:p>
          <a:p>
            <a:pPr marL="0" marR="0" lvl="0" indent="0" algn="l" defTabSz="457200" rtl="1" eaLnBrk="1" fontAlgn="auto" latinLnBrk="0" hangingPunct="1">
              <a:lnSpc>
                <a:spcPct val="100000"/>
              </a:lnSpc>
              <a:spcBef>
                <a:spcPts val="0"/>
              </a:spcBef>
              <a:spcAft>
                <a:spcPts val="0"/>
              </a:spcAft>
              <a:buClrTx/>
              <a:buSzTx/>
              <a:buFontTx/>
              <a:buNone/>
              <a:tabLst/>
              <a:defRPr/>
            </a:pPr>
            <a:endParaRPr kumimoji="0" lang="fa-IR" sz="105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endParaRPr>
          </a:p>
          <a:p>
            <a:pPr marL="0" marR="0" lvl="0" indent="0" algn="l" defTabSz="457200" rtl="1" eaLnBrk="1" fontAlgn="auto" latinLnBrk="0" hangingPunct="1">
              <a:lnSpc>
                <a:spcPct val="100000"/>
              </a:lnSpc>
              <a:spcBef>
                <a:spcPts val="0"/>
              </a:spcBef>
              <a:spcAft>
                <a:spcPts val="0"/>
              </a:spcAft>
              <a:buClrTx/>
              <a:buSzTx/>
              <a:buFontTx/>
              <a:buNone/>
              <a:tabLst/>
              <a:defRPr/>
            </a:pPr>
            <a:r>
              <a:rPr kumimoji="0" lang="fa-IR" sz="105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نیاز </a:t>
            </a:r>
          </a:p>
          <a:p>
            <a:pPr marL="0" marR="0" lvl="0" indent="0" algn="l" defTabSz="457200" rtl="1" eaLnBrk="1" fontAlgn="auto" latinLnBrk="0" hangingPunct="1">
              <a:lnSpc>
                <a:spcPct val="100000"/>
              </a:lnSpc>
              <a:spcBef>
                <a:spcPts val="0"/>
              </a:spcBef>
              <a:spcAft>
                <a:spcPts val="0"/>
              </a:spcAft>
              <a:buClrTx/>
              <a:buSzTx/>
              <a:buFontTx/>
              <a:buNone/>
              <a:tabLst/>
              <a:defRPr/>
            </a:pPr>
            <a:endParaRPr kumimoji="0" lang="fa-IR" sz="105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endParaRPr>
          </a:p>
          <a:p>
            <a:pPr marL="0" marR="0" lvl="0" indent="0" algn="l" defTabSz="457200" rtl="1" eaLnBrk="1" fontAlgn="auto" latinLnBrk="0" hangingPunct="1">
              <a:lnSpc>
                <a:spcPct val="100000"/>
              </a:lnSpc>
              <a:spcBef>
                <a:spcPts val="0"/>
              </a:spcBef>
              <a:spcAft>
                <a:spcPts val="0"/>
              </a:spcAft>
              <a:buClrTx/>
              <a:buSzTx/>
              <a:buFontTx/>
              <a:buNone/>
              <a:tabLst/>
              <a:defRPr/>
            </a:pPr>
            <a:endParaRPr kumimoji="0" lang="fa-IR" sz="105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endParaRPr>
          </a:p>
          <a:p>
            <a:pPr marL="0" marR="0" lvl="0" indent="0" algn="l" defTabSz="457200" rtl="1" eaLnBrk="1" fontAlgn="auto" latinLnBrk="0" hangingPunct="1">
              <a:lnSpc>
                <a:spcPct val="100000"/>
              </a:lnSpc>
              <a:spcBef>
                <a:spcPts val="0"/>
              </a:spcBef>
              <a:spcAft>
                <a:spcPts val="0"/>
              </a:spcAft>
              <a:buClrTx/>
              <a:buSzTx/>
              <a:buFontTx/>
              <a:buNone/>
              <a:tabLst/>
              <a:defRPr/>
            </a:pPr>
            <a:endParaRPr lang="en-US" sz="1050" dirty="0">
              <a:solidFill>
                <a:prstClr val="black">
                  <a:lumMod val="50000"/>
                  <a:lumOff val="50000"/>
                </a:prstClr>
              </a:solidFill>
              <a:latin typeface="Yekan Bakh" pitchFamily="2" charset="-78"/>
              <a:ea typeface="Yekan Bakh" pitchFamily="2" charset="-78"/>
              <a:cs typeface="Yekan Bakh" pitchFamily="2" charset="-78"/>
            </a:endParaRPr>
          </a:p>
          <a:p>
            <a:pPr marL="0" marR="0" lvl="0" indent="0" algn="l" defTabSz="457200" rtl="1"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endParaRPr>
          </a:p>
          <a:p>
            <a:pPr marL="0" marR="0" lvl="0" indent="0" algn="l" defTabSz="457200" rtl="1" eaLnBrk="1" fontAlgn="auto" latinLnBrk="0" hangingPunct="1">
              <a:lnSpc>
                <a:spcPct val="100000"/>
              </a:lnSpc>
              <a:spcBef>
                <a:spcPts val="0"/>
              </a:spcBef>
              <a:spcAft>
                <a:spcPts val="0"/>
              </a:spcAft>
              <a:buClrTx/>
              <a:buSzTx/>
              <a:buFontTx/>
              <a:buNone/>
              <a:tabLst/>
              <a:defRPr/>
            </a:pPr>
            <a:endParaRPr kumimoji="0" lang="fa-IR" sz="105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endParaRPr>
          </a:p>
          <a:p>
            <a:pPr marL="0" marR="0" lvl="0" indent="0" algn="l" defTabSz="457200" rtl="1" eaLnBrk="1" fontAlgn="auto" latinLnBrk="0" hangingPunct="1">
              <a:lnSpc>
                <a:spcPct val="100000"/>
              </a:lnSpc>
              <a:spcBef>
                <a:spcPts val="0"/>
              </a:spcBef>
              <a:spcAft>
                <a:spcPts val="0"/>
              </a:spcAft>
              <a:buClrTx/>
              <a:buSzTx/>
              <a:buFontTx/>
              <a:buNone/>
              <a:tabLst/>
              <a:defRPr/>
            </a:pPr>
            <a:r>
              <a:rPr kumimoji="0" lang="fa-IR" sz="105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هدف</a:t>
            </a:r>
            <a:endParaRPr kumimoji="0" lang="en-US" sz="105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endParaRPr>
          </a:p>
        </p:txBody>
      </p:sp>
      <p:sp>
        <p:nvSpPr>
          <p:cNvPr id="60" name="TextBox 59">
            <a:extLst>
              <a:ext uri="{FF2B5EF4-FFF2-40B4-BE49-F238E27FC236}">
                <a16:creationId xmlns:a16="http://schemas.microsoft.com/office/drawing/2014/main" id="{D800CF6A-CC5E-B4EC-04F3-2DCAFECE8D78}"/>
              </a:ext>
            </a:extLst>
          </p:cNvPr>
          <p:cNvSpPr txBox="1"/>
          <p:nvPr/>
        </p:nvSpPr>
        <p:spPr>
          <a:xfrm>
            <a:off x="2876550" y="5555880"/>
            <a:ext cx="7834380" cy="230832"/>
          </a:xfrm>
          <a:prstGeom prst="rect">
            <a:avLst/>
          </a:prstGeom>
          <a:noFill/>
        </p:spPr>
        <p:txBody>
          <a:bodyPr wrap="square" rtlCol="0">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900" b="1" i="0" u="none" strike="noStrike" kern="1200" cap="none" spc="0" normalizeH="0" baseline="0" noProof="0" dirty="0">
                <a:ln>
                  <a:noFill/>
                </a:ln>
                <a:solidFill>
                  <a:prstClr val="white">
                    <a:lumMod val="50000"/>
                  </a:prstClr>
                </a:solidFill>
                <a:effectLst/>
                <a:uLnTx/>
                <a:uFillTx/>
                <a:latin typeface="Yekan Bakh" pitchFamily="2" charset="-78"/>
                <a:ea typeface="Yekan Bakh" pitchFamily="2" charset="-78"/>
                <a:cs typeface="Yekan Bakh" pitchFamily="2" charset="-78"/>
              </a:rPr>
              <a:t>*تراز</a:t>
            </a:r>
            <a:r>
              <a:rPr kumimoji="0" lang="fa-IR" sz="900" b="0" i="0" u="none" strike="noStrike" kern="1200" cap="none" spc="0" normalizeH="0" baseline="0" noProof="0" dirty="0">
                <a:ln>
                  <a:noFill/>
                </a:ln>
                <a:solidFill>
                  <a:prstClr val="white">
                    <a:lumMod val="50000"/>
                  </a:prstClr>
                </a:solidFill>
                <a:effectLst/>
                <a:uLnTx/>
                <a:uFillTx/>
                <a:latin typeface="Yekan Bakh" pitchFamily="2" charset="-78"/>
                <a:ea typeface="Yekan Bakh" pitchFamily="2" charset="-78"/>
                <a:cs typeface="Yekan Bakh" pitchFamily="2" charset="-78"/>
              </a:rPr>
              <a:t>: آمادگی و نیاز مشخص برای معامله دارد / **</a:t>
            </a:r>
            <a:r>
              <a:rPr kumimoji="0" lang="fa-IR" sz="900" b="1" i="0" u="none" strike="noStrike" kern="1200" cap="none" spc="0" normalizeH="0" baseline="0" noProof="0" dirty="0">
                <a:ln>
                  <a:noFill/>
                </a:ln>
                <a:solidFill>
                  <a:prstClr val="white">
                    <a:lumMod val="50000"/>
                  </a:prstClr>
                </a:solidFill>
                <a:effectLst/>
                <a:uLnTx/>
                <a:uFillTx/>
                <a:latin typeface="Yekan Bakh" pitchFamily="2" charset="-78"/>
                <a:ea typeface="Yekan Bakh" pitchFamily="2" charset="-78"/>
                <a:cs typeface="Yekan Bakh" pitchFamily="2" charset="-78"/>
              </a:rPr>
              <a:t>مشتاق</a:t>
            </a:r>
            <a:r>
              <a:rPr kumimoji="0" lang="fa-IR" sz="900" b="0" i="0" u="none" strike="noStrike" kern="1200" cap="none" spc="0" normalizeH="0" baseline="0" noProof="0" dirty="0">
                <a:ln>
                  <a:noFill/>
                </a:ln>
                <a:solidFill>
                  <a:prstClr val="white">
                    <a:lumMod val="50000"/>
                  </a:prstClr>
                </a:solidFill>
                <a:effectLst/>
                <a:uLnTx/>
                <a:uFillTx/>
                <a:latin typeface="Yekan Bakh" pitchFamily="2" charset="-78"/>
                <a:ea typeface="Yekan Bakh" pitchFamily="2" charset="-78"/>
                <a:cs typeface="Yekan Bakh" pitchFamily="2" charset="-78"/>
              </a:rPr>
              <a:t>: تصمیم اولیه دارد ولی آماده معامله</a:t>
            </a:r>
            <a:r>
              <a:rPr kumimoji="0" lang="en-US" sz="900" b="0" i="0" u="none" strike="noStrike" kern="1200" cap="none" spc="0" normalizeH="0" baseline="0" noProof="0" dirty="0">
                <a:ln>
                  <a:noFill/>
                </a:ln>
                <a:solidFill>
                  <a:prstClr val="white">
                    <a:lumMod val="50000"/>
                  </a:prstClr>
                </a:solidFill>
                <a:effectLst/>
                <a:uLnTx/>
                <a:uFillTx/>
                <a:latin typeface="Yekan Bakh" pitchFamily="2" charset="-78"/>
                <a:ea typeface="Yekan Bakh" pitchFamily="2" charset="-78"/>
                <a:cs typeface="Yekan Bakh" pitchFamily="2" charset="-78"/>
              </a:rPr>
              <a:t> </a:t>
            </a:r>
            <a:r>
              <a:rPr kumimoji="0" lang="fa-IR" sz="900" b="0" i="0" u="none" strike="noStrike" kern="1200" cap="none" spc="0" normalizeH="0" baseline="0" noProof="0" dirty="0">
                <a:ln>
                  <a:noFill/>
                </a:ln>
                <a:solidFill>
                  <a:prstClr val="white">
                    <a:lumMod val="50000"/>
                  </a:prstClr>
                </a:solidFill>
                <a:effectLst/>
                <a:uLnTx/>
                <a:uFillTx/>
                <a:latin typeface="Yekan Bakh" pitchFamily="2" charset="-78"/>
                <a:ea typeface="Yekan Bakh" pitchFamily="2" charset="-78"/>
                <a:cs typeface="Yekan Bakh" pitchFamily="2" charset="-78"/>
              </a:rPr>
              <a:t>نیست / ***</a:t>
            </a:r>
            <a:r>
              <a:rPr kumimoji="0" lang="fa-IR" sz="900" b="1" i="0" u="none" strike="noStrike" kern="1200" cap="none" spc="0" normalizeH="0" baseline="0" noProof="0" dirty="0">
                <a:ln>
                  <a:noFill/>
                </a:ln>
                <a:solidFill>
                  <a:prstClr val="white">
                    <a:lumMod val="50000"/>
                  </a:prstClr>
                </a:solidFill>
                <a:effectLst/>
                <a:uLnTx/>
                <a:uFillTx/>
                <a:latin typeface="Yekan Bakh" pitchFamily="2" charset="-78"/>
                <a:ea typeface="Yekan Bakh" pitchFamily="2" charset="-78"/>
                <a:cs typeface="Yekan Bakh" pitchFamily="2" charset="-78"/>
              </a:rPr>
              <a:t>کنجکاو</a:t>
            </a:r>
            <a:r>
              <a:rPr kumimoji="0" lang="fa-IR" sz="900" b="0" i="0" u="none" strike="noStrike" kern="1200" cap="none" spc="0" normalizeH="0" baseline="0" noProof="0" dirty="0">
                <a:ln>
                  <a:noFill/>
                </a:ln>
                <a:solidFill>
                  <a:prstClr val="white">
                    <a:lumMod val="50000"/>
                  </a:prstClr>
                </a:solidFill>
                <a:effectLst/>
                <a:uLnTx/>
                <a:uFillTx/>
                <a:latin typeface="Yekan Bakh" pitchFamily="2" charset="-78"/>
                <a:ea typeface="Yekan Bakh" pitchFamily="2" charset="-78"/>
                <a:cs typeface="Yekan Bakh" pitchFamily="2" charset="-78"/>
              </a:rPr>
              <a:t>: هنوز در مرحله شناخت فرصت است </a:t>
            </a:r>
            <a:endParaRPr kumimoji="0" lang="en-US" sz="900" b="0" i="0" u="none" strike="noStrike" kern="1200" cap="none" spc="0" normalizeH="0" baseline="0" noProof="0" dirty="0">
              <a:ln>
                <a:noFill/>
              </a:ln>
              <a:solidFill>
                <a:prstClr val="white">
                  <a:lumMod val="50000"/>
                </a:prstClr>
              </a:solidFill>
              <a:effectLst/>
              <a:uLnTx/>
              <a:uFillTx/>
              <a:latin typeface="Yekan Bakh" pitchFamily="2" charset="-78"/>
              <a:ea typeface="Yekan Bakh" pitchFamily="2" charset="-78"/>
              <a:cs typeface="Yekan Bakh" pitchFamily="2" charset="-78"/>
            </a:endParaRPr>
          </a:p>
        </p:txBody>
      </p:sp>
      <p:sp>
        <p:nvSpPr>
          <p:cNvPr id="4" name="TextBox 3">
            <a:extLst>
              <a:ext uri="{FF2B5EF4-FFF2-40B4-BE49-F238E27FC236}">
                <a16:creationId xmlns:a16="http://schemas.microsoft.com/office/drawing/2014/main" id="{9A390CD3-E647-8352-8B92-E4B6C1226612}"/>
              </a:ext>
            </a:extLst>
          </p:cNvPr>
          <p:cNvSpPr txBox="1"/>
          <p:nvPr/>
        </p:nvSpPr>
        <p:spPr>
          <a:xfrm>
            <a:off x="9403846" y="1801589"/>
            <a:ext cx="264816" cy="25391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a-IR" sz="1050" b="0" i="0" u="none" strike="noStrike" kern="1200" cap="none" spc="0" normalizeH="0" baseline="0" noProof="0" dirty="0">
                <a:solidFill>
                  <a:srgbClr val="FFC000"/>
                </a:solidFill>
                <a:effectLst/>
                <a:uLnTx/>
                <a:uFillTx/>
                <a:latin typeface="Yekan Bakh FaNum Black" pitchFamily="2" charset="-78"/>
                <a:ea typeface="Yekan Bakh FaNum Black" pitchFamily="2" charset="-78"/>
                <a:cs typeface="Yekan Bakh FaNum Black" pitchFamily="2" charset="-78"/>
              </a:rPr>
              <a:t>*</a:t>
            </a:r>
            <a:endParaRPr kumimoji="0" lang="en-US" sz="1050" b="0" i="0" u="none" strike="noStrike" kern="1200" cap="none" spc="0" normalizeH="0" baseline="0" noProof="0" dirty="0">
              <a:solidFill>
                <a:srgbClr val="FFC000"/>
              </a:solidFill>
              <a:effectLst/>
              <a:uLnTx/>
              <a:uFillTx/>
              <a:latin typeface="Yekan Bakh FaNum Black" pitchFamily="2" charset="-78"/>
              <a:ea typeface="Yekan Bakh FaNum Black" pitchFamily="2" charset="-78"/>
              <a:cs typeface="Yekan Bakh FaNum Black" pitchFamily="2" charset="-78"/>
            </a:endParaRPr>
          </a:p>
        </p:txBody>
      </p:sp>
      <p:sp>
        <p:nvSpPr>
          <p:cNvPr id="13" name="TextBox 12">
            <a:extLst>
              <a:ext uri="{FF2B5EF4-FFF2-40B4-BE49-F238E27FC236}">
                <a16:creationId xmlns:a16="http://schemas.microsoft.com/office/drawing/2014/main" id="{B764E2B2-9358-B0FC-FD6A-90B4E4E2B606}"/>
              </a:ext>
            </a:extLst>
          </p:cNvPr>
          <p:cNvSpPr txBox="1"/>
          <p:nvPr/>
        </p:nvSpPr>
        <p:spPr>
          <a:xfrm>
            <a:off x="5537480" y="1782615"/>
            <a:ext cx="344966" cy="25391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a-IR" sz="1050" b="0" i="0" u="none" strike="noStrike" kern="1200" cap="none" spc="0" normalizeH="0" baseline="0" noProof="0" dirty="0">
                <a:ln>
                  <a:noFill/>
                </a:ln>
                <a:solidFill>
                  <a:srgbClr val="92D050"/>
                </a:solidFill>
                <a:effectLst/>
                <a:uLnTx/>
                <a:uFillTx/>
                <a:latin typeface="Yekan Bakh" pitchFamily="2" charset="-78"/>
                <a:ea typeface="Yekan Bakh" pitchFamily="2" charset="-78"/>
                <a:cs typeface="Yekan Bakh" pitchFamily="2" charset="-78"/>
              </a:rPr>
              <a:t>**</a:t>
            </a:r>
            <a:endParaRPr kumimoji="0" lang="en-US" sz="1050" b="0" i="0" u="none" strike="noStrike" kern="1200" cap="none" spc="0" normalizeH="0" baseline="0" noProof="0" dirty="0">
              <a:ln>
                <a:noFill/>
              </a:ln>
              <a:solidFill>
                <a:srgbClr val="92D050"/>
              </a:solidFill>
              <a:effectLst/>
              <a:uLnTx/>
              <a:uFillTx/>
              <a:latin typeface="Yekan Bakh" pitchFamily="2" charset="-78"/>
              <a:ea typeface="Yekan Bakh" pitchFamily="2" charset="-78"/>
              <a:cs typeface="Yekan Bakh" pitchFamily="2" charset="-78"/>
            </a:endParaRPr>
          </a:p>
        </p:txBody>
      </p:sp>
      <p:sp>
        <p:nvSpPr>
          <p:cNvPr id="22" name="TextBox 21">
            <a:extLst>
              <a:ext uri="{FF2B5EF4-FFF2-40B4-BE49-F238E27FC236}">
                <a16:creationId xmlns:a16="http://schemas.microsoft.com/office/drawing/2014/main" id="{25463D69-A4AF-BCCD-626E-579F5DBADEDB}"/>
              </a:ext>
            </a:extLst>
          </p:cNvPr>
          <p:cNvSpPr txBox="1"/>
          <p:nvPr/>
        </p:nvSpPr>
        <p:spPr>
          <a:xfrm>
            <a:off x="3813203" y="1782615"/>
            <a:ext cx="425116" cy="25391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a-IR" sz="1050" b="0" i="0" u="none" strike="noStrike" kern="1200" cap="none" spc="0" normalizeH="0" baseline="0" noProof="0" dirty="0">
                <a:ln>
                  <a:noFill/>
                </a:ln>
                <a:solidFill>
                  <a:srgbClr val="0199FF"/>
                </a:solidFill>
                <a:effectLst/>
                <a:uLnTx/>
                <a:uFillTx/>
                <a:latin typeface="Yekan Bakh" pitchFamily="2" charset="-78"/>
                <a:ea typeface="Yekan Bakh" pitchFamily="2" charset="-78"/>
                <a:cs typeface="Yekan Bakh" pitchFamily="2" charset="-78"/>
              </a:rPr>
              <a:t>***</a:t>
            </a:r>
            <a:endParaRPr kumimoji="0" lang="en-US" sz="1050" b="0" i="0" u="none" strike="noStrike" kern="1200" cap="none" spc="0" normalizeH="0" baseline="0" noProof="0" dirty="0">
              <a:ln>
                <a:noFill/>
              </a:ln>
              <a:solidFill>
                <a:srgbClr val="0199FF"/>
              </a:solidFill>
              <a:effectLst/>
              <a:uLnTx/>
              <a:uFillTx/>
              <a:latin typeface="Yekan Bakh" pitchFamily="2" charset="-78"/>
              <a:ea typeface="Yekan Bakh" pitchFamily="2" charset="-78"/>
              <a:cs typeface="Yekan Bakh" pitchFamily="2" charset="-78"/>
            </a:endParaRPr>
          </a:p>
        </p:txBody>
      </p:sp>
      <p:cxnSp>
        <p:nvCxnSpPr>
          <p:cNvPr id="47" name="Straight Connector 46">
            <a:extLst>
              <a:ext uri="{FF2B5EF4-FFF2-40B4-BE49-F238E27FC236}">
                <a16:creationId xmlns:a16="http://schemas.microsoft.com/office/drawing/2014/main" id="{B7E6701C-9D50-CED7-74B5-5E430F3B36A1}"/>
              </a:ext>
            </a:extLst>
          </p:cNvPr>
          <p:cNvCxnSpPr>
            <a:cxnSpLocks/>
          </p:cNvCxnSpPr>
          <p:nvPr/>
        </p:nvCxnSpPr>
        <p:spPr>
          <a:xfrm flipH="1">
            <a:off x="3847902" y="1357483"/>
            <a:ext cx="6583680" cy="0"/>
          </a:xfrm>
          <a:prstGeom prst="line">
            <a:avLst/>
          </a:prstGeom>
          <a:ln w="12700">
            <a:solidFill>
              <a:schemeClr val="bg1">
                <a:lumMod val="85000"/>
              </a:schemeClr>
            </a:solidFill>
          </a:ln>
        </p:spPr>
        <p:style>
          <a:lnRef idx="1">
            <a:schemeClr val="accent4"/>
          </a:lnRef>
          <a:fillRef idx="0">
            <a:schemeClr val="accent4"/>
          </a:fillRef>
          <a:effectRef idx="0">
            <a:schemeClr val="accent4"/>
          </a:effectRef>
          <a:fontRef idx="minor">
            <a:schemeClr val="tx1"/>
          </a:fontRef>
        </p:style>
      </p:cxnSp>
      <p:cxnSp>
        <p:nvCxnSpPr>
          <p:cNvPr id="48" name="Straight Connector 47">
            <a:extLst>
              <a:ext uri="{FF2B5EF4-FFF2-40B4-BE49-F238E27FC236}">
                <a16:creationId xmlns:a16="http://schemas.microsoft.com/office/drawing/2014/main" id="{4C122C64-F909-6CC8-D227-BE33D82D7775}"/>
              </a:ext>
            </a:extLst>
          </p:cNvPr>
          <p:cNvCxnSpPr>
            <a:cxnSpLocks/>
          </p:cNvCxnSpPr>
          <p:nvPr/>
        </p:nvCxnSpPr>
        <p:spPr>
          <a:xfrm flipH="1">
            <a:off x="2290012" y="1357483"/>
            <a:ext cx="1383224" cy="0"/>
          </a:xfrm>
          <a:prstGeom prst="line">
            <a:avLst/>
          </a:prstGeom>
          <a:ln w="12700">
            <a:solidFill>
              <a:schemeClr val="bg1">
                <a:lumMod val="85000"/>
              </a:schemeClr>
            </a:solidFill>
          </a:ln>
        </p:spPr>
        <p:style>
          <a:lnRef idx="1">
            <a:schemeClr val="accent4"/>
          </a:lnRef>
          <a:fillRef idx="0">
            <a:schemeClr val="accent4"/>
          </a:fillRef>
          <a:effectRef idx="0">
            <a:schemeClr val="accent4"/>
          </a:effectRef>
          <a:fontRef idx="minor">
            <a:schemeClr val="tx1"/>
          </a:fontRef>
        </p:style>
      </p:cxnSp>
      <p:cxnSp>
        <p:nvCxnSpPr>
          <p:cNvPr id="67" name="Straight Connector 66">
            <a:extLst>
              <a:ext uri="{FF2B5EF4-FFF2-40B4-BE49-F238E27FC236}">
                <a16:creationId xmlns:a16="http://schemas.microsoft.com/office/drawing/2014/main" id="{8DDCDA1C-8E96-DE00-8D67-FF81F90653EE}"/>
              </a:ext>
            </a:extLst>
          </p:cNvPr>
          <p:cNvCxnSpPr>
            <a:cxnSpLocks/>
          </p:cNvCxnSpPr>
          <p:nvPr/>
        </p:nvCxnSpPr>
        <p:spPr>
          <a:xfrm flipH="1">
            <a:off x="688071" y="1357483"/>
            <a:ext cx="1383224" cy="0"/>
          </a:xfrm>
          <a:prstGeom prst="line">
            <a:avLst/>
          </a:prstGeom>
          <a:ln w="12700">
            <a:solidFill>
              <a:schemeClr val="bg1">
                <a:lumMod val="85000"/>
              </a:schemeClr>
            </a:solidFill>
          </a:ln>
        </p:spPr>
        <p:style>
          <a:lnRef idx="1">
            <a:schemeClr val="accent4"/>
          </a:lnRef>
          <a:fillRef idx="0">
            <a:schemeClr val="accent4"/>
          </a:fillRef>
          <a:effectRef idx="0">
            <a:schemeClr val="accent4"/>
          </a:effectRef>
          <a:fontRef idx="minor">
            <a:schemeClr val="tx1"/>
          </a:fontRef>
        </p:style>
      </p:cxnSp>
      <p:sp>
        <p:nvSpPr>
          <p:cNvPr id="70" name="TextBox 69">
            <a:extLst>
              <a:ext uri="{FF2B5EF4-FFF2-40B4-BE49-F238E27FC236}">
                <a16:creationId xmlns:a16="http://schemas.microsoft.com/office/drawing/2014/main" id="{D9DB1342-FF32-0ED0-67F5-81A2A53555B1}"/>
              </a:ext>
            </a:extLst>
          </p:cNvPr>
          <p:cNvSpPr txBox="1"/>
          <p:nvPr/>
        </p:nvSpPr>
        <p:spPr>
          <a:xfrm>
            <a:off x="10515391" y="1230525"/>
            <a:ext cx="1049662" cy="253916"/>
          </a:xfrm>
          <a:prstGeom prst="rect">
            <a:avLst/>
          </a:prstGeom>
          <a:noFill/>
        </p:spPr>
        <p:txBody>
          <a:bodyPr wrap="square">
            <a:spAutoFit/>
          </a:bodyPr>
          <a:lstStyle/>
          <a:p>
            <a:pPr marL="0" marR="0" lvl="0" indent="0" algn="l" defTabSz="457200" rtl="1" eaLnBrk="1" fontAlgn="auto" latinLnBrk="0" hangingPunct="1">
              <a:lnSpc>
                <a:spcPct val="100000"/>
              </a:lnSpc>
              <a:spcBef>
                <a:spcPts val="0"/>
              </a:spcBef>
              <a:spcAft>
                <a:spcPts val="0"/>
              </a:spcAft>
              <a:buClrTx/>
              <a:buSzTx/>
              <a:buFontTx/>
              <a:buNone/>
              <a:tabLst/>
              <a:defRPr/>
            </a:pPr>
            <a:r>
              <a:rPr kumimoji="0" lang="fa-IR" sz="1050" b="0" i="0" u="none" strike="noStrike" kern="1200" cap="none" spc="0" normalizeH="0" baseline="0" noProof="0" dirty="0" err="1">
                <a:ln>
                  <a:noFill/>
                </a:ln>
                <a:solidFill>
                  <a:schemeClr val="tx1">
                    <a:lumMod val="50000"/>
                    <a:lumOff val="50000"/>
                  </a:schemeClr>
                </a:solidFill>
                <a:effectLst/>
                <a:uLnTx/>
                <a:uFillTx/>
                <a:latin typeface="Yekan Bakh" pitchFamily="2" charset="-78"/>
                <a:ea typeface="Yekan Bakh" pitchFamily="2" charset="-78"/>
                <a:cs typeface="Yekan Bakh" pitchFamily="2" charset="-78"/>
              </a:rPr>
              <a:t>بیزینس</a:t>
            </a:r>
            <a:r>
              <a:rPr kumimoji="0" lang="fa-IR" sz="1050" b="0" i="0" u="none" strike="noStrike" kern="1200" cap="none" spc="0" normalizeH="0" baseline="0" noProof="0" dirty="0">
                <a:ln>
                  <a:noFill/>
                </a:ln>
                <a:solidFill>
                  <a:schemeClr val="tx1">
                    <a:lumMod val="50000"/>
                    <a:lumOff val="50000"/>
                  </a:schemeClr>
                </a:solidFill>
                <a:effectLst/>
                <a:uLnTx/>
                <a:uFillTx/>
                <a:latin typeface="Yekan Bakh" pitchFamily="2" charset="-78"/>
                <a:ea typeface="Yekan Bakh" pitchFamily="2" charset="-78"/>
                <a:cs typeface="Yekan Bakh" pitchFamily="2" charset="-78"/>
              </a:rPr>
              <a:t> لاین</a:t>
            </a:r>
          </a:p>
        </p:txBody>
      </p:sp>
      <p:sp>
        <p:nvSpPr>
          <p:cNvPr id="72" name="TextBox 71">
            <a:extLst>
              <a:ext uri="{FF2B5EF4-FFF2-40B4-BE49-F238E27FC236}">
                <a16:creationId xmlns:a16="http://schemas.microsoft.com/office/drawing/2014/main" id="{DC9FE117-5D61-5B98-557C-2F2E57219897}"/>
              </a:ext>
            </a:extLst>
          </p:cNvPr>
          <p:cNvSpPr txBox="1"/>
          <p:nvPr/>
        </p:nvSpPr>
        <p:spPr>
          <a:xfrm>
            <a:off x="6682648" y="1229789"/>
            <a:ext cx="914188" cy="255389"/>
          </a:xfrm>
          <a:prstGeom prst="roundRect">
            <a:avLst/>
          </a:prstGeom>
          <a:solidFill>
            <a:schemeClr val="bg1"/>
          </a:solidFill>
          <a:ln>
            <a:noFill/>
          </a:ln>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schemeClr val="tx1">
                    <a:lumMod val="50000"/>
                    <a:lumOff val="50000"/>
                  </a:schemeClr>
                </a:solidFill>
                <a:effectLst/>
                <a:uLnTx/>
                <a:uFillTx/>
                <a:latin typeface="Yekan Bakh" pitchFamily="2" charset="-78"/>
                <a:ea typeface="Yekan Bakh" pitchFamily="2" charset="-78"/>
                <a:cs typeface="Yekan Bakh" pitchFamily="2" charset="-78"/>
              </a:rPr>
              <a:t>خدمات حرفه‌ای</a:t>
            </a:r>
          </a:p>
        </p:txBody>
      </p:sp>
      <p:sp>
        <p:nvSpPr>
          <p:cNvPr id="74" name="TextBox 73">
            <a:extLst>
              <a:ext uri="{FF2B5EF4-FFF2-40B4-BE49-F238E27FC236}">
                <a16:creationId xmlns:a16="http://schemas.microsoft.com/office/drawing/2014/main" id="{95A161B6-5D9B-6780-C3DA-3EFE9E6CBA66}"/>
              </a:ext>
            </a:extLst>
          </p:cNvPr>
          <p:cNvSpPr txBox="1"/>
          <p:nvPr/>
        </p:nvSpPr>
        <p:spPr>
          <a:xfrm>
            <a:off x="2530939" y="1229789"/>
            <a:ext cx="914188" cy="255389"/>
          </a:xfrm>
          <a:prstGeom prst="roundRect">
            <a:avLst/>
          </a:prstGeom>
          <a:solidFill>
            <a:schemeClr val="bg1"/>
          </a:solidFill>
          <a:ln>
            <a:noFill/>
          </a:ln>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schemeClr val="tx1">
                    <a:lumMod val="50000"/>
                    <a:lumOff val="50000"/>
                  </a:schemeClr>
                </a:solidFill>
                <a:effectLst/>
                <a:uLnTx/>
                <a:uFillTx/>
                <a:latin typeface="Yekan Bakh" pitchFamily="2" charset="-78"/>
                <a:ea typeface="Yekan Bakh" pitchFamily="2" charset="-78"/>
                <a:cs typeface="Yekan Bakh" pitchFamily="2" charset="-78"/>
              </a:rPr>
              <a:t>خلق کسب‌وکار</a:t>
            </a:r>
          </a:p>
        </p:txBody>
      </p:sp>
      <p:sp>
        <p:nvSpPr>
          <p:cNvPr id="76" name="TextBox 75">
            <a:extLst>
              <a:ext uri="{FF2B5EF4-FFF2-40B4-BE49-F238E27FC236}">
                <a16:creationId xmlns:a16="http://schemas.microsoft.com/office/drawing/2014/main" id="{0F272413-C158-5BBE-F34A-7ECFA728D2A9}"/>
              </a:ext>
            </a:extLst>
          </p:cNvPr>
          <p:cNvSpPr txBox="1"/>
          <p:nvPr/>
        </p:nvSpPr>
        <p:spPr>
          <a:xfrm>
            <a:off x="893062" y="1229789"/>
            <a:ext cx="914188" cy="255389"/>
          </a:xfrm>
          <a:prstGeom prst="roundRect">
            <a:avLst/>
          </a:prstGeom>
          <a:solidFill>
            <a:schemeClr val="bg1"/>
          </a:solidFill>
          <a:ln>
            <a:noFill/>
          </a:ln>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schemeClr val="tx1">
                    <a:lumMod val="50000"/>
                    <a:lumOff val="50000"/>
                  </a:schemeClr>
                </a:solidFill>
                <a:effectLst/>
                <a:uLnTx/>
                <a:uFillTx/>
                <a:latin typeface="Yekan Bakh" pitchFamily="2" charset="-78"/>
                <a:ea typeface="Yekan Bakh" pitchFamily="2" charset="-78"/>
                <a:cs typeface="Yekan Bakh" pitchFamily="2" charset="-78"/>
              </a:rPr>
              <a:t>سرمایه‌گذاری</a:t>
            </a:r>
          </a:p>
        </p:txBody>
      </p:sp>
    </p:spTree>
    <p:extLst>
      <p:ext uri="{BB962C8B-B14F-4D97-AF65-F5344CB8AC3E}">
        <p14:creationId xmlns:p14="http://schemas.microsoft.com/office/powerpoint/2010/main" val="33524065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C2DAC47-9846-0EFC-DB9B-CB371E37A401}"/>
              </a:ext>
            </a:extLst>
          </p:cNvPr>
          <p:cNvSpPr/>
          <p:nvPr/>
        </p:nvSpPr>
        <p:spPr>
          <a:xfrm>
            <a:off x="0" y="0"/>
            <a:ext cx="11703050" cy="1417320"/>
          </a:xfrm>
          <a:prstGeom prst="rect">
            <a:avLst/>
          </a:prstGeom>
          <a:solidFill>
            <a:srgbClr val="F0BE0F">
              <a:alpha val="1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Calibri"/>
            </a:endParaRPr>
          </a:p>
        </p:txBody>
      </p:sp>
      <p:sp>
        <p:nvSpPr>
          <p:cNvPr id="2" name="Text Placeholder 1">
            <a:extLst>
              <a:ext uri="{FF2B5EF4-FFF2-40B4-BE49-F238E27FC236}">
                <a16:creationId xmlns:a16="http://schemas.microsoft.com/office/drawing/2014/main" id="{C06EA3FF-39A0-0115-29D5-5F97E6B5214E}"/>
              </a:ext>
            </a:extLst>
          </p:cNvPr>
          <p:cNvSpPr>
            <a:spLocks noGrp="1"/>
          </p:cNvSpPr>
          <p:nvPr>
            <p:ph type="body" sz="quarter" idx="10"/>
          </p:nvPr>
        </p:nvSpPr>
        <p:spPr/>
        <p:txBody>
          <a:bodyPr/>
          <a:lstStyle/>
          <a:p>
            <a:r>
              <a:rPr lang="fa-IR" dirty="0"/>
              <a:t>پروفایل بخش‌های مشتری</a:t>
            </a:r>
          </a:p>
        </p:txBody>
      </p:sp>
      <p:sp>
        <p:nvSpPr>
          <p:cNvPr id="3" name="Text Placeholder 2">
            <a:extLst>
              <a:ext uri="{FF2B5EF4-FFF2-40B4-BE49-F238E27FC236}">
                <a16:creationId xmlns:a16="http://schemas.microsoft.com/office/drawing/2014/main" id="{0C3A99AF-F1E3-5259-E258-F4307273D304}"/>
              </a:ext>
            </a:extLst>
          </p:cNvPr>
          <p:cNvSpPr>
            <a:spLocks noGrp="1"/>
          </p:cNvSpPr>
          <p:nvPr>
            <p:ph type="body" sz="quarter" idx="12"/>
          </p:nvPr>
        </p:nvSpPr>
        <p:spPr/>
        <p:txBody>
          <a:bodyPr/>
          <a:lstStyle/>
          <a:p>
            <a:r>
              <a:rPr lang="fa-IR" dirty="0"/>
              <a:t>1. کسب‌وکار تراز ایرانی </a:t>
            </a:r>
            <a:r>
              <a:rPr lang="fa-IR" sz="1200" b="0" dirty="0">
                <a:solidFill>
                  <a:schemeClr val="tx1">
                    <a:lumMod val="65000"/>
                    <a:lumOff val="35000"/>
                  </a:schemeClr>
                </a:solidFill>
              </a:rPr>
              <a:t>(1/2)</a:t>
            </a:r>
          </a:p>
          <a:p>
            <a:r>
              <a:rPr lang="fa-IR" sz="1100" b="0" dirty="0">
                <a:solidFill>
                  <a:schemeClr val="tx1">
                    <a:lumMod val="65000"/>
                    <a:lumOff val="35000"/>
                  </a:schemeClr>
                </a:solidFill>
              </a:rPr>
              <a:t>یک شرکت ایرانی با هدف تجارت با شرکت‎‌های داخلی یا خارجی (مصوب هیئت‌مدیره، ماموریت محوله، بودجه تخصیص‌یافته و قابلیت داخلی کافی برای اجرا) که از دروازه «قابلیت معامله» عبور می‌کند. چالش و مانع اصلی آن دسترسی و پذیرش است: نمی‌تواند به طرف معامله مدنظر خود دست یابد و در صورت دسترسی نیز توسط او جدی گرفته نمی‌شود.</a:t>
            </a:r>
          </a:p>
          <a:p>
            <a:endParaRPr lang="en-GB" dirty="0"/>
          </a:p>
        </p:txBody>
      </p:sp>
      <p:sp>
        <p:nvSpPr>
          <p:cNvPr id="7" name="Rectangle 6">
            <a:extLst>
              <a:ext uri="{FF2B5EF4-FFF2-40B4-BE49-F238E27FC236}">
                <a16:creationId xmlns:a16="http://schemas.microsoft.com/office/drawing/2014/main" id="{75DB268C-31EE-65BE-D1D7-D844DCFA3722}"/>
              </a:ext>
            </a:extLst>
          </p:cNvPr>
          <p:cNvSpPr/>
          <p:nvPr/>
        </p:nvSpPr>
        <p:spPr>
          <a:xfrm>
            <a:off x="6054291" y="1718108"/>
            <a:ext cx="5093134" cy="572655"/>
          </a:xfrm>
          <a:prstGeom prst="rect">
            <a:avLst/>
          </a:prstGeom>
          <a:noFill/>
          <a:ln w="6350">
            <a:solidFill>
              <a:srgbClr val="F0BE0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9" name="TextBox 8">
            <a:extLst>
              <a:ext uri="{FF2B5EF4-FFF2-40B4-BE49-F238E27FC236}">
                <a16:creationId xmlns:a16="http://schemas.microsoft.com/office/drawing/2014/main" id="{52691A14-BE5A-B72F-1E94-62EFCAC1D2E2}"/>
              </a:ext>
            </a:extLst>
          </p:cNvPr>
          <p:cNvSpPr txBox="1"/>
          <p:nvPr/>
        </p:nvSpPr>
        <p:spPr>
          <a:xfrm>
            <a:off x="9697453" y="1605252"/>
            <a:ext cx="1282422" cy="261610"/>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srgbClr val="FFC000"/>
                </a:solidFill>
                <a:effectLst/>
                <a:uLnTx/>
                <a:uFillTx/>
                <a:latin typeface="Yekan Bakh" pitchFamily="2" charset="-78"/>
                <a:ea typeface="Yekan Bakh" pitchFamily="2" charset="-78"/>
                <a:cs typeface="Yekan Bakh" pitchFamily="2" charset="-78"/>
              </a:rPr>
              <a:t>نقش اصلی مشتری</a:t>
            </a:r>
            <a:endParaRPr kumimoji="0" lang="en-US" sz="1050" b="1" i="0" u="none" strike="noStrike" kern="1200" cap="none" spc="0" normalizeH="0" baseline="0" noProof="0" dirty="0">
              <a:ln>
                <a:noFill/>
              </a:ln>
              <a:solidFill>
                <a:srgbClr val="FFC000"/>
              </a:solidFill>
              <a:effectLst/>
              <a:uLnTx/>
              <a:uFillTx/>
              <a:latin typeface="Yekan Bakh" pitchFamily="2" charset="-78"/>
              <a:ea typeface="Yekan Bakh" pitchFamily="2" charset="-78"/>
              <a:cs typeface="Yekan Bakh" pitchFamily="2" charset="-78"/>
            </a:endParaRPr>
          </a:p>
        </p:txBody>
      </p:sp>
      <p:sp>
        <p:nvSpPr>
          <p:cNvPr id="11" name="TextBox 10">
            <a:extLst>
              <a:ext uri="{FF2B5EF4-FFF2-40B4-BE49-F238E27FC236}">
                <a16:creationId xmlns:a16="http://schemas.microsoft.com/office/drawing/2014/main" id="{4EC7E9AE-F7EC-C155-E135-C972936B3626}"/>
              </a:ext>
            </a:extLst>
          </p:cNvPr>
          <p:cNvSpPr txBox="1"/>
          <p:nvPr/>
        </p:nvSpPr>
        <p:spPr>
          <a:xfrm>
            <a:off x="6129339" y="1897640"/>
            <a:ext cx="4954286" cy="261610"/>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قرارداد همکاری و در نهایت معامله اصلی را امضا می‌کند.</a:t>
            </a:r>
            <a:endParaRPr kumimoji="0" lang="en-US" sz="11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13" name="Rectangle 12">
            <a:extLst>
              <a:ext uri="{FF2B5EF4-FFF2-40B4-BE49-F238E27FC236}">
                <a16:creationId xmlns:a16="http://schemas.microsoft.com/office/drawing/2014/main" id="{4079BB56-F41D-902F-CBA4-EE74A5742BDE}"/>
              </a:ext>
            </a:extLst>
          </p:cNvPr>
          <p:cNvSpPr/>
          <p:nvPr/>
        </p:nvSpPr>
        <p:spPr>
          <a:xfrm>
            <a:off x="6054291" y="2516475"/>
            <a:ext cx="5093134" cy="674400"/>
          </a:xfrm>
          <a:prstGeom prst="rect">
            <a:avLst/>
          </a:prstGeom>
          <a:noFill/>
          <a:ln w="6350">
            <a:solidFill>
              <a:srgbClr val="F0BE0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15" name="TextBox 14">
            <a:extLst>
              <a:ext uri="{FF2B5EF4-FFF2-40B4-BE49-F238E27FC236}">
                <a16:creationId xmlns:a16="http://schemas.microsoft.com/office/drawing/2014/main" id="{3575AF44-443D-8880-C083-B16DB39E3725}"/>
              </a:ext>
            </a:extLst>
          </p:cNvPr>
          <p:cNvSpPr txBox="1"/>
          <p:nvPr/>
        </p:nvSpPr>
        <p:spPr>
          <a:xfrm>
            <a:off x="9697453" y="2403619"/>
            <a:ext cx="1282422" cy="261610"/>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srgbClr val="FFC000"/>
                </a:solidFill>
                <a:effectLst/>
                <a:uLnTx/>
                <a:uFillTx/>
                <a:latin typeface="Yekan Bakh" pitchFamily="2" charset="-78"/>
                <a:ea typeface="Yekan Bakh" pitchFamily="2" charset="-78"/>
                <a:cs typeface="Yekan Bakh" pitchFamily="2" charset="-78"/>
              </a:rPr>
              <a:t>نیاز محوری مشتری</a:t>
            </a:r>
            <a:endParaRPr kumimoji="0" lang="en-US" sz="1050" b="1" i="0" u="none" strike="noStrike" kern="1200" cap="none" spc="0" normalizeH="0" baseline="0" noProof="0" dirty="0">
              <a:ln>
                <a:noFill/>
              </a:ln>
              <a:solidFill>
                <a:srgbClr val="FFC000"/>
              </a:solidFill>
              <a:effectLst/>
              <a:uLnTx/>
              <a:uFillTx/>
              <a:latin typeface="Yekan Bakh" pitchFamily="2" charset="-78"/>
              <a:ea typeface="Yekan Bakh" pitchFamily="2" charset="-78"/>
              <a:cs typeface="Yekan Bakh" pitchFamily="2" charset="-78"/>
            </a:endParaRPr>
          </a:p>
        </p:txBody>
      </p:sp>
      <p:sp>
        <p:nvSpPr>
          <p:cNvPr id="17" name="TextBox 16">
            <a:extLst>
              <a:ext uri="{FF2B5EF4-FFF2-40B4-BE49-F238E27FC236}">
                <a16:creationId xmlns:a16="http://schemas.microsoft.com/office/drawing/2014/main" id="{0FE009C7-ACAF-E9A0-819E-030911753774}"/>
              </a:ext>
            </a:extLst>
          </p:cNvPr>
          <p:cNvSpPr txBox="1"/>
          <p:nvPr/>
        </p:nvSpPr>
        <p:spPr>
          <a:xfrm>
            <a:off x="6129339" y="2696007"/>
            <a:ext cx="4954286" cy="415498"/>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05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دسترسی به یک طرف معامله خارجی اعتبارسنجی‌شده و پذیرفته شدن به عنوان یک مجموعه معتبر نزد او. اعتبار، پیامد فرعی خدمت نیست؛ بلکه نیمی از خود محصول است.</a:t>
            </a:r>
            <a:endParaRPr kumimoji="0" lang="en-US" sz="105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19" name="Rectangle 18">
            <a:extLst>
              <a:ext uri="{FF2B5EF4-FFF2-40B4-BE49-F238E27FC236}">
                <a16:creationId xmlns:a16="http://schemas.microsoft.com/office/drawing/2014/main" id="{55F3389F-9751-36EC-8030-C0A53A0279F2}"/>
              </a:ext>
            </a:extLst>
          </p:cNvPr>
          <p:cNvSpPr/>
          <p:nvPr/>
        </p:nvSpPr>
        <p:spPr>
          <a:xfrm>
            <a:off x="6054291" y="3513710"/>
            <a:ext cx="5093134" cy="1034477"/>
          </a:xfrm>
          <a:prstGeom prst="rect">
            <a:avLst/>
          </a:prstGeom>
          <a:noFill/>
          <a:ln w="6350">
            <a:solidFill>
              <a:srgbClr val="F0BE0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21" name="TextBox 20">
            <a:extLst>
              <a:ext uri="{FF2B5EF4-FFF2-40B4-BE49-F238E27FC236}">
                <a16:creationId xmlns:a16="http://schemas.microsoft.com/office/drawing/2014/main" id="{FE80FC59-C272-E9E8-0507-976A0ACE801B}"/>
              </a:ext>
            </a:extLst>
          </p:cNvPr>
          <p:cNvSpPr txBox="1"/>
          <p:nvPr/>
        </p:nvSpPr>
        <p:spPr>
          <a:xfrm>
            <a:off x="8768615" y="3400855"/>
            <a:ext cx="2211260" cy="261610"/>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err="1">
                <a:ln>
                  <a:noFill/>
                </a:ln>
                <a:solidFill>
                  <a:srgbClr val="FFC000"/>
                </a:solidFill>
                <a:effectLst/>
                <a:uLnTx/>
                <a:uFillTx/>
                <a:latin typeface="Yekan Bakh" pitchFamily="2" charset="-78"/>
                <a:ea typeface="Yekan Bakh" pitchFamily="2" charset="-78"/>
                <a:cs typeface="Yekan Bakh" pitchFamily="2" charset="-78"/>
              </a:rPr>
              <a:t>فعالیت‌های</a:t>
            </a:r>
            <a:r>
              <a:rPr kumimoji="0" lang="fa-IR" sz="1050" b="1" i="0" u="none" strike="noStrike" kern="1200" cap="none" spc="0" normalizeH="0" baseline="0" noProof="0" dirty="0">
                <a:ln>
                  <a:noFill/>
                </a:ln>
                <a:solidFill>
                  <a:srgbClr val="FFC000"/>
                </a:solidFill>
                <a:effectLst/>
                <a:uLnTx/>
                <a:uFillTx/>
                <a:latin typeface="Yekan Bakh" pitchFamily="2" charset="-78"/>
                <a:ea typeface="Yekan Bakh" pitchFamily="2" charset="-78"/>
                <a:cs typeface="Yekan Bakh" pitchFamily="2" charset="-78"/>
              </a:rPr>
              <a:t> کلیدی نیازمند به سیمرغ </a:t>
            </a:r>
            <a:endParaRPr kumimoji="0" lang="en-US" sz="1050" b="1" i="0" u="none" strike="noStrike" kern="1200" cap="none" spc="0" normalizeH="0" baseline="0" noProof="0" dirty="0">
              <a:ln>
                <a:noFill/>
              </a:ln>
              <a:solidFill>
                <a:srgbClr val="FFC000"/>
              </a:solidFill>
              <a:effectLst/>
              <a:uLnTx/>
              <a:uFillTx/>
              <a:latin typeface="Yekan Bakh" pitchFamily="2" charset="-78"/>
              <a:ea typeface="Yekan Bakh" pitchFamily="2" charset="-78"/>
              <a:cs typeface="Yekan Bakh" pitchFamily="2" charset="-78"/>
            </a:endParaRPr>
          </a:p>
        </p:txBody>
      </p:sp>
      <p:sp>
        <p:nvSpPr>
          <p:cNvPr id="23" name="TextBox 22">
            <a:extLst>
              <a:ext uri="{FF2B5EF4-FFF2-40B4-BE49-F238E27FC236}">
                <a16:creationId xmlns:a16="http://schemas.microsoft.com/office/drawing/2014/main" id="{2199A8A5-44D0-790E-26CE-3D60109EB99C}"/>
              </a:ext>
            </a:extLst>
          </p:cNvPr>
          <p:cNvSpPr txBox="1"/>
          <p:nvPr/>
        </p:nvSpPr>
        <p:spPr>
          <a:xfrm>
            <a:off x="6129339" y="3693243"/>
            <a:ext cx="4954286" cy="769441"/>
          </a:xfrm>
          <a:prstGeom prst="rect">
            <a:avLst/>
          </a:prstGeom>
          <a:noFill/>
        </p:spPr>
        <p:txBody>
          <a:bodyPr wrap="square">
            <a:spAutoFit/>
          </a:bodyPr>
          <a:lstStyle/>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شناسایی طرف‌های معامله خارجی که واجد شرایط بوده و قابل دسترسی هستند.</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ارائه شرکت به شکلی که برای طرف معامله قابل شناخت و اعتبارسنجی باشد.</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رسیدن به مرحله امضا در پنجره زمانی در دسترس.</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تداوم و ماندگاری رابطه پس از امضای قرارداد.</a:t>
            </a:r>
            <a:endParaRPr kumimoji="0" lang="en-US" sz="11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25" name="Rectangle 24">
            <a:extLst>
              <a:ext uri="{FF2B5EF4-FFF2-40B4-BE49-F238E27FC236}">
                <a16:creationId xmlns:a16="http://schemas.microsoft.com/office/drawing/2014/main" id="{59B396BB-9B54-EBAA-EB73-4D70F83822BB}"/>
              </a:ext>
            </a:extLst>
          </p:cNvPr>
          <p:cNvSpPr/>
          <p:nvPr/>
        </p:nvSpPr>
        <p:spPr>
          <a:xfrm>
            <a:off x="6054291" y="4773897"/>
            <a:ext cx="5093134" cy="1160178"/>
          </a:xfrm>
          <a:prstGeom prst="rect">
            <a:avLst/>
          </a:prstGeom>
          <a:noFill/>
          <a:ln w="6350">
            <a:solidFill>
              <a:srgbClr val="F0BE0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27" name="TextBox 26">
            <a:extLst>
              <a:ext uri="{FF2B5EF4-FFF2-40B4-BE49-F238E27FC236}">
                <a16:creationId xmlns:a16="http://schemas.microsoft.com/office/drawing/2014/main" id="{AB55D3AB-0EB1-4095-8B1C-04CC26E28E92}"/>
              </a:ext>
            </a:extLst>
          </p:cNvPr>
          <p:cNvSpPr txBox="1"/>
          <p:nvPr/>
        </p:nvSpPr>
        <p:spPr>
          <a:xfrm>
            <a:off x="9553074" y="4661042"/>
            <a:ext cx="1426801" cy="415498"/>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srgbClr val="FFC000"/>
                </a:solidFill>
                <a:effectLst/>
                <a:uLnTx/>
                <a:uFillTx/>
                <a:latin typeface="Yekan Bakh" pitchFamily="2" charset="-78"/>
                <a:ea typeface="Yekan Bakh" pitchFamily="2" charset="-78"/>
                <a:cs typeface="Yekan Bakh" pitchFamily="2" charset="-78"/>
              </a:rPr>
              <a:t>رفتارهای سازمانی غالب</a:t>
            </a:r>
            <a:endParaRPr kumimoji="0" lang="en-US" sz="1050" b="1" i="0" u="none" strike="noStrike" kern="1200" cap="none" spc="0" normalizeH="0" baseline="0" noProof="0" dirty="0">
              <a:ln>
                <a:noFill/>
              </a:ln>
              <a:solidFill>
                <a:srgbClr val="FFC000"/>
              </a:solidFill>
              <a:effectLst/>
              <a:uLnTx/>
              <a:uFillTx/>
              <a:latin typeface="Yekan Bakh" pitchFamily="2" charset="-78"/>
              <a:ea typeface="Yekan Bakh" pitchFamily="2" charset="-78"/>
              <a:cs typeface="Yekan Bakh" pitchFamily="2" charset="-78"/>
            </a:endParaRPr>
          </a:p>
        </p:txBody>
      </p:sp>
      <p:sp>
        <p:nvSpPr>
          <p:cNvPr id="29" name="TextBox 28">
            <a:extLst>
              <a:ext uri="{FF2B5EF4-FFF2-40B4-BE49-F238E27FC236}">
                <a16:creationId xmlns:a16="http://schemas.microsoft.com/office/drawing/2014/main" id="{DB612AF3-76FB-422F-96C9-66811E61E95D}"/>
              </a:ext>
            </a:extLst>
          </p:cNvPr>
          <p:cNvSpPr txBox="1"/>
          <p:nvPr/>
        </p:nvSpPr>
        <p:spPr>
          <a:xfrm>
            <a:off x="6129339" y="4953430"/>
            <a:ext cx="4954286" cy="938719"/>
          </a:xfrm>
          <a:prstGeom prst="rect">
            <a:avLst/>
          </a:prstGeom>
          <a:noFill/>
        </p:spPr>
        <p:txBody>
          <a:bodyPr wrap="square">
            <a:spAutoFit/>
          </a:bodyPr>
          <a:lstStyle/>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اولویّت با رابطه است (</a:t>
            </a:r>
            <a:r>
              <a:rPr kumimoji="0" lang="en-US" sz="11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Relationship-first</a:t>
            </a:r>
            <a:r>
              <a:rPr kumimoji="0" lang="fa-IR" sz="11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 و پیش از بررسی فرآیندها، واسطه را بر اساس جایگاه شخصی و اعتبار محلی ارزیابی می‌کند. </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مذاکره‌کننده‌ای انعطاف‌پذیر است. </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تصمیم‌گیری در مالک یا مدیرعامل با زنجیره‌ای کوتاه متمرکز است. </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فوریت بالا دارد؛ زمان رسیدن به نتیجه، محدودیت اصلی است.</a:t>
            </a:r>
            <a:endParaRPr kumimoji="0" lang="en-US" sz="11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31" name="Rectangle 30">
            <a:extLst>
              <a:ext uri="{FF2B5EF4-FFF2-40B4-BE49-F238E27FC236}">
                <a16:creationId xmlns:a16="http://schemas.microsoft.com/office/drawing/2014/main" id="{F0AA2B97-F0EF-6854-5478-BA052116DAB9}"/>
              </a:ext>
            </a:extLst>
          </p:cNvPr>
          <p:cNvSpPr/>
          <p:nvPr/>
        </p:nvSpPr>
        <p:spPr>
          <a:xfrm>
            <a:off x="723175" y="1718108"/>
            <a:ext cx="5093134" cy="1034477"/>
          </a:xfrm>
          <a:prstGeom prst="rect">
            <a:avLst/>
          </a:prstGeom>
          <a:noFill/>
          <a:ln w="6350">
            <a:solidFill>
              <a:srgbClr val="F0BE0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33" name="TextBox 32">
            <a:extLst>
              <a:ext uri="{FF2B5EF4-FFF2-40B4-BE49-F238E27FC236}">
                <a16:creationId xmlns:a16="http://schemas.microsoft.com/office/drawing/2014/main" id="{011E0D1B-66C7-ED69-6DDB-7A90C4300710}"/>
              </a:ext>
            </a:extLst>
          </p:cNvPr>
          <p:cNvSpPr txBox="1"/>
          <p:nvPr/>
        </p:nvSpPr>
        <p:spPr>
          <a:xfrm>
            <a:off x="3922295" y="1605253"/>
            <a:ext cx="1726464" cy="261610"/>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srgbClr val="FFC000"/>
                </a:solidFill>
                <a:effectLst/>
                <a:uLnTx/>
                <a:uFillTx/>
                <a:latin typeface="Yekan Bakh" pitchFamily="2" charset="-78"/>
                <a:ea typeface="Yekan Bakh" pitchFamily="2" charset="-78"/>
                <a:cs typeface="Yekan Bakh" pitchFamily="2" charset="-78"/>
              </a:rPr>
              <a:t>ویژگی‌های شرکتی تاثیرگذار</a:t>
            </a:r>
            <a:endParaRPr kumimoji="0" lang="en-US" sz="1050" b="1" i="0" u="none" strike="noStrike" kern="1200" cap="none" spc="0" normalizeH="0" baseline="0" noProof="0" dirty="0">
              <a:ln>
                <a:noFill/>
              </a:ln>
              <a:solidFill>
                <a:srgbClr val="FFC000"/>
              </a:solidFill>
              <a:effectLst/>
              <a:uLnTx/>
              <a:uFillTx/>
              <a:latin typeface="Yekan Bakh" pitchFamily="2" charset="-78"/>
              <a:ea typeface="Yekan Bakh" pitchFamily="2" charset="-78"/>
              <a:cs typeface="Yekan Bakh" pitchFamily="2" charset="-78"/>
            </a:endParaRPr>
          </a:p>
        </p:txBody>
      </p:sp>
      <p:sp>
        <p:nvSpPr>
          <p:cNvPr id="35" name="TextBox 34">
            <a:extLst>
              <a:ext uri="{FF2B5EF4-FFF2-40B4-BE49-F238E27FC236}">
                <a16:creationId xmlns:a16="http://schemas.microsoft.com/office/drawing/2014/main" id="{C4C003C5-8192-8F50-D292-D564097B274D}"/>
              </a:ext>
            </a:extLst>
          </p:cNvPr>
          <p:cNvSpPr txBox="1"/>
          <p:nvPr/>
        </p:nvSpPr>
        <p:spPr>
          <a:xfrm>
            <a:off x="798223" y="1897641"/>
            <a:ext cx="4954286" cy="769441"/>
          </a:xfrm>
          <a:prstGeom prst="rect">
            <a:avLst/>
          </a:prstGeom>
          <a:noFill/>
        </p:spPr>
        <p:txBody>
          <a:bodyPr wrap="square">
            <a:spAutoFit/>
          </a:bodyPr>
          <a:lstStyle/>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شرکت، ساختار و ماهیت کاملا ایرانی دارد. </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اندازه شرکت، مدل مالی و هزینه‌ای به سیمرغ را مشخص می‌سازد. </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صنعت، تعیین‌کننده شریک فنی تخصیص‌یافته است. </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سابقه حضور بین‌المللی، شدت ارائه خدمات را کاهش می‌دهد.</a:t>
            </a:r>
            <a:endParaRPr kumimoji="0" lang="en-US"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37" name="Rectangle 36">
            <a:extLst>
              <a:ext uri="{FF2B5EF4-FFF2-40B4-BE49-F238E27FC236}">
                <a16:creationId xmlns:a16="http://schemas.microsoft.com/office/drawing/2014/main" id="{854048E7-DC5A-17A7-A5BE-7ABF2C5CB67D}"/>
              </a:ext>
            </a:extLst>
          </p:cNvPr>
          <p:cNvSpPr/>
          <p:nvPr/>
        </p:nvSpPr>
        <p:spPr>
          <a:xfrm>
            <a:off x="723175" y="3088794"/>
            <a:ext cx="5093134" cy="1034477"/>
          </a:xfrm>
          <a:prstGeom prst="rect">
            <a:avLst/>
          </a:prstGeom>
          <a:noFill/>
          <a:ln w="6350">
            <a:solidFill>
              <a:srgbClr val="F0BE0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39" name="TextBox 38">
            <a:extLst>
              <a:ext uri="{FF2B5EF4-FFF2-40B4-BE49-F238E27FC236}">
                <a16:creationId xmlns:a16="http://schemas.microsoft.com/office/drawing/2014/main" id="{1C5DF630-FB5F-FFBB-9CDA-EF2803B2753A}"/>
              </a:ext>
            </a:extLst>
          </p:cNvPr>
          <p:cNvSpPr txBox="1"/>
          <p:nvPr/>
        </p:nvSpPr>
        <p:spPr>
          <a:xfrm>
            <a:off x="4519061" y="2975939"/>
            <a:ext cx="1129698" cy="261610"/>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a:ln>
                  <a:noFill/>
                </a:ln>
                <a:solidFill>
                  <a:srgbClr val="FFC000"/>
                </a:solidFill>
                <a:effectLst/>
                <a:uLnTx/>
                <a:uFillTx/>
                <a:latin typeface="Yekan Bakh" pitchFamily="2" charset="-78"/>
                <a:ea typeface="Yekan Bakh" pitchFamily="2" charset="-78"/>
                <a:cs typeface="Yekan Bakh" pitchFamily="2" charset="-78"/>
              </a:rPr>
              <a:t>رویدادهای محرک </a:t>
            </a:r>
            <a:endParaRPr kumimoji="0" lang="en-US" sz="1050" b="1" i="0" u="none" strike="noStrike" kern="1200" cap="none" spc="0" normalizeH="0" baseline="0" noProof="0">
              <a:ln>
                <a:noFill/>
              </a:ln>
              <a:solidFill>
                <a:srgbClr val="FFC000"/>
              </a:solidFill>
              <a:effectLst/>
              <a:uLnTx/>
              <a:uFillTx/>
              <a:latin typeface="Yekan Bakh" pitchFamily="2" charset="-78"/>
              <a:ea typeface="Yekan Bakh" pitchFamily="2" charset="-78"/>
              <a:cs typeface="Yekan Bakh" pitchFamily="2" charset="-78"/>
            </a:endParaRPr>
          </a:p>
        </p:txBody>
      </p:sp>
      <p:sp>
        <p:nvSpPr>
          <p:cNvPr id="41" name="TextBox 40">
            <a:extLst>
              <a:ext uri="{FF2B5EF4-FFF2-40B4-BE49-F238E27FC236}">
                <a16:creationId xmlns:a16="http://schemas.microsoft.com/office/drawing/2014/main" id="{A68C2916-CA26-E035-706A-C224B4FF61B4}"/>
              </a:ext>
            </a:extLst>
          </p:cNvPr>
          <p:cNvSpPr txBox="1"/>
          <p:nvPr/>
        </p:nvSpPr>
        <p:spPr>
          <a:xfrm>
            <a:off x="798223" y="3268327"/>
            <a:ext cx="4954286" cy="769441"/>
          </a:xfrm>
          <a:prstGeom prst="rect">
            <a:avLst/>
          </a:prstGeom>
          <a:noFill/>
        </p:spPr>
        <p:txBody>
          <a:bodyPr wrap="square">
            <a:spAutoFit/>
          </a:bodyPr>
          <a:lstStyle/>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مصوبه هیئت‌مدیره برای رشد بین‌المللی یا تنوع‌بخشی به منبع‌یابی.</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از دست دادن تامین‌کننده، موزع یا شریک فناوری فعلی.</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انتصاب مدیران جدید با ماموریت بین‌المللی.</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گشایش بازار یا تغییر رگولاتوری که یک پنجره زمانی محدود ایجاد می‌کند.</a:t>
            </a:r>
            <a:endParaRPr kumimoji="0" lang="en-US"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43" name="Rectangle 42">
            <a:extLst>
              <a:ext uri="{FF2B5EF4-FFF2-40B4-BE49-F238E27FC236}">
                <a16:creationId xmlns:a16="http://schemas.microsoft.com/office/drawing/2014/main" id="{986F07E3-641F-9388-9B4E-0A5BFC6C9E84}"/>
              </a:ext>
            </a:extLst>
          </p:cNvPr>
          <p:cNvSpPr/>
          <p:nvPr/>
        </p:nvSpPr>
        <p:spPr>
          <a:xfrm>
            <a:off x="758391" y="4436191"/>
            <a:ext cx="5093134" cy="1497884"/>
          </a:xfrm>
          <a:prstGeom prst="rect">
            <a:avLst/>
          </a:prstGeom>
          <a:noFill/>
          <a:ln w="6350">
            <a:solidFill>
              <a:srgbClr val="F0BE0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45" name="TextBox 44">
            <a:extLst>
              <a:ext uri="{FF2B5EF4-FFF2-40B4-BE49-F238E27FC236}">
                <a16:creationId xmlns:a16="http://schemas.microsoft.com/office/drawing/2014/main" id="{F0D71A0C-9A98-A9AB-5F73-9BE73AC47648}"/>
              </a:ext>
            </a:extLst>
          </p:cNvPr>
          <p:cNvSpPr txBox="1"/>
          <p:nvPr/>
        </p:nvSpPr>
        <p:spPr>
          <a:xfrm>
            <a:off x="3922295" y="4323336"/>
            <a:ext cx="1761680" cy="261610"/>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a:ln>
                  <a:noFill/>
                </a:ln>
                <a:solidFill>
                  <a:srgbClr val="FFC000"/>
                </a:solidFill>
                <a:effectLst/>
                <a:uLnTx/>
                <a:uFillTx/>
                <a:latin typeface="Yekan Bakh" pitchFamily="2" charset="-78"/>
                <a:ea typeface="Yekan Bakh" pitchFamily="2" charset="-78"/>
                <a:cs typeface="Yekan Bakh" pitchFamily="2" charset="-78"/>
              </a:rPr>
              <a:t>فرآیند خرید / تصمیم‌گیری </a:t>
            </a:r>
            <a:endParaRPr kumimoji="0" lang="en-US" sz="1050" b="1" i="0" u="none" strike="noStrike" kern="1200" cap="none" spc="0" normalizeH="0" baseline="0" noProof="0">
              <a:ln>
                <a:noFill/>
              </a:ln>
              <a:solidFill>
                <a:srgbClr val="FFC000"/>
              </a:solidFill>
              <a:effectLst/>
              <a:uLnTx/>
              <a:uFillTx/>
              <a:latin typeface="Yekan Bakh" pitchFamily="2" charset="-78"/>
              <a:ea typeface="Yekan Bakh" pitchFamily="2" charset="-78"/>
              <a:cs typeface="Yekan Bakh" pitchFamily="2" charset="-78"/>
            </a:endParaRPr>
          </a:p>
        </p:txBody>
      </p:sp>
      <p:sp>
        <p:nvSpPr>
          <p:cNvPr id="47" name="TextBox 46">
            <a:extLst>
              <a:ext uri="{FF2B5EF4-FFF2-40B4-BE49-F238E27FC236}">
                <a16:creationId xmlns:a16="http://schemas.microsoft.com/office/drawing/2014/main" id="{161888D1-6219-B4D4-B77F-2C2C774FDDBF}"/>
              </a:ext>
            </a:extLst>
          </p:cNvPr>
          <p:cNvSpPr txBox="1"/>
          <p:nvPr/>
        </p:nvSpPr>
        <p:spPr>
          <a:xfrm>
            <a:off x="833439" y="4615724"/>
            <a:ext cx="4954286" cy="1107996"/>
          </a:xfrm>
          <a:prstGeom prst="rect">
            <a:avLst/>
          </a:prstGeom>
          <a:noFill/>
        </p:spPr>
        <p:txBody>
          <a:bodyPr wrap="square">
            <a:spAutoFit/>
          </a:bodyPr>
          <a:lstStyle/>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چندذی‌نفعی، معمولاً بین ۶ تا ۱۰ نفر.</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fa-IR" sz="11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توالی:</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 ماموریت داخلی &gt; ایجاد فهرست کوتاه واسطه‌ها &gt; ارزیابی اعتبار واسطه‌ها &gt; پروژه پایلوت &gt; ماموریت با محدوده مشخص. </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خود واسطه پیش از جذب، ارزیابی و اعتبارسنجی می‌شود.</a:t>
            </a:r>
            <a:endParaRPr kumimoji="0" lang="en-US" sz="11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Tree>
    <p:extLst>
      <p:ext uri="{BB962C8B-B14F-4D97-AF65-F5344CB8AC3E}">
        <p14:creationId xmlns:p14="http://schemas.microsoft.com/office/powerpoint/2010/main" val="33747329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462573-9695-C076-E02F-35374508E374}"/>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8916A006-8405-DEFD-C405-78C86DEBE206}"/>
              </a:ext>
            </a:extLst>
          </p:cNvPr>
          <p:cNvSpPr/>
          <p:nvPr/>
        </p:nvSpPr>
        <p:spPr>
          <a:xfrm>
            <a:off x="0" y="0"/>
            <a:ext cx="11703050" cy="1417320"/>
          </a:xfrm>
          <a:prstGeom prst="rect">
            <a:avLst/>
          </a:prstGeom>
          <a:solidFill>
            <a:srgbClr val="F0BE0F">
              <a:alpha val="1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Calibri"/>
            </a:endParaRPr>
          </a:p>
        </p:txBody>
      </p:sp>
      <p:sp>
        <p:nvSpPr>
          <p:cNvPr id="2" name="Text Placeholder 1">
            <a:extLst>
              <a:ext uri="{FF2B5EF4-FFF2-40B4-BE49-F238E27FC236}">
                <a16:creationId xmlns:a16="http://schemas.microsoft.com/office/drawing/2014/main" id="{BEEFC412-382F-9D34-1F59-18008324A00E}"/>
              </a:ext>
            </a:extLst>
          </p:cNvPr>
          <p:cNvSpPr>
            <a:spLocks noGrp="1"/>
          </p:cNvSpPr>
          <p:nvPr>
            <p:ph type="body" sz="quarter" idx="10"/>
          </p:nvPr>
        </p:nvSpPr>
        <p:spPr/>
        <p:txBody>
          <a:bodyPr/>
          <a:lstStyle/>
          <a:p>
            <a:r>
              <a:rPr lang="fa-IR"/>
              <a:t>پروفایل بخش‌های مشتری</a:t>
            </a:r>
            <a:endParaRPr lang="fa-IR" dirty="0"/>
          </a:p>
        </p:txBody>
      </p:sp>
      <p:sp>
        <p:nvSpPr>
          <p:cNvPr id="3" name="Text Placeholder 2">
            <a:extLst>
              <a:ext uri="{FF2B5EF4-FFF2-40B4-BE49-F238E27FC236}">
                <a16:creationId xmlns:a16="http://schemas.microsoft.com/office/drawing/2014/main" id="{A19541C0-493C-9A77-220E-F9D50DA924AD}"/>
              </a:ext>
            </a:extLst>
          </p:cNvPr>
          <p:cNvSpPr>
            <a:spLocks noGrp="1"/>
          </p:cNvSpPr>
          <p:nvPr>
            <p:ph type="body" sz="quarter" idx="12"/>
          </p:nvPr>
        </p:nvSpPr>
        <p:spPr/>
        <p:txBody>
          <a:bodyPr/>
          <a:lstStyle/>
          <a:p>
            <a:r>
              <a:rPr lang="fa-IR" dirty="0"/>
              <a:t>1. کسب‌وکار تراز ایرانی </a:t>
            </a:r>
            <a:r>
              <a:rPr lang="fa-IR" sz="1200" b="0" dirty="0">
                <a:solidFill>
                  <a:schemeClr val="tx1">
                    <a:lumMod val="65000"/>
                    <a:lumOff val="35000"/>
                  </a:schemeClr>
                </a:solidFill>
              </a:rPr>
              <a:t>(2/2)</a:t>
            </a:r>
          </a:p>
          <a:p>
            <a:r>
              <a:rPr lang="fa-IR" sz="1100" b="0" dirty="0">
                <a:solidFill>
                  <a:schemeClr val="tx1">
                    <a:lumMod val="65000"/>
                    <a:lumOff val="35000"/>
                  </a:schemeClr>
                </a:solidFill>
              </a:rPr>
              <a:t>یک شرکت ایرانی با هدف تجارت با شرکت‎‌های داخلی یا خارجی (مصوب هیئت‌مدیره، ماموریت محوله، بودجه تخصیص‌یافته و قابلیت داخلی کافی برای اجرا) که از دروازه «قابلیت معامله» عبور می‌کند. چالش و مانع اصلی آن دسترسی و پذیرش است: نمی‌تواند به طرف معامله مدنظر خود دست یابد و در صورت دسترسی نیز توسط او جدی گرفته نمی‌شود.</a:t>
            </a:r>
          </a:p>
        </p:txBody>
      </p:sp>
      <p:sp>
        <p:nvSpPr>
          <p:cNvPr id="6" name="Rectangle 5">
            <a:extLst>
              <a:ext uri="{FF2B5EF4-FFF2-40B4-BE49-F238E27FC236}">
                <a16:creationId xmlns:a16="http://schemas.microsoft.com/office/drawing/2014/main" id="{B718735E-B9E1-2194-7751-B6C518D1524A}"/>
              </a:ext>
            </a:extLst>
          </p:cNvPr>
          <p:cNvSpPr/>
          <p:nvPr/>
        </p:nvSpPr>
        <p:spPr>
          <a:xfrm>
            <a:off x="6054291" y="1718108"/>
            <a:ext cx="5093134" cy="1034477"/>
          </a:xfrm>
          <a:prstGeom prst="rect">
            <a:avLst/>
          </a:prstGeom>
          <a:noFill/>
          <a:ln w="6350">
            <a:solidFill>
              <a:srgbClr val="F0BE0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10" name="TextBox 9">
            <a:extLst>
              <a:ext uri="{FF2B5EF4-FFF2-40B4-BE49-F238E27FC236}">
                <a16:creationId xmlns:a16="http://schemas.microsoft.com/office/drawing/2014/main" id="{B5AEE126-CEC1-FEBF-0913-2595116D9D6E}"/>
              </a:ext>
            </a:extLst>
          </p:cNvPr>
          <p:cNvSpPr txBox="1"/>
          <p:nvPr/>
        </p:nvSpPr>
        <p:spPr>
          <a:xfrm>
            <a:off x="9466446" y="1605252"/>
            <a:ext cx="1513429" cy="261610"/>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err="1">
                <a:ln>
                  <a:noFill/>
                </a:ln>
                <a:solidFill>
                  <a:srgbClr val="FFC000"/>
                </a:solidFill>
                <a:effectLst/>
                <a:uLnTx/>
                <a:uFillTx/>
                <a:latin typeface="Yekan Bakh" pitchFamily="2" charset="-78"/>
                <a:ea typeface="Yekan Bakh" pitchFamily="2" charset="-78"/>
                <a:cs typeface="Yekan Bakh" pitchFamily="2" charset="-78"/>
              </a:rPr>
              <a:t>تصمیم‌گیرندگان</a:t>
            </a:r>
            <a:r>
              <a:rPr kumimoji="0" lang="fa-IR" sz="1050" b="1" i="0" u="none" strike="noStrike" kern="1200" cap="none" spc="0" normalizeH="0" baseline="0" noProof="0" dirty="0">
                <a:ln>
                  <a:noFill/>
                </a:ln>
                <a:solidFill>
                  <a:srgbClr val="FFC000"/>
                </a:solidFill>
                <a:effectLst/>
                <a:uLnTx/>
                <a:uFillTx/>
                <a:latin typeface="Yekan Bakh" pitchFamily="2" charset="-78"/>
                <a:ea typeface="Yekan Bakh" pitchFamily="2" charset="-78"/>
                <a:cs typeface="Yekan Bakh" pitchFamily="2" charset="-78"/>
              </a:rPr>
              <a:t> کلیدی</a:t>
            </a:r>
            <a:endParaRPr kumimoji="0" lang="en-US" sz="1050" b="1" i="0" u="none" strike="noStrike" kern="1200" cap="none" spc="0" normalizeH="0" baseline="0" noProof="0" dirty="0">
              <a:ln>
                <a:noFill/>
              </a:ln>
              <a:solidFill>
                <a:srgbClr val="FFC000"/>
              </a:solidFill>
              <a:effectLst/>
              <a:uLnTx/>
              <a:uFillTx/>
              <a:latin typeface="Yekan Bakh" pitchFamily="2" charset="-78"/>
              <a:ea typeface="Yekan Bakh" pitchFamily="2" charset="-78"/>
              <a:cs typeface="Yekan Bakh" pitchFamily="2" charset="-78"/>
            </a:endParaRPr>
          </a:p>
        </p:txBody>
      </p:sp>
      <p:sp>
        <p:nvSpPr>
          <p:cNvPr id="14" name="TextBox 13">
            <a:extLst>
              <a:ext uri="{FF2B5EF4-FFF2-40B4-BE49-F238E27FC236}">
                <a16:creationId xmlns:a16="http://schemas.microsoft.com/office/drawing/2014/main" id="{FD8EB0D8-05D0-8F7D-1401-1D8E6DBD5429}"/>
              </a:ext>
            </a:extLst>
          </p:cNvPr>
          <p:cNvSpPr txBox="1"/>
          <p:nvPr/>
        </p:nvSpPr>
        <p:spPr>
          <a:xfrm>
            <a:off x="6129339" y="1897640"/>
            <a:ext cx="4954286" cy="769441"/>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مدیرعامل یا مالک (حامی و مرجع نهایی)؛ </a:t>
            </a:r>
          </a:p>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مدیر توسعه کسب‌وکار یا استراتژی (شروع‌کننده و مدیر پروژه)؛ </a:t>
            </a:r>
          </a:p>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مدیر مالی (کنترل‌کننده بودجه)؛ </a:t>
            </a:r>
          </a:p>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حقوقی/انطباق در طرف ایرانی به ندرت حق وتو دارد. </a:t>
            </a:r>
            <a:endParaRPr kumimoji="0" lang="en-US" sz="11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18" name="Rectangle 17">
            <a:extLst>
              <a:ext uri="{FF2B5EF4-FFF2-40B4-BE49-F238E27FC236}">
                <a16:creationId xmlns:a16="http://schemas.microsoft.com/office/drawing/2014/main" id="{7DE7D848-7F4D-FC47-5426-0BF3189A8FB8}"/>
              </a:ext>
            </a:extLst>
          </p:cNvPr>
          <p:cNvSpPr/>
          <p:nvPr/>
        </p:nvSpPr>
        <p:spPr>
          <a:xfrm>
            <a:off x="6054291" y="2955438"/>
            <a:ext cx="5093134" cy="798522"/>
          </a:xfrm>
          <a:prstGeom prst="rect">
            <a:avLst/>
          </a:prstGeom>
          <a:noFill/>
          <a:ln w="6350">
            <a:solidFill>
              <a:srgbClr val="F0BE0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22" name="TextBox 21">
            <a:extLst>
              <a:ext uri="{FF2B5EF4-FFF2-40B4-BE49-F238E27FC236}">
                <a16:creationId xmlns:a16="http://schemas.microsoft.com/office/drawing/2014/main" id="{45446D28-D7C8-305A-07C7-4BF3CEA8112C}"/>
              </a:ext>
            </a:extLst>
          </p:cNvPr>
          <p:cNvSpPr txBox="1"/>
          <p:nvPr/>
        </p:nvSpPr>
        <p:spPr>
          <a:xfrm>
            <a:off x="9466446" y="2842582"/>
            <a:ext cx="1513429" cy="261610"/>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a:ln>
                  <a:noFill/>
                </a:ln>
                <a:solidFill>
                  <a:srgbClr val="FFC000"/>
                </a:solidFill>
                <a:effectLst/>
                <a:uLnTx/>
                <a:uFillTx/>
                <a:latin typeface="Yekan Bakh" pitchFamily="2" charset="-78"/>
                <a:ea typeface="Yekan Bakh" pitchFamily="2" charset="-78"/>
                <a:cs typeface="Yekan Bakh" pitchFamily="2" charset="-78"/>
              </a:rPr>
              <a:t>آنچه برایشان ارزش است</a:t>
            </a:r>
            <a:endParaRPr kumimoji="0" lang="en-US" sz="1050" b="1" i="0" u="none" strike="noStrike" kern="1200" cap="none" spc="0" normalizeH="0" baseline="0" noProof="0">
              <a:ln>
                <a:noFill/>
              </a:ln>
              <a:solidFill>
                <a:srgbClr val="FFC000"/>
              </a:solidFill>
              <a:effectLst/>
              <a:uLnTx/>
              <a:uFillTx/>
              <a:latin typeface="Yekan Bakh" pitchFamily="2" charset="-78"/>
              <a:ea typeface="Yekan Bakh" pitchFamily="2" charset="-78"/>
              <a:cs typeface="Yekan Bakh" pitchFamily="2" charset="-78"/>
            </a:endParaRPr>
          </a:p>
        </p:txBody>
      </p:sp>
      <p:sp>
        <p:nvSpPr>
          <p:cNvPr id="26" name="TextBox 25">
            <a:extLst>
              <a:ext uri="{FF2B5EF4-FFF2-40B4-BE49-F238E27FC236}">
                <a16:creationId xmlns:a16="http://schemas.microsoft.com/office/drawing/2014/main" id="{DE5F0BA9-08A7-8DE5-7A28-9F422FDB82EA}"/>
              </a:ext>
            </a:extLst>
          </p:cNvPr>
          <p:cNvSpPr txBox="1"/>
          <p:nvPr/>
        </p:nvSpPr>
        <p:spPr>
          <a:xfrm>
            <a:off x="6129339" y="3134970"/>
            <a:ext cx="4954286" cy="430887"/>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طرف‌های معامله اعتبارسنجی‌شده؛ پاسخگویی نهادی؛ سرعت؛ یک نقطه تماس و مسئولیت یکپارچه در طول فرآیندی پراکنده.</a:t>
            </a:r>
            <a:endParaRPr kumimoji="0" lang="en-US" sz="11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30" name="Rectangle 29">
            <a:extLst>
              <a:ext uri="{FF2B5EF4-FFF2-40B4-BE49-F238E27FC236}">
                <a16:creationId xmlns:a16="http://schemas.microsoft.com/office/drawing/2014/main" id="{BAA94EB2-BD40-8325-5A2D-326243FE4E29}"/>
              </a:ext>
            </a:extLst>
          </p:cNvPr>
          <p:cNvSpPr/>
          <p:nvPr/>
        </p:nvSpPr>
        <p:spPr>
          <a:xfrm>
            <a:off x="6054291" y="3893177"/>
            <a:ext cx="5093134" cy="1160178"/>
          </a:xfrm>
          <a:prstGeom prst="rect">
            <a:avLst/>
          </a:prstGeom>
          <a:noFill/>
          <a:ln w="6350">
            <a:solidFill>
              <a:srgbClr val="F0BE0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34" name="TextBox 33">
            <a:extLst>
              <a:ext uri="{FF2B5EF4-FFF2-40B4-BE49-F238E27FC236}">
                <a16:creationId xmlns:a16="http://schemas.microsoft.com/office/drawing/2014/main" id="{F22BCB6F-820D-49B5-4BEB-134D7F9BC896}"/>
              </a:ext>
            </a:extLst>
          </p:cNvPr>
          <p:cNvSpPr txBox="1"/>
          <p:nvPr/>
        </p:nvSpPr>
        <p:spPr>
          <a:xfrm>
            <a:off x="9567512" y="3780322"/>
            <a:ext cx="1412363" cy="261610"/>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srgbClr val="FFC000"/>
                </a:solidFill>
                <a:effectLst/>
                <a:uLnTx/>
                <a:uFillTx/>
                <a:latin typeface="Yekan Bakh" pitchFamily="2" charset="-78"/>
                <a:ea typeface="Yekan Bakh" pitchFamily="2" charset="-78"/>
                <a:cs typeface="Yekan Bakh" pitchFamily="2" charset="-78"/>
              </a:rPr>
              <a:t>تمایل به پرداخت برای</a:t>
            </a:r>
            <a:endParaRPr kumimoji="0" lang="en-US" sz="1050" b="1" i="0" u="none" strike="noStrike" kern="1200" cap="none" spc="0" normalizeH="0" baseline="0" noProof="0" dirty="0">
              <a:ln>
                <a:noFill/>
              </a:ln>
              <a:solidFill>
                <a:srgbClr val="FFC000"/>
              </a:solidFill>
              <a:effectLst/>
              <a:uLnTx/>
              <a:uFillTx/>
              <a:latin typeface="Yekan Bakh" pitchFamily="2" charset="-78"/>
              <a:ea typeface="Yekan Bakh" pitchFamily="2" charset="-78"/>
              <a:cs typeface="Yekan Bakh" pitchFamily="2" charset="-78"/>
            </a:endParaRPr>
          </a:p>
        </p:txBody>
      </p:sp>
      <p:sp>
        <p:nvSpPr>
          <p:cNvPr id="38" name="TextBox 37">
            <a:extLst>
              <a:ext uri="{FF2B5EF4-FFF2-40B4-BE49-F238E27FC236}">
                <a16:creationId xmlns:a16="http://schemas.microsoft.com/office/drawing/2014/main" id="{FAC8BE82-3D74-CB62-9B2A-0242A75541A5}"/>
              </a:ext>
            </a:extLst>
          </p:cNvPr>
          <p:cNvSpPr txBox="1"/>
          <p:nvPr/>
        </p:nvSpPr>
        <p:spPr>
          <a:xfrm>
            <a:off x="6129339" y="4072710"/>
            <a:ext cx="4954286" cy="769441"/>
          </a:xfrm>
          <a:prstGeom prst="rect">
            <a:avLst/>
          </a:prstGeom>
          <a:noFill/>
        </p:spPr>
        <p:txBody>
          <a:bodyPr wrap="square">
            <a:spAutoFit/>
          </a:bodyPr>
          <a:lstStyle/>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معرفی‌های</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واجد شرایط، </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پشتیبانی در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اعتبارسنجی</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و ارزیابی دقیق (</a:t>
            </a:r>
            <a:r>
              <a:rPr kumimoji="0" lang="en-US"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Diligence</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a:t>
            </a:r>
            <a:r>
              <a:rPr kumimoji="0" lang="en-US"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a:t>
            </a:r>
            <a:endPar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ساختاردهی</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معامله و</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مهم‌تر</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از همه انتقال ریسک طرف معامله به خارج از مجموعه خود.</a:t>
            </a:r>
            <a:endParaRPr kumimoji="0" lang="en-US"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42" name="Rectangle 41">
            <a:extLst>
              <a:ext uri="{FF2B5EF4-FFF2-40B4-BE49-F238E27FC236}">
                <a16:creationId xmlns:a16="http://schemas.microsoft.com/office/drawing/2014/main" id="{D48C2206-3C7C-57B2-A778-127054A80DA7}"/>
              </a:ext>
            </a:extLst>
          </p:cNvPr>
          <p:cNvSpPr/>
          <p:nvPr/>
        </p:nvSpPr>
        <p:spPr>
          <a:xfrm>
            <a:off x="723175" y="1718108"/>
            <a:ext cx="5093134" cy="1034477"/>
          </a:xfrm>
          <a:prstGeom prst="rect">
            <a:avLst/>
          </a:prstGeom>
          <a:noFill/>
          <a:ln w="6350">
            <a:solidFill>
              <a:srgbClr val="F0BE0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46" name="TextBox 45">
            <a:extLst>
              <a:ext uri="{FF2B5EF4-FFF2-40B4-BE49-F238E27FC236}">
                <a16:creationId xmlns:a16="http://schemas.microsoft.com/office/drawing/2014/main" id="{D8881343-2CEA-BE66-82AE-90059DB73C34}"/>
              </a:ext>
            </a:extLst>
          </p:cNvPr>
          <p:cNvSpPr txBox="1"/>
          <p:nvPr/>
        </p:nvSpPr>
        <p:spPr>
          <a:xfrm>
            <a:off x="4134051" y="1605253"/>
            <a:ext cx="1514708" cy="261610"/>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srgbClr val="FFC000"/>
                </a:solidFill>
                <a:effectLst/>
                <a:uLnTx/>
                <a:uFillTx/>
                <a:latin typeface="Yekan Bakh" pitchFamily="2" charset="-78"/>
                <a:ea typeface="Yekan Bakh" pitchFamily="2" charset="-78"/>
                <a:cs typeface="Yekan Bakh" pitchFamily="2" charset="-78"/>
              </a:rPr>
              <a:t>ارزش پیشنهادی خدمت</a:t>
            </a:r>
            <a:endParaRPr kumimoji="0" lang="en-US" sz="1050" b="1" i="0" u="none" strike="noStrike" kern="1200" cap="none" spc="0" normalizeH="0" baseline="0" noProof="0" dirty="0">
              <a:ln>
                <a:noFill/>
              </a:ln>
              <a:solidFill>
                <a:srgbClr val="FFC000"/>
              </a:solidFill>
              <a:effectLst/>
              <a:uLnTx/>
              <a:uFillTx/>
              <a:latin typeface="Yekan Bakh" pitchFamily="2" charset="-78"/>
              <a:ea typeface="Yekan Bakh" pitchFamily="2" charset="-78"/>
              <a:cs typeface="Yekan Bakh" pitchFamily="2" charset="-78"/>
            </a:endParaRPr>
          </a:p>
        </p:txBody>
      </p:sp>
      <p:sp>
        <p:nvSpPr>
          <p:cNvPr id="49" name="TextBox 48">
            <a:extLst>
              <a:ext uri="{FF2B5EF4-FFF2-40B4-BE49-F238E27FC236}">
                <a16:creationId xmlns:a16="http://schemas.microsoft.com/office/drawing/2014/main" id="{0A7E7CD0-9F51-585F-CE82-6450A8440839}"/>
              </a:ext>
            </a:extLst>
          </p:cNvPr>
          <p:cNvSpPr txBox="1"/>
          <p:nvPr/>
        </p:nvSpPr>
        <p:spPr>
          <a:xfrm>
            <a:off x="798223" y="1897641"/>
            <a:ext cx="4954286" cy="769441"/>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نمایندگی برون‌مرزی (</a:t>
            </a:r>
            <a:r>
              <a:rPr kumimoji="0" lang="en-US"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Outbound representation</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بازترجمه شرکت به شکلی که طرف‌های معامله بین‌المللی آن را بشناسند، خلق اعتبار قابل راستی‌آزمایی از طریق حامل‌های دارنده گواهینامه، و باز کردن درهایی که شرکت به تنهایی قادر به گشودن آن‌ها نیست.</a:t>
            </a:r>
            <a:endParaRPr kumimoji="0" lang="en-US"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51" name="Rectangle 50">
            <a:extLst>
              <a:ext uri="{FF2B5EF4-FFF2-40B4-BE49-F238E27FC236}">
                <a16:creationId xmlns:a16="http://schemas.microsoft.com/office/drawing/2014/main" id="{6B162D24-BF03-E678-465A-3D7E8248FDEB}"/>
              </a:ext>
            </a:extLst>
          </p:cNvPr>
          <p:cNvSpPr/>
          <p:nvPr/>
        </p:nvSpPr>
        <p:spPr>
          <a:xfrm>
            <a:off x="6054291" y="5192091"/>
            <a:ext cx="5093134" cy="741984"/>
          </a:xfrm>
          <a:prstGeom prst="rect">
            <a:avLst/>
          </a:prstGeom>
          <a:noFill/>
          <a:ln w="6350">
            <a:solidFill>
              <a:srgbClr val="F0BE0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53" name="TextBox 52">
            <a:extLst>
              <a:ext uri="{FF2B5EF4-FFF2-40B4-BE49-F238E27FC236}">
                <a16:creationId xmlns:a16="http://schemas.microsoft.com/office/drawing/2014/main" id="{5C380A8C-D5E0-071B-2B23-32BADAFD3AF8}"/>
              </a:ext>
            </a:extLst>
          </p:cNvPr>
          <p:cNvSpPr txBox="1"/>
          <p:nvPr/>
        </p:nvSpPr>
        <p:spPr>
          <a:xfrm>
            <a:off x="9620451" y="5079235"/>
            <a:ext cx="1359424" cy="253916"/>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srgbClr val="FFC000"/>
                </a:solidFill>
                <a:effectLst/>
                <a:uLnTx/>
                <a:uFillTx/>
                <a:latin typeface="Yekan Bakh" pitchFamily="2" charset="-78"/>
                <a:ea typeface="Yekan Bakh" pitchFamily="2" charset="-78"/>
                <a:cs typeface="Yekan Bakh" pitchFamily="2" charset="-78"/>
              </a:rPr>
              <a:t>مدل تعامل </a:t>
            </a:r>
            <a:r>
              <a:rPr kumimoji="0" lang="fa-IR" sz="1050" b="1" i="0" u="none" strike="noStrike" kern="1200" cap="none" spc="0" normalizeH="0" baseline="0" noProof="0" dirty="0" err="1">
                <a:ln>
                  <a:noFill/>
                </a:ln>
                <a:solidFill>
                  <a:srgbClr val="FFC000"/>
                </a:solidFill>
                <a:effectLst/>
                <a:uLnTx/>
                <a:uFillTx/>
                <a:latin typeface="Yekan Bakh" pitchFamily="2" charset="-78"/>
                <a:ea typeface="Yekan Bakh" pitchFamily="2" charset="-78"/>
                <a:cs typeface="Yekan Bakh" pitchFamily="2" charset="-78"/>
              </a:rPr>
              <a:t>ترجیحی</a:t>
            </a:r>
            <a:endParaRPr kumimoji="0" lang="en-US" sz="1050" b="1" i="0" u="none" strike="noStrike" kern="1200" cap="none" spc="0" normalizeH="0" baseline="0" noProof="0" dirty="0">
              <a:ln>
                <a:noFill/>
              </a:ln>
              <a:solidFill>
                <a:srgbClr val="FFC000"/>
              </a:solidFill>
              <a:effectLst/>
              <a:uLnTx/>
              <a:uFillTx/>
              <a:latin typeface="Yekan Bakh" pitchFamily="2" charset="-78"/>
              <a:ea typeface="Yekan Bakh" pitchFamily="2" charset="-78"/>
              <a:cs typeface="Yekan Bakh" pitchFamily="2" charset="-78"/>
            </a:endParaRPr>
          </a:p>
        </p:txBody>
      </p:sp>
      <p:sp>
        <p:nvSpPr>
          <p:cNvPr id="55" name="TextBox 54">
            <a:extLst>
              <a:ext uri="{FF2B5EF4-FFF2-40B4-BE49-F238E27FC236}">
                <a16:creationId xmlns:a16="http://schemas.microsoft.com/office/drawing/2014/main" id="{850284C4-B17D-193D-4D0C-00AAE66559D0}"/>
              </a:ext>
            </a:extLst>
          </p:cNvPr>
          <p:cNvSpPr txBox="1"/>
          <p:nvPr/>
        </p:nvSpPr>
        <p:spPr>
          <a:xfrm>
            <a:off x="6129339" y="5371623"/>
            <a:ext cx="4954286" cy="430887"/>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ماموریت با محدوده مشخص تحت یک قرارداد همکاری با شرایط پرداخت مرحله‌ای، که از فاز معرفی آغاز می‌شود نه در زمان بستن معامله.</a:t>
            </a:r>
            <a:endParaRPr kumimoji="0" lang="en-US" sz="11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57" name="Rectangle 56">
            <a:extLst>
              <a:ext uri="{FF2B5EF4-FFF2-40B4-BE49-F238E27FC236}">
                <a16:creationId xmlns:a16="http://schemas.microsoft.com/office/drawing/2014/main" id="{91389FA7-EBAF-75B7-3F54-5BDF66F250B7}"/>
              </a:ext>
            </a:extLst>
          </p:cNvPr>
          <p:cNvSpPr/>
          <p:nvPr/>
        </p:nvSpPr>
        <p:spPr>
          <a:xfrm>
            <a:off x="758391" y="4436191"/>
            <a:ext cx="5093134" cy="1497884"/>
          </a:xfrm>
          <a:prstGeom prst="rect">
            <a:avLst/>
          </a:prstGeom>
          <a:noFill/>
          <a:ln w="6350">
            <a:solidFill>
              <a:srgbClr val="F0BE0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59" name="TextBox 58">
            <a:extLst>
              <a:ext uri="{FF2B5EF4-FFF2-40B4-BE49-F238E27FC236}">
                <a16:creationId xmlns:a16="http://schemas.microsoft.com/office/drawing/2014/main" id="{F935A2F1-C421-939B-5C93-1461648C72B5}"/>
              </a:ext>
            </a:extLst>
          </p:cNvPr>
          <p:cNvSpPr txBox="1"/>
          <p:nvPr/>
        </p:nvSpPr>
        <p:spPr>
          <a:xfrm>
            <a:off x="4134051" y="4323336"/>
            <a:ext cx="1549924" cy="261610"/>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srgbClr val="FFC000"/>
                </a:solidFill>
                <a:effectLst/>
                <a:uLnTx/>
                <a:uFillTx/>
                <a:latin typeface="Yekan Bakh" pitchFamily="2" charset="-78"/>
                <a:ea typeface="Yekan Bakh" pitchFamily="2" charset="-78"/>
                <a:cs typeface="Yekan Bakh" pitchFamily="2" charset="-78"/>
              </a:rPr>
              <a:t>معیارهای احراز صلاحیت</a:t>
            </a:r>
            <a:endParaRPr kumimoji="0" lang="en-US" sz="1050" b="1" i="0" u="none" strike="noStrike" kern="1200" cap="none" spc="0" normalizeH="0" baseline="0" noProof="0" dirty="0">
              <a:ln>
                <a:noFill/>
              </a:ln>
              <a:solidFill>
                <a:srgbClr val="FFC000"/>
              </a:solidFill>
              <a:effectLst/>
              <a:uLnTx/>
              <a:uFillTx/>
              <a:latin typeface="Yekan Bakh" pitchFamily="2" charset="-78"/>
              <a:ea typeface="Yekan Bakh" pitchFamily="2" charset="-78"/>
              <a:cs typeface="Yekan Bakh" pitchFamily="2" charset="-78"/>
            </a:endParaRPr>
          </a:p>
        </p:txBody>
      </p:sp>
      <p:sp>
        <p:nvSpPr>
          <p:cNvPr id="61" name="TextBox 60">
            <a:extLst>
              <a:ext uri="{FF2B5EF4-FFF2-40B4-BE49-F238E27FC236}">
                <a16:creationId xmlns:a16="http://schemas.microsoft.com/office/drawing/2014/main" id="{54F191EF-D8DB-91FA-5C3D-94CBE8F23851}"/>
              </a:ext>
            </a:extLst>
          </p:cNvPr>
          <p:cNvSpPr txBox="1"/>
          <p:nvPr/>
        </p:nvSpPr>
        <p:spPr>
          <a:xfrm>
            <a:off x="833439" y="4615724"/>
            <a:ext cx="4954286" cy="1107996"/>
          </a:xfrm>
          <a:prstGeom prst="rect">
            <a:avLst/>
          </a:prstGeom>
          <a:noFill/>
        </p:spPr>
        <p:txBody>
          <a:bodyPr wrap="square">
            <a:spAutoFit/>
          </a:bodyPr>
          <a:lstStyle/>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هدف شفاف و مکتوب</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مسئول مشخص داخلی</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بودجه تخصیص‌یافته </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دسترسی به مرجع تصمیم‌گیرنده حداکثر در دو سطح </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عبور از شاخص «قابلیت معامله» </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عبور از غربالگری انطباق (</a:t>
            </a:r>
            <a:r>
              <a:rPr kumimoji="0" lang="en-US" sz="11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Compliance screen</a:t>
            </a:r>
            <a:r>
              <a:rPr kumimoji="0" lang="fa-IR" sz="11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 (میزان آمادگی سازمان)</a:t>
            </a:r>
            <a:endParaRPr kumimoji="0" lang="en-US" sz="11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63" name="Rectangle 62">
            <a:extLst>
              <a:ext uri="{FF2B5EF4-FFF2-40B4-BE49-F238E27FC236}">
                <a16:creationId xmlns:a16="http://schemas.microsoft.com/office/drawing/2014/main" id="{6640B685-2C7F-53F1-5FC4-6B3A910BBEF3}"/>
              </a:ext>
            </a:extLst>
          </p:cNvPr>
          <p:cNvSpPr/>
          <p:nvPr/>
        </p:nvSpPr>
        <p:spPr>
          <a:xfrm>
            <a:off x="723175" y="3060636"/>
            <a:ext cx="5093134" cy="1034477"/>
          </a:xfrm>
          <a:prstGeom prst="rect">
            <a:avLst/>
          </a:prstGeom>
          <a:noFill/>
          <a:ln w="6350">
            <a:solidFill>
              <a:srgbClr val="F0BE0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65" name="TextBox 64">
            <a:extLst>
              <a:ext uri="{FF2B5EF4-FFF2-40B4-BE49-F238E27FC236}">
                <a16:creationId xmlns:a16="http://schemas.microsoft.com/office/drawing/2014/main" id="{6AE3704E-38C5-7F13-A530-229599AC9633}"/>
              </a:ext>
            </a:extLst>
          </p:cNvPr>
          <p:cNvSpPr txBox="1"/>
          <p:nvPr/>
        </p:nvSpPr>
        <p:spPr>
          <a:xfrm>
            <a:off x="4485373" y="2947781"/>
            <a:ext cx="1163386" cy="261610"/>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err="1">
                <a:ln>
                  <a:noFill/>
                </a:ln>
                <a:solidFill>
                  <a:srgbClr val="FFC000"/>
                </a:solidFill>
                <a:effectLst/>
                <a:uLnTx/>
                <a:uFillTx/>
                <a:latin typeface="Yekan Bakh" pitchFamily="2" charset="-78"/>
                <a:ea typeface="Yekan Bakh" pitchFamily="2" charset="-78"/>
                <a:cs typeface="Yekan Bakh" pitchFamily="2" charset="-78"/>
              </a:rPr>
              <a:t>ریسک‌های</a:t>
            </a:r>
            <a:r>
              <a:rPr kumimoji="0" lang="fa-IR" sz="1050" b="1" i="0" u="none" strike="noStrike" kern="1200" cap="none" spc="0" normalizeH="0" baseline="0" noProof="0" dirty="0">
                <a:ln>
                  <a:noFill/>
                </a:ln>
                <a:solidFill>
                  <a:srgbClr val="FFC000"/>
                </a:solidFill>
                <a:effectLst/>
                <a:uLnTx/>
                <a:uFillTx/>
                <a:latin typeface="Yekan Bakh" pitchFamily="2" charset="-78"/>
                <a:ea typeface="Yekan Bakh" pitchFamily="2" charset="-78"/>
                <a:cs typeface="Yekan Bakh" pitchFamily="2" charset="-78"/>
              </a:rPr>
              <a:t> کلیدی</a:t>
            </a:r>
            <a:endParaRPr kumimoji="0" lang="en-US" sz="1050" b="1" i="0" u="none" strike="noStrike" kern="1200" cap="none" spc="0" normalizeH="0" baseline="0" noProof="0" dirty="0">
              <a:ln>
                <a:noFill/>
              </a:ln>
              <a:solidFill>
                <a:srgbClr val="FFC000"/>
              </a:solidFill>
              <a:effectLst/>
              <a:uLnTx/>
              <a:uFillTx/>
              <a:latin typeface="Yekan Bakh" pitchFamily="2" charset="-78"/>
              <a:ea typeface="Yekan Bakh" pitchFamily="2" charset="-78"/>
              <a:cs typeface="Yekan Bakh" pitchFamily="2" charset="-78"/>
            </a:endParaRPr>
          </a:p>
        </p:txBody>
      </p:sp>
      <p:sp>
        <p:nvSpPr>
          <p:cNvPr id="67" name="TextBox 66">
            <a:extLst>
              <a:ext uri="{FF2B5EF4-FFF2-40B4-BE49-F238E27FC236}">
                <a16:creationId xmlns:a16="http://schemas.microsoft.com/office/drawing/2014/main" id="{4F3660E5-1465-27F9-DA90-D9E92DA04F81}"/>
              </a:ext>
            </a:extLst>
          </p:cNvPr>
          <p:cNvSpPr txBox="1"/>
          <p:nvPr/>
        </p:nvSpPr>
        <p:spPr>
          <a:xfrm>
            <a:off x="798223" y="3240169"/>
            <a:ext cx="4954286" cy="769441"/>
          </a:xfrm>
          <a:prstGeom prst="rect">
            <a:avLst/>
          </a:prstGeom>
          <a:noFill/>
        </p:spPr>
        <p:txBody>
          <a:bodyPr wrap="square">
            <a:spAutoFit/>
          </a:bodyPr>
          <a:lstStyle/>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دور زدن سیمرغ پس از معرفی.</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افت و فرسایش میزان آمادگی پس از اخذ گواهی‌ها.</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درون‌سپاری این قابلیت توسط مشتریان بزرگ پس از انجام دو یا سه معامله.</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اتکای بیش از حد به روابط شخصی بنیان‌گذاران به جای فرآیندهای نهادی.</a:t>
            </a:r>
            <a:endParaRPr kumimoji="0" lang="en-US" sz="11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Tree>
    <p:extLst>
      <p:ext uri="{BB962C8B-B14F-4D97-AF65-F5344CB8AC3E}">
        <p14:creationId xmlns:p14="http://schemas.microsoft.com/office/powerpoint/2010/main" val="557646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BA6C2-9768-A1E7-C8CF-7801C0A4FEE7}"/>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86D4FD95-BDDF-9978-A3BC-77066AD3C506}"/>
              </a:ext>
            </a:extLst>
          </p:cNvPr>
          <p:cNvSpPr/>
          <p:nvPr/>
        </p:nvSpPr>
        <p:spPr>
          <a:xfrm>
            <a:off x="0" y="0"/>
            <a:ext cx="11703050" cy="1417320"/>
          </a:xfrm>
          <a:prstGeom prst="rect">
            <a:avLst/>
          </a:prstGeom>
          <a:solidFill>
            <a:srgbClr val="004D80">
              <a:alpha val="1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Calibri"/>
            </a:endParaRPr>
          </a:p>
        </p:txBody>
      </p:sp>
      <p:sp>
        <p:nvSpPr>
          <p:cNvPr id="2" name="Text Placeholder 1">
            <a:extLst>
              <a:ext uri="{FF2B5EF4-FFF2-40B4-BE49-F238E27FC236}">
                <a16:creationId xmlns:a16="http://schemas.microsoft.com/office/drawing/2014/main" id="{0C2FDD6D-7C22-04F8-4294-713ADCA9C48D}"/>
              </a:ext>
            </a:extLst>
          </p:cNvPr>
          <p:cNvSpPr>
            <a:spLocks noGrp="1"/>
          </p:cNvSpPr>
          <p:nvPr>
            <p:ph type="body" sz="quarter" idx="10"/>
          </p:nvPr>
        </p:nvSpPr>
        <p:spPr/>
        <p:txBody>
          <a:bodyPr/>
          <a:lstStyle/>
          <a:p>
            <a:r>
              <a:rPr lang="fa-IR"/>
              <a:t>پروفایل بخش‌های مشتری</a:t>
            </a:r>
            <a:endParaRPr lang="fa-IR" dirty="0"/>
          </a:p>
        </p:txBody>
      </p:sp>
      <p:sp>
        <p:nvSpPr>
          <p:cNvPr id="3" name="Text Placeholder 2">
            <a:extLst>
              <a:ext uri="{FF2B5EF4-FFF2-40B4-BE49-F238E27FC236}">
                <a16:creationId xmlns:a16="http://schemas.microsoft.com/office/drawing/2014/main" id="{377564D0-8FF1-9B78-3413-41F8AFD43A33}"/>
              </a:ext>
            </a:extLst>
          </p:cNvPr>
          <p:cNvSpPr>
            <a:spLocks noGrp="1"/>
          </p:cNvSpPr>
          <p:nvPr>
            <p:ph type="body" sz="quarter" idx="12"/>
          </p:nvPr>
        </p:nvSpPr>
        <p:spPr/>
        <p:txBody>
          <a:bodyPr/>
          <a:lstStyle/>
          <a:p>
            <a:r>
              <a:rPr lang="fa-IR" dirty="0"/>
              <a:t>2. کسب‌وکار تراز خارجی </a:t>
            </a:r>
            <a:r>
              <a:rPr lang="fa-IR" sz="1200" b="0" dirty="0">
                <a:solidFill>
                  <a:schemeClr val="tx1">
                    <a:lumMod val="65000"/>
                    <a:lumOff val="35000"/>
                  </a:schemeClr>
                </a:solidFill>
              </a:rPr>
              <a:t>(1/2)</a:t>
            </a:r>
          </a:p>
          <a:p>
            <a:r>
              <a:rPr lang="fa-IR" sz="1100" b="0" dirty="0">
                <a:solidFill>
                  <a:schemeClr val="tx1">
                    <a:lumMod val="65000"/>
                    <a:lumOff val="35000"/>
                  </a:schemeClr>
                </a:solidFill>
              </a:rPr>
              <a:t>یک شرکت خارجی (با وزن بیشتر شرکت‌های بین‌المللی) با هدف ورود به بازار ایران (از فروش محصولات، انتقال تکنولوژی، استقاده از زیرساخت‌های تولیدی تا واردات مواد اولیه و سایر موارد) که انطباق</a:t>
            </a:r>
            <a:r>
              <a:rPr lang="en-US" sz="1100" b="0" dirty="0">
                <a:solidFill>
                  <a:schemeClr val="tx1">
                    <a:lumMod val="65000"/>
                    <a:lumOff val="35000"/>
                  </a:schemeClr>
                </a:solidFill>
              </a:rPr>
              <a:t>Compliance) </a:t>
            </a:r>
            <a:r>
              <a:rPr lang="fa-IR" sz="1100" b="0" dirty="0">
                <a:solidFill>
                  <a:schemeClr val="tx1">
                    <a:lumMod val="65000"/>
                    <a:lumOff val="35000"/>
                  </a:schemeClr>
                </a:solidFill>
              </a:rPr>
              <a:t>) داخلی را پشت سر گذاشته است. چالش و مانع اصلی آن عدم تجربه قبلی، عدم شناخت ایران و بازیگران، عدم شفافیت و میزان مواجهه با ریسک است.</a:t>
            </a:r>
          </a:p>
        </p:txBody>
      </p:sp>
      <p:sp>
        <p:nvSpPr>
          <p:cNvPr id="7" name="Rectangle 6">
            <a:extLst>
              <a:ext uri="{FF2B5EF4-FFF2-40B4-BE49-F238E27FC236}">
                <a16:creationId xmlns:a16="http://schemas.microsoft.com/office/drawing/2014/main" id="{CB8AD5DB-C7A9-C7AD-1762-7EC9C8E702C6}"/>
              </a:ext>
            </a:extLst>
          </p:cNvPr>
          <p:cNvSpPr/>
          <p:nvPr/>
        </p:nvSpPr>
        <p:spPr>
          <a:xfrm>
            <a:off x="6054291" y="1718108"/>
            <a:ext cx="5093134" cy="572655"/>
          </a:xfrm>
          <a:prstGeom prst="rect">
            <a:avLst/>
          </a:prstGeom>
          <a:noFill/>
          <a:ln w="6350">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9" name="TextBox 8">
            <a:extLst>
              <a:ext uri="{FF2B5EF4-FFF2-40B4-BE49-F238E27FC236}">
                <a16:creationId xmlns:a16="http://schemas.microsoft.com/office/drawing/2014/main" id="{F3614050-8681-10EB-65F3-3C7118BBE413}"/>
              </a:ext>
            </a:extLst>
          </p:cNvPr>
          <p:cNvSpPr txBox="1"/>
          <p:nvPr/>
        </p:nvSpPr>
        <p:spPr>
          <a:xfrm>
            <a:off x="9697453" y="1605252"/>
            <a:ext cx="1282422" cy="261610"/>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srgbClr val="0199FF">
                    <a:lumMod val="50000"/>
                  </a:srgbClr>
                </a:solidFill>
                <a:effectLst/>
                <a:uLnTx/>
                <a:uFillTx/>
                <a:latin typeface="Yekan Bakh" pitchFamily="2" charset="-78"/>
                <a:ea typeface="Yekan Bakh" pitchFamily="2" charset="-78"/>
                <a:cs typeface="Yekan Bakh" pitchFamily="2" charset="-78"/>
              </a:rPr>
              <a:t>نقش اصلی مشتری</a:t>
            </a:r>
            <a:endParaRPr kumimoji="0" lang="en-US" sz="1050" b="1" i="0" u="none" strike="noStrike" kern="1200" cap="none" spc="0" normalizeH="0" baseline="0" noProof="0" dirty="0">
              <a:ln>
                <a:noFill/>
              </a:ln>
              <a:solidFill>
                <a:srgbClr val="0199FF">
                  <a:lumMod val="50000"/>
                </a:srgbClr>
              </a:solidFill>
              <a:effectLst/>
              <a:uLnTx/>
              <a:uFillTx/>
              <a:latin typeface="Yekan Bakh" pitchFamily="2" charset="-78"/>
              <a:ea typeface="Yekan Bakh" pitchFamily="2" charset="-78"/>
              <a:cs typeface="Yekan Bakh" pitchFamily="2" charset="-78"/>
            </a:endParaRPr>
          </a:p>
        </p:txBody>
      </p:sp>
      <p:sp>
        <p:nvSpPr>
          <p:cNvPr id="12" name="TextBox 11">
            <a:extLst>
              <a:ext uri="{FF2B5EF4-FFF2-40B4-BE49-F238E27FC236}">
                <a16:creationId xmlns:a16="http://schemas.microsoft.com/office/drawing/2014/main" id="{A671C7B1-E19A-21EF-9A06-82761D537213}"/>
              </a:ext>
            </a:extLst>
          </p:cNvPr>
          <p:cNvSpPr txBox="1"/>
          <p:nvPr/>
        </p:nvSpPr>
        <p:spPr>
          <a:xfrm>
            <a:off x="6129339" y="1897640"/>
            <a:ext cx="4954286" cy="261610"/>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قرارداد همکاری و در نهایت معامله اصلی را امضا می‌کند.</a:t>
            </a:r>
            <a:endParaRPr kumimoji="0" lang="en-US" sz="11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15" name="Rectangle 14">
            <a:extLst>
              <a:ext uri="{FF2B5EF4-FFF2-40B4-BE49-F238E27FC236}">
                <a16:creationId xmlns:a16="http://schemas.microsoft.com/office/drawing/2014/main" id="{022FEB74-85F0-FFEE-57C8-A678164048E3}"/>
              </a:ext>
            </a:extLst>
          </p:cNvPr>
          <p:cNvSpPr/>
          <p:nvPr/>
        </p:nvSpPr>
        <p:spPr>
          <a:xfrm>
            <a:off x="6054291" y="2516475"/>
            <a:ext cx="5093134" cy="674400"/>
          </a:xfrm>
          <a:prstGeom prst="rect">
            <a:avLst/>
          </a:prstGeom>
          <a:noFill/>
          <a:ln w="6350">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17" name="TextBox 16">
            <a:extLst>
              <a:ext uri="{FF2B5EF4-FFF2-40B4-BE49-F238E27FC236}">
                <a16:creationId xmlns:a16="http://schemas.microsoft.com/office/drawing/2014/main" id="{98306C8D-6F94-C9DB-D0E1-5D04A7B5FC9A}"/>
              </a:ext>
            </a:extLst>
          </p:cNvPr>
          <p:cNvSpPr txBox="1"/>
          <p:nvPr/>
        </p:nvSpPr>
        <p:spPr>
          <a:xfrm>
            <a:off x="9697453" y="2403619"/>
            <a:ext cx="1282422" cy="261610"/>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srgbClr val="0199FF">
                    <a:lumMod val="50000"/>
                  </a:srgbClr>
                </a:solidFill>
                <a:effectLst/>
                <a:uLnTx/>
                <a:uFillTx/>
                <a:latin typeface="Yekan Bakh" pitchFamily="2" charset="-78"/>
                <a:ea typeface="Yekan Bakh" pitchFamily="2" charset="-78"/>
                <a:cs typeface="Yekan Bakh" pitchFamily="2" charset="-78"/>
              </a:rPr>
              <a:t>نیاز محوری مشتری </a:t>
            </a:r>
            <a:endParaRPr kumimoji="0" lang="en-US" sz="1050" b="1" i="0" u="none" strike="noStrike" kern="1200" cap="none" spc="0" normalizeH="0" baseline="0" noProof="0" dirty="0">
              <a:ln>
                <a:noFill/>
              </a:ln>
              <a:solidFill>
                <a:srgbClr val="0199FF">
                  <a:lumMod val="50000"/>
                </a:srgbClr>
              </a:solidFill>
              <a:effectLst/>
              <a:uLnTx/>
              <a:uFillTx/>
              <a:latin typeface="Yekan Bakh" pitchFamily="2" charset="-78"/>
              <a:ea typeface="Yekan Bakh" pitchFamily="2" charset="-78"/>
              <a:cs typeface="Yekan Bakh" pitchFamily="2" charset="-78"/>
            </a:endParaRPr>
          </a:p>
        </p:txBody>
      </p:sp>
      <p:sp>
        <p:nvSpPr>
          <p:cNvPr id="20" name="TextBox 19">
            <a:extLst>
              <a:ext uri="{FF2B5EF4-FFF2-40B4-BE49-F238E27FC236}">
                <a16:creationId xmlns:a16="http://schemas.microsoft.com/office/drawing/2014/main" id="{EDFC51A0-99D6-D55D-A107-44B2C5F53750}"/>
              </a:ext>
            </a:extLst>
          </p:cNvPr>
          <p:cNvSpPr txBox="1"/>
          <p:nvPr/>
        </p:nvSpPr>
        <p:spPr>
          <a:xfrm>
            <a:off x="6118091" y="2616495"/>
            <a:ext cx="4965534" cy="600164"/>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دسترسی به یک طرف معامله ایرانی اعتبارسنجی‌شده و محافظت شدن در حین انجام این کار. محافظت، یک موضوع جانبی برای خدمت نیست؛ بلکه نیمی از خودِ محصول است.</a:t>
            </a:r>
            <a:endParaRPr kumimoji="0" lang="en-US"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23" name="Rectangle 22">
            <a:extLst>
              <a:ext uri="{FF2B5EF4-FFF2-40B4-BE49-F238E27FC236}">
                <a16:creationId xmlns:a16="http://schemas.microsoft.com/office/drawing/2014/main" id="{B2287788-9DC6-241C-0DE9-BFD1CEA8BA75}"/>
              </a:ext>
            </a:extLst>
          </p:cNvPr>
          <p:cNvSpPr/>
          <p:nvPr/>
        </p:nvSpPr>
        <p:spPr>
          <a:xfrm>
            <a:off x="6054291" y="3513710"/>
            <a:ext cx="5093134" cy="1034477"/>
          </a:xfrm>
          <a:prstGeom prst="rect">
            <a:avLst/>
          </a:prstGeom>
          <a:noFill/>
          <a:ln w="6350">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25" name="TextBox 24">
            <a:extLst>
              <a:ext uri="{FF2B5EF4-FFF2-40B4-BE49-F238E27FC236}">
                <a16:creationId xmlns:a16="http://schemas.microsoft.com/office/drawing/2014/main" id="{1F273865-D43D-CD2E-8908-F7B7FA8C138A}"/>
              </a:ext>
            </a:extLst>
          </p:cNvPr>
          <p:cNvSpPr txBox="1"/>
          <p:nvPr/>
        </p:nvSpPr>
        <p:spPr>
          <a:xfrm>
            <a:off x="8768615" y="3400855"/>
            <a:ext cx="2211260" cy="261610"/>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err="1">
                <a:ln>
                  <a:noFill/>
                </a:ln>
                <a:solidFill>
                  <a:srgbClr val="0199FF">
                    <a:lumMod val="50000"/>
                  </a:srgbClr>
                </a:solidFill>
                <a:effectLst/>
                <a:uLnTx/>
                <a:uFillTx/>
                <a:latin typeface="Yekan Bakh" pitchFamily="2" charset="-78"/>
                <a:ea typeface="Yekan Bakh" pitchFamily="2" charset="-78"/>
                <a:cs typeface="Yekan Bakh" pitchFamily="2" charset="-78"/>
              </a:rPr>
              <a:t>فعالیت‌های</a:t>
            </a:r>
            <a:r>
              <a:rPr kumimoji="0" lang="fa-IR" sz="1050" b="1" i="0" u="none" strike="noStrike" kern="1200" cap="none" spc="0" normalizeH="0" baseline="0" noProof="0" dirty="0">
                <a:ln>
                  <a:noFill/>
                </a:ln>
                <a:solidFill>
                  <a:srgbClr val="0199FF">
                    <a:lumMod val="50000"/>
                  </a:srgbClr>
                </a:solidFill>
                <a:effectLst/>
                <a:uLnTx/>
                <a:uFillTx/>
                <a:latin typeface="Yekan Bakh" pitchFamily="2" charset="-78"/>
                <a:ea typeface="Yekan Bakh" pitchFamily="2" charset="-78"/>
                <a:cs typeface="Yekan Bakh" pitchFamily="2" charset="-78"/>
              </a:rPr>
              <a:t> کلیدی نیازمند به سیمرغ </a:t>
            </a:r>
            <a:endParaRPr kumimoji="0" lang="en-US" sz="1050" b="1" i="0" u="none" strike="noStrike" kern="1200" cap="none" spc="0" normalizeH="0" baseline="0" noProof="0" dirty="0">
              <a:ln>
                <a:noFill/>
              </a:ln>
              <a:solidFill>
                <a:srgbClr val="0199FF">
                  <a:lumMod val="50000"/>
                </a:srgbClr>
              </a:solidFill>
              <a:effectLst/>
              <a:uLnTx/>
              <a:uFillTx/>
              <a:latin typeface="Yekan Bakh" pitchFamily="2" charset="-78"/>
              <a:ea typeface="Yekan Bakh" pitchFamily="2" charset="-78"/>
              <a:cs typeface="Yekan Bakh" pitchFamily="2" charset="-78"/>
            </a:endParaRPr>
          </a:p>
        </p:txBody>
      </p:sp>
      <p:sp>
        <p:nvSpPr>
          <p:cNvPr id="28" name="TextBox 27">
            <a:extLst>
              <a:ext uri="{FF2B5EF4-FFF2-40B4-BE49-F238E27FC236}">
                <a16:creationId xmlns:a16="http://schemas.microsoft.com/office/drawing/2014/main" id="{A35C48B7-9BA2-E529-B7D0-CADB5CE94718}"/>
              </a:ext>
            </a:extLst>
          </p:cNvPr>
          <p:cNvSpPr txBox="1"/>
          <p:nvPr/>
        </p:nvSpPr>
        <p:spPr>
          <a:xfrm>
            <a:off x="6129339" y="3693243"/>
            <a:ext cx="4954286" cy="769441"/>
          </a:xfrm>
          <a:prstGeom prst="rect">
            <a:avLst/>
          </a:prstGeom>
          <a:noFill/>
        </p:spPr>
        <p:txBody>
          <a:bodyPr wrap="square">
            <a:spAutoFit/>
          </a:bodyPr>
          <a:lstStyle/>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تعیین اینکه کدام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طرف‌های</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معامله واقعاً واجد صلاحیت هستند.</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راستی‌آزمایی</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ادعاهایی</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که امکان ارزیابی آن‌ها از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از</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راه دور وجود ندارد.</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باقی ماندن در حریم و چارچوب انطباق (</a:t>
            </a:r>
            <a:r>
              <a:rPr kumimoji="0" lang="en-US"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Compliance</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به صورتی قابل اثبات.</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اجرا و نظارت بدون نیاز به حضور فیزیکی محلی.</a:t>
            </a:r>
            <a:endParaRPr kumimoji="0" lang="en-US"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31" name="Rectangle 30">
            <a:extLst>
              <a:ext uri="{FF2B5EF4-FFF2-40B4-BE49-F238E27FC236}">
                <a16:creationId xmlns:a16="http://schemas.microsoft.com/office/drawing/2014/main" id="{A3E58C37-3445-5B53-80D4-49C3B274C175}"/>
              </a:ext>
            </a:extLst>
          </p:cNvPr>
          <p:cNvSpPr/>
          <p:nvPr/>
        </p:nvSpPr>
        <p:spPr>
          <a:xfrm>
            <a:off x="6054291" y="4773897"/>
            <a:ext cx="5093134" cy="1160178"/>
          </a:xfrm>
          <a:prstGeom prst="rect">
            <a:avLst/>
          </a:prstGeom>
          <a:noFill/>
          <a:ln w="6350">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33" name="TextBox 32">
            <a:extLst>
              <a:ext uri="{FF2B5EF4-FFF2-40B4-BE49-F238E27FC236}">
                <a16:creationId xmlns:a16="http://schemas.microsoft.com/office/drawing/2014/main" id="{DBA9AF56-117B-3C31-267B-F286CDAEDDC4}"/>
              </a:ext>
            </a:extLst>
          </p:cNvPr>
          <p:cNvSpPr txBox="1"/>
          <p:nvPr/>
        </p:nvSpPr>
        <p:spPr>
          <a:xfrm>
            <a:off x="9375494" y="4661042"/>
            <a:ext cx="1604381" cy="253916"/>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srgbClr val="0199FF">
                    <a:lumMod val="50000"/>
                  </a:srgbClr>
                </a:solidFill>
                <a:effectLst/>
                <a:uLnTx/>
                <a:uFillTx/>
                <a:latin typeface="Yekan Bakh" pitchFamily="2" charset="-78"/>
                <a:ea typeface="Yekan Bakh" pitchFamily="2" charset="-78"/>
                <a:cs typeface="Yekan Bakh" pitchFamily="2" charset="-78"/>
              </a:rPr>
              <a:t>رفتارهای سازمانی غالب</a:t>
            </a:r>
            <a:endParaRPr kumimoji="0" lang="en-US" sz="1050" b="1" i="0" u="none" strike="noStrike" kern="1200" cap="none" spc="0" normalizeH="0" baseline="0" noProof="0" dirty="0">
              <a:ln>
                <a:noFill/>
              </a:ln>
              <a:solidFill>
                <a:srgbClr val="0199FF">
                  <a:lumMod val="50000"/>
                </a:srgbClr>
              </a:solidFill>
              <a:effectLst/>
              <a:uLnTx/>
              <a:uFillTx/>
              <a:latin typeface="Yekan Bakh" pitchFamily="2" charset="-78"/>
              <a:ea typeface="Yekan Bakh" pitchFamily="2" charset="-78"/>
              <a:cs typeface="Yekan Bakh" pitchFamily="2" charset="-78"/>
            </a:endParaRPr>
          </a:p>
        </p:txBody>
      </p:sp>
      <p:sp>
        <p:nvSpPr>
          <p:cNvPr id="36" name="TextBox 35">
            <a:extLst>
              <a:ext uri="{FF2B5EF4-FFF2-40B4-BE49-F238E27FC236}">
                <a16:creationId xmlns:a16="http://schemas.microsoft.com/office/drawing/2014/main" id="{D8E875A5-E21E-BC22-C9C4-B9EE2DE8ECDD}"/>
              </a:ext>
            </a:extLst>
          </p:cNvPr>
          <p:cNvSpPr txBox="1"/>
          <p:nvPr/>
        </p:nvSpPr>
        <p:spPr>
          <a:xfrm>
            <a:off x="6129339" y="4953430"/>
            <a:ext cx="4954286" cy="600164"/>
          </a:xfrm>
          <a:prstGeom prst="rect">
            <a:avLst/>
          </a:prstGeom>
          <a:noFill/>
        </p:spPr>
        <p:txBody>
          <a:bodyPr wrap="square">
            <a:spAutoFit/>
          </a:bodyPr>
          <a:lstStyle/>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اولویّت با فرآیند است (</a:t>
            </a:r>
            <a:r>
              <a:rPr kumimoji="0" lang="en-US" sz="11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Process-first</a:t>
            </a:r>
            <a:r>
              <a:rPr kumimoji="0" lang="fa-IR" sz="11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 واسطه را بر اساس اعتبارات نهادی و فرآیندهای مستندشده ارزیابی می‌کند.</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بخش انطباق (</a:t>
            </a:r>
            <a:r>
              <a:rPr kumimoji="0" lang="en-US" sz="11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Compliance</a:t>
            </a:r>
            <a:r>
              <a:rPr kumimoji="0" lang="fa-IR" sz="11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 پیش از آغاز مذاکرات تجاری، حق وتوی</a:t>
            </a:r>
            <a:r>
              <a:rPr kumimoji="0" lang="en-US" sz="11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 </a:t>
            </a:r>
            <a:r>
              <a:rPr kumimoji="0" lang="fa-IR" sz="11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واقعی دارد. </a:t>
            </a:r>
            <a:endParaRPr kumimoji="0" lang="en-US" sz="11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39" name="Rectangle 38">
            <a:extLst>
              <a:ext uri="{FF2B5EF4-FFF2-40B4-BE49-F238E27FC236}">
                <a16:creationId xmlns:a16="http://schemas.microsoft.com/office/drawing/2014/main" id="{1A1DDB87-7A75-4DD7-567E-E1BE23B9947F}"/>
              </a:ext>
            </a:extLst>
          </p:cNvPr>
          <p:cNvSpPr/>
          <p:nvPr/>
        </p:nvSpPr>
        <p:spPr>
          <a:xfrm>
            <a:off x="723175" y="1718108"/>
            <a:ext cx="5093134" cy="1034477"/>
          </a:xfrm>
          <a:prstGeom prst="rect">
            <a:avLst/>
          </a:prstGeom>
          <a:noFill/>
          <a:ln w="6350">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41" name="TextBox 40">
            <a:extLst>
              <a:ext uri="{FF2B5EF4-FFF2-40B4-BE49-F238E27FC236}">
                <a16:creationId xmlns:a16="http://schemas.microsoft.com/office/drawing/2014/main" id="{AAF4C13B-2DFA-BA04-DCB8-2B5A6B0261ED}"/>
              </a:ext>
            </a:extLst>
          </p:cNvPr>
          <p:cNvSpPr txBox="1"/>
          <p:nvPr/>
        </p:nvSpPr>
        <p:spPr>
          <a:xfrm>
            <a:off x="3922295" y="1605253"/>
            <a:ext cx="1726464" cy="261610"/>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srgbClr val="0199FF">
                    <a:lumMod val="50000"/>
                  </a:srgbClr>
                </a:solidFill>
                <a:effectLst/>
                <a:uLnTx/>
                <a:uFillTx/>
                <a:latin typeface="Yekan Bakh" pitchFamily="2" charset="-78"/>
                <a:ea typeface="Yekan Bakh" pitchFamily="2" charset="-78"/>
                <a:cs typeface="Yekan Bakh" pitchFamily="2" charset="-78"/>
              </a:rPr>
              <a:t>ویژگی‌های شرکتی تاثیرگذار </a:t>
            </a:r>
            <a:endParaRPr kumimoji="0" lang="en-US" sz="1050" b="1" i="0" u="none" strike="noStrike" kern="1200" cap="none" spc="0" normalizeH="0" baseline="0" noProof="0" dirty="0">
              <a:ln>
                <a:noFill/>
              </a:ln>
              <a:solidFill>
                <a:srgbClr val="0199FF">
                  <a:lumMod val="50000"/>
                </a:srgbClr>
              </a:solidFill>
              <a:effectLst/>
              <a:uLnTx/>
              <a:uFillTx/>
              <a:latin typeface="Yekan Bakh" pitchFamily="2" charset="-78"/>
              <a:ea typeface="Yekan Bakh" pitchFamily="2" charset="-78"/>
              <a:cs typeface="Yekan Bakh" pitchFamily="2" charset="-78"/>
            </a:endParaRPr>
          </a:p>
        </p:txBody>
      </p:sp>
      <p:sp>
        <p:nvSpPr>
          <p:cNvPr id="44" name="TextBox 43">
            <a:extLst>
              <a:ext uri="{FF2B5EF4-FFF2-40B4-BE49-F238E27FC236}">
                <a16:creationId xmlns:a16="http://schemas.microsoft.com/office/drawing/2014/main" id="{9DCB698B-81CE-6BC6-9B5D-38CB01B17525}"/>
              </a:ext>
            </a:extLst>
          </p:cNvPr>
          <p:cNvSpPr txBox="1"/>
          <p:nvPr/>
        </p:nvSpPr>
        <p:spPr>
          <a:xfrm>
            <a:off x="798223" y="1897641"/>
            <a:ext cx="4954286" cy="938719"/>
          </a:xfrm>
          <a:prstGeom prst="rect">
            <a:avLst/>
          </a:prstGeom>
          <a:noFill/>
        </p:spPr>
        <p:txBody>
          <a:bodyPr wrap="square">
            <a:spAutoFit/>
          </a:bodyPr>
          <a:lstStyle/>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شرکت، ساختار و ماهیت کاملا غیرایرانی دارد. </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کشورهای اروپایی ممکن است از کانال‌های فعلی خود برای انجام معاملات تجاری استفاده کنند و اولویت اصلی احتمالا شرکت‌های بین‌المللی می‌باشد. </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کشور مبدا میزان انطباق و نوع استانداردها را مشخص می‌کند. </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47" name="Rectangle 46">
            <a:extLst>
              <a:ext uri="{FF2B5EF4-FFF2-40B4-BE49-F238E27FC236}">
                <a16:creationId xmlns:a16="http://schemas.microsoft.com/office/drawing/2014/main" id="{E62F515E-6436-610D-B993-9DC784AB2F5C}"/>
              </a:ext>
            </a:extLst>
          </p:cNvPr>
          <p:cNvSpPr/>
          <p:nvPr/>
        </p:nvSpPr>
        <p:spPr>
          <a:xfrm>
            <a:off x="723175" y="3088794"/>
            <a:ext cx="5093134" cy="1034477"/>
          </a:xfrm>
          <a:prstGeom prst="rect">
            <a:avLst/>
          </a:prstGeom>
          <a:noFill/>
          <a:ln w="6350">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50" name="TextBox 49">
            <a:extLst>
              <a:ext uri="{FF2B5EF4-FFF2-40B4-BE49-F238E27FC236}">
                <a16:creationId xmlns:a16="http://schemas.microsoft.com/office/drawing/2014/main" id="{920DDE45-90FC-B306-3DFB-61BCF74EDA17}"/>
              </a:ext>
            </a:extLst>
          </p:cNvPr>
          <p:cNvSpPr txBox="1"/>
          <p:nvPr/>
        </p:nvSpPr>
        <p:spPr>
          <a:xfrm>
            <a:off x="4519061" y="2975939"/>
            <a:ext cx="1129698" cy="261610"/>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rPr>
              <a:t>رویدادهای محرک </a:t>
            </a:r>
            <a:endParaRPr kumimoji="0" lang="en-US" sz="105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endParaRPr>
          </a:p>
        </p:txBody>
      </p:sp>
      <p:sp>
        <p:nvSpPr>
          <p:cNvPr id="54" name="TextBox 53">
            <a:extLst>
              <a:ext uri="{FF2B5EF4-FFF2-40B4-BE49-F238E27FC236}">
                <a16:creationId xmlns:a16="http://schemas.microsoft.com/office/drawing/2014/main" id="{C4CCA489-111B-C429-DA5A-749F2EEF40C3}"/>
              </a:ext>
            </a:extLst>
          </p:cNvPr>
          <p:cNvSpPr txBox="1"/>
          <p:nvPr/>
        </p:nvSpPr>
        <p:spPr>
          <a:xfrm>
            <a:off x="798223" y="3268327"/>
            <a:ext cx="4954286" cy="600164"/>
          </a:xfrm>
          <a:prstGeom prst="rect">
            <a:avLst/>
          </a:prstGeom>
          <a:noFill/>
        </p:spPr>
        <p:txBody>
          <a:bodyPr wrap="square">
            <a:spAutoFit/>
          </a:bodyPr>
          <a:lstStyle/>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گشایش و رفع محدودیت‌های بین‌المللی که یک پنجره فرصت زمانی ایجاد می‌کند.</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استعلام‌ها یا پیشنهادهای تجاری دریافتی مستقیم از سوی بازیگران ایرانی که نیازمند راستی‌آزمایی و بررسی امن هستند.</a:t>
            </a:r>
            <a:endParaRPr kumimoji="0" lang="en-US"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58" name="Rectangle 57">
            <a:extLst>
              <a:ext uri="{FF2B5EF4-FFF2-40B4-BE49-F238E27FC236}">
                <a16:creationId xmlns:a16="http://schemas.microsoft.com/office/drawing/2014/main" id="{4B535962-AE62-6BB9-E3E9-D78D55626577}"/>
              </a:ext>
            </a:extLst>
          </p:cNvPr>
          <p:cNvSpPr/>
          <p:nvPr/>
        </p:nvSpPr>
        <p:spPr>
          <a:xfrm>
            <a:off x="758391" y="4436191"/>
            <a:ext cx="5093134" cy="1497884"/>
          </a:xfrm>
          <a:prstGeom prst="rect">
            <a:avLst/>
          </a:prstGeom>
          <a:noFill/>
          <a:ln w="6350">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62" name="TextBox 61">
            <a:extLst>
              <a:ext uri="{FF2B5EF4-FFF2-40B4-BE49-F238E27FC236}">
                <a16:creationId xmlns:a16="http://schemas.microsoft.com/office/drawing/2014/main" id="{DF2AC9C5-1AAF-4EE3-A9FB-E097174F7A15}"/>
              </a:ext>
            </a:extLst>
          </p:cNvPr>
          <p:cNvSpPr txBox="1"/>
          <p:nvPr/>
        </p:nvSpPr>
        <p:spPr>
          <a:xfrm>
            <a:off x="3922295" y="4323336"/>
            <a:ext cx="1761680" cy="261610"/>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rPr>
              <a:t>فرآیند خرید / تصمیم‌گیری </a:t>
            </a:r>
            <a:endParaRPr kumimoji="0" lang="en-US" sz="105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endParaRPr>
          </a:p>
        </p:txBody>
      </p:sp>
      <p:sp>
        <p:nvSpPr>
          <p:cNvPr id="66" name="TextBox 65">
            <a:extLst>
              <a:ext uri="{FF2B5EF4-FFF2-40B4-BE49-F238E27FC236}">
                <a16:creationId xmlns:a16="http://schemas.microsoft.com/office/drawing/2014/main" id="{F94A6F59-F913-3731-CA7C-C0D25EC7E056}"/>
              </a:ext>
            </a:extLst>
          </p:cNvPr>
          <p:cNvSpPr txBox="1"/>
          <p:nvPr/>
        </p:nvSpPr>
        <p:spPr>
          <a:xfrm>
            <a:off x="833439" y="4615724"/>
            <a:ext cx="4954286" cy="1107996"/>
          </a:xfrm>
          <a:prstGeom prst="rect">
            <a:avLst/>
          </a:prstGeom>
          <a:noFill/>
        </p:spPr>
        <p:txBody>
          <a:bodyPr wrap="square">
            <a:spAutoFit/>
          </a:bodyPr>
          <a:lstStyle/>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فرآیندمحور و خطی.</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fa-IR" sz="11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توالی: </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ماموریت داخلی &gt; غربالگری اولویّت‌های انطباق &gt; لیست کوتاه واسطه‌ها و ارزیابی اعتبار نهادی آن‌ها &gt; فاز پایلوت/محدوده اولیه &gt; صدور شرح خدمات رسمی و انعقاد قرارداد.</a:t>
            </a:r>
            <a:endParaRPr kumimoji="0" lang="en-US" sz="11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Tree>
    <p:extLst>
      <p:ext uri="{BB962C8B-B14F-4D97-AF65-F5344CB8AC3E}">
        <p14:creationId xmlns:p14="http://schemas.microsoft.com/office/powerpoint/2010/main" val="2342895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3554FB-8BE0-2E25-7B5A-7DD4DCC6B906}"/>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F012129F-8417-7BDE-D49E-D72DA269039B}"/>
              </a:ext>
            </a:extLst>
          </p:cNvPr>
          <p:cNvSpPr/>
          <p:nvPr/>
        </p:nvSpPr>
        <p:spPr>
          <a:xfrm>
            <a:off x="0" y="0"/>
            <a:ext cx="11703050" cy="1417320"/>
          </a:xfrm>
          <a:prstGeom prst="rect">
            <a:avLst/>
          </a:prstGeom>
          <a:solidFill>
            <a:srgbClr val="004D80">
              <a:alpha val="1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Calibri"/>
            </a:endParaRPr>
          </a:p>
        </p:txBody>
      </p:sp>
      <p:sp>
        <p:nvSpPr>
          <p:cNvPr id="2" name="Text Placeholder 1">
            <a:extLst>
              <a:ext uri="{FF2B5EF4-FFF2-40B4-BE49-F238E27FC236}">
                <a16:creationId xmlns:a16="http://schemas.microsoft.com/office/drawing/2014/main" id="{2DBE1E85-529C-30D8-2199-99ABCC26FB75}"/>
              </a:ext>
            </a:extLst>
          </p:cNvPr>
          <p:cNvSpPr>
            <a:spLocks noGrp="1"/>
          </p:cNvSpPr>
          <p:nvPr>
            <p:ph type="body" sz="quarter" idx="10"/>
          </p:nvPr>
        </p:nvSpPr>
        <p:spPr/>
        <p:txBody>
          <a:bodyPr/>
          <a:lstStyle/>
          <a:p>
            <a:r>
              <a:rPr lang="fa-IR" dirty="0"/>
              <a:t>پروفایل بخش‌های مشتری</a:t>
            </a:r>
          </a:p>
        </p:txBody>
      </p:sp>
      <p:sp>
        <p:nvSpPr>
          <p:cNvPr id="3" name="Text Placeholder 2">
            <a:extLst>
              <a:ext uri="{FF2B5EF4-FFF2-40B4-BE49-F238E27FC236}">
                <a16:creationId xmlns:a16="http://schemas.microsoft.com/office/drawing/2014/main" id="{C82814AD-1805-B5D4-034E-59A84110D418}"/>
              </a:ext>
            </a:extLst>
          </p:cNvPr>
          <p:cNvSpPr>
            <a:spLocks noGrp="1"/>
          </p:cNvSpPr>
          <p:nvPr>
            <p:ph type="body" sz="quarter" idx="12"/>
          </p:nvPr>
        </p:nvSpPr>
        <p:spPr/>
        <p:txBody>
          <a:bodyPr/>
          <a:lstStyle/>
          <a:p>
            <a:r>
              <a:rPr lang="fa-IR" dirty="0"/>
              <a:t>2. کسب‌وکار تراز خارجی </a:t>
            </a:r>
            <a:r>
              <a:rPr lang="fa-IR" sz="1200" b="0" dirty="0">
                <a:solidFill>
                  <a:schemeClr val="tx1">
                    <a:lumMod val="65000"/>
                    <a:lumOff val="35000"/>
                  </a:schemeClr>
                </a:solidFill>
              </a:rPr>
              <a:t>(2/2)</a:t>
            </a:r>
          </a:p>
          <a:p>
            <a:pPr marL="0" marR="0" lvl="0" indent="0" algn="justLow" defTabSz="1021516" rtl="1"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fa-IR" sz="1100" b="0" i="0" u="none" strike="noStrike" kern="1200" cap="none" spc="0" normalizeH="0" baseline="0" noProof="0" dirty="0">
                <a:ln>
                  <a:noFill/>
                </a:ln>
                <a:solidFill>
                  <a:prstClr val="black">
                    <a:lumMod val="65000"/>
                    <a:lumOff val="35000"/>
                  </a:prstClr>
                </a:solidFill>
                <a:effectLst/>
                <a:uLnTx/>
                <a:uFillTx/>
                <a:latin typeface="Yekan Bakh FaNum" pitchFamily="2" charset="-78"/>
                <a:ea typeface="+mn-ea"/>
                <a:cs typeface="Yekan Bakh FaNum" pitchFamily="2" charset="-78"/>
              </a:rPr>
              <a:t>یک شرکت خارجی (با وزن بیشتر شرکت‌های بین‌المللی) با هدف ورود به بازار ایران (از فروش محصولات، انتقال تکنولوژی، استقاده از زیرساخت‌های تولیدی تا واردات مواد اولیه و سایر موارد) که انطباق</a:t>
            </a:r>
            <a:r>
              <a:rPr kumimoji="0" lang="en-US" sz="1100" b="0" i="0" u="none" strike="noStrike" kern="1200" cap="none" spc="0" normalizeH="0" baseline="0" noProof="0" dirty="0">
                <a:ln>
                  <a:noFill/>
                </a:ln>
                <a:solidFill>
                  <a:prstClr val="black">
                    <a:lumMod val="65000"/>
                    <a:lumOff val="35000"/>
                  </a:prstClr>
                </a:solidFill>
                <a:effectLst/>
                <a:uLnTx/>
                <a:uFillTx/>
                <a:latin typeface="Yekan Bakh FaNum" pitchFamily="2" charset="-78"/>
                <a:ea typeface="+mn-ea"/>
                <a:cs typeface="Yekan Bakh FaNum" pitchFamily="2" charset="-78"/>
              </a:rPr>
              <a:t>Compliance) </a:t>
            </a:r>
            <a:r>
              <a:rPr kumimoji="0" lang="fa-IR" sz="1100" b="0" i="0" u="none" strike="noStrike" kern="1200" cap="none" spc="0" normalizeH="0" baseline="0" noProof="0" dirty="0">
                <a:ln>
                  <a:noFill/>
                </a:ln>
                <a:solidFill>
                  <a:prstClr val="black">
                    <a:lumMod val="65000"/>
                    <a:lumOff val="35000"/>
                  </a:prstClr>
                </a:solidFill>
                <a:effectLst/>
                <a:uLnTx/>
                <a:uFillTx/>
                <a:latin typeface="Yekan Bakh FaNum" pitchFamily="2" charset="-78"/>
                <a:ea typeface="+mn-ea"/>
                <a:cs typeface="Yekan Bakh FaNum" pitchFamily="2" charset="-78"/>
              </a:rPr>
              <a:t>) داخلی را پشت سر گذاشته است. چالش و مانع اصلی آن عدم تجربه قبلی، عدم شناخت ایران و بازیگران، عدم شفافیت و میزان مواجهه با ریسک است.</a:t>
            </a:r>
          </a:p>
        </p:txBody>
      </p:sp>
      <p:sp>
        <p:nvSpPr>
          <p:cNvPr id="8" name="Rectangle 7">
            <a:extLst>
              <a:ext uri="{FF2B5EF4-FFF2-40B4-BE49-F238E27FC236}">
                <a16:creationId xmlns:a16="http://schemas.microsoft.com/office/drawing/2014/main" id="{26E85D72-9729-810D-EAB9-DD5C85D50391}"/>
              </a:ext>
            </a:extLst>
          </p:cNvPr>
          <p:cNvSpPr/>
          <p:nvPr/>
        </p:nvSpPr>
        <p:spPr>
          <a:xfrm>
            <a:off x="6054291" y="1718108"/>
            <a:ext cx="5093134" cy="1034477"/>
          </a:xfrm>
          <a:prstGeom prst="rect">
            <a:avLst/>
          </a:prstGeom>
          <a:noFill/>
          <a:ln w="6350">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11" name="TextBox 10">
            <a:extLst>
              <a:ext uri="{FF2B5EF4-FFF2-40B4-BE49-F238E27FC236}">
                <a16:creationId xmlns:a16="http://schemas.microsoft.com/office/drawing/2014/main" id="{74E2B365-6CC6-03C7-EFFB-5804AB8B7E8D}"/>
              </a:ext>
            </a:extLst>
          </p:cNvPr>
          <p:cNvSpPr txBox="1"/>
          <p:nvPr/>
        </p:nvSpPr>
        <p:spPr>
          <a:xfrm>
            <a:off x="9466446" y="1605252"/>
            <a:ext cx="1513429" cy="261610"/>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err="1">
                <a:ln>
                  <a:noFill/>
                </a:ln>
                <a:solidFill>
                  <a:srgbClr val="0199FF">
                    <a:lumMod val="50000"/>
                  </a:srgbClr>
                </a:solidFill>
                <a:effectLst/>
                <a:uLnTx/>
                <a:uFillTx/>
                <a:latin typeface="Yekan Bakh" pitchFamily="2" charset="-78"/>
                <a:ea typeface="Yekan Bakh" pitchFamily="2" charset="-78"/>
                <a:cs typeface="Yekan Bakh" pitchFamily="2" charset="-78"/>
              </a:rPr>
              <a:t>تصمیم‌گیرندگان</a:t>
            </a:r>
            <a:r>
              <a:rPr kumimoji="0" lang="fa-IR" sz="1050" b="1" i="0" u="none" strike="noStrike" kern="1200" cap="none" spc="0" normalizeH="0" baseline="0" noProof="0" dirty="0">
                <a:ln>
                  <a:noFill/>
                </a:ln>
                <a:solidFill>
                  <a:srgbClr val="0199FF">
                    <a:lumMod val="50000"/>
                  </a:srgbClr>
                </a:solidFill>
                <a:effectLst/>
                <a:uLnTx/>
                <a:uFillTx/>
                <a:latin typeface="Yekan Bakh" pitchFamily="2" charset="-78"/>
                <a:ea typeface="Yekan Bakh" pitchFamily="2" charset="-78"/>
                <a:cs typeface="Yekan Bakh" pitchFamily="2" charset="-78"/>
              </a:rPr>
              <a:t> کلیدی</a:t>
            </a:r>
            <a:endParaRPr kumimoji="0" lang="en-US" sz="1050" b="1" i="0" u="none" strike="noStrike" kern="1200" cap="none" spc="0" normalizeH="0" baseline="0" noProof="0" dirty="0">
              <a:ln>
                <a:noFill/>
              </a:ln>
              <a:solidFill>
                <a:srgbClr val="0199FF">
                  <a:lumMod val="50000"/>
                </a:srgbClr>
              </a:solidFill>
              <a:effectLst/>
              <a:uLnTx/>
              <a:uFillTx/>
              <a:latin typeface="Yekan Bakh" pitchFamily="2" charset="-78"/>
              <a:ea typeface="Yekan Bakh" pitchFamily="2" charset="-78"/>
              <a:cs typeface="Yekan Bakh" pitchFamily="2" charset="-78"/>
            </a:endParaRPr>
          </a:p>
        </p:txBody>
      </p:sp>
      <p:sp>
        <p:nvSpPr>
          <p:cNvPr id="14" name="TextBox 13">
            <a:extLst>
              <a:ext uri="{FF2B5EF4-FFF2-40B4-BE49-F238E27FC236}">
                <a16:creationId xmlns:a16="http://schemas.microsoft.com/office/drawing/2014/main" id="{BDE8539F-7EED-36A0-0505-3AAC11F4130B}"/>
              </a:ext>
            </a:extLst>
          </p:cNvPr>
          <p:cNvSpPr txBox="1"/>
          <p:nvPr/>
        </p:nvSpPr>
        <p:spPr>
          <a:xfrm>
            <a:off x="6129339" y="1897640"/>
            <a:ext cx="4954286" cy="769441"/>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مدیرعامل، رئیس واحد کسب‌وکار یا مدیر ارشد توسعه بین‌المللی فرد اصلی است. </a:t>
            </a:r>
          </a:p>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بخش حقوقی و انطباق دارای حق وتو</a:t>
            </a:r>
            <a:r>
              <a:rPr kumimoji="0" lang="en-US"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است و باید اول از همه جلب شوند. </a:t>
            </a:r>
          </a:p>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مدیر مالی بودجه را تایید می‌کند. </a:t>
            </a:r>
          </a:p>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تایید هیئت‌مدیره برای مواجهه با ریسک‌های بااهمیت، محتمل است.</a:t>
            </a:r>
            <a:endParaRPr kumimoji="0" lang="en-US"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18" name="Rectangle 17">
            <a:extLst>
              <a:ext uri="{FF2B5EF4-FFF2-40B4-BE49-F238E27FC236}">
                <a16:creationId xmlns:a16="http://schemas.microsoft.com/office/drawing/2014/main" id="{9C9075A4-786D-4181-7620-8149E3EDA6B5}"/>
              </a:ext>
            </a:extLst>
          </p:cNvPr>
          <p:cNvSpPr/>
          <p:nvPr/>
        </p:nvSpPr>
        <p:spPr>
          <a:xfrm>
            <a:off x="6054291" y="2955438"/>
            <a:ext cx="5093134" cy="798522"/>
          </a:xfrm>
          <a:prstGeom prst="rect">
            <a:avLst/>
          </a:prstGeom>
          <a:noFill/>
          <a:ln w="6350">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21" name="TextBox 20">
            <a:extLst>
              <a:ext uri="{FF2B5EF4-FFF2-40B4-BE49-F238E27FC236}">
                <a16:creationId xmlns:a16="http://schemas.microsoft.com/office/drawing/2014/main" id="{818AEB71-7C4A-A8DE-44D3-22A305997F76}"/>
              </a:ext>
            </a:extLst>
          </p:cNvPr>
          <p:cNvSpPr txBox="1"/>
          <p:nvPr/>
        </p:nvSpPr>
        <p:spPr>
          <a:xfrm>
            <a:off x="9466446" y="2842582"/>
            <a:ext cx="1513429" cy="261610"/>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rPr>
              <a:t>آنچه برایشان ارزش است</a:t>
            </a:r>
            <a:endParaRPr kumimoji="0" lang="en-US" sz="1050" b="1"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endParaRPr>
          </a:p>
        </p:txBody>
      </p:sp>
      <p:sp>
        <p:nvSpPr>
          <p:cNvPr id="24" name="TextBox 23">
            <a:extLst>
              <a:ext uri="{FF2B5EF4-FFF2-40B4-BE49-F238E27FC236}">
                <a16:creationId xmlns:a16="http://schemas.microsoft.com/office/drawing/2014/main" id="{5ABA06C8-69BD-D630-FD1E-05B0E35AEFF8}"/>
              </a:ext>
            </a:extLst>
          </p:cNvPr>
          <p:cNvSpPr txBox="1"/>
          <p:nvPr/>
        </p:nvSpPr>
        <p:spPr>
          <a:xfrm>
            <a:off x="6129339" y="3085275"/>
            <a:ext cx="4954286" cy="600164"/>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محافظت همه‌جانبه در برابر ریسک، شفافیت کامل فرآیندها، مسئولیت‌پذیری نهادی (تعامل با یک نهاد حقوقی معتبر و پاسخگو به جای افراد و واسطه‌های حقیقی)، وجود نقطه تماس و مسئولیت یکپارچه.</a:t>
            </a:r>
            <a:endParaRPr kumimoji="0" lang="en-US"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27" name="Rectangle 26">
            <a:extLst>
              <a:ext uri="{FF2B5EF4-FFF2-40B4-BE49-F238E27FC236}">
                <a16:creationId xmlns:a16="http://schemas.microsoft.com/office/drawing/2014/main" id="{9E701BF4-48BE-2AE4-7929-B4B546ACF02C}"/>
              </a:ext>
            </a:extLst>
          </p:cNvPr>
          <p:cNvSpPr/>
          <p:nvPr/>
        </p:nvSpPr>
        <p:spPr>
          <a:xfrm>
            <a:off x="6054291" y="3893177"/>
            <a:ext cx="5093134" cy="1160178"/>
          </a:xfrm>
          <a:prstGeom prst="rect">
            <a:avLst/>
          </a:prstGeom>
          <a:noFill/>
          <a:ln w="6350">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30" name="TextBox 29">
            <a:extLst>
              <a:ext uri="{FF2B5EF4-FFF2-40B4-BE49-F238E27FC236}">
                <a16:creationId xmlns:a16="http://schemas.microsoft.com/office/drawing/2014/main" id="{84F1CE38-115F-175B-6323-2094B2C8B020}"/>
              </a:ext>
            </a:extLst>
          </p:cNvPr>
          <p:cNvSpPr txBox="1"/>
          <p:nvPr/>
        </p:nvSpPr>
        <p:spPr>
          <a:xfrm>
            <a:off x="9567512" y="3780322"/>
            <a:ext cx="1412363" cy="261610"/>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srgbClr val="0199FF">
                    <a:lumMod val="50000"/>
                  </a:srgbClr>
                </a:solidFill>
                <a:effectLst/>
                <a:uLnTx/>
                <a:uFillTx/>
                <a:latin typeface="Yekan Bakh" pitchFamily="2" charset="-78"/>
                <a:ea typeface="Yekan Bakh" pitchFamily="2" charset="-78"/>
                <a:cs typeface="Yekan Bakh" pitchFamily="2" charset="-78"/>
              </a:rPr>
              <a:t>تمایل به پرداخت برای</a:t>
            </a:r>
            <a:endParaRPr kumimoji="0" lang="en-US" sz="1050" b="1" i="0" u="none" strike="noStrike" kern="1200" cap="none" spc="0" normalizeH="0" baseline="0" noProof="0" dirty="0">
              <a:ln>
                <a:noFill/>
              </a:ln>
              <a:solidFill>
                <a:srgbClr val="0199FF">
                  <a:lumMod val="50000"/>
                </a:srgbClr>
              </a:solidFill>
              <a:effectLst/>
              <a:uLnTx/>
              <a:uFillTx/>
              <a:latin typeface="Yekan Bakh" pitchFamily="2" charset="-78"/>
              <a:ea typeface="Yekan Bakh" pitchFamily="2" charset="-78"/>
              <a:cs typeface="Yekan Bakh" pitchFamily="2" charset="-78"/>
            </a:endParaRPr>
          </a:p>
        </p:txBody>
      </p:sp>
      <p:sp>
        <p:nvSpPr>
          <p:cNvPr id="34" name="TextBox 33">
            <a:extLst>
              <a:ext uri="{FF2B5EF4-FFF2-40B4-BE49-F238E27FC236}">
                <a16:creationId xmlns:a16="http://schemas.microsoft.com/office/drawing/2014/main" id="{8F8C9286-B8BC-0A6E-C7FD-B7EF07600977}"/>
              </a:ext>
            </a:extLst>
          </p:cNvPr>
          <p:cNvSpPr txBox="1"/>
          <p:nvPr/>
        </p:nvSpPr>
        <p:spPr>
          <a:xfrm>
            <a:off x="6129339" y="4072710"/>
            <a:ext cx="4954286" cy="938719"/>
          </a:xfrm>
          <a:prstGeom prst="rect">
            <a:avLst/>
          </a:prstGeom>
          <a:noFill/>
        </p:spPr>
        <p:txBody>
          <a:bodyPr wrap="square">
            <a:spAutoFit/>
          </a:bodyPr>
          <a:lstStyle/>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تحقیقات بازار و شناسایی طرف‌های قابل معامله</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غربالگری و راستی‌آزمایی، </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هدایت فرآیند انطباق و مستندسازى، </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پشتیبانی در مذاکره، </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اجرای محلی، نظارت و گزارش‌دهی پس از معامله.</a:t>
            </a:r>
            <a:endParaRPr kumimoji="0" lang="en-US" sz="11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37" name="Rectangle 36">
            <a:extLst>
              <a:ext uri="{FF2B5EF4-FFF2-40B4-BE49-F238E27FC236}">
                <a16:creationId xmlns:a16="http://schemas.microsoft.com/office/drawing/2014/main" id="{50B4AFD2-6E66-675B-4CFC-9C6D927F8F29}"/>
              </a:ext>
            </a:extLst>
          </p:cNvPr>
          <p:cNvSpPr/>
          <p:nvPr/>
        </p:nvSpPr>
        <p:spPr>
          <a:xfrm>
            <a:off x="723175" y="1718108"/>
            <a:ext cx="5093134" cy="1034477"/>
          </a:xfrm>
          <a:prstGeom prst="rect">
            <a:avLst/>
          </a:prstGeom>
          <a:noFill/>
          <a:ln w="6350">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40" name="TextBox 39">
            <a:extLst>
              <a:ext uri="{FF2B5EF4-FFF2-40B4-BE49-F238E27FC236}">
                <a16:creationId xmlns:a16="http://schemas.microsoft.com/office/drawing/2014/main" id="{EA457B05-7D0D-479C-8661-616111FB0E04}"/>
              </a:ext>
            </a:extLst>
          </p:cNvPr>
          <p:cNvSpPr txBox="1"/>
          <p:nvPr/>
        </p:nvSpPr>
        <p:spPr>
          <a:xfrm>
            <a:off x="4134051" y="1605253"/>
            <a:ext cx="1514708" cy="261610"/>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srgbClr val="0199FF">
                    <a:lumMod val="50000"/>
                  </a:srgbClr>
                </a:solidFill>
                <a:effectLst/>
                <a:uLnTx/>
                <a:uFillTx/>
                <a:latin typeface="Yekan Bakh" pitchFamily="2" charset="-78"/>
                <a:ea typeface="Yekan Bakh" pitchFamily="2" charset="-78"/>
                <a:cs typeface="Yekan Bakh" pitchFamily="2" charset="-78"/>
              </a:rPr>
              <a:t>ارزش پیشنهادی خدمت</a:t>
            </a:r>
            <a:endParaRPr kumimoji="0" lang="en-US" sz="1050" b="1" i="0" u="none" strike="noStrike" kern="1200" cap="none" spc="0" normalizeH="0" baseline="0" noProof="0" dirty="0">
              <a:ln>
                <a:noFill/>
              </a:ln>
              <a:solidFill>
                <a:srgbClr val="0199FF">
                  <a:lumMod val="50000"/>
                </a:srgbClr>
              </a:solidFill>
              <a:effectLst/>
              <a:uLnTx/>
              <a:uFillTx/>
              <a:latin typeface="Yekan Bakh" pitchFamily="2" charset="-78"/>
              <a:ea typeface="Yekan Bakh" pitchFamily="2" charset="-78"/>
              <a:cs typeface="Yekan Bakh" pitchFamily="2" charset="-78"/>
            </a:endParaRPr>
          </a:p>
        </p:txBody>
      </p:sp>
      <p:sp>
        <p:nvSpPr>
          <p:cNvPr id="43" name="TextBox 42">
            <a:extLst>
              <a:ext uri="{FF2B5EF4-FFF2-40B4-BE49-F238E27FC236}">
                <a16:creationId xmlns:a16="http://schemas.microsoft.com/office/drawing/2014/main" id="{2CA237B5-202A-BB3E-3B87-95A0B4171DB1}"/>
              </a:ext>
            </a:extLst>
          </p:cNvPr>
          <p:cNvSpPr txBox="1"/>
          <p:nvPr/>
        </p:nvSpPr>
        <p:spPr>
          <a:xfrm>
            <a:off x="798223" y="1897641"/>
            <a:ext cx="4954286" cy="769441"/>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محافظت ورودی (</a:t>
            </a:r>
            <a:r>
              <a:rPr kumimoji="0" lang="en-US" sz="11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Inbound protection</a:t>
            </a:r>
            <a:r>
              <a:rPr kumimoji="0" lang="fa-IR" sz="11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a:t>
            </a:r>
          </a:p>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غربالگری، راستی‌آزمایی و کاهش ریسک به نیابت از مشتری؛ هدایت فرآیند در حریم انطباق؛ اجرا و نظارت محلی به طوری که مشتری هرگز مجبور به حضور فیزیکی نباشد. </a:t>
            </a:r>
            <a:endParaRPr kumimoji="0" lang="en-US" sz="11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46" name="Rectangle 45">
            <a:extLst>
              <a:ext uri="{FF2B5EF4-FFF2-40B4-BE49-F238E27FC236}">
                <a16:creationId xmlns:a16="http://schemas.microsoft.com/office/drawing/2014/main" id="{A125DC4C-2FF7-2E0A-5422-680990A65069}"/>
              </a:ext>
            </a:extLst>
          </p:cNvPr>
          <p:cNvSpPr/>
          <p:nvPr/>
        </p:nvSpPr>
        <p:spPr>
          <a:xfrm>
            <a:off x="6054291" y="5192091"/>
            <a:ext cx="5093134" cy="741984"/>
          </a:xfrm>
          <a:prstGeom prst="rect">
            <a:avLst/>
          </a:prstGeom>
          <a:noFill/>
          <a:ln w="6350">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49" name="TextBox 48">
            <a:extLst>
              <a:ext uri="{FF2B5EF4-FFF2-40B4-BE49-F238E27FC236}">
                <a16:creationId xmlns:a16="http://schemas.microsoft.com/office/drawing/2014/main" id="{9E43A451-7D0F-717D-4E55-01F00CD017DC}"/>
              </a:ext>
            </a:extLst>
          </p:cNvPr>
          <p:cNvSpPr txBox="1"/>
          <p:nvPr/>
        </p:nvSpPr>
        <p:spPr>
          <a:xfrm>
            <a:off x="9620451" y="5079235"/>
            <a:ext cx="1359424" cy="253916"/>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srgbClr val="0199FF">
                    <a:lumMod val="50000"/>
                  </a:srgbClr>
                </a:solidFill>
                <a:effectLst/>
                <a:uLnTx/>
                <a:uFillTx/>
                <a:latin typeface="Yekan Bakh" pitchFamily="2" charset="-78"/>
                <a:ea typeface="Yekan Bakh" pitchFamily="2" charset="-78"/>
                <a:cs typeface="Yekan Bakh" pitchFamily="2" charset="-78"/>
              </a:rPr>
              <a:t>مدل تعامل </a:t>
            </a:r>
            <a:r>
              <a:rPr kumimoji="0" lang="fa-IR" sz="1050" b="1" i="0" u="none" strike="noStrike" kern="1200" cap="none" spc="0" normalizeH="0" baseline="0" noProof="0" dirty="0" err="1">
                <a:ln>
                  <a:noFill/>
                </a:ln>
                <a:solidFill>
                  <a:srgbClr val="0199FF">
                    <a:lumMod val="50000"/>
                  </a:srgbClr>
                </a:solidFill>
                <a:effectLst/>
                <a:uLnTx/>
                <a:uFillTx/>
                <a:latin typeface="Yekan Bakh" pitchFamily="2" charset="-78"/>
                <a:ea typeface="Yekan Bakh" pitchFamily="2" charset="-78"/>
                <a:cs typeface="Yekan Bakh" pitchFamily="2" charset="-78"/>
              </a:rPr>
              <a:t>ترجیحی</a:t>
            </a:r>
            <a:endParaRPr kumimoji="0" lang="en-US" sz="1050" b="1" i="0" u="none" strike="noStrike" kern="1200" cap="none" spc="0" normalizeH="0" baseline="0" noProof="0" dirty="0">
              <a:ln>
                <a:noFill/>
              </a:ln>
              <a:solidFill>
                <a:srgbClr val="0199FF">
                  <a:lumMod val="50000"/>
                </a:srgbClr>
              </a:solidFill>
              <a:effectLst/>
              <a:uLnTx/>
              <a:uFillTx/>
              <a:latin typeface="Yekan Bakh" pitchFamily="2" charset="-78"/>
              <a:ea typeface="Yekan Bakh" pitchFamily="2" charset="-78"/>
              <a:cs typeface="Yekan Bakh" pitchFamily="2" charset="-78"/>
            </a:endParaRPr>
          </a:p>
        </p:txBody>
      </p:sp>
      <p:sp>
        <p:nvSpPr>
          <p:cNvPr id="52" name="TextBox 51">
            <a:extLst>
              <a:ext uri="{FF2B5EF4-FFF2-40B4-BE49-F238E27FC236}">
                <a16:creationId xmlns:a16="http://schemas.microsoft.com/office/drawing/2014/main" id="{A7023D5A-1214-87BF-3403-DF7F104A25AD}"/>
              </a:ext>
            </a:extLst>
          </p:cNvPr>
          <p:cNvSpPr txBox="1"/>
          <p:nvPr/>
        </p:nvSpPr>
        <p:spPr>
          <a:xfrm>
            <a:off x="6129339" y="5371623"/>
            <a:ext cx="4954286" cy="430887"/>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ماموریت با محدوده مشخص تحت یک قرارداد همکاری با شرایط پرداخت مرحله‌ای، که از فاز معرفی آغاز می‌شود نه در زمان بستن معامله.</a:t>
            </a:r>
            <a:endParaRPr kumimoji="0" lang="en-US" sz="11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55" name="Rectangle 54">
            <a:extLst>
              <a:ext uri="{FF2B5EF4-FFF2-40B4-BE49-F238E27FC236}">
                <a16:creationId xmlns:a16="http://schemas.microsoft.com/office/drawing/2014/main" id="{55E52953-53EA-7323-47C5-F5E2A6E1E987}"/>
              </a:ext>
            </a:extLst>
          </p:cNvPr>
          <p:cNvSpPr/>
          <p:nvPr/>
        </p:nvSpPr>
        <p:spPr>
          <a:xfrm>
            <a:off x="758391" y="4436191"/>
            <a:ext cx="5093134" cy="1497884"/>
          </a:xfrm>
          <a:prstGeom prst="rect">
            <a:avLst/>
          </a:prstGeom>
          <a:noFill/>
          <a:ln w="6350">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57" name="TextBox 56">
            <a:extLst>
              <a:ext uri="{FF2B5EF4-FFF2-40B4-BE49-F238E27FC236}">
                <a16:creationId xmlns:a16="http://schemas.microsoft.com/office/drawing/2014/main" id="{1FB6B463-34A4-28CA-C6CF-65F51F60C640}"/>
              </a:ext>
            </a:extLst>
          </p:cNvPr>
          <p:cNvSpPr txBox="1"/>
          <p:nvPr/>
        </p:nvSpPr>
        <p:spPr>
          <a:xfrm>
            <a:off x="4134051" y="4323336"/>
            <a:ext cx="1549924" cy="261610"/>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srgbClr val="0199FF">
                    <a:lumMod val="50000"/>
                  </a:srgbClr>
                </a:solidFill>
                <a:effectLst/>
                <a:uLnTx/>
                <a:uFillTx/>
                <a:latin typeface="Yekan Bakh" pitchFamily="2" charset="-78"/>
                <a:ea typeface="Yekan Bakh" pitchFamily="2" charset="-78"/>
                <a:cs typeface="Yekan Bakh" pitchFamily="2" charset="-78"/>
              </a:rPr>
              <a:t>معیارهای احراز صلاحیت</a:t>
            </a:r>
            <a:endParaRPr kumimoji="0" lang="en-US" sz="1050" b="1" i="0" u="none" strike="noStrike" kern="1200" cap="none" spc="0" normalizeH="0" baseline="0" noProof="0" dirty="0">
              <a:ln>
                <a:noFill/>
              </a:ln>
              <a:solidFill>
                <a:srgbClr val="0199FF">
                  <a:lumMod val="50000"/>
                </a:srgbClr>
              </a:solidFill>
              <a:effectLst/>
              <a:uLnTx/>
              <a:uFillTx/>
              <a:latin typeface="Yekan Bakh" pitchFamily="2" charset="-78"/>
              <a:ea typeface="Yekan Bakh" pitchFamily="2" charset="-78"/>
              <a:cs typeface="Yekan Bakh" pitchFamily="2" charset="-78"/>
            </a:endParaRPr>
          </a:p>
        </p:txBody>
      </p:sp>
      <p:sp>
        <p:nvSpPr>
          <p:cNvPr id="60" name="TextBox 59">
            <a:extLst>
              <a:ext uri="{FF2B5EF4-FFF2-40B4-BE49-F238E27FC236}">
                <a16:creationId xmlns:a16="http://schemas.microsoft.com/office/drawing/2014/main" id="{39C35CF8-7441-6B33-322D-431FD603BE8E}"/>
              </a:ext>
            </a:extLst>
          </p:cNvPr>
          <p:cNvSpPr txBox="1"/>
          <p:nvPr/>
        </p:nvSpPr>
        <p:spPr>
          <a:xfrm>
            <a:off x="833439" y="4615724"/>
            <a:ext cx="4954286" cy="769441"/>
          </a:xfrm>
          <a:prstGeom prst="rect">
            <a:avLst/>
          </a:prstGeom>
          <a:noFill/>
        </p:spPr>
        <p:txBody>
          <a:bodyPr wrap="square">
            <a:spAutoFit/>
          </a:bodyPr>
          <a:lstStyle/>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پاسخگویی حقوقی و شفافیت مالکیتی</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عبور از غربالگری و سطح مشخصی از قابلیت‎ها و توانمندی </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تمایل و قابلیت پرداخت</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انتظارات واقعی از ریسک</a:t>
            </a:r>
            <a:endParaRPr kumimoji="0" lang="en-US"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63" name="Rectangle 62">
            <a:extLst>
              <a:ext uri="{FF2B5EF4-FFF2-40B4-BE49-F238E27FC236}">
                <a16:creationId xmlns:a16="http://schemas.microsoft.com/office/drawing/2014/main" id="{A799E140-E9CC-8BC4-F2EB-03B974ACEB4C}"/>
              </a:ext>
            </a:extLst>
          </p:cNvPr>
          <p:cNvSpPr/>
          <p:nvPr/>
        </p:nvSpPr>
        <p:spPr>
          <a:xfrm>
            <a:off x="723175" y="3060636"/>
            <a:ext cx="5093134" cy="1034477"/>
          </a:xfrm>
          <a:prstGeom prst="rect">
            <a:avLst/>
          </a:prstGeom>
          <a:noFill/>
          <a:ln w="6350">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65" name="TextBox 64">
            <a:extLst>
              <a:ext uri="{FF2B5EF4-FFF2-40B4-BE49-F238E27FC236}">
                <a16:creationId xmlns:a16="http://schemas.microsoft.com/office/drawing/2014/main" id="{A9AAE09A-B673-AAF7-A189-64E9281B7902}"/>
              </a:ext>
            </a:extLst>
          </p:cNvPr>
          <p:cNvSpPr txBox="1"/>
          <p:nvPr/>
        </p:nvSpPr>
        <p:spPr>
          <a:xfrm>
            <a:off x="4485373" y="2947781"/>
            <a:ext cx="1163386" cy="261610"/>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err="1">
                <a:ln>
                  <a:noFill/>
                </a:ln>
                <a:solidFill>
                  <a:srgbClr val="0199FF">
                    <a:lumMod val="50000"/>
                  </a:srgbClr>
                </a:solidFill>
                <a:effectLst/>
                <a:uLnTx/>
                <a:uFillTx/>
                <a:latin typeface="Yekan Bakh" pitchFamily="2" charset="-78"/>
                <a:ea typeface="Yekan Bakh" pitchFamily="2" charset="-78"/>
                <a:cs typeface="Yekan Bakh" pitchFamily="2" charset="-78"/>
              </a:rPr>
              <a:t>ریسک‌های</a:t>
            </a:r>
            <a:r>
              <a:rPr kumimoji="0" lang="fa-IR" sz="1050" b="1" i="0" u="none" strike="noStrike" kern="1200" cap="none" spc="0" normalizeH="0" baseline="0" noProof="0" dirty="0">
                <a:ln>
                  <a:noFill/>
                </a:ln>
                <a:solidFill>
                  <a:srgbClr val="0199FF">
                    <a:lumMod val="50000"/>
                  </a:srgbClr>
                </a:solidFill>
                <a:effectLst/>
                <a:uLnTx/>
                <a:uFillTx/>
                <a:latin typeface="Yekan Bakh" pitchFamily="2" charset="-78"/>
                <a:ea typeface="Yekan Bakh" pitchFamily="2" charset="-78"/>
                <a:cs typeface="Yekan Bakh" pitchFamily="2" charset="-78"/>
              </a:rPr>
              <a:t> کلیدی</a:t>
            </a:r>
            <a:endParaRPr kumimoji="0" lang="en-US" sz="1050" b="1" i="0" u="none" strike="noStrike" kern="1200" cap="none" spc="0" normalizeH="0" baseline="0" noProof="0" dirty="0">
              <a:ln>
                <a:noFill/>
              </a:ln>
              <a:solidFill>
                <a:srgbClr val="0199FF">
                  <a:lumMod val="50000"/>
                </a:srgbClr>
              </a:solidFill>
              <a:effectLst/>
              <a:uLnTx/>
              <a:uFillTx/>
              <a:latin typeface="Yekan Bakh" pitchFamily="2" charset="-78"/>
              <a:ea typeface="Yekan Bakh" pitchFamily="2" charset="-78"/>
              <a:cs typeface="Yekan Bakh" pitchFamily="2" charset="-78"/>
            </a:endParaRPr>
          </a:p>
        </p:txBody>
      </p:sp>
      <p:sp>
        <p:nvSpPr>
          <p:cNvPr id="68" name="TextBox 67">
            <a:extLst>
              <a:ext uri="{FF2B5EF4-FFF2-40B4-BE49-F238E27FC236}">
                <a16:creationId xmlns:a16="http://schemas.microsoft.com/office/drawing/2014/main" id="{8FAF064C-E997-9D30-270D-9DA2155C56F4}"/>
              </a:ext>
            </a:extLst>
          </p:cNvPr>
          <p:cNvSpPr txBox="1"/>
          <p:nvPr/>
        </p:nvSpPr>
        <p:spPr>
          <a:xfrm>
            <a:off x="798223" y="3170596"/>
            <a:ext cx="4954286" cy="938719"/>
          </a:xfrm>
          <a:prstGeom prst="rect">
            <a:avLst/>
          </a:prstGeom>
          <a:noFill/>
        </p:spPr>
        <p:txBody>
          <a:bodyPr wrap="square">
            <a:spAutoFit/>
          </a:bodyPr>
          <a:lstStyle/>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وتوی بخش انطباق که هیچ استدلال تجاری نمی‌تواند بر آن غلبه کند.</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بازگشت شرایط محیطی و بیرونی در میانه‌راه تعامل.</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آسیب اعتباری غیرهم‌سنگ و شدید حاصل از حتی یک معامله شکست‌خورده.</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چرخه‌های طولانی پیشبرد معاملات که ظرفیت زیادی از مدیران ارشد به خود می‌گیرد.</a:t>
            </a:r>
            <a:endParaRPr kumimoji="0" lang="en-US" sz="11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Tree>
    <p:extLst>
      <p:ext uri="{BB962C8B-B14F-4D97-AF65-F5344CB8AC3E}">
        <p14:creationId xmlns:p14="http://schemas.microsoft.com/office/powerpoint/2010/main" val="18233269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6A625C-0D6D-A6A8-74D5-68CA8893E298}"/>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7DDC8959-20C9-6EC8-1C98-18DBECA1A939}"/>
              </a:ext>
            </a:extLst>
          </p:cNvPr>
          <p:cNvSpPr/>
          <p:nvPr/>
        </p:nvSpPr>
        <p:spPr>
          <a:xfrm>
            <a:off x="0" y="0"/>
            <a:ext cx="11703050" cy="1417320"/>
          </a:xfrm>
          <a:prstGeom prst="rect">
            <a:avLst/>
          </a:prstGeom>
          <a:solidFill>
            <a:srgbClr val="92D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Calibri"/>
            </a:endParaRPr>
          </a:p>
        </p:txBody>
      </p:sp>
      <p:sp>
        <p:nvSpPr>
          <p:cNvPr id="2" name="Text Placeholder 1">
            <a:extLst>
              <a:ext uri="{FF2B5EF4-FFF2-40B4-BE49-F238E27FC236}">
                <a16:creationId xmlns:a16="http://schemas.microsoft.com/office/drawing/2014/main" id="{E5F90887-9A47-B634-1D3D-FB96A96B9989}"/>
              </a:ext>
            </a:extLst>
          </p:cNvPr>
          <p:cNvSpPr>
            <a:spLocks noGrp="1"/>
          </p:cNvSpPr>
          <p:nvPr>
            <p:ph type="body" sz="quarter" idx="10"/>
          </p:nvPr>
        </p:nvSpPr>
        <p:spPr/>
        <p:txBody>
          <a:bodyPr/>
          <a:lstStyle/>
          <a:p>
            <a:r>
              <a:rPr lang="fa-IR"/>
              <a:t>پروفایل بخش‌های مشتری</a:t>
            </a:r>
            <a:endParaRPr lang="fa-IR" dirty="0"/>
          </a:p>
        </p:txBody>
      </p:sp>
      <p:sp>
        <p:nvSpPr>
          <p:cNvPr id="3" name="Text Placeholder 2">
            <a:extLst>
              <a:ext uri="{FF2B5EF4-FFF2-40B4-BE49-F238E27FC236}">
                <a16:creationId xmlns:a16="http://schemas.microsoft.com/office/drawing/2014/main" id="{6D654077-4232-D1E2-F14D-339042CAE86F}"/>
              </a:ext>
            </a:extLst>
          </p:cNvPr>
          <p:cNvSpPr>
            <a:spLocks noGrp="1"/>
          </p:cNvSpPr>
          <p:nvPr>
            <p:ph type="body" sz="quarter" idx="12"/>
          </p:nvPr>
        </p:nvSpPr>
        <p:spPr/>
        <p:txBody>
          <a:bodyPr/>
          <a:lstStyle/>
          <a:p>
            <a:r>
              <a:rPr lang="fa-IR" dirty="0"/>
              <a:t>۳. کسب‌وکار مشتاق </a:t>
            </a:r>
            <a:r>
              <a:rPr lang="fa-IR" sz="1200" b="0" dirty="0">
                <a:solidFill>
                  <a:schemeClr val="tx1">
                    <a:lumMod val="65000"/>
                    <a:lumOff val="35000"/>
                  </a:schemeClr>
                </a:solidFill>
              </a:rPr>
              <a:t>(1/2)</a:t>
            </a:r>
          </a:p>
          <a:p>
            <a:r>
              <a:rPr lang="fa-IR" sz="1100" b="0" dirty="0">
                <a:solidFill>
                  <a:schemeClr val="tx1">
                    <a:lumMod val="65000"/>
                    <a:lumOff val="35000"/>
                  </a:schemeClr>
                </a:solidFill>
              </a:rPr>
              <a:t>یک شرکت ایرانی با هدف بین‌مرزی مشابه گروه ۱ که البته از فیلتر «قابلیت معامله» عبور نمی‌کند. ضعف در حاکمیت شرکتی، شفافیت مالی، مستندسازی، گواهی‌ها، انطباق با استانداردها یا توانمندی اثبات‌شده در تحویل، باعث می‌شود طرف خارجی نتواند با آن وارد همکاری شود. </a:t>
            </a:r>
            <a:r>
              <a:rPr lang="fa-IR" sz="1000" b="0" dirty="0">
                <a:solidFill>
                  <a:schemeClr val="tx1">
                    <a:lumMod val="65000"/>
                    <a:lumOff val="35000"/>
                  </a:schemeClr>
                </a:solidFill>
              </a:rPr>
              <a:t>معرفی چنین شرکتی نه‌تنها احتمال موفقیت ندارد، بلکه اعتبار کل اکوسیستم را نیز خدشه‌دار می‌کند.</a:t>
            </a:r>
            <a:endParaRPr lang="fa-IR" sz="1100" b="0" dirty="0">
              <a:solidFill>
                <a:schemeClr val="tx1">
                  <a:lumMod val="65000"/>
                  <a:lumOff val="35000"/>
                </a:schemeClr>
              </a:solidFill>
            </a:endParaRPr>
          </a:p>
        </p:txBody>
      </p:sp>
      <p:sp>
        <p:nvSpPr>
          <p:cNvPr id="6" name="Rectangle 5">
            <a:extLst>
              <a:ext uri="{FF2B5EF4-FFF2-40B4-BE49-F238E27FC236}">
                <a16:creationId xmlns:a16="http://schemas.microsoft.com/office/drawing/2014/main" id="{7F55B27B-8FF7-0133-6FC7-2D6EFB0E67D5}"/>
              </a:ext>
            </a:extLst>
          </p:cNvPr>
          <p:cNvSpPr/>
          <p:nvPr/>
        </p:nvSpPr>
        <p:spPr>
          <a:xfrm>
            <a:off x="6054291" y="1718108"/>
            <a:ext cx="5093134" cy="654733"/>
          </a:xfrm>
          <a:prstGeom prst="rect">
            <a:avLst/>
          </a:prstGeom>
          <a:noFill/>
          <a:ln w="635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9" name="TextBox 8">
            <a:extLst>
              <a:ext uri="{FF2B5EF4-FFF2-40B4-BE49-F238E27FC236}">
                <a16:creationId xmlns:a16="http://schemas.microsoft.com/office/drawing/2014/main" id="{F0C67523-7195-2688-C8EA-A84BA7590551}"/>
              </a:ext>
            </a:extLst>
          </p:cNvPr>
          <p:cNvSpPr txBox="1"/>
          <p:nvPr/>
        </p:nvSpPr>
        <p:spPr>
          <a:xfrm>
            <a:off x="9697453" y="1605252"/>
            <a:ext cx="1282422" cy="261610"/>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srgbClr val="92D050"/>
                </a:solidFill>
                <a:effectLst/>
                <a:uLnTx/>
                <a:uFillTx/>
                <a:latin typeface="Yekan Bakh" pitchFamily="2" charset="-78"/>
                <a:ea typeface="Yekan Bakh" pitchFamily="2" charset="-78"/>
                <a:cs typeface="Yekan Bakh" pitchFamily="2" charset="-78"/>
              </a:rPr>
              <a:t>نقش اصلی مشتری</a:t>
            </a:r>
            <a:endParaRPr kumimoji="0" lang="en-US" sz="1050" b="1" i="0" u="none" strike="noStrike" kern="1200" cap="none" spc="0" normalizeH="0" baseline="0" noProof="0" dirty="0">
              <a:ln>
                <a:noFill/>
              </a:ln>
              <a:solidFill>
                <a:srgbClr val="92D050"/>
              </a:solidFill>
              <a:effectLst/>
              <a:uLnTx/>
              <a:uFillTx/>
              <a:latin typeface="Yekan Bakh" pitchFamily="2" charset="-78"/>
              <a:ea typeface="Yekan Bakh" pitchFamily="2" charset="-78"/>
              <a:cs typeface="Yekan Bakh" pitchFamily="2" charset="-78"/>
            </a:endParaRPr>
          </a:p>
        </p:txBody>
      </p:sp>
      <p:sp>
        <p:nvSpPr>
          <p:cNvPr id="12" name="TextBox 11">
            <a:extLst>
              <a:ext uri="{FF2B5EF4-FFF2-40B4-BE49-F238E27FC236}">
                <a16:creationId xmlns:a16="http://schemas.microsoft.com/office/drawing/2014/main" id="{602C8167-CCA9-BD10-9D49-DBDBE5748E30}"/>
              </a:ext>
            </a:extLst>
          </p:cNvPr>
          <p:cNvSpPr txBox="1"/>
          <p:nvPr/>
        </p:nvSpPr>
        <p:spPr>
          <a:xfrm>
            <a:off x="6129339" y="1897640"/>
            <a:ext cx="4954286" cy="430887"/>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مشتری اقتصادی خدمات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آماده‌سازی</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و ارتقای آمادگی؛ شرکتی که در آینده می‌تواند به یک مشتری گروه یک تبدیل شود.</a:t>
            </a:r>
            <a:endParaRPr kumimoji="0" lang="en-US"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15" name="Rectangle 14">
            <a:extLst>
              <a:ext uri="{FF2B5EF4-FFF2-40B4-BE49-F238E27FC236}">
                <a16:creationId xmlns:a16="http://schemas.microsoft.com/office/drawing/2014/main" id="{3306D96D-4479-C47A-DB1F-4953E8542D32}"/>
              </a:ext>
            </a:extLst>
          </p:cNvPr>
          <p:cNvSpPr/>
          <p:nvPr/>
        </p:nvSpPr>
        <p:spPr>
          <a:xfrm>
            <a:off x="6054291" y="2516475"/>
            <a:ext cx="5093134" cy="674400"/>
          </a:xfrm>
          <a:prstGeom prst="rect">
            <a:avLst/>
          </a:prstGeom>
          <a:noFill/>
          <a:ln w="635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17" name="TextBox 16">
            <a:extLst>
              <a:ext uri="{FF2B5EF4-FFF2-40B4-BE49-F238E27FC236}">
                <a16:creationId xmlns:a16="http://schemas.microsoft.com/office/drawing/2014/main" id="{6E8F4E59-F5CA-C42A-3F54-F0585021D47A}"/>
              </a:ext>
            </a:extLst>
          </p:cNvPr>
          <p:cNvSpPr txBox="1"/>
          <p:nvPr/>
        </p:nvSpPr>
        <p:spPr>
          <a:xfrm>
            <a:off x="9697453" y="2403619"/>
            <a:ext cx="1282422" cy="253916"/>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srgbClr val="92D050"/>
                </a:solidFill>
                <a:effectLst/>
                <a:uLnTx/>
                <a:uFillTx/>
                <a:latin typeface="Yekan Bakh" pitchFamily="2" charset="-78"/>
                <a:ea typeface="Yekan Bakh" pitchFamily="2" charset="-78"/>
                <a:cs typeface="Yekan Bakh" pitchFamily="2" charset="-78"/>
              </a:rPr>
              <a:t>نیاز محوری مشتری</a:t>
            </a:r>
            <a:endParaRPr kumimoji="0" lang="en-US" sz="1050" b="1" i="0" u="none" strike="noStrike" kern="1200" cap="none" spc="0" normalizeH="0" baseline="0" noProof="0" dirty="0">
              <a:ln>
                <a:noFill/>
              </a:ln>
              <a:solidFill>
                <a:srgbClr val="92D050"/>
              </a:solidFill>
              <a:effectLst/>
              <a:uLnTx/>
              <a:uFillTx/>
              <a:latin typeface="Yekan Bakh" pitchFamily="2" charset="-78"/>
              <a:ea typeface="Yekan Bakh" pitchFamily="2" charset="-78"/>
              <a:cs typeface="Yekan Bakh" pitchFamily="2" charset="-78"/>
            </a:endParaRPr>
          </a:p>
        </p:txBody>
      </p:sp>
      <p:sp>
        <p:nvSpPr>
          <p:cNvPr id="20" name="TextBox 19">
            <a:extLst>
              <a:ext uri="{FF2B5EF4-FFF2-40B4-BE49-F238E27FC236}">
                <a16:creationId xmlns:a16="http://schemas.microsoft.com/office/drawing/2014/main" id="{79585907-70A8-530E-8367-BD4F821CC87F}"/>
              </a:ext>
            </a:extLst>
          </p:cNvPr>
          <p:cNvSpPr txBox="1"/>
          <p:nvPr/>
        </p:nvSpPr>
        <p:spPr>
          <a:xfrm>
            <a:off x="5990491" y="2696007"/>
            <a:ext cx="5093134" cy="261610"/>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کسب اعتبار و آمادگی ساختاری لازم برای معرفی به طرف خارجی </a:t>
            </a:r>
            <a:endParaRPr kumimoji="0" lang="en-US"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23" name="Rectangle 22">
            <a:extLst>
              <a:ext uri="{FF2B5EF4-FFF2-40B4-BE49-F238E27FC236}">
                <a16:creationId xmlns:a16="http://schemas.microsoft.com/office/drawing/2014/main" id="{E0EB8331-5519-4CBE-5159-3312D929C396}"/>
              </a:ext>
            </a:extLst>
          </p:cNvPr>
          <p:cNvSpPr/>
          <p:nvPr/>
        </p:nvSpPr>
        <p:spPr>
          <a:xfrm>
            <a:off x="6054291" y="3513710"/>
            <a:ext cx="5093134" cy="1034477"/>
          </a:xfrm>
          <a:prstGeom prst="rect">
            <a:avLst/>
          </a:prstGeom>
          <a:noFill/>
          <a:ln w="635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26" name="TextBox 25">
            <a:extLst>
              <a:ext uri="{FF2B5EF4-FFF2-40B4-BE49-F238E27FC236}">
                <a16:creationId xmlns:a16="http://schemas.microsoft.com/office/drawing/2014/main" id="{FC02DEC8-C1CA-7EE8-36B3-298CED98163F}"/>
              </a:ext>
            </a:extLst>
          </p:cNvPr>
          <p:cNvSpPr txBox="1"/>
          <p:nvPr/>
        </p:nvSpPr>
        <p:spPr>
          <a:xfrm>
            <a:off x="8768615" y="3400855"/>
            <a:ext cx="2211260" cy="261610"/>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err="1">
                <a:ln>
                  <a:noFill/>
                </a:ln>
                <a:solidFill>
                  <a:srgbClr val="92D050"/>
                </a:solidFill>
                <a:effectLst/>
                <a:uLnTx/>
                <a:uFillTx/>
                <a:latin typeface="Yekan Bakh" pitchFamily="2" charset="-78"/>
                <a:ea typeface="Yekan Bakh" pitchFamily="2" charset="-78"/>
                <a:cs typeface="Yekan Bakh" pitchFamily="2" charset="-78"/>
              </a:rPr>
              <a:t>فعالیت‌های</a:t>
            </a:r>
            <a:r>
              <a:rPr kumimoji="0" lang="fa-IR" sz="1050" b="1" i="0" u="none" strike="noStrike" kern="1200" cap="none" spc="0" normalizeH="0" baseline="0" noProof="0" dirty="0">
                <a:ln>
                  <a:noFill/>
                </a:ln>
                <a:solidFill>
                  <a:srgbClr val="92D050"/>
                </a:solidFill>
                <a:effectLst/>
                <a:uLnTx/>
                <a:uFillTx/>
                <a:latin typeface="Yekan Bakh" pitchFamily="2" charset="-78"/>
                <a:ea typeface="Yekan Bakh" pitchFamily="2" charset="-78"/>
                <a:cs typeface="Yekan Bakh" pitchFamily="2" charset="-78"/>
              </a:rPr>
              <a:t> کلیدی نیازمند به سیمرغ</a:t>
            </a:r>
            <a:endParaRPr kumimoji="0" lang="en-US" sz="1050" b="1" i="0" u="none" strike="noStrike" kern="1200" cap="none" spc="0" normalizeH="0" baseline="0" noProof="0" dirty="0">
              <a:ln>
                <a:noFill/>
              </a:ln>
              <a:solidFill>
                <a:srgbClr val="92D050"/>
              </a:solidFill>
              <a:effectLst/>
              <a:uLnTx/>
              <a:uFillTx/>
              <a:latin typeface="Yekan Bakh" pitchFamily="2" charset="-78"/>
              <a:ea typeface="Yekan Bakh" pitchFamily="2" charset="-78"/>
              <a:cs typeface="Yekan Bakh" pitchFamily="2" charset="-78"/>
            </a:endParaRPr>
          </a:p>
        </p:txBody>
      </p:sp>
      <p:sp>
        <p:nvSpPr>
          <p:cNvPr id="29" name="TextBox 28">
            <a:extLst>
              <a:ext uri="{FF2B5EF4-FFF2-40B4-BE49-F238E27FC236}">
                <a16:creationId xmlns:a16="http://schemas.microsoft.com/office/drawing/2014/main" id="{C7D1FF55-E5DD-802E-FC9D-3BEA599B4343}"/>
              </a:ext>
            </a:extLst>
          </p:cNvPr>
          <p:cNvSpPr txBox="1"/>
          <p:nvPr/>
        </p:nvSpPr>
        <p:spPr>
          <a:xfrm>
            <a:off x="6129339" y="3693243"/>
            <a:ext cx="4954286" cy="600164"/>
          </a:xfrm>
          <a:prstGeom prst="rect">
            <a:avLst/>
          </a:prstGeom>
          <a:noFill/>
        </p:spPr>
        <p:txBody>
          <a:bodyPr wrap="square">
            <a:spAutoFit/>
          </a:bodyPr>
          <a:lstStyle/>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شناسایی شفاف و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بی‌طرف</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دلایلی که طرف خارجی حاضر به همکاری با او نیست</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برطرف کردن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شکاف‌هایی</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که مانع معرفی و انجام معامله هستند</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دریافت گواهی یا اعتباری که برای اکوسیستم و شرکای خارجی قابل اتکا باشد</a:t>
            </a:r>
            <a:endParaRPr kumimoji="0" lang="en-US"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32" name="Rectangle 31">
            <a:extLst>
              <a:ext uri="{FF2B5EF4-FFF2-40B4-BE49-F238E27FC236}">
                <a16:creationId xmlns:a16="http://schemas.microsoft.com/office/drawing/2014/main" id="{6A9415E0-CAB5-9040-36C5-01C0A25F02F8}"/>
              </a:ext>
            </a:extLst>
          </p:cNvPr>
          <p:cNvSpPr/>
          <p:nvPr/>
        </p:nvSpPr>
        <p:spPr>
          <a:xfrm>
            <a:off x="6054291" y="4773897"/>
            <a:ext cx="5093134" cy="1160178"/>
          </a:xfrm>
          <a:prstGeom prst="rect">
            <a:avLst/>
          </a:prstGeom>
          <a:noFill/>
          <a:ln w="635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35" name="TextBox 34">
            <a:extLst>
              <a:ext uri="{FF2B5EF4-FFF2-40B4-BE49-F238E27FC236}">
                <a16:creationId xmlns:a16="http://schemas.microsoft.com/office/drawing/2014/main" id="{A040C9F6-5DF0-F92C-700F-57E3EEA38FC9}"/>
              </a:ext>
            </a:extLst>
          </p:cNvPr>
          <p:cNvSpPr txBox="1"/>
          <p:nvPr/>
        </p:nvSpPr>
        <p:spPr>
          <a:xfrm>
            <a:off x="9510963" y="4661042"/>
            <a:ext cx="1468912" cy="253916"/>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srgbClr val="92D050"/>
                </a:solidFill>
                <a:effectLst/>
                <a:uLnTx/>
                <a:uFillTx/>
                <a:latin typeface="Yekan Bakh" pitchFamily="2" charset="-78"/>
                <a:ea typeface="Yekan Bakh" pitchFamily="2" charset="-78"/>
                <a:cs typeface="Yekan Bakh" pitchFamily="2" charset="-78"/>
              </a:rPr>
              <a:t>رفتارهای سازمانی غالب</a:t>
            </a:r>
            <a:endParaRPr kumimoji="0" lang="en-US" sz="1050" b="1" i="0" u="none" strike="noStrike" kern="1200" cap="none" spc="0" normalizeH="0" baseline="0" noProof="0" dirty="0">
              <a:ln>
                <a:noFill/>
              </a:ln>
              <a:solidFill>
                <a:srgbClr val="92D050"/>
              </a:solidFill>
              <a:effectLst/>
              <a:uLnTx/>
              <a:uFillTx/>
              <a:latin typeface="Yekan Bakh" pitchFamily="2" charset="-78"/>
              <a:ea typeface="Yekan Bakh" pitchFamily="2" charset="-78"/>
              <a:cs typeface="Yekan Bakh" pitchFamily="2" charset="-78"/>
            </a:endParaRPr>
          </a:p>
        </p:txBody>
      </p:sp>
      <p:sp>
        <p:nvSpPr>
          <p:cNvPr id="38" name="TextBox 37">
            <a:extLst>
              <a:ext uri="{FF2B5EF4-FFF2-40B4-BE49-F238E27FC236}">
                <a16:creationId xmlns:a16="http://schemas.microsoft.com/office/drawing/2014/main" id="{F5EC4609-B5D7-F3C1-CAF8-6B8162E9E8B7}"/>
              </a:ext>
            </a:extLst>
          </p:cNvPr>
          <p:cNvSpPr txBox="1"/>
          <p:nvPr/>
        </p:nvSpPr>
        <p:spPr>
          <a:xfrm>
            <a:off x="6129339" y="4926796"/>
            <a:ext cx="4954286" cy="900246"/>
          </a:xfrm>
          <a:prstGeom prst="rect">
            <a:avLst/>
          </a:prstGeom>
          <a:noFill/>
        </p:spPr>
        <p:txBody>
          <a:bodyPr wrap="square">
            <a:spAutoFit/>
          </a:bodyPr>
          <a:lstStyle/>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05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انگیزه بالا برای ورود به بازارهای بین‌المللی، و در عین حال ناآگاهی از </a:t>
            </a:r>
            <a:r>
              <a:rPr kumimoji="0" lang="fa-IR" sz="105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ضعف‌ها</a:t>
            </a:r>
            <a:r>
              <a:rPr kumimoji="0" lang="fa-IR" sz="105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و فاصله خود با استانداردهای لازم</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05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حساس به هزینه است و انتظار دارد اکوسیستم بخش زیادی از هزینه را تقبل کند</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05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به دنبال </a:t>
            </a:r>
            <a:r>
              <a:rPr kumimoji="0" lang="fa-IR" sz="105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میان‌بر</a:t>
            </a:r>
            <a:r>
              <a:rPr kumimoji="0" lang="fa-IR" sz="105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برای معرفی به مشتری خارجی (مهم‌ترین چالش)</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05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تصمیم‌گیری</a:t>
            </a:r>
            <a:r>
              <a:rPr kumimoji="0" lang="fa-IR" sz="105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معمولا کند و وابسته به مالک یا مدیرعامل</a:t>
            </a:r>
          </a:p>
        </p:txBody>
      </p:sp>
      <p:sp>
        <p:nvSpPr>
          <p:cNvPr id="41" name="Rectangle 40">
            <a:extLst>
              <a:ext uri="{FF2B5EF4-FFF2-40B4-BE49-F238E27FC236}">
                <a16:creationId xmlns:a16="http://schemas.microsoft.com/office/drawing/2014/main" id="{D9B7BCD6-3CFA-9253-8CF9-7CC62F97252B}"/>
              </a:ext>
            </a:extLst>
          </p:cNvPr>
          <p:cNvSpPr/>
          <p:nvPr/>
        </p:nvSpPr>
        <p:spPr>
          <a:xfrm>
            <a:off x="723175" y="1718108"/>
            <a:ext cx="5093134" cy="1034477"/>
          </a:xfrm>
          <a:prstGeom prst="rect">
            <a:avLst/>
          </a:prstGeom>
          <a:noFill/>
          <a:ln w="635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44" name="TextBox 43">
            <a:extLst>
              <a:ext uri="{FF2B5EF4-FFF2-40B4-BE49-F238E27FC236}">
                <a16:creationId xmlns:a16="http://schemas.microsoft.com/office/drawing/2014/main" id="{79BEAF40-7B2B-8591-4B7A-75748A13A6BF}"/>
              </a:ext>
            </a:extLst>
          </p:cNvPr>
          <p:cNvSpPr txBox="1"/>
          <p:nvPr/>
        </p:nvSpPr>
        <p:spPr>
          <a:xfrm>
            <a:off x="3922295" y="1605253"/>
            <a:ext cx="1726464" cy="261610"/>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srgbClr val="92D050"/>
                </a:solidFill>
                <a:effectLst/>
                <a:uLnTx/>
                <a:uFillTx/>
                <a:latin typeface="Yekan Bakh" pitchFamily="2" charset="-78"/>
                <a:ea typeface="Yekan Bakh" pitchFamily="2" charset="-78"/>
                <a:cs typeface="Yekan Bakh" pitchFamily="2" charset="-78"/>
              </a:rPr>
              <a:t>ویژگی‌های شرکتی تاثیرگذار </a:t>
            </a:r>
            <a:endParaRPr kumimoji="0" lang="en-US" sz="1050" b="1" i="0" u="none" strike="noStrike" kern="1200" cap="none" spc="0" normalizeH="0" baseline="0" noProof="0" dirty="0">
              <a:ln>
                <a:noFill/>
              </a:ln>
              <a:solidFill>
                <a:srgbClr val="92D050"/>
              </a:solidFill>
              <a:effectLst/>
              <a:uLnTx/>
              <a:uFillTx/>
              <a:latin typeface="Yekan Bakh" pitchFamily="2" charset="-78"/>
              <a:ea typeface="Yekan Bakh" pitchFamily="2" charset="-78"/>
              <a:cs typeface="Yekan Bakh" pitchFamily="2" charset="-78"/>
            </a:endParaRPr>
          </a:p>
        </p:txBody>
      </p:sp>
      <p:sp>
        <p:nvSpPr>
          <p:cNvPr id="47" name="TextBox 46">
            <a:extLst>
              <a:ext uri="{FF2B5EF4-FFF2-40B4-BE49-F238E27FC236}">
                <a16:creationId xmlns:a16="http://schemas.microsoft.com/office/drawing/2014/main" id="{D9E50055-2749-7C11-EE6B-6B136004886F}"/>
              </a:ext>
            </a:extLst>
          </p:cNvPr>
          <p:cNvSpPr txBox="1"/>
          <p:nvPr/>
        </p:nvSpPr>
        <p:spPr>
          <a:xfrm>
            <a:off x="798223" y="1897641"/>
            <a:ext cx="4954286" cy="769441"/>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عضویت در این بخش صرفا براساس ایرانی بودن تعریف می‌شود، اما معیار اصلی قرار گرفتن در آن امتیاز آمادگی است، نه اندازه یا صنعت شرکت. ممکن است یک شرکت بزرگ به دلیل ساختار مالکیت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غیرشفاف</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در این گروه قرار بگیرد، در حالی که یک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صادرکننده</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کوچک اما مستند و منظم، مستقیماً در گروه ۱ قرار گیرد.</a:t>
            </a:r>
            <a:endParaRPr kumimoji="0" lang="en-US"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50" name="Rectangle 49">
            <a:extLst>
              <a:ext uri="{FF2B5EF4-FFF2-40B4-BE49-F238E27FC236}">
                <a16:creationId xmlns:a16="http://schemas.microsoft.com/office/drawing/2014/main" id="{2521E3D3-0B31-1FDD-9CE7-584C0B036300}"/>
              </a:ext>
            </a:extLst>
          </p:cNvPr>
          <p:cNvSpPr/>
          <p:nvPr/>
        </p:nvSpPr>
        <p:spPr>
          <a:xfrm>
            <a:off x="723175" y="3088794"/>
            <a:ext cx="5093134" cy="1034477"/>
          </a:xfrm>
          <a:prstGeom prst="rect">
            <a:avLst/>
          </a:prstGeom>
          <a:noFill/>
          <a:ln w="635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53" name="TextBox 52">
            <a:extLst>
              <a:ext uri="{FF2B5EF4-FFF2-40B4-BE49-F238E27FC236}">
                <a16:creationId xmlns:a16="http://schemas.microsoft.com/office/drawing/2014/main" id="{BDFFAB3A-4DB0-A9E2-C3FD-60E85161363D}"/>
              </a:ext>
            </a:extLst>
          </p:cNvPr>
          <p:cNvSpPr txBox="1"/>
          <p:nvPr/>
        </p:nvSpPr>
        <p:spPr>
          <a:xfrm>
            <a:off x="4519061" y="2975939"/>
            <a:ext cx="1129698" cy="261610"/>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a:ln>
                  <a:noFill/>
                </a:ln>
                <a:solidFill>
                  <a:srgbClr val="92D050"/>
                </a:solidFill>
                <a:effectLst/>
                <a:uLnTx/>
                <a:uFillTx/>
                <a:latin typeface="Yekan Bakh" pitchFamily="2" charset="-78"/>
                <a:ea typeface="Yekan Bakh" pitchFamily="2" charset="-78"/>
                <a:cs typeface="Yekan Bakh" pitchFamily="2" charset="-78"/>
              </a:rPr>
              <a:t>رویدادهای محرک </a:t>
            </a:r>
            <a:endParaRPr kumimoji="0" lang="en-US" sz="1050" b="1" i="0" u="none" strike="noStrike" kern="1200" cap="none" spc="0" normalizeH="0" baseline="0" noProof="0">
              <a:ln>
                <a:noFill/>
              </a:ln>
              <a:solidFill>
                <a:srgbClr val="92D050"/>
              </a:solidFill>
              <a:effectLst/>
              <a:uLnTx/>
              <a:uFillTx/>
              <a:latin typeface="Yekan Bakh" pitchFamily="2" charset="-78"/>
              <a:ea typeface="Yekan Bakh" pitchFamily="2" charset="-78"/>
              <a:cs typeface="Yekan Bakh" pitchFamily="2" charset="-78"/>
            </a:endParaRPr>
          </a:p>
        </p:txBody>
      </p:sp>
      <p:sp>
        <p:nvSpPr>
          <p:cNvPr id="56" name="TextBox 55">
            <a:extLst>
              <a:ext uri="{FF2B5EF4-FFF2-40B4-BE49-F238E27FC236}">
                <a16:creationId xmlns:a16="http://schemas.microsoft.com/office/drawing/2014/main" id="{66C43A72-9FA4-5D55-BE4F-50E8AB3DDE70}"/>
              </a:ext>
            </a:extLst>
          </p:cNvPr>
          <p:cNvSpPr txBox="1"/>
          <p:nvPr/>
        </p:nvSpPr>
        <p:spPr>
          <a:xfrm>
            <a:off x="798223" y="3268327"/>
            <a:ext cx="4954286" cy="769441"/>
          </a:xfrm>
          <a:prstGeom prst="rect">
            <a:avLst/>
          </a:prstGeom>
          <a:noFill/>
        </p:spPr>
        <p:txBody>
          <a:bodyPr wrap="square">
            <a:spAutoFit/>
          </a:bodyPr>
          <a:lstStyle/>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رد شدن یا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بی‌پاسخ</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ماندن از سوی یک طرف خارجی</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شکست در تجربه قبلی توسعه بازارهای بین‌المللی</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دریافت بازخورد در فرایند ارزیابی گروه ۱ مبنی بر نبود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حداقل‌های</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لازم</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مشاهده موفقیت یکی از رقبا در بین‌المللی شدن</a:t>
            </a:r>
          </a:p>
        </p:txBody>
      </p:sp>
      <p:sp>
        <p:nvSpPr>
          <p:cNvPr id="59" name="Rectangle 58">
            <a:extLst>
              <a:ext uri="{FF2B5EF4-FFF2-40B4-BE49-F238E27FC236}">
                <a16:creationId xmlns:a16="http://schemas.microsoft.com/office/drawing/2014/main" id="{E212E296-A2C1-0D41-1647-2B7D492C8A43}"/>
              </a:ext>
            </a:extLst>
          </p:cNvPr>
          <p:cNvSpPr/>
          <p:nvPr/>
        </p:nvSpPr>
        <p:spPr>
          <a:xfrm>
            <a:off x="758391" y="4436191"/>
            <a:ext cx="5093134" cy="1497884"/>
          </a:xfrm>
          <a:prstGeom prst="rect">
            <a:avLst/>
          </a:prstGeom>
          <a:noFill/>
          <a:ln w="635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62" name="TextBox 61">
            <a:extLst>
              <a:ext uri="{FF2B5EF4-FFF2-40B4-BE49-F238E27FC236}">
                <a16:creationId xmlns:a16="http://schemas.microsoft.com/office/drawing/2014/main" id="{C4BE3A1C-EEDA-BAFE-040C-32E6FD2DCA74}"/>
              </a:ext>
            </a:extLst>
          </p:cNvPr>
          <p:cNvSpPr txBox="1"/>
          <p:nvPr/>
        </p:nvSpPr>
        <p:spPr>
          <a:xfrm>
            <a:off x="3922295" y="4323336"/>
            <a:ext cx="1761680" cy="261610"/>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a:ln>
                  <a:noFill/>
                </a:ln>
                <a:solidFill>
                  <a:srgbClr val="92D050"/>
                </a:solidFill>
                <a:effectLst/>
                <a:uLnTx/>
                <a:uFillTx/>
                <a:latin typeface="Yekan Bakh" pitchFamily="2" charset="-78"/>
                <a:ea typeface="Yekan Bakh" pitchFamily="2" charset="-78"/>
                <a:cs typeface="Yekan Bakh" pitchFamily="2" charset="-78"/>
              </a:rPr>
              <a:t>فرآیند خرید / تصمیم‌گیری </a:t>
            </a:r>
            <a:endParaRPr kumimoji="0" lang="en-US" sz="1050" b="1" i="0" u="none" strike="noStrike" kern="1200" cap="none" spc="0" normalizeH="0" baseline="0" noProof="0">
              <a:ln>
                <a:noFill/>
              </a:ln>
              <a:solidFill>
                <a:srgbClr val="92D050"/>
              </a:solidFill>
              <a:effectLst/>
              <a:uLnTx/>
              <a:uFillTx/>
              <a:latin typeface="Yekan Bakh" pitchFamily="2" charset="-78"/>
              <a:ea typeface="Yekan Bakh" pitchFamily="2" charset="-78"/>
              <a:cs typeface="Yekan Bakh" pitchFamily="2" charset="-78"/>
            </a:endParaRPr>
          </a:p>
        </p:txBody>
      </p:sp>
      <p:sp>
        <p:nvSpPr>
          <p:cNvPr id="66" name="TextBox 65">
            <a:extLst>
              <a:ext uri="{FF2B5EF4-FFF2-40B4-BE49-F238E27FC236}">
                <a16:creationId xmlns:a16="http://schemas.microsoft.com/office/drawing/2014/main" id="{B91F897A-C4EB-5823-BED9-D1AAD1C3D45F}"/>
              </a:ext>
            </a:extLst>
          </p:cNvPr>
          <p:cNvSpPr txBox="1"/>
          <p:nvPr/>
        </p:nvSpPr>
        <p:spPr>
          <a:xfrm>
            <a:off x="833439" y="4615724"/>
            <a:ext cx="4954286" cy="769441"/>
          </a:xfrm>
          <a:prstGeom prst="rect">
            <a:avLst/>
          </a:prstGeom>
          <a:noFill/>
        </p:spPr>
        <p:txBody>
          <a:bodyPr wrap="square">
            <a:spAutoFit/>
          </a:bodyPr>
          <a:lstStyle/>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فرایند کوتاه و عمدتا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مالک‌محور</a:t>
            </a:r>
            <a:endPar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نقطه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تعیین‌کننده</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a:t>
            </a:r>
            <a:r>
              <a:rPr kumimoji="0" lang="fa-IR" sz="1100" b="1"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پذیرش نتیجه ارزیابی</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است. موفق یا ناموفق شدن فروش معمولا در مرحله تشخیص وضعیت اتفاق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می‌افتد</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نه هنگام ارائه پیشنهاد همکاری</a:t>
            </a:r>
            <a:endParaRPr kumimoji="0" lang="en-US"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Tree>
    <p:extLst>
      <p:ext uri="{BB962C8B-B14F-4D97-AF65-F5344CB8AC3E}">
        <p14:creationId xmlns:p14="http://schemas.microsoft.com/office/powerpoint/2010/main" val="10905923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8DC71E-FFC7-40AC-54F1-4B37BB9F867C}"/>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0F3F6B86-27EB-59C5-113F-7F5A9A2A3F82}"/>
              </a:ext>
            </a:extLst>
          </p:cNvPr>
          <p:cNvSpPr/>
          <p:nvPr/>
        </p:nvSpPr>
        <p:spPr>
          <a:xfrm>
            <a:off x="0" y="0"/>
            <a:ext cx="11703050" cy="1417320"/>
          </a:xfrm>
          <a:prstGeom prst="rect">
            <a:avLst/>
          </a:prstGeom>
          <a:solidFill>
            <a:srgbClr val="92D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Calibri"/>
            </a:endParaRPr>
          </a:p>
        </p:txBody>
      </p:sp>
      <p:sp>
        <p:nvSpPr>
          <p:cNvPr id="2" name="Text Placeholder 1">
            <a:extLst>
              <a:ext uri="{FF2B5EF4-FFF2-40B4-BE49-F238E27FC236}">
                <a16:creationId xmlns:a16="http://schemas.microsoft.com/office/drawing/2014/main" id="{F580F023-7CD9-0C1C-D1D0-512EE1F7C764}"/>
              </a:ext>
            </a:extLst>
          </p:cNvPr>
          <p:cNvSpPr>
            <a:spLocks noGrp="1"/>
          </p:cNvSpPr>
          <p:nvPr>
            <p:ph type="body" sz="quarter" idx="10"/>
          </p:nvPr>
        </p:nvSpPr>
        <p:spPr/>
        <p:txBody>
          <a:bodyPr/>
          <a:lstStyle/>
          <a:p>
            <a:r>
              <a:rPr lang="fa-IR" dirty="0"/>
              <a:t>پروفایل بخش‌های مشتری</a:t>
            </a:r>
          </a:p>
        </p:txBody>
      </p:sp>
      <p:sp>
        <p:nvSpPr>
          <p:cNvPr id="3" name="Text Placeholder 2">
            <a:extLst>
              <a:ext uri="{FF2B5EF4-FFF2-40B4-BE49-F238E27FC236}">
                <a16:creationId xmlns:a16="http://schemas.microsoft.com/office/drawing/2014/main" id="{BDEF0EDC-DA40-7A8E-50F7-07EDCE80B8A2}"/>
              </a:ext>
            </a:extLst>
          </p:cNvPr>
          <p:cNvSpPr>
            <a:spLocks noGrp="1"/>
          </p:cNvSpPr>
          <p:nvPr>
            <p:ph type="body" sz="quarter" idx="12"/>
          </p:nvPr>
        </p:nvSpPr>
        <p:spPr/>
        <p:txBody>
          <a:bodyPr/>
          <a:lstStyle/>
          <a:p>
            <a:r>
              <a:rPr lang="fa-IR" dirty="0"/>
              <a:t>۳. کسب‌وکار مشتاق </a:t>
            </a:r>
            <a:r>
              <a:rPr lang="fa-IR" sz="1200" b="0" dirty="0">
                <a:solidFill>
                  <a:schemeClr val="tx1">
                    <a:lumMod val="65000"/>
                    <a:lumOff val="35000"/>
                  </a:schemeClr>
                </a:solidFill>
              </a:rPr>
              <a:t>(2/2)</a:t>
            </a:r>
          </a:p>
          <a:p>
            <a:r>
              <a:rPr lang="fa-IR" sz="1100" b="0" dirty="0">
                <a:solidFill>
                  <a:schemeClr val="tx1">
                    <a:lumMod val="65000"/>
                    <a:lumOff val="35000"/>
                  </a:schemeClr>
                </a:solidFill>
              </a:rPr>
              <a:t>یک شرکت ایرانی با هدف بین‌مرزی مشابه گروه ۱ که البته از فیلتر «قابلیت معامله» عبور نمی‌کند. ضعف در حاکمیت شرکتی، شفافیت مالی، مستندسازی، گواهی‌ها، انطباق با استانداردها یا توانمندی اثبات‌شده در تحویل، باعث می‌شود طرف خارجی نتواند با آن وارد همکاری شود. </a:t>
            </a:r>
            <a:r>
              <a:rPr lang="fa-IR" sz="1000" b="0" dirty="0">
                <a:solidFill>
                  <a:schemeClr val="tx1">
                    <a:lumMod val="65000"/>
                    <a:lumOff val="35000"/>
                  </a:schemeClr>
                </a:solidFill>
              </a:rPr>
              <a:t>معرفی چنین شرکتی نه‌تنها احتمال موفقیت ندارد، بلکه اعتبار کل اکوسیستم را نیز خدشه‌دار می‌کند.</a:t>
            </a:r>
            <a:endParaRPr lang="fa-IR" sz="1100" b="0" dirty="0">
              <a:solidFill>
                <a:schemeClr val="tx1">
                  <a:lumMod val="65000"/>
                  <a:lumOff val="35000"/>
                </a:schemeClr>
              </a:solidFill>
            </a:endParaRPr>
          </a:p>
        </p:txBody>
      </p:sp>
      <p:sp>
        <p:nvSpPr>
          <p:cNvPr id="7" name="Rectangle 6">
            <a:extLst>
              <a:ext uri="{FF2B5EF4-FFF2-40B4-BE49-F238E27FC236}">
                <a16:creationId xmlns:a16="http://schemas.microsoft.com/office/drawing/2014/main" id="{04F6EFAC-2834-5E6E-5BAF-541E61F64534}"/>
              </a:ext>
            </a:extLst>
          </p:cNvPr>
          <p:cNvSpPr/>
          <p:nvPr/>
        </p:nvSpPr>
        <p:spPr>
          <a:xfrm>
            <a:off x="6054291" y="1718108"/>
            <a:ext cx="5093134" cy="1034477"/>
          </a:xfrm>
          <a:prstGeom prst="rect">
            <a:avLst/>
          </a:prstGeom>
          <a:noFill/>
          <a:ln w="635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10" name="TextBox 9">
            <a:extLst>
              <a:ext uri="{FF2B5EF4-FFF2-40B4-BE49-F238E27FC236}">
                <a16:creationId xmlns:a16="http://schemas.microsoft.com/office/drawing/2014/main" id="{4B209169-A736-EBBF-7D13-F7CB30DF6AC8}"/>
              </a:ext>
            </a:extLst>
          </p:cNvPr>
          <p:cNvSpPr txBox="1"/>
          <p:nvPr/>
        </p:nvSpPr>
        <p:spPr>
          <a:xfrm>
            <a:off x="9466446" y="1605252"/>
            <a:ext cx="1513429" cy="261610"/>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err="1">
                <a:ln>
                  <a:noFill/>
                </a:ln>
                <a:solidFill>
                  <a:srgbClr val="92D050"/>
                </a:solidFill>
                <a:effectLst/>
                <a:uLnTx/>
                <a:uFillTx/>
                <a:latin typeface="Yekan Bakh" pitchFamily="2" charset="-78"/>
                <a:ea typeface="Yekan Bakh" pitchFamily="2" charset="-78"/>
                <a:cs typeface="Yekan Bakh" pitchFamily="2" charset="-78"/>
              </a:rPr>
              <a:t>تصمیم‌گیرندگان</a:t>
            </a:r>
            <a:r>
              <a:rPr kumimoji="0" lang="fa-IR" sz="1050" b="1" i="0" u="none" strike="noStrike" kern="1200" cap="none" spc="0" normalizeH="0" baseline="0" noProof="0" dirty="0">
                <a:ln>
                  <a:noFill/>
                </a:ln>
                <a:solidFill>
                  <a:srgbClr val="92D050"/>
                </a:solidFill>
                <a:effectLst/>
                <a:uLnTx/>
                <a:uFillTx/>
                <a:latin typeface="Yekan Bakh" pitchFamily="2" charset="-78"/>
                <a:ea typeface="Yekan Bakh" pitchFamily="2" charset="-78"/>
                <a:cs typeface="Yekan Bakh" pitchFamily="2" charset="-78"/>
              </a:rPr>
              <a:t> کلیدی</a:t>
            </a:r>
            <a:endParaRPr kumimoji="0" lang="en-US" sz="1050" b="1" i="0" u="none" strike="noStrike" kern="1200" cap="none" spc="0" normalizeH="0" baseline="0" noProof="0" dirty="0">
              <a:ln>
                <a:noFill/>
              </a:ln>
              <a:solidFill>
                <a:srgbClr val="92D050"/>
              </a:solidFill>
              <a:effectLst/>
              <a:uLnTx/>
              <a:uFillTx/>
              <a:latin typeface="Yekan Bakh" pitchFamily="2" charset="-78"/>
              <a:ea typeface="Yekan Bakh" pitchFamily="2" charset="-78"/>
              <a:cs typeface="Yekan Bakh" pitchFamily="2" charset="-78"/>
            </a:endParaRPr>
          </a:p>
        </p:txBody>
      </p:sp>
      <p:sp>
        <p:nvSpPr>
          <p:cNvPr id="13" name="TextBox 12">
            <a:extLst>
              <a:ext uri="{FF2B5EF4-FFF2-40B4-BE49-F238E27FC236}">
                <a16:creationId xmlns:a16="http://schemas.microsoft.com/office/drawing/2014/main" id="{8D0D5AC4-C485-E55E-1F36-AF21EC22EE11}"/>
              </a:ext>
            </a:extLst>
          </p:cNvPr>
          <p:cNvSpPr txBox="1"/>
          <p:nvPr/>
        </p:nvSpPr>
        <p:spPr>
          <a:xfrm>
            <a:off x="6129339" y="1897640"/>
            <a:ext cx="4954286" cy="430887"/>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مدیرعامل یا مالک معمولا به تنهایی</a:t>
            </a:r>
          </a:p>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مدیران مالی و عملیات بیشتر در مرحله اجرای برنامه‌های بهبود وارد فرایند می‌شوند</a:t>
            </a:r>
            <a:endParaRPr kumimoji="0" lang="en-US"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16" name="Rectangle 15">
            <a:extLst>
              <a:ext uri="{FF2B5EF4-FFF2-40B4-BE49-F238E27FC236}">
                <a16:creationId xmlns:a16="http://schemas.microsoft.com/office/drawing/2014/main" id="{63DB6005-9511-1F22-04CA-C17A3C8FAF66}"/>
              </a:ext>
            </a:extLst>
          </p:cNvPr>
          <p:cNvSpPr/>
          <p:nvPr/>
        </p:nvSpPr>
        <p:spPr>
          <a:xfrm>
            <a:off x="6054291" y="2955438"/>
            <a:ext cx="5093134" cy="798522"/>
          </a:xfrm>
          <a:prstGeom prst="rect">
            <a:avLst/>
          </a:prstGeom>
          <a:noFill/>
          <a:ln w="635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19" name="TextBox 18">
            <a:extLst>
              <a:ext uri="{FF2B5EF4-FFF2-40B4-BE49-F238E27FC236}">
                <a16:creationId xmlns:a16="http://schemas.microsoft.com/office/drawing/2014/main" id="{8A189F2C-527C-9481-C963-8FB7CF678BC0}"/>
              </a:ext>
            </a:extLst>
          </p:cNvPr>
          <p:cNvSpPr txBox="1"/>
          <p:nvPr/>
        </p:nvSpPr>
        <p:spPr>
          <a:xfrm>
            <a:off x="9466446" y="2842582"/>
            <a:ext cx="1513429" cy="261610"/>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a:ln>
                  <a:noFill/>
                </a:ln>
                <a:solidFill>
                  <a:srgbClr val="92D050"/>
                </a:solidFill>
                <a:effectLst/>
                <a:uLnTx/>
                <a:uFillTx/>
                <a:latin typeface="Yekan Bakh" pitchFamily="2" charset="-78"/>
                <a:ea typeface="Yekan Bakh" pitchFamily="2" charset="-78"/>
                <a:cs typeface="Yekan Bakh" pitchFamily="2" charset="-78"/>
              </a:rPr>
              <a:t>آنچه برایشان ارزش است</a:t>
            </a:r>
            <a:endParaRPr kumimoji="0" lang="en-US" sz="1050" b="1" i="0" u="none" strike="noStrike" kern="1200" cap="none" spc="0" normalizeH="0" baseline="0" noProof="0">
              <a:ln>
                <a:noFill/>
              </a:ln>
              <a:solidFill>
                <a:srgbClr val="92D050"/>
              </a:solidFill>
              <a:effectLst/>
              <a:uLnTx/>
              <a:uFillTx/>
              <a:latin typeface="Yekan Bakh" pitchFamily="2" charset="-78"/>
              <a:ea typeface="Yekan Bakh" pitchFamily="2" charset="-78"/>
              <a:cs typeface="Yekan Bakh" pitchFamily="2" charset="-78"/>
            </a:endParaRPr>
          </a:p>
        </p:txBody>
      </p:sp>
      <p:sp>
        <p:nvSpPr>
          <p:cNvPr id="22" name="TextBox 21">
            <a:extLst>
              <a:ext uri="{FF2B5EF4-FFF2-40B4-BE49-F238E27FC236}">
                <a16:creationId xmlns:a16="http://schemas.microsoft.com/office/drawing/2014/main" id="{0CA6C268-60D9-37E9-A9F7-9862C4AB6947}"/>
              </a:ext>
            </a:extLst>
          </p:cNvPr>
          <p:cNvSpPr txBox="1"/>
          <p:nvPr/>
        </p:nvSpPr>
        <p:spPr>
          <a:xfrm>
            <a:off x="6129339" y="3134970"/>
            <a:ext cx="4954286" cy="600164"/>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ارزیابی روشن و بی‌طرفانه؛ مسیر مشخص برای رسیدن به آمادگی و یک نشان یا اعتبار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قابل‌اتکا</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که نشان دهد تکمیل این مسیر، احتمال موفقیت در تعاملات بین‌المللی را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به‌طور</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معناداری افزایش می‌دهد</a:t>
            </a:r>
            <a:endParaRPr kumimoji="0" lang="en-US"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25" name="Rectangle 24">
            <a:extLst>
              <a:ext uri="{FF2B5EF4-FFF2-40B4-BE49-F238E27FC236}">
                <a16:creationId xmlns:a16="http://schemas.microsoft.com/office/drawing/2014/main" id="{1B17C64B-DAC8-558D-5471-3059DB680873}"/>
              </a:ext>
            </a:extLst>
          </p:cNvPr>
          <p:cNvSpPr/>
          <p:nvPr/>
        </p:nvSpPr>
        <p:spPr>
          <a:xfrm>
            <a:off x="6054291" y="3893177"/>
            <a:ext cx="5093134" cy="1160178"/>
          </a:xfrm>
          <a:prstGeom prst="rect">
            <a:avLst/>
          </a:prstGeom>
          <a:noFill/>
          <a:ln w="635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28" name="TextBox 27">
            <a:extLst>
              <a:ext uri="{FF2B5EF4-FFF2-40B4-BE49-F238E27FC236}">
                <a16:creationId xmlns:a16="http://schemas.microsoft.com/office/drawing/2014/main" id="{65E097FD-963B-F392-F05F-80D539081E5E}"/>
              </a:ext>
            </a:extLst>
          </p:cNvPr>
          <p:cNvSpPr txBox="1"/>
          <p:nvPr/>
        </p:nvSpPr>
        <p:spPr>
          <a:xfrm>
            <a:off x="9567512" y="3780322"/>
            <a:ext cx="1412363" cy="261610"/>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srgbClr val="92D050"/>
                </a:solidFill>
                <a:effectLst/>
                <a:uLnTx/>
                <a:uFillTx/>
                <a:latin typeface="Yekan Bakh" pitchFamily="2" charset="-78"/>
                <a:ea typeface="Yekan Bakh" pitchFamily="2" charset="-78"/>
                <a:cs typeface="Yekan Bakh" pitchFamily="2" charset="-78"/>
              </a:rPr>
              <a:t>تمایل به پرداخت برای</a:t>
            </a:r>
            <a:endParaRPr kumimoji="0" lang="en-US" sz="1050" b="1" i="0" u="none" strike="noStrike" kern="1200" cap="none" spc="0" normalizeH="0" baseline="0" noProof="0" dirty="0">
              <a:ln>
                <a:noFill/>
              </a:ln>
              <a:solidFill>
                <a:srgbClr val="92D050"/>
              </a:solidFill>
              <a:effectLst/>
              <a:uLnTx/>
              <a:uFillTx/>
              <a:latin typeface="Yekan Bakh" pitchFamily="2" charset="-78"/>
              <a:ea typeface="Yekan Bakh" pitchFamily="2" charset="-78"/>
              <a:cs typeface="Yekan Bakh" pitchFamily="2" charset="-78"/>
            </a:endParaRPr>
          </a:p>
        </p:txBody>
      </p:sp>
      <p:sp>
        <p:nvSpPr>
          <p:cNvPr id="31" name="TextBox 30">
            <a:extLst>
              <a:ext uri="{FF2B5EF4-FFF2-40B4-BE49-F238E27FC236}">
                <a16:creationId xmlns:a16="http://schemas.microsoft.com/office/drawing/2014/main" id="{2184C224-A81C-DDE0-5DBF-55064AE4F8A9}"/>
              </a:ext>
            </a:extLst>
          </p:cNvPr>
          <p:cNvSpPr txBox="1"/>
          <p:nvPr/>
        </p:nvSpPr>
        <p:spPr>
          <a:xfrm>
            <a:off x="6129339" y="4034610"/>
            <a:ext cx="4954286" cy="877163"/>
          </a:xfrm>
          <a:prstGeom prst="rect">
            <a:avLst/>
          </a:prstGeom>
          <a:noFill/>
        </p:spPr>
        <p:txBody>
          <a:bodyPr wrap="square">
            <a:spAutoFit/>
          </a:bodyPr>
          <a:lstStyle/>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ارزیابی و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رتبه‌بندی</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آمادگی</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خدمات هدفمند برای رفع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شکاف‌ها</a:t>
            </a:r>
            <a:endPar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دریافت گواهی آمادگی</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ارزیابی و تمدید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دوره‌ای</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این گواهی</a:t>
            </a:r>
          </a:p>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700" i="0" u="none" strike="noStrike" kern="1200" cap="none" spc="0" normalizeH="0" baseline="0" noProof="0" dirty="0">
                <a:ln>
                  <a:noFill/>
                </a:ln>
                <a:solidFill>
                  <a:schemeClr val="tx1">
                    <a:lumMod val="50000"/>
                    <a:lumOff val="50000"/>
                  </a:schemeClr>
                </a:solidFill>
                <a:effectLst/>
                <a:uLnTx/>
                <a:uFillTx/>
                <a:latin typeface="Yekan Bakh" pitchFamily="2" charset="-78"/>
                <a:ea typeface="Yekan Bakh" pitchFamily="2" charset="-78"/>
                <a:cs typeface="Yekan Bakh" pitchFamily="2" charset="-78"/>
              </a:rPr>
              <a:t>فرض: تمایل به پرداخت کمتر از گروه ۱ </a:t>
            </a:r>
            <a:r>
              <a:rPr kumimoji="0" lang="fa-IR" sz="700" i="0" u="none" strike="noStrike" kern="1200" cap="none" spc="0" normalizeH="0" baseline="0" noProof="0" dirty="0">
                <a:ln>
                  <a:noFill/>
                </a:ln>
                <a:solidFill>
                  <a:schemeClr val="tx1">
                    <a:lumMod val="50000"/>
                    <a:lumOff val="50000"/>
                  </a:schemeClr>
                </a:solidFill>
                <a:effectLst/>
                <a:uLnTx/>
                <a:uFillTx/>
                <a:latin typeface="Yekan Bakh" pitchFamily="2" charset="-78"/>
                <a:ea typeface="Yekan Bakh" pitchFamily="2" charset="-78"/>
                <a:cs typeface="Yekan Bakh" pitchFamily="2" charset="-78"/>
                <a:sym typeface="Wingdings" panose="05000000000000000000" pitchFamily="2" charset="2"/>
              </a:rPr>
              <a:t> </a:t>
            </a:r>
            <a:r>
              <a:rPr kumimoji="0" lang="fa-IR" sz="700" i="0" u="none" strike="noStrike" kern="1200" cap="none" spc="0" normalizeH="0" baseline="0" noProof="0" dirty="0">
                <a:ln>
                  <a:noFill/>
                </a:ln>
                <a:solidFill>
                  <a:schemeClr val="tx1">
                    <a:lumMod val="50000"/>
                    <a:lumOff val="50000"/>
                  </a:schemeClr>
                </a:solidFill>
                <a:effectLst/>
                <a:uLnTx/>
                <a:uFillTx/>
                <a:latin typeface="Yekan Bakh" pitchFamily="2" charset="-78"/>
                <a:ea typeface="Yekan Bakh" pitchFamily="2" charset="-78"/>
                <a:cs typeface="Yekan Bakh" pitchFamily="2" charset="-78"/>
              </a:rPr>
              <a:t>ارزیابی اولیه باید </a:t>
            </a:r>
            <a:r>
              <a:rPr kumimoji="0" lang="fa-IR" sz="700" i="0" u="none" strike="noStrike" kern="1200" cap="none" spc="0" normalizeH="0" baseline="0" noProof="0" dirty="0" err="1">
                <a:ln>
                  <a:noFill/>
                </a:ln>
                <a:solidFill>
                  <a:schemeClr val="tx1">
                    <a:lumMod val="50000"/>
                    <a:lumOff val="50000"/>
                  </a:schemeClr>
                </a:solidFill>
                <a:effectLst/>
                <a:uLnTx/>
                <a:uFillTx/>
                <a:latin typeface="Yekan Bakh" pitchFamily="2" charset="-78"/>
                <a:ea typeface="Yekan Bakh" pitchFamily="2" charset="-78"/>
                <a:cs typeface="Yekan Bakh" pitchFamily="2" charset="-78"/>
              </a:rPr>
              <a:t>کم‌هزینه</a:t>
            </a:r>
            <a:r>
              <a:rPr kumimoji="0" lang="fa-IR" sz="700" i="0" u="none" strike="noStrike" kern="1200" cap="none" spc="0" normalizeH="0" baseline="0" noProof="0" dirty="0">
                <a:ln>
                  <a:noFill/>
                </a:ln>
                <a:solidFill>
                  <a:schemeClr val="tx1">
                    <a:lumMod val="50000"/>
                    <a:lumOff val="50000"/>
                  </a:schemeClr>
                </a:solidFill>
                <a:effectLst/>
                <a:uLnTx/>
                <a:uFillTx/>
                <a:latin typeface="Yekan Bakh" pitchFamily="2" charset="-78"/>
                <a:ea typeface="Yekan Bakh" pitchFamily="2" charset="-78"/>
                <a:cs typeface="Yekan Bakh" pitchFamily="2" charset="-78"/>
              </a:rPr>
              <a:t> یا همراه با سایر خدمات ارائه شود تا </a:t>
            </a:r>
            <a:r>
              <a:rPr kumimoji="0" lang="fa-IR" sz="700" i="0" u="none" strike="noStrike" kern="1200" cap="none" spc="0" normalizeH="0" baseline="0" noProof="0" dirty="0" err="1">
                <a:ln>
                  <a:noFill/>
                </a:ln>
                <a:solidFill>
                  <a:schemeClr val="tx1">
                    <a:lumMod val="50000"/>
                    <a:lumOff val="50000"/>
                  </a:schemeClr>
                </a:solidFill>
                <a:effectLst/>
                <a:uLnTx/>
                <a:uFillTx/>
                <a:latin typeface="Yekan Bakh" pitchFamily="2" charset="-78"/>
                <a:ea typeface="Yekan Bakh" pitchFamily="2" charset="-78"/>
                <a:cs typeface="Yekan Bakh" pitchFamily="2" charset="-78"/>
              </a:rPr>
              <a:t>مقیاس‌پذیر</a:t>
            </a:r>
            <a:r>
              <a:rPr kumimoji="0" lang="fa-IR" sz="700" i="0" u="none" strike="noStrike" kern="1200" cap="none" spc="0" normalizeH="0" baseline="0" noProof="0" dirty="0">
                <a:ln>
                  <a:noFill/>
                </a:ln>
                <a:solidFill>
                  <a:schemeClr val="tx1">
                    <a:lumMod val="50000"/>
                    <a:lumOff val="50000"/>
                  </a:schemeClr>
                </a:solidFill>
                <a:effectLst/>
                <a:uLnTx/>
                <a:uFillTx/>
                <a:latin typeface="Yekan Bakh" pitchFamily="2" charset="-78"/>
                <a:ea typeface="Yekan Bakh" pitchFamily="2" charset="-78"/>
                <a:cs typeface="Yekan Bakh" pitchFamily="2" charset="-78"/>
              </a:rPr>
              <a:t> باشد</a:t>
            </a:r>
            <a:endParaRPr kumimoji="0" lang="en-US" sz="700" i="0" u="none" strike="noStrike" kern="1200" cap="none" spc="0" normalizeH="0" baseline="0" noProof="0" dirty="0">
              <a:ln>
                <a:noFill/>
              </a:ln>
              <a:solidFill>
                <a:schemeClr val="tx1">
                  <a:lumMod val="50000"/>
                  <a:lumOff val="50000"/>
                </a:schemeClr>
              </a:solidFill>
              <a:effectLst/>
              <a:uLnTx/>
              <a:uFillTx/>
              <a:latin typeface="Yekan Bakh" pitchFamily="2" charset="-78"/>
              <a:ea typeface="Yekan Bakh" pitchFamily="2" charset="-78"/>
              <a:cs typeface="Yekan Bakh" pitchFamily="2" charset="-78"/>
            </a:endParaRPr>
          </a:p>
        </p:txBody>
      </p:sp>
      <p:sp>
        <p:nvSpPr>
          <p:cNvPr id="34" name="Rectangle 33">
            <a:extLst>
              <a:ext uri="{FF2B5EF4-FFF2-40B4-BE49-F238E27FC236}">
                <a16:creationId xmlns:a16="http://schemas.microsoft.com/office/drawing/2014/main" id="{2233922C-FBEF-0980-52FE-D5F3C68F3596}"/>
              </a:ext>
            </a:extLst>
          </p:cNvPr>
          <p:cNvSpPr/>
          <p:nvPr/>
        </p:nvSpPr>
        <p:spPr>
          <a:xfrm>
            <a:off x="723175" y="1718108"/>
            <a:ext cx="5093134" cy="1034477"/>
          </a:xfrm>
          <a:prstGeom prst="rect">
            <a:avLst/>
          </a:prstGeom>
          <a:noFill/>
          <a:ln w="635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37" name="TextBox 36">
            <a:extLst>
              <a:ext uri="{FF2B5EF4-FFF2-40B4-BE49-F238E27FC236}">
                <a16:creationId xmlns:a16="http://schemas.microsoft.com/office/drawing/2014/main" id="{6833E922-61EF-AA32-7220-4DD84B4F3FEC}"/>
              </a:ext>
            </a:extLst>
          </p:cNvPr>
          <p:cNvSpPr txBox="1"/>
          <p:nvPr/>
        </p:nvSpPr>
        <p:spPr>
          <a:xfrm>
            <a:off x="4134051" y="1605253"/>
            <a:ext cx="1514708" cy="261610"/>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srgbClr val="92D050"/>
                </a:solidFill>
                <a:effectLst/>
                <a:uLnTx/>
                <a:uFillTx/>
                <a:latin typeface="Yekan Bakh" pitchFamily="2" charset="-78"/>
                <a:ea typeface="Yekan Bakh" pitchFamily="2" charset="-78"/>
                <a:cs typeface="Yekan Bakh" pitchFamily="2" charset="-78"/>
              </a:rPr>
              <a:t>ارزش پیشنهادی خدمت</a:t>
            </a:r>
            <a:endParaRPr kumimoji="0" lang="en-US" sz="1050" b="1" i="0" u="none" strike="noStrike" kern="1200" cap="none" spc="0" normalizeH="0" baseline="0" noProof="0" dirty="0">
              <a:ln>
                <a:noFill/>
              </a:ln>
              <a:solidFill>
                <a:srgbClr val="92D050"/>
              </a:solidFill>
              <a:effectLst/>
              <a:uLnTx/>
              <a:uFillTx/>
              <a:latin typeface="Yekan Bakh" pitchFamily="2" charset="-78"/>
              <a:ea typeface="Yekan Bakh" pitchFamily="2" charset="-78"/>
              <a:cs typeface="Yekan Bakh" pitchFamily="2" charset="-78"/>
            </a:endParaRPr>
          </a:p>
        </p:txBody>
      </p:sp>
      <p:sp>
        <p:nvSpPr>
          <p:cNvPr id="40" name="TextBox 39">
            <a:extLst>
              <a:ext uri="{FF2B5EF4-FFF2-40B4-BE49-F238E27FC236}">
                <a16:creationId xmlns:a16="http://schemas.microsoft.com/office/drawing/2014/main" id="{3812BCFD-61DD-7261-664E-46E82EBF1EF7}"/>
              </a:ext>
            </a:extLst>
          </p:cNvPr>
          <p:cNvSpPr txBox="1"/>
          <p:nvPr/>
        </p:nvSpPr>
        <p:spPr>
          <a:xfrm>
            <a:off x="798223" y="1897641"/>
            <a:ext cx="4954286" cy="600164"/>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ارزیابی آمادگی انجام معامله براساس یک استاندارد مشخص، معرفی به شرکای معتبر برای رفع نواقص، صدور گواهی آمادگی، و ارزیابی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دوره‌ای</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برای حفظ این وضعیت</a:t>
            </a:r>
            <a:endParaRPr kumimoji="0" lang="en-US"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43" name="Rectangle 42">
            <a:extLst>
              <a:ext uri="{FF2B5EF4-FFF2-40B4-BE49-F238E27FC236}">
                <a16:creationId xmlns:a16="http://schemas.microsoft.com/office/drawing/2014/main" id="{323C0E5E-325C-61D9-F631-925359696C6A}"/>
              </a:ext>
            </a:extLst>
          </p:cNvPr>
          <p:cNvSpPr/>
          <p:nvPr/>
        </p:nvSpPr>
        <p:spPr>
          <a:xfrm>
            <a:off x="6054291" y="5192091"/>
            <a:ext cx="5093134" cy="741984"/>
          </a:xfrm>
          <a:prstGeom prst="rect">
            <a:avLst/>
          </a:prstGeom>
          <a:noFill/>
          <a:ln w="635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46" name="TextBox 45">
            <a:extLst>
              <a:ext uri="{FF2B5EF4-FFF2-40B4-BE49-F238E27FC236}">
                <a16:creationId xmlns:a16="http://schemas.microsoft.com/office/drawing/2014/main" id="{C944C567-8FC6-0EE4-0D38-B352763FFD28}"/>
              </a:ext>
            </a:extLst>
          </p:cNvPr>
          <p:cNvSpPr txBox="1"/>
          <p:nvPr/>
        </p:nvSpPr>
        <p:spPr>
          <a:xfrm>
            <a:off x="9620451" y="5079235"/>
            <a:ext cx="1359424" cy="253916"/>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srgbClr val="92D050"/>
                </a:solidFill>
                <a:effectLst/>
                <a:uLnTx/>
                <a:uFillTx/>
                <a:latin typeface="Yekan Bakh" pitchFamily="2" charset="-78"/>
                <a:ea typeface="Yekan Bakh" pitchFamily="2" charset="-78"/>
                <a:cs typeface="Yekan Bakh" pitchFamily="2" charset="-78"/>
              </a:rPr>
              <a:t>مدل تعامل </a:t>
            </a:r>
            <a:r>
              <a:rPr kumimoji="0" lang="fa-IR" sz="1050" b="1" i="0" u="none" strike="noStrike" kern="1200" cap="none" spc="0" normalizeH="0" baseline="0" noProof="0" dirty="0" err="1">
                <a:ln>
                  <a:noFill/>
                </a:ln>
                <a:solidFill>
                  <a:srgbClr val="92D050"/>
                </a:solidFill>
                <a:effectLst/>
                <a:uLnTx/>
                <a:uFillTx/>
                <a:latin typeface="Yekan Bakh" pitchFamily="2" charset="-78"/>
                <a:ea typeface="Yekan Bakh" pitchFamily="2" charset="-78"/>
                <a:cs typeface="Yekan Bakh" pitchFamily="2" charset="-78"/>
              </a:rPr>
              <a:t>ترجیحی</a:t>
            </a:r>
            <a:endParaRPr kumimoji="0" lang="en-US" sz="1050" b="1" i="0" u="none" strike="noStrike" kern="1200" cap="none" spc="0" normalizeH="0" baseline="0" noProof="0" dirty="0">
              <a:ln>
                <a:noFill/>
              </a:ln>
              <a:solidFill>
                <a:srgbClr val="92D050"/>
              </a:solidFill>
              <a:effectLst/>
              <a:uLnTx/>
              <a:uFillTx/>
              <a:latin typeface="Yekan Bakh" pitchFamily="2" charset="-78"/>
              <a:ea typeface="Yekan Bakh" pitchFamily="2" charset="-78"/>
              <a:cs typeface="Yekan Bakh" pitchFamily="2" charset="-78"/>
            </a:endParaRPr>
          </a:p>
        </p:txBody>
      </p:sp>
      <p:sp>
        <p:nvSpPr>
          <p:cNvPr id="49" name="TextBox 48">
            <a:extLst>
              <a:ext uri="{FF2B5EF4-FFF2-40B4-BE49-F238E27FC236}">
                <a16:creationId xmlns:a16="http://schemas.microsoft.com/office/drawing/2014/main" id="{3AC219E3-6D85-6166-1B0A-9E4D850EEDEF}"/>
              </a:ext>
            </a:extLst>
          </p:cNvPr>
          <p:cNvSpPr txBox="1"/>
          <p:nvPr/>
        </p:nvSpPr>
        <p:spPr>
          <a:xfrm>
            <a:off x="6129339" y="5303466"/>
            <a:ext cx="4954286" cy="600164"/>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مدلی کاملا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محصول‌محور</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و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استانداردشده</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(ضروری برای پایین نگه داشتن هزینه): ۱.ارزیابی با تعرفه ثابت، ۲. بسته‌های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ماژولار</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بهبود و ۳. صدور و تمدید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دوره‌ای</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گواهی آمادگی</a:t>
            </a:r>
            <a:endParaRPr kumimoji="0" lang="en-US"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52" name="Rectangle 51">
            <a:extLst>
              <a:ext uri="{FF2B5EF4-FFF2-40B4-BE49-F238E27FC236}">
                <a16:creationId xmlns:a16="http://schemas.microsoft.com/office/drawing/2014/main" id="{6BF5900D-4253-F3AA-F874-1E0CAE023C15}"/>
              </a:ext>
            </a:extLst>
          </p:cNvPr>
          <p:cNvSpPr/>
          <p:nvPr/>
        </p:nvSpPr>
        <p:spPr>
          <a:xfrm>
            <a:off x="758391" y="4436191"/>
            <a:ext cx="5093134" cy="1497884"/>
          </a:xfrm>
          <a:prstGeom prst="rect">
            <a:avLst/>
          </a:prstGeom>
          <a:noFill/>
          <a:ln w="635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55" name="TextBox 54">
            <a:extLst>
              <a:ext uri="{FF2B5EF4-FFF2-40B4-BE49-F238E27FC236}">
                <a16:creationId xmlns:a16="http://schemas.microsoft.com/office/drawing/2014/main" id="{F0CDF711-0737-52F1-5C70-9CCC228913E5}"/>
              </a:ext>
            </a:extLst>
          </p:cNvPr>
          <p:cNvSpPr txBox="1"/>
          <p:nvPr/>
        </p:nvSpPr>
        <p:spPr>
          <a:xfrm>
            <a:off x="4134051" y="4323336"/>
            <a:ext cx="1549924" cy="261610"/>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srgbClr val="92D050"/>
                </a:solidFill>
                <a:effectLst/>
                <a:uLnTx/>
                <a:uFillTx/>
                <a:latin typeface="Yekan Bakh" pitchFamily="2" charset="-78"/>
                <a:ea typeface="Yekan Bakh" pitchFamily="2" charset="-78"/>
                <a:cs typeface="Yekan Bakh" pitchFamily="2" charset="-78"/>
              </a:rPr>
              <a:t>معیارهای احراز صلاحیت</a:t>
            </a:r>
            <a:endParaRPr kumimoji="0" lang="en-US" sz="1050" b="1" i="0" u="none" strike="noStrike" kern="1200" cap="none" spc="0" normalizeH="0" baseline="0" noProof="0" dirty="0">
              <a:ln>
                <a:noFill/>
              </a:ln>
              <a:solidFill>
                <a:srgbClr val="92D050"/>
              </a:solidFill>
              <a:effectLst/>
              <a:uLnTx/>
              <a:uFillTx/>
              <a:latin typeface="Yekan Bakh" pitchFamily="2" charset="-78"/>
              <a:ea typeface="Yekan Bakh" pitchFamily="2" charset="-78"/>
              <a:cs typeface="Yekan Bakh" pitchFamily="2" charset="-78"/>
            </a:endParaRPr>
          </a:p>
        </p:txBody>
      </p:sp>
      <p:sp>
        <p:nvSpPr>
          <p:cNvPr id="58" name="TextBox 57">
            <a:extLst>
              <a:ext uri="{FF2B5EF4-FFF2-40B4-BE49-F238E27FC236}">
                <a16:creationId xmlns:a16="http://schemas.microsoft.com/office/drawing/2014/main" id="{CC100A77-D5FC-618F-14A0-898EA33352FF}"/>
              </a:ext>
            </a:extLst>
          </p:cNvPr>
          <p:cNvSpPr txBox="1"/>
          <p:nvPr/>
        </p:nvSpPr>
        <p:spPr>
          <a:xfrm>
            <a:off x="833439" y="4615724"/>
            <a:ext cx="4954286" cy="938719"/>
          </a:xfrm>
          <a:prstGeom prst="rect">
            <a:avLst/>
          </a:prstGeom>
          <a:noFill/>
        </p:spPr>
        <p:txBody>
          <a:bodyPr wrap="square">
            <a:spAutoFit/>
          </a:bodyPr>
          <a:lstStyle/>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داشتن قصد واقعی برای ورود به بازارهای بین‌المللی</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آمادگی مالک برای پذیرش ارزیابی مستقل</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قابل حل بودن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شکاف‌ها</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در یک بازه زمانی مشخص</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نداشتن مسائل بازدارنده مانند مشکلات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مالکیتی</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یا موانع جدی انطباق</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آمادگی برای پرداخت هزینه ارزیابی</a:t>
            </a:r>
          </a:p>
        </p:txBody>
      </p:sp>
      <p:sp>
        <p:nvSpPr>
          <p:cNvPr id="61" name="Rectangle 60">
            <a:extLst>
              <a:ext uri="{FF2B5EF4-FFF2-40B4-BE49-F238E27FC236}">
                <a16:creationId xmlns:a16="http://schemas.microsoft.com/office/drawing/2014/main" id="{CC14BFD4-F50F-2BA5-A45F-416B070B6374}"/>
              </a:ext>
            </a:extLst>
          </p:cNvPr>
          <p:cNvSpPr/>
          <p:nvPr/>
        </p:nvSpPr>
        <p:spPr>
          <a:xfrm>
            <a:off x="723175" y="2955438"/>
            <a:ext cx="5093134" cy="1280654"/>
          </a:xfrm>
          <a:prstGeom prst="rect">
            <a:avLst/>
          </a:prstGeom>
          <a:noFill/>
          <a:ln w="635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64" name="TextBox 63">
            <a:extLst>
              <a:ext uri="{FF2B5EF4-FFF2-40B4-BE49-F238E27FC236}">
                <a16:creationId xmlns:a16="http://schemas.microsoft.com/office/drawing/2014/main" id="{635FB57C-A6CE-1715-95E9-3B63380E6D80}"/>
              </a:ext>
            </a:extLst>
          </p:cNvPr>
          <p:cNvSpPr txBox="1"/>
          <p:nvPr/>
        </p:nvSpPr>
        <p:spPr>
          <a:xfrm>
            <a:off x="4485373" y="2838883"/>
            <a:ext cx="1163386" cy="261610"/>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err="1">
                <a:ln>
                  <a:noFill/>
                </a:ln>
                <a:solidFill>
                  <a:srgbClr val="92D050"/>
                </a:solidFill>
                <a:effectLst/>
                <a:uLnTx/>
                <a:uFillTx/>
                <a:latin typeface="Yekan Bakh" pitchFamily="2" charset="-78"/>
                <a:ea typeface="Yekan Bakh" pitchFamily="2" charset="-78"/>
                <a:cs typeface="Yekan Bakh" pitchFamily="2" charset="-78"/>
              </a:rPr>
              <a:t>ریسک‌های</a:t>
            </a:r>
            <a:r>
              <a:rPr kumimoji="0" lang="fa-IR" sz="1050" b="1" i="0" u="none" strike="noStrike" kern="1200" cap="none" spc="0" normalizeH="0" baseline="0" noProof="0" dirty="0">
                <a:ln>
                  <a:noFill/>
                </a:ln>
                <a:solidFill>
                  <a:srgbClr val="92D050"/>
                </a:solidFill>
                <a:effectLst/>
                <a:uLnTx/>
                <a:uFillTx/>
                <a:latin typeface="Yekan Bakh" pitchFamily="2" charset="-78"/>
                <a:ea typeface="Yekan Bakh" pitchFamily="2" charset="-78"/>
                <a:cs typeface="Yekan Bakh" pitchFamily="2" charset="-78"/>
              </a:rPr>
              <a:t> کلیدی</a:t>
            </a:r>
            <a:endParaRPr kumimoji="0" lang="en-US" sz="1050" b="1" i="0" u="none" strike="noStrike" kern="1200" cap="none" spc="0" normalizeH="0" baseline="0" noProof="0" dirty="0">
              <a:ln>
                <a:noFill/>
              </a:ln>
              <a:solidFill>
                <a:srgbClr val="92D050"/>
              </a:solidFill>
              <a:effectLst/>
              <a:uLnTx/>
              <a:uFillTx/>
              <a:latin typeface="Yekan Bakh" pitchFamily="2" charset="-78"/>
              <a:ea typeface="Yekan Bakh" pitchFamily="2" charset="-78"/>
              <a:cs typeface="Yekan Bakh" pitchFamily="2" charset="-78"/>
            </a:endParaRPr>
          </a:p>
        </p:txBody>
      </p:sp>
      <p:sp>
        <p:nvSpPr>
          <p:cNvPr id="67" name="TextBox 66">
            <a:extLst>
              <a:ext uri="{FF2B5EF4-FFF2-40B4-BE49-F238E27FC236}">
                <a16:creationId xmlns:a16="http://schemas.microsoft.com/office/drawing/2014/main" id="{5340751D-F108-A2A5-6304-97411BE3AD46}"/>
              </a:ext>
            </a:extLst>
          </p:cNvPr>
          <p:cNvSpPr txBox="1"/>
          <p:nvPr/>
        </p:nvSpPr>
        <p:spPr>
          <a:xfrm>
            <a:off x="723175" y="3134970"/>
            <a:ext cx="5029334" cy="1107996"/>
          </a:xfrm>
          <a:prstGeom prst="rect">
            <a:avLst/>
          </a:prstGeom>
          <a:noFill/>
        </p:spPr>
        <p:txBody>
          <a:bodyPr wrap="square">
            <a:spAutoFit/>
          </a:bodyPr>
          <a:lstStyle/>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آسیب به اعتبار اکوسیستم و اعتماد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طرف‌های</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خارجی در صورت معرفی زودهنگام </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برداشت مشتری از استاندارد به عنوان یک مانع یا «عوارض ورود» به جای یک خدمت ارزش‌‌آفرین</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وابستگی سودآوری خدمات بهبود به کیفیت شبکه شرکای اجرایی</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افزایش تدریجی هزینه ارائه خدمات در صورت محصولی و استاندارد نبودن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فرایندها</a:t>
            </a:r>
            <a:endParaRPr kumimoji="0" lang="en-US"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Tree>
    <p:extLst>
      <p:ext uri="{BB962C8B-B14F-4D97-AF65-F5344CB8AC3E}">
        <p14:creationId xmlns:p14="http://schemas.microsoft.com/office/powerpoint/2010/main" val="9238165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11C786-D3C7-5196-4E25-C3ECA59B5DB0}"/>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9459D380-3502-AAF7-5167-C20D0A23DFB0}"/>
              </a:ext>
            </a:extLst>
          </p:cNvPr>
          <p:cNvSpPr/>
          <p:nvPr/>
        </p:nvSpPr>
        <p:spPr>
          <a:xfrm>
            <a:off x="0" y="0"/>
            <a:ext cx="11703050" cy="1417320"/>
          </a:xfrm>
          <a:prstGeom prst="rect">
            <a:avLst/>
          </a:prstGeom>
          <a:solidFill>
            <a:srgbClr val="0199FF">
              <a:alpha val="1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Calibri"/>
            </a:endParaRPr>
          </a:p>
        </p:txBody>
      </p:sp>
      <p:sp>
        <p:nvSpPr>
          <p:cNvPr id="2" name="Text Placeholder 1">
            <a:extLst>
              <a:ext uri="{FF2B5EF4-FFF2-40B4-BE49-F238E27FC236}">
                <a16:creationId xmlns:a16="http://schemas.microsoft.com/office/drawing/2014/main" id="{4C93BE12-6AE3-B424-A186-DD13B0B8F5B4}"/>
              </a:ext>
            </a:extLst>
          </p:cNvPr>
          <p:cNvSpPr>
            <a:spLocks noGrp="1"/>
          </p:cNvSpPr>
          <p:nvPr>
            <p:ph type="body" sz="quarter" idx="10"/>
          </p:nvPr>
        </p:nvSpPr>
        <p:spPr/>
        <p:txBody>
          <a:bodyPr/>
          <a:lstStyle/>
          <a:p>
            <a:r>
              <a:rPr lang="fa-IR"/>
              <a:t>پروفایل بخش‌های مشتری</a:t>
            </a:r>
            <a:endParaRPr lang="fa-IR" dirty="0"/>
          </a:p>
        </p:txBody>
      </p:sp>
      <p:sp>
        <p:nvSpPr>
          <p:cNvPr id="3" name="Text Placeholder 2">
            <a:extLst>
              <a:ext uri="{FF2B5EF4-FFF2-40B4-BE49-F238E27FC236}">
                <a16:creationId xmlns:a16="http://schemas.microsoft.com/office/drawing/2014/main" id="{1D814F41-DE0B-B49D-6AB7-7F25F9C8FB86}"/>
              </a:ext>
            </a:extLst>
          </p:cNvPr>
          <p:cNvSpPr>
            <a:spLocks noGrp="1"/>
          </p:cNvSpPr>
          <p:nvPr>
            <p:ph type="body" sz="quarter" idx="12"/>
          </p:nvPr>
        </p:nvSpPr>
        <p:spPr/>
        <p:txBody>
          <a:bodyPr/>
          <a:lstStyle/>
          <a:p>
            <a:r>
              <a:rPr lang="fa-IR" dirty="0"/>
              <a:t>۴. کسب‌وکار کنجکاو </a:t>
            </a:r>
            <a:r>
              <a:rPr lang="fa-IR" sz="1200" b="0" dirty="0">
                <a:solidFill>
                  <a:schemeClr val="tx1">
                    <a:lumMod val="65000"/>
                    <a:lumOff val="35000"/>
                  </a:schemeClr>
                </a:solidFill>
              </a:rPr>
              <a:t>(1/2)</a:t>
            </a:r>
          </a:p>
          <a:p>
            <a:r>
              <a:rPr lang="fa-IR" sz="1100" b="0" dirty="0">
                <a:solidFill>
                  <a:schemeClr val="tx1">
                    <a:lumMod val="65000"/>
                    <a:lumOff val="35000"/>
                  </a:schemeClr>
                </a:solidFill>
              </a:rPr>
              <a:t>یک شرکت خارجی که هنوز هدف، ماموریت یا بودجه‌ی مشخصی برای ورود به بازار ایران ندارد و صرفا در حال ارزیابی این است که آیا اساسا این بازار ارزش بررسی و ورود را دارد یا خیر؛ آنچه این شرکت خریداری می‌کند معامله نیست، بلکه کاهش عدم قطعیت است. </a:t>
            </a:r>
            <a:r>
              <a:rPr lang="fa-IR" sz="1050" b="0" dirty="0">
                <a:solidFill>
                  <a:schemeClr val="tx1">
                    <a:lumMod val="65000"/>
                    <a:lumOff val="35000"/>
                  </a:schemeClr>
                </a:solidFill>
              </a:rPr>
              <a:t>(شرکت ایرانی بدون ماموریت یا برنامه مشخص برای ورود به بازار بین‌المللی در مسیر گروه سوم قرار میگیرد)</a:t>
            </a:r>
            <a:endParaRPr lang="fa-IR" sz="1100" b="0" dirty="0">
              <a:solidFill>
                <a:schemeClr val="tx1">
                  <a:lumMod val="65000"/>
                  <a:lumOff val="35000"/>
                </a:schemeClr>
              </a:solidFill>
            </a:endParaRPr>
          </a:p>
        </p:txBody>
      </p:sp>
      <p:sp>
        <p:nvSpPr>
          <p:cNvPr id="6" name="Rectangle 5">
            <a:extLst>
              <a:ext uri="{FF2B5EF4-FFF2-40B4-BE49-F238E27FC236}">
                <a16:creationId xmlns:a16="http://schemas.microsoft.com/office/drawing/2014/main" id="{6C8513F6-266C-C5F2-33F9-4B24CB0BF5C6}"/>
              </a:ext>
            </a:extLst>
          </p:cNvPr>
          <p:cNvSpPr/>
          <p:nvPr/>
        </p:nvSpPr>
        <p:spPr>
          <a:xfrm>
            <a:off x="6054291" y="1718108"/>
            <a:ext cx="5093134" cy="610419"/>
          </a:xfrm>
          <a:prstGeom prst="rect">
            <a:avLst/>
          </a:prstGeom>
          <a:noFill/>
          <a:ln w="6350">
            <a:solidFill>
              <a:srgbClr val="0199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9" name="TextBox 8">
            <a:extLst>
              <a:ext uri="{FF2B5EF4-FFF2-40B4-BE49-F238E27FC236}">
                <a16:creationId xmlns:a16="http://schemas.microsoft.com/office/drawing/2014/main" id="{350AF6FC-111A-FB70-D3DE-4851115F9A34}"/>
              </a:ext>
            </a:extLst>
          </p:cNvPr>
          <p:cNvSpPr txBox="1"/>
          <p:nvPr/>
        </p:nvSpPr>
        <p:spPr>
          <a:xfrm>
            <a:off x="9697453" y="1605252"/>
            <a:ext cx="1282422" cy="261610"/>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srgbClr val="0199FF"/>
                </a:solidFill>
                <a:effectLst/>
                <a:uLnTx/>
                <a:uFillTx/>
                <a:latin typeface="Yekan Bakh" pitchFamily="2" charset="-78"/>
                <a:ea typeface="Yekan Bakh" pitchFamily="2" charset="-78"/>
                <a:cs typeface="Yekan Bakh" pitchFamily="2" charset="-78"/>
              </a:rPr>
              <a:t>نقش اصلی مشتری</a:t>
            </a:r>
            <a:endParaRPr kumimoji="0" lang="en-US" sz="1050" b="1" i="0" u="none" strike="noStrike" kern="1200" cap="none" spc="0" normalizeH="0" baseline="0" noProof="0" dirty="0">
              <a:ln>
                <a:noFill/>
              </a:ln>
              <a:solidFill>
                <a:srgbClr val="0199FF"/>
              </a:solidFill>
              <a:effectLst/>
              <a:uLnTx/>
              <a:uFillTx/>
              <a:latin typeface="Yekan Bakh" pitchFamily="2" charset="-78"/>
              <a:ea typeface="Yekan Bakh" pitchFamily="2" charset="-78"/>
              <a:cs typeface="Yekan Bakh" pitchFamily="2" charset="-78"/>
            </a:endParaRPr>
          </a:p>
        </p:txBody>
      </p:sp>
      <p:sp>
        <p:nvSpPr>
          <p:cNvPr id="12" name="TextBox 11">
            <a:extLst>
              <a:ext uri="{FF2B5EF4-FFF2-40B4-BE49-F238E27FC236}">
                <a16:creationId xmlns:a16="http://schemas.microsoft.com/office/drawing/2014/main" id="{29063E36-B2CC-3543-2B7C-9BE0A596C27D}"/>
              </a:ext>
            </a:extLst>
          </p:cNvPr>
          <p:cNvSpPr txBox="1"/>
          <p:nvPr/>
        </p:nvSpPr>
        <p:spPr>
          <a:xfrm>
            <a:off x="6129339" y="1847536"/>
            <a:ext cx="4954286" cy="430887"/>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مشتری اقتصادی با ارزش درآمدی پایین، اما با ارزش استراتژیک بالا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به‌عنوان</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مشتری بالقوه گروه ۲ </a:t>
            </a:r>
            <a:endParaRPr kumimoji="0" lang="en-US"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15" name="Rectangle 14">
            <a:extLst>
              <a:ext uri="{FF2B5EF4-FFF2-40B4-BE49-F238E27FC236}">
                <a16:creationId xmlns:a16="http://schemas.microsoft.com/office/drawing/2014/main" id="{DBC3B9A6-142B-0CFB-CB7A-9453260D5084}"/>
              </a:ext>
            </a:extLst>
          </p:cNvPr>
          <p:cNvSpPr/>
          <p:nvPr/>
        </p:nvSpPr>
        <p:spPr>
          <a:xfrm>
            <a:off x="6054291" y="2516475"/>
            <a:ext cx="5093134" cy="674400"/>
          </a:xfrm>
          <a:prstGeom prst="rect">
            <a:avLst/>
          </a:prstGeom>
          <a:noFill/>
          <a:ln w="6350">
            <a:solidFill>
              <a:srgbClr val="0199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18" name="TextBox 17">
            <a:extLst>
              <a:ext uri="{FF2B5EF4-FFF2-40B4-BE49-F238E27FC236}">
                <a16:creationId xmlns:a16="http://schemas.microsoft.com/office/drawing/2014/main" id="{7D92876A-348C-C9BA-C701-EDB66AC0A373}"/>
              </a:ext>
            </a:extLst>
          </p:cNvPr>
          <p:cNvSpPr txBox="1"/>
          <p:nvPr/>
        </p:nvSpPr>
        <p:spPr>
          <a:xfrm>
            <a:off x="9697453" y="2403619"/>
            <a:ext cx="1282422" cy="261610"/>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srgbClr val="0199FF"/>
                </a:solidFill>
                <a:effectLst/>
                <a:uLnTx/>
                <a:uFillTx/>
                <a:latin typeface="Yekan Bakh" pitchFamily="2" charset="-78"/>
                <a:ea typeface="Yekan Bakh" pitchFamily="2" charset="-78"/>
                <a:cs typeface="Yekan Bakh" pitchFamily="2" charset="-78"/>
              </a:rPr>
              <a:t>نیاز محوری مشتری </a:t>
            </a:r>
            <a:endParaRPr kumimoji="0" lang="en-US" sz="1050" b="1" i="0" u="none" strike="noStrike" kern="1200" cap="none" spc="0" normalizeH="0" baseline="0" noProof="0" dirty="0">
              <a:ln>
                <a:noFill/>
              </a:ln>
              <a:solidFill>
                <a:srgbClr val="0199FF"/>
              </a:solidFill>
              <a:effectLst/>
              <a:uLnTx/>
              <a:uFillTx/>
              <a:latin typeface="Yekan Bakh" pitchFamily="2" charset="-78"/>
              <a:ea typeface="Yekan Bakh" pitchFamily="2" charset="-78"/>
              <a:cs typeface="Yekan Bakh" pitchFamily="2" charset="-78"/>
            </a:endParaRPr>
          </a:p>
        </p:txBody>
      </p:sp>
      <p:sp>
        <p:nvSpPr>
          <p:cNvPr id="21" name="TextBox 20">
            <a:extLst>
              <a:ext uri="{FF2B5EF4-FFF2-40B4-BE49-F238E27FC236}">
                <a16:creationId xmlns:a16="http://schemas.microsoft.com/office/drawing/2014/main" id="{9388950A-5EEF-F13B-201C-189C9228D57C}"/>
              </a:ext>
            </a:extLst>
          </p:cNvPr>
          <p:cNvSpPr txBox="1"/>
          <p:nvPr/>
        </p:nvSpPr>
        <p:spPr>
          <a:xfrm>
            <a:off x="5990491" y="2696007"/>
            <a:ext cx="5093134" cy="261610"/>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تشخیص وجود فرصت مناسب در بازار، ارزش آن و میزان ریسک و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هزینه‌ی</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ورود به آن</a:t>
            </a:r>
            <a:endParaRPr kumimoji="0" lang="en-US"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24" name="Rectangle 23">
            <a:extLst>
              <a:ext uri="{FF2B5EF4-FFF2-40B4-BE49-F238E27FC236}">
                <a16:creationId xmlns:a16="http://schemas.microsoft.com/office/drawing/2014/main" id="{CEE6B43D-5BB9-13CC-36AE-38E6871AA485}"/>
              </a:ext>
            </a:extLst>
          </p:cNvPr>
          <p:cNvSpPr/>
          <p:nvPr/>
        </p:nvSpPr>
        <p:spPr>
          <a:xfrm>
            <a:off x="6054291" y="3513710"/>
            <a:ext cx="5093134" cy="1034477"/>
          </a:xfrm>
          <a:prstGeom prst="rect">
            <a:avLst/>
          </a:prstGeom>
          <a:noFill/>
          <a:ln w="6350">
            <a:solidFill>
              <a:srgbClr val="0199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27" name="TextBox 26">
            <a:extLst>
              <a:ext uri="{FF2B5EF4-FFF2-40B4-BE49-F238E27FC236}">
                <a16:creationId xmlns:a16="http://schemas.microsoft.com/office/drawing/2014/main" id="{D4930BB2-48C9-10C1-8816-F65DA5C205AD}"/>
              </a:ext>
            </a:extLst>
          </p:cNvPr>
          <p:cNvSpPr txBox="1"/>
          <p:nvPr/>
        </p:nvSpPr>
        <p:spPr>
          <a:xfrm>
            <a:off x="8768615" y="3400855"/>
            <a:ext cx="2211260" cy="261610"/>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err="1">
                <a:ln>
                  <a:noFill/>
                </a:ln>
                <a:solidFill>
                  <a:srgbClr val="0199FF"/>
                </a:solidFill>
                <a:effectLst/>
                <a:uLnTx/>
                <a:uFillTx/>
                <a:latin typeface="Yekan Bakh" pitchFamily="2" charset="-78"/>
                <a:ea typeface="Yekan Bakh" pitchFamily="2" charset="-78"/>
                <a:cs typeface="Yekan Bakh" pitchFamily="2" charset="-78"/>
              </a:rPr>
              <a:t>فعالیت‌های</a:t>
            </a:r>
            <a:r>
              <a:rPr kumimoji="0" lang="fa-IR" sz="1050" b="1" i="0" u="none" strike="noStrike" kern="1200" cap="none" spc="0" normalizeH="0" baseline="0" noProof="0" dirty="0">
                <a:ln>
                  <a:noFill/>
                </a:ln>
                <a:solidFill>
                  <a:srgbClr val="0199FF"/>
                </a:solidFill>
                <a:effectLst/>
                <a:uLnTx/>
                <a:uFillTx/>
                <a:latin typeface="Yekan Bakh" pitchFamily="2" charset="-78"/>
                <a:ea typeface="Yekan Bakh" pitchFamily="2" charset="-78"/>
                <a:cs typeface="Yekan Bakh" pitchFamily="2" charset="-78"/>
              </a:rPr>
              <a:t> کلیدی نیازمند به سیمرغ </a:t>
            </a:r>
            <a:endParaRPr kumimoji="0" lang="en-US" sz="1050" b="1" i="0" u="none" strike="noStrike" kern="1200" cap="none" spc="0" normalizeH="0" baseline="0" noProof="0" dirty="0">
              <a:ln>
                <a:noFill/>
              </a:ln>
              <a:solidFill>
                <a:srgbClr val="0199FF"/>
              </a:solidFill>
              <a:effectLst/>
              <a:uLnTx/>
              <a:uFillTx/>
              <a:latin typeface="Yekan Bakh" pitchFamily="2" charset="-78"/>
              <a:ea typeface="Yekan Bakh" pitchFamily="2" charset="-78"/>
              <a:cs typeface="Yekan Bakh" pitchFamily="2" charset="-78"/>
            </a:endParaRPr>
          </a:p>
        </p:txBody>
      </p:sp>
      <p:sp>
        <p:nvSpPr>
          <p:cNvPr id="30" name="TextBox 29">
            <a:extLst>
              <a:ext uri="{FF2B5EF4-FFF2-40B4-BE49-F238E27FC236}">
                <a16:creationId xmlns:a16="http://schemas.microsoft.com/office/drawing/2014/main" id="{DA3C4D2D-5F79-032D-3AF9-C54EE5329A6B}"/>
              </a:ext>
            </a:extLst>
          </p:cNvPr>
          <p:cNvSpPr txBox="1"/>
          <p:nvPr/>
        </p:nvSpPr>
        <p:spPr>
          <a:xfrm>
            <a:off x="6129339" y="3693243"/>
            <a:ext cx="4954286" cy="769441"/>
          </a:xfrm>
          <a:prstGeom prst="rect">
            <a:avLst/>
          </a:prstGeom>
          <a:noFill/>
        </p:spPr>
        <p:txBody>
          <a:bodyPr wrap="square">
            <a:spAutoFit/>
          </a:bodyPr>
          <a:lstStyle/>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دریافت تصویری روشن از فرصت‌های بازار، بدون تعهد مالی یا اعتباری</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درک محدوده الزامات قانونی، مقرراتی و انطباق</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ایجاد یک توجیه قابل دفاع در سازمان خود، برای بررسی بازار</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ایجاد آمادگی اقدام سریع در صورت تغییر شرایط اقتصادی یا سیاسی</a:t>
            </a:r>
            <a:endParaRPr kumimoji="0" lang="en-US"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33" name="Rectangle 32">
            <a:extLst>
              <a:ext uri="{FF2B5EF4-FFF2-40B4-BE49-F238E27FC236}">
                <a16:creationId xmlns:a16="http://schemas.microsoft.com/office/drawing/2014/main" id="{3FF680AF-3E9B-B07E-A667-A9D7E9DF4B87}"/>
              </a:ext>
            </a:extLst>
          </p:cNvPr>
          <p:cNvSpPr/>
          <p:nvPr/>
        </p:nvSpPr>
        <p:spPr>
          <a:xfrm>
            <a:off x="6054291" y="4773897"/>
            <a:ext cx="5093134" cy="1160178"/>
          </a:xfrm>
          <a:prstGeom prst="rect">
            <a:avLst/>
          </a:prstGeom>
          <a:noFill/>
          <a:ln w="6350">
            <a:solidFill>
              <a:srgbClr val="0199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36" name="TextBox 35">
            <a:extLst>
              <a:ext uri="{FF2B5EF4-FFF2-40B4-BE49-F238E27FC236}">
                <a16:creationId xmlns:a16="http://schemas.microsoft.com/office/drawing/2014/main" id="{EC8EC938-FCFA-1C9E-558C-DBC6C5075543}"/>
              </a:ext>
            </a:extLst>
          </p:cNvPr>
          <p:cNvSpPr txBox="1"/>
          <p:nvPr/>
        </p:nvSpPr>
        <p:spPr>
          <a:xfrm>
            <a:off x="9553074" y="4661042"/>
            <a:ext cx="1426801" cy="415498"/>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srgbClr val="0199FF"/>
                </a:solidFill>
                <a:effectLst/>
                <a:uLnTx/>
                <a:uFillTx/>
                <a:latin typeface="Yekan Bakh" pitchFamily="2" charset="-78"/>
                <a:ea typeface="Yekan Bakh" pitchFamily="2" charset="-78"/>
                <a:cs typeface="Yekan Bakh" pitchFamily="2" charset="-78"/>
              </a:rPr>
              <a:t>رفتارهای سازمانی غالب</a:t>
            </a:r>
            <a:endParaRPr kumimoji="0" lang="en-US" sz="1050" b="1" i="0" u="none" strike="noStrike" kern="1200" cap="none" spc="0" normalizeH="0" baseline="0" noProof="0" dirty="0">
              <a:ln>
                <a:noFill/>
              </a:ln>
              <a:solidFill>
                <a:srgbClr val="0199FF"/>
              </a:solidFill>
              <a:effectLst/>
              <a:uLnTx/>
              <a:uFillTx/>
              <a:latin typeface="Yekan Bakh" pitchFamily="2" charset="-78"/>
              <a:ea typeface="Yekan Bakh" pitchFamily="2" charset="-78"/>
              <a:cs typeface="Yekan Bakh" pitchFamily="2" charset="-78"/>
            </a:endParaRPr>
          </a:p>
        </p:txBody>
      </p:sp>
      <p:sp>
        <p:nvSpPr>
          <p:cNvPr id="39" name="TextBox 38">
            <a:extLst>
              <a:ext uri="{FF2B5EF4-FFF2-40B4-BE49-F238E27FC236}">
                <a16:creationId xmlns:a16="http://schemas.microsoft.com/office/drawing/2014/main" id="{13730B10-0E64-66F3-E2DF-CA863116C330}"/>
              </a:ext>
            </a:extLst>
          </p:cNvPr>
          <p:cNvSpPr txBox="1"/>
          <p:nvPr/>
        </p:nvSpPr>
        <p:spPr>
          <a:xfrm>
            <a:off x="6129339" y="4953430"/>
            <a:ext cx="4954286" cy="938719"/>
          </a:xfrm>
          <a:prstGeom prst="rect">
            <a:avLst/>
          </a:prstGeom>
          <a:noFill/>
        </p:spPr>
        <p:txBody>
          <a:bodyPr wrap="square">
            <a:spAutoFit/>
          </a:bodyPr>
          <a:lstStyle/>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فوریت کمی برای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تصمیم‌گیری</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دارد و فرآیند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تصمیم‌گیری</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معمولاً طولانی و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غیرخطی</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است.بسیار</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ریسک‌گریز</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است و الزامات انطباق، مهم‌ترین عامل توقف تصمیم محسوب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می‌شوند.بدون</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معرفی از سوی یک نهاد معتبر وارد تعامل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نمی‌شود.پیش</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از آشکار کردن نیت واقعی خود، حجم زیادی از اطلاعات را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جمع‌آوری</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و بررسی می‌کند.</a:t>
            </a:r>
            <a:endParaRPr kumimoji="0" lang="en-US"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42" name="Rectangle 41">
            <a:extLst>
              <a:ext uri="{FF2B5EF4-FFF2-40B4-BE49-F238E27FC236}">
                <a16:creationId xmlns:a16="http://schemas.microsoft.com/office/drawing/2014/main" id="{7AB57349-0DA3-E573-9B28-A50C9DC15421}"/>
              </a:ext>
            </a:extLst>
          </p:cNvPr>
          <p:cNvSpPr/>
          <p:nvPr/>
        </p:nvSpPr>
        <p:spPr>
          <a:xfrm>
            <a:off x="723175" y="1718108"/>
            <a:ext cx="5093134" cy="1034477"/>
          </a:xfrm>
          <a:prstGeom prst="rect">
            <a:avLst/>
          </a:prstGeom>
          <a:noFill/>
          <a:ln w="6350">
            <a:solidFill>
              <a:srgbClr val="0199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45" name="TextBox 44">
            <a:extLst>
              <a:ext uri="{FF2B5EF4-FFF2-40B4-BE49-F238E27FC236}">
                <a16:creationId xmlns:a16="http://schemas.microsoft.com/office/drawing/2014/main" id="{0F4BE19A-3A90-D01A-E69B-F12CEF35FD8D}"/>
              </a:ext>
            </a:extLst>
          </p:cNvPr>
          <p:cNvSpPr txBox="1"/>
          <p:nvPr/>
        </p:nvSpPr>
        <p:spPr>
          <a:xfrm>
            <a:off x="3922295" y="1605253"/>
            <a:ext cx="1726464" cy="261610"/>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srgbClr val="0199FF"/>
                </a:solidFill>
                <a:effectLst/>
                <a:uLnTx/>
                <a:uFillTx/>
                <a:latin typeface="Yekan Bakh" pitchFamily="2" charset="-78"/>
                <a:ea typeface="Yekan Bakh" pitchFamily="2" charset="-78"/>
                <a:cs typeface="Yekan Bakh" pitchFamily="2" charset="-78"/>
              </a:rPr>
              <a:t>ویژگی‌های شرکتی تاثیرگذار </a:t>
            </a:r>
            <a:endParaRPr kumimoji="0" lang="en-US" sz="1050" b="1" i="0" u="none" strike="noStrike" kern="1200" cap="none" spc="0" normalizeH="0" baseline="0" noProof="0" dirty="0">
              <a:ln>
                <a:noFill/>
              </a:ln>
              <a:solidFill>
                <a:srgbClr val="0199FF"/>
              </a:solidFill>
              <a:effectLst/>
              <a:uLnTx/>
              <a:uFillTx/>
              <a:latin typeface="Yekan Bakh" pitchFamily="2" charset="-78"/>
              <a:ea typeface="Yekan Bakh" pitchFamily="2" charset="-78"/>
              <a:cs typeface="Yekan Bakh" pitchFamily="2" charset="-78"/>
            </a:endParaRPr>
          </a:p>
        </p:txBody>
      </p:sp>
      <p:sp>
        <p:nvSpPr>
          <p:cNvPr id="48" name="TextBox 47">
            <a:extLst>
              <a:ext uri="{FF2B5EF4-FFF2-40B4-BE49-F238E27FC236}">
                <a16:creationId xmlns:a16="http://schemas.microsoft.com/office/drawing/2014/main" id="{BBA396FC-FA7D-5329-1A56-F132001F89C5}"/>
              </a:ext>
            </a:extLst>
          </p:cNvPr>
          <p:cNvSpPr txBox="1"/>
          <p:nvPr/>
        </p:nvSpPr>
        <p:spPr>
          <a:xfrm>
            <a:off x="798223" y="1847536"/>
            <a:ext cx="4954286" cy="93871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عضویت در این بخش صرفاً بر اساس خارجی بودن شرکت تعریف می‌شود. </a:t>
            </a:r>
          </a:p>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بر اساس فرضیات بنیان‌گذاران، شرکت‌های بین‌المللی شناخت اندکی از فضای کسب‌وکار ایران دارند و بدون یک واسطه محلی معتبر وارد عمل نمی‌شوند؛ در حالی که شرکت‌های اروپایی تا حدی کانال‌های ارتباطی خود را حفظ کرده‌اند. اگر این فرض نادرست باشد، اولویت این بخش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به‌طور</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اساسی تغییر خواهد کرد.</a:t>
            </a:r>
            <a:endParaRPr kumimoji="0" lang="en-US"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51" name="Rectangle 50">
            <a:extLst>
              <a:ext uri="{FF2B5EF4-FFF2-40B4-BE49-F238E27FC236}">
                <a16:creationId xmlns:a16="http://schemas.microsoft.com/office/drawing/2014/main" id="{77A51FA1-3ABF-5C28-DDD6-FF6E64F4B000}"/>
              </a:ext>
            </a:extLst>
          </p:cNvPr>
          <p:cNvSpPr/>
          <p:nvPr/>
        </p:nvSpPr>
        <p:spPr>
          <a:xfrm>
            <a:off x="723175" y="3088794"/>
            <a:ext cx="5093134" cy="1034477"/>
          </a:xfrm>
          <a:prstGeom prst="rect">
            <a:avLst/>
          </a:prstGeom>
          <a:noFill/>
          <a:ln w="6350">
            <a:solidFill>
              <a:srgbClr val="0199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54" name="TextBox 53">
            <a:extLst>
              <a:ext uri="{FF2B5EF4-FFF2-40B4-BE49-F238E27FC236}">
                <a16:creationId xmlns:a16="http://schemas.microsoft.com/office/drawing/2014/main" id="{5CD74172-1276-C239-AE7B-067E8AAC844A}"/>
              </a:ext>
            </a:extLst>
          </p:cNvPr>
          <p:cNvSpPr txBox="1"/>
          <p:nvPr/>
        </p:nvSpPr>
        <p:spPr>
          <a:xfrm>
            <a:off x="4519061" y="2975939"/>
            <a:ext cx="1129698" cy="261610"/>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a:ln>
                  <a:noFill/>
                </a:ln>
                <a:solidFill>
                  <a:srgbClr val="0199FF"/>
                </a:solidFill>
                <a:effectLst/>
                <a:uLnTx/>
                <a:uFillTx/>
                <a:latin typeface="Yekan Bakh" pitchFamily="2" charset="-78"/>
                <a:ea typeface="Yekan Bakh" pitchFamily="2" charset="-78"/>
                <a:cs typeface="Yekan Bakh" pitchFamily="2" charset="-78"/>
              </a:rPr>
              <a:t>رویدادهای محرک </a:t>
            </a:r>
            <a:endParaRPr kumimoji="0" lang="en-US" sz="1050" b="1" i="0" u="none" strike="noStrike" kern="1200" cap="none" spc="0" normalizeH="0" baseline="0" noProof="0">
              <a:ln>
                <a:noFill/>
              </a:ln>
              <a:solidFill>
                <a:srgbClr val="0199FF"/>
              </a:solidFill>
              <a:effectLst/>
              <a:uLnTx/>
              <a:uFillTx/>
              <a:latin typeface="Yekan Bakh" pitchFamily="2" charset="-78"/>
              <a:ea typeface="Yekan Bakh" pitchFamily="2" charset="-78"/>
              <a:cs typeface="Yekan Bakh" pitchFamily="2" charset="-78"/>
            </a:endParaRPr>
          </a:p>
        </p:txBody>
      </p:sp>
      <p:sp>
        <p:nvSpPr>
          <p:cNvPr id="57" name="TextBox 56">
            <a:extLst>
              <a:ext uri="{FF2B5EF4-FFF2-40B4-BE49-F238E27FC236}">
                <a16:creationId xmlns:a16="http://schemas.microsoft.com/office/drawing/2014/main" id="{271E5E82-D61C-B3FE-6F34-592DB8A37C3B}"/>
              </a:ext>
            </a:extLst>
          </p:cNvPr>
          <p:cNvSpPr txBox="1"/>
          <p:nvPr/>
        </p:nvSpPr>
        <p:spPr>
          <a:xfrm>
            <a:off x="798223" y="3268327"/>
            <a:ext cx="4954286" cy="769441"/>
          </a:xfrm>
          <a:prstGeom prst="rect">
            <a:avLst/>
          </a:prstGeom>
          <a:noFill/>
        </p:spPr>
        <p:txBody>
          <a:bodyPr wrap="square">
            <a:spAutoFit/>
          </a:bodyPr>
          <a:lstStyle/>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مشاهده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نشانه‌هایی</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از گشایش سیاسی یا اقتصادی</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اختلال در زنجیره تأمین که شرکت را به بازنگری در منابع تأمین وادار کند</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ورود یکی از رقبا به بازار ایران</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دریافت پیشنهاد همکاری از یک نهاد معتبر و مورد اعتماد.</a:t>
            </a:r>
            <a:endParaRPr kumimoji="0" lang="en-US"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60" name="Rectangle 59">
            <a:extLst>
              <a:ext uri="{FF2B5EF4-FFF2-40B4-BE49-F238E27FC236}">
                <a16:creationId xmlns:a16="http://schemas.microsoft.com/office/drawing/2014/main" id="{9A2DABC1-BF13-FE8E-E4CD-94D63F7C4DF8}"/>
              </a:ext>
            </a:extLst>
          </p:cNvPr>
          <p:cNvSpPr/>
          <p:nvPr/>
        </p:nvSpPr>
        <p:spPr>
          <a:xfrm>
            <a:off x="758391" y="4436191"/>
            <a:ext cx="5093134" cy="1497884"/>
          </a:xfrm>
          <a:prstGeom prst="rect">
            <a:avLst/>
          </a:prstGeom>
          <a:noFill/>
          <a:ln w="6350">
            <a:solidFill>
              <a:srgbClr val="0199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63" name="TextBox 62">
            <a:extLst>
              <a:ext uri="{FF2B5EF4-FFF2-40B4-BE49-F238E27FC236}">
                <a16:creationId xmlns:a16="http://schemas.microsoft.com/office/drawing/2014/main" id="{32906DD9-8275-884A-836A-4E1A65974171}"/>
              </a:ext>
            </a:extLst>
          </p:cNvPr>
          <p:cNvSpPr txBox="1"/>
          <p:nvPr/>
        </p:nvSpPr>
        <p:spPr>
          <a:xfrm>
            <a:off x="3922295" y="4323336"/>
            <a:ext cx="1761680" cy="261610"/>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a:ln>
                  <a:noFill/>
                </a:ln>
                <a:solidFill>
                  <a:srgbClr val="0199FF"/>
                </a:solidFill>
                <a:effectLst/>
                <a:uLnTx/>
                <a:uFillTx/>
                <a:latin typeface="Yekan Bakh" pitchFamily="2" charset="-78"/>
                <a:ea typeface="Yekan Bakh" pitchFamily="2" charset="-78"/>
                <a:cs typeface="Yekan Bakh" pitchFamily="2" charset="-78"/>
              </a:rPr>
              <a:t>فرآیند خرید / تصمیم‌گیری </a:t>
            </a:r>
            <a:endParaRPr kumimoji="0" lang="en-US" sz="1050" b="1" i="0" u="none" strike="noStrike" kern="1200" cap="none" spc="0" normalizeH="0" baseline="0" noProof="0">
              <a:ln>
                <a:noFill/>
              </a:ln>
              <a:solidFill>
                <a:srgbClr val="0199FF"/>
              </a:solidFill>
              <a:effectLst/>
              <a:uLnTx/>
              <a:uFillTx/>
              <a:latin typeface="Yekan Bakh" pitchFamily="2" charset="-78"/>
              <a:ea typeface="Yekan Bakh" pitchFamily="2" charset="-78"/>
              <a:cs typeface="Yekan Bakh" pitchFamily="2" charset="-78"/>
            </a:endParaRPr>
          </a:p>
        </p:txBody>
      </p:sp>
      <p:sp>
        <p:nvSpPr>
          <p:cNvPr id="66" name="TextBox 65">
            <a:extLst>
              <a:ext uri="{FF2B5EF4-FFF2-40B4-BE49-F238E27FC236}">
                <a16:creationId xmlns:a16="http://schemas.microsoft.com/office/drawing/2014/main" id="{CFBFFD57-0DC5-AC70-66FC-687C33F48DD2}"/>
              </a:ext>
            </a:extLst>
          </p:cNvPr>
          <p:cNvSpPr txBox="1"/>
          <p:nvPr/>
        </p:nvSpPr>
        <p:spPr>
          <a:xfrm>
            <a:off x="833439" y="4615724"/>
            <a:ext cx="4954286" cy="769441"/>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در این مرحله معمولاً فرآیند خرید رسمی وجود ندارد و در بهترین حالت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بودجه‌ای</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محدود برای بررسی اولیه اختصاص داده می‌شود. موفقیت واقعی زمانی است که شرکت اجازه دهد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گفت‌وگو</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ادامه پیدا کند. در اغلب موارد، دریافت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تأییدیه‌های</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انطباق و حقوقی، پیش از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شکل‌گیری</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هرگونه علاقه تجاری اتفاق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می‌افتد</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a:t>
            </a:r>
            <a:endParaRPr kumimoji="0" lang="en-US"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Tree>
    <p:extLst>
      <p:ext uri="{BB962C8B-B14F-4D97-AF65-F5344CB8AC3E}">
        <p14:creationId xmlns:p14="http://schemas.microsoft.com/office/powerpoint/2010/main" val="11108983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2359BA-FC91-67FF-C901-0D1D0ABF7539}"/>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2B619084-D483-8BFF-649F-4EF5ABB9BAA2}"/>
              </a:ext>
            </a:extLst>
          </p:cNvPr>
          <p:cNvSpPr/>
          <p:nvPr/>
        </p:nvSpPr>
        <p:spPr>
          <a:xfrm>
            <a:off x="0" y="0"/>
            <a:ext cx="11703050" cy="1417320"/>
          </a:xfrm>
          <a:prstGeom prst="rect">
            <a:avLst/>
          </a:prstGeom>
          <a:solidFill>
            <a:srgbClr val="0199FF">
              <a:alpha val="1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Calibri"/>
            </a:endParaRPr>
          </a:p>
        </p:txBody>
      </p:sp>
      <p:sp>
        <p:nvSpPr>
          <p:cNvPr id="2" name="Text Placeholder 1">
            <a:extLst>
              <a:ext uri="{FF2B5EF4-FFF2-40B4-BE49-F238E27FC236}">
                <a16:creationId xmlns:a16="http://schemas.microsoft.com/office/drawing/2014/main" id="{7BA4507E-1E49-2555-715B-8522D49BC936}"/>
              </a:ext>
            </a:extLst>
          </p:cNvPr>
          <p:cNvSpPr>
            <a:spLocks noGrp="1"/>
          </p:cNvSpPr>
          <p:nvPr>
            <p:ph type="body" sz="quarter" idx="10"/>
          </p:nvPr>
        </p:nvSpPr>
        <p:spPr/>
        <p:txBody>
          <a:bodyPr/>
          <a:lstStyle/>
          <a:p>
            <a:r>
              <a:rPr lang="fa-IR"/>
              <a:t>پروفایل بخش‌های مشتری</a:t>
            </a:r>
            <a:endParaRPr lang="fa-IR" dirty="0"/>
          </a:p>
        </p:txBody>
      </p:sp>
      <p:sp>
        <p:nvSpPr>
          <p:cNvPr id="3" name="Text Placeholder 2">
            <a:extLst>
              <a:ext uri="{FF2B5EF4-FFF2-40B4-BE49-F238E27FC236}">
                <a16:creationId xmlns:a16="http://schemas.microsoft.com/office/drawing/2014/main" id="{7DAF6D2D-D9BE-3995-3A7F-6A3BE75A65BB}"/>
              </a:ext>
            </a:extLst>
          </p:cNvPr>
          <p:cNvSpPr>
            <a:spLocks noGrp="1"/>
          </p:cNvSpPr>
          <p:nvPr>
            <p:ph type="body" sz="quarter" idx="12"/>
          </p:nvPr>
        </p:nvSpPr>
        <p:spPr/>
        <p:txBody>
          <a:bodyPr/>
          <a:lstStyle/>
          <a:p>
            <a:r>
              <a:rPr lang="fa-IR" dirty="0"/>
              <a:t>۴. کسب‌وکار کنجکاو </a:t>
            </a:r>
            <a:r>
              <a:rPr lang="fa-IR" sz="1200" b="0" dirty="0">
                <a:solidFill>
                  <a:schemeClr val="tx1">
                    <a:lumMod val="65000"/>
                    <a:lumOff val="35000"/>
                  </a:schemeClr>
                </a:solidFill>
              </a:rPr>
              <a:t>(1/2)</a:t>
            </a:r>
          </a:p>
          <a:p>
            <a:r>
              <a:rPr lang="fa-IR" sz="1100" b="0" dirty="0">
                <a:solidFill>
                  <a:schemeClr val="tx1">
                    <a:lumMod val="65000"/>
                    <a:lumOff val="35000"/>
                  </a:schemeClr>
                </a:solidFill>
              </a:rPr>
              <a:t>یک شرکت خارجی که هنوز هدف، ماموریت یا بودجه‌ی مشخصی برای ورود به بازار ایران ندارد و صرفا در حال ارزیابی این است که آیا اساسا این بازار ارزش بررسی و ورود را دارد یا خیر؛ آنچه این شرکت خریداری می‌کند معامله نیست، بلکه کاهش عدم قطعیت است. </a:t>
            </a:r>
            <a:r>
              <a:rPr lang="fa-IR" sz="1050" b="0" dirty="0">
                <a:solidFill>
                  <a:schemeClr val="tx1">
                    <a:lumMod val="65000"/>
                    <a:lumOff val="35000"/>
                  </a:schemeClr>
                </a:solidFill>
              </a:rPr>
              <a:t>(شرکت ایرانی بدون ماموریت یا برنامه مشخص برای ورود به بازار بین‌المللی در مسیر گروه سوم قرار میگیرد)</a:t>
            </a:r>
            <a:endParaRPr lang="fa-IR" sz="1100" b="0" dirty="0">
              <a:solidFill>
                <a:schemeClr val="tx1">
                  <a:lumMod val="65000"/>
                  <a:lumOff val="35000"/>
                </a:schemeClr>
              </a:solidFill>
            </a:endParaRPr>
          </a:p>
        </p:txBody>
      </p:sp>
      <p:sp>
        <p:nvSpPr>
          <p:cNvPr id="7" name="Rectangle 6">
            <a:extLst>
              <a:ext uri="{FF2B5EF4-FFF2-40B4-BE49-F238E27FC236}">
                <a16:creationId xmlns:a16="http://schemas.microsoft.com/office/drawing/2014/main" id="{2D2D779E-27C2-111F-CA5F-B40FD5138264}"/>
              </a:ext>
            </a:extLst>
          </p:cNvPr>
          <p:cNvSpPr/>
          <p:nvPr/>
        </p:nvSpPr>
        <p:spPr>
          <a:xfrm>
            <a:off x="6054291" y="1718108"/>
            <a:ext cx="5093134" cy="1034477"/>
          </a:xfrm>
          <a:prstGeom prst="rect">
            <a:avLst/>
          </a:prstGeom>
          <a:noFill/>
          <a:ln w="6350">
            <a:solidFill>
              <a:srgbClr val="0199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10" name="TextBox 9">
            <a:extLst>
              <a:ext uri="{FF2B5EF4-FFF2-40B4-BE49-F238E27FC236}">
                <a16:creationId xmlns:a16="http://schemas.microsoft.com/office/drawing/2014/main" id="{4C4E6901-4DDB-654E-C6CB-77768F2290E7}"/>
              </a:ext>
            </a:extLst>
          </p:cNvPr>
          <p:cNvSpPr txBox="1"/>
          <p:nvPr/>
        </p:nvSpPr>
        <p:spPr>
          <a:xfrm>
            <a:off x="9466446" y="1605252"/>
            <a:ext cx="1513429" cy="261610"/>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err="1">
                <a:ln>
                  <a:noFill/>
                </a:ln>
                <a:solidFill>
                  <a:srgbClr val="0199FF"/>
                </a:solidFill>
                <a:effectLst/>
                <a:uLnTx/>
                <a:uFillTx/>
                <a:latin typeface="Yekan Bakh" pitchFamily="2" charset="-78"/>
                <a:ea typeface="Yekan Bakh" pitchFamily="2" charset="-78"/>
                <a:cs typeface="Yekan Bakh" pitchFamily="2" charset="-78"/>
              </a:rPr>
              <a:t>تصمیم‌گیرندگان</a:t>
            </a:r>
            <a:r>
              <a:rPr kumimoji="0" lang="fa-IR" sz="1050" b="1" i="0" u="none" strike="noStrike" kern="1200" cap="none" spc="0" normalizeH="0" baseline="0" noProof="0" dirty="0">
                <a:ln>
                  <a:noFill/>
                </a:ln>
                <a:solidFill>
                  <a:srgbClr val="0199FF"/>
                </a:solidFill>
                <a:effectLst/>
                <a:uLnTx/>
                <a:uFillTx/>
                <a:latin typeface="Yekan Bakh" pitchFamily="2" charset="-78"/>
                <a:ea typeface="Yekan Bakh" pitchFamily="2" charset="-78"/>
                <a:cs typeface="Yekan Bakh" pitchFamily="2" charset="-78"/>
              </a:rPr>
              <a:t> کلیدی</a:t>
            </a:r>
            <a:endParaRPr kumimoji="0" lang="en-US" sz="1050" b="1" i="0" u="none" strike="noStrike" kern="1200" cap="none" spc="0" normalizeH="0" baseline="0" noProof="0" dirty="0">
              <a:ln>
                <a:noFill/>
              </a:ln>
              <a:solidFill>
                <a:srgbClr val="0199FF"/>
              </a:solidFill>
              <a:effectLst/>
              <a:uLnTx/>
              <a:uFillTx/>
              <a:latin typeface="Yekan Bakh" pitchFamily="2" charset="-78"/>
              <a:ea typeface="Yekan Bakh" pitchFamily="2" charset="-78"/>
              <a:cs typeface="Yekan Bakh" pitchFamily="2" charset="-78"/>
            </a:endParaRPr>
          </a:p>
        </p:txBody>
      </p:sp>
      <p:sp>
        <p:nvSpPr>
          <p:cNvPr id="13" name="TextBox 12">
            <a:extLst>
              <a:ext uri="{FF2B5EF4-FFF2-40B4-BE49-F238E27FC236}">
                <a16:creationId xmlns:a16="http://schemas.microsoft.com/office/drawing/2014/main" id="{12F9B5A6-9FD9-0748-A073-1453065176F1}"/>
              </a:ext>
            </a:extLst>
          </p:cNvPr>
          <p:cNvSpPr txBox="1"/>
          <p:nvPr/>
        </p:nvSpPr>
        <p:spPr>
          <a:xfrm>
            <a:off x="6129339" y="1897640"/>
            <a:ext cx="4954286" cy="600164"/>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واحد توسعه کسب‌وکار یا استراتژی (متولی اکتشاف فرصت‌ها)</a:t>
            </a:r>
          </a:p>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واحد حقوقی و انطباق (</a:t>
            </a:r>
            <a:r>
              <a:rPr kumimoji="0" lang="en-US"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Compliance</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که عملاً اختیار نهایی را دارد.</a:t>
            </a:r>
          </a:p>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مدیر واحد کسب‌وکار که در صورت پیشرفت موضوع، حامی اصلی پروژه خواهد شد.</a:t>
            </a:r>
            <a:endParaRPr kumimoji="0" lang="en-US"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16" name="Rectangle 15">
            <a:extLst>
              <a:ext uri="{FF2B5EF4-FFF2-40B4-BE49-F238E27FC236}">
                <a16:creationId xmlns:a16="http://schemas.microsoft.com/office/drawing/2014/main" id="{F96FFDB1-C1BF-E77A-5B3D-26C6D283664B}"/>
              </a:ext>
            </a:extLst>
          </p:cNvPr>
          <p:cNvSpPr/>
          <p:nvPr/>
        </p:nvSpPr>
        <p:spPr>
          <a:xfrm>
            <a:off x="6054291" y="2955438"/>
            <a:ext cx="5093134" cy="798522"/>
          </a:xfrm>
          <a:prstGeom prst="rect">
            <a:avLst/>
          </a:prstGeom>
          <a:noFill/>
          <a:ln w="6350">
            <a:solidFill>
              <a:srgbClr val="0199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19" name="TextBox 18">
            <a:extLst>
              <a:ext uri="{FF2B5EF4-FFF2-40B4-BE49-F238E27FC236}">
                <a16:creationId xmlns:a16="http://schemas.microsoft.com/office/drawing/2014/main" id="{B54AB00C-5A4D-F53A-2732-EB13AB09438E}"/>
              </a:ext>
            </a:extLst>
          </p:cNvPr>
          <p:cNvSpPr txBox="1"/>
          <p:nvPr/>
        </p:nvSpPr>
        <p:spPr>
          <a:xfrm>
            <a:off x="9466446" y="2842582"/>
            <a:ext cx="1513429" cy="261610"/>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a:ln>
                  <a:noFill/>
                </a:ln>
                <a:solidFill>
                  <a:srgbClr val="0199FF"/>
                </a:solidFill>
                <a:effectLst/>
                <a:uLnTx/>
                <a:uFillTx/>
                <a:latin typeface="Yekan Bakh" pitchFamily="2" charset="-78"/>
                <a:ea typeface="Yekan Bakh" pitchFamily="2" charset="-78"/>
                <a:cs typeface="Yekan Bakh" pitchFamily="2" charset="-78"/>
              </a:rPr>
              <a:t>آنچه برایشان ارزش است</a:t>
            </a:r>
            <a:endParaRPr kumimoji="0" lang="en-US" sz="1050" b="1" i="0" u="none" strike="noStrike" kern="1200" cap="none" spc="0" normalizeH="0" baseline="0" noProof="0">
              <a:ln>
                <a:noFill/>
              </a:ln>
              <a:solidFill>
                <a:srgbClr val="0199FF"/>
              </a:solidFill>
              <a:effectLst/>
              <a:uLnTx/>
              <a:uFillTx/>
              <a:latin typeface="Yekan Bakh" pitchFamily="2" charset="-78"/>
              <a:ea typeface="Yekan Bakh" pitchFamily="2" charset="-78"/>
              <a:cs typeface="Yekan Bakh" pitchFamily="2" charset="-78"/>
            </a:endParaRPr>
          </a:p>
        </p:txBody>
      </p:sp>
      <p:sp>
        <p:nvSpPr>
          <p:cNvPr id="22" name="TextBox 21">
            <a:extLst>
              <a:ext uri="{FF2B5EF4-FFF2-40B4-BE49-F238E27FC236}">
                <a16:creationId xmlns:a16="http://schemas.microsoft.com/office/drawing/2014/main" id="{16E28DD3-DA1A-17E3-0492-724AC37F4D12}"/>
              </a:ext>
            </a:extLst>
          </p:cNvPr>
          <p:cNvSpPr txBox="1"/>
          <p:nvPr/>
        </p:nvSpPr>
        <p:spPr>
          <a:xfrm>
            <a:off x="6129339" y="3134970"/>
            <a:ext cx="4954286" cy="600164"/>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اعتبار منبع اطلاعات، مهم‌ترین عامل ارزش است.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علاوه‌بر</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آن،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محرمانگی</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تعهد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حداقلی</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امکان ارائه یک روایت قابل دفاع در داخل سازمان، و حفظ اختیار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تصمیم‌گیری</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برای آینده نیز اهمیت زیادی دارد</a:t>
            </a:r>
            <a:endParaRPr kumimoji="0" lang="en-US"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25" name="Rectangle 24">
            <a:extLst>
              <a:ext uri="{FF2B5EF4-FFF2-40B4-BE49-F238E27FC236}">
                <a16:creationId xmlns:a16="http://schemas.microsoft.com/office/drawing/2014/main" id="{7CAB3751-9B56-97FB-67A2-3610E8350E50}"/>
              </a:ext>
            </a:extLst>
          </p:cNvPr>
          <p:cNvSpPr/>
          <p:nvPr/>
        </p:nvSpPr>
        <p:spPr>
          <a:xfrm>
            <a:off x="6054291" y="3893177"/>
            <a:ext cx="5093134" cy="1160178"/>
          </a:xfrm>
          <a:prstGeom prst="rect">
            <a:avLst/>
          </a:prstGeom>
          <a:noFill/>
          <a:ln w="6350">
            <a:solidFill>
              <a:srgbClr val="0199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28" name="TextBox 27">
            <a:extLst>
              <a:ext uri="{FF2B5EF4-FFF2-40B4-BE49-F238E27FC236}">
                <a16:creationId xmlns:a16="http://schemas.microsoft.com/office/drawing/2014/main" id="{6C98080B-0EE5-B48E-9A4A-FF3AF2ABA6BB}"/>
              </a:ext>
            </a:extLst>
          </p:cNvPr>
          <p:cNvSpPr txBox="1"/>
          <p:nvPr/>
        </p:nvSpPr>
        <p:spPr>
          <a:xfrm>
            <a:off x="9567512" y="3780322"/>
            <a:ext cx="1412363" cy="261610"/>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srgbClr val="0199FF"/>
                </a:solidFill>
                <a:effectLst/>
                <a:uLnTx/>
                <a:uFillTx/>
                <a:latin typeface="Yekan Bakh" pitchFamily="2" charset="-78"/>
                <a:ea typeface="Yekan Bakh" pitchFamily="2" charset="-78"/>
                <a:cs typeface="Yekan Bakh" pitchFamily="2" charset="-78"/>
              </a:rPr>
              <a:t>تمایل به پرداخت برای</a:t>
            </a:r>
            <a:endParaRPr kumimoji="0" lang="en-US" sz="1050" b="1" i="0" u="none" strike="noStrike" kern="1200" cap="none" spc="0" normalizeH="0" baseline="0" noProof="0" dirty="0">
              <a:ln>
                <a:noFill/>
              </a:ln>
              <a:solidFill>
                <a:srgbClr val="0199FF"/>
              </a:solidFill>
              <a:effectLst/>
              <a:uLnTx/>
              <a:uFillTx/>
              <a:latin typeface="Yekan Bakh" pitchFamily="2" charset="-78"/>
              <a:ea typeface="Yekan Bakh" pitchFamily="2" charset="-78"/>
              <a:cs typeface="Yekan Bakh" pitchFamily="2" charset="-78"/>
            </a:endParaRPr>
          </a:p>
        </p:txBody>
      </p:sp>
      <p:sp>
        <p:nvSpPr>
          <p:cNvPr id="31" name="TextBox 30">
            <a:extLst>
              <a:ext uri="{FF2B5EF4-FFF2-40B4-BE49-F238E27FC236}">
                <a16:creationId xmlns:a16="http://schemas.microsoft.com/office/drawing/2014/main" id="{E2EAC2B1-5352-E007-9EC7-854CAF1809BC}"/>
              </a:ext>
            </a:extLst>
          </p:cNvPr>
          <p:cNvSpPr txBox="1"/>
          <p:nvPr/>
        </p:nvSpPr>
        <p:spPr>
          <a:xfrm>
            <a:off x="6129339" y="4034610"/>
            <a:ext cx="4954286" cy="877163"/>
          </a:xfrm>
          <a:prstGeom prst="rect">
            <a:avLst/>
          </a:prstGeom>
          <a:noFill/>
        </p:spPr>
        <p:txBody>
          <a:bodyPr wrap="square">
            <a:spAutoFit/>
          </a:bodyPr>
          <a:lstStyle/>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گزارش‌ها</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و تحلیل‌های بازار</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معرفی فرصت‌های منتخب و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غربال‌شده</a:t>
            </a:r>
            <a:endPar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برنامه‌های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ساختاریافته</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آمادگی برای ورود</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هیئت‌های</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تجاری و بازدیدهای اکتشافی</a:t>
            </a:r>
          </a:p>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700" b="0" i="0" u="none" strike="noStrike" kern="1200" cap="none" spc="0" normalizeH="0" baseline="0" noProof="0" dirty="0">
                <a:ln>
                  <a:noFill/>
                </a:ln>
                <a:solidFill>
                  <a:schemeClr val="tx1">
                    <a:lumMod val="50000"/>
                    <a:lumOff val="50000"/>
                  </a:schemeClr>
                </a:solidFill>
                <a:effectLst/>
                <a:uLnTx/>
                <a:uFillTx/>
                <a:latin typeface="Yekan Bakh" pitchFamily="2" charset="-78"/>
                <a:ea typeface="Yekan Bakh" pitchFamily="2" charset="-78"/>
                <a:cs typeface="Yekan Bakh" pitchFamily="2" charset="-78"/>
              </a:rPr>
              <a:t>میزان پرداخت معمولاً محدود است و تنها در صورتی انجام می‌شود که ارائه‌دهنده خدمت از اعتبار نهادی بالایی برخوردار باشد.</a:t>
            </a:r>
            <a:endParaRPr kumimoji="0" lang="en-US" sz="700" b="0" i="0" u="none" strike="noStrike" kern="1200" cap="none" spc="0" normalizeH="0" baseline="0" noProof="0" dirty="0">
              <a:ln>
                <a:noFill/>
              </a:ln>
              <a:solidFill>
                <a:schemeClr val="tx1">
                  <a:lumMod val="50000"/>
                  <a:lumOff val="50000"/>
                </a:schemeClr>
              </a:solidFill>
              <a:effectLst/>
              <a:uLnTx/>
              <a:uFillTx/>
              <a:latin typeface="Yekan Bakh" pitchFamily="2" charset="-78"/>
              <a:ea typeface="Yekan Bakh" pitchFamily="2" charset="-78"/>
              <a:cs typeface="Yekan Bakh" pitchFamily="2" charset="-78"/>
            </a:endParaRPr>
          </a:p>
        </p:txBody>
      </p:sp>
      <p:sp>
        <p:nvSpPr>
          <p:cNvPr id="34" name="Rectangle 33">
            <a:extLst>
              <a:ext uri="{FF2B5EF4-FFF2-40B4-BE49-F238E27FC236}">
                <a16:creationId xmlns:a16="http://schemas.microsoft.com/office/drawing/2014/main" id="{FFA575C3-2CC0-7A5D-102E-F41A1F4A64AA}"/>
              </a:ext>
            </a:extLst>
          </p:cNvPr>
          <p:cNvSpPr/>
          <p:nvPr/>
        </p:nvSpPr>
        <p:spPr>
          <a:xfrm>
            <a:off x="723175" y="1718108"/>
            <a:ext cx="5093134" cy="1034477"/>
          </a:xfrm>
          <a:prstGeom prst="rect">
            <a:avLst/>
          </a:prstGeom>
          <a:noFill/>
          <a:ln w="6350">
            <a:solidFill>
              <a:srgbClr val="0199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37" name="TextBox 36">
            <a:extLst>
              <a:ext uri="{FF2B5EF4-FFF2-40B4-BE49-F238E27FC236}">
                <a16:creationId xmlns:a16="http://schemas.microsoft.com/office/drawing/2014/main" id="{623D739C-A802-DB5F-999D-A4EE0E4BC1FA}"/>
              </a:ext>
            </a:extLst>
          </p:cNvPr>
          <p:cNvSpPr txBox="1"/>
          <p:nvPr/>
        </p:nvSpPr>
        <p:spPr>
          <a:xfrm>
            <a:off x="4134051" y="1605253"/>
            <a:ext cx="1514708" cy="261610"/>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srgbClr val="0199FF"/>
                </a:solidFill>
                <a:effectLst/>
                <a:uLnTx/>
                <a:uFillTx/>
                <a:latin typeface="Yekan Bakh" pitchFamily="2" charset="-78"/>
                <a:ea typeface="Yekan Bakh" pitchFamily="2" charset="-78"/>
                <a:cs typeface="Yekan Bakh" pitchFamily="2" charset="-78"/>
              </a:rPr>
              <a:t>ارزش پیشنهادی خدمت </a:t>
            </a:r>
            <a:endParaRPr kumimoji="0" lang="en-US" sz="1050" b="1" i="0" u="none" strike="noStrike" kern="1200" cap="none" spc="0" normalizeH="0" baseline="0" noProof="0" dirty="0">
              <a:ln>
                <a:noFill/>
              </a:ln>
              <a:solidFill>
                <a:srgbClr val="0199FF"/>
              </a:solidFill>
              <a:effectLst/>
              <a:uLnTx/>
              <a:uFillTx/>
              <a:latin typeface="Yekan Bakh" pitchFamily="2" charset="-78"/>
              <a:ea typeface="Yekan Bakh" pitchFamily="2" charset="-78"/>
              <a:cs typeface="Yekan Bakh" pitchFamily="2" charset="-78"/>
            </a:endParaRPr>
          </a:p>
        </p:txBody>
      </p:sp>
      <p:sp>
        <p:nvSpPr>
          <p:cNvPr id="40" name="TextBox 39">
            <a:extLst>
              <a:ext uri="{FF2B5EF4-FFF2-40B4-BE49-F238E27FC236}">
                <a16:creationId xmlns:a16="http://schemas.microsoft.com/office/drawing/2014/main" id="{573FDD9C-6C57-5B4A-82E5-72C04EAA52CE}"/>
              </a:ext>
            </a:extLst>
          </p:cNvPr>
          <p:cNvSpPr txBox="1"/>
          <p:nvPr/>
        </p:nvSpPr>
        <p:spPr>
          <a:xfrm>
            <a:off x="798223" y="1897641"/>
            <a:ext cx="4954286" cy="600164"/>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ارائه اطلاعات و تحلیل بازار، شناسایی و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نقشه‌برداری</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فرصت‌ها، اجرای برنامه‌های آمادگی برای ورود به بازار، و ایجاد دسترسی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کنترل‌شده</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به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طرف‌های</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ایرانی که از پیش ارزیابی و تأیید شده‌اند.</a:t>
            </a:r>
            <a:endParaRPr kumimoji="0" lang="en-US"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43" name="Rectangle 42">
            <a:extLst>
              <a:ext uri="{FF2B5EF4-FFF2-40B4-BE49-F238E27FC236}">
                <a16:creationId xmlns:a16="http://schemas.microsoft.com/office/drawing/2014/main" id="{5D5AB863-CF7D-A7BF-2BD2-5F1734AA8D88}"/>
              </a:ext>
            </a:extLst>
          </p:cNvPr>
          <p:cNvSpPr/>
          <p:nvPr/>
        </p:nvSpPr>
        <p:spPr>
          <a:xfrm>
            <a:off x="6054291" y="5192091"/>
            <a:ext cx="5093134" cy="741984"/>
          </a:xfrm>
          <a:prstGeom prst="rect">
            <a:avLst/>
          </a:prstGeom>
          <a:noFill/>
          <a:ln w="6350">
            <a:solidFill>
              <a:srgbClr val="0199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46" name="TextBox 45">
            <a:extLst>
              <a:ext uri="{FF2B5EF4-FFF2-40B4-BE49-F238E27FC236}">
                <a16:creationId xmlns:a16="http://schemas.microsoft.com/office/drawing/2014/main" id="{13E917D2-A720-33AA-CC68-49AA312A75EE}"/>
              </a:ext>
            </a:extLst>
          </p:cNvPr>
          <p:cNvSpPr txBox="1"/>
          <p:nvPr/>
        </p:nvSpPr>
        <p:spPr>
          <a:xfrm>
            <a:off x="9620451" y="5079235"/>
            <a:ext cx="1359424" cy="253916"/>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srgbClr val="0199FF"/>
                </a:solidFill>
                <a:effectLst/>
                <a:uLnTx/>
                <a:uFillTx/>
                <a:latin typeface="Yekan Bakh" pitchFamily="2" charset="-78"/>
                <a:ea typeface="Yekan Bakh" pitchFamily="2" charset="-78"/>
                <a:cs typeface="Yekan Bakh" pitchFamily="2" charset="-78"/>
              </a:rPr>
              <a:t>مدل تعامل </a:t>
            </a:r>
            <a:r>
              <a:rPr kumimoji="0" lang="fa-IR" sz="1050" b="1" i="0" u="none" strike="noStrike" kern="1200" cap="none" spc="0" normalizeH="0" baseline="0" noProof="0" dirty="0" err="1">
                <a:ln>
                  <a:noFill/>
                </a:ln>
                <a:solidFill>
                  <a:srgbClr val="0199FF"/>
                </a:solidFill>
                <a:effectLst/>
                <a:uLnTx/>
                <a:uFillTx/>
                <a:latin typeface="Yekan Bakh" pitchFamily="2" charset="-78"/>
                <a:ea typeface="Yekan Bakh" pitchFamily="2" charset="-78"/>
                <a:cs typeface="Yekan Bakh" pitchFamily="2" charset="-78"/>
              </a:rPr>
              <a:t>ترجیحی</a:t>
            </a:r>
            <a:endParaRPr kumimoji="0" lang="en-US" sz="1050" b="1" i="0" u="none" strike="noStrike" kern="1200" cap="none" spc="0" normalizeH="0" baseline="0" noProof="0" dirty="0">
              <a:ln>
                <a:noFill/>
              </a:ln>
              <a:solidFill>
                <a:srgbClr val="0199FF"/>
              </a:solidFill>
              <a:effectLst/>
              <a:uLnTx/>
              <a:uFillTx/>
              <a:latin typeface="Yekan Bakh" pitchFamily="2" charset="-78"/>
              <a:ea typeface="Yekan Bakh" pitchFamily="2" charset="-78"/>
              <a:cs typeface="Yekan Bakh" pitchFamily="2" charset="-78"/>
            </a:endParaRPr>
          </a:p>
        </p:txBody>
      </p:sp>
      <p:sp>
        <p:nvSpPr>
          <p:cNvPr id="49" name="TextBox 48">
            <a:extLst>
              <a:ext uri="{FF2B5EF4-FFF2-40B4-BE49-F238E27FC236}">
                <a16:creationId xmlns:a16="http://schemas.microsoft.com/office/drawing/2014/main" id="{6B0A10D6-866F-F430-AED2-3F309A88F4BA}"/>
              </a:ext>
            </a:extLst>
          </p:cNvPr>
          <p:cNvSpPr txBox="1"/>
          <p:nvPr/>
        </p:nvSpPr>
        <p:spPr>
          <a:xfrm>
            <a:off x="6129339" y="5266848"/>
            <a:ext cx="4954286" cy="553998"/>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0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مدلی </a:t>
            </a:r>
            <a:r>
              <a:rPr kumimoji="0" lang="fa-IR" sz="10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کم‌تعهد</a:t>
            </a:r>
            <a:r>
              <a:rPr kumimoji="0" lang="fa-IR" sz="10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و </a:t>
            </a:r>
            <a:r>
              <a:rPr kumimoji="0" lang="fa-IR" sz="10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برنامه‌محور</a:t>
            </a:r>
            <a:r>
              <a:rPr kumimoji="0" lang="fa-IR" sz="10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مانند: ۱. اشتراک </a:t>
            </a:r>
            <a:r>
              <a:rPr kumimoji="0" lang="fa-IR" sz="10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گزارش‌ها</a:t>
            </a:r>
            <a:r>
              <a:rPr kumimoji="0" lang="fa-IR" sz="10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و تحلیل‌های </a:t>
            </a:r>
            <a:r>
              <a:rPr kumimoji="0" lang="fa-IR" sz="10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دوره‌ای</a:t>
            </a:r>
            <a:r>
              <a:rPr kumimoji="0" lang="fa-IR" sz="10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a:t>
            </a:r>
          </a:p>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0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۲. برنامه‌های آموزشی و آمادگی گروهی و ۳. </a:t>
            </a:r>
            <a:r>
              <a:rPr kumimoji="0" lang="fa-IR" sz="10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نشست‌ها</a:t>
            </a:r>
            <a:r>
              <a:rPr kumimoji="0" lang="fa-IR" sz="10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و رویدادهای اختصاصی</a:t>
            </a:r>
          </a:p>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0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هدف اصلی این مدل، تبدیل مشتری به گروه ۲ است، نه کسب حداکثر درآمد از همین مرحله</a:t>
            </a:r>
          </a:p>
        </p:txBody>
      </p:sp>
      <p:sp>
        <p:nvSpPr>
          <p:cNvPr id="52" name="Rectangle 51">
            <a:extLst>
              <a:ext uri="{FF2B5EF4-FFF2-40B4-BE49-F238E27FC236}">
                <a16:creationId xmlns:a16="http://schemas.microsoft.com/office/drawing/2014/main" id="{4A72F829-1A9E-17F2-A4AC-B7DCD65634FE}"/>
              </a:ext>
            </a:extLst>
          </p:cNvPr>
          <p:cNvSpPr/>
          <p:nvPr/>
        </p:nvSpPr>
        <p:spPr>
          <a:xfrm>
            <a:off x="758391" y="4436191"/>
            <a:ext cx="5093134" cy="1497884"/>
          </a:xfrm>
          <a:prstGeom prst="rect">
            <a:avLst/>
          </a:prstGeom>
          <a:noFill/>
          <a:ln w="6350">
            <a:solidFill>
              <a:srgbClr val="0199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55" name="TextBox 54">
            <a:extLst>
              <a:ext uri="{FF2B5EF4-FFF2-40B4-BE49-F238E27FC236}">
                <a16:creationId xmlns:a16="http://schemas.microsoft.com/office/drawing/2014/main" id="{9D8912FA-0B9E-6BE9-D201-122F2B0B4488}"/>
              </a:ext>
            </a:extLst>
          </p:cNvPr>
          <p:cNvSpPr txBox="1"/>
          <p:nvPr/>
        </p:nvSpPr>
        <p:spPr>
          <a:xfrm>
            <a:off x="4134051" y="4323336"/>
            <a:ext cx="1549924" cy="261610"/>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srgbClr val="0199FF"/>
                </a:solidFill>
                <a:effectLst/>
                <a:uLnTx/>
                <a:uFillTx/>
                <a:latin typeface="Yekan Bakh" pitchFamily="2" charset="-78"/>
                <a:ea typeface="Yekan Bakh" pitchFamily="2" charset="-78"/>
                <a:cs typeface="Yekan Bakh" pitchFamily="2" charset="-78"/>
              </a:rPr>
              <a:t>معیارهای احراز صلاحیت</a:t>
            </a:r>
            <a:endParaRPr kumimoji="0" lang="en-US" sz="1050" b="1" i="0" u="none" strike="noStrike" kern="1200" cap="none" spc="0" normalizeH="0" baseline="0" noProof="0" dirty="0">
              <a:ln>
                <a:noFill/>
              </a:ln>
              <a:solidFill>
                <a:srgbClr val="0199FF"/>
              </a:solidFill>
              <a:effectLst/>
              <a:uLnTx/>
              <a:uFillTx/>
              <a:latin typeface="Yekan Bakh" pitchFamily="2" charset="-78"/>
              <a:ea typeface="Yekan Bakh" pitchFamily="2" charset="-78"/>
              <a:cs typeface="Yekan Bakh" pitchFamily="2" charset="-78"/>
            </a:endParaRPr>
          </a:p>
        </p:txBody>
      </p:sp>
      <p:sp>
        <p:nvSpPr>
          <p:cNvPr id="58" name="TextBox 57">
            <a:extLst>
              <a:ext uri="{FF2B5EF4-FFF2-40B4-BE49-F238E27FC236}">
                <a16:creationId xmlns:a16="http://schemas.microsoft.com/office/drawing/2014/main" id="{12D74A00-DB36-BEEE-546B-2469406EA956}"/>
              </a:ext>
            </a:extLst>
          </p:cNvPr>
          <p:cNvSpPr txBox="1"/>
          <p:nvPr/>
        </p:nvSpPr>
        <p:spPr>
          <a:xfrm>
            <a:off x="833439" y="4615724"/>
            <a:ext cx="4954286" cy="1107996"/>
          </a:xfrm>
          <a:prstGeom prst="rect">
            <a:avLst/>
          </a:prstGeom>
          <a:noFill/>
        </p:spPr>
        <p:txBody>
          <a:bodyPr wrap="square">
            <a:spAutoFit/>
          </a:bodyPr>
          <a:lstStyle/>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وجود فرد مشخصی در شرکت که مأموریت رسمی بررسی بازار را بر عهده داشته باشد.</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وجود یک منطق استراتژیک قابل قبول برای بررسی بازار.</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نداشتن مانع قطعی از نظر الزامات انطباق.</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آمادگی برای ورود به یک برنامه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ساختاریافته</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تعیین تاریخ مشخص برای ارزیابی مجدد وضعیت.</a:t>
            </a:r>
            <a:endParaRPr kumimoji="0" lang="en-US"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61" name="Rectangle 60">
            <a:extLst>
              <a:ext uri="{FF2B5EF4-FFF2-40B4-BE49-F238E27FC236}">
                <a16:creationId xmlns:a16="http://schemas.microsoft.com/office/drawing/2014/main" id="{12629FE3-5EB5-AE72-635B-26EA143C8254}"/>
              </a:ext>
            </a:extLst>
          </p:cNvPr>
          <p:cNvSpPr/>
          <p:nvPr/>
        </p:nvSpPr>
        <p:spPr>
          <a:xfrm>
            <a:off x="723175" y="3060636"/>
            <a:ext cx="5093134" cy="1034477"/>
          </a:xfrm>
          <a:prstGeom prst="rect">
            <a:avLst/>
          </a:prstGeom>
          <a:noFill/>
          <a:ln w="6350">
            <a:solidFill>
              <a:srgbClr val="0199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64" name="TextBox 63">
            <a:extLst>
              <a:ext uri="{FF2B5EF4-FFF2-40B4-BE49-F238E27FC236}">
                <a16:creationId xmlns:a16="http://schemas.microsoft.com/office/drawing/2014/main" id="{E5CAA5BB-30F7-EFB0-1989-09147C9EA28E}"/>
              </a:ext>
            </a:extLst>
          </p:cNvPr>
          <p:cNvSpPr txBox="1"/>
          <p:nvPr/>
        </p:nvSpPr>
        <p:spPr>
          <a:xfrm>
            <a:off x="4485373" y="2947781"/>
            <a:ext cx="1163386" cy="261610"/>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err="1">
                <a:ln>
                  <a:noFill/>
                </a:ln>
                <a:solidFill>
                  <a:srgbClr val="0199FF"/>
                </a:solidFill>
                <a:effectLst/>
                <a:uLnTx/>
                <a:uFillTx/>
                <a:latin typeface="Yekan Bakh" pitchFamily="2" charset="-78"/>
                <a:ea typeface="Yekan Bakh" pitchFamily="2" charset="-78"/>
                <a:cs typeface="Yekan Bakh" pitchFamily="2" charset="-78"/>
              </a:rPr>
              <a:t>ریسک‌های</a:t>
            </a:r>
            <a:r>
              <a:rPr kumimoji="0" lang="fa-IR" sz="1050" b="1" i="0" u="none" strike="noStrike" kern="1200" cap="none" spc="0" normalizeH="0" baseline="0" noProof="0" dirty="0">
                <a:ln>
                  <a:noFill/>
                </a:ln>
                <a:solidFill>
                  <a:srgbClr val="0199FF"/>
                </a:solidFill>
                <a:effectLst/>
                <a:uLnTx/>
                <a:uFillTx/>
                <a:latin typeface="Yekan Bakh" pitchFamily="2" charset="-78"/>
                <a:ea typeface="Yekan Bakh" pitchFamily="2" charset="-78"/>
                <a:cs typeface="Yekan Bakh" pitchFamily="2" charset="-78"/>
              </a:rPr>
              <a:t> کلیدی</a:t>
            </a:r>
            <a:endParaRPr kumimoji="0" lang="en-US" sz="1050" b="1" i="0" u="none" strike="noStrike" kern="1200" cap="none" spc="0" normalizeH="0" baseline="0" noProof="0" dirty="0">
              <a:ln>
                <a:noFill/>
              </a:ln>
              <a:solidFill>
                <a:srgbClr val="0199FF"/>
              </a:solidFill>
              <a:effectLst/>
              <a:uLnTx/>
              <a:uFillTx/>
              <a:latin typeface="Yekan Bakh" pitchFamily="2" charset="-78"/>
              <a:ea typeface="Yekan Bakh" pitchFamily="2" charset="-78"/>
              <a:cs typeface="Yekan Bakh" pitchFamily="2" charset="-78"/>
            </a:endParaRPr>
          </a:p>
        </p:txBody>
      </p:sp>
      <p:sp>
        <p:nvSpPr>
          <p:cNvPr id="67" name="TextBox 66">
            <a:extLst>
              <a:ext uri="{FF2B5EF4-FFF2-40B4-BE49-F238E27FC236}">
                <a16:creationId xmlns:a16="http://schemas.microsoft.com/office/drawing/2014/main" id="{62F88F4D-CDBA-6453-CA31-F5259DF9E064}"/>
              </a:ext>
            </a:extLst>
          </p:cNvPr>
          <p:cNvSpPr txBox="1"/>
          <p:nvPr/>
        </p:nvSpPr>
        <p:spPr>
          <a:xfrm>
            <a:off x="798223" y="3163969"/>
            <a:ext cx="4954286" cy="938719"/>
          </a:xfrm>
          <a:prstGeom prst="rect">
            <a:avLst/>
          </a:prstGeom>
          <a:noFill/>
        </p:spPr>
        <p:txBody>
          <a:bodyPr wrap="square">
            <a:spAutoFit/>
          </a:bodyPr>
          <a:lstStyle/>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ادامه یافتن فرآیند اکتشاف بدون اینکه به همکاری واقعی منجر شود و صرف زمان مدیران ارشد بدون بازده.</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وابستگی نرخ تبدیل به شرایط بیرونی که اکوسیستم هیچ کنترلی بر آن ندارد.</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استفاده رایگان از اطلاعات و دانش اکوسیستم بدون ایجاد رابطه تجاری.</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وجود موانع انطباق که هیچ استدلال تجاری قادر به رفع آن‌ها نیست.</a:t>
            </a:r>
            <a:endParaRPr kumimoji="0" lang="en-US"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Tree>
    <p:extLst>
      <p:ext uri="{BB962C8B-B14F-4D97-AF65-F5344CB8AC3E}">
        <p14:creationId xmlns:p14="http://schemas.microsoft.com/office/powerpoint/2010/main" val="12984228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53BDAF-AF74-E839-2723-46F1ADCF7F4D}"/>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0D7DF18D-341F-CCC8-BCCD-676EB885E310}"/>
              </a:ext>
            </a:extLst>
          </p:cNvPr>
          <p:cNvSpPr/>
          <p:nvPr/>
        </p:nvSpPr>
        <p:spPr>
          <a:xfrm>
            <a:off x="0" y="0"/>
            <a:ext cx="11703050" cy="1417320"/>
          </a:xfrm>
          <a:prstGeom prst="rect">
            <a:avLst/>
          </a:prstGeom>
          <a:solidFill>
            <a:srgbClr val="FFA9D4">
              <a:alpha val="3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Calibri"/>
            </a:endParaRPr>
          </a:p>
        </p:txBody>
      </p:sp>
      <p:sp>
        <p:nvSpPr>
          <p:cNvPr id="2" name="Text Placeholder 1">
            <a:extLst>
              <a:ext uri="{FF2B5EF4-FFF2-40B4-BE49-F238E27FC236}">
                <a16:creationId xmlns:a16="http://schemas.microsoft.com/office/drawing/2014/main" id="{3351B58D-32C6-61CC-8912-374FA2A30A68}"/>
              </a:ext>
            </a:extLst>
          </p:cNvPr>
          <p:cNvSpPr>
            <a:spLocks noGrp="1"/>
          </p:cNvSpPr>
          <p:nvPr>
            <p:ph type="body" sz="quarter" idx="10"/>
          </p:nvPr>
        </p:nvSpPr>
        <p:spPr/>
        <p:txBody>
          <a:bodyPr/>
          <a:lstStyle/>
          <a:p>
            <a:r>
              <a:rPr lang="fa-IR"/>
              <a:t>پروفایل بخش‌های مشتری</a:t>
            </a:r>
            <a:endParaRPr lang="fa-IR" dirty="0"/>
          </a:p>
        </p:txBody>
      </p:sp>
      <p:sp>
        <p:nvSpPr>
          <p:cNvPr id="3" name="Text Placeholder 2">
            <a:extLst>
              <a:ext uri="{FF2B5EF4-FFF2-40B4-BE49-F238E27FC236}">
                <a16:creationId xmlns:a16="http://schemas.microsoft.com/office/drawing/2014/main" id="{B020A602-BA8F-8200-7A85-4F2E120DC502}"/>
              </a:ext>
            </a:extLst>
          </p:cNvPr>
          <p:cNvSpPr>
            <a:spLocks noGrp="1"/>
          </p:cNvSpPr>
          <p:nvPr>
            <p:ph type="body" sz="quarter" idx="12"/>
          </p:nvPr>
        </p:nvSpPr>
        <p:spPr/>
        <p:txBody>
          <a:bodyPr/>
          <a:lstStyle/>
          <a:p>
            <a:r>
              <a:rPr lang="fa-IR" dirty="0"/>
              <a:t>۵. خالق کسب‌وکار </a:t>
            </a:r>
            <a:r>
              <a:rPr lang="fa-IR" sz="1200" b="0" dirty="0">
                <a:solidFill>
                  <a:schemeClr val="tx1">
                    <a:lumMod val="65000"/>
                    <a:lumOff val="35000"/>
                  </a:schemeClr>
                </a:solidFill>
              </a:rPr>
              <a:t>(1/2)</a:t>
            </a:r>
          </a:p>
          <a:p>
            <a:r>
              <a:rPr lang="fa-IR" sz="1100" b="0" dirty="0">
                <a:solidFill>
                  <a:schemeClr val="tx1">
                    <a:lumMod val="65000"/>
                    <a:lumOff val="35000"/>
                  </a:schemeClr>
                </a:solidFill>
              </a:rPr>
              <a:t>سازمانی که دارایی ارزشمندی در اختیار دارد (مانند دسترسی به بازار، مجوز، شبکه توزیع، تقاضای اختصاصی، فناوری، برند یا سرمایه) اما با ساختار فعلی خود قادر به بهره‌برداری موثر از آن نیست و حاضر است برای ایجاد یک کسب‌وکار جدید، بخشی از مالکیت و کنترل را واگذار کند</a:t>
            </a:r>
            <a:r>
              <a:rPr lang="fa-IR" sz="1000" b="0" dirty="0">
                <a:solidFill>
                  <a:schemeClr val="tx1">
                    <a:lumMod val="65000"/>
                    <a:lumOff val="35000"/>
                  </a:schemeClr>
                </a:solidFill>
              </a:rPr>
              <a:t>. (عضویت در این بخش براساس ماهیت دارایی‌ها و میزان آمادگی سازمان برای مشارکت تعریف می‌شود)</a:t>
            </a:r>
            <a:endParaRPr lang="fa-IR" sz="1100" b="0" dirty="0">
              <a:solidFill>
                <a:schemeClr val="tx1">
                  <a:lumMod val="65000"/>
                  <a:lumOff val="35000"/>
                </a:schemeClr>
              </a:solidFill>
            </a:endParaRPr>
          </a:p>
        </p:txBody>
      </p:sp>
      <p:sp>
        <p:nvSpPr>
          <p:cNvPr id="6" name="Rectangle 5">
            <a:extLst>
              <a:ext uri="{FF2B5EF4-FFF2-40B4-BE49-F238E27FC236}">
                <a16:creationId xmlns:a16="http://schemas.microsoft.com/office/drawing/2014/main" id="{1142ABF6-9591-3760-910E-2E17AC03BF85}"/>
              </a:ext>
            </a:extLst>
          </p:cNvPr>
          <p:cNvSpPr/>
          <p:nvPr/>
        </p:nvSpPr>
        <p:spPr>
          <a:xfrm>
            <a:off x="6054291" y="1718108"/>
            <a:ext cx="5093134" cy="572655"/>
          </a:xfrm>
          <a:prstGeom prst="rect">
            <a:avLst/>
          </a:prstGeom>
          <a:noFill/>
          <a:ln w="6350">
            <a:solidFill>
              <a:srgbClr val="FF33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9" name="TextBox 8">
            <a:extLst>
              <a:ext uri="{FF2B5EF4-FFF2-40B4-BE49-F238E27FC236}">
                <a16:creationId xmlns:a16="http://schemas.microsoft.com/office/drawing/2014/main" id="{4495AA43-C438-5519-CB4B-5439D5E92F21}"/>
              </a:ext>
            </a:extLst>
          </p:cNvPr>
          <p:cNvSpPr txBox="1"/>
          <p:nvPr/>
        </p:nvSpPr>
        <p:spPr>
          <a:xfrm>
            <a:off x="9697453" y="1605252"/>
            <a:ext cx="1282422" cy="261610"/>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srgbClr val="FF3399"/>
                </a:solidFill>
                <a:effectLst/>
                <a:uLnTx/>
                <a:uFillTx/>
                <a:latin typeface="Yekan Bakh" pitchFamily="2" charset="-78"/>
                <a:ea typeface="Yekan Bakh" pitchFamily="2" charset="-78"/>
                <a:cs typeface="Yekan Bakh" pitchFamily="2" charset="-78"/>
              </a:rPr>
              <a:t>نقش اصلی مشتری</a:t>
            </a:r>
            <a:endParaRPr kumimoji="0" lang="en-US" sz="1050" b="1" i="0" u="none" strike="noStrike" kern="1200" cap="none" spc="0" normalizeH="0" baseline="0" noProof="0" dirty="0">
              <a:ln>
                <a:noFill/>
              </a:ln>
              <a:solidFill>
                <a:srgbClr val="FF3399"/>
              </a:solidFill>
              <a:effectLst/>
              <a:uLnTx/>
              <a:uFillTx/>
              <a:latin typeface="Yekan Bakh" pitchFamily="2" charset="-78"/>
              <a:ea typeface="Yekan Bakh" pitchFamily="2" charset="-78"/>
              <a:cs typeface="Yekan Bakh" pitchFamily="2" charset="-78"/>
            </a:endParaRPr>
          </a:p>
        </p:txBody>
      </p:sp>
      <p:sp>
        <p:nvSpPr>
          <p:cNvPr id="12" name="TextBox 11">
            <a:extLst>
              <a:ext uri="{FF2B5EF4-FFF2-40B4-BE49-F238E27FC236}">
                <a16:creationId xmlns:a16="http://schemas.microsoft.com/office/drawing/2014/main" id="{763550CC-24BF-E950-79D5-02DF9EC4C714}"/>
              </a:ext>
            </a:extLst>
          </p:cNvPr>
          <p:cNvSpPr txBox="1"/>
          <p:nvPr/>
        </p:nvSpPr>
        <p:spPr>
          <a:xfrm>
            <a:off x="6129339" y="1897640"/>
            <a:ext cx="4954286" cy="430887"/>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مشتری اقتصادی و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هم‌زمان</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شریک مالک (</a:t>
            </a:r>
            <a:r>
              <a:rPr kumimoji="0" lang="en-US"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Co-Owner</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علاوه‌بر</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پرداخت هزینه خدمات، دارایی خود را نیز در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ازای</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دریافت سهام وارد کسب‌وکار جدید می‌کند</a:t>
            </a:r>
            <a:endParaRPr kumimoji="0" lang="en-US"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15" name="Rectangle 14">
            <a:extLst>
              <a:ext uri="{FF2B5EF4-FFF2-40B4-BE49-F238E27FC236}">
                <a16:creationId xmlns:a16="http://schemas.microsoft.com/office/drawing/2014/main" id="{01945619-6CDD-697D-4EB1-227217A0EE6A}"/>
              </a:ext>
            </a:extLst>
          </p:cNvPr>
          <p:cNvSpPr/>
          <p:nvPr/>
        </p:nvSpPr>
        <p:spPr>
          <a:xfrm>
            <a:off x="6054291" y="2516475"/>
            <a:ext cx="5093134" cy="674400"/>
          </a:xfrm>
          <a:prstGeom prst="rect">
            <a:avLst/>
          </a:prstGeom>
          <a:noFill/>
          <a:ln w="6350">
            <a:solidFill>
              <a:srgbClr val="FF33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18" name="TextBox 17">
            <a:extLst>
              <a:ext uri="{FF2B5EF4-FFF2-40B4-BE49-F238E27FC236}">
                <a16:creationId xmlns:a16="http://schemas.microsoft.com/office/drawing/2014/main" id="{2B9971FE-27D3-B2BE-9590-711AC5E2F079}"/>
              </a:ext>
            </a:extLst>
          </p:cNvPr>
          <p:cNvSpPr txBox="1"/>
          <p:nvPr/>
        </p:nvSpPr>
        <p:spPr>
          <a:xfrm>
            <a:off x="9697453" y="2403619"/>
            <a:ext cx="1282422" cy="253916"/>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srgbClr val="FF3399"/>
                </a:solidFill>
                <a:effectLst/>
                <a:uLnTx/>
                <a:uFillTx/>
                <a:latin typeface="Yekan Bakh" pitchFamily="2" charset="-78"/>
                <a:ea typeface="Yekan Bakh" pitchFamily="2" charset="-78"/>
                <a:cs typeface="Yekan Bakh" pitchFamily="2" charset="-78"/>
              </a:rPr>
              <a:t>نیاز محوری مشتری</a:t>
            </a:r>
            <a:endParaRPr kumimoji="0" lang="en-US" sz="1050" b="1" i="0" u="none" strike="noStrike" kern="1200" cap="none" spc="0" normalizeH="0" baseline="0" noProof="0" dirty="0">
              <a:ln>
                <a:noFill/>
              </a:ln>
              <a:solidFill>
                <a:srgbClr val="FF3399"/>
              </a:solidFill>
              <a:effectLst/>
              <a:uLnTx/>
              <a:uFillTx/>
              <a:latin typeface="Yekan Bakh" pitchFamily="2" charset="-78"/>
              <a:ea typeface="Yekan Bakh" pitchFamily="2" charset="-78"/>
              <a:cs typeface="Yekan Bakh" pitchFamily="2" charset="-78"/>
            </a:endParaRPr>
          </a:p>
        </p:txBody>
      </p:sp>
      <p:sp>
        <p:nvSpPr>
          <p:cNvPr id="21" name="TextBox 20">
            <a:extLst>
              <a:ext uri="{FF2B5EF4-FFF2-40B4-BE49-F238E27FC236}">
                <a16:creationId xmlns:a16="http://schemas.microsoft.com/office/drawing/2014/main" id="{0832645B-C780-EA31-4253-FFB2269C6382}"/>
              </a:ext>
            </a:extLst>
          </p:cNvPr>
          <p:cNvSpPr txBox="1"/>
          <p:nvPr/>
        </p:nvSpPr>
        <p:spPr>
          <a:xfrm>
            <a:off x="6054291" y="2696007"/>
            <a:ext cx="5029334" cy="430887"/>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تبدیل یک دارایی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بلااستفاده</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یا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کم‌بازده</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به یک کسب‌وکار عملیاتی، بدون اینکه مجبور باشد این توانمندی را در داخل سازمان خود ایجاد کند.</a:t>
            </a:r>
            <a:endParaRPr kumimoji="0" lang="en-US"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24" name="Rectangle 23">
            <a:extLst>
              <a:ext uri="{FF2B5EF4-FFF2-40B4-BE49-F238E27FC236}">
                <a16:creationId xmlns:a16="http://schemas.microsoft.com/office/drawing/2014/main" id="{04EC25D6-7D67-2907-11BA-4271F61ACEC3}"/>
              </a:ext>
            </a:extLst>
          </p:cNvPr>
          <p:cNvSpPr/>
          <p:nvPr/>
        </p:nvSpPr>
        <p:spPr>
          <a:xfrm>
            <a:off x="6054291" y="3513710"/>
            <a:ext cx="5093134" cy="1034477"/>
          </a:xfrm>
          <a:prstGeom prst="rect">
            <a:avLst/>
          </a:prstGeom>
          <a:noFill/>
          <a:ln w="6350">
            <a:solidFill>
              <a:srgbClr val="FF33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27" name="TextBox 26">
            <a:extLst>
              <a:ext uri="{FF2B5EF4-FFF2-40B4-BE49-F238E27FC236}">
                <a16:creationId xmlns:a16="http://schemas.microsoft.com/office/drawing/2014/main" id="{F579F580-6ED1-44BD-2BC6-591A96B747F8}"/>
              </a:ext>
            </a:extLst>
          </p:cNvPr>
          <p:cNvSpPr txBox="1"/>
          <p:nvPr/>
        </p:nvSpPr>
        <p:spPr>
          <a:xfrm>
            <a:off x="8768615" y="3400855"/>
            <a:ext cx="2211260" cy="261610"/>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err="1">
                <a:ln>
                  <a:noFill/>
                </a:ln>
                <a:solidFill>
                  <a:srgbClr val="FF3399"/>
                </a:solidFill>
                <a:effectLst/>
                <a:uLnTx/>
                <a:uFillTx/>
                <a:latin typeface="Yekan Bakh" pitchFamily="2" charset="-78"/>
                <a:ea typeface="Yekan Bakh" pitchFamily="2" charset="-78"/>
                <a:cs typeface="Yekan Bakh" pitchFamily="2" charset="-78"/>
              </a:rPr>
              <a:t>فعالیت‌های</a:t>
            </a:r>
            <a:r>
              <a:rPr kumimoji="0" lang="fa-IR" sz="1050" b="1" i="0" u="none" strike="noStrike" kern="1200" cap="none" spc="0" normalizeH="0" baseline="0" noProof="0" dirty="0">
                <a:ln>
                  <a:noFill/>
                </a:ln>
                <a:solidFill>
                  <a:srgbClr val="FF3399"/>
                </a:solidFill>
                <a:effectLst/>
                <a:uLnTx/>
                <a:uFillTx/>
                <a:latin typeface="Yekan Bakh" pitchFamily="2" charset="-78"/>
                <a:ea typeface="Yekan Bakh" pitchFamily="2" charset="-78"/>
                <a:cs typeface="Yekan Bakh" pitchFamily="2" charset="-78"/>
              </a:rPr>
              <a:t> کلیدی نیازمند به سیمرغ </a:t>
            </a:r>
            <a:endParaRPr kumimoji="0" lang="en-US" sz="1050" b="1" i="0" u="none" strike="noStrike" kern="1200" cap="none" spc="0" normalizeH="0" baseline="0" noProof="0" dirty="0">
              <a:ln>
                <a:noFill/>
              </a:ln>
              <a:solidFill>
                <a:srgbClr val="FF3399"/>
              </a:solidFill>
              <a:effectLst/>
              <a:uLnTx/>
              <a:uFillTx/>
              <a:latin typeface="Yekan Bakh" pitchFamily="2" charset="-78"/>
              <a:ea typeface="Yekan Bakh" pitchFamily="2" charset="-78"/>
              <a:cs typeface="Yekan Bakh" pitchFamily="2" charset="-78"/>
            </a:endParaRPr>
          </a:p>
        </p:txBody>
      </p:sp>
      <p:sp>
        <p:nvSpPr>
          <p:cNvPr id="30" name="TextBox 29">
            <a:extLst>
              <a:ext uri="{FF2B5EF4-FFF2-40B4-BE49-F238E27FC236}">
                <a16:creationId xmlns:a16="http://schemas.microsoft.com/office/drawing/2014/main" id="{1EAC5B4E-5CEB-6C3F-3826-9B6510B7098D}"/>
              </a:ext>
            </a:extLst>
          </p:cNvPr>
          <p:cNvSpPr txBox="1"/>
          <p:nvPr/>
        </p:nvSpPr>
        <p:spPr>
          <a:xfrm>
            <a:off x="6129339" y="3617043"/>
            <a:ext cx="4954286" cy="938719"/>
          </a:xfrm>
          <a:prstGeom prst="rect">
            <a:avLst/>
          </a:prstGeom>
          <a:noFill/>
        </p:spPr>
        <p:txBody>
          <a:bodyPr wrap="square">
            <a:spAutoFit/>
          </a:bodyPr>
          <a:lstStyle/>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اطمینان از وجود ظرفیت ایجاد یک کسب‌وکار موفق با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دارایی‌های</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موجود</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دسترسی به توان اجرایی و نیروهای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متخصصی</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که امکان جذب در سازمان خود را ندارد</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ایجاد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سریع‌تر</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کسب‌وکار به نسبت امکانات ساختارهای داخلی</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جدا نگه داشتن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ریسک‌های</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اجرای پروژه از سازمان اصلی تا حد امکان</a:t>
            </a:r>
            <a:endParaRPr kumimoji="0" lang="en-US"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33" name="Rectangle 32">
            <a:extLst>
              <a:ext uri="{FF2B5EF4-FFF2-40B4-BE49-F238E27FC236}">
                <a16:creationId xmlns:a16="http://schemas.microsoft.com/office/drawing/2014/main" id="{C6861ADC-CF54-8D7C-95F6-6EAB05393AF4}"/>
              </a:ext>
            </a:extLst>
          </p:cNvPr>
          <p:cNvSpPr/>
          <p:nvPr/>
        </p:nvSpPr>
        <p:spPr>
          <a:xfrm>
            <a:off x="6054291" y="4773897"/>
            <a:ext cx="5093134" cy="1160178"/>
          </a:xfrm>
          <a:prstGeom prst="rect">
            <a:avLst/>
          </a:prstGeom>
          <a:noFill/>
          <a:ln w="6350">
            <a:solidFill>
              <a:srgbClr val="FF33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36" name="TextBox 35">
            <a:extLst>
              <a:ext uri="{FF2B5EF4-FFF2-40B4-BE49-F238E27FC236}">
                <a16:creationId xmlns:a16="http://schemas.microsoft.com/office/drawing/2014/main" id="{4221F7DF-29F7-1E25-D042-9F32E0F99A41}"/>
              </a:ext>
            </a:extLst>
          </p:cNvPr>
          <p:cNvSpPr txBox="1"/>
          <p:nvPr/>
        </p:nvSpPr>
        <p:spPr>
          <a:xfrm>
            <a:off x="9553074" y="4661042"/>
            <a:ext cx="1426801" cy="415498"/>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srgbClr val="FF3399"/>
                </a:solidFill>
                <a:effectLst/>
                <a:uLnTx/>
                <a:uFillTx/>
                <a:latin typeface="Yekan Bakh" pitchFamily="2" charset="-78"/>
                <a:ea typeface="Yekan Bakh" pitchFamily="2" charset="-78"/>
                <a:cs typeface="Yekan Bakh" pitchFamily="2" charset="-78"/>
              </a:rPr>
              <a:t>رفتارهای سازمانی غالب</a:t>
            </a:r>
            <a:endParaRPr kumimoji="0" lang="en-US" sz="1050" b="1" i="0" u="none" strike="noStrike" kern="1200" cap="none" spc="0" normalizeH="0" baseline="0" noProof="0" dirty="0">
              <a:ln>
                <a:noFill/>
              </a:ln>
              <a:solidFill>
                <a:srgbClr val="FF3399"/>
              </a:solidFill>
              <a:effectLst/>
              <a:uLnTx/>
              <a:uFillTx/>
              <a:latin typeface="Yekan Bakh" pitchFamily="2" charset="-78"/>
              <a:ea typeface="Yekan Bakh" pitchFamily="2" charset="-78"/>
              <a:cs typeface="Yekan Bakh" pitchFamily="2" charset="-78"/>
            </a:endParaRPr>
          </a:p>
        </p:txBody>
      </p:sp>
      <p:sp>
        <p:nvSpPr>
          <p:cNvPr id="39" name="TextBox 38">
            <a:extLst>
              <a:ext uri="{FF2B5EF4-FFF2-40B4-BE49-F238E27FC236}">
                <a16:creationId xmlns:a16="http://schemas.microsoft.com/office/drawing/2014/main" id="{E4E0827F-26CC-65D1-71EA-9A2ACFC789E2}"/>
              </a:ext>
            </a:extLst>
          </p:cNvPr>
          <p:cNvSpPr txBox="1"/>
          <p:nvPr/>
        </p:nvSpPr>
        <p:spPr>
          <a:xfrm>
            <a:off x="6129339" y="4953430"/>
            <a:ext cx="4954286" cy="938719"/>
          </a:xfrm>
          <a:prstGeom prst="rect">
            <a:avLst/>
          </a:prstGeom>
          <a:noFill/>
        </p:spPr>
        <p:txBody>
          <a:bodyPr wrap="square">
            <a:spAutoFit/>
          </a:bodyPr>
          <a:lstStyle/>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حاضر است بخشی از مالکیت و کنترل را واگذار کند؛ (مهم‌ترین ویژگی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تعریف‌کننده</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نگاه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بلندمدت</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دارد و با پیشرفت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مرحله‌ای</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پروژه مشکلی ندارد.</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فرآیندهای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تصمیم‌گیری</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و حاکمیتی رسمی و سنگینی دارد.</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انگیزه اصلی آن استراتژیک است، نه صرفاً کسب بازده مالی.</a:t>
            </a:r>
            <a:endParaRPr kumimoji="0" lang="en-US"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42" name="Rectangle 41">
            <a:extLst>
              <a:ext uri="{FF2B5EF4-FFF2-40B4-BE49-F238E27FC236}">
                <a16:creationId xmlns:a16="http://schemas.microsoft.com/office/drawing/2014/main" id="{6C480B90-2BDF-35BD-EB88-29E524300FC4}"/>
              </a:ext>
            </a:extLst>
          </p:cNvPr>
          <p:cNvSpPr/>
          <p:nvPr/>
        </p:nvSpPr>
        <p:spPr>
          <a:xfrm>
            <a:off x="723175" y="1718108"/>
            <a:ext cx="5093134" cy="1034477"/>
          </a:xfrm>
          <a:prstGeom prst="rect">
            <a:avLst/>
          </a:prstGeom>
          <a:noFill/>
          <a:ln w="6350">
            <a:solidFill>
              <a:srgbClr val="FF33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45" name="TextBox 44">
            <a:extLst>
              <a:ext uri="{FF2B5EF4-FFF2-40B4-BE49-F238E27FC236}">
                <a16:creationId xmlns:a16="http://schemas.microsoft.com/office/drawing/2014/main" id="{A30FFAD3-E048-B3C0-CCE7-1FDE71BE1965}"/>
              </a:ext>
            </a:extLst>
          </p:cNvPr>
          <p:cNvSpPr txBox="1"/>
          <p:nvPr/>
        </p:nvSpPr>
        <p:spPr>
          <a:xfrm>
            <a:off x="3922295" y="1605253"/>
            <a:ext cx="1726464" cy="261610"/>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srgbClr val="FF3399"/>
                </a:solidFill>
                <a:effectLst/>
                <a:uLnTx/>
                <a:uFillTx/>
                <a:latin typeface="Yekan Bakh" pitchFamily="2" charset="-78"/>
                <a:ea typeface="Yekan Bakh" pitchFamily="2" charset="-78"/>
                <a:cs typeface="Yekan Bakh" pitchFamily="2" charset="-78"/>
              </a:rPr>
              <a:t>ویژگی‌های شرکتی تاثیرگذار </a:t>
            </a:r>
            <a:endParaRPr kumimoji="0" lang="en-US" sz="1050" b="1" i="0" u="none" strike="noStrike" kern="1200" cap="none" spc="0" normalizeH="0" baseline="0" noProof="0" dirty="0">
              <a:ln>
                <a:noFill/>
              </a:ln>
              <a:solidFill>
                <a:srgbClr val="FF3399"/>
              </a:solidFill>
              <a:effectLst/>
              <a:uLnTx/>
              <a:uFillTx/>
              <a:latin typeface="Yekan Bakh" pitchFamily="2" charset="-78"/>
              <a:ea typeface="Yekan Bakh" pitchFamily="2" charset="-78"/>
              <a:cs typeface="Yekan Bakh" pitchFamily="2" charset="-78"/>
            </a:endParaRPr>
          </a:p>
        </p:txBody>
      </p:sp>
      <p:sp>
        <p:nvSpPr>
          <p:cNvPr id="48" name="TextBox 47">
            <a:extLst>
              <a:ext uri="{FF2B5EF4-FFF2-40B4-BE49-F238E27FC236}">
                <a16:creationId xmlns:a16="http://schemas.microsoft.com/office/drawing/2014/main" id="{446FC4E4-438B-ABCB-AA68-56AC651FDB70}"/>
              </a:ext>
            </a:extLst>
          </p:cNvPr>
          <p:cNvSpPr txBox="1"/>
          <p:nvPr/>
        </p:nvSpPr>
        <p:spPr>
          <a:xfrm>
            <a:off x="723175" y="1869066"/>
            <a:ext cx="5093134" cy="846386"/>
          </a:xfrm>
          <a:prstGeom prst="rect">
            <a:avLst/>
          </a:prstGeom>
          <a:noFill/>
        </p:spPr>
        <p:txBody>
          <a:bodyPr wrap="square">
            <a:spAutoFit/>
          </a:bodyPr>
          <a:lstStyle/>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دارایی سازمان‌های ایرانی مانند: دسترسی به بازار،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مجوزها</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یا شبکه توزیع</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دارایی سازمان‌های خارجی مانند: فناوری، برند، دانش فنی یا فرآیندهای اختصاصی</a:t>
            </a:r>
          </a:p>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برداشت: </a:t>
            </a:r>
            <a:r>
              <a:rPr kumimoji="0" lang="fa-IR" sz="9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محتمل‌ترین</a:t>
            </a:r>
            <a:r>
              <a:rPr kumimoji="0" lang="fa-IR" sz="9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مدل، مشارکت یک خالق کسب‌وکار ایرانی با یک خالق کسب‌وکار خارجی است؛ یعنی یک مدل </a:t>
            </a:r>
            <a:r>
              <a:rPr kumimoji="0" lang="fa-IR" sz="9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جوینت‌ونچر</a:t>
            </a:r>
            <a:r>
              <a:rPr kumimoji="0" lang="fa-IR" sz="9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نه یک بخش </a:t>
            </a:r>
            <a:r>
              <a:rPr kumimoji="0" lang="fa-IR" sz="9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مجزای</a:t>
            </a:r>
            <a:r>
              <a:rPr kumimoji="0" lang="fa-IR" sz="9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بازار. </a:t>
            </a:r>
            <a:r>
              <a:rPr kumimoji="0" lang="fa-IR" sz="9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به‌علاوه</a:t>
            </a:r>
            <a:r>
              <a:rPr kumimoji="0" lang="fa-IR" sz="9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نوع دارایی، طراحی مدل کسب‌وکار و نحوه تقسیم سهام را تعیین می‌کند و ساختار مالکیت، میزان پیچیدگی حاکمیت شرکتی را مشخص </a:t>
            </a:r>
            <a:r>
              <a:rPr kumimoji="0" lang="fa-IR" sz="9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می‌سازد</a:t>
            </a:r>
            <a:r>
              <a:rPr kumimoji="0" lang="fa-IR" sz="9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a:t>
            </a:r>
          </a:p>
        </p:txBody>
      </p:sp>
      <p:sp>
        <p:nvSpPr>
          <p:cNvPr id="51" name="Rectangle 50">
            <a:extLst>
              <a:ext uri="{FF2B5EF4-FFF2-40B4-BE49-F238E27FC236}">
                <a16:creationId xmlns:a16="http://schemas.microsoft.com/office/drawing/2014/main" id="{3DD83393-04E1-D8DD-9588-E842907712F7}"/>
              </a:ext>
            </a:extLst>
          </p:cNvPr>
          <p:cNvSpPr/>
          <p:nvPr/>
        </p:nvSpPr>
        <p:spPr>
          <a:xfrm>
            <a:off x="723175" y="3088794"/>
            <a:ext cx="5093134" cy="1034477"/>
          </a:xfrm>
          <a:prstGeom prst="rect">
            <a:avLst/>
          </a:prstGeom>
          <a:noFill/>
          <a:ln w="6350">
            <a:solidFill>
              <a:srgbClr val="FF33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54" name="TextBox 53">
            <a:extLst>
              <a:ext uri="{FF2B5EF4-FFF2-40B4-BE49-F238E27FC236}">
                <a16:creationId xmlns:a16="http://schemas.microsoft.com/office/drawing/2014/main" id="{6F25A001-0C4E-81F2-D6D6-E6D86411452B}"/>
              </a:ext>
            </a:extLst>
          </p:cNvPr>
          <p:cNvSpPr txBox="1"/>
          <p:nvPr/>
        </p:nvSpPr>
        <p:spPr>
          <a:xfrm>
            <a:off x="4519061" y="2975939"/>
            <a:ext cx="1129698" cy="261610"/>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a:ln>
                  <a:noFill/>
                </a:ln>
                <a:solidFill>
                  <a:srgbClr val="FF3399"/>
                </a:solidFill>
                <a:effectLst/>
                <a:uLnTx/>
                <a:uFillTx/>
                <a:latin typeface="Yekan Bakh" pitchFamily="2" charset="-78"/>
                <a:ea typeface="Yekan Bakh" pitchFamily="2" charset="-78"/>
                <a:cs typeface="Yekan Bakh" pitchFamily="2" charset="-78"/>
              </a:rPr>
              <a:t>رویدادهای محرک </a:t>
            </a:r>
            <a:endParaRPr kumimoji="0" lang="en-US" sz="1050" b="1" i="0" u="none" strike="noStrike" kern="1200" cap="none" spc="0" normalizeH="0" baseline="0" noProof="0">
              <a:ln>
                <a:noFill/>
              </a:ln>
              <a:solidFill>
                <a:srgbClr val="FF3399"/>
              </a:solidFill>
              <a:effectLst/>
              <a:uLnTx/>
              <a:uFillTx/>
              <a:latin typeface="Yekan Bakh" pitchFamily="2" charset="-78"/>
              <a:ea typeface="Yekan Bakh" pitchFamily="2" charset="-78"/>
              <a:cs typeface="Yekan Bakh" pitchFamily="2" charset="-78"/>
            </a:endParaRPr>
          </a:p>
        </p:txBody>
      </p:sp>
      <p:sp>
        <p:nvSpPr>
          <p:cNvPr id="57" name="TextBox 56">
            <a:extLst>
              <a:ext uri="{FF2B5EF4-FFF2-40B4-BE49-F238E27FC236}">
                <a16:creationId xmlns:a16="http://schemas.microsoft.com/office/drawing/2014/main" id="{3A8A1C79-4A7B-B1A5-F2F7-560BBA142E2C}"/>
              </a:ext>
            </a:extLst>
          </p:cNvPr>
          <p:cNvSpPr txBox="1"/>
          <p:nvPr/>
        </p:nvSpPr>
        <p:spPr>
          <a:xfrm>
            <a:off x="798223" y="3268327"/>
            <a:ext cx="4954286" cy="769441"/>
          </a:xfrm>
          <a:prstGeom prst="rect">
            <a:avLst/>
          </a:prstGeom>
          <a:noFill/>
        </p:spPr>
        <p:txBody>
          <a:bodyPr wrap="square">
            <a:spAutoFit/>
          </a:bodyPr>
          <a:lstStyle/>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عملکرد ضعیف یا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بلااستفاده</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ماندن یک دارایی ارزشمند.</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شکست تلاش‌های قبلی برای نوآوری در داخل سازمان.</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تغییرات ساختاری یا جانشینی مدیران،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زمینه‌ساز</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ایجاد کسب‌وکارهای جدید.</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موفقیت یکی از رقبا در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تجاری‌سازی</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دارایی مشابه.</a:t>
            </a:r>
            <a:endParaRPr kumimoji="0" lang="en-US"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60" name="Rectangle 59">
            <a:extLst>
              <a:ext uri="{FF2B5EF4-FFF2-40B4-BE49-F238E27FC236}">
                <a16:creationId xmlns:a16="http://schemas.microsoft.com/office/drawing/2014/main" id="{59D2721C-3D45-BCE9-A752-3A677E70361B}"/>
              </a:ext>
            </a:extLst>
          </p:cNvPr>
          <p:cNvSpPr/>
          <p:nvPr/>
        </p:nvSpPr>
        <p:spPr>
          <a:xfrm>
            <a:off x="758391" y="4436191"/>
            <a:ext cx="5093134" cy="1497884"/>
          </a:xfrm>
          <a:prstGeom prst="rect">
            <a:avLst/>
          </a:prstGeom>
          <a:noFill/>
          <a:ln w="6350">
            <a:solidFill>
              <a:srgbClr val="FF33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63" name="TextBox 62">
            <a:extLst>
              <a:ext uri="{FF2B5EF4-FFF2-40B4-BE49-F238E27FC236}">
                <a16:creationId xmlns:a16="http://schemas.microsoft.com/office/drawing/2014/main" id="{9CA1FC2E-01E4-87B6-FB5C-49E6E1D76F15}"/>
              </a:ext>
            </a:extLst>
          </p:cNvPr>
          <p:cNvSpPr txBox="1"/>
          <p:nvPr/>
        </p:nvSpPr>
        <p:spPr>
          <a:xfrm>
            <a:off x="3922295" y="4323336"/>
            <a:ext cx="1761680" cy="261610"/>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a:ln>
                  <a:noFill/>
                </a:ln>
                <a:solidFill>
                  <a:srgbClr val="FF3399"/>
                </a:solidFill>
                <a:effectLst/>
                <a:uLnTx/>
                <a:uFillTx/>
                <a:latin typeface="Yekan Bakh" pitchFamily="2" charset="-78"/>
                <a:ea typeface="Yekan Bakh" pitchFamily="2" charset="-78"/>
                <a:cs typeface="Yekan Bakh" pitchFamily="2" charset="-78"/>
              </a:rPr>
              <a:t>فرآیند خرید / تصمیم‌گیری </a:t>
            </a:r>
            <a:endParaRPr kumimoji="0" lang="en-US" sz="1050" b="1" i="0" u="none" strike="noStrike" kern="1200" cap="none" spc="0" normalizeH="0" baseline="0" noProof="0">
              <a:ln>
                <a:noFill/>
              </a:ln>
              <a:solidFill>
                <a:srgbClr val="FF3399"/>
              </a:solidFill>
              <a:effectLst/>
              <a:uLnTx/>
              <a:uFillTx/>
              <a:latin typeface="Yekan Bakh" pitchFamily="2" charset="-78"/>
              <a:ea typeface="Yekan Bakh" pitchFamily="2" charset="-78"/>
              <a:cs typeface="Yekan Bakh" pitchFamily="2" charset="-78"/>
            </a:endParaRPr>
          </a:p>
        </p:txBody>
      </p:sp>
      <p:sp>
        <p:nvSpPr>
          <p:cNvPr id="66" name="TextBox 65">
            <a:extLst>
              <a:ext uri="{FF2B5EF4-FFF2-40B4-BE49-F238E27FC236}">
                <a16:creationId xmlns:a16="http://schemas.microsoft.com/office/drawing/2014/main" id="{B1055129-36CC-6A55-13B8-9CB1F82B8C97}"/>
              </a:ext>
            </a:extLst>
          </p:cNvPr>
          <p:cNvSpPr txBox="1"/>
          <p:nvPr/>
        </p:nvSpPr>
        <p:spPr>
          <a:xfrm>
            <a:off x="833439" y="4615724"/>
            <a:ext cx="4954286" cy="93871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فرآیندی طولانی،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مرحله‌ای</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و در سطح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هیئت‌مدیره</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a:t>
            </a:r>
          </a:p>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ایده اولیه &gt;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اعتبارسنجی</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&gt; توافق اولیه (</a:t>
            </a:r>
            <a:r>
              <a:rPr kumimoji="0" lang="en-US"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Term Sheet</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&gt; ساخت کسب‌وکار</a:t>
            </a:r>
          </a:p>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هر مرحله نیازمند تأیید رسمی جداگانه است؛ بنابراین مدل همکاری نیز باید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مرحله‌به‌مرحله</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طراحی شود.</a:t>
            </a:r>
            <a:endParaRPr kumimoji="0" lang="en-US"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Tree>
    <p:extLst>
      <p:ext uri="{BB962C8B-B14F-4D97-AF65-F5344CB8AC3E}">
        <p14:creationId xmlns:p14="http://schemas.microsoft.com/office/powerpoint/2010/main" val="29371625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62411C-D204-FD0D-2C54-77FE1CDAD705}"/>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42E27CB2-D9C1-8EE4-D38A-19614FFDEECF}"/>
              </a:ext>
            </a:extLst>
          </p:cNvPr>
          <p:cNvSpPr/>
          <p:nvPr/>
        </p:nvSpPr>
        <p:spPr>
          <a:xfrm>
            <a:off x="0" y="1"/>
            <a:ext cx="11703050" cy="1419498"/>
          </a:xfrm>
          <a:prstGeom prst="rect">
            <a:avLst/>
          </a:prstGeom>
          <a:solidFill>
            <a:srgbClr val="FFA9D4">
              <a:alpha val="3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Calibri"/>
            </a:endParaRPr>
          </a:p>
        </p:txBody>
      </p:sp>
      <p:sp>
        <p:nvSpPr>
          <p:cNvPr id="2" name="Text Placeholder 1">
            <a:extLst>
              <a:ext uri="{FF2B5EF4-FFF2-40B4-BE49-F238E27FC236}">
                <a16:creationId xmlns:a16="http://schemas.microsoft.com/office/drawing/2014/main" id="{B1A764D0-981C-2038-C8F6-EF6FD9950251}"/>
              </a:ext>
            </a:extLst>
          </p:cNvPr>
          <p:cNvSpPr>
            <a:spLocks noGrp="1"/>
          </p:cNvSpPr>
          <p:nvPr>
            <p:ph type="body" sz="quarter" idx="10"/>
          </p:nvPr>
        </p:nvSpPr>
        <p:spPr/>
        <p:txBody>
          <a:bodyPr/>
          <a:lstStyle/>
          <a:p>
            <a:r>
              <a:rPr lang="fa-IR"/>
              <a:t>پروفایل بخش‌های مشتری</a:t>
            </a:r>
            <a:endParaRPr lang="fa-IR" dirty="0"/>
          </a:p>
        </p:txBody>
      </p:sp>
      <p:sp>
        <p:nvSpPr>
          <p:cNvPr id="3" name="Text Placeholder 2">
            <a:extLst>
              <a:ext uri="{FF2B5EF4-FFF2-40B4-BE49-F238E27FC236}">
                <a16:creationId xmlns:a16="http://schemas.microsoft.com/office/drawing/2014/main" id="{795CF808-A358-3903-2BD4-0021EFAC4324}"/>
              </a:ext>
            </a:extLst>
          </p:cNvPr>
          <p:cNvSpPr>
            <a:spLocks noGrp="1"/>
          </p:cNvSpPr>
          <p:nvPr>
            <p:ph type="body" sz="quarter" idx="12"/>
          </p:nvPr>
        </p:nvSpPr>
        <p:spPr/>
        <p:txBody>
          <a:bodyPr/>
          <a:lstStyle/>
          <a:p>
            <a:r>
              <a:rPr lang="fa-IR" dirty="0"/>
              <a:t>۵. خالق کسب‌وکار </a:t>
            </a:r>
            <a:r>
              <a:rPr lang="fa-IR" sz="1200" b="0" dirty="0">
                <a:solidFill>
                  <a:schemeClr val="tx1">
                    <a:lumMod val="65000"/>
                    <a:lumOff val="35000"/>
                  </a:schemeClr>
                </a:solidFill>
              </a:rPr>
              <a:t>(1/2)</a:t>
            </a:r>
          </a:p>
          <a:p>
            <a:r>
              <a:rPr lang="fa-IR" sz="1100" b="0" dirty="0">
                <a:solidFill>
                  <a:schemeClr val="tx1">
                    <a:lumMod val="65000"/>
                    <a:lumOff val="35000"/>
                  </a:schemeClr>
                </a:solidFill>
              </a:rPr>
              <a:t>سازمانی که دارایی ارزشمندی در اختیار دارد (مانند دسترسی به بازار، مجوز، شبکه توزیع، تقاضای اختصاصی، فناوری، برند یا سرمایه) اما با ساختار فعلی خود قادر به بهره‌برداری موثر از آن نیست و حاضر است برای ایجاد یک کسب‌وکار جدید، بخشی از مالکیت و کنترل را واگذار کند. </a:t>
            </a:r>
            <a:r>
              <a:rPr lang="fa-IR" sz="1000" b="0" dirty="0">
                <a:solidFill>
                  <a:schemeClr val="tx1">
                    <a:lumMod val="65000"/>
                    <a:lumOff val="35000"/>
                  </a:schemeClr>
                </a:solidFill>
              </a:rPr>
              <a:t>(عضویت در این بخش براساس ماهیت دارایی‌ها و میزان آمادگی سازمان برای مشارکت تعریف می‌شود)</a:t>
            </a:r>
            <a:endParaRPr lang="fa-IR" sz="1100" b="0" dirty="0">
              <a:solidFill>
                <a:schemeClr val="tx1">
                  <a:lumMod val="65000"/>
                  <a:lumOff val="35000"/>
                </a:schemeClr>
              </a:solidFill>
            </a:endParaRPr>
          </a:p>
        </p:txBody>
      </p:sp>
      <p:sp>
        <p:nvSpPr>
          <p:cNvPr id="8" name="Rectangle 7">
            <a:extLst>
              <a:ext uri="{FF2B5EF4-FFF2-40B4-BE49-F238E27FC236}">
                <a16:creationId xmlns:a16="http://schemas.microsoft.com/office/drawing/2014/main" id="{FBA30B6B-6E59-D636-80D7-EEC14AB0A319}"/>
              </a:ext>
            </a:extLst>
          </p:cNvPr>
          <p:cNvSpPr/>
          <p:nvPr/>
        </p:nvSpPr>
        <p:spPr>
          <a:xfrm>
            <a:off x="6054291" y="1718108"/>
            <a:ext cx="5093134" cy="1034477"/>
          </a:xfrm>
          <a:prstGeom prst="rect">
            <a:avLst/>
          </a:prstGeom>
          <a:noFill/>
          <a:ln w="6350">
            <a:solidFill>
              <a:srgbClr val="FF33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11" name="TextBox 10">
            <a:extLst>
              <a:ext uri="{FF2B5EF4-FFF2-40B4-BE49-F238E27FC236}">
                <a16:creationId xmlns:a16="http://schemas.microsoft.com/office/drawing/2014/main" id="{11F8D719-58F6-3C15-442C-A6F764FCBE3F}"/>
              </a:ext>
            </a:extLst>
          </p:cNvPr>
          <p:cNvSpPr txBox="1"/>
          <p:nvPr/>
        </p:nvSpPr>
        <p:spPr>
          <a:xfrm>
            <a:off x="9466446" y="1605252"/>
            <a:ext cx="1513429" cy="261610"/>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err="1">
                <a:ln>
                  <a:noFill/>
                </a:ln>
                <a:solidFill>
                  <a:srgbClr val="FF3399"/>
                </a:solidFill>
                <a:effectLst/>
                <a:uLnTx/>
                <a:uFillTx/>
                <a:latin typeface="Yekan Bakh" pitchFamily="2" charset="-78"/>
                <a:ea typeface="Yekan Bakh" pitchFamily="2" charset="-78"/>
                <a:cs typeface="Yekan Bakh" pitchFamily="2" charset="-78"/>
              </a:rPr>
              <a:t>تصمیم‌گیرندگان</a:t>
            </a:r>
            <a:r>
              <a:rPr kumimoji="0" lang="fa-IR" sz="1050" b="1" i="0" u="none" strike="noStrike" kern="1200" cap="none" spc="0" normalizeH="0" baseline="0" noProof="0" dirty="0">
                <a:ln>
                  <a:noFill/>
                </a:ln>
                <a:solidFill>
                  <a:srgbClr val="FF3399"/>
                </a:solidFill>
                <a:effectLst/>
                <a:uLnTx/>
                <a:uFillTx/>
                <a:latin typeface="Yekan Bakh" pitchFamily="2" charset="-78"/>
                <a:ea typeface="Yekan Bakh" pitchFamily="2" charset="-78"/>
                <a:cs typeface="Yekan Bakh" pitchFamily="2" charset="-78"/>
              </a:rPr>
              <a:t> کلیدی</a:t>
            </a:r>
            <a:endParaRPr kumimoji="0" lang="en-US" sz="1050" b="1" i="0" u="none" strike="noStrike" kern="1200" cap="none" spc="0" normalizeH="0" baseline="0" noProof="0" dirty="0">
              <a:ln>
                <a:noFill/>
              </a:ln>
              <a:solidFill>
                <a:srgbClr val="FF3399"/>
              </a:solidFill>
              <a:effectLst/>
              <a:uLnTx/>
              <a:uFillTx/>
              <a:latin typeface="Yekan Bakh" pitchFamily="2" charset="-78"/>
              <a:ea typeface="Yekan Bakh" pitchFamily="2" charset="-78"/>
              <a:cs typeface="Yekan Bakh" pitchFamily="2" charset="-78"/>
            </a:endParaRPr>
          </a:p>
        </p:txBody>
      </p:sp>
      <p:sp>
        <p:nvSpPr>
          <p:cNvPr id="14" name="TextBox 13">
            <a:extLst>
              <a:ext uri="{FF2B5EF4-FFF2-40B4-BE49-F238E27FC236}">
                <a16:creationId xmlns:a16="http://schemas.microsoft.com/office/drawing/2014/main" id="{1084B95B-17DF-513B-D71E-B1A79A9A3EA4}"/>
              </a:ext>
            </a:extLst>
          </p:cNvPr>
          <p:cNvSpPr txBox="1"/>
          <p:nvPr/>
        </p:nvSpPr>
        <p:spPr>
          <a:xfrm>
            <a:off x="6129339" y="1830965"/>
            <a:ext cx="4954286" cy="93871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مالک،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هیئت‌مدیره</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یا کمیته سرمایه‌گذاری (مرجع نهایی تصمیم)</a:t>
            </a:r>
          </a:p>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مدیر استراتژی یا نوآوری (حامی پروژه)</a:t>
            </a:r>
          </a:p>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واحد حقوقی (مسئول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ساختاردهی</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a:t>
            </a:r>
          </a:p>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مدیر واحدی که دارایی در اختیار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اوست</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فردی که در بسیاری از موارد،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اصلی‌ترین</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مانع اجرای پروژه محسوب می‌شود.</a:t>
            </a:r>
            <a:endParaRPr kumimoji="0" lang="en-US"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17" name="Rectangle 16">
            <a:extLst>
              <a:ext uri="{FF2B5EF4-FFF2-40B4-BE49-F238E27FC236}">
                <a16:creationId xmlns:a16="http://schemas.microsoft.com/office/drawing/2014/main" id="{F90C1BD8-9D7B-7A19-D100-B58AF02893FD}"/>
              </a:ext>
            </a:extLst>
          </p:cNvPr>
          <p:cNvSpPr/>
          <p:nvPr/>
        </p:nvSpPr>
        <p:spPr>
          <a:xfrm>
            <a:off x="6054291" y="2955438"/>
            <a:ext cx="5093134" cy="798522"/>
          </a:xfrm>
          <a:prstGeom prst="rect">
            <a:avLst/>
          </a:prstGeom>
          <a:noFill/>
          <a:ln w="6350">
            <a:solidFill>
              <a:srgbClr val="FF33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20" name="TextBox 19">
            <a:extLst>
              <a:ext uri="{FF2B5EF4-FFF2-40B4-BE49-F238E27FC236}">
                <a16:creationId xmlns:a16="http://schemas.microsoft.com/office/drawing/2014/main" id="{FF826877-1015-467E-60D1-1E4C74141637}"/>
              </a:ext>
            </a:extLst>
          </p:cNvPr>
          <p:cNvSpPr txBox="1"/>
          <p:nvPr/>
        </p:nvSpPr>
        <p:spPr>
          <a:xfrm>
            <a:off x="9466446" y="2842582"/>
            <a:ext cx="1513429" cy="261610"/>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a:ln>
                  <a:noFill/>
                </a:ln>
                <a:solidFill>
                  <a:srgbClr val="FF3399"/>
                </a:solidFill>
                <a:effectLst/>
                <a:uLnTx/>
                <a:uFillTx/>
                <a:latin typeface="Yekan Bakh" pitchFamily="2" charset="-78"/>
                <a:ea typeface="Yekan Bakh" pitchFamily="2" charset="-78"/>
                <a:cs typeface="Yekan Bakh" pitchFamily="2" charset="-78"/>
              </a:rPr>
              <a:t>آنچه برایشان ارزش است</a:t>
            </a:r>
            <a:endParaRPr kumimoji="0" lang="en-US" sz="1050" b="1" i="0" u="none" strike="noStrike" kern="1200" cap="none" spc="0" normalizeH="0" baseline="0" noProof="0">
              <a:ln>
                <a:noFill/>
              </a:ln>
              <a:solidFill>
                <a:srgbClr val="FF3399"/>
              </a:solidFill>
              <a:effectLst/>
              <a:uLnTx/>
              <a:uFillTx/>
              <a:latin typeface="Yekan Bakh" pitchFamily="2" charset="-78"/>
              <a:ea typeface="Yekan Bakh" pitchFamily="2" charset="-78"/>
              <a:cs typeface="Yekan Bakh" pitchFamily="2" charset="-78"/>
            </a:endParaRPr>
          </a:p>
        </p:txBody>
      </p:sp>
      <p:sp>
        <p:nvSpPr>
          <p:cNvPr id="23" name="TextBox 22">
            <a:extLst>
              <a:ext uri="{FF2B5EF4-FFF2-40B4-BE49-F238E27FC236}">
                <a16:creationId xmlns:a16="http://schemas.microsoft.com/office/drawing/2014/main" id="{C379FD23-12FD-00B3-8E96-B7969271ADC3}"/>
              </a:ext>
            </a:extLst>
          </p:cNvPr>
          <p:cNvSpPr txBox="1"/>
          <p:nvPr/>
        </p:nvSpPr>
        <p:spPr>
          <a:xfrm>
            <a:off x="6129339" y="3134970"/>
            <a:ext cx="4954286" cy="600164"/>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توان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اثبات‌شده</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در ساخت و اداره کسب‌وکار، هم‌راستایی منافع از طریق سهام مشترک،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ارزش‌گذاری</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شفاف و منصفانه دارایی، و محدود بودن ریسک پروژه برای سازمان اصلی.</a:t>
            </a:r>
            <a:endParaRPr kumimoji="0" lang="en-US"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26" name="Rectangle 25">
            <a:extLst>
              <a:ext uri="{FF2B5EF4-FFF2-40B4-BE49-F238E27FC236}">
                <a16:creationId xmlns:a16="http://schemas.microsoft.com/office/drawing/2014/main" id="{F9C5E108-C73D-EF61-9D9E-872AA6455BF5}"/>
              </a:ext>
            </a:extLst>
          </p:cNvPr>
          <p:cNvSpPr/>
          <p:nvPr/>
        </p:nvSpPr>
        <p:spPr>
          <a:xfrm>
            <a:off x="6054291" y="3893177"/>
            <a:ext cx="5093134" cy="1160178"/>
          </a:xfrm>
          <a:prstGeom prst="rect">
            <a:avLst/>
          </a:prstGeom>
          <a:noFill/>
          <a:ln w="6350">
            <a:solidFill>
              <a:srgbClr val="FF33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29" name="TextBox 28">
            <a:extLst>
              <a:ext uri="{FF2B5EF4-FFF2-40B4-BE49-F238E27FC236}">
                <a16:creationId xmlns:a16="http://schemas.microsoft.com/office/drawing/2014/main" id="{C38D3493-8C27-38FC-6643-3712A2C676AF}"/>
              </a:ext>
            </a:extLst>
          </p:cNvPr>
          <p:cNvSpPr txBox="1"/>
          <p:nvPr/>
        </p:nvSpPr>
        <p:spPr>
          <a:xfrm>
            <a:off x="9567512" y="3780322"/>
            <a:ext cx="1412363" cy="261610"/>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srgbClr val="FF3399"/>
                </a:solidFill>
                <a:effectLst/>
                <a:uLnTx/>
                <a:uFillTx/>
                <a:latin typeface="Yekan Bakh" pitchFamily="2" charset="-78"/>
                <a:ea typeface="Yekan Bakh" pitchFamily="2" charset="-78"/>
                <a:cs typeface="Yekan Bakh" pitchFamily="2" charset="-78"/>
              </a:rPr>
              <a:t>تمایل به پرداخت برای</a:t>
            </a:r>
            <a:endParaRPr kumimoji="0" lang="en-US" sz="1050" b="1" i="0" u="none" strike="noStrike" kern="1200" cap="none" spc="0" normalizeH="0" baseline="0" noProof="0" dirty="0">
              <a:ln>
                <a:noFill/>
              </a:ln>
              <a:solidFill>
                <a:srgbClr val="FF3399"/>
              </a:solidFill>
              <a:effectLst/>
              <a:uLnTx/>
              <a:uFillTx/>
              <a:latin typeface="Yekan Bakh" pitchFamily="2" charset="-78"/>
              <a:ea typeface="Yekan Bakh" pitchFamily="2" charset="-78"/>
              <a:cs typeface="Yekan Bakh" pitchFamily="2" charset="-78"/>
            </a:endParaRPr>
          </a:p>
        </p:txBody>
      </p:sp>
      <p:sp>
        <p:nvSpPr>
          <p:cNvPr id="32" name="TextBox 31">
            <a:extLst>
              <a:ext uri="{FF2B5EF4-FFF2-40B4-BE49-F238E27FC236}">
                <a16:creationId xmlns:a16="http://schemas.microsoft.com/office/drawing/2014/main" id="{99C7A62F-E1B2-4FD6-99A5-A6E25FF62EA6}"/>
              </a:ext>
            </a:extLst>
          </p:cNvPr>
          <p:cNvSpPr txBox="1"/>
          <p:nvPr/>
        </p:nvSpPr>
        <p:spPr>
          <a:xfrm>
            <a:off x="6129339" y="4072710"/>
            <a:ext cx="4954286" cy="938719"/>
          </a:xfrm>
          <a:prstGeom prst="rect">
            <a:avLst/>
          </a:prstGeom>
          <a:noFill/>
        </p:spPr>
        <p:txBody>
          <a:bodyPr wrap="square">
            <a:spAutoFit/>
          </a:bodyPr>
          <a:lstStyle/>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طراحی و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اعتبارسنجی</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مدل کسب‌وکار</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تشکیل تیم اجرایی</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ساخت و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راه‌اندازی</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کسب‌وکار</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پشتیبانی عملیاتی پس از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راه‌اندازی</a:t>
            </a:r>
            <a:endPar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پرداخت معمولا ترکیبی از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کارمزد</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خدمات و واگذاری بخشی از سهام است.</a:t>
            </a:r>
            <a:endParaRPr kumimoji="0" lang="en-US"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35" name="Rectangle 34">
            <a:extLst>
              <a:ext uri="{FF2B5EF4-FFF2-40B4-BE49-F238E27FC236}">
                <a16:creationId xmlns:a16="http://schemas.microsoft.com/office/drawing/2014/main" id="{E3C267F9-F2DA-DD30-902D-2BB85AE45BB8}"/>
              </a:ext>
            </a:extLst>
          </p:cNvPr>
          <p:cNvSpPr/>
          <p:nvPr/>
        </p:nvSpPr>
        <p:spPr>
          <a:xfrm>
            <a:off x="723175" y="1718108"/>
            <a:ext cx="5093134" cy="1034477"/>
          </a:xfrm>
          <a:prstGeom prst="rect">
            <a:avLst/>
          </a:prstGeom>
          <a:noFill/>
          <a:ln w="6350">
            <a:solidFill>
              <a:srgbClr val="FF33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38" name="TextBox 37">
            <a:extLst>
              <a:ext uri="{FF2B5EF4-FFF2-40B4-BE49-F238E27FC236}">
                <a16:creationId xmlns:a16="http://schemas.microsoft.com/office/drawing/2014/main" id="{4929DEED-FC05-4B6B-4307-15458F47145A}"/>
              </a:ext>
            </a:extLst>
          </p:cNvPr>
          <p:cNvSpPr txBox="1"/>
          <p:nvPr/>
        </p:nvSpPr>
        <p:spPr>
          <a:xfrm>
            <a:off x="4134051" y="1605253"/>
            <a:ext cx="1514708" cy="261610"/>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srgbClr val="FF3399"/>
                </a:solidFill>
                <a:effectLst/>
                <a:uLnTx/>
                <a:uFillTx/>
                <a:latin typeface="Yekan Bakh" pitchFamily="2" charset="-78"/>
                <a:ea typeface="Yekan Bakh" pitchFamily="2" charset="-78"/>
                <a:cs typeface="Yekan Bakh" pitchFamily="2" charset="-78"/>
              </a:rPr>
              <a:t>ارزش پیشنهادی خدمت</a:t>
            </a:r>
            <a:endParaRPr kumimoji="0" lang="en-US" sz="1050" b="1" i="0" u="none" strike="noStrike" kern="1200" cap="none" spc="0" normalizeH="0" baseline="0" noProof="0" dirty="0">
              <a:ln>
                <a:noFill/>
              </a:ln>
              <a:solidFill>
                <a:srgbClr val="FF3399"/>
              </a:solidFill>
              <a:effectLst/>
              <a:uLnTx/>
              <a:uFillTx/>
              <a:latin typeface="Yekan Bakh" pitchFamily="2" charset="-78"/>
              <a:ea typeface="Yekan Bakh" pitchFamily="2" charset="-78"/>
              <a:cs typeface="Yekan Bakh" pitchFamily="2" charset="-78"/>
            </a:endParaRPr>
          </a:p>
        </p:txBody>
      </p:sp>
      <p:sp>
        <p:nvSpPr>
          <p:cNvPr id="41" name="TextBox 40">
            <a:extLst>
              <a:ext uri="{FF2B5EF4-FFF2-40B4-BE49-F238E27FC236}">
                <a16:creationId xmlns:a16="http://schemas.microsoft.com/office/drawing/2014/main" id="{4682A812-0B25-5FFE-7871-9943B6E4C7BD}"/>
              </a:ext>
            </a:extLst>
          </p:cNvPr>
          <p:cNvSpPr txBox="1"/>
          <p:nvPr/>
        </p:nvSpPr>
        <p:spPr>
          <a:xfrm>
            <a:off x="798223" y="1897641"/>
            <a:ext cx="4954286" cy="600164"/>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طراحی و ایجاد کامل یک کسب‌وکار جدید بر پایه دارایی موجود؛ از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اعتبارسنجی</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ایده و طراحی مدل کسب‌وکار گرفته تا تشکیل تیم، ساخت،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راه‌اندازی</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توسعه و در صورت نیاز،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بین‌المللی‌سازی</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آن.</a:t>
            </a:r>
            <a:endParaRPr kumimoji="0" lang="en-US"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44" name="Rectangle 43">
            <a:extLst>
              <a:ext uri="{FF2B5EF4-FFF2-40B4-BE49-F238E27FC236}">
                <a16:creationId xmlns:a16="http://schemas.microsoft.com/office/drawing/2014/main" id="{56C03420-6EBC-6E65-5338-6FD229867B1D}"/>
              </a:ext>
            </a:extLst>
          </p:cNvPr>
          <p:cNvSpPr/>
          <p:nvPr/>
        </p:nvSpPr>
        <p:spPr>
          <a:xfrm>
            <a:off x="6054291" y="5192091"/>
            <a:ext cx="5093134" cy="741984"/>
          </a:xfrm>
          <a:prstGeom prst="rect">
            <a:avLst/>
          </a:prstGeom>
          <a:noFill/>
          <a:ln w="6350">
            <a:solidFill>
              <a:srgbClr val="FF33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47" name="TextBox 46">
            <a:extLst>
              <a:ext uri="{FF2B5EF4-FFF2-40B4-BE49-F238E27FC236}">
                <a16:creationId xmlns:a16="http://schemas.microsoft.com/office/drawing/2014/main" id="{BEB456EF-705E-3A02-B75F-B0BD444B0757}"/>
              </a:ext>
            </a:extLst>
          </p:cNvPr>
          <p:cNvSpPr txBox="1"/>
          <p:nvPr/>
        </p:nvSpPr>
        <p:spPr>
          <a:xfrm>
            <a:off x="9620451" y="5079235"/>
            <a:ext cx="1359424" cy="253916"/>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srgbClr val="FF3399"/>
                </a:solidFill>
                <a:effectLst/>
                <a:uLnTx/>
                <a:uFillTx/>
                <a:latin typeface="Yekan Bakh" pitchFamily="2" charset="-78"/>
                <a:ea typeface="Yekan Bakh" pitchFamily="2" charset="-78"/>
                <a:cs typeface="Yekan Bakh" pitchFamily="2" charset="-78"/>
              </a:rPr>
              <a:t>مدل تعامل </a:t>
            </a:r>
            <a:r>
              <a:rPr kumimoji="0" lang="fa-IR" sz="1050" b="1" i="0" u="none" strike="noStrike" kern="1200" cap="none" spc="0" normalizeH="0" baseline="0" noProof="0" dirty="0" err="1">
                <a:ln>
                  <a:noFill/>
                </a:ln>
                <a:solidFill>
                  <a:srgbClr val="FF3399"/>
                </a:solidFill>
                <a:effectLst/>
                <a:uLnTx/>
                <a:uFillTx/>
                <a:latin typeface="Yekan Bakh" pitchFamily="2" charset="-78"/>
                <a:ea typeface="Yekan Bakh" pitchFamily="2" charset="-78"/>
                <a:cs typeface="Yekan Bakh" pitchFamily="2" charset="-78"/>
              </a:rPr>
              <a:t>ترجیحی</a:t>
            </a:r>
            <a:endParaRPr kumimoji="0" lang="en-US" sz="1050" b="1" i="0" u="none" strike="noStrike" kern="1200" cap="none" spc="0" normalizeH="0" baseline="0" noProof="0" dirty="0">
              <a:ln>
                <a:noFill/>
              </a:ln>
              <a:solidFill>
                <a:srgbClr val="FF3399"/>
              </a:solidFill>
              <a:effectLst/>
              <a:uLnTx/>
              <a:uFillTx/>
              <a:latin typeface="Yekan Bakh" pitchFamily="2" charset="-78"/>
              <a:ea typeface="Yekan Bakh" pitchFamily="2" charset="-78"/>
              <a:cs typeface="Yekan Bakh" pitchFamily="2" charset="-78"/>
            </a:endParaRPr>
          </a:p>
        </p:txBody>
      </p:sp>
      <p:sp>
        <p:nvSpPr>
          <p:cNvPr id="50" name="TextBox 49">
            <a:extLst>
              <a:ext uri="{FF2B5EF4-FFF2-40B4-BE49-F238E27FC236}">
                <a16:creationId xmlns:a16="http://schemas.microsoft.com/office/drawing/2014/main" id="{DB4AD41C-7D24-DEF5-6EFA-B18F0DA1CFEB}"/>
              </a:ext>
            </a:extLst>
          </p:cNvPr>
          <p:cNvSpPr txBox="1"/>
          <p:nvPr/>
        </p:nvSpPr>
        <p:spPr>
          <a:xfrm>
            <a:off x="6129339" y="5323998"/>
            <a:ext cx="4925711" cy="600164"/>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یک مدل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جوینت‌ونچر</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مرحله‌ای</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a:t>
            </a:r>
          </a:p>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۱ مرحله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اعتبارسنجی</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با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کارمزد</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مشخص &gt; ۲ مرحله ساخت با ترکیبی از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کارمزد</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و سهام &gt; ۳ حاکمیت پروژه بر اساس نقاط کنترل و تأیید در هر مرحله</a:t>
            </a:r>
            <a:endParaRPr kumimoji="0" lang="en-US"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53" name="Rectangle 52">
            <a:extLst>
              <a:ext uri="{FF2B5EF4-FFF2-40B4-BE49-F238E27FC236}">
                <a16:creationId xmlns:a16="http://schemas.microsoft.com/office/drawing/2014/main" id="{70AB3A71-DF1B-7A7B-6B8D-C3655FF80B61}"/>
              </a:ext>
            </a:extLst>
          </p:cNvPr>
          <p:cNvSpPr/>
          <p:nvPr/>
        </p:nvSpPr>
        <p:spPr>
          <a:xfrm>
            <a:off x="758391" y="4436191"/>
            <a:ext cx="5093134" cy="1497884"/>
          </a:xfrm>
          <a:prstGeom prst="rect">
            <a:avLst/>
          </a:prstGeom>
          <a:noFill/>
          <a:ln w="6350">
            <a:solidFill>
              <a:srgbClr val="FF33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56" name="TextBox 55">
            <a:extLst>
              <a:ext uri="{FF2B5EF4-FFF2-40B4-BE49-F238E27FC236}">
                <a16:creationId xmlns:a16="http://schemas.microsoft.com/office/drawing/2014/main" id="{9D861FC1-F84E-398B-29A6-6AC37A6D100D}"/>
              </a:ext>
            </a:extLst>
          </p:cNvPr>
          <p:cNvSpPr txBox="1"/>
          <p:nvPr/>
        </p:nvSpPr>
        <p:spPr>
          <a:xfrm>
            <a:off x="4134051" y="4323336"/>
            <a:ext cx="1549924" cy="261610"/>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srgbClr val="FF3399"/>
                </a:solidFill>
                <a:effectLst/>
                <a:uLnTx/>
                <a:uFillTx/>
                <a:latin typeface="Yekan Bakh" pitchFamily="2" charset="-78"/>
                <a:ea typeface="Yekan Bakh" pitchFamily="2" charset="-78"/>
                <a:cs typeface="Yekan Bakh" pitchFamily="2" charset="-78"/>
              </a:rPr>
              <a:t>معیارهای احراز صلاحیت</a:t>
            </a:r>
            <a:endParaRPr kumimoji="0" lang="en-US" sz="1050" b="1" i="0" u="none" strike="noStrike" kern="1200" cap="none" spc="0" normalizeH="0" baseline="0" noProof="0" dirty="0">
              <a:ln>
                <a:noFill/>
              </a:ln>
              <a:solidFill>
                <a:srgbClr val="FF3399"/>
              </a:solidFill>
              <a:effectLst/>
              <a:uLnTx/>
              <a:uFillTx/>
              <a:latin typeface="Yekan Bakh" pitchFamily="2" charset="-78"/>
              <a:ea typeface="Yekan Bakh" pitchFamily="2" charset="-78"/>
              <a:cs typeface="Yekan Bakh" pitchFamily="2" charset="-78"/>
            </a:endParaRPr>
          </a:p>
        </p:txBody>
      </p:sp>
      <p:sp>
        <p:nvSpPr>
          <p:cNvPr id="59" name="TextBox 58">
            <a:extLst>
              <a:ext uri="{FF2B5EF4-FFF2-40B4-BE49-F238E27FC236}">
                <a16:creationId xmlns:a16="http://schemas.microsoft.com/office/drawing/2014/main" id="{E1BB0F1F-02AD-AF80-3ED1-738FC36FA35D}"/>
              </a:ext>
            </a:extLst>
          </p:cNvPr>
          <p:cNvSpPr txBox="1"/>
          <p:nvPr/>
        </p:nvSpPr>
        <p:spPr>
          <a:xfrm>
            <a:off x="833439" y="4615724"/>
            <a:ext cx="4954286" cy="938719"/>
          </a:xfrm>
          <a:prstGeom prst="rect">
            <a:avLst/>
          </a:prstGeom>
          <a:noFill/>
        </p:spPr>
        <p:txBody>
          <a:bodyPr wrap="square">
            <a:spAutoFit/>
          </a:bodyPr>
          <a:lstStyle/>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در اختیار داشتن یک دارایی مشخص و ارزشمند</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آمادگی واقعی برای واگذاری بخشی از سهام</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وجود حامی پروژه در سطح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هیئت‌مدیره</a:t>
            </a:r>
            <a:endPar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تأمین سرمایه لازم برای مرحله ساخت</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امکان ایجاد یک شخصیت حقوقی مستقل از نظر ساختار حاکمیتی</a:t>
            </a:r>
            <a:endParaRPr kumimoji="0" lang="en-US"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62" name="Rectangle 61">
            <a:extLst>
              <a:ext uri="{FF2B5EF4-FFF2-40B4-BE49-F238E27FC236}">
                <a16:creationId xmlns:a16="http://schemas.microsoft.com/office/drawing/2014/main" id="{0DF5FB02-D571-538A-EF0E-0CF331063091}"/>
              </a:ext>
            </a:extLst>
          </p:cNvPr>
          <p:cNvSpPr/>
          <p:nvPr/>
        </p:nvSpPr>
        <p:spPr>
          <a:xfrm>
            <a:off x="723175" y="2955437"/>
            <a:ext cx="5093134" cy="1280655"/>
          </a:xfrm>
          <a:prstGeom prst="rect">
            <a:avLst/>
          </a:prstGeom>
          <a:noFill/>
          <a:ln w="6350">
            <a:solidFill>
              <a:srgbClr val="FF33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65" name="TextBox 64">
            <a:extLst>
              <a:ext uri="{FF2B5EF4-FFF2-40B4-BE49-F238E27FC236}">
                <a16:creationId xmlns:a16="http://schemas.microsoft.com/office/drawing/2014/main" id="{6A970DCB-7E7B-FF3E-255B-D9B356FAC1A7}"/>
              </a:ext>
            </a:extLst>
          </p:cNvPr>
          <p:cNvSpPr txBox="1"/>
          <p:nvPr/>
        </p:nvSpPr>
        <p:spPr>
          <a:xfrm>
            <a:off x="4485373" y="2842582"/>
            <a:ext cx="1163386" cy="261610"/>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err="1">
                <a:ln>
                  <a:noFill/>
                </a:ln>
                <a:solidFill>
                  <a:srgbClr val="FF3399"/>
                </a:solidFill>
                <a:effectLst/>
                <a:uLnTx/>
                <a:uFillTx/>
                <a:latin typeface="Yekan Bakh" pitchFamily="2" charset="-78"/>
                <a:ea typeface="Yekan Bakh" pitchFamily="2" charset="-78"/>
                <a:cs typeface="Yekan Bakh" pitchFamily="2" charset="-78"/>
              </a:rPr>
              <a:t>ریسک‌های</a:t>
            </a:r>
            <a:r>
              <a:rPr kumimoji="0" lang="fa-IR" sz="1050" b="1" i="0" u="none" strike="noStrike" kern="1200" cap="none" spc="0" normalizeH="0" baseline="0" noProof="0" dirty="0">
                <a:ln>
                  <a:noFill/>
                </a:ln>
                <a:solidFill>
                  <a:srgbClr val="FF3399"/>
                </a:solidFill>
                <a:effectLst/>
                <a:uLnTx/>
                <a:uFillTx/>
                <a:latin typeface="Yekan Bakh" pitchFamily="2" charset="-78"/>
                <a:ea typeface="Yekan Bakh" pitchFamily="2" charset="-78"/>
                <a:cs typeface="Yekan Bakh" pitchFamily="2" charset="-78"/>
              </a:rPr>
              <a:t> کلیدی</a:t>
            </a:r>
            <a:endParaRPr kumimoji="0" lang="en-US" sz="1050" b="1" i="0" u="none" strike="noStrike" kern="1200" cap="none" spc="0" normalizeH="0" baseline="0" noProof="0" dirty="0">
              <a:ln>
                <a:noFill/>
              </a:ln>
              <a:solidFill>
                <a:srgbClr val="FF3399"/>
              </a:solidFill>
              <a:effectLst/>
              <a:uLnTx/>
              <a:uFillTx/>
              <a:latin typeface="Yekan Bakh" pitchFamily="2" charset="-78"/>
              <a:ea typeface="Yekan Bakh" pitchFamily="2" charset="-78"/>
              <a:cs typeface="Yekan Bakh" pitchFamily="2" charset="-78"/>
            </a:endParaRPr>
          </a:p>
        </p:txBody>
      </p:sp>
      <p:sp>
        <p:nvSpPr>
          <p:cNvPr id="68" name="TextBox 67">
            <a:extLst>
              <a:ext uri="{FF2B5EF4-FFF2-40B4-BE49-F238E27FC236}">
                <a16:creationId xmlns:a16="http://schemas.microsoft.com/office/drawing/2014/main" id="{CBB5C0E1-9E92-DEB5-414C-C5BF085A1D11}"/>
              </a:ext>
            </a:extLst>
          </p:cNvPr>
          <p:cNvSpPr txBox="1"/>
          <p:nvPr/>
        </p:nvSpPr>
        <p:spPr>
          <a:xfrm>
            <a:off x="798223" y="3134970"/>
            <a:ext cx="4954286" cy="938719"/>
          </a:xfrm>
          <a:prstGeom prst="rect">
            <a:avLst/>
          </a:prstGeom>
          <a:noFill/>
        </p:spPr>
        <p:txBody>
          <a:bodyPr wrap="square">
            <a:spAutoFit/>
          </a:bodyPr>
          <a:lstStyle/>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کمبود توان اجرایی (ساخت کسب‌وکار به مدیران عملیاتی نیاز دارد، نه صرفاً مشاوران)</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نیاز به سرمایه قابل توجه و دوره بازگشت طولانی.</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اختلافات حاکمیتی میان خالق و اکوسیستم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به‌ویژه</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مشارکت‌های</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بین‌المللی.)</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منحرف شدن تمرکز اکوسیستم از خدمات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درآمدزای</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اصلی به پروژه‌های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بلندمدت</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a:t>
            </a:r>
            <a:endParaRPr kumimoji="0" lang="en-US"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Tree>
    <p:extLst>
      <p:ext uri="{BB962C8B-B14F-4D97-AF65-F5344CB8AC3E}">
        <p14:creationId xmlns:p14="http://schemas.microsoft.com/office/powerpoint/2010/main" val="352565852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5F7677-8F3A-28C5-BB71-793D3EC58DDD}"/>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4953CD9C-A997-D129-5B03-6C8D73827FE7}"/>
              </a:ext>
            </a:extLst>
          </p:cNvPr>
          <p:cNvSpPr/>
          <p:nvPr/>
        </p:nvSpPr>
        <p:spPr>
          <a:xfrm>
            <a:off x="0" y="0"/>
            <a:ext cx="11703050" cy="1417320"/>
          </a:xfrm>
          <a:prstGeom prst="rect">
            <a:avLst/>
          </a:prstGeom>
          <a:solidFill>
            <a:srgbClr val="FF66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Calibri"/>
            </a:endParaRPr>
          </a:p>
        </p:txBody>
      </p:sp>
      <p:sp>
        <p:nvSpPr>
          <p:cNvPr id="2" name="Text Placeholder 1">
            <a:extLst>
              <a:ext uri="{FF2B5EF4-FFF2-40B4-BE49-F238E27FC236}">
                <a16:creationId xmlns:a16="http://schemas.microsoft.com/office/drawing/2014/main" id="{83D11AEB-1652-2898-6D7A-98A2A247311C}"/>
              </a:ext>
            </a:extLst>
          </p:cNvPr>
          <p:cNvSpPr>
            <a:spLocks noGrp="1"/>
          </p:cNvSpPr>
          <p:nvPr>
            <p:ph type="body" sz="quarter" idx="10"/>
          </p:nvPr>
        </p:nvSpPr>
        <p:spPr/>
        <p:txBody>
          <a:bodyPr/>
          <a:lstStyle/>
          <a:p>
            <a:r>
              <a:rPr lang="fa-IR"/>
              <a:t>پروفایل بخش‌های مشتری</a:t>
            </a:r>
            <a:endParaRPr lang="fa-IR" dirty="0"/>
          </a:p>
        </p:txBody>
      </p:sp>
      <p:sp>
        <p:nvSpPr>
          <p:cNvPr id="3" name="Text Placeholder 2">
            <a:extLst>
              <a:ext uri="{FF2B5EF4-FFF2-40B4-BE49-F238E27FC236}">
                <a16:creationId xmlns:a16="http://schemas.microsoft.com/office/drawing/2014/main" id="{31380B30-E6AA-4095-20E7-B12D0A6C365F}"/>
              </a:ext>
            </a:extLst>
          </p:cNvPr>
          <p:cNvSpPr>
            <a:spLocks noGrp="1"/>
          </p:cNvSpPr>
          <p:nvPr>
            <p:ph type="body" sz="quarter" idx="12"/>
          </p:nvPr>
        </p:nvSpPr>
        <p:spPr/>
        <p:txBody>
          <a:bodyPr/>
          <a:lstStyle/>
          <a:p>
            <a:r>
              <a:rPr lang="fa-IR" dirty="0"/>
              <a:t>۶. سرمایه‌گذار </a:t>
            </a:r>
            <a:r>
              <a:rPr lang="fa-IR" sz="1200" b="0" dirty="0">
                <a:solidFill>
                  <a:schemeClr val="tx1">
                    <a:lumMod val="65000"/>
                    <a:lumOff val="35000"/>
                  </a:schemeClr>
                </a:solidFill>
              </a:rPr>
              <a:t>(1/2)</a:t>
            </a:r>
          </a:p>
          <a:p>
            <a:r>
              <a:rPr lang="fa-IR" sz="1100" b="0" dirty="0">
                <a:solidFill>
                  <a:schemeClr val="tx1">
                    <a:lumMod val="65000"/>
                    <a:lumOff val="35000"/>
                  </a:schemeClr>
                </a:solidFill>
              </a:rPr>
              <a:t>سرمایه‌گذاری که انگیزه اصلی او کسب بازده مالی است؛ اعم از دفتر مدیریت سرمایه خانوادگی، صندوق سرمایه‌گذاری، سرمایه‌گذار با ارزش خالص دارایی بالا، سرمایه‌گذار ایرانی خارج از کشور، نهاد مالی یا بازوی سرمایه‌گذاری شرکتی. این گروه به دنبال دسترسی به فرصت‌های سرمایه‌گذاری برون‌مرزی است که به‌تنهایی قادر به شناسایی، ارزیابی یا نظارت بر آن‌ها نیست.</a:t>
            </a:r>
          </a:p>
        </p:txBody>
      </p:sp>
      <p:sp>
        <p:nvSpPr>
          <p:cNvPr id="6" name="Rectangle 5">
            <a:extLst>
              <a:ext uri="{FF2B5EF4-FFF2-40B4-BE49-F238E27FC236}">
                <a16:creationId xmlns:a16="http://schemas.microsoft.com/office/drawing/2014/main" id="{FF23990D-95C3-3BAB-9CD7-003F4DFB22FA}"/>
              </a:ext>
            </a:extLst>
          </p:cNvPr>
          <p:cNvSpPr/>
          <p:nvPr/>
        </p:nvSpPr>
        <p:spPr>
          <a:xfrm>
            <a:off x="6054291" y="1718108"/>
            <a:ext cx="5093134" cy="572655"/>
          </a:xfrm>
          <a:prstGeom prst="rect">
            <a:avLst/>
          </a:prstGeom>
          <a:noFill/>
          <a:ln w="6350">
            <a:solidFill>
              <a:srgbClr val="FF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9" name="TextBox 8">
            <a:extLst>
              <a:ext uri="{FF2B5EF4-FFF2-40B4-BE49-F238E27FC236}">
                <a16:creationId xmlns:a16="http://schemas.microsoft.com/office/drawing/2014/main" id="{5B5C119E-F25C-1000-B234-FDF01B9B6148}"/>
              </a:ext>
            </a:extLst>
          </p:cNvPr>
          <p:cNvSpPr txBox="1"/>
          <p:nvPr/>
        </p:nvSpPr>
        <p:spPr>
          <a:xfrm>
            <a:off x="9697453" y="1605252"/>
            <a:ext cx="1282422" cy="261610"/>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srgbClr val="FF6600"/>
                </a:solidFill>
                <a:effectLst/>
                <a:uLnTx/>
                <a:uFillTx/>
                <a:latin typeface="Yekan Bakh" pitchFamily="2" charset="-78"/>
                <a:ea typeface="Yekan Bakh" pitchFamily="2" charset="-78"/>
                <a:cs typeface="Yekan Bakh" pitchFamily="2" charset="-78"/>
              </a:rPr>
              <a:t>نقش اصلی مشتری</a:t>
            </a:r>
            <a:endParaRPr kumimoji="0" lang="en-US" sz="1050" b="1" i="0" u="none" strike="noStrike" kern="1200" cap="none" spc="0" normalizeH="0" baseline="0" noProof="0" dirty="0">
              <a:ln>
                <a:noFill/>
              </a:ln>
              <a:solidFill>
                <a:srgbClr val="FF6600"/>
              </a:solidFill>
              <a:effectLst/>
              <a:uLnTx/>
              <a:uFillTx/>
              <a:latin typeface="Yekan Bakh" pitchFamily="2" charset="-78"/>
              <a:ea typeface="Yekan Bakh" pitchFamily="2" charset="-78"/>
              <a:cs typeface="Yekan Bakh" pitchFamily="2" charset="-78"/>
            </a:endParaRPr>
          </a:p>
        </p:txBody>
      </p:sp>
      <p:sp>
        <p:nvSpPr>
          <p:cNvPr id="12" name="TextBox 11">
            <a:extLst>
              <a:ext uri="{FF2B5EF4-FFF2-40B4-BE49-F238E27FC236}">
                <a16:creationId xmlns:a16="http://schemas.microsoft.com/office/drawing/2014/main" id="{67DBF7F2-69DD-6350-728A-2FB790057B4B}"/>
              </a:ext>
            </a:extLst>
          </p:cNvPr>
          <p:cNvSpPr txBox="1"/>
          <p:nvPr/>
        </p:nvSpPr>
        <p:spPr>
          <a:xfrm>
            <a:off x="6129339" y="1823844"/>
            <a:ext cx="4954286" cy="415498"/>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05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تأمین‌کننده</a:t>
            </a:r>
            <a:r>
              <a:rPr kumimoji="0" lang="fa-IR" sz="105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سرمایه و مشتری اقتصادی، که برای دسترسی به فرصت‌های سرمایه‌گذاری، انجام ارزیابی و نظارت بر سرمایه‌گذاری حاضر به پرداخت هزینه و سرمایه‌گذاری می‌شود.</a:t>
            </a:r>
            <a:endParaRPr kumimoji="0" lang="en-US" sz="105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15" name="Rectangle 14">
            <a:extLst>
              <a:ext uri="{FF2B5EF4-FFF2-40B4-BE49-F238E27FC236}">
                <a16:creationId xmlns:a16="http://schemas.microsoft.com/office/drawing/2014/main" id="{3BB1E14E-573D-2C07-861F-723CF6B935B9}"/>
              </a:ext>
            </a:extLst>
          </p:cNvPr>
          <p:cNvSpPr/>
          <p:nvPr/>
        </p:nvSpPr>
        <p:spPr>
          <a:xfrm>
            <a:off x="6054291" y="2516475"/>
            <a:ext cx="5093134" cy="674400"/>
          </a:xfrm>
          <a:prstGeom prst="rect">
            <a:avLst/>
          </a:prstGeom>
          <a:noFill/>
          <a:ln w="6350">
            <a:solidFill>
              <a:srgbClr val="FF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18" name="TextBox 17">
            <a:extLst>
              <a:ext uri="{FF2B5EF4-FFF2-40B4-BE49-F238E27FC236}">
                <a16:creationId xmlns:a16="http://schemas.microsoft.com/office/drawing/2014/main" id="{DDE15D10-4411-13AD-BAA6-42A72D704631}"/>
              </a:ext>
            </a:extLst>
          </p:cNvPr>
          <p:cNvSpPr txBox="1"/>
          <p:nvPr/>
        </p:nvSpPr>
        <p:spPr>
          <a:xfrm>
            <a:off x="9697453" y="2403619"/>
            <a:ext cx="1282422" cy="261610"/>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srgbClr val="FF6600"/>
                </a:solidFill>
                <a:effectLst/>
                <a:uLnTx/>
                <a:uFillTx/>
                <a:latin typeface="Yekan Bakh" pitchFamily="2" charset="-78"/>
                <a:ea typeface="Yekan Bakh" pitchFamily="2" charset="-78"/>
                <a:cs typeface="Yekan Bakh" pitchFamily="2" charset="-78"/>
              </a:rPr>
              <a:t>نیاز محوری مشتری </a:t>
            </a:r>
            <a:endParaRPr kumimoji="0" lang="en-US" sz="1050" b="1" i="0" u="none" strike="noStrike" kern="1200" cap="none" spc="0" normalizeH="0" baseline="0" noProof="0" dirty="0">
              <a:ln>
                <a:noFill/>
              </a:ln>
              <a:solidFill>
                <a:srgbClr val="FF6600"/>
              </a:solidFill>
              <a:effectLst/>
              <a:uLnTx/>
              <a:uFillTx/>
              <a:latin typeface="Yekan Bakh" pitchFamily="2" charset="-78"/>
              <a:ea typeface="Yekan Bakh" pitchFamily="2" charset="-78"/>
              <a:cs typeface="Yekan Bakh" pitchFamily="2" charset="-78"/>
            </a:endParaRPr>
          </a:p>
        </p:txBody>
      </p:sp>
      <p:sp>
        <p:nvSpPr>
          <p:cNvPr id="21" name="TextBox 20">
            <a:extLst>
              <a:ext uri="{FF2B5EF4-FFF2-40B4-BE49-F238E27FC236}">
                <a16:creationId xmlns:a16="http://schemas.microsoft.com/office/drawing/2014/main" id="{8C88204E-D48C-BC74-BF5B-B6106A33B7A2}"/>
              </a:ext>
            </a:extLst>
          </p:cNvPr>
          <p:cNvSpPr txBox="1"/>
          <p:nvPr/>
        </p:nvSpPr>
        <p:spPr>
          <a:xfrm>
            <a:off x="6054291" y="2696007"/>
            <a:ext cx="5029334" cy="430887"/>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دسترسی به فرصت‌های سرمایه‌گذاری با سطح ریسک قابل قبول و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ارزیابی‌شده</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در بازاری که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به‌تنهایی</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توان تحلیل و پذیرش ریسک آن را ندارد.</a:t>
            </a:r>
            <a:endParaRPr kumimoji="0" lang="en-US"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24" name="Rectangle 23">
            <a:extLst>
              <a:ext uri="{FF2B5EF4-FFF2-40B4-BE49-F238E27FC236}">
                <a16:creationId xmlns:a16="http://schemas.microsoft.com/office/drawing/2014/main" id="{F364127D-2DE3-C311-E6CD-3289785B4261}"/>
              </a:ext>
            </a:extLst>
          </p:cNvPr>
          <p:cNvSpPr/>
          <p:nvPr/>
        </p:nvSpPr>
        <p:spPr>
          <a:xfrm>
            <a:off x="6054291" y="3513710"/>
            <a:ext cx="5093134" cy="1034477"/>
          </a:xfrm>
          <a:prstGeom prst="rect">
            <a:avLst/>
          </a:prstGeom>
          <a:noFill/>
          <a:ln w="6350">
            <a:solidFill>
              <a:srgbClr val="FF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27" name="TextBox 26">
            <a:extLst>
              <a:ext uri="{FF2B5EF4-FFF2-40B4-BE49-F238E27FC236}">
                <a16:creationId xmlns:a16="http://schemas.microsoft.com/office/drawing/2014/main" id="{0A62BDD3-00F7-7342-B686-3E5C53AD9D86}"/>
              </a:ext>
            </a:extLst>
          </p:cNvPr>
          <p:cNvSpPr txBox="1"/>
          <p:nvPr/>
        </p:nvSpPr>
        <p:spPr>
          <a:xfrm>
            <a:off x="8768615" y="3400855"/>
            <a:ext cx="2211260" cy="261610"/>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err="1">
                <a:ln>
                  <a:noFill/>
                </a:ln>
                <a:solidFill>
                  <a:srgbClr val="FF6600"/>
                </a:solidFill>
                <a:effectLst/>
                <a:uLnTx/>
                <a:uFillTx/>
                <a:latin typeface="Yekan Bakh" pitchFamily="2" charset="-78"/>
                <a:ea typeface="Yekan Bakh" pitchFamily="2" charset="-78"/>
                <a:cs typeface="Yekan Bakh" pitchFamily="2" charset="-78"/>
              </a:rPr>
              <a:t>فعالیت‌های</a:t>
            </a:r>
            <a:r>
              <a:rPr kumimoji="0" lang="fa-IR" sz="1050" b="1" i="0" u="none" strike="noStrike" kern="1200" cap="none" spc="0" normalizeH="0" baseline="0" noProof="0" dirty="0">
                <a:ln>
                  <a:noFill/>
                </a:ln>
                <a:solidFill>
                  <a:srgbClr val="FF6600"/>
                </a:solidFill>
                <a:effectLst/>
                <a:uLnTx/>
                <a:uFillTx/>
                <a:latin typeface="Yekan Bakh" pitchFamily="2" charset="-78"/>
                <a:ea typeface="Yekan Bakh" pitchFamily="2" charset="-78"/>
                <a:cs typeface="Yekan Bakh" pitchFamily="2" charset="-78"/>
              </a:rPr>
              <a:t> کلیدی نیازمند به سیمرغ </a:t>
            </a:r>
            <a:endParaRPr kumimoji="0" lang="en-US" sz="1050" b="1" i="0" u="none" strike="noStrike" kern="1200" cap="none" spc="0" normalizeH="0" baseline="0" noProof="0" dirty="0">
              <a:ln>
                <a:noFill/>
              </a:ln>
              <a:solidFill>
                <a:srgbClr val="FF6600"/>
              </a:solidFill>
              <a:effectLst/>
              <a:uLnTx/>
              <a:uFillTx/>
              <a:latin typeface="Yekan Bakh" pitchFamily="2" charset="-78"/>
              <a:ea typeface="Yekan Bakh" pitchFamily="2" charset="-78"/>
              <a:cs typeface="Yekan Bakh" pitchFamily="2" charset="-78"/>
            </a:endParaRPr>
          </a:p>
        </p:txBody>
      </p:sp>
      <p:sp>
        <p:nvSpPr>
          <p:cNvPr id="30" name="TextBox 29">
            <a:extLst>
              <a:ext uri="{FF2B5EF4-FFF2-40B4-BE49-F238E27FC236}">
                <a16:creationId xmlns:a16="http://schemas.microsoft.com/office/drawing/2014/main" id="{D921EADD-6001-E2E8-2D20-997DB54B8003}"/>
              </a:ext>
            </a:extLst>
          </p:cNvPr>
          <p:cNvSpPr txBox="1"/>
          <p:nvPr/>
        </p:nvSpPr>
        <p:spPr>
          <a:xfrm>
            <a:off x="6129339" y="3620091"/>
            <a:ext cx="4954286" cy="938719"/>
          </a:xfrm>
          <a:prstGeom prst="rect">
            <a:avLst/>
          </a:prstGeom>
          <a:noFill/>
        </p:spPr>
        <p:txBody>
          <a:bodyPr wrap="square">
            <a:spAutoFit/>
          </a:bodyPr>
          <a:lstStyle/>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دسترسی به فرصت‌های اختصاصی و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غیرعمومی</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که از طریق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کانال‌های</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معمول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قابل‌دستیابی</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نیستند.</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راستی‌آزمایی</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اطلاعات و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ریسک‌هایی</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که از راه دور امکان ارزیابی ندارند</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ساختاردهی</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سرمایه‌گذاری به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گونه‌ای</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که از نظر حقوقی و عملیاتی قابل اجرا باشد</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نظارت بر عملکرد پروژه و حفاظت از منافع خود، پس از سرمایه‌گذاری</a:t>
            </a:r>
          </a:p>
        </p:txBody>
      </p:sp>
      <p:sp>
        <p:nvSpPr>
          <p:cNvPr id="33" name="Rectangle 32">
            <a:extLst>
              <a:ext uri="{FF2B5EF4-FFF2-40B4-BE49-F238E27FC236}">
                <a16:creationId xmlns:a16="http://schemas.microsoft.com/office/drawing/2014/main" id="{9C494DB1-0EB1-AE4C-E7C5-B41B739EC595}"/>
              </a:ext>
            </a:extLst>
          </p:cNvPr>
          <p:cNvSpPr/>
          <p:nvPr/>
        </p:nvSpPr>
        <p:spPr>
          <a:xfrm>
            <a:off x="6054291" y="4773897"/>
            <a:ext cx="5093134" cy="1160178"/>
          </a:xfrm>
          <a:prstGeom prst="rect">
            <a:avLst/>
          </a:prstGeom>
          <a:noFill/>
          <a:ln w="6350">
            <a:solidFill>
              <a:srgbClr val="FF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36" name="TextBox 35">
            <a:extLst>
              <a:ext uri="{FF2B5EF4-FFF2-40B4-BE49-F238E27FC236}">
                <a16:creationId xmlns:a16="http://schemas.microsoft.com/office/drawing/2014/main" id="{6CA255F8-E064-7464-CB0A-B1031749F8FF}"/>
              </a:ext>
            </a:extLst>
          </p:cNvPr>
          <p:cNvSpPr txBox="1"/>
          <p:nvPr/>
        </p:nvSpPr>
        <p:spPr>
          <a:xfrm>
            <a:off x="9293504" y="4661042"/>
            <a:ext cx="1686372" cy="253916"/>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srgbClr val="FF6600"/>
                </a:solidFill>
                <a:effectLst/>
                <a:uLnTx/>
                <a:uFillTx/>
                <a:latin typeface="Yekan Bakh" pitchFamily="2" charset="-78"/>
                <a:ea typeface="Yekan Bakh" pitchFamily="2" charset="-78"/>
                <a:cs typeface="Yekan Bakh" pitchFamily="2" charset="-78"/>
              </a:rPr>
              <a:t>رفتارهای سازمانی غالب</a:t>
            </a:r>
            <a:endParaRPr kumimoji="0" lang="en-US" sz="1050" b="1" i="0" u="none" strike="noStrike" kern="1200" cap="none" spc="0" normalizeH="0" baseline="0" noProof="0" dirty="0">
              <a:ln>
                <a:noFill/>
              </a:ln>
              <a:solidFill>
                <a:srgbClr val="FF6600"/>
              </a:solidFill>
              <a:effectLst/>
              <a:uLnTx/>
              <a:uFillTx/>
              <a:latin typeface="Yekan Bakh" pitchFamily="2" charset="-78"/>
              <a:ea typeface="Yekan Bakh" pitchFamily="2" charset="-78"/>
              <a:cs typeface="Yekan Bakh" pitchFamily="2" charset="-78"/>
            </a:endParaRPr>
          </a:p>
        </p:txBody>
      </p:sp>
      <p:sp>
        <p:nvSpPr>
          <p:cNvPr id="39" name="TextBox 38">
            <a:extLst>
              <a:ext uri="{FF2B5EF4-FFF2-40B4-BE49-F238E27FC236}">
                <a16:creationId xmlns:a16="http://schemas.microsoft.com/office/drawing/2014/main" id="{220B8563-F2E1-4550-F71F-5A2C242A0F99}"/>
              </a:ext>
            </a:extLst>
          </p:cNvPr>
          <p:cNvSpPr txBox="1"/>
          <p:nvPr/>
        </p:nvSpPr>
        <p:spPr>
          <a:xfrm>
            <a:off x="6054291" y="4889422"/>
            <a:ext cx="5029334" cy="1061829"/>
          </a:xfrm>
          <a:prstGeom prst="rect">
            <a:avLst/>
          </a:prstGeom>
          <a:noFill/>
        </p:spPr>
        <p:txBody>
          <a:bodyPr wrap="square">
            <a:spAutoFit/>
          </a:bodyPr>
          <a:lstStyle/>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05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اتخاذ تصمیمات براساس منطق مدیریت سبد سرمایه‌گذاری، نه صرفا یک معامله منفرد.</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05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عمل براساس </a:t>
            </a:r>
            <a:r>
              <a:rPr kumimoji="0" lang="fa-IR" sz="105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تز</a:t>
            </a:r>
            <a:r>
              <a:rPr kumimoji="0" lang="fa-IR" sz="105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سرمایه‌گذاری (</a:t>
            </a:r>
            <a:r>
              <a:rPr kumimoji="0" lang="en-US" sz="105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Investment Thesis</a:t>
            </a:r>
            <a:r>
              <a:rPr kumimoji="0" lang="fa-IR" sz="105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و رد فرصت‌های </a:t>
            </a:r>
            <a:r>
              <a:rPr kumimoji="0" lang="fa-IR" sz="105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باکیفیت</a:t>
            </a:r>
            <a:r>
              <a:rPr kumimoji="0" lang="fa-IR" sz="105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خارج از حوزه مأموریت.</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05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انتظار استانداردهای حرفه‌ای و دقیق برای ارزیابی فرصت‌ها را دارد.</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05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معمولاً ترجیح به سرمایه‌گذاری </a:t>
            </a:r>
            <a:r>
              <a:rPr kumimoji="0" lang="fa-IR" sz="105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مشارکتی</a:t>
            </a:r>
            <a:r>
              <a:rPr kumimoji="0" lang="fa-IR" sz="105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a:t>
            </a:r>
            <a:r>
              <a:rPr kumimoji="0" lang="en-US" sz="105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Co-investment</a:t>
            </a:r>
            <a:r>
              <a:rPr kumimoji="0" lang="fa-IR" sz="105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دارد و </a:t>
            </a:r>
            <a:r>
              <a:rPr kumimoji="0" lang="fa-IR" sz="105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به‌ندرت</a:t>
            </a:r>
            <a:r>
              <a:rPr kumimoji="0" lang="fa-IR" sz="105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کل ریسک را </a:t>
            </a:r>
            <a:r>
              <a:rPr kumimoji="0" lang="fa-IR" sz="105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به‌تنهایی</a:t>
            </a:r>
            <a:r>
              <a:rPr kumimoji="0" lang="fa-IR" sz="105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a:t>
            </a:r>
            <a:r>
              <a:rPr kumimoji="0" lang="fa-IR" sz="105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می‌پذیرد</a:t>
            </a:r>
            <a:r>
              <a:rPr kumimoji="0" lang="fa-IR" sz="105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a:t>
            </a:r>
            <a:endParaRPr kumimoji="0" lang="en-US" sz="105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42" name="Rectangle 41">
            <a:extLst>
              <a:ext uri="{FF2B5EF4-FFF2-40B4-BE49-F238E27FC236}">
                <a16:creationId xmlns:a16="http://schemas.microsoft.com/office/drawing/2014/main" id="{E254D554-7009-1AAF-8FD4-CA9764837109}"/>
              </a:ext>
            </a:extLst>
          </p:cNvPr>
          <p:cNvSpPr/>
          <p:nvPr/>
        </p:nvSpPr>
        <p:spPr>
          <a:xfrm>
            <a:off x="723175" y="1718108"/>
            <a:ext cx="5093134" cy="1034477"/>
          </a:xfrm>
          <a:prstGeom prst="rect">
            <a:avLst/>
          </a:prstGeom>
          <a:noFill/>
          <a:ln w="6350">
            <a:solidFill>
              <a:srgbClr val="FF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45" name="TextBox 44">
            <a:extLst>
              <a:ext uri="{FF2B5EF4-FFF2-40B4-BE49-F238E27FC236}">
                <a16:creationId xmlns:a16="http://schemas.microsoft.com/office/drawing/2014/main" id="{D8FD3446-7F3E-341B-C9DA-C4D4DBC48D80}"/>
              </a:ext>
            </a:extLst>
          </p:cNvPr>
          <p:cNvSpPr txBox="1"/>
          <p:nvPr/>
        </p:nvSpPr>
        <p:spPr>
          <a:xfrm>
            <a:off x="3922295" y="1605253"/>
            <a:ext cx="1726464" cy="261610"/>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srgbClr val="FF6600"/>
                </a:solidFill>
                <a:effectLst/>
                <a:uLnTx/>
                <a:uFillTx/>
                <a:latin typeface="Yekan Bakh" pitchFamily="2" charset="-78"/>
                <a:ea typeface="Yekan Bakh" pitchFamily="2" charset="-78"/>
                <a:cs typeface="Yekan Bakh" pitchFamily="2" charset="-78"/>
              </a:rPr>
              <a:t>ویژگی‌های شرکتی تاثیرگذار </a:t>
            </a:r>
            <a:endParaRPr kumimoji="0" lang="en-US" sz="1050" b="1" i="0" u="none" strike="noStrike" kern="1200" cap="none" spc="0" normalizeH="0" baseline="0" noProof="0" dirty="0">
              <a:ln>
                <a:noFill/>
              </a:ln>
              <a:solidFill>
                <a:srgbClr val="FF6600"/>
              </a:solidFill>
              <a:effectLst/>
              <a:uLnTx/>
              <a:uFillTx/>
              <a:latin typeface="Yekan Bakh" pitchFamily="2" charset="-78"/>
              <a:ea typeface="Yekan Bakh" pitchFamily="2" charset="-78"/>
              <a:cs typeface="Yekan Bakh" pitchFamily="2" charset="-78"/>
            </a:endParaRPr>
          </a:p>
        </p:txBody>
      </p:sp>
      <p:sp>
        <p:nvSpPr>
          <p:cNvPr id="48" name="TextBox 47">
            <a:extLst>
              <a:ext uri="{FF2B5EF4-FFF2-40B4-BE49-F238E27FC236}">
                <a16:creationId xmlns:a16="http://schemas.microsoft.com/office/drawing/2014/main" id="{B51441B5-F5B7-62A4-E5A0-61A98C8BDABD}"/>
              </a:ext>
            </a:extLst>
          </p:cNvPr>
          <p:cNvSpPr txBox="1"/>
          <p:nvPr/>
        </p:nvSpPr>
        <p:spPr>
          <a:xfrm>
            <a:off x="723175" y="1833633"/>
            <a:ext cx="5029334" cy="93871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تفاوت اصلی در الزامات قانونی و کانال جذب است (کشور محل فعالیت خدمت را تغییر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نمی‌دهد</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سرمایه‌گذاران نهادی خارجی با الزامات حقوقی و انطباق بسیار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سخت‌گیرانه‌تری</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مواجه‌اند</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سرمایه‌گذاران داخلی و ایرانیان خارج از کشور معمولا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محدودیت‌های</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کمتری دارند.</a:t>
            </a:r>
          </a:p>
        </p:txBody>
      </p:sp>
      <p:sp>
        <p:nvSpPr>
          <p:cNvPr id="51" name="Rectangle 50">
            <a:extLst>
              <a:ext uri="{FF2B5EF4-FFF2-40B4-BE49-F238E27FC236}">
                <a16:creationId xmlns:a16="http://schemas.microsoft.com/office/drawing/2014/main" id="{A583C8D4-43D8-197A-0457-D0389F3C75ED}"/>
              </a:ext>
            </a:extLst>
          </p:cNvPr>
          <p:cNvSpPr/>
          <p:nvPr/>
        </p:nvSpPr>
        <p:spPr>
          <a:xfrm>
            <a:off x="723175" y="3088794"/>
            <a:ext cx="5093134" cy="1034477"/>
          </a:xfrm>
          <a:prstGeom prst="rect">
            <a:avLst/>
          </a:prstGeom>
          <a:noFill/>
          <a:ln w="6350">
            <a:solidFill>
              <a:srgbClr val="FF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54" name="TextBox 53">
            <a:extLst>
              <a:ext uri="{FF2B5EF4-FFF2-40B4-BE49-F238E27FC236}">
                <a16:creationId xmlns:a16="http://schemas.microsoft.com/office/drawing/2014/main" id="{38525D67-DAF6-773C-8420-59836F99C3B4}"/>
              </a:ext>
            </a:extLst>
          </p:cNvPr>
          <p:cNvSpPr txBox="1"/>
          <p:nvPr/>
        </p:nvSpPr>
        <p:spPr>
          <a:xfrm>
            <a:off x="4519061" y="2975939"/>
            <a:ext cx="1129698" cy="261610"/>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a:ln>
                  <a:noFill/>
                </a:ln>
                <a:solidFill>
                  <a:srgbClr val="FF6600"/>
                </a:solidFill>
                <a:effectLst/>
                <a:uLnTx/>
                <a:uFillTx/>
                <a:latin typeface="Yekan Bakh" pitchFamily="2" charset="-78"/>
                <a:ea typeface="Yekan Bakh" pitchFamily="2" charset="-78"/>
                <a:cs typeface="Yekan Bakh" pitchFamily="2" charset="-78"/>
              </a:rPr>
              <a:t>رویدادهای محرک </a:t>
            </a:r>
            <a:endParaRPr kumimoji="0" lang="en-US" sz="1050" b="1" i="0" u="none" strike="noStrike" kern="1200" cap="none" spc="0" normalizeH="0" baseline="0" noProof="0">
              <a:ln>
                <a:noFill/>
              </a:ln>
              <a:solidFill>
                <a:srgbClr val="FF6600"/>
              </a:solidFill>
              <a:effectLst/>
              <a:uLnTx/>
              <a:uFillTx/>
              <a:latin typeface="Yekan Bakh" pitchFamily="2" charset="-78"/>
              <a:ea typeface="Yekan Bakh" pitchFamily="2" charset="-78"/>
              <a:cs typeface="Yekan Bakh" pitchFamily="2" charset="-78"/>
            </a:endParaRPr>
          </a:p>
        </p:txBody>
      </p:sp>
      <p:sp>
        <p:nvSpPr>
          <p:cNvPr id="57" name="TextBox 56">
            <a:extLst>
              <a:ext uri="{FF2B5EF4-FFF2-40B4-BE49-F238E27FC236}">
                <a16:creationId xmlns:a16="http://schemas.microsoft.com/office/drawing/2014/main" id="{B7B3932C-A333-3E3B-3313-3C4C37A93615}"/>
              </a:ext>
            </a:extLst>
          </p:cNvPr>
          <p:cNvSpPr txBox="1"/>
          <p:nvPr/>
        </p:nvSpPr>
        <p:spPr>
          <a:xfrm>
            <a:off x="798223" y="3268327"/>
            <a:ext cx="4954286" cy="738664"/>
          </a:xfrm>
          <a:prstGeom prst="rect">
            <a:avLst/>
          </a:prstGeom>
          <a:noFill/>
        </p:spPr>
        <p:txBody>
          <a:bodyPr wrap="square">
            <a:spAutoFit/>
          </a:bodyPr>
          <a:lstStyle/>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05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دریافت مأموریت برای </a:t>
            </a:r>
            <a:r>
              <a:rPr kumimoji="0" lang="fa-IR" sz="105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تنوع‌بخشی</a:t>
            </a:r>
            <a:r>
              <a:rPr kumimoji="0" lang="fa-IR" sz="105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به سبد سرمایه‌گذاری یا ورود به بازارهای نوظهور.</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05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نزدیک شدن مهلت سرمایه‌گذاری برای </a:t>
            </a:r>
            <a:r>
              <a:rPr kumimoji="0" lang="fa-IR" sz="105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سرمایه‌ای</a:t>
            </a:r>
            <a:r>
              <a:rPr kumimoji="0" lang="fa-IR" sz="105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که هنوز تخصیص نیافته است.</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05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ورود یک </a:t>
            </a:r>
            <a:r>
              <a:rPr kumimoji="0" lang="fa-IR" sz="105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سرمایه‌گذار</a:t>
            </a:r>
            <a:r>
              <a:rPr kumimoji="0" lang="fa-IR" sz="105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معتبر دیگر به همان </a:t>
            </a:r>
            <a:r>
              <a:rPr kumimoji="0" lang="fa-IR" sz="105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فرصت.مشاهده</a:t>
            </a:r>
            <a:r>
              <a:rPr kumimoji="0" lang="fa-IR" sz="105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a:t>
            </a:r>
            <a:r>
              <a:rPr kumimoji="0" lang="fa-IR" sz="105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نشانه‌های</a:t>
            </a:r>
            <a:r>
              <a:rPr kumimoji="0" lang="fa-IR" sz="105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گشایش سیاسی یا اقتصادی که مزیت ورود زودهنگام ایجاد کند.</a:t>
            </a:r>
            <a:endParaRPr kumimoji="0" lang="en-US" sz="105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60" name="Rectangle 59">
            <a:extLst>
              <a:ext uri="{FF2B5EF4-FFF2-40B4-BE49-F238E27FC236}">
                <a16:creationId xmlns:a16="http://schemas.microsoft.com/office/drawing/2014/main" id="{AE340B82-8E83-E4E5-730A-B945FF1FBFB5}"/>
              </a:ext>
            </a:extLst>
          </p:cNvPr>
          <p:cNvSpPr/>
          <p:nvPr/>
        </p:nvSpPr>
        <p:spPr>
          <a:xfrm>
            <a:off x="758391" y="4436191"/>
            <a:ext cx="5093134" cy="1497884"/>
          </a:xfrm>
          <a:prstGeom prst="rect">
            <a:avLst/>
          </a:prstGeom>
          <a:noFill/>
          <a:ln w="6350">
            <a:solidFill>
              <a:srgbClr val="FF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63" name="TextBox 62">
            <a:extLst>
              <a:ext uri="{FF2B5EF4-FFF2-40B4-BE49-F238E27FC236}">
                <a16:creationId xmlns:a16="http://schemas.microsoft.com/office/drawing/2014/main" id="{F9FF557F-52B8-4127-07AF-3001A95C110C}"/>
              </a:ext>
            </a:extLst>
          </p:cNvPr>
          <p:cNvSpPr txBox="1"/>
          <p:nvPr/>
        </p:nvSpPr>
        <p:spPr>
          <a:xfrm>
            <a:off x="3922295" y="4323336"/>
            <a:ext cx="1761680" cy="261610"/>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a:ln>
                  <a:noFill/>
                </a:ln>
                <a:solidFill>
                  <a:srgbClr val="FF6600"/>
                </a:solidFill>
                <a:effectLst/>
                <a:uLnTx/>
                <a:uFillTx/>
                <a:latin typeface="Yekan Bakh" pitchFamily="2" charset="-78"/>
                <a:ea typeface="Yekan Bakh" pitchFamily="2" charset="-78"/>
                <a:cs typeface="Yekan Bakh" pitchFamily="2" charset="-78"/>
              </a:rPr>
              <a:t>فرآیند خرید / تصمیم‌گیری </a:t>
            </a:r>
            <a:endParaRPr kumimoji="0" lang="en-US" sz="1050" b="1" i="0" u="none" strike="noStrike" kern="1200" cap="none" spc="0" normalizeH="0" baseline="0" noProof="0">
              <a:ln>
                <a:noFill/>
              </a:ln>
              <a:solidFill>
                <a:srgbClr val="FF6600"/>
              </a:solidFill>
              <a:effectLst/>
              <a:uLnTx/>
              <a:uFillTx/>
              <a:latin typeface="Yekan Bakh" pitchFamily="2" charset="-78"/>
              <a:ea typeface="Yekan Bakh" pitchFamily="2" charset="-78"/>
              <a:cs typeface="Yekan Bakh" pitchFamily="2" charset="-78"/>
            </a:endParaRPr>
          </a:p>
        </p:txBody>
      </p:sp>
      <p:sp>
        <p:nvSpPr>
          <p:cNvPr id="66" name="TextBox 65">
            <a:extLst>
              <a:ext uri="{FF2B5EF4-FFF2-40B4-BE49-F238E27FC236}">
                <a16:creationId xmlns:a16="http://schemas.microsoft.com/office/drawing/2014/main" id="{2620A8C0-52E3-B7F9-CDB3-4898BF977592}"/>
              </a:ext>
            </a:extLst>
          </p:cNvPr>
          <p:cNvSpPr txBox="1"/>
          <p:nvPr/>
        </p:nvSpPr>
        <p:spPr>
          <a:xfrm>
            <a:off x="833439" y="4615724"/>
            <a:ext cx="4954286" cy="1107996"/>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فرآیندی رسمی و چند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مرحله‌ای</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a:t>
            </a:r>
          </a:p>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انطباق با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تز</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سرمایه‌گذاری &gt; غربالگری اولیه &gt; ارزیابی تخصصی (</a:t>
            </a:r>
            <a:r>
              <a:rPr kumimoji="0" lang="en-US"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Due Diligence</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&gt; تصویب کمیته سرمایه‌گذاری &gt;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ساختاردهی</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حقوقی &gt; سرمایه‌گذاری</a:t>
            </a:r>
          </a:p>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در این فرآیند، </a:t>
            </a:r>
            <a:r>
              <a:rPr kumimoji="0" lang="fa-IR" sz="1100" b="1"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خود اکوسیستم</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نیز تقریبا به همان اندازه فرصت سرمایه‌گذاری مورد ارزیابی قرار می‌گیرد.</a:t>
            </a:r>
            <a:endParaRPr kumimoji="0" lang="en-US"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Tree>
    <p:extLst>
      <p:ext uri="{BB962C8B-B14F-4D97-AF65-F5344CB8AC3E}">
        <p14:creationId xmlns:p14="http://schemas.microsoft.com/office/powerpoint/2010/main" val="202237229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1A6F08-AD53-55A4-605E-7F9C4454E6DA}"/>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F8DD7A17-394A-D341-F9F6-7860688BD305}"/>
              </a:ext>
            </a:extLst>
          </p:cNvPr>
          <p:cNvSpPr/>
          <p:nvPr/>
        </p:nvSpPr>
        <p:spPr>
          <a:xfrm>
            <a:off x="0" y="0"/>
            <a:ext cx="11703050" cy="1417320"/>
          </a:xfrm>
          <a:prstGeom prst="rect">
            <a:avLst/>
          </a:prstGeom>
          <a:solidFill>
            <a:srgbClr val="FF66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Calibri"/>
            </a:endParaRPr>
          </a:p>
        </p:txBody>
      </p:sp>
      <p:sp>
        <p:nvSpPr>
          <p:cNvPr id="2" name="Text Placeholder 1">
            <a:extLst>
              <a:ext uri="{FF2B5EF4-FFF2-40B4-BE49-F238E27FC236}">
                <a16:creationId xmlns:a16="http://schemas.microsoft.com/office/drawing/2014/main" id="{A026BCE1-79D7-D3EC-1B14-6163C80D8E7B}"/>
              </a:ext>
            </a:extLst>
          </p:cNvPr>
          <p:cNvSpPr>
            <a:spLocks noGrp="1"/>
          </p:cNvSpPr>
          <p:nvPr>
            <p:ph type="body" sz="quarter" idx="10"/>
          </p:nvPr>
        </p:nvSpPr>
        <p:spPr/>
        <p:txBody>
          <a:bodyPr/>
          <a:lstStyle/>
          <a:p>
            <a:r>
              <a:rPr lang="fa-IR" dirty="0"/>
              <a:t>پروفایل بخش‌های مشتری</a:t>
            </a:r>
          </a:p>
        </p:txBody>
      </p:sp>
      <p:sp>
        <p:nvSpPr>
          <p:cNvPr id="3" name="Text Placeholder 2">
            <a:extLst>
              <a:ext uri="{FF2B5EF4-FFF2-40B4-BE49-F238E27FC236}">
                <a16:creationId xmlns:a16="http://schemas.microsoft.com/office/drawing/2014/main" id="{0CFABF45-1046-F09B-DF3F-C26ECF0AA75D}"/>
              </a:ext>
            </a:extLst>
          </p:cNvPr>
          <p:cNvSpPr>
            <a:spLocks noGrp="1"/>
          </p:cNvSpPr>
          <p:nvPr>
            <p:ph type="body" sz="quarter" idx="12"/>
          </p:nvPr>
        </p:nvSpPr>
        <p:spPr/>
        <p:txBody>
          <a:bodyPr/>
          <a:lstStyle/>
          <a:p>
            <a:r>
              <a:rPr lang="fa-IR" dirty="0"/>
              <a:t>۶. سرمایه‌گذار </a:t>
            </a:r>
            <a:r>
              <a:rPr lang="fa-IR" sz="1200" b="0" dirty="0">
                <a:solidFill>
                  <a:schemeClr val="tx1">
                    <a:lumMod val="65000"/>
                    <a:lumOff val="35000"/>
                  </a:schemeClr>
                </a:solidFill>
              </a:rPr>
              <a:t>(1/2)</a:t>
            </a:r>
          </a:p>
          <a:p>
            <a:r>
              <a:rPr lang="fa-IR" sz="1100" b="0" dirty="0">
                <a:solidFill>
                  <a:schemeClr val="tx1">
                    <a:lumMod val="65000"/>
                    <a:lumOff val="35000"/>
                  </a:schemeClr>
                </a:solidFill>
              </a:rPr>
              <a:t>سرمایه‌گذاری که انگیزه اصلی او کسب بازده مالی است؛ اعم از دفتر مدیریت سرمایه خانوادگی، صندوق سرمایه‌گذاری، سرمایه‌گذار با ارزش خالص دارایی بالا، سرمایه‌گذار ایرانی خارج از کشور، نهاد مالی یا بازوی سرمایه‌گذاری شرکتی. این گروه به دنبال دسترسی به فرصت‌های سرمایه‌گذاری برون‌مرزی است که به‌تنهایی قادر به شناسایی، ارزیابی یا نظارت بر آن‌ها نیست.</a:t>
            </a:r>
          </a:p>
        </p:txBody>
      </p:sp>
      <p:sp>
        <p:nvSpPr>
          <p:cNvPr id="7" name="Rectangle 6">
            <a:extLst>
              <a:ext uri="{FF2B5EF4-FFF2-40B4-BE49-F238E27FC236}">
                <a16:creationId xmlns:a16="http://schemas.microsoft.com/office/drawing/2014/main" id="{840A6163-FAE5-F556-DEA1-45D74E2BAFCE}"/>
              </a:ext>
            </a:extLst>
          </p:cNvPr>
          <p:cNvSpPr/>
          <p:nvPr/>
        </p:nvSpPr>
        <p:spPr>
          <a:xfrm>
            <a:off x="6054291" y="1718108"/>
            <a:ext cx="5093134" cy="1034477"/>
          </a:xfrm>
          <a:prstGeom prst="rect">
            <a:avLst/>
          </a:prstGeom>
          <a:noFill/>
          <a:ln w="6350">
            <a:solidFill>
              <a:srgbClr val="FF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10" name="TextBox 9">
            <a:extLst>
              <a:ext uri="{FF2B5EF4-FFF2-40B4-BE49-F238E27FC236}">
                <a16:creationId xmlns:a16="http://schemas.microsoft.com/office/drawing/2014/main" id="{FFCFEF45-6A58-5F68-027E-0ED29577172E}"/>
              </a:ext>
            </a:extLst>
          </p:cNvPr>
          <p:cNvSpPr txBox="1"/>
          <p:nvPr/>
        </p:nvSpPr>
        <p:spPr>
          <a:xfrm>
            <a:off x="9466446" y="1605252"/>
            <a:ext cx="1513429" cy="261610"/>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err="1">
                <a:ln>
                  <a:noFill/>
                </a:ln>
                <a:solidFill>
                  <a:srgbClr val="FF6600"/>
                </a:solidFill>
                <a:effectLst/>
                <a:uLnTx/>
                <a:uFillTx/>
                <a:latin typeface="Yekan Bakh" pitchFamily="2" charset="-78"/>
                <a:ea typeface="Yekan Bakh" pitchFamily="2" charset="-78"/>
                <a:cs typeface="Yekan Bakh" pitchFamily="2" charset="-78"/>
              </a:rPr>
              <a:t>تصمیم‌گیرندگان</a:t>
            </a:r>
            <a:r>
              <a:rPr kumimoji="0" lang="fa-IR" sz="1050" b="1" i="0" u="none" strike="noStrike" kern="1200" cap="none" spc="0" normalizeH="0" baseline="0" noProof="0" dirty="0">
                <a:ln>
                  <a:noFill/>
                </a:ln>
                <a:solidFill>
                  <a:srgbClr val="FF6600"/>
                </a:solidFill>
                <a:effectLst/>
                <a:uLnTx/>
                <a:uFillTx/>
                <a:latin typeface="Yekan Bakh" pitchFamily="2" charset="-78"/>
                <a:ea typeface="Yekan Bakh" pitchFamily="2" charset="-78"/>
                <a:cs typeface="Yekan Bakh" pitchFamily="2" charset="-78"/>
              </a:rPr>
              <a:t> کلیدی</a:t>
            </a:r>
            <a:endParaRPr kumimoji="0" lang="en-US" sz="1050" b="1" i="0" u="none" strike="noStrike" kern="1200" cap="none" spc="0" normalizeH="0" baseline="0" noProof="0" dirty="0">
              <a:ln>
                <a:noFill/>
              </a:ln>
              <a:solidFill>
                <a:srgbClr val="FF6600"/>
              </a:solidFill>
              <a:effectLst/>
              <a:uLnTx/>
              <a:uFillTx/>
              <a:latin typeface="Yekan Bakh" pitchFamily="2" charset="-78"/>
              <a:ea typeface="Yekan Bakh" pitchFamily="2" charset="-78"/>
              <a:cs typeface="Yekan Bakh" pitchFamily="2" charset="-78"/>
            </a:endParaRPr>
          </a:p>
        </p:txBody>
      </p:sp>
      <p:sp>
        <p:nvSpPr>
          <p:cNvPr id="13" name="TextBox 12">
            <a:extLst>
              <a:ext uri="{FF2B5EF4-FFF2-40B4-BE49-F238E27FC236}">
                <a16:creationId xmlns:a16="http://schemas.microsoft.com/office/drawing/2014/main" id="{D2D26DE8-324E-C13B-CED0-DA30A1F41E11}"/>
              </a:ext>
            </a:extLst>
          </p:cNvPr>
          <p:cNvSpPr txBox="1"/>
          <p:nvPr/>
        </p:nvSpPr>
        <p:spPr>
          <a:xfrm>
            <a:off x="6129339" y="1897640"/>
            <a:ext cx="4954286" cy="707886"/>
          </a:xfrm>
          <a:prstGeom prst="rect">
            <a:avLst/>
          </a:prstGeom>
          <a:noFill/>
        </p:spPr>
        <p:txBody>
          <a:bodyPr wrap="square">
            <a:spAutoFit/>
          </a:bodyPr>
          <a:lstStyle/>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0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مدیر سرمایه‌گذاری (</a:t>
            </a:r>
            <a:r>
              <a:rPr kumimoji="0" lang="en-US" sz="10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CIO</a:t>
            </a:r>
            <a:r>
              <a:rPr kumimoji="0" lang="fa-IR" sz="10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یا </a:t>
            </a:r>
            <a:r>
              <a:rPr kumimoji="0" lang="fa-IR" sz="10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سرمایه‌گذار</a:t>
            </a:r>
            <a:r>
              <a:rPr kumimoji="0" lang="fa-IR" sz="10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اصلی</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0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کمیته سرمایه‌گذاری</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0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مسئول ارزیابی تخصصی (</a:t>
            </a:r>
            <a:r>
              <a:rPr kumimoji="0" lang="en-US" sz="10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Due Diligence</a:t>
            </a:r>
            <a:r>
              <a:rPr kumimoji="0" lang="fa-IR" sz="10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0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واحد انطباق (</a:t>
            </a:r>
            <a:r>
              <a:rPr kumimoji="0" lang="en-US" sz="10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Compliance</a:t>
            </a:r>
            <a:r>
              <a:rPr kumimoji="0" lang="fa-IR" sz="10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که در </a:t>
            </a:r>
            <a:r>
              <a:rPr kumimoji="0" lang="fa-IR" sz="10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سرمایه‌گذاری‌های</a:t>
            </a:r>
            <a:r>
              <a:rPr kumimoji="0" lang="fa-IR" sz="10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a:t>
            </a:r>
            <a:r>
              <a:rPr kumimoji="0" lang="fa-IR" sz="10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برون‌مرزی</a:t>
            </a:r>
            <a:r>
              <a:rPr kumimoji="0" lang="fa-IR" sz="10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اختیار </a:t>
            </a:r>
            <a:r>
              <a:rPr kumimoji="0" lang="fa-IR" sz="10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وتوی</a:t>
            </a:r>
            <a:r>
              <a:rPr kumimoji="0" lang="fa-IR" sz="10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کامل دارد</a:t>
            </a:r>
            <a:endParaRPr kumimoji="0" lang="en-US" sz="10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16" name="Rectangle 15">
            <a:extLst>
              <a:ext uri="{FF2B5EF4-FFF2-40B4-BE49-F238E27FC236}">
                <a16:creationId xmlns:a16="http://schemas.microsoft.com/office/drawing/2014/main" id="{A6D70DFE-4461-C728-7616-0DF874101B3C}"/>
              </a:ext>
            </a:extLst>
          </p:cNvPr>
          <p:cNvSpPr/>
          <p:nvPr/>
        </p:nvSpPr>
        <p:spPr>
          <a:xfrm>
            <a:off x="6054291" y="2955438"/>
            <a:ext cx="5093134" cy="798522"/>
          </a:xfrm>
          <a:prstGeom prst="rect">
            <a:avLst/>
          </a:prstGeom>
          <a:noFill/>
          <a:ln w="6350">
            <a:solidFill>
              <a:srgbClr val="FF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19" name="TextBox 18">
            <a:extLst>
              <a:ext uri="{FF2B5EF4-FFF2-40B4-BE49-F238E27FC236}">
                <a16:creationId xmlns:a16="http://schemas.microsoft.com/office/drawing/2014/main" id="{01DF6546-886C-BF1B-E1B9-92E6B3013D4A}"/>
              </a:ext>
            </a:extLst>
          </p:cNvPr>
          <p:cNvSpPr txBox="1"/>
          <p:nvPr/>
        </p:nvSpPr>
        <p:spPr>
          <a:xfrm>
            <a:off x="9466446" y="2842582"/>
            <a:ext cx="1513429" cy="261610"/>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a:ln>
                  <a:noFill/>
                </a:ln>
                <a:solidFill>
                  <a:srgbClr val="FF6600"/>
                </a:solidFill>
                <a:effectLst/>
                <a:uLnTx/>
                <a:uFillTx/>
                <a:latin typeface="Yekan Bakh" pitchFamily="2" charset="-78"/>
                <a:ea typeface="Yekan Bakh" pitchFamily="2" charset="-78"/>
                <a:cs typeface="Yekan Bakh" pitchFamily="2" charset="-78"/>
              </a:rPr>
              <a:t>آنچه برایشان ارزش است</a:t>
            </a:r>
            <a:endParaRPr kumimoji="0" lang="en-US" sz="1050" b="1" i="0" u="none" strike="noStrike" kern="1200" cap="none" spc="0" normalizeH="0" baseline="0" noProof="0">
              <a:ln>
                <a:noFill/>
              </a:ln>
              <a:solidFill>
                <a:srgbClr val="FF6600"/>
              </a:solidFill>
              <a:effectLst/>
              <a:uLnTx/>
              <a:uFillTx/>
              <a:latin typeface="Yekan Bakh" pitchFamily="2" charset="-78"/>
              <a:ea typeface="Yekan Bakh" pitchFamily="2" charset="-78"/>
              <a:cs typeface="Yekan Bakh" pitchFamily="2" charset="-78"/>
            </a:endParaRPr>
          </a:p>
        </p:txBody>
      </p:sp>
      <p:sp>
        <p:nvSpPr>
          <p:cNvPr id="22" name="TextBox 21">
            <a:extLst>
              <a:ext uri="{FF2B5EF4-FFF2-40B4-BE49-F238E27FC236}">
                <a16:creationId xmlns:a16="http://schemas.microsoft.com/office/drawing/2014/main" id="{0C57A316-04C2-C34D-C89E-7899D212C407}"/>
              </a:ext>
            </a:extLst>
          </p:cNvPr>
          <p:cNvSpPr txBox="1"/>
          <p:nvPr/>
        </p:nvSpPr>
        <p:spPr>
          <a:xfrm>
            <a:off x="6129339" y="3134970"/>
            <a:ext cx="4954286" cy="430887"/>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دسترسی اختصاصی به فرصت‌ها، ارزیابی قابل اعتماد، هم‌راستایی منافع از طریق سرمایه‌گذاری مشترک، وجود حاکمیت محلی بر پروژه و داشتن مسیر خروج معتبر.</a:t>
            </a:r>
            <a:endParaRPr kumimoji="0" lang="en-US"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25" name="Rectangle 24">
            <a:extLst>
              <a:ext uri="{FF2B5EF4-FFF2-40B4-BE49-F238E27FC236}">
                <a16:creationId xmlns:a16="http://schemas.microsoft.com/office/drawing/2014/main" id="{90D75C95-71CE-4B64-7AF0-7F42D88984F1}"/>
              </a:ext>
            </a:extLst>
          </p:cNvPr>
          <p:cNvSpPr/>
          <p:nvPr/>
        </p:nvSpPr>
        <p:spPr>
          <a:xfrm>
            <a:off x="6054291" y="3893177"/>
            <a:ext cx="5093134" cy="1160178"/>
          </a:xfrm>
          <a:prstGeom prst="rect">
            <a:avLst/>
          </a:prstGeom>
          <a:noFill/>
          <a:ln w="6350">
            <a:solidFill>
              <a:srgbClr val="FF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28" name="TextBox 27">
            <a:extLst>
              <a:ext uri="{FF2B5EF4-FFF2-40B4-BE49-F238E27FC236}">
                <a16:creationId xmlns:a16="http://schemas.microsoft.com/office/drawing/2014/main" id="{6A5FB6E7-42D3-90EA-1732-3A756C6F1BE9}"/>
              </a:ext>
            </a:extLst>
          </p:cNvPr>
          <p:cNvSpPr txBox="1"/>
          <p:nvPr/>
        </p:nvSpPr>
        <p:spPr>
          <a:xfrm>
            <a:off x="9567512" y="3780322"/>
            <a:ext cx="1412363" cy="261610"/>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srgbClr val="FF6600"/>
                </a:solidFill>
                <a:effectLst/>
                <a:uLnTx/>
                <a:uFillTx/>
                <a:latin typeface="Yekan Bakh" pitchFamily="2" charset="-78"/>
                <a:ea typeface="Yekan Bakh" pitchFamily="2" charset="-78"/>
                <a:cs typeface="Yekan Bakh" pitchFamily="2" charset="-78"/>
              </a:rPr>
              <a:t>تمایل به پرداخت برای</a:t>
            </a:r>
            <a:endParaRPr kumimoji="0" lang="en-US" sz="1050" b="1" i="0" u="none" strike="noStrike" kern="1200" cap="none" spc="0" normalizeH="0" baseline="0" noProof="0" dirty="0">
              <a:ln>
                <a:noFill/>
              </a:ln>
              <a:solidFill>
                <a:srgbClr val="FF6600"/>
              </a:solidFill>
              <a:effectLst/>
              <a:uLnTx/>
              <a:uFillTx/>
              <a:latin typeface="Yekan Bakh" pitchFamily="2" charset="-78"/>
              <a:ea typeface="Yekan Bakh" pitchFamily="2" charset="-78"/>
              <a:cs typeface="Yekan Bakh" pitchFamily="2" charset="-78"/>
            </a:endParaRPr>
          </a:p>
        </p:txBody>
      </p:sp>
      <p:sp>
        <p:nvSpPr>
          <p:cNvPr id="31" name="TextBox 30">
            <a:extLst>
              <a:ext uri="{FF2B5EF4-FFF2-40B4-BE49-F238E27FC236}">
                <a16:creationId xmlns:a16="http://schemas.microsoft.com/office/drawing/2014/main" id="{A21FC79B-642D-768B-4820-E3E1BE4877F3}"/>
              </a:ext>
            </a:extLst>
          </p:cNvPr>
          <p:cNvSpPr txBox="1"/>
          <p:nvPr/>
        </p:nvSpPr>
        <p:spPr>
          <a:xfrm>
            <a:off x="6129339" y="4036134"/>
            <a:ext cx="4954286" cy="938719"/>
          </a:xfrm>
          <a:prstGeom prst="rect">
            <a:avLst/>
          </a:prstGeom>
          <a:noFill/>
        </p:spPr>
        <p:txBody>
          <a:bodyPr wrap="square">
            <a:spAutoFit/>
          </a:bodyPr>
          <a:lstStyle/>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دسترسی به فرصت‌های منتخب</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اجرای فرآیند ارزیابی</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طراحی ساختار سرمایه‌گذاری</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تشکیل کنسرسیوم سرمایه‌گذاری</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پایش مستمر سبد سرمایه‌گذاری</a:t>
            </a:r>
            <a:endParaRPr kumimoji="0" lang="en-US"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34" name="Rectangle 33">
            <a:extLst>
              <a:ext uri="{FF2B5EF4-FFF2-40B4-BE49-F238E27FC236}">
                <a16:creationId xmlns:a16="http://schemas.microsoft.com/office/drawing/2014/main" id="{3419CB9F-7300-A69F-8B62-C98C76E775C5}"/>
              </a:ext>
            </a:extLst>
          </p:cNvPr>
          <p:cNvSpPr/>
          <p:nvPr/>
        </p:nvSpPr>
        <p:spPr>
          <a:xfrm>
            <a:off x="723175" y="1718108"/>
            <a:ext cx="5093134" cy="1034477"/>
          </a:xfrm>
          <a:prstGeom prst="rect">
            <a:avLst/>
          </a:prstGeom>
          <a:noFill/>
          <a:ln w="6350">
            <a:solidFill>
              <a:srgbClr val="FF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37" name="TextBox 36">
            <a:extLst>
              <a:ext uri="{FF2B5EF4-FFF2-40B4-BE49-F238E27FC236}">
                <a16:creationId xmlns:a16="http://schemas.microsoft.com/office/drawing/2014/main" id="{F8223A76-07D0-620E-ACB1-20E5E4CD4CB9}"/>
              </a:ext>
            </a:extLst>
          </p:cNvPr>
          <p:cNvSpPr txBox="1"/>
          <p:nvPr/>
        </p:nvSpPr>
        <p:spPr>
          <a:xfrm>
            <a:off x="4134051" y="1605253"/>
            <a:ext cx="1514708" cy="261610"/>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srgbClr val="FF6600"/>
                </a:solidFill>
                <a:effectLst/>
                <a:uLnTx/>
                <a:uFillTx/>
                <a:latin typeface="Yekan Bakh" pitchFamily="2" charset="-78"/>
                <a:ea typeface="Yekan Bakh" pitchFamily="2" charset="-78"/>
                <a:cs typeface="Yekan Bakh" pitchFamily="2" charset="-78"/>
              </a:rPr>
              <a:t>ارزش پیشنهادی خدمت </a:t>
            </a:r>
            <a:endParaRPr kumimoji="0" lang="en-US" sz="1050" b="1" i="0" u="none" strike="noStrike" kern="1200" cap="none" spc="0" normalizeH="0" baseline="0" noProof="0" dirty="0">
              <a:ln>
                <a:noFill/>
              </a:ln>
              <a:solidFill>
                <a:srgbClr val="FF6600"/>
              </a:solidFill>
              <a:effectLst/>
              <a:uLnTx/>
              <a:uFillTx/>
              <a:latin typeface="Yekan Bakh" pitchFamily="2" charset="-78"/>
              <a:ea typeface="Yekan Bakh" pitchFamily="2" charset="-78"/>
              <a:cs typeface="Yekan Bakh" pitchFamily="2" charset="-78"/>
            </a:endParaRPr>
          </a:p>
        </p:txBody>
      </p:sp>
      <p:sp>
        <p:nvSpPr>
          <p:cNvPr id="40" name="TextBox 39">
            <a:extLst>
              <a:ext uri="{FF2B5EF4-FFF2-40B4-BE49-F238E27FC236}">
                <a16:creationId xmlns:a16="http://schemas.microsoft.com/office/drawing/2014/main" id="{A7CCCCE5-B0D6-A9E3-25E1-BB1103CC9591}"/>
              </a:ext>
            </a:extLst>
          </p:cNvPr>
          <p:cNvSpPr txBox="1"/>
          <p:nvPr/>
        </p:nvSpPr>
        <p:spPr>
          <a:xfrm>
            <a:off x="798223" y="1897641"/>
            <a:ext cx="4954286" cy="769441"/>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ایجاد دسترسی به فرصت‌های سرمایه‌گذاری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برون‌مرزی</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که از پیش ارزیابی شده‌اند، همراه با خدمات ارزیابی تخصصی،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ساختاردهی</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جذب سرمایه‌گذاران همکار، و نظارت محلی؛ در صورت لزوم، با مشارکت سرمایه خود اکوسیستم برای ایجاد هم‌راستایی منافع.</a:t>
            </a:r>
            <a:endParaRPr kumimoji="0" lang="en-US"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43" name="Rectangle 42">
            <a:extLst>
              <a:ext uri="{FF2B5EF4-FFF2-40B4-BE49-F238E27FC236}">
                <a16:creationId xmlns:a16="http://schemas.microsoft.com/office/drawing/2014/main" id="{EF3C8DDB-D8B3-69ED-C83B-91E2A935ACEA}"/>
              </a:ext>
            </a:extLst>
          </p:cNvPr>
          <p:cNvSpPr/>
          <p:nvPr/>
        </p:nvSpPr>
        <p:spPr>
          <a:xfrm>
            <a:off x="6054291" y="5192091"/>
            <a:ext cx="5093134" cy="741984"/>
          </a:xfrm>
          <a:prstGeom prst="rect">
            <a:avLst/>
          </a:prstGeom>
          <a:noFill/>
          <a:ln w="6350">
            <a:solidFill>
              <a:srgbClr val="FF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46" name="TextBox 45">
            <a:extLst>
              <a:ext uri="{FF2B5EF4-FFF2-40B4-BE49-F238E27FC236}">
                <a16:creationId xmlns:a16="http://schemas.microsoft.com/office/drawing/2014/main" id="{0C582991-7B16-5C21-1CE5-4C00BB5A6CE3}"/>
              </a:ext>
            </a:extLst>
          </p:cNvPr>
          <p:cNvSpPr txBox="1"/>
          <p:nvPr/>
        </p:nvSpPr>
        <p:spPr>
          <a:xfrm>
            <a:off x="9620451" y="5079235"/>
            <a:ext cx="1359424" cy="253916"/>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srgbClr val="FF6600"/>
                </a:solidFill>
                <a:effectLst/>
                <a:uLnTx/>
                <a:uFillTx/>
                <a:latin typeface="Yekan Bakh" pitchFamily="2" charset="-78"/>
                <a:ea typeface="Yekan Bakh" pitchFamily="2" charset="-78"/>
                <a:cs typeface="Yekan Bakh" pitchFamily="2" charset="-78"/>
              </a:rPr>
              <a:t>مدل تعامل </a:t>
            </a:r>
            <a:r>
              <a:rPr kumimoji="0" lang="fa-IR" sz="1050" b="1" i="0" u="none" strike="noStrike" kern="1200" cap="none" spc="0" normalizeH="0" baseline="0" noProof="0" dirty="0" err="1">
                <a:ln>
                  <a:noFill/>
                </a:ln>
                <a:solidFill>
                  <a:srgbClr val="FF6600"/>
                </a:solidFill>
                <a:effectLst/>
                <a:uLnTx/>
                <a:uFillTx/>
                <a:latin typeface="Yekan Bakh" pitchFamily="2" charset="-78"/>
                <a:ea typeface="Yekan Bakh" pitchFamily="2" charset="-78"/>
                <a:cs typeface="Yekan Bakh" pitchFamily="2" charset="-78"/>
              </a:rPr>
              <a:t>ترجیحی</a:t>
            </a:r>
            <a:endParaRPr kumimoji="0" lang="en-US" sz="1050" b="1" i="0" u="none" strike="noStrike" kern="1200" cap="none" spc="0" normalizeH="0" baseline="0" noProof="0" dirty="0">
              <a:ln>
                <a:noFill/>
              </a:ln>
              <a:solidFill>
                <a:srgbClr val="FF6600"/>
              </a:solidFill>
              <a:effectLst/>
              <a:uLnTx/>
              <a:uFillTx/>
              <a:latin typeface="Yekan Bakh" pitchFamily="2" charset="-78"/>
              <a:ea typeface="Yekan Bakh" pitchFamily="2" charset="-78"/>
              <a:cs typeface="Yekan Bakh" pitchFamily="2" charset="-78"/>
            </a:endParaRPr>
          </a:p>
        </p:txBody>
      </p:sp>
      <p:sp>
        <p:nvSpPr>
          <p:cNvPr id="49" name="TextBox 48">
            <a:extLst>
              <a:ext uri="{FF2B5EF4-FFF2-40B4-BE49-F238E27FC236}">
                <a16:creationId xmlns:a16="http://schemas.microsoft.com/office/drawing/2014/main" id="{70808115-284E-31B2-E455-F407FD07CF42}"/>
              </a:ext>
            </a:extLst>
          </p:cNvPr>
          <p:cNvSpPr txBox="1"/>
          <p:nvPr/>
        </p:nvSpPr>
        <p:spPr>
          <a:xfrm>
            <a:off x="6054291" y="5307615"/>
            <a:ext cx="5056766" cy="707886"/>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0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در ابتدا، سرمایه‌گذاری مشترک به‌صورت موردی (</a:t>
            </a:r>
            <a:r>
              <a:rPr kumimoji="0" lang="en-US" sz="10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Deal-by-Deal Co-investment</a:t>
            </a:r>
            <a:r>
              <a:rPr kumimoji="0" lang="fa-IR" sz="10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و پس از ایجاد سابقه موفق، تشکیل صندوق یا ساختار سرمایه‌گذاری مشترک و مدیریت‌شده.</a:t>
            </a:r>
          </a:p>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0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در بسیاری از موارد، مشارکت مالی خود اکوسیستم شرط لازم برای ایجاد اعتماد و هم‌راستایی منافع خواهد بود</a:t>
            </a:r>
            <a:endParaRPr kumimoji="0" lang="en-US" sz="10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52" name="Rectangle 51">
            <a:extLst>
              <a:ext uri="{FF2B5EF4-FFF2-40B4-BE49-F238E27FC236}">
                <a16:creationId xmlns:a16="http://schemas.microsoft.com/office/drawing/2014/main" id="{FD9900C8-6AAE-D5E8-4756-D06F2702BD2F}"/>
              </a:ext>
            </a:extLst>
          </p:cNvPr>
          <p:cNvSpPr/>
          <p:nvPr/>
        </p:nvSpPr>
        <p:spPr>
          <a:xfrm>
            <a:off x="758391" y="4436191"/>
            <a:ext cx="5093134" cy="1497884"/>
          </a:xfrm>
          <a:prstGeom prst="rect">
            <a:avLst/>
          </a:prstGeom>
          <a:noFill/>
          <a:ln w="6350">
            <a:solidFill>
              <a:srgbClr val="FF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55" name="TextBox 54">
            <a:extLst>
              <a:ext uri="{FF2B5EF4-FFF2-40B4-BE49-F238E27FC236}">
                <a16:creationId xmlns:a16="http://schemas.microsoft.com/office/drawing/2014/main" id="{746014FB-5EAE-38A8-0751-C065ECA05B03}"/>
              </a:ext>
            </a:extLst>
          </p:cNvPr>
          <p:cNvSpPr txBox="1"/>
          <p:nvPr/>
        </p:nvSpPr>
        <p:spPr>
          <a:xfrm>
            <a:off x="4134051" y="4323336"/>
            <a:ext cx="1549924" cy="261610"/>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srgbClr val="FF6600"/>
                </a:solidFill>
                <a:effectLst/>
                <a:uLnTx/>
                <a:uFillTx/>
                <a:latin typeface="Yekan Bakh" pitchFamily="2" charset="-78"/>
                <a:ea typeface="Yekan Bakh" pitchFamily="2" charset="-78"/>
                <a:cs typeface="Yekan Bakh" pitchFamily="2" charset="-78"/>
              </a:rPr>
              <a:t>معیارهای احراز صلاحیت</a:t>
            </a:r>
            <a:endParaRPr kumimoji="0" lang="en-US" sz="1050" b="1" i="0" u="none" strike="noStrike" kern="1200" cap="none" spc="0" normalizeH="0" baseline="0" noProof="0" dirty="0">
              <a:ln>
                <a:noFill/>
              </a:ln>
              <a:solidFill>
                <a:srgbClr val="FF6600"/>
              </a:solidFill>
              <a:effectLst/>
              <a:uLnTx/>
              <a:uFillTx/>
              <a:latin typeface="Yekan Bakh" pitchFamily="2" charset="-78"/>
              <a:ea typeface="Yekan Bakh" pitchFamily="2" charset="-78"/>
              <a:cs typeface="Yekan Bakh" pitchFamily="2" charset="-78"/>
            </a:endParaRPr>
          </a:p>
        </p:txBody>
      </p:sp>
      <p:sp>
        <p:nvSpPr>
          <p:cNvPr id="58" name="TextBox 57">
            <a:extLst>
              <a:ext uri="{FF2B5EF4-FFF2-40B4-BE49-F238E27FC236}">
                <a16:creationId xmlns:a16="http://schemas.microsoft.com/office/drawing/2014/main" id="{C94D899E-C065-4D42-4761-934738548BBD}"/>
              </a:ext>
            </a:extLst>
          </p:cNvPr>
          <p:cNvSpPr txBox="1"/>
          <p:nvPr/>
        </p:nvSpPr>
        <p:spPr>
          <a:xfrm>
            <a:off x="833439" y="4615724"/>
            <a:ext cx="4954286" cy="938719"/>
          </a:xfrm>
          <a:prstGeom prst="rect">
            <a:avLst/>
          </a:prstGeom>
          <a:noFill/>
        </p:spPr>
        <p:txBody>
          <a:bodyPr wrap="square">
            <a:spAutoFit/>
          </a:bodyPr>
          <a:lstStyle/>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در اختیار داشتن سرمایه قابل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راستی‌آزمایی</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و اختیار قانونی برای سرمایه‌گذاری</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هم‌خوانی</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تز</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سرمایه‌گذاری با فرصت‌های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موجودپذیرش</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مدل حاکمیت مشترک با اکوسیستم</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عبور از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ارزیابی‌های</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انطباق و احراز منشأ سرمایه</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داشتن انتظارات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واقع‌بینانه</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درباره افق زمانی و بازده سرمایه‌گذاری</a:t>
            </a:r>
            <a:endParaRPr kumimoji="0" lang="en-US"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61" name="Rectangle 60">
            <a:extLst>
              <a:ext uri="{FF2B5EF4-FFF2-40B4-BE49-F238E27FC236}">
                <a16:creationId xmlns:a16="http://schemas.microsoft.com/office/drawing/2014/main" id="{8A0F354E-B221-5C5A-F4C2-CE1DE1BDF941}"/>
              </a:ext>
            </a:extLst>
          </p:cNvPr>
          <p:cNvSpPr/>
          <p:nvPr/>
        </p:nvSpPr>
        <p:spPr>
          <a:xfrm>
            <a:off x="723175" y="3060636"/>
            <a:ext cx="5093134" cy="1034477"/>
          </a:xfrm>
          <a:prstGeom prst="rect">
            <a:avLst/>
          </a:prstGeom>
          <a:noFill/>
          <a:ln w="6350">
            <a:solidFill>
              <a:srgbClr val="FF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Yekan Bakh" pitchFamily="2" charset="-78"/>
              <a:ea typeface="Yekan Bakh" pitchFamily="2" charset="-78"/>
              <a:cs typeface="Yekan Bakh" pitchFamily="2" charset="-78"/>
            </a:endParaRPr>
          </a:p>
        </p:txBody>
      </p:sp>
      <p:sp>
        <p:nvSpPr>
          <p:cNvPr id="64" name="TextBox 63">
            <a:extLst>
              <a:ext uri="{FF2B5EF4-FFF2-40B4-BE49-F238E27FC236}">
                <a16:creationId xmlns:a16="http://schemas.microsoft.com/office/drawing/2014/main" id="{2F47E6DA-0386-0FC8-3C60-00CD226C9D8C}"/>
              </a:ext>
            </a:extLst>
          </p:cNvPr>
          <p:cNvSpPr txBox="1"/>
          <p:nvPr/>
        </p:nvSpPr>
        <p:spPr>
          <a:xfrm>
            <a:off x="4485373" y="2947781"/>
            <a:ext cx="1163386" cy="261610"/>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err="1">
                <a:ln>
                  <a:noFill/>
                </a:ln>
                <a:solidFill>
                  <a:srgbClr val="FF6600"/>
                </a:solidFill>
                <a:effectLst/>
                <a:uLnTx/>
                <a:uFillTx/>
                <a:latin typeface="Yekan Bakh" pitchFamily="2" charset="-78"/>
                <a:ea typeface="Yekan Bakh" pitchFamily="2" charset="-78"/>
                <a:cs typeface="Yekan Bakh" pitchFamily="2" charset="-78"/>
              </a:rPr>
              <a:t>ریسک‌های</a:t>
            </a:r>
            <a:r>
              <a:rPr kumimoji="0" lang="fa-IR" sz="1050" b="1" i="0" u="none" strike="noStrike" kern="1200" cap="none" spc="0" normalizeH="0" baseline="0" noProof="0" dirty="0">
                <a:ln>
                  <a:noFill/>
                </a:ln>
                <a:solidFill>
                  <a:srgbClr val="FF6600"/>
                </a:solidFill>
                <a:effectLst/>
                <a:uLnTx/>
                <a:uFillTx/>
                <a:latin typeface="Yekan Bakh" pitchFamily="2" charset="-78"/>
                <a:ea typeface="Yekan Bakh" pitchFamily="2" charset="-78"/>
                <a:cs typeface="Yekan Bakh" pitchFamily="2" charset="-78"/>
              </a:rPr>
              <a:t> کلیدی</a:t>
            </a:r>
            <a:endParaRPr kumimoji="0" lang="en-US" sz="1050" b="1" i="0" u="none" strike="noStrike" kern="1200" cap="none" spc="0" normalizeH="0" baseline="0" noProof="0" dirty="0">
              <a:ln>
                <a:noFill/>
              </a:ln>
              <a:solidFill>
                <a:srgbClr val="FF6600"/>
              </a:solidFill>
              <a:effectLst/>
              <a:uLnTx/>
              <a:uFillTx/>
              <a:latin typeface="Yekan Bakh" pitchFamily="2" charset="-78"/>
              <a:ea typeface="Yekan Bakh" pitchFamily="2" charset="-78"/>
              <a:cs typeface="Yekan Bakh" pitchFamily="2" charset="-78"/>
            </a:endParaRPr>
          </a:p>
        </p:txBody>
      </p:sp>
      <p:sp>
        <p:nvSpPr>
          <p:cNvPr id="67" name="TextBox 66">
            <a:extLst>
              <a:ext uri="{FF2B5EF4-FFF2-40B4-BE49-F238E27FC236}">
                <a16:creationId xmlns:a16="http://schemas.microsoft.com/office/drawing/2014/main" id="{326CF708-DD8D-4D00-3E0C-E041E8A36E26}"/>
              </a:ext>
            </a:extLst>
          </p:cNvPr>
          <p:cNvSpPr txBox="1"/>
          <p:nvPr/>
        </p:nvSpPr>
        <p:spPr>
          <a:xfrm>
            <a:off x="723175" y="3194449"/>
            <a:ext cx="5029334" cy="938719"/>
          </a:xfrm>
          <a:prstGeom prst="rect">
            <a:avLst/>
          </a:prstGeom>
          <a:noFill/>
        </p:spPr>
        <p:txBody>
          <a:bodyPr wrap="square">
            <a:spAutoFit/>
          </a:bodyPr>
          <a:lstStyle/>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تعارض منافع ساختاری: اکوسیستم هم مشاور یکی از طرفین و هم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سرمایه‌گذار</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بیشترین میزان مواجهه با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ریسک‌های</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حقوقی، مقرراتی و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تحریمی</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در میان همه </a:t>
            </a:r>
            <a:r>
              <a:rPr kumimoji="0" lang="fa-IR" sz="1100" b="0" i="0" u="none" strike="noStrike" kern="1200" cap="none" spc="0" normalizeH="0" baseline="0" noProof="0" dirty="0" err="1">
                <a:ln>
                  <a:noFill/>
                </a:ln>
                <a:solidFill>
                  <a:schemeClr val="tx1">
                    <a:lumMod val="75000"/>
                    <a:lumOff val="25000"/>
                  </a:schemeClr>
                </a:solidFill>
                <a:effectLst/>
                <a:uLnTx/>
                <a:uFillTx/>
                <a:latin typeface="Yekan Bakh" pitchFamily="2" charset="-78"/>
                <a:ea typeface="Yekan Bakh" pitchFamily="2" charset="-78"/>
                <a:cs typeface="Yekan Bakh" pitchFamily="2" charset="-78"/>
              </a:rPr>
              <a:t>بخش‌ها</a:t>
            </a: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احتمال لغو تعهدات سرمایه‌گذاری در اثر تغییر شرایط سیاسی یا اقتصادی.</a:t>
            </a:r>
          </a:p>
          <a:p>
            <a:pPr marL="171450" marR="0" lvl="0" indent="-171450" algn="justLow"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آسیب شدید به اعتبار اکوسیستم در صورت شکست حتی یک سرمایه‌گذاری.</a:t>
            </a:r>
            <a:endParaRPr kumimoji="0" lang="en-US"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Tree>
    <p:extLst>
      <p:ext uri="{BB962C8B-B14F-4D97-AF65-F5344CB8AC3E}">
        <p14:creationId xmlns:p14="http://schemas.microsoft.com/office/powerpoint/2010/main" val="88491187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1B52D0E-D855-7282-C613-B8C962486773}"/>
              </a:ext>
            </a:extLst>
          </p:cNvPr>
          <p:cNvSpPr>
            <a:spLocks noGrp="1"/>
          </p:cNvSpPr>
          <p:nvPr>
            <p:ph type="body" sz="quarter" idx="10"/>
          </p:nvPr>
        </p:nvSpPr>
        <p:spPr/>
        <p:txBody>
          <a:bodyPr/>
          <a:lstStyle/>
          <a:p>
            <a:endParaRPr lang="en-GB"/>
          </a:p>
        </p:txBody>
      </p:sp>
      <p:sp>
        <p:nvSpPr>
          <p:cNvPr id="3" name="Text Placeholder 2">
            <a:extLst>
              <a:ext uri="{FF2B5EF4-FFF2-40B4-BE49-F238E27FC236}">
                <a16:creationId xmlns:a16="http://schemas.microsoft.com/office/drawing/2014/main" id="{FBD18945-E3B3-1A09-942D-B0DBE6B4646F}"/>
              </a:ext>
            </a:extLst>
          </p:cNvPr>
          <p:cNvSpPr>
            <a:spLocks noGrp="1"/>
          </p:cNvSpPr>
          <p:nvPr>
            <p:ph type="body" sz="quarter" idx="12"/>
          </p:nvPr>
        </p:nvSpPr>
        <p:spPr/>
        <p:txBody>
          <a:bodyPr/>
          <a:lstStyle/>
          <a:p>
            <a:r>
              <a:rPr lang="fa-IR" dirty="0"/>
              <a:t>توضیحات تکمیلی در بخش‌بندی مشتریان</a:t>
            </a:r>
          </a:p>
        </p:txBody>
      </p:sp>
      <p:grpSp>
        <p:nvGrpSpPr>
          <p:cNvPr id="11" name="Group 10">
            <a:extLst>
              <a:ext uri="{FF2B5EF4-FFF2-40B4-BE49-F238E27FC236}">
                <a16:creationId xmlns:a16="http://schemas.microsoft.com/office/drawing/2014/main" id="{16F4C29C-BFFC-4711-57A5-55C51DFEDD6C}"/>
              </a:ext>
            </a:extLst>
          </p:cNvPr>
          <p:cNvGrpSpPr/>
          <p:nvPr/>
        </p:nvGrpSpPr>
        <p:grpSpPr>
          <a:xfrm>
            <a:off x="533440" y="1131597"/>
            <a:ext cx="10710133" cy="889807"/>
            <a:chOff x="533440" y="1131597"/>
            <a:chExt cx="10710133" cy="889807"/>
          </a:xfrm>
        </p:grpSpPr>
        <p:sp>
          <p:nvSpPr>
            <p:cNvPr id="4" name="Rectangle: Rounded Corners 3">
              <a:extLst>
                <a:ext uri="{FF2B5EF4-FFF2-40B4-BE49-F238E27FC236}">
                  <a16:creationId xmlns:a16="http://schemas.microsoft.com/office/drawing/2014/main" id="{4372AF37-BB39-FED1-A720-50790EF484DB}"/>
                </a:ext>
              </a:extLst>
            </p:cNvPr>
            <p:cNvSpPr/>
            <p:nvPr/>
          </p:nvSpPr>
          <p:spPr>
            <a:xfrm>
              <a:off x="533440" y="1282808"/>
              <a:ext cx="10710133" cy="738596"/>
            </a:xfrm>
            <a:prstGeom prst="round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8" name="Group 7">
              <a:extLst>
                <a:ext uri="{FF2B5EF4-FFF2-40B4-BE49-F238E27FC236}">
                  <a16:creationId xmlns:a16="http://schemas.microsoft.com/office/drawing/2014/main" id="{F2898827-AEBF-B7AF-1617-15FD77E9B06D}"/>
                </a:ext>
              </a:extLst>
            </p:cNvPr>
            <p:cNvGrpSpPr/>
            <p:nvPr/>
          </p:nvGrpSpPr>
          <p:grpSpPr>
            <a:xfrm>
              <a:off x="4933627" y="1131597"/>
              <a:ext cx="6213794" cy="294140"/>
              <a:chOff x="4933627" y="1119472"/>
              <a:chExt cx="6213794" cy="294140"/>
            </a:xfrm>
          </p:grpSpPr>
          <p:sp>
            <p:nvSpPr>
              <p:cNvPr id="5" name="Rectangle: Rounded Corners 4">
                <a:extLst>
                  <a:ext uri="{FF2B5EF4-FFF2-40B4-BE49-F238E27FC236}">
                    <a16:creationId xmlns:a16="http://schemas.microsoft.com/office/drawing/2014/main" id="{092F1B14-7068-5DD9-2F65-D652DE749CF5}"/>
                  </a:ext>
                </a:extLst>
              </p:cNvPr>
              <p:cNvSpPr/>
              <p:nvPr/>
            </p:nvSpPr>
            <p:spPr>
              <a:xfrm>
                <a:off x="4996456" y="1119472"/>
                <a:ext cx="6150964" cy="294140"/>
              </a:xfrm>
              <a:prstGeom prst="round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F362E85A-2BAE-A8DD-0F73-422ECE7A7320}"/>
                  </a:ext>
                </a:extLst>
              </p:cNvPr>
              <p:cNvSpPr txBox="1"/>
              <p:nvPr/>
            </p:nvSpPr>
            <p:spPr>
              <a:xfrm>
                <a:off x="4933627" y="1135737"/>
                <a:ext cx="6213794" cy="261610"/>
              </a:xfrm>
              <a:prstGeom prst="rect">
                <a:avLst/>
              </a:prstGeom>
              <a:noFill/>
            </p:spPr>
            <p:txBody>
              <a:bodyPr wrap="square">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1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ویژگی‌های شرکتی (نظیر صنعت، جایگاه در بازار و ...) در کجا اثر می‌گذارد؟</a:t>
                </a:r>
              </a:p>
            </p:txBody>
          </p:sp>
        </p:grpSp>
        <p:sp>
          <p:nvSpPr>
            <p:cNvPr id="10" name="TextBox 9">
              <a:extLst>
                <a:ext uri="{FF2B5EF4-FFF2-40B4-BE49-F238E27FC236}">
                  <a16:creationId xmlns:a16="http://schemas.microsoft.com/office/drawing/2014/main" id="{CCEBAD54-4D89-3161-653A-41A16C8DAD81}"/>
                </a:ext>
              </a:extLst>
            </p:cNvPr>
            <p:cNvSpPr txBox="1"/>
            <p:nvPr/>
          </p:nvSpPr>
          <p:spPr>
            <a:xfrm>
              <a:off x="649705" y="1467405"/>
              <a:ext cx="10497715" cy="246221"/>
            </a:xfrm>
            <a:prstGeom prst="rect">
              <a:avLst/>
            </a:prstGeom>
            <a:noFill/>
          </p:spPr>
          <p:txBody>
            <a:bodyPr wrap="square">
              <a:spAutoFit/>
            </a:bodyPr>
            <a:lstStyle/>
            <a:p>
              <a:pPr marR="0" lvl="0" algn="justLow" defTabSz="457200" rtl="1" eaLnBrk="1" fontAlgn="auto" latinLnBrk="0" hangingPunct="1">
                <a:lnSpc>
                  <a:spcPct val="100000"/>
                </a:lnSpc>
                <a:spcBef>
                  <a:spcPts val="0"/>
                </a:spcBef>
                <a:spcAft>
                  <a:spcPts val="0"/>
                </a:spcAft>
                <a:buClrTx/>
                <a:buSzTx/>
                <a:tabLst/>
                <a:defRPr/>
              </a:pPr>
              <a:r>
                <a:rPr kumimoji="0" lang="fa-IR" sz="1000" b="0" i="0" u="none" strike="noStrike" kern="1200" cap="none" spc="0" normalizeH="0" baseline="0" noProof="0" dirty="0">
                  <a:ln>
                    <a:noFill/>
                  </a:ln>
                  <a:solidFill>
                    <a:schemeClr val="tx1">
                      <a:lumMod val="65000"/>
                      <a:lumOff val="35000"/>
                    </a:schemeClr>
                  </a:solidFill>
                  <a:effectLst/>
                  <a:uLnTx/>
                  <a:uFillTx/>
                  <a:latin typeface="Yekan Bakh" pitchFamily="2" charset="-78"/>
                  <a:ea typeface="Yekan Bakh" pitchFamily="2" charset="-78"/>
                  <a:cs typeface="Yekan Bakh" pitchFamily="2" charset="-78"/>
                </a:rPr>
                <a:t>این ویژگی‌ها فقط زمانی یک بخش جدید از مشتری می‌سازد که</a:t>
              </a:r>
              <a:r>
                <a:rPr kumimoji="0" lang="fa-IR" sz="10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 رفتار مشتری را تغییر دهد</a:t>
              </a:r>
              <a:r>
                <a:rPr kumimoji="0" lang="fa-IR" sz="1000" b="0" i="0" u="none" strike="noStrike" kern="1200" cap="none" spc="0" normalizeH="0" baseline="0" noProof="0" dirty="0">
                  <a:ln>
                    <a:noFill/>
                  </a:ln>
                  <a:solidFill>
                    <a:schemeClr val="tx1">
                      <a:lumMod val="65000"/>
                      <a:lumOff val="35000"/>
                    </a:schemeClr>
                  </a:solidFill>
                  <a:effectLst/>
                  <a:uLnTx/>
                  <a:uFillTx/>
                  <a:latin typeface="Yekan Bakh" pitchFamily="2" charset="-78"/>
                  <a:ea typeface="Yekan Bakh" pitchFamily="2" charset="-78"/>
                  <a:cs typeface="Yekan Bakh" pitchFamily="2" charset="-78"/>
                </a:rPr>
                <a:t>، نه صرفاً چون ویژگی توصیفی مشتری است.</a:t>
              </a:r>
            </a:p>
          </p:txBody>
        </p:sp>
      </p:grpSp>
      <p:grpSp>
        <p:nvGrpSpPr>
          <p:cNvPr id="12" name="Group 11">
            <a:extLst>
              <a:ext uri="{FF2B5EF4-FFF2-40B4-BE49-F238E27FC236}">
                <a16:creationId xmlns:a16="http://schemas.microsoft.com/office/drawing/2014/main" id="{EA37E335-0535-5541-B240-FCA3DC0DA507}"/>
              </a:ext>
            </a:extLst>
          </p:cNvPr>
          <p:cNvGrpSpPr/>
          <p:nvPr/>
        </p:nvGrpSpPr>
        <p:grpSpPr>
          <a:xfrm>
            <a:off x="533440" y="2097535"/>
            <a:ext cx="10710133" cy="889807"/>
            <a:chOff x="533440" y="1131597"/>
            <a:chExt cx="10710133" cy="889807"/>
          </a:xfrm>
        </p:grpSpPr>
        <p:sp>
          <p:nvSpPr>
            <p:cNvPr id="13" name="Rectangle: Rounded Corners 12">
              <a:extLst>
                <a:ext uri="{FF2B5EF4-FFF2-40B4-BE49-F238E27FC236}">
                  <a16:creationId xmlns:a16="http://schemas.microsoft.com/office/drawing/2014/main" id="{B5081386-3210-13FF-E3E8-99A219AE7F9D}"/>
                </a:ext>
              </a:extLst>
            </p:cNvPr>
            <p:cNvSpPr/>
            <p:nvPr/>
          </p:nvSpPr>
          <p:spPr>
            <a:xfrm>
              <a:off x="533440" y="1282808"/>
              <a:ext cx="10710133" cy="738596"/>
            </a:xfrm>
            <a:prstGeom prst="round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4" name="Group 13">
              <a:extLst>
                <a:ext uri="{FF2B5EF4-FFF2-40B4-BE49-F238E27FC236}">
                  <a16:creationId xmlns:a16="http://schemas.microsoft.com/office/drawing/2014/main" id="{B5BEA1B1-EBC4-86FF-8233-F4A73A6B0DA3}"/>
                </a:ext>
              </a:extLst>
            </p:cNvPr>
            <p:cNvGrpSpPr/>
            <p:nvPr/>
          </p:nvGrpSpPr>
          <p:grpSpPr>
            <a:xfrm>
              <a:off x="4933627" y="1131597"/>
              <a:ext cx="6213794" cy="294140"/>
              <a:chOff x="4933627" y="1119472"/>
              <a:chExt cx="6213794" cy="294140"/>
            </a:xfrm>
          </p:grpSpPr>
          <p:sp>
            <p:nvSpPr>
              <p:cNvPr id="16" name="Rectangle: Rounded Corners 15">
                <a:extLst>
                  <a:ext uri="{FF2B5EF4-FFF2-40B4-BE49-F238E27FC236}">
                    <a16:creationId xmlns:a16="http://schemas.microsoft.com/office/drawing/2014/main" id="{59DF788A-CC1A-EA17-D8B0-A01C4030006B}"/>
                  </a:ext>
                </a:extLst>
              </p:cNvPr>
              <p:cNvSpPr/>
              <p:nvPr/>
            </p:nvSpPr>
            <p:spPr>
              <a:xfrm>
                <a:off x="4996456" y="1119472"/>
                <a:ext cx="6150964" cy="294140"/>
              </a:xfrm>
              <a:prstGeom prst="round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TextBox 16">
                <a:extLst>
                  <a:ext uri="{FF2B5EF4-FFF2-40B4-BE49-F238E27FC236}">
                    <a16:creationId xmlns:a16="http://schemas.microsoft.com/office/drawing/2014/main" id="{61E418C6-1113-0047-A6C1-D915A8FF54F1}"/>
                  </a:ext>
                </a:extLst>
              </p:cNvPr>
              <p:cNvSpPr txBox="1"/>
              <p:nvPr/>
            </p:nvSpPr>
            <p:spPr>
              <a:xfrm>
                <a:off x="4933627" y="1135737"/>
                <a:ext cx="6213794" cy="261610"/>
              </a:xfrm>
              <a:prstGeom prst="rect">
                <a:avLst/>
              </a:prstGeom>
              <a:noFill/>
            </p:spPr>
            <p:txBody>
              <a:bodyPr wrap="square">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1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اندازه شرکت‌ها (بزرگ، کوچک یا متوسط) چرا در بخش‌بندی مشتریان دیده نشده است؟</a:t>
                </a:r>
              </a:p>
            </p:txBody>
          </p:sp>
        </p:grpSp>
        <p:sp>
          <p:nvSpPr>
            <p:cNvPr id="15" name="TextBox 14">
              <a:extLst>
                <a:ext uri="{FF2B5EF4-FFF2-40B4-BE49-F238E27FC236}">
                  <a16:creationId xmlns:a16="http://schemas.microsoft.com/office/drawing/2014/main" id="{EC1916EB-2A2F-0578-2423-3C0CBB485C82}"/>
                </a:ext>
              </a:extLst>
            </p:cNvPr>
            <p:cNvSpPr txBox="1"/>
            <p:nvPr/>
          </p:nvSpPr>
          <p:spPr>
            <a:xfrm>
              <a:off x="649705" y="1467405"/>
              <a:ext cx="10497715" cy="246221"/>
            </a:xfrm>
            <a:prstGeom prst="rect">
              <a:avLst/>
            </a:prstGeom>
            <a:noFill/>
          </p:spPr>
          <p:txBody>
            <a:bodyPr wrap="square">
              <a:spAutoFit/>
            </a:bodyPr>
            <a:lstStyle/>
            <a:p>
              <a:pPr marR="0" lvl="0" algn="justLow" defTabSz="457200" rtl="1" eaLnBrk="1" fontAlgn="auto" latinLnBrk="0" hangingPunct="1">
                <a:lnSpc>
                  <a:spcPct val="100000"/>
                </a:lnSpc>
                <a:spcBef>
                  <a:spcPts val="0"/>
                </a:spcBef>
                <a:spcAft>
                  <a:spcPts val="0"/>
                </a:spcAft>
                <a:buClrTx/>
                <a:buSzTx/>
                <a:tabLst/>
                <a:defRPr/>
              </a:pPr>
              <a:r>
                <a:rPr kumimoji="0" lang="fa-IR" sz="1000" b="0" i="0" u="none" strike="noStrike" kern="1200" cap="none" spc="0" normalizeH="0" baseline="0" noProof="0" dirty="0">
                  <a:ln>
                    <a:noFill/>
                  </a:ln>
                  <a:solidFill>
                    <a:schemeClr val="tx1">
                      <a:lumMod val="65000"/>
                      <a:lumOff val="35000"/>
                    </a:schemeClr>
                  </a:solidFill>
                  <a:effectLst/>
                  <a:uLnTx/>
                  <a:uFillTx/>
                  <a:latin typeface="Yekan Bakh" pitchFamily="2" charset="-78"/>
                  <a:ea typeface="Yekan Bakh" pitchFamily="2" charset="-78"/>
                  <a:cs typeface="Yekan Bakh" pitchFamily="2" charset="-78"/>
                </a:rPr>
                <a:t>با توجه به اینکه، لزوما </a:t>
              </a:r>
              <a:r>
                <a:rPr kumimoji="0" lang="fa-IR" sz="10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اندازه شرکت، نوع ارزش پیشنهادی را تغییر نمی‌دهد</a:t>
              </a:r>
              <a:r>
                <a:rPr kumimoji="0" lang="fa-IR" sz="1000" b="0" i="0" u="none" strike="noStrike" kern="1200" cap="none" spc="0" normalizeH="0" baseline="0" noProof="0" dirty="0">
                  <a:ln>
                    <a:noFill/>
                  </a:ln>
                  <a:solidFill>
                    <a:schemeClr val="tx1">
                      <a:lumMod val="65000"/>
                      <a:lumOff val="35000"/>
                    </a:schemeClr>
                  </a:solidFill>
                  <a:effectLst/>
                  <a:uLnTx/>
                  <a:uFillTx/>
                  <a:latin typeface="Yekan Bakh" pitchFamily="2" charset="-78"/>
                  <a:ea typeface="Yekan Bakh" pitchFamily="2" charset="-78"/>
                  <a:cs typeface="Yekan Bakh" pitchFamily="2" charset="-78"/>
                </a:rPr>
                <a:t>، بنابراین این ویژگی به عنوان یک فاکتور تفکیک‌کننده مشتریان دیده نشده است. </a:t>
              </a:r>
            </a:p>
          </p:txBody>
        </p:sp>
      </p:grpSp>
      <p:grpSp>
        <p:nvGrpSpPr>
          <p:cNvPr id="18" name="Group 17">
            <a:extLst>
              <a:ext uri="{FF2B5EF4-FFF2-40B4-BE49-F238E27FC236}">
                <a16:creationId xmlns:a16="http://schemas.microsoft.com/office/drawing/2014/main" id="{0F36B9B6-AF79-E289-324F-47EFC215E2CD}"/>
              </a:ext>
            </a:extLst>
          </p:cNvPr>
          <p:cNvGrpSpPr/>
          <p:nvPr/>
        </p:nvGrpSpPr>
        <p:grpSpPr>
          <a:xfrm>
            <a:off x="533440" y="3063473"/>
            <a:ext cx="10710133" cy="889807"/>
            <a:chOff x="533440" y="1131597"/>
            <a:chExt cx="10710133" cy="889807"/>
          </a:xfrm>
        </p:grpSpPr>
        <p:sp>
          <p:nvSpPr>
            <p:cNvPr id="19" name="Rectangle: Rounded Corners 18">
              <a:extLst>
                <a:ext uri="{FF2B5EF4-FFF2-40B4-BE49-F238E27FC236}">
                  <a16:creationId xmlns:a16="http://schemas.microsoft.com/office/drawing/2014/main" id="{52817737-32E3-5167-8819-46ACE402722A}"/>
                </a:ext>
              </a:extLst>
            </p:cNvPr>
            <p:cNvSpPr/>
            <p:nvPr/>
          </p:nvSpPr>
          <p:spPr>
            <a:xfrm>
              <a:off x="533440" y="1282808"/>
              <a:ext cx="10710133" cy="738596"/>
            </a:xfrm>
            <a:prstGeom prst="round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0" name="Group 19">
              <a:extLst>
                <a:ext uri="{FF2B5EF4-FFF2-40B4-BE49-F238E27FC236}">
                  <a16:creationId xmlns:a16="http://schemas.microsoft.com/office/drawing/2014/main" id="{68F0F7D6-F2A2-DED7-6825-E05DCA758C5A}"/>
                </a:ext>
              </a:extLst>
            </p:cNvPr>
            <p:cNvGrpSpPr/>
            <p:nvPr/>
          </p:nvGrpSpPr>
          <p:grpSpPr>
            <a:xfrm>
              <a:off x="4933627" y="1131597"/>
              <a:ext cx="6213794" cy="294140"/>
              <a:chOff x="4933627" y="1119472"/>
              <a:chExt cx="6213794" cy="294140"/>
            </a:xfrm>
          </p:grpSpPr>
          <p:sp>
            <p:nvSpPr>
              <p:cNvPr id="22" name="Rectangle: Rounded Corners 21">
                <a:extLst>
                  <a:ext uri="{FF2B5EF4-FFF2-40B4-BE49-F238E27FC236}">
                    <a16:creationId xmlns:a16="http://schemas.microsoft.com/office/drawing/2014/main" id="{2D070FE7-2287-3F9B-2238-10EF23BF1607}"/>
                  </a:ext>
                </a:extLst>
              </p:cNvPr>
              <p:cNvSpPr/>
              <p:nvPr/>
            </p:nvSpPr>
            <p:spPr>
              <a:xfrm>
                <a:off x="4996456" y="1119472"/>
                <a:ext cx="6150964" cy="294140"/>
              </a:xfrm>
              <a:prstGeom prst="round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TextBox 22">
                <a:extLst>
                  <a:ext uri="{FF2B5EF4-FFF2-40B4-BE49-F238E27FC236}">
                    <a16:creationId xmlns:a16="http://schemas.microsoft.com/office/drawing/2014/main" id="{624879DD-BCB1-66CB-684C-6792F21C5DF8}"/>
                  </a:ext>
                </a:extLst>
              </p:cNvPr>
              <p:cNvSpPr txBox="1"/>
              <p:nvPr/>
            </p:nvSpPr>
            <p:spPr>
              <a:xfrm>
                <a:off x="4933627" y="1135737"/>
                <a:ext cx="6213794" cy="261610"/>
              </a:xfrm>
              <a:prstGeom prst="rect">
                <a:avLst/>
              </a:prstGeom>
              <a:noFill/>
            </p:spPr>
            <p:txBody>
              <a:bodyPr wrap="square">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1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اگر تمرکز ما روی گروه مشخصی از شرکت‌ها باشند، نباید به بعنوان بخش جدیدی از مشتری تعریف شوند؟ </a:t>
                </a:r>
              </a:p>
            </p:txBody>
          </p:sp>
        </p:grpSp>
        <p:sp>
          <p:nvSpPr>
            <p:cNvPr id="21" name="TextBox 20">
              <a:extLst>
                <a:ext uri="{FF2B5EF4-FFF2-40B4-BE49-F238E27FC236}">
                  <a16:creationId xmlns:a16="http://schemas.microsoft.com/office/drawing/2014/main" id="{5EBB156F-84B1-A1D8-0EDE-C95B5B684B1E}"/>
                </a:ext>
              </a:extLst>
            </p:cNvPr>
            <p:cNvSpPr txBox="1"/>
            <p:nvPr/>
          </p:nvSpPr>
          <p:spPr>
            <a:xfrm>
              <a:off x="649705" y="1467405"/>
              <a:ext cx="10497715" cy="400110"/>
            </a:xfrm>
            <a:prstGeom prst="rect">
              <a:avLst/>
            </a:prstGeom>
            <a:noFill/>
          </p:spPr>
          <p:txBody>
            <a:bodyPr wrap="square">
              <a:spAutoFit/>
            </a:bodyPr>
            <a:lstStyle/>
            <a:p>
              <a:pPr marR="0" lvl="0" algn="justLow" defTabSz="457200" rtl="1" eaLnBrk="1" fontAlgn="auto" latinLnBrk="0" hangingPunct="1">
                <a:lnSpc>
                  <a:spcPct val="100000"/>
                </a:lnSpc>
                <a:spcBef>
                  <a:spcPts val="0"/>
                </a:spcBef>
                <a:spcAft>
                  <a:spcPts val="0"/>
                </a:spcAft>
                <a:buClrTx/>
                <a:buSzTx/>
                <a:tabLst/>
                <a:defRPr/>
              </a:pPr>
              <a:r>
                <a:rPr kumimoji="0" lang="fa-IR" sz="1000" b="0" i="0" u="none" strike="noStrike" kern="1200" cap="none" spc="0" normalizeH="0" baseline="0" noProof="0" dirty="0">
                  <a:ln>
                    <a:noFill/>
                  </a:ln>
                  <a:solidFill>
                    <a:schemeClr val="tx1">
                      <a:lumMod val="65000"/>
                      <a:lumOff val="35000"/>
                    </a:schemeClr>
                  </a:solidFill>
                  <a:effectLst/>
                  <a:uLnTx/>
                  <a:uFillTx/>
                  <a:latin typeface="Yekan Bakh" pitchFamily="2" charset="-78"/>
                  <a:ea typeface="Yekan Bakh" pitchFamily="2" charset="-78"/>
                  <a:cs typeface="Yekan Bakh" pitchFamily="2" charset="-78"/>
                </a:rPr>
                <a:t>بخش‌بندی، گروهی از مشتریان هست که منطق خرید و رفتار یکپارچه‌ای در داخل کسب‌وکار نسبت به آن انجام می‌شود، </a:t>
              </a:r>
              <a:r>
                <a:rPr kumimoji="0" lang="fa-IR" sz="10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اگر مشتریان خاصی به صورت استراتژیک برای ما اهمیت دارند، به عنوان </a:t>
              </a:r>
              <a:r>
                <a:rPr kumimoji="0" lang="en-US" sz="10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Target Account </a:t>
              </a:r>
              <a:r>
                <a:rPr kumimoji="0" lang="fa-IR" sz="10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در اولویت بالا برای ما قرار می‌گیرند،</a:t>
              </a:r>
              <a:r>
                <a:rPr kumimoji="0" lang="fa-IR" sz="1000" b="0" i="0" u="none" strike="noStrike" kern="1200" cap="none" spc="0" normalizeH="0" baseline="0" noProof="0" dirty="0">
                  <a:ln>
                    <a:noFill/>
                  </a:ln>
                  <a:solidFill>
                    <a:schemeClr val="tx1">
                      <a:lumMod val="65000"/>
                      <a:lumOff val="35000"/>
                    </a:schemeClr>
                  </a:solidFill>
                  <a:effectLst/>
                  <a:uLnTx/>
                  <a:uFillTx/>
                  <a:latin typeface="Yekan Bakh" pitchFamily="2" charset="-78"/>
                  <a:ea typeface="Yekan Bakh" pitchFamily="2" charset="-78"/>
                  <a:cs typeface="Yekan Bakh" pitchFamily="2" charset="-78"/>
                </a:rPr>
                <a:t> ولی همچنان بخش‌های مشتریان بالقوه ما را تفکیک نمی‌سازد . </a:t>
              </a:r>
            </a:p>
          </p:txBody>
        </p:sp>
      </p:grpSp>
      <p:grpSp>
        <p:nvGrpSpPr>
          <p:cNvPr id="24" name="Group 23">
            <a:extLst>
              <a:ext uri="{FF2B5EF4-FFF2-40B4-BE49-F238E27FC236}">
                <a16:creationId xmlns:a16="http://schemas.microsoft.com/office/drawing/2014/main" id="{64AEA756-40CD-D0DA-C681-13D9E72652EE}"/>
              </a:ext>
            </a:extLst>
          </p:cNvPr>
          <p:cNvGrpSpPr/>
          <p:nvPr/>
        </p:nvGrpSpPr>
        <p:grpSpPr>
          <a:xfrm>
            <a:off x="533440" y="4029412"/>
            <a:ext cx="10710133" cy="889807"/>
            <a:chOff x="533440" y="1131597"/>
            <a:chExt cx="10710133" cy="889807"/>
          </a:xfrm>
        </p:grpSpPr>
        <p:sp>
          <p:nvSpPr>
            <p:cNvPr id="25" name="Rectangle: Rounded Corners 24">
              <a:extLst>
                <a:ext uri="{FF2B5EF4-FFF2-40B4-BE49-F238E27FC236}">
                  <a16:creationId xmlns:a16="http://schemas.microsoft.com/office/drawing/2014/main" id="{D19F5814-B3F7-72BC-7663-4E872C03FBC6}"/>
                </a:ext>
              </a:extLst>
            </p:cNvPr>
            <p:cNvSpPr/>
            <p:nvPr/>
          </p:nvSpPr>
          <p:spPr>
            <a:xfrm>
              <a:off x="533440" y="1282808"/>
              <a:ext cx="10710133" cy="738596"/>
            </a:xfrm>
            <a:prstGeom prst="round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6" name="Group 25">
              <a:extLst>
                <a:ext uri="{FF2B5EF4-FFF2-40B4-BE49-F238E27FC236}">
                  <a16:creationId xmlns:a16="http://schemas.microsoft.com/office/drawing/2014/main" id="{02035299-4F39-9AC2-DAC4-8B3EF64C7C68}"/>
                </a:ext>
              </a:extLst>
            </p:cNvPr>
            <p:cNvGrpSpPr/>
            <p:nvPr/>
          </p:nvGrpSpPr>
          <p:grpSpPr>
            <a:xfrm>
              <a:off x="4933627" y="1131597"/>
              <a:ext cx="6213794" cy="294140"/>
              <a:chOff x="4933627" y="1119472"/>
              <a:chExt cx="6213794" cy="294140"/>
            </a:xfrm>
          </p:grpSpPr>
          <p:sp>
            <p:nvSpPr>
              <p:cNvPr id="28" name="Rectangle: Rounded Corners 27">
                <a:extLst>
                  <a:ext uri="{FF2B5EF4-FFF2-40B4-BE49-F238E27FC236}">
                    <a16:creationId xmlns:a16="http://schemas.microsoft.com/office/drawing/2014/main" id="{548E3CE5-CBDA-B280-8D4D-B33E1B570CA4}"/>
                  </a:ext>
                </a:extLst>
              </p:cNvPr>
              <p:cNvSpPr/>
              <p:nvPr/>
            </p:nvSpPr>
            <p:spPr>
              <a:xfrm>
                <a:off x="4996456" y="1119472"/>
                <a:ext cx="6150964" cy="294140"/>
              </a:xfrm>
              <a:prstGeom prst="round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TextBox 28">
                <a:extLst>
                  <a:ext uri="{FF2B5EF4-FFF2-40B4-BE49-F238E27FC236}">
                    <a16:creationId xmlns:a16="http://schemas.microsoft.com/office/drawing/2014/main" id="{AD6EB51D-8D4B-F5C3-5252-E233F490C411}"/>
                  </a:ext>
                </a:extLst>
              </p:cNvPr>
              <p:cNvSpPr txBox="1"/>
              <p:nvPr/>
            </p:nvSpPr>
            <p:spPr>
              <a:xfrm>
                <a:off x="4933627" y="1135737"/>
                <a:ext cx="6213794" cy="261610"/>
              </a:xfrm>
              <a:prstGeom prst="rect">
                <a:avLst/>
              </a:prstGeom>
              <a:noFill/>
            </p:spPr>
            <p:txBody>
              <a:bodyPr wrap="square">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1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در این مرحله چرا بین‌المللی‌ها و اروپایی‌ها را دو سگمنت مستقل در نظر نگرفتیم؟ </a:t>
                </a:r>
              </a:p>
            </p:txBody>
          </p:sp>
        </p:grpSp>
        <p:sp>
          <p:nvSpPr>
            <p:cNvPr id="27" name="TextBox 26">
              <a:extLst>
                <a:ext uri="{FF2B5EF4-FFF2-40B4-BE49-F238E27FC236}">
                  <a16:creationId xmlns:a16="http://schemas.microsoft.com/office/drawing/2014/main" id="{863E40B2-8FD9-FD11-2A6D-0DBACBAECBF2}"/>
                </a:ext>
              </a:extLst>
            </p:cNvPr>
            <p:cNvSpPr txBox="1"/>
            <p:nvPr/>
          </p:nvSpPr>
          <p:spPr>
            <a:xfrm>
              <a:off x="649705" y="1467405"/>
              <a:ext cx="10497715" cy="400110"/>
            </a:xfrm>
            <a:prstGeom prst="rect">
              <a:avLst/>
            </a:prstGeom>
            <a:noFill/>
          </p:spPr>
          <p:txBody>
            <a:bodyPr wrap="square">
              <a:spAutoFit/>
            </a:bodyPr>
            <a:lstStyle/>
            <a:p>
              <a:pPr marR="0" lvl="0" algn="justLow" defTabSz="457200" rtl="1" eaLnBrk="1" fontAlgn="auto" latinLnBrk="0" hangingPunct="1">
                <a:lnSpc>
                  <a:spcPct val="100000"/>
                </a:lnSpc>
                <a:spcBef>
                  <a:spcPts val="0"/>
                </a:spcBef>
                <a:spcAft>
                  <a:spcPts val="0"/>
                </a:spcAft>
                <a:buClrTx/>
                <a:buSzTx/>
                <a:tabLst/>
                <a:defRPr/>
              </a:pPr>
              <a:r>
                <a:rPr kumimoji="0" lang="fa-IR" sz="1000" b="0" i="0" u="none" strike="noStrike" kern="1200" cap="none" spc="0" normalizeH="0" baseline="0" noProof="0" dirty="0">
                  <a:ln>
                    <a:noFill/>
                  </a:ln>
                  <a:solidFill>
                    <a:schemeClr val="tx1">
                      <a:lumMod val="65000"/>
                      <a:lumOff val="35000"/>
                    </a:schemeClr>
                  </a:solidFill>
                  <a:effectLst/>
                  <a:uLnTx/>
                  <a:uFillTx/>
                  <a:latin typeface="Yekan Bakh" pitchFamily="2" charset="-78"/>
                  <a:ea typeface="Yekan Bakh" pitchFamily="2" charset="-78"/>
                  <a:cs typeface="Yekan Bakh" pitchFamily="2" charset="-78"/>
                </a:rPr>
                <a:t>بدلیل اینکه تفاوت آن‌ها عمدتاً در شدت و سرعت اجرای فرآیند است، نه در ماهیت مسئله‌ای که برای آن به سیمرغ مراجعه می‌کنند. </a:t>
              </a:r>
              <a:r>
                <a:rPr kumimoji="0" lang="fa-IR" sz="10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این تفاوت، در مراحل بعدی در بخش فعالیت‌های کلیدی (</a:t>
              </a:r>
              <a:r>
                <a:rPr kumimoji="0" lang="en-US" sz="10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Key Activities) </a:t>
              </a:r>
              <a:r>
                <a:rPr kumimoji="0" lang="fa-IR" sz="10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و مدل عملیاتی (</a:t>
              </a:r>
              <a:r>
                <a:rPr kumimoji="0" lang="en-US" sz="10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Operating Model</a:t>
              </a:r>
              <a:r>
                <a:rPr kumimoji="0" lang="fa-IR" sz="10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 منعکس می‌شود</a:t>
              </a:r>
              <a:r>
                <a:rPr kumimoji="0" lang="fa-IR" sz="1000" b="0" i="0" u="none" strike="noStrike" kern="1200" cap="none" spc="0" normalizeH="0" baseline="0" noProof="0" dirty="0">
                  <a:ln>
                    <a:noFill/>
                  </a:ln>
                  <a:solidFill>
                    <a:schemeClr val="tx1">
                      <a:lumMod val="65000"/>
                      <a:lumOff val="35000"/>
                    </a:schemeClr>
                  </a:solidFill>
                  <a:effectLst/>
                  <a:uLnTx/>
                  <a:uFillTx/>
                  <a:latin typeface="Yekan Bakh" pitchFamily="2" charset="-78"/>
                  <a:ea typeface="Yekan Bakh" pitchFamily="2" charset="-78"/>
                  <a:cs typeface="Yekan Bakh" pitchFamily="2" charset="-78"/>
                </a:rPr>
                <a:t>، نه در بخش‌بندی مشتریان. </a:t>
              </a:r>
            </a:p>
          </p:txBody>
        </p:sp>
      </p:grpSp>
      <p:grpSp>
        <p:nvGrpSpPr>
          <p:cNvPr id="30" name="Group 29">
            <a:extLst>
              <a:ext uri="{FF2B5EF4-FFF2-40B4-BE49-F238E27FC236}">
                <a16:creationId xmlns:a16="http://schemas.microsoft.com/office/drawing/2014/main" id="{C70C6275-1360-EB7A-3D46-22670319DE21}"/>
              </a:ext>
            </a:extLst>
          </p:cNvPr>
          <p:cNvGrpSpPr/>
          <p:nvPr/>
        </p:nvGrpSpPr>
        <p:grpSpPr>
          <a:xfrm>
            <a:off x="533440" y="4995351"/>
            <a:ext cx="10710133" cy="889807"/>
            <a:chOff x="533440" y="1131597"/>
            <a:chExt cx="10710133" cy="889807"/>
          </a:xfrm>
        </p:grpSpPr>
        <p:sp>
          <p:nvSpPr>
            <p:cNvPr id="31" name="Rectangle: Rounded Corners 30">
              <a:extLst>
                <a:ext uri="{FF2B5EF4-FFF2-40B4-BE49-F238E27FC236}">
                  <a16:creationId xmlns:a16="http://schemas.microsoft.com/office/drawing/2014/main" id="{709BD5DD-AB55-E918-AB4A-74680BE0DC59}"/>
                </a:ext>
              </a:extLst>
            </p:cNvPr>
            <p:cNvSpPr/>
            <p:nvPr/>
          </p:nvSpPr>
          <p:spPr>
            <a:xfrm>
              <a:off x="533440" y="1282808"/>
              <a:ext cx="10710133" cy="738596"/>
            </a:xfrm>
            <a:prstGeom prst="round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2" name="Group 31">
              <a:extLst>
                <a:ext uri="{FF2B5EF4-FFF2-40B4-BE49-F238E27FC236}">
                  <a16:creationId xmlns:a16="http://schemas.microsoft.com/office/drawing/2014/main" id="{E2DFB3EA-A840-D496-CE9F-008FFE41A6C4}"/>
                </a:ext>
              </a:extLst>
            </p:cNvPr>
            <p:cNvGrpSpPr/>
            <p:nvPr/>
          </p:nvGrpSpPr>
          <p:grpSpPr>
            <a:xfrm>
              <a:off x="4933627" y="1131597"/>
              <a:ext cx="6213794" cy="294140"/>
              <a:chOff x="4933627" y="1119472"/>
              <a:chExt cx="6213794" cy="294140"/>
            </a:xfrm>
          </p:grpSpPr>
          <p:sp>
            <p:nvSpPr>
              <p:cNvPr id="34" name="Rectangle: Rounded Corners 33">
                <a:extLst>
                  <a:ext uri="{FF2B5EF4-FFF2-40B4-BE49-F238E27FC236}">
                    <a16:creationId xmlns:a16="http://schemas.microsoft.com/office/drawing/2014/main" id="{C4953CDE-4B56-4B54-D33E-F3CEAF7CC5B5}"/>
                  </a:ext>
                </a:extLst>
              </p:cNvPr>
              <p:cNvSpPr/>
              <p:nvPr/>
            </p:nvSpPr>
            <p:spPr>
              <a:xfrm>
                <a:off x="4996456" y="1119472"/>
                <a:ext cx="6150964" cy="294140"/>
              </a:xfrm>
              <a:prstGeom prst="round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TextBox 34">
                <a:extLst>
                  <a:ext uri="{FF2B5EF4-FFF2-40B4-BE49-F238E27FC236}">
                    <a16:creationId xmlns:a16="http://schemas.microsoft.com/office/drawing/2014/main" id="{B41CD1B8-3AAD-4DAC-DC77-6C990FA16A6F}"/>
                  </a:ext>
                </a:extLst>
              </p:cNvPr>
              <p:cNvSpPr txBox="1"/>
              <p:nvPr/>
            </p:nvSpPr>
            <p:spPr>
              <a:xfrm>
                <a:off x="4933627" y="1135737"/>
                <a:ext cx="6213794" cy="261610"/>
              </a:xfrm>
              <a:prstGeom prst="rect">
                <a:avLst/>
              </a:prstGeom>
              <a:noFill/>
            </p:spPr>
            <p:txBody>
              <a:bodyPr wrap="square">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1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آیا این بخش‌بندی مشتریان قطعی و نهایی است؟ </a:t>
                </a:r>
              </a:p>
            </p:txBody>
          </p:sp>
        </p:grpSp>
        <p:sp>
          <p:nvSpPr>
            <p:cNvPr id="33" name="TextBox 32">
              <a:extLst>
                <a:ext uri="{FF2B5EF4-FFF2-40B4-BE49-F238E27FC236}">
                  <a16:creationId xmlns:a16="http://schemas.microsoft.com/office/drawing/2014/main" id="{7A024CFD-2455-E99F-3D1C-5361775E73D9}"/>
                </a:ext>
              </a:extLst>
            </p:cNvPr>
            <p:cNvSpPr txBox="1"/>
            <p:nvPr/>
          </p:nvSpPr>
          <p:spPr>
            <a:xfrm>
              <a:off x="649705" y="1467405"/>
              <a:ext cx="10497715" cy="553998"/>
            </a:xfrm>
            <a:prstGeom prst="rect">
              <a:avLst/>
            </a:prstGeom>
            <a:noFill/>
          </p:spPr>
          <p:txBody>
            <a:bodyPr wrap="square">
              <a:spAutoFit/>
            </a:bodyPr>
            <a:lstStyle/>
            <a:p>
              <a:pPr marR="0" lvl="0" algn="justLow" defTabSz="457200" rtl="1" eaLnBrk="1" fontAlgn="auto" latinLnBrk="0" hangingPunct="1">
                <a:lnSpc>
                  <a:spcPct val="100000"/>
                </a:lnSpc>
                <a:spcBef>
                  <a:spcPts val="0"/>
                </a:spcBef>
                <a:spcAft>
                  <a:spcPts val="0"/>
                </a:spcAft>
                <a:buClrTx/>
                <a:buSzTx/>
                <a:tabLst/>
                <a:defRPr/>
              </a:pPr>
              <a:r>
                <a:rPr kumimoji="0" lang="fa-IR" sz="1000" b="0" i="0" u="none" strike="noStrike" kern="1200" cap="none" spc="0" normalizeH="0" baseline="0" noProof="0" dirty="0">
                  <a:ln>
                    <a:noFill/>
                  </a:ln>
                  <a:solidFill>
                    <a:schemeClr val="tx1">
                      <a:lumMod val="65000"/>
                      <a:lumOff val="35000"/>
                    </a:schemeClr>
                  </a:solidFill>
                  <a:effectLst/>
                  <a:uLnTx/>
                  <a:uFillTx/>
                  <a:latin typeface="Yekan Bakh" pitchFamily="2" charset="-78"/>
                  <a:ea typeface="Yekan Bakh" pitchFamily="2" charset="-78"/>
                  <a:cs typeface="Yekan Bakh" pitchFamily="2" charset="-78"/>
                </a:rPr>
                <a:t>خیر، </a:t>
              </a:r>
              <a:r>
                <a:rPr kumimoji="0" lang="fa-IR" sz="10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در مدل کسب‌وکار، با تکمیل هر بعد، اثرات آن بر بعدهای تکمیل‌شده قبلی سنجیده و مورد بازنگری قرار می‌گیرد</a:t>
              </a:r>
              <a:r>
                <a:rPr kumimoji="0" lang="fa-IR" sz="1000" b="0" i="0" u="none" strike="noStrike" kern="1200" cap="none" spc="0" normalizeH="0" baseline="0" noProof="0" dirty="0">
                  <a:ln>
                    <a:noFill/>
                  </a:ln>
                  <a:solidFill>
                    <a:schemeClr val="tx1">
                      <a:lumMod val="65000"/>
                      <a:lumOff val="35000"/>
                    </a:schemeClr>
                  </a:solidFill>
                  <a:effectLst/>
                  <a:uLnTx/>
                  <a:uFillTx/>
                  <a:latin typeface="Yekan Bakh" pitchFamily="2" charset="-78"/>
                  <a:ea typeface="Yekan Bakh" pitchFamily="2" charset="-78"/>
                  <a:cs typeface="Yekan Bakh" pitchFamily="2" charset="-78"/>
                </a:rPr>
                <a:t>. بنابراین اگر به عنوان نمونه، در بخش فعالیت‌های کلیدی، یک دیتای جدید و قابل استناد بدست آمد، برای بخش‌بندی مشتریان </a:t>
              </a:r>
              <a:r>
                <a:rPr kumimoji="0" lang="en-US" sz="1000" b="0" i="0" u="none" strike="noStrike" kern="1200" cap="none" spc="0" normalizeH="0" baseline="0" noProof="0" dirty="0">
                  <a:ln>
                    <a:noFill/>
                  </a:ln>
                  <a:solidFill>
                    <a:schemeClr val="tx1">
                      <a:lumMod val="65000"/>
                      <a:lumOff val="35000"/>
                    </a:schemeClr>
                  </a:solidFill>
                  <a:effectLst/>
                  <a:uLnTx/>
                  <a:uFillTx/>
                  <a:latin typeface="Yekan Bakh" pitchFamily="2" charset="-78"/>
                  <a:ea typeface="Yekan Bakh" pitchFamily="2" charset="-78"/>
                  <a:cs typeface="Yekan Bakh" pitchFamily="2" charset="-78"/>
                </a:rPr>
                <a:t>Sub-</a:t>
              </a:r>
              <a:r>
                <a:rPr kumimoji="0" lang="en-US" sz="1000" b="0" i="0" u="none" strike="noStrike" kern="1200" cap="none" spc="0" normalizeH="0" baseline="0" noProof="0" dirty="0" err="1">
                  <a:ln>
                    <a:noFill/>
                  </a:ln>
                  <a:solidFill>
                    <a:schemeClr val="tx1">
                      <a:lumMod val="65000"/>
                      <a:lumOff val="35000"/>
                    </a:schemeClr>
                  </a:solidFill>
                  <a:effectLst/>
                  <a:uLnTx/>
                  <a:uFillTx/>
                  <a:latin typeface="Yekan Bakh" pitchFamily="2" charset="-78"/>
                  <a:ea typeface="Yekan Bakh" pitchFamily="2" charset="-78"/>
                  <a:cs typeface="Yekan Bakh" pitchFamily="2" charset="-78"/>
                </a:rPr>
                <a:t>SegmenT</a:t>
              </a:r>
              <a:r>
                <a:rPr kumimoji="0" lang="fa-IR" sz="1000" b="0" i="0" u="none" strike="noStrike" kern="1200" cap="none" spc="0" normalizeH="0" baseline="0" noProof="0" dirty="0">
                  <a:ln>
                    <a:noFill/>
                  </a:ln>
                  <a:solidFill>
                    <a:schemeClr val="tx1">
                      <a:lumMod val="65000"/>
                      <a:lumOff val="35000"/>
                    </a:schemeClr>
                  </a:solidFill>
                  <a:effectLst/>
                  <a:uLnTx/>
                  <a:uFillTx/>
                  <a:latin typeface="Yekan Bakh" pitchFamily="2" charset="-78"/>
                  <a:ea typeface="Yekan Bakh" pitchFamily="2" charset="-78"/>
                  <a:cs typeface="Yekan Bakh" pitchFamily="2" charset="-78"/>
                </a:rPr>
                <a:t> تعریف خواهد شد، در صورتیکه عنصر جدید، ابعاد بیشتری از مدل را دچار تغییرات نماید، خود بخش کلی </a:t>
              </a:r>
              <a:r>
                <a:rPr kumimoji="0" lang="en-US" sz="1000" b="0" i="0" u="none" strike="noStrike" kern="1200" cap="none" spc="0" normalizeH="0" baseline="0" noProof="0" dirty="0">
                  <a:ln>
                    <a:noFill/>
                  </a:ln>
                  <a:solidFill>
                    <a:schemeClr val="tx1">
                      <a:lumMod val="65000"/>
                      <a:lumOff val="35000"/>
                    </a:schemeClr>
                  </a:solidFill>
                  <a:effectLst/>
                  <a:uLnTx/>
                  <a:uFillTx/>
                  <a:latin typeface="Yekan Bakh" pitchFamily="2" charset="-78"/>
                  <a:ea typeface="Yekan Bakh" pitchFamily="2" charset="-78"/>
                  <a:cs typeface="Yekan Bakh" pitchFamily="2" charset="-78"/>
                </a:rPr>
                <a:t>Customer Segmentation</a:t>
              </a:r>
              <a:r>
                <a:rPr kumimoji="0" lang="fa-IR" sz="1000" b="0" i="0" u="none" strike="noStrike" kern="1200" cap="none" spc="0" normalizeH="0" baseline="0" noProof="0" dirty="0">
                  <a:ln>
                    <a:noFill/>
                  </a:ln>
                  <a:solidFill>
                    <a:schemeClr val="tx1">
                      <a:lumMod val="65000"/>
                      <a:lumOff val="35000"/>
                    </a:schemeClr>
                  </a:solidFill>
                  <a:effectLst/>
                  <a:uLnTx/>
                  <a:uFillTx/>
                  <a:latin typeface="Yekan Bakh" pitchFamily="2" charset="-78"/>
                  <a:ea typeface="Yekan Bakh" pitchFamily="2" charset="-78"/>
                  <a:cs typeface="Yekan Bakh" pitchFamily="2" charset="-78"/>
                </a:rPr>
                <a:t> دچار بازنگری می‌شود. </a:t>
              </a:r>
            </a:p>
          </p:txBody>
        </p:sp>
      </p:grpSp>
    </p:spTree>
    <p:extLst>
      <p:ext uri="{BB962C8B-B14F-4D97-AF65-F5344CB8AC3E}">
        <p14:creationId xmlns:p14="http://schemas.microsoft.com/office/powerpoint/2010/main" val="378232369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A4019DA-7168-7481-6AAB-573AB8C52F1C}"/>
              </a:ext>
            </a:extLst>
          </p:cNvPr>
          <p:cNvSpPr>
            <a:spLocks noGrp="1"/>
          </p:cNvSpPr>
          <p:nvPr>
            <p:ph type="body" sz="quarter" idx="10"/>
          </p:nvPr>
        </p:nvSpPr>
        <p:spPr/>
        <p:txBody>
          <a:bodyPr/>
          <a:lstStyle/>
          <a:p>
            <a:endParaRPr lang="fa-IR" dirty="0"/>
          </a:p>
        </p:txBody>
      </p:sp>
      <p:sp>
        <p:nvSpPr>
          <p:cNvPr id="3" name="Text Placeholder 2">
            <a:extLst>
              <a:ext uri="{FF2B5EF4-FFF2-40B4-BE49-F238E27FC236}">
                <a16:creationId xmlns:a16="http://schemas.microsoft.com/office/drawing/2014/main" id="{47BA1B62-5050-DB4B-15F6-3781B1711585}"/>
              </a:ext>
            </a:extLst>
          </p:cNvPr>
          <p:cNvSpPr>
            <a:spLocks noGrp="1"/>
          </p:cNvSpPr>
          <p:nvPr>
            <p:ph type="body" sz="quarter" idx="12"/>
          </p:nvPr>
        </p:nvSpPr>
        <p:spPr/>
        <p:txBody>
          <a:bodyPr/>
          <a:lstStyle/>
          <a:p>
            <a:r>
              <a:rPr lang="fa-IR" dirty="0"/>
              <a:t>اقدامات تکمیلی قابل‌انجام در بخش‌بندی مشتریان </a:t>
            </a:r>
          </a:p>
        </p:txBody>
      </p:sp>
      <p:sp>
        <p:nvSpPr>
          <p:cNvPr id="6" name="Rectangle: Rounded Corners 5">
            <a:extLst>
              <a:ext uri="{FF2B5EF4-FFF2-40B4-BE49-F238E27FC236}">
                <a16:creationId xmlns:a16="http://schemas.microsoft.com/office/drawing/2014/main" id="{97DEBC47-C80A-8AC0-0788-1EF55436A2B5}"/>
              </a:ext>
            </a:extLst>
          </p:cNvPr>
          <p:cNvSpPr/>
          <p:nvPr/>
        </p:nvSpPr>
        <p:spPr>
          <a:xfrm>
            <a:off x="555630" y="1401419"/>
            <a:ext cx="10710132" cy="570189"/>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a:extLst>
              <a:ext uri="{FF2B5EF4-FFF2-40B4-BE49-F238E27FC236}">
                <a16:creationId xmlns:a16="http://schemas.microsoft.com/office/drawing/2014/main" id="{585AA038-8A3C-3289-6174-B01C6C498005}"/>
              </a:ext>
            </a:extLst>
          </p:cNvPr>
          <p:cNvSpPr txBox="1"/>
          <p:nvPr/>
        </p:nvSpPr>
        <p:spPr>
          <a:xfrm>
            <a:off x="555628" y="1471070"/>
            <a:ext cx="10710133" cy="430887"/>
          </a:xfrm>
          <a:prstGeom prst="rect">
            <a:avLst/>
          </a:prstGeom>
          <a:noFill/>
        </p:spPr>
        <p:txBody>
          <a:bodyPr wrap="square">
            <a:spAutoFit/>
          </a:bodyPr>
          <a:lstStyle/>
          <a:p>
            <a:pPr algn="justLow" rtl="1"/>
            <a:r>
              <a:rPr lang="fa-IR" sz="1100" dirty="0">
                <a:solidFill>
                  <a:schemeClr val="tx1">
                    <a:lumMod val="75000"/>
                    <a:lumOff val="25000"/>
                  </a:schemeClr>
                </a:solidFill>
                <a:latin typeface="Yekan Bakh" pitchFamily="2" charset="-78"/>
                <a:ea typeface="Yekan Bakh" pitchFamily="2" charset="-78"/>
                <a:cs typeface="Yekan Bakh" pitchFamily="2" charset="-78"/>
              </a:rPr>
              <a:t>امکان اجرای هر یک از موارد زیر به صورت مستقل برای هر یک از سه خط کسب‌وکار موجود است اما رویکرد اتخاذشده در سند روبرو، جلوگیری از موازی‌کاری و سرعت عمل بیشتر است که به این جهت تمام تحلیل‌ها به‌صورت یکپارچه و در سطح کل اکوسیستم انجام شده‌اند</a:t>
            </a:r>
          </a:p>
        </p:txBody>
      </p:sp>
      <p:sp>
        <p:nvSpPr>
          <p:cNvPr id="9" name="Rectangle: Rounded Corners 8">
            <a:extLst>
              <a:ext uri="{FF2B5EF4-FFF2-40B4-BE49-F238E27FC236}">
                <a16:creationId xmlns:a16="http://schemas.microsoft.com/office/drawing/2014/main" id="{E21DDC05-BD0C-A82B-508A-43593AF42069}"/>
              </a:ext>
            </a:extLst>
          </p:cNvPr>
          <p:cNvSpPr/>
          <p:nvPr/>
        </p:nvSpPr>
        <p:spPr>
          <a:xfrm>
            <a:off x="7774685" y="2326261"/>
            <a:ext cx="3491077" cy="676384"/>
          </a:xfrm>
          <a:prstGeom prst="roundRect">
            <a:avLst>
              <a:gd name="adj" fmla="val 5403"/>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Rounded Corners 11">
            <a:extLst>
              <a:ext uri="{FF2B5EF4-FFF2-40B4-BE49-F238E27FC236}">
                <a16:creationId xmlns:a16="http://schemas.microsoft.com/office/drawing/2014/main" id="{BFD5CB44-1613-E9CB-88FB-EC67A253F8D4}"/>
              </a:ext>
            </a:extLst>
          </p:cNvPr>
          <p:cNvSpPr/>
          <p:nvPr/>
        </p:nvSpPr>
        <p:spPr>
          <a:xfrm>
            <a:off x="7873579" y="2175049"/>
            <a:ext cx="3293288" cy="294140"/>
          </a:xfrm>
          <a:prstGeom prst="round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Box 12">
            <a:extLst>
              <a:ext uri="{FF2B5EF4-FFF2-40B4-BE49-F238E27FC236}">
                <a16:creationId xmlns:a16="http://schemas.microsoft.com/office/drawing/2014/main" id="{FE57E2E9-B1BE-AB81-E087-423B5F1E41BF}"/>
              </a:ext>
            </a:extLst>
          </p:cNvPr>
          <p:cNvSpPr txBox="1"/>
          <p:nvPr/>
        </p:nvSpPr>
        <p:spPr>
          <a:xfrm>
            <a:off x="7830704" y="2213058"/>
            <a:ext cx="3379039" cy="230832"/>
          </a:xfrm>
          <a:prstGeom prst="rect">
            <a:avLst/>
          </a:prstGeom>
          <a:noFill/>
        </p:spPr>
        <p:txBody>
          <a:bodyPr wrap="square"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9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مصاحبه شناخت مشتری</a:t>
            </a:r>
          </a:p>
        </p:txBody>
      </p:sp>
      <p:sp>
        <p:nvSpPr>
          <p:cNvPr id="11" name="TextBox 10">
            <a:extLst>
              <a:ext uri="{FF2B5EF4-FFF2-40B4-BE49-F238E27FC236}">
                <a16:creationId xmlns:a16="http://schemas.microsoft.com/office/drawing/2014/main" id="{91738DFF-1C54-72F8-83B3-011626806978}"/>
              </a:ext>
            </a:extLst>
          </p:cNvPr>
          <p:cNvSpPr txBox="1"/>
          <p:nvPr/>
        </p:nvSpPr>
        <p:spPr>
          <a:xfrm>
            <a:off x="7830704" y="2494813"/>
            <a:ext cx="3379039" cy="507831"/>
          </a:xfrm>
          <a:prstGeom prst="rect">
            <a:avLst/>
          </a:prstGeom>
          <a:noFill/>
        </p:spPr>
        <p:txBody>
          <a:bodyPr wrap="square">
            <a:spAutoFit/>
          </a:bodyPr>
          <a:lstStyle/>
          <a:p>
            <a:pPr marR="0" lvl="0" algn="justLow" defTabSz="457200" rtl="1" eaLnBrk="1" fontAlgn="auto" latinLnBrk="0" hangingPunct="1">
              <a:lnSpc>
                <a:spcPct val="100000"/>
              </a:lnSpc>
              <a:spcBef>
                <a:spcPts val="0"/>
              </a:spcBef>
              <a:spcAft>
                <a:spcPts val="0"/>
              </a:spcAft>
              <a:buClrTx/>
              <a:buSzTx/>
              <a:tabLst/>
              <a:defRPr/>
            </a:pPr>
            <a:r>
              <a:rPr kumimoji="0" lang="fa-IR" sz="900" b="0" i="0" u="none" strike="noStrike" kern="1200" cap="none" spc="0" normalizeH="0" baseline="0" noProof="0" dirty="0">
                <a:ln>
                  <a:noFill/>
                </a:ln>
                <a:solidFill>
                  <a:schemeClr val="tx1">
                    <a:lumMod val="65000"/>
                    <a:lumOff val="35000"/>
                  </a:schemeClr>
                </a:solidFill>
                <a:effectLst/>
                <a:uLnTx/>
                <a:uFillTx/>
                <a:latin typeface="Yekan Bakh" pitchFamily="2" charset="-78"/>
                <a:ea typeface="Yekan Bakh" pitchFamily="2" charset="-78"/>
                <a:cs typeface="Yekan Bakh" pitchFamily="2" charset="-78"/>
              </a:rPr>
              <a:t>انجام مصاحبه با شرکت‌ها و کسب‌وکارهای دارای تجربه یا هدف تعاملات بین‌المللی (به‌ویژه با بازار بین‌المللی) به منظور اعتبارسنجی فرضیات و تکمیل یافته‌های حاصل از تحقیقات ثانویه</a:t>
            </a:r>
          </a:p>
        </p:txBody>
      </p:sp>
      <p:sp>
        <p:nvSpPr>
          <p:cNvPr id="27" name="Rectangle: Rounded Corners 26">
            <a:extLst>
              <a:ext uri="{FF2B5EF4-FFF2-40B4-BE49-F238E27FC236}">
                <a16:creationId xmlns:a16="http://schemas.microsoft.com/office/drawing/2014/main" id="{315A45BB-7BFE-C1E0-5010-338FAF55EE7C}"/>
              </a:ext>
            </a:extLst>
          </p:cNvPr>
          <p:cNvSpPr/>
          <p:nvPr/>
        </p:nvSpPr>
        <p:spPr>
          <a:xfrm>
            <a:off x="4165156" y="2326261"/>
            <a:ext cx="3491077" cy="676384"/>
          </a:xfrm>
          <a:prstGeom prst="roundRect">
            <a:avLst>
              <a:gd name="adj" fmla="val 5403"/>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Rectangle: Rounded Corners 27">
            <a:extLst>
              <a:ext uri="{FF2B5EF4-FFF2-40B4-BE49-F238E27FC236}">
                <a16:creationId xmlns:a16="http://schemas.microsoft.com/office/drawing/2014/main" id="{ACD27F64-590D-8ACB-51F6-EC1459FDDE56}"/>
              </a:ext>
            </a:extLst>
          </p:cNvPr>
          <p:cNvSpPr/>
          <p:nvPr/>
        </p:nvSpPr>
        <p:spPr>
          <a:xfrm>
            <a:off x="4264050" y="2175049"/>
            <a:ext cx="3293288" cy="294140"/>
          </a:xfrm>
          <a:prstGeom prst="round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TextBox 28">
            <a:extLst>
              <a:ext uri="{FF2B5EF4-FFF2-40B4-BE49-F238E27FC236}">
                <a16:creationId xmlns:a16="http://schemas.microsoft.com/office/drawing/2014/main" id="{86C2EA57-5F54-228D-0F08-84F22CBC95D2}"/>
              </a:ext>
            </a:extLst>
          </p:cNvPr>
          <p:cNvSpPr txBox="1"/>
          <p:nvPr/>
        </p:nvSpPr>
        <p:spPr>
          <a:xfrm>
            <a:off x="4221175" y="2213058"/>
            <a:ext cx="3379039" cy="230832"/>
          </a:xfrm>
          <a:prstGeom prst="rect">
            <a:avLst/>
          </a:prstGeom>
          <a:noFill/>
        </p:spPr>
        <p:txBody>
          <a:bodyPr wrap="square"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9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تحلیل تمایل به پرداخت</a:t>
            </a:r>
          </a:p>
        </p:txBody>
      </p:sp>
      <p:sp>
        <p:nvSpPr>
          <p:cNvPr id="30" name="TextBox 29">
            <a:extLst>
              <a:ext uri="{FF2B5EF4-FFF2-40B4-BE49-F238E27FC236}">
                <a16:creationId xmlns:a16="http://schemas.microsoft.com/office/drawing/2014/main" id="{1A70725B-2859-E4A3-641A-4AD71D212D9B}"/>
              </a:ext>
            </a:extLst>
          </p:cNvPr>
          <p:cNvSpPr txBox="1"/>
          <p:nvPr/>
        </p:nvSpPr>
        <p:spPr>
          <a:xfrm>
            <a:off x="4221175" y="2494813"/>
            <a:ext cx="3379039" cy="507831"/>
          </a:xfrm>
          <a:prstGeom prst="rect">
            <a:avLst/>
          </a:prstGeom>
          <a:noFill/>
        </p:spPr>
        <p:txBody>
          <a:bodyPr wrap="square">
            <a:spAutoFit/>
          </a:bodyPr>
          <a:lstStyle/>
          <a:p>
            <a:pPr marR="0" lvl="0" algn="justLow" defTabSz="457200" rtl="1" eaLnBrk="1" fontAlgn="auto" latinLnBrk="0" hangingPunct="1">
              <a:lnSpc>
                <a:spcPct val="100000"/>
              </a:lnSpc>
              <a:spcBef>
                <a:spcPts val="0"/>
              </a:spcBef>
              <a:spcAft>
                <a:spcPts val="0"/>
              </a:spcAft>
              <a:buClrTx/>
              <a:buSzTx/>
              <a:tabLst/>
              <a:defRPr/>
            </a:pPr>
            <a:r>
              <a:rPr kumimoji="0" lang="fa-IR" sz="900" b="0" i="0" u="none" strike="noStrike" kern="1200" cap="none" spc="0" normalizeH="0" baseline="0" noProof="0" dirty="0">
                <a:ln>
                  <a:noFill/>
                </a:ln>
                <a:solidFill>
                  <a:schemeClr val="tx1">
                    <a:lumMod val="65000"/>
                    <a:lumOff val="35000"/>
                  </a:schemeClr>
                </a:solidFill>
                <a:effectLst/>
                <a:uLnTx/>
                <a:uFillTx/>
                <a:latin typeface="Yekan Bakh" pitchFamily="2" charset="-78"/>
                <a:ea typeface="Yekan Bakh" pitchFamily="2" charset="-78"/>
                <a:cs typeface="Yekan Bakh" pitchFamily="2" charset="-78"/>
              </a:rPr>
              <a:t>ارزیابی میزان تمایل هر یک از بخش‌های مشتریان به استفاده از خدمات سیمرغ و پرداخت هزینه‌های مرتبط، به‌تفکیک خدمات و دسته‌بندی‌ها</a:t>
            </a:r>
          </a:p>
        </p:txBody>
      </p:sp>
      <p:sp>
        <p:nvSpPr>
          <p:cNvPr id="32" name="Rectangle: Rounded Corners 31">
            <a:extLst>
              <a:ext uri="{FF2B5EF4-FFF2-40B4-BE49-F238E27FC236}">
                <a16:creationId xmlns:a16="http://schemas.microsoft.com/office/drawing/2014/main" id="{9866495C-F36E-600F-DB10-35FCF3738679}"/>
              </a:ext>
            </a:extLst>
          </p:cNvPr>
          <p:cNvSpPr/>
          <p:nvPr/>
        </p:nvSpPr>
        <p:spPr>
          <a:xfrm>
            <a:off x="555628" y="2326261"/>
            <a:ext cx="3491077" cy="676384"/>
          </a:xfrm>
          <a:prstGeom prst="roundRect">
            <a:avLst>
              <a:gd name="adj" fmla="val 5403"/>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Rectangle: Rounded Corners 32">
            <a:extLst>
              <a:ext uri="{FF2B5EF4-FFF2-40B4-BE49-F238E27FC236}">
                <a16:creationId xmlns:a16="http://schemas.microsoft.com/office/drawing/2014/main" id="{7D7670B1-4130-B301-B8E8-90F016156F75}"/>
              </a:ext>
            </a:extLst>
          </p:cNvPr>
          <p:cNvSpPr/>
          <p:nvPr/>
        </p:nvSpPr>
        <p:spPr>
          <a:xfrm>
            <a:off x="654522" y="2175049"/>
            <a:ext cx="3293288" cy="294140"/>
          </a:xfrm>
          <a:prstGeom prst="round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TextBox 33">
            <a:extLst>
              <a:ext uri="{FF2B5EF4-FFF2-40B4-BE49-F238E27FC236}">
                <a16:creationId xmlns:a16="http://schemas.microsoft.com/office/drawing/2014/main" id="{A3855EE1-51F0-775F-702D-796598D04FC8}"/>
              </a:ext>
            </a:extLst>
          </p:cNvPr>
          <p:cNvSpPr txBox="1"/>
          <p:nvPr/>
        </p:nvSpPr>
        <p:spPr>
          <a:xfrm>
            <a:off x="611647" y="2213058"/>
            <a:ext cx="3379039" cy="230832"/>
          </a:xfrm>
          <a:prstGeom prst="rect">
            <a:avLst/>
          </a:prstGeom>
          <a:noFill/>
        </p:spPr>
        <p:txBody>
          <a:bodyPr wrap="square"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9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تدوین استاندارد قابلیت انجام معامله</a:t>
            </a:r>
          </a:p>
        </p:txBody>
      </p:sp>
      <p:sp>
        <p:nvSpPr>
          <p:cNvPr id="35" name="TextBox 34">
            <a:extLst>
              <a:ext uri="{FF2B5EF4-FFF2-40B4-BE49-F238E27FC236}">
                <a16:creationId xmlns:a16="http://schemas.microsoft.com/office/drawing/2014/main" id="{C0D540F5-7BE5-D225-2CF4-0B8664D44EA1}"/>
              </a:ext>
            </a:extLst>
          </p:cNvPr>
          <p:cNvSpPr txBox="1"/>
          <p:nvPr/>
        </p:nvSpPr>
        <p:spPr>
          <a:xfrm>
            <a:off x="611647" y="2494813"/>
            <a:ext cx="3379039" cy="369332"/>
          </a:xfrm>
          <a:prstGeom prst="rect">
            <a:avLst/>
          </a:prstGeom>
          <a:noFill/>
        </p:spPr>
        <p:txBody>
          <a:bodyPr wrap="square">
            <a:spAutoFit/>
          </a:bodyPr>
          <a:lstStyle/>
          <a:p>
            <a:pPr marR="0" lvl="0" algn="justLow" defTabSz="457200" rtl="1" eaLnBrk="1" fontAlgn="auto" latinLnBrk="0" hangingPunct="1">
              <a:lnSpc>
                <a:spcPct val="100000"/>
              </a:lnSpc>
              <a:spcBef>
                <a:spcPts val="0"/>
              </a:spcBef>
              <a:spcAft>
                <a:spcPts val="0"/>
              </a:spcAft>
              <a:buClrTx/>
              <a:buSzTx/>
              <a:tabLst/>
              <a:defRPr/>
            </a:pPr>
            <a:r>
              <a:rPr kumimoji="0" lang="fa-IR" sz="900" b="0" i="0" u="none" strike="noStrike" kern="1200" cap="none" spc="0" normalizeH="0" baseline="0" noProof="0" dirty="0">
                <a:ln>
                  <a:noFill/>
                </a:ln>
                <a:solidFill>
                  <a:schemeClr val="tx1">
                    <a:lumMod val="65000"/>
                    <a:lumOff val="35000"/>
                  </a:schemeClr>
                </a:solidFill>
                <a:effectLst/>
                <a:uLnTx/>
                <a:uFillTx/>
                <a:latin typeface="Yekan Bakh" pitchFamily="2" charset="-78"/>
                <a:ea typeface="Yekan Bakh" pitchFamily="2" charset="-78"/>
                <a:cs typeface="Yekan Bakh" pitchFamily="2" charset="-78"/>
              </a:rPr>
              <a:t>شناسایی، تعریف و وزن‌دهی شاخص‌هایی که احتمال موفقیت یک شرکت در انجام معاملات بین‌المللی را تعیین می‌کنند</a:t>
            </a:r>
          </a:p>
        </p:txBody>
      </p:sp>
      <p:sp>
        <p:nvSpPr>
          <p:cNvPr id="49" name="Rectangle: Rounded Corners 48">
            <a:extLst>
              <a:ext uri="{FF2B5EF4-FFF2-40B4-BE49-F238E27FC236}">
                <a16:creationId xmlns:a16="http://schemas.microsoft.com/office/drawing/2014/main" id="{1629A148-83CC-6110-15D9-BBFFA9E7E0BB}"/>
              </a:ext>
            </a:extLst>
          </p:cNvPr>
          <p:cNvSpPr/>
          <p:nvPr/>
        </p:nvSpPr>
        <p:spPr>
          <a:xfrm>
            <a:off x="7774685" y="3357298"/>
            <a:ext cx="3491077" cy="676384"/>
          </a:xfrm>
          <a:prstGeom prst="roundRect">
            <a:avLst>
              <a:gd name="adj" fmla="val 5403"/>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Rectangle: Rounded Corners 49">
            <a:extLst>
              <a:ext uri="{FF2B5EF4-FFF2-40B4-BE49-F238E27FC236}">
                <a16:creationId xmlns:a16="http://schemas.microsoft.com/office/drawing/2014/main" id="{8EC89679-8496-E2C5-6CDC-A0CF8C679F44}"/>
              </a:ext>
            </a:extLst>
          </p:cNvPr>
          <p:cNvSpPr/>
          <p:nvPr/>
        </p:nvSpPr>
        <p:spPr>
          <a:xfrm>
            <a:off x="7873579" y="3206086"/>
            <a:ext cx="3293288" cy="294140"/>
          </a:xfrm>
          <a:prstGeom prst="round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TextBox 50">
            <a:extLst>
              <a:ext uri="{FF2B5EF4-FFF2-40B4-BE49-F238E27FC236}">
                <a16:creationId xmlns:a16="http://schemas.microsoft.com/office/drawing/2014/main" id="{F2811906-8EFB-6CAA-25A4-4F59865DC240}"/>
              </a:ext>
            </a:extLst>
          </p:cNvPr>
          <p:cNvSpPr txBox="1"/>
          <p:nvPr/>
        </p:nvSpPr>
        <p:spPr>
          <a:xfrm>
            <a:off x="7830704" y="3244095"/>
            <a:ext cx="3379039" cy="230832"/>
          </a:xfrm>
          <a:prstGeom prst="rect">
            <a:avLst/>
          </a:prstGeom>
          <a:noFill/>
        </p:spPr>
        <p:txBody>
          <a:bodyPr wrap="square"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9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مدل ارزیابی جذابیت مشتری</a:t>
            </a:r>
          </a:p>
        </p:txBody>
      </p:sp>
      <p:sp>
        <p:nvSpPr>
          <p:cNvPr id="52" name="TextBox 51">
            <a:extLst>
              <a:ext uri="{FF2B5EF4-FFF2-40B4-BE49-F238E27FC236}">
                <a16:creationId xmlns:a16="http://schemas.microsoft.com/office/drawing/2014/main" id="{28672FB3-C05F-F6F1-A2EF-726EBCFF4CE8}"/>
              </a:ext>
            </a:extLst>
          </p:cNvPr>
          <p:cNvSpPr txBox="1"/>
          <p:nvPr/>
        </p:nvSpPr>
        <p:spPr>
          <a:xfrm>
            <a:off x="7830704" y="3525850"/>
            <a:ext cx="3379039" cy="507831"/>
          </a:xfrm>
          <a:prstGeom prst="rect">
            <a:avLst/>
          </a:prstGeom>
          <a:noFill/>
        </p:spPr>
        <p:txBody>
          <a:bodyPr wrap="square">
            <a:spAutoFit/>
          </a:bodyPr>
          <a:lstStyle/>
          <a:p>
            <a:pPr marR="0" lvl="0" algn="justLow" defTabSz="457200" rtl="1" eaLnBrk="1" fontAlgn="auto" latinLnBrk="0" hangingPunct="1">
              <a:lnSpc>
                <a:spcPct val="100000"/>
              </a:lnSpc>
              <a:spcBef>
                <a:spcPts val="0"/>
              </a:spcBef>
              <a:spcAft>
                <a:spcPts val="0"/>
              </a:spcAft>
              <a:buClrTx/>
              <a:buSzTx/>
              <a:tabLst/>
              <a:defRPr/>
            </a:pPr>
            <a:r>
              <a:rPr kumimoji="0" lang="fa-IR" sz="900" b="0" i="0" u="none" strike="noStrike" kern="1200" cap="none" spc="0" normalizeH="0" baseline="0" noProof="0" dirty="0">
                <a:ln>
                  <a:noFill/>
                </a:ln>
                <a:solidFill>
                  <a:schemeClr val="tx1">
                    <a:lumMod val="65000"/>
                    <a:lumOff val="35000"/>
                  </a:schemeClr>
                </a:solidFill>
                <a:effectLst/>
                <a:uLnTx/>
                <a:uFillTx/>
                <a:latin typeface="Yekan Bakh" pitchFamily="2" charset="-78"/>
                <a:ea typeface="Yekan Bakh" pitchFamily="2" charset="-78"/>
                <a:cs typeface="Yekan Bakh" pitchFamily="2" charset="-78"/>
              </a:rPr>
              <a:t>طراحی چارچوب برای ارزیابی اینکه کدام گروه‌های مشتری، از منظر ارزش‌آفرینی، درآمدزایی و هم‌راستایی استراتژیک، جذابیت بیشتری برای سیمرغ دارند</a:t>
            </a:r>
          </a:p>
        </p:txBody>
      </p:sp>
      <p:sp>
        <p:nvSpPr>
          <p:cNvPr id="45" name="Rectangle: Rounded Corners 44">
            <a:extLst>
              <a:ext uri="{FF2B5EF4-FFF2-40B4-BE49-F238E27FC236}">
                <a16:creationId xmlns:a16="http://schemas.microsoft.com/office/drawing/2014/main" id="{30990D83-EC42-D99A-1634-4FB4885C8FA0}"/>
              </a:ext>
            </a:extLst>
          </p:cNvPr>
          <p:cNvSpPr/>
          <p:nvPr/>
        </p:nvSpPr>
        <p:spPr>
          <a:xfrm>
            <a:off x="4165156" y="3357298"/>
            <a:ext cx="3491077" cy="676384"/>
          </a:xfrm>
          <a:prstGeom prst="roundRect">
            <a:avLst>
              <a:gd name="adj" fmla="val 5403"/>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6" name="Rectangle: Rounded Corners 45">
            <a:extLst>
              <a:ext uri="{FF2B5EF4-FFF2-40B4-BE49-F238E27FC236}">
                <a16:creationId xmlns:a16="http://schemas.microsoft.com/office/drawing/2014/main" id="{9D19665F-2578-21D0-6A4F-C8E594C96E58}"/>
              </a:ext>
            </a:extLst>
          </p:cNvPr>
          <p:cNvSpPr/>
          <p:nvPr/>
        </p:nvSpPr>
        <p:spPr>
          <a:xfrm>
            <a:off x="4264050" y="3206086"/>
            <a:ext cx="3293288" cy="294140"/>
          </a:xfrm>
          <a:prstGeom prst="round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 name="TextBox 46">
            <a:extLst>
              <a:ext uri="{FF2B5EF4-FFF2-40B4-BE49-F238E27FC236}">
                <a16:creationId xmlns:a16="http://schemas.microsoft.com/office/drawing/2014/main" id="{52290798-6A89-7E0E-82FB-78E8D7FC5145}"/>
              </a:ext>
            </a:extLst>
          </p:cNvPr>
          <p:cNvSpPr txBox="1"/>
          <p:nvPr/>
        </p:nvSpPr>
        <p:spPr>
          <a:xfrm>
            <a:off x="4221175" y="3244095"/>
            <a:ext cx="3379039" cy="230832"/>
          </a:xfrm>
          <a:prstGeom prst="rect">
            <a:avLst/>
          </a:prstGeom>
          <a:noFill/>
        </p:spPr>
        <p:txBody>
          <a:bodyPr wrap="square"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9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تحلیل محیط داخلی و خارجی کسب‌وکار</a:t>
            </a:r>
          </a:p>
        </p:txBody>
      </p:sp>
      <p:sp>
        <p:nvSpPr>
          <p:cNvPr id="48" name="TextBox 47">
            <a:extLst>
              <a:ext uri="{FF2B5EF4-FFF2-40B4-BE49-F238E27FC236}">
                <a16:creationId xmlns:a16="http://schemas.microsoft.com/office/drawing/2014/main" id="{3642DB4C-076F-EFAB-CB99-CA1E850F11D7}"/>
              </a:ext>
            </a:extLst>
          </p:cNvPr>
          <p:cNvSpPr txBox="1"/>
          <p:nvPr/>
        </p:nvSpPr>
        <p:spPr>
          <a:xfrm>
            <a:off x="4221175" y="3525850"/>
            <a:ext cx="3379039" cy="507831"/>
          </a:xfrm>
          <a:prstGeom prst="rect">
            <a:avLst/>
          </a:prstGeom>
          <a:noFill/>
        </p:spPr>
        <p:txBody>
          <a:bodyPr wrap="square">
            <a:spAutoFit/>
          </a:bodyPr>
          <a:lstStyle/>
          <a:p>
            <a:pPr marR="0" lvl="0" algn="justLow" defTabSz="457200" rtl="1" eaLnBrk="1" fontAlgn="auto" latinLnBrk="0" hangingPunct="1">
              <a:lnSpc>
                <a:spcPct val="100000"/>
              </a:lnSpc>
              <a:spcBef>
                <a:spcPts val="0"/>
              </a:spcBef>
              <a:spcAft>
                <a:spcPts val="0"/>
              </a:spcAft>
              <a:buClrTx/>
              <a:buSzTx/>
              <a:tabLst/>
              <a:defRPr/>
            </a:pPr>
            <a:r>
              <a:rPr kumimoji="0" lang="fa-IR" sz="900" b="0" i="0" u="none" strike="noStrike" kern="1200" cap="none" spc="0" normalizeH="0" baseline="0" noProof="0" dirty="0">
                <a:ln>
                  <a:noFill/>
                </a:ln>
                <a:solidFill>
                  <a:schemeClr val="tx1">
                    <a:lumMod val="65000"/>
                    <a:lumOff val="35000"/>
                  </a:schemeClr>
                </a:solidFill>
                <a:effectLst/>
                <a:uLnTx/>
                <a:uFillTx/>
                <a:latin typeface="Yekan Bakh" pitchFamily="2" charset="-78"/>
                <a:ea typeface="Yekan Bakh" pitchFamily="2" charset="-78"/>
                <a:cs typeface="Yekan Bakh" pitchFamily="2" charset="-78"/>
              </a:rPr>
              <a:t>تحلیل ساختاری محیط کلان، بازارهای هدف (به‌ویژه ایران و ایالات متحده)، فضای رقابتی و همچنین ارزیابی توانمندی‌ها، محدودیت‌ها و آمادگی‌های داخلی سیمرغ</a:t>
            </a:r>
          </a:p>
        </p:txBody>
      </p:sp>
      <p:sp>
        <p:nvSpPr>
          <p:cNvPr id="41" name="Rectangle: Rounded Corners 40">
            <a:extLst>
              <a:ext uri="{FF2B5EF4-FFF2-40B4-BE49-F238E27FC236}">
                <a16:creationId xmlns:a16="http://schemas.microsoft.com/office/drawing/2014/main" id="{F2BA35B3-6F88-2136-3146-E8CDE62803EC}"/>
              </a:ext>
            </a:extLst>
          </p:cNvPr>
          <p:cNvSpPr/>
          <p:nvPr/>
        </p:nvSpPr>
        <p:spPr>
          <a:xfrm>
            <a:off x="555628" y="3357298"/>
            <a:ext cx="3491077" cy="676384"/>
          </a:xfrm>
          <a:prstGeom prst="roundRect">
            <a:avLst>
              <a:gd name="adj" fmla="val 5403"/>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Rectangle: Rounded Corners 41">
            <a:extLst>
              <a:ext uri="{FF2B5EF4-FFF2-40B4-BE49-F238E27FC236}">
                <a16:creationId xmlns:a16="http://schemas.microsoft.com/office/drawing/2014/main" id="{8E3BD227-44E0-EC75-2162-4B52386F2511}"/>
              </a:ext>
            </a:extLst>
          </p:cNvPr>
          <p:cNvSpPr/>
          <p:nvPr/>
        </p:nvSpPr>
        <p:spPr>
          <a:xfrm>
            <a:off x="654522" y="3206086"/>
            <a:ext cx="3293288" cy="294140"/>
          </a:xfrm>
          <a:prstGeom prst="round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TextBox 42">
            <a:extLst>
              <a:ext uri="{FF2B5EF4-FFF2-40B4-BE49-F238E27FC236}">
                <a16:creationId xmlns:a16="http://schemas.microsoft.com/office/drawing/2014/main" id="{EF224153-BCE6-5C47-338C-29C5C8AB2D6D}"/>
              </a:ext>
            </a:extLst>
          </p:cNvPr>
          <p:cNvSpPr txBox="1"/>
          <p:nvPr/>
        </p:nvSpPr>
        <p:spPr>
          <a:xfrm>
            <a:off x="611647" y="3244095"/>
            <a:ext cx="3379039" cy="230832"/>
          </a:xfrm>
          <a:prstGeom prst="rect">
            <a:avLst/>
          </a:prstGeom>
          <a:noFill/>
        </p:spPr>
        <p:txBody>
          <a:bodyPr wrap="square"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9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تدوین چارچوب ارزیابی بلوغ سازمانی برای ورود به معاملات بین‌المللی</a:t>
            </a:r>
          </a:p>
        </p:txBody>
      </p:sp>
      <p:sp>
        <p:nvSpPr>
          <p:cNvPr id="44" name="TextBox 43">
            <a:extLst>
              <a:ext uri="{FF2B5EF4-FFF2-40B4-BE49-F238E27FC236}">
                <a16:creationId xmlns:a16="http://schemas.microsoft.com/office/drawing/2014/main" id="{8D6DE0BF-0302-4269-CDC2-D5DCD96CED2C}"/>
              </a:ext>
            </a:extLst>
          </p:cNvPr>
          <p:cNvSpPr txBox="1"/>
          <p:nvPr/>
        </p:nvSpPr>
        <p:spPr>
          <a:xfrm>
            <a:off x="611647" y="3525850"/>
            <a:ext cx="3379039" cy="507831"/>
          </a:xfrm>
          <a:prstGeom prst="rect">
            <a:avLst/>
          </a:prstGeom>
          <a:noFill/>
        </p:spPr>
        <p:txBody>
          <a:bodyPr wrap="square">
            <a:spAutoFit/>
          </a:bodyPr>
          <a:lstStyle/>
          <a:p>
            <a:pPr marR="0" lvl="0" algn="justLow" defTabSz="457200" rtl="1" eaLnBrk="1" fontAlgn="auto" latinLnBrk="0" hangingPunct="1">
              <a:lnSpc>
                <a:spcPct val="100000"/>
              </a:lnSpc>
              <a:spcBef>
                <a:spcPts val="0"/>
              </a:spcBef>
              <a:spcAft>
                <a:spcPts val="0"/>
              </a:spcAft>
              <a:buClrTx/>
              <a:buSzTx/>
              <a:tabLst/>
              <a:defRPr/>
            </a:pPr>
            <a:r>
              <a:rPr kumimoji="0" lang="fa-IR" sz="900" b="0" i="0" u="none" strike="noStrike" kern="1200" cap="none" spc="0" normalizeH="0" baseline="0" noProof="0" dirty="0">
                <a:ln>
                  <a:noFill/>
                </a:ln>
                <a:solidFill>
                  <a:schemeClr val="tx1">
                    <a:lumMod val="65000"/>
                    <a:lumOff val="35000"/>
                  </a:schemeClr>
                </a:solidFill>
                <a:effectLst/>
                <a:uLnTx/>
                <a:uFillTx/>
                <a:latin typeface="Yekan Bakh" pitchFamily="2" charset="-78"/>
                <a:ea typeface="Yekan Bakh" pitchFamily="2" charset="-78"/>
                <a:cs typeface="Yekan Bakh" pitchFamily="2" charset="-78"/>
              </a:rPr>
              <a:t>طراحی مدل ارزیابی آمادگی سازمان‌ها برای حضور در تعاملات و معاملات بین‌المللی و تعیین معیارهای لازم برای معرفی آن‌ها به شرکای خارجی</a:t>
            </a:r>
          </a:p>
        </p:txBody>
      </p:sp>
      <p:sp>
        <p:nvSpPr>
          <p:cNvPr id="65" name="Rectangle: Rounded Corners 64">
            <a:extLst>
              <a:ext uri="{FF2B5EF4-FFF2-40B4-BE49-F238E27FC236}">
                <a16:creationId xmlns:a16="http://schemas.microsoft.com/office/drawing/2014/main" id="{E73121C6-29C6-D28D-3661-46C47D98F976}"/>
              </a:ext>
            </a:extLst>
          </p:cNvPr>
          <p:cNvSpPr/>
          <p:nvPr/>
        </p:nvSpPr>
        <p:spPr>
          <a:xfrm>
            <a:off x="7774685" y="4388336"/>
            <a:ext cx="3491077" cy="676384"/>
          </a:xfrm>
          <a:prstGeom prst="roundRect">
            <a:avLst>
              <a:gd name="adj" fmla="val 5403"/>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6" name="Rectangle: Rounded Corners 65">
            <a:extLst>
              <a:ext uri="{FF2B5EF4-FFF2-40B4-BE49-F238E27FC236}">
                <a16:creationId xmlns:a16="http://schemas.microsoft.com/office/drawing/2014/main" id="{D9E8A892-2BA3-E9EC-6417-B16029F49EB5}"/>
              </a:ext>
            </a:extLst>
          </p:cNvPr>
          <p:cNvSpPr/>
          <p:nvPr/>
        </p:nvSpPr>
        <p:spPr>
          <a:xfrm>
            <a:off x="7873579" y="4237124"/>
            <a:ext cx="3293288" cy="294140"/>
          </a:xfrm>
          <a:prstGeom prst="round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7" name="TextBox 66">
            <a:extLst>
              <a:ext uri="{FF2B5EF4-FFF2-40B4-BE49-F238E27FC236}">
                <a16:creationId xmlns:a16="http://schemas.microsoft.com/office/drawing/2014/main" id="{95F2CE76-C3F3-930E-6B36-95A40BFFE208}"/>
              </a:ext>
            </a:extLst>
          </p:cNvPr>
          <p:cNvSpPr txBox="1"/>
          <p:nvPr/>
        </p:nvSpPr>
        <p:spPr>
          <a:xfrm>
            <a:off x="7830704" y="4275133"/>
            <a:ext cx="3379039" cy="230832"/>
          </a:xfrm>
          <a:prstGeom prst="rect">
            <a:avLst/>
          </a:prstGeom>
          <a:noFill/>
        </p:spPr>
        <p:txBody>
          <a:bodyPr wrap="square"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9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ایجاد پایگاه داده یکپارچه مشتریان و طرف‌های بالقوه</a:t>
            </a:r>
          </a:p>
        </p:txBody>
      </p:sp>
      <p:sp>
        <p:nvSpPr>
          <p:cNvPr id="68" name="TextBox 67">
            <a:extLst>
              <a:ext uri="{FF2B5EF4-FFF2-40B4-BE49-F238E27FC236}">
                <a16:creationId xmlns:a16="http://schemas.microsoft.com/office/drawing/2014/main" id="{F7BEA18A-FE46-F037-6980-DA9865DFD8F3}"/>
              </a:ext>
            </a:extLst>
          </p:cNvPr>
          <p:cNvSpPr txBox="1"/>
          <p:nvPr/>
        </p:nvSpPr>
        <p:spPr>
          <a:xfrm>
            <a:off x="7830704" y="4556888"/>
            <a:ext cx="3379039" cy="507831"/>
          </a:xfrm>
          <a:prstGeom prst="rect">
            <a:avLst/>
          </a:prstGeom>
          <a:noFill/>
        </p:spPr>
        <p:txBody>
          <a:bodyPr wrap="square">
            <a:spAutoFit/>
          </a:bodyPr>
          <a:lstStyle/>
          <a:p>
            <a:pPr marR="0" lvl="0" algn="justLow" defTabSz="457200" rtl="1" eaLnBrk="1" fontAlgn="auto" latinLnBrk="0" hangingPunct="1">
              <a:lnSpc>
                <a:spcPct val="100000"/>
              </a:lnSpc>
              <a:spcBef>
                <a:spcPts val="0"/>
              </a:spcBef>
              <a:spcAft>
                <a:spcPts val="0"/>
              </a:spcAft>
              <a:buClrTx/>
              <a:buSzTx/>
              <a:tabLst/>
              <a:defRPr/>
            </a:pPr>
            <a:r>
              <a:rPr kumimoji="0" lang="fa-IR" sz="900" b="0" i="0" u="none" strike="noStrike" kern="1200" cap="none" spc="0" normalizeH="0" baseline="0" noProof="0" dirty="0">
                <a:ln>
                  <a:noFill/>
                </a:ln>
                <a:solidFill>
                  <a:schemeClr val="tx1">
                    <a:lumMod val="65000"/>
                    <a:lumOff val="35000"/>
                  </a:schemeClr>
                </a:solidFill>
                <a:effectLst/>
                <a:uLnTx/>
                <a:uFillTx/>
                <a:latin typeface="Yekan Bakh" pitchFamily="2" charset="-78"/>
                <a:ea typeface="Yekan Bakh" pitchFamily="2" charset="-78"/>
                <a:cs typeface="Yekan Bakh" pitchFamily="2" charset="-78"/>
              </a:rPr>
              <a:t>توسعه بانک اطلاعاتی جامع از شرکت‌های ایرانی و خارجی، شامل پروفایل، نقاط قوت و ضعف، شکاف‌های آمادگی، میزان تناسب با خدمات سیمرغ و احتمال تبدیل به مشتری</a:t>
            </a:r>
          </a:p>
        </p:txBody>
      </p:sp>
      <p:sp>
        <p:nvSpPr>
          <p:cNvPr id="61" name="Rectangle: Rounded Corners 60">
            <a:extLst>
              <a:ext uri="{FF2B5EF4-FFF2-40B4-BE49-F238E27FC236}">
                <a16:creationId xmlns:a16="http://schemas.microsoft.com/office/drawing/2014/main" id="{BD7661BC-BEF1-5F9F-A26D-A6055B4A40BE}"/>
              </a:ext>
            </a:extLst>
          </p:cNvPr>
          <p:cNvSpPr/>
          <p:nvPr/>
        </p:nvSpPr>
        <p:spPr>
          <a:xfrm>
            <a:off x="4165156" y="4388336"/>
            <a:ext cx="3491077" cy="676384"/>
          </a:xfrm>
          <a:prstGeom prst="roundRect">
            <a:avLst>
              <a:gd name="adj" fmla="val 5403"/>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2" name="Rectangle: Rounded Corners 61">
            <a:extLst>
              <a:ext uri="{FF2B5EF4-FFF2-40B4-BE49-F238E27FC236}">
                <a16:creationId xmlns:a16="http://schemas.microsoft.com/office/drawing/2014/main" id="{4361F7BD-0031-197C-0292-E71ADFAF6CD6}"/>
              </a:ext>
            </a:extLst>
          </p:cNvPr>
          <p:cNvSpPr/>
          <p:nvPr/>
        </p:nvSpPr>
        <p:spPr>
          <a:xfrm>
            <a:off x="4264050" y="4237124"/>
            <a:ext cx="3293288" cy="294140"/>
          </a:xfrm>
          <a:prstGeom prst="round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3" name="TextBox 62">
            <a:extLst>
              <a:ext uri="{FF2B5EF4-FFF2-40B4-BE49-F238E27FC236}">
                <a16:creationId xmlns:a16="http://schemas.microsoft.com/office/drawing/2014/main" id="{8E2FE8BF-4DEC-4C1B-FEA6-802BDAFDD6F7}"/>
              </a:ext>
            </a:extLst>
          </p:cNvPr>
          <p:cNvSpPr txBox="1"/>
          <p:nvPr/>
        </p:nvSpPr>
        <p:spPr>
          <a:xfrm>
            <a:off x="4221175" y="4275133"/>
            <a:ext cx="3379039" cy="230832"/>
          </a:xfrm>
          <a:prstGeom prst="rect">
            <a:avLst/>
          </a:prstGeom>
          <a:noFill/>
        </p:spPr>
        <p:txBody>
          <a:bodyPr wrap="square"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9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تحلیل رقبا و جایگاه بازار</a:t>
            </a:r>
          </a:p>
        </p:txBody>
      </p:sp>
      <p:sp>
        <p:nvSpPr>
          <p:cNvPr id="64" name="TextBox 63">
            <a:extLst>
              <a:ext uri="{FF2B5EF4-FFF2-40B4-BE49-F238E27FC236}">
                <a16:creationId xmlns:a16="http://schemas.microsoft.com/office/drawing/2014/main" id="{A26ECCE0-843E-5AAD-F496-74911FB16FC0}"/>
              </a:ext>
            </a:extLst>
          </p:cNvPr>
          <p:cNvSpPr txBox="1"/>
          <p:nvPr/>
        </p:nvSpPr>
        <p:spPr>
          <a:xfrm>
            <a:off x="4221175" y="4556888"/>
            <a:ext cx="3379039" cy="507831"/>
          </a:xfrm>
          <a:prstGeom prst="rect">
            <a:avLst/>
          </a:prstGeom>
          <a:noFill/>
        </p:spPr>
        <p:txBody>
          <a:bodyPr wrap="square">
            <a:spAutoFit/>
          </a:bodyPr>
          <a:lstStyle/>
          <a:p>
            <a:pPr marR="0" lvl="0" algn="justLow" defTabSz="457200" rtl="1" eaLnBrk="1" fontAlgn="auto" latinLnBrk="0" hangingPunct="1">
              <a:lnSpc>
                <a:spcPct val="100000"/>
              </a:lnSpc>
              <a:spcBef>
                <a:spcPts val="0"/>
              </a:spcBef>
              <a:spcAft>
                <a:spcPts val="0"/>
              </a:spcAft>
              <a:buClrTx/>
              <a:buSzTx/>
              <a:tabLst/>
              <a:defRPr/>
            </a:pPr>
            <a:r>
              <a:rPr kumimoji="0" lang="fa-IR" sz="900" b="0" i="0" u="none" strike="noStrike" kern="1200" cap="none" spc="0" normalizeH="0" baseline="0" noProof="0" dirty="0">
                <a:ln>
                  <a:noFill/>
                </a:ln>
                <a:solidFill>
                  <a:schemeClr val="tx1">
                    <a:lumMod val="65000"/>
                    <a:lumOff val="35000"/>
                  </a:schemeClr>
                </a:solidFill>
                <a:effectLst/>
                <a:uLnTx/>
                <a:uFillTx/>
                <a:latin typeface="Yekan Bakh" pitchFamily="2" charset="-78"/>
                <a:ea typeface="Yekan Bakh" pitchFamily="2" charset="-78"/>
                <a:cs typeface="Yekan Bakh" pitchFamily="2" charset="-78"/>
              </a:rPr>
              <a:t>شناسایی بازیگران فعال، تحلیل خدمات و ارزش پیشنهادی آن‌ها، و بررسی اینکه هر بخش از نیازهای مشتریان در حال حاضر توسط کدام رقبا و به چه شکل پوشش داده می‌شود</a:t>
            </a:r>
          </a:p>
        </p:txBody>
      </p:sp>
      <p:sp>
        <p:nvSpPr>
          <p:cNvPr id="57" name="Rectangle: Rounded Corners 56">
            <a:extLst>
              <a:ext uri="{FF2B5EF4-FFF2-40B4-BE49-F238E27FC236}">
                <a16:creationId xmlns:a16="http://schemas.microsoft.com/office/drawing/2014/main" id="{A1272AED-8662-A057-6B14-CD5EBDDFEF87}"/>
              </a:ext>
            </a:extLst>
          </p:cNvPr>
          <p:cNvSpPr/>
          <p:nvPr/>
        </p:nvSpPr>
        <p:spPr>
          <a:xfrm>
            <a:off x="555628" y="4388336"/>
            <a:ext cx="3491077" cy="676384"/>
          </a:xfrm>
          <a:prstGeom prst="roundRect">
            <a:avLst>
              <a:gd name="adj" fmla="val 5403"/>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8" name="Rectangle: Rounded Corners 57">
            <a:extLst>
              <a:ext uri="{FF2B5EF4-FFF2-40B4-BE49-F238E27FC236}">
                <a16:creationId xmlns:a16="http://schemas.microsoft.com/office/drawing/2014/main" id="{B6CD003C-7723-8A2A-2B57-2B1F77DDBFCA}"/>
              </a:ext>
            </a:extLst>
          </p:cNvPr>
          <p:cNvSpPr/>
          <p:nvPr/>
        </p:nvSpPr>
        <p:spPr>
          <a:xfrm>
            <a:off x="654522" y="4237124"/>
            <a:ext cx="3293288" cy="294140"/>
          </a:xfrm>
          <a:prstGeom prst="round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9" name="TextBox 58">
            <a:extLst>
              <a:ext uri="{FF2B5EF4-FFF2-40B4-BE49-F238E27FC236}">
                <a16:creationId xmlns:a16="http://schemas.microsoft.com/office/drawing/2014/main" id="{24039F3D-33A2-CA7E-7F07-F3C0AC6B5E38}"/>
              </a:ext>
            </a:extLst>
          </p:cNvPr>
          <p:cNvSpPr txBox="1"/>
          <p:nvPr/>
        </p:nvSpPr>
        <p:spPr>
          <a:xfrm>
            <a:off x="611647" y="4275133"/>
            <a:ext cx="3379039" cy="230832"/>
          </a:xfrm>
          <a:prstGeom prst="rect">
            <a:avLst/>
          </a:prstGeom>
          <a:noFill/>
        </p:spPr>
        <p:txBody>
          <a:bodyPr wrap="square"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9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تحلیل تجربیات گذشته و استخراج درس‌آموخته</a:t>
            </a:r>
          </a:p>
        </p:txBody>
      </p:sp>
      <p:sp>
        <p:nvSpPr>
          <p:cNvPr id="60" name="TextBox 59">
            <a:extLst>
              <a:ext uri="{FF2B5EF4-FFF2-40B4-BE49-F238E27FC236}">
                <a16:creationId xmlns:a16="http://schemas.microsoft.com/office/drawing/2014/main" id="{EA75B9B9-1F8B-C9CF-7AA4-D9C04E8CF9F8}"/>
              </a:ext>
            </a:extLst>
          </p:cNvPr>
          <p:cNvSpPr txBox="1"/>
          <p:nvPr/>
        </p:nvSpPr>
        <p:spPr>
          <a:xfrm>
            <a:off x="611647" y="4556888"/>
            <a:ext cx="3379039" cy="507831"/>
          </a:xfrm>
          <a:prstGeom prst="rect">
            <a:avLst/>
          </a:prstGeom>
          <a:noFill/>
        </p:spPr>
        <p:txBody>
          <a:bodyPr wrap="square">
            <a:spAutoFit/>
          </a:bodyPr>
          <a:lstStyle/>
          <a:p>
            <a:pPr marR="0" lvl="0" algn="justLow" defTabSz="457200" rtl="1" eaLnBrk="1" fontAlgn="auto" latinLnBrk="0" hangingPunct="1">
              <a:lnSpc>
                <a:spcPct val="100000"/>
              </a:lnSpc>
              <a:spcBef>
                <a:spcPts val="0"/>
              </a:spcBef>
              <a:spcAft>
                <a:spcPts val="0"/>
              </a:spcAft>
              <a:buClrTx/>
              <a:buSzTx/>
              <a:tabLst/>
              <a:defRPr/>
            </a:pPr>
            <a:r>
              <a:rPr kumimoji="0" lang="fa-IR" sz="900" b="0" i="0" u="none" strike="noStrike" kern="1200" cap="none" spc="0" normalizeH="0" baseline="0" noProof="0" dirty="0">
                <a:ln>
                  <a:noFill/>
                </a:ln>
                <a:solidFill>
                  <a:schemeClr val="tx1">
                    <a:lumMod val="65000"/>
                    <a:lumOff val="35000"/>
                  </a:schemeClr>
                </a:solidFill>
                <a:effectLst/>
                <a:uLnTx/>
                <a:uFillTx/>
                <a:latin typeface="Yekan Bakh" pitchFamily="2" charset="-78"/>
                <a:ea typeface="Yekan Bakh" pitchFamily="2" charset="-78"/>
                <a:cs typeface="Yekan Bakh" pitchFamily="2" charset="-78"/>
              </a:rPr>
              <a:t>بررسی و تحلیل نمونه‌های مشابه خدمات سیمرغ، به‌ویژه فعالیت‌ها و همکاری‌های شکل‌گرفته در دوره پس از برجام، به منظور استخراج عوامل موفقیت، چالش‌ها و درس‌های قابل استفاده</a:t>
            </a:r>
          </a:p>
        </p:txBody>
      </p:sp>
    </p:spTree>
    <p:extLst>
      <p:ext uri="{BB962C8B-B14F-4D97-AF65-F5344CB8AC3E}">
        <p14:creationId xmlns:p14="http://schemas.microsoft.com/office/powerpoint/2010/main" val="425372861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36AB682-0B2A-6950-0515-A98A576375DB}"/>
              </a:ext>
            </a:extLst>
          </p:cNvPr>
          <p:cNvSpPr>
            <a:spLocks noGrp="1"/>
          </p:cNvSpPr>
          <p:nvPr>
            <p:ph type="body" sz="quarter" idx="10"/>
          </p:nvPr>
        </p:nvSpPr>
        <p:spPr/>
        <p:txBody>
          <a:bodyPr/>
          <a:lstStyle/>
          <a:p>
            <a:endParaRPr lang="en-GB"/>
          </a:p>
        </p:txBody>
      </p:sp>
      <p:sp>
        <p:nvSpPr>
          <p:cNvPr id="3" name="Text Placeholder 2">
            <a:extLst>
              <a:ext uri="{FF2B5EF4-FFF2-40B4-BE49-F238E27FC236}">
                <a16:creationId xmlns:a16="http://schemas.microsoft.com/office/drawing/2014/main" id="{5F99DEC7-2424-DA7E-B122-753F0A93B760}"/>
              </a:ext>
            </a:extLst>
          </p:cNvPr>
          <p:cNvSpPr>
            <a:spLocks noGrp="1"/>
          </p:cNvSpPr>
          <p:nvPr>
            <p:ph type="body" sz="quarter" idx="12"/>
          </p:nvPr>
        </p:nvSpPr>
        <p:spPr/>
        <p:txBody>
          <a:bodyPr/>
          <a:lstStyle/>
          <a:p>
            <a:pPr marL="0" marR="0" lvl="0" indent="0" algn="justLow" defTabSz="1021516" rtl="1"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fa-IR" sz="1600" b="1" i="0" u="none" strike="noStrike" kern="1200" cap="none" spc="0" normalizeH="0" baseline="0" noProof="0" dirty="0">
                <a:ln>
                  <a:noFill/>
                </a:ln>
                <a:solidFill>
                  <a:srgbClr val="003399"/>
                </a:solidFill>
                <a:effectLst/>
                <a:uLnTx/>
                <a:uFillTx/>
                <a:latin typeface="Yekan Bakh" pitchFamily="2" charset="-78"/>
                <a:ea typeface="Yekan Bakh" pitchFamily="2" charset="-78"/>
                <a:cs typeface="Yekan Bakh" pitchFamily="2" charset="-78"/>
              </a:rPr>
              <a:t>پروفایل مشتری </a:t>
            </a:r>
            <a:r>
              <a:rPr kumimoji="0" lang="fa-IR" sz="14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و</a:t>
            </a:r>
            <a:r>
              <a:rPr kumimoji="0" lang="fa-IR" sz="1600" b="1" i="0" u="none" strike="noStrike" kern="1200" cap="none" spc="0" normalizeH="0" baseline="0" noProof="0" dirty="0">
                <a:ln>
                  <a:noFill/>
                </a:ln>
                <a:solidFill>
                  <a:srgbClr val="7030A0"/>
                </a:solidFill>
                <a:effectLst/>
                <a:uLnTx/>
                <a:uFillTx/>
                <a:latin typeface="Yekan Bakh" pitchFamily="2" charset="-78"/>
                <a:ea typeface="Yekan Bakh" pitchFamily="2" charset="-78"/>
                <a:cs typeface="Yekan Bakh" pitchFamily="2" charset="-78"/>
              </a:rPr>
              <a:t> </a:t>
            </a:r>
            <a:r>
              <a:rPr kumimoji="0" lang="fa-IR" sz="1600" b="1" i="0" u="none" strike="noStrike" kern="1200" cap="none" spc="0" normalizeH="0" baseline="0" noProof="0" dirty="0">
                <a:ln>
                  <a:noFill/>
                </a:ln>
                <a:solidFill>
                  <a:srgbClr val="FFC000"/>
                </a:solidFill>
                <a:effectLst/>
                <a:uLnTx/>
                <a:uFillTx/>
                <a:latin typeface="Yekan Bakh" pitchFamily="2" charset="-78"/>
                <a:ea typeface="Yekan Bakh" pitchFamily="2" charset="-78"/>
                <a:cs typeface="Yekan Bakh" pitchFamily="2" charset="-78"/>
              </a:rPr>
              <a:t>نقشه‌ی ارزش پیشنهادی</a:t>
            </a:r>
            <a:r>
              <a:rPr kumimoji="0" lang="fa-IR" sz="14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 به ترتیب: بخش مشتری خاص، و ویژگی‌های ارزش پیشنهادی مرتبط به آن، در مدل کسب‌وکارتان را به‌صورت ساختارمندتر و با جزئیات بیشتر را نشان می‌دهد. پروفایل، مشتری را به کارها، دردسرها و منفعت‌ها تقسیم می‌کند؛ در طرف مقابل، نقشه، ارزش پیشنهادی شما را در سه بخش محصولات و خدمات، دردسرکاه‌ها و منفعت‌سازها مجزا می‌سازد</a:t>
            </a:r>
          </a:p>
          <a:p>
            <a:endParaRPr lang="en-GB" dirty="0"/>
          </a:p>
        </p:txBody>
      </p:sp>
      <p:cxnSp>
        <p:nvCxnSpPr>
          <p:cNvPr id="94" name="Straight Arrow Connector 93">
            <a:extLst>
              <a:ext uri="{FF2B5EF4-FFF2-40B4-BE49-F238E27FC236}">
                <a16:creationId xmlns:a16="http://schemas.microsoft.com/office/drawing/2014/main" id="{26E5A2EF-C7F9-AAC0-B945-6987A4076926}"/>
              </a:ext>
            </a:extLst>
          </p:cNvPr>
          <p:cNvCxnSpPr>
            <a:cxnSpLocks/>
            <a:stCxn id="8" idx="3"/>
            <a:endCxn id="66" idx="2"/>
          </p:cNvCxnSpPr>
          <p:nvPr/>
        </p:nvCxnSpPr>
        <p:spPr>
          <a:xfrm flipV="1">
            <a:off x="4551999" y="3694144"/>
            <a:ext cx="784339" cy="1323"/>
          </a:xfrm>
          <a:prstGeom prst="straightConnector1">
            <a:avLst/>
          </a:prstGeom>
          <a:ln>
            <a:solidFill>
              <a:srgbClr val="F0BE0F"/>
            </a:solidFill>
            <a:tailEnd type="triangle"/>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xmlns:a16="http://schemas.microsoft.com/office/drawing/2014/main" id="{3F888235-B2F9-FF9D-9EE8-B36B7EA324A9}"/>
              </a:ext>
            </a:extLst>
          </p:cNvPr>
          <p:cNvCxnSpPr>
            <a:cxnSpLocks/>
            <a:stCxn id="13" idx="2"/>
            <a:endCxn id="66" idx="6"/>
          </p:cNvCxnSpPr>
          <p:nvPr/>
        </p:nvCxnSpPr>
        <p:spPr>
          <a:xfrm flipH="1" flipV="1">
            <a:off x="6275057" y="3694144"/>
            <a:ext cx="774428" cy="1323"/>
          </a:xfrm>
          <a:prstGeom prst="straightConnector1">
            <a:avLst/>
          </a:prstGeom>
          <a:ln>
            <a:solidFill>
              <a:srgbClr val="003399"/>
            </a:solidFill>
            <a:tailEnd type="triangle"/>
          </a:ln>
        </p:spPr>
        <p:style>
          <a:lnRef idx="1">
            <a:schemeClr val="accent1"/>
          </a:lnRef>
          <a:fillRef idx="0">
            <a:schemeClr val="accent1"/>
          </a:fillRef>
          <a:effectRef idx="0">
            <a:schemeClr val="accent1"/>
          </a:effectRef>
          <a:fontRef idx="minor">
            <a:schemeClr val="tx1"/>
          </a:fontRef>
        </p:style>
      </p:cxnSp>
      <p:grpSp>
        <p:nvGrpSpPr>
          <p:cNvPr id="9" name="Group 8">
            <a:extLst>
              <a:ext uri="{FF2B5EF4-FFF2-40B4-BE49-F238E27FC236}">
                <a16:creationId xmlns:a16="http://schemas.microsoft.com/office/drawing/2014/main" id="{CA525B0A-FC62-3581-A663-43B756FE0D6A}"/>
              </a:ext>
            </a:extLst>
          </p:cNvPr>
          <p:cNvGrpSpPr/>
          <p:nvPr/>
        </p:nvGrpSpPr>
        <p:grpSpPr>
          <a:xfrm>
            <a:off x="611417" y="1754923"/>
            <a:ext cx="10480216" cy="4098413"/>
            <a:chOff x="515553" y="1754923"/>
            <a:chExt cx="10480216" cy="4098413"/>
          </a:xfrm>
        </p:grpSpPr>
        <p:grpSp>
          <p:nvGrpSpPr>
            <p:cNvPr id="4" name="Group 3">
              <a:extLst>
                <a:ext uri="{FF2B5EF4-FFF2-40B4-BE49-F238E27FC236}">
                  <a16:creationId xmlns:a16="http://schemas.microsoft.com/office/drawing/2014/main" id="{E06395BE-B8C3-DC83-5BF9-0AD76CFFF09C}"/>
                </a:ext>
              </a:extLst>
            </p:cNvPr>
            <p:cNvGrpSpPr/>
            <p:nvPr/>
          </p:nvGrpSpPr>
          <p:grpSpPr>
            <a:xfrm>
              <a:off x="515553" y="1754923"/>
              <a:ext cx="3940582" cy="4044640"/>
              <a:chOff x="515553" y="1754923"/>
              <a:chExt cx="3940582" cy="4044640"/>
            </a:xfrm>
          </p:grpSpPr>
          <p:grpSp>
            <p:nvGrpSpPr>
              <p:cNvPr id="28" name="Group 27">
                <a:extLst>
                  <a:ext uri="{FF2B5EF4-FFF2-40B4-BE49-F238E27FC236}">
                    <a16:creationId xmlns:a16="http://schemas.microsoft.com/office/drawing/2014/main" id="{2181AC0A-9006-B2AA-714C-67D7F057C87D}"/>
                  </a:ext>
                </a:extLst>
              </p:cNvPr>
              <p:cNvGrpSpPr/>
              <p:nvPr/>
            </p:nvGrpSpPr>
            <p:grpSpPr>
              <a:xfrm>
                <a:off x="1712935" y="2323867"/>
                <a:ext cx="2743200" cy="2743200"/>
                <a:chOff x="1735958" y="1644968"/>
                <a:chExt cx="3297340" cy="3291840"/>
              </a:xfrm>
            </p:grpSpPr>
            <p:sp>
              <p:nvSpPr>
                <p:cNvPr id="8" name="Rectangle 7">
                  <a:extLst>
                    <a:ext uri="{FF2B5EF4-FFF2-40B4-BE49-F238E27FC236}">
                      <a16:creationId xmlns:a16="http://schemas.microsoft.com/office/drawing/2014/main" id="{7D68E952-D2BD-E4C7-1898-3B1BCB41E3B3}"/>
                    </a:ext>
                  </a:extLst>
                </p:cNvPr>
                <p:cNvSpPr>
                  <a:spLocks noChangeAspect="1"/>
                </p:cNvSpPr>
                <p:nvPr/>
              </p:nvSpPr>
              <p:spPr>
                <a:xfrm>
                  <a:off x="1741458" y="1644968"/>
                  <a:ext cx="3291840" cy="3291840"/>
                </a:xfrm>
                <a:prstGeom prst="rect">
                  <a:avLst/>
                </a:prstGeom>
                <a:noFill/>
                <a:ln>
                  <a:solidFill>
                    <a:srgbClr val="F0BE0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Yekan Bakh" pitchFamily="2" charset="-78"/>
                    <a:ea typeface="Yekan Bakh" pitchFamily="2" charset="-78"/>
                    <a:cs typeface="Yekan Bakh" pitchFamily="2" charset="-78"/>
                  </a:endParaRPr>
                </a:p>
              </p:txBody>
            </p:sp>
            <p:cxnSp>
              <p:nvCxnSpPr>
                <p:cNvPr id="15" name="Straight Connector 14">
                  <a:extLst>
                    <a:ext uri="{FF2B5EF4-FFF2-40B4-BE49-F238E27FC236}">
                      <a16:creationId xmlns:a16="http://schemas.microsoft.com/office/drawing/2014/main" id="{91E55DD7-4195-7578-EB2D-26EEBEC1139F}"/>
                    </a:ext>
                  </a:extLst>
                </p:cNvPr>
                <p:cNvCxnSpPr>
                  <a:cxnSpLocks/>
                </p:cNvCxnSpPr>
                <p:nvPr/>
              </p:nvCxnSpPr>
              <p:spPr>
                <a:xfrm>
                  <a:off x="1735958" y="1644968"/>
                  <a:ext cx="1645920" cy="1645920"/>
                </a:xfrm>
                <a:prstGeom prst="line">
                  <a:avLst/>
                </a:prstGeom>
                <a:ln w="12700">
                  <a:solidFill>
                    <a:srgbClr val="F0BE0F"/>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AC2A2C6-C279-9E05-2413-6078904FA58A}"/>
                    </a:ext>
                  </a:extLst>
                </p:cNvPr>
                <p:cNvCxnSpPr>
                  <a:cxnSpLocks/>
                </p:cNvCxnSpPr>
                <p:nvPr/>
              </p:nvCxnSpPr>
              <p:spPr>
                <a:xfrm flipV="1">
                  <a:off x="1735958" y="3292475"/>
                  <a:ext cx="1645920" cy="1644333"/>
                </a:xfrm>
                <a:prstGeom prst="line">
                  <a:avLst/>
                </a:prstGeom>
                <a:ln w="12700">
                  <a:solidFill>
                    <a:srgbClr val="F0BE0F"/>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A6FCDD6-E563-5F35-1037-542B1CD5AA8F}"/>
                    </a:ext>
                  </a:extLst>
                </p:cNvPr>
                <p:cNvCxnSpPr>
                  <a:cxnSpLocks/>
                </p:cNvCxnSpPr>
                <p:nvPr/>
              </p:nvCxnSpPr>
              <p:spPr>
                <a:xfrm flipV="1">
                  <a:off x="3381570" y="3292475"/>
                  <a:ext cx="1645920" cy="1587"/>
                </a:xfrm>
                <a:prstGeom prst="line">
                  <a:avLst/>
                </a:prstGeom>
                <a:ln w="12700">
                  <a:solidFill>
                    <a:srgbClr val="F0BE0F"/>
                  </a:solidFill>
                </a:ln>
              </p:spPr>
              <p:style>
                <a:lnRef idx="1">
                  <a:schemeClr val="accent1"/>
                </a:lnRef>
                <a:fillRef idx="0">
                  <a:schemeClr val="accent1"/>
                </a:fillRef>
                <a:effectRef idx="0">
                  <a:schemeClr val="accent1"/>
                </a:effectRef>
                <a:fontRef idx="minor">
                  <a:schemeClr val="tx1"/>
                </a:fontRef>
              </p:style>
            </p:cxnSp>
          </p:grpSp>
          <p:pic>
            <p:nvPicPr>
              <p:cNvPr id="41" name="Graphic 40">
                <a:extLst>
                  <a:ext uri="{FF2B5EF4-FFF2-40B4-BE49-F238E27FC236}">
                    <a16:creationId xmlns:a16="http://schemas.microsoft.com/office/drawing/2014/main" id="{BC16720E-9C36-BA1D-AD7C-81250A0638A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347042" y="2577983"/>
                <a:ext cx="365760" cy="365760"/>
              </a:xfrm>
              <a:prstGeom prst="rect">
                <a:avLst/>
              </a:prstGeom>
            </p:spPr>
          </p:pic>
          <p:pic>
            <p:nvPicPr>
              <p:cNvPr id="43" name="Graphic 42">
                <a:extLst>
                  <a:ext uri="{FF2B5EF4-FFF2-40B4-BE49-F238E27FC236}">
                    <a16:creationId xmlns:a16="http://schemas.microsoft.com/office/drawing/2014/main" id="{2FAF5360-BFE2-6842-B548-0599A23C759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18116" y="4344238"/>
                <a:ext cx="365760" cy="365760"/>
              </a:xfrm>
              <a:prstGeom prst="rect">
                <a:avLst/>
              </a:prstGeom>
            </p:spPr>
          </p:pic>
          <p:grpSp>
            <p:nvGrpSpPr>
              <p:cNvPr id="81" name="Group 80">
                <a:extLst>
                  <a:ext uri="{FF2B5EF4-FFF2-40B4-BE49-F238E27FC236}">
                    <a16:creationId xmlns:a16="http://schemas.microsoft.com/office/drawing/2014/main" id="{89B502A1-A71D-6A94-C140-987EEF7FDA95}"/>
                  </a:ext>
                </a:extLst>
              </p:cNvPr>
              <p:cNvGrpSpPr/>
              <p:nvPr/>
            </p:nvGrpSpPr>
            <p:grpSpPr>
              <a:xfrm>
                <a:off x="1909076" y="3391815"/>
                <a:ext cx="627005" cy="476932"/>
                <a:chOff x="1651975" y="3489167"/>
                <a:chExt cx="627005" cy="476932"/>
              </a:xfrm>
              <a:solidFill>
                <a:srgbClr val="F0BE0F"/>
              </a:solidFill>
            </p:grpSpPr>
            <p:pic>
              <p:nvPicPr>
                <p:cNvPr id="35" name="Graphic 34">
                  <a:extLst>
                    <a:ext uri="{FF2B5EF4-FFF2-40B4-BE49-F238E27FC236}">
                      <a16:creationId xmlns:a16="http://schemas.microsoft.com/office/drawing/2014/main" id="{9AAC932C-0AAD-01D3-6C19-116493A0D54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51975" y="3489167"/>
                  <a:ext cx="365760" cy="365760"/>
                </a:xfrm>
                <a:prstGeom prst="rect">
                  <a:avLst/>
                </a:prstGeom>
              </p:spPr>
            </p:pic>
            <p:pic>
              <p:nvPicPr>
                <p:cNvPr id="51" name="Graphic 50">
                  <a:extLst>
                    <a:ext uri="{FF2B5EF4-FFF2-40B4-BE49-F238E27FC236}">
                      <a16:creationId xmlns:a16="http://schemas.microsoft.com/office/drawing/2014/main" id="{A3E30B9F-638A-FA3F-F1DC-609CC427B24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913220" y="3600339"/>
                  <a:ext cx="365760" cy="365760"/>
                </a:xfrm>
                <a:prstGeom prst="rect">
                  <a:avLst/>
                </a:prstGeom>
              </p:spPr>
            </p:pic>
          </p:grpSp>
          <p:grpSp>
            <p:nvGrpSpPr>
              <p:cNvPr id="63" name="Group 62">
                <a:extLst>
                  <a:ext uri="{FF2B5EF4-FFF2-40B4-BE49-F238E27FC236}">
                    <a16:creationId xmlns:a16="http://schemas.microsoft.com/office/drawing/2014/main" id="{475FC2AB-B2D3-B17C-4B79-DDF35709B0DA}"/>
                  </a:ext>
                </a:extLst>
              </p:cNvPr>
              <p:cNvGrpSpPr/>
              <p:nvPr/>
            </p:nvGrpSpPr>
            <p:grpSpPr>
              <a:xfrm>
                <a:off x="2645001" y="3238267"/>
                <a:ext cx="914400" cy="914400"/>
                <a:chOff x="3004955" y="2680096"/>
                <a:chExt cx="914400" cy="914400"/>
              </a:xfrm>
            </p:grpSpPr>
            <p:sp>
              <p:nvSpPr>
                <p:cNvPr id="60" name="Graphic 44">
                  <a:extLst>
                    <a:ext uri="{FF2B5EF4-FFF2-40B4-BE49-F238E27FC236}">
                      <a16:creationId xmlns:a16="http://schemas.microsoft.com/office/drawing/2014/main" id="{72953DED-6F72-A3F5-AA87-93726290F4B8}"/>
                    </a:ext>
                  </a:extLst>
                </p:cNvPr>
                <p:cNvSpPr/>
                <p:nvPr/>
              </p:nvSpPr>
              <p:spPr>
                <a:xfrm>
                  <a:off x="3108483" y="2860676"/>
                  <a:ext cx="730451" cy="669924"/>
                </a:xfrm>
                <a:prstGeom prst="rect">
                  <a:avLst/>
                </a:prstGeom>
                <a:solidFill>
                  <a:schemeClr val="bg1"/>
                </a:solidFill>
                <a:ln w="28575" cap="flat">
                  <a:noFill/>
                  <a:prstDash val="solid"/>
                  <a:miter/>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endParaRPr>
                </a:p>
              </p:txBody>
            </p:sp>
            <p:sp>
              <p:nvSpPr>
                <p:cNvPr id="56" name="Graphic 44">
                  <a:extLst>
                    <a:ext uri="{FF2B5EF4-FFF2-40B4-BE49-F238E27FC236}">
                      <a16:creationId xmlns:a16="http://schemas.microsoft.com/office/drawing/2014/main" id="{0A3DE783-0F92-35FD-9A6A-6E2AB81B36D4}"/>
                    </a:ext>
                  </a:extLst>
                </p:cNvPr>
                <p:cNvSpPr/>
                <p:nvPr/>
              </p:nvSpPr>
              <p:spPr>
                <a:xfrm>
                  <a:off x="3004955" y="2680096"/>
                  <a:ext cx="914400" cy="914400"/>
                </a:xfrm>
                <a:custGeom>
                  <a:avLst/>
                  <a:gdLst>
                    <a:gd name="csX0" fmla="*/ 828575 w 914400"/>
                    <a:gd name="csY0" fmla="*/ 284975 h 914400"/>
                    <a:gd name="csX1" fmla="*/ 85625 w 914400"/>
                    <a:gd name="csY1" fmla="*/ 284975 h 914400"/>
                    <a:gd name="csX2" fmla="*/ 57050 w 914400"/>
                    <a:gd name="csY2" fmla="*/ 256400 h 914400"/>
                    <a:gd name="csX3" fmla="*/ 85625 w 914400"/>
                    <a:gd name="csY3" fmla="*/ 227825 h 914400"/>
                    <a:gd name="csX4" fmla="*/ 828575 w 914400"/>
                    <a:gd name="csY4" fmla="*/ 227825 h 914400"/>
                    <a:gd name="csX5" fmla="*/ 857150 w 914400"/>
                    <a:gd name="csY5" fmla="*/ 256400 h 914400"/>
                    <a:gd name="csX6" fmla="*/ 828575 w 914400"/>
                    <a:gd name="csY6" fmla="*/ 284975 h 914400"/>
                    <a:gd name="csX7" fmla="*/ 828575 w 914400"/>
                    <a:gd name="csY7" fmla="*/ 284975 h 914400"/>
                    <a:gd name="csX8" fmla="*/ 485675 w 914400"/>
                    <a:gd name="csY8" fmla="*/ 342125 h 914400"/>
                    <a:gd name="csX9" fmla="*/ 800000 w 914400"/>
                    <a:gd name="csY9" fmla="*/ 342125 h 914400"/>
                    <a:gd name="csX10" fmla="*/ 800000 w 914400"/>
                    <a:gd name="csY10" fmla="*/ 570725 h 914400"/>
                    <a:gd name="csX11" fmla="*/ 485675 w 914400"/>
                    <a:gd name="csY11" fmla="*/ 570725 h 914400"/>
                    <a:gd name="csX12" fmla="*/ 485675 w 914400"/>
                    <a:gd name="csY12" fmla="*/ 342125 h 914400"/>
                    <a:gd name="csX13" fmla="*/ 800000 w 914400"/>
                    <a:gd name="csY13" fmla="*/ 799325 h 914400"/>
                    <a:gd name="csX14" fmla="*/ 742850 w 914400"/>
                    <a:gd name="csY14" fmla="*/ 856475 h 914400"/>
                    <a:gd name="csX15" fmla="*/ 485675 w 914400"/>
                    <a:gd name="csY15" fmla="*/ 856475 h 914400"/>
                    <a:gd name="csX16" fmla="*/ 485675 w 914400"/>
                    <a:gd name="csY16" fmla="*/ 627875 h 914400"/>
                    <a:gd name="csX17" fmla="*/ 800000 w 914400"/>
                    <a:gd name="csY17" fmla="*/ 627875 h 914400"/>
                    <a:gd name="csX18" fmla="*/ 800000 w 914400"/>
                    <a:gd name="csY18" fmla="*/ 799325 h 914400"/>
                    <a:gd name="csX19" fmla="*/ 800000 w 914400"/>
                    <a:gd name="csY19" fmla="*/ 799325 h 914400"/>
                    <a:gd name="csX20" fmla="*/ 114200 w 914400"/>
                    <a:gd name="csY20" fmla="*/ 342125 h 914400"/>
                    <a:gd name="csX21" fmla="*/ 428525 w 914400"/>
                    <a:gd name="csY21" fmla="*/ 342125 h 914400"/>
                    <a:gd name="csX22" fmla="*/ 428525 w 914400"/>
                    <a:gd name="csY22" fmla="*/ 570725 h 914400"/>
                    <a:gd name="csX23" fmla="*/ 114200 w 914400"/>
                    <a:gd name="csY23" fmla="*/ 570725 h 914400"/>
                    <a:gd name="csX24" fmla="*/ 114200 w 914400"/>
                    <a:gd name="csY24" fmla="*/ 342125 h 914400"/>
                    <a:gd name="csX25" fmla="*/ 428525 w 914400"/>
                    <a:gd name="csY25" fmla="*/ 856475 h 914400"/>
                    <a:gd name="csX26" fmla="*/ 171350 w 914400"/>
                    <a:gd name="csY26" fmla="*/ 856475 h 914400"/>
                    <a:gd name="csX27" fmla="*/ 114200 w 914400"/>
                    <a:gd name="csY27" fmla="*/ 799325 h 914400"/>
                    <a:gd name="csX28" fmla="*/ 114200 w 914400"/>
                    <a:gd name="csY28" fmla="*/ 627875 h 914400"/>
                    <a:gd name="csX29" fmla="*/ 428525 w 914400"/>
                    <a:gd name="csY29" fmla="*/ 627875 h 914400"/>
                    <a:gd name="csX30" fmla="*/ 428525 w 914400"/>
                    <a:gd name="csY30" fmla="*/ 856475 h 914400"/>
                    <a:gd name="csX31" fmla="*/ 428525 w 914400"/>
                    <a:gd name="csY31" fmla="*/ 856475 h 914400"/>
                    <a:gd name="csX32" fmla="*/ 371375 w 914400"/>
                    <a:gd name="csY32" fmla="*/ 56375 h 914400"/>
                    <a:gd name="csX33" fmla="*/ 428525 w 914400"/>
                    <a:gd name="csY33" fmla="*/ 113525 h 914400"/>
                    <a:gd name="csX34" fmla="*/ 371375 w 914400"/>
                    <a:gd name="csY34" fmla="*/ 170675 h 914400"/>
                    <a:gd name="csX35" fmla="*/ 314225 w 914400"/>
                    <a:gd name="csY35" fmla="*/ 113525 h 914400"/>
                    <a:gd name="csX36" fmla="*/ 371375 w 914400"/>
                    <a:gd name="csY36" fmla="*/ 56375 h 914400"/>
                    <a:gd name="csX37" fmla="*/ 371375 w 914400"/>
                    <a:gd name="csY37" fmla="*/ 56375 h 914400"/>
                    <a:gd name="csX38" fmla="*/ 542825 w 914400"/>
                    <a:gd name="csY38" fmla="*/ 56375 h 914400"/>
                    <a:gd name="csX39" fmla="*/ 599975 w 914400"/>
                    <a:gd name="csY39" fmla="*/ 113525 h 914400"/>
                    <a:gd name="csX40" fmla="*/ 542825 w 914400"/>
                    <a:gd name="csY40" fmla="*/ 170675 h 914400"/>
                    <a:gd name="csX41" fmla="*/ 485675 w 914400"/>
                    <a:gd name="csY41" fmla="*/ 113525 h 914400"/>
                    <a:gd name="csX42" fmla="*/ 542825 w 914400"/>
                    <a:gd name="csY42" fmla="*/ 56375 h 914400"/>
                    <a:gd name="csX43" fmla="*/ 542825 w 914400"/>
                    <a:gd name="csY43" fmla="*/ 56375 h 914400"/>
                    <a:gd name="csX44" fmla="*/ 857150 w 914400"/>
                    <a:gd name="csY44" fmla="*/ 170675 h 914400"/>
                    <a:gd name="csX45" fmla="*/ 641266 w 914400"/>
                    <a:gd name="csY45" fmla="*/ 170675 h 914400"/>
                    <a:gd name="csX46" fmla="*/ 657125 w 914400"/>
                    <a:gd name="csY46" fmla="*/ 113525 h 914400"/>
                    <a:gd name="csX47" fmla="*/ 542825 w 914400"/>
                    <a:gd name="csY47" fmla="*/ -775 h 914400"/>
                    <a:gd name="csX48" fmla="*/ 457100 w 914400"/>
                    <a:gd name="csY48" fmla="*/ 38659 h 914400"/>
                    <a:gd name="csX49" fmla="*/ 371375 w 914400"/>
                    <a:gd name="csY49" fmla="*/ -775 h 914400"/>
                    <a:gd name="csX50" fmla="*/ 257075 w 914400"/>
                    <a:gd name="csY50" fmla="*/ 113525 h 914400"/>
                    <a:gd name="csX51" fmla="*/ 272934 w 914400"/>
                    <a:gd name="csY51" fmla="*/ 170675 h 914400"/>
                    <a:gd name="csX52" fmla="*/ 57050 w 914400"/>
                    <a:gd name="csY52" fmla="*/ 170675 h 914400"/>
                    <a:gd name="csX53" fmla="*/ -100 w 914400"/>
                    <a:gd name="csY53" fmla="*/ 227825 h 914400"/>
                    <a:gd name="csX54" fmla="*/ -100 w 914400"/>
                    <a:gd name="csY54" fmla="*/ 284975 h 914400"/>
                    <a:gd name="csX55" fmla="*/ 57050 w 914400"/>
                    <a:gd name="csY55" fmla="*/ 342125 h 914400"/>
                    <a:gd name="csX56" fmla="*/ 57050 w 914400"/>
                    <a:gd name="csY56" fmla="*/ 799325 h 914400"/>
                    <a:gd name="csX57" fmla="*/ 171350 w 914400"/>
                    <a:gd name="csY57" fmla="*/ 913625 h 914400"/>
                    <a:gd name="csX58" fmla="*/ 742850 w 914400"/>
                    <a:gd name="csY58" fmla="*/ 913625 h 914400"/>
                    <a:gd name="csX59" fmla="*/ 857150 w 914400"/>
                    <a:gd name="csY59" fmla="*/ 799325 h 914400"/>
                    <a:gd name="csX60" fmla="*/ 857150 w 914400"/>
                    <a:gd name="csY60" fmla="*/ 342125 h 914400"/>
                    <a:gd name="csX61" fmla="*/ 914300 w 914400"/>
                    <a:gd name="csY61" fmla="*/ 284975 h 914400"/>
                    <a:gd name="csX62" fmla="*/ 914300 w 914400"/>
                    <a:gd name="csY62" fmla="*/ 227825 h 914400"/>
                    <a:gd name="csX63" fmla="*/ 857150 w 914400"/>
                    <a:gd name="csY63" fmla="*/ 170675 h 914400"/>
                    <a:gd name="csX64" fmla="*/ 857150 w 914400"/>
                    <a:gd name="csY64" fmla="*/ 170675 h 914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Lst>
                  <a:rect l="l" t="t" r="r" b="b"/>
                  <a:pathLst>
                    <a:path w="914400" h="914400">
                      <a:moveTo>
                        <a:pt x="828575" y="284975"/>
                      </a:moveTo>
                      <a:lnTo>
                        <a:pt x="85625" y="284975"/>
                      </a:lnTo>
                      <a:cubicBezTo>
                        <a:pt x="69852" y="284975"/>
                        <a:pt x="57050" y="272201"/>
                        <a:pt x="57050" y="256400"/>
                      </a:cubicBezTo>
                      <a:cubicBezTo>
                        <a:pt x="57050" y="240627"/>
                        <a:pt x="69852" y="227825"/>
                        <a:pt x="85625" y="227825"/>
                      </a:cubicBezTo>
                      <a:lnTo>
                        <a:pt x="828575" y="227825"/>
                      </a:lnTo>
                      <a:cubicBezTo>
                        <a:pt x="844348" y="227825"/>
                        <a:pt x="857150" y="240627"/>
                        <a:pt x="857150" y="256400"/>
                      </a:cubicBezTo>
                      <a:cubicBezTo>
                        <a:pt x="857150" y="272201"/>
                        <a:pt x="844348" y="284975"/>
                        <a:pt x="828575" y="284975"/>
                      </a:cubicBezTo>
                      <a:lnTo>
                        <a:pt x="828575" y="284975"/>
                      </a:lnTo>
                      <a:close/>
                      <a:moveTo>
                        <a:pt x="485675" y="342125"/>
                      </a:moveTo>
                      <a:lnTo>
                        <a:pt x="800000" y="342125"/>
                      </a:lnTo>
                      <a:lnTo>
                        <a:pt x="800000" y="570725"/>
                      </a:lnTo>
                      <a:lnTo>
                        <a:pt x="485675" y="570725"/>
                      </a:lnTo>
                      <a:lnTo>
                        <a:pt x="485675" y="342125"/>
                      </a:lnTo>
                      <a:close/>
                      <a:moveTo>
                        <a:pt x="800000" y="799325"/>
                      </a:moveTo>
                      <a:cubicBezTo>
                        <a:pt x="800000" y="830872"/>
                        <a:pt x="774397" y="856475"/>
                        <a:pt x="742850" y="856475"/>
                      </a:cubicBezTo>
                      <a:lnTo>
                        <a:pt x="485675" y="856475"/>
                      </a:lnTo>
                      <a:lnTo>
                        <a:pt x="485675" y="627875"/>
                      </a:lnTo>
                      <a:lnTo>
                        <a:pt x="800000" y="627875"/>
                      </a:lnTo>
                      <a:lnTo>
                        <a:pt x="800000" y="799325"/>
                      </a:lnTo>
                      <a:lnTo>
                        <a:pt x="800000" y="799325"/>
                      </a:lnTo>
                      <a:close/>
                      <a:moveTo>
                        <a:pt x="114200" y="342125"/>
                      </a:moveTo>
                      <a:lnTo>
                        <a:pt x="428525" y="342125"/>
                      </a:lnTo>
                      <a:lnTo>
                        <a:pt x="428525" y="570725"/>
                      </a:lnTo>
                      <a:lnTo>
                        <a:pt x="114200" y="570725"/>
                      </a:lnTo>
                      <a:lnTo>
                        <a:pt x="114200" y="342125"/>
                      </a:lnTo>
                      <a:close/>
                      <a:moveTo>
                        <a:pt x="428525" y="856475"/>
                      </a:moveTo>
                      <a:lnTo>
                        <a:pt x="171350" y="856475"/>
                      </a:lnTo>
                      <a:cubicBezTo>
                        <a:pt x="139803" y="856475"/>
                        <a:pt x="114200" y="830872"/>
                        <a:pt x="114200" y="799325"/>
                      </a:cubicBezTo>
                      <a:lnTo>
                        <a:pt x="114200" y="627875"/>
                      </a:lnTo>
                      <a:lnTo>
                        <a:pt x="428525" y="627875"/>
                      </a:lnTo>
                      <a:lnTo>
                        <a:pt x="428525" y="856475"/>
                      </a:lnTo>
                      <a:lnTo>
                        <a:pt x="428525" y="856475"/>
                      </a:lnTo>
                      <a:close/>
                      <a:moveTo>
                        <a:pt x="371375" y="56375"/>
                      </a:moveTo>
                      <a:cubicBezTo>
                        <a:pt x="402922" y="56375"/>
                        <a:pt x="428525" y="81978"/>
                        <a:pt x="428525" y="113525"/>
                      </a:cubicBezTo>
                      <a:cubicBezTo>
                        <a:pt x="428525" y="145072"/>
                        <a:pt x="402922" y="170675"/>
                        <a:pt x="371375" y="170675"/>
                      </a:cubicBezTo>
                      <a:cubicBezTo>
                        <a:pt x="339828" y="170675"/>
                        <a:pt x="314225" y="145072"/>
                        <a:pt x="314225" y="113525"/>
                      </a:cubicBezTo>
                      <a:cubicBezTo>
                        <a:pt x="314225" y="81978"/>
                        <a:pt x="339828" y="56375"/>
                        <a:pt x="371375" y="56375"/>
                      </a:cubicBezTo>
                      <a:lnTo>
                        <a:pt x="371375" y="56375"/>
                      </a:lnTo>
                      <a:close/>
                      <a:moveTo>
                        <a:pt x="542825" y="56375"/>
                      </a:moveTo>
                      <a:cubicBezTo>
                        <a:pt x="574372" y="56375"/>
                        <a:pt x="599975" y="81978"/>
                        <a:pt x="599975" y="113525"/>
                      </a:cubicBezTo>
                      <a:cubicBezTo>
                        <a:pt x="599975" y="145072"/>
                        <a:pt x="574372" y="170675"/>
                        <a:pt x="542825" y="170675"/>
                      </a:cubicBezTo>
                      <a:cubicBezTo>
                        <a:pt x="511278" y="170675"/>
                        <a:pt x="485675" y="145072"/>
                        <a:pt x="485675" y="113525"/>
                      </a:cubicBezTo>
                      <a:cubicBezTo>
                        <a:pt x="485675" y="81978"/>
                        <a:pt x="511278" y="56375"/>
                        <a:pt x="542825" y="56375"/>
                      </a:cubicBezTo>
                      <a:lnTo>
                        <a:pt x="542825" y="56375"/>
                      </a:lnTo>
                      <a:close/>
                      <a:moveTo>
                        <a:pt x="857150" y="170675"/>
                      </a:moveTo>
                      <a:lnTo>
                        <a:pt x="641266" y="170675"/>
                      </a:lnTo>
                      <a:cubicBezTo>
                        <a:pt x="651096" y="153815"/>
                        <a:pt x="657125" y="134442"/>
                        <a:pt x="657125" y="113525"/>
                      </a:cubicBezTo>
                      <a:cubicBezTo>
                        <a:pt x="657125" y="50403"/>
                        <a:pt x="605947" y="-775"/>
                        <a:pt x="542825" y="-775"/>
                      </a:cubicBezTo>
                      <a:cubicBezTo>
                        <a:pt x="508478" y="-775"/>
                        <a:pt x="478046" y="14685"/>
                        <a:pt x="457100" y="38659"/>
                      </a:cubicBezTo>
                      <a:cubicBezTo>
                        <a:pt x="436154" y="14685"/>
                        <a:pt x="405722" y="-775"/>
                        <a:pt x="371375" y="-775"/>
                      </a:cubicBezTo>
                      <a:cubicBezTo>
                        <a:pt x="308253" y="-775"/>
                        <a:pt x="257075" y="50403"/>
                        <a:pt x="257075" y="113525"/>
                      </a:cubicBezTo>
                      <a:cubicBezTo>
                        <a:pt x="257075" y="134442"/>
                        <a:pt x="263104" y="153815"/>
                        <a:pt x="272934" y="170675"/>
                      </a:cubicBezTo>
                      <a:lnTo>
                        <a:pt x="57050" y="170675"/>
                      </a:lnTo>
                      <a:cubicBezTo>
                        <a:pt x="25503" y="170675"/>
                        <a:pt x="-100" y="196278"/>
                        <a:pt x="-100" y="227825"/>
                      </a:cubicBezTo>
                      <a:lnTo>
                        <a:pt x="-100" y="284975"/>
                      </a:lnTo>
                      <a:cubicBezTo>
                        <a:pt x="-100" y="316522"/>
                        <a:pt x="25503" y="342125"/>
                        <a:pt x="57050" y="342125"/>
                      </a:cubicBezTo>
                      <a:lnTo>
                        <a:pt x="57050" y="799325"/>
                      </a:lnTo>
                      <a:cubicBezTo>
                        <a:pt x="57050" y="862447"/>
                        <a:pt x="108228" y="913625"/>
                        <a:pt x="171350" y="913625"/>
                      </a:cubicBezTo>
                      <a:lnTo>
                        <a:pt x="742850" y="913625"/>
                      </a:lnTo>
                      <a:cubicBezTo>
                        <a:pt x="805972" y="913625"/>
                        <a:pt x="857150" y="862447"/>
                        <a:pt x="857150" y="799325"/>
                      </a:cubicBezTo>
                      <a:lnTo>
                        <a:pt x="857150" y="342125"/>
                      </a:lnTo>
                      <a:cubicBezTo>
                        <a:pt x="888697" y="342125"/>
                        <a:pt x="914300" y="316522"/>
                        <a:pt x="914300" y="284975"/>
                      </a:cubicBezTo>
                      <a:lnTo>
                        <a:pt x="914300" y="227825"/>
                      </a:lnTo>
                      <a:cubicBezTo>
                        <a:pt x="914300" y="196278"/>
                        <a:pt x="888697" y="170675"/>
                        <a:pt x="857150" y="170675"/>
                      </a:cubicBezTo>
                      <a:lnTo>
                        <a:pt x="857150" y="170675"/>
                      </a:lnTo>
                      <a:close/>
                    </a:path>
                  </a:pathLst>
                </a:custGeom>
                <a:solidFill>
                  <a:srgbClr val="F0BE0F"/>
                </a:solidFill>
                <a:ln w="28575" cap="flat">
                  <a:solidFill>
                    <a:srgbClr val="F0BE0F"/>
                  </a:solidFill>
                  <a:prstDash val="solid"/>
                  <a:miter/>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endParaRPr>
                </a:p>
              </p:txBody>
            </p:sp>
          </p:grpSp>
          <p:sp>
            <p:nvSpPr>
              <p:cNvPr id="65" name="TextBox 64">
                <a:extLst>
                  <a:ext uri="{FF2B5EF4-FFF2-40B4-BE49-F238E27FC236}">
                    <a16:creationId xmlns:a16="http://schemas.microsoft.com/office/drawing/2014/main" id="{C5493D4F-CDD9-DF92-AD9B-3598977DFA55}"/>
                  </a:ext>
                </a:extLst>
              </p:cNvPr>
              <p:cNvSpPr txBox="1"/>
              <p:nvPr/>
            </p:nvSpPr>
            <p:spPr>
              <a:xfrm>
                <a:off x="515553" y="3847809"/>
                <a:ext cx="1437773" cy="707886"/>
              </a:xfrm>
              <a:prstGeom prst="rect">
                <a:avLst/>
              </a:prstGeom>
              <a:solidFill>
                <a:schemeClr val="bg1"/>
              </a:solidFill>
            </p:spPr>
            <p:txBody>
              <a:bodyPr wrap="square" rtlCol="0">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0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rPr>
                  <a:t>لیست تمامی </a:t>
                </a:r>
                <a:r>
                  <a:rPr kumimoji="0" lang="fa-IR" sz="1000" b="1" i="0" u="none" strike="noStrike" kern="1200" cap="none" spc="0" normalizeH="0" baseline="0" noProof="0" dirty="0">
                    <a:ln>
                      <a:noFill/>
                    </a:ln>
                    <a:solidFill>
                      <a:srgbClr val="FFC000"/>
                    </a:solidFill>
                    <a:effectLst/>
                    <a:uLnTx/>
                    <a:uFillTx/>
                    <a:latin typeface="Yekan Bakh" pitchFamily="2" charset="-78"/>
                    <a:ea typeface="Yekan Bakh" pitchFamily="2" charset="-78"/>
                    <a:cs typeface="Yekan Bakh" pitchFamily="2" charset="-78"/>
                  </a:rPr>
                  <a:t>محصولات و خدماتی </a:t>
                </a:r>
                <a:r>
                  <a:rPr kumimoji="0" lang="fa-IR" sz="10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rPr>
                  <a:t>که یک ارزش پیشنهادی بر </a:t>
                </a:r>
                <a:r>
                  <a:rPr kumimoji="0" lang="fa-IR" sz="1000" b="0" i="0" u="none" strike="noStrike" kern="1200" cap="none" spc="0" normalizeH="0" baseline="0" noProof="0" dirty="0" err="1">
                    <a:ln>
                      <a:noFill/>
                    </a:ln>
                    <a:solidFill>
                      <a:prstClr val="black"/>
                    </a:solidFill>
                    <a:effectLst/>
                    <a:uLnTx/>
                    <a:uFillTx/>
                    <a:latin typeface="Yekan Bakh" pitchFamily="2" charset="-78"/>
                    <a:ea typeface="Yekan Bakh" pitchFamily="2" charset="-78"/>
                    <a:cs typeface="Yekan Bakh" pitchFamily="2" charset="-78"/>
                  </a:rPr>
                  <a:t>پایه‌ی</a:t>
                </a:r>
                <a:r>
                  <a:rPr kumimoji="0" lang="fa-IR" sz="10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rPr>
                  <a:t> آن‌ها ساخته می‌شوند.</a:t>
                </a:r>
                <a:endParaRPr kumimoji="0" lang="en-US" sz="10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endParaRPr>
              </a:p>
            </p:txBody>
          </p:sp>
          <p:sp>
            <p:nvSpPr>
              <p:cNvPr id="68" name="TextBox 67">
                <a:extLst>
                  <a:ext uri="{FF2B5EF4-FFF2-40B4-BE49-F238E27FC236}">
                    <a16:creationId xmlns:a16="http://schemas.microsoft.com/office/drawing/2014/main" id="{96983C53-9FFA-3D6E-1148-661E2C33027F}"/>
                  </a:ext>
                </a:extLst>
              </p:cNvPr>
              <p:cNvSpPr txBox="1"/>
              <p:nvPr/>
            </p:nvSpPr>
            <p:spPr>
              <a:xfrm>
                <a:off x="2200377" y="5091677"/>
                <a:ext cx="1768316" cy="707886"/>
              </a:xfrm>
              <a:prstGeom prst="rect">
                <a:avLst/>
              </a:prstGeom>
              <a:solidFill>
                <a:schemeClr val="bg1"/>
              </a:solidFill>
            </p:spPr>
            <p:txBody>
              <a:bodyPr wrap="square" rtlCol="0">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err="1">
                    <a:ln>
                      <a:noFill/>
                    </a:ln>
                    <a:solidFill>
                      <a:srgbClr val="FFC000"/>
                    </a:solidFill>
                    <a:effectLst/>
                    <a:uLnTx/>
                    <a:uFillTx/>
                    <a:latin typeface="Yekan Bakh" pitchFamily="2" charset="-78"/>
                    <a:ea typeface="Yekan Bakh" pitchFamily="2" charset="-78"/>
                    <a:cs typeface="Yekan Bakh" pitchFamily="2" charset="-78"/>
                  </a:rPr>
                  <a:t>دردسرکاه‌ها</a:t>
                </a:r>
                <a:r>
                  <a:rPr kumimoji="0" lang="fa-IR" sz="10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rPr>
                  <a:t> توصیف می‌کنند که محصولات و </a:t>
                </a:r>
                <a:r>
                  <a:rPr kumimoji="0" lang="fa-IR" sz="1000" b="0" i="0" u="none" strike="noStrike" kern="1200" cap="none" spc="0" normalizeH="0" baseline="0" noProof="0" dirty="0" err="1">
                    <a:ln>
                      <a:noFill/>
                    </a:ln>
                    <a:solidFill>
                      <a:prstClr val="black"/>
                    </a:solidFill>
                    <a:effectLst/>
                    <a:uLnTx/>
                    <a:uFillTx/>
                    <a:latin typeface="Yekan Bakh" pitchFamily="2" charset="-78"/>
                    <a:ea typeface="Yekan Bakh" pitchFamily="2" charset="-78"/>
                    <a:cs typeface="Yekan Bakh" pitchFamily="2" charset="-78"/>
                  </a:rPr>
                  <a:t>خدماتتان</a:t>
                </a:r>
                <a:r>
                  <a:rPr kumimoji="0" lang="fa-IR" sz="10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rPr>
                  <a:t> چطور دردسرهای مشتریان را کاهش می‌دهند.</a:t>
                </a:r>
                <a:endParaRPr kumimoji="0" lang="en-US" sz="10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endParaRPr>
              </a:p>
            </p:txBody>
          </p:sp>
          <p:sp>
            <p:nvSpPr>
              <p:cNvPr id="72" name="TextBox 71">
                <a:extLst>
                  <a:ext uri="{FF2B5EF4-FFF2-40B4-BE49-F238E27FC236}">
                    <a16:creationId xmlns:a16="http://schemas.microsoft.com/office/drawing/2014/main" id="{45F4743D-874D-0CB1-87AB-D89F28B7E498}"/>
                  </a:ext>
                </a:extLst>
              </p:cNvPr>
              <p:cNvSpPr txBox="1"/>
              <p:nvPr/>
            </p:nvSpPr>
            <p:spPr>
              <a:xfrm>
                <a:off x="2035314" y="1754923"/>
                <a:ext cx="2098443" cy="553998"/>
              </a:xfrm>
              <a:prstGeom prst="rect">
                <a:avLst/>
              </a:prstGeom>
              <a:solidFill>
                <a:schemeClr val="bg1"/>
              </a:solidFill>
            </p:spPr>
            <p:txBody>
              <a:bodyPr wrap="square" rtlCol="0">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err="1">
                    <a:ln>
                      <a:noFill/>
                    </a:ln>
                    <a:solidFill>
                      <a:srgbClr val="FFC000"/>
                    </a:solidFill>
                    <a:effectLst/>
                    <a:uLnTx/>
                    <a:uFillTx/>
                    <a:latin typeface="Yekan Bakh" pitchFamily="2" charset="-78"/>
                    <a:ea typeface="Yekan Bakh" pitchFamily="2" charset="-78"/>
                    <a:cs typeface="Yekan Bakh" pitchFamily="2" charset="-78"/>
                  </a:rPr>
                  <a:t>منفعت‌سازها</a:t>
                </a:r>
                <a:r>
                  <a:rPr kumimoji="0" lang="fa-IR" sz="10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rPr>
                  <a:t> توصیف می‌کنند که محصولات و </a:t>
                </a:r>
                <a:r>
                  <a:rPr kumimoji="0" lang="fa-IR" sz="1000" b="0" i="0" u="none" strike="noStrike" kern="1200" cap="none" spc="0" normalizeH="0" baseline="0" noProof="0" dirty="0" err="1">
                    <a:ln>
                      <a:noFill/>
                    </a:ln>
                    <a:solidFill>
                      <a:prstClr val="black"/>
                    </a:solidFill>
                    <a:effectLst/>
                    <a:uLnTx/>
                    <a:uFillTx/>
                    <a:latin typeface="Yekan Bakh" pitchFamily="2" charset="-78"/>
                    <a:ea typeface="Yekan Bakh" pitchFamily="2" charset="-78"/>
                    <a:cs typeface="Yekan Bakh" pitchFamily="2" charset="-78"/>
                  </a:rPr>
                  <a:t>خدماتتان</a:t>
                </a:r>
                <a:r>
                  <a:rPr kumimoji="0" lang="fa-IR" sz="10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rPr>
                  <a:t> چطور برای مشتریان منفعت ایجاد می‌کنند.</a:t>
                </a:r>
                <a:endParaRPr kumimoji="0" lang="en-US" sz="10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endParaRPr>
              </a:p>
            </p:txBody>
          </p:sp>
        </p:grpSp>
        <p:grpSp>
          <p:nvGrpSpPr>
            <p:cNvPr id="6" name="Group 5">
              <a:extLst>
                <a:ext uri="{FF2B5EF4-FFF2-40B4-BE49-F238E27FC236}">
                  <a16:creationId xmlns:a16="http://schemas.microsoft.com/office/drawing/2014/main" id="{026E2A0D-67F8-E972-4330-2DE0E81A026D}"/>
                </a:ext>
              </a:extLst>
            </p:cNvPr>
            <p:cNvGrpSpPr/>
            <p:nvPr/>
          </p:nvGrpSpPr>
          <p:grpSpPr>
            <a:xfrm>
              <a:off x="4705537" y="3224784"/>
              <a:ext cx="2041212" cy="2628552"/>
              <a:chOff x="4840025" y="3224784"/>
              <a:chExt cx="2041212" cy="2628552"/>
            </a:xfrm>
          </p:grpSpPr>
          <p:sp>
            <p:nvSpPr>
              <p:cNvPr id="66" name="Oval 65">
                <a:extLst>
                  <a:ext uri="{FF2B5EF4-FFF2-40B4-BE49-F238E27FC236}">
                    <a16:creationId xmlns:a16="http://schemas.microsoft.com/office/drawing/2014/main" id="{3C300C09-76BC-B647-5E04-8F948E8D14A2}"/>
                  </a:ext>
                </a:extLst>
              </p:cNvPr>
              <p:cNvSpPr>
                <a:spLocks noChangeAspect="1"/>
              </p:cNvSpPr>
              <p:nvPr/>
            </p:nvSpPr>
            <p:spPr>
              <a:xfrm>
                <a:off x="5374962" y="3224784"/>
                <a:ext cx="938719" cy="938719"/>
              </a:xfrm>
              <a:prstGeom prst="ellipse">
                <a:avLst/>
              </a:prstGeom>
              <a:no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solidFill>
                      <a:srgbClr val="7030A0"/>
                    </a:solidFill>
                  </a:ln>
                  <a:solidFill>
                    <a:srgbClr val="7030A0"/>
                  </a:solidFill>
                  <a:effectLst/>
                  <a:uLnTx/>
                  <a:uFillTx/>
                  <a:latin typeface="Yekan Bakh" pitchFamily="2" charset="-78"/>
                  <a:ea typeface="Yekan Bakh" pitchFamily="2" charset="-78"/>
                  <a:cs typeface="Yekan Bakh" pitchFamily="2" charset="-78"/>
                </a:endParaRPr>
              </a:p>
            </p:txBody>
          </p:sp>
          <p:sp>
            <p:nvSpPr>
              <p:cNvPr id="78" name="TextBox 77">
                <a:extLst>
                  <a:ext uri="{FF2B5EF4-FFF2-40B4-BE49-F238E27FC236}">
                    <a16:creationId xmlns:a16="http://schemas.microsoft.com/office/drawing/2014/main" id="{0BDF1580-F1D6-E31A-271D-975130FAEF7D}"/>
                  </a:ext>
                </a:extLst>
              </p:cNvPr>
              <p:cNvSpPr txBox="1"/>
              <p:nvPr/>
            </p:nvSpPr>
            <p:spPr>
              <a:xfrm>
                <a:off x="5255270" y="3502987"/>
                <a:ext cx="1210722" cy="338554"/>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600" b="1" i="0" u="none" strike="noStrike" kern="1200" cap="none" spc="0" normalizeH="0" baseline="0" noProof="0" dirty="0">
                    <a:ln>
                      <a:noFill/>
                    </a:ln>
                    <a:solidFill>
                      <a:schemeClr val="tx1">
                        <a:lumMod val="50000"/>
                        <a:lumOff val="50000"/>
                      </a:schemeClr>
                    </a:solidFill>
                    <a:effectLst/>
                    <a:uLnTx/>
                    <a:uFillTx/>
                    <a:latin typeface="Yekan Bakh" pitchFamily="2" charset="-78"/>
                    <a:ea typeface="Yekan Bakh" pitchFamily="2" charset="-78"/>
                    <a:cs typeface="Yekan Bakh" pitchFamily="2" charset="-78"/>
                  </a:rPr>
                  <a:t>تناسب</a:t>
                </a:r>
                <a:endParaRPr kumimoji="0" lang="en-US" sz="4000" b="1" i="0" u="none" strike="noStrike" kern="1200" cap="none" spc="0" normalizeH="0" baseline="0" noProof="0" dirty="0">
                  <a:ln>
                    <a:noFill/>
                  </a:ln>
                  <a:solidFill>
                    <a:schemeClr val="tx1">
                      <a:lumMod val="50000"/>
                      <a:lumOff val="50000"/>
                    </a:schemeClr>
                  </a:solidFill>
                  <a:effectLst/>
                  <a:uLnTx/>
                  <a:uFillTx/>
                  <a:latin typeface="Yekan Bakh" pitchFamily="2" charset="-78"/>
                  <a:ea typeface="Yekan Bakh" pitchFamily="2" charset="-78"/>
                  <a:cs typeface="Yekan Bakh" pitchFamily="2" charset="-78"/>
                </a:endParaRPr>
              </a:p>
            </p:txBody>
          </p:sp>
          <p:sp>
            <p:nvSpPr>
              <p:cNvPr id="80" name="TextBox 79">
                <a:extLst>
                  <a:ext uri="{FF2B5EF4-FFF2-40B4-BE49-F238E27FC236}">
                    <a16:creationId xmlns:a16="http://schemas.microsoft.com/office/drawing/2014/main" id="{C17146B1-A048-573F-BCCB-C236ED99DD3D}"/>
                  </a:ext>
                </a:extLst>
              </p:cNvPr>
              <p:cNvSpPr txBox="1"/>
              <p:nvPr/>
            </p:nvSpPr>
            <p:spPr>
              <a:xfrm>
                <a:off x="4840025" y="4529897"/>
                <a:ext cx="2041212" cy="1323439"/>
              </a:xfrm>
              <a:prstGeom prst="rect">
                <a:avLst/>
              </a:prstGeom>
              <a:solidFill>
                <a:schemeClr val="bg1"/>
              </a:solidFill>
            </p:spPr>
            <p:txBody>
              <a:bodyPr wrap="square" rtlCol="0">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0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زمانی به </a:t>
                </a:r>
                <a:r>
                  <a:rPr kumimoji="0" lang="fa-IR" sz="1000" b="1" i="0" u="none" strike="noStrike" kern="1200" cap="none" spc="0" normalizeH="0" baseline="0" noProof="0" dirty="0">
                    <a:ln>
                      <a:noFill/>
                    </a:ln>
                    <a:solidFill>
                      <a:schemeClr val="tx1">
                        <a:lumMod val="50000"/>
                        <a:lumOff val="50000"/>
                      </a:schemeClr>
                    </a:solidFill>
                    <a:effectLst/>
                    <a:uLnTx/>
                    <a:uFillTx/>
                    <a:latin typeface="Yekan Bakh" pitchFamily="2" charset="-78"/>
                    <a:ea typeface="Yekan Bakh" pitchFamily="2" charset="-78"/>
                    <a:cs typeface="Yekan Bakh" pitchFamily="2" charset="-78"/>
                  </a:rPr>
                  <a:t>تناسب</a:t>
                </a:r>
                <a:r>
                  <a:rPr kumimoji="0" lang="fa-IR" sz="10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 دست </a:t>
                </a:r>
                <a:r>
                  <a:rPr kumimoji="0" lang="fa-IR" sz="1000" b="0" i="0" u="none" strike="noStrike" kern="1200" cap="none" spc="0" normalizeH="0" baseline="0" noProof="0" dirty="0" err="1">
                    <a:ln>
                      <a:noFill/>
                    </a:ln>
                    <a:solidFill>
                      <a:prstClr val="black">
                        <a:lumMod val="75000"/>
                        <a:lumOff val="25000"/>
                      </a:prstClr>
                    </a:solidFill>
                    <a:effectLst/>
                    <a:uLnTx/>
                    <a:uFillTx/>
                    <a:latin typeface="Yekan Bakh" pitchFamily="2" charset="-78"/>
                    <a:ea typeface="Yekan Bakh" pitchFamily="2" charset="-78"/>
                    <a:cs typeface="Yekan Bakh" pitchFamily="2" charset="-78"/>
                  </a:rPr>
                  <a:t>می‌یابید</a:t>
                </a:r>
                <a:r>
                  <a:rPr kumimoji="0" lang="fa-IR" sz="10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 که </a:t>
                </a:r>
                <a:r>
                  <a:rPr kumimoji="0" lang="fa-IR" sz="1000" b="0" i="0" u="none" strike="noStrike" kern="1200" cap="none" spc="0" normalizeH="0" baseline="0" noProof="0" dirty="0" err="1">
                    <a:ln>
                      <a:noFill/>
                    </a:ln>
                    <a:solidFill>
                      <a:prstClr val="black">
                        <a:lumMod val="75000"/>
                        <a:lumOff val="25000"/>
                      </a:prstClr>
                    </a:solidFill>
                    <a:effectLst/>
                    <a:uLnTx/>
                    <a:uFillTx/>
                    <a:latin typeface="Yekan Bakh" pitchFamily="2" charset="-78"/>
                    <a:ea typeface="Yekan Bakh" pitchFamily="2" charset="-78"/>
                    <a:cs typeface="Yekan Bakh" pitchFamily="2" charset="-78"/>
                  </a:rPr>
                  <a:t>نقشه‌ی</a:t>
                </a:r>
                <a:r>
                  <a:rPr kumimoji="0" lang="fa-IR" sz="10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 </a:t>
                </a:r>
                <a:r>
                  <a:rPr kumimoji="0" lang="fa-IR" sz="1000" b="0" i="0" u="none" strike="noStrike" kern="1200" cap="none" spc="0" normalizeH="0" baseline="0" noProof="0" dirty="0" err="1">
                    <a:ln>
                      <a:noFill/>
                    </a:ln>
                    <a:solidFill>
                      <a:prstClr val="black">
                        <a:lumMod val="75000"/>
                        <a:lumOff val="25000"/>
                      </a:prstClr>
                    </a:solidFill>
                    <a:effectLst/>
                    <a:uLnTx/>
                    <a:uFillTx/>
                    <a:latin typeface="Yekan Bakh" pitchFamily="2" charset="-78"/>
                    <a:ea typeface="Yekan Bakh" pitchFamily="2" charset="-78"/>
                    <a:cs typeface="Yekan Bakh" pitchFamily="2" charset="-78"/>
                  </a:rPr>
                  <a:t>ارزشتان</a:t>
                </a:r>
                <a:r>
                  <a:rPr kumimoji="0" lang="fa-IR" sz="10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 با پروفایل مشتری همخوانی داشته باشد. زمانی که محصولات و </a:t>
                </a:r>
                <a:r>
                  <a:rPr kumimoji="0" lang="fa-IR" sz="1000" b="0" i="0" u="none" strike="noStrike" kern="1200" cap="none" spc="0" normalizeH="0" baseline="0" noProof="0" dirty="0" err="1">
                    <a:ln>
                      <a:noFill/>
                    </a:ln>
                    <a:solidFill>
                      <a:prstClr val="black">
                        <a:lumMod val="75000"/>
                        <a:lumOff val="25000"/>
                      </a:prstClr>
                    </a:solidFill>
                    <a:effectLst/>
                    <a:uLnTx/>
                    <a:uFillTx/>
                    <a:latin typeface="Yekan Bakh" pitchFamily="2" charset="-78"/>
                    <a:ea typeface="Yekan Bakh" pitchFamily="2" charset="-78"/>
                    <a:cs typeface="Yekan Bakh" pitchFamily="2" charset="-78"/>
                  </a:rPr>
                  <a:t>خدمات‌تان</a:t>
                </a:r>
                <a:r>
                  <a:rPr kumimoji="0" lang="fa-IR" sz="10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 </a:t>
                </a:r>
                <a:r>
                  <a:rPr kumimoji="0" lang="fa-IR" sz="1000" b="0" i="0" u="none" strike="noStrike" kern="1200" cap="none" spc="0" normalizeH="0" baseline="0" noProof="0" dirty="0" err="1">
                    <a:ln>
                      <a:noFill/>
                    </a:ln>
                    <a:solidFill>
                      <a:prstClr val="black">
                        <a:lumMod val="75000"/>
                        <a:lumOff val="25000"/>
                      </a:prstClr>
                    </a:solidFill>
                    <a:effectLst/>
                    <a:uLnTx/>
                    <a:uFillTx/>
                    <a:latin typeface="Yekan Bakh" pitchFamily="2" charset="-78"/>
                    <a:ea typeface="Yekan Bakh" pitchFamily="2" charset="-78"/>
                    <a:cs typeface="Yekan Bakh" pitchFamily="2" charset="-78"/>
                  </a:rPr>
                  <a:t>دردسرکاه‌ها</a:t>
                </a:r>
                <a:r>
                  <a:rPr kumimoji="0" lang="fa-IR" sz="10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 و </a:t>
                </a:r>
                <a:r>
                  <a:rPr kumimoji="0" lang="fa-IR" sz="1000" b="0" i="0" u="none" strike="noStrike" kern="1200" cap="none" spc="0" normalizeH="0" baseline="0" noProof="0" dirty="0" err="1">
                    <a:ln>
                      <a:noFill/>
                    </a:ln>
                    <a:solidFill>
                      <a:prstClr val="black">
                        <a:lumMod val="75000"/>
                        <a:lumOff val="25000"/>
                      </a:prstClr>
                    </a:solidFill>
                    <a:effectLst/>
                    <a:uLnTx/>
                    <a:uFillTx/>
                    <a:latin typeface="Yekan Bakh" pitchFamily="2" charset="-78"/>
                    <a:ea typeface="Yekan Bakh" pitchFamily="2" charset="-78"/>
                    <a:cs typeface="Yekan Bakh" pitchFamily="2" charset="-78"/>
                  </a:rPr>
                  <a:t>منفعت‌سازهایی</a:t>
                </a:r>
                <a:r>
                  <a:rPr kumimoji="0" lang="fa-IR" sz="10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 در خود دارند که به یک یا چند کار، دردسر و منفعتی </a:t>
                </a:r>
                <a:r>
                  <a:rPr kumimoji="0" lang="fa-IR" sz="1000" b="0" i="0" u="none" strike="noStrike" kern="1200" cap="none" spc="0" normalizeH="0" baseline="0" noProof="0" dirty="0" err="1">
                    <a:ln>
                      <a:noFill/>
                    </a:ln>
                    <a:solidFill>
                      <a:prstClr val="black">
                        <a:lumMod val="75000"/>
                        <a:lumOff val="25000"/>
                      </a:prstClr>
                    </a:solidFill>
                    <a:effectLst/>
                    <a:uLnTx/>
                    <a:uFillTx/>
                    <a:latin typeface="Yekan Bakh" pitchFamily="2" charset="-78"/>
                    <a:ea typeface="Yekan Bakh" pitchFamily="2" charset="-78"/>
                    <a:cs typeface="Yekan Bakh" pitchFamily="2" charset="-78"/>
                  </a:rPr>
                  <a:t>می‌پردازند</a:t>
                </a:r>
                <a:r>
                  <a:rPr kumimoji="0" lang="fa-IR" sz="10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 که برای </a:t>
                </a:r>
                <a:r>
                  <a:rPr kumimoji="0" lang="fa-IR" sz="1000" b="0" i="0" u="none" strike="noStrike" kern="1200" cap="none" spc="0" normalizeH="0" baseline="0" noProof="0" dirty="0" err="1">
                    <a:ln>
                      <a:noFill/>
                    </a:ln>
                    <a:solidFill>
                      <a:prstClr val="black">
                        <a:lumMod val="75000"/>
                        <a:lumOff val="25000"/>
                      </a:prstClr>
                    </a:solidFill>
                    <a:effectLst/>
                    <a:uLnTx/>
                    <a:uFillTx/>
                    <a:latin typeface="Yekan Bakh" pitchFamily="2" charset="-78"/>
                    <a:ea typeface="Yekan Bakh" pitchFamily="2" charset="-78"/>
                    <a:cs typeface="Yekan Bakh" pitchFamily="2" charset="-78"/>
                  </a:rPr>
                  <a:t>مشتریان‌تان</a:t>
                </a:r>
                <a:r>
                  <a:rPr kumimoji="0" lang="fa-IR" sz="10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 مهم است.</a:t>
                </a:r>
                <a:endParaRPr kumimoji="0" lang="en-US" sz="1000" b="0" i="0" u="none" strike="noStrike" kern="1200" cap="none" spc="0" normalizeH="0" baseline="0" noProof="0" dirty="0">
                  <a:ln>
                    <a:noFill/>
                  </a:ln>
                  <a:solidFill>
                    <a:srgbClr val="7030A0"/>
                  </a:solidFill>
                  <a:effectLst/>
                  <a:uLnTx/>
                  <a:uFillTx/>
                  <a:latin typeface="Yekan Bakh" pitchFamily="2" charset="-78"/>
                  <a:ea typeface="Yekan Bakh" pitchFamily="2" charset="-78"/>
                  <a:cs typeface="Yekan Bakh" pitchFamily="2" charset="-78"/>
                </a:endParaRPr>
              </a:p>
            </p:txBody>
          </p:sp>
          <p:cxnSp>
            <p:nvCxnSpPr>
              <p:cNvPr id="100" name="Straight Arrow Connector 99">
                <a:extLst>
                  <a:ext uri="{FF2B5EF4-FFF2-40B4-BE49-F238E27FC236}">
                    <a16:creationId xmlns:a16="http://schemas.microsoft.com/office/drawing/2014/main" id="{165986B8-1A4F-1879-451B-36EA1E82467E}"/>
                  </a:ext>
                </a:extLst>
              </p:cNvPr>
              <p:cNvCxnSpPr>
                <a:cxnSpLocks/>
                <a:stCxn id="80" idx="0"/>
                <a:endCxn id="66" idx="4"/>
              </p:cNvCxnSpPr>
              <p:nvPr/>
            </p:nvCxnSpPr>
            <p:spPr>
              <a:xfrm flipH="1" flipV="1">
                <a:off x="5844322" y="4163503"/>
                <a:ext cx="16309" cy="366394"/>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7" name="Group 6">
              <a:extLst>
                <a:ext uri="{FF2B5EF4-FFF2-40B4-BE49-F238E27FC236}">
                  <a16:creationId xmlns:a16="http://schemas.microsoft.com/office/drawing/2014/main" id="{47E286DE-3696-BF60-9D1F-4CFE5B525D91}"/>
                </a:ext>
              </a:extLst>
            </p:cNvPr>
            <p:cNvGrpSpPr/>
            <p:nvPr/>
          </p:nvGrpSpPr>
          <p:grpSpPr>
            <a:xfrm>
              <a:off x="6953621" y="1754923"/>
              <a:ext cx="4042148" cy="3890752"/>
              <a:chOff x="6953621" y="1754923"/>
              <a:chExt cx="4042148" cy="3890752"/>
            </a:xfrm>
          </p:grpSpPr>
          <p:grpSp>
            <p:nvGrpSpPr>
              <p:cNvPr id="33" name="Group 32">
                <a:extLst>
                  <a:ext uri="{FF2B5EF4-FFF2-40B4-BE49-F238E27FC236}">
                    <a16:creationId xmlns:a16="http://schemas.microsoft.com/office/drawing/2014/main" id="{5B3D9A15-B4F3-B917-269E-7B079C90ADB2}"/>
                  </a:ext>
                </a:extLst>
              </p:cNvPr>
              <p:cNvGrpSpPr>
                <a:grpSpLocks noChangeAspect="1"/>
              </p:cNvGrpSpPr>
              <p:nvPr/>
            </p:nvGrpSpPr>
            <p:grpSpPr>
              <a:xfrm>
                <a:off x="6953621" y="2323867"/>
                <a:ext cx="2743200" cy="2743200"/>
                <a:chOff x="6669754" y="1644968"/>
                <a:chExt cx="3291840" cy="3291840"/>
              </a:xfrm>
            </p:grpSpPr>
            <p:sp>
              <p:nvSpPr>
                <p:cNvPr id="13" name="Oval 12">
                  <a:extLst>
                    <a:ext uri="{FF2B5EF4-FFF2-40B4-BE49-F238E27FC236}">
                      <a16:creationId xmlns:a16="http://schemas.microsoft.com/office/drawing/2014/main" id="{1428DD16-4D40-F0CF-1680-75B2F89925DF}"/>
                    </a:ext>
                  </a:extLst>
                </p:cNvPr>
                <p:cNvSpPr>
                  <a:spLocks noChangeAspect="1"/>
                </p:cNvSpPr>
                <p:nvPr/>
              </p:nvSpPr>
              <p:spPr>
                <a:xfrm>
                  <a:off x="6669754" y="1644968"/>
                  <a:ext cx="3291840" cy="3291840"/>
                </a:xfrm>
                <a:prstGeom prst="ellipse">
                  <a:avLst/>
                </a:prstGeom>
                <a:noFill/>
                <a:ln>
                  <a:solidFill>
                    <a:srgbClr val="0033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Yekan Bakh" pitchFamily="2" charset="-78"/>
                    <a:ea typeface="Yekan Bakh" pitchFamily="2" charset="-78"/>
                    <a:cs typeface="Yekan Bakh" pitchFamily="2" charset="-78"/>
                  </a:endParaRPr>
                </a:p>
              </p:txBody>
            </p:sp>
            <p:cxnSp>
              <p:nvCxnSpPr>
                <p:cNvPr id="25" name="Straight Connector 24">
                  <a:extLst>
                    <a:ext uri="{FF2B5EF4-FFF2-40B4-BE49-F238E27FC236}">
                      <a16:creationId xmlns:a16="http://schemas.microsoft.com/office/drawing/2014/main" id="{75C73792-01EA-3F7C-896C-A9D17719C22A}"/>
                    </a:ext>
                  </a:extLst>
                </p:cNvPr>
                <p:cNvCxnSpPr>
                  <a:cxnSpLocks/>
                  <a:endCxn id="13" idx="7"/>
                </p:cNvCxnSpPr>
                <p:nvPr/>
              </p:nvCxnSpPr>
              <p:spPr>
                <a:xfrm flipV="1">
                  <a:off x="8308362" y="2127047"/>
                  <a:ext cx="1171153" cy="1163841"/>
                </a:xfrm>
                <a:prstGeom prst="line">
                  <a:avLst/>
                </a:prstGeom>
                <a:ln w="12700">
                  <a:solidFill>
                    <a:srgbClr val="003399"/>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49B8785-F1A7-D2C9-3867-27D5FC627F3F}"/>
                    </a:ext>
                  </a:extLst>
                </p:cNvPr>
                <p:cNvCxnSpPr>
                  <a:cxnSpLocks/>
                  <a:endCxn id="13" idx="5"/>
                </p:cNvCxnSpPr>
                <p:nvPr/>
              </p:nvCxnSpPr>
              <p:spPr>
                <a:xfrm>
                  <a:off x="8308362" y="3292475"/>
                  <a:ext cx="1171153" cy="1162254"/>
                </a:xfrm>
                <a:prstGeom prst="line">
                  <a:avLst/>
                </a:prstGeom>
                <a:ln w="12700">
                  <a:solidFill>
                    <a:srgbClr val="003399"/>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8570483-1256-DA13-A21A-332AFD6C3011}"/>
                    </a:ext>
                  </a:extLst>
                </p:cNvPr>
                <p:cNvCxnSpPr>
                  <a:cxnSpLocks/>
                </p:cNvCxnSpPr>
                <p:nvPr/>
              </p:nvCxnSpPr>
              <p:spPr>
                <a:xfrm>
                  <a:off x="6669754" y="3289300"/>
                  <a:ext cx="1645920" cy="1587"/>
                </a:xfrm>
                <a:prstGeom prst="line">
                  <a:avLst/>
                </a:prstGeom>
                <a:ln w="12700">
                  <a:solidFill>
                    <a:srgbClr val="003399"/>
                  </a:solidFill>
                </a:ln>
              </p:spPr>
              <p:style>
                <a:lnRef idx="1">
                  <a:schemeClr val="accent1"/>
                </a:lnRef>
                <a:fillRef idx="0">
                  <a:schemeClr val="accent1"/>
                </a:fillRef>
                <a:effectRef idx="0">
                  <a:schemeClr val="accent1"/>
                </a:effectRef>
                <a:fontRef idx="minor">
                  <a:schemeClr val="tx1"/>
                </a:fontRef>
              </p:style>
            </p:cxnSp>
          </p:grpSp>
          <p:pic>
            <p:nvPicPr>
              <p:cNvPr id="37" name="Graphic 36">
                <a:extLst>
                  <a:ext uri="{FF2B5EF4-FFF2-40B4-BE49-F238E27FC236}">
                    <a16:creationId xmlns:a16="http://schemas.microsoft.com/office/drawing/2014/main" id="{9D507B14-1E67-842E-84FE-0D8DCD90DFF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630606" y="4306210"/>
                <a:ext cx="365760" cy="365760"/>
              </a:xfrm>
              <a:prstGeom prst="rect">
                <a:avLst/>
              </a:prstGeom>
            </p:spPr>
          </p:pic>
          <p:pic>
            <p:nvPicPr>
              <p:cNvPr id="39" name="Graphic 38">
                <a:extLst>
                  <a:ext uri="{FF2B5EF4-FFF2-40B4-BE49-F238E27FC236}">
                    <a16:creationId xmlns:a16="http://schemas.microsoft.com/office/drawing/2014/main" id="{C456CFD5-03DC-A493-57F6-07E32448F09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655213" y="2726381"/>
                <a:ext cx="365760" cy="365760"/>
              </a:xfrm>
              <a:prstGeom prst="rect">
                <a:avLst/>
              </a:prstGeom>
            </p:spPr>
          </p:pic>
          <p:grpSp>
            <p:nvGrpSpPr>
              <p:cNvPr id="58" name="Group 57">
                <a:extLst>
                  <a:ext uri="{FF2B5EF4-FFF2-40B4-BE49-F238E27FC236}">
                    <a16:creationId xmlns:a16="http://schemas.microsoft.com/office/drawing/2014/main" id="{AFD2C20F-2DD6-3293-76DB-5FADAC755364}"/>
                  </a:ext>
                </a:extLst>
              </p:cNvPr>
              <p:cNvGrpSpPr/>
              <p:nvPr/>
            </p:nvGrpSpPr>
            <p:grpSpPr>
              <a:xfrm>
                <a:off x="7813486" y="3213307"/>
                <a:ext cx="935254" cy="964320"/>
                <a:chOff x="5940657" y="2609320"/>
                <a:chExt cx="935254" cy="964320"/>
              </a:xfrm>
            </p:grpSpPr>
            <p:sp>
              <p:nvSpPr>
                <p:cNvPr id="57" name="Oval 56">
                  <a:extLst>
                    <a:ext uri="{FF2B5EF4-FFF2-40B4-BE49-F238E27FC236}">
                      <a16:creationId xmlns:a16="http://schemas.microsoft.com/office/drawing/2014/main" id="{5C249177-8424-754A-B0B9-E1AEC3C41654}"/>
                    </a:ext>
                  </a:extLst>
                </p:cNvPr>
                <p:cNvSpPr/>
                <p:nvPr/>
              </p:nvSpPr>
              <p:spPr>
                <a:xfrm>
                  <a:off x="5961511" y="2609320"/>
                  <a:ext cx="914400" cy="96432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pic>
              <p:nvPicPr>
                <p:cNvPr id="47" name="Graphic 46">
                  <a:extLst>
                    <a:ext uri="{FF2B5EF4-FFF2-40B4-BE49-F238E27FC236}">
                      <a16:creationId xmlns:a16="http://schemas.microsoft.com/office/drawing/2014/main" id="{6B55F9A5-0D1F-EEBA-A98A-C83CA05F0638}"/>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940657" y="2609320"/>
                  <a:ext cx="914400" cy="914400"/>
                </a:xfrm>
                <a:prstGeom prst="rect">
                  <a:avLst/>
                </a:prstGeom>
              </p:spPr>
            </p:pic>
          </p:grpSp>
          <p:pic>
            <p:nvPicPr>
              <p:cNvPr id="55" name="Graphic 54">
                <a:extLst>
                  <a:ext uri="{FF2B5EF4-FFF2-40B4-BE49-F238E27FC236}">
                    <a16:creationId xmlns:a16="http://schemas.microsoft.com/office/drawing/2014/main" id="{AD598FEF-AFFC-6528-EEA8-3C530BEA41BA}"/>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flipH="1">
                <a:off x="9013535" y="3622638"/>
                <a:ext cx="365760" cy="365760"/>
              </a:xfrm>
              <a:prstGeom prst="rect">
                <a:avLst/>
              </a:prstGeom>
            </p:spPr>
          </p:pic>
          <p:sp>
            <p:nvSpPr>
              <p:cNvPr id="70" name="TextBox 69">
                <a:extLst>
                  <a:ext uri="{FF2B5EF4-FFF2-40B4-BE49-F238E27FC236}">
                    <a16:creationId xmlns:a16="http://schemas.microsoft.com/office/drawing/2014/main" id="{0ED44D3D-CE00-4EF9-A82D-4024D99BEBCC}"/>
                  </a:ext>
                </a:extLst>
              </p:cNvPr>
              <p:cNvSpPr txBox="1"/>
              <p:nvPr/>
            </p:nvSpPr>
            <p:spPr>
              <a:xfrm>
                <a:off x="7441064" y="5091677"/>
                <a:ext cx="1768315" cy="553998"/>
              </a:xfrm>
              <a:prstGeom prst="rect">
                <a:avLst/>
              </a:prstGeom>
              <a:solidFill>
                <a:schemeClr val="bg1"/>
              </a:solidFill>
            </p:spPr>
            <p:txBody>
              <a:bodyPr wrap="square" rtlCol="0">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err="1">
                    <a:ln>
                      <a:noFill/>
                    </a:ln>
                    <a:solidFill>
                      <a:srgbClr val="003399"/>
                    </a:solidFill>
                    <a:effectLst/>
                    <a:uLnTx/>
                    <a:uFillTx/>
                    <a:latin typeface="Yekan Bakh" pitchFamily="2" charset="-78"/>
                    <a:ea typeface="Yekan Bakh" pitchFamily="2" charset="-78"/>
                    <a:cs typeface="Yekan Bakh" pitchFamily="2" charset="-78"/>
                  </a:rPr>
                  <a:t>دردسرها</a:t>
                </a:r>
                <a:r>
                  <a:rPr kumimoji="0" lang="fa-IR" sz="10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rPr>
                  <a:t> نتایج بد، </a:t>
                </a:r>
                <a:r>
                  <a:rPr kumimoji="0" lang="fa-IR" sz="1000" b="0" i="0" u="none" strike="noStrike" kern="1200" cap="none" spc="0" normalizeH="0" baseline="0" noProof="0" dirty="0" err="1">
                    <a:ln>
                      <a:noFill/>
                    </a:ln>
                    <a:solidFill>
                      <a:prstClr val="black"/>
                    </a:solidFill>
                    <a:effectLst/>
                    <a:uLnTx/>
                    <a:uFillTx/>
                    <a:latin typeface="Yekan Bakh" pitchFamily="2" charset="-78"/>
                    <a:ea typeface="Yekan Bakh" pitchFamily="2" charset="-78"/>
                    <a:cs typeface="Yekan Bakh" pitchFamily="2" charset="-78"/>
                  </a:rPr>
                  <a:t>ریسک‌ها</a:t>
                </a:r>
                <a:r>
                  <a:rPr kumimoji="0" lang="fa-IR" sz="10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rPr>
                  <a:t> و موانع مربوط به کارهای مشتری را توصیف می‌کنند.</a:t>
                </a:r>
                <a:endParaRPr kumimoji="0" lang="en-US" sz="10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endParaRPr>
              </a:p>
            </p:txBody>
          </p:sp>
          <p:sp>
            <p:nvSpPr>
              <p:cNvPr id="74" name="TextBox 73">
                <a:extLst>
                  <a:ext uri="{FF2B5EF4-FFF2-40B4-BE49-F238E27FC236}">
                    <a16:creationId xmlns:a16="http://schemas.microsoft.com/office/drawing/2014/main" id="{10F7249F-64A2-9B85-D62B-36E3784053AC}"/>
                  </a:ext>
                </a:extLst>
              </p:cNvPr>
              <p:cNvSpPr txBox="1"/>
              <p:nvPr/>
            </p:nvSpPr>
            <p:spPr>
              <a:xfrm>
                <a:off x="6955910" y="1754923"/>
                <a:ext cx="2738623" cy="553998"/>
              </a:xfrm>
              <a:prstGeom prst="rect">
                <a:avLst/>
              </a:prstGeom>
              <a:solidFill>
                <a:schemeClr val="bg1"/>
              </a:solidFill>
            </p:spPr>
            <p:txBody>
              <a:bodyPr wrap="square" rtlCol="0">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err="1">
                    <a:ln>
                      <a:noFill/>
                    </a:ln>
                    <a:solidFill>
                      <a:srgbClr val="003399"/>
                    </a:solidFill>
                    <a:effectLst/>
                    <a:uLnTx/>
                    <a:uFillTx/>
                    <a:latin typeface="Yekan Bakh" pitchFamily="2" charset="-78"/>
                    <a:ea typeface="Yekan Bakh" pitchFamily="2" charset="-78"/>
                    <a:cs typeface="Yekan Bakh" pitchFamily="2" charset="-78"/>
                  </a:rPr>
                  <a:t>منفعت‌ها</a:t>
                </a:r>
                <a:r>
                  <a:rPr kumimoji="0" lang="fa-IR" sz="10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rPr>
                  <a:t> نتایجی را که مشتریان </a:t>
                </a:r>
                <a:r>
                  <a:rPr kumimoji="0" lang="fa-IR" sz="1000" b="0" i="0" u="none" strike="noStrike" kern="1200" cap="none" spc="0" normalizeH="0" baseline="0" noProof="0" dirty="0" err="1">
                    <a:ln>
                      <a:noFill/>
                    </a:ln>
                    <a:solidFill>
                      <a:prstClr val="black"/>
                    </a:solidFill>
                    <a:effectLst/>
                    <a:uLnTx/>
                    <a:uFillTx/>
                    <a:latin typeface="Yekan Bakh" pitchFamily="2" charset="-78"/>
                    <a:ea typeface="Yekan Bakh" pitchFamily="2" charset="-78"/>
                    <a:cs typeface="Yekan Bakh" pitchFamily="2" charset="-78"/>
                  </a:rPr>
                  <a:t>می‌خواهند</a:t>
                </a:r>
                <a:r>
                  <a:rPr kumimoji="0" lang="fa-IR" sz="10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rPr>
                  <a:t> </a:t>
                </a:r>
                <a:r>
                  <a:rPr kumimoji="0" lang="fa-IR" sz="1000" b="0" i="0" u="none" strike="noStrike" kern="1200" cap="none" spc="0" normalizeH="0" baseline="0" noProof="0" dirty="0" err="1">
                    <a:ln>
                      <a:noFill/>
                    </a:ln>
                    <a:solidFill>
                      <a:prstClr val="black"/>
                    </a:solidFill>
                    <a:effectLst/>
                    <a:uLnTx/>
                    <a:uFillTx/>
                    <a:latin typeface="Yekan Bakh" pitchFamily="2" charset="-78"/>
                    <a:ea typeface="Yekan Bakh" pitchFamily="2" charset="-78"/>
                    <a:cs typeface="Yekan Bakh" pitchFamily="2" charset="-78"/>
                  </a:rPr>
                  <a:t>به‌دست</a:t>
                </a:r>
                <a:r>
                  <a:rPr kumimoji="0" lang="fa-IR" sz="10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rPr>
                  <a:t> آورند یا </a:t>
                </a:r>
                <a:r>
                  <a:rPr kumimoji="0" lang="fa-IR" sz="1000" b="0" i="0" u="none" strike="noStrike" kern="1200" cap="none" spc="0" normalizeH="0" baseline="0" noProof="0" dirty="0" err="1">
                    <a:ln>
                      <a:noFill/>
                    </a:ln>
                    <a:solidFill>
                      <a:prstClr val="black"/>
                    </a:solidFill>
                    <a:effectLst/>
                    <a:uLnTx/>
                    <a:uFillTx/>
                    <a:latin typeface="Yekan Bakh" pitchFamily="2" charset="-78"/>
                    <a:ea typeface="Yekan Bakh" pitchFamily="2" charset="-78"/>
                    <a:cs typeface="Yekan Bakh" pitchFamily="2" charset="-78"/>
                  </a:rPr>
                  <a:t>فایده‌های</a:t>
                </a:r>
                <a:r>
                  <a:rPr kumimoji="0" lang="fa-IR" sz="10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rPr>
                  <a:t> ملموسی را که به دنبال آن هستند </a:t>
                </a:r>
                <a:r>
                  <a:rPr kumimoji="0" lang="fa-IR" sz="1000" b="0" i="0" u="none" strike="noStrike" kern="1200" cap="none" spc="0" normalizeH="0" baseline="0" noProof="0" dirty="0" err="1">
                    <a:ln>
                      <a:noFill/>
                    </a:ln>
                    <a:solidFill>
                      <a:prstClr val="black"/>
                    </a:solidFill>
                    <a:effectLst/>
                    <a:uLnTx/>
                    <a:uFillTx/>
                    <a:latin typeface="Yekan Bakh" pitchFamily="2" charset="-78"/>
                    <a:ea typeface="Yekan Bakh" pitchFamily="2" charset="-78"/>
                    <a:cs typeface="Yekan Bakh" pitchFamily="2" charset="-78"/>
                  </a:rPr>
                  <a:t>توضیف</a:t>
                </a:r>
                <a:r>
                  <a:rPr kumimoji="0" lang="fa-IR" sz="10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rPr>
                  <a:t> می‌کنند.</a:t>
                </a:r>
                <a:endParaRPr kumimoji="0" lang="en-US" sz="10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endParaRPr>
              </a:p>
            </p:txBody>
          </p:sp>
          <p:sp>
            <p:nvSpPr>
              <p:cNvPr id="76" name="TextBox 75">
                <a:extLst>
                  <a:ext uri="{FF2B5EF4-FFF2-40B4-BE49-F238E27FC236}">
                    <a16:creationId xmlns:a16="http://schemas.microsoft.com/office/drawing/2014/main" id="{472F01F5-EC77-E036-EB3D-CC8DECA5851F}"/>
                  </a:ext>
                </a:extLst>
              </p:cNvPr>
              <p:cNvSpPr txBox="1"/>
              <p:nvPr/>
            </p:nvSpPr>
            <p:spPr>
              <a:xfrm>
                <a:off x="9349849" y="2684104"/>
                <a:ext cx="1645920" cy="861774"/>
              </a:xfrm>
              <a:prstGeom prst="rect">
                <a:avLst/>
              </a:prstGeom>
              <a:solidFill>
                <a:schemeClr val="bg1"/>
              </a:solidFill>
            </p:spPr>
            <p:txBody>
              <a:bodyPr wrap="square" rtlCol="0">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rgbClr val="003399"/>
                    </a:solidFill>
                    <a:effectLst/>
                    <a:uLnTx/>
                    <a:uFillTx/>
                    <a:latin typeface="Yekan Bakh" pitchFamily="2" charset="-78"/>
                    <a:ea typeface="Yekan Bakh" pitchFamily="2" charset="-78"/>
                    <a:cs typeface="Yekan Bakh" pitchFamily="2" charset="-78"/>
                  </a:rPr>
                  <a:t>کارهای مشتری </a:t>
                </a:r>
                <a:r>
                  <a:rPr kumimoji="0" lang="fa-IR" sz="10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rPr>
                  <a:t>آنچه را که مشتریان </a:t>
                </a:r>
                <a:r>
                  <a:rPr kumimoji="0" lang="fa-IR" sz="1000" b="0" i="0" u="none" strike="noStrike" kern="1200" cap="none" spc="0" normalizeH="0" baseline="0" noProof="0" dirty="0" err="1">
                    <a:ln>
                      <a:noFill/>
                    </a:ln>
                    <a:solidFill>
                      <a:prstClr val="black"/>
                    </a:solidFill>
                    <a:effectLst/>
                    <a:uLnTx/>
                    <a:uFillTx/>
                    <a:latin typeface="Yekan Bakh" pitchFamily="2" charset="-78"/>
                    <a:ea typeface="Yekan Bakh" pitchFamily="2" charset="-78"/>
                    <a:cs typeface="Yekan Bakh" pitchFamily="2" charset="-78"/>
                  </a:rPr>
                  <a:t>می‌کوشند</a:t>
                </a:r>
                <a:r>
                  <a:rPr kumimoji="0" lang="fa-IR" sz="10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rPr>
                  <a:t> در شغل و زندگی خود انجام دهند به زبان خود آن‌ها توصیف می‌کند.</a:t>
                </a:r>
                <a:endParaRPr kumimoji="0" lang="en-US" sz="10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endParaRPr>
              </a:p>
            </p:txBody>
          </p:sp>
        </p:grpSp>
      </p:grpSp>
      <p:sp>
        <p:nvSpPr>
          <p:cNvPr id="110" name="TextBox 109">
            <a:extLst>
              <a:ext uri="{FF2B5EF4-FFF2-40B4-BE49-F238E27FC236}">
                <a16:creationId xmlns:a16="http://schemas.microsoft.com/office/drawing/2014/main" id="{62204390-7004-C3EF-944A-41F9706C627D}"/>
              </a:ext>
            </a:extLst>
          </p:cNvPr>
          <p:cNvSpPr txBox="1"/>
          <p:nvPr/>
        </p:nvSpPr>
        <p:spPr>
          <a:xfrm>
            <a:off x="6977560" y="5783459"/>
            <a:ext cx="4114073" cy="200055"/>
          </a:xfrm>
          <a:prstGeom prst="rect">
            <a:avLst/>
          </a:prstGeom>
          <a:solidFill>
            <a:schemeClr val="bg1"/>
          </a:solidFill>
        </p:spPr>
        <p:txBody>
          <a:bodyPr wrap="square" rtlCol="0">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7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منبع: کتاب خلق مدل کسب‌وکار اثر الکساندر </a:t>
            </a:r>
            <a:r>
              <a:rPr kumimoji="0" lang="fa-IR" sz="700" b="0" i="0" u="none" strike="noStrike" kern="1200" cap="none" spc="0" normalizeH="0" baseline="0" noProof="0" dirty="0" err="1">
                <a:ln>
                  <a:noFill/>
                </a:ln>
                <a:solidFill>
                  <a:prstClr val="black">
                    <a:lumMod val="75000"/>
                    <a:lumOff val="25000"/>
                  </a:prstClr>
                </a:solidFill>
                <a:effectLst/>
                <a:uLnTx/>
                <a:uFillTx/>
                <a:latin typeface="Yekan Bakh" pitchFamily="2" charset="-78"/>
                <a:ea typeface="Yekan Bakh" pitchFamily="2" charset="-78"/>
                <a:cs typeface="Yekan Bakh" pitchFamily="2" charset="-78"/>
              </a:rPr>
              <a:t>استروالدر</a:t>
            </a:r>
            <a:r>
              <a:rPr kumimoji="0" lang="fa-IR" sz="7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 و </a:t>
            </a:r>
            <a:r>
              <a:rPr kumimoji="0" lang="fa-IR" sz="700" b="0" i="0" u="none" strike="noStrike" kern="1200" cap="none" spc="0" normalizeH="0" baseline="0" noProof="0" dirty="0" err="1">
                <a:ln>
                  <a:noFill/>
                </a:ln>
                <a:solidFill>
                  <a:prstClr val="black">
                    <a:lumMod val="75000"/>
                    <a:lumOff val="25000"/>
                  </a:prstClr>
                </a:solidFill>
                <a:effectLst/>
                <a:uLnTx/>
                <a:uFillTx/>
                <a:latin typeface="Yekan Bakh" pitchFamily="2" charset="-78"/>
                <a:ea typeface="Yekan Bakh" pitchFamily="2" charset="-78"/>
                <a:cs typeface="Yekan Bakh" pitchFamily="2" charset="-78"/>
              </a:rPr>
              <a:t>ایو</a:t>
            </a:r>
            <a:r>
              <a:rPr kumimoji="0" lang="fa-IR" sz="7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 </a:t>
            </a:r>
            <a:r>
              <a:rPr kumimoji="0" lang="fa-IR" sz="700" b="0" i="0" u="none" strike="noStrike" kern="1200" cap="none" spc="0" normalizeH="0" baseline="0" noProof="0" dirty="0" err="1">
                <a:ln>
                  <a:noFill/>
                </a:ln>
                <a:solidFill>
                  <a:prstClr val="black">
                    <a:lumMod val="75000"/>
                    <a:lumOff val="25000"/>
                  </a:prstClr>
                </a:solidFill>
                <a:effectLst/>
                <a:uLnTx/>
                <a:uFillTx/>
                <a:latin typeface="Yekan Bakh" pitchFamily="2" charset="-78"/>
                <a:ea typeface="Yekan Bakh" pitchFamily="2" charset="-78"/>
                <a:cs typeface="Yekan Bakh" pitchFamily="2" charset="-78"/>
              </a:rPr>
              <a:t>پیگنیور</a:t>
            </a:r>
            <a:r>
              <a:rPr kumimoji="0" lang="fa-IR" sz="7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 انتشارات </a:t>
            </a:r>
            <a:r>
              <a:rPr kumimoji="0" lang="fa-IR" sz="700" b="0" i="0" u="none" strike="noStrike" kern="1200" cap="none" spc="0" normalizeH="0" baseline="0" noProof="0" dirty="0" err="1">
                <a:ln>
                  <a:noFill/>
                </a:ln>
                <a:solidFill>
                  <a:prstClr val="black">
                    <a:lumMod val="75000"/>
                    <a:lumOff val="25000"/>
                  </a:prstClr>
                </a:solidFill>
                <a:effectLst/>
                <a:uLnTx/>
                <a:uFillTx/>
                <a:latin typeface="Yekan Bakh" pitchFamily="2" charset="-78"/>
                <a:ea typeface="Yekan Bakh" pitchFamily="2" charset="-78"/>
                <a:cs typeface="Yekan Bakh" pitchFamily="2" charset="-78"/>
              </a:rPr>
              <a:t>آریانا</a:t>
            </a:r>
            <a:r>
              <a:rPr kumimoji="0" lang="fa-IR" sz="7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 قلم</a:t>
            </a:r>
            <a:endParaRPr kumimoji="0" lang="en-US" sz="700" b="0" i="0" u="none" strike="noStrike" kern="1200" cap="none" spc="0" normalizeH="0" baseline="0" noProof="0" dirty="0">
              <a:ln>
                <a:noFill/>
              </a:ln>
              <a:solidFill>
                <a:srgbClr val="7030A0"/>
              </a:solidFill>
              <a:effectLst/>
              <a:uLnTx/>
              <a:uFillTx/>
              <a:latin typeface="Yekan Bakh" pitchFamily="2" charset="-78"/>
              <a:ea typeface="Yekan Bakh" pitchFamily="2" charset="-78"/>
              <a:cs typeface="Yekan Bakh" pitchFamily="2" charset="-78"/>
            </a:endParaRPr>
          </a:p>
        </p:txBody>
      </p:sp>
    </p:spTree>
    <p:extLst>
      <p:ext uri="{BB962C8B-B14F-4D97-AF65-F5344CB8AC3E}">
        <p14:creationId xmlns:p14="http://schemas.microsoft.com/office/powerpoint/2010/main" val="61411002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A278AB1-D8C5-7AC8-5352-47B6D676C739}"/>
              </a:ext>
            </a:extLst>
          </p:cNvPr>
          <p:cNvSpPr>
            <a:spLocks noGrp="1"/>
          </p:cNvSpPr>
          <p:nvPr>
            <p:ph type="body" sz="quarter" idx="10"/>
          </p:nvPr>
        </p:nvSpPr>
        <p:spPr/>
        <p:txBody>
          <a:bodyPr/>
          <a:lstStyle/>
          <a:p>
            <a:endParaRPr lang="en-GB"/>
          </a:p>
        </p:txBody>
      </p:sp>
      <p:sp>
        <p:nvSpPr>
          <p:cNvPr id="3" name="Text Placeholder 2">
            <a:extLst>
              <a:ext uri="{FF2B5EF4-FFF2-40B4-BE49-F238E27FC236}">
                <a16:creationId xmlns:a16="http://schemas.microsoft.com/office/drawing/2014/main" id="{A37222A9-F912-9937-21FC-AA84C46DB8E1}"/>
              </a:ext>
            </a:extLst>
          </p:cNvPr>
          <p:cNvSpPr>
            <a:spLocks noGrp="1"/>
          </p:cNvSpPr>
          <p:nvPr>
            <p:ph type="body" sz="quarter" idx="12"/>
          </p:nvPr>
        </p:nvSpPr>
        <p:spPr/>
        <p:txBody>
          <a:bodyPr/>
          <a:lstStyle/>
          <a:p>
            <a:r>
              <a:rPr lang="fa-IR" dirty="0"/>
              <a:t>ریسک‌هایی که در طراحی مدل کسب‌وکار ممکن است متوجه ما شود </a:t>
            </a:r>
          </a:p>
        </p:txBody>
      </p:sp>
      <p:sp>
        <p:nvSpPr>
          <p:cNvPr id="30" name="Rectangle: Rounded Corners 29">
            <a:extLst>
              <a:ext uri="{FF2B5EF4-FFF2-40B4-BE49-F238E27FC236}">
                <a16:creationId xmlns:a16="http://schemas.microsoft.com/office/drawing/2014/main" id="{115B5C8C-B376-AE26-7629-DF0237465EDF}"/>
              </a:ext>
            </a:extLst>
          </p:cNvPr>
          <p:cNvSpPr/>
          <p:nvPr/>
        </p:nvSpPr>
        <p:spPr>
          <a:xfrm>
            <a:off x="1806173" y="1650783"/>
            <a:ext cx="6651059" cy="715361"/>
          </a:xfrm>
          <a:prstGeom prst="roundRect">
            <a:avLst>
              <a:gd name="adj" fmla="val 4800"/>
            </a:avLst>
          </a:prstGeom>
          <a:noFill/>
          <a:ln w="3175">
            <a:solidFill>
              <a:srgbClr val="F0BE0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07C6B640-775C-1806-E5A2-0A9A24445415}"/>
              </a:ext>
            </a:extLst>
          </p:cNvPr>
          <p:cNvSpPr/>
          <p:nvPr/>
        </p:nvSpPr>
        <p:spPr>
          <a:xfrm>
            <a:off x="8300931" y="1626390"/>
            <a:ext cx="1595947" cy="764146"/>
          </a:xfrm>
          <a:prstGeom prst="rect">
            <a:avLst/>
          </a:prstGeom>
          <a:solidFill>
            <a:schemeClr val="accent2">
              <a:lumMod val="20000"/>
              <a:lumOff val="8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4D80"/>
                </a:solidFill>
                <a:effectLst/>
                <a:uLnTx/>
                <a:uFillTx/>
                <a:latin typeface="Yekan Bakh" pitchFamily="2" charset="-78"/>
                <a:ea typeface="Yekan Bakh" pitchFamily="2" charset="-78"/>
                <a:cs typeface="Yekan Bakh" pitchFamily="2" charset="-78"/>
              </a:rPr>
              <a:t>Academic</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4D80"/>
                </a:solidFill>
                <a:effectLst/>
                <a:uLnTx/>
                <a:uFillTx/>
                <a:latin typeface="Yekan Bakh" pitchFamily="2" charset="-78"/>
                <a:ea typeface="Yekan Bakh" pitchFamily="2" charset="-78"/>
                <a:cs typeface="Yekan Bakh" pitchFamily="2" charset="-78"/>
              </a:rPr>
              <a:t>Bias</a:t>
            </a:r>
          </a:p>
        </p:txBody>
      </p:sp>
      <p:cxnSp>
        <p:nvCxnSpPr>
          <p:cNvPr id="10" name="Straight Connector 9">
            <a:extLst>
              <a:ext uri="{FF2B5EF4-FFF2-40B4-BE49-F238E27FC236}">
                <a16:creationId xmlns:a16="http://schemas.microsoft.com/office/drawing/2014/main" id="{FABD1BBB-FB97-3D63-6D8C-AECE744CC0A3}"/>
              </a:ext>
            </a:extLst>
          </p:cNvPr>
          <p:cNvCxnSpPr>
            <a:cxnSpLocks/>
          </p:cNvCxnSpPr>
          <p:nvPr/>
        </p:nvCxnSpPr>
        <p:spPr>
          <a:xfrm>
            <a:off x="8300475" y="2390536"/>
            <a:ext cx="1596283" cy="0"/>
          </a:xfrm>
          <a:prstGeom prst="line">
            <a:avLst/>
          </a:prstGeom>
          <a:ln w="57150">
            <a:solidFill>
              <a:srgbClr val="004D80"/>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D921DD75-8DF0-9D29-3076-3F8C3842B8AA}"/>
              </a:ext>
            </a:extLst>
          </p:cNvPr>
          <p:cNvSpPr txBox="1"/>
          <p:nvPr/>
        </p:nvSpPr>
        <p:spPr>
          <a:xfrm>
            <a:off x="1932637" y="1877658"/>
            <a:ext cx="6243206" cy="261610"/>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تمرکز بر چارچوب‌های تئوریک به‌جای تصمیمات اجرایی.</a:t>
            </a:r>
            <a:endParaRPr kumimoji="0" lang="en-US"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38" name="Rectangle: Rounded Corners 37">
            <a:extLst>
              <a:ext uri="{FF2B5EF4-FFF2-40B4-BE49-F238E27FC236}">
                <a16:creationId xmlns:a16="http://schemas.microsoft.com/office/drawing/2014/main" id="{BB3A4E16-4EDC-8D32-17CB-791C536DD445}"/>
              </a:ext>
            </a:extLst>
          </p:cNvPr>
          <p:cNvSpPr/>
          <p:nvPr/>
        </p:nvSpPr>
        <p:spPr>
          <a:xfrm>
            <a:off x="1806173" y="2550204"/>
            <a:ext cx="6651059" cy="715361"/>
          </a:xfrm>
          <a:prstGeom prst="roundRect">
            <a:avLst>
              <a:gd name="adj" fmla="val 4800"/>
            </a:avLst>
          </a:prstGeom>
          <a:noFill/>
          <a:ln w="3175">
            <a:solidFill>
              <a:srgbClr val="F0BE0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Rectangle 38">
            <a:extLst>
              <a:ext uri="{FF2B5EF4-FFF2-40B4-BE49-F238E27FC236}">
                <a16:creationId xmlns:a16="http://schemas.microsoft.com/office/drawing/2014/main" id="{E89A0859-6669-43FB-C767-69E5699C4916}"/>
              </a:ext>
            </a:extLst>
          </p:cNvPr>
          <p:cNvSpPr/>
          <p:nvPr/>
        </p:nvSpPr>
        <p:spPr>
          <a:xfrm>
            <a:off x="8300931" y="2525811"/>
            <a:ext cx="1595947" cy="764146"/>
          </a:xfrm>
          <a:prstGeom prst="rect">
            <a:avLst/>
          </a:prstGeom>
          <a:solidFill>
            <a:schemeClr val="accent2">
              <a:lumMod val="20000"/>
              <a:lumOff val="8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4D80"/>
                </a:solidFill>
                <a:effectLst/>
                <a:uLnTx/>
                <a:uFillTx/>
                <a:latin typeface="Yekan Bakh" pitchFamily="2" charset="-78"/>
                <a:ea typeface="Yekan Bakh" pitchFamily="2" charset="-78"/>
                <a:cs typeface="Yekan Bakh" pitchFamily="2" charset="-78"/>
              </a:rPr>
              <a:t>Analysis Paralysis </a:t>
            </a:r>
          </a:p>
        </p:txBody>
      </p:sp>
      <p:cxnSp>
        <p:nvCxnSpPr>
          <p:cNvPr id="40" name="Straight Connector 39">
            <a:extLst>
              <a:ext uri="{FF2B5EF4-FFF2-40B4-BE49-F238E27FC236}">
                <a16:creationId xmlns:a16="http://schemas.microsoft.com/office/drawing/2014/main" id="{C636F2E3-3108-20CD-B59A-D1456669DDC2}"/>
              </a:ext>
            </a:extLst>
          </p:cNvPr>
          <p:cNvCxnSpPr>
            <a:cxnSpLocks/>
          </p:cNvCxnSpPr>
          <p:nvPr/>
        </p:nvCxnSpPr>
        <p:spPr>
          <a:xfrm>
            <a:off x="8300475" y="3289957"/>
            <a:ext cx="1596283" cy="0"/>
          </a:xfrm>
          <a:prstGeom prst="line">
            <a:avLst/>
          </a:prstGeom>
          <a:ln w="57150">
            <a:solidFill>
              <a:srgbClr val="004D80"/>
            </a:solidFill>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91FE8A54-C4F9-0E05-D881-6FAB76AEC74E}"/>
              </a:ext>
            </a:extLst>
          </p:cNvPr>
          <p:cNvSpPr txBox="1"/>
          <p:nvPr/>
        </p:nvSpPr>
        <p:spPr>
          <a:xfrm>
            <a:off x="1932637" y="2777079"/>
            <a:ext cx="6243206" cy="261610"/>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تخصیص زمان بیش از حد به یک بخش خاص از پروژه به دلیل تحلیل بیش از حد و تصمیم‌گیری دیرهنگام. </a:t>
            </a:r>
          </a:p>
        </p:txBody>
      </p:sp>
      <p:sp>
        <p:nvSpPr>
          <p:cNvPr id="43" name="Rectangle: Rounded Corners 42">
            <a:extLst>
              <a:ext uri="{FF2B5EF4-FFF2-40B4-BE49-F238E27FC236}">
                <a16:creationId xmlns:a16="http://schemas.microsoft.com/office/drawing/2014/main" id="{D4E8F041-4D6F-9271-A97D-CFE43137626E}"/>
              </a:ext>
            </a:extLst>
          </p:cNvPr>
          <p:cNvSpPr/>
          <p:nvPr/>
        </p:nvSpPr>
        <p:spPr>
          <a:xfrm>
            <a:off x="1806173" y="3449625"/>
            <a:ext cx="6651059" cy="715361"/>
          </a:xfrm>
          <a:prstGeom prst="roundRect">
            <a:avLst>
              <a:gd name="adj" fmla="val 4800"/>
            </a:avLst>
          </a:prstGeom>
          <a:noFill/>
          <a:ln w="3175">
            <a:solidFill>
              <a:srgbClr val="F0BE0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Rectangle 43">
            <a:extLst>
              <a:ext uri="{FF2B5EF4-FFF2-40B4-BE49-F238E27FC236}">
                <a16:creationId xmlns:a16="http://schemas.microsoft.com/office/drawing/2014/main" id="{412D4E81-31ED-AF3C-220C-8C2AD9F87E2D}"/>
              </a:ext>
            </a:extLst>
          </p:cNvPr>
          <p:cNvSpPr/>
          <p:nvPr/>
        </p:nvSpPr>
        <p:spPr>
          <a:xfrm>
            <a:off x="8300931" y="3425232"/>
            <a:ext cx="1595947" cy="764146"/>
          </a:xfrm>
          <a:prstGeom prst="rect">
            <a:avLst/>
          </a:prstGeom>
          <a:solidFill>
            <a:schemeClr val="accent2">
              <a:lumMod val="20000"/>
              <a:lumOff val="8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4D80"/>
                </a:solidFill>
                <a:effectLst/>
                <a:uLnTx/>
                <a:uFillTx/>
                <a:latin typeface="Yekan Bakh" pitchFamily="2" charset="-78"/>
                <a:ea typeface="Yekan Bakh" pitchFamily="2" charset="-78"/>
                <a:cs typeface="Yekan Bakh" pitchFamily="2" charset="-78"/>
              </a:rPr>
              <a:t>Static</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4D80"/>
                </a:solidFill>
                <a:effectLst/>
                <a:uLnTx/>
                <a:uFillTx/>
                <a:latin typeface="Yekan Bakh" pitchFamily="2" charset="-78"/>
                <a:ea typeface="Yekan Bakh" pitchFamily="2" charset="-78"/>
                <a:cs typeface="Yekan Bakh" pitchFamily="2" charset="-78"/>
              </a:rPr>
              <a:t>Thinking </a:t>
            </a:r>
          </a:p>
        </p:txBody>
      </p:sp>
      <p:cxnSp>
        <p:nvCxnSpPr>
          <p:cNvPr id="45" name="Straight Connector 44">
            <a:extLst>
              <a:ext uri="{FF2B5EF4-FFF2-40B4-BE49-F238E27FC236}">
                <a16:creationId xmlns:a16="http://schemas.microsoft.com/office/drawing/2014/main" id="{39BA619B-5ACD-EFB1-26C9-E83B239A6B9C}"/>
              </a:ext>
            </a:extLst>
          </p:cNvPr>
          <p:cNvCxnSpPr>
            <a:cxnSpLocks/>
          </p:cNvCxnSpPr>
          <p:nvPr/>
        </p:nvCxnSpPr>
        <p:spPr>
          <a:xfrm>
            <a:off x="8300475" y="4189378"/>
            <a:ext cx="1596283" cy="0"/>
          </a:xfrm>
          <a:prstGeom prst="line">
            <a:avLst/>
          </a:prstGeom>
          <a:ln w="57150">
            <a:solidFill>
              <a:srgbClr val="004D80"/>
            </a:solidFill>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356D4543-9854-165A-83E3-77220AA5DF7A}"/>
              </a:ext>
            </a:extLst>
          </p:cNvPr>
          <p:cNvSpPr txBox="1"/>
          <p:nvPr/>
        </p:nvSpPr>
        <p:spPr>
          <a:xfrm>
            <a:off x="1932637" y="3591862"/>
            <a:ext cx="6243206" cy="430887"/>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تلقی خروجی هر مرحله به‌عنوان نسخه نهایی، در حالی که مدل کسب‌وکار باید با یادگیری و داده‌های جدید تکامل پیدا کند.</a:t>
            </a:r>
          </a:p>
        </p:txBody>
      </p:sp>
      <p:sp>
        <p:nvSpPr>
          <p:cNvPr id="53" name="Rectangle: Rounded Corners 52">
            <a:extLst>
              <a:ext uri="{FF2B5EF4-FFF2-40B4-BE49-F238E27FC236}">
                <a16:creationId xmlns:a16="http://schemas.microsoft.com/office/drawing/2014/main" id="{7E0DBFE8-66FB-834C-EABE-D21E99CD777F}"/>
              </a:ext>
            </a:extLst>
          </p:cNvPr>
          <p:cNvSpPr/>
          <p:nvPr/>
        </p:nvSpPr>
        <p:spPr>
          <a:xfrm>
            <a:off x="1806173" y="4349045"/>
            <a:ext cx="6651059" cy="715361"/>
          </a:xfrm>
          <a:prstGeom prst="roundRect">
            <a:avLst>
              <a:gd name="adj" fmla="val 4800"/>
            </a:avLst>
          </a:prstGeom>
          <a:noFill/>
          <a:ln w="3175">
            <a:solidFill>
              <a:srgbClr val="F0BE0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4" name="Rectangle 53">
            <a:extLst>
              <a:ext uri="{FF2B5EF4-FFF2-40B4-BE49-F238E27FC236}">
                <a16:creationId xmlns:a16="http://schemas.microsoft.com/office/drawing/2014/main" id="{ED0C5710-2A89-6EB9-54AA-E9AD6EE487D0}"/>
              </a:ext>
            </a:extLst>
          </p:cNvPr>
          <p:cNvSpPr/>
          <p:nvPr/>
        </p:nvSpPr>
        <p:spPr>
          <a:xfrm>
            <a:off x="8300931" y="4324652"/>
            <a:ext cx="1595947" cy="764146"/>
          </a:xfrm>
          <a:prstGeom prst="rect">
            <a:avLst/>
          </a:prstGeom>
          <a:solidFill>
            <a:schemeClr val="accent2">
              <a:lumMod val="20000"/>
              <a:lumOff val="8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4D80"/>
                </a:solidFill>
                <a:effectLst/>
                <a:uLnTx/>
                <a:uFillTx/>
                <a:latin typeface="Yekan Bakh" pitchFamily="2" charset="-78"/>
                <a:ea typeface="Yekan Bakh" pitchFamily="2" charset="-78"/>
                <a:cs typeface="Yekan Bakh" pitchFamily="2" charset="-78"/>
              </a:rPr>
              <a:t>Founder Alignment</a:t>
            </a:r>
          </a:p>
        </p:txBody>
      </p:sp>
      <p:cxnSp>
        <p:nvCxnSpPr>
          <p:cNvPr id="55" name="Straight Connector 54">
            <a:extLst>
              <a:ext uri="{FF2B5EF4-FFF2-40B4-BE49-F238E27FC236}">
                <a16:creationId xmlns:a16="http://schemas.microsoft.com/office/drawing/2014/main" id="{4740EB6E-21BA-492E-8F36-A065A1E80860}"/>
              </a:ext>
            </a:extLst>
          </p:cNvPr>
          <p:cNvCxnSpPr>
            <a:cxnSpLocks/>
          </p:cNvCxnSpPr>
          <p:nvPr/>
        </p:nvCxnSpPr>
        <p:spPr>
          <a:xfrm>
            <a:off x="8300475" y="5088798"/>
            <a:ext cx="1596283" cy="0"/>
          </a:xfrm>
          <a:prstGeom prst="line">
            <a:avLst/>
          </a:prstGeom>
          <a:ln w="57150">
            <a:solidFill>
              <a:srgbClr val="004D80"/>
            </a:solidFill>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A000020A-04FB-AEAC-9207-A61C5602F798}"/>
              </a:ext>
            </a:extLst>
          </p:cNvPr>
          <p:cNvSpPr txBox="1"/>
          <p:nvPr/>
        </p:nvSpPr>
        <p:spPr>
          <a:xfrm>
            <a:off x="1932637" y="4575920"/>
            <a:ext cx="6243206" cy="261610"/>
          </a:xfrm>
          <a:prstGeom prst="rect">
            <a:avLst/>
          </a:prstGeom>
          <a:noFill/>
        </p:spPr>
        <p:txBody>
          <a:bodyPr wrap="square">
            <a:spAutoFit/>
          </a:bodyPr>
          <a:lstStyle/>
          <a:p>
            <a:pPr marL="0" marR="0" lvl="0" indent="0" algn="r" defTabSz="457200"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عدم هم‌راستایی بین بنیان‌گذاران و تیم مشاور و نگرفتن بازخورد به موقع.</a:t>
            </a:r>
          </a:p>
        </p:txBody>
      </p:sp>
    </p:spTree>
    <p:extLst>
      <p:ext uri="{BB962C8B-B14F-4D97-AF65-F5344CB8AC3E}">
        <p14:creationId xmlns:p14="http://schemas.microsoft.com/office/powerpoint/2010/main" val="346818063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965840-F0B9-F9E0-CF92-949BAFB91917}"/>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57AC162A-9AF9-950E-85D3-4DE42E03E3E9}"/>
              </a:ext>
            </a:extLst>
          </p:cNvPr>
          <p:cNvGrpSpPr/>
          <p:nvPr/>
        </p:nvGrpSpPr>
        <p:grpSpPr>
          <a:xfrm>
            <a:off x="407773" y="2296705"/>
            <a:ext cx="4699486" cy="1989952"/>
            <a:chOff x="407773" y="2420387"/>
            <a:chExt cx="4699486" cy="1989952"/>
          </a:xfrm>
        </p:grpSpPr>
        <p:sp>
          <p:nvSpPr>
            <p:cNvPr id="9" name="TextBox 8">
              <a:extLst>
                <a:ext uri="{FF2B5EF4-FFF2-40B4-BE49-F238E27FC236}">
                  <a16:creationId xmlns:a16="http://schemas.microsoft.com/office/drawing/2014/main" id="{1B3F7C73-ECCD-3508-C79A-4AE7486D2B09}"/>
                </a:ext>
              </a:extLst>
            </p:cNvPr>
            <p:cNvSpPr txBox="1"/>
            <p:nvPr/>
          </p:nvSpPr>
          <p:spPr>
            <a:xfrm>
              <a:off x="593931" y="3553147"/>
              <a:ext cx="761426" cy="248914"/>
            </a:xfrm>
            <a:prstGeom prst="rect">
              <a:avLst/>
            </a:prstGeom>
            <a:noFill/>
          </p:spPr>
          <p:txBody>
            <a:bodyPr wrap="square" anchor="ctr">
              <a:spAutoFit/>
            </a:bodyPr>
            <a:lstStyle/>
            <a:p>
              <a:pPr marR="0" lvl="0" algn="ctr" defTabSz="914400" rtl="1" eaLnBrk="1" fontAlgn="auto" latinLnBrk="0" hangingPunct="1">
                <a:lnSpc>
                  <a:spcPct val="90000"/>
                </a:lnSpc>
                <a:spcBef>
                  <a:spcPts val="1117"/>
                </a:spcBef>
                <a:spcAft>
                  <a:spcPts val="0"/>
                </a:spcAft>
                <a:buClr>
                  <a:srgbClr val="F0BE0F"/>
                </a:buClr>
                <a:buSzTx/>
                <a:tabLst/>
                <a:defRPr/>
              </a:pPr>
              <a:r>
                <a:rPr kumimoji="0" lang="fa-IR" sz="1050" b="1" i="0" u="none" strike="noStrike" kern="1200" cap="none" spc="0" normalizeH="0" baseline="0" noProof="0" dirty="0">
                  <a:ln>
                    <a:noFill/>
                  </a:ln>
                  <a:solidFill>
                    <a:schemeClr val="bg1">
                      <a:lumMod val="50000"/>
                    </a:schemeClr>
                  </a:solidFill>
                  <a:effectLst/>
                  <a:uLnTx/>
                  <a:uFillTx/>
                  <a:latin typeface="Yekan Bakh" pitchFamily="2" charset="-78"/>
                  <a:ea typeface="Yekan Bakh" pitchFamily="2" charset="-78"/>
                  <a:cs typeface="Yekan Bakh" pitchFamily="2" charset="-78"/>
                </a:rPr>
                <a:t>اسلاید</a:t>
              </a:r>
              <a:endParaRPr kumimoji="0" lang="en-US" sz="1050" b="1" i="0" u="none" strike="noStrike" kern="1200" cap="none" spc="0" normalizeH="0" baseline="0" noProof="0" dirty="0">
                <a:ln>
                  <a:noFill/>
                </a:ln>
                <a:solidFill>
                  <a:schemeClr val="bg1">
                    <a:lumMod val="50000"/>
                  </a:schemeClr>
                </a:solidFill>
                <a:effectLst/>
                <a:uLnTx/>
                <a:uFillTx/>
                <a:latin typeface="Yekan Bakh" pitchFamily="2" charset="-78"/>
                <a:ea typeface="Yekan Bakh" pitchFamily="2" charset="-78"/>
                <a:cs typeface="Yekan Bakh" pitchFamily="2" charset="-78"/>
              </a:endParaRPr>
            </a:p>
          </p:txBody>
        </p:sp>
        <p:sp>
          <p:nvSpPr>
            <p:cNvPr id="13" name="TextBox 12">
              <a:extLst>
                <a:ext uri="{FF2B5EF4-FFF2-40B4-BE49-F238E27FC236}">
                  <a16:creationId xmlns:a16="http://schemas.microsoft.com/office/drawing/2014/main" id="{5A2C7C70-E604-1203-EA72-A53D12CD9CFD}"/>
                </a:ext>
              </a:extLst>
            </p:cNvPr>
            <p:cNvSpPr txBox="1"/>
            <p:nvPr/>
          </p:nvSpPr>
          <p:spPr>
            <a:xfrm>
              <a:off x="1648542" y="3855130"/>
              <a:ext cx="3458717" cy="263149"/>
            </a:xfrm>
            <a:prstGeom prst="rect">
              <a:avLst/>
            </a:prstGeom>
            <a:noFill/>
          </p:spPr>
          <p:txBody>
            <a:bodyPr wrap="square" anchor="ctr">
              <a:spAutoFit/>
            </a:bodyPr>
            <a:lstStyle/>
            <a:p>
              <a:pPr marL="285750" marR="0" lvl="0" indent="-285750" algn="r" defTabSz="914400" rtl="1" eaLnBrk="1" fontAlgn="auto" latinLnBrk="0" hangingPunct="1">
                <a:lnSpc>
                  <a:spcPct val="90000"/>
                </a:lnSpc>
                <a:spcBef>
                  <a:spcPts val="1117"/>
                </a:spcBef>
                <a:spcAft>
                  <a:spcPts val="0"/>
                </a:spcAft>
                <a:buClr>
                  <a:srgbClr val="F0BE0F"/>
                </a:buClr>
                <a:buSzTx/>
                <a:buFont typeface="Arial" panose="020B0604020202020204" pitchFamily="34" charset="0"/>
                <a:buChar char="•"/>
                <a:tabLst/>
                <a:defRPr/>
              </a:pPr>
              <a:r>
                <a:rPr kumimoji="0" lang="fa-IR" sz="1200" i="0" u="none" strike="noStrike" kern="1200" cap="none" spc="0" normalizeH="0" baseline="0" noProof="0" dirty="0">
                  <a:ln>
                    <a:noFill/>
                  </a:ln>
                  <a:solidFill>
                    <a:schemeClr val="bg1">
                      <a:lumMod val="75000"/>
                    </a:schemeClr>
                  </a:solidFill>
                  <a:effectLst/>
                  <a:uLnTx/>
                  <a:uFillTx/>
                  <a:latin typeface="Yekan Bakh" pitchFamily="2" charset="-78"/>
                  <a:ea typeface="Yekan Bakh" pitchFamily="2" charset="-78"/>
                  <a:cs typeface="Yekan Bakh" pitchFamily="2" charset="-78"/>
                </a:rPr>
                <a:t>مقدمه</a:t>
              </a:r>
            </a:p>
          </p:txBody>
        </p:sp>
        <p:sp>
          <p:nvSpPr>
            <p:cNvPr id="15" name="TextBox 14">
              <a:extLst>
                <a:ext uri="{FF2B5EF4-FFF2-40B4-BE49-F238E27FC236}">
                  <a16:creationId xmlns:a16="http://schemas.microsoft.com/office/drawing/2014/main" id="{8905FE19-CCB7-3D6D-CFA0-FF43689DD932}"/>
                </a:ext>
              </a:extLst>
            </p:cNvPr>
            <p:cNvSpPr txBox="1"/>
            <p:nvPr/>
          </p:nvSpPr>
          <p:spPr>
            <a:xfrm>
              <a:off x="525137" y="3840896"/>
              <a:ext cx="899015" cy="291618"/>
            </a:xfrm>
            <a:prstGeom prst="rect">
              <a:avLst/>
            </a:prstGeom>
            <a:noFill/>
          </p:spPr>
          <p:txBody>
            <a:bodyPr wrap="square" anchor="ctr">
              <a:spAutoFit/>
            </a:bodyPr>
            <a:lstStyle/>
            <a:p>
              <a:pPr marR="0" lvl="0" algn="ctr" defTabSz="914400" eaLnBrk="1" fontAlgn="auto" latinLnBrk="0" hangingPunct="1">
                <a:lnSpc>
                  <a:spcPct val="90000"/>
                </a:lnSpc>
                <a:spcBef>
                  <a:spcPts val="1117"/>
                </a:spcBef>
                <a:spcAft>
                  <a:spcPts val="0"/>
                </a:spcAft>
                <a:buClr>
                  <a:srgbClr val="F0BE0F"/>
                </a:buClr>
                <a:buSzTx/>
                <a:tabLst/>
                <a:defRPr/>
              </a:pPr>
              <a:r>
                <a:rPr lang="fa-IR" sz="1400" b="1" dirty="0">
                  <a:solidFill>
                    <a:schemeClr val="accent2">
                      <a:lumMod val="60000"/>
                      <a:lumOff val="40000"/>
                    </a:schemeClr>
                  </a:solidFill>
                  <a:latin typeface="Yekan Bakh FaNum SmBoldSmCond" pitchFamily="2" charset="-78"/>
                  <a:ea typeface="Yekan Bakh FaNum SmBoldSmCond" pitchFamily="2" charset="-78"/>
                  <a:cs typeface="Yekan Bakh FaNum SmBoldSmCond" pitchFamily="2" charset="-78"/>
                </a:rPr>
                <a:t>۴۸</a:t>
              </a:r>
              <a:endParaRPr kumimoji="0" lang="en-US" sz="1400" b="1" i="0" u="none" strike="noStrike" kern="1200" cap="none" spc="0" normalizeH="0" baseline="0" noProof="0" dirty="0">
                <a:ln>
                  <a:noFill/>
                </a:ln>
                <a:solidFill>
                  <a:schemeClr val="accent2">
                    <a:lumMod val="60000"/>
                    <a:lumOff val="40000"/>
                  </a:schemeClr>
                </a:solidFill>
                <a:effectLst/>
                <a:uLnTx/>
                <a:uFillTx/>
                <a:latin typeface="Yekan Bakh FaNum SmBoldSmCond" pitchFamily="2" charset="-78"/>
                <a:ea typeface="Yekan Bakh FaNum SmBoldSmCond" pitchFamily="2" charset="-78"/>
                <a:cs typeface="Yekan Bakh FaNum SmBoldSmCond" pitchFamily="2" charset="-78"/>
              </a:endParaRPr>
            </a:p>
          </p:txBody>
        </p:sp>
        <p:sp>
          <p:nvSpPr>
            <p:cNvPr id="19" name="TextBox 18">
              <a:extLst>
                <a:ext uri="{FF2B5EF4-FFF2-40B4-BE49-F238E27FC236}">
                  <a16:creationId xmlns:a16="http://schemas.microsoft.com/office/drawing/2014/main" id="{8EFE5617-1992-2D5B-9A1F-31E0415B75EF}"/>
                </a:ext>
              </a:extLst>
            </p:cNvPr>
            <p:cNvSpPr txBox="1"/>
            <p:nvPr/>
          </p:nvSpPr>
          <p:spPr>
            <a:xfrm>
              <a:off x="1648542" y="4132955"/>
              <a:ext cx="3458717" cy="263149"/>
            </a:xfrm>
            <a:prstGeom prst="rect">
              <a:avLst/>
            </a:prstGeom>
            <a:noFill/>
          </p:spPr>
          <p:txBody>
            <a:bodyPr wrap="square" anchor="ctr">
              <a:spAutoFit/>
            </a:bodyPr>
            <a:lstStyle/>
            <a:p>
              <a:pPr marL="285750" marR="0" lvl="0" indent="-285750" algn="r" defTabSz="914400" rtl="1" eaLnBrk="1" fontAlgn="auto" latinLnBrk="0" hangingPunct="1">
                <a:lnSpc>
                  <a:spcPct val="90000"/>
                </a:lnSpc>
                <a:spcBef>
                  <a:spcPts val="1117"/>
                </a:spcBef>
                <a:spcAft>
                  <a:spcPts val="0"/>
                </a:spcAft>
                <a:buClr>
                  <a:srgbClr val="F0BE0F"/>
                </a:buClr>
                <a:buSzTx/>
                <a:buFont typeface="Arial" panose="020B0604020202020204" pitchFamily="34" charset="0"/>
                <a:buChar char="•"/>
                <a:tabLst/>
                <a:defRPr/>
              </a:pPr>
              <a:r>
                <a:rPr kumimoji="0" lang="fa-IR" sz="1200" i="0" u="none" strike="noStrike" kern="1200" cap="none" spc="0" normalizeH="0" baseline="0" noProof="0" dirty="0">
                  <a:ln>
                    <a:noFill/>
                  </a:ln>
                  <a:solidFill>
                    <a:schemeClr val="bg1">
                      <a:lumMod val="75000"/>
                    </a:schemeClr>
                  </a:solidFill>
                  <a:effectLst/>
                  <a:uLnTx/>
                  <a:uFillTx/>
                  <a:latin typeface="Yekan Bakh" pitchFamily="2" charset="-78"/>
                  <a:ea typeface="Yekan Bakh" pitchFamily="2" charset="-78"/>
                  <a:cs typeface="Yekan Bakh" pitchFamily="2" charset="-78"/>
                </a:rPr>
                <a:t>خلاصه مدیریتی</a:t>
              </a:r>
            </a:p>
          </p:txBody>
        </p:sp>
        <p:sp>
          <p:nvSpPr>
            <p:cNvPr id="21" name="TextBox 20">
              <a:extLst>
                <a:ext uri="{FF2B5EF4-FFF2-40B4-BE49-F238E27FC236}">
                  <a16:creationId xmlns:a16="http://schemas.microsoft.com/office/drawing/2014/main" id="{2BE10E41-3D85-F905-0FF1-5FA29A8C3C72}"/>
                </a:ext>
              </a:extLst>
            </p:cNvPr>
            <p:cNvSpPr txBox="1"/>
            <p:nvPr/>
          </p:nvSpPr>
          <p:spPr>
            <a:xfrm>
              <a:off x="525137" y="4118721"/>
              <a:ext cx="899015" cy="291618"/>
            </a:xfrm>
            <a:prstGeom prst="rect">
              <a:avLst/>
            </a:prstGeom>
            <a:noFill/>
          </p:spPr>
          <p:txBody>
            <a:bodyPr wrap="square" anchor="ctr">
              <a:spAutoFit/>
            </a:bodyPr>
            <a:lstStyle/>
            <a:p>
              <a:pPr marR="0" lvl="0" algn="ctr" defTabSz="914400" eaLnBrk="1" fontAlgn="auto" latinLnBrk="0" hangingPunct="1">
                <a:lnSpc>
                  <a:spcPct val="90000"/>
                </a:lnSpc>
                <a:spcBef>
                  <a:spcPts val="1117"/>
                </a:spcBef>
                <a:spcAft>
                  <a:spcPts val="0"/>
                </a:spcAft>
                <a:buClr>
                  <a:srgbClr val="F0BE0F"/>
                </a:buClr>
                <a:buSzTx/>
                <a:tabLst/>
                <a:defRPr/>
              </a:pPr>
              <a:r>
                <a:rPr lang="fa-IR" sz="1400" b="1" dirty="0">
                  <a:solidFill>
                    <a:schemeClr val="accent2">
                      <a:lumMod val="60000"/>
                      <a:lumOff val="40000"/>
                    </a:schemeClr>
                  </a:solidFill>
                  <a:latin typeface="Yekan Bakh FaNum SmBoldSmCond" pitchFamily="2" charset="-78"/>
                  <a:ea typeface="Yekan Bakh FaNum SmBoldSmCond" pitchFamily="2" charset="-78"/>
                  <a:cs typeface="Yekan Bakh FaNum SmBoldSmCond" pitchFamily="2" charset="-78"/>
                </a:rPr>
                <a:t>۴۹</a:t>
              </a:r>
              <a:endParaRPr kumimoji="0" lang="en-US" sz="1400" b="1" i="0" u="none" strike="noStrike" kern="1200" cap="none" spc="0" normalizeH="0" baseline="0" noProof="0" dirty="0">
                <a:ln>
                  <a:noFill/>
                </a:ln>
                <a:solidFill>
                  <a:schemeClr val="accent2">
                    <a:lumMod val="60000"/>
                    <a:lumOff val="40000"/>
                  </a:schemeClr>
                </a:solidFill>
                <a:effectLst/>
                <a:uLnTx/>
                <a:uFillTx/>
                <a:latin typeface="Yekan Bakh FaNum SmBoldSmCond" pitchFamily="2" charset="-78"/>
                <a:ea typeface="Yekan Bakh FaNum SmBoldSmCond" pitchFamily="2" charset="-78"/>
                <a:cs typeface="Yekan Bakh FaNum SmBoldSmCond" pitchFamily="2" charset="-78"/>
              </a:endParaRPr>
            </a:p>
          </p:txBody>
        </p:sp>
        <p:sp>
          <p:nvSpPr>
            <p:cNvPr id="23" name="Title 1">
              <a:extLst>
                <a:ext uri="{FF2B5EF4-FFF2-40B4-BE49-F238E27FC236}">
                  <a16:creationId xmlns:a16="http://schemas.microsoft.com/office/drawing/2014/main" id="{DACADA70-4253-58E4-4527-E8ED70ACCED2}"/>
                </a:ext>
              </a:extLst>
            </p:cNvPr>
            <p:cNvSpPr txBox="1">
              <a:spLocks/>
            </p:cNvSpPr>
            <p:nvPr/>
          </p:nvSpPr>
          <p:spPr>
            <a:xfrm>
              <a:off x="407773" y="2420387"/>
              <a:ext cx="4699486" cy="693069"/>
            </a:xfrm>
            <a:prstGeom prst="rect">
              <a:avLst/>
            </a:prstGeom>
          </p:spPr>
          <p:txBody>
            <a:bodyPr lIns="91440" tIns="45720" rIns="91440" bIns="45720" anchor="t"/>
            <a:lstStyle>
              <a:lvl1pPr algn="justLow" defTabSz="1021516" rtl="1" eaLnBrk="1" latinLnBrk="0" hangingPunct="1">
                <a:lnSpc>
                  <a:spcPct val="90000"/>
                </a:lnSpc>
                <a:spcBef>
                  <a:spcPct val="0"/>
                </a:spcBef>
                <a:buNone/>
                <a:defRPr sz="4500" b="1" kern="1200">
                  <a:solidFill>
                    <a:schemeClr val="tx1">
                      <a:lumMod val="75000"/>
                      <a:lumOff val="25000"/>
                    </a:schemeClr>
                  </a:solidFill>
                  <a:latin typeface="Shabnam Bold FD" panose="020B0603030804020204" pitchFamily="34" charset="-78"/>
                  <a:ea typeface="+mj-ea"/>
                  <a:cs typeface="Shabnam Bold FD" panose="020B0603030804020204" pitchFamily="34" charset="-78"/>
                </a:defRPr>
              </a:lvl1pPr>
            </a:lstStyle>
            <a:p>
              <a:pPr marL="0" marR="0" lvl="0" indent="0" algn="ctr" defTabSz="1021516" rtl="0" eaLnBrk="1" fontAlgn="auto" latinLnBrk="0" hangingPunct="1">
                <a:lnSpc>
                  <a:spcPct val="90000"/>
                </a:lnSpc>
                <a:spcBef>
                  <a:spcPct val="0"/>
                </a:spcBef>
                <a:spcAft>
                  <a:spcPts val="0"/>
                </a:spcAft>
                <a:buClrTx/>
                <a:buSzTx/>
                <a:buFontTx/>
                <a:buNone/>
                <a:tabLst/>
                <a:defRPr/>
              </a:pPr>
              <a:r>
                <a:rPr kumimoji="0" lang="fa-IR" sz="3200" b="1" i="0" strike="noStrike" kern="1200" cap="none" spc="0" normalizeH="0" baseline="0" noProof="0" dirty="0">
                  <a:ln>
                    <a:noFill/>
                  </a:ln>
                  <a:solidFill>
                    <a:sysClr val="window" lastClr="FFFFFF">
                      <a:lumMod val="75000"/>
                      <a:lumOff val="25000"/>
                    </a:sysClr>
                  </a:solidFill>
                  <a:effectLst/>
                  <a:uLnTx/>
                  <a:uFillTx/>
                  <a:latin typeface="Yekan Bakh" pitchFamily="2" charset="-78"/>
                  <a:ea typeface="Yekan Bakh" pitchFamily="2" charset="-78"/>
                  <a:cs typeface="Yekan Bakh" pitchFamily="2" charset="-78"/>
                </a:rPr>
                <a:t>ارزش‌های</a:t>
              </a:r>
            </a:p>
            <a:p>
              <a:pPr marL="0" marR="0" lvl="0" indent="0" algn="ctr" defTabSz="1021516" rtl="0" eaLnBrk="1" fontAlgn="auto" latinLnBrk="0" hangingPunct="1">
                <a:lnSpc>
                  <a:spcPct val="90000"/>
                </a:lnSpc>
                <a:spcBef>
                  <a:spcPct val="0"/>
                </a:spcBef>
                <a:spcAft>
                  <a:spcPts val="0"/>
                </a:spcAft>
                <a:buClrTx/>
                <a:buSzTx/>
                <a:buFontTx/>
                <a:buNone/>
                <a:tabLst/>
                <a:defRPr/>
              </a:pPr>
              <a:r>
                <a:rPr kumimoji="0" lang="fa-IR" sz="3200" b="1" i="0" strike="noStrike" kern="1200" cap="none" spc="0" normalizeH="0" baseline="0" noProof="0" dirty="0">
                  <a:ln>
                    <a:noFill/>
                  </a:ln>
                  <a:solidFill>
                    <a:sysClr val="window" lastClr="FFFFFF">
                      <a:lumMod val="75000"/>
                      <a:lumOff val="25000"/>
                    </a:sysClr>
                  </a:solidFill>
                  <a:effectLst/>
                  <a:uLnTx/>
                  <a:uFillTx/>
                  <a:latin typeface="Yekan Bakh" pitchFamily="2" charset="-78"/>
                  <a:ea typeface="Yekan Bakh" pitchFamily="2" charset="-78"/>
                  <a:cs typeface="Yekan Bakh" pitchFamily="2" charset="-78"/>
                </a:rPr>
                <a:t>پیشنهادی سیمر</a:t>
              </a:r>
              <a:r>
                <a:rPr lang="fa-IR" sz="3200" dirty="0">
                  <a:solidFill>
                    <a:sysClr val="window" lastClr="FFFFFF">
                      <a:lumMod val="75000"/>
                      <a:lumOff val="25000"/>
                    </a:sysClr>
                  </a:solidFill>
                  <a:latin typeface="Yekan Bakh" pitchFamily="2" charset="-78"/>
                  <a:ea typeface="Yekan Bakh" pitchFamily="2" charset="-78"/>
                  <a:cs typeface="Yekan Bakh" pitchFamily="2" charset="-78"/>
                </a:rPr>
                <a:t>غ</a:t>
              </a:r>
              <a:endParaRPr kumimoji="0" lang="fa-IR" sz="3200" b="1" i="0" strike="noStrike" kern="1200" cap="none" spc="0" normalizeH="0" baseline="0" noProof="0" dirty="0">
                <a:ln>
                  <a:noFill/>
                </a:ln>
                <a:solidFill>
                  <a:sysClr val="window" lastClr="FFFFFF">
                    <a:lumMod val="75000"/>
                    <a:lumOff val="25000"/>
                  </a:sysClr>
                </a:solidFill>
                <a:effectLst/>
                <a:uLnTx/>
                <a:uFillTx/>
                <a:latin typeface="Yekan Bakh" pitchFamily="2" charset="-78"/>
                <a:ea typeface="Yekan Bakh" pitchFamily="2" charset="-78"/>
                <a:cs typeface="Yekan Bakh" pitchFamily="2" charset="-78"/>
              </a:endParaRPr>
            </a:p>
          </p:txBody>
        </p:sp>
        <p:cxnSp>
          <p:nvCxnSpPr>
            <p:cNvPr id="25" name="Straight Connector 24">
              <a:extLst>
                <a:ext uri="{FF2B5EF4-FFF2-40B4-BE49-F238E27FC236}">
                  <a16:creationId xmlns:a16="http://schemas.microsoft.com/office/drawing/2014/main" id="{FA18F627-8D91-3BF2-D6C0-F78F17A7A769}"/>
                </a:ext>
              </a:extLst>
            </p:cNvPr>
            <p:cNvCxnSpPr>
              <a:cxnSpLocks/>
            </p:cNvCxnSpPr>
            <p:nvPr/>
          </p:nvCxnSpPr>
          <p:spPr>
            <a:xfrm flipV="1">
              <a:off x="407773" y="3492596"/>
              <a:ext cx="4699486" cy="19385"/>
            </a:xfrm>
            <a:prstGeom prst="line">
              <a:avLst/>
            </a:prstGeom>
            <a:ln w="3175">
              <a:solidFill>
                <a:srgbClr val="F0BE0F">
                  <a:alpha val="74000"/>
                </a:srgb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8196141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22E4EF-1968-B4B4-7655-BF5F4D3C399A}"/>
            </a:ext>
          </a:extLst>
        </p:cNvPr>
        <p:cNvGrpSpPr/>
        <p:nvPr/>
      </p:nvGrpSpPr>
      <p:grpSpPr>
        <a:xfrm>
          <a:off x="0" y="0"/>
          <a:ext cx="0" cy="0"/>
          <a:chOff x="0" y="0"/>
          <a:chExt cx="0" cy="0"/>
        </a:xfrm>
      </p:grpSpPr>
      <p:cxnSp>
        <p:nvCxnSpPr>
          <p:cNvPr id="14" name="Straight Connector 13">
            <a:extLst>
              <a:ext uri="{FF2B5EF4-FFF2-40B4-BE49-F238E27FC236}">
                <a16:creationId xmlns:a16="http://schemas.microsoft.com/office/drawing/2014/main" id="{45AD757A-DB9B-DA11-CF0A-503C8835E83E}"/>
              </a:ext>
            </a:extLst>
          </p:cNvPr>
          <p:cNvCxnSpPr>
            <a:cxnSpLocks/>
          </p:cNvCxnSpPr>
          <p:nvPr/>
        </p:nvCxnSpPr>
        <p:spPr>
          <a:xfrm>
            <a:off x="2538516" y="1298702"/>
            <a:ext cx="0" cy="2926080"/>
          </a:xfrm>
          <a:prstGeom prst="line">
            <a:avLst/>
          </a:prstGeom>
          <a:ln w="6350">
            <a:solidFill>
              <a:schemeClr val="bg1">
                <a:lumMod val="85000"/>
              </a:schemeClr>
            </a:solidFill>
            <a:prstDash val="dash"/>
          </a:ln>
        </p:spPr>
        <p:style>
          <a:lnRef idx="1">
            <a:schemeClr val="accent4"/>
          </a:lnRef>
          <a:fillRef idx="0">
            <a:schemeClr val="accent4"/>
          </a:fillRef>
          <a:effectRef idx="0">
            <a:schemeClr val="accent4"/>
          </a:effectRef>
          <a:fontRef idx="minor">
            <a:schemeClr val="tx1"/>
          </a:fontRef>
        </p:style>
      </p:cxnSp>
      <p:cxnSp>
        <p:nvCxnSpPr>
          <p:cNvPr id="15" name="Straight Connector 14">
            <a:extLst>
              <a:ext uri="{FF2B5EF4-FFF2-40B4-BE49-F238E27FC236}">
                <a16:creationId xmlns:a16="http://schemas.microsoft.com/office/drawing/2014/main" id="{83D4F9E9-1B9E-3695-708F-627290398E3A}"/>
              </a:ext>
            </a:extLst>
          </p:cNvPr>
          <p:cNvCxnSpPr>
            <a:cxnSpLocks/>
          </p:cNvCxnSpPr>
          <p:nvPr/>
        </p:nvCxnSpPr>
        <p:spPr>
          <a:xfrm>
            <a:off x="4809384" y="1298702"/>
            <a:ext cx="0" cy="2926080"/>
          </a:xfrm>
          <a:prstGeom prst="line">
            <a:avLst/>
          </a:prstGeom>
          <a:ln w="6350">
            <a:solidFill>
              <a:schemeClr val="bg1">
                <a:lumMod val="85000"/>
              </a:schemeClr>
            </a:solidFill>
            <a:prstDash val="dash"/>
          </a:ln>
        </p:spPr>
        <p:style>
          <a:lnRef idx="1">
            <a:schemeClr val="accent4"/>
          </a:lnRef>
          <a:fillRef idx="0">
            <a:schemeClr val="accent4"/>
          </a:fillRef>
          <a:effectRef idx="0">
            <a:schemeClr val="accent4"/>
          </a:effectRef>
          <a:fontRef idx="minor">
            <a:schemeClr val="tx1"/>
          </a:fontRef>
        </p:style>
      </p:cxnSp>
      <p:cxnSp>
        <p:nvCxnSpPr>
          <p:cNvPr id="16" name="Straight Connector 15">
            <a:extLst>
              <a:ext uri="{FF2B5EF4-FFF2-40B4-BE49-F238E27FC236}">
                <a16:creationId xmlns:a16="http://schemas.microsoft.com/office/drawing/2014/main" id="{64EF24E4-F014-C840-CFA7-D4844ED2B913}"/>
              </a:ext>
            </a:extLst>
          </p:cNvPr>
          <p:cNvCxnSpPr>
            <a:cxnSpLocks/>
          </p:cNvCxnSpPr>
          <p:nvPr/>
        </p:nvCxnSpPr>
        <p:spPr>
          <a:xfrm>
            <a:off x="6911496" y="1298702"/>
            <a:ext cx="0" cy="2926080"/>
          </a:xfrm>
          <a:prstGeom prst="line">
            <a:avLst/>
          </a:prstGeom>
          <a:ln w="6350">
            <a:solidFill>
              <a:schemeClr val="bg1">
                <a:lumMod val="85000"/>
              </a:schemeClr>
            </a:solidFill>
            <a:prstDash val="dash"/>
          </a:ln>
        </p:spPr>
        <p:style>
          <a:lnRef idx="1">
            <a:schemeClr val="accent4"/>
          </a:lnRef>
          <a:fillRef idx="0">
            <a:schemeClr val="accent4"/>
          </a:fillRef>
          <a:effectRef idx="0">
            <a:schemeClr val="accent4"/>
          </a:effectRef>
          <a:fontRef idx="minor">
            <a:schemeClr val="tx1"/>
          </a:fontRef>
        </p:style>
      </p:cxnSp>
      <p:cxnSp>
        <p:nvCxnSpPr>
          <p:cNvPr id="18" name="Straight Connector 17">
            <a:extLst>
              <a:ext uri="{FF2B5EF4-FFF2-40B4-BE49-F238E27FC236}">
                <a16:creationId xmlns:a16="http://schemas.microsoft.com/office/drawing/2014/main" id="{BFA999E3-6019-2A20-DA58-4657D1ADB00B}"/>
              </a:ext>
            </a:extLst>
          </p:cNvPr>
          <p:cNvCxnSpPr>
            <a:cxnSpLocks/>
          </p:cNvCxnSpPr>
          <p:nvPr/>
        </p:nvCxnSpPr>
        <p:spPr>
          <a:xfrm>
            <a:off x="9182364" y="1298702"/>
            <a:ext cx="0" cy="2926080"/>
          </a:xfrm>
          <a:prstGeom prst="line">
            <a:avLst/>
          </a:prstGeom>
          <a:ln w="6350">
            <a:solidFill>
              <a:schemeClr val="bg1">
                <a:lumMod val="85000"/>
              </a:schemeClr>
            </a:solidFill>
            <a:prstDash val="dash"/>
          </a:ln>
        </p:spPr>
        <p:style>
          <a:lnRef idx="1">
            <a:schemeClr val="accent4"/>
          </a:lnRef>
          <a:fillRef idx="0">
            <a:schemeClr val="accent4"/>
          </a:fillRef>
          <a:effectRef idx="0">
            <a:schemeClr val="accent4"/>
          </a:effectRef>
          <a:fontRef idx="minor">
            <a:schemeClr val="tx1"/>
          </a:fontRef>
        </p:style>
      </p:cxnSp>
      <p:cxnSp>
        <p:nvCxnSpPr>
          <p:cNvPr id="19" name="Straight Connector 18">
            <a:extLst>
              <a:ext uri="{FF2B5EF4-FFF2-40B4-BE49-F238E27FC236}">
                <a16:creationId xmlns:a16="http://schemas.microsoft.com/office/drawing/2014/main" id="{B1B02AA5-293F-4EF4-79C5-4C9892E5308F}"/>
              </a:ext>
            </a:extLst>
          </p:cNvPr>
          <p:cNvCxnSpPr>
            <a:cxnSpLocks/>
          </p:cNvCxnSpPr>
          <p:nvPr/>
        </p:nvCxnSpPr>
        <p:spPr>
          <a:xfrm>
            <a:off x="5851525" y="4316556"/>
            <a:ext cx="0" cy="1005840"/>
          </a:xfrm>
          <a:prstGeom prst="line">
            <a:avLst/>
          </a:prstGeom>
          <a:ln w="6350">
            <a:solidFill>
              <a:schemeClr val="bg1">
                <a:lumMod val="85000"/>
              </a:schemeClr>
            </a:solidFill>
            <a:prstDash val="dash"/>
          </a:ln>
        </p:spPr>
        <p:style>
          <a:lnRef idx="1">
            <a:schemeClr val="accent4"/>
          </a:lnRef>
          <a:fillRef idx="0">
            <a:schemeClr val="accent4"/>
          </a:fillRef>
          <a:effectRef idx="0">
            <a:schemeClr val="accent4"/>
          </a:effectRef>
          <a:fontRef idx="minor">
            <a:schemeClr val="tx1"/>
          </a:fontRef>
        </p:style>
      </p:cxnSp>
      <p:cxnSp>
        <p:nvCxnSpPr>
          <p:cNvPr id="20" name="Straight Connector 19">
            <a:extLst>
              <a:ext uri="{FF2B5EF4-FFF2-40B4-BE49-F238E27FC236}">
                <a16:creationId xmlns:a16="http://schemas.microsoft.com/office/drawing/2014/main" id="{CA18D5BA-C0FA-22E2-B7A2-F9B84DFA2CD6}"/>
              </a:ext>
            </a:extLst>
          </p:cNvPr>
          <p:cNvCxnSpPr>
            <a:cxnSpLocks/>
          </p:cNvCxnSpPr>
          <p:nvPr/>
        </p:nvCxnSpPr>
        <p:spPr>
          <a:xfrm flipH="1">
            <a:off x="512712" y="4273653"/>
            <a:ext cx="10698480" cy="0"/>
          </a:xfrm>
          <a:prstGeom prst="line">
            <a:avLst/>
          </a:prstGeom>
          <a:ln w="6350">
            <a:solidFill>
              <a:schemeClr val="bg1">
                <a:lumMod val="85000"/>
              </a:schemeClr>
            </a:solidFill>
            <a:prstDash val="dash"/>
          </a:ln>
        </p:spPr>
        <p:style>
          <a:lnRef idx="1">
            <a:schemeClr val="accent4"/>
          </a:lnRef>
          <a:fillRef idx="0">
            <a:schemeClr val="accent4"/>
          </a:fillRef>
          <a:effectRef idx="0">
            <a:schemeClr val="accent4"/>
          </a:effectRef>
          <a:fontRef idx="minor">
            <a:schemeClr val="tx1"/>
          </a:fontRef>
        </p:style>
      </p:cxnSp>
      <p:sp>
        <p:nvSpPr>
          <p:cNvPr id="21" name="TextBox 20">
            <a:extLst>
              <a:ext uri="{FF2B5EF4-FFF2-40B4-BE49-F238E27FC236}">
                <a16:creationId xmlns:a16="http://schemas.microsoft.com/office/drawing/2014/main" id="{DC149B70-D9CD-D294-DA08-B689C9A2BD30}"/>
              </a:ext>
            </a:extLst>
          </p:cNvPr>
          <p:cNvSpPr txBox="1"/>
          <p:nvPr/>
        </p:nvSpPr>
        <p:spPr>
          <a:xfrm>
            <a:off x="5982104" y="4622154"/>
            <a:ext cx="5238442" cy="761747"/>
          </a:xfrm>
          <a:prstGeom prst="rect">
            <a:avLst/>
          </a:prstGeom>
          <a:noFill/>
        </p:spPr>
        <p:txBody>
          <a:bodyPr wrap="square" rtlCol="0">
            <a:spAutoFit/>
          </a:bodyPr>
          <a:lstStyle/>
          <a:p>
            <a:pPr marL="115888" marR="0" lvl="0" indent="-115888" algn="justLow" defTabSz="457200" rtl="1" eaLnBrk="1" fontAlgn="auto" latinLnBrk="0" hangingPunct="1">
              <a:lnSpc>
                <a:spcPct val="10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مشتریان واقعاً حاضرند بابت چه ارزشی پول پرداخت کنند؟</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a:p>
            <a:pPr marL="115888" marR="0" lvl="0" indent="-115888" algn="justLow" defTabSz="457200" rtl="1" eaLnBrk="1" fontAlgn="auto" latinLnBrk="0" hangingPunct="1">
              <a:lnSpc>
                <a:spcPct val="10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در حال حاضر بابت چه چیزی پول می‌پردازند؟</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a:p>
            <a:pPr marL="115888" marR="0" lvl="0" indent="-115888" algn="justLow" defTabSz="457200" rtl="1" eaLnBrk="1" fontAlgn="auto" latinLnBrk="0" hangingPunct="1">
              <a:lnSpc>
                <a:spcPct val="10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مدل درآمدی ما چیست؟</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a:p>
            <a:pPr marL="115888" marR="0" lvl="0" indent="-115888" algn="justLow" defTabSz="457200" rtl="1" eaLnBrk="1" fontAlgn="auto" latinLnBrk="0" hangingPunct="1">
              <a:lnSpc>
                <a:spcPct val="10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تاکتیک‌های قیمت‌گذاری ما کدامند؟</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p:txBody>
      </p:sp>
      <p:sp>
        <p:nvSpPr>
          <p:cNvPr id="22" name="TextBox 21">
            <a:extLst>
              <a:ext uri="{FF2B5EF4-FFF2-40B4-BE49-F238E27FC236}">
                <a16:creationId xmlns:a16="http://schemas.microsoft.com/office/drawing/2014/main" id="{607A773F-C8A0-007D-1069-60D8D000986D}"/>
              </a:ext>
            </a:extLst>
          </p:cNvPr>
          <p:cNvSpPr txBox="1"/>
          <p:nvPr/>
        </p:nvSpPr>
        <p:spPr>
          <a:xfrm>
            <a:off x="482504" y="4622154"/>
            <a:ext cx="5219631" cy="584775"/>
          </a:xfrm>
          <a:prstGeom prst="rect">
            <a:avLst/>
          </a:prstGeom>
          <a:noFill/>
        </p:spPr>
        <p:txBody>
          <a:bodyPr wrap="square" rtlCol="0">
            <a:spAutoFit/>
          </a:bodyPr>
          <a:lstStyle/>
          <a:p>
            <a:pPr marL="115888" marR="0" lvl="0" indent="-115888" algn="justLow" defTabSz="457200" rtl="1" eaLnBrk="1" fontAlgn="auto" latinLnBrk="0" hangingPunct="1">
              <a:lnSpc>
                <a:spcPct val="10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مهم‌ترین هزینه‌های ذاتیِ مدل کسب‌وکار ما چیست؟</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a:p>
            <a:pPr marL="115888" marR="0" lvl="0" indent="-115888" algn="justLow" defTabSz="457200" rtl="1" eaLnBrk="1" fontAlgn="auto" latinLnBrk="0" hangingPunct="1">
              <a:lnSpc>
                <a:spcPct val="10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کدام منابع کلیدی گران‌ترین هستند؟</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a:p>
            <a:pPr marL="115888" marR="0" lvl="0" indent="-115888" algn="justLow" defTabSz="457200" rtl="1" eaLnBrk="1" fontAlgn="auto" latinLnBrk="0" hangingPunct="1">
              <a:lnSpc>
                <a:spcPct val="10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کدام فعالیت‌های کلیدی بیشترین هزینه را دارند؟</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p:txBody>
      </p:sp>
      <p:sp>
        <p:nvSpPr>
          <p:cNvPr id="23" name="TextBox 22">
            <a:extLst>
              <a:ext uri="{FF2B5EF4-FFF2-40B4-BE49-F238E27FC236}">
                <a16:creationId xmlns:a16="http://schemas.microsoft.com/office/drawing/2014/main" id="{81F37F74-435E-85AE-AF3B-4C6694C6C533}"/>
              </a:ext>
            </a:extLst>
          </p:cNvPr>
          <p:cNvSpPr txBox="1"/>
          <p:nvPr/>
        </p:nvSpPr>
        <p:spPr>
          <a:xfrm>
            <a:off x="9245866" y="1510684"/>
            <a:ext cx="1974682" cy="1398460"/>
          </a:xfrm>
          <a:prstGeom prst="rect">
            <a:avLst/>
          </a:prstGeom>
          <a:noFill/>
        </p:spPr>
        <p:txBody>
          <a:bodyPr wrap="square" rtlCol="0">
            <a:spAutoFit/>
          </a:bodyPr>
          <a:lstStyle/>
          <a:p>
            <a:pPr marL="115888" marR="0" lvl="0" indent="-115888" algn="justLow" defTabSz="457200" rtl="1" eaLnBrk="1" fontAlgn="auto" latinLnBrk="0" hangingPunct="1">
              <a:lnSpc>
                <a:spcPct val="15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ما برای چه کسانی ارزش‌آفرینی می‌کنیم؟</a:t>
            </a:r>
          </a:p>
          <a:p>
            <a:pPr marL="115888" marR="0" lvl="0" indent="-115888" algn="justLow" defTabSz="457200" rtl="1" eaLnBrk="1" fontAlgn="auto" latinLnBrk="0" hangingPunct="1">
              <a:lnSpc>
                <a:spcPct val="15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مهم‌ترین مشتریان ما چه کسانی هستند؟</a:t>
            </a:r>
          </a:p>
          <a:p>
            <a:pPr marL="115888" marR="0" lvl="0" indent="-115888" algn="justLow" defTabSz="457200" rtl="1" eaLnBrk="1" fontAlgn="auto" latinLnBrk="0" hangingPunct="1">
              <a:lnSpc>
                <a:spcPct val="15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آرکی‌تایپ‌ها (الگوها/پرتره‌های شخصیتی) مشتریان ما کدامند؟</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p:txBody>
      </p:sp>
      <p:sp>
        <p:nvSpPr>
          <p:cNvPr id="24" name="Rectangle: Rounded Corners 23">
            <a:extLst>
              <a:ext uri="{FF2B5EF4-FFF2-40B4-BE49-F238E27FC236}">
                <a16:creationId xmlns:a16="http://schemas.microsoft.com/office/drawing/2014/main" id="{2AB825AB-CA9F-670C-E33E-1C9F34081C0D}"/>
              </a:ext>
            </a:extLst>
          </p:cNvPr>
          <p:cNvSpPr/>
          <p:nvPr/>
        </p:nvSpPr>
        <p:spPr>
          <a:xfrm>
            <a:off x="10946229" y="1162738"/>
            <a:ext cx="274320" cy="274320"/>
          </a:xfrm>
          <a:prstGeom prst="roundRect">
            <a:avLst>
              <a:gd name="adj" fmla="val 20381"/>
            </a:avLst>
          </a:prstGeom>
          <a:solidFill>
            <a:srgbClr val="F0BE0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endParaRPr lang="fa-IR" sz="1600" b="1" dirty="0">
              <a:latin typeface="Yekan Bakh" pitchFamily="2" charset="-78"/>
              <a:ea typeface="Yekan Bakh" pitchFamily="2" charset="-78"/>
              <a:cs typeface="Yekan Bakh" pitchFamily="2" charset="-78"/>
            </a:endParaRPr>
          </a:p>
        </p:txBody>
      </p:sp>
      <p:sp>
        <p:nvSpPr>
          <p:cNvPr id="40" name="TextBox 39">
            <a:extLst>
              <a:ext uri="{FF2B5EF4-FFF2-40B4-BE49-F238E27FC236}">
                <a16:creationId xmlns:a16="http://schemas.microsoft.com/office/drawing/2014/main" id="{728BD914-FF50-697F-20C7-C1C446998515}"/>
              </a:ext>
            </a:extLst>
          </p:cNvPr>
          <p:cNvSpPr txBox="1"/>
          <p:nvPr/>
        </p:nvSpPr>
        <p:spPr>
          <a:xfrm>
            <a:off x="10965421" y="1163059"/>
            <a:ext cx="235936" cy="307777"/>
          </a:xfrm>
          <a:prstGeom prst="rect">
            <a:avLst/>
          </a:prstGeom>
          <a:noFill/>
        </p:spPr>
        <p:txBody>
          <a:bodyPr wrap="square" rtlCol="0" anchor="ctr">
            <a:spAutoFit/>
          </a:bodyPr>
          <a:lstStyle/>
          <a:p>
            <a:pPr algn="ctr"/>
            <a:r>
              <a:rPr lang="fa-IR" sz="1400" b="1" dirty="0">
                <a:solidFill>
                  <a:schemeClr val="bg1"/>
                </a:solidFill>
                <a:latin typeface="Yekan Bakh FaNum" pitchFamily="2" charset="-78"/>
                <a:ea typeface="Yekan Bakh FaNum" pitchFamily="2" charset="-78"/>
                <a:cs typeface="Yekan Bakh FaNum" pitchFamily="2" charset="-78"/>
              </a:rPr>
              <a:t>۱</a:t>
            </a:r>
            <a:endParaRPr lang="en-GB" sz="1400" b="1" dirty="0">
              <a:solidFill>
                <a:schemeClr val="bg1"/>
              </a:solidFill>
              <a:latin typeface="Yekan Bakh FaNum" pitchFamily="2" charset="-78"/>
              <a:ea typeface="Yekan Bakh FaNum" pitchFamily="2" charset="-78"/>
              <a:cs typeface="Yekan Bakh FaNum" pitchFamily="2" charset="-78"/>
            </a:endParaRPr>
          </a:p>
        </p:txBody>
      </p:sp>
      <p:sp>
        <p:nvSpPr>
          <p:cNvPr id="41" name="Rectangle: Rounded Corners 40">
            <a:extLst>
              <a:ext uri="{FF2B5EF4-FFF2-40B4-BE49-F238E27FC236}">
                <a16:creationId xmlns:a16="http://schemas.microsoft.com/office/drawing/2014/main" id="{D922A392-C3EB-DAB0-824F-3A80F999BFBD}"/>
              </a:ext>
            </a:extLst>
          </p:cNvPr>
          <p:cNvSpPr/>
          <p:nvPr/>
        </p:nvSpPr>
        <p:spPr>
          <a:xfrm>
            <a:off x="9245866" y="1162738"/>
            <a:ext cx="1682279" cy="274320"/>
          </a:xfrm>
          <a:prstGeom prst="roundRect">
            <a:avLst>
              <a:gd name="adj" fmla="val 20381"/>
            </a:avLst>
          </a:prstGeom>
          <a:solidFill>
            <a:srgbClr val="F0BE0F">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fa-IR" sz="1100" b="1" dirty="0">
                <a:solidFill>
                  <a:srgbClr val="004D80"/>
                </a:solidFill>
                <a:latin typeface="Yekan Bakh" pitchFamily="2" charset="-78"/>
                <a:ea typeface="Yekan Bakh" pitchFamily="2" charset="-78"/>
                <a:cs typeface="Yekan Bakh" pitchFamily="2" charset="-78"/>
              </a:rPr>
              <a:t>بخش‌های مشتریان</a:t>
            </a:r>
          </a:p>
        </p:txBody>
      </p:sp>
      <p:sp>
        <p:nvSpPr>
          <p:cNvPr id="42" name="TextBox 41">
            <a:extLst>
              <a:ext uri="{FF2B5EF4-FFF2-40B4-BE49-F238E27FC236}">
                <a16:creationId xmlns:a16="http://schemas.microsoft.com/office/drawing/2014/main" id="{CB1A8789-78A5-8B47-877A-38DDE7896CE5}"/>
              </a:ext>
            </a:extLst>
          </p:cNvPr>
          <p:cNvSpPr txBox="1"/>
          <p:nvPr/>
        </p:nvSpPr>
        <p:spPr>
          <a:xfrm>
            <a:off x="4872888" y="1510684"/>
            <a:ext cx="1975104" cy="2514150"/>
          </a:xfrm>
          <a:prstGeom prst="rect">
            <a:avLst/>
          </a:prstGeom>
          <a:noFill/>
        </p:spPr>
        <p:txBody>
          <a:bodyPr wrap="square" rtlCol="0">
            <a:spAutoFit/>
          </a:bodyPr>
          <a:lstStyle/>
          <a:p>
            <a:pPr marL="115888" marR="0" lvl="0" indent="-115888" algn="justLow" defTabSz="457200" rtl="1" eaLnBrk="1" fontAlgn="auto" latinLnBrk="0" hangingPunct="1">
              <a:lnSpc>
                <a:spcPct val="15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چه ارزشی را به مشتری ارائه می‌دهیم؟</a:t>
            </a:r>
          </a:p>
          <a:p>
            <a:pPr marL="115888" marR="0" lvl="0" indent="-115888" algn="justLow" defTabSz="457200" rtl="1" eaLnBrk="1" fontAlgn="auto" latinLnBrk="0" hangingPunct="1">
              <a:lnSpc>
                <a:spcPct val="15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به حل کدام‌یک از مسائل مشتریان خود کمک می‌کنیم؟</a:t>
            </a:r>
          </a:p>
          <a:p>
            <a:pPr marL="115888" marR="0" lvl="0" indent="-115888" algn="justLow" defTabSz="457200" rtl="1" eaLnBrk="1" fontAlgn="auto" latinLnBrk="0" hangingPunct="1">
              <a:lnSpc>
                <a:spcPct val="15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چه بسته‌ای از محصولات و خدمات را به هر بخش از مشتریان عرضه می‌کنیم؟</a:t>
            </a:r>
          </a:p>
          <a:p>
            <a:pPr marL="115888" marR="0" lvl="0" indent="-115888" algn="justLow" defTabSz="457200" rtl="1" eaLnBrk="1" fontAlgn="auto" latinLnBrk="0" hangingPunct="1">
              <a:lnSpc>
                <a:spcPct val="15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کدام‌یک از نیازهای مشتریان را برطرف می‌سازیم؟</a:t>
            </a:r>
          </a:p>
          <a:p>
            <a:pPr marL="115888" marR="0" lvl="0" indent="-115888" algn="justLow" defTabSz="457200" rtl="1" eaLnBrk="1" fontAlgn="auto" latinLnBrk="0" hangingPunct="1">
              <a:lnSpc>
                <a:spcPct val="15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«کمینه اکوسیستم پذیرفتنی» (</a:t>
            </a:r>
            <a:r>
              <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MVE</a:t>
            </a: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 ما چیست؟</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p:txBody>
      </p:sp>
      <p:sp>
        <p:nvSpPr>
          <p:cNvPr id="43" name="Rectangle: Rounded Corners 42">
            <a:extLst>
              <a:ext uri="{FF2B5EF4-FFF2-40B4-BE49-F238E27FC236}">
                <a16:creationId xmlns:a16="http://schemas.microsoft.com/office/drawing/2014/main" id="{D8FB64CD-A1B6-4F70-CDAF-6E8C93A4AD70}"/>
              </a:ext>
            </a:extLst>
          </p:cNvPr>
          <p:cNvSpPr/>
          <p:nvPr/>
        </p:nvSpPr>
        <p:spPr>
          <a:xfrm>
            <a:off x="6573462" y="1162738"/>
            <a:ext cx="274320" cy="274320"/>
          </a:xfrm>
          <a:prstGeom prst="roundRect">
            <a:avLst>
              <a:gd name="adj" fmla="val 20381"/>
            </a:avLst>
          </a:prstGeom>
          <a:solidFill>
            <a:srgbClr val="F0BE0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endParaRPr lang="fa-IR" sz="1600" b="1" dirty="0">
              <a:latin typeface="Yekan Bakh" pitchFamily="2" charset="-78"/>
              <a:ea typeface="Yekan Bakh" pitchFamily="2" charset="-78"/>
              <a:cs typeface="Yekan Bakh" pitchFamily="2" charset="-78"/>
            </a:endParaRPr>
          </a:p>
        </p:txBody>
      </p:sp>
      <p:sp>
        <p:nvSpPr>
          <p:cNvPr id="44" name="TextBox 43">
            <a:extLst>
              <a:ext uri="{FF2B5EF4-FFF2-40B4-BE49-F238E27FC236}">
                <a16:creationId xmlns:a16="http://schemas.microsoft.com/office/drawing/2014/main" id="{C4A63967-20E1-8A2F-EE53-15A476757D8E}"/>
              </a:ext>
            </a:extLst>
          </p:cNvPr>
          <p:cNvSpPr txBox="1"/>
          <p:nvPr/>
        </p:nvSpPr>
        <p:spPr>
          <a:xfrm>
            <a:off x="6592654" y="1163059"/>
            <a:ext cx="235936" cy="307777"/>
          </a:xfrm>
          <a:prstGeom prst="rect">
            <a:avLst/>
          </a:prstGeom>
          <a:noFill/>
        </p:spPr>
        <p:txBody>
          <a:bodyPr wrap="square" rtlCol="0" anchor="ctr">
            <a:spAutoFit/>
          </a:bodyPr>
          <a:lstStyle/>
          <a:p>
            <a:pPr algn="ctr"/>
            <a:r>
              <a:rPr lang="fa-IR" sz="1400" b="1" dirty="0">
                <a:solidFill>
                  <a:schemeClr val="bg1"/>
                </a:solidFill>
                <a:latin typeface="Yekan Bakh FaNum" pitchFamily="2" charset="-78"/>
                <a:ea typeface="Yekan Bakh FaNum" pitchFamily="2" charset="-78"/>
                <a:cs typeface="Yekan Bakh FaNum" pitchFamily="2" charset="-78"/>
              </a:rPr>
              <a:t>۲</a:t>
            </a:r>
            <a:endParaRPr lang="en-GB" sz="1400" b="1" dirty="0">
              <a:solidFill>
                <a:schemeClr val="bg1"/>
              </a:solidFill>
              <a:latin typeface="Yekan Bakh FaNum" pitchFamily="2" charset="-78"/>
              <a:ea typeface="Yekan Bakh FaNum" pitchFamily="2" charset="-78"/>
              <a:cs typeface="Yekan Bakh FaNum" pitchFamily="2" charset="-78"/>
            </a:endParaRPr>
          </a:p>
        </p:txBody>
      </p:sp>
      <p:sp>
        <p:nvSpPr>
          <p:cNvPr id="45" name="Rectangle: Rounded Corners 44">
            <a:extLst>
              <a:ext uri="{FF2B5EF4-FFF2-40B4-BE49-F238E27FC236}">
                <a16:creationId xmlns:a16="http://schemas.microsoft.com/office/drawing/2014/main" id="{A82BC428-350E-0953-8B14-A9F635D9619B}"/>
              </a:ext>
            </a:extLst>
          </p:cNvPr>
          <p:cNvSpPr/>
          <p:nvPr/>
        </p:nvSpPr>
        <p:spPr>
          <a:xfrm>
            <a:off x="4873099" y="1162738"/>
            <a:ext cx="1682279" cy="274320"/>
          </a:xfrm>
          <a:prstGeom prst="roundRect">
            <a:avLst>
              <a:gd name="adj" fmla="val 20381"/>
            </a:avLst>
          </a:prstGeom>
          <a:solidFill>
            <a:srgbClr val="F0BE0F">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fa-IR" sz="1100" b="1" dirty="0">
                <a:solidFill>
                  <a:srgbClr val="004D80"/>
                </a:solidFill>
                <a:latin typeface="Yekan Bakh" pitchFamily="2" charset="-78"/>
                <a:ea typeface="Yekan Bakh" pitchFamily="2" charset="-78"/>
                <a:cs typeface="Yekan Bakh" pitchFamily="2" charset="-78"/>
              </a:rPr>
              <a:t>ارزش‌های پیشنهادی</a:t>
            </a:r>
          </a:p>
        </p:txBody>
      </p:sp>
      <p:sp>
        <p:nvSpPr>
          <p:cNvPr id="46" name="TextBox 45">
            <a:extLst>
              <a:ext uri="{FF2B5EF4-FFF2-40B4-BE49-F238E27FC236}">
                <a16:creationId xmlns:a16="http://schemas.microsoft.com/office/drawing/2014/main" id="{E4916BA1-DC45-B152-08F0-A9672925714A}"/>
              </a:ext>
            </a:extLst>
          </p:cNvPr>
          <p:cNvSpPr txBox="1"/>
          <p:nvPr/>
        </p:nvSpPr>
        <p:spPr>
          <a:xfrm>
            <a:off x="499908" y="1510684"/>
            <a:ext cx="1975104" cy="1852430"/>
          </a:xfrm>
          <a:prstGeom prst="rect">
            <a:avLst/>
          </a:prstGeom>
          <a:noFill/>
        </p:spPr>
        <p:txBody>
          <a:bodyPr wrap="square" rtlCol="0">
            <a:spAutoFit/>
          </a:bodyPr>
          <a:lstStyle/>
          <a:p>
            <a:pPr marL="115888" marR="0" lvl="0" indent="-115888" algn="justLow" defTabSz="457200" rtl="1" eaLnBrk="1" fontAlgn="auto" latinLnBrk="0" hangingPunct="1">
              <a:lnSpc>
                <a:spcPct val="15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شرکای کلیدی ما چه کسانی هستند؟</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a:p>
            <a:pPr marL="115888" marR="0" lvl="0" indent="-115888" algn="justLow" defTabSz="457200" rtl="1" eaLnBrk="1" fontAlgn="auto" latinLnBrk="0" hangingPunct="1">
              <a:lnSpc>
                <a:spcPct val="15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تأمین‌کنندگان کلیدی ما چه کسانی هستند؟</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a:p>
            <a:pPr marL="115888" marR="0" lvl="0" indent="-115888" algn="justLow" defTabSz="457200" rtl="1" eaLnBrk="1" fontAlgn="auto" latinLnBrk="0" hangingPunct="1">
              <a:lnSpc>
                <a:spcPct val="15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کدام‌یک از منابع کلیدی را از طریق شرکای خود تأمین می‌کنیم؟</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a:p>
            <a:pPr marL="115888" marR="0" lvl="0" indent="-115888" algn="justLow" defTabSz="457200" rtl="1" eaLnBrk="1" fontAlgn="auto" latinLnBrk="0" hangingPunct="1">
              <a:lnSpc>
                <a:spcPct val="15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شرکای ما چه فعالیت‌های کلیدی را انجام می‌دهند؟</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p:txBody>
      </p:sp>
      <p:sp>
        <p:nvSpPr>
          <p:cNvPr id="47" name="Rectangle: Rounded Corners 46">
            <a:extLst>
              <a:ext uri="{FF2B5EF4-FFF2-40B4-BE49-F238E27FC236}">
                <a16:creationId xmlns:a16="http://schemas.microsoft.com/office/drawing/2014/main" id="{AB408E45-1472-7579-6944-5EEF1D64BF26}"/>
              </a:ext>
            </a:extLst>
          </p:cNvPr>
          <p:cNvSpPr/>
          <p:nvPr/>
        </p:nvSpPr>
        <p:spPr>
          <a:xfrm>
            <a:off x="2200482" y="1162738"/>
            <a:ext cx="274320" cy="274320"/>
          </a:xfrm>
          <a:prstGeom prst="roundRect">
            <a:avLst>
              <a:gd name="adj" fmla="val 20381"/>
            </a:avLst>
          </a:prstGeom>
          <a:solidFill>
            <a:srgbClr val="F0BE0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a-IR" sz="1600" b="1" dirty="0">
              <a:latin typeface="Yekan Bakh" pitchFamily="2" charset="-78"/>
              <a:ea typeface="Yekan Bakh" pitchFamily="2" charset="-78"/>
              <a:cs typeface="Yekan Bakh" pitchFamily="2" charset="-78"/>
            </a:endParaRPr>
          </a:p>
        </p:txBody>
      </p:sp>
      <p:sp>
        <p:nvSpPr>
          <p:cNvPr id="50" name="TextBox 49">
            <a:extLst>
              <a:ext uri="{FF2B5EF4-FFF2-40B4-BE49-F238E27FC236}">
                <a16:creationId xmlns:a16="http://schemas.microsoft.com/office/drawing/2014/main" id="{726348C6-E7B0-AC52-EA6D-F8737CE5B04B}"/>
              </a:ext>
            </a:extLst>
          </p:cNvPr>
          <p:cNvSpPr txBox="1"/>
          <p:nvPr/>
        </p:nvSpPr>
        <p:spPr>
          <a:xfrm>
            <a:off x="2219674" y="1163059"/>
            <a:ext cx="235936" cy="307777"/>
          </a:xfrm>
          <a:prstGeom prst="rect">
            <a:avLst/>
          </a:prstGeom>
          <a:noFill/>
        </p:spPr>
        <p:txBody>
          <a:bodyPr wrap="square" rtlCol="0" anchor="ctr">
            <a:spAutoFit/>
          </a:bodyPr>
          <a:lstStyle/>
          <a:p>
            <a:pPr algn="ctr"/>
            <a:r>
              <a:rPr lang="fa-IR" sz="1400" b="1" dirty="0">
                <a:solidFill>
                  <a:schemeClr val="bg1"/>
                </a:solidFill>
                <a:latin typeface="Yekan Bakh FaNum" pitchFamily="2" charset="-78"/>
                <a:ea typeface="Yekan Bakh FaNum" pitchFamily="2" charset="-78"/>
                <a:cs typeface="Yekan Bakh FaNum" pitchFamily="2" charset="-78"/>
              </a:rPr>
              <a:t>۸</a:t>
            </a:r>
            <a:endParaRPr lang="en-GB" sz="1400" b="1" dirty="0">
              <a:solidFill>
                <a:schemeClr val="bg1"/>
              </a:solidFill>
              <a:latin typeface="Yekan Bakh FaNum" pitchFamily="2" charset="-78"/>
              <a:ea typeface="Yekan Bakh FaNum" pitchFamily="2" charset="-78"/>
              <a:cs typeface="Yekan Bakh FaNum" pitchFamily="2" charset="-78"/>
            </a:endParaRPr>
          </a:p>
        </p:txBody>
      </p:sp>
      <p:sp>
        <p:nvSpPr>
          <p:cNvPr id="51" name="Rectangle: Rounded Corners 50">
            <a:extLst>
              <a:ext uri="{FF2B5EF4-FFF2-40B4-BE49-F238E27FC236}">
                <a16:creationId xmlns:a16="http://schemas.microsoft.com/office/drawing/2014/main" id="{ED09515C-018B-F6D3-3253-1C5EFFB6B76A}"/>
              </a:ext>
            </a:extLst>
          </p:cNvPr>
          <p:cNvSpPr/>
          <p:nvPr/>
        </p:nvSpPr>
        <p:spPr>
          <a:xfrm>
            <a:off x="500119" y="1162738"/>
            <a:ext cx="1682279" cy="274320"/>
          </a:xfrm>
          <a:prstGeom prst="roundRect">
            <a:avLst>
              <a:gd name="adj" fmla="val 20381"/>
            </a:avLst>
          </a:prstGeom>
          <a:solidFill>
            <a:srgbClr val="F0BE0F">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1100" b="1" dirty="0">
                <a:solidFill>
                  <a:srgbClr val="004D80"/>
                </a:solidFill>
                <a:latin typeface="Yekan Bakh" pitchFamily="2" charset="-78"/>
                <a:ea typeface="Yekan Bakh" pitchFamily="2" charset="-78"/>
                <a:cs typeface="Yekan Bakh" pitchFamily="2" charset="-78"/>
              </a:rPr>
              <a:t>مشارکت‌های کلیدی</a:t>
            </a:r>
          </a:p>
        </p:txBody>
      </p:sp>
      <p:sp>
        <p:nvSpPr>
          <p:cNvPr id="52" name="Rectangle: Rounded Corners 51">
            <a:extLst>
              <a:ext uri="{FF2B5EF4-FFF2-40B4-BE49-F238E27FC236}">
                <a16:creationId xmlns:a16="http://schemas.microsoft.com/office/drawing/2014/main" id="{43BE2ACE-A941-E7B8-4624-C717E132864C}"/>
              </a:ext>
            </a:extLst>
          </p:cNvPr>
          <p:cNvSpPr/>
          <p:nvPr/>
        </p:nvSpPr>
        <p:spPr>
          <a:xfrm>
            <a:off x="10946229" y="4314303"/>
            <a:ext cx="274320" cy="274320"/>
          </a:xfrm>
          <a:prstGeom prst="roundRect">
            <a:avLst>
              <a:gd name="adj" fmla="val 20381"/>
            </a:avLst>
          </a:prstGeom>
          <a:solidFill>
            <a:srgbClr val="F0BE0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endParaRPr lang="fa-IR" sz="1600" b="1" dirty="0">
              <a:latin typeface="Yekan Bakh" pitchFamily="2" charset="-78"/>
              <a:ea typeface="Yekan Bakh" pitchFamily="2" charset="-78"/>
              <a:cs typeface="Yekan Bakh" pitchFamily="2" charset="-78"/>
            </a:endParaRPr>
          </a:p>
        </p:txBody>
      </p:sp>
      <p:sp>
        <p:nvSpPr>
          <p:cNvPr id="53" name="TextBox 52">
            <a:extLst>
              <a:ext uri="{FF2B5EF4-FFF2-40B4-BE49-F238E27FC236}">
                <a16:creationId xmlns:a16="http://schemas.microsoft.com/office/drawing/2014/main" id="{6C1BCB5F-D303-D1AE-EBC1-D36FD467E159}"/>
              </a:ext>
            </a:extLst>
          </p:cNvPr>
          <p:cNvSpPr txBox="1"/>
          <p:nvPr/>
        </p:nvSpPr>
        <p:spPr>
          <a:xfrm>
            <a:off x="10965421" y="4314624"/>
            <a:ext cx="235936" cy="307777"/>
          </a:xfrm>
          <a:prstGeom prst="rect">
            <a:avLst/>
          </a:prstGeom>
          <a:noFill/>
        </p:spPr>
        <p:txBody>
          <a:bodyPr wrap="square" rtlCol="0" anchor="ctr">
            <a:spAutoFit/>
          </a:bodyPr>
          <a:lstStyle/>
          <a:p>
            <a:pPr algn="ctr"/>
            <a:r>
              <a:rPr lang="fa-IR" sz="1400" b="1" dirty="0">
                <a:solidFill>
                  <a:schemeClr val="bg1"/>
                </a:solidFill>
                <a:latin typeface="Yekan Bakh FaNum" pitchFamily="2" charset="-78"/>
                <a:ea typeface="Yekan Bakh FaNum" pitchFamily="2" charset="-78"/>
                <a:cs typeface="Yekan Bakh FaNum" pitchFamily="2" charset="-78"/>
              </a:rPr>
              <a:t>۵</a:t>
            </a:r>
            <a:endParaRPr lang="en-GB" sz="1400" b="1" dirty="0">
              <a:solidFill>
                <a:schemeClr val="bg1"/>
              </a:solidFill>
              <a:latin typeface="Yekan Bakh FaNum" pitchFamily="2" charset="-78"/>
              <a:ea typeface="Yekan Bakh FaNum" pitchFamily="2" charset="-78"/>
              <a:cs typeface="Yekan Bakh FaNum" pitchFamily="2" charset="-78"/>
            </a:endParaRPr>
          </a:p>
        </p:txBody>
      </p:sp>
      <p:sp>
        <p:nvSpPr>
          <p:cNvPr id="54" name="Rectangle: Rounded Corners 53">
            <a:extLst>
              <a:ext uri="{FF2B5EF4-FFF2-40B4-BE49-F238E27FC236}">
                <a16:creationId xmlns:a16="http://schemas.microsoft.com/office/drawing/2014/main" id="{AF54501E-9685-9476-E9CC-8472081C2A03}"/>
              </a:ext>
            </a:extLst>
          </p:cNvPr>
          <p:cNvSpPr/>
          <p:nvPr/>
        </p:nvSpPr>
        <p:spPr>
          <a:xfrm>
            <a:off x="5982104" y="4314303"/>
            <a:ext cx="4946041" cy="274320"/>
          </a:xfrm>
          <a:prstGeom prst="roundRect">
            <a:avLst>
              <a:gd name="adj" fmla="val 20381"/>
            </a:avLst>
          </a:prstGeom>
          <a:solidFill>
            <a:srgbClr val="F0BE0F">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rtl="1"/>
            <a:r>
              <a:rPr lang="fa-IR" sz="1100" b="1" dirty="0">
                <a:solidFill>
                  <a:srgbClr val="004D80"/>
                </a:solidFill>
                <a:latin typeface="Yekan Bakh" pitchFamily="2" charset="-78"/>
                <a:ea typeface="Yekan Bakh" pitchFamily="2" charset="-78"/>
                <a:cs typeface="Yekan Bakh" pitchFamily="2" charset="-78"/>
              </a:rPr>
              <a:t>جریان‌های درآمدی</a:t>
            </a:r>
          </a:p>
        </p:txBody>
      </p:sp>
      <p:sp>
        <p:nvSpPr>
          <p:cNvPr id="55" name="Rectangle: Rounded Corners 54">
            <a:extLst>
              <a:ext uri="{FF2B5EF4-FFF2-40B4-BE49-F238E27FC236}">
                <a16:creationId xmlns:a16="http://schemas.microsoft.com/office/drawing/2014/main" id="{24283CBA-717D-DC3F-902E-E420B0F202D8}"/>
              </a:ext>
            </a:extLst>
          </p:cNvPr>
          <p:cNvSpPr/>
          <p:nvPr/>
        </p:nvSpPr>
        <p:spPr>
          <a:xfrm>
            <a:off x="5427818" y="4314303"/>
            <a:ext cx="274320" cy="274320"/>
          </a:xfrm>
          <a:prstGeom prst="roundRect">
            <a:avLst>
              <a:gd name="adj" fmla="val 20381"/>
            </a:avLst>
          </a:prstGeom>
          <a:solidFill>
            <a:srgbClr val="F0BE0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endParaRPr lang="fa-IR" sz="1600" b="1" dirty="0">
              <a:latin typeface="Yekan Bakh" pitchFamily="2" charset="-78"/>
              <a:ea typeface="Yekan Bakh" pitchFamily="2" charset="-78"/>
              <a:cs typeface="Yekan Bakh" pitchFamily="2" charset="-78"/>
            </a:endParaRPr>
          </a:p>
        </p:txBody>
      </p:sp>
      <p:sp>
        <p:nvSpPr>
          <p:cNvPr id="56" name="TextBox 55">
            <a:extLst>
              <a:ext uri="{FF2B5EF4-FFF2-40B4-BE49-F238E27FC236}">
                <a16:creationId xmlns:a16="http://schemas.microsoft.com/office/drawing/2014/main" id="{7A21F1E1-04D0-1D60-00A9-93BED666A764}"/>
              </a:ext>
            </a:extLst>
          </p:cNvPr>
          <p:cNvSpPr txBox="1"/>
          <p:nvPr/>
        </p:nvSpPr>
        <p:spPr>
          <a:xfrm>
            <a:off x="5447010" y="4314624"/>
            <a:ext cx="235936" cy="307777"/>
          </a:xfrm>
          <a:prstGeom prst="rect">
            <a:avLst/>
          </a:prstGeom>
          <a:noFill/>
        </p:spPr>
        <p:txBody>
          <a:bodyPr wrap="square" rtlCol="0" anchor="ctr">
            <a:spAutoFit/>
          </a:bodyPr>
          <a:lstStyle/>
          <a:p>
            <a:pPr algn="ctr"/>
            <a:r>
              <a:rPr lang="fa-IR" sz="1400" b="1" dirty="0">
                <a:solidFill>
                  <a:schemeClr val="bg1"/>
                </a:solidFill>
                <a:latin typeface="Yekan Bakh FaNum" pitchFamily="2" charset="-78"/>
                <a:ea typeface="Yekan Bakh FaNum" pitchFamily="2" charset="-78"/>
                <a:cs typeface="Yekan Bakh FaNum" pitchFamily="2" charset="-78"/>
              </a:rPr>
              <a:t>۹</a:t>
            </a:r>
            <a:endParaRPr lang="en-GB" sz="1400" b="1" dirty="0">
              <a:solidFill>
                <a:schemeClr val="bg1"/>
              </a:solidFill>
              <a:latin typeface="Yekan Bakh FaNum" pitchFamily="2" charset="-78"/>
              <a:ea typeface="Yekan Bakh FaNum" pitchFamily="2" charset="-78"/>
              <a:cs typeface="Yekan Bakh FaNum" pitchFamily="2" charset="-78"/>
            </a:endParaRPr>
          </a:p>
        </p:txBody>
      </p:sp>
      <p:sp>
        <p:nvSpPr>
          <p:cNvPr id="57" name="Rectangle: Rounded Corners 56">
            <a:extLst>
              <a:ext uri="{FF2B5EF4-FFF2-40B4-BE49-F238E27FC236}">
                <a16:creationId xmlns:a16="http://schemas.microsoft.com/office/drawing/2014/main" id="{ADE280B4-D195-8FF7-73BA-79773EC65AFC}"/>
              </a:ext>
            </a:extLst>
          </p:cNvPr>
          <p:cNvSpPr/>
          <p:nvPr/>
        </p:nvSpPr>
        <p:spPr>
          <a:xfrm>
            <a:off x="463693" y="4314303"/>
            <a:ext cx="4946041" cy="274320"/>
          </a:xfrm>
          <a:prstGeom prst="roundRect">
            <a:avLst>
              <a:gd name="adj" fmla="val 20381"/>
            </a:avLst>
          </a:prstGeom>
          <a:solidFill>
            <a:srgbClr val="F0BE0F">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rtl="1"/>
            <a:r>
              <a:rPr lang="fa-IR" sz="1100" b="1" dirty="0">
                <a:solidFill>
                  <a:srgbClr val="004D80"/>
                </a:solidFill>
                <a:latin typeface="Yekan Bakh" pitchFamily="2" charset="-78"/>
                <a:ea typeface="Yekan Bakh" pitchFamily="2" charset="-78"/>
                <a:cs typeface="Yekan Bakh" pitchFamily="2" charset="-78"/>
              </a:rPr>
              <a:t>ساختار هزینه‌ها</a:t>
            </a:r>
          </a:p>
        </p:txBody>
      </p:sp>
      <p:cxnSp>
        <p:nvCxnSpPr>
          <p:cNvPr id="58" name="Straight Connector 57">
            <a:extLst>
              <a:ext uri="{FF2B5EF4-FFF2-40B4-BE49-F238E27FC236}">
                <a16:creationId xmlns:a16="http://schemas.microsoft.com/office/drawing/2014/main" id="{F72F866C-722B-83D2-1C2E-18B92D2F3E0F}"/>
              </a:ext>
            </a:extLst>
          </p:cNvPr>
          <p:cNvCxnSpPr>
            <a:cxnSpLocks/>
          </p:cNvCxnSpPr>
          <p:nvPr/>
        </p:nvCxnSpPr>
        <p:spPr>
          <a:xfrm flipH="1">
            <a:off x="6975000" y="2666274"/>
            <a:ext cx="2143860" cy="0"/>
          </a:xfrm>
          <a:prstGeom prst="line">
            <a:avLst/>
          </a:prstGeom>
          <a:ln w="6350">
            <a:solidFill>
              <a:schemeClr val="bg1">
                <a:lumMod val="85000"/>
              </a:schemeClr>
            </a:solidFill>
            <a:prstDash val="dash"/>
          </a:ln>
        </p:spPr>
        <p:style>
          <a:lnRef idx="1">
            <a:schemeClr val="accent4"/>
          </a:lnRef>
          <a:fillRef idx="0">
            <a:schemeClr val="accent4"/>
          </a:fillRef>
          <a:effectRef idx="0">
            <a:schemeClr val="accent4"/>
          </a:effectRef>
          <a:fontRef idx="minor">
            <a:schemeClr val="tx1"/>
          </a:fontRef>
        </p:style>
      </p:cxnSp>
      <p:sp>
        <p:nvSpPr>
          <p:cNvPr id="59" name="TextBox 58">
            <a:extLst>
              <a:ext uri="{FF2B5EF4-FFF2-40B4-BE49-F238E27FC236}">
                <a16:creationId xmlns:a16="http://schemas.microsoft.com/office/drawing/2014/main" id="{B423A892-2127-0978-0578-67B0D9EA5F07}"/>
              </a:ext>
            </a:extLst>
          </p:cNvPr>
          <p:cNvSpPr txBox="1"/>
          <p:nvPr/>
        </p:nvSpPr>
        <p:spPr>
          <a:xfrm>
            <a:off x="7059378" y="3118992"/>
            <a:ext cx="1975104" cy="1000274"/>
          </a:xfrm>
          <a:prstGeom prst="rect">
            <a:avLst/>
          </a:prstGeom>
          <a:noFill/>
        </p:spPr>
        <p:txBody>
          <a:bodyPr wrap="square" rtlCol="0">
            <a:spAutoFit/>
          </a:bodyPr>
          <a:lstStyle/>
          <a:p>
            <a:pPr marL="115888" marR="0" lvl="0" indent="-115888" algn="justLow" defTabSz="457200" rtl="1" eaLnBrk="1" fontAlgn="auto" latinLnBrk="0" hangingPunct="1">
              <a:lnSpc>
                <a:spcPct val="10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مشتریان تمایل دارند از چه طریقی به آن‌ها دسترسی داشته باشیم؟</a:t>
            </a:r>
          </a:p>
          <a:p>
            <a:pPr marL="115888" marR="0" lvl="0" indent="-115888" algn="justLow" defTabSz="457200" rtl="1" eaLnBrk="1" fontAlgn="auto" latinLnBrk="0" hangingPunct="1">
              <a:lnSpc>
                <a:spcPct val="10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سایر شرکت‌ها در حال حاضر چگونه به آن‌ها دسترسی دارند؟</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a:p>
            <a:pPr marL="115888" marR="0" lvl="0" indent="-115888" algn="justLow" defTabSz="457200" rtl="1" eaLnBrk="1" fontAlgn="auto" latinLnBrk="0" hangingPunct="1">
              <a:lnSpc>
                <a:spcPct val="10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چگونه این کانال‌ها را با روال‌های روزمره مشتریان یکپارچه می‌کنیم؟</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p:txBody>
      </p:sp>
      <p:sp>
        <p:nvSpPr>
          <p:cNvPr id="60" name="TextBox 59">
            <a:extLst>
              <a:ext uri="{FF2B5EF4-FFF2-40B4-BE49-F238E27FC236}">
                <a16:creationId xmlns:a16="http://schemas.microsoft.com/office/drawing/2014/main" id="{00FBD825-AA85-95E1-5150-EFEF94D037F1}"/>
              </a:ext>
            </a:extLst>
          </p:cNvPr>
          <p:cNvSpPr txBox="1"/>
          <p:nvPr/>
        </p:nvSpPr>
        <p:spPr>
          <a:xfrm>
            <a:off x="7059378" y="1510684"/>
            <a:ext cx="1975104" cy="1138773"/>
          </a:xfrm>
          <a:prstGeom prst="rect">
            <a:avLst/>
          </a:prstGeom>
          <a:noFill/>
        </p:spPr>
        <p:txBody>
          <a:bodyPr wrap="square" rtlCol="0">
            <a:spAutoFit/>
          </a:bodyPr>
          <a:lstStyle/>
          <a:p>
            <a:pPr marL="115888" marR="0" lvl="0" indent="-115888" algn="justLow" defTabSz="457200" rtl="1" eaLnBrk="1" fontAlgn="auto" latinLnBrk="0" hangingPunct="1">
              <a:lnSpc>
                <a:spcPct val="10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چگونه مشتریان را جذب می‌کنیم، آن‌ها را حفظ می‌کنیم و توسعه می‌دهیم؟</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a:p>
            <a:pPr marL="115888" marR="0" lvl="0" indent="-115888" algn="justLow" defTabSz="457200" rtl="1" eaLnBrk="1" fontAlgn="auto" latinLnBrk="0" hangingPunct="1">
              <a:lnSpc>
                <a:spcPct val="10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چه نوع روابطی را با مشتریان پایه‌گذاری کرده‌ایم؟</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a:p>
            <a:pPr marL="115888" marR="0" lvl="0" indent="-115888" algn="justLow" defTabSz="457200" rtl="1" eaLnBrk="1" fontAlgn="auto" latinLnBrk="0" hangingPunct="1">
              <a:lnSpc>
                <a:spcPct val="10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این روابط چگونه با سایر بخش‌های مدل کسب‌وکار ما یکپارچه شده‌اند؟</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p:txBody>
      </p:sp>
      <p:grpSp>
        <p:nvGrpSpPr>
          <p:cNvPr id="61" name="Group 60">
            <a:extLst>
              <a:ext uri="{FF2B5EF4-FFF2-40B4-BE49-F238E27FC236}">
                <a16:creationId xmlns:a16="http://schemas.microsoft.com/office/drawing/2014/main" id="{86142DEC-AE7C-5D6C-DC46-05ACA37520D1}"/>
              </a:ext>
            </a:extLst>
          </p:cNvPr>
          <p:cNvGrpSpPr/>
          <p:nvPr/>
        </p:nvGrpSpPr>
        <p:grpSpPr>
          <a:xfrm>
            <a:off x="7059589" y="1162738"/>
            <a:ext cx="1974683" cy="308098"/>
            <a:chOff x="9235887" y="1514246"/>
            <a:chExt cx="1974683" cy="308098"/>
          </a:xfrm>
        </p:grpSpPr>
        <p:sp>
          <p:nvSpPr>
            <p:cNvPr id="63" name="Rectangle: Rounded Corners 62">
              <a:extLst>
                <a:ext uri="{FF2B5EF4-FFF2-40B4-BE49-F238E27FC236}">
                  <a16:creationId xmlns:a16="http://schemas.microsoft.com/office/drawing/2014/main" id="{28F77F2F-4ADD-7EB1-E992-62F85EC9C2C8}"/>
                </a:ext>
              </a:extLst>
            </p:cNvPr>
            <p:cNvSpPr/>
            <p:nvPr/>
          </p:nvSpPr>
          <p:spPr>
            <a:xfrm>
              <a:off x="10936250" y="1514246"/>
              <a:ext cx="274320" cy="274320"/>
            </a:xfrm>
            <a:prstGeom prst="roundRect">
              <a:avLst>
                <a:gd name="adj" fmla="val 20381"/>
              </a:avLst>
            </a:prstGeom>
            <a:solidFill>
              <a:srgbClr val="F0BE0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endParaRPr lang="fa-IR" sz="1600" b="1" dirty="0">
                <a:latin typeface="Yekan Bakh" pitchFamily="2" charset="-78"/>
                <a:ea typeface="Yekan Bakh" pitchFamily="2" charset="-78"/>
                <a:cs typeface="Yekan Bakh" pitchFamily="2" charset="-78"/>
              </a:endParaRPr>
            </a:p>
          </p:txBody>
        </p:sp>
        <p:sp>
          <p:nvSpPr>
            <p:cNvPr id="1024" name="TextBox 1023">
              <a:extLst>
                <a:ext uri="{FF2B5EF4-FFF2-40B4-BE49-F238E27FC236}">
                  <a16:creationId xmlns:a16="http://schemas.microsoft.com/office/drawing/2014/main" id="{C66E3233-9E61-4F38-E53A-1A3A4992B63C}"/>
                </a:ext>
              </a:extLst>
            </p:cNvPr>
            <p:cNvSpPr txBox="1"/>
            <p:nvPr/>
          </p:nvSpPr>
          <p:spPr>
            <a:xfrm>
              <a:off x="10955442" y="1514567"/>
              <a:ext cx="235936" cy="307777"/>
            </a:xfrm>
            <a:prstGeom prst="rect">
              <a:avLst/>
            </a:prstGeom>
            <a:noFill/>
          </p:spPr>
          <p:txBody>
            <a:bodyPr wrap="square" rtlCol="0" anchor="ctr">
              <a:spAutoFit/>
            </a:bodyPr>
            <a:lstStyle/>
            <a:p>
              <a:pPr algn="ctr"/>
              <a:r>
                <a:rPr lang="fa-IR" sz="1400" b="1" dirty="0">
                  <a:solidFill>
                    <a:schemeClr val="bg1"/>
                  </a:solidFill>
                  <a:latin typeface="Yekan Bakh FaNum" pitchFamily="2" charset="-78"/>
                  <a:ea typeface="Yekan Bakh FaNum" pitchFamily="2" charset="-78"/>
                  <a:cs typeface="Yekan Bakh FaNum" pitchFamily="2" charset="-78"/>
                </a:rPr>
                <a:t>۴</a:t>
              </a:r>
              <a:endParaRPr lang="en-GB" sz="1400" b="1" dirty="0">
                <a:solidFill>
                  <a:schemeClr val="bg1"/>
                </a:solidFill>
                <a:latin typeface="Yekan Bakh FaNum" pitchFamily="2" charset="-78"/>
                <a:ea typeface="Yekan Bakh FaNum" pitchFamily="2" charset="-78"/>
                <a:cs typeface="Yekan Bakh FaNum" pitchFamily="2" charset="-78"/>
              </a:endParaRPr>
            </a:p>
          </p:txBody>
        </p:sp>
        <p:sp>
          <p:nvSpPr>
            <p:cNvPr id="1025" name="Rectangle: Rounded Corners 1024">
              <a:extLst>
                <a:ext uri="{FF2B5EF4-FFF2-40B4-BE49-F238E27FC236}">
                  <a16:creationId xmlns:a16="http://schemas.microsoft.com/office/drawing/2014/main" id="{AAA2863C-2859-5447-D8F5-7CBBF29DD05A}"/>
                </a:ext>
              </a:extLst>
            </p:cNvPr>
            <p:cNvSpPr/>
            <p:nvPr/>
          </p:nvSpPr>
          <p:spPr>
            <a:xfrm>
              <a:off x="9235887" y="1514246"/>
              <a:ext cx="1682279" cy="274320"/>
            </a:xfrm>
            <a:prstGeom prst="roundRect">
              <a:avLst>
                <a:gd name="adj" fmla="val 20381"/>
              </a:avLst>
            </a:prstGeom>
            <a:solidFill>
              <a:srgbClr val="F0BE0F">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fa-IR" sz="1100" b="1" dirty="0">
                  <a:solidFill>
                    <a:srgbClr val="004D80"/>
                  </a:solidFill>
                  <a:latin typeface="Yekan Bakh" pitchFamily="2" charset="-78"/>
                  <a:ea typeface="Yekan Bakh" pitchFamily="2" charset="-78"/>
                  <a:cs typeface="Yekan Bakh" pitchFamily="2" charset="-78"/>
                </a:rPr>
                <a:t>ارتباط با مشتری</a:t>
              </a:r>
            </a:p>
          </p:txBody>
        </p:sp>
      </p:grpSp>
      <p:grpSp>
        <p:nvGrpSpPr>
          <p:cNvPr id="1027" name="Group 1026">
            <a:extLst>
              <a:ext uri="{FF2B5EF4-FFF2-40B4-BE49-F238E27FC236}">
                <a16:creationId xmlns:a16="http://schemas.microsoft.com/office/drawing/2014/main" id="{8CE29853-1428-7C23-E15A-5442AD856FEF}"/>
              </a:ext>
            </a:extLst>
          </p:cNvPr>
          <p:cNvGrpSpPr/>
          <p:nvPr/>
        </p:nvGrpSpPr>
        <p:grpSpPr>
          <a:xfrm>
            <a:off x="7059589" y="2774081"/>
            <a:ext cx="1974683" cy="308098"/>
            <a:chOff x="9235887" y="1514246"/>
            <a:chExt cx="1974683" cy="308098"/>
          </a:xfrm>
        </p:grpSpPr>
        <p:sp>
          <p:nvSpPr>
            <p:cNvPr id="1028" name="Rectangle: Rounded Corners 1027">
              <a:extLst>
                <a:ext uri="{FF2B5EF4-FFF2-40B4-BE49-F238E27FC236}">
                  <a16:creationId xmlns:a16="http://schemas.microsoft.com/office/drawing/2014/main" id="{7F36939A-8DCF-7B69-6D3F-C889F805BB9E}"/>
                </a:ext>
              </a:extLst>
            </p:cNvPr>
            <p:cNvSpPr/>
            <p:nvPr/>
          </p:nvSpPr>
          <p:spPr>
            <a:xfrm>
              <a:off x="10936250" y="1514246"/>
              <a:ext cx="274320" cy="274320"/>
            </a:xfrm>
            <a:prstGeom prst="roundRect">
              <a:avLst>
                <a:gd name="adj" fmla="val 20381"/>
              </a:avLst>
            </a:prstGeom>
            <a:solidFill>
              <a:srgbClr val="F0BE0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a-IR" sz="1600" b="1" dirty="0">
                <a:latin typeface="Yekan Bakh" pitchFamily="2" charset="-78"/>
                <a:ea typeface="Yekan Bakh" pitchFamily="2" charset="-78"/>
                <a:cs typeface="Yekan Bakh" pitchFamily="2" charset="-78"/>
              </a:endParaRPr>
            </a:p>
          </p:txBody>
        </p:sp>
        <p:sp>
          <p:nvSpPr>
            <p:cNvPr id="1029" name="TextBox 1028">
              <a:extLst>
                <a:ext uri="{FF2B5EF4-FFF2-40B4-BE49-F238E27FC236}">
                  <a16:creationId xmlns:a16="http://schemas.microsoft.com/office/drawing/2014/main" id="{696B3430-7B91-2931-2385-C6CB03703C3C}"/>
                </a:ext>
              </a:extLst>
            </p:cNvPr>
            <p:cNvSpPr txBox="1"/>
            <p:nvPr/>
          </p:nvSpPr>
          <p:spPr>
            <a:xfrm>
              <a:off x="10955442" y="1514567"/>
              <a:ext cx="235936" cy="307777"/>
            </a:xfrm>
            <a:prstGeom prst="rect">
              <a:avLst/>
            </a:prstGeom>
            <a:noFill/>
          </p:spPr>
          <p:txBody>
            <a:bodyPr wrap="square" rtlCol="0" anchor="ctr">
              <a:spAutoFit/>
            </a:bodyPr>
            <a:lstStyle/>
            <a:p>
              <a:pPr algn="ctr"/>
              <a:r>
                <a:rPr lang="fa-IR" sz="1400" b="1" dirty="0">
                  <a:solidFill>
                    <a:schemeClr val="bg1"/>
                  </a:solidFill>
                  <a:latin typeface="Yekan Bakh FaNum" pitchFamily="2" charset="-78"/>
                  <a:ea typeface="Yekan Bakh FaNum" pitchFamily="2" charset="-78"/>
                  <a:cs typeface="Yekan Bakh FaNum" pitchFamily="2" charset="-78"/>
                </a:rPr>
                <a:t>۳</a:t>
              </a:r>
              <a:endParaRPr lang="en-GB" sz="1400" b="1" dirty="0">
                <a:solidFill>
                  <a:schemeClr val="bg1"/>
                </a:solidFill>
                <a:latin typeface="Yekan Bakh FaNum" pitchFamily="2" charset="-78"/>
                <a:ea typeface="Yekan Bakh FaNum" pitchFamily="2" charset="-78"/>
                <a:cs typeface="Yekan Bakh FaNum" pitchFamily="2" charset="-78"/>
              </a:endParaRPr>
            </a:p>
          </p:txBody>
        </p:sp>
        <p:sp>
          <p:nvSpPr>
            <p:cNvPr id="1030" name="Rectangle: Rounded Corners 1029">
              <a:extLst>
                <a:ext uri="{FF2B5EF4-FFF2-40B4-BE49-F238E27FC236}">
                  <a16:creationId xmlns:a16="http://schemas.microsoft.com/office/drawing/2014/main" id="{A615CE78-60DA-BCDB-C378-2881297C175B}"/>
                </a:ext>
              </a:extLst>
            </p:cNvPr>
            <p:cNvSpPr/>
            <p:nvPr/>
          </p:nvSpPr>
          <p:spPr>
            <a:xfrm>
              <a:off x="9235887" y="1514246"/>
              <a:ext cx="1682279" cy="274320"/>
            </a:xfrm>
            <a:prstGeom prst="roundRect">
              <a:avLst>
                <a:gd name="adj" fmla="val 20381"/>
              </a:avLst>
            </a:prstGeom>
            <a:solidFill>
              <a:srgbClr val="F0BE0F">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1100" b="1" dirty="0">
                  <a:solidFill>
                    <a:srgbClr val="004D80"/>
                  </a:solidFill>
                  <a:latin typeface="Yekan Bakh" pitchFamily="2" charset="-78"/>
                  <a:ea typeface="Yekan Bakh" pitchFamily="2" charset="-78"/>
                  <a:cs typeface="Yekan Bakh" pitchFamily="2" charset="-78"/>
                </a:rPr>
                <a:t>کانال‌ها</a:t>
              </a:r>
            </a:p>
          </p:txBody>
        </p:sp>
      </p:grpSp>
      <p:cxnSp>
        <p:nvCxnSpPr>
          <p:cNvPr id="1032" name="Straight Connector 1031">
            <a:extLst>
              <a:ext uri="{FF2B5EF4-FFF2-40B4-BE49-F238E27FC236}">
                <a16:creationId xmlns:a16="http://schemas.microsoft.com/office/drawing/2014/main" id="{0F5AAED9-3D31-F7A6-E277-1B74E74F915C}"/>
              </a:ext>
            </a:extLst>
          </p:cNvPr>
          <p:cNvCxnSpPr>
            <a:cxnSpLocks/>
          </p:cNvCxnSpPr>
          <p:nvPr/>
        </p:nvCxnSpPr>
        <p:spPr>
          <a:xfrm flipH="1">
            <a:off x="2602020" y="2666274"/>
            <a:ext cx="2143860" cy="0"/>
          </a:xfrm>
          <a:prstGeom prst="line">
            <a:avLst/>
          </a:prstGeom>
          <a:noFill/>
          <a:ln w="6350">
            <a:solidFill>
              <a:schemeClr val="bg1">
                <a:lumMod val="85000"/>
              </a:schemeClr>
            </a:solidFill>
            <a:prstDash val="dash"/>
          </a:ln>
        </p:spPr>
      </p:cxnSp>
      <p:sp>
        <p:nvSpPr>
          <p:cNvPr id="1034" name="TextBox 1033">
            <a:extLst>
              <a:ext uri="{FF2B5EF4-FFF2-40B4-BE49-F238E27FC236}">
                <a16:creationId xmlns:a16="http://schemas.microsoft.com/office/drawing/2014/main" id="{52091180-1ADF-476F-0AAC-D2B4E6B5E849}"/>
              </a:ext>
            </a:extLst>
          </p:cNvPr>
          <p:cNvSpPr txBox="1"/>
          <p:nvPr/>
        </p:nvSpPr>
        <p:spPr>
          <a:xfrm>
            <a:off x="2686398" y="3118992"/>
            <a:ext cx="1975104" cy="1000274"/>
          </a:xfrm>
          <a:prstGeom prst="rect">
            <a:avLst/>
          </a:prstGeom>
          <a:noFill/>
        </p:spPr>
        <p:txBody>
          <a:bodyPr wrap="square" rtlCol="0">
            <a:spAutoFit/>
          </a:bodyPr>
          <a:lstStyle/>
          <a:p>
            <a:pPr marL="115888" marR="0" lvl="0" indent="-115888" algn="justLow" defTabSz="457200" rtl="1" eaLnBrk="1" fontAlgn="auto" latinLnBrk="0" hangingPunct="1">
              <a:lnSpc>
                <a:spcPct val="10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ارزش پیشنهادی ما مستلزم چه منابع کلیدی است؟</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a:p>
            <a:pPr marL="115888" marR="0" lvl="0" indent="-115888" algn="justLow" defTabSz="457200" rtl="1" eaLnBrk="1" fontAlgn="auto" latinLnBrk="0" hangingPunct="1">
              <a:lnSpc>
                <a:spcPct val="10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کانال‌های توزیع ما به چه منابعی نیاز دارند؟</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a:p>
            <a:pPr marL="115888" marR="0" lvl="0" indent="-115888" algn="justLow" defTabSz="457200" rtl="1" eaLnBrk="1" fontAlgn="auto" latinLnBrk="0" hangingPunct="1">
              <a:lnSpc>
                <a:spcPct val="10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ارتباط با مشتریان نیازمند چه منابعی است؟</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p:txBody>
      </p:sp>
      <p:sp>
        <p:nvSpPr>
          <p:cNvPr id="1035" name="TextBox 1034">
            <a:extLst>
              <a:ext uri="{FF2B5EF4-FFF2-40B4-BE49-F238E27FC236}">
                <a16:creationId xmlns:a16="http://schemas.microsoft.com/office/drawing/2014/main" id="{6FB0CED2-1300-785E-9353-72E07AC2AED4}"/>
              </a:ext>
            </a:extLst>
          </p:cNvPr>
          <p:cNvSpPr txBox="1"/>
          <p:nvPr/>
        </p:nvSpPr>
        <p:spPr>
          <a:xfrm>
            <a:off x="2686398" y="1510684"/>
            <a:ext cx="1975104" cy="1000274"/>
          </a:xfrm>
          <a:prstGeom prst="rect">
            <a:avLst/>
          </a:prstGeom>
          <a:noFill/>
        </p:spPr>
        <p:txBody>
          <a:bodyPr wrap="square" rtlCol="0">
            <a:spAutoFit/>
          </a:bodyPr>
          <a:lstStyle/>
          <a:p>
            <a:pPr marL="115888" marR="0" lvl="0" indent="-115888" algn="justLow" defTabSz="457200" rtl="1" eaLnBrk="1" fontAlgn="auto" latinLnBrk="0" hangingPunct="1">
              <a:lnSpc>
                <a:spcPct val="10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ارزش پیشنهادی ما مستلزم چه فعالیت‌های کلیدی است؟</a:t>
            </a:r>
          </a:p>
          <a:p>
            <a:pPr marL="115888" marR="0" lvl="0" indent="-115888" algn="justLow" defTabSz="457200" rtl="1" eaLnBrk="1" fontAlgn="auto" latinLnBrk="0" hangingPunct="1">
              <a:lnSpc>
                <a:spcPct val="10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کانال‌های توزیع ما به چه فعالیت‌هایی نیاز دارند؟</a:t>
            </a:r>
          </a:p>
          <a:p>
            <a:pPr marL="115888" marR="0" lvl="0" indent="-115888" algn="justLow" defTabSz="457200" rtl="1" eaLnBrk="1" fontAlgn="auto" latinLnBrk="0" hangingPunct="1">
              <a:lnSpc>
                <a:spcPct val="10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ارتباط با مشتریان چه فعالیت‌هایی را می‌طلبد؟</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p:txBody>
      </p:sp>
      <p:sp>
        <p:nvSpPr>
          <p:cNvPr id="1036" name="Rectangle: Rounded Corners 1035">
            <a:extLst>
              <a:ext uri="{FF2B5EF4-FFF2-40B4-BE49-F238E27FC236}">
                <a16:creationId xmlns:a16="http://schemas.microsoft.com/office/drawing/2014/main" id="{B39221BA-9EFD-070C-DF39-F2BD38AC3770}"/>
              </a:ext>
            </a:extLst>
          </p:cNvPr>
          <p:cNvSpPr/>
          <p:nvPr/>
        </p:nvSpPr>
        <p:spPr>
          <a:xfrm>
            <a:off x="4386972" y="1162738"/>
            <a:ext cx="274320" cy="274320"/>
          </a:xfrm>
          <a:prstGeom prst="roundRect">
            <a:avLst>
              <a:gd name="adj" fmla="val 20381"/>
            </a:avLst>
          </a:prstGeom>
          <a:solidFill>
            <a:srgbClr val="F0BE0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endParaRPr lang="fa-IR" sz="1600" b="1" dirty="0">
              <a:latin typeface="Yekan Bakh" pitchFamily="2" charset="-78"/>
              <a:ea typeface="Yekan Bakh" pitchFamily="2" charset="-78"/>
              <a:cs typeface="Yekan Bakh" pitchFamily="2" charset="-78"/>
            </a:endParaRPr>
          </a:p>
        </p:txBody>
      </p:sp>
      <p:sp>
        <p:nvSpPr>
          <p:cNvPr id="1037" name="TextBox 1036">
            <a:extLst>
              <a:ext uri="{FF2B5EF4-FFF2-40B4-BE49-F238E27FC236}">
                <a16:creationId xmlns:a16="http://schemas.microsoft.com/office/drawing/2014/main" id="{F28A2965-81C9-DE38-8672-A1042EBFB606}"/>
              </a:ext>
            </a:extLst>
          </p:cNvPr>
          <p:cNvSpPr txBox="1"/>
          <p:nvPr/>
        </p:nvSpPr>
        <p:spPr>
          <a:xfrm>
            <a:off x="4406164" y="1163059"/>
            <a:ext cx="235936" cy="307777"/>
          </a:xfrm>
          <a:prstGeom prst="rect">
            <a:avLst/>
          </a:prstGeom>
          <a:noFill/>
        </p:spPr>
        <p:txBody>
          <a:bodyPr wrap="square" rtlCol="0" anchor="ctr">
            <a:spAutoFit/>
          </a:bodyPr>
          <a:lstStyle/>
          <a:p>
            <a:pPr algn="ctr"/>
            <a:r>
              <a:rPr lang="fa-IR" sz="1400" b="1" dirty="0">
                <a:solidFill>
                  <a:schemeClr val="bg1"/>
                </a:solidFill>
                <a:latin typeface="Yekan Bakh FaNum" pitchFamily="2" charset="-78"/>
                <a:ea typeface="Yekan Bakh FaNum" pitchFamily="2" charset="-78"/>
                <a:cs typeface="Yekan Bakh FaNum" pitchFamily="2" charset="-78"/>
              </a:rPr>
              <a:t>۷</a:t>
            </a:r>
            <a:endParaRPr lang="en-GB" sz="1400" b="1" dirty="0">
              <a:solidFill>
                <a:schemeClr val="bg1"/>
              </a:solidFill>
              <a:latin typeface="Yekan Bakh FaNum" pitchFamily="2" charset="-78"/>
              <a:ea typeface="Yekan Bakh FaNum" pitchFamily="2" charset="-78"/>
              <a:cs typeface="Yekan Bakh FaNum" pitchFamily="2" charset="-78"/>
            </a:endParaRPr>
          </a:p>
        </p:txBody>
      </p:sp>
      <p:sp>
        <p:nvSpPr>
          <p:cNvPr id="1038" name="Rectangle: Rounded Corners 1037">
            <a:extLst>
              <a:ext uri="{FF2B5EF4-FFF2-40B4-BE49-F238E27FC236}">
                <a16:creationId xmlns:a16="http://schemas.microsoft.com/office/drawing/2014/main" id="{1DE40E1A-6E51-C10F-2B53-2E2006DF8CE3}"/>
              </a:ext>
            </a:extLst>
          </p:cNvPr>
          <p:cNvSpPr/>
          <p:nvPr/>
        </p:nvSpPr>
        <p:spPr>
          <a:xfrm>
            <a:off x="2686609" y="1162738"/>
            <a:ext cx="1682279" cy="274320"/>
          </a:xfrm>
          <a:prstGeom prst="roundRect">
            <a:avLst>
              <a:gd name="adj" fmla="val 20381"/>
            </a:avLst>
          </a:prstGeom>
          <a:solidFill>
            <a:srgbClr val="F0BE0F">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fa-IR" sz="1100" b="1" dirty="0">
                <a:solidFill>
                  <a:srgbClr val="004D80"/>
                </a:solidFill>
                <a:latin typeface="Yekan Bakh" pitchFamily="2" charset="-78"/>
                <a:ea typeface="Yekan Bakh" pitchFamily="2" charset="-78"/>
                <a:cs typeface="Yekan Bakh" pitchFamily="2" charset="-78"/>
              </a:rPr>
              <a:t>فعالیت‌های کلیدی</a:t>
            </a:r>
          </a:p>
        </p:txBody>
      </p:sp>
      <p:sp>
        <p:nvSpPr>
          <p:cNvPr id="1039" name="Rectangle: Rounded Corners 1038">
            <a:extLst>
              <a:ext uri="{FF2B5EF4-FFF2-40B4-BE49-F238E27FC236}">
                <a16:creationId xmlns:a16="http://schemas.microsoft.com/office/drawing/2014/main" id="{BE76DD3C-9BDE-EE81-0214-4E91A5BA83B2}"/>
              </a:ext>
            </a:extLst>
          </p:cNvPr>
          <p:cNvSpPr/>
          <p:nvPr/>
        </p:nvSpPr>
        <p:spPr>
          <a:xfrm>
            <a:off x="4386972" y="2774081"/>
            <a:ext cx="274320" cy="274320"/>
          </a:xfrm>
          <a:prstGeom prst="roundRect">
            <a:avLst>
              <a:gd name="adj" fmla="val 20381"/>
            </a:avLst>
          </a:prstGeom>
          <a:solidFill>
            <a:srgbClr val="F0BE0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a-IR" sz="1600" b="1" dirty="0">
              <a:latin typeface="Yekan Bakh" pitchFamily="2" charset="-78"/>
              <a:ea typeface="Yekan Bakh" pitchFamily="2" charset="-78"/>
              <a:cs typeface="Yekan Bakh" pitchFamily="2" charset="-78"/>
            </a:endParaRPr>
          </a:p>
        </p:txBody>
      </p:sp>
      <p:sp>
        <p:nvSpPr>
          <p:cNvPr id="1040" name="TextBox 1039">
            <a:extLst>
              <a:ext uri="{FF2B5EF4-FFF2-40B4-BE49-F238E27FC236}">
                <a16:creationId xmlns:a16="http://schemas.microsoft.com/office/drawing/2014/main" id="{F9413275-6C8B-DC42-A6A0-96932F595520}"/>
              </a:ext>
            </a:extLst>
          </p:cNvPr>
          <p:cNvSpPr txBox="1"/>
          <p:nvPr/>
        </p:nvSpPr>
        <p:spPr>
          <a:xfrm>
            <a:off x="4406164" y="2774402"/>
            <a:ext cx="235936" cy="307777"/>
          </a:xfrm>
          <a:prstGeom prst="rect">
            <a:avLst/>
          </a:prstGeom>
          <a:noFill/>
        </p:spPr>
        <p:txBody>
          <a:bodyPr wrap="square" rtlCol="0" anchor="ctr">
            <a:spAutoFit/>
          </a:bodyPr>
          <a:lstStyle/>
          <a:p>
            <a:pPr algn="ctr"/>
            <a:r>
              <a:rPr lang="fa-IR" sz="1400" b="1" dirty="0">
                <a:solidFill>
                  <a:schemeClr val="bg1"/>
                </a:solidFill>
                <a:latin typeface="Yekan Bakh FaNum" pitchFamily="2" charset="-78"/>
                <a:ea typeface="Yekan Bakh FaNum" pitchFamily="2" charset="-78"/>
                <a:cs typeface="Yekan Bakh FaNum" pitchFamily="2" charset="-78"/>
              </a:rPr>
              <a:t>۶</a:t>
            </a:r>
            <a:endParaRPr lang="en-GB" sz="1400" b="1" dirty="0">
              <a:solidFill>
                <a:schemeClr val="bg1"/>
              </a:solidFill>
              <a:latin typeface="Yekan Bakh FaNum" pitchFamily="2" charset="-78"/>
              <a:ea typeface="Yekan Bakh FaNum" pitchFamily="2" charset="-78"/>
              <a:cs typeface="Yekan Bakh FaNum" pitchFamily="2" charset="-78"/>
            </a:endParaRPr>
          </a:p>
        </p:txBody>
      </p:sp>
      <p:sp>
        <p:nvSpPr>
          <p:cNvPr id="1041" name="Rectangle: Rounded Corners 1040">
            <a:extLst>
              <a:ext uri="{FF2B5EF4-FFF2-40B4-BE49-F238E27FC236}">
                <a16:creationId xmlns:a16="http://schemas.microsoft.com/office/drawing/2014/main" id="{5C76828C-57FE-DBFF-30FC-2CAD8B5EB153}"/>
              </a:ext>
            </a:extLst>
          </p:cNvPr>
          <p:cNvSpPr/>
          <p:nvPr/>
        </p:nvSpPr>
        <p:spPr>
          <a:xfrm>
            <a:off x="2686609" y="2774081"/>
            <a:ext cx="1682279" cy="274320"/>
          </a:xfrm>
          <a:prstGeom prst="roundRect">
            <a:avLst>
              <a:gd name="adj" fmla="val 20381"/>
            </a:avLst>
          </a:prstGeom>
          <a:solidFill>
            <a:srgbClr val="F0BE0F">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1100" b="1" dirty="0">
                <a:solidFill>
                  <a:srgbClr val="004D80"/>
                </a:solidFill>
                <a:latin typeface="Yekan Bakh" pitchFamily="2" charset="-78"/>
                <a:ea typeface="Yekan Bakh" pitchFamily="2" charset="-78"/>
                <a:cs typeface="Yekan Bakh" pitchFamily="2" charset="-78"/>
              </a:rPr>
              <a:t>منابع کلیدی</a:t>
            </a:r>
          </a:p>
        </p:txBody>
      </p:sp>
      <p:sp>
        <p:nvSpPr>
          <p:cNvPr id="1042" name="Rectangle 1041">
            <a:extLst>
              <a:ext uri="{FF2B5EF4-FFF2-40B4-BE49-F238E27FC236}">
                <a16:creationId xmlns:a16="http://schemas.microsoft.com/office/drawing/2014/main" id="{5C4D225D-EE87-156E-0165-E708D61EC109}"/>
              </a:ext>
            </a:extLst>
          </p:cNvPr>
          <p:cNvSpPr/>
          <p:nvPr/>
        </p:nvSpPr>
        <p:spPr>
          <a:xfrm>
            <a:off x="0" y="0"/>
            <a:ext cx="11703050" cy="6583363"/>
          </a:xfrm>
          <a:prstGeom prst="rect">
            <a:avLst/>
          </a:prstGeom>
          <a:solidFill>
            <a:schemeClr val="tx1">
              <a:alpha val="4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043" name="Rectangle: Rounded Corners 1042">
            <a:extLst>
              <a:ext uri="{FF2B5EF4-FFF2-40B4-BE49-F238E27FC236}">
                <a16:creationId xmlns:a16="http://schemas.microsoft.com/office/drawing/2014/main" id="{BD92C91E-247D-E3B0-012D-D5B9C51ACF10}"/>
              </a:ext>
            </a:extLst>
          </p:cNvPr>
          <p:cNvSpPr/>
          <p:nvPr/>
        </p:nvSpPr>
        <p:spPr>
          <a:xfrm>
            <a:off x="4827470" y="1104023"/>
            <a:ext cx="2064624" cy="3056021"/>
          </a:xfrm>
          <a:prstGeom prst="roundRect">
            <a:avLst>
              <a:gd name="adj" fmla="val 379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075" name="Group 1074">
            <a:extLst>
              <a:ext uri="{FF2B5EF4-FFF2-40B4-BE49-F238E27FC236}">
                <a16:creationId xmlns:a16="http://schemas.microsoft.com/office/drawing/2014/main" id="{10A38972-3AE0-A818-ABB5-AF99D6E54C98}"/>
              </a:ext>
            </a:extLst>
          </p:cNvPr>
          <p:cNvGrpSpPr/>
          <p:nvPr/>
        </p:nvGrpSpPr>
        <p:grpSpPr>
          <a:xfrm>
            <a:off x="4808068" y="1162738"/>
            <a:ext cx="2038608" cy="3062044"/>
            <a:chOff x="4808284" y="1069293"/>
            <a:chExt cx="2038608" cy="3062044"/>
          </a:xfrm>
        </p:grpSpPr>
        <p:cxnSp>
          <p:nvCxnSpPr>
            <p:cNvPr id="1052" name="Straight Connector 1051">
              <a:extLst>
                <a:ext uri="{FF2B5EF4-FFF2-40B4-BE49-F238E27FC236}">
                  <a16:creationId xmlns:a16="http://schemas.microsoft.com/office/drawing/2014/main" id="{83D4F9E9-1B9E-3695-708F-627290398E3A}"/>
                </a:ext>
              </a:extLst>
            </p:cNvPr>
            <p:cNvCxnSpPr>
              <a:cxnSpLocks/>
            </p:cNvCxnSpPr>
            <p:nvPr/>
          </p:nvCxnSpPr>
          <p:spPr>
            <a:xfrm>
              <a:off x="4808284" y="1205257"/>
              <a:ext cx="0" cy="2926080"/>
            </a:xfrm>
            <a:prstGeom prst="line">
              <a:avLst/>
            </a:prstGeom>
            <a:ln w="6350">
              <a:solidFill>
                <a:schemeClr val="bg1">
                  <a:lumMod val="85000"/>
                </a:schemeClr>
              </a:solidFill>
              <a:prstDash val="dash"/>
            </a:ln>
          </p:spPr>
          <p:style>
            <a:lnRef idx="1">
              <a:schemeClr val="accent4"/>
            </a:lnRef>
            <a:fillRef idx="0">
              <a:schemeClr val="accent4"/>
            </a:fillRef>
            <a:effectRef idx="0">
              <a:schemeClr val="accent4"/>
            </a:effectRef>
            <a:fontRef idx="minor">
              <a:schemeClr val="tx1"/>
            </a:fontRef>
          </p:style>
        </p:cxnSp>
        <p:sp>
          <p:nvSpPr>
            <p:cNvPr id="1053" name="TextBox 1052">
              <a:extLst>
                <a:ext uri="{FF2B5EF4-FFF2-40B4-BE49-F238E27FC236}">
                  <a16:creationId xmlns:a16="http://schemas.microsoft.com/office/drawing/2014/main" id="{CB1A8789-78A5-8B47-877A-38DDE7896CE5}"/>
                </a:ext>
              </a:extLst>
            </p:cNvPr>
            <p:cNvSpPr txBox="1"/>
            <p:nvPr/>
          </p:nvSpPr>
          <p:spPr>
            <a:xfrm>
              <a:off x="4871788" y="1417239"/>
              <a:ext cx="1975104" cy="2514150"/>
            </a:xfrm>
            <a:prstGeom prst="rect">
              <a:avLst/>
            </a:prstGeom>
            <a:noFill/>
          </p:spPr>
          <p:txBody>
            <a:bodyPr wrap="square" rtlCol="0">
              <a:spAutoFit/>
            </a:bodyPr>
            <a:lstStyle/>
            <a:p>
              <a:pPr marL="115888" marR="0" lvl="0" indent="-115888" algn="justLow" defTabSz="457200" rtl="1" eaLnBrk="1" fontAlgn="auto" latinLnBrk="0" hangingPunct="1">
                <a:lnSpc>
                  <a:spcPct val="15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چه ارزشی را به مشتری ارائه می‌دهیم؟</a:t>
              </a:r>
            </a:p>
            <a:p>
              <a:pPr marL="115888" marR="0" lvl="0" indent="-115888" algn="justLow" defTabSz="457200" rtl="1" eaLnBrk="1" fontAlgn="auto" latinLnBrk="0" hangingPunct="1">
                <a:lnSpc>
                  <a:spcPct val="15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به حل کدام‌یک از مسائل مشتریان خود کمک می‌کنیم؟</a:t>
              </a:r>
            </a:p>
            <a:p>
              <a:pPr marL="115888" marR="0" lvl="0" indent="-115888" algn="justLow" defTabSz="457200" rtl="1" eaLnBrk="1" fontAlgn="auto" latinLnBrk="0" hangingPunct="1">
                <a:lnSpc>
                  <a:spcPct val="15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چه بسته‌ای از محصولات و خدمات را به هر بخش از مشتریان عرضه می‌کنیم؟</a:t>
              </a:r>
            </a:p>
            <a:p>
              <a:pPr marL="115888" marR="0" lvl="0" indent="-115888" algn="justLow" defTabSz="457200" rtl="1" eaLnBrk="1" fontAlgn="auto" latinLnBrk="0" hangingPunct="1">
                <a:lnSpc>
                  <a:spcPct val="15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کدام‌یک از نیازهای مشتریان را برطرف می‌سازیم؟</a:t>
              </a:r>
            </a:p>
            <a:p>
              <a:pPr marL="115888" marR="0" lvl="0" indent="-115888" algn="justLow" defTabSz="457200" rtl="1" eaLnBrk="1" fontAlgn="auto" latinLnBrk="0" hangingPunct="1">
                <a:lnSpc>
                  <a:spcPct val="15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«کمینه اکوسیستم پذیرفتنی» (</a:t>
              </a:r>
              <a:r>
                <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MVE</a:t>
              </a: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 ما چیست؟</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p:txBody>
        </p:sp>
        <p:sp>
          <p:nvSpPr>
            <p:cNvPr id="1058" name="Rectangle: Rounded Corners 1057">
              <a:extLst>
                <a:ext uri="{FF2B5EF4-FFF2-40B4-BE49-F238E27FC236}">
                  <a16:creationId xmlns:a16="http://schemas.microsoft.com/office/drawing/2014/main" id="{D8FB64CD-A1B6-4F70-CDAF-6E8C93A4AD70}"/>
                </a:ext>
              </a:extLst>
            </p:cNvPr>
            <p:cNvSpPr/>
            <p:nvPr/>
          </p:nvSpPr>
          <p:spPr>
            <a:xfrm>
              <a:off x="6572362" y="1069293"/>
              <a:ext cx="274320" cy="274320"/>
            </a:xfrm>
            <a:prstGeom prst="roundRect">
              <a:avLst>
                <a:gd name="adj" fmla="val 20381"/>
              </a:avLst>
            </a:prstGeom>
            <a:solidFill>
              <a:srgbClr val="F0BE0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endParaRPr lang="fa-IR" sz="1600" b="1" dirty="0">
                <a:latin typeface="Yekan Bakh" pitchFamily="2" charset="-78"/>
                <a:ea typeface="Yekan Bakh" pitchFamily="2" charset="-78"/>
                <a:cs typeface="Yekan Bakh" pitchFamily="2" charset="-78"/>
              </a:endParaRPr>
            </a:p>
          </p:txBody>
        </p:sp>
        <p:sp>
          <p:nvSpPr>
            <p:cNvPr id="1064" name="TextBox 1063">
              <a:extLst>
                <a:ext uri="{FF2B5EF4-FFF2-40B4-BE49-F238E27FC236}">
                  <a16:creationId xmlns:a16="http://schemas.microsoft.com/office/drawing/2014/main" id="{C4A63967-20E1-8A2F-EE53-15A476757D8E}"/>
                </a:ext>
              </a:extLst>
            </p:cNvPr>
            <p:cNvSpPr txBox="1"/>
            <p:nvPr/>
          </p:nvSpPr>
          <p:spPr>
            <a:xfrm>
              <a:off x="6591554" y="1069614"/>
              <a:ext cx="235936" cy="307777"/>
            </a:xfrm>
            <a:prstGeom prst="rect">
              <a:avLst/>
            </a:prstGeom>
            <a:noFill/>
          </p:spPr>
          <p:txBody>
            <a:bodyPr wrap="square" rtlCol="0" anchor="ctr">
              <a:spAutoFit/>
            </a:bodyPr>
            <a:lstStyle/>
            <a:p>
              <a:pPr algn="ctr"/>
              <a:r>
                <a:rPr lang="fa-IR" sz="1400" b="1" dirty="0">
                  <a:solidFill>
                    <a:schemeClr val="bg1"/>
                  </a:solidFill>
                  <a:latin typeface="Yekan Bakh FaNum" pitchFamily="2" charset="-78"/>
                  <a:ea typeface="Yekan Bakh FaNum" pitchFamily="2" charset="-78"/>
                  <a:cs typeface="Yekan Bakh FaNum" pitchFamily="2" charset="-78"/>
                </a:rPr>
                <a:t>۲</a:t>
              </a:r>
              <a:endParaRPr lang="en-GB" sz="1400" b="1" dirty="0">
                <a:solidFill>
                  <a:schemeClr val="bg1"/>
                </a:solidFill>
                <a:latin typeface="Yekan Bakh FaNum" pitchFamily="2" charset="-78"/>
                <a:ea typeface="Yekan Bakh FaNum" pitchFamily="2" charset="-78"/>
                <a:cs typeface="Yekan Bakh FaNum" pitchFamily="2" charset="-78"/>
              </a:endParaRPr>
            </a:p>
          </p:txBody>
        </p:sp>
        <p:sp>
          <p:nvSpPr>
            <p:cNvPr id="1070" name="Rectangle: Rounded Corners 1069">
              <a:extLst>
                <a:ext uri="{FF2B5EF4-FFF2-40B4-BE49-F238E27FC236}">
                  <a16:creationId xmlns:a16="http://schemas.microsoft.com/office/drawing/2014/main" id="{A82BC428-350E-0953-8B14-A9F635D9619B}"/>
                </a:ext>
              </a:extLst>
            </p:cNvPr>
            <p:cNvSpPr/>
            <p:nvPr/>
          </p:nvSpPr>
          <p:spPr>
            <a:xfrm>
              <a:off x="4871999" y="1069293"/>
              <a:ext cx="1682279" cy="274320"/>
            </a:xfrm>
            <a:prstGeom prst="roundRect">
              <a:avLst>
                <a:gd name="adj" fmla="val 20381"/>
              </a:avLst>
            </a:prstGeom>
            <a:solidFill>
              <a:srgbClr val="F0BE0F">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fa-IR" sz="1100" b="1" dirty="0">
                  <a:solidFill>
                    <a:srgbClr val="004D80"/>
                  </a:solidFill>
                  <a:latin typeface="Yekan Bakh" pitchFamily="2" charset="-78"/>
                  <a:ea typeface="Yekan Bakh" pitchFamily="2" charset="-78"/>
                  <a:cs typeface="Yekan Bakh" pitchFamily="2" charset="-78"/>
                </a:rPr>
                <a:t>ارزش‌های پیشنهادی</a:t>
              </a:r>
            </a:p>
          </p:txBody>
        </p:sp>
      </p:grpSp>
      <p:sp>
        <p:nvSpPr>
          <p:cNvPr id="13" name="Text Placeholder 2">
            <a:extLst>
              <a:ext uri="{FF2B5EF4-FFF2-40B4-BE49-F238E27FC236}">
                <a16:creationId xmlns:a16="http://schemas.microsoft.com/office/drawing/2014/main" id="{2291FF9D-E433-18FC-620F-E1FB9ACEA5FF}"/>
              </a:ext>
            </a:extLst>
          </p:cNvPr>
          <p:cNvSpPr txBox="1">
            <a:spLocks/>
          </p:cNvSpPr>
          <p:nvPr/>
        </p:nvSpPr>
        <p:spPr>
          <a:xfrm>
            <a:off x="555629" y="567444"/>
            <a:ext cx="10710133" cy="715363"/>
          </a:xfrm>
          <a:prstGeom prst="rect">
            <a:avLst/>
          </a:prstGeom>
        </p:spPr>
        <p:txBody>
          <a:bodyPr/>
          <a:lstStyle>
            <a:lvl1pPr marL="0" indent="0" algn="justLow" defTabSz="1021516" rtl="1" eaLnBrk="1" latinLnBrk="0" hangingPunct="1">
              <a:lnSpc>
                <a:spcPct val="100000"/>
              </a:lnSpc>
              <a:spcBef>
                <a:spcPts val="600"/>
              </a:spcBef>
              <a:buFont typeface="Arial" panose="020B0604020202020204" pitchFamily="34" charset="0"/>
              <a:buNone/>
              <a:defRPr sz="1800" b="1" kern="1200">
                <a:solidFill>
                  <a:schemeClr val="tx1">
                    <a:lumMod val="75000"/>
                    <a:lumOff val="25000"/>
                  </a:schemeClr>
                </a:solidFill>
                <a:latin typeface="Yekan Bakh FaNum" pitchFamily="2" charset="-78"/>
                <a:ea typeface="+mn-ea"/>
                <a:cs typeface="Yekan Bakh FaNum" pitchFamily="2" charset="-78"/>
              </a:defRPr>
            </a:lvl1pPr>
            <a:lvl2pPr marL="766136" indent="-255379" algn="l" defTabSz="1021516" rtl="0" eaLnBrk="1" latinLnBrk="0" hangingPunct="1">
              <a:lnSpc>
                <a:spcPct val="90000"/>
              </a:lnSpc>
              <a:spcBef>
                <a:spcPts val="558"/>
              </a:spcBef>
              <a:buFont typeface="Arial" panose="020B0604020202020204" pitchFamily="34" charset="0"/>
              <a:buChar char="•"/>
              <a:defRPr sz="1600" kern="1200">
                <a:solidFill>
                  <a:schemeClr val="tx1"/>
                </a:solidFill>
                <a:latin typeface="Calvino" pitchFamily="2" charset="0"/>
                <a:ea typeface="+mn-ea"/>
                <a:cs typeface="+mn-cs"/>
              </a:defRPr>
            </a:lvl2pPr>
            <a:lvl3pPr marL="1276895" indent="-255379" algn="l" defTabSz="1021516" rtl="0" eaLnBrk="1" latinLnBrk="0" hangingPunct="1">
              <a:lnSpc>
                <a:spcPct val="90000"/>
              </a:lnSpc>
              <a:spcBef>
                <a:spcPts val="558"/>
              </a:spcBef>
              <a:buFont typeface="Arial" panose="020B0604020202020204" pitchFamily="34" charset="0"/>
              <a:buChar char="•"/>
              <a:defRPr sz="1600" kern="1200">
                <a:solidFill>
                  <a:schemeClr val="tx1"/>
                </a:solidFill>
                <a:latin typeface="Calvino" pitchFamily="2" charset="0"/>
                <a:ea typeface="+mn-ea"/>
                <a:cs typeface="+mn-cs"/>
              </a:defRPr>
            </a:lvl3pPr>
            <a:lvl4pPr marL="1787653" indent="-255379" algn="l" defTabSz="1021516" rtl="0" eaLnBrk="1" latinLnBrk="0" hangingPunct="1">
              <a:lnSpc>
                <a:spcPct val="90000"/>
              </a:lnSpc>
              <a:spcBef>
                <a:spcPts val="558"/>
              </a:spcBef>
              <a:buFont typeface="Arial" panose="020B0604020202020204" pitchFamily="34" charset="0"/>
              <a:buChar char="•"/>
              <a:defRPr sz="1600" kern="1200">
                <a:solidFill>
                  <a:schemeClr val="tx1"/>
                </a:solidFill>
                <a:latin typeface="Calvino" pitchFamily="2" charset="0"/>
                <a:ea typeface="+mn-ea"/>
                <a:cs typeface="+mn-cs"/>
              </a:defRPr>
            </a:lvl4pPr>
            <a:lvl5pPr marL="2298410" indent="-255379" algn="l" defTabSz="1021516" rtl="0" eaLnBrk="1" latinLnBrk="0" hangingPunct="1">
              <a:lnSpc>
                <a:spcPct val="90000"/>
              </a:lnSpc>
              <a:spcBef>
                <a:spcPts val="558"/>
              </a:spcBef>
              <a:buFont typeface="Arial" panose="020B0604020202020204" pitchFamily="34" charset="0"/>
              <a:buChar char="•"/>
              <a:defRPr sz="1600" kern="1200">
                <a:solidFill>
                  <a:schemeClr val="tx1"/>
                </a:solidFill>
                <a:latin typeface="Calvino" pitchFamily="2" charset="0"/>
                <a:ea typeface="+mn-ea"/>
                <a:cs typeface="+mn-cs"/>
              </a:defRPr>
            </a:lvl5pPr>
            <a:lvl6pPr marL="2809168" indent="-255379" algn="l" defTabSz="1021516" rtl="0" eaLnBrk="1" latinLnBrk="0" hangingPunct="1">
              <a:lnSpc>
                <a:spcPct val="90000"/>
              </a:lnSpc>
              <a:spcBef>
                <a:spcPts val="558"/>
              </a:spcBef>
              <a:buFont typeface="Arial" panose="020B0604020202020204" pitchFamily="34" charset="0"/>
              <a:buChar char="•"/>
              <a:defRPr sz="2011" kern="1200">
                <a:solidFill>
                  <a:schemeClr val="tx1"/>
                </a:solidFill>
                <a:latin typeface="+mn-lt"/>
                <a:ea typeface="+mn-ea"/>
                <a:cs typeface="+mn-cs"/>
              </a:defRPr>
            </a:lvl6pPr>
            <a:lvl7pPr marL="3319927" indent="-255379" algn="l" defTabSz="1021516" rtl="0" eaLnBrk="1" latinLnBrk="0" hangingPunct="1">
              <a:lnSpc>
                <a:spcPct val="90000"/>
              </a:lnSpc>
              <a:spcBef>
                <a:spcPts val="558"/>
              </a:spcBef>
              <a:buFont typeface="Arial" panose="020B0604020202020204" pitchFamily="34" charset="0"/>
              <a:buChar char="•"/>
              <a:defRPr sz="2011" kern="1200">
                <a:solidFill>
                  <a:schemeClr val="tx1"/>
                </a:solidFill>
                <a:latin typeface="+mn-lt"/>
                <a:ea typeface="+mn-ea"/>
                <a:cs typeface="+mn-cs"/>
              </a:defRPr>
            </a:lvl7pPr>
            <a:lvl8pPr marL="3830683" indent="-255379" algn="l" defTabSz="1021516" rtl="0" eaLnBrk="1" latinLnBrk="0" hangingPunct="1">
              <a:lnSpc>
                <a:spcPct val="90000"/>
              </a:lnSpc>
              <a:spcBef>
                <a:spcPts val="558"/>
              </a:spcBef>
              <a:buFont typeface="Arial" panose="020B0604020202020204" pitchFamily="34" charset="0"/>
              <a:buChar char="•"/>
              <a:defRPr sz="2011" kern="1200">
                <a:solidFill>
                  <a:schemeClr val="tx1"/>
                </a:solidFill>
                <a:latin typeface="+mn-lt"/>
                <a:ea typeface="+mn-ea"/>
                <a:cs typeface="+mn-cs"/>
              </a:defRPr>
            </a:lvl8pPr>
            <a:lvl9pPr marL="4341442" indent="-255379" algn="l" defTabSz="1021516" rtl="0" eaLnBrk="1" latinLnBrk="0" hangingPunct="1">
              <a:lnSpc>
                <a:spcPct val="90000"/>
              </a:lnSpc>
              <a:spcBef>
                <a:spcPts val="558"/>
              </a:spcBef>
              <a:buFont typeface="Arial" panose="020B0604020202020204" pitchFamily="34" charset="0"/>
              <a:buChar char="•"/>
              <a:defRPr sz="2011" kern="1200">
                <a:solidFill>
                  <a:schemeClr val="tx1"/>
                </a:solidFill>
                <a:latin typeface="+mn-lt"/>
                <a:ea typeface="+mn-ea"/>
                <a:cs typeface="+mn-cs"/>
              </a:defRPr>
            </a:lvl9pPr>
          </a:lstStyle>
          <a:p>
            <a:r>
              <a:rPr lang="fa-IR">
                <a:solidFill>
                  <a:schemeClr val="bg1"/>
                </a:solidFill>
                <a:latin typeface="Yekan Bakh" pitchFamily="2" charset="-78"/>
                <a:ea typeface="Yekan Bakh" pitchFamily="2" charset="-78"/>
                <a:cs typeface="Yekan Bakh" pitchFamily="2" charset="-78"/>
              </a:rPr>
              <a:t>موتور اصلی کسب‌وکار در ۹ بخش کلیدی طراحی می‌شود: </a:t>
            </a:r>
            <a:endParaRPr lang="fa-IR" dirty="0">
              <a:solidFill>
                <a:schemeClr val="bg1"/>
              </a:solidFill>
              <a:latin typeface="Yekan Bakh" pitchFamily="2" charset="-78"/>
              <a:ea typeface="Yekan Bakh" pitchFamily="2" charset="-78"/>
              <a:cs typeface="Yekan Bakh" pitchFamily="2" charset="-78"/>
            </a:endParaRPr>
          </a:p>
        </p:txBody>
      </p:sp>
      <p:sp>
        <p:nvSpPr>
          <p:cNvPr id="1082" name="Text Placeholder 1">
            <a:extLst>
              <a:ext uri="{FF2B5EF4-FFF2-40B4-BE49-F238E27FC236}">
                <a16:creationId xmlns:a16="http://schemas.microsoft.com/office/drawing/2014/main" id="{4C7F7673-2A77-1923-D0D2-7FCE77B8CC24}"/>
              </a:ext>
            </a:extLst>
          </p:cNvPr>
          <p:cNvSpPr>
            <a:spLocks noGrp="1"/>
          </p:cNvSpPr>
          <p:nvPr>
            <p:ph type="body" sz="quarter" idx="10"/>
          </p:nvPr>
        </p:nvSpPr>
        <p:spPr>
          <a:xfrm>
            <a:off x="5940763" y="256653"/>
            <a:ext cx="5302810" cy="250047"/>
          </a:xfrm>
        </p:spPr>
        <p:txBody>
          <a:bodyPr/>
          <a:lstStyle/>
          <a:p>
            <a:r>
              <a:rPr lang="fa-IR" dirty="0">
                <a:solidFill>
                  <a:schemeClr val="bg1">
                    <a:lumMod val="85000"/>
                  </a:schemeClr>
                </a:solidFill>
                <a:latin typeface="Yekan Bakh" pitchFamily="2" charset="-78"/>
                <a:ea typeface="Yekan Bakh" pitchFamily="2" charset="-78"/>
                <a:cs typeface="Yekan Bakh" pitchFamily="2" charset="-78"/>
              </a:rPr>
              <a:t>مقدمه</a:t>
            </a:r>
          </a:p>
        </p:txBody>
      </p:sp>
    </p:spTree>
    <p:extLst>
      <p:ext uri="{BB962C8B-B14F-4D97-AF65-F5344CB8AC3E}">
        <p14:creationId xmlns:p14="http://schemas.microsoft.com/office/powerpoint/2010/main" val="25698802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57B7A75-5E2B-4CEB-93F2-2728D8CC5B91}"/>
              </a:ext>
            </a:extLst>
          </p:cNvPr>
          <p:cNvSpPr>
            <a:spLocks noGrp="1"/>
          </p:cNvSpPr>
          <p:nvPr>
            <p:ph type="body" sz="quarter" idx="10"/>
          </p:nvPr>
        </p:nvSpPr>
        <p:spPr/>
        <p:txBody>
          <a:bodyPr/>
          <a:lstStyle/>
          <a:p>
            <a:r>
              <a:rPr lang="fa-IR" dirty="0"/>
              <a:t>خلاصه مدیریتی</a:t>
            </a:r>
          </a:p>
        </p:txBody>
      </p:sp>
      <p:sp>
        <p:nvSpPr>
          <p:cNvPr id="3" name="Text Placeholder 2">
            <a:extLst>
              <a:ext uri="{FF2B5EF4-FFF2-40B4-BE49-F238E27FC236}">
                <a16:creationId xmlns:a16="http://schemas.microsoft.com/office/drawing/2014/main" id="{569D9F6B-3A0C-8DD6-A316-1BBC2511F167}"/>
              </a:ext>
            </a:extLst>
          </p:cNvPr>
          <p:cNvSpPr>
            <a:spLocks noGrp="1"/>
          </p:cNvSpPr>
          <p:nvPr>
            <p:ph type="body" sz="quarter" idx="12"/>
          </p:nvPr>
        </p:nvSpPr>
        <p:spPr/>
        <p:txBody>
          <a:bodyPr/>
          <a:lstStyle/>
          <a:p>
            <a:r>
              <a:rPr lang="fa-IR" dirty="0"/>
              <a:t>تجمیع و پاک‌سازی مخزن اولیه کارهای مشتری با یافته‌های تازه پژوهش بازار</a:t>
            </a:r>
          </a:p>
        </p:txBody>
      </p:sp>
      <p:cxnSp>
        <p:nvCxnSpPr>
          <p:cNvPr id="29" name="Straight Connector 28">
            <a:extLst>
              <a:ext uri="{FF2B5EF4-FFF2-40B4-BE49-F238E27FC236}">
                <a16:creationId xmlns:a16="http://schemas.microsoft.com/office/drawing/2014/main" id="{CA2BE684-B01B-6C0E-5EEF-72F94EE9EC34}"/>
              </a:ext>
            </a:extLst>
          </p:cNvPr>
          <p:cNvCxnSpPr>
            <a:cxnSpLocks/>
          </p:cNvCxnSpPr>
          <p:nvPr/>
        </p:nvCxnSpPr>
        <p:spPr>
          <a:xfrm>
            <a:off x="7628258" y="1732680"/>
            <a:ext cx="3534463" cy="0"/>
          </a:xfrm>
          <a:prstGeom prst="line">
            <a:avLst/>
          </a:prstGeom>
          <a:ln w="3175">
            <a:solidFill>
              <a:srgbClr val="F0BE0F">
                <a:alpha val="80000"/>
              </a:srgbClr>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95C5739D-9772-5915-1D11-DA86EF24B536}"/>
              </a:ext>
            </a:extLst>
          </p:cNvPr>
          <p:cNvSpPr txBox="1"/>
          <p:nvPr/>
        </p:nvSpPr>
        <p:spPr>
          <a:xfrm>
            <a:off x="8503307" y="1594181"/>
            <a:ext cx="1784365" cy="276999"/>
          </a:xfrm>
          <a:prstGeom prst="rect">
            <a:avLst/>
          </a:prstGeom>
          <a:solidFill>
            <a:srgbClr val="0F142F"/>
          </a:solidFill>
          <a:ln w="3175">
            <a:noFill/>
          </a:ln>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2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مهم‌ترین یافته</a:t>
            </a:r>
          </a:p>
        </p:txBody>
      </p:sp>
      <p:sp>
        <p:nvSpPr>
          <p:cNvPr id="31" name="Rectangle: Rounded Corners 30">
            <a:extLst>
              <a:ext uri="{FF2B5EF4-FFF2-40B4-BE49-F238E27FC236}">
                <a16:creationId xmlns:a16="http://schemas.microsoft.com/office/drawing/2014/main" id="{CC6D57F1-8DDF-4860-AF06-6DAC08FCFD91}"/>
              </a:ext>
            </a:extLst>
          </p:cNvPr>
          <p:cNvSpPr/>
          <p:nvPr/>
        </p:nvSpPr>
        <p:spPr>
          <a:xfrm>
            <a:off x="7628660" y="1871180"/>
            <a:ext cx="3533658" cy="1438687"/>
          </a:xfrm>
          <a:prstGeom prst="roundRect">
            <a:avLst>
              <a:gd name="adj" fmla="val 8222"/>
            </a:avLst>
          </a:prstGeom>
          <a:solidFill>
            <a:schemeClr val="bg1">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5" name="TextBox 14">
            <a:extLst>
              <a:ext uri="{FF2B5EF4-FFF2-40B4-BE49-F238E27FC236}">
                <a16:creationId xmlns:a16="http://schemas.microsoft.com/office/drawing/2014/main" id="{178AC6DD-2785-94DE-7E81-6EEB27058ADB}"/>
              </a:ext>
            </a:extLst>
          </p:cNvPr>
          <p:cNvSpPr txBox="1"/>
          <p:nvPr/>
        </p:nvSpPr>
        <p:spPr>
          <a:xfrm>
            <a:off x="7697206" y="1987100"/>
            <a:ext cx="3396567" cy="923330"/>
          </a:xfrm>
          <a:prstGeom prst="rect">
            <a:avLst/>
          </a:prstGeom>
          <a:noFill/>
        </p:spPr>
        <p:txBody>
          <a:bodyPr wrap="square">
            <a:spAutoFit/>
          </a:bodyPr>
          <a:lstStyle/>
          <a:p>
            <a:pPr marL="171450" marR="0" lvl="0" indent="-171450" algn="justLow" defTabSz="457200" rtl="1" eaLnBrk="1" fontAlgn="auto" latinLnBrk="0" hangingPunct="1">
              <a:lnSpc>
                <a:spcPct val="100000"/>
              </a:lnSpc>
              <a:spcBef>
                <a:spcPts val="0"/>
              </a:spcBef>
              <a:spcAft>
                <a:spcPts val="0"/>
              </a:spcAft>
              <a:buClr>
                <a:srgbClr val="F0BE0F"/>
              </a:buClr>
              <a:buSzTx/>
              <a:buFont typeface="Arial" panose="020B0604020202020204" pitchFamily="34" charset="0"/>
              <a:buChar char="•"/>
              <a:tabLst/>
              <a:defRPr/>
            </a:pPr>
            <a:r>
              <a:rPr kumimoji="0" lang="fa-IR" sz="900" b="0"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پرسوناها با وجود تفاوت ظاهری، حول یک محور مشترک می‌چرخند: </a:t>
            </a:r>
            <a:r>
              <a:rPr kumimoji="0" lang="fa-IR" sz="9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«چگونه به طرف/فرصت معتبر برسم و ریسک آن را مدیریت کنم؟» </a:t>
            </a:r>
            <a:r>
              <a:rPr kumimoji="0" lang="fa-IR" sz="900" b="0"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این الگو در ۵ از ۶ پرسونا به شکل‌های مختلف تکرار می‌شود.</a:t>
            </a:r>
          </a:p>
          <a:p>
            <a:pPr marL="171450" marR="0" lvl="0" indent="-171450" algn="justLow" defTabSz="457200" rtl="1" eaLnBrk="1" fontAlgn="auto" latinLnBrk="0" hangingPunct="1">
              <a:lnSpc>
                <a:spcPct val="100000"/>
              </a:lnSpc>
              <a:spcBef>
                <a:spcPts val="0"/>
              </a:spcBef>
              <a:spcAft>
                <a:spcPts val="0"/>
              </a:spcAft>
              <a:buClr>
                <a:srgbClr val="F0BE0F"/>
              </a:buClr>
              <a:buSzTx/>
              <a:buFont typeface="Arial" panose="020B0604020202020204" pitchFamily="34" charset="0"/>
              <a:buChar char="•"/>
              <a:tabLst/>
              <a:defRPr/>
            </a:pPr>
            <a:endParaRPr kumimoji="0" lang="fa-IR" sz="900" b="0"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a:p>
            <a:pPr marL="171450" marR="0" lvl="0" indent="-171450" algn="justLow" defTabSz="457200" rtl="1" eaLnBrk="1" fontAlgn="auto" latinLnBrk="0" hangingPunct="1">
              <a:lnSpc>
                <a:spcPct val="100000"/>
              </a:lnSpc>
              <a:spcBef>
                <a:spcPts val="0"/>
              </a:spcBef>
              <a:spcAft>
                <a:spcPts val="0"/>
              </a:spcAft>
              <a:buClr>
                <a:srgbClr val="F0BE0F"/>
              </a:buClr>
              <a:buSzTx/>
              <a:buFont typeface="Arial" panose="020B0604020202020204" pitchFamily="34" charset="0"/>
              <a:buChar char="•"/>
              <a:tabLst/>
              <a:defRPr/>
            </a:pPr>
            <a:r>
              <a:rPr kumimoji="0" lang="fa-IR" sz="900" b="0"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راستی‌آزمایی طرف مقابل، بزرگ‌ترین و پرتکرارترین دردسر مشترک در سراسر نقشه است — نه فقط برای دو طرف معامله، بلکه برای سرمایه‌گذار نیز.</a:t>
            </a:r>
            <a:endParaRPr kumimoji="0" sz="900" b="0"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cxnSp>
        <p:nvCxnSpPr>
          <p:cNvPr id="34" name="Straight Connector 33">
            <a:extLst>
              <a:ext uri="{FF2B5EF4-FFF2-40B4-BE49-F238E27FC236}">
                <a16:creationId xmlns:a16="http://schemas.microsoft.com/office/drawing/2014/main" id="{6E72C6EC-D1FE-6797-D0EF-3FF43B1649E8}"/>
              </a:ext>
            </a:extLst>
          </p:cNvPr>
          <p:cNvCxnSpPr>
            <a:cxnSpLocks/>
          </p:cNvCxnSpPr>
          <p:nvPr/>
        </p:nvCxnSpPr>
        <p:spPr>
          <a:xfrm>
            <a:off x="3821927" y="1732680"/>
            <a:ext cx="3534463" cy="0"/>
          </a:xfrm>
          <a:prstGeom prst="line">
            <a:avLst/>
          </a:prstGeom>
          <a:ln w="3175">
            <a:solidFill>
              <a:srgbClr val="F0BE0F">
                <a:alpha val="80000"/>
              </a:srgbClr>
            </a:solidFill>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12F5CBEB-CC39-AB55-11A9-C9A27EFE3FC9}"/>
              </a:ext>
            </a:extLst>
          </p:cNvPr>
          <p:cNvSpPr txBox="1"/>
          <p:nvPr/>
        </p:nvSpPr>
        <p:spPr>
          <a:xfrm>
            <a:off x="4696976" y="1594181"/>
            <a:ext cx="1784365" cy="276999"/>
          </a:xfrm>
          <a:prstGeom prst="rect">
            <a:avLst/>
          </a:prstGeom>
          <a:solidFill>
            <a:srgbClr val="0F142F"/>
          </a:solidFill>
          <a:ln w="3175">
            <a:noFill/>
          </a:ln>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2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مهم‌ترین کارهای مشتری</a:t>
            </a:r>
          </a:p>
        </p:txBody>
      </p:sp>
      <p:sp>
        <p:nvSpPr>
          <p:cNvPr id="36" name="Rectangle: Rounded Corners 35">
            <a:extLst>
              <a:ext uri="{FF2B5EF4-FFF2-40B4-BE49-F238E27FC236}">
                <a16:creationId xmlns:a16="http://schemas.microsoft.com/office/drawing/2014/main" id="{62CDA8BD-24EF-B43E-125C-FFA173F562A8}"/>
              </a:ext>
            </a:extLst>
          </p:cNvPr>
          <p:cNvSpPr/>
          <p:nvPr/>
        </p:nvSpPr>
        <p:spPr>
          <a:xfrm>
            <a:off x="3822329" y="1871180"/>
            <a:ext cx="3533658" cy="1438687"/>
          </a:xfrm>
          <a:prstGeom prst="roundRect">
            <a:avLst>
              <a:gd name="adj" fmla="val 8222"/>
            </a:avLst>
          </a:prstGeom>
          <a:solidFill>
            <a:schemeClr val="bg1">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37" name="TextBox 36">
            <a:extLst>
              <a:ext uri="{FF2B5EF4-FFF2-40B4-BE49-F238E27FC236}">
                <a16:creationId xmlns:a16="http://schemas.microsoft.com/office/drawing/2014/main" id="{12766BE4-BDF3-4D29-4FAA-52D6B0D8E266}"/>
              </a:ext>
            </a:extLst>
          </p:cNvPr>
          <p:cNvSpPr txBox="1"/>
          <p:nvPr/>
        </p:nvSpPr>
        <p:spPr>
          <a:xfrm>
            <a:off x="3890875" y="1987100"/>
            <a:ext cx="3396567" cy="923330"/>
          </a:xfrm>
          <a:prstGeom prst="rect">
            <a:avLst/>
          </a:prstGeom>
          <a:noFill/>
        </p:spPr>
        <p:txBody>
          <a:bodyPr wrap="square">
            <a:spAutoFit/>
          </a:bodyPr>
          <a:lstStyle/>
          <a:p>
            <a:pPr marL="171450" marR="0" lvl="0" indent="-171450" algn="justLow" defTabSz="457200" rtl="1" eaLnBrk="1" fontAlgn="auto" latinLnBrk="0" hangingPunct="1">
              <a:lnSpc>
                <a:spcPct val="100000"/>
              </a:lnSpc>
              <a:spcBef>
                <a:spcPts val="0"/>
              </a:spcBef>
              <a:spcAft>
                <a:spcPts val="0"/>
              </a:spcAft>
              <a:buClr>
                <a:srgbClr val="F0BE0F"/>
              </a:buClr>
              <a:buSzTx/>
              <a:buFont typeface="Arial" panose="020B0604020202020204" pitchFamily="34" charset="0"/>
              <a:buChar char="•"/>
              <a:tabLst/>
              <a:defRPr/>
            </a:pPr>
            <a:r>
              <a:rPr kumimoji="0" lang="fa-IR" sz="900" b="0"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راستی‌آزمایی هویت و توان طرف مقابل پیش از تعهد (تراز ایرانی، تراز خارجی، سرمایه‌گذار)</a:t>
            </a:r>
          </a:p>
          <a:p>
            <a:pPr marL="171450" marR="0" lvl="0" indent="-171450" algn="justLow" defTabSz="457200" rtl="1" eaLnBrk="1" fontAlgn="auto" latinLnBrk="0" hangingPunct="1">
              <a:lnSpc>
                <a:spcPct val="100000"/>
              </a:lnSpc>
              <a:spcBef>
                <a:spcPts val="0"/>
              </a:spcBef>
              <a:spcAft>
                <a:spcPts val="0"/>
              </a:spcAft>
              <a:buClr>
                <a:srgbClr val="F0BE0F"/>
              </a:buClr>
              <a:buSzTx/>
              <a:buFont typeface="Arial" panose="020B0604020202020204" pitchFamily="34" charset="0"/>
              <a:buChar char="•"/>
              <a:tabLst/>
              <a:defRPr/>
            </a:pPr>
            <a:endParaRPr kumimoji="0" lang="fa-IR" sz="900" b="0"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a:p>
            <a:pPr marL="171450" marR="0" lvl="0" indent="-171450" algn="justLow" defTabSz="457200" rtl="1" eaLnBrk="1" fontAlgn="auto" latinLnBrk="0" hangingPunct="1">
              <a:lnSpc>
                <a:spcPct val="100000"/>
              </a:lnSpc>
              <a:spcBef>
                <a:spcPts val="0"/>
              </a:spcBef>
              <a:spcAft>
                <a:spcPts val="0"/>
              </a:spcAft>
              <a:buClr>
                <a:srgbClr val="F0BE0F"/>
              </a:buClr>
              <a:buSzTx/>
              <a:buFont typeface="Arial" panose="020B0604020202020204" pitchFamily="34" charset="0"/>
              <a:buChar char="•"/>
              <a:tabLst/>
              <a:defRPr/>
            </a:pPr>
            <a:r>
              <a:rPr kumimoji="0" lang="fa-IR" sz="900" b="0"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دسترسی به طرف یا فرصت معتبر از طریق کانال قابل‌اعتماد (پنج پرسونا)</a:t>
            </a:r>
          </a:p>
          <a:p>
            <a:pPr marL="171450" marR="0" lvl="0" indent="-171450" algn="justLow" defTabSz="457200" rtl="1" eaLnBrk="1" fontAlgn="auto" latinLnBrk="0" hangingPunct="1">
              <a:lnSpc>
                <a:spcPct val="100000"/>
              </a:lnSpc>
              <a:spcBef>
                <a:spcPts val="0"/>
              </a:spcBef>
              <a:spcAft>
                <a:spcPts val="0"/>
              </a:spcAft>
              <a:buClr>
                <a:srgbClr val="F0BE0F"/>
              </a:buClr>
              <a:buSzTx/>
              <a:buFont typeface="Arial" panose="020B0604020202020204" pitchFamily="34" charset="0"/>
              <a:buChar char="•"/>
              <a:tabLst/>
              <a:defRPr/>
            </a:pPr>
            <a:endParaRPr kumimoji="0" lang="fa-IR" sz="900" b="0"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a:p>
            <a:pPr marL="171450" marR="0" lvl="0" indent="-171450" algn="justLow" defTabSz="457200" rtl="1" eaLnBrk="1" fontAlgn="auto" latinLnBrk="0" hangingPunct="1">
              <a:lnSpc>
                <a:spcPct val="100000"/>
              </a:lnSpc>
              <a:spcBef>
                <a:spcPts val="0"/>
              </a:spcBef>
              <a:spcAft>
                <a:spcPts val="0"/>
              </a:spcAft>
              <a:buClr>
                <a:srgbClr val="F0BE0F"/>
              </a:buClr>
              <a:buSzTx/>
              <a:buFont typeface="Arial" panose="020B0604020202020204" pitchFamily="34" charset="0"/>
              <a:buChar char="•"/>
              <a:tabLst/>
              <a:defRPr/>
            </a:pPr>
            <a:r>
              <a:rPr kumimoji="0" lang="fa-IR" sz="900" b="0"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کاهش عدم‌قطعیت پیش از تعهد بزرگ (تراز خارجی، کنجکاو، سرمایه‌گذار)</a:t>
            </a:r>
            <a:endParaRPr kumimoji="0" sz="900" b="0"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cxnSp>
        <p:nvCxnSpPr>
          <p:cNvPr id="44" name="Straight Connector 43">
            <a:extLst>
              <a:ext uri="{FF2B5EF4-FFF2-40B4-BE49-F238E27FC236}">
                <a16:creationId xmlns:a16="http://schemas.microsoft.com/office/drawing/2014/main" id="{B2B2E714-CDD5-FDD7-5929-FA51307E35DF}"/>
              </a:ext>
            </a:extLst>
          </p:cNvPr>
          <p:cNvCxnSpPr>
            <a:cxnSpLocks/>
          </p:cNvCxnSpPr>
          <p:nvPr/>
        </p:nvCxnSpPr>
        <p:spPr>
          <a:xfrm>
            <a:off x="7628258" y="3733840"/>
            <a:ext cx="3534463" cy="0"/>
          </a:xfrm>
          <a:prstGeom prst="line">
            <a:avLst/>
          </a:prstGeom>
          <a:ln w="3175">
            <a:solidFill>
              <a:srgbClr val="F0BE0F">
                <a:alpha val="80000"/>
              </a:srgbClr>
            </a:solidFill>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C7A0613E-0199-9B12-36AB-209740FD2F76}"/>
              </a:ext>
            </a:extLst>
          </p:cNvPr>
          <p:cNvSpPr txBox="1"/>
          <p:nvPr/>
        </p:nvSpPr>
        <p:spPr>
          <a:xfrm>
            <a:off x="8503307" y="3595341"/>
            <a:ext cx="1784365" cy="276999"/>
          </a:xfrm>
          <a:prstGeom prst="rect">
            <a:avLst/>
          </a:prstGeom>
          <a:solidFill>
            <a:srgbClr val="0F142F"/>
          </a:solidFill>
          <a:ln w="3175">
            <a:noFill/>
          </a:ln>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2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مهم‌ترین دردسرها</a:t>
            </a:r>
          </a:p>
        </p:txBody>
      </p:sp>
      <p:sp>
        <p:nvSpPr>
          <p:cNvPr id="46" name="Rectangle: Rounded Corners 45">
            <a:extLst>
              <a:ext uri="{FF2B5EF4-FFF2-40B4-BE49-F238E27FC236}">
                <a16:creationId xmlns:a16="http://schemas.microsoft.com/office/drawing/2014/main" id="{AC97EA1F-0F3B-233A-6D20-C6542DEE7BF3}"/>
              </a:ext>
            </a:extLst>
          </p:cNvPr>
          <p:cNvSpPr/>
          <p:nvPr/>
        </p:nvSpPr>
        <p:spPr>
          <a:xfrm>
            <a:off x="7628660" y="3872340"/>
            <a:ext cx="3533658" cy="1438687"/>
          </a:xfrm>
          <a:prstGeom prst="roundRect">
            <a:avLst>
              <a:gd name="adj" fmla="val 8222"/>
            </a:avLst>
          </a:prstGeom>
          <a:solidFill>
            <a:schemeClr val="bg1">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7" name="TextBox 46">
            <a:extLst>
              <a:ext uri="{FF2B5EF4-FFF2-40B4-BE49-F238E27FC236}">
                <a16:creationId xmlns:a16="http://schemas.microsoft.com/office/drawing/2014/main" id="{8FA7E0A0-5723-30C2-FFDA-8440CA3D721D}"/>
              </a:ext>
            </a:extLst>
          </p:cNvPr>
          <p:cNvSpPr txBox="1"/>
          <p:nvPr/>
        </p:nvSpPr>
        <p:spPr>
          <a:xfrm>
            <a:off x="7697206" y="3988260"/>
            <a:ext cx="3396567" cy="784830"/>
          </a:xfrm>
          <a:prstGeom prst="rect">
            <a:avLst/>
          </a:prstGeom>
          <a:noFill/>
        </p:spPr>
        <p:txBody>
          <a:bodyPr wrap="square">
            <a:spAutoFit/>
          </a:bodyPr>
          <a:lstStyle/>
          <a:p>
            <a:pPr marL="171450" marR="0" lvl="0" indent="-171450" algn="justLow" defTabSz="457200" rtl="1" eaLnBrk="1" fontAlgn="auto" latinLnBrk="0" hangingPunct="1">
              <a:lnSpc>
                <a:spcPct val="100000"/>
              </a:lnSpc>
              <a:spcBef>
                <a:spcPts val="0"/>
              </a:spcBef>
              <a:spcAft>
                <a:spcPts val="0"/>
              </a:spcAft>
              <a:buClr>
                <a:srgbClr val="F0BE0F"/>
              </a:buClr>
              <a:buSzTx/>
              <a:buFont typeface="Arial" panose="020B0604020202020204" pitchFamily="34" charset="0"/>
              <a:buChar char="•"/>
              <a:tabLst/>
              <a:defRPr/>
            </a:pPr>
            <a:r>
              <a:rPr kumimoji="0" lang="fa-IR" sz="900" b="0"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نبود مرجع مستقل و قابل‌اعتماد برای تأیید هویت/صلاحیت طرف مقابل</a:t>
            </a:r>
          </a:p>
          <a:p>
            <a:pPr marL="171450" marR="0" lvl="0" indent="-171450" algn="justLow" defTabSz="457200" rtl="1" eaLnBrk="1" fontAlgn="auto" latinLnBrk="0" hangingPunct="1">
              <a:lnSpc>
                <a:spcPct val="100000"/>
              </a:lnSpc>
              <a:spcBef>
                <a:spcPts val="0"/>
              </a:spcBef>
              <a:spcAft>
                <a:spcPts val="0"/>
              </a:spcAft>
              <a:buClr>
                <a:srgbClr val="F0BE0F"/>
              </a:buClr>
              <a:buSzTx/>
              <a:buFont typeface="Arial" panose="020B0604020202020204" pitchFamily="34" charset="0"/>
              <a:buChar char="•"/>
              <a:tabLst/>
              <a:defRPr/>
            </a:pPr>
            <a:endParaRPr kumimoji="0" lang="fa-IR" sz="900" b="0"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a:p>
            <a:pPr marL="171450" marR="0" lvl="0" indent="-171450" algn="justLow" defTabSz="457200" rtl="1" eaLnBrk="1" fontAlgn="auto" latinLnBrk="0" hangingPunct="1">
              <a:lnSpc>
                <a:spcPct val="100000"/>
              </a:lnSpc>
              <a:spcBef>
                <a:spcPts val="0"/>
              </a:spcBef>
              <a:spcAft>
                <a:spcPts val="0"/>
              </a:spcAft>
              <a:buClr>
                <a:srgbClr val="F0BE0F"/>
              </a:buClr>
              <a:buSzTx/>
              <a:buFont typeface="Arial" panose="020B0604020202020204" pitchFamily="34" charset="0"/>
              <a:buChar char="•"/>
              <a:tabLst/>
              <a:defRPr/>
            </a:pPr>
            <a:r>
              <a:rPr kumimoji="0" lang="fa-IR" sz="900" b="0"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عدم‌قطعیت کلان‌اقتصادی، ارزی و سیاسی مقصد</a:t>
            </a:r>
          </a:p>
          <a:p>
            <a:pPr marL="171450" marR="0" lvl="0" indent="-171450" algn="justLow" defTabSz="457200" rtl="1" eaLnBrk="1" fontAlgn="auto" latinLnBrk="0" hangingPunct="1">
              <a:lnSpc>
                <a:spcPct val="100000"/>
              </a:lnSpc>
              <a:spcBef>
                <a:spcPts val="0"/>
              </a:spcBef>
              <a:spcAft>
                <a:spcPts val="0"/>
              </a:spcAft>
              <a:buClr>
                <a:srgbClr val="F0BE0F"/>
              </a:buClr>
              <a:buSzTx/>
              <a:buFont typeface="Arial" panose="020B0604020202020204" pitchFamily="34" charset="0"/>
              <a:buChar char="•"/>
              <a:tabLst/>
              <a:defRPr/>
            </a:pPr>
            <a:endParaRPr kumimoji="0" lang="fa-IR" sz="900" b="0"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a:p>
            <a:pPr marL="171450" marR="0" lvl="0" indent="-171450" algn="justLow" defTabSz="457200" rtl="1" eaLnBrk="1" fontAlgn="auto" latinLnBrk="0" hangingPunct="1">
              <a:lnSpc>
                <a:spcPct val="100000"/>
              </a:lnSpc>
              <a:spcBef>
                <a:spcPts val="0"/>
              </a:spcBef>
              <a:spcAft>
                <a:spcPts val="0"/>
              </a:spcAft>
              <a:buClr>
                <a:srgbClr val="F0BE0F"/>
              </a:buClr>
              <a:buSzTx/>
              <a:buFont typeface="Arial" panose="020B0604020202020204" pitchFamily="34" charset="0"/>
              <a:buChar char="•"/>
              <a:tabLst/>
              <a:defRPr/>
            </a:pPr>
            <a:r>
              <a:rPr kumimoji="0" lang="fa-IR" sz="900" b="0"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ابهام و پیچیدگی حقوقی همکاری فرامرزی و مسیر جبران خسارت</a:t>
            </a:r>
            <a:endParaRPr kumimoji="0" sz="900" b="0"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cxnSp>
        <p:nvCxnSpPr>
          <p:cNvPr id="49" name="Straight Connector 48">
            <a:extLst>
              <a:ext uri="{FF2B5EF4-FFF2-40B4-BE49-F238E27FC236}">
                <a16:creationId xmlns:a16="http://schemas.microsoft.com/office/drawing/2014/main" id="{C379CBA7-B70E-5C87-2013-46AEDAEDF64A}"/>
              </a:ext>
            </a:extLst>
          </p:cNvPr>
          <p:cNvCxnSpPr>
            <a:cxnSpLocks/>
          </p:cNvCxnSpPr>
          <p:nvPr/>
        </p:nvCxnSpPr>
        <p:spPr>
          <a:xfrm>
            <a:off x="3821927" y="3733840"/>
            <a:ext cx="3534463" cy="0"/>
          </a:xfrm>
          <a:prstGeom prst="line">
            <a:avLst/>
          </a:prstGeom>
          <a:ln w="3175">
            <a:solidFill>
              <a:srgbClr val="F0BE0F">
                <a:alpha val="80000"/>
              </a:srgbClr>
            </a:solidFill>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5A8F2708-8DBE-1911-E62B-E945A44C9B5E}"/>
              </a:ext>
            </a:extLst>
          </p:cNvPr>
          <p:cNvSpPr txBox="1"/>
          <p:nvPr/>
        </p:nvSpPr>
        <p:spPr>
          <a:xfrm>
            <a:off x="4696976" y="3595341"/>
            <a:ext cx="1784365" cy="276999"/>
          </a:xfrm>
          <a:prstGeom prst="rect">
            <a:avLst/>
          </a:prstGeom>
          <a:solidFill>
            <a:srgbClr val="0F142F"/>
          </a:solidFill>
          <a:ln w="3175">
            <a:noFill/>
          </a:ln>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2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مهم‌ترین فرصت‌ها</a:t>
            </a:r>
          </a:p>
        </p:txBody>
      </p:sp>
      <p:sp>
        <p:nvSpPr>
          <p:cNvPr id="51" name="Rectangle: Rounded Corners 50">
            <a:extLst>
              <a:ext uri="{FF2B5EF4-FFF2-40B4-BE49-F238E27FC236}">
                <a16:creationId xmlns:a16="http://schemas.microsoft.com/office/drawing/2014/main" id="{37FFD382-0CEB-FB65-7E3B-AE278E9AA77C}"/>
              </a:ext>
            </a:extLst>
          </p:cNvPr>
          <p:cNvSpPr/>
          <p:nvPr/>
        </p:nvSpPr>
        <p:spPr>
          <a:xfrm>
            <a:off x="3822329" y="3872340"/>
            <a:ext cx="3533658" cy="1438687"/>
          </a:xfrm>
          <a:prstGeom prst="roundRect">
            <a:avLst>
              <a:gd name="adj" fmla="val 8222"/>
            </a:avLst>
          </a:prstGeom>
          <a:solidFill>
            <a:schemeClr val="bg1">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52" name="TextBox 51">
            <a:extLst>
              <a:ext uri="{FF2B5EF4-FFF2-40B4-BE49-F238E27FC236}">
                <a16:creationId xmlns:a16="http://schemas.microsoft.com/office/drawing/2014/main" id="{99C51B6C-A11E-6E03-DF90-AB7F19E36C22}"/>
              </a:ext>
            </a:extLst>
          </p:cNvPr>
          <p:cNvSpPr txBox="1"/>
          <p:nvPr/>
        </p:nvSpPr>
        <p:spPr>
          <a:xfrm>
            <a:off x="3890875" y="3988260"/>
            <a:ext cx="3396567" cy="784830"/>
          </a:xfrm>
          <a:prstGeom prst="rect">
            <a:avLst/>
          </a:prstGeom>
          <a:noFill/>
        </p:spPr>
        <p:txBody>
          <a:bodyPr wrap="square">
            <a:spAutoFit/>
          </a:bodyPr>
          <a:lstStyle/>
          <a:p>
            <a:pPr marL="171450" marR="0" lvl="0" indent="-171450" algn="justLow" defTabSz="457200" rtl="1" eaLnBrk="1" fontAlgn="auto" latinLnBrk="0" hangingPunct="1">
              <a:lnSpc>
                <a:spcPct val="100000"/>
              </a:lnSpc>
              <a:spcBef>
                <a:spcPts val="0"/>
              </a:spcBef>
              <a:spcAft>
                <a:spcPts val="0"/>
              </a:spcAft>
              <a:buClr>
                <a:srgbClr val="F0BE0F"/>
              </a:buClr>
              <a:buSzTx/>
              <a:buFont typeface="Arial" panose="020B0604020202020204" pitchFamily="34" charset="0"/>
              <a:buChar char="•"/>
              <a:tabLst/>
              <a:defRPr/>
            </a:pPr>
            <a:r>
              <a:rPr kumimoji="0" lang="fa-IR" sz="900" b="0"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کارهایی که هم اهمیت بالا و هم دردسر حل‌نشده بالا دارند (ربع بالا-راست ماتریس فرصت، بخش ۶)</a:t>
            </a:r>
          </a:p>
          <a:p>
            <a:pPr marL="171450" marR="0" lvl="0" indent="-171450" algn="justLow" defTabSz="457200" rtl="1" eaLnBrk="1" fontAlgn="auto" latinLnBrk="0" hangingPunct="1">
              <a:lnSpc>
                <a:spcPct val="100000"/>
              </a:lnSpc>
              <a:spcBef>
                <a:spcPts val="0"/>
              </a:spcBef>
              <a:spcAft>
                <a:spcPts val="0"/>
              </a:spcAft>
              <a:buClr>
                <a:srgbClr val="F0BE0F"/>
              </a:buClr>
              <a:buSzTx/>
              <a:buFont typeface="Arial" panose="020B0604020202020204" pitchFamily="34" charset="0"/>
              <a:buChar char="•"/>
              <a:tabLst/>
              <a:defRPr/>
            </a:pPr>
            <a:endParaRPr kumimoji="0" lang="fa-IR" sz="900" b="0"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a:p>
            <a:pPr marL="171450" marR="0" lvl="0" indent="-171450" algn="justLow" defTabSz="457200" rtl="1" eaLnBrk="1" fontAlgn="auto" latinLnBrk="0" hangingPunct="1">
              <a:lnSpc>
                <a:spcPct val="100000"/>
              </a:lnSpc>
              <a:spcBef>
                <a:spcPts val="0"/>
              </a:spcBef>
              <a:spcAft>
                <a:spcPts val="0"/>
              </a:spcAft>
              <a:buClr>
                <a:srgbClr val="F0BE0F"/>
              </a:buClr>
              <a:buSzTx/>
              <a:buFont typeface="Arial" panose="020B0604020202020204" pitchFamily="34" charset="0"/>
              <a:buChar char="•"/>
              <a:tabLst/>
              <a:defRPr/>
            </a:pPr>
            <a:r>
              <a:rPr kumimoji="0" lang="fa-IR" sz="900" b="0"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کارهای مشترک میان چند پرسونا، چون یک راه‌حل واحد چند بازار را هم‌زمان پوشش می‌دهد</a:t>
            </a:r>
            <a:endParaRPr kumimoji="0" sz="900" b="0"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sp>
        <p:nvSpPr>
          <p:cNvPr id="59" name="Isosceles Triangle 58">
            <a:extLst>
              <a:ext uri="{FF2B5EF4-FFF2-40B4-BE49-F238E27FC236}">
                <a16:creationId xmlns:a16="http://schemas.microsoft.com/office/drawing/2014/main" id="{41E9D30F-1518-7BFC-4DC9-F77170294325}"/>
              </a:ext>
            </a:extLst>
          </p:cNvPr>
          <p:cNvSpPr/>
          <p:nvPr/>
        </p:nvSpPr>
        <p:spPr>
          <a:xfrm rot="5400000" flipV="1">
            <a:off x="1300937" y="3294751"/>
            <a:ext cx="3731168" cy="301390"/>
          </a:xfrm>
          <a:prstGeom prst="triangle">
            <a:avLst/>
          </a:prstGeom>
          <a:solidFill>
            <a:srgbClr val="F0BE0F">
              <a:alpha val="2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60" name="Rectangle: Rounded Corners 59">
            <a:extLst>
              <a:ext uri="{FF2B5EF4-FFF2-40B4-BE49-F238E27FC236}">
                <a16:creationId xmlns:a16="http://schemas.microsoft.com/office/drawing/2014/main" id="{0A4089FD-A565-2E43-5C4D-B865F90F0AAB}"/>
              </a:ext>
            </a:extLst>
          </p:cNvPr>
          <p:cNvSpPr/>
          <p:nvPr/>
        </p:nvSpPr>
        <p:spPr>
          <a:xfrm>
            <a:off x="723205" y="1594182"/>
            <a:ext cx="2054221" cy="3716846"/>
          </a:xfrm>
          <a:prstGeom prst="roundRect">
            <a:avLst>
              <a:gd name="adj" fmla="val 5691"/>
            </a:avLst>
          </a:prstGeom>
          <a:solidFill>
            <a:schemeClr val="bg1">
              <a:alpha val="3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Calibri"/>
            </a:endParaRPr>
          </a:p>
        </p:txBody>
      </p:sp>
      <p:sp>
        <p:nvSpPr>
          <p:cNvPr id="62" name="TextBox 61">
            <a:extLst>
              <a:ext uri="{FF2B5EF4-FFF2-40B4-BE49-F238E27FC236}">
                <a16:creationId xmlns:a16="http://schemas.microsoft.com/office/drawing/2014/main" id="{7F07F079-C9F9-4E53-C982-73AD01D09E43}"/>
              </a:ext>
            </a:extLst>
          </p:cNvPr>
          <p:cNvSpPr txBox="1"/>
          <p:nvPr/>
        </p:nvSpPr>
        <p:spPr>
          <a:xfrm>
            <a:off x="856560" y="2149112"/>
            <a:ext cx="1787510" cy="2980624"/>
          </a:xfrm>
          <a:prstGeom prst="rect">
            <a:avLst/>
          </a:prstGeom>
          <a:noFill/>
        </p:spPr>
        <p:txBody>
          <a:bodyPr wrap="square">
            <a:spAutoFit/>
          </a:bodyPr>
          <a:lstStyle/>
          <a:p>
            <a:pPr marL="0" marR="0" lvl="0" indent="0" algn="justLow" defTabSz="457200" rtl="1" eaLnBrk="1" fontAlgn="auto" latinLnBrk="0" hangingPunct="1">
              <a:lnSpc>
                <a:spcPct val="150000"/>
              </a:lnSpc>
              <a:spcBef>
                <a:spcPts val="600"/>
              </a:spcBef>
              <a:spcAft>
                <a:spcPts val="1200"/>
              </a:spcAft>
              <a:buClrTx/>
              <a:buSzTx/>
              <a:buFontTx/>
              <a:buNone/>
              <a:tabLst/>
              <a:defRPr/>
            </a:pPr>
            <a:r>
              <a:rPr kumimoji="0" lang="en-US" sz="1050" b="0" i="0" u="none" strike="noStrike" kern="1200" cap="none" spc="0" normalizeH="0" baseline="0" noProof="0" dirty="0" err="1">
                <a:ln>
                  <a:noFill/>
                </a:ln>
                <a:solidFill>
                  <a:srgbClr val="12183A"/>
                </a:solidFill>
                <a:effectLst/>
                <a:uLnTx/>
                <a:uFillTx/>
                <a:latin typeface="Yekan Bakh" pitchFamily="2" charset="-78"/>
                <a:ea typeface="Yekan Bakh" pitchFamily="2" charset="-78"/>
                <a:cs typeface="Yekan Bakh" pitchFamily="2" charset="-78"/>
              </a:rPr>
              <a:t>مشتریان</a:t>
            </a:r>
            <a:r>
              <a:rPr kumimoji="0" lang="en-US" sz="1050" b="0" i="0" u="none" strike="noStrike" kern="1200" cap="none" spc="0" normalizeH="0" baseline="0" noProof="0" dirty="0">
                <a:ln>
                  <a:noFill/>
                </a:ln>
                <a:solidFill>
                  <a:srgbClr val="12183A"/>
                </a:solidFill>
                <a:effectLst/>
                <a:uLnTx/>
                <a:uFillTx/>
                <a:latin typeface="Yekan Bakh" pitchFamily="2" charset="-78"/>
                <a:ea typeface="Yekan Bakh" pitchFamily="2" charset="-78"/>
                <a:cs typeface="Yekan Bakh" pitchFamily="2" charset="-78"/>
              </a:rPr>
              <a:t> </a:t>
            </a:r>
            <a:r>
              <a:rPr kumimoji="0" lang="en-US" sz="1050" b="0" i="0" u="none" strike="noStrike" kern="1200" cap="none" spc="0" normalizeH="0" baseline="0" noProof="0" dirty="0" err="1">
                <a:ln>
                  <a:noFill/>
                </a:ln>
                <a:solidFill>
                  <a:srgbClr val="12183A"/>
                </a:solidFill>
                <a:effectLst/>
                <a:uLnTx/>
                <a:uFillTx/>
                <a:latin typeface="Yekan Bakh" pitchFamily="2" charset="-78"/>
                <a:ea typeface="Yekan Bakh" pitchFamily="2" charset="-78"/>
                <a:cs typeface="Yekan Bakh" pitchFamily="2" charset="-78"/>
              </a:rPr>
              <a:t>سیمرغ</a:t>
            </a:r>
            <a:r>
              <a:rPr kumimoji="0" lang="en-US" sz="1050" b="0" i="0" u="none" strike="noStrike" kern="1200" cap="none" spc="0" normalizeH="0" baseline="0" noProof="0" dirty="0">
                <a:ln>
                  <a:noFill/>
                </a:ln>
                <a:solidFill>
                  <a:srgbClr val="12183A"/>
                </a:solidFill>
                <a:effectLst/>
                <a:uLnTx/>
                <a:uFillTx/>
                <a:latin typeface="Yekan Bakh" pitchFamily="2" charset="-78"/>
                <a:ea typeface="Yekan Bakh" pitchFamily="2" charset="-78"/>
                <a:cs typeface="Yekan Bakh" pitchFamily="2" charset="-78"/>
              </a:rPr>
              <a:t> </a:t>
            </a:r>
            <a:r>
              <a:rPr kumimoji="0" lang="en-US" sz="1050" b="0" i="0" u="none" strike="noStrike" kern="1200" cap="none" spc="0" normalizeH="0" baseline="0" noProof="0" dirty="0" err="1">
                <a:ln>
                  <a:noFill/>
                </a:ln>
                <a:solidFill>
                  <a:srgbClr val="12183A"/>
                </a:solidFill>
                <a:effectLst/>
                <a:uLnTx/>
                <a:uFillTx/>
                <a:latin typeface="Yekan Bakh" pitchFamily="2" charset="-78"/>
                <a:ea typeface="Yekan Bakh" pitchFamily="2" charset="-78"/>
                <a:cs typeface="Yekan Bakh" pitchFamily="2" charset="-78"/>
              </a:rPr>
              <a:t>در</a:t>
            </a:r>
            <a:r>
              <a:rPr kumimoji="0" lang="en-US" sz="1050" b="0" i="0" u="none" strike="noStrike" kern="1200" cap="none" spc="0" normalizeH="0" baseline="0" noProof="0" dirty="0">
                <a:ln>
                  <a:noFill/>
                </a:ln>
                <a:solidFill>
                  <a:srgbClr val="12183A"/>
                </a:solidFill>
                <a:effectLst/>
                <a:uLnTx/>
                <a:uFillTx/>
                <a:latin typeface="Yekan Bakh" pitchFamily="2" charset="-78"/>
                <a:ea typeface="Yekan Bakh" pitchFamily="2" charset="-78"/>
                <a:cs typeface="Yekan Bakh" pitchFamily="2" charset="-78"/>
              </a:rPr>
              <a:t> </a:t>
            </a:r>
            <a:r>
              <a:rPr kumimoji="0" lang="en-US" sz="1050" b="0" i="0" u="none" strike="noStrike" kern="1200" cap="none" spc="0" normalizeH="0" baseline="0" noProof="0" dirty="0" err="1">
                <a:ln>
                  <a:noFill/>
                </a:ln>
                <a:solidFill>
                  <a:srgbClr val="12183A"/>
                </a:solidFill>
                <a:effectLst/>
                <a:uLnTx/>
                <a:uFillTx/>
                <a:latin typeface="Yekan Bakh" pitchFamily="2" charset="-78"/>
                <a:ea typeface="Yekan Bakh" pitchFamily="2" charset="-78"/>
                <a:cs typeface="Yekan Bakh" pitchFamily="2" charset="-78"/>
              </a:rPr>
              <a:t>هر</a:t>
            </a:r>
            <a:r>
              <a:rPr kumimoji="0" lang="en-US" sz="1050" b="0" i="0" u="none" strike="noStrike" kern="1200" cap="none" spc="0" normalizeH="0" baseline="0" noProof="0" dirty="0">
                <a:ln>
                  <a:noFill/>
                </a:ln>
                <a:solidFill>
                  <a:srgbClr val="12183A"/>
                </a:solidFill>
                <a:effectLst/>
                <a:uLnTx/>
                <a:uFillTx/>
                <a:latin typeface="Yekan Bakh" pitchFamily="2" charset="-78"/>
                <a:ea typeface="Yekan Bakh" pitchFamily="2" charset="-78"/>
                <a:cs typeface="Yekan Bakh" pitchFamily="2" charset="-78"/>
              </a:rPr>
              <a:t> </a:t>
            </a:r>
            <a:r>
              <a:rPr kumimoji="0" lang="en-US" sz="1050" b="0" i="0" u="none" strike="noStrike" kern="1200" cap="none" spc="0" normalizeH="0" baseline="0" noProof="0" dirty="0" err="1">
                <a:ln>
                  <a:noFill/>
                </a:ln>
                <a:solidFill>
                  <a:srgbClr val="12183A"/>
                </a:solidFill>
                <a:effectLst/>
                <a:uLnTx/>
                <a:uFillTx/>
                <a:latin typeface="Yekan Bakh" pitchFamily="2" charset="-78"/>
                <a:ea typeface="Yekan Bakh" pitchFamily="2" charset="-78"/>
                <a:cs typeface="Yekan Bakh" pitchFamily="2" charset="-78"/>
              </a:rPr>
              <a:t>شش</a:t>
            </a:r>
            <a:r>
              <a:rPr kumimoji="0" lang="en-US" sz="1050" b="0" i="0" u="none" strike="noStrike" kern="1200" cap="none" spc="0" normalizeH="0" baseline="0" noProof="0" dirty="0">
                <a:ln>
                  <a:noFill/>
                </a:ln>
                <a:solidFill>
                  <a:srgbClr val="12183A"/>
                </a:solidFill>
                <a:effectLst/>
                <a:uLnTx/>
                <a:uFillTx/>
                <a:latin typeface="Yekan Bakh" pitchFamily="2" charset="-78"/>
                <a:ea typeface="Yekan Bakh" pitchFamily="2" charset="-78"/>
                <a:cs typeface="Yekan Bakh" pitchFamily="2" charset="-78"/>
              </a:rPr>
              <a:t> </a:t>
            </a:r>
            <a:r>
              <a:rPr kumimoji="0" lang="en-US" sz="1050" b="0" i="0" u="none" strike="noStrike" kern="1200" cap="none" spc="0" normalizeH="0" baseline="0" noProof="0" dirty="0" err="1">
                <a:ln>
                  <a:noFill/>
                </a:ln>
                <a:solidFill>
                  <a:srgbClr val="12183A"/>
                </a:solidFill>
                <a:effectLst/>
                <a:uLnTx/>
                <a:uFillTx/>
                <a:latin typeface="Yekan Bakh" pitchFamily="2" charset="-78"/>
                <a:ea typeface="Yekan Bakh" pitchFamily="2" charset="-78"/>
                <a:cs typeface="Yekan Bakh" pitchFamily="2" charset="-78"/>
              </a:rPr>
              <a:t>پرسونا</a:t>
            </a:r>
            <a:r>
              <a:rPr kumimoji="0" lang="en-US" sz="1050" b="0" i="0" u="none" strike="noStrike" kern="1200" cap="none" spc="0" normalizeH="0" baseline="0" noProof="0" dirty="0">
                <a:ln>
                  <a:noFill/>
                </a:ln>
                <a:solidFill>
                  <a:srgbClr val="12183A"/>
                </a:solidFill>
                <a:effectLst/>
                <a:uLnTx/>
                <a:uFillTx/>
                <a:latin typeface="Yekan Bakh" pitchFamily="2" charset="-78"/>
                <a:ea typeface="Yekan Bakh" pitchFamily="2" charset="-78"/>
                <a:cs typeface="Yekan Bakh" pitchFamily="2" charset="-78"/>
              </a:rPr>
              <a:t>، </a:t>
            </a:r>
            <a:r>
              <a:rPr kumimoji="0" lang="en-US" sz="1050" b="0" i="0" u="none" strike="noStrike" kern="1200" cap="none" spc="0" normalizeH="0" baseline="0" noProof="0" dirty="0" err="1">
                <a:ln>
                  <a:noFill/>
                </a:ln>
                <a:solidFill>
                  <a:srgbClr val="12183A"/>
                </a:solidFill>
                <a:effectLst/>
                <a:uLnTx/>
                <a:uFillTx/>
                <a:latin typeface="Yekan Bakh" pitchFamily="2" charset="-78"/>
                <a:ea typeface="Yekan Bakh" pitchFamily="2" charset="-78"/>
                <a:cs typeface="Yekan Bakh" pitchFamily="2" charset="-78"/>
              </a:rPr>
              <a:t>عمدتاً</a:t>
            </a:r>
            <a:r>
              <a:rPr kumimoji="0" lang="en-US" sz="1050" b="0" i="0" u="none" strike="noStrike" kern="1200" cap="none" spc="0" normalizeH="0" baseline="0" noProof="0" dirty="0">
                <a:ln>
                  <a:noFill/>
                </a:ln>
                <a:solidFill>
                  <a:srgbClr val="12183A"/>
                </a:solidFill>
                <a:effectLst/>
                <a:uLnTx/>
                <a:uFillTx/>
                <a:latin typeface="Yekan Bakh" pitchFamily="2" charset="-78"/>
                <a:ea typeface="Yekan Bakh" pitchFamily="2" charset="-78"/>
                <a:cs typeface="Yekan Bakh" pitchFamily="2" charset="-78"/>
              </a:rPr>
              <a:t> </a:t>
            </a:r>
            <a:r>
              <a:rPr kumimoji="0" lang="en-US" sz="1050" b="0" i="0" u="none" strike="noStrike" kern="1200" cap="none" spc="0" normalizeH="0" baseline="0" noProof="0" dirty="0" err="1">
                <a:ln>
                  <a:noFill/>
                </a:ln>
                <a:solidFill>
                  <a:srgbClr val="12183A"/>
                </a:solidFill>
                <a:effectLst/>
                <a:uLnTx/>
                <a:uFillTx/>
                <a:latin typeface="Yekan Bakh" pitchFamily="2" charset="-78"/>
                <a:ea typeface="Yekan Bakh" pitchFamily="2" charset="-78"/>
                <a:cs typeface="Yekan Bakh" pitchFamily="2" charset="-78"/>
              </a:rPr>
              <a:t>به‌دنبال</a:t>
            </a:r>
            <a:r>
              <a:rPr kumimoji="0" lang="fa-IR" sz="1050" b="0" i="0" u="none" strike="noStrike" kern="1200" cap="none" spc="0" normalizeH="0" baseline="0" noProof="0" dirty="0">
                <a:ln>
                  <a:noFill/>
                </a:ln>
                <a:solidFill>
                  <a:srgbClr val="12183A"/>
                </a:solidFill>
                <a:effectLst/>
                <a:uLnTx/>
                <a:uFillTx/>
                <a:latin typeface="Yekan Bakh" pitchFamily="2" charset="-78"/>
                <a:ea typeface="Yekan Bakh" pitchFamily="2" charset="-78"/>
                <a:cs typeface="Yekan Bakh" pitchFamily="2" charset="-78"/>
              </a:rPr>
              <a:t> </a:t>
            </a:r>
            <a:r>
              <a:rPr kumimoji="0" lang="en-US" sz="1050" b="0" i="0" u="none" strike="noStrike" kern="1200" cap="none" spc="0" normalizeH="0" baseline="0" noProof="0" dirty="0">
                <a:ln>
                  <a:noFill/>
                </a:ln>
                <a:solidFill>
                  <a:srgbClr val="12183A"/>
                </a:solidFill>
                <a:effectLst/>
                <a:uLnTx/>
                <a:uFillTx/>
                <a:latin typeface="Yekan Bakh" pitchFamily="2" charset="-78"/>
                <a:ea typeface="Yekan Bakh" pitchFamily="2" charset="-78"/>
                <a:cs typeface="Yekan Bakh" pitchFamily="2" charset="-78"/>
              </a:rPr>
              <a:t>»</a:t>
            </a:r>
            <a:r>
              <a:rPr kumimoji="0" lang="en-US" sz="1050" b="0" i="0" u="none" strike="noStrike" kern="1200" cap="none" spc="0" normalizeH="0" baseline="0" noProof="0" dirty="0" err="1">
                <a:ln>
                  <a:noFill/>
                </a:ln>
                <a:solidFill>
                  <a:srgbClr val="12183A"/>
                </a:solidFill>
                <a:effectLst/>
                <a:uLnTx/>
                <a:uFillTx/>
                <a:latin typeface="Yekan Bakh" pitchFamily="2" charset="-78"/>
                <a:ea typeface="Yekan Bakh" pitchFamily="2" charset="-78"/>
                <a:cs typeface="Yekan Bakh" pitchFamily="2" charset="-78"/>
              </a:rPr>
              <a:t>کاهش</a:t>
            </a:r>
            <a:r>
              <a:rPr kumimoji="0" lang="en-US" sz="1050" b="0" i="0" u="none" strike="noStrike" kern="1200" cap="none" spc="0" normalizeH="0" baseline="0" noProof="0" dirty="0">
                <a:ln>
                  <a:noFill/>
                </a:ln>
                <a:solidFill>
                  <a:srgbClr val="12183A"/>
                </a:solidFill>
                <a:effectLst/>
                <a:uLnTx/>
                <a:uFillTx/>
                <a:latin typeface="Yekan Bakh" pitchFamily="2" charset="-78"/>
                <a:ea typeface="Yekan Bakh" pitchFamily="2" charset="-78"/>
                <a:cs typeface="Yekan Bakh" pitchFamily="2" charset="-78"/>
              </a:rPr>
              <a:t> </a:t>
            </a:r>
            <a:r>
              <a:rPr kumimoji="0" lang="en-US" sz="1050" b="0" i="0" u="none" strike="noStrike" kern="1200" cap="none" spc="0" normalizeH="0" baseline="0" noProof="0" dirty="0" err="1">
                <a:ln>
                  <a:noFill/>
                </a:ln>
                <a:solidFill>
                  <a:srgbClr val="12183A"/>
                </a:solidFill>
                <a:effectLst/>
                <a:uLnTx/>
                <a:uFillTx/>
                <a:latin typeface="Yekan Bakh" pitchFamily="2" charset="-78"/>
                <a:ea typeface="Yekan Bakh" pitchFamily="2" charset="-78"/>
                <a:cs typeface="Yekan Bakh" pitchFamily="2" charset="-78"/>
              </a:rPr>
              <a:t>عدم‌قطعیت</a:t>
            </a:r>
            <a:r>
              <a:rPr kumimoji="0" lang="en-US" sz="1050" b="0" i="0" u="none" strike="noStrike" kern="1200" cap="none" spc="0" normalizeH="0" baseline="0" noProof="0" dirty="0">
                <a:ln>
                  <a:noFill/>
                </a:ln>
                <a:solidFill>
                  <a:srgbClr val="12183A"/>
                </a:solidFill>
                <a:effectLst/>
                <a:uLnTx/>
                <a:uFillTx/>
                <a:latin typeface="Yekan Bakh" pitchFamily="2" charset="-78"/>
                <a:ea typeface="Yekan Bakh" pitchFamily="2" charset="-78"/>
                <a:cs typeface="Yekan Bakh" pitchFamily="2" charset="-78"/>
              </a:rPr>
              <a:t> </a:t>
            </a:r>
            <a:r>
              <a:rPr kumimoji="0" lang="en-US" sz="1050" b="0" i="0" u="none" strike="noStrike" kern="1200" cap="none" spc="0" normalizeH="0" baseline="0" noProof="0" dirty="0" err="1">
                <a:ln>
                  <a:noFill/>
                </a:ln>
                <a:solidFill>
                  <a:srgbClr val="12183A"/>
                </a:solidFill>
                <a:effectLst/>
                <a:uLnTx/>
                <a:uFillTx/>
                <a:latin typeface="Yekan Bakh" pitchFamily="2" charset="-78"/>
                <a:ea typeface="Yekan Bakh" pitchFamily="2" charset="-78"/>
                <a:cs typeface="Yekan Bakh" pitchFamily="2" charset="-78"/>
              </a:rPr>
              <a:t>درباره</a:t>
            </a:r>
            <a:r>
              <a:rPr kumimoji="0" lang="en-US" sz="1050" b="0" i="0" u="none" strike="noStrike" kern="1200" cap="none" spc="0" normalizeH="0" baseline="0" noProof="0" dirty="0">
                <a:ln>
                  <a:noFill/>
                </a:ln>
                <a:solidFill>
                  <a:srgbClr val="12183A"/>
                </a:solidFill>
                <a:effectLst/>
                <a:uLnTx/>
                <a:uFillTx/>
                <a:latin typeface="Yekan Bakh" pitchFamily="2" charset="-78"/>
                <a:ea typeface="Yekan Bakh" pitchFamily="2" charset="-78"/>
                <a:cs typeface="Yekan Bakh" pitchFamily="2" charset="-78"/>
              </a:rPr>
              <a:t> </a:t>
            </a:r>
            <a:r>
              <a:rPr kumimoji="0" lang="en-US" sz="1050" b="0" i="0" u="none" strike="noStrike" kern="1200" cap="none" spc="0" normalizeH="0" baseline="0" noProof="0" dirty="0" err="1">
                <a:ln>
                  <a:noFill/>
                </a:ln>
                <a:solidFill>
                  <a:srgbClr val="12183A"/>
                </a:solidFill>
                <a:effectLst/>
                <a:uLnTx/>
                <a:uFillTx/>
                <a:latin typeface="Yekan Bakh" pitchFamily="2" charset="-78"/>
                <a:ea typeface="Yekan Bakh" pitchFamily="2" charset="-78"/>
                <a:cs typeface="Yekan Bakh" pitchFamily="2" charset="-78"/>
              </a:rPr>
              <a:t>طرف</a:t>
            </a:r>
            <a:r>
              <a:rPr kumimoji="0" lang="en-US" sz="1050" b="0" i="0" u="none" strike="noStrike" kern="1200" cap="none" spc="0" normalizeH="0" baseline="0" noProof="0" dirty="0">
                <a:ln>
                  <a:noFill/>
                </a:ln>
                <a:solidFill>
                  <a:srgbClr val="12183A"/>
                </a:solidFill>
                <a:effectLst/>
                <a:uLnTx/>
                <a:uFillTx/>
                <a:latin typeface="Yekan Bakh" pitchFamily="2" charset="-78"/>
                <a:ea typeface="Yekan Bakh" pitchFamily="2" charset="-78"/>
                <a:cs typeface="Yekan Bakh" pitchFamily="2" charset="-78"/>
              </a:rPr>
              <a:t> </a:t>
            </a:r>
            <a:r>
              <a:rPr kumimoji="0" lang="en-US" sz="1050" b="0" i="0" u="none" strike="noStrike" kern="1200" cap="none" spc="0" normalizeH="0" baseline="0" noProof="0" dirty="0" err="1">
                <a:ln>
                  <a:noFill/>
                </a:ln>
                <a:solidFill>
                  <a:srgbClr val="12183A"/>
                </a:solidFill>
                <a:effectLst/>
                <a:uLnTx/>
                <a:uFillTx/>
                <a:latin typeface="Yekan Bakh" pitchFamily="2" charset="-78"/>
                <a:ea typeface="Yekan Bakh" pitchFamily="2" charset="-78"/>
                <a:cs typeface="Yekan Bakh" pitchFamily="2" charset="-78"/>
              </a:rPr>
              <a:t>مقابل</a:t>
            </a:r>
            <a:r>
              <a:rPr kumimoji="0" lang="en-US" sz="1050" b="0" i="0" u="none" strike="noStrike" kern="1200" cap="none" spc="0" normalizeH="0" baseline="0" noProof="0" dirty="0">
                <a:ln>
                  <a:noFill/>
                </a:ln>
                <a:solidFill>
                  <a:srgbClr val="12183A"/>
                </a:solidFill>
                <a:effectLst/>
                <a:uLnTx/>
                <a:uFillTx/>
                <a:latin typeface="Yekan Bakh" pitchFamily="2" charset="-78"/>
                <a:ea typeface="Yekan Bakh" pitchFamily="2" charset="-78"/>
                <a:cs typeface="Yekan Bakh" pitchFamily="2" charset="-78"/>
              </a:rPr>
              <a:t> و </a:t>
            </a:r>
            <a:r>
              <a:rPr kumimoji="0" lang="en-US" sz="1050" b="0" i="0" u="none" strike="noStrike" kern="1200" cap="none" spc="0" normalizeH="0" baseline="0" noProof="0" dirty="0" err="1">
                <a:ln>
                  <a:noFill/>
                </a:ln>
                <a:solidFill>
                  <a:srgbClr val="12183A"/>
                </a:solidFill>
                <a:effectLst/>
                <a:uLnTx/>
                <a:uFillTx/>
                <a:latin typeface="Yekan Bakh" pitchFamily="2" charset="-78"/>
                <a:ea typeface="Yekan Bakh" pitchFamily="2" charset="-78"/>
                <a:cs typeface="Yekan Bakh" pitchFamily="2" charset="-78"/>
              </a:rPr>
              <a:t>بازار</a:t>
            </a:r>
            <a:r>
              <a:rPr kumimoji="0" lang="en-US" sz="1050" b="0" i="0" u="none" strike="noStrike" kern="1200" cap="none" spc="0" normalizeH="0" baseline="0" noProof="0" dirty="0">
                <a:ln>
                  <a:noFill/>
                </a:ln>
                <a:solidFill>
                  <a:srgbClr val="12183A"/>
                </a:solidFill>
                <a:effectLst/>
                <a:uLnTx/>
                <a:uFillTx/>
                <a:latin typeface="Yekan Bakh" pitchFamily="2" charset="-78"/>
                <a:ea typeface="Yekan Bakh" pitchFamily="2" charset="-78"/>
                <a:cs typeface="Yekan Bakh" pitchFamily="2" charset="-78"/>
              </a:rPr>
              <a:t> </a:t>
            </a:r>
            <a:r>
              <a:rPr kumimoji="0" lang="en-US" sz="1050" b="0" i="0" u="none" strike="noStrike" kern="1200" cap="none" spc="0" normalizeH="0" baseline="0" noProof="0" dirty="0" err="1">
                <a:ln>
                  <a:noFill/>
                </a:ln>
                <a:solidFill>
                  <a:srgbClr val="12183A"/>
                </a:solidFill>
                <a:effectLst/>
                <a:uLnTx/>
                <a:uFillTx/>
                <a:latin typeface="Yekan Bakh" pitchFamily="2" charset="-78"/>
                <a:ea typeface="Yekan Bakh" pitchFamily="2" charset="-78"/>
                <a:cs typeface="Yekan Bakh" pitchFamily="2" charset="-78"/>
              </a:rPr>
              <a:t>مقصد</a:t>
            </a:r>
            <a:r>
              <a:rPr kumimoji="0" lang="en-US" sz="1050" b="0" i="0" u="none" strike="noStrike" kern="1200" cap="none" spc="0" normalizeH="0" baseline="0" noProof="0" dirty="0">
                <a:ln>
                  <a:noFill/>
                </a:ln>
                <a:solidFill>
                  <a:srgbClr val="12183A"/>
                </a:solidFill>
                <a:effectLst/>
                <a:uLnTx/>
                <a:uFillTx/>
                <a:latin typeface="Yekan Bakh" pitchFamily="2" charset="-78"/>
                <a:ea typeface="Yekan Bakh" pitchFamily="2" charset="-78"/>
                <a:cs typeface="Yekan Bakh" pitchFamily="2" charset="-78"/>
              </a:rPr>
              <a:t> </a:t>
            </a:r>
            <a:r>
              <a:rPr kumimoji="0" lang="en-US" sz="1050" b="0" i="0" u="none" strike="noStrike" kern="1200" cap="none" spc="0" normalizeH="0" baseline="0" noProof="0" dirty="0" err="1">
                <a:ln>
                  <a:noFill/>
                </a:ln>
                <a:solidFill>
                  <a:srgbClr val="12183A"/>
                </a:solidFill>
                <a:effectLst/>
                <a:uLnTx/>
                <a:uFillTx/>
                <a:latin typeface="Yekan Bakh" pitchFamily="2" charset="-78"/>
                <a:ea typeface="Yekan Bakh" pitchFamily="2" charset="-78"/>
                <a:cs typeface="Yekan Bakh" pitchFamily="2" charset="-78"/>
              </a:rPr>
              <a:t>پیش</a:t>
            </a:r>
            <a:r>
              <a:rPr kumimoji="0" lang="en-US" sz="1050" b="0" i="0" u="none" strike="noStrike" kern="1200" cap="none" spc="0" normalizeH="0" baseline="0" noProof="0" dirty="0">
                <a:ln>
                  <a:noFill/>
                </a:ln>
                <a:solidFill>
                  <a:srgbClr val="12183A"/>
                </a:solidFill>
                <a:effectLst/>
                <a:uLnTx/>
                <a:uFillTx/>
                <a:latin typeface="Yekan Bakh" pitchFamily="2" charset="-78"/>
                <a:ea typeface="Yekan Bakh" pitchFamily="2" charset="-78"/>
                <a:cs typeface="Yekan Bakh" pitchFamily="2" charset="-78"/>
              </a:rPr>
              <a:t> </a:t>
            </a:r>
            <a:r>
              <a:rPr kumimoji="0" lang="en-US" sz="1050" b="0" i="0" u="none" strike="noStrike" kern="1200" cap="none" spc="0" normalizeH="0" baseline="0" noProof="0" dirty="0" err="1">
                <a:ln>
                  <a:noFill/>
                </a:ln>
                <a:solidFill>
                  <a:srgbClr val="12183A"/>
                </a:solidFill>
                <a:effectLst/>
                <a:uLnTx/>
                <a:uFillTx/>
                <a:latin typeface="Yekan Bakh" pitchFamily="2" charset="-78"/>
                <a:ea typeface="Yekan Bakh" pitchFamily="2" charset="-78"/>
                <a:cs typeface="Yekan Bakh" pitchFamily="2" charset="-78"/>
              </a:rPr>
              <a:t>از</a:t>
            </a:r>
            <a:r>
              <a:rPr kumimoji="0" lang="en-US" sz="1050" b="0" i="0" u="none" strike="noStrike" kern="1200" cap="none" spc="0" normalizeH="0" baseline="0" noProof="0" dirty="0">
                <a:ln>
                  <a:noFill/>
                </a:ln>
                <a:solidFill>
                  <a:srgbClr val="12183A"/>
                </a:solidFill>
                <a:effectLst/>
                <a:uLnTx/>
                <a:uFillTx/>
                <a:latin typeface="Yekan Bakh" pitchFamily="2" charset="-78"/>
                <a:ea typeface="Yekan Bakh" pitchFamily="2" charset="-78"/>
                <a:cs typeface="Yekan Bakh" pitchFamily="2" charset="-78"/>
              </a:rPr>
              <a:t> </a:t>
            </a:r>
            <a:r>
              <a:rPr kumimoji="0" lang="en-US" sz="1050" b="0" i="0" u="none" strike="noStrike" kern="1200" cap="none" spc="0" normalizeH="0" baseline="0" noProof="0" dirty="0" err="1">
                <a:ln>
                  <a:noFill/>
                </a:ln>
                <a:solidFill>
                  <a:srgbClr val="12183A"/>
                </a:solidFill>
                <a:effectLst/>
                <a:uLnTx/>
                <a:uFillTx/>
                <a:latin typeface="Yekan Bakh" pitchFamily="2" charset="-78"/>
                <a:ea typeface="Yekan Bakh" pitchFamily="2" charset="-78"/>
                <a:cs typeface="Yekan Bakh" pitchFamily="2" charset="-78"/>
              </a:rPr>
              <a:t>تعهد</a:t>
            </a:r>
            <a:r>
              <a:rPr kumimoji="0" lang="en-US" sz="1050" b="0" i="0" u="none" strike="noStrike" kern="1200" cap="none" spc="0" normalizeH="0" baseline="0" noProof="0" dirty="0">
                <a:ln>
                  <a:noFill/>
                </a:ln>
                <a:solidFill>
                  <a:srgbClr val="12183A"/>
                </a:solidFill>
                <a:effectLst/>
                <a:uLnTx/>
                <a:uFillTx/>
                <a:latin typeface="Yekan Bakh" pitchFamily="2" charset="-78"/>
                <a:ea typeface="Yekan Bakh" pitchFamily="2" charset="-78"/>
                <a:cs typeface="Yekan Bakh" pitchFamily="2" charset="-78"/>
              </a:rPr>
              <a:t> </a:t>
            </a:r>
            <a:r>
              <a:rPr kumimoji="0" lang="en-US" sz="1050" b="0" i="0" u="none" strike="noStrike" kern="1200" cap="none" spc="0" normalizeH="0" baseline="0" noProof="0" dirty="0" err="1">
                <a:ln>
                  <a:noFill/>
                </a:ln>
                <a:solidFill>
                  <a:srgbClr val="12183A"/>
                </a:solidFill>
                <a:effectLst/>
                <a:uLnTx/>
                <a:uFillTx/>
                <a:latin typeface="Yekan Bakh" pitchFamily="2" charset="-78"/>
                <a:ea typeface="Yekan Bakh" pitchFamily="2" charset="-78"/>
                <a:cs typeface="Yekan Bakh" pitchFamily="2" charset="-78"/>
              </a:rPr>
              <a:t>منابع</a:t>
            </a:r>
            <a:r>
              <a:rPr kumimoji="0" lang="fa-IR" sz="1050" b="0" i="0" u="none" strike="noStrike" kern="1200" cap="none" spc="0" normalizeH="0" baseline="0" noProof="0" dirty="0">
                <a:ln>
                  <a:noFill/>
                </a:ln>
                <a:solidFill>
                  <a:srgbClr val="12183A"/>
                </a:solidFill>
                <a:effectLst/>
                <a:uLnTx/>
                <a:uFillTx/>
                <a:latin typeface="Yekan Bakh" pitchFamily="2" charset="-78"/>
                <a:ea typeface="Yekan Bakh" pitchFamily="2" charset="-78"/>
                <a:cs typeface="Yekan Bakh" pitchFamily="2" charset="-78"/>
              </a:rPr>
              <a:t>» </a:t>
            </a:r>
            <a:r>
              <a:rPr kumimoji="0" lang="en-US" sz="1050" b="0" i="0" u="none" strike="noStrike" kern="1200" cap="none" spc="0" normalizeH="0" baseline="0" noProof="0" dirty="0" err="1">
                <a:ln>
                  <a:noFill/>
                </a:ln>
                <a:solidFill>
                  <a:srgbClr val="12183A"/>
                </a:solidFill>
                <a:effectLst/>
                <a:uLnTx/>
                <a:uFillTx/>
                <a:latin typeface="Yekan Bakh" pitchFamily="2" charset="-78"/>
                <a:ea typeface="Yekan Bakh" pitchFamily="2" charset="-78"/>
                <a:cs typeface="Yekan Bakh" pitchFamily="2" charset="-78"/>
              </a:rPr>
              <a:t>هستند</a:t>
            </a:r>
            <a:r>
              <a:rPr kumimoji="0" lang="fa-IR" sz="1050" b="0" i="0" u="none" strike="noStrike" kern="1200" cap="none" spc="0" normalizeH="0" baseline="0" noProof="0" dirty="0">
                <a:ln>
                  <a:noFill/>
                </a:ln>
                <a:solidFill>
                  <a:srgbClr val="12183A"/>
                </a:solidFill>
                <a:effectLst/>
                <a:uLnTx/>
                <a:uFillTx/>
                <a:latin typeface="Yekan Bakh" pitchFamily="2" charset="-78"/>
                <a:ea typeface="Yekan Bakh" pitchFamily="2" charset="-78"/>
                <a:cs typeface="Yekan Bakh" pitchFamily="2" charset="-78"/>
              </a:rPr>
              <a:t>. </a:t>
            </a:r>
            <a:r>
              <a:rPr kumimoji="0" lang="en-US" sz="1050" b="0" i="0" u="none" strike="noStrike" kern="1200" cap="none" spc="0" normalizeH="0" baseline="0" noProof="0" dirty="0" err="1">
                <a:ln>
                  <a:noFill/>
                </a:ln>
                <a:solidFill>
                  <a:srgbClr val="12183A"/>
                </a:solidFill>
                <a:effectLst/>
                <a:uLnTx/>
                <a:uFillTx/>
                <a:latin typeface="Yekan Bakh" pitchFamily="2" charset="-78"/>
                <a:ea typeface="Yekan Bakh" pitchFamily="2" charset="-78"/>
                <a:cs typeface="Yekan Bakh" pitchFamily="2" charset="-78"/>
              </a:rPr>
              <a:t>نه</a:t>
            </a:r>
            <a:r>
              <a:rPr kumimoji="0" lang="en-US" sz="1050" b="0" i="0" u="none" strike="noStrike" kern="1200" cap="none" spc="0" normalizeH="0" baseline="0" noProof="0" dirty="0">
                <a:ln>
                  <a:noFill/>
                </a:ln>
                <a:solidFill>
                  <a:srgbClr val="12183A"/>
                </a:solidFill>
                <a:effectLst/>
                <a:uLnTx/>
                <a:uFillTx/>
                <a:latin typeface="Yekan Bakh" pitchFamily="2" charset="-78"/>
                <a:ea typeface="Yekan Bakh" pitchFamily="2" charset="-78"/>
                <a:cs typeface="Yekan Bakh" pitchFamily="2" charset="-78"/>
              </a:rPr>
              <a:t> </a:t>
            </a:r>
            <a:r>
              <a:rPr kumimoji="0" lang="en-US" sz="1050" b="0" i="0" u="none" strike="noStrike" kern="1200" cap="none" spc="0" normalizeH="0" baseline="0" noProof="0" dirty="0" err="1">
                <a:ln>
                  <a:noFill/>
                </a:ln>
                <a:solidFill>
                  <a:srgbClr val="12183A"/>
                </a:solidFill>
                <a:effectLst/>
                <a:uLnTx/>
                <a:uFillTx/>
                <a:latin typeface="Yekan Bakh" pitchFamily="2" charset="-78"/>
                <a:ea typeface="Yekan Bakh" pitchFamily="2" charset="-78"/>
                <a:cs typeface="Yekan Bakh" pitchFamily="2" charset="-78"/>
              </a:rPr>
              <a:t>صرفاً</a:t>
            </a:r>
            <a:r>
              <a:rPr kumimoji="0" lang="en-US" sz="1050" b="0" i="0" u="none" strike="noStrike" kern="1200" cap="none" spc="0" normalizeH="0" baseline="0" noProof="0" dirty="0">
                <a:ln>
                  <a:noFill/>
                </a:ln>
                <a:solidFill>
                  <a:srgbClr val="12183A"/>
                </a:solidFill>
                <a:effectLst/>
                <a:uLnTx/>
                <a:uFillTx/>
                <a:latin typeface="Yekan Bakh" pitchFamily="2" charset="-78"/>
                <a:ea typeface="Yekan Bakh" pitchFamily="2" charset="-78"/>
                <a:cs typeface="Yekan Bakh" pitchFamily="2" charset="-78"/>
              </a:rPr>
              <a:t> </a:t>
            </a:r>
            <a:r>
              <a:rPr kumimoji="0" lang="en-US" sz="1050" b="0" i="0" u="none" strike="noStrike" kern="1200" cap="none" spc="0" normalizeH="0" baseline="0" noProof="0" dirty="0" err="1">
                <a:ln>
                  <a:noFill/>
                </a:ln>
                <a:solidFill>
                  <a:srgbClr val="12183A"/>
                </a:solidFill>
                <a:effectLst/>
                <a:uLnTx/>
                <a:uFillTx/>
                <a:latin typeface="Yekan Bakh" pitchFamily="2" charset="-78"/>
                <a:ea typeface="Yekan Bakh" pitchFamily="2" charset="-78"/>
                <a:cs typeface="Yekan Bakh" pitchFamily="2" charset="-78"/>
              </a:rPr>
              <a:t>دسترسی</a:t>
            </a:r>
            <a:r>
              <a:rPr kumimoji="0" lang="en-US" sz="1050" b="0" i="0" u="none" strike="noStrike" kern="1200" cap="none" spc="0" normalizeH="0" baseline="0" noProof="0" dirty="0">
                <a:ln>
                  <a:noFill/>
                </a:ln>
                <a:solidFill>
                  <a:srgbClr val="12183A"/>
                </a:solidFill>
                <a:effectLst/>
                <a:uLnTx/>
                <a:uFillTx/>
                <a:latin typeface="Yekan Bakh" pitchFamily="2" charset="-78"/>
                <a:ea typeface="Yekan Bakh" pitchFamily="2" charset="-78"/>
                <a:cs typeface="Yekan Bakh" pitchFamily="2" charset="-78"/>
              </a:rPr>
              <a:t> </a:t>
            </a:r>
            <a:r>
              <a:rPr kumimoji="0" lang="en-US" sz="1050" b="0" i="0" u="none" strike="noStrike" kern="1200" cap="none" spc="0" normalizeH="0" baseline="0" noProof="0" dirty="0" err="1">
                <a:ln>
                  <a:noFill/>
                </a:ln>
                <a:solidFill>
                  <a:srgbClr val="12183A"/>
                </a:solidFill>
                <a:effectLst/>
                <a:uLnTx/>
                <a:uFillTx/>
                <a:latin typeface="Yekan Bakh" pitchFamily="2" charset="-78"/>
                <a:ea typeface="Yekan Bakh" pitchFamily="2" charset="-78"/>
                <a:cs typeface="Yekan Bakh" pitchFamily="2" charset="-78"/>
              </a:rPr>
              <a:t>به</a:t>
            </a:r>
            <a:r>
              <a:rPr kumimoji="0" lang="en-US" sz="1050" b="0" i="0" u="none" strike="noStrike" kern="1200" cap="none" spc="0" normalizeH="0" baseline="0" noProof="0" dirty="0">
                <a:ln>
                  <a:noFill/>
                </a:ln>
                <a:solidFill>
                  <a:srgbClr val="12183A"/>
                </a:solidFill>
                <a:effectLst/>
                <a:uLnTx/>
                <a:uFillTx/>
                <a:latin typeface="Yekan Bakh" pitchFamily="2" charset="-78"/>
                <a:ea typeface="Yekan Bakh" pitchFamily="2" charset="-78"/>
                <a:cs typeface="Yekan Bakh" pitchFamily="2" charset="-78"/>
              </a:rPr>
              <a:t> </a:t>
            </a:r>
            <a:r>
              <a:rPr kumimoji="0" lang="en-US" sz="1050" b="0" i="0" u="none" strike="noStrike" kern="1200" cap="none" spc="0" normalizeH="0" baseline="0" noProof="0" dirty="0" err="1">
                <a:ln>
                  <a:noFill/>
                </a:ln>
                <a:solidFill>
                  <a:srgbClr val="12183A"/>
                </a:solidFill>
                <a:effectLst/>
                <a:uLnTx/>
                <a:uFillTx/>
                <a:latin typeface="Yekan Bakh" pitchFamily="2" charset="-78"/>
                <a:ea typeface="Yekan Bakh" pitchFamily="2" charset="-78"/>
                <a:cs typeface="Yekan Bakh" pitchFamily="2" charset="-78"/>
              </a:rPr>
              <a:t>سرمایه</a:t>
            </a:r>
            <a:r>
              <a:rPr kumimoji="0" lang="en-US" sz="1050" b="0" i="0" u="none" strike="noStrike" kern="1200" cap="none" spc="0" normalizeH="0" baseline="0" noProof="0" dirty="0">
                <a:ln>
                  <a:noFill/>
                </a:ln>
                <a:solidFill>
                  <a:srgbClr val="12183A"/>
                </a:solidFill>
                <a:effectLst/>
                <a:uLnTx/>
                <a:uFillTx/>
                <a:latin typeface="Yekan Bakh" pitchFamily="2" charset="-78"/>
                <a:ea typeface="Yekan Bakh" pitchFamily="2" charset="-78"/>
                <a:cs typeface="Yekan Bakh" pitchFamily="2" charset="-78"/>
              </a:rPr>
              <a:t> </a:t>
            </a:r>
            <a:r>
              <a:rPr kumimoji="0" lang="en-US" sz="1050" b="0" i="0" u="none" strike="noStrike" kern="1200" cap="none" spc="0" normalizeH="0" baseline="0" noProof="0" dirty="0" err="1">
                <a:ln>
                  <a:noFill/>
                </a:ln>
                <a:solidFill>
                  <a:srgbClr val="12183A"/>
                </a:solidFill>
                <a:effectLst/>
                <a:uLnTx/>
                <a:uFillTx/>
                <a:latin typeface="Yekan Bakh" pitchFamily="2" charset="-78"/>
                <a:ea typeface="Yekan Bakh" pitchFamily="2" charset="-78"/>
                <a:cs typeface="Yekan Bakh" pitchFamily="2" charset="-78"/>
              </a:rPr>
              <a:t>یا</a:t>
            </a:r>
            <a:r>
              <a:rPr kumimoji="0" lang="en-US" sz="1050" b="0" i="0" u="none" strike="noStrike" kern="1200" cap="none" spc="0" normalizeH="0" baseline="0" noProof="0" dirty="0">
                <a:ln>
                  <a:noFill/>
                </a:ln>
                <a:solidFill>
                  <a:srgbClr val="12183A"/>
                </a:solidFill>
                <a:effectLst/>
                <a:uLnTx/>
                <a:uFillTx/>
                <a:latin typeface="Yekan Bakh" pitchFamily="2" charset="-78"/>
                <a:ea typeface="Yekan Bakh" pitchFamily="2" charset="-78"/>
                <a:cs typeface="Yekan Bakh" pitchFamily="2" charset="-78"/>
              </a:rPr>
              <a:t> </a:t>
            </a:r>
            <a:r>
              <a:rPr kumimoji="0" lang="en-US" sz="1050" b="0" i="0" u="none" strike="noStrike" kern="1200" cap="none" spc="0" normalizeH="0" baseline="0" noProof="0" dirty="0" err="1">
                <a:ln>
                  <a:noFill/>
                </a:ln>
                <a:solidFill>
                  <a:srgbClr val="12183A"/>
                </a:solidFill>
                <a:effectLst/>
                <a:uLnTx/>
                <a:uFillTx/>
                <a:latin typeface="Yekan Bakh" pitchFamily="2" charset="-78"/>
                <a:ea typeface="Yekan Bakh" pitchFamily="2" charset="-78"/>
                <a:cs typeface="Yekan Bakh" pitchFamily="2" charset="-78"/>
              </a:rPr>
              <a:t>معامله</a:t>
            </a:r>
            <a:r>
              <a:rPr kumimoji="0" lang="fa-IR" sz="1050" b="0" i="0" u="none" strike="noStrike" kern="1200" cap="none" spc="0" normalizeH="0" baseline="0" noProof="0" dirty="0">
                <a:ln>
                  <a:noFill/>
                </a:ln>
                <a:solidFill>
                  <a:srgbClr val="12183A"/>
                </a:solidFill>
                <a:effectLst/>
                <a:uLnTx/>
                <a:uFillTx/>
                <a:latin typeface="Yekan Bakh" pitchFamily="2" charset="-78"/>
                <a:ea typeface="Yekan Bakh" pitchFamily="2" charset="-78"/>
                <a:cs typeface="Yekan Bakh" pitchFamily="2" charset="-78"/>
              </a:rPr>
              <a:t>.</a:t>
            </a:r>
            <a:r>
              <a:rPr kumimoji="0" lang="en-US" sz="1050" b="0" i="0" u="none" strike="noStrike" kern="1200" cap="none" spc="0" normalizeH="0" baseline="0" noProof="0" dirty="0">
                <a:ln>
                  <a:noFill/>
                </a:ln>
                <a:solidFill>
                  <a:srgbClr val="12183A"/>
                </a:solidFill>
                <a:effectLst/>
                <a:uLnTx/>
                <a:uFillTx/>
                <a:latin typeface="Yekan Bakh" pitchFamily="2" charset="-78"/>
                <a:ea typeface="Yekan Bakh" pitchFamily="2" charset="-78"/>
                <a:cs typeface="Yekan Bakh" pitchFamily="2" charset="-78"/>
              </a:rPr>
              <a:t> </a:t>
            </a:r>
            <a:r>
              <a:rPr kumimoji="0" lang="en-US" sz="1050" b="0" i="0" u="none" strike="noStrike" kern="1200" cap="none" spc="0" normalizeH="0" baseline="0" noProof="0" dirty="0" err="1">
                <a:ln>
                  <a:noFill/>
                </a:ln>
                <a:solidFill>
                  <a:srgbClr val="12183A"/>
                </a:solidFill>
                <a:effectLst/>
                <a:uLnTx/>
                <a:uFillTx/>
                <a:latin typeface="Yekan Bakh" pitchFamily="2" charset="-78"/>
                <a:ea typeface="Yekan Bakh" pitchFamily="2" charset="-78"/>
                <a:cs typeface="Yekan Bakh" pitchFamily="2" charset="-78"/>
              </a:rPr>
              <a:t>این</a:t>
            </a:r>
            <a:r>
              <a:rPr kumimoji="0" lang="en-US" sz="1050" b="0" i="0" u="none" strike="noStrike" kern="1200" cap="none" spc="0" normalizeH="0" baseline="0" noProof="0" dirty="0">
                <a:ln>
                  <a:noFill/>
                </a:ln>
                <a:solidFill>
                  <a:srgbClr val="12183A"/>
                </a:solidFill>
                <a:effectLst/>
                <a:uLnTx/>
                <a:uFillTx/>
                <a:latin typeface="Yekan Bakh" pitchFamily="2" charset="-78"/>
                <a:ea typeface="Yekan Bakh" pitchFamily="2" charset="-78"/>
                <a:cs typeface="Yekan Bakh" pitchFamily="2" charset="-78"/>
              </a:rPr>
              <a:t> </a:t>
            </a:r>
            <a:r>
              <a:rPr kumimoji="0" lang="en-US" sz="1050" b="0" i="0" u="none" strike="noStrike" kern="1200" cap="none" spc="0" normalizeH="0" baseline="0" noProof="0" dirty="0" err="1">
                <a:ln>
                  <a:noFill/>
                </a:ln>
                <a:solidFill>
                  <a:srgbClr val="12183A"/>
                </a:solidFill>
                <a:effectLst/>
                <a:uLnTx/>
                <a:uFillTx/>
                <a:latin typeface="Yekan Bakh" pitchFamily="2" charset="-78"/>
                <a:ea typeface="Yekan Bakh" pitchFamily="2" charset="-78"/>
                <a:cs typeface="Yekan Bakh" pitchFamily="2" charset="-78"/>
              </a:rPr>
              <a:t>یعنی</a:t>
            </a:r>
            <a:r>
              <a:rPr kumimoji="0" lang="en-US" sz="1050" b="0" i="0" u="none" strike="noStrike" kern="1200" cap="none" spc="0" normalizeH="0" baseline="0" noProof="0" dirty="0">
                <a:ln>
                  <a:noFill/>
                </a:ln>
                <a:solidFill>
                  <a:srgbClr val="12183A"/>
                </a:solidFill>
                <a:effectLst/>
                <a:uLnTx/>
                <a:uFillTx/>
                <a:latin typeface="Yekan Bakh" pitchFamily="2" charset="-78"/>
                <a:ea typeface="Yekan Bakh" pitchFamily="2" charset="-78"/>
                <a:cs typeface="Yekan Bakh" pitchFamily="2" charset="-78"/>
              </a:rPr>
              <a:t> </a:t>
            </a:r>
            <a:r>
              <a:rPr kumimoji="0" lang="en-US" sz="1050" b="0" i="0" u="none" strike="noStrike" kern="1200" cap="none" spc="0" normalizeH="0" baseline="0" noProof="0" dirty="0" err="1">
                <a:ln>
                  <a:noFill/>
                </a:ln>
                <a:solidFill>
                  <a:srgbClr val="12183A"/>
                </a:solidFill>
                <a:effectLst/>
                <a:uLnTx/>
                <a:uFillTx/>
                <a:latin typeface="Yekan Bakh" pitchFamily="2" charset="-78"/>
                <a:ea typeface="Yekan Bakh" pitchFamily="2" charset="-78"/>
                <a:cs typeface="Yekan Bakh" pitchFamily="2" charset="-78"/>
              </a:rPr>
              <a:t>بزرگ‌ترین</a:t>
            </a:r>
            <a:r>
              <a:rPr kumimoji="0" lang="en-US" sz="1050" b="0" i="0" u="none" strike="noStrike" kern="1200" cap="none" spc="0" normalizeH="0" baseline="0" noProof="0" dirty="0">
                <a:ln>
                  <a:noFill/>
                </a:ln>
                <a:solidFill>
                  <a:srgbClr val="12183A"/>
                </a:solidFill>
                <a:effectLst/>
                <a:uLnTx/>
                <a:uFillTx/>
                <a:latin typeface="Yekan Bakh" pitchFamily="2" charset="-78"/>
                <a:ea typeface="Yekan Bakh" pitchFamily="2" charset="-78"/>
                <a:cs typeface="Yekan Bakh" pitchFamily="2" charset="-78"/>
              </a:rPr>
              <a:t> </a:t>
            </a:r>
            <a:r>
              <a:rPr kumimoji="0" lang="en-US" sz="1050" b="0" i="0" u="none" strike="noStrike" kern="1200" cap="none" spc="0" normalizeH="0" baseline="0" noProof="0" dirty="0" err="1">
                <a:ln>
                  <a:noFill/>
                </a:ln>
                <a:solidFill>
                  <a:srgbClr val="12183A"/>
                </a:solidFill>
                <a:effectLst/>
                <a:uLnTx/>
                <a:uFillTx/>
                <a:latin typeface="Yekan Bakh" pitchFamily="2" charset="-78"/>
                <a:ea typeface="Yekan Bakh" pitchFamily="2" charset="-78"/>
                <a:cs typeface="Yekan Bakh" pitchFamily="2" charset="-78"/>
              </a:rPr>
              <a:t>فرصت</a:t>
            </a:r>
            <a:r>
              <a:rPr kumimoji="0" lang="en-US" sz="1050" b="0" i="0" u="none" strike="noStrike" kern="1200" cap="none" spc="0" normalizeH="0" baseline="0" noProof="0" dirty="0">
                <a:ln>
                  <a:noFill/>
                </a:ln>
                <a:solidFill>
                  <a:srgbClr val="12183A"/>
                </a:solidFill>
                <a:effectLst/>
                <a:uLnTx/>
                <a:uFillTx/>
                <a:latin typeface="Yekan Bakh" pitchFamily="2" charset="-78"/>
                <a:ea typeface="Yekan Bakh" pitchFamily="2" charset="-78"/>
                <a:cs typeface="Yekan Bakh" pitchFamily="2" charset="-78"/>
              </a:rPr>
              <a:t> </a:t>
            </a:r>
            <a:r>
              <a:rPr kumimoji="0" lang="en-US" sz="1050" b="0" i="0" u="none" strike="noStrike" kern="1200" cap="none" spc="0" normalizeH="0" baseline="0" noProof="0" dirty="0" err="1">
                <a:ln>
                  <a:noFill/>
                </a:ln>
                <a:solidFill>
                  <a:srgbClr val="12183A"/>
                </a:solidFill>
                <a:effectLst/>
                <a:uLnTx/>
                <a:uFillTx/>
                <a:latin typeface="Yekan Bakh" pitchFamily="2" charset="-78"/>
                <a:ea typeface="Yekan Bakh" pitchFamily="2" charset="-78"/>
                <a:cs typeface="Yekan Bakh" pitchFamily="2" charset="-78"/>
              </a:rPr>
              <a:t>استراتژیک</a:t>
            </a:r>
            <a:r>
              <a:rPr kumimoji="0" lang="en-US" sz="1050" b="0" i="0" u="none" strike="noStrike" kern="1200" cap="none" spc="0" normalizeH="0" baseline="0" noProof="0" dirty="0">
                <a:ln>
                  <a:noFill/>
                </a:ln>
                <a:solidFill>
                  <a:srgbClr val="12183A"/>
                </a:solidFill>
                <a:effectLst/>
                <a:uLnTx/>
                <a:uFillTx/>
                <a:latin typeface="Yekan Bakh" pitchFamily="2" charset="-78"/>
                <a:ea typeface="Yekan Bakh" pitchFamily="2" charset="-78"/>
                <a:cs typeface="Yekan Bakh" pitchFamily="2" charset="-78"/>
              </a:rPr>
              <a:t>، </a:t>
            </a:r>
            <a:r>
              <a:rPr kumimoji="0" lang="en-US" sz="1050" b="0" i="0" u="none" strike="noStrike" kern="1200" cap="none" spc="0" normalizeH="0" baseline="0" noProof="0" dirty="0" err="1">
                <a:ln>
                  <a:noFill/>
                </a:ln>
                <a:solidFill>
                  <a:srgbClr val="12183A"/>
                </a:solidFill>
                <a:effectLst/>
                <a:uLnTx/>
                <a:uFillTx/>
                <a:latin typeface="Yekan Bakh" pitchFamily="2" charset="-78"/>
                <a:ea typeface="Yekan Bakh" pitchFamily="2" charset="-78"/>
                <a:cs typeface="Yekan Bakh" pitchFamily="2" charset="-78"/>
              </a:rPr>
              <a:t>حل‌شدن</a:t>
            </a:r>
            <a:r>
              <a:rPr kumimoji="0" lang="en-US" sz="1050" b="0" i="0" u="none" strike="noStrike" kern="1200" cap="none" spc="0" normalizeH="0" baseline="0" noProof="0" dirty="0">
                <a:ln>
                  <a:noFill/>
                </a:ln>
                <a:solidFill>
                  <a:srgbClr val="12183A"/>
                </a:solidFill>
                <a:effectLst/>
                <a:uLnTx/>
                <a:uFillTx/>
                <a:latin typeface="Yekan Bakh" pitchFamily="2" charset="-78"/>
                <a:ea typeface="Yekan Bakh" pitchFamily="2" charset="-78"/>
                <a:cs typeface="Yekan Bakh" pitchFamily="2" charset="-78"/>
              </a:rPr>
              <a:t> </a:t>
            </a:r>
            <a:r>
              <a:rPr kumimoji="0" lang="en-US" sz="1050" b="0" i="0" u="none" strike="noStrike" kern="1200" cap="none" spc="0" normalizeH="0" baseline="0" noProof="0" dirty="0" err="1">
                <a:ln>
                  <a:noFill/>
                </a:ln>
                <a:solidFill>
                  <a:srgbClr val="12183A"/>
                </a:solidFill>
                <a:effectLst/>
                <a:uLnTx/>
                <a:uFillTx/>
                <a:latin typeface="Yekan Bakh" pitchFamily="2" charset="-78"/>
                <a:ea typeface="Yekan Bakh" pitchFamily="2" charset="-78"/>
                <a:cs typeface="Yekan Bakh" pitchFamily="2" charset="-78"/>
              </a:rPr>
              <a:t>مسئله</a:t>
            </a:r>
            <a:r>
              <a:rPr kumimoji="0" lang="en-US" sz="1050" b="0" i="0" u="none" strike="noStrike" kern="1200" cap="none" spc="0" normalizeH="0" baseline="0" noProof="0" dirty="0">
                <a:ln>
                  <a:noFill/>
                </a:ln>
                <a:solidFill>
                  <a:srgbClr val="12183A"/>
                </a:solidFill>
                <a:effectLst/>
                <a:uLnTx/>
                <a:uFillTx/>
                <a:latin typeface="Yekan Bakh" pitchFamily="2" charset="-78"/>
                <a:ea typeface="Yekan Bakh" pitchFamily="2" charset="-78"/>
                <a:cs typeface="Yekan Bakh" pitchFamily="2" charset="-78"/>
              </a:rPr>
              <a:t> </a:t>
            </a:r>
            <a:r>
              <a:rPr kumimoji="0" lang="en-US" sz="1050" b="1" i="0" u="none" strike="noStrike" kern="1200" cap="none" spc="0" normalizeH="0" baseline="0" noProof="0" dirty="0" err="1">
                <a:ln>
                  <a:noFill/>
                </a:ln>
                <a:solidFill>
                  <a:srgbClr val="12183A"/>
                </a:solidFill>
                <a:effectLst/>
                <a:uLnTx/>
                <a:uFillTx/>
                <a:latin typeface="Yekan Bakh" pitchFamily="2" charset="-78"/>
                <a:ea typeface="Yekan Bakh" pitchFamily="2" charset="-78"/>
                <a:cs typeface="Yekan Bakh" pitchFamily="2" charset="-78"/>
              </a:rPr>
              <a:t>اعتماد</a:t>
            </a:r>
            <a:r>
              <a:rPr kumimoji="0" lang="en-US" sz="1050" b="1" i="0" u="none" strike="noStrike" kern="1200" cap="none" spc="0" normalizeH="0" baseline="0" noProof="0" dirty="0">
                <a:ln>
                  <a:noFill/>
                </a:ln>
                <a:solidFill>
                  <a:srgbClr val="12183A"/>
                </a:solidFill>
                <a:effectLst/>
                <a:uLnTx/>
                <a:uFillTx/>
                <a:latin typeface="Yekan Bakh" pitchFamily="2" charset="-78"/>
                <a:ea typeface="Yekan Bakh" pitchFamily="2" charset="-78"/>
                <a:cs typeface="Yekan Bakh" pitchFamily="2" charset="-78"/>
              </a:rPr>
              <a:t> و </a:t>
            </a:r>
            <a:r>
              <a:rPr kumimoji="0" lang="en-US" sz="1050" b="1" i="0" u="none" strike="noStrike" kern="1200" cap="none" spc="0" normalizeH="0" baseline="0" noProof="0" dirty="0" err="1">
                <a:ln>
                  <a:noFill/>
                </a:ln>
                <a:solidFill>
                  <a:srgbClr val="12183A"/>
                </a:solidFill>
                <a:effectLst/>
                <a:uLnTx/>
                <a:uFillTx/>
                <a:latin typeface="Yekan Bakh" pitchFamily="2" charset="-78"/>
                <a:ea typeface="Yekan Bakh" pitchFamily="2" charset="-78"/>
                <a:cs typeface="Yekan Bakh" pitchFamily="2" charset="-78"/>
              </a:rPr>
              <a:t>راستی‌آزمایی</a:t>
            </a:r>
            <a:r>
              <a:rPr kumimoji="0" lang="en-US" sz="1050" b="1" i="0" u="none" strike="noStrike" kern="1200" cap="none" spc="0" normalizeH="0" baseline="0" noProof="0" dirty="0">
                <a:ln>
                  <a:noFill/>
                </a:ln>
                <a:solidFill>
                  <a:srgbClr val="12183A"/>
                </a:solidFill>
                <a:effectLst/>
                <a:uLnTx/>
                <a:uFillTx/>
                <a:latin typeface="Yekan Bakh" pitchFamily="2" charset="-78"/>
                <a:ea typeface="Yekan Bakh" pitchFamily="2" charset="-78"/>
                <a:cs typeface="Yekan Bakh" pitchFamily="2" charset="-78"/>
              </a:rPr>
              <a:t> </a:t>
            </a:r>
            <a:r>
              <a:rPr kumimoji="0" lang="en-US" sz="1050" b="1" i="0" u="none" strike="noStrike" kern="1200" cap="none" spc="0" normalizeH="0" baseline="0" noProof="0" dirty="0" err="1">
                <a:ln>
                  <a:noFill/>
                </a:ln>
                <a:solidFill>
                  <a:srgbClr val="12183A"/>
                </a:solidFill>
                <a:effectLst/>
                <a:uLnTx/>
                <a:uFillTx/>
                <a:latin typeface="Yekan Bakh" pitchFamily="2" charset="-78"/>
                <a:ea typeface="Yekan Bakh" pitchFamily="2" charset="-78"/>
                <a:cs typeface="Yekan Bakh" pitchFamily="2" charset="-78"/>
              </a:rPr>
              <a:t>در</a:t>
            </a:r>
            <a:r>
              <a:rPr kumimoji="0" lang="en-US" sz="1050" b="1" i="0" u="none" strike="noStrike" kern="1200" cap="none" spc="0" normalizeH="0" baseline="0" noProof="0" dirty="0">
                <a:ln>
                  <a:noFill/>
                </a:ln>
                <a:solidFill>
                  <a:srgbClr val="12183A"/>
                </a:solidFill>
                <a:effectLst/>
                <a:uLnTx/>
                <a:uFillTx/>
                <a:latin typeface="Yekan Bakh" pitchFamily="2" charset="-78"/>
                <a:ea typeface="Yekan Bakh" pitchFamily="2" charset="-78"/>
                <a:cs typeface="Yekan Bakh" pitchFamily="2" charset="-78"/>
              </a:rPr>
              <a:t> </a:t>
            </a:r>
            <a:r>
              <a:rPr kumimoji="0" lang="en-US" sz="1050" b="1" i="0" u="none" strike="noStrike" kern="1200" cap="none" spc="0" normalizeH="0" baseline="0" noProof="0" dirty="0" err="1">
                <a:ln>
                  <a:noFill/>
                </a:ln>
                <a:solidFill>
                  <a:srgbClr val="12183A"/>
                </a:solidFill>
                <a:effectLst/>
                <a:uLnTx/>
                <a:uFillTx/>
                <a:latin typeface="Yekan Bakh" pitchFamily="2" charset="-78"/>
                <a:ea typeface="Yekan Bakh" pitchFamily="2" charset="-78"/>
                <a:cs typeface="Yekan Bakh" pitchFamily="2" charset="-78"/>
              </a:rPr>
              <a:t>یک</a:t>
            </a:r>
            <a:r>
              <a:rPr kumimoji="0" lang="en-US" sz="1050" b="1" i="0" u="none" strike="noStrike" kern="1200" cap="none" spc="0" normalizeH="0" baseline="0" noProof="0" dirty="0">
                <a:ln>
                  <a:noFill/>
                </a:ln>
                <a:solidFill>
                  <a:srgbClr val="12183A"/>
                </a:solidFill>
                <a:effectLst/>
                <a:uLnTx/>
                <a:uFillTx/>
                <a:latin typeface="Yekan Bakh" pitchFamily="2" charset="-78"/>
                <a:ea typeface="Yekan Bakh" pitchFamily="2" charset="-78"/>
                <a:cs typeface="Yekan Bakh" pitchFamily="2" charset="-78"/>
              </a:rPr>
              <a:t> </a:t>
            </a:r>
            <a:r>
              <a:rPr kumimoji="0" lang="en-US" sz="1050" b="1" i="0" u="none" strike="noStrike" kern="1200" cap="none" spc="0" normalizeH="0" baseline="0" noProof="0" dirty="0" err="1">
                <a:ln>
                  <a:noFill/>
                </a:ln>
                <a:solidFill>
                  <a:srgbClr val="12183A"/>
                </a:solidFill>
                <a:effectLst/>
                <a:uLnTx/>
                <a:uFillTx/>
                <a:latin typeface="Yekan Bakh" pitchFamily="2" charset="-78"/>
                <a:ea typeface="Yekan Bakh" pitchFamily="2" charset="-78"/>
                <a:cs typeface="Yekan Bakh" pitchFamily="2" charset="-78"/>
              </a:rPr>
              <a:t>محیط</a:t>
            </a:r>
            <a:r>
              <a:rPr kumimoji="0" lang="en-US" sz="1050" b="1" i="0" u="none" strike="noStrike" kern="1200" cap="none" spc="0" normalizeH="0" baseline="0" noProof="0" dirty="0">
                <a:ln>
                  <a:noFill/>
                </a:ln>
                <a:solidFill>
                  <a:srgbClr val="12183A"/>
                </a:solidFill>
                <a:effectLst/>
                <a:uLnTx/>
                <a:uFillTx/>
                <a:latin typeface="Yekan Bakh" pitchFamily="2" charset="-78"/>
                <a:ea typeface="Yekan Bakh" pitchFamily="2" charset="-78"/>
                <a:cs typeface="Yekan Bakh" pitchFamily="2" charset="-78"/>
              </a:rPr>
              <a:t> </a:t>
            </a:r>
            <a:r>
              <a:rPr kumimoji="0" lang="en-US" sz="1050" b="1" i="0" u="none" strike="noStrike" kern="1200" cap="none" spc="0" normalizeH="0" baseline="0" noProof="0" dirty="0" err="1">
                <a:ln>
                  <a:noFill/>
                </a:ln>
                <a:solidFill>
                  <a:srgbClr val="12183A"/>
                </a:solidFill>
                <a:effectLst/>
                <a:uLnTx/>
                <a:uFillTx/>
                <a:latin typeface="Yekan Bakh" pitchFamily="2" charset="-78"/>
                <a:ea typeface="Yekan Bakh" pitchFamily="2" charset="-78"/>
                <a:cs typeface="Yekan Bakh" pitchFamily="2" charset="-78"/>
              </a:rPr>
              <a:t>کم‌شفاف</a:t>
            </a:r>
            <a:r>
              <a:rPr kumimoji="0" lang="en-US" sz="1050" b="0" i="0" u="none" strike="noStrike" kern="1200" cap="none" spc="0" normalizeH="0" baseline="0" noProof="0" dirty="0">
                <a:ln>
                  <a:noFill/>
                </a:ln>
                <a:solidFill>
                  <a:srgbClr val="12183A"/>
                </a:solidFill>
                <a:effectLst/>
                <a:uLnTx/>
                <a:uFillTx/>
                <a:latin typeface="Yekan Bakh" pitchFamily="2" charset="-78"/>
                <a:ea typeface="Yekan Bakh" pitchFamily="2" charset="-78"/>
                <a:cs typeface="Yekan Bakh" pitchFamily="2" charset="-78"/>
              </a:rPr>
              <a:t> </a:t>
            </a:r>
            <a:r>
              <a:rPr kumimoji="0" lang="en-US" sz="1050" b="0" i="0" u="none" strike="noStrike" kern="1200" cap="none" spc="0" normalizeH="0" baseline="0" noProof="0" dirty="0" err="1">
                <a:ln>
                  <a:noFill/>
                </a:ln>
                <a:solidFill>
                  <a:srgbClr val="12183A"/>
                </a:solidFill>
                <a:effectLst/>
                <a:uLnTx/>
                <a:uFillTx/>
                <a:latin typeface="Yekan Bakh" pitchFamily="2" charset="-78"/>
                <a:ea typeface="Yekan Bakh" pitchFamily="2" charset="-78"/>
                <a:cs typeface="Yekan Bakh" pitchFamily="2" charset="-78"/>
              </a:rPr>
              <a:t>است</a:t>
            </a:r>
            <a:r>
              <a:rPr kumimoji="0" lang="en-US" sz="1050" b="0" i="0" u="none" strike="noStrike" kern="1200" cap="none" spc="0" normalizeH="0" baseline="0" noProof="0" dirty="0">
                <a:ln>
                  <a:noFill/>
                </a:ln>
                <a:solidFill>
                  <a:srgbClr val="12183A"/>
                </a:solidFill>
                <a:effectLst/>
                <a:uLnTx/>
                <a:uFillTx/>
                <a:latin typeface="Yekan Bakh" pitchFamily="2" charset="-78"/>
                <a:ea typeface="Yekan Bakh" pitchFamily="2" charset="-78"/>
                <a:cs typeface="Yekan Bakh" pitchFamily="2" charset="-78"/>
              </a:rPr>
              <a:t>، </a:t>
            </a:r>
            <a:r>
              <a:rPr kumimoji="0" lang="en-US" sz="1050" b="0" i="0" u="none" strike="noStrike" kern="1200" cap="none" spc="0" normalizeH="0" baseline="0" noProof="0" dirty="0" err="1">
                <a:ln>
                  <a:noFill/>
                </a:ln>
                <a:solidFill>
                  <a:srgbClr val="12183A"/>
                </a:solidFill>
                <a:effectLst/>
                <a:uLnTx/>
                <a:uFillTx/>
                <a:latin typeface="Yekan Bakh" pitchFamily="2" charset="-78"/>
                <a:ea typeface="Yekan Bakh" pitchFamily="2" charset="-78"/>
                <a:cs typeface="Yekan Bakh" pitchFamily="2" charset="-78"/>
              </a:rPr>
              <a:t>نه</a:t>
            </a:r>
            <a:r>
              <a:rPr kumimoji="0" lang="en-US" sz="1050" b="0" i="0" u="none" strike="noStrike" kern="1200" cap="none" spc="0" normalizeH="0" baseline="0" noProof="0" dirty="0">
                <a:ln>
                  <a:noFill/>
                </a:ln>
                <a:solidFill>
                  <a:srgbClr val="12183A"/>
                </a:solidFill>
                <a:effectLst/>
                <a:uLnTx/>
                <a:uFillTx/>
                <a:latin typeface="Yekan Bakh" pitchFamily="2" charset="-78"/>
                <a:ea typeface="Yekan Bakh" pitchFamily="2" charset="-78"/>
                <a:cs typeface="Yekan Bakh" pitchFamily="2" charset="-78"/>
              </a:rPr>
              <a:t> </a:t>
            </a:r>
            <a:r>
              <a:rPr kumimoji="0" lang="en-US" sz="1050" b="0" i="0" u="none" strike="noStrike" kern="1200" cap="none" spc="0" normalizeH="0" baseline="0" noProof="0" dirty="0" err="1">
                <a:ln>
                  <a:noFill/>
                </a:ln>
                <a:solidFill>
                  <a:srgbClr val="12183A"/>
                </a:solidFill>
                <a:effectLst/>
                <a:uLnTx/>
                <a:uFillTx/>
                <a:latin typeface="Yekan Bakh" pitchFamily="2" charset="-78"/>
                <a:ea typeface="Yekan Bakh" pitchFamily="2" charset="-78"/>
                <a:cs typeface="Yekan Bakh" pitchFamily="2" charset="-78"/>
              </a:rPr>
              <a:t>صرفاً</a:t>
            </a:r>
            <a:r>
              <a:rPr kumimoji="0" lang="en-US" sz="1050" b="0" i="0" u="none" strike="noStrike" kern="1200" cap="none" spc="0" normalizeH="0" baseline="0" noProof="0" dirty="0">
                <a:ln>
                  <a:noFill/>
                </a:ln>
                <a:solidFill>
                  <a:srgbClr val="12183A"/>
                </a:solidFill>
                <a:effectLst/>
                <a:uLnTx/>
                <a:uFillTx/>
                <a:latin typeface="Yekan Bakh" pitchFamily="2" charset="-78"/>
                <a:ea typeface="Yekan Bakh" pitchFamily="2" charset="-78"/>
                <a:cs typeface="Yekan Bakh" pitchFamily="2" charset="-78"/>
              </a:rPr>
              <a:t> </a:t>
            </a:r>
            <a:r>
              <a:rPr kumimoji="0" lang="en-US" sz="1050" b="0" i="0" u="none" strike="noStrike" kern="1200" cap="none" spc="0" normalizeH="0" baseline="0" noProof="0" dirty="0" err="1">
                <a:ln>
                  <a:noFill/>
                </a:ln>
                <a:solidFill>
                  <a:srgbClr val="12183A"/>
                </a:solidFill>
                <a:effectLst/>
                <a:uLnTx/>
                <a:uFillTx/>
                <a:latin typeface="Yekan Bakh" pitchFamily="2" charset="-78"/>
                <a:ea typeface="Yekan Bakh" pitchFamily="2" charset="-78"/>
                <a:cs typeface="Yekan Bakh" pitchFamily="2" charset="-78"/>
              </a:rPr>
              <a:t>واسطه‌گری</a:t>
            </a:r>
            <a:r>
              <a:rPr kumimoji="0" lang="en-US" sz="1050" b="0" i="0" u="none" strike="noStrike" kern="1200" cap="none" spc="0" normalizeH="0" baseline="0" noProof="0" dirty="0">
                <a:ln>
                  <a:noFill/>
                </a:ln>
                <a:solidFill>
                  <a:srgbClr val="12183A"/>
                </a:solidFill>
                <a:effectLst/>
                <a:uLnTx/>
                <a:uFillTx/>
                <a:latin typeface="Yekan Bakh" pitchFamily="2" charset="-78"/>
                <a:ea typeface="Yekan Bakh" pitchFamily="2" charset="-78"/>
                <a:cs typeface="Yekan Bakh" pitchFamily="2" charset="-78"/>
              </a:rPr>
              <a:t> </a:t>
            </a:r>
            <a:r>
              <a:rPr kumimoji="0" lang="en-US" sz="1050" b="0" i="0" u="none" strike="noStrike" kern="1200" cap="none" spc="0" normalizeH="0" baseline="0" noProof="0" dirty="0" err="1">
                <a:ln>
                  <a:noFill/>
                </a:ln>
                <a:solidFill>
                  <a:srgbClr val="12183A"/>
                </a:solidFill>
                <a:effectLst/>
                <a:uLnTx/>
                <a:uFillTx/>
                <a:latin typeface="Yekan Bakh" pitchFamily="2" charset="-78"/>
                <a:ea typeface="Yekan Bakh" pitchFamily="2" charset="-78"/>
                <a:cs typeface="Yekan Bakh" pitchFamily="2" charset="-78"/>
              </a:rPr>
              <a:t>تراکنش</a:t>
            </a:r>
            <a:r>
              <a:rPr kumimoji="0" lang="en-US" sz="1050" b="0" i="0" u="none" strike="noStrike" kern="1200" cap="none" spc="0" normalizeH="0" baseline="0" noProof="0" dirty="0">
                <a:ln>
                  <a:noFill/>
                </a:ln>
                <a:solidFill>
                  <a:srgbClr val="12183A"/>
                </a:solidFill>
                <a:effectLst/>
                <a:uLnTx/>
                <a:uFillTx/>
                <a:latin typeface="Yekan Bakh" pitchFamily="2" charset="-78"/>
                <a:ea typeface="Yekan Bakh" pitchFamily="2" charset="-78"/>
                <a:cs typeface="Yekan Bakh" pitchFamily="2" charset="-78"/>
              </a:rPr>
              <a:t>.</a:t>
            </a:r>
            <a:endParaRPr kumimoji="0" lang="en-GB" sz="1400" b="0" i="0" u="none" strike="noStrike" kern="1200" cap="none" spc="0" normalizeH="0" baseline="0" noProof="0" dirty="0">
              <a:ln>
                <a:noFill/>
              </a:ln>
              <a:solidFill>
                <a:srgbClr val="12183A"/>
              </a:solidFill>
              <a:effectLst/>
              <a:uLnTx/>
              <a:uFillTx/>
              <a:latin typeface="Yekan Bakh" pitchFamily="2" charset="-78"/>
              <a:ea typeface="Yekan Bakh" pitchFamily="2" charset="-78"/>
              <a:cs typeface="Yekan Bakh" pitchFamily="2" charset="-78"/>
            </a:endParaRPr>
          </a:p>
        </p:txBody>
      </p:sp>
      <p:sp>
        <p:nvSpPr>
          <p:cNvPr id="64" name="TextBox 63">
            <a:extLst>
              <a:ext uri="{FF2B5EF4-FFF2-40B4-BE49-F238E27FC236}">
                <a16:creationId xmlns:a16="http://schemas.microsoft.com/office/drawing/2014/main" id="{68E3F94F-C6D5-23D6-7C2E-F37447F89672}"/>
              </a:ext>
            </a:extLst>
          </p:cNvPr>
          <p:cNvSpPr txBox="1"/>
          <p:nvPr/>
        </p:nvSpPr>
        <p:spPr>
          <a:xfrm>
            <a:off x="723204" y="1793174"/>
            <a:ext cx="2054223" cy="276999"/>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450"/>
              </a:spcAft>
              <a:buClrTx/>
              <a:buSzTx/>
              <a:buFontTx/>
              <a:buNone/>
              <a:tabLst/>
              <a:defRPr/>
            </a:pPr>
            <a:r>
              <a:rPr kumimoji="0" lang="en-US" sz="1200" b="1" i="0" u="none" strike="noStrike" kern="1200" cap="none" spc="30" normalizeH="0" baseline="0" noProof="0" dirty="0" err="1">
                <a:ln>
                  <a:noFill/>
                </a:ln>
                <a:solidFill>
                  <a:srgbClr val="F0BE0F"/>
                </a:solidFill>
                <a:effectLst/>
                <a:uLnTx/>
                <a:uFillTx/>
                <a:latin typeface="Yekan Bakh" pitchFamily="2" charset="-78"/>
                <a:ea typeface="Yekan Bakh" pitchFamily="2" charset="-78"/>
                <a:cs typeface="Yekan Bakh" pitchFamily="2" charset="-78"/>
              </a:rPr>
              <a:t>پیام</a:t>
            </a:r>
            <a:r>
              <a:rPr kumimoji="0" lang="en-US" sz="12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 </a:t>
            </a:r>
            <a:r>
              <a:rPr kumimoji="0" lang="en-US" sz="1200" b="1" i="0" u="none" strike="noStrike" kern="1200" cap="none" spc="30" normalizeH="0" baseline="0" noProof="0" dirty="0" err="1">
                <a:ln>
                  <a:noFill/>
                </a:ln>
                <a:solidFill>
                  <a:srgbClr val="F0BE0F"/>
                </a:solidFill>
                <a:effectLst/>
                <a:uLnTx/>
                <a:uFillTx/>
                <a:latin typeface="Yekan Bakh" pitchFamily="2" charset="-78"/>
                <a:ea typeface="Yekan Bakh" pitchFamily="2" charset="-78"/>
                <a:cs typeface="Yekan Bakh" pitchFamily="2" charset="-78"/>
              </a:rPr>
              <a:t>استراتژیک</a:t>
            </a:r>
            <a:r>
              <a:rPr kumimoji="0" lang="en-US" sz="12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 </a:t>
            </a:r>
            <a:r>
              <a:rPr kumimoji="0" lang="en-US" sz="1200" b="1" i="0" u="none" strike="noStrike" kern="1200" cap="none" spc="30" normalizeH="0" baseline="0" noProof="0" dirty="0" err="1">
                <a:ln>
                  <a:noFill/>
                </a:ln>
                <a:solidFill>
                  <a:srgbClr val="F0BE0F"/>
                </a:solidFill>
                <a:effectLst/>
                <a:uLnTx/>
                <a:uFillTx/>
                <a:latin typeface="Yekan Bakh" pitchFamily="2" charset="-78"/>
                <a:ea typeface="Yekan Bakh" pitchFamily="2" charset="-78"/>
                <a:cs typeface="Yekan Bakh" pitchFamily="2" charset="-78"/>
              </a:rPr>
              <a:t>اصلی</a:t>
            </a:r>
            <a:endParaRPr kumimoji="0" lang="en-US" sz="12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p:txBody>
      </p:sp>
    </p:spTree>
    <p:extLst>
      <p:ext uri="{BB962C8B-B14F-4D97-AF65-F5344CB8AC3E}">
        <p14:creationId xmlns:p14="http://schemas.microsoft.com/office/powerpoint/2010/main" val="381702878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91C85-17C1-1C8C-2717-65A29A3A00BF}"/>
            </a:ext>
          </a:extLst>
        </p:cNvPr>
        <p:cNvGrpSpPr/>
        <p:nvPr/>
      </p:nvGrpSpPr>
      <p:grpSpPr>
        <a:xfrm>
          <a:off x="0" y="0"/>
          <a:ext cx="0" cy="0"/>
          <a:chOff x="0" y="0"/>
          <a:chExt cx="0" cy="0"/>
        </a:xfrm>
      </p:grpSpPr>
      <p:grpSp>
        <p:nvGrpSpPr>
          <p:cNvPr id="31" name="Group 30">
            <a:extLst>
              <a:ext uri="{FF2B5EF4-FFF2-40B4-BE49-F238E27FC236}">
                <a16:creationId xmlns:a16="http://schemas.microsoft.com/office/drawing/2014/main" id="{9CE74AD6-C946-4DBF-172D-5811F1471539}"/>
              </a:ext>
            </a:extLst>
          </p:cNvPr>
          <p:cNvGrpSpPr/>
          <p:nvPr/>
        </p:nvGrpSpPr>
        <p:grpSpPr>
          <a:xfrm>
            <a:off x="407773" y="1432559"/>
            <a:ext cx="4699486" cy="3718245"/>
            <a:chOff x="407773" y="2420387"/>
            <a:chExt cx="4699486" cy="3718245"/>
          </a:xfrm>
        </p:grpSpPr>
        <p:sp>
          <p:nvSpPr>
            <p:cNvPr id="9" name="TextBox 8">
              <a:extLst>
                <a:ext uri="{FF2B5EF4-FFF2-40B4-BE49-F238E27FC236}">
                  <a16:creationId xmlns:a16="http://schemas.microsoft.com/office/drawing/2014/main" id="{E2D67D08-A3FE-694F-49D6-E921642C1214}"/>
                </a:ext>
              </a:extLst>
            </p:cNvPr>
            <p:cNvSpPr txBox="1"/>
            <p:nvPr/>
          </p:nvSpPr>
          <p:spPr>
            <a:xfrm>
              <a:off x="593931" y="3311847"/>
              <a:ext cx="761426" cy="248914"/>
            </a:xfrm>
            <a:prstGeom prst="rect">
              <a:avLst/>
            </a:prstGeom>
            <a:noFill/>
          </p:spPr>
          <p:txBody>
            <a:bodyPr wrap="square" anchor="ctr">
              <a:spAutoFit/>
            </a:bodyPr>
            <a:lstStyle/>
            <a:p>
              <a:pPr marR="0" lvl="0" algn="ctr" defTabSz="914400" rtl="1" eaLnBrk="1" fontAlgn="auto" latinLnBrk="0" hangingPunct="1">
                <a:lnSpc>
                  <a:spcPct val="90000"/>
                </a:lnSpc>
                <a:spcBef>
                  <a:spcPts val="1117"/>
                </a:spcBef>
                <a:spcAft>
                  <a:spcPts val="0"/>
                </a:spcAft>
                <a:buClr>
                  <a:srgbClr val="F0BE0F"/>
                </a:buClr>
                <a:buSzTx/>
                <a:tabLst/>
                <a:defRPr/>
              </a:pPr>
              <a:r>
                <a:rPr kumimoji="0" lang="fa-IR" sz="1050" b="1" i="0" u="none" strike="noStrike" kern="1200" cap="none" spc="0" normalizeH="0" baseline="0" noProof="0" dirty="0">
                  <a:ln>
                    <a:noFill/>
                  </a:ln>
                  <a:solidFill>
                    <a:schemeClr val="bg1">
                      <a:lumMod val="50000"/>
                    </a:schemeClr>
                  </a:solidFill>
                  <a:effectLst/>
                  <a:uLnTx/>
                  <a:uFillTx/>
                  <a:latin typeface="Yekan Bakh" pitchFamily="2" charset="-78"/>
                  <a:ea typeface="Yekan Bakh" pitchFamily="2" charset="-78"/>
                  <a:cs typeface="Yekan Bakh" pitchFamily="2" charset="-78"/>
                </a:rPr>
                <a:t>اسلاید</a:t>
              </a:r>
              <a:endParaRPr kumimoji="0" lang="en-US" sz="1050" b="1" i="0" u="none" strike="noStrike" kern="1200" cap="none" spc="0" normalizeH="0" baseline="0" noProof="0" dirty="0">
                <a:ln>
                  <a:noFill/>
                </a:ln>
                <a:solidFill>
                  <a:schemeClr val="bg1">
                    <a:lumMod val="50000"/>
                  </a:schemeClr>
                </a:solidFill>
                <a:effectLst/>
                <a:uLnTx/>
                <a:uFillTx/>
                <a:latin typeface="Yekan Bakh" pitchFamily="2" charset="-78"/>
                <a:ea typeface="Yekan Bakh" pitchFamily="2" charset="-78"/>
                <a:cs typeface="Yekan Bakh" pitchFamily="2" charset="-78"/>
              </a:endParaRPr>
            </a:p>
          </p:txBody>
        </p:sp>
        <p:grpSp>
          <p:nvGrpSpPr>
            <p:cNvPr id="2" name="Group 1">
              <a:extLst>
                <a:ext uri="{FF2B5EF4-FFF2-40B4-BE49-F238E27FC236}">
                  <a16:creationId xmlns:a16="http://schemas.microsoft.com/office/drawing/2014/main" id="{242B7137-A8F3-C013-DA31-D2E15F24C20A}"/>
                </a:ext>
              </a:extLst>
            </p:cNvPr>
            <p:cNvGrpSpPr/>
            <p:nvPr/>
          </p:nvGrpSpPr>
          <p:grpSpPr>
            <a:xfrm>
              <a:off x="525137" y="3599596"/>
              <a:ext cx="4582122" cy="291618"/>
              <a:chOff x="525137" y="3840896"/>
              <a:chExt cx="4582122" cy="291618"/>
            </a:xfrm>
          </p:grpSpPr>
          <p:sp>
            <p:nvSpPr>
              <p:cNvPr id="13" name="TextBox 12">
                <a:extLst>
                  <a:ext uri="{FF2B5EF4-FFF2-40B4-BE49-F238E27FC236}">
                    <a16:creationId xmlns:a16="http://schemas.microsoft.com/office/drawing/2014/main" id="{65DDB4E8-B3B5-D286-C01B-7418AF85486D}"/>
                  </a:ext>
                </a:extLst>
              </p:cNvPr>
              <p:cNvSpPr txBox="1"/>
              <p:nvPr/>
            </p:nvSpPr>
            <p:spPr>
              <a:xfrm>
                <a:off x="1648542" y="3855130"/>
                <a:ext cx="3458717" cy="263149"/>
              </a:xfrm>
              <a:prstGeom prst="rect">
                <a:avLst/>
              </a:prstGeom>
              <a:noFill/>
            </p:spPr>
            <p:txBody>
              <a:bodyPr wrap="square" anchor="ctr">
                <a:spAutoFit/>
              </a:bodyPr>
              <a:lstStyle/>
              <a:p>
                <a:pPr marL="285750" marR="0" lvl="0" indent="-285750" algn="r" defTabSz="914400" rtl="1" eaLnBrk="1" fontAlgn="auto" latinLnBrk="0" hangingPunct="1">
                  <a:lnSpc>
                    <a:spcPct val="90000"/>
                  </a:lnSpc>
                  <a:spcBef>
                    <a:spcPts val="1117"/>
                  </a:spcBef>
                  <a:spcAft>
                    <a:spcPts val="0"/>
                  </a:spcAft>
                  <a:buClr>
                    <a:srgbClr val="F0BE0F"/>
                  </a:buClr>
                  <a:buSzTx/>
                  <a:buFont typeface="Arial" panose="020B0604020202020204" pitchFamily="34" charset="0"/>
                  <a:buChar char="•"/>
                  <a:tabLst/>
                  <a:defRPr/>
                </a:pPr>
                <a:r>
                  <a:rPr kumimoji="0" lang="fa-IR" sz="1200" i="0" u="none" strike="noStrike" kern="1200" cap="none" spc="0" normalizeH="0" baseline="0" noProof="0" dirty="0">
                    <a:ln>
                      <a:noFill/>
                    </a:ln>
                    <a:solidFill>
                      <a:schemeClr val="bg1">
                        <a:lumMod val="75000"/>
                      </a:schemeClr>
                    </a:solidFill>
                    <a:effectLst/>
                    <a:uLnTx/>
                    <a:uFillTx/>
                    <a:latin typeface="Yekan Bakh" pitchFamily="2" charset="-78"/>
                    <a:ea typeface="Yekan Bakh" pitchFamily="2" charset="-78"/>
                    <a:cs typeface="Yekan Bakh" pitchFamily="2" charset="-78"/>
                  </a:rPr>
                  <a:t>نمای کلی چشم‌انداز کارها</a:t>
                </a:r>
              </a:p>
            </p:txBody>
          </p:sp>
          <p:sp>
            <p:nvSpPr>
              <p:cNvPr id="15" name="TextBox 14">
                <a:extLst>
                  <a:ext uri="{FF2B5EF4-FFF2-40B4-BE49-F238E27FC236}">
                    <a16:creationId xmlns:a16="http://schemas.microsoft.com/office/drawing/2014/main" id="{33306671-F187-D0FF-78EF-1FEC4EFE6F8C}"/>
                  </a:ext>
                </a:extLst>
              </p:cNvPr>
              <p:cNvSpPr txBox="1"/>
              <p:nvPr/>
            </p:nvSpPr>
            <p:spPr>
              <a:xfrm>
                <a:off x="525137" y="3840896"/>
                <a:ext cx="899015" cy="291618"/>
              </a:xfrm>
              <a:prstGeom prst="rect">
                <a:avLst/>
              </a:prstGeom>
              <a:noFill/>
            </p:spPr>
            <p:txBody>
              <a:bodyPr wrap="square" anchor="ctr">
                <a:spAutoFit/>
              </a:bodyPr>
              <a:lstStyle/>
              <a:p>
                <a:pPr marR="0" lvl="0" algn="ctr" defTabSz="914400" eaLnBrk="1" fontAlgn="auto" latinLnBrk="0" hangingPunct="1">
                  <a:lnSpc>
                    <a:spcPct val="90000"/>
                  </a:lnSpc>
                  <a:spcBef>
                    <a:spcPts val="1117"/>
                  </a:spcBef>
                  <a:spcAft>
                    <a:spcPts val="0"/>
                  </a:spcAft>
                  <a:buClr>
                    <a:srgbClr val="F0BE0F"/>
                  </a:buClr>
                  <a:buSzTx/>
                  <a:tabLst/>
                  <a:defRPr/>
                </a:pPr>
                <a:r>
                  <a:rPr lang="fa-IR" sz="1400" b="1" dirty="0">
                    <a:solidFill>
                      <a:schemeClr val="accent2">
                        <a:lumMod val="60000"/>
                        <a:lumOff val="40000"/>
                      </a:schemeClr>
                    </a:solidFill>
                    <a:latin typeface="Yekan Bakh FaNum SmBoldSmCond" pitchFamily="2" charset="-78"/>
                    <a:ea typeface="Yekan Bakh FaNum SmBoldSmCond" pitchFamily="2" charset="-78"/>
                    <a:cs typeface="Yekan Bakh FaNum SmBoldSmCond" pitchFamily="2" charset="-78"/>
                  </a:rPr>
                  <a:t>۵۱</a:t>
                </a:r>
                <a:endParaRPr kumimoji="0" lang="en-US" sz="1400" b="1" i="0" u="none" strike="noStrike" kern="1200" cap="none" spc="0" normalizeH="0" baseline="0" noProof="0" dirty="0">
                  <a:ln>
                    <a:noFill/>
                  </a:ln>
                  <a:solidFill>
                    <a:schemeClr val="accent2">
                      <a:lumMod val="60000"/>
                      <a:lumOff val="40000"/>
                    </a:schemeClr>
                  </a:solidFill>
                  <a:effectLst/>
                  <a:uLnTx/>
                  <a:uFillTx/>
                  <a:latin typeface="Yekan Bakh FaNum SmBoldSmCond" pitchFamily="2" charset="-78"/>
                  <a:ea typeface="Yekan Bakh FaNum SmBoldSmCond" pitchFamily="2" charset="-78"/>
                  <a:cs typeface="Yekan Bakh FaNum SmBoldSmCond" pitchFamily="2" charset="-78"/>
                </a:endParaRPr>
              </a:p>
            </p:txBody>
          </p:sp>
        </p:grpSp>
        <p:sp>
          <p:nvSpPr>
            <p:cNvPr id="23" name="Title 1">
              <a:extLst>
                <a:ext uri="{FF2B5EF4-FFF2-40B4-BE49-F238E27FC236}">
                  <a16:creationId xmlns:a16="http://schemas.microsoft.com/office/drawing/2014/main" id="{AB7E6549-7B8A-EF57-D4F4-223675BD301B}"/>
                </a:ext>
              </a:extLst>
            </p:cNvPr>
            <p:cNvSpPr txBox="1">
              <a:spLocks/>
            </p:cNvSpPr>
            <p:nvPr/>
          </p:nvSpPr>
          <p:spPr>
            <a:xfrm>
              <a:off x="407773" y="2420387"/>
              <a:ext cx="4699486" cy="693069"/>
            </a:xfrm>
            <a:prstGeom prst="rect">
              <a:avLst/>
            </a:prstGeom>
          </p:spPr>
          <p:txBody>
            <a:bodyPr lIns="91440" tIns="45720" rIns="91440" bIns="45720" anchor="t"/>
            <a:lstStyle>
              <a:lvl1pPr algn="justLow" defTabSz="1021516" rtl="1" eaLnBrk="1" latinLnBrk="0" hangingPunct="1">
                <a:lnSpc>
                  <a:spcPct val="90000"/>
                </a:lnSpc>
                <a:spcBef>
                  <a:spcPct val="0"/>
                </a:spcBef>
                <a:buNone/>
                <a:defRPr sz="4500" b="1" kern="1200">
                  <a:solidFill>
                    <a:schemeClr val="tx1">
                      <a:lumMod val="75000"/>
                      <a:lumOff val="25000"/>
                    </a:schemeClr>
                  </a:solidFill>
                  <a:latin typeface="Shabnam Bold FD" panose="020B0603030804020204" pitchFamily="34" charset="-78"/>
                  <a:ea typeface="+mj-ea"/>
                  <a:cs typeface="Shabnam Bold FD" panose="020B0603030804020204" pitchFamily="34" charset="-78"/>
                </a:defRPr>
              </a:lvl1pPr>
            </a:lstStyle>
            <a:p>
              <a:pPr marL="0" marR="0" lvl="0" indent="0" algn="ctr" defTabSz="1021516" rtl="0" eaLnBrk="1" fontAlgn="auto" latinLnBrk="0" hangingPunct="1">
                <a:lnSpc>
                  <a:spcPct val="90000"/>
                </a:lnSpc>
                <a:spcBef>
                  <a:spcPct val="0"/>
                </a:spcBef>
                <a:spcAft>
                  <a:spcPts val="0"/>
                </a:spcAft>
                <a:buClrTx/>
                <a:buSzTx/>
                <a:buFontTx/>
                <a:buNone/>
                <a:tabLst/>
                <a:defRPr/>
              </a:pPr>
              <a:r>
                <a:rPr kumimoji="0" lang="fa-IR" sz="3200" b="1" i="0" strike="noStrike" kern="1200" cap="none" spc="0" normalizeH="0" baseline="0" noProof="0" dirty="0">
                  <a:ln>
                    <a:noFill/>
                  </a:ln>
                  <a:solidFill>
                    <a:sysClr val="window" lastClr="FFFFFF">
                      <a:lumMod val="75000"/>
                      <a:lumOff val="25000"/>
                    </a:sysClr>
                  </a:solidFill>
                  <a:effectLst/>
                  <a:uLnTx/>
                  <a:uFillTx/>
                  <a:latin typeface="Yekan Bakh" pitchFamily="2" charset="-78"/>
                  <a:ea typeface="Yekan Bakh" pitchFamily="2" charset="-78"/>
                  <a:cs typeface="Yekan Bakh" pitchFamily="2" charset="-78"/>
                </a:rPr>
                <a:t>---</a:t>
              </a:r>
            </a:p>
          </p:txBody>
        </p:sp>
        <p:cxnSp>
          <p:nvCxnSpPr>
            <p:cNvPr id="25" name="Straight Connector 24">
              <a:extLst>
                <a:ext uri="{FF2B5EF4-FFF2-40B4-BE49-F238E27FC236}">
                  <a16:creationId xmlns:a16="http://schemas.microsoft.com/office/drawing/2014/main" id="{CAC0C3E4-CC27-034A-419C-81E1A03C37C6}"/>
                </a:ext>
              </a:extLst>
            </p:cNvPr>
            <p:cNvCxnSpPr>
              <a:cxnSpLocks/>
            </p:cNvCxnSpPr>
            <p:nvPr/>
          </p:nvCxnSpPr>
          <p:spPr>
            <a:xfrm flipV="1">
              <a:off x="407773" y="3238596"/>
              <a:ext cx="4699486" cy="19385"/>
            </a:xfrm>
            <a:prstGeom prst="line">
              <a:avLst/>
            </a:prstGeom>
            <a:ln w="3175">
              <a:solidFill>
                <a:srgbClr val="F0BE0F">
                  <a:alpha val="74000"/>
                </a:srgbClr>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B67487F2-90F2-5C30-B26E-029E0326D7AC}"/>
                </a:ext>
              </a:extLst>
            </p:cNvPr>
            <p:cNvGrpSpPr/>
            <p:nvPr/>
          </p:nvGrpSpPr>
          <p:grpSpPr>
            <a:xfrm>
              <a:off x="525137" y="3920656"/>
              <a:ext cx="4582122" cy="291618"/>
              <a:chOff x="525137" y="3840896"/>
              <a:chExt cx="4582122" cy="291618"/>
            </a:xfrm>
          </p:grpSpPr>
          <p:sp>
            <p:nvSpPr>
              <p:cNvPr id="4" name="TextBox 3">
                <a:extLst>
                  <a:ext uri="{FF2B5EF4-FFF2-40B4-BE49-F238E27FC236}">
                    <a16:creationId xmlns:a16="http://schemas.microsoft.com/office/drawing/2014/main" id="{1B10BD67-E20B-F17E-F47D-2177AB87C8A7}"/>
                  </a:ext>
                </a:extLst>
              </p:cNvPr>
              <p:cNvSpPr txBox="1"/>
              <p:nvPr/>
            </p:nvSpPr>
            <p:spPr>
              <a:xfrm>
                <a:off x="1648542" y="3855130"/>
                <a:ext cx="3458717" cy="263149"/>
              </a:xfrm>
              <a:prstGeom prst="rect">
                <a:avLst/>
              </a:prstGeom>
              <a:noFill/>
            </p:spPr>
            <p:txBody>
              <a:bodyPr wrap="square" anchor="ctr">
                <a:spAutoFit/>
              </a:bodyPr>
              <a:lstStyle/>
              <a:p>
                <a:pPr marL="285750" marR="0" lvl="0" indent="-285750" algn="r" defTabSz="914400" rtl="1" eaLnBrk="1" fontAlgn="auto" latinLnBrk="0" hangingPunct="1">
                  <a:lnSpc>
                    <a:spcPct val="90000"/>
                  </a:lnSpc>
                  <a:spcBef>
                    <a:spcPts val="1117"/>
                  </a:spcBef>
                  <a:spcAft>
                    <a:spcPts val="0"/>
                  </a:spcAft>
                  <a:buClr>
                    <a:srgbClr val="F0BE0F"/>
                  </a:buClr>
                  <a:buSzTx/>
                  <a:buFont typeface="Arial" panose="020B0604020202020204" pitchFamily="34" charset="0"/>
                  <a:buChar char="•"/>
                  <a:tabLst/>
                  <a:defRPr/>
                </a:pPr>
                <a:r>
                  <a:rPr kumimoji="0" lang="fa-IR" sz="1200" i="0" u="none" strike="noStrike" kern="1200" cap="none" spc="0" normalizeH="0" baseline="0" noProof="0" dirty="0">
                    <a:ln>
                      <a:noFill/>
                    </a:ln>
                    <a:solidFill>
                      <a:schemeClr val="bg1">
                        <a:lumMod val="75000"/>
                      </a:schemeClr>
                    </a:solidFill>
                    <a:effectLst/>
                    <a:uLnTx/>
                    <a:uFillTx/>
                    <a:latin typeface="Yekan Bakh" pitchFamily="2" charset="-78"/>
                    <a:ea typeface="Yekan Bakh" pitchFamily="2" charset="-78"/>
                    <a:cs typeface="Yekan Bakh" pitchFamily="2" charset="-78"/>
                  </a:rPr>
                  <a:t>نقشه پرسوناها</a:t>
                </a:r>
              </a:p>
            </p:txBody>
          </p:sp>
          <p:sp>
            <p:nvSpPr>
              <p:cNvPr id="5" name="TextBox 4">
                <a:extLst>
                  <a:ext uri="{FF2B5EF4-FFF2-40B4-BE49-F238E27FC236}">
                    <a16:creationId xmlns:a16="http://schemas.microsoft.com/office/drawing/2014/main" id="{9995B903-2ACB-AD00-4649-2BD3785396EF}"/>
                  </a:ext>
                </a:extLst>
              </p:cNvPr>
              <p:cNvSpPr txBox="1"/>
              <p:nvPr/>
            </p:nvSpPr>
            <p:spPr>
              <a:xfrm>
                <a:off x="525137" y="3840896"/>
                <a:ext cx="899015" cy="291618"/>
              </a:xfrm>
              <a:prstGeom prst="rect">
                <a:avLst/>
              </a:prstGeom>
              <a:noFill/>
            </p:spPr>
            <p:txBody>
              <a:bodyPr wrap="square" anchor="ctr">
                <a:spAutoFit/>
              </a:bodyPr>
              <a:lstStyle/>
              <a:p>
                <a:pPr marR="0" lvl="0" algn="ctr" defTabSz="914400" eaLnBrk="1" fontAlgn="auto" latinLnBrk="0" hangingPunct="1">
                  <a:lnSpc>
                    <a:spcPct val="90000"/>
                  </a:lnSpc>
                  <a:spcBef>
                    <a:spcPts val="1117"/>
                  </a:spcBef>
                  <a:spcAft>
                    <a:spcPts val="0"/>
                  </a:spcAft>
                  <a:buClr>
                    <a:srgbClr val="F0BE0F"/>
                  </a:buClr>
                  <a:buSzTx/>
                  <a:tabLst/>
                  <a:defRPr/>
                </a:pPr>
                <a:r>
                  <a:rPr lang="fa-IR" sz="1400" b="1" dirty="0">
                    <a:solidFill>
                      <a:schemeClr val="accent2">
                        <a:lumMod val="60000"/>
                        <a:lumOff val="40000"/>
                      </a:schemeClr>
                    </a:solidFill>
                    <a:latin typeface="Yekan Bakh FaNum SmBoldSmCond" pitchFamily="2" charset="-78"/>
                    <a:ea typeface="Yekan Bakh FaNum SmBoldSmCond" pitchFamily="2" charset="-78"/>
                    <a:cs typeface="Yekan Bakh FaNum SmBoldSmCond" pitchFamily="2" charset="-78"/>
                  </a:rPr>
                  <a:t>۵۲-۵۷</a:t>
                </a:r>
                <a:endParaRPr kumimoji="0" lang="en-US" sz="1400" b="1" i="0" u="none" strike="noStrike" kern="1200" cap="none" spc="0" normalizeH="0" baseline="0" noProof="0" dirty="0">
                  <a:ln>
                    <a:noFill/>
                  </a:ln>
                  <a:solidFill>
                    <a:schemeClr val="accent2">
                      <a:lumMod val="60000"/>
                      <a:lumOff val="40000"/>
                    </a:schemeClr>
                  </a:solidFill>
                  <a:effectLst/>
                  <a:uLnTx/>
                  <a:uFillTx/>
                  <a:latin typeface="Yekan Bakh FaNum SmBoldSmCond" pitchFamily="2" charset="-78"/>
                  <a:ea typeface="Yekan Bakh FaNum SmBoldSmCond" pitchFamily="2" charset="-78"/>
                  <a:cs typeface="Yekan Bakh FaNum SmBoldSmCond" pitchFamily="2" charset="-78"/>
                </a:endParaRPr>
              </a:p>
            </p:txBody>
          </p:sp>
        </p:grpSp>
        <p:grpSp>
          <p:nvGrpSpPr>
            <p:cNvPr id="6" name="Group 5">
              <a:extLst>
                <a:ext uri="{FF2B5EF4-FFF2-40B4-BE49-F238E27FC236}">
                  <a16:creationId xmlns:a16="http://schemas.microsoft.com/office/drawing/2014/main" id="{71A2876C-5322-CE36-DE76-9B72C1BF6880}"/>
                </a:ext>
              </a:extLst>
            </p:cNvPr>
            <p:cNvGrpSpPr/>
            <p:nvPr/>
          </p:nvGrpSpPr>
          <p:grpSpPr>
            <a:xfrm>
              <a:off x="525137" y="4241716"/>
              <a:ext cx="4582122" cy="291618"/>
              <a:chOff x="525137" y="3840896"/>
              <a:chExt cx="4582122" cy="291618"/>
            </a:xfrm>
          </p:grpSpPr>
          <p:sp>
            <p:nvSpPr>
              <p:cNvPr id="7" name="TextBox 6">
                <a:extLst>
                  <a:ext uri="{FF2B5EF4-FFF2-40B4-BE49-F238E27FC236}">
                    <a16:creationId xmlns:a16="http://schemas.microsoft.com/office/drawing/2014/main" id="{DEA2C49D-E5F8-5D8D-DC8A-35DF97F477B8}"/>
                  </a:ext>
                </a:extLst>
              </p:cNvPr>
              <p:cNvSpPr txBox="1"/>
              <p:nvPr/>
            </p:nvSpPr>
            <p:spPr>
              <a:xfrm>
                <a:off x="1648542" y="3855130"/>
                <a:ext cx="3458717" cy="263149"/>
              </a:xfrm>
              <a:prstGeom prst="rect">
                <a:avLst/>
              </a:prstGeom>
              <a:noFill/>
            </p:spPr>
            <p:txBody>
              <a:bodyPr wrap="square" anchor="ctr">
                <a:spAutoFit/>
              </a:bodyPr>
              <a:lstStyle/>
              <a:p>
                <a:pPr marL="285750" marR="0" lvl="0" indent="-285750" algn="r" defTabSz="914400" rtl="1" eaLnBrk="1" fontAlgn="auto" latinLnBrk="0" hangingPunct="1">
                  <a:lnSpc>
                    <a:spcPct val="90000"/>
                  </a:lnSpc>
                  <a:spcBef>
                    <a:spcPts val="1117"/>
                  </a:spcBef>
                  <a:spcAft>
                    <a:spcPts val="0"/>
                  </a:spcAft>
                  <a:buClr>
                    <a:srgbClr val="F0BE0F"/>
                  </a:buClr>
                  <a:buSzTx/>
                  <a:buFont typeface="Arial" panose="020B0604020202020204" pitchFamily="34" charset="0"/>
                  <a:buChar char="•"/>
                  <a:tabLst/>
                  <a:defRPr/>
                </a:pPr>
                <a:r>
                  <a:rPr kumimoji="0" lang="fa-IR" sz="1200" i="0" u="none" strike="noStrike" kern="1200" cap="none" spc="0" normalizeH="0" baseline="0" noProof="0" dirty="0">
                    <a:ln>
                      <a:noFill/>
                    </a:ln>
                    <a:solidFill>
                      <a:schemeClr val="bg1">
                        <a:lumMod val="75000"/>
                      </a:schemeClr>
                    </a:solidFill>
                    <a:effectLst/>
                    <a:uLnTx/>
                    <a:uFillTx/>
                    <a:latin typeface="Yekan Bakh" pitchFamily="2" charset="-78"/>
                    <a:ea typeface="Yekan Bakh" pitchFamily="2" charset="-78"/>
                    <a:cs typeface="Yekan Bakh" pitchFamily="2" charset="-78"/>
                  </a:rPr>
                  <a:t>کارهای مشترک میان پرسوناها</a:t>
                </a:r>
              </a:p>
            </p:txBody>
          </p:sp>
          <p:sp>
            <p:nvSpPr>
              <p:cNvPr id="8" name="TextBox 7">
                <a:extLst>
                  <a:ext uri="{FF2B5EF4-FFF2-40B4-BE49-F238E27FC236}">
                    <a16:creationId xmlns:a16="http://schemas.microsoft.com/office/drawing/2014/main" id="{E0E92EE4-5FA5-2A23-F0F3-4B94C82E7EDE}"/>
                  </a:ext>
                </a:extLst>
              </p:cNvPr>
              <p:cNvSpPr txBox="1"/>
              <p:nvPr/>
            </p:nvSpPr>
            <p:spPr>
              <a:xfrm>
                <a:off x="525137" y="3840896"/>
                <a:ext cx="899015" cy="291618"/>
              </a:xfrm>
              <a:prstGeom prst="rect">
                <a:avLst/>
              </a:prstGeom>
              <a:noFill/>
            </p:spPr>
            <p:txBody>
              <a:bodyPr wrap="square" anchor="ctr">
                <a:spAutoFit/>
              </a:bodyPr>
              <a:lstStyle/>
              <a:p>
                <a:pPr marR="0" lvl="0" algn="ctr" defTabSz="914400" eaLnBrk="1" fontAlgn="auto" latinLnBrk="0" hangingPunct="1">
                  <a:lnSpc>
                    <a:spcPct val="90000"/>
                  </a:lnSpc>
                  <a:spcBef>
                    <a:spcPts val="1117"/>
                  </a:spcBef>
                  <a:spcAft>
                    <a:spcPts val="0"/>
                  </a:spcAft>
                  <a:buClr>
                    <a:srgbClr val="F0BE0F"/>
                  </a:buClr>
                  <a:buSzTx/>
                  <a:tabLst/>
                  <a:defRPr/>
                </a:pPr>
                <a:r>
                  <a:rPr lang="fa-IR" sz="1400" b="1" dirty="0">
                    <a:solidFill>
                      <a:schemeClr val="accent2">
                        <a:lumMod val="60000"/>
                        <a:lumOff val="40000"/>
                      </a:schemeClr>
                    </a:solidFill>
                    <a:latin typeface="Yekan Bakh FaNum SmBoldSmCond" pitchFamily="2" charset="-78"/>
                    <a:ea typeface="Yekan Bakh FaNum SmBoldSmCond" pitchFamily="2" charset="-78"/>
                    <a:cs typeface="Yekan Bakh FaNum SmBoldSmCond" pitchFamily="2" charset="-78"/>
                  </a:rPr>
                  <a:t>۵۸</a:t>
                </a:r>
                <a:endParaRPr kumimoji="0" lang="en-US" sz="1400" b="1" i="0" u="none" strike="noStrike" kern="1200" cap="none" spc="0" normalizeH="0" baseline="0" noProof="0" dirty="0">
                  <a:ln>
                    <a:noFill/>
                  </a:ln>
                  <a:solidFill>
                    <a:schemeClr val="accent2">
                      <a:lumMod val="60000"/>
                      <a:lumOff val="40000"/>
                    </a:schemeClr>
                  </a:solidFill>
                  <a:effectLst/>
                  <a:uLnTx/>
                  <a:uFillTx/>
                  <a:latin typeface="Yekan Bakh FaNum SmBoldSmCond" pitchFamily="2" charset="-78"/>
                  <a:ea typeface="Yekan Bakh FaNum SmBoldSmCond" pitchFamily="2" charset="-78"/>
                  <a:cs typeface="Yekan Bakh FaNum SmBoldSmCond" pitchFamily="2" charset="-78"/>
                </a:endParaRPr>
              </a:p>
            </p:txBody>
          </p:sp>
        </p:grpSp>
        <p:grpSp>
          <p:nvGrpSpPr>
            <p:cNvPr id="10" name="Group 9">
              <a:extLst>
                <a:ext uri="{FF2B5EF4-FFF2-40B4-BE49-F238E27FC236}">
                  <a16:creationId xmlns:a16="http://schemas.microsoft.com/office/drawing/2014/main" id="{F93EC9D1-4E3B-7FF9-0168-B1C2985765E7}"/>
                </a:ext>
              </a:extLst>
            </p:cNvPr>
            <p:cNvGrpSpPr/>
            <p:nvPr/>
          </p:nvGrpSpPr>
          <p:grpSpPr>
            <a:xfrm>
              <a:off x="525137" y="4562776"/>
              <a:ext cx="4582122" cy="291618"/>
              <a:chOff x="525137" y="3840896"/>
              <a:chExt cx="4582122" cy="291618"/>
            </a:xfrm>
          </p:grpSpPr>
          <p:sp>
            <p:nvSpPr>
              <p:cNvPr id="11" name="TextBox 10">
                <a:extLst>
                  <a:ext uri="{FF2B5EF4-FFF2-40B4-BE49-F238E27FC236}">
                    <a16:creationId xmlns:a16="http://schemas.microsoft.com/office/drawing/2014/main" id="{A2AEDF3F-780A-2470-2CFF-A1A885BA46DE}"/>
                  </a:ext>
                </a:extLst>
              </p:cNvPr>
              <p:cNvSpPr txBox="1"/>
              <p:nvPr/>
            </p:nvSpPr>
            <p:spPr>
              <a:xfrm>
                <a:off x="1648542" y="3855130"/>
                <a:ext cx="3458717" cy="263149"/>
              </a:xfrm>
              <a:prstGeom prst="rect">
                <a:avLst/>
              </a:prstGeom>
              <a:noFill/>
            </p:spPr>
            <p:txBody>
              <a:bodyPr wrap="square" anchor="ctr">
                <a:spAutoFit/>
              </a:bodyPr>
              <a:lstStyle/>
              <a:p>
                <a:pPr marL="285750" marR="0" lvl="0" indent="-285750" algn="r" defTabSz="914400" rtl="1" eaLnBrk="1" fontAlgn="auto" latinLnBrk="0" hangingPunct="1">
                  <a:lnSpc>
                    <a:spcPct val="90000"/>
                  </a:lnSpc>
                  <a:spcBef>
                    <a:spcPts val="1117"/>
                  </a:spcBef>
                  <a:spcAft>
                    <a:spcPts val="0"/>
                  </a:spcAft>
                  <a:buClr>
                    <a:srgbClr val="F0BE0F"/>
                  </a:buClr>
                  <a:buSzTx/>
                  <a:buFont typeface="Arial" panose="020B0604020202020204" pitchFamily="34" charset="0"/>
                  <a:buChar char="•"/>
                  <a:tabLst/>
                  <a:defRPr/>
                </a:pPr>
                <a:r>
                  <a:rPr kumimoji="0" lang="fa-IR" sz="1200" i="0" u="none" strike="noStrike" kern="1200" cap="none" spc="0" normalizeH="0" baseline="0" noProof="0" dirty="0">
                    <a:ln>
                      <a:noFill/>
                    </a:ln>
                    <a:solidFill>
                      <a:schemeClr val="bg1">
                        <a:lumMod val="75000"/>
                      </a:schemeClr>
                    </a:solidFill>
                    <a:effectLst/>
                    <a:uLnTx/>
                    <a:uFillTx/>
                    <a:latin typeface="Yekan Bakh" pitchFamily="2" charset="-78"/>
                    <a:ea typeface="Yekan Bakh" pitchFamily="2" charset="-78"/>
                    <a:cs typeface="Yekan Bakh" pitchFamily="2" charset="-78"/>
                  </a:rPr>
                  <a:t>تحلیل دردسرها</a:t>
                </a:r>
              </a:p>
            </p:txBody>
          </p:sp>
          <p:sp>
            <p:nvSpPr>
              <p:cNvPr id="12" name="TextBox 11">
                <a:extLst>
                  <a:ext uri="{FF2B5EF4-FFF2-40B4-BE49-F238E27FC236}">
                    <a16:creationId xmlns:a16="http://schemas.microsoft.com/office/drawing/2014/main" id="{59B9452F-556D-0AA3-18CF-85DA96D7F074}"/>
                  </a:ext>
                </a:extLst>
              </p:cNvPr>
              <p:cNvSpPr txBox="1"/>
              <p:nvPr/>
            </p:nvSpPr>
            <p:spPr>
              <a:xfrm>
                <a:off x="525137" y="3840896"/>
                <a:ext cx="899015" cy="291618"/>
              </a:xfrm>
              <a:prstGeom prst="rect">
                <a:avLst/>
              </a:prstGeom>
              <a:noFill/>
            </p:spPr>
            <p:txBody>
              <a:bodyPr wrap="square" anchor="ctr">
                <a:spAutoFit/>
              </a:bodyPr>
              <a:lstStyle/>
              <a:p>
                <a:pPr marR="0" lvl="0" algn="ctr" defTabSz="914400" eaLnBrk="1" fontAlgn="auto" latinLnBrk="0" hangingPunct="1">
                  <a:lnSpc>
                    <a:spcPct val="90000"/>
                  </a:lnSpc>
                  <a:spcBef>
                    <a:spcPts val="1117"/>
                  </a:spcBef>
                  <a:spcAft>
                    <a:spcPts val="0"/>
                  </a:spcAft>
                  <a:buClr>
                    <a:srgbClr val="F0BE0F"/>
                  </a:buClr>
                  <a:buSzTx/>
                  <a:tabLst/>
                  <a:defRPr/>
                </a:pPr>
                <a:r>
                  <a:rPr lang="fa-IR" sz="1400" b="1" dirty="0">
                    <a:solidFill>
                      <a:schemeClr val="accent2">
                        <a:lumMod val="60000"/>
                        <a:lumOff val="40000"/>
                      </a:schemeClr>
                    </a:solidFill>
                    <a:latin typeface="Yekan Bakh FaNum SmBoldSmCond" pitchFamily="2" charset="-78"/>
                    <a:ea typeface="Yekan Bakh FaNum SmBoldSmCond" pitchFamily="2" charset="-78"/>
                    <a:cs typeface="Yekan Bakh FaNum SmBoldSmCond" pitchFamily="2" charset="-78"/>
                  </a:rPr>
                  <a:t>۵۹</a:t>
                </a:r>
                <a:endParaRPr kumimoji="0" lang="en-US" sz="1400" b="1" i="0" u="none" strike="noStrike" kern="1200" cap="none" spc="0" normalizeH="0" baseline="0" noProof="0" dirty="0">
                  <a:ln>
                    <a:noFill/>
                  </a:ln>
                  <a:solidFill>
                    <a:schemeClr val="accent2">
                      <a:lumMod val="60000"/>
                      <a:lumOff val="40000"/>
                    </a:schemeClr>
                  </a:solidFill>
                  <a:effectLst/>
                  <a:uLnTx/>
                  <a:uFillTx/>
                  <a:latin typeface="Yekan Bakh FaNum SmBoldSmCond" pitchFamily="2" charset="-78"/>
                  <a:ea typeface="Yekan Bakh FaNum SmBoldSmCond" pitchFamily="2" charset="-78"/>
                  <a:cs typeface="Yekan Bakh FaNum SmBoldSmCond" pitchFamily="2" charset="-78"/>
                </a:endParaRPr>
              </a:p>
            </p:txBody>
          </p:sp>
        </p:grpSp>
        <p:grpSp>
          <p:nvGrpSpPr>
            <p:cNvPr id="14" name="Group 13">
              <a:extLst>
                <a:ext uri="{FF2B5EF4-FFF2-40B4-BE49-F238E27FC236}">
                  <a16:creationId xmlns:a16="http://schemas.microsoft.com/office/drawing/2014/main" id="{612D7D81-7A82-CE57-F0A8-FD242D0F2AE3}"/>
                </a:ext>
              </a:extLst>
            </p:cNvPr>
            <p:cNvGrpSpPr/>
            <p:nvPr/>
          </p:nvGrpSpPr>
          <p:grpSpPr>
            <a:xfrm>
              <a:off x="525137" y="4883836"/>
              <a:ext cx="4582122" cy="291618"/>
              <a:chOff x="525137" y="3840896"/>
              <a:chExt cx="4582122" cy="291618"/>
            </a:xfrm>
          </p:grpSpPr>
          <p:sp>
            <p:nvSpPr>
              <p:cNvPr id="16" name="TextBox 15">
                <a:extLst>
                  <a:ext uri="{FF2B5EF4-FFF2-40B4-BE49-F238E27FC236}">
                    <a16:creationId xmlns:a16="http://schemas.microsoft.com/office/drawing/2014/main" id="{20E9E8A1-89A2-EB6B-0EB7-381C844ED8E3}"/>
                  </a:ext>
                </a:extLst>
              </p:cNvPr>
              <p:cNvSpPr txBox="1"/>
              <p:nvPr/>
            </p:nvSpPr>
            <p:spPr>
              <a:xfrm>
                <a:off x="1648542" y="3855130"/>
                <a:ext cx="3458717" cy="263149"/>
              </a:xfrm>
              <a:prstGeom prst="rect">
                <a:avLst/>
              </a:prstGeom>
              <a:noFill/>
            </p:spPr>
            <p:txBody>
              <a:bodyPr wrap="square" anchor="ctr">
                <a:spAutoFit/>
              </a:bodyPr>
              <a:lstStyle/>
              <a:p>
                <a:pPr marL="285750" marR="0" lvl="0" indent="-285750" algn="r" defTabSz="914400" rtl="1" eaLnBrk="1" fontAlgn="auto" latinLnBrk="0" hangingPunct="1">
                  <a:lnSpc>
                    <a:spcPct val="90000"/>
                  </a:lnSpc>
                  <a:spcBef>
                    <a:spcPts val="1117"/>
                  </a:spcBef>
                  <a:spcAft>
                    <a:spcPts val="0"/>
                  </a:spcAft>
                  <a:buClr>
                    <a:srgbClr val="F0BE0F"/>
                  </a:buClr>
                  <a:buSzTx/>
                  <a:buFont typeface="Arial" panose="020B0604020202020204" pitchFamily="34" charset="0"/>
                  <a:buChar char="•"/>
                  <a:tabLst/>
                  <a:defRPr/>
                </a:pPr>
                <a:r>
                  <a:rPr kumimoji="0" lang="fa-IR" sz="1200" i="0" u="none" strike="noStrike" kern="1200" cap="none" spc="0" normalizeH="0" baseline="0" noProof="0" dirty="0">
                    <a:ln>
                      <a:noFill/>
                    </a:ln>
                    <a:solidFill>
                      <a:schemeClr val="bg1">
                        <a:lumMod val="75000"/>
                      </a:schemeClr>
                    </a:solidFill>
                    <a:effectLst/>
                    <a:uLnTx/>
                    <a:uFillTx/>
                    <a:latin typeface="Yekan Bakh" pitchFamily="2" charset="-78"/>
                    <a:ea typeface="Yekan Bakh" pitchFamily="2" charset="-78"/>
                    <a:cs typeface="Yekan Bakh" pitchFamily="2" charset="-78"/>
                  </a:rPr>
                  <a:t>تحلیل منافع</a:t>
                </a:r>
              </a:p>
            </p:txBody>
          </p:sp>
          <p:sp>
            <p:nvSpPr>
              <p:cNvPr id="17" name="TextBox 16">
                <a:extLst>
                  <a:ext uri="{FF2B5EF4-FFF2-40B4-BE49-F238E27FC236}">
                    <a16:creationId xmlns:a16="http://schemas.microsoft.com/office/drawing/2014/main" id="{FDDD62FD-3F64-A5B9-5CB0-AAAA8F540977}"/>
                  </a:ext>
                </a:extLst>
              </p:cNvPr>
              <p:cNvSpPr txBox="1"/>
              <p:nvPr/>
            </p:nvSpPr>
            <p:spPr>
              <a:xfrm>
                <a:off x="525137" y="3840896"/>
                <a:ext cx="899015" cy="291618"/>
              </a:xfrm>
              <a:prstGeom prst="rect">
                <a:avLst/>
              </a:prstGeom>
              <a:noFill/>
            </p:spPr>
            <p:txBody>
              <a:bodyPr wrap="square" anchor="ctr">
                <a:spAutoFit/>
              </a:bodyPr>
              <a:lstStyle/>
              <a:p>
                <a:pPr marR="0" lvl="0" algn="ctr" defTabSz="914400" eaLnBrk="1" fontAlgn="auto" latinLnBrk="0" hangingPunct="1">
                  <a:lnSpc>
                    <a:spcPct val="90000"/>
                  </a:lnSpc>
                  <a:spcBef>
                    <a:spcPts val="1117"/>
                  </a:spcBef>
                  <a:spcAft>
                    <a:spcPts val="0"/>
                  </a:spcAft>
                  <a:buClr>
                    <a:srgbClr val="F0BE0F"/>
                  </a:buClr>
                  <a:buSzTx/>
                  <a:tabLst/>
                  <a:defRPr/>
                </a:pPr>
                <a:r>
                  <a:rPr lang="fa-IR" sz="1400" b="1" dirty="0">
                    <a:solidFill>
                      <a:schemeClr val="accent2">
                        <a:lumMod val="60000"/>
                        <a:lumOff val="40000"/>
                      </a:schemeClr>
                    </a:solidFill>
                    <a:latin typeface="Yekan Bakh FaNum SmBoldSmCond" pitchFamily="2" charset="-78"/>
                    <a:ea typeface="Yekan Bakh FaNum SmBoldSmCond" pitchFamily="2" charset="-78"/>
                    <a:cs typeface="Yekan Bakh FaNum SmBoldSmCond" pitchFamily="2" charset="-78"/>
                  </a:rPr>
                  <a:t>۶۰</a:t>
                </a:r>
                <a:endParaRPr kumimoji="0" lang="en-US" sz="1400" b="1" i="0" u="none" strike="noStrike" kern="1200" cap="none" spc="0" normalizeH="0" baseline="0" noProof="0" dirty="0">
                  <a:ln>
                    <a:noFill/>
                  </a:ln>
                  <a:solidFill>
                    <a:schemeClr val="accent2">
                      <a:lumMod val="60000"/>
                      <a:lumOff val="40000"/>
                    </a:schemeClr>
                  </a:solidFill>
                  <a:effectLst/>
                  <a:uLnTx/>
                  <a:uFillTx/>
                  <a:latin typeface="Yekan Bakh FaNum SmBoldSmCond" pitchFamily="2" charset="-78"/>
                  <a:ea typeface="Yekan Bakh FaNum SmBoldSmCond" pitchFamily="2" charset="-78"/>
                  <a:cs typeface="Yekan Bakh FaNum SmBoldSmCond" pitchFamily="2" charset="-78"/>
                </a:endParaRPr>
              </a:p>
            </p:txBody>
          </p:sp>
        </p:grpSp>
        <p:grpSp>
          <p:nvGrpSpPr>
            <p:cNvPr id="18" name="Group 17">
              <a:extLst>
                <a:ext uri="{FF2B5EF4-FFF2-40B4-BE49-F238E27FC236}">
                  <a16:creationId xmlns:a16="http://schemas.microsoft.com/office/drawing/2014/main" id="{803A85D6-456E-F7DC-AD4F-32AC4CD1F007}"/>
                </a:ext>
              </a:extLst>
            </p:cNvPr>
            <p:cNvGrpSpPr/>
            <p:nvPr/>
          </p:nvGrpSpPr>
          <p:grpSpPr>
            <a:xfrm>
              <a:off x="525137" y="5204896"/>
              <a:ext cx="4582122" cy="291618"/>
              <a:chOff x="525137" y="3840896"/>
              <a:chExt cx="4582122" cy="291618"/>
            </a:xfrm>
          </p:grpSpPr>
          <p:sp>
            <p:nvSpPr>
              <p:cNvPr id="20" name="TextBox 19">
                <a:extLst>
                  <a:ext uri="{FF2B5EF4-FFF2-40B4-BE49-F238E27FC236}">
                    <a16:creationId xmlns:a16="http://schemas.microsoft.com/office/drawing/2014/main" id="{6FB5643E-8AA4-6669-18AD-D1271C5E7E9C}"/>
                  </a:ext>
                </a:extLst>
              </p:cNvPr>
              <p:cNvSpPr txBox="1"/>
              <p:nvPr/>
            </p:nvSpPr>
            <p:spPr>
              <a:xfrm>
                <a:off x="1648542" y="3855130"/>
                <a:ext cx="3458717" cy="263149"/>
              </a:xfrm>
              <a:prstGeom prst="rect">
                <a:avLst/>
              </a:prstGeom>
              <a:noFill/>
            </p:spPr>
            <p:txBody>
              <a:bodyPr wrap="square" anchor="ctr">
                <a:spAutoFit/>
              </a:bodyPr>
              <a:lstStyle/>
              <a:p>
                <a:pPr marL="285750" marR="0" lvl="0" indent="-285750" algn="r" defTabSz="914400" rtl="1" eaLnBrk="1" fontAlgn="auto" latinLnBrk="0" hangingPunct="1">
                  <a:lnSpc>
                    <a:spcPct val="90000"/>
                  </a:lnSpc>
                  <a:spcBef>
                    <a:spcPts val="1117"/>
                  </a:spcBef>
                  <a:spcAft>
                    <a:spcPts val="0"/>
                  </a:spcAft>
                  <a:buClr>
                    <a:srgbClr val="F0BE0F"/>
                  </a:buClr>
                  <a:buSzTx/>
                  <a:buFont typeface="Arial" panose="020B0604020202020204" pitchFamily="34" charset="0"/>
                  <a:buChar char="•"/>
                  <a:tabLst/>
                  <a:defRPr/>
                </a:pPr>
                <a:r>
                  <a:rPr kumimoji="0" lang="fa-IR" sz="1200" i="0" u="none" strike="noStrike" kern="1200" cap="none" spc="0" normalizeH="0" baseline="0" noProof="0" dirty="0">
                    <a:ln>
                      <a:noFill/>
                    </a:ln>
                    <a:solidFill>
                      <a:schemeClr val="bg1">
                        <a:lumMod val="75000"/>
                      </a:schemeClr>
                    </a:solidFill>
                    <a:effectLst/>
                    <a:uLnTx/>
                    <a:uFillTx/>
                    <a:latin typeface="Yekan Bakh" pitchFamily="2" charset="-78"/>
                    <a:ea typeface="Yekan Bakh" pitchFamily="2" charset="-78"/>
                    <a:cs typeface="Yekan Bakh" pitchFamily="2" charset="-78"/>
                  </a:rPr>
                  <a:t>ماتریس فرصت</a:t>
                </a:r>
              </a:p>
            </p:txBody>
          </p:sp>
          <p:sp>
            <p:nvSpPr>
              <p:cNvPr id="22" name="TextBox 21">
                <a:extLst>
                  <a:ext uri="{FF2B5EF4-FFF2-40B4-BE49-F238E27FC236}">
                    <a16:creationId xmlns:a16="http://schemas.microsoft.com/office/drawing/2014/main" id="{3E3CCA84-E0C7-7921-A4CE-0B3EC905C17A}"/>
                  </a:ext>
                </a:extLst>
              </p:cNvPr>
              <p:cNvSpPr txBox="1"/>
              <p:nvPr/>
            </p:nvSpPr>
            <p:spPr>
              <a:xfrm>
                <a:off x="525137" y="3840896"/>
                <a:ext cx="899015" cy="291618"/>
              </a:xfrm>
              <a:prstGeom prst="rect">
                <a:avLst/>
              </a:prstGeom>
              <a:noFill/>
            </p:spPr>
            <p:txBody>
              <a:bodyPr wrap="square" anchor="ctr">
                <a:spAutoFit/>
              </a:bodyPr>
              <a:lstStyle/>
              <a:p>
                <a:pPr marR="0" lvl="0" algn="ctr" defTabSz="914400" eaLnBrk="1" fontAlgn="auto" latinLnBrk="0" hangingPunct="1">
                  <a:lnSpc>
                    <a:spcPct val="90000"/>
                  </a:lnSpc>
                  <a:spcBef>
                    <a:spcPts val="1117"/>
                  </a:spcBef>
                  <a:spcAft>
                    <a:spcPts val="0"/>
                  </a:spcAft>
                  <a:buClr>
                    <a:srgbClr val="F0BE0F"/>
                  </a:buClr>
                  <a:buSzTx/>
                  <a:tabLst/>
                  <a:defRPr/>
                </a:pPr>
                <a:r>
                  <a:rPr lang="fa-IR" sz="1400" b="1" dirty="0">
                    <a:solidFill>
                      <a:schemeClr val="accent2">
                        <a:lumMod val="60000"/>
                        <a:lumOff val="40000"/>
                      </a:schemeClr>
                    </a:solidFill>
                    <a:latin typeface="Yekan Bakh FaNum SmBoldSmCond" pitchFamily="2" charset="-78"/>
                    <a:ea typeface="Yekan Bakh FaNum SmBoldSmCond" pitchFamily="2" charset="-78"/>
                    <a:cs typeface="Yekan Bakh FaNum SmBoldSmCond" pitchFamily="2" charset="-78"/>
                  </a:rPr>
                  <a:t>۶۱</a:t>
                </a:r>
                <a:endParaRPr kumimoji="0" lang="en-US" sz="1400" b="1" i="0" u="none" strike="noStrike" kern="1200" cap="none" spc="0" normalizeH="0" baseline="0" noProof="0" dirty="0">
                  <a:ln>
                    <a:noFill/>
                  </a:ln>
                  <a:solidFill>
                    <a:schemeClr val="accent2">
                      <a:lumMod val="60000"/>
                      <a:lumOff val="40000"/>
                    </a:schemeClr>
                  </a:solidFill>
                  <a:effectLst/>
                  <a:uLnTx/>
                  <a:uFillTx/>
                  <a:latin typeface="Yekan Bakh FaNum SmBoldSmCond" pitchFamily="2" charset="-78"/>
                  <a:ea typeface="Yekan Bakh FaNum SmBoldSmCond" pitchFamily="2" charset="-78"/>
                  <a:cs typeface="Yekan Bakh FaNum SmBoldSmCond" pitchFamily="2" charset="-78"/>
                </a:endParaRPr>
              </a:p>
            </p:txBody>
          </p:sp>
        </p:grpSp>
        <p:grpSp>
          <p:nvGrpSpPr>
            <p:cNvPr id="24" name="Group 23">
              <a:extLst>
                <a:ext uri="{FF2B5EF4-FFF2-40B4-BE49-F238E27FC236}">
                  <a16:creationId xmlns:a16="http://schemas.microsoft.com/office/drawing/2014/main" id="{2287E6B2-10C6-B27A-4F1D-E7FBE844AEB5}"/>
                </a:ext>
              </a:extLst>
            </p:cNvPr>
            <p:cNvGrpSpPr/>
            <p:nvPr/>
          </p:nvGrpSpPr>
          <p:grpSpPr>
            <a:xfrm>
              <a:off x="525137" y="5525956"/>
              <a:ext cx="4582122" cy="291618"/>
              <a:chOff x="525137" y="3840896"/>
              <a:chExt cx="4582122" cy="291618"/>
            </a:xfrm>
          </p:grpSpPr>
          <p:sp>
            <p:nvSpPr>
              <p:cNvPr id="26" name="TextBox 25">
                <a:extLst>
                  <a:ext uri="{FF2B5EF4-FFF2-40B4-BE49-F238E27FC236}">
                    <a16:creationId xmlns:a16="http://schemas.microsoft.com/office/drawing/2014/main" id="{75D0CA0D-473D-0BD1-4918-647048DE2CD5}"/>
                  </a:ext>
                </a:extLst>
              </p:cNvPr>
              <p:cNvSpPr txBox="1"/>
              <p:nvPr/>
            </p:nvSpPr>
            <p:spPr>
              <a:xfrm>
                <a:off x="1648542" y="3855130"/>
                <a:ext cx="3458717" cy="263149"/>
              </a:xfrm>
              <a:prstGeom prst="rect">
                <a:avLst/>
              </a:prstGeom>
              <a:noFill/>
            </p:spPr>
            <p:txBody>
              <a:bodyPr wrap="square" anchor="ctr">
                <a:spAutoFit/>
              </a:bodyPr>
              <a:lstStyle/>
              <a:p>
                <a:pPr marL="285750" marR="0" lvl="0" indent="-285750" algn="r" defTabSz="914400" rtl="1" eaLnBrk="1" fontAlgn="auto" latinLnBrk="0" hangingPunct="1">
                  <a:lnSpc>
                    <a:spcPct val="90000"/>
                  </a:lnSpc>
                  <a:spcBef>
                    <a:spcPts val="1117"/>
                  </a:spcBef>
                  <a:spcAft>
                    <a:spcPts val="0"/>
                  </a:spcAft>
                  <a:buClr>
                    <a:srgbClr val="F0BE0F"/>
                  </a:buClr>
                  <a:buSzTx/>
                  <a:buFont typeface="Arial" panose="020B0604020202020204" pitchFamily="34" charset="0"/>
                  <a:buChar char="•"/>
                  <a:tabLst/>
                  <a:defRPr/>
                </a:pPr>
                <a:r>
                  <a:rPr kumimoji="0" lang="fa-IR" sz="1200" i="0" u="none" strike="noStrike" kern="1200" cap="none" spc="0" normalizeH="0" baseline="0" noProof="0" dirty="0">
                    <a:ln>
                      <a:noFill/>
                    </a:ln>
                    <a:solidFill>
                      <a:schemeClr val="bg1">
                        <a:lumMod val="75000"/>
                      </a:schemeClr>
                    </a:solidFill>
                    <a:effectLst/>
                    <a:uLnTx/>
                    <a:uFillTx/>
                    <a:latin typeface="Yekan Bakh" pitchFamily="2" charset="-78"/>
                    <a:ea typeface="Yekan Bakh" pitchFamily="2" charset="-78"/>
                    <a:cs typeface="Yekan Bakh" pitchFamily="2" charset="-78"/>
                  </a:rPr>
                  <a:t>جمع‌بندی استراتژیک</a:t>
                </a:r>
              </a:p>
            </p:txBody>
          </p:sp>
          <p:sp>
            <p:nvSpPr>
              <p:cNvPr id="27" name="TextBox 26">
                <a:extLst>
                  <a:ext uri="{FF2B5EF4-FFF2-40B4-BE49-F238E27FC236}">
                    <a16:creationId xmlns:a16="http://schemas.microsoft.com/office/drawing/2014/main" id="{CE865252-FD57-CDF9-A727-61FE4781FE6C}"/>
                  </a:ext>
                </a:extLst>
              </p:cNvPr>
              <p:cNvSpPr txBox="1"/>
              <p:nvPr/>
            </p:nvSpPr>
            <p:spPr>
              <a:xfrm>
                <a:off x="525137" y="3840896"/>
                <a:ext cx="899015" cy="291618"/>
              </a:xfrm>
              <a:prstGeom prst="rect">
                <a:avLst/>
              </a:prstGeom>
              <a:noFill/>
            </p:spPr>
            <p:txBody>
              <a:bodyPr wrap="square" anchor="ctr">
                <a:spAutoFit/>
              </a:bodyPr>
              <a:lstStyle/>
              <a:p>
                <a:pPr marR="0" lvl="0" algn="ctr" defTabSz="914400" eaLnBrk="1" fontAlgn="auto" latinLnBrk="0" hangingPunct="1">
                  <a:lnSpc>
                    <a:spcPct val="90000"/>
                  </a:lnSpc>
                  <a:spcBef>
                    <a:spcPts val="1117"/>
                  </a:spcBef>
                  <a:spcAft>
                    <a:spcPts val="0"/>
                  </a:spcAft>
                  <a:buClr>
                    <a:srgbClr val="F0BE0F"/>
                  </a:buClr>
                  <a:buSzTx/>
                  <a:tabLst/>
                  <a:defRPr/>
                </a:pPr>
                <a:r>
                  <a:rPr lang="fa-IR" sz="1400" b="1" dirty="0">
                    <a:solidFill>
                      <a:schemeClr val="accent2">
                        <a:lumMod val="60000"/>
                        <a:lumOff val="40000"/>
                      </a:schemeClr>
                    </a:solidFill>
                    <a:latin typeface="Yekan Bakh FaNum SmBoldSmCond" pitchFamily="2" charset="-78"/>
                    <a:ea typeface="Yekan Bakh FaNum SmBoldSmCond" pitchFamily="2" charset="-78"/>
                    <a:cs typeface="Yekan Bakh FaNum SmBoldSmCond" pitchFamily="2" charset="-78"/>
                  </a:rPr>
                  <a:t>۶۲</a:t>
                </a:r>
                <a:endParaRPr kumimoji="0" lang="en-US" sz="1400" b="1" i="0" u="none" strike="noStrike" kern="1200" cap="none" spc="0" normalizeH="0" baseline="0" noProof="0" dirty="0">
                  <a:ln>
                    <a:noFill/>
                  </a:ln>
                  <a:solidFill>
                    <a:schemeClr val="accent2">
                      <a:lumMod val="60000"/>
                      <a:lumOff val="40000"/>
                    </a:schemeClr>
                  </a:solidFill>
                  <a:effectLst/>
                  <a:uLnTx/>
                  <a:uFillTx/>
                  <a:latin typeface="Yekan Bakh FaNum SmBoldSmCond" pitchFamily="2" charset="-78"/>
                  <a:ea typeface="Yekan Bakh FaNum SmBoldSmCond" pitchFamily="2" charset="-78"/>
                  <a:cs typeface="Yekan Bakh FaNum SmBoldSmCond" pitchFamily="2" charset="-78"/>
                </a:endParaRPr>
              </a:p>
            </p:txBody>
          </p:sp>
        </p:grpSp>
        <p:grpSp>
          <p:nvGrpSpPr>
            <p:cNvPr id="28" name="Group 27">
              <a:extLst>
                <a:ext uri="{FF2B5EF4-FFF2-40B4-BE49-F238E27FC236}">
                  <a16:creationId xmlns:a16="http://schemas.microsoft.com/office/drawing/2014/main" id="{ABC470DC-2A54-D9FA-6116-BBDF5BD2BC73}"/>
                </a:ext>
              </a:extLst>
            </p:cNvPr>
            <p:cNvGrpSpPr/>
            <p:nvPr/>
          </p:nvGrpSpPr>
          <p:grpSpPr>
            <a:xfrm>
              <a:off x="525137" y="5847014"/>
              <a:ext cx="4582122" cy="291618"/>
              <a:chOff x="525137" y="3840896"/>
              <a:chExt cx="4582122" cy="291618"/>
            </a:xfrm>
          </p:grpSpPr>
          <p:sp>
            <p:nvSpPr>
              <p:cNvPr id="29" name="TextBox 28">
                <a:extLst>
                  <a:ext uri="{FF2B5EF4-FFF2-40B4-BE49-F238E27FC236}">
                    <a16:creationId xmlns:a16="http://schemas.microsoft.com/office/drawing/2014/main" id="{97472641-ADC1-4C4E-E2A4-92AD370BEE4D}"/>
                  </a:ext>
                </a:extLst>
              </p:cNvPr>
              <p:cNvSpPr txBox="1"/>
              <p:nvPr/>
            </p:nvSpPr>
            <p:spPr>
              <a:xfrm>
                <a:off x="1648542" y="3855130"/>
                <a:ext cx="3458717" cy="263149"/>
              </a:xfrm>
              <a:prstGeom prst="rect">
                <a:avLst/>
              </a:prstGeom>
              <a:noFill/>
            </p:spPr>
            <p:txBody>
              <a:bodyPr wrap="square" anchor="ctr">
                <a:spAutoFit/>
              </a:bodyPr>
              <a:lstStyle/>
              <a:p>
                <a:pPr marL="285750" marR="0" lvl="0" indent="-285750" algn="r" defTabSz="914400" rtl="1" eaLnBrk="1" fontAlgn="auto" latinLnBrk="0" hangingPunct="1">
                  <a:lnSpc>
                    <a:spcPct val="90000"/>
                  </a:lnSpc>
                  <a:spcBef>
                    <a:spcPts val="1117"/>
                  </a:spcBef>
                  <a:spcAft>
                    <a:spcPts val="0"/>
                  </a:spcAft>
                  <a:buClr>
                    <a:srgbClr val="F0BE0F"/>
                  </a:buClr>
                  <a:buSzTx/>
                  <a:buFont typeface="Arial" panose="020B0604020202020204" pitchFamily="34" charset="0"/>
                  <a:buChar char="•"/>
                  <a:tabLst/>
                  <a:defRPr/>
                </a:pPr>
                <a:r>
                  <a:rPr kumimoji="0" lang="fa-IR" sz="1200" i="0" u="none" strike="noStrike" kern="1200" cap="none" spc="0" normalizeH="0" baseline="0" noProof="0" dirty="0">
                    <a:ln>
                      <a:noFill/>
                    </a:ln>
                    <a:solidFill>
                      <a:schemeClr val="bg1">
                        <a:lumMod val="75000"/>
                      </a:schemeClr>
                    </a:solidFill>
                    <a:effectLst/>
                    <a:uLnTx/>
                    <a:uFillTx/>
                    <a:latin typeface="Yekan Bakh" pitchFamily="2" charset="-78"/>
                    <a:ea typeface="Yekan Bakh" pitchFamily="2" charset="-78"/>
                    <a:cs typeface="Yekan Bakh" pitchFamily="2" charset="-78"/>
                  </a:rPr>
                  <a:t>منابع و شواهد</a:t>
                </a:r>
              </a:p>
            </p:txBody>
          </p:sp>
          <p:sp>
            <p:nvSpPr>
              <p:cNvPr id="30" name="TextBox 29">
                <a:extLst>
                  <a:ext uri="{FF2B5EF4-FFF2-40B4-BE49-F238E27FC236}">
                    <a16:creationId xmlns:a16="http://schemas.microsoft.com/office/drawing/2014/main" id="{2601D26D-BA41-2421-97CE-3F1D9E5B5E5C}"/>
                  </a:ext>
                </a:extLst>
              </p:cNvPr>
              <p:cNvSpPr txBox="1"/>
              <p:nvPr/>
            </p:nvSpPr>
            <p:spPr>
              <a:xfrm>
                <a:off x="525137" y="3840896"/>
                <a:ext cx="899015" cy="291618"/>
              </a:xfrm>
              <a:prstGeom prst="rect">
                <a:avLst/>
              </a:prstGeom>
              <a:noFill/>
            </p:spPr>
            <p:txBody>
              <a:bodyPr wrap="square" anchor="ctr">
                <a:spAutoFit/>
              </a:bodyPr>
              <a:lstStyle/>
              <a:p>
                <a:pPr marR="0" lvl="0" algn="ctr" defTabSz="914400" eaLnBrk="1" fontAlgn="auto" latinLnBrk="0" hangingPunct="1">
                  <a:lnSpc>
                    <a:spcPct val="90000"/>
                  </a:lnSpc>
                  <a:spcBef>
                    <a:spcPts val="1117"/>
                  </a:spcBef>
                  <a:spcAft>
                    <a:spcPts val="0"/>
                  </a:spcAft>
                  <a:buClr>
                    <a:srgbClr val="F0BE0F"/>
                  </a:buClr>
                  <a:buSzTx/>
                  <a:tabLst/>
                  <a:defRPr/>
                </a:pPr>
                <a:r>
                  <a:rPr lang="fa-IR" sz="1400" b="1" dirty="0">
                    <a:solidFill>
                      <a:schemeClr val="accent2">
                        <a:lumMod val="60000"/>
                        <a:lumOff val="40000"/>
                      </a:schemeClr>
                    </a:solidFill>
                    <a:latin typeface="Yekan Bakh FaNum SmBoldSmCond" pitchFamily="2" charset="-78"/>
                    <a:ea typeface="Yekan Bakh FaNum SmBoldSmCond" pitchFamily="2" charset="-78"/>
                    <a:cs typeface="Yekan Bakh FaNum SmBoldSmCond" pitchFamily="2" charset="-78"/>
                  </a:rPr>
                  <a:t>۶۳</a:t>
                </a:r>
                <a:endParaRPr kumimoji="0" lang="en-US" sz="1400" b="1" i="0" u="none" strike="noStrike" kern="1200" cap="none" spc="0" normalizeH="0" baseline="0" noProof="0" dirty="0">
                  <a:ln>
                    <a:noFill/>
                  </a:ln>
                  <a:solidFill>
                    <a:schemeClr val="accent2">
                      <a:lumMod val="60000"/>
                      <a:lumOff val="40000"/>
                    </a:schemeClr>
                  </a:solidFill>
                  <a:effectLst/>
                  <a:uLnTx/>
                  <a:uFillTx/>
                  <a:latin typeface="Yekan Bakh FaNum SmBoldSmCond" pitchFamily="2" charset="-78"/>
                  <a:ea typeface="Yekan Bakh FaNum SmBoldSmCond" pitchFamily="2" charset="-78"/>
                  <a:cs typeface="Yekan Bakh FaNum SmBoldSmCond" pitchFamily="2" charset="-78"/>
                </a:endParaRPr>
              </a:p>
            </p:txBody>
          </p:sp>
        </p:grpSp>
      </p:grpSp>
    </p:spTree>
    <p:extLst>
      <p:ext uri="{BB962C8B-B14F-4D97-AF65-F5344CB8AC3E}">
        <p14:creationId xmlns:p14="http://schemas.microsoft.com/office/powerpoint/2010/main" val="5830890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D3CDF0-D488-2882-7F08-FB94900849A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EB8F306-0727-0099-98E6-8934FC88FA87}"/>
              </a:ext>
            </a:extLst>
          </p:cNvPr>
          <p:cNvSpPr>
            <a:spLocks noGrp="1"/>
          </p:cNvSpPr>
          <p:nvPr>
            <p:ph type="body" sz="quarter" idx="10"/>
          </p:nvPr>
        </p:nvSpPr>
        <p:spPr/>
        <p:txBody>
          <a:bodyPr/>
          <a:lstStyle/>
          <a:p>
            <a:r>
              <a:rPr lang="fa-IR" dirty="0"/>
              <a:t>---</a:t>
            </a:r>
          </a:p>
        </p:txBody>
      </p:sp>
      <p:sp>
        <p:nvSpPr>
          <p:cNvPr id="3" name="Text Placeholder 2">
            <a:extLst>
              <a:ext uri="{FF2B5EF4-FFF2-40B4-BE49-F238E27FC236}">
                <a16:creationId xmlns:a16="http://schemas.microsoft.com/office/drawing/2014/main" id="{D88FD5C9-45BE-5D86-44B3-CB9DB94C928B}"/>
              </a:ext>
            </a:extLst>
          </p:cNvPr>
          <p:cNvSpPr>
            <a:spLocks noGrp="1"/>
          </p:cNvSpPr>
          <p:nvPr>
            <p:ph type="body" sz="quarter" idx="12"/>
          </p:nvPr>
        </p:nvSpPr>
        <p:spPr/>
        <p:txBody>
          <a:bodyPr/>
          <a:lstStyle/>
          <a:p>
            <a:r>
              <a:rPr lang="fa-IR" dirty="0"/>
              <a:t>نمای کلی چشم‌انداز کارها</a:t>
            </a:r>
          </a:p>
          <a:p>
            <a:r>
              <a:rPr lang="fa-IR" sz="1200" b="0" dirty="0">
                <a:solidFill>
                  <a:schemeClr val="tx1">
                    <a:lumMod val="50000"/>
                    <a:lumOff val="50000"/>
                  </a:schemeClr>
                </a:solidFill>
              </a:rPr>
              <a:t>پرسونا ← تعداد کار مستخرج ← دسته‌های غالب کار</a:t>
            </a:r>
          </a:p>
        </p:txBody>
      </p:sp>
      <p:grpSp>
        <p:nvGrpSpPr>
          <p:cNvPr id="5" name="Group 4">
            <a:extLst>
              <a:ext uri="{FF2B5EF4-FFF2-40B4-BE49-F238E27FC236}">
                <a16:creationId xmlns:a16="http://schemas.microsoft.com/office/drawing/2014/main" id="{87DB52D8-0C8E-70C1-A758-366AB7BC7854}"/>
              </a:ext>
            </a:extLst>
          </p:cNvPr>
          <p:cNvGrpSpPr/>
          <p:nvPr/>
        </p:nvGrpSpPr>
        <p:grpSpPr>
          <a:xfrm>
            <a:off x="823074" y="1978761"/>
            <a:ext cx="10200526" cy="3069258"/>
            <a:chOff x="823074" y="1508497"/>
            <a:chExt cx="10200526" cy="3069258"/>
          </a:xfrm>
        </p:grpSpPr>
        <p:grpSp>
          <p:nvGrpSpPr>
            <p:cNvPr id="17" name="Group 16">
              <a:extLst>
                <a:ext uri="{FF2B5EF4-FFF2-40B4-BE49-F238E27FC236}">
                  <a16:creationId xmlns:a16="http://schemas.microsoft.com/office/drawing/2014/main" id="{857A55F5-1B2E-C710-F919-A38DE81E2E7E}"/>
                </a:ext>
              </a:extLst>
            </p:cNvPr>
            <p:cNvGrpSpPr/>
            <p:nvPr/>
          </p:nvGrpSpPr>
          <p:grpSpPr>
            <a:xfrm>
              <a:off x="7785100" y="1508497"/>
              <a:ext cx="3238500" cy="1286074"/>
              <a:chOff x="7785100" y="1508497"/>
              <a:chExt cx="3238500" cy="1286074"/>
            </a:xfrm>
          </p:grpSpPr>
          <p:cxnSp>
            <p:nvCxnSpPr>
              <p:cNvPr id="147" name="Straight Connector 146">
                <a:extLst>
                  <a:ext uri="{FF2B5EF4-FFF2-40B4-BE49-F238E27FC236}">
                    <a16:creationId xmlns:a16="http://schemas.microsoft.com/office/drawing/2014/main" id="{0E734D1F-A8DF-D765-9347-9FA355F3BB24}"/>
                  </a:ext>
                </a:extLst>
              </p:cNvPr>
              <p:cNvCxnSpPr>
                <a:cxnSpLocks/>
              </p:cNvCxnSpPr>
              <p:nvPr/>
            </p:nvCxnSpPr>
            <p:spPr>
              <a:xfrm flipH="1">
                <a:off x="7785100" y="1790700"/>
                <a:ext cx="3238500" cy="0"/>
              </a:xfrm>
              <a:prstGeom prst="line">
                <a:avLst/>
              </a:prstGeom>
              <a:ln>
                <a:solidFill>
                  <a:srgbClr val="F0BE0F"/>
                </a:solidFill>
                <a:prstDash val="dash"/>
              </a:ln>
            </p:spPr>
            <p:style>
              <a:lnRef idx="1">
                <a:schemeClr val="accent1"/>
              </a:lnRef>
              <a:fillRef idx="0">
                <a:schemeClr val="accent1"/>
              </a:fillRef>
              <a:effectRef idx="0">
                <a:schemeClr val="accent1"/>
              </a:effectRef>
              <a:fontRef idx="minor">
                <a:schemeClr val="tx1"/>
              </a:fontRef>
            </p:style>
          </p:cxnSp>
          <p:sp>
            <p:nvSpPr>
              <p:cNvPr id="148" name="TextBox 147">
                <a:extLst>
                  <a:ext uri="{FF2B5EF4-FFF2-40B4-BE49-F238E27FC236}">
                    <a16:creationId xmlns:a16="http://schemas.microsoft.com/office/drawing/2014/main" id="{52C0EEDD-4967-F953-6303-8D30626B2365}"/>
                  </a:ext>
                </a:extLst>
              </p:cNvPr>
              <p:cNvSpPr txBox="1"/>
              <p:nvPr/>
            </p:nvSpPr>
            <p:spPr>
              <a:xfrm>
                <a:off x="9168093" y="1508497"/>
                <a:ext cx="1733550" cy="461665"/>
              </a:xfrm>
              <a:prstGeom prst="rect">
                <a:avLst/>
              </a:prstGeom>
              <a:solidFill>
                <a:schemeClr val="bg1"/>
              </a:solidFill>
            </p:spPr>
            <p:txBody>
              <a:bodyPr wrap="square">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2400" b="1" i="0" u="none" strike="noStrike" kern="1200" cap="none" spc="0" normalizeH="0" baseline="0" noProof="0" dirty="0">
                    <a:ln>
                      <a:noFill/>
                    </a:ln>
                    <a:solidFill>
                      <a:srgbClr val="444964"/>
                    </a:solidFill>
                    <a:effectLst/>
                    <a:uLnTx/>
                    <a:uFillTx/>
                    <a:latin typeface="Yekan Bakh" pitchFamily="2" charset="-78"/>
                    <a:ea typeface="Yekan Bakh" pitchFamily="2" charset="-78"/>
                    <a:cs typeface="Yekan Bakh" pitchFamily="2" charset="-78"/>
                  </a:rPr>
                  <a:t>۱</a:t>
                </a:r>
                <a:r>
                  <a:rPr kumimoji="0" lang="fa-IR" sz="1125" b="1" i="0" u="none" strike="noStrike" kern="1200" cap="none" spc="0" normalizeH="0" baseline="0" noProof="0" dirty="0">
                    <a:ln>
                      <a:noFill/>
                    </a:ln>
                    <a:solidFill>
                      <a:srgbClr val="444964"/>
                    </a:solidFill>
                    <a:effectLst/>
                    <a:uLnTx/>
                    <a:uFillTx/>
                    <a:latin typeface="Yekan Bakh" pitchFamily="2" charset="-78"/>
                    <a:ea typeface="Yekan Bakh" pitchFamily="2" charset="-78"/>
                    <a:cs typeface="Yekan Bakh" pitchFamily="2" charset="-78"/>
                  </a:rPr>
                  <a:t> </a:t>
                </a:r>
                <a:r>
                  <a:rPr kumimoji="0" lang="en-US" sz="1125" b="1" i="0" u="none" strike="noStrike" kern="1200" cap="none" spc="0" normalizeH="0" baseline="0" noProof="0" dirty="0" err="1">
                    <a:ln>
                      <a:noFill/>
                    </a:ln>
                    <a:solidFill>
                      <a:srgbClr val="444964"/>
                    </a:solidFill>
                    <a:effectLst/>
                    <a:uLnTx/>
                    <a:uFillTx/>
                    <a:latin typeface="Yekan Bakh" pitchFamily="2" charset="-78"/>
                    <a:ea typeface="Yekan Bakh" pitchFamily="2" charset="-78"/>
                    <a:cs typeface="Yekan Bakh" pitchFamily="2" charset="-78"/>
                  </a:rPr>
                  <a:t>کسب‌وکار</a:t>
                </a:r>
                <a:r>
                  <a:rPr kumimoji="0" lang="en-US" sz="1125" b="1" i="0" u="none" strike="noStrike" kern="1200" cap="none" spc="0" normalizeH="0" baseline="0" noProof="0" dirty="0">
                    <a:ln>
                      <a:noFill/>
                    </a:ln>
                    <a:solidFill>
                      <a:srgbClr val="444964"/>
                    </a:solidFill>
                    <a:effectLst/>
                    <a:uLnTx/>
                    <a:uFillTx/>
                    <a:latin typeface="Yekan Bakh" pitchFamily="2" charset="-78"/>
                    <a:ea typeface="Yekan Bakh" pitchFamily="2" charset="-78"/>
                    <a:cs typeface="Yekan Bakh" pitchFamily="2" charset="-78"/>
                  </a:rPr>
                  <a:t> </a:t>
                </a:r>
                <a:r>
                  <a:rPr kumimoji="0" lang="en-US" sz="1125" b="1" i="0" u="none" strike="noStrike" kern="1200" cap="none" spc="0" normalizeH="0" baseline="0" noProof="0" dirty="0" err="1">
                    <a:ln>
                      <a:noFill/>
                    </a:ln>
                    <a:solidFill>
                      <a:srgbClr val="444964"/>
                    </a:solidFill>
                    <a:effectLst/>
                    <a:uLnTx/>
                    <a:uFillTx/>
                    <a:latin typeface="Yekan Bakh" pitchFamily="2" charset="-78"/>
                    <a:ea typeface="Yekan Bakh" pitchFamily="2" charset="-78"/>
                    <a:cs typeface="Yekan Bakh" pitchFamily="2" charset="-78"/>
                  </a:rPr>
                  <a:t>تراز</a:t>
                </a:r>
                <a:r>
                  <a:rPr kumimoji="0" lang="en-US" sz="1125" b="1" i="0" u="none" strike="noStrike" kern="1200" cap="none" spc="0" normalizeH="0" baseline="0" noProof="0" dirty="0">
                    <a:ln>
                      <a:noFill/>
                    </a:ln>
                    <a:solidFill>
                      <a:srgbClr val="444964"/>
                    </a:solidFill>
                    <a:effectLst/>
                    <a:uLnTx/>
                    <a:uFillTx/>
                    <a:latin typeface="Yekan Bakh" pitchFamily="2" charset="-78"/>
                    <a:ea typeface="Yekan Bakh" pitchFamily="2" charset="-78"/>
                    <a:cs typeface="Yekan Bakh" pitchFamily="2" charset="-78"/>
                  </a:rPr>
                  <a:t> </a:t>
                </a:r>
                <a:r>
                  <a:rPr kumimoji="0" lang="en-US" sz="1125" b="1" i="0" u="none" strike="noStrike" kern="1200" cap="none" spc="0" normalizeH="0" baseline="0" noProof="0" dirty="0" err="1">
                    <a:ln>
                      <a:noFill/>
                    </a:ln>
                    <a:solidFill>
                      <a:srgbClr val="444964"/>
                    </a:solidFill>
                    <a:effectLst/>
                    <a:uLnTx/>
                    <a:uFillTx/>
                    <a:latin typeface="Yekan Bakh" pitchFamily="2" charset="-78"/>
                    <a:ea typeface="Yekan Bakh" pitchFamily="2" charset="-78"/>
                    <a:cs typeface="Yekan Bakh" pitchFamily="2" charset="-78"/>
                  </a:rPr>
                  <a:t>ایرانی</a:t>
                </a:r>
                <a:endParaRPr kumimoji="0" lang="en-GB" sz="1800" b="0" i="0" u="none" strike="noStrike" kern="1200" cap="none" spc="0" normalizeH="0" baseline="0" noProof="0" dirty="0">
                  <a:ln>
                    <a:noFill/>
                  </a:ln>
                  <a:solidFill>
                    <a:srgbClr val="444964"/>
                  </a:solidFill>
                  <a:effectLst/>
                  <a:uLnTx/>
                  <a:uFillTx/>
                  <a:latin typeface="Yekan Bakh" pitchFamily="2" charset="-78"/>
                  <a:ea typeface="Yekan Bakh" pitchFamily="2" charset="-78"/>
                  <a:cs typeface="Yekan Bakh" pitchFamily="2" charset="-78"/>
                </a:endParaRPr>
              </a:p>
            </p:txBody>
          </p:sp>
          <p:sp>
            <p:nvSpPr>
              <p:cNvPr id="149" name="Rectangle: Rounded Corners 148">
                <a:extLst>
                  <a:ext uri="{FF2B5EF4-FFF2-40B4-BE49-F238E27FC236}">
                    <a16:creationId xmlns:a16="http://schemas.microsoft.com/office/drawing/2014/main" id="{EB480ABB-51D5-8928-C5DD-980003E0BBD1}"/>
                  </a:ext>
                </a:extLst>
              </p:cNvPr>
              <p:cNvSpPr/>
              <p:nvPr/>
            </p:nvSpPr>
            <p:spPr>
              <a:xfrm>
                <a:off x="7785100" y="1900719"/>
                <a:ext cx="3238500" cy="893852"/>
              </a:xfrm>
              <a:prstGeom prst="roundRect">
                <a:avLst/>
              </a:prstGeom>
              <a:solidFill>
                <a:srgbClr val="F0BE0F">
                  <a:alpha val="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50" name="TextBox 149">
                <a:extLst>
                  <a:ext uri="{FF2B5EF4-FFF2-40B4-BE49-F238E27FC236}">
                    <a16:creationId xmlns:a16="http://schemas.microsoft.com/office/drawing/2014/main" id="{F4D642F9-590B-0F85-571B-82F2C1C8C92A}"/>
                  </a:ext>
                </a:extLst>
              </p:cNvPr>
              <p:cNvSpPr txBox="1"/>
              <p:nvPr/>
            </p:nvSpPr>
            <p:spPr>
              <a:xfrm>
                <a:off x="7928725" y="1993702"/>
                <a:ext cx="2951251" cy="707886"/>
              </a:xfrm>
              <a:prstGeom prst="rect">
                <a:avLst/>
              </a:prstGeom>
              <a:noFill/>
            </p:spPr>
            <p:txBody>
              <a:bodyPr wrap="square">
                <a:spAutoFit/>
              </a:bodyPr>
              <a:lstStyle/>
              <a:p>
                <a:pPr marL="171450" marR="0" lvl="0" indent="-171450" algn="r" defTabSz="457200" rtl="1" eaLnBrk="1" fontAlgn="auto" latinLnBrk="0" hangingPunct="1">
                  <a:lnSpc>
                    <a:spcPct val="100000"/>
                  </a:lnSpc>
                  <a:spcBef>
                    <a:spcPts val="0"/>
                  </a:spcBef>
                  <a:spcAft>
                    <a:spcPts val="0"/>
                  </a:spcAft>
                  <a:buClr>
                    <a:srgbClr val="F0BE0F"/>
                  </a:buClr>
                  <a:buSzTx/>
                  <a:buFont typeface="Arial" panose="020B0604020202020204" pitchFamily="34" charset="0"/>
                  <a:buChar char="•"/>
                  <a:tabLst/>
                  <a:defRPr/>
                </a:pPr>
                <a:r>
                  <a:rPr kumimoji="0" lang="fa-IR" sz="1000" b="0" i="0" u="none" strike="noStrike" kern="1200" cap="none" spc="0" normalizeH="0" baseline="0" noProof="0" dirty="0">
                    <a:ln>
                      <a:noFill/>
                    </a:ln>
                    <a:solidFill>
                      <a:srgbClr val="60688E"/>
                    </a:solidFill>
                    <a:effectLst/>
                    <a:uLnTx/>
                    <a:uFillTx/>
                    <a:latin typeface="Yekan Bakh" pitchFamily="2" charset="-78"/>
                    <a:ea typeface="Yekan Bakh" pitchFamily="2" charset="-78"/>
                    <a:cs typeface="Yekan Bakh" pitchFamily="2" charset="-78"/>
                  </a:rPr>
                  <a:t>راستی‌آزمایی طرف خارجی</a:t>
                </a:r>
              </a:p>
              <a:p>
                <a:pPr marL="171450" marR="0" lvl="0" indent="-171450" algn="r" defTabSz="457200" rtl="1" eaLnBrk="1" fontAlgn="auto" latinLnBrk="0" hangingPunct="1">
                  <a:lnSpc>
                    <a:spcPct val="100000"/>
                  </a:lnSpc>
                  <a:spcBef>
                    <a:spcPts val="0"/>
                  </a:spcBef>
                  <a:spcAft>
                    <a:spcPts val="0"/>
                  </a:spcAft>
                  <a:buClr>
                    <a:srgbClr val="F0BE0F"/>
                  </a:buClr>
                  <a:buSzTx/>
                  <a:buFont typeface="Arial" panose="020B0604020202020204" pitchFamily="34" charset="0"/>
                  <a:buChar char="•"/>
                  <a:tabLst/>
                  <a:defRPr/>
                </a:pPr>
                <a:r>
                  <a:rPr kumimoji="0" lang="fa-IR" sz="1000" b="0" i="0" u="none" strike="noStrike" kern="1200" cap="none" spc="0" normalizeH="0" baseline="0" noProof="0" dirty="0">
                    <a:ln>
                      <a:noFill/>
                    </a:ln>
                    <a:solidFill>
                      <a:srgbClr val="60688E"/>
                    </a:solidFill>
                    <a:effectLst/>
                    <a:uLnTx/>
                    <a:uFillTx/>
                    <a:latin typeface="Yekan Bakh" pitchFamily="2" charset="-78"/>
                    <a:ea typeface="Yekan Bakh" pitchFamily="2" charset="-78"/>
                    <a:cs typeface="Yekan Bakh" pitchFamily="2" charset="-78"/>
                  </a:rPr>
                  <a:t>اعتبار بین‌المللی</a:t>
                </a:r>
              </a:p>
              <a:p>
                <a:pPr marL="171450" marR="0" lvl="0" indent="-171450" algn="r" defTabSz="457200" rtl="1" eaLnBrk="1" fontAlgn="auto" latinLnBrk="0" hangingPunct="1">
                  <a:lnSpc>
                    <a:spcPct val="100000"/>
                  </a:lnSpc>
                  <a:spcBef>
                    <a:spcPts val="0"/>
                  </a:spcBef>
                  <a:spcAft>
                    <a:spcPts val="0"/>
                  </a:spcAft>
                  <a:buClr>
                    <a:srgbClr val="F0BE0F"/>
                  </a:buClr>
                  <a:buSzTx/>
                  <a:buFont typeface="Arial" panose="020B0604020202020204" pitchFamily="34" charset="0"/>
                  <a:buChar char="•"/>
                  <a:tabLst/>
                  <a:defRPr/>
                </a:pPr>
                <a:r>
                  <a:rPr kumimoji="0" lang="fa-IR" sz="1000" b="0" i="0" u="none" strike="noStrike" kern="1200" cap="none" spc="0" normalizeH="0" baseline="0" noProof="0" dirty="0">
                    <a:ln>
                      <a:noFill/>
                    </a:ln>
                    <a:solidFill>
                      <a:srgbClr val="60688E"/>
                    </a:solidFill>
                    <a:effectLst/>
                    <a:uLnTx/>
                    <a:uFillTx/>
                    <a:latin typeface="Yekan Bakh" pitchFamily="2" charset="-78"/>
                    <a:ea typeface="Yekan Bakh" pitchFamily="2" charset="-78"/>
                    <a:cs typeface="Yekan Bakh" pitchFamily="2" charset="-78"/>
                  </a:rPr>
                  <a:t>تأمین مالی توسعه</a:t>
                </a:r>
              </a:p>
              <a:p>
                <a:pPr marL="171450" marR="0" lvl="0" indent="-171450" algn="r" defTabSz="457200" rtl="1" eaLnBrk="1" fontAlgn="auto" latinLnBrk="0" hangingPunct="1">
                  <a:lnSpc>
                    <a:spcPct val="100000"/>
                  </a:lnSpc>
                  <a:spcBef>
                    <a:spcPts val="0"/>
                  </a:spcBef>
                  <a:spcAft>
                    <a:spcPts val="0"/>
                  </a:spcAft>
                  <a:buClr>
                    <a:srgbClr val="F0BE0F"/>
                  </a:buClr>
                  <a:buSzTx/>
                  <a:buFont typeface="Arial" panose="020B0604020202020204" pitchFamily="34" charset="0"/>
                  <a:buChar char="•"/>
                  <a:tabLst/>
                  <a:defRPr/>
                </a:pPr>
                <a:r>
                  <a:rPr kumimoji="0" lang="fa-IR" sz="1000" b="0" i="0" u="none" strike="noStrike" kern="1200" cap="none" spc="0" normalizeH="0" baseline="0" noProof="0" dirty="0">
                    <a:ln>
                      <a:noFill/>
                    </a:ln>
                    <a:solidFill>
                      <a:srgbClr val="60688E"/>
                    </a:solidFill>
                    <a:effectLst/>
                    <a:uLnTx/>
                    <a:uFillTx/>
                    <a:latin typeface="Yekan Bakh" pitchFamily="2" charset="-78"/>
                    <a:ea typeface="Yekan Bakh" pitchFamily="2" charset="-78"/>
                    <a:cs typeface="Yekan Bakh" pitchFamily="2" charset="-78"/>
                  </a:rPr>
                  <a:t>رشد از طریق ادغام</a:t>
                </a:r>
                <a:endParaRPr kumimoji="0" lang="en-GB" sz="1000" b="0" i="0" u="none" strike="noStrike" kern="1200" cap="none" spc="0" normalizeH="0" baseline="0" noProof="0" dirty="0">
                  <a:ln>
                    <a:noFill/>
                  </a:ln>
                  <a:solidFill>
                    <a:srgbClr val="60688E"/>
                  </a:solidFill>
                  <a:effectLst/>
                  <a:uLnTx/>
                  <a:uFillTx/>
                  <a:latin typeface="Yekan Bakh" pitchFamily="2" charset="-78"/>
                  <a:ea typeface="Yekan Bakh" pitchFamily="2" charset="-78"/>
                  <a:cs typeface="Yekan Bakh" pitchFamily="2" charset="-78"/>
                </a:endParaRPr>
              </a:p>
            </p:txBody>
          </p:sp>
          <p:sp>
            <p:nvSpPr>
              <p:cNvPr id="151" name="Rectangle: Rounded Corners 150">
                <a:extLst>
                  <a:ext uri="{FF2B5EF4-FFF2-40B4-BE49-F238E27FC236}">
                    <a16:creationId xmlns:a16="http://schemas.microsoft.com/office/drawing/2014/main" id="{7E5D4648-1104-A48D-89A1-4644C58A2A64}"/>
                  </a:ext>
                </a:extLst>
              </p:cNvPr>
              <p:cNvSpPr/>
              <p:nvPr/>
            </p:nvSpPr>
            <p:spPr>
              <a:xfrm>
                <a:off x="7785100" y="1690315"/>
                <a:ext cx="657546" cy="200769"/>
              </a:xfrm>
              <a:prstGeom prst="roundRect">
                <a:avLst>
                  <a:gd name="adj" fmla="val 50000"/>
                </a:avLst>
              </a:prstGeom>
              <a:solidFill>
                <a:srgbClr val="F0BE0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۱۲ کار</a:t>
                </a:r>
                <a:endParaRPr kumimoji="0" lang="en-GB" sz="11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grpSp>
        <p:grpSp>
          <p:nvGrpSpPr>
            <p:cNvPr id="6" name="Group 5">
              <a:extLst>
                <a:ext uri="{FF2B5EF4-FFF2-40B4-BE49-F238E27FC236}">
                  <a16:creationId xmlns:a16="http://schemas.microsoft.com/office/drawing/2014/main" id="{BAB5EABF-9EFA-11DE-77CD-0EEA972F4B71}"/>
                </a:ext>
              </a:extLst>
            </p:cNvPr>
            <p:cNvGrpSpPr/>
            <p:nvPr/>
          </p:nvGrpSpPr>
          <p:grpSpPr>
            <a:xfrm>
              <a:off x="4304087" y="1508497"/>
              <a:ext cx="3238500" cy="1286074"/>
              <a:chOff x="7785100" y="1508497"/>
              <a:chExt cx="3238500" cy="1286074"/>
            </a:xfrm>
          </p:grpSpPr>
          <p:cxnSp>
            <p:nvCxnSpPr>
              <p:cNvPr id="57" name="Straight Connector 56">
                <a:extLst>
                  <a:ext uri="{FF2B5EF4-FFF2-40B4-BE49-F238E27FC236}">
                    <a16:creationId xmlns:a16="http://schemas.microsoft.com/office/drawing/2014/main" id="{62108051-2EB8-0CE3-AEF9-98795E1A0AEE}"/>
                  </a:ext>
                </a:extLst>
              </p:cNvPr>
              <p:cNvCxnSpPr>
                <a:cxnSpLocks/>
              </p:cNvCxnSpPr>
              <p:nvPr/>
            </p:nvCxnSpPr>
            <p:spPr>
              <a:xfrm flipH="1">
                <a:off x="7785100" y="1790700"/>
                <a:ext cx="3238500" cy="0"/>
              </a:xfrm>
              <a:prstGeom prst="line">
                <a:avLst/>
              </a:prstGeom>
              <a:ln>
                <a:solidFill>
                  <a:srgbClr val="F0BE0F"/>
                </a:solidFill>
                <a:prstDash val="dash"/>
              </a:ln>
            </p:spPr>
            <p:style>
              <a:lnRef idx="1">
                <a:schemeClr val="accent1"/>
              </a:lnRef>
              <a:fillRef idx="0">
                <a:schemeClr val="accent1"/>
              </a:fillRef>
              <a:effectRef idx="0">
                <a:schemeClr val="accent1"/>
              </a:effectRef>
              <a:fontRef idx="minor">
                <a:schemeClr val="tx1"/>
              </a:fontRef>
            </p:style>
          </p:cxnSp>
          <p:sp>
            <p:nvSpPr>
              <p:cNvPr id="142" name="TextBox 141">
                <a:extLst>
                  <a:ext uri="{FF2B5EF4-FFF2-40B4-BE49-F238E27FC236}">
                    <a16:creationId xmlns:a16="http://schemas.microsoft.com/office/drawing/2014/main" id="{28D4F30E-951B-63D7-30C5-CAA3471D674E}"/>
                  </a:ext>
                </a:extLst>
              </p:cNvPr>
              <p:cNvSpPr txBox="1"/>
              <p:nvPr/>
            </p:nvSpPr>
            <p:spPr>
              <a:xfrm>
                <a:off x="9168093" y="1508497"/>
                <a:ext cx="1733550" cy="461665"/>
              </a:xfrm>
              <a:prstGeom prst="rect">
                <a:avLst/>
              </a:prstGeom>
              <a:solidFill>
                <a:schemeClr val="bg1"/>
              </a:solidFill>
            </p:spPr>
            <p:txBody>
              <a:bodyPr wrap="square">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2400" b="1" i="0" u="none" strike="noStrike" kern="1200" cap="none" spc="0" normalizeH="0" baseline="0" noProof="0" dirty="0">
                    <a:ln>
                      <a:noFill/>
                    </a:ln>
                    <a:solidFill>
                      <a:srgbClr val="444964"/>
                    </a:solidFill>
                    <a:effectLst/>
                    <a:uLnTx/>
                    <a:uFillTx/>
                    <a:latin typeface="Yekan Bakh" pitchFamily="2" charset="-78"/>
                    <a:ea typeface="Yekan Bakh" pitchFamily="2" charset="-78"/>
                    <a:cs typeface="Yekan Bakh" pitchFamily="2" charset="-78"/>
                  </a:rPr>
                  <a:t>۲</a:t>
                </a:r>
                <a:r>
                  <a:rPr kumimoji="0" lang="fa-IR" sz="1125" b="1" i="0" u="none" strike="noStrike" kern="1200" cap="none" spc="0" normalizeH="0" baseline="0" noProof="0" dirty="0">
                    <a:ln>
                      <a:noFill/>
                    </a:ln>
                    <a:solidFill>
                      <a:srgbClr val="444964"/>
                    </a:solidFill>
                    <a:effectLst/>
                    <a:uLnTx/>
                    <a:uFillTx/>
                    <a:latin typeface="Yekan Bakh" pitchFamily="2" charset="-78"/>
                    <a:ea typeface="Yekan Bakh" pitchFamily="2" charset="-78"/>
                    <a:cs typeface="Yekan Bakh" pitchFamily="2" charset="-78"/>
                  </a:rPr>
                  <a:t> کسب‌وکار تراز خارجی</a:t>
                </a:r>
                <a:endParaRPr kumimoji="0" lang="en-GB" sz="1800" b="0" i="0" u="none" strike="noStrike" kern="1200" cap="none" spc="0" normalizeH="0" baseline="0" noProof="0" dirty="0">
                  <a:ln>
                    <a:noFill/>
                  </a:ln>
                  <a:solidFill>
                    <a:srgbClr val="444964"/>
                  </a:solidFill>
                  <a:effectLst/>
                  <a:uLnTx/>
                  <a:uFillTx/>
                  <a:latin typeface="Yekan Bakh" pitchFamily="2" charset="-78"/>
                  <a:ea typeface="Yekan Bakh" pitchFamily="2" charset="-78"/>
                  <a:cs typeface="Yekan Bakh" pitchFamily="2" charset="-78"/>
                </a:endParaRPr>
              </a:p>
            </p:txBody>
          </p:sp>
          <p:sp>
            <p:nvSpPr>
              <p:cNvPr id="144" name="Rectangle: Rounded Corners 143">
                <a:extLst>
                  <a:ext uri="{FF2B5EF4-FFF2-40B4-BE49-F238E27FC236}">
                    <a16:creationId xmlns:a16="http://schemas.microsoft.com/office/drawing/2014/main" id="{210AA131-C7B2-12A3-5E51-62EE80F05DFC}"/>
                  </a:ext>
                </a:extLst>
              </p:cNvPr>
              <p:cNvSpPr/>
              <p:nvPr/>
            </p:nvSpPr>
            <p:spPr>
              <a:xfrm>
                <a:off x="7785100" y="1900719"/>
                <a:ext cx="3238500" cy="893852"/>
              </a:xfrm>
              <a:prstGeom prst="roundRect">
                <a:avLst/>
              </a:prstGeom>
              <a:solidFill>
                <a:srgbClr val="F0BE0F">
                  <a:alpha val="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45" name="TextBox 144">
                <a:extLst>
                  <a:ext uri="{FF2B5EF4-FFF2-40B4-BE49-F238E27FC236}">
                    <a16:creationId xmlns:a16="http://schemas.microsoft.com/office/drawing/2014/main" id="{675542A8-17F9-060C-922C-26E6D9D1EA64}"/>
                  </a:ext>
                </a:extLst>
              </p:cNvPr>
              <p:cNvSpPr txBox="1"/>
              <p:nvPr/>
            </p:nvSpPr>
            <p:spPr>
              <a:xfrm>
                <a:off x="7928725" y="1993702"/>
                <a:ext cx="2951251" cy="707886"/>
              </a:xfrm>
              <a:prstGeom prst="rect">
                <a:avLst/>
              </a:prstGeom>
              <a:noFill/>
            </p:spPr>
            <p:txBody>
              <a:bodyPr wrap="square">
                <a:spAutoFit/>
              </a:bodyPr>
              <a:lstStyle/>
              <a:p>
                <a:pPr marL="171450" marR="0" lvl="0" indent="-171450" algn="r" defTabSz="457200" rtl="1" eaLnBrk="1" fontAlgn="auto" latinLnBrk="0" hangingPunct="1">
                  <a:lnSpc>
                    <a:spcPct val="100000"/>
                  </a:lnSpc>
                  <a:spcBef>
                    <a:spcPts val="0"/>
                  </a:spcBef>
                  <a:spcAft>
                    <a:spcPts val="0"/>
                  </a:spcAft>
                  <a:buClr>
                    <a:srgbClr val="F0BE0F"/>
                  </a:buClr>
                  <a:buSzTx/>
                  <a:buFont typeface="Arial" panose="020B0604020202020204" pitchFamily="34" charset="0"/>
                  <a:buChar char="•"/>
                  <a:tabLst/>
                  <a:defRPr/>
                </a:pPr>
                <a:r>
                  <a:rPr kumimoji="0" lang="fa-IR" sz="1000" b="0" i="0" u="none" strike="noStrike" kern="1200" cap="none" spc="0" normalizeH="0" baseline="0" noProof="0" dirty="0">
                    <a:ln>
                      <a:noFill/>
                    </a:ln>
                    <a:solidFill>
                      <a:srgbClr val="60688E"/>
                    </a:solidFill>
                    <a:effectLst/>
                    <a:uLnTx/>
                    <a:uFillTx/>
                    <a:latin typeface="Yekan Bakh" pitchFamily="2" charset="-78"/>
                    <a:ea typeface="Yekan Bakh" pitchFamily="2" charset="-78"/>
                    <a:cs typeface="Yekan Bakh" pitchFamily="2" charset="-78"/>
                  </a:rPr>
                  <a:t>اطمینان از تراکنش مالی</a:t>
                </a:r>
              </a:p>
              <a:p>
                <a:pPr marL="171450" marR="0" lvl="0" indent="-171450" algn="r" defTabSz="457200" rtl="1" eaLnBrk="1" fontAlgn="auto" latinLnBrk="0" hangingPunct="1">
                  <a:lnSpc>
                    <a:spcPct val="100000"/>
                  </a:lnSpc>
                  <a:spcBef>
                    <a:spcPts val="0"/>
                  </a:spcBef>
                  <a:spcAft>
                    <a:spcPts val="0"/>
                  </a:spcAft>
                  <a:buClr>
                    <a:srgbClr val="F0BE0F"/>
                  </a:buClr>
                  <a:buSzTx/>
                  <a:buFont typeface="Arial" panose="020B0604020202020204" pitchFamily="34" charset="0"/>
                  <a:buChar char="•"/>
                  <a:tabLst/>
                  <a:defRPr/>
                </a:pPr>
                <a:r>
                  <a:rPr kumimoji="0" lang="fa-IR" sz="1000" b="0" i="0" u="none" strike="noStrike" kern="1200" cap="none" spc="0" normalizeH="0" baseline="0" noProof="0" dirty="0">
                    <a:ln>
                      <a:noFill/>
                    </a:ln>
                    <a:solidFill>
                      <a:srgbClr val="60688E"/>
                    </a:solidFill>
                    <a:effectLst/>
                    <a:uLnTx/>
                    <a:uFillTx/>
                    <a:latin typeface="Yekan Bakh" pitchFamily="2" charset="-78"/>
                    <a:ea typeface="Yekan Bakh" pitchFamily="2" charset="-78"/>
                    <a:cs typeface="Yekan Bakh" pitchFamily="2" charset="-78"/>
                  </a:rPr>
                  <a:t>مدیریت ریسک قانونی/شخصی</a:t>
                </a:r>
              </a:p>
              <a:p>
                <a:pPr marL="171450" marR="0" lvl="0" indent="-171450" algn="r" defTabSz="457200" rtl="1" eaLnBrk="1" fontAlgn="auto" latinLnBrk="0" hangingPunct="1">
                  <a:lnSpc>
                    <a:spcPct val="100000"/>
                  </a:lnSpc>
                  <a:spcBef>
                    <a:spcPts val="0"/>
                  </a:spcBef>
                  <a:spcAft>
                    <a:spcPts val="0"/>
                  </a:spcAft>
                  <a:buClr>
                    <a:srgbClr val="F0BE0F"/>
                  </a:buClr>
                  <a:buSzTx/>
                  <a:buFont typeface="Arial" panose="020B0604020202020204" pitchFamily="34" charset="0"/>
                  <a:buChar char="•"/>
                  <a:tabLst/>
                  <a:defRPr/>
                </a:pPr>
                <a:r>
                  <a:rPr kumimoji="0" lang="fa-IR" sz="1000" b="0" i="0" u="none" strike="noStrike" kern="1200" cap="none" spc="0" normalizeH="0" baseline="0" noProof="0" dirty="0">
                    <a:ln>
                      <a:noFill/>
                    </a:ln>
                    <a:solidFill>
                      <a:srgbClr val="60688E"/>
                    </a:solidFill>
                    <a:effectLst/>
                    <a:uLnTx/>
                    <a:uFillTx/>
                    <a:latin typeface="Yekan Bakh" pitchFamily="2" charset="-78"/>
                    <a:ea typeface="Yekan Bakh" pitchFamily="2" charset="-78"/>
                    <a:cs typeface="Yekan Bakh" pitchFamily="2" charset="-78"/>
                  </a:rPr>
                  <a:t>یافتن شریک محلی</a:t>
                </a:r>
              </a:p>
              <a:p>
                <a:pPr marL="171450" marR="0" lvl="0" indent="-171450" algn="r" defTabSz="457200" rtl="1" eaLnBrk="1" fontAlgn="auto" latinLnBrk="0" hangingPunct="1">
                  <a:lnSpc>
                    <a:spcPct val="100000"/>
                  </a:lnSpc>
                  <a:spcBef>
                    <a:spcPts val="0"/>
                  </a:spcBef>
                  <a:spcAft>
                    <a:spcPts val="0"/>
                  </a:spcAft>
                  <a:buClr>
                    <a:srgbClr val="F0BE0F"/>
                  </a:buClr>
                  <a:buSzTx/>
                  <a:buFont typeface="Arial" panose="020B0604020202020204" pitchFamily="34" charset="0"/>
                  <a:buChar char="•"/>
                  <a:tabLst/>
                  <a:defRPr/>
                </a:pPr>
                <a:r>
                  <a:rPr kumimoji="0" lang="fa-IR" sz="1000" b="0" i="0" u="none" strike="noStrike" kern="1200" cap="none" spc="0" normalizeH="0" baseline="0" noProof="0" dirty="0">
                    <a:ln>
                      <a:noFill/>
                    </a:ln>
                    <a:solidFill>
                      <a:srgbClr val="60688E"/>
                    </a:solidFill>
                    <a:effectLst/>
                    <a:uLnTx/>
                    <a:uFillTx/>
                    <a:latin typeface="Yekan Bakh" pitchFamily="2" charset="-78"/>
                    <a:ea typeface="Yekan Bakh" pitchFamily="2" charset="-78"/>
                    <a:cs typeface="Yekan Bakh" pitchFamily="2" charset="-78"/>
                  </a:rPr>
                  <a:t>پایش از راه دور</a:t>
                </a:r>
                <a:endParaRPr kumimoji="0" lang="en-GB" sz="1000" b="0" i="0" u="none" strike="noStrike" kern="1200" cap="none" spc="0" normalizeH="0" baseline="0" noProof="0" dirty="0">
                  <a:ln>
                    <a:noFill/>
                  </a:ln>
                  <a:solidFill>
                    <a:srgbClr val="60688E"/>
                  </a:solidFill>
                  <a:effectLst/>
                  <a:uLnTx/>
                  <a:uFillTx/>
                  <a:latin typeface="Yekan Bakh" pitchFamily="2" charset="-78"/>
                  <a:ea typeface="Yekan Bakh" pitchFamily="2" charset="-78"/>
                  <a:cs typeface="Yekan Bakh" pitchFamily="2" charset="-78"/>
                </a:endParaRPr>
              </a:p>
            </p:txBody>
          </p:sp>
          <p:sp>
            <p:nvSpPr>
              <p:cNvPr id="146" name="Rectangle: Rounded Corners 145">
                <a:extLst>
                  <a:ext uri="{FF2B5EF4-FFF2-40B4-BE49-F238E27FC236}">
                    <a16:creationId xmlns:a16="http://schemas.microsoft.com/office/drawing/2014/main" id="{4B1EAC04-26DE-1BBC-C58F-A1CC11F35DFC}"/>
                  </a:ext>
                </a:extLst>
              </p:cNvPr>
              <p:cNvSpPr/>
              <p:nvPr/>
            </p:nvSpPr>
            <p:spPr>
              <a:xfrm>
                <a:off x="7785100" y="1690315"/>
                <a:ext cx="657546" cy="200769"/>
              </a:xfrm>
              <a:prstGeom prst="roundRect">
                <a:avLst>
                  <a:gd name="adj" fmla="val 50000"/>
                </a:avLst>
              </a:prstGeom>
              <a:solidFill>
                <a:srgbClr val="F0BE0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۱۲ کار</a:t>
                </a:r>
                <a:endParaRPr kumimoji="0" lang="en-GB" sz="11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grpSp>
        <p:grpSp>
          <p:nvGrpSpPr>
            <p:cNvPr id="7" name="Group 6">
              <a:extLst>
                <a:ext uri="{FF2B5EF4-FFF2-40B4-BE49-F238E27FC236}">
                  <a16:creationId xmlns:a16="http://schemas.microsoft.com/office/drawing/2014/main" id="{2092A2FD-793D-522F-D873-A9B1BA83169D}"/>
                </a:ext>
              </a:extLst>
            </p:cNvPr>
            <p:cNvGrpSpPr/>
            <p:nvPr/>
          </p:nvGrpSpPr>
          <p:grpSpPr>
            <a:xfrm>
              <a:off x="823074" y="1508497"/>
              <a:ext cx="3238500" cy="1286074"/>
              <a:chOff x="7785100" y="1508497"/>
              <a:chExt cx="3238500" cy="1286074"/>
            </a:xfrm>
          </p:grpSpPr>
          <p:cxnSp>
            <p:nvCxnSpPr>
              <p:cNvPr id="52" name="Straight Connector 51">
                <a:extLst>
                  <a:ext uri="{FF2B5EF4-FFF2-40B4-BE49-F238E27FC236}">
                    <a16:creationId xmlns:a16="http://schemas.microsoft.com/office/drawing/2014/main" id="{8E84E166-A6BA-EE53-8BE1-C8F39CF0267B}"/>
                  </a:ext>
                </a:extLst>
              </p:cNvPr>
              <p:cNvCxnSpPr>
                <a:cxnSpLocks/>
              </p:cNvCxnSpPr>
              <p:nvPr/>
            </p:nvCxnSpPr>
            <p:spPr>
              <a:xfrm flipH="1">
                <a:off x="7785100" y="1790700"/>
                <a:ext cx="3238500" cy="0"/>
              </a:xfrm>
              <a:prstGeom prst="line">
                <a:avLst/>
              </a:prstGeom>
              <a:ln>
                <a:solidFill>
                  <a:srgbClr val="F0BE0F"/>
                </a:solidFill>
                <a:prstDash val="dash"/>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6FF08061-8AB0-7284-89DF-F9F0E3144445}"/>
                  </a:ext>
                </a:extLst>
              </p:cNvPr>
              <p:cNvSpPr txBox="1"/>
              <p:nvPr/>
            </p:nvSpPr>
            <p:spPr>
              <a:xfrm>
                <a:off x="9168093" y="1508497"/>
                <a:ext cx="1733550" cy="461665"/>
              </a:xfrm>
              <a:prstGeom prst="rect">
                <a:avLst/>
              </a:prstGeom>
              <a:solidFill>
                <a:schemeClr val="bg1"/>
              </a:solidFill>
            </p:spPr>
            <p:txBody>
              <a:bodyPr wrap="square">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2400" b="1" i="0" u="none" strike="noStrike" kern="1200" cap="none" spc="0" normalizeH="0" baseline="0" noProof="0" dirty="0">
                    <a:ln>
                      <a:noFill/>
                    </a:ln>
                    <a:solidFill>
                      <a:srgbClr val="444964"/>
                    </a:solidFill>
                    <a:effectLst/>
                    <a:uLnTx/>
                    <a:uFillTx/>
                    <a:latin typeface="Yekan Bakh" pitchFamily="2" charset="-78"/>
                    <a:ea typeface="Yekan Bakh" pitchFamily="2" charset="-78"/>
                    <a:cs typeface="Yekan Bakh" pitchFamily="2" charset="-78"/>
                  </a:rPr>
                  <a:t>۳</a:t>
                </a:r>
                <a:r>
                  <a:rPr kumimoji="0" lang="fa-IR" sz="1125" b="1" i="0" u="none" strike="noStrike" kern="1200" cap="none" spc="0" normalizeH="0" baseline="0" noProof="0" dirty="0">
                    <a:ln>
                      <a:noFill/>
                    </a:ln>
                    <a:solidFill>
                      <a:srgbClr val="444964"/>
                    </a:solidFill>
                    <a:effectLst/>
                    <a:uLnTx/>
                    <a:uFillTx/>
                    <a:latin typeface="Yekan Bakh" pitchFamily="2" charset="-78"/>
                    <a:ea typeface="Yekan Bakh" pitchFamily="2" charset="-78"/>
                    <a:cs typeface="Yekan Bakh" pitchFamily="2" charset="-78"/>
                  </a:rPr>
                  <a:t> کسب‌وکار مشتاق</a:t>
                </a:r>
                <a:endParaRPr kumimoji="0" lang="en-GB" sz="1800" b="0" i="0" u="none" strike="noStrike" kern="1200" cap="none" spc="0" normalizeH="0" baseline="0" noProof="0" dirty="0">
                  <a:ln>
                    <a:noFill/>
                  </a:ln>
                  <a:solidFill>
                    <a:srgbClr val="444964"/>
                  </a:solidFill>
                  <a:effectLst/>
                  <a:uLnTx/>
                  <a:uFillTx/>
                  <a:latin typeface="Yekan Bakh" pitchFamily="2" charset="-78"/>
                  <a:ea typeface="Yekan Bakh" pitchFamily="2" charset="-78"/>
                  <a:cs typeface="Yekan Bakh" pitchFamily="2" charset="-78"/>
                </a:endParaRPr>
              </a:p>
            </p:txBody>
          </p:sp>
          <p:sp>
            <p:nvSpPr>
              <p:cNvPr id="54" name="Rectangle: Rounded Corners 53">
                <a:extLst>
                  <a:ext uri="{FF2B5EF4-FFF2-40B4-BE49-F238E27FC236}">
                    <a16:creationId xmlns:a16="http://schemas.microsoft.com/office/drawing/2014/main" id="{408DF772-A4FA-3F2E-E569-CE1B3D0437E4}"/>
                  </a:ext>
                </a:extLst>
              </p:cNvPr>
              <p:cNvSpPr/>
              <p:nvPr/>
            </p:nvSpPr>
            <p:spPr>
              <a:xfrm>
                <a:off x="7785100" y="1900719"/>
                <a:ext cx="3238500" cy="893852"/>
              </a:xfrm>
              <a:prstGeom prst="roundRect">
                <a:avLst/>
              </a:prstGeom>
              <a:solidFill>
                <a:srgbClr val="F0BE0F">
                  <a:alpha val="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55" name="TextBox 54">
                <a:extLst>
                  <a:ext uri="{FF2B5EF4-FFF2-40B4-BE49-F238E27FC236}">
                    <a16:creationId xmlns:a16="http://schemas.microsoft.com/office/drawing/2014/main" id="{79F8938F-8F1E-E23F-0159-15B83073ED41}"/>
                  </a:ext>
                </a:extLst>
              </p:cNvPr>
              <p:cNvSpPr txBox="1"/>
              <p:nvPr/>
            </p:nvSpPr>
            <p:spPr>
              <a:xfrm>
                <a:off x="7928725" y="1993702"/>
                <a:ext cx="2951251" cy="707886"/>
              </a:xfrm>
              <a:prstGeom prst="rect">
                <a:avLst/>
              </a:prstGeom>
              <a:noFill/>
            </p:spPr>
            <p:txBody>
              <a:bodyPr wrap="square">
                <a:spAutoFit/>
              </a:bodyPr>
              <a:lstStyle/>
              <a:p>
                <a:pPr marL="171450" marR="0" lvl="0" indent="-171450" algn="r" defTabSz="457200" rtl="1" eaLnBrk="1" fontAlgn="auto" latinLnBrk="0" hangingPunct="1">
                  <a:lnSpc>
                    <a:spcPct val="100000"/>
                  </a:lnSpc>
                  <a:spcBef>
                    <a:spcPts val="0"/>
                  </a:spcBef>
                  <a:spcAft>
                    <a:spcPts val="0"/>
                  </a:spcAft>
                  <a:buClr>
                    <a:srgbClr val="F0BE0F"/>
                  </a:buClr>
                  <a:buSzTx/>
                  <a:buFont typeface="Arial" panose="020B0604020202020204" pitchFamily="34" charset="0"/>
                  <a:buChar char="•"/>
                  <a:tabLst/>
                  <a:defRPr/>
                </a:pPr>
                <a:r>
                  <a:rPr kumimoji="0" lang="fa-IR" sz="1000" b="0" i="0" u="none" strike="noStrike" kern="1200" cap="none" spc="0" normalizeH="0" baseline="0" noProof="0" dirty="0">
                    <a:ln>
                      <a:noFill/>
                    </a:ln>
                    <a:solidFill>
                      <a:srgbClr val="60688E"/>
                    </a:solidFill>
                    <a:effectLst/>
                    <a:uLnTx/>
                    <a:uFillTx/>
                    <a:latin typeface="Yekan Bakh" pitchFamily="2" charset="-78"/>
                    <a:ea typeface="Yekan Bakh" pitchFamily="2" charset="-78"/>
                    <a:cs typeface="Yekan Bakh" pitchFamily="2" charset="-78"/>
                  </a:rPr>
                  <a:t>رفع شکاف آمادگی</a:t>
                </a:r>
              </a:p>
              <a:p>
                <a:pPr marL="171450" marR="0" lvl="0" indent="-171450" algn="r" defTabSz="457200" rtl="1" eaLnBrk="1" fontAlgn="auto" latinLnBrk="0" hangingPunct="1">
                  <a:lnSpc>
                    <a:spcPct val="100000"/>
                  </a:lnSpc>
                  <a:spcBef>
                    <a:spcPts val="0"/>
                  </a:spcBef>
                  <a:spcAft>
                    <a:spcPts val="0"/>
                  </a:spcAft>
                  <a:buClr>
                    <a:srgbClr val="F0BE0F"/>
                  </a:buClr>
                  <a:buSzTx/>
                  <a:buFont typeface="Arial" panose="020B0604020202020204" pitchFamily="34" charset="0"/>
                  <a:buChar char="•"/>
                  <a:tabLst/>
                  <a:defRPr/>
                </a:pPr>
                <a:r>
                  <a:rPr kumimoji="0" lang="fa-IR" sz="1000" b="0" i="0" u="none" strike="noStrike" kern="1200" cap="none" spc="0" normalizeH="0" baseline="0" noProof="0" dirty="0">
                    <a:ln>
                      <a:noFill/>
                    </a:ln>
                    <a:solidFill>
                      <a:srgbClr val="60688E"/>
                    </a:solidFill>
                    <a:effectLst/>
                    <a:uLnTx/>
                    <a:uFillTx/>
                    <a:latin typeface="Yekan Bakh" pitchFamily="2" charset="-78"/>
                    <a:ea typeface="Yekan Bakh" pitchFamily="2" charset="-78"/>
                    <a:cs typeface="Yekan Bakh" pitchFamily="2" charset="-78"/>
                  </a:rPr>
                  <a:t>کسب اعتبار</a:t>
                </a:r>
              </a:p>
              <a:p>
                <a:pPr marL="171450" marR="0" lvl="0" indent="-171450" algn="r" defTabSz="457200" rtl="1" eaLnBrk="1" fontAlgn="auto" latinLnBrk="0" hangingPunct="1">
                  <a:lnSpc>
                    <a:spcPct val="100000"/>
                  </a:lnSpc>
                  <a:spcBef>
                    <a:spcPts val="0"/>
                  </a:spcBef>
                  <a:spcAft>
                    <a:spcPts val="0"/>
                  </a:spcAft>
                  <a:buClr>
                    <a:srgbClr val="F0BE0F"/>
                  </a:buClr>
                  <a:buSzTx/>
                  <a:buFont typeface="Arial" panose="020B0604020202020204" pitchFamily="34" charset="0"/>
                  <a:buChar char="•"/>
                  <a:tabLst/>
                  <a:defRPr/>
                </a:pPr>
                <a:r>
                  <a:rPr kumimoji="0" lang="fa-IR" sz="1000" b="0" i="0" u="none" strike="noStrike" kern="1200" cap="none" spc="0" normalizeH="0" baseline="0" noProof="0" dirty="0">
                    <a:ln>
                      <a:noFill/>
                    </a:ln>
                    <a:solidFill>
                      <a:srgbClr val="60688E"/>
                    </a:solidFill>
                    <a:effectLst/>
                    <a:uLnTx/>
                    <a:uFillTx/>
                    <a:latin typeface="Yekan Bakh" pitchFamily="2" charset="-78"/>
                    <a:ea typeface="Yekan Bakh" pitchFamily="2" charset="-78"/>
                    <a:cs typeface="Yekan Bakh" pitchFamily="2" charset="-78"/>
                  </a:rPr>
                  <a:t>انطباق و مستندسازی</a:t>
                </a:r>
              </a:p>
              <a:p>
                <a:pPr marL="171450" marR="0" lvl="0" indent="-171450" algn="r" defTabSz="457200" rtl="1" eaLnBrk="1" fontAlgn="auto" latinLnBrk="0" hangingPunct="1">
                  <a:lnSpc>
                    <a:spcPct val="100000"/>
                  </a:lnSpc>
                  <a:spcBef>
                    <a:spcPts val="0"/>
                  </a:spcBef>
                  <a:spcAft>
                    <a:spcPts val="0"/>
                  </a:spcAft>
                  <a:buClr>
                    <a:srgbClr val="F0BE0F"/>
                  </a:buClr>
                  <a:buSzTx/>
                  <a:buFont typeface="Arial" panose="020B0604020202020204" pitchFamily="34" charset="0"/>
                  <a:buChar char="•"/>
                  <a:tabLst/>
                  <a:defRPr/>
                </a:pPr>
                <a:r>
                  <a:rPr kumimoji="0" lang="fa-IR" sz="1000" b="0" i="0" u="none" strike="noStrike" kern="1200" cap="none" spc="0" normalizeH="0" baseline="0" noProof="0" dirty="0">
                    <a:ln>
                      <a:noFill/>
                    </a:ln>
                    <a:solidFill>
                      <a:srgbClr val="60688E"/>
                    </a:solidFill>
                    <a:effectLst/>
                    <a:uLnTx/>
                    <a:uFillTx/>
                    <a:latin typeface="Yekan Bakh" pitchFamily="2" charset="-78"/>
                    <a:ea typeface="Yekan Bakh" pitchFamily="2" charset="-78"/>
                    <a:cs typeface="Yekan Bakh" pitchFamily="2" charset="-78"/>
                  </a:rPr>
                  <a:t>پیوستن به زنجیره ارزش جهانی</a:t>
                </a:r>
                <a:endParaRPr kumimoji="0" lang="en-GB" sz="1000" b="0" i="0" u="none" strike="noStrike" kern="1200" cap="none" spc="0" normalizeH="0" baseline="0" noProof="0" dirty="0">
                  <a:ln>
                    <a:noFill/>
                  </a:ln>
                  <a:solidFill>
                    <a:srgbClr val="60688E"/>
                  </a:solidFill>
                  <a:effectLst/>
                  <a:uLnTx/>
                  <a:uFillTx/>
                  <a:latin typeface="Yekan Bakh" pitchFamily="2" charset="-78"/>
                  <a:ea typeface="Yekan Bakh" pitchFamily="2" charset="-78"/>
                  <a:cs typeface="Yekan Bakh" pitchFamily="2" charset="-78"/>
                </a:endParaRPr>
              </a:p>
            </p:txBody>
          </p:sp>
          <p:sp>
            <p:nvSpPr>
              <p:cNvPr id="56" name="Rectangle: Rounded Corners 55">
                <a:extLst>
                  <a:ext uri="{FF2B5EF4-FFF2-40B4-BE49-F238E27FC236}">
                    <a16:creationId xmlns:a16="http://schemas.microsoft.com/office/drawing/2014/main" id="{D9B427D3-A1C1-0AB6-7AB8-E19D6D150573}"/>
                  </a:ext>
                </a:extLst>
              </p:cNvPr>
              <p:cNvSpPr/>
              <p:nvPr/>
            </p:nvSpPr>
            <p:spPr>
              <a:xfrm>
                <a:off x="7785100" y="1690315"/>
                <a:ext cx="657546" cy="200769"/>
              </a:xfrm>
              <a:prstGeom prst="roundRect">
                <a:avLst>
                  <a:gd name="adj" fmla="val 50000"/>
                </a:avLst>
              </a:prstGeom>
              <a:solidFill>
                <a:srgbClr val="F0BE0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۱۱ کار</a:t>
                </a:r>
                <a:endParaRPr kumimoji="0" lang="en-GB" sz="11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grpSp>
        <p:grpSp>
          <p:nvGrpSpPr>
            <p:cNvPr id="30" name="Group 29">
              <a:extLst>
                <a:ext uri="{FF2B5EF4-FFF2-40B4-BE49-F238E27FC236}">
                  <a16:creationId xmlns:a16="http://schemas.microsoft.com/office/drawing/2014/main" id="{9DDD11E8-D1BE-B52D-C4EA-DAE05A696479}"/>
                </a:ext>
              </a:extLst>
            </p:cNvPr>
            <p:cNvGrpSpPr/>
            <p:nvPr/>
          </p:nvGrpSpPr>
          <p:grpSpPr>
            <a:xfrm>
              <a:off x="7785100" y="3291681"/>
              <a:ext cx="3238500" cy="1286074"/>
              <a:chOff x="7785100" y="1508497"/>
              <a:chExt cx="3238500" cy="1286074"/>
            </a:xfrm>
          </p:grpSpPr>
          <p:cxnSp>
            <p:nvCxnSpPr>
              <p:cNvPr id="29" name="Straight Connector 28">
                <a:extLst>
                  <a:ext uri="{FF2B5EF4-FFF2-40B4-BE49-F238E27FC236}">
                    <a16:creationId xmlns:a16="http://schemas.microsoft.com/office/drawing/2014/main" id="{EEDA5D58-AB26-01B5-71B0-DED8C78B368D}"/>
                  </a:ext>
                </a:extLst>
              </p:cNvPr>
              <p:cNvCxnSpPr>
                <a:cxnSpLocks/>
              </p:cNvCxnSpPr>
              <p:nvPr/>
            </p:nvCxnSpPr>
            <p:spPr>
              <a:xfrm flipH="1">
                <a:off x="7785100" y="1790700"/>
                <a:ext cx="3238500" cy="0"/>
              </a:xfrm>
              <a:prstGeom prst="line">
                <a:avLst/>
              </a:prstGeom>
              <a:ln>
                <a:solidFill>
                  <a:srgbClr val="F0BE0F"/>
                </a:solidFill>
                <a:prstDash val="dash"/>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E00EC666-5FBE-00D6-60F8-94973DA4A282}"/>
                  </a:ext>
                </a:extLst>
              </p:cNvPr>
              <p:cNvSpPr txBox="1"/>
              <p:nvPr/>
            </p:nvSpPr>
            <p:spPr>
              <a:xfrm>
                <a:off x="9168093" y="1508497"/>
                <a:ext cx="1733550" cy="461665"/>
              </a:xfrm>
              <a:prstGeom prst="rect">
                <a:avLst/>
              </a:prstGeom>
              <a:solidFill>
                <a:schemeClr val="bg1"/>
              </a:solidFill>
            </p:spPr>
            <p:txBody>
              <a:bodyPr wrap="square">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2400" b="1" i="0" u="none" strike="noStrike" kern="1200" cap="none" spc="0" normalizeH="0" baseline="0" noProof="0" dirty="0">
                    <a:ln>
                      <a:noFill/>
                    </a:ln>
                    <a:solidFill>
                      <a:srgbClr val="444964"/>
                    </a:solidFill>
                    <a:effectLst/>
                    <a:uLnTx/>
                    <a:uFillTx/>
                    <a:latin typeface="Yekan Bakh" pitchFamily="2" charset="-78"/>
                    <a:ea typeface="Yekan Bakh" pitchFamily="2" charset="-78"/>
                    <a:cs typeface="Yekan Bakh" pitchFamily="2" charset="-78"/>
                  </a:rPr>
                  <a:t>۴</a:t>
                </a:r>
                <a:r>
                  <a:rPr kumimoji="0" lang="fa-IR" sz="1125" b="1" i="0" u="none" strike="noStrike" kern="1200" cap="none" spc="0" normalizeH="0" baseline="0" noProof="0" dirty="0">
                    <a:ln>
                      <a:noFill/>
                    </a:ln>
                    <a:solidFill>
                      <a:srgbClr val="444964"/>
                    </a:solidFill>
                    <a:effectLst/>
                    <a:uLnTx/>
                    <a:uFillTx/>
                    <a:latin typeface="Yekan Bakh" pitchFamily="2" charset="-78"/>
                    <a:ea typeface="Yekan Bakh" pitchFamily="2" charset="-78"/>
                    <a:cs typeface="Yekan Bakh" pitchFamily="2" charset="-78"/>
                  </a:rPr>
                  <a:t> کسب‌وکار کنجکاو</a:t>
                </a:r>
                <a:endParaRPr kumimoji="0" lang="en-GB" sz="1800" b="0" i="0" u="none" strike="noStrike" kern="1200" cap="none" spc="0" normalizeH="0" baseline="0" noProof="0" dirty="0">
                  <a:ln>
                    <a:noFill/>
                  </a:ln>
                  <a:solidFill>
                    <a:srgbClr val="444964"/>
                  </a:solidFill>
                  <a:effectLst/>
                  <a:uLnTx/>
                  <a:uFillTx/>
                  <a:latin typeface="Yekan Bakh" pitchFamily="2" charset="-78"/>
                  <a:ea typeface="Yekan Bakh" pitchFamily="2" charset="-78"/>
                  <a:cs typeface="Yekan Bakh" pitchFamily="2" charset="-78"/>
                </a:endParaRPr>
              </a:p>
            </p:txBody>
          </p:sp>
          <p:sp>
            <p:nvSpPr>
              <p:cNvPr id="35" name="Rectangle: Rounded Corners 34">
                <a:extLst>
                  <a:ext uri="{FF2B5EF4-FFF2-40B4-BE49-F238E27FC236}">
                    <a16:creationId xmlns:a16="http://schemas.microsoft.com/office/drawing/2014/main" id="{1A282465-7E98-52CC-1468-C88492E00EA6}"/>
                  </a:ext>
                </a:extLst>
              </p:cNvPr>
              <p:cNvSpPr/>
              <p:nvPr/>
            </p:nvSpPr>
            <p:spPr>
              <a:xfrm>
                <a:off x="7785100" y="1900719"/>
                <a:ext cx="3238500" cy="893852"/>
              </a:xfrm>
              <a:prstGeom prst="roundRect">
                <a:avLst/>
              </a:prstGeom>
              <a:solidFill>
                <a:srgbClr val="F0BE0F">
                  <a:alpha val="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50" name="TextBox 49">
                <a:extLst>
                  <a:ext uri="{FF2B5EF4-FFF2-40B4-BE49-F238E27FC236}">
                    <a16:creationId xmlns:a16="http://schemas.microsoft.com/office/drawing/2014/main" id="{62D1F455-7B0B-2443-1CF6-81969B2F2DBA}"/>
                  </a:ext>
                </a:extLst>
              </p:cNvPr>
              <p:cNvSpPr txBox="1"/>
              <p:nvPr/>
            </p:nvSpPr>
            <p:spPr>
              <a:xfrm>
                <a:off x="7928725" y="1993702"/>
                <a:ext cx="2951251" cy="553998"/>
              </a:xfrm>
              <a:prstGeom prst="rect">
                <a:avLst/>
              </a:prstGeom>
              <a:noFill/>
            </p:spPr>
            <p:txBody>
              <a:bodyPr wrap="square">
                <a:spAutoFit/>
              </a:bodyPr>
              <a:lstStyle/>
              <a:p>
                <a:pPr marL="171450" marR="0" lvl="0" indent="-171450" algn="r" defTabSz="457200" rtl="1" eaLnBrk="1" fontAlgn="auto" latinLnBrk="0" hangingPunct="1">
                  <a:lnSpc>
                    <a:spcPct val="100000"/>
                  </a:lnSpc>
                  <a:spcBef>
                    <a:spcPts val="0"/>
                  </a:spcBef>
                  <a:spcAft>
                    <a:spcPts val="0"/>
                  </a:spcAft>
                  <a:buClr>
                    <a:srgbClr val="F0BE0F"/>
                  </a:buClr>
                  <a:buSzTx/>
                  <a:buFont typeface="Arial" panose="020B0604020202020204" pitchFamily="34" charset="0"/>
                  <a:buChar char="•"/>
                  <a:tabLst/>
                  <a:defRPr/>
                </a:pPr>
                <a:r>
                  <a:rPr kumimoji="0" lang="fa-IR" sz="1000" b="0" i="0" u="none" strike="noStrike" kern="1200" cap="none" spc="0" normalizeH="0" baseline="0" noProof="0" dirty="0">
                    <a:ln>
                      <a:noFill/>
                    </a:ln>
                    <a:solidFill>
                      <a:srgbClr val="60688E"/>
                    </a:solidFill>
                    <a:effectLst/>
                    <a:uLnTx/>
                    <a:uFillTx/>
                    <a:latin typeface="Yekan Bakh" pitchFamily="2" charset="-78"/>
                    <a:ea typeface="Yekan Bakh" pitchFamily="2" charset="-78"/>
                    <a:cs typeface="Yekan Bakh" pitchFamily="2" charset="-78"/>
                  </a:rPr>
                  <a:t>کاهش عدم‌قطعیت پیش از تعهد</a:t>
                </a:r>
              </a:p>
              <a:p>
                <a:pPr marL="171450" marR="0" lvl="0" indent="-171450" algn="r" defTabSz="457200" rtl="1" eaLnBrk="1" fontAlgn="auto" latinLnBrk="0" hangingPunct="1">
                  <a:lnSpc>
                    <a:spcPct val="100000"/>
                  </a:lnSpc>
                  <a:spcBef>
                    <a:spcPts val="0"/>
                  </a:spcBef>
                  <a:spcAft>
                    <a:spcPts val="0"/>
                  </a:spcAft>
                  <a:buClr>
                    <a:srgbClr val="F0BE0F"/>
                  </a:buClr>
                  <a:buSzTx/>
                  <a:buFont typeface="Arial" panose="020B0604020202020204" pitchFamily="34" charset="0"/>
                  <a:buChar char="•"/>
                  <a:tabLst/>
                  <a:defRPr/>
                </a:pPr>
                <a:r>
                  <a:rPr kumimoji="0" lang="fa-IR" sz="1000" b="0" i="0" u="none" strike="noStrike" kern="1200" cap="none" spc="0" normalizeH="0" baseline="0" noProof="0" dirty="0">
                    <a:ln>
                      <a:noFill/>
                    </a:ln>
                    <a:solidFill>
                      <a:srgbClr val="60688E"/>
                    </a:solidFill>
                    <a:effectLst/>
                    <a:uLnTx/>
                    <a:uFillTx/>
                    <a:latin typeface="Yekan Bakh" pitchFamily="2" charset="-78"/>
                    <a:ea typeface="Yekan Bakh" pitchFamily="2" charset="-78"/>
                    <a:cs typeface="Yekan Bakh" pitchFamily="2" charset="-78"/>
                  </a:rPr>
                  <a:t>آزمون کم‌ریسک بازار</a:t>
                </a:r>
              </a:p>
              <a:p>
                <a:pPr marL="171450" marR="0" lvl="0" indent="-171450" algn="r" defTabSz="457200" rtl="1" eaLnBrk="1" fontAlgn="auto" latinLnBrk="0" hangingPunct="1">
                  <a:lnSpc>
                    <a:spcPct val="100000"/>
                  </a:lnSpc>
                  <a:spcBef>
                    <a:spcPts val="0"/>
                  </a:spcBef>
                  <a:spcAft>
                    <a:spcPts val="0"/>
                  </a:spcAft>
                  <a:buClr>
                    <a:srgbClr val="F0BE0F"/>
                  </a:buClr>
                  <a:buSzTx/>
                  <a:buFont typeface="Arial" panose="020B0604020202020204" pitchFamily="34" charset="0"/>
                  <a:buChar char="•"/>
                  <a:tabLst/>
                  <a:defRPr/>
                </a:pPr>
                <a:r>
                  <a:rPr kumimoji="0" lang="fa-IR" sz="1000" b="0" i="0" u="none" strike="noStrike" kern="1200" cap="none" spc="0" normalizeH="0" baseline="0" noProof="0" dirty="0">
                    <a:ln>
                      <a:noFill/>
                    </a:ln>
                    <a:solidFill>
                      <a:srgbClr val="60688E"/>
                    </a:solidFill>
                    <a:effectLst/>
                    <a:uLnTx/>
                    <a:uFillTx/>
                    <a:latin typeface="Yekan Bakh" pitchFamily="2" charset="-78"/>
                    <a:ea typeface="Yekan Bakh" pitchFamily="2" charset="-78"/>
                    <a:cs typeface="Yekan Bakh" pitchFamily="2" charset="-78"/>
                  </a:rPr>
                  <a:t>توجیه داخلی کاوش</a:t>
                </a:r>
                <a:endParaRPr kumimoji="0" lang="en-GB" sz="1000" b="0" i="0" u="none" strike="noStrike" kern="1200" cap="none" spc="0" normalizeH="0" baseline="0" noProof="0" dirty="0">
                  <a:ln>
                    <a:noFill/>
                  </a:ln>
                  <a:solidFill>
                    <a:srgbClr val="60688E"/>
                  </a:solidFill>
                  <a:effectLst/>
                  <a:uLnTx/>
                  <a:uFillTx/>
                  <a:latin typeface="Yekan Bakh" pitchFamily="2" charset="-78"/>
                  <a:ea typeface="Yekan Bakh" pitchFamily="2" charset="-78"/>
                  <a:cs typeface="Yekan Bakh" pitchFamily="2" charset="-78"/>
                </a:endParaRPr>
              </a:p>
            </p:txBody>
          </p:sp>
          <p:sp>
            <p:nvSpPr>
              <p:cNvPr id="51" name="Rectangle: Rounded Corners 50">
                <a:extLst>
                  <a:ext uri="{FF2B5EF4-FFF2-40B4-BE49-F238E27FC236}">
                    <a16:creationId xmlns:a16="http://schemas.microsoft.com/office/drawing/2014/main" id="{B5743ECA-CBE3-E67C-A092-E73B4355F81D}"/>
                  </a:ext>
                </a:extLst>
              </p:cNvPr>
              <p:cNvSpPr/>
              <p:nvPr/>
            </p:nvSpPr>
            <p:spPr>
              <a:xfrm>
                <a:off x="7785100" y="1690315"/>
                <a:ext cx="657546" cy="200769"/>
              </a:xfrm>
              <a:prstGeom prst="roundRect">
                <a:avLst>
                  <a:gd name="adj" fmla="val 50000"/>
                </a:avLst>
              </a:prstGeom>
              <a:solidFill>
                <a:srgbClr val="F0BE0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۹ کار</a:t>
                </a:r>
                <a:endParaRPr kumimoji="0" lang="en-GB" sz="11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grpSp>
        <p:grpSp>
          <p:nvGrpSpPr>
            <p:cNvPr id="8" name="Group 7">
              <a:extLst>
                <a:ext uri="{FF2B5EF4-FFF2-40B4-BE49-F238E27FC236}">
                  <a16:creationId xmlns:a16="http://schemas.microsoft.com/office/drawing/2014/main" id="{7243CE57-0439-CB8A-A577-CA0590C64FD5}"/>
                </a:ext>
              </a:extLst>
            </p:cNvPr>
            <p:cNvGrpSpPr/>
            <p:nvPr/>
          </p:nvGrpSpPr>
          <p:grpSpPr>
            <a:xfrm>
              <a:off x="4304087" y="3291681"/>
              <a:ext cx="3238500" cy="1286074"/>
              <a:chOff x="7785100" y="1508497"/>
              <a:chExt cx="3238500" cy="1286074"/>
            </a:xfrm>
          </p:grpSpPr>
          <p:cxnSp>
            <p:nvCxnSpPr>
              <p:cNvPr id="25" name="Straight Connector 24">
                <a:extLst>
                  <a:ext uri="{FF2B5EF4-FFF2-40B4-BE49-F238E27FC236}">
                    <a16:creationId xmlns:a16="http://schemas.microsoft.com/office/drawing/2014/main" id="{3D873BC8-E0A0-2F8B-9A42-20585EFD1634}"/>
                  </a:ext>
                </a:extLst>
              </p:cNvPr>
              <p:cNvCxnSpPr>
                <a:cxnSpLocks/>
              </p:cNvCxnSpPr>
              <p:nvPr/>
            </p:nvCxnSpPr>
            <p:spPr>
              <a:xfrm flipH="1">
                <a:off x="7785100" y="1790700"/>
                <a:ext cx="3238500" cy="0"/>
              </a:xfrm>
              <a:prstGeom prst="line">
                <a:avLst/>
              </a:prstGeom>
              <a:ln>
                <a:solidFill>
                  <a:srgbClr val="F0BE0F"/>
                </a:solidFill>
                <a:prstDash val="dash"/>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03630996-CAAA-63CA-5947-91908889EB7E}"/>
                  </a:ext>
                </a:extLst>
              </p:cNvPr>
              <p:cNvSpPr txBox="1"/>
              <p:nvPr/>
            </p:nvSpPr>
            <p:spPr>
              <a:xfrm>
                <a:off x="9168093" y="1508497"/>
                <a:ext cx="1733550" cy="461665"/>
              </a:xfrm>
              <a:prstGeom prst="rect">
                <a:avLst/>
              </a:prstGeom>
              <a:solidFill>
                <a:schemeClr val="bg1"/>
              </a:solidFill>
            </p:spPr>
            <p:txBody>
              <a:bodyPr wrap="square">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2400" b="1" i="0" u="none" strike="noStrike" kern="1200" cap="none" spc="0" normalizeH="0" baseline="0" noProof="0" dirty="0">
                    <a:ln>
                      <a:noFill/>
                    </a:ln>
                    <a:solidFill>
                      <a:srgbClr val="444964"/>
                    </a:solidFill>
                    <a:effectLst/>
                    <a:uLnTx/>
                    <a:uFillTx/>
                    <a:latin typeface="Yekan Bakh" pitchFamily="2" charset="-78"/>
                    <a:ea typeface="Yekan Bakh" pitchFamily="2" charset="-78"/>
                    <a:cs typeface="Yekan Bakh" pitchFamily="2" charset="-78"/>
                  </a:rPr>
                  <a:t>۵</a:t>
                </a:r>
                <a:r>
                  <a:rPr kumimoji="0" lang="fa-IR" sz="1125" b="1" i="0" u="none" strike="noStrike" kern="1200" cap="none" spc="0" normalizeH="0" baseline="0" noProof="0" dirty="0">
                    <a:ln>
                      <a:noFill/>
                    </a:ln>
                    <a:solidFill>
                      <a:srgbClr val="444964"/>
                    </a:solidFill>
                    <a:effectLst/>
                    <a:uLnTx/>
                    <a:uFillTx/>
                    <a:latin typeface="Yekan Bakh" pitchFamily="2" charset="-78"/>
                    <a:ea typeface="Yekan Bakh" pitchFamily="2" charset="-78"/>
                    <a:cs typeface="Yekan Bakh" pitchFamily="2" charset="-78"/>
                  </a:rPr>
                  <a:t> خالق کسب‌وکار</a:t>
                </a:r>
                <a:endParaRPr kumimoji="0" lang="en-GB" sz="1800" b="0" i="0" u="none" strike="noStrike" kern="1200" cap="none" spc="0" normalizeH="0" baseline="0" noProof="0" dirty="0">
                  <a:ln>
                    <a:noFill/>
                  </a:ln>
                  <a:solidFill>
                    <a:srgbClr val="444964"/>
                  </a:solidFill>
                  <a:effectLst/>
                  <a:uLnTx/>
                  <a:uFillTx/>
                  <a:latin typeface="Yekan Bakh" pitchFamily="2" charset="-78"/>
                  <a:ea typeface="Yekan Bakh" pitchFamily="2" charset="-78"/>
                  <a:cs typeface="Yekan Bakh" pitchFamily="2" charset="-78"/>
                </a:endParaRPr>
              </a:p>
            </p:txBody>
          </p:sp>
          <p:sp>
            <p:nvSpPr>
              <p:cNvPr id="26" name="Rectangle: Rounded Corners 25">
                <a:extLst>
                  <a:ext uri="{FF2B5EF4-FFF2-40B4-BE49-F238E27FC236}">
                    <a16:creationId xmlns:a16="http://schemas.microsoft.com/office/drawing/2014/main" id="{09388398-36BC-024C-DD4A-BD3D5DA0D312}"/>
                  </a:ext>
                </a:extLst>
              </p:cNvPr>
              <p:cNvSpPr/>
              <p:nvPr/>
            </p:nvSpPr>
            <p:spPr>
              <a:xfrm>
                <a:off x="7785100" y="1900719"/>
                <a:ext cx="3238500" cy="893852"/>
              </a:xfrm>
              <a:prstGeom prst="roundRect">
                <a:avLst/>
              </a:prstGeom>
              <a:solidFill>
                <a:srgbClr val="F0BE0F">
                  <a:alpha val="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27" name="TextBox 26">
                <a:extLst>
                  <a:ext uri="{FF2B5EF4-FFF2-40B4-BE49-F238E27FC236}">
                    <a16:creationId xmlns:a16="http://schemas.microsoft.com/office/drawing/2014/main" id="{4D3F8A8E-2814-64AD-5B2E-172FD920BBEC}"/>
                  </a:ext>
                </a:extLst>
              </p:cNvPr>
              <p:cNvSpPr txBox="1"/>
              <p:nvPr/>
            </p:nvSpPr>
            <p:spPr>
              <a:xfrm>
                <a:off x="7928725" y="1993702"/>
                <a:ext cx="2951251" cy="707886"/>
              </a:xfrm>
              <a:prstGeom prst="rect">
                <a:avLst/>
              </a:prstGeom>
              <a:noFill/>
            </p:spPr>
            <p:txBody>
              <a:bodyPr wrap="square">
                <a:spAutoFit/>
              </a:bodyPr>
              <a:lstStyle/>
              <a:p>
                <a:pPr marL="171450" marR="0" lvl="0" indent="-171450" algn="r" defTabSz="457200" rtl="1" eaLnBrk="1" fontAlgn="auto" latinLnBrk="0" hangingPunct="1">
                  <a:lnSpc>
                    <a:spcPct val="100000"/>
                  </a:lnSpc>
                  <a:spcBef>
                    <a:spcPts val="0"/>
                  </a:spcBef>
                  <a:spcAft>
                    <a:spcPts val="0"/>
                  </a:spcAft>
                  <a:buClr>
                    <a:srgbClr val="F0BE0F"/>
                  </a:buClr>
                  <a:buSzTx/>
                  <a:buFont typeface="Arial" panose="020B0604020202020204" pitchFamily="34" charset="0"/>
                  <a:buChar char="•"/>
                  <a:tabLst/>
                  <a:defRPr/>
                </a:pPr>
                <a:r>
                  <a:rPr kumimoji="0" lang="fa-IR" sz="1000" b="0" i="0" u="none" strike="noStrike" kern="1200" cap="none" spc="0" normalizeH="0" baseline="0" noProof="0" dirty="0">
                    <a:ln>
                      <a:noFill/>
                    </a:ln>
                    <a:solidFill>
                      <a:srgbClr val="60688E"/>
                    </a:solidFill>
                    <a:effectLst/>
                    <a:uLnTx/>
                    <a:uFillTx/>
                    <a:latin typeface="Yekan Bakh" pitchFamily="2" charset="-78"/>
                    <a:ea typeface="Yekan Bakh" pitchFamily="2" charset="-78"/>
                    <a:cs typeface="Yekan Bakh" pitchFamily="2" charset="-78"/>
                  </a:rPr>
                  <a:t>اعتبارسنجی دارایی/ایده</a:t>
                </a:r>
              </a:p>
              <a:p>
                <a:pPr marL="171450" marR="0" lvl="0" indent="-171450" algn="r" defTabSz="457200" rtl="1" eaLnBrk="1" fontAlgn="auto" latinLnBrk="0" hangingPunct="1">
                  <a:lnSpc>
                    <a:spcPct val="100000"/>
                  </a:lnSpc>
                  <a:spcBef>
                    <a:spcPts val="0"/>
                  </a:spcBef>
                  <a:spcAft>
                    <a:spcPts val="0"/>
                  </a:spcAft>
                  <a:buClr>
                    <a:srgbClr val="F0BE0F"/>
                  </a:buClr>
                  <a:buSzTx/>
                  <a:buFont typeface="Arial" panose="020B0604020202020204" pitchFamily="34" charset="0"/>
                  <a:buChar char="•"/>
                  <a:tabLst/>
                  <a:defRPr/>
                </a:pPr>
                <a:r>
                  <a:rPr kumimoji="0" lang="fa-IR" sz="1000" b="0" i="0" u="none" strike="noStrike" kern="1200" cap="none" spc="0" normalizeH="0" baseline="0" noProof="0" dirty="0">
                    <a:ln>
                      <a:noFill/>
                    </a:ln>
                    <a:solidFill>
                      <a:srgbClr val="60688E"/>
                    </a:solidFill>
                    <a:effectLst/>
                    <a:uLnTx/>
                    <a:uFillTx/>
                    <a:latin typeface="Yekan Bakh" pitchFamily="2" charset="-78"/>
                    <a:ea typeface="Yekan Bakh" pitchFamily="2" charset="-78"/>
                    <a:cs typeface="Yekan Bakh" pitchFamily="2" charset="-78"/>
                  </a:rPr>
                  <a:t>یافتن تیم مکمل</a:t>
                </a:r>
              </a:p>
              <a:p>
                <a:pPr marL="171450" marR="0" lvl="0" indent="-171450" algn="r" defTabSz="457200" rtl="1" eaLnBrk="1" fontAlgn="auto" latinLnBrk="0" hangingPunct="1">
                  <a:lnSpc>
                    <a:spcPct val="100000"/>
                  </a:lnSpc>
                  <a:spcBef>
                    <a:spcPts val="0"/>
                  </a:spcBef>
                  <a:spcAft>
                    <a:spcPts val="0"/>
                  </a:spcAft>
                  <a:buClr>
                    <a:srgbClr val="F0BE0F"/>
                  </a:buClr>
                  <a:buSzTx/>
                  <a:buFont typeface="Arial" panose="020B0604020202020204" pitchFamily="34" charset="0"/>
                  <a:buChar char="•"/>
                  <a:tabLst/>
                  <a:defRPr/>
                </a:pPr>
                <a:r>
                  <a:rPr kumimoji="0" lang="fa-IR" sz="1000" b="0" i="0" u="none" strike="noStrike" kern="1200" cap="none" spc="0" normalizeH="0" baseline="0" noProof="0" dirty="0">
                    <a:ln>
                      <a:noFill/>
                    </a:ln>
                    <a:solidFill>
                      <a:srgbClr val="60688E"/>
                    </a:solidFill>
                    <a:effectLst/>
                    <a:uLnTx/>
                    <a:uFillTx/>
                    <a:latin typeface="Yekan Bakh" pitchFamily="2" charset="-78"/>
                    <a:ea typeface="Yekan Bakh" pitchFamily="2" charset="-78"/>
                    <a:cs typeface="Yekan Bakh" pitchFamily="2" charset="-78"/>
                  </a:rPr>
                  <a:t>جذب سرمایه ساخت</a:t>
                </a:r>
              </a:p>
              <a:p>
                <a:pPr marL="171450" marR="0" lvl="0" indent="-171450" algn="r" defTabSz="457200" rtl="1" eaLnBrk="1" fontAlgn="auto" latinLnBrk="0" hangingPunct="1">
                  <a:lnSpc>
                    <a:spcPct val="100000"/>
                  </a:lnSpc>
                  <a:spcBef>
                    <a:spcPts val="0"/>
                  </a:spcBef>
                  <a:spcAft>
                    <a:spcPts val="0"/>
                  </a:spcAft>
                  <a:buClr>
                    <a:srgbClr val="F0BE0F"/>
                  </a:buClr>
                  <a:buSzTx/>
                  <a:buFont typeface="Arial" panose="020B0604020202020204" pitchFamily="34" charset="0"/>
                  <a:buChar char="•"/>
                  <a:tabLst/>
                  <a:defRPr/>
                </a:pPr>
                <a:r>
                  <a:rPr kumimoji="0" lang="fa-IR" sz="1000" b="0" i="0" u="none" strike="noStrike" kern="1200" cap="none" spc="0" normalizeH="0" baseline="0" noProof="0" dirty="0">
                    <a:ln>
                      <a:noFill/>
                    </a:ln>
                    <a:solidFill>
                      <a:srgbClr val="60688E"/>
                    </a:solidFill>
                    <a:effectLst/>
                    <a:uLnTx/>
                    <a:uFillTx/>
                    <a:latin typeface="Yekan Bakh" pitchFamily="2" charset="-78"/>
                    <a:ea typeface="Yekan Bakh" pitchFamily="2" charset="-78"/>
                    <a:cs typeface="Yekan Bakh" pitchFamily="2" charset="-78"/>
                  </a:rPr>
                  <a:t>مدل ساخت ونچر</a:t>
                </a:r>
                <a:endParaRPr kumimoji="0" lang="en-GB" sz="1000" b="0" i="0" u="none" strike="noStrike" kern="1200" cap="none" spc="0" normalizeH="0" baseline="0" noProof="0" dirty="0">
                  <a:ln>
                    <a:noFill/>
                  </a:ln>
                  <a:solidFill>
                    <a:srgbClr val="60688E"/>
                  </a:solidFill>
                  <a:effectLst/>
                  <a:uLnTx/>
                  <a:uFillTx/>
                  <a:latin typeface="Yekan Bakh" pitchFamily="2" charset="-78"/>
                  <a:ea typeface="Yekan Bakh" pitchFamily="2" charset="-78"/>
                  <a:cs typeface="Yekan Bakh" pitchFamily="2" charset="-78"/>
                </a:endParaRPr>
              </a:p>
            </p:txBody>
          </p:sp>
          <p:sp>
            <p:nvSpPr>
              <p:cNvPr id="28" name="Rectangle: Rounded Corners 27">
                <a:extLst>
                  <a:ext uri="{FF2B5EF4-FFF2-40B4-BE49-F238E27FC236}">
                    <a16:creationId xmlns:a16="http://schemas.microsoft.com/office/drawing/2014/main" id="{ADAAE66E-F1F1-B08B-703C-DEFCDCEEA16B}"/>
                  </a:ext>
                </a:extLst>
              </p:cNvPr>
              <p:cNvSpPr/>
              <p:nvPr/>
            </p:nvSpPr>
            <p:spPr>
              <a:xfrm>
                <a:off x="7785100" y="1690315"/>
                <a:ext cx="657546" cy="200769"/>
              </a:xfrm>
              <a:prstGeom prst="roundRect">
                <a:avLst>
                  <a:gd name="adj" fmla="val 50000"/>
                </a:avLst>
              </a:prstGeom>
              <a:solidFill>
                <a:srgbClr val="F0BE0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۱۰ کار</a:t>
                </a:r>
                <a:endParaRPr kumimoji="0" lang="en-GB" sz="11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grpSp>
        <p:grpSp>
          <p:nvGrpSpPr>
            <p:cNvPr id="10" name="Group 9">
              <a:extLst>
                <a:ext uri="{FF2B5EF4-FFF2-40B4-BE49-F238E27FC236}">
                  <a16:creationId xmlns:a16="http://schemas.microsoft.com/office/drawing/2014/main" id="{76B626C2-274F-EAC1-05F3-157B5DB7D5E3}"/>
                </a:ext>
              </a:extLst>
            </p:cNvPr>
            <p:cNvGrpSpPr/>
            <p:nvPr/>
          </p:nvGrpSpPr>
          <p:grpSpPr>
            <a:xfrm>
              <a:off x="823074" y="3291681"/>
              <a:ext cx="3238500" cy="1286074"/>
              <a:chOff x="7785100" y="1508497"/>
              <a:chExt cx="3238500" cy="1286074"/>
            </a:xfrm>
          </p:grpSpPr>
          <p:cxnSp>
            <p:nvCxnSpPr>
              <p:cNvPr id="13" name="Straight Connector 12">
                <a:extLst>
                  <a:ext uri="{FF2B5EF4-FFF2-40B4-BE49-F238E27FC236}">
                    <a16:creationId xmlns:a16="http://schemas.microsoft.com/office/drawing/2014/main" id="{1B8F47CE-74A8-3620-5DF1-86A09A660B51}"/>
                  </a:ext>
                </a:extLst>
              </p:cNvPr>
              <p:cNvCxnSpPr>
                <a:cxnSpLocks/>
              </p:cNvCxnSpPr>
              <p:nvPr/>
            </p:nvCxnSpPr>
            <p:spPr>
              <a:xfrm flipH="1">
                <a:off x="7785100" y="1790700"/>
                <a:ext cx="3238500" cy="0"/>
              </a:xfrm>
              <a:prstGeom prst="line">
                <a:avLst/>
              </a:prstGeom>
              <a:ln>
                <a:solidFill>
                  <a:srgbClr val="F0BE0F"/>
                </a:solidFill>
                <a:prstDash val="dash"/>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DF7F1667-FFBE-6067-F6AA-F48CB3AACFBD}"/>
                  </a:ext>
                </a:extLst>
              </p:cNvPr>
              <p:cNvSpPr txBox="1"/>
              <p:nvPr/>
            </p:nvSpPr>
            <p:spPr>
              <a:xfrm>
                <a:off x="9168093" y="1508497"/>
                <a:ext cx="1733550" cy="461665"/>
              </a:xfrm>
              <a:prstGeom prst="rect">
                <a:avLst/>
              </a:prstGeom>
              <a:solidFill>
                <a:schemeClr val="bg1"/>
              </a:solidFill>
            </p:spPr>
            <p:txBody>
              <a:bodyPr wrap="square">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2400" b="1" i="0" u="none" strike="noStrike" kern="1200" cap="none" spc="0" normalizeH="0" baseline="0" noProof="0" dirty="0">
                    <a:ln>
                      <a:noFill/>
                    </a:ln>
                    <a:solidFill>
                      <a:srgbClr val="444964"/>
                    </a:solidFill>
                    <a:effectLst/>
                    <a:uLnTx/>
                    <a:uFillTx/>
                    <a:latin typeface="Yekan Bakh" pitchFamily="2" charset="-78"/>
                    <a:ea typeface="Yekan Bakh" pitchFamily="2" charset="-78"/>
                    <a:cs typeface="Yekan Bakh" pitchFamily="2" charset="-78"/>
                  </a:rPr>
                  <a:t>۶</a:t>
                </a:r>
                <a:r>
                  <a:rPr kumimoji="0" lang="fa-IR" sz="1125" b="1" i="0" u="none" strike="noStrike" kern="1200" cap="none" spc="0" normalizeH="0" baseline="0" noProof="0" dirty="0">
                    <a:ln>
                      <a:noFill/>
                    </a:ln>
                    <a:solidFill>
                      <a:srgbClr val="444964"/>
                    </a:solidFill>
                    <a:effectLst/>
                    <a:uLnTx/>
                    <a:uFillTx/>
                    <a:latin typeface="Yekan Bakh" pitchFamily="2" charset="-78"/>
                    <a:ea typeface="Yekan Bakh" pitchFamily="2" charset="-78"/>
                    <a:cs typeface="Yekan Bakh" pitchFamily="2" charset="-78"/>
                  </a:rPr>
                  <a:t> سرمایه‌گذار</a:t>
                </a:r>
                <a:endParaRPr kumimoji="0" lang="en-GB" sz="1800" b="0" i="0" u="none" strike="noStrike" kern="1200" cap="none" spc="0" normalizeH="0" baseline="0" noProof="0" dirty="0">
                  <a:ln>
                    <a:noFill/>
                  </a:ln>
                  <a:solidFill>
                    <a:srgbClr val="444964"/>
                  </a:solidFill>
                  <a:effectLst/>
                  <a:uLnTx/>
                  <a:uFillTx/>
                  <a:latin typeface="Yekan Bakh" pitchFamily="2" charset="-78"/>
                  <a:ea typeface="Yekan Bakh" pitchFamily="2" charset="-78"/>
                  <a:cs typeface="Yekan Bakh" pitchFamily="2" charset="-78"/>
                </a:endParaRPr>
              </a:p>
            </p:txBody>
          </p:sp>
          <p:sp>
            <p:nvSpPr>
              <p:cNvPr id="16" name="Rectangle: Rounded Corners 15">
                <a:extLst>
                  <a:ext uri="{FF2B5EF4-FFF2-40B4-BE49-F238E27FC236}">
                    <a16:creationId xmlns:a16="http://schemas.microsoft.com/office/drawing/2014/main" id="{4BB8BCF5-1F02-D822-F08A-6EB051FD07A5}"/>
                  </a:ext>
                </a:extLst>
              </p:cNvPr>
              <p:cNvSpPr/>
              <p:nvPr/>
            </p:nvSpPr>
            <p:spPr>
              <a:xfrm>
                <a:off x="7785100" y="1900719"/>
                <a:ext cx="3238500" cy="893852"/>
              </a:xfrm>
              <a:prstGeom prst="roundRect">
                <a:avLst/>
              </a:prstGeom>
              <a:solidFill>
                <a:srgbClr val="F0BE0F">
                  <a:alpha val="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22" name="TextBox 21">
                <a:extLst>
                  <a:ext uri="{FF2B5EF4-FFF2-40B4-BE49-F238E27FC236}">
                    <a16:creationId xmlns:a16="http://schemas.microsoft.com/office/drawing/2014/main" id="{CDF682A5-F36D-A33E-7ED8-30B4836E5F59}"/>
                  </a:ext>
                </a:extLst>
              </p:cNvPr>
              <p:cNvSpPr txBox="1"/>
              <p:nvPr/>
            </p:nvSpPr>
            <p:spPr>
              <a:xfrm>
                <a:off x="7928725" y="1993702"/>
                <a:ext cx="2951251" cy="707886"/>
              </a:xfrm>
              <a:prstGeom prst="rect">
                <a:avLst/>
              </a:prstGeom>
              <a:noFill/>
            </p:spPr>
            <p:txBody>
              <a:bodyPr wrap="square">
                <a:spAutoFit/>
              </a:bodyPr>
              <a:lstStyle/>
              <a:p>
                <a:pPr marL="171450" marR="0" lvl="0" indent="-171450" algn="r" defTabSz="457200" rtl="1" eaLnBrk="1" fontAlgn="auto" latinLnBrk="0" hangingPunct="1">
                  <a:lnSpc>
                    <a:spcPct val="100000"/>
                  </a:lnSpc>
                  <a:spcBef>
                    <a:spcPts val="0"/>
                  </a:spcBef>
                  <a:spcAft>
                    <a:spcPts val="0"/>
                  </a:spcAft>
                  <a:buClr>
                    <a:srgbClr val="F0BE0F"/>
                  </a:buClr>
                  <a:buSzTx/>
                  <a:buFont typeface="Arial" panose="020B0604020202020204" pitchFamily="34" charset="0"/>
                  <a:buChar char="•"/>
                  <a:tabLst/>
                  <a:defRPr/>
                </a:pPr>
                <a:r>
                  <a:rPr kumimoji="0" lang="fa-IR" sz="1000" b="0" i="0" u="none" strike="noStrike" kern="1200" cap="none" spc="0" normalizeH="0" baseline="0" noProof="0" dirty="0">
                    <a:ln>
                      <a:noFill/>
                    </a:ln>
                    <a:solidFill>
                      <a:srgbClr val="60688E"/>
                    </a:solidFill>
                    <a:effectLst/>
                    <a:uLnTx/>
                    <a:uFillTx/>
                    <a:latin typeface="Yekan Bakh" pitchFamily="2" charset="-78"/>
                    <a:ea typeface="Yekan Bakh" pitchFamily="2" charset="-78"/>
                    <a:cs typeface="Yekan Bakh" pitchFamily="2" charset="-78"/>
                  </a:rPr>
                  <a:t>دسترسی به فرصت اختصاصی</a:t>
                </a:r>
              </a:p>
              <a:p>
                <a:pPr marL="171450" marR="0" lvl="0" indent="-171450" algn="r" defTabSz="457200" rtl="1" eaLnBrk="1" fontAlgn="auto" latinLnBrk="0" hangingPunct="1">
                  <a:lnSpc>
                    <a:spcPct val="100000"/>
                  </a:lnSpc>
                  <a:spcBef>
                    <a:spcPts val="0"/>
                  </a:spcBef>
                  <a:spcAft>
                    <a:spcPts val="0"/>
                  </a:spcAft>
                  <a:buClr>
                    <a:srgbClr val="F0BE0F"/>
                  </a:buClr>
                  <a:buSzTx/>
                  <a:buFont typeface="Arial" panose="020B0604020202020204" pitchFamily="34" charset="0"/>
                  <a:buChar char="•"/>
                  <a:tabLst/>
                  <a:defRPr/>
                </a:pPr>
                <a:r>
                  <a:rPr kumimoji="0" lang="fa-IR" sz="1000" b="0" i="0" u="none" strike="noStrike" kern="1200" cap="none" spc="0" normalizeH="0" baseline="0" noProof="0" dirty="0">
                    <a:ln>
                      <a:noFill/>
                    </a:ln>
                    <a:solidFill>
                      <a:srgbClr val="60688E"/>
                    </a:solidFill>
                    <a:effectLst/>
                    <a:uLnTx/>
                    <a:uFillTx/>
                    <a:latin typeface="Yekan Bakh" pitchFamily="2" charset="-78"/>
                    <a:ea typeface="Yekan Bakh" pitchFamily="2" charset="-78"/>
                    <a:cs typeface="Yekan Bakh" pitchFamily="2" charset="-78"/>
                  </a:rPr>
                  <a:t>راستی‌آزمایی ادعا</a:t>
                </a:r>
              </a:p>
              <a:p>
                <a:pPr marL="171450" marR="0" lvl="0" indent="-171450" algn="r" defTabSz="457200" rtl="1" eaLnBrk="1" fontAlgn="auto" latinLnBrk="0" hangingPunct="1">
                  <a:lnSpc>
                    <a:spcPct val="100000"/>
                  </a:lnSpc>
                  <a:spcBef>
                    <a:spcPts val="0"/>
                  </a:spcBef>
                  <a:spcAft>
                    <a:spcPts val="0"/>
                  </a:spcAft>
                  <a:buClr>
                    <a:srgbClr val="F0BE0F"/>
                  </a:buClr>
                  <a:buSzTx/>
                  <a:buFont typeface="Arial" panose="020B0604020202020204" pitchFamily="34" charset="0"/>
                  <a:buChar char="•"/>
                  <a:tabLst/>
                  <a:defRPr/>
                </a:pPr>
                <a:r>
                  <a:rPr kumimoji="0" lang="fa-IR" sz="1000" b="0" i="0" u="none" strike="noStrike" kern="1200" cap="none" spc="0" normalizeH="0" baseline="0" noProof="0" dirty="0">
                    <a:ln>
                      <a:noFill/>
                    </a:ln>
                    <a:solidFill>
                      <a:srgbClr val="60688E"/>
                    </a:solidFill>
                    <a:effectLst/>
                    <a:uLnTx/>
                    <a:uFillTx/>
                    <a:latin typeface="Yekan Bakh" pitchFamily="2" charset="-78"/>
                    <a:ea typeface="Yekan Bakh" pitchFamily="2" charset="-78"/>
                    <a:cs typeface="Yekan Bakh" pitchFamily="2" charset="-78"/>
                  </a:rPr>
                  <a:t>پایش مستمر</a:t>
                </a:r>
              </a:p>
              <a:p>
                <a:pPr marL="171450" marR="0" lvl="0" indent="-171450" algn="r" defTabSz="457200" rtl="1" eaLnBrk="1" fontAlgn="auto" latinLnBrk="0" hangingPunct="1">
                  <a:lnSpc>
                    <a:spcPct val="100000"/>
                  </a:lnSpc>
                  <a:spcBef>
                    <a:spcPts val="0"/>
                  </a:spcBef>
                  <a:spcAft>
                    <a:spcPts val="0"/>
                  </a:spcAft>
                  <a:buClr>
                    <a:srgbClr val="F0BE0F"/>
                  </a:buClr>
                  <a:buSzTx/>
                  <a:buFont typeface="Arial" panose="020B0604020202020204" pitchFamily="34" charset="0"/>
                  <a:buChar char="•"/>
                  <a:tabLst/>
                  <a:defRPr/>
                </a:pPr>
                <a:r>
                  <a:rPr kumimoji="0" lang="fa-IR" sz="1000" b="0" i="0" u="none" strike="noStrike" kern="1200" cap="none" spc="0" normalizeH="0" baseline="0" noProof="0" dirty="0">
                    <a:ln>
                      <a:noFill/>
                    </a:ln>
                    <a:solidFill>
                      <a:srgbClr val="60688E"/>
                    </a:solidFill>
                    <a:effectLst/>
                    <a:uLnTx/>
                    <a:uFillTx/>
                    <a:latin typeface="Yekan Bakh" pitchFamily="2" charset="-78"/>
                    <a:ea typeface="Yekan Bakh" pitchFamily="2" charset="-78"/>
                    <a:cs typeface="Yekan Bakh" pitchFamily="2" charset="-78"/>
                  </a:rPr>
                  <a:t>مسیر خروج معتبر</a:t>
                </a:r>
                <a:endParaRPr kumimoji="0" lang="en-GB" sz="1000" b="0" i="0" u="none" strike="noStrike" kern="1200" cap="none" spc="0" normalizeH="0" baseline="0" noProof="0" dirty="0">
                  <a:ln>
                    <a:noFill/>
                  </a:ln>
                  <a:solidFill>
                    <a:srgbClr val="60688E"/>
                  </a:solidFill>
                  <a:effectLst/>
                  <a:uLnTx/>
                  <a:uFillTx/>
                  <a:latin typeface="Yekan Bakh" pitchFamily="2" charset="-78"/>
                  <a:ea typeface="Yekan Bakh" pitchFamily="2" charset="-78"/>
                  <a:cs typeface="Yekan Bakh" pitchFamily="2" charset="-78"/>
                </a:endParaRPr>
              </a:p>
            </p:txBody>
          </p:sp>
          <p:sp>
            <p:nvSpPr>
              <p:cNvPr id="23" name="Rectangle: Rounded Corners 22">
                <a:extLst>
                  <a:ext uri="{FF2B5EF4-FFF2-40B4-BE49-F238E27FC236}">
                    <a16:creationId xmlns:a16="http://schemas.microsoft.com/office/drawing/2014/main" id="{3C83970E-2C33-0A30-BFA5-FAE2BBD4781B}"/>
                  </a:ext>
                </a:extLst>
              </p:cNvPr>
              <p:cNvSpPr/>
              <p:nvPr/>
            </p:nvSpPr>
            <p:spPr>
              <a:xfrm>
                <a:off x="7785100" y="1690315"/>
                <a:ext cx="657546" cy="200769"/>
              </a:xfrm>
              <a:prstGeom prst="roundRect">
                <a:avLst>
                  <a:gd name="adj" fmla="val 50000"/>
                </a:avLst>
              </a:prstGeom>
              <a:solidFill>
                <a:srgbClr val="F0BE0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۱۰ کار</a:t>
                </a:r>
                <a:endParaRPr kumimoji="0" lang="en-GB" sz="11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grpSp>
      </p:grpSp>
    </p:spTree>
    <p:extLst>
      <p:ext uri="{BB962C8B-B14F-4D97-AF65-F5344CB8AC3E}">
        <p14:creationId xmlns:p14="http://schemas.microsoft.com/office/powerpoint/2010/main" val="373158852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FCF06F-8393-137B-F745-9DF01819D35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9891FEC-C731-CFCE-0B93-D7C859E03ABF}"/>
              </a:ext>
            </a:extLst>
          </p:cNvPr>
          <p:cNvSpPr>
            <a:spLocks noGrp="1"/>
          </p:cNvSpPr>
          <p:nvPr>
            <p:ph type="body" sz="quarter" idx="10"/>
          </p:nvPr>
        </p:nvSpPr>
        <p:spPr/>
        <p:txBody>
          <a:bodyPr/>
          <a:lstStyle/>
          <a:p>
            <a:r>
              <a:rPr lang="fa-IR" dirty="0"/>
              <a:t>---</a:t>
            </a:r>
          </a:p>
        </p:txBody>
      </p:sp>
      <p:sp>
        <p:nvSpPr>
          <p:cNvPr id="3" name="Text Placeholder 2">
            <a:extLst>
              <a:ext uri="{FF2B5EF4-FFF2-40B4-BE49-F238E27FC236}">
                <a16:creationId xmlns:a16="http://schemas.microsoft.com/office/drawing/2014/main" id="{3ECB5C72-EEB9-EE45-79C2-93F1A6A8C437}"/>
              </a:ext>
            </a:extLst>
          </p:cNvPr>
          <p:cNvSpPr>
            <a:spLocks noGrp="1"/>
          </p:cNvSpPr>
          <p:nvPr>
            <p:ph type="body" sz="quarter" idx="12"/>
          </p:nvPr>
        </p:nvSpPr>
        <p:spPr/>
        <p:txBody>
          <a:bodyPr/>
          <a:lstStyle/>
          <a:p>
            <a:r>
              <a:rPr lang="fa-IR" dirty="0"/>
              <a:t>نقشه پرسوناها/۱</a:t>
            </a:r>
          </a:p>
          <a:p>
            <a:r>
              <a:rPr lang="fa-IR" sz="1200" b="0" dirty="0">
                <a:solidFill>
                  <a:schemeClr val="tx1">
                    <a:lumMod val="50000"/>
                    <a:lumOff val="50000"/>
                  </a:schemeClr>
                </a:solidFill>
              </a:rPr>
              <a:t>برای هر پرسونا: تعریف کوتاه، سپس کارهای مشتری با دردسر و منفعت مربوطه</a:t>
            </a:r>
            <a:endParaRPr lang="en-GB" sz="1200" b="0" dirty="0">
              <a:solidFill>
                <a:schemeClr val="tx1">
                  <a:lumMod val="50000"/>
                  <a:lumOff val="50000"/>
                </a:schemeClr>
              </a:solidFill>
            </a:endParaRPr>
          </a:p>
        </p:txBody>
      </p:sp>
      <p:sp>
        <p:nvSpPr>
          <p:cNvPr id="4" name="Rectangle: Rounded Corners 3">
            <a:extLst>
              <a:ext uri="{FF2B5EF4-FFF2-40B4-BE49-F238E27FC236}">
                <a16:creationId xmlns:a16="http://schemas.microsoft.com/office/drawing/2014/main" id="{7E8DB6C5-B091-5B0A-AA5B-B732A6C50BB9}"/>
              </a:ext>
            </a:extLst>
          </p:cNvPr>
          <p:cNvSpPr/>
          <p:nvPr/>
        </p:nvSpPr>
        <p:spPr>
          <a:xfrm>
            <a:off x="437289" y="1343551"/>
            <a:ext cx="10806286" cy="4404106"/>
          </a:xfrm>
          <a:prstGeom prst="roundRect">
            <a:avLst>
              <a:gd name="adj" fmla="val 1837"/>
            </a:avLst>
          </a:prstGeom>
          <a:noFill/>
          <a:ln w="3175">
            <a:solidFill>
              <a:srgbClr val="F0BE0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cxnSp>
        <p:nvCxnSpPr>
          <p:cNvPr id="9" name="Straight Connector 8">
            <a:extLst>
              <a:ext uri="{FF2B5EF4-FFF2-40B4-BE49-F238E27FC236}">
                <a16:creationId xmlns:a16="http://schemas.microsoft.com/office/drawing/2014/main" id="{73572509-3C13-2109-9BB9-125EE5FABC89}"/>
              </a:ext>
            </a:extLst>
          </p:cNvPr>
          <p:cNvCxnSpPr>
            <a:cxnSpLocks/>
          </p:cNvCxnSpPr>
          <p:nvPr/>
        </p:nvCxnSpPr>
        <p:spPr>
          <a:xfrm>
            <a:off x="437288" y="1981263"/>
            <a:ext cx="10806284" cy="0"/>
          </a:xfrm>
          <a:prstGeom prst="line">
            <a:avLst/>
          </a:prstGeom>
          <a:ln>
            <a:solidFill>
              <a:srgbClr val="F0BE0F"/>
            </a:solidFill>
            <a:prstDash val="solid"/>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AB3A967D-E5E2-866C-19F1-A2B35E29F4D2}"/>
              </a:ext>
            </a:extLst>
          </p:cNvPr>
          <p:cNvSpPr txBox="1"/>
          <p:nvPr/>
        </p:nvSpPr>
        <p:spPr>
          <a:xfrm>
            <a:off x="437288" y="1628412"/>
            <a:ext cx="10411685" cy="230832"/>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err="1">
                <a:ln>
                  <a:noFill/>
                </a:ln>
                <a:solidFill>
                  <a:srgbClr val="1E2761"/>
                </a:solidFill>
                <a:effectLst/>
                <a:uLnTx/>
                <a:uFillTx/>
                <a:latin typeface="Yekan Bakh" pitchFamily="2" charset="-78"/>
                <a:ea typeface="Yekan Bakh" pitchFamily="2" charset="-78"/>
                <a:cs typeface="Yekan Bakh" pitchFamily="2" charset="-78"/>
              </a:rPr>
              <a:t>شرکت</a:t>
            </a:r>
            <a:r>
              <a:rPr kumimoji="0" lang="en-US" sz="9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 </a:t>
            </a:r>
            <a:r>
              <a:rPr kumimoji="0" lang="en-US" sz="900" b="1" i="0" u="none" strike="noStrike" kern="1200" cap="none" spc="0" normalizeH="0" baseline="0" noProof="0" dirty="0" err="1">
                <a:ln>
                  <a:noFill/>
                </a:ln>
                <a:solidFill>
                  <a:srgbClr val="1E2761"/>
                </a:solidFill>
                <a:effectLst/>
                <a:uLnTx/>
                <a:uFillTx/>
                <a:latin typeface="Yekan Bakh" pitchFamily="2" charset="-78"/>
                <a:ea typeface="Yekan Bakh" pitchFamily="2" charset="-78"/>
                <a:cs typeface="Yekan Bakh" pitchFamily="2" charset="-78"/>
              </a:rPr>
              <a:t>نسبتاً</a:t>
            </a:r>
            <a:r>
              <a:rPr kumimoji="0" lang="en-US" sz="9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 </a:t>
            </a:r>
            <a:r>
              <a:rPr kumimoji="0" lang="en-US" sz="900" b="1" i="0" u="none" strike="noStrike" kern="1200" cap="none" spc="0" normalizeH="0" baseline="0" noProof="0" dirty="0" err="1">
                <a:ln>
                  <a:noFill/>
                </a:ln>
                <a:solidFill>
                  <a:srgbClr val="1E2761"/>
                </a:solidFill>
                <a:effectLst/>
                <a:uLnTx/>
                <a:uFillTx/>
                <a:latin typeface="Yekan Bakh" pitchFamily="2" charset="-78"/>
                <a:ea typeface="Yekan Bakh" pitchFamily="2" charset="-78"/>
                <a:cs typeface="Yekan Bakh" pitchFamily="2" charset="-78"/>
              </a:rPr>
              <a:t>بالغ</a:t>
            </a:r>
            <a:r>
              <a:rPr kumimoji="0" lang="en-US" sz="9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 </a:t>
            </a:r>
            <a:r>
              <a:rPr kumimoji="0" lang="en-US" sz="900" b="1" i="0" u="none" strike="noStrike" kern="1200" cap="none" spc="0" normalizeH="0" baseline="0" noProof="0" dirty="0" err="1">
                <a:ln>
                  <a:noFill/>
                </a:ln>
                <a:solidFill>
                  <a:srgbClr val="1E2761"/>
                </a:solidFill>
                <a:effectLst/>
                <a:uLnTx/>
                <a:uFillTx/>
                <a:latin typeface="Yekan Bakh" pitchFamily="2" charset="-78"/>
                <a:ea typeface="Yekan Bakh" pitchFamily="2" charset="-78"/>
                <a:cs typeface="Yekan Bakh" pitchFamily="2" charset="-78"/>
              </a:rPr>
              <a:t>ایرانی</a:t>
            </a:r>
            <a:r>
              <a:rPr kumimoji="0" lang="en-US" sz="9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 </a:t>
            </a:r>
            <a:r>
              <a:rPr kumimoji="0" lang="en-US" sz="900" b="1" i="0" u="none" strike="noStrike" kern="1200" cap="none" spc="0" normalizeH="0" baseline="0" noProof="0" dirty="0" err="1">
                <a:ln>
                  <a:noFill/>
                </a:ln>
                <a:solidFill>
                  <a:srgbClr val="1E2761"/>
                </a:solidFill>
                <a:effectLst/>
                <a:uLnTx/>
                <a:uFillTx/>
                <a:latin typeface="Yekan Bakh" pitchFamily="2" charset="-78"/>
                <a:ea typeface="Yekan Bakh" pitchFamily="2" charset="-78"/>
                <a:cs typeface="Yekan Bakh" pitchFamily="2" charset="-78"/>
              </a:rPr>
              <a:t>با</a:t>
            </a:r>
            <a:r>
              <a:rPr kumimoji="0" lang="en-US" sz="9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 </a:t>
            </a:r>
            <a:r>
              <a:rPr kumimoji="0" lang="en-US" sz="900" b="1" i="0" u="none" strike="noStrike" kern="1200" cap="none" spc="0" normalizeH="0" baseline="0" noProof="0" dirty="0" err="1">
                <a:ln>
                  <a:noFill/>
                </a:ln>
                <a:solidFill>
                  <a:srgbClr val="1E2761"/>
                </a:solidFill>
                <a:effectLst/>
                <a:uLnTx/>
                <a:uFillTx/>
                <a:latin typeface="Yekan Bakh" pitchFamily="2" charset="-78"/>
                <a:ea typeface="Yekan Bakh" pitchFamily="2" charset="-78"/>
                <a:cs typeface="Yekan Bakh" pitchFamily="2" charset="-78"/>
              </a:rPr>
              <a:t>هدف</a:t>
            </a:r>
            <a:r>
              <a:rPr kumimoji="0" lang="en-US" sz="9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 </a:t>
            </a:r>
            <a:r>
              <a:rPr kumimoji="0" lang="en-US" sz="900" b="1" i="0" u="none" strike="noStrike" kern="1200" cap="none" spc="0" normalizeH="0" baseline="0" noProof="0" dirty="0" err="1">
                <a:ln>
                  <a:noFill/>
                </a:ln>
                <a:solidFill>
                  <a:srgbClr val="1E2761"/>
                </a:solidFill>
                <a:effectLst/>
                <a:uLnTx/>
                <a:uFillTx/>
                <a:latin typeface="Yekan Bakh" pitchFamily="2" charset="-78"/>
                <a:ea typeface="Yekan Bakh" pitchFamily="2" charset="-78"/>
                <a:cs typeface="Yekan Bakh" pitchFamily="2" charset="-78"/>
              </a:rPr>
              <a:t>بین‌المللی</a:t>
            </a:r>
            <a:r>
              <a:rPr kumimoji="0" lang="en-US" sz="9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 </a:t>
            </a:r>
            <a:r>
              <a:rPr kumimoji="0" lang="en-US" sz="900" b="1" i="0" u="none" strike="noStrike" kern="1200" cap="none" spc="0" normalizeH="0" baseline="0" noProof="0" dirty="0" err="1">
                <a:ln>
                  <a:noFill/>
                </a:ln>
                <a:solidFill>
                  <a:srgbClr val="1E2761"/>
                </a:solidFill>
                <a:effectLst/>
                <a:uLnTx/>
                <a:uFillTx/>
                <a:latin typeface="Yekan Bakh" pitchFamily="2" charset="-78"/>
                <a:ea typeface="Yekan Bakh" pitchFamily="2" charset="-78"/>
                <a:cs typeface="Yekan Bakh" pitchFamily="2" charset="-78"/>
              </a:rPr>
              <a:t>مصوب</a:t>
            </a:r>
            <a:r>
              <a:rPr kumimoji="0" lang="en-US" sz="9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 و </a:t>
            </a:r>
            <a:r>
              <a:rPr kumimoji="0" lang="en-US" sz="900" b="1" i="0" u="none" strike="noStrike" kern="1200" cap="none" spc="0" normalizeH="0" baseline="0" noProof="0" dirty="0" err="1">
                <a:ln>
                  <a:noFill/>
                </a:ln>
                <a:solidFill>
                  <a:srgbClr val="1E2761"/>
                </a:solidFill>
                <a:effectLst/>
                <a:uLnTx/>
                <a:uFillTx/>
                <a:latin typeface="Yekan Bakh" pitchFamily="2" charset="-78"/>
                <a:ea typeface="Yekan Bakh" pitchFamily="2" charset="-78"/>
                <a:cs typeface="Yekan Bakh" pitchFamily="2" charset="-78"/>
              </a:rPr>
              <a:t>آمادگی</a:t>
            </a:r>
            <a:r>
              <a:rPr kumimoji="0" lang="en-US" sz="9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 </a:t>
            </a:r>
            <a:r>
              <a:rPr kumimoji="0" lang="en-US" sz="900" b="1" i="0" u="none" strike="noStrike" kern="1200" cap="none" spc="0" normalizeH="0" baseline="0" noProof="0" dirty="0" err="1">
                <a:ln>
                  <a:noFill/>
                </a:ln>
                <a:solidFill>
                  <a:srgbClr val="1E2761"/>
                </a:solidFill>
                <a:effectLst/>
                <a:uLnTx/>
                <a:uFillTx/>
                <a:latin typeface="Yekan Bakh" pitchFamily="2" charset="-78"/>
                <a:ea typeface="Yekan Bakh" pitchFamily="2" charset="-78"/>
                <a:cs typeface="Yekan Bakh" pitchFamily="2" charset="-78"/>
              </a:rPr>
              <a:t>اجرا</a:t>
            </a:r>
            <a:r>
              <a:rPr kumimoji="0" lang="en-US" sz="9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 </a:t>
            </a:r>
            <a:r>
              <a:rPr kumimoji="0" lang="en-US" sz="900" b="1" i="0" u="none" strike="noStrike" kern="1200" cap="none" spc="0" normalizeH="0" baseline="0" noProof="0" dirty="0" err="1">
                <a:ln>
                  <a:noFill/>
                </a:ln>
                <a:solidFill>
                  <a:srgbClr val="1E2761"/>
                </a:solidFill>
                <a:effectLst/>
                <a:uLnTx/>
                <a:uFillTx/>
                <a:latin typeface="Yekan Bakh" pitchFamily="2" charset="-78"/>
                <a:ea typeface="Yekan Bakh" pitchFamily="2" charset="-78"/>
                <a:cs typeface="Yekan Bakh" pitchFamily="2" charset="-78"/>
              </a:rPr>
              <a:t>به‌دنبال</a:t>
            </a:r>
            <a:r>
              <a:rPr kumimoji="0" lang="en-US" sz="9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 </a:t>
            </a:r>
            <a:r>
              <a:rPr kumimoji="0" lang="en-US" sz="900" b="1" i="0" u="none" strike="noStrike" kern="1200" cap="none" spc="0" normalizeH="0" baseline="0" noProof="0" dirty="0" err="1">
                <a:ln>
                  <a:noFill/>
                </a:ln>
                <a:solidFill>
                  <a:srgbClr val="1E2761"/>
                </a:solidFill>
                <a:effectLst/>
                <a:uLnTx/>
                <a:uFillTx/>
                <a:latin typeface="Yekan Bakh" pitchFamily="2" charset="-78"/>
                <a:ea typeface="Yekan Bakh" pitchFamily="2" charset="-78"/>
                <a:cs typeface="Yekan Bakh" pitchFamily="2" charset="-78"/>
              </a:rPr>
              <a:t>مزیت</a:t>
            </a:r>
            <a:r>
              <a:rPr kumimoji="0" lang="en-US" sz="9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 </a:t>
            </a:r>
            <a:r>
              <a:rPr kumimoji="0" lang="en-US" sz="900" b="1" i="0" u="none" strike="noStrike" kern="1200" cap="none" spc="0" normalizeH="0" baseline="0" noProof="0" dirty="0" err="1">
                <a:ln>
                  <a:noFill/>
                </a:ln>
                <a:solidFill>
                  <a:srgbClr val="1E2761"/>
                </a:solidFill>
                <a:effectLst/>
                <a:uLnTx/>
                <a:uFillTx/>
                <a:latin typeface="Yekan Bakh" pitchFamily="2" charset="-78"/>
                <a:ea typeface="Yekan Bakh" pitchFamily="2" charset="-78"/>
                <a:cs typeface="Yekan Bakh" pitchFamily="2" charset="-78"/>
              </a:rPr>
              <a:t>رقابتی</a:t>
            </a:r>
            <a:r>
              <a:rPr kumimoji="0" lang="en-US" sz="9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 </a:t>
            </a:r>
            <a:r>
              <a:rPr kumimoji="0" lang="en-US" sz="900" b="1" i="0" u="none" strike="noStrike" kern="1200" cap="none" spc="0" normalizeH="0" baseline="0" noProof="0" dirty="0" err="1">
                <a:ln>
                  <a:noFill/>
                </a:ln>
                <a:solidFill>
                  <a:srgbClr val="1E2761"/>
                </a:solidFill>
                <a:effectLst/>
                <a:uLnTx/>
                <a:uFillTx/>
                <a:latin typeface="Yekan Bakh" pitchFamily="2" charset="-78"/>
                <a:ea typeface="Yekan Bakh" pitchFamily="2" charset="-78"/>
                <a:cs typeface="Yekan Bakh" pitchFamily="2" charset="-78"/>
              </a:rPr>
              <a:t>اعتبار</a:t>
            </a:r>
            <a:r>
              <a:rPr kumimoji="0" lang="en-US" sz="9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 </a:t>
            </a:r>
            <a:r>
              <a:rPr kumimoji="0" lang="en-US" sz="900" b="1" i="0" u="none" strike="noStrike" kern="1200" cap="none" spc="0" normalizeH="0" baseline="0" noProof="0" dirty="0" err="1">
                <a:ln>
                  <a:noFill/>
                </a:ln>
                <a:solidFill>
                  <a:srgbClr val="1E2761"/>
                </a:solidFill>
                <a:effectLst/>
                <a:uLnTx/>
                <a:uFillTx/>
                <a:latin typeface="Yekan Bakh" pitchFamily="2" charset="-78"/>
                <a:ea typeface="Yekan Bakh" pitchFamily="2" charset="-78"/>
                <a:cs typeface="Yekan Bakh" pitchFamily="2" charset="-78"/>
              </a:rPr>
              <a:t>تأمین</a:t>
            </a:r>
            <a:r>
              <a:rPr kumimoji="0" lang="en-US" sz="9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 </a:t>
            </a:r>
            <a:r>
              <a:rPr kumimoji="0" lang="en-US" sz="900" b="1" i="0" u="none" strike="noStrike" kern="1200" cap="none" spc="0" normalizeH="0" baseline="0" noProof="0" dirty="0" err="1">
                <a:ln>
                  <a:noFill/>
                </a:ln>
                <a:solidFill>
                  <a:srgbClr val="1E2761"/>
                </a:solidFill>
                <a:effectLst/>
                <a:uLnTx/>
                <a:uFillTx/>
                <a:latin typeface="Yekan Bakh" pitchFamily="2" charset="-78"/>
                <a:ea typeface="Yekan Bakh" pitchFamily="2" charset="-78"/>
                <a:cs typeface="Yekan Bakh" pitchFamily="2" charset="-78"/>
              </a:rPr>
              <a:t>مالی</a:t>
            </a:r>
            <a:r>
              <a:rPr kumimoji="0" lang="en-US" sz="9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 </a:t>
            </a:r>
            <a:r>
              <a:rPr kumimoji="0" lang="en-US" sz="900" b="1" i="0" u="none" strike="noStrike" kern="1200" cap="none" spc="0" normalizeH="0" baseline="0" noProof="0" dirty="0" err="1">
                <a:ln>
                  <a:noFill/>
                </a:ln>
                <a:solidFill>
                  <a:srgbClr val="1E2761"/>
                </a:solidFill>
                <a:effectLst/>
                <a:uLnTx/>
                <a:uFillTx/>
                <a:latin typeface="Yekan Bakh" pitchFamily="2" charset="-78"/>
                <a:ea typeface="Yekan Bakh" pitchFamily="2" charset="-78"/>
                <a:cs typeface="Yekan Bakh" pitchFamily="2" charset="-78"/>
              </a:rPr>
              <a:t>یا</a:t>
            </a:r>
            <a:r>
              <a:rPr kumimoji="0" lang="en-US" sz="9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 </a:t>
            </a:r>
            <a:r>
              <a:rPr kumimoji="0" lang="en-US" sz="900" b="1" i="0" u="none" strike="noStrike" kern="1200" cap="none" spc="0" normalizeH="0" baseline="0" noProof="0" dirty="0" err="1">
                <a:ln>
                  <a:noFill/>
                </a:ln>
                <a:solidFill>
                  <a:srgbClr val="1E2761"/>
                </a:solidFill>
                <a:effectLst/>
                <a:uLnTx/>
                <a:uFillTx/>
                <a:latin typeface="Yekan Bakh" pitchFamily="2" charset="-78"/>
                <a:ea typeface="Yekan Bakh" pitchFamily="2" charset="-78"/>
                <a:cs typeface="Yekan Bakh" pitchFamily="2" charset="-78"/>
              </a:rPr>
              <a:t>فرصت‌های</a:t>
            </a:r>
            <a:r>
              <a:rPr kumimoji="0" lang="en-US" sz="9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 </a:t>
            </a:r>
            <a:r>
              <a:rPr kumimoji="0" lang="en-US" sz="900" b="1" i="0" u="none" strike="noStrike" kern="1200" cap="none" spc="0" normalizeH="0" baseline="0" noProof="0" dirty="0" err="1">
                <a:ln>
                  <a:noFill/>
                </a:ln>
                <a:solidFill>
                  <a:srgbClr val="1E2761"/>
                </a:solidFill>
                <a:effectLst/>
                <a:uLnTx/>
                <a:uFillTx/>
                <a:latin typeface="Yekan Bakh" pitchFamily="2" charset="-78"/>
                <a:ea typeface="Yekan Bakh" pitchFamily="2" charset="-78"/>
                <a:cs typeface="Yekan Bakh" pitchFamily="2" charset="-78"/>
              </a:rPr>
              <a:t>جدید</a:t>
            </a:r>
            <a:r>
              <a:rPr kumimoji="0" lang="en-US" sz="9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 </a:t>
            </a:r>
            <a:r>
              <a:rPr kumimoji="0" lang="en-US" sz="900" b="1" i="0" u="none" strike="noStrike" kern="1200" cap="none" spc="0" normalizeH="0" baseline="0" noProof="0" dirty="0" err="1">
                <a:ln>
                  <a:noFill/>
                </a:ln>
                <a:solidFill>
                  <a:srgbClr val="1E2761"/>
                </a:solidFill>
                <a:effectLst/>
                <a:uLnTx/>
                <a:uFillTx/>
                <a:latin typeface="Yekan Bakh" pitchFamily="2" charset="-78"/>
                <a:ea typeface="Yekan Bakh" pitchFamily="2" charset="-78"/>
                <a:cs typeface="Yekan Bakh" pitchFamily="2" charset="-78"/>
              </a:rPr>
              <a:t>است</a:t>
            </a:r>
            <a:r>
              <a:rPr kumimoji="0" lang="en-US" sz="9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 </a:t>
            </a:r>
            <a:r>
              <a:rPr kumimoji="0" lang="en-US" sz="900" b="1" i="0" u="none" strike="noStrike" kern="1200" cap="none" spc="0" normalizeH="0" baseline="0" noProof="0" dirty="0" err="1">
                <a:ln>
                  <a:noFill/>
                </a:ln>
                <a:solidFill>
                  <a:srgbClr val="1E2761"/>
                </a:solidFill>
                <a:effectLst/>
                <a:uLnTx/>
                <a:uFillTx/>
                <a:latin typeface="Yekan Bakh" pitchFamily="2" charset="-78"/>
                <a:ea typeface="Yekan Bakh" pitchFamily="2" charset="-78"/>
                <a:cs typeface="Yekan Bakh" pitchFamily="2" charset="-78"/>
              </a:rPr>
              <a:t>مانع</a:t>
            </a:r>
            <a:r>
              <a:rPr kumimoji="0" lang="en-US" sz="9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 </a:t>
            </a:r>
            <a:r>
              <a:rPr kumimoji="0" lang="en-US" sz="900" b="1" i="0" u="none" strike="noStrike" kern="1200" cap="none" spc="0" normalizeH="0" baseline="0" noProof="0" dirty="0" err="1">
                <a:ln>
                  <a:noFill/>
                </a:ln>
                <a:solidFill>
                  <a:srgbClr val="1E2761"/>
                </a:solidFill>
                <a:effectLst/>
                <a:uLnTx/>
                <a:uFillTx/>
                <a:latin typeface="Yekan Bakh" pitchFamily="2" charset="-78"/>
                <a:ea typeface="Yekan Bakh" pitchFamily="2" charset="-78"/>
                <a:cs typeface="Yekan Bakh" pitchFamily="2" charset="-78"/>
              </a:rPr>
              <a:t>اصلی</a:t>
            </a:r>
            <a:r>
              <a:rPr kumimoji="0" lang="en-US" sz="9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 </a:t>
            </a:r>
            <a:r>
              <a:rPr kumimoji="0" lang="en-US" sz="900" b="1" i="0" u="none" strike="noStrike" kern="1200" cap="none" spc="0" normalizeH="0" baseline="0" noProof="0" dirty="0" err="1">
                <a:ln>
                  <a:noFill/>
                </a:ln>
                <a:solidFill>
                  <a:srgbClr val="1E2761"/>
                </a:solidFill>
                <a:effectLst/>
                <a:uLnTx/>
                <a:uFillTx/>
                <a:latin typeface="Yekan Bakh" pitchFamily="2" charset="-78"/>
                <a:ea typeface="Yekan Bakh" pitchFamily="2" charset="-78"/>
                <a:cs typeface="Yekan Bakh" pitchFamily="2" charset="-78"/>
              </a:rPr>
              <a:t>او</a:t>
            </a:r>
            <a:r>
              <a:rPr kumimoji="0" lang="en-US" sz="9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 «</a:t>
            </a:r>
            <a:r>
              <a:rPr kumimoji="0" lang="en-US" sz="900" b="1" i="0" u="none" strike="noStrike" kern="1200" cap="none" spc="0" normalizeH="0" baseline="0" noProof="0" dirty="0" err="1">
                <a:ln>
                  <a:noFill/>
                </a:ln>
                <a:solidFill>
                  <a:srgbClr val="1E2761"/>
                </a:solidFill>
                <a:effectLst/>
                <a:uLnTx/>
                <a:uFillTx/>
                <a:latin typeface="Yekan Bakh" pitchFamily="2" charset="-78"/>
                <a:ea typeface="Yekan Bakh" pitchFamily="2" charset="-78"/>
                <a:cs typeface="Yekan Bakh" pitchFamily="2" charset="-78"/>
              </a:rPr>
              <a:t>دسترسی</a:t>
            </a:r>
            <a:r>
              <a:rPr kumimoji="0" lang="en-US" sz="9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 و </a:t>
            </a:r>
            <a:r>
              <a:rPr kumimoji="0" lang="en-US" sz="900" b="1" i="0" u="none" strike="noStrike" kern="1200" cap="none" spc="0" normalizeH="0" baseline="0" noProof="0" dirty="0" err="1">
                <a:ln>
                  <a:noFill/>
                </a:ln>
                <a:solidFill>
                  <a:srgbClr val="1E2761"/>
                </a:solidFill>
                <a:effectLst/>
                <a:uLnTx/>
                <a:uFillTx/>
                <a:latin typeface="Yekan Bakh" pitchFamily="2" charset="-78"/>
                <a:ea typeface="Yekan Bakh" pitchFamily="2" charset="-78"/>
                <a:cs typeface="Yekan Bakh" pitchFamily="2" charset="-78"/>
              </a:rPr>
              <a:t>پذیرفته‌شدن</a:t>
            </a:r>
            <a:r>
              <a:rPr kumimoji="0" lang="en-US" sz="9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 </a:t>
            </a:r>
            <a:r>
              <a:rPr kumimoji="0" lang="en-US" sz="900" b="1" i="0" u="none" strike="noStrike" kern="1200" cap="none" spc="0" normalizeH="0" baseline="0" noProof="0" dirty="0" err="1">
                <a:ln>
                  <a:noFill/>
                </a:ln>
                <a:solidFill>
                  <a:srgbClr val="1E2761"/>
                </a:solidFill>
                <a:effectLst/>
                <a:uLnTx/>
                <a:uFillTx/>
                <a:latin typeface="Yekan Bakh" pitchFamily="2" charset="-78"/>
                <a:ea typeface="Yekan Bakh" pitchFamily="2" charset="-78"/>
                <a:cs typeface="Yekan Bakh" pitchFamily="2" charset="-78"/>
              </a:rPr>
              <a:t>نزد</a:t>
            </a:r>
            <a:r>
              <a:rPr kumimoji="0" lang="en-US" sz="9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 </a:t>
            </a:r>
            <a:r>
              <a:rPr kumimoji="0" lang="en-US" sz="900" b="1" i="0" u="none" strike="noStrike" kern="1200" cap="none" spc="0" normalizeH="0" baseline="0" noProof="0" dirty="0" err="1">
                <a:ln>
                  <a:noFill/>
                </a:ln>
                <a:solidFill>
                  <a:srgbClr val="1E2761"/>
                </a:solidFill>
                <a:effectLst/>
                <a:uLnTx/>
                <a:uFillTx/>
                <a:latin typeface="Yekan Bakh" pitchFamily="2" charset="-78"/>
                <a:ea typeface="Yekan Bakh" pitchFamily="2" charset="-78"/>
                <a:cs typeface="Yekan Bakh" pitchFamily="2" charset="-78"/>
              </a:rPr>
              <a:t>طرف</a:t>
            </a:r>
            <a:r>
              <a:rPr kumimoji="0" lang="en-US" sz="9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 </a:t>
            </a:r>
            <a:r>
              <a:rPr kumimoji="0" lang="en-US" sz="900" b="1" i="0" u="none" strike="noStrike" kern="1200" cap="none" spc="0" normalizeH="0" baseline="0" noProof="0" dirty="0" err="1">
                <a:ln>
                  <a:noFill/>
                </a:ln>
                <a:solidFill>
                  <a:srgbClr val="1E2761"/>
                </a:solidFill>
                <a:effectLst/>
                <a:uLnTx/>
                <a:uFillTx/>
                <a:latin typeface="Yekan Bakh" pitchFamily="2" charset="-78"/>
                <a:ea typeface="Yekan Bakh" pitchFamily="2" charset="-78"/>
                <a:cs typeface="Yekan Bakh" pitchFamily="2" charset="-78"/>
              </a:rPr>
              <a:t>خارجی</a:t>
            </a:r>
            <a:r>
              <a:rPr kumimoji="0" lang="en-US" sz="9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 </a:t>
            </a:r>
            <a:r>
              <a:rPr kumimoji="0" lang="en-US" sz="900" b="1" i="0" u="none" strike="noStrike" kern="1200" cap="none" spc="0" normalizeH="0" baseline="0" noProof="0" dirty="0" err="1">
                <a:ln>
                  <a:noFill/>
                </a:ln>
                <a:solidFill>
                  <a:srgbClr val="1E2761"/>
                </a:solidFill>
                <a:effectLst/>
                <a:uLnTx/>
                <a:uFillTx/>
                <a:latin typeface="Yekan Bakh" pitchFamily="2" charset="-78"/>
                <a:ea typeface="Yekan Bakh" pitchFamily="2" charset="-78"/>
                <a:cs typeface="Yekan Bakh" pitchFamily="2" charset="-78"/>
              </a:rPr>
              <a:t>است</a:t>
            </a:r>
            <a:r>
              <a:rPr kumimoji="0" lang="en-US" sz="9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 </a:t>
            </a:r>
            <a:r>
              <a:rPr kumimoji="0" lang="en-US" sz="900" b="1" i="0" u="none" strike="noStrike" kern="1200" cap="none" spc="0" normalizeH="0" baseline="0" noProof="0" dirty="0" err="1">
                <a:ln>
                  <a:noFill/>
                </a:ln>
                <a:solidFill>
                  <a:srgbClr val="1E2761"/>
                </a:solidFill>
                <a:effectLst/>
                <a:uLnTx/>
                <a:uFillTx/>
                <a:latin typeface="Yekan Bakh" pitchFamily="2" charset="-78"/>
                <a:ea typeface="Yekan Bakh" pitchFamily="2" charset="-78"/>
                <a:cs typeface="Yekan Bakh" pitchFamily="2" charset="-78"/>
              </a:rPr>
              <a:t>نه</a:t>
            </a:r>
            <a:r>
              <a:rPr kumimoji="0" lang="en-US" sz="9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 </a:t>
            </a:r>
            <a:r>
              <a:rPr kumimoji="0" lang="en-US" sz="900" b="1" i="0" u="none" strike="noStrike" kern="1200" cap="none" spc="0" normalizeH="0" baseline="0" noProof="0" dirty="0" err="1">
                <a:ln>
                  <a:noFill/>
                </a:ln>
                <a:solidFill>
                  <a:srgbClr val="1E2761"/>
                </a:solidFill>
                <a:effectLst/>
                <a:uLnTx/>
                <a:uFillTx/>
                <a:latin typeface="Yekan Bakh" pitchFamily="2" charset="-78"/>
                <a:ea typeface="Yekan Bakh" pitchFamily="2" charset="-78"/>
                <a:cs typeface="Yekan Bakh" pitchFamily="2" charset="-78"/>
              </a:rPr>
              <a:t>ساخت</a:t>
            </a:r>
            <a:r>
              <a:rPr kumimoji="0" lang="en-US" sz="9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 </a:t>
            </a:r>
            <a:r>
              <a:rPr kumimoji="0" lang="en-US" sz="900" b="1" i="0" u="none" strike="noStrike" kern="1200" cap="none" spc="0" normalizeH="0" baseline="0" noProof="0" dirty="0" err="1">
                <a:ln>
                  <a:noFill/>
                </a:ln>
                <a:solidFill>
                  <a:srgbClr val="1E2761"/>
                </a:solidFill>
                <a:effectLst/>
                <a:uLnTx/>
                <a:uFillTx/>
                <a:latin typeface="Yekan Bakh" pitchFamily="2" charset="-78"/>
                <a:ea typeface="Yekan Bakh" pitchFamily="2" charset="-78"/>
                <a:cs typeface="Yekan Bakh" pitchFamily="2" charset="-78"/>
              </a:rPr>
              <a:t>قابلیت</a:t>
            </a:r>
            <a:r>
              <a:rPr kumimoji="0" lang="en-US" sz="9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 </a:t>
            </a:r>
            <a:r>
              <a:rPr kumimoji="0" lang="en-US" sz="900" b="1" i="0" u="none" strike="noStrike" kern="1200" cap="none" spc="0" normalizeH="0" baseline="0" noProof="0" dirty="0" err="1">
                <a:ln>
                  <a:noFill/>
                </a:ln>
                <a:solidFill>
                  <a:srgbClr val="1E2761"/>
                </a:solidFill>
                <a:effectLst/>
                <a:uLnTx/>
                <a:uFillTx/>
                <a:latin typeface="Yekan Bakh" pitchFamily="2" charset="-78"/>
                <a:ea typeface="Yekan Bakh" pitchFamily="2" charset="-78"/>
                <a:cs typeface="Yekan Bakh" pitchFamily="2" charset="-78"/>
              </a:rPr>
              <a:t>داخلی</a:t>
            </a:r>
            <a:r>
              <a:rPr kumimoji="0" lang="en-US" sz="9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a:t>
            </a:r>
          </a:p>
        </p:txBody>
      </p:sp>
      <p:sp>
        <p:nvSpPr>
          <p:cNvPr id="12" name="TextBox 11">
            <a:extLst>
              <a:ext uri="{FF2B5EF4-FFF2-40B4-BE49-F238E27FC236}">
                <a16:creationId xmlns:a16="http://schemas.microsoft.com/office/drawing/2014/main" id="{818317CB-39DF-72FC-1401-01467A3E7E97}"/>
              </a:ext>
            </a:extLst>
          </p:cNvPr>
          <p:cNvSpPr txBox="1"/>
          <p:nvPr/>
        </p:nvSpPr>
        <p:spPr>
          <a:xfrm>
            <a:off x="437288" y="1396898"/>
            <a:ext cx="10411685" cy="253916"/>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450"/>
              </a:spcAft>
              <a:buClrTx/>
              <a:buSzTx/>
              <a:buFontTx/>
              <a:buNone/>
              <a:tabLst/>
              <a:defRPr/>
            </a:pPr>
            <a:r>
              <a:rPr kumimoji="0" lang="en-US" sz="1050" b="1" i="0" u="none" strike="noStrike" kern="1200" cap="none" spc="0" normalizeH="0" baseline="0" noProof="0" dirty="0" err="1">
                <a:ln>
                  <a:noFill/>
                </a:ln>
                <a:solidFill>
                  <a:srgbClr val="F0BE0F"/>
                </a:solidFill>
                <a:effectLst/>
                <a:uLnTx/>
                <a:uFillTx/>
                <a:latin typeface="Yekan Bakh" pitchFamily="2" charset="-78"/>
                <a:ea typeface="Yekan Bakh" pitchFamily="2" charset="-78"/>
                <a:cs typeface="Yekan Bakh" pitchFamily="2" charset="-78"/>
              </a:rPr>
              <a:t>کسب‌وکار</a:t>
            </a:r>
            <a:r>
              <a:rPr kumimoji="0" lang="en-US" sz="105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 </a:t>
            </a:r>
            <a:r>
              <a:rPr kumimoji="0" lang="en-US" sz="1050" b="1" i="0" u="none" strike="noStrike" kern="1200" cap="none" spc="0" normalizeH="0" baseline="0" noProof="0" dirty="0" err="1">
                <a:ln>
                  <a:noFill/>
                </a:ln>
                <a:solidFill>
                  <a:srgbClr val="F0BE0F"/>
                </a:solidFill>
                <a:effectLst/>
                <a:uLnTx/>
                <a:uFillTx/>
                <a:latin typeface="Yekan Bakh" pitchFamily="2" charset="-78"/>
                <a:ea typeface="Yekan Bakh" pitchFamily="2" charset="-78"/>
                <a:cs typeface="Yekan Bakh" pitchFamily="2" charset="-78"/>
              </a:rPr>
              <a:t>تراز</a:t>
            </a:r>
            <a:r>
              <a:rPr kumimoji="0" lang="en-US" sz="105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 </a:t>
            </a:r>
            <a:r>
              <a:rPr kumimoji="0" lang="en-US" sz="1050" b="1" i="0" u="none" strike="noStrike" kern="1200" cap="none" spc="0" normalizeH="0" baseline="0" noProof="0" dirty="0" err="1">
                <a:ln>
                  <a:noFill/>
                </a:ln>
                <a:solidFill>
                  <a:srgbClr val="F0BE0F"/>
                </a:solidFill>
                <a:effectLst/>
                <a:uLnTx/>
                <a:uFillTx/>
                <a:latin typeface="Yekan Bakh" pitchFamily="2" charset="-78"/>
                <a:ea typeface="Yekan Bakh" pitchFamily="2" charset="-78"/>
                <a:cs typeface="Yekan Bakh" pitchFamily="2" charset="-78"/>
              </a:rPr>
              <a:t>ایرانی</a:t>
            </a:r>
            <a:endParaRPr kumimoji="0" lang="en-US" sz="1050" b="0"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p:txBody>
      </p:sp>
      <p:sp>
        <p:nvSpPr>
          <p:cNvPr id="15" name="Rectangle: Single Corner Rounded 14">
            <a:extLst>
              <a:ext uri="{FF2B5EF4-FFF2-40B4-BE49-F238E27FC236}">
                <a16:creationId xmlns:a16="http://schemas.microsoft.com/office/drawing/2014/main" id="{C7A4B652-9A56-C44E-0F1C-324C3B57AFE5}"/>
              </a:ext>
            </a:extLst>
          </p:cNvPr>
          <p:cNvSpPr/>
          <p:nvPr/>
        </p:nvSpPr>
        <p:spPr>
          <a:xfrm>
            <a:off x="10848973" y="1346509"/>
            <a:ext cx="394599" cy="634754"/>
          </a:xfrm>
          <a:prstGeom prst="round1Rect">
            <a:avLst/>
          </a:prstGeom>
          <a:solidFill>
            <a:srgbClr val="F0BE0F">
              <a:alpha val="7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6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۱</a:t>
            </a:r>
            <a:endParaRPr kumimoji="0" lang="en-GB" sz="16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cxnSp>
        <p:nvCxnSpPr>
          <p:cNvPr id="18" name="Straight Connector 17">
            <a:extLst>
              <a:ext uri="{FF2B5EF4-FFF2-40B4-BE49-F238E27FC236}">
                <a16:creationId xmlns:a16="http://schemas.microsoft.com/office/drawing/2014/main" id="{25A75681-3F3F-75AD-B60A-218A182883D9}"/>
              </a:ext>
            </a:extLst>
          </p:cNvPr>
          <p:cNvCxnSpPr>
            <a:cxnSpLocks/>
          </p:cNvCxnSpPr>
          <p:nvPr/>
        </p:nvCxnSpPr>
        <p:spPr>
          <a:xfrm>
            <a:off x="4048447" y="1981263"/>
            <a:ext cx="0" cy="3766394"/>
          </a:xfrm>
          <a:prstGeom prst="line">
            <a:avLst/>
          </a:prstGeom>
          <a:ln>
            <a:solidFill>
              <a:schemeClr val="bg1">
                <a:lumMod val="85000"/>
                <a:alpha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129D7237-B67C-9C4E-0E14-292BE634DCF0}"/>
              </a:ext>
            </a:extLst>
          </p:cNvPr>
          <p:cNvCxnSpPr>
            <a:cxnSpLocks/>
          </p:cNvCxnSpPr>
          <p:nvPr/>
        </p:nvCxnSpPr>
        <p:spPr>
          <a:xfrm>
            <a:off x="437288" y="2922862"/>
            <a:ext cx="10806284" cy="0"/>
          </a:xfrm>
          <a:prstGeom prst="line">
            <a:avLst/>
          </a:prstGeom>
          <a:ln>
            <a:solidFill>
              <a:schemeClr val="bg1">
                <a:lumMod val="85000"/>
                <a:alpha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DB8F560E-2B09-E74C-B87C-21A82B07227D}"/>
              </a:ext>
            </a:extLst>
          </p:cNvPr>
          <p:cNvCxnSpPr>
            <a:cxnSpLocks/>
          </p:cNvCxnSpPr>
          <p:nvPr/>
        </p:nvCxnSpPr>
        <p:spPr>
          <a:xfrm>
            <a:off x="437288" y="3864460"/>
            <a:ext cx="10806284" cy="0"/>
          </a:xfrm>
          <a:prstGeom prst="line">
            <a:avLst/>
          </a:prstGeom>
          <a:ln>
            <a:solidFill>
              <a:schemeClr val="bg1">
                <a:lumMod val="85000"/>
                <a:alpha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FA1F62B8-BDF7-3902-84BA-23FE86731782}"/>
              </a:ext>
            </a:extLst>
          </p:cNvPr>
          <p:cNvCxnSpPr>
            <a:cxnSpLocks/>
          </p:cNvCxnSpPr>
          <p:nvPr/>
        </p:nvCxnSpPr>
        <p:spPr>
          <a:xfrm>
            <a:off x="437288" y="4806059"/>
            <a:ext cx="10806284" cy="0"/>
          </a:xfrm>
          <a:prstGeom prst="line">
            <a:avLst/>
          </a:prstGeom>
          <a:ln>
            <a:solidFill>
              <a:schemeClr val="bg1">
                <a:lumMod val="85000"/>
                <a:alpha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58AD703A-4958-B22F-ED44-073159B0E426}"/>
              </a:ext>
            </a:extLst>
          </p:cNvPr>
          <p:cNvCxnSpPr>
            <a:cxnSpLocks/>
          </p:cNvCxnSpPr>
          <p:nvPr/>
        </p:nvCxnSpPr>
        <p:spPr>
          <a:xfrm>
            <a:off x="7646009" y="1981263"/>
            <a:ext cx="0" cy="3766394"/>
          </a:xfrm>
          <a:prstGeom prst="line">
            <a:avLst/>
          </a:prstGeom>
          <a:ln>
            <a:solidFill>
              <a:schemeClr val="bg1">
                <a:lumMod val="85000"/>
                <a:alpha val="90000"/>
              </a:schemeClr>
            </a:solidFill>
            <a:prstDash val="dash"/>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9A169300-F640-4F02-F8F7-E2351273A8E9}"/>
              </a:ext>
            </a:extLst>
          </p:cNvPr>
          <p:cNvSpPr txBox="1"/>
          <p:nvPr/>
        </p:nvSpPr>
        <p:spPr>
          <a:xfrm>
            <a:off x="7646008" y="2005725"/>
            <a:ext cx="3597561" cy="364202"/>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30" normalizeH="0" baseline="0" noProof="0" dirty="0" err="1">
                <a:ln>
                  <a:noFill/>
                </a:ln>
                <a:solidFill>
                  <a:srgbClr val="F0BE0F"/>
                </a:solidFill>
                <a:effectLst/>
                <a:uLnTx/>
                <a:uFillTx/>
                <a:latin typeface="Yekan Bakh" pitchFamily="2" charset="-78"/>
                <a:ea typeface="Yekan Bakh" pitchFamily="2" charset="-78"/>
                <a:cs typeface="Yekan Bakh" pitchFamily="2" charset="-78"/>
              </a:rPr>
              <a:t>کار</a:t>
            </a:r>
            <a:r>
              <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 ۱</a:t>
            </a:r>
          </a:p>
          <a:p>
            <a:pPr marL="0" marR="0" lvl="0" indent="0" algn="ctr" defTabSz="457200" rtl="1" eaLnBrk="1" fontAlgn="auto" latinLnBrk="0" hangingPunct="1">
              <a:lnSpc>
                <a:spcPct val="100000"/>
              </a:lnSpc>
              <a:spcBef>
                <a:spcPts val="225"/>
              </a:spcBef>
              <a:spcAft>
                <a:spcPts val="0"/>
              </a:spcAft>
              <a:buClrTx/>
              <a:buSzTx/>
              <a:buFontTx/>
              <a:buNone/>
              <a:tabLst/>
              <a:defRPr/>
            </a:pPr>
            <a:r>
              <a:rPr kumimoji="0" lang="en-US" sz="7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اطمینان </a:t>
            </a:r>
            <a:r>
              <a:rPr kumimoji="0" lang="en-US" sz="700" b="0" i="0" u="none" strike="noStrike" kern="1200" cap="none" spc="0" normalizeH="0" baseline="0" noProof="0" dirty="0" err="1">
                <a:ln>
                  <a:noFill/>
                </a:ln>
                <a:solidFill>
                  <a:srgbClr val="1E2761"/>
                </a:solidFill>
                <a:effectLst/>
                <a:uLnTx/>
                <a:uFillTx/>
                <a:latin typeface="Yekan Bakh" pitchFamily="2" charset="-78"/>
                <a:ea typeface="Yekan Bakh" pitchFamily="2" charset="-78"/>
                <a:cs typeface="Yekan Bakh" pitchFamily="2" charset="-78"/>
              </a:rPr>
              <a:t>از</a:t>
            </a:r>
            <a:r>
              <a:rPr kumimoji="0" lang="en-US" sz="7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 </a:t>
            </a:r>
            <a:r>
              <a:rPr kumimoji="0" lang="en-US" sz="700" b="0" i="0" u="none" strike="noStrike" kern="1200" cap="none" spc="0" normalizeH="0" baseline="0" noProof="0" dirty="0" err="1">
                <a:ln>
                  <a:noFill/>
                </a:ln>
                <a:solidFill>
                  <a:srgbClr val="1E2761"/>
                </a:solidFill>
                <a:effectLst/>
                <a:uLnTx/>
                <a:uFillTx/>
                <a:latin typeface="Yekan Bakh" pitchFamily="2" charset="-78"/>
                <a:ea typeface="Yekan Bakh" pitchFamily="2" charset="-78"/>
                <a:cs typeface="Yekan Bakh" pitchFamily="2" charset="-78"/>
              </a:rPr>
              <a:t>صحت</a:t>
            </a:r>
            <a:r>
              <a:rPr kumimoji="0" lang="en-US" sz="7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 </a:t>
            </a:r>
            <a:r>
              <a:rPr kumimoji="0" lang="en-US" sz="700" b="0" i="0" u="none" strike="noStrike" kern="1200" cap="none" spc="0" normalizeH="0" baseline="0" noProof="0" dirty="0" err="1">
                <a:ln>
                  <a:noFill/>
                </a:ln>
                <a:solidFill>
                  <a:srgbClr val="1E2761"/>
                </a:solidFill>
                <a:effectLst/>
                <a:uLnTx/>
                <a:uFillTx/>
                <a:latin typeface="Yekan Bakh" pitchFamily="2" charset="-78"/>
                <a:ea typeface="Yekan Bakh" pitchFamily="2" charset="-78"/>
                <a:cs typeface="Yekan Bakh" pitchFamily="2" charset="-78"/>
              </a:rPr>
              <a:t>وجود</a:t>
            </a:r>
            <a:r>
              <a:rPr kumimoji="0" lang="en-US" sz="7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 </a:t>
            </a:r>
            <a:r>
              <a:rPr kumimoji="0" lang="en-US" sz="700" b="0" i="0" u="none" strike="noStrike" kern="1200" cap="none" spc="0" normalizeH="0" baseline="0" noProof="0" dirty="0" err="1">
                <a:ln>
                  <a:noFill/>
                </a:ln>
                <a:solidFill>
                  <a:srgbClr val="1E2761"/>
                </a:solidFill>
                <a:effectLst/>
                <a:uLnTx/>
                <a:uFillTx/>
                <a:latin typeface="Yekan Bakh" pitchFamily="2" charset="-78"/>
                <a:ea typeface="Yekan Bakh" pitchFamily="2" charset="-78"/>
                <a:cs typeface="Yekan Bakh" pitchFamily="2" charset="-78"/>
              </a:rPr>
              <a:t>واقعی</a:t>
            </a:r>
            <a:r>
              <a:rPr kumimoji="0" lang="en-US" sz="7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 و </a:t>
            </a:r>
            <a:r>
              <a:rPr kumimoji="0" lang="en-US" sz="700" b="0" i="0" u="none" strike="noStrike" kern="1200" cap="none" spc="0" normalizeH="0" baseline="0" noProof="0" dirty="0" err="1">
                <a:ln>
                  <a:noFill/>
                </a:ln>
                <a:solidFill>
                  <a:srgbClr val="1E2761"/>
                </a:solidFill>
                <a:effectLst/>
                <a:uLnTx/>
                <a:uFillTx/>
                <a:latin typeface="Yekan Bakh" pitchFamily="2" charset="-78"/>
                <a:ea typeface="Yekan Bakh" pitchFamily="2" charset="-78"/>
                <a:cs typeface="Yekan Bakh" pitchFamily="2" charset="-78"/>
              </a:rPr>
              <a:t>توان</a:t>
            </a:r>
            <a:r>
              <a:rPr kumimoji="0" lang="en-US" sz="7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 </a:t>
            </a:r>
            <a:r>
              <a:rPr kumimoji="0" lang="en-US" sz="700" b="0" i="0" u="none" strike="noStrike" kern="1200" cap="none" spc="0" normalizeH="0" baseline="0" noProof="0" dirty="0" err="1">
                <a:ln>
                  <a:noFill/>
                </a:ln>
                <a:solidFill>
                  <a:srgbClr val="1E2761"/>
                </a:solidFill>
                <a:effectLst/>
                <a:uLnTx/>
                <a:uFillTx/>
                <a:latin typeface="Yekan Bakh" pitchFamily="2" charset="-78"/>
                <a:ea typeface="Yekan Bakh" pitchFamily="2" charset="-78"/>
                <a:cs typeface="Yekan Bakh" pitchFamily="2" charset="-78"/>
              </a:rPr>
              <a:t>مالی</a:t>
            </a:r>
            <a:r>
              <a:rPr kumimoji="0" lang="en-US" sz="7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 </a:t>
            </a:r>
            <a:r>
              <a:rPr kumimoji="0" lang="en-US" sz="700" b="0" i="0" u="none" strike="noStrike" kern="1200" cap="none" spc="0" normalizeH="0" baseline="0" noProof="0" dirty="0" err="1">
                <a:ln>
                  <a:noFill/>
                </a:ln>
                <a:solidFill>
                  <a:srgbClr val="1E2761"/>
                </a:solidFill>
                <a:effectLst/>
                <a:uLnTx/>
                <a:uFillTx/>
                <a:latin typeface="Yekan Bakh" pitchFamily="2" charset="-78"/>
                <a:ea typeface="Yekan Bakh" pitchFamily="2" charset="-78"/>
                <a:cs typeface="Yekan Bakh" pitchFamily="2" charset="-78"/>
              </a:rPr>
              <a:t>طرف</a:t>
            </a:r>
            <a:r>
              <a:rPr kumimoji="0" lang="en-US" sz="7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 </a:t>
            </a:r>
            <a:r>
              <a:rPr kumimoji="0" lang="en-US" sz="700" b="0" i="0" u="none" strike="noStrike" kern="1200" cap="none" spc="0" normalizeH="0" baseline="0" noProof="0" dirty="0" err="1">
                <a:ln>
                  <a:noFill/>
                </a:ln>
                <a:solidFill>
                  <a:srgbClr val="1E2761"/>
                </a:solidFill>
                <a:effectLst/>
                <a:uLnTx/>
                <a:uFillTx/>
                <a:latin typeface="Yekan Bakh" pitchFamily="2" charset="-78"/>
                <a:ea typeface="Yekan Bakh" pitchFamily="2" charset="-78"/>
                <a:cs typeface="Yekan Bakh" pitchFamily="2" charset="-78"/>
              </a:rPr>
              <a:t>خارجی</a:t>
            </a:r>
            <a:r>
              <a:rPr kumimoji="0" lang="en-US" sz="7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 </a:t>
            </a:r>
            <a:r>
              <a:rPr kumimoji="0" lang="en-US" sz="700" b="0" i="0" u="none" strike="noStrike" kern="1200" cap="none" spc="0" normalizeH="0" baseline="0" noProof="0" dirty="0" err="1">
                <a:ln>
                  <a:noFill/>
                </a:ln>
                <a:solidFill>
                  <a:srgbClr val="1E2761"/>
                </a:solidFill>
                <a:effectLst/>
                <a:uLnTx/>
                <a:uFillTx/>
                <a:latin typeface="Yekan Bakh" pitchFamily="2" charset="-78"/>
                <a:ea typeface="Yekan Bakh" pitchFamily="2" charset="-78"/>
                <a:cs typeface="Yekan Bakh" pitchFamily="2" charset="-78"/>
              </a:rPr>
              <a:t>پیش</a:t>
            </a:r>
            <a:r>
              <a:rPr kumimoji="0" lang="en-US" sz="7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 </a:t>
            </a:r>
            <a:r>
              <a:rPr kumimoji="0" lang="en-US" sz="700" b="0" i="0" u="none" strike="noStrike" kern="1200" cap="none" spc="0" normalizeH="0" baseline="0" noProof="0" dirty="0" err="1">
                <a:ln>
                  <a:noFill/>
                </a:ln>
                <a:solidFill>
                  <a:srgbClr val="1E2761"/>
                </a:solidFill>
                <a:effectLst/>
                <a:uLnTx/>
                <a:uFillTx/>
                <a:latin typeface="Yekan Bakh" pitchFamily="2" charset="-78"/>
                <a:ea typeface="Yekan Bakh" pitchFamily="2" charset="-78"/>
                <a:cs typeface="Yekan Bakh" pitchFamily="2" charset="-78"/>
              </a:rPr>
              <a:t>از</a:t>
            </a:r>
            <a:r>
              <a:rPr kumimoji="0" lang="en-US" sz="7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 </a:t>
            </a:r>
            <a:r>
              <a:rPr kumimoji="0" lang="en-US" sz="700" b="0" i="0" u="none" strike="noStrike" kern="1200" cap="none" spc="0" normalizeH="0" baseline="0" noProof="0" dirty="0" err="1">
                <a:ln>
                  <a:noFill/>
                </a:ln>
                <a:solidFill>
                  <a:srgbClr val="1E2761"/>
                </a:solidFill>
                <a:effectLst/>
                <a:uLnTx/>
                <a:uFillTx/>
                <a:latin typeface="Yekan Bakh" pitchFamily="2" charset="-78"/>
                <a:ea typeface="Yekan Bakh" pitchFamily="2" charset="-78"/>
                <a:cs typeface="Yekan Bakh" pitchFamily="2" charset="-78"/>
              </a:rPr>
              <a:t>هرگونه</a:t>
            </a:r>
            <a:r>
              <a:rPr kumimoji="0" lang="en-US" sz="7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 </a:t>
            </a:r>
            <a:r>
              <a:rPr kumimoji="0" lang="en-US" sz="700" b="0" i="0" u="none" strike="noStrike" kern="1200" cap="none" spc="0" normalizeH="0" baseline="0" noProof="0" dirty="0" err="1">
                <a:ln>
                  <a:noFill/>
                </a:ln>
                <a:solidFill>
                  <a:srgbClr val="1E2761"/>
                </a:solidFill>
                <a:effectLst/>
                <a:uLnTx/>
                <a:uFillTx/>
                <a:latin typeface="Yekan Bakh" pitchFamily="2" charset="-78"/>
                <a:ea typeface="Yekan Bakh" pitchFamily="2" charset="-78"/>
                <a:cs typeface="Yekan Bakh" pitchFamily="2" charset="-78"/>
              </a:rPr>
              <a:t>تعامل</a:t>
            </a:r>
            <a:r>
              <a:rPr kumimoji="0" lang="en-US" sz="7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 </a:t>
            </a:r>
            <a:r>
              <a:rPr kumimoji="0" lang="en-US" sz="700" b="0" i="0" u="none" strike="noStrike" kern="1200" cap="none" spc="0" normalizeH="0" baseline="0" noProof="0" dirty="0" err="1">
                <a:ln>
                  <a:noFill/>
                </a:ln>
                <a:solidFill>
                  <a:srgbClr val="1E2761"/>
                </a:solidFill>
                <a:effectLst/>
                <a:uLnTx/>
                <a:uFillTx/>
                <a:latin typeface="Yekan Bakh" pitchFamily="2" charset="-78"/>
                <a:ea typeface="Yekan Bakh" pitchFamily="2" charset="-78"/>
                <a:cs typeface="Yekan Bakh" pitchFamily="2" charset="-78"/>
              </a:rPr>
              <a:t>یا</a:t>
            </a:r>
            <a:r>
              <a:rPr kumimoji="0" lang="en-US" sz="7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 </a:t>
            </a:r>
            <a:r>
              <a:rPr kumimoji="0" lang="en-US" sz="700" b="0" i="0" u="none" strike="noStrike" kern="1200" cap="none" spc="0" normalizeH="0" baseline="0" noProof="0" dirty="0" err="1">
                <a:ln>
                  <a:noFill/>
                </a:ln>
                <a:solidFill>
                  <a:srgbClr val="1E2761"/>
                </a:solidFill>
                <a:effectLst/>
                <a:uLnTx/>
                <a:uFillTx/>
                <a:latin typeface="Yekan Bakh" pitchFamily="2" charset="-78"/>
                <a:ea typeface="Yekan Bakh" pitchFamily="2" charset="-78"/>
                <a:cs typeface="Yekan Bakh" pitchFamily="2" charset="-78"/>
              </a:rPr>
              <a:t>پرداخت</a:t>
            </a:r>
            <a:endParaRPr kumimoji="0" lang="en-US" sz="7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endParaRPr>
          </a:p>
        </p:txBody>
      </p:sp>
      <p:sp>
        <p:nvSpPr>
          <p:cNvPr id="32" name="Rectangle: Single Corner Rounded 31">
            <a:extLst>
              <a:ext uri="{FF2B5EF4-FFF2-40B4-BE49-F238E27FC236}">
                <a16:creationId xmlns:a16="http://schemas.microsoft.com/office/drawing/2014/main" id="{025C0C6E-A6FB-E07E-38DB-1498D2E1FC99}"/>
              </a:ext>
            </a:extLst>
          </p:cNvPr>
          <p:cNvSpPr/>
          <p:nvPr/>
        </p:nvSpPr>
        <p:spPr>
          <a:xfrm flipV="1">
            <a:off x="9442559" y="2423615"/>
            <a:ext cx="1734201" cy="454939"/>
          </a:xfrm>
          <a:prstGeom prst="round1Rect">
            <a:avLst/>
          </a:prstGeom>
          <a:solidFill>
            <a:srgbClr val="F0BE0F">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34" name="Rectangle: Single Corner Rounded 33">
            <a:extLst>
              <a:ext uri="{FF2B5EF4-FFF2-40B4-BE49-F238E27FC236}">
                <a16:creationId xmlns:a16="http://schemas.microsoft.com/office/drawing/2014/main" id="{5A5937F8-E93B-0C72-E8DC-D63E26DF8D1E}"/>
              </a:ext>
            </a:extLst>
          </p:cNvPr>
          <p:cNvSpPr/>
          <p:nvPr/>
        </p:nvSpPr>
        <p:spPr>
          <a:xfrm flipH="1" flipV="1">
            <a:off x="7712817" y="2423615"/>
            <a:ext cx="1734201" cy="454939"/>
          </a:xfrm>
          <a:prstGeom prst="round1Rect">
            <a:avLst/>
          </a:prstGeom>
          <a:solidFill>
            <a:srgbClr val="1E2761">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36" name="TextBox 35">
            <a:extLst>
              <a:ext uri="{FF2B5EF4-FFF2-40B4-BE49-F238E27FC236}">
                <a16:creationId xmlns:a16="http://schemas.microsoft.com/office/drawing/2014/main" id="{37BF4A23-8A77-3B7D-A6CD-F21AEBF6FA25}"/>
              </a:ext>
            </a:extLst>
          </p:cNvPr>
          <p:cNvSpPr txBox="1"/>
          <p:nvPr/>
        </p:nvSpPr>
        <p:spPr>
          <a:xfrm>
            <a:off x="9442559" y="2416770"/>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دردسر</a:t>
            </a:r>
            <a:endParaRPr kumimoji="0" lang="en-GB"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p:txBody>
      </p:sp>
      <p:sp>
        <p:nvSpPr>
          <p:cNvPr id="37" name="TextBox 36">
            <a:extLst>
              <a:ext uri="{FF2B5EF4-FFF2-40B4-BE49-F238E27FC236}">
                <a16:creationId xmlns:a16="http://schemas.microsoft.com/office/drawing/2014/main" id="{45C1EA45-D910-CFA9-884D-B3EAD55DEFEC}"/>
              </a:ext>
            </a:extLst>
          </p:cNvPr>
          <p:cNvSpPr txBox="1"/>
          <p:nvPr/>
        </p:nvSpPr>
        <p:spPr>
          <a:xfrm>
            <a:off x="7710588" y="2416770"/>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منفعت</a:t>
            </a:r>
          </a:p>
        </p:txBody>
      </p:sp>
      <p:sp>
        <p:nvSpPr>
          <p:cNvPr id="39" name="TextBox 38">
            <a:extLst>
              <a:ext uri="{FF2B5EF4-FFF2-40B4-BE49-F238E27FC236}">
                <a16:creationId xmlns:a16="http://schemas.microsoft.com/office/drawing/2014/main" id="{53CEFCA4-E427-FB7C-B1AC-F8A3A64B69F3}"/>
              </a:ext>
            </a:extLst>
          </p:cNvPr>
          <p:cNvSpPr txBox="1"/>
          <p:nvPr/>
        </p:nvSpPr>
        <p:spPr>
          <a:xfrm>
            <a:off x="9442555" y="2556934"/>
            <a:ext cx="1731975" cy="261610"/>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55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نبود مرجع مستقل برای تأیید هویت طرف خارجی؛ ترس از کلاهبرداری و از دست رفتن غیرقابل‌بازگشت وجه.</a:t>
            </a:r>
            <a:endParaRPr kumimoji="0" lang="en-GB" sz="55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40" name="TextBox 39">
            <a:extLst>
              <a:ext uri="{FF2B5EF4-FFF2-40B4-BE49-F238E27FC236}">
                <a16:creationId xmlns:a16="http://schemas.microsoft.com/office/drawing/2014/main" id="{1AF664A8-E4B5-28D2-8B89-78CBA7A15A7C}"/>
              </a:ext>
            </a:extLst>
          </p:cNvPr>
          <p:cNvSpPr txBox="1"/>
          <p:nvPr/>
        </p:nvSpPr>
        <p:spPr>
          <a:xfrm>
            <a:off x="7709465" y="2556934"/>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اطمینان‌خاطر برای ورود به معامله و کاهش ریسک مالی.</a:t>
            </a:r>
          </a:p>
        </p:txBody>
      </p:sp>
      <p:sp>
        <p:nvSpPr>
          <p:cNvPr id="43" name="TextBox 42">
            <a:extLst>
              <a:ext uri="{FF2B5EF4-FFF2-40B4-BE49-F238E27FC236}">
                <a16:creationId xmlns:a16="http://schemas.microsoft.com/office/drawing/2014/main" id="{1F55044B-FE03-FAF6-2181-D2DA567BFE0F}"/>
              </a:ext>
            </a:extLst>
          </p:cNvPr>
          <p:cNvSpPr txBox="1"/>
          <p:nvPr/>
        </p:nvSpPr>
        <p:spPr>
          <a:xfrm>
            <a:off x="4048448" y="2005725"/>
            <a:ext cx="3597561" cy="364202"/>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30" normalizeH="0" baseline="0" noProof="0" dirty="0" err="1">
                <a:ln>
                  <a:noFill/>
                </a:ln>
                <a:solidFill>
                  <a:srgbClr val="F0BE0F"/>
                </a:solidFill>
                <a:effectLst/>
                <a:uLnTx/>
                <a:uFillTx/>
                <a:latin typeface="Yekan Bakh" pitchFamily="2" charset="-78"/>
                <a:ea typeface="Yekan Bakh" pitchFamily="2" charset="-78"/>
                <a:cs typeface="Yekan Bakh" pitchFamily="2" charset="-78"/>
              </a:rPr>
              <a:t>کار</a:t>
            </a:r>
            <a:r>
              <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 </a:t>
            </a:r>
            <a:r>
              <a:rPr kumimoji="0" lang="fa-IR"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۲</a:t>
            </a:r>
            <a:endPar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225"/>
              </a:spcBef>
              <a:spcAft>
                <a:spcPts val="0"/>
              </a:spcAft>
              <a:buClrTx/>
              <a:buSzTx/>
              <a:buFontTx/>
              <a:buNone/>
              <a:tabLst/>
              <a:defRPr/>
            </a:pPr>
            <a:r>
              <a:rPr kumimoji="0" lang="fa-IR" sz="7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دسترسی به طرف خارجی معتبر و پذیرفته‌شدن نزد او در قالبی که او بشناسد</a:t>
            </a:r>
          </a:p>
        </p:txBody>
      </p:sp>
      <p:sp>
        <p:nvSpPr>
          <p:cNvPr id="44" name="Rectangle: Single Corner Rounded 43">
            <a:extLst>
              <a:ext uri="{FF2B5EF4-FFF2-40B4-BE49-F238E27FC236}">
                <a16:creationId xmlns:a16="http://schemas.microsoft.com/office/drawing/2014/main" id="{B8808246-DEDA-683C-694E-493E1F55C60C}"/>
              </a:ext>
            </a:extLst>
          </p:cNvPr>
          <p:cNvSpPr/>
          <p:nvPr/>
        </p:nvSpPr>
        <p:spPr>
          <a:xfrm flipV="1">
            <a:off x="5844999" y="2423615"/>
            <a:ext cx="1734201" cy="454939"/>
          </a:xfrm>
          <a:prstGeom prst="round1Rect">
            <a:avLst/>
          </a:prstGeom>
          <a:solidFill>
            <a:srgbClr val="F0BE0F">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5" name="Rectangle: Single Corner Rounded 44">
            <a:extLst>
              <a:ext uri="{FF2B5EF4-FFF2-40B4-BE49-F238E27FC236}">
                <a16:creationId xmlns:a16="http://schemas.microsoft.com/office/drawing/2014/main" id="{0565D74D-3725-0E86-67AA-7C09BBC9EAF2}"/>
              </a:ext>
            </a:extLst>
          </p:cNvPr>
          <p:cNvSpPr/>
          <p:nvPr/>
        </p:nvSpPr>
        <p:spPr>
          <a:xfrm flipH="1" flipV="1">
            <a:off x="4115257" y="2423615"/>
            <a:ext cx="1734201" cy="454939"/>
          </a:xfrm>
          <a:prstGeom prst="round1Rect">
            <a:avLst/>
          </a:prstGeom>
          <a:solidFill>
            <a:srgbClr val="1E2761">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6" name="TextBox 45">
            <a:extLst>
              <a:ext uri="{FF2B5EF4-FFF2-40B4-BE49-F238E27FC236}">
                <a16:creationId xmlns:a16="http://schemas.microsoft.com/office/drawing/2014/main" id="{6EBE3E31-3FDE-E6C8-4C6F-10B26FE80DFB}"/>
              </a:ext>
            </a:extLst>
          </p:cNvPr>
          <p:cNvSpPr txBox="1"/>
          <p:nvPr/>
        </p:nvSpPr>
        <p:spPr>
          <a:xfrm>
            <a:off x="5844999" y="2416770"/>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دردسر</a:t>
            </a:r>
            <a:endParaRPr kumimoji="0" lang="en-GB"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p:txBody>
      </p:sp>
      <p:sp>
        <p:nvSpPr>
          <p:cNvPr id="47" name="TextBox 46">
            <a:extLst>
              <a:ext uri="{FF2B5EF4-FFF2-40B4-BE49-F238E27FC236}">
                <a16:creationId xmlns:a16="http://schemas.microsoft.com/office/drawing/2014/main" id="{5DAA538C-CD54-41BD-1D5B-06814EDEE0C9}"/>
              </a:ext>
            </a:extLst>
          </p:cNvPr>
          <p:cNvSpPr txBox="1"/>
          <p:nvPr/>
        </p:nvSpPr>
        <p:spPr>
          <a:xfrm>
            <a:off x="4113028" y="2416770"/>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منفعت</a:t>
            </a:r>
          </a:p>
        </p:txBody>
      </p:sp>
      <p:sp>
        <p:nvSpPr>
          <p:cNvPr id="48" name="TextBox 47">
            <a:extLst>
              <a:ext uri="{FF2B5EF4-FFF2-40B4-BE49-F238E27FC236}">
                <a16:creationId xmlns:a16="http://schemas.microsoft.com/office/drawing/2014/main" id="{5F0ECD0C-2651-F8F2-0129-9C613471A568}"/>
              </a:ext>
            </a:extLst>
          </p:cNvPr>
          <p:cNvSpPr txBox="1"/>
          <p:nvPr/>
        </p:nvSpPr>
        <p:spPr>
          <a:xfrm>
            <a:off x="5844995" y="2556934"/>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شبکه ارتباطی محدود و نبود کانال معتبر معرفی؛ رد شدن بدون شنیده‌شدن.</a:t>
            </a:r>
          </a:p>
        </p:txBody>
      </p:sp>
      <p:sp>
        <p:nvSpPr>
          <p:cNvPr id="49" name="TextBox 48">
            <a:extLst>
              <a:ext uri="{FF2B5EF4-FFF2-40B4-BE49-F238E27FC236}">
                <a16:creationId xmlns:a16="http://schemas.microsoft.com/office/drawing/2014/main" id="{0EDD873F-EF89-B338-6134-95559249DA7A}"/>
              </a:ext>
            </a:extLst>
          </p:cNvPr>
          <p:cNvSpPr txBox="1"/>
          <p:nvPr/>
        </p:nvSpPr>
        <p:spPr>
          <a:xfrm>
            <a:off x="4111905" y="2556934"/>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دسترسی به فرصت‌های معاملاتی واقعی و باکیفیت.</a:t>
            </a:r>
          </a:p>
        </p:txBody>
      </p:sp>
      <p:sp>
        <p:nvSpPr>
          <p:cNvPr id="59" name="TextBox 58">
            <a:extLst>
              <a:ext uri="{FF2B5EF4-FFF2-40B4-BE49-F238E27FC236}">
                <a16:creationId xmlns:a16="http://schemas.microsoft.com/office/drawing/2014/main" id="{C43FB656-FA26-4185-F00C-897344E988E8}"/>
              </a:ext>
            </a:extLst>
          </p:cNvPr>
          <p:cNvSpPr txBox="1"/>
          <p:nvPr/>
        </p:nvSpPr>
        <p:spPr>
          <a:xfrm>
            <a:off x="438700" y="2005725"/>
            <a:ext cx="3597561" cy="364202"/>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30" normalizeH="0" baseline="0" noProof="0" dirty="0" err="1">
                <a:ln>
                  <a:noFill/>
                </a:ln>
                <a:solidFill>
                  <a:srgbClr val="F0BE0F"/>
                </a:solidFill>
                <a:effectLst/>
                <a:uLnTx/>
                <a:uFillTx/>
                <a:latin typeface="Yekan Bakh" pitchFamily="2" charset="-78"/>
                <a:ea typeface="Yekan Bakh" pitchFamily="2" charset="-78"/>
                <a:cs typeface="Yekan Bakh" pitchFamily="2" charset="-78"/>
              </a:rPr>
              <a:t>کار</a:t>
            </a:r>
            <a:r>
              <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 </a:t>
            </a:r>
            <a:r>
              <a:rPr kumimoji="0" lang="fa-IR"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۳</a:t>
            </a:r>
            <a:endPar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225"/>
              </a:spcBef>
              <a:spcAft>
                <a:spcPts val="0"/>
              </a:spcAft>
              <a:buClrTx/>
              <a:buSzTx/>
              <a:buFontTx/>
              <a:buNone/>
              <a:tabLst/>
              <a:defRPr/>
            </a:pPr>
            <a:r>
              <a:rPr kumimoji="0" lang="fa-IR" sz="7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کسب اعتبار و شناسایی بین‌المللی کافی برای جدی گرفته شدن نزد طرف خارجی</a:t>
            </a:r>
          </a:p>
        </p:txBody>
      </p:sp>
      <p:sp>
        <p:nvSpPr>
          <p:cNvPr id="60" name="Rectangle: Single Corner Rounded 59">
            <a:extLst>
              <a:ext uri="{FF2B5EF4-FFF2-40B4-BE49-F238E27FC236}">
                <a16:creationId xmlns:a16="http://schemas.microsoft.com/office/drawing/2014/main" id="{1870AF76-2FAA-5FC6-0100-31D48E60B643}"/>
              </a:ext>
            </a:extLst>
          </p:cNvPr>
          <p:cNvSpPr/>
          <p:nvPr/>
        </p:nvSpPr>
        <p:spPr>
          <a:xfrm flipV="1">
            <a:off x="2235251" y="2423615"/>
            <a:ext cx="1734201" cy="454939"/>
          </a:xfrm>
          <a:prstGeom prst="round1Rect">
            <a:avLst/>
          </a:prstGeom>
          <a:solidFill>
            <a:srgbClr val="F0BE0F">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61" name="Rectangle: Single Corner Rounded 60">
            <a:extLst>
              <a:ext uri="{FF2B5EF4-FFF2-40B4-BE49-F238E27FC236}">
                <a16:creationId xmlns:a16="http://schemas.microsoft.com/office/drawing/2014/main" id="{66E7A822-6A07-1A76-7281-F1CACC937B34}"/>
              </a:ext>
            </a:extLst>
          </p:cNvPr>
          <p:cNvSpPr/>
          <p:nvPr/>
        </p:nvSpPr>
        <p:spPr>
          <a:xfrm flipH="1" flipV="1">
            <a:off x="505509" y="2423615"/>
            <a:ext cx="1734201" cy="454939"/>
          </a:xfrm>
          <a:prstGeom prst="round1Rect">
            <a:avLst/>
          </a:prstGeom>
          <a:solidFill>
            <a:srgbClr val="1E2761">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62" name="TextBox 61">
            <a:extLst>
              <a:ext uri="{FF2B5EF4-FFF2-40B4-BE49-F238E27FC236}">
                <a16:creationId xmlns:a16="http://schemas.microsoft.com/office/drawing/2014/main" id="{A530BC74-EB8A-C1E1-58E4-81EDBE26CE58}"/>
              </a:ext>
            </a:extLst>
          </p:cNvPr>
          <p:cNvSpPr txBox="1"/>
          <p:nvPr/>
        </p:nvSpPr>
        <p:spPr>
          <a:xfrm>
            <a:off x="2235251" y="2416770"/>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دردسر</a:t>
            </a:r>
            <a:endParaRPr kumimoji="0" lang="en-GB"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p:txBody>
      </p:sp>
      <p:sp>
        <p:nvSpPr>
          <p:cNvPr id="63" name="TextBox 62">
            <a:extLst>
              <a:ext uri="{FF2B5EF4-FFF2-40B4-BE49-F238E27FC236}">
                <a16:creationId xmlns:a16="http://schemas.microsoft.com/office/drawing/2014/main" id="{9790AB39-BC98-08F1-B0B7-958543081A81}"/>
              </a:ext>
            </a:extLst>
          </p:cNvPr>
          <p:cNvSpPr txBox="1"/>
          <p:nvPr/>
        </p:nvSpPr>
        <p:spPr>
          <a:xfrm>
            <a:off x="503280" y="2416770"/>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منفعت</a:t>
            </a:r>
          </a:p>
        </p:txBody>
      </p:sp>
      <p:sp>
        <p:nvSpPr>
          <p:cNvPr id="64" name="TextBox 63">
            <a:extLst>
              <a:ext uri="{FF2B5EF4-FFF2-40B4-BE49-F238E27FC236}">
                <a16:creationId xmlns:a16="http://schemas.microsoft.com/office/drawing/2014/main" id="{FB1FB4BA-207D-DA24-1FBE-B569848866C0}"/>
              </a:ext>
            </a:extLst>
          </p:cNvPr>
          <p:cNvSpPr txBox="1"/>
          <p:nvPr/>
        </p:nvSpPr>
        <p:spPr>
          <a:xfrm>
            <a:off x="2235247" y="2556934"/>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نبود گواهی شناخته‌شده باعث بی‌اعتمادی می‌شود؛ هزینه و زمان بالای فرآیند گواهی‌گیری.</a:t>
            </a:r>
          </a:p>
        </p:txBody>
      </p:sp>
      <p:sp>
        <p:nvSpPr>
          <p:cNvPr id="65" name="TextBox 64">
            <a:extLst>
              <a:ext uri="{FF2B5EF4-FFF2-40B4-BE49-F238E27FC236}">
                <a16:creationId xmlns:a16="http://schemas.microsoft.com/office/drawing/2014/main" id="{7423BC2F-C5A9-5F38-D530-FE5810B27746}"/>
              </a:ext>
            </a:extLst>
          </p:cNvPr>
          <p:cNvSpPr txBox="1"/>
          <p:nvPr/>
        </p:nvSpPr>
        <p:spPr>
          <a:xfrm>
            <a:off x="502157" y="2556934"/>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افزایش احتمال پذیرش و اعتماد اولیه طرف مقابل.</a:t>
            </a:r>
          </a:p>
        </p:txBody>
      </p:sp>
      <p:sp>
        <p:nvSpPr>
          <p:cNvPr id="67" name="TextBox 66">
            <a:extLst>
              <a:ext uri="{FF2B5EF4-FFF2-40B4-BE49-F238E27FC236}">
                <a16:creationId xmlns:a16="http://schemas.microsoft.com/office/drawing/2014/main" id="{5E957F34-7A9F-4694-CD92-086258177023}"/>
              </a:ext>
            </a:extLst>
          </p:cNvPr>
          <p:cNvSpPr txBox="1"/>
          <p:nvPr/>
        </p:nvSpPr>
        <p:spPr>
          <a:xfrm>
            <a:off x="7646008" y="2949501"/>
            <a:ext cx="3597561" cy="364202"/>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30" normalizeH="0" baseline="0" noProof="0" dirty="0" err="1">
                <a:ln>
                  <a:noFill/>
                </a:ln>
                <a:solidFill>
                  <a:srgbClr val="F0BE0F"/>
                </a:solidFill>
                <a:effectLst/>
                <a:uLnTx/>
                <a:uFillTx/>
                <a:latin typeface="Yekan Bakh" pitchFamily="2" charset="-78"/>
                <a:ea typeface="Yekan Bakh" pitchFamily="2" charset="-78"/>
                <a:cs typeface="Yekan Bakh" pitchFamily="2" charset="-78"/>
              </a:rPr>
              <a:t>کار</a:t>
            </a:r>
            <a:r>
              <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 </a:t>
            </a:r>
            <a:r>
              <a:rPr kumimoji="0" lang="fa-IR"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۴</a:t>
            </a:r>
            <a:endPar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225"/>
              </a:spcBef>
              <a:spcAft>
                <a:spcPts val="0"/>
              </a:spcAft>
              <a:buClrTx/>
              <a:buSzTx/>
              <a:buFontTx/>
              <a:buNone/>
              <a:tabLst/>
              <a:defRPr/>
            </a:pPr>
            <a:r>
              <a:rPr kumimoji="0" lang="fa-IR" sz="7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انتخاب ساختار حقوقی مناسب همکاری بین‌المللی و حفظ مالکیت برند در بازار مقصد</a:t>
            </a:r>
          </a:p>
        </p:txBody>
      </p:sp>
      <p:sp>
        <p:nvSpPr>
          <p:cNvPr id="68" name="Rectangle: Single Corner Rounded 67">
            <a:extLst>
              <a:ext uri="{FF2B5EF4-FFF2-40B4-BE49-F238E27FC236}">
                <a16:creationId xmlns:a16="http://schemas.microsoft.com/office/drawing/2014/main" id="{17FBF075-D45B-088C-A627-CF3E1022F2F6}"/>
              </a:ext>
            </a:extLst>
          </p:cNvPr>
          <p:cNvSpPr/>
          <p:nvPr/>
        </p:nvSpPr>
        <p:spPr>
          <a:xfrm flipV="1">
            <a:off x="9442559" y="3367391"/>
            <a:ext cx="1734201" cy="454939"/>
          </a:xfrm>
          <a:prstGeom prst="round1Rect">
            <a:avLst/>
          </a:prstGeom>
          <a:solidFill>
            <a:srgbClr val="F0BE0F">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69" name="Rectangle: Single Corner Rounded 68">
            <a:extLst>
              <a:ext uri="{FF2B5EF4-FFF2-40B4-BE49-F238E27FC236}">
                <a16:creationId xmlns:a16="http://schemas.microsoft.com/office/drawing/2014/main" id="{B1D62448-3DCD-E1A1-8A44-59895055BDB6}"/>
              </a:ext>
            </a:extLst>
          </p:cNvPr>
          <p:cNvSpPr/>
          <p:nvPr/>
        </p:nvSpPr>
        <p:spPr>
          <a:xfrm flipH="1" flipV="1">
            <a:off x="7712817" y="3367391"/>
            <a:ext cx="1734201" cy="454939"/>
          </a:xfrm>
          <a:prstGeom prst="round1Rect">
            <a:avLst/>
          </a:prstGeom>
          <a:solidFill>
            <a:srgbClr val="1E2761">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70" name="TextBox 69">
            <a:extLst>
              <a:ext uri="{FF2B5EF4-FFF2-40B4-BE49-F238E27FC236}">
                <a16:creationId xmlns:a16="http://schemas.microsoft.com/office/drawing/2014/main" id="{F42C308F-2E02-A5FE-3E33-623EF281D81D}"/>
              </a:ext>
            </a:extLst>
          </p:cNvPr>
          <p:cNvSpPr txBox="1"/>
          <p:nvPr/>
        </p:nvSpPr>
        <p:spPr>
          <a:xfrm>
            <a:off x="9442559" y="3360546"/>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دردسر</a:t>
            </a:r>
            <a:endParaRPr kumimoji="0" lang="en-GB"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p:txBody>
      </p:sp>
      <p:sp>
        <p:nvSpPr>
          <p:cNvPr id="71" name="TextBox 70">
            <a:extLst>
              <a:ext uri="{FF2B5EF4-FFF2-40B4-BE49-F238E27FC236}">
                <a16:creationId xmlns:a16="http://schemas.microsoft.com/office/drawing/2014/main" id="{2649734B-6964-972E-FAEA-D90A286B9CA4}"/>
              </a:ext>
            </a:extLst>
          </p:cNvPr>
          <p:cNvSpPr txBox="1"/>
          <p:nvPr/>
        </p:nvSpPr>
        <p:spPr>
          <a:xfrm>
            <a:off x="7710588" y="3360546"/>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منفعت</a:t>
            </a:r>
          </a:p>
        </p:txBody>
      </p:sp>
      <p:sp>
        <p:nvSpPr>
          <p:cNvPr id="72" name="TextBox 71">
            <a:extLst>
              <a:ext uri="{FF2B5EF4-FFF2-40B4-BE49-F238E27FC236}">
                <a16:creationId xmlns:a16="http://schemas.microsoft.com/office/drawing/2014/main" id="{E54BBFF9-FCD8-4373-D73B-100E3A19D34D}"/>
              </a:ext>
            </a:extLst>
          </p:cNvPr>
          <p:cNvSpPr txBox="1"/>
          <p:nvPr/>
        </p:nvSpPr>
        <p:spPr>
          <a:xfrm>
            <a:off x="9442555" y="3500710"/>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ابهام حقوقی در انتخاب قالب همکاری و ریسک سوءاستفاده از برند در بازار مقصد.</a:t>
            </a:r>
          </a:p>
        </p:txBody>
      </p:sp>
      <p:sp>
        <p:nvSpPr>
          <p:cNvPr id="73" name="TextBox 72">
            <a:extLst>
              <a:ext uri="{FF2B5EF4-FFF2-40B4-BE49-F238E27FC236}">
                <a16:creationId xmlns:a16="http://schemas.microsoft.com/office/drawing/2014/main" id="{B7632ED0-37CB-2A07-582C-8CBDDCAD77FE}"/>
              </a:ext>
            </a:extLst>
          </p:cNvPr>
          <p:cNvSpPr txBox="1"/>
          <p:nvPr/>
        </p:nvSpPr>
        <p:spPr>
          <a:xfrm>
            <a:off x="7709465" y="3500710"/>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همکاری با چارچوب حقوقی روشن و دارایی برند محافظت‌شده.</a:t>
            </a:r>
          </a:p>
        </p:txBody>
      </p:sp>
      <p:sp>
        <p:nvSpPr>
          <p:cNvPr id="75" name="TextBox 74">
            <a:extLst>
              <a:ext uri="{FF2B5EF4-FFF2-40B4-BE49-F238E27FC236}">
                <a16:creationId xmlns:a16="http://schemas.microsoft.com/office/drawing/2014/main" id="{072D84BE-E111-D197-BC2B-A32B4F249B8D}"/>
              </a:ext>
            </a:extLst>
          </p:cNvPr>
          <p:cNvSpPr txBox="1"/>
          <p:nvPr/>
        </p:nvSpPr>
        <p:spPr>
          <a:xfrm>
            <a:off x="4048448" y="2949501"/>
            <a:ext cx="3597561" cy="364202"/>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30" normalizeH="0" baseline="0" noProof="0" dirty="0" err="1">
                <a:ln>
                  <a:noFill/>
                </a:ln>
                <a:solidFill>
                  <a:srgbClr val="F0BE0F"/>
                </a:solidFill>
                <a:effectLst/>
                <a:uLnTx/>
                <a:uFillTx/>
                <a:latin typeface="Yekan Bakh" pitchFamily="2" charset="-78"/>
                <a:ea typeface="Yekan Bakh" pitchFamily="2" charset="-78"/>
                <a:cs typeface="Yekan Bakh" pitchFamily="2" charset="-78"/>
              </a:rPr>
              <a:t>کار</a:t>
            </a:r>
            <a:r>
              <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 </a:t>
            </a:r>
            <a:r>
              <a:rPr kumimoji="0" lang="fa-IR"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۵</a:t>
            </a:r>
            <a:endPar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225"/>
              </a:spcBef>
              <a:spcAft>
                <a:spcPts val="0"/>
              </a:spcAft>
              <a:buClrTx/>
              <a:buSzTx/>
              <a:buFontTx/>
              <a:buNone/>
              <a:tabLst/>
              <a:defRPr/>
            </a:pPr>
            <a:r>
              <a:rPr kumimoji="0" lang="fa-IR" sz="7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تنظیم قرارداد و داشتن مسیر جبران خسارتی که پاسخ‌گویی طرف مقابل را تضمین کند</a:t>
            </a:r>
          </a:p>
        </p:txBody>
      </p:sp>
      <p:sp>
        <p:nvSpPr>
          <p:cNvPr id="76" name="Rectangle: Single Corner Rounded 75">
            <a:extLst>
              <a:ext uri="{FF2B5EF4-FFF2-40B4-BE49-F238E27FC236}">
                <a16:creationId xmlns:a16="http://schemas.microsoft.com/office/drawing/2014/main" id="{2AB9A1FC-306D-BB18-ABF9-951223FC2441}"/>
              </a:ext>
            </a:extLst>
          </p:cNvPr>
          <p:cNvSpPr/>
          <p:nvPr/>
        </p:nvSpPr>
        <p:spPr>
          <a:xfrm flipV="1">
            <a:off x="5844999" y="3367391"/>
            <a:ext cx="1734201" cy="454939"/>
          </a:xfrm>
          <a:prstGeom prst="round1Rect">
            <a:avLst/>
          </a:prstGeom>
          <a:solidFill>
            <a:srgbClr val="F0BE0F">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77" name="Rectangle: Single Corner Rounded 76">
            <a:extLst>
              <a:ext uri="{FF2B5EF4-FFF2-40B4-BE49-F238E27FC236}">
                <a16:creationId xmlns:a16="http://schemas.microsoft.com/office/drawing/2014/main" id="{1CC10770-22D0-2E4F-1C30-EDC179DF10AE}"/>
              </a:ext>
            </a:extLst>
          </p:cNvPr>
          <p:cNvSpPr/>
          <p:nvPr/>
        </p:nvSpPr>
        <p:spPr>
          <a:xfrm flipH="1" flipV="1">
            <a:off x="4115257" y="3367391"/>
            <a:ext cx="1734201" cy="454939"/>
          </a:xfrm>
          <a:prstGeom prst="round1Rect">
            <a:avLst/>
          </a:prstGeom>
          <a:solidFill>
            <a:srgbClr val="1E2761">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78" name="TextBox 77">
            <a:extLst>
              <a:ext uri="{FF2B5EF4-FFF2-40B4-BE49-F238E27FC236}">
                <a16:creationId xmlns:a16="http://schemas.microsoft.com/office/drawing/2014/main" id="{E753F66D-F997-7304-ED96-80B46DC6216F}"/>
              </a:ext>
            </a:extLst>
          </p:cNvPr>
          <p:cNvSpPr txBox="1"/>
          <p:nvPr/>
        </p:nvSpPr>
        <p:spPr>
          <a:xfrm>
            <a:off x="5844999" y="3360546"/>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دردسر</a:t>
            </a:r>
            <a:endParaRPr kumimoji="0" lang="en-GB"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p:txBody>
      </p:sp>
      <p:sp>
        <p:nvSpPr>
          <p:cNvPr id="79" name="TextBox 78">
            <a:extLst>
              <a:ext uri="{FF2B5EF4-FFF2-40B4-BE49-F238E27FC236}">
                <a16:creationId xmlns:a16="http://schemas.microsoft.com/office/drawing/2014/main" id="{C15CE628-BB69-0FB0-A3A5-2FC3E23E66E4}"/>
              </a:ext>
            </a:extLst>
          </p:cNvPr>
          <p:cNvSpPr txBox="1"/>
          <p:nvPr/>
        </p:nvSpPr>
        <p:spPr>
          <a:xfrm>
            <a:off x="4113028" y="3360546"/>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منفعت</a:t>
            </a:r>
          </a:p>
        </p:txBody>
      </p:sp>
      <p:sp>
        <p:nvSpPr>
          <p:cNvPr id="80" name="TextBox 79">
            <a:extLst>
              <a:ext uri="{FF2B5EF4-FFF2-40B4-BE49-F238E27FC236}">
                <a16:creationId xmlns:a16="http://schemas.microsoft.com/office/drawing/2014/main" id="{6AAD4FEB-E0EA-D5FA-2A47-7A6D13B1FDFE}"/>
              </a:ext>
            </a:extLst>
          </p:cNvPr>
          <p:cNvSpPr txBox="1"/>
          <p:nvPr/>
        </p:nvSpPr>
        <p:spPr>
          <a:xfrm>
            <a:off x="5844995" y="3500710"/>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نبود دانش حقوقی بین‌المللی کافی و ابهام در امکان واقعی طرح دعوا یا داوری.</a:t>
            </a:r>
          </a:p>
        </p:txBody>
      </p:sp>
      <p:sp>
        <p:nvSpPr>
          <p:cNvPr id="81" name="TextBox 80">
            <a:extLst>
              <a:ext uri="{FF2B5EF4-FFF2-40B4-BE49-F238E27FC236}">
                <a16:creationId xmlns:a16="http://schemas.microsoft.com/office/drawing/2014/main" id="{6AB43BE5-1063-FA92-E5E3-D7EDDC4AF239}"/>
              </a:ext>
            </a:extLst>
          </p:cNvPr>
          <p:cNvSpPr txBox="1"/>
          <p:nvPr/>
        </p:nvSpPr>
        <p:spPr>
          <a:xfrm>
            <a:off x="4111905" y="3500710"/>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امنیت حقوقی و بازوی اجرایی روشن در صورت نقض تعهد.</a:t>
            </a:r>
          </a:p>
        </p:txBody>
      </p:sp>
      <p:sp>
        <p:nvSpPr>
          <p:cNvPr id="83" name="TextBox 82">
            <a:extLst>
              <a:ext uri="{FF2B5EF4-FFF2-40B4-BE49-F238E27FC236}">
                <a16:creationId xmlns:a16="http://schemas.microsoft.com/office/drawing/2014/main" id="{558E92BF-D50C-1797-D5CA-D4886DBF9464}"/>
              </a:ext>
            </a:extLst>
          </p:cNvPr>
          <p:cNvSpPr txBox="1"/>
          <p:nvPr/>
        </p:nvSpPr>
        <p:spPr>
          <a:xfrm>
            <a:off x="438700" y="2949501"/>
            <a:ext cx="3597561" cy="364202"/>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30" normalizeH="0" baseline="0" noProof="0" dirty="0" err="1">
                <a:ln>
                  <a:noFill/>
                </a:ln>
                <a:solidFill>
                  <a:srgbClr val="F0BE0F"/>
                </a:solidFill>
                <a:effectLst/>
                <a:uLnTx/>
                <a:uFillTx/>
                <a:latin typeface="Yekan Bakh" pitchFamily="2" charset="-78"/>
                <a:ea typeface="Yekan Bakh" pitchFamily="2" charset="-78"/>
                <a:cs typeface="Yekan Bakh" pitchFamily="2" charset="-78"/>
              </a:rPr>
              <a:t>کار</a:t>
            </a:r>
            <a:r>
              <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 </a:t>
            </a:r>
            <a:r>
              <a:rPr kumimoji="0" lang="fa-IR"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۶</a:t>
            </a:r>
            <a:endPar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225"/>
              </a:spcBef>
              <a:spcAft>
                <a:spcPts val="0"/>
              </a:spcAft>
              <a:buClrTx/>
              <a:buSzTx/>
              <a:buFontTx/>
              <a:buNone/>
              <a:tabLst/>
              <a:defRPr/>
            </a:pPr>
            <a:r>
              <a:rPr kumimoji="0" lang="fa-IR" sz="7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حفظ و تداوم رابطه تجاری برای معاملات تکراری پس از قرارداد اول</a:t>
            </a:r>
          </a:p>
        </p:txBody>
      </p:sp>
      <p:sp>
        <p:nvSpPr>
          <p:cNvPr id="84" name="Rectangle: Single Corner Rounded 83">
            <a:extLst>
              <a:ext uri="{FF2B5EF4-FFF2-40B4-BE49-F238E27FC236}">
                <a16:creationId xmlns:a16="http://schemas.microsoft.com/office/drawing/2014/main" id="{970BDB2F-CE53-B7FB-473F-3C072243A8E4}"/>
              </a:ext>
            </a:extLst>
          </p:cNvPr>
          <p:cNvSpPr/>
          <p:nvPr/>
        </p:nvSpPr>
        <p:spPr>
          <a:xfrm flipV="1">
            <a:off x="2235251" y="3367391"/>
            <a:ext cx="1734201" cy="454939"/>
          </a:xfrm>
          <a:prstGeom prst="round1Rect">
            <a:avLst/>
          </a:prstGeom>
          <a:solidFill>
            <a:srgbClr val="F0BE0F">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85" name="Rectangle: Single Corner Rounded 84">
            <a:extLst>
              <a:ext uri="{FF2B5EF4-FFF2-40B4-BE49-F238E27FC236}">
                <a16:creationId xmlns:a16="http://schemas.microsoft.com/office/drawing/2014/main" id="{97FFCFC4-8CB3-07A9-3587-C2C8BA42973E}"/>
              </a:ext>
            </a:extLst>
          </p:cNvPr>
          <p:cNvSpPr/>
          <p:nvPr/>
        </p:nvSpPr>
        <p:spPr>
          <a:xfrm flipH="1" flipV="1">
            <a:off x="505509" y="3367391"/>
            <a:ext cx="1734201" cy="454939"/>
          </a:xfrm>
          <a:prstGeom prst="round1Rect">
            <a:avLst/>
          </a:prstGeom>
          <a:solidFill>
            <a:srgbClr val="1E2761">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86" name="TextBox 85">
            <a:extLst>
              <a:ext uri="{FF2B5EF4-FFF2-40B4-BE49-F238E27FC236}">
                <a16:creationId xmlns:a16="http://schemas.microsoft.com/office/drawing/2014/main" id="{68776222-FE7B-C13B-0FCD-E6384FDB2F69}"/>
              </a:ext>
            </a:extLst>
          </p:cNvPr>
          <p:cNvSpPr txBox="1"/>
          <p:nvPr/>
        </p:nvSpPr>
        <p:spPr>
          <a:xfrm>
            <a:off x="2235251" y="3360546"/>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دردسر</a:t>
            </a:r>
            <a:endParaRPr kumimoji="0" lang="en-GB"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p:txBody>
      </p:sp>
      <p:sp>
        <p:nvSpPr>
          <p:cNvPr id="87" name="TextBox 86">
            <a:extLst>
              <a:ext uri="{FF2B5EF4-FFF2-40B4-BE49-F238E27FC236}">
                <a16:creationId xmlns:a16="http://schemas.microsoft.com/office/drawing/2014/main" id="{464E9450-71C9-58B7-D7FA-A967E9983DEE}"/>
              </a:ext>
            </a:extLst>
          </p:cNvPr>
          <p:cNvSpPr txBox="1"/>
          <p:nvPr/>
        </p:nvSpPr>
        <p:spPr>
          <a:xfrm>
            <a:off x="503280" y="3360546"/>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منفعت</a:t>
            </a:r>
          </a:p>
        </p:txBody>
      </p:sp>
      <p:sp>
        <p:nvSpPr>
          <p:cNvPr id="88" name="TextBox 87">
            <a:extLst>
              <a:ext uri="{FF2B5EF4-FFF2-40B4-BE49-F238E27FC236}">
                <a16:creationId xmlns:a16="http://schemas.microsoft.com/office/drawing/2014/main" id="{D172BE36-BF2C-5CAE-0047-1B72275029DA}"/>
              </a:ext>
            </a:extLst>
          </p:cNvPr>
          <p:cNvSpPr txBox="1"/>
          <p:nvPr/>
        </p:nvSpPr>
        <p:spPr>
          <a:xfrm>
            <a:off x="2235247" y="3500710"/>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هزینه بالای یافتن مشتری/شریک جدید در هر دور معامله.</a:t>
            </a:r>
          </a:p>
        </p:txBody>
      </p:sp>
      <p:sp>
        <p:nvSpPr>
          <p:cNvPr id="89" name="TextBox 88">
            <a:extLst>
              <a:ext uri="{FF2B5EF4-FFF2-40B4-BE49-F238E27FC236}">
                <a16:creationId xmlns:a16="http://schemas.microsoft.com/office/drawing/2014/main" id="{4ADD298F-7DD2-B831-3887-0A2257D97E22}"/>
              </a:ext>
            </a:extLst>
          </p:cNvPr>
          <p:cNvSpPr txBox="1"/>
          <p:nvPr/>
        </p:nvSpPr>
        <p:spPr>
          <a:xfrm>
            <a:off x="502157" y="3500710"/>
            <a:ext cx="1731975" cy="184666"/>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جریان درآمد پایدار و رابطه تجاری بلندمدت.</a:t>
            </a:r>
          </a:p>
        </p:txBody>
      </p:sp>
      <p:sp>
        <p:nvSpPr>
          <p:cNvPr id="91" name="TextBox 90">
            <a:extLst>
              <a:ext uri="{FF2B5EF4-FFF2-40B4-BE49-F238E27FC236}">
                <a16:creationId xmlns:a16="http://schemas.microsoft.com/office/drawing/2014/main" id="{5DBCD635-1805-3769-A3CC-6A3FF1DBEE49}"/>
              </a:ext>
            </a:extLst>
          </p:cNvPr>
          <p:cNvSpPr txBox="1"/>
          <p:nvPr/>
        </p:nvSpPr>
        <p:spPr>
          <a:xfrm>
            <a:off x="7646008" y="3893277"/>
            <a:ext cx="3597561" cy="364202"/>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30" normalizeH="0" baseline="0" noProof="0" dirty="0" err="1">
                <a:ln>
                  <a:noFill/>
                </a:ln>
                <a:solidFill>
                  <a:srgbClr val="F0BE0F"/>
                </a:solidFill>
                <a:effectLst/>
                <a:uLnTx/>
                <a:uFillTx/>
                <a:latin typeface="Yekan Bakh" pitchFamily="2" charset="-78"/>
                <a:ea typeface="Yekan Bakh" pitchFamily="2" charset="-78"/>
                <a:cs typeface="Yekan Bakh" pitchFamily="2" charset="-78"/>
              </a:rPr>
              <a:t>کار</a:t>
            </a:r>
            <a:r>
              <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 </a:t>
            </a:r>
            <a:r>
              <a:rPr kumimoji="0" lang="fa-IR"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۷</a:t>
            </a:r>
            <a:endPar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225"/>
              </a:spcBef>
              <a:spcAft>
                <a:spcPts val="0"/>
              </a:spcAft>
              <a:buClrTx/>
              <a:buSzTx/>
              <a:buFontTx/>
              <a:buNone/>
              <a:tabLst/>
              <a:defRPr/>
            </a:pPr>
            <a:r>
              <a:rPr kumimoji="0" lang="fa-IR" sz="7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تأمین منابع مالی طرح‌های توسعه‌ای با کمترین فشار بر نقدینگی و هزینه استقراض</a:t>
            </a:r>
          </a:p>
        </p:txBody>
      </p:sp>
      <p:sp>
        <p:nvSpPr>
          <p:cNvPr id="92" name="Rectangle: Single Corner Rounded 91">
            <a:extLst>
              <a:ext uri="{FF2B5EF4-FFF2-40B4-BE49-F238E27FC236}">
                <a16:creationId xmlns:a16="http://schemas.microsoft.com/office/drawing/2014/main" id="{FB388E02-EF7D-276C-9671-04EDDC16AD76}"/>
              </a:ext>
            </a:extLst>
          </p:cNvPr>
          <p:cNvSpPr/>
          <p:nvPr/>
        </p:nvSpPr>
        <p:spPr>
          <a:xfrm flipV="1">
            <a:off x="9442559" y="4311167"/>
            <a:ext cx="1734201" cy="454939"/>
          </a:xfrm>
          <a:prstGeom prst="round1Rect">
            <a:avLst/>
          </a:prstGeom>
          <a:solidFill>
            <a:srgbClr val="F0BE0F">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93" name="Rectangle: Single Corner Rounded 92">
            <a:extLst>
              <a:ext uri="{FF2B5EF4-FFF2-40B4-BE49-F238E27FC236}">
                <a16:creationId xmlns:a16="http://schemas.microsoft.com/office/drawing/2014/main" id="{B9F23CD9-2E7C-9446-0B92-2FC5F454B8D6}"/>
              </a:ext>
            </a:extLst>
          </p:cNvPr>
          <p:cNvSpPr/>
          <p:nvPr/>
        </p:nvSpPr>
        <p:spPr>
          <a:xfrm flipH="1" flipV="1">
            <a:off x="7712817" y="4311167"/>
            <a:ext cx="1734201" cy="454939"/>
          </a:xfrm>
          <a:prstGeom prst="round1Rect">
            <a:avLst/>
          </a:prstGeom>
          <a:solidFill>
            <a:srgbClr val="1E2761">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94" name="TextBox 93">
            <a:extLst>
              <a:ext uri="{FF2B5EF4-FFF2-40B4-BE49-F238E27FC236}">
                <a16:creationId xmlns:a16="http://schemas.microsoft.com/office/drawing/2014/main" id="{8B4EDFB1-366F-2B84-4037-7B1FE92A00F3}"/>
              </a:ext>
            </a:extLst>
          </p:cNvPr>
          <p:cNvSpPr txBox="1"/>
          <p:nvPr/>
        </p:nvSpPr>
        <p:spPr>
          <a:xfrm>
            <a:off x="9442559" y="4304322"/>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دردسر</a:t>
            </a:r>
            <a:endParaRPr kumimoji="0" lang="en-GB"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p:txBody>
      </p:sp>
      <p:sp>
        <p:nvSpPr>
          <p:cNvPr id="95" name="TextBox 94">
            <a:extLst>
              <a:ext uri="{FF2B5EF4-FFF2-40B4-BE49-F238E27FC236}">
                <a16:creationId xmlns:a16="http://schemas.microsoft.com/office/drawing/2014/main" id="{8911C0D2-ED4C-F877-1273-AE652068326B}"/>
              </a:ext>
            </a:extLst>
          </p:cNvPr>
          <p:cNvSpPr txBox="1"/>
          <p:nvPr/>
        </p:nvSpPr>
        <p:spPr>
          <a:xfrm>
            <a:off x="7710588" y="4304322"/>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منفعت</a:t>
            </a:r>
          </a:p>
        </p:txBody>
      </p:sp>
      <p:sp>
        <p:nvSpPr>
          <p:cNvPr id="96" name="TextBox 95">
            <a:extLst>
              <a:ext uri="{FF2B5EF4-FFF2-40B4-BE49-F238E27FC236}">
                <a16:creationId xmlns:a16="http://schemas.microsoft.com/office/drawing/2014/main" id="{07FF04CA-8562-0D6C-E2B9-867224BB3650}"/>
              </a:ext>
            </a:extLst>
          </p:cNvPr>
          <p:cNvSpPr txBox="1"/>
          <p:nvPr/>
        </p:nvSpPr>
        <p:spPr>
          <a:xfrm>
            <a:off x="9442555" y="4444486"/>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فرآیند طولانی و پرهزینه تأمین مالی بانکی؛ فشار مالیاتی و کمبود نقدینگی.</a:t>
            </a:r>
          </a:p>
        </p:txBody>
      </p:sp>
      <p:sp>
        <p:nvSpPr>
          <p:cNvPr id="97" name="TextBox 96">
            <a:extLst>
              <a:ext uri="{FF2B5EF4-FFF2-40B4-BE49-F238E27FC236}">
                <a16:creationId xmlns:a16="http://schemas.microsoft.com/office/drawing/2014/main" id="{7B17626C-6CC9-138D-AEE1-9CF6534879B5}"/>
              </a:ext>
            </a:extLst>
          </p:cNvPr>
          <p:cNvSpPr txBox="1"/>
          <p:nvPr/>
        </p:nvSpPr>
        <p:spPr>
          <a:xfrm>
            <a:off x="7709465" y="4444486"/>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تکمیل طرح توسعه‌ای بدون فرسایش منابع مالی موجود.</a:t>
            </a:r>
          </a:p>
        </p:txBody>
      </p:sp>
      <p:sp>
        <p:nvSpPr>
          <p:cNvPr id="99" name="TextBox 98">
            <a:extLst>
              <a:ext uri="{FF2B5EF4-FFF2-40B4-BE49-F238E27FC236}">
                <a16:creationId xmlns:a16="http://schemas.microsoft.com/office/drawing/2014/main" id="{28125BF3-C618-92CF-FBE7-F62402391E03}"/>
              </a:ext>
            </a:extLst>
          </p:cNvPr>
          <p:cNvSpPr txBox="1"/>
          <p:nvPr/>
        </p:nvSpPr>
        <p:spPr>
          <a:xfrm>
            <a:off x="4048448" y="3893277"/>
            <a:ext cx="3597561" cy="364202"/>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30" normalizeH="0" baseline="0" noProof="0" dirty="0" err="1">
                <a:ln>
                  <a:noFill/>
                </a:ln>
                <a:solidFill>
                  <a:srgbClr val="F0BE0F"/>
                </a:solidFill>
                <a:effectLst/>
                <a:uLnTx/>
                <a:uFillTx/>
                <a:latin typeface="Yekan Bakh" pitchFamily="2" charset="-78"/>
                <a:ea typeface="Yekan Bakh" pitchFamily="2" charset="-78"/>
                <a:cs typeface="Yekan Bakh" pitchFamily="2" charset="-78"/>
              </a:rPr>
              <a:t>کار</a:t>
            </a:r>
            <a:r>
              <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 </a:t>
            </a:r>
            <a:r>
              <a:rPr kumimoji="0" lang="fa-IR"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۸</a:t>
            </a:r>
            <a:endPar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225"/>
              </a:spcBef>
              <a:spcAft>
                <a:spcPts val="0"/>
              </a:spcAft>
              <a:buClrTx/>
              <a:buSzTx/>
              <a:buFontTx/>
              <a:buNone/>
              <a:tabLst/>
              <a:defRPr/>
            </a:pPr>
            <a:r>
              <a:rPr kumimoji="0" lang="fa-IR" sz="7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اصلاح ساختار مالی و ترازنامه برای افزایش ظرفیت جذب سرمایه بزرگ‌مقیاس</a:t>
            </a:r>
          </a:p>
        </p:txBody>
      </p:sp>
      <p:sp>
        <p:nvSpPr>
          <p:cNvPr id="100" name="Rectangle: Single Corner Rounded 99">
            <a:extLst>
              <a:ext uri="{FF2B5EF4-FFF2-40B4-BE49-F238E27FC236}">
                <a16:creationId xmlns:a16="http://schemas.microsoft.com/office/drawing/2014/main" id="{419A566C-1C6A-8CE6-9AA8-6A1797962F00}"/>
              </a:ext>
            </a:extLst>
          </p:cNvPr>
          <p:cNvSpPr/>
          <p:nvPr/>
        </p:nvSpPr>
        <p:spPr>
          <a:xfrm flipV="1">
            <a:off x="5844999" y="4311167"/>
            <a:ext cx="1734201" cy="454939"/>
          </a:xfrm>
          <a:prstGeom prst="round1Rect">
            <a:avLst/>
          </a:prstGeom>
          <a:solidFill>
            <a:srgbClr val="F0BE0F">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01" name="Rectangle: Single Corner Rounded 100">
            <a:extLst>
              <a:ext uri="{FF2B5EF4-FFF2-40B4-BE49-F238E27FC236}">
                <a16:creationId xmlns:a16="http://schemas.microsoft.com/office/drawing/2014/main" id="{F568E916-7174-503B-55B7-911FEDDDA528}"/>
              </a:ext>
            </a:extLst>
          </p:cNvPr>
          <p:cNvSpPr/>
          <p:nvPr/>
        </p:nvSpPr>
        <p:spPr>
          <a:xfrm flipH="1" flipV="1">
            <a:off x="4115257" y="4311167"/>
            <a:ext cx="1734201" cy="454939"/>
          </a:xfrm>
          <a:prstGeom prst="round1Rect">
            <a:avLst/>
          </a:prstGeom>
          <a:solidFill>
            <a:srgbClr val="1E2761">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02" name="TextBox 101">
            <a:extLst>
              <a:ext uri="{FF2B5EF4-FFF2-40B4-BE49-F238E27FC236}">
                <a16:creationId xmlns:a16="http://schemas.microsoft.com/office/drawing/2014/main" id="{9EF81417-A8D0-82AB-F0DD-138611E16690}"/>
              </a:ext>
            </a:extLst>
          </p:cNvPr>
          <p:cNvSpPr txBox="1"/>
          <p:nvPr/>
        </p:nvSpPr>
        <p:spPr>
          <a:xfrm>
            <a:off x="5844999" y="4304322"/>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دردسر</a:t>
            </a:r>
            <a:endParaRPr kumimoji="0" lang="en-GB"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p:txBody>
      </p:sp>
      <p:sp>
        <p:nvSpPr>
          <p:cNvPr id="103" name="TextBox 102">
            <a:extLst>
              <a:ext uri="{FF2B5EF4-FFF2-40B4-BE49-F238E27FC236}">
                <a16:creationId xmlns:a16="http://schemas.microsoft.com/office/drawing/2014/main" id="{C3FF3396-6F90-3BB9-FFA4-64A1D1772149}"/>
              </a:ext>
            </a:extLst>
          </p:cNvPr>
          <p:cNvSpPr txBox="1"/>
          <p:nvPr/>
        </p:nvSpPr>
        <p:spPr>
          <a:xfrm>
            <a:off x="4113028" y="4304322"/>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منفعت</a:t>
            </a:r>
          </a:p>
        </p:txBody>
      </p:sp>
      <p:sp>
        <p:nvSpPr>
          <p:cNvPr id="104" name="TextBox 103">
            <a:extLst>
              <a:ext uri="{FF2B5EF4-FFF2-40B4-BE49-F238E27FC236}">
                <a16:creationId xmlns:a16="http://schemas.microsoft.com/office/drawing/2014/main" id="{6A9C4879-31A8-3055-3561-0AC5D0D43CA3}"/>
              </a:ext>
            </a:extLst>
          </p:cNvPr>
          <p:cNvSpPr txBox="1"/>
          <p:nvPr/>
        </p:nvSpPr>
        <p:spPr>
          <a:xfrm>
            <a:off x="5844995" y="4444486"/>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ترازنامه ضعیف مانع کسب اعتبار نزد سرمایه‌گذار بزرگ می‌شود.</a:t>
            </a:r>
          </a:p>
        </p:txBody>
      </p:sp>
      <p:sp>
        <p:nvSpPr>
          <p:cNvPr id="105" name="TextBox 104">
            <a:extLst>
              <a:ext uri="{FF2B5EF4-FFF2-40B4-BE49-F238E27FC236}">
                <a16:creationId xmlns:a16="http://schemas.microsoft.com/office/drawing/2014/main" id="{9089218A-D4DC-066F-97D8-738369D64BD2}"/>
              </a:ext>
            </a:extLst>
          </p:cNvPr>
          <p:cNvSpPr txBox="1"/>
          <p:nvPr/>
        </p:nvSpPr>
        <p:spPr>
          <a:xfrm>
            <a:off x="4111905" y="4444486"/>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آمادگی و اعتبار لازم برای جذب سرمایه در مقیاس بزرگ.</a:t>
            </a:r>
          </a:p>
        </p:txBody>
      </p:sp>
      <p:sp>
        <p:nvSpPr>
          <p:cNvPr id="107" name="TextBox 106">
            <a:extLst>
              <a:ext uri="{FF2B5EF4-FFF2-40B4-BE49-F238E27FC236}">
                <a16:creationId xmlns:a16="http://schemas.microsoft.com/office/drawing/2014/main" id="{81334903-39F7-BEA6-C1D1-5284CB1A5E54}"/>
              </a:ext>
            </a:extLst>
          </p:cNvPr>
          <p:cNvSpPr txBox="1"/>
          <p:nvPr/>
        </p:nvSpPr>
        <p:spPr>
          <a:xfrm>
            <a:off x="438700" y="3893277"/>
            <a:ext cx="3597561" cy="364202"/>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30" normalizeH="0" baseline="0" noProof="0" dirty="0" err="1">
                <a:ln>
                  <a:noFill/>
                </a:ln>
                <a:solidFill>
                  <a:srgbClr val="F0BE0F"/>
                </a:solidFill>
                <a:effectLst/>
                <a:uLnTx/>
                <a:uFillTx/>
                <a:latin typeface="Yekan Bakh" pitchFamily="2" charset="-78"/>
                <a:ea typeface="Yekan Bakh" pitchFamily="2" charset="-78"/>
                <a:cs typeface="Yekan Bakh" pitchFamily="2" charset="-78"/>
              </a:rPr>
              <a:t>کار</a:t>
            </a:r>
            <a:r>
              <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 </a:t>
            </a:r>
            <a:r>
              <a:rPr kumimoji="0" lang="fa-IR"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۹</a:t>
            </a:r>
            <a:endPar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225"/>
              </a:spcBef>
              <a:spcAft>
                <a:spcPts val="0"/>
              </a:spcAft>
              <a:buClrTx/>
              <a:buSzTx/>
              <a:buFontTx/>
              <a:buNone/>
              <a:tabLst/>
              <a:defRPr/>
            </a:pPr>
            <a:r>
              <a:rPr kumimoji="0" lang="fa-IR" sz="7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دستیابی به رشد فراتر از ظرفیت رشد ارگانیک از طریق ادغام و تملک هدفمند</a:t>
            </a:r>
          </a:p>
        </p:txBody>
      </p:sp>
      <p:sp>
        <p:nvSpPr>
          <p:cNvPr id="108" name="Rectangle: Single Corner Rounded 107">
            <a:extLst>
              <a:ext uri="{FF2B5EF4-FFF2-40B4-BE49-F238E27FC236}">
                <a16:creationId xmlns:a16="http://schemas.microsoft.com/office/drawing/2014/main" id="{7D229702-9941-4534-FF8F-E78EA751C1F5}"/>
              </a:ext>
            </a:extLst>
          </p:cNvPr>
          <p:cNvSpPr/>
          <p:nvPr/>
        </p:nvSpPr>
        <p:spPr>
          <a:xfrm flipV="1">
            <a:off x="2235251" y="4311167"/>
            <a:ext cx="1734201" cy="454939"/>
          </a:xfrm>
          <a:prstGeom prst="round1Rect">
            <a:avLst/>
          </a:prstGeom>
          <a:solidFill>
            <a:srgbClr val="F0BE0F">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09" name="Rectangle: Single Corner Rounded 108">
            <a:extLst>
              <a:ext uri="{FF2B5EF4-FFF2-40B4-BE49-F238E27FC236}">
                <a16:creationId xmlns:a16="http://schemas.microsoft.com/office/drawing/2014/main" id="{AFBC354B-83E6-302D-476F-D3C3E4EDC3C6}"/>
              </a:ext>
            </a:extLst>
          </p:cNvPr>
          <p:cNvSpPr/>
          <p:nvPr/>
        </p:nvSpPr>
        <p:spPr>
          <a:xfrm flipH="1" flipV="1">
            <a:off x="505509" y="4311167"/>
            <a:ext cx="1734201" cy="454939"/>
          </a:xfrm>
          <a:prstGeom prst="round1Rect">
            <a:avLst/>
          </a:prstGeom>
          <a:solidFill>
            <a:srgbClr val="1E2761">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10" name="TextBox 109">
            <a:extLst>
              <a:ext uri="{FF2B5EF4-FFF2-40B4-BE49-F238E27FC236}">
                <a16:creationId xmlns:a16="http://schemas.microsoft.com/office/drawing/2014/main" id="{432B5251-0287-031A-BEE6-12CC224556D3}"/>
              </a:ext>
            </a:extLst>
          </p:cNvPr>
          <p:cNvSpPr txBox="1"/>
          <p:nvPr/>
        </p:nvSpPr>
        <p:spPr>
          <a:xfrm>
            <a:off x="2235251" y="4304322"/>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دردسر</a:t>
            </a:r>
            <a:endParaRPr kumimoji="0" lang="en-GB"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p:txBody>
      </p:sp>
      <p:sp>
        <p:nvSpPr>
          <p:cNvPr id="111" name="TextBox 110">
            <a:extLst>
              <a:ext uri="{FF2B5EF4-FFF2-40B4-BE49-F238E27FC236}">
                <a16:creationId xmlns:a16="http://schemas.microsoft.com/office/drawing/2014/main" id="{D0948237-79DC-F13B-56B3-350AD197DBE9}"/>
              </a:ext>
            </a:extLst>
          </p:cNvPr>
          <p:cNvSpPr txBox="1"/>
          <p:nvPr/>
        </p:nvSpPr>
        <p:spPr>
          <a:xfrm>
            <a:off x="503280" y="4304322"/>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منفعت</a:t>
            </a:r>
          </a:p>
        </p:txBody>
      </p:sp>
      <p:sp>
        <p:nvSpPr>
          <p:cNvPr id="112" name="TextBox 111">
            <a:extLst>
              <a:ext uri="{FF2B5EF4-FFF2-40B4-BE49-F238E27FC236}">
                <a16:creationId xmlns:a16="http://schemas.microsoft.com/office/drawing/2014/main" id="{88C597E1-6693-9139-17C5-87CA1A33C568}"/>
              </a:ext>
            </a:extLst>
          </p:cNvPr>
          <p:cNvSpPr txBox="1"/>
          <p:nvPr/>
        </p:nvSpPr>
        <p:spPr>
          <a:xfrm>
            <a:off x="2235247" y="4444486"/>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محیط رشد داخلی محدود و کند برای دستیابی به مقیاس مطلوب.</a:t>
            </a:r>
          </a:p>
        </p:txBody>
      </p:sp>
      <p:sp>
        <p:nvSpPr>
          <p:cNvPr id="113" name="TextBox 112">
            <a:extLst>
              <a:ext uri="{FF2B5EF4-FFF2-40B4-BE49-F238E27FC236}">
                <a16:creationId xmlns:a16="http://schemas.microsoft.com/office/drawing/2014/main" id="{E95DA580-F2C8-72CE-AACF-C4B1700EDD42}"/>
              </a:ext>
            </a:extLst>
          </p:cNvPr>
          <p:cNvSpPr txBox="1"/>
          <p:nvPr/>
        </p:nvSpPr>
        <p:spPr>
          <a:xfrm>
            <a:off x="502157" y="4444486"/>
            <a:ext cx="1731975" cy="184666"/>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دستیابی سریع‌تر به مقیاس و مزیت رقابتی.</a:t>
            </a:r>
          </a:p>
        </p:txBody>
      </p:sp>
      <p:sp>
        <p:nvSpPr>
          <p:cNvPr id="115" name="TextBox 114">
            <a:extLst>
              <a:ext uri="{FF2B5EF4-FFF2-40B4-BE49-F238E27FC236}">
                <a16:creationId xmlns:a16="http://schemas.microsoft.com/office/drawing/2014/main" id="{F1AA0E26-B8A8-2D21-2239-0E641EABC6AD}"/>
              </a:ext>
            </a:extLst>
          </p:cNvPr>
          <p:cNvSpPr txBox="1"/>
          <p:nvPr/>
        </p:nvSpPr>
        <p:spPr>
          <a:xfrm>
            <a:off x="7646008" y="4837054"/>
            <a:ext cx="3597561" cy="364202"/>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30" normalizeH="0" baseline="0" noProof="0" dirty="0" err="1">
                <a:ln>
                  <a:noFill/>
                </a:ln>
                <a:solidFill>
                  <a:srgbClr val="F0BE0F"/>
                </a:solidFill>
                <a:effectLst/>
                <a:uLnTx/>
                <a:uFillTx/>
                <a:latin typeface="Yekan Bakh" pitchFamily="2" charset="-78"/>
                <a:ea typeface="Yekan Bakh" pitchFamily="2" charset="-78"/>
                <a:cs typeface="Yekan Bakh" pitchFamily="2" charset="-78"/>
              </a:rPr>
              <a:t>کار</a:t>
            </a:r>
            <a:r>
              <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 </a:t>
            </a:r>
            <a:r>
              <a:rPr kumimoji="0" lang="fa-IR"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۱۰</a:t>
            </a:r>
            <a:endPar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225"/>
              </a:spcBef>
              <a:spcAft>
                <a:spcPts val="0"/>
              </a:spcAft>
              <a:buClrTx/>
              <a:buSzTx/>
              <a:buFontTx/>
              <a:buNone/>
              <a:tabLst/>
              <a:defRPr/>
            </a:pPr>
            <a:r>
              <a:rPr kumimoji="0" lang="fa-IR" sz="7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حفظ و گسترش دسترسی به بازارهای صادراتی با وجود اختلالات ژئوپلیتیک</a:t>
            </a:r>
          </a:p>
        </p:txBody>
      </p:sp>
      <p:sp>
        <p:nvSpPr>
          <p:cNvPr id="116" name="Rectangle: Single Corner Rounded 115">
            <a:extLst>
              <a:ext uri="{FF2B5EF4-FFF2-40B4-BE49-F238E27FC236}">
                <a16:creationId xmlns:a16="http://schemas.microsoft.com/office/drawing/2014/main" id="{7D3EF5E7-2EA5-439C-79ED-B3E12444EE4C}"/>
              </a:ext>
            </a:extLst>
          </p:cNvPr>
          <p:cNvSpPr/>
          <p:nvPr/>
        </p:nvSpPr>
        <p:spPr>
          <a:xfrm flipV="1">
            <a:off x="9442559" y="5254944"/>
            <a:ext cx="1734201" cy="454939"/>
          </a:xfrm>
          <a:prstGeom prst="round1Rect">
            <a:avLst/>
          </a:prstGeom>
          <a:solidFill>
            <a:srgbClr val="F0BE0F">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17" name="Rectangle: Single Corner Rounded 116">
            <a:extLst>
              <a:ext uri="{FF2B5EF4-FFF2-40B4-BE49-F238E27FC236}">
                <a16:creationId xmlns:a16="http://schemas.microsoft.com/office/drawing/2014/main" id="{B9D6438F-64DF-7AEB-E3D3-C01E96CECD58}"/>
              </a:ext>
            </a:extLst>
          </p:cNvPr>
          <p:cNvSpPr/>
          <p:nvPr/>
        </p:nvSpPr>
        <p:spPr>
          <a:xfrm flipH="1" flipV="1">
            <a:off x="7712817" y="5254944"/>
            <a:ext cx="1734201" cy="454939"/>
          </a:xfrm>
          <a:prstGeom prst="round1Rect">
            <a:avLst/>
          </a:prstGeom>
          <a:solidFill>
            <a:srgbClr val="1E2761">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18" name="TextBox 117">
            <a:extLst>
              <a:ext uri="{FF2B5EF4-FFF2-40B4-BE49-F238E27FC236}">
                <a16:creationId xmlns:a16="http://schemas.microsoft.com/office/drawing/2014/main" id="{962A695E-FD6B-4486-FB00-F13A60040BA5}"/>
              </a:ext>
            </a:extLst>
          </p:cNvPr>
          <p:cNvSpPr txBox="1"/>
          <p:nvPr/>
        </p:nvSpPr>
        <p:spPr>
          <a:xfrm>
            <a:off x="9442559" y="5248099"/>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دردسر</a:t>
            </a:r>
            <a:endParaRPr kumimoji="0" lang="en-GB"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p:txBody>
      </p:sp>
      <p:sp>
        <p:nvSpPr>
          <p:cNvPr id="119" name="TextBox 118">
            <a:extLst>
              <a:ext uri="{FF2B5EF4-FFF2-40B4-BE49-F238E27FC236}">
                <a16:creationId xmlns:a16="http://schemas.microsoft.com/office/drawing/2014/main" id="{E8CCD871-AC40-860F-FC1B-83CFBEF26DEC}"/>
              </a:ext>
            </a:extLst>
          </p:cNvPr>
          <p:cNvSpPr txBox="1"/>
          <p:nvPr/>
        </p:nvSpPr>
        <p:spPr>
          <a:xfrm>
            <a:off x="7710588" y="5248099"/>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منفعت</a:t>
            </a:r>
          </a:p>
        </p:txBody>
      </p:sp>
      <p:sp>
        <p:nvSpPr>
          <p:cNvPr id="120" name="TextBox 119">
            <a:extLst>
              <a:ext uri="{FF2B5EF4-FFF2-40B4-BE49-F238E27FC236}">
                <a16:creationId xmlns:a16="http://schemas.microsoft.com/office/drawing/2014/main" id="{57759CC2-8E85-1984-7E9D-57E2F0AB4E90}"/>
              </a:ext>
            </a:extLst>
          </p:cNvPr>
          <p:cNvSpPr txBox="1"/>
          <p:nvPr/>
        </p:nvSpPr>
        <p:spPr>
          <a:xfrm>
            <a:off x="9442555" y="5388263"/>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ریسک قطع مسیر تجاری و از دست رفتن بازار به‌دلیل تنش‌های سیاسی و تحریم.</a:t>
            </a:r>
          </a:p>
        </p:txBody>
      </p:sp>
      <p:sp>
        <p:nvSpPr>
          <p:cNvPr id="121" name="TextBox 120">
            <a:extLst>
              <a:ext uri="{FF2B5EF4-FFF2-40B4-BE49-F238E27FC236}">
                <a16:creationId xmlns:a16="http://schemas.microsoft.com/office/drawing/2014/main" id="{FA24688B-F362-2C03-E239-3BE1977694D2}"/>
              </a:ext>
            </a:extLst>
          </p:cNvPr>
          <p:cNvSpPr txBox="1"/>
          <p:nvPr/>
        </p:nvSpPr>
        <p:spPr>
          <a:xfrm>
            <a:off x="7709465" y="5388263"/>
            <a:ext cx="1731975" cy="184666"/>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تداوم درآمد صادراتی و تنوع بازارهای هدف.</a:t>
            </a:r>
          </a:p>
        </p:txBody>
      </p:sp>
      <p:sp>
        <p:nvSpPr>
          <p:cNvPr id="123" name="TextBox 122">
            <a:extLst>
              <a:ext uri="{FF2B5EF4-FFF2-40B4-BE49-F238E27FC236}">
                <a16:creationId xmlns:a16="http://schemas.microsoft.com/office/drawing/2014/main" id="{36AF6F98-FBCD-A0FE-0F09-F65D2E7E27E4}"/>
              </a:ext>
            </a:extLst>
          </p:cNvPr>
          <p:cNvSpPr txBox="1"/>
          <p:nvPr/>
        </p:nvSpPr>
        <p:spPr>
          <a:xfrm>
            <a:off x="4048448" y="4837054"/>
            <a:ext cx="3597561" cy="364202"/>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30" normalizeH="0" baseline="0" noProof="0" dirty="0" err="1">
                <a:ln>
                  <a:noFill/>
                </a:ln>
                <a:solidFill>
                  <a:srgbClr val="F0BE0F"/>
                </a:solidFill>
                <a:effectLst/>
                <a:uLnTx/>
                <a:uFillTx/>
                <a:latin typeface="Yekan Bakh" pitchFamily="2" charset="-78"/>
                <a:ea typeface="Yekan Bakh" pitchFamily="2" charset="-78"/>
                <a:cs typeface="Yekan Bakh" pitchFamily="2" charset="-78"/>
              </a:rPr>
              <a:t>کار</a:t>
            </a:r>
            <a:r>
              <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 </a:t>
            </a:r>
            <a:r>
              <a:rPr kumimoji="0" lang="fa-IR"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۱۱</a:t>
            </a:r>
            <a:endPar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225"/>
              </a:spcBef>
              <a:spcAft>
                <a:spcPts val="0"/>
              </a:spcAft>
              <a:buClrTx/>
              <a:buSzTx/>
              <a:buFontTx/>
              <a:buNone/>
              <a:tabLst/>
              <a:defRPr/>
            </a:pPr>
            <a:r>
              <a:rPr kumimoji="0" lang="fa-IR" sz="7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سنجش ارزش واقعی و تقاضای بازار مقصد پیش از تعهد منابع بازاریابی</a:t>
            </a:r>
          </a:p>
        </p:txBody>
      </p:sp>
      <p:sp>
        <p:nvSpPr>
          <p:cNvPr id="124" name="Rectangle: Single Corner Rounded 123">
            <a:extLst>
              <a:ext uri="{FF2B5EF4-FFF2-40B4-BE49-F238E27FC236}">
                <a16:creationId xmlns:a16="http://schemas.microsoft.com/office/drawing/2014/main" id="{4E9F7205-2395-6E63-B477-8BA7C1CF80CA}"/>
              </a:ext>
            </a:extLst>
          </p:cNvPr>
          <p:cNvSpPr/>
          <p:nvPr/>
        </p:nvSpPr>
        <p:spPr>
          <a:xfrm flipV="1">
            <a:off x="5844999" y="5254944"/>
            <a:ext cx="1734201" cy="454939"/>
          </a:xfrm>
          <a:prstGeom prst="round1Rect">
            <a:avLst/>
          </a:prstGeom>
          <a:solidFill>
            <a:srgbClr val="F0BE0F">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25" name="Rectangle: Single Corner Rounded 124">
            <a:extLst>
              <a:ext uri="{FF2B5EF4-FFF2-40B4-BE49-F238E27FC236}">
                <a16:creationId xmlns:a16="http://schemas.microsoft.com/office/drawing/2014/main" id="{DF529128-6BCB-C22A-E53D-EB6C14FE085B}"/>
              </a:ext>
            </a:extLst>
          </p:cNvPr>
          <p:cNvSpPr/>
          <p:nvPr/>
        </p:nvSpPr>
        <p:spPr>
          <a:xfrm flipH="1" flipV="1">
            <a:off x="4115257" y="5254944"/>
            <a:ext cx="1734201" cy="454939"/>
          </a:xfrm>
          <a:prstGeom prst="round1Rect">
            <a:avLst/>
          </a:prstGeom>
          <a:solidFill>
            <a:srgbClr val="1E2761">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26" name="TextBox 125">
            <a:extLst>
              <a:ext uri="{FF2B5EF4-FFF2-40B4-BE49-F238E27FC236}">
                <a16:creationId xmlns:a16="http://schemas.microsoft.com/office/drawing/2014/main" id="{87406036-5BAF-C6F0-6F3E-8ED3DF95EB56}"/>
              </a:ext>
            </a:extLst>
          </p:cNvPr>
          <p:cNvSpPr txBox="1"/>
          <p:nvPr/>
        </p:nvSpPr>
        <p:spPr>
          <a:xfrm>
            <a:off x="5844999" y="5248099"/>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دردسر</a:t>
            </a:r>
            <a:endParaRPr kumimoji="0" lang="en-GB"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p:txBody>
      </p:sp>
      <p:sp>
        <p:nvSpPr>
          <p:cNvPr id="127" name="TextBox 126">
            <a:extLst>
              <a:ext uri="{FF2B5EF4-FFF2-40B4-BE49-F238E27FC236}">
                <a16:creationId xmlns:a16="http://schemas.microsoft.com/office/drawing/2014/main" id="{69BC92B2-C8C7-7C6F-BE37-A0C0054ED72D}"/>
              </a:ext>
            </a:extLst>
          </p:cNvPr>
          <p:cNvSpPr txBox="1"/>
          <p:nvPr/>
        </p:nvSpPr>
        <p:spPr>
          <a:xfrm>
            <a:off x="4113028" y="5248099"/>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منفعت</a:t>
            </a:r>
          </a:p>
        </p:txBody>
      </p:sp>
      <p:sp>
        <p:nvSpPr>
          <p:cNvPr id="128" name="TextBox 127">
            <a:extLst>
              <a:ext uri="{FF2B5EF4-FFF2-40B4-BE49-F238E27FC236}">
                <a16:creationId xmlns:a16="http://schemas.microsoft.com/office/drawing/2014/main" id="{D79143A5-CBD5-3E0F-906B-0A8D4630BC95}"/>
              </a:ext>
            </a:extLst>
          </p:cNvPr>
          <p:cNvSpPr txBox="1"/>
          <p:nvPr/>
        </p:nvSpPr>
        <p:spPr>
          <a:xfrm>
            <a:off x="5844995" y="5388263"/>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ریسک صرف هزینه برای ورود به بازاری که تقاضای واقعی برای محصول ندارد.</a:t>
            </a:r>
          </a:p>
        </p:txBody>
      </p:sp>
      <p:sp>
        <p:nvSpPr>
          <p:cNvPr id="129" name="TextBox 128">
            <a:extLst>
              <a:ext uri="{FF2B5EF4-FFF2-40B4-BE49-F238E27FC236}">
                <a16:creationId xmlns:a16="http://schemas.microsoft.com/office/drawing/2014/main" id="{2EFF2980-45F1-FD49-CA76-6462BA4AEDEA}"/>
              </a:ext>
            </a:extLst>
          </p:cNvPr>
          <p:cNvSpPr txBox="1"/>
          <p:nvPr/>
        </p:nvSpPr>
        <p:spPr>
          <a:xfrm>
            <a:off x="4111905" y="5388263"/>
            <a:ext cx="1731975" cy="184666"/>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تخصیص بهینه منابع محدود بازاریابی و ورود.</a:t>
            </a:r>
          </a:p>
        </p:txBody>
      </p:sp>
      <p:sp>
        <p:nvSpPr>
          <p:cNvPr id="131" name="TextBox 130">
            <a:extLst>
              <a:ext uri="{FF2B5EF4-FFF2-40B4-BE49-F238E27FC236}">
                <a16:creationId xmlns:a16="http://schemas.microsoft.com/office/drawing/2014/main" id="{2DCAE8D0-0B4B-D381-0165-1D146157DE7E}"/>
              </a:ext>
            </a:extLst>
          </p:cNvPr>
          <p:cNvSpPr txBox="1"/>
          <p:nvPr/>
        </p:nvSpPr>
        <p:spPr>
          <a:xfrm>
            <a:off x="438700" y="4837054"/>
            <a:ext cx="3597561" cy="364202"/>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30" normalizeH="0" baseline="0" noProof="0" dirty="0" err="1">
                <a:ln>
                  <a:noFill/>
                </a:ln>
                <a:solidFill>
                  <a:srgbClr val="F0BE0F"/>
                </a:solidFill>
                <a:effectLst/>
                <a:uLnTx/>
                <a:uFillTx/>
                <a:latin typeface="Yekan Bakh" pitchFamily="2" charset="-78"/>
                <a:ea typeface="Yekan Bakh" pitchFamily="2" charset="-78"/>
                <a:cs typeface="Yekan Bakh" pitchFamily="2" charset="-78"/>
              </a:rPr>
              <a:t>کار</a:t>
            </a:r>
            <a:r>
              <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 </a:t>
            </a:r>
            <a:r>
              <a:rPr kumimoji="0" lang="fa-IR"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۱۲</a:t>
            </a:r>
            <a:endPar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225"/>
              </a:spcBef>
              <a:spcAft>
                <a:spcPts val="0"/>
              </a:spcAft>
              <a:buClrTx/>
              <a:buSzTx/>
              <a:buFontTx/>
              <a:buNone/>
              <a:tabLst/>
              <a:defRPr/>
            </a:pPr>
            <a:r>
              <a:rPr kumimoji="0" lang="fa-IR" sz="7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آماده‌سازی کالا مطابق الزامات بازرسی و استاندارد پیش از حمل بین‌المللی</a:t>
            </a:r>
          </a:p>
        </p:txBody>
      </p:sp>
      <p:sp>
        <p:nvSpPr>
          <p:cNvPr id="132" name="Rectangle: Single Corner Rounded 131">
            <a:extLst>
              <a:ext uri="{FF2B5EF4-FFF2-40B4-BE49-F238E27FC236}">
                <a16:creationId xmlns:a16="http://schemas.microsoft.com/office/drawing/2014/main" id="{17FDA2F1-C50A-2DE0-A0EB-20292B191AAD}"/>
              </a:ext>
            </a:extLst>
          </p:cNvPr>
          <p:cNvSpPr/>
          <p:nvPr/>
        </p:nvSpPr>
        <p:spPr>
          <a:xfrm flipV="1">
            <a:off x="2235251" y="5254944"/>
            <a:ext cx="1734201" cy="454939"/>
          </a:xfrm>
          <a:prstGeom prst="round1Rect">
            <a:avLst/>
          </a:prstGeom>
          <a:solidFill>
            <a:srgbClr val="F0BE0F">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33" name="Rectangle: Single Corner Rounded 132">
            <a:extLst>
              <a:ext uri="{FF2B5EF4-FFF2-40B4-BE49-F238E27FC236}">
                <a16:creationId xmlns:a16="http://schemas.microsoft.com/office/drawing/2014/main" id="{E59D64D7-3B03-70A1-40B9-563203EA75A1}"/>
              </a:ext>
            </a:extLst>
          </p:cNvPr>
          <p:cNvSpPr/>
          <p:nvPr/>
        </p:nvSpPr>
        <p:spPr>
          <a:xfrm flipH="1" flipV="1">
            <a:off x="505509" y="5254944"/>
            <a:ext cx="1734201" cy="454939"/>
          </a:xfrm>
          <a:prstGeom prst="round1Rect">
            <a:avLst/>
          </a:prstGeom>
          <a:solidFill>
            <a:srgbClr val="1E2761">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34" name="TextBox 133">
            <a:extLst>
              <a:ext uri="{FF2B5EF4-FFF2-40B4-BE49-F238E27FC236}">
                <a16:creationId xmlns:a16="http://schemas.microsoft.com/office/drawing/2014/main" id="{157D1FC6-8CCC-D5E3-EC3D-8C73FE1F1360}"/>
              </a:ext>
            </a:extLst>
          </p:cNvPr>
          <p:cNvSpPr txBox="1"/>
          <p:nvPr/>
        </p:nvSpPr>
        <p:spPr>
          <a:xfrm>
            <a:off x="2235251" y="5248099"/>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دردسر</a:t>
            </a:r>
            <a:endParaRPr kumimoji="0" lang="en-GB"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p:txBody>
      </p:sp>
      <p:sp>
        <p:nvSpPr>
          <p:cNvPr id="135" name="TextBox 134">
            <a:extLst>
              <a:ext uri="{FF2B5EF4-FFF2-40B4-BE49-F238E27FC236}">
                <a16:creationId xmlns:a16="http://schemas.microsoft.com/office/drawing/2014/main" id="{DF1CED47-3158-FCB8-F3E1-10B82BC70E6A}"/>
              </a:ext>
            </a:extLst>
          </p:cNvPr>
          <p:cNvSpPr txBox="1"/>
          <p:nvPr/>
        </p:nvSpPr>
        <p:spPr>
          <a:xfrm>
            <a:off x="503280" y="5248099"/>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منفعت</a:t>
            </a:r>
          </a:p>
        </p:txBody>
      </p:sp>
      <p:sp>
        <p:nvSpPr>
          <p:cNvPr id="136" name="TextBox 135">
            <a:extLst>
              <a:ext uri="{FF2B5EF4-FFF2-40B4-BE49-F238E27FC236}">
                <a16:creationId xmlns:a16="http://schemas.microsoft.com/office/drawing/2014/main" id="{1DB69F86-6E5A-634A-E270-6B624FF39B6A}"/>
              </a:ext>
            </a:extLst>
          </p:cNvPr>
          <p:cNvSpPr txBox="1"/>
          <p:nvPr/>
        </p:nvSpPr>
        <p:spPr>
          <a:xfrm>
            <a:off x="2235247" y="5388263"/>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ریسک رد یا توقف محموله در فرآیند بازرسی پیش از حمل.</a:t>
            </a:r>
          </a:p>
        </p:txBody>
      </p:sp>
      <p:sp>
        <p:nvSpPr>
          <p:cNvPr id="137" name="TextBox 136">
            <a:extLst>
              <a:ext uri="{FF2B5EF4-FFF2-40B4-BE49-F238E27FC236}">
                <a16:creationId xmlns:a16="http://schemas.microsoft.com/office/drawing/2014/main" id="{5FB009F6-85C9-9AC1-5416-183FE9A1A156}"/>
              </a:ext>
            </a:extLst>
          </p:cNvPr>
          <p:cNvSpPr txBox="1"/>
          <p:nvPr/>
        </p:nvSpPr>
        <p:spPr>
          <a:xfrm>
            <a:off x="502157" y="5388263"/>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عبور بی‌دردسر کالا از فرآیند صادرات و تحویل به‌موقع.</a:t>
            </a:r>
          </a:p>
        </p:txBody>
      </p:sp>
    </p:spTree>
    <p:extLst>
      <p:ext uri="{BB962C8B-B14F-4D97-AF65-F5344CB8AC3E}">
        <p14:creationId xmlns:p14="http://schemas.microsoft.com/office/powerpoint/2010/main" val="248113319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34836D-8DB2-8E3D-3F32-6569010EF35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298405C-647A-03EA-D055-BE602F8577EC}"/>
              </a:ext>
            </a:extLst>
          </p:cNvPr>
          <p:cNvSpPr>
            <a:spLocks noGrp="1"/>
          </p:cNvSpPr>
          <p:nvPr>
            <p:ph type="body" sz="quarter" idx="10"/>
          </p:nvPr>
        </p:nvSpPr>
        <p:spPr/>
        <p:txBody>
          <a:bodyPr/>
          <a:lstStyle/>
          <a:p>
            <a:r>
              <a:rPr lang="fa-IR" dirty="0"/>
              <a:t>--</a:t>
            </a:r>
          </a:p>
        </p:txBody>
      </p:sp>
      <p:sp>
        <p:nvSpPr>
          <p:cNvPr id="3" name="Text Placeholder 2">
            <a:extLst>
              <a:ext uri="{FF2B5EF4-FFF2-40B4-BE49-F238E27FC236}">
                <a16:creationId xmlns:a16="http://schemas.microsoft.com/office/drawing/2014/main" id="{DAD37561-1880-63C7-E1EA-302C31C7BA8B}"/>
              </a:ext>
            </a:extLst>
          </p:cNvPr>
          <p:cNvSpPr>
            <a:spLocks noGrp="1"/>
          </p:cNvSpPr>
          <p:nvPr>
            <p:ph type="body" sz="quarter" idx="12"/>
          </p:nvPr>
        </p:nvSpPr>
        <p:spPr/>
        <p:txBody>
          <a:bodyPr/>
          <a:lstStyle/>
          <a:p>
            <a:r>
              <a:rPr lang="fa-IR" dirty="0"/>
              <a:t>نقشه پرسوناها/۲</a:t>
            </a:r>
          </a:p>
          <a:p>
            <a:r>
              <a:rPr lang="fa-IR" sz="1200" b="0" dirty="0">
                <a:solidFill>
                  <a:schemeClr val="tx1">
                    <a:lumMod val="50000"/>
                    <a:lumOff val="50000"/>
                  </a:schemeClr>
                </a:solidFill>
              </a:rPr>
              <a:t>برای هر پرسونا: تعریف کوتاه، سپس کارهای مشتری با دردسر و منفعت مربوطه</a:t>
            </a:r>
            <a:endParaRPr lang="en-GB" sz="1200" b="0" dirty="0">
              <a:solidFill>
                <a:schemeClr val="tx1">
                  <a:lumMod val="50000"/>
                  <a:lumOff val="50000"/>
                </a:schemeClr>
              </a:solidFill>
            </a:endParaRPr>
          </a:p>
        </p:txBody>
      </p:sp>
      <p:sp>
        <p:nvSpPr>
          <p:cNvPr id="4" name="Rectangle: Rounded Corners 3">
            <a:extLst>
              <a:ext uri="{FF2B5EF4-FFF2-40B4-BE49-F238E27FC236}">
                <a16:creationId xmlns:a16="http://schemas.microsoft.com/office/drawing/2014/main" id="{30FE935E-7117-F07D-7F78-C5D140ED12DD}"/>
              </a:ext>
            </a:extLst>
          </p:cNvPr>
          <p:cNvSpPr/>
          <p:nvPr/>
        </p:nvSpPr>
        <p:spPr>
          <a:xfrm>
            <a:off x="437289" y="1343551"/>
            <a:ext cx="10806286" cy="4404106"/>
          </a:xfrm>
          <a:prstGeom prst="roundRect">
            <a:avLst>
              <a:gd name="adj" fmla="val 1837"/>
            </a:avLst>
          </a:prstGeom>
          <a:noFill/>
          <a:ln w="3175">
            <a:solidFill>
              <a:srgbClr val="F0BE0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cxnSp>
        <p:nvCxnSpPr>
          <p:cNvPr id="9" name="Straight Connector 8">
            <a:extLst>
              <a:ext uri="{FF2B5EF4-FFF2-40B4-BE49-F238E27FC236}">
                <a16:creationId xmlns:a16="http://schemas.microsoft.com/office/drawing/2014/main" id="{FBF5507F-B36B-8252-6B61-561A15712D9B}"/>
              </a:ext>
            </a:extLst>
          </p:cNvPr>
          <p:cNvCxnSpPr>
            <a:cxnSpLocks/>
          </p:cNvCxnSpPr>
          <p:nvPr/>
        </p:nvCxnSpPr>
        <p:spPr>
          <a:xfrm>
            <a:off x="437288" y="1981263"/>
            <a:ext cx="10806284" cy="0"/>
          </a:xfrm>
          <a:prstGeom prst="line">
            <a:avLst/>
          </a:prstGeom>
          <a:ln>
            <a:solidFill>
              <a:srgbClr val="F0BE0F"/>
            </a:solidFill>
            <a:prstDash val="solid"/>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4842D0AE-AC47-B955-41A3-C0A6C1ACDFCD}"/>
              </a:ext>
            </a:extLst>
          </p:cNvPr>
          <p:cNvSpPr txBox="1"/>
          <p:nvPr/>
        </p:nvSpPr>
        <p:spPr>
          <a:xfrm>
            <a:off x="437288" y="1628412"/>
            <a:ext cx="10411685" cy="230832"/>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9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شرکت بالغ خارجی (عمدتاً بین‌المللی) با هدف مصوب، بودجه و مجوز داخلی که برای ورود، سرمایه‌گذاری یا همکاری در ایران به اطمینان، شناخت بازار و شریک معتبر نیاز دارد.</a:t>
            </a:r>
          </a:p>
        </p:txBody>
      </p:sp>
      <p:sp>
        <p:nvSpPr>
          <p:cNvPr id="12" name="TextBox 11">
            <a:extLst>
              <a:ext uri="{FF2B5EF4-FFF2-40B4-BE49-F238E27FC236}">
                <a16:creationId xmlns:a16="http://schemas.microsoft.com/office/drawing/2014/main" id="{A15E2811-D402-BEAC-D388-BC2CF43A2755}"/>
              </a:ext>
            </a:extLst>
          </p:cNvPr>
          <p:cNvSpPr txBox="1"/>
          <p:nvPr/>
        </p:nvSpPr>
        <p:spPr>
          <a:xfrm>
            <a:off x="437288" y="1396898"/>
            <a:ext cx="10411685" cy="253916"/>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450"/>
              </a:spcAft>
              <a:buClrTx/>
              <a:buSzTx/>
              <a:buFontTx/>
              <a:buNone/>
              <a:tabLst/>
              <a:defRPr/>
            </a:pPr>
            <a:r>
              <a:rPr kumimoji="0" lang="fa-IR" sz="105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کسب‌وکار تراز خارجی</a:t>
            </a:r>
          </a:p>
        </p:txBody>
      </p:sp>
      <p:sp>
        <p:nvSpPr>
          <p:cNvPr id="15" name="Rectangle: Single Corner Rounded 14">
            <a:extLst>
              <a:ext uri="{FF2B5EF4-FFF2-40B4-BE49-F238E27FC236}">
                <a16:creationId xmlns:a16="http://schemas.microsoft.com/office/drawing/2014/main" id="{66747807-2A38-4788-0F84-8E8021AC9558}"/>
              </a:ext>
            </a:extLst>
          </p:cNvPr>
          <p:cNvSpPr/>
          <p:nvPr/>
        </p:nvSpPr>
        <p:spPr>
          <a:xfrm>
            <a:off x="10848973" y="1346509"/>
            <a:ext cx="394599" cy="634754"/>
          </a:xfrm>
          <a:prstGeom prst="round1Rect">
            <a:avLst/>
          </a:prstGeom>
          <a:solidFill>
            <a:srgbClr val="F0BE0F">
              <a:alpha val="7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6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۲</a:t>
            </a:r>
            <a:endParaRPr kumimoji="0" lang="en-GB" sz="16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cxnSp>
        <p:nvCxnSpPr>
          <p:cNvPr id="18" name="Straight Connector 17">
            <a:extLst>
              <a:ext uri="{FF2B5EF4-FFF2-40B4-BE49-F238E27FC236}">
                <a16:creationId xmlns:a16="http://schemas.microsoft.com/office/drawing/2014/main" id="{742F6506-8B27-D617-921D-99C78F900685}"/>
              </a:ext>
            </a:extLst>
          </p:cNvPr>
          <p:cNvCxnSpPr>
            <a:cxnSpLocks/>
          </p:cNvCxnSpPr>
          <p:nvPr/>
        </p:nvCxnSpPr>
        <p:spPr>
          <a:xfrm>
            <a:off x="4048447" y="1981263"/>
            <a:ext cx="0" cy="3766394"/>
          </a:xfrm>
          <a:prstGeom prst="line">
            <a:avLst/>
          </a:prstGeom>
          <a:ln>
            <a:solidFill>
              <a:schemeClr val="bg1">
                <a:lumMod val="85000"/>
                <a:alpha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0D39C707-2FE1-4552-0125-B9C0B2BCF188}"/>
              </a:ext>
            </a:extLst>
          </p:cNvPr>
          <p:cNvCxnSpPr>
            <a:cxnSpLocks/>
          </p:cNvCxnSpPr>
          <p:nvPr/>
        </p:nvCxnSpPr>
        <p:spPr>
          <a:xfrm>
            <a:off x="437288" y="2922862"/>
            <a:ext cx="10806284" cy="0"/>
          </a:xfrm>
          <a:prstGeom prst="line">
            <a:avLst/>
          </a:prstGeom>
          <a:ln>
            <a:solidFill>
              <a:schemeClr val="bg1">
                <a:lumMod val="85000"/>
                <a:alpha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BF260977-7CA1-ACDE-5F8D-169A77717103}"/>
              </a:ext>
            </a:extLst>
          </p:cNvPr>
          <p:cNvCxnSpPr>
            <a:cxnSpLocks/>
          </p:cNvCxnSpPr>
          <p:nvPr/>
        </p:nvCxnSpPr>
        <p:spPr>
          <a:xfrm>
            <a:off x="437288" y="3864460"/>
            <a:ext cx="10806284" cy="0"/>
          </a:xfrm>
          <a:prstGeom prst="line">
            <a:avLst/>
          </a:prstGeom>
          <a:ln>
            <a:solidFill>
              <a:schemeClr val="bg1">
                <a:lumMod val="85000"/>
                <a:alpha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F69B0D3-CF0A-3AD9-2BD3-883BA473D730}"/>
              </a:ext>
            </a:extLst>
          </p:cNvPr>
          <p:cNvCxnSpPr>
            <a:cxnSpLocks/>
          </p:cNvCxnSpPr>
          <p:nvPr/>
        </p:nvCxnSpPr>
        <p:spPr>
          <a:xfrm>
            <a:off x="437288" y="4806059"/>
            <a:ext cx="10806284" cy="0"/>
          </a:xfrm>
          <a:prstGeom prst="line">
            <a:avLst/>
          </a:prstGeom>
          <a:ln>
            <a:solidFill>
              <a:schemeClr val="bg1">
                <a:lumMod val="85000"/>
                <a:alpha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33A5B378-1515-9917-F4EE-8D2749674B3E}"/>
              </a:ext>
            </a:extLst>
          </p:cNvPr>
          <p:cNvCxnSpPr>
            <a:cxnSpLocks/>
          </p:cNvCxnSpPr>
          <p:nvPr/>
        </p:nvCxnSpPr>
        <p:spPr>
          <a:xfrm>
            <a:off x="7646009" y="1981263"/>
            <a:ext cx="0" cy="3766394"/>
          </a:xfrm>
          <a:prstGeom prst="line">
            <a:avLst/>
          </a:prstGeom>
          <a:ln>
            <a:solidFill>
              <a:schemeClr val="bg1">
                <a:lumMod val="85000"/>
                <a:alpha val="90000"/>
              </a:schemeClr>
            </a:solidFill>
            <a:prstDash val="dash"/>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4719833F-EFFB-E22C-1F92-27E69DC4EF4E}"/>
              </a:ext>
            </a:extLst>
          </p:cNvPr>
          <p:cNvSpPr txBox="1"/>
          <p:nvPr/>
        </p:nvSpPr>
        <p:spPr>
          <a:xfrm>
            <a:off x="7646008" y="2005725"/>
            <a:ext cx="3597561" cy="364202"/>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30" normalizeH="0" baseline="0" noProof="0" dirty="0" err="1">
                <a:ln>
                  <a:noFill/>
                </a:ln>
                <a:solidFill>
                  <a:srgbClr val="F0BE0F"/>
                </a:solidFill>
                <a:effectLst/>
                <a:uLnTx/>
                <a:uFillTx/>
                <a:latin typeface="Yekan Bakh" pitchFamily="2" charset="-78"/>
                <a:ea typeface="Yekan Bakh" pitchFamily="2" charset="-78"/>
                <a:cs typeface="Yekan Bakh" pitchFamily="2" charset="-78"/>
              </a:rPr>
              <a:t>کار</a:t>
            </a:r>
            <a:r>
              <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 ۱</a:t>
            </a:r>
          </a:p>
          <a:p>
            <a:pPr marL="0" marR="0" lvl="0" indent="0" algn="ctr" defTabSz="457200" rtl="1" eaLnBrk="1" fontAlgn="auto" latinLnBrk="0" hangingPunct="1">
              <a:lnSpc>
                <a:spcPct val="100000"/>
              </a:lnSpc>
              <a:spcBef>
                <a:spcPts val="225"/>
              </a:spcBef>
              <a:spcAft>
                <a:spcPts val="0"/>
              </a:spcAft>
              <a:buClrTx/>
              <a:buSzTx/>
              <a:buFontTx/>
              <a:buNone/>
              <a:tabLst/>
              <a:defRPr/>
            </a:pPr>
            <a:r>
              <a:rPr kumimoji="0" lang="fa-IR" sz="7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اطمینان از قابل‌اجرا بودن تراکنش مالی و پرداخت پیش از تعهد به معامله</a:t>
            </a:r>
          </a:p>
        </p:txBody>
      </p:sp>
      <p:sp>
        <p:nvSpPr>
          <p:cNvPr id="32" name="Rectangle: Single Corner Rounded 31">
            <a:extLst>
              <a:ext uri="{FF2B5EF4-FFF2-40B4-BE49-F238E27FC236}">
                <a16:creationId xmlns:a16="http://schemas.microsoft.com/office/drawing/2014/main" id="{44E2FDB6-7CAB-95DC-0714-D8E4B41EBE2C}"/>
              </a:ext>
            </a:extLst>
          </p:cNvPr>
          <p:cNvSpPr/>
          <p:nvPr/>
        </p:nvSpPr>
        <p:spPr>
          <a:xfrm flipV="1">
            <a:off x="9442559" y="2423615"/>
            <a:ext cx="1734201" cy="454939"/>
          </a:xfrm>
          <a:prstGeom prst="round1Rect">
            <a:avLst/>
          </a:prstGeom>
          <a:solidFill>
            <a:srgbClr val="F0BE0F">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34" name="Rectangle: Single Corner Rounded 33">
            <a:extLst>
              <a:ext uri="{FF2B5EF4-FFF2-40B4-BE49-F238E27FC236}">
                <a16:creationId xmlns:a16="http://schemas.microsoft.com/office/drawing/2014/main" id="{E4AB2ADF-8186-5257-45BF-99FE1F171DAF}"/>
              </a:ext>
            </a:extLst>
          </p:cNvPr>
          <p:cNvSpPr/>
          <p:nvPr/>
        </p:nvSpPr>
        <p:spPr>
          <a:xfrm flipH="1" flipV="1">
            <a:off x="7712817" y="2423615"/>
            <a:ext cx="1734201" cy="454939"/>
          </a:xfrm>
          <a:prstGeom prst="round1Rect">
            <a:avLst/>
          </a:prstGeom>
          <a:solidFill>
            <a:srgbClr val="1E2761">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36" name="TextBox 35">
            <a:extLst>
              <a:ext uri="{FF2B5EF4-FFF2-40B4-BE49-F238E27FC236}">
                <a16:creationId xmlns:a16="http://schemas.microsoft.com/office/drawing/2014/main" id="{B31E833C-F871-2FE2-1A54-7D9FC854FBE1}"/>
              </a:ext>
            </a:extLst>
          </p:cNvPr>
          <p:cNvSpPr txBox="1"/>
          <p:nvPr/>
        </p:nvSpPr>
        <p:spPr>
          <a:xfrm>
            <a:off x="9442559" y="2416770"/>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دردسر</a:t>
            </a:r>
            <a:endParaRPr kumimoji="0" lang="en-GB"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p:txBody>
      </p:sp>
      <p:sp>
        <p:nvSpPr>
          <p:cNvPr id="37" name="TextBox 36">
            <a:extLst>
              <a:ext uri="{FF2B5EF4-FFF2-40B4-BE49-F238E27FC236}">
                <a16:creationId xmlns:a16="http://schemas.microsoft.com/office/drawing/2014/main" id="{C62B2CA9-58D9-B00A-4BE0-96FDE3B5EB45}"/>
              </a:ext>
            </a:extLst>
          </p:cNvPr>
          <p:cNvSpPr txBox="1"/>
          <p:nvPr/>
        </p:nvSpPr>
        <p:spPr>
          <a:xfrm>
            <a:off x="7710588" y="2416770"/>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منفعت</a:t>
            </a:r>
          </a:p>
        </p:txBody>
      </p:sp>
      <p:sp>
        <p:nvSpPr>
          <p:cNvPr id="39" name="TextBox 38">
            <a:extLst>
              <a:ext uri="{FF2B5EF4-FFF2-40B4-BE49-F238E27FC236}">
                <a16:creationId xmlns:a16="http://schemas.microsoft.com/office/drawing/2014/main" id="{09127327-58FF-C1A6-758C-1AA82A388A14}"/>
              </a:ext>
            </a:extLst>
          </p:cNvPr>
          <p:cNvSpPr txBox="1"/>
          <p:nvPr/>
        </p:nvSpPr>
        <p:spPr>
          <a:xfrm>
            <a:off x="9442555" y="2556934"/>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عدم شفافیت بانکی و ریسک مسدود شدن یا ناکام ماندن مسیر پرداخت.</a:t>
            </a:r>
          </a:p>
        </p:txBody>
      </p:sp>
      <p:sp>
        <p:nvSpPr>
          <p:cNvPr id="40" name="TextBox 39">
            <a:extLst>
              <a:ext uri="{FF2B5EF4-FFF2-40B4-BE49-F238E27FC236}">
                <a16:creationId xmlns:a16="http://schemas.microsoft.com/office/drawing/2014/main" id="{CF13CBE5-407F-EE17-65EE-E588C8A06581}"/>
              </a:ext>
            </a:extLst>
          </p:cNvPr>
          <p:cNvSpPr txBox="1"/>
          <p:nvPr/>
        </p:nvSpPr>
        <p:spPr>
          <a:xfrm>
            <a:off x="7709465" y="2556934"/>
            <a:ext cx="1731975" cy="184666"/>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اطمینان از جریان مالی بی‌وقفه معامله.</a:t>
            </a:r>
          </a:p>
        </p:txBody>
      </p:sp>
      <p:sp>
        <p:nvSpPr>
          <p:cNvPr id="43" name="TextBox 42">
            <a:extLst>
              <a:ext uri="{FF2B5EF4-FFF2-40B4-BE49-F238E27FC236}">
                <a16:creationId xmlns:a16="http://schemas.microsoft.com/office/drawing/2014/main" id="{C5A47E99-0D47-FD8D-C327-BD8BF0C6B39D}"/>
              </a:ext>
            </a:extLst>
          </p:cNvPr>
          <p:cNvSpPr txBox="1"/>
          <p:nvPr/>
        </p:nvSpPr>
        <p:spPr>
          <a:xfrm>
            <a:off x="4048448" y="2005725"/>
            <a:ext cx="3597561" cy="364202"/>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30" normalizeH="0" baseline="0" noProof="0" dirty="0" err="1">
                <a:ln>
                  <a:noFill/>
                </a:ln>
                <a:solidFill>
                  <a:srgbClr val="F0BE0F"/>
                </a:solidFill>
                <a:effectLst/>
                <a:uLnTx/>
                <a:uFillTx/>
                <a:latin typeface="Yekan Bakh" pitchFamily="2" charset="-78"/>
                <a:ea typeface="Yekan Bakh" pitchFamily="2" charset="-78"/>
                <a:cs typeface="Yekan Bakh" pitchFamily="2" charset="-78"/>
              </a:rPr>
              <a:t>کار</a:t>
            </a:r>
            <a:r>
              <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 </a:t>
            </a:r>
            <a:r>
              <a:rPr kumimoji="0" lang="fa-IR"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۲</a:t>
            </a:r>
            <a:endPar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225"/>
              </a:spcBef>
              <a:spcAft>
                <a:spcPts val="0"/>
              </a:spcAft>
              <a:buClrTx/>
              <a:buSzTx/>
              <a:buFontTx/>
              <a:buNone/>
              <a:tabLst/>
              <a:defRPr/>
            </a:pPr>
            <a:r>
              <a:rPr kumimoji="0" lang="fa-IR" sz="7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کمّی‌سازی و مدیریت ریسک جریمه و مسئولیت قانونی/شخصی ناشی از این معامله</a:t>
            </a:r>
          </a:p>
        </p:txBody>
      </p:sp>
      <p:sp>
        <p:nvSpPr>
          <p:cNvPr id="44" name="Rectangle: Single Corner Rounded 43">
            <a:extLst>
              <a:ext uri="{FF2B5EF4-FFF2-40B4-BE49-F238E27FC236}">
                <a16:creationId xmlns:a16="http://schemas.microsoft.com/office/drawing/2014/main" id="{B84CA665-D96E-A28A-03FA-8043BB76D0C6}"/>
              </a:ext>
            </a:extLst>
          </p:cNvPr>
          <p:cNvSpPr/>
          <p:nvPr/>
        </p:nvSpPr>
        <p:spPr>
          <a:xfrm flipV="1">
            <a:off x="5844999" y="2423615"/>
            <a:ext cx="1734201" cy="454939"/>
          </a:xfrm>
          <a:prstGeom prst="round1Rect">
            <a:avLst/>
          </a:prstGeom>
          <a:solidFill>
            <a:srgbClr val="F0BE0F">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5" name="Rectangle: Single Corner Rounded 44">
            <a:extLst>
              <a:ext uri="{FF2B5EF4-FFF2-40B4-BE49-F238E27FC236}">
                <a16:creationId xmlns:a16="http://schemas.microsoft.com/office/drawing/2014/main" id="{8ACD9E2B-A9A2-F129-7757-A728507E1C6B}"/>
              </a:ext>
            </a:extLst>
          </p:cNvPr>
          <p:cNvSpPr/>
          <p:nvPr/>
        </p:nvSpPr>
        <p:spPr>
          <a:xfrm flipH="1" flipV="1">
            <a:off x="4115257" y="2423615"/>
            <a:ext cx="1734201" cy="454939"/>
          </a:xfrm>
          <a:prstGeom prst="round1Rect">
            <a:avLst/>
          </a:prstGeom>
          <a:solidFill>
            <a:srgbClr val="1E2761">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6" name="TextBox 45">
            <a:extLst>
              <a:ext uri="{FF2B5EF4-FFF2-40B4-BE49-F238E27FC236}">
                <a16:creationId xmlns:a16="http://schemas.microsoft.com/office/drawing/2014/main" id="{497F74CA-2A14-7626-5698-8393804038EF}"/>
              </a:ext>
            </a:extLst>
          </p:cNvPr>
          <p:cNvSpPr txBox="1"/>
          <p:nvPr/>
        </p:nvSpPr>
        <p:spPr>
          <a:xfrm>
            <a:off x="5844999" y="2416770"/>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دردسر</a:t>
            </a:r>
            <a:endParaRPr kumimoji="0" lang="en-GB"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p:txBody>
      </p:sp>
      <p:sp>
        <p:nvSpPr>
          <p:cNvPr id="47" name="TextBox 46">
            <a:extLst>
              <a:ext uri="{FF2B5EF4-FFF2-40B4-BE49-F238E27FC236}">
                <a16:creationId xmlns:a16="http://schemas.microsoft.com/office/drawing/2014/main" id="{88990A71-61C4-2198-B46F-91E0B1E4A2EB}"/>
              </a:ext>
            </a:extLst>
          </p:cNvPr>
          <p:cNvSpPr txBox="1"/>
          <p:nvPr/>
        </p:nvSpPr>
        <p:spPr>
          <a:xfrm>
            <a:off x="4113028" y="2416770"/>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منفعت</a:t>
            </a:r>
          </a:p>
        </p:txBody>
      </p:sp>
      <p:sp>
        <p:nvSpPr>
          <p:cNvPr id="48" name="TextBox 47">
            <a:extLst>
              <a:ext uri="{FF2B5EF4-FFF2-40B4-BE49-F238E27FC236}">
                <a16:creationId xmlns:a16="http://schemas.microsoft.com/office/drawing/2014/main" id="{8484E1EE-1199-2ECA-6810-7E9616C31F2E}"/>
              </a:ext>
            </a:extLst>
          </p:cNvPr>
          <p:cNvSpPr txBox="1"/>
          <p:nvPr/>
        </p:nvSpPr>
        <p:spPr>
          <a:xfrm>
            <a:off x="5844995" y="2556934"/>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ابهام در میزان و احتمال جریمه؛ نگرانی از مسئولیت شخصی مدیران تأییدکننده.</a:t>
            </a:r>
          </a:p>
        </p:txBody>
      </p:sp>
      <p:sp>
        <p:nvSpPr>
          <p:cNvPr id="49" name="TextBox 48">
            <a:extLst>
              <a:ext uri="{FF2B5EF4-FFF2-40B4-BE49-F238E27FC236}">
                <a16:creationId xmlns:a16="http://schemas.microsoft.com/office/drawing/2014/main" id="{2BD90660-14AC-470E-F74B-FD9ED997D17E}"/>
              </a:ext>
            </a:extLst>
          </p:cNvPr>
          <p:cNvSpPr txBox="1"/>
          <p:nvPr/>
        </p:nvSpPr>
        <p:spPr>
          <a:xfrm>
            <a:off x="4111905" y="2556934"/>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تصمیم آگاهانه و محافظت حقوقی از تصمیم‌گیرندگان.</a:t>
            </a:r>
          </a:p>
        </p:txBody>
      </p:sp>
      <p:sp>
        <p:nvSpPr>
          <p:cNvPr id="59" name="TextBox 58">
            <a:extLst>
              <a:ext uri="{FF2B5EF4-FFF2-40B4-BE49-F238E27FC236}">
                <a16:creationId xmlns:a16="http://schemas.microsoft.com/office/drawing/2014/main" id="{AD87B3D6-56EF-915D-CC59-87B98D512593}"/>
              </a:ext>
            </a:extLst>
          </p:cNvPr>
          <p:cNvSpPr txBox="1"/>
          <p:nvPr/>
        </p:nvSpPr>
        <p:spPr>
          <a:xfrm>
            <a:off x="438700" y="2005725"/>
            <a:ext cx="3597561" cy="364202"/>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30" normalizeH="0" baseline="0" noProof="0" dirty="0" err="1">
                <a:ln>
                  <a:noFill/>
                </a:ln>
                <a:solidFill>
                  <a:srgbClr val="F0BE0F"/>
                </a:solidFill>
                <a:effectLst/>
                <a:uLnTx/>
                <a:uFillTx/>
                <a:latin typeface="Yekan Bakh" pitchFamily="2" charset="-78"/>
                <a:ea typeface="Yekan Bakh" pitchFamily="2" charset="-78"/>
                <a:cs typeface="Yekan Bakh" pitchFamily="2" charset="-78"/>
              </a:rPr>
              <a:t>کار</a:t>
            </a:r>
            <a:r>
              <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 </a:t>
            </a:r>
            <a:r>
              <a:rPr kumimoji="0" lang="fa-IR"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۳</a:t>
            </a:r>
            <a:endPar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225"/>
              </a:spcBef>
              <a:spcAft>
                <a:spcPts val="0"/>
              </a:spcAft>
              <a:buClrTx/>
              <a:buSzTx/>
              <a:buFontTx/>
              <a:buNone/>
              <a:tabLst/>
              <a:defRPr/>
            </a:pPr>
            <a:r>
              <a:rPr kumimoji="0" lang="fa-IR" sz="7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غربال‌گری مالکیت واقعی و پیشینه طرف ایرانی پیش از ورود به معامله</a:t>
            </a:r>
          </a:p>
        </p:txBody>
      </p:sp>
      <p:sp>
        <p:nvSpPr>
          <p:cNvPr id="60" name="Rectangle: Single Corner Rounded 59">
            <a:extLst>
              <a:ext uri="{FF2B5EF4-FFF2-40B4-BE49-F238E27FC236}">
                <a16:creationId xmlns:a16="http://schemas.microsoft.com/office/drawing/2014/main" id="{1E29D839-B999-B1A4-BBDB-28465FCD0CF8}"/>
              </a:ext>
            </a:extLst>
          </p:cNvPr>
          <p:cNvSpPr/>
          <p:nvPr/>
        </p:nvSpPr>
        <p:spPr>
          <a:xfrm flipV="1">
            <a:off x="2235251" y="2423615"/>
            <a:ext cx="1734201" cy="454939"/>
          </a:xfrm>
          <a:prstGeom prst="round1Rect">
            <a:avLst/>
          </a:prstGeom>
          <a:solidFill>
            <a:srgbClr val="F0BE0F">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61" name="Rectangle: Single Corner Rounded 60">
            <a:extLst>
              <a:ext uri="{FF2B5EF4-FFF2-40B4-BE49-F238E27FC236}">
                <a16:creationId xmlns:a16="http://schemas.microsoft.com/office/drawing/2014/main" id="{D510B270-2DCE-D049-D9CC-1C996040EB05}"/>
              </a:ext>
            </a:extLst>
          </p:cNvPr>
          <p:cNvSpPr/>
          <p:nvPr/>
        </p:nvSpPr>
        <p:spPr>
          <a:xfrm flipH="1" flipV="1">
            <a:off x="505509" y="2423615"/>
            <a:ext cx="1734201" cy="454939"/>
          </a:xfrm>
          <a:prstGeom prst="round1Rect">
            <a:avLst/>
          </a:prstGeom>
          <a:solidFill>
            <a:srgbClr val="1E2761">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62" name="TextBox 61">
            <a:extLst>
              <a:ext uri="{FF2B5EF4-FFF2-40B4-BE49-F238E27FC236}">
                <a16:creationId xmlns:a16="http://schemas.microsoft.com/office/drawing/2014/main" id="{0658D189-6A4A-2642-370A-E51E143E6ABC}"/>
              </a:ext>
            </a:extLst>
          </p:cNvPr>
          <p:cNvSpPr txBox="1"/>
          <p:nvPr/>
        </p:nvSpPr>
        <p:spPr>
          <a:xfrm>
            <a:off x="2235251" y="2416770"/>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دردسر</a:t>
            </a:r>
            <a:endParaRPr kumimoji="0" lang="en-GB"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p:txBody>
      </p:sp>
      <p:sp>
        <p:nvSpPr>
          <p:cNvPr id="63" name="TextBox 62">
            <a:extLst>
              <a:ext uri="{FF2B5EF4-FFF2-40B4-BE49-F238E27FC236}">
                <a16:creationId xmlns:a16="http://schemas.microsoft.com/office/drawing/2014/main" id="{E6E542B6-D6E9-61A7-1720-8A929424FF8F}"/>
              </a:ext>
            </a:extLst>
          </p:cNvPr>
          <p:cNvSpPr txBox="1"/>
          <p:nvPr/>
        </p:nvSpPr>
        <p:spPr>
          <a:xfrm>
            <a:off x="503280" y="2416770"/>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منفعت</a:t>
            </a:r>
          </a:p>
        </p:txBody>
      </p:sp>
      <p:sp>
        <p:nvSpPr>
          <p:cNvPr id="64" name="TextBox 63">
            <a:extLst>
              <a:ext uri="{FF2B5EF4-FFF2-40B4-BE49-F238E27FC236}">
                <a16:creationId xmlns:a16="http://schemas.microsoft.com/office/drawing/2014/main" id="{47F78B2D-E500-98BF-CFAC-92DB1488272D}"/>
              </a:ext>
            </a:extLst>
          </p:cNvPr>
          <p:cNvSpPr txBox="1"/>
          <p:nvPr/>
        </p:nvSpPr>
        <p:spPr>
          <a:xfrm>
            <a:off x="2235247" y="2556934"/>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ریسک درگیرشدن ناخواسته با نهاد یا فرد تحریم‌شده.</a:t>
            </a:r>
          </a:p>
        </p:txBody>
      </p:sp>
      <p:sp>
        <p:nvSpPr>
          <p:cNvPr id="65" name="TextBox 64">
            <a:extLst>
              <a:ext uri="{FF2B5EF4-FFF2-40B4-BE49-F238E27FC236}">
                <a16:creationId xmlns:a16="http://schemas.microsoft.com/office/drawing/2014/main" id="{85F57E83-AE61-CF2C-7B47-ADC5C97DFEB9}"/>
              </a:ext>
            </a:extLst>
          </p:cNvPr>
          <p:cNvSpPr txBox="1"/>
          <p:nvPr/>
        </p:nvSpPr>
        <p:spPr>
          <a:xfrm>
            <a:off x="502157" y="2556934"/>
            <a:ext cx="1731975" cy="184666"/>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اطمینان از مشروعیت و شفافیت طرف معامله.</a:t>
            </a:r>
          </a:p>
        </p:txBody>
      </p:sp>
      <p:sp>
        <p:nvSpPr>
          <p:cNvPr id="67" name="TextBox 66">
            <a:extLst>
              <a:ext uri="{FF2B5EF4-FFF2-40B4-BE49-F238E27FC236}">
                <a16:creationId xmlns:a16="http://schemas.microsoft.com/office/drawing/2014/main" id="{5B8D2CF9-A0B7-3960-9F49-E93D2103C711}"/>
              </a:ext>
            </a:extLst>
          </p:cNvPr>
          <p:cNvSpPr txBox="1"/>
          <p:nvPr/>
        </p:nvSpPr>
        <p:spPr>
          <a:xfrm>
            <a:off x="7646008" y="2949501"/>
            <a:ext cx="3597561" cy="364202"/>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30" normalizeH="0" baseline="0" noProof="0" dirty="0" err="1">
                <a:ln>
                  <a:noFill/>
                </a:ln>
                <a:solidFill>
                  <a:srgbClr val="F0BE0F"/>
                </a:solidFill>
                <a:effectLst/>
                <a:uLnTx/>
                <a:uFillTx/>
                <a:latin typeface="Yekan Bakh" pitchFamily="2" charset="-78"/>
                <a:ea typeface="Yekan Bakh" pitchFamily="2" charset="-78"/>
                <a:cs typeface="Yekan Bakh" pitchFamily="2" charset="-78"/>
              </a:rPr>
              <a:t>کار</a:t>
            </a:r>
            <a:r>
              <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 </a:t>
            </a:r>
            <a:r>
              <a:rPr kumimoji="0" lang="fa-IR"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۴</a:t>
            </a:r>
            <a:endPar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225"/>
              </a:spcBef>
              <a:spcAft>
                <a:spcPts val="0"/>
              </a:spcAft>
              <a:buClrTx/>
              <a:buSzTx/>
              <a:buFontTx/>
              <a:buNone/>
              <a:tabLst/>
              <a:defRPr/>
            </a:pPr>
            <a:r>
              <a:rPr kumimoji="0" lang="fa-IR" sz="7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یافتن ساختار ورود مناسب </a:t>
            </a:r>
            <a:r>
              <a:rPr kumimoji="0" lang="fa-IR" sz="6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(مانند شرکت تابعه یا غیرمستقیم) </a:t>
            </a:r>
            <a:r>
              <a:rPr kumimoji="0" lang="fa-IR" sz="7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متناسب با محدودیت‌های قانونی</a:t>
            </a:r>
          </a:p>
        </p:txBody>
      </p:sp>
      <p:sp>
        <p:nvSpPr>
          <p:cNvPr id="68" name="Rectangle: Single Corner Rounded 67">
            <a:extLst>
              <a:ext uri="{FF2B5EF4-FFF2-40B4-BE49-F238E27FC236}">
                <a16:creationId xmlns:a16="http://schemas.microsoft.com/office/drawing/2014/main" id="{332A1B4C-7729-730A-2181-9E2857EDD485}"/>
              </a:ext>
            </a:extLst>
          </p:cNvPr>
          <p:cNvSpPr/>
          <p:nvPr/>
        </p:nvSpPr>
        <p:spPr>
          <a:xfrm flipV="1">
            <a:off x="9442559" y="3367391"/>
            <a:ext cx="1734201" cy="454939"/>
          </a:xfrm>
          <a:prstGeom prst="round1Rect">
            <a:avLst/>
          </a:prstGeom>
          <a:solidFill>
            <a:srgbClr val="F0BE0F">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69" name="Rectangle: Single Corner Rounded 68">
            <a:extLst>
              <a:ext uri="{FF2B5EF4-FFF2-40B4-BE49-F238E27FC236}">
                <a16:creationId xmlns:a16="http://schemas.microsoft.com/office/drawing/2014/main" id="{5BC5CE53-B0E7-276C-8A79-7CF25B78F176}"/>
              </a:ext>
            </a:extLst>
          </p:cNvPr>
          <p:cNvSpPr/>
          <p:nvPr/>
        </p:nvSpPr>
        <p:spPr>
          <a:xfrm flipH="1" flipV="1">
            <a:off x="7712817" y="3367391"/>
            <a:ext cx="1734201" cy="454939"/>
          </a:xfrm>
          <a:prstGeom prst="round1Rect">
            <a:avLst/>
          </a:prstGeom>
          <a:solidFill>
            <a:srgbClr val="1E2761">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70" name="TextBox 69">
            <a:extLst>
              <a:ext uri="{FF2B5EF4-FFF2-40B4-BE49-F238E27FC236}">
                <a16:creationId xmlns:a16="http://schemas.microsoft.com/office/drawing/2014/main" id="{C23619AB-3A50-71FB-1E52-BD0E78335C3C}"/>
              </a:ext>
            </a:extLst>
          </p:cNvPr>
          <p:cNvSpPr txBox="1"/>
          <p:nvPr/>
        </p:nvSpPr>
        <p:spPr>
          <a:xfrm>
            <a:off x="9442559" y="3360546"/>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دردسر</a:t>
            </a:r>
            <a:endParaRPr kumimoji="0" lang="en-GB"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p:txBody>
      </p:sp>
      <p:sp>
        <p:nvSpPr>
          <p:cNvPr id="71" name="TextBox 70">
            <a:extLst>
              <a:ext uri="{FF2B5EF4-FFF2-40B4-BE49-F238E27FC236}">
                <a16:creationId xmlns:a16="http://schemas.microsoft.com/office/drawing/2014/main" id="{EF335EE3-E8BD-4584-37D8-280265DDC3F2}"/>
              </a:ext>
            </a:extLst>
          </p:cNvPr>
          <p:cNvSpPr txBox="1"/>
          <p:nvPr/>
        </p:nvSpPr>
        <p:spPr>
          <a:xfrm>
            <a:off x="7710588" y="3360546"/>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منفعت</a:t>
            </a:r>
          </a:p>
        </p:txBody>
      </p:sp>
      <p:sp>
        <p:nvSpPr>
          <p:cNvPr id="72" name="TextBox 71">
            <a:extLst>
              <a:ext uri="{FF2B5EF4-FFF2-40B4-BE49-F238E27FC236}">
                <a16:creationId xmlns:a16="http://schemas.microsoft.com/office/drawing/2014/main" id="{A6585755-AD7C-9E54-43B3-7721ECE5A9C2}"/>
              </a:ext>
            </a:extLst>
          </p:cNvPr>
          <p:cNvSpPr txBox="1"/>
          <p:nvPr/>
        </p:nvSpPr>
        <p:spPr>
          <a:xfrm>
            <a:off x="9442555" y="3500710"/>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پیچیدگی حقوقی ورود مستقیم به بازار تحت تحریم.</a:t>
            </a:r>
          </a:p>
        </p:txBody>
      </p:sp>
      <p:sp>
        <p:nvSpPr>
          <p:cNvPr id="73" name="TextBox 72">
            <a:extLst>
              <a:ext uri="{FF2B5EF4-FFF2-40B4-BE49-F238E27FC236}">
                <a16:creationId xmlns:a16="http://schemas.microsoft.com/office/drawing/2014/main" id="{A6EF43AF-D99C-6CE8-DF19-CC366D997E3B}"/>
              </a:ext>
            </a:extLst>
          </p:cNvPr>
          <p:cNvSpPr txBox="1"/>
          <p:nvPr/>
        </p:nvSpPr>
        <p:spPr>
          <a:xfrm>
            <a:off x="7709465" y="3500710"/>
            <a:ext cx="1731975" cy="184666"/>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ورود قانونی و کم‌ریسک به بازار هدف.</a:t>
            </a:r>
          </a:p>
        </p:txBody>
      </p:sp>
      <p:sp>
        <p:nvSpPr>
          <p:cNvPr id="75" name="TextBox 74">
            <a:extLst>
              <a:ext uri="{FF2B5EF4-FFF2-40B4-BE49-F238E27FC236}">
                <a16:creationId xmlns:a16="http://schemas.microsoft.com/office/drawing/2014/main" id="{43A2F5AF-FF97-1283-CDF8-A1989CE3ACE4}"/>
              </a:ext>
            </a:extLst>
          </p:cNvPr>
          <p:cNvSpPr txBox="1"/>
          <p:nvPr/>
        </p:nvSpPr>
        <p:spPr>
          <a:xfrm>
            <a:off x="4048448" y="2949501"/>
            <a:ext cx="3597561" cy="364202"/>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30" normalizeH="0" baseline="0" noProof="0" dirty="0" err="1">
                <a:ln>
                  <a:noFill/>
                </a:ln>
                <a:solidFill>
                  <a:srgbClr val="F0BE0F"/>
                </a:solidFill>
                <a:effectLst/>
                <a:uLnTx/>
                <a:uFillTx/>
                <a:latin typeface="Yekan Bakh" pitchFamily="2" charset="-78"/>
                <a:ea typeface="Yekan Bakh" pitchFamily="2" charset="-78"/>
                <a:cs typeface="Yekan Bakh" pitchFamily="2" charset="-78"/>
              </a:rPr>
              <a:t>کار</a:t>
            </a:r>
            <a:r>
              <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 </a:t>
            </a:r>
            <a:r>
              <a:rPr kumimoji="0" lang="fa-IR"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۵</a:t>
            </a:r>
            <a:endPar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225"/>
              </a:spcBef>
              <a:spcAft>
                <a:spcPts val="0"/>
              </a:spcAft>
              <a:buClrTx/>
              <a:buSzTx/>
              <a:buFontTx/>
              <a:buNone/>
              <a:tabLst/>
              <a:defRPr/>
            </a:pPr>
            <a:r>
              <a:rPr kumimoji="0" lang="fa-IR" sz="7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یافتن شریک ایرانی معتبر و قابل‌اتکا برای اجرای معامله</a:t>
            </a:r>
          </a:p>
        </p:txBody>
      </p:sp>
      <p:sp>
        <p:nvSpPr>
          <p:cNvPr id="76" name="Rectangle: Single Corner Rounded 75">
            <a:extLst>
              <a:ext uri="{FF2B5EF4-FFF2-40B4-BE49-F238E27FC236}">
                <a16:creationId xmlns:a16="http://schemas.microsoft.com/office/drawing/2014/main" id="{89F9076C-2AF8-0A96-7E38-F1A51D9AF0C9}"/>
              </a:ext>
            </a:extLst>
          </p:cNvPr>
          <p:cNvSpPr/>
          <p:nvPr/>
        </p:nvSpPr>
        <p:spPr>
          <a:xfrm flipV="1">
            <a:off x="5844999" y="3367391"/>
            <a:ext cx="1734201" cy="454939"/>
          </a:xfrm>
          <a:prstGeom prst="round1Rect">
            <a:avLst/>
          </a:prstGeom>
          <a:solidFill>
            <a:srgbClr val="F0BE0F">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77" name="Rectangle: Single Corner Rounded 76">
            <a:extLst>
              <a:ext uri="{FF2B5EF4-FFF2-40B4-BE49-F238E27FC236}">
                <a16:creationId xmlns:a16="http://schemas.microsoft.com/office/drawing/2014/main" id="{02BC613D-2CF1-4793-0F99-1D6C82C9AB0F}"/>
              </a:ext>
            </a:extLst>
          </p:cNvPr>
          <p:cNvSpPr/>
          <p:nvPr/>
        </p:nvSpPr>
        <p:spPr>
          <a:xfrm flipH="1" flipV="1">
            <a:off x="4115257" y="3367391"/>
            <a:ext cx="1734201" cy="454939"/>
          </a:xfrm>
          <a:prstGeom prst="round1Rect">
            <a:avLst/>
          </a:prstGeom>
          <a:solidFill>
            <a:srgbClr val="1E2761">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78" name="TextBox 77">
            <a:extLst>
              <a:ext uri="{FF2B5EF4-FFF2-40B4-BE49-F238E27FC236}">
                <a16:creationId xmlns:a16="http://schemas.microsoft.com/office/drawing/2014/main" id="{72A802CB-7A5D-377C-1699-B5E303A22C67}"/>
              </a:ext>
            </a:extLst>
          </p:cNvPr>
          <p:cNvSpPr txBox="1"/>
          <p:nvPr/>
        </p:nvSpPr>
        <p:spPr>
          <a:xfrm>
            <a:off x="5844999" y="3360546"/>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دردسر</a:t>
            </a:r>
            <a:endParaRPr kumimoji="0" lang="en-GB"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p:txBody>
      </p:sp>
      <p:sp>
        <p:nvSpPr>
          <p:cNvPr id="79" name="TextBox 78">
            <a:extLst>
              <a:ext uri="{FF2B5EF4-FFF2-40B4-BE49-F238E27FC236}">
                <a16:creationId xmlns:a16="http://schemas.microsoft.com/office/drawing/2014/main" id="{258B4794-49B3-0557-64B2-F4C9D7265302}"/>
              </a:ext>
            </a:extLst>
          </p:cNvPr>
          <p:cNvSpPr txBox="1"/>
          <p:nvPr/>
        </p:nvSpPr>
        <p:spPr>
          <a:xfrm>
            <a:off x="4113028" y="3360546"/>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منفعت</a:t>
            </a:r>
          </a:p>
        </p:txBody>
      </p:sp>
      <p:sp>
        <p:nvSpPr>
          <p:cNvPr id="80" name="TextBox 79">
            <a:extLst>
              <a:ext uri="{FF2B5EF4-FFF2-40B4-BE49-F238E27FC236}">
                <a16:creationId xmlns:a16="http://schemas.microsoft.com/office/drawing/2014/main" id="{5928ADC5-6CCA-0B03-4765-CE365E5012EC}"/>
              </a:ext>
            </a:extLst>
          </p:cNvPr>
          <p:cNvSpPr txBox="1"/>
          <p:nvPr/>
        </p:nvSpPr>
        <p:spPr>
          <a:xfrm>
            <a:off x="5844995" y="3500710"/>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نبود شناخت محلی و دسترسی به شبکه معتبر برای معرفی شریک.</a:t>
            </a:r>
          </a:p>
        </p:txBody>
      </p:sp>
      <p:sp>
        <p:nvSpPr>
          <p:cNvPr id="81" name="TextBox 80">
            <a:extLst>
              <a:ext uri="{FF2B5EF4-FFF2-40B4-BE49-F238E27FC236}">
                <a16:creationId xmlns:a16="http://schemas.microsoft.com/office/drawing/2014/main" id="{8A492CC6-5605-7817-AA6B-511B84D02FC0}"/>
              </a:ext>
            </a:extLst>
          </p:cNvPr>
          <p:cNvSpPr txBox="1"/>
          <p:nvPr/>
        </p:nvSpPr>
        <p:spPr>
          <a:xfrm>
            <a:off x="4111905" y="3500710"/>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کاهش ریسک اجرایی از طریق همکاری با شریک محلی مطمئن.</a:t>
            </a:r>
          </a:p>
        </p:txBody>
      </p:sp>
      <p:sp>
        <p:nvSpPr>
          <p:cNvPr id="83" name="TextBox 82">
            <a:extLst>
              <a:ext uri="{FF2B5EF4-FFF2-40B4-BE49-F238E27FC236}">
                <a16:creationId xmlns:a16="http://schemas.microsoft.com/office/drawing/2014/main" id="{7A644445-82FD-2FC2-10B4-6B6652D982CE}"/>
              </a:ext>
            </a:extLst>
          </p:cNvPr>
          <p:cNvSpPr txBox="1"/>
          <p:nvPr/>
        </p:nvSpPr>
        <p:spPr>
          <a:xfrm>
            <a:off x="438700" y="2949501"/>
            <a:ext cx="3597561" cy="364202"/>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30" normalizeH="0" baseline="0" noProof="0" dirty="0" err="1">
                <a:ln>
                  <a:noFill/>
                </a:ln>
                <a:solidFill>
                  <a:srgbClr val="F0BE0F"/>
                </a:solidFill>
                <a:effectLst/>
                <a:uLnTx/>
                <a:uFillTx/>
                <a:latin typeface="Yekan Bakh" pitchFamily="2" charset="-78"/>
                <a:ea typeface="Yekan Bakh" pitchFamily="2" charset="-78"/>
                <a:cs typeface="Yekan Bakh" pitchFamily="2" charset="-78"/>
              </a:rPr>
              <a:t>کار</a:t>
            </a:r>
            <a:r>
              <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 </a:t>
            </a:r>
            <a:r>
              <a:rPr kumimoji="0" lang="fa-IR"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۶</a:t>
            </a:r>
            <a:endPar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225"/>
              </a:spcBef>
              <a:spcAft>
                <a:spcPts val="0"/>
              </a:spcAft>
              <a:buClrTx/>
              <a:buSzTx/>
              <a:buFontTx/>
              <a:buNone/>
              <a:tabLst/>
              <a:defRPr/>
            </a:pPr>
            <a:r>
              <a:rPr kumimoji="0" lang="fa-IR" sz="7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حفظ آبرو و پرهیز از درج نام شرکت در فهرست‌های دیده‌بان حتی در صورت رعایت کامل قانون</a:t>
            </a:r>
          </a:p>
        </p:txBody>
      </p:sp>
      <p:sp>
        <p:nvSpPr>
          <p:cNvPr id="84" name="Rectangle: Single Corner Rounded 83">
            <a:extLst>
              <a:ext uri="{FF2B5EF4-FFF2-40B4-BE49-F238E27FC236}">
                <a16:creationId xmlns:a16="http://schemas.microsoft.com/office/drawing/2014/main" id="{89DA0EEF-2BE9-0718-857C-862AA4CCB4AB}"/>
              </a:ext>
            </a:extLst>
          </p:cNvPr>
          <p:cNvSpPr/>
          <p:nvPr/>
        </p:nvSpPr>
        <p:spPr>
          <a:xfrm flipV="1">
            <a:off x="2235251" y="3367391"/>
            <a:ext cx="1734201" cy="454939"/>
          </a:xfrm>
          <a:prstGeom prst="round1Rect">
            <a:avLst/>
          </a:prstGeom>
          <a:solidFill>
            <a:srgbClr val="F0BE0F">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85" name="Rectangle: Single Corner Rounded 84">
            <a:extLst>
              <a:ext uri="{FF2B5EF4-FFF2-40B4-BE49-F238E27FC236}">
                <a16:creationId xmlns:a16="http://schemas.microsoft.com/office/drawing/2014/main" id="{B5861071-799E-ED00-908C-96FCAF2B103B}"/>
              </a:ext>
            </a:extLst>
          </p:cNvPr>
          <p:cNvSpPr/>
          <p:nvPr/>
        </p:nvSpPr>
        <p:spPr>
          <a:xfrm flipH="1" flipV="1">
            <a:off x="505509" y="3367391"/>
            <a:ext cx="1734201" cy="454939"/>
          </a:xfrm>
          <a:prstGeom prst="round1Rect">
            <a:avLst/>
          </a:prstGeom>
          <a:solidFill>
            <a:srgbClr val="1E2761">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86" name="TextBox 85">
            <a:extLst>
              <a:ext uri="{FF2B5EF4-FFF2-40B4-BE49-F238E27FC236}">
                <a16:creationId xmlns:a16="http://schemas.microsoft.com/office/drawing/2014/main" id="{5E61A875-75E1-315F-98CD-6E1B88F2B166}"/>
              </a:ext>
            </a:extLst>
          </p:cNvPr>
          <p:cNvSpPr txBox="1"/>
          <p:nvPr/>
        </p:nvSpPr>
        <p:spPr>
          <a:xfrm>
            <a:off x="2235251" y="3360546"/>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دردسر</a:t>
            </a:r>
            <a:endParaRPr kumimoji="0" lang="en-GB"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p:txBody>
      </p:sp>
      <p:sp>
        <p:nvSpPr>
          <p:cNvPr id="87" name="TextBox 86">
            <a:extLst>
              <a:ext uri="{FF2B5EF4-FFF2-40B4-BE49-F238E27FC236}">
                <a16:creationId xmlns:a16="http://schemas.microsoft.com/office/drawing/2014/main" id="{B06F83C5-87E4-03A0-534B-EC5ED367FA74}"/>
              </a:ext>
            </a:extLst>
          </p:cNvPr>
          <p:cNvSpPr txBox="1"/>
          <p:nvPr/>
        </p:nvSpPr>
        <p:spPr>
          <a:xfrm>
            <a:off x="503280" y="3360546"/>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منفعت</a:t>
            </a:r>
          </a:p>
        </p:txBody>
      </p:sp>
      <p:sp>
        <p:nvSpPr>
          <p:cNvPr id="88" name="TextBox 87">
            <a:extLst>
              <a:ext uri="{FF2B5EF4-FFF2-40B4-BE49-F238E27FC236}">
                <a16:creationId xmlns:a16="http://schemas.microsoft.com/office/drawing/2014/main" id="{5DBB7FC9-5646-86EF-B34C-76E95D10F2BC}"/>
              </a:ext>
            </a:extLst>
          </p:cNvPr>
          <p:cNvSpPr txBox="1"/>
          <p:nvPr/>
        </p:nvSpPr>
        <p:spPr>
          <a:xfrm>
            <a:off x="2235247" y="3500710"/>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آسیب شهرت سازمانی حتی بدون وقوع تخلف واقعی.</a:t>
            </a:r>
          </a:p>
        </p:txBody>
      </p:sp>
      <p:sp>
        <p:nvSpPr>
          <p:cNvPr id="89" name="TextBox 88">
            <a:extLst>
              <a:ext uri="{FF2B5EF4-FFF2-40B4-BE49-F238E27FC236}">
                <a16:creationId xmlns:a16="http://schemas.microsoft.com/office/drawing/2014/main" id="{4F56C8BA-5D30-EDFC-1BA0-143D30173B96}"/>
              </a:ext>
            </a:extLst>
          </p:cNvPr>
          <p:cNvSpPr txBox="1"/>
          <p:nvPr/>
        </p:nvSpPr>
        <p:spPr>
          <a:xfrm>
            <a:off x="502157" y="3500710"/>
            <a:ext cx="1731975" cy="184666"/>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حفظ اعتبار عمومی و سازمانی در بلندمدت.</a:t>
            </a:r>
          </a:p>
        </p:txBody>
      </p:sp>
      <p:sp>
        <p:nvSpPr>
          <p:cNvPr id="91" name="TextBox 90">
            <a:extLst>
              <a:ext uri="{FF2B5EF4-FFF2-40B4-BE49-F238E27FC236}">
                <a16:creationId xmlns:a16="http://schemas.microsoft.com/office/drawing/2014/main" id="{DF40B1C6-FA7E-C009-30A6-C4C7C343675D}"/>
              </a:ext>
            </a:extLst>
          </p:cNvPr>
          <p:cNvSpPr txBox="1"/>
          <p:nvPr/>
        </p:nvSpPr>
        <p:spPr>
          <a:xfrm>
            <a:off x="7646008" y="3893277"/>
            <a:ext cx="3597561" cy="364202"/>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30" normalizeH="0" baseline="0" noProof="0" dirty="0" err="1">
                <a:ln>
                  <a:noFill/>
                </a:ln>
                <a:solidFill>
                  <a:srgbClr val="F0BE0F"/>
                </a:solidFill>
                <a:effectLst/>
                <a:uLnTx/>
                <a:uFillTx/>
                <a:latin typeface="Yekan Bakh" pitchFamily="2" charset="-78"/>
                <a:ea typeface="Yekan Bakh" pitchFamily="2" charset="-78"/>
                <a:cs typeface="Yekan Bakh" pitchFamily="2" charset="-78"/>
              </a:rPr>
              <a:t>کار</a:t>
            </a:r>
            <a:r>
              <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 </a:t>
            </a:r>
            <a:r>
              <a:rPr kumimoji="0" lang="fa-IR"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۷</a:t>
            </a:r>
            <a:endPar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225"/>
              </a:spcBef>
              <a:spcAft>
                <a:spcPts val="0"/>
              </a:spcAft>
              <a:buClrTx/>
              <a:buSzTx/>
              <a:buFontTx/>
              <a:buNone/>
              <a:tabLst/>
              <a:defRPr/>
            </a:pPr>
            <a:r>
              <a:rPr kumimoji="0" lang="fa-IR" sz="7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اطمینان از تداوم معامله در صورت تغییر شرایط سیاسی و داشتن مسیر خروج امن</a:t>
            </a:r>
          </a:p>
        </p:txBody>
      </p:sp>
      <p:sp>
        <p:nvSpPr>
          <p:cNvPr id="92" name="Rectangle: Single Corner Rounded 91">
            <a:extLst>
              <a:ext uri="{FF2B5EF4-FFF2-40B4-BE49-F238E27FC236}">
                <a16:creationId xmlns:a16="http://schemas.microsoft.com/office/drawing/2014/main" id="{F3C87317-7754-E647-8765-E1A528BF1739}"/>
              </a:ext>
            </a:extLst>
          </p:cNvPr>
          <p:cNvSpPr/>
          <p:nvPr/>
        </p:nvSpPr>
        <p:spPr>
          <a:xfrm flipV="1">
            <a:off x="9442559" y="4311167"/>
            <a:ext cx="1734201" cy="454939"/>
          </a:xfrm>
          <a:prstGeom prst="round1Rect">
            <a:avLst/>
          </a:prstGeom>
          <a:solidFill>
            <a:srgbClr val="F0BE0F">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93" name="Rectangle: Single Corner Rounded 92">
            <a:extLst>
              <a:ext uri="{FF2B5EF4-FFF2-40B4-BE49-F238E27FC236}">
                <a16:creationId xmlns:a16="http://schemas.microsoft.com/office/drawing/2014/main" id="{0BDF5F93-7EF8-3E12-50B0-1C6922C55520}"/>
              </a:ext>
            </a:extLst>
          </p:cNvPr>
          <p:cNvSpPr/>
          <p:nvPr/>
        </p:nvSpPr>
        <p:spPr>
          <a:xfrm flipH="1" flipV="1">
            <a:off x="7712817" y="4311167"/>
            <a:ext cx="1734201" cy="454939"/>
          </a:xfrm>
          <a:prstGeom prst="round1Rect">
            <a:avLst/>
          </a:prstGeom>
          <a:solidFill>
            <a:srgbClr val="1E2761">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94" name="TextBox 93">
            <a:extLst>
              <a:ext uri="{FF2B5EF4-FFF2-40B4-BE49-F238E27FC236}">
                <a16:creationId xmlns:a16="http://schemas.microsoft.com/office/drawing/2014/main" id="{5A9DF835-41B0-FD76-9EEA-F86BCBB431DC}"/>
              </a:ext>
            </a:extLst>
          </p:cNvPr>
          <p:cNvSpPr txBox="1"/>
          <p:nvPr/>
        </p:nvSpPr>
        <p:spPr>
          <a:xfrm>
            <a:off x="9442559" y="4304322"/>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دردسر</a:t>
            </a:r>
            <a:endParaRPr kumimoji="0" lang="en-GB"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p:txBody>
      </p:sp>
      <p:sp>
        <p:nvSpPr>
          <p:cNvPr id="95" name="TextBox 94">
            <a:extLst>
              <a:ext uri="{FF2B5EF4-FFF2-40B4-BE49-F238E27FC236}">
                <a16:creationId xmlns:a16="http://schemas.microsoft.com/office/drawing/2014/main" id="{39059935-F60B-6CC4-D466-63A73E7C346C}"/>
              </a:ext>
            </a:extLst>
          </p:cNvPr>
          <p:cNvSpPr txBox="1"/>
          <p:nvPr/>
        </p:nvSpPr>
        <p:spPr>
          <a:xfrm>
            <a:off x="7710588" y="4304322"/>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منفعت</a:t>
            </a:r>
          </a:p>
        </p:txBody>
      </p:sp>
      <p:sp>
        <p:nvSpPr>
          <p:cNvPr id="96" name="TextBox 95">
            <a:extLst>
              <a:ext uri="{FF2B5EF4-FFF2-40B4-BE49-F238E27FC236}">
                <a16:creationId xmlns:a16="http://schemas.microsoft.com/office/drawing/2014/main" id="{65D75051-7FE3-23AA-84F8-58695054F4B0}"/>
              </a:ext>
            </a:extLst>
          </p:cNvPr>
          <p:cNvSpPr txBox="1"/>
          <p:nvPr/>
        </p:nvSpPr>
        <p:spPr>
          <a:xfrm>
            <a:off x="9442555" y="4444486"/>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ریسک از دست رفتن سرمایه‌گذاری در صورت تغییر ناگهانی شرایط سیاسی.</a:t>
            </a:r>
          </a:p>
        </p:txBody>
      </p:sp>
      <p:sp>
        <p:nvSpPr>
          <p:cNvPr id="97" name="TextBox 96">
            <a:extLst>
              <a:ext uri="{FF2B5EF4-FFF2-40B4-BE49-F238E27FC236}">
                <a16:creationId xmlns:a16="http://schemas.microsoft.com/office/drawing/2014/main" id="{A94693C6-FD35-4E28-D6F6-4838EA6F1541}"/>
              </a:ext>
            </a:extLst>
          </p:cNvPr>
          <p:cNvSpPr txBox="1"/>
          <p:nvPr/>
        </p:nvSpPr>
        <p:spPr>
          <a:xfrm>
            <a:off x="7709465" y="4444486"/>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امکان خروج کنترل‌شده از معامله بدون نقض تعهد.</a:t>
            </a:r>
          </a:p>
        </p:txBody>
      </p:sp>
      <p:sp>
        <p:nvSpPr>
          <p:cNvPr id="99" name="TextBox 98">
            <a:extLst>
              <a:ext uri="{FF2B5EF4-FFF2-40B4-BE49-F238E27FC236}">
                <a16:creationId xmlns:a16="http://schemas.microsoft.com/office/drawing/2014/main" id="{D3A3F81A-AA7B-DB2C-8C29-1526F4638EB5}"/>
              </a:ext>
            </a:extLst>
          </p:cNvPr>
          <p:cNvSpPr txBox="1"/>
          <p:nvPr/>
        </p:nvSpPr>
        <p:spPr>
          <a:xfrm>
            <a:off x="4048448" y="3893277"/>
            <a:ext cx="3597561" cy="364202"/>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30" normalizeH="0" baseline="0" noProof="0" dirty="0" err="1">
                <a:ln>
                  <a:noFill/>
                </a:ln>
                <a:solidFill>
                  <a:srgbClr val="F0BE0F"/>
                </a:solidFill>
                <a:effectLst/>
                <a:uLnTx/>
                <a:uFillTx/>
                <a:latin typeface="Yekan Bakh" pitchFamily="2" charset="-78"/>
                <a:ea typeface="Yekan Bakh" pitchFamily="2" charset="-78"/>
                <a:cs typeface="Yekan Bakh" pitchFamily="2" charset="-78"/>
              </a:rPr>
              <a:t>کار</a:t>
            </a:r>
            <a:r>
              <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 </a:t>
            </a:r>
            <a:r>
              <a:rPr kumimoji="0" lang="fa-IR"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۸</a:t>
            </a:r>
            <a:endPar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225"/>
              </a:spcBef>
              <a:spcAft>
                <a:spcPts val="0"/>
              </a:spcAft>
              <a:buClrTx/>
              <a:buSzTx/>
              <a:buFontTx/>
              <a:buNone/>
              <a:tabLst/>
              <a:defRPr/>
            </a:pPr>
            <a:r>
              <a:rPr kumimoji="0" lang="fa-IR" sz="7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نظارت و پایش مستمر عملکرد و انطباق طرف ایرانی بدون حضور فیزیکی</a:t>
            </a:r>
          </a:p>
        </p:txBody>
      </p:sp>
      <p:sp>
        <p:nvSpPr>
          <p:cNvPr id="100" name="Rectangle: Single Corner Rounded 99">
            <a:extLst>
              <a:ext uri="{FF2B5EF4-FFF2-40B4-BE49-F238E27FC236}">
                <a16:creationId xmlns:a16="http://schemas.microsoft.com/office/drawing/2014/main" id="{0C371FB2-C346-135E-BA70-94EEE3C32835}"/>
              </a:ext>
            </a:extLst>
          </p:cNvPr>
          <p:cNvSpPr/>
          <p:nvPr/>
        </p:nvSpPr>
        <p:spPr>
          <a:xfrm flipV="1">
            <a:off x="5844999" y="4311167"/>
            <a:ext cx="1734201" cy="454939"/>
          </a:xfrm>
          <a:prstGeom prst="round1Rect">
            <a:avLst/>
          </a:prstGeom>
          <a:solidFill>
            <a:srgbClr val="F0BE0F">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01" name="Rectangle: Single Corner Rounded 100">
            <a:extLst>
              <a:ext uri="{FF2B5EF4-FFF2-40B4-BE49-F238E27FC236}">
                <a16:creationId xmlns:a16="http://schemas.microsoft.com/office/drawing/2014/main" id="{71797D40-9BB3-B58B-7B7E-5B8A712865F9}"/>
              </a:ext>
            </a:extLst>
          </p:cNvPr>
          <p:cNvSpPr/>
          <p:nvPr/>
        </p:nvSpPr>
        <p:spPr>
          <a:xfrm flipH="1" flipV="1">
            <a:off x="4115257" y="4311167"/>
            <a:ext cx="1734201" cy="454939"/>
          </a:xfrm>
          <a:prstGeom prst="round1Rect">
            <a:avLst/>
          </a:prstGeom>
          <a:solidFill>
            <a:srgbClr val="1E2761">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02" name="TextBox 101">
            <a:extLst>
              <a:ext uri="{FF2B5EF4-FFF2-40B4-BE49-F238E27FC236}">
                <a16:creationId xmlns:a16="http://schemas.microsoft.com/office/drawing/2014/main" id="{2575BFC6-94B1-E003-E3BA-3558B29983D6}"/>
              </a:ext>
            </a:extLst>
          </p:cNvPr>
          <p:cNvSpPr txBox="1"/>
          <p:nvPr/>
        </p:nvSpPr>
        <p:spPr>
          <a:xfrm>
            <a:off x="5844999" y="4304322"/>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دردسر</a:t>
            </a:r>
            <a:endParaRPr kumimoji="0" lang="en-GB"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p:txBody>
      </p:sp>
      <p:sp>
        <p:nvSpPr>
          <p:cNvPr id="103" name="TextBox 102">
            <a:extLst>
              <a:ext uri="{FF2B5EF4-FFF2-40B4-BE49-F238E27FC236}">
                <a16:creationId xmlns:a16="http://schemas.microsoft.com/office/drawing/2014/main" id="{FB7142A9-D98A-2967-6B7A-FF558BB2B503}"/>
              </a:ext>
            </a:extLst>
          </p:cNvPr>
          <p:cNvSpPr txBox="1"/>
          <p:nvPr/>
        </p:nvSpPr>
        <p:spPr>
          <a:xfrm>
            <a:off x="4113028" y="4304322"/>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منفعت</a:t>
            </a:r>
          </a:p>
        </p:txBody>
      </p:sp>
      <p:sp>
        <p:nvSpPr>
          <p:cNvPr id="104" name="TextBox 103">
            <a:extLst>
              <a:ext uri="{FF2B5EF4-FFF2-40B4-BE49-F238E27FC236}">
                <a16:creationId xmlns:a16="http://schemas.microsoft.com/office/drawing/2014/main" id="{EC860855-B792-7C1D-2E93-486FE79A14CD}"/>
              </a:ext>
            </a:extLst>
          </p:cNvPr>
          <p:cNvSpPr txBox="1"/>
          <p:nvPr/>
        </p:nvSpPr>
        <p:spPr>
          <a:xfrm>
            <a:off x="5844995" y="4444486"/>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نبود ابزار پایش از راه دور و عدم اطمینان به گزارش‌دهی طرف مقابل.</a:t>
            </a:r>
          </a:p>
        </p:txBody>
      </p:sp>
      <p:sp>
        <p:nvSpPr>
          <p:cNvPr id="105" name="TextBox 104">
            <a:extLst>
              <a:ext uri="{FF2B5EF4-FFF2-40B4-BE49-F238E27FC236}">
                <a16:creationId xmlns:a16="http://schemas.microsoft.com/office/drawing/2014/main" id="{6EED912D-0AC6-5642-E745-709DCB761D17}"/>
              </a:ext>
            </a:extLst>
          </p:cNvPr>
          <p:cNvSpPr txBox="1"/>
          <p:nvPr/>
        </p:nvSpPr>
        <p:spPr>
          <a:xfrm>
            <a:off x="4111905" y="4444486"/>
            <a:ext cx="1731975" cy="184666"/>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کنترل و شفافیت مستمر بر روند اجرای تعهدات.</a:t>
            </a:r>
          </a:p>
        </p:txBody>
      </p:sp>
      <p:sp>
        <p:nvSpPr>
          <p:cNvPr id="107" name="TextBox 106">
            <a:extLst>
              <a:ext uri="{FF2B5EF4-FFF2-40B4-BE49-F238E27FC236}">
                <a16:creationId xmlns:a16="http://schemas.microsoft.com/office/drawing/2014/main" id="{A029D86B-9B2E-9405-B1F5-955BF2B3AABB}"/>
              </a:ext>
            </a:extLst>
          </p:cNvPr>
          <p:cNvSpPr txBox="1"/>
          <p:nvPr/>
        </p:nvSpPr>
        <p:spPr>
          <a:xfrm>
            <a:off x="438700" y="3893277"/>
            <a:ext cx="3597561" cy="364202"/>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30" normalizeH="0" baseline="0" noProof="0" dirty="0" err="1">
                <a:ln>
                  <a:noFill/>
                </a:ln>
                <a:solidFill>
                  <a:srgbClr val="F0BE0F"/>
                </a:solidFill>
                <a:effectLst/>
                <a:uLnTx/>
                <a:uFillTx/>
                <a:latin typeface="Yekan Bakh" pitchFamily="2" charset="-78"/>
                <a:ea typeface="Yekan Bakh" pitchFamily="2" charset="-78"/>
                <a:cs typeface="Yekan Bakh" pitchFamily="2" charset="-78"/>
              </a:rPr>
              <a:t>کار</a:t>
            </a:r>
            <a:r>
              <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 </a:t>
            </a:r>
            <a:r>
              <a:rPr kumimoji="0" lang="fa-IR"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۹</a:t>
            </a:r>
            <a:endPar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225"/>
              </a:spcBef>
              <a:spcAft>
                <a:spcPts val="0"/>
              </a:spcAft>
              <a:buClrTx/>
              <a:buSzTx/>
              <a:buFontTx/>
              <a:buNone/>
              <a:tabLst/>
              <a:defRPr/>
            </a:pPr>
            <a:r>
              <a:rPr kumimoji="0" lang="fa-IR" sz="7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ارزیابی پایداری کلان‌اقتصادی و ارزی طرف ایرانی پیش از تخصیص منابع</a:t>
            </a:r>
          </a:p>
        </p:txBody>
      </p:sp>
      <p:sp>
        <p:nvSpPr>
          <p:cNvPr id="108" name="Rectangle: Single Corner Rounded 107">
            <a:extLst>
              <a:ext uri="{FF2B5EF4-FFF2-40B4-BE49-F238E27FC236}">
                <a16:creationId xmlns:a16="http://schemas.microsoft.com/office/drawing/2014/main" id="{4C46091D-F453-8748-EFBB-C06CA22C4CC2}"/>
              </a:ext>
            </a:extLst>
          </p:cNvPr>
          <p:cNvSpPr/>
          <p:nvPr/>
        </p:nvSpPr>
        <p:spPr>
          <a:xfrm flipV="1">
            <a:off x="2235251" y="4311167"/>
            <a:ext cx="1734201" cy="454939"/>
          </a:xfrm>
          <a:prstGeom prst="round1Rect">
            <a:avLst/>
          </a:prstGeom>
          <a:solidFill>
            <a:srgbClr val="F0BE0F">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09" name="Rectangle: Single Corner Rounded 108">
            <a:extLst>
              <a:ext uri="{FF2B5EF4-FFF2-40B4-BE49-F238E27FC236}">
                <a16:creationId xmlns:a16="http://schemas.microsoft.com/office/drawing/2014/main" id="{0010B875-C8B0-DC59-5047-96D1EC8E84F9}"/>
              </a:ext>
            </a:extLst>
          </p:cNvPr>
          <p:cNvSpPr/>
          <p:nvPr/>
        </p:nvSpPr>
        <p:spPr>
          <a:xfrm flipH="1" flipV="1">
            <a:off x="505509" y="4311167"/>
            <a:ext cx="1734201" cy="454939"/>
          </a:xfrm>
          <a:prstGeom prst="round1Rect">
            <a:avLst/>
          </a:prstGeom>
          <a:solidFill>
            <a:srgbClr val="1E2761">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10" name="TextBox 109">
            <a:extLst>
              <a:ext uri="{FF2B5EF4-FFF2-40B4-BE49-F238E27FC236}">
                <a16:creationId xmlns:a16="http://schemas.microsoft.com/office/drawing/2014/main" id="{A5B89293-47F0-C740-C4C2-9941498DC272}"/>
              </a:ext>
            </a:extLst>
          </p:cNvPr>
          <p:cNvSpPr txBox="1"/>
          <p:nvPr/>
        </p:nvSpPr>
        <p:spPr>
          <a:xfrm>
            <a:off x="2235251" y="4304322"/>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دردسر</a:t>
            </a:r>
            <a:endParaRPr kumimoji="0" lang="en-GB"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p:txBody>
      </p:sp>
      <p:sp>
        <p:nvSpPr>
          <p:cNvPr id="111" name="TextBox 110">
            <a:extLst>
              <a:ext uri="{FF2B5EF4-FFF2-40B4-BE49-F238E27FC236}">
                <a16:creationId xmlns:a16="http://schemas.microsoft.com/office/drawing/2014/main" id="{B11808EE-E3E0-C749-EBE6-EADE606EBAAA}"/>
              </a:ext>
            </a:extLst>
          </p:cNvPr>
          <p:cNvSpPr txBox="1"/>
          <p:nvPr/>
        </p:nvSpPr>
        <p:spPr>
          <a:xfrm>
            <a:off x="503280" y="4304322"/>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منفعت</a:t>
            </a:r>
          </a:p>
        </p:txBody>
      </p:sp>
      <p:sp>
        <p:nvSpPr>
          <p:cNvPr id="112" name="TextBox 111">
            <a:extLst>
              <a:ext uri="{FF2B5EF4-FFF2-40B4-BE49-F238E27FC236}">
                <a16:creationId xmlns:a16="http://schemas.microsoft.com/office/drawing/2014/main" id="{BC3DA84A-E319-6C4E-DE52-F3FCA62C72D3}"/>
              </a:ext>
            </a:extLst>
          </p:cNvPr>
          <p:cNvSpPr txBox="1"/>
          <p:nvPr/>
        </p:nvSpPr>
        <p:spPr>
          <a:xfrm>
            <a:off x="2235247" y="4444486"/>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نوسان شدید تورم و نرخ ارز؛ دسترسی محدود به داده به‌روز و قابل‌اتکا.</a:t>
            </a:r>
          </a:p>
        </p:txBody>
      </p:sp>
      <p:sp>
        <p:nvSpPr>
          <p:cNvPr id="113" name="TextBox 112">
            <a:extLst>
              <a:ext uri="{FF2B5EF4-FFF2-40B4-BE49-F238E27FC236}">
                <a16:creationId xmlns:a16="http://schemas.microsoft.com/office/drawing/2014/main" id="{C2503D29-2103-C4FA-A598-8A0EA24AFE1D}"/>
              </a:ext>
            </a:extLst>
          </p:cNvPr>
          <p:cNvSpPr txBox="1"/>
          <p:nvPr/>
        </p:nvSpPr>
        <p:spPr>
          <a:xfrm>
            <a:off x="502157" y="4444486"/>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تصمیم زمان‌بندی‌شده و مستند برای ورود یا تعویق سرمایه‌گذاری.</a:t>
            </a:r>
          </a:p>
        </p:txBody>
      </p:sp>
      <p:sp>
        <p:nvSpPr>
          <p:cNvPr id="115" name="TextBox 114">
            <a:extLst>
              <a:ext uri="{FF2B5EF4-FFF2-40B4-BE49-F238E27FC236}">
                <a16:creationId xmlns:a16="http://schemas.microsoft.com/office/drawing/2014/main" id="{9DF4757E-D32F-1366-ECEA-D80A704EB928}"/>
              </a:ext>
            </a:extLst>
          </p:cNvPr>
          <p:cNvSpPr txBox="1"/>
          <p:nvPr/>
        </p:nvSpPr>
        <p:spPr>
          <a:xfrm>
            <a:off x="7646008" y="4837054"/>
            <a:ext cx="3597561" cy="364202"/>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30" normalizeH="0" baseline="0" noProof="0" dirty="0" err="1">
                <a:ln>
                  <a:noFill/>
                </a:ln>
                <a:solidFill>
                  <a:srgbClr val="F0BE0F"/>
                </a:solidFill>
                <a:effectLst/>
                <a:uLnTx/>
                <a:uFillTx/>
                <a:latin typeface="Yekan Bakh" pitchFamily="2" charset="-78"/>
                <a:ea typeface="Yekan Bakh" pitchFamily="2" charset="-78"/>
                <a:cs typeface="Yekan Bakh" pitchFamily="2" charset="-78"/>
              </a:rPr>
              <a:t>کار</a:t>
            </a:r>
            <a:r>
              <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 </a:t>
            </a:r>
            <a:r>
              <a:rPr kumimoji="0" lang="fa-IR"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۱۰</a:t>
            </a:r>
            <a:endPar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225"/>
              </a:spcBef>
              <a:spcAft>
                <a:spcPts val="0"/>
              </a:spcAft>
              <a:buClrTx/>
              <a:buSzTx/>
              <a:buFontTx/>
              <a:buNone/>
              <a:tabLst/>
              <a:defRPr/>
            </a:pPr>
            <a:r>
              <a:rPr kumimoji="0" lang="fa-IR" sz="7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سنجش کیفیت نهادی و شفافیت محیط کسب‌وکار مقصد پیش از سرمایه‌گذاری</a:t>
            </a:r>
          </a:p>
        </p:txBody>
      </p:sp>
      <p:sp>
        <p:nvSpPr>
          <p:cNvPr id="116" name="Rectangle: Single Corner Rounded 115">
            <a:extLst>
              <a:ext uri="{FF2B5EF4-FFF2-40B4-BE49-F238E27FC236}">
                <a16:creationId xmlns:a16="http://schemas.microsoft.com/office/drawing/2014/main" id="{C77BDA39-467C-AC8C-1946-B1CFC190021B}"/>
              </a:ext>
            </a:extLst>
          </p:cNvPr>
          <p:cNvSpPr/>
          <p:nvPr/>
        </p:nvSpPr>
        <p:spPr>
          <a:xfrm flipV="1">
            <a:off x="9442559" y="5254944"/>
            <a:ext cx="1734201" cy="454939"/>
          </a:xfrm>
          <a:prstGeom prst="round1Rect">
            <a:avLst/>
          </a:prstGeom>
          <a:solidFill>
            <a:srgbClr val="F0BE0F">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17" name="Rectangle: Single Corner Rounded 116">
            <a:extLst>
              <a:ext uri="{FF2B5EF4-FFF2-40B4-BE49-F238E27FC236}">
                <a16:creationId xmlns:a16="http://schemas.microsoft.com/office/drawing/2014/main" id="{4B51E64A-B988-319B-6677-3E32BE8F1EAA}"/>
              </a:ext>
            </a:extLst>
          </p:cNvPr>
          <p:cNvSpPr/>
          <p:nvPr/>
        </p:nvSpPr>
        <p:spPr>
          <a:xfrm flipH="1" flipV="1">
            <a:off x="7712817" y="5254944"/>
            <a:ext cx="1734201" cy="454939"/>
          </a:xfrm>
          <a:prstGeom prst="round1Rect">
            <a:avLst/>
          </a:prstGeom>
          <a:solidFill>
            <a:srgbClr val="1E2761">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18" name="TextBox 117">
            <a:extLst>
              <a:ext uri="{FF2B5EF4-FFF2-40B4-BE49-F238E27FC236}">
                <a16:creationId xmlns:a16="http://schemas.microsoft.com/office/drawing/2014/main" id="{97521911-5028-8329-F88B-79665135F532}"/>
              </a:ext>
            </a:extLst>
          </p:cNvPr>
          <p:cNvSpPr txBox="1"/>
          <p:nvPr/>
        </p:nvSpPr>
        <p:spPr>
          <a:xfrm>
            <a:off x="9442559" y="5248099"/>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دردسر</a:t>
            </a:r>
            <a:endParaRPr kumimoji="0" lang="en-GB"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p:txBody>
      </p:sp>
      <p:sp>
        <p:nvSpPr>
          <p:cNvPr id="119" name="TextBox 118">
            <a:extLst>
              <a:ext uri="{FF2B5EF4-FFF2-40B4-BE49-F238E27FC236}">
                <a16:creationId xmlns:a16="http://schemas.microsoft.com/office/drawing/2014/main" id="{83373978-B092-B339-AD33-E3B77D5A0AF0}"/>
              </a:ext>
            </a:extLst>
          </p:cNvPr>
          <p:cNvSpPr txBox="1"/>
          <p:nvPr/>
        </p:nvSpPr>
        <p:spPr>
          <a:xfrm>
            <a:off x="7710588" y="5248099"/>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منفعت</a:t>
            </a:r>
          </a:p>
        </p:txBody>
      </p:sp>
      <p:sp>
        <p:nvSpPr>
          <p:cNvPr id="120" name="TextBox 119">
            <a:extLst>
              <a:ext uri="{FF2B5EF4-FFF2-40B4-BE49-F238E27FC236}">
                <a16:creationId xmlns:a16="http://schemas.microsoft.com/office/drawing/2014/main" id="{C7912DD7-798D-987B-3B1A-3B2EAF7546CB}"/>
              </a:ext>
            </a:extLst>
          </p:cNvPr>
          <p:cNvSpPr txBox="1"/>
          <p:nvPr/>
        </p:nvSpPr>
        <p:spPr>
          <a:xfrm>
            <a:off x="9442555" y="5388263"/>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شکاف میان قوانین مصوب و اجرای واقعی در محیط اداری مقصد.</a:t>
            </a:r>
          </a:p>
        </p:txBody>
      </p:sp>
      <p:sp>
        <p:nvSpPr>
          <p:cNvPr id="121" name="TextBox 120">
            <a:extLst>
              <a:ext uri="{FF2B5EF4-FFF2-40B4-BE49-F238E27FC236}">
                <a16:creationId xmlns:a16="http://schemas.microsoft.com/office/drawing/2014/main" id="{3C3B643B-5952-195E-6496-9DBECA7278CA}"/>
              </a:ext>
            </a:extLst>
          </p:cNvPr>
          <p:cNvSpPr txBox="1"/>
          <p:nvPr/>
        </p:nvSpPr>
        <p:spPr>
          <a:xfrm>
            <a:off x="7709465" y="5388263"/>
            <a:ext cx="1731975" cy="184666"/>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افزایش قابلیت پیش‌بینی در تعامل با بازار.</a:t>
            </a:r>
          </a:p>
        </p:txBody>
      </p:sp>
      <p:sp>
        <p:nvSpPr>
          <p:cNvPr id="123" name="TextBox 122">
            <a:extLst>
              <a:ext uri="{FF2B5EF4-FFF2-40B4-BE49-F238E27FC236}">
                <a16:creationId xmlns:a16="http://schemas.microsoft.com/office/drawing/2014/main" id="{93544D3A-D232-7E83-934B-B89010C9220C}"/>
              </a:ext>
            </a:extLst>
          </p:cNvPr>
          <p:cNvSpPr txBox="1"/>
          <p:nvPr/>
        </p:nvSpPr>
        <p:spPr>
          <a:xfrm>
            <a:off x="4048448" y="4837054"/>
            <a:ext cx="3597561" cy="364202"/>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30" normalizeH="0" baseline="0" noProof="0" dirty="0" err="1">
                <a:ln>
                  <a:noFill/>
                </a:ln>
                <a:solidFill>
                  <a:srgbClr val="F0BE0F"/>
                </a:solidFill>
                <a:effectLst/>
                <a:uLnTx/>
                <a:uFillTx/>
                <a:latin typeface="Yekan Bakh" pitchFamily="2" charset="-78"/>
                <a:ea typeface="Yekan Bakh" pitchFamily="2" charset="-78"/>
                <a:cs typeface="Yekan Bakh" pitchFamily="2" charset="-78"/>
              </a:rPr>
              <a:t>کار</a:t>
            </a:r>
            <a:r>
              <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 </a:t>
            </a:r>
            <a:r>
              <a:rPr kumimoji="0" lang="fa-IR"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۱۱</a:t>
            </a:r>
            <a:endPar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225"/>
              </a:spcBef>
              <a:spcAft>
                <a:spcPts val="0"/>
              </a:spcAft>
              <a:buClrTx/>
              <a:buSzTx/>
              <a:buFontTx/>
              <a:buNone/>
              <a:tabLst/>
              <a:defRPr/>
            </a:pPr>
            <a:r>
              <a:rPr kumimoji="0" lang="fa-IR" sz="7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دانستن مسیر جبران خسارت در صورت مصادره یا سلب مالکیت دارایی</a:t>
            </a:r>
          </a:p>
        </p:txBody>
      </p:sp>
      <p:sp>
        <p:nvSpPr>
          <p:cNvPr id="124" name="Rectangle: Single Corner Rounded 123">
            <a:extLst>
              <a:ext uri="{FF2B5EF4-FFF2-40B4-BE49-F238E27FC236}">
                <a16:creationId xmlns:a16="http://schemas.microsoft.com/office/drawing/2014/main" id="{F239D55C-60F5-CF13-62AE-876A0CE9904D}"/>
              </a:ext>
            </a:extLst>
          </p:cNvPr>
          <p:cNvSpPr/>
          <p:nvPr/>
        </p:nvSpPr>
        <p:spPr>
          <a:xfrm flipV="1">
            <a:off x="5844999" y="5254944"/>
            <a:ext cx="1734201" cy="454939"/>
          </a:xfrm>
          <a:prstGeom prst="round1Rect">
            <a:avLst/>
          </a:prstGeom>
          <a:solidFill>
            <a:srgbClr val="F0BE0F">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25" name="Rectangle: Single Corner Rounded 124">
            <a:extLst>
              <a:ext uri="{FF2B5EF4-FFF2-40B4-BE49-F238E27FC236}">
                <a16:creationId xmlns:a16="http://schemas.microsoft.com/office/drawing/2014/main" id="{7D65AF54-2A74-200C-990A-1118E536E074}"/>
              </a:ext>
            </a:extLst>
          </p:cNvPr>
          <p:cNvSpPr/>
          <p:nvPr/>
        </p:nvSpPr>
        <p:spPr>
          <a:xfrm flipH="1" flipV="1">
            <a:off x="4115257" y="5254944"/>
            <a:ext cx="1734201" cy="454939"/>
          </a:xfrm>
          <a:prstGeom prst="round1Rect">
            <a:avLst/>
          </a:prstGeom>
          <a:solidFill>
            <a:srgbClr val="1E2761">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26" name="TextBox 125">
            <a:extLst>
              <a:ext uri="{FF2B5EF4-FFF2-40B4-BE49-F238E27FC236}">
                <a16:creationId xmlns:a16="http://schemas.microsoft.com/office/drawing/2014/main" id="{CBDE75E6-7057-70C5-E96E-B8C7641DAA0A}"/>
              </a:ext>
            </a:extLst>
          </p:cNvPr>
          <p:cNvSpPr txBox="1"/>
          <p:nvPr/>
        </p:nvSpPr>
        <p:spPr>
          <a:xfrm>
            <a:off x="5844999" y="5248099"/>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دردسر</a:t>
            </a:r>
            <a:endParaRPr kumimoji="0" lang="en-GB"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p:txBody>
      </p:sp>
      <p:sp>
        <p:nvSpPr>
          <p:cNvPr id="127" name="TextBox 126">
            <a:extLst>
              <a:ext uri="{FF2B5EF4-FFF2-40B4-BE49-F238E27FC236}">
                <a16:creationId xmlns:a16="http://schemas.microsoft.com/office/drawing/2014/main" id="{FB5B6658-81EB-CCE7-2B44-4DE0D3C8D654}"/>
              </a:ext>
            </a:extLst>
          </p:cNvPr>
          <p:cNvSpPr txBox="1"/>
          <p:nvPr/>
        </p:nvSpPr>
        <p:spPr>
          <a:xfrm>
            <a:off x="4113028" y="5248099"/>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منفعت</a:t>
            </a:r>
          </a:p>
        </p:txBody>
      </p:sp>
      <p:sp>
        <p:nvSpPr>
          <p:cNvPr id="128" name="TextBox 127">
            <a:extLst>
              <a:ext uri="{FF2B5EF4-FFF2-40B4-BE49-F238E27FC236}">
                <a16:creationId xmlns:a16="http://schemas.microsoft.com/office/drawing/2014/main" id="{5103CFEA-D502-9FAE-98A1-6553EC3A7A0B}"/>
              </a:ext>
            </a:extLst>
          </p:cNvPr>
          <p:cNvSpPr txBox="1"/>
          <p:nvPr/>
        </p:nvSpPr>
        <p:spPr>
          <a:xfrm>
            <a:off x="5844995" y="5388263"/>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نبود ضمانت اجرایی روشن در صورت بروز چنین رخدادی.</a:t>
            </a:r>
          </a:p>
        </p:txBody>
      </p:sp>
      <p:sp>
        <p:nvSpPr>
          <p:cNvPr id="129" name="TextBox 128">
            <a:extLst>
              <a:ext uri="{FF2B5EF4-FFF2-40B4-BE49-F238E27FC236}">
                <a16:creationId xmlns:a16="http://schemas.microsoft.com/office/drawing/2014/main" id="{0E7D37C9-8EDB-5205-2B9A-FB0A08CC1AFB}"/>
              </a:ext>
            </a:extLst>
          </p:cNvPr>
          <p:cNvSpPr txBox="1"/>
          <p:nvPr/>
        </p:nvSpPr>
        <p:spPr>
          <a:xfrm>
            <a:off x="4111905" y="5388263"/>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اطمینان از وجود مسیر حقوقی برای جبران خسارت.</a:t>
            </a:r>
          </a:p>
        </p:txBody>
      </p:sp>
      <p:sp>
        <p:nvSpPr>
          <p:cNvPr id="131" name="TextBox 130">
            <a:extLst>
              <a:ext uri="{FF2B5EF4-FFF2-40B4-BE49-F238E27FC236}">
                <a16:creationId xmlns:a16="http://schemas.microsoft.com/office/drawing/2014/main" id="{063B2AB2-A0A5-FDE7-E319-1C5C9AC0E4B2}"/>
              </a:ext>
            </a:extLst>
          </p:cNvPr>
          <p:cNvSpPr txBox="1"/>
          <p:nvPr/>
        </p:nvSpPr>
        <p:spPr>
          <a:xfrm>
            <a:off x="438700" y="4837054"/>
            <a:ext cx="3597561" cy="364202"/>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30" normalizeH="0" baseline="0" noProof="0" dirty="0" err="1">
                <a:ln>
                  <a:noFill/>
                </a:ln>
                <a:solidFill>
                  <a:srgbClr val="F0BE0F"/>
                </a:solidFill>
                <a:effectLst/>
                <a:uLnTx/>
                <a:uFillTx/>
                <a:latin typeface="Yekan Bakh" pitchFamily="2" charset="-78"/>
                <a:ea typeface="Yekan Bakh" pitchFamily="2" charset="-78"/>
                <a:cs typeface="Yekan Bakh" pitchFamily="2" charset="-78"/>
              </a:rPr>
              <a:t>کار</a:t>
            </a:r>
            <a:r>
              <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 </a:t>
            </a:r>
            <a:r>
              <a:rPr kumimoji="0" lang="fa-IR"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۱۲</a:t>
            </a:r>
            <a:endPar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225"/>
              </a:spcBef>
              <a:spcAft>
                <a:spcPts val="0"/>
              </a:spcAft>
              <a:buClrTx/>
              <a:buSzTx/>
              <a:buFontTx/>
              <a:buNone/>
              <a:tabLst/>
              <a:defRPr/>
            </a:pPr>
            <a:r>
              <a:rPr kumimoji="0" lang="fa-IR" sz="7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ارزیابی فرصت رشد در بازار جدید با احتساب شرایط تأمین مالی روز</a:t>
            </a:r>
          </a:p>
        </p:txBody>
      </p:sp>
      <p:sp>
        <p:nvSpPr>
          <p:cNvPr id="132" name="Rectangle: Single Corner Rounded 131">
            <a:extLst>
              <a:ext uri="{FF2B5EF4-FFF2-40B4-BE49-F238E27FC236}">
                <a16:creationId xmlns:a16="http://schemas.microsoft.com/office/drawing/2014/main" id="{80EF53C0-E6C7-5FAB-D431-976A8707F042}"/>
              </a:ext>
            </a:extLst>
          </p:cNvPr>
          <p:cNvSpPr/>
          <p:nvPr/>
        </p:nvSpPr>
        <p:spPr>
          <a:xfrm flipV="1">
            <a:off x="2235251" y="5254944"/>
            <a:ext cx="1734201" cy="454939"/>
          </a:xfrm>
          <a:prstGeom prst="round1Rect">
            <a:avLst/>
          </a:prstGeom>
          <a:solidFill>
            <a:srgbClr val="F0BE0F">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33" name="Rectangle: Single Corner Rounded 132">
            <a:extLst>
              <a:ext uri="{FF2B5EF4-FFF2-40B4-BE49-F238E27FC236}">
                <a16:creationId xmlns:a16="http://schemas.microsoft.com/office/drawing/2014/main" id="{44F2BF73-2743-79C8-1253-B9A23C4948EE}"/>
              </a:ext>
            </a:extLst>
          </p:cNvPr>
          <p:cNvSpPr/>
          <p:nvPr/>
        </p:nvSpPr>
        <p:spPr>
          <a:xfrm flipH="1" flipV="1">
            <a:off x="505509" y="5254944"/>
            <a:ext cx="1734201" cy="454939"/>
          </a:xfrm>
          <a:prstGeom prst="round1Rect">
            <a:avLst/>
          </a:prstGeom>
          <a:solidFill>
            <a:srgbClr val="1E2761">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34" name="TextBox 133">
            <a:extLst>
              <a:ext uri="{FF2B5EF4-FFF2-40B4-BE49-F238E27FC236}">
                <a16:creationId xmlns:a16="http://schemas.microsoft.com/office/drawing/2014/main" id="{66AF2421-6E12-84AE-8229-B7A3C518A283}"/>
              </a:ext>
            </a:extLst>
          </p:cNvPr>
          <p:cNvSpPr txBox="1"/>
          <p:nvPr/>
        </p:nvSpPr>
        <p:spPr>
          <a:xfrm>
            <a:off x="2235251" y="5248099"/>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دردسر</a:t>
            </a:r>
            <a:endParaRPr kumimoji="0" lang="en-GB"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p:txBody>
      </p:sp>
      <p:sp>
        <p:nvSpPr>
          <p:cNvPr id="135" name="TextBox 134">
            <a:extLst>
              <a:ext uri="{FF2B5EF4-FFF2-40B4-BE49-F238E27FC236}">
                <a16:creationId xmlns:a16="http://schemas.microsoft.com/office/drawing/2014/main" id="{418D8C2F-5E6D-23DE-FA0A-991F9EEC542F}"/>
              </a:ext>
            </a:extLst>
          </p:cNvPr>
          <p:cNvSpPr txBox="1"/>
          <p:nvPr/>
        </p:nvSpPr>
        <p:spPr>
          <a:xfrm>
            <a:off x="503280" y="5248099"/>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منفعت</a:t>
            </a:r>
          </a:p>
        </p:txBody>
      </p:sp>
      <p:sp>
        <p:nvSpPr>
          <p:cNvPr id="136" name="TextBox 135">
            <a:extLst>
              <a:ext uri="{FF2B5EF4-FFF2-40B4-BE49-F238E27FC236}">
                <a16:creationId xmlns:a16="http://schemas.microsoft.com/office/drawing/2014/main" id="{980F8D7E-E43A-16C8-77C4-41292A6CBF4B}"/>
              </a:ext>
            </a:extLst>
          </p:cNvPr>
          <p:cNvSpPr txBox="1"/>
          <p:nvPr/>
        </p:nvSpPr>
        <p:spPr>
          <a:xfrm>
            <a:off x="2235247" y="5388263"/>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عدم‌قطعیت درباره زمان‌بندی مناسب ورود به بازار.</a:t>
            </a:r>
          </a:p>
        </p:txBody>
      </p:sp>
      <p:sp>
        <p:nvSpPr>
          <p:cNvPr id="137" name="TextBox 136">
            <a:extLst>
              <a:ext uri="{FF2B5EF4-FFF2-40B4-BE49-F238E27FC236}">
                <a16:creationId xmlns:a16="http://schemas.microsoft.com/office/drawing/2014/main" id="{4BAD5B23-5B48-0EFA-C68D-8371A0F8A60C}"/>
              </a:ext>
            </a:extLst>
          </p:cNvPr>
          <p:cNvSpPr txBox="1"/>
          <p:nvPr/>
        </p:nvSpPr>
        <p:spPr>
          <a:xfrm>
            <a:off x="502157" y="5388263"/>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a:ln>
                  <a:noFill/>
                </a:ln>
                <a:solidFill>
                  <a:prstClr val="black">
                    <a:lumMod val="75000"/>
                    <a:lumOff val="25000"/>
                  </a:prstClr>
                </a:solidFill>
                <a:effectLst/>
                <a:uLnTx/>
                <a:uFillTx/>
                <a:latin typeface="Yekan Bakh" pitchFamily="2" charset="-78"/>
                <a:ea typeface="Yekan Bakh" pitchFamily="2" charset="-78"/>
                <a:cs typeface="Yekan Bakh" pitchFamily="2" charset="-78"/>
              </a:rPr>
              <a:t>ورود به‌موقع و بهره‌مندی از شرایط مساعد تأمین مالی.</a:t>
            </a:r>
          </a:p>
        </p:txBody>
      </p:sp>
    </p:spTree>
    <p:extLst>
      <p:ext uri="{BB962C8B-B14F-4D97-AF65-F5344CB8AC3E}">
        <p14:creationId xmlns:p14="http://schemas.microsoft.com/office/powerpoint/2010/main" val="29363107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64939B-9793-1D0D-B646-15BFEB03AB2A}"/>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C72F2BB-15D2-31A9-0DB5-C8E93196DDC7}"/>
              </a:ext>
            </a:extLst>
          </p:cNvPr>
          <p:cNvSpPr>
            <a:spLocks noGrp="1"/>
          </p:cNvSpPr>
          <p:nvPr>
            <p:ph type="body" sz="quarter" idx="10"/>
          </p:nvPr>
        </p:nvSpPr>
        <p:spPr/>
        <p:txBody>
          <a:bodyPr/>
          <a:lstStyle/>
          <a:p>
            <a:r>
              <a:rPr lang="fa-IR" dirty="0"/>
              <a:t>-</a:t>
            </a:r>
          </a:p>
        </p:txBody>
      </p:sp>
      <p:sp>
        <p:nvSpPr>
          <p:cNvPr id="3" name="Text Placeholder 2">
            <a:extLst>
              <a:ext uri="{FF2B5EF4-FFF2-40B4-BE49-F238E27FC236}">
                <a16:creationId xmlns:a16="http://schemas.microsoft.com/office/drawing/2014/main" id="{E841BBA2-816B-3181-B04C-5FC3721250B2}"/>
              </a:ext>
            </a:extLst>
          </p:cNvPr>
          <p:cNvSpPr>
            <a:spLocks noGrp="1"/>
          </p:cNvSpPr>
          <p:nvPr>
            <p:ph type="body" sz="quarter" idx="12"/>
          </p:nvPr>
        </p:nvSpPr>
        <p:spPr/>
        <p:txBody>
          <a:bodyPr/>
          <a:lstStyle/>
          <a:p>
            <a:r>
              <a:rPr lang="fa-IR" dirty="0"/>
              <a:t>نقشه پرسوناها/۳</a:t>
            </a:r>
          </a:p>
          <a:p>
            <a:r>
              <a:rPr lang="fa-IR" sz="1200" b="0" dirty="0">
                <a:solidFill>
                  <a:schemeClr val="tx1">
                    <a:lumMod val="50000"/>
                    <a:lumOff val="50000"/>
                  </a:schemeClr>
                </a:solidFill>
              </a:rPr>
              <a:t>برای هر پرسونا: تعریف کوتاه، سپس کارهای مشتری با دردسر و منفعت مربوطه</a:t>
            </a:r>
            <a:endParaRPr lang="en-GB" sz="1200" b="0" dirty="0">
              <a:solidFill>
                <a:schemeClr val="tx1">
                  <a:lumMod val="50000"/>
                  <a:lumOff val="50000"/>
                </a:schemeClr>
              </a:solidFill>
            </a:endParaRPr>
          </a:p>
        </p:txBody>
      </p:sp>
      <p:sp>
        <p:nvSpPr>
          <p:cNvPr id="4" name="Rectangle: Rounded Corners 3">
            <a:extLst>
              <a:ext uri="{FF2B5EF4-FFF2-40B4-BE49-F238E27FC236}">
                <a16:creationId xmlns:a16="http://schemas.microsoft.com/office/drawing/2014/main" id="{DCC7989F-C1E4-399D-C03D-1DA78217DF08}"/>
              </a:ext>
            </a:extLst>
          </p:cNvPr>
          <p:cNvSpPr/>
          <p:nvPr/>
        </p:nvSpPr>
        <p:spPr>
          <a:xfrm>
            <a:off x="437289" y="1343551"/>
            <a:ext cx="10806286" cy="4404106"/>
          </a:xfrm>
          <a:prstGeom prst="roundRect">
            <a:avLst>
              <a:gd name="adj" fmla="val 1837"/>
            </a:avLst>
          </a:prstGeom>
          <a:noFill/>
          <a:ln w="3175">
            <a:solidFill>
              <a:srgbClr val="F0BE0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cxnSp>
        <p:nvCxnSpPr>
          <p:cNvPr id="9" name="Straight Connector 8">
            <a:extLst>
              <a:ext uri="{FF2B5EF4-FFF2-40B4-BE49-F238E27FC236}">
                <a16:creationId xmlns:a16="http://schemas.microsoft.com/office/drawing/2014/main" id="{BF31117E-BAAA-58B1-A99B-6D1F33412D97}"/>
              </a:ext>
            </a:extLst>
          </p:cNvPr>
          <p:cNvCxnSpPr>
            <a:cxnSpLocks/>
          </p:cNvCxnSpPr>
          <p:nvPr/>
        </p:nvCxnSpPr>
        <p:spPr>
          <a:xfrm>
            <a:off x="437288" y="1981263"/>
            <a:ext cx="10806284" cy="0"/>
          </a:xfrm>
          <a:prstGeom prst="line">
            <a:avLst/>
          </a:prstGeom>
          <a:ln>
            <a:solidFill>
              <a:srgbClr val="F0BE0F"/>
            </a:solidFill>
            <a:prstDash val="solid"/>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5FAC5EFA-61EF-3965-CBE5-5DC02BC0A46C}"/>
              </a:ext>
            </a:extLst>
          </p:cNvPr>
          <p:cNvSpPr txBox="1"/>
          <p:nvPr/>
        </p:nvSpPr>
        <p:spPr>
          <a:xfrm>
            <a:off x="437288" y="1628412"/>
            <a:ext cx="10411685" cy="230832"/>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9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شرکت ایرانی با همان هدف پرسونای تراز ایرانی، اما هنوز از نظر حاکمیت شرکتی، شفافیت مالی، مستندسازی یا استاندارد آماده معرفی به طرف خارجی نیست.</a:t>
            </a:r>
          </a:p>
        </p:txBody>
      </p:sp>
      <p:sp>
        <p:nvSpPr>
          <p:cNvPr id="12" name="TextBox 11">
            <a:extLst>
              <a:ext uri="{FF2B5EF4-FFF2-40B4-BE49-F238E27FC236}">
                <a16:creationId xmlns:a16="http://schemas.microsoft.com/office/drawing/2014/main" id="{0FD3FC6B-8537-6CD2-4F82-689E66D24533}"/>
              </a:ext>
            </a:extLst>
          </p:cNvPr>
          <p:cNvSpPr txBox="1"/>
          <p:nvPr/>
        </p:nvSpPr>
        <p:spPr>
          <a:xfrm>
            <a:off x="437288" y="1396898"/>
            <a:ext cx="10411685" cy="253916"/>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450"/>
              </a:spcAft>
              <a:buClrTx/>
              <a:buSzTx/>
              <a:buFontTx/>
              <a:buNone/>
              <a:tabLst/>
              <a:defRPr/>
            </a:pPr>
            <a:r>
              <a:rPr kumimoji="0" lang="fa-IR" sz="105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کسب‌وکار مشتاق</a:t>
            </a:r>
          </a:p>
        </p:txBody>
      </p:sp>
      <p:sp>
        <p:nvSpPr>
          <p:cNvPr id="15" name="Rectangle: Single Corner Rounded 14">
            <a:extLst>
              <a:ext uri="{FF2B5EF4-FFF2-40B4-BE49-F238E27FC236}">
                <a16:creationId xmlns:a16="http://schemas.microsoft.com/office/drawing/2014/main" id="{47D98EA9-53C5-8E4F-8605-B63A9C49F683}"/>
              </a:ext>
            </a:extLst>
          </p:cNvPr>
          <p:cNvSpPr/>
          <p:nvPr/>
        </p:nvSpPr>
        <p:spPr>
          <a:xfrm>
            <a:off x="10848973" y="1346509"/>
            <a:ext cx="394599" cy="634754"/>
          </a:xfrm>
          <a:prstGeom prst="round1Rect">
            <a:avLst/>
          </a:prstGeom>
          <a:solidFill>
            <a:srgbClr val="F0BE0F">
              <a:alpha val="7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6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۳</a:t>
            </a:r>
            <a:endParaRPr kumimoji="0" lang="en-GB" sz="16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cxnSp>
        <p:nvCxnSpPr>
          <p:cNvPr id="18" name="Straight Connector 17">
            <a:extLst>
              <a:ext uri="{FF2B5EF4-FFF2-40B4-BE49-F238E27FC236}">
                <a16:creationId xmlns:a16="http://schemas.microsoft.com/office/drawing/2014/main" id="{5701F509-F9D4-618A-6E17-DAE84CB6E1FF}"/>
              </a:ext>
            </a:extLst>
          </p:cNvPr>
          <p:cNvCxnSpPr>
            <a:cxnSpLocks/>
          </p:cNvCxnSpPr>
          <p:nvPr/>
        </p:nvCxnSpPr>
        <p:spPr>
          <a:xfrm>
            <a:off x="4048447" y="1981263"/>
            <a:ext cx="0" cy="3766394"/>
          </a:xfrm>
          <a:prstGeom prst="line">
            <a:avLst/>
          </a:prstGeom>
          <a:ln>
            <a:solidFill>
              <a:schemeClr val="bg1">
                <a:lumMod val="85000"/>
                <a:alpha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07EAC086-4560-AA2B-52EA-25653E80C701}"/>
              </a:ext>
            </a:extLst>
          </p:cNvPr>
          <p:cNvCxnSpPr>
            <a:cxnSpLocks/>
          </p:cNvCxnSpPr>
          <p:nvPr/>
        </p:nvCxnSpPr>
        <p:spPr>
          <a:xfrm>
            <a:off x="437288" y="2922862"/>
            <a:ext cx="10806284" cy="0"/>
          </a:xfrm>
          <a:prstGeom prst="line">
            <a:avLst/>
          </a:prstGeom>
          <a:ln>
            <a:solidFill>
              <a:schemeClr val="bg1">
                <a:lumMod val="85000"/>
                <a:alpha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FEACD2BD-0C82-C034-03AB-D2461EB0CD88}"/>
              </a:ext>
            </a:extLst>
          </p:cNvPr>
          <p:cNvCxnSpPr>
            <a:cxnSpLocks/>
          </p:cNvCxnSpPr>
          <p:nvPr/>
        </p:nvCxnSpPr>
        <p:spPr>
          <a:xfrm>
            <a:off x="437288" y="3864460"/>
            <a:ext cx="10806284" cy="0"/>
          </a:xfrm>
          <a:prstGeom prst="line">
            <a:avLst/>
          </a:prstGeom>
          <a:ln>
            <a:solidFill>
              <a:schemeClr val="bg1">
                <a:lumMod val="85000"/>
                <a:alpha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2F6C4F8-E571-6901-BD6E-B5EB65DB888B}"/>
              </a:ext>
            </a:extLst>
          </p:cNvPr>
          <p:cNvCxnSpPr>
            <a:cxnSpLocks/>
          </p:cNvCxnSpPr>
          <p:nvPr/>
        </p:nvCxnSpPr>
        <p:spPr>
          <a:xfrm>
            <a:off x="437288" y="4806059"/>
            <a:ext cx="10806284" cy="0"/>
          </a:xfrm>
          <a:prstGeom prst="line">
            <a:avLst/>
          </a:prstGeom>
          <a:ln>
            <a:solidFill>
              <a:schemeClr val="bg1">
                <a:lumMod val="85000"/>
                <a:alpha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A91DE26-3D2B-75B6-39A1-9B7698D2CF13}"/>
              </a:ext>
            </a:extLst>
          </p:cNvPr>
          <p:cNvCxnSpPr>
            <a:cxnSpLocks/>
          </p:cNvCxnSpPr>
          <p:nvPr/>
        </p:nvCxnSpPr>
        <p:spPr>
          <a:xfrm>
            <a:off x="7646009" y="1981263"/>
            <a:ext cx="0" cy="3766394"/>
          </a:xfrm>
          <a:prstGeom prst="line">
            <a:avLst/>
          </a:prstGeom>
          <a:ln>
            <a:solidFill>
              <a:schemeClr val="bg1">
                <a:lumMod val="85000"/>
                <a:alpha val="90000"/>
              </a:schemeClr>
            </a:solidFill>
            <a:prstDash val="dash"/>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B9C4B5AB-55EF-3838-9D57-C6B8A371D7C1}"/>
              </a:ext>
            </a:extLst>
          </p:cNvPr>
          <p:cNvSpPr txBox="1"/>
          <p:nvPr/>
        </p:nvSpPr>
        <p:spPr>
          <a:xfrm>
            <a:off x="7646008" y="2005725"/>
            <a:ext cx="3597561" cy="364202"/>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30" normalizeH="0" baseline="0" noProof="0" dirty="0" err="1">
                <a:ln>
                  <a:noFill/>
                </a:ln>
                <a:solidFill>
                  <a:srgbClr val="F0BE0F"/>
                </a:solidFill>
                <a:effectLst/>
                <a:uLnTx/>
                <a:uFillTx/>
                <a:latin typeface="Yekan Bakh" pitchFamily="2" charset="-78"/>
                <a:ea typeface="Yekan Bakh" pitchFamily="2" charset="-78"/>
                <a:cs typeface="Yekan Bakh" pitchFamily="2" charset="-78"/>
              </a:rPr>
              <a:t>کار</a:t>
            </a:r>
            <a:r>
              <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 ۱</a:t>
            </a:r>
          </a:p>
          <a:p>
            <a:pPr marL="0" marR="0" lvl="0" indent="0" algn="ctr" defTabSz="457200" rtl="1" eaLnBrk="1" fontAlgn="auto" latinLnBrk="0" hangingPunct="1">
              <a:lnSpc>
                <a:spcPct val="100000"/>
              </a:lnSpc>
              <a:spcBef>
                <a:spcPts val="225"/>
              </a:spcBef>
              <a:spcAft>
                <a:spcPts val="0"/>
              </a:spcAft>
              <a:buClrTx/>
              <a:buSzTx/>
              <a:buFontTx/>
              <a:buNone/>
              <a:tabLst/>
              <a:defRPr/>
            </a:pPr>
            <a:r>
              <a:rPr kumimoji="0" lang="fa-IR" sz="7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فهم دقیق و صادقانه دلایل امتناع طرف خارجی از تعامل</a:t>
            </a:r>
          </a:p>
        </p:txBody>
      </p:sp>
      <p:sp>
        <p:nvSpPr>
          <p:cNvPr id="32" name="Rectangle: Single Corner Rounded 31">
            <a:extLst>
              <a:ext uri="{FF2B5EF4-FFF2-40B4-BE49-F238E27FC236}">
                <a16:creationId xmlns:a16="http://schemas.microsoft.com/office/drawing/2014/main" id="{C86780FF-612F-E267-43A4-43516D5D3250}"/>
              </a:ext>
            </a:extLst>
          </p:cNvPr>
          <p:cNvSpPr/>
          <p:nvPr/>
        </p:nvSpPr>
        <p:spPr>
          <a:xfrm flipV="1">
            <a:off x="9442559" y="2423615"/>
            <a:ext cx="1734201" cy="454939"/>
          </a:xfrm>
          <a:prstGeom prst="round1Rect">
            <a:avLst/>
          </a:prstGeom>
          <a:solidFill>
            <a:srgbClr val="F0BE0F">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34" name="Rectangle: Single Corner Rounded 33">
            <a:extLst>
              <a:ext uri="{FF2B5EF4-FFF2-40B4-BE49-F238E27FC236}">
                <a16:creationId xmlns:a16="http://schemas.microsoft.com/office/drawing/2014/main" id="{AFEF5F4F-9D44-4F7F-F722-69EE115638FA}"/>
              </a:ext>
            </a:extLst>
          </p:cNvPr>
          <p:cNvSpPr/>
          <p:nvPr/>
        </p:nvSpPr>
        <p:spPr>
          <a:xfrm flipH="1" flipV="1">
            <a:off x="7712817" y="2423615"/>
            <a:ext cx="1734201" cy="454939"/>
          </a:xfrm>
          <a:prstGeom prst="round1Rect">
            <a:avLst/>
          </a:prstGeom>
          <a:solidFill>
            <a:srgbClr val="1E2761">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36" name="TextBox 35">
            <a:extLst>
              <a:ext uri="{FF2B5EF4-FFF2-40B4-BE49-F238E27FC236}">
                <a16:creationId xmlns:a16="http://schemas.microsoft.com/office/drawing/2014/main" id="{2C4CB880-4031-BCC5-5B00-53D9327CDACF}"/>
              </a:ext>
            </a:extLst>
          </p:cNvPr>
          <p:cNvSpPr txBox="1"/>
          <p:nvPr/>
        </p:nvSpPr>
        <p:spPr>
          <a:xfrm>
            <a:off x="9442559" y="2416770"/>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دردسر</a:t>
            </a:r>
            <a:endParaRPr kumimoji="0" lang="en-GB"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p:txBody>
      </p:sp>
      <p:sp>
        <p:nvSpPr>
          <p:cNvPr id="37" name="TextBox 36">
            <a:extLst>
              <a:ext uri="{FF2B5EF4-FFF2-40B4-BE49-F238E27FC236}">
                <a16:creationId xmlns:a16="http://schemas.microsoft.com/office/drawing/2014/main" id="{762FBE6F-0EE5-644F-2E68-AC111410425A}"/>
              </a:ext>
            </a:extLst>
          </p:cNvPr>
          <p:cNvSpPr txBox="1"/>
          <p:nvPr/>
        </p:nvSpPr>
        <p:spPr>
          <a:xfrm>
            <a:off x="7710588" y="2416770"/>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منفعت</a:t>
            </a:r>
          </a:p>
        </p:txBody>
      </p:sp>
      <p:sp>
        <p:nvSpPr>
          <p:cNvPr id="39" name="TextBox 38">
            <a:extLst>
              <a:ext uri="{FF2B5EF4-FFF2-40B4-BE49-F238E27FC236}">
                <a16:creationId xmlns:a16="http://schemas.microsoft.com/office/drawing/2014/main" id="{5069FF59-A7BF-680D-6A27-7366E64EAC94}"/>
              </a:ext>
            </a:extLst>
          </p:cNvPr>
          <p:cNvSpPr txBox="1"/>
          <p:nvPr/>
        </p:nvSpPr>
        <p:spPr>
          <a:xfrm>
            <a:off x="9442555" y="2556934"/>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رد شدن بدون بازخورد شفاف؛ حدس و گمان به‌جای تشخیص واقعی مشکل.</a:t>
            </a:r>
          </a:p>
        </p:txBody>
      </p:sp>
      <p:sp>
        <p:nvSpPr>
          <p:cNvPr id="40" name="TextBox 39">
            <a:extLst>
              <a:ext uri="{FF2B5EF4-FFF2-40B4-BE49-F238E27FC236}">
                <a16:creationId xmlns:a16="http://schemas.microsoft.com/office/drawing/2014/main" id="{28495902-2402-3166-978D-AB5D2669E743}"/>
              </a:ext>
            </a:extLst>
          </p:cNvPr>
          <p:cNvSpPr txBox="1"/>
          <p:nvPr/>
        </p:nvSpPr>
        <p:spPr>
          <a:xfrm>
            <a:off x="7709465" y="2556934"/>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مسیر بهبود روشن و هدفمند به‌جای تلاش کورکورانه.</a:t>
            </a:r>
          </a:p>
        </p:txBody>
      </p:sp>
      <p:sp>
        <p:nvSpPr>
          <p:cNvPr id="43" name="TextBox 42">
            <a:extLst>
              <a:ext uri="{FF2B5EF4-FFF2-40B4-BE49-F238E27FC236}">
                <a16:creationId xmlns:a16="http://schemas.microsoft.com/office/drawing/2014/main" id="{CCF7B9D2-4EA8-0801-EC48-CBBA2764A9F7}"/>
              </a:ext>
            </a:extLst>
          </p:cNvPr>
          <p:cNvSpPr txBox="1"/>
          <p:nvPr/>
        </p:nvSpPr>
        <p:spPr>
          <a:xfrm>
            <a:off x="4048448" y="2005725"/>
            <a:ext cx="3597561" cy="364202"/>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30" normalizeH="0" baseline="0" noProof="0" dirty="0" err="1">
                <a:ln>
                  <a:noFill/>
                </a:ln>
                <a:solidFill>
                  <a:srgbClr val="F0BE0F"/>
                </a:solidFill>
                <a:effectLst/>
                <a:uLnTx/>
                <a:uFillTx/>
                <a:latin typeface="Yekan Bakh" pitchFamily="2" charset="-78"/>
                <a:ea typeface="Yekan Bakh" pitchFamily="2" charset="-78"/>
                <a:cs typeface="Yekan Bakh" pitchFamily="2" charset="-78"/>
              </a:rPr>
              <a:t>کار</a:t>
            </a:r>
            <a:r>
              <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 </a:t>
            </a:r>
            <a:r>
              <a:rPr kumimoji="0" lang="fa-IR"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۲</a:t>
            </a:r>
            <a:endPar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225"/>
              </a:spcBef>
              <a:spcAft>
                <a:spcPts val="0"/>
              </a:spcAft>
              <a:buClrTx/>
              <a:buSzTx/>
              <a:buFontTx/>
              <a:buNone/>
              <a:tabLst/>
              <a:defRPr/>
            </a:pPr>
            <a:r>
              <a:rPr kumimoji="0" lang="fa-IR" sz="7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رفع شکاف‌های حاکمیت شرکتی، مستندسازی و استاندارد که مانع معرفی است</a:t>
            </a:r>
          </a:p>
        </p:txBody>
      </p:sp>
      <p:sp>
        <p:nvSpPr>
          <p:cNvPr id="44" name="Rectangle: Single Corner Rounded 43">
            <a:extLst>
              <a:ext uri="{FF2B5EF4-FFF2-40B4-BE49-F238E27FC236}">
                <a16:creationId xmlns:a16="http://schemas.microsoft.com/office/drawing/2014/main" id="{E3F36160-CDA0-4109-604A-E6F8978ADA6B}"/>
              </a:ext>
            </a:extLst>
          </p:cNvPr>
          <p:cNvSpPr/>
          <p:nvPr/>
        </p:nvSpPr>
        <p:spPr>
          <a:xfrm flipV="1">
            <a:off x="5844999" y="2423615"/>
            <a:ext cx="1734201" cy="454939"/>
          </a:xfrm>
          <a:prstGeom prst="round1Rect">
            <a:avLst/>
          </a:prstGeom>
          <a:solidFill>
            <a:srgbClr val="F0BE0F">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5" name="Rectangle: Single Corner Rounded 44">
            <a:extLst>
              <a:ext uri="{FF2B5EF4-FFF2-40B4-BE49-F238E27FC236}">
                <a16:creationId xmlns:a16="http://schemas.microsoft.com/office/drawing/2014/main" id="{0D4FEB77-9810-8879-A591-21902F22DC45}"/>
              </a:ext>
            </a:extLst>
          </p:cNvPr>
          <p:cNvSpPr/>
          <p:nvPr/>
        </p:nvSpPr>
        <p:spPr>
          <a:xfrm flipH="1" flipV="1">
            <a:off x="4115257" y="2423615"/>
            <a:ext cx="1734201" cy="454939"/>
          </a:xfrm>
          <a:prstGeom prst="round1Rect">
            <a:avLst/>
          </a:prstGeom>
          <a:solidFill>
            <a:srgbClr val="1E2761">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6" name="TextBox 45">
            <a:extLst>
              <a:ext uri="{FF2B5EF4-FFF2-40B4-BE49-F238E27FC236}">
                <a16:creationId xmlns:a16="http://schemas.microsoft.com/office/drawing/2014/main" id="{8C993A23-712A-2AA5-9E44-F38F6C73C01B}"/>
              </a:ext>
            </a:extLst>
          </p:cNvPr>
          <p:cNvSpPr txBox="1"/>
          <p:nvPr/>
        </p:nvSpPr>
        <p:spPr>
          <a:xfrm>
            <a:off x="5844999" y="2416770"/>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دردسر</a:t>
            </a:r>
            <a:endParaRPr kumimoji="0" lang="en-GB"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p:txBody>
      </p:sp>
      <p:sp>
        <p:nvSpPr>
          <p:cNvPr id="47" name="TextBox 46">
            <a:extLst>
              <a:ext uri="{FF2B5EF4-FFF2-40B4-BE49-F238E27FC236}">
                <a16:creationId xmlns:a16="http://schemas.microsoft.com/office/drawing/2014/main" id="{D355FA93-2AA8-9AC5-0FAD-41B499AA8D4F}"/>
              </a:ext>
            </a:extLst>
          </p:cNvPr>
          <p:cNvSpPr txBox="1"/>
          <p:nvPr/>
        </p:nvSpPr>
        <p:spPr>
          <a:xfrm>
            <a:off x="4113028" y="2416770"/>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منفعت</a:t>
            </a:r>
          </a:p>
        </p:txBody>
      </p:sp>
      <p:sp>
        <p:nvSpPr>
          <p:cNvPr id="48" name="TextBox 47">
            <a:extLst>
              <a:ext uri="{FF2B5EF4-FFF2-40B4-BE49-F238E27FC236}">
                <a16:creationId xmlns:a16="http://schemas.microsoft.com/office/drawing/2014/main" id="{28688767-321E-5039-A394-CCED4A503180}"/>
              </a:ext>
            </a:extLst>
          </p:cNvPr>
          <p:cNvSpPr txBox="1"/>
          <p:nvPr/>
        </p:nvSpPr>
        <p:spPr>
          <a:xfrm>
            <a:off x="5844995" y="2556934"/>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هزینه و پیچیدگی اصلاح ساختار داخلی؛ ندانستن دقیق نقطه شروع.</a:t>
            </a:r>
          </a:p>
        </p:txBody>
      </p:sp>
      <p:sp>
        <p:nvSpPr>
          <p:cNvPr id="49" name="TextBox 48">
            <a:extLst>
              <a:ext uri="{FF2B5EF4-FFF2-40B4-BE49-F238E27FC236}">
                <a16:creationId xmlns:a16="http://schemas.microsoft.com/office/drawing/2014/main" id="{65C91829-FDE1-EE8B-BA93-F6303B29AA47}"/>
              </a:ext>
            </a:extLst>
          </p:cNvPr>
          <p:cNvSpPr txBox="1"/>
          <p:nvPr/>
        </p:nvSpPr>
        <p:spPr>
          <a:xfrm>
            <a:off x="4111905" y="2556934"/>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عبور از نرده‌بان آمادگی و قابل‌معرفی‌شدن به طرف خارجی.</a:t>
            </a:r>
          </a:p>
        </p:txBody>
      </p:sp>
      <p:sp>
        <p:nvSpPr>
          <p:cNvPr id="59" name="TextBox 58">
            <a:extLst>
              <a:ext uri="{FF2B5EF4-FFF2-40B4-BE49-F238E27FC236}">
                <a16:creationId xmlns:a16="http://schemas.microsoft.com/office/drawing/2014/main" id="{9EC3847B-7CB9-85B6-CD84-F0411E40648A}"/>
              </a:ext>
            </a:extLst>
          </p:cNvPr>
          <p:cNvSpPr txBox="1"/>
          <p:nvPr/>
        </p:nvSpPr>
        <p:spPr>
          <a:xfrm>
            <a:off x="438700" y="2005725"/>
            <a:ext cx="3597561" cy="364202"/>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30" normalizeH="0" baseline="0" noProof="0" dirty="0" err="1">
                <a:ln>
                  <a:noFill/>
                </a:ln>
                <a:solidFill>
                  <a:srgbClr val="F0BE0F"/>
                </a:solidFill>
                <a:effectLst/>
                <a:uLnTx/>
                <a:uFillTx/>
                <a:latin typeface="Yekan Bakh" pitchFamily="2" charset="-78"/>
                <a:ea typeface="Yekan Bakh" pitchFamily="2" charset="-78"/>
                <a:cs typeface="Yekan Bakh" pitchFamily="2" charset="-78"/>
              </a:rPr>
              <a:t>کار</a:t>
            </a:r>
            <a:r>
              <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 </a:t>
            </a:r>
            <a:r>
              <a:rPr kumimoji="0" lang="fa-IR"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۳</a:t>
            </a:r>
            <a:endPar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225"/>
              </a:spcBef>
              <a:spcAft>
                <a:spcPts val="0"/>
              </a:spcAft>
              <a:buClrTx/>
              <a:buSzTx/>
              <a:buFontTx/>
              <a:buNone/>
              <a:tabLst/>
              <a:defRPr/>
            </a:pPr>
            <a:r>
              <a:rPr kumimoji="0" lang="fa-IR" sz="7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کسب اعتبار و گواهی‌ای که اکوسیستم و طرف خارجی آن را بشناسد و بپذیرد</a:t>
            </a:r>
          </a:p>
        </p:txBody>
      </p:sp>
      <p:sp>
        <p:nvSpPr>
          <p:cNvPr id="60" name="Rectangle: Single Corner Rounded 59">
            <a:extLst>
              <a:ext uri="{FF2B5EF4-FFF2-40B4-BE49-F238E27FC236}">
                <a16:creationId xmlns:a16="http://schemas.microsoft.com/office/drawing/2014/main" id="{5E7ACF96-237A-B26D-5347-C41BEB72F6EB}"/>
              </a:ext>
            </a:extLst>
          </p:cNvPr>
          <p:cNvSpPr/>
          <p:nvPr/>
        </p:nvSpPr>
        <p:spPr>
          <a:xfrm flipV="1">
            <a:off x="2235251" y="2423615"/>
            <a:ext cx="1734201" cy="454939"/>
          </a:xfrm>
          <a:prstGeom prst="round1Rect">
            <a:avLst/>
          </a:prstGeom>
          <a:solidFill>
            <a:srgbClr val="F0BE0F">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61" name="Rectangle: Single Corner Rounded 60">
            <a:extLst>
              <a:ext uri="{FF2B5EF4-FFF2-40B4-BE49-F238E27FC236}">
                <a16:creationId xmlns:a16="http://schemas.microsoft.com/office/drawing/2014/main" id="{81C19C8F-1956-4C46-31E1-DE5A8BE1BD2D}"/>
              </a:ext>
            </a:extLst>
          </p:cNvPr>
          <p:cNvSpPr/>
          <p:nvPr/>
        </p:nvSpPr>
        <p:spPr>
          <a:xfrm flipH="1" flipV="1">
            <a:off x="505509" y="2423615"/>
            <a:ext cx="1734201" cy="454939"/>
          </a:xfrm>
          <a:prstGeom prst="round1Rect">
            <a:avLst/>
          </a:prstGeom>
          <a:solidFill>
            <a:srgbClr val="1E2761">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62" name="TextBox 61">
            <a:extLst>
              <a:ext uri="{FF2B5EF4-FFF2-40B4-BE49-F238E27FC236}">
                <a16:creationId xmlns:a16="http://schemas.microsoft.com/office/drawing/2014/main" id="{7C18C5A3-F69B-CDCB-9FDC-F92990481B41}"/>
              </a:ext>
            </a:extLst>
          </p:cNvPr>
          <p:cNvSpPr txBox="1"/>
          <p:nvPr/>
        </p:nvSpPr>
        <p:spPr>
          <a:xfrm>
            <a:off x="2235251" y="2416770"/>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دردسر</a:t>
            </a:r>
            <a:endParaRPr kumimoji="0" lang="en-GB"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p:txBody>
      </p:sp>
      <p:sp>
        <p:nvSpPr>
          <p:cNvPr id="63" name="TextBox 62">
            <a:extLst>
              <a:ext uri="{FF2B5EF4-FFF2-40B4-BE49-F238E27FC236}">
                <a16:creationId xmlns:a16="http://schemas.microsoft.com/office/drawing/2014/main" id="{7881D090-4B4E-4002-71E0-31B25E001D25}"/>
              </a:ext>
            </a:extLst>
          </p:cNvPr>
          <p:cNvSpPr txBox="1"/>
          <p:nvPr/>
        </p:nvSpPr>
        <p:spPr>
          <a:xfrm>
            <a:off x="503280" y="2416770"/>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منفعت</a:t>
            </a:r>
          </a:p>
        </p:txBody>
      </p:sp>
      <p:sp>
        <p:nvSpPr>
          <p:cNvPr id="64" name="TextBox 63">
            <a:extLst>
              <a:ext uri="{FF2B5EF4-FFF2-40B4-BE49-F238E27FC236}">
                <a16:creationId xmlns:a16="http://schemas.microsoft.com/office/drawing/2014/main" id="{D69DA7C7-FD3C-C062-5AFE-114B7374F7B8}"/>
              </a:ext>
            </a:extLst>
          </p:cNvPr>
          <p:cNvSpPr txBox="1"/>
          <p:nvPr/>
        </p:nvSpPr>
        <p:spPr>
          <a:xfrm>
            <a:off x="2235247" y="2556934"/>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هزینه گواهی‌گیری بدون تضمین نتیجه یا پذیرش نهایی.</a:t>
            </a:r>
          </a:p>
        </p:txBody>
      </p:sp>
      <p:sp>
        <p:nvSpPr>
          <p:cNvPr id="65" name="TextBox 64">
            <a:extLst>
              <a:ext uri="{FF2B5EF4-FFF2-40B4-BE49-F238E27FC236}">
                <a16:creationId xmlns:a16="http://schemas.microsoft.com/office/drawing/2014/main" id="{6D3693C7-A884-2DC3-979E-A07681439893}"/>
              </a:ext>
            </a:extLst>
          </p:cNvPr>
          <p:cNvSpPr txBox="1"/>
          <p:nvPr/>
        </p:nvSpPr>
        <p:spPr>
          <a:xfrm>
            <a:off x="502157" y="2556934"/>
            <a:ext cx="1731975" cy="184666"/>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افزایش قابل‌اعتمادی نزد طرف خارجی.</a:t>
            </a:r>
          </a:p>
        </p:txBody>
      </p:sp>
      <p:sp>
        <p:nvSpPr>
          <p:cNvPr id="67" name="TextBox 66">
            <a:extLst>
              <a:ext uri="{FF2B5EF4-FFF2-40B4-BE49-F238E27FC236}">
                <a16:creationId xmlns:a16="http://schemas.microsoft.com/office/drawing/2014/main" id="{B37F0010-56BA-DBF9-6340-C01C2E708D0E}"/>
              </a:ext>
            </a:extLst>
          </p:cNvPr>
          <p:cNvSpPr txBox="1"/>
          <p:nvPr/>
        </p:nvSpPr>
        <p:spPr>
          <a:xfrm>
            <a:off x="7646008" y="2949501"/>
            <a:ext cx="3597561" cy="364202"/>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30" normalizeH="0" baseline="0" noProof="0" dirty="0" err="1">
                <a:ln>
                  <a:noFill/>
                </a:ln>
                <a:solidFill>
                  <a:srgbClr val="F0BE0F"/>
                </a:solidFill>
                <a:effectLst/>
                <a:uLnTx/>
                <a:uFillTx/>
                <a:latin typeface="Yekan Bakh" pitchFamily="2" charset="-78"/>
                <a:ea typeface="Yekan Bakh" pitchFamily="2" charset="-78"/>
                <a:cs typeface="Yekan Bakh" pitchFamily="2" charset="-78"/>
              </a:rPr>
              <a:t>کار</a:t>
            </a:r>
            <a:r>
              <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 </a:t>
            </a:r>
            <a:r>
              <a:rPr kumimoji="0" lang="fa-IR"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۴</a:t>
            </a:r>
            <a:endPar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225"/>
              </a:spcBef>
              <a:spcAft>
                <a:spcPts val="0"/>
              </a:spcAft>
              <a:buClrTx/>
              <a:buSzTx/>
              <a:buFontTx/>
              <a:buNone/>
              <a:tabLst/>
              <a:defRPr/>
            </a:pPr>
            <a:r>
              <a:rPr kumimoji="0" lang="fa-IR" sz="7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یافتن واسطه صادراتی که خودش تأییدشده و قابل‌اتکا باشد</a:t>
            </a:r>
          </a:p>
        </p:txBody>
      </p:sp>
      <p:sp>
        <p:nvSpPr>
          <p:cNvPr id="68" name="Rectangle: Single Corner Rounded 67">
            <a:extLst>
              <a:ext uri="{FF2B5EF4-FFF2-40B4-BE49-F238E27FC236}">
                <a16:creationId xmlns:a16="http://schemas.microsoft.com/office/drawing/2014/main" id="{613D1FF7-2CB8-F618-87D8-40BCB8277C85}"/>
              </a:ext>
            </a:extLst>
          </p:cNvPr>
          <p:cNvSpPr/>
          <p:nvPr/>
        </p:nvSpPr>
        <p:spPr>
          <a:xfrm flipV="1">
            <a:off x="9442559" y="3367391"/>
            <a:ext cx="1734201" cy="454939"/>
          </a:xfrm>
          <a:prstGeom prst="round1Rect">
            <a:avLst/>
          </a:prstGeom>
          <a:solidFill>
            <a:srgbClr val="F0BE0F">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69" name="Rectangle: Single Corner Rounded 68">
            <a:extLst>
              <a:ext uri="{FF2B5EF4-FFF2-40B4-BE49-F238E27FC236}">
                <a16:creationId xmlns:a16="http://schemas.microsoft.com/office/drawing/2014/main" id="{877D8FC1-44AC-B558-BF89-ED0F263D9B36}"/>
              </a:ext>
            </a:extLst>
          </p:cNvPr>
          <p:cNvSpPr/>
          <p:nvPr/>
        </p:nvSpPr>
        <p:spPr>
          <a:xfrm flipH="1" flipV="1">
            <a:off x="7712817" y="3367391"/>
            <a:ext cx="1734201" cy="454939"/>
          </a:xfrm>
          <a:prstGeom prst="round1Rect">
            <a:avLst/>
          </a:prstGeom>
          <a:solidFill>
            <a:srgbClr val="1E2761">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70" name="TextBox 69">
            <a:extLst>
              <a:ext uri="{FF2B5EF4-FFF2-40B4-BE49-F238E27FC236}">
                <a16:creationId xmlns:a16="http://schemas.microsoft.com/office/drawing/2014/main" id="{35412127-E683-CB53-FA04-F5A4F20EF0CC}"/>
              </a:ext>
            </a:extLst>
          </p:cNvPr>
          <p:cNvSpPr txBox="1"/>
          <p:nvPr/>
        </p:nvSpPr>
        <p:spPr>
          <a:xfrm>
            <a:off x="9442559" y="3360546"/>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دردسر</a:t>
            </a:r>
            <a:endParaRPr kumimoji="0" lang="en-GB"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p:txBody>
      </p:sp>
      <p:sp>
        <p:nvSpPr>
          <p:cNvPr id="71" name="TextBox 70">
            <a:extLst>
              <a:ext uri="{FF2B5EF4-FFF2-40B4-BE49-F238E27FC236}">
                <a16:creationId xmlns:a16="http://schemas.microsoft.com/office/drawing/2014/main" id="{005833EC-FE3F-D47D-4BE5-6FBA5CD33A65}"/>
              </a:ext>
            </a:extLst>
          </p:cNvPr>
          <p:cNvSpPr txBox="1"/>
          <p:nvPr/>
        </p:nvSpPr>
        <p:spPr>
          <a:xfrm>
            <a:off x="7710588" y="3360546"/>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منفعت</a:t>
            </a:r>
          </a:p>
        </p:txBody>
      </p:sp>
      <p:sp>
        <p:nvSpPr>
          <p:cNvPr id="72" name="TextBox 71">
            <a:extLst>
              <a:ext uri="{FF2B5EF4-FFF2-40B4-BE49-F238E27FC236}">
                <a16:creationId xmlns:a16="http://schemas.microsoft.com/office/drawing/2014/main" id="{75C9A13E-E1C1-083E-ACFF-FEF40D17596A}"/>
              </a:ext>
            </a:extLst>
          </p:cNvPr>
          <p:cNvSpPr txBox="1"/>
          <p:nvPr/>
        </p:nvSpPr>
        <p:spPr>
          <a:xfrm>
            <a:off x="9442555" y="3500710"/>
            <a:ext cx="1731975" cy="184666"/>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ریسک انتخاب واسطه غیرحرفه‌ای یا نامعتبر.</a:t>
            </a:r>
          </a:p>
        </p:txBody>
      </p:sp>
      <p:sp>
        <p:nvSpPr>
          <p:cNvPr id="73" name="TextBox 72">
            <a:extLst>
              <a:ext uri="{FF2B5EF4-FFF2-40B4-BE49-F238E27FC236}">
                <a16:creationId xmlns:a16="http://schemas.microsoft.com/office/drawing/2014/main" id="{8FACD308-9690-972E-615F-88EE600F3B93}"/>
              </a:ext>
            </a:extLst>
          </p:cNvPr>
          <p:cNvSpPr txBox="1"/>
          <p:nvPr/>
        </p:nvSpPr>
        <p:spPr>
          <a:xfrm>
            <a:off x="7709465" y="3500710"/>
            <a:ext cx="1731975" cy="184666"/>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مسیر صادراتی مطمئن‌تر و کم‌ریسک‌تر.</a:t>
            </a:r>
          </a:p>
        </p:txBody>
      </p:sp>
      <p:sp>
        <p:nvSpPr>
          <p:cNvPr id="75" name="TextBox 74">
            <a:extLst>
              <a:ext uri="{FF2B5EF4-FFF2-40B4-BE49-F238E27FC236}">
                <a16:creationId xmlns:a16="http://schemas.microsoft.com/office/drawing/2014/main" id="{F037C634-F441-FE1E-F86A-632B6E4F5EFD}"/>
              </a:ext>
            </a:extLst>
          </p:cNvPr>
          <p:cNvSpPr txBox="1"/>
          <p:nvPr/>
        </p:nvSpPr>
        <p:spPr>
          <a:xfrm>
            <a:off x="4048448" y="2949501"/>
            <a:ext cx="3597561" cy="364202"/>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30" normalizeH="0" baseline="0" noProof="0" dirty="0" err="1">
                <a:ln>
                  <a:noFill/>
                </a:ln>
                <a:solidFill>
                  <a:srgbClr val="F0BE0F"/>
                </a:solidFill>
                <a:effectLst/>
                <a:uLnTx/>
                <a:uFillTx/>
                <a:latin typeface="Yekan Bakh" pitchFamily="2" charset="-78"/>
                <a:ea typeface="Yekan Bakh" pitchFamily="2" charset="-78"/>
                <a:cs typeface="Yekan Bakh" pitchFamily="2" charset="-78"/>
              </a:rPr>
              <a:t>کار</a:t>
            </a:r>
            <a:r>
              <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 </a:t>
            </a:r>
            <a:r>
              <a:rPr kumimoji="0" lang="fa-IR"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۵</a:t>
            </a:r>
            <a:endPar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225"/>
              </a:spcBef>
              <a:spcAft>
                <a:spcPts val="0"/>
              </a:spcAft>
              <a:buClrTx/>
              <a:buSzTx/>
              <a:buFontTx/>
              <a:buNone/>
              <a:tabLst/>
              <a:defRPr/>
            </a:pPr>
            <a:r>
              <a:rPr kumimoji="0" lang="fa-IR" sz="7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تأمین ضمانت‌نامه یا ابزار تضمینی مورد نیاز قرارداد خارجی</a:t>
            </a:r>
          </a:p>
        </p:txBody>
      </p:sp>
      <p:sp>
        <p:nvSpPr>
          <p:cNvPr id="76" name="Rectangle: Single Corner Rounded 75">
            <a:extLst>
              <a:ext uri="{FF2B5EF4-FFF2-40B4-BE49-F238E27FC236}">
                <a16:creationId xmlns:a16="http://schemas.microsoft.com/office/drawing/2014/main" id="{8D92AC87-F6E8-BFDC-8C56-86C6BA3E30C8}"/>
              </a:ext>
            </a:extLst>
          </p:cNvPr>
          <p:cNvSpPr/>
          <p:nvPr/>
        </p:nvSpPr>
        <p:spPr>
          <a:xfrm flipV="1">
            <a:off x="5844999" y="3367391"/>
            <a:ext cx="1734201" cy="454939"/>
          </a:xfrm>
          <a:prstGeom prst="round1Rect">
            <a:avLst/>
          </a:prstGeom>
          <a:solidFill>
            <a:srgbClr val="F0BE0F">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77" name="Rectangle: Single Corner Rounded 76">
            <a:extLst>
              <a:ext uri="{FF2B5EF4-FFF2-40B4-BE49-F238E27FC236}">
                <a16:creationId xmlns:a16="http://schemas.microsoft.com/office/drawing/2014/main" id="{08107443-2E00-3A08-2594-5A4BE9804634}"/>
              </a:ext>
            </a:extLst>
          </p:cNvPr>
          <p:cNvSpPr/>
          <p:nvPr/>
        </p:nvSpPr>
        <p:spPr>
          <a:xfrm flipH="1" flipV="1">
            <a:off x="4115257" y="3367391"/>
            <a:ext cx="1734201" cy="454939"/>
          </a:xfrm>
          <a:prstGeom prst="round1Rect">
            <a:avLst/>
          </a:prstGeom>
          <a:solidFill>
            <a:srgbClr val="1E2761">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78" name="TextBox 77">
            <a:extLst>
              <a:ext uri="{FF2B5EF4-FFF2-40B4-BE49-F238E27FC236}">
                <a16:creationId xmlns:a16="http://schemas.microsoft.com/office/drawing/2014/main" id="{CF28F9DE-FAB2-1D94-2846-D653228F2C90}"/>
              </a:ext>
            </a:extLst>
          </p:cNvPr>
          <p:cNvSpPr txBox="1"/>
          <p:nvPr/>
        </p:nvSpPr>
        <p:spPr>
          <a:xfrm>
            <a:off x="5844999" y="3360546"/>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دردسر</a:t>
            </a:r>
            <a:endParaRPr kumimoji="0" lang="en-GB"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p:txBody>
      </p:sp>
      <p:sp>
        <p:nvSpPr>
          <p:cNvPr id="79" name="TextBox 78">
            <a:extLst>
              <a:ext uri="{FF2B5EF4-FFF2-40B4-BE49-F238E27FC236}">
                <a16:creationId xmlns:a16="http://schemas.microsoft.com/office/drawing/2014/main" id="{D77ABD3E-E6E1-283F-B4D1-0EB589C392FB}"/>
              </a:ext>
            </a:extLst>
          </p:cNvPr>
          <p:cNvSpPr txBox="1"/>
          <p:nvPr/>
        </p:nvSpPr>
        <p:spPr>
          <a:xfrm>
            <a:off x="4113028" y="3360546"/>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منفعت</a:t>
            </a:r>
          </a:p>
        </p:txBody>
      </p:sp>
      <p:sp>
        <p:nvSpPr>
          <p:cNvPr id="80" name="TextBox 79">
            <a:extLst>
              <a:ext uri="{FF2B5EF4-FFF2-40B4-BE49-F238E27FC236}">
                <a16:creationId xmlns:a16="http://schemas.microsoft.com/office/drawing/2014/main" id="{D70EE006-E73A-9824-EC10-6BED1D85AA79}"/>
              </a:ext>
            </a:extLst>
          </p:cNvPr>
          <p:cNvSpPr txBox="1"/>
          <p:nvPr/>
        </p:nvSpPr>
        <p:spPr>
          <a:xfrm>
            <a:off x="5844995" y="3500710"/>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دسترسی دشوار به ابزارهای تضمین مالی موردنیاز.</a:t>
            </a:r>
          </a:p>
        </p:txBody>
      </p:sp>
      <p:sp>
        <p:nvSpPr>
          <p:cNvPr id="81" name="TextBox 80">
            <a:extLst>
              <a:ext uri="{FF2B5EF4-FFF2-40B4-BE49-F238E27FC236}">
                <a16:creationId xmlns:a16="http://schemas.microsoft.com/office/drawing/2014/main" id="{70D59BB5-4E0D-E0DF-B807-F2466C514E10}"/>
              </a:ext>
            </a:extLst>
          </p:cNvPr>
          <p:cNvSpPr txBox="1"/>
          <p:nvPr/>
        </p:nvSpPr>
        <p:spPr>
          <a:xfrm>
            <a:off x="4111905" y="3500710"/>
            <a:ext cx="1731975" cy="184666"/>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امکان انعقاد قرارداد بدون مانع مالی.</a:t>
            </a:r>
          </a:p>
        </p:txBody>
      </p:sp>
      <p:sp>
        <p:nvSpPr>
          <p:cNvPr id="83" name="TextBox 82">
            <a:extLst>
              <a:ext uri="{FF2B5EF4-FFF2-40B4-BE49-F238E27FC236}">
                <a16:creationId xmlns:a16="http://schemas.microsoft.com/office/drawing/2014/main" id="{4DF66FCE-48E1-A5AC-6EE8-34F51D3E87FD}"/>
              </a:ext>
            </a:extLst>
          </p:cNvPr>
          <p:cNvSpPr txBox="1"/>
          <p:nvPr/>
        </p:nvSpPr>
        <p:spPr>
          <a:xfrm>
            <a:off x="438700" y="2949501"/>
            <a:ext cx="3597561" cy="364202"/>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30" normalizeH="0" baseline="0" noProof="0" dirty="0" err="1">
                <a:ln>
                  <a:noFill/>
                </a:ln>
                <a:solidFill>
                  <a:srgbClr val="F0BE0F"/>
                </a:solidFill>
                <a:effectLst/>
                <a:uLnTx/>
                <a:uFillTx/>
                <a:latin typeface="Yekan Bakh" pitchFamily="2" charset="-78"/>
                <a:ea typeface="Yekan Bakh" pitchFamily="2" charset="-78"/>
                <a:cs typeface="Yekan Bakh" pitchFamily="2" charset="-78"/>
              </a:rPr>
              <a:t>کار</a:t>
            </a:r>
            <a:r>
              <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 </a:t>
            </a:r>
            <a:r>
              <a:rPr kumimoji="0" lang="fa-IR"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۶</a:t>
            </a:r>
            <a:endPar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225"/>
              </a:spcBef>
              <a:spcAft>
                <a:spcPts val="0"/>
              </a:spcAft>
              <a:buClrTx/>
              <a:buSzTx/>
              <a:buFontTx/>
              <a:buNone/>
              <a:tabLst/>
              <a:defRPr/>
            </a:pPr>
            <a:r>
              <a:rPr kumimoji="0" lang="fa-IR" sz="7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یافتن شریک فنی خارجی که حاضر باشد با وجود ریسک همکاری کند</a:t>
            </a:r>
          </a:p>
        </p:txBody>
      </p:sp>
      <p:sp>
        <p:nvSpPr>
          <p:cNvPr id="84" name="Rectangle: Single Corner Rounded 83">
            <a:extLst>
              <a:ext uri="{FF2B5EF4-FFF2-40B4-BE49-F238E27FC236}">
                <a16:creationId xmlns:a16="http://schemas.microsoft.com/office/drawing/2014/main" id="{C899BD03-F738-FA5A-59B1-96B84AE12D7F}"/>
              </a:ext>
            </a:extLst>
          </p:cNvPr>
          <p:cNvSpPr/>
          <p:nvPr/>
        </p:nvSpPr>
        <p:spPr>
          <a:xfrm flipV="1">
            <a:off x="2235251" y="3367391"/>
            <a:ext cx="1734201" cy="454939"/>
          </a:xfrm>
          <a:prstGeom prst="round1Rect">
            <a:avLst/>
          </a:prstGeom>
          <a:solidFill>
            <a:srgbClr val="F0BE0F">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85" name="Rectangle: Single Corner Rounded 84">
            <a:extLst>
              <a:ext uri="{FF2B5EF4-FFF2-40B4-BE49-F238E27FC236}">
                <a16:creationId xmlns:a16="http://schemas.microsoft.com/office/drawing/2014/main" id="{689279DF-1861-FC54-27CD-3892773BAF47}"/>
              </a:ext>
            </a:extLst>
          </p:cNvPr>
          <p:cNvSpPr/>
          <p:nvPr/>
        </p:nvSpPr>
        <p:spPr>
          <a:xfrm flipH="1" flipV="1">
            <a:off x="505509" y="3367391"/>
            <a:ext cx="1734201" cy="454939"/>
          </a:xfrm>
          <a:prstGeom prst="round1Rect">
            <a:avLst/>
          </a:prstGeom>
          <a:solidFill>
            <a:srgbClr val="1E2761">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86" name="TextBox 85">
            <a:extLst>
              <a:ext uri="{FF2B5EF4-FFF2-40B4-BE49-F238E27FC236}">
                <a16:creationId xmlns:a16="http://schemas.microsoft.com/office/drawing/2014/main" id="{22763657-AAE3-BE72-433D-32E669E9A0C4}"/>
              </a:ext>
            </a:extLst>
          </p:cNvPr>
          <p:cNvSpPr txBox="1"/>
          <p:nvPr/>
        </p:nvSpPr>
        <p:spPr>
          <a:xfrm>
            <a:off x="2235251" y="3360546"/>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دردسر</a:t>
            </a:r>
            <a:endParaRPr kumimoji="0" lang="en-GB"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p:txBody>
      </p:sp>
      <p:sp>
        <p:nvSpPr>
          <p:cNvPr id="87" name="TextBox 86">
            <a:extLst>
              <a:ext uri="{FF2B5EF4-FFF2-40B4-BE49-F238E27FC236}">
                <a16:creationId xmlns:a16="http://schemas.microsoft.com/office/drawing/2014/main" id="{C8C1DC1D-BA6B-A607-C32C-F583123B9D47}"/>
              </a:ext>
            </a:extLst>
          </p:cNvPr>
          <p:cNvSpPr txBox="1"/>
          <p:nvPr/>
        </p:nvSpPr>
        <p:spPr>
          <a:xfrm>
            <a:off x="503280" y="3360546"/>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منفعت</a:t>
            </a:r>
          </a:p>
        </p:txBody>
      </p:sp>
      <p:sp>
        <p:nvSpPr>
          <p:cNvPr id="88" name="TextBox 87">
            <a:extLst>
              <a:ext uri="{FF2B5EF4-FFF2-40B4-BE49-F238E27FC236}">
                <a16:creationId xmlns:a16="http://schemas.microsoft.com/office/drawing/2014/main" id="{630E50D8-FC51-F49F-AD4F-2E4B5A0AD662}"/>
              </a:ext>
            </a:extLst>
          </p:cNvPr>
          <p:cNvSpPr txBox="1"/>
          <p:nvPr/>
        </p:nvSpPr>
        <p:spPr>
          <a:xfrm>
            <a:off x="2235247" y="3500710"/>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اکراه شرکای بالقوه خارجی از پذیرش ریسک همکاری با شرکت ایرانی.</a:t>
            </a:r>
          </a:p>
        </p:txBody>
      </p:sp>
      <p:sp>
        <p:nvSpPr>
          <p:cNvPr id="89" name="TextBox 88">
            <a:extLst>
              <a:ext uri="{FF2B5EF4-FFF2-40B4-BE49-F238E27FC236}">
                <a16:creationId xmlns:a16="http://schemas.microsoft.com/office/drawing/2014/main" id="{8E60137C-97AE-BAB3-6009-E586FC8F5B7F}"/>
              </a:ext>
            </a:extLst>
          </p:cNvPr>
          <p:cNvSpPr txBox="1"/>
          <p:nvPr/>
        </p:nvSpPr>
        <p:spPr>
          <a:xfrm>
            <a:off x="502157" y="3500710"/>
            <a:ext cx="1731975" cy="184666"/>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دسترسی به فناوری و دانش فنی موردنیاز.</a:t>
            </a:r>
          </a:p>
        </p:txBody>
      </p:sp>
      <p:sp>
        <p:nvSpPr>
          <p:cNvPr id="91" name="TextBox 90">
            <a:extLst>
              <a:ext uri="{FF2B5EF4-FFF2-40B4-BE49-F238E27FC236}">
                <a16:creationId xmlns:a16="http://schemas.microsoft.com/office/drawing/2014/main" id="{D80E6AF2-0C60-D6D7-93B6-542F5BF39E7C}"/>
              </a:ext>
            </a:extLst>
          </p:cNvPr>
          <p:cNvSpPr txBox="1"/>
          <p:nvPr/>
        </p:nvSpPr>
        <p:spPr>
          <a:xfrm>
            <a:off x="7646008" y="3893277"/>
            <a:ext cx="3597561" cy="364202"/>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30" normalizeH="0" baseline="0" noProof="0" dirty="0" err="1">
                <a:ln>
                  <a:noFill/>
                </a:ln>
                <a:solidFill>
                  <a:srgbClr val="F0BE0F"/>
                </a:solidFill>
                <a:effectLst/>
                <a:uLnTx/>
                <a:uFillTx/>
                <a:latin typeface="Yekan Bakh" pitchFamily="2" charset="-78"/>
                <a:ea typeface="Yekan Bakh" pitchFamily="2" charset="-78"/>
                <a:cs typeface="Yekan Bakh" pitchFamily="2" charset="-78"/>
              </a:rPr>
              <a:t>کار</a:t>
            </a:r>
            <a:r>
              <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 </a:t>
            </a:r>
            <a:r>
              <a:rPr kumimoji="0" lang="fa-IR"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۷</a:t>
            </a:r>
            <a:endPar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225"/>
              </a:spcBef>
              <a:spcAft>
                <a:spcPts val="0"/>
              </a:spcAft>
              <a:buClrTx/>
              <a:buSzTx/>
              <a:buFontTx/>
              <a:buNone/>
              <a:tabLst/>
              <a:defRPr/>
            </a:pPr>
            <a:r>
              <a:rPr kumimoji="0" lang="fa-IR" sz="7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تبدیل دارایی فکری به دارایی قابل ارزش‌گذاری و قابل‌عرضه</a:t>
            </a:r>
          </a:p>
        </p:txBody>
      </p:sp>
      <p:sp>
        <p:nvSpPr>
          <p:cNvPr id="92" name="Rectangle: Single Corner Rounded 91">
            <a:extLst>
              <a:ext uri="{FF2B5EF4-FFF2-40B4-BE49-F238E27FC236}">
                <a16:creationId xmlns:a16="http://schemas.microsoft.com/office/drawing/2014/main" id="{6F967568-B662-3DCE-3611-97C731E8115E}"/>
              </a:ext>
            </a:extLst>
          </p:cNvPr>
          <p:cNvSpPr/>
          <p:nvPr/>
        </p:nvSpPr>
        <p:spPr>
          <a:xfrm flipV="1">
            <a:off x="9442559" y="4311167"/>
            <a:ext cx="1734201" cy="454939"/>
          </a:xfrm>
          <a:prstGeom prst="round1Rect">
            <a:avLst/>
          </a:prstGeom>
          <a:solidFill>
            <a:srgbClr val="F0BE0F">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93" name="Rectangle: Single Corner Rounded 92">
            <a:extLst>
              <a:ext uri="{FF2B5EF4-FFF2-40B4-BE49-F238E27FC236}">
                <a16:creationId xmlns:a16="http://schemas.microsoft.com/office/drawing/2014/main" id="{CDA35238-A7CE-06DA-0CB7-5E6C69CB5FE6}"/>
              </a:ext>
            </a:extLst>
          </p:cNvPr>
          <p:cNvSpPr/>
          <p:nvPr/>
        </p:nvSpPr>
        <p:spPr>
          <a:xfrm flipH="1" flipV="1">
            <a:off x="7712817" y="4311167"/>
            <a:ext cx="1734201" cy="454939"/>
          </a:xfrm>
          <a:prstGeom prst="round1Rect">
            <a:avLst/>
          </a:prstGeom>
          <a:solidFill>
            <a:srgbClr val="1E2761">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94" name="TextBox 93">
            <a:extLst>
              <a:ext uri="{FF2B5EF4-FFF2-40B4-BE49-F238E27FC236}">
                <a16:creationId xmlns:a16="http://schemas.microsoft.com/office/drawing/2014/main" id="{BE8FEAAF-CA92-087B-9FBA-A25951377F65}"/>
              </a:ext>
            </a:extLst>
          </p:cNvPr>
          <p:cNvSpPr txBox="1"/>
          <p:nvPr/>
        </p:nvSpPr>
        <p:spPr>
          <a:xfrm>
            <a:off x="9442559" y="4304322"/>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دردسر</a:t>
            </a:r>
            <a:endParaRPr kumimoji="0" lang="en-GB"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p:txBody>
      </p:sp>
      <p:sp>
        <p:nvSpPr>
          <p:cNvPr id="95" name="TextBox 94">
            <a:extLst>
              <a:ext uri="{FF2B5EF4-FFF2-40B4-BE49-F238E27FC236}">
                <a16:creationId xmlns:a16="http://schemas.microsoft.com/office/drawing/2014/main" id="{FE6E3BDE-33C3-6A83-AC1E-A547B2D1B2CC}"/>
              </a:ext>
            </a:extLst>
          </p:cNvPr>
          <p:cNvSpPr txBox="1"/>
          <p:nvPr/>
        </p:nvSpPr>
        <p:spPr>
          <a:xfrm>
            <a:off x="7710588" y="4304322"/>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منفعت</a:t>
            </a:r>
          </a:p>
        </p:txBody>
      </p:sp>
      <p:sp>
        <p:nvSpPr>
          <p:cNvPr id="96" name="TextBox 95">
            <a:extLst>
              <a:ext uri="{FF2B5EF4-FFF2-40B4-BE49-F238E27FC236}">
                <a16:creationId xmlns:a16="http://schemas.microsoft.com/office/drawing/2014/main" id="{2CBB4DC6-5936-883F-BA82-881742362FAA}"/>
              </a:ext>
            </a:extLst>
          </p:cNvPr>
          <p:cNvSpPr txBox="1"/>
          <p:nvPr/>
        </p:nvSpPr>
        <p:spPr>
          <a:xfrm>
            <a:off x="9442555" y="4444486"/>
            <a:ext cx="1731975" cy="184666"/>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ابهام در نحوه ارزش‌گذاری دارایی نامشهود.</a:t>
            </a:r>
          </a:p>
        </p:txBody>
      </p:sp>
      <p:sp>
        <p:nvSpPr>
          <p:cNvPr id="97" name="TextBox 96">
            <a:extLst>
              <a:ext uri="{FF2B5EF4-FFF2-40B4-BE49-F238E27FC236}">
                <a16:creationId xmlns:a16="http://schemas.microsoft.com/office/drawing/2014/main" id="{9284FDB3-0E01-7F16-9C22-46F697BD6EB1}"/>
              </a:ext>
            </a:extLst>
          </p:cNvPr>
          <p:cNvSpPr txBox="1"/>
          <p:nvPr/>
        </p:nvSpPr>
        <p:spPr>
          <a:xfrm>
            <a:off x="7709465" y="4444486"/>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امکان استفاده از دارایی فکری در مذاکره و معامله.</a:t>
            </a:r>
          </a:p>
        </p:txBody>
      </p:sp>
      <p:sp>
        <p:nvSpPr>
          <p:cNvPr id="99" name="TextBox 98">
            <a:extLst>
              <a:ext uri="{FF2B5EF4-FFF2-40B4-BE49-F238E27FC236}">
                <a16:creationId xmlns:a16="http://schemas.microsoft.com/office/drawing/2014/main" id="{8AB7112A-7F5A-B774-4CC0-90D149CC961C}"/>
              </a:ext>
            </a:extLst>
          </p:cNvPr>
          <p:cNvSpPr txBox="1"/>
          <p:nvPr/>
        </p:nvSpPr>
        <p:spPr>
          <a:xfrm>
            <a:off x="4048448" y="3893277"/>
            <a:ext cx="3597561" cy="364202"/>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30" normalizeH="0" baseline="0" noProof="0" dirty="0" err="1">
                <a:ln>
                  <a:noFill/>
                </a:ln>
                <a:solidFill>
                  <a:srgbClr val="F0BE0F"/>
                </a:solidFill>
                <a:effectLst/>
                <a:uLnTx/>
                <a:uFillTx/>
                <a:latin typeface="Yekan Bakh" pitchFamily="2" charset="-78"/>
                <a:ea typeface="Yekan Bakh" pitchFamily="2" charset="-78"/>
                <a:cs typeface="Yekan Bakh" pitchFamily="2" charset="-78"/>
              </a:rPr>
              <a:t>کار</a:t>
            </a:r>
            <a:r>
              <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 </a:t>
            </a:r>
            <a:r>
              <a:rPr kumimoji="0" lang="fa-IR"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۸</a:t>
            </a:r>
            <a:endPar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225"/>
              </a:spcBef>
              <a:spcAft>
                <a:spcPts val="0"/>
              </a:spcAft>
              <a:buClrTx/>
              <a:buSzTx/>
              <a:buFontTx/>
              <a:buNone/>
              <a:tabLst/>
              <a:defRPr/>
            </a:pPr>
            <a:r>
              <a:rPr kumimoji="0" lang="fa-IR" sz="7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ایجاد قابلیت انطباق و مستندسازی گمرکی برای تجارت بدون ریسک جریمه</a:t>
            </a:r>
          </a:p>
        </p:txBody>
      </p:sp>
      <p:sp>
        <p:nvSpPr>
          <p:cNvPr id="100" name="Rectangle: Single Corner Rounded 99">
            <a:extLst>
              <a:ext uri="{FF2B5EF4-FFF2-40B4-BE49-F238E27FC236}">
                <a16:creationId xmlns:a16="http://schemas.microsoft.com/office/drawing/2014/main" id="{3A2B7005-B77C-14BC-5A95-6E2EEAFC7201}"/>
              </a:ext>
            </a:extLst>
          </p:cNvPr>
          <p:cNvSpPr/>
          <p:nvPr/>
        </p:nvSpPr>
        <p:spPr>
          <a:xfrm flipV="1">
            <a:off x="5844999" y="4311167"/>
            <a:ext cx="1734201" cy="454939"/>
          </a:xfrm>
          <a:prstGeom prst="round1Rect">
            <a:avLst/>
          </a:prstGeom>
          <a:solidFill>
            <a:srgbClr val="F0BE0F">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01" name="Rectangle: Single Corner Rounded 100">
            <a:extLst>
              <a:ext uri="{FF2B5EF4-FFF2-40B4-BE49-F238E27FC236}">
                <a16:creationId xmlns:a16="http://schemas.microsoft.com/office/drawing/2014/main" id="{3BEA3A9C-E6DC-6BDC-3A9F-5771471BEDF8}"/>
              </a:ext>
            </a:extLst>
          </p:cNvPr>
          <p:cNvSpPr/>
          <p:nvPr/>
        </p:nvSpPr>
        <p:spPr>
          <a:xfrm flipH="1" flipV="1">
            <a:off x="4115257" y="4311167"/>
            <a:ext cx="1734201" cy="454939"/>
          </a:xfrm>
          <a:prstGeom prst="round1Rect">
            <a:avLst/>
          </a:prstGeom>
          <a:solidFill>
            <a:srgbClr val="1E2761">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02" name="TextBox 101">
            <a:extLst>
              <a:ext uri="{FF2B5EF4-FFF2-40B4-BE49-F238E27FC236}">
                <a16:creationId xmlns:a16="http://schemas.microsoft.com/office/drawing/2014/main" id="{3927C861-4DDF-1BC8-6B8A-E8213024AEEF}"/>
              </a:ext>
            </a:extLst>
          </p:cNvPr>
          <p:cNvSpPr txBox="1"/>
          <p:nvPr/>
        </p:nvSpPr>
        <p:spPr>
          <a:xfrm>
            <a:off x="5844999" y="4304322"/>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دردسر</a:t>
            </a:r>
            <a:endParaRPr kumimoji="0" lang="en-GB"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p:txBody>
      </p:sp>
      <p:sp>
        <p:nvSpPr>
          <p:cNvPr id="103" name="TextBox 102">
            <a:extLst>
              <a:ext uri="{FF2B5EF4-FFF2-40B4-BE49-F238E27FC236}">
                <a16:creationId xmlns:a16="http://schemas.microsoft.com/office/drawing/2014/main" id="{E2DE4AA3-8657-BD3A-17D6-30609123A820}"/>
              </a:ext>
            </a:extLst>
          </p:cNvPr>
          <p:cNvSpPr txBox="1"/>
          <p:nvPr/>
        </p:nvSpPr>
        <p:spPr>
          <a:xfrm>
            <a:off x="4113028" y="4304322"/>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منفعت</a:t>
            </a:r>
          </a:p>
        </p:txBody>
      </p:sp>
      <p:sp>
        <p:nvSpPr>
          <p:cNvPr id="104" name="TextBox 103">
            <a:extLst>
              <a:ext uri="{FF2B5EF4-FFF2-40B4-BE49-F238E27FC236}">
                <a16:creationId xmlns:a16="http://schemas.microsoft.com/office/drawing/2014/main" id="{4EABB1C2-B1E4-EA0F-5754-B692085DC3B9}"/>
              </a:ext>
            </a:extLst>
          </p:cNvPr>
          <p:cNvSpPr txBox="1"/>
          <p:nvPr/>
        </p:nvSpPr>
        <p:spPr>
          <a:xfrm>
            <a:off x="5844995" y="4444486"/>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پیچیدگی طبقه‌بندی و مقررات گمرکی؛ ریسک جریمه از خطای مستندسازی.</a:t>
            </a:r>
          </a:p>
        </p:txBody>
      </p:sp>
      <p:sp>
        <p:nvSpPr>
          <p:cNvPr id="105" name="TextBox 104">
            <a:extLst>
              <a:ext uri="{FF2B5EF4-FFF2-40B4-BE49-F238E27FC236}">
                <a16:creationId xmlns:a16="http://schemas.microsoft.com/office/drawing/2014/main" id="{3866F25F-7CB9-16F1-868F-B06247EBC1FD}"/>
              </a:ext>
            </a:extLst>
          </p:cNvPr>
          <p:cNvSpPr txBox="1"/>
          <p:nvPr/>
        </p:nvSpPr>
        <p:spPr>
          <a:xfrm>
            <a:off x="4111905" y="4444486"/>
            <a:ext cx="1731975" cy="184666"/>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تجارت بین‌المللی بدون ریسک قانونی و مالی.</a:t>
            </a:r>
          </a:p>
        </p:txBody>
      </p:sp>
      <p:sp>
        <p:nvSpPr>
          <p:cNvPr id="107" name="TextBox 106">
            <a:extLst>
              <a:ext uri="{FF2B5EF4-FFF2-40B4-BE49-F238E27FC236}">
                <a16:creationId xmlns:a16="http://schemas.microsoft.com/office/drawing/2014/main" id="{65160D90-5C05-BF0B-6E2E-AFCE5F369D6A}"/>
              </a:ext>
            </a:extLst>
          </p:cNvPr>
          <p:cNvSpPr txBox="1"/>
          <p:nvPr/>
        </p:nvSpPr>
        <p:spPr>
          <a:xfrm>
            <a:off x="438700" y="3893277"/>
            <a:ext cx="3597561" cy="364202"/>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30" normalizeH="0" baseline="0" noProof="0" dirty="0" err="1">
                <a:ln>
                  <a:noFill/>
                </a:ln>
                <a:solidFill>
                  <a:srgbClr val="F0BE0F"/>
                </a:solidFill>
                <a:effectLst/>
                <a:uLnTx/>
                <a:uFillTx/>
                <a:latin typeface="Yekan Bakh" pitchFamily="2" charset="-78"/>
                <a:ea typeface="Yekan Bakh" pitchFamily="2" charset="-78"/>
                <a:cs typeface="Yekan Bakh" pitchFamily="2" charset="-78"/>
              </a:rPr>
              <a:t>کار</a:t>
            </a:r>
            <a:r>
              <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 </a:t>
            </a:r>
            <a:r>
              <a:rPr kumimoji="0" lang="fa-IR"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۹</a:t>
            </a:r>
            <a:endPar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225"/>
              </a:spcBef>
              <a:spcAft>
                <a:spcPts val="0"/>
              </a:spcAft>
              <a:buClrTx/>
              <a:buSzTx/>
              <a:buFontTx/>
              <a:buNone/>
              <a:tabLst/>
              <a:defRPr/>
            </a:pPr>
            <a:r>
              <a:rPr kumimoji="0" lang="fa-IR" sz="7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ارتقای قابلیت‌ها برای پیوستن به زنجیره‌های ارزش جهانی و خدمات دیجیتالی‌شده</a:t>
            </a:r>
          </a:p>
        </p:txBody>
      </p:sp>
      <p:sp>
        <p:nvSpPr>
          <p:cNvPr id="108" name="Rectangle: Single Corner Rounded 107">
            <a:extLst>
              <a:ext uri="{FF2B5EF4-FFF2-40B4-BE49-F238E27FC236}">
                <a16:creationId xmlns:a16="http://schemas.microsoft.com/office/drawing/2014/main" id="{063A9339-1ACA-23DC-8DE4-39A09E4C74CB}"/>
              </a:ext>
            </a:extLst>
          </p:cNvPr>
          <p:cNvSpPr/>
          <p:nvPr/>
        </p:nvSpPr>
        <p:spPr>
          <a:xfrm flipV="1">
            <a:off x="2235251" y="4311167"/>
            <a:ext cx="1734201" cy="454939"/>
          </a:xfrm>
          <a:prstGeom prst="round1Rect">
            <a:avLst/>
          </a:prstGeom>
          <a:solidFill>
            <a:srgbClr val="F0BE0F">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09" name="Rectangle: Single Corner Rounded 108">
            <a:extLst>
              <a:ext uri="{FF2B5EF4-FFF2-40B4-BE49-F238E27FC236}">
                <a16:creationId xmlns:a16="http://schemas.microsoft.com/office/drawing/2014/main" id="{DB0A890B-6A19-4961-6F7B-31B831CB84C6}"/>
              </a:ext>
            </a:extLst>
          </p:cNvPr>
          <p:cNvSpPr/>
          <p:nvPr/>
        </p:nvSpPr>
        <p:spPr>
          <a:xfrm flipH="1" flipV="1">
            <a:off x="505509" y="4311167"/>
            <a:ext cx="1734201" cy="454939"/>
          </a:xfrm>
          <a:prstGeom prst="round1Rect">
            <a:avLst/>
          </a:prstGeom>
          <a:solidFill>
            <a:srgbClr val="1E2761">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10" name="TextBox 109">
            <a:extLst>
              <a:ext uri="{FF2B5EF4-FFF2-40B4-BE49-F238E27FC236}">
                <a16:creationId xmlns:a16="http://schemas.microsoft.com/office/drawing/2014/main" id="{897CDB65-E28A-F1AF-D731-72D5E06701F9}"/>
              </a:ext>
            </a:extLst>
          </p:cNvPr>
          <p:cNvSpPr txBox="1"/>
          <p:nvPr/>
        </p:nvSpPr>
        <p:spPr>
          <a:xfrm>
            <a:off x="2235251" y="4304322"/>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دردسر</a:t>
            </a:r>
            <a:endParaRPr kumimoji="0" lang="en-GB"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p:txBody>
      </p:sp>
      <p:sp>
        <p:nvSpPr>
          <p:cNvPr id="111" name="TextBox 110">
            <a:extLst>
              <a:ext uri="{FF2B5EF4-FFF2-40B4-BE49-F238E27FC236}">
                <a16:creationId xmlns:a16="http://schemas.microsoft.com/office/drawing/2014/main" id="{56EFBB3C-4DCD-B8F6-8069-EE514738FB56}"/>
              </a:ext>
            </a:extLst>
          </p:cNvPr>
          <p:cNvSpPr txBox="1"/>
          <p:nvPr/>
        </p:nvSpPr>
        <p:spPr>
          <a:xfrm>
            <a:off x="503280" y="4304322"/>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منفعت</a:t>
            </a:r>
          </a:p>
        </p:txBody>
      </p:sp>
      <p:sp>
        <p:nvSpPr>
          <p:cNvPr id="112" name="TextBox 111">
            <a:extLst>
              <a:ext uri="{FF2B5EF4-FFF2-40B4-BE49-F238E27FC236}">
                <a16:creationId xmlns:a16="http://schemas.microsoft.com/office/drawing/2014/main" id="{BF847CA9-85BB-D63D-CC0B-896E132A50AC}"/>
              </a:ext>
            </a:extLst>
          </p:cNvPr>
          <p:cNvSpPr txBox="1"/>
          <p:nvPr/>
        </p:nvSpPr>
        <p:spPr>
          <a:xfrm>
            <a:off x="2235247" y="4444486"/>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عقب‌ماندگی زیرساخت دیجیتال نسبت به استاندارد جهانی.</a:t>
            </a:r>
          </a:p>
        </p:txBody>
      </p:sp>
      <p:sp>
        <p:nvSpPr>
          <p:cNvPr id="113" name="TextBox 112">
            <a:extLst>
              <a:ext uri="{FF2B5EF4-FFF2-40B4-BE49-F238E27FC236}">
                <a16:creationId xmlns:a16="http://schemas.microsoft.com/office/drawing/2014/main" id="{6AD3DB38-FDC6-2E3F-3DCB-42D7978ED513}"/>
              </a:ext>
            </a:extLst>
          </p:cNvPr>
          <p:cNvSpPr txBox="1"/>
          <p:nvPr/>
        </p:nvSpPr>
        <p:spPr>
          <a:xfrm>
            <a:off x="502157" y="4444486"/>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مشارکت در زنجیره ارزش جهانی به‌جای حاشیه‌نشینی.</a:t>
            </a:r>
          </a:p>
        </p:txBody>
      </p:sp>
      <p:sp>
        <p:nvSpPr>
          <p:cNvPr id="115" name="TextBox 114">
            <a:extLst>
              <a:ext uri="{FF2B5EF4-FFF2-40B4-BE49-F238E27FC236}">
                <a16:creationId xmlns:a16="http://schemas.microsoft.com/office/drawing/2014/main" id="{75C14443-5054-2A98-EA2D-87AE2CC983EE}"/>
              </a:ext>
            </a:extLst>
          </p:cNvPr>
          <p:cNvSpPr txBox="1"/>
          <p:nvPr/>
        </p:nvSpPr>
        <p:spPr>
          <a:xfrm>
            <a:off x="7646008" y="4837054"/>
            <a:ext cx="3597561" cy="364202"/>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30" normalizeH="0" baseline="0" noProof="0" dirty="0" err="1">
                <a:ln>
                  <a:noFill/>
                </a:ln>
                <a:solidFill>
                  <a:srgbClr val="F0BE0F"/>
                </a:solidFill>
                <a:effectLst/>
                <a:uLnTx/>
                <a:uFillTx/>
                <a:latin typeface="Yekan Bakh" pitchFamily="2" charset="-78"/>
                <a:ea typeface="Yekan Bakh" pitchFamily="2" charset="-78"/>
                <a:cs typeface="Yekan Bakh" pitchFamily="2" charset="-78"/>
              </a:rPr>
              <a:t>کار</a:t>
            </a:r>
            <a:r>
              <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 </a:t>
            </a:r>
            <a:r>
              <a:rPr kumimoji="0" lang="fa-IR"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۱۰</a:t>
            </a:r>
            <a:endPar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225"/>
              </a:spcBef>
              <a:spcAft>
                <a:spcPts val="0"/>
              </a:spcAft>
              <a:buClrTx/>
              <a:buSzTx/>
              <a:buFontTx/>
              <a:buNone/>
              <a:tabLst/>
              <a:defRPr/>
            </a:pPr>
            <a:r>
              <a:rPr kumimoji="0" lang="fa-IR" sz="7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دریافت تشخیص عینی و مستقل از شکاف‌های آمادگی فعلی</a:t>
            </a:r>
          </a:p>
        </p:txBody>
      </p:sp>
      <p:sp>
        <p:nvSpPr>
          <p:cNvPr id="116" name="Rectangle: Single Corner Rounded 115">
            <a:extLst>
              <a:ext uri="{FF2B5EF4-FFF2-40B4-BE49-F238E27FC236}">
                <a16:creationId xmlns:a16="http://schemas.microsoft.com/office/drawing/2014/main" id="{5ADC9C17-C1A2-114D-D954-651C574A953A}"/>
              </a:ext>
            </a:extLst>
          </p:cNvPr>
          <p:cNvSpPr/>
          <p:nvPr/>
        </p:nvSpPr>
        <p:spPr>
          <a:xfrm flipV="1">
            <a:off x="9442559" y="5254944"/>
            <a:ext cx="1734201" cy="454939"/>
          </a:xfrm>
          <a:prstGeom prst="round1Rect">
            <a:avLst/>
          </a:prstGeom>
          <a:solidFill>
            <a:srgbClr val="F0BE0F">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17" name="Rectangle: Single Corner Rounded 116">
            <a:extLst>
              <a:ext uri="{FF2B5EF4-FFF2-40B4-BE49-F238E27FC236}">
                <a16:creationId xmlns:a16="http://schemas.microsoft.com/office/drawing/2014/main" id="{3830FD5F-34F4-2422-68EF-FFFED9CF9F08}"/>
              </a:ext>
            </a:extLst>
          </p:cNvPr>
          <p:cNvSpPr/>
          <p:nvPr/>
        </p:nvSpPr>
        <p:spPr>
          <a:xfrm flipH="1" flipV="1">
            <a:off x="7712817" y="5254944"/>
            <a:ext cx="1734201" cy="454939"/>
          </a:xfrm>
          <a:prstGeom prst="round1Rect">
            <a:avLst/>
          </a:prstGeom>
          <a:solidFill>
            <a:srgbClr val="1E2761">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18" name="TextBox 117">
            <a:extLst>
              <a:ext uri="{FF2B5EF4-FFF2-40B4-BE49-F238E27FC236}">
                <a16:creationId xmlns:a16="http://schemas.microsoft.com/office/drawing/2014/main" id="{CFB8FED5-5C21-A397-A3C6-04A7BB404147}"/>
              </a:ext>
            </a:extLst>
          </p:cNvPr>
          <p:cNvSpPr txBox="1"/>
          <p:nvPr/>
        </p:nvSpPr>
        <p:spPr>
          <a:xfrm>
            <a:off x="9442559" y="5248099"/>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دردسر</a:t>
            </a:r>
            <a:endParaRPr kumimoji="0" lang="en-GB"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p:txBody>
      </p:sp>
      <p:sp>
        <p:nvSpPr>
          <p:cNvPr id="119" name="TextBox 118">
            <a:extLst>
              <a:ext uri="{FF2B5EF4-FFF2-40B4-BE49-F238E27FC236}">
                <a16:creationId xmlns:a16="http://schemas.microsoft.com/office/drawing/2014/main" id="{B16ABEBD-080E-9A46-BCB7-4DBC89699849}"/>
              </a:ext>
            </a:extLst>
          </p:cNvPr>
          <p:cNvSpPr txBox="1"/>
          <p:nvPr/>
        </p:nvSpPr>
        <p:spPr>
          <a:xfrm>
            <a:off x="7710588" y="5248099"/>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منفعت</a:t>
            </a:r>
          </a:p>
        </p:txBody>
      </p:sp>
      <p:sp>
        <p:nvSpPr>
          <p:cNvPr id="120" name="TextBox 119">
            <a:extLst>
              <a:ext uri="{FF2B5EF4-FFF2-40B4-BE49-F238E27FC236}">
                <a16:creationId xmlns:a16="http://schemas.microsoft.com/office/drawing/2014/main" id="{186726A2-493E-2A3F-F83E-3BB19C01E281}"/>
              </a:ext>
            </a:extLst>
          </p:cNvPr>
          <p:cNvSpPr txBox="1"/>
          <p:nvPr/>
        </p:nvSpPr>
        <p:spPr>
          <a:xfrm>
            <a:off x="9442555" y="5388263"/>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نبود مرجع بی‌طرف برای ارزیابی دقیق وضعیت فعلی.</a:t>
            </a:r>
          </a:p>
        </p:txBody>
      </p:sp>
      <p:sp>
        <p:nvSpPr>
          <p:cNvPr id="121" name="TextBox 120">
            <a:extLst>
              <a:ext uri="{FF2B5EF4-FFF2-40B4-BE49-F238E27FC236}">
                <a16:creationId xmlns:a16="http://schemas.microsoft.com/office/drawing/2014/main" id="{AAD7463E-E0B8-DAC7-7CE0-DA0CCFBE7FD7}"/>
              </a:ext>
            </a:extLst>
          </p:cNvPr>
          <p:cNvSpPr txBox="1"/>
          <p:nvPr/>
        </p:nvSpPr>
        <p:spPr>
          <a:xfrm>
            <a:off x="7709465" y="5388263"/>
            <a:ext cx="1731975" cy="184666"/>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نقشه راه بهبود مبتنی بر واقعیت، نه حدس.</a:t>
            </a:r>
          </a:p>
        </p:txBody>
      </p:sp>
      <p:sp>
        <p:nvSpPr>
          <p:cNvPr id="123" name="TextBox 122">
            <a:extLst>
              <a:ext uri="{FF2B5EF4-FFF2-40B4-BE49-F238E27FC236}">
                <a16:creationId xmlns:a16="http://schemas.microsoft.com/office/drawing/2014/main" id="{6186BE27-8951-5C83-BC46-1F97FC073A83}"/>
              </a:ext>
            </a:extLst>
          </p:cNvPr>
          <p:cNvSpPr txBox="1"/>
          <p:nvPr/>
        </p:nvSpPr>
        <p:spPr>
          <a:xfrm>
            <a:off x="4048448" y="4837054"/>
            <a:ext cx="3597561" cy="471924"/>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30" normalizeH="0" baseline="0" noProof="0" dirty="0" err="1">
                <a:ln>
                  <a:noFill/>
                </a:ln>
                <a:solidFill>
                  <a:srgbClr val="F0BE0F"/>
                </a:solidFill>
                <a:effectLst/>
                <a:uLnTx/>
                <a:uFillTx/>
                <a:latin typeface="Yekan Bakh" pitchFamily="2" charset="-78"/>
                <a:ea typeface="Yekan Bakh" pitchFamily="2" charset="-78"/>
                <a:cs typeface="Yekan Bakh" pitchFamily="2" charset="-78"/>
              </a:rPr>
              <a:t>کار</a:t>
            </a:r>
            <a:r>
              <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 </a:t>
            </a:r>
            <a:r>
              <a:rPr kumimoji="0" lang="fa-IR"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۱۱</a:t>
            </a:r>
            <a:endPar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225"/>
              </a:spcBef>
              <a:spcAft>
                <a:spcPts val="0"/>
              </a:spcAft>
              <a:buClrTx/>
              <a:buSzTx/>
              <a:buFontTx/>
              <a:buNone/>
              <a:tabLst/>
              <a:defRPr/>
            </a:pPr>
            <a:r>
              <a:rPr kumimoji="0" lang="fa-IR" sz="7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اطمینان از اینکه هزینه و زمان صرف‌شده برای آماده‌سازی واقعاً شانس موفقیت را افزایش می‌دهد</a:t>
            </a:r>
          </a:p>
        </p:txBody>
      </p:sp>
      <p:sp>
        <p:nvSpPr>
          <p:cNvPr id="124" name="Rectangle: Single Corner Rounded 123">
            <a:extLst>
              <a:ext uri="{FF2B5EF4-FFF2-40B4-BE49-F238E27FC236}">
                <a16:creationId xmlns:a16="http://schemas.microsoft.com/office/drawing/2014/main" id="{00E19CF8-08D5-DEF4-6A07-4B985E69EF21}"/>
              </a:ext>
            </a:extLst>
          </p:cNvPr>
          <p:cNvSpPr/>
          <p:nvPr/>
        </p:nvSpPr>
        <p:spPr>
          <a:xfrm flipV="1">
            <a:off x="5844999" y="5254944"/>
            <a:ext cx="1734201" cy="454939"/>
          </a:xfrm>
          <a:prstGeom prst="round1Rect">
            <a:avLst/>
          </a:prstGeom>
          <a:solidFill>
            <a:srgbClr val="F0BE0F">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25" name="Rectangle: Single Corner Rounded 124">
            <a:extLst>
              <a:ext uri="{FF2B5EF4-FFF2-40B4-BE49-F238E27FC236}">
                <a16:creationId xmlns:a16="http://schemas.microsoft.com/office/drawing/2014/main" id="{4610BEED-1FEF-E863-6247-24B4F3C04A48}"/>
              </a:ext>
            </a:extLst>
          </p:cNvPr>
          <p:cNvSpPr/>
          <p:nvPr/>
        </p:nvSpPr>
        <p:spPr>
          <a:xfrm flipH="1" flipV="1">
            <a:off x="4115257" y="5254944"/>
            <a:ext cx="1734201" cy="454939"/>
          </a:xfrm>
          <a:prstGeom prst="round1Rect">
            <a:avLst/>
          </a:prstGeom>
          <a:solidFill>
            <a:srgbClr val="1E2761">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26" name="TextBox 125">
            <a:extLst>
              <a:ext uri="{FF2B5EF4-FFF2-40B4-BE49-F238E27FC236}">
                <a16:creationId xmlns:a16="http://schemas.microsoft.com/office/drawing/2014/main" id="{652F29C8-F4A2-66D3-C5AA-F0D08BDC67A6}"/>
              </a:ext>
            </a:extLst>
          </p:cNvPr>
          <p:cNvSpPr txBox="1"/>
          <p:nvPr/>
        </p:nvSpPr>
        <p:spPr>
          <a:xfrm>
            <a:off x="5844999" y="5248099"/>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دردسر</a:t>
            </a:r>
            <a:endParaRPr kumimoji="0" lang="en-GB"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p:txBody>
      </p:sp>
      <p:sp>
        <p:nvSpPr>
          <p:cNvPr id="127" name="TextBox 126">
            <a:extLst>
              <a:ext uri="{FF2B5EF4-FFF2-40B4-BE49-F238E27FC236}">
                <a16:creationId xmlns:a16="http://schemas.microsoft.com/office/drawing/2014/main" id="{E733459C-ABE3-5F03-92B1-DE4D75CC50A5}"/>
              </a:ext>
            </a:extLst>
          </p:cNvPr>
          <p:cNvSpPr txBox="1"/>
          <p:nvPr/>
        </p:nvSpPr>
        <p:spPr>
          <a:xfrm>
            <a:off x="4113028" y="5248099"/>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منفعت</a:t>
            </a:r>
          </a:p>
        </p:txBody>
      </p:sp>
      <p:sp>
        <p:nvSpPr>
          <p:cNvPr id="128" name="TextBox 127">
            <a:extLst>
              <a:ext uri="{FF2B5EF4-FFF2-40B4-BE49-F238E27FC236}">
                <a16:creationId xmlns:a16="http://schemas.microsoft.com/office/drawing/2014/main" id="{E33544E4-12D0-0475-68E4-E0EFEC92EDFC}"/>
              </a:ext>
            </a:extLst>
          </p:cNvPr>
          <p:cNvSpPr txBox="1"/>
          <p:nvPr/>
        </p:nvSpPr>
        <p:spPr>
          <a:xfrm>
            <a:off x="5844995" y="5388263"/>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ترس از هدررفت منابع در مسیری که نتیجه‌بخش نباشد.</a:t>
            </a:r>
          </a:p>
        </p:txBody>
      </p:sp>
      <p:sp>
        <p:nvSpPr>
          <p:cNvPr id="129" name="TextBox 128">
            <a:extLst>
              <a:ext uri="{FF2B5EF4-FFF2-40B4-BE49-F238E27FC236}">
                <a16:creationId xmlns:a16="http://schemas.microsoft.com/office/drawing/2014/main" id="{007D1D6F-D687-83A5-49AA-D690379BAC95}"/>
              </a:ext>
            </a:extLst>
          </p:cNvPr>
          <p:cNvSpPr txBox="1"/>
          <p:nvPr/>
        </p:nvSpPr>
        <p:spPr>
          <a:xfrm>
            <a:off x="4111905" y="5388263"/>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اطمینان‌خاطر از بازگشت سرمایه‌گذاری روی آماده‌سازی.</a:t>
            </a:r>
          </a:p>
        </p:txBody>
      </p:sp>
    </p:spTree>
    <p:extLst>
      <p:ext uri="{BB962C8B-B14F-4D97-AF65-F5344CB8AC3E}">
        <p14:creationId xmlns:p14="http://schemas.microsoft.com/office/powerpoint/2010/main" val="311424887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D2638-13BE-73A2-1BAF-F6DA525F8A3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68EFC7C-EFD8-69F0-A87F-51B4115307FC}"/>
              </a:ext>
            </a:extLst>
          </p:cNvPr>
          <p:cNvSpPr>
            <a:spLocks noGrp="1"/>
          </p:cNvSpPr>
          <p:nvPr>
            <p:ph type="body" sz="quarter" idx="10"/>
          </p:nvPr>
        </p:nvSpPr>
        <p:spPr/>
        <p:txBody>
          <a:bodyPr/>
          <a:lstStyle/>
          <a:p>
            <a:r>
              <a:rPr lang="fa-IR" dirty="0"/>
              <a:t>--</a:t>
            </a:r>
          </a:p>
        </p:txBody>
      </p:sp>
      <p:sp>
        <p:nvSpPr>
          <p:cNvPr id="3" name="Text Placeholder 2">
            <a:extLst>
              <a:ext uri="{FF2B5EF4-FFF2-40B4-BE49-F238E27FC236}">
                <a16:creationId xmlns:a16="http://schemas.microsoft.com/office/drawing/2014/main" id="{77650560-1537-5246-2F74-1309A06B314D}"/>
              </a:ext>
            </a:extLst>
          </p:cNvPr>
          <p:cNvSpPr>
            <a:spLocks noGrp="1"/>
          </p:cNvSpPr>
          <p:nvPr>
            <p:ph type="body" sz="quarter" idx="12"/>
          </p:nvPr>
        </p:nvSpPr>
        <p:spPr/>
        <p:txBody>
          <a:bodyPr/>
          <a:lstStyle/>
          <a:p>
            <a:r>
              <a:rPr lang="fa-IR" dirty="0"/>
              <a:t>نقشه پرسوناها/۴</a:t>
            </a:r>
          </a:p>
          <a:p>
            <a:r>
              <a:rPr lang="fa-IR" sz="1200" b="0" dirty="0">
                <a:solidFill>
                  <a:schemeClr val="tx1">
                    <a:lumMod val="50000"/>
                    <a:lumOff val="50000"/>
                  </a:schemeClr>
                </a:solidFill>
              </a:rPr>
              <a:t>برای هر پرسونا: تعریف کوتاه، سپس کارهای مشتری با دردسر و منفعت مربوطه</a:t>
            </a:r>
            <a:endParaRPr lang="en-GB" sz="1200" b="0" dirty="0">
              <a:solidFill>
                <a:schemeClr val="tx1">
                  <a:lumMod val="50000"/>
                  <a:lumOff val="50000"/>
                </a:schemeClr>
              </a:solidFill>
            </a:endParaRPr>
          </a:p>
        </p:txBody>
      </p:sp>
      <p:sp>
        <p:nvSpPr>
          <p:cNvPr id="4" name="Rectangle: Rounded Corners 3">
            <a:extLst>
              <a:ext uri="{FF2B5EF4-FFF2-40B4-BE49-F238E27FC236}">
                <a16:creationId xmlns:a16="http://schemas.microsoft.com/office/drawing/2014/main" id="{80C3AAA1-F980-255B-D7F2-422D7C68ED0E}"/>
              </a:ext>
            </a:extLst>
          </p:cNvPr>
          <p:cNvSpPr/>
          <p:nvPr/>
        </p:nvSpPr>
        <p:spPr>
          <a:xfrm>
            <a:off x="437289" y="1343551"/>
            <a:ext cx="10806286" cy="4404106"/>
          </a:xfrm>
          <a:prstGeom prst="roundRect">
            <a:avLst>
              <a:gd name="adj" fmla="val 1837"/>
            </a:avLst>
          </a:prstGeom>
          <a:noFill/>
          <a:ln w="3175">
            <a:solidFill>
              <a:srgbClr val="F0BE0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cxnSp>
        <p:nvCxnSpPr>
          <p:cNvPr id="9" name="Straight Connector 8">
            <a:extLst>
              <a:ext uri="{FF2B5EF4-FFF2-40B4-BE49-F238E27FC236}">
                <a16:creationId xmlns:a16="http://schemas.microsoft.com/office/drawing/2014/main" id="{67355F9A-E542-F657-B12D-720B5F59F50C}"/>
              </a:ext>
            </a:extLst>
          </p:cNvPr>
          <p:cNvCxnSpPr>
            <a:cxnSpLocks/>
          </p:cNvCxnSpPr>
          <p:nvPr/>
        </p:nvCxnSpPr>
        <p:spPr>
          <a:xfrm>
            <a:off x="437288" y="1981263"/>
            <a:ext cx="10806284" cy="0"/>
          </a:xfrm>
          <a:prstGeom prst="line">
            <a:avLst/>
          </a:prstGeom>
          <a:ln>
            <a:solidFill>
              <a:srgbClr val="F0BE0F"/>
            </a:solidFill>
            <a:prstDash val="solid"/>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757B0D32-8C64-20F8-9053-EA3BFCBA5C20}"/>
              </a:ext>
            </a:extLst>
          </p:cNvPr>
          <p:cNvSpPr txBox="1"/>
          <p:nvPr/>
        </p:nvSpPr>
        <p:spPr>
          <a:xfrm>
            <a:off x="437288" y="1628412"/>
            <a:ext cx="10411685" cy="230832"/>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9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شرکت خارجی بدون هدف یا بودجه مصوب که هنوز فقط ارزیابی می‌کند آیا فرصتی در بازار ایران وجود دارد. هنوز در مرحله شناخت فرصت است، نه معامله.</a:t>
            </a:r>
          </a:p>
        </p:txBody>
      </p:sp>
      <p:sp>
        <p:nvSpPr>
          <p:cNvPr id="12" name="TextBox 11">
            <a:extLst>
              <a:ext uri="{FF2B5EF4-FFF2-40B4-BE49-F238E27FC236}">
                <a16:creationId xmlns:a16="http://schemas.microsoft.com/office/drawing/2014/main" id="{C0D6F3A1-0B70-4F40-B04A-E61B42ABDFFA}"/>
              </a:ext>
            </a:extLst>
          </p:cNvPr>
          <p:cNvSpPr txBox="1"/>
          <p:nvPr/>
        </p:nvSpPr>
        <p:spPr>
          <a:xfrm>
            <a:off x="437288" y="1396898"/>
            <a:ext cx="10411685" cy="253916"/>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450"/>
              </a:spcAft>
              <a:buClrTx/>
              <a:buSzTx/>
              <a:buFontTx/>
              <a:buNone/>
              <a:tabLst/>
              <a:defRPr/>
            </a:pPr>
            <a:r>
              <a:rPr kumimoji="0" lang="fa-IR" sz="105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کسب‌وکار کنجکاو</a:t>
            </a:r>
          </a:p>
        </p:txBody>
      </p:sp>
      <p:sp>
        <p:nvSpPr>
          <p:cNvPr id="15" name="Rectangle: Single Corner Rounded 14">
            <a:extLst>
              <a:ext uri="{FF2B5EF4-FFF2-40B4-BE49-F238E27FC236}">
                <a16:creationId xmlns:a16="http://schemas.microsoft.com/office/drawing/2014/main" id="{0E696F23-9361-F1AF-55E5-873122527913}"/>
              </a:ext>
            </a:extLst>
          </p:cNvPr>
          <p:cNvSpPr/>
          <p:nvPr/>
        </p:nvSpPr>
        <p:spPr>
          <a:xfrm>
            <a:off x="10848973" y="1346509"/>
            <a:ext cx="394599" cy="634754"/>
          </a:xfrm>
          <a:prstGeom prst="round1Rect">
            <a:avLst/>
          </a:prstGeom>
          <a:solidFill>
            <a:srgbClr val="F0BE0F">
              <a:alpha val="7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6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۴</a:t>
            </a:r>
            <a:endParaRPr kumimoji="0" lang="en-GB" sz="16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cxnSp>
        <p:nvCxnSpPr>
          <p:cNvPr id="18" name="Straight Connector 17">
            <a:extLst>
              <a:ext uri="{FF2B5EF4-FFF2-40B4-BE49-F238E27FC236}">
                <a16:creationId xmlns:a16="http://schemas.microsoft.com/office/drawing/2014/main" id="{021C6B8B-E959-CB15-3C4A-2F06828FB382}"/>
              </a:ext>
            </a:extLst>
          </p:cNvPr>
          <p:cNvCxnSpPr>
            <a:cxnSpLocks/>
          </p:cNvCxnSpPr>
          <p:nvPr/>
        </p:nvCxnSpPr>
        <p:spPr>
          <a:xfrm>
            <a:off x="4048447" y="1981263"/>
            <a:ext cx="0" cy="3766394"/>
          </a:xfrm>
          <a:prstGeom prst="line">
            <a:avLst/>
          </a:prstGeom>
          <a:ln>
            <a:solidFill>
              <a:schemeClr val="bg1">
                <a:lumMod val="85000"/>
                <a:alpha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8294468-ADE7-02CC-9316-F53CC4889F2C}"/>
              </a:ext>
            </a:extLst>
          </p:cNvPr>
          <p:cNvCxnSpPr>
            <a:cxnSpLocks/>
          </p:cNvCxnSpPr>
          <p:nvPr/>
        </p:nvCxnSpPr>
        <p:spPr>
          <a:xfrm>
            <a:off x="437288" y="2922862"/>
            <a:ext cx="10806284" cy="0"/>
          </a:xfrm>
          <a:prstGeom prst="line">
            <a:avLst/>
          </a:prstGeom>
          <a:ln>
            <a:solidFill>
              <a:schemeClr val="bg1">
                <a:lumMod val="85000"/>
                <a:alpha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F3A61D9-BE59-EC12-5C0E-2BA6CB955647}"/>
              </a:ext>
            </a:extLst>
          </p:cNvPr>
          <p:cNvCxnSpPr>
            <a:cxnSpLocks/>
          </p:cNvCxnSpPr>
          <p:nvPr/>
        </p:nvCxnSpPr>
        <p:spPr>
          <a:xfrm>
            <a:off x="437288" y="3864460"/>
            <a:ext cx="10806284" cy="0"/>
          </a:xfrm>
          <a:prstGeom prst="line">
            <a:avLst/>
          </a:prstGeom>
          <a:ln>
            <a:solidFill>
              <a:schemeClr val="bg1">
                <a:lumMod val="85000"/>
                <a:alpha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FF6711F-AFED-C92A-CB02-0BB8C9AAB091}"/>
              </a:ext>
            </a:extLst>
          </p:cNvPr>
          <p:cNvCxnSpPr>
            <a:cxnSpLocks/>
          </p:cNvCxnSpPr>
          <p:nvPr/>
        </p:nvCxnSpPr>
        <p:spPr>
          <a:xfrm>
            <a:off x="437288" y="4806059"/>
            <a:ext cx="10806284" cy="0"/>
          </a:xfrm>
          <a:prstGeom prst="line">
            <a:avLst/>
          </a:prstGeom>
          <a:ln>
            <a:solidFill>
              <a:schemeClr val="bg1">
                <a:lumMod val="85000"/>
                <a:alpha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3705295-CAB0-5112-2109-942D4120A300}"/>
              </a:ext>
            </a:extLst>
          </p:cNvPr>
          <p:cNvCxnSpPr>
            <a:cxnSpLocks/>
          </p:cNvCxnSpPr>
          <p:nvPr/>
        </p:nvCxnSpPr>
        <p:spPr>
          <a:xfrm>
            <a:off x="7646009" y="1981263"/>
            <a:ext cx="0" cy="3766394"/>
          </a:xfrm>
          <a:prstGeom prst="line">
            <a:avLst/>
          </a:prstGeom>
          <a:ln>
            <a:solidFill>
              <a:schemeClr val="bg1">
                <a:lumMod val="85000"/>
                <a:alpha val="90000"/>
              </a:schemeClr>
            </a:solidFill>
            <a:prstDash val="dash"/>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9EAD0552-9A58-0DF8-2739-3E50B96F3E3D}"/>
              </a:ext>
            </a:extLst>
          </p:cNvPr>
          <p:cNvSpPr txBox="1"/>
          <p:nvPr/>
        </p:nvSpPr>
        <p:spPr>
          <a:xfrm>
            <a:off x="7646008" y="2005725"/>
            <a:ext cx="3597561" cy="364202"/>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30" normalizeH="0" baseline="0" noProof="0" dirty="0" err="1">
                <a:ln>
                  <a:noFill/>
                </a:ln>
                <a:solidFill>
                  <a:srgbClr val="F0BE0F"/>
                </a:solidFill>
                <a:effectLst/>
                <a:uLnTx/>
                <a:uFillTx/>
                <a:latin typeface="Yekan Bakh" pitchFamily="2" charset="-78"/>
                <a:ea typeface="Yekan Bakh" pitchFamily="2" charset="-78"/>
                <a:cs typeface="Yekan Bakh" pitchFamily="2" charset="-78"/>
              </a:rPr>
              <a:t>کار</a:t>
            </a:r>
            <a:r>
              <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 ۱</a:t>
            </a:r>
          </a:p>
          <a:p>
            <a:pPr marL="0" marR="0" lvl="0" indent="0" algn="ctr" defTabSz="457200" rtl="1" eaLnBrk="1" fontAlgn="auto" latinLnBrk="0" hangingPunct="1">
              <a:lnSpc>
                <a:spcPct val="100000"/>
              </a:lnSpc>
              <a:spcBef>
                <a:spcPts val="225"/>
              </a:spcBef>
              <a:spcAft>
                <a:spcPts val="0"/>
              </a:spcAft>
              <a:buClrTx/>
              <a:buSzTx/>
              <a:buFontTx/>
              <a:buNone/>
              <a:tabLst/>
              <a:defRPr/>
            </a:pPr>
            <a:r>
              <a:rPr kumimoji="0" lang="fa-IR" sz="7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فهم چشم‌انداز فرصت در ایران بدون تعهد سرمایه یا شهرت</a:t>
            </a:r>
          </a:p>
        </p:txBody>
      </p:sp>
      <p:sp>
        <p:nvSpPr>
          <p:cNvPr id="32" name="Rectangle: Single Corner Rounded 31">
            <a:extLst>
              <a:ext uri="{FF2B5EF4-FFF2-40B4-BE49-F238E27FC236}">
                <a16:creationId xmlns:a16="http://schemas.microsoft.com/office/drawing/2014/main" id="{1724DA0D-F41E-3902-01F0-765059F35AA4}"/>
              </a:ext>
            </a:extLst>
          </p:cNvPr>
          <p:cNvSpPr/>
          <p:nvPr/>
        </p:nvSpPr>
        <p:spPr>
          <a:xfrm flipV="1">
            <a:off x="9442559" y="2423615"/>
            <a:ext cx="1734201" cy="454939"/>
          </a:xfrm>
          <a:prstGeom prst="round1Rect">
            <a:avLst/>
          </a:prstGeom>
          <a:solidFill>
            <a:srgbClr val="F0BE0F">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34" name="Rectangle: Single Corner Rounded 33">
            <a:extLst>
              <a:ext uri="{FF2B5EF4-FFF2-40B4-BE49-F238E27FC236}">
                <a16:creationId xmlns:a16="http://schemas.microsoft.com/office/drawing/2014/main" id="{1E6460D5-16F3-DC61-1CBA-74B958ECEC9C}"/>
              </a:ext>
            </a:extLst>
          </p:cNvPr>
          <p:cNvSpPr/>
          <p:nvPr/>
        </p:nvSpPr>
        <p:spPr>
          <a:xfrm flipH="1" flipV="1">
            <a:off x="7712817" y="2423615"/>
            <a:ext cx="1734201" cy="454939"/>
          </a:xfrm>
          <a:prstGeom prst="round1Rect">
            <a:avLst/>
          </a:prstGeom>
          <a:solidFill>
            <a:srgbClr val="1E2761">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36" name="TextBox 35">
            <a:extLst>
              <a:ext uri="{FF2B5EF4-FFF2-40B4-BE49-F238E27FC236}">
                <a16:creationId xmlns:a16="http://schemas.microsoft.com/office/drawing/2014/main" id="{9C333598-07A4-6344-B4C7-FF66224763ED}"/>
              </a:ext>
            </a:extLst>
          </p:cNvPr>
          <p:cNvSpPr txBox="1"/>
          <p:nvPr/>
        </p:nvSpPr>
        <p:spPr>
          <a:xfrm>
            <a:off x="9442559" y="2416770"/>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دردسر</a:t>
            </a:r>
            <a:endParaRPr kumimoji="0" lang="en-GB"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p:txBody>
      </p:sp>
      <p:sp>
        <p:nvSpPr>
          <p:cNvPr id="37" name="TextBox 36">
            <a:extLst>
              <a:ext uri="{FF2B5EF4-FFF2-40B4-BE49-F238E27FC236}">
                <a16:creationId xmlns:a16="http://schemas.microsoft.com/office/drawing/2014/main" id="{3D08545E-F057-A8CF-74A6-5FBD13C74298}"/>
              </a:ext>
            </a:extLst>
          </p:cNvPr>
          <p:cNvSpPr txBox="1"/>
          <p:nvPr/>
        </p:nvSpPr>
        <p:spPr>
          <a:xfrm>
            <a:off x="7710588" y="2416770"/>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منفعت</a:t>
            </a:r>
          </a:p>
        </p:txBody>
      </p:sp>
      <p:sp>
        <p:nvSpPr>
          <p:cNvPr id="39" name="TextBox 38">
            <a:extLst>
              <a:ext uri="{FF2B5EF4-FFF2-40B4-BE49-F238E27FC236}">
                <a16:creationId xmlns:a16="http://schemas.microsoft.com/office/drawing/2014/main" id="{0A4B64B6-638A-77C2-821C-E688B1B9DBBE}"/>
              </a:ext>
            </a:extLst>
          </p:cNvPr>
          <p:cNvSpPr txBox="1"/>
          <p:nvPr/>
        </p:nvSpPr>
        <p:spPr>
          <a:xfrm>
            <a:off x="9442555" y="2556934"/>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نبود منبع اطلاعاتی معتبر و به‌روز درباره این بازار خاص.</a:t>
            </a:r>
          </a:p>
        </p:txBody>
      </p:sp>
      <p:sp>
        <p:nvSpPr>
          <p:cNvPr id="40" name="TextBox 39">
            <a:extLst>
              <a:ext uri="{FF2B5EF4-FFF2-40B4-BE49-F238E27FC236}">
                <a16:creationId xmlns:a16="http://schemas.microsoft.com/office/drawing/2014/main" id="{9B23AEF5-D356-8F8D-3838-34AC6A1AF517}"/>
              </a:ext>
            </a:extLst>
          </p:cNvPr>
          <p:cNvSpPr txBox="1"/>
          <p:nvPr/>
        </p:nvSpPr>
        <p:spPr>
          <a:xfrm>
            <a:off x="7709465" y="2556934"/>
            <a:ext cx="1731975" cy="184666"/>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تصویر روشن از فرصت بدون تحمل ریسک تعهد.</a:t>
            </a:r>
          </a:p>
        </p:txBody>
      </p:sp>
      <p:sp>
        <p:nvSpPr>
          <p:cNvPr id="43" name="TextBox 42">
            <a:extLst>
              <a:ext uri="{FF2B5EF4-FFF2-40B4-BE49-F238E27FC236}">
                <a16:creationId xmlns:a16="http://schemas.microsoft.com/office/drawing/2014/main" id="{A15D77F2-28C3-00F0-CBB8-3AE322D35936}"/>
              </a:ext>
            </a:extLst>
          </p:cNvPr>
          <p:cNvSpPr txBox="1"/>
          <p:nvPr/>
        </p:nvSpPr>
        <p:spPr>
          <a:xfrm>
            <a:off x="4048448" y="2005725"/>
            <a:ext cx="3597561" cy="364202"/>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30" normalizeH="0" baseline="0" noProof="0" dirty="0" err="1">
                <a:ln>
                  <a:noFill/>
                </a:ln>
                <a:solidFill>
                  <a:srgbClr val="F0BE0F"/>
                </a:solidFill>
                <a:effectLst/>
                <a:uLnTx/>
                <a:uFillTx/>
                <a:latin typeface="Yekan Bakh" pitchFamily="2" charset="-78"/>
                <a:ea typeface="Yekan Bakh" pitchFamily="2" charset="-78"/>
                <a:cs typeface="Yekan Bakh" pitchFamily="2" charset="-78"/>
              </a:rPr>
              <a:t>کار</a:t>
            </a:r>
            <a:r>
              <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 </a:t>
            </a:r>
            <a:r>
              <a:rPr kumimoji="0" lang="fa-IR"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۲</a:t>
            </a:r>
            <a:endPar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225"/>
              </a:spcBef>
              <a:spcAft>
                <a:spcPts val="0"/>
              </a:spcAft>
              <a:buClrTx/>
              <a:buSzTx/>
              <a:buFontTx/>
              <a:buNone/>
              <a:tabLst/>
              <a:defRPr/>
            </a:pPr>
            <a:r>
              <a:rPr kumimoji="0" lang="fa-IR" sz="7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فهم دقیق مرز مقرراتی و انطباق پیش از هر گام تجاری</a:t>
            </a:r>
          </a:p>
        </p:txBody>
      </p:sp>
      <p:sp>
        <p:nvSpPr>
          <p:cNvPr id="44" name="Rectangle: Single Corner Rounded 43">
            <a:extLst>
              <a:ext uri="{FF2B5EF4-FFF2-40B4-BE49-F238E27FC236}">
                <a16:creationId xmlns:a16="http://schemas.microsoft.com/office/drawing/2014/main" id="{324985D9-C5A1-37D5-2F27-EE340945E02F}"/>
              </a:ext>
            </a:extLst>
          </p:cNvPr>
          <p:cNvSpPr/>
          <p:nvPr/>
        </p:nvSpPr>
        <p:spPr>
          <a:xfrm flipV="1">
            <a:off x="5844999" y="2423615"/>
            <a:ext cx="1734201" cy="454939"/>
          </a:xfrm>
          <a:prstGeom prst="round1Rect">
            <a:avLst/>
          </a:prstGeom>
          <a:solidFill>
            <a:srgbClr val="F0BE0F">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5" name="Rectangle: Single Corner Rounded 44">
            <a:extLst>
              <a:ext uri="{FF2B5EF4-FFF2-40B4-BE49-F238E27FC236}">
                <a16:creationId xmlns:a16="http://schemas.microsoft.com/office/drawing/2014/main" id="{D9463628-0F44-5E23-205E-AFF50FC8EFBD}"/>
              </a:ext>
            </a:extLst>
          </p:cNvPr>
          <p:cNvSpPr/>
          <p:nvPr/>
        </p:nvSpPr>
        <p:spPr>
          <a:xfrm flipH="1" flipV="1">
            <a:off x="4115257" y="2423615"/>
            <a:ext cx="1734201" cy="454939"/>
          </a:xfrm>
          <a:prstGeom prst="round1Rect">
            <a:avLst/>
          </a:prstGeom>
          <a:solidFill>
            <a:srgbClr val="1E2761">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6" name="TextBox 45">
            <a:extLst>
              <a:ext uri="{FF2B5EF4-FFF2-40B4-BE49-F238E27FC236}">
                <a16:creationId xmlns:a16="http://schemas.microsoft.com/office/drawing/2014/main" id="{104FB438-1065-ADAD-9E87-EFDD5F718905}"/>
              </a:ext>
            </a:extLst>
          </p:cNvPr>
          <p:cNvSpPr txBox="1"/>
          <p:nvPr/>
        </p:nvSpPr>
        <p:spPr>
          <a:xfrm>
            <a:off x="5844999" y="2416770"/>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دردسر</a:t>
            </a:r>
            <a:endParaRPr kumimoji="0" lang="en-GB"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p:txBody>
      </p:sp>
      <p:sp>
        <p:nvSpPr>
          <p:cNvPr id="47" name="TextBox 46">
            <a:extLst>
              <a:ext uri="{FF2B5EF4-FFF2-40B4-BE49-F238E27FC236}">
                <a16:creationId xmlns:a16="http://schemas.microsoft.com/office/drawing/2014/main" id="{F0A62796-A1FD-CBBA-7132-567BE97AC5EC}"/>
              </a:ext>
            </a:extLst>
          </p:cNvPr>
          <p:cNvSpPr txBox="1"/>
          <p:nvPr/>
        </p:nvSpPr>
        <p:spPr>
          <a:xfrm>
            <a:off x="4113028" y="2416770"/>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منفعت</a:t>
            </a:r>
          </a:p>
        </p:txBody>
      </p:sp>
      <p:sp>
        <p:nvSpPr>
          <p:cNvPr id="48" name="TextBox 47">
            <a:extLst>
              <a:ext uri="{FF2B5EF4-FFF2-40B4-BE49-F238E27FC236}">
                <a16:creationId xmlns:a16="http://schemas.microsoft.com/office/drawing/2014/main" id="{04A3638F-E2E0-3516-9785-DDB6057AC434}"/>
              </a:ext>
            </a:extLst>
          </p:cNvPr>
          <p:cNvSpPr txBox="1"/>
          <p:nvPr/>
        </p:nvSpPr>
        <p:spPr>
          <a:xfrm>
            <a:off x="5844995" y="2556934"/>
            <a:ext cx="1731975" cy="184666"/>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ابهام قانونی و ریسک نقض ناخواسته مقررات.</a:t>
            </a:r>
          </a:p>
        </p:txBody>
      </p:sp>
      <p:sp>
        <p:nvSpPr>
          <p:cNvPr id="49" name="TextBox 48">
            <a:extLst>
              <a:ext uri="{FF2B5EF4-FFF2-40B4-BE49-F238E27FC236}">
                <a16:creationId xmlns:a16="http://schemas.microsoft.com/office/drawing/2014/main" id="{FCA1F2DB-C475-D696-8A5A-28E65811E387}"/>
              </a:ext>
            </a:extLst>
          </p:cNvPr>
          <p:cNvSpPr txBox="1"/>
          <p:nvPr/>
        </p:nvSpPr>
        <p:spPr>
          <a:xfrm>
            <a:off x="4111905" y="2556934"/>
            <a:ext cx="1731975" cy="184666"/>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کاوش ایمن در چارچوب قانونی روشن.</a:t>
            </a:r>
          </a:p>
        </p:txBody>
      </p:sp>
      <p:sp>
        <p:nvSpPr>
          <p:cNvPr id="59" name="TextBox 58">
            <a:extLst>
              <a:ext uri="{FF2B5EF4-FFF2-40B4-BE49-F238E27FC236}">
                <a16:creationId xmlns:a16="http://schemas.microsoft.com/office/drawing/2014/main" id="{CEC6E861-C3C5-8882-6A3D-67E2A4E4F701}"/>
              </a:ext>
            </a:extLst>
          </p:cNvPr>
          <p:cNvSpPr txBox="1"/>
          <p:nvPr/>
        </p:nvSpPr>
        <p:spPr>
          <a:xfrm>
            <a:off x="438700" y="2005725"/>
            <a:ext cx="3597561" cy="364202"/>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30" normalizeH="0" baseline="0" noProof="0" dirty="0" err="1">
                <a:ln>
                  <a:noFill/>
                </a:ln>
                <a:solidFill>
                  <a:srgbClr val="F0BE0F"/>
                </a:solidFill>
                <a:effectLst/>
                <a:uLnTx/>
                <a:uFillTx/>
                <a:latin typeface="Yekan Bakh" pitchFamily="2" charset="-78"/>
                <a:ea typeface="Yekan Bakh" pitchFamily="2" charset="-78"/>
                <a:cs typeface="Yekan Bakh" pitchFamily="2" charset="-78"/>
              </a:rPr>
              <a:t>کار</a:t>
            </a:r>
            <a:r>
              <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 </a:t>
            </a:r>
            <a:r>
              <a:rPr kumimoji="0" lang="fa-IR"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۳</a:t>
            </a:r>
            <a:endPar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225"/>
              </a:spcBef>
              <a:spcAft>
                <a:spcPts val="0"/>
              </a:spcAft>
              <a:buClrTx/>
              <a:buSzTx/>
              <a:buFontTx/>
              <a:buNone/>
              <a:tabLst/>
              <a:defRPr/>
            </a:pPr>
            <a:r>
              <a:rPr kumimoji="0" lang="fa-IR" sz="7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ساخت پرونده و توجیه داخلی قابل‌دفاع برای ادامه کاوش این بازار</a:t>
            </a:r>
          </a:p>
        </p:txBody>
      </p:sp>
      <p:sp>
        <p:nvSpPr>
          <p:cNvPr id="60" name="Rectangle: Single Corner Rounded 59">
            <a:extLst>
              <a:ext uri="{FF2B5EF4-FFF2-40B4-BE49-F238E27FC236}">
                <a16:creationId xmlns:a16="http://schemas.microsoft.com/office/drawing/2014/main" id="{E10FCF90-1F4C-B3E6-B1C4-CE020D9AA722}"/>
              </a:ext>
            </a:extLst>
          </p:cNvPr>
          <p:cNvSpPr/>
          <p:nvPr/>
        </p:nvSpPr>
        <p:spPr>
          <a:xfrm flipV="1">
            <a:off x="2235251" y="2423615"/>
            <a:ext cx="1734201" cy="454939"/>
          </a:xfrm>
          <a:prstGeom prst="round1Rect">
            <a:avLst/>
          </a:prstGeom>
          <a:solidFill>
            <a:srgbClr val="F0BE0F">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61" name="Rectangle: Single Corner Rounded 60">
            <a:extLst>
              <a:ext uri="{FF2B5EF4-FFF2-40B4-BE49-F238E27FC236}">
                <a16:creationId xmlns:a16="http://schemas.microsoft.com/office/drawing/2014/main" id="{3EDC4240-84EA-6DBA-2B01-F10EB431BCBE}"/>
              </a:ext>
            </a:extLst>
          </p:cNvPr>
          <p:cNvSpPr/>
          <p:nvPr/>
        </p:nvSpPr>
        <p:spPr>
          <a:xfrm flipH="1" flipV="1">
            <a:off x="505509" y="2423615"/>
            <a:ext cx="1734201" cy="454939"/>
          </a:xfrm>
          <a:prstGeom prst="round1Rect">
            <a:avLst/>
          </a:prstGeom>
          <a:solidFill>
            <a:srgbClr val="1E2761">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62" name="TextBox 61">
            <a:extLst>
              <a:ext uri="{FF2B5EF4-FFF2-40B4-BE49-F238E27FC236}">
                <a16:creationId xmlns:a16="http://schemas.microsoft.com/office/drawing/2014/main" id="{57DC421B-BE84-CBCE-6048-01A44C7BF3AE}"/>
              </a:ext>
            </a:extLst>
          </p:cNvPr>
          <p:cNvSpPr txBox="1"/>
          <p:nvPr/>
        </p:nvSpPr>
        <p:spPr>
          <a:xfrm>
            <a:off x="2235251" y="2416770"/>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دردسر</a:t>
            </a:r>
            <a:endParaRPr kumimoji="0" lang="en-GB"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p:txBody>
      </p:sp>
      <p:sp>
        <p:nvSpPr>
          <p:cNvPr id="63" name="TextBox 62">
            <a:extLst>
              <a:ext uri="{FF2B5EF4-FFF2-40B4-BE49-F238E27FC236}">
                <a16:creationId xmlns:a16="http://schemas.microsoft.com/office/drawing/2014/main" id="{69E5C516-F73D-06B5-F87C-4085CBE8E3D5}"/>
              </a:ext>
            </a:extLst>
          </p:cNvPr>
          <p:cNvSpPr txBox="1"/>
          <p:nvPr/>
        </p:nvSpPr>
        <p:spPr>
          <a:xfrm>
            <a:off x="503280" y="2416770"/>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منفعت</a:t>
            </a:r>
          </a:p>
        </p:txBody>
      </p:sp>
      <p:sp>
        <p:nvSpPr>
          <p:cNvPr id="64" name="TextBox 63">
            <a:extLst>
              <a:ext uri="{FF2B5EF4-FFF2-40B4-BE49-F238E27FC236}">
                <a16:creationId xmlns:a16="http://schemas.microsoft.com/office/drawing/2014/main" id="{7590722D-E20E-E15A-91BA-0854434667AE}"/>
              </a:ext>
            </a:extLst>
          </p:cNvPr>
          <p:cNvSpPr txBox="1"/>
          <p:nvPr/>
        </p:nvSpPr>
        <p:spPr>
          <a:xfrm>
            <a:off x="2235247" y="2556934"/>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مقاومت داخلی و ریسک شهرتی حتی برای بررسی اولیه.</a:t>
            </a:r>
          </a:p>
        </p:txBody>
      </p:sp>
      <p:sp>
        <p:nvSpPr>
          <p:cNvPr id="65" name="TextBox 64">
            <a:extLst>
              <a:ext uri="{FF2B5EF4-FFF2-40B4-BE49-F238E27FC236}">
                <a16:creationId xmlns:a16="http://schemas.microsoft.com/office/drawing/2014/main" id="{9161DCFF-3CC0-5CAE-3495-CEB36D350F07}"/>
              </a:ext>
            </a:extLst>
          </p:cNvPr>
          <p:cNvSpPr txBox="1"/>
          <p:nvPr/>
        </p:nvSpPr>
        <p:spPr>
          <a:xfrm>
            <a:off x="502157" y="2556934"/>
            <a:ext cx="1731975" cy="184666"/>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کسب مجوز داخلی برای ادامه مسیر کاوش.</a:t>
            </a:r>
          </a:p>
        </p:txBody>
      </p:sp>
      <p:sp>
        <p:nvSpPr>
          <p:cNvPr id="67" name="TextBox 66">
            <a:extLst>
              <a:ext uri="{FF2B5EF4-FFF2-40B4-BE49-F238E27FC236}">
                <a16:creationId xmlns:a16="http://schemas.microsoft.com/office/drawing/2014/main" id="{2AEB65FC-640C-87C7-D34A-D7073FFF4787}"/>
              </a:ext>
            </a:extLst>
          </p:cNvPr>
          <p:cNvSpPr txBox="1"/>
          <p:nvPr/>
        </p:nvSpPr>
        <p:spPr>
          <a:xfrm>
            <a:off x="7646008" y="2949501"/>
            <a:ext cx="3597561" cy="364202"/>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30" normalizeH="0" baseline="0" noProof="0" dirty="0" err="1">
                <a:ln>
                  <a:noFill/>
                </a:ln>
                <a:solidFill>
                  <a:srgbClr val="F0BE0F"/>
                </a:solidFill>
                <a:effectLst/>
                <a:uLnTx/>
                <a:uFillTx/>
                <a:latin typeface="Yekan Bakh" pitchFamily="2" charset="-78"/>
                <a:ea typeface="Yekan Bakh" pitchFamily="2" charset="-78"/>
                <a:cs typeface="Yekan Bakh" pitchFamily="2" charset="-78"/>
              </a:rPr>
              <a:t>کار</a:t>
            </a:r>
            <a:r>
              <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 </a:t>
            </a:r>
            <a:r>
              <a:rPr kumimoji="0" lang="fa-IR"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۴</a:t>
            </a:r>
            <a:endPar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225"/>
              </a:spcBef>
              <a:spcAft>
                <a:spcPts val="0"/>
              </a:spcAft>
              <a:buClrTx/>
              <a:buSzTx/>
              <a:buFontTx/>
              <a:buNone/>
              <a:tabLst/>
              <a:defRPr/>
            </a:pPr>
            <a:r>
              <a:rPr kumimoji="0" lang="fa-IR" sz="7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آمادگی برای حرکت سریع در صورت تغییر شرایط سیاسی یا اقتصادی</a:t>
            </a:r>
          </a:p>
        </p:txBody>
      </p:sp>
      <p:sp>
        <p:nvSpPr>
          <p:cNvPr id="68" name="Rectangle: Single Corner Rounded 67">
            <a:extLst>
              <a:ext uri="{FF2B5EF4-FFF2-40B4-BE49-F238E27FC236}">
                <a16:creationId xmlns:a16="http://schemas.microsoft.com/office/drawing/2014/main" id="{FCD13FDF-E74B-556D-CEE7-1DBB92824EF7}"/>
              </a:ext>
            </a:extLst>
          </p:cNvPr>
          <p:cNvSpPr/>
          <p:nvPr/>
        </p:nvSpPr>
        <p:spPr>
          <a:xfrm flipV="1">
            <a:off x="9442559" y="3367391"/>
            <a:ext cx="1734201" cy="454939"/>
          </a:xfrm>
          <a:prstGeom prst="round1Rect">
            <a:avLst/>
          </a:prstGeom>
          <a:solidFill>
            <a:srgbClr val="F0BE0F">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69" name="Rectangle: Single Corner Rounded 68">
            <a:extLst>
              <a:ext uri="{FF2B5EF4-FFF2-40B4-BE49-F238E27FC236}">
                <a16:creationId xmlns:a16="http://schemas.microsoft.com/office/drawing/2014/main" id="{4E09A77F-9E67-60C6-208D-D88371D08DA1}"/>
              </a:ext>
            </a:extLst>
          </p:cNvPr>
          <p:cNvSpPr/>
          <p:nvPr/>
        </p:nvSpPr>
        <p:spPr>
          <a:xfrm flipH="1" flipV="1">
            <a:off x="7712817" y="3367391"/>
            <a:ext cx="1734201" cy="454939"/>
          </a:xfrm>
          <a:prstGeom prst="round1Rect">
            <a:avLst/>
          </a:prstGeom>
          <a:solidFill>
            <a:srgbClr val="1E2761">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70" name="TextBox 69">
            <a:extLst>
              <a:ext uri="{FF2B5EF4-FFF2-40B4-BE49-F238E27FC236}">
                <a16:creationId xmlns:a16="http://schemas.microsoft.com/office/drawing/2014/main" id="{58A94F5A-5E76-12F1-91A7-BA89919F792F}"/>
              </a:ext>
            </a:extLst>
          </p:cNvPr>
          <p:cNvSpPr txBox="1"/>
          <p:nvPr/>
        </p:nvSpPr>
        <p:spPr>
          <a:xfrm>
            <a:off x="9442559" y="3360546"/>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دردسر</a:t>
            </a:r>
            <a:endParaRPr kumimoji="0" lang="en-GB"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p:txBody>
      </p:sp>
      <p:sp>
        <p:nvSpPr>
          <p:cNvPr id="71" name="TextBox 70">
            <a:extLst>
              <a:ext uri="{FF2B5EF4-FFF2-40B4-BE49-F238E27FC236}">
                <a16:creationId xmlns:a16="http://schemas.microsoft.com/office/drawing/2014/main" id="{20626B92-C8F0-B643-F599-1A3AEFD11A1F}"/>
              </a:ext>
            </a:extLst>
          </p:cNvPr>
          <p:cNvSpPr txBox="1"/>
          <p:nvPr/>
        </p:nvSpPr>
        <p:spPr>
          <a:xfrm>
            <a:off x="7710588" y="3360546"/>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منفعت</a:t>
            </a:r>
          </a:p>
        </p:txBody>
      </p:sp>
      <p:sp>
        <p:nvSpPr>
          <p:cNvPr id="72" name="TextBox 71">
            <a:extLst>
              <a:ext uri="{FF2B5EF4-FFF2-40B4-BE49-F238E27FC236}">
                <a16:creationId xmlns:a16="http://schemas.microsoft.com/office/drawing/2014/main" id="{3803EEF4-D20D-4800-7991-BCB7C6114DF9}"/>
              </a:ext>
            </a:extLst>
          </p:cNvPr>
          <p:cNvSpPr txBox="1"/>
          <p:nvPr/>
        </p:nvSpPr>
        <p:spPr>
          <a:xfrm>
            <a:off x="9442555" y="3500710"/>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از دست دادن فرصت به‌دلیل کندی واکنش سازمانی.</a:t>
            </a:r>
          </a:p>
        </p:txBody>
      </p:sp>
      <p:sp>
        <p:nvSpPr>
          <p:cNvPr id="73" name="TextBox 72">
            <a:extLst>
              <a:ext uri="{FF2B5EF4-FFF2-40B4-BE49-F238E27FC236}">
                <a16:creationId xmlns:a16="http://schemas.microsoft.com/office/drawing/2014/main" id="{6F255A5D-6DED-8C01-56E2-815652FE6655}"/>
              </a:ext>
            </a:extLst>
          </p:cNvPr>
          <p:cNvSpPr txBox="1"/>
          <p:nvPr/>
        </p:nvSpPr>
        <p:spPr>
          <a:xfrm>
            <a:off x="7709465" y="3500710"/>
            <a:ext cx="1731975" cy="184666"/>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مزیت رقابتی در زمان ورود نسبت به رقبا.</a:t>
            </a:r>
          </a:p>
        </p:txBody>
      </p:sp>
      <p:sp>
        <p:nvSpPr>
          <p:cNvPr id="75" name="TextBox 74">
            <a:extLst>
              <a:ext uri="{FF2B5EF4-FFF2-40B4-BE49-F238E27FC236}">
                <a16:creationId xmlns:a16="http://schemas.microsoft.com/office/drawing/2014/main" id="{85B0896E-520C-226E-DA63-263F799976C4}"/>
              </a:ext>
            </a:extLst>
          </p:cNvPr>
          <p:cNvSpPr txBox="1"/>
          <p:nvPr/>
        </p:nvSpPr>
        <p:spPr>
          <a:xfrm>
            <a:off x="4048448" y="2949501"/>
            <a:ext cx="3597561" cy="364202"/>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30" normalizeH="0" baseline="0" noProof="0" dirty="0" err="1">
                <a:ln>
                  <a:noFill/>
                </a:ln>
                <a:solidFill>
                  <a:srgbClr val="F0BE0F"/>
                </a:solidFill>
                <a:effectLst/>
                <a:uLnTx/>
                <a:uFillTx/>
                <a:latin typeface="Yekan Bakh" pitchFamily="2" charset="-78"/>
                <a:ea typeface="Yekan Bakh" pitchFamily="2" charset="-78"/>
                <a:cs typeface="Yekan Bakh" pitchFamily="2" charset="-78"/>
              </a:rPr>
              <a:t>کار</a:t>
            </a:r>
            <a:r>
              <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 </a:t>
            </a:r>
            <a:r>
              <a:rPr kumimoji="0" lang="fa-IR"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۵</a:t>
            </a:r>
            <a:endPar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225"/>
              </a:spcBef>
              <a:spcAft>
                <a:spcPts val="0"/>
              </a:spcAft>
              <a:buClrTx/>
              <a:buSzTx/>
              <a:buFontTx/>
              <a:buNone/>
              <a:tabLst/>
              <a:defRPr/>
            </a:pPr>
            <a:r>
              <a:rPr kumimoji="0" lang="fa-IR" sz="7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کاهش عدم‌قطعیت درباره موانع واقعی ورود پیش از هرگونه تعهد جدی</a:t>
            </a:r>
          </a:p>
        </p:txBody>
      </p:sp>
      <p:sp>
        <p:nvSpPr>
          <p:cNvPr id="76" name="Rectangle: Single Corner Rounded 75">
            <a:extLst>
              <a:ext uri="{FF2B5EF4-FFF2-40B4-BE49-F238E27FC236}">
                <a16:creationId xmlns:a16="http://schemas.microsoft.com/office/drawing/2014/main" id="{ABEA525A-7789-A420-0F7E-F75DC44558EE}"/>
              </a:ext>
            </a:extLst>
          </p:cNvPr>
          <p:cNvSpPr/>
          <p:nvPr/>
        </p:nvSpPr>
        <p:spPr>
          <a:xfrm flipV="1">
            <a:off x="5844999" y="3367391"/>
            <a:ext cx="1734201" cy="454939"/>
          </a:xfrm>
          <a:prstGeom prst="round1Rect">
            <a:avLst/>
          </a:prstGeom>
          <a:solidFill>
            <a:srgbClr val="F0BE0F">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77" name="Rectangle: Single Corner Rounded 76">
            <a:extLst>
              <a:ext uri="{FF2B5EF4-FFF2-40B4-BE49-F238E27FC236}">
                <a16:creationId xmlns:a16="http://schemas.microsoft.com/office/drawing/2014/main" id="{4DFD5F2B-2C99-9E22-8A72-3B72B844CC02}"/>
              </a:ext>
            </a:extLst>
          </p:cNvPr>
          <p:cNvSpPr/>
          <p:nvPr/>
        </p:nvSpPr>
        <p:spPr>
          <a:xfrm flipH="1" flipV="1">
            <a:off x="4115257" y="3367391"/>
            <a:ext cx="1734201" cy="454939"/>
          </a:xfrm>
          <a:prstGeom prst="round1Rect">
            <a:avLst/>
          </a:prstGeom>
          <a:solidFill>
            <a:srgbClr val="1E2761">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78" name="TextBox 77">
            <a:extLst>
              <a:ext uri="{FF2B5EF4-FFF2-40B4-BE49-F238E27FC236}">
                <a16:creationId xmlns:a16="http://schemas.microsoft.com/office/drawing/2014/main" id="{F76748E0-A9E9-FAA2-AA77-EB5D89F54163}"/>
              </a:ext>
            </a:extLst>
          </p:cNvPr>
          <p:cNvSpPr txBox="1"/>
          <p:nvPr/>
        </p:nvSpPr>
        <p:spPr>
          <a:xfrm>
            <a:off x="5844999" y="3360546"/>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دردسر</a:t>
            </a:r>
            <a:endParaRPr kumimoji="0" lang="en-GB"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p:txBody>
      </p:sp>
      <p:sp>
        <p:nvSpPr>
          <p:cNvPr id="79" name="TextBox 78">
            <a:extLst>
              <a:ext uri="{FF2B5EF4-FFF2-40B4-BE49-F238E27FC236}">
                <a16:creationId xmlns:a16="http://schemas.microsoft.com/office/drawing/2014/main" id="{4891574D-AC93-5BB5-42BB-E40BE656546A}"/>
              </a:ext>
            </a:extLst>
          </p:cNvPr>
          <p:cNvSpPr txBox="1"/>
          <p:nvPr/>
        </p:nvSpPr>
        <p:spPr>
          <a:xfrm>
            <a:off x="4113028" y="3360546"/>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منفعت</a:t>
            </a:r>
          </a:p>
        </p:txBody>
      </p:sp>
      <p:sp>
        <p:nvSpPr>
          <p:cNvPr id="80" name="TextBox 79">
            <a:extLst>
              <a:ext uri="{FF2B5EF4-FFF2-40B4-BE49-F238E27FC236}">
                <a16:creationId xmlns:a16="http://schemas.microsoft.com/office/drawing/2014/main" id="{21DD77A4-0BD4-842E-8AC7-73A29C2C950A}"/>
              </a:ext>
            </a:extLst>
          </p:cNvPr>
          <p:cNvSpPr txBox="1"/>
          <p:nvPr/>
        </p:nvSpPr>
        <p:spPr>
          <a:xfrm>
            <a:off x="5844995" y="3500710"/>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نبود داده قابل‌اتکا و به‌روز درباره محیط کسب‌وکار مقصد.</a:t>
            </a:r>
          </a:p>
        </p:txBody>
      </p:sp>
      <p:sp>
        <p:nvSpPr>
          <p:cNvPr id="81" name="TextBox 80">
            <a:extLst>
              <a:ext uri="{FF2B5EF4-FFF2-40B4-BE49-F238E27FC236}">
                <a16:creationId xmlns:a16="http://schemas.microsoft.com/office/drawing/2014/main" id="{4D3B80BA-ADFF-B271-4827-2AE1CEB74D2B}"/>
              </a:ext>
            </a:extLst>
          </p:cNvPr>
          <p:cNvSpPr txBox="1"/>
          <p:nvPr/>
        </p:nvSpPr>
        <p:spPr>
          <a:xfrm>
            <a:off x="4111905" y="3500710"/>
            <a:ext cx="1731975" cy="184666"/>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تصمیم برو/نرو مبتنی بر شواهد، نه حدس.</a:t>
            </a:r>
          </a:p>
        </p:txBody>
      </p:sp>
      <p:sp>
        <p:nvSpPr>
          <p:cNvPr id="83" name="TextBox 82">
            <a:extLst>
              <a:ext uri="{FF2B5EF4-FFF2-40B4-BE49-F238E27FC236}">
                <a16:creationId xmlns:a16="http://schemas.microsoft.com/office/drawing/2014/main" id="{600BBF18-4D87-E524-82E6-3C3DB823EC17}"/>
              </a:ext>
            </a:extLst>
          </p:cNvPr>
          <p:cNvSpPr txBox="1"/>
          <p:nvPr/>
        </p:nvSpPr>
        <p:spPr>
          <a:xfrm>
            <a:off x="438700" y="2949501"/>
            <a:ext cx="3597561" cy="364202"/>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30" normalizeH="0" baseline="0" noProof="0" dirty="0" err="1">
                <a:ln>
                  <a:noFill/>
                </a:ln>
                <a:solidFill>
                  <a:srgbClr val="F0BE0F"/>
                </a:solidFill>
                <a:effectLst/>
                <a:uLnTx/>
                <a:uFillTx/>
                <a:latin typeface="Yekan Bakh" pitchFamily="2" charset="-78"/>
                <a:ea typeface="Yekan Bakh" pitchFamily="2" charset="-78"/>
                <a:cs typeface="Yekan Bakh" pitchFamily="2" charset="-78"/>
              </a:rPr>
              <a:t>کار</a:t>
            </a:r>
            <a:r>
              <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 </a:t>
            </a:r>
            <a:r>
              <a:rPr kumimoji="0" lang="fa-IR"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۶</a:t>
            </a:r>
            <a:endPar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225"/>
              </a:spcBef>
              <a:spcAft>
                <a:spcPts val="0"/>
              </a:spcAft>
              <a:buClrTx/>
              <a:buSzTx/>
              <a:buFontTx/>
              <a:buNone/>
              <a:tabLst/>
              <a:defRPr/>
            </a:pPr>
            <a:r>
              <a:rPr kumimoji="0" lang="fa-IR" sz="7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آزمودن بازار از طریق مسیر ورود کم‌هزینه و کم‌تعهد پیش از تصمیم بزرگ</a:t>
            </a:r>
          </a:p>
        </p:txBody>
      </p:sp>
      <p:sp>
        <p:nvSpPr>
          <p:cNvPr id="84" name="Rectangle: Single Corner Rounded 83">
            <a:extLst>
              <a:ext uri="{FF2B5EF4-FFF2-40B4-BE49-F238E27FC236}">
                <a16:creationId xmlns:a16="http://schemas.microsoft.com/office/drawing/2014/main" id="{601A055F-6563-7F44-4D2F-FA702857E9FB}"/>
              </a:ext>
            </a:extLst>
          </p:cNvPr>
          <p:cNvSpPr/>
          <p:nvPr/>
        </p:nvSpPr>
        <p:spPr>
          <a:xfrm flipV="1">
            <a:off x="2235251" y="3367391"/>
            <a:ext cx="1734201" cy="454939"/>
          </a:xfrm>
          <a:prstGeom prst="round1Rect">
            <a:avLst/>
          </a:prstGeom>
          <a:solidFill>
            <a:srgbClr val="F0BE0F">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85" name="Rectangle: Single Corner Rounded 84">
            <a:extLst>
              <a:ext uri="{FF2B5EF4-FFF2-40B4-BE49-F238E27FC236}">
                <a16:creationId xmlns:a16="http://schemas.microsoft.com/office/drawing/2014/main" id="{E8428D9A-B971-6365-4DA2-45E8E40DB5D9}"/>
              </a:ext>
            </a:extLst>
          </p:cNvPr>
          <p:cNvSpPr/>
          <p:nvPr/>
        </p:nvSpPr>
        <p:spPr>
          <a:xfrm flipH="1" flipV="1">
            <a:off x="505509" y="3367391"/>
            <a:ext cx="1734201" cy="454939"/>
          </a:xfrm>
          <a:prstGeom prst="round1Rect">
            <a:avLst/>
          </a:prstGeom>
          <a:solidFill>
            <a:srgbClr val="1E2761">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86" name="TextBox 85">
            <a:extLst>
              <a:ext uri="{FF2B5EF4-FFF2-40B4-BE49-F238E27FC236}">
                <a16:creationId xmlns:a16="http://schemas.microsoft.com/office/drawing/2014/main" id="{81BF45ED-E661-898F-0D12-E0163E80D62C}"/>
              </a:ext>
            </a:extLst>
          </p:cNvPr>
          <p:cNvSpPr txBox="1"/>
          <p:nvPr/>
        </p:nvSpPr>
        <p:spPr>
          <a:xfrm>
            <a:off x="2235251" y="3360546"/>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دردسر</a:t>
            </a:r>
            <a:endParaRPr kumimoji="0" lang="en-GB"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p:txBody>
      </p:sp>
      <p:sp>
        <p:nvSpPr>
          <p:cNvPr id="87" name="TextBox 86">
            <a:extLst>
              <a:ext uri="{FF2B5EF4-FFF2-40B4-BE49-F238E27FC236}">
                <a16:creationId xmlns:a16="http://schemas.microsoft.com/office/drawing/2014/main" id="{B9F4B1DB-45AD-FCDA-6356-6FF84E72379C}"/>
              </a:ext>
            </a:extLst>
          </p:cNvPr>
          <p:cNvSpPr txBox="1"/>
          <p:nvPr/>
        </p:nvSpPr>
        <p:spPr>
          <a:xfrm>
            <a:off x="503280" y="3360546"/>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منفعت</a:t>
            </a:r>
          </a:p>
        </p:txBody>
      </p:sp>
      <p:sp>
        <p:nvSpPr>
          <p:cNvPr id="88" name="TextBox 87">
            <a:extLst>
              <a:ext uri="{FF2B5EF4-FFF2-40B4-BE49-F238E27FC236}">
                <a16:creationId xmlns:a16="http://schemas.microsoft.com/office/drawing/2014/main" id="{C56336F7-2DF4-3A85-57A0-76D0A86DE277}"/>
              </a:ext>
            </a:extLst>
          </p:cNvPr>
          <p:cNvSpPr txBox="1"/>
          <p:nvPr/>
        </p:nvSpPr>
        <p:spPr>
          <a:xfrm>
            <a:off x="2235247" y="3500710"/>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هزینه و ریسک بالای اولین قدم ورود به بازار جدید.</a:t>
            </a:r>
          </a:p>
        </p:txBody>
      </p:sp>
      <p:sp>
        <p:nvSpPr>
          <p:cNvPr id="89" name="TextBox 88">
            <a:extLst>
              <a:ext uri="{FF2B5EF4-FFF2-40B4-BE49-F238E27FC236}">
                <a16:creationId xmlns:a16="http://schemas.microsoft.com/office/drawing/2014/main" id="{F38D164F-FA11-0656-08F9-A600A8EAEEB2}"/>
              </a:ext>
            </a:extLst>
          </p:cNvPr>
          <p:cNvSpPr txBox="1"/>
          <p:nvPr/>
        </p:nvSpPr>
        <p:spPr>
          <a:xfrm>
            <a:off x="502157" y="3500710"/>
            <a:ext cx="1731975" cy="184666"/>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یادگیری واقعی از بازار با حداقل ریسک.</a:t>
            </a:r>
          </a:p>
        </p:txBody>
      </p:sp>
      <p:sp>
        <p:nvSpPr>
          <p:cNvPr id="91" name="TextBox 90">
            <a:extLst>
              <a:ext uri="{FF2B5EF4-FFF2-40B4-BE49-F238E27FC236}">
                <a16:creationId xmlns:a16="http://schemas.microsoft.com/office/drawing/2014/main" id="{A33150C2-E37A-0E34-D56D-4CA6298F5F5C}"/>
              </a:ext>
            </a:extLst>
          </p:cNvPr>
          <p:cNvSpPr txBox="1"/>
          <p:nvPr/>
        </p:nvSpPr>
        <p:spPr>
          <a:xfrm>
            <a:off x="7646008" y="3893277"/>
            <a:ext cx="3597561" cy="364202"/>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30" normalizeH="0" baseline="0" noProof="0" dirty="0" err="1">
                <a:ln>
                  <a:noFill/>
                </a:ln>
                <a:solidFill>
                  <a:srgbClr val="F0BE0F"/>
                </a:solidFill>
                <a:effectLst/>
                <a:uLnTx/>
                <a:uFillTx/>
                <a:latin typeface="Yekan Bakh" pitchFamily="2" charset="-78"/>
                <a:ea typeface="Yekan Bakh" pitchFamily="2" charset="-78"/>
                <a:cs typeface="Yekan Bakh" pitchFamily="2" charset="-78"/>
              </a:rPr>
              <a:t>کار</a:t>
            </a:r>
            <a:r>
              <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 </a:t>
            </a:r>
            <a:r>
              <a:rPr kumimoji="0" lang="fa-IR"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۷</a:t>
            </a:r>
            <a:endPar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225"/>
              </a:spcBef>
              <a:spcAft>
                <a:spcPts val="0"/>
              </a:spcAft>
              <a:buClrTx/>
              <a:buSzTx/>
              <a:buFontTx/>
              <a:buNone/>
              <a:tabLst/>
              <a:defRPr/>
            </a:pPr>
            <a:r>
              <a:rPr kumimoji="0" lang="fa-IR" sz="7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ارزیابی حساسیت بازار مقصد به نوسان جریان سرمایه جهانی پیش از ورود</a:t>
            </a:r>
          </a:p>
        </p:txBody>
      </p:sp>
      <p:sp>
        <p:nvSpPr>
          <p:cNvPr id="92" name="Rectangle: Single Corner Rounded 91">
            <a:extLst>
              <a:ext uri="{FF2B5EF4-FFF2-40B4-BE49-F238E27FC236}">
                <a16:creationId xmlns:a16="http://schemas.microsoft.com/office/drawing/2014/main" id="{46C1A6EC-B69D-B33C-8DFF-C3162CB24276}"/>
              </a:ext>
            </a:extLst>
          </p:cNvPr>
          <p:cNvSpPr/>
          <p:nvPr/>
        </p:nvSpPr>
        <p:spPr>
          <a:xfrm flipV="1">
            <a:off x="9442559" y="4311167"/>
            <a:ext cx="1734201" cy="454939"/>
          </a:xfrm>
          <a:prstGeom prst="round1Rect">
            <a:avLst/>
          </a:prstGeom>
          <a:solidFill>
            <a:srgbClr val="F0BE0F">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93" name="Rectangle: Single Corner Rounded 92">
            <a:extLst>
              <a:ext uri="{FF2B5EF4-FFF2-40B4-BE49-F238E27FC236}">
                <a16:creationId xmlns:a16="http://schemas.microsoft.com/office/drawing/2014/main" id="{370E4F4B-46A6-D9C2-C206-29FECB7DDACE}"/>
              </a:ext>
            </a:extLst>
          </p:cNvPr>
          <p:cNvSpPr/>
          <p:nvPr/>
        </p:nvSpPr>
        <p:spPr>
          <a:xfrm flipH="1" flipV="1">
            <a:off x="7712817" y="4311167"/>
            <a:ext cx="1734201" cy="454939"/>
          </a:xfrm>
          <a:prstGeom prst="round1Rect">
            <a:avLst/>
          </a:prstGeom>
          <a:solidFill>
            <a:srgbClr val="1E2761">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94" name="TextBox 93">
            <a:extLst>
              <a:ext uri="{FF2B5EF4-FFF2-40B4-BE49-F238E27FC236}">
                <a16:creationId xmlns:a16="http://schemas.microsoft.com/office/drawing/2014/main" id="{807EEE54-6488-4077-1E1F-AF33CBC63FD6}"/>
              </a:ext>
            </a:extLst>
          </p:cNvPr>
          <p:cNvSpPr txBox="1"/>
          <p:nvPr/>
        </p:nvSpPr>
        <p:spPr>
          <a:xfrm>
            <a:off x="9442559" y="4304322"/>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دردسر</a:t>
            </a:r>
            <a:endParaRPr kumimoji="0" lang="en-GB"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p:txBody>
      </p:sp>
      <p:sp>
        <p:nvSpPr>
          <p:cNvPr id="95" name="TextBox 94">
            <a:extLst>
              <a:ext uri="{FF2B5EF4-FFF2-40B4-BE49-F238E27FC236}">
                <a16:creationId xmlns:a16="http://schemas.microsoft.com/office/drawing/2014/main" id="{53D1FFDB-110B-1B66-0A85-EA8D33B42572}"/>
              </a:ext>
            </a:extLst>
          </p:cNvPr>
          <p:cNvSpPr txBox="1"/>
          <p:nvPr/>
        </p:nvSpPr>
        <p:spPr>
          <a:xfrm>
            <a:off x="7710588" y="4304322"/>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منفعت</a:t>
            </a:r>
          </a:p>
        </p:txBody>
      </p:sp>
      <p:sp>
        <p:nvSpPr>
          <p:cNvPr id="96" name="TextBox 95">
            <a:extLst>
              <a:ext uri="{FF2B5EF4-FFF2-40B4-BE49-F238E27FC236}">
                <a16:creationId xmlns:a16="http://schemas.microsoft.com/office/drawing/2014/main" id="{3EF1F39C-C2EB-55F2-2DCE-201563462944}"/>
              </a:ext>
            </a:extLst>
          </p:cNvPr>
          <p:cNvSpPr txBox="1"/>
          <p:nvPr/>
        </p:nvSpPr>
        <p:spPr>
          <a:xfrm>
            <a:off x="9442555" y="4444486"/>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ریسک خروج ناگهانی سرمایه و بی‌ثباتی مالی مقصد.</a:t>
            </a:r>
          </a:p>
        </p:txBody>
      </p:sp>
      <p:sp>
        <p:nvSpPr>
          <p:cNvPr id="97" name="TextBox 96">
            <a:extLst>
              <a:ext uri="{FF2B5EF4-FFF2-40B4-BE49-F238E27FC236}">
                <a16:creationId xmlns:a16="http://schemas.microsoft.com/office/drawing/2014/main" id="{47A3D3F5-DFD4-99C7-AFE1-2A6E7DAE3C17}"/>
              </a:ext>
            </a:extLst>
          </p:cNvPr>
          <p:cNvSpPr txBox="1"/>
          <p:nvPr/>
        </p:nvSpPr>
        <p:spPr>
          <a:xfrm>
            <a:off x="7709465" y="4444486"/>
            <a:ext cx="1731975" cy="184666"/>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انتخاب زمان ورود کم‌ریسک‌تر.</a:t>
            </a:r>
          </a:p>
        </p:txBody>
      </p:sp>
      <p:sp>
        <p:nvSpPr>
          <p:cNvPr id="99" name="TextBox 98">
            <a:extLst>
              <a:ext uri="{FF2B5EF4-FFF2-40B4-BE49-F238E27FC236}">
                <a16:creationId xmlns:a16="http://schemas.microsoft.com/office/drawing/2014/main" id="{FDD9DD90-CDC7-DF29-8CC3-DB97E6057035}"/>
              </a:ext>
            </a:extLst>
          </p:cNvPr>
          <p:cNvSpPr txBox="1"/>
          <p:nvPr/>
        </p:nvSpPr>
        <p:spPr>
          <a:xfrm>
            <a:off x="4048448" y="3893277"/>
            <a:ext cx="3597561" cy="364202"/>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30" normalizeH="0" baseline="0" noProof="0" dirty="0" err="1">
                <a:ln>
                  <a:noFill/>
                </a:ln>
                <a:solidFill>
                  <a:srgbClr val="F0BE0F"/>
                </a:solidFill>
                <a:effectLst/>
                <a:uLnTx/>
                <a:uFillTx/>
                <a:latin typeface="Yekan Bakh" pitchFamily="2" charset="-78"/>
                <a:ea typeface="Yekan Bakh" pitchFamily="2" charset="-78"/>
                <a:cs typeface="Yekan Bakh" pitchFamily="2" charset="-78"/>
              </a:rPr>
              <a:t>کار</a:t>
            </a:r>
            <a:r>
              <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 </a:t>
            </a:r>
            <a:r>
              <a:rPr kumimoji="0" lang="fa-IR"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۸</a:t>
            </a:r>
            <a:endPar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225"/>
              </a:spcBef>
              <a:spcAft>
                <a:spcPts val="0"/>
              </a:spcAft>
              <a:buClrTx/>
              <a:buSzTx/>
              <a:buFontTx/>
              <a:buNone/>
              <a:tabLst/>
              <a:defRPr/>
            </a:pPr>
            <a:r>
              <a:rPr kumimoji="0" lang="fa-IR" sz="7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کمّی‌سازی ریسک سیاسی مقصد برای تصمیم‌گیری آگاهانه</a:t>
            </a:r>
          </a:p>
        </p:txBody>
      </p:sp>
      <p:sp>
        <p:nvSpPr>
          <p:cNvPr id="100" name="Rectangle: Single Corner Rounded 99">
            <a:extLst>
              <a:ext uri="{FF2B5EF4-FFF2-40B4-BE49-F238E27FC236}">
                <a16:creationId xmlns:a16="http://schemas.microsoft.com/office/drawing/2014/main" id="{B084D0EF-22EE-5AE8-96D4-A0045C98BBE8}"/>
              </a:ext>
            </a:extLst>
          </p:cNvPr>
          <p:cNvSpPr/>
          <p:nvPr/>
        </p:nvSpPr>
        <p:spPr>
          <a:xfrm flipV="1">
            <a:off x="5844999" y="4311167"/>
            <a:ext cx="1734201" cy="454939"/>
          </a:xfrm>
          <a:prstGeom prst="round1Rect">
            <a:avLst/>
          </a:prstGeom>
          <a:solidFill>
            <a:srgbClr val="F0BE0F">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01" name="Rectangle: Single Corner Rounded 100">
            <a:extLst>
              <a:ext uri="{FF2B5EF4-FFF2-40B4-BE49-F238E27FC236}">
                <a16:creationId xmlns:a16="http://schemas.microsoft.com/office/drawing/2014/main" id="{91D7ACC1-D56F-1BFC-D9C3-6B2D87B3782E}"/>
              </a:ext>
            </a:extLst>
          </p:cNvPr>
          <p:cNvSpPr/>
          <p:nvPr/>
        </p:nvSpPr>
        <p:spPr>
          <a:xfrm flipH="1" flipV="1">
            <a:off x="4115257" y="4311167"/>
            <a:ext cx="1734201" cy="454939"/>
          </a:xfrm>
          <a:prstGeom prst="round1Rect">
            <a:avLst/>
          </a:prstGeom>
          <a:solidFill>
            <a:srgbClr val="1E2761">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02" name="TextBox 101">
            <a:extLst>
              <a:ext uri="{FF2B5EF4-FFF2-40B4-BE49-F238E27FC236}">
                <a16:creationId xmlns:a16="http://schemas.microsoft.com/office/drawing/2014/main" id="{F3D7D7B4-97B8-E9E3-0E03-DDB292592CCE}"/>
              </a:ext>
            </a:extLst>
          </p:cNvPr>
          <p:cNvSpPr txBox="1"/>
          <p:nvPr/>
        </p:nvSpPr>
        <p:spPr>
          <a:xfrm>
            <a:off x="5844999" y="4304322"/>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دردسر</a:t>
            </a:r>
            <a:endParaRPr kumimoji="0" lang="en-GB"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p:txBody>
      </p:sp>
      <p:sp>
        <p:nvSpPr>
          <p:cNvPr id="103" name="TextBox 102">
            <a:extLst>
              <a:ext uri="{FF2B5EF4-FFF2-40B4-BE49-F238E27FC236}">
                <a16:creationId xmlns:a16="http://schemas.microsoft.com/office/drawing/2014/main" id="{090AA5B7-4C63-B58E-A528-36F80CEB1D14}"/>
              </a:ext>
            </a:extLst>
          </p:cNvPr>
          <p:cNvSpPr txBox="1"/>
          <p:nvPr/>
        </p:nvSpPr>
        <p:spPr>
          <a:xfrm>
            <a:off x="4113028" y="4304322"/>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منفعت</a:t>
            </a:r>
          </a:p>
        </p:txBody>
      </p:sp>
      <p:sp>
        <p:nvSpPr>
          <p:cNvPr id="104" name="TextBox 103">
            <a:extLst>
              <a:ext uri="{FF2B5EF4-FFF2-40B4-BE49-F238E27FC236}">
                <a16:creationId xmlns:a16="http://schemas.microsoft.com/office/drawing/2014/main" id="{3E482496-5C2F-C4DB-9C60-210B6D76B13E}"/>
              </a:ext>
            </a:extLst>
          </p:cNvPr>
          <p:cNvSpPr txBox="1"/>
          <p:nvPr/>
        </p:nvSpPr>
        <p:spPr>
          <a:xfrm>
            <a:off x="5844995" y="4444486"/>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عدم‌قطعیت سیاسی که به‌سختی در تحلیل مالی سنتی جای می‌گیرد.</a:t>
            </a:r>
          </a:p>
        </p:txBody>
      </p:sp>
      <p:sp>
        <p:nvSpPr>
          <p:cNvPr id="105" name="TextBox 104">
            <a:extLst>
              <a:ext uri="{FF2B5EF4-FFF2-40B4-BE49-F238E27FC236}">
                <a16:creationId xmlns:a16="http://schemas.microsoft.com/office/drawing/2014/main" id="{B4AF53E8-374E-8FA8-CF9C-0157DAA581FA}"/>
              </a:ext>
            </a:extLst>
          </p:cNvPr>
          <p:cNvSpPr txBox="1"/>
          <p:nvPr/>
        </p:nvSpPr>
        <p:spPr>
          <a:xfrm>
            <a:off x="4111905" y="4444486"/>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تصمیم مبتنی بر ریسک قیمت‌گذاری‌شده به‌جای حدس.</a:t>
            </a:r>
          </a:p>
        </p:txBody>
      </p:sp>
      <p:sp>
        <p:nvSpPr>
          <p:cNvPr id="107" name="TextBox 106">
            <a:extLst>
              <a:ext uri="{FF2B5EF4-FFF2-40B4-BE49-F238E27FC236}">
                <a16:creationId xmlns:a16="http://schemas.microsoft.com/office/drawing/2014/main" id="{FCE8F825-6CFB-BD5D-571A-F8439501589E}"/>
              </a:ext>
            </a:extLst>
          </p:cNvPr>
          <p:cNvSpPr txBox="1"/>
          <p:nvPr/>
        </p:nvSpPr>
        <p:spPr>
          <a:xfrm>
            <a:off x="438700" y="3893277"/>
            <a:ext cx="3597561" cy="364202"/>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30" normalizeH="0" baseline="0" noProof="0" dirty="0" err="1">
                <a:ln>
                  <a:noFill/>
                </a:ln>
                <a:solidFill>
                  <a:srgbClr val="F0BE0F"/>
                </a:solidFill>
                <a:effectLst/>
                <a:uLnTx/>
                <a:uFillTx/>
                <a:latin typeface="Yekan Bakh" pitchFamily="2" charset="-78"/>
                <a:ea typeface="Yekan Bakh" pitchFamily="2" charset="-78"/>
                <a:cs typeface="Yekan Bakh" pitchFamily="2" charset="-78"/>
              </a:rPr>
              <a:t>کار</a:t>
            </a:r>
            <a:r>
              <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 </a:t>
            </a:r>
            <a:r>
              <a:rPr kumimoji="0" lang="fa-IR"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۹</a:t>
            </a:r>
            <a:endPar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225"/>
              </a:spcBef>
              <a:spcAft>
                <a:spcPts val="0"/>
              </a:spcAft>
              <a:buClrTx/>
              <a:buSzTx/>
              <a:buFontTx/>
              <a:buNone/>
              <a:tabLst/>
              <a:defRPr/>
            </a:pPr>
            <a:r>
              <a:rPr kumimoji="0" lang="fa-IR" sz="7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حفظ امکان گفت‌وگو و دریافت اطلاعات بدون افشای کامل قصد یا ایجاد تعهد رسمی</a:t>
            </a:r>
          </a:p>
        </p:txBody>
      </p:sp>
      <p:sp>
        <p:nvSpPr>
          <p:cNvPr id="108" name="Rectangle: Single Corner Rounded 107">
            <a:extLst>
              <a:ext uri="{FF2B5EF4-FFF2-40B4-BE49-F238E27FC236}">
                <a16:creationId xmlns:a16="http://schemas.microsoft.com/office/drawing/2014/main" id="{A619C4ED-2EEB-B1DF-489A-76182B9EA299}"/>
              </a:ext>
            </a:extLst>
          </p:cNvPr>
          <p:cNvSpPr/>
          <p:nvPr/>
        </p:nvSpPr>
        <p:spPr>
          <a:xfrm flipV="1">
            <a:off x="2235251" y="4311167"/>
            <a:ext cx="1734201" cy="454939"/>
          </a:xfrm>
          <a:prstGeom prst="round1Rect">
            <a:avLst/>
          </a:prstGeom>
          <a:solidFill>
            <a:srgbClr val="F0BE0F">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09" name="Rectangle: Single Corner Rounded 108">
            <a:extLst>
              <a:ext uri="{FF2B5EF4-FFF2-40B4-BE49-F238E27FC236}">
                <a16:creationId xmlns:a16="http://schemas.microsoft.com/office/drawing/2014/main" id="{7FB34508-5DED-A0A7-DBF3-1967D6FD9651}"/>
              </a:ext>
            </a:extLst>
          </p:cNvPr>
          <p:cNvSpPr/>
          <p:nvPr/>
        </p:nvSpPr>
        <p:spPr>
          <a:xfrm flipH="1" flipV="1">
            <a:off x="505509" y="4311167"/>
            <a:ext cx="1734201" cy="454939"/>
          </a:xfrm>
          <a:prstGeom prst="round1Rect">
            <a:avLst/>
          </a:prstGeom>
          <a:solidFill>
            <a:srgbClr val="1E2761">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10" name="TextBox 109">
            <a:extLst>
              <a:ext uri="{FF2B5EF4-FFF2-40B4-BE49-F238E27FC236}">
                <a16:creationId xmlns:a16="http://schemas.microsoft.com/office/drawing/2014/main" id="{821D9A2E-8FAA-358A-AF3F-C3BACCB79125}"/>
              </a:ext>
            </a:extLst>
          </p:cNvPr>
          <p:cNvSpPr txBox="1"/>
          <p:nvPr/>
        </p:nvSpPr>
        <p:spPr>
          <a:xfrm>
            <a:off x="2235251" y="4304322"/>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دردسر</a:t>
            </a:r>
            <a:endParaRPr kumimoji="0" lang="en-GB"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p:txBody>
      </p:sp>
      <p:sp>
        <p:nvSpPr>
          <p:cNvPr id="111" name="TextBox 110">
            <a:extLst>
              <a:ext uri="{FF2B5EF4-FFF2-40B4-BE49-F238E27FC236}">
                <a16:creationId xmlns:a16="http://schemas.microsoft.com/office/drawing/2014/main" id="{B9442788-25CB-70B7-1332-1AE60C39B9B6}"/>
              </a:ext>
            </a:extLst>
          </p:cNvPr>
          <p:cNvSpPr txBox="1"/>
          <p:nvPr/>
        </p:nvSpPr>
        <p:spPr>
          <a:xfrm>
            <a:off x="503280" y="4304322"/>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منفعت</a:t>
            </a:r>
          </a:p>
        </p:txBody>
      </p:sp>
      <p:sp>
        <p:nvSpPr>
          <p:cNvPr id="112" name="TextBox 111">
            <a:extLst>
              <a:ext uri="{FF2B5EF4-FFF2-40B4-BE49-F238E27FC236}">
                <a16:creationId xmlns:a16="http://schemas.microsoft.com/office/drawing/2014/main" id="{FF4E959B-9014-9D63-291D-897D113B4534}"/>
              </a:ext>
            </a:extLst>
          </p:cNvPr>
          <p:cNvSpPr txBox="1"/>
          <p:nvPr/>
        </p:nvSpPr>
        <p:spPr>
          <a:xfrm>
            <a:off x="2235247" y="4444486"/>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ترس از افشای زودهنگام نیت که خود به تعهد ناخواسته منجر شود.</a:t>
            </a:r>
          </a:p>
        </p:txBody>
      </p:sp>
      <p:sp>
        <p:nvSpPr>
          <p:cNvPr id="113" name="TextBox 112">
            <a:extLst>
              <a:ext uri="{FF2B5EF4-FFF2-40B4-BE49-F238E27FC236}">
                <a16:creationId xmlns:a16="http://schemas.microsoft.com/office/drawing/2014/main" id="{C818558B-5D2B-7849-5354-739C4442E0E0}"/>
              </a:ext>
            </a:extLst>
          </p:cNvPr>
          <p:cNvSpPr txBox="1"/>
          <p:nvPr/>
        </p:nvSpPr>
        <p:spPr>
          <a:xfrm>
            <a:off x="502157" y="4444486"/>
            <a:ext cx="1731975" cy="184666"/>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کاوش محرمانه و کم‌ریسک بازار.</a:t>
            </a:r>
          </a:p>
        </p:txBody>
      </p:sp>
    </p:spTree>
    <p:extLst>
      <p:ext uri="{BB962C8B-B14F-4D97-AF65-F5344CB8AC3E}">
        <p14:creationId xmlns:p14="http://schemas.microsoft.com/office/powerpoint/2010/main" val="167124649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2530FC-5E3F-7D94-AC5E-152E18B3F1F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3203837-A59D-8B97-99AA-FB605375DD5B}"/>
              </a:ext>
            </a:extLst>
          </p:cNvPr>
          <p:cNvSpPr>
            <a:spLocks noGrp="1"/>
          </p:cNvSpPr>
          <p:nvPr>
            <p:ph type="body" sz="quarter" idx="10"/>
          </p:nvPr>
        </p:nvSpPr>
        <p:spPr/>
        <p:txBody>
          <a:bodyPr/>
          <a:lstStyle/>
          <a:p>
            <a:r>
              <a:rPr lang="fa-IR" dirty="0"/>
              <a:t>--</a:t>
            </a:r>
          </a:p>
        </p:txBody>
      </p:sp>
      <p:sp>
        <p:nvSpPr>
          <p:cNvPr id="3" name="Text Placeholder 2">
            <a:extLst>
              <a:ext uri="{FF2B5EF4-FFF2-40B4-BE49-F238E27FC236}">
                <a16:creationId xmlns:a16="http://schemas.microsoft.com/office/drawing/2014/main" id="{02CFE014-6A85-B19C-8FEF-C891E0B91E27}"/>
              </a:ext>
            </a:extLst>
          </p:cNvPr>
          <p:cNvSpPr>
            <a:spLocks noGrp="1"/>
          </p:cNvSpPr>
          <p:nvPr>
            <p:ph type="body" sz="quarter" idx="12"/>
          </p:nvPr>
        </p:nvSpPr>
        <p:spPr/>
        <p:txBody>
          <a:bodyPr/>
          <a:lstStyle/>
          <a:p>
            <a:r>
              <a:rPr lang="fa-IR" dirty="0"/>
              <a:t>نقشه پرسوناها/۵</a:t>
            </a:r>
          </a:p>
          <a:p>
            <a:r>
              <a:rPr lang="fa-IR" sz="1200" b="0" dirty="0">
                <a:solidFill>
                  <a:schemeClr val="tx1">
                    <a:lumMod val="50000"/>
                    <a:lumOff val="50000"/>
                  </a:schemeClr>
                </a:solidFill>
              </a:rPr>
              <a:t>برای هر پرسونا: تعریف کوتاه، سپس کارهای مشتری با دردسر و منفعت مربوطه</a:t>
            </a:r>
            <a:endParaRPr lang="en-GB" sz="1200" b="0" dirty="0">
              <a:solidFill>
                <a:schemeClr val="tx1">
                  <a:lumMod val="50000"/>
                  <a:lumOff val="50000"/>
                </a:schemeClr>
              </a:solidFill>
            </a:endParaRPr>
          </a:p>
        </p:txBody>
      </p:sp>
      <p:sp>
        <p:nvSpPr>
          <p:cNvPr id="4" name="Rectangle: Rounded Corners 3">
            <a:extLst>
              <a:ext uri="{FF2B5EF4-FFF2-40B4-BE49-F238E27FC236}">
                <a16:creationId xmlns:a16="http://schemas.microsoft.com/office/drawing/2014/main" id="{B904FF6E-8315-DDAE-5A72-4E22F7F8976A}"/>
              </a:ext>
            </a:extLst>
          </p:cNvPr>
          <p:cNvSpPr/>
          <p:nvPr/>
        </p:nvSpPr>
        <p:spPr>
          <a:xfrm>
            <a:off x="437289" y="1343551"/>
            <a:ext cx="10806286" cy="4404106"/>
          </a:xfrm>
          <a:prstGeom prst="roundRect">
            <a:avLst>
              <a:gd name="adj" fmla="val 1837"/>
            </a:avLst>
          </a:prstGeom>
          <a:noFill/>
          <a:ln w="3175">
            <a:solidFill>
              <a:srgbClr val="F0BE0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cxnSp>
        <p:nvCxnSpPr>
          <p:cNvPr id="9" name="Straight Connector 8">
            <a:extLst>
              <a:ext uri="{FF2B5EF4-FFF2-40B4-BE49-F238E27FC236}">
                <a16:creationId xmlns:a16="http://schemas.microsoft.com/office/drawing/2014/main" id="{E87164F9-D360-7415-86AA-4EC6632EDCF1}"/>
              </a:ext>
            </a:extLst>
          </p:cNvPr>
          <p:cNvCxnSpPr>
            <a:cxnSpLocks/>
          </p:cNvCxnSpPr>
          <p:nvPr/>
        </p:nvCxnSpPr>
        <p:spPr>
          <a:xfrm>
            <a:off x="437288" y="1981263"/>
            <a:ext cx="10806284" cy="0"/>
          </a:xfrm>
          <a:prstGeom prst="line">
            <a:avLst/>
          </a:prstGeom>
          <a:ln>
            <a:solidFill>
              <a:srgbClr val="F0BE0F"/>
            </a:solidFill>
            <a:prstDash val="solid"/>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23EBFDDC-2290-5C16-8BB7-56005538DF4A}"/>
              </a:ext>
            </a:extLst>
          </p:cNvPr>
          <p:cNvSpPr txBox="1"/>
          <p:nvPr/>
        </p:nvSpPr>
        <p:spPr>
          <a:xfrm>
            <a:off x="437288" y="1628412"/>
            <a:ext cx="10411685" cy="230832"/>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9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فرد یا سازمانی (ایرانی یا خارجی) که یک دارایی خفته دارد — دسترسی بازار، مجوز، برند، فناوری یا سرمایه — و می‌خواهد حول آن دارایی، کسب‌وکار جدیدی بسازد.</a:t>
            </a:r>
          </a:p>
        </p:txBody>
      </p:sp>
      <p:sp>
        <p:nvSpPr>
          <p:cNvPr id="12" name="TextBox 11">
            <a:extLst>
              <a:ext uri="{FF2B5EF4-FFF2-40B4-BE49-F238E27FC236}">
                <a16:creationId xmlns:a16="http://schemas.microsoft.com/office/drawing/2014/main" id="{A32DF763-FA37-4D91-07BD-DCA16FB884F0}"/>
              </a:ext>
            </a:extLst>
          </p:cNvPr>
          <p:cNvSpPr txBox="1"/>
          <p:nvPr/>
        </p:nvSpPr>
        <p:spPr>
          <a:xfrm>
            <a:off x="437288" y="1396898"/>
            <a:ext cx="10411685" cy="253916"/>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450"/>
              </a:spcAft>
              <a:buClrTx/>
              <a:buSzTx/>
              <a:buFontTx/>
              <a:buNone/>
              <a:tabLst/>
              <a:defRPr/>
            </a:pPr>
            <a:r>
              <a:rPr kumimoji="0" lang="fa-IR" sz="105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خالق کسب‌وکار</a:t>
            </a:r>
          </a:p>
        </p:txBody>
      </p:sp>
      <p:sp>
        <p:nvSpPr>
          <p:cNvPr id="15" name="Rectangle: Single Corner Rounded 14">
            <a:extLst>
              <a:ext uri="{FF2B5EF4-FFF2-40B4-BE49-F238E27FC236}">
                <a16:creationId xmlns:a16="http://schemas.microsoft.com/office/drawing/2014/main" id="{6CA31704-56B9-C6A1-05AE-E7E4129A56C9}"/>
              </a:ext>
            </a:extLst>
          </p:cNvPr>
          <p:cNvSpPr/>
          <p:nvPr/>
        </p:nvSpPr>
        <p:spPr>
          <a:xfrm>
            <a:off x="10848973" y="1346509"/>
            <a:ext cx="394599" cy="634754"/>
          </a:xfrm>
          <a:prstGeom prst="round1Rect">
            <a:avLst/>
          </a:prstGeom>
          <a:solidFill>
            <a:srgbClr val="F0BE0F">
              <a:alpha val="7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6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۵</a:t>
            </a:r>
            <a:endParaRPr kumimoji="0" lang="en-GB" sz="16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cxnSp>
        <p:nvCxnSpPr>
          <p:cNvPr id="18" name="Straight Connector 17">
            <a:extLst>
              <a:ext uri="{FF2B5EF4-FFF2-40B4-BE49-F238E27FC236}">
                <a16:creationId xmlns:a16="http://schemas.microsoft.com/office/drawing/2014/main" id="{AE438E3E-CDE5-CD8F-8485-7A83A9DC9AEC}"/>
              </a:ext>
            </a:extLst>
          </p:cNvPr>
          <p:cNvCxnSpPr>
            <a:cxnSpLocks/>
          </p:cNvCxnSpPr>
          <p:nvPr/>
        </p:nvCxnSpPr>
        <p:spPr>
          <a:xfrm>
            <a:off x="4048447" y="1981263"/>
            <a:ext cx="0" cy="3766394"/>
          </a:xfrm>
          <a:prstGeom prst="line">
            <a:avLst/>
          </a:prstGeom>
          <a:ln>
            <a:solidFill>
              <a:schemeClr val="bg1">
                <a:lumMod val="85000"/>
                <a:alpha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6BBB1280-88E3-6955-9E4F-A3D98CD4DF43}"/>
              </a:ext>
            </a:extLst>
          </p:cNvPr>
          <p:cNvCxnSpPr>
            <a:cxnSpLocks/>
          </p:cNvCxnSpPr>
          <p:nvPr/>
        </p:nvCxnSpPr>
        <p:spPr>
          <a:xfrm>
            <a:off x="437288" y="2922862"/>
            <a:ext cx="10806284" cy="0"/>
          </a:xfrm>
          <a:prstGeom prst="line">
            <a:avLst/>
          </a:prstGeom>
          <a:ln>
            <a:solidFill>
              <a:schemeClr val="bg1">
                <a:lumMod val="85000"/>
                <a:alpha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68A5D770-2581-69D7-72D6-218DC0912426}"/>
              </a:ext>
            </a:extLst>
          </p:cNvPr>
          <p:cNvCxnSpPr>
            <a:cxnSpLocks/>
          </p:cNvCxnSpPr>
          <p:nvPr/>
        </p:nvCxnSpPr>
        <p:spPr>
          <a:xfrm>
            <a:off x="437288" y="3864460"/>
            <a:ext cx="10806284" cy="0"/>
          </a:xfrm>
          <a:prstGeom prst="line">
            <a:avLst/>
          </a:prstGeom>
          <a:ln>
            <a:solidFill>
              <a:schemeClr val="bg1">
                <a:lumMod val="85000"/>
                <a:alpha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4AE8A7B2-3DCA-1607-093B-99D8ECEB21F8}"/>
              </a:ext>
            </a:extLst>
          </p:cNvPr>
          <p:cNvCxnSpPr>
            <a:cxnSpLocks/>
          </p:cNvCxnSpPr>
          <p:nvPr/>
        </p:nvCxnSpPr>
        <p:spPr>
          <a:xfrm>
            <a:off x="437288" y="4806059"/>
            <a:ext cx="10806284" cy="0"/>
          </a:xfrm>
          <a:prstGeom prst="line">
            <a:avLst/>
          </a:prstGeom>
          <a:ln>
            <a:solidFill>
              <a:schemeClr val="bg1">
                <a:lumMod val="85000"/>
                <a:alpha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9042ADA7-047E-6776-4CA6-2256A8E460DA}"/>
              </a:ext>
            </a:extLst>
          </p:cNvPr>
          <p:cNvCxnSpPr>
            <a:cxnSpLocks/>
          </p:cNvCxnSpPr>
          <p:nvPr/>
        </p:nvCxnSpPr>
        <p:spPr>
          <a:xfrm>
            <a:off x="7646009" y="1981263"/>
            <a:ext cx="0" cy="3766394"/>
          </a:xfrm>
          <a:prstGeom prst="line">
            <a:avLst/>
          </a:prstGeom>
          <a:ln>
            <a:solidFill>
              <a:schemeClr val="bg1">
                <a:lumMod val="85000"/>
                <a:alpha val="90000"/>
              </a:schemeClr>
            </a:solidFill>
            <a:prstDash val="dash"/>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487F8CC1-974E-0699-D3E5-C28DF8062D93}"/>
              </a:ext>
            </a:extLst>
          </p:cNvPr>
          <p:cNvSpPr txBox="1"/>
          <p:nvPr/>
        </p:nvSpPr>
        <p:spPr>
          <a:xfrm>
            <a:off x="7646008" y="2005725"/>
            <a:ext cx="3597561" cy="348813"/>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30" normalizeH="0" baseline="0" noProof="0" dirty="0" err="1">
                <a:ln>
                  <a:noFill/>
                </a:ln>
                <a:solidFill>
                  <a:srgbClr val="F0BE0F"/>
                </a:solidFill>
                <a:effectLst/>
                <a:uLnTx/>
                <a:uFillTx/>
                <a:latin typeface="Yekan Bakh" pitchFamily="2" charset="-78"/>
                <a:ea typeface="Yekan Bakh" pitchFamily="2" charset="-78"/>
                <a:cs typeface="Yekan Bakh" pitchFamily="2" charset="-78"/>
              </a:rPr>
              <a:t>کار</a:t>
            </a:r>
            <a:r>
              <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 ۱</a:t>
            </a:r>
          </a:p>
          <a:p>
            <a:pPr marL="0" marR="0" lvl="0" indent="0" algn="ctr" defTabSz="457200" rtl="1" eaLnBrk="1" fontAlgn="auto" latinLnBrk="0" hangingPunct="1">
              <a:lnSpc>
                <a:spcPct val="100000"/>
              </a:lnSpc>
              <a:spcBef>
                <a:spcPts val="225"/>
              </a:spcBef>
              <a:spcAft>
                <a:spcPts val="0"/>
              </a:spcAft>
              <a:buClrTx/>
              <a:buSzTx/>
              <a:buFontTx/>
              <a:buNone/>
              <a:tabLst/>
              <a:defRPr/>
            </a:pPr>
            <a:r>
              <a:rPr kumimoji="0" lang="fa-IR" sz="6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اعتبارسنجی اینکه دارایی محوری واقعاً می‌تواند کسب‌وکاری مستقل و پایدار بسازد، پیش از تعهد کامل منابع</a:t>
            </a:r>
          </a:p>
        </p:txBody>
      </p:sp>
      <p:sp>
        <p:nvSpPr>
          <p:cNvPr id="32" name="Rectangle: Single Corner Rounded 31">
            <a:extLst>
              <a:ext uri="{FF2B5EF4-FFF2-40B4-BE49-F238E27FC236}">
                <a16:creationId xmlns:a16="http://schemas.microsoft.com/office/drawing/2014/main" id="{26636F52-C79C-7391-3173-B3462370E63E}"/>
              </a:ext>
            </a:extLst>
          </p:cNvPr>
          <p:cNvSpPr/>
          <p:nvPr/>
        </p:nvSpPr>
        <p:spPr>
          <a:xfrm flipV="1">
            <a:off x="9442559" y="2423615"/>
            <a:ext cx="1734201" cy="454939"/>
          </a:xfrm>
          <a:prstGeom prst="round1Rect">
            <a:avLst/>
          </a:prstGeom>
          <a:solidFill>
            <a:srgbClr val="F0BE0F">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34" name="Rectangle: Single Corner Rounded 33">
            <a:extLst>
              <a:ext uri="{FF2B5EF4-FFF2-40B4-BE49-F238E27FC236}">
                <a16:creationId xmlns:a16="http://schemas.microsoft.com/office/drawing/2014/main" id="{C7D852CF-3F70-D36B-CDA9-300013CC990E}"/>
              </a:ext>
            </a:extLst>
          </p:cNvPr>
          <p:cNvSpPr/>
          <p:nvPr/>
        </p:nvSpPr>
        <p:spPr>
          <a:xfrm flipH="1" flipV="1">
            <a:off x="7712817" y="2423615"/>
            <a:ext cx="1734201" cy="454939"/>
          </a:xfrm>
          <a:prstGeom prst="round1Rect">
            <a:avLst/>
          </a:prstGeom>
          <a:solidFill>
            <a:srgbClr val="1E2761">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36" name="TextBox 35">
            <a:extLst>
              <a:ext uri="{FF2B5EF4-FFF2-40B4-BE49-F238E27FC236}">
                <a16:creationId xmlns:a16="http://schemas.microsoft.com/office/drawing/2014/main" id="{3EF4D01B-CDB2-211B-50BF-BA242C56B979}"/>
              </a:ext>
            </a:extLst>
          </p:cNvPr>
          <p:cNvSpPr txBox="1"/>
          <p:nvPr/>
        </p:nvSpPr>
        <p:spPr>
          <a:xfrm>
            <a:off x="9442559" y="2416770"/>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دردسر</a:t>
            </a:r>
            <a:endParaRPr kumimoji="0" lang="en-GB"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p:txBody>
      </p:sp>
      <p:sp>
        <p:nvSpPr>
          <p:cNvPr id="37" name="TextBox 36">
            <a:extLst>
              <a:ext uri="{FF2B5EF4-FFF2-40B4-BE49-F238E27FC236}">
                <a16:creationId xmlns:a16="http://schemas.microsoft.com/office/drawing/2014/main" id="{C2842BBB-A67A-9CF5-8013-70A777275663}"/>
              </a:ext>
            </a:extLst>
          </p:cNvPr>
          <p:cNvSpPr txBox="1"/>
          <p:nvPr/>
        </p:nvSpPr>
        <p:spPr>
          <a:xfrm>
            <a:off x="7710588" y="2416770"/>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منفعت</a:t>
            </a:r>
          </a:p>
        </p:txBody>
      </p:sp>
      <p:sp>
        <p:nvSpPr>
          <p:cNvPr id="39" name="TextBox 38">
            <a:extLst>
              <a:ext uri="{FF2B5EF4-FFF2-40B4-BE49-F238E27FC236}">
                <a16:creationId xmlns:a16="http://schemas.microsoft.com/office/drawing/2014/main" id="{9D4C40D2-C99E-2F54-EC6E-E7C4B3844080}"/>
              </a:ext>
            </a:extLst>
          </p:cNvPr>
          <p:cNvSpPr txBox="1"/>
          <p:nvPr/>
        </p:nvSpPr>
        <p:spPr>
          <a:xfrm>
            <a:off x="9442555" y="2556934"/>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تصمیم‌گیری تحت عدم‌قطعیت بالا بدون چارچوب روشن؛ ریسک ساخت چیزی که بازار ندارد.</a:t>
            </a:r>
          </a:p>
        </p:txBody>
      </p:sp>
      <p:sp>
        <p:nvSpPr>
          <p:cNvPr id="40" name="TextBox 39">
            <a:extLst>
              <a:ext uri="{FF2B5EF4-FFF2-40B4-BE49-F238E27FC236}">
                <a16:creationId xmlns:a16="http://schemas.microsoft.com/office/drawing/2014/main" id="{AC446AA4-B0D8-B128-2EEE-3BDDAB06F47D}"/>
              </a:ext>
            </a:extLst>
          </p:cNvPr>
          <p:cNvSpPr txBox="1"/>
          <p:nvPr/>
        </p:nvSpPr>
        <p:spPr>
          <a:xfrm>
            <a:off x="7709465" y="2556934"/>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کاهش ریسک شکست از طریق اعتبارسنجی زودهنگام.</a:t>
            </a:r>
          </a:p>
        </p:txBody>
      </p:sp>
      <p:sp>
        <p:nvSpPr>
          <p:cNvPr id="43" name="TextBox 42">
            <a:extLst>
              <a:ext uri="{FF2B5EF4-FFF2-40B4-BE49-F238E27FC236}">
                <a16:creationId xmlns:a16="http://schemas.microsoft.com/office/drawing/2014/main" id="{EEB80606-7C49-E915-7DBC-ED16AF80E249}"/>
              </a:ext>
            </a:extLst>
          </p:cNvPr>
          <p:cNvSpPr txBox="1"/>
          <p:nvPr/>
        </p:nvSpPr>
        <p:spPr>
          <a:xfrm>
            <a:off x="4048448" y="2005725"/>
            <a:ext cx="3597561" cy="364202"/>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30" normalizeH="0" baseline="0" noProof="0" dirty="0" err="1">
                <a:ln>
                  <a:noFill/>
                </a:ln>
                <a:solidFill>
                  <a:srgbClr val="F0BE0F"/>
                </a:solidFill>
                <a:effectLst/>
                <a:uLnTx/>
                <a:uFillTx/>
                <a:latin typeface="Yekan Bakh" pitchFamily="2" charset="-78"/>
                <a:ea typeface="Yekan Bakh" pitchFamily="2" charset="-78"/>
                <a:cs typeface="Yekan Bakh" pitchFamily="2" charset="-78"/>
              </a:rPr>
              <a:t>کار</a:t>
            </a:r>
            <a:r>
              <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 </a:t>
            </a:r>
            <a:r>
              <a:rPr kumimoji="0" lang="fa-IR"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۲</a:t>
            </a:r>
            <a:endPar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225"/>
              </a:spcBef>
              <a:spcAft>
                <a:spcPts val="0"/>
              </a:spcAft>
              <a:buClrTx/>
              <a:buSzTx/>
              <a:buFontTx/>
              <a:buNone/>
              <a:tabLst/>
              <a:defRPr/>
            </a:pPr>
            <a:r>
              <a:rPr kumimoji="0" lang="fa-IR" sz="7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یافتن هم‌بنیان‌گذار یا تیم مکمل و دسترسی به قابلیت اجرایی که خودش ندارد</a:t>
            </a:r>
          </a:p>
        </p:txBody>
      </p:sp>
      <p:sp>
        <p:nvSpPr>
          <p:cNvPr id="44" name="Rectangle: Single Corner Rounded 43">
            <a:extLst>
              <a:ext uri="{FF2B5EF4-FFF2-40B4-BE49-F238E27FC236}">
                <a16:creationId xmlns:a16="http://schemas.microsoft.com/office/drawing/2014/main" id="{F0EA94EB-65E9-F0DF-09DD-A7BED35EA777}"/>
              </a:ext>
            </a:extLst>
          </p:cNvPr>
          <p:cNvSpPr/>
          <p:nvPr/>
        </p:nvSpPr>
        <p:spPr>
          <a:xfrm flipV="1">
            <a:off x="5844999" y="2423615"/>
            <a:ext cx="1734201" cy="454939"/>
          </a:xfrm>
          <a:prstGeom prst="round1Rect">
            <a:avLst/>
          </a:prstGeom>
          <a:solidFill>
            <a:srgbClr val="F0BE0F">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5" name="Rectangle: Single Corner Rounded 44">
            <a:extLst>
              <a:ext uri="{FF2B5EF4-FFF2-40B4-BE49-F238E27FC236}">
                <a16:creationId xmlns:a16="http://schemas.microsoft.com/office/drawing/2014/main" id="{DDA06941-A7F3-0C42-4C6D-1485E38D584E}"/>
              </a:ext>
            </a:extLst>
          </p:cNvPr>
          <p:cNvSpPr/>
          <p:nvPr/>
        </p:nvSpPr>
        <p:spPr>
          <a:xfrm flipH="1" flipV="1">
            <a:off x="4115257" y="2423615"/>
            <a:ext cx="1734201" cy="454939"/>
          </a:xfrm>
          <a:prstGeom prst="round1Rect">
            <a:avLst/>
          </a:prstGeom>
          <a:solidFill>
            <a:srgbClr val="1E2761">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6" name="TextBox 45">
            <a:extLst>
              <a:ext uri="{FF2B5EF4-FFF2-40B4-BE49-F238E27FC236}">
                <a16:creationId xmlns:a16="http://schemas.microsoft.com/office/drawing/2014/main" id="{E720EC4D-0421-0A7E-2A35-D48D635F5F64}"/>
              </a:ext>
            </a:extLst>
          </p:cNvPr>
          <p:cNvSpPr txBox="1"/>
          <p:nvPr/>
        </p:nvSpPr>
        <p:spPr>
          <a:xfrm>
            <a:off x="5844999" y="2416770"/>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دردسر</a:t>
            </a:r>
            <a:endParaRPr kumimoji="0" lang="en-GB"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p:txBody>
      </p:sp>
      <p:sp>
        <p:nvSpPr>
          <p:cNvPr id="47" name="TextBox 46">
            <a:extLst>
              <a:ext uri="{FF2B5EF4-FFF2-40B4-BE49-F238E27FC236}">
                <a16:creationId xmlns:a16="http://schemas.microsoft.com/office/drawing/2014/main" id="{ED671F88-3E8A-3DC9-AA72-DA956D72B2F6}"/>
              </a:ext>
            </a:extLst>
          </p:cNvPr>
          <p:cNvSpPr txBox="1"/>
          <p:nvPr/>
        </p:nvSpPr>
        <p:spPr>
          <a:xfrm>
            <a:off x="4113028" y="2416770"/>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منفعت</a:t>
            </a:r>
          </a:p>
        </p:txBody>
      </p:sp>
      <p:sp>
        <p:nvSpPr>
          <p:cNvPr id="48" name="TextBox 47">
            <a:extLst>
              <a:ext uri="{FF2B5EF4-FFF2-40B4-BE49-F238E27FC236}">
                <a16:creationId xmlns:a16="http://schemas.microsoft.com/office/drawing/2014/main" id="{C1A5F70F-7D96-8A8C-5ECD-9ED08C737BB6}"/>
              </a:ext>
            </a:extLst>
          </p:cNvPr>
          <p:cNvSpPr txBox="1"/>
          <p:nvPr/>
        </p:nvSpPr>
        <p:spPr>
          <a:xfrm>
            <a:off x="5844995" y="2556934"/>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تعارض احتمالی درون تیم و نبود مهارت مکمل، ریسک بزرگ برای شکست.</a:t>
            </a:r>
          </a:p>
        </p:txBody>
      </p:sp>
      <p:sp>
        <p:nvSpPr>
          <p:cNvPr id="49" name="TextBox 48">
            <a:extLst>
              <a:ext uri="{FF2B5EF4-FFF2-40B4-BE49-F238E27FC236}">
                <a16:creationId xmlns:a16="http://schemas.microsoft.com/office/drawing/2014/main" id="{855B35CA-D48C-4403-71BA-36139D058684}"/>
              </a:ext>
            </a:extLst>
          </p:cNvPr>
          <p:cNvSpPr txBox="1"/>
          <p:nvPr/>
        </p:nvSpPr>
        <p:spPr>
          <a:xfrm>
            <a:off x="4111905" y="2556934"/>
            <a:ext cx="1731975" cy="184666"/>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تیم متوازن و کاهش ریسک اجرایی ونچر.</a:t>
            </a:r>
          </a:p>
        </p:txBody>
      </p:sp>
      <p:sp>
        <p:nvSpPr>
          <p:cNvPr id="59" name="TextBox 58">
            <a:extLst>
              <a:ext uri="{FF2B5EF4-FFF2-40B4-BE49-F238E27FC236}">
                <a16:creationId xmlns:a16="http://schemas.microsoft.com/office/drawing/2014/main" id="{9CFEA5D7-A7A9-F1D5-1A76-5BD4A59F29B1}"/>
              </a:ext>
            </a:extLst>
          </p:cNvPr>
          <p:cNvSpPr txBox="1"/>
          <p:nvPr/>
        </p:nvSpPr>
        <p:spPr>
          <a:xfrm>
            <a:off x="438700" y="2005725"/>
            <a:ext cx="3597561" cy="364202"/>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30" normalizeH="0" baseline="0" noProof="0" dirty="0" err="1">
                <a:ln>
                  <a:noFill/>
                </a:ln>
                <a:solidFill>
                  <a:srgbClr val="F0BE0F"/>
                </a:solidFill>
                <a:effectLst/>
                <a:uLnTx/>
                <a:uFillTx/>
                <a:latin typeface="Yekan Bakh" pitchFamily="2" charset="-78"/>
                <a:ea typeface="Yekan Bakh" pitchFamily="2" charset="-78"/>
                <a:cs typeface="Yekan Bakh" pitchFamily="2" charset="-78"/>
              </a:rPr>
              <a:t>کار</a:t>
            </a:r>
            <a:r>
              <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 </a:t>
            </a:r>
            <a:r>
              <a:rPr kumimoji="0" lang="fa-IR"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۳</a:t>
            </a:r>
            <a:endPar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225"/>
              </a:spcBef>
              <a:spcAft>
                <a:spcPts val="0"/>
              </a:spcAft>
              <a:buClrTx/>
              <a:buSzTx/>
              <a:buFontTx/>
              <a:buNone/>
              <a:tabLst/>
              <a:defRPr/>
            </a:pPr>
            <a:r>
              <a:rPr kumimoji="0" lang="fa-IR" sz="7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حرکت با سرعتی فراتر از حاکمیت شرکتی داخلی سازمان مادر</a:t>
            </a:r>
          </a:p>
        </p:txBody>
      </p:sp>
      <p:sp>
        <p:nvSpPr>
          <p:cNvPr id="60" name="Rectangle: Single Corner Rounded 59">
            <a:extLst>
              <a:ext uri="{FF2B5EF4-FFF2-40B4-BE49-F238E27FC236}">
                <a16:creationId xmlns:a16="http://schemas.microsoft.com/office/drawing/2014/main" id="{60338CAF-D260-B3F9-4750-13C5524DDC95}"/>
              </a:ext>
            </a:extLst>
          </p:cNvPr>
          <p:cNvSpPr/>
          <p:nvPr/>
        </p:nvSpPr>
        <p:spPr>
          <a:xfrm flipV="1">
            <a:off x="2235251" y="2423615"/>
            <a:ext cx="1734201" cy="454939"/>
          </a:xfrm>
          <a:prstGeom prst="round1Rect">
            <a:avLst/>
          </a:prstGeom>
          <a:solidFill>
            <a:srgbClr val="F0BE0F">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61" name="Rectangle: Single Corner Rounded 60">
            <a:extLst>
              <a:ext uri="{FF2B5EF4-FFF2-40B4-BE49-F238E27FC236}">
                <a16:creationId xmlns:a16="http://schemas.microsoft.com/office/drawing/2014/main" id="{FE283538-2E1E-EB62-595E-20C51785CC32}"/>
              </a:ext>
            </a:extLst>
          </p:cNvPr>
          <p:cNvSpPr/>
          <p:nvPr/>
        </p:nvSpPr>
        <p:spPr>
          <a:xfrm flipH="1" flipV="1">
            <a:off x="505509" y="2423615"/>
            <a:ext cx="1734201" cy="454939"/>
          </a:xfrm>
          <a:prstGeom prst="round1Rect">
            <a:avLst/>
          </a:prstGeom>
          <a:solidFill>
            <a:srgbClr val="1E2761">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62" name="TextBox 61">
            <a:extLst>
              <a:ext uri="{FF2B5EF4-FFF2-40B4-BE49-F238E27FC236}">
                <a16:creationId xmlns:a16="http://schemas.microsoft.com/office/drawing/2014/main" id="{E808DB74-99A2-0609-1B38-E06A36593F1C}"/>
              </a:ext>
            </a:extLst>
          </p:cNvPr>
          <p:cNvSpPr txBox="1"/>
          <p:nvPr/>
        </p:nvSpPr>
        <p:spPr>
          <a:xfrm>
            <a:off x="2235251" y="2416770"/>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دردسر</a:t>
            </a:r>
            <a:endParaRPr kumimoji="0" lang="en-GB"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p:txBody>
      </p:sp>
      <p:sp>
        <p:nvSpPr>
          <p:cNvPr id="63" name="TextBox 62">
            <a:extLst>
              <a:ext uri="{FF2B5EF4-FFF2-40B4-BE49-F238E27FC236}">
                <a16:creationId xmlns:a16="http://schemas.microsoft.com/office/drawing/2014/main" id="{A4178841-5990-653D-C869-0FA06436D2C9}"/>
              </a:ext>
            </a:extLst>
          </p:cNvPr>
          <p:cNvSpPr txBox="1"/>
          <p:nvPr/>
        </p:nvSpPr>
        <p:spPr>
          <a:xfrm>
            <a:off x="503280" y="2416770"/>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منفعت</a:t>
            </a:r>
          </a:p>
        </p:txBody>
      </p:sp>
      <p:sp>
        <p:nvSpPr>
          <p:cNvPr id="64" name="TextBox 63">
            <a:extLst>
              <a:ext uri="{FF2B5EF4-FFF2-40B4-BE49-F238E27FC236}">
                <a16:creationId xmlns:a16="http://schemas.microsoft.com/office/drawing/2014/main" id="{0F42A344-1C88-6CF0-8D75-A9A544DCCDDD}"/>
              </a:ext>
            </a:extLst>
          </p:cNvPr>
          <p:cNvSpPr txBox="1"/>
          <p:nvPr/>
        </p:nvSpPr>
        <p:spPr>
          <a:xfrm>
            <a:off x="2235247" y="2556934"/>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کندی تصمیم‌گیری داخلی که به از دست رفتن فرصت منجر می‌شود.</a:t>
            </a:r>
          </a:p>
        </p:txBody>
      </p:sp>
      <p:sp>
        <p:nvSpPr>
          <p:cNvPr id="65" name="TextBox 64">
            <a:extLst>
              <a:ext uri="{FF2B5EF4-FFF2-40B4-BE49-F238E27FC236}">
                <a16:creationId xmlns:a16="http://schemas.microsoft.com/office/drawing/2014/main" id="{6E105F40-AAC6-992E-E703-C0F2C15252FA}"/>
              </a:ext>
            </a:extLst>
          </p:cNvPr>
          <p:cNvSpPr txBox="1"/>
          <p:nvPr/>
        </p:nvSpPr>
        <p:spPr>
          <a:xfrm>
            <a:off x="502157" y="2556934"/>
            <a:ext cx="1731975" cy="184666"/>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چابکی لازم برای آزمون و ساخت سریع ونچر.</a:t>
            </a:r>
          </a:p>
        </p:txBody>
      </p:sp>
      <p:sp>
        <p:nvSpPr>
          <p:cNvPr id="67" name="TextBox 66">
            <a:extLst>
              <a:ext uri="{FF2B5EF4-FFF2-40B4-BE49-F238E27FC236}">
                <a16:creationId xmlns:a16="http://schemas.microsoft.com/office/drawing/2014/main" id="{129D56A6-08A5-C912-D4A0-16097C2375C4}"/>
              </a:ext>
            </a:extLst>
          </p:cNvPr>
          <p:cNvSpPr txBox="1"/>
          <p:nvPr/>
        </p:nvSpPr>
        <p:spPr>
          <a:xfrm>
            <a:off x="7646008" y="2949501"/>
            <a:ext cx="3597561" cy="364202"/>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30" normalizeH="0" baseline="0" noProof="0" dirty="0" err="1">
                <a:ln>
                  <a:noFill/>
                </a:ln>
                <a:solidFill>
                  <a:srgbClr val="F0BE0F"/>
                </a:solidFill>
                <a:effectLst/>
                <a:uLnTx/>
                <a:uFillTx/>
                <a:latin typeface="Yekan Bakh" pitchFamily="2" charset="-78"/>
                <a:ea typeface="Yekan Bakh" pitchFamily="2" charset="-78"/>
                <a:cs typeface="Yekan Bakh" pitchFamily="2" charset="-78"/>
              </a:rPr>
              <a:t>کار</a:t>
            </a:r>
            <a:r>
              <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 </a:t>
            </a:r>
            <a:r>
              <a:rPr kumimoji="0" lang="fa-IR"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۴</a:t>
            </a:r>
            <a:endPar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225"/>
              </a:spcBef>
              <a:spcAft>
                <a:spcPts val="0"/>
              </a:spcAft>
              <a:buClrTx/>
              <a:buSzTx/>
              <a:buFontTx/>
              <a:buNone/>
              <a:tabLst/>
              <a:defRPr/>
            </a:pPr>
            <a:r>
              <a:rPr kumimoji="0" lang="fa-IR" sz="7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مهار و محدودسازی ریسک نزول این پروژه به سازمان مادر</a:t>
            </a:r>
          </a:p>
        </p:txBody>
      </p:sp>
      <p:sp>
        <p:nvSpPr>
          <p:cNvPr id="68" name="Rectangle: Single Corner Rounded 67">
            <a:extLst>
              <a:ext uri="{FF2B5EF4-FFF2-40B4-BE49-F238E27FC236}">
                <a16:creationId xmlns:a16="http://schemas.microsoft.com/office/drawing/2014/main" id="{48381CCA-F66B-D155-60BC-7CA9A457EFA5}"/>
              </a:ext>
            </a:extLst>
          </p:cNvPr>
          <p:cNvSpPr/>
          <p:nvPr/>
        </p:nvSpPr>
        <p:spPr>
          <a:xfrm flipV="1">
            <a:off x="9442559" y="3367391"/>
            <a:ext cx="1734201" cy="454939"/>
          </a:xfrm>
          <a:prstGeom prst="round1Rect">
            <a:avLst/>
          </a:prstGeom>
          <a:solidFill>
            <a:srgbClr val="F0BE0F">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69" name="Rectangle: Single Corner Rounded 68">
            <a:extLst>
              <a:ext uri="{FF2B5EF4-FFF2-40B4-BE49-F238E27FC236}">
                <a16:creationId xmlns:a16="http://schemas.microsoft.com/office/drawing/2014/main" id="{6AAAAD10-EABD-ECB0-EBC9-53BA352643A1}"/>
              </a:ext>
            </a:extLst>
          </p:cNvPr>
          <p:cNvSpPr/>
          <p:nvPr/>
        </p:nvSpPr>
        <p:spPr>
          <a:xfrm flipH="1" flipV="1">
            <a:off x="7712817" y="3367391"/>
            <a:ext cx="1734201" cy="454939"/>
          </a:xfrm>
          <a:prstGeom prst="round1Rect">
            <a:avLst/>
          </a:prstGeom>
          <a:solidFill>
            <a:srgbClr val="1E2761">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70" name="TextBox 69">
            <a:extLst>
              <a:ext uri="{FF2B5EF4-FFF2-40B4-BE49-F238E27FC236}">
                <a16:creationId xmlns:a16="http://schemas.microsoft.com/office/drawing/2014/main" id="{A263EEE9-C2C2-9E57-2416-F79026C7582D}"/>
              </a:ext>
            </a:extLst>
          </p:cNvPr>
          <p:cNvSpPr txBox="1"/>
          <p:nvPr/>
        </p:nvSpPr>
        <p:spPr>
          <a:xfrm>
            <a:off x="9442559" y="3360546"/>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دردسر</a:t>
            </a:r>
            <a:endParaRPr kumimoji="0" lang="en-GB"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p:txBody>
      </p:sp>
      <p:sp>
        <p:nvSpPr>
          <p:cNvPr id="71" name="TextBox 70">
            <a:extLst>
              <a:ext uri="{FF2B5EF4-FFF2-40B4-BE49-F238E27FC236}">
                <a16:creationId xmlns:a16="http://schemas.microsoft.com/office/drawing/2014/main" id="{932F9584-954C-5210-82DB-95F7E041214B}"/>
              </a:ext>
            </a:extLst>
          </p:cNvPr>
          <p:cNvSpPr txBox="1"/>
          <p:nvPr/>
        </p:nvSpPr>
        <p:spPr>
          <a:xfrm>
            <a:off x="7710588" y="3360546"/>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منفعت</a:t>
            </a:r>
          </a:p>
        </p:txBody>
      </p:sp>
      <p:sp>
        <p:nvSpPr>
          <p:cNvPr id="72" name="TextBox 71">
            <a:extLst>
              <a:ext uri="{FF2B5EF4-FFF2-40B4-BE49-F238E27FC236}">
                <a16:creationId xmlns:a16="http://schemas.microsoft.com/office/drawing/2014/main" id="{E3FC58FD-A74D-0F8B-8C6B-5D3B7F8BAEFF}"/>
              </a:ext>
            </a:extLst>
          </p:cNvPr>
          <p:cNvSpPr txBox="1"/>
          <p:nvPr/>
        </p:nvSpPr>
        <p:spPr>
          <a:xfrm>
            <a:off x="9442555" y="3500710"/>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تهدید اعتبار یا منابع سازمان مادر در صورت شکست ونچر.</a:t>
            </a:r>
          </a:p>
        </p:txBody>
      </p:sp>
      <p:sp>
        <p:nvSpPr>
          <p:cNvPr id="73" name="TextBox 72">
            <a:extLst>
              <a:ext uri="{FF2B5EF4-FFF2-40B4-BE49-F238E27FC236}">
                <a16:creationId xmlns:a16="http://schemas.microsoft.com/office/drawing/2014/main" id="{24451A20-3048-7A28-F46E-5531A41D7BE0}"/>
              </a:ext>
            </a:extLst>
          </p:cNvPr>
          <p:cNvSpPr txBox="1"/>
          <p:nvPr/>
        </p:nvSpPr>
        <p:spPr>
          <a:xfrm>
            <a:off x="7709465" y="3500710"/>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آزادی عمل برای آزمایش بدون خطر برای کسب‌وکار اصلی.</a:t>
            </a:r>
          </a:p>
        </p:txBody>
      </p:sp>
      <p:sp>
        <p:nvSpPr>
          <p:cNvPr id="75" name="TextBox 74">
            <a:extLst>
              <a:ext uri="{FF2B5EF4-FFF2-40B4-BE49-F238E27FC236}">
                <a16:creationId xmlns:a16="http://schemas.microsoft.com/office/drawing/2014/main" id="{D167C2F5-7CD8-E78C-6339-12A4E7A2A81A}"/>
              </a:ext>
            </a:extLst>
          </p:cNvPr>
          <p:cNvSpPr txBox="1"/>
          <p:nvPr/>
        </p:nvSpPr>
        <p:spPr>
          <a:xfrm>
            <a:off x="4048448" y="2949501"/>
            <a:ext cx="3597561" cy="364202"/>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30" normalizeH="0" baseline="0" noProof="0" dirty="0" err="1">
                <a:ln>
                  <a:noFill/>
                </a:ln>
                <a:solidFill>
                  <a:srgbClr val="F0BE0F"/>
                </a:solidFill>
                <a:effectLst/>
                <a:uLnTx/>
                <a:uFillTx/>
                <a:latin typeface="Yekan Bakh" pitchFamily="2" charset="-78"/>
                <a:ea typeface="Yekan Bakh" pitchFamily="2" charset="-78"/>
                <a:cs typeface="Yekan Bakh" pitchFamily="2" charset="-78"/>
              </a:rPr>
              <a:t>کار</a:t>
            </a:r>
            <a:r>
              <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 </a:t>
            </a:r>
            <a:r>
              <a:rPr kumimoji="0" lang="fa-IR"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۵</a:t>
            </a:r>
            <a:endPar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225"/>
              </a:spcBef>
              <a:spcAft>
                <a:spcPts val="0"/>
              </a:spcAft>
              <a:buClrTx/>
              <a:buSzTx/>
              <a:buFontTx/>
              <a:buNone/>
              <a:tabLst/>
              <a:defRPr/>
            </a:pPr>
            <a:r>
              <a:rPr kumimoji="0" lang="fa-IR" sz="7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جذب سرمایه برای فاز ساخت ونچر در بازاری که سرمایه به‌شدت متمرکز شده است</a:t>
            </a:r>
          </a:p>
        </p:txBody>
      </p:sp>
      <p:sp>
        <p:nvSpPr>
          <p:cNvPr id="76" name="Rectangle: Single Corner Rounded 75">
            <a:extLst>
              <a:ext uri="{FF2B5EF4-FFF2-40B4-BE49-F238E27FC236}">
                <a16:creationId xmlns:a16="http://schemas.microsoft.com/office/drawing/2014/main" id="{427DBE37-0E15-C669-E2F5-BEABCE5A6216}"/>
              </a:ext>
            </a:extLst>
          </p:cNvPr>
          <p:cNvSpPr/>
          <p:nvPr/>
        </p:nvSpPr>
        <p:spPr>
          <a:xfrm flipV="1">
            <a:off x="5844999" y="3367391"/>
            <a:ext cx="1734201" cy="454939"/>
          </a:xfrm>
          <a:prstGeom prst="round1Rect">
            <a:avLst/>
          </a:prstGeom>
          <a:solidFill>
            <a:srgbClr val="F0BE0F">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77" name="Rectangle: Single Corner Rounded 76">
            <a:extLst>
              <a:ext uri="{FF2B5EF4-FFF2-40B4-BE49-F238E27FC236}">
                <a16:creationId xmlns:a16="http://schemas.microsoft.com/office/drawing/2014/main" id="{7E1191AC-E9B7-8C79-77B2-ABEDC448389B}"/>
              </a:ext>
            </a:extLst>
          </p:cNvPr>
          <p:cNvSpPr/>
          <p:nvPr/>
        </p:nvSpPr>
        <p:spPr>
          <a:xfrm flipH="1" flipV="1">
            <a:off x="4115257" y="3367391"/>
            <a:ext cx="1734201" cy="454939"/>
          </a:xfrm>
          <a:prstGeom prst="round1Rect">
            <a:avLst/>
          </a:prstGeom>
          <a:solidFill>
            <a:srgbClr val="1E2761">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78" name="TextBox 77">
            <a:extLst>
              <a:ext uri="{FF2B5EF4-FFF2-40B4-BE49-F238E27FC236}">
                <a16:creationId xmlns:a16="http://schemas.microsoft.com/office/drawing/2014/main" id="{CCF72406-9A48-B1C8-D3B7-9A273AC6A732}"/>
              </a:ext>
            </a:extLst>
          </p:cNvPr>
          <p:cNvSpPr txBox="1"/>
          <p:nvPr/>
        </p:nvSpPr>
        <p:spPr>
          <a:xfrm>
            <a:off x="5844999" y="3360546"/>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دردسر</a:t>
            </a:r>
            <a:endParaRPr kumimoji="0" lang="en-GB"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p:txBody>
      </p:sp>
      <p:sp>
        <p:nvSpPr>
          <p:cNvPr id="79" name="TextBox 78">
            <a:extLst>
              <a:ext uri="{FF2B5EF4-FFF2-40B4-BE49-F238E27FC236}">
                <a16:creationId xmlns:a16="http://schemas.microsoft.com/office/drawing/2014/main" id="{2525673B-F5AD-CEEB-9AF4-F4A1B617F7BA}"/>
              </a:ext>
            </a:extLst>
          </p:cNvPr>
          <p:cNvSpPr txBox="1"/>
          <p:nvPr/>
        </p:nvSpPr>
        <p:spPr>
          <a:xfrm>
            <a:off x="4113028" y="3360546"/>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منفعت</a:t>
            </a:r>
          </a:p>
        </p:txBody>
      </p:sp>
      <p:sp>
        <p:nvSpPr>
          <p:cNvPr id="80" name="TextBox 79">
            <a:extLst>
              <a:ext uri="{FF2B5EF4-FFF2-40B4-BE49-F238E27FC236}">
                <a16:creationId xmlns:a16="http://schemas.microsoft.com/office/drawing/2014/main" id="{27F0EA2B-F5AB-3DE0-1399-FD31B54810AF}"/>
              </a:ext>
            </a:extLst>
          </p:cNvPr>
          <p:cNvSpPr txBox="1"/>
          <p:nvPr/>
        </p:nvSpPr>
        <p:spPr>
          <a:xfrm>
            <a:off x="5844995" y="3500710"/>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رقابت شدید بر سر سرمایه محدود و تمرکز آن در دست معدود بازیگران بزرگ.</a:t>
            </a:r>
          </a:p>
        </p:txBody>
      </p:sp>
      <p:sp>
        <p:nvSpPr>
          <p:cNvPr id="81" name="TextBox 80">
            <a:extLst>
              <a:ext uri="{FF2B5EF4-FFF2-40B4-BE49-F238E27FC236}">
                <a16:creationId xmlns:a16="http://schemas.microsoft.com/office/drawing/2014/main" id="{17EDC26A-6D40-4420-4A2E-45FF39E0FDA3}"/>
              </a:ext>
            </a:extLst>
          </p:cNvPr>
          <p:cNvSpPr txBox="1"/>
          <p:nvPr/>
        </p:nvSpPr>
        <p:spPr>
          <a:xfrm>
            <a:off x="4111905" y="3500710"/>
            <a:ext cx="1731975" cy="184666"/>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دسترسی به سرمایه کافی برای تکمیل فاز ساخت.</a:t>
            </a:r>
          </a:p>
        </p:txBody>
      </p:sp>
      <p:sp>
        <p:nvSpPr>
          <p:cNvPr id="83" name="TextBox 82">
            <a:extLst>
              <a:ext uri="{FF2B5EF4-FFF2-40B4-BE49-F238E27FC236}">
                <a16:creationId xmlns:a16="http://schemas.microsoft.com/office/drawing/2014/main" id="{1171AF62-FCD6-C0E2-A4E0-857750A470B5}"/>
              </a:ext>
            </a:extLst>
          </p:cNvPr>
          <p:cNvSpPr txBox="1"/>
          <p:nvPr/>
        </p:nvSpPr>
        <p:spPr>
          <a:xfrm>
            <a:off x="438700" y="2949501"/>
            <a:ext cx="3597561" cy="364202"/>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30" normalizeH="0" baseline="0" noProof="0" dirty="0" err="1">
                <a:ln>
                  <a:noFill/>
                </a:ln>
                <a:solidFill>
                  <a:srgbClr val="F0BE0F"/>
                </a:solidFill>
                <a:effectLst/>
                <a:uLnTx/>
                <a:uFillTx/>
                <a:latin typeface="Yekan Bakh" pitchFamily="2" charset="-78"/>
                <a:ea typeface="Yekan Bakh" pitchFamily="2" charset="-78"/>
                <a:cs typeface="Yekan Bakh" pitchFamily="2" charset="-78"/>
              </a:rPr>
              <a:t>کار</a:t>
            </a:r>
            <a:r>
              <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 </a:t>
            </a:r>
            <a:r>
              <a:rPr kumimoji="0" lang="fa-IR"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۶</a:t>
            </a:r>
            <a:endPar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225"/>
              </a:spcBef>
              <a:spcAft>
                <a:spcPts val="0"/>
              </a:spcAft>
              <a:buClrTx/>
              <a:buSzTx/>
              <a:buFontTx/>
              <a:buNone/>
              <a:tabLst/>
              <a:defRPr/>
            </a:pPr>
            <a:r>
              <a:rPr kumimoji="0" lang="fa-IR" sz="7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دریافت ارزش‌گذاری منصفانه و شفاف از دارایی مشارکتی</a:t>
            </a:r>
          </a:p>
        </p:txBody>
      </p:sp>
      <p:sp>
        <p:nvSpPr>
          <p:cNvPr id="84" name="Rectangle: Single Corner Rounded 83">
            <a:extLst>
              <a:ext uri="{FF2B5EF4-FFF2-40B4-BE49-F238E27FC236}">
                <a16:creationId xmlns:a16="http://schemas.microsoft.com/office/drawing/2014/main" id="{C0E62845-FA6C-78DA-20B4-943E42053A5A}"/>
              </a:ext>
            </a:extLst>
          </p:cNvPr>
          <p:cNvSpPr/>
          <p:nvPr/>
        </p:nvSpPr>
        <p:spPr>
          <a:xfrm flipV="1">
            <a:off x="2235251" y="3367391"/>
            <a:ext cx="1734201" cy="454939"/>
          </a:xfrm>
          <a:prstGeom prst="round1Rect">
            <a:avLst/>
          </a:prstGeom>
          <a:solidFill>
            <a:srgbClr val="F0BE0F">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85" name="Rectangle: Single Corner Rounded 84">
            <a:extLst>
              <a:ext uri="{FF2B5EF4-FFF2-40B4-BE49-F238E27FC236}">
                <a16:creationId xmlns:a16="http://schemas.microsoft.com/office/drawing/2014/main" id="{2090B127-F982-5C2E-C86F-94D55A771996}"/>
              </a:ext>
            </a:extLst>
          </p:cNvPr>
          <p:cNvSpPr/>
          <p:nvPr/>
        </p:nvSpPr>
        <p:spPr>
          <a:xfrm flipH="1" flipV="1">
            <a:off x="505509" y="3367391"/>
            <a:ext cx="1734201" cy="454939"/>
          </a:xfrm>
          <a:prstGeom prst="round1Rect">
            <a:avLst/>
          </a:prstGeom>
          <a:solidFill>
            <a:srgbClr val="1E2761">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86" name="TextBox 85">
            <a:extLst>
              <a:ext uri="{FF2B5EF4-FFF2-40B4-BE49-F238E27FC236}">
                <a16:creationId xmlns:a16="http://schemas.microsoft.com/office/drawing/2014/main" id="{CCD018BF-A907-F0CA-7264-F192C4C0DBB0}"/>
              </a:ext>
            </a:extLst>
          </p:cNvPr>
          <p:cNvSpPr txBox="1"/>
          <p:nvPr/>
        </p:nvSpPr>
        <p:spPr>
          <a:xfrm>
            <a:off x="2235251" y="3360546"/>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دردسر</a:t>
            </a:r>
            <a:endParaRPr kumimoji="0" lang="en-GB"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p:txBody>
      </p:sp>
      <p:sp>
        <p:nvSpPr>
          <p:cNvPr id="87" name="TextBox 86">
            <a:extLst>
              <a:ext uri="{FF2B5EF4-FFF2-40B4-BE49-F238E27FC236}">
                <a16:creationId xmlns:a16="http://schemas.microsoft.com/office/drawing/2014/main" id="{291E4AD4-5C84-5794-509E-537D3A323650}"/>
              </a:ext>
            </a:extLst>
          </p:cNvPr>
          <p:cNvSpPr txBox="1"/>
          <p:nvPr/>
        </p:nvSpPr>
        <p:spPr>
          <a:xfrm>
            <a:off x="503280" y="3360546"/>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منفعت</a:t>
            </a:r>
          </a:p>
        </p:txBody>
      </p:sp>
      <p:sp>
        <p:nvSpPr>
          <p:cNvPr id="88" name="TextBox 87">
            <a:extLst>
              <a:ext uri="{FF2B5EF4-FFF2-40B4-BE49-F238E27FC236}">
                <a16:creationId xmlns:a16="http://schemas.microsoft.com/office/drawing/2014/main" id="{EBE41450-5B14-C5E0-212C-5E4B10056A48}"/>
              </a:ext>
            </a:extLst>
          </p:cNvPr>
          <p:cNvSpPr txBox="1"/>
          <p:nvPr/>
        </p:nvSpPr>
        <p:spPr>
          <a:xfrm>
            <a:off x="2235247" y="3500710"/>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ریسک دست‌کم‌گرفته‌شدن یا سوءاستفاده از ارزش دارایی مشارکتی.</a:t>
            </a:r>
          </a:p>
        </p:txBody>
      </p:sp>
      <p:sp>
        <p:nvSpPr>
          <p:cNvPr id="89" name="TextBox 88">
            <a:extLst>
              <a:ext uri="{FF2B5EF4-FFF2-40B4-BE49-F238E27FC236}">
                <a16:creationId xmlns:a16="http://schemas.microsoft.com/office/drawing/2014/main" id="{EE88F873-B43A-9E1E-81D4-28DC1AB88851}"/>
              </a:ext>
            </a:extLst>
          </p:cNvPr>
          <p:cNvSpPr txBox="1"/>
          <p:nvPr/>
        </p:nvSpPr>
        <p:spPr>
          <a:xfrm>
            <a:off x="502157" y="3500710"/>
            <a:ext cx="1731975" cy="184666"/>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مشارکت عادلانه در مالکیت آینده کسب‌وکار.</a:t>
            </a:r>
          </a:p>
        </p:txBody>
      </p:sp>
      <p:sp>
        <p:nvSpPr>
          <p:cNvPr id="91" name="TextBox 90">
            <a:extLst>
              <a:ext uri="{FF2B5EF4-FFF2-40B4-BE49-F238E27FC236}">
                <a16:creationId xmlns:a16="http://schemas.microsoft.com/office/drawing/2014/main" id="{C6395245-8F4F-E59C-7785-123AC066BF32}"/>
              </a:ext>
            </a:extLst>
          </p:cNvPr>
          <p:cNvSpPr txBox="1"/>
          <p:nvPr/>
        </p:nvSpPr>
        <p:spPr>
          <a:xfrm>
            <a:off x="7646008" y="3893277"/>
            <a:ext cx="3597561" cy="364202"/>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30" normalizeH="0" baseline="0" noProof="0" dirty="0" err="1">
                <a:ln>
                  <a:noFill/>
                </a:ln>
                <a:solidFill>
                  <a:srgbClr val="F0BE0F"/>
                </a:solidFill>
                <a:effectLst/>
                <a:uLnTx/>
                <a:uFillTx/>
                <a:latin typeface="Yekan Bakh" pitchFamily="2" charset="-78"/>
                <a:ea typeface="Yekan Bakh" pitchFamily="2" charset="-78"/>
                <a:cs typeface="Yekan Bakh" pitchFamily="2" charset="-78"/>
              </a:rPr>
              <a:t>کار</a:t>
            </a:r>
            <a:r>
              <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 </a:t>
            </a:r>
            <a:r>
              <a:rPr kumimoji="0" lang="fa-IR"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۷</a:t>
            </a:r>
            <a:endPar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225"/>
              </a:spcBef>
              <a:spcAft>
                <a:spcPts val="0"/>
              </a:spcAft>
              <a:buClrTx/>
              <a:buSzTx/>
              <a:buFontTx/>
              <a:buNone/>
              <a:tabLst/>
              <a:defRPr/>
            </a:pPr>
            <a:r>
              <a:rPr kumimoji="0" lang="fa-IR" sz="7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ساخت تیم و ساختار حاکمیتی روشن برای ونچر (کپ‌تیبل، توافق سهام‌داران)</a:t>
            </a:r>
          </a:p>
        </p:txBody>
      </p:sp>
      <p:sp>
        <p:nvSpPr>
          <p:cNvPr id="92" name="Rectangle: Single Corner Rounded 91">
            <a:extLst>
              <a:ext uri="{FF2B5EF4-FFF2-40B4-BE49-F238E27FC236}">
                <a16:creationId xmlns:a16="http://schemas.microsoft.com/office/drawing/2014/main" id="{B72955A5-B6E6-E5C0-3C96-B11749E59E11}"/>
              </a:ext>
            </a:extLst>
          </p:cNvPr>
          <p:cNvSpPr/>
          <p:nvPr/>
        </p:nvSpPr>
        <p:spPr>
          <a:xfrm flipV="1">
            <a:off x="9442559" y="4311167"/>
            <a:ext cx="1734201" cy="454939"/>
          </a:xfrm>
          <a:prstGeom prst="round1Rect">
            <a:avLst/>
          </a:prstGeom>
          <a:solidFill>
            <a:srgbClr val="F0BE0F">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93" name="Rectangle: Single Corner Rounded 92">
            <a:extLst>
              <a:ext uri="{FF2B5EF4-FFF2-40B4-BE49-F238E27FC236}">
                <a16:creationId xmlns:a16="http://schemas.microsoft.com/office/drawing/2014/main" id="{3BD7E15B-7940-7429-4781-F92297282DF0}"/>
              </a:ext>
            </a:extLst>
          </p:cNvPr>
          <p:cNvSpPr/>
          <p:nvPr/>
        </p:nvSpPr>
        <p:spPr>
          <a:xfrm flipH="1" flipV="1">
            <a:off x="7712817" y="4311167"/>
            <a:ext cx="1734201" cy="454939"/>
          </a:xfrm>
          <a:prstGeom prst="round1Rect">
            <a:avLst/>
          </a:prstGeom>
          <a:solidFill>
            <a:srgbClr val="1E2761">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94" name="TextBox 93">
            <a:extLst>
              <a:ext uri="{FF2B5EF4-FFF2-40B4-BE49-F238E27FC236}">
                <a16:creationId xmlns:a16="http://schemas.microsoft.com/office/drawing/2014/main" id="{69045821-8357-8141-FECD-801FF2E89D53}"/>
              </a:ext>
            </a:extLst>
          </p:cNvPr>
          <p:cNvSpPr txBox="1"/>
          <p:nvPr/>
        </p:nvSpPr>
        <p:spPr>
          <a:xfrm>
            <a:off x="9442559" y="4304322"/>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دردسر</a:t>
            </a:r>
            <a:endParaRPr kumimoji="0" lang="en-GB"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p:txBody>
      </p:sp>
      <p:sp>
        <p:nvSpPr>
          <p:cNvPr id="95" name="TextBox 94">
            <a:extLst>
              <a:ext uri="{FF2B5EF4-FFF2-40B4-BE49-F238E27FC236}">
                <a16:creationId xmlns:a16="http://schemas.microsoft.com/office/drawing/2014/main" id="{104D8A1B-C34B-2313-E55C-84DC4A486C62}"/>
              </a:ext>
            </a:extLst>
          </p:cNvPr>
          <p:cNvSpPr txBox="1"/>
          <p:nvPr/>
        </p:nvSpPr>
        <p:spPr>
          <a:xfrm>
            <a:off x="7710588" y="4304322"/>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منفعت</a:t>
            </a:r>
          </a:p>
        </p:txBody>
      </p:sp>
      <p:sp>
        <p:nvSpPr>
          <p:cNvPr id="96" name="TextBox 95">
            <a:extLst>
              <a:ext uri="{FF2B5EF4-FFF2-40B4-BE49-F238E27FC236}">
                <a16:creationId xmlns:a16="http://schemas.microsoft.com/office/drawing/2014/main" id="{25BE96BE-1C40-58C1-CD29-7BA0E09B60DB}"/>
              </a:ext>
            </a:extLst>
          </p:cNvPr>
          <p:cNvSpPr txBox="1"/>
          <p:nvPr/>
        </p:nvSpPr>
        <p:spPr>
          <a:xfrm>
            <a:off x="9442555" y="4444486"/>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ابهام در تقسیم مالکیت و تصمیم‌گیری آینده میان شرکا.</a:t>
            </a:r>
          </a:p>
        </p:txBody>
      </p:sp>
      <p:sp>
        <p:nvSpPr>
          <p:cNvPr id="97" name="TextBox 96">
            <a:extLst>
              <a:ext uri="{FF2B5EF4-FFF2-40B4-BE49-F238E27FC236}">
                <a16:creationId xmlns:a16="http://schemas.microsoft.com/office/drawing/2014/main" id="{4CB867F5-A70A-F707-2EED-649B85F96E81}"/>
              </a:ext>
            </a:extLst>
          </p:cNvPr>
          <p:cNvSpPr txBox="1"/>
          <p:nvPr/>
        </p:nvSpPr>
        <p:spPr>
          <a:xfrm>
            <a:off x="7709465" y="4444486"/>
            <a:ext cx="1731975" cy="184666"/>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پایه حقوقی و مدیریتی روشن برای رشد ونچر.</a:t>
            </a:r>
          </a:p>
        </p:txBody>
      </p:sp>
      <p:sp>
        <p:nvSpPr>
          <p:cNvPr id="99" name="TextBox 98">
            <a:extLst>
              <a:ext uri="{FF2B5EF4-FFF2-40B4-BE49-F238E27FC236}">
                <a16:creationId xmlns:a16="http://schemas.microsoft.com/office/drawing/2014/main" id="{4C3C5296-E54C-9112-F783-C79B25B9A0FF}"/>
              </a:ext>
            </a:extLst>
          </p:cNvPr>
          <p:cNvSpPr txBox="1"/>
          <p:nvPr/>
        </p:nvSpPr>
        <p:spPr>
          <a:xfrm>
            <a:off x="4048448" y="3893277"/>
            <a:ext cx="3597561" cy="364202"/>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30" normalizeH="0" baseline="0" noProof="0" dirty="0" err="1">
                <a:ln>
                  <a:noFill/>
                </a:ln>
                <a:solidFill>
                  <a:srgbClr val="F0BE0F"/>
                </a:solidFill>
                <a:effectLst/>
                <a:uLnTx/>
                <a:uFillTx/>
                <a:latin typeface="Yekan Bakh" pitchFamily="2" charset="-78"/>
                <a:ea typeface="Yekan Bakh" pitchFamily="2" charset="-78"/>
                <a:cs typeface="Yekan Bakh" pitchFamily="2" charset="-78"/>
              </a:rPr>
              <a:t>کار</a:t>
            </a:r>
            <a:r>
              <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 </a:t>
            </a:r>
            <a:r>
              <a:rPr kumimoji="0" lang="fa-IR"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۸</a:t>
            </a:r>
            <a:endPar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225"/>
              </a:spcBef>
              <a:spcAft>
                <a:spcPts val="0"/>
              </a:spcAft>
              <a:buClrTx/>
              <a:buSzTx/>
              <a:buFontTx/>
              <a:buNone/>
              <a:tabLst/>
              <a:defRPr/>
            </a:pPr>
            <a:r>
              <a:rPr kumimoji="0" lang="fa-IR" sz="7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انتخاب و به‌کارگیری مدل مناسب برای ساخت ونچر حول دارایی خفته</a:t>
            </a:r>
          </a:p>
        </p:txBody>
      </p:sp>
      <p:sp>
        <p:nvSpPr>
          <p:cNvPr id="100" name="Rectangle: Single Corner Rounded 99">
            <a:extLst>
              <a:ext uri="{FF2B5EF4-FFF2-40B4-BE49-F238E27FC236}">
                <a16:creationId xmlns:a16="http://schemas.microsoft.com/office/drawing/2014/main" id="{8FB18A53-1262-CC77-3841-D333617088E8}"/>
              </a:ext>
            </a:extLst>
          </p:cNvPr>
          <p:cNvSpPr/>
          <p:nvPr/>
        </p:nvSpPr>
        <p:spPr>
          <a:xfrm flipV="1">
            <a:off x="5844999" y="4311167"/>
            <a:ext cx="1734201" cy="454939"/>
          </a:xfrm>
          <a:prstGeom prst="round1Rect">
            <a:avLst/>
          </a:prstGeom>
          <a:solidFill>
            <a:srgbClr val="F0BE0F">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01" name="Rectangle: Single Corner Rounded 100">
            <a:extLst>
              <a:ext uri="{FF2B5EF4-FFF2-40B4-BE49-F238E27FC236}">
                <a16:creationId xmlns:a16="http://schemas.microsoft.com/office/drawing/2014/main" id="{DC70CA2B-1012-CDB1-66A0-0293C3E98C78}"/>
              </a:ext>
            </a:extLst>
          </p:cNvPr>
          <p:cNvSpPr/>
          <p:nvPr/>
        </p:nvSpPr>
        <p:spPr>
          <a:xfrm flipH="1" flipV="1">
            <a:off x="4115257" y="4311167"/>
            <a:ext cx="1734201" cy="454939"/>
          </a:xfrm>
          <a:prstGeom prst="round1Rect">
            <a:avLst/>
          </a:prstGeom>
          <a:solidFill>
            <a:srgbClr val="1E2761">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02" name="TextBox 101">
            <a:extLst>
              <a:ext uri="{FF2B5EF4-FFF2-40B4-BE49-F238E27FC236}">
                <a16:creationId xmlns:a16="http://schemas.microsoft.com/office/drawing/2014/main" id="{AAA0692E-959A-02D0-5EC0-3FAFA16AC50B}"/>
              </a:ext>
            </a:extLst>
          </p:cNvPr>
          <p:cNvSpPr txBox="1"/>
          <p:nvPr/>
        </p:nvSpPr>
        <p:spPr>
          <a:xfrm>
            <a:off x="5844999" y="4304322"/>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دردسر</a:t>
            </a:r>
            <a:endParaRPr kumimoji="0" lang="en-GB"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p:txBody>
      </p:sp>
      <p:sp>
        <p:nvSpPr>
          <p:cNvPr id="103" name="TextBox 102">
            <a:extLst>
              <a:ext uri="{FF2B5EF4-FFF2-40B4-BE49-F238E27FC236}">
                <a16:creationId xmlns:a16="http://schemas.microsoft.com/office/drawing/2014/main" id="{0983031B-6AA6-13EB-DDC8-E80CD2F282DE}"/>
              </a:ext>
            </a:extLst>
          </p:cNvPr>
          <p:cNvSpPr txBox="1"/>
          <p:nvPr/>
        </p:nvSpPr>
        <p:spPr>
          <a:xfrm>
            <a:off x="4113028" y="4304322"/>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منفعت</a:t>
            </a:r>
          </a:p>
        </p:txBody>
      </p:sp>
      <p:sp>
        <p:nvSpPr>
          <p:cNvPr id="104" name="TextBox 103">
            <a:extLst>
              <a:ext uri="{FF2B5EF4-FFF2-40B4-BE49-F238E27FC236}">
                <a16:creationId xmlns:a16="http://schemas.microsoft.com/office/drawing/2014/main" id="{DB8FF3F4-4A12-ECD8-74BF-7BA0B5BE2FBA}"/>
              </a:ext>
            </a:extLst>
          </p:cNvPr>
          <p:cNvSpPr txBox="1"/>
          <p:nvPr/>
        </p:nvSpPr>
        <p:spPr>
          <a:xfrm>
            <a:off x="5844995" y="4444486"/>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نبود چارچوب روشن برای نحوه تبدیل دارایی به کسب‌وکار عملیاتی.</a:t>
            </a:r>
          </a:p>
        </p:txBody>
      </p:sp>
      <p:sp>
        <p:nvSpPr>
          <p:cNvPr id="105" name="TextBox 104">
            <a:extLst>
              <a:ext uri="{FF2B5EF4-FFF2-40B4-BE49-F238E27FC236}">
                <a16:creationId xmlns:a16="http://schemas.microsoft.com/office/drawing/2014/main" id="{90EFB504-9440-879F-1DB1-5F1C5EE89352}"/>
              </a:ext>
            </a:extLst>
          </p:cNvPr>
          <p:cNvSpPr txBox="1"/>
          <p:nvPr/>
        </p:nvSpPr>
        <p:spPr>
          <a:xfrm>
            <a:off x="4111905" y="4444486"/>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مسیر ساخت واضح و کارآمد به‌جای آزمون و خطای پرهزینه.</a:t>
            </a:r>
          </a:p>
        </p:txBody>
      </p:sp>
      <p:sp>
        <p:nvSpPr>
          <p:cNvPr id="107" name="TextBox 106">
            <a:extLst>
              <a:ext uri="{FF2B5EF4-FFF2-40B4-BE49-F238E27FC236}">
                <a16:creationId xmlns:a16="http://schemas.microsoft.com/office/drawing/2014/main" id="{593136AD-8F78-A493-E8FD-9B3A87925BAF}"/>
              </a:ext>
            </a:extLst>
          </p:cNvPr>
          <p:cNvSpPr txBox="1"/>
          <p:nvPr/>
        </p:nvSpPr>
        <p:spPr>
          <a:xfrm>
            <a:off x="438700" y="3893277"/>
            <a:ext cx="3597561" cy="364202"/>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30" normalizeH="0" baseline="0" noProof="0" dirty="0" err="1">
                <a:ln>
                  <a:noFill/>
                </a:ln>
                <a:solidFill>
                  <a:srgbClr val="F0BE0F"/>
                </a:solidFill>
                <a:effectLst/>
                <a:uLnTx/>
                <a:uFillTx/>
                <a:latin typeface="Yekan Bakh" pitchFamily="2" charset="-78"/>
                <a:ea typeface="Yekan Bakh" pitchFamily="2" charset="-78"/>
                <a:cs typeface="Yekan Bakh" pitchFamily="2" charset="-78"/>
              </a:rPr>
              <a:t>کار</a:t>
            </a:r>
            <a:r>
              <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 </a:t>
            </a:r>
            <a:r>
              <a:rPr kumimoji="0" lang="fa-IR"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۹</a:t>
            </a:r>
            <a:endPar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225"/>
              </a:spcBef>
              <a:spcAft>
                <a:spcPts val="0"/>
              </a:spcAft>
              <a:buClrTx/>
              <a:buSzTx/>
              <a:buFontTx/>
              <a:buNone/>
              <a:tabLst/>
              <a:defRPr/>
            </a:pPr>
            <a:r>
              <a:rPr kumimoji="0" lang="fa-IR" sz="7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جبران ضعف اکوسیستم کارآفرینی داخلی از طریق دسترسی به شبکه و منابع بین‌المللی</a:t>
            </a:r>
          </a:p>
        </p:txBody>
      </p:sp>
      <p:sp>
        <p:nvSpPr>
          <p:cNvPr id="108" name="Rectangle: Single Corner Rounded 107">
            <a:extLst>
              <a:ext uri="{FF2B5EF4-FFF2-40B4-BE49-F238E27FC236}">
                <a16:creationId xmlns:a16="http://schemas.microsoft.com/office/drawing/2014/main" id="{7CCA0EFB-249C-F1A7-B3F6-0F683E3D1385}"/>
              </a:ext>
            </a:extLst>
          </p:cNvPr>
          <p:cNvSpPr/>
          <p:nvPr/>
        </p:nvSpPr>
        <p:spPr>
          <a:xfrm flipV="1">
            <a:off x="2235251" y="4311167"/>
            <a:ext cx="1734201" cy="454939"/>
          </a:xfrm>
          <a:prstGeom prst="round1Rect">
            <a:avLst/>
          </a:prstGeom>
          <a:solidFill>
            <a:srgbClr val="F0BE0F">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09" name="Rectangle: Single Corner Rounded 108">
            <a:extLst>
              <a:ext uri="{FF2B5EF4-FFF2-40B4-BE49-F238E27FC236}">
                <a16:creationId xmlns:a16="http://schemas.microsoft.com/office/drawing/2014/main" id="{BC23EF77-283A-4FCD-0CC3-3C372E75BF5C}"/>
              </a:ext>
            </a:extLst>
          </p:cNvPr>
          <p:cNvSpPr/>
          <p:nvPr/>
        </p:nvSpPr>
        <p:spPr>
          <a:xfrm flipH="1" flipV="1">
            <a:off x="505509" y="4311167"/>
            <a:ext cx="1734201" cy="454939"/>
          </a:xfrm>
          <a:prstGeom prst="round1Rect">
            <a:avLst/>
          </a:prstGeom>
          <a:solidFill>
            <a:srgbClr val="1E2761">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10" name="TextBox 109">
            <a:extLst>
              <a:ext uri="{FF2B5EF4-FFF2-40B4-BE49-F238E27FC236}">
                <a16:creationId xmlns:a16="http://schemas.microsoft.com/office/drawing/2014/main" id="{156A5768-6C51-A5D4-FBF6-44091051E4AC}"/>
              </a:ext>
            </a:extLst>
          </p:cNvPr>
          <p:cNvSpPr txBox="1"/>
          <p:nvPr/>
        </p:nvSpPr>
        <p:spPr>
          <a:xfrm>
            <a:off x="2235251" y="4304322"/>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دردسر</a:t>
            </a:r>
            <a:endParaRPr kumimoji="0" lang="en-GB"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p:txBody>
      </p:sp>
      <p:sp>
        <p:nvSpPr>
          <p:cNvPr id="111" name="TextBox 110">
            <a:extLst>
              <a:ext uri="{FF2B5EF4-FFF2-40B4-BE49-F238E27FC236}">
                <a16:creationId xmlns:a16="http://schemas.microsoft.com/office/drawing/2014/main" id="{FFB54048-1208-A44D-3986-E0A8E7D80B30}"/>
              </a:ext>
            </a:extLst>
          </p:cNvPr>
          <p:cNvSpPr txBox="1"/>
          <p:nvPr/>
        </p:nvSpPr>
        <p:spPr>
          <a:xfrm>
            <a:off x="503280" y="4304322"/>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منفعت</a:t>
            </a:r>
          </a:p>
        </p:txBody>
      </p:sp>
      <p:sp>
        <p:nvSpPr>
          <p:cNvPr id="112" name="TextBox 111">
            <a:extLst>
              <a:ext uri="{FF2B5EF4-FFF2-40B4-BE49-F238E27FC236}">
                <a16:creationId xmlns:a16="http://schemas.microsoft.com/office/drawing/2014/main" id="{208BFBFB-FF5A-7115-FB5F-D9827FEC6379}"/>
              </a:ext>
            </a:extLst>
          </p:cNvPr>
          <p:cNvSpPr txBox="1"/>
          <p:nvPr/>
        </p:nvSpPr>
        <p:spPr>
          <a:xfrm>
            <a:off x="2235247" y="4444486"/>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محیط کسب‌وکار داخلی نامساعد و محدودکننده رشد ونچر.</a:t>
            </a:r>
          </a:p>
        </p:txBody>
      </p:sp>
      <p:sp>
        <p:nvSpPr>
          <p:cNvPr id="113" name="TextBox 112">
            <a:extLst>
              <a:ext uri="{FF2B5EF4-FFF2-40B4-BE49-F238E27FC236}">
                <a16:creationId xmlns:a16="http://schemas.microsoft.com/office/drawing/2014/main" id="{B821E4D0-C6B2-192C-80CE-36430A59BE04}"/>
              </a:ext>
            </a:extLst>
          </p:cNvPr>
          <p:cNvSpPr txBox="1"/>
          <p:nvPr/>
        </p:nvSpPr>
        <p:spPr>
          <a:xfrm>
            <a:off x="502157" y="4444486"/>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دسترسی به فرصت و منابع فراتر از مرزهای محدودکننده داخلی.</a:t>
            </a:r>
          </a:p>
        </p:txBody>
      </p:sp>
      <p:sp>
        <p:nvSpPr>
          <p:cNvPr id="115" name="TextBox 114">
            <a:extLst>
              <a:ext uri="{FF2B5EF4-FFF2-40B4-BE49-F238E27FC236}">
                <a16:creationId xmlns:a16="http://schemas.microsoft.com/office/drawing/2014/main" id="{6F703560-573D-3E70-5782-2E2CDD988999}"/>
              </a:ext>
            </a:extLst>
          </p:cNvPr>
          <p:cNvSpPr txBox="1"/>
          <p:nvPr/>
        </p:nvSpPr>
        <p:spPr>
          <a:xfrm>
            <a:off x="7646008" y="4837054"/>
            <a:ext cx="3597561" cy="471924"/>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30" normalizeH="0" baseline="0" noProof="0" dirty="0" err="1">
                <a:ln>
                  <a:noFill/>
                </a:ln>
                <a:solidFill>
                  <a:srgbClr val="F0BE0F"/>
                </a:solidFill>
                <a:effectLst/>
                <a:uLnTx/>
                <a:uFillTx/>
                <a:latin typeface="Yekan Bakh" pitchFamily="2" charset="-78"/>
                <a:ea typeface="Yekan Bakh" pitchFamily="2" charset="-78"/>
                <a:cs typeface="Yekan Bakh" pitchFamily="2" charset="-78"/>
              </a:rPr>
              <a:t>کار</a:t>
            </a:r>
            <a:r>
              <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 </a:t>
            </a:r>
            <a:r>
              <a:rPr kumimoji="0" lang="fa-IR"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۱۰</a:t>
            </a:r>
            <a:endPar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225"/>
              </a:spcBef>
              <a:spcAft>
                <a:spcPts val="0"/>
              </a:spcAft>
              <a:buClrTx/>
              <a:buSzTx/>
              <a:buFontTx/>
              <a:buNone/>
              <a:tabLst/>
              <a:defRPr/>
            </a:pPr>
            <a:r>
              <a:rPr kumimoji="0" lang="fa-IR" sz="7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اطمینان از اینکه این تلاش، برخلاف تلاش ناموفق قبلی، سرمایه اعتباری سازمان را هدر نمی‌دهد</a:t>
            </a:r>
          </a:p>
        </p:txBody>
      </p:sp>
      <p:sp>
        <p:nvSpPr>
          <p:cNvPr id="116" name="Rectangle: Single Corner Rounded 115">
            <a:extLst>
              <a:ext uri="{FF2B5EF4-FFF2-40B4-BE49-F238E27FC236}">
                <a16:creationId xmlns:a16="http://schemas.microsoft.com/office/drawing/2014/main" id="{DC19B96B-C97D-FFA6-C923-BA4CCE3AB0BA}"/>
              </a:ext>
            </a:extLst>
          </p:cNvPr>
          <p:cNvSpPr/>
          <p:nvPr/>
        </p:nvSpPr>
        <p:spPr>
          <a:xfrm flipV="1">
            <a:off x="9442559" y="5254944"/>
            <a:ext cx="1734201" cy="454939"/>
          </a:xfrm>
          <a:prstGeom prst="round1Rect">
            <a:avLst/>
          </a:prstGeom>
          <a:solidFill>
            <a:srgbClr val="F0BE0F">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17" name="Rectangle: Single Corner Rounded 116">
            <a:extLst>
              <a:ext uri="{FF2B5EF4-FFF2-40B4-BE49-F238E27FC236}">
                <a16:creationId xmlns:a16="http://schemas.microsoft.com/office/drawing/2014/main" id="{B841FB83-5B04-FF63-A1F7-4A91DEC29655}"/>
              </a:ext>
            </a:extLst>
          </p:cNvPr>
          <p:cNvSpPr/>
          <p:nvPr/>
        </p:nvSpPr>
        <p:spPr>
          <a:xfrm flipH="1" flipV="1">
            <a:off x="7712817" y="5254944"/>
            <a:ext cx="1734201" cy="454939"/>
          </a:xfrm>
          <a:prstGeom prst="round1Rect">
            <a:avLst/>
          </a:prstGeom>
          <a:solidFill>
            <a:srgbClr val="1E2761">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18" name="TextBox 117">
            <a:extLst>
              <a:ext uri="{FF2B5EF4-FFF2-40B4-BE49-F238E27FC236}">
                <a16:creationId xmlns:a16="http://schemas.microsoft.com/office/drawing/2014/main" id="{2940D2D9-79C2-225A-068B-800AC682AA85}"/>
              </a:ext>
            </a:extLst>
          </p:cNvPr>
          <p:cNvSpPr txBox="1"/>
          <p:nvPr/>
        </p:nvSpPr>
        <p:spPr>
          <a:xfrm>
            <a:off x="9442559" y="5248099"/>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دردسر</a:t>
            </a:r>
            <a:endParaRPr kumimoji="0" lang="en-GB"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p:txBody>
      </p:sp>
      <p:sp>
        <p:nvSpPr>
          <p:cNvPr id="119" name="TextBox 118">
            <a:extLst>
              <a:ext uri="{FF2B5EF4-FFF2-40B4-BE49-F238E27FC236}">
                <a16:creationId xmlns:a16="http://schemas.microsoft.com/office/drawing/2014/main" id="{B182A7F5-216D-1214-3B8E-BBD747DCD023}"/>
              </a:ext>
            </a:extLst>
          </p:cNvPr>
          <p:cNvSpPr txBox="1"/>
          <p:nvPr/>
        </p:nvSpPr>
        <p:spPr>
          <a:xfrm>
            <a:off x="7710588" y="5248099"/>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منفعت</a:t>
            </a:r>
          </a:p>
        </p:txBody>
      </p:sp>
      <p:sp>
        <p:nvSpPr>
          <p:cNvPr id="120" name="TextBox 119">
            <a:extLst>
              <a:ext uri="{FF2B5EF4-FFF2-40B4-BE49-F238E27FC236}">
                <a16:creationId xmlns:a16="http://schemas.microsoft.com/office/drawing/2014/main" id="{062980DC-B38E-B496-C9BA-E98BD3B7770D}"/>
              </a:ext>
            </a:extLst>
          </p:cNvPr>
          <p:cNvSpPr txBox="1"/>
          <p:nvPr/>
        </p:nvSpPr>
        <p:spPr>
          <a:xfrm>
            <a:off x="9442555" y="5388263"/>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خاطره یک شکست قبلی و بی‌اعتمادی داخلی به این نوع پروژه‌ها.</a:t>
            </a:r>
          </a:p>
        </p:txBody>
      </p:sp>
      <p:sp>
        <p:nvSpPr>
          <p:cNvPr id="121" name="TextBox 120">
            <a:extLst>
              <a:ext uri="{FF2B5EF4-FFF2-40B4-BE49-F238E27FC236}">
                <a16:creationId xmlns:a16="http://schemas.microsoft.com/office/drawing/2014/main" id="{4B376FD6-ECC5-6950-48B8-9FBC9B94DE4D}"/>
              </a:ext>
            </a:extLst>
          </p:cNvPr>
          <p:cNvSpPr txBox="1"/>
          <p:nvPr/>
        </p:nvSpPr>
        <p:spPr>
          <a:xfrm>
            <a:off x="7709465" y="5388263"/>
            <a:ext cx="1731975" cy="184666"/>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بازسازی اعتماد داخلی از طریق موفقیت این‌بار.</a:t>
            </a:r>
          </a:p>
        </p:txBody>
      </p:sp>
    </p:spTree>
    <p:extLst>
      <p:ext uri="{BB962C8B-B14F-4D97-AF65-F5344CB8AC3E}">
        <p14:creationId xmlns:p14="http://schemas.microsoft.com/office/powerpoint/2010/main" val="318343458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EC4FBB-C2A0-987D-B564-C6A1D74F7C6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5216C45-147C-6FDD-262D-6123552907E9}"/>
              </a:ext>
            </a:extLst>
          </p:cNvPr>
          <p:cNvSpPr>
            <a:spLocks noGrp="1"/>
          </p:cNvSpPr>
          <p:nvPr>
            <p:ph type="body" sz="quarter" idx="10"/>
          </p:nvPr>
        </p:nvSpPr>
        <p:spPr/>
        <p:txBody>
          <a:bodyPr/>
          <a:lstStyle/>
          <a:p>
            <a:r>
              <a:rPr lang="fa-IR" dirty="0"/>
              <a:t>--</a:t>
            </a:r>
          </a:p>
        </p:txBody>
      </p:sp>
      <p:sp>
        <p:nvSpPr>
          <p:cNvPr id="3" name="Text Placeholder 2">
            <a:extLst>
              <a:ext uri="{FF2B5EF4-FFF2-40B4-BE49-F238E27FC236}">
                <a16:creationId xmlns:a16="http://schemas.microsoft.com/office/drawing/2014/main" id="{E00DEC74-4D0D-6C55-2D3B-82A0BE6C37CE}"/>
              </a:ext>
            </a:extLst>
          </p:cNvPr>
          <p:cNvSpPr>
            <a:spLocks noGrp="1"/>
          </p:cNvSpPr>
          <p:nvPr>
            <p:ph type="body" sz="quarter" idx="12"/>
          </p:nvPr>
        </p:nvSpPr>
        <p:spPr/>
        <p:txBody>
          <a:bodyPr/>
          <a:lstStyle/>
          <a:p>
            <a:r>
              <a:rPr lang="fa-IR" dirty="0"/>
              <a:t>نقشه پرسوناها/۶</a:t>
            </a:r>
          </a:p>
          <a:p>
            <a:r>
              <a:rPr lang="fa-IR" sz="1200" b="0" dirty="0">
                <a:solidFill>
                  <a:schemeClr val="tx1">
                    <a:lumMod val="50000"/>
                    <a:lumOff val="50000"/>
                  </a:schemeClr>
                </a:solidFill>
              </a:rPr>
              <a:t>برای هر پرسونا: تعریف کوتاه، سپس کارهای مشتری با دردسر و منفعت مربوطه</a:t>
            </a:r>
            <a:endParaRPr lang="en-GB" sz="1200" b="0" dirty="0">
              <a:solidFill>
                <a:schemeClr val="tx1">
                  <a:lumMod val="50000"/>
                  <a:lumOff val="50000"/>
                </a:schemeClr>
              </a:solidFill>
            </a:endParaRPr>
          </a:p>
        </p:txBody>
      </p:sp>
      <p:sp>
        <p:nvSpPr>
          <p:cNvPr id="4" name="Rectangle: Rounded Corners 3">
            <a:extLst>
              <a:ext uri="{FF2B5EF4-FFF2-40B4-BE49-F238E27FC236}">
                <a16:creationId xmlns:a16="http://schemas.microsoft.com/office/drawing/2014/main" id="{7DC96421-40E7-8B3D-BD05-665383CE7D6D}"/>
              </a:ext>
            </a:extLst>
          </p:cNvPr>
          <p:cNvSpPr/>
          <p:nvPr/>
        </p:nvSpPr>
        <p:spPr>
          <a:xfrm>
            <a:off x="437289" y="1343551"/>
            <a:ext cx="10806286" cy="4404106"/>
          </a:xfrm>
          <a:prstGeom prst="roundRect">
            <a:avLst>
              <a:gd name="adj" fmla="val 1837"/>
            </a:avLst>
          </a:prstGeom>
          <a:noFill/>
          <a:ln w="3175">
            <a:solidFill>
              <a:srgbClr val="F0BE0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cxnSp>
        <p:nvCxnSpPr>
          <p:cNvPr id="9" name="Straight Connector 8">
            <a:extLst>
              <a:ext uri="{FF2B5EF4-FFF2-40B4-BE49-F238E27FC236}">
                <a16:creationId xmlns:a16="http://schemas.microsoft.com/office/drawing/2014/main" id="{8C97D7E9-3840-D012-D447-E2B851244501}"/>
              </a:ext>
            </a:extLst>
          </p:cNvPr>
          <p:cNvCxnSpPr>
            <a:cxnSpLocks/>
          </p:cNvCxnSpPr>
          <p:nvPr/>
        </p:nvCxnSpPr>
        <p:spPr>
          <a:xfrm>
            <a:off x="437288" y="1981263"/>
            <a:ext cx="10806284" cy="0"/>
          </a:xfrm>
          <a:prstGeom prst="line">
            <a:avLst/>
          </a:prstGeom>
          <a:ln>
            <a:solidFill>
              <a:srgbClr val="F0BE0F"/>
            </a:solidFill>
            <a:prstDash val="solid"/>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A683F402-6318-711C-FD01-775B3DBC33B4}"/>
              </a:ext>
            </a:extLst>
          </p:cNvPr>
          <p:cNvSpPr txBox="1"/>
          <p:nvPr/>
        </p:nvSpPr>
        <p:spPr>
          <a:xfrm>
            <a:off x="437288" y="1628412"/>
            <a:ext cx="10411685" cy="230832"/>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9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سرمایه‌گذار (فمیلی‌آفیس، صندوق، فرد ثروتمند، نهاد یا بازوی سرمایه‌گذاری شرکتی) که به‌دنبال بازده مالی از فرصت‌های بین‌مرزی است که خودش نمی‌تواند بیابد، ارزیابی یا پایش کند.</a:t>
            </a:r>
          </a:p>
        </p:txBody>
      </p:sp>
      <p:sp>
        <p:nvSpPr>
          <p:cNvPr id="12" name="TextBox 11">
            <a:extLst>
              <a:ext uri="{FF2B5EF4-FFF2-40B4-BE49-F238E27FC236}">
                <a16:creationId xmlns:a16="http://schemas.microsoft.com/office/drawing/2014/main" id="{866AFFCB-8E34-5C5A-7560-D4BD4F454F4E}"/>
              </a:ext>
            </a:extLst>
          </p:cNvPr>
          <p:cNvSpPr txBox="1"/>
          <p:nvPr/>
        </p:nvSpPr>
        <p:spPr>
          <a:xfrm>
            <a:off x="437288" y="1396898"/>
            <a:ext cx="10411685" cy="253916"/>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450"/>
              </a:spcAft>
              <a:buClrTx/>
              <a:buSzTx/>
              <a:buFontTx/>
              <a:buNone/>
              <a:tabLst/>
              <a:defRPr/>
            </a:pPr>
            <a:r>
              <a:rPr kumimoji="0" lang="fa-IR" sz="105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سرمایه‌گذار</a:t>
            </a:r>
          </a:p>
        </p:txBody>
      </p:sp>
      <p:sp>
        <p:nvSpPr>
          <p:cNvPr id="15" name="Rectangle: Single Corner Rounded 14">
            <a:extLst>
              <a:ext uri="{FF2B5EF4-FFF2-40B4-BE49-F238E27FC236}">
                <a16:creationId xmlns:a16="http://schemas.microsoft.com/office/drawing/2014/main" id="{931A24AF-36E2-9775-85A9-493BA08252E5}"/>
              </a:ext>
            </a:extLst>
          </p:cNvPr>
          <p:cNvSpPr/>
          <p:nvPr/>
        </p:nvSpPr>
        <p:spPr>
          <a:xfrm>
            <a:off x="10848973" y="1346509"/>
            <a:ext cx="394599" cy="634754"/>
          </a:xfrm>
          <a:prstGeom prst="round1Rect">
            <a:avLst/>
          </a:prstGeom>
          <a:solidFill>
            <a:srgbClr val="F0BE0F">
              <a:alpha val="7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6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۶</a:t>
            </a:r>
            <a:endParaRPr kumimoji="0" lang="en-GB" sz="16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cxnSp>
        <p:nvCxnSpPr>
          <p:cNvPr id="18" name="Straight Connector 17">
            <a:extLst>
              <a:ext uri="{FF2B5EF4-FFF2-40B4-BE49-F238E27FC236}">
                <a16:creationId xmlns:a16="http://schemas.microsoft.com/office/drawing/2014/main" id="{27A49A75-B99E-EC2D-57D0-BFFDA53553CB}"/>
              </a:ext>
            </a:extLst>
          </p:cNvPr>
          <p:cNvCxnSpPr>
            <a:cxnSpLocks/>
          </p:cNvCxnSpPr>
          <p:nvPr/>
        </p:nvCxnSpPr>
        <p:spPr>
          <a:xfrm>
            <a:off x="4048447" y="1981263"/>
            <a:ext cx="0" cy="3766394"/>
          </a:xfrm>
          <a:prstGeom prst="line">
            <a:avLst/>
          </a:prstGeom>
          <a:ln>
            <a:solidFill>
              <a:schemeClr val="bg1">
                <a:lumMod val="85000"/>
                <a:alpha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8BFD428-F596-3ED8-D192-9485E76D8659}"/>
              </a:ext>
            </a:extLst>
          </p:cNvPr>
          <p:cNvCxnSpPr>
            <a:cxnSpLocks/>
          </p:cNvCxnSpPr>
          <p:nvPr/>
        </p:nvCxnSpPr>
        <p:spPr>
          <a:xfrm>
            <a:off x="437288" y="2922862"/>
            <a:ext cx="10806284" cy="0"/>
          </a:xfrm>
          <a:prstGeom prst="line">
            <a:avLst/>
          </a:prstGeom>
          <a:ln>
            <a:solidFill>
              <a:schemeClr val="bg1">
                <a:lumMod val="85000"/>
                <a:alpha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B49384BE-66AD-EFB8-0D15-1B56B7C9ECE5}"/>
              </a:ext>
            </a:extLst>
          </p:cNvPr>
          <p:cNvCxnSpPr>
            <a:cxnSpLocks/>
          </p:cNvCxnSpPr>
          <p:nvPr/>
        </p:nvCxnSpPr>
        <p:spPr>
          <a:xfrm>
            <a:off x="437288" y="3864460"/>
            <a:ext cx="10806284" cy="0"/>
          </a:xfrm>
          <a:prstGeom prst="line">
            <a:avLst/>
          </a:prstGeom>
          <a:ln>
            <a:solidFill>
              <a:schemeClr val="bg1">
                <a:lumMod val="85000"/>
                <a:alpha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ECFE869-6C5A-BCB8-336D-9D1805D5833D}"/>
              </a:ext>
            </a:extLst>
          </p:cNvPr>
          <p:cNvCxnSpPr>
            <a:cxnSpLocks/>
          </p:cNvCxnSpPr>
          <p:nvPr/>
        </p:nvCxnSpPr>
        <p:spPr>
          <a:xfrm>
            <a:off x="437288" y="4806059"/>
            <a:ext cx="10806284" cy="0"/>
          </a:xfrm>
          <a:prstGeom prst="line">
            <a:avLst/>
          </a:prstGeom>
          <a:ln>
            <a:solidFill>
              <a:schemeClr val="bg1">
                <a:lumMod val="85000"/>
                <a:alpha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3CA4DACA-7F94-1DEB-6178-20665FA88562}"/>
              </a:ext>
            </a:extLst>
          </p:cNvPr>
          <p:cNvCxnSpPr>
            <a:cxnSpLocks/>
          </p:cNvCxnSpPr>
          <p:nvPr/>
        </p:nvCxnSpPr>
        <p:spPr>
          <a:xfrm>
            <a:off x="7646009" y="1981263"/>
            <a:ext cx="0" cy="3766394"/>
          </a:xfrm>
          <a:prstGeom prst="line">
            <a:avLst/>
          </a:prstGeom>
          <a:ln>
            <a:solidFill>
              <a:schemeClr val="bg1">
                <a:lumMod val="85000"/>
                <a:alpha val="90000"/>
              </a:schemeClr>
            </a:solidFill>
            <a:prstDash val="dash"/>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A3957EA0-1D08-032A-1C05-E073880CAF36}"/>
              </a:ext>
            </a:extLst>
          </p:cNvPr>
          <p:cNvSpPr txBox="1"/>
          <p:nvPr/>
        </p:nvSpPr>
        <p:spPr>
          <a:xfrm>
            <a:off x="7646008" y="2005725"/>
            <a:ext cx="3597561" cy="441146"/>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30" normalizeH="0" baseline="0" noProof="0" dirty="0" err="1">
                <a:ln>
                  <a:noFill/>
                </a:ln>
                <a:solidFill>
                  <a:srgbClr val="F0BE0F"/>
                </a:solidFill>
                <a:effectLst/>
                <a:uLnTx/>
                <a:uFillTx/>
                <a:latin typeface="Yekan Bakh" pitchFamily="2" charset="-78"/>
                <a:ea typeface="Yekan Bakh" pitchFamily="2" charset="-78"/>
                <a:cs typeface="Yekan Bakh" pitchFamily="2" charset="-78"/>
              </a:rPr>
              <a:t>کار</a:t>
            </a:r>
            <a:r>
              <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 ۱</a:t>
            </a:r>
          </a:p>
          <a:p>
            <a:pPr marL="0" marR="0" lvl="0" indent="0" algn="ctr" defTabSz="457200" rtl="1" eaLnBrk="1" fontAlgn="auto" latinLnBrk="0" hangingPunct="1">
              <a:lnSpc>
                <a:spcPct val="100000"/>
              </a:lnSpc>
              <a:spcBef>
                <a:spcPts val="225"/>
              </a:spcBef>
              <a:spcAft>
                <a:spcPts val="0"/>
              </a:spcAft>
              <a:buClrTx/>
              <a:buSzTx/>
              <a:buFontTx/>
              <a:buNone/>
              <a:tabLst/>
              <a:defRPr/>
            </a:pPr>
            <a:r>
              <a:rPr kumimoji="0" lang="fa-IR" sz="6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دسترسی به فرصت‌های سرمایه‌گذاری اختصاصی و راستی‌آزمایی‌شده‌ای که از کانال‌های معمول در دسترس نیست</a:t>
            </a:r>
          </a:p>
        </p:txBody>
      </p:sp>
      <p:sp>
        <p:nvSpPr>
          <p:cNvPr id="32" name="Rectangle: Single Corner Rounded 31">
            <a:extLst>
              <a:ext uri="{FF2B5EF4-FFF2-40B4-BE49-F238E27FC236}">
                <a16:creationId xmlns:a16="http://schemas.microsoft.com/office/drawing/2014/main" id="{DE756564-337A-F074-A258-0CDF8863E89A}"/>
              </a:ext>
            </a:extLst>
          </p:cNvPr>
          <p:cNvSpPr/>
          <p:nvPr/>
        </p:nvSpPr>
        <p:spPr>
          <a:xfrm flipV="1">
            <a:off x="9442559" y="2423615"/>
            <a:ext cx="1734201" cy="454939"/>
          </a:xfrm>
          <a:prstGeom prst="round1Rect">
            <a:avLst/>
          </a:prstGeom>
          <a:solidFill>
            <a:srgbClr val="F0BE0F">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34" name="Rectangle: Single Corner Rounded 33">
            <a:extLst>
              <a:ext uri="{FF2B5EF4-FFF2-40B4-BE49-F238E27FC236}">
                <a16:creationId xmlns:a16="http://schemas.microsoft.com/office/drawing/2014/main" id="{B1418B80-9CD2-85EE-D46E-BD69057709D7}"/>
              </a:ext>
            </a:extLst>
          </p:cNvPr>
          <p:cNvSpPr/>
          <p:nvPr/>
        </p:nvSpPr>
        <p:spPr>
          <a:xfrm flipH="1" flipV="1">
            <a:off x="7712817" y="2423615"/>
            <a:ext cx="1734201" cy="454939"/>
          </a:xfrm>
          <a:prstGeom prst="round1Rect">
            <a:avLst/>
          </a:prstGeom>
          <a:solidFill>
            <a:srgbClr val="1E2761">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36" name="TextBox 35">
            <a:extLst>
              <a:ext uri="{FF2B5EF4-FFF2-40B4-BE49-F238E27FC236}">
                <a16:creationId xmlns:a16="http://schemas.microsoft.com/office/drawing/2014/main" id="{5956D856-1EB8-BFC9-8A10-49E4F407FDF4}"/>
              </a:ext>
            </a:extLst>
          </p:cNvPr>
          <p:cNvSpPr txBox="1"/>
          <p:nvPr/>
        </p:nvSpPr>
        <p:spPr>
          <a:xfrm>
            <a:off x="9442559" y="2416770"/>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دردسر</a:t>
            </a:r>
            <a:endParaRPr kumimoji="0" lang="en-GB"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p:txBody>
      </p:sp>
      <p:sp>
        <p:nvSpPr>
          <p:cNvPr id="37" name="TextBox 36">
            <a:extLst>
              <a:ext uri="{FF2B5EF4-FFF2-40B4-BE49-F238E27FC236}">
                <a16:creationId xmlns:a16="http://schemas.microsoft.com/office/drawing/2014/main" id="{0C59B1A7-0346-E16E-4A45-5AD44EB04A1E}"/>
              </a:ext>
            </a:extLst>
          </p:cNvPr>
          <p:cNvSpPr txBox="1"/>
          <p:nvPr/>
        </p:nvSpPr>
        <p:spPr>
          <a:xfrm>
            <a:off x="7710588" y="2416770"/>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منفعت</a:t>
            </a:r>
          </a:p>
        </p:txBody>
      </p:sp>
      <p:sp>
        <p:nvSpPr>
          <p:cNvPr id="39" name="TextBox 38">
            <a:extLst>
              <a:ext uri="{FF2B5EF4-FFF2-40B4-BE49-F238E27FC236}">
                <a16:creationId xmlns:a16="http://schemas.microsoft.com/office/drawing/2014/main" id="{69764A30-27CD-8AFB-5660-92856261CFC0}"/>
              </a:ext>
            </a:extLst>
          </p:cNvPr>
          <p:cNvSpPr txBox="1"/>
          <p:nvPr/>
        </p:nvSpPr>
        <p:spPr>
          <a:xfrm>
            <a:off x="9442555" y="2556934"/>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کمبود منبع معتبر فرصت و مشاور تخصصی برای این بازار خاص.</a:t>
            </a:r>
          </a:p>
        </p:txBody>
      </p:sp>
      <p:sp>
        <p:nvSpPr>
          <p:cNvPr id="40" name="TextBox 39">
            <a:extLst>
              <a:ext uri="{FF2B5EF4-FFF2-40B4-BE49-F238E27FC236}">
                <a16:creationId xmlns:a16="http://schemas.microsoft.com/office/drawing/2014/main" id="{ABA51FF8-F883-842E-8B47-00D8F188AE4C}"/>
              </a:ext>
            </a:extLst>
          </p:cNvPr>
          <p:cNvSpPr txBox="1"/>
          <p:nvPr/>
        </p:nvSpPr>
        <p:spPr>
          <a:xfrm>
            <a:off x="7709465" y="2556934"/>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جریان معاملات باکیفیت و غیرقابل‌دسترس برای سایر رقبا.</a:t>
            </a:r>
          </a:p>
        </p:txBody>
      </p:sp>
      <p:sp>
        <p:nvSpPr>
          <p:cNvPr id="43" name="TextBox 42">
            <a:extLst>
              <a:ext uri="{FF2B5EF4-FFF2-40B4-BE49-F238E27FC236}">
                <a16:creationId xmlns:a16="http://schemas.microsoft.com/office/drawing/2014/main" id="{598C903F-1A6B-7578-14C9-93093837F77B}"/>
              </a:ext>
            </a:extLst>
          </p:cNvPr>
          <p:cNvSpPr txBox="1"/>
          <p:nvPr/>
        </p:nvSpPr>
        <p:spPr>
          <a:xfrm>
            <a:off x="4048448" y="2005725"/>
            <a:ext cx="3597561" cy="364202"/>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30" normalizeH="0" baseline="0" noProof="0" dirty="0" err="1">
                <a:ln>
                  <a:noFill/>
                </a:ln>
                <a:solidFill>
                  <a:srgbClr val="F0BE0F"/>
                </a:solidFill>
                <a:effectLst/>
                <a:uLnTx/>
                <a:uFillTx/>
                <a:latin typeface="Yekan Bakh" pitchFamily="2" charset="-78"/>
                <a:ea typeface="Yekan Bakh" pitchFamily="2" charset="-78"/>
                <a:cs typeface="Yekan Bakh" pitchFamily="2" charset="-78"/>
              </a:rPr>
              <a:t>کار</a:t>
            </a:r>
            <a:r>
              <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 </a:t>
            </a:r>
            <a:r>
              <a:rPr kumimoji="0" lang="fa-IR"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۲</a:t>
            </a:r>
            <a:endPar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225"/>
              </a:spcBef>
              <a:spcAft>
                <a:spcPts val="0"/>
              </a:spcAft>
              <a:buClrTx/>
              <a:buSzTx/>
              <a:buFontTx/>
              <a:buNone/>
              <a:tabLst/>
              <a:defRPr/>
            </a:pPr>
            <a:r>
              <a:rPr kumimoji="0" lang="fa-IR" sz="7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راستی‌آزمایی ادعاها و ریسک طرف مقابلی که از راه دور قابل تأیید نیست</a:t>
            </a:r>
          </a:p>
        </p:txBody>
      </p:sp>
      <p:sp>
        <p:nvSpPr>
          <p:cNvPr id="44" name="Rectangle: Single Corner Rounded 43">
            <a:extLst>
              <a:ext uri="{FF2B5EF4-FFF2-40B4-BE49-F238E27FC236}">
                <a16:creationId xmlns:a16="http://schemas.microsoft.com/office/drawing/2014/main" id="{2E2FC76F-F7F1-02B9-C934-93ABFEE76457}"/>
              </a:ext>
            </a:extLst>
          </p:cNvPr>
          <p:cNvSpPr/>
          <p:nvPr/>
        </p:nvSpPr>
        <p:spPr>
          <a:xfrm flipV="1">
            <a:off x="5844999" y="2423615"/>
            <a:ext cx="1734201" cy="454939"/>
          </a:xfrm>
          <a:prstGeom prst="round1Rect">
            <a:avLst/>
          </a:prstGeom>
          <a:solidFill>
            <a:srgbClr val="F0BE0F">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5" name="Rectangle: Single Corner Rounded 44">
            <a:extLst>
              <a:ext uri="{FF2B5EF4-FFF2-40B4-BE49-F238E27FC236}">
                <a16:creationId xmlns:a16="http://schemas.microsoft.com/office/drawing/2014/main" id="{F8FA9217-FC3B-1E43-5967-2762FA9C17D4}"/>
              </a:ext>
            </a:extLst>
          </p:cNvPr>
          <p:cNvSpPr/>
          <p:nvPr/>
        </p:nvSpPr>
        <p:spPr>
          <a:xfrm flipH="1" flipV="1">
            <a:off x="4115257" y="2423615"/>
            <a:ext cx="1734201" cy="454939"/>
          </a:xfrm>
          <a:prstGeom prst="round1Rect">
            <a:avLst/>
          </a:prstGeom>
          <a:solidFill>
            <a:srgbClr val="1E2761">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6" name="TextBox 45">
            <a:extLst>
              <a:ext uri="{FF2B5EF4-FFF2-40B4-BE49-F238E27FC236}">
                <a16:creationId xmlns:a16="http://schemas.microsoft.com/office/drawing/2014/main" id="{0E86656F-2F0B-5DE7-6185-A7600D0CE8CB}"/>
              </a:ext>
            </a:extLst>
          </p:cNvPr>
          <p:cNvSpPr txBox="1"/>
          <p:nvPr/>
        </p:nvSpPr>
        <p:spPr>
          <a:xfrm>
            <a:off x="5844999" y="2416770"/>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دردسر</a:t>
            </a:r>
            <a:endParaRPr kumimoji="0" lang="en-GB"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p:txBody>
      </p:sp>
      <p:sp>
        <p:nvSpPr>
          <p:cNvPr id="47" name="TextBox 46">
            <a:extLst>
              <a:ext uri="{FF2B5EF4-FFF2-40B4-BE49-F238E27FC236}">
                <a16:creationId xmlns:a16="http://schemas.microsoft.com/office/drawing/2014/main" id="{623684ED-6787-68D0-7388-1D7D56196D16}"/>
              </a:ext>
            </a:extLst>
          </p:cNvPr>
          <p:cNvSpPr txBox="1"/>
          <p:nvPr/>
        </p:nvSpPr>
        <p:spPr>
          <a:xfrm>
            <a:off x="4113028" y="2416770"/>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منفعت</a:t>
            </a:r>
          </a:p>
        </p:txBody>
      </p:sp>
      <p:sp>
        <p:nvSpPr>
          <p:cNvPr id="48" name="TextBox 47">
            <a:extLst>
              <a:ext uri="{FF2B5EF4-FFF2-40B4-BE49-F238E27FC236}">
                <a16:creationId xmlns:a16="http://schemas.microsoft.com/office/drawing/2014/main" id="{5D26B075-5608-21F9-A73C-FAC57A222B2C}"/>
              </a:ext>
            </a:extLst>
          </p:cNvPr>
          <p:cNvSpPr txBox="1"/>
          <p:nvPr/>
        </p:nvSpPr>
        <p:spPr>
          <a:xfrm>
            <a:off x="5844995" y="2556934"/>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ریسک تقلب و دشواری ردیابی وجه در سرمایه‌گذاری فرامرزی.</a:t>
            </a:r>
          </a:p>
        </p:txBody>
      </p:sp>
      <p:sp>
        <p:nvSpPr>
          <p:cNvPr id="49" name="TextBox 48">
            <a:extLst>
              <a:ext uri="{FF2B5EF4-FFF2-40B4-BE49-F238E27FC236}">
                <a16:creationId xmlns:a16="http://schemas.microsoft.com/office/drawing/2014/main" id="{BB82AB43-4242-A5D4-35C0-E3E69AE6B1C0}"/>
              </a:ext>
            </a:extLst>
          </p:cNvPr>
          <p:cNvSpPr txBox="1"/>
          <p:nvPr/>
        </p:nvSpPr>
        <p:spPr>
          <a:xfrm>
            <a:off x="4111905" y="2556934"/>
            <a:ext cx="1731975" cy="184666"/>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اطمینان و امنیت پیش از تعهد سرمایه.</a:t>
            </a:r>
          </a:p>
        </p:txBody>
      </p:sp>
      <p:sp>
        <p:nvSpPr>
          <p:cNvPr id="59" name="TextBox 58">
            <a:extLst>
              <a:ext uri="{FF2B5EF4-FFF2-40B4-BE49-F238E27FC236}">
                <a16:creationId xmlns:a16="http://schemas.microsoft.com/office/drawing/2014/main" id="{7B8D3C2C-6AAB-6CF1-0CD5-07F9DF049FB4}"/>
              </a:ext>
            </a:extLst>
          </p:cNvPr>
          <p:cNvSpPr txBox="1"/>
          <p:nvPr/>
        </p:nvSpPr>
        <p:spPr>
          <a:xfrm>
            <a:off x="438700" y="2005725"/>
            <a:ext cx="3597561" cy="364202"/>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30" normalizeH="0" baseline="0" noProof="0" dirty="0" err="1">
                <a:ln>
                  <a:noFill/>
                </a:ln>
                <a:solidFill>
                  <a:srgbClr val="F0BE0F"/>
                </a:solidFill>
                <a:effectLst/>
                <a:uLnTx/>
                <a:uFillTx/>
                <a:latin typeface="Yekan Bakh" pitchFamily="2" charset="-78"/>
                <a:ea typeface="Yekan Bakh" pitchFamily="2" charset="-78"/>
                <a:cs typeface="Yekan Bakh" pitchFamily="2" charset="-78"/>
              </a:rPr>
              <a:t>کار</a:t>
            </a:r>
            <a:r>
              <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 </a:t>
            </a:r>
            <a:r>
              <a:rPr kumimoji="0" lang="fa-IR"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۳</a:t>
            </a:r>
            <a:endPar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225"/>
              </a:spcBef>
              <a:spcAft>
                <a:spcPts val="0"/>
              </a:spcAft>
              <a:buClrTx/>
              <a:buSzTx/>
              <a:buFontTx/>
              <a:buNone/>
              <a:tabLst/>
              <a:defRPr/>
            </a:pPr>
            <a:r>
              <a:rPr kumimoji="0" lang="fa-IR" sz="7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ساختاردهی سرمایه‌گذاری به‌گونه‌ای که از نظر حقوقی و عملیاتی قابل‌اجرا باشد</a:t>
            </a:r>
          </a:p>
        </p:txBody>
      </p:sp>
      <p:sp>
        <p:nvSpPr>
          <p:cNvPr id="60" name="Rectangle: Single Corner Rounded 59">
            <a:extLst>
              <a:ext uri="{FF2B5EF4-FFF2-40B4-BE49-F238E27FC236}">
                <a16:creationId xmlns:a16="http://schemas.microsoft.com/office/drawing/2014/main" id="{ADC49A4A-9949-C6CA-DAD6-838AE8310E54}"/>
              </a:ext>
            </a:extLst>
          </p:cNvPr>
          <p:cNvSpPr/>
          <p:nvPr/>
        </p:nvSpPr>
        <p:spPr>
          <a:xfrm flipV="1">
            <a:off x="2235251" y="2423615"/>
            <a:ext cx="1734201" cy="454939"/>
          </a:xfrm>
          <a:prstGeom prst="round1Rect">
            <a:avLst/>
          </a:prstGeom>
          <a:solidFill>
            <a:srgbClr val="F0BE0F">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61" name="Rectangle: Single Corner Rounded 60">
            <a:extLst>
              <a:ext uri="{FF2B5EF4-FFF2-40B4-BE49-F238E27FC236}">
                <a16:creationId xmlns:a16="http://schemas.microsoft.com/office/drawing/2014/main" id="{50193C34-FABC-4F04-B243-5E7A889B4B97}"/>
              </a:ext>
            </a:extLst>
          </p:cNvPr>
          <p:cNvSpPr/>
          <p:nvPr/>
        </p:nvSpPr>
        <p:spPr>
          <a:xfrm flipH="1" flipV="1">
            <a:off x="505509" y="2423615"/>
            <a:ext cx="1734201" cy="454939"/>
          </a:xfrm>
          <a:prstGeom prst="round1Rect">
            <a:avLst/>
          </a:prstGeom>
          <a:solidFill>
            <a:srgbClr val="1E2761">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62" name="TextBox 61">
            <a:extLst>
              <a:ext uri="{FF2B5EF4-FFF2-40B4-BE49-F238E27FC236}">
                <a16:creationId xmlns:a16="http://schemas.microsoft.com/office/drawing/2014/main" id="{6EE2B338-5F83-FF38-5591-A65C54F61851}"/>
              </a:ext>
            </a:extLst>
          </p:cNvPr>
          <p:cNvSpPr txBox="1"/>
          <p:nvPr/>
        </p:nvSpPr>
        <p:spPr>
          <a:xfrm>
            <a:off x="2235251" y="2416770"/>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دردسر</a:t>
            </a:r>
            <a:endParaRPr kumimoji="0" lang="en-GB"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p:txBody>
      </p:sp>
      <p:sp>
        <p:nvSpPr>
          <p:cNvPr id="63" name="TextBox 62">
            <a:extLst>
              <a:ext uri="{FF2B5EF4-FFF2-40B4-BE49-F238E27FC236}">
                <a16:creationId xmlns:a16="http://schemas.microsoft.com/office/drawing/2014/main" id="{A68F79E9-D30F-79A2-A194-24896CEF3906}"/>
              </a:ext>
            </a:extLst>
          </p:cNvPr>
          <p:cNvSpPr txBox="1"/>
          <p:nvPr/>
        </p:nvSpPr>
        <p:spPr>
          <a:xfrm>
            <a:off x="503280" y="2416770"/>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منفعت</a:t>
            </a:r>
          </a:p>
        </p:txBody>
      </p:sp>
      <p:sp>
        <p:nvSpPr>
          <p:cNvPr id="64" name="TextBox 63">
            <a:extLst>
              <a:ext uri="{FF2B5EF4-FFF2-40B4-BE49-F238E27FC236}">
                <a16:creationId xmlns:a16="http://schemas.microsoft.com/office/drawing/2014/main" id="{B1D6708F-CA5D-C59D-96C4-54F34C28448B}"/>
              </a:ext>
            </a:extLst>
          </p:cNvPr>
          <p:cNvSpPr txBox="1"/>
          <p:nvPr/>
        </p:nvSpPr>
        <p:spPr>
          <a:xfrm>
            <a:off x="2235247" y="2556934"/>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پیچیدگی حقوقی و عملیاتی ساختار سرمایه‌گذاری فرامرزی.</a:t>
            </a:r>
          </a:p>
        </p:txBody>
      </p:sp>
      <p:sp>
        <p:nvSpPr>
          <p:cNvPr id="65" name="TextBox 64">
            <a:extLst>
              <a:ext uri="{FF2B5EF4-FFF2-40B4-BE49-F238E27FC236}">
                <a16:creationId xmlns:a16="http://schemas.microsoft.com/office/drawing/2014/main" id="{09D9B683-717F-8326-FD17-70F32E25005B}"/>
              </a:ext>
            </a:extLst>
          </p:cNvPr>
          <p:cNvSpPr txBox="1"/>
          <p:nvPr/>
        </p:nvSpPr>
        <p:spPr>
          <a:xfrm>
            <a:off x="502157" y="2556934"/>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سرمایه‌گذاری قابل‌اجرا و از نظر حقوقی محافظت‌شده.</a:t>
            </a:r>
          </a:p>
        </p:txBody>
      </p:sp>
      <p:sp>
        <p:nvSpPr>
          <p:cNvPr id="67" name="TextBox 66">
            <a:extLst>
              <a:ext uri="{FF2B5EF4-FFF2-40B4-BE49-F238E27FC236}">
                <a16:creationId xmlns:a16="http://schemas.microsoft.com/office/drawing/2014/main" id="{0323931E-7C3B-4A49-3BB8-BB8294916F87}"/>
              </a:ext>
            </a:extLst>
          </p:cNvPr>
          <p:cNvSpPr txBox="1"/>
          <p:nvPr/>
        </p:nvSpPr>
        <p:spPr>
          <a:xfrm>
            <a:off x="7646008" y="2949501"/>
            <a:ext cx="3597561" cy="364202"/>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30" normalizeH="0" baseline="0" noProof="0" dirty="0" err="1">
                <a:ln>
                  <a:noFill/>
                </a:ln>
                <a:solidFill>
                  <a:srgbClr val="F0BE0F"/>
                </a:solidFill>
                <a:effectLst/>
                <a:uLnTx/>
                <a:uFillTx/>
                <a:latin typeface="Yekan Bakh" pitchFamily="2" charset="-78"/>
                <a:ea typeface="Yekan Bakh" pitchFamily="2" charset="-78"/>
                <a:cs typeface="Yekan Bakh" pitchFamily="2" charset="-78"/>
              </a:rPr>
              <a:t>کار</a:t>
            </a:r>
            <a:r>
              <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 </a:t>
            </a:r>
            <a:r>
              <a:rPr kumimoji="0" lang="fa-IR"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۴</a:t>
            </a:r>
            <a:endPar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225"/>
              </a:spcBef>
              <a:spcAft>
                <a:spcPts val="0"/>
              </a:spcAft>
              <a:buClrTx/>
              <a:buSzTx/>
              <a:buFontTx/>
              <a:buNone/>
              <a:tabLst/>
              <a:defRPr/>
            </a:pPr>
            <a:r>
              <a:rPr kumimoji="0" lang="fa-IR" sz="7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پایش و محافظت از موقعیت سرمایه‌گذاری‌شده پس از استقرار سرمایه</a:t>
            </a:r>
          </a:p>
        </p:txBody>
      </p:sp>
      <p:sp>
        <p:nvSpPr>
          <p:cNvPr id="68" name="Rectangle: Single Corner Rounded 67">
            <a:extLst>
              <a:ext uri="{FF2B5EF4-FFF2-40B4-BE49-F238E27FC236}">
                <a16:creationId xmlns:a16="http://schemas.microsoft.com/office/drawing/2014/main" id="{AC8E4675-B461-3521-1FC0-DAD02AB8B032}"/>
              </a:ext>
            </a:extLst>
          </p:cNvPr>
          <p:cNvSpPr/>
          <p:nvPr/>
        </p:nvSpPr>
        <p:spPr>
          <a:xfrm flipV="1">
            <a:off x="9442559" y="3367391"/>
            <a:ext cx="1734201" cy="454939"/>
          </a:xfrm>
          <a:prstGeom prst="round1Rect">
            <a:avLst/>
          </a:prstGeom>
          <a:solidFill>
            <a:srgbClr val="F0BE0F">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69" name="Rectangle: Single Corner Rounded 68">
            <a:extLst>
              <a:ext uri="{FF2B5EF4-FFF2-40B4-BE49-F238E27FC236}">
                <a16:creationId xmlns:a16="http://schemas.microsoft.com/office/drawing/2014/main" id="{CC4AE2F3-38AE-D50F-D633-CBF6EE9BB11C}"/>
              </a:ext>
            </a:extLst>
          </p:cNvPr>
          <p:cNvSpPr/>
          <p:nvPr/>
        </p:nvSpPr>
        <p:spPr>
          <a:xfrm flipH="1" flipV="1">
            <a:off x="7712817" y="3367391"/>
            <a:ext cx="1734201" cy="454939"/>
          </a:xfrm>
          <a:prstGeom prst="round1Rect">
            <a:avLst/>
          </a:prstGeom>
          <a:solidFill>
            <a:srgbClr val="1E2761">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70" name="TextBox 69">
            <a:extLst>
              <a:ext uri="{FF2B5EF4-FFF2-40B4-BE49-F238E27FC236}">
                <a16:creationId xmlns:a16="http://schemas.microsoft.com/office/drawing/2014/main" id="{0248673D-5A99-A400-B32D-8C8DF58E7D27}"/>
              </a:ext>
            </a:extLst>
          </p:cNvPr>
          <p:cNvSpPr txBox="1"/>
          <p:nvPr/>
        </p:nvSpPr>
        <p:spPr>
          <a:xfrm>
            <a:off x="9442559" y="3360546"/>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دردسر</a:t>
            </a:r>
            <a:endParaRPr kumimoji="0" lang="en-GB"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p:txBody>
      </p:sp>
      <p:sp>
        <p:nvSpPr>
          <p:cNvPr id="71" name="TextBox 70">
            <a:extLst>
              <a:ext uri="{FF2B5EF4-FFF2-40B4-BE49-F238E27FC236}">
                <a16:creationId xmlns:a16="http://schemas.microsoft.com/office/drawing/2014/main" id="{1A7FA0BA-B2B2-6B31-3500-1534836003F4}"/>
              </a:ext>
            </a:extLst>
          </p:cNvPr>
          <p:cNvSpPr txBox="1"/>
          <p:nvPr/>
        </p:nvSpPr>
        <p:spPr>
          <a:xfrm>
            <a:off x="7710588" y="3360546"/>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منفعت</a:t>
            </a:r>
          </a:p>
        </p:txBody>
      </p:sp>
      <p:sp>
        <p:nvSpPr>
          <p:cNvPr id="72" name="TextBox 71">
            <a:extLst>
              <a:ext uri="{FF2B5EF4-FFF2-40B4-BE49-F238E27FC236}">
                <a16:creationId xmlns:a16="http://schemas.microsoft.com/office/drawing/2014/main" id="{32A06F27-36F0-7976-98D6-165A064A59F5}"/>
              </a:ext>
            </a:extLst>
          </p:cNvPr>
          <p:cNvSpPr txBox="1"/>
          <p:nvPr/>
        </p:nvSpPr>
        <p:spPr>
          <a:xfrm>
            <a:off x="9442555" y="3500710"/>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نبود دسترسی به داده به‌روز و قابل‌اتکا از شرکت سرمایه‌پذیر.</a:t>
            </a:r>
          </a:p>
        </p:txBody>
      </p:sp>
      <p:sp>
        <p:nvSpPr>
          <p:cNvPr id="73" name="TextBox 72">
            <a:extLst>
              <a:ext uri="{FF2B5EF4-FFF2-40B4-BE49-F238E27FC236}">
                <a16:creationId xmlns:a16="http://schemas.microsoft.com/office/drawing/2014/main" id="{3128EF2E-C1A4-B350-7052-FE6BEC34FEFA}"/>
              </a:ext>
            </a:extLst>
          </p:cNvPr>
          <p:cNvSpPr txBox="1"/>
          <p:nvPr/>
        </p:nvSpPr>
        <p:spPr>
          <a:xfrm>
            <a:off x="7709465" y="3500710"/>
            <a:ext cx="1731975" cy="184666"/>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کنترل و شفافیت مستمر بر عملکرد سرمایه‌گذاری.</a:t>
            </a:r>
          </a:p>
        </p:txBody>
      </p:sp>
      <p:sp>
        <p:nvSpPr>
          <p:cNvPr id="75" name="TextBox 74">
            <a:extLst>
              <a:ext uri="{FF2B5EF4-FFF2-40B4-BE49-F238E27FC236}">
                <a16:creationId xmlns:a16="http://schemas.microsoft.com/office/drawing/2014/main" id="{8253FEE8-794F-874B-DEB1-7ACC1F2D3A46}"/>
              </a:ext>
            </a:extLst>
          </p:cNvPr>
          <p:cNvSpPr txBox="1"/>
          <p:nvPr/>
        </p:nvSpPr>
        <p:spPr>
          <a:xfrm>
            <a:off x="4048448" y="2949501"/>
            <a:ext cx="3597561" cy="364202"/>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30" normalizeH="0" baseline="0" noProof="0" dirty="0" err="1">
                <a:ln>
                  <a:noFill/>
                </a:ln>
                <a:solidFill>
                  <a:srgbClr val="F0BE0F"/>
                </a:solidFill>
                <a:effectLst/>
                <a:uLnTx/>
                <a:uFillTx/>
                <a:latin typeface="Yekan Bakh" pitchFamily="2" charset="-78"/>
                <a:ea typeface="Yekan Bakh" pitchFamily="2" charset="-78"/>
                <a:cs typeface="Yekan Bakh" pitchFamily="2" charset="-78"/>
              </a:rPr>
              <a:t>کار</a:t>
            </a:r>
            <a:r>
              <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 </a:t>
            </a:r>
            <a:r>
              <a:rPr kumimoji="0" lang="fa-IR"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۵</a:t>
            </a:r>
            <a:endPar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225"/>
              </a:spcBef>
              <a:spcAft>
                <a:spcPts val="0"/>
              </a:spcAft>
              <a:buClrTx/>
              <a:buSzTx/>
              <a:buFontTx/>
              <a:buNone/>
              <a:tabLst/>
              <a:defRPr/>
            </a:pPr>
            <a:r>
              <a:rPr kumimoji="0" lang="fa-IR" sz="7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غربال‌گری منشأ وجوه و انطباق پیش از تعهد سرمایه</a:t>
            </a:r>
          </a:p>
        </p:txBody>
      </p:sp>
      <p:sp>
        <p:nvSpPr>
          <p:cNvPr id="76" name="Rectangle: Single Corner Rounded 75">
            <a:extLst>
              <a:ext uri="{FF2B5EF4-FFF2-40B4-BE49-F238E27FC236}">
                <a16:creationId xmlns:a16="http://schemas.microsoft.com/office/drawing/2014/main" id="{D5AA8F0F-235D-5083-E8FF-424F848E8F15}"/>
              </a:ext>
            </a:extLst>
          </p:cNvPr>
          <p:cNvSpPr/>
          <p:nvPr/>
        </p:nvSpPr>
        <p:spPr>
          <a:xfrm flipV="1">
            <a:off x="5844999" y="3367391"/>
            <a:ext cx="1734201" cy="454939"/>
          </a:xfrm>
          <a:prstGeom prst="round1Rect">
            <a:avLst/>
          </a:prstGeom>
          <a:solidFill>
            <a:srgbClr val="F0BE0F">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77" name="Rectangle: Single Corner Rounded 76">
            <a:extLst>
              <a:ext uri="{FF2B5EF4-FFF2-40B4-BE49-F238E27FC236}">
                <a16:creationId xmlns:a16="http://schemas.microsoft.com/office/drawing/2014/main" id="{C28BB0CF-AC19-C00C-92B7-4AD5180052BC}"/>
              </a:ext>
            </a:extLst>
          </p:cNvPr>
          <p:cNvSpPr/>
          <p:nvPr/>
        </p:nvSpPr>
        <p:spPr>
          <a:xfrm flipH="1" flipV="1">
            <a:off x="4115257" y="3367391"/>
            <a:ext cx="1734201" cy="454939"/>
          </a:xfrm>
          <a:prstGeom prst="round1Rect">
            <a:avLst/>
          </a:prstGeom>
          <a:solidFill>
            <a:srgbClr val="1E2761">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78" name="TextBox 77">
            <a:extLst>
              <a:ext uri="{FF2B5EF4-FFF2-40B4-BE49-F238E27FC236}">
                <a16:creationId xmlns:a16="http://schemas.microsoft.com/office/drawing/2014/main" id="{666C7B17-A8E1-A2F4-ADE3-5A84F4E300CE}"/>
              </a:ext>
            </a:extLst>
          </p:cNvPr>
          <p:cNvSpPr txBox="1"/>
          <p:nvPr/>
        </p:nvSpPr>
        <p:spPr>
          <a:xfrm>
            <a:off x="5844999" y="3360546"/>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دردسر</a:t>
            </a:r>
            <a:endParaRPr kumimoji="0" lang="en-GB"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p:txBody>
      </p:sp>
      <p:sp>
        <p:nvSpPr>
          <p:cNvPr id="79" name="TextBox 78">
            <a:extLst>
              <a:ext uri="{FF2B5EF4-FFF2-40B4-BE49-F238E27FC236}">
                <a16:creationId xmlns:a16="http://schemas.microsoft.com/office/drawing/2014/main" id="{00B8B770-D029-A686-6CCD-A5F737E78DE2}"/>
              </a:ext>
            </a:extLst>
          </p:cNvPr>
          <p:cNvSpPr txBox="1"/>
          <p:nvPr/>
        </p:nvSpPr>
        <p:spPr>
          <a:xfrm>
            <a:off x="4113028" y="3360546"/>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منفعت</a:t>
            </a:r>
          </a:p>
        </p:txBody>
      </p:sp>
      <p:sp>
        <p:nvSpPr>
          <p:cNvPr id="80" name="TextBox 79">
            <a:extLst>
              <a:ext uri="{FF2B5EF4-FFF2-40B4-BE49-F238E27FC236}">
                <a16:creationId xmlns:a16="http://schemas.microsoft.com/office/drawing/2014/main" id="{DB66BED9-E9EB-74B9-AA60-85A96363713D}"/>
              </a:ext>
            </a:extLst>
          </p:cNvPr>
          <p:cNvSpPr txBox="1"/>
          <p:nvPr/>
        </p:nvSpPr>
        <p:spPr>
          <a:xfrm>
            <a:off x="5844995" y="3500710"/>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ریسک قانونی و شهرتی ورود سرمایه ناشناخته یا مشکوک.</a:t>
            </a:r>
          </a:p>
        </p:txBody>
      </p:sp>
      <p:sp>
        <p:nvSpPr>
          <p:cNvPr id="81" name="TextBox 80">
            <a:extLst>
              <a:ext uri="{FF2B5EF4-FFF2-40B4-BE49-F238E27FC236}">
                <a16:creationId xmlns:a16="http://schemas.microsoft.com/office/drawing/2014/main" id="{2A82E392-1FE8-04C1-41A5-2EFAFAC1911F}"/>
              </a:ext>
            </a:extLst>
          </p:cNvPr>
          <p:cNvSpPr txBox="1"/>
          <p:nvPr/>
        </p:nvSpPr>
        <p:spPr>
          <a:xfrm>
            <a:off x="4111905" y="3500710"/>
            <a:ext cx="1731975" cy="184666"/>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سرمایه‌گذاری تمیز و قابل‌دفاع نزد ذی‌نفعان.</a:t>
            </a:r>
          </a:p>
        </p:txBody>
      </p:sp>
      <p:sp>
        <p:nvSpPr>
          <p:cNvPr id="83" name="TextBox 82">
            <a:extLst>
              <a:ext uri="{FF2B5EF4-FFF2-40B4-BE49-F238E27FC236}">
                <a16:creationId xmlns:a16="http://schemas.microsoft.com/office/drawing/2014/main" id="{EB21895C-E169-24B6-489F-33A4BB25CA76}"/>
              </a:ext>
            </a:extLst>
          </p:cNvPr>
          <p:cNvSpPr txBox="1"/>
          <p:nvPr/>
        </p:nvSpPr>
        <p:spPr>
          <a:xfrm>
            <a:off x="438700" y="2949501"/>
            <a:ext cx="3597561" cy="364202"/>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30" normalizeH="0" baseline="0" noProof="0" dirty="0" err="1">
                <a:ln>
                  <a:noFill/>
                </a:ln>
                <a:solidFill>
                  <a:srgbClr val="F0BE0F"/>
                </a:solidFill>
                <a:effectLst/>
                <a:uLnTx/>
                <a:uFillTx/>
                <a:latin typeface="Yekan Bakh" pitchFamily="2" charset="-78"/>
                <a:ea typeface="Yekan Bakh" pitchFamily="2" charset="-78"/>
                <a:cs typeface="Yekan Bakh" pitchFamily="2" charset="-78"/>
              </a:rPr>
              <a:t>کار</a:t>
            </a:r>
            <a:r>
              <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 </a:t>
            </a:r>
            <a:r>
              <a:rPr kumimoji="0" lang="fa-IR"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۶</a:t>
            </a:r>
            <a:endPar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225"/>
              </a:spcBef>
              <a:spcAft>
                <a:spcPts val="0"/>
              </a:spcAft>
              <a:buClrTx/>
              <a:buSzTx/>
              <a:buFontTx/>
              <a:buNone/>
              <a:tabLst/>
              <a:defRPr/>
            </a:pPr>
            <a:r>
              <a:rPr kumimoji="0" lang="fa-IR" sz="7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یافتن هم‌سرمایه‌گذار معتبر برای تقسیم ریسک</a:t>
            </a:r>
          </a:p>
        </p:txBody>
      </p:sp>
      <p:sp>
        <p:nvSpPr>
          <p:cNvPr id="84" name="Rectangle: Single Corner Rounded 83">
            <a:extLst>
              <a:ext uri="{FF2B5EF4-FFF2-40B4-BE49-F238E27FC236}">
                <a16:creationId xmlns:a16="http://schemas.microsoft.com/office/drawing/2014/main" id="{538E8D0C-0E19-6648-0791-414FF92D079C}"/>
              </a:ext>
            </a:extLst>
          </p:cNvPr>
          <p:cNvSpPr/>
          <p:nvPr/>
        </p:nvSpPr>
        <p:spPr>
          <a:xfrm flipV="1">
            <a:off x="2235251" y="3367391"/>
            <a:ext cx="1734201" cy="454939"/>
          </a:xfrm>
          <a:prstGeom prst="round1Rect">
            <a:avLst/>
          </a:prstGeom>
          <a:solidFill>
            <a:srgbClr val="F0BE0F">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85" name="Rectangle: Single Corner Rounded 84">
            <a:extLst>
              <a:ext uri="{FF2B5EF4-FFF2-40B4-BE49-F238E27FC236}">
                <a16:creationId xmlns:a16="http://schemas.microsoft.com/office/drawing/2014/main" id="{B2E668A0-8578-0D1F-CF78-591784314CB6}"/>
              </a:ext>
            </a:extLst>
          </p:cNvPr>
          <p:cNvSpPr/>
          <p:nvPr/>
        </p:nvSpPr>
        <p:spPr>
          <a:xfrm flipH="1" flipV="1">
            <a:off x="505509" y="3367391"/>
            <a:ext cx="1734201" cy="454939"/>
          </a:xfrm>
          <a:prstGeom prst="round1Rect">
            <a:avLst/>
          </a:prstGeom>
          <a:solidFill>
            <a:srgbClr val="1E2761">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86" name="TextBox 85">
            <a:extLst>
              <a:ext uri="{FF2B5EF4-FFF2-40B4-BE49-F238E27FC236}">
                <a16:creationId xmlns:a16="http://schemas.microsoft.com/office/drawing/2014/main" id="{AD018EDE-D3E6-B697-AE9B-E3A79127CF72}"/>
              </a:ext>
            </a:extLst>
          </p:cNvPr>
          <p:cNvSpPr txBox="1"/>
          <p:nvPr/>
        </p:nvSpPr>
        <p:spPr>
          <a:xfrm>
            <a:off x="2235251" y="3360546"/>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دردسر</a:t>
            </a:r>
            <a:endParaRPr kumimoji="0" lang="en-GB"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p:txBody>
      </p:sp>
      <p:sp>
        <p:nvSpPr>
          <p:cNvPr id="87" name="TextBox 86">
            <a:extLst>
              <a:ext uri="{FF2B5EF4-FFF2-40B4-BE49-F238E27FC236}">
                <a16:creationId xmlns:a16="http://schemas.microsoft.com/office/drawing/2014/main" id="{56AED6E2-B57F-6E9C-3D2E-38C9A2040E74}"/>
              </a:ext>
            </a:extLst>
          </p:cNvPr>
          <p:cNvSpPr txBox="1"/>
          <p:nvPr/>
        </p:nvSpPr>
        <p:spPr>
          <a:xfrm>
            <a:off x="503280" y="3360546"/>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منفعت</a:t>
            </a:r>
          </a:p>
        </p:txBody>
      </p:sp>
      <p:sp>
        <p:nvSpPr>
          <p:cNvPr id="88" name="TextBox 87">
            <a:extLst>
              <a:ext uri="{FF2B5EF4-FFF2-40B4-BE49-F238E27FC236}">
                <a16:creationId xmlns:a16="http://schemas.microsoft.com/office/drawing/2014/main" id="{B9FBAC3A-3121-C815-253B-88CBBA007F74}"/>
              </a:ext>
            </a:extLst>
          </p:cNvPr>
          <p:cNvSpPr txBox="1"/>
          <p:nvPr/>
        </p:nvSpPr>
        <p:spPr>
          <a:xfrm>
            <a:off x="2235247" y="3500710"/>
            <a:ext cx="1731975" cy="184666"/>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تمرکز کامل ریسک روی یک سرمایه‌گذار منفرد.</a:t>
            </a:r>
          </a:p>
        </p:txBody>
      </p:sp>
      <p:sp>
        <p:nvSpPr>
          <p:cNvPr id="89" name="TextBox 88">
            <a:extLst>
              <a:ext uri="{FF2B5EF4-FFF2-40B4-BE49-F238E27FC236}">
                <a16:creationId xmlns:a16="http://schemas.microsoft.com/office/drawing/2014/main" id="{B5375945-4F61-EAFC-4036-5859A8743DB1}"/>
              </a:ext>
            </a:extLst>
          </p:cNvPr>
          <p:cNvSpPr txBox="1"/>
          <p:nvPr/>
        </p:nvSpPr>
        <p:spPr>
          <a:xfrm>
            <a:off x="502157" y="3500710"/>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کاهش ریسک از طریق مشارکت با هم‌سرمایه‌گذار.</a:t>
            </a:r>
          </a:p>
        </p:txBody>
      </p:sp>
      <p:sp>
        <p:nvSpPr>
          <p:cNvPr id="91" name="TextBox 90">
            <a:extLst>
              <a:ext uri="{FF2B5EF4-FFF2-40B4-BE49-F238E27FC236}">
                <a16:creationId xmlns:a16="http://schemas.microsoft.com/office/drawing/2014/main" id="{37CB73DC-978C-7875-4AF6-BFF672B3A3AF}"/>
              </a:ext>
            </a:extLst>
          </p:cNvPr>
          <p:cNvSpPr txBox="1"/>
          <p:nvPr/>
        </p:nvSpPr>
        <p:spPr>
          <a:xfrm>
            <a:off x="7646008" y="3893277"/>
            <a:ext cx="3597561" cy="364202"/>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30" normalizeH="0" baseline="0" noProof="0" dirty="0" err="1">
                <a:ln>
                  <a:noFill/>
                </a:ln>
                <a:solidFill>
                  <a:srgbClr val="F0BE0F"/>
                </a:solidFill>
                <a:effectLst/>
                <a:uLnTx/>
                <a:uFillTx/>
                <a:latin typeface="Yekan Bakh" pitchFamily="2" charset="-78"/>
                <a:ea typeface="Yekan Bakh" pitchFamily="2" charset="-78"/>
                <a:cs typeface="Yekan Bakh" pitchFamily="2" charset="-78"/>
              </a:rPr>
              <a:t>کار</a:t>
            </a:r>
            <a:r>
              <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 </a:t>
            </a:r>
            <a:r>
              <a:rPr kumimoji="0" lang="fa-IR"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۷</a:t>
            </a:r>
            <a:endPar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225"/>
              </a:spcBef>
              <a:spcAft>
                <a:spcPts val="0"/>
              </a:spcAft>
              <a:buClrTx/>
              <a:buSzTx/>
              <a:buFontTx/>
              <a:buNone/>
              <a:tabLst/>
              <a:defRPr/>
            </a:pPr>
            <a:r>
              <a:rPr kumimoji="0" lang="fa-IR" sz="7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داشتن روایت معتبر و مسیر روشن برای خروج و بازگشت سرمایه پیش از تعهد</a:t>
            </a:r>
          </a:p>
        </p:txBody>
      </p:sp>
      <p:sp>
        <p:nvSpPr>
          <p:cNvPr id="92" name="Rectangle: Single Corner Rounded 91">
            <a:extLst>
              <a:ext uri="{FF2B5EF4-FFF2-40B4-BE49-F238E27FC236}">
                <a16:creationId xmlns:a16="http://schemas.microsoft.com/office/drawing/2014/main" id="{0C323EA2-76E5-5732-388A-1647F7E5F26B}"/>
              </a:ext>
            </a:extLst>
          </p:cNvPr>
          <p:cNvSpPr/>
          <p:nvPr/>
        </p:nvSpPr>
        <p:spPr>
          <a:xfrm flipV="1">
            <a:off x="9442559" y="4311167"/>
            <a:ext cx="1734201" cy="454939"/>
          </a:xfrm>
          <a:prstGeom prst="round1Rect">
            <a:avLst/>
          </a:prstGeom>
          <a:solidFill>
            <a:srgbClr val="F0BE0F">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93" name="Rectangle: Single Corner Rounded 92">
            <a:extLst>
              <a:ext uri="{FF2B5EF4-FFF2-40B4-BE49-F238E27FC236}">
                <a16:creationId xmlns:a16="http://schemas.microsoft.com/office/drawing/2014/main" id="{D33D2A71-A1B6-8EB2-9E49-F7880BDD9A7B}"/>
              </a:ext>
            </a:extLst>
          </p:cNvPr>
          <p:cNvSpPr/>
          <p:nvPr/>
        </p:nvSpPr>
        <p:spPr>
          <a:xfrm flipH="1" flipV="1">
            <a:off x="7712817" y="4311167"/>
            <a:ext cx="1734201" cy="454939"/>
          </a:xfrm>
          <a:prstGeom prst="round1Rect">
            <a:avLst/>
          </a:prstGeom>
          <a:solidFill>
            <a:srgbClr val="1E2761">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94" name="TextBox 93">
            <a:extLst>
              <a:ext uri="{FF2B5EF4-FFF2-40B4-BE49-F238E27FC236}">
                <a16:creationId xmlns:a16="http://schemas.microsoft.com/office/drawing/2014/main" id="{289FF620-505A-CE46-61A1-5DD8303BB8D1}"/>
              </a:ext>
            </a:extLst>
          </p:cNvPr>
          <p:cNvSpPr txBox="1"/>
          <p:nvPr/>
        </p:nvSpPr>
        <p:spPr>
          <a:xfrm>
            <a:off x="9442559" y="4304322"/>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دردسر</a:t>
            </a:r>
            <a:endParaRPr kumimoji="0" lang="en-GB"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p:txBody>
      </p:sp>
      <p:sp>
        <p:nvSpPr>
          <p:cNvPr id="95" name="TextBox 94">
            <a:extLst>
              <a:ext uri="{FF2B5EF4-FFF2-40B4-BE49-F238E27FC236}">
                <a16:creationId xmlns:a16="http://schemas.microsoft.com/office/drawing/2014/main" id="{F3714B8D-86A8-007F-A0B5-777B704D2531}"/>
              </a:ext>
            </a:extLst>
          </p:cNvPr>
          <p:cNvSpPr txBox="1"/>
          <p:nvPr/>
        </p:nvSpPr>
        <p:spPr>
          <a:xfrm>
            <a:off x="7710588" y="4304322"/>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منفعت</a:t>
            </a:r>
          </a:p>
        </p:txBody>
      </p:sp>
      <p:sp>
        <p:nvSpPr>
          <p:cNvPr id="96" name="TextBox 95">
            <a:extLst>
              <a:ext uri="{FF2B5EF4-FFF2-40B4-BE49-F238E27FC236}">
                <a16:creationId xmlns:a16="http://schemas.microsoft.com/office/drawing/2014/main" id="{F8031BEF-6275-FEFF-17F1-962E2D271A5A}"/>
              </a:ext>
            </a:extLst>
          </p:cNvPr>
          <p:cNvSpPr txBox="1"/>
          <p:nvPr/>
        </p:nvSpPr>
        <p:spPr>
          <a:xfrm>
            <a:off x="9442555" y="4444486"/>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نگرانی از گیرافتادن سرمایه در صورت بدتر شدن شرایط خروج.</a:t>
            </a:r>
          </a:p>
        </p:txBody>
      </p:sp>
      <p:sp>
        <p:nvSpPr>
          <p:cNvPr id="97" name="TextBox 96">
            <a:extLst>
              <a:ext uri="{FF2B5EF4-FFF2-40B4-BE49-F238E27FC236}">
                <a16:creationId xmlns:a16="http://schemas.microsoft.com/office/drawing/2014/main" id="{5749891E-E5B1-AE46-4A76-F71E0BFFBC41}"/>
              </a:ext>
            </a:extLst>
          </p:cNvPr>
          <p:cNvSpPr txBox="1"/>
          <p:nvPr/>
        </p:nvSpPr>
        <p:spPr>
          <a:xfrm>
            <a:off x="7709465" y="4444486"/>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اطمینان از امکان خروج کنترل‌شده از سرمایه‌گذاری.</a:t>
            </a:r>
          </a:p>
        </p:txBody>
      </p:sp>
      <p:sp>
        <p:nvSpPr>
          <p:cNvPr id="99" name="TextBox 98">
            <a:extLst>
              <a:ext uri="{FF2B5EF4-FFF2-40B4-BE49-F238E27FC236}">
                <a16:creationId xmlns:a16="http://schemas.microsoft.com/office/drawing/2014/main" id="{A8C8798E-AC9D-2D98-E27A-B678635D1B4E}"/>
              </a:ext>
            </a:extLst>
          </p:cNvPr>
          <p:cNvSpPr txBox="1"/>
          <p:nvPr/>
        </p:nvSpPr>
        <p:spPr>
          <a:xfrm>
            <a:off x="4048448" y="3893277"/>
            <a:ext cx="3597561" cy="364202"/>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30" normalizeH="0" baseline="0" noProof="0" dirty="0" err="1">
                <a:ln>
                  <a:noFill/>
                </a:ln>
                <a:solidFill>
                  <a:srgbClr val="F0BE0F"/>
                </a:solidFill>
                <a:effectLst/>
                <a:uLnTx/>
                <a:uFillTx/>
                <a:latin typeface="Yekan Bakh" pitchFamily="2" charset="-78"/>
                <a:ea typeface="Yekan Bakh" pitchFamily="2" charset="-78"/>
                <a:cs typeface="Yekan Bakh" pitchFamily="2" charset="-78"/>
              </a:rPr>
              <a:t>کار</a:t>
            </a:r>
            <a:r>
              <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 </a:t>
            </a:r>
            <a:r>
              <a:rPr kumimoji="0" lang="fa-IR"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۸</a:t>
            </a:r>
            <a:endPar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225"/>
              </a:spcBef>
              <a:spcAft>
                <a:spcPts val="0"/>
              </a:spcAft>
              <a:buClrTx/>
              <a:buSzTx/>
              <a:buFontTx/>
              <a:buNone/>
              <a:tabLst/>
              <a:defRPr/>
            </a:pPr>
            <a:r>
              <a:rPr kumimoji="0" lang="fa-IR" sz="7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تصمیم‌گیری درباره تخصیص سرمایه به بازار نوظهور برای بهبود بازده تعدیل‌شده به ریسک</a:t>
            </a:r>
          </a:p>
        </p:txBody>
      </p:sp>
      <p:sp>
        <p:nvSpPr>
          <p:cNvPr id="100" name="Rectangle: Single Corner Rounded 99">
            <a:extLst>
              <a:ext uri="{FF2B5EF4-FFF2-40B4-BE49-F238E27FC236}">
                <a16:creationId xmlns:a16="http://schemas.microsoft.com/office/drawing/2014/main" id="{2B8DD746-26C3-48B3-4A53-1198FF2FFEE2}"/>
              </a:ext>
            </a:extLst>
          </p:cNvPr>
          <p:cNvSpPr/>
          <p:nvPr/>
        </p:nvSpPr>
        <p:spPr>
          <a:xfrm flipV="1">
            <a:off x="5844999" y="4311167"/>
            <a:ext cx="1734201" cy="454939"/>
          </a:xfrm>
          <a:prstGeom prst="round1Rect">
            <a:avLst/>
          </a:prstGeom>
          <a:solidFill>
            <a:srgbClr val="F0BE0F">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01" name="Rectangle: Single Corner Rounded 100">
            <a:extLst>
              <a:ext uri="{FF2B5EF4-FFF2-40B4-BE49-F238E27FC236}">
                <a16:creationId xmlns:a16="http://schemas.microsoft.com/office/drawing/2014/main" id="{138F7CEE-C9DD-F6B7-459E-1A8076DC503D}"/>
              </a:ext>
            </a:extLst>
          </p:cNvPr>
          <p:cNvSpPr/>
          <p:nvPr/>
        </p:nvSpPr>
        <p:spPr>
          <a:xfrm flipH="1" flipV="1">
            <a:off x="4115257" y="4311167"/>
            <a:ext cx="1734201" cy="454939"/>
          </a:xfrm>
          <a:prstGeom prst="round1Rect">
            <a:avLst/>
          </a:prstGeom>
          <a:solidFill>
            <a:srgbClr val="1E2761">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02" name="TextBox 101">
            <a:extLst>
              <a:ext uri="{FF2B5EF4-FFF2-40B4-BE49-F238E27FC236}">
                <a16:creationId xmlns:a16="http://schemas.microsoft.com/office/drawing/2014/main" id="{FF5772C3-465A-7458-0BE6-F14C24B59FA9}"/>
              </a:ext>
            </a:extLst>
          </p:cNvPr>
          <p:cNvSpPr txBox="1"/>
          <p:nvPr/>
        </p:nvSpPr>
        <p:spPr>
          <a:xfrm>
            <a:off x="5844999" y="4304322"/>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دردسر</a:t>
            </a:r>
            <a:endParaRPr kumimoji="0" lang="en-GB"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p:txBody>
      </p:sp>
      <p:sp>
        <p:nvSpPr>
          <p:cNvPr id="103" name="TextBox 102">
            <a:extLst>
              <a:ext uri="{FF2B5EF4-FFF2-40B4-BE49-F238E27FC236}">
                <a16:creationId xmlns:a16="http://schemas.microsoft.com/office/drawing/2014/main" id="{C13E5126-6160-B598-35C7-30BE8BDA7C2D}"/>
              </a:ext>
            </a:extLst>
          </p:cNvPr>
          <p:cNvSpPr txBox="1"/>
          <p:nvPr/>
        </p:nvSpPr>
        <p:spPr>
          <a:xfrm>
            <a:off x="4113028" y="4304322"/>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منفعت</a:t>
            </a:r>
          </a:p>
        </p:txBody>
      </p:sp>
      <p:sp>
        <p:nvSpPr>
          <p:cNvPr id="104" name="TextBox 103">
            <a:extLst>
              <a:ext uri="{FF2B5EF4-FFF2-40B4-BE49-F238E27FC236}">
                <a16:creationId xmlns:a16="http://schemas.microsoft.com/office/drawing/2014/main" id="{192A1BC1-9D97-0D03-E16D-389A628F89A9}"/>
              </a:ext>
            </a:extLst>
          </p:cNvPr>
          <p:cNvSpPr txBox="1"/>
          <p:nvPr/>
        </p:nvSpPr>
        <p:spPr>
          <a:xfrm>
            <a:off x="5844995" y="4444486"/>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محدودیت دسترسی به بازارهای غیرقابل‌دسترس از کانال‌های معمول.</a:t>
            </a:r>
          </a:p>
        </p:txBody>
      </p:sp>
      <p:sp>
        <p:nvSpPr>
          <p:cNvPr id="105" name="TextBox 104">
            <a:extLst>
              <a:ext uri="{FF2B5EF4-FFF2-40B4-BE49-F238E27FC236}">
                <a16:creationId xmlns:a16="http://schemas.microsoft.com/office/drawing/2014/main" id="{7DC5D4FF-859A-9EAC-AC0D-3214EB0A8761}"/>
              </a:ext>
            </a:extLst>
          </p:cNvPr>
          <p:cNvSpPr txBox="1"/>
          <p:nvPr/>
        </p:nvSpPr>
        <p:spPr>
          <a:xfrm>
            <a:off x="4111905" y="4444486"/>
            <a:ext cx="1731975" cy="184666"/>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تنوع پرتفوی و بازده بالاتر بالقوه.</a:t>
            </a:r>
          </a:p>
        </p:txBody>
      </p:sp>
      <p:sp>
        <p:nvSpPr>
          <p:cNvPr id="107" name="TextBox 106">
            <a:extLst>
              <a:ext uri="{FF2B5EF4-FFF2-40B4-BE49-F238E27FC236}">
                <a16:creationId xmlns:a16="http://schemas.microsoft.com/office/drawing/2014/main" id="{065CD32A-5EE8-8272-ADE3-930EFAB1EFAD}"/>
              </a:ext>
            </a:extLst>
          </p:cNvPr>
          <p:cNvSpPr txBox="1"/>
          <p:nvPr/>
        </p:nvSpPr>
        <p:spPr>
          <a:xfrm>
            <a:off x="438700" y="3893277"/>
            <a:ext cx="3597561" cy="364202"/>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30" normalizeH="0" baseline="0" noProof="0" dirty="0" err="1">
                <a:ln>
                  <a:noFill/>
                </a:ln>
                <a:solidFill>
                  <a:srgbClr val="F0BE0F"/>
                </a:solidFill>
                <a:effectLst/>
                <a:uLnTx/>
                <a:uFillTx/>
                <a:latin typeface="Yekan Bakh" pitchFamily="2" charset="-78"/>
                <a:ea typeface="Yekan Bakh" pitchFamily="2" charset="-78"/>
                <a:cs typeface="Yekan Bakh" pitchFamily="2" charset="-78"/>
              </a:rPr>
              <a:t>کار</a:t>
            </a:r>
            <a:r>
              <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 </a:t>
            </a:r>
            <a:r>
              <a:rPr kumimoji="0" lang="fa-IR"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۹</a:t>
            </a:r>
            <a:endPar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225"/>
              </a:spcBef>
              <a:spcAft>
                <a:spcPts val="0"/>
              </a:spcAft>
              <a:buClrTx/>
              <a:buSzTx/>
              <a:buFontTx/>
              <a:buNone/>
              <a:tabLst/>
              <a:defRPr/>
            </a:pPr>
            <a:r>
              <a:rPr kumimoji="0" lang="fa-IR" sz="7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دستیابی به فرصت‌هایی با ارزش متمایز که هزینه/کارمزد را توجیه کند</a:t>
            </a:r>
          </a:p>
        </p:txBody>
      </p:sp>
      <p:sp>
        <p:nvSpPr>
          <p:cNvPr id="108" name="Rectangle: Single Corner Rounded 107">
            <a:extLst>
              <a:ext uri="{FF2B5EF4-FFF2-40B4-BE49-F238E27FC236}">
                <a16:creationId xmlns:a16="http://schemas.microsoft.com/office/drawing/2014/main" id="{9BC1AFC5-48B4-64D3-6020-CC707BB0150A}"/>
              </a:ext>
            </a:extLst>
          </p:cNvPr>
          <p:cNvSpPr/>
          <p:nvPr/>
        </p:nvSpPr>
        <p:spPr>
          <a:xfrm flipV="1">
            <a:off x="2235251" y="4311167"/>
            <a:ext cx="1734201" cy="454939"/>
          </a:xfrm>
          <a:prstGeom prst="round1Rect">
            <a:avLst/>
          </a:prstGeom>
          <a:solidFill>
            <a:srgbClr val="F0BE0F">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09" name="Rectangle: Single Corner Rounded 108">
            <a:extLst>
              <a:ext uri="{FF2B5EF4-FFF2-40B4-BE49-F238E27FC236}">
                <a16:creationId xmlns:a16="http://schemas.microsoft.com/office/drawing/2014/main" id="{F28E5D5E-BB80-56BA-BBD7-7203B89197EA}"/>
              </a:ext>
            </a:extLst>
          </p:cNvPr>
          <p:cNvSpPr/>
          <p:nvPr/>
        </p:nvSpPr>
        <p:spPr>
          <a:xfrm flipH="1" flipV="1">
            <a:off x="505509" y="4311167"/>
            <a:ext cx="1734201" cy="454939"/>
          </a:xfrm>
          <a:prstGeom prst="round1Rect">
            <a:avLst/>
          </a:prstGeom>
          <a:solidFill>
            <a:srgbClr val="1E2761">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10" name="TextBox 109">
            <a:extLst>
              <a:ext uri="{FF2B5EF4-FFF2-40B4-BE49-F238E27FC236}">
                <a16:creationId xmlns:a16="http://schemas.microsoft.com/office/drawing/2014/main" id="{B11461E1-B090-D3BD-8FFE-1719F10AC80D}"/>
              </a:ext>
            </a:extLst>
          </p:cNvPr>
          <p:cNvSpPr txBox="1"/>
          <p:nvPr/>
        </p:nvSpPr>
        <p:spPr>
          <a:xfrm>
            <a:off x="2235251" y="4304322"/>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دردسر</a:t>
            </a:r>
            <a:endParaRPr kumimoji="0" lang="en-GB"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p:txBody>
      </p:sp>
      <p:sp>
        <p:nvSpPr>
          <p:cNvPr id="111" name="TextBox 110">
            <a:extLst>
              <a:ext uri="{FF2B5EF4-FFF2-40B4-BE49-F238E27FC236}">
                <a16:creationId xmlns:a16="http://schemas.microsoft.com/office/drawing/2014/main" id="{9F9598A9-E607-D339-0F5F-4C1F714C2DED}"/>
              </a:ext>
            </a:extLst>
          </p:cNvPr>
          <p:cNvSpPr txBox="1"/>
          <p:nvPr/>
        </p:nvSpPr>
        <p:spPr>
          <a:xfrm>
            <a:off x="503280" y="4304322"/>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منفعت</a:t>
            </a:r>
          </a:p>
        </p:txBody>
      </p:sp>
      <p:sp>
        <p:nvSpPr>
          <p:cNvPr id="112" name="TextBox 111">
            <a:extLst>
              <a:ext uri="{FF2B5EF4-FFF2-40B4-BE49-F238E27FC236}">
                <a16:creationId xmlns:a16="http://schemas.microsoft.com/office/drawing/2014/main" id="{090BA9A3-D102-96B6-642F-B27D802153F6}"/>
              </a:ext>
            </a:extLst>
          </p:cNvPr>
          <p:cNvSpPr txBox="1"/>
          <p:nvPr/>
        </p:nvSpPr>
        <p:spPr>
          <a:xfrm>
            <a:off x="2235247" y="4444486"/>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فشار کارمزد و کاهش تمایز نسبت به گزینه‌های سرمایه‌گذاری متعارف.</a:t>
            </a:r>
          </a:p>
        </p:txBody>
      </p:sp>
      <p:sp>
        <p:nvSpPr>
          <p:cNvPr id="113" name="TextBox 112">
            <a:extLst>
              <a:ext uri="{FF2B5EF4-FFF2-40B4-BE49-F238E27FC236}">
                <a16:creationId xmlns:a16="http://schemas.microsoft.com/office/drawing/2014/main" id="{31ED535C-4660-93B7-CC79-7093E665CF17}"/>
              </a:ext>
            </a:extLst>
          </p:cNvPr>
          <p:cNvSpPr txBox="1"/>
          <p:nvPr/>
        </p:nvSpPr>
        <p:spPr>
          <a:xfrm>
            <a:off x="502157" y="4444486"/>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توجیه هزینه از طریق دسترسی به ارزش واقعاً متمایز.</a:t>
            </a:r>
          </a:p>
        </p:txBody>
      </p:sp>
      <p:sp>
        <p:nvSpPr>
          <p:cNvPr id="115" name="TextBox 114">
            <a:extLst>
              <a:ext uri="{FF2B5EF4-FFF2-40B4-BE49-F238E27FC236}">
                <a16:creationId xmlns:a16="http://schemas.microsoft.com/office/drawing/2014/main" id="{E64E2E52-7364-B331-8899-906FDAB47EEC}"/>
              </a:ext>
            </a:extLst>
          </p:cNvPr>
          <p:cNvSpPr txBox="1"/>
          <p:nvPr/>
        </p:nvSpPr>
        <p:spPr>
          <a:xfrm>
            <a:off x="7646008" y="4837054"/>
            <a:ext cx="3597561" cy="364202"/>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30" normalizeH="0" baseline="0" noProof="0" dirty="0" err="1">
                <a:ln>
                  <a:noFill/>
                </a:ln>
                <a:solidFill>
                  <a:srgbClr val="F0BE0F"/>
                </a:solidFill>
                <a:effectLst/>
                <a:uLnTx/>
                <a:uFillTx/>
                <a:latin typeface="Yekan Bakh" pitchFamily="2" charset="-78"/>
                <a:ea typeface="Yekan Bakh" pitchFamily="2" charset="-78"/>
                <a:cs typeface="Yekan Bakh" pitchFamily="2" charset="-78"/>
              </a:rPr>
              <a:t>کار</a:t>
            </a:r>
            <a:r>
              <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 </a:t>
            </a:r>
            <a:r>
              <a:rPr kumimoji="0" lang="fa-IR"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rPr>
              <a:t>۱۰</a:t>
            </a:r>
            <a:endParaRPr kumimoji="0" lang="en-US" sz="900" b="1" i="0" u="none" strike="noStrike" kern="1200" cap="none" spc="3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225"/>
              </a:spcBef>
              <a:spcAft>
                <a:spcPts val="0"/>
              </a:spcAft>
              <a:buClrTx/>
              <a:buSzTx/>
              <a:buFontTx/>
              <a:buNone/>
              <a:tabLst/>
              <a:defRPr/>
            </a:pPr>
            <a:r>
              <a:rPr kumimoji="0" lang="fa-IR" sz="7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شناسایی فرصت‌های زیرقیمت در فضای ترس بازار با کاهش عدم‌قطعیت</a:t>
            </a:r>
          </a:p>
        </p:txBody>
      </p:sp>
      <p:sp>
        <p:nvSpPr>
          <p:cNvPr id="116" name="Rectangle: Single Corner Rounded 115">
            <a:extLst>
              <a:ext uri="{FF2B5EF4-FFF2-40B4-BE49-F238E27FC236}">
                <a16:creationId xmlns:a16="http://schemas.microsoft.com/office/drawing/2014/main" id="{73D34170-5346-D0C6-407A-C6FEDAEE9914}"/>
              </a:ext>
            </a:extLst>
          </p:cNvPr>
          <p:cNvSpPr/>
          <p:nvPr/>
        </p:nvSpPr>
        <p:spPr>
          <a:xfrm flipV="1">
            <a:off x="9442559" y="5254944"/>
            <a:ext cx="1734201" cy="454939"/>
          </a:xfrm>
          <a:prstGeom prst="round1Rect">
            <a:avLst/>
          </a:prstGeom>
          <a:solidFill>
            <a:srgbClr val="F0BE0F">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17" name="Rectangle: Single Corner Rounded 116">
            <a:extLst>
              <a:ext uri="{FF2B5EF4-FFF2-40B4-BE49-F238E27FC236}">
                <a16:creationId xmlns:a16="http://schemas.microsoft.com/office/drawing/2014/main" id="{295F3E21-7383-E70F-44F6-68C79FDD441A}"/>
              </a:ext>
            </a:extLst>
          </p:cNvPr>
          <p:cNvSpPr/>
          <p:nvPr/>
        </p:nvSpPr>
        <p:spPr>
          <a:xfrm flipH="1" flipV="1">
            <a:off x="7712817" y="5254944"/>
            <a:ext cx="1734201" cy="454939"/>
          </a:xfrm>
          <a:prstGeom prst="round1Rect">
            <a:avLst/>
          </a:prstGeom>
          <a:solidFill>
            <a:srgbClr val="1E2761">
              <a:alpha val="1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18" name="TextBox 117">
            <a:extLst>
              <a:ext uri="{FF2B5EF4-FFF2-40B4-BE49-F238E27FC236}">
                <a16:creationId xmlns:a16="http://schemas.microsoft.com/office/drawing/2014/main" id="{DA5F51D9-A5D9-C47D-B818-5BEC8571015A}"/>
              </a:ext>
            </a:extLst>
          </p:cNvPr>
          <p:cNvSpPr txBox="1"/>
          <p:nvPr/>
        </p:nvSpPr>
        <p:spPr>
          <a:xfrm>
            <a:off x="9442559" y="5248099"/>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دردسر</a:t>
            </a:r>
            <a:endParaRPr kumimoji="0" lang="en-GB" sz="6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p:txBody>
      </p:sp>
      <p:sp>
        <p:nvSpPr>
          <p:cNvPr id="119" name="TextBox 118">
            <a:extLst>
              <a:ext uri="{FF2B5EF4-FFF2-40B4-BE49-F238E27FC236}">
                <a16:creationId xmlns:a16="http://schemas.microsoft.com/office/drawing/2014/main" id="{4BF7CF29-1738-C540-6D91-E9D45F7CFE55}"/>
              </a:ext>
            </a:extLst>
          </p:cNvPr>
          <p:cNvSpPr txBox="1"/>
          <p:nvPr/>
        </p:nvSpPr>
        <p:spPr>
          <a:xfrm>
            <a:off x="7710588" y="5248099"/>
            <a:ext cx="1734200" cy="184666"/>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6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منفعت</a:t>
            </a:r>
          </a:p>
        </p:txBody>
      </p:sp>
      <p:sp>
        <p:nvSpPr>
          <p:cNvPr id="120" name="TextBox 119">
            <a:extLst>
              <a:ext uri="{FF2B5EF4-FFF2-40B4-BE49-F238E27FC236}">
                <a16:creationId xmlns:a16="http://schemas.microsoft.com/office/drawing/2014/main" id="{BD1EAD6D-9AF4-096D-F376-A4D9539B9F30}"/>
              </a:ext>
            </a:extLst>
          </p:cNvPr>
          <p:cNvSpPr txBox="1"/>
          <p:nvPr/>
        </p:nvSpPr>
        <p:spPr>
          <a:xfrm>
            <a:off x="9442555" y="5388263"/>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توقف عمومی بازار از ترس، از دست رفتن فرصت‌های ضدچرخه‌ای.</a:t>
            </a:r>
          </a:p>
        </p:txBody>
      </p:sp>
      <p:sp>
        <p:nvSpPr>
          <p:cNvPr id="121" name="TextBox 120">
            <a:extLst>
              <a:ext uri="{FF2B5EF4-FFF2-40B4-BE49-F238E27FC236}">
                <a16:creationId xmlns:a16="http://schemas.microsoft.com/office/drawing/2014/main" id="{5CE14610-B3CF-4BD9-C624-BD6CFC8138CA}"/>
              </a:ext>
            </a:extLst>
          </p:cNvPr>
          <p:cNvSpPr txBox="1"/>
          <p:nvPr/>
        </p:nvSpPr>
        <p:spPr>
          <a:xfrm>
            <a:off x="7709465" y="5388263"/>
            <a:ext cx="1731975" cy="276999"/>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6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ورود هوشمندانه و زودهنگام به فرصت‌های کم‌قیمت.</a:t>
            </a:r>
          </a:p>
        </p:txBody>
      </p:sp>
    </p:spTree>
    <p:extLst>
      <p:ext uri="{BB962C8B-B14F-4D97-AF65-F5344CB8AC3E}">
        <p14:creationId xmlns:p14="http://schemas.microsoft.com/office/powerpoint/2010/main" val="65636524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B3F9C01-27C0-16DD-1878-D82F3295A8B0}"/>
              </a:ext>
            </a:extLst>
          </p:cNvPr>
          <p:cNvSpPr>
            <a:spLocks noGrp="1"/>
          </p:cNvSpPr>
          <p:nvPr>
            <p:ph type="body" sz="quarter" idx="10"/>
          </p:nvPr>
        </p:nvSpPr>
        <p:spPr/>
        <p:txBody>
          <a:bodyPr/>
          <a:lstStyle/>
          <a:p>
            <a:r>
              <a:rPr lang="fa-IR" dirty="0"/>
              <a:t>--</a:t>
            </a:r>
          </a:p>
        </p:txBody>
      </p:sp>
      <p:sp>
        <p:nvSpPr>
          <p:cNvPr id="3" name="Text Placeholder 2">
            <a:extLst>
              <a:ext uri="{FF2B5EF4-FFF2-40B4-BE49-F238E27FC236}">
                <a16:creationId xmlns:a16="http://schemas.microsoft.com/office/drawing/2014/main" id="{9A91C66B-E658-EBF4-C21D-287D73F62C37}"/>
              </a:ext>
            </a:extLst>
          </p:cNvPr>
          <p:cNvSpPr>
            <a:spLocks noGrp="1"/>
          </p:cNvSpPr>
          <p:nvPr>
            <p:ph type="body" sz="quarter" idx="12"/>
          </p:nvPr>
        </p:nvSpPr>
        <p:spPr/>
        <p:txBody>
          <a:bodyPr/>
          <a:lstStyle/>
          <a:p>
            <a:r>
              <a:rPr lang="fa-IR" dirty="0"/>
              <a:t>کارهای مشترک میان پرسوناها</a:t>
            </a:r>
            <a:endParaRPr lang="en-GB" dirty="0"/>
          </a:p>
          <a:p>
            <a:r>
              <a:rPr lang="fa-IR" sz="1200" b="0" dirty="0">
                <a:solidFill>
                  <a:schemeClr val="tx1">
                    <a:lumMod val="50000"/>
                    <a:lumOff val="50000"/>
                  </a:schemeClr>
                </a:solidFill>
              </a:rPr>
              <a:t>پنج الگوی تکرارشونده که در بیش از یک پرسونا به‌طور مستقل ظاهر شده‌اند</a:t>
            </a:r>
          </a:p>
        </p:txBody>
      </p:sp>
      <p:graphicFrame>
        <p:nvGraphicFramePr>
          <p:cNvPr id="4" name="Table 3">
            <a:extLst>
              <a:ext uri="{FF2B5EF4-FFF2-40B4-BE49-F238E27FC236}">
                <a16:creationId xmlns:a16="http://schemas.microsoft.com/office/drawing/2014/main" id="{253D775E-5CBC-7A27-E90A-6A6505B8668C}"/>
              </a:ext>
            </a:extLst>
          </p:cNvPr>
          <p:cNvGraphicFramePr>
            <a:graphicFrameLocks noGrp="1"/>
          </p:cNvGraphicFramePr>
          <p:nvPr/>
        </p:nvGraphicFramePr>
        <p:xfrm>
          <a:off x="698820" y="1513962"/>
          <a:ext cx="10305410" cy="4034988"/>
        </p:xfrm>
        <a:graphic>
          <a:graphicData uri="http://schemas.openxmlformats.org/drawingml/2006/table">
            <a:tbl>
              <a:tblPr firstRow="1" bandRow="1">
                <a:tableStyleId>{5C22544A-7EE6-4342-B048-85BDC9FD1C3A}</a:tableStyleId>
              </a:tblPr>
              <a:tblGrid>
                <a:gridCol w="2061082">
                  <a:extLst>
                    <a:ext uri="{9D8B030D-6E8A-4147-A177-3AD203B41FA5}">
                      <a16:colId xmlns:a16="http://schemas.microsoft.com/office/drawing/2014/main" val="2699517821"/>
                    </a:ext>
                  </a:extLst>
                </a:gridCol>
                <a:gridCol w="2061082">
                  <a:extLst>
                    <a:ext uri="{9D8B030D-6E8A-4147-A177-3AD203B41FA5}">
                      <a16:colId xmlns:a16="http://schemas.microsoft.com/office/drawing/2014/main" val="2482125316"/>
                    </a:ext>
                  </a:extLst>
                </a:gridCol>
                <a:gridCol w="2061082">
                  <a:extLst>
                    <a:ext uri="{9D8B030D-6E8A-4147-A177-3AD203B41FA5}">
                      <a16:colId xmlns:a16="http://schemas.microsoft.com/office/drawing/2014/main" val="1843238465"/>
                    </a:ext>
                  </a:extLst>
                </a:gridCol>
                <a:gridCol w="2061082">
                  <a:extLst>
                    <a:ext uri="{9D8B030D-6E8A-4147-A177-3AD203B41FA5}">
                      <a16:colId xmlns:a16="http://schemas.microsoft.com/office/drawing/2014/main" val="2074477885"/>
                    </a:ext>
                  </a:extLst>
                </a:gridCol>
                <a:gridCol w="2061082">
                  <a:extLst>
                    <a:ext uri="{9D8B030D-6E8A-4147-A177-3AD203B41FA5}">
                      <a16:colId xmlns:a16="http://schemas.microsoft.com/office/drawing/2014/main" val="3028444462"/>
                    </a:ext>
                  </a:extLst>
                </a:gridCol>
              </a:tblGrid>
              <a:tr h="538358">
                <a:tc>
                  <a:txBody>
                    <a:bodyPr/>
                    <a:lstStyle/>
                    <a:p>
                      <a:pPr algn="ctr" rtl="1"/>
                      <a:r>
                        <a:rPr lang="en-US" sz="1050" b="1" i="0" kern="1200" dirty="0" err="1">
                          <a:solidFill>
                            <a:srgbClr val="3242A4"/>
                          </a:solidFill>
                          <a:effectLst/>
                          <a:latin typeface="Yekan Bakh" pitchFamily="2" charset="-78"/>
                          <a:ea typeface="Yekan Bakh" pitchFamily="2" charset="-78"/>
                          <a:cs typeface="Yekan Bakh" pitchFamily="2" charset="-78"/>
                        </a:rPr>
                        <a:t>اهمیت</a:t>
                      </a:r>
                      <a:r>
                        <a:rPr lang="en-US" sz="1050" b="1" i="0" kern="1200" dirty="0">
                          <a:solidFill>
                            <a:srgbClr val="3242A4"/>
                          </a:solidFill>
                          <a:effectLst/>
                          <a:latin typeface="Yekan Bakh" pitchFamily="2" charset="-78"/>
                          <a:ea typeface="Yekan Bakh" pitchFamily="2" charset="-78"/>
                          <a:cs typeface="Yekan Bakh" pitchFamily="2" charset="-78"/>
                        </a:rPr>
                        <a:t> </a:t>
                      </a:r>
                      <a:r>
                        <a:rPr lang="en-US" sz="1050" b="1" i="0" kern="1200" dirty="0" err="1">
                          <a:solidFill>
                            <a:srgbClr val="3242A4"/>
                          </a:solidFill>
                          <a:effectLst/>
                          <a:latin typeface="Yekan Bakh" pitchFamily="2" charset="-78"/>
                          <a:ea typeface="Yekan Bakh" pitchFamily="2" charset="-78"/>
                          <a:cs typeface="Yekan Bakh" pitchFamily="2" charset="-78"/>
                        </a:rPr>
                        <a:t>استراتژیک</a:t>
                      </a:r>
                      <a:endParaRPr lang="en-GB" sz="1050" dirty="0">
                        <a:solidFill>
                          <a:srgbClr val="3242A4"/>
                        </a:solidFill>
                        <a:latin typeface="Yekan Bakh" pitchFamily="2" charset="-78"/>
                        <a:ea typeface="Yekan Bakh" pitchFamily="2" charset="-78"/>
                        <a:cs typeface="Yekan Bakh" pitchFamily="2" charset="-78"/>
                      </a:endParaRPr>
                    </a:p>
                  </a:txBody>
                  <a:tcPr anchor="ctr">
                    <a:solidFill>
                      <a:schemeClr val="accent2">
                        <a:alpha val="16000"/>
                      </a:schemeClr>
                    </a:solidFill>
                  </a:tcPr>
                </a:tc>
                <a:tc>
                  <a:txBody>
                    <a:bodyPr/>
                    <a:lstStyle/>
                    <a:p>
                      <a:pPr algn="ctr" rtl="1"/>
                      <a:r>
                        <a:rPr lang="fa-IR" sz="1050" dirty="0">
                          <a:solidFill>
                            <a:srgbClr val="3242A4"/>
                          </a:solidFill>
                          <a:latin typeface="Yekan Bakh" pitchFamily="2" charset="-78"/>
                          <a:ea typeface="Yekan Bakh" pitchFamily="2" charset="-78"/>
                          <a:cs typeface="Yekan Bakh" pitchFamily="2" charset="-78"/>
                        </a:rPr>
                        <a:t>منفعت مشترک</a:t>
                      </a:r>
                      <a:endParaRPr lang="en-GB" sz="1050" dirty="0">
                        <a:solidFill>
                          <a:srgbClr val="3242A4"/>
                        </a:solidFill>
                        <a:latin typeface="Yekan Bakh" pitchFamily="2" charset="-78"/>
                        <a:ea typeface="Yekan Bakh" pitchFamily="2" charset="-78"/>
                        <a:cs typeface="Yekan Bakh" pitchFamily="2" charset="-78"/>
                      </a:endParaRPr>
                    </a:p>
                  </a:txBody>
                  <a:tcPr anchor="ctr">
                    <a:solidFill>
                      <a:schemeClr val="accent2">
                        <a:alpha val="16000"/>
                      </a:schemeClr>
                    </a:solidFill>
                  </a:tcPr>
                </a:tc>
                <a:tc>
                  <a:txBody>
                    <a:bodyPr/>
                    <a:lstStyle/>
                    <a:p>
                      <a:pPr algn="ctr" rtl="1"/>
                      <a:r>
                        <a:rPr lang="en-US" sz="1050" b="1" i="0" dirty="0" err="1">
                          <a:solidFill>
                            <a:srgbClr val="3242A4"/>
                          </a:solidFill>
                          <a:effectLst/>
                          <a:latin typeface="Yekan Bakh" pitchFamily="2" charset="-78"/>
                          <a:ea typeface="Yekan Bakh" pitchFamily="2" charset="-78"/>
                          <a:cs typeface="Yekan Bakh" pitchFamily="2" charset="-78"/>
                        </a:rPr>
                        <a:t>دردسر</a:t>
                      </a:r>
                      <a:r>
                        <a:rPr lang="en-US" sz="1050" b="1" i="0" dirty="0">
                          <a:solidFill>
                            <a:srgbClr val="3242A4"/>
                          </a:solidFill>
                          <a:effectLst/>
                          <a:latin typeface="Yekan Bakh" pitchFamily="2" charset="-78"/>
                          <a:ea typeface="Yekan Bakh" pitchFamily="2" charset="-78"/>
                          <a:cs typeface="Yekan Bakh" pitchFamily="2" charset="-78"/>
                        </a:rPr>
                        <a:t> </a:t>
                      </a:r>
                      <a:r>
                        <a:rPr lang="en-US" sz="1050" b="1" i="0" dirty="0" err="1">
                          <a:solidFill>
                            <a:srgbClr val="3242A4"/>
                          </a:solidFill>
                          <a:effectLst/>
                          <a:latin typeface="Yekan Bakh" pitchFamily="2" charset="-78"/>
                          <a:ea typeface="Yekan Bakh" pitchFamily="2" charset="-78"/>
                          <a:cs typeface="Yekan Bakh" pitchFamily="2" charset="-78"/>
                        </a:rPr>
                        <a:t>مشترک</a:t>
                      </a:r>
                      <a:endParaRPr lang="en-GB" sz="1050" dirty="0">
                        <a:solidFill>
                          <a:srgbClr val="3242A4"/>
                        </a:solidFill>
                        <a:latin typeface="Yekan Bakh" pitchFamily="2" charset="-78"/>
                        <a:ea typeface="Yekan Bakh" pitchFamily="2" charset="-78"/>
                        <a:cs typeface="Yekan Bakh" pitchFamily="2" charset="-78"/>
                      </a:endParaRPr>
                    </a:p>
                  </a:txBody>
                  <a:tcPr anchor="ctr">
                    <a:solidFill>
                      <a:schemeClr val="accent2">
                        <a:alpha val="16000"/>
                      </a:schemeClr>
                    </a:solidFill>
                  </a:tcPr>
                </a:tc>
                <a:tc>
                  <a:txBody>
                    <a:bodyPr/>
                    <a:lstStyle/>
                    <a:p>
                      <a:pPr algn="ctr" rtl="1"/>
                      <a:r>
                        <a:rPr lang="fa-IR" sz="1050" dirty="0">
                          <a:solidFill>
                            <a:srgbClr val="3242A4"/>
                          </a:solidFill>
                          <a:latin typeface="Yekan Bakh" pitchFamily="2" charset="-78"/>
                          <a:ea typeface="Yekan Bakh" pitchFamily="2" charset="-78"/>
                          <a:cs typeface="Yekan Bakh" pitchFamily="2" charset="-78"/>
                        </a:rPr>
                        <a:t>پرسوناهای مرتبط</a:t>
                      </a:r>
                      <a:endParaRPr lang="en-GB" sz="1050" dirty="0">
                        <a:solidFill>
                          <a:srgbClr val="3242A4"/>
                        </a:solidFill>
                        <a:latin typeface="Yekan Bakh" pitchFamily="2" charset="-78"/>
                        <a:ea typeface="Yekan Bakh" pitchFamily="2" charset="-78"/>
                        <a:cs typeface="Yekan Bakh" pitchFamily="2" charset="-78"/>
                      </a:endParaRPr>
                    </a:p>
                  </a:txBody>
                  <a:tcPr anchor="ctr">
                    <a:solidFill>
                      <a:schemeClr val="accent2">
                        <a:alpha val="16000"/>
                      </a:schemeClr>
                    </a:solidFill>
                  </a:tcPr>
                </a:tc>
                <a:tc>
                  <a:txBody>
                    <a:bodyPr/>
                    <a:lstStyle/>
                    <a:p>
                      <a:pPr algn="ctr" rtl="1"/>
                      <a:r>
                        <a:rPr lang="en-US" sz="1050" b="1" i="0" kern="1200" dirty="0" err="1">
                          <a:solidFill>
                            <a:srgbClr val="3242A4"/>
                          </a:solidFill>
                          <a:effectLst/>
                          <a:latin typeface="Yekan Bakh" pitchFamily="2" charset="-78"/>
                          <a:ea typeface="Yekan Bakh" pitchFamily="2" charset="-78"/>
                          <a:cs typeface="Yekan Bakh" pitchFamily="2" charset="-78"/>
                        </a:rPr>
                        <a:t>کار</a:t>
                      </a:r>
                      <a:r>
                        <a:rPr lang="en-US" sz="1050" b="1" i="0" kern="1200" dirty="0">
                          <a:solidFill>
                            <a:srgbClr val="3242A4"/>
                          </a:solidFill>
                          <a:effectLst/>
                          <a:latin typeface="Yekan Bakh" pitchFamily="2" charset="-78"/>
                          <a:ea typeface="Yekan Bakh" pitchFamily="2" charset="-78"/>
                          <a:cs typeface="Yekan Bakh" pitchFamily="2" charset="-78"/>
                        </a:rPr>
                        <a:t> </a:t>
                      </a:r>
                      <a:r>
                        <a:rPr lang="en-US" sz="1050" b="1" i="0" kern="1200" dirty="0" err="1">
                          <a:solidFill>
                            <a:srgbClr val="3242A4"/>
                          </a:solidFill>
                          <a:effectLst/>
                          <a:latin typeface="Yekan Bakh" pitchFamily="2" charset="-78"/>
                          <a:ea typeface="Yekan Bakh" pitchFamily="2" charset="-78"/>
                          <a:cs typeface="Yekan Bakh" pitchFamily="2" charset="-78"/>
                        </a:rPr>
                        <a:t>مشترک</a:t>
                      </a:r>
                      <a:endParaRPr lang="en-GB" sz="1050" dirty="0">
                        <a:solidFill>
                          <a:srgbClr val="3242A4"/>
                        </a:solidFill>
                        <a:latin typeface="Yekan Bakh" pitchFamily="2" charset="-78"/>
                        <a:ea typeface="Yekan Bakh" pitchFamily="2" charset="-78"/>
                        <a:cs typeface="Yekan Bakh" pitchFamily="2" charset="-78"/>
                      </a:endParaRPr>
                    </a:p>
                  </a:txBody>
                  <a:tcPr anchor="ctr">
                    <a:solidFill>
                      <a:schemeClr val="accent2">
                        <a:alpha val="16000"/>
                      </a:schemeClr>
                    </a:solidFill>
                  </a:tcPr>
                </a:tc>
                <a:extLst>
                  <a:ext uri="{0D108BD9-81ED-4DB2-BD59-A6C34878D82A}">
                    <a16:rowId xmlns:a16="http://schemas.microsoft.com/office/drawing/2014/main" val="1876286218"/>
                  </a:ext>
                </a:extLst>
              </a:tr>
              <a:tr h="699326">
                <a:tc>
                  <a:txBody>
                    <a:bodyPr/>
                    <a:lstStyle/>
                    <a:p>
                      <a:pPr algn="ctr" rtl="1"/>
                      <a:r>
                        <a:rPr lang="en-US" sz="900" b="1" i="0" kern="1200" dirty="0" err="1">
                          <a:solidFill>
                            <a:schemeClr val="tx1">
                              <a:lumMod val="75000"/>
                              <a:lumOff val="25000"/>
                            </a:schemeClr>
                          </a:solidFill>
                          <a:effectLst/>
                          <a:latin typeface="Yekan Bakh" pitchFamily="2" charset="-78"/>
                          <a:ea typeface="Yekan Bakh" pitchFamily="2" charset="-78"/>
                          <a:cs typeface="Yekan Bakh" pitchFamily="2" charset="-78"/>
                        </a:rPr>
                        <a:t>بسیار</a:t>
                      </a:r>
                      <a:r>
                        <a:rPr lang="en-US" sz="900" b="1"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900" b="1" i="0" kern="1200" dirty="0" err="1">
                          <a:solidFill>
                            <a:schemeClr val="tx1">
                              <a:lumMod val="75000"/>
                              <a:lumOff val="25000"/>
                            </a:schemeClr>
                          </a:solidFill>
                          <a:effectLst/>
                          <a:latin typeface="Yekan Bakh" pitchFamily="2" charset="-78"/>
                          <a:ea typeface="Yekan Bakh" pitchFamily="2" charset="-78"/>
                          <a:cs typeface="Yekan Bakh" pitchFamily="2" charset="-78"/>
                        </a:rPr>
                        <a:t>بالا</a:t>
                      </a:r>
                      <a:endParaRPr lang="en-GB" sz="900" dirty="0">
                        <a:solidFill>
                          <a:schemeClr val="tx1">
                            <a:lumMod val="75000"/>
                            <a:lumOff val="25000"/>
                          </a:schemeClr>
                        </a:solidFill>
                        <a:latin typeface="Yekan Bakh" pitchFamily="2" charset="-78"/>
                        <a:ea typeface="Yekan Bakh" pitchFamily="2" charset="-78"/>
                        <a:cs typeface="Yekan Bakh" pitchFamily="2" charset="-78"/>
                      </a:endParaRPr>
                    </a:p>
                  </a:txBody>
                  <a:tcPr anchor="ctr">
                    <a:solidFill>
                      <a:srgbClr val="1E2761">
                        <a:alpha val="7000"/>
                      </a:srgbClr>
                    </a:solidFill>
                  </a:tcPr>
                </a:tc>
                <a:tc>
                  <a:txBody>
                    <a:bodyPr/>
                    <a:lstStyle/>
                    <a:p>
                      <a:pPr algn="ctr" rtl="1"/>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دسترسی</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به</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فرصت‌ها</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و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شرکای</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واقعی</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و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باکیفیت</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به‌جای</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جست‌وجوی</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پراکنده</a:t>
                      </a:r>
                      <a:endParaRPr lang="en-GB" sz="900" dirty="0">
                        <a:solidFill>
                          <a:schemeClr val="tx1">
                            <a:lumMod val="75000"/>
                            <a:lumOff val="25000"/>
                          </a:schemeClr>
                        </a:solidFill>
                        <a:latin typeface="Yekan Bakh" pitchFamily="2" charset="-78"/>
                        <a:ea typeface="Yekan Bakh" pitchFamily="2" charset="-78"/>
                        <a:cs typeface="Yekan Bakh" pitchFamily="2" charset="-78"/>
                      </a:endParaRPr>
                    </a:p>
                  </a:txBody>
                  <a:tcPr anchor="ctr">
                    <a:solidFill>
                      <a:srgbClr val="1E2761">
                        <a:alpha val="7000"/>
                      </a:srgbClr>
                    </a:solidFill>
                  </a:tcPr>
                </a:tc>
                <a:tc>
                  <a:txBody>
                    <a:bodyPr/>
                    <a:lstStyle/>
                    <a:p>
                      <a:pPr algn="ctr" rtl="1"/>
                      <a:r>
                        <a:rPr lang="fa-IR" sz="900" dirty="0">
                          <a:solidFill>
                            <a:schemeClr val="tx1">
                              <a:lumMod val="75000"/>
                              <a:lumOff val="25000"/>
                            </a:schemeClr>
                          </a:solidFill>
                          <a:latin typeface="Yekan Bakh" pitchFamily="2" charset="-78"/>
                          <a:ea typeface="Yekan Bakh" pitchFamily="2" charset="-78"/>
                          <a:cs typeface="Yekan Bakh" pitchFamily="2" charset="-78"/>
                        </a:rPr>
                        <a:t>شبکه ارتباطی محدود و نبود کانال معرفی معتبر برای رسیدن به طرف/فرصت مناسب</a:t>
                      </a:r>
                      <a:endParaRPr lang="en-GB" sz="900" dirty="0">
                        <a:solidFill>
                          <a:schemeClr val="tx1">
                            <a:lumMod val="75000"/>
                            <a:lumOff val="25000"/>
                          </a:schemeClr>
                        </a:solidFill>
                        <a:latin typeface="Yekan Bakh" pitchFamily="2" charset="-78"/>
                        <a:ea typeface="Yekan Bakh" pitchFamily="2" charset="-78"/>
                        <a:cs typeface="Yekan Bakh" pitchFamily="2" charset="-78"/>
                      </a:endParaRPr>
                    </a:p>
                  </a:txBody>
                  <a:tcPr anchor="ctr">
                    <a:solidFill>
                      <a:srgbClr val="1E2761">
                        <a:alpha val="7000"/>
                      </a:srgbClr>
                    </a:solidFill>
                  </a:tcPr>
                </a:tc>
                <a:tc>
                  <a:txBody>
                    <a:bodyPr/>
                    <a:lstStyle/>
                    <a:p>
                      <a:pPr algn="ctr" rtl="1"/>
                      <a:endParaRPr lang="en-GB" sz="900" dirty="0">
                        <a:solidFill>
                          <a:schemeClr val="tx1">
                            <a:lumMod val="75000"/>
                            <a:lumOff val="25000"/>
                          </a:schemeClr>
                        </a:solidFill>
                        <a:latin typeface="Yekan Bakh" pitchFamily="2" charset="-78"/>
                        <a:ea typeface="Yekan Bakh" pitchFamily="2" charset="-78"/>
                        <a:cs typeface="Yekan Bakh" pitchFamily="2" charset="-78"/>
                      </a:endParaRPr>
                    </a:p>
                  </a:txBody>
                  <a:tcPr anchor="ctr">
                    <a:solidFill>
                      <a:srgbClr val="1E2761">
                        <a:alpha val="7000"/>
                      </a:srgbClr>
                    </a:solidFill>
                  </a:tcPr>
                </a:tc>
                <a:tc>
                  <a:txBody>
                    <a:bodyPr/>
                    <a:lstStyle/>
                    <a:p>
                      <a:pPr algn="ctr" rtl="1"/>
                      <a:r>
                        <a:rPr lang="fa-IR" sz="900" b="1" dirty="0">
                          <a:solidFill>
                            <a:schemeClr val="tx1">
                              <a:lumMod val="75000"/>
                              <a:lumOff val="25000"/>
                            </a:schemeClr>
                          </a:solidFill>
                          <a:latin typeface="Yekan Bakh" pitchFamily="2" charset="-78"/>
                          <a:ea typeface="Yekan Bakh" pitchFamily="2" charset="-78"/>
                          <a:cs typeface="Yekan Bakh" pitchFamily="2" charset="-78"/>
                        </a:rPr>
                        <a:t>دسترسی به طرف/شریک معتبر از طریق کانال قابل‌اعتماد</a:t>
                      </a:r>
                      <a:endParaRPr lang="en-GB" sz="900" b="1" dirty="0">
                        <a:solidFill>
                          <a:schemeClr val="tx1">
                            <a:lumMod val="75000"/>
                            <a:lumOff val="25000"/>
                          </a:schemeClr>
                        </a:solidFill>
                        <a:latin typeface="Yekan Bakh" pitchFamily="2" charset="-78"/>
                        <a:ea typeface="Yekan Bakh" pitchFamily="2" charset="-78"/>
                        <a:cs typeface="Yekan Bakh" pitchFamily="2" charset="-78"/>
                      </a:endParaRPr>
                    </a:p>
                  </a:txBody>
                  <a:tcPr anchor="ctr">
                    <a:solidFill>
                      <a:srgbClr val="1E2761">
                        <a:alpha val="7000"/>
                      </a:srgbClr>
                    </a:solidFill>
                  </a:tcPr>
                </a:tc>
                <a:extLst>
                  <a:ext uri="{0D108BD9-81ED-4DB2-BD59-A6C34878D82A}">
                    <a16:rowId xmlns:a16="http://schemas.microsoft.com/office/drawing/2014/main" val="1517720435"/>
                  </a:ext>
                </a:extLst>
              </a:tr>
              <a:tr h="699326">
                <a:tc>
                  <a:txBody>
                    <a:bodyPr/>
                    <a:lstStyle/>
                    <a:p>
                      <a:pPr algn="ctr" rtl="1"/>
                      <a:r>
                        <a:rPr lang="en-US" sz="900" b="1" i="0" kern="1200" dirty="0" err="1">
                          <a:solidFill>
                            <a:schemeClr val="tx1">
                              <a:lumMod val="75000"/>
                              <a:lumOff val="25000"/>
                            </a:schemeClr>
                          </a:solidFill>
                          <a:effectLst/>
                          <a:latin typeface="Yekan Bakh" pitchFamily="2" charset="-78"/>
                          <a:ea typeface="Yekan Bakh" pitchFamily="2" charset="-78"/>
                          <a:cs typeface="Yekan Bakh" pitchFamily="2" charset="-78"/>
                        </a:rPr>
                        <a:t>بسیار</a:t>
                      </a:r>
                      <a:r>
                        <a:rPr lang="en-US" sz="900" b="1"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900" b="1" i="0" kern="1200" dirty="0" err="1">
                          <a:solidFill>
                            <a:schemeClr val="tx1">
                              <a:lumMod val="75000"/>
                              <a:lumOff val="25000"/>
                            </a:schemeClr>
                          </a:solidFill>
                          <a:effectLst/>
                          <a:latin typeface="Yekan Bakh" pitchFamily="2" charset="-78"/>
                          <a:ea typeface="Yekan Bakh" pitchFamily="2" charset="-78"/>
                          <a:cs typeface="Yekan Bakh" pitchFamily="2" charset="-78"/>
                        </a:rPr>
                        <a:t>بالا</a:t>
                      </a:r>
                      <a:endParaRPr lang="en-GB" sz="900" dirty="0">
                        <a:solidFill>
                          <a:schemeClr val="tx1">
                            <a:lumMod val="75000"/>
                            <a:lumOff val="25000"/>
                          </a:schemeClr>
                        </a:solidFill>
                        <a:latin typeface="Yekan Bakh" pitchFamily="2" charset="-78"/>
                        <a:ea typeface="Yekan Bakh" pitchFamily="2" charset="-78"/>
                        <a:cs typeface="Yekan Bakh" pitchFamily="2" charset="-78"/>
                      </a:endParaRPr>
                    </a:p>
                  </a:txBody>
                  <a:tcPr anchor="ctr">
                    <a:solidFill>
                      <a:schemeClr val="bg1">
                        <a:lumMod val="85000"/>
                        <a:alpha val="7000"/>
                      </a:schemeClr>
                    </a:solidFill>
                  </a:tcPr>
                </a:tc>
                <a:tc>
                  <a:txBody>
                    <a:bodyPr/>
                    <a:lstStyle/>
                    <a:p>
                      <a:pPr algn="ctr" rtl="1"/>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اطمینان‌خاطر</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و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کاهش</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ریسک</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مالی</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حقوقی</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شهرتی</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پیش</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از</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ورود</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به</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تعهد</a:t>
                      </a:r>
                      <a:endParaRPr lang="en-GB" sz="900" dirty="0">
                        <a:solidFill>
                          <a:schemeClr val="tx1">
                            <a:lumMod val="75000"/>
                            <a:lumOff val="25000"/>
                          </a:schemeClr>
                        </a:solidFill>
                        <a:latin typeface="Yekan Bakh" pitchFamily="2" charset="-78"/>
                        <a:ea typeface="Yekan Bakh" pitchFamily="2" charset="-78"/>
                        <a:cs typeface="Yekan Bakh" pitchFamily="2" charset="-78"/>
                      </a:endParaRPr>
                    </a:p>
                  </a:txBody>
                  <a:tcPr anchor="ctr">
                    <a:solidFill>
                      <a:schemeClr val="bg1">
                        <a:lumMod val="85000"/>
                        <a:alpha val="7000"/>
                      </a:schemeClr>
                    </a:solidFill>
                  </a:tcPr>
                </a:tc>
                <a:tc>
                  <a:txBody>
                    <a:bodyPr/>
                    <a:lstStyle/>
                    <a:p>
                      <a:pPr algn="ctr" rtl="1"/>
                      <a:r>
                        <a:rPr lang="fa-IR" sz="900" dirty="0">
                          <a:solidFill>
                            <a:schemeClr val="tx1">
                              <a:lumMod val="75000"/>
                              <a:lumOff val="25000"/>
                            </a:schemeClr>
                          </a:solidFill>
                          <a:latin typeface="Yekan Bakh" pitchFamily="2" charset="-78"/>
                          <a:ea typeface="Yekan Bakh" pitchFamily="2" charset="-78"/>
                          <a:cs typeface="Yekan Bakh" pitchFamily="2" charset="-78"/>
                        </a:rPr>
                        <a:t>نبود مرجع مستقل و قابل‌اعتماد برای تأیید هویت، صلاحیت یا مشروعیت طرف مقابل</a:t>
                      </a:r>
                      <a:endParaRPr lang="en-GB" sz="900" dirty="0">
                        <a:solidFill>
                          <a:schemeClr val="tx1">
                            <a:lumMod val="75000"/>
                            <a:lumOff val="25000"/>
                          </a:schemeClr>
                        </a:solidFill>
                        <a:latin typeface="Yekan Bakh" pitchFamily="2" charset="-78"/>
                        <a:ea typeface="Yekan Bakh" pitchFamily="2" charset="-78"/>
                        <a:cs typeface="Yekan Bakh" pitchFamily="2" charset="-78"/>
                      </a:endParaRPr>
                    </a:p>
                  </a:txBody>
                  <a:tcPr anchor="ctr">
                    <a:solidFill>
                      <a:schemeClr val="bg1">
                        <a:lumMod val="85000"/>
                        <a:alpha val="7000"/>
                      </a:schemeClr>
                    </a:solidFill>
                  </a:tcPr>
                </a:tc>
                <a:tc>
                  <a:txBody>
                    <a:bodyPr/>
                    <a:lstStyle/>
                    <a:p>
                      <a:pPr algn="ctr" rtl="1"/>
                      <a:endParaRPr lang="en-GB" sz="900" dirty="0">
                        <a:solidFill>
                          <a:schemeClr val="tx1">
                            <a:lumMod val="75000"/>
                            <a:lumOff val="25000"/>
                          </a:schemeClr>
                        </a:solidFill>
                        <a:latin typeface="Yekan Bakh" pitchFamily="2" charset="-78"/>
                        <a:ea typeface="Yekan Bakh" pitchFamily="2" charset="-78"/>
                        <a:cs typeface="Yekan Bakh" pitchFamily="2" charset="-78"/>
                      </a:endParaRPr>
                    </a:p>
                  </a:txBody>
                  <a:tcPr anchor="ctr">
                    <a:solidFill>
                      <a:schemeClr val="bg1">
                        <a:lumMod val="85000"/>
                        <a:alpha val="7000"/>
                      </a:schemeClr>
                    </a:solidFill>
                  </a:tcPr>
                </a:tc>
                <a:tc>
                  <a:txBody>
                    <a:bodyPr/>
                    <a:lstStyle/>
                    <a:p>
                      <a:pPr algn="ctr" rtl="1"/>
                      <a:r>
                        <a:rPr lang="fa-IR" sz="900" b="1" dirty="0">
                          <a:solidFill>
                            <a:schemeClr val="tx1">
                              <a:lumMod val="75000"/>
                              <a:lumOff val="25000"/>
                            </a:schemeClr>
                          </a:solidFill>
                          <a:latin typeface="Yekan Bakh" pitchFamily="2" charset="-78"/>
                          <a:ea typeface="Yekan Bakh" pitchFamily="2" charset="-78"/>
                          <a:cs typeface="Yekan Bakh" pitchFamily="2" charset="-78"/>
                        </a:rPr>
                        <a:t>راستی‌آزمایی هویت، توان و نیت طرف مقابل پیش از تعهد</a:t>
                      </a:r>
                      <a:endParaRPr lang="en-GB" sz="900" b="1" dirty="0">
                        <a:solidFill>
                          <a:schemeClr val="tx1">
                            <a:lumMod val="75000"/>
                            <a:lumOff val="25000"/>
                          </a:schemeClr>
                        </a:solidFill>
                        <a:latin typeface="Yekan Bakh" pitchFamily="2" charset="-78"/>
                        <a:ea typeface="Yekan Bakh" pitchFamily="2" charset="-78"/>
                        <a:cs typeface="Yekan Bakh" pitchFamily="2" charset="-78"/>
                      </a:endParaRPr>
                    </a:p>
                  </a:txBody>
                  <a:tcPr anchor="ctr">
                    <a:solidFill>
                      <a:schemeClr val="bg1">
                        <a:lumMod val="85000"/>
                        <a:alpha val="7000"/>
                      </a:schemeClr>
                    </a:solidFill>
                  </a:tcPr>
                </a:tc>
                <a:extLst>
                  <a:ext uri="{0D108BD9-81ED-4DB2-BD59-A6C34878D82A}">
                    <a16:rowId xmlns:a16="http://schemas.microsoft.com/office/drawing/2014/main" val="2330207915"/>
                  </a:ext>
                </a:extLst>
              </a:tr>
              <a:tr h="699326">
                <a:tc>
                  <a:txBody>
                    <a:bodyPr/>
                    <a:lstStyle/>
                    <a:p>
                      <a:pPr algn="ctr" rtl="1"/>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بالا</a:t>
                      </a:r>
                      <a:endParaRPr lang="en-GB" sz="900" dirty="0">
                        <a:solidFill>
                          <a:schemeClr val="tx1">
                            <a:lumMod val="75000"/>
                            <a:lumOff val="25000"/>
                          </a:schemeClr>
                        </a:solidFill>
                        <a:latin typeface="Yekan Bakh" pitchFamily="2" charset="-78"/>
                        <a:ea typeface="Yekan Bakh" pitchFamily="2" charset="-78"/>
                        <a:cs typeface="Yekan Bakh" pitchFamily="2" charset="-78"/>
                      </a:endParaRPr>
                    </a:p>
                  </a:txBody>
                  <a:tcPr anchor="ctr">
                    <a:solidFill>
                      <a:srgbClr val="1E2761">
                        <a:alpha val="7000"/>
                      </a:srgbClr>
                    </a:solidFill>
                  </a:tcPr>
                </a:tc>
                <a:tc>
                  <a:txBody>
                    <a:bodyPr/>
                    <a:lstStyle/>
                    <a:p>
                      <a:pPr algn="ctr" rtl="1"/>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امنیت</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و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اطمینان</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برای</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ورود</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به</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تعهد</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بلندمدت</a:t>
                      </a:r>
                      <a:endParaRPr lang="en-GB" sz="900" dirty="0">
                        <a:solidFill>
                          <a:schemeClr val="tx1">
                            <a:lumMod val="75000"/>
                            <a:lumOff val="25000"/>
                          </a:schemeClr>
                        </a:solidFill>
                        <a:latin typeface="Yekan Bakh" pitchFamily="2" charset="-78"/>
                        <a:ea typeface="Yekan Bakh" pitchFamily="2" charset="-78"/>
                        <a:cs typeface="Yekan Bakh" pitchFamily="2" charset="-78"/>
                      </a:endParaRPr>
                    </a:p>
                  </a:txBody>
                  <a:tcPr anchor="ctr">
                    <a:solidFill>
                      <a:srgbClr val="1E2761">
                        <a:alpha val="7000"/>
                      </a:srgbClr>
                    </a:solidFill>
                  </a:tcPr>
                </a:tc>
                <a:tc>
                  <a:txBody>
                    <a:bodyPr/>
                    <a:lstStyle/>
                    <a:p>
                      <a:pPr algn="ctr" rtl="1"/>
                      <a:r>
                        <a:rPr lang="fa-IR" sz="900" dirty="0">
                          <a:solidFill>
                            <a:schemeClr val="tx1">
                              <a:lumMod val="75000"/>
                              <a:lumOff val="25000"/>
                            </a:schemeClr>
                          </a:solidFill>
                          <a:latin typeface="Yekan Bakh" pitchFamily="2" charset="-78"/>
                          <a:ea typeface="Yekan Bakh" pitchFamily="2" charset="-78"/>
                          <a:cs typeface="Yekan Bakh" pitchFamily="2" charset="-78"/>
                        </a:rPr>
                        <a:t>ابهام حقوقی درباره امکان واقعی جبران خسارت یا خروج کنترل‌شده</a:t>
                      </a:r>
                      <a:endParaRPr lang="en-GB" sz="900" dirty="0">
                        <a:solidFill>
                          <a:schemeClr val="tx1">
                            <a:lumMod val="75000"/>
                            <a:lumOff val="25000"/>
                          </a:schemeClr>
                        </a:solidFill>
                        <a:latin typeface="Yekan Bakh" pitchFamily="2" charset="-78"/>
                        <a:ea typeface="Yekan Bakh" pitchFamily="2" charset="-78"/>
                        <a:cs typeface="Yekan Bakh" pitchFamily="2" charset="-78"/>
                      </a:endParaRPr>
                    </a:p>
                  </a:txBody>
                  <a:tcPr anchor="ctr">
                    <a:solidFill>
                      <a:srgbClr val="1E2761">
                        <a:alpha val="7000"/>
                      </a:srgbClr>
                    </a:solidFill>
                  </a:tcPr>
                </a:tc>
                <a:tc>
                  <a:txBody>
                    <a:bodyPr/>
                    <a:lstStyle/>
                    <a:p>
                      <a:pPr algn="ctr" rtl="1"/>
                      <a:endParaRPr lang="en-GB" sz="900" dirty="0">
                        <a:solidFill>
                          <a:schemeClr val="tx1">
                            <a:lumMod val="75000"/>
                            <a:lumOff val="25000"/>
                          </a:schemeClr>
                        </a:solidFill>
                        <a:latin typeface="Yekan Bakh" pitchFamily="2" charset="-78"/>
                        <a:ea typeface="Yekan Bakh" pitchFamily="2" charset="-78"/>
                        <a:cs typeface="Yekan Bakh" pitchFamily="2" charset="-78"/>
                      </a:endParaRPr>
                    </a:p>
                  </a:txBody>
                  <a:tcPr anchor="ctr">
                    <a:solidFill>
                      <a:srgbClr val="1E2761">
                        <a:alpha val="7000"/>
                      </a:srgbClr>
                    </a:solidFill>
                  </a:tcPr>
                </a:tc>
                <a:tc>
                  <a:txBody>
                    <a:bodyPr/>
                    <a:lstStyle/>
                    <a:p>
                      <a:pPr algn="ctr" rtl="1"/>
                      <a:r>
                        <a:rPr lang="fa-IR" sz="900" b="1" dirty="0">
                          <a:solidFill>
                            <a:schemeClr val="tx1">
                              <a:lumMod val="75000"/>
                              <a:lumOff val="25000"/>
                            </a:schemeClr>
                          </a:solidFill>
                          <a:latin typeface="Yekan Bakh" pitchFamily="2" charset="-78"/>
                          <a:ea typeface="Yekan Bakh" pitchFamily="2" charset="-78"/>
                          <a:cs typeface="Yekan Bakh" pitchFamily="2" charset="-78"/>
                        </a:rPr>
                        <a:t>داشتن مسیر روشن جبران خسارت یا خروج در صورت بروز مشکل</a:t>
                      </a:r>
                      <a:endParaRPr lang="en-GB" sz="900" b="1" dirty="0">
                        <a:solidFill>
                          <a:schemeClr val="tx1">
                            <a:lumMod val="75000"/>
                            <a:lumOff val="25000"/>
                          </a:schemeClr>
                        </a:solidFill>
                        <a:latin typeface="Yekan Bakh" pitchFamily="2" charset="-78"/>
                        <a:ea typeface="Yekan Bakh" pitchFamily="2" charset="-78"/>
                        <a:cs typeface="Yekan Bakh" pitchFamily="2" charset="-78"/>
                      </a:endParaRPr>
                    </a:p>
                  </a:txBody>
                  <a:tcPr anchor="ctr">
                    <a:solidFill>
                      <a:srgbClr val="1E2761">
                        <a:alpha val="7000"/>
                      </a:srgbClr>
                    </a:solidFill>
                  </a:tcPr>
                </a:tc>
                <a:extLst>
                  <a:ext uri="{0D108BD9-81ED-4DB2-BD59-A6C34878D82A}">
                    <a16:rowId xmlns:a16="http://schemas.microsoft.com/office/drawing/2014/main" val="2856383114"/>
                  </a:ext>
                </a:extLst>
              </a:tr>
              <a:tr h="699326">
                <a:tc>
                  <a:txBody>
                    <a:bodyPr/>
                    <a:lstStyle/>
                    <a:p>
                      <a:pPr algn="ctr" rtl="1"/>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بالا</a:t>
                      </a:r>
                      <a:endParaRPr lang="en-GB" sz="900" dirty="0">
                        <a:solidFill>
                          <a:schemeClr val="tx1">
                            <a:lumMod val="75000"/>
                            <a:lumOff val="25000"/>
                          </a:schemeClr>
                        </a:solidFill>
                        <a:latin typeface="Yekan Bakh" pitchFamily="2" charset="-78"/>
                        <a:ea typeface="Yekan Bakh" pitchFamily="2" charset="-78"/>
                        <a:cs typeface="Yekan Bakh" pitchFamily="2" charset="-78"/>
                      </a:endParaRPr>
                    </a:p>
                  </a:txBody>
                  <a:tcPr anchor="ctr">
                    <a:solidFill>
                      <a:schemeClr val="bg1">
                        <a:lumMod val="95000"/>
                        <a:alpha val="7000"/>
                      </a:schemeClr>
                    </a:solidFill>
                  </a:tcPr>
                </a:tc>
                <a:tc>
                  <a:txBody>
                    <a:bodyPr/>
                    <a:lstStyle/>
                    <a:p>
                      <a:pPr algn="ctr" rtl="1"/>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تصمیم</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آگاهانه</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و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زمان‌بندی‌شده</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به‌جای</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حدس</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یا</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تعلیق</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نامحدود</a:t>
                      </a:r>
                      <a:endParaRPr lang="en-GB" sz="900" dirty="0">
                        <a:solidFill>
                          <a:schemeClr val="tx1">
                            <a:lumMod val="75000"/>
                            <a:lumOff val="25000"/>
                          </a:schemeClr>
                        </a:solidFill>
                        <a:latin typeface="Yekan Bakh" pitchFamily="2" charset="-78"/>
                        <a:ea typeface="Yekan Bakh" pitchFamily="2" charset="-78"/>
                        <a:cs typeface="Yekan Bakh" pitchFamily="2" charset="-78"/>
                      </a:endParaRPr>
                    </a:p>
                  </a:txBody>
                  <a:tcPr anchor="ctr">
                    <a:solidFill>
                      <a:schemeClr val="bg1">
                        <a:lumMod val="95000"/>
                        <a:alpha val="7000"/>
                      </a:schemeClr>
                    </a:solidFill>
                  </a:tcPr>
                </a:tc>
                <a:tc>
                  <a:txBody>
                    <a:bodyPr/>
                    <a:lstStyle/>
                    <a:p>
                      <a:pPr algn="ctr" rtl="1"/>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داده</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محدود</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غیرشفاف</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یا</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ناپایدار</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درباره</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وضعیت</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کلان</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و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ریسک</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محیط</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مقصد</a:t>
                      </a:r>
                      <a:endParaRPr lang="en-GB" sz="900" dirty="0">
                        <a:solidFill>
                          <a:schemeClr val="tx1">
                            <a:lumMod val="75000"/>
                            <a:lumOff val="25000"/>
                          </a:schemeClr>
                        </a:solidFill>
                        <a:latin typeface="Yekan Bakh" pitchFamily="2" charset="-78"/>
                        <a:ea typeface="Yekan Bakh" pitchFamily="2" charset="-78"/>
                        <a:cs typeface="Yekan Bakh" pitchFamily="2" charset="-78"/>
                      </a:endParaRPr>
                    </a:p>
                  </a:txBody>
                  <a:tcPr anchor="ctr">
                    <a:solidFill>
                      <a:schemeClr val="bg1">
                        <a:lumMod val="95000"/>
                        <a:alpha val="7000"/>
                      </a:schemeClr>
                    </a:solidFill>
                  </a:tcPr>
                </a:tc>
                <a:tc>
                  <a:txBody>
                    <a:bodyPr/>
                    <a:lstStyle/>
                    <a:p>
                      <a:pPr algn="ctr" rtl="1"/>
                      <a:endParaRPr lang="en-GB" sz="900" dirty="0">
                        <a:solidFill>
                          <a:schemeClr val="tx1">
                            <a:lumMod val="75000"/>
                            <a:lumOff val="25000"/>
                          </a:schemeClr>
                        </a:solidFill>
                        <a:latin typeface="Yekan Bakh" pitchFamily="2" charset="-78"/>
                        <a:ea typeface="Yekan Bakh" pitchFamily="2" charset="-78"/>
                        <a:cs typeface="Yekan Bakh" pitchFamily="2" charset="-78"/>
                      </a:endParaRPr>
                    </a:p>
                  </a:txBody>
                  <a:tcPr anchor="ctr">
                    <a:solidFill>
                      <a:schemeClr val="bg1">
                        <a:lumMod val="95000"/>
                        <a:alpha val="7000"/>
                      </a:schemeClr>
                    </a:solidFill>
                  </a:tcPr>
                </a:tc>
                <a:tc>
                  <a:txBody>
                    <a:bodyPr/>
                    <a:lstStyle/>
                    <a:p>
                      <a:pPr algn="ctr" rtl="1"/>
                      <a:r>
                        <a:rPr lang="fa-IR" sz="900" b="1" dirty="0">
                          <a:solidFill>
                            <a:schemeClr val="tx1">
                              <a:lumMod val="75000"/>
                              <a:lumOff val="25000"/>
                            </a:schemeClr>
                          </a:solidFill>
                          <a:latin typeface="Yekan Bakh" pitchFamily="2" charset="-78"/>
                          <a:ea typeface="Yekan Bakh" pitchFamily="2" charset="-78"/>
                          <a:cs typeface="Yekan Bakh" pitchFamily="2" charset="-78"/>
                        </a:rPr>
                        <a:t>کاهش عدم‌قطعیت پیش از تعهد بزرگ</a:t>
                      </a:r>
                      <a:endParaRPr lang="en-GB" sz="900" b="1" dirty="0">
                        <a:solidFill>
                          <a:schemeClr val="tx1">
                            <a:lumMod val="75000"/>
                            <a:lumOff val="25000"/>
                          </a:schemeClr>
                        </a:solidFill>
                        <a:latin typeface="Yekan Bakh" pitchFamily="2" charset="-78"/>
                        <a:ea typeface="Yekan Bakh" pitchFamily="2" charset="-78"/>
                        <a:cs typeface="Yekan Bakh" pitchFamily="2" charset="-78"/>
                      </a:endParaRPr>
                    </a:p>
                  </a:txBody>
                  <a:tcPr anchor="ctr">
                    <a:solidFill>
                      <a:schemeClr val="bg1">
                        <a:lumMod val="95000"/>
                        <a:alpha val="7000"/>
                      </a:schemeClr>
                    </a:solidFill>
                  </a:tcPr>
                </a:tc>
                <a:extLst>
                  <a:ext uri="{0D108BD9-81ED-4DB2-BD59-A6C34878D82A}">
                    <a16:rowId xmlns:a16="http://schemas.microsoft.com/office/drawing/2014/main" val="1752146041"/>
                  </a:ext>
                </a:extLst>
              </a:tr>
              <a:tr h="699326">
                <a:tc>
                  <a:txBody>
                    <a:bodyPr/>
                    <a:lstStyle/>
                    <a:p>
                      <a:pPr algn="ctr" rtl="1"/>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متوسط</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تا</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بالا</a:t>
                      </a:r>
                      <a:endParaRPr lang="en-GB" sz="900" dirty="0">
                        <a:solidFill>
                          <a:schemeClr val="tx1">
                            <a:lumMod val="75000"/>
                            <a:lumOff val="25000"/>
                          </a:schemeClr>
                        </a:solidFill>
                        <a:latin typeface="Yekan Bakh" pitchFamily="2" charset="-78"/>
                        <a:ea typeface="Yekan Bakh" pitchFamily="2" charset="-78"/>
                        <a:cs typeface="Yekan Bakh" pitchFamily="2" charset="-78"/>
                      </a:endParaRPr>
                    </a:p>
                  </a:txBody>
                  <a:tcPr anchor="ctr">
                    <a:solidFill>
                      <a:srgbClr val="1E2761">
                        <a:alpha val="7000"/>
                      </a:srgbClr>
                    </a:solidFill>
                  </a:tcPr>
                </a:tc>
                <a:tc>
                  <a:txBody>
                    <a:bodyPr/>
                    <a:lstStyle/>
                    <a:p>
                      <a:pPr algn="ctr" rtl="1"/>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افزایش</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احتمال</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پذیرش</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و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شروع</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تعامل</a:t>
                      </a:r>
                      <a:endParaRPr lang="en-GB" sz="900" dirty="0">
                        <a:solidFill>
                          <a:schemeClr val="tx1">
                            <a:lumMod val="75000"/>
                            <a:lumOff val="25000"/>
                          </a:schemeClr>
                        </a:solidFill>
                        <a:latin typeface="Yekan Bakh" pitchFamily="2" charset="-78"/>
                        <a:ea typeface="Yekan Bakh" pitchFamily="2" charset="-78"/>
                        <a:cs typeface="Yekan Bakh" pitchFamily="2" charset="-78"/>
                      </a:endParaRPr>
                    </a:p>
                  </a:txBody>
                  <a:tcPr anchor="ctr">
                    <a:solidFill>
                      <a:srgbClr val="1E2761">
                        <a:alpha val="7000"/>
                      </a:srgbClr>
                    </a:solidFill>
                  </a:tcPr>
                </a:tc>
                <a:tc>
                  <a:txBody>
                    <a:bodyPr/>
                    <a:lstStyle/>
                    <a:p>
                      <a:pPr algn="ctr" rtl="1"/>
                      <a:r>
                        <a:rPr lang="fa-IR" sz="900" dirty="0">
                          <a:solidFill>
                            <a:schemeClr val="tx1">
                              <a:lumMod val="75000"/>
                              <a:lumOff val="25000"/>
                            </a:schemeClr>
                          </a:solidFill>
                          <a:latin typeface="Yekan Bakh" pitchFamily="2" charset="-78"/>
                          <a:ea typeface="Yekan Bakh" pitchFamily="2" charset="-78"/>
                          <a:cs typeface="Yekan Bakh" pitchFamily="2" charset="-78"/>
                        </a:rPr>
                        <a:t>نبود گواهی یا سابقه شناخته‌شده که باعث بی‌اعتمادی اولیه می‌شود</a:t>
                      </a:r>
                      <a:endParaRPr lang="en-GB" sz="900" dirty="0">
                        <a:solidFill>
                          <a:schemeClr val="tx1">
                            <a:lumMod val="75000"/>
                            <a:lumOff val="25000"/>
                          </a:schemeClr>
                        </a:solidFill>
                        <a:latin typeface="Yekan Bakh" pitchFamily="2" charset="-78"/>
                        <a:ea typeface="Yekan Bakh" pitchFamily="2" charset="-78"/>
                        <a:cs typeface="Yekan Bakh" pitchFamily="2" charset="-78"/>
                      </a:endParaRPr>
                    </a:p>
                  </a:txBody>
                  <a:tcPr anchor="ctr">
                    <a:solidFill>
                      <a:srgbClr val="1E2761">
                        <a:alpha val="7000"/>
                      </a:srgbClr>
                    </a:solidFill>
                  </a:tcPr>
                </a:tc>
                <a:tc>
                  <a:txBody>
                    <a:bodyPr/>
                    <a:lstStyle/>
                    <a:p>
                      <a:pPr algn="ctr" rtl="1"/>
                      <a:endParaRPr lang="en-GB" sz="900" dirty="0">
                        <a:solidFill>
                          <a:schemeClr val="tx1">
                            <a:lumMod val="75000"/>
                            <a:lumOff val="25000"/>
                          </a:schemeClr>
                        </a:solidFill>
                        <a:latin typeface="Yekan Bakh" pitchFamily="2" charset="-78"/>
                        <a:ea typeface="Yekan Bakh" pitchFamily="2" charset="-78"/>
                        <a:cs typeface="Yekan Bakh" pitchFamily="2" charset="-78"/>
                      </a:endParaRPr>
                    </a:p>
                  </a:txBody>
                  <a:tcPr anchor="ctr">
                    <a:solidFill>
                      <a:srgbClr val="1E2761">
                        <a:alpha val="7000"/>
                      </a:srgbClr>
                    </a:solidFill>
                  </a:tcPr>
                </a:tc>
                <a:tc>
                  <a:txBody>
                    <a:bodyPr/>
                    <a:lstStyle/>
                    <a:p>
                      <a:pPr algn="ctr" rtl="1"/>
                      <a:r>
                        <a:rPr lang="fa-IR" sz="900" b="1" dirty="0">
                          <a:solidFill>
                            <a:schemeClr val="tx1">
                              <a:lumMod val="75000"/>
                              <a:lumOff val="25000"/>
                            </a:schemeClr>
                          </a:solidFill>
                          <a:latin typeface="Yekan Bakh" pitchFamily="2" charset="-78"/>
                          <a:ea typeface="Yekan Bakh" pitchFamily="2" charset="-78"/>
                          <a:cs typeface="Yekan Bakh" pitchFamily="2" charset="-78"/>
                        </a:rPr>
                        <a:t>کسب اعتبار و اعتماد کافی برای پذیرفته‌شدن نزد طرف مقابل</a:t>
                      </a:r>
                      <a:endParaRPr lang="en-GB" sz="900" b="1" dirty="0">
                        <a:solidFill>
                          <a:schemeClr val="tx1">
                            <a:lumMod val="75000"/>
                            <a:lumOff val="25000"/>
                          </a:schemeClr>
                        </a:solidFill>
                        <a:latin typeface="Yekan Bakh" pitchFamily="2" charset="-78"/>
                        <a:ea typeface="Yekan Bakh" pitchFamily="2" charset="-78"/>
                        <a:cs typeface="Yekan Bakh" pitchFamily="2" charset="-78"/>
                      </a:endParaRPr>
                    </a:p>
                  </a:txBody>
                  <a:tcPr anchor="ctr">
                    <a:solidFill>
                      <a:srgbClr val="1E2761">
                        <a:alpha val="7000"/>
                      </a:srgbClr>
                    </a:solidFill>
                  </a:tcPr>
                </a:tc>
                <a:extLst>
                  <a:ext uri="{0D108BD9-81ED-4DB2-BD59-A6C34878D82A}">
                    <a16:rowId xmlns:a16="http://schemas.microsoft.com/office/drawing/2014/main" val="1173560811"/>
                  </a:ext>
                </a:extLst>
              </a:tr>
            </a:tbl>
          </a:graphicData>
        </a:graphic>
      </p:graphicFrame>
      <p:grpSp>
        <p:nvGrpSpPr>
          <p:cNvPr id="26" name="Group 25">
            <a:extLst>
              <a:ext uri="{FF2B5EF4-FFF2-40B4-BE49-F238E27FC236}">
                <a16:creationId xmlns:a16="http://schemas.microsoft.com/office/drawing/2014/main" id="{E558B6C2-DDFF-D0F0-DD3D-B0AABC68120A}"/>
              </a:ext>
            </a:extLst>
          </p:cNvPr>
          <p:cNvGrpSpPr/>
          <p:nvPr/>
        </p:nvGrpSpPr>
        <p:grpSpPr>
          <a:xfrm>
            <a:off x="6946170" y="2158116"/>
            <a:ext cx="1937469" cy="3196052"/>
            <a:chOff x="6946170" y="2112396"/>
            <a:chExt cx="1937469" cy="3196052"/>
          </a:xfrm>
        </p:grpSpPr>
        <p:sp>
          <p:nvSpPr>
            <p:cNvPr id="5" name="Rectangle: Rounded Corners 4">
              <a:extLst>
                <a:ext uri="{FF2B5EF4-FFF2-40B4-BE49-F238E27FC236}">
                  <a16:creationId xmlns:a16="http://schemas.microsoft.com/office/drawing/2014/main" id="{9F98D71C-FE81-2078-80E2-3B55FA542B73}"/>
                </a:ext>
              </a:extLst>
            </p:cNvPr>
            <p:cNvSpPr/>
            <p:nvPr/>
          </p:nvSpPr>
          <p:spPr>
            <a:xfrm>
              <a:off x="7953778" y="2112396"/>
              <a:ext cx="672327" cy="234122"/>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7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۱ تراز ایرانی</a:t>
              </a:r>
              <a:endParaRPr kumimoji="0" lang="en-GB" sz="700" b="0"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sp>
          <p:nvSpPr>
            <p:cNvPr id="6" name="Rectangle: Rounded Corners 5">
              <a:extLst>
                <a:ext uri="{FF2B5EF4-FFF2-40B4-BE49-F238E27FC236}">
                  <a16:creationId xmlns:a16="http://schemas.microsoft.com/office/drawing/2014/main" id="{8757A727-E0AB-8387-D5D4-0EE7E6E1DD3D}"/>
                </a:ext>
              </a:extLst>
            </p:cNvPr>
            <p:cNvSpPr/>
            <p:nvPr/>
          </p:nvSpPr>
          <p:spPr>
            <a:xfrm>
              <a:off x="7203703" y="2112396"/>
              <a:ext cx="725336" cy="234122"/>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 ۲ </a:t>
              </a:r>
              <a:r>
                <a:rPr kumimoji="0" lang="en-US" sz="700" b="1" i="0" u="none" strike="noStrike" kern="1200" cap="none" spc="0" normalizeH="0" baseline="0" noProof="0" dirty="0" err="1">
                  <a:ln>
                    <a:noFill/>
                  </a:ln>
                  <a:solidFill>
                    <a:prstClr val="white"/>
                  </a:solidFill>
                  <a:effectLst/>
                  <a:uLnTx/>
                  <a:uFillTx/>
                  <a:latin typeface="Yekan Bakh" pitchFamily="2" charset="-78"/>
                  <a:ea typeface="Yekan Bakh" pitchFamily="2" charset="-78"/>
                  <a:cs typeface="Yekan Bakh" pitchFamily="2" charset="-78"/>
                </a:rPr>
                <a:t>تراز</a:t>
              </a:r>
              <a:r>
                <a:rPr kumimoji="0" lang="en-US" sz="7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 </a:t>
              </a:r>
              <a:r>
                <a:rPr kumimoji="0" lang="en-US" sz="700" b="1" i="0" u="none" strike="noStrike" kern="1200" cap="none" spc="0" normalizeH="0" baseline="0" noProof="0" dirty="0" err="1">
                  <a:ln>
                    <a:noFill/>
                  </a:ln>
                  <a:solidFill>
                    <a:prstClr val="white"/>
                  </a:solidFill>
                  <a:effectLst/>
                  <a:uLnTx/>
                  <a:uFillTx/>
                  <a:latin typeface="Yekan Bakh" pitchFamily="2" charset="-78"/>
                  <a:ea typeface="Yekan Bakh" pitchFamily="2" charset="-78"/>
                  <a:cs typeface="Yekan Bakh" pitchFamily="2" charset="-78"/>
                </a:rPr>
                <a:t>خارجی</a:t>
              </a:r>
              <a:endParaRPr kumimoji="0" lang="en-GB" sz="700" b="0"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sp>
          <p:nvSpPr>
            <p:cNvPr id="7" name="Rectangle: Rounded Corners 6">
              <a:extLst>
                <a:ext uri="{FF2B5EF4-FFF2-40B4-BE49-F238E27FC236}">
                  <a16:creationId xmlns:a16="http://schemas.microsoft.com/office/drawing/2014/main" id="{5EAD1CB3-079A-C3B5-41DB-8E1ECA0B514D}"/>
                </a:ext>
              </a:extLst>
            </p:cNvPr>
            <p:cNvSpPr/>
            <p:nvPr/>
          </p:nvSpPr>
          <p:spPr>
            <a:xfrm>
              <a:off x="8280223" y="2388041"/>
              <a:ext cx="603416" cy="234122"/>
            </a:xfrm>
            <a:prstGeom prst="roundRect">
              <a:avLst>
                <a:gd name="adj" fmla="val 50000"/>
              </a:avLst>
            </a:prstGeom>
            <a:solidFill>
              <a:schemeClr val="bg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7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۳ مشتاق</a:t>
              </a:r>
              <a:endParaRPr kumimoji="0" lang="en-GB" sz="700" b="0"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sp>
          <p:nvSpPr>
            <p:cNvPr id="8" name="Rectangle: Rounded Corners 7">
              <a:extLst>
                <a:ext uri="{FF2B5EF4-FFF2-40B4-BE49-F238E27FC236}">
                  <a16:creationId xmlns:a16="http://schemas.microsoft.com/office/drawing/2014/main" id="{D6C8BC6E-6C67-3DAC-DB28-4E2AEB69348B}"/>
                </a:ext>
              </a:extLst>
            </p:cNvPr>
            <p:cNvSpPr/>
            <p:nvPr/>
          </p:nvSpPr>
          <p:spPr>
            <a:xfrm>
              <a:off x="6946170" y="2388041"/>
              <a:ext cx="768627" cy="234122"/>
            </a:xfrm>
            <a:prstGeom prst="roundRect">
              <a:avLst>
                <a:gd name="adj" fmla="val 50000"/>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7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۶ سرمایه‌گذار</a:t>
              </a:r>
              <a:endParaRPr kumimoji="0" lang="en-GB" sz="700" b="0"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sp>
          <p:nvSpPr>
            <p:cNvPr id="9" name="Rectangle: Rounded Corners 8">
              <a:extLst>
                <a:ext uri="{FF2B5EF4-FFF2-40B4-BE49-F238E27FC236}">
                  <a16:creationId xmlns:a16="http://schemas.microsoft.com/office/drawing/2014/main" id="{5C626978-25E0-2622-A4D9-F7E05A6C660E}"/>
                </a:ext>
              </a:extLst>
            </p:cNvPr>
            <p:cNvSpPr/>
            <p:nvPr/>
          </p:nvSpPr>
          <p:spPr>
            <a:xfrm>
              <a:off x="7736884" y="2388041"/>
              <a:ext cx="521252" cy="234122"/>
            </a:xfrm>
            <a:prstGeom prst="roundRect">
              <a:avLst>
                <a:gd name="adj" fmla="val 5000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7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۵ خالق</a:t>
              </a:r>
              <a:endParaRPr kumimoji="0" lang="en-GB" sz="700" b="0"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grpSp>
          <p:nvGrpSpPr>
            <p:cNvPr id="15" name="Group 14">
              <a:extLst>
                <a:ext uri="{FF2B5EF4-FFF2-40B4-BE49-F238E27FC236}">
                  <a16:creationId xmlns:a16="http://schemas.microsoft.com/office/drawing/2014/main" id="{5008527E-CE64-D157-908C-CE319342F8C3}"/>
                </a:ext>
              </a:extLst>
            </p:cNvPr>
            <p:cNvGrpSpPr/>
            <p:nvPr/>
          </p:nvGrpSpPr>
          <p:grpSpPr>
            <a:xfrm>
              <a:off x="7203703" y="2853318"/>
              <a:ext cx="1422402" cy="234122"/>
              <a:chOff x="7221991" y="2853318"/>
              <a:chExt cx="1422402" cy="234122"/>
            </a:xfrm>
          </p:grpSpPr>
          <p:sp>
            <p:nvSpPr>
              <p:cNvPr id="12" name="Rectangle: Rounded Corners 11">
                <a:extLst>
                  <a:ext uri="{FF2B5EF4-FFF2-40B4-BE49-F238E27FC236}">
                    <a16:creationId xmlns:a16="http://schemas.microsoft.com/office/drawing/2014/main" id="{1B51F3BC-920A-7AE5-9805-05A4795BE012}"/>
                  </a:ext>
                </a:extLst>
              </p:cNvPr>
              <p:cNvSpPr/>
              <p:nvPr/>
            </p:nvSpPr>
            <p:spPr>
              <a:xfrm>
                <a:off x="7972066" y="2853318"/>
                <a:ext cx="672327" cy="234122"/>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7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۱ تراز ایرانی</a:t>
                </a:r>
                <a:endParaRPr kumimoji="0" lang="en-GB" sz="700" b="0"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sp>
            <p:nvSpPr>
              <p:cNvPr id="13" name="Rectangle: Rounded Corners 12">
                <a:extLst>
                  <a:ext uri="{FF2B5EF4-FFF2-40B4-BE49-F238E27FC236}">
                    <a16:creationId xmlns:a16="http://schemas.microsoft.com/office/drawing/2014/main" id="{457D5407-DE67-A34B-024D-9E678ECD842B}"/>
                  </a:ext>
                </a:extLst>
              </p:cNvPr>
              <p:cNvSpPr/>
              <p:nvPr/>
            </p:nvSpPr>
            <p:spPr>
              <a:xfrm>
                <a:off x="7221991" y="2853318"/>
                <a:ext cx="725336" cy="234122"/>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 ۲ </a:t>
                </a:r>
                <a:r>
                  <a:rPr kumimoji="0" lang="en-US" sz="700" b="1" i="0" u="none" strike="noStrike" kern="1200" cap="none" spc="0" normalizeH="0" baseline="0" noProof="0" dirty="0" err="1">
                    <a:ln>
                      <a:noFill/>
                    </a:ln>
                    <a:solidFill>
                      <a:prstClr val="white"/>
                    </a:solidFill>
                    <a:effectLst/>
                    <a:uLnTx/>
                    <a:uFillTx/>
                    <a:latin typeface="Yekan Bakh" pitchFamily="2" charset="-78"/>
                    <a:ea typeface="Yekan Bakh" pitchFamily="2" charset="-78"/>
                    <a:cs typeface="Yekan Bakh" pitchFamily="2" charset="-78"/>
                  </a:rPr>
                  <a:t>تراز</a:t>
                </a:r>
                <a:r>
                  <a:rPr kumimoji="0" lang="en-US" sz="7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 </a:t>
                </a:r>
                <a:r>
                  <a:rPr kumimoji="0" lang="en-US" sz="700" b="1" i="0" u="none" strike="noStrike" kern="1200" cap="none" spc="0" normalizeH="0" baseline="0" noProof="0" dirty="0" err="1">
                    <a:ln>
                      <a:noFill/>
                    </a:ln>
                    <a:solidFill>
                      <a:prstClr val="white"/>
                    </a:solidFill>
                    <a:effectLst/>
                    <a:uLnTx/>
                    <a:uFillTx/>
                    <a:latin typeface="Yekan Bakh" pitchFamily="2" charset="-78"/>
                    <a:ea typeface="Yekan Bakh" pitchFamily="2" charset="-78"/>
                    <a:cs typeface="Yekan Bakh" pitchFamily="2" charset="-78"/>
                  </a:rPr>
                  <a:t>خارجی</a:t>
                </a:r>
                <a:endParaRPr kumimoji="0" lang="en-GB" sz="700" b="0"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grpSp>
        <p:sp>
          <p:nvSpPr>
            <p:cNvPr id="14" name="Rectangle: Rounded Corners 13">
              <a:extLst>
                <a:ext uri="{FF2B5EF4-FFF2-40B4-BE49-F238E27FC236}">
                  <a16:creationId xmlns:a16="http://schemas.microsoft.com/office/drawing/2014/main" id="{429239CD-06F4-EE62-48F3-B1B472268D43}"/>
                </a:ext>
              </a:extLst>
            </p:cNvPr>
            <p:cNvSpPr/>
            <p:nvPr/>
          </p:nvSpPr>
          <p:spPr>
            <a:xfrm>
              <a:off x="7530591" y="3128963"/>
              <a:ext cx="768627" cy="234122"/>
            </a:xfrm>
            <a:prstGeom prst="roundRect">
              <a:avLst>
                <a:gd name="adj" fmla="val 50000"/>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7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۶ سرمایه‌گذار</a:t>
              </a:r>
              <a:endParaRPr kumimoji="0" lang="en-GB" sz="700" b="0"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grpSp>
          <p:nvGrpSpPr>
            <p:cNvPr id="16" name="Group 15">
              <a:extLst>
                <a:ext uri="{FF2B5EF4-FFF2-40B4-BE49-F238E27FC236}">
                  <a16:creationId xmlns:a16="http://schemas.microsoft.com/office/drawing/2014/main" id="{0503A6AA-FFAA-D725-3B45-DDC1627312C2}"/>
                </a:ext>
              </a:extLst>
            </p:cNvPr>
            <p:cNvGrpSpPr/>
            <p:nvPr/>
          </p:nvGrpSpPr>
          <p:grpSpPr>
            <a:xfrm>
              <a:off x="7203703" y="3555028"/>
              <a:ext cx="1422402" cy="234122"/>
              <a:chOff x="7221991" y="2853318"/>
              <a:chExt cx="1422402" cy="234122"/>
            </a:xfrm>
          </p:grpSpPr>
          <p:sp>
            <p:nvSpPr>
              <p:cNvPr id="17" name="Rectangle: Rounded Corners 16">
                <a:extLst>
                  <a:ext uri="{FF2B5EF4-FFF2-40B4-BE49-F238E27FC236}">
                    <a16:creationId xmlns:a16="http://schemas.microsoft.com/office/drawing/2014/main" id="{9635CC1E-DDB4-1ECB-D945-17C33AE60B78}"/>
                  </a:ext>
                </a:extLst>
              </p:cNvPr>
              <p:cNvSpPr/>
              <p:nvPr/>
            </p:nvSpPr>
            <p:spPr>
              <a:xfrm>
                <a:off x="7972066" y="2853318"/>
                <a:ext cx="672327" cy="234122"/>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7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۱ تراز ایرانی</a:t>
                </a:r>
                <a:endParaRPr kumimoji="0" lang="en-GB" sz="700" b="0"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sp>
            <p:nvSpPr>
              <p:cNvPr id="18" name="Rectangle: Rounded Corners 17">
                <a:extLst>
                  <a:ext uri="{FF2B5EF4-FFF2-40B4-BE49-F238E27FC236}">
                    <a16:creationId xmlns:a16="http://schemas.microsoft.com/office/drawing/2014/main" id="{4A9FCD56-88D2-BF32-4880-9AE20B84CE87}"/>
                  </a:ext>
                </a:extLst>
              </p:cNvPr>
              <p:cNvSpPr/>
              <p:nvPr/>
            </p:nvSpPr>
            <p:spPr>
              <a:xfrm>
                <a:off x="7221991" y="2853318"/>
                <a:ext cx="725336" cy="234122"/>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 ۲ </a:t>
                </a:r>
                <a:r>
                  <a:rPr kumimoji="0" lang="en-US" sz="700" b="1" i="0" u="none" strike="noStrike" kern="1200" cap="none" spc="0" normalizeH="0" baseline="0" noProof="0" dirty="0" err="1">
                    <a:ln>
                      <a:noFill/>
                    </a:ln>
                    <a:solidFill>
                      <a:prstClr val="white"/>
                    </a:solidFill>
                    <a:effectLst/>
                    <a:uLnTx/>
                    <a:uFillTx/>
                    <a:latin typeface="Yekan Bakh" pitchFamily="2" charset="-78"/>
                    <a:ea typeface="Yekan Bakh" pitchFamily="2" charset="-78"/>
                    <a:cs typeface="Yekan Bakh" pitchFamily="2" charset="-78"/>
                  </a:rPr>
                  <a:t>تراز</a:t>
                </a:r>
                <a:r>
                  <a:rPr kumimoji="0" lang="en-US" sz="7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 </a:t>
                </a:r>
                <a:r>
                  <a:rPr kumimoji="0" lang="en-US" sz="700" b="1" i="0" u="none" strike="noStrike" kern="1200" cap="none" spc="0" normalizeH="0" baseline="0" noProof="0" dirty="0" err="1">
                    <a:ln>
                      <a:noFill/>
                    </a:ln>
                    <a:solidFill>
                      <a:prstClr val="white"/>
                    </a:solidFill>
                    <a:effectLst/>
                    <a:uLnTx/>
                    <a:uFillTx/>
                    <a:latin typeface="Yekan Bakh" pitchFamily="2" charset="-78"/>
                    <a:ea typeface="Yekan Bakh" pitchFamily="2" charset="-78"/>
                    <a:cs typeface="Yekan Bakh" pitchFamily="2" charset="-78"/>
                  </a:rPr>
                  <a:t>خارجی</a:t>
                </a:r>
                <a:endParaRPr kumimoji="0" lang="en-GB" sz="700" b="0"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grpSp>
        <p:sp>
          <p:nvSpPr>
            <p:cNvPr id="19" name="Rectangle: Rounded Corners 18">
              <a:extLst>
                <a:ext uri="{FF2B5EF4-FFF2-40B4-BE49-F238E27FC236}">
                  <a16:creationId xmlns:a16="http://schemas.microsoft.com/office/drawing/2014/main" id="{1B014AFA-2BDF-A41A-28E6-34E7B0C59566}"/>
                </a:ext>
              </a:extLst>
            </p:cNvPr>
            <p:cNvSpPr/>
            <p:nvPr/>
          </p:nvSpPr>
          <p:spPr>
            <a:xfrm>
              <a:off x="7530591" y="3830673"/>
              <a:ext cx="768627" cy="234122"/>
            </a:xfrm>
            <a:prstGeom prst="roundRect">
              <a:avLst>
                <a:gd name="adj" fmla="val 50000"/>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7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۶ سرمایه‌گذار</a:t>
              </a:r>
              <a:endParaRPr kumimoji="0" lang="en-GB" sz="700" b="0"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grpSp>
          <p:nvGrpSpPr>
            <p:cNvPr id="20" name="Group 19">
              <a:extLst>
                <a:ext uri="{FF2B5EF4-FFF2-40B4-BE49-F238E27FC236}">
                  <a16:creationId xmlns:a16="http://schemas.microsoft.com/office/drawing/2014/main" id="{421F0059-B6EA-554C-6AC8-EBBD34F1660A}"/>
                </a:ext>
              </a:extLst>
            </p:cNvPr>
            <p:cNvGrpSpPr/>
            <p:nvPr/>
          </p:nvGrpSpPr>
          <p:grpSpPr>
            <a:xfrm>
              <a:off x="7318683" y="4251714"/>
              <a:ext cx="1357471" cy="234122"/>
              <a:chOff x="7336971" y="2853318"/>
              <a:chExt cx="1357471" cy="234122"/>
            </a:xfrm>
          </p:grpSpPr>
          <p:sp>
            <p:nvSpPr>
              <p:cNvPr id="21" name="Rectangle: Rounded Corners 20">
                <a:extLst>
                  <a:ext uri="{FF2B5EF4-FFF2-40B4-BE49-F238E27FC236}">
                    <a16:creationId xmlns:a16="http://schemas.microsoft.com/office/drawing/2014/main" id="{E49AA09D-D9DA-71EE-942F-A0EDE97EA23F}"/>
                  </a:ext>
                </a:extLst>
              </p:cNvPr>
              <p:cNvSpPr/>
              <p:nvPr/>
            </p:nvSpPr>
            <p:spPr>
              <a:xfrm>
                <a:off x="7972066" y="2853318"/>
                <a:ext cx="722376" cy="234122"/>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7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 ۲ تراز خارجی</a:t>
                </a:r>
              </a:p>
            </p:txBody>
          </p:sp>
          <p:sp>
            <p:nvSpPr>
              <p:cNvPr id="22" name="Rectangle: Rounded Corners 21">
                <a:extLst>
                  <a:ext uri="{FF2B5EF4-FFF2-40B4-BE49-F238E27FC236}">
                    <a16:creationId xmlns:a16="http://schemas.microsoft.com/office/drawing/2014/main" id="{03FC6B44-7F97-C423-15E3-87A86D64FA10}"/>
                  </a:ext>
                </a:extLst>
              </p:cNvPr>
              <p:cNvSpPr/>
              <p:nvPr/>
            </p:nvSpPr>
            <p:spPr>
              <a:xfrm>
                <a:off x="7336971" y="2853318"/>
                <a:ext cx="610356" cy="234122"/>
              </a:xfrm>
              <a:prstGeom prst="roundRect">
                <a:avLst>
                  <a:gd name="adj" fmla="val 50000"/>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7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۴ کنجکاو</a:t>
                </a:r>
                <a:endParaRPr kumimoji="0" lang="en-GB" sz="700" b="0"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grpSp>
        <p:sp>
          <p:nvSpPr>
            <p:cNvPr id="23" name="Rectangle: Rounded Corners 22">
              <a:extLst>
                <a:ext uri="{FF2B5EF4-FFF2-40B4-BE49-F238E27FC236}">
                  <a16:creationId xmlns:a16="http://schemas.microsoft.com/office/drawing/2014/main" id="{2E911C46-F27C-E555-51EA-EA89FEB16BEA}"/>
                </a:ext>
              </a:extLst>
            </p:cNvPr>
            <p:cNvSpPr/>
            <p:nvPr/>
          </p:nvSpPr>
          <p:spPr>
            <a:xfrm>
              <a:off x="7530591" y="4527359"/>
              <a:ext cx="768627" cy="234122"/>
            </a:xfrm>
            <a:prstGeom prst="roundRect">
              <a:avLst>
                <a:gd name="adj" fmla="val 50000"/>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7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۶ سرمایه‌گذار</a:t>
              </a:r>
              <a:endParaRPr kumimoji="0" lang="en-GB" sz="700" b="0"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sp>
          <p:nvSpPr>
            <p:cNvPr id="24" name="Rectangle: Rounded Corners 23">
              <a:extLst>
                <a:ext uri="{FF2B5EF4-FFF2-40B4-BE49-F238E27FC236}">
                  <a16:creationId xmlns:a16="http://schemas.microsoft.com/office/drawing/2014/main" id="{5595909D-C7B9-DBC2-3FBC-C729591E95D5}"/>
                </a:ext>
              </a:extLst>
            </p:cNvPr>
            <p:cNvSpPr/>
            <p:nvPr/>
          </p:nvSpPr>
          <p:spPr>
            <a:xfrm>
              <a:off x="7240890" y="5074326"/>
              <a:ext cx="672327" cy="234122"/>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7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۱ تراز ایرانی</a:t>
              </a:r>
              <a:endParaRPr kumimoji="0" lang="en-GB" sz="700" b="0"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sp>
          <p:nvSpPr>
            <p:cNvPr id="25" name="Rectangle: Rounded Corners 24">
              <a:extLst>
                <a:ext uri="{FF2B5EF4-FFF2-40B4-BE49-F238E27FC236}">
                  <a16:creationId xmlns:a16="http://schemas.microsoft.com/office/drawing/2014/main" id="{DF19A639-01DD-617F-5B45-093AF071C499}"/>
                </a:ext>
              </a:extLst>
            </p:cNvPr>
            <p:cNvSpPr/>
            <p:nvPr/>
          </p:nvSpPr>
          <p:spPr>
            <a:xfrm>
              <a:off x="7953778" y="5074326"/>
              <a:ext cx="603416" cy="234122"/>
            </a:xfrm>
            <a:prstGeom prst="roundRect">
              <a:avLst>
                <a:gd name="adj" fmla="val 50000"/>
              </a:avLst>
            </a:prstGeom>
            <a:solidFill>
              <a:schemeClr val="bg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7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۳ مشتاق</a:t>
              </a:r>
              <a:endParaRPr kumimoji="0" lang="en-GB" sz="700" b="0"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grpSp>
    </p:spTree>
    <p:extLst>
      <p:ext uri="{BB962C8B-B14F-4D97-AF65-F5344CB8AC3E}">
        <p14:creationId xmlns:p14="http://schemas.microsoft.com/office/powerpoint/2010/main" val="297434951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F4E25FD-BEE1-AA91-928C-82859DC08E02}"/>
              </a:ext>
            </a:extLst>
          </p:cNvPr>
          <p:cNvSpPr>
            <a:spLocks noGrp="1"/>
          </p:cNvSpPr>
          <p:nvPr>
            <p:ph type="body" sz="quarter" idx="10"/>
          </p:nvPr>
        </p:nvSpPr>
        <p:spPr/>
        <p:txBody>
          <a:bodyPr/>
          <a:lstStyle/>
          <a:p>
            <a:r>
              <a:rPr lang="fa-IR" dirty="0"/>
              <a:t>-</a:t>
            </a:r>
          </a:p>
          <a:p>
            <a:endParaRPr lang="en-GB" dirty="0"/>
          </a:p>
        </p:txBody>
      </p:sp>
      <p:sp>
        <p:nvSpPr>
          <p:cNvPr id="3" name="Text Placeholder 2">
            <a:extLst>
              <a:ext uri="{FF2B5EF4-FFF2-40B4-BE49-F238E27FC236}">
                <a16:creationId xmlns:a16="http://schemas.microsoft.com/office/drawing/2014/main" id="{DE234549-209C-0600-03FD-C8D05AC4709F}"/>
              </a:ext>
            </a:extLst>
          </p:cNvPr>
          <p:cNvSpPr>
            <a:spLocks noGrp="1"/>
          </p:cNvSpPr>
          <p:nvPr>
            <p:ph type="body" sz="quarter" idx="12"/>
          </p:nvPr>
        </p:nvSpPr>
        <p:spPr/>
        <p:txBody>
          <a:bodyPr/>
          <a:lstStyle/>
          <a:p>
            <a:r>
              <a:rPr lang="fa-IR" dirty="0"/>
              <a:t>تحلیل دردسرها</a:t>
            </a:r>
          </a:p>
          <a:p>
            <a:r>
              <a:rPr lang="fa-IR" sz="1200" b="0" dirty="0">
                <a:solidFill>
                  <a:schemeClr val="tx1">
                    <a:lumMod val="50000"/>
                    <a:lumOff val="50000"/>
                  </a:schemeClr>
                </a:solidFill>
              </a:rPr>
              <a:t>مهم‌ترین </a:t>
            </a:r>
            <a:r>
              <a:rPr lang="en-US" sz="1200" b="0" dirty="0">
                <a:solidFill>
                  <a:schemeClr val="tx1">
                    <a:lumMod val="50000"/>
                    <a:lumOff val="50000"/>
                  </a:schemeClr>
                </a:solidFill>
              </a:rPr>
              <a:t>Pain Point</a:t>
            </a:r>
            <a:r>
              <a:rPr lang="fa-IR" sz="1200" b="0" dirty="0">
                <a:solidFill>
                  <a:schemeClr val="tx1">
                    <a:lumMod val="50000"/>
                    <a:lumOff val="50000"/>
                  </a:schemeClr>
                </a:solidFill>
              </a:rPr>
              <a:t>ها بر اساس شدت و میزان تکرار در سراسر نقشه کارها</a:t>
            </a:r>
          </a:p>
        </p:txBody>
      </p:sp>
      <p:sp>
        <p:nvSpPr>
          <p:cNvPr id="4" name="Rectangle: Rounded Corners 3">
            <a:extLst>
              <a:ext uri="{FF2B5EF4-FFF2-40B4-BE49-F238E27FC236}">
                <a16:creationId xmlns:a16="http://schemas.microsoft.com/office/drawing/2014/main" id="{BBF58F1A-4FA6-00DE-3987-4C89297D334B}"/>
              </a:ext>
            </a:extLst>
          </p:cNvPr>
          <p:cNvSpPr/>
          <p:nvPr/>
        </p:nvSpPr>
        <p:spPr>
          <a:xfrm>
            <a:off x="1582088" y="1336875"/>
            <a:ext cx="8538874" cy="557784"/>
          </a:xfrm>
          <a:prstGeom prst="roundRect">
            <a:avLst>
              <a:gd name="adj" fmla="val 50000"/>
            </a:avLst>
          </a:prstGeom>
          <a:solidFill>
            <a:schemeClr val="bg1">
              <a:lumMod val="95000"/>
              <a:alpha val="34000"/>
            </a:schemeClr>
          </a:solidFill>
          <a:ln w="3175">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1" name="Flowchart: Connector 10">
            <a:extLst>
              <a:ext uri="{FF2B5EF4-FFF2-40B4-BE49-F238E27FC236}">
                <a16:creationId xmlns:a16="http://schemas.microsoft.com/office/drawing/2014/main" id="{24543BAC-A1A5-515F-F6F3-5707C47F10B5}"/>
              </a:ext>
            </a:extLst>
          </p:cNvPr>
          <p:cNvSpPr/>
          <p:nvPr/>
        </p:nvSpPr>
        <p:spPr>
          <a:xfrm>
            <a:off x="9592838" y="1351705"/>
            <a:ext cx="528124" cy="528124"/>
          </a:xfrm>
          <a:prstGeom prst="flowChartConnector">
            <a:avLst/>
          </a:prstGeom>
          <a:solidFill>
            <a:srgbClr val="1E27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36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sp>
        <p:nvSpPr>
          <p:cNvPr id="12" name="TextBox 11">
            <a:extLst>
              <a:ext uri="{FF2B5EF4-FFF2-40B4-BE49-F238E27FC236}">
                <a16:creationId xmlns:a16="http://schemas.microsoft.com/office/drawing/2014/main" id="{DCFD0BAC-A92A-3BB5-CCDD-0E72197D60F5}"/>
              </a:ext>
            </a:extLst>
          </p:cNvPr>
          <p:cNvSpPr txBox="1"/>
          <p:nvPr/>
        </p:nvSpPr>
        <p:spPr>
          <a:xfrm>
            <a:off x="9630323" y="1431101"/>
            <a:ext cx="453154" cy="369332"/>
          </a:xfrm>
          <a:prstGeom prst="rect">
            <a:avLst/>
          </a:prstGeom>
          <a:noFill/>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8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۱</a:t>
            </a:r>
            <a:endParaRPr kumimoji="0" lang="en-GB" sz="18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sp>
        <p:nvSpPr>
          <p:cNvPr id="14" name="TextBox 13">
            <a:extLst>
              <a:ext uri="{FF2B5EF4-FFF2-40B4-BE49-F238E27FC236}">
                <a16:creationId xmlns:a16="http://schemas.microsoft.com/office/drawing/2014/main" id="{F25CF6BA-12DB-3B8D-D5C3-2C9BB83882F2}"/>
              </a:ext>
            </a:extLst>
          </p:cNvPr>
          <p:cNvSpPr txBox="1"/>
          <p:nvPr/>
        </p:nvSpPr>
        <p:spPr>
          <a:xfrm>
            <a:off x="3642092" y="1431101"/>
            <a:ext cx="5950746" cy="410369"/>
          </a:xfrm>
          <a:prstGeom prst="rect">
            <a:avLst/>
          </a:prstGeom>
          <a:noFill/>
        </p:spPr>
        <p:txBody>
          <a:bodyPr wrap="square">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err="1">
                <a:ln>
                  <a:noFill/>
                </a:ln>
                <a:solidFill>
                  <a:prstClr val="black">
                    <a:lumMod val="75000"/>
                    <a:lumOff val="25000"/>
                  </a:prstClr>
                </a:solidFill>
                <a:effectLst/>
                <a:uLnTx/>
                <a:uFillTx/>
                <a:latin typeface="Yekan Bakh" pitchFamily="2" charset="-78"/>
                <a:ea typeface="Yekan Bakh" pitchFamily="2" charset="-78"/>
                <a:cs typeface="Yekan Bakh" pitchFamily="2" charset="-78"/>
              </a:rPr>
              <a:t>نبود</a:t>
            </a:r>
            <a:r>
              <a:rPr kumimoji="0" lang="en-US" sz="10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 </a:t>
            </a:r>
            <a:r>
              <a:rPr kumimoji="0" lang="en-US" sz="1000" b="0" i="0" u="none" strike="noStrike" kern="1200" cap="none" spc="0" normalizeH="0" baseline="0" noProof="0" dirty="0" err="1">
                <a:ln>
                  <a:noFill/>
                </a:ln>
                <a:solidFill>
                  <a:prstClr val="black">
                    <a:lumMod val="75000"/>
                    <a:lumOff val="25000"/>
                  </a:prstClr>
                </a:solidFill>
                <a:effectLst/>
                <a:uLnTx/>
                <a:uFillTx/>
                <a:latin typeface="Yekan Bakh" pitchFamily="2" charset="-78"/>
                <a:ea typeface="Yekan Bakh" pitchFamily="2" charset="-78"/>
                <a:cs typeface="Yekan Bakh" pitchFamily="2" charset="-78"/>
              </a:rPr>
              <a:t>مرجع</a:t>
            </a:r>
            <a:r>
              <a:rPr kumimoji="0" lang="en-US" sz="10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 </a:t>
            </a:r>
            <a:r>
              <a:rPr kumimoji="0" lang="en-US" sz="1000" b="0" i="0" u="none" strike="noStrike" kern="1200" cap="none" spc="0" normalizeH="0" baseline="0" noProof="0" dirty="0" err="1">
                <a:ln>
                  <a:noFill/>
                </a:ln>
                <a:solidFill>
                  <a:prstClr val="black">
                    <a:lumMod val="75000"/>
                    <a:lumOff val="25000"/>
                  </a:prstClr>
                </a:solidFill>
                <a:effectLst/>
                <a:uLnTx/>
                <a:uFillTx/>
                <a:latin typeface="Yekan Bakh" pitchFamily="2" charset="-78"/>
                <a:ea typeface="Yekan Bakh" pitchFamily="2" charset="-78"/>
                <a:cs typeface="Yekan Bakh" pitchFamily="2" charset="-78"/>
              </a:rPr>
              <a:t>مستقل</a:t>
            </a:r>
            <a:r>
              <a:rPr kumimoji="0" lang="en-US" sz="10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 و </a:t>
            </a:r>
            <a:r>
              <a:rPr kumimoji="0" lang="en-US" sz="1000" b="0" i="0" u="none" strike="noStrike" kern="1200" cap="none" spc="0" normalizeH="0" baseline="0" noProof="0" dirty="0" err="1">
                <a:ln>
                  <a:noFill/>
                </a:ln>
                <a:solidFill>
                  <a:prstClr val="black">
                    <a:lumMod val="75000"/>
                    <a:lumOff val="25000"/>
                  </a:prstClr>
                </a:solidFill>
                <a:effectLst/>
                <a:uLnTx/>
                <a:uFillTx/>
                <a:latin typeface="Yekan Bakh" pitchFamily="2" charset="-78"/>
                <a:ea typeface="Yekan Bakh" pitchFamily="2" charset="-78"/>
                <a:cs typeface="Yekan Bakh" pitchFamily="2" charset="-78"/>
              </a:rPr>
              <a:t>قابل‌اعتماد</a:t>
            </a:r>
            <a:r>
              <a:rPr kumimoji="0" lang="en-US" sz="10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 </a:t>
            </a:r>
            <a:r>
              <a:rPr kumimoji="0" lang="en-US" sz="1000" b="0" i="0" u="none" strike="noStrike" kern="1200" cap="none" spc="0" normalizeH="0" baseline="0" noProof="0" dirty="0" err="1">
                <a:ln>
                  <a:noFill/>
                </a:ln>
                <a:solidFill>
                  <a:prstClr val="black">
                    <a:lumMod val="75000"/>
                    <a:lumOff val="25000"/>
                  </a:prstClr>
                </a:solidFill>
                <a:effectLst/>
                <a:uLnTx/>
                <a:uFillTx/>
                <a:latin typeface="Yekan Bakh" pitchFamily="2" charset="-78"/>
                <a:ea typeface="Yekan Bakh" pitchFamily="2" charset="-78"/>
                <a:cs typeface="Yekan Bakh" pitchFamily="2" charset="-78"/>
              </a:rPr>
              <a:t>برای</a:t>
            </a:r>
            <a:r>
              <a:rPr kumimoji="0" lang="en-US" sz="10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 </a:t>
            </a:r>
            <a:r>
              <a:rPr kumimoji="0" lang="en-US" sz="1000" b="0" i="0" u="none" strike="noStrike" kern="1200" cap="none" spc="0" normalizeH="0" baseline="0" noProof="0" dirty="0" err="1">
                <a:ln>
                  <a:noFill/>
                </a:ln>
                <a:solidFill>
                  <a:prstClr val="black">
                    <a:lumMod val="75000"/>
                    <a:lumOff val="25000"/>
                  </a:prstClr>
                </a:solidFill>
                <a:effectLst/>
                <a:uLnTx/>
                <a:uFillTx/>
                <a:latin typeface="Yekan Bakh" pitchFamily="2" charset="-78"/>
                <a:ea typeface="Yekan Bakh" pitchFamily="2" charset="-78"/>
                <a:cs typeface="Yekan Bakh" pitchFamily="2" charset="-78"/>
              </a:rPr>
              <a:t>تأیید</a:t>
            </a:r>
            <a:r>
              <a:rPr kumimoji="0" lang="en-US" sz="10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 </a:t>
            </a:r>
            <a:r>
              <a:rPr kumimoji="0" lang="en-US" sz="1000" b="0" i="0" u="none" strike="noStrike" kern="1200" cap="none" spc="0" normalizeH="0" baseline="0" noProof="0" dirty="0" err="1">
                <a:ln>
                  <a:noFill/>
                </a:ln>
                <a:solidFill>
                  <a:prstClr val="black">
                    <a:lumMod val="75000"/>
                    <a:lumOff val="25000"/>
                  </a:prstClr>
                </a:solidFill>
                <a:effectLst/>
                <a:uLnTx/>
                <a:uFillTx/>
                <a:latin typeface="Yekan Bakh" pitchFamily="2" charset="-78"/>
                <a:ea typeface="Yekan Bakh" pitchFamily="2" charset="-78"/>
                <a:cs typeface="Yekan Bakh" pitchFamily="2" charset="-78"/>
              </a:rPr>
              <a:t>هویت</a:t>
            </a:r>
            <a:r>
              <a:rPr kumimoji="0" lang="en-US" sz="10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a:t>
            </a:r>
            <a:r>
              <a:rPr kumimoji="0" lang="en-US" sz="1000" b="0" i="0" u="none" strike="noStrike" kern="1200" cap="none" spc="0" normalizeH="0" baseline="0" noProof="0" dirty="0" err="1">
                <a:ln>
                  <a:noFill/>
                </a:ln>
                <a:solidFill>
                  <a:prstClr val="black">
                    <a:lumMod val="75000"/>
                    <a:lumOff val="25000"/>
                  </a:prstClr>
                </a:solidFill>
                <a:effectLst/>
                <a:uLnTx/>
                <a:uFillTx/>
                <a:latin typeface="Yekan Bakh" pitchFamily="2" charset="-78"/>
                <a:ea typeface="Yekan Bakh" pitchFamily="2" charset="-78"/>
                <a:cs typeface="Yekan Bakh" pitchFamily="2" charset="-78"/>
              </a:rPr>
              <a:t>صلاحیت</a:t>
            </a:r>
            <a:r>
              <a:rPr kumimoji="0" lang="en-US" sz="10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 </a:t>
            </a:r>
            <a:r>
              <a:rPr kumimoji="0" lang="en-US" sz="1000" b="0" i="0" u="none" strike="noStrike" kern="1200" cap="none" spc="0" normalizeH="0" baseline="0" noProof="0" dirty="0" err="1">
                <a:ln>
                  <a:noFill/>
                </a:ln>
                <a:solidFill>
                  <a:prstClr val="black">
                    <a:lumMod val="75000"/>
                    <a:lumOff val="25000"/>
                  </a:prstClr>
                </a:solidFill>
                <a:effectLst/>
                <a:uLnTx/>
                <a:uFillTx/>
                <a:latin typeface="Yekan Bakh" pitchFamily="2" charset="-78"/>
                <a:ea typeface="Yekan Bakh" pitchFamily="2" charset="-78"/>
                <a:cs typeface="Yekan Bakh" pitchFamily="2" charset="-78"/>
              </a:rPr>
              <a:t>طرف</a:t>
            </a:r>
            <a:r>
              <a:rPr kumimoji="0" lang="en-US" sz="10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 </a:t>
            </a:r>
            <a:r>
              <a:rPr kumimoji="0" lang="en-US" sz="1000" b="0" i="0" u="none" strike="noStrike" kern="1200" cap="none" spc="0" normalizeH="0" baseline="0" noProof="0" dirty="0" err="1">
                <a:ln>
                  <a:noFill/>
                </a:ln>
                <a:solidFill>
                  <a:prstClr val="black">
                    <a:lumMod val="75000"/>
                    <a:lumOff val="25000"/>
                  </a:prstClr>
                </a:solidFill>
                <a:effectLst/>
                <a:uLnTx/>
                <a:uFillTx/>
                <a:latin typeface="Yekan Bakh" pitchFamily="2" charset="-78"/>
                <a:ea typeface="Yekan Bakh" pitchFamily="2" charset="-78"/>
                <a:cs typeface="Yekan Bakh" pitchFamily="2" charset="-78"/>
              </a:rPr>
              <a:t>مقابل</a:t>
            </a:r>
            <a:endParaRPr kumimoji="0" lang="en-US" sz="10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a:p>
            <a:pPr marL="0" marR="0" lvl="0" indent="0" algn="r" defTabSz="457200" rtl="1" eaLnBrk="1" fontAlgn="auto" latinLnBrk="0" hangingPunct="1">
              <a:lnSpc>
                <a:spcPct val="100000"/>
              </a:lnSpc>
              <a:spcBef>
                <a:spcPts val="150"/>
              </a:spcBef>
              <a:spcAft>
                <a:spcPts val="0"/>
              </a:spcAft>
              <a:buClrTx/>
              <a:buSzTx/>
              <a:buFontTx/>
              <a:buNone/>
              <a:tabLst/>
              <a:defRPr/>
            </a:pPr>
            <a:r>
              <a:rPr kumimoji="0" lang="en-US" sz="900" b="0" i="0" u="none" strike="noStrike" kern="1200" cap="none" spc="0" normalizeH="0" baseline="0" noProof="0" dirty="0" err="1">
                <a:ln>
                  <a:noFill/>
                </a:ln>
                <a:solidFill>
                  <a:prstClr val="black">
                    <a:lumMod val="50000"/>
                    <a:lumOff val="50000"/>
                  </a:prstClr>
                </a:solidFill>
                <a:effectLst/>
                <a:uLnTx/>
                <a:uFillTx/>
                <a:latin typeface="Yekan Bakh" pitchFamily="2" charset="-78"/>
                <a:ea typeface="Yekan Bakh" pitchFamily="2" charset="-78"/>
                <a:cs typeface="Yekan Bakh" pitchFamily="2" charset="-78"/>
              </a:rPr>
              <a:t>تکرار</a:t>
            </a:r>
            <a:r>
              <a:rPr kumimoji="0" lang="en-US" sz="9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 در۶ </a:t>
            </a:r>
            <a:r>
              <a:rPr kumimoji="0" lang="fa-IR" sz="9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 </a:t>
            </a:r>
            <a:r>
              <a:rPr kumimoji="0" lang="en-US" sz="900" b="0" i="0" u="none" strike="noStrike" kern="1200" cap="none" spc="0" normalizeH="0" baseline="0" noProof="0" dirty="0" err="1">
                <a:ln>
                  <a:noFill/>
                </a:ln>
                <a:solidFill>
                  <a:prstClr val="black">
                    <a:lumMod val="50000"/>
                    <a:lumOff val="50000"/>
                  </a:prstClr>
                </a:solidFill>
                <a:effectLst/>
                <a:uLnTx/>
                <a:uFillTx/>
                <a:latin typeface="Yekan Bakh" pitchFamily="2" charset="-78"/>
                <a:ea typeface="Yekan Bakh" pitchFamily="2" charset="-78"/>
                <a:cs typeface="Yekan Bakh" pitchFamily="2" charset="-78"/>
              </a:rPr>
              <a:t>کار</a:t>
            </a:r>
            <a:r>
              <a:rPr kumimoji="0" lang="en-US" sz="9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 </a:t>
            </a:r>
            <a:r>
              <a:rPr kumimoji="0" lang="en-US" sz="900" b="0" i="0" u="none" strike="noStrike" kern="1200" cap="none" spc="0" normalizeH="0" baseline="0" noProof="0" dirty="0" err="1">
                <a:ln>
                  <a:noFill/>
                </a:ln>
                <a:solidFill>
                  <a:prstClr val="black">
                    <a:lumMod val="50000"/>
                    <a:lumOff val="50000"/>
                  </a:prstClr>
                </a:solidFill>
                <a:effectLst/>
                <a:uLnTx/>
                <a:uFillTx/>
                <a:latin typeface="Yekan Bakh" pitchFamily="2" charset="-78"/>
                <a:ea typeface="Yekan Bakh" pitchFamily="2" charset="-78"/>
                <a:cs typeface="Yekan Bakh" pitchFamily="2" charset="-78"/>
              </a:rPr>
              <a:t>مستقیم</a:t>
            </a:r>
            <a:r>
              <a:rPr kumimoji="0" lang="en-US" sz="9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 </a:t>
            </a:r>
            <a:r>
              <a:rPr kumimoji="0" lang="en-US" sz="900" b="0" i="0" u="none" strike="noStrike" kern="1200" cap="none" spc="0" normalizeH="0" baseline="0" noProof="0" dirty="0" err="1">
                <a:ln>
                  <a:noFill/>
                </a:ln>
                <a:solidFill>
                  <a:prstClr val="black">
                    <a:lumMod val="50000"/>
                    <a:lumOff val="50000"/>
                  </a:prstClr>
                </a:solidFill>
                <a:effectLst/>
                <a:uLnTx/>
                <a:uFillTx/>
                <a:latin typeface="Yekan Bakh" pitchFamily="2" charset="-78"/>
                <a:ea typeface="Yekan Bakh" pitchFamily="2" charset="-78"/>
                <a:cs typeface="Yekan Bakh" pitchFamily="2" charset="-78"/>
              </a:rPr>
              <a:t>در</a:t>
            </a:r>
            <a:r>
              <a:rPr kumimoji="0" lang="fa-IR" sz="9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 </a:t>
            </a:r>
            <a:r>
              <a:rPr kumimoji="0" lang="en-US" sz="9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۳</a:t>
            </a:r>
            <a:r>
              <a:rPr kumimoji="0" lang="fa-IR" sz="9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 </a:t>
            </a:r>
            <a:r>
              <a:rPr kumimoji="0" lang="en-US" sz="900" b="0" i="0" u="none" strike="noStrike" kern="1200" cap="none" spc="0" normalizeH="0" baseline="0" noProof="0" dirty="0" err="1">
                <a:ln>
                  <a:noFill/>
                </a:ln>
                <a:solidFill>
                  <a:prstClr val="black">
                    <a:lumMod val="50000"/>
                    <a:lumOff val="50000"/>
                  </a:prstClr>
                </a:solidFill>
                <a:effectLst/>
                <a:uLnTx/>
                <a:uFillTx/>
                <a:latin typeface="Yekan Bakh" pitchFamily="2" charset="-78"/>
                <a:ea typeface="Yekan Bakh" pitchFamily="2" charset="-78"/>
                <a:cs typeface="Yekan Bakh" pitchFamily="2" charset="-78"/>
              </a:rPr>
              <a:t>پرسونا</a:t>
            </a:r>
            <a:endParaRPr kumimoji="0" lang="en-US" sz="9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endParaRPr>
          </a:p>
        </p:txBody>
      </p:sp>
      <p:sp>
        <p:nvSpPr>
          <p:cNvPr id="15" name="Rectangle: Rounded Corners 14">
            <a:extLst>
              <a:ext uri="{FF2B5EF4-FFF2-40B4-BE49-F238E27FC236}">
                <a16:creationId xmlns:a16="http://schemas.microsoft.com/office/drawing/2014/main" id="{35B70925-924B-C502-4DEF-503E6521DA08}"/>
              </a:ext>
            </a:extLst>
          </p:cNvPr>
          <p:cNvSpPr/>
          <p:nvPr/>
        </p:nvSpPr>
        <p:spPr>
          <a:xfrm>
            <a:off x="2336427" y="1520544"/>
            <a:ext cx="1562624" cy="190447"/>
          </a:xfrm>
          <a:prstGeom prst="roundRect">
            <a:avLst>
              <a:gd name="adj" fmla="val 50000"/>
            </a:avLst>
          </a:prstGeom>
          <a:solidFill>
            <a:srgbClr val="F0BE0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6" name="Rectangle: Top Corners Rounded 15">
            <a:extLst>
              <a:ext uri="{FF2B5EF4-FFF2-40B4-BE49-F238E27FC236}">
                <a16:creationId xmlns:a16="http://schemas.microsoft.com/office/drawing/2014/main" id="{6A0102AB-9750-38D6-2448-83D72447086F}"/>
              </a:ext>
            </a:extLst>
          </p:cNvPr>
          <p:cNvSpPr/>
          <p:nvPr/>
        </p:nvSpPr>
        <p:spPr>
          <a:xfrm rot="5400000">
            <a:off x="3068168" y="880107"/>
            <a:ext cx="190447" cy="1471319"/>
          </a:xfrm>
          <a:prstGeom prst="round2SameRect">
            <a:avLst>
              <a:gd name="adj1" fmla="val 50000"/>
              <a:gd name="adj2" fmla="val 0"/>
            </a:avLst>
          </a:prstGeom>
          <a:solidFill>
            <a:srgbClr val="1E27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Calibri"/>
            </a:endParaRPr>
          </a:p>
        </p:txBody>
      </p:sp>
      <p:sp>
        <p:nvSpPr>
          <p:cNvPr id="20" name="Rectangle: Rounded Corners 19">
            <a:extLst>
              <a:ext uri="{FF2B5EF4-FFF2-40B4-BE49-F238E27FC236}">
                <a16:creationId xmlns:a16="http://schemas.microsoft.com/office/drawing/2014/main" id="{E3C76FAD-4DD9-E19B-702B-900C4108546F}"/>
              </a:ext>
            </a:extLst>
          </p:cNvPr>
          <p:cNvSpPr/>
          <p:nvPr/>
        </p:nvSpPr>
        <p:spPr>
          <a:xfrm>
            <a:off x="1582088" y="1994703"/>
            <a:ext cx="8538874" cy="557784"/>
          </a:xfrm>
          <a:prstGeom prst="roundRect">
            <a:avLst>
              <a:gd name="adj" fmla="val 50000"/>
            </a:avLst>
          </a:prstGeom>
          <a:solidFill>
            <a:schemeClr val="bg1">
              <a:lumMod val="95000"/>
              <a:alpha val="34000"/>
            </a:schemeClr>
          </a:solidFill>
          <a:ln w="3175">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21" name="Flowchart: Connector 20">
            <a:extLst>
              <a:ext uri="{FF2B5EF4-FFF2-40B4-BE49-F238E27FC236}">
                <a16:creationId xmlns:a16="http://schemas.microsoft.com/office/drawing/2014/main" id="{8344209E-224E-0245-44BB-B37A7119742D}"/>
              </a:ext>
            </a:extLst>
          </p:cNvPr>
          <p:cNvSpPr/>
          <p:nvPr/>
        </p:nvSpPr>
        <p:spPr>
          <a:xfrm>
            <a:off x="9592838" y="2009533"/>
            <a:ext cx="528124" cy="528124"/>
          </a:xfrm>
          <a:prstGeom prst="flowChartConnector">
            <a:avLst/>
          </a:prstGeom>
          <a:solidFill>
            <a:srgbClr val="1E27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36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sp>
        <p:nvSpPr>
          <p:cNvPr id="22" name="TextBox 21">
            <a:extLst>
              <a:ext uri="{FF2B5EF4-FFF2-40B4-BE49-F238E27FC236}">
                <a16:creationId xmlns:a16="http://schemas.microsoft.com/office/drawing/2014/main" id="{D1D35BE4-7DF3-DE5A-BAC6-7824E2B09201}"/>
              </a:ext>
            </a:extLst>
          </p:cNvPr>
          <p:cNvSpPr txBox="1"/>
          <p:nvPr/>
        </p:nvSpPr>
        <p:spPr>
          <a:xfrm>
            <a:off x="9630323" y="2088929"/>
            <a:ext cx="453154" cy="369332"/>
          </a:xfrm>
          <a:prstGeom prst="rect">
            <a:avLst/>
          </a:prstGeom>
          <a:noFill/>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8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۲</a:t>
            </a:r>
            <a:endParaRPr kumimoji="0" lang="en-GB" sz="18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sp>
        <p:nvSpPr>
          <p:cNvPr id="23" name="TextBox 22">
            <a:extLst>
              <a:ext uri="{FF2B5EF4-FFF2-40B4-BE49-F238E27FC236}">
                <a16:creationId xmlns:a16="http://schemas.microsoft.com/office/drawing/2014/main" id="{3AD64FE5-50EE-40BF-64BD-92A2D90D13DE}"/>
              </a:ext>
            </a:extLst>
          </p:cNvPr>
          <p:cNvSpPr txBox="1"/>
          <p:nvPr/>
        </p:nvSpPr>
        <p:spPr>
          <a:xfrm>
            <a:off x="3642092" y="2088929"/>
            <a:ext cx="5950746" cy="384721"/>
          </a:xfrm>
          <a:prstGeom prst="rect">
            <a:avLst/>
          </a:prstGeom>
          <a:noFill/>
        </p:spPr>
        <p:txBody>
          <a:bodyPr wrap="square">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0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عدم‌قطعیت کلان‌اقتصادی، ارزی و سیاسی مقصد</a:t>
            </a:r>
          </a:p>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تکرار در ۵ کار مستقیم، در ۲ پرسونا</a:t>
            </a:r>
          </a:p>
        </p:txBody>
      </p:sp>
      <p:sp>
        <p:nvSpPr>
          <p:cNvPr id="25" name="Rectangle: Rounded Corners 24">
            <a:extLst>
              <a:ext uri="{FF2B5EF4-FFF2-40B4-BE49-F238E27FC236}">
                <a16:creationId xmlns:a16="http://schemas.microsoft.com/office/drawing/2014/main" id="{0282765A-D9F4-94BC-2B69-78D0CEAFF963}"/>
              </a:ext>
            </a:extLst>
          </p:cNvPr>
          <p:cNvSpPr/>
          <p:nvPr/>
        </p:nvSpPr>
        <p:spPr>
          <a:xfrm>
            <a:off x="2336427" y="2178372"/>
            <a:ext cx="1562624" cy="190447"/>
          </a:xfrm>
          <a:prstGeom prst="roundRect">
            <a:avLst>
              <a:gd name="adj" fmla="val 50000"/>
            </a:avLst>
          </a:prstGeom>
          <a:solidFill>
            <a:srgbClr val="F0BE0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26" name="Rectangle: Top Corners Rounded 25">
            <a:extLst>
              <a:ext uri="{FF2B5EF4-FFF2-40B4-BE49-F238E27FC236}">
                <a16:creationId xmlns:a16="http://schemas.microsoft.com/office/drawing/2014/main" id="{38475C61-D916-FBB0-C81C-6D8F6BD5EC3E}"/>
              </a:ext>
            </a:extLst>
          </p:cNvPr>
          <p:cNvSpPr/>
          <p:nvPr/>
        </p:nvSpPr>
        <p:spPr>
          <a:xfrm rot="5400000">
            <a:off x="3152748" y="1622518"/>
            <a:ext cx="190447" cy="1302154"/>
          </a:xfrm>
          <a:prstGeom prst="round2SameRect">
            <a:avLst>
              <a:gd name="adj1" fmla="val 50000"/>
              <a:gd name="adj2" fmla="val 0"/>
            </a:avLst>
          </a:prstGeom>
          <a:solidFill>
            <a:srgbClr val="1E27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28" name="Rectangle: Rounded Corners 27">
            <a:extLst>
              <a:ext uri="{FF2B5EF4-FFF2-40B4-BE49-F238E27FC236}">
                <a16:creationId xmlns:a16="http://schemas.microsoft.com/office/drawing/2014/main" id="{BAC600FF-9719-9EEB-3F94-0D4D14128E2D}"/>
              </a:ext>
            </a:extLst>
          </p:cNvPr>
          <p:cNvSpPr/>
          <p:nvPr/>
        </p:nvSpPr>
        <p:spPr>
          <a:xfrm>
            <a:off x="1582088" y="2652531"/>
            <a:ext cx="8538874" cy="557784"/>
          </a:xfrm>
          <a:prstGeom prst="roundRect">
            <a:avLst>
              <a:gd name="adj" fmla="val 50000"/>
            </a:avLst>
          </a:prstGeom>
          <a:solidFill>
            <a:schemeClr val="bg1">
              <a:lumMod val="95000"/>
              <a:alpha val="34000"/>
            </a:schemeClr>
          </a:solidFill>
          <a:ln w="3175">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29" name="Flowchart: Connector 28">
            <a:extLst>
              <a:ext uri="{FF2B5EF4-FFF2-40B4-BE49-F238E27FC236}">
                <a16:creationId xmlns:a16="http://schemas.microsoft.com/office/drawing/2014/main" id="{B5C05054-A234-8A52-4C23-C995A5878997}"/>
              </a:ext>
            </a:extLst>
          </p:cNvPr>
          <p:cNvSpPr/>
          <p:nvPr/>
        </p:nvSpPr>
        <p:spPr>
          <a:xfrm>
            <a:off x="9592838" y="2667361"/>
            <a:ext cx="528124" cy="528124"/>
          </a:xfrm>
          <a:prstGeom prst="flowChartConnector">
            <a:avLst/>
          </a:prstGeom>
          <a:solidFill>
            <a:srgbClr val="1E27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36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sp>
        <p:nvSpPr>
          <p:cNvPr id="30" name="TextBox 29">
            <a:extLst>
              <a:ext uri="{FF2B5EF4-FFF2-40B4-BE49-F238E27FC236}">
                <a16:creationId xmlns:a16="http://schemas.microsoft.com/office/drawing/2014/main" id="{8C00E3E5-1EE5-7E36-B6A6-CD97FBBB1F67}"/>
              </a:ext>
            </a:extLst>
          </p:cNvPr>
          <p:cNvSpPr txBox="1"/>
          <p:nvPr/>
        </p:nvSpPr>
        <p:spPr>
          <a:xfrm>
            <a:off x="9630323" y="2746757"/>
            <a:ext cx="453154" cy="369332"/>
          </a:xfrm>
          <a:prstGeom prst="rect">
            <a:avLst/>
          </a:prstGeom>
          <a:noFill/>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8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۳</a:t>
            </a:r>
            <a:endParaRPr kumimoji="0" lang="en-GB" sz="18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sp>
        <p:nvSpPr>
          <p:cNvPr id="31" name="TextBox 30">
            <a:extLst>
              <a:ext uri="{FF2B5EF4-FFF2-40B4-BE49-F238E27FC236}">
                <a16:creationId xmlns:a16="http://schemas.microsoft.com/office/drawing/2014/main" id="{5FAB5105-7D35-65A9-D85C-F4FD2D0CC8BA}"/>
              </a:ext>
            </a:extLst>
          </p:cNvPr>
          <p:cNvSpPr txBox="1"/>
          <p:nvPr/>
        </p:nvSpPr>
        <p:spPr>
          <a:xfrm>
            <a:off x="3642092" y="2746757"/>
            <a:ext cx="5950746" cy="384721"/>
          </a:xfrm>
          <a:prstGeom prst="rect">
            <a:avLst/>
          </a:prstGeom>
          <a:noFill/>
        </p:spPr>
        <p:txBody>
          <a:bodyPr wrap="square">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0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نبود شریک یا کانال معتبر برای دسترسی به فرصت یا بازار</a:t>
            </a:r>
          </a:p>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تکرار در ۵ کار مستقیم، در ۵ پرسونا</a:t>
            </a:r>
            <a:endParaRPr kumimoji="0" lang="en-US"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endParaRPr>
          </a:p>
        </p:txBody>
      </p:sp>
      <p:sp>
        <p:nvSpPr>
          <p:cNvPr id="33" name="Rectangle: Rounded Corners 32">
            <a:extLst>
              <a:ext uri="{FF2B5EF4-FFF2-40B4-BE49-F238E27FC236}">
                <a16:creationId xmlns:a16="http://schemas.microsoft.com/office/drawing/2014/main" id="{E776F861-8241-3068-B9D3-FC220C7A914F}"/>
              </a:ext>
            </a:extLst>
          </p:cNvPr>
          <p:cNvSpPr/>
          <p:nvPr/>
        </p:nvSpPr>
        <p:spPr>
          <a:xfrm>
            <a:off x="2336427" y="2836200"/>
            <a:ext cx="1562624" cy="190447"/>
          </a:xfrm>
          <a:prstGeom prst="roundRect">
            <a:avLst>
              <a:gd name="adj" fmla="val 50000"/>
            </a:avLst>
          </a:prstGeom>
          <a:solidFill>
            <a:srgbClr val="F0BE0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34" name="Rectangle: Top Corners Rounded 33">
            <a:extLst>
              <a:ext uri="{FF2B5EF4-FFF2-40B4-BE49-F238E27FC236}">
                <a16:creationId xmlns:a16="http://schemas.microsoft.com/office/drawing/2014/main" id="{8A77E80C-45E6-6967-1814-042D6B20C1B9}"/>
              </a:ext>
            </a:extLst>
          </p:cNvPr>
          <p:cNvSpPr/>
          <p:nvPr/>
        </p:nvSpPr>
        <p:spPr>
          <a:xfrm rot="5400000">
            <a:off x="3152748" y="2280345"/>
            <a:ext cx="190447" cy="1302157"/>
          </a:xfrm>
          <a:prstGeom prst="round2SameRect">
            <a:avLst>
              <a:gd name="adj1" fmla="val 50000"/>
              <a:gd name="adj2" fmla="val 0"/>
            </a:avLst>
          </a:prstGeom>
          <a:solidFill>
            <a:srgbClr val="1E27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36" name="Rectangle: Rounded Corners 35">
            <a:extLst>
              <a:ext uri="{FF2B5EF4-FFF2-40B4-BE49-F238E27FC236}">
                <a16:creationId xmlns:a16="http://schemas.microsoft.com/office/drawing/2014/main" id="{48B150ED-B5DD-E044-9F8D-6168F5E37358}"/>
              </a:ext>
            </a:extLst>
          </p:cNvPr>
          <p:cNvSpPr/>
          <p:nvPr/>
        </p:nvSpPr>
        <p:spPr>
          <a:xfrm>
            <a:off x="1582088" y="3310359"/>
            <a:ext cx="8538874" cy="557784"/>
          </a:xfrm>
          <a:prstGeom prst="roundRect">
            <a:avLst>
              <a:gd name="adj" fmla="val 50000"/>
            </a:avLst>
          </a:prstGeom>
          <a:solidFill>
            <a:schemeClr val="bg1">
              <a:lumMod val="95000"/>
              <a:alpha val="34000"/>
            </a:schemeClr>
          </a:solidFill>
          <a:ln w="3175">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37" name="Flowchart: Connector 36">
            <a:extLst>
              <a:ext uri="{FF2B5EF4-FFF2-40B4-BE49-F238E27FC236}">
                <a16:creationId xmlns:a16="http://schemas.microsoft.com/office/drawing/2014/main" id="{11CE1214-0AFB-69AB-5430-AAC87B74D637}"/>
              </a:ext>
            </a:extLst>
          </p:cNvPr>
          <p:cNvSpPr/>
          <p:nvPr/>
        </p:nvSpPr>
        <p:spPr>
          <a:xfrm>
            <a:off x="9592838" y="3325189"/>
            <a:ext cx="528124" cy="528124"/>
          </a:xfrm>
          <a:prstGeom prst="flowChartConnector">
            <a:avLst/>
          </a:prstGeom>
          <a:solidFill>
            <a:srgbClr val="1E27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36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sp>
        <p:nvSpPr>
          <p:cNvPr id="38" name="TextBox 37">
            <a:extLst>
              <a:ext uri="{FF2B5EF4-FFF2-40B4-BE49-F238E27FC236}">
                <a16:creationId xmlns:a16="http://schemas.microsoft.com/office/drawing/2014/main" id="{56792DBA-66D8-0460-9BD2-749506BC7810}"/>
              </a:ext>
            </a:extLst>
          </p:cNvPr>
          <p:cNvSpPr txBox="1"/>
          <p:nvPr/>
        </p:nvSpPr>
        <p:spPr>
          <a:xfrm>
            <a:off x="9630323" y="3404585"/>
            <a:ext cx="453154" cy="369332"/>
          </a:xfrm>
          <a:prstGeom prst="rect">
            <a:avLst/>
          </a:prstGeom>
          <a:noFill/>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8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۴</a:t>
            </a:r>
            <a:endParaRPr kumimoji="0" lang="en-GB" sz="18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sp>
        <p:nvSpPr>
          <p:cNvPr id="39" name="TextBox 38">
            <a:extLst>
              <a:ext uri="{FF2B5EF4-FFF2-40B4-BE49-F238E27FC236}">
                <a16:creationId xmlns:a16="http://schemas.microsoft.com/office/drawing/2014/main" id="{986863D3-9A5A-0399-902E-2E3BE53CDF45}"/>
              </a:ext>
            </a:extLst>
          </p:cNvPr>
          <p:cNvSpPr txBox="1"/>
          <p:nvPr/>
        </p:nvSpPr>
        <p:spPr>
          <a:xfrm>
            <a:off x="3642092" y="3404585"/>
            <a:ext cx="5950746" cy="384721"/>
          </a:xfrm>
          <a:prstGeom prst="rect">
            <a:avLst/>
          </a:prstGeom>
          <a:noFill/>
        </p:spPr>
        <p:txBody>
          <a:bodyPr wrap="square">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0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ابهام و پیچیدگی حقوقی همکاری فرامرزی و مسیر جبران خسارت</a:t>
            </a:r>
          </a:p>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تکرار در ۴ کار مستقیم، در ۳ پرسونا</a:t>
            </a:r>
            <a:endParaRPr kumimoji="0" lang="en-US"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endParaRPr>
          </a:p>
        </p:txBody>
      </p:sp>
      <p:sp>
        <p:nvSpPr>
          <p:cNvPr id="41" name="Rectangle: Rounded Corners 40">
            <a:extLst>
              <a:ext uri="{FF2B5EF4-FFF2-40B4-BE49-F238E27FC236}">
                <a16:creationId xmlns:a16="http://schemas.microsoft.com/office/drawing/2014/main" id="{6FF91121-9DD7-CCD6-51B1-72CC81107D18}"/>
              </a:ext>
            </a:extLst>
          </p:cNvPr>
          <p:cNvSpPr/>
          <p:nvPr/>
        </p:nvSpPr>
        <p:spPr>
          <a:xfrm>
            <a:off x="2336427" y="3494028"/>
            <a:ext cx="1562624" cy="190447"/>
          </a:xfrm>
          <a:prstGeom prst="roundRect">
            <a:avLst>
              <a:gd name="adj" fmla="val 50000"/>
            </a:avLst>
          </a:prstGeom>
          <a:solidFill>
            <a:srgbClr val="F0BE0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2" name="Rectangle: Top Corners Rounded 41">
            <a:extLst>
              <a:ext uri="{FF2B5EF4-FFF2-40B4-BE49-F238E27FC236}">
                <a16:creationId xmlns:a16="http://schemas.microsoft.com/office/drawing/2014/main" id="{2B553736-9A6B-6B96-594D-BC0558FDECD0}"/>
              </a:ext>
            </a:extLst>
          </p:cNvPr>
          <p:cNvSpPr/>
          <p:nvPr/>
        </p:nvSpPr>
        <p:spPr>
          <a:xfrm rot="5400000">
            <a:off x="3240759" y="3026185"/>
            <a:ext cx="190447" cy="1126132"/>
          </a:xfrm>
          <a:prstGeom prst="round2SameRect">
            <a:avLst>
              <a:gd name="adj1" fmla="val 50000"/>
              <a:gd name="adj2" fmla="val 0"/>
            </a:avLst>
          </a:prstGeom>
          <a:solidFill>
            <a:srgbClr val="1E27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4" name="Rectangle: Rounded Corners 43">
            <a:extLst>
              <a:ext uri="{FF2B5EF4-FFF2-40B4-BE49-F238E27FC236}">
                <a16:creationId xmlns:a16="http://schemas.microsoft.com/office/drawing/2014/main" id="{E1781D28-5BBD-CDE7-CD93-293DF613FB9C}"/>
              </a:ext>
            </a:extLst>
          </p:cNvPr>
          <p:cNvSpPr/>
          <p:nvPr/>
        </p:nvSpPr>
        <p:spPr>
          <a:xfrm>
            <a:off x="1582088" y="3968187"/>
            <a:ext cx="8538874" cy="557784"/>
          </a:xfrm>
          <a:prstGeom prst="roundRect">
            <a:avLst>
              <a:gd name="adj" fmla="val 50000"/>
            </a:avLst>
          </a:prstGeom>
          <a:solidFill>
            <a:schemeClr val="bg1">
              <a:lumMod val="95000"/>
              <a:alpha val="34000"/>
            </a:schemeClr>
          </a:solidFill>
          <a:ln w="3175">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5" name="Flowchart: Connector 44">
            <a:extLst>
              <a:ext uri="{FF2B5EF4-FFF2-40B4-BE49-F238E27FC236}">
                <a16:creationId xmlns:a16="http://schemas.microsoft.com/office/drawing/2014/main" id="{D36C9FE6-7F6B-80B4-7FE5-688610CF775D}"/>
              </a:ext>
            </a:extLst>
          </p:cNvPr>
          <p:cNvSpPr/>
          <p:nvPr/>
        </p:nvSpPr>
        <p:spPr>
          <a:xfrm>
            <a:off x="9592838" y="3983017"/>
            <a:ext cx="528124" cy="528124"/>
          </a:xfrm>
          <a:prstGeom prst="flowChartConnector">
            <a:avLst/>
          </a:prstGeom>
          <a:solidFill>
            <a:srgbClr val="1E27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36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sp>
        <p:nvSpPr>
          <p:cNvPr id="46" name="TextBox 45">
            <a:extLst>
              <a:ext uri="{FF2B5EF4-FFF2-40B4-BE49-F238E27FC236}">
                <a16:creationId xmlns:a16="http://schemas.microsoft.com/office/drawing/2014/main" id="{74F63CCC-D28F-145B-2C48-77D282297D96}"/>
              </a:ext>
            </a:extLst>
          </p:cNvPr>
          <p:cNvSpPr txBox="1"/>
          <p:nvPr/>
        </p:nvSpPr>
        <p:spPr>
          <a:xfrm>
            <a:off x="9630323" y="4062413"/>
            <a:ext cx="453154" cy="369332"/>
          </a:xfrm>
          <a:prstGeom prst="rect">
            <a:avLst/>
          </a:prstGeom>
          <a:noFill/>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8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۵</a:t>
            </a:r>
            <a:endParaRPr kumimoji="0" lang="en-GB" sz="18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sp>
        <p:nvSpPr>
          <p:cNvPr id="47" name="TextBox 46">
            <a:extLst>
              <a:ext uri="{FF2B5EF4-FFF2-40B4-BE49-F238E27FC236}">
                <a16:creationId xmlns:a16="http://schemas.microsoft.com/office/drawing/2014/main" id="{0A00A855-1DA7-98FD-8B9A-8D8693F21684}"/>
              </a:ext>
            </a:extLst>
          </p:cNvPr>
          <p:cNvSpPr txBox="1"/>
          <p:nvPr/>
        </p:nvSpPr>
        <p:spPr>
          <a:xfrm>
            <a:off x="3642092" y="4062413"/>
            <a:ext cx="5950746" cy="384721"/>
          </a:xfrm>
          <a:prstGeom prst="rect">
            <a:avLst/>
          </a:prstGeom>
          <a:noFill/>
        </p:spPr>
        <p:txBody>
          <a:bodyPr wrap="square">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0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محدودیت و فشار مالی (تأمین مالی، کارمزد، رقابت بر سر سرمایه محدود)</a:t>
            </a:r>
          </a:p>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تکرار در ۴ کار مستقیم، در ۳ پرسونا</a:t>
            </a:r>
            <a:endParaRPr kumimoji="0" lang="en-US"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endParaRPr>
          </a:p>
        </p:txBody>
      </p:sp>
      <p:sp>
        <p:nvSpPr>
          <p:cNvPr id="49" name="Rectangle: Rounded Corners 48">
            <a:extLst>
              <a:ext uri="{FF2B5EF4-FFF2-40B4-BE49-F238E27FC236}">
                <a16:creationId xmlns:a16="http://schemas.microsoft.com/office/drawing/2014/main" id="{5A4D510C-1699-0DA0-DA4E-4CD09D4623B8}"/>
              </a:ext>
            </a:extLst>
          </p:cNvPr>
          <p:cNvSpPr/>
          <p:nvPr/>
        </p:nvSpPr>
        <p:spPr>
          <a:xfrm>
            <a:off x="2336427" y="4151856"/>
            <a:ext cx="1562624" cy="190447"/>
          </a:xfrm>
          <a:prstGeom prst="roundRect">
            <a:avLst>
              <a:gd name="adj" fmla="val 50000"/>
            </a:avLst>
          </a:prstGeom>
          <a:solidFill>
            <a:srgbClr val="F0BE0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50" name="Rectangle: Top Corners Rounded 49">
            <a:extLst>
              <a:ext uri="{FF2B5EF4-FFF2-40B4-BE49-F238E27FC236}">
                <a16:creationId xmlns:a16="http://schemas.microsoft.com/office/drawing/2014/main" id="{D2FB5F6F-8C47-563F-BB3D-7A2A2F5A8CC4}"/>
              </a:ext>
            </a:extLst>
          </p:cNvPr>
          <p:cNvSpPr/>
          <p:nvPr/>
        </p:nvSpPr>
        <p:spPr>
          <a:xfrm rot="5400000">
            <a:off x="3288765" y="3732020"/>
            <a:ext cx="190447" cy="1030119"/>
          </a:xfrm>
          <a:prstGeom prst="round2SameRect">
            <a:avLst>
              <a:gd name="adj1" fmla="val 50000"/>
              <a:gd name="adj2" fmla="val 0"/>
            </a:avLst>
          </a:prstGeom>
          <a:solidFill>
            <a:srgbClr val="1E27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52" name="Rectangle: Rounded Corners 51">
            <a:extLst>
              <a:ext uri="{FF2B5EF4-FFF2-40B4-BE49-F238E27FC236}">
                <a16:creationId xmlns:a16="http://schemas.microsoft.com/office/drawing/2014/main" id="{3961224B-1B4B-A692-B757-26E5A5CFF54E}"/>
              </a:ext>
            </a:extLst>
          </p:cNvPr>
          <p:cNvSpPr/>
          <p:nvPr/>
        </p:nvSpPr>
        <p:spPr>
          <a:xfrm>
            <a:off x="1582088" y="4626015"/>
            <a:ext cx="8538874" cy="557784"/>
          </a:xfrm>
          <a:prstGeom prst="roundRect">
            <a:avLst>
              <a:gd name="adj" fmla="val 50000"/>
            </a:avLst>
          </a:prstGeom>
          <a:solidFill>
            <a:schemeClr val="bg1">
              <a:lumMod val="95000"/>
              <a:alpha val="34000"/>
            </a:schemeClr>
          </a:solidFill>
          <a:ln w="3175">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53" name="Flowchart: Connector 52">
            <a:extLst>
              <a:ext uri="{FF2B5EF4-FFF2-40B4-BE49-F238E27FC236}">
                <a16:creationId xmlns:a16="http://schemas.microsoft.com/office/drawing/2014/main" id="{FA7DF9FE-1B7C-E67A-BBEE-5ADDB82A34F8}"/>
              </a:ext>
            </a:extLst>
          </p:cNvPr>
          <p:cNvSpPr/>
          <p:nvPr/>
        </p:nvSpPr>
        <p:spPr>
          <a:xfrm>
            <a:off x="9592838" y="4640845"/>
            <a:ext cx="528124" cy="528124"/>
          </a:xfrm>
          <a:prstGeom prst="flowChartConnector">
            <a:avLst/>
          </a:prstGeom>
          <a:solidFill>
            <a:srgbClr val="1E27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36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sp>
        <p:nvSpPr>
          <p:cNvPr id="54" name="TextBox 53">
            <a:extLst>
              <a:ext uri="{FF2B5EF4-FFF2-40B4-BE49-F238E27FC236}">
                <a16:creationId xmlns:a16="http://schemas.microsoft.com/office/drawing/2014/main" id="{C69715B4-F4CB-8C81-A0BD-BC3C887FC9CB}"/>
              </a:ext>
            </a:extLst>
          </p:cNvPr>
          <p:cNvSpPr txBox="1"/>
          <p:nvPr/>
        </p:nvSpPr>
        <p:spPr>
          <a:xfrm>
            <a:off x="9630323" y="4720241"/>
            <a:ext cx="453154" cy="369332"/>
          </a:xfrm>
          <a:prstGeom prst="rect">
            <a:avLst/>
          </a:prstGeom>
          <a:noFill/>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8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۶</a:t>
            </a:r>
            <a:endParaRPr kumimoji="0" lang="en-GB" sz="18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sp>
        <p:nvSpPr>
          <p:cNvPr id="55" name="TextBox 54">
            <a:extLst>
              <a:ext uri="{FF2B5EF4-FFF2-40B4-BE49-F238E27FC236}">
                <a16:creationId xmlns:a16="http://schemas.microsoft.com/office/drawing/2014/main" id="{90057176-A2E1-2917-8224-477EF2A161CA}"/>
              </a:ext>
            </a:extLst>
          </p:cNvPr>
          <p:cNvSpPr txBox="1"/>
          <p:nvPr/>
        </p:nvSpPr>
        <p:spPr>
          <a:xfrm>
            <a:off x="3642092" y="4720241"/>
            <a:ext cx="5950746" cy="384721"/>
          </a:xfrm>
          <a:prstGeom prst="rect">
            <a:avLst/>
          </a:prstGeom>
          <a:noFill/>
        </p:spPr>
        <p:txBody>
          <a:bodyPr wrap="square">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0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ریسک شهرتی یا اعتباری، چه شخصی چه سازمانی</a:t>
            </a:r>
          </a:p>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تکرار در ۳ کار مستقیم، در ۳ پرسونا</a:t>
            </a:r>
            <a:endParaRPr kumimoji="0" lang="en-US"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endParaRPr>
          </a:p>
        </p:txBody>
      </p:sp>
      <p:sp>
        <p:nvSpPr>
          <p:cNvPr id="57" name="Rectangle: Rounded Corners 56">
            <a:extLst>
              <a:ext uri="{FF2B5EF4-FFF2-40B4-BE49-F238E27FC236}">
                <a16:creationId xmlns:a16="http://schemas.microsoft.com/office/drawing/2014/main" id="{DAE70B0E-F1DB-BB51-728B-0E5DAE0E1F7F}"/>
              </a:ext>
            </a:extLst>
          </p:cNvPr>
          <p:cNvSpPr/>
          <p:nvPr/>
        </p:nvSpPr>
        <p:spPr>
          <a:xfrm>
            <a:off x="2336427" y="4809684"/>
            <a:ext cx="1562624" cy="190447"/>
          </a:xfrm>
          <a:prstGeom prst="roundRect">
            <a:avLst>
              <a:gd name="adj" fmla="val 50000"/>
            </a:avLst>
          </a:prstGeom>
          <a:solidFill>
            <a:srgbClr val="F0BE0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58" name="Rectangle: Top Corners Rounded 57">
            <a:extLst>
              <a:ext uri="{FF2B5EF4-FFF2-40B4-BE49-F238E27FC236}">
                <a16:creationId xmlns:a16="http://schemas.microsoft.com/office/drawing/2014/main" id="{5DCCBDBB-F19B-E994-4796-40A67AB357EF}"/>
              </a:ext>
            </a:extLst>
          </p:cNvPr>
          <p:cNvSpPr/>
          <p:nvPr/>
        </p:nvSpPr>
        <p:spPr>
          <a:xfrm rot="5400000">
            <a:off x="3334486" y="4435566"/>
            <a:ext cx="190447" cy="938681"/>
          </a:xfrm>
          <a:prstGeom prst="round2SameRect">
            <a:avLst>
              <a:gd name="adj1" fmla="val 50000"/>
              <a:gd name="adj2" fmla="val 0"/>
            </a:avLst>
          </a:prstGeom>
          <a:solidFill>
            <a:srgbClr val="1E27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60" name="Rectangle: Rounded Corners 59">
            <a:extLst>
              <a:ext uri="{FF2B5EF4-FFF2-40B4-BE49-F238E27FC236}">
                <a16:creationId xmlns:a16="http://schemas.microsoft.com/office/drawing/2014/main" id="{2E9B5CCC-B4EC-0055-1721-D7A9A296B73A}"/>
              </a:ext>
            </a:extLst>
          </p:cNvPr>
          <p:cNvSpPr/>
          <p:nvPr/>
        </p:nvSpPr>
        <p:spPr>
          <a:xfrm>
            <a:off x="1582088" y="5283841"/>
            <a:ext cx="8538874" cy="557784"/>
          </a:xfrm>
          <a:prstGeom prst="roundRect">
            <a:avLst>
              <a:gd name="adj" fmla="val 50000"/>
            </a:avLst>
          </a:prstGeom>
          <a:solidFill>
            <a:schemeClr val="bg1">
              <a:lumMod val="95000"/>
              <a:alpha val="34000"/>
            </a:schemeClr>
          </a:solidFill>
          <a:ln w="3175">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61" name="Flowchart: Connector 60">
            <a:extLst>
              <a:ext uri="{FF2B5EF4-FFF2-40B4-BE49-F238E27FC236}">
                <a16:creationId xmlns:a16="http://schemas.microsoft.com/office/drawing/2014/main" id="{7CD8003D-978E-9E82-7191-570465C40099}"/>
              </a:ext>
            </a:extLst>
          </p:cNvPr>
          <p:cNvSpPr/>
          <p:nvPr/>
        </p:nvSpPr>
        <p:spPr>
          <a:xfrm>
            <a:off x="9592838" y="5298671"/>
            <a:ext cx="528124" cy="528124"/>
          </a:xfrm>
          <a:prstGeom prst="flowChartConnector">
            <a:avLst/>
          </a:prstGeom>
          <a:solidFill>
            <a:srgbClr val="1E27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36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sp>
        <p:nvSpPr>
          <p:cNvPr id="62" name="TextBox 61">
            <a:extLst>
              <a:ext uri="{FF2B5EF4-FFF2-40B4-BE49-F238E27FC236}">
                <a16:creationId xmlns:a16="http://schemas.microsoft.com/office/drawing/2014/main" id="{311CC4B5-9E29-7764-7650-7F9778F3EA19}"/>
              </a:ext>
            </a:extLst>
          </p:cNvPr>
          <p:cNvSpPr txBox="1"/>
          <p:nvPr/>
        </p:nvSpPr>
        <p:spPr>
          <a:xfrm>
            <a:off x="9630323" y="5378067"/>
            <a:ext cx="453154" cy="369332"/>
          </a:xfrm>
          <a:prstGeom prst="rect">
            <a:avLst/>
          </a:prstGeom>
          <a:noFill/>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8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۷</a:t>
            </a:r>
            <a:endParaRPr kumimoji="0" lang="en-GB" sz="18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sp>
        <p:nvSpPr>
          <p:cNvPr id="63" name="TextBox 62">
            <a:extLst>
              <a:ext uri="{FF2B5EF4-FFF2-40B4-BE49-F238E27FC236}">
                <a16:creationId xmlns:a16="http://schemas.microsoft.com/office/drawing/2014/main" id="{3FD31B9A-6314-F44C-0C4C-39BE1C989DCF}"/>
              </a:ext>
            </a:extLst>
          </p:cNvPr>
          <p:cNvSpPr txBox="1"/>
          <p:nvPr/>
        </p:nvSpPr>
        <p:spPr>
          <a:xfrm>
            <a:off x="3642092" y="5378067"/>
            <a:ext cx="5950746" cy="384721"/>
          </a:xfrm>
          <a:prstGeom prst="rect">
            <a:avLst/>
          </a:prstGeom>
          <a:noFill/>
        </p:spPr>
        <p:txBody>
          <a:bodyPr wrap="square">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0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کندی یا پیچیدگی حاکمیت داخلی که فرصت را از دست می‌دهد</a:t>
            </a:r>
          </a:p>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تکرار در ۳ کار مستقیم، در ۲ پرسونا</a:t>
            </a:r>
            <a:endParaRPr kumimoji="0" lang="en-US"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endParaRPr>
          </a:p>
        </p:txBody>
      </p:sp>
      <p:sp>
        <p:nvSpPr>
          <p:cNvPr id="65" name="Rectangle: Rounded Corners 64">
            <a:extLst>
              <a:ext uri="{FF2B5EF4-FFF2-40B4-BE49-F238E27FC236}">
                <a16:creationId xmlns:a16="http://schemas.microsoft.com/office/drawing/2014/main" id="{C4C85394-8C5A-BB1A-38EF-79D769AEE347}"/>
              </a:ext>
            </a:extLst>
          </p:cNvPr>
          <p:cNvSpPr/>
          <p:nvPr/>
        </p:nvSpPr>
        <p:spPr>
          <a:xfrm>
            <a:off x="2336427" y="5467510"/>
            <a:ext cx="1562624" cy="190447"/>
          </a:xfrm>
          <a:prstGeom prst="roundRect">
            <a:avLst>
              <a:gd name="adj" fmla="val 50000"/>
            </a:avLst>
          </a:prstGeom>
          <a:solidFill>
            <a:srgbClr val="F0BE0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66" name="Rectangle: Top Corners Rounded 65">
            <a:extLst>
              <a:ext uri="{FF2B5EF4-FFF2-40B4-BE49-F238E27FC236}">
                <a16:creationId xmlns:a16="http://schemas.microsoft.com/office/drawing/2014/main" id="{9A136CF6-BCB5-1D13-79FE-D6D01FCFF0C8}"/>
              </a:ext>
            </a:extLst>
          </p:cNvPr>
          <p:cNvSpPr/>
          <p:nvPr/>
        </p:nvSpPr>
        <p:spPr>
          <a:xfrm rot="5400000">
            <a:off x="3395065" y="5153971"/>
            <a:ext cx="190447" cy="817523"/>
          </a:xfrm>
          <a:prstGeom prst="round2SameRect">
            <a:avLst>
              <a:gd name="adj1" fmla="val 50000"/>
              <a:gd name="adj2" fmla="val 0"/>
            </a:avLst>
          </a:prstGeom>
          <a:solidFill>
            <a:srgbClr val="1E27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Tree>
    <p:extLst>
      <p:ext uri="{BB962C8B-B14F-4D97-AF65-F5344CB8AC3E}">
        <p14:creationId xmlns:p14="http://schemas.microsoft.com/office/powerpoint/2010/main" val="298056085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9CE291-17E1-4110-F370-3DB03CCAEF7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716124F-CE67-2E32-AAE0-37BE4F9C1FD0}"/>
              </a:ext>
            </a:extLst>
          </p:cNvPr>
          <p:cNvSpPr>
            <a:spLocks noGrp="1"/>
          </p:cNvSpPr>
          <p:nvPr>
            <p:ph type="body" sz="quarter" idx="10"/>
          </p:nvPr>
        </p:nvSpPr>
        <p:spPr/>
        <p:txBody>
          <a:bodyPr/>
          <a:lstStyle/>
          <a:p>
            <a:r>
              <a:rPr lang="fa-IR" dirty="0"/>
              <a:t>-</a:t>
            </a:r>
          </a:p>
          <a:p>
            <a:endParaRPr lang="en-GB" dirty="0"/>
          </a:p>
        </p:txBody>
      </p:sp>
      <p:sp>
        <p:nvSpPr>
          <p:cNvPr id="3" name="Text Placeholder 2">
            <a:extLst>
              <a:ext uri="{FF2B5EF4-FFF2-40B4-BE49-F238E27FC236}">
                <a16:creationId xmlns:a16="http://schemas.microsoft.com/office/drawing/2014/main" id="{F39ED477-7028-86A5-7A4B-B4ACFFBA31E7}"/>
              </a:ext>
            </a:extLst>
          </p:cNvPr>
          <p:cNvSpPr>
            <a:spLocks noGrp="1"/>
          </p:cNvSpPr>
          <p:nvPr>
            <p:ph type="body" sz="quarter" idx="12"/>
          </p:nvPr>
        </p:nvSpPr>
        <p:spPr/>
        <p:txBody>
          <a:bodyPr/>
          <a:lstStyle/>
          <a:p>
            <a:r>
              <a:rPr lang="fa-IR" dirty="0"/>
              <a:t>تحلیل منافع</a:t>
            </a:r>
          </a:p>
          <a:p>
            <a:r>
              <a:rPr lang="fa-IR" sz="1200" b="0" dirty="0">
                <a:solidFill>
                  <a:schemeClr val="tx1">
                    <a:lumMod val="50000"/>
                    <a:lumOff val="50000"/>
                  </a:schemeClr>
                </a:solidFill>
              </a:rPr>
              <a:t>مهم‌ترین نتایج و ارزش‌های مورد انتظار مشتریان در صورت حل موفقیت‌آمیز کارها</a:t>
            </a:r>
          </a:p>
        </p:txBody>
      </p:sp>
      <p:sp>
        <p:nvSpPr>
          <p:cNvPr id="4" name="Rectangle: Rounded Corners 3">
            <a:extLst>
              <a:ext uri="{FF2B5EF4-FFF2-40B4-BE49-F238E27FC236}">
                <a16:creationId xmlns:a16="http://schemas.microsoft.com/office/drawing/2014/main" id="{EAB30D57-9712-1A31-16B1-D50D1522FE6A}"/>
              </a:ext>
            </a:extLst>
          </p:cNvPr>
          <p:cNvSpPr/>
          <p:nvPr/>
        </p:nvSpPr>
        <p:spPr>
          <a:xfrm>
            <a:off x="1582088" y="1336875"/>
            <a:ext cx="8538874" cy="557784"/>
          </a:xfrm>
          <a:prstGeom prst="roundRect">
            <a:avLst>
              <a:gd name="adj" fmla="val 50000"/>
            </a:avLst>
          </a:prstGeom>
          <a:solidFill>
            <a:schemeClr val="bg1">
              <a:lumMod val="95000"/>
              <a:alpha val="34000"/>
            </a:schemeClr>
          </a:solidFill>
          <a:ln w="3175">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1" name="Flowchart: Connector 10">
            <a:extLst>
              <a:ext uri="{FF2B5EF4-FFF2-40B4-BE49-F238E27FC236}">
                <a16:creationId xmlns:a16="http://schemas.microsoft.com/office/drawing/2014/main" id="{8BC3EA60-8295-F563-F71B-B9985C017C1C}"/>
              </a:ext>
            </a:extLst>
          </p:cNvPr>
          <p:cNvSpPr/>
          <p:nvPr/>
        </p:nvSpPr>
        <p:spPr>
          <a:xfrm>
            <a:off x="9592838" y="1351705"/>
            <a:ext cx="528124" cy="528124"/>
          </a:xfrm>
          <a:prstGeom prst="flowChartConnector">
            <a:avLst/>
          </a:prstGeom>
          <a:solidFill>
            <a:srgbClr val="1E27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36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sp>
        <p:nvSpPr>
          <p:cNvPr id="12" name="TextBox 11">
            <a:extLst>
              <a:ext uri="{FF2B5EF4-FFF2-40B4-BE49-F238E27FC236}">
                <a16:creationId xmlns:a16="http://schemas.microsoft.com/office/drawing/2014/main" id="{5E8DA7AE-906A-B0C9-6944-BD5D5E0FDCDC}"/>
              </a:ext>
            </a:extLst>
          </p:cNvPr>
          <p:cNvSpPr txBox="1"/>
          <p:nvPr/>
        </p:nvSpPr>
        <p:spPr>
          <a:xfrm>
            <a:off x="9630323" y="1431101"/>
            <a:ext cx="453154" cy="369332"/>
          </a:xfrm>
          <a:prstGeom prst="rect">
            <a:avLst/>
          </a:prstGeom>
          <a:noFill/>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8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۱</a:t>
            </a:r>
            <a:endParaRPr kumimoji="0" lang="en-GB" sz="18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sp>
        <p:nvSpPr>
          <p:cNvPr id="14" name="TextBox 13">
            <a:extLst>
              <a:ext uri="{FF2B5EF4-FFF2-40B4-BE49-F238E27FC236}">
                <a16:creationId xmlns:a16="http://schemas.microsoft.com/office/drawing/2014/main" id="{8BF7854A-EADB-0267-DE73-C5F2C9394BD1}"/>
              </a:ext>
            </a:extLst>
          </p:cNvPr>
          <p:cNvSpPr txBox="1"/>
          <p:nvPr/>
        </p:nvSpPr>
        <p:spPr>
          <a:xfrm>
            <a:off x="3642092" y="1431101"/>
            <a:ext cx="5950746" cy="384721"/>
          </a:xfrm>
          <a:prstGeom prst="rect">
            <a:avLst/>
          </a:prstGeom>
          <a:noFill/>
        </p:spPr>
        <p:txBody>
          <a:bodyPr wrap="square">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0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اطمینان‌خاطر و کاهش ریسک مالی/حقوقی/شهرتی</a:t>
            </a:r>
          </a:p>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مهم‌ترین منفعت مشترک در همه پرسوناها</a:t>
            </a:r>
            <a:endParaRPr kumimoji="0" lang="en-US"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endParaRPr>
          </a:p>
        </p:txBody>
      </p:sp>
      <p:sp>
        <p:nvSpPr>
          <p:cNvPr id="15" name="Rectangle: Rounded Corners 14">
            <a:extLst>
              <a:ext uri="{FF2B5EF4-FFF2-40B4-BE49-F238E27FC236}">
                <a16:creationId xmlns:a16="http://schemas.microsoft.com/office/drawing/2014/main" id="{81ED36B3-7773-2C87-66A9-89DF5791968C}"/>
              </a:ext>
            </a:extLst>
          </p:cNvPr>
          <p:cNvSpPr/>
          <p:nvPr/>
        </p:nvSpPr>
        <p:spPr>
          <a:xfrm>
            <a:off x="2336427" y="1520544"/>
            <a:ext cx="1562624" cy="190447"/>
          </a:xfrm>
          <a:prstGeom prst="roundRect">
            <a:avLst>
              <a:gd name="adj" fmla="val 50000"/>
            </a:avLst>
          </a:prstGeom>
          <a:solidFill>
            <a:srgbClr val="F0BE0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6" name="Rectangle: Top Corners Rounded 15">
            <a:extLst>
              <a:ext uri="{FF2B5EF4-FFF2-40B4-BE49-F238E27FC236}">
                <a16:creationId xmlns:a16="http://schemas.microsoft.com/office/drawing/2014/main" id="{1C807014-0209-3130-B5AC-3DF4DF7ED98E}"/>
              </a:ext>
            </a:extLst>
          </p:cNvPr>
          <p:cNvSpPr/>
          <p:nvPr/>
        </p:nvSpPr>
        <p:spPr>
          <a:xfrm rot="5400000">
            <a:off x="3068168" y="880107"/>
            <a:ext cx="190447" cy="1471319"/>
          </a:xfrm>
          <a:prstGeom prst="round2SameRect">
            <a:avLst>
              <a:gd name="adj1" fmla="val 50000"/>
              <a:gd name="adj2" fmla="val 0"/>
            </a:avLst>
          </a:prstGeom>
          <a:solidFill>
            <a:srgbClr val="1E27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Calibri"/>
            </a:endParaRPr>
          </a:p>
        </p:txBody>
      </p:sp>
      <p:sp>
        <p:nvSpPr>
          <p:cNvPr id="20" name="Rectangle: Rounded Corners 19">
            <a:extLst>
              <a:ext uri="{FF2B5EF4-FFF2-40B4-BE49-F238E27FC236}">
                <a16:creationId xmlns:a16="http://schemas.microsoft.com/office/drawing/2014/main" id="{8E37EFE7-E714-A3D7-A548-EDF4B9759BE7}"/>
              </a:ext>
            </a:extLst>
          </p:cNvPr>
          <p:cNvSpPr/>
          <p:nvPr/>
        </p:nvSpPr>
        <p:spPr>
          <a:xfrm>
            <a:off x="1582088" y="1994703"/>
            <a:ext cx="8538874" cy="557784"/>
          </a:xfrm>
          <a:prstGeom prst="roundRect">
            <a:avLst>
              <a:gd name="adj" fmla="val 50000"/>
            </a:avLst>
          </a:prstGeom>
          <a:solidFill>
            <a:schemeClr val="bg1">
              <a:lumMod val="95000"/>
              <a:alpha val="34000"/>
            </a:schemeClr>
          </a:solidFill>
          <a:ln w="3175">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21" name="Flowchart: Connector 20">
            <a:extLst>
              <a:ext uri="{FF2B5EF4-FFF2-40B4-BE49-F238E27FC236}">
                <a16:creationId xmlns:a16="http://schemas.microsoft.com/office/drawing/2014/main" id="{B72F7484-056C-5119-DB3C-4A6D2BBA985F}"/>
              </a:ext>
            </a:extLst>
          </p:cNvPr>
          <p:cNvSpPr/>
          <p:nvPr/>
        </p:nvSpPr>
        <p:spPr>
          <a:xfrm>
            <a:off x="9592838" y="2009533"/>
            <a:ext cx="528124" cy="528124"/>
          </a:xfrm>
          <a:prstGeom prst="flowChartConnector">
            <a:avLst/>
          </a:prstGeom>
          <a:solidFill>
            <a:srgbClr val="1E27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36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sp>
        <p:nvSpPr>
          <p:cNvPr id="22" name="TextBox 21">
            <a:extLst>
              <a:ext uri="{FF2B5EF4-FFF2-40B4-BE49-F238E27FC236}">
                <a16:creationId xmlns:a16="http://schemas.microsoft.com/office/drawing/2014/main" id="{8600606B-CEDE-3A0E-4D79-8D143740EE88}"/>
              </a:ext>
            </a:extLst>
          </p:cNvPr>
          <p:cNvSpPr txBox="1"/>
          <p:nvPr/>
        </p:nvSpPr>
        <p:spPr>
          <a:xfrm>
            <a:off x="9630323" y="2088929"/>
            <a:ext cx="453154" cy="369332"/>
          </a:xfrm>
          <a:prstGeom prst="rect">
            <a:avLst/>
          </a:prstGeom>
          <a:noFill/>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8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۲</a:t>
            </a:r>
            <a:endParaRPr kumimoji="0" lang="en-GB" sz="18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sp>
        <p:nvSpPr>
          <p:cNvPr id="23" name="TextBox 22">
            <a:extLst>
              <a:ext uri="{FF2B5EF4-FFF2-40B4-BE49-F238E27FC236}">
                <a16:creationId xmlns:a16="http://schemas.microsoft.com/office/drawing/2014/main" id="{4329B7B2-B181-F9F4-1F17-18BE3373B3B4}"/>
              </a:ext>
            </a:extLst>
          </p:cNvPr>
          <p:cNvSpPr txBox="1"/>
          <p:nvPr/>
        </p:nvSpPr>
        <p:spPr>
          <a:xfrm>
            <a:off x="3642092" y="2088929"/>
            <a:ext cx="5950746" cy="384721"/>
          </a:xfrm>
          <a:prstGeom prst="rect">
            <a:avLst/>
          </a:prstGeom>
          <a:noFill/>
        </p:spPr>
        <p:txBody>
          <a:bodyPr wrap="square">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0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دسترسی به فرصت، شریک یا سرمایه باکیفیت و غیرقابل‌دسترس از کانال‌های معمول</a:t>
            </a:r>
          </a:p>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پرسوناهای ۱، ۲، ۵، ۶</a:t>
            </a:r>
            <a:endParaRPr kumimoji="0" lang="fa-IR"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endParaRPr>
          </a:p>
        </p:txBody>
      </p:sp>
      <p:sp>
        <p:nvSpPr>
          <p:cNvPr id="25" name="Rectangle: Rounded Corners 24">
            <a:extLst>
              <a:ext uri="{FF2B5EF4-FFF2-40B4-BE49-F238E27FC236}">
                <a16:creationId xmlns:a16="http://schemas.microsoft.com/office/drawing/2014/main" id="{7889F769-B8DF-7033-199B-2B5710C6687F}"/>
              </a:ext>
            </a:extLst>
          </p:cNvPr>
          <p:cNvSpPr/>
          <p:nvPr/>
        </p:nvSpPr>
        <p:spPr>
          <a:xfrm>
            <a:off x="2336427" y="2178372"/>
            <a:ext cx="1562624" cy="190447"/>
          </a:xfrm>
          <a:prstGeom prst="roundRect">
            <a:avLst>
              <a:gd name="adj" fmla="val 50000"/>
            </a:avLst>
          </a:prstGeom>
          <a:solidFill>
            <a:srgbClr val="F0BE0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26" name="Rectangle: Top Corners Rounded 25">
            <a:extLst>
              <a:ext uri="{FF2B5EF4-FFF2-40B4-BE49-F238E27FC236}">
                <a16:creationId xmlns:a16="http://schemas.microsoft.com/office/drawing/2014/main" id="{85809086-D50C-C655-17F6-D5C9CABB9A07}"/>
              </a:ext>
            </a:extLst>
          </p:cNvPr>
          <p:cNvSpPr/>
          <p:nvPr/>
        </p:nvSpPr>
        <p:spPr>
          <a:xfrm rot="5400000">
            <a:off x="3119964" y="1589735"/>
            <a:ext cx="190447" cy="1367722"/>
          </a:xfrm>
          <a:prstGeom prst="round2SameRect">
            <a:avLst>
              <a:gd name="adj1" fmla="val 50000"/>
              <a:gd name="adj2" fmla="val 0"/>
            </a:avLst>
          </a:prstGeom>
          <a:solidFill>
            <a:srgbClr val="1E27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28" name="Rectangle: Rounded Corners 27">
            <a:extLst>
              <a:ext uri="{FF2B5EF4-FFF2-40B4-BE49-F238E27FC236}">
                <a16:creationId xmlns:a16="http://schemas.microsoft.com/office/drawing/2014/main" id="{C31A8EA0-13CA-0C6E-AA51-8C0275528DF5}"/>
              </a:ext>
            </a:extLst>
          </p:cNvPr>
          <p:cNvSpPr/>
          <p:nvPr/>
        </p:nvSpPr>
        <p:spPr>
          <a:xfrm>
            <a:off x="1582088" y="2652531"/>
            <a:ext cx="8538874" cy="557784"/>
          </a:xfrm>
          <a:prstGeom prst="roundRect">
            <a:avLst>
              <a:gd name="adj" fmla="val 50000"/>
            </a:avLst>
          </a:prstGeom>
          <a:solidFill>
            <a:schemeClr val="bg1">
              <a:lumMod val="95000"/>
              <a:alpha val="34000"/>
            </a:schemeClr>
          </a:solidFill>
          <a:ln w="3175">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29" name="Flowchart: Connector 28">
            <a:extLst>
              <a:ext uri="{FF2B5EF4-FFF2-40B4-BE49-F238E27FC236}">
                <a16:creationId xmlns:a16="http://schemas.microsoft.com/office/drawing/2014/main" id="{147BAD49-F032-7449-D268-70CCB042FC00}"/>
              </a:ext>
            </a:extLst>
          </p:cNvPr>
          <p:cNvSpPr/>
          <p:nvPr/>
        </p:nvSpPr>
        <p:spPr>
          <a:xfrm>
            <a:off x="9592838" y="2667361"/>
            <a:ext cx="528124" cy="528124"/>
          </a:xfrm>
          <a:prstGeom prst="flowChartConnector">
            <a:avLst/>
          </a:prstGeom>
          <a:solidFill>
            <a:srgbClr val="1E27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36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sp>
        <p:nvSpPr>
          <p:cNvPr id="30" name="TextBox 29">
            <a:extLst>
              <a:ext uri="{FF2B5EF4-FFF2-40B4-BE49-F238E27FC236}">
                <a16:creationId xmlns:a16="http://schemas.microsoft.com/office/drawing/2014/main" id="{4DD05D67-35C1-6650-0742-E0FC1204B356}"/>
              </a:ext>
            </a:extLst>
          </p:cNvPr>
          <p:cNvSpPr txBox="1"/>
          <p:nvPr/>
        </p:nvSpPr>
        <p:spPr>
          <a:xfrm>
            <a:off x="9630323" y="2746757"/>
            <a:ext cx="453154" cy="369332"/>
          </a:xfrm>
          <a:prstGeom prst="rect">
            <a:avLst/>
          </a:prstGeom>
          <a:noFill/>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8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۳</a:t>
            </a:r>
            <a:endParaRPr kumimoji="0" lang="en-GB" sz="18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sp>
        <p:nvSpPr>
          <p:cNvPr id="31" name="TextBox 30">
            <a:extLst>
              <a:ext uri="{FF2B5EF4-FFF2-40B4-BE49-F238E27FC236}">
                <a16:creationId xmlns:a16="http://schemas.microsoft.com/office/drawing/2014/main" id="{1326193D-38D2-B1F2-88ED-4A966EF76DF5}"/>
              </a:ext>
            </a:extLst>
          </p:cNvPr>
          <p:cNvSpPr txBox="1"/>
          <p:nvPr/>
        </p:nvSpPr>
        <p:spPr>
          <a:xfrm>
            <a:off x="3642092" y="2746757"/>
            <a:ext cx="5950746" cy="384721"/>
          </a:xfrm>
          <a:prstGeom prst="rect">
            <a:avLst/>
          </a:prstGeom>
          <a:noFill/>
        </p:spPr>
        <p:txBody>
          <a:bodyPr wrap="square">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0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سرعت و چابکی بیشتر در تصمیم‌گیری و اجرا</a:t>
            </a:r>
          </a:p>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پرسوناهای ۴، ۵</a:t>
            </a:r>
            <a:endParaRPr kumimoji="0" lang="en-US" sz="7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endParaRPr>
          </a:p>
        </p:txBody>
      </p:sp>
      <p:sp>
        <p:nvSpPr>
          <p:cNvPr id="33" name="Rectangle: Rounded Corners 32">
            <a:extLst>
              <a:ext uri="{FF2B5EF4-FFF2-40B4-BE49-F238E27FC236}">
                <a16:creationId xmlns:a16="http://schemas.microsoft.com/office/drawing/2014/main" id="{2C89C8C5-B36E-9CD6-E235-3B7060B96F02}"/>
              </a:ext>
            </a:extLst>
          </p:cNvPr>
          <p:cNvSpPr/>
          <p:nvPr/>
        </p:nvSpPr>
        <p:spPr>
          <a:xfrm>
            <a:off x="2336427" y="2836200"/>
            <a:ext cx="1562624" cy="190447"/>
          </a:xfrm>
          <a:prstGeom prst="roundRect">
            <a:avLst>
              <a:gd name="adj" fmla="val 50000"/>
            </a:avLst>
          </a:prstGeom>
          <a:solidFill>
            <a:srgbClr val="F0BE0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34" name="Rectangle: Top Corners Rounded 33">
            <a:extLst>
              <a:ext uri="{FF2B5EF4-FFF2-40B4-BE49-F238E27FC236}">
                <a16:creationId xmlns:a16="http://schemas.microsoft.com/office/drawing/2014/main" id="{C59938EC-6B8F-9E7D-81D4-010E31E0E77B}"/>
              </a:ext>
            </a:extLst>
          </p:cNvPr>
          <p:cNvSpPr/>
          <p:nvPr/>
        </p:nvSpPr>
        <p:spPr>
          <a:xfrm rot="5400000">
            <a:off x="3240758" y="2368357"/>
            <a:ext cx="190447" cy="1126134"/>
          </a:xfrm>
          <a:prstGeom prst="round2SameRect">
            <a:avLst>
              <a:gd name="adj1" fmla="val 50000"/>
              <a:gd name="adj2" fmla="val 0"/>
            </a:avLst>
          </a:prstGeom>
          <a:solidFill>
            <a:srgbClr val="1E27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36" name="Rectangle: Rounded Corners 35">
            <a:extLst>
              <a:ext uri="{FF2B5EF4-FFF2-40B4-BE49-F238E27FC236}">
                <a16:creationId xmlns:a16="http://schemas.microsoft.com/office/drawing/2014/main" id="{019DBB51-5A43-99A1-4E88-02DF99D695AA}"/>
              </a:ext>
            </a:extLst>
          </p:cNvPr>
          <p:cNvSpPr/>
          <p:nvPr/>
        </p:nvSpPr>
        <p:spPr>
          <a:xfrm>
            <a:off x="1582088" y="3310359"/>
            <a:ext cx="8538874" cy="557784"/>
          </a:xfrm>
          <a:prstGeom prst="roundRect">
            <a:avLst>
              <a:gd name="adj" fmla="val 50000"/>
            </a:avLst>
          </a:prstGeom>
          <a:solidFill>
            <a:schemeClr val="bg1">
              <a:lumMod val="95000"/>
              <a:alpha val="34000"/>
            </a:schemeClr>
          </a:solidFill>
          <a:ln w="3175">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37" name="Flowchart: Connector 36">
            <a:extLst>
              <a:ext uri="{FF2B5EF4-FFF2-40B4-BE49-F238E27FC236}">
                <a16:creationId xmlns:a16="http://schemas.microsoft.com/office/drawing/2014/main" id="{F56F3E2E-CA91-DBEC-8516-9752DEB8B867}"/>
              </a:ext>
            </a:extLst>
          </p:cNvPr>
          <p:cNvSpPr/>
          <p:nvPr/>
        </p:nvSpPr>
        <p:spPr>
          <a:xfrm>
            <a:off x="9592838" y="3325189"/>
            <a:ext cx="528124" cy="528124"/>
          </a:xfrm>
          <a:prstGeom prst="flowChartConnector">
            <a:avLst/>
          </a:prstGeom>
          <a:solidFill>
            <a:srgbClr val="1E27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36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sp>
        <p:nvSpPr>
          <p:cNvPr id="38" name="TextBox 37">
            <a:extLst>
              <a:ext uri="{FF2B5EF4-FFF2-40B4-BE49-F238E27FC236}">
                <a16:creationId xmlns:a16="http://schemas.microsoft.com/office/drawing/2014/main" id="{44B0C24F-6F03-901F-E56B-4E1EB07A491A}"/>
              </a:ext>
            </a:extLst>
          </p:cNvPr>
          <p:cNvSpPr txBox="1"/>
          <p:nvPr/>
        </p:nvSpPr>
        <p:spPr>
          <a:xfrm>
            <a:off x="9630323" y="3404585"/>
            <a:ext cx="453154" cy="369332"/>
          </a:xfrm>
          <a:prstGeom prst="rect">
            <a:avLst/>
          </a:prstGeom>
          <a:noFill/>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8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۴</a:t>
            </a:r>
            <a:endParaRPr kumimoji="0" lang="en-GB" sz="18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sp>
        <p:nvSpPr>
          <p:cNvPr id="39" name="TextBox 38">
            <a:extLst>
              <a:ext uri="{FF2B5EF4-FFF2-40B4-BE49-F238E27FC236}">
                <a16:creationId xmlns:a16="http://schemas.microsoft.com/office/drawing/2014/main" id="{5B75D3A9-DFAC-9E90-24E2-7CC4F2946B95}"/>
              </a:ext>
            </a:extLst>
          </p:cNvPr>
          <p:cNvSpPr txBox="1"/>
          <p:nvPr/>
        </p:nvSpPr>
        <p:spPr>
          <a:xfrm>
            <a:off x="3642092" y="3404585"/>
            <a:ext cx="5950746" cy="384721"/>
          </a:xfrm>
          <a:prstGeom prst="rect">
            <a:avLst/>
          </a:prstGeom>
          <a:noFill/>
        </p:spPr>
        <p:txBody>
          <a:bodyPr wrap="square">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0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اعتبار و پذیرش بیشتر نزد طرف مقابل</a:t>
            </a:r>
          </a:p>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پرسوناهای ۱، ۳</a:t>
            </a:r>
          </a:p>
        </p:txBody>
      </p:sp>
      <p:sp>
        <p:nvSpPr>
          <p:cNvPr id="41" name="Rectangle: Rounded Corners 40">
            <a:extLst>
              <a:ext uri="{FF2B5EF4-FFF2-40B4-BE49-F238E27FC236}">
                <a16:creationId xmlns:a16="http://schemas.microsoft.com/office/drawing/2014/main" id="{F5A50830-C98A-07AE-0054-1CC63FE6E63E}"/>
              </a:ext>
            </a:extLst>
          </p:cNvPr>
          <p:cNvSpPr/>
          <p:nvPr/>
        </p:nvSpPr>
        <p:spPr>
          <a:xfrm>
            <a:off x="2336427" y="3494028"/>
            <a:ext cx="1562624" cy="190447"/>
          </a:xfrm>
          <a:prstGeom prst="roundRect">
            <a:avLst>
              <a:gd name="adj" fmla="val 50000"/>
            </a:avLst>
          </a:prstGeom>
          <a:solidFill>
            <a:srgbClr val="F0BE0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2" name="Rectangle: Top Corners Rounded 41">
            <a:extLst>
              <a:ext uri="{FF2B5EF4-FFF2-40B4-BE49-F238E27FC236}">
                <a16:creationId xmlns:a16="http://schemas.microsoft.com/office/drawing/2014/main" id="{E1FC1BEE-19B3-F9BD-A7F0-A7A2DCF882D1}"/>
              </a:ext>
            </a:extLst>
          </p:cNvPr>
          <p:cNvSpPr/>
          <p:nvPr/>
        </p:nvSpPr>
        <p:spPr>
          <a:xfrm rot="5400000">
            <a:off x="3288764" y="3074192"/>
            <a:ext cx="190447" cy="1030120"/>
          </a:xfrm>
          <a:prstGeom prst="round2SameRect">
            <a:avLst>
              <a:gd name="adj1" fmla="val 50000"/>
              <a:gd name="adj2" fmla="val 0"/>
            </a:avLst>
          </a:prstGeom>
          <a:solidFill>
            <a:srgbClr val="1E27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4" name="Rectangle: Rounded Corners 43">
            <a:extLst>
              <a:ext uri="{FF2B5EF4-FFF2-40B4-BE49-F238E27FC236}">
                <a16:creationId xmlns:a16="http://schemas.microsoft.com/office/drawing/2014/main" id="{43F62FD4-26FB-FB98-48FC-1CB6DC91120F}"/>
              </a:ext>
            </a:extLst>
          </p:cNvPr>
          <p:cNvSpPr/>
          <p:nvPr/>
        </p:nvSpPr>
        <p:spPr>
          <a:xfrm>
            <a:off x="1582088" y="3968187"/>
            <a:ext cx="8538874" cy="557784"/>
          </a:xfrm>
          <a:prstGeom prst="roundRect">
            <a:avLst>
              <a:gd name="adj" fmla="val 50000"/>
            </a:avLst>
          </a:prstGeom>
          <a:solidFill>
            <a:schemeClr val="bg1">
              <a:lumMod val="95000"/>
              <a:alpha val="34000"/>
            </a:schemeClr>
          </a:solidFill>
          <a:ln w="3175">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5" name="Flowchart: Connector 44">
            <a:extLst>
              <a:ext uri="{FF2B5EF4-FFF2-40B4-BE49-F238E27FC236}">
                <a16:creationId xmlns:a16="http://schemas.microsoft.com/office/drawing/2014/main" id="{2CC957F5-A0C3-434E-A14E-93EF9B75E519}"/>
              </a:ext>
            </a:extLst>
          </p:cNvPr>
          <p:cNvSpPr/>
          <p:nvPr/>
        </p:nvSpPr>
        <p:spPr>
          <a:xfrm>
            <a:off x="9592838" y="3983017"/>
            <a:ext cx="528124" cy="528124"/>
          </a:xfrm>
          <a:prstGeom prst="flowChartConnector">
            <a:avLst/>
          </a:prstGeom>
          <a:solidFill>
            <a:srgbClr val="1E27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36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sp>
        <p:nvSpPr>
          <p:cNvPr id="46" name="TextBox 45">
            <a:extLst>
              <a:ext uri="{FF2B5EF4-FFF2-40B4-BE49-F238E27FC236}">
                <a16:creationId xmlns:a16="http://schemas.microsoft.com/office/drawing/2014/main" id="{EFEDDF22-B34B-5DF1-137A-ADB214FA535E}"/>
              </a:ext>
            </a:extLst>
          </p:cNvPr>
          <p:cNvSpPr txBox="1"/>
          <p:nvPr/>
        </p:nvSpPr>
        <p:spPr>
          <a:xfrm>
            <a:off x="9630323" y="4062413"/>
            <a:ext cx="453154" cy="369332"/>
          </a:xfrm>
          <a:prstGeom prst="rect">
            <a:avLst/>
          </a:prstGeom>
          <a:noFill/>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8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۵</a:t>
            </a:r>
            <a:endParaRPr kumimoji="0" lang="en-GB" sz="18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sp>
        <p:nvSpPr>
          <p:cNvPr id="47" name="TextBox 46">
            <a:extLst>
              <a:ext uri="{FF2B5EF4-FFF2-40B4-BE49-F238E27FC236}">
                <a16:creationId xmlns:a16="http://schemas.microsoft.com/office/drawing/2014/main" id="{CCE6E3DF-AEFD-82C3-E65E-A5521B0CD70D}"/>
              </a:ext>
            </a:extLst>
          </p:cNvPr>
          <p:cNvSpPr txBox="1"/>
          <p:nvPr/>
        </p:nvSpPr>
        <p:spPr>
          <a:xfrm>
            <a:off x="3642092" y="4062413"/>
            <a:ext cx="5950746" cy="384721"/>
          </a:xfrm>
          <a:prstGeom prst="rect">
            <a:avLst/>
          </a:prstGeom>
          <a:noFill/>
        </p:spPr>
        <p:txBody>
          <a:bodyPr wrap="square">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0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کنترل و شفافیت مستمر بر روند اجرا یا عملکرد</a:t>
            </a:r>
          </a:p>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پرسوناهای ۲، ۶</a:t>
            </a:r>
            <a:endParaRPr kumimoji="0" lang="en-US" sz="7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endParaRPr>
          </a:p>
        </p:txBody>
      </p:sp>
      <p:sp>
        <p:nvSpPr>
          <p:cNvPr id="49" name="Rectangle: Rounded Corners 48">
            <a:extLst>
              <a:ext uri="{FF2B5EF4-FFF2-40B4-BE49-F238E27FC236}">
                <a16:creationId xmlns:a16="http://schemas.microsoft.com/office/drawing/2014/main" id="{B5015456-4D72-045B-64DD-B96457EFAC8C}"/>
              </a:ext>
            </a:extLst>
          </p:cNvPr>
          <p:cNvSpPr/>
          <p:nvPr/>
        </p:nvSpPr>
        <p:spPr>
          <a:xfrm>
            <a:off x="2336427" y="4151856"/>
            <a:ext cx="1562624" cy="190447"/>
          </a:xfrm>
          <a:prstGeom prst="roundRect">
            <a:avLst>
              <a:gd name="adj" fmla="val 50000"/>
            </a:avLst>
          </a:prstGeom>
          <a:solidFill>
            <a:srgbClr val="F0BE0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50" name="Rectangle: Top Corners Rounded 49">
            <a:extLst>
              <a:ext uri="{FF2B5EF4-FFF2-40B4-BE49-F238E27FC236}">
                <a16:creationId xmlns:a16="http://schemas.microsoft.com/office/drawing/2014/main" id="{63ACC6F0-47D2-CAF0-C018-7D81684F4608}"/>
              </a:ext>
            </a:extLst>
          </p:cNvPr>
          <p:cNvSpPr/>
          <p:nvPr/>
        </p:nvSpPr>
        <p:spPr>
          <a:xfrm rot="5400000">
            <a:off x="3359714" y="3802970"/>
            <a:ext cx="190447" cy="888219"/>
          </a:xfrm>
          <a:prstGeom prst="round2SameRect">
            <a:avLst>
              <a:gd name="adj1" fmla="val 50000"/>
              <a:gd name="adj2" fmla="val 0"/>
            </a:avLst>
          </a:prstGeom>
          <a:solidFill>
            <a:srgbClr val="1E27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52" name="Rectangle: Rounded Corners 51">
            <a:extLst>
              <a:ext uri="{FF2B5EF4-FFF2-40B4-BE49-F238E27FC236}">
                <a16:creationId xmlns:a16="http://schemas.microsoft.com/office/drawing/2014/main" id="{0FF6B386-91B3-3E7B-AAFC-54958C3C87AB}"/>
              </a:ext>
            </a:extLst>
          </p:cNvPr>
          <p:cNvSpPr/>
          <p:nvPr/>
        </p:nvSpPr>
        <p:spPr>
          <a:xfrm>
            <a:off x="1582088" y="4626015"/>
            <a:ext cx="8538874" cy="557784"/>
          </a:xfrm>
          <a:prstGeom prst="roundRect">
            <a:avLst>
              <a:gd name="adj" fmla="val 50000"/>
            </a:avLst>
          </a:prstGeom>
          <a:solidFill>
            <a:schemeClr val="bg1">
              <a:lumMod val="95000"/>
              <a:alpha val="34000"/>
            </a:schemeClr>
          </a:solidFill>
          <a:ln w="3175">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53" name="Flowchart: Connector 52">
            <a:extLst>
              <a:ext uri="{FF2B5EF4-FFF2-40B4-BE49-F238E27FC236}">
                <a16:creationId xmlns:a16="http://schemas.microsoft.com/office/drawing/2014/main" id="{6F72E6B3-1B06-9662-4C58-7461B8446A81}"/>
              </a:ext>
            </a:extLst>
          </p:cNvPr>
          <p:cNvSpPr/>
          <p:nvPr/>
        </p:nvSpPr>
        <p:spPr>
          <a:xfrm>
            <a:off x="9592838" y="4640845"/>
            <a:ext cx="528124" cy="528124"/>
          </a:xfrm>
          <a:prstGeom prst="flowChartConnector">
            <a:avLst/>
          </a:prstGeom>
          <a:solidFill>
            <a:srgbClr val="1E27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36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sp>
        <p:nvSpPr>
          <p:cNvPr id="54" name="TextBox 53">
            <a:extLst>
              <a:ext uri="{FF2B5EF4-FFF2-40B4-BE49-F238E27FC236}">
                <a16:creationId xmlns:a16="http://schemas.microsoft.com/office/drawing/2014/main" id="{E4508CB4-B44D-B347-CCDD-64A53A743265}"/>
              </a:ext>
            </a:extLst>
          </p:cNvPr>
          <p:cNvSpPr txBox="1"/>
          <p:nvPr/>
        </p:nvSpPr>
        <p:spPr>
          <a:xfrm>
            <a:off x="9630323" y="4720241"/>
            <a:ext cx="453154" cy="369332"/>
          </a:xfrm>
          <a:prstGeom prst="rect">
            <a:avLst/>
          </a:prstGeom>
          <a:noFill/>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8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۶</a:t>
            </a:r>
            <a:endParaRPr kumimoji="0" lang="en-GB" sz="18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sp>
        <p:nvSpPr>
          <p:cNvPr id="55" name="TextBox 54">
            <a:extLst>
              <a:ext uri="{FF2B5EF4-FFF2-40B4-BE49-F238E27FC236}">
                <a16:creationId xmlns:a16="http://schemas.microsoft.com/office/drawing/2014/main" id="{C9EE8913-DB34-D207-96CD-4469C8E72ED2}"/>
              </a:ext>
            </a:extLst>
          </p:cNvPr>
          <p:cNvSpPr txBox="1"/>
          <p:nvPr/>
        </p:nvSpPr>
        <p:spPr>
          <a:xfrm>
            <a:off x="3642092" y="4720241"/>
            <a:ext cx="5950746" cy="400110"/>
          </a:xfrm>
          <a:prstGeom prst="rect">
            <a:avLst/>
          </a:prstGeom>
          <a:noFill/>
        </p:spPr>
        <p:txBody>
          <a:bodyPr wrap="square">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0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بازده یا ارزش متمایز نسبت به گزینه‌های متعارف</a:t>
            </a:r>
          </a:p>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0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پرسونای ۶</a:t>
            </a:r>
          </a:p>
        </p:txBody>
      </p:sp>
      <p:sp>
        <p:nvSpPr>
          <p:cNvPr id="57" name="Rectangle: Rounded Corners 56">
            <a:extLst>
              <a:ext uri="{FF2B5EF4-FFF2-40B4-BE49-F238E27FC236}">
                <a16:creationId xmlns:a16="http://schemas.microsoft.com/office/drawing/2014/main" id="{F4CFA4D5-7E88-9998-6F12-0A6F37689765}"/>
              </a:ext>
            </a:extLst>
          </p:cNvPr>
          <p:cNvSpPr/>
          <p:nvPr/>
        </p:nvSpPr>
        <p:spPr>
          <a:xfrm>
            <a:off x="2336427" y="4809684"/>
            <a:ext cx="1562624" cy="190447"/>
          </a:xfrm>
          <a:prstGeom prst="roundRect">
            <a:avLst>
              <a:gd name="adj" fmla="val 50000"/>
            </a:avLst>
          </a:prstGeom>
          <a:solidFill>
            <a:srgbClr val="F0BE0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58" name="Rectangle: Top Corners Rounded 57">
            <a:extLst>
              <a:ext uri="{FF2B5EF4-FFF2-40B4-BE49-F238E27FC236}">
                <a16:creationId xmlns:a16="http://schemas.microsoft.com/office/drawing/2014/main" id="{A57BD2C4-168B-485A-E26F-37C750ECA336}"/>
              </a:ext>
            </a:extLst>
          </p:cNvPr>
          <p:cNvSpPr/>
          <p:nvPr/>
        </p:nvSpPr>
        <p:spPr>
          <a:xfrm rot="5400000">
            <a:off x="3618051" y="4719133"/>
            <a:ext cx="190447" cy="371548"/>
          </a:xfrm>
          <a:prstGeom prst="round2SameRect">
            <a:avLst>
              <a:gd name="adj1" fmla="val 50000"/>
              <a:gd name="adj2" fmla="val 0"/>
            </a:avLst>
          </a:prstGeom>
          <a:solidFill>
            <a:srgbClr val="1E27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Tree>
    <p:extLst>
      <p:ext uri="{BB962C8B-B14F-4D97-AF65-F5344CB8AC3E}">
        <p14:creationId xmlns:p14="http://schemas.microsoft.com/office/powerpoint/2010/main" val="197356217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4816C8D-20C3-E032-B7BA-E277C5B0D99F}"/>
              </a:ext>
            </a:extLst>
          </p:cNvPr>
          <p:cNvSpPr>
            <a:spLocks noGrp="1"/>
          </p:cNvSpPr>
          <p:nvPr>
            <p:ph type="body" sz="quarter" idx="10"/>
          </p:nvPr>
        </p:nvSpPr>
        <p:spPr/>
        <p:txBody>
          <a:bodyPr/>
          <a:lstStyle/>
          <a:p>
            <a:r>
              <a:rPr lang="fa-IR" dirty="0"/>
              <a:t>-</a:t>
            </a:r>
          </a:p>
        </p:txBody>
      </p:sp>
      <p:sp>
        <p:nvSpPr>
          <p:cNvPr id="3" name="Text Placeholder 2">
            <a:extLst>
              <a:ext uri="{FF2B5EF4-FFF2-40B4-BE49-F238E27FC236}">
                <a16:creationId xmlns:a16="http://schemas.microsoft.com/office/drawing/2014/main" id="{539E6E79-C103-9C9B-01E0-8F70B45BE6DC}"/>
              </a:ext>
            </a:extLst>
          </p:cNvPr>
          <p:cNvSpPr>
            <a:spLocks noGrp="1"/>
          </p:cNvSpPr>
          <p:nvPr>
            <p:ph type="body" sz="quarter" idx="12"/>
          </p:nvPr>
        </p:nvSpPr>
        <p:spPr/>
        <p:txBody>
          <a:bodyPr/>
          <a:lstStyle/>
          <a:p>
            <a:r>
              <a:rPr lang="fa-IR" dirty="0"/>
              <a:t>ماتریس فرصت</a:t>
            </a:r>
          </a:p>
          <a:p>
            <a:r>
              <a:rPr lang="fa-IR" sz="1200" b="0" dirty="0">
                <a:solidFill>
                  <a:schemeClr val="tx1">
                    <a:lumMod val="50000"/>
                    <a:lumOff val="50000"/>
                  </a:schemeClr>
                </a:solidFill>
              </a:rPr>
              <a:t>محور افقی: اهمیت کار برای مشتری · محور عمودی: شدت دردسر / میزان نیاز برآورده‌نشده — موقعیت‌یابی کیفی بر اساس تحلیل بخش‌های پیشین</a:t>
            </a:r>
          </a:p>
        </p:txBody>
      </p:sp>
      <p:graphicFrame>
        <p:nvGraphicFramePr>
          <p:cNvPr id="4" name="Table 3">
            <a:extLst>
              <a:ext uri="{FF2B5EF4-FFF2-40B4-BE49-F238E27FC236}">
                <a16:creationId xmlns:a16="http://schemas.microsoft.com/office/drawing/2014/main" id="{DBF0F388-3827-5D37-B086-BCE0151A3ECD}"/>
              </a:ext>
            </a:extLst>
          </p:cNvPr>
          <p:cNvGraphicFramePr>
            <a:graphicFrameLocks noGrp="1"/>
          </p:cNvGraphicFramePr>
          <p:nvPr/>
        </p:nvGraphicFramePr>
        <p:xfrm>
          <a:off x="5989097" y="1469161"/>
          <a:ext cx="4726417" cy="3884955"/>
        </p:xfrm>
        <a:graphic>
          <a:graphicData uri="http://schemas.openxmlformats.org/drawingml/2006/table">
            <a:tbl>
              <a:tblPr firstRow="1" bandRow="1">
                <a:tableStyleId>{5C22544A-7EE6-4342-B048-85BDC9FD1C3A}</a:tableStyleId>
              </a:tblPr>
              <a:tblGrid>
                <a:gridCol w="2461780">
                  <a:extLst>
                    <a:ext uri="{9D8B030D-6E8A-4147-A177-3AD203B41FA5}">
                      <a16:colId xmlns:a16="http://schemas.microsoft.com/office/drawing/2014/main" val="1914643158"/>
                    </a:ext>
                  </a:extLst>
                </a:gridCol>
                <a:gridCol w="1918048">
                  <a:extLst>
                    <a:ext uri="{9D8B030D-6E8A-4147-A177-3AD203B41FA5}">
                      <a16:colId xmlns:a16="http://schemas.microsoft.com/office/drawing/2014/main" val="2521216672"/>
                    </a:ext>
                  </a:extLst>
                </a:gridCol>
                <a:gridCol w="346589">
                  <a:extLst>
                    <a:ext uri="{9D8B030D-6E8A-4147-A177-3AD203B41FA5}">
                      <a16:colId xmlns:a16="http://schemas.microsoft.com/office/drawing/2014/main" val="3880314784"/>
                    </a:ext>
                  </a:extLst>
                </a:gridCol>
              </a:tblGrid>
              <a:tr h="258997">
                <a:tc>
                  <a:txBody>
                    <a:bodyPr/>
                    <a:lstStyle/>
                    <a:p>
                      <a:pPr algn="ctr" rtl="1"/>
                      <a:r>
                        <a:rPr lang="en-US" sz="1000" b="1" i="0" kern="1200" dirty="0" err="1">
                          <a:solidFill>
                            <a:schemeClr val="lt1"/>
                          </a:solidFill>
                          <a:effectLst/>
                          <a:latin typeface="Yekan Bakh" pitchFamily="2" charset="-78"/>
                          <a:ea typeface="Yekan Bakh" pitchFamily="2" charset="-78"/>
                          <a:cs typeface="Yekan Bakh" pitchFamily="2" charset="-78"/>
                        </a:rPr>
                        <a:t>کار</a:t>
                      </a:r>
                      <a:r>
                        <a:rPr lang="en-US" sz="1000" b="1" i="0" kern="1200" dirty="0">
                          <a:solidFill>
                            <a:schemeClr val="lt1"/>
                          </a:solidFill>
                          <a:effectLst/>
                          <a:latin typeface="Yekan Bakh" pitchFamily="2" charset="-78"/>
                          <a:ea typeface="Yekan Bakh" pitchFamily="2" charset="-78"/>
                          <a:cs typeface="Yekan Bakh" pitchFamily="2" charset="-78"/>
                        </a:rPr>
                        <a:t> </a:t>
                      </a:r>
                      <a:r>
                        <a:rPr lang="en-US" sz="1000" b="1" i="0" kern="1200" dirty="0" err="1">
                          <a:solidFill>
                            <a:schemeClr val="lt1"/>
                          </a:solidFill>
                          <a:effectLst/>
                          <a:latin typeface="Yekan Bakh" pitchFamily="2" charset="-78"/>
                          <a:ea typeface="Yekan Bakh" pitchFamily="2" charset="-78"/>
                          <a:cs typeface="Yekan Bakh" pitchFamily="2" charset="-78"/>
                        </a:rPr>
                        <a:t>مشتری</a:t>
                      </a:r>
                      <a:endParaRPr lang="en-GB" sz="1000" dirty="0">
                        <a:latin typeface="Yekan Bakh" pitchFamily="2" charset="-78"/>
                        <a:ea typeface="Yekan Bakh" pitchFamily="2" charset="-78"/>
                        <a:cs typeface="Yekan Bakh" pitchFamily="2" charset="-78"/>
                      </a:endParaRPr>
                    </a:p>
                  </a:txBody>
                  <a:tcPr marL="66863" marR="66863" marT="33432" marB="33432" anchor="ctr">
                    <a:solidFill>
                      <a:srgbClr val="1E2761"/>
                    </a:solidFill>
                  </a:tcPr>
                </a:tc>
                <a:tc>
                  <a:txBody>
                    <a:bodyPr/>
                    <a:lstStyle/>
                    <a:p>
                      <a:pPr algn="ctr" rtl="1"/>
                      <a:r>
                        <a:rPr lang="en-US" sz="1000" b="1" i="0" kern="1200" dirty="0" err="1">
                          <a:solidFill>
                            <a:schemeClr val="lt1"/>
                          </a:solidFill>
                          <a:effectLst/>
                          <a:latin typeface="Yekan Bakh" pitchFamily="2" charset="-78"/>
                          <a:ea typeface="Yekan Bakh" pitchFamily="2" charset="-78"/>
                          <a:cs typeface="Yekan Bakh" pitchFamily="2" charset="-78"/>
                        </a:rPr>
                        <a:t>پرسونا</a:t>
                      </a:r>
                      <a:endParaRPr lang="en-GB" sz="1000" dirty="0">
                        <a:latin typeface="Yekan Bakh" pitchFamily="2" charset="-78"/>
                        <a:ea typeface="Yekan Bakh" pitchFamily="2" charset="-78"/>
                        <a:cs typeface="Yekan Bakh" pitchFamily="2" charset="-78"/>
                      </a:endParaRPr>
                    </a:p>
                  </a:txBody>
                  <a:tcPr marL="66863" marR="66863" marT="33432" marB="33432" anchor="ctr">
                    <a:solidFill>
                      <a:srgbClr val="1E2761"/>
                    </a:solidFill>
                  </a:tcPr>
                </a:tc>
                <a:tc>
                  <a:txBody>
                    <a:bodyPr/>
                    <a:lstStyle/>
                    <a:p>
                      <a:pPr algn="ctr" rtl="1"/>
                      <a:r>
                        <a:rPr lang="en-US" sz="1000" dirty="0">
                          <a:latin typeface="Yekan Bakh" pitchFamily="2" charset="-78"/>
                          <a:ea typeface="Yekan Bakh" pitchFamily="2" charset="-78"/>
                          <a:cs typeface="Yekan Bakh" pitchFamily="2" charset="-78"/>
                        </a:rPr>
                        <a:t>#</a:t>
                      </a:r>
                      <a:endParaRPr lang="en-GB" sz="1000" dirty="0">
                        <a:latin typeface="Yekan Bakh" pitchFamily="2" charset="-78"/>
                        <a:ea typeface="Yekan Bakh" pitchFamily="2" charset="-78"/>
                        <a:cs typeface="Yekan Bakh" pitchFamily="2" charset="-78"/>
                      </a:endParaRPr>
                    </a:p>
                  </a:txBody>
                  <a:tcPr marL="66863" marR="66863" marT="33432" marB="33432" anchor="ctr">
                    <a:solidFill>
                      <a:srgbClr val="1E2761"/>
                    </a:solidFill>
                  </a:tcPr>
                </a:tc>
                <a:extLst>
                  <a:ext uri="{0D108BD9-81ED-4DB2-BD59-A6C34878D82A}">
                    <a16:rowId xmlns:a16="http://schemas.microsoft.com/office/drawing/2014/main" val="3319896937"/>
                  </a:ext>
                </a:extLst>
              </a:tr>
              <a:tr h="258997">
                <a:tc>
                  <a:txBody>
                    <a:bodyPr/>
                    <a:lstStyle/>
                    <a:p>
                      <a:pPr algn="ctr" rtl="1"/>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راستی‌آزمایی</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صحت</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و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توان</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طرف</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خارجی</a:t>
                      </a:r>
                      <a:endParaRPr lang="en-GB" sz="900" dirty="0">
                        <a:solidFill>
                          <a:schemeClr val="tx1">
                            <a:lumMod val="75000"/>
                            <a:lumOff val="25000"/>
                          </a:schemeClr>
                        </a:solidFill>
                        <a:latin typeface="Yekan Bakh" pitchFamily="2" charset="-78"/>
                        <a:ea typeface="Yekan Bakh" pitchFamily="2" charset="-78"/>
                        <a:cs typeface="Yekan Bakh" pitchFamily="2" charset="-78"/>
                      </a:endParaRPr>
                    </a:p>
                  </a:txBody>
                  <a:tcPr marL="66863" marR="66863" marT="33432" marB="33432" anchor="ctr">
                    <a:solidFill>
                      <a:srgbClr val="3242A4">
                        <a:alpha val="7000"/>
                      </a:srgbClr>
                    </a:solidFill>
                  </a:tcPr>
                </a:tc>
                <a:tc>
                  <a:txBody>
                    <a:bodyPr/>
                    <a:lstStyle/>
                    <a:p>
                      <a:pPr algn="ctr" rtl="1"/>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تراز</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ایرانی</a:t>
                      </a:r>
                      <a:endParaRPr lang="en-GB" sz="900" dirty="0">
                        <a:solidFill>
                          <a:schemeClr val="tx1">
                            <a:lumMod val="75000"/>
                            <a:lumOff val="25000"/>
                          </a:schemeClr>
                        </a:solidFill>
                        <a:latin typeface="Yekan Bakh" pitchFamily="2" charset="-78"/>
                        <a:ea typeface="Yekan Bakh" pitchFamily="2" charset="-78"/>
                        <a:cs typeface="Yekan Bakh" pitchFamily="2" charset="-78"/>
                      </a:endParaRPr>
                    </a:p>
                  </a:txBody>
                  <a:tcPr marL="66863" marR="66863" marT="33432" marB="33432" anchor="ctr">
                    <a:solidFill>
                      <a:srgbClr val="3242A4">
                        <a:alpha val="7000"/>
                      </a:srgbClr>
                    </a:solidFill>
                  </a:tcPr>
                </a:tc>
                <a:tc>
                  <a:txBody>
                    <a:bodyPr/>
                    <a:lstStyle/>
                    <a:p>
                      <a:pPr algn="ctr" rtl="1"/>
                      <a:r>
                        <a:rPr lang="fa-IR" sz="900" b="1" dirty="0">
                          <a:solidFill>
                            <a:srgbClr val="1E2761"/>
                          </a:solidFill>
                          <a:latin typeface="Yekan Bakh" pitchFamily="2" charset="-78"/>
                          <a:ea typeface="Yekan Bakh" pitchFamily="2" charset="-78"/>
                          <a:cs typeface="Yekan Bakh" pitchFamily="2" charset="-78"/>
                        </a:rPr>
                        <a:t>۱</a:t>
                      </a:r>
                      <a:endParaRPr lang="en-GB" sz="900" b="1" dirty="0">
                        <a:solidFill>
                          <a:srgbClr val="1E2761"/>
                        </a:solidFill>
                        <a:latin typeface="Yekan Bakh" pitchFamily="2" charset="-78"/>
                        <a:ea typeface="Yekan Bakh" pitchFamily="2" charset="-78"/>
                        <a:cs typeface="Yekan Bakh" pitchFamily="2" charset="-78"/>
                      </a:endParaRPr>
                    </a:p>
                  </a:txBody>
                  <a:tcPr marL="66863" marR="66863" marT="33432" marB="33432" anchor="ctr">
                    <a:solidFill>
                      <a:srgbClr val="3242A4">
                        <a:alpha val="7000"/>
                      </a:srgbClr>
                    </a:solidFill>
                  </a:tcPr>
                </a:tc>
                <a:extLst>
                  <a:ext uri="{0D108BD9-81ED-4DB2-BD59-A6C34878D82A}">
                    <a16:rowId xmlns:a16="http://schemas.microsoft.com/office/drawing/2014/main" val="673712058"/>
                  </a:ext>
                </a:extLst>
              </a:tr>
              <a:tr h="258997">
                <a:tc>
                  <a:txBody>
                    <a:bodyPr/>
                    <a:lstStyle/>
                    <a:p>
                      <a:pPr algn="ctr" rtl="1"/>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تأمین</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مالی</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طرح</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توسعه</a:t>
                      </a:r>
                      <a:endParaRPr lang="en-GB" sz="900" dirty="0">
                        <a:solidFill>
                          <a:schemeClr val="tx1">
                            <a:lumMod val="75000"/>
                            <a:lumOff val="25000"/>
                          </a:schemeClr>
                        </a:solidFill>
                        <a:latin typeface="Yekan Bakh" pitchFamily="2" charset="-78"/>
                        <a:ea typeface="Yekan Bakh" pitchFamily="2" charset="-78"/>
                        <a:cs typeface="Yekan Bakh" pitchFamily="2" charset="-78"/>
                      </a:endParaRPr>
                    </a:p>
                  </a:txBody>
                  <a:tcPr marL="66863" marR="66863" marT="33432" marB="33432" anchor="ctr">
                    <a:solidFill>
                      <a:srgbClr val="3242A4">
                        <a:alpha val="7000"/>
                      </a:srgbClr>
                    </a:solidFill>
                  </a:tcPr>
                </a:tc>
                <a:tc>
                  <a:txBody>
                    <a:bodyPr/>
                    <a:lstStyle/>
                    <a:p>
                      <a:pPr algn="ctr" rtl="1"/>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تراز</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ایرانی</a:t>
                      </a:r>
                      <a:endParaRPr lang="en-GB" sz="900" dirty="0">
                        <a:solidFill>
                          <a:schemeClr val="tx1">
                            <a:lumMod val="75000"/>
                            <a:lumOff val="25000"/>
                          </a:schemeClr>
                        </a:solidFill>
                        <a:latin typeface="Yekan Bakh" pitchFamily="2" charset="-78"/>
                        <a:ea typeface="Yekan Bakh" pitchFamily="2" charset="-78"/>
                        <a:cs typeface="Yekan Bakh" pitchFamily="2" charset="-78"/>
                      </a:endParaRPr>
                    </a:p>
                  </a:txBody>
                  <a:tcPr marL="66863" marR="66863" marT="33432" marB="33432" anchor="ctr">
                    <a:solidFill>
                      <a:srgbClr val="3242A4">
                        <a:alpha val="7000"/>
                      </a:srgbClr>
                    </a:solidFill>
                  </a:tcPr>
                </a:tc>
                <a:tc>
                  <a:txBody>
                    <a:bodyPr/>
                    <a:lstStyle/>
                    <a:p>
                      <a:pPr algn="ctr" rtl="1"/>
                      <a:r>
                        <a:rPr lang="fa-IR" sz="900" b="1" dirty="0">
                          <a:solidFill>
                            <a:srgbClr val="1E2761"/>
                          </a:solidFill>
                          <a:latin typeface="Yekan Bakh" pitchFamily="2" charset="-78"/>
                          <a:ea typeface="Yekan Bakh" pitchFamily="2" charset="-78"/>
                          <a:cs typeface="Yekan Bakh" pitchFamily="2" charset="-78"/>
                        </a:rPr>
                        <a:t>۲</a:t>
                      </a:r>
                      <a:endParaRPr lang="en-GB" sz="900" b="1" dirty="0">
                        <a:solidFill>
                          <a:srgbClr val="1E2761"/>
                        </a:solidFill>
                        <a:latin typeface="Yekan Bakh" pitchFamily="2" charset="-78"/>
                        <a:ea typeface="Yekan Bakh" pitchFamily="2" charset="-78"/>
                        <a:cs typeface="Yekan Bakh" pitchFamily="2" charset="-78"/>
                      </a:endParaRPr>
                    </a:p>
                  </a:txBody>
                  <a:tcPr marL="66863" marR="66863" marT="33432" marB="33432" anchor="ctr">
                    <a:solidFill>
                      <a:srgbClr val="3242A4">
                        <a:alpha val="7000"/>
                      </a:srgbClr>
                    </a:solidFill>
                  </a:tcPr>
                </a:tc>
                <a:extLst>
                  <a:ext uri="{0D108BD9-81ED-4DB2-BD59-A6C34878D82A}">
                    <a16:rowId xmlns:a16="http://schemas.microsoft.com/office/drawing/2014/main" val="3752396067"/>
                  </a:ext>
                </a:extLst>
              </a:tr>
              <a:tr h="258997">
                <a:tc>
                  <a:txBody>
                    <a:bodyPr/>
                    <a:lstStyle/>
                    <a:p>
                      <a:pPr algn="ctr" rtl="1"/>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اطمینان</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از</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قابل‌اجرا</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بودن</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تراکنش</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مالی</a:t>
                      </a:r>
                      <a:endParaRPr lang="en-GB" sz="900" dirty="0">
                        <a:solidFill>
                          <a:schemeClr val="tx1">
                            <a:lumMod val="75000"/>
                            <a:lumOff val="25000"/>
                          </a:schemeClr>
                        </a:solidFill>
                        <a:latin typeface="Yekan Bakh" pitchFamily="2" charset="-78"/>
                        <a:ea typeface="Yekan Bakh" pitchFamily="2" charset="-78"/>
                        <a:cs typeface="Yekan Bakh" pitchFamily="2" charset="-78"/>
                      </a:endParaRPr>
                    </a:p>
                  </a:txBody>
                  <a:tcPr marL="66863" marR="66863" marT="33432" marB="33432" anchor="ctr">
                    <a:solidFill>
                      <a:srgbClr val="3242A4">
                        <a:alpha val="7000"/>
                      </a:srgbClr>
                    </a:solidFill>
                  </a:tcPr>
                </a:tc>
                <a:tc>
                  <a:txBody>
                    <a:bodyPr/>
                    <a:lstStyle/>
                    <a:p>
                      <a:pPr algn="ctr" rtl="1"/>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تراز</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خارجی</a:t>
                      </a:r>
                      <a:endParaRPr lang="en-GB" sz="900" dirty="0">
                        <a:solidFill>
                          <a:schemeClr val="tx1">
                            <a:lumMod val="75000"/>
                            <a:lumOff val="25000"/>
                          </a:schemeClr>
                        </a:solidFill>
                        <a:latin typeface="Yekan Bakh" pitchFamily="2" charset="-78"/>
                        <a:ea typeface="Yekan Bakh" pitchFamily="2" charset="-78"/>
                        <a:cs typeface="Yekan Bakh" pitchFamily="2" charset="-78"/>
                      </a:endParaRPr>
                    </a:p>
                  </a:txBody>
                  <a:tcPr marL="66863" marR="66863" marT="33432" marB="33432" anchor="ctr">
                    <a:solidFill>
                      <a:srgbClr val="3242A4">
                        <a:alpha val="7000"/>
                      </a:srgbClr>
                    </a:solidFill>
                  </a:tcPr>
                </a:tc>
                <a:tc>
                  <a:txBody>
                    <a:bodyPr/>
                    <a:lstStyle/>
                    <a:p>
                      <a:pPr algn="ctr" rtl="1"/>
                      <a:r>
                        <a:rPr lang="fa-IR" sz="900" b="1" dirty="0">
                          <a:solidFill>
                            <a:srgbClr val="1E2761"/>
                          </a:solidFill>
                          <a:latin typeface="Yekan Bakh" pitchFamily="2" charset="-78"/>
                          <a:ea typeface="Yekan Bakh" pitchFamily="2" charset="-78"/>
                          <a:cs typeface="Yekan Bakh" pitchFamily="2" charset="-78"/>
                        </a:rPr>
                        <a:t>۳</a:t>
                      </a:r>
                      <a:endParaRPr lang="en-GB" sz="900" b="1" dirty="0">
                        <a:solidFill>
                          <a:srgbClr val="1E2761"/>
                        </a:solidFill>
                        <a:latin typeface="Yekan Bakh" pitchFamily="2" charset="-78"/>
                        <a:ea typeface="Yekan Bakh" pitchFamily="2" charset="-78"/>
                        <a:cs typeface="Yekan Bakh" pitchFamily="2" charset="-78"/>
                      </a:endParaRPr>
                    </a:p>
                  </a:txBody>
                  <a:tcPr marL="66863" marR="66863" marT="33432" marB="33432" anchor="ctr">
                    <a:solidFill>
                      <a:srgbClr val="3242A4">
                        <a:alpha val="7000"/>
                      </a:srgbClr>
                    </a:solidFill>
                  </a:tcPr>
                </a:tc>
                <a:extLst>
                  <a:ext uri="{0D108BD9-81ED-4DB2-BD59-A6C34878D82A}">
                    <a16:rowId xmlns:a16="http://schemas.microsoft.com/office/drawing/2014/main" val="701729340"/>
                  </a:ext>
                </a:extLst>
              </a:tr>
              <a:tr h="258997">
                <a:tc>
                  <a:txBody>
                    <a:bodyPr/>
                    <a:lstStyle/>
                    <a:p>
                      <a:pPr algn="ctr" rtl="1"/>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مدیریت</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ریسک</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جریمه</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و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مسئولیت</a:t>
                      </a:r>
                      <a:endParaRPr lang="en-GB" sz="900" dirty="0">
                        <a:solidFill>
                          <a:schemeClr val="tx1">
                            <a:lumMod val="75000"/>
                            <a:lumOff val="25000"/>
                          </a:schemeClr>
                        </a:solidFill>
                        <a:latin typeface="Yekan Bakh" pitchFamily="2" charset="-78"/>
                        <a:ea typeface="Yekan Bakh" pitchFamily="2" charset="-78"/>
                        <a:cs typeface="Yekan Bakh" pitchFamily="2" charset="-78"/>
                      </a:endParaRPr>
                    </a:p>
                  </a:txBody>
                  <a:tcPr marL="66863" marR="66863" marT="33432" marB="33432" anchor="ctr">
                    <a:solidFill>
                      <a:srgbClr val="3242A4">
                        <a:alpha val="7000"/>
                      </a:srgbClr>
                    </a:solidFill>
                  </a:tcPr>
                </a:tc>
                <a:tc>
                  <a:txBody>
                    <a:bodyPr/>
                    <a:lstStyle/>
                    <a:p>
                      <a:pPr algn="ctr" rtl="1"/>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تراز</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خارجی</a:t>
                      </a:r>
                      <a:endParaRPr lang="en-GB" sz="900" dirty="0">
                        <a:solidFill>
                          <a:schemeClr val="tx1">
                            <a:lumMod val="75000"/>
                            <a:lumOff val="25000"/>
                          </a:schemeClr>
                        </a:solidFill>
                        <a:latin typeface="Yekan Bakh" pitchFamily="2" charset="-78"/>
                        <a:ea typeface="Yekan Bakh" pitchFamily="2" charset="-78"/>
                        <a:cs typeface="Yekan Bakh" pitchFamily="2" charset="-78"/>
                      </a:endParaRPr>
                    </a:p>
                  </a:txBody>
                  <a:tcPr marL="66863" marR="66863" marT="33432" marB="33432" anchor="ctr">
                    <a:solidFill>
                      <a:srgbClr val="3242A4">
                        <a:alpha val="7000"/>
                      </a:srgbClr>
                    </a:solidFill>
                  </a:tcPr>
                </a:tc>
                <a:tc>
                  <a:txBody>
                    <a:bodyPr/>
                    <a:lstStyle/>
                    <a:p>
                      <a:pPr algn="ctr" rtl="1"/>
                      <a:r>
                        <a:rPr lang="fa-IR" sz="900" b="1" dirty="0">
                          <a:solidFill>
                            <a:srgbClr val="1E2761"/>
                          </a:solidFill>
                          <a:latin typeface="Yekan Bakh" pitchFamily="2" charset="-78"/>
                          <a:ea typeface="Yekan Bakh" pitchFamily="2" charset="-78"/>
                          <a:cs typeface="Yekan Bakh" pitchFamily="2" charset="-78"/>
                        </a:rPr>
                        <a:t>۴</a:t>
                      </a:r>
                      <a:endParaRPr lang="en-GB" sz="900" b="1" dirty="0">
                        <a:solidFill>
                          <a:srgbClr val="1E2761"/>
                        </a:solidFill>
                        <a:latin typeface="Yekan Bakh" pitchFamily="2" charset="-78"/>
                        <a:ea typeface="Yekan Bakh" pitchFamily="2" charset="-78"/>
                        <a:cs typeface="Yekan Bakh" pitchFamily="2" charset="-78"/>
                      </a:endParaRPr>
                    </a:p>
                  </a:txBody>
                  <a:tcPr marL="66863" marR="66863" marT="33432" marB="33432" anchor="ctr">
                    <a:solidFill>
                      <a:srgbClr val="3242A4">
                        <a:alpha val="7000"/>
                      </a:srgbClr>
                    </a:solidFill>
                  </a:tcPr>
                </a:tc>
                <a:extLst>
                  <a:ext uri="{0D108BD9-81ED-4DB2-BD59-A6C34878D82A}">
                    <a16:rowId xmlns:a16="http://schemas.microsoft.com/office/drawing/2014/main" val="2049725234"/>
                  </a:ext>
                </a:extLst>
              </a:tr>
              <a:tr h="258997">
                <a:tc>
                  <a:txBody>
                    <a:bodyPr/>
                    <a:lstStyle/>
                    <a:p>
                      <a:pPr algn="ctr" rtl="1"/>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یافتن</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شریک</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ایرانی</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معتبر</a:t>
                      </a:r>
                      <a:endParaRPr lang="en-GB" sz="900" dirty="0">
                        <a:solidFill>
                          <a:schemeClr val="tx1">
                            <a:lumMod val="75000"/>
                            <a:lumOff val="25000"/>
                          </a:schemeClr>
                        </a:solidFill>
                        <a:latin typeface="Yekan Bakh" pitchFamily="2" charset="-78"/>
                        <a:ea typeface="Yekan Bakh" pitchFamily="2" charset="-78"/>
                        <a:cs typeface="Yekan Bakh" pitchFamily="2" charset="-78"/>
                      </a:endParaRPr>
                    </a:p>
                  </a:txBody>
                  <a:tcPr marL="66863" marR="66863" marT="33432" marB="33432" anchor="ctr">
                    <a:solidFill>
                      <a:srgbClr val="3242A4">
                        <a:alpha val="7000"/>
                      </a:srgbClr>
                    </a:solidFill>
                  </a:tcPr>
                </a:tc>
                <a:tc>
                  <a:txBody>
                    <a:bodyPr/>
                    <a:lstStyle/>
                    <a:p>
                      <a:pPr algn="ctr" rtl="1"/>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تراز</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خارجی</a:t>
                      </a:r>
                      <a:endParaRPr lang="en-GB" sz="900" dirty="0">
                        <a:solidFill>
                          <a:schemeClr val="tx1">
                            <a:lumMod val="75000"/>
                            <a:lumOff val="25000"/>
                          </a:schemeClr>
                        </a:solidFill>
                        <a:latin typeface="Yekan Bakh" pitchFamily="2" charset="-78"/>
                        <a:ea typeface="Yekan Bakh" pitchFamily="2" charset="-78"/>
                        <a:cs typeface="Yekan Bakh" pitchFamily="2" charset="-78"/>
                      </a:endParaRPr>
                    </a:p>
                  </a:txBody>
                  <a:tcPr marL="66863" marR="66863" marT="33432" marB="33432" anchor="ctr">
                    <a:solidFill>
                      <a:srgbClr val="3242A4">
                        <a:alpha val="7000"/>
                      </a:srgbClr>
                    </a:solidFill>
                  </a:tcPr>
                </a:tc>
                <a:tc>
                  <a:txBody>
                    <a:bodyPr/>
                    <a:lstStyle/>
                    <a:p>
                      <a:pPr algn="ctr" rtl="1"/>
                      <a:r>
                        <a:rPr lang="fa-IR" sz="900" b="1" dirty="0">
                          <a:solidFill>
                            <a:srgbClr val="1E2761"/>
                          </a:solidFill>
                          <a:latin typeface="Yekan Bakh" pitchFamily="2" charset="-78"/>
                          <a:ea typeface="Yekan Bakh" pitchFamily="2" charset="-78"/>
                          <a:cs typeface="Yekan Bakh" pitchFamily="2" charset="-78"/>
                        </a:rPr>
                        <a:t>۵</a:t>
                      </a:r>
                      <a:endParaRPr lang="en-GB" sz="900" b="1" dirty="0">
                        <a:solidFill>
                          <a:srgbClr val="1E2761"/>
                        </a:solidFill>
                        <a:latin typeface="Yekan Bakh" pitchFamily="2" charset="-78"/>
                        <a:ea typeface="Yekan Bakh" pitchFamily="2" charset="-78"/>
                        <a:cs typeface="Yekan Bakh" pitchFamily="2" charset="-78"/>
                      </a:endParaRPr>
                    </a:p>
                  </a:txBody>
                  <a:tcPr marL="66863" marR="66863" marT="33432" marB="33432" anchor="ctr">
                    <a:solidFill>
                      <a:srgbClr val="3242A4">
                        <a:alpha val="7000"/>
                      </a:srgbClr>
                    </a:solidFill>
                  </a:tcPr>
                </a:tc>
                <a:extLst>
                  <a:ext uri="{0D108BD9-81ED-4DB2-BD59-A6C34878D82A}">
                    <a16:rowId xmlns:a16="http://schemas.microsoft.com/office/drawing/2014/main" val="4191268187"/>
                  </a:ext>
                </a:extLst>
              </a:tr>
              <a:tr h="258997">
                <a:tc>
                  <a:txBody>
                    <a:bodyPr/>
                    <a:lstStyle/>
                    <a:p>
                      <a:pPr algn="ctr" rtl="1"/>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رفع</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شکاف</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حاکمیت</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آمادگی</a:t>
                      </a:r>
                      <a:endParaRPr lang="en-GB" sz="900" dirty="0">
                        <a:solidFill>
                          <a:schemeClr val="tx1">
                            <a:lumMod val="75000"/>
                            <a:lumOff val="25000"/>
                          </a:schemeClr>
                        </a:solidFill>
                        <a:latin typeface="Yekan Bakh" pitchFamily="2" charset="-78"/>
                        <a:ea typeface="Yekan Bakh" pitchFamily="2" charset="-78"/>
                        <a:cs typeface="Yekan Bakh" pitchFamily="2" charset="-78"/>
                      </a:endParaRPr>
                    </a:p>
                  </a:txBody>
                  <a:tcPr marL="66863" marR="66863" marT="33432" marB="33432" anchor="ctr">
                    <a:solidFill>
                      <a:srgbClr val="3242A4">
                        <a:alpha val="7000"/>
                      </a:srgbClr>
                    </a:solidFill>
                  </a:tcPr>
                </a:tc>
                <a:tc>
                  <a:txBody>
                    <a:bodyPr/>
                    <a:lstStyle/>
                    <a:p>
                      <a:pPr algn="ctr" rtl="1"/>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مشتاق</a:t>
                      </a:r>
                      <a:endParaRPr lang="en-GB" sz="900" dirty="0">
                        <a:solidFill>
                          <a:schemeClr val="tx1">
                            <a:lumMod val="75000"/>
                            <a:lumOff val="25000"/>
                          </a:schemeClr>
                        </a:solidFill>
                        <a:latin typeface="Yekan Bakh" pitchFamily="2" charset="-78"/>
                        <a:ea typeface="Yekan Bakh" pitchFamily="2" charset="-78"/>
                        <a:cs typeface="Yekan Bakh" pitchFamily="2" charset="-78"/>
                      </a:endParaRPr>
                    </a:p>
                  </a:txBody>
                  <a:tcPr marL="66863" marR="66863" marT="33432" marB="33432" anchor="ctr">
                    <a:solidFill>
                      <a:srgbClr val="3242A4">
                        <a:alpha val="7000"/>
                      </a:srgbClr>
                    </a:solidFill>
                  </a:tcPr>
                </a:tc>
                <a:tc>
                  <a:txBody>
                    <a:bodyPr/>
                    <a:lstStyle/>
                    <a:p>
                      <a:pPr algn="ctr" rtl="1"/>
                      <a:r>
                        <a:rPr lang="fa-IR" sz="900" b="1" dirty="0">
                          <a:solidFill>
                            <a:srgbClr val="1E2761"/>
                          </a:solidFill>
                          <a:latin typeface="Yekan Bakh" pitchFamily="2" charset="-78"/>
                          <a:ea typeface="Yekan Bakh" pitchFamily="2" charset="-78"/>
                          <a:cs typeface="Yekan Bakh" pitchFamily="2" charset="-78"/>
                        </a:rPr>
                        <a:t>۶</a:t>
                      </a:r>
                      <a:endParaRPr lang="en-GB" sz="900" b="1" dirty="0">
                        <a:solidFill>
                          <a:srgbClr val="1E2761"/>
                        </a:solidFill>
                        <a:latin typeface="Yekan Bakh" pitchFamily="2" charset="-78"/>
                        <a:ea typeface="Yekan Bakh" pitchFamily="2" charset="-78"/>
                        <a:cs typeface="Yekan Bakh" pitchFamily="2" charset="-78"/>
                      </a:endParaRPr>
                    </a:p>
                  </a:txBody>
                  <a:tcPr marL="66863" marR="66863" marT="33432" marB="33432" anchor="ctr">
                    <a:solidFill>
                      <a:srgbClr val="3242A4">
                        <a:alpha val="7000"/>
                      </a:srgbClr>
                    </a:solidFill>
                  </a:tcPr>
                </a:tc>
                <a:extLst>
                  <a:ext uri="{0D108BD9-81ED-4DB2-BD59-A6C34878D82A}">
                    <a16:rowId xmlns:a16="http://schemas.microsoft.com/office/drawing/2014/main" val="1009050939"/>
                  </a:ext>
                </a:extLst>
              </a:tr>
              <a:tr h="258997">
                <a:tc>
                  <a:txBody>
                    <a:bodyPr/>
                    <a:lstStyle/>
                    <a:p>
                      <a:pPr algn="ctr" rtl="1"/>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فهم</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دلیل</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رد</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شدن</a:t>
                      </a:r>
                      <a:endParaRPr lang="en-GB" sz="900" dirty="0">
                        <a:solidFill>
                          <a:schemeClr val="tx1">
                            <a:lumMod val="75000"/>
                            <a:lumOff val="25000"/>
                          </a:schemeClr>
                        </a:solidFill>
                        <a:latin typeface="Yekan Bakh" pitchFamily="2" charset="-78"/>
                        <a:ea typeface="Yekan Bakh" pitchFamily="2" charset="-78"/>
                        <a:cs typeface="Yekan Bakh" pitchFamily="2" charset="-78"/>
                      </a:endParaRPr>
                    </a:p>
                  </a:txBody>
                  <a:tcPr marL="66863" marR="66863" marT="33432" marB="33432" anchor="ctr">
                    <a:solidFill>
                      <a:srgbClr val="3242A4">
                        <a:alpha val="7000"/>
                      </a:srgbClr>
                    </a:solidFill>
                  </a:tcPr>
                </a:tc>
                <a:tc>
                  <a:txBody>
                    <a:bodyPr/>
                    <a:lstStyle/>
                    <a:p>
                      <a:pPr algn="ctr" rtl="1"/>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مشتاق</a:t>
                      </a:r>
                      <a:endParaRPr lang="en-GB" sz="900" dirty="0">
                        <a:solidFill>
                          <a:schemeClr val="tx1">
                            <a:lumMod val="75000"/>
                            <a:lumOff val="25000"/>
                          </a:schemeClr>
                        </a:solidFill>
                        <a:latin typeface="Yekan Bakh" pitchFamily="2" charset="-78"/>
                        <a:ea typeface="Yekan Bakh" pitchFamily="2" charset="-78"/>
                        <a:cs typeface="Yekan Bakh" pitchFamily="2" charset="-78"/>
                      </a:endParaRPr>
                    </a:p>
                  </a:txBody>
                  <a:tcPr marL="66863" marR="66863" marT="33432" marB="33432" anchor="ctr">
                    <a:solidFill>
                      <a:srgbClr val="3242A4">
                        <a:alpha val="7000"/>
                      </a:srgbClr>
                    </a:solidFill>
                  </a:tcPr>
                </a:tc>
                <a:tc>
                  <a:txBody>
                    <a:bodyPr/>
                    <a:lstStyle/>
                    <a:p>
                      <a:pPr algn="ctr" rtl="1"/>
                      <a:r>
                        <a:rPr lang="fa-IR" sz="900" b="1" dirty="0">
                          <a:solidFill>
                            <a:srgbClr val="1E2761"/>
                          </a:solidFill>
                          <a:latin typeface="Yekan Bakh" pitchFamily="2" charset="-78"/>
                          <a:ea typeface="Yekan Bakh" pitchFamily="2" charset="-78"/>
                          <a:cs typeface="Yekan Bakh" pitchFamily="2" charset="-78"/>
                        </a:rPr>
                        <a:t>۷</a:t>
                      </a:r>
                      <a:endParaRPr lang="en-GB" sz="900" b="1" dirty="0">
                        <a:solidFill>
                          <a:srgbClr val="1E2761"/>
                        </a:solidFill>
                        <a:latin typeface="Yekan Bakh" pitchFamily="2" charset="-78"/>
                        <a:ea typeface="Yekan Bakh" pitchFamily="2" charset="-78"/>
                        <a:cs typeface="Yekan Bakh" pitchFamily="2" charset="-78"/>
                      </a:endParaRPr>
                    </a:p>
                  </a:txBody>
                  <a:tcPr marL="66863" marR="66863" marT="33432" marB="33432" anchor="ctr">
                    <a:solidFill>
                      <a:srgbClr val="3242A4">
                        <a:alpha val="7000"/>
                      </a:srgbClr>
                    </a:solidFill>
                  </a:tcPr>
                </a:tc>
                <a:extLst>
                  <a:ext uri="{0D108BD9-81ED-4DB2-BD59-A6C34878D82A}">
                    <a16:rowId xmlns:a16="http://schemas.microsoft.com/office/drawing/2014/main" val="1711473622"/>
                  </a:ext>
                </a:extLst>
              </a:tr>
              <a:tr h="258997">
                <a:tc>
                  <a:txBody>
                    <a:bodyPr/>
                    <a:lstStyle/>
                    <a:p>
                      <a:pPr algn="ctr" rtl="1"/>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کاهش</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عدم‌قطعیت</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موانع</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ورود</a:t>
                      </a:r>
                      <a:endParaRPr lang="en-GB" sz="900" dirty="0">
                        <a:solidFill>
                          <a:schemeClr val="tx1">
                            <a:lumMod val="75000"/>
                            <a:lumOff val="25000"/>
                          </a:schemeClr>
                        </a:solidFill>
                        <a:latin typeface="Yekan Bakh" pitchFamily="2" charset="-78"/>
                        <a:ea typeface="Yekan Bakh" pitchFamily="2" charset="-78"/>
                        <a:cs typeface="Yekan Bakh" pitchFamily="2" charset="-78"/>
                      </a:endParaRPr>
                    </a:p>
                  </a:txBody>
                  <a:tcPr marL="66863" marR="66863" marT="33432" marB="33432" anchor="ctr">
                    <a:solidFill>
                      <a:srgbClr val="3242A4">
                        <a:alpha val="7000"/>
                      </a:srgbClr>
                    </a:solidFill>
                  </a:tcPr>
                </a:tc>
                <a:tc>
                  <a:txBody>
                    <a:bodyPr/>
                    <a:lstStyle/>
                    <a:p>
                      <a:pPr algn="ctr" rtl="1"/>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کنجکاو</a:t>
                      </a:r>
                      <a:endParaRPr lang="en-GB" sz="900" dirty="0">
                        <a:solidFill>
                          <a:schemeClr val="tx1">
                            <a:lumMod val="75000"/>
                            <a:lumOff val="25000"/>
                          </a:schemeClr>
                        </a:solidFill>
                        <a:latin typeface="Yekan Bakh" pitchFamily="2" charset="-78"/>
                        <a:ea typeface="Yekan Bakh" pitchFamily="2" charset="-78"/>
                        <a:cs typeface="Yekan Bakh" pitchFamily="2" charset="-78"/>
                      </a:endParaRPr>
                    </a:p>
                  </a:txBody>
                  <a:tcPr marL="66863" marR="66863" marT="33432" marB="33432" anchor="ctr">
                    <a:solidFill>
                      <a:srgbClr val="3242A4">
                        <a:alpha val="7000"/>
                      </a:srgbClr>
                    </a:solidFill>
                  </a:tcPr>
                </a:tc>
                <a:tc>
                  <a:txBody>
                    <a:bodyPr/>
                    <a:lstStyle/>
                    <a:p>
                      <a:pPr algn="ctr" rtl="1"/>
                      <a:r>
                        <a:rPr lang="fa-IR" sz="900" b="1" dirty="0">
                          <a:solidFill>
                            <a:srgbClr val="1E2761"/>
                          </a:solidFill>
                          <a:latin typeface="Yekan Bakh" pitchFamily="2" charset="-78"/>
                          <a:ea typeface="Yekan Bakh" pitchFamily="2" charset="-78"/>
                          <a:cs typeface="Yekan Bakh" pitchFamily="2" charset="-78"/>
                        </a:rPr>
                        <a:t>۸</a:t>
                      </a:r>
                      <a:endParaRPr lang="en-GB" sz="900" b="1" dirty="0">
                        <a:solidFill>
                          <a:srgbClr val="1E2761"/>
                        </a:solidFill>
                        <a:latin typeface="Yekan Bakh" pitchFamily="2" charset="-78"/>
                        <a:ea typeface="Yekan Bakh" pitchFamily="2" charset="-78"/>
                        <a:cs typeface="Yekan Bakh" pitchFamily="2" charset="-78"/>
                      </a:endParaRPr>
                    </a:p>
                  </a:txBody>
                  <a:tcPr marL="66863" marR="66863" marT="33432" marB="33432" anchor="ctr">
                    <a:solidFill>
                      <a:srgbClr val="3242A4">
                        <a:alpha val="7000"/>
                      </a:srgbClr>
                    </a:solidFill>
                  </a:tcPr>
                </a:tc>
                <a:extLst>
                  <a:ext uri="{0D108BD9-81ED-4DB2-BD59-A6C34878D82A}">
                    <a16:rowId xmlns:a16="http://schemas.microsoft.com/office/drawing/2014/main" val="4142702679"/>
                  </a:ext>
                </a:extLst>
              </a:tr>
              <a:tr h="258997">
                <a:tc>
                  <a:txBody>
                    <a:bodyPr/>
                    <a:lstStyle/>
                    <a:p>
                      <a:pPr algn="ctr" rtl="1"/>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آزمودن</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بازار</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کم‌تعهد</a:t>
                      </a:r>
                      <a:endParaRPr lang="en-GB" sz="900" dirty="0">
                        <a:solidFill>
                          <a:schemeClr val="tx1">
                            <a:lumMod val="75000"/>
                            <a:lumOff val="25000"/>
                          </a:schemeClr>
                        </a:solidFill>
                        <a:latin typeface="Yekan Bakh" pitchFamily="2" charset="-78"/>
                        <a:ea typeface="Yekan Bakh" pitchFamily="2" charset="-78"/>
                        <a:cs typeface="Yekan Bakh" pitchFamily="2" charset="-78"/>
                      </a:endParaRPr>
                    </a:p>
                  </a:txBody>
                  <a:tcPr marL="66863" marR="66863" marT="33432" marB="33432" anchor="ctr">
                    <a:solidFill>
                      <a:srgbClr val="3242A4">
                        <a:alpha val="7000"/>
                      </a:srgbClr>
                    </a:solidFill>
                  </a:tcPr>
                </a:tc>
                <a:tc>
                  <a:txBody>
                    <a:bodyPr/>
                    <a:lstStyle/>
                    <a:p>
                      <a:pPr algn="ctr" rtl="1"/>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کنجکاو</a:t>
                      </a:r>
                      <a:endParaRPr lang="en-GB" sz="900" dirty="0">
                        <a:solidFill>
                          <a:schemeClr val="tx1">
                            <a:lumMod val="75000"/>
                            <a:lumOff val="25000"/>
                          </a:schemeClr>
                        </a:solidFill>
                        <a:latin typeface="Yekan Bakh" pitchFamily="2" charset="-78"/>
                        <a:ea typeface="Yekan Bakh" pitchFamily="2" charset="-78"/>
                        <a:cs typeface="Yekan Bakh" pitchFamily="2" charset="-78"/>
                      </a:endParaRPr>
                    </a:p>
                  </a:txBody>
                  <a:tcPr marL="66863" marR="66863" marT="33432" marB="33432" anchor="ctr">
                    <a:solidFill>
                      <a:srgbClr val="3242A4">
                        <a:alpha val="7000"/>
                      </a:srgbClr>
                    </a:solidFill>
                  </a:tcPr>
                </a:tc>
                <a:tc>
                  <a:txBody>
                    <a:bodyPr/>
                    <a:lstStyle/>
                    <a:p>
                      <a:pPr algn="ctr" rtl="1"/>
                      <a:r>
                        <a:rPr lang="fa-IR" sz="900" b="1" dirty="0">
                          <a:solidFill>
                            <a:srgbClr val="1E2761"/>
                          </a:solidFill>
                          <a:latin typeface="Yekan Bakh" pitchFamily="2" charset="-78"/>
                          <a:ea typeface="Yekan Bakh" pitchFamily="2" charset="-78"/>
                          <a:cs typeface="Yekan Bakh" pitchFamily="2" charset="-78"/>
                        </a:rPr>
                        <a:t>۹</a:t>
                      </a:r>
                      <a:endParaRPr lang="en-GB" sz="900" b="1" dirty="0">
                        <a:solidFill>
                          <a:srgbClr val="1E2761"/>
                        </a:solidFill>
                        <a:latin typeface="Yekan Bakh" pitchFamily="2" charset="-78"/>
                        <a:ea typeface="Yekan Bakh" pitchFamily="2" charset="-78"/>
                        <a:cs typeface="Yekan Bakh" pitchFamily="2" charset="-78"/>
                      </a:endParaRPr>
                    </a:p>
                  </a:txBody>
                  <a:tcPr marL="66863" marR="66863" marT="33432" marB="33432" anchor="ctr">
                    <a:solidFill>
                      <a:srgbClr val="3242A4">
                        <a:alpha val="7000"/>
                      </a:srgbClr>
                    </a:solidFill>
                  </a:tcPr>
                </a:tc>
                <a:extLst>
                  <a:ext uri="{0D108BD9-81ED-4DB2-BD59-A6C34878D82A}">
                    <a16:rowId xmlns:a16="http://schemas.microsoft.com/office/drawing/2014/main" val="22362444"/>
                  </a:ext>
                </a:extLst>
              </a:tr>
              <a:tr h="258997">
                <a:tc>
                  <a:txBody>
                    <a:bodyPr/>
                    <a:lstStyle/>
                    <a:p>
                      <a:pPr algn="ctr" rtl="1"/>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اعتبارسنجی</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دارایی</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تناسب</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بازار</a:t>
                      </a:r>
                      <a:endParaRPr lang="en-GB" sz="900" dirty="0">
                        <a:solidFill>
                          <a:schemeClr val="tx1">
                            <a:lumMod val="75000"/>
                            <a:lumOff val="25000"/>
                          </a:schemeClr>
                        </a:solidFill>
                        <a:latin typeface="Yekan Bakh" pitchFamily="2" charset="-78"/>
                        <a:ea typeface="Yekan Bakh" pitchFamily="2" charset="-78"/>
                        <a:cs typeface="Yekan Bakh" pitchFamily="2" charset="-78"/>
                      </a:endParaRPr>
                    </a:p>
                  </a:txBody>
                  <a:tcPr marL="66863" marR="66863" marT="33432" marB="33432" anchor="ctr">
                    <a:solidFill>
                      <a:srgbClr val="3242A4">
                        <a:alpha val="7000"/>
                      </a:srgbClr>
                    </a:solidFill>
                  </a:tcPr>
                </a:tc>
                <a:tc>
                  <a:txBody>
                    <a:bodyPr/>
                    <a:lstStyle/>
                    <a:p>
                      <a:pPr algn="ctr" rtl="1"/>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خالق</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کسب‌وکار</a:t>
                      </a:r>
                      <a:endParaRPr lang="en-GB" sz="900" dirty="0">
                        <a:solidFill>
                          <a:schemeClr val="tx1">
                            <a:lumMod val="75000"/>
                            <a:lumOff val="25000"/>
                          </a:schemeClr>
                        </a:solidFill>
                        <a:latin typeface="Yekan Bakh" pitchFamily="2" charset="-78"/>
                        <a:ea typeface="Yekan Bakh" pitchFamily="2" charset="-78"/>
                        <a:cs typeface="Yekan Bakh" pitchFamily="2" charset="-78"/>
                      </a:endParaRPr>
                    </a:p>
                  </a:txBody>
                  <a:tcPr marL="66863" marR="66863" marT="33432" marB="33432" anchor="ctr">
                    <a:solidFill>
                      <a:srgbClr val="3242A4">
                        <a:alpha val="7000"/>
                      </a:srgbClr>
                    </a:solidFill>
                  </a:tcPr>
                </a:tc>
                <a:tc>
                  <a:txBody>
                    <a:bodyPr/>
                    <a:lstStyle/>
                    <a:p>
                      <a:pPr algn="ctr" rtl="1"/>
                      <a:r>
                        <a:rPr lang="fa-IR" sz="900" b="1" dirty="0">
                          <a:solidFill>
                            <a:srgbClr val="1E2761"/>
                          </a:solidFill>
                          <a:latin typeface="Yekan Bakh" pitchFamily="2" charset="-78"/>
                          <a:ea typeface="Yekan Bakh" pitchFamily="2" charset="-78"/>
                          <a:cs typeface="Yekan Bakh" pitchFamily="2" charset="-78"/>
                        </a:rPr>
                        <a:t>۱۰</a:t>
                      </a:r>
                      <a:endParaRPr lang="en-GB" sz="900" b="1" dirty="0">
                        <a:solidFill>
                          <a:srgbClr val="1E2761"/>
                        </a:solidFill>
                        <a:latin typeface="Yekan Bakh" pitchFamily="2" charset="-78"/>
                        <a:ea typeface="Yekan Bakh" pitchFamily="2" charset="-78"/>
                        <a:cs typeface="Yekan Bakh" pitchFamily="2" charset="-78"/>
                      </a:endParaRPr>
                    </a:p>
                  </a:txBody>
                  <a:tcPr marL="66863" marR="66863" marT="33432" marB="33432" anchor="ctr">
                    <a:solidFill>
                      <a:srgbClr val="3242A4">
                        <a:alpha val="7000"/>
                      </a:srgbClr>
                    </a:solidFill>
                  </a:tcPr>
                </a:tc>
                <a:extLst>
                  <a:ext uri="{0D108BD9-81ED-4DB2-BD59-A6C34878D82A}">
                    <a16:rowId xmlns:a16="http://schemas.microsoft.com/office/drawing/2014/main" val="2650155406"/>
                  </a:ext>
                </a:extLst>
              </a:tr>
              <a:tr h="258997">
                <a:tc>
                  <a:txBody>
                    <a:bodyPr/>
                    <a:lstStyle/>
                    <a:p>
                      <a:pPr algn="ctr" rtl="1"/>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جذب</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سرمایه</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در</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بازار</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متمرکز</a:t>
                      </a:r>
                      <a:endParaRPr lang="en-GB" sz="900" dirty="0">
                        <a:solidFill>
                          <a:schemeClr val="tx1">
                            <a:lumMod val="75000"/>
                            <a:lumOff val="25000"/>
                          </a:schemeClr>
                        </a:solidFill>
                        <a:latin typeface="Yekan Bakh" pitchFamily="2" charset="-78"/>
                        <a:ea typeface="Yekan Bakh" pitchFamily="2" charset="-78"/>
                        <a:cs typeface="Yekan Bakh" pitchFamily="2" charset="-78"/>
                      </a:endParaRPr>
                    </a:p>
                  </a:txBody>
                  <a:tcPr marL="66863" marR="66863" marT="33432" marB="33432" anchor="ctr">
                    <a:solidFill>
                      <a:srgbClr val="3242A4">
                        <a:alpha val="7000"/>
                      </a:srgbClr>
                    </a:solidFill>
                  </a:tcPr>
                </a:tc>
                <a:tc>
                  <a:txBody>
                    <a:bodyPr/>
                    <a:lstStyle/>
                    <a:p>
                      <a:pPr algn="ctr" rtl="1"/>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خالق</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کسب‌وکار</a:t>
                      </a:r>
                      <a:endParaRPr lang="en-GB" sz="900" dirty="0">
                        <a:solidFill>
                          <a:schemeClr val="tx1">
                            <a:lumMod val="75000"/>
                            <a:lumOff val="25000"/>
                          </a:schemeClr>
                        </a:solidFill>
                        <a:latin typeface="Yekan Bakh" pitchFamily="2" charset="-78"/>
                        <a:ea typeface="Yekan Bakh" pitchFamily="2" charset="-78"/>
                        <a:cs typeface="Yekan Bakh" pitchFamily="2" charset="-78"/>
                      </a:endParaRPr>
                    </a:p>
                  </a:txBody>
                  <a:tcPr marL="66863" marR="66863" marT="33432" marB="33432" anchor="ctr">
                    <a:solidFill>
                      <a:srgbClr val="3242A4">
                        <a:alpha val="7000"/>
                      </a:srgbClr>
                    </a:solidFill>
                  </a:tcPr>
                </a:tc>
                <a:tc>
                  <a:txBody>
                    <a:bodyPr/>
                    <a:lstStyle/>
                    <a:p>
                      <a:pPr algn="ctr" rtl="1"/>
                      <a:r>
                        <a:rPr lang="fa-IR" sz="900" b="1" dirty="0">
                          <a:solidFill>
                            <a:srgbClr val="1E2761"/>
                          </a:solidFill>
                          <a:latin typeface="Yekan Bakh" pitchFamily="2" charset="-78"/>
                          <a:ea typeface="Yekan Bakh" pitchFamily="2" charset="-78"/>
                          <a:cs typeface="Yekan Bakh" pitchFamily="2" charset="-78"/>
                        </a:rPr>
                        <a:t>۱۱</a:t>
                      </a:r>
                      <a:endParaRPr lang="en-GB" sz="900" b="1" dirty="0">
                        <a:solidFill>
                          <a:srgbClr val="1E2761"/>
                        </a:solidFill>
                        <a:latin typeface="Yekan Bakh" pitchFamily="2" charset="-78"/>
                        <a:ea typeface="Yekan Bakh" pitchFamily="2" charset="-78"/>
                        <a:cs typeface="Yekan Bakh" pitchFamily="2" charset="-78"/>
                      </a:endParaRPr>
                    </a:p>
                  </a:txBody>
                  <a:tcPr marL="66863" marR="66863" marT="33432" marB="33432" anchor="ctr">
                    <a:solidFill>
                      <a:srgbClr val="3242A4">
                        <a:alpha val="7000"/>
                      </a:srgbClr>
                    </a:solidFill>
                  </a:tcPr>
                </a:tc>
                <a:extLst>
                  <a:ext uri="{0D108BD9-81ED-4DB2-BD59-A6C34878D82A}">
                    <a16:rowId xmlns:a16="http://schemas.microsoft.com/office/drawing/2014/main" val="2426740285"/>
                  </a:ext>
                </a:extLst>
              </a:tr>
              <a:tr h="258997">
                <a:tc>
                  <a:txBody>
                    <a:bodyPr/>
                    <a:lstStyle/>
                    <a:p>
                      <a:pPr algn="ctr" rtl="1"/>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دسترسی</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به</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فرصت</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اختصاصی</a:t>
                      </a:r>
                      <a:endParaRPr lang="en-GB" sz="900" dirty="0">
                        <a:solidFill>
                          <a:schemeClr val="tx1">
                            <a:lumMod val="75000"/>
                            <a:lumOff val="25000"/>
                          </a:schemeClr>
                        </a:solidFill>
                        <a:latin typeface="Yekan Bakh" pitchFamily="2" charset="-78"/>
                        <a:ea typeface="Yekan Bakh" pitchFamily="2" charset="-78"/>
                        <a:cs typeface="Yekan Bakh" pitchFamily="2" charset="-78"/>
                      </a:endParaRPr>
                    </a:p>
                  </a:txBody>
                  <a:tcPr marL="66863" marR="66863" marT="33432" marB="33432" anchor="ctr">
                    <a:solidFill>
                      <a:srgbClr val="3242A4">
                        <a:alpha val="7000"/>
                      </a:srgbClr>
                    </a:solidFill>
                  </a:tcPr>
                </a:tc>
                <a:tc>
                  <a:txBody>
                    <a:bodyPr/>
                    <a:lstStyle/>
                    <a:p>
                      <a:pPr algn="ctr" rtl="1"/>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سرمایه‌گذار</a:t>
                      </a:r>
                      <a:endParaRPr lang="en-GB" sz="900" dirty="0">
                        <a:solidFill>
                          <a:schemeClr val="tx1">
                            <a:lumMod val="75000"/>
                            <a:lumOff val="25000"/>
                          </a:schemeClr>
                        </a:solidFill>
                        <a:latin typeface="Yekan Bakh" pitchFamily="2" charset="-78"/>
                        <a:ea typeface="Yekan Bakh" pitchFamily="2" charset="-78"/>
                        <a:cs typeface="Yekan Bakh" pitchFamily="2" charset="-78"/>
                      </a:endParaRPr>
                    </a:p>
                  </a:txBody>
                  <a:tcPr marL="66863" marR="66863" marT="33432" marB="33432" anchor="ctr">
                    <a:solidFill>
                      <a:srgbClr val="3242A4">
                        <a:alpha val="7000"/>
                      </a:srgbClr>
                    </a:solidFill>
                  </a:tcPr>
                </a:tc>
                <a:tc>
                  <a:txBody>
                    <a:bodyPr/>
                    <a:lstStyle/>
                    <a:p>
                      <a:pPr algn="ctr" rtl="1"/>
                      <a:r>
                        <a:rPr lang="fa-IR" sz="900" b="1" dirty="0">
                          <a:solidFill>
                            <a:srgbClr val="1E2761"/>
                          </a:solidFill>
                          <a:latin typeface="Yekan Bakh" pitchFamily="2" charset="-78"/>
                          <a:ea typeface="Yekan Bakh" pitchFamily="2" charset="-78"/>
                          <a:cs typeface="Yekan Bakh" pitchFamily="2" charset="-78"/>
                        </a:rPr>
                        <a:t>۱۲</a:t>
                      </a:r>
                      <a:endParaRPr lang="en-GB" sz="900" b="1" dirty="0">
                        <a:solidFill>
                          <a:srgbClr val="1E2761"/>
                        </a:solidFill>
                        <a:latin typeface="Yekan Bakh" pitchFamily="2" charset="-78"/>
                        <a:ea typeface="Yekan Bakh" pitchFamily="2" charset="-78"/>
                        <a:cs typeface="Yekan Bakh" pitchFamily="2" charset="-78"/>
                      </a:endParaRPr>
                    </a:p>
                  </a:txBody>
                  <a:tcPr marL="66863" marR="66863" marT="33432" marB="33432" anchor="ctr">
                    <a:solidFill>
                      <a:srgbClr val="3242A4">
                        <a:alpha val="7000"/>
                      </a:srgbClr>
                    </a:solidFill>
                  </a:tcPr>
                </a:tc>
                <a:extLst>
                  <a:ext uri="{0D108BD9-81ED-4DB2-BD59-A6C34878D82A}">
                    <a16:rowId xmlns:a16="http://schemas.microsoft.com/office/drawing/2014/main" val="2571348867"/>
                  </a:ext>
                </a:extLst>
              </a:tr>
              <a:tr h="258997">
                <a:tc>
                  <a:txBody>
                    <a:bodyPr/>
                    <a:lstStyle/>
                    <a:p>
                      <a:pPr algn="ctr" rtl="1"/>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راستی‌آزمایی</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ادعا</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ریسک</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طرف</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مقابل</a:t>
                      </a:r>
                      <a:endParaRPr lang="en-GB" sz="900" dirty="0">
                        <a:solidFill>
                          <a:schemeClr val="tx1">
                            <a:lumMod val="75000"/>
                            <a:lumOff val="25000"/>
                          </a:schemeClr>
                        </a:solidFill>
                        <a:latin typeface="Yekan Bakh" pitchFamily="2" charset="-78"/>
                        <a:ea typeface="Yekan Bakh" pitchFamily="2" charset="-78"/>
                        <a:cs typeface="Yekan Bakh" pitchFamily="2" charset="-78"/>
                      </a:endParaRPr>
                    </a:p>
                  </a:txBody>
                  <a:tcPr marL="66863" marR="66863" marT="33432" marB="33432" anchor="ctr">
                    <a:solidFill>
                      <a:srgbClr val="3242A4">
                        <a:alpha val="7000"/>
                      </a:srgbClr>
                    </a:solidFill>
                  </a:tcPr>
                </a:tc>
                <a:tc>
                  <a:txBody>
                    <a:bodyPr/>
                    <a:lstStyle/>
                    <a:p>
                      <a:pPr algn="ctr" rtl="1"/>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سرمایه‌گذار</a:t>
                      </a:r>
                      <a:endParaRPr lang="en-GB" sz="900" dirty="0">
                        <a:solidFill>
                          <a:schemeClr val="tx1">
                            <a:lumMod val="75000"/>
                            <a:lumOff val="25000"/>
                          </a:schemeClr>
                        </a:solidFill>
                        <a:latin typeface="Yekan Bakh" pitchFamily="2" charset="-78"/>
                        <a:ea typeface="Yekan Bakh" pitchFamily="2" charset="-78"/>
                        <a:cs typeface="Yekan Bakh" pitchFamily="2" charset="-78"/>
                      </a:endParaRPr>
                    </a:p>
                  </a:txBody>
                  <a:tcPr marL="66863" marR="66863" marT="33432" marB="33432" anchor="ctr">
                    <a:solidFill>
                      <a:srgbClr val="3242A4">
                        <a:alpha val="7000"/>
                      </a:srgbClr>
                    </a:solidFill>
                  </a:tcPr>
                </a:tc>
                <a:tc>
                  <a:txBody>
                    <a:bodyPr/>
                    <a:lstStyle/>
                    <a:p>
                      <a:pPr algn="ctr" rtl="1"/>
                      <a:r>
                        <a:rPr lang="fa-IR" sz="900" b="1" dirty="0">
                          <a:solidFill>
                            <a:srgbClr val="1E2761"/>
                          </a:solidFill>
                          <a:latin typeface="Yekan Bakh" pitchFamily="2" charset="-78"/>
                          <a:ea typeface="Yekan Bakh" pitchFamily="2" charset="-78"/>
                          <a:cs typeface="Yekan Bakh" pitchFamily="2" charset="-78"/>
                        </a:rPr>
                        <a:t>۱۳</a:t>
                      </a:r>
                      <a:endParaRPr lang="en-GB" sz="900" b="1" dirty="0">
                        <a:solidFill>
                          <a:srgbClr val="1E2761"/>
                        </a:solidFill>
                        <a:latin typeface="Yekan Bakh" pitchFamily="2" charset="-78"/>
                        <a:ea typeface="Yekan Bakh" pitchFamily="2" charset="-78"/>
                        <a:cs typeface="Yekan Bakh" pitchFamily="2" charset="-78"/>
                      </a:endParaRPr>
                    </a:p>
                  </a:txBody>
                  <a:tcPr marL="66863" marR="66863" marT="33432" marB="33432" anchor="ctr">
                    <a:solidFill>
                      <a:srgbClr val="3242A4">
                        <a:alpha val="7000"/>
                      </a:srgbClr>
                    </a:solidFill>
                  </a:tcPr>
                </a:tc>
                <a:extLst>
                  <a:ext uri="{0D108BD9-81ED-4DB2-BD59-A6C34878D82A}">
                    <a16:rowId xmlns:a16="http://schemas.microsoft.com/office/drawing/2014/main" val="3765803264"/>
                  </a:ext>
                </a:extLst>
              </a:tr>
              <a:tr h="258997">
                <a:tc>
                  <a:txBody>
                    <a:bodyPr/>
                    <a:lstStyle/>
                    <a:p>
                      <a:pPr algn="ctr" rtl="1"/>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مسیر</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جبران</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خسارت</a:t>
                      </a:r>
                      <a:r>
                        <a:rPr lang="en-US" sz="900" b="0" i="0" kern="1200" dirty="0">
                          <a:solidFill>
                            <a:schemeClr val="tx1">
                              <a:lumMod val="75000"/>
                              <a:lumOff val="25000"/>
                            </a:schemeClr>
                          </a:solidFill>
                          <a:effectLst/>
                          <a:latin typeface="Yekan Bakh" pitchFamily="2" charset="-78"/>
                          <a:ea typeface="Yekan Bakh" pitchFamily="2" charset="-78"/>
                          <a:cs typeface="Yekan Bakh" pitchFamily="2" charset="-78"/>
                        </a:rPr>
                        <a:t>/</a:t>
                      </a:r>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خروج</a:t>
                      </a:r>
                      <a:endParaRPr lang="en-GB" sz="900" dirty="0">
                        <a:solidFill>
                          <a:schemeClr val="tx1">
                            <a:lumMod val="75000"/>
                            <a:lumOff val="25000"/>
                          </a:schemeClr>
                        </a:solidFill>
                        <a:latin typeface="Yekan Bakh" pitchFamily="2" charset="-78"/>
                        <a:ea typeface="Yekan Bakh" pitchFamily="2" charset="-78"/>
                        <a:cs typeface="Yekan Bakh" pitchFamily="2" charset="-78"/>
                      </a:endParaRPr>
                    </a:p>
                  </a:txBody>
                  <a:tcPr marL="66863" marR="66863" marT="33432" marB="33432" anchor="ctr">
                    <a:solidFill>
                      <a:srgbClr val="3242A4">
                        <a:alpha val="7000"/>
                      </a:srgbClr>
                    </a:solidFill>
                  </a:tcPr>
                </a:tc>
                <a:tc>
                  <a:txBody>
                    <a:bodyPr/>
                    <a:lstStyle/>
                    <a:p>
                      <a:pPr algn="ctr" rtl="1"/>
                      <a:r>
                        <a:rPr lang="en-US" sz="900" b="0" i="0" kern="1200" dirty="0" err="1">
                          <a:solidFill>
                            <a:schemeClr val="tx1">
                              <a:lumMod val="75000"/>
                              <a:lumOff val="25000"/>
                            </a:schemeClr>
                          </a:solidFill>
                          <a:effectLst/>
                          <a:latin typeface="Yekan Bakh" pitchFamily="2" charset="-78"/>
                          <a:ea typeface="Yekan Bakh" pitchFamily="2" charset="-78"/>
                          <a:cs typeface="Yekan Bakh" pitchFamily="2" charset="-78"/>
                        </a:rPr>
                        <a:t>مشترک</a:t>
                      </a:r>
                      <a:endParaRPr lang="en-GB" sz="900" dirty="0">
                        <a:solidFill>
                          <a:schemeClr val="tx1">
                            <a:lumMod val="75000"/>
                            <a:lumOff val="25000"/>
                          </a:schemeClr>
                        </a:solidFill>
                        <a:latin typeface="Yekan Bakh" pitchFamily="2" charset="-78"/>
                        <a:ea typeface="Yekan Bakh" pitchFamily="2" charset="-78"/>
                        <a:cs typeface="Yekan Bakh" pitchFamily="2" charset="-78"/>
                      </a:endParaRPr>
                    </a:p>
                  </a:txBody>
                  <a:tcPr marL="66863" marR="66863" marT="33432" marB="33432" anchor="ctr">
                    <a:solidFill>
                      <a:srgbClr val="3242A4">
                        <a:alpha val="7000"/>
                      </a:srgbClr>
                    </a:solidFill>
                  </a:tcPr>
                </a:tc>
                <a:tc>
                  <a:txBody>
                    <a:bodyPr/>
                    <a:lstStyle/>
                    <a:p>
                      <a:pPr algn="ctr" rtl="1"/>
                      <a:r>
                        <a:rPr lang="fa-IR" sz="900" b="1" dirty="0">
                          <a:solidFill>
                            <a:srgbClr val="1E2761"/>
                          </a:solidFill>
                          <a:latin typeface="Yekan Bakh" pitchFamily="2" charset="-78"/>
                          <a:ea typeface="Yekan Bakh" pitchFamily="2" charset="-78"/>
                          <a:cs typeface="Yekan Bakh" pitchFamily="2" charset="-78"/>
                        </a:rPr>
                        <a:t>۱۴</a:t>
                      </a:r>
                      <a:endParaRPr lang="en-GB" sz="900" b="1" dirty="0">
                        <a:solidFill>
                          <a:srgbClr val="1E2761"/>
                        </a:solidFill>
                        <a:latin typeface="Yekan Bakh" pitchFamily="2" charset="-78"/>
                        <a:ea typeface="Yekan Bakh" pitchFamily="2" charset="-78"/>
                        <a:cs typeface="Yekan Bakh" pitchFamily="2" charset="-78"/>
                      </a:endParaRPr>
                    </a:p>
                  </a:txBody>
                  <a:tcPr marL="66863" marR="66863" marT="33432" marB="33432" anchor="ctr">
                    <a:solidFill>
                      <a:srgbClr val="3242A4">
                        <a:alpha val="7000"/>
                      </a:srgbClr>
                    </a:solidFill>
                  </a:tcPr>
                </a:tc>
                <a:extLst>
                  <a:ext uri="{0D108BD9-81ED-4DB2-BD59-A6C34878D82A}">
                    <a16:rowId xmlns:a16="http://schemas.microsoft.com/office/drawing/2014/main" val="1995628323"/>
                  </a:ext>
                </a:extLst>
              </a:tr>
            </a:tbl>
          </a:graphicData>
        </a:graphic>
      </p:graphicFrame>
      <p:sp>
        <p:nvSpPr>
          <p:cNvPr id="6" name="TextBox 5">
            <a:extLst>
              <a:ext uri="{FF2B5EF4-FFF2-40B4-BE49-F238E27FC236}">
                <a16:creationId xmlns:a16="http://schemas.microsoft.com/office/drawing/2014/main" id="{00FAB3F0-F35E-0003-9879-CCA8094D597A}"/>
              </a:ext>
            </a:extLst>
          </p:cNvPr>
          <p:cNvSpPr txBox="1"/>
          <p:nvPr/>
        </p:nvSpPr>
        <p:spPr>
          <a:xfrm>
            <a:off x="5989096" y="5403721"/>
            <a:ext cx="4726417" cy="338554"/>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err="1">
                <a:ln>
                  <a:noFill/>
                </a:ln>
                <a:solidFill>
                  <a:prstClr val="white">
                    <a:lumMod val="75000"/>
                  </a:prstClr>
                </a:solidFill>
                <a:effectLst/>
                <a:uLnTx/>
                <a:uFillTx/>
                <a:latin typeface="Yekan Bakh" pitchFamily="2" charset="-78"/>
                <a:ea typeface="Yekan Bakh" pitchFamily="2" charset="-78"/>
                <a:cs typeface="Yekan Bakh" pitchFamily="2" charset="-78"/>
              </a:rPr>
              <a:t>موقعیت‌یابی</a:t>
            </a:r>
            <a:r>
              <a:rPr kumimoji="0" lang="en-US" sz="800" b="0" i="0" u="none" strike="noStrike" kern="1200" cap="none" spc="0" normalizeH="0" baseline="0" noProof="0" dirty="0">
                <a:ln>
                  <a:noFill/>
                </a:ln>
                <a:solidFill>
                  <a:prstClr val="white">
                    <a:lumMod val="75000"/>
                  </a:prstClr>
                </a:solidFill>
                <a:effectLst/>
                <a:uLnTx/>
                <a:uFillTx/>
                <a:latin typeface="Yekan Bakh" pitchFamily="2" charset="-78"/>
                <a:ea typeface="Yekan Bakh" pitchFamily="2" charset="-78"/>
                <a:cs typeface="Yekan Bakh" pitchFamily="2" charset="-78"/>
              </a:rPr>
              <a:t> </a:t>
            </a:r>
            <a:r>
              <a:rPr kumimoji="0" lang="en-US" sz="800" b="0" i="0" u="none" strike="noStrike" kern="1200" cap="none" spc="0" normalizeH="0" baseline="0" noProof="0" dirty="0" err="1">
                <a:ln>
                  <a:noFill/>
                </a:ln>
                <a:solidFill>
                  <a:prstClr val="white">
                    <a:lumMod val="75000"/>
                  </a:prstClr>
                </a:solidFill>
                <a:effectLst/>
                <a:uLnTx/>
                <a:uFillTx/>
                <a:latin typeface="Yekan Bakh" pitchFamily="2" charset="-78"/>
                <a:ea typeface="Yekan Bakh" pitchFamily="2" charset="-78"/>
                <a:cs typeface="Yekan Bakh" pitchFamily="2" charset="-78"/>
              </a:rPr>
              <a:t>نقاط</a:t>
            </a:r>
            <a:r>
              <a:rPr kumimoji="0" lang="en-US" sz="800" b="0" i="0" u="none" strike="noStrike" kern="1200" cap="none" spc="0" normalizeH="0" baseline="0" noProof="0" dirty="0">
                <a:ln>
                  <a:noFill/>
                </a:ln>
                <a:solidFill>
                  <a:prstClr val="white">
                    <a:lumMod val="75000"/>
                  </a:prstClr>
                </a:solidFill>
                <a:effectLst/>
                <a:uLnTx/>
                <a:uFillTx/>
                <a:latin typeface="Yekan Bakh" pitchFamily="2" charset="-78"/>
                <a:ea typeface="Yekan Bakh" pitchFamily="2" charset="-78"/>
                <a:cs typeface="Yekan Bakh" pitchFamily="2" charset="-78"/>
              </a:rPr>
              <a:t> </a:t>
            </a:r>
            <a:r>
              <a:rPr kumimoji="0" lang="en-US" sz="800" b="0" i="0" u="none" strike="noStrike" kern="1200" cap="none" spc="0" normalizeH="0" baseline="0" noProof="0" dirty="0" err="1">
                <a:ln>
                  <a:noFill/>
                </a:ln>
                <a:solidFill>
                  <a:prstClr val="white">
                    <a:lumMod val="75000"/>
                  </a:prstClr>
                </a:solidFill>
                <a:effectLst/>
                <a:uLnTx/>
                <a:uFillTx/>
                <a:latin typeface="Yekan Bakh" pitchFamily="2" charset="-78"/>
                <a:ea typeface="Yekan Bakh" pitchFamily="2" charset="-78"/>
                <a:cs typeface="Yekan Bakh" pitchFamily="2" charset="-78"/>
              </a:rPr>
              <a:t>بر</a:t>
            </a:r>
            <a:r>
              <a:rPr kumimoji="0" lang="en-US" sz="800" b="0" i="0" u="none" strike="noStrike" kern="1200" cap="none" spc="0" normalizeH="0" baseline="0" noProof="0" dirty="0">
                <a:ln>
                  <a:noFill/>
                </a:ln>
                <a:solidFill>
                  <a:prstClr val="white">
                    <a:lumMod val="75000"/>
                  </a:prstClr>
                </a:solidFill>
                <a:effectLst/>
                <a:uLnTx/>
                <a:uFillTx/>
                <a:latin typeface="Yekan Bakh" pitchFamily="2" charset="-78"/>
                <a:ea typeface="Yekan Bakh" pitchFamily="2" charset="-78"/>
                <a:cs typeface="Yekan Bakh" pitchFamily="2" charset="-78"/>
              </a:rPr>
              <a:t> </a:t>
            </a:r>
            <a:r>
              <a:rPr kumimoji="0" lang="en-US" sz="800" b="0" i="0" u="none" strike="noStrike" kern="1200" cap="none" spc="0" normalizeH="0" baseline="0" noProof="0" dirty="0" err="1">
                <a:ln>
                  <a:noFill/>
                </a:ln>
                <a:solidFill>
                  <a:prstClr val="white">
                    <a:lumMod val="75000"/>
                  </a:prstClr>
                </a:solidFill>
                <a:effectLst/>
                <a:uLnTx/>
                <a:uFillTx/>
                <a:latin typeface="Yekan Bakh" pitchFamily="2" charset="-78"/>
                <a:ea typeface="Yekan Bakh" pitchFamily="2" charset="-78"/>
                <a:cs typeface="Yekan Bakh" pitchFamily="2" charset="-78"/>
              </a:rPr>
              <a:t>پایه</a:t>
            </a:r>
            <a:r>
              <a:rPr kumimoji="0" lang="en-US" sz="800" b="0" i="0" u="none" strike="noStrike" kern="1200" cap="none" spc="0" normalizeH="0" baseline="0" noProof="0" dirty="0">
                <a:ln>
                  <a:noFill/>
                </a:ln>
                <a:solidFill>
                  <a:prstClr val="white">
                    <a:lumMod val="75000"/>
                  </a:prstClr>
                </a:solidFill>
                <a:effectLst/>
                <a:uLnTx/>
                <a:uFillTx/>
                <a:latin typeface="Yekan Bakh" pitchFamily="2" charset="-78"/>
                <a:ea typeface="Yekan Bakh" pitchFamily="2" charset="-78"/>
                <a:cs typeface="Yekan Bakh" pitchFamily="2" charset="-78"/>
              </a:rPr>
              <a:t> </a:t>
            </a:r>
            <a:r>
              <a:rPr kumimoji="0" lang="en-US" sz="800" b="0" i="0" u="none" strike="noStrike" kern="1200" cap="none" spc="0" normalizeH="0" baseline="0" noProof="0" dirty="0" err="1">
                <a:ln>
                  <a:noFill/>
                </a:ln>
                <a:solidFill>
                  <a:prstClr val="white">
                    <a:lumMod val="75000"/>
                  </a:prstClr>
                </a:solidFill>
                <a:effectLst/>
                <a:uLnTx/>
                <a:uFillTx/>
                <a:latin typeface="Yekan Bakh" pitchFamily="2" charset="-78"/>
                <a:ea typeface="Yekan Bakh" pitchFamily="2" charset="-78"/>
                <a:cs typeface="Yekan Bakh" pitchFamily="2" charset="-78"/>
              </a:rPr>
              <a:t>تحلیل</a:t>
            </a:r>
            <a:r>
              <a:rPr kumimoji="0" lang="en-US" sz="800" b="0" i="0" u="none" strike="noStrike" kern="1200" cap="none" spc="0" normalizeH="0" baseline="0" noProof="0" dirty="0">
                <a:ln>
                  <a:noFill/>
                </a:ln>
                <a:solidFill>
                  <a:prstClr val="white">
                    <a:lumMod val="75000"/>
                  </a:prstClr>
                </a:solidFill>
                <a:effectLst/>
                <a:uLnTx/>
                <a:uFillTx/>
                <a:latin typeface="Yekan Bakh" pitchFamily="2" charset="-78"/>
                <a:ea typeface="Yekan Bakh" pitchFamily="2" charset="-78"/>
                <a:cs typeface="Yekan Bakh" pitchFamily="2" charset="-78"/>
              </a:rPr>
              <a:t> </a:t>
            </a:r>
            <a:r>
              <a:rPr kumimoji="0" lang="en-US" sz="800" b="0" i="0" u="none" strike="noStrike" kern="1200" cap="none" spc="0" normalizeH="0" baseline="0" noProof="0" dirty="0" err="1">
                <a:ln>
                  <a:noFill/>
                </a:ln>
                <a:solidFill>
                  <a:prstClr val="white">
                    <a:lumMod val="75000"/>
                  </a:prstClr>
                </a:solidFill>
                <a:effectLst/>
                <a:uLnTx/>
                <a:uFillTx/>
                <a:latin typeface="Yekan Bakh" pitchFamily="2" charset="-78"/>
                <a:ea typeface="Yekan Bakh" pitchFamily="2" charset="-78"/>
                <a:cs typeface="Yekan Bakh" pitchFamily="2" charset="-78"/>
              </a:rPr>
              <a:t>کیفی</a:t>
            </a:r>
            <a:r>
              <a:rPr kumimoji="0" lang="en-US" sz="800" b="0" i="0" u="none" strike="noStrike" kern="1200" cap="none" spc="0" normalizeH="0" baseline="0" noProof="0" dirty="0">
                <a:ln>
                  <a:noFill/>
                </a:ln>
                <a:solidFill>
                  <a:prstClr val="white">
                    <a:lumMod val="75000"/>
                  </a:prstClr>
                </a:solidFill>
                <a:effectLst/>
                <a:uLnTx/>
                <a:uFillTx/>
                <a:latin typeface="Yekan Bakh" pitchFamily="2" charset="-78"/>
                <a:ea typeface="Yekan Bakh" pitchFamily="2" charset="-78"/>
                <a:cs typeface="Yekan Bakh" pitchFamily="2" charset="-78"/>
              </a:rPr>
              <a:t> </a:t>
            </a:r>
            <a:r>
              <a:rPr kumimoji="0" lang="en-US" sz="800" b="0" i="0" u="none" strike="noStrike" kern="1200" cap="none" spc="0" normalizeH="0" baseline="0" noProof="0" dirty="0" err="1">
                <a:ln>
                  <a:noFill/>
                </a:ln>
                <a:solidFill>
                  <a:prstClr val="white">
                    <a:lumMod val="75000"/>
                  </a:prstClr>
                </a:solidFill>
                <a:effectLst/>
                <a:uLnTx/>
                <a:uFillTx/>
                <a:latin typeface="Yekan Bakh" pitchFamily="2" charset="-78"/>
                <a:ea typeface="Yekan Bakh" pitchFamily="2" charset="-78"/>
                <a:cs typeface="Yekan Bakh" pitchFamily="2" charset="-78"/>
              </a:rPr>
              <a:t>اهمیت</a:t>
            </a:r>
            <a:r>
              <a:rPr kumimoji="0" lang="en-US" sz="800" b="0" i="0" u="none" strike="noStrike" kern="1200" cap="none" spc="0" normalizeH="0" baseline="0" noProof="0" dirty="0">
                <a:ln>
                  <a:noFill/>
                </a:ln>
                <a:solidFill>
                  <a:prstClr val="white">
                    <a:lumMod val="75000"/>
                  </a:prstClr>
                </a:solidFill>
                <a:effectLst/>
                <a:uLnTx/>
                <a:uFillTx/>
                <a:latin typeface="Yekan Bakh" pitchFamily="2" charset="-78"/>
                <a:ea typeface="Yekan Bakh" pitchFamily="2" charset="-78"/>
                <a:cs typeface="Yekan Bakh" pitchFamily="2" charset="-78"/>
              </a:rPr>
              <a:t> و </a:t>
            </a:r>
            <a:r>
              <a:rPr kumimoji="0" lang="en-US" sz="800" b="0" i="0" u="none" strike="noStrike" kern="1200" cap="none" spc="0" normalizeH="0" baseline="0" noProof="0" dirty="0" err="1">
                <a:ln>
                  <a:noFill/>
                </a:ln>
                <a:solidFill>
                  <a:prstClr val="white">
                    <a:lumMod val="75000"/>
                  </a:prstClr>
                </a:solidFill>
                <a:effectLst/>
                <a:uLnTx/>
                <a:uFillTx/>
                <a:latin typeface="Yekan Bakh" pitchFamily="2" charset="-78"/>
                <a:ea typeface="Yekan Bakh" pitchFamily="2" charset="-78"/>
                <a:cs typeface="Yekan Bakh" pitchFamily="2" charset="-78"/>
              </a:rPr>
              <a:t>شدت</a:t>
            </a:r>
            <a:r>
              <a:rPr kumimoji="0" lang="en-US" sz="800" b="0" i="0" u="none" strike="noStrike" kern="1200" cap="none" spc="0" normalizeH="0" baseline="0" noProof="0" dirty="0">
                <a:ln>
                  <a:noFill/>
                </a:ln>
                <a:solidFill>
                  <a:prstClr val="white">
                    <a:lumMod val="75000"/>
                  </a:prstClr>
                </a:solidFill>
                <a:effectLst/>
                <a:uLnTx/>
                <a:uFillTx/>
                <a:latin typeface="Yekan Bakh" pitchFamily="2" charset="-78"/>
                <a:ea typeface="Yekan Bakh" pitchFamily="2" charset="-78"/>
                <a:cs typeface="Yekan Bakh" pitchFamily="2" charset="-78"/>
              </a:rPr>
              <a:t> </a:t>
            </a:r>
            <a:r>
              <a:rPr kumimoji="0" lang="en-US" sz="800" b="0" i="0" u="none" strike="noStrike" kern="1200" cap="none" spc="0" normalizeH="0" baseline="0" noProof="0" dirty="0" err="1">
                <a:ln>
                  <a:noFill/>
                </a:ln>
                <a:solidFill>
                  <a:prstClr val="white">
                    <a:lumMod val="75000"/>
                  </a:prstClr>
                </a:solidFill>
                <a:effectLst/>
                <a:uLnTx/>
                <a:uFillTx/>
                <a:latin typeface="Yekan Bakh" pitchFamily="2" charset="-78"/>
                <a:ea typeface="Yekan Bakh" pitchFamily="2" charset="-78"/>
                <a:cs typeface="Yekan Bakh" pitchFamily="2" charset="-78"/>
              </a:rPr>
              <a:t>دردسر</a:t>
            </a:r>
            <a:r>
              <a:rPr kumimoji="0" lang="en-US" sz="800" b="0" i="0" u="none" strike="noStrike" kern="1200" cap="none" spc="0" normalizeH="0" baseline="0" noProof="0" dirty="0">
                <a:ln>
                  <a:noFill/>
                </a:ln>
                <a:solidFill>
                  <a:prstClr val="white">
                    <a:lumMod val="75000"/>
                  </a:prstClr>
                </a:solidFill>
                <a:effectLst/>
                <a:uLnTx/>
                <a:uFillTx/>
                <a:latin typeface="Yekan Bakh" pitchFamily="2" charset="-78"/>
                <a:ea typeface="Yekan Bakh" pitchFamily="2" charset="-78"/>
                <a:cs typeface="Yekan Bakh" pitchFamily="2" charset="-78"/>
              </a:rPr>
              <a:t> </a:t>
            </a:r>
            <a:r>
              <a:rPr kumimoji="0" lang="en-US" sz="800" b="0" i="0" u="none" strike="noStrike" kern="1200" cap="none" spc="0" normalizeH="0" baseline="0" noProof="0" dirty="0" err="1">
                <a:ln>
                  <a:noFill/>
                </a:ln>
                <a:solidFill>
                  <a:prstClr val="white">
                    <a:lumMod val="75000"/>
                  </a:prstClr>
                </a:solidFill>
                <a:effectLst/>
                <a:uLnTx/>
                <a:uFillTx/>
                <a:latin typeface="Yekan Bakh" pitchFamily="2" charset="-78"/>
                <a:ea typeface="Yekan Bakh" pitchFamily="2" charset="-78"/>
                <a:cs typeface="Yekan Bakh" pitchFamily="2" charset="-78"/>
              </a:rPr>
              <a:t>در</a:t>
            </a:r>
            <a:r>
              <a:rPr kumimoji="0" lang="en-US" sz="800" b="0" i="0" u="none" strike="noStrike" kern="1200" cap="none" spc="0" normalizeH="0" baseline="0" noProof="0" dirty="0">
                <a:ln>
                  <a:noFill/>
                </a:ln>
                <a:solidFill>
                  <a:prstClr val="white">
                    <a:lumMod val="75000"/>
                  </a:prstClr>
                </a:solidFill>
                <a:effectLst/>
                <a:uLnTx/>
                <a:uFillTx/>
                <a:latin typeface="Yekan Bakh" pitchFamily="2" charset="-78"/>
                <a:ea typeface="Yekan Bakh" pitchFamily="2" charset="-78"/>
                <a:cs typeface="Yekan Bakh" pitchFamily="2" charset="-78"/>
              </a:rPr>
              <a:t> </a:t>
            </a:r>
            <a:r>
              <a:rPr kumimoji="0" lang="en-US" sz="800" b="0" i="0" u="none" strike="noStrike" kern="1200" cap="none" spc="0" normalizeH="0" baseline="0" noProof="0" dirty="0" err="1">
                <a:ln>
                  <a:noFill/>
                </a:ln>
                <a:solidFill>
                  <a:prstClr val="white">
                    <a:lumMod val="75000"/>
                  </a:prstClr>
                </a:solidFill>
                <a:effectLst/>
                <a:uLnTx/>
                <a:uFillTx/>
                <a:latin typeface="Yekan Bakh" pitchFamily="2" charset="-78"/>
                <a:ea typeface="Yekan Bakh" pitchFamily="2" charset="-78"/>
                <a:cs typeface="Yekan Bakh" pitchFamily="2" charset="-78"/>
              </a:rPr>
              <a:t>بخش‌های</a:t>
            </a:r>
            <a:r>
              <a:rPr kumimoji="0" lang="en-US" sz="800" b="0" i="0" u="none" strike="noStrike" kern="1200" cap="none" spc="0" normalizeH="0" baseline="0" noProof="0" dirty="0">
                <a:ln>
                  <a:noFill/>
                </a:ln>
                <a:solidFill>
                  <a:prstClr val="white">
                    <a:lumMod val="75000"/>
                  </a:prstClr>
                </a:solidFill>
                <a:effectLst/>
                <a:uLnTx/>
                <a:uFillTx/>
                <a:latin typeface="Yekan Bakh" pitchFamily="2" charset="-78"/>
                <a:ea typeface="Yekan Bakh" pitchFamily="2" charset="-78"/>
                <a:cs typeface="Yekan Bakh" pitchFamily="2" charset="-78"/>
              </a:rPr>
              <a:t> ۲ </a:t>
            </a:r>
            <a:r>
              <a:rPr kumimoji="0" lang="en-US" sz="800" b="0" i="0" u="none" strike="noStrike" kern="1200" cap="none" spc="0" normalizeH="0" baseline="0" noProof="0" dirty="0" err="1">
                <a:ln>
                  <a:noFill/>
                </a:ln>
                <a:solidFill>
                  <a:prstClr val="white">
                    <a:lumMod val="75000"/>
                  </a:prstClr>
                </a:solidFill>
                <a:effectLst/>
                <a:uLnTx/>
                <a:uFillTx/>
                <a:latin typeface="Yekan Bakh" pitchFamily="2" charset="-78"/>
                <a:ea typeface="Yekan Bakh" pitchFamily="2" charset="-78"/>
                <a:cs typeface="Yekan Bakh" pitchFamily="2" charset="-78"/>
              </a:rPr>
              <a:t>تا</a:t>
            </a:r>
            <a:r>
              <a:rPr kumimoji="0" lang="en-US" sz="800" b="0" i="0" u="none" strike="noStrike" kern="1200" cap="none" spc="0" normalizeH="0" baseline="0" noProof="0" dirty="0">
                <a:ln>
                  <a:noFill/>
                </a:ln>
                <a:solidFill>
                  <a:prstClr val="white">
                    <a:lumMod val="75000"/>
                  </a:prstClr>
                </a:solidFill>
                <a:effectLst/>
                <a:uLnTx/>
                <a:uFillTx/>
                <a:latin typeface="Yekan Bakh" pitchFamily="2" charset="-78"/>
                <a:ea typeface="Yekan Bakh" pitchFamily="2" charset="-78"/>
                <a:cs typeface="Yekan Bakh" pitchFamily="2" charset="-78"/>
              </a:rPr>
              <a:t> ۵ </a:t>
            </a:r>
            <a:r>
              <a:rPr kumimoji="0" lang="en-US" sz="800" b="0" i="0" u="none" strike="noStrike" kern="1200" cap="none" spc="0" normalizeH="0" baseline="0" noProof="0" dirty="0" err="1">
                <a:ln>
                  <a:noFill/>
                </a:ln>
                <a:solidFill>
                  <a:prstClr val="white">
                    <a:lumMod val="75000"/>
                  </a:prstClr>
                </a:solidFill>
                <a:effectLst/>
                <a:uLnTx/>
                <a:uFillTx/>
                <a:latin typeface="Yekan Bakh" pitchFamily="2" charset="-78"/>
                <a:ea typeface="Yekan Bakh" pitchFamily="2" charset="-78"/>
                <a:cs typeface="Yekan Bakh" pitchFamily="2" charset="-78"/>
              </a:rPr>
              <a:t>است</a:t>
            </a:r>
            <a:r>
              <a:rPr kumimoji="0" lang="en-US" sz="800" b="0" i="0" u="none" strike="noStrike" kern="1200" cap="none" spc="0" normalizeH="0" baseline="0" noProof="0" dirty="0">
                <a:ln>
                  <a:noFill/>
                </a:ln>
                <a:solidFill>
                  <a:prstClr val="white">
                    <a:lumMod val="75000"/>
                  </a:prstClr>
                </a:solidFill>
                <a:effectLst/>
                <a:uLnTx/>
                <a:uFillTx/>
                <a:latin typeface="Yekan Bakh" pitchFamily="2" charset="-78"/>
                <a:ea typeface="Yekan Bakh" pitchFamily="2" charset="-78"/>
                <a:cs typeface="Yekan Bakh" pitchFamily="2" charset="-78"/>
              </a:rPr>
              <a:t>، </a:t>
            </a:r>
            <a:r>
              <a:rPr kumimoji="0" lang="en-US" sz="800" b="0" i="0" u="none" strike="noStrike" kern="1200" cap="none" spc="0" normalizeH="0" baseline="0" noProof="0" dirty="0" err="1">
                <a:ln>
                  <a:noFill/>
                </a:ln>
                <a:solidFill>
                  <a:prstClr val="white">
                    <a:lumMod val="75000"/>
                  </a:prstClr>
                </a:solidFill>
                <a:effectLst/>
                <a:uLnTx/>
                <a:uFillTx/>
                <a:latin typeface="Yekan Bakh" pitchFamily="2" charset="-78"/>
                <a:ea typeface="Yekan Bakh" pitchFamily="2" charset="-78"/>
                <a:cs typeface="Yekan Bakh" pitchFamily="2" charset="-78"/>
              </a:rPr>
              <a:t>نه</a:t>
            </a:r>
            <a:r>
              <a:rPr kumimoji="0" lang="en-US" sz="800" b="0" i="0" u="none" strike="noStrike" kern="1200" cap="none" spc="0" normalizeH="0" baseline="0" noProof="0" dirty="0">
                <a:ln>
                  <a:noFill/>
                </a:ln>
                <a:solidFill>
                  <a:prstClr val="white">
                    <a:lumMod val="75000"/>
                  </a:prstClr>
                </a:solidFill>
                <a:effectLst/>
                <a:uLnTx/>
                <a:uFillTx/>
                <a:latin typeface="Yekan Bakh" pitchFamily="2" charset="-78"/>
                <a:ea typeface="Yekan Bakh" pitchFamily="2" charset="-78"/>
                <a:cs typeface="Yekan Bakh" pitchFamily="2" charset="-78"/>
              </a:rPr>
              <a:t> </a:t>
            </a:r>
            <a:r>
              <a:rPr kumimoji="0" lang="en-US" sz="800" b="0" i="0" u="none" strike="noStrike" kern="1200" cap="none" spc="0" normalizeH="0" baseline="0" noProof="0" dirty="0" err="1">
                <a:ln>
                  <a:noFill/>
                </a:ln>
                <a:solidFill>
                  <a:prstClr val="white">
                    <a:lumMod val="75000"/>
                  </a:prstClr>
                </a:solidFill>
                <a:effectLst/>
                <a:uLnTx/>
                <a:uFillTx/>
                <a:latin typeface="Yekan Bakh" pitchFamily="2" charset="-78"/>
                <a:ea typeface="Yekan Bakh" pitchFamily="2" charset="-78"/>
                <a:cs typeface="Yekan Bakh" pitchFamily="2" charset="-78"/>
              </a:rPr>
              <a:t>داده‌های</a:t>
            </a:r>
            <a:r>
              <a:rPr kumimoji="0" lang="en-US" sz="800" b="0" i="0" u="none" strike="noStrike" kern="1200" cap="none" spc="0" normalizeH="0" baseline="0" noProof="0" dirty="0">
                <a:ln>
                  <a:noFill/>
                </a:ln>
                <a:solidFill>
                  <a:prstClr val="white">
                    <a:lumMod val="75000"/>
                  </a:prstClr>
                </a:solidFill>
                <a:effectLst/>
                <a:uLnTx/>
                <a:uFillTx/>
                <a:latin typeface="Yekan Bakh" pitchFamily="2" charset="-78"/>
                <a:ea typeface="Yekan Bakh" pitchFamily="2" charset="-78"/>
                <a:cs typeface="Yekan Bakh" pitchFamily="2" charset="-78"/>
              </a:rPr>
              <a:t> </a:t>
            </a:r>
            <a:r>
              <a:rPr kumimoji="0" lang="en-US" sz="800" b="0" i="0" u="none" strike="noStrike" kern="1200" cap="none" spc="0" normalizeH="0" baseline="0" noProof="0" dirty="0" err="1">
                <a:ln>
                  <a:noFill/>
                </a:ln>
                <a:solidFill>
                  <a:prstClr val="white">
                    <a:lumMod val="75000"/>
                  </a:prstClr>
                </a:solidFill>
                <a:effectLst/>
                <a:uLnTx/>
                <a:uFillTx/>
                <a:latin typeface="Yekan Bakh" pitchFamily="2" charset="-78"/>
                <a:ea typeface="Yekan Bakh" pitchFamily="2" charset="-78"/>
                <a:cs typeface="Yekan Bakh" pitchFamily="2" charset="-78"/>
              </a:rPr>
              <a:t>سنجش</a:t>
            </a:r>
            <a:r>
              <a:rPr kumimoji="0" lang="en-US" sz="800" b="0" i="0" u="none" strike="noStrike" kern="1200" cap="none" spc="0" normalizeH="0" baseline="0" noProof="0" dirty="0">
                <a:ln>
                  <a:noFill/>
                </a:ln>
                <a:solidFill>
                  <a:prstClr val="white">
                    <a:lumMod val="75000"/>
                  </a:prstClr>
                </a:solidFill>
                <a:effectLst/>
                <a:uLnTx/>
                <a:uFillTx/>
                <a:latin typeface="Yekan Bakh" pitchFamily="2" charset="-78"/>
                <a:ea typeface="Yekan Bakh" pitchFamily="2" charset="-78"/>
                <a:cs typeface="Yekan Bakh" pitchFamily="2" charset="-78"/>
              </a:rPr>
              <a:t> </a:t>
            </a:r>
            <a:r>
              <a:rPr kumimoji="0" lang="en-US" sz="800" b="0" i="0" u="none" strike="noStrike" kern="1200" cap="none" spc="0" normalizeH="0" baseline="0" noProof="0" dirty="0" err="1">
                <a:ln>
                  <a:noFill/>
                </a:ln>
                <a:solidFill>
                  <a:prstClr val="white">
                    <a:lumMod val="75000"/>
                  </a:prstClr>
                </a:solidFill>
                <a:effectLst/>
                <a:uLnTx/>
                <a:uFillTx/>
                <a:latin typeface="Yekan Bakh" pitchFamily="2" charset="-78"/>
                <a:ea typeface="Yekan Bakh" pitchFamily="2" charset="-78"/>
                <a:cs typeface="Yekan Bakh" pitchFamily="2" charset="-78"/>
              </a:rPr>
              <a:t>کمّی</a:t>
            </a:r>
            <a:r>
              <a:rPr kumimoji="0" lang="en-US" sz="800" b="0" i="0" u="none" strike="noStrike" kern="1200" cap="none" spc="0" normalizeH="0" baseline="0" noProof="0" dirty="0">
                <a:ln>
                  <a:noFill/>
                </a:ln>
                <a:solidFill>
                  <a:prstClr val="white">
                    <a:lumMod val="75000"/>
                  </a:prstClr>
                </a:solidFill>
                <a:effectLst/>
                <a:uLnTx/>
                <a:uFillTx/>
                <a:latin typeface="Yekan Bakh" pitchFamily="2" charset="-78"/>
                <a:ea typeface="Yekan Bakh" pitchFamily="2" charset="-78"/>
                <a:cs typeface="Yekan Bakh" pitchFamily="2" charset="-78"/>
              </a:rPr>
              <a:t> </a:t>
            </a:r>
            <a:r>
              <a:rPr kumimoji="0" lang="en-US" sz="800" b="0" i="0" u="none" strike="noStrike" kern="1200" cap="none" spc="0" normalizeH="0" baseline="0" noProof="0" dirty="0" err="1">
                <a:ln>
                  <a:noFill/>
                </a:ln>
                <a:solidFill>
                  <a:prstClr val="white">
                    <a:lumMod val="75000"/>
                  </a:prstClr>
                </a:solidFill>
                <a:effectLst/>
                <a:uLnTx/>
                <a:uFillTx/>
                <a:latin typeface="Yekan Bakh" pitchFamily="2" charset="-78"/>
                <a:ea typeface="Yekan Bakh" pitchFamily="2" charset="-78"/>
                <a:cs typeface="Yekan Bakh" pitchFamily="2" charset="-78"/>
              </a:rPr>
              <a:t>مستقیم</a:t>
            </a:r>
            <a:r>
              <a:rPr kumimoji="0" lang="en-US" sz="800" b="0" i="0" u="none" strike="noStrike" kern="1200" cap="none" spc="0" normalizeH="0" baseline="0" noProof="0" dirty="0">
                <a:ln>
                  <a:noFill/>
                </a:ln>
                <a:solidFill>
                  <a:prstClr val="white">
                    <a:lumMod val="75000"/>
                  </a:prstClr>
                </a:solidFill>
                <a:effectLst/>
                <a:uLnTx/>
                <a:uFillTx/>
                <a:latin typeface="Yekan Bakh" pitchFamily="2" charset="-78"/>
                <a:ea typeface="Yekan Bakh" pitchFamily="2" charset="-78"/>
                <a:cs typeface="Yekan Bakh" pitchFamily="2" charset="-78"/>
              </a:rPr>
              <a:t> </a:t>
            </a:r>
            <a:r>
              <a:rPr kumimoji="0" lang="en-US" sz="800" b="0" i="0" u="none" strike="noStrike" kern="1200" cap="none" spc="0" normalizeH="0" baseline="0" noProof="0" dirty="0" err="1">
                <a:ln>
                  <a:noFill/>
                </a:ln>
                <a:solidFill>
                  <a:prstClr val="white">
                    <a:lumMod val="75000"/>
                  </a:prstClr>
                </a:solidFill>
                <a:effectLst/>
                <a:uLnTx/>
                <a:uFillTx/>
                <a:latin typeface="Yekan Bakh" pitchFamily="2" charset="-78"/>
                <a:ea typeface="Yekan Bakh" pitchFamily="2" charset="-78"/>
                <a:cs typeface="Yekan Bakh" pitchFamily="2" charset="-78"/>
              </a:rPr>
              <a:t>از</a:t>
            </a:r>
            <a:r>
              <a:rPr kumimoji="0" lang="en-US" sz="800" b="0" i="0" u="none" strike="noStrike" kern="1200" cap="none" spc="0" normalizeH="0" baseline="0" noProof="0" dirty="0">
                <a:ln>
                  <a:noFill/>
                </a:ln>
                <a:solidFill>
                  <a:prstClr val="white">
                    <a:lumMod val="75000"/>
                  </a:prstClr>
                </a:solidFill>
                <a:effectLst/>
                <a:uLnTx/>
                <a:uFillTx/>
                <a:latin typeface="Yekan Bakh" pitchFamily="2" charset="-78"/>
                <a:ea typeface="Yekan Bakh" pitchFamily="2" charset="-78"/>
                <a:cs typeface="Yekan Bakh" pitchFamily="2" charset="-78"/>
              </a:rPr>
              <a:t> </a:t>
            </a:r>
            <a:r>
              <a:rPr kumimoji="0" lang="en-US" sz="800" b="0" i="0" u="none" strike="noStrike" kern="1200" cap="none" spc="0" normalizeH="0" baseline="0" noProof="0" dirty="0" err="1">
                <a:ln>
                  <a:noFill/>
                </a:ln>
                <a:solidFill>
                  <a:prstClr val="white">
                    <a:lumMod val="75000"/>
                  </a:prstClr>
                </a:solidFill>
                <a:effectLst/>
                <a:uLnTx/>
                <a:uFillTx/>
                <a:latin typeface="Yekan Bakh" pitchFamily="2" charset="-78"/>
                <a:ea typeface="Yekan Bakh" pitchFamily="2" charset="-78"/>
                <a:cs typeface="Yekan Bakh" pitchFamily="2" charset="-78"/>
              </a:rPr>
              <a:t>مشتری</a:t>
            </a:r>
            <a:r>
              <a:rPr kumimoji="0" lang="en-US" sz="800" b="0" i="0" u="none" strike="noStrike" kern="1200" cap="none" spc="0" normalizeH="0" baseline="0" noProof="0" dirty="0">
                <a:ln>
                  <a:noFill/>
                </a:ln>
                <a:solidFill>
                  <a:prstClr val="white">
                    <a:lumMod val="75000"/>
                  </a:prstClr>
                </a:solidFill>
                <a:effectLst/>
                <a:uLnTx/>
                <a:uFillTx/>
                <a:latin typeface="Yekan Bakh" pitchFamily="2" charset="-78"/>
                <a:ea typeface="Yekan Bakh" pitchFamily="2" charset="-78"/>
                <a:cs typeface="Yekan Bakh" pitchFamily="2" charset="-78"/>
              </a:rPr>
              <a:t>؛ </a:t>
            </a:r>
            <a:r>
              <a:rPr kumimoji="0" lang="en-US" sz="800" b="0" i="0" u="none" strike="noStrike" kern="1200" cap="none" spc="0" normalizeH="0" baseline="0" noProof="0" dirty="0" err="1">
                <a:ln>
                  <a:noFill/>
                </a:ln>
                <a:solidFill>
                  <a:prstClr val="white">
                    <a:lumMod val="75000"/>
                  </a:prstClr>
                </a:solidFill>
                <a:effectLst/>
                <a:uLnTx/>
                <a:uFillTx/>
                <a:latin typeface="Yekan Bakh" pitchFamily="2" charset="-78"/>
                <a:ea typeface="Yekan Bakh" pitchFamily="2" charset="-78"/>
                <a:cs typeface="Yekan Bakh" pitchFamily="2" charset="-78"/>
              </a:rPr>
              <a:t>برای</a:t>
            </a:r>
            <a:r>
              <a:rPr kumimoji="0" lang="en-US" sz="800" b="0" i="0" u="none" strike="noStrike" kern="1200" cap="none" spc="0" normalizeH="0" baseline="0" noProof="0" dirty="0">
                <a:ln>
                  <a:noFill/>
                </a:ln>
                <a:solidFill>
                  <a:prstClr val="white">
                    <a:lumMod val="75000"/>
                  </a:prstClr>
                </a:solidFill>
                <a:effectLst/>
                <a:uLnTx/>
                <a:uFillTx/>
                <a:latin typeface="Yekan Bakh" pitchFamily="2" charset="-78"/>
                <a:ea typeface="Yekan Bakh" pitchFamily="2" charset="-78"/>
                <a:cs typeface="Yekan Bakh" pitchFamily="2" charset="-78"/>
              </a:rPr>
              <a:t> </a:t>
            </a:r>
            <a:r>
              <a:rPr kumimoji="0" lang="en-US" sz="800" b="0" i="0" u="none" strike="noStrike" kern="1200" cap="none" spc="0" normalizeH="0" baseline="0" noProof="0" dirty="0" err="1">
                <a:ln>
                  <a:noFill/>
                </a:ln>
                <a:solidFill>
                  <a:prstClr val="white">
                    <a:lumMod val="75000"/>
                  </a:prstClr>
                </a:solidFill>
                <a:effectLst/>
                <a:uLnTx/>
                <a:uFillTx/>
                <a:latin typeface="Yekan Bakh" pitchFamily="2" charset="-78"/>
                <a:ea typeface="Yekan Bakh" pitchFamily="2" charset="-78"/>
                <a:cs typeface="Yekan Bakh" pitchFamily="2" charset="-78"/>
              </a:rPr>
              <a:t>دقت</a:t>
            </a:r>
            <a:r>
              <a:rPr kumimoji="0" lang="en-US" sz="800" b="0" i="0" u="none" strike="noStrike" kern="1200" cap="none" spc="0" normalizeH="0" baseline="0" noProof="0" dirty="0">
                <a:ln>
                  <a:noFill/>
                </a:ln>
                <a:solidFill>
                  <a:prstClr val="white">
                    <a:lumMod val="75000"/>
                  </a:prstClr>
                </a:solidFill>
                <a:effectLst/>
                <a:uLnTx/>
                <a:uFillTx/>
                <a:latin typeface="Yekan Bakh" pitchFamily="2" charset="-78"/>
                <a:ea typeface="Yekan Bakh" pitchFamily="2" charset="-78"/>
                <a:cs typeface="Yekan Bakh" pitchFamily="2" charset="-78"/>
              </a:rPr>
              <a:t> </a:t>
            </a:r>
            <a:r>
              <a:rPr kumimoji="0" lang="en-US" sz="800" b="0" i="0" u="none" strike="noStrike" kern="1200" cap="none" spc="0" normalizeH="0" baseline="0" noProof="0" dirty="0" err="1">
                <a:ln>
                  <a:noFill/>
                </a:ln>
                <a:solidFill>
                  <a:prstClr val="white">
                    <a:lumMod val="75000"/>
                  </a:prstClr>
                </a:solidFill>
                <a:effectLst/>
                <a:uLnTx/>
                <a:uFillTx/>
                <a:latin typeface="Yekan Bakh" pitchFamily="2" charset="-78"/>
                <a:ea typeface="Yekan Bakh" pitchFamily="2" charset="-78"/>
                <a:cs typeface="Yekan Bakh" pitchFamily="2" charset="-78"/>
              </a:rPr>
              <a:t>بیشتر</a:t>
            </a:r>
            <a:r>
              <a:rPr kumimoji="0" lang="en-US" sz="800" b="0" i="0" u="none" strike="noStrike" kern="1200" cap="none" spc="0" normalizeH="0" baseline="0" noProof="0" dirty="0">
                <a:ln>
                  <a:noFill/>
                </a:ln>
                <a:solidFill>
                  <a:prstClr val="white">
                    <a:lumMod val="75000"/>
                  </a:prstClr>
                </a:solidFill>
                <a:effectLst/>
                <a:uLnTx/>
                <a:uFillTx/>
                <a:latin typeface="Yekan Bakh" pitchFamily="2" charset="-78"/>
                <a:ea typeface="Yekan Bakh" pitchFamily="2" charset="-78"/>
                <a:cs typeface="Yekan Bakh" pitchFamily="2" charset="-78"/>
              </a:rPr>
              <a:t> </a:t>
            </a:r>
            <a:r>
              <a:rPr kumimoji="0" lang="en-US" sz="800" b="0" i="0" u="none" strike="noStrike" kern="1200" cap="none" spc="0" normalizeH="0" baseline="0" noProof="0" dirty="0" err="1">
                <a:ln>
                  <a:noFill/>
                </a:ln>
                <a:solidFill>
                  <a:prstClr val="white">
                    <a:lumMod val="75000"/>
                  </a:prstClr>
                </a:solidFill>
                <a:effectLst/>
                <a:uLnTx/>
                <a:uFillTx/>
                <a:latin typeface="Yekan Bakh" pitchFamily="2" charset="-78"/>
                <a:ea typeface="Yekan Bakh" pitchFamily="2" charset="-78"/>
                <a:cs typeface="Yekan Bakh" pitchFamily="2" charset="-78"/>
              </a:rPr>
              <a:t>نیازمند</a:t>
            </a:r>
            <a:r>
              <a:rPr kumimoji="0" lang="en-US" sz="800" b="0" i="0" u="none" strike="noStrike" kern="1200" cap="none" spc="0" normalizeH="0" baseline="0" noProof="0" dirty="0">
                <a:ln>
                  <a:noFill/>
                </a:ln>
                <a:solidFill>
                  <a:prstClr val="white">
                    <a:lumMod val="75000"/>
                  </a:prstClr>
                </a:solidFill>
                <a:effectLst/>
                <a:uLnTx/>
                <a:uFillTx/>
                <a:latin typeface="Yekan Bakh" pitchFamily="2" charset="-78"/>
                <a:ea typeface="Yekan Bakh" pitchFamily="2" charset="-78"/>
                <a:cs typeface="Yekan Bakh" pitchFamily="2" charset="-78"/>
              </a:rPr>
              <a:t> </a:t>
            </a:r>
            <a:r>
              <a:rPr kumimoji="0" lang="en-US" sz="800" b="0" i="0" u="none" strike="noStrike" kern="1200" cap="none" spc="0" normalizeH="0" baseline="0" noProof="0" dirty="0" err="1">
                <a:ln>
                  <a:noFill/>
                </a:ln>
                <a:solidFill>
                  <a:prstClr val="white">
                    <a:lumMod val="75000"/>
                  </a:prstClr>
                </a:solidFill>
                <a:effectLst/>
                <a:uLnTx/>
                <a:uFillTx/>
                <a:latin typeface="Yekan Bakh" pitchFamily="2" charset="-78"/>
                <a:ea typeface="Yekan Bakh" pitchFamily="2" charset="-78"/>
                <a:cs typeface="Yekan Bakh" pitchFamily="2" charset="-78"/>
              </a:rPr>
              <a:t>مصاحبه</a:t>
            </a:r>
            <a:r>
              <a:rPr kumimoji="0" lang="en-US" sz="800" b="0" i="0" u="none" strike="noStrike" kern="1200" cap="none" spc="0" normalizeH="0" baseline="0" noProof="0" dirty="0">
                <a:ln>
                  <a:noFill/>
                </a:ln>
                <a:solidFill>
                  <a:prstClr val="white">
                    <a:lumMod val="75000"/>
                  </a:prstClr>
                </a:solidFill>
                <a:effectLst/>
                <a:uLnTx/>
                <a:uFillTx/>
                <a:latin typeface="Yekan Bakh" pitchFamily="2" charset="-78"/>
                <a:ea typeface="Yekan Bakh" pitchFamily="2" charset="-78"/>
                <a:cs typeface="Yekan Bakh" pitchFamily="2" charset="-78"/>
              </a:rPr>
              <a:t> </a:t>
            </a:r>
            <a:r>
              <a:rPr kumimoji="0" lang="en-US" sz="800" b="0" i="0" u="none" strike="noStrike" kern="1200" cap="none" spc="0" normalizeH="0" baseline="0" noProof="0" dirty="0" err="1">
                <a:ln>
                  <a:noFill/>
                </a:ln>
                <a:solidFill>
                  <a:prstClr val="white">
                    <a:lumMod val="75000"/>
                  </a:prstClr>
                </a:solidFill>
                <a:effectLst/>
                <a:uLnTx/>
                <a:uFillTx/>
                <a:latin typeface="Yekan Bakh" pitchFamily="2" charset="-78"/>
                <a:ea typeface="Yekan Bakh" pitchFamily="2" charset="-78"/>
                <a:cs typeface="Yekan Bakh" pitchFamily="2" charset="-78"/>
              </a:rPr>
              <a:t>اعتبارسنجی</a:t>
            </a:r>
            <a:r>
              <a:rPr kumimoji="0" lang="en-US" sz="800" b="0" i="0" u="none" strike="noStrike" kern="1200" cap="none" spc="0" normalizeH="0" baseline="0" noProof="0" dirty="0">
                <a:ln>
                  <a:noFill/>
                </a:ln>
                <a:solidFill>
                  <a:prstClr val="white">
                    <a:lumMod val="75000"/>
                  </a:prstClr>
                </a:solidFill>
                <a:effectLst/>
                <a:uLnTx/>
                <a:uFillTx/>
                <a:latin typeface="Yekan Bakh" pitchFamily="2" charset="-78"/>
                <a:ea typeface="Yekan Bakh" pitchFamily="2" charset="-78"/>
                <a:cs typeface="Yekan Bakh" pitchFamily="2" charset="-78"/>
              </a:rPr>
              <a:t> </a:t>
            </a:r>
            <a:r>
              <a:rPr kumimoji="0" lang="en-US" sz="800" b="0" i="0" u="none" strike="noStrike" kern="1200" cap="none" spc="0" normalizeH="0" baseline="0" noProof="0" dirty="0" err="1">
                <a:ln>
                  <a:noFill/>
                </a:ln>
                <a:solidFill>
                  <a:prstClr val="white">
                    <a:lumMod val="75000"/>
                  </a:prstClr>
                </a:solidFill>
                <a:effectLst/>
                <a:uLnTx/>
                <a:uFillTx/>
                <a:latin typeface="Yekan Bakh" pitchFamily="2" charset="-78"/>
                <a:ea typeface="Yekan Bakh" pitchFamily="2" charset="-78"/>
                <a:cs typeface="Yekan Bakh" pitchFamily="2" charset="-78"/>
              </a:rPr>
              <a:t>است</a:t>
            </a:r>
            <a:r>
              <a:rPr kumimoji="0" lang="en-US" sz="800" b="0" i="0" u="none" strike="noStrike" kern="1200" cap="none" spc="0" normalizeH="0" baseline="0" noProof="0" dirty="0">
                <a:ln>
                  <a:noFill/>
                </a:ln>
                <a:solidFill>
                  <a:prstClr val="white">
                    <a:lumMod val="75000"/>
                  </a:prstClr>
                </a:solidFill>
                <a:effectLst/>
                <a:uLnTx/>
                <a:uFillTx/>
                <a:latin typeface="Yekan Bakh" pitchFamily="2" charset="-78"/>
                <a:ea typeface="Yekan Bakh" pitchFamily="2" charset="-78"/>
                <a:cs typeface="Yekan Bakh" pitchFamily="2" charset="-78"/>
              </a:rPr>
              <a:t>.</a:t>
            </a:r>
            <a:endParaRPr kumimoji="0" lang="en-GB" sz="1600" b="0" i="0" u="none" strike="noStrike" kern="1200" cap="none" spc="0" normalizeH="0" baseline="0" noProof="0" dirty="0">
              <a:ln>
                <a:noFill/>
              </a:ln>
              <a:solidFill>
                <a:prstClr val="white">
                  <a:lumMod val="75000"/>
                </a:prstClr>
              </a:solidFill>
              <a:effectLst/>
              <a:uLnTx/>
              <a:uFillTx/>
              <a:latin typeface="Yekan Bakh" pitchFamily="2" charset="-78"/>
              <a:ea typeface="Yekan Bakh" pitchFamily="2" charset="-78"/>
              <a:cs typeface="Yekan Bakh" pitchFamily="2" charset="-78"/>
            </a:endParaRPr>
          </a:p>
        </p:txBody>
      </p:sp>
      <p:sp>
        <p:nvSpPr>
          <p:cNvPr id="9" name="TextBox 8">
            <a:extLst>
              <a:ext uri="{FF2B5EF4-FFF2-40B4-BE49-F238E27FC236}">
                <a16:creationId xmlns:a16="http://schemas.microsoft.com/office/drawing/2014/main" id="{4CBFA9A7-0E70-9F31-93DB-D0DAD18B843B}"/>
              </a:ext>
            </a:extLst>
          </p:cNvPr>
          <p:cNvSpPr txBox="1"/>
          <p:nvPr/>
        </p:nvSpPr>
        <p:spPr>
          <a:xfrm>
            <a:off x="2024825" y="5403721"/>
            <a:ext cx="2599554" cy="276999"/>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fa-IR" sz="1200" b="1" i="0" u="none" strike="noStrike" kern="0" cap="none" spc="0" normalizeH="0" baseline="0" noProof="0" dirty="0">
                <a:ln>
                  <a:noFill/>
                </a:ln>
                <a:solidFill>
                  <a:srgbClr val="1E2761"/>
                </a:solidFill>
                <a:effectLst/>
                <a:uLnTx/>
                <a:uFillTx/>
                <a:latin typeface="Yekan Bakh FaNum" pitchFamily="2" charset="-78"/>
                <a:ea typeface="+mn-ea"/>
                <a:cs typeface="Yekan Bakh FaNum" pitchFamily="2" charset="-78"/>
              </a:rPr>
              <a:t>اهمیت کار برای مشتری </a:t>
            </a:r>
          </a:p>
        </p:txBody>
      </p:sp>
      <p:sp>
        <p:nvSpPr>
          <p:cNvPr id="10" name="TextBox 9">
            <a:extLst>
              <a:ext uri="{FF2B5EF4-FFF2-40B4-BE49-F238E27FC236}">
                <a16:creationId xmlns:a16="http://schemas.microsoft.com/office/drawing/2014/main" id="{2011507F-C79B-C4B9-0C2B-9BB6C424BB58}"/>
              </a:ext>
            </a:extLst>
          </p:cNvPr>
          <p:cNvSpPr txBox="1"/>
          <p:nvPr/>
        </p:nvSpPr>
        <p:spPr>
          <a:xfrm rot="16200000">
            <a:off x="-552527" y="3415512"/>
            <a:ext cx="3333257" cy="276999"/>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fa-IR" sz="1200" b="1" i="0" u="none" strike="noStrike" kern="0" cap="none" spc="0" normalizeH="0" baseline="0" noProof="0" dirty="0">
                <a:ln>
                  <a:noFill/>
                </a:ln>
                <a:solidFill>
                  <a:srgbClr val="1E2761"/>
                </a:solidFill>
                <a:effectLst/>
                <a:uLnTx/>
                <a:uFillTx/>
                <a:latin typeface="Yekan Bakh FaNum" pitchFamily="2" charset="-78"/>
                <a:ea typeface="+mn-ea"/>
                <a:cs typeface="Yekan Bakh FaNum" pitchFamily="2" charset="-78"/>
              </a:rPr>
              <a:t>شدت دردسر / نیاز برآورده‌نشده </a:t>
            </a:r>
          </a:p>
        </p:txBody>
      </p:sp>
      <p:cxnSp>
        <p:nvCxnSpPr>
          <p:cNvPr id="11" name="Straight Arrow Connector 10">
            <a:extLst>
              <a:ext uri="{FF2B5EF4-FFF2-40B4-BE49-F238E27FC236}">
                <a16:creationId xmlns:a16="http://schemas.microsoft.com/office/drawing/2014/main" id="{8FEF33FF-7C71-96D3-CBE9-B646B3F1E0C5}"/>
              </a:ext>
            </a:extLst>
          </p:cNvPr>
          <p:cNvCxnSpPr>
            <a:cxnSpLocks/>
          </p:cNvCxnSpPr>
          <p:nvPr/>
        </p:nvCxnSpPr>
        <p:spPr>
          <a:xfrm flipV="1">
            <a:off x="1340400" y="1450105"/>
            <a:ext cx="0" cy="3884956"/>
          </a:xfrm>
          <a:prstGeom prst="straightConnector1">
            <a:avLst/>
          </a:prstGeom>
          <a:noFill/>
          <a:ln w="3175" cap="flat" cmpd="sng" algn="ctr">
            <a:solidFill>
              <a:srgbClr val="3242A4"/>
            </a:solidFill>
            <a:prstDash val="solid"/>
            <a:miter lim="800000"/>
            <a:tailEnd type="triangle"/>
          </a:ln>
          <a:effectLst/>
        </p:spPr>
      </p:cxnSp>
      <p:cxnSp>
        <p:nvCxnSpPr>
          <p:cNvPr id="12" name="Straight Arrow Connector 11">
            <a:extLst>
              <a:ext uri="{FF2B5EF4-FFF2-40B4-BE49-F238E27FC236}">
                <a16:creationId xmlns:a16="http://schemas.microsoft.com/office/drawing/2014/main" id="{A58F8676-1E75-49F3-C1F7-DB5F8DA07B63}"/>
              </a:ext>
            </a:extLst>
          </p:cNvPr>
          <p:cNvCxnSpPr>
            <a:cxnSpLocks/>
          </p:cNvCxnSpPr>
          <p:nvPr/>
        </p:nvCxnSpPr>
        <p:spPr>
          <a:xfrm>
            <a:off x="1340400" y="5335061"/>
            <a:ext cx="3999805" cy="0"/>
          </a:xfrm>
          <a:prstGeom prst="straightConnector1">
            <a:avLst/>
          </a:prstGeom>
          <a:noFill/>
          <a:ln w="3175" cap="flat" cmpd="sng" algn="ctr">
            <a:solidFill>
              <a:srgbClr val="3242A4"/>
            </a:solidFill>
            <a:prstDash val="solid"/>
            <a:miter lim="800000"/>
            <a:tailEnd type="triangle"/>
          </a:ln>
          <a:effectLst/>
        </p:spPr>
      </p:cxnSp>
      <p:sp>
        <p:nvSpPr>
          <p:cNvPr id="13" name="Rounded Rectangle 17">
            <a:extLst>
              <a:ext uri="{FF2B5EF4-FFF2-40B4-BE49-F238E27FC236}">
                <a16:creationId xmlns:a16="http://schemas.microsoft.com/office/drawing/2014/main" id="{B2A7E1F2-7C06-A3C5-D9C4-1C5EA1D9BCB8}"/>
              </a:ext>
            </a:extLst>
          </p:cNvPr>
          <p:cNvSpPr/>
          <p:nvPr/>
        </p:nvSpPr>
        <p:spPr>
          <a:xfrm>
            <a:off x="3378235" y="3409413"/>
            <a:ext cx="1869920" cy="1874520"/>
          </a:xfrm>
          <a:prstGeom prst="roundRect">
            <a:avLst>
              <a:gd name="adj" fmla="val 5498"/>
            </a:avLst>
          </a:prstGeom>
          <a:solidFill>
            <a:srgbClr val="F0BE0F">
              <a:alpha val="10000"/>
            </a:srgbClr>
          </a:solidFill>
          <a:ln w="3175" cap="flat" cmpd="sng" algn="ctr">
            <a:noFill/>
            <a:prstDash val="solid"/>
            <a:miter lim="800000"/>
          </a:ln>
          <a:effectLst/>
        </p:spPr>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fa-IR" sz="800" b="0" i="0" u="none" strike="noStrike" kern="0" cap="none" spc="0" normalizeH="0" baseline="0" noProof="0" dirty="0">
              <a:ln>
                <a:noFill/>
              </a:ln>
              <a:solidFill>
                <a:prstClr val="black"/>
              </a:solidFill>
              <a:effectLst/>
              <a:uLnTx/>
              <a:uFillTx/>
              <a:latin typeface="Yekan Bakh FaNum" pitchFamily="2" charset="-78"/>
              <a:ea typeface="+mn-ea"/>
              <a:cs typeface="Yekan Bakh FaNum" pitchFamily="2" charset="-78"/>
            </a:endParaRPr>
          </a:p>
        </p:txBody>
      </p:sp>
      <p:sp>
        <p:nvSpPr>
          <p:cNvPr id="14" name="Rounded Rectangle 15">
            <a:extLst>
              <a:ext uri="{FF2B5EF4-FFF2-40B4-BE49-F238E27FC236}">
                <a16:creationId xmlns:a16="http://schemas.microsoft.com/office/drawing/2014/main" id="{82D8F828-7B53-42DE-7F26-149A97E7382D}"/>
              </a:ext>
            </a:extLst>
          </p:cNvPr>
          <p:cNvSpPr/>
          <p:nvPr/>
        </p:nvSpPr>
        <p:spPr>
          <a:xfrm>
            <a:off x="1422196" y="3409413"/>
            <a:ext cx="1869920" cy="1874520"/>
          </a:xfrm>
          <a:prstGeom prst="roundRect">
            <a:avLst>
              <a:gd name="adj" fmla="val 5498"/>
            </a:avLst>
          </a:prstGeom>
          <a:solidFill>
            <a:srgbClr val="F0BE0F">
              <a:alpha val="20000"/>
            </a:srgbClr>
          </a:solidFill>
          <a:ln w="3175" cap="flat" cmpd="sng" algn="ctr">
            <a:noFill/>
            <a:prstDash val="solid"/>
            <a:miter lim="800000"/>
          </a:ln>
          <a:effectLst/>
        </p:spPr>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fa-IR" sz="800" b="1" i="0" u="none" strike="noStrike" kern="0" cap="none" spc="0" normalizeH="0" baseline="0" noProof="0" dirty="0">
              <a:ln>
                <a:noFill/>
              </a:ln>
              <a:solidFill>
                <a:prstClr val="black"/>
              </a:solidFill>
              <a:effectLst/>
              <a:uLnTx/>
              <a:uFillTx/>
              <a:latin typeface="Yekan Bakh FaNum" pitchFamily="2" charset="-78"/>
              <a:ea typeface="+mn-ea"/>
              <a:cs typeface="Yekan Bakh FaNum" pitchFamily="2" charset="-78"/>
            </a:endParaRPr>
          </a:p>
        </p:txBody>
      </p:sp>
      <p:sp>
        <p:nvSpPr>
          <p:cNvPr id="15" name="Rounded Rectangle 19">
            <a:extLst>
              <a:ext uri="{FF2B5EF4-FFF2-40B4-BE49-F238E27FC236}">
                <a16:creationId xmlns:a16="http://schemas.microsoft.com/office/drawing/2014/main" id="{F172269A-130F-1117-462C-D0C15F068575}"/>
              </a:ext>
            </a:extLst>
          </p:cNvPr>
          <p:cNvSpPr/>
          <p:nvPr/>
        </p:nvSpPr>
        <p:spPr>
          <a:xfrm>
            <a:off x="1422196" y="1450105"/>
            <a:ext cx="1869920" cy="1874520"/>
          </a:xfrm>
          <a:prstGeom prst="roundRect">
            <a:avLst>
              <a:gd name="adj" fmla="val 5498"/>
            </a:avLst>
          </a:prstGeom>
          <a:solidFill>
            <a:srgbClr val="F0BE0F">
              <a:alpha val="35000"/>
            </a:srgbClr>
          </a:solidFill>
          <a:ln w="3175" cap="flat" cmpd="sng" algn="ctr">
            <a:noFill/>
            <a:prstDash val="solid"/>
            <a:miter lim="800000"/>
          </a:ln>
          <a:effectLst/>
        </p:spPr>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fa-IR" sz="800" b="0" i="0" u="none" strike="noStrike" kern="0" cap="none" spc="0" normalizeH="0" baseline="0" noProof="0" dirty="0">
              <a:ln>
                <a:noFill/>
              </a:ln>
              <a:solidFill>
                <a:prstClr val="black"/>
              </a:solidFill>
              <a:effectLst/>
              <a:uLnTx/>
              <a:uFillTx/>
              <a:latin typeface="Yekan Bakh FaNum" pitchFamily="2" charset="-78"/>
              <a:ea typeface="+mn-ea"/>
              <a:cs typeface="Yekan Bakh FaNum" pitchFamily="2" charset="-78"/>
            </a:endParaRPr>
          </a:p>
        </p:txBody>
      </p:sp>
      <p:sp>
        <p:nvSpPr>
          <p:cNvPr id="16" name="Rounded Rectangle 20">
            <a:extLst>
              <a:ext uri="{FF2B5EF4-FFF2-40B4-BE49-F238E27FC236}">
                <a16:creationId xmlns:a16="http://schemas.microsoft.com/office/drawing/2014/main" id="{9FDD4BED-F691-A8D0-3DEE-68B1DAF5B5DC}"/>
              </a:ext>
            </a:extLst>
          </p:cNvPr>
          <p:cNvSpPr/>
          <p:nvPr/>
        </p:nvSpPr>
        <p:spPr>
          <a:xfrm>
            <a:off x="3378235" y="1450105"/>
            <a:ext cx="1869920" cy="1874520"/>
          </a:xfrm>
          <a:prstGeom prst="roundRect">
            <a:avLst>
              <a:gd name="adj" fmla="val 5498"/>
            </a:avLst>
          </a:prstGeom>
          <a:solidFill>
            <a:srgbClr val="F0BE0F">
              <a:alpha val="50000"/>
            </a:srgbClr>
          </a:solidFill>
          <a:ln w="3175" cap="flat" cmpd="sng" algn="ctr">
            <a:noFill/>
            <a:prstDash val="solid"/>
            <a:miter lim="800000"/>
          </a:ln>
          <a:effectLst/>
        </p:spPr>
        <p:txBody>
          <a:bodyPr rtlCol="0" anchor="t"/>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fa-IR" sz="1000" b="1" i="0" u="none" strike="noStrike" kern="0" cap="none" spc="0" normalizeH="0" baseline="0" noProof="0" dirty="0">
                <a:ln>
                  <a:noFill/>
                </a:ln>
                <a:solidFill>
                  <a:srgbClr val="3242A4"/>
                </a:solidFill>
                <a:effectLst/>
                <a:uLnTx/>
                <a:uFillTx/>
                <a:latin typeface="Yekan Bakh FaNum" pitchFamily="2" charset="-78"/>
                <a:ea typeface="+mn-ea"/>
                <a:cs typeface="Yekan Bakh FaNum" pitchFamily="2" charset="-78"/>
              </a:rPr>
              <a:t>اولویت‌های اصلی فرصت</a:t>
            </a:r>
          </a:p>
        </p:txBody>
      </p:sp>
      <p:sp>
        <p:nvSpPr>
          <p:cNvPr id="19" name="Flowchart: Connector 18">
            <a:extLst>
              <a:ext uri="{FF2B5EF4-FFF2-40B4-BE49-F238E27FC236}">
                <a16:creationId xmlns:a16="http://schemas.microsoft.com/office/drawing/2014/main" id="{E7F6F625-EF3F-354E-FD08-5D20132D005C}"/>
              </a:ext>
            </a:extLst>
          </p:cNvPr>
          <p:cNvSpPr/>
          <p:nvPr/>
        </p:nvSpPr>
        <p:spPr>
          <a:xfrm>
            <a:off x="3691034" y="3272253"/>
            <a:ext cx="137160" cy="137160"/>
          </a:xfrm>
          <a:prstGeom prst="flowChartConnector">
            <a:avLst/>
          </a:prstGeom>
          <a:solidFill>
            <a:srgbClr val="3242A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20" name="Flowchart: Connector 19">
            <a:extLst>
              <a:ext uri="{FF2B5EF4-FFF2-40B4-BE49-F238E27FC236}">
                <a16:creationId xmlns:a16="http://schemas.microsoft.com/office/drawing/2014/main" id="{BE7E37D6-F2C3-37EC-2B31-DEE3FA61DD39}"/>
              </a:ext>
            </a:extLst>
          </p:cNvPr>
          <p:cNvSpPr/>
          <p:nvPr/>
        </p:nvSpPr>
        <p:spPr>
          <a:xfrm>
            <a:off x="3691034" y="2874688"/>
            <a:ext cx="137160" cy="137160"/>
          </a:xfrm>
          <a:prstGeom prst="flowChartConnector">
            <a:avLst/>
          </a:prstGeom>
          <a:solidFill>
            <a:srgbClr val="3242A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Calibri"/>
            </a:endParaRPr>
          </a:p>
        </p:txBody>
      </p:sp>
      <p:sp>
        <p:nvSpPr>
          <p:cNvPr id="21" name="Flowchart: Connector 20">
            <a:extLst>
              <a:ext uri="{FF2B5EF4-FFF2-40B4-BE49-F238E27FC236}">
                <a16:creationId xmlns:a16="http://schemas.microsoft.com/office/drawing/2014/main" id="{681E8288-DCC3-0FA2-5E0D-53CAC089E28A}"/>
              </a:ext>
            </a:extLst>
          </p:cNvPr>
          <p:cNvSpPr/>
          <p:nvPr/>
        </p:nvSpPr>
        <p:spPr>
          <a:xfrm>
            <a:off x="4171924" y="2874688"/>
            <a:ext cx="137160" cy="137160"/>
          </a:xfrm>
          <a:prstGeom prst="flowChartConnector">
            <a:avLst/>
          </a:prstGeom>
          <a:solidFill>
            <a:srgbClr val="3242A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Calibri"/>
            </a:endParaRPr>
          </a:p>
        </p:txBody>
      </p:sp>
      <p:sp>
        <p:nvSpPr>
          <p:cNvPr id="22" name="Flowchart: Connector 21">
            <a:extLst>
              <a:ext uri="{FF2B5EF4-FFF2-40B4-BE49-F238E27FC236}">
                <a16:creationId xmlns:a16="http://schemas.microsoft.com/office/drawing/2014/main" id="{E1839ABB-9DC0-E334-8B30-219C841B21B5}"/>
              </a:ext>
            </a:extLst>
          </p:cNvPr>
          <p:cNvSpPr/>
          <p:nvPr/>
        </p:nvSpPr>
        <p:spPr>
          <a:xfrm>
            <a:off x="4649376" y="2874688"/>
            <a:ext cx="137160" cy="137160"/>
          </a:xfrm>
          <a:prstGeom prst="flowChartConnector">
            <a:avLst/>
          </a:prstGeom>
          <a:solidFill>
            <a:srgbClr val="3242A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Calibri"/>
            </a:endParaRPr>
          </a:p>
        </p:txBody>
      </p:sp>
      <p:sp>
        <p:nvSpPr>
          <p:cNvPr id="23" name="Flowchart: Connector 22">
            <a:extLst>
              <a:ext uri="{FF2B5EF4-FFF2-40B4-BE49-F238E27FC236}">
                <a16:creationId xmlns:a16="http://schemas.microsoft.com/office/drawing/2014/main" id="{10345DC9-58C6-720A-BA1B-E0B73488007F}"/>
              </a:ext>
            </a:extLst>
          </p:cNvPr>
          <p:cNvSpPr/>
          <p:nvPr/>
        </p:nvSpPr>
        <p:spPr>
          <a:xfrm>
            <a:off x="4171924" y="2493331"/>
            <a:ext cx="137160" cy="137160"/>
          </a:xfrm>
          <a:prstGeom prst="flowChartConnector">
            <a:avLst/>
          </a:prstGeom>
          <a:solidFill>
            <a:srgbClr val="3242A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Calibri"/>
            </a:endParaRPr>
          </a:p>
        </p:txBody>
      </p:sp>
      <p:sp>
        <p:nvSpPr>
          <p:cNvPr id="24" name="Flowchart: Connector 23">
            <a:extLst>
              <a:ext uri="{FF2B5EF4-FFF2-40B4-BE49-F238E27FC236}">
                <a16:creationId xmlns:a16="http://schemas.microsoft.com/office/drawing/2014/main" id="{13DC27F9-D8B3-1721-DD39-46ED33074835}"/>
              </a:ext>
            </a:extLst>
          </p:cNvPr>
          <p:cNvSpPr/>
          <p:nvPr/>
        </p:nvSpPr>
        <p:spPr>
          <a:xfrm>
            <a:off x="4649376" y="2493331"/>
            <a:ext cx="137160" cy="137160"/>
          </a:xfrm>
          <a:prstGeom prst="flowChartConnector">
            <a:avLst/>
          </a:prstGeom>
          <a:solidFill>
            <a:srgbClr val="3242A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Calibri"/>
            </a:endParaRPr>
          </a:p>
        </p:txBody>
      </p:sp>
      <p:sp>
        <p:nvSpPr>
          <p:cNvPr id="25" name="Flowchart: Connector 24">
            <a:extLst>
              <a:ext uri="{FF2B5EF4-FFF2-40B4-BE49-F238E27FC236}">
                <a16:creationId xmlns:a16="http://schemas.microsoft.com/office/drawing/2014/main" id="{E710A239-546D-BE04-B48C-83ADBAD6EC18}"/>
              </a:ext>
            </a:extLst>
          </p:cNvPr>
          <p:cNvSpPr/>
          <p:nvPr/>
        </p:nvSpPr>
        <p:spPr>
          <a:xfrm>
            <a:off x="5058248" y="2493331"/>
            <a:ext cx="137160" cy="137160"/>
          </a:xfrm>
          <a:prstGeom prst="flowChartConnector">
            <a:avLst/>
          </a:prstGeom>
          <a:solidFill>
            <a:srgbClr val="3242A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Calibri"/>
            </a:endParaRPr>
          </a:p>
        </p:txBody>
      </p:sp>
      <p:sp>
        <p:nvSpPr>
          <p:cNvPr id="26" name="Flowchart: Connector 25">
            <a:extLst>
              <a:ext uri="{FF2B5EF4-FFF2-40B4-BE49-F238E27FC236}">
                <a16:creationId xmlns:a16="http://schemas.microsoft.com/office/drawing/2014/main" id="{3B08853E-8478-871E-5E04-5ED242D069AD}"/>
              </a:ext>
            </a:extLst>
          </p:cNvPr>
          <p:cNvSpPr/>
          <p:nvPr/>
        </p:nvSpPr>
        <p:spPr>
          <a:xfrm>
            <a:off x="5058248" y="2049383"/>
            <a:ext cx="137160" cy="137160"/>
          </a:xfrm>
          <a:prstGeom prst="flowChartConnector">
            <a:avLst/>
          </a:prstGeom>
          <a:solidFill>
            <a:srgbClr val="3242A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Calibri"/>
            </a:endParaRPr>
          </a:p>
        </p:txBody>
      </p:sp>
      <p:sp>
        <p:nvSpPr>
          <p:cNvPr id="27" name="TextBox 26">
            <a:extLst>
              <a:ext uri="{FF2B5EF4-FFF2-40B4-BE49-F238E27FC236}">
                <a16:creationId xmlns:a16="http://schemas.microsoft.com/office/drawing/2014/main" id="{6F1172B3-8DC4-2E69-1419-A28A6C88ED86}"/>
              </a:ext>
            </a:extLst>
          </p:cNvPr>
          <p:cNvSpPr txBox="1"/>
          <p:nvPr/>
        </p:nvSpPr>
        <p:spPr>
          <a:xfrm>
            <a:off x="3640983" y="3400208"/>
            <a:ext cx="237262" cy="200055"/>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700" b="0" i="0" u="none" strike="noStrike" kern="1200" cap="none" spc="0" normalizeH="0" baseline="0" noProof="0" dirty="0">
                <a:ln>
                  <a:noFill/>
                </a:ln>
                <a:solidFill>
                  <a:srgbClr val="3242A4"/>
                </a:solidFill>
                <a:effectLst/>
                <a:uLnTx/>
                <a:uFillTx/>
                <a:latin typeface="Yekan Bakh" pitchFamily="2" charset="-78"/>
                <a:ea typeface="Yekan Bakh" pitchFamily="2" charset="-78"/>
                <a:cs typeface="Yekan Bakh" pitchFamily="2" charset="-78"/>
              </a:rPr>
              <a:t>۹</a:t>
            </a:r>
            <a:endParaRPr kumimoji="0" lang="en-GB" sz="700" b="0" i="0" u="none" strike="noStrike" kern="1200" cap="none" spc="0" normalizeH="0" baseline="0" noProof="0" dirty="0">
              <a:ln>
                <a:noFill/>
              </a:ln>
              <a:solidFill>
                <a:srgbClr val="3242A4"/>
              </a:solidFill>
              <a:effectLst/>
              <a:uLnTx/>
              <a:uFillTx/>
              <a:latin typeface="Yekan Bakh" pitchFamily="2" charset="-78"/>
              <a:ea typeface="Yekan Bakh" pitchFamily="2" charset="-78"/>
              <a:cs typeface="Yekan Bakh" pitchFamily="2" charset="-78"/>
            </a:endParaRPr>
          </a:p>
        </p:txBody>
      </p:sp>
      <p:sp>
        <p:nvSpPr>
          <p:cNvPr id="28" name="TextBox 27">
            <a:extLst>
              <a:ext uri="{FF2B5EF4-FFF2-40B4-BE49-F238E27FC236}">
                <a16:creationId xmlns:a16="http://schemas.microsoft.com/office/drawing/2014/main" id="{C3ACD4C8-185C-5434-78AB-35032065FE27}"/>
              </a:ext>
            </a:extLst>
          </p:cNvPr>
          <p:cNvSpPr txBox="1"/>
          <p:nvPr/>
        </p:nvSpPr>
        <p:spPr>
          <a:xfrm>
            <a:off x="3638516" y="2996223"/>
            <a:ext cx="237262" cy="200055"/>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700" b="0" i="0" u="none" strike="noStrike" kern="1200" cap="none" spc="0" normalizeH="0" baseline="0" noProof="0" dirty="0">
                <a:ln>
                  <a:noFill/>
                </a:ln>
                <a:solidFill>
                  <a:srgbClr val="3242A4"/>
                </a:solidFill>
                <a:effectLst/>
                <a:uLnTx/>
                <a:uFillTx/>
                <a:latin typeface="Yekan Bakh" pitchFamily="2" charset="-78"/>
                <a:ea typeface="Yekan Bakh" pitchFamily="2" charset="-78"/>
                <a:cs typeface="Yekan Bakh" pitchFamily="2" charset="-78"/>
              </a:rPr>
              <a:t>۷</a:t>
            </a:r>
            <a:endParaRPr kumimoji="0" lang="en-GB" sz="700" b="0" i="0" u="none" strike="noStrike" kern="1200" cap="none" spc="0" normalizeH="0" baseline="0" noProof="0" dirty="0">
              <a:ln>
                <a:noFill/>
              </a:ln>
              <a:solidFill>
                <a:srgbClr val="3242A4"/>
              </a:solidFill>
              <a:effectLst/>
              <a:uLnTx/>
              <a:uFillTx/>
              <a:latin typeface="Yekan Bakh" pitchFamily="2" charset="-78"/>
              <a:ea typeface="Yekan Bakh" pitchFamily="2" charset="-78"/>
              <a:cs typeface="Yekan Bakh" pitchFamily="2" charset="-78"/>
            </a:endParaRPr>
          </a:p>
        </p:txBody>
      </p:sp>
      <p:sp>
        <p:nvSpPr>
          <p:cNvPr id="29" name="TextBox 28">
            <a:extLst>
              <a:ext uri="{FF2B5EF4-FFF2-40B4-BE49-F238E27FC236}">
                <a16:creationId xmlns:a16="http://schemas.microsoft.com/office/drawing/2014/main" id="{C318EACE-C847-0373-D5BB-AFDAF3F2856A}"/>
              </a:ext>
            </a:extLst>
          </p:cNvPr>
          <p:cNvSpPr txBox="1"/>
          <p:nvPr/>
        </p:nvSpPr>
        <p:spPr>
          <a:xfrm>
            <a:off x="4061400" y="2996223"/>
            <a:ext cx="352814" cy="200055"/>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700" b="0" i="0" u="none" strike="noStrike" kern="1200" cap="none" spc="0" normalizeH="0" baseline="0" noProof="0" dirty="0">
                <a:ln>
                  <a:noFill/>
                </a:ln>
                <a:solidFill>
                  <a:srgbClr val="3242A4"/>
                </a:solidFill>
                <a:effectLst/>
                <a:uLnTx/>
                <a:uFillTx/>
                <a:latin typeface="Yekan Bakh" pitchFamily="2" charset="-78"/>
                <a:ea typeface="Yekan Bakh" pitchFamily="2" charset="-78"/>
                <a:cs typeface="Yekan Bakh" pitchFamily="2" charset="-78"/>
              </a:rPr>
              <a:t>۱۴</a:t>
            </a:r>
            <a:endParaRPr kumimoji="0" lang="en-GB" sz="700" b="0" i="0" u="none" strike="noStrike" kern="1200" cap="none" spc="0" normalizeH="0" baseline="0" noProof="0" dirty="0">
              <a:ln>
                <a:noFill/>
              </a:ln>
              <a:solidFill>
                <a:srgbClr val="3242A4"/>
              </a:solidFill>
              <a:effectLst/>
              <a:uLnTx/>
              <a:uFillTx/>
              <a:latin typeface="Yekan Bakh" pitchFamily="2" charset="-78"/>
              <a:ea typeface="Yekan Bakh" pitchFamily="2" charset="-78"/>
              <a:cs typeface="Yekan Bakh" pitchFamily="2" charset="-78"/>
            </a:endParaRPr>
          </a:p>
        </p:txBody>
      </p:sp>
      <p:sp>
        <p:nvSpPr>
          <p:cNvPr id="30" name="TextBox 29">
            <a:extLst>
              <a:ext uri="{FF2B5EF4-FFF2-40B4-BE49-F238E27FC236}">
                <a16:creationId xmlns:a16="http://schemas.microsoft.com/office/drawing/2014/main" id="{3F5F753E-4780-CEB2-602C-0F7201259685}"/>
              </a:ext>
            </a:extLst>
          </p:cNvPr>
          <p:cNvSpPr txBox="1"/>
          <p:nvPr/>
        </p:nvSpPr>
        <p:spPr>
          <a:xfrm>
            <a:off x="4064097" y="2615647"/>
            <a:ext cx="352814" cy="200055"/>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700" b="0" i="0" u="none" strike="noStrike" kern="1200" cap="none" spc="0" normalizeH="0" baseline="0" noProof="0" dirty="0">
                <a:ln>
                  <a:noFill/>
                </a:ln>
                <a:solidFill>
                  <a:srgbClr val="3242A4"/>
                </a:solidFill>
                <a:effectLst/>
                <a:uLnTx/>
                <a:uFillTx/>
                <a:latin typeface="Yekan Bakh" pitchFamily="2" charset="-78"/>
                <a:ea typeface="Yekan Bakh" pitchFamily="2" charset="-78"/>
                <a:cs typeface="Yekan Bakh" pitchFamily="2" charset="-78"/>
              </a:rPr>
              <a:t>۱۱</a:t>
            </a:r>
            <a:endParaRPr kumimoji="0" lang="en-GB" sz="700" b="0" i="0" u="none" strike="noStrike" kern="1200" cap="none" spc="0" normalizeH="0" baseline="0" noProof="0" dirty="0">
              <a:ln>
                <a:noFill/>
              </a:ln>
              <a:solidFill>
                <a:srgbClr val="3242A4"/>
              </a:solidFill>
              <a:effectLst/>
              <a:uLnTx/>
              <a:uFillTx/>
              <a:latin typeface="Yekan Bakh" pitchFamily="2" charset="-78"/>
              <a:ea typeface="Yekan Bakh" pitchFamily="2" charset="-78"/>
              <a:cs typeface="Yekan Bakh" pitchFamily="2" charset="-78"/>
            </a:endParaRPr>
          </a:p>
        </p:txBody>
      </p:sp>
      <p:sp>
        <p:nvSpPr>
          <p:cNvPr id="31" name="TextBox 30">
            <a:extLst>
              <a:ext uri="{FF2B5EF4-FFF2-40B4-BE49-F238E27FC236}">
                <a16:creationId xmlns:a16="http://schemas.microsoft.com/office/drawing/2014/main" id="{0ECB8FDE-4791-7587-FB55-193E6AA9D25E}"/>
              </a:ext>
            </a:extLst>
          </p:cNvPr>
          <p:cNvSpPr txBox="1"/>
          <p:nvPr/>
        </p:nvSpPr>
        <p:spPr>
          <a:xfrm>
            <a:off x="4494706" y="2996223"/>
            <a:ext cx="446499" cy="200055"/>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700" b="0" i="0" u="none" strike="noStrike" kern="1200" cap="none" spc="0" normalizeH="0" baseline="0" noProof="0" dirty="0">
                <a:ln>
                  <a:noFill/>
                </a:ln>
                <a:solidFill>
                  <a:srgbClr val="3242A4"/>
                </a:solidFill>
                <a:effectLst/>
                <a:uLnTx/>
                <a:uFillTx/>
                <a:latin typeface="Yekan Bakh" pitchFamily="2" charset="-78"/>
                <a:ea typeface="Yekan Bakh" pitchFamily="2" charset="-78"/>
                <a:cs typeface="Yekan Bakh" pitchFamily="2" charset="-78"/>
              </a:rPr>
              <a:t>۲-۸</a:t>
            </a:r>
            <a:endParaRPr kumimoji="0" lang="en-GB" sz="700" b="0" i="0" u="none" strike="noStrike" kern="1200" cap="none" spc="0" normalizeH="0" baseline="0" noProof="0" dirty="0">
              <a:ln>
                <a:noFill/>
              </a:ln>
              <a:solidFill>
                <a:srgbClr val="3242A4"/>
              </a:solidFill>
              <a:effectLst/>
              <a:uLnTx/>
              <a:uFillTx/>
              <a:latin typeface="Yekan Bakh" pitchFamily="2" charset="-78"/>
              <a:ea typeface="Yekan Bakh" pitchFamily="2" charset="-78"/>
              <a:cs typeface="Yekan Bakh" pitchFamily="2" charset="-78"/>
            </a:endParaRPr>
          </a:p>
        </p:txBody>
      </p:sp>
      <p:sp>
        <p:nvSpPr>
          <p:cNvPr id="32" name="TextBox 31">
            <a:extLst>
              <a:ext uri="{FF2B5EF4-FFF2-40B4-BE49-F238E27FC236}">
                <a16:creationId xmlns:a16="http://schemas.microsoft.com/office/drawing/2014/main" id="{1AD8351E-93BB-EDC3-6F0D-FF2A9CF4106C}"/>
              </a:ext>
            </a:extLst>
          </p:cNvPr>
          <p:cNvSpPr txBox="1"/>
          <p:nvPr/>
        </p:nvSpPr>
        <p:spPr>
          <a:xfrm>
            <a:off x="4367248" y="2615647"/>
            <a:ext cx="700702" cy="200055"/>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700" b="0" i="0" u="none" strike="noStrike" kern="1200" cap="none" spc="0" normalizeH="0" baseline="0" noProof="0" dirty="0">
                <a:ln>
                  <a:noFill/>
                </a:ln>
                <a:solidFill>
                  <a:srgbClr val="3242A4"/>
                </a:solidFill>
                <a:effectLst/>
                <a:uLnTx/>
                <a:uFillTx/>
                <a:latin typeface="Yekan Bakh" pitchFamily="2" charset="-78"/>
                <a:ea typeface="Yekan Bakh" pitchFamily="2" charset="-78"/>
                <a:cs typeface="Yekan Bakh" pitchFamily="2" charset="-78"/>
              </a:rPr>
              <a:t>۴-۵-۶</a:t>
            </a:r>
            <a:endParaRPr kumimoji="0" lang="en-GB" sz="700" b="0" i="0" u="none" strike="noStrike" kern="1200" cap="none" spc="0" normalizeH="0" baseline="0" noProof="0" dirty="0">
              <a:ln>
                <a:noFill/>
              </a:ln>
              <a:solidFill>
                <a:srgbClr val="3242A4"/>
              </a:solidFill>
              <a:effectLst/>
              <a:uLnTx/>
              <a:uFillTx/>
              <a:latin typeface="Yekan Bakh" pitchFamily="2" charset="-78"/>
              <a:ea typeface="Yekan Bakh" pitchFamily="2" charset="-78"/>
              <a:cs typeface="Yekan Bakh" pitchFamily="2" charset="-78"/>
            </a:endParaRPr>
          </a:p>
        </p:txBody>
      </p:sp>
      <p:sp>
        <p:nvSpPr>
          <p:cNvPr id="33" name="TextBox 32">
            <a:extLst>
              <a:ext uri="{FF2B5EF4-FFF2-40B4-BE49-F238E27FC236}">
                <a16:creationId xmlns:a16="http://schemas.microsoft.com/office/drawing/2014/main" id="{5D826769-83DF-F076-D23A-947E0BAE3DE9}"/>
              </a:ext>
            </a:extLst>
          </p:cNvPr>
          <p:cNvSpPr txBox="1"/>
          <p:nvPr/>
        </p:nvSpPr>
        <p:spPr>
          <a:xfrm>
            <a:off x="4955965" y="2615647"/>
            <a:ext cx="334881" cy="200055"/>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700" b="0" i="0" u="none" strike="noStrike" kern="1200" cap="none" spc="0" normalizeH="0" baseline="0" noProof="0" dirty="0">
                <a:ln>
                  <a:noFill/>
                </a:ln>
                <a:solidFill>
                  <a:srgbClr val="3242A4"/>
                </a:solidFill>
                <a:effectLst/>
                <a:uLnTx/>
                <a:uFillTx/>
                <a:latin typeface="Yekan Bakh" pitchFamily="2" charset="-78"/>
                <a:ea typeface="Yekan Bakh" pitchFamily="2" charset="-78"/>
                <a:cs typeface="Yekan Bakh" pitchFamily="2" charset="-78"/>
              </a:rPr>
              <a:t>۱۰</a:t>
            </a:r>
            <a:endParaRPr kumimoji="0" lang="en-GB" sz="700" b="0" i="0" u="none" strike="noStrike" kern="1200" cap="none" spc="0" normalizeH="0" baseline="0" noProof="0" dirty="0">
              <a:ln>
                <a:noFill/>
              </a:ln>
              <a:solidFill>
                <a:srgbClr val="3242A4"/>
              </a:solidFill>
              <a:effectLst/>
              <a:uLnTx/>
              <a:uFillTx/>
              <a:latin typeface="Yekan Bakh" pitchFamily="2" charset="-78"/>
              <a:ea typeface="Yekan Bakh" pitchFamily="2" charset="-78"/>
              <a:cs typeface="Yekan Bakh" pitchFamily="2" charset="-78"/>
            </a:endParaRPr>
          </a:p>
        </p:txBody>
      </p:sp>
      <p:sp>
        <p:nvSpPr>
          <p:cNvPr id="34" name="TextBox 33">
            <a:extLst>
              <a:ext uri="{FF2B5EF4-FFF2-40B4-BE49-F238E27FC236}">
                <a16:creationId xmlns:a16="http://schemas.microsoft.com/office/drawing/2014/main" id="{C9A4F75B-E791-EB04-DA01-B1798660E71F}"/>
              </a:ext>
            </a:extLst>
          </p:cNvPr>
          <p:cNvSpPr txBox="1"/>
          <p:nvPr/>
        </p:nvSpPr>
        <p:spPr>
          <a:xfrm>
            <a:off x="4725346" y="2172475"/>
            <a:ext cx="600131" cy="200055"/>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700" b="0" i="0" u="none" strike="noStrike" kern="1200" cap="none" spc="0" normalizeH="0" baseline="0" noProof="0" dirty="0">
                <a:ln>
                  <a:noFill/>
                </a:ln>
                <a:solidFill>
                  <a:srgbClr val="3242A4"/>
                </a:solidFill>
                <a:effectLst/>
                <a:uLnTx/>
                <a:uFillTx/>
                <a:latin typeface="Yekan Bakh" pitchFamily="2" charset="-78"/>
                <a:ea typeface="Yekan Bakh" pitchFamily="2" charset="-78"/>
                <a:cs typeface="Yekan Bakh" pitchFamily="2" charset="-78"/>
              </a:rPr>
              <a:t>۱-۳-۱۲-۱۳</a:t>
            </a:r>
            <a:endParaRPr kumimoji="0" lang="en-GB" sz="700" b="0" i="0" u="none" strike="noStrike" kern="1200" cap="none" spc="0" normalizeH="0" baseline="0" noProof="0" dirty="0">
              <a:ln>
                <a:noFill/>
              </a:ln>
              <a:solidFill>
                <a:srgbClr val="3242A4"/>
              </a:solidFill>
              <a:effectLst/>
              <a:uLnTx/>
              <a:uFillTx/>
              <a:latin typeface="Yekan Bakh" pitchFamily="2" charset="-78"/>
              <a:ea typeface="Yekan Bakh" pitchFamily="2" charset="-78"/>
              <a:cs typeface="Yekan Bakh" pitchFamily="2" charset="-78"/>
            </a:endParaRPr>
          </a:p>
        </p:txBody>
      </p:sp>
    </p:spTree>
    <p:extLst>
      <p:ext uri="{BB962C8B-B14F-4D97-AF65-F5344CB8AC3E}">
        <p14:creationId xmlns:p14="http://schemas.microsoft.com/office/powerpoint/2010/main" val="144113541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2A0C604-D366-7435-1B58-39CB4FB372F9}"/>
              </a:ext>
            </a:extLst>
          </p:cNvPr>
          <p:cNvSpPr>
            <a:spLocks noGrp="1"/>
          </p:cNvSpPr>
          <p:nvPr>
            <p:ph type="body" sz="quarter" idx="10"/>
          </p:nvPr>
        </p:nvSpPr>
        <p:spPr/>
        <p:txBody>
          <a:bodyPr/>
          <a:lstStyle/>
          <a:p>
            <a:r>
              <a:rPr lang="fa-IR" dirty="0"/>
              <a:t>-</a:t>
            </a:r>
          </a:p>
        </p:txBody>
      </p:sp>
      <p:sp>
        <p:nvSpPr>
          <p:cNvPr id="3" name="Text Placeholder 2">
            <a:extLst>
              <a:ext uri="{FF2B5EF4-FFF2-40B4-BE49-F238E27FC236}">
                <a16:creationId xmlns:a16="http://schemas.microsoft.com/office/drawing/2014/main" id="{0A902A22-4C55-8B7E-26D5-7388E8CEF392}"/>
              </a:ext>
            </a:extLst>
          </p:cNvPr>
          <p:cNvSpPr>
            <a:spLocks noGrp="1"/>
          </p:cNvSpPr>
          <p:nvPr>
            <p:ph type="body" sz="quarter" idx="12"/>
          </p:nvPr>
        </p:nvSpPr>
        <p:spPr>
          <a:xfrm>
            <a:off x="555629" y="567444"/>
            <a:ext cx="10710133" cy="715363"/>
          </a:xfrm>
        </p:spPr>
        <p:txBody>
          <a:bodyPr/>
          <a:lstStyle/>
          <a:p>
            <a:r>
              <a:rPr lang="fa-IR" dirty="0"/>
              <a:t>جمع‌بندی استراتژیک</a:t>
            </a:r>
          </a:p>
          <a:p>
            <a:r>
              <a:rPr lang="fa-IR" sz="1200" b="0" dirty="0">
                <a:solidFill>
                  <a:schemeClr val="tx1">
                    <a:lumMod val="50000"/>
                    <a:lumOff val="50000"/>
                  </a:schemeClr>
                </a:solidFill>
              </a:rPr>
              <a:t>تحلیل مدیریتی — نه توصیفی</a:t>
            </a:r>
          </a:p>
        </p:txBody>
      </p:sp>
      <p:sp>
        <p:nvSpPr>
          <p:cNvPr id="4" name="Rectangle: Rounded Corners 3">
            <a:extLst>
              <a:ext uri="{FF2B5EF4-FFF2-40B4-BE49-F238E27FC236}">
                <a16:creationId xmlns:a16="http://schemas.microsoft.com/office/drawing/2014/main" id="{87962EAE-FED4-BE43-3A8C-BB8C83FF7891}"/>
              </a:ext>
            </a:extLst>
          </p:cNvPr>
          <p:cNvSpPr/>
          <p:nvPr/>
        </p:nvSpPr>
        <p:spPr>
          <a:xfrm>
            <a:off x="8989191" y="1300007"/>
            <a:ext cx="2276571" cy="715363"/>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مشتریان واقعاً برای انجام چه کارهایی تلاش می‌کنند؟</a:t>
            </a:r>
          </a:p>
        </p:txBody>
      </p:sp>
      <p:sp>
        <p:nvSpPr>
          <p:cNvPr id="5" name="Isosceles Triangle 4">
            <a:extLst>
              <a:ext uri="{FF2B5EF4-FFF2-40B4-BE49-F238E27FC236}">
                <a16:creationId xmlns:a16="http://schemas.microsoft.com/office/drawing/2014/main" id="{513A91EC-E2F2-4BFE-925E-E0DEC5546A5C}"/>
              </a:ext>
            </a:extLst>
          </p:cNvPr>
          <p:cNvSpPr/>
          <p:nvPr/>
        </p:nvSpPr>
        <p:spPr>
          <a:xfrm rot="16200000">
            <a:off x="8384452" y="1554605"/>
            <a:ext cx="715362" cy="206164"/>
          </a:xfrm>
          <a:prstGeom prst="triangle">
            <a:avLst/>
          </a:prstGeom>
          <a:solidFill>
            <a:srgbClr val="F0BE0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6" name="Rectangle: Rounded Corners 5">
            <a:extLst>
              <a:ext uri="{FF2B5EF4-FFF2-40B4-BE49-F238E27FC236}">
                <a16:creationId xmlns:a16="http://schemas.microsoft.com/office/drawing/2014/main" id="{C1B0BBC2-685F-CEA4-246B-B1C344427BA4}"/>
              </a:ext>
            </a:extLst>
          </p:cNvPr>
          <p:cNvSpPr/>
          <p:nvPr/>
        </p:nvSpPr>
        <p:spPr>
          <a:xfrm>
            <a:off x="437288" y="1300007"/>
            <a:ext cx="8057787" cy="715363"/>
          </a:xfrm>
          <a:prstGeom prst="roundRect">
            <a:avLst/>
          </a:prstGeom>
          <a:solidFill>
            <a:srgbClr val="1E2761">
              <a:alpha val="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در پس عناوین متفاوت پرسوناها، اکثر کارهای مستخرج حول یک رفتار مشترک می‌چرخند: کاهش عدم‌قطعیت درباره «طرف مقابل» یا «محیط مقصد» پیش از تعهد منابع (زمان، پول، شهرت). این الگو حتی در پرسوناهایی با اهداف کاملاً متفاوت (سرمایه‌گذار مالی در برابر خالق ونچر) به یک شکل تکرار می‌شود.</a:t>
            </a:r>
          </a:p>
        </p:txBody>
      </p:sp>
      <p:sp>
        <p:nvSpPr>
          <p:cNvPr id="14" name="Rectangle: Rounded Corners 13">
            <a:extLst>
              <a:ext uri="{FF2B5EF4-FFF2-40B4-BE49-F238E27FC236}">
                <a16:creationId xmlns:a16="http://schemas.microsoft.com/office/drawing/2014/main" id="{C69AB438-8EDE-6AD5-8BE9-8D1695036B78}"/>
              </a:ext>
            </a:extLst>
          </p:cNvPr>
          <p:cNvSpPr/>
          <p:nvPr/>
        </p:nvSpPr>
        <p:spPr>
          <a:xfrm>
            <a:off x="8989191" y="2066196"/>
            <a:ext cx="2276571" cy="715363"/>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مهم‌ترین مشکلات آن‌ها چیست؟</a:t>
            </a:r>
          </a:p>
        </p:txBody>
      </p:sp>
      <p:sp>
        <p:nvSpPr>
          <p:cNvPr id="15" name="Isosceles Triangle 14">
            <a:extLst>
              <a:ext uri="{FF2B5EF4-FFF2-40B4-BE49-F238E27FC236}">
                <a16:creationId xmlns:a16="http://schemas.microsoft.com/office/drawing/2014/main" id="{A41CA6A2-D645-CB45-A0FA-AD434566A590}"/>
              </a:ext>
            </a:extLst>
          </p:cNvPr>
          <p:cNvSpPr/>
          <p:nvPr/>
        </p:nvSpPr>
        <p:spPr>
          <a:xfrm rot="16200000">
            <a:off x="8384452" y="2320794"/>
            <a:ext cx="715362" cy="206164"/>
          </a:xfrm>
          <a:prstGeom prst="triangle">
            <a:avLst/>
          </a:prstGeom>
          <a:solidFill>
            <a:srgbClr val="F0BE0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6" name="Rectangle: Rounded Corners 15">
            <a:extLst>
              <a:ext uri="{FF2B5EF4-FFF2-40B4-BE49-F238E27FC236}">
                <a16:creationId xmlns:a16="http://schemas.microsoft.com/office/drawing/2014/main" id="{E56DCAB7-5079-26B8-6A34-FCB31A9F636C}"/>
              </a:ext>
            </a:extLst>
          </p:cNvPr>
          <p:cNvSpPr/>
          <p:nvPr/>
        </p:nvSpPr>
        <p:spPr>
          <a:xfrm>
            <a:off x="437288" y="2066196"/>
            <a:ext cx="8057787" cy="715363"/>
          </a:xfrm>
          <a:prstGeom prst="roundRect">
            <a:avLst/>
          </a:prstGeom>
          <a:solidFill>
            <a:srgbClr val="1E2761">
              <a:alpha val="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دردسر غالب، «نبود مرجع مستقل و قابل‌اعتماد برای راستی‌آزمایی» است — نه فقدان فرصت. این نکته مهم است: مشتریان به فرصت دسترسی محدود ندارند به‌اندازه‌ای که به اطمینان از صحت فرصت دسترسی محدود دارند.</a:t>
            </a:r>
          </a:p>
        </p:txBody>
      </p:sp>
      <p:sp>
        <p:nvSpPr>
          <p:cNvPr id="18" name="Rectangle: Rounded Corners 17">
            <a:extLst>
              <a:ext uri="{FF2B5EF4-FFF2-40B4-BE49-F238E27FC236}">
                <a16:creationId xmlns:a16="http://schemas.microsoft.com/office/drawing/2014/main" id="{3AD1C94F-39E6-DA7C-8FAC-2A2BC3FA4B04}"/>
              </a:ext>
            </a:extLst>
          </p:cNvPr>
          <p:cNvSpPr/>
          <p:nvPr/>
        </p:nvSpPr>
        <p:spPr>
          <a:xfrm>
            <a:off x="8989191" y="2832385"/>
            <a:ext cx="2276571" cy="715363"/>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بیشترین ارزش مورد انتظار آن‌ها چیست؟</a:t>
            </a:r>
          </a:p>
        </p:txBody>
      </p:sp>
      <p:sp>
        <p:nvSpPr>
          <p:cNvPr id="19" name="Isosceles Triangle 18">
            <a:extLst>
              <a:ext uri="{FF2B5EF4-FFF2-40B4-BE49-F238E27FC236}">
                <a16:creationId xmlns:a16="http://schemas.microsoft.com/office/drawing/2014/main" id="{C5B26F47-297A-3F80-4196-0AAB7D0FFA43}"/>
              </a:ext>
            </a:extLst>
          </p:cNvPr>
          <p:cNvSpPr/>
          <p:nvPr/>
        </p:nvSpPr>
        <p:spPr>
          <a:xfrm rot="16200000">
            <a:off x="8384452" y="3086983"/>
            <a:ext cx="715362" cy="206164"/>
          </a:xfrm>
          <a:prstGeom prst="triangle">
            <a:avLst/>
          </a:prstGeom>
          <a:solidFill>
            <a:srgbClr val="F0BE0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20" name="Rectangle: Rounded Corners 19">
            <a:extLst>
              <a:ext uri="{FF2B5EF4-FFF2-40B4-BE49-F238E27FC236}">
                <a16:creationId xmlns:a16="http://schemas.microsoft.com/office/drawing/2014/main" id="{9D90C7A8-134F-171A-CC4D-67753CC25BD5}"/>
              </a:ext>
            </a:extLst>
          </p:cNvPr>
          <p:cNvSpPr/>
          <p:nvPr/>
        </p:nvSpPr>
        <p:spPr>
          <a:xfrm>
            <a:off x="437288" y="2832385"/>
            <a:ext cx="8057787" cy="715363"/>
          </a:xfrm>
          <a:prstGeom prst="roundRect">
            <a:avLst/>
          </a:prstGeom>
          <a:solidFill>
            <a:srgbClr val="1E2761">
              <a:alpha val="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«اطمینان‌خاطر و کاهش ریسک» با فاصله زیاد بالاترین منفعت مورد انتظار در سراسر نقشه است، پیش از «دسترسی به فرصت» یا «سرعت». این ترتیب اولویت نشان می‌دهد ارزش پیشنهادی که صرفاً بر دسترسی تمرکز کند، بدون پرداختن به بعد اعتماد، بخش عمده تقاضای واقعی را پاسخ نمی‌دهد.</a:t>
            </a:r>
          </a:p>
        </p:txBody>
      </p:sp>
      <p:sp>
        <p:nvSpPr>
          <p:cNvPr id="22" name="Rectangle: Rounded Corners 21">
            <a:extLst>
              <a:ext uri="{FF2B5EF4-FFF2-40B4-BE49-F238E27FC236}">
                <a16:creationId xmlns:a16="http://schemas.microsoft.com/office/drawing/2014/main" id="{D0155007-8461-1D85-64D5-0CFD89E04747}"/>
              </a:ext>
            </a:extLst>
          </p:cNvPr>
          <p:cNvSpPr/>
          <p:nvPr/>
        </p:nvSpPr>
        <p:spPr>
          <a:xfrm>
            <a:off x="8989191" y="3598574"/>
            <a:ext cx="2276571" cy="715363"/>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کدام کارها بیشترین فرصت را ایجاد می‌کنند؟</a:t>
            </a:r>
          </a:p>
        </p:txBody>
      </p:sp>
      <p:sp>
        <p:nvSpPr>
          <p:cNvPr id="23" name="Isosceles Triangle 22">
            <a:extLst>
              <a:ext uri="{FF2B5EF4-FFF2-40B4-BE49-F238E27FC236}">
                <a16:creationId xmlns:a16="http://schemas.microsoft.com/office/drawing/2014/main" id="{951256A7-C91C-44CF-A80A-CB715677759F}"/>
              </a:ext>
            </a:extLst>
          </p:cNvPr>
          <p:cNvSpPr/>
          <p:nvPr/>
        </p:nvSpPr>
        <p:spPr>
          <a:xfrm rot="16200000">
            <a:off x="8384452" y="3853172"/>
            <a:ext cx="715362" cy="206164"/>
          </a:xfrm>
          <a:prstGeom prst="triangle">
            <a:avLst/>
          </a:prstGeom>
          <a:solidFill>
            <a:srgbClr val="F0BE0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24" name="Rectangle: Rounded Corners 23">
            <a:extLst>
              <a:ext uri="{FF2B5EF4-FFF2-40B4-BE49-F238E27FC236}">
                <a16:creationId xmlns:a16="http://schemas.microsoft.com/office/drawing/2014/main" id="{8413AAB4-F937-81E7-A94D-C100C7D227F8}"/>
              </a:ext>
            </a:extLst>
          </p:cNvPr>
          <p:cNvSpPr/>
          <p:nvPr/>
        </p:nvSpPr>
        <p:spPr>
          <a:xfrm>
            <a:off x="437288" y="3598574"/>
            <a:ext cx="8057787" cy="715363"/>
          </a:xfrm>
          <a:prstGeom prst="roundRect">
            <a:avLst/>
          </a:prstGeom>
          <a:solidFill>
            <a:srgbClr val="1E2761">
              <a:alpha val="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کارهایی که در ربع بالا-راست ماتریس فرصت (بخش ۶) قرار می‌گیرند — به‌ویژه راستی‌آزمایی طرف مقابل (کارهای ۱، ۳، ۱۲، ۱۳) و دسترسی به فرصت/شریک معتبر — بیشترین همپوشانی میان اهمیت بالا و دردسر حل‌نشده دارند و در بیش از یک پرسونا هم‌زمان معتبرند.</a:t>
            </a:r>
          </a:p>
        </p:txBody>
      </p:sp>
      <p:sp>
        <p:nvSpPr>
          <p:cNvPr id="26" name="Rectangle: Rounded Corners 25">
            <a:extLst>
              <a:ext uri="{FF2B5EF4-FFF2-40B4-BE49-F238E27FC236}">
                <a16:creationId xmlns:a16="http://schemas.microsoft.com/office/drawing/2014/main" id="{0C4A73E0-9F37-392D-E55F-9E15762BE896}"/>
              </a:ext>
            </a:extLst>
          </p:cNvPr>
          <p:cNvSpPr/>
          <p:nvPr/>
        </p:nvSpPr>
        <p:spPr>
          <a:xfrm>
            <a:off x="8989191" y="4364763"/>
            <a:ext cx="2276571" cy="715363"/>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کدام نیازها در حال تغییر هستند؟</a:t>
            </a:r>
          </a:p>
        </p:txBody>
      </p:sp>
      <p:sp>
        <p:nvSpPr>
          <p:cNvPr id="27" name="Isosceles Triangle 26">
            <a:extLst>
              <a:ext uri="{FF2B5EF4-FFF2-40B4-BE49-F238E27FC236}">
                <a16:creationId xmlns:a16="http://schemas.microsoft.com/office/drawing/2014/main" id="{85620C1C-2756-346B-3B65-711B1112E814}"/>
              </a:ext>
            </a:extLst>
          </p:cNvPr>
          <p:cNvSpPr/>
          <p:nvPr/>
        </p:nvSpPr>
        <p:spPr>
          <a:xfrm rot="16200000">
            <a:off x="8384452" y="4619361"/>
            <a:ext cx="715362" cy="206164"/>
          </a:xfrm>
          <a:prstGeom prst="triangle">
            <a:avLst/>
          </a:prstGeom>
          <a:solidFill>
            <a:srgbClr val="F0BE0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28" name="Rectangle: Rounded Corners 27">
            <a:extLst>
              <a:ext uri="{FF2B5EF4-FFF2-40B4-BE49-F238E27FC236}">
                <a16:creationId xmlns:a16="http://schemas.microsoft.com/office/drawing/2014/main" id="{C89D78F4-0321-5D41-3E80-3D24AB5EF21E}"/>
              </a:ext>
            </a:extLst>
          </p:cNvPr>
          <p:cNvSpPr/>
          <p:nvPr/>
        </p:nvSpPr>
        <p:spPr>
          <a:xfrm>
            <a:off x="437288" y="4364763"/>
            <a:ext cx="8057787" cy="715363"/>
          </a:xfrm>
          <a:prstGeom prst="roundRect">
            <a:avLst/>
          </a:prstGeom>
          <a:solidFill>
            <a:srgbClr val="1E2761">
              <a:alpha val="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نیازهای مرتبط با ریسک ژئوپلیتیک و کلان‌اقتصادی (پرسوناهای ۲ و ۴) نسبت به نیازهای ساختاری/حقوقی سنتی، سریع‌تر در حال تشدید هستند؛ زیرا هم شدت نوسان کلان و هم حساسیت شرکت‌های خارجی به آن، طبق شواهد پژوهشی اخیر رو به افزایش است.</a:t>
            </a:r>
          </a:p>
        </p:txBody>
      </p:sp>
      <p:sp>
        <p:nvSpPr>
          <p:cNvPr id="30" name="Rectangle: Rounded Corners 29">
            <a:extLst>
              <a:ext uri="{FF2B5EF4-FFF2-40B4-BE49-F238E27FC236}">
                <a16:creationId xmlns:a16="http://schemas.microsoft.com/office/drawing/2014/main" id="{4B242112-20F7-E5A2-03B2-DD7E25485A3D}"/>
              </a:ext>
            </a:extLst>
          </p:cNvPr>
          <p:cNvSpPr/>
          <p:nvPr/>
        </p:nvSpPr>
        <p:spPr>
          <a:xfrm>
            <a:off x="8989191" y="5130953"/>
            <a:ext cx="2276571" cy="715363"/>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این الگوها چه پیامی برای استراتژی کسب‌وکار دارند؟</a:t>
            </a:r>
          </a:p>
        </p:txBody>
      </p:sp>
      <p:sp>
        <p:nvSpPr>
          <p:cNvPr id="31" name="Isosceles Triangle 30">
            <a:extLst>
              <a:ext uri="{FF2B5EF4-FFF2-40B4-BE49-F238E27FC236}">
                <a16:creationId xmlns:a16="http://schemas.microsoft.com/office/drawing/2014/main" id="{75BBB06F-4823-3520-1C6A-367D7C6884A5}"/>
              </a:ext>
            </a:extLst>
          </p:cNvPr>
          <p:cNvSpPr/>
          <p:nvPr/>
        </p:nvSpPr>
        <p:spPr>
          <a:xfrm rot="16200000">
            <a:off x="8384452" y="5385551"/>
            <a:ext cx="715362" cy="206164"/>
          </a:xfrm>
          <a:prstGeom prst="triangle">
            <a:avLst/>
          </a:prstGeom>
          <a:solidFill>
            <a:srgbClr val="F0BE0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32" name="Rectangle: Rounded Corners 31">
            <a:extLst>
              <a:ext uri="{FF2B5EF4-FFF2-40B4-BE49-F238E27FC236}">
                <a16:creationId xmlns:a16="http://schemas.microsoft.com/office/drawing/2014/main" id="{8BC895A6-E563-D437-3F18-05A5F5C3808A}"/>
              </a:ext>
            </a:extLst>
          </p:cNvPr>
          <p:cNvSpPr/>
          <p:nvPr/>
        </p:nvSpPr>
        <p:spPr>
          <a:xfrm>
            <a:off x="437288" y="5130953"/>
            <a:ext cx="8057787" cy="715363"/>
          </a:xfrm>
          <a:prstGeom prst="roundRect">
            <a:avLst/>
          </a:prstGeom>
          <a:solidFill>
            <a:srgbClr val="1E2761">
              <a:alpha val="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ارزش محوری که اکثر پرسوناها دنبال آن هستند، در لایه </a:t>
            </a:r>
            <a:r>
              <a:rPr kumimoji="0" lang="fa-IR" sz="9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«اعتماد و راستی‌آزمایی در یک محیط کم‌شفاف»</a:t>
            </a:r>
            <a:r>
              <a:rPr kumimoji="0" lang="fa-IR" sz="9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 نهفته است، نه صرفاً تسهیل تراکنش یا دسترسی. هر تصمیم بعدی دربارهٔ ارزش پیشنهادی باید ابتدا پاسخ دهد: «چگونه اعتماد و اطمینان مشتری را نسبت به طرف مقابل یا محیط مقصد افزایش می‌دهیم؟» — این محور، بیش از هر بعد دیگری، در سراسر شش پرسونا تکرار شده است.</a:t>
            </a:r>
          </a:p>
        </p:txBody>
      </p:sp>
    </p:spTree>
    <p:extLst>
      <p:ext uri="{BB962C8B-B14F-4D97-AF65-F5344CB8AC3E}">
        <p14:creationId xmlns:p14="http://schemas.microsoft.com/office/powerpoint/2010/main" val="124306557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4974969-2830-618A-9979-6C568ABCE9A8}"/>
              </a:ext>
            </a:extLst>
          </p:cNvPr>
          <p:cNvSpPr>
            <a:spLocks noGrp="1"/>
          </p:cNvSpPr>
          <p:nvPr>
            <p:ph type="body" sz="quarter" idx="10"/>
          </p:nvPr>
        </p:nvSpPr>
        <p:spPr/>
        <p:txBody>
          <a:bodyPr/>
          <a:lstStyle/>
          <a:p>
            <a:r>
              <a:rPr lang="fa-IR" dirty="0"/>
              <a:t>-</a:t>
            </a:r>
          </a:p>
        </p:txBody>
      </p:sp>
      <p:sp>
        <p:nvSpPr>
          <p:cNvPr id="3" name="Text Placeholder 2">
            <a:extLst>
              <a:ext uri="{FF2B5EF4-FFF2-40B4-BE49-F238E27FC236}">
                <a16:creationId xmlns:a16="http://schemas.microsoft.com/office/drawing/2014/main" id="{DECCA39D-2754-824B-98F1-3449F5297969}"/>
              </a:ext>
            </a:extLst>
          </p:cNvPr>
          <p:cNvSpPr>
            <a:spLocks noGrp="1"/>
          </p:cNvSpPr>
          <p:nvPr>
            <p:ph type="body" sz="quarter" idx="12"/>
          </p:nvPr>
        </p:nvSpPr>
        <p:spPr/>
        <p:txBody>
          <a:bodyPr/>
          <a:lstStyle/>
          <a:p>
            <a:r>
              <a:rPr lang="fa-IR" dirty="0"/>
              <a:t>منابع و شواهد</a:t>
            </a:r>
          </a:p>
          <a:p>
            <a:r>
              <a:rPr lang="fa-IR" sz="1200" b="0" dirty="0">
                <a:solidFill>
                  <a:schemeClr val="tx1">
                    <a:lumMod val="50000"/>
                    <a:lumOff val="50000"/>
                  </a:schemeClr>
                </a:solidFill>
              </a:rPr>
              <a:t>فهرست منابع مورد استفاده در تجمیع این نقشه، از مخزن اولیه پروژه و پژوهش بازار تازه</a:t>
            </a:r>
          </a:p>
        </p:txBody>
      </p:sp>
      <p:graphicFrame>
        <p:nvGraphicFramePr>
          <p:cNvPr id="4" name="Table 3">
            <a:extLst>
              <a:ext uri="{FF2B5EF4-FFF2-40B4-BE49-F238E27FC236}">
                <a16:creationId xmlns:a16="http://schemas.microsoft.com/office/drawing/2014/main" id="{2078B47E-D35A-072B-7E1B-008EE9673138}"/>
              </a:ext>
            </a:extLst>
          </p:cNvPr>
          <p:cNvGraphicFramePr>
            <a:graphicFrameLocks noGrp="1"/>
          </p:cNvGraphicFramePr>
          <p:nvPr/>
        </p:nvGraphicFramePr>
        <p:xfrm>
          <a:off x="6284067" y="1659966"/>
          <a:ext cx="4959504" cy="4122931"/>
        </p:xfrm>
        <a:graphic>
          <a:graphicData uri="http://schemas.openxmlformats.org/drawingml/2006/table">
            <a:tbl>
              <a:tblPr firstRow="1" bandRow="1">
                <a:tableStyleId>{5C22544A-7EE6-4342-B048-85BDC9FD1C3A}</a:tableStyleId>
              </a:tblPr>
              <a:tblGrid>
                <a:gridCol w="1239876">
                  <a:extLst>
                    <a:ext uri="{9D8B030D-6E8A-4147-A177-3AD203B41FA5}">
                      <a16:colId xmlns:a16="http://schemas.microsoft.com/office/drawing/2014/main" val="2899027620"/>
                    </a:ext>
                  </a:extLst>
                </a:gridCol>
                <a:gridCol w="978535">
                  <a:extLst>
                    <a:ext uri="{9D8B030D-6E8A-4147-A177-3AD203B41FA5}">
                      <a16:colId xmlns:a16="http://schemas.microsoft.com/office/drawing/2014/main" val="1151514484"/>
                    </a:ext>
                  </a:extLst>
                </a:gridCol>
                <a:gridCol w="534935">
                  <a:extLst>
                    <a:ext uri="{9D8B030D-6E8A-4147-A177-3AD203B41FA5}">
                      <a16:colId xmlns:a16="http://schemas.microsoft.com/office/drawing/2014/main" val="2349129597"/>
                    </a:ext>
                  </a:extLst>
                </a:gridCol>
                <a:gridCol w="2206158">
                  <a:extLst>
                    <a:ext uri="{9D8B030D-6E8A-4147-A177-3AD203B41FA5}">
                      <a16:colId xmlns:a16="http://schemas.microsoft.com/office/drawing/2014/main" val="3484141138"/>
                    </a:ext>
                  </a:extLst>
                </a:gridCol>
              </a:tblGrid>
              <a:tr h="268714">
                <a:tc>
                  <a:txBody>
                    <a:bodyPr/>
                    <a:lstStyle/>
                    <a:p>
                      <a:pPr algn="ctr" rtl="1"/>
                      <a:r>
                        <a:rPr lang="en-US" sz="600" b="1" i="0" kern="1200" dirty="0" err="1">
                          <a:solidFill>
                            <a:schemeClr val="bg1"/>
                          </a:solidFill>
                          <a:effectLst/>
                          <a:latin typeface="Yekan Bakh" pitchFamily="2" charset="-78"/>
                          <a:ea typeface="Yekan Bakh" pitchFamily="2" charset="-78"/>
                          <a:cs typeface="Yekan Bakh" pitchFamily="2" charset="-78"/>
                        </a:rPr>
                        <a:t>لینک</a:t>
                      </a:r>
                      <a:endParaRPr lang="en-GB" sz="600" dirty="0">
                        <a:solidFill>
                          <a:schemeClr val="bg1"/>
                        </a:solidFill>
                        <a:latin typeface="Yekan Bakh" pitchFamily="2" charset="-78"/>
                        <a:ea typeface="Yekan Bakh" pitchFamily="2" charset="-78"/>
                        <a:cs typeface="Yekan Bakh" pitchFamily="2" charset="-78"/>
                      </a:endParaRPr>
                    </a:p>
                  </a:txBody>
                  <a:tcPr marL="49037" marR="49037" marT="24518" marB="24518" anchor="ctr">
                    <a:solidFill>
                      <a:schemeClr val="bg1">
                        <a:lumMod val="65000"/>
                      </a:schemeClr>
                    </a:solidFill>
                  </a:tcPr>
                </a:tc>
                <a:tc>
                  <a:txBody>
                    <a:bodyPr/>
                    <a:lstStyle/>
                    <a:p>
                      <a:pPr algn="ctr" rtl="1"/>
                      <a:r>
                        <a:rPr lang="en-US" sz="600" b="1" i="0" kern="1200" dirty="0" err="1">
                          <a:solidFill>
                            <a:schemeClr val="bg1"/>
                          </a:solidFill>
                          <a:effectLst/>
                          <a:latin typeface="Yekan Bakh" pitchFamily="2" charset="-78"/>
                          <a:ea typeface="Yekan Bakh" pitchFamily="2" charset="-78"/>
                          <a:cs typeface="Yekan Bakh" pitchFamily="2" charset="-78"/>
                        </a:rPr>
                        <a:t>سایت</a:t>
                      </a:r>
                      <a:endParaRPr lang="en-GB" sz="600" dirty="0">
                        <a:solidFill>
                          <a:schemeClr val="bg1"/>
                        </a:solidFill>
                        <a:latin typeface="Yekan Bakh" pitchFamily="2" charset="-78"/>
                        <a:ea typeface="Yekan Bakh" pitchFamily="2" charset="-78"/>
                        <a:cs typeface="Yekan Bakh" pitchFamily="2" charset="-78"/>
                      </a:endParaRPr>
                    </a:p>
                  </a:txBody>
                  <a:tcPr marL="49037" marR="49037" marT="24518" marB="24518" anchor="ctr">
                    <a:solidFill>
                      <a:schemeClr val="bg1">
                        <a:lumMod val="65000"/>
                      </a:schemeClr>
                    </a:solidFill>
                  </a:tcPr>
                </a:tc>
                <a:tc>
                  <a:txBody>
                    <a:bodyPr/>
                    <a:lstStyle/>
                    <a:p>
                      <a:pPr algn="ctr" rtl="1"/>
                      <a:r>
                        <a:rPr lang="en-US" sz="600" b="1" i="0" kern="1200" dirty="0" err="1">
                          <a:solidFill>
                            <a:schemeClr val="bg1"/>
                          </a:solidFill>
                          <a:effectLst/>
                          <a:latin typeface="Yekan Bakh" pitchFamily="2" charset="-78"/>
                          <a:ea typeface="Yekan Bakh" pitchFamily="2" charset="-78"/>
                          <a:cs typeface="Yekan Bakh" pitchFamily="2" charset="-78"/>
                        </a:rPr>
                        <a:t>تاریخ</a:t>
                      </a:r>
                      <a:endParaRPr lang="en-GB" sz="600" dirty="0">
                        <a:solidFill>
                          <a:schemeClr val="bg1"/>
                        </a:solidFill>
                        <a:latin typeface="Yekan Bakh" pitchFamily="2" charset="-78"/>
                        <a:ea typeface="Yekan Bakh" pitchFamily="2" charset="-78"/>
                        <a:cs typeface="Yekan Bakh" pitchFamily="2" charset="-78"/>
                      </a:endParaRPr>
                    </a:p>
                  </a:txBody>
                  <a:tcPr marL="49037" marR="49037" marT="24518" marB="24518" anchor="ctr">
                    <a:solidFill>
                      <a:schemeClr val="bg1">
                        <a:lumMod val="65000"/>
                      </a:schemeClr>
                    </a:solidFill>
                  </a:tcPr>
                </a:tc>
                <a:tc>
                  <a:txBody>
                    <a:bodyPr/>
                    <a:lstStyle/>
                    <a:p>
                      <a:pPr algn="ctr" rtl="1"/>
                      <a:r>
                        <a:rPr lang="en-US" sz="600" b="1" i="0" kern="1200">
                          <a:solidFill>
                            <a:schemeClr val="bg1"/>
                          </a:solidFill>
                          <a:effectLst/>
                          <a:latin typeface="Yekan Bakh" pitchFamily="2" charset="-78"/>
                          <a:ea typeface="Yekan Bakh" pitchFamily="2" charset="-78"/>
                          <a:cs typeface="Yekan Bakh" pitchFamily="2" charset="-78"/>
                        </a:rPr>
                        <a:t>عنوان</a:t>
                      </a:r>
                      <a:endParaRPr lang="en-GB" sz="600" dirty="0">
                        <a:solidFill>
                          <a:schemeClr val="bg1"/>
                        </a:solidFill>
                        <a:latin typeface="Yekan Bakh" pitchFamily="2" charset="-78"/>
                        <a:ea typeface="Yekan Bakh" pitchFamily="2" charset="-78"/>
                        <a:cs typeface="Yekan Bakh" pitchFamily="2" charset="-78"/>
                      </a:endParaRPr>
                    </a:p>
                  </a:txBody>
                  <a:tcPr marL="49037" marR="49037" marT="24518" marB="24518" anchor="ctr">
                    <a:solidFill>
                      <a:schemeClr val="bg1">
                        <a:lumMod val="65000"/>
                      </a:schemeClr>
                    </a:solidFill>
                  </a:tcPr>
                </a:tc>
                <a:extLst>
                  <a:ext uri="{0D108BD9-81ED-4DB2-BD59-A6C34878D82A}">
                    <a16:rowId xmlns:a16="http://schemas.microsoft.com/office/drawing/2014/main" val="1604034777"/>
                  </a:ext>
                </a:extLst>
              </a:tr>
              <a:tr h="215141">
                <a:tc>
                  <a:txBody>
                    <a:bodyPr/>
                    <a:lstStyle/>
                    <a:p>
                      <a:pPr algn="ctr" rtl="1" fontAlgn="t">
                        <a:spcBef>
                          <a:spcPts val="1200"/>
                        </a:spcBef>
                        <a:buNone/>
                      </a:pPr>
                      <a:r>
                        <a:rPr lang="en-US" sz="600" b="0" i="0" dirty="0">
                          <a:solidFill>
                            <a:schemeClr val="tx1">
                              <a:lumMod val="75000"/>
                              <a:lumOff val="25000"/>
                            </a:schemeClr>
                          </a:solidFill>
                          <a:effectLst/>
                          <a:latin typeface="Yekan Bakh" pitchFamily="2" charset="-78"/>
                          <a:ea typeface="Yekan Bakh" pitchFamily="2" charset="-78"/>
                          <a:cs typeface="Yekan Bakh" pitchFamily="2" charset="-78"/>
                          <a:hlinkClick r:id="rId3">
                            <a:extLst>
                              <a:ext uri="{A12FA001-AC4F-418D-AE19-62706E023703}">
                                <ahyp:hlinkClr xmlns:ahyp="http://schemas.microsoft.com/office/drawing/2018/hyperlinkcolor" val="tx"/>
                              </a:ext>
                            </a:extLst>
                          </a:hlinkClick>
                        </a:rPr>
                        <a:t>finra.org</a:t>
                      </a:r>
                      <a:endParaRPr lang="en-US" sz="600" b="0" i="0" dirty="0">
                        <a:solidFill>
                          <a:schemeClr val="tx1">
                            <a:lumMod val="75000"/>
                            <a:lumOff val="25000"/>
                          </a:schemeClr>
                        </a:solidFill>
                        <a:effectLst/>
                        <a:latin typeface="Yekan Bakh" pitchFamily="2" charset="-78"/>
                        <a:ea typeface="Yekan Bakh" pitchFamily="2" charset="-78"/>
                        <a:cs typeface="Yekan Bakh" pitchFamily="2" charset="-78"/>
                      </a:endParaRPr>
                    </a:p>
                  </a:txBody>
                  <a:tcPr marL="76200" marR="76200" marT="63500" marB="63500" anchor="ctr">
                    <a:solidFill>
                      <a:schemeClr val="bg1">
                        <a:lumMod val="95000"/>
                      </a:schemeClr>
                    </a:solidFill>
                  </a:tcPr>
                </a:tc>
                <a:tc>
                  <a:txBody>
                    <a:bodyPr/>
                    <a:lstStyle/>
                    <a:p>
                      <a:pPr algn="ctr" rtl="1"/>
                      <a:r>
                        <a:rPr lang="en-US" sz="600" b="0" i="0" kern="1200" dirty="0">
                          <a:solidFill>
                            <a:schemeClr val="tx1">
                              <a:lumMod val="75000"/>
                              <a:lumOff val="25000"/>
                            </a:schemeClr>
                          </a:solidFill>
                          <a:effectLst/>
                          <a:latin typeface="Yekan Bakh" pitchFamily="2" charset="-78"/>
                          <a:ea typeface="Yekan Bakh" pitchFamily="2" charset="-78"/>
                          <a:cs typeface="Yekan Bakh" pitchFamily="2" charset="-78"/>
                        </a:rPr>
                        <a:t>FINRA</a:t>
                      </a:r>
                      <a:endParaRPr lang="en-GB" sz="600" dirty="0">
                        <a:solidFill>
                          <a:schemeClr val="tx1">
                            <a:lumMod val="75000"/>
                            <a:lumOff val="25000"/>
                          </a:schemeClr>
                        </a:solidFill>
                        <a:latin typeface="Yekan Bakh" pitchFamily="2" charset="-78"/>
                        <a:ea typeface="Yekan Bakh" pitchFamily="2" charset="-78"/>
                        <a:cs typeface="Yekan Bakh" pitchFamily="2" charset="-78"/>
                      </a:endParaRPr>
                    </a:p>
                  </a:txBody>
                  <a:tcPr marL="49037" marR="49037" marT="24518" marB="24518" anchor="ctr">
                    <a:solidFill>
                      <a:schemeClr val="bg1">
                        <a:lumMod val="95000"/>
                      </a:schemeClr>
                    </a:solidFill>
                  </a:tcPr>
                </a:tc>
                <a:tc>
                  <a:txBody>
                    <a:bodyPr/>
                    <a:lstStyle/>
                    <a:p>
                      <a:pPr algn="ctr" rtl="1"/>
                      <a:r>
                        <a:rPr lang="fa-IR" sz="600">
                          <a:solidFill>
                            <a:schemeClr val="tx1">
                              <a:lumMod val="75000"/>
                              <a:lumOff val="25000"/>
                            </a:schemeClr>
                          </a:solidFill>
                          <a:latin typeface="Yekan Bakh" pitchFamily="2" charset="-78"/>
                          <a:ea typeface="Yekan Bakh" pitchFamily="2" charset="-78"/>
                          <a:cs typeface="Yekan Bakh" pitchFamily="2" charset="-78"/>
                        </a:rPr>
                        <a:t>-</a:t>
                      </a:r>
                      <a:endParaRPr lang="en-GB" sz="600">
                        <a:solidFill>
                          <a:schemeClr val="tx1">
                            <a:lumMod val="75000"/>
                            <a:lumOff val="25000"/>
                          </a:schemeClr>
                        </a:solidFill>
                        <a:latin typeface="Yekan Bakh" pitchFamily="2" charset="-78"/>
                        <a:ea typeface="Yekan Bakh" pitchFamily="2" charset="-78"/>
                        <a:cs typeface="Yekan Bakh" pitchFamily="2" charset="-78"/>
                      </a:endParaRPr>
                    </a:p>
                  </a:txBody>
                  <a:tcPr marL="49037" marR="49037" marT="24518" marB="24518" anchor="ctr">
                    <a:solidFill>
                      <a:schemeClr val="bg1">
                        <a:lumMod val="95000"/>
                      </a:schemeClr>
                    </a:solidFill>
                  </a:tcPr>
                </a:tc>
                <a:tc>
                  <a:txBody>
                    <a:bodyPr/>
                    <a:lstStyle/>
                    <a:p>
                      <a:pPr algn="ctr" rtl="1"/>
                      <a:r>
                        <a:rPr lang="en-US" sz="600" b="1" i="0" kern="1200" dirty="0">
                          <a:solidFill>
                            <a:schemeClr val="tx1">
                              <a:lumMod val="75000"/>
                              <a:lumOff val="25000"/>
                            </a:schemeClr>
                          </a:solidFill>
                          <a:effectLst/>
                          <a:latin typeface="Yekan Bakh" pitchFamily="2" charset="-78"/>
                          <a:ea typeface="Yekan Bakh" pitchFamily="2" charset="-78"/>
                          <a:cs typeface="Yekan Bakh" pitchFamily="2" charset="-78"/>
                        </a:rPr>
                        <a:t>Investing in Emerging and Frontier Markets</a:t>
                      </a:r>
                      <a:endParaRPr lang="en-GB" sz="600" dirty="0">
                        <a:solidFill>
                          <a:schemeClr val="tx1">
                            <a:lumMod val="75000"/>
                            <a:lumOff val="25000"/>
                          </a:schemeClr>
                        </a:solidFill>
                        <a:latin typeface="Yekan Bakh" pitchFamily="2" charset="-78"/>
                        <a:ea typeface="Yekan Bakh" pitchFamily="2" charset="-78"/>
                        <a:cs typeface="Yekan Bakh" pitchFamily="2" charset="-78"/>
                      </a:endParaRPr>
                    </a:p>
                  </a:txBody>
                  <a:tcPr marL="49037" marR="49037" marT="24518" marB="24518" anchor="ctr">
                    <a:solidFill>
                      <a:schemeClr val="bg1">
                        <a:lumMod val="95000"/>
                      </a:schemeClr>
                    </a:solidFill>
                  </a:tcPr>
                </a:tc>
                <a:extLst>
                  <a:ext uri="{0D108BD9-81ED-4DB2-BD59-A6C34878D82A}">
                    <a16:rowId xmlns:a16="http://schemas.microsoft.com/office/drawing/2014/main" val="1264252077"/>
                  </a:ext>
                </a:extLst>
              </a:tr>
              <a:tr h="215141">
                <a:tc>
                  <a:txBody>
                    <a:bodyPr/>
                    <a:lstStyle/>
                    <a:p>
                      <a:pPr algn="ctr" rtl="1" fontAlgn="t">
                        <a:spcBef>
                          <a:spcPts val="1200"/>
                        </a:spcBef>
                        <a:buNone/>
                      </a:pPr>
                      <a:r>
                        <a:rPr lang="en-US" sz="600" b="0" i="0" dirty="0">
                          <a:solidFill>
                            <a:schemeClr val="tx1">
                              <a:lumMod val="75000"/>
                              <a:lumOff val="25000"/>
                            </a:schemeClr>
                          </a:solidFill>
                          <a:effectLst/>
                          <a:latin typeface="Yekan Bakh" pitchFamily="2" charset="-78"/>
                          <a:ea typeface="Yekan Bakh" pitchFamily="2" charset="-78"/>
                          <a:cs typeface="Yekan Bakh" pitchFamily="2" charset="-78"/>
                          <a:hlinkClick r:id="rId4">
                            <a:extLst>
                              <a:ext uri="{A12FA001-AC4F-418D-AE19-62706E023703}">
                                <ahyp:hlinkClr xmlns:ahyp="http://schemas.microsoft.com/office/drawing/2018/hyperlinkcolor" val="tx"/>
                              </a:ext>
                            </a:extLst>
                          </a:hlinkClick>
                        </a:rPr>
                        <a:t>nrdcompanies.com</a:t>
                      </a:r>
                      <a:endParaRPr lang="en-US" sz="600" b="0" i="0" dirty="0">
                        <a:solidFill>
                          <a:schemeClr val="tx1">
                            <a:lumMod val="75000"/>
                            <a:lumOff val="25000"/>
                          </a:schemeClr>
                        </a:solidFill>
                        <a:effectLst/>
                        <a:latin typeface="Yekan Bakh" pitchFamily="2" charset="-78"/>
                        <a:ea typeface="Yekan Bakh" pitchFamily="2" charset="-78"/>
                        <a:cs typeface="Yekan Bakh" pitchFamily="2" charset="-78"/>
                      </a:endParaRPr>
                    </a:p>
                  </a:txBody>
                  <a:tcPr marL="76200" marR="76200" marT="63500" marB="63500" anchor="ctr">
                    <a:solidFill>
                      <a:schemeClr val="bg1">
                        <a:lumMod val="95000"/>
                      </a:schemeClr>
                    </a:solidFill>
                  </a:tcPr>
                </a:tc>
                <a:tc>
                  <a:txBody>
                    <a:bodyPr/>
                    <a:lstStyle/>
                    <a:p>
                      <a:pPr algn="ctr" rtl="1"/>
                      <a:r>
                        <a:rPr lang="en-US" sz="600" b="0" i="0" kern="1200" dirty="0">
                          <a:solidFill>
                            <a:schemeClr val="tx1">
                              <a:lumMod val="75000"/>
                              <a:lumOff val="25000"/>
                            </a:schemeClr>
                          </a:solidFill>
                          <a:effectLst/>
                          <a:latin typeface="Yekan Bakh" pitchFamily="2" charset="-78"/>
                          <a:ea typeface="Yekan Bakh" pitchFamily="2" charset="-78"/>
                          <a:cs typeface="Yekan Bakh" pitchFamily="2" charset="-78"/>
                        </a:rPr>
                        <a:t>NRD Companies</a:t>
                      </a:r>
                      <a:endParaRPr lang="en-GB" sz="600" dirty="0">
                        <a:solidFill>
                          <a:schemeClr val="tx1">
                            <a:lumMod val="75000"/>
                            <a:lumOff val="25000"/>
                          </a:schemeClr>
                        </a:solidFill>
                        <a:latin typeface="Yekan Bakh" pitchFamily="2" charset="-78"/>
                        <a:ea typeface="Yekan Bakh" pitchFamily="2" charset="-78"/>
                        <a:cs typeface="Yekan Bakh" pitchFamily="2" charset="-78"/>
                      </a:endParaRPr>
                    </a:p>
                  </a:txBody>
                  <a:tcPr marL="49037" marR="49037" marT="24518" marB="24518" anchor="ctr">
                    <a:solidFill>
                      <a:schemeClr val="bg1">
                        <a:lumMod val="95000"/>
                      </a:schemeClr>
                    </a:solidFill>
                  </a:tcPr>
                </a:tc>
                <a:tc>
                  <a:txBody>
                    <a:bodyPr/>
                    <a:lstStyle/>
                    <a:p>
                      <a:pPr algn="ctr" rtl="1"/>
                      <a:r>
                        <a:rPr lang="fa-IR" sz="600" dirty="0">
                          <a:solidFill>
                            <a:schemeClr val="tx1">
                              <a:lumMod val="75000"/>
                              <a:lumOff val="25000"/>
                            </a:schemeClr>
                          </a:solidFill>
                          <a:latin typeface="Yekan Bakh" pitchFamily="2" charset="-78"/>
                          <a:ea typeface="Yekan Bakh" pitchFamily="2" charset="-78"/>
                          <a:cs typeface="Yekan Bakh" pitchFamily="2" charset="-78"/>
                        </a:rPr>
                        <a:t>۲۰۲۵</a:t>
                      </a:r>
                      <a:endParaRPr lang="en-GB" sz="600" dirty="0">
                        <a:solidFill>
                          <a:schemeClr val="tx1">
                            <a:lumMod val="75000"/>
                            <a:lumOff val="25000"/>
                          </a:schemeClr>
                        </a:solidFill>
                        <a:latin typeface="Yekan Bakh" pitchFamily="2" charset="-78"/>
                        <a:ea typeface="Yekan Bakh" pitchFamily="2" charset="-78"/>
                        <a:cs typeface="Yekan Bakh" pitchFamily="2" charset="-78"/>
                      </a:endParaRPr>
                    </a:p>
                  </a:txBody>
                  <a:tcPr marL="49037" marR="49037" marT="24518" marB="24518" anchor="ctr">
                    <a:solidFill>
                      <a:schemeClr val="bg1">
                        <a:lumMod val="95000"/>
                      </a:schemeClr>
                    </a:solidFill>
                  </a:tcPr>
                </a:tc>
                <a:tc>
                  <a:txBody>
                    <a:bodyPr/>
                    <a:lstStyle/>
                    <a:p>
                      <a:pPr algn="ctr" rtl="1"/>
                      <a:r>
                        <a:rPr lang="en-US" sz="600" b="1" i="0" kern="1200" dirty="0">
                          <a:solidFill>
                            <a:schemeClr val="tx1">
                              <a:lumMod val="75000"/>
                              <a:lumOff val="25000"/>
                            </a:schemeClr>
                          </a:solidFill>
                          <a:effectLst/>
                          <a:latin typeface="Yekan Bakh" pitchFamily="2" charset="-78"/>
                          <a:ea typeface="Yekan Bakh" pitchFamily="2" charset="-78"/>
                          <a:cs typeface="Yekan Bakh" pitchFamily="2" charset="-78"/>
                        </a:rPr>
                        <a:t>Business Ready 2025 Report Insights</a:t>
                      </a:r>
                      <a:endParaRPr lang="en-GB" sz="600" dirty="0">
                        <a:solidFill>
                          <a:schemeClr val="tx1">
                            <a:lumMod val="75000"/>
                            <a:lumOff val="25000"/>
                          </a:schemeClr>
                        </a:solidFill>
                        <a:latin typeface="Yekan Bakh" pitchFamily="2" charset="-78"/>
                        <a:ea typeface="Yekan Bakh" pitchFamily="2" charset="-78"/>
                        <a:cs typeface="Yekan Bakh" pitchFamily="2" charset="-78"/>
                      </a:endParaRPr>
                    </a:p>
                  </a:txBody>
                  <a:tcPr marL="49037" marR="49037" marT="24518" marB="24518" anchor="ctr">
                    <a:solidFill>
                      <a:schemeClr val="bg1">
                        <a:lumMod val="95000"/>
                      </a:schemeClr>
                    </a:solidFill>
                  </a:tcPr>
                </a:tc>
                <a:extLst>
                  <a:ext uri="{0D108BD9-81ED-4DB2-BD59-A6C34878D82A}">
                    <a16:rowId xmlns:a16="http://schemas.microsoft.com/office/drawing/2014/main" val="3759476057"/>
                  </a:ext>
                </a:extLst>
              </a:tr>
              <a:tr h="215141">
                <a:tc>
                  <a:txBody>
                    <a:bodyPr/>
                    <a:lstStyle/>
                    <a:p>
                      <a:pPr algn="ctr" rtl="1"/>
                      <a:r>
                        <a:rPr lang="en-US" sz="600" b="0" i="0" dirty="0">
                          <a:solidFill>
                            <a:schemeClr val="tx1">
                              <a:lumMod val="75000"/>
                              <a:lumOff val="25000"/>
                            </a:schemeClr>
                          </a:solidFill>
                          <a:effectLst/>
                          <a:latin typeface="Yekan Bakh" pitchFamily="2" charset="-78"/>
                          <a:ea typeface="Yekan Bakh" pitchFamily="2" charset="-78"/>
                          <a:cs typeface="Yekan Bakh" pitchFamily="2" charset="-78"/>
                          <a:hlinkClick r:id="rId5">
                            <a:extLst>
                              <a:ext uri="{A12FA001-AC4F-418D-AE19-62706E023703}">
                                <ahyp:hlinkClr xmlns:ahyp="http://schemas.microsoft.com/office/drawing/2018/hyperlinkcolor" val="tx"/>
                              </a:ext>
                            </a:extLst>
                          </a:hlinkClick>
                        </a:rPr>
                        <a:t>imf.org</a:t>
                      </a:r>
                      <a:endParaRPr lang="en-GB" sz="600" dirty="0">
                        <a:solidFill>
                          <a:schemeClr val="tx1">
                            <a:lumMod val="75000"/>
                            <a:lumOff val="25000"/>
                          </a:schemeClr>
                        </a:solidFill>
                        <a:latin typeface="Yekan Bakh" pitchFamily="2" charset="-78"/>
                        <a:ea typeface="Yekan Bakh" pitchFamily="2" charset="-78"/>
                        <a:cs typeface="Yekan Bakh" pitchFamily="2" charset="-78"/>
                      </a:endParaRPr>
                    </a:p>
                  </a:txBody>
                  <a:tcPr marL="49037" marR="49037" marT="24518" marB="24518" anchor="ctr">
                    <a:solidFill>
                      <a:schemeClr val="bg1">
                        <a:lumMod val="95000"/>
                      </a:schemeClr>
                    </a:solidFill>
                  </a:tcPr>
                </a:tc>
                <a:tc>
                  <a:txBody>
                    <a:bodyPr/>
                    <a:lstStyle/>
                    <a:p>
                      <a:pPr algn="ctr" rtl="1"/>
                      <a:r>
                        <a:rPr lang="en-US" sz="600" b="0" i="0" kern="1200" dirty="0">
                          <a:solidFill>
                            <a:schemeClr val="tx1">
                              <a:lumMod val="75000"/>
                              <a:lumOff val="25000"/>
                            </a:schemeClr>
                          </a:solidFill>
                          <a:effectLst/>
                          <a:latin typeface="Yekan Bakh" pitchFamily="2" charset="-78"/>
                          <a:ea typeface="Yekan Bakh" pitchFamily="2" charset="-78"/>
                          <a:cs typeface="Yekan Bakh" pitchFamily="2" charset="-78"/>
                        </a:rPr>
                        <a:t>IMF</a:t>
                      </a:r>
                      <a:endParaRPr lang="en-GB" sz="600" dirty="0">
                        <a:solidFill>
                          <a:schemeClr val="tx1">
                            <a:lumMod val="75000"/>
                            <a:lumOff val="25000"/>
                          </a:schemeClr>
                        </a:solidFill>
                        <a:latin typeface="Yekan Bakh" pitchFamily="2" charset="-78"/>
                        <a:ea typeface="Yekan Bakh" pitchFamily="2" charset="-78"/>
                        <a:cs typeface="Yekan Bakh" pitchFamily="2" charset="-78"/>
                      </a:endParaRPr>
                    </a:p>
                  </a:txBody>
                  <a:tcPr marL="49037" marR="49037" marT="24518" marB="24518" anchor="ctr">
                    <a:solidFill>
                      <a:schemeClr val="bg1">
                        <a:lumMod val="95000"/>
                      </a:schemeClr>
                    </a:solidFill>
                  </a:tcPr>
                </a:tc>
                <a:tc>
                  <a:txBody>
                    <a:bodyPr/>
                    <a:lstStyle/>
                    <a:p>
                      <a:pPr algn="ctr" rtl="1"/>
                      <a:r>
                        <a:rPr lang="en-US" sz="600" b="0" i="0" kern="1200" dirty="0" err="1">
                          <a:solidFill>
                            <a:schemeClr val="tx1">
                              <a:lumMod val="75000"/>
                              <a:lumOff val="25000"/>
                            </a:schemeClr>
                          </a:solidFill>
                          <a:effectLst/>
                          <a:latin typeface="Yekan Bakh" pitchFamily="2" charset="-78"/>
                          <a:ea typeface="Yekan Bakh" pitchFamily="2" charset="-78"/>
                          <a:cs typeface="Yekan Bakh" pitchFamily="2" charset="-78"/>
                        </a:rPr>
                        <a:t>اکتبر</a:t>
                      </a:r>
                      <a:r>
                        <a:rPr lang="en-US" sz="6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fa-IR" sz="600" b="0" i="0" kern="1200" dirty="0">
                          <a:solidFill>
                            <a:schemeClr val="tx1">
                              <a:lumMod val="75000"/>
                              <a:lumOff val="25000"/>
                            </a:schemeClr>
                          </a:solidFill>
                          <a:effectLst/>
                          <a:latin typeface="Yekan Bakh" pitchFamily="2" charset="-78"/>
                          <a:ea typeface="Yekan Bakh" pitchFamily="2" charset="-78"/>
                          <a:cs typeface="Yekan Bakh" pitchFamily="2" charset="-78"/>
                        </a:rPr>
                        <a:t>۲۰۲۵</a:t>
                      </a:r>
                      <a:endParaRPr lang="en-GB" sz="600" dirty="0">
                        <a:solidFill>
                          <a:schemeClr val="tx1">
                            <a:lumMod val="75000"/>
                            <a:lumOff val="25000"/>
                          </a:schemeClr>
                        </a:solidFill>
                        <a:latin typeface="Yekan Bakh" pitchFamily="2" charset="-78"/>
                        <a:ea typeface="Yekan Bakh" pitchFamily="2" charset="-78"/>
                        <a:cs typeface="Yekan Bakh" pitchFamily="2" charset="-78"/>
                      </a:endParaRPr>
                    </a:p>
                  </a:txBody>
                  <a:tcPr marL="49037" marR="49037" marT="24518" marB="24518" anchor="ctr">
                    <a:solidFill>
                      <a:schemeClr val="bg1">
                        <a:lumMod val="95000"/>
                      </a:schemeClr>
                    </a:solidFill>
                  </a:tcPr>
                </a:tc>
                <a:tc>
                  <a:txBody>
                    <a:bodyPr/>
                    <a:lstStyle/>
                    <a:p>
                      <a:pPr algn="ctr" rtl="1"/>
                      <a:r>
                        <a:rPr lang="en-US" sz="600" b="1" i="0" kern="1200" dirty="0">
                          <a:solidFill>
                            <a:schemeClr val="tx1">
                              <a:lumMod val="75000"/>
                              <a:lumOff val="25000"/>
                            </a:schemeClr>
                          </a:solidFill>
                          <a:effectLst/>
                          <a:latin typeface="Yekan Bakh" pitchFamily="2" charset="-78"/>
                          <a:ea typeface="Yekan Bakh" pitchFamily="2" charset="-78"/>
                          <a:cs typeface="Yekan Bakh" pitchFamily="2" charset="-78"/>
                        </a:rPr>
                        <a:t>Global Financial Stability Report، </a:t>
                      </a:r>
                      <a:r>
                        <a:rPr lang="en-US" sz="600" b="1" i="0" kern="1200" dirty="0" err="1">
                          <a:solidFill>
                            <a:schemeClr val="tx1">
                              <a:lumMod val="75000"/>
                              <a:lumOff val="25000"/>
                            </a:schemeClr>
                          </a:solidFill>
                          <a:effectLst/>
                          <a:latin typeface="Yekan Bakh" pitchFamily="2" charset="-78"/>
                          <a:ea typeface="Yekan Bakh" pitchFamily="2" charset="-78"/>
                          <a:cs typeface="Yekan Bakh" pitchFamily="2" charset="-78"/>
                        </a:rPr>
                        <a:t>اکتبر</a:t>
                      </a:r>
                      <a:r>
                        <a:rPr lang="en-US" sz="600" b="1" i="0" kern="1200" dirty="0">
                          <a:solidFill>
                            <a:schemeClr val="tx1">
                              <a:lumMod val="75000"/>
                              <a:lumOff val="25000"/>
                            </a:schemeClr>
                          </a:solidFill>
                          <a:effectLst/>
                          <a:latin typeface="Yekan Bakh" pitchFamily="2" charset="-78"/>
                          <a:ea typeface="Yekan Bakh" pitchFamily="2" charset="-78"/>
                          <a:cs typeface="Yekan Bakh" pitchFamily="2" charset="-78"/>
                        </a:rPr>
                        <a:t> ۲۰۲۵</a:t>
                      </a:r>
                      <a:endParaRPr lang="en-GB" sz="600" dirty="0">
                        <a:solidFill>
                          <a:schemeClr val="tx1">
                            <a:lumMod val="75000"/>
                            <a:lumOff val="25000"/>
                          </a:schemeClr>
                        </a:solidFill>
                        <a:latin typeface="Yekan Bakh" pitchFamily="2" charset="-78"/>
                        <a:ea typeface="Yekan Bakh" pitchFamily="2" charset="-78"/>
                        <a:cs typeface="Yekan Bakh" pitchFamily="2" charset="-78"/>
                      </a:endParaRPr>
                    </a:p>
                  </a:txBody>
                  <a:tcPr marL="49037" marR="49037" marT="24518" marB="24518" anchor="ctr">
                    <a:solidFill>
                      <a:schemeClr val="bg1">
                        <a:lumMod val="95000"/>
                      </a:schemeClr>
                    </a:solidFill>
                  </a:tcPr>
                </a:tc>
                <a:extLst>
                  <a:ext uri="{0D108BD9-81ED-4DB2-BD59-A6C34878D82A}">
                    <a16:rowId xmlns:a16="http://schemas.microsoft.com/office/drawing/2014/main" val="970744782"/>
                  </a:ext>
                </a:extLst>
              </a:tr>
              <a:tr h="215141">
                <a:tc>
                  <a:txBody>
                    <a:bodyPr/>
                    <a:lstStyle/>
                    <a:p>
                      <a:pPr algn="ctr" rtl="1"/>
                      <a:r>
                        <a:rPr lang="en-US" sz="600" b="0" i="0" dirty="0">
                          <a:solidFill>
                            <a:schemeClr val="tx1">
                              <a:lumMod val="75000"/>
                              <a:lumOff val="25000"/>
                            </a:schemeClr>
                          </a:solidFill>
                          <a:effectLst/>
                          <a:latin typeface="Yekan Bakh" pitchFamily="2" charset="-78"/>
                          <a:ea typeface="Yekan Bakh" pitchFamily="2" charset="-78"/>
                          <a:cs typeface="Yekan Bakh" pitchFamily="2" charset="-78"/>
                          <a:hlinkClick r:id="rId6">
                            <a:extLst>
                              <a:ext uri="{A12FA001-AC4F-418D-AE19-62706E023703}">
                                <ahyp:hlinkClr xmlns:ahyp="http://schemas.microsoft.com/office/drawing/2018/hyperlinkcolor" val="tx"/>
                              </a:ext>
                            </a:extLst>
                          </a:hlinkClick>
                        </a:rPr>
                        <a:t>elibrary.imf.org</a:t>
                      </a:r>
                      <a:endParaRPr lang="en-GB" sz="600" dirty="0">
                        <a:solidFill>
                          <a:schemeClr val="tx1">
                            <a:lumMod val="75000"/>
                            <a:lumOff val="25000"/>
                          </a:schemeClr>
                        </a:solidFill>
                        <a:latin typeface="Yekan Bakh" pitchFamily="2" charset="-78"/>
                        <a:ea typeface="Yekan Bakh" pitchFamily="2" charset="-78"/>
                        <a:cs typeface="Yekan Bakh" pitchFamily="2" charset="-78"/>
                      </a:endParaRPr>
                    </a:p>
                  </a:txBody>
                  <a:tcPr marL="49037" marR="49037" marT="24518" marB="24518" anchor="ctr">
                    <a:solidFill>
                      <a:schemeClr val="bg1">
                        <a:lumMod val="95000"/>
                      </a:schemeClr>
                    </a:solidFill>
                  </a:tcPr>
                </a:tc>
                <a:tc>
                  <a:txBody>
                    <a:bodyPr/>
                    <a:lstStyle/>
                    <a:p>
                      <a:pPr algn="ctr" rtl="1"/>
                      <a:r>
                        <a:rPr lang="en-US" sz="600" b="0" i="0" kern="1200" dirty="0">
                          <a:solidFill>
                            <a:schemeClr val="tx1">
                              <a:lumMod val="75000"/>
                              <a:lumOff val="25000"/>
                            </a:schemeClr>
                          </a:solidFill>
                          <a:effectLst/>
                          <a:latin typeface="Yekan Bakh" pitchFamily="2" charset="-78"/>
                          <a:ea typeface="Yekan Bakh" pitchFamily="2" charset="-78"/>
                          <a:cs typeface="Yekan Bakh" pitchFamily="2" charset="-78"/>
                        </a:rPr>
                        <a:t>IMF </a:t>
                      </a:r>
                      <a:r>
                        <a:rPr lang="en-US" sz="600" b="0" i="0" kern="1200" dirty="0" err="1">
                          <a:solidFill>
                            <a:schemeClr val="tx1">
                              <a:lumMod val="75000"/>
                              <a:lumOff val="25000"/>
                            </a:schemeClr>
                          </a:solidFill>
                          <a:effectLst/>
                          <a:latin typeface="Yekan Bakh" pitchFamily="2" charset="-78"/>
                          <a:ea typeface="Yekan Bakh" pitchFamily="2" charset="-78"/>
                          <a:cs typeface="Yekan Bakh" pitchFamily="2" charset="-78"/>
                        </a:rPr>
                        <a:t>eLibrary</a:t>
                      </a:r>
                      <a:endParaRPr lang="en-GB" sz="600" dirty="0">
                        <a:solidFill>
                          <a:schemeClr val="tx1">
                            <a:lumMod val="75000"/>
                            <a:lumOff val="25000"/>
                          </a:schemeClr>
                        </a:solidFill>
                        <a:latin typeface="Yekan Bakh" pitchFamily="2" charset="-78"/>
                        <a:ea typeface="Yekan Bakh" pitchFamily="2" charset="-78"/>
                        <a:cs typeface="Yekan Bakh" pitchFamily="2" charset="-78"/>
                      </a:endParaRPr>
                    </a:p>
                  </a:txBody>
                  <a:tcPr marL="49037" marR="49037" marT="24518" marB="24518" anchor="ctr">
                    <a:solidFill>
                      <a:schemeClr val="bg1">
                        <a:lumMod val="95000"/>
                      </a:schemeClr>
                    </a:solidFill>
                  </a:tcPr>
                </a:tc>
                <a:tc>
                  <a:txBody>
                    <a:bodyPr/>
                    <a:lstStyle/>
                    <a:p>
                      <a:pPr marL="0" marR="0" lvl="0" indent="0" algn="ctr" defTabSz="1021516" rtl="1" eaLnBrk="1" fontAlgn="auto" latinLnBrk="0" hangingPunct="1">
                        <a:lnSpc>
                          <a:spcPct val="100000"/>
                        </a:lnSpc>
                        <a:spcBef>
                          <a:spcPts val="0"/>
                        </a:spcBef>
                        <a:spcAft>
                          <a:spcPts val="0"/>
                        </a:spcAft>
                        <a:buClrTx/>
                        <a:buSzTx/>
                        <a:buFontTx/>
                        <a:buNone/>
                        <a:tabLst/>
                        <a:defRPr/>
                      </a:pPr>
                      <a:r>
                        <a:rPr lang="en-US" sz="600" b="0" i="0" kern="1200" dirty="0" err="1">
                          <a:solidFill>
                            <a:schemeClr val="tx1">
                              <a:lumMod val="75000"/>
                              <a:lumOff val="25000"/>
                            </a:schemeClr>
                          </a:solidFill>
                          <a:effectLst/>
                          <a:latin typeface="Yekan Bakh" pitchFamily="2" charset="-78"/>
                          <a:ea typeface="Yekan Bakh" pitchFamily="2" charset="-78"/>
                          <a:cs typeface="Yekan Bakh" pitchFamily="2" charset="-78"/>
                        </a:rPr>
                        <a:t>اکتبر</a:t>
                      </a:r>
                      <a:r>
                        <a:rPr lang="en-US" sz="6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fa-IR" sz="600" b="0" i="0" kern="1200" dirty="0">
                          <a:solidFill>
                            <a:schemeClr val="tx1">
                              <a:lumMod val="75000"/>
                              <a:lumOff val="25000"/>
                            </a:schemeClr>
                          </a:solidFill>
                          <a:effectLst/>
                          <a:latin typeface="Yekan Bakh" pitchFamily="2" charset="-78"/>
                          <a:ea typeface="Yekan Bakh" pitchFamily="2" charset="-78"/>
                          <a:cs typeface="Yekan Bakh" pitchFamily="2" charset="-78"/>
                        </a:rPr>
                        <a:t>۲۰۲۵</a:t>
                      </a:r>
                      <a:endParaRPr lang="en-GB" sz="600" dirty="0">
                        <a:solidFill>
                          <a:schemeClr val="tx1">
                            <a:lumMod val="75000"/>
                            <a:lumOff val="25000"/>
                          </a:schemeClr>
                        </a:solidFill>
                        <a:latin typeface="Yekan Bakh" pitchFamily="2" charset="-78"/>
                        <a:ea typeface="Yekan Bakh" pitchFamily="2" charset="-78"/>
                        <a:cs typeface="Yekan Bakh" pitchFamily="2" charset="-78"/>
                      </a:endParaRPr>
                    </a:p>
                  </a:txBody>
                  <a:tcPr marL="49037" marR="49037" marT="24518" marB="24518" anchor="ctr">
                    <a:solidFill>
                      <a:schemeClr val="bg1">
                        <a:lumMod val="95000"/>
                      </a:schemeClr>
                    </a:solidFill>
                  </a:tcPr>
                </a:tc>
                <a:tc>
                  <a:txBody>
                    <a:bodyPr/>
                    <a:lstStyle/>
                    <a:p>
                      <a:pPr algn="ctr" rtl="1"/>
                      <a:r>
                        <a:rPr lang="en-US" sz="600" b="1" i="0" kern="1200" dirty="0">
                          <a:solidFill>
                            <a:schemeClr val="tx1">
                              <a:lumMod val="75000"/>
                              <a:lumOff val="25000"/>
                            </a:schemeClr>
                          </a:solidFill>
                          <a:effectLst/>
                          <a:latin typeface="Yekan Bakh" pitchFamily="2" charset="-78"/>
                          <a:ea typeface="Yekan Bakh" pitchFamily="2" charset="-78"/>
                          <a:cs typeface="Yekan Bakh" pitchFamily="2" charset="-78"/>
                        </a:rPr>
                        <a:t>Shifting Ground Beneath the Calm (GFSR، </a:t>
                      </a:r>
                      <a:r>
                        <a:rPr lang="en-US" sz="600" b="1" i="0" kern="1200" dirty="0" err="1">
                          <a:solidFill>
                            <a:schemeClr val="tx1">
                              <a:lumMod val="75000"/>
                              <a:lumOff val="25000"/>
                            </a:schemeClr>
                          </a:solidFill>
                          <a:effectLst/>
                          <a:latin typeface="Yekan Bakh" pitchFamily="2" charset="-78"/>
                          <a:ea typeface="Yekan Bakh" pitchFamily="2" charset="-78"/>
                          <a:cs typeface="Yekan Bakh" pitchFamily="2" charset="-78"/>
                        </a:rPr>
                        <a:t>فصل</a:t>
                      </a:r>
                      <a:r>
                        <a:rPr lang="en-US" sz="600" b="1" i="0" kern="1200" dirty="0">
                          <a:solidFill>
                            <a:schemeClr val="tx1">
                              <a:lumMod val="75000"/>
                              <a:lumOff val="25000"/>
                            </a:schemeClr>
                          </a:solidFill>
                          <a:effectLst/>
                          <a:latin typeface="Yekan Bakh" pitchFamily="2" charset="-78"/>
                          <a:ea typeface="Yekan Bakh" pitchFamily="2" charset="-78"/>
                          <a:cs typeface="Yekan Bakh" pitchFamily="2" charset="-78"/>
                        </a:rPr>
                        <a:t> ۱)</a:t>
                      </a:r>
                      <a:endParaRPr lang="en-GB" sz="600" dirty="0">
                        <a:solidFill>
                          <a:schemeClr val="tx1">
                            <a:lumMod val="75000"/>
                            <a:lumOff val="25000"/>
                          </a:schemeClr>
                        </a:solidFill>
                        <a:latin typeface="Yekan Bakh" pitchFamily="2" charset="-78"/>
                        <a:ea typeface="Yekan Bakh" pitchFamily="2" charset="-78"/>
                        <a:cs typeface="Yekan Bakh" pitchFamily="2" charset="-78"/>
                      </a:endParaRPr>
                    </a:p>
                  </a:txBody>
                  <a:tcPr marL="49037" marR="49037" marT="24518" marB="24518" anchor="ctr">
                    <a:solidFill>
                      <a:schemeClr val="bg1">
                        <a:lumMod val="95000"/>
                      </a:schemeClr>
                    </a:solidFill>
                  </a:tcPr>
                </a:tc>
                <a:extLst>
                  <a:ext uri="{0D108BD9-81ED-4DB2-BD59-A6C34878D82A}">
                    <a16:rowId xmlns:a16="http://schemas.microsoft.com/office/drawing/2014/main" val="141523190"/>
                  </a:ext>
                </a:extLst>
              </a:tr>
              <a:tr h="215141">
                <a:tc>
                  <a:txBody>
                    <a:bodyPr/>
                    <a:lstStyle/>
                    <a:p>
                      <a:pPr algn="ctr" rtl="1" fontAlgn="t">
                        <a:spcBef>
                          <a:spcPts val="1200"/>
                        </a:spcBef>
                        <a:buNone/>
                      </a:pPr>
                      <a:r>
                        <a:rPr lang="en-US" sz="600" b="0" i="0" dirty="0">
                          <a:solidFill>
                            <a:schemeClr val="tx1">
                              <a:lumMod val="75000"/>
                              <a:lumOff val="25000"/>
                            </a:schemeClr>
                          </a:solidFill>
                          <a:effectLst/>
                          <a:latin typeface="Yekan Bakh" pitchFamily="2" charset="-78"/>
                          <a:ea typeface="Yekan Bakh" pitchFamily="2" charset="-78"/>
                          <a:cs typeface="Yekan Bakh" pitchFamily="2" charset="-78"/>
                          <a:hlinkClick r:id="rId7">
                            <a:extLst>
                              <a:ext uri="{A12FA001-AC4F-418D-AE19-62706E023703}">
                                <ahyp:hlinkClr xmlns:ahyp="http://schemas.microsoft.com/office/drawing/2018/hyperlinkcolor" val="tx"/>
                              </a:ext>
                            </a:extLst>
                          </a:hlinkClick>
                        </a:rPr>
                        <a:t>bruegel.org</a:t>
                      </a:r>
                      <a:endParaRPr lang="en-US" sz="600" b="0" i="0" dirty="0">
                        <a:solidFill>
                          <a:schemeClr val="tx1">
                            <a:lumMod val="75000"/>
                            <a:lumOff val="25000"/>
                          </a:schemeClr>
                        </a:solidFill>
                        <a:effectLst/>
                        <a:latin typeface="Yekan Bakh" pitchFamily="2" charset="-78"/>
                        <a:ea typeface="Yekan Bakh" pitchFamily="2" charset="-78"/>
                        <a:cs typeface="Yekan Bakh" pitchFamily="2" charset="-78"/>
                      </a:endParaRPr>
                    </a:p>
                  </a:txBody>
                  <a:tcPr marL="76200" marR="76200" marT="63500" marB="63500" anchor="ctr">
                    <a:solidFill>
                      <a:schemeClr val="bg1">
                        <a:lumMod val="95000"/>
                      </a:schemeClr>
                    </a:solidFill>
                  </a:tcPr>
                </a:tc>
                <a:tc>
                  <a:txBody>
                    <a:bodyPr/>
                    <a:lstStyle/>
                    <a:p>
                      <a:pPr algn="ctr" rtl="1"/>
                      <a:r>
                        <a:rPr lang="en-US" sz="600" b="0" i="0" kern="1200" dirty="0">
                          <a:solidFill>
                            <a:schemeClr val="tx1">
                              <a:lumMod val="75000"/>
                              <a:lumOff val="25000"/>
                            </a:schemeClr>
                          </a:solidFill>
                          <a:effectLst/>
                          <a:latin typeface="Yekan Bakh" pitchFamily="2" charset="-78"/>
                          <a:ea typeface="Yekan Bakh" pitchFamily="2" charset="-78"/>
                          <a:cs typeface="Yekan Bakh" pitchFamily="2" charset="-78"/>
                        </a:rPr>
                        <a:t>Bruegel</a:t>
                      </a:r>
                      <a:endParaRPr lang="en-GB" sz="600" dirty="0">
                        <a:solidFill>
                          <a:schemeClr val="tx1">
                            <a:lumMod val="75000"/>
                            <a:lumOff val="25000"/>
                          </a:schemeClr>
                        </a:solidFill>
                        <a:latin typeface="Yekan Bakh" pitchFamily="2" charset="-78"/>
                        <a:ea typeface="Yekan Bakh" pitchFamily="2" charset="-78"/>
                        <a:cs typeface="Yekan Bakh" pitchFamily="2" charset="-78"/>
                      </a:endParaRPr>
                    </a:p>
                  </a:txBody>
                  <a:tcPr marL="49037" marR="49037" marT="24518" marB="24518" anchor="ctr">
                    <a:solidFill>
                      <a:schemeClr val="bg1">
                        <a:lumMod val="95000"/>
                      </a:schemeClr>
                    </a:solidFill>
                  </a:tcPr>
                </a:tc>
                <a:tc>
                  <a:txBody>
                    <a:bodyPr/>
                    <a:lstStyle/>
                    <a:p>
                      <a:pPr algn="ctr" rtl="1"/>
                      <a:r>
                        <a:rPr lang="fa-IR" sz="600" dirty="0">
                          <a:solidFill>
                            <a:schemeClr val="tx1">
                              <a:lumMod val="75000"/>
                              <a:lumOff val="25000"/>
                            </a:schemeClr>
                          </a:solidFill>
                          <a:latin typeface="Yekan Bakh" pitchFamily="2" charset="-78"/>
                          <a:ea typeface="Yekan Bakh" pitchFamily="2" charset="-78"/>
                          <a:cs typeface="Yekan Bakh" pitchFamily="2" charset="-78"/>
                        </a:rPr>
                        <a:t>۲۰۲۵</a:t>
                      </a:r>
                      <a:endParaRPr lang="en-GB" sz="600" dirty="0">
                        <a:solidFill>
                          <a:schemeClr val="tx1">
                            <a:lumMod val="75000"/>
                            <a:lumOff val="25000"/>
                          </a:schemeClr>
                        </a:solidFill>
                        <a:latin typeface="Yekan Bakh" pitchFamily="2" charset="-78"/>
                        <a:ea typeface="Yekan Bakh" pitchFamily="2" charset="-78"/>
                        <a:cs typeface="Yekan Bakh" pitchFamily="2" charset="-78"/>
                      </a:endParaRPr>
                    </a:p>
                  </a:txBody>
                  <a:tcPr marL="49037" marR="49037" marT="24518" marB="24518" anchor="ctr">
                    <a:solidFill>
                      <a:schemeClr val="bg1">
                        <a:lumMod val="95000"/>
                      </a:schemeClr>
                    </a:solidFill>
                  </a:tcPr>
                </a:tc>
                <a:tc>
                  <a:txBody>
                    <a:bodyPr/>
                    <a:lstStyle/>
                    <a:p>
                      <a:pPr algn="ctr" rtl="1"/>
                      <a:r>
                        <a:rPr lang="en-US" sz="600" b="1" i="0" kern="1200" dirty="0">
                          <a:solidFill>
                            <a:schemeClr val="tx1">
                              <a:lumMod val="75000"/>
                              <a:lumOff val="25000"/>
                            </a:schemeClr>
                          </a:solidFill>
                          <a:effectLst/>
                          <a:latin typeface="Yekan Bakh" pitchFamily="2" charset="-78"/>
                          <a:ea typeface="Yekan Bakh" pitchFamily="2" charset="-78"/>
                          <a:cs typeface="Yekan Bakh" pitchFamily="2" charset="-78"/>
                        </a:rPr>
                        <a:t>The Growing Impact of Political Risk on Financial Markets</a:t>
                      </a:r>
                      <a:endParaRPr lang="en-GB" sz="600" dirty="0">
                        <a:solidFill>
                          <a:schemeClr val="tx1">
                            <a:lumMod val="75000"/>
                            <a:lumOff val="25000"/>
                          </a:schemeClr>
                        </a:solidFill>
                        <a:latin typeface="Yekan Bakh" pitchFamily="2" charset="-78"/>
                        <a:ea typeface="Yekan Bakh" pitchFamily="2" charset="-78"/>
                        <a:cs typeface="Yekan Bakh" pitchFamily="2" charset="-78"/>
                      </a:endParaRPr>
                    </a:p>
                  </a:txBody>
                  <a:tcPr marL="49037" marR="49037" marT="24518" marB="24518" anchor="ctr">
                    <a:solidFill>
                      <a:schemeClr val="bg1">
                        <a:lumMod val="95000"/>
                      </a:schemeClr>
                    </a:solidFill>
                  </a:tcPr>
                </a:tc>
                <a:extLst>
                  <a:ext uri="{0D108BD9-81ED-4DB2-BD59-A6C34878D82A}">
                    <a16:rowId xmlns:a16="http://schemas.microsoft.com/office/drawing/2014/main" val="477554305"/>
                  </a:ext>
                </a:extLst>
              </a:tr>
              <a:tr h="215141">
                <a:tc>
                  <a:txBody>
                    <a:bodyPr/>
                    <a:lstStyle/>
                    <a:p>
                      <a:pPr algn="ctr" rtl="1"/>
                      <a:r>
                        <a:rPr lang="en-US" sz="600" b="0" i="0" dirty="0" err="1">
                          <a:solidFill>
                            <a:schemeClr val="tx1">
                              <a:lumMod val="75000"/>
                              <a:lumOff val="25000"/>
                            </a:schemeClr>
                          </a:solidFill>
                          <a:effectLst/>
                          <a:latin typeface="Yekan Bakh" pitchFamily="2" charset="-78"/>
                          <a:ea typeface="Yekan Bakh" pitchFamily="2" charset="-78"/>
                          <a:cs typeface="Yekan Bakh" pitchFamily="2" charset="-78"/>
                          <a:hlinkClick r:id="rId8">
                            <a:extLst>
                              <a:ext uri="{A12FA001-AC4F-418D-AE19-62706E023703}">
                                <ahyp:hlinkClr xmlns:ahyp="http://schemas.microsoft.com/office/drawing/2018/hyperlinkcolor" val="tx"/>
                              </a:ext>
                            </a:extLst>
                          </a:hlinkClick>
                        </a:rPr>
                        <a:t>startupceo.coach</a:t>
                      </a:r>
                      <a:endParaRPr lang="en-GB" sz="600" dirty="0">
                        <a:solidFill>
                          <a:schemeClr val="tx1">
                            <a:lumMod val="75000"/>
                            <a:lumOff val="25000"/>
                          </a:schemeClr>
                        </a:solidFill>
                        <a:latin typeface="Yekan Bakh" pitchFamily="2" charset="-78"/>
                        <a:ea typeface="Yekan Bakh" pitchFamily="2" charset="-78"/>
                        <a:cs typeface="Yekan Bakh" pitchFamily="2" charset="-78"/>
                      </a:endParaRPr>
                    </a:p>
                  </a:txBody>
                  <a:tcPr marL="49037" marR="49037" marT="24518" marB="24518" anchor="ctr">
                    <a:solidFill>
                      <a:schemeClr val="bg1">
                        <a:lumMod val="95000"/>
                      </a:schemeClr>
                    </a:solidFill>
                  </a:tcPr>
                </a:tc>
                <a:tc>
                  <a:txBody>
                    <a:bodyPr/>
                    <a:lstStyle/>
                    <a:p>
                      <a:pPr algn="ctr" rtl="1"/>
                      <a:r>
                        <a:rPr lang="en-US" sz="600" b="0" i="0" kern="1200" dirty="0">
                          <a:solidFill>
                            <a:schemeClr val="tx1">
                              <a:lumMod val="75000"/>
                              <a:lumOff val="25000"/>
                            </a:schemeClr>
                          </a:solidFill>
                          <a:effectLst/>
                          <a:latin typeface="Yekan Bakh" pitchFamily="2" charset="-78"/>
                          <a:ea typeface="Yekan Bakh" pitchFamily="2" charset="-78"/>
                          <a:cs typeface="Yekan Bakh" pitchFamily="2" charset="-78"/>
                        </a:rPr>
                        <a:t>Startup CEO Coach</a:t>
                      </a:r>
                      <a:endParaRPr lang="en-GB" sz="600" dirty="0">
                        <a:solidFill>
                          <a:schemeClr val="tx1">
                            <a:lumMod val="75000"/>
                            <a:lumOff val="25000"/>
                          </a:schemeClr>
                        </a:solidFill>
                        <a:latin typeface="Yekan Bakh" pitchFamily="2" charset="-78"/>
                        <a:ea typeface="Yekan Bakh" pitchFamily="2" charset="-78"/>
                        <a:cs typeface="Yekan Bakh" pitchFamily="2" charset="-78"/>
                      </a:endParaRPr>
                    </a:p>
                  </a:txBody>
                  <a:tcPr marL="49037" marR="49037" marT="24518" marB="24518" anchor="ctr">
                    <a:solidFill>
                      <a:schemeClr val="bg1">
                        <a:lumMod val="95000"/>
                      </a:schemeClr>
                    </a:solidFill>
                  </a:tcPr>
                </a:tc>
                <a:tc>
                  <a:txBody>
                    <a:bodyPr/>
                    <a:lstStyle/>
                    <a:p>
                      <a:pPr algn="ctr" rtl="1"/>
                      <a:r>
                        <a:rPr lang="fa-IR" sz="600" dirty="0">
                          <a:solidFill>
                            <a:schemeClr val="tx1">
                              <a:lumMod val="75000"/>
                              <a:lumOff val="25000"/>
                            </a:schemeClr>
                          </a:solidFill>
                          <a:latin typeface="Yekan Bakh" pitchFamily="2" charset="-78"/>
                          <a:ea typeface="Yekan Bakh" pitchFamily="2" charset="-78"/>
                          <a:cs typeface="Yekan Bakh" pitchFamily="2" charset="-78"/>
                        </a:rPr>
                        <a:t>۲۰۲۵</a:t>
                      </a:r>
                      <a:endParaRPr lang="en-GB" sz="600" dirty="0">
                        <a:solidFill>
                          <a:schemeClr val="tx1">
                            <a:lumMod val="75000"/>
                            <a:lumOff val="25000"/>
                          </a:schemeClr>
                        </a:solidFill>
                        <a:latin typeface="Yekan Bakh" pitchFamily="2" charset="-78"/>
                        <a:ea typeface="Yekan Bakh" pitchFamily="2" charset="-78"/>
                        <a:cs typeface="Yekan Bakh" pitchFamily="2" charset="-78"/>
                      </a:endParaRPr>
                    </a:p>
                  </a:txBody>
                  <a:tcPr marL="49037" marR="49037" marT="24518" marB="24518" anchor="ctr">
                    <a:solidFill>
                      <a:schemeClr val="bg1">
                        <a:lumMod val="95000"/>
                      </a:schemeClr>
                    </a:solidFill>
                  </a:tcPr>
                </a:tc>
                <a:tc>
                  <a:txBody>
                    <a:bodyPr/>
                    <a:lstStyle/>
                    <a:p>
                      <a:pPr algn="ctr" rtl="1"/>
                      <a:r>
                        <a:rPr lang="en-US" sz="600" b="1" i="0" kern="1200" dirty="0">
                          <a:solidFill>
                            <a:schemeClr val="tx1">
                              <a:lumMod val="75000"/>
                              <a:lumOff val="25000"/>
                            </a:schemeClr>
                          </a:solidFill>
                          <a:effectLst/>
                          <a:latin typeface="Yekan Bakh" pitchFamily="2" charset="-78"/>
                          <a:ea typeface="Yekan Bakh" pitchFamily="2" charset="-78"/>
                          <a:cs typeface="Yekan Bakh" pitchFamily="2" charset="-78"/>
                        </a:rPr>
                        <a:t>Why Startup Founders Avoid Difficult Decisions</a:t>
                      </a:r>
                      <a:endParaRPr lang="en-GB" sz="600" dirty="0">
                        <a:solidFill>
                          <a:schemeClr val="tx1">
                            <a:lumMod val="75000"/>
                            <a:lumOff val="25000"/>
                          </a:schemeClr>
                        </a:solidFill>
                        <a:latin typeface="Yekan Bakh" pitchFamily="2" charset="-78"/>
                        <a:ea typeface="Yekan Bakh" pitchFamily="2" charset="-78"/>
                        <a:cs typeface="Yekan Bakh" pitchFamily="2" charset="-78"/>
                      </a:endParaRPr>
                    </a:p>
                  </a:txBody>
                  <a:tcPr marL="49037" marR="49037" marT="24518" marB="24518" anchor="ctr">
                    <a:solidFill>
                      <a:schemeClr val="bg1">
                        <a:lumMod val="95000"/>
                      </a:schemeClr>
                    </a:solidFill>
                  </a:tcPr>
                </a:tc>
                <a:extLst>
                  <a:ext uri="{0D108BD9-81ED-4DB2-BD59-A6C34878D82A}">
                    <a16:rowId xmlns:a16="http://schemas.microsoft.com/office/drawing/2014/main" val="3475606269"/>
                  </a:ext>
                </a:extLst>
              </a:tr>
              <a:tr h="215141">
                <a:tc>
                  <a:txBody>
                    <a:bodyPr/>
                    <a:lstStyle/>
                    <a:p>
                      <a:pPr algn="ctr" rtl="1" fontAlgn="t">
                        <a:spcBef>
                          <a:spcPts val="1200"/>
                        </a:spcBef>
                        <a:buNone/>
                      </a:pPr>
                      <a:r>
                        <a:rPr lang="en-US" sz="600" b="0" i="0" dirty="0">
                          <a:solidFill>
                            <a:schemeClr val="tx1">
                              <a:lumMod val="75000"/>
                              <a:lumOff val="25000"/>
                            </a:schemeClr>
                          </a:solidFill>
                          <a:effectLst/>
                          <a:latin typeface="Yekan Bakh" pitchFamily="2" charset="-78"/>
                          <a:ea typeface="Yekan Bakh" pitchFamily="2" charset="-78"/>
                          <a:cs typeface="Yekan Bakh" pitchFamily="2" charset="-78"/>
                          <a:hlinkClick r:id="rId9">
                            <a:extLst>
                              <a:ext uri="{A12FA001-AC4F-418D-AE19-62706E023703}">
                                <ahyp:hlinkClr xmlns:ahyp="http://schemas.microsoft.com/office/drawing/2018/hyperlinkcolor" val="tx"/>
                              </a:ext>
                            </a:extLst>
                          </a:hlinkClick>
                        </a:rPr>
                        <a:t>hbr.org</a:t>
                      </a:r>
                      <a:endParaRPr lang="en-US" sz="600" b="0" i="0" dirty="0">
                        <a:solidFill>
                          <a:schemeClr val="tx1">
                            <a:lumMod val="75000"/>
                            <a:lumOff val="25000"/>
                          </a:schemeClr>
                        </a:solidFill>
                        <a:effectLst/>
                        <a:latin typeface="Yekan Bakh" pitchFamily="2" charset="-78"/>
                        <a:ea typeface="Yekan Bakh" pitchFamily="2" charset="-78"/>
                        <a:cs typeface="Yekan Bakh" pitchFamily="2" charset="-78"/>
                      </a:endParaRPr>
                    </a:p>
                  </a:txBody>
                  <a:tcPr marL="76200" marR="76200" marT="63500" marB="63500" anchor="ctr">
                    <a:solidFill>
                      <a:schemeClr val="bg1">
                        <a:lumMod val="95000"/>
                      </a:schemeClr>
                    </a:solidFill>
                  </a:tcPr>
                </a:tc>
                <a:tc>
                  <a:txBody>
                    <a:bodyPr/>
                    <a:lstStyle/>
                    <a:p>
                      <a:pPr algn="ctr" rtl="1"/>
                      <a:r>
                        <a:rPr lang="en-US" sz="600" b="0" i="0" kern="1200" dirty="0">
                          <a:solidFill>
                            <a:schemeClr val="tx1">
                              <a:lumMod val="75000"/>
                              <a:lumOff val="25000"/>
                            </a:schemeClr>
                          </a:solidFill>
                          <a:effectLst/>
                          <a:latin typeface="Yekan Bakh" pitchFamily="2" charset="-78"/>
                          <a:ea typeface="Yekan Bakh" pitchFamily="2" charset="-78"/>
                          <a:cs typeface="Yekan Bakh" pitchFamily="2" charset="-78"/>
                        </a:rPr>
                        <a:t>Harvard Business Review</a:t>
                      </a:r>
                      <a:endParaRPr lang="en-GB" sz="600" dirty="0">
                        <a:solidFill>
                          <a:schemeClr val="tx1">
                            <a:lumMod val="75000"/>
                            <a:lumOff val="25000"/>
                          </a:schemeClr>
                        </a:solidFill>
                        <a:latin typeface="Yekan Bakh" pitchFamily="2" charset="-78"/>
                        <a:ea typeface="Yekan Bakh" pitchFamily="2" charset="-78"/>
                        <a:cs typeface="Yekan Bakh" pitchFamily="2" charset="-78"/>
                      </a:endParaRPr>
                    </a:p>
                  </a:txBody>
                  <a:tcPr marL="49037" marR="49037" marT="24518" marB="24518" anchor="ctr">
                    <a:solidFill>
                      <a:schemeClr val="bg1">
                        <a:lumMod val="95000"/>
                      </a:schemeClr>
                    </a:solidFill>
                  </a:tcPr>
                </a:tc>
                <a:tc>
                  <a:txBody>
                    <a:bodyPr/>
                    <a:lstStyle/>
                    <a:p>
                      <a:pPr algn="ctr" rtl="1"/>
                      <a:r>
                        <a:rPr lang="en-US" sz="600" b="0" i="0" kern="1200" dirty="0" err="1">
                          <a:solidFill>
                            <a:schemeClr val="tx1">
                              <a:lumMod val="75000"/>
                              <a:lumOff val="25000"/>
                            </a:schemeClr>
                          </a:solidFill>
                          <a:effectLst/>
                          <a:latin typeface="Yekan Bakh" pitchFamily="2" charset="-78"/>
                          <a:ea typeface="Yekan Bakh" pitchFamily="2" charset="-78"/>
                          <a:cs typeface="Yekan Bakh" pitchFamily="2" charset="-78"/>
                        </a:rPr>
                        <a:t>ژوئیه</a:t>
                      </a:r>
                      <a:r>
                        <a:rPr lang="en-US" sz="600" b="0" i="0" kern="1200" dirty="0">
                          <a:solidFill>
                            <a:schemeClr val="tx1">
                              <a:lumMod val="75000"/>
                              <a:lumOff val="25000"/>
                            </a:schemeClr>
                          </a:solidFill>
                          <a:effectLst/>
                          <a:latin typeface="Yekan Bakh" pitchFamily="2" charset="-78"/>
                          <a:ea typeface="Yekan Bakh" pitchFamily="2" charset="-78"/>
                          <a:cs typeface="Yekan Bakh" pitchFamily="2" charset="-78"/>
                        </a:rPr>
                        <a:t> ۲۰۲۵</a:t>
                      </a:r>
                      <a:endParaRPr lang="en-GB" sz="600" dirty="0">
                        <a:solidFill>
                          <a:schemeClr val="tx1">
                            <a:lumMod val="75000"/>
                            <a:lumOff val="25000"/>
                          </a:schemeClr>
                        </a:solidFill>
                        <a:latin typeface="Yekan Bakh" pitchFamily="2" charset="-78"/>
                        <a:ea typeface="Yekan Bakh" pitchFamily="2" charset="-78"/>
                        <a:cs typeface="Yekan Bakh" pitchFamily="2" charset="-78"/>
                      </a:endParaRPr>
                    </a:p>
                  </a:txBody>
                  <a:tcPr marL="49037" marR="49037" marT="24518" marB="24518" anchor="ctr">
                    <a:solidFill>
                      <a:schemeClr val="bg1">
                        <a:lumMod val="95000"/>
                      </a:schemeClr>
                    </a:solidFill>
                  </a:tcPr>
                </a:tc>
                <a:tc>
                  <a:txBody>
                    <a:bodyPr/>
                    <a:lstStyle/>
                    <a:p>
                      <a:pPr algn="ctr" rtl="1"/>
                      <a:r>
                        <a:rPr lang="en-US" sz="600" b="1" i="0" kern="1200" dirty="0">
                          <a:solidFill>
                            <a:schemeClr val="tx1">
                              <a:lumMod val="75000"/>
                              <a:lumOff val="25000"/>
                            </a:schemeClr>
                          </a:solidFill>
                          <a:effectLst/>
                          <a:latin typeface="Yekan Bakh" pitchFamily="2" charset="-78"/>
                          <a:ea typeface="Yekan Bakh" pitchFamily="2" charset="-78"/>
                          <a:cs typeface="Yekan Bakh" pitchFamily="2" charset="-78"/>
                        </a:rPr>
                        <a:t>How to Identify the Perfect Cofounder</a:t>
                      </a:r>
                      <a:endParaRPr lang="en-GB" sz="600" dirty="0">
                        <a:solidFill>
                          <a:schemeClr val="tx1">
                            <a:lumMod val="75000"/>
                            <a:lumOff val="25000"/>
                          </a:schemeClr>
                        </a:solidFill>
                        <a:latin typeface="Yekan Bakh" pitchFamily="2" charset="-78"/>
                        <a:ea typeface="Yekan Bakh" pitchFamily="2" charset="-78"/>
                        <a:cs typeface="Yekan Bakh" pitchFamily="2" charset="-78"/>
                      </a:endParaRPr>
                    </a:p>
                  </a:txBody>
                  <a:tcPr marL="49037" marR="49037" marT="24518" marB="24518" anchor="ctr">
                    <a:solidFill>
                      <a:schemeClr val="bg1">
                        <a:lumMod val="95000"/>
                      </a:schemeClr>
                    </a:solidFill>
                  </a:tcPr>
                </a:tc>
                <a:extLst>
                  <a:ext uri="{0D108BD9-81ED-4DB2-BD59-A6C34878D82A}">
                    <a16:rowId xmlns:a16="http://schemas.microsoft.com/office/drawing/2014/main" val="2346503417"/>
                  </a:ext>
                </a:extLst>
              </a:tr>
              <a:tr h="215141">
                <a:tc>
                  <a:txBody>
                    <a:bodyPr/>
                    <a:lstStyle/>
                    <a:p>
                      <a:pPr algn="ctr" rtl="1" fontAlgn="t">
                        <a:spcBef>
                          <a:spcPts val="1200"/>
                        </a:spcBef>
                        <a:buNone/>
                      </a:pPr>
                      <a:r>
                        <a:rPr lang="en-US" sz="600" b="0" i="0" dirty="0">
                          <a:solidFill>
                            <a:schemeClr val="tx1">
                              <a:lumMod val="75000"/>
                              <a:lumOff val="25000"/>
                            </a:schemeClr>
                          </a:solidFill>
                          <a:effectLst/>
                          <a:latin typeface="Yekan Bakh" pitchFamily="2" charset="-78"/>
                          <a:ea typeface="Yekan Bakh" pitchFamily="2" charset="-78"/>
                          <a:cs typeface="Yekan Bakh" pitchFamily="2" charset="-78"/>
                          <a:hlinkClick r:id="rId10">
                            <a:extLst>
                              <a:ext uri="{A12FA001-AC4F-418D-AE19-62706E023703}">
                                <ahyp:hlinkClr xmlns:ahyp="http://schemas.microsoft.com/office/drawing/2018/hyperlinkcolor" val="tx"/>
                              </a:ext>
                            </a:extLst>
                          </a:hlinkClick>
                        </a:rPr>
                        <a:t>steveblank.com</a:t>
                      </a:r>
                      <a:endParaRPr lang="en-US" sz="600" b="0" i="0" dirty="0">
                        <a:solidFill>
                          <a:schemeClr val="tx1">
                            <a:lumMod val="75000"/>
                            <a:lumOff val="25000"/>
                          </a:schemeClr>
                        </a:solidFill>
                        <a:effectLst/>
                        <a:latin typeface="Yekan Bakh" pitchFamily="2" charset="-78"/>
                        <a:ea typeface="Yekan Bakh" pitchFamily="2" charset="-78"/>
                        <a:cs typeface="Yekan Bakh" pitchFamily="2" charset="-78"/>
                      </a:endParaRPr>
                    </a:p>
                  </a:txBody>
                  <a:tcPr marL="76200" marR="76200" marT="63500" marB="63500" anchor="ctr">
                    <a:solidFill>
                      <a:schemeClr val="bg1">
                        <a:lumMod val="95000"/>
                      </a:schemeClr>
                    </a:solidFill>
                  </a:tcPr>
                </a:tc>
                <a:tc>
                  <a:txBody>
                    <a:bodyPr/>
                    <a:lstStyle/>
                    <a:p>
                      <a:pPr algn="ctr" rtl="1"/>
                      <a:r>
                        <a:rPr lang="en-US" sz="600" b="0" i="0" kern="1200" dirty="0">
                          <a:solidFill>
                            <a:schemeClr val="tx1">
                              <a:lumMod val="75000"/>
                              <a:lumOff val="25000"/>
                            </a:schemeClr>
                          </a:solidFill>
                          <a:effectLst/>
                          <a:latin typeface="Yekan Bakh" pitchFamily="2" charset="-78"/>
                          <a:ea typeface="Yekan Bakh" pitchFamily="2" charset="-78"/>
                          <a:cs typeface="Yekan Bakh" pitchFamily="2" charset="-78"/>
                        </a:rPr>
                        <a:t>Steve Blank</a:t>
                      </a:r>
                      <a:endParaRPr lang="en-GB" sz="600" dirty="0">
                        <a:solidFill>
                          <a:schemeClr val="tx1">
                            <a:lumMod val="75000"/>
                            <a:lumOff val="25000"/>
                          </a:schemeClr>
                        </a:solidFill>
                        <a:latin typeface="Yekan Bakh" pitchFamily="2" charset="-78"/>
                        <a:ea typeface="Yekan Bakh" pitchFamily="2" charset="-78"/>
                        <a:cs typeface="Yekan Bakh" pitchFamily="2" charset="-78"/>
                      </a:endParaRPr>
                    </a:p>
                  </a:txBody>
                  <a:tcPr marL="49037" marR="49037" marT="24518" marB="24518" anchor="ctr">
                    <a:solidFill>
                      <a:schemeClr val="bg1">
                        <a:lumMod val="95000"/>
                      </a:schemeClr>
                    </a:solidFill>
                  </a:tcPr>
                </a:tc>
                <a:tc>
                  <a:txBody>
                    <a:bodyPr/>
                    <a:lstStyle/>
                    <a:p>
                      <a:pPr algn="ctr" rtl="1"/>
                      <a:r>
                        <a:rPr lang="fa-IR" sz="600" dirty="0">
                          <a:solidFill>
                            <a:schemeClr val="tx1">
                              <a:lumMod val="75000"/>
                              <a:lumOff val="25000"/>
                            </a:schemeClr>
                          </a:solidFill>
                          <a:latin typeface="Yekan Bakh" pitchFamily="2" charset="-78"/>
                          <a:ea typeface="Yekan Bakh" pitchFamily="2" charset="-78"/>
                          <a:cs typeface="Yekan Bakh" pitchFamily="2" charset="-78"/>
                        </a:rPr>
                        <a:t>-</a:t>
                      </a:r>
                      <a:endParaRPr lang="en-GB" sz="600" dirty="0">
                        <a:solidFill>
                          <a:schemeClr val="tx1">
                            <a:lumMod val="75000"/>
                            <a:lumOff val="25000"/>
                          </a:schemeClr>
                        </a:solidFill>
                        <a:latin typeface="Yekan Bakh" pitchFamily="2" charset="-78"/>
                        <a:ea typeface="Yekan Bakh" pitchFamily="2" charset="-78"/>
                        <a:cs typeface="Yekan Bakh" pitchFamily="2" charset="-78"/>
                      </a:endParaRPr>
                    </a:p>
                  </a:txBody>
                  <a:tcPr marL="49037" marR="49037" marT="24518" marB="24518" anchor="ctr">
                    <a:solidFill>
                      <a:schemeClr val="bg1">
                        <a:lumMod val="95000"/>
                      </a:schemeClr>
                    </a:solidFill>
                  </a:tcPr>
                </a:tc>
                <a:tc>
                  <a:txBody>
                    <a:bodyPr/>
                    <a:lstStyle/>
                    <a:p>
                      <a:pPr algn="ctr" rtl="1"/>
                      <a:r>
                        <a:rPr lang="en-US" sz="600" b="1" i="0" kern="1200" dirty="0" err="1">
                          <a:solidFill>
                            <a:schemeClr val="tx1">
                              <a:lumMod val="75000"/>
                              <a:lumOff val="25000"/>
                            </a:schemeClr>
                          </a:solidFill>
                          <a:effectLst/>
                          <a:latin typeface="Yekan Bakh" pitchFamily="2" charset="-78"/>
                          <a:ea typeface="Yekan Bakh" pitchFamily="2" charset="-78"/>
                          <a:cs typeface="Yekan Bakh" pitchFamily="2" charset="-78"/>
                        </a:rPr>
                        <a:t>مجموعه</a:t>
                      </a:r>
                      <a:r>
                        <a:rPr lang="en-US" sz="600" b="1"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600" b="1" i="0" kern="1200" dirty="0" err="1">
                          <a:solidFill>
                            <a:schemeClr val="tx1">
                              <a:lumMod val="75000"/>
                              <a:lumOff val="25000"/>
                            </a:schemeClr>
                          </a:solidFill>
                          <a:effectLst/>
                          <a:latin typeface="Yekan Bakh" pitchFamily="2" charset="-78"/>
                          <a:ea typeface="Yekan Bakh" pitchFamily="2" charset="-78"/>
                          <a:cs typeface="Yekan Bakh" pitchFamily="2" charset="-78"/>
                        </a:rPr>
                        <a:t>مقالات</a:t>
                      </a:r>
                      <a:r>
                        <a:rPr lang="en-US" sz="600" b="1" i="0" kern="1200" dirty="0">
                          <a:solidFill>
                            <a:schemeClr val="tx1">
                              <a:lumMod val="75000"/>
                              <a:lumOff val="25000"/>
                            </a:schemeClr>
                          </a:solidFill>
                          <a:effectLst/>
                          <a:latin typeface="Yekan Bakh" pitchFamily="2" charset="-78"/>
                          <a:ea typeface="Yekan Bakh" pitchFamily="2" charset="-78"/>
                          <a:cs typeface="Yekan Bakh" pitchFamily="2" charset="-78"/>
                        </a:rPr>
                        <a:t> Harvard Business Review </a:t>
                      </a:r>
                      <a:r>
                        <a:rPr lang="en-US" sz="600" b="1" i="0" kern="1200" dirty="0" err="1">
                          <a:solidFill>
                            <a:schemeClr val="tx1">
                              <a:lumMod val="75000"/>
                              <a:lumOff val="25000"/>
                            </a:schemeClr>
                          </a:solidFill>
                          <a:effectLst/>
                          <a:latin typeface="Yekan Bakh" pitchFamily="2" charset="-78"/>
                          <a:ea typeface="Yekan Bakh" pitchFamily="2" charset="-78"/>
                          <a:cs typeface="Yekan Bakh" pitchFamily="2" charset="-78"/>
                        </a:rPr>
                        <a:t>درباره</a:t>
                      </a:r>
                      <a:r>
                        <a:rPr lang="en-US" sz="600" b="1"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600" b="1" i="0" kern="1200" dirty="0" err="1">
                          <a:solidFill>
                            <a:schemeClr val="tx1">
                              <a:lumMod val="75000"/>
                              <a:lumOff val="25000"/>
                            </a:schemeClr>
                          </a:solidFill>
                          <a:effectLst/>
                          <a:latin typeface="Yekan Bakh" pitchFamily="2" charset="-78"/>
                          <a:ea typeface="Yekan Bakh" pitchFamily="2" charset="-78"/>
                          <a:cs typeface="Yekan Bakh" pitchFamily="2" charset="-78"/>
                        </a:rPr>
                        <a:t>استودیوهای</a:t>
                      </a:r>
                      <a:r>
                        <a:rPr lang="en-US" sz="600" b="1"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600" b="1" i="0" kern="1200" dirty="0" err="1">
                          <a:solidFill>
                            <a:schemeClr val="tx1">
                              <a:lumMod val="75000"/>
                              <a:lumOff val="25000"/>
                            </a:schemeClr>
                          </a:solidFill>
                          <a:effectLst/>
                          <a:latin typeface="Yekan Bakh" pitchFamily="2" charset="-78"/>
                          <a:ea typeface="Yekan Bakh" pitchFamily="2" charset="-78"/>
                          <a:cs typeface="Yekan Bakh" pitchFamily="2" charset="-78"/>
                        </a:rPr>
                        <a:t>ونچر</a:t>
                      </a:r>
                      <a:endParaRPr lang="en-GB" sz="600" dirty="0">
                        <a:solidFill>
                          <a:schemeClr val="tx1">
                            <a:lumMod val="75000"/>
                            <a:lumOff val="25000"/>
                          </a:schemeClr>
                        </a:solidFill>
                        <a:latin typeface="Yekan Bakh" pitchFamily="2" charset="-78"/>
                        <a:ea typeface="Yekan Bakh" pitchFamily="2" charset="-78"/>
                        <a:cs typeface="Yekan Bakh" pitchFamily="2" charset="-78"/>
                      </a:endParaRPr>
                    </a:p>
                  </a:txBody>
                  <a:tcPr marL="49037" marR="49037" marT="24518" marB="24518" anchor="ctr">
                    <a:solidFill>
                      <a:schemeClr val="bg1">
                        <a:lumMod val="95000"/>
                      </a:schemeClr>
                    </a:solidFill>
                  </a:tcPr>
                </a:tc>
                <a:extLst>
                  <a:ext uri="{0D108BD9-81ED-4DB2-BD59-A6C34878D82A}">
                    <a16:rowId xmlns:a16="http://schemas.microsoft.com/office/drawing/2014/main" val="1209682348"/>
                  </a:ext>
                </a:extLst>
              </a:tr>
              <a:tr h="215141">
                <a:tc>
                  <a:txBody>
                    <a:bodyPr/>
                    <a:lstStyle/>
                    <a:p>
                      <a:pPr algn="ctr" rtl="1"/>
                      <a:r>
                        <a:rPr lang="en-US" sz="600" b="0" i="0" dirty="0">
                          <a:solidFill>
                            <a:schemeClr val="tx1">
                              <a:lumMod val="75000"/>
                              <a:lumOff val="25000"/>
                            </a:schemeClr>
                          </a:solidFill>
                          <a:effectLst/>
                          <a:latin typeface="Yekan Bakh" pitchFamily="2" charset="-78"/>
                          <a:ea typeface="Yekan Bakh" pitchFamily="2" charset="-78"/>
                          <a:cs typeface="Yekan Bakh" pitchFamily="2" charset="-78"/>
                          <a:hlinkClick r:id="rId11">
                            <a:extLst>
                              <a:ext uri="{A12FA001-AC4F-418D-AE19-62706E023703}">
                                <ahyp:hlinkClr xmlns:ahyp="http://schemas.microsoft.com/office/drawing/2018/hyperlinkcolor" val="tx"/>
                              </a:ext>
                            </a:extLst>
                          </a:hlinkClick>
                        </a:rPr>
                        <a:t>investor.gov</a:t>
                      </a:r>
                      <a:endParaRPr lang="en-GB" sz="600" dirty="0">
                        <a:solidFill>
                          <a:schemeClr val="tx1">
                            <a:lumMod val="75000"/>
                            <a:lumOff val="25000"/>
                          </a:schemeClr>
                        </a:solidFill>
                        <a:latin typeface="Yekan Bakh" pitchFamily="2" charset="-78"/>
                        <a:ea typeface="Yekan Bakh" pitchFamily="2" charset="-78"/>
                        <a:cs typeface="Yekan Bakh" pitchFamily="2" charset="-78"/>
                      </a:endParaRPr>
                    </a:p>
                  </a:txBody>
                  <a:tcPr marL="49037" marR="49037" marT="24518" marB="24518" anchor="ctr">
                    <a:solidFill>
                      <a:schemeClr val="bg1">
                        <a:lumMod val="95000"/>
                      </a:schemeClr>
                    </a:solidFill>
                  </a:tcPr>
                </a:tc>
                <a:tc>
                  <a:txBody>
                    <a:bodyPr/>
                    <a:lstStyle/>
                    <a:p>
                      <a:pPr algn="ctr" rtl="1"/>
                      <a:r>
                        <a:rPr lang="en-US" sz="600" b="0" i="0" kern="1200" dirty="0">
                          <a:solidFill>
                            <a:schemeClr val="tx1">
                              <a:lumMod val="75000"/>
                              <a:lumOff val="25000"/>
                            </a:schemeClr>
                          </a:solidFill>
                          <a:effectLst/>
                          <a:latin typeface="Yekan Bakh" pitchFamily="2" charset="-78"/>
                          <a:ea typeface="Yekan Bakh" pitchFamily="2" charset="-78"/>
                          <a:cs typeface="Yekan Bakh" pitchFamily="2" charset="-78"/>
                        </a:rPr>
                        <a:t>Investor.gov (SEC)</a:t>
                      </a:r>
                      <a:endParaRPr lang="en-GB" sz="600" dirty="0">
                        <a:solidFill>
                          <a:schemeClr val="tx1">
                            <a:lumMod val="75000"/>
                            <a:lumOff val="25000"/>
                          </a:schemeClr>
                        </a:solidFill>
                        <a:latin typeface="Yekan Bakh" pitchFamily="2" charset="-78"/>
                        <a:ea typeface="Yekan Bakh" pitchFamily="2" charset="-78"/>
                        <a:cs typeface="Yekan Bakh" pitchFamily="2" charset="-78"/>
                      </a:endParaRPr>
                    </a:p>
                  </a:txBody>
                  <a:tcPr marL="49037" marR="49037" marT="24518" marB="24518" anchor="ctr">
                    <a:solidFill>
                      <a:schemeClr val="bg1">
                        <a:lumMod val="95000"/>
                      </a:schemeClr>
                    </a:solidFill>
                  </a:tcPr>
                </a:tc>
                <a:tc>
                  <a:txBody>
                    <a:bodyPr/>
                    <a:lstStyle/>
                    <a:p>
                      <a:pPr algn="ctr" rtl="1"/>
                      <a:r>
                        <a:rPr lang="fa-IR" sz="600" dirty="0">
                          <a:solidFill>
                            <a:schemeClr val="tx1">
                              <a:lumMod val="75000"/>
                              <a:lumOff val="25000"/>
                            </a:schemeClr>
                          </a:solidFill>
                          <a:latin typeface="Yekan Bakh" pitchFamily="2" charset="-78"/>
                          <a:ea typeface="Yekan Bakh" pitchFamily="2" charset="-78"/>
                          <a:cs typeface="Yekan Bakh" pitchFamily="2" charset="-78"/>
                        </a:rPr>
                        <a:t>-</a:t>
                      </a:r>
                      <a:endParaRPr lang="en-GB" sz="600" dirty="0">
                        <a:solidFill>
                          <a:schemeClr val="tx1">
                            <a:lumMod val="75000"/>
                            <a:lumOff val="25000"/>
                          </a:schemeClr>
                        </a:solidFill>
                        <a:latin typeface="Yekan Bakh" pitchFamily="2" charset="-78"/>
                        <a:ea typeface="Yekan Bakh" pitchFamily="2" charset="-78"/>
                        <a:cs typeface="Yekan Bakh" pitchFamily="2" charset="-78"/>
                      </a:endParaRPr>
                    </a:p>
                  </a:txBody>
                  <a:tcPr marL="49037" marR="49037" marT="24518" marB="24518" anchor="ctr">
                    <a:solidFill>
                      <a:schemeClr val="bg1">
                        <a:lumMod val="95000"/>
                      </a:schemeClr>
                    </a:solidFill>
                  </a:tcPr>
                </a:tc>
                <a:tc>
                  <a:txBody>
                    <a:bodyPr/>
                    <a:lstStyle/>
                    <a:p>
                      <a:pPr algn="ctr" rtl="1"/>
                      <a:r>
                        <a:rPr lang="en-US" sz="600" b="1" i="0" kern="1200" dirty="0">
                          <a:solidFill>
                            <a:schemeClr val="tx1">
                              <a:lumMod val="75000"/>
                              <a:lumOff val="25000"/>
                            </a:schemeClr>
                          </a:solidFill>
                          <a:effectLst/>
                          <a:latin typeface="Yekan Bakh" pitchFamily="2" charset="-78"/>
                          <a:ea typeface="Yekan Bakh" pitchFamily="2" charset="-78"/>
                          <a:cs typeface="Yekan Bakh" pitchFamily="2" charset="-78"/>
                        </a:rPr>
                        <a:t>Check Out Your Investment Professional</a:t>
                      </a:r>
                      <a:endParaRPr lang="en-GB" sz="600" dirty="0">
                        <a:solidFill>
                          <a:schemeClr val="tx1">
                            <a:lumMod val="75000"/>
                            <a:lumOff val="25000"/>
                          </a:schemeClr>
                        </a:solidFill>
                        <a:latin typeface="Yekan Bakh" pitchFamily="2" charset="-78"/>
                        <a:ea typeface="Yekan Bakh" pitchFamily="2" charset="-78"/>
                        <a:cs typeface="Yekan Bakh" pitchFamily="2" charset="-78"/>
                      </a:endParaRPr>
                    </a:p>
                  </a:txBody>
                  <a:tcPr marL="49037" marR="49037" marT="24518" marB="24518" anchor="ctr">
                    <a:solidFill>
                      <a:schemeClr val="bg1">
                        <a:lumMod val="95000"/>
                      </a:schemeClr>
                    </a:solidFill>
                  </a:tcPr>
                </a:tc>
                <a:extLst>
                  <a:ext uri="{0D108BD9-81ED-4DB2-BD59-A6C34878D82A}">
                    <a16:rowId xmlns:a16="http://schemas.microsoft.com/office/drawing/2014/main" val="4289531995"/>
                  </a:ext>
                </a:extLst>
              </a:tr>
              <a:tr h="215141">
                <a:tc>
                  <a:txBody>
                    <a:bodyPr/>
                    <a:lstStyle/>
                    <a:p>
                      <a:pPr algn="ctr" rtl="1"/>
                      <a:r>
                        <a:rPr lang="en-US" sz="600" b="0" i="0" dirty="0">
                          <a:solidFill>
                            <a:schemeClr val="tx1">
                              <a:lumMod val="75000"/>
                              <a:lumOff val="25000"/>
                            </a:schemeClr>
                          </a:solidFill>
                          <a:effectLst/>
                          <a:latin typeface="Yekan Bakh" pitchFamily="2" charset="-78"/>
                          <a:ea typeface="Yekan Bakh" pitchFamily="2" charset="-78"/>
                          <a:cs typeface="Yekan Bakh" pitchFamily="2" charset="-78"/>
                          <a:hlinkClick r:id="rId12">
                            <a:extLst>
                              <a:ext uri="{A12FA001-AC4F-418D-AE19-62706E023703}">
                                <ahyp:hlinkClr xmlns:ahyp="http://schemas.microsoft.com/office/drawing/2018/hyperlinkcolor" val="tx"/>
                              </a:ext>
                            </a:extLst>
                          </a:hlinkClick>
                        </a:rPr>
                        <a:t>lazardassetmanagement.com</a:t>
                      </a:r>
                      <a:endParaRPr lang="en-GB" sz="600" dirty="0">
                        <a:solidFill>
                          <a:schemeClr val="tx1">
                            <a:lumMod val="75000"/>
                            <a:lumOff val="25000"/>
                          </a:schemeClr>
                        </a:solidFill>
                        <a:latin typeface="Yekan Bakh" pitchFamily="2" charset="-78"/>
                        <a:ea typeface="Yekan Bakh" pitchFamily="2" charset="-78"/>
                        <a:cs typeface="Yekan Bakh" pitchFamily="2" charset="-78"/>
                      </a:endParaRPr>
                    </a:p>
                  </a:txBody>
                  <a:tcPr marL="49037" marR="49037" marT="24518" marB="24518" anchor="ctr">
                    <a:solidFill>
                      <a:schemeClr val="bg1">
                        <a:lumMod val="95000"/>
                      </a:schemeClr>
                    </a:solidFill>
                  </a:tcPr>
                </a:tc>
                <a:tc>
                  <a:txBody>
                    <a:bodyPr/>
                    <a:lstStyle/>
                    <a:p>
                      <a:pPr algn="ctr" rtl="1"/>
                      <a:r>
                        <a:rPr lang="en-US" sz="600" b="0" i="0" kern="1200" dirty="0">
                          <a:solidFill>
                            <a:schemeClr val="tx1">
                              <a:lumMod val="75000"/>
                              <a:lumOff val="25000"/>
                            </a:schemeClr>
                          </a:solidFill>
                          <a:effectLst/>
                          <a:latin typeface="Yekan Bakh" pitchFamily="2" charset="-78"/>
                          <a:ea typeface="Yekan Bakh" pitchFamily="2" charset="-78"/>
                          <a:cs typeface="Yekan Bakh" pitchFamily="2" charset="-78"/>
                        </a:rPr>
                        <a:t>Lazard Asset Management</a:t>
                      </a:r>
                      <a:endParaRPr lang="en-GB" sz="600" dirty="0">
                        <a:solidFill>
                          <a:schemeClr val="tx1">
                            <a:lumMod val="75000"/>
                            <a:lumOff val="25000"/>
                          </a:schemeClr>
                        </a:solidFill>
                        <a:latin typeface="Yekan Bakh" pitchFamily="2" charset="-78"/>
                        <a:ea typeface="Yekan Bakh" pitchFamily="2" charset="-78"/>
                        <a:cs typeface="Yekan Bakh" pitchFamily="2" charset="-78"/>
                      </a:endParaRPr>
                    </a:p>
                  </a:txBody>
                  <a:tcPr marL="49037" marR="49037" marT="24518" marB="24518" anchor="ctr">
                    <a:solidFill>
                      <a:schemeClr val="bg1">
                        <a:lumMod val="95000"/>
                      </a:schemeClr>
                    </a:solidFill>
                  </a:tcPr>
                </a:tc>
                <a:tc>
                  <a:txBody>
                    <a:bodyPr/>
                    <a:lstStyle/>
                    <a:p>
                      <a:pPr algn="ctr" rtl="1"/>
                      <a:r>
                        <a:rPr lang="fa-IR" sz="600" dirty="0">
                          <a:solidFill>
                            <a:schemeClr val="tx1">
                              <a:lumMod val="75000"/>
                              <a:lumOff val="25000"/>
                            </a:schemeClr>
                          </a:solidFill>
                          <a:latin typeface="Yekan Bakh" pitchFamily="2" charset="-78"/>
                          <a:ea typeface="Yekan Bakh" pitchFamily="2" charset="-78"/>
                          <a:cs typeface="Yekan Bakh" pitchFamily="2" charset="-78"/>
                        </a:rPr>
                        <a:t>۲۰۲۵</a:t>
                      </a:r>
                      <a:endParaRPr lang="en-GB" sz="600" dirty="0">
                        <a:solidFill>
                          <a:schemeClr val="tx1">
                            <a:lumMod val="75000"/>
                            <a:lumOff val="25000"/>
                          </a:schemeClr>
                        </a:solidFill>
                        <a:latin typeface="Yekan Bakh" pitchFamily="2" charset="-78"/>
                        <a:ea typeface="Yekan Bakh" pitchFamily="2" charset="-78"/>
                        <a:cs typeface="Yekan Bakh" pitchFamily="2" charset="-78"/>
                      </a:endParaRPr>
                    </a:p>
                  </a:txBody>
                  <a:tcPr marL="49037" marR="49037" marT="24518" marB="24518" anchor="ctr">
                    <a:solidFill>
                      <a:schemeClr val="bg1">
                        <a:lumMod val="95000"/>
                      </a:schemeClr>
                    </a:solidFill>
                  </a:tcPr>
                </a:tc>
                <a:tc>
                  <a:txBody>
                    <a:bodyPr/>
                    <a:lstStyle/>
                    <a:p>
                      <a:pPr algn="ctr" rtl="1"/>
                      <a:r>
                        <a:rPr lang="en-US" sz="600" b="1" i="0" kern="1200" dirty="0">
                          <a:solidFill>
                            <a:schemeClr val="tx1">
                              <a:lumMod val="75000"/>
                              <a:lumOff val="25000"/>
                            </a:schemeClr>
                          </a:solidFill>
                          <a:effectLst/>
                          <a:latin typeface="Yekan Bakh" pitchFamily="2" charset="-78"/>
                          <a:ea typeface="Yekan Bakh" pitchFamily="2" charset="-78"/>
                          <a:cs typeface="Yekan Bakh" pitchFamily="2" charset="-78"/>
                        </a:rPr>
                        <a:t>Emerging Markets: Back in the Spotlight</a:t>
                      </a:r>
                      <a:endParaRPr lang="en-GB" sz="600" dirty="0">
                        <a:solidFill>
                          <a:schemeClr val="tx1">
                            <a:lumMod val="75000"/>
                            <a:lumOff val="25000"/>
                          </a:schemeClr>
                        </a:solidFill>
                        <a:latin typeface="Yekan Bakh" pitchFamily="2" charset="-78"/>
                        <a:ea typeface="Yekan Bakh" pitchFamily="2" charset="-78"/>
                        <a:cs typeface="Yekan Bakh" pitchFamily="2" charset="-78"/>
                      </a:endParaRPr>
                    </a:p>
                  </a:txBody>
                  <a:tcPr marL="49037" marR="49037" marT="24518" marB="24518" anchor="ctr">
                    <a:solidFill>
                      <a:schemeClr val="bg1">
                        <a:lumMod val="95000"/>
                      </a:schemeClr>
                    </a:solidFill>
                  </a:tcPr>
                </a:tc>
                <a:extLst>
                  <a:ext uri="{0D108BD9-81ED-4DB2-BD59-A6C34878D82A}">
                    <a16:rowId xmlns:a16="http://schemas.microsoft.com/office/drawing/2014/main" val="2590550725"/>
                  </a:ext>
                </a:extLst>
              </a:tr>
              <a:tr h="177659">
                <a:tc>
                  <a:txBody>
                    <a:bodyPr/>
                    <a:lstStyle/>
                    <a:p>
                      <a:pPr algn="ctr" rtl="1"/>
                      <a:r>
                        <a:rPr lang="en-US" sz="600" b="0" i="0" dirty="0">
                          <a:solidFill>
                            <a:schemeClr val="tx1">
                              <a:lumMod val="75000"/>
                              <a:lumOff val="25000"/>
                            </a:schemeClr>
                          </a:solidFill>
                          <a:effectLst/>
                          <a:latin typeface="Yekan Bakh" pitchFamily="2" charset="-78"/>
                          <a:ea typeface="Yekan Bakh" pitchFamily="2" charset="-78"/>
                          <a:cs typeface="Yekan Bakh" pitchFamily="2" charset="-78"/>
                          <a:hlinkClick r:id="rId13">
                            <a:extLst>
                              <a:ext uri="{A12FA001-AC4F-418D-AE19-62706E023703}">
                                <ahyp:hlinkClr xmlns:ahyp="http://schemas.microsoft.com/office/drawing/2018/hyperlinkcolor" val="tx"/>
                              </a:ext>
                            </a:extLst>
                          </a:hlinkClick>
                        </a:rPr>
                        <a:t>eghtesadonline.com</a:t>
                      </a:r>
                      <a:endParaRPr lang="en-GB" sz="600" dirty="0">
                        <a:solidFill>
                          <a:schemeClr val="tx1">
                            <a:lumMod val="75000"/>
                            <a:lumOff val="25000"/>
                          </a:schemeClr>
                        </a:solidFill>
                        <a:latin typeface="Yekan Bakh" pitchFamily="2" charset="-78"/>
                        <a:ea typeface="Yekan Bakh" pitchFamily="2" charset="-78"/>
                        <a:cs typeface="Yekan Bakh" pitchFamily="2" charset="-78"/>
                      </a:endParaRPr>
                    </a:p>
                  </a:txBody>
                  <a:tcPr marL="49037" marR="49037" marT="24518" marB="24518" anchor="ctr">
                    <a:solidFill>
                      <a:schemeClr val="bg1">
                        <a:lumMod val="95000"/>
                      </a:schemeClr>
                    </a:solidFill>
                  </a:tcPr>
                </a:tc>
                <a:tc>
                  <a:txBody>
                    <a:bodyPr/>
                    <a:lstStyle/>
                    <a:p>
                      <a:pPr algn="ctr" rtl="1"/>
                      <a:r>
                        <a:rPr lang="en-US" sz="600" b="0" i="0" kern="1200" dirty="0" err="1">
                          <a:solidFill>
                            <a:schemeClr val="tx1">
                              <a:lumMod val="75000"/>
                              <a:lumOff val="25000"/>
                            </a:schemeClr>
                          </a:solidFill>
                          <a:effectLst/>
                          <a:latin typeface="Yekan Bakh" pitchFamily="2" charset="-78"/>
                          <a:ea typeface="Yekan Bakh" pitchFamily="2" charset="-78"/>
                          <a:cs typeface="Yekan Bakh" pitchFamily="2" charset="-78"/>
                        </a:rPr>
                        <a:t>Eghtesad</a:t>
                      </a:r>
                      <a:r>
                        <a:rPr lang="en-US" sz="600" b="0" i="0" kern="1200" dirty="0">
                          <a:solidFill>
                            <a:schemeClr val="tx1">
                              <a:lumMod val="75000"/>
                              <a:lumOff val="25000"/>
                            </a:schemeClr>
                          </a:solidFill>
                          <a:effectLst/>
                          <a:latin typeface="Yekan Bakh" pitchFamily="2" charset="-78"/>
                          <a:ea typeface="Yekan Bakh" pitchFamily="2" charset="-78"/>
                          <a:cs typeface="Yekan Bakh" pitchFamily="2" charset="-78"/>
                        </a:rPr>
                        <a:t> Online</a:t>
                      </a:r>
                      <a:endParaRPr lang="en-GB" sz="600" dirty="0">
                        <a:solidFill>
                          <a:schemeClr val="tx1">
                            <a:lumMod val="75000"/>
                            <a:lumOff val="25000"/>
                          </a:schemeClr>
                        </a:solidFill>
                        <a:latin typeface="Yekan Bakh" pitchFamily="2" charset="-78"/>
                        <a:ea typeface="Yekan Bakh" pitchFamily="2" charset="-78"/>
                        <a:cs typeface="Yekan Bakh" pitchFamily="2" charset="-78"/>
                      </a:endParaRPr>
                    </a:p>
                  </a:txBody>
                  <a:tcPr marL="49037" marR="49037" marT="24518" marB="24518" anchor="ctr">
                    <a:solidFill>
                      <a:schemeClr val="bg1">
                        <a:lumMod val="95000"/>
                      </a:schemeClr>
                    </a:solidFill>
                  </a:tcPr>
                </a:tc>
                <a:tc>
                  <a:txBody>
                    <a:bodyPr/>
                    <a:lstStyle/>
                    <a:p>
                      <a:pPr algn="ctr" rtl="1"/>
                      <a:r>
                        <a:rPr lang="fa-IR" sz="600" dirty="0">
                          <a:solidFill>
                            <a:schemeClr val="tx1">
                              <a:lumMod val="75000"/>
                              <a:lumOff val="25000"/>
                            </a:schemeClr>
                          </a:solidFill>
                          <a:latin typeface="Yekan Bakh" pitchFamily="2" charset="-78"/>
                          <a:ea typeface="Yekan Bakh" pitchFamily="2" charset="-78"/>
                          <a:cs typeface="Yekan Bakh" pitchFamily="2" charset="-78"/>
                        </a:rPr>
                        <a:t>۱۴۰۴</a:t>
                      </a:r>
                      <a:endParaRPr lang="en-GB" sz="600" dirty="0">
                        <a:solidFill>
                          <a:schemeClr val="tx1">
                            <a:lumMod val="75000"/>
                            <a:lumOff val="25000"/>
                          </a:schemeClr>
                        </a:solidFill>
                        <a:latin typeface="Yekan Bakh" pitchFamily="2" charset="-78"/>
                        <a:ea typeface="Yekan Bakh" pitchFamily="2" charset="-78"/>
                        <a:cs typeface="Yekan Bakh" pitchFamily="2" charset="-78"/>
                      </a:endParaRPr>
                    </a:p>
                  </a:txBody>
                  <a:tcPr marL="49037" marR="49037" marT="24518" marB="24518" anchor="ctr">
                    <a:solidFill>
                      <a:schemeClr val="bg1">
                        <a:lumMod val="95000"/>
                      </a:schemeClr>
                    </a:solidFill>
                  </a:tcPr>
                </a:tc>
                <a:tc>
                  <a:txBody>
                    <a:bodyPr/>
                    <a:lstStyle/>
                    <a:p>
                      <a:pPr algn="ctr" rtl="1"/>
                      <a:r>
                        <a:rPr lang="en-US" sz="600" b="1" i="0" kern="1200" dirty="0" err="1">
                          <a:solidFill>
                            <a:schemeClr val="tx1">
                              <a:lumMod val="75000"/>
                              <a:lumOff val="25000"/>
                            </a:schemeClr>
                          </a:solidFill>
                          <a:effectLst/>
                          <a:latin typeface="Yekan Bakh" pitchFamily="2" charset="-78"/>
                          <a:ea typeface="Yekan Bakh" pitchFamily="2" charset="-78"/>
                          <a:cs typeface="Yekan Bakh" pitchFamily="2" charset="-78"/>
                        </a:rPr>
                        <a:t>ترس</a:t>
                      </a:r>
                      <a:r>
                        <a:rPr lang="en-US" sz="600" b="1"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600" b="1" i="0" kern="1200" dirty="0" err="1">
                          <a:solidFill>
                            <a:schemeClr val="tx1">
                              <a:lumMod val="75000"/>
                              <a:lumOff val="25000"/>
                            </a:schemeClr>
                          </a:solidFill>
                          <a:effectLst/>
                          <a:latin typeface="Yekan Bakh" pitchFamily="2" charset="-78"/>
                          <a:ea typeface="Yekan Bakh" pitchFamily="2" charset="-78"/>
                          <a:cs typeface="Yekan Bakh" pitchFamily="2" charset="-78"/>
                        </a:rPr>
                        <a:t>از</a:t>
                      </a:r>
                      <a:r>
                        <a:rPr lang="en-US" sz="600" b="1"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600" b="1" i="0" kern="1200" dirty="0" err="1">
                          <a:solidFill>
                            <a:schemeClr val="tx1">
                              <a:lumMod val="75000"/>
                              <a:lumOff val="25000"/>
                            </a:schemeClr>
                          </a:solidFill>
                          <a:effectLst/>
                          <a:latin typeface="Yekan Bakh" pitchFamily="2" charset="-78"/>
                          <a:ea typeface="Yekan Bakh" pitchFamily="2" charset="-78"/>
                          <a:cs typeface="Yekan Bakh" pitchFamily="2" charset="-78"/>
                        </a:rPr>
                        <a:t>بحران</a:t>
                      </a:r>
                      <a:r>
                        <a:rPr lang="en-US" sz="600" b="1"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600" b="1" i="0" kern="1200" dirty="0" err="1">
                          <a:solidFill>
                            <a:schemeClr val="tx1">
                              <a:lumMod val="75000"/>
                              <a:lumOff val="25000"/>
                            </a:schemeClr>
                          </a:solidFill>
                          <a:effectLst/>
                          <a:latin typeface="Yekan Bakh" pitchFamily="2" charset="-78"/>
                          <a:ea typeface="Yekan Bakh" pitchFamily="2" charset="-78"/>
                          <a:cs typeface="Yekan Bakh" pitchFamily="2" charset="-78"/>
                        </a:rPr>
                        <a:t>بحرانی</a:t>
                      </a:r>
                      <a:r>
                        <a:rPr lang="en-US" sz="600" b="1"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600" b="1" i="0" kern="1200" dirty="0" err="1">
                          <a:solidFill>
                            <a:schemeClr val="tx1">
                              <a:lumMod val="75000"/>
                              <a:lumOff val="25000"/>
                            </a:schemeClr>
                          </a:solidFill>
                          <a:effectLst/>
                          <a:latin typeface="Yekan Bakh" pitchFamily="2" charset="-78"/>
                          <a:ea typeface="Yekan Bakh" pitchFamily="2" charset="-78"/>
                          <a:cs typeface="Yekan Bakh" pitchFamily="2" charset="-78"/>
                        </a:rPr>
                        <a:t>بزرگ‌تر</a:t>
                      </a:r>
                      <a:r>
                        <a:rPr lang="en-US" sz="600" b="1"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600" b="1" i="0" kern="1200" dirty="0" err="1">
                          <a:solidFill>
                            <a:schemeClr val="tx1">
                              <a:lumMod val="75000"/>
                              <a:lumOff val="25000"/>
                            </a:schemeClr>
                          </a:solidFill>
                          <a:effectLst/>
                          <a:latin typeface="Yekan Bakh" pitchFamily="2" charset="-78"/>
                          <a:ea typeface="Yekan Bakh" pitchFamily="2" charset="-78"/>
                          <a:cs typeface="Yekan Bakh" pitchFamily="2" charset="-78"/>
                        </a:rPr>
                        <a:t>از</a:t>
                      </a:r>
                      <a:r>
                        <a:rPr lang="en-US" sz="600" b="1"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600" b="1" i="0" kern="1200" dirty="0" err="1">
                          <a:solidFill>
                            <a:schemeClr val="tx1">
                              <a:lumMod val="75000"/>
                              <a:lumOff val="25000"/>
                            </a:schemeClr>
                          </a:solidFill>
                          <a:effectLst/>
                          <a:latin typeface="Yekan Bakh" pitchFamily="2" charset="-78"/>
                          <a:ea typeface="Yekan Bakh" pitchFamily="2" charset="-78"/>
                          <a:cs typeface="Yekan Bakh" pitchFamily="2" charset="-78"/>
                        </a:rPr>
                        <a:t>جنگ</a:t>
                      </a:r>
                      <a:endParaRPr lang="en-GB" sz="600" dirty="0">
                        <a:solidFill>
                          <a:schemeClr val="tx1">
                            <a:lumMod val="75000"/>
                            <a:lumOff val="25000"/>
                          </a:schemeClr>
                        </a:solidFill>
                        <a:latin typeface="Yekan Bakh" pitchFamily="2" charset="-78"/>
                        <a:ea typeface="Yekan Bakh" pitchFamily="2" charset="-78"/>
                        <a:cs typeface="Yekan Bakh" pitchFamily="2" charset="-78"/>
                      </a:endParaRPr>
                    </a:p>
                  </a:txBody>
                  <a:tcPr marL="49037" marR="49037" marT="24518" marB="24518" anchor="ctr">
                    <a:solidFill>
                      <a:schemeClr val="bg1">
                        <a:lumMod val="95000"/>
                      </a:schemeClr>
                    </a:solidFill>
                  </a:tcPr>
                </a:tc>
                <a:extLst>
                  <a:ext uri="{0D108BD9-81ED-4DB2-BD59-A6C34878D82A}">
                    <a16:rowId xmlns:a16="http://schemas.microsoft.com/office/drawing/2014/main" val="3359311851"/>
                  </a:ext>
                </a:extLst>
              </a:tr>
              <a:tr h="215141">
                <a:tc>
                  <a:txBody>
                    <a:bodyPr/>
                    <a:lstStyle/>
                    <a:p>
                      <a:pPr algn="ctr" rtl="1" fontAlgn="t">
                        <a:spcBef>
                          <a:spcPts val="1200"/>
                        </a:spcBef>
                        <a:buNone/>
                      </a:pPr>
                      <a:r>
                        <a:rPr lang="en-US" sz="600" b="0" i="0" dirty="0">
                          <a:solidFill>
                            <a:schemeClr val="tx1">
                              <a:lumMod val="75000"/>
                              <a:lumOff val="25000"/>
                            </a:schemeClr>
                          </a:solidFill>
                          <a:effectLst/>
                          <a:latin typeface="Yekan Bakh" pitchFamily="2" charset="-78"/>
                          <a:ea typeface="Yekan Bakh" pitchFamily="2" charset="-78"/>
                          <a:cs typeface="Yekan Bakh" pitchFamily="2" charset="-78"/>
                          <a:hlinkClick r:id="rId14">
                            <a:extLst>
                              <a:ext uri="{A12FA001-AC4F-418D-AE19-62706E023703}">
                                <ahyp:hlinkClr xmlns:ahyp="http://schemas.microsoft.com/office/drawing/2018/hyperlinkcolor" val="tx"/>
                              </a:ext>
                            </a:extLst>
                          </a:hlinkClick>
                        </a:rPr>
                        <a:t>nabzebourse.com</a:t>
                      </a:r>
                      <a:endParaRPr lang="en-US" sz="600" b="0" i="0" dirty="0">
                        <a:solidFill>
                          <a:schemeClr val="tx1">
                            <a:lumMod val="75000"/>
                            <a:lumOff val="25000"/>
                          </a:schemeClr>
                        </a:solidFill>
                        <a:effectLst/>
                        <a:latin typeface="Yekan Bakh" pitchFamily="2" charset="-78"/>
                        <a:ea typeface="Yekan Bakh" pitchFamily="2" charset="-78"/>
                        <a:cs typeface="Yekan Bakh" pitchFamily="2" charset="-78"/>
                      </a:endParaRPr>
                    </a:p>
                  </a:txBody>
                  <a:tcPr marL="76200" marR="76200" marT="63500" marB="63500" anchor="ctr">
                    <a:solidFill>
                      <a:schemeClr val="bg1">
                        <a:lumMod val="95000"/>
                      </a:schemeClr>
                    </a:solidFill>
                  </a:tcPr>
                </a:tc>
                <a:tc>
                  <a:txBody>
                    <a:bodyPr/>
                    <a:lstStyle/>
                    <a:p>
                      <a:pPr algn="ctr" rtl="1"/>
                      <a:r>
                        <a:rPr lang="en-US" sz="600" b="0" i="0" kern="1200" dirty="0" err="1">
                          <a:solidFill>
                            <a:schemeClr val="tx1">
                              <a:lumMod val="75000"/>
                              <a:lumOff val="25000"/>
                            </a:schemeClr>
                          </a:solidFill>
                          <a:effectLst/>
                          <a:latin typeface="Yekan Bakh" pitchFamily="2" charset="-78"/>
                          <a:ea typeface="Yekan Bakh" pitchFamily="2" charset="-78"/>
                          <a:cs typeface="Yekan Bakh" pitchFamily="2" charset="-78"/>
                        </a:rPr>
                        <a:t>نبض</a:t>
                      </a:r>
                      <a:r>
                        <a:rPr lang="en-US" sz="6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600" b="0" i="0" kern="1200" dirty="0" err="1">
                          <a:solidFill>
                            <a:schemeClr val="tx1">
                              <a:lumMod val="75000"/>
                              <a:lumOff val="25000"/>
                            </a:schemeClr>
                          </a:solidFill>
                          <a:effectLst/>
                          <a:latin typeface="Yekan Bakh" pitchFamily="2" charset="-78"/>
                          <a:ea typeface="Yekan Bakh" pitchFamily="2" charset="-78"/>
                          <a:cs typeface="Yekan Bakh" pitchFamily="2" charset="-78"/>
                        </a:rPr>
                        <a:t>بورس</a:t>
                      </a:r>
                      <a:endParaRPr lang="en-GB" sz="600" dirty="0">
                        <a:solidFill>
                          <a:schemeClr val="tx1">
                            <a:lumMod val="75000"/>
                            <a:lumOff val="25000"/>
                          </a:schemeClr>
                        </a:solidFill>
                        <a:latin typeface="Yekan Bakh" pitchFamily="2" charset="-78"/>
                        <a:ea typeface="Yekan Bakh" pitchFamily="2" charset="-78"/>
                        <a:cs typeface="Yekan Bakh" pitchFamily="2" charset="-78"/>
                      </a:endParaRPr>
                    </a:p>
                  </a:txBody>
                  <a:tcPr marL="49037" marR="49037" marT="24518" marB="24518" anchor="ctr">
                    <a:solidFill>
                      <a:schemeClr val="bg1">
                        <a:lumMod val="95000"/>
                      </a:schemeClr>
                    </a:solidFill>
                  </a:tcPr>
                </a:tc>
                <a:tc>
                  <a:txBody>
                    <a:bodyPr/>
                    <a:lstStyle/>
                    <a:p>
                      <a:pPr algn="ctr" rtl="1"/>
                      <a:r>
                        <a:rPr lang="fa-IR" sz="600" dirty="0">
                          <a:solidFill>
                            <a:schemeClr val="tx1">
                              <a:lumMod val="75000"/>
                              <a:lumOff val="25000"/>
                            </a:schemeClr>
                          </a:solidFill>
                          <a:latin typeface="Yekan Bakh" pitchFamily="2" charset="-78"/>
                          <a:ea typeface="Yekan Bakh" pitchFamily="2" charset="-78"/>
                          <a:cs typeface="Yekan Bakh" pitchFamily="2" charset="-78"/>
                        </a:rPr>
                        <a:t>۱۴۰۳-۱۴۰۴</a:t>
                      </a:r>
                      <a:endParaRPr lang="en-GB" sz="600" dirty="0">
                        <a:solidFill>
                          <a:schemeClr val="tx1">
                            <a:lumMod val="75000"/>
                            <a:lumOff val="25000"/>
                          </a:schemeClr>
                        </a:solidFill>
                        <a:latin typeface="Yekan Bakh" pitchFamily="2" charset="-78"/>
                        <a:ea typeface="Yekan Bakh" pitchFamily="2" charset="-78"/>
                        <a:cs typeface="Yekan Bakh" pitchFamily="2" charset="-78"/>
                      </a:endParaRPr>
                    </a:p>
                  </a:txBody>
                  <a:tcPr marL="49037" marR="49037" marT="24518" marB="24518" anchor="ctr">
                    <a:solidFill>
                      <a:schemeClr val="bg1">
                        <a:lumMod val="95000"/>
                      </a:schemeClr>
                    </a:solidFill>
                  </a:tcPr>
                </a:tc>
                <a:tc>
                  <a:txBody>
                    <a:bodyPr/>
                    <a:lstStyle/>
                    <a:p>
                      <a:pPr algn="ctr" rtl="1"/>
                      <a:r>
                        <a:rPr lang="en-US" sz="600" b="1" i="0" kern="1200" dirty="0" err="1">
                          <a:solidFill>
                            <a:schemeClr val="tx1">
                              <a:lumMod val="75000"/>
                              <a:lumOff val="25000"/>
                            </a:schemeClr>
                          </a:solidFill>
                          <a:effectLst/>
                          <a:latin typeface="Yekan Bakh" pitchFamily="2" charset="-78"/>
                          <a:ea typeface="Yekan Bakh" pitchFamily="2" charset="-78"/>
                          <a:cs typeface="Yekan Bakh" pitchFamily="2" charset="-78"/>
                        </a:rPr>
                        <a:t>آخرین</a:t>
                      </a:r>
                      <a:r>
                        <a:rPr lang="en-US" sz="600" b="1"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600" b="1" i="0" kern="1200" dirty="0" err="1">
                          <a:solidFill>
                            <a:schemeClr val="tx1">
                              <a:lumMod val="75000"/>
                              <a:lumOff val="25000"/>
                            </a:schemeClr>
                          </a:solidFill>
                          <a:effectLst/>
                          <a:latin typeface="Yekan Bakh" pitchFamily="2" charset="-78"/>
                          <a:ea typeface="Yekan Bakh" pitchFamily="2" charset="-78"/>
                          <a:cs typeface="Yekan Bakh" pitchFamily="2" charset="-78"/>
                        </a:rPr>
                        <a:t>اخبار</a:t>
                      </a:r>
                      <a:r>
                        <a:rPr lang="en-US" sz="600" b="1"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600" b="1" i="0" kern="1200" dirty="0" err="1">
                          <a:solidFill>
                            <a:schemeClr val="tx1">
                              <a:lumMod val="75000"/>
                              <a:lumOff val="25000"/>
                            </a:schemeClr>
                          </a:solidFill>
                          <a:effectLst/>
                          <a:latin typeface="Yekan Bakh" pitchFamily="2" charset="-78"/>
                          <a:ea typeface="Yekan Bakh" pitchFamily="2" charset="-78"/>
                          <a:cs typeface="Yekan Bakh" pitchFamily="2" charset="-78"/>
                        </a:rPr>
                        <a:t>افزایش</a:t>
                      </a:r>
                      <a:r>
                        <a:rPr lang="en-US" sz="600" b="1"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600" b="1" i="0" kern="1200" dirty="0" err="1">
                          <a:solidFill>
                            <a:schemeClr val="tx1">
                              <a:lumMod val="75000"/>
                              <a:lumOff val="25000"/>
                            </a:schemeClr>
                          </a:solidFill>
                          <a:effectLst/>
                          <a:latin typeface="Yekan Bakh" pitchFamily="2" charset="-78"/>
                          <a:ea typeface="Yekan Bakh" pitchFamily="2" charset="-78"/>
                          <a:cs typeface="Yekan Bakh" pitchFamily="2" charset="-78"/>
                        </a:rPr>
                        <a:t>سرمایه</a:t>
                      </a:r>
                      <a:r>
                        <a:rPr lang="en-US" sz="600" b="1"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600" b="1" i="0" kern="1200" dirty="0" err="1">
                          <a:solidFill>
                            <a:schemeClr val="tx1">
                              <a:lumMod val="75000"/>
                              <a:lumOff val="25000"/>
                            </a:schemeClr>
                          </a:solidFill>
                          <a:effectLst/>
                          <a:latin typeface="Yekan Bakh" pitchFamily="2" charset="-78"/>
                          <a:ea typeface="Yekan Bakh" pitchFamily="2" charset="-78"/>
                          <a:cs typeface="Yekan Bakh" pitchFamily="2" charset="-78"/>
                        </a:rPr>
                        <a:t>شرکت‌های</a:t>
                      </a:r>
                      <a:r>
                        <a:rPr lang="en-US" sz="600" b="1"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600" b="1" i="0" kern="1200" dirty="0" err="1">
                          <a:solidFill>
                            <a:schemeClr val="tx1">
                              <a:lumMod val="75000"/>
                              <a:lumOff val="25000"/>
                            </a:schemeClr>
                          </a:solidFill>
                          <a:effectLst/>
                          <a:latin typeface="Yekan Bakh" pitchFamily="2" charset="-78"/>
                          <a:ea typeface="Yekan Bakh" pitchFamily="2" charset="-78"/>
                          <a:cs typeface="Yekan Bakh" pitchFamily="2" charset="-78"/>
                        </a:rPr>
                        <a:t>بورسی</a:t>
                      </a:r>
                      <a:endParaRPr lang="en-GB" sz="600" dirty="0">
                        <a:solidFill>
                          <a:schemeClr val="tx1">
                            <a:lumMod val="75000"/>
                            <a:lumOff val="25000"/>
                          </a:schemeClr>
                        </a:solidFill>
                        <a:latin typeface="Yekan Bakh" pitchFamily="2" charset="-78"/>
                        <a:ea typeface="Yekan Bakh" pitchFamily="2" charset="-78"/>
                        <a:cs typeface="Yekan Bakh" pitchFamily="2" charset="-78"/>
                      </a:endParaRPr>
                    </a:p>
                  </a:txBody>
                  <a:tcPr marL="49037" marR="49037" marT="24518" marB="24518" anchor="ctr">
                    <a:solidFill>
                      <a:schemeClr val="bg1">
                        <a:lumMod val="95000"/>
                      </a:schemeClr>
                    </a:solidFill>
                  </a:tcPr>
                </a:tc>
                <a:extLst>
                  <a:ext uri="{0D108BD9-81ED-4DB2-BD59-A6C34878D82A}">
                    <a16:rowId xmlns:a16="http://schemas.microsoft.com/office/drawing/2014/main" val="2511320669"/>
                  </a:ext>
                </a:extLst>
              </a:tr>
              <a:tr h="215141">
                <a:tc>
                  <a:txBody>
                    <a:bodyPr/>
                    <a:lstStyle/>
                    <a:p>
                      <a:pPr algn="ctr" rtl="1" fontAlgn="t">
                        <a:spcBef>
                          <a:spcPts val="1200"/>
                        </a:spcBef>
                        <a:buNone/>
                      </a:pPr>
                      <a:r>
                        <a:rPr lang="en-US" sz="600" b="0" i="0" dirty="0">
                          <a:solidFill>
                            <a:schemeClr val="tx1">
                              <a:lumMod val="75000"/>
                              <a:lumOff val="25000"/>
                            </a:schemeClr>
                          </a:solidFill>
                          <a:effectLst/>
                          <a:latin typeface="Yekan Bakh" pitchFamily="2" charset="-78"/>
                          <a:ea typeface="Yekan Bakh" pitchFamily="2" charset="-78"/>
                          <a:cs typeface="Yekan Bakh" pitchFamily="2" charset="-78"/>
                          <a:hlinkClick r:id="rId15">
                            <a:extLst>
                              <a:ext uri="{A12FA001-AC4F-418D-AE19-62706E023703}">
                                <ahyp:hlinkClr xmlns:ahyp="http://schemas.microsoft.com/office/drawing/2018/hyperlinkcolor" val="tx"/>
                              </a:ext>
                            </a:extLst>
                          </a:hlinkClick>
                        </a:rPr>
                        <a:t>nabzebourse.com</a:t>
                      </a:r>
                      <a:endParaRPr lang="en-US" sz="600" b="0" i="0" dirty="0">
                        <a:solidFill>
                          <a:schemeClr val="tx1">
                            <a:lumMod val="75000"/>
                            <a:lumOff val="25000"/>
                          </a:schemeClr>
                        </a:solidFill>
                        <a:effectLst/>
                        <a:latin typeface="Yekan Bakh" pitchFamily="2" charset="-78"/>
                        <a:ea typeface="Yekan Bakh" pitchFamily="2" charset="-78"/>
                        <a:cs typeface="Yekan Bakh" pitchFamily="2" charset="-78"/>
                      </a:endParaRPr>
                    </a:p>
                  </a:txBody>
                  <a:tcPr marL="76200" marR="76200" marT="63500" marB="63500" anchor="ctr">
                    <a:solidFill>
                      <a:schemeClr val="bg1">
                        <a:lumMod val="95000"/>
                      </a:schemeClr>
                    </a:solidFill>
                  </a:tcPr>
                </a:tc>
                <a:tc>
                  <a:txBody>
                    <a:bodyPr/>
                    <a:lstStyle/>
                    <a:p>
                      <a:pPr algn="ctr" rtl="1"/>
                      <a:r>
                        <a:rPr lang="en-US" sz="600" b="0" i="0" kern="1200" dirty="0" err="1">
                          <a:solidFill>
                            <a:schemeClr val="tx1">
                              <a:lumMod val="75000"/>
                              <a:lumOff val="25000"/>
                            </a:schemeClr>
                          </a:solidFill>
                          <a:effectLst/>
                          <a:latin typeface="Yekan Bakh" pitchFamily="2" charset="-78"/>
                          <a:ea typeface="Yekan Bakh" pitchFamily="2" charset="-78"/>
                          <a:cs typeface="Yekan Bakh" pitchFamily="2" charset="-78"/>
                        </a:rPr>
                        <a:t>نبض</a:t>
                      </a:r>
                      <a:r>
                        <a:rPr lang="en-US" sz="6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600" b="0" i="0" kern="1200" dirty="0" err="1">
                          <a:solidFill>
                            <a:schemeClr val="tx1">
                              <a:lumMod val="75000"/>
                              <a:lumOff val="25000"/>
                            </a:schemeClr>
                          </a:solidFill>
                          <a:effectLst/>
                          <a:latin typeface="Yekan Bakh" pitchFamily="2" charset="-78"/>
                          <a:ea typeface="Yekan Bakh" pitchFamily="2" charset="-78"/>
                          <a:cs typeface="Yekan Bakh" pitchFamily="2" charset="-78"/>
                        </a:rPr>
                        <a:t>بورس</a:t>
                      </a:r>
                      <a:endParaRPr lang="en-GB" sz="600" dirty="0">
                        <a:solidFill>
                          <a:schemeClr val="tx1">
                            <a:lumMod val="75000"/>
                            <a:lumOff val="25000"/>
                          </a:schemeClr>
                        </a:solidFill>
                        <a:latin typeface="Yekan Bakh" pitchFamily="2" charset="-78"/>
                        <a:ea typeface="Yekan Bakh" pitchFamily="2" charset="-78"/>
                        <a:cs typeface="Yekan Bakh" pitchFamily="2" charset="-78"/>
                      </a:endParaRPr>
                    </a:p>
                  </a:txBody>
                  <a:tcPr marL="49037" marR="49037" marT="24518" marB="24518" anchor="ctr">
                    <a:solidFill>
                      <a:schemeClr val="bg1">
                        <a:lumMod val="95000"/>
                      </a:schemeClr>
                    </a:solidFill>
                  </a:tcPr>
                </a:tc>
                <a:tc>
                  <a:txBody>
                    <a:bodyPr/>
                    <a:lstStyle/>
                    <a:p>
                      <a:pPr algn="ctr" rtl="1"/>
                      <a:r>
                        <a:rPr lang="fa-IR" sz="600" dirty="0">
                          <a:solidFill>
                            <a:schemeClr val="tx1">
                              <a:lumMod val="75000"/>
                              <a:lumOff val="25000"/>
                            </a:schemeClr>
                          </a:solidFill>
                          <a:latin typeface="Yekan Bakh" pitchFamily="2" charset="-78"/>
                          <a:ea typeface="Yekan Bakh" pitchFamily="2" charset="-78"/>
                          <a:cs typeface="Yekan Bakh" pitchFamily="2" charset="-78"/>
                        </a:rPr>
                        <a:t>۱۴۰۴</a:t>
                      </a:r>
                      <a:endParaRPr lang="en-GB" sz="600" dirty="0">
                        <a:solidFill>
                          <a:schemeClr val="tx1">
                            <a:lumMod val="75000"/>
                            <a:lumOff val="25000"/>
                          </a:schemeClr>
                        </a:solidFill>
                        <a:latin typeface="Yekan Bakh" pitchFamily="2" charset="-78"/>
                        <a:ea typeface="Yekan Bakh" pitchFamily="2" charset="-78"/>
                        <a:cs typeface="Yekan Bakh" pitchFamily="2" charset="-78"/>
                      </a:endParaRPr>
                    </a:p>
                  </a:txBody>
                  <a:tcPr marL="49037" marR="49037" marT="24518" marB="24518" anchor="ctr">
                    <a:solidFill>
                      <a:schemeClr val="bg1">
                        <a:lumMod val="95000"/>
                      </a:schemeClr>
                    </a:solidFill>
                  </a:tcPr>
                </a:tc>
                <a:tc>
                  <a:txBody>
                    <a:bodyPr/>
                    <a:lstStyle/>
                    <a:p>
                      <a:pPr algn="ctr" rtl="1"/>
                      <a:r>
                        <a:rPr lang="en-US" sz="600" b="1" i="0" kern="1200" dirty="0" err="1">
                          <a:solidFill>
                            <a:schemeClr val="tx1">
                              <a:lumMod val="75000"/>
                              <a:lumOff val="25000"/>
                            </a:schemeClr>
                          </a:solidFill>
                          <a:effectLst/>
                          <a:latin typeface="Yekan Bakh" pitchFamily="2" charset="-78"/>
                          <a:ea typeface="Yekan Bakh" pitchFamily="2" charset="-78"/>
                          <a:cs typeface="Yekan Bakh" pitchFamily="2" charset="-78"/>
                        </a:rPr>
                        <a:t>جزئیات</a:t>
                      </a:r>
                      <a:r>
                        <a:rPr lang="en-US" sz="600" b="1"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600" b="1" i="0" kern="1200" dirty="0" err="1">
                          <a:solidFill>
                            <a:schemeClr val="tx1">
                              <a:lumMod val="75000"/>
                              <a:lumOff val="25000"/>
                            </a:schemeClr>
                          </a:solidFill>
                          <a:effectLst/>
                          <a:latin typeface="Yekan Bakh" pitchFamily="2" charset="-78"/>
                          <a:ea typeface="Yekan Bakh" pitchFamily="2" charset="-78"/>
                          <a:cs typeface="Yekan Bakh" pitchFamily="2" charset="-78"/>
                        </a:rPr>
                        <a:t>تازه‌ترین</a:t>
                      </a:r>
                      <a:r>
                        <a:rPr lang="en-US" sz="600" b="1"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600" b="1" i="0" kern="1200" dirty="0" err="1">
                          <a:solidFill>
                            <a:schemeClr val="tx1">
                              <a:lumMod val="75000"/>
                              <a:lumOff val="25000"/>
                            </a:schemeClr>
                          </a:solidFill>
                          <a:effectLst/>
                          <a:latin typeface="Yekan Bakh" pitchFamily="2" charset="-78"/>
                          <a:ea typeface="Yekan Bakh" pitchFamily="2" charset="-78"/>
                          <a:cs typeface="Yekan Bakh" pitchFamily="2" charset="-78"/>
                        </a:rPr>
                        <a:t>افزایش</a:t>
                      </a:r>
                      <a:r>
                        <a:rPr lang="en-US" sz="600" b="1"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600" b="1" i="0" kern="1200" dirty="0" err="1">
                          <a:solidFill>
                            <a:schemeClr val="tx1">
                              <a:lumMod val="75000"/>
                              <a:lumOff val="25000"/>
                            </a:schemeClr>
                          </a:solidFill>
                          <a:effectLst/>
                          <a:latin typeface="Yekan Bakh" pitchFamily="2" charset="-78"/>
                          <a:ea typeface="Yekan Bakh" pitchFamily="2" charset="-78"/>
                          <a:cs typeface="Yekan Bakh" pitchFamily="2" charset="-78"/>
                        </a:rPr>
                        <a:t>سرمایه‌های</a:t>
                      </a:r>
                      <a:r>
                        <a:rPr lang="en-US" sz="600" b="1"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600" b="1" i="0" kern="1200" dirty="0" err="1">
                          <a:solidFill>
                            <a:schemeClr val="tx1">
                              <a:lumMod val="75000"/>
                              <a:lumOff val="25000"/>
                            </a:schemeClr>
                          </a:solidFill>
                          <a:effectLst/>
                          <a:latin typeface="Yekan Bakh" pitchFamily="2" charset="-78"/>
                          <a:ea typeface="Yekan Bakh" pitchFamily="2" charset="-78"/>
                          <a:cs typeface="Yekan Bakh" pitchFamily="2" charset="-78"/>
                        </a:rPr>
                        <a:t>نمادهای</a:t>
                      </a:r>
                      <a:r>
                        <a:rPr lang="en-US" sz="600" b="1"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600" b="1" i="0" kern="1200" dirty="0" err="1">
                          <a:solidFill>
                            <a:schemeClr val="tx1">
                              <a:lumMod val="75000"/>
                              <a:lumOff val="25000"/>
                            </a:schemeClr>
                          </a:solidFill>
                          <a:effectLst/>
                          <a:latin typeface="Yekan Bakh" pitchFamily="2" charset="-78"/>
                          <a:ea typeface="Yekan Bakh" pitchFamily="2" charset="-78"/>
                          <a:cs typeface="Yekan Bakh" pitchFamily="2" charset="-78"/>
                        </a:rPr>
                        <a:t>بورسی</a:t>
                      </a:r>
                      <a:r>
                        <a:rPr lang="en-US" sz="600" b="1" i="0" kern="1200" dirty="0">
                          <a:solidFill>
                            <a:schemeClr val="tx1">
                              <a:lumMod val="75000"/>
                              <a:lumOff val="25000"/>
                            </a:schemeClr>
                          </a:solidFill>
                          <a:effectLst/>
                          <a:latin typeface="Yekan Bakh" pitchFamily="2" charset="-78"/>
                          <a:ea typeface="Yekan Bakh" pitchFamily="2" charset="-78"/>
                          <a:cs typeface="Yekan Bakh" pitchFamily="2" charset="-78"/>
                        </a:rPr>
                        <a:t> و </a:t>
                      </a:r>
                      <a:r>
                        <a:rPr lang="en-US" sz="600" b="1" i="0" kern="1200" dirty="0" err="1">
                          <a:solidFill>
                            <a:schemeClr val="tx1">
                              <a:lumMod val="75000"/>
                              <a:lumOff val="25000"/>
                            </a:schemeClr>
                          </a:solidFill>
                          <a:effectLst/>
                          <a:latin typeface="Yekan Bakh" pitchFamily="2" charset="-78"/>
                          <a:ea typeface="Yekan Bakh" pitchFamily="2" charset="-78"/>
                          <a:cs typeface="Yekan Bakh" pitchFamily="2" charset="-78"/>
                        </a:rPr>
                        <a:t>فرابورسی</a:t>
                      </a:r>
                      <a:endParaRPr lang="en-GB" sz="600" dirty="0">
                        <a:solidFill>
                          <a:schemeClr val="tx1">
                            <a:lumMod val="75000"/>
                            <a:lumOff val="25000"/>
                          </a:schemeClr>
                        </a:solidFill>
                        <a:latin typeface="Yekan Bakh" pitchFamily="2" charset="-78"/>
                        <a:ea typeface="Yekan Bakh" pitchFamily="2" charset="-78"/>
                        <a:cs typeface="Yekan Bakh" pitchFamily="2" charset="-78"/>
                      </a:endParaRPr>
                    </a:p>
                  </a:txBody>
                  <a:tcPr marL="49037" marR="49037" marT="24518" marB="24518" anchor="ctr">
                    <a:solidFill>
                      <a:schemeClr val="bg1">
                        <a:lumMod val="95000"/>
                      </a:schemeClr>
                    </a:solidFill>
                  </a:tcPr>
                </a:tc>
                <a:extLst>
                  <a:ext uri="{0D108BD9-81ED-4DB2-BD59-A6C34878D82A}">
                    <a16:rowId xmlns:a16="http://schemas.microsoft.com/office/drawing/2014/main" val="530992645"/>
                  </a:ext>
                </a:extLst>
              </a:tr>
              <a:tr h="202639">
                <a:tc>
                  <a:txBody>
                    <a:bodyPr/>
                    <a:lstStyle/>
                    <a:p>
                      <a:pPr algn="ctr" rtl="1" fontAlgn="t">
                        <a:spcBef>
                          <a:spcPts val="1200"/>
                        </a:spcBef>
                        <a:buNone/>
                      </a:pPr>
                      <a:r>
                        <a:rPr lang="en-US" sz="600" b="0" i="0" dirty="0">
                          <a:solidFill>
                            <a:schemeClr val="tx1">
                              <a:lumMod val="75000"/>
                              <a:lumOff val="25000"/>
                            </a:schemeClr>
                          </a:solidFill>
                          <a:effectLst/>
                          <a:latin typeface="Yekan Bakh" pitchFamily="2" charset="-78"/>
                          <a:ea typeface="Yekan Bakh" pitchFamily="2" charset="-78"/>
                          <a:cs typeface="Yekan Bakh" pitchFamily="2" charset="-78"/>
                          <a:hlinkClick r:id="rId16">
                            <a:extLst>
                              <a:ext uri="{A12FA001-AC4F-418D-AE19-62706E023703}">
                                <ahyp:hlinkClr xmlns:ahyp="http://schemas.microsoft.com/office/drawing/2018/hyperlinkcolor" val="tx"/>
                              </a:ext>
                            </a:extLst>
                          </a:hlinkClick>
                        </a:rPr>
                        <a:t>pwc.com</a:t>
                      </a:r>
                      <a:endParaRPr lang="en-US" sz="600" b="0" i="0" dirty="0">
                        <a:solidFill>
                          <a:schemeClr val="tx1">
                            <a:lumMod val="75000"/>
                            <a:lumOff val="25000"/>
                          </a:schemeClr>
                        </a:solidFill>
                        <a:effectLst/>
                        <a:latin typeface="Yekan Bakh" pitchFamily="2" charset="-78"/>
                        <a:ea typeface="Yekan Bakh" pitchFamily="2" charset="-78"/>
                        <a:cs typeface="Yekan Bakh" pitchFamily="2" charset="-78"/>
                      </a:endParaRPr>
                    </a:p>
                  </a:txBody>
                  <a:tcPr marL="76200" marR="76200" marT="63500" marB="63500" anchor="ctr">
                    <a:solidFill>
                      <a:schemeClr val="bg1">
                        <a:lumMod val="95000"/>
                      </a:schemeClr>
                    </a:solidFill>
                  </a:tcPr>
                </a:tc>
                <a:tc>
                  <a:txBody>
                    <a:bodyPr/>
                    <a:lstStyle/>
                    <a:p>
                      <a:pPr algn="ctr" rtl="1"/>
                      <a:r>
                        <a:rPr lang="en-US" sz="600" b="0" i="0" kern="1200" dirty="0">
                          <a:solidFill>
                            <a:schemeClr val="tx1">
                              <a:lumMod val="75000"/>
                              <a:lumOff val="25000"/>
                            </a:schemeClr>
                          </a:solidFill>
                          <a:effectLst/>
                          <a:latin typeface="Yekan Bakh" pitchFamily="2" charset="-78"/>
                          <a:ea typeface="Yekan Bakh" pitchFamily="2" charset="-78"/>
                          <a:cs typeface="Yekan Bakh" pitchFamily="2" charset="-78"/>
                        </a:rPr>
                        <a:t>PwC</a:t>
                      </a:r>
                      <a:endParaRPr lang="en-GB" sz="600" dirty="0">
                        <a:solidFill>
                          <a:schemeClr val="tx1">
                            <a:lumMod val="75000"/>
                            <a:lumOff val="25000"/>
                          </a:schemeClr>
                        </a:solidFill>
                        <a:latin typeface="Yekan Bakh" pitchFamily="2" charset="-78"/>
                        <a:ea typeface="Yekan Bakh" pitchFamily="2" charset="-78"/>
                        <a:cs typeface="Yekan Bakh" pitchFamily="2" charset="-78"/>
                      </a:endParaRPr>
                    </a:p>
                  </a:txBody>
                  <a:tcPr marL="49037" marR="49037" marT="24518" marB="24518" anchor="ctr">
                    <a:solidFill>
                      <a:schemeClr val="bg1">
                        <a:lumMod val="95000"/>
                      </a:schemeClr>
                    </a:solidFill>
                  </a:tcPr>
                </a:tc>
                <a:tc>
                  <a:txBody>
                    <a:bodyPr/>
                    <a:lstStyle/>
                    <a:p>
                      <a:pPr algn="ctr" rtl="1"/>
                      <a:r>
                        <a:rPr lang="en-US" sz="600" b="0" i="0" kern="1200" dirty="0" err="1">
                          <a:solidFill>
                            <a:schemeClr val="tx1">
                              <a:lumMod val="75000"/>
                              <a:lumOff val="25000"/>
                            </a:schemeClr>
                          </a:solidFill>
                          <a:effectLst/>
                          <a:latin typeface="Yekan Bakh" pitchFamily="2" charset="-78"/>
                          <a:ea typeface="Yekan Bakh" pitchFamily="2" charset="-78"/>
                          <a:cs typeface="Yekan Bakh" pitchFamily="2" charset="-78"/>
                        </a:rPr>
                        <a:t>ژانویه</a:t>
                      </a:r>
                      <a:r>
                        <a:rPr lang="en-US" sz="600" b="0" i="0" kern="1200" dirty="0">
                          <a:solidFill>
                            <a:schemeClr val="tx1">
                              <a:lumMod val="75000"/>
                              <a:lumOff val="25000"/>
                            </a:schemeClr>
                          </a:solidFill>
                          <a:effectLst/>
                          <a:latin typeface="Yekan Bakh" pitchFamily="2" charset="-78"/>
                          <a:ea typeface="Yekan Bakh" pitchFamily="2" charset="-78"/>
                          <a:cs typeface="Yekan Bakh" pitchFamily="2" charset="-78"/>
                        </a:rPr>
                        <a:t> ۲۰۲۶</a:t>
                      </a:r>
                      <a:endParaRPr lang="en-GB" sz="600" dirty="0">
                        <a:solidFill>
                          <a:schemeClr val="tx1">
                            <a:lumMod val="75000"/>
                            <a:lumOff val="25000"/>
                          </a:schemeClr>
                        </a:solidFill>
                        <a:latin typeface="Yekan Bakh" pitchFamily="2" charset="-78"/>
                        <a:ea typeface="Yekan Bakh" pitchFamily="2" charset="-78"/>
                        <a:cs typeface="Yekan Bakh" pitchFamily="2" charset="-78"/>
                      </a:endParaRPr>
                    </a:p>
                  </a:txBody>
                  <a:tcPr marL="49037" marR="49037" marT="24518" marB="24518" anchor="ctr">
                    <a:solidFill>
                      <a:schemeClr val="bg1">
                        <a:lumMod val="95000"/>
                      </a:schemeClr>
                    </a:solidFill>
                  </a:tcPr>
                </a:tc>
                <a:tc>
                  <a:txBody>
                    <a:bodyPr/>
                    <a:lstStyle/>
                    <a:p>
                      <a:pPr algn="ctr" rtl="1"/>
                      <a:r>
                        <a:rPr lang="en-US" sz="600" b="1" i="0" kern="1200" dirty="0">
                          <a:solidFill>
                            <a:schemeClr val="tx1">
                              <a:lumMod val="75000"/>
                              <a:lumOff val="25000"/>
                            </a:schemeClr>
                          </a:solidFill>
                          <a:effectLst/>
                          <a:latin typeface="Yekan Bakh" pitchFamily="2" charset="-78"/>
                          <a:ea typeface="Yekan Bakh" pitchFamily="2" charset="-78"/>
                          <a:cs typeface="Yekan Bakh" pitchFamily="2" charset="-78"/>
                        </a:rPr>
                        <a:t>PwC 2026 Global CEO Survey</a:t>
                      </a:r>
                      <a:endParaRPr lang="en-GB" sz="600" dirty="0">
                        <a:solidFill>
                          <a:schemeClr val="tx1">
                            <a:lumMod val="75000"/>
                            <a:lumOff val="25000"/>
                          </a:schemeClr>
                        </a:solidFill>
                        <a:latin typeface="Yekan Bakh" pitchFamily="2" charset="-78"/>
                        <a:ea typeface="Yekan Bakh" pitchFamily="2" charset="-78"/>
                        <a:cs typeface="Yekan Bakh" pitchFamily="2" charset="-78"/>
                      </a:endParaRPr>
                    </a:p>
                  </a:txBody>
                  <a:tcPr marL="49037" marR="49037" marT="24518" marB="24518" anchor="ctr">
                    <a:solidFill>
                      <a:schemeClr val="bg1">
                        <a:lumMod val="95000"/>
                      </a:schemeClr>
                    </a:solidFill>
                  </a:tcPr>
                </a:tc>
                <a:extLst>
                  <a:ext uri="{0D108BD9-81ED-4DB2-BD59-A6C34878D82A}">
                    <a16:rowId xmlns:a16="http://schemas.microsoft.com/office/drawing/2014/main" val="1173277074"/>
                  </a:ext>
                </a:extLst>
              </a:tr>
              <a:tr h="177659">
                <a:tc>
                  <a:txBody>
                    <a:bodyPr/>
                    <a:lstStyle/>
                    <a:p>
                      <a:pPr algn="ctr" rtl="1"/>
                      <a:r>
                        <a:rPr lang="en-US" sz="600" b="0" i="0" dirty="0">
                          <a:solidFill>
                            <a:schemeClr val="tx1">
                              <a:lumMod val="75000"/>
                              <a:lumOff val="25000"/>
                            </a:schemeClr>
                          </a:solidFill>
                          <a:effectLst/>
                          <a:latin typeface="Yekan Bakh" pitchFamily="2" charset="-78"/>
                          <a:ea typeface="Yekan Bakh" pitchFamily="2" charset="-78"/>
                          <a:cs typeface="Yekan Bakh" pitchFamily="2" charset="-78"/>
                          <a:hlinkClick r:id="rId17">
                            <a:extLst>
                              <a:ext uri="{A12FA001-AC4F-418D-AE19-62706E023703}">
                                <ahyp:hlinkClr xmlns:ahyp="http://schemas.microsoft.com/office/drawing/2018/hyperlinkcolor" val="tx"/>
                              </a:ext>
                            </a:extLst>
                          </a:hlinkClick>
                        </a:rPr>
                        <a:t>cbinsights.com</a:t>
                      </a:r>
                      <a:endParaRPr lang="en-GB" sz="600" dirty="0">
                        <a:solidFill>
                          <a:schemeClr val="tx1">
                            <a:lumMod val="75000"/>
                            <a:lumOff val="25000"/>
                          </a:schemeClr>
                        </a:solidFill>
                        <a:latin typeface="Yekan Bakh" pitchFamily="2" charset="-78"/>
                        <a:ea typeface="Yekan Bakh" pitchFamily="2" charset="-78"/>
                        <a:cs typeface="Yekan Bakh" pitchFamily="2" charset="-78"/>
                      </a:endParaRPr>
                    </a:p>
                  </a:txBody>
                  <a:tcPr marL="49037" marR="49037" marT="24518" marB="24518" anchor="ctr">
                    <a:solidFill>
                      <a:schemeClr val="bg1">
                        <a:lumMod val="95000"/>
                      </a:schemeClr>
                    </a:solidFill>
                  </a:tcPr>
                </a:tc>
                <a:tc>
                  <a:txBody>
                    <a:bodyPr/>
                    <a:lstStyle/>
                    <a:p>
                      <a:pPr algn="ctr" rtl="1"/>
                      <a:r>
                        <a:rPr lang="en-US" sz="600" b="0" i="0" kern="1200" dirty="0">
                          <a:solidFill>
                            <a:schemeClr val="tx1">
                              <a:lumMod val="75000"/>
                              <a:lumOff val="25000"/>
                            </a:schemeClr>
                          </a:solidFill>
                          <a:effectLst/>
                          <a:latin typeface="Yekan Bakh" pitchFamily="2" charset="-78"/>
                          <a:ea typeface="Yekan Bakh" pitchFamily="2" charset="-78"/>
                          <a:cs typeface="Yekan Bakh" pitchFamily="2" charset="-78"/>
                        </a:rPr>
                        <a:t>CB Insights</a:t>
                      </a:r>
                      <a:endParaRPr lang="en-GB" sz="600" dirty="0">
                        <a:solidFill>
                          <a:schemeClr val="tx1">
                            <a:lumMod val="75000"/>
                            <a:lumOff val="25000"/>
                          </a:schemeClr>
                        </a:solidFill>
                        <a:latin typeface="Yekan Bakh" pitchFamily="2" charset="-78"/>
                        <a:ea typeface="Yekan Bakh" pitchFamily="2" charset="-78"/>
                        <a:cs typeface="Yekan Bakh" pitchFamily="2" charset="-78"/>
                      </a:endParaRPr>
                    </a:p>
                  </a:txBody>
                  <a:tcPr marL="49037" marR="49037" marT="24518" marB="24518" anchor="ctr">
                    <a:solidFill>
                      <a:schemeClr val="bg1">
                        <a:lumMod val="95000"/>
                      </a:schemeClr>
                    </a:solidFill>
                  </a:tcPr>
                </a:tc>
                <a:tc>
                  <a:txBody>
                    <a:bodyPr/>
                    <a:lstStyle/>
                    <a:p>
                      <a:pPr algn="ctr" rtl="1"/>
                      <a:r>
                        <a:rPr lang="fa-IR" sz="600" dirty="0">
                          <a:solidFill>
                            <a:schemeClr val="tx1">
                              <a:lumMod val="75000"/>
                              <a:lumOff val="25000"/>
                            </a:schemeClr>
                          </a:solidFill>
                          <a:latin typeface="Yekan Bakh" pitchFamily="2" charset="-78"/>
                          <a:ea typeface="Yekan Bakh" pitchFamily="2" charset="-78"/>
                          <a:cs typeface="Yekan Bakh" pitchFamily="2" charset="-78"/>
                        </a:rPr>
                        <a:t>۲۰۲۶</a:t>
                      </a:r>
                      <a:endParaRPr lang="en-GB" sz="600" dirty="0">
                        <a:solidFill>
                          <a:schemeClr val="tx1">
                            <a:lumMod val="75000"/>
                            <a:lumOff val="25000"/>
                          </a:schemeClr>
                        </a:solidFill>
                        <a:latin typeface="Yekan Bakh" pitchFamily="2" charset="-78"/>
                        <a:ea typeface="Yekan Bakh" pitchFamily="2" charset="-78"/>
                        <a:cs typeface="Yekan Bakh" pitchFamily="2" charset="-78"/>
                      </a:endParaRPr>
                    </a:p>
                  </a:txBody>
                  <a:tcPr marL="49037" marR="49037" marT="24518" marB="24518" anchor="ctr">
                    <a:solidFill>
                      <a:schemeClr val="bg1">
                        <a:lumMod val="95000"/>
                      </a:schemeClr>
                    </a:solidFill>
                  </a:tcPr>
                </a:tc>
                <a:tc>
                  <a:txBody>
                    <a:bodyPr/>
                    <a:lstStyle/>
                    <a:p>
                      <a:pPr algn="ctr" rtl="1"/>
                      <a:r>
                        <a:rPr lang="en-US" sz="600" b="1" i="0" kern="1200" dirty="0">
                          <a:solidFill>
                            <a:schemeClr val="tx1">
                              <a:lumMod val="75000"/>
                              <a:lumOff val="25000"/>
                            </a:schemeClr>
                          </a:solidFill>
                          <a:effectLst/>
                          <a:latin typeface="Yekan Bakh" pitchFamily="2" charset="-78"/>
                          <a:ea typeface="Yekan Bakh" pitchFamily="2" charset="-78"/>
                          <a:cs typeface="Yekan Bakh" pitchFamily="2" charset="-78"/>
                        </a:rPr>
                        <a:t>Why Startups Fail: Top Reasons</a:t>
                      </a:r>
                      <a:endParaRPr lang="en-GB" sz="600" dirty="0">
                        <a:solidFill>
                          <a:schemeClr val="tx1">
                            <a:lumMod val="75000"/>
                            <a:lumOff val="25000"/>
                          </a:schemeClr>
                        </a:solidFill>
                        <a:latin typeface="Yekan Bakh" pitchFamily="2" charset="-78"/>
                        <a:ea typeface="Yekan Bakh" pitchFamily="2" charset="-78"/>
                        <a:cs typeface="Yekan Bakh" pitchFamily="2" charset="-78"/>
                      </a:endParaRPr>
                    </a:p>
                  </a:txBody>
                  <a:tcPr marL="49037" marR="49037" marT="24518" marB="24518" anchor="ctr">
                    <a:solidFill>
                      <a:schemeClr val="bg1">
                        <a:lumMod val="95000"/>
                      </a:schemeClr>
                    </a:solidFill>
                  </a:tcPr>
                </a:tc>
                <a:extLst>
                  <a:ext uri="{0D108BD9-81ED-4DB2-BD59-A6C34878D82A}">
                    <a16:rowId xmlns:a16="http://schemas.microsoft.com/office/drawing/2014/main" val="2218028355"/>
                  </a:ext>
                </a:extLst>
              </a:tr>
              <a:tr h="215141">
                <a:tc>
                  <a:txBody>
                    <a:bodyPr/>
                    <a:lstStyle/>
                    <a:p>
                      <a:pPr algn="ctr" rtl="1"/>
                      <a:r>
                        <a:rPr lang="en-US" sz="600" b="0" i="0" dirty="0">
                          <a:solidFill>
                            <a:schemeClr val="tx1">
                              <a:lumMod val="75000"/>
                              <a:lumOff val="25000"/>
                            </a:schemeClr>
                          </a:solidFill>
                          <a:effectLst/>
                          <a:latin typeface="Yekan Bakh" pitchFamily="2" charset="-78"/>
                          <a:ea typeface="Yekan Bakh" pitchFamily="2" charset="-78"/>
                          <a:cs typeface="Yekan Bakh" pitchFamily="2" charset="-78"/>
                          <a:hlinkClick r:id="rId18">
                            <a:extLst>
                              <a:ext uri="{A12FA001-AC4F-418D-AE19-62706E023703}">
                                <ahyp:hlinkClr xmlns:ahyp="http://schemas.microsoft.com/office/drawing/2018/hyperlinkcolor" val="tx"/>
                              </a:ext>
                            </a:extLst>
                          </a:hlinkClick>
                        </a:rPr>
                        <a:t>pwc.com</a:t>
                      </a:r>
                      <a:endParaRPr lang="en-GB" sz="600" dirty="0">
                        <a:solidFill>
                          <a:schemeClr val="tx1">
                            <a:lumMod val="75000"/>
                            <a:lumOff val="25000"/>
                          </a:schemeClr>
                        </a:solidFill>
                        <a:latin typeface="Yekan Bakh" pitchFamily="2" charset="-78"/>
                        <a:ea typeface="Yekan Bakh" pitchFamily="2" charset="-78"/>
                        <a:cs typeface="Yekan Bakh" pitchFamily="2" charset="-78"/>
                      </a:endParaRPr>
                    </a:p>
                  </a:txBody>
                  <a:tcPr marL="49037" marR="49037" marT="24518" marB="24518" anchor="ctr">
                    <a:solidFill>
                      <a:schemeClr val="bg1">
                        <a:lumMod val="95000"/>
                      </a:schemeClr>
                    </a:solidFill>
                  </a:tcPr>
                </a:tc>
                <a:tc>
                  <a:txBody>
                    <a:bodyPr/>
                    <a:lstStyle/>
                    <a:p>
                      <a:pPr algn="ctr" rtl="1"/>
                      <a:r>
                        <a:rPr lang="en-US" sz="600" b="0" i="0" kern="1200" dirty="0">
                          <a:solidFill>
                            <a:schemeClr val="tx1">
                              <a:lumMod val="75000"/>
                              <a:lumOff val="25000"/>
                            </a:schemeClr>
                          </a:solidFill>
                          <a:effectLst/>
                          <a:latin typeface="Yekan Bakh" pitchFamily="2" charset="-78"/>
                          <a:ea typeface="Yekan Bakh" pitchFamily="2" charset="-78"/>
                          <a:cs typeface="Yekan Bakh" pitchFamily="2" charset="-78"/>
                        </a:rPr>
                        <a:t>PwC</a:t>
                      </a:r>
                      <a:endParaRPr lang="en-GB" sz="600" dirty="0">
                        <a:solidFill>
                          <a:schemeClr val="tx1">
                            <a:lumMod val="75000"/>
                            <a:lumOff val="25000"/>
                          </a:schemeClr>
                        </a:solidFill>
                        <a:latin typeface="Yekan Bakh" pitchFamily="2" charset="-78"/>
                        <a:ea typeface="Yekan Bakh" pitchFamily="2" charset="-78"/>
                        <a:cs typeface="Yekan Bakh" pitchFamily="2" charset="-78"/>
                      </a:endParaRPr>
                    </a:p>
                  </a:txBody>
                  <a:tcPr marL="49037" marR="49037" marT="24518" marB="24518" anchor="ctr">
                    <a:solidFill>
                      <a:schemeClr val="bg1">
                        <a:lumMod val="95000"/>
                      </a:schemeClr>
                    </a:solidFill>
                  </a:tcPr>
                </a:tc>
                <a:tc>
                  <a:txBody>
                    <a:bodyPr/>
                    <a:lstStyle/>
                    <a:p>
                      <a:pPr algn="ctr" rtl="1"/>
                      <a:r>
                        <a:rPr lang="en-US" sz="600" b="0" i="0" kern="1200" dirty="0" err="1">
                          <a:solidFill>
                            <a:schemeClr val="tx1">
                              <a:lumMod val="75000"/>
                              <a:lumOff val="25000"/>
                            </a:schemeClr>
                          </a:solidFill>
                          <a:effectLst/>
                          <a:latin typeface="Yekan Bakh" pitchFamily="2" charset="-78"/>
                          <a:ea typeface="Yekan Bakh" pitchFamily="2" charset="-78"/>
                          <a:cs typeface="Yekan Bakh" pitchFamily="2" charset="-78"/>
                        </a:rPr>
                        <a:t>نوامبر</a:t>
                      </a:r>
                      <a:r>
                        <a:rPr lang="en-US" sz="600" b="0" i="0" kern="1200" dirty="0">
                          <a:solidFill>
                            <a:schemeClr val="tx1">
                              <a:lumMod val="75000"/>
                              <a:lumOff val="25000"/>
                            </a:schemeClr>
                          </a:solidFill>
                          <a:effectLst/>
                          <a:latin typeface="Yekan Bakh" pitchFamily="2" charset="-78"/>
                          <a:ea typeface="Yekan Bakh" pitchFamily="2" charset="-78"/>
                          <a:cs typeface="Yekan Bakh" pitchFamily="2" charset="-78"/>
                        </a:rPr>
                        <a:t> ۲۰۲۵</a:t>
                      </a:r>
                      <a:endParaRPr lang="en-GB" sz="600" dirty="0">
                        <a:solidFill>
                          <a:schemeClr val="tx1">
                            <a:lumMod val="75000"/>
                            <a:lumOff val="25000"/>
                          </a:schemeClr>
                        </a:solidFill>
                        <a:latin typeface="Yekan Bakh" pitchFamily="2" charset="-78"/>
                        <a:ea typeface="Yekan Bakh" pitchFamily="2" charset="-78"/>
                        <a:cs typeface="Yekan Bakh" pitchFamily="2" charset="-78"/>
                      </a:endParaRPr>
                    </a:p>
                  </a:txBody>
                  <a:tcPr marL="49037" marR="49037" marT="24518" marB="24518" anchor="ctr">
                    <a:solidFill>
                      <a:schemeClr val="bg1">
                        <a:lumMod val="95000"/>
                      </a:schemeClr>
                    </a:solidFill>
                  </a:tcPr>
                </a:tc>
                <a:tc>
                  <a:txBody>
                    <a:bodyPr/>
                    <a:lstStyle/>
                    <a:p>
                      <a:pPr algn="ctr" rtl="1"/>
                      <a:r>
                        <a:rPr lang="en-US" sz="600" b="1" i="0" kern="1200" dirty="0">
                          <a:solidFill>
                            <a:schemeClr val="tx1">
                              <a:lumMod val="75000"/>
                              <a:lumOff val="25000"/>
                            </a:schemeClr>
                          </a:solidFill>
                          <a:effectLst/>
                          <a:latin typeface="Yekan Bakh" pitchFamily="2" charset="-78"/>
                          <a:ea typeface="Yekan Bakh" pitchFamily="2" charset="-78"/>
                          <a:cs typeface="Yekan Bakh" pitchFamily="2" charset="-78"/>
                        </a:rPr>
                        <a:t>PwC 2025 Global Asset &amp; Wealth Management Report</a:t>
                      </a:r>
                      <a:endParaRPr lang="en-GB" sz="600" dirty="0">
                        <a:solidFill>
                          <a:schemeClr val="tx1">
                            <a:lumMod val="75000"/>
                            <a:lumOff val="25000"/>
                          </a:schemeClr>
                        </a:solidFill>
                        <a:latin typeface="Yekan Bakh" pitchFamily="2" charset="-78"/>
                        <a:ea typeface="Yekan Bakh" pitchFamily="2" charset="-78"/>
                        <a:cs typeface="Yekan Bakh" pitchFamily="2" charset="-78"/>
                      </a:endParaRPr>
                    </a:p>
                  </a:txBody>
                  <a:tcPr marL="49037" marR="49037" marT="24518" marB="24518" anchor="ctr">
                    <a:solidFill>
                      <a:schemeClr val="bg1">
                        <a:lumMod val="95000"/>
                      </a:schemeClr>
                    </a:solidFill>
                  </a:tcPr>
                </a:tc>
                <a:extLst>
                  <a:ext uri="{0D108BD9-81ED-4DB2-BD59-A6C34878D82A}">
                    <a16:rowId xmlns:a16="http://schemas.microsoft.com/office/drawing/2014/main" val="2327758966"/>
                  </a:ext>
                </a:extLst>
              </a:tr>
              <a:tr h="215141">
                <a:tc>
                  <a:txBody>
                    <a:bodyPr/>
                    <a:lstStyle/>
                    <a:p>
                      <a:pPr algn="ctr" rtl="1"/>
                      <a:r>
                        <a:rPr lang="en-US" sz="600" b="0" i="0" dirty="0">
                          <a:solidFill>
                            <a:schemeClr val="tx1">
                              <a:lumMod val="75000"/>
                              <a:lumOff val="25000"/>
                            </a:schemeClr>
                          </a:solidFill>
                          <a:effectLst/>
                          <a:latin typeface="Yekan Bakh" pitchFamily="2" charset="-78"/>
                          <a:ea typeface="Yekan Bakh" pitchFamily="2" charset="-78"/>
                          <a:cs typeface="Yekan Bakh" pitchFamily="2" charset="-78"/>
                          <a:hlinkClick r:id="rId19">
                            <a:extLst>
                              <a:ext uri="{A12FA001-AC4F-418D-AE19-62706E023703}">
                                <ahyp:hlinkClr xmlns:ahyp="http://schemas.microsoft.com/office/drawing/2018/hyperlinkcolor" val="tx"/>
                              </a:ext>
                            </a:extLst>
                          </a:hlinkClick>
                        </a:rPr>
                        <a:t>openknowledge.worldbank.org</a:t>
                      </a:r>
                      <a:endParaRPr lang="en-GB" sz="600" dirty="0">
                        <a:solidFill>
                          <a:schemeClr val="tx1">
                            <a:lumMod val="75000"/>
                            <a:lumOff val="25000"/>
                          </a:schemeClr>
                        </a:solidFill>
                        <a:latin typeface="Yekan Bakh" pitchFamily="2" charset="-78"/>
                        <a:ea typeface="Yekan Bakh" pitchFamily="2" charset="-78"/>
                        <a:cs typeface="Yekan Bakh" pitchFamily="2" charset="-78"/>
                      </a:endParaRPr>
                    </a:p>
                  </a:txBody>
                  <a:tcPr marL="49037" marR="49037" marT="24518" marB="24518" anchor="ctr">
                    <a:solidFill>
                      <a:schemeClr val="bg1">
                        <a:lumMod val="95000"/>
                      </a:schemeClr>
                    </a:solidFill>
                  </a:tcPr>
                </a:tc>
                <a:tc>
                  <a:txBody>
                    <a:bodyPr/>
                    <a:lstStyle/>
                    <a:p>
                      <a:pPr algn="ctr" rtl="1"/>
                      <a:r>
                        <a:rPr lang="en-US" sz="600" b="0" i="0" kern="1200" dirty="0">
                          <a:solidFill>
                            <a:schemeClr val="tx1">
                              <a:lumMod val="75000"/>
                              <a:lumOff val="25000"/>
                            </a:schemeClr>
                          </a:solidFill>
                          <a:effectLst/>
                          <a:latin typeface="Yekan Bakh" pitchFamily="2" charset="-78"/>
                          <a:ea typeface="Yekan Bakh" pitchFamily="2" charset="-78"/>
                          <a:cs typeface="Yekan Bakh" pitchFamily="2" charset="-78"/>
                        </a:rPr>
                        <a:t>World Bank</a:t>
                      </a:r>
                      <a:endParaRPr lang="en-GB" sz="600" b="1" dirty="0">
                        <a:solidFill>
                          <a:schemeClr val="tx1">
                            <a:lumMod val="75000"/>
                            <a:lumOff val="25000"/>
                          </a:schemeClr>
                        </a:solidFill>
                        <a:latin typeface="Yekan Bakh" pitchFamily="2" charset="-78"/>
                        <a:ea typeface="Yekan Bakh" pitchFamily="2" charset="-78"/>
                        <a:cs typeface="Yekan Bakh" pitchFamily="2" charset="-78"/>
                      </a:endParaRPr>
                    </a:p>
                  </a:txBody>
                  <a:tcPr marL="49037" marR="49037" marT="24518" marB="24518" anchor="ctr">
                    <a:solidFill>
                      <a:schemeClr val="bg1">
                        <a:lumMod val="95000"/>
                      </a:schemeClr>
                    </a:solidFill>
                  </a:tcPr>
                </a:tc>
                <a:tc>
                  <a:txBody>
                    <a:bodyPr/>
                    <a:lstStyle/>
                    <a:p>
                      <a:pPr algn="ctr" rtl="1"/>
                      <a:r>
                        <a:rPr lang="en-US" sz="600" b="0" i="0" kern="1200" dirty="0" err="1">
                          <a:solidFill>
                            <a:schemeClr val="tx1">
                              <a:lumMod val="75000"/>
                              <a:lumOff val="25000"/>
                            </a:schemeClr>
                          </a:solidFill>
                          <a:effectLst/>
                          <a:latin typeface="Yekan Bakh" pitchFamily="2" charset="-78"/>
                          <a:ea typeface="Yekan Bakh" pitchFamily="2" charset="-78"/>
                          <a:cs typeface="Yekan Bakh" pitchFamily="2" charset="-78"/>
                        </a:rPr>
                        <a:t>ژوئن</a:t>
                      </a:r>
                      <a:r>
                        <a:rPr lang="en-US" sz="600" b="0" i="0" kern="1200" dirty="0">
                          <a:solidFill>
                            <a:schemeClr val="tx1">
                              <a:lumMod val="75000"/>
                              <a:lumOff val="25000"/>
                            </a:schemeClr>
                          </a:solidFill>
                          <a:effectLst/>
                          <a:latin typeface="Yekan Bakh" pitchFamily="2" charset="-78"/>
                          <a:ea typeface="Yekan Bakh" pitchFamily="2" charset="-78"/>
                          <a:cs typeface="Yekan Bakh" pitchFamily="2" charset="-78"/>
                        </a:rPr>
                        <a:t> ۲۰۲۵</a:t>
                      </a:r>
                      <a:endParaRPr lang="en-GB" sz="600" dirty="0">
                        <a:solidFill>
                          <a:schemeClr val="tx1">
                            <a:lumMod val="75000"/>
                            <a:lumOff val="25000"/>
                          </a:schemeClr>
                        </a:solidFill>
                        <a:latin typeface="Yekan Bakh" pitchFamily="2" charset="-78"/>
                        <a:ea typeface="Yekan Bakh" pitchFamily="2" charset="-78"/>
                        <a:cs typeface="Yekan Bakh" pitchFamily="2" charset="-78"/>
                      </a:endParaRPr>
                    </a:p>
                  </a:txBody>
                  <a:tcPr marL="49037" marR="49037" marT="24518" marB="24518" anchor="ctr">
                    <a:solidFill>
                      <a:schemeClr val="bg1">
                        <a:lumMod val="95000"/>
                      </a:schemeClr>
                    </a:solidFill>
                  </a:tcPr>
                </a:tc>
                <a:tc>
                  <a:txBody>
                    <a:bodyPr/>
                    <a:lstStyle/>
                    <a:p>
                      <a:pPr algn="ctr" rtl="1"/>
                      <a:r>
                        <a:rPr lang="en-US" sz="600" b="1" i="0" kern="1200" dirty="0">
                          <a:solidFill>
                            <a:schemeClr val="tx1">
                              <a:lumMod val="75000"/>
                              <a:lumOff val="25000"/>
                            </a:schemeClr>
                          </a:solidFill>
                          <a:effectLst/>
                          <a:latin typeface="Yekan Bakh" pitchFamily="2" charset="-78"/>
                          <a:ea typeface="Yekan Bakh" pitchFamily="2" charset="-78"/>
                          <a:cs typeface="Yekan Bakh" pitchFamily="2" charset="-78"/>
                        </a:rPr>
                        <a:t>Global Economic Prospects، </a:t>
                      </a:r>
                      <a:r>
                        <a:rPr lang="en-US" sz="600" b="1" i="0" kern="1200" dirty="0" err="1">
                          <a:solidFill>
                            <a:schemeClr val="tx1">
                              <a:lumMod val="75000"/>
                              <a:lumOff val="25000"/>
                            </a:schemeClr>
                          </a:solidFill>
                          <a:effectLst/>
                          <a:latin typeface="Yekan Bakh" pitchFamily="2" charset="-78"/>
                          <a:ea typeface="Yekan Bakh" pitchFamily="2" charset="-78"/>
                          <a:cs typeface="Yekan Bakh" pitchFamily="2" charset="-78"/>
                        </a:rPr>
                        <a:t>ژوئن</a:t>
                      </a:r>
                      <a:r>
                        <a:rPr lang="en-US" sz="600" b="1" i="0" kern="1200" dirty="0">
                          <a:solidFill>
                            <a:schemeClr val="tx1">
                              <a:lumMod val="75000"/>
                              <a:lumOff val="25000"/>
                            </a:schemeClr>
                          </a:solidFill>
                          <a:effectLst/>
                          <a:latin typeface="Yekan Bakh" pitchFamily="2" charset="-78"/>
                          <a:ea typeface="Yekan Bakh" pitchFamily="2" charset="-78"/>
                          <a:cs typeface="Yekan Bakh" pitchFamily="2" charset="-78"/>
                        </a:rPr>
                        <a:t> ۲۰۲۵</a:t>
                      </a:r>
                      <a:endParaRPr lang="en-GB" sz="600" dirty="0">
                        <a:solidFill>
                          <a:schemeClr val="tx1">
                            <a:lumMod val="75000"/>
                            <a:lumOff val="25000"/>
                          </a:schemeClr>
                        </a:solidFill>
                        <a:latin typeface="Yekan Bakh" pitchFamily="2" charset="-78"/>
                        <a:ea typeface="Yekan Bakh" pitchFamily="2" charset="-78"/>
                        <a:cs typeface="Yekan Bakh" pitchFamily="2" charset="-78"/>
                      </a:endParaRPr>
                    </a:p>
                  </a:txBody>
                  <a:tcPr marL="49037" marR="49037" marT="24518" marB="24518" anchor="ctr">
                    <a:solidFill>
                      <a:schemeClr val="bg1">
                        <a:lumMod val="95000"/>
                      </a:schemeClr>
                    </a:solidFill>
                  </a:tcPr>
                </a:tc>
                <a:extLst>
                  <a:ext uri="{0D108BD9-81ED-4DB2-BD59-A6C34878D82A}">
                    <a16:rowId xmlns:a16="http://schemas.microsoft.com/office/drawing/2014/main" val="3863447525"/>
                  </a:ext>
                </a:extLst>
              </a:tr>
              <a:tr h="215141">
                <a:tc>
                  <a:txBody>
                    <a:bodyPr/>
                    <a:lstStyle/>
                    <a:p>
                      <a:pPr algn="ctr" rtl="1"/>
                      <a:r>
                        <a:rPr lang="en-US" sz="600" b="0" i="0" dirty="0">
                          <a:solidFill>
                            <a:schemeClr val="tx1">
                              <a:lumMod val="75000"/>
                              <a:lumOff val="25000"/>
                            </a:schemeClr>
                          </a:solidFill>
                          <a:effectLst/>
                          <a:latin typeface="Yekan Bakh" pitchFamily="2" charset="-78"/>
                          <a:ea typeface="Yekan Bakh" pitchFamily="2" charset="-78"/>
                          <a:cs typeface="Yekan Bakh" pitchFamily="2" charset="-78"/>
                          <a:hlinkClick r:id="rId20">
                            <a:extLst>
                              <a:ext uri="{A12FA001-AC4F-418D-AE19-62706E023703}">
                                <ahyp:hlinkClr xmlns:ahyp="http://schemas.microsoft.com/office/drawing/2018/hyperlinkcolor" val="tx"/>
                              </a:ext>
                            </a:extLst>
                          </a:hlinkClick>
                        </a:rPr>
                        <a:t>blogs.worldbank.org</a:t>
                      </a:r>
                      <a:endParaRPr lang="en-GB" sz="600" dirty="0">
                        <a:solidFill>
                          <a:schemeClr val="tx1">
                            <a:lumMod val="75000"/>
                            <a:lumOff val="25000"/>
                          </a:schemeClr>
                        </a:solidFill>
                        <a:latin typeface="Yekan Bakh" pitchFamily="2" charset="-78"/>
                        <a:ea typeface="Yekan Bakh" pitchFamily="2" charset="-78"/>
                        <a:cs typeface="Yekan Bakh" pitchFamily="2" charset="-78"/>
                      </a:endParaRPr>
                    </a:p>
                  </a:txBody>
                  <a:tcPr marL="49037" marR="49037" marT="24518" marB="24518" anchor="ctr">
                    <a:solidFill>
                      <a:schemeClr val="bg1">
                        <a:lumMod val="95000"/>
                      </a:schemeClr>
                    </a:solidFill>
                  </a:tcPr>
                </a:tc>
                <a:tc>
                  <a:txBody>
                    <a:bodyPr/>
                    <a:lstStyle/>
                    <a:p>
                      <a:pPr algn="ctr" rtl="1"/>
                      <a:r>
                        <a:rPr lang="en-US" sz="600" b="0" i="0" kern="1200" dirty="0">
                          <a:solidFill>
                            <a:schemeClr val="tx1">
                              <a:lumMod val="75000"/>
                              <a:lumOff val="25000"/>
                            </a:schemeClr>
                          </a:solidFill>
                          <a:effectLst/>
                          <a:latin typeface="Yekan Bakh" pitchFamily="2" charset="-78"/>
                          <a:ea typeface="Yekan Bakh" pitchFamily="2" charset="-78"/>
                          <a:cs typeface="Yekan Bakh" pitchFamily="2" charset="-78"/>
                        </a:rPr>
                        <a:t>World Bank Blogs</a:t>
                      </a:r>
                      <a:endParaRPr lang="en-GB" sz="600" dirty="0">
                        <a:solidFill>
                          <a:schemeClr val="tx1">
                            <a:lumMod val="75000"/>
                            <a:lumOff val="25000"/>
                          </a:schemeClr>
                        </a:solidFill>
                        <a:latin typeface="Yekan Bakh" pitchFamily="2" charset="-78"/>
                        <a:ea typeface="Yekan Bakh" pitchFamily="2" charset="-78"/>
                        <a:cs typeface="Yekan Bakh" pitchFamily="2" charset="-78"/>
                      </a:endParaRPr>
                    </a:p>
                  </a:txBody>
                  <a:tcPr marL="49037" marR="49037" marT="24518" marB="24518" anchor="ctr">
                    <a:solidFill>
                      <a:schemeClr val="bg1">
                        <a:lumMod val="95000"/>
                      </a:schemeClr>
                    </a:solidFill>
                  </a:tcPr>
                </a:tc>
                <a:tc>
                  <a:txBody>
                    <a:bodyPr/>
                    <a:lstStyle/>
                    <a:p>
                      <a:pPr algn="ctr" rtl="1"/>
                      <a:r>
                        <a:rPr lang="en-US" sz="600" b="0" i="0" kern="1200" dirty="0" err="1">
                          <a:solidFill>
                            <a:schemeClr val="tx1">
                              <a:lumMod val="75000"/>
                              <a:lumOff val="25000"/>
                            </a:schemeClr>
                          </a:solidFill>
                          <a:effectLst/>
                          <a:latin typeface="Yekan Bakh" pitchFamily="2" charset="-78"/>
                          <a:ea typeface="Yekan Bakh" pitchFamily="2" charset="-78"/>
                          <a:cs typeface="Yekan Bakh" pitchFamily="2" charset="-78"/>
                        </a:rPr>
                        <a:t>ژانویه</a:t>
                      </a:r>
                      <a:r>
                        <a:rPr lang="en-US" sz="600" b="0" i="0" kern="1200" dirty="0">
                          <a:solidFill>
                            <a:schemeClr val="tx1">
                              <a:lumMod val="75000"/>
                              <a:lumOff val="25000"/>
                            </a:schemeClr>
                          </a:solidFill>
                          <a:effectLst/>
                          <a:latin typeface="Yekan Bakh" pitchFamily="2" charset="-78"/>
                          <a:ea typeface="Yekan Bakh" pitchFamily="2" charset="-78"/>
                          <a:cs typeface="Yekan Bakh" pitchFamily="2" charset="-78"/>
                        </a:rPr>
                        <a:t> ۲۰۲۶</a:t>
                      </a:r>
                      <a:endParaRPr lang="en-GB" sz="600" dirty="0">
                        <a:solidFill>
                          <a:schemeClr val="tx1">
                            <a:lumMod val="75000"/>
                            <a:lumOff val="25000"/>
                          </a:schemeClr>
                        </a:solidFill>
                        <a:latin typeface="Yekan Bakh" pitchFamily="2" charset="-78"/>
                        <a:ea typeface="Yekan Bakh" pitchFamily="2" charset="-78"/>
                        <a:cs typeface="Yekan Bakh" pitchFamily="2" charset="-78"/>
                      </a:endParaRPr>
                    </a:p>
                  </a:txBody>
                  <a:tcPr marL="49037" marR="49037" marT="24518" marB="24518" anchor="ctr">
                    <a:solidFill>
                      <a:schemeClr val="bg1">
                        <a:lumMod val="95000"/>
                      </a:schemeClr>
                    </a:solidFill>
                  </a:tcPr>
                </a:tc>
                <a:tc>
                  <a:txBody>
                    <a:bodyPr/>
                    <a:lstStyle/>
                    <a:p>
                      <a:pPr algn="ctr" rtl="1"/>
                      <a:r>
                        <a:rPr lang="en-US" sz="600" b="1" i="0" kern="1200" dirty="0">
                          <a:solidFill>
                            <a:schemeClr val="tx1">
                              <a:lumMod val="75000"/>
                              <a:lumOff val="25000"/>
                            </a:schemeClr>
                          </a:solidFill>
                          <a:effectLst/>
                          <a:latin typeface="Yekan Bakh" pitchFamily="2" charset="-78"/>
                          <a:ea typeface="Yekan Bakh" pitchFamily="2" charset="-78"/>
                          <a:cs typeface="Yekan Bakh" pitchFamily="2" charset="-78"/>
                        </a:rPr>
                        <a:t>Global Trade's Rollercoaster Ride</a:t>
                      </a:r>
                      <a:endParaRPr lang="en-GB" sz="600" dirty="0">
                        <a:solidFill>
                          <a:schemeClr val="tx1">
                            <a:lumMod val="75000"/>
                            <a:lumOff val="25000"/>
                          </a:schemeClr>
                        </a:solidFill>
                        <a:latin typeface="Yekan Bakh" pitchFamily="2" charset="-78"/>
                        <a:ea typeface="Yekan Bakh" pitchFamily="2" charset="-78"/>
                        <a:cs typeface="Yekan Bakh" pitchFamily="2" charset="-78"/>
                      </a:endParaRPr>
                    </a:p>
                  </a:txBody>
                  <a:tcPr marL="49037" marR="49037" marT="24518" marB="24518" anchor="ctr">
                    <a:solidFill>
                      <a:schemeClr val="bg1">
                        <a:lumMod val="95000"/>
                      </a:schemeClr>
                    </a:solidFill>
                  </a:tcPr>
                </a:tc>
                <a:extLst>
                  <a:ext uri="{0D108BD9-81ED-4DB2-BD59-A6C34878D82A}">
                    <a16:rowId xmlns:a16="http://schemas.microsoft.com/office/drawing/2014/main" val="2000221257"/>
                  </a:ext>
                </a:extLst>
              </a:tr>
            </a:tbl>
          </a:graphicData>
        </a:graphic>
      </p:graphicFrame>
      <p:cxnSp>
        <p:nvCxnSpPr>
          <p:cNvPr id="10" name="Straight Connector 9">
            <a:extLst>
              <a:ext uri="{FF2B5EF4-FFF2-40B4-BE49-F238E27FC236}">
                <a16:creationId xmlns:a16="http://schemas.microsoft.com/office/drawing/2014/main" id="{49DB91FF-43C9-6BC5-BA3F-C0165958A592}"/>
              </a:ext>
            </a:extLst>
          </p:cNvPr>
          <p:cNvCxnSpPr>
            <a:cxnSpLocks/>
          </p:cNvCxnSpPr>
          <p:nvPr/>
        </p:nvCxnSpPr>
        <p:spPr>
          <a:xfrm>
            <a:off x="6284068" y="1464508"/>
            <a:ext cx="4959505" cy="0"/>
          </a:xfrm>
          <a:prstGeom prst="line">
            <a:avLst/>
          </a:prstGeom>
        </p:spPr>
        <p:style>
          <a:lnRef idx="1">
            <a:schemeClr val="accent2"/>
          </a:lnRef>
          <a:fillRef idx="0">
            <a:schemeClr val="accent2"/>
          </a:fillRef>
          <a:effectRef idx="0">
            <a:schemeClr val="accent2"/>
          </a:effectRef>
          <a:fontRef idx="minor">
            <a:schemeClr val="tx1"/>
          </a:fontRef>
        </p:style>
      </p:cxnSp>
      <p:sp>
        <p:nvSpPr>
          <p:cNvPr id="8" name="TextBox 7">
            <a:extLst>
              <a:ext uri="{FF2B5EF4-FFF2-40B4-BE49-F238E27FC236}">
                <a16:creationId xmlns:a16="http://schemas.microsoft.com/office/drawing/2014/main" id="{E7FCF0E2-65AA-3A85-BF24-079F291E9103}"/>
              </a:ext>
            </a:extLst>
          </p:cNvPr>
          <p:cNvSpPr txBox="1"/>
          <p:nvPr/>
        </p:nvSpPr>
        <p:spPr>
          <a:xfrm>
            <a:off x="7947518" y="1264453"/>
            <a:ext cx="1632604" cy="400110"/>
          </a:xfrm>
          <a:prstGeom prst="rect">
            <a:avLst/>
          </a:prstGeom>
          <a:solidFill>
            <a:schemeClr val="bg1"/>
          </a:solidFill>
        </p:spPr>
        <p:txBody>
          <a:bodyPr wrap="square"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منابع پژوهش بازار</a:t>
            </a:r>
          </a:p>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(با شناسه قابل استناد)</a:t>
            </a:r>
            <a:endParaRPr kumimoji="0" lang="fa-IR" sz="11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endParaRPr>
          </a:p>
        </p:txBody>
      </p:sp>
      <p:grpSp>
        <p:nvGrpSpPr>
          <p:cNvPr id="12" name="Group 11">
            <a:extLst>
              <a:ext uri="{FF2B5EF4-FFF2-40B4-BE49-F238E27FC236}">
                <a16:creationId xmlns:a16="http://schemas.microsoft.com/office/drawing/2014/main" id="{C7E5689E-0B67-E689-1BA0-92EE658F2778}"/>
              </a:ext>
            </a:extLst>
          </p:cNvPr>
          <p:cNvGrpSpPr/>
          <p:nvPr/>
        </p:nvGrpSpPr>
        <p:grpSpPr>
          <a:xfrm>
            <a:off x="1100745" y="1264453"/>
            <a:ext cx="4959505" cy="400110"/>
            <a:chOff x="6284068" y="1329106"/>
            <a:chExt cx="4959505" cy="400110"/>
          </a:xfrm>
        </p:grpSpPr>
        <p:cxnSp>
          <p:nvCxnSpPr>
            <p:cNvPr id="13" name="Straight Connector 12">
              <a:extLst>
                <a:ext uri="{FF2B5EF4-FFF2-40B4-BE49-F238E27FC236}">
                  <a16:creationId xmlns:a16="http://schemas.microsoft.com/office/drawing/2014/main" id="{78D94937-9A7F-0A6F-D8CF-C14F43620D84}"/>
                </a:ext>
              </a:extLst>
            </p:cNvPr>
            <p:cNvCxnSpPr>
              <a:cxnSpLocks/>
            </p:cNvCxnSpPr>
            <p:nvPr/>
          </p:nvCxnSpPr>
          <p:spPr>
            <a:xfrm>
              <a:off x="6284068" y="1529161"/>
              <a:ext cx="4959505" cy="0"/>
            </a:xfrm>
            <a:prstGeom prst="line">
              <a:avLst/>
            </a:prstGeom>
          </p:spPr>
          <p:style>
            <a:lnRef idx="1">
              <a:schemeClr val="accent2"/>
            </a:lnRef>
            <a:fillRef idx="0">
              <a:schemeClr val="accent2"/>
            </a:fillRef>
            <a:effectRef idx="0">
              <a:schemeClr val="accent2"/>
            </a:effectRef>
            <a:fontRef idx="minor">
              <a:schemeClr val="tx1"/>
            </a:fontRef>
          </p:style>
        </p:cxnSp>
        <p:sp>
          <p:nvSpPr>
            <p:cNvPr id="14" name="TextBox 13">
              <a:extLst>
                <a:ext uri="{FF2B5EF4-FFF2-40B4-BE49-F238E27FC236}">
                  <a16:creationId xmlns:a16="http://schemas.microsoft.com/office/drawing/2014/main" id="{E0957146-F332-B890-22D7-F7E2DB81E536}"/>
                </a:ext>
              </a:extLst>
            </p:cNvPr>
            <p:cNvSpPr txBox="1"/>
            <p:nvPr/>
          </p:nvSpPr>
          <p:spPr>
            <a:xfrm>
              <a:off x="7342164" y="1329106"/>
              <a:ext cx="2843313" cy="400110"/>
            </a:xfrm>
            <a:prstGeom prst="rect">
              <a:avLst/>
            </a:prstGeom>
            <a:solidFill>
              <a:schemeClr val="bg1"/>
            </a:solidFill>
          </p:spPr>
          <p:txBody>
            <a:bodyPr wrap="square"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منابع بدون لینک مستقیم قابل‌استناد </a:t>
              </a:r>
              <a:r>
                <a:rPr kumimoji="0" lang="fa-IR" sz="9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(نقل‌شده در گزارش تحلیلی پژوهش بازار)</a:t>
              </a:r>
              <a:endParaRPr kumimoji="0" lang="fa-IR" sz="11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endParaRPr>
            </a:p>
          </p:txBody>
        </p:sp>
      </p:grpSp>
      <p:graphicFrame>
        <p:nvGraphicFramePr>
          <p:cNvPr id="15" name="Table 14">
            <a:extLst>
              <a:ext uri="{FF2B5EF4-FFF2-40B4-BE49-F238E27FC236}">
                <a16:creationId xmlns:a16="http://schemas.microsoft.com/office/drawing/2014/main" id="{73ECA9F3-82D9-83BE-0E2D-10A55A482C21}"/>
              </a:ext>
            </a:extLst>
          </p:cNvPr>
          <p:cNvGraphicFramePr>
            <a:graphicFrameLocks noGrp="1"/>
          </p:cNvGraphicFramePr>
          <p:nvPr/>
        </p:nvGraphicFramePr>
        <p:xfrm>
          <a:off x="1100745" y="1659966"/>
          <a:ext cx="4959505" cy="2420124"/>
        </p:xfrm>
        <a:graphic>
          <a:graphicData uri="http://schemas.openxmlformats.org/drawingml/2006/table">
            <a:tbl>
              <a:tblPr firstRow="1" bandRow="1">
                <a:tableStyleId>{5C22544A-7EE6-4342-B048-85BDC9FD1C3A}</a:tableStyleId>
              </a:tblPr>
              <a:tblGrid>
                <a:gridCol w="967867">
                  <a:extLst>
                    <a:ext uri="{9D8B030D-6E8A-4147-A177-3AD203B41FA5}">
                      <a16:colId xmlns:a16="http://schemas.microsoft.com/office/drawing/2014/main" val="2349129597"/>
                    </a:ext>
                  </a:extLst>
                </a:gridCol>
                <a:gridCol w="3991638">
                  <a:extLst>
                    <a:ext uri="{9D8B030D-6E8A-4147-A177-3AD203B41FA5}">
                      <a16:colId xmlns:a16="http://schemas.microsoft.com/office/drawing/2014/main" val="3484141138"/>
                    </a:ext>
                  </a:extLst>
                </a:gridCol>
              </a:tblGrid>
              <a:tr h="268714">
                <a:tc>
                  <a:txBody>
                    <a:bodyPr/>
                    <a:lstStyle/>
                    <a:p>
                      <a:pPr algn="ctr" rtl="1"/>
                      <a:r>
                        <a:rPr lang="en-US" sz="600" b="1" i="0" kern="1200" dirty="0" err="1">
                          <a:solidFill>
                            <a:schemeClr val="bg1"/>
                          </a:solidFill>
                          <a:effectLst/>
                          <a:latin typeface="Yekan Bakh" pitchFamily="2" charset="-78"/>
                          <a:ea typeface="Yekan Bakh" pitchFamily="2" charset="-78"/>
                          <a:cs typeface="Yekan Bakh" pitchFamily="2" charset="-78"/>
                        </a:rPr>
                        <a:t>تاریخ</a:t>
                      </a:r>
                      <a:endParaRPr lang="en-GB" sz="600" dirty="0">
                        <a:solidFill>
                          <a:schemeClr val="bg1"/>
                        </a:solidFill>
                        <a:latin typeface="Yekan Bakh" pitchFamily="2" charset="-78"/>
                        <a:ea typeface="Yekan Bakh" pitchFamily="2" charset="-78"/>
                        <a:cs typeface="Yekan Bakh" pitchFamily="2" charset="-78"/>
                      </a:endParaRPr>
                    </a:p>
                  </a:txBody>
                  <a:tcPr marL="49037" marR="49037" marT="24518" marB="24518" anchor="ctr">
                    <a:solidFill>
                      <a:schemeClr val="bg1">
                        <a:lumMod val="65000"/>
                      </a:schemeClr>
                    </a:solidFill>
                  </a:tcPr>
                </a:tc>
                <a:tc>
                  <a:txBody>
                    <a:bodyPr/>
                    <a:lstStyle/>
                    <a:p>
                      <a:pPr algn="ctr" rtl="1"/>
                      <a:r>
                        <a:rPr lang="en-US" sz="600" b="1" i="0" kern="1200">
                          <a:solidFill>
                            <a:schemeClr val="bg1"/>
                          </a:solidFill>
                          <a:effectLst/>
                          <a:latin typeface="Yekan Bakh" pitchFamily="2" charset="-78"/>
                          <a:ea typeface="Yekan Bakh" pitchFamily="2" charset="-78"/>
                          <a:cs typeface="Yekan Bakh" pitchFamily="2" charset="-78"/>
                        </a:rPr>
                        <a:t>عنوان</a:t>
                      </a:r>
                      <a:endParaRPr lang="en-GB" sz="600" dirty="0">
                        <a:solidFill>
                          <a:schemeClr val="bg1"/>
                        </a:solidFill>
                        <a:latin typeface="Yekan Bakh" pitchFamily="2" charset="-78"/>
                        <a:ea typeface="Yekan Bakh" pitchFamily="2" charset="-78"/>
                        <a:cs typeface="Yekan Bakh" pitchFamily="2" charset="-78"/>
                      </a:endParaRPr>
                    </a:p>
                  </a:txBody>
                  <a:tcPr marL="49037" marR="49037" marT="24518" marB="24518" anchor="ctr">
                    <a:solidFill>
                      <a:schemeClr val="bg1">
                        <a:lumMod val="65000"/>
                      </a:schemeClr>
                    </a:solidFill>
                  </a:tcPr>
                </a:tc>
                <a:extLst>
                  <a:ext uri="{0D108BD9-81ED-4DB2-BD59-A6C34878D82A}">
                    <a16:rowId xmlns:a16="http://schemas.microsoft.com/office/drawing/2014/main" val="1604034777"/>
                  </a:ext>
                </a:extLst>
              </a:tr>
              <a:tr h="215141">
                <a:tc>
                  <a:txBody>
                    <a:bodyPr/>
                    <a:lstStyle/>
                    <a:p>
                      <a:pPr algn="ctr" rtl="1"/>
                      <a:r>
                        <a:rPr lang="fa-IR" sz="600" dirty="0">
                          <a:solidFill>
                            <a:schemeClr val="tx1">
                              <a:lumMod val="75000"/>
                              <a:lumOff val="25000"/>
                            </a:schemeClr>
                          </a:solidFill>
                          <a:latin typeface="Yekan Bakh" pitchFamily="2" charset="-78"/>
                          <a:ea typeface="Yekan Bakh" pitchFamily="2" charset="-78"/>
                          <a:cs typeface="Yekan Bakh" pitchFamily="2" charset="-78"/>
                        </a:rPr>
                        <a:t>فوریه ۲۰۲۶</a:t>
                      </a:r>
                      <a:endParaRPr lang="en-GB" sz="600" dirty="0">
                        <a:solidFill>
                          <a:schemeClr val="tx1">
                            <a:lumMod val="75000"/>
                            <a:lumOff val="25000"/>
                          </a:schemeClr>
                        </a:solidFill>
                        <a:latin typeface="Yekan Bakh" pitchFamily="2" charset="-78"/>
                        <a:ea typeface="Yekan Bakh" pitchFamily="2" charset="-78"/>
                        <a:cs typeface="Yekan Bakh" pitchFamily="2" charset="-78"/>
                      </a:endParaRPr>
                    </a:p>
                  </a:txBody>
                  <a:tcPr marL="49037" marR="49037" marT="24518" marB="24518" anchor="ctr">
                    <a:solidFill>
                      <a:schemeClr val="bg1">
                        <a:lumMod val="95000"/>
                      </a:schemeClr>
                    </a:solidFill>
                  </a:tcPr>
                </a:tc>
                <a:tc>
                  <a:txBody>
                    <a:bodyPr/>
                    <a:lstStyle/>
                    <a:p>
                      <a:pPr algn="ctr" rtl="1"/>
                      <a:r>
                        <a:rPr lang="en-US" sz="600" b="1" i="0" kern="1200" dirty="0">
                          <a:solidFill>
                            <a:schemeClr val="tx1">
                              <a:lumMod val="75000"/>
                              <a:lumOff val="25000"/>
                            </a:schemeClr>
                          </a:solidFill>
                          <a:effectLst/>
                          <a:latin typeface="Yekan Bakh" pitchFamily="2" charset="-78"/>
                          <a:ea typeface="Yekan Bakh" pitchFamily="2" charset="-78"/>
                          <a:cs typeface="Yekan Bakh" pitchFamily="2" charset="-78"/>
                        </a:rPr>
                        <a:t>McKinsey — 2026 M&amp;A Trends: Navigating a Rapidly Rebounding Market</a:t>
                      </a:r>
                      <a:endParaRPr lang="en-GB" sz="600" dirty="0">
                        <a:solidFill>
                          <a:schemeClr val="tx1">
                            <a:lumMod val="75000"/>
                            <a:lumOff val="25000"/>
                          </a:schemeClr>
                        </a:solidFill>
                        <a:latin typeface="Yekan Bakh" pitchFamily="2" charset="-78"/>
                        <a:ea typeface="Yekan Bakh" pitchFamily="2" charset="-78"/>
                        <a:cs typeface="Yekan Bakh" pitchFamily="2" charset="-78"/>
                      </a:endParaRPr>
                    </a:p>
                  </a:txBody>
                  <a:tcPr marL="49037" marR="49037" marT="24518" marB="24518" anchor="ctr">
                    <a:solidFill>
                      <a:schemeClr val="bg1">
                        <a:lumMod val="95000"/>
                      </a:schemeClr>
                    </a:solidFill>
                  </a:tcPr>
                </a:tc>
                <a:extLst>
                  <a:ext uri="{0D108BD9-81ED-4DB2-BD59-A6C34878D82A}">
                    <a16:rowId xmlns:a16="http://schemas.microsoft.com/office/drawing/2014/main" val="1264252077"/>
                  </a:ext>
                </a:extLst>
              </a:tr>
              <a:tr h="215141">
                <a:tc>
                  <a:txBody>
                    <a:bodyPr/>
                    <a:lstStyle/>
                    <a:p>
                      <a:pPr algn="ctr" rtl="1"/>
                      <a:r>
                        <a:rPr lang="en-US" sz="600" kern="1200" dirty="0" err="1">
                          <a:solidFill>
                            <a:schemeClr val="tx1">
                              <a:lumMod val="75000"/>
                              <a:lumOff val="25000"/>
                            </a:schemeClr>
                          </a:solidFill>
                          <a:latin typeface="Yekan Bakh" pitchFamily="2" charset="-78"/>
                          <a:ea typeface="Yekan Bakh" pitchFamily="2" charset="-78"/>
                          <a:cs typeface="Yekan Bakh" pitchFamily="2" charset="-78"/>
                        </a:rPr>
                        <a:t>فوریه</a:t>
                      </a:r>
                      <a:r>
                        <a:rPr lang="en-US" sz="600" kern="1200" dirty="0">
                          <a:solidFill>
                            <a:schemeClr val="tx1">
                              <a:lumMod val="75000"/>
                              <a:lumOff val="25000"/>
                            </a:schemeClr>
                          </a:solidFill>
                          <a:latin typeface="Yekan Bakh" pitchFamily="2" charset="-78"/>
                          <a:ea typeface="Yekan Bakh" pitchFamily="2" charset="-78"/>
                          <a:cs typeface="Yekan Bakh" pitchFamily="2" charset="-78"/>
                        </a:rPr>
                        <a:t> ۲۰۲۶</a:t>
                      </a:r>
                      <a:endParaRPr lang="en-GB" sz="600" kern="1200" dirty="0">
                        <a:solidFill>
                          <a:schemeClr val="tx1">
                            <a:lumMod val="75000"/>
                            <a:lumOff val="25000"/>
                          </a:schemeClr>
                        </a:solidFill>
                        <a:latin typeface="Yekan Bakh" pitchFamily="2" charset="-78"/>
                        <a:ea typeface="Yekan Bakh" pitchFamily="2" charset="-78"/>
                        <a:cs typeface="Yekan Bakh" pitchFamily="2" charset="-78"/>
                      </a:endParaRPr>
                    </a:p>
                  </a:txBody>
                  <a:tcPr marL="49037" marR="49037" marT="24518" marB="24518" anchor="ctr">
                    <a:solidFill>
                      <a:schemeClr val="bg1">
                        <a:lumMod val="95000"/>
                      </a:schemeClr>
                    </a:solidFill>
                  </a:tcPr>
                </a:tc>
                <a:tc>
                  <a:txBody>
                    <a:bodyPr/>
                    <a:lstStyle/>
                    <a:p>
                      <a:pPr algn="ctr" rtl="1"/>
                      <a:r>
                        <a:rPr lang="en-US" sz="600" b="1" i="0" kern="1200" dirty="0">
                          <a:solidFill>
                            <a:schemeClr val="tx1">
                              <a:lumMod val="75000"/>
                              <a:lumOff val="25000"/>
                            </a:schemeClr>
                          </a:solidFill>
                          <a:effectLst/>
                          <a:latin typeface="Yekan Bakh" pitchFamily="2" charset="-78"/>
                          <a:ea typeface="Yekan Bakh" pitchFamily="2" charset="-78"/>
                          <a:cs typeface="Yekan Bakh" pitchFamily="2" charset="-78"/>
                        </a:rPr>
                        <a:t>McKinsey — The Looming Advisor Shortage in US Wealth Management</a:t>
                      </a:r>
                      <a:endParaRPr lang="en-GB" sz="600" dirty="0">
                        <a:solidFill>
                          <a:schemeClr val="tx1">
                            <a:lumMod val="75000"/>
                            <a:lumOff val="25000"/>
                          </a:schemeClr>
                        </a:solidFill>
                        <a:latin typeface="Yekan Bakh" pitchFamily="2" charset="-78"/>
                        <a:ea typeface="Yekan Bakh" pitchFamily="2" charset="-78"/>
                        <a:cs typeface="Yekan Bakh" pitchFamily="2" charset="-78"/>
                      </a:endParaRPr>
                    </a:p>
                  </a:txBody>
                  <a:tcPr marL="49037" marR="49037" marT="24518" marB="24518" anchor="ctr">
                    <a:solidFill>
                      <a:schemeClr val="bg1">
                        <a:lumMod val="95000"/>
                      </a:schemeClr>
                    </a:solidFill>
                  </a:tcPr>
                </a:tc>
                <a:extLst>
                  <a:ext uri="{0D108BD9-81ED-4DB2-BD59-A6C34878D82A}">
                    <a16:rowId xmlns:a16="http://schemas.microsoft.com/office/drawing/2014/main" val="3759476057"/>
                  </a:ext>
                </a:extLst>
              </a:tr>
              <a:tr h="215141">
                <a:tc>
                  <a:txBody>
                    <a:bodyPr/>
                    <a:lstStyle/>
                    <a:p>
                      <a:pPr algn="ctr" rtl="1"/>
                      <a:r>
                        <a:rPr lang="en-US" sz="600" kern="1200" dirty="0">
                          <a:solidFill>
                            <a:schemeClr val="tx1">
                              <a:lumMod val="75000"/>
                              <a:lumOff val="25000"/>
                            </a:schemeClr>
                          </a:solidFill>
                          <a:latin typeface="Yekan Bakh" pitchFamily="2" charset="-78"/>
                          <a:ea typeface="Yekan Bakh" pitchFamily="2" charset="-78"/>
                          <a:cs typeface="Yekan Bakh" pitchFamily="2" charset="-78"/>
                        </a:rPr>
                        <a:t> </a:t>
                      </a:r>
                      <a:r>
                        <a:rPr lang="fa-IR" sz="600" kern="1200" dirty="0">
                          <a:solidFill>
                            <a:schemeClr val="tx1">
                              <a:lumMod val="75000"/>
                              <a:lumOff val="25000"/>
                            </a:schemeClr>
                          </a:solidFill>
                          <a:latin typeface="Yekan Bakh" pitchFamily="2" charset="-78"/>
                          <a:ea typeface="Yekan Bakh" pitchFamily="2" charset="-78"/>
                          <a:cs typeface="Yekan Bakh" pitchFamily="2" charset="-78"/>
                        </a:rPr>
                        <a:t>۲۰۲۵</a:t>
                      </a:r>
                      <a:endParaRPr lang="en-GB" sz="600" kern="1200" dirty="0">
                        <a:solidFill>
                          <a:schemeClr val="tx1">
                            <a:lumMod val="75000"/>
                            <a:lumOff val="25000"/>
                          </a:schemeClr>
                        </a:solidFill>
                        <a:latin typeface="Yekan Bakh" pitchFamily="2" charset="-78"/>
                        <a:ea typeface="Yekan Bakh" pitchFamily="2" charset="-78"/>
                        <a:cs typeface="Yekan Bakh" pitchFamily="2" charset="-78"/>
                      </a:endParaRPr>
                    </a:p>
                  </a:txBody>
                  <a:tcPr marL="49037" marR="49037" marT="24518" marB="24518" anchor="ctr">
                    <a:solidFill>
                      <a:schemeClr val="bg1">
                        <a:lumMod val="95000"/>
                      </a:schemeClr>
                    </a:solidFill>
                  </a:tcPr>
                </a:tc>
                <a:tc>
                  <a:txBody>
                    <a:bodyPr/>
                    <a:lstStyle/>
                    <a:p>
                      <a:pPr algn="ctr" rtl="1"/>
                      <a:r>
                        <a:rPr lang="en-GB" sz="600" b="1" i="0" kern="1200" dirty="0">
                          <a:solidFill>
                            <a:schemeClr val="tx1">
                              <a:lumMod val="75000"/>
                              <a:lumOff val="25000"/>
                            </a:schemeClr>
                          </a:solidFill>
                          <a:effectLst/>
                          <a:latin typeface="Yekan Bakh" pitchFamily="2" charset="-78"/>
                          <a:ea typeface="Yekan Bakh" pitchFamily="2" charset="-78"/>
                          <a:cs typeface="Yekan Bakh" pitchFamily="2" charset="-78"/>
                        </a:rPr>
                        <a:t>Deloitte — Corporate Finance / M&amp;A Market Outlook 2025، Global Trade &amp; Tariff Report</a:t>
                      </a:r>
                    </a:p>
                  </a:txBody>
                  <a:tcPr marL="49037" marR="49037" marT="24518" marB="24518" anchor="ctr">
                    <a:solidFill>
                      <a:schemeClr val="bg1">
                        <a:lumMod val="95000"/>
                      </a:schemeClr>
                    </a:solidFill>
                  </a:tcPr>
                </a:tc>
                <a:extLst>
                  <a:ext uri="{0D108BD9-81ED-4DB2-BD59-A6C34878D82A}">
                    <a16:rowId xmlns:a16="http://schemas.microsoft.com/office/drawing/2014/main" val="970744782"/>
                  </a:ext>
                </a:extLst>
              </a:tr>
              <a:tr h="215141">
                <a:tc>
                  <a:txBody>
                    <a:bodyPr/>
                    <a:lstStyle/>
                    <a:p>
                      <a:pPr marL="0" marR="0" lvl="0" indent="0" algn="ctr" defTabSz="1021516" rtl="1" eaLnBrk="1" fontAlgn="auto" latinLnBrk="0" hangingPunct="1">
                        <a:lnSpc>
                          <a:spcPct val="100000"/>
                        </a:lnSpc>
                        <a:spcBef>
                          <a:spcPts val="0"/>
                        </a:spcBef>
                        <a:spcAft>
                          <a:spcPts val="0"/>
                        </a:spcAft>
                        <a:buClrTx/>
                        <a:buSzTx/>
                        <a:buFontTx/>
                        <a:buNone/>
                        <a:tabLst/>
                        <a:defRPr/>
                      </a:pPr>
                      <a:r>
                        <a:rPr lang="fa-IR" sz="600" kern="1200" dirty="0">
                          <a:solidFill>
                            <a:schemeClr val="tx1">
                              <a:lumMod val="75000"/>
                              <a:lumOff val="25000"/>
                            </a:schemeClr>
                          </a:solidFill>
                          <a:latin typeface="Yekan Bakh" pitchFamily="2" charset="-78"/>
                          <a:ea typeface="Yekan Bakh" pitchFamily="2" charset="-78"/>
                          <a:cs typeface="Yekan Bakh" pitchFamily="2" charset="-78"/>
                        </a:rPr>
                        <a:t>دسامبر ۲۰۲۵</a:t>
                      </a:r>
                      <a:endParaRPr lang="en-GB" sz="600" kern="1200" dirty="0">
                        <a:solidFill>
                          <a:schemeClr val="tx1">
                            <a:lumMod val="75000"/>
                            <a:lumOff val="25000"/>
                          </a:schemeClr>
                        </a:solidFill>
                        <a:latin typeface="Yekan Bakh" pitchFamily="2" charset="-78"/>
                        <a:ea typeface="Yekan Bakh" pitchFamily="2" charset="-78"/>
                        <a:cs typeface="Yekan Bakh" pitchFamily="2" charset="-78"/>
                      </a:endParaRPr>
                    </a:p>
                  </a:txBody>
                  <a:tcPr marL="49037" marR="49037" marT="24518" marB="24518" anchor="ctr">
                    <a:solidFill>
                      <a:schemeClr val="bg1">
                        <a:lumMod val="95000"/>
                      </a:schemeClr>
                    </a:solidFill>
                  </a:tcPr>
                </a:tc>
                <a:tc>
                  <a:txBody>
                    <a:bodyPr/>
                    <a:lstStyle/>
                    <a:p>
                      <a:pPr algn="ctr" rtl="1"/>
                      <a:r>
                        <a:rPr lang="en-US" sz="600" b="1" i="0" kern="1200" dirty="0">
                          <a:solidFill>
                            <a:schemeClr val="tx1">
                              <a:lumMod val="75000"/>
                              <a:lumOff val="25000"/>
                            </a:schemeClr>
                          </a:solidFill>
                          <a:effectLst/>
                          <a:latin typeface="Yekan Bakh" pitchFamily="2" charset="-78"/>
                          <a:ea typeface="Yekan Bakh" pitchFamily="2" charset="-78"/>
                          <a:cs typeface="Yekan Bakh" pitchFamily="2" charset="-78"/>
                        </a:rPr>
                        <a:t>WTO — Global Value Chain Development Report 2025</a:t>
                      </a:r>
                      <a:endParaRPr lang="en-GB" sz="600" b="1" i="0" kern="1200" dirty="0">
                        <a:solidFill>
                          <a:schemeClr val="tx1">
                            <a:lumMod val="75000"/>
                            <a:lumOff val="25000"/>
                          </a:schemeClr>
                        </a:solidFill>
                        <a:effectLst/>
                        <a:latin typeface="Yekan Bakh" pitchFamily="2" charset="-78"/>
                        <a:ea typeface="Yekan Bakh" pitchFamily="2" charset="-78"/>
                        <a:cs typeface="Yekan Bakh" pitchFamily="2" charset="-78"/>
                      </a:endParaRPr>
                    </a:p>
                  </a:txBody>
                  <a:tcPr marL="49037" marR="49037" marT="24518" marB="24518" anchor="ctr">
                    <a:solidFill>
                      <a:schemeClr val="bg1">
                        <a:lumMod val="95000"/>
                      </a:schemeClr>
                    </a:solidFill>
                  </a:tcPr>
                </a:tc>
                <a:extLst>
                  <a:ext uri="{0D108BD9-81ED-4DB2-BD59-A6C34878D82A}">
                    <a16:rowId xmlns:a16="http://schemas.microsoft.com/office/drawing/2014/main" val="141523190"/>
                  </a:ext>
                </a:extLst>
              </a:tr>
              <a:tr h="215141">
                <a:tc>
                  <a:txBody>
                    <a:bodyPr/>
                    <a:lstStyle/>
                    <a:p>
                      <a:pPr algn="ctr" rtl="1"/>
                      <a:r>
                        <a:rPr lang="fa-IR" sz="600" kern="1200" dirty="0">
                          <a:solidFill>
                            <a:schemeClr val="tx1">
                              <a:lumMod val="75000"/>
                              <a:lumOff val="25000"/>
                            </a:schemeClr>
                          </a:solidFill>
                          <a:latin typeface="Yekan Bakh" pitchFamily="2" charset="-78"/>
                          <a:ea typeface="Yekan Bakh" pitchFamily="2" charset="-78"/>
                          <a:cs typeface="Yekan Bakh" pitchFamily="2" charset="-78"/>
                        </a:rPr>
                        <a:t>۲۰۲۵</a:t>
                      </a:r>
                      <a:endParaRPr lang="en-GB" sz="600" kern="1200" dirty="0">
                        <a:solidFill>
                          <a:schemeClr val="tx1">
                            <a:lumMod val="75000"/>
                            <a:lumOff val="25000"/>
                          </a:schemeClr>
                        </a:solidFill>
                        <a:latin typeface="Yekan Bakh" pitchFamily="2" charset="-78"/>
                        <a:ea typeface="Yekan Bakh" pitchFamily="2" charset="-78"/>
                        <a:cs typeface="Yekan Bakh" pitchFamily="2" charset="-78"/>
                      </a:endParaRPr>
                    </a:p>
                  </a:txBody>
                  <a:tcPr marL="49037" marR="49037" marT="24518" marB="24518" anchor="ctr">
                    <a:solidFill>
                      <a:schemeClr val="bg1">
                        <a:lumMod val="95000"/>
                      </a:schemeClr>
                    </a:solidFill>
                  </a:tcPr>
                </a:tc>
                <a:tc>
                  <a:txBody>
                    <a:bodyPr/>
                    <a:lstStyle/>
                    <a:p>
                      <a:pPr algn="ctr" rtl="1"/>
                      <a:r>
                        <a:rPr lang="en-US" sz="600" b="1" i="0" kern="1200" dirty="0">
                          <a:solidFill>
                            <a:schemeClr val="tx1">
                              <a:lumMod val="75000"/>
                              <a:lumOff val="25000"/>
                            </a:schemeClr>
                          </a:solidFill>
                          <a:effectLst/>
                          <a:latin typeface="Yekan Bakh" pitchFamily="2" charset="-78"/>
                          <a:ea typeface="Yekan Bakh" pitchFamily="2" charset="-78"/>
                          <a:cs typeface="Yekan Bakh" pitchFamily="2" charset="-78"/>
                        </a:rPr>
                        <a:t>Crunchbase — Global Venture Funding in 2025</a:t>
                      </a:r>
                      <a:endParaRPr lang="en-GB" sz="600" b="1" i="0" kern="1200" dirty="0">
                        <a:solidFill>
                          <a:schemeClr val="tx1">
                            <a:lumMod val="75000"/>
                            <a:lumOff val="25000"/>
                          </a:schemeClr>
                        </a:solidFill>
                        <a:effectLst/>
                        <a:latin typeface="Yekan Bakh" pitchFamily="2" charset="-78"/>
                        <a:ea typeface="Yekan Bakh" pitchFamily="2" charset="-78"/>
                        <a:cs typeface="Yekan Bakh" pitchFamily="2" charset="-78"/>
                      </a:endParaRPr>
                    </a:p>
                  </a:txBody>
                  <a:tcPr marL="49037" marR="49037" marT="24518" marB="24518" anchor="ctr">
                    <a:solidFill>
                      <a:schemeClr val="bg1">
                        <a:lumMod val="95000"/>
                      </a:schemeClr>
                    </a:solidFill>
                  </a:tcPr>
                </a:tc>
                <a:extLst>
                  <a:ext uri="{0D108BD9-81ED-4DB2-BD59-A6C34878D82A}">
                    <a16:rowId xmlns:a16="http://schemas.microsoft.com/office/drawing/2014/main" val="477554305"/>
                  </a:ext>
                </a:extLst>
              </a:tr>
              <a:tr h="215141">
                <a:tc>
                  <a:txBody>
                    <a:bodyPr/>
                    <a:lstStyle/>
                    <a:p>
                      <a:pPr algn="ctr" rtl="1"/>
                      <a:r>
                        <a:rPr lang="fa-IR" sz="600" kern="1200" dirty="0">
                          <a:solidFill>
                            <a:schemeClr val="tx1">
                              <a:lumMod val="75000"/>
                              <a:lumOff val="25000"/>
                            </a:schemeClr>
                          </a:solidFill>
                          <a:latin typeface="Yekan Bakh" pitchFamily="2" charset="-78"/>
                          <a:ea typeface="Yekan Bakh" pitchFamily="2" charset="-78"/>
                          <a:cs typeface="Yekan Bakh" pitchFamily="2" charset="-78"/>
                        </a:rPr>
                        <a:t>مه ۲۰۲۵</a:t>
                      </a:r>
                      <a:endParaRPr lang="en-GB" sz="600" kern="1200" dirty="0">
                        <a:solidFill>
                          <a:schemeClr val="tx1">
                            <a:lumMod val="75000"/>
                            <a:lumOff val="25000"/>
                          </a:schemeClr>
                        </a:solidFill>
                        <a:latin typeface="Yekan Bakh" pitchFamily="2" charset="-78"/>
                        <a:ea typeface="Yekan Bakh" pitchFamily="2" charset="-78"/>
                        <a:cs typeface="Yekan Bakh" pitchFamily="2" charset="-78"/>
                      </a:endParaRPr>
                    </a:p>
                  </a:txBody>
                  <a:tcPr marL="49037" marR="49037" marT="24518" marB="24518" anchor="ctr">
                    <a:solidFill>
                      <a:schemeClr val="bg1">
                        <a:lumMod val="95000"/>
                      </a:schemeClr>
                    </a:solidFill>
                  </a:tcPr>
                </a:tc>
                <a:tc>
                  <a:txBody>
                    <a:bodyPr/>
                    <a:lstStyle/>
                    <a:p>
                      <a:pPr algn="ctr" rtl="1"/>
                      <a:r>
                        <a:rPr lang="en-US" sz="600" b="1" i="0" kern="1200" dirty="0">
                          <a:solidFill>
                            <a:schemeClr val="tx1">
                              <a:lumMod val="75000"/>
                              <a:lumOff val="25000"/>
                            </a:schemeClr>
                          </a:solidFill>
                          <a:effectLst/>
                          <a:latin typeface="Yekan Bakh" pitchFamily="2" charset="-78"/>
                          <a:ea typeface="Yekan Bakh" pitchFamily="2" charset="-78"/>
                          <a:cs typeface="Yekan Bakh" pitchFamily="2" charset="-78"/>
                        </a:rPr>
                        <a:t>Financial Times — </a:t>
                      </a:r>
                      <a:r>
                        <a:rPr lang="en-US" sz="600" b="1" i="0" kern="1200" dirty="0" err="1">
                          <a:solidFill>
                            <a:schemeClr val="tx1">
                              <a:lumMod val="75000"/>
                              <a:lumOff val="25000"/>
                            </a:schemeClr>
                          </a:solidFill>
                          <a:effectLst/>
                          <a:latin typeface="Yekan Bakh" pitchFamily="2" charset="-78"/>
                          <a:ea typeface="Yekan Bakh" pitchFamily="2" charset="-78"/>
                          <a:cs typeface="Yekan Bakh" pitchFamily="2" charset="-78"/>
                        </a:rPr>
                        <a:t>پوشش</a:t>
                      </a:r>
                      <a:r>
                        <a:rPr lang="en-US" sz="600" b="1"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600" b="1" i="0" kern="1200" dirty="0" err="1">
                          <a:solidFill>
                            <a:schemeClr val="tx1">
                              <a:lumMod val="75000"/>
                              <a:lumOff val="25000"/>
                            </a:schemeClr>
                          </a:solidFill>
                          <a:effectLst/>
                          <a:latin typeface="Yekan Bakh" pitchFamily="2" charset="-78"/>
                          <a:ea typeface="Yekan Bakh" pitchFamily="2" charset="-78"/>
                          <a:cs typeface="Yekan Bakh" pitchFamily="2" charset="-78"/>
                        </a:rPr>
                        <a:t>پلتفرم</a:t>
                      </a:r>
                      <a:r>
                        <a:rPr lang="en-US" sz="600" b="1"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600" b="1" i="0" kern="1200" dirty="0" err="1">
                          <a:solidFill>
                            <a:schemeClr val="tx1">
                              <a:lumMod val="75000"/>
                              <a:lumOff val="25000"/>
                            </a:schemeClr>
                          </a:solidFill>
                          <a:effectLst/>
                          <a:latin typeface="Yekan Bakh" pitchFamily="2" charset="-78"/>
                          <a:ea typeface="Yekan Bakh" pitchFamily="2" charset="-78"/>
                          <a:cs typeface="Yekan Bakh" pitchFamily="2" charset="-78"/>
                        </a:rPr>
                        <a:t>Thndr</a:t>
                      </a:r>
                      <a:r>
                        <a:rPr lang="en-US" sz="600" b="1"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600" b="1" i="0" kern="1200" dirty="0" err="1">
                          <a:solidFill>
                            <a:schemeClr val="tx1">
                              <a:lumMod val="75000"/>
                              <a:lumOff val="25000"/>
                            </a:schemeClr>
                          </a:solidFill>
                          <a:effectLst/>
                          <a:latin typeface="Yekan Bakh" pitchFamily="2" charset="-78"/>
                          <a:ea typeface="Yekan Bakh" pitchFamily="2" charset="-78"/>
                          <a:cs typeface="Yekan Bakh" pitchFamily="2" charset="-78"/>
                        </a:rPr>
                        <a:t>به</a:t>
                      </a:r>
                      <a:r>
                        <a:rPr lang="en-US" sz="600" b="1"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600" b="1" i="0" kern="1200" dirty="0" err="1">
                          <a:solidFill>
                            <a:schemeClr val="tx1">
                              <a:lumMod val="75000"/>
                              <a:lumOff val="25000"/>
                            </a:schemeClr>
                          </a:solidFill>
                          <a:effectLst/>
                          <a:latin typeface="Yekan Bakh" pitchFamily="2" charset="-78"/>
                          <a:ea typeface="Yekan Bakh" pitchFamily="2" charset="-78"/>
                          <a:cs typeface="Yekan Bakh" pitchFamily="2" charset="-78"/>
                        </a:rPr>
                        <a:t>نقل</a:t>
                      </a:r>
                      <a:r>
                        <a:rPr lang="en-US" sz="600" b="1"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600" b="1" i="0" kern="1200" dirty="0" err="1">
                          <a:solidFill>
                            <a:schemeClr val="tx1">
                              <a:lumMod val="75000"/>
                              <a:lumOff val="25000"/>
                            </a:schemeClr>
                          </a:solidFill>
                          <a:effectLst/>
                          <a:latin typeface="Yekan Bakh" pitchFamily="2" charset="-78"/>
                          <a:ea typeface="Yekan Bakh" pitchFamily="2" charset="-78"/>
                          <a:cs typeface="Yekan Bakh" pitchFamily="2" charset="-78"/>
                        </a:rPr>
                        <a:t>Wamda</a:t>
                      </a:r>
                      <a:r>
                        <a:rPr lang="en-US" sz="600" b="1" i="0" kern="1200" dirty="0">
                          <a:solidFill>
                            <a:schemeClr val="tx1">
                              <a:lumMod val="75000"/>
                              <a:lumOff val="25000"/>
                            </a:schemeClr>
                          </a:solidFill>
                          <a:effectLst/>
                          <a:latin typeface="Yekan Bakh" pitchFamily="2" charset="-78"/>
                          <a:ea typeface="Yekan Bakh" pitchFamily="2" charset="-78"/>
                          <a:cs typeface="Yekan Bakh" pitchFamily="2" charset="-78"/>
                        </a:rPr>
                        <a:t>، Alpaca)</a:t>
                      </a:r>
                      <a:endParaRPr lang="en-GB" sz="600" b="1" i="0" kern="1200" dirty="0">
                        <a:solidFill>
                          <a:schemeClr val="tx1">
                            <a:lumMod val="75000"/>
                            <a:lumOff val="25000"/>
                          </a:schemeClr>
                        </a:solidFill>
                        <a:effectLst/>
                        <a:latin typeface="Yekan Bakh" pitchFamily="2" charset="-78"/>
                        <a:ea typeface="Yekan Bakh" pitchFamily="2" charset="-78"/>
                        <a:cs typeface="Yekan Bakh" pitchFamily="2" charset="-78"/>
                      </a:endParaRPr>
                    </a:p>
                  </a:txBody>
                  <a:tcPr marL="49037" marR="49037" marT="24518" marB="24518" anchor="ctr">
                    <a:solidFill>
                      <a:schemeClr val="bg1">
                        <a:lumMod val="95000"/>
                      </a:schemeClr>
                    </a:solidFill>
                  </a:tcPr>
                </a:tc>
                <a:extLst>
                  <a:ext uri="{0D108BD9-81ED-4DB2-BD59-A6C34878D82A}">
                    <a16:rowId xmlns:a16="http://schemas.microsoft.com/office/drawing/2014/main" val="3475606269"/>
                  </a:ext>
                </a:extLst>
              </a:tr>
              <a:tr h="215141">
                <a:tc>
                  <a:txBody>
                    <a:bodyPr/>
                    <a:lstStyle/>
                    <a:p>
                      <a:pPr algn="ctr" rtl="1"/>
                      <a:r>
                        <a:rPr lang="fa-IR" sz="600" kern="1200" dirty="0">
                          <a:solidFill>
                            <a:schemeClr val="tx1">
                              <a:lumMod val="75000"/>
                              <a:lumOff val="25000"/>
                            </a:schemeClr>
                          </a:solidFill>
                          <a:latin typeface="Yekan Bakh" pitchFamily="2" charset="-78"/>
                          <a:ea typeface="Yekan Bakh" pitchFamily="2" charset="-78"/>
                          <a:cs typeface="Yekan Bakh" pitchFamily="2" charset="-78"/>
                        </a:rPr>
                        <a:t>۱۴۰۴</a:t>
                      </a:r>
                      <a:endParaRPr lang="en-GB" sz="600" kern="1200" dirty="0">
                        <a:solidFill>
                          <a:schemeClr val="tx1">
                            <a:lumMod val="75000"/>
                            <a:lumOff val="25000"/>
                          </a:schemeClr>
                        </a:solidFill>
                        <a:latin typeface="Yekan Bakh" pitchFamily="2" charset="-78"/>
                        <a:ea typeface="Yekan Bakh" pitchFamily="2" charset="-78"/>
                        <a:cs typeface="Yekan Bakh" pitchFamily="2" charset="-78"/>
                      </a:endParaRPr>
                    </a:p>
                  </a:txBody>
                  <a:tcPr marL="49037" marR="49037" marT="24518" marB="24518" anchor="ctr">
                    <a:solidFill>
                      <a:schemeClr val="bg1">
                        <a:lumMod val="95000"/>
                      </a:schemeClr>
                    </a:solidFill>
                  </a:tcPr>
                </a:tc>
                <a:tc>
                  <a:txBody>
                    <a:bodyPr/>
                    <a:lstStyle/>
                    <a:p>
                      <a:pPr algn="ctr" rtl="1"/>
                      <a:r>
                        <a:rPr lang="en-US" sz="600" b="1" i="0" kern="1200" dirty="0" err="1">
                          <a:solidFill>
                            <a:schemeClr val="tx1">
                              <a:lumMod val="75000"/>
                              <a:lumOff val="25000"/>
                            </a:schemeClr>
                          </a:solidFill>
                          <a:effectLst/>
                          <a:latin typeface="Yekan Bakh" pitchFamily="2" charset="-78"/>
                          <a:ea typeface="Yekan Bakh" pitchFamily="2" charset="-78"/>
                          <a:cs typeface="Yekan Bakh" pitchFamily="2" charset="-78"/>
                        </a:rPr>
                        <a:t>اتاق</a:t>
                      </a:r>
                      <a:r>
                        <a:rPr lang="en-US" sz="600" b="1"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600" b="1" i="0" kern="1200" dirty="0" err="1">
                          <a:solidFill>
                            <a:schemeClr val="tx1">
                              <a:lumMod val="75000"/>
                              <a:lumOff val="25000"/>
                            </a:schemeClr>
                          </a:solidFill>
                          <a:effectLst/>
                          <a:latin typeface="Yekan Bakh" pitchFamily="2" charset="-78"/>
                          <a:ea typeface="Yekan Bakh" pitchFamily="2" charset="-78"/>
                          <a:cs typeface="Yekan Bakh" pitchFamily="2" charset="-78"/>
                        </a:rPr>
                        <a:t>بازرگانی</a:t>
                      </a:r>
                      <a:r>
                        <a:rPr lang="en-US" sz="600" b="1"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600" b="1" i="0" kern="1200" dirty="0" err="1">
                          <a:solidFill>
                            <a:schemeClr val="tx1">
                              <a:lumMod val="75000"/>
                              <a:lumOff val="25000"/>
                            </a:schemeClr>
                          </a:solidFill>
                          <a:effectLst/>
                          <a:latin typeface="Yekan Bakh" pitchFamily="2" charset="-78"/>
                          <a:ea typeface="Yekan Bakh" pitchFamily="2" charset="-78"/>
                          <a:cs typeface="Yekan Bakh" pitchFamily="2" charset="-78"/>
                        </a:rPr>
                        <a:t>تهران</a:t>
                      </a:r>
                      <a:r>
                        <a:rPr lang="en-US" sz="600" b="1" i="0" kern="1200" dirty="0">
                          <a:solidFill>
                            <a:schemeClr val="tx1">
                              <a:lumMod val="75000"/>
                              <a:lumOff val="25000"/>
                            </a:schemeClr>
                          </a:solidFill>
                          <a:effectLst/>
                          <a:latin typeface="Yekan Bakh" pitchFamily="2" charset="-78"/>
                          <a:ea typeface="Yekan Bakh" pitchFamily="2" charset="-78"/>
                          <a:cs typeface="Yekan Bakh" pitchFamily="2" charset="-78"/>
                        </a:rPr>
                        <a:t> / </a:t>
                      </a:r>
                      <a:r>
                        <a:rPr lang="en-US" sz="600" b="1" i="0" kern="1200" dirty="0" err="1">
                          <a:solidFill>
                            <a:schemeClr val="tx1">
                              <a:lumMod val="75000"/>
                              <a:lumOff val="25000"/>
                            </a:schemeClr>
                          </a:solidFill>
                          <a:effectLst/>
                          <a:latin typeface="Yekan Bakh" pitchFamily="2" charset="-78"/>
                          <a:ea typeface="Yekan Bakh" pitchFamily="2" charset="-78"/>
                          <a:cs typeface="Yekan Bakh" pitchFamily="2" charset="-78"/>
                        </a:rPr>
                        <a:t>سازمان</a:t>
                      </a:r>
                      <a:r>
                        <a:rPr lang="en-US" sz="600" b="1"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600" b="1" i="0" kern="1200" dirty="0" err="1">
                          <a:solidFill>
                            <a:schemeClr val="tx1">
                              <a:lumMod val="75000"/>
                              <a:lumOff val="25000"/>
                            </a:schemeClr>
                          </a:solidFill>
                          <a:effectLst/>
                          <a:latin typeface="Yekan Bakh" pitchFamily="2" charset="-78"/>
                          <a:ea typeface="Yekan Bakh" pitchFamily="2" charset="-78"/>
                          <a:cs typeface="Yekan Bakh" pitchFamily="2" charset="-78"/>
                        </a:rPr>
                        <a:t>توسعه</a:t>
                      </a:r>
                      <a:r>
                        <a:rPr lang="en-US" sz="600" b="1"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600" b="1" i="0" kern="1200" dirty="0" err="1">
                          <a:solidFill>
                            <a:schemeClr val="tx1">
                              <a:lumMod val="75000"/>
                              <a:lumOff val="25000"/>
                            </a:schemeClr>
                          </a:solidFill>
                          <a:effectLst/>
                          <a:latin typeface="Yekan Bakh" pitchFamily="2" charset="-78"/>
                          <a:ea typeface="Yekan Bakh" pitchFamily="2" charset="-78"/>
                          <a:cs typeface="Yekan Bakh" pitchFamily="2" charset="-78"/>
                        </a:rPr>
                        <a:t>تجارت</a:t>
                      </a:r>
                      <a:r>
                        <a:rPr lang="en-US" sz="600" b="1"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600" b="1" i="0" kern="1200" dirty="0" err="1">
                          <a:solidFill>
                            <a:schemeClr val="tx1">
                              <a:lumMod val="75000"/>
                              <a:lumOff val="25000"/>
                            </a:schemeClr>
                          </a:solidFill>
                          <a:effectLst/>
                          <a:latin typeface="Yekan Bakh" pitchFamily="2" charset="-78"/>
                          <a:ea typeface="Yekan Bakh" pitchFamily="2" charset="-78"/>
                          <a:cs typeface="Yekan Bakh" pitchFamily="2" charset="-78"/>
                        </a:rPr>
                        <a:t>ایران</a:t>
                      </a:r>
                      <a:r>
                        <a:rPr lang="en-US" sz="600" b="1" i="0" kern="1200" dirty="0">
                          <a:solidFill>
                            <a:schemeClr val="tx1">
                              <a:lumMod val="75000"/>
                              <a:lumOff val="25000"/>
                            </a:schemeClr>
                          </a:solidFill>
                          <a:effectLst/>
                          <a:latin typeface="Yekan Bakh" pitchFamily="2" charset="-78"/>
                          <a:ea typeface="Yekan Bakh" pitchFamily="2" charset="-78"/>
                          <a:cs typeface="Yekan Bakh" pitchFamily="2" charset="-78"/>
                        </a:rPr>
                        <a:t> — </a:t>
                      </a:r>
                      <a:r>
                        <a:rPr lang="en-US" sz="600" b="1" i="0" kern="1200" dirty="0" err="1">
                          <a:solidFill>
                            <a:schemeClr val="tx1">
                              <a:lumMod val="75000"/>
                              <a:lumOff val="25000"/>
                            </a:schemeClr>
                          </a:solidFill>
                          <a:effectLst/>
                          <a:latin typeface="Yekan Bakh" pitchFamily="2" charset="-78"/>
                          <a:ea typeface="Yekan Bakh" pitchFamily="2" charset="-78"/>
                          <a:cs typeface="Yekan Bakh" pitchFamily="2" charset="-78"/>
                        </a:rPr>
                        <a:t>نشست</a:t>
                      </a:r>
                      <a:r>
                        <a:rPr lang="en-US" sz="600" b="1"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600" b="1" i="0" kern="1200" dirty="0" err="1">
                          <a:solidFill>
                            <a:schemeClr val="tx1">
                              <a:lumMod val="75000"/>
                              <a:lumOff val="25000"/>
                            </a:schemeClr>
                          </a:solidFill>
                          <a:effectLst/>
                          <a:latin typeface="Yekan Bakh" pitchFamily="2" charset="-78"/>
                          <a:ea typeface="Yekan Bakh" pitchFamily="2" charset="-78"/>
                          <a:cs typeface="Yekan Bakh" pitchFamily="2" charset="-78"/>
                        </a:rPr>
                        <a:t>هیأت</a:t>
                      </a:r>
                      <a:r>
                        <a:rPr lang="en-US" sz="600" b="1"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600" b="1" i="0" kern="1200" dirty="0" err="1">
                          <a:solidFill>
                            <a:schemeClr val="tx1">
                              <a:lumMod val="75000"/>
                              <a:lumOff val="25000"/>
                            </a:schemeClr>
                          </a:solidFill>
                          <a:effectLst/>
                          <a:latin typeface="Yekan Bakh" pitchFamily="2" charset="-78"/>
                          <a:ea typeface="Yekan Bakh" pitchFamily="2" charset="-78"/>
                          <a:cs typeface="Yekan Bakh" pitchFamily="2" charset="-78"/>
                        </a:rPr>
                        <a:t>نمایندگان</a:t>
                      </a:r>
                      <a:endParaRPr lang="en-GB" sz="600" b="1" i="0" kern="1200" dirty="0">
                        <a:solidFill>
                          <a:schemeClr val="tx1">
                            <a:lumMod val="75000"/>
                            <a:lumOff val="25000"/>
                          </a:schemeClr>
                        </a:solidFill>
                        <a:effectLst/>
                        <a:latin typeface="Yekan Bakh" pitchFamily="2" charset="-78"/>
                        <a:ea typeface="Yekan Bakh" pitchFamily="2" charset="-78"/>
                        <a:cs typeface="Yekan Bakh" pitchFamily="2" charset="-78"/>
                      </a:endParaRPr>
                    </a:p>
                  </a:txBody>
                  <a:tcPr marL="49037" marR="49037" marT="24518" marB="24518" anchor="ctr">
                    <a:solidFill>
                      <a:schemeClr val="bg1">
                        <a:lumMod val="95000"/>
                      </a:schemeClr>
                    </a:solidFill>
                  </a:tcPr>
                </a:tc>
                <a:extLst>
                  <a:ext uri="{0D108BD9-81ED-4DB2-BD59-A6C34878D82A}">
                    <a16:rowId xmlns:a16="http://schemas.microsoft.com/office/drawing/2014/main" val="2346503417"/>
                  </a:ext>
                </a:extLst>
              </a:tr>
              <a:tr h="215141">
                <a:tc>
                  <a:txBody>
                    <a:bodyPr/>
                    <a:lstStyle/>
                    <a:p>
                      <a:pPr algn="ctr" rtl="1"/>
                      <a:r>
                        <a:rPr lang="fa-IR" sz="600" kern="1200" dirty="0">
                          <a:solidFill>
                            <a:schemeClr val="tx1">
                              <a:lumMod val="75000"/>
                              <a:lumOff val="25000"/>
                            </a:schemeClr>
                          </a:solidFill>
                          <a:latin typeface="Yekan Bakh" pitchFamily="2" charset="-78"/>
                          <a:ea typeface="Yekan Bakh" pitchFamily="2" charset="-78"/>
                          <a:cs typeface="Yekan Bakh" pitchFamily="2" charset="-78"/>
                        </a:rPr>
                        <a:t>۱۴۰۴</a:t>
                      </a:r>
                      <a:endParaRPr lang="en-GB" sz="600" kern="1200" dirty="0">
                        <a:solidFill>
                          <a:schemeClr val="tx1">
                            <a:lumMod val="75000"/>
                            <a:lumOff val="25000"/>
                          </a:schemeClr>
                        </a:solidFill>
                        <a:latin typeface="Yekan Bakh" pitchFamily="2" charset="-78"/>
                        <a:ea typeface="Yekan Bakh" pitchFamily="2" charset="-78"/>
                        <a:cs typeface="Yekan Bakh" pitchFamily="2" charset="-78"/>
                      </a:endParaRPr>
                    </a:p>
                  </a:txBody>
                  <a:tcPr marL="49037" marR="49037" marT="24518" marB="24518" anchor="ctr">
                    <a:solidFill>
                      <a:schemeClr val="bg1">
                        <a:lumMod val="95000"/>
                      </a:schemeClr>
                    </a:solidFill>
                  </a:tcPr>
                </a:tc>
                <a:tc>
                  <a:txBody>
                    <a:bodyPr/>
                    <a:lstStyle/>
                    <a:p>
                      <a:pPr algn="ctr" rtl="1"/>
                      <a:r>
                        <a:rPr lang="fa-IR" sz="600" b="1" i="0" kern="1200" dirty="0">
                          <a:solidFill>
                            <a:schemeClr val="tx1">
                              <a:lumMod val="75000"/>
                              <a:lumOff val="25000"/>
                            </a:schemeClr>
                          </a:solidFill>
                          <a:effectLst/>
                          <a:latin typeface="Yekan Bakh" pitchFamily="2" charset="-78"/>
                          <a:ea typeface="Yekan Bakh" pitchFamily="2" charset="-78"/>
                          <a:cs typeface="Yekan Bakh" pitchFamily="2" charset="-78"/>
                        </a:rPr>
                        <a:t>دنیای اقتصاد — گزارش تجارت خارجی و صادرات ایران</a:t>
                      </a:r>
                      <a:endParaRPr lang="en-GB" sz="600" b="1" i="0" kern="1200" dirty="0">
                        <a:solidFill>
                          <a:schemeClr val="tx1">
                            <a:lumMod val="75000"/>
                            <a:lumOff val="25000"/>
                          </a:schemeClr>
                        </a:solidFill>
                        <a:effectLst/>
                        <a:latin typeface="Yekan Bakh" pitchFamily="2" charset="-78"/>
                        <a:ea typeface="Yekan Bakh" pitchFamily="2" charset="-78"/>
                        <a:cs typeface="Yekan Bakh" pitchFamily="2" charset="-78"/>
                      </a:endParaRPr>
                    </a:p>
                  </a:txBody>
                  <a:tcPr marL="49037" marR="49037" marT="24518" marB="24518" anchor="ctr">
                    <a:solidFill>
                      <a:schemeClr val="bg1">
                        <a:lumMod val="95000"/>
                      </a:schemeClr>
                    </a:solidFill>
                  </a:tcPr>
                </a:tc>
                <a:extLst>
                  <a:ext uri="{0D108BD9-81ED-4DB2-BD59-A6C34878D82A}">
                    <a16:rowId xmlns:a16="http://schemas.microsoft.com/office/drawing/2014/main" val="1209682348"/>
                  </a:ext>
                </a:extLst>
              </a:tr>
              <a:tr h="215141">
                <a:tc>
                  <a:txBody>
                    <a:bodyPr/>
                    <a:lstStyle/>
                    <a:p>
                      <a:pPr algn="ctr" rtl="1"/>
                      <a:r>
                        <a:rPr lang="fa-IR" sz="600" kern="1200" dirty="0">
                          <a:solidFill>
                            <a:schemeClr val="tx1">
                              <a:lumMod val="75000"/>
                              <a:lumOff val="25000"/>
                            </a:schemeClr>
                          </a:solidFill>
                          <a:latin typeface="Yekan Bakh" pitchFamily="2" charset="-78"/>
                          <a:ea typeface="Yekan Bakh" pitchFamily="2" charset="-78"/>
                          <a:cs typeface="Yekan Bakh" pitchFamily="2" charset="-78"/>
                        </a:rPr>
                        <a:t>زمستان ۱۴۰۴</a:t>
                      </a:r>
                      <a:endParaRPr lang="en-GB" sz="600" kern="1200" dirty="0">
                        <a:solidFill>
                          <a:schemeClr val="tx1">
                            <a:lumMod val="75000"/>
                            <a:lumOff val="25000"/>
                          </a:schemeClr>
                        </a:solidFill>
                        <a:latin typeface="Yekan Bakh" pitchFamily="2" charset="-78"/>
                        <a:ea typeface="Yekan Bakh" pitchFamily="2" charset="-78"/>
                        <a:cs typeface="Yekan Bakh" pitchFamily="2" charset="-78"/>
                      </a:endParaRPr>
                    </a:p>
                  </a:txBody>
                  <a:tcPr marL="49037" marR="49037" marT="24518" marB="24518" anchor="ctr">
                    <a:solidFill>
                      <a:schemeClr val="bg1">
                        <a:lumMod val="95000"/>
                      </a:schemeClr>
                    </a:solidFill>
                  </a:tcPr>
                </a:tc>
                <a:tc>
                  <a:txBody>
                    <a:bodyPr/>
                    <a:lstStyle/>
                    <a:p>
                      <a:pPr algn="ctr" rtl="1"/>
                      <a:r>
                        <a:rPr lang="en-US" sz="600" b="1" i="0" kern="1200" dirty="0" err="1">
                          <a:solidFill>
                            <a:schemeClr val="tx1">
                              <a:lumMod val="75000"/>
                              <a:lumOff val="25000"/>
                            </a:schemeClr>
                          </a:solidFill>
                          <a:effectLst/>
                          <a:latin typeface="Yekan Bakh" pitchFamily="2" charset="-78"/>
                          <a:ea typeface="Yekan Bakh" pitchFamily="2" charset="-78"/>
                          <a:cs typeface="Yekan Bakh" pitchFamily="2" charset="-78"/>
                        </a:rPr>
                        <a:t>تجارت</a:t>
                      </a:r>
                      <a:r>
                        <a:rPr lang="en-US" sz="600" b="1"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600" b="1" i="0" kern="1200" dirty="0" err="1">
                          <a:solidFill>
                            <a:schemeClr val="tx1">
                              <a:lumMod val="75000"/>
                              <a:lumOff val="25000"/>
                            </a:schemeClr>
                          </a:solidFill>
                          <a:effectLst/>
                          <a:latin typeface="Yekan Bakh" pitchFamily="2" charset="-78"/>
                          <a:ea typeface="Yekan Bakh" pitchFamily="2" charset="-78"/>
                          <a:cs typeface="Yekan Bakh" pitchFamily="2" charset="-78"/>
                        </a:rPr>
                        <a:t>فردا</a:t>
                      </a:r>
                      <a:r>
                        <a:rPr lang="en-US" sz="600" b="1" i="0" kern="1200" dirty="0">
                          <a:solidFill>
                            <a:schemeClr val="tx1">
                              <a:lumMod val="75000"/>
                              <a:lumOff val="25000"/>
                            </a:schemeClr>
                          </a:solidFill>
                          <a:effectLst/>
                          <a:latin typeface="Yekan Bakh" pitchFamily="2" charset="-78"/>
                          <a:ea typeface="Yekan Bakh" pitchFamily="2" charset="-78"/>
                          <a:cs typeface="Yekan Bakh" pitchFamily="2" charset="-78"/>
                        </a:rPr>
                        <a:t> / </a:t>
                      </a:r>
                      <a:r>
                        <a:rPr lang="en-US" sz="600" b="1" i="0" kern="1200" dirty="0" err="1">
                          <a:solidFill>
                            <a:schemeClr val="tx1">
                              <a:lumMod val="75000"/>
                              <a:lumOff val="25000"/>
                            </a:schemeClr>
                          </a:solidFill>
                          <a:effectLst/>
                          <a:latin typeface="Yekan Bakh" pitchFamily="2" charset="-78"/>
                          <a:ea typeface="Yekan Bakh" pitchFamily="2" charset="-78"/>
                          <a:cs typeface="Yekan Bakh" pitchFamily="2" charset="-78"/>
                        </a:rPr>
                        <a:t>اکوایران</a:t>
                      </a:r>
                      <a:r>
                        <a:rPr lang="en-US" sz="600" b="1" i="0" kern="1200" dirty="0">
                          <a:solidFill>
                            <a:schemeClr val="tx1">
                              <a:lumMod val="75000"/>
                              <a:lumOff val="25000"/>
                            </a:schemeClr>
                          </a:solidFill>
                          <a:effectLst/>
                          <a:latin typeface="Yekan Bakh" pitchFamily="2" charset="-78"/>
                          <a:ea typeface="Yekan Bakh" pitchFamily="2" charset="-78"/>
                          <a:cs typeface="Yekan Bakh" pitchFamily="2" charset="-78"/>
                        </a:rPr>
                        <a:t> — </a:t>
                      </a:r>
                      <a:r>
                        <a:rPr lang="en-US" sz="600" b="1" i="0" kern="1200" dirty="0" err="1">
                          <a:solidFill>
                            <a:schemeClr val="tx1">
                              <a:lumMod val="75000"/>
                              <a:lumOff val="25000"/>
                            </a:schemeClr>
                          </a:solidFill>
                          <a:effectLst/>
                          <a:latin typeface="Yekan Bakh" pitchFamily="2" charset="-78"/>
                          <a:ea typeface="Yekan Bakh" pitchFamily="2" charset="-78"/>
                          <a:cs typeface="Yekan Bakh" pitchFamily="2" charset="-78"/>
                        </a:rPr>
                        <a:t>شاخص</a:t>
                      </a:r>
                      <a:r>
                        <a:rPr lang="en-US" sz="600" b="1"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600" b="1" i="0" kern="1200" dirty="0" err="1">
                          <a:solidFill>
                            <a:schemeClr val="tx1">
                              <a:lumMod val="75000"/>
                              <a:lumOff val="25000"/>
                            </a:schemeClr>
                          </a:solidFill>
                          <a:effectLst/>
                          <a:latin typeface="Yekan Bakh" pitchFamily="2" charset="-78"/>
                          <a:ea typeface="Yekan Bakh" pitchFamily="2" charset="-78"/>
                          <a:cs typeface="Yekan Bakh" pitchFamily="2" charset="-78"/>
                        </a:rPr>
                        <a:t>ملی</a:t>
                      </a:r>
                      <a:r>
                        <a:rPr lang="en-US" sz="600" b="1"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600" b="1" i="0" kern="1200" dirty="0" err="1">
                          <a:solidFill>
                            <a:schemeClr val="tx1">
                              <a:lumMod val="75000"/>
                              <a:lumOff val="25000"/>
                            </a:schemeClr>
                          </a:solidFill>
                          <a:effectLst/>
                          <a:latin typeface="Yekan Bakh" pitchFamily="2" charset="-78"/>
                          <a:ea typeface="Yekan Bakh" pitchFamily="2" charset="-78"/>
                          <a:cs typeface="Yekan Bakh" pitchFamily="2" charset="-78"/>
                        </a:rPr>
                        <a:t>محیط</a:t>
                      </a:r>
                      <a:r>
                        <a:rPr lang="en-US" sz="600" b="1"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600" b="1" i="0" kern="1200" dirty="0" err="1">
                          <a:solidFill>
                            <a:schemeClr val="tx1">
                              <a:lumMod val="75000"/>
                              <a:lumOff val="25000"/>
                            </a:schemeClr>
                          </a:solidFill>
                          <a:effectLst/>
                          <a:latin typeface="Yekan Bakh" pitchFamily="2" charset="-78"/>
                          <a:ea typeface="Yekan Bakh" pitchFamily="2" charset="-78"/>
                          <a:cs typeface="Yekan Bakh" pitchFamily="2" charset="-78"/>
                        </a:rPr>
                        <a:t>کسب‌وکار</a:t>
                      </a:r>
                      <a:endParaRPr lang="en-GB" sz="600" b="1" i="0" kern="1200" dirty="0">
                        <a:solidFill>
                          <a:schemeClr val="tx1">
                            <a:lumMod val="75000"/>
                            <a:lumOff val="25000"/>
                          </a:schemeClr>
                        </a:solidFill>
                        <a:effectLst/>
                        <a:latin typeface="Yekan Bakh" pitchFamily="2" charset="-78"/>
                        <a:ea typeface="Yekan Bakh" pitchFamily="2" charset="-78"/>
                        <a:cs typeface="Yekan Bakh" pitchFamily="2" charset="-78"/>
                      </a:endParaRPr>
                    </a:p>
                  </a:txBody>
                  <a:tcPr marL="49037" marR="49037" marT="24518" marB="24518" anchor="ctr">
                    <a:solidFill>
                      <a:schemeClr val="bg1">
                        <a:lumMod val="95000"/>
                      </a:schemeClr>
                    </a:solidFill>
                  </a:tcPr>
                </a:tc>
                <a:extLst>
                  <a:ext uri="{0D108BD9-81ED-4DB2-BD59-A6C34878D82A}">
                    <a16:rowId xmlns:a16="http://schemas.microsoft.com/office/drawing/2014/main" val="4289531995"/>
                  </a:ext>
                </a:extLst>
              </a:tr>
              <a:tr h="215141">
                <a:tc>
                  <a:txBody>
                    <a:bodyPr/>
                    <a:lstStyle/>
                    <a:p>
                      <a:pPr algn="ctr" rtl="1"/>
                      <a:r>
                        <a:rPr lang="fa-IR" sz="600" kern="1200" dirty="0">
                          <a:solidFill>
                            <a:schemeClr val="tx1">
                              <a:lumMod val="75000"/>
                              <a:lumOff val="25000"/>
                            </a:schemeClr>
                          </a:solidFill>
                          <a:latin typeface="Yekan Bakh" pitchFamily="2" charset="-78"/>
                          <a:ea typeface="Yekan Bakh" pitchFamily="2" charset="-78"/>
                          <a:cs typeface="Yekan Bakh" pitchFamily="2" charset="-78"/>
                        </a:rPr>
                        <a:t>۱۴۰۳–۱۴۰۴</a:t>
                      </a:r>
                      <a:endParaRPr lang="en-GB" sz="600" kern="1200" dirty="0">
                        <a:solidFill>
                          <a:schemeClr val="tx1">
                            <a:lumMod val="75000"/>
                            <a:lumOff val="25000"/>
                          </a:schemeClr>
                        </a:solidFill>
                        <a:latin typeface="Yekan Bakh" pitchFamily="2" charset="-78"/>
                        <a:ea typeface="Yekan Bakh" pitchFamily="2" charset="-78"/>
                        <a:cs typeface="Yekan Bakh" pitchFamily="2" charset="-78"/>
                      </a:endParaRPr>
                    </a:p>
                  </a:txBody>
                  <a:tcPr marL="49037" marR="49037" marT="24518" marB="24518" anchor="ctr">
                    <a:solidFill>
                      <a:schemeClr val="bg1">
                        <a:lumMod val="95000"/>
                      </a:schemeClr>
                    </a:solidFill>
                  </a:tcPr>
                </a:tc>
                <a:tc>
                  <a:txBody>
                    <a:bodyPr/>
                    <a:lstStyle/>
                    <a:p>
                      <a:pPr algn="ctr" rtl="1"/>
                      <a:r>
                        <a:rPr lang="fa-IR" sz="600" b="1" i="0" kern="1200" dirty="0">
                          <a:solidFill>
                            <a:schemeClr val="tx1">
                              <a:lumMod val="75000"/>
                              <a:lumOff val="25000"/>
                            </a:schemeClr>
                          </a:solidFill>
                          <a:effectLst/>
                          <a:latin typeface="Yekan Bakh" pitchFamily="2" charset="-78"/>
                          <a:ea typeface="Yekan Bakh" pitchFamily="2" charset="-78"/>
                          <a:cs typeface="Yekan Bakh" pitchFamily="2" charset="-78"/>
                        </a:rPr>
                        <a:t>سازمان بورس و اوراق بهادار (</a:t>
                      </a:r>
                      <a:r>
                        <a:rPr lang="en-GB" sz="600" b="1" i="0" kern="1200" dirty="0">
                          <a:solidFill>
                            <a:schemeClr val="tx1">
                              <a:lumMod val="75000"/>
                              <a:lumOff val="25000"/>
                            </a:schemeClr>
                          </a:solidFill>
                          <a:effectLst/>
                          <a:latin typeface="Yekan Bakh" pitchFamily="2" charset="-78"/>
                          <a:ea typeface="Yekan Bakh" pitchFamily="2" charset="-78"/>
                          <a:cs typeface="Yekan Bakh" pitchFamily="2" charset="-78"/>
                        </a:rPr>
                        <a:t>SEO) / </a:t>
                      </a:r>
                      <a:r>
                        <a:rPr lang="fa-IR" sz="600" b="1" i="0" kern="1200" dirty="0">
                          <a:solidFill>
                            <a:schemeClr val="tx1">
                              <a:lumMod val="75000"/>
                              <a:lumOff val="25000"/>
                            </a:schemeClr>
                          </a:solidFill>
                          <a:effectLst/>
                          <a:latin typeface="Yekan Bakh" pitchFamily="2" charset="-78"/>
                          <a:ea typeface="Yekan Bakh" pitchFamily="2" charset="-78"/>
                          <a:cs typeface="Yekan Bakh" pitchFamily="2" charset="-78"/>
                        </a:rPr>
                        <a:t>کدال / </a:t>
                      </a:r>
                      <a:r>
                        <a:rPr lang="en-GB" sz="600" b="1" i="0" kern="1200" dirty="0">
                          <a:solidFill>
                            <a:schemeClr val="tx1">
                              <a:lumMod val="75000"/>
                              <a:lumOff val="25000"/>
                            </a:schemeClr>
                          </a:solidFill>
                          <a:effectLst/>
                          <a:latin typeface="Yekan Bakh" pitchFamily="2" charset="-78"/>
                          <a:ea typeface="Yekan Bakh" pitchFamily="2" charset="-78"/>
                          <a:cs typeface="Yekan Bakh" pitchFamily="2" charset="-78"/>
                        </a:rPr>
                        <a:t>TSE / IFB — </a:t>
                      </a:r>
                      <a:r>
                        <a:rPr lang="fa-IR" sz="600" b="1" i="0" kern="1200" dirty="0">
                          <a:solidFill>
                            <a:schemeClr val="tx1">
                              <a:lumMod val="75000"/>
                              <a:lumOff val="25000"/>
                            </a:schemeClr>
                          </a:solidFill>
                          <a:effectLst/>
                          <a:latin typeface="Yekan Bakh" pitchFamily="2" charset="-78"/>
                          <a:ea typeface="Yekan Bakh" pitchFamily="2" charset="-78"/>
                          <a:cs typeface="Yekan Bakh" pitchFamily="2" charset="-78"/>
                        </a:rPr>
                        <a:t>آمار بازار سرمایه ایران</a:t>
                      </a:r>
                      <a:endParaRPr lang="en-GB" sz="600" b="1" i="0" kern="1200" dirty="0">
                        <a:solidFill>
                          <a:schemeClr val="tx1">
                            <a:lumMod val="75000"/>
                            <a:lumOff val="25000"/>
                          </a:schemeClr>
                        </a:solidFill>
                        <a:effectLst/>
                        <a:latin typeface="Yekan Bakh" pitchFamily="2" charset="-78"/>
                        <a:ea typeface="Yekan Bakh" pitchFamily="2" charset="-78"/>
                        <a:cs typeface="Yekan Bakh" pitchFamily="2" charset="-78"/>
                      </a:endParaRPr>
                    </a:p>
                  </a:txBody>
                  <a:tcPr marL="49037" marR="49037" marT="24518" marB="24518" anchor="ctr">
                    <a:solidFill>
                      <a:schemeClr val="bg1">
                        <a:lumMod val="95000"/>
                      </a:schemeClr>
                    </a:solidFill>
                  </a:tcPr>
                </a:tc>
                <a:extLst>
                  <a:ext uri="{0D108BD9-81ED-4DB2-BD59-A6C34878D82A}">
                    <a16:rowId xmlns:a16="http://schemas.microsoft.com/office/drawing/2014/main" val="2590550725"/>
                  </a:ext>
                </a:extLst>
              </a:tr>
            </a:tbl>
          </a:graphicData>
        </a:graphic>
      </p:graphicFrame>
      <p:sp>
        <p:nvSpPr>
          <p:cNvPr id="16" name="Rectangle: Rounded Corners 15">
            <a:extLst>
              <a:ext uri="{FF2B5EF4-FFF2-40B4-BE49-F238E27FC236}">
                <a16:creationId xmlns:a16="http://schemas.microsoft.com/office/drawing/2014/main" id="{06208355-95EF-30A7-3AD4-E9AE6201ADBF}"/>
              </a:ext>
            </a:extLst>
          </p:cNvPr>
          <p:cNvSpPr/>
          <p:nvPr/>
        </p:nvSpPr>
        <p:spPr>
          <a:xfrm>
            <a:off x="1100745" y="4186965"/>
            <a:ext cx="4959504" cy="1595932"/>
          </a:xfrm>
          <a:prstGeom prst="roundRect">
            <a:avLst>
              <a:gd name="adj" fmla="val 4938"/>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en-US" sz="900" b="1" i="0" u="none" strike="noStrike" kern="1200" cap="all" spc="0" normalizeH="0" baseline="0" noProof="0" dirty="0" err="1">
                <a:ln>
                  <a:noFill/>
                </a:ln>
                <a:solidFill>
                  <a:prstClr val="black">
                    <a:lumMod val="50000"/>
                    <a:lumOff val="50000"/>
                  </a:prstClr>
                </a:solidFill>
                <a:effectLst/>
                <a:uLnTx/>
                <a:uFillTx/>
                <a:latin typeface="Yekan Bakh" pitchFamily="2" charset="-78"/>
                <a:ea typeface="Yekan Bakh" pitchFamily="2" charset="-78"/>
                <a:cs typeface="Yekan Bakh" pitchFamily="2" charset="-78"/>
              </a:rPr>
              <a:t>مخزن</a:t>
            </a:r>
            <a:r>
              <a:rPr kumimoji="0" lang="en-US" sz="900" b="1" i="0" u="none" strike="noStrike" kern="1200" cap="all"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 </a:t>
            </a:r>
            <a:r>
              <a:rPr kumimoji="0" lang="en-US" sz="900" b="1" i="0" u="none" strike="noStrike" kern="1200" cap="all" spc="0" normalizeH="0" baseline="0" noProof="0" dirty="0" err="1">
                <a:ln>
                  <a:noFill/>
                </a:ln>
                <a:solidFill>
                  <a:prstClr val="black">
                    <a:lumMod val="50000"/>
                    <a:lumOff val="50000"/>
                  </a:prstClr>
                </a:solidFill>
                <a:effectLst/>
                <a:uLnTx/>
                <a:uFillTx/>
                <a:latin typeface="Yekan Bakh" pitchFamily="2" charset="-78"/>
                <a:ea typeface="Yekan Bakh" pitchFamily="2" charset="-78"/>
                <a:cs typeface="Yekan Bakh" pitchFamily="2" charset="-78"/>
              </a:rPr>
              <a:t>اولیه</a:t>
            </a:r>
            <a:r>
              <a:rPr kumimoji="0" lang="en-US" sz="900" b="1" i="0" u="none" strike="noStrike" kern="1200" cap="all"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 </a:t>
            </a:r>
            <a:r>
              <a:rPr kumimoji="0" lang="en-US" sz="900" b="1" i="0" u="none" strike="noStrike" kern="1200" cap="all" spc="0" normalizeH="0" baseline="0" noProof="0" dirty="0" err="1">
                <a:ln>
                  <a:noFill/>
                </a:ln>
                <a:solidFill>
                  <a:prstClr val="black">
                    <a:lumMod val="50000"/>
                    <a:lumOff val="50000"/>
                  </a:prstClr>
                </a:solidFill>
                <a:effectLst/>
                <a:uLnTx/>
                <a:uFillTx/>
                <a:latin typeface="Yekan Bakh" pitchFamily="2" charset="-78"/>
                <a:ea typeface="Yekan Bakh" pitchFamily="2" charset="-78"/>
                <a:cs typeface="Yekan Bakh" pitchFamily="2" charset="-78"/>
              </a:rPr>
              <a:t>پروژه</a:t>
            </a:r>
            <a:r>
              <a:rPr kumimoji="0" lang="fa-IR" sz="900" b="1" i="0" u="none" strike="noStrike" kern="1200" cap="all"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 (</a:t>
            </a:r>
            <a:r>
              <a:rPr kumimoji="0" lang="en-US" sz="900" b="1" i="0" u="none" strike="noStrike" kern="1200" cap="all" spc="0" normalizeH="0" baseline="0" noProof="0" dirty="0" err="1">
                <a:ln>
                  <a:noFill/>
                </a:ln>
                <a:solidFill>
                  <a:prstClr val="black">
                    <a:lumMod val="50000"/>
                    <a:lumOff val="50000"/>
                  </a:prstClr>
                </a:solidFill>
                <a:effectLst/>
                <a:uLnTx/>
                <a:uFillTx/>
                <a:latin typeface="Yekan Bakh" pitchFamily="2" charset="-78"/>
                <a:ea typeface="Yekan Bakh" pitchFamily="2" charset="-78"/>
                <a:cs typeface="Yekan Bakh" pitchFamily="2" charset="-78"/>
              </a:rPr>
              <a:t>سند</a:t>
            </a:r>
            <a:r>
              <a:rPr kumimoji="0" lang="en-US" sz="900" b="1" i="0" u="none" strike="noStrike" kern="1200" cap="all"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 </a:t>
            </a:r>
            <a:r>
              <a:rPr kumimoji="0" lang="en-US" sz="900" b="1" i="0" u="none" strike="noStrike" kern="1200" cap="all" spc="0" normalizeH="0" baseline="0" noProof="0" dirty="0" err="1">
                <a:ln>
                  <a:noFill/>
                </a:ln>
                <a:solidFill>
                  <a:prstClr val="black">
                    <a:lumMod val="50000"/>
                    <a:lumOff val="50000"/>
                  </a:prstClr>
                </a:solidFill>
                <a:effectLst/>
                <a:uLnTx/>
                <a:uFillTx/>
                <a:latin typeface="Yekan Bakh" pitchFamily="2" charset="-78"/>
                <a:ea typeface="Yekan Bakh" pitchFamily="2" charset="-78"/>
                <a:cs typeface="Yekan Bakh" pitchFamily="2" charset="-78"/>
              </a:rPr>
              <a:t>داخلی</a:t>
            </a:r>
            <a:r>
              <a:rPr kumimoji="0" lang="en-US" sz="900" b="1" i="0" u="none" strike="noStrike" kern="1200" cap="all"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 — </a:t>
            </a:r>
            <a:r>
              <a:rPr kumimoji="0" lang="en-US" sz="900" b="1" i="0" u="none" strike="noStrike" kern="1200" cap="all" spc="0" normalizeH="0" baseline="0" noProof="0" dirty="0" err="1">
                <a:ln>
                  <a:noFill/>
                </a:ln>
                <a:solidFill>
                  <a:prstClr val="black">
                    <a:lumMod val="50000"/>
                    <a:lumOff val="50000"/>
                  </a:prstClr>
                </a:solidFill>
                <a:effectLst/>
                <a:uLnTx/>
                <a:uFillTx/>
                <a:latin typeface="Yekan Bakh" pitchFamily="2" charset="-78"/>
                <a:ea typeface="Yekan Bakh" pitchFamily="2" charset="-78"/>
                <a:cs typeface="Yekan Bakh" pitchFamily="2" charset="-78"/>
              </a:rPr>
              <a:t>کارهای</a:t>
            </a:r>
            <a:r>
              <a:rPr kumimoji="0" lang="en-US" sz="900" b="1" i="0" u="none" strike="noStrike" kern="1200" cap="all"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 </a:t>
            </a:r>
            <a:r>
              <a:rPr kumimoji="0" lang="en-US" sz="900" b="1" i="0" u="none" strike="noStrike" kern="1200" cap="all" spc="0" normalizeH="0" baseline="0" noProof="0" dirty="0" err="1">
                <a:ln>
                  <a:noFill/>
                </a:ln>
                <a:solidFill>
                  <a:prstClr val="black">
                    <a:lumMod val="50000"/>
                    <a:lumOff val="50000"/>
                  </a:prstClr>
                </a:solidFill>
                <a:effectLst/>
                <a:uLnTx/>
                <a:uFillTx/>
                <a:latin typeface="Yekan Bakh" pitchFamily="2" charset="-78"/>
                <a:ea typeface="Yekan Bakh" pitchFamily="2" charset="-78"/>
                <a:cs typeface="Yekan Bakh" pitchFamily="2" charset="-78"/>
              </a:rPr>
              <a:t>مشتری</a:t>
            </a:r>
            <a:r>
              <a:rPr kumimoji="0" lang="en-US" sz="900" b="1" i="0" u="none" strike="noStrike" kern="1200" cap="all"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 </a:t>
            </a:r>
            <a:r>
              <a:rPr kumimoji="0" lang="en-US" sz="900" b="1" i="0" u="none" strike="noStrike" kern="1200" cap="all" spc="0" normalizeH="0" baseline="0" noProof="0" dirty="0" err="1">
                <a:ln>
                  <a:noFill/>
                </a:ln>
                <a:solidFill>
                  <a:prstClr val="black">
                    <a:lumMod val="50000"/>
                    <a:lumOff val="50000"/>
                  </a:prstClr>
                </a:solidFill>
                <a:effectLst/>
                <a:uLnTx/>
                <a:uFillTx/>
                <a:latin typeface="Yekan Bakh" pitchFamily="2" charset="-78"/>
                <a:ea typeface="Yekan Bakh" pitchFamily="2" charset="-78"/>
                <a:cs typeface="Yekan Bakh" pitchFamily="2" charset="-78"/>
              </a:rPr>
              <a:t>فاز</a:t>
            </a:r>
            <a:r>
              <a:rPr kumimoji="0" lang="en-US" sz="900" b="1" i="0" u="none" strike="noStrike" kern="1200" cap="all"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 </a:t>
            </a:r>
            <a:r>
              <a:rPr kumimoji="0" lang="en-US" sz="900" b="1" i="0" u="none" strike="noStrike" kern="1200" cap="all" spc="0" normalizeH="0" baseline="0" noProof="0" dirty="0" err="1">
                <a:ln>
                  <a:noFill/>
                </a:ln>
                <a:solidFill>
                  <a:prstClr val="black">
                    <a:lumMod val="50000"/>
                    <a:lumOff val="50000"/>
                  </a:prstClr>
                </a:solidFill>
                <a:effectLst/>
                <a:uLnTx/>
                <a:uFillTx/>
                <a:latin typeface="Yekan Bakh" pitchFamily="2" charset="-78"/>
                <a:ea typeface="Yekan Bakh" pitchFamily="2" charset="-78"/>
                <a:cs typeface="Yekan Bakh" pitchFamily="2" charset="-78"/>
              </a:rPr>
              <a:t>اول</a:t>
            </a:r>
            <a:r>
              <a:rPr kumimoji="0" lang="fa-IR" sz="900" b="1" i="0" u="none" strike="noStrike" kern="1200" cap="all"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a:t>
            </a:r>
          </a:p>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900" b="1" i="0" u="none" strike="noStrike" kern="1200" cap="all"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endParaRPr>
          </a:p>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err="1">
                <a:ln>
                  <a:noFill/>
                </a:ln>
                <a:solidFill>
                  <a:prstClr val="black">
                    <a:lumMod val="50000"/>
                    <a:lumOff val="50000"/>
                  </a:prstClr>
                </a:solidFill>
                <a:effectLst/>
                <a:uLnTx/>
                <a:uFillTx/>
                <a:latin typeface="Yekan Bakh" pitchFamily="2" charset="-78"/>
                <a:ea typeface="Yekan Bakh" pitchFamily="2" charset="-78"/>
                <a:cs typeface="Yekan Bakh" pitchFamily="2" charset="-78"/>
              </a:rPr>
              <a:t>شامل</a:t>
            </a:r>
            <a:r>
              <a:rPr kumimoji="0" lang="en-US" sz="9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 </a:t>
            </a:r>
            <a:r>
              <a:rPr kumimoji="0" lang="en-US" sz="900" b="0" i="0" u="none" strike="noStrike" kern="1200" cap="none" spc="0" normalizeH="0" baseline="0" noProof="0" dirty="0" err="1">
                <a:ln>
                  <a:noFill/>
                </a:ln>
                <a:solidFill>
                  <a:prstClr val="black">
                    <a:lumMod val="50000"/>
                    <a:lumOff val="50000"/>
                  </a:prstClr>
                </a:solidFill>
                <a:effectLst/>
                <a:uLnTx/>
                <a:uFillTx/>
                <a:latin typeface="Yekan Bakh" pitchFamily="2" charset="-78"/>
                <a:ea typeface="Yekan Bakh" pitchFamily="2" charset="-78"/>
                <a:cs typeface="Yekan Bakh" pitchFamily="2" charset="-78"/>
              </a:rPr>
              <a:t>استخراج</a:t>
            </a:r>
            <a:r>
              <a:rPr kumimoji="0" lang="en-US" sz="9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 </a:t>
            </a:r>
            <a:r>
              <a:rPr kumimoji="0" lang="en-US" sz="900" b="0" i="0" u="none" strike="noStrike" kern="1200" cap="none" spc="0" normalizeH="0" baseline="0" noProof="0" dirty="0" err="1">
                <a:ln>
                  <a:noFill/>
                </a:ln>
                <a:solidFill>
                  <a:prstClr val="black">
                    <a:lumMod val="50000"/>
                    <a:lumOff val="50000"/>
                  </a:prstClr>
                </a:solidFill>
                <a:effectLst/>
                <a:uLnTx/>
                <a:uFillTx/>
                <a:latin typeface="Yekan Bakh" pitchFamily="2" charset="-78"/>
                <a:ea typeface="Yekan Bakh" pitchFamily="2" charset="-78"/>
                <a:cs typeface="Yekan Bakh" pitchFamily="2" charset="-78"/>
              </a:rPr>
              <a:t>از</a:t>
            </a:r>
            <a:r>
              <a:rPr kumimoji="0" lang="en-US" sz="9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 </a:t>
            </a:r>
            <a:r>
              <a:rPr kumimoji="0" lang="en-US" sz="900" b="0" i="0" u="none" strike="noStrike" kern="1200" cap="none" spc="0" normalizeH="0" baseline="0" noProof="0" dirty="0" err="1">
                <a:ln>
                  <a:noFill/>
                </a:ln>
                <a:solidFill>
                  <a:prstClr val="black">
                    <a:lumMod val="50000"/>
                    <a:lumOff val="50000"/>
                  </a:prstClr>
                </a:solidFill>
                <a:effectLst/>
                <a:uLnTx/>
                <a:uFillTx/>
                <a:latin typeface="Yekan Bakh" pitchFamily="2" charset="-78"/>
                <a:ea typeface="Yekan Bakh" pitchFamily="2" charset="-78"/>
                <a:cs typeface="Yekan Bakh" pitchFamily="2" charset="-78"/>
              </a:rPr>
              <a:t>اتاق</a:t>
            </a:r>
            <a:r>
              <a:rPr kumimoji="0" lang="en-US" sz="9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 </a:t>
            </a:r>
            <a:r>
              <a:rPr kumimoji="0" lang="en-US" sz="900" b="0" i="0" u="none" strike="noStrike" kern="1200" cap="none" spc="0" normalizeH="0" baseline="0" noProof="0" dirty="0" err="1">
                <a:ln>
                  <a:noFill/>
                </a:ln>
                <a:solidFill>
                  <a:prstClr val="black">
                    <a:lumMod val="50000"/>
                    <a:lumOff val="50000"/>
                  </a:prstClr>
                </a:solidFill>
                <a:effectLst/>
                <a:uLnTx/>
                <a:uFillTx/>
                <a:latin typeface="Yekan Bakh" pitchFamily="2" charset="-78"/>
                <a:ea typeface="Yekan Bakh" pitchFamily="2" charset="-78"/>
                <a:cs typeface="Yekan Bakh" pitchFamily="2" charset="-78"/>
              </a:rPr>
              <a:t>بازرگانی</a:t>
            </a:r>
            <a:r>
              <a:rPr kumimoji="0" lang="en-US" sz="9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 </a:t>
            </a:r>
            <a:r>
              <a:rPr kumimoji="0" lang="en-US" sz="900" b="0" i="0" u="none" strike="noStrike" kern="1200" cap="none" spc="0" normalizeH="0" baseline="0" noProof="0" dirty="0" err="1">
                <a:ln>
                  <a:noFill/>
                </a:ln>
                <a:solidFill>
                  <a:prstClr val="black">
                    <a:lumMod val="50000"/>
                    <a:lumOff val="50000"/>
                  </a:prstClr>
                </a:solidFill>
                <a:effectLst/>
                <a:uLnTx/>
                <a:uFillTx/>
                <a:latin typeface="Yekan Bakh" pitchFamily="2" charset="-78"/>
                <a:ea typeface="Yekan Bakh" pitchFamily="2" charset="-78"/>
                <a:cs typeface="Yekan Bakh" pitchFamily="2" charset="-78"/>
              </a:rPr>
              <a:t>ایران</a:t>
            </a:r>
            <a:r>
              <a:rPr kumimoji="0" lang="en-US" sz="9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 CNBC، ECFR، Al Jazeera، UANI، CNN Money، Forbes، Stimson Center، ARIA، </a:t>
            </a:r>
            <a:r>
              <a:rPr kumimoji="0" lang="en-US" sz="900" b="0" i="0" u="none" strike="noStrike" kern="1200" cap="none" spc="0" normalizeH="0" baseline="0" noProof="0" dirty="0" err="1">
                <a:ln>
                  <a:noFill/>
                </a:ln>
                <a:solidFill>
                  <a:prstClr val="black">
                    <a:lumMod val="50000"/>
                    <a:lumOff val="50000"/>
                  </a:prstClr>
                </a:solidFill>
                <a:effectLst/>
                <a:uLnTx/>
                <a:uFillTx/>
                <a:latin typeface="Yekan Bakh" pitchFamily="2" charset="-78"/>
                <a:ea typeface="Yekan Bakh" pitchFamily="2" charset="-78"/>
                <a:cs typeface="Yekan Bakh" pitchFamily="2" charset="-78"/>
              </a:rPr>
              <a:t>دیوان</a:t>
            </a:r>
            <a:r>
              <a:rPr kumimoji="0" lang="en-US" sz="9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 </a:t>
            </a:r>
            <a:r>
              <a:rPr kumimoji="0" lang="en-US" sz="900" b="0" i="0" u="none" strike="noStrike" kern="1200" cap="none" spc="0" normalizeH="0" baseline="0" noProof="0" dirty="0" err="1">
                <a:ln>
                  <a:noFill/>
                </a:ln>
                <a:solidFill>
                  <a:prstClr val="black">
                    <a:lumMod val="50000"/>
                    <a:lumOff val="50000"/>
                  </a:prstClr>
                </a:solidFill>
                <a:effectLst/>
                <a:uLnTx/>
                <a:uFillTx/>
                <a:latin typeface="Yekan Bakh" pitchFamily="2" charset="-78"/>
                <a:ea typeface="Yekan Bakh" pitchFamily="2" charset="-78"/>
                <a:cs typeface="Yekan Bakh" pitchFamily="2" charset="-78"/>
              </a:rPr>
              <a:t>دعاوی</a:t>
            </a:r>
            <a:r>
              <a:rPr kumimoji="0" lang="en-US" sz="9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 </a:t>
            </a:r>
            <a:r>
              <a:rPr kumimoji="0" lang="en-US" sz="900" b="0" i="0" u="none" strike="noStrike" kern="1200" cap="none" spc="0" normalizeH="0" baseline="0" noProof="0" dirty="0" err="1">
                <a:ln>
                  <a:noFill/>
                </a:ln>
                <a:solidFill>
                  <a:prstClr val="black">
                    <a:lumMod val="50000"/>
                    <a:lumOff val="50000"/>
                  </a:prstClr>
                </a:solidFill>
                <a:effectLst/>
                <a:uLnTx/>
                <a:uFillTx/>
                <a:latin typeface="Yekan Bakh" pitchFamily="2" charset="-78"/>
                <a:ea typeface="Yekan Bakh" pitchFamily="2" charset="-78"/>
                <a:cs typeface="Yekan Bakh" pitchFamily="2" charset="-78"/>
              </a:rPr>
              <a:t>ایران</a:t>
            </a:r>
            <a:r>
              <a:rPr kumimoji="0" lang="en-US" sz="9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a:t>
            </a:r>
            <a:r>
              <a:rPr kumimoji="0" lang="fa-IR" sz="9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بین‌المللی</a:t>
            </a:r>
            <a:r>
              <a:rPr kumimoji="0" lang="en-US" sz="9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 </a:t>
            </a:r>
            <a:r>
              <a:rPr kumimoji="0" lang="en-US" sz="900" b="0" i="0" u="none" strike="noStrike" kern="1200" cap="none" spc="0" normalizeH="0" baseline="0" noProof="0" dirty="0" err="1">
                <a:ln>
                  <a:noFill/>
                </a:ln>
                <a:solidFill>
                  <a:prstClr val="black">
                    <a:lumMod val="50000"/>
                    <a:lumOff val="50000"/>
                  </a:prstClr>
                </a:solidFill>
                <a:effectLst/>
                <a:uLnTx/>
                <a:uFillTx/>
                <a:latin typeface="Yekan Bakh" pitchFamily="2" charset="-78"/>
                <a:ea typeface="Yekan Bakh" pitchFamily="2" charset="-78"/>
                <a:cs typeface="Yekan Bakh" pitchFamily="2" charset="-78"/>
              </a:rPr>
              <a:t>آی‌اکسپورت</a:t>
            </a:r>
            <a:r>
              <a:rPr kumimoji="0" lang="en-US" sz="9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 </a:t>
            </a:r>
            <a:r>
              <a:rPr kumimoji="0" lang="en-US" sz="900" b="0" i="0" u="none" strike="noStrike" kern="1200" cap="none" spc="0" normalizeH="0" baseline="0" noProof="0" dirty="0" err="1">
                <a:ln>
                  <a:noFill/>
                </a:ln>
                <a:solidFill>
                  <a:prstClr val="black">
                    <a:lumMod val="50000"/>
                    <a:lumOff val="50000"/>
                  </a:prstClr>
                </a:solidFill>
                <a:effectLst/>
                <a:uLnTx/>
                <a:uFillTx/>
                <a:latin typeface="Yekan Bakh" pitchFamily="2" charset="-78"/>
                <a:ea typeface="Yekan Bakh" pitchFamily="2" charset="-78"/>
                <a:cs typeface="Yekan Bakh" pitchFamily="2" charset="-78"/>
              </a:rPr>
              <a:t>صندوق</a:t>
            </a:r>
            <a:r>
              <a:rPr kumimoji="0" lang="en-US" sz="9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 </a:t>
            </a:r>
            <a:r>
              <a:rPr kumimoji="0" lang="en-US" sz="900" b="0" i="0" u="none" strike="noStrike" kern="1200" cap="none" spc="0" normalizeH="0" baseline="0" noProof="0" dirty="0" err="1">
                <a:ln>
                  <a:noFill/>
                </a:ln>
                <a:solidFill>
                  <a:prstClr val="black">
                    <a:lumMod val="50000"/>
                    <a:lumOff val="50000"/>
                  </a:prstClr>
                </a:solidFill>
                <a:effectLst/>
                <a:uLnTx/>
                <a:uFillTx/>
                <a:latin typeface="Yekan Bakh" pitchFamily="2" charset="-78"/>
                <a:ea typeface="Yekan Bakh" pitchFamily="2" charset="-78"/>
                <a:cs typeface="Yekan Bakh" pitchFamily="2" charset="-78"/>
              </a:rPr>
              <a:t>نوآوری</a:t>
            </a:r>
            <a:r>
              <a:rPr kumimoji="0" lang="en-US" sz="9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 و </a:t>
            </a:r>
            <a:r>
              <a:rPr kumimoji="0" lang="en-US" sz="900" b="0" i="0" u="none" strike="noStrike" kern="1200" cap="none" spc="0" normalizeH="0" baseline="0" noProof="0" dirty="0" err="1">
                <a:ln>
                  <a:noFill/>
                </a:ln>
                <a:solidFill>
                  <a:prstClr val="black">
                    <a:lumMod val="50000"/>
                    <a:lumOff val="50000"/>
                  </a:prstClr>
                </a:solidFill>
                <a:effectLst/>
                <a:uLnTx/>
                <a:uFillTx/>
                <a:latin typeface="Yekan Bakh" pitchFamily="2" charset="-78"/>
                <a:ea typeface="Yekan Bakh" pitchFamily="2" charset="-78"/>
                <a:cs typeface="Yekan Bakh" pitchFamily="2" charset="-78"/>
              </a:rPr>
              <a:t>شکوفایی</a:t>
            </a:r>
            <a:r>
              <a:rPr kumimoji="0" lang="en-US" sz="9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 </a:t>
            </a:r>
            <a:r>
              <a:rPr kumimoji="0" lang="en-US" sz="900" b="0" i="0" u="none" strike="noStrike" kern="1200" cap="none" spc="0" normalizeH="0" baseline="0" noProof="0" dirty="0" err="1">
                <a:ln>
                  <a:noFill/>
                </a:ln>
                <a:solidFill>
                  <a:prstClr val="black">
                    <a:lumMod val="50000"/>
                    <a:lumOff val="50000"/>
                  </a:prstClr>
                </a:solidFill>
                <a:effectLst/>
                <a:uLnTx/>
                <a:uFillTx/>
                <a:latin typeface="Yekan Bakh" pitchFamily="2" charset="-78"/>
                <a:ea typeface="Yekan Bakh" pitchFamily="2" charset="-78"/>
                <a:cs typeface="Yekan Bakh" pitchFamily="2" charset="-78"/>
              </a:rPr>
              <a:t>معاونت</a:t>
            </a:r>
            <a:r>
              <a:rPr kumimoji="0" lang="en-US" sz="9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 </a:t>
            </a:r>
            <a:r>
              <a:rPr kumimoji="0" lang="en-US" sz="900" b="0" i="0" u="none" strike="noStrike" kern="1200" cap="none" spc="0" normalizeH="0" baseline="0" noProof="0" dirty="0" err="1">
                <a:ln>
                  <a:noFill/>
                </a:ln>
                <a:solidFill>
                  <a:prstClr val="black">
                    <a:lumMod val="50000"/>
                    <a:lumOff val="50000"/>
                  </a:prstClr>
                </a:solidFill>
                <a:effectLst/>
                <a:uLnTx/>
                <a:uFillTx/>
                <a:latin typeface="Yekan Bakh" pitchFamily="2" charset="-78"/>
                <a:ea typeface="Yekan Bakh" pitchFamily="2" charset="-78"/>
                <a:cs typeface="Yekan Bakh" pitchFamily="2" charset="-78"/>
              </a:rPr>
              <a:t>علمی</a:t>
            </a:r>
            <a:r>
              <a:rPr kumimoji="0" lang="en-US" sz="9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 و </a:t>
            </a:r>
            <a:r>
              <a:rPr kumimoji="0" lang="en-US" sz="900" b="0" i="0" u="none" strike="noStrike" kern="1200" cap="none" spc="0" normalizeH="0" baseline="0" noProof="0" dirty="0" err="1">
                <a:ln>
                  <a:noFill/>
                </a:ln>
                <a:solidFill>
                  <a:prstClr val="black">
                    <a:lumMod val="50000"/>
                    <a:lumOff val="50000"/>
                  </a:prstClr>
                </a:solidFill>
                <a:effectLst/>
                <a:uLnTx/>
                <a:uFillTx/>
                <a:latin typeface="Yekan Bakh" pitchFamily="2" charset="-78"/>
                <a:ea typeface="Yekan Bakh" pitchFamily="2" charset="-78"/>
                <a:cs typeface="Yekan Bakh" pitchFamily="2" charset="-78"/>
              </a:rPr>
              <a:t>فناوری</a:t>
            </a:r>
            <a:r>
              <a:rPr kumimoji="0" lang="en-US" sz="9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 و </a:t>
            </a:r>
            <a:r>
              <a:rPr kumimoji="0" lang="en-US" sz="900" b="0" i="0" u="none" strike="noStrike" kern="1200" cap="none" spc="0" normalizeH="0" baseline="0" noProof="0" dirty="0" err="1">
                <a:ln>
                  <a:noFill/>
                </a:ln>
                <a:solidFill>
                  <a:prstClr val="black">
                    <a:lumMod val="50000"/>
                    <a:lumOff val="50000"/>
                  </a:prstClr>
                </a:solidFill>
                <a:effectLst/>
                <a:uLnTx/>
                <a:uFillTx/>
                <a:latin typeface="Yekan Bakh" pitchFamily="2" charset="-78"/>
                <a:ea typeface="Yekan Bakh" pitchFamily="2" charset="-78"/>
                <a:cs typeface="Yekan Bakh" pitchFamily="2" charset="-78"/>
              </a:rPr>
              <a:t>کارت‌های</a:t>
            </a:r>
            <a:r>
              <a:rPr kumimoji="0" lang="en-US" sz="9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 </a:t>
            </a:r>
            <a:r>
              <a:rPr kumimoji="0" lang="en-US" sz="900" b="0" i="0" u="none" strike="noStrike" kern="1200" cap="none" spc="0" normalizeH="0" baseline="0" noProof="0" dirty="0" err="1">
                <a:ln>
                  <a:noFill/>
                </a:ln>
                <a:solidFill>
                  <a:prstClr val="black">
                    <a:lumMod val="50000"/>
                    <a:lumOff val="50000"/>
                  </a:prstClr>
                </a:solidFill>
                <a:effectLst/>
                <a:uLnTx/>
                <a:uFillTx/>
                <a:latin typeface="Yekan Bakh" pitchFamily="2" charset="-78"/>
                <a:ea typeface="Yekan Bakh" pitchFamily="2" charset="-78"/>
                <a:cs typeface="Yekan Bakh" pitchFamily="2" charset="-78"/>
              </a:rPr>
              <a:t>تحلیلی</a:t>
            </a:r>
            <a:r>
              <a:rPr kumimoji="0" lang="en-US" sz="9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 </a:t>
            </a:r>
            <a:r>
              <a:rPr kumimoji="0" lang="en-US" sz="900" b="0" i="0" u="none" strike="noStrike" kern="1200" cap="none" spc="0" normalizeH="0" baseline="0" noProof="0" dirty="0" err="1">
                <a:ln>
                  <a:noFill/>
                </a:ln>
                <a:solidFill>
                  <a:prstClr val="black">
                    <a:lumMod val="50000"/>
                    <a:lumOff val="50000"/>
                  </a:prstClr>
                </a:solidFill>
                <a:effectLst/>
                <a:uLnTx/>
                <a:uFillTx/>
                <a:latin typeface="Yekan Bakh" pitchFamily="2" charset="-78"/>
                <a:ea typeface="Yekan Bakh" pitchFamily="2" charset="-78"/>
                <a:cs typeface="Yekan Bakh" pitchFamily="2" charset="-78"/>
              </a:rPr>
              <a:t>معماری</a:t>
            </a:r>
            <a:r>
              <a:rPr kumimoji="0" lang="en-US" sz="9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 </a:t>
            </a:r>
            <a:r>
              <a:rPr kumimoji="0" lang="en-US" sz="900" b="0" i="0" u="none" strike="noStrike" kern="1200" cap="none" spc="0" normalizeH="0" baseline="0" noProof="0" dirty="0" err="1">
                <a:ln>
                  <a:noFill/>
                </a:ln>
                <a:solidFill>
                  <a:prstClr val="black">
                    <a:lumMod val="50000"/>
                    <a:lumOff val="50000"/>
                  </a:prstClr>
                </a:solidFill>
                <a:effectLst/>
                <a:uLnTx/>
                <a:uFillTx/>
                <a:latin typeface="Yekan Bakh" pitchFamily="2" charset="-78"/>
                <a:ea typeface="Yekan Bakh" pitchFamily="2" charset="-78"/>
                <a:cs typeface="Yekan Bakh" pitchFamily="2" charset="-78"/>
              </a:rPr>
              <a:t>بخش‌بندی</a:t>
            </a:r>
            <a:r>
              <a:rPr kumimoji="0" lang="en-US" sz="9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 </a:t>
            </a:r>
            <a:r>
              <a:rPr kumimoji="0" lang="en-US" sz="900" b="0" i="0" u="none" strike="noStrike" kern="1200" cap="none" spc="0" normalizeH="0" baseline="0" noProof="0" dirty="0" err="1">
                <a:ln>
                  <a:noFill/>
                </a:ln>
                <a:solidFill>
                  <a:prstClr val="black">
                    <a:lumMod val="50000"/>
                    <a:lumOff val="50000"/>
                  </a:prstClr>
                </a:solidFill>
                <a:effectLst/>
                <a:uLnTx/>
                <a:uFillTx/>
                <a:latin typeface="Yekan Bakh" pitchFamily="2" charset="-78"/>
                <a:ea typeface="Yekan Bakh" pitchFamily="2" charset="-78"/>
                <a:cs typeface="Yekan Bakh" pitchFamily="2" charset="-78"/>
              </a:rPr>
              <a:t>مشتریان</a:t>
            </a:r>
            <a:r>
              <a:rPr kumimoji="0" lang="en-US" sz="9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 </a:t>
            </a:r>
            <a:r>
              <a:rPr kumimoji="0" lang="en-US" sz="900" b="0" i="0" u="none" strike="noStrike" kern="1200" cap="none" spc="0" normalizeH="0" baseline="0" noProof="0" dirty="0" err="1">
                <a:ln>
                  <a:noFill/>
                </a:ln>
                <a:solidFill>
                  <a:prstClr val="black">
                    <a:lumMod val="50000"/>
                    <a:lumOff val="50000"/>
                  </a:prstClr>
                </a:solidFill>
                <a:effectLst/>
                <a:uLnTx/>
                <a:uFillTx/>
                <a:latin typeface="Yekan Bakh" pitchFamily="2" charset="-78"/>
                <a:ea typeface="Yekan Bakh" pitchFamily="2" charset="-78"/>
                <a:cs typeface="Yekan Bakh" pitchFamily="2" charset="-78"/>
              </a:rPr>
              <a:t>سیمرغ</a:t>
            </a:r>
            <a:r>
              <a:rPr kumimoji="0" lang="en-US" sz="9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 (S1–S5)</a:t>
            </a:r>
            <a:r>
              <a:rPr kumimoji="0" lang="fa-IR" sz="9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 </a:t>
            </a:r>
            <a:r>
              <a:rPr kumimoji="0" lang="en-US" sz="900" b="0" i="0" u="none" strike="noStrike" kern="1200" cap="none" spc="0" normalizeH="0" baseline="0" noProof="0" dirty="0" err="1">
                <a:ln>
                  <a:noFill/>
                </a:ln>
                <a:solidFill>
                  <a:prstClr val="black">
                    <a:lumMod val="50000"/>
                    <a:lumOff val="50000"/>
                  </a:prstClr>
                </a:solidFill>
                <a:effectLst/>
                <a:uLnTx/>
                <a:uFillTx/>
                <a:latin typeface="Yekan Bakh" pitchFamily="2" charset="-78"/>
                <a:ea typeface="Yekan Bakh" pitchFamily="2" charset="-78"/>
                <a:cs typeface="Yekan Bakh" pitchFamily="2" charset="-78"/>
              </a:rPr>
              <a:t>این</a:t>
            </a:r>
            <a:r>
              <a:rPr kumimoji="0" lang="en-US" sz="9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 </a:t>
            </a:r>
            <a:r>
              <a:rPr kumimoji="0" lang="en-US" sz="900" b="0" i="0" u="none" strike="noStrike" kern="1200" cap="none" spc="0" normalizeH="0" baseline="0" noProof="0" dirty="0" err="1">
                <a:ln>
                  <a:noFill/>
                </a:ln>
                <a:solidFill>
                  <a:prstClr val="black">
                    <a:lumMod val="50000"/>
                    <a:lumOff val="50000"/>
                  </a:prstClr>
                </a:solidFill>
                <a:effectLst/>
                <a:uLnTx/>
                <a:uFillTx/>
                <a:latin typeface="Yekan Bakh" pitchFamily="2" charset="-78"/>
                <a:ea typeface="Yekan Bakh" pitchFamily="2" charset="-78"/>
                <a:cs typeface="Yekan Bakh" pitchFamily="2" charset="-78"/>
              </a:rPr>
              <a:t>منابع</a:t>
            </a:r>
            <a:r>
              <a:rPr kumimoji="0" lang="en-US" sz="9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 </a:t>
            </a:r>
            <a:r>
              <a:rPr kumimoji="0" lang="en-US" sz="900" b="0" i="0" u="none" strike="noStrike" kern="1200" cap="none" spc="0" normalizeH="0" baseline="0" noProof="0" dirty="0" err="1">
                <a:ln>
                  <a:noFill/>
                </a:ln>
                <a:solidFill>
                  <a:prstClr val="black">
                    <a:lumMod val="50000"/>
                    <a:lumOff val="50000"/>
                  </a:prstClr>
                </a:solidFill>
                <a:effectLst/>
                <a:uLnTx/>
                <a:uFillTx/>
                <a:latin typeface="Yekan Bakh" pitchFamily="2" charset="-78"/>
                <a:ea typeface="Yekan Bakh" pitchFamily="2" charset="-78"/>
                <a:cs typeface="Yekan Bakh" pitchFamily="2" charset="-78"/>
              </a:rPr>
              <a:t>پیش‌تر</a:t>
            </a:r>
            <a:r>
              <a:rPr kumimoji="0" lang="en-US" sz="9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 </a:t>
            </a:r>
            <a:r>
              <a:rPr kumimoji="0" lang="en-US" sz="900" b="0" i="0" u="none" strike="noStrike" kern="1200" cap="none" spc="0" normalizeH="0" baseline="0" noProof="0" dirty="0" err="1">
                <a:ln>
                  <a:noFill/>
                </a:ln>
                <a:solidFill>
                  <a:prstClr val="black">
                    <a:lumMod val="50000"/>
                    <a:lumOff val="50000"/>
                  </a:prstClr>
                </a:solidFill>
                <a:effectLst/>
                <a:uLnTx/>
                <a:uFillTx/>
                <a:latin typeface="Yekan Bakh" pitchFamily="2" charset="-78"/>
                <a:ea typeface="Yekan Bakh" pitchFamily="2" charset="-78"/>
                <a:cs typeface="Yekan Bakh" pitchFamily="2" charset="-78"/>
              </a:rPr>
              <a:t>در</a:t>
            </a:r>
            <a:r>
              <a:rPr kumimoji="0" lang="en-US" sz="9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 </a:t>
            </a:r>
            <a:r>
              <a:rPr kumimoji="0" lang="en-US" sz="900" b="0" i="0" u="none" strike="noStrike" kern="1200" cap="none" spc="0" normalizeH="0" baseline="0" noProof="0" dirty="0" err="1">
                <a:ln>
                  <a:noFill/>
                </a:ln>
                <a:solidFill>
                  <a:prstClr val="black">
                    <a:lumMod val="50000"/>
                    <a:lumOff val="50000"/>
                  </a:prstClr>
                </a:solidFill>
                <a:effectLst/>
                <a:uLnTx/>
                <a:uFillTx/>
                <a:latin typeface="Yekan Bakh" pitchFamily="2" charset="-78"/>
                <a:ea typeface="Yekan Bakh" pitchFamily="2" charset="-78"/>
                <a:cs typeface="Yekan Bakh" pitchFamily="2" charset="-78"/>
              </a:rPr>
              <a:t>مخزن</a:t>
            </a:r>
            <a:r>
              <a:rPr kumimoji="0" lang="en-US" sz="9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 </a:t>
            </a:r>
            <a:r>
              <a:rPr kumimoji="0" lang="en-US" sz="900" b="0" i="0" u="none" strike="noStrike" kern="1200" cap="none" spc="0" normalizeH="0" baseline="0" noProof="0" dirty="0" err="1">
                <a:ln>
                  <a:noFill/>
                </a:ln>
                <a:solidFill>
                  <a:prstClr val="black">
                    <a:lumMod val="50000"/>
                    <a:lumOff val="50000"/>
                  </a:prstClr>
                </a:solidFill>
                <a:effectLst/>
                <a:uLnTx/>
                <a:uFillTx/>
                <a:latin typeface="Yekan Bakh" pitchFamily="2" charset="-78"/>
                <a:ea typeface="Yekan Bakh" pitchFamily="2" charset="-78"/>
                <a:cs typeface="Yekan Bakh" pitchFamily="2" charset="-78"/>
              </a:rPr>
              <a:t>داخلی</a:t>
            </a:r>
            <a:r>
              <a:rPr kumimoji="0" lang="en-US" sz="9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 </a:t>
            </a:r>
            <a:r>
              <a:rPr kumimoji="0" lang="en-US" sz="900" b="0" i="0" u="none" strike="noStrike" kern="1200" cap="none" spc="0" normalizeH="0" baseline="0" noProof="0" dirty="0" err="1">
                <a:ln>
                  <a:noFill/>
                </a:ln>
                <a:solidFill>
                  <a:prstClr val="black">
                    <a:lumMod val="50000"/>
                    <a:lumOff val="50000"/>
                  </a:prstClr>
                </a:solidFill>
                <a:effectLst/>
                <a:uLnTx/>
                <a:uFillTx/>
                <a:latin typeface="Yekan Bakh" pitchFamily="2" charset="-78"/>
                <a:ea typeface="Yekan Bakh" pitchFamily="2" charset="-78"/>
                <a:cs typeface="Yekan Bakh" pitchFamily="2" charset="-78"/>
              </a:rPr>
              <a:t>پروژه</a:t>
            </a:r>
            <a:r>
              <a:rPr kumimoji="0" lang="en-US" sz="9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 </a:t>
            </a:r>
            <a:r>
              <a:rPr kumimoji="0" lang="en-US" sz="900" b="0" i="0" u="none" strike="noStrike" kern="1200" cap="none" spc="0" normalizeH="0" baseline="0" noProof="0" dirty="0" err="1">
                <a:ln>
                  <a:noFill/>
                </a:ln>
                <a:solidFill>
                  <a:prstClr val="black">
                    <a:lumMod val="50000"/>
                    <a:lumOff val="50000"/>
                  </a:prstClr>
                </a:solidFill>
                <a:effectLst/>
                <a:uLnTx/>
                <a:uFillTx/>
                <a:latin typeface="Yekan Bakh" pitchFamily="2" charset="-78"/>
                <a:ea typeface="Yekan Bakh" pitchFamily="2" charset="-78"/>
                <a:cs typeface="Yekan Bakh" pitchFamily="2" charset="-78"/>
              </a:rPr>
              <a:t>مستند</a:t>
            </a:r>
            <a:r>
              <a:rPr kumimoji="0" lang="en-US" sz="9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 </a:t>
            </a:r>
            <a:r>
              <a:rPr kumimoji="0" lang="en-US" sz="900" b="0" i="0" u="none" strike="noStrike" kern="1200" cap="none" spc="0" normalizeH="0" baseline="0" noProof="0" dirty="0" err="1">
                <a:ln>
                  <a:noFill/>
                </a:ln>
                <a:solidFill>
                  <a:prstClr val="black">
                    <a:lumMod val="50000"/>
                    <a:lumOff val="50000"/>
                  </a:prstClr>
                </a:solidFill>
                <a:effectLst/>
                <a:uLnTx/>
                <a:uFillTx/>
                <a:latin typeface="Yekan Bakh" pitchFamily="2" charset="-78"/>
                <a:ea typeface="Yekan Bakh" pitchFamily="2" charset="-78"/>
                <a:cs typeface="Yekan Bakh" pitchFamily="2" charset="-78"/>
              </a:rPr>
              <a:t>شده‌اند</a:t>
            </a:r>
            <a:r>
              <a:rPr kumimoji="0" lang="en-US" sz="9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 و </a:t>
            </a:r>
            <a:r>
              <a:rPr kumimoji="0" lang="en-US" sz="900" b="0" i="0" u="none" strike="noStrike" kern="1200" cap="none" spc="0" normalizeH="0" baseline="0" noProof="0" dirty="0" err="1">
                <a:ln>
                  <a:noFill/>
                </a:ln>
                <a:solidFill>
                  <a:prstClr val="black">
                    <a:lumMod val="50000"/>
                    <a:lumOff val="50000"/>
                  </a:prstClr>
                </a:solidFill>
                <a:effectLst/>
                <a:uLnTx/>
                <a:uFillTx/>
                <a:latin typeface="Yekan Bakh" pitchFamily="2" charset="-78"/>
                <a:ea typeface="Yekan Bakh" pitchFamily="2" charset="-78"/>
                <a:cs typeface="Yekan Bakh" pitchFamily="2" charset="-78"/>
              </a:rPr>
              <a:t>در</a:t>
            </a:r>
            <a:r>
              <a:rPr kumimoji="0" lang="en-US" sz="9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 </a:t>
            </a:r>
            <a:r>
              <a:rPr kumimoji="0" lang="en-US" sz="900" b="0" i="0" u="none" strike="noStrike" kern="1200" cap="none" spc="0" normalizeH="0" baseline="0" noProof="0" dirty="0" err="1">
                <a:ln>
                  <a:noFill/>
                </a:ln>
                <a:solidFill>
                  <a:prstClr val="black">
                    <a:lumMod val="50000"/>
                    <a:lumOff val="50000"/>
                  </a:prstClr>
                </a:solidFill>
                <a:effectLst/>
                <a:uLnTx/>
                <a:uFillTx/>
                <a:latin typeface="Yekan Bakh" pitchFamily="2" charset="-78"/>
                <a:ea typeface="Yekan Bakh" pitchFamily="2" charset="-78"/>
                <a:cs typeface="Yekan Bakh" pitchFamily="2" charset="-78"/>
              </a:rPr>
              <a:t>این</a:t>
            </a:r>
            <a:r>
              <a:rPr kumimoji="0" lang="en-US" sz="9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 </a:t>
            </a:r>
            <a:r>
              <a:rPr kumimoji="0" lang="en-US" sz="900" b="0" i="0" u="none" strike="noStrike" kern="1200" cap="none" spc="0" normalizeH="0" baseline="0" noProof="0" dirty="0" err="1">
                <a:ln>
                  <a:noFill/>
                </a:ln>
                <a:solidFill>
                  <a:prstClr val="black">
                    <a:lumMod val="50000"/>
                    <a:lumOff val="50000"/>
                  </a:prstClr>
                </a:solidFill>
                <a:effectLst/>
                <a:uLnTx/>
                <a:uFillTx/>
                <a:latin typeface="Yekan Bakh" pitchFamily="2" charset="-78"/>
                <a:ea typeface="Yekan Bakh" pitchFamily="2" charset="-78"/>
                <a:cs typeface="Yekan Bakh" pitchFamily="2" charset="-78"/>
              </a:rPr>
              <a:t>نشست</a:t>
            </a:r>
            <a:r>
              <a:rPr kumimoji="0" lang="en-US" sz="9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 </a:t>
            </a:r>
            <a:r>
              <a:rPr kumimoji="0" lang="en-US" sz="900" b="0" i="0" u="none" strike="noStrike" kern="1200" cap="none" spc="0" normalizeH="0" baseline="0" noProof="0" dirty="0" err="1">
                <a:ln>
                  <a:noFill/>
                </a:ln>
                <a:solidFill>
                  <a:prstClr val="black">
                    <a:lumMod val="50000"/>
                    <a:lumOff val="50000"/>
                  </a:prstClr>
                </a:solidFill>
                <a:effectLst/>
                <a:uLnTx/>
                <a:uFillTx/>
                <a:latin typeface="Yekan Bakh" pitchFamily="2" charset="-78"/>
                <a:ea typeface="Yekan Bakh" pitchFamily="2" charset="-78"/>
                <a:cs typeface="Yekan Bakh" pitchFamily="2" charset="-78"/>
              </a:rPr>
              <a:t>مجدداً</a:t>
            </a:r>
            <a:r>
              <a:rPr kumimoji="0" lang="en-US" sz="9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 </a:t>
            </a:r>
            <a:r>
              <a:rPr kumimoji="0" lang="en-US" sz="900" b="0" i="0" u="none" strike="noStrike" kern="1200" cap="none" spc="0" normalizeH="0" baseline="0" noProof="0" dirty="0" err="1">
                <a:ln>
                  <a:noFill/>
                </a:ln>
                <a:solidFill>
                  <a:prstClr val="black">
                    <a:lumMod val="50000"/>
                    <a:lumOff val="50000"/>
                  </a:prstClr>
                </a:solidFill>
                <a:effectLst/>
                <a:uLnTx/>
                <a:uFillTx/>
                <a:latin typeface="Yekan Bakh" pitchFamily="2" charset="-78"/>
                <a:ea typeface="Yekan Bakh" pitchFamily="2" charset="-78"/>
                <a:cs typeface="Yekan Bakh" pitchFamily="2" charset="-78"/>
              </a:rPr>
              <a:t>جست‌وجو</a:t>
            </a:r>
            <a:r>
              <a:rPr kumimoji="0" lang="en-US" sz="9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 </a:t>
            </a:r>
            <a:r>
              <a:rPr kumimoji="0" lang="en-US" sz="900" b="0" i="0" u="none" strike="noStrike" kern="1200" cap="none" spc="0" normalizeH="0" baseline="0" noProof="0" dirty="0" err="1">
                <a:ln>
                  <a:noFill/>
                </a:ln>
                <a:solidFill>
                  <a:prstClr val="black">
                    <a:lumMod val="50000"/>
                    <a:lumOff val="50000"/>
                  </a:prstClr>
                </a:solidFill>
                <a:effectLst/>
                <a:uLnTx/>
                <a:uFillTx/>
                <a:latin typeface="Yekan Bakh" pitchFamily="2" charset="-78"/>
                <a:ea typeface="Yekan Bakh" pitchFamily="2" charset="-78"/>
                <a:cs typeface="Yekan Bakh" pitchFamily="2" charset="-78"/>
              </a:rPr>
              <a:t>نشدند</a:t>
            </a:r>
            <a:r>
              <a:rPr kumimoji="0" lang="en-US" sz="9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a:t>
            </a:r>
          </a:p>
        </p:txBody>
      </p:sp>
    </p:spTree>
    <p:extLst>
      <p:ext uri="{BB962C8B-B14F-4D97-AF65-F5344CB8AC3E}">
        <p14:creationId xmlns:p14="http://schemas.microsoft.com/office/powerpoint/2010/main" val="129797302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7C3D1B-8C8B-93D8-BD1D-33E892351047}"/>
            </a:ext>
          </a:extLst>
        </p:cNvPr>
        <p:cNvGrpSpPr/>
        <p:nvPr/>
      </p:nvGrpSpPr>
      <p:grpSpPr>
        <a:xfrm>
          <a:off x="0" y="0"/>
          <a:ext cx="0" cy="0"/>
          <a:chOff x="0" y="0"/>
          <a:chExt cx="0" cy="0"/>
        </a:xfrm>
      </p:grpSpPr>
      <p:grpSp>
        <p:nvGrpSpPr>
          <p:cNvPr id="19" name="Group 18">
            <a:extLst>
              <a:ext uri="{FF2B5EF4-FFF2-40B4-BE49-F238E27FC236}">
                <a16:creationId xmlns:a16="http://schemas.microsoft.com/office/drawing/2014/main" id="{73E3192A-CE98-D3CD-18C2-F757478175D4}"/>
              </a:ext>
            </a:extLst>
          </p:cNvPr>
          <p:cNvGrpSpPr/>
          <p:nvPr/>
        </p:nvGrpSpPr>
        <p:grpSpPr>
          <a:xfrm>
            <a:off x="407773" y="2074678"/>
            <a:ext cx="4699486" cy="2434007"/>
            <a:chOff x="407773" y="2420387"/>
            <a:chExt cx="4699486" cy="2434007"/>
          </a:xfrm>
        </p:grpSpPr>
        <p:sp>
          <p:nvSpPr>
            <p:cNvPr id="9" name="TextBox 8">
              <a:extLst>
                <a:ext uri="{FF2B5EF4-FFF2-40B4-BE49-F238E27FC236}">
                  <a16:creationId xmlns:a16="http://schemas.microsoft.com/office/drawing/2014/main" id="{FA320A87-31CE-6D79-820C-8F4A97D78A51}"/>
                </a:ext>
              </a:extLst>
            </p:cNvPr>
            <p:cNvSpPr txBox="1"/>
            <p:nvPr/>
          </p:nvSpPr>
          <p:spPr>
            <a:xfrm>
              <a:off x="593931" y="3311847"/>
              <a:ext cx="761426" cy="248914"/>
            </a:xfrm>
            <a:prstGeom prst="rect">
              <a:avLst/>
            </a:prstGeom>
            <a:noFill/>
          </p:spPr>
          <p:txBody>
            <a:bodyPr wrap="square" anchor="ctr">
              <a:spAutoFit/>
            </a:bodyPr>
            <a:lstStyle/>
            <a:p>
              <a:pPr marL="0" marR="0" lvl="0" indent="0" algn="ctr" defTabSz="914400" rtl="1" eaLnBrk="1" fontAlgn="auto" latinLnBrk="0" hangingPunct="1">
                <a:lnSpc>
                  <a:spcPct val="90000"/>
                </a:lnSpc>
                <a:spcBef>
                  <a:spcPts val="1117"/>
                </a:spcBef>
                <a:spcAft>
                  <a:spcPts val="0"/>
                </a:spcAft>
                <a:buClr>
                  <a:srgbClr val="F0BE0F"/>
                </a:buClr>
                <a:buSzTx/>
                <a:buFontTx/>
                <a:buNone/>
                <a:tabLst/>
                <a:defRPr/>
              </a:pPr>
              <a:r>
                <a:rPr kumimoji="0" lang="fa-IR" sz="1050" b="1" i="0" u="none" strike="noStrike" kern="1200" cap="none" spc="0" normalizeH="0" baseline="0" noProof="0" dirty="0">
                  <a:ln>
                    <a:noFill/>
                  </a:ln>
                  <a:solidFill>
                    <a:prstClr val="white">
                      <a:lumMod val="50000"/>
                    </a:prstClr>
                  </a:solidFill>
                  <a:effectLst/>
                  <a:uLnTx/>
                  <a:uFillTx/>
                  <a:latin typeface="Yekan Bakh" pitchFamily="2" charset="-78"/>
                  <a:ea typeface="Yekan Bakh" pitchFamily="2" charset="-78"/>
                  <a:cs typeface="Yekan Bakh" pitchFamily="2" charset="-78"/>
                </a:rPr>
                <a:t>اسلاید</a:t>
              </a:r>
              <a:endParaRPr kumimoji="0" lang="en-US" sz="1050" b="1" i="0" u="none" strike="noStrike" kern="1200" cap="none" spc="0" normalizeH="0" baseline="0" noProof="0" dirty="0">
                <a:ln>
                  <a:noFill/>
                </a:ln>
                <a:solidFill>
                  <a:prstClr val="white">
                    <a:lumMod val="50000"/>
                  </a:prstClr>
                </a:solidFill>
                <a:effectLst/>
                <a:uLnTx/>
                <a:uFillTx/>
                <a:latin typeface="Yekan Bakh" pitchFamily="2" charset="-78"/>
                <a:ea typeface="Yekan Bakh" pitchFamily="2" charset="-78"/>
                <a:cs typeface="Yekan Bakh" pitchFamily="2" charset="-78"/>
              </a:endParaRPr>
            </a:p>
          </p:txBody>
        </p:sp>
        <p:grpSp>
          <p:nvGrpSpPr>
            <p:cNvPr id="2" name="Group 1">
              <a:extLst>
                <a:ext uri="{FF2B5EF4-FFF2-40B4-BE49-F238E27FC236}">
                  <a16:creationId xmlns:a16="http://schemas.microsoft.com/office/drawing/2014/main" id="{27208ACD-153D-DC11-1090-8127C362D40F}"/>
                </a:ext>
              </a:extLst>
            </p:cNvPr>
            <p:cNvGrpSpPr/>
            <p:nvPr/>
          </p:nvGrpSpPr>
          <p:grpSpPr>
            <a:xfrm>
              <a:off x="525137" y="3599596"/>
              <a:ext cx="4582122" cy="291618"/>
              <a:chOff x="525137" y="3840896"/>
              <a:chExt cx="4582122" cy="291618"/>
            </a:xfrm>
          </p:grpSpPr>
          <p:sp>
            <p:nvSpPr>
              <p:cNvPr id="13" name="TextBox 12">
                <a:extLst>
                  <a:ext uri="{FF2B5EF4-FFF2-40B4-BE49-F238E27FC236}">
                    <a16:creationId xmlns:a16="http://schemas.microsoft.com/office/drawing/2014/main" id="{CB306C6D-E115-5112-ED4A-0CBB21D80810}"/>
                  </a:ext>
                </a:extLst>
              </p:cNvPr>
              <p:cNvSpPr txBox="1"/>
              <p:nvPr/>
            </p:nvSpPr>
            <p:spPr>
              <a:xfrm>
                <a:off x="1648542" y="3855130"/>
                <a:ext cx="3458717" cy="263149"/>
              </a:xfrm>
              <a:prstGeom prst="rect">
                <a:avLst/>
              </a:prstGeom>
              <a:noFill/>
            </p:spPr>
            <p:txBody>
              <a:bodyPr wrap="square" anchor="ctr">
                <a:spAutoFit/>
              </a:bodyPr>
              <a:lstStyle/>
              <a:p>
                <a:pPr marL="285750" marR="0" lvl="0" indent="-285750" algn="r" defTabSz="914400" rtl="1" eaLnBrk="1" fontAlgn="auto" latinLnBrk="0" hangingPunct="1">
                  <a:lnSpc>
                    <a:spcPct val="90000"/>
                  </a:lnSpc>
                  <a:spcBef>
                    <a:spcPts val="1117"/>
                  </a:spcBef>
                  <a:spcAft>
                    <a:spcPts val="0"/>
                  </a:spcAft>
                  <a:buClr>
                    <a:srgbClr val="F0BE0F"/>
                  </a:buClr>
                  <a:buSzTx/>
                  <a:buFont typeface="Arial" panose="020B0604020202020204" pitchFamily="34" charset="0"/>
                  <a:buChar char="•"/>
                  <a:tabLst/>
                  <a:defRPr/>
                </a:pPr>
                <a:r>
                  <a:rPr kumimoji="0" lang="fa-IR" sz="1200" b="0" i="0" u="none" strike="noStrike" kern="1200" cap="none" spc="0" normalizeH="0" baseline="0" noProof="0" dirty="0">
                    <a:ln>
                      <a:noFill/>
                    </a:ln>
                    <a:solidFill>
                      <a:prstClr val="white">
                        <a:lumMod val="75000"/>
                      </a:prstClr>
                    </a:solidFill>
                    <a:effectLst/>
                    <a:uLnTx/>
                    <a:uFillTx/>
                    <a:latin typeface="Yekan Bakh" pitchFamily="2" charset="-78"/>
                    <a:ea typeface="Yekan Bakh" pitchFamily="2" charset="-78"/>
                    <a:cs typeface="Yekan Bakh" pitchFamily="2" charset="-78"/>
                  </a:rPr>
                  <a:t>محرک خلق ارزش</a:t>
                </a:r>
              </a:p>
            </p:txBody>
          </p:sp>
          <p:sp>
            <p:nvSpPr>
              <p:cNvPr id="15" name="TextBox 14">
                <a:extLst>
                  <a:ext uri="{FF2B5EF4-FFF2-40B4-BE49-F238E27FC236}">
                    <a16:creationId xmlns:a16="http://schemas.microsoft.com/office/drawing/2014/main" id="{823C5FA0-22AD-4C47-B793-83A3B3EF7DA1}"/>
                  </a:ext>
                </a:extLst>
              </p:cNvPr>
              <p:cNvSpPr txBox="1"/>
              <p:nvPr/>
            </p:nvSpPr>
            <p:spPr>
              <a:xfrm>
                <a:off x="525137" y="3840896"/>
                <a:ext cx="899015" cy="291618"/>
              </a:xfrm>
              <a:prstGeom prst="rect">
                <a:avLst/>
              </a:prstGeom>
              <a:noFill/>
            </p:spPr>
            <p:txBody>
              <a:bodyPr wrap="square" anchor="ctr">
                <a:spAutoFit/>
              </a:bodyPr>
              <a:lstStyle/>
              <a:p>
                <a:pPr marL="0" marR="0" lvl="0" indent="0" algn="ctr" defTabSz="914400" rtl="0" eaLnBrk="1" fontAlgn="auto" latinLnBrk="0" hangingPunct="1">
                  <a:lnSpc>
                    <a:spcPct val="90000"/>
                  </a:lnSpc>
                  <a:spcBef>
                    <a:spcPts val="1117"/>
                  </a:spcBef>
                  <a:spcAft>
                    <a:spcPts val="0"/>
                  </a:spcAft>
                  <a:buClr>
                    <a:srgbClr val="F0BE0F"/>
                  </a:buClr>
                  <a:buSzTx/>
                  <a:buFontTx/>
                  <a:buNone/>
                  <a:tabLst/>
                  <a:defRPr/>
                </a:pPr>
                <a:r>
                  <a:rPr kumimoji="0" lang="fa-IR" sz="1400" b="1" i="0" u="none" strike="noStrike" kern="1200" cap="none" spc="0" normalizeH="0" baseline="0" noProof="0" dirty="0">
                    <a:ln>
                      <a:noFill/>
                    </a:ln>
                    <a:solidFill>
                      <a:srgbClr val="FDBF03">
                        <a:lumMod val="60000"/>
                        <a:lumOff val="40000"/>
                      </a:srgbClr>
                    </a:solidFill>
                    <a:effectLst/>
                    <a:uLnTx/>
                    <a:uFillTx/>
                    <a:latin typeface="Yekan Bakh FaNum SmBoldSmCond" pitchFamily="2" charset="-78"/>
                    <a:ea typeface="Yekan Bakh FaNum SmBoldSmCond" pitchFamily="2" charset="-78"/>
                    <a:cs typeface="Yekan Bakh FaNum SmBoldSmCond" pitchFamily="2" charset="-78"/>
                  </a:rPr>
                  <a:t>۶۵-۶۶</a:t>
                </a:r>
                <a:endParaRPr kumimoji="0" lang="en-US" sz="1400" b="1" i="0" u="none" strike="noStrike" kern="1200" cap="none" spc="0" normalizeH="0" baseline="0" noProof="0" dirty="0">
                  <a:ln>
                    <a:noFill/>
                  </a:ln>
                  <a:solidFill>
                    <a:srgbClr val="FDBF03">
                      <a:lumMod val="60000"/>
                      <a:lumOff val="40000"/>
                    </a:srgbClr>
                  </a:solidFill>
                  <a:effectLst/>
                  <a:uLnTx/>
                  <a:uFillTx/>
                  <a:latin typeface="Yekan Bakh FaNum SmBoldSmCond" pitchFamily="2" charset="-78"/>
                  <a:ea typeface="Yekan Bakh FaNum SmBoldSmCond" pitchFamily="2" charset="-78"/>
                  <a:cs typeface="Yekan Bakh FaNum SmBoldSmCond" pitchFamily="2" charset="-78"/>
                </a:endParaRPr>
              </a:p>
            </p:txBody>
          </p:sp>
        </p:grpSp>
        <p:sp>
          <p:nvSpPr>
            <p:cNvPr id="23" name="Title 1">
              <a:extLst>
                <a:ext uri="{FF2B5EF4-FFF2-40B4-BE49-F238E27FC236}">
                  <a16:creationId xmlns:a16="http://schemas.microsoft.com/office/drawing/2014/main" id="{41A0E825-B1C8-FBE7-9C36-8F435E4665A8}"/>
                </a:ext>
              </a:extLst>
            </p:cNvPr>
            <p:cNvSpPr txBox="1">
              <a:spLocks/>
            </p:cNvSpPr>
            <p:nvPr/>
          </p:nvSpPr>
          <p:spPr>
            <a:xfrm>
              <a:off x="407773" y="2420387"/>
              <a:ext cx="4699486" cy="693069"/>
            </a:xfrm>
            <a:prstGeom prst="rect">
              <a:avLst/>
            </a:prstGeom>
          </p:spPr>
          <p:txBody>
            <a:bodyPr lIns="91440" tIns="45720" rIns="91440" bIns="45720" anchor="t"/>
            <a:lstStyle>
              <a:lvl1pPr algn="justLow" defTabSz="1021516" rtl="1" eaLnBrk="1" latinLnBrk="0" hangingPunct="1">
                <a:lnSpc>
                  <a:spcPct val="90000"/>
                </a:lnSpc>
                <a:spcBef>
                  <a:spcPct val="0"/>
                </a:spcBef>
                <a:buNone/>
                <a:defRPr sz="4500" b="1" kern="1200">
                  <a:solidFill>
                    <a:schemeClr val="tx1">
                      <a:lumMod val="75000"/>
                      <a:lumOff val="25000"/>
                    </a:schemeClr>
                  </a:solidFill>
                  <a:latin typeface="Shabnam Bold FD" panose="020B0603030804020204" pitchFamily="34" charset="-78"/>
                  <a:ea typeface="+mj-ea"/>
                  <a:cs typeface="Shabnam Bold FD" panose="020B0603030804020204" pitchFamily="34" charset="-78"/>
                </a:defRPr>
              </a:lvl1pPr>
            </a:lstStyle>
            <a:p>
              <a:pPr marL="0" marR="0" lvl="0" indent="0" algn="ctr" defTabSz="1021516" rtl="0" eaLnBrk="1" fontAlgn="auto" latinLnBrk="0" hangingPunct="1">
                <a:lnSpc>
                  <a:spcPct val="90000"/>
                </a:lnSpc>
                <a:spcBef>
                  <a:spcPct val="0"/>
                </a:spcBef>
                <a:spcAft>
                  <a:spcPts val="0"/>
                </a:spcAft>
                <a:buClrTx/>
                <a:buSzTx/>
                <a:buFontTx/>
                <a:buNone/>
                <a:tabLst/>
                <a:defRPr/>
              </a:pPr>
              <a:r>
                <a:rPr kumimoji="0" lang="fa-IR" sz="3200" b="1" i="0" u="none" strike="noStrike" kern="1200" cap="none" spc="0" normalizeH="0" baseline="0" noProof="0" dirty="0">
                  <a:ln>
                    <a:noFill/>
                  </a:ln>
                  <a:solidFill>
                    <a:sysClr val="window" lastClr="FFFFFF">
                      <a:lumMod val="75000"/>
                      <a:lumOff val="25000"/>
                    </a:sysClr>
                  </a:solidFill>
                  <a:effectLst/>
                  <a:uLnTx/>
                  <a:uFillTx/>
                  <a:latin typeface="Yekan Bakh" pitchFamily="2" charset="-78"/>
                  <a:ea typeface="Yekan Bakh" pitchFamily="2" charset="-78"/>
                  <a:cs typeface="Yekan Bakh" pitchFamily="2" charset="-78"/>
                </a:rPr>
                <a:t>---</a:t>
              </a:r>
            </a:p>
          </p:txBody>
        </p:sp>
        <p:cxnSp>
          <p:nvCxnSpPr>
            <p:cNvPr id="25" name="Straight Connector 24">
              <a:extLst>
                <a:ext uri="{FF2B5EF4-FFF2-40B4-BE49-F238E27FC236}">
                  <a16:creationId xmlns:a16="http://schemas.microsoft.com/office/drawing/2014/main" id="{94E0658D-9B30-CAF4-400C-160A40955DD2}"/>
                </a:ext>
              </a:extLst>
            </p:cNvPr>
            <p:cNvCxnSpPr>
              <a:cxnSpLocks/>
            </p:cNvCxnSpPr>
            <p:nvPr/>
          </p:nvCxnSpPr>
          <p:spPr>
            <a:xfrm flipV="1">
              <a:off x="407773" y="3238596"/>
              <a:ext cx="4699486" cy="19385"/>
            </a:xfrm>
            <a:prstGeom prst="line">
              <a:avLst/>
            </a:prstGeom>
            <a:ln w="3175">
              <a:solidFill>
                <a:srgbClr val="F0BE0F">
                  <a:alpha val="74000"/>
                </a:srgbClr>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1E889857-C7E7-6A66-EC45-E62A6F511FE4}"/>
                </a:ext>
              </a:extLst>
            </p:cNvPr>
            <p:cNvGrpSpPr/>
            <p:nvPr/>
          </p:nvGrpSpPr>
          <p:grpSpPr>
            <a:xfrm>
              <a:off x="525137" y="3920656"/>
              <a:ext cx="4582122" cy="291618"/>
              <a:chOff x="525137" y="3840896"/>
              <a:chExt cx="4582122" cy="291618"/>
            </a:xfrm>
          </p:grpSpPr>
          <p:sp>
            <p:nvSpPr>
              <p:cNvPr id="4" name="TextBox 3">
                <a:extLst>
                  <a:ext uri="{FF2B5EF4-FFF2-40B4-BE49-F238E27FC236}">
                    <a16:creationId xmlns:a16="http://schemas.microsoft.com/office/drawing/2014/main" id="{64577871-E4DE-4295-8A49-98ADA2782810}"/>
                  </a:ext>
                </a:extLst>
              </p:cNvPr>
              <p:cNvSpPr txBox="1"/>
              <p:nvPr/>
            </p:nvSpPr>
            <p:spPr>
              <a:xfrm>
                <a:off x="1648542" y="3855130"/>
                <a:ext cx="3458717" cy="263149"/>
              </a:xfrm>
              <a:prstGeom prst="rect">
                <a:avLst/>
              </a:prstGeom>
              <a:noFill/>
            </p:spPr>
            <p:txBody>
              <a:bodyPr wrap="square" anchor="ctr">
                <a:spAutoFit/>
              </a:bodyPr>
              <a:lstStyle/>
              <a:p>
                <a:pPr marL="285750" marR="0" lvl="0" indent="-285750" algn="r" defTabSz="914400" rtl="1" eaLnBrk="1" fontAlgn="auto" latinLnBrk="0" hangingPunct="1">
                  <a:lnSpc>
                    <a:spcPct val="90000"/>
                  </a:lnSpc>
                  <a:spcBef>
                    <a:spcPts val="1117"/>
                  </a:spcBef>
                  <a:spcAft>
                    <a:spcPts val="0"/>
                  </a:spcAft>
                  <a:buClr>
                    <a:srgbClr val="F0BE0F"/>
                  </a:buClr>
                  <a:buSzTx/>
                  <a:buFont typeface="Arial" panose="020B0604020202020204" pitchFamily="34" charset="0"/>
                  <a:buChar char="•"/>
                  <a:tabLst/>
                  <a:defRPr/>
                </a:pPr>
                <a:r>
                  <a:rPr kumimoji="0" lang="fa-IR" sz="1200" b="0" i="0" u="none" strike="noStrike" kern="1200" cap="none" spc="0" normalizeH="0" baseline="0" noProof="0" dirty="0">
                    <a:ln>
                      <a:noFill/>
                    </a:ln>
                    <a:solidFill>
                      <a:prstClr val="white">
                        <a:lumMod val="75000"/>
                      </a:prstClr>
                    </a:solidFill>
                    <a:effectLst/>
                    <a:uLnTx/>
                    <a:uFillTx/>
                    <a:latin typeface="Yekan Bakh" pitchFamily="2" charset="-78"/>
                    <a:ea typeface="Yekan Bakh" pitchFamily="2" charset="-78"/>
                    <a:cs typeface="Yekan Bakh" pitchFamily="2" charset="-78"/>
                  </a:rPr>
                  <a:t>نقشه ارزش</a:t>
                </a:r>
              </a:p>
            </p:txBody>
          </p:sp>
          <p:sp>
            <p:nvSpPr>
              <p:cNvPr id="5" name="TextBox 4">
                <a:extLst>
                  <a:ext uri="{FF2B5EF4-FFF2-40B4-BE49-F238E27FC236}">
                    <a16:creationId xmlns:a16="http://schemas.microsoft.com/office/drawing/2014/main" id="{BE6372B1-A383-C4FE-C65E-8702FA5E06FB}"/>
                  </a:ext>
                </a:extLst>
              </p:cNvPr>
              <p:cNvSpPr txBox="1"/>
              <p:nvPr/>
            </p:nvSpPr>
            <p:spPr>
              <a:xfrm>
                <a:off x="525137" y="3840896"/>
                <a:ext cx="899015" cy="291618"/>
              </a:xfrm>
              <a:prstGeom prst="rect">
                <a:avLst/>
              </a:prstGeom>
              <a:noFill/>
            </p:spPr>
            <p:txBody>
              <a:bodyPr wrap="square" anchor="ctr">
                <a:spAutoFit/>
              </a:bodyPr>
              <a:lstStyle/>
              <a:p>
                <a:pPr marL="0" marR="0" lvl="0" indent="0" algn="ctr" defTabSz="914400" rtl="0" eaLnBrk="1" fontAlgn="auto" latinLnBrk="0" hangingPunct="1">
                  <a:lnSpc>
                    <a:spcPct val="90000"/>
                  </a:lnSpc>
                  <a:spcBef>
                    <a:spcPts val="1117"/>
                  </a:spcBef>
                  <a:spcAft>
                    <a:spcPts val="0"/>
                  </a:spcAft>
                  <a:buClr>
                    <a:srgbClr val="F0BE0F"/>
                  </a:buClr>
                  <a:buSzTx/>
                  <a:buFontTx/>
                  <a:buNone/>
                  <a:tabLst/>
                  <a:defRPr/>
                </a:pPr>
                <a:r>
                  <a:rPr kumimoji="0" lang="fa-IR" sz="1400" b="1" i="0" u="none" strike="noStrike" kern="1200" cap="none" spc="0" normalizeH="0" baseline="0" noProof="0" dirty="0">
                    <a:ln>
                      <a:noFill/>
                    </a:ln>
                    <a:solidFill>
                      <a:srgbClr val="FDBF03">
                        <a:lumMod val="60000"/>
                        <a:lumOff val="40000"/>
                      </a:srgbClr>
                    </a:solidFill>
                    <a:effectLst/>
                    <a:uLnTx/>
                    <a:uFillTx/>
                    <a:latin typeface="Yekan Bakh FaNum SmBoldSmCond" pitchFamily="2" charset="-78"/>
                    <a:ea typeface="Yekan Bakh FaNum SmBoldSmCond" pitchFamily="2" charset="-78"/>
                    <a:cs typeface="Yekan Bakh FaNum SmBoldSmCond" pitchFamily="2" charset="-78"/>
                  </a:rPr>
                  <a:t>۶۷-۹۰</a:t>
                </a:r>
                <a:endParaRPr kumimoji="0" lang="en-US" sz="1400" b="1" i="0" u="none" strike="noStrike" kern="1200" cap="none" spc="0" normalizeH="0" baseline="0" noProof="0" dirty="0">
                  <a:ln>
                    <a:noFill/>
                  </a:ln>
                  <a:solidFill>
                    <a:srgbClr val="FDBF03">
                      <a:lumMod val="60000"/>
                      <a:lumOff val="40000"/>
                    </a:srgbClr>
                  </a:solidFill>
                  <a:effectLst/>
                  <a:uLnTx/>
                  <a:uFillTx/>
                  <a:latin typeface="Yekan Bakh FaNum SmBoldSmCond" pitchFamily="2" charset="-78"/>
                  <a:ea typeface="Yekan Bakh FaNum SmBoldSmCond" pitchFamily="2" charset="-78"/>
                  <a:cs typeface="Yekan Bakh FaNum SmBoldSmCond" pitchFamily="2" charset="-78"/>
                </a:endParaRPr>
              </a:p>
            </p:txBody>
          </p:sp>
        </p:grpSp>
        <p:grpSp>
          <p:nvGrpSpPr>
            <p:cNvPr id="6" name="Group 5">
              <a:extLst>
                <a:ext uri="{FF2B5EF4-FFF2-40B4-BE49-F238E27FC236}">
                  <a16:creationId xmlns:a16="http://schemas.microsoft.com/office/drawing/2014/main" id="{8042310C-891F-61F1-D1B0-036F0408F43C}"/>
                </a:ext>
              </a:extLst>
            </p:cNvPr>
            <p:cNvGrpSpPr/>
            <p:nvPr/>
          </p:nvGrpSpPr>
          <p:grpSpPr>
            <a:xfrm>
              <a:off x="525137" y="4241716"/>
              <a:ext cx="4582122" cy="291618"/>
              <a:chOff x="525137" y="3840896"/>
              <a:chExt cx="4582122" cy="291618"/>
            </a:xfrm>
          </p:grpSpPr>
          <p:sp>
            <p:nvSpPr>
              <p:cNvPr id="7" name="TextBox 6">
                <a:extLst>
                  <a:ext uri="{FF2B5EF4-FFF2-40B4-BE49-F238E27FC236}">
                    <a16:creationId xmlns:a16="http://schemas.microsoft.com/office/drawing/2014/main" id="{5D58A52A-D418-F2A6-91AB-5556DACC87BC}"/>
                  </a:ext>
                </a:extLst>
              </p:cNvPr>
              <p:cNvSpPr txBox="1"/>
              <p:nvPr/>
            </p:nvSpPr>
            <p:spPr>
              <a:xfrm>
                <a:off x="1648542" y="3855130"/>
                <a:ext cx="3458717" cy="263149"/>
              </a:xfrm>
              <a:prstGeom prst="rect">
                <a:avLst/>
              </a:prstGeom>
              <a:noFill/>
            </p:spPr>
            <p:txBody>
              <a:bodyPr wrap="square" anchor="ctr">
                <a:spAutoFit/>
              </a:bodyPr>
              <a:lstStyle/>
              <a:p>
                <a:pPr marL="285750" marR="0" lvl="0" indent="-285750" algn="r" defTabSz="914400" rtl="1" eaLnBrk="1" fontAlgn="auto" latinLnBrk="0" hangingPunct="1">
                  <a:lnSpc>
                    <a:spcPct val="90000"/>
                  </a:lnSpc>
                  <a:spcBef>
                    <a:spcPts val="1117"/>
                  </a:spcBef>
                  <a:spcAft>
                    <a:spcPts val="0"/>
                  </a:spcAft>
                  <a:buClr>
                    <a:srgbClr val="F0BE0F"/>
                  </a:buClr>
                  <a:buSzTx/>
                  <a:buFont typeface="Arial" panose="020B0604020202020204" pitchFamily="34" charset="0"/>
                  <a:buChar char="•"/>
                  <a:tabLst/>
                  <a:defRPr/>
                </a:pPr>
                <a:r>
                  <a:rPr kumimoji="0" lang="fa-IR" sz="1200" b="0" i="0" u="none" strike="noStrike" kern="1200" cap="none" spc="0" normalizeH="0" baseline="0" noProof="0" dirty="0">
                    <a:ln>
                      <a:noFill/>
                    </a:ln>
                    <a:solidFill>
                      <a:prstClr val="white">
                        <a:lumMod val="75000"/>
                      </a:prstClr>
                    </a:solidFill>
                    <a:effectLst/>
                    <a:uLnTx/>
                    <a:uFillTx/>
                    <a:latin typeface="Yekan Bakh" pitchFamily="2" charset="-78"/>
                    <a:ea typeface="Yekan Bakh" pitchFamily="2" charset="-78"/>
                    <a:cs typeface="Yekan Bakh" pitchFamily="2" charset="-78"/>
                  </a:rPr>
                  <a:t>ارزش پیشنهادی به تفکیک پرسونا</a:t>
                </a:r>
              </a:p>
            </p:txBody>
          </p:sp>
          <p:sp>
            <p:nvSpPr>
              <p:cNvPr id="8" name="TextBox 7">
                <a:extLst>
                  <a:ext uri="{FF2B5EF4-FFF2-40B4-BE49-F238E27FC236}">
                    <a16:creationId xmlns:a16="http://schemas.microsoft.com/office/drawing/2014/main" id="{21CB3733-01EF-6BC6-3ADC-666088D839FE}"/>
                  </a:ext>
                </a:extLst>
              </p:cNvPr>
              <p:cNvSpPr txBox="1"/>
              <p:nvPr/>
            </p:nvSpPr>
            <p:spPr>
              <a:xfrm>
                <a:off x="525137" y="3840896"/>
                <a:ext cx="899015" cy="291618"/>
              </a:xfrm>
              <a:prstGeom prst="rect">
                <a:avLst/>
              </a:prstGeom>
              <a:noFill/>
            </p:spPr>
            <p:txBody>
              <a:bodyPr wrap="square" anchor="ctr">
                <a:spAutoFit/>
              </a:bodyPr>
              <a:lstStyle/>
              <a:p>
                <a:pPr marL="0" marR="0" lvl="0" indent="0" algn="ctr" defTabSz="914400" rtl="0" eaLnBrk="1" fontAlgn="auto" latinLnBrk="0" hangingPunct="1">
                  <a:lnSpc>
                    <a:spcPct val="90000"/>
                  </a:lnSpc>
                  <a:spcBef>
                    <a:spcPts val="1117"/>
                  </a:spcBef>
                  <a:spcAft>
                    <a:spcPts val="0"/>
                  </a:spcAft>
                  <a:buClr>
                    <a:srgbClr val="F0BE0F"/>
                  </a:buClr>
                  <a:buSzTx/>
                  <a:buFontTx/>
                  <a:buNone/>
                  <a:tabLst/>
                  <a:defRPr/>
                </a:pPr>
                <a:r>
                  <a:rPr kumimoji="0" lang="fa-IR" sz="1400" b="1" i="0" u="none" strike="noStrike" kern="1200" cap="none" spc="0" normalizeH="0" baseline="0" noProof="0" dirty="0">
                    <a:ln>
                      <a:noFill/>
                    </a:ln>
                    <a:solidFill>
                      <a:srgbClr val="FDBF03">
                        <a:lumMod val="60000"/>
                        <a:lumOff val="40000"/>
                      </a:srgbClr>
                    </a:solidFill>
                    <a:effectLst/>
                    <a:uLnTx/>
                    <a:uFillTx/>
                    <a:latin typeface="Yekan Bakh FaNum SmBoldSmCond" pitchFamily="2" charset="-78"/>
                    <a:ea typeface="Yekan Bakh FaNum SmBoldSmCond" pitchFamily="2" charset="-78"/>
                    <a:cs typeface="Yekan Bakh FaNum SmBoldSmCond" pitchFamily="2" charset="-78"/>
                  </a:rPr>
                  <a:t>۹۱</a:t>
                </a:r>
                <a:endParaRPr kumimoji="0" lang="en-US" sz="1400" b="1" i="0" u="none" strike="noStrike" kern="1200" cap="none" spc="0" normalizeH="0" baseline="0" noProof="0" dirty="0">
                  <a:ln>
                    <a:noFill/>
                  </a:ln>
                  <a:solidFill>
                    <a:srgbClr val="FDBF03">
                      <a:lumMod val="60000"/>
                      <a:lumOff val="40000"/>
                    </a:srgbClr>
                  </a:solidFill>
                  <a:effectLst/>
                  <a:uLnTx/>
                  <a:uFillTx/>
                  <a:latin typeface="Yekan Bakh FaNum SmBoldSmCond" pitchFamily="2" charset="-78"/>
                  <a:ea typeface="Yekan Bakh FaNum SmBoldSmCond" pitchFamily="2" charset="-78"/>
                  <a:cs typeface="Yekan Bakh FaNum SmBoldSmCond" pitchFamily="2" charset="-78"/>
                </a:endParaRPr>
              </a:p>
            </p:txBody>
          </p:sp>
        </p:grpSp>
        <p:grpSp>
          <p:nvGrpSpPr>
            <p:cNvPr id="10" name="Group 9">
              <a:extLst>
                <a:ext uri="{FF2B5EF4-FFF2-40B4-BE49-F238E27FC236}">
                  <a16:creationId xmlns:a16="http://schemas.microsoft.com/office/drawing/2014/main" id="{0C4E033B-C720-29C8-F3A8-B790BA924FD9}"/>
                </a:ext>
              </a:extLst>
            </p:cNvPr>
            <p:cNvGrpSpPr/>
            <p:nvPr/>
          </p:nvGrpSpPr>
          <p:grpSpPr>
            <a:xfrm>
              <a:off x="525137" y="4562776"/>
              <a:ext cx="4582122" cy="291618"/>
              <a:chOff x="525137" y="3840896"/>
              <a:chExt cx="4582122" cy="291618"/>
            </a:xfrm>
          </p:grpSpPr>
          <p:sp>
            <p:nvSpPr>
              <p:cNvPr id="11" name="TextBox 10">
                <a:extLst>
                  <a:ext uri="{FF2B5EF4-FFF2-40B4-BE49-F238E27FC236}">
                    <a16:creationId xmlns:a16="http://schemas.microsoft.com/office/drawing/2014/main" id="{5DEBFDFF-2998-2E5D-36A5-2683CE37DFD8}"/>
                  </a:ext>
                </a:extLst>
              </p:cNvPr>
              <p:cNvSpPr txBox="1"/>
              <p:nvPr/>
            </p:nvSpPr>
            <p:spPr>
              <a:xfrm>
                <a:off x="1648542" y="3855130"/>
                <a:ext cx="3458717" cy="263149"/>
              </a:xfrm>
              <a:prstGeom prst="rect">
                <a:avLst/>
              </a:prstGeom>
              <a:noFill/>
            </p:spPr>
            <p:txBody>
              <a:bodyPr wrap="square" anchor="ctr">
                <a:spAutoFit/>
              </a:bodyPr>
              <a:lstStyle/>
              <a:p>
                <a:pPr marL="285750" marR="0" lvl="0" indent="-285750" algn="r" defTabSz="914400" rtl="1" eaLnBrk="1" fontAlgn="auto" latinLnBrk="0" hangingPunct="1">
                  <a:lnSpc>
                    <a:spcPct val="90000"/>
                  </a:lnSpc>
                  <a:spcBef>
                    <a:spcPts val="1117"/>
                  </a:spcBef>
                  <a:spcAft>
                    <a:spcPts val="0"/>
                  </a:spcAft>
                  <a:buClr>
                    <a:srgbClr val="F0BE0F"/>
                  </a:buClr>
                  <a:buSzTx/>
                  <a:buFont typeface="Arial" panose="020B0604020202020204" pitchFamily="34" charset="0"/>
                  <a:buChar char="•"/>
                  <a:tabLst/>
                  <a:defRPr/>
                </a:pPr>
                <a:r>
                  <a:rPr kumimoji="0" lang="fa-IR" sz="1200" b="0" i="0" u="none" strike="noStrike" kern="1200" cap="none" spc="0" normalizeH="0" baseline="0" noProof="0" dirty="0">
                    <a:ln>
                      <a:noFill/>
                    </a:ln>
                    <a:solidFill>
                      <a:prstClr val="white">
                        <a:lumMod val="75000"/>
                      </a:prstClr>
                    </a:solidFill>
                    <a:effectLst/>
                    <a:uLnTx/>
                    <a:uFillTx/>
                    <a:latin typeface="Yekan Bakh" pitchFamily="2" charset="-78"/>
                    <a:ea typeface="Yekan Bakh" pitchFamily="2" charset="-78"/>
                    <a:cs typeface="Yekan Bakh" pitchFamily="2" charset="-78"/>
                  </a:rPr>
                  <a:t>ارزش پیشنهادی</a:t>
                </a:r>
              </a:p>
            </p:txBody>
          </p:sp>
          <p:sp>
            <p:nvSpPr>
              <p:cNvPr id="12" name="TextBox 11">
                <a:extLst>
                  <a:ext uri="{FF2B5EF4-FFF2-40B4-BE49-F238E27FC236}">
                    <a16:creationId xmlns:a16="http://schemas.microsoft.com/office/drawing/2014/main" id="{EC972BCB-B444-D5D1-1A61-E0532D00F07A}"/>
                  </a:ext>
                </a:extLst>
              </p:cNvPr>
              <p:cNvSpPr txBox="1"/>
              <p:nvPr/>
            </p:nvSpPr>
            <p:spPr>
              <a:xfrm>
                <a:off x="525137" y="3840896"/>
                <a:ext cx="899015" cy="291618"/>
              </a:xfrm>
              <a:prstGeom prst="rect">
                <a:avLst/>
              </a:prstGeom>
              <a:noFill/>
            </p:spPr>
            <p:txBody>
              <a:bodyPr wrap="square" anchor="ctr">
                <a:spAutoFit/>
              </a:bodyPr>
              <a:lstStyle/>
              <a:p>
                <a:pPr marL="0" marR="0" lvl="0" indent="0" algn="ctr" defTabSz="914400" rtl="0" eaLnBrk="1" fontAlgn="auto" latinLnBrk="0" hangingPunct="1">
                  <a:lnSpc>
                    <a:spcPct val="90000"/>
                  </a:lnSpc>
                  <a:spcBef>
                    <a:spcPts val="1117"/>
                  </a:spcBef>
                  <a:spcAft>
                    <a:spcPts val="0"/>
                  </a:spcAft>
                  <a:buClr>
                    <a:srgbClr val="F0BE0F"/>
                  </a:buClr>
                  <a:buSzTx/>
                  <a:buFontTx/>
                  <a:buNone/>
                  <a:tabLst/>
                  <a:defRPr/>
                </a:pPr>
                <a:r>
                  <a:rPr kumimoji="0" lang="fa-IR" sz="1400" b="1" i="0" u="none" strike="noStrike" kern="1200" cap="none" spc="0" normalizeH="0" baseline="0" noProof="0" dirty="0">
                    <a:ln>
                      <a:noFill/>
                    </a:ln>
                    <a:solidFill>
                      <a:srgbClr val="FDBF03">
                        <a:lumMod val="60000"/>
                        <a:lumOff val="40000"/>
                      </a:srgbClr>
                    </a:solidFill>
                    <a:effectLst/>
                    <a:uLnTx/>
                    <a:uFillTx/>
                    <a:latin typeface="Yekan Bakh FaNum SmBoldSmCond" pitchFamily="2" charset="-78"/>
                    <a:ea typeface="Yekan Bakh FaNum SmBoldSmCond" pitchFamily="2" charset="-78"/>
                    <a:cs typeface="Yekan Bakh FaNum SmBoldSmCond" pitchFamily="2" charset="-78"/>
                  </a:rPr>
                  <a:t>۹۲</a:t>
                </a:r>
                <a:endParaRPr kumimoji="0" lang="en-US" sz="1400" b="1" i="0" u="none" strike="noStrike" kern="1200" cap="none" spc="0" normalizeH="0" baseline="0" noProof="0" dirty="0">
                  <a:ln>
                    <a:noFill/>
                  </a:ln>
                  <a:solidFill>
                    <a:srgbClr val="FDBF03">
                      <a:lumMod val="60000"/>
                      <a:lumOff val="40000"/>
                    </a:srgbClr>
                  </a:solidFill>
                  <a:effectLst/>
                  <a:uLnTx/>
                  <a:uFillTx/>
                  <a:latin typeface="Yekan Bakh FaNum SmBoldSmCond" pitchFamily="2" charset="-78"/>
                  <a:ea typeface="Yekan Bakh FaNum SmBoldSmCond" pitchFamily="2" charset="-78"/>
                  <a:cs typeface="Yekan Bakh FaNum SmBoldSmCond" pitchFamily="2" charset="-78"/>
                </a:endParaRPr>
              </a:p>
            </p:txBody>
          </p:sp>
        </p:grpSp>
      </p:grpSp>
    </p:spTree>
    <p:extLst>
      <p:ext uri="{BB962C8B-B14F-4D97-AF65-F5344CB8AC3E}">
        <p14:creationId xmlns:p14="http://schemas.microsoft.com/office/powerpoint/2010/main" val="318775168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E204F21-9BE4-9E22-8A88-D554B7A381AD}"/>
              </a:ext>
            </a:extLst>
          </p:cNvPr>
          <p:cNvSpPr>
            <a:spLocks noGrp="1"/>
          </p:cNvSpPr>
          <p:nvPr>
            <p:ph type="body" sz="quarter" idx="10"/>
          </p:nvPr>
        </p:nvSpPr>
        <p:spPr/>
        <p:txBody>
          <a:bodyPr/>
          <a:lstStyle/>
          <a:p>
            <a:r>
              <a:rPr lang="fa-IR" dirty="0"/>
              <a:t>چرخه تقویت‌شونده خلق ارزش </a:t>
            </a:r>
            <a:endParaRPr lang="en-US" dirty="0"/>
          </a:p>
          <a:p>
            <a:endParaRPr lang="en-US" dirty="0"/>
          </a:p>
        </p:txBody>
      </p:sp>
      <p:sp>
        <p:nvSpPr>
          <p:cNvPr id="3" name="Text Placeholder 2">
            <a:extLst>
              <a:ext uri="{FF2B5EF4-FFF2-40B4-BE49-F238E27FC236}">
                <a16:creationId xmlns:a16="http://schemas.microsoft.com/office/drawing/2014/main" id="{894E255A-FCE7-3CB9-8725-DDABF4E83E9E}"/>
              </a:ext>
            </a:extLst>
          </p:cNvPr>
          <p:cNvSpPr>
            <a:spLocks noGrp="1"/>
          </p:cNvSpPr>
          <p:nvPr>
            <p:ph type="body" sz="quarter" idx="12"/>
          </p:nvPr>
        </p:nvSpPr>
        <p:spPr/>
        <p:txBody>
          <a:bodyPr/>
          <a:lstStyle/>
          <a:p>
            <a:r>
              <a:rPr lang="fa-IR"/>
              <a:t>هر نتیجه و خروجی موفق، یکی از ورودی‌های چرخه بعدی را تقویت می‌کند </a:t>
            </a:r>
            <a:endParaRPr lang="en-US"/>
          </a:p>
          <a:p>
            <a:endParaRPr lang="en-US"/>
          </a:p>
        </p:txBody>
      </p:sp>
      <p:grpSp>
        <p:nvGrpSpPr>
          <p:cNvPr id="92" name="Group 91">
            <a:extLst>
              <a:ext uri="{FF2B5EF4-FFF2-40B4-BE49-F238E27FC236}">
                <a16:creationId xmlns:a16="http://schemas.microsoft.com/office/drawing/2014/main" id="{E840087D-E0F4-5681-3A1A-7C4D355C0366}"/>
              </a:ext>
            </a:extLst>
          </p:cNvPr>
          <p:cNvGrpSpPr/>
          <p:nvPr/>
        </p:nvGrpSpPr>
        <p:grpSpPr>
          <a:xfrm>
            <a:off x="3009557" y="1974042"/>
            <a:ext cx="2601244" cy="3265153"/>
            <a:chOff x="4846981" y="1778279"/>
            <a:chExt cx="2601244" cy="3265153"/>
          </a:xfrm>
        </p:grpSpPr>
        <p:cxnSp>
          <p:nvCxnSpPr>
            <p:cNvPr id="85" name="Connector: Elbow 84">
              <a:extLst>
                <a:ext uri="{FF2B5EF4-FFF2-40B4-BE49-F238E27FC236}">
                  <a16:creationId xmlns:a16="http://schemas.microsoft.com/office/drawing/2014/main" id="{89D5924C-FF0A-D2E1-3B68-FC1D8BF81EF8}"/>
                </a:ext>
              </a:extLst>
            </p:cNvPr>
            <p:cNvCxnSpPr/>
            <p:nvPr/>
          </p:nvCxnSpPr>
          <p:spPr>
            <a:xfrm flipV="1">
              <a:off x="6461179" y="4842555"/>
              <a:ext cx="914400" cy="200877"/>
            </a:xfrm>
            <a:prstGeom prst="bentConnector3">
              <a:avLst>
                <a:gd name="adj1" fmla="val 29592"/>
              </a:avLst>
            </a:prstGeom>
          </p:spPr>
          <p:style>
            <a:lnRef idx="1">
              <a:schemeClr val="accent3"/>
            </a:lnRef>
            <a:fillRef idx="0">
              <a:schemeClr val="accent3"/>
            </a:fillRef>
            <a:effectRef idx="0">
              <a:schemeClr val="accent3"/>
            </a:effectRef>
            <a:fontRef idx="minor">
              <a:schemeClr val="tx1"/>
            </a:fontRef>
          </p:style>
        </p:cxnSp>
        <p:cxnSp>
          <p:nvCxnSpPr>
            <p:cNvPr id="87" name="Connector: Elbow 86">
              <a:extLst>
                <a:ext uri="{FF2B5EF4-FFF2-40B4-BE49-F238E27FC236}">
                  <a16:creationId xmlns:a16="http://schemas.microsoft.com/office/drawing/2014/main" id="{E421AD91-A1F7-3EB6-75B5-AB31512D9E7A}"/>
                </a:ext>
              </a:extLst>
            </p:cNvPr>
            <p:cNvCxnSpPr/>
            <p:nvPr/>
          </p:nvCxnSpPr>
          <p:spPr>
            <a:xfrm flipV="1">
              <a:off x="6153653" y="4229699"/>
              <a:ext cx="1280160" cy="200877"/>
            </a:xfrm>
            <a:prstGeom prst="bentConnector3">
              <a:avLst>
                <a:gd name="adj1" fmla="val 29592"/>
              </a:avLst>
            </a:prstGeom>
          </p:spPr>
          <p:style>
            <a:lnRef idx="1">
              <a:schemeClr val="accent3"/>
            </a:lnRef>
            <a:fillRef idx="0">
              <a:schemeClr val="accent3"/>
            </a:fillRef>
            <a:effectRef idx="0">
              <a:schemeClr val="accent3"/>
            </a:effectRef>
            <a:fontRef idx="minor">
              <a:schemeClr val="tx1"/>
            </a:fontRef>
          </p:style>
        </p:cxnSp>
        <p:cxnSp>
          <p:nvCxnSpPr>
            <p:cNvPr id="88" name="Connector: Elbow 87">
              <a:extLst>
                <a:ext uri="{FF2B5EF4-FFF2-40B4-BE49-F238E27FC236}">
                  <a16:creationId xmlns:a16="http://schemas.microsoft.com/office/drawing/2014/main" id="{572E8E66-ECA8-4F09-4F57-A75E1FD90EC0}"/>
                </a:ext>
              </a:extLst>
            </p:cNvPr>
            <p:cNvCxnSpPr/>
            <p:nvPr/>
          </p:nvCxnSpPr>
          <p:spPr>
            <a:xfrm flipV="1">
              <a:off x="5854700" y="3616844"/>
              <a:ext cx="1554480" cy="200877"/>
            </a:xfrm>
            <a:prstGeom prst="bentConnector3">
              <a:avLst>
                <a:gd name="adj1" fmla="val 29592"/>
              </a:avLst>
            </a:prstGeom>
          </p:spPr>
          <p:style>
            <a:lnRef idx="1">
              <a:schemeClr val="accent3"/>
            </a:lnRef>
            <a:fillRef idx="0">
              <a:schemeClr val="accent3"/>
            </a:fillRef>
            <a:effectRef idx="0">
              <a:schemeClr val="accent3"/>
            </a:effectRef>
            <a:fontRef idx="minor">
              <a:schemeClr val="tx1"/>
            </a:fontRef>
          </p:style>
        </p:cxnSp>
        <p:cxnSp>
          <p:nvCxnSpPr>
            <p:cNvPr id="89" name="Connector: Elbow 88">
              <a:extLst>
                <a:ext uri="{FF2B5EF4-FFF2-40B4-BE49-F238E27FC236}">
                  <a16:creationId xmlns:a16="http://schemas.microsoft.com/office/drawing/2014/main" id="{93998858-02E4-FB01-7F89-25BC50C9C855}"/>
                </a:ext>
              </a:extLst>
            </p:cNvPr>
            <p:cNvCxnSpPr/>
            <p:nvPr/>
          </p:nvCxnSpPr>
          <p:spPr>
            <a:xfrm flipV="1">
              <a:off x="5527985" y="3003989"/>
              <a:ext cx="1920240" cy="200877"/>
            </a:xfrm>
            <a:prstGeom prst="bentConnector3">
              <a:avLst>
                <a:gd name="adj1" fmla="val 29592"/>
              </a:avLst>
            </a:prstGeom>
          </p:spPr>
          <p:style>
            <a:lnRef idx="1">
              <a:schemeClr val="accent3"/>
            </a:lnRef>
            <a:fillRef idx="0">
              <a:schemeClr val="accent3"/>
            </a:fillRef>
            <a:effectRef idx="0">
              <a:schemeClr val="accent3"/>
            </a:effectRef>
            <a:fontRef idx="minor">
              <a:schemeClr val="tx1"/>
            </a:fontRef>
          </p:style>
        </p:cxnSp>
        <p:cxnSp>
          <p:nvCxnSpPr>
            <p:cNvPr id="90" name="Connector: Elbow 89">
              <a:extLst>
                <a:ext uri="{FF2B5EF4-FFF2-40B4-BE49-F238E27FC236}">
                  <a16:creationId xmlns:a16="http://schemas.microsoft.com/office/drawing/2014/main" id="{B8879EC7-B216-035D-D239-81650C6133E8}"/>
                </a:ext>
              </a:extLst>
            </p:cNvPr>
            <p:cNvCxnSpPr>
              <a:cxnSpLocks/>
            </p:cNvCxnSpPr>
            <p:nvPr/>
          </p:nvCxnSpPr>
          <p:spPr>
            <a:xfrm flipV="1">
              <a:off x="5231081" y="2391134"/>
              <a:ext cx="2208099" cy="200877"/>
            </a:xfrm>
            <a:prstGeom prst="bentConnector3">
              <a:avLst>
                <a:gd name="adj1" fmla="val 30466"/>
              </a:avLst>
            </a:prstGeom>
          </p:spPr>
          <p:style>
            <a:lnRef idx="1">
              <a:schemeClr val="accent3"/>
            </a:lnRef>
            <a:fillRef idx="0">
              <a:schemeClr val="accent3"/>
            </a:fillRef>
            <a:effectRef idx="0">
              <a:schemeClr val="accent3"/>
            </a:effectRef>
            <a:fontRef idx="minor">
              <a:schemeClr val="tx1"/>
            </a:fontRef>
          </p:style>
        </p:cxnSp>
        <p:cxnSp>
          <p:nvCxnSpPr>
            <p:cNvPr id="91" name="Connector: Elbow 90">
              <a:extLst>
                <a:ext uri="{FF2B5EF4-FFF2-40B4-BE49-F238E27FC236}">
                  <a16:creationId xmlns:a16="http://schemas.microsoft.com/office/drawing/2014/main" id="{7C5E2AC3-14A9-BA61-EAD0-80CA96572666}"/>
                </a:ext>
              </a:extLst>
            </p:cNvPr>
            <p:cNvCxnSpPr/>
            <p:nvPr/>
          </p:nvCxnSpPr>
          <p:spPr>
            <a:xfrm flipV="1">
              <a:off x="4846981" y="1778279"/>
              <a:ext cx="2560320" cy="200877"/>
            </a:xfrm>
            <a:prstGeom prst="bentConnector3">
              <a:avLst>
                <a:gd name="adj1" fmla="val 29592"/>
              </a:avLst>
            </a:prstGeom>
          </p:spPr>
          <p:style>
            <a:lnRef idx="1">
              <a:schemeClr val="accent3"/>
            </a:lnRef>
            <a:fillRef idx="0">
              <a:schemeClr val="accent3"/>
            </a:fillRef>
            <a:effectRef idx="0">
              <a:schemeClr val="accent3"/>
            </a:effectRef>
            <a:fontRef idx="minor">
              <a:schemeClr val="tx1"/>
            </a:fontRef>
          </p:style>
        </p:cxnSp>
      </p:grpSp>
      <p:grpSp>
        <p:nvGrpSpPr>
          <p:cNvPr id="5" name="Group 4"/>
          <p:cNvGrpSpPr/>
          <p:nvPr/>
        </p:nvGrpSpPr>
        <p:grpSpPr>
          <a:xfrm>
            <a:off x="625924" y="2012618"/>
            <a:ext cx="2460207" cy="3744868"/>
            <a:chOff x="2133748" y="1633251"/>
            <a:chExt cx="1828800" cy="2783756"/>
          </a:xfrm>
        </p:grpSpPr>
        <p:sp>
          <p:nvSpPr>
            <p:cNvPr id="4" name="Rounded Rectangle 2"/>
            <p:cNvSpPr/>
            <p:nvPr/>
          </p:nvSpPr>
          <p:spPr>
            <a:xfrm>
              <a:off x="2133748" y="1633251"/>
              <a:ext cx="1765630" cy="2766498"/>
            </a:xfrm>
            <a:custGeom>
              <a:avLst/>
              <a:gdLst/>
              <a:ahLst/>
              <a:cxnLst/>
              <a:rect l="0" t="0" r="0" b="0"/>
              <a:pathLst>
                <a:path w="1765630" h="2766498">
                  <a:moveTo>
                    <a:pt x="1434779" y="17259"/>
                  </a:moveTo>
                  <a:lnTo>
                    <a:pt x="126368" y="671474"/>
                  </a:lnTo>
                  <a:cubicBezTo>
                    <a:pt x="48920" y="710193"/>
                    <a:pt x="0" y="789346"/>
                    <a:pt x="0" y="875938"/>
                  </a:cubicBezTo>
                  <a:lnTo>
                    <a:pt x="0" y="2549966"/>
                  </a:lnTo>
                  <a:cubicBezTo>
                    <a:pt x="0" y="2596324"/>
                    <a:pt x="26622" y="2633843"/>
                    <a:pt x="63169" y="2652198"/>
                  </a:cubicBezTo>
                  <a:lnTo>
                    <a:pt x="291769" y="2766498"/>
                  </a:lnTo>
                  <a:cubicBezTo>
                    <a:pt x="255222" y="2748143"/>
                    <a:pt x="228600" y="2710624"/>
                    <a:pt x="228600" y="2664266"/>
                  </a:cubicBezTo>
                  <a:lnTo>
                    <a:pt x="228600" y="990238"/>
                  </a:lnTo>
                  <a:cubicBezTo>
                    <a:pt x="228600" y="903646"/>
                    <a:pt x="277520" y="824493"/>
                    <a:pt x="354968" y="785774"/>
                  </a:cubicBezTo>
                  <a:lnTo>
                    <a:pt x="1663379" y="131559"/>
                  </a:lnTo>
                  <a:cubicBezTo>
                    <a:pt x="1697774" y="114366"/>
                    <a:pt x="1734921" y="116271"/>
                    <a:pt x="1765277" y="131387"/>
                  </a:cubicBezTo>
                  <a:lnTo>
                    <a:pt x="1537030" y="17259"/>
                  </a:lnTo>
                  <a:cubicBezTo>
                    <a:pt x="1506607" y="1981"/>
                    <a:pt x="1469307" y="0"/>
                    <a:pt x="1434779" y="17259"/>
                  </a:cubicBezTo>
                  <a:moveTo>
                    <a:pt x="1765277" y="131387"/>
                  </a:moveTo>
                  <a:cubicBezTo>
                    <a:pt x="1765401" y="131445"/>
                    <a:pt x="1765515" y="131502"/>
                    <a:pt x="1765630" y="131559"/>
                  </a:cubicBezTo>
                </a:path>
              </a:pathLst>
            </a:custGeom>
            <a:solidFill>
              <a:srgbClr val="1EABDA">
                <a:alpha val="20000"/>
              </a:srgbClr>
            </a:solidFill>
            <a:ln>
              <a:noFill/>
            </a:ln>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Calibri"/>
              </a:endParaRPr>
            </a:p>
          </p:txBody>
        </p:sp>
        <p:sp>
          <p:nvSpPr>
            <p:cNvPr id="6" name="Rounded Rectangle 3"/>
            <p:cNvSpPr/>
            <p:nvPr/>
          </p:nvSpPr>
          <p:spPr>
            <a:xfrm>
              <a:off x="2362348" y="1747617"/>
              <a:ext cx="1600200" cy="2669390"/>
            </a:xfrm>
            <a:custGeom>
              <a:avLst/>
              <a:gdLst/>
              <a:ahLst/>
              <a:cxnLst/>
              <a:rect l="0" t="0" r="0" b="0"/>
              <a:pathLst>
                <a:path w="1600200" h="2669390">
                  <a:moveTo>
                    <a:pt x="1434779" y="17192"/>
                  </a:moveTo>
                  <a:lnTo>
                    <a:pt x="126368" y="671407"/>
                  </a:lnTo>
                  <a:cubicBezTo>
                    <a:pt x="48920" y="710126"/>
                    <a:pt x="0" y="789279"/>
                    <a:pt x="0" y="875871"/>
                  </a:cubicBezTo>
                  <a:lnTo>
                    <a:pt x="0" y="2549899"/>
                  </a:lnTo>
                  <a:cubicBezTo>
                    <a:pt x="0" y="2596257"/>
                    <a:pt x="26622" y="2633776"/>
                    <a:pt x="63169" y="2652131"/>
                  </a:cubicBezTo>
                  <a:cubicBezTo>
                    <a:pt x="93592" y="2667409"/>
                    <a:pt x="130892" y="2669390"/>
                    <a:pt x="165420" y="2652131"/>
                  </a:cubicBezTo>
                  <a:lnTo>
                    <a:pt x="342890" y="2563387"/>
                  </a:lnTo>
                  <a:lnTo>
                    <a:pt x="291769" y="2537831"/>
                  </a:lnTo>
                  <a:cubicBezTo>
                    <a:pt x="255222" y="2519476"/>
                    <a:pt x="228600" y="2481957"/>
                    <a:pt x="228600" y="2435599"/>
                  </a:cubicBezTo>
                  <a:lnTo>
                    <a:pt x="228600" y="1047321"/>
                  </a:lnTo>
                  <a:cubicBezTo>
                    <a:pt x="228600" y="960729"/>
                    <a:pt x="277520" y="881576"/>
                    <a:pt x="354968" y="842857"/>
                  </a:cubicBezTo>
                  <a:lnTo>
                    <a:pt x="1434779" y="302942"/>
                  </a:lnTo>
                  <a:cubicBezTo>
                    <a:pt x="1469307" y="285683"/>
                    <a:pt x="1506607" y="287664"/>
                    <a:pt x="1537030" y="302942"/>
                  </a:cubicBezTo>
                  <a:lnTo>
                    <a:pt x="1600200" y="334527"/>
                  </a:lnTo>
                  <a:lnTo>
                    <a:pt x="1600200" y="119424"/>
                  </a:lnTo>
                  <a:cubicBezTo>
                    <a:pt x="1600200" y="73066"/>
                    <a:pt x="1573577" y="35547"/>
                    <a:pt x="1537030" y="17192"/>
                  </a:cubicBezTo>
                  <a:cubicBezTo>
                    <a:pt x="1506321" y="1904"/>
                    <a:pt x="1469174" y="0"/>
                    <a:pt x="1434779" y="17192"/>
                  </a:cubicBezTo>
                </a:path>
              </a:pathLst>
            </a:custGeom>
            <a:solidFill>
              <a:srgbClr val="1EABDA">
                <a:alpha val="20000"/>
              </a:srgbClr>
            </a:solidFill>
            <a:ln>
              <a:noFill/>
            </a:ln>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Calibri"/>
              </a:endParaRPr>
            </a:p>
          </p:txBody>
        </p:sp>
      </p:grpSp>
      <p:grpSp>
        <p:nvGrpSpPr>
          <p:cNvPr id="8" name="Group 7"/>
          <p:cNvGrpSpPr/>
          <p:nvPr/>
        </p:nvGrpSpPr>
        <p:grpSpPr>
          <a:xfrm>
            <a:off x="625924" y="2012615"/>
            <a:ext cx="2460207" cy="3744875"/>
            <a:chOff x="2133748" y="1633249"/>
            <a:chExt cx="1828800" cy="2783761"/>
          </a:xfrm>
        </p:grpSpPr>
        <p:sp>
          <p:nvSpPr>
            <p:cNvPr id="7" name="Rounded Rectangle 5"/>
            <p:cNvSpPr/>
            <p:nvPr/>
          </p:nvSpPr>
          <p:spPr>
            <a:xfrm>
              <a:off x="2133748" y="1633249"/>
              <a:ext cx="1765634" cy="2766498"/>
            </a:xfrm>
            <a:custGeom>
              <a:avLst/>
              <a:gdLst/>
              <a:ahLst/>
              <a:cxnLst/>
              <a:rect l="0" t="0" r="0" b="0"/>
              <a:pathLst>
                <a:path w="1765634" h="2766498">
                  <a:moveTo>
                    <a:pt x="1434783" y="17265"/>
                  </a:moveTo>
                  <a:lnTo>
                    <a:pt x="126367" y="671472"/>
                  </a:lnTo>
                  <a:cubicBezTo>
                    <a:pt x="48921" y="710195"/>
                    <a:pt x="0" y="789351"/>
                    <a:pt x="0" y="875939"/>
                  </a:cubicBezTo>
                  <a:lnTo>
                    <a:pt x="0" y="2549964"/>
                  </a:lnTo>
                  <a:cubicBezTo>
                    <a:pt x="0" y="2596329"/>
                    <a:pt x="26624" y="2633849"/>
                    <a:pt x="63165" y="2652198"/>
                  </a:cubicBezTo>
                  <a:lnTo>
                    <a:pt x="291765" y="2766498"/>
                  </a:lnTo>
                  <a:cubicBezTo>
                    <a:pt x="255224" y="2748149"/>
                    <a:pt x="228600" y="2710629"/>
                    <a:pt x="228600" y="2664264"/>
                  </a:cubicBezTo>
                  <a:lnTo>
                    <a:pt x="228600" y="990239"/>
                  </a:lnTo>
                  <a:cubicBezTo>
                    <a:pt x="228600" y="903651"/>
                    <a:pt x="277521" y="824495"/>
                    <a:pt x="354967" y="785772"/>
                  </a:cubicBezTo>
                  <a:lnTo>
                    <a:pt x="1663383" y="131565"/>
                  </a:lnTo>
                  <a:cubicBezTo>
                    <a:pt x="1697776" y="114367"/>
                    <a:pt x="1734919" y="116271"/>
                    <a:pt x="1765278" y="131386"/>
                  </a:cubicBezTo>
                  <a:lnTo>
                    <a:pt x="1537034" y="17265"/>
                  </a:lnTo>
                  <a:cubicBezTo>
                    <a:pt x="1506610" y="1986"/>
                    <a:pt x="1469312" y="0"/>
                    <a:pt x="1434783" y="17265"/>
                  </a:cubicBezTo>
                  <a:close/>
                  <a:moveTo>
                    <a:pt x="1765634" y="131565"/>
                  </a:moveTo>
                  <a:lnTo>
                    <a:pt x="1765278" y="131386"/>
                  </a:lnTo>
                  <a:cubicBezTo>
                    <a:pt x="1765397" y="131445"/>
                    <a:pt x="1765515" y="131505"/>
                    <a:pt x="1765634" y="131565"/>
                  </a:cubicBezTo>
                  <a:close/>
                </a:path>
              </a:pathLst>
            </a:custGeom>
            <a:noFill/>
            <a:ln w="14287">
              <a:solidFill>
                <a:srgbClr val="1EABDA"/>
              </a:solidFill>
            </a:ln>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Calibri"/>
              </a:endParaRPr>
            </a:p>
          </p:txBody>
        </p:sp>
        <p:sp>
          <p:nvSpPr>
            <p:cNvPr id="9" name="Rounded Rectangle 6"/>
            <p:cNvSpPr/>
            <p:nvPr/>
          </p:nvSpPr>
          <p:spPr>
            <a:xfrm>
              <a:off x="2362348" y="1747616"/>
              <a:ext cx="1600200" cy="2669394"/>
            </a:xfrm>
            <a:custGeom>
              <a:avLst/>
              <a:gdLst/>
              <a:ahLst/>
              <a:cxnLst/>
              <a:rect l="0" t="0" r="0" b="0"/>
              <a:pathLst>
                <a:path w="1600200" h="2669394">
                  <a:moveTo>
                    <a:pt x="1434783" y="17197"/>
                  </a:moveTo>
                  <a:lnTo>
                    <a:pt x="126367" y="671404"/>
                  </a:lnTo>
                  <a:cubicBezTo>
                    <a:pt x="48921" y="710127"/>
                    <a:pt x="0" y="789283"/>
                    <a:pt x="0" y="875871"/>
                  </a:cubicBezTo>
                  <a:lnTo>
                    <a:pt x="0" y="2549896"/>
                  </a:lnTo>
                  <a:cubicBezTo>
                    <a:pt x="0" y="2596261"/>
                    <a:pt x="26624" y="2633781"/>
                    <a:pt x="63165" y="2652130"/>
                  </a:cubicBezTo>
                  <a:cubicBezTo>
                    <a:pt x="93589" y="2667407"/>
                    <a:pt x="130887" y="2669394"/>
                    <a:pt x="165416" y="2652130"/>
                  </a:cubicBezTo>
                  <a:lnTo>
                    <a:pt x="342890" y="2563392"/>
                  </a:lnTo>
                  <a:lnTo>
                    <a:pt x="291765" y="2537830"/>
                  </a:lnTo>
                  <a:cubicBezTo>
                    <a:pt x="255224" y="2519481"/>
                    <a:pt x="228600" y="2481961"/>
                    <a:pt x="228600" y="2435596"/>
                  </a:cubicBezTo>
                  <a:lnTo>
                    <a:pt x="228600" y="1047321"/>
                  </a:lnTo>
                  <a:cubicBezTo>
                    <a:pt x="228600" y="960734"/>
                    <a:pt x="277521" y="881577"/>
                    <a:pt x="354967" y="842854"/>
                  </a:cubicBezTo>
                  <a:lnTo>
                    <a:pt x="1434784" y="302947"/>
                  </a:lnTo>
                  <a:cubicBezTo>
                    <a:pt x="1469312" y="285682"/>
                    <a:pt x="1506610" y="287669"/>
                    <a:pt x="1537034" y="302947"/>
                  </a:cubicBezTo>
                  <a:lnTo>
                    <a:pt x="1600200" y="334529"/>
                  </a:lnTo>
                  <a:lnTo>
                    <a:pt x="1600200" y="119430"/>
                  </a:lnTo>
                  <a:cubicBezTo>
                    <a:pt x="1600200" y="73065"/>
                    <a:pt x="1573575" y="35545"/>
                    <a:pt x="1537034" y="17197"/>
                  </a:cubicBezTo>
                  <a:lnTo>
                    <a:pt x="1536678" y="17019"/>
                  </a:lnTo>
                  <a:cubicBezTo>
                    <a:pt x="1506319" y="1904"/>
                    <a:pt x="1469176" y="0"/>
                    <a:pt x="1434783" y="17197"/>
                  </a:cubicBezTo>
                  <a:close/>
                  <a:moveTo>
                    <a:pt x="1537034" y="17197"/>
                  </a:moveTo>
                  <a:cubicBezTo>
                    <a:pt x="1536915" y="17137"/>
                    <a:pt x="1536797" y="17078"/>
                    <a:pt x="1536678" y="17019"/>
                  </a:cubicBezTo>
                </a:path>
              </a:pathLst>
            </a:custGeom>
            <a:noFill/>
            <a:ln w="14287">
              <a:solidFill>
                <a:srgbClr val="1EABDA"/>
              </a:solidFill>
            </a:ln>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Calibri"/>
              </a:endParaRPr>
            </a:p>
          </p:txBody>
        </p:sp>
      </p:grpSp>
      <p:grpSp>
        <p:nvGrpSpPr>
          <p:cNvPr id="11" name="Group 10"/>
          <p:cNvGrpSpPr/>
          <p:nvPr/>
        </p:nvGrpSpPr>
        <p:grpSpPr>
          <a:xfrm>
            <a:off x="1240976" y="2550788"/>
            <a:ext cx="2152681" cy="3206698"/>
            <a:chOff x="2590948" y="2033301"/>
            <a:chExt cx="1600200" cy="2383706"/>
          </a:xfrm>
        </p:grpSpPr>
        <p:sp>
          <p:nvSpPr>
            <p:cNvPr id="10" name="Rounded Rectangle 8"/>
            <p:cNvSpPr/>
            <p:nvPr/>
          </p:nvSpPr>
          <p:spPr>
            <a:xfrm>
              <a:off x="2590948" y="2033301"/>
              <a:ext cx="1537030" cy="2366448"/>
            </a:xfrm>
            <a:custGeom>
              <a:avLst/>
              <a:gdLst/>
              <a:ahLst/>
              <a:cxnLst/>
              <a:rect l="0" t="0" r="0" b="0"/>
              <a:pathLst>
                <a:path w="1537030" h="2366448">
                  <a:moveTo>
                    <a:pt x="1206179" y="17259"/>
                  </a:moveTo>
                  <a:lnTo>
                    <a:pt x="126368" y="557174"/>
                  </a:lnTo>
                  <a:cubicBezTo>
                    <a:pt x="48920" y="595893"/>
                    <a:pt x="0" y="675046"/>
                    <a:pt x="0" y="761638"/>
                  </a:cubicBezTo>
                  <a:lnTo>
                    <a:pt x="0" y="2149916"/>
                  </a:lnTo>
                  <a:cubicBezTo>
                    <a:pt x="0" y="2196274"/>
                    <a:pt x="26622" y="2233793"/>
                    <a:pt x="63169" y="2252148"/>
                  </a:cubicBezTo>
                  <a:lnTo>
                    <a:pt x="291769" y="2366448"/>
                  </a:lnTo>
                  <a:cubicBezTo>
                    <a:pt x="255222" y="2348093"/>
                    <a:pt x="228600" y="2310574"/>
                    <a:pt x="228600" y="2264216"/>
                  </a:cubicBezTo>
                  <a:lnTo>
                    <a:pt x="228600" y="875938"/>
                  </a:lnTo>
                  <a:cubicBezTo>
                    <a:pt x="228600" y="789346"/>
                    <a:pt x="277520" y="710193"/>
                    <a:pt x="354968" y="671474"/>
                  </a:cubicBezTo>
                  <a:lnTo>
                    <a:pt x="1434779" y="131559"/>
                  </a:lnTo>
                  <a:cubicBezTo>
                    <a:pt x="1469174" y="114366"/>
                    <a:pt x="1506321" y="116271"/>
                    <a:pt x="1536677" y="131387"/>
                  </a:cubicBezTo>
                  <a:lnTo>
                    <a:pt x="1308430" y="17259"/>
                  </a:lnTo>
                  <a:cubicBezTo>
                    <a:pt x="1278007" y="1981"/>
                    <a:pt x="1240707" y="0"/>
                    <a:pt x="1206179" y="17259"/>
                  </a:cubicBezTo>
                  <a:moveTo>
                    <a:pt x="1536677" y="131387"/>
                  </a:moveTo>
                  <a:cubicBezTo>
                    <a:pt x="1536801" y="131445"/>
                    <a:pt x="1536915" y="131502"/>
                    <a:pt x="1537030" y="131559"/>
                  </a:cubicBezTo>
                </a:path>
              </a:pathLst>
            </a:custGeom>
            <a:solidFill>
              <a:srgbClr val="3CC583">
                <a:alpha val="20000"/>
              </a:srgbClr>
            </a:solidFill>
            <a:ln>
              <a:noFill/>
            </a:ln>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Calibri"/>
              </a:endParaRPr>
            </a:p>
          </p:txBody>
        </p:sp>
        <p:sp>
          <p:nvSpPr>
            <p:cNvPr id="12" name="Rounded Rectangle 9"/>
            <p:cNvSpPr/>
            <p:nvPr/>
          </p:nvSpPr>
          <p:spPr>
            <a:xfrm>
              <a:off x="2819548" y="2147667"/>
              <a:ext cx="1371600" cy="2269340"/>
            </a:xfrm>
            <a:custGeom>
              <a:avLst/>
              <a:gdLst/>
              <a:ahLst/>
              <a:cxnLst/>
              <a:rect l="0" t="0" r="0" b="0"/>
              <a:pathLst>
                <a:path w="1371600" h="2269340">
                  <a:moveTo>
                    <a:pt x="1206179" y="17192"/>
                  </a:moveTo>
                  <a:lnTo>
                    <a:pt x="126368" y="557107"/>
                  </a:lnTo>
                  <a:cubicBezTo>
                    <a:pt x="48920" y="595826"/>
                    <a:pt x="0" y="674979"/>
                    <a:pt x="0" y="761571"/>
                  </a:cubicBezTo>
                  <a:lnTo>
                    <a:pt x="0" y="2149849"/>
                  </a:lnTo>
                  <a:cubicBezTo>
                    <a:pt x="0" y="2196207"/>
                    <a:pt x="26622" y="2233726"/>
                    <a:pt x="63169" y="2252081"/>
                  </a:cubicBezTo>
                  <a:cubicBezTo>
                    <a:pt x="93592" y="2267359"/>
                    <a:pt x="130892" y="2269340"/>
                    <a:pt x="165420" y="2252081"/>
                  </a:cubicBezTo>
                  <a:lnTo>
                    <a:pt x="342890" y="2163346"/>
                  </a:lnTo>
                  <a:lnTo>
                    <a:pt x="291769" y="2137781"/>
                  </a:lnTo>
                  <a:cubicBezTo>
                    <a:pt x="255222" y="2119426"/>
                    <a:pt x="228600" y="2081907"/>
                    <a:pt x="228600" y="2035549"/>
                  </a:cubicBezTo>
                  <a:lnTo>
                    <a:pt x="228600" y="933021"/>
                  </a:lnTo>
                  <a:cubicBezTo>
                    <a:pt x="228600" y="846429"/>
                    <a:pt x="277520" y="767276"/>
                    <a:pt x="354968" y="728557"/>
                  </a:cubicBezTo>
                  <a:lnTo>
                    <a:pt x="1206179" y="302942"/>
                  </a:lnTo>
                  <a:cubicBezTo>
                    <a:pt x="1240707" y="285683"/>
                    <a:pt x="1278007" y="287664"/>
                    <a:pt x="1308430" y="302942"/>
                  </a:cubicBezTo>
                  <a:lnTo>
                    <a:pt x="1371600" y="334527"/>
                  </a:lnTo>
                  <a:lnTo>
                    <a:pt x="1371600" y="119424"/>
                  </a:lnTo>
                  <a:cubicBezTo>
                    <a:pt x="1371600" y="73066"/>
                    <a:pt x="1344977" y="35547"/>
                    <a:pt x="1308430" y="17192"/>
                  </a:cubicBezTo>
                  <a:cubicBezTo>
                    <a:pt x="1277721" y="1904"/>
                    <a:pt x="1240574" y="0"/>
                    <a:pt x="1206179" y="17192"/>
                  </a:cubicBezTo>
                </a:path>
              </a:pathLst>
            </a:custGeom>
            <a:solidFill>
              <a:srgbClr val="3CC583">
                <a:alpha val="20000"/>
              </a:srgbClr>
            </a:solidFill>
            <a:ln>
              <a:noFill/>
            </a:ln>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Calibri"/>
              </a:endParaRPr>
            </a:p>
          </p:txBody>
        </p:sp>
      </p:grpSp>
      <p:grpSp>
        <p:nvGrpSpPr>
          <p:cNvPr id="14" name="Group 13"/>
          <p:cNvGrpSpPr/>
          <p:nvPr/>
        </p:nvGrpSpPr>
        <p:grpSpPr>
          <a:xfrm>
            <a:off x="1240976" y="2550785"/>
            <a:ext cx="2152681" cy="3206705"/>
            <a:chOff x="2590948" y="2033299"/>
            <a:chExt cx="1600200" cy="2383711"/>
          </a:xfrm>
        </p:grpSpPr>
        <p:sp>
          <p:nvSpPr>
            <p:cNvPr id="13" name="Rounded Rectangle 11"/>
            <p:cNvSpPr/>
            <p:nvPr/>
          </p:nvSpPr>
          <p:spPr>
            <a:xfrm>
              <a:off x="2590948" y="2033299"/>
              <a:ext cx="1537034" cy="2366448"/>
            </a:xfrm>
            <a:custGeom>
              <a:avLst/>
              <a:gdLst/>
              <a:ahLst/>
              <a:cxnLst/>
              <a:rect l="0" t="0" r="0" b="0"/>
              <a:pathLst>
                <a:path w="1537034" h="2366448">
                  <a:moveTo>
                    <a:pt x="1206184" y="17265"/>
                  </a:moveTo>
                  <a:lnTo>
                    <a:pt x="126367" y="557172"/>
                  </a:lnTo>
                  <a:cubicBezTo>
                    <a:pt x="48921" y="595895"/>
                    <a:pt x="0" y="675051"/>
                    <a:pt x="0" y="761639"/>
                  </a:cubicBezTo>
                  <a:lnTo>
                    <a:pt x="0" y="2149914"/>
                  </a:lnTo>
                  <a:cubicBezTo>
                    <a:pt x="0" y="2196279"/>
                    <a:pt x="26624" y="2233799"/>
                    <a:pt x="63165" y="2252148"/>
                  </a:cubicBezTo>
                  <a:lnTo>
                    <a:pt x="291765" y="2366448"/>
                  </a:lnTo>
                  <a:cubicBezTo>
                    <a:pt x="255224" y="2348099"/>
                    <a:pt x="228600" y="2310579"/>
                    <a:pt x="228600" y="2264214"/>
                  </a:cubicBezTo>
                  <a:lnTo>
                    <a:pt x="228600" y="875939"/>
                  </a:lnTo>
                  <a:cubicBezTo>
                    <a:pt x="228600" y="789351"/>
                    <a:pt x="277521" y="710195"/>
                    <a:pt x="354967" y="671472"/>
                  </a:cubicBezTo>
                  <a:lnTo>
                    <a:pt x="1434784" y="131564"/>
                  </a:lnTo>
                  <a:cubicBezTo>
                    <a:pt x="1469177" y="114367"/>
                    <a:pt x="1506319" y="116271"/>
                    <a:pt x="1536678" y="131386"/>
                  </a:cubicBezTo>
                  <a:lnTo>
                    <a:pt x="1308434" y="17265"/>
                  </a:lnTo>
                  <a:cubicBezTo>
                    <a:pt x="1278010" y="1986"/>
                    <a:pt x="1240712" y="0"/>
                    <a:pt x="1206184" y="17265"/>
                  </a:cubicBezTo>
                  <a:close/>
                  <a:moveTo>
                    <a:pt x="1537034" y="131564"/>
                  </a:moveTo>
                  <a:lnTo>
                    <a:pt x="1536678" y="131386"/>
                  </a:lnTo>
                  <a:cubicBezTo>
                    <a:pt x="1536797" y="131445"/>
                    <a:pt x="1536915" y="131505"/>
                    <a:pt x="1537034" y="131564"/>
                  </a:cubicBezTo>
                  <a:close/>
                </a:path>
              </a:pathLst>
            </a:custGeom>
            <a:noFill/>
            <a:ln w="14287">
              <a:solidFill>
                <a:srgbClr val="3CC583"/>
              </a:solidFill>
            </a:ln>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Calibri"/>
              </a:endParaRPr>
            </a:p>
          </p:txBody>
        </p:sp>
        <p:sp>
          <p:nvSpPr>
            <p:cNvPr id="15" name="Rounded Rectangle 12"/>
            <p:cNvSpPr/>
            <p:nvPr/>
          </p:nvSpPr>
          <p:spPr>
            <a:xfrm>
              <a:off x="2819548" y="2147666"/>
              <a:ext cx="1371600" cy="2269344"/>
            </a:xfrm>
            <a:custGeom>
              <a:avLst/>
              <a:gdLst/>
              <a:ahLst/>
              <a:cxnLst/>
              <a:rect l="0" t="0" r="0" b="0"/>
              <a:pathLst>
                <a:path w="1371600" h="2269344">
                  <a:moveTo>
                    <a:pt x="1206184" y="17196"/>
                  </a:moveTo>
                  <a:lnTo>
                    <a:pt x="126367" y="557104"/>
                  </a:lnTo>
                  <a:cubicBezTo>
                    <a:pt x="48921" y="595827"/>
                    <a:pt x="0" y="674984"/>
                    <a:pt x="0" y="761571"/>
                  </a:cubicBezTo>
                  <a:lnTo>
                    <a:pt x="0" y="2149846"/>
                  </a:lnTo>
                  <a:cubicBezTo>
                    <a:pt x="0" y="2196211"/>
                    <a:pt x="26624" y="2233731"/>
                    <a:pt x="63165" y="2252080"/>
                  </a:cubicBezTo>
                  <a:cubicBezTo>
                    <a:pt x="93589" y="2267357"/>
                    <a:pt x="130887" y="2269344"/>
                    <a:pt x="165415" y="2252080"/>
                  </a:cubicBezTo>
                  <a:lnTo>
                    <a:pt x="342890" y="2163342"/>
                  </a:lnTo>
                  <a:lnTo>
                    <a:pt x="291765" y="2137780"/>
                  </a:lnTo>
                  <a:cubicBezTo>
                    <a:pt x="255224" y="2119431"/>
                    <a:pt x="228600" y="2081911"/>
                    <a:pt x="228600" y="2035546"/>
                  </a:cubicBezTo>
                  <a:lnTo>
                    <a:pt x="228600" y="933021"/>
                  </a:lnTo>
                  <a:cubicBezTo>
                    <a:pt x="228600" y="846434"/>
                    <a:pt x="277521" y="767277"/>
                    <a:pt x="354967" y="728554"/>
                  </a:cubicBezTo>
                  <a:lnTo>
                    <a:pt x="1206183" y="302947"/>
                  </a:lnTo>
                  <a:cubicBezTo>
                    <a:pt x="1240712" y="285682"/>
                    <a:pt x="1278010" y="287669"/>
                    <a:pt x="1308434" y="302947"/>
                  </a:cubicBezTo>
                  <a:lnTo>
                    <a:pt x="1371600" y="334529"/>
                  </a:lnTo>
                  <a:lnTo>
                    <a:pt x="1371600" y="119430"/>
                  </a:lnTo>
                  <a:cubicBezTo>
                    <a:pt x="1371600" y="73065"/>
                    <a:pt x="1344974" y="35545"/>
                    <a:pt x="1308434" y="17196"/>
                  </a:cubicBezTo>
                  <a:lnTo>
                    <a:pt x="1308078" y="17019"/>
                  </a:lnTo>
                  <a:cubicBezTo>
                    <a:pt x="1277719" y="1904"/>
                    <a:pt x="1240577" y="0"/>
                    <a:pt x="1206184" y="17196"/>
                  </a:cubicBezTo>
                  <a:close/>
                  <a:moveTo>
                    <a:pt x="1308434" y="17196"/>
                  </a:moveTo>
                  <a:cubicBezTo>
                    <a:pt x="1308315" y="17137"/>
                    <a:pt x="1308197" y="17078"/>
                    <a:pt x="1308078" y="17019"/>
                  </a:cubicBezTo>
                </a:path>
              </a:pathLst>
            </a:custGeom>
            <a:noFill/>
            <a:ln w="14287">
              <a:solidFill>
                <a:srgbClr val="3CC583"/>
              </a:solidFill>
            </a:ln>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Calibri"/>
              </a:endParaRPr>
            </a:p>
          </p:txBody>
        </p:sp>
      </p:grpSp>
      <p:grpSp>
        <p:nvGrpSpPr>
          <p:cNvPr id="17" name="Group 16"/>
          <p:cNvGrpSpPr/>
          <p:nvPr/>
        </p:nvGrpSpPr>
        <p:grpSpPr>
          <a:xfrm>
            <a:off x="1856027" y="3088958"/>
            <a:ext cx="1845155" cy="2668528"/>
            <a:chOff x="3048148" y="2433351"/>
            <a:chExt cx="1371600" cy="1983656"/>
          </a:xfrm>
        </p:grpSpPr>
        <p:sp>
          <p:nvSpPr>
            <p:cNvPr id="16" name="Rounded Rectangle 14"/>
            <p:cNvSpPr/>
            <p:nvPr/>
          </p:nvSpPr>
          <p:spPr>
            <a:xfrm>
              <a:off x="3048148" y="2433351"/>
              <a:ext cx="1308430" cy="1966398"/>
            </a:xfrm>
            <a:custGeom>
              <a:avLst/>
              <a:gdLst/>
              <a:ahLst/>
              <a:cxnLst/>
              <a:rect l="0" t="0" r="0" b="0"/>
              <a:pathLst>
                <a:path w="1308430" h="1966398">
                  <a:moveTo>
                    <a:pt x="977579" y="17259"/>
                  </a:moveTo>
                  <a:lnTo>
                    <a:pt x="126368" y="442874"/>
                  </a:lnTo>
                  <a:cubicBezTo>
                    <a:pt x="48920" y="481593"/>
                    <a:pt x="0" y="560746"/>
                    <a:pt x="0" y="647338"/>
                  </a:cubicBezTo>
                  <a:lnTo>
                    <a:pt x="0" y="1749866"/>
                  </a:lnTo>
                  <a:cubicBezTo>
                    <a:pt x="0" y="1796224"/>
                    <a:pt x="26622" y="1833743"/>
                    <a:pt x="63169" y="1852098"/>
                  </a:cubicBezTo>
                  <a:lnTo>
                    <a:pt x="291769" y="1966398"/>
                  </a:lnTo>
                  <a:cubicBezTo>
                    <a:pt x="255222" y="1948043"/>
                    <a:pt x="228600" y="1910524"/>
                    <a:pt x="228600" y="1864166"/>
                  </a:cubicBezTo>
                  <a:lnTo>
                    <a:pt x="228600" y="761638"/>
                  </a:lnTo>
                  <a:cubicBezTo>
                    <a:pt x="228600" y="675046"/>
                    <a:pt x="277520" y="595893"/>
                    <a:pt x="354968" y="557174"/>
                  </a:cubicBezTo>
                  <a:lnTo>
                    <a:pt x="1206179" y="131559"/>
                  </a:lnTo>
                  <a:cubicBezTo>
                    <a:pt x="1240574" y="114366"/>
                    <a:pt x="1277721" y="116271"/>
                    <a:pt x="1308077" y="131387"/>
                  </a:cubicBezTo>
                  <a:lnTo>
                    <a:pt x="1079830" y="17259"/>
                  </a:lnTo>
                  <a:cubicBezTo>
                    <a:pt x="1049407" y="1981"/>
                    <a:pt x="1012107" y="0"/>
                    <a:pt x="977579" y="17259"/>
                  </a:cubicBezTo>
                  <a:moveTo>
                    <a:pt x="1308077" y="131387"/>
                  </a:moveTo>
                  <a:cubicBezTo>
                    <a:pt x="1308201" y="131444"/>
                    <a:pt x="1308315" y="131502"/>
                    <a:pt x="1308430" y="131559"/>
                  </a:cubicBezTo>
                </a:path>
              </a:pathLst>
            </a:custGeom>
            <a:solidFill>
              <a:srgbClr val="92BD39">
                <a:alpha val="20000"/>
              </a:srgbClr>
            </a:solidFill>
            <a:ln>
              <a:noFill/>
            </a:ln>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Calibri"/>
              </a:endParaRPr>
            </a:p>
          </p:txBody>
        </p:sp>
        <p:sp>
          <p:nvSpPr>
            <p:cNvPr id="18" name="Rounded Rectangle 15"/>
            <p:cNvSpPr/>
            <p:nvPr/>
          </p:nvSpPr>
          <p:spPr>
            <a:xfrm>
              <a:off x="3276748" y="2547717"/>
              <a:ext cx="1143000" cy="1869290"/>
            </a:xfrm>
            <a:custGeom>
              <a:avLst/>
              <a:gdLst/>
              <a:ahLst/>
              <a:cxnLst/>
              <a:rect l="0" t="0" r="0" b="0"/>
              <a:pathLst>
                <a:path w="1143000" h="1869290">
                  <a:moveTo>
                    <a:pt x="977579" y="17192"/>
                  </a:moveTo>
                  <a:lnTo>
                    <a:pt x="126368" y="442807"/>
                  </a:lnTo>
                  <a:cubicBezTo>
                    <a:pt x="48920" y="481526"/>
                    <a:pt x="0" y="560679"/>
                    <a:pt x="0" y="647271"/>
                  </a:cubicBezTo>
                  <a:lnTo>
                    <a:pt x="0" y="1749799"/>
                  </a:lnTo>
                  <a:cubicBezTo>
                    <a:pt x="0" y="1796157"/>
                    <a:pt x="26622" y="1833676"/>
                    <a:pt x="63169" y="1852031"/>
                  </a:cubicBezTo>
                  <a:cubicBezTo>
                    <a:pt x="93592" y="1867309"/>
                    <a:pt x="130892" y="1869290"/>
                    <a:pt x="165420" y="1852031"/>
                  </a:cubicBezTo>
                  <a:lnTo>
                    <a:pt x="342890" y="1763296"/>
                  </a:lnTo>
                  <a:lnTo>
                    <a:pt x="291769" y="1737731"/>
                  </a:lnTo>
                  <a:cubicBezTo>
                    <a:pt x="255222" y="1719376"/>
                    <a:pt x="228600" y="1681857"/>
                    <a:pt x="228600" y="1635499"/>
                  </a:cubicBezTo>
                  <a:lnTo>
                    <a:pt x="228600" y="818721"/>
                  </a:lnTo>
                  <a:cubicBezTo>
                    <a:pt x="228600" y="732129"/>
                    <a:pt x="277520" y="652976"/>
                    <a:pt x="354968" y="614257"/>
                  </a:cubicBezTo>
                  <a:lnTo>
                    <a:pt x="977579" y="302942"/>
                  </a:lnTo>
                  <a:cubicBezTo>
                    <a:pt x="1012107" y="285683"/>
                    <a:pt x="1049407" y="287664"/>
                    <a:pt x="1079830" y="302942"/>
                  </a:cubicBezTo>
                  <a:lnTo>
                    <a:pt x="1143000" y="334527"/>
                  </a:lnTo>
                  <a:lnTo>
                    <a:pt x="1143000" y="119424"/>
                  </a:lnTo>
                  <a:cubicBezTo>
                    <a:pt x="1143000" y="73066"/>
                    <a:pt x="1116377" y="35547"/>
                    <a:pt x="1079830" y="17192"/>
                  </a:cubicBezTo>
                  <a:cubicBezTo>
                    <a:pt x="1049121" y="1905"/>
                    <a:pt x="1011974" y="0"/>
                    <a:pt x="977579" y="17192"/>
                  </a:cubicBezTo>
                </a:path>
              </a:pathLst>
            </a:custGeom>
            <a:solidFill>
              <a:srgbClr val="92BD39">
                <a:alpha val="20000"/>
              </a:srgbClr>
            </a:solidFill>
            <a:ln>
              <a:noFill/>
            </a:ln>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Calibri"/>
              </a:endParaRPr>
            </a:p>
          </p:txBody>
        </p:sp>
      </p:grpSp>
      <p:grpSp>
        <p:nvGrpSpPr>
          <p:cNvPr id="20" name="Group 19"/>
          <p:cNvGrpSpPr/>
          <p:nvPr/>
        </p:nvGrpSpPr>
        <p:grpSpPr>
          <a:xfrm>
            <a:off x="1856027" y="3088955"/>
            <a:ext cx="1845155" cy="2668535"/>
            <a:chOff x="3048148" y="2433349"/>
            <a:chExt cx="1371600" cy="1983661"/>
          </a:xfrm>
        </p:grpSpPr>
        <p:sp>
          <p:nvSpPr>
            <p:cNvPr id="19" name="Rounded Rectangle 17"/>
            <p:cNvSpPr/>
            <p:nvPr/>
          </p:nvSpPr>
          <p:spPr>
            <a:xfrm>
              <a:off x="3048148" y="2433349"/>
              <a:ext cx="1308434" cy="1966398"/>
            </a:xfrm>
            <a:custGeom>
              <a:avLst/>
              <a:gdLst/>
              <a:ahLst/>
              <a:cxnLst/>
              <a:rect l="0" t="0" r="0" b="0"/>
              <a:pathLst>
                <a:path w="1308434" h="1966398">
                  <a:moveTo>
                    <a:pt x="977583" y="17265"/>
                  </a:moveTo>
                  <a:lnTo>
                    <a:pt x="126367" y="442872"/>
                  </a:lnTo>
                  <a:cubicBezTo>
                    <a:pt x="48921" y="481596"/>
                    <a:pt x="0" y="560751"/>
                    <a:pt x="0" y="647339"/>
                  </a:cubicBezTo>
                  <a:lnTo>
                    <a:pt x="0" y="1749864"/>
                  </a:lnTo>
                  <a:cubicBezTo>
                    <a:pt x="0" y="1796229"/>
                    <a:pt x="26624" y="1833749"/>
                    <a:pt x="63165" y="1852098"/>
                  </a:cubicBezTo>
                  <a:lnTo>
                    <a:pt x="291765" y="1966398"/>
                  </a:lnTo>
                  <a:cubicBezTo>
                    <a:pt x="255224" y="1948049"/>
                    <a:pt x="228600" y="1910529"/>
                    <a:pt x="228600" y="1864164"/>
                  </a:cubicBezTo>
                  <a:lnTo>
                    <a:pt x="228600" y="761639"/>
                  </a:lnTo>
                  <a:cubicBezTo>
                    <a:pt x="228600" y="675051"/>
                    <a:pt x="277521" y="595896"/>
                    <a:pt x="354967" y="557172"/>
                  </a:cubicBezTo>
                  <a:lnTo>
                    <a:pt x="1206183" y="131565"/>
                  </a:lnTo>
                  <a:cubicBezTo>
                    <a:pt x="1240576" y="114367"/>
                    <a:pt x="1277719" y="116272"/>
                    <a:pt x="1308078" y="131386"/>
                  </a:cubicBezTo>
                  <a:lnTo>
                    <a:pt x="1079834" y="17265"/>
                  </a:lnTo>
                  <a:cubicBezTo>
                    <a:pt x="1049410" y="1986"/>
                    <a:pt x="1012112" y="0"/>
                    <a:pt x="977583" y="17265"/>
                  </a:cubicBezTo>
                  <a:close/>
                  <a:moveTo>
                    <a:pt x="1308434" y="131565"/>
                  </a:moveTo>
                  <a:lnTo>
                    <a:pt x="1308078" y="131386"/>
                  </a:lnTo>
                  <a:cubicBezTo>
                    <a:pt x="1308197" y="131445"/>
                    <a:pt x="1308315" y="131505"/>
                    <a:pt x="1308434" y="131565"/>
                  </a:cubicBezTo>
                  <a:close/>
                </a:path>
              </a:pathLst>
            </a:custGeom>
            <a:noFill/>
            <a:ln w="14287">
              <a:solidFill>
                <a:srgbClr val="92BD39"/>
              </a:solidFill>
            </a:ln>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Calibri"/>
              </a:endParaRPr>
            </a:p>
          </p:txBody>
        </p:sp>
        <p:sp>
          <p:nvSpPr>
            <p:cNvPr id="21" name="Rounded Rectangle 18"/>
            <p:cNvSpPr/>
            <p:nvPr/>
          </p:nvSpPr>
          <p:spPr>
            <a:xfrm>
              <a:off x="3276748" y="2547716"/>
              <a:ext cx="1143000" cy="1869294"/>
            </a:xfrm>
            <a:custGeom>
              <a:avLst/>
              <a:gdLst/>
              <a:ahLst/>
              <a:cxnLst/>
              <a:rect l="0" t="0" r="0" b="0"/>
              <a:pathLst>
                <a:path w="1143000" h="1869294">
                  <a:moveTo>
                    <a:pt x="977583" y="17196"/>
                  </a:moveTo>
                  <a:lnTo>
                    <a:pt x="126367" y="442804"/>
                  </a:lnTo>
                  <a:cubicBezTo>
                    <a:pt x="48921" y="481527"/>
                    <a:pt x="0" y="560684"/>
                    <a:pt x="0" y="647271"/>
                  </a:cubicBezTo>
                  <a:lnTo>
                    <a:pt x="0" y="1749796"/>
                  </a:lnTo>
                  <a:cubicBezTo>
                    <a:pt x="0" y="1796161"/>
                    <a:pt x="26624" y="1833681"/>
                    <a:pt x="63165" y="1852030"/>
                  </a:cubicBezTo>
                  <a:cubicBezTo>
                    <a:pt x="93589" y="1867307"/>
                    <a:pt x="130887" y="1869294"/>
                    <a:pt x="165416" y="1852030"/>
                  </a:cubicBezTo>
                  <a:lnTo>
                    <a:pt x="342891" y="1763292"/>
                  </a:lnTo>
                  <a:lnTo>
                    <a:pt x="291765" y="1737730"/>
                  </a:lnTo>
                  <a:cubicBezTo>
                    <a:pt x="255224" y="1719381"/>
                    <a:pt x="228600" y="1681861"/>
                    <a:pt x="228600" y="1635496"/>
                  </a:cubicBezTo>
                  <a:lnTo>
                    <a:pt x="228600" y="818721"/>
                  </a:lnTo>
                  <a:cubicBezTo>
                    <a:pt x="228600" y="732134"/>
                    <a:pt x="277521" y="652977"/>
                    <a:pt x="354967" y="614254"/>
                  </a:cubicBezTo>
                  <a:lnTo>
                    <a:pt x="977583" y="302946"/>
                  </a:lnTo>
                  <a:cubicBezTo>
                    <a:pt x="1012112" y="285682"/>
                    <a:pt x="1049410" y="287669"/>
                    <a:pt x="1079834" y="302946"/>
                  </a:cubicBezTo>
                  <a:lnTo>
                    <a:pt x="1143000" y="334529"/>
                  </a:lnTo>
                  <a:lnTo>
                    <a:pt x="1143000" y="119430"/>
                  </a:lnTo>
                  <a:cubicBezTo>
                    <a:pt x="1143000" y="73065"/>
                    <a:pt x="1116375" y="35545"/>
                    <a:pt x="1079834" y="17196"/>
                  </a:cubicBezTo>
                  <a:lnTo>
                    <a:pt x="1079478" y="17019"/>
                  </a:lnTo>
                  <a:cubicBezTo>
                    <a:pt x="1049119" y="1904"/>
                    <a:pt x="1011976" y="0"/>
                    <a:pt x="977583" y="17196"/>
                  </a:cubicBezTo>
                  <a:close/>
                  <a:moveTo>
                    <a:pt x="1079834" y="17196"/>
                  </a:moveTo>
                  <a:cubicBezTo>
                    <a:pt x="1079715" y="17137"/>
                    <a:pt x="1079597" y="17078"/>
                    <a:pt x="1079478" y="17019"/>
                  </a:cubicBezTo>
                </a:path>
              </a:pathLst>
            </a:custGeom>
            <a:noFill/>
            <a:ln w="14287">
              <a:solidFill>
                <a:srgbClr val="92BD39"/>
              </a:solidFill>
            </a:ln>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Calibri"/>
              </a:endParaRPr>
            </a:p>
          </p:txBody>
        </p:sp>
      </p:grpSp>
      <p:grpSp>
        <p:nvGrpSpPr>
          <p:cNvPr id="23" name="Group 22"/>
          <p:cNvGrpSpPr/>
          <p:nvPr/>
        </p:nvGrpSpPr>
        <p:grpSpPr>
          <a:xfrm>
            <a:off x="2471079" y="3627128"/>
            <a:ext cx="1537629" cy="2130358"/>
            <a:chOff x="3505348" y="2833401"/>
            <a:chExt cx="1143000" cy="1583606"/>
          </a:xfrm>
        </p:grpSpPr>
        <p:sp>
          <p:nvSpPr>
            <p:cNvPr id="22" name="Rounded Rectangle 20"/>
            <p:cNvSpPr/>
            <p:nvPr/>
          </p:nvSpPr>
          <p:spPr>
            <a:xfrm>
              <a:off x="3505348" y="2833401"/>
              <a:ext cx="1079830" cy="1566348"/>
            </a:xfrm>
            <a:custGeom>
              <a:avLst/>
              <a:gdLst/>
              <a:ahLst/>
              <a:cxnLst/>
              <a:rect l="0" t="0" r="0" b="0"/>
              <a:pathLst>
                <a:path w="1079830" h="1566348">
                  <a:moveTo>
                    <a:pt x="748979" y="17259"/>
                  </a:moveTo>
                  <a:lnTo>
                    <a:pt x="126368" y="328574"/>
                  </a:lnTo>
                  <a:cubicBezTo>
                    <a:pt x="48920" y="367293"/>
                    <a:pt x="0" y="446446"/>
                    <a:pt x="0" y="533038"/>
                  </a:cubicBezTo>
                  <a:lnTo>
                    <a:pt x="0" y="1349816"/>
                  </a:lnTo>
                  <a:cubicBezTo>
                    <a:pt x="0" y="1396174"/>
                    <a:pt x="26622" y="1433693"/>
                    <a:pt x="63169" y="1452048"/>
                  </a:cubicBezTo>
                  <a:lnTo>
                    <a:pt x="291769" y="1566348"/>
                  </a:lnTo>
                  <a:cubicBezTo>
                    <a:pt x="255222" y="1547993"/>
                    <a:pt x="228600" y="1510474"/>
                    <a:pt x="228600" y="1464116"/>
                  </a:cubicBezTo>
                  <a:lnTo>
                    <a:pt x="228600" y="647338"/>
                  </a:lnTo>
                  <a:cubicBezTo>
                    <a:pt x="228600" y="560746"/>
                    <a:pt x="277520" y="481593"/>
                    <a:pt x="354968" y="442874"/>
                  </a:cubicBezTo>
                  <a:lnTo>
                    <a:pt x="977579" y="131559"/>
                  </a:lnTo>
                  <a:cubicBezTo>
                    <a:pt x="1011974" y="114366"/>
                    <a:pt x="1049121" y="116271"/>
                    <a:pt x="1079477" y="131387"/>
                  </a:cubicBezTo>
                  <a:lnTo>
                    <a:pt x="851230" y="17259"/>
                  </a:lnTo>
                  <a:cubicBezTo>
                    <a:pt x="820807" y="1981"/>
                    <a:pt x="783507" y="0"/>
                    <a:pt x="748979" y="17259"/>
                  </a:cubicBezTo>
                  <a:moveTo>
                    <a:pt x="1079477" y="131387"/>
                  </a:moveTo>
                  <a:cubicBezTo>
                    <a:pt x="1079601" y="131444"/>
                    <a:pt x="1079715" y="131502"/>
                    <a:pt x="1079830" y="131559"/>
                  </a:cubicBezTo>
                </a:path>
              </a:pathLst>
            </a:custGeom>
            <a:solidFill>
              <a:srgbClr val="E0CB15">
                <a:alpha val="20000"/>
              </a:srgbClr>
            </a:solidFill>
            <a:ln>
              <a:noFill/>
            </a:ln>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Calibri"/>
              </a:endParaRPr>
            </a:p>
          </p:txBody>
        </p:sp>
        <p:sp>
          <p:nvSpPr>
            <p:cNvPr id="24" name="Rounded Rectangle 21"/>
            <p:cNvSpPr/>
            <p:nvPr/>
          </p:nvSpPr>
          <p:spPr>
            <a:xfrm>
              <a:off x="3733948" y="2947767"/>
              <a:ext cx="914400" cy="1469240"/>
            </a:xfrm>
            <a:custGeom>
              <a:avLst/>
              <a:gdLst/>
              <a:ahLst/>
              <a:cxnLst/>
              <a:rect l="0" t="0" r="0" b="0"/>
              <a:pathLst>
                <a:path w="914400" h="1469240">
                  <a:moveTo>
                    <a:pt x="748979" y="17192"/>
                  </a:moveTo>
                  <a:lnTo>
                    <a:pt x="126368" y="328507"/>
                  </a:lnTo>
                  <a:cubicBezTo>
                    <a:pt x="48920" y="367226"/>
                    <a:pt x="0" y="446379"/>
                    <a:pt x="0" y="532971"/>
                  </a:cubicBezTo>
                  <a:lnTo>
                    <a:pt x="0" y="1349749"/>
                  </a:lnTo>
                  <a:cubicBezTo>
                    <a:pt x="0" y="1396107"/>
                    <a:pt x="26622" y="1433626"/>
                    <a:pt x="63169" y="1451981"/>
                  </a:cubicBezTo>
                  <a:cubicBezTo>
                    <a:pt x="93592" y="1467259"/>
                    <a:pt x="130892" y="1469240"/>
                    <a:pt x="165420" y="1451981"/>
                  </a:cubicBezTo>
                  <a:lnTo>
                    <a:pt x="342890" y="1363246"/>
                  </a:lnTo>
                  <a:lnTo>
                    <a:pt x="291769" y="1337681"/>
                  </a:lnTo>
                  <a:cubicBezTo>
                    <a:pt x="255222" y="1319326"/>
                    <a:pt x="228600" y="1281807"/>
                    <a:pt x="228600" y="1235449"/>
                  </a:cubicBezTo>
                  <a:lnTo>
                    <a:pt x="228600" y="704421"/>
                  </a:lnTo>
                  <a:cubicBezTo>
                    <a:pt x="228600" y="617829"/>
                    <a:pt x="277520" y="538676"/>
                    <a:pt x="354968" y="499957"/>
                  </a:cubicBezTo>
                  <a:lnTo>
                    <a:pt x="748979" y="302942"/>
                  </a:lnTo>
                  <a:cubicBezTo>
                    <a:pt x="783507" y="285683"/>
                    <a:pt x="820807" y="287664"/>
                    <a:pt x="851230" y="302942"/>
                  </a:cubicBezTo>
                  <a:lnTo>
                    <a:pt x="914400" y="334527"/>
                  </a:lnTo>
                  <a:lnTo>
                    <a:pt x="914400" y="119424"/>
                  </a:lnTo>
                  <a:cubicBezTo>
                    <a:pt x="914400" y="73066"/>
                    <a:pt x="887777" y="35547"/>
                    <a:pt x="851230" y="17192"/>
                  </a:cubicBezTo>
                  <a:cubicBezTo>
                    <a:pt x="820521" y="1905"/>
                    <a:pt x="783374" y="0"/>
                    <a:pt x="748979" y="17192"/>
                  </a:cubicBezTo>
                </a:path>
              </a:pathLst>
            </a:custGeom>
            <a:solidFill>
              <a:srgbClr val="E0CB15">
                <a:alpha val="20000"/>
              </a:srgbClr>
            </a:solidFill>
            <a:ln>
              <a:noFill/>
            </a:ln>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Calibri"/>
              </a:endParaRPr>
            </a:p>
          </p:txBody>
        </p:sp>
      </p:grpSp>
      <p:grpSp>
        <p:nvGrpSpPr>
          <p:cNvPr id="26" name="Group 25"/>
          <p:cNvGrpSpPr/>
          <p:nvPr/>
        </p:nvGrpSpPr>
        <p:grpSpPr>
          <a:xfrm>
            <a:off x="2471079" y="3627126"/>
            <a:ext cx="1537629" cy="2130364"/>
            <a:chOff x="3505348" y="2833399"/>
            <a:chExt cx="1143000" cy="1583611"/>
          </a:xfrm>
        </p:grpSpPr>
        <p:sp>
          <p:nvSpPr>
            <p:cNvPr id="25" name="Rounded Rectangle 23"/>
            <p:cNvSpPr/>
            <p:nvPr/>
          </p:nvSpPr>
          <p:spPr>
            <a:xfrm>
              <a:off x="3505348" y="2833399"/>
              <a:ext cx="1079834" cy="1566348"/>
            </a:xfrm>
            <a:custGeom>
              <a:avLst/>
              <a:gdLst/>
              <a:ahLst/>
              <a:cxnLst/>
              <a:rect l="0" t="0" r="0" b="0"/>
              <a:pathLst>
                <a:path w="1079834" h="1566348">
                  <a:moveTo>
                    <a:pt x="748983" y="17265"/>
                  </a:moveTo>
                  <a:lnTo>
                    <a:pt x="126367" y="328572"/>
                  </a:lnTo>
                  <a:cubicBezTo>
                    <a:pt x="48921" y="367296"/>
                    <a:pt x="0" y="446451"/>
                    <a:pt x="0" y="533039"/>
                  </a:cubicBezTo>
                  <a:lnTo>
                    <a:pt x="0" y="1349814"/>
                  </a:lnTo>
                  <a:cubicBezTo>
                    <a:pt x="0" y="1396179"/>
                    <a:pt x="26624" y="1433699"/>
                    <a:pt x="63165" y="1452048"/>
                  </a:cubicBezTo>
                  <a:lnTo>
                    <a:pt x="291765" y="1566348"/>
                  </a:lnTo>
                  <a:cubicBezTo>
                    <a:pt x="255224" y="1547999"/>
                    <a:pt x="228600" y="1510479"/>
                    <a:pt x="228600" y="1464114"/>
                  </a:cubicBezTo>
                  <a:lnTo>
                    <a:pt x="228600" y="647339"/>
                  </a:lnTo>
                  <a:cubicBezTo>
                    <a:pt x="228600" y="560751"/>
                    <a:pt x="277521" y="481596"/>
                    <a:pt x="354967" y="442872"/>
                  </a:cubicBezTo>
                  <a:lnTo>
                    <a:pt x="977583" y="131565"/>
                  </a:lnTo>
                  <a:cubicBezTo>
                    <a:pt x="1011976" y="114367"/>
                    <a:pt x="1049119" y="116272"/>
                    <a:pt x="1079478" y="131386"/>
                  </a:cubicBezTo>
                  <a:lnTo>
                    <a:pt x="851234" y="17265"/>
                  </a:lnTo>
                  <a:cubicBezTo>
                    <a:pt x="820810" y="1986"/>
                    <a:pt x="783512" y="0"/>
                    <a:pt x="748983" y="17265"/>
                  </a:cubicBezTo>
                  <a:close/>
                  <a:moveTo>
                    <a:pt x="1079834" y="131565"/>
                  </a:moveTo>
                  <a:lnTo>
                    <a:pt x="1079478" y="131386"/>
                  </a:lnTo>
                  <a:cubicBezTo>
                    <a:pt x="1079597" y="131445"/>
                    <a:pt x="1079715" y="131505"/>
                    <a:pt x="1079834" y="131565"/>
                  </a:cubicBezTo>
                  <a:close/>
                </a:path>
              </a:pathLst>
            </a:custGeom>
            <a:noFill/>
            <a:ln w="14287">
              <a:solidFill>
                <a:srgbClr val="E0CB15"/>
              </a:solidFill>
            </a:ln>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Calibri"/>
              </a:endParaRPr>
            </a:p>
          </p:txBody>
        </p:sp>
        <p:sp>
          <p:nvSpPr>
            <p:cNvPr id="27" name="Rounded Rectangle 24"/>
            <p:cNvSpPr/>
            <p:nvPr/>
          </p:nvSpPr>
          <p:spPr>
            <a:xfrm>
              <a:off x="3733948" y="2947766"/>
              <a:ext cx="914400" cy="1469244"/>
            </a:xfrm>
            <a:custGeom>
              <a:avLst/>
              <a:gdLst/>
              <a:ahLst/>
              <a:cxnLst/>
              <a:rect l="0" t="0" r="0" b="0"/>
              <a:pathLst>
                <a:path w="914400" h="1469244">
                  <a:moveTo>
                    <a:pt x="748983" y="17196"/>
                  </a:moveTo>
                  <a:lnTo>
                    <a:pt x="126367" y="328504"/>
                  </a:lnTo>
                  <a:cubicBezTo>
                    <a:pt x="48921" y="367227"/>
                    <a:pt x="0" y="446384"/>
                    <a:pt x="0" y="532971"/>
                  </a:cubicBezTo>
                  <a:lnTo>
                    <a:pt x="0" y="1349746"/>
                  </a:lnTo>
                  <a:cubicBezTo>
                    <a:pt x="0" y="1396111"/>
                    <a:pt x="26624" y="1433631"/>
                    <a:pt x="63165" y="1451980"/>
                  </a:cubicBezTo>
                  <a:cubicBezTo>
                    <a:pt x="93589" y="1467257"/>
                    <a:pt x="130887" y="1469244"/>
                    <a:pt x="165416" y="1451980"/>
                  </a:cubicBezTo>
                  <a:lnTo>
                    <a:pt x="342890" y="1363242"/>
                  </a:lnTo>
                  <a:lnTo>
                    <a:pt x="291765" y="1337680"/>
                  </a:lnTo>
                  <a:cubicBezTo>
                    <a:pt x="255224" y="1319331"/>
                    <a:pt x="228600" y="1281812"/>
                    <a:pt x="228600" y="1235447"/>
                  </a:cubicBezTo>
                  <a:lnTo>
                    <a:pt x="228600" y="704421"/>
                  </a:lnTo>
                  <a:cubicBezTo>
                    <a:pt x="228600" y="617834"/>
                    <a:pt x="277521" y="538677"/>
                    <a:pt x="354967" y="499954"/>
                  </a:cubicBezTo>
                  <a:lnTo>
                    <a:pt x="748984" y="302946"/>
                  </a:lnTo>
                  <a:cubicBezTo>
                    <a:pt x="783512" y="285682"/>
                    <a:pt x="820810" y="287669"/>
                    <a:pt x="851234" y="302946"/>
                  </a:cubicBezTo>
                  <a:lnTo>
                    <a:pt x="914400" y="334529"/>
                  </a:lnTo>
                  <a:lnTo>
                    <a:pt x="914400" y="119430"/>
                  </a:lnTo>
                  <a:cubicBezTo>
                    <a:pt x="914400" y="73065"/>
                    <a:pt x="887775" y="35545"/>
                    <a:pt x="851234" y="17196"/>
                  </a:cubicBezTo>
                  <a:lnTo>
                    <a:pt x="850878" y="17019"/>
                  </a:lnTo>
                  <a:cubicBezTo>
                    <a:pt x="820519" y="1904"/>
                    <a:pt x="783376" y="0"/>
                    <a:pt x="748983" y="17196"/>
                  </a:cubicBezTo>
                  <a:close/>
                  <a:moveTo>
                    <a:pt x="851234" y="17196"/>
                  </a:moveTo>
                  <a:cubicBezTo>
                    <a:pt x="851115" y="17137"/>
                    <a:pt x="850997" y="17078"/>
                    <a:pt x="850878" y="17019"/>
                  </a:cubicBezTo>
                </a:path>
              </a:pathLst>
            </a:custGeom>
            <a:noFill/>
            <a:ln w="14287">
              <a:solidFill>
                <a:srgbClr val="E0CB15"/>
              </a:solidFill>
            </a:ln>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Calibri"/>
              </a:endParaRPr>
            </a:p>
          </p:txBody>
        </p:sp>
      </p:grpSp>
      <p:grpSp>
        <p:nvGrpSpPr>
          <p:cNvPr id="29" name="Group 28"/>
          <p:cNvGrpSpPr/>
          <p:nvPr/>
        </p:nvGrpSpPr>
        <p:grpSpPr>
          <a:xfrm>
            <a:off x="3086131" y="4165299"/>
            <a:ext cx="1230103" cy="1592187"/>
            <a:chOff x="3962548" y="3233451"/>
            <a:chExt cx="914400" cy="1183556"/>
          </a:xfrm>
        </p:grpSpPr>
        <p:sp>
          <p:nvSpPr>
            <p:cNvPr id="28" name="Rounded Rectangle 26"/>
            <p:cNvSpPr/>
            <p:nvPr/>
          </p:nvSpPr>
          <p:spPr>
            <a:xfrm>
              <a:off x="3962548" y="3233451"/>
              <a:ext cx="851230" cy="1166298"/>
            </a:xfrm>
            <a:custGeom>
              <a:avLst/>
              <a:gdLst/>
              <a:ahLst/>
              <a:cxnLst/>
              <a:rect l="0" t="0" r="0" b="0"/>
              <a:pathLst>
                <a:path w="851230" h="1166298">
                  <a:moveTo>
                    <a:pt x="520379" y="17259"/>
                  </a:moveTo>
                  <a:lnTo>
                    <a:pt x="126368" y="214274"/>
                  </a:lnTo>
                  <a:cubicBezTo>
                    <a:pt x="48920" y="252993"/>
                    <a:pt x="0" y="332146"/>
                    <a:pt x="0" y="418738"/>
                  </a:cubicBezTo>
                  <a:lnTo>
                    <a:pt x="0" y="949766"/>
                  </a:lnTo>
                  <a:cubicBezTo>
                    <a:pt x="0" y="996124"/>
                    <a:pt x="26622" y="1033643"/>
                    <a:pt x="63169" y="1051998"/>
                  </a:cubicBezTo>
                  <a:lnTo>
                    <a:pt x="291769" y="1166298"/>
                  </a:lnTo>
                  <a:cubicBezTo>
                    <a:pt x="255222" y="1147943"/>
                    <a:pt x="228600" y="1110424"/>
                    <a:pt x="228600" y="1064066"/>
                  </a:cubicBezTo>
                  <a:lnTo>
                    <a:pt x="228600" y="533038"/>
                  </a:lnTo>
                  <a:cubicBezTo>
                    <a:pt x="228600" y="446446"/>
                    <a:pt x="277520" y="367293"/>
                    <a:pt x="354968" y="328574"/>
                  </a:cubicBezTo>
                  <a:lnTo>
                    <a:pt x="748979" y="131559"/>
                  </a:lnTo>
                  <a:cubicBezTo>
                    <a:pt x="783374" y="114366"/>
                    <a:pt x="820521" y="116271"/>
                    <a:pt x="850877" y="131387"/>
                  </a:cubicBezTo>
                  <a:lnTo>
                    <a:pt x="622630" y="17259"/>
                  </a:lnTo>
                  <a:cubicBezTo>
                    <a:pt x="592207" y="1981"/>
                    <a:pt x="554907" y="0"/>
                    <a:pt x="520379" y="17259"/>
                  </a:cubicBezTo>
                  <a:moveTo>
                    <a:pt x="850877" y="131387"/>
                  </a:moveTo>
                  <a:cubicBezTo>
                    <a:pt x="851001" y="131444"/>
                    <a:pt x="851115" y="131502"/>
                    <a:pt x="851230" y="131559"/>
                  </a:cubicBezTo>
                </a:path>
              </a:pathLst>
            </a:custGeom>
            <a:solidFill>
              <a:srgbClr val="DE8431">
                <a:alpha val="20000"/>
              </a:srgbClr>
            </a:solidFill>
            <a:ln>
              <a:noFill/>
            </a:ln>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Calibri"/>
              </a:endParaRPr>
            </a:p>
          </p:txBody>
        </p:sp>
        <p:sp>
          <p:nvSpPr>
            <p:cNvPr id="30" name="Rounded Rectangle 27"/>
            <p:cNvSpPr/>
            <p:nvPr/>
          </p:nvSpPr>
          <p:spPr>
            <a:xfrm>
              <a:off x="4191148" y="3347817"/>
              <a:ext cx="685800" cy="1069190"/>
            </a:xfrm>
            <a:custGeom>
              <a:avLst/>
              <a:gdLst/>
              <a:ahLst/>
              <a:cxnLst/>
              <a:rect l="0" t="0" r="0" b="0"/>
              <a:pathLst>
                <a:path w="685800" h="1069190">
                  <a:moveTo>
                    <a:pt x="520379" y="17192"/>
                  </a:moveTo>
                  <a:lnTo>
                    <a:pt x="126368" y="214207"/>
                  </a:lnTo>
                  <a:cubicBezTo>
                    <a:pt x="48920" y="252926"/>
                    <a:pt x="0" y="332079"/>
                    <a:pt x="0" y="418671"/>
                  </a:cubicBezTo>
                  <a:lnTo>
                    <a:pt x="0" y="949699"/>
                  </a:lnTo>
                  <a:cubicBezTo>
                    <a:pt x="0" y="996057"/>
                    <a:pt x="26622" y="1033586"/>
                    <a:pt x="63169" y="1051931"/>
                  </a:cubicBezTo>
                  <a:cubicBezTo>
                    <a:pt x="93592" y="1067209"/>
                    <a:pt x="130892" y="1069190"/>
                    <a:pt x="165420" y="1051931"/>
                  </a:cubicBezTo>
                  <a:lnTo>
                    <a:pt x="342890" y="963196"/>
                  </a:lnTo>
                  <a:lnTo>
                    <a:pt x="291769" y="937631"/>
                  </a:lnTo>
                  <a:cubicBezTo>
                    <a:pt x="255222" y="919286"/>
                    <a:pt x="228600" y="881757"/>
                    <a:pt x="228600" y="835399"/>
                  </a:cubicBezTo>
                  <a:lnTo>
                    <a:pt x="228600" y="590121"/>
                  </a:lnTo>
                  <a:cubicBezTo>
                    <a:pt x="228600" y="503529"/>
                    <a:pt x="277520" y="424376"/>
                    <a:pt x="354968" y="385657"/>
                  </a:cubicBezTo>
                  <a:lnTo>
                    <a:pt x="520379" y="302942"/>
                  </a:lnTo>
                  <a:cubicBezTo>
                    <a:pt x="554907" y="285683"/>
                    <a:pt x="592207" y="287664"/>
                    <a:pt x="622630" y="302942"/>
                  </a:cubicBezTo>
                  <a:lnTo>
                    <a:pt x="685800" y="334527"/>
                  </a:lnTo>
                  <a:lnTo>
                    <a:pt x="685800" y="119424"/>
                  </a:lnTo>
                  <a:cubicBezTo>
                    <a:pt x="685800" y="73066"/>
                    <a:pt x="659177" y="35547"/>
                    <a:pt x="622630" y="17192"/>
                  </a:cubicBezTo>
                  <a:cubicBezTo>
                    <a:pt x="591921" y="1905"/>
                    <a:pt x="554774" y="0"/>
                    <a:pt x="520379" y="17192"/>
                  </a:cubicBezTo>
                </a:path>
              </a:pathLst>
            </a:custGeom>
            <a:solidFill>
              <a:srgbClr val="DE8431">
                <a:alpha val="20000"/>
              </a:srgbClr>
            </a:solidFill>
            <a:ln>
              <a:noFill/>
            </a:ln>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Calibri"/>
              </a:endParaRPr>
            </a:p>
          </p:txBody>
        </p:sp>
      </p:grpSp>
      <p:grpSp>
        <p:nvGrpSpPr>
          <p:cNvPr id="32" name="Group 31"/>
          <p:cNvGrpSpPr/>
          <p:nvPr/>
        </p:nvGrpSpPr>
        <p:grpSpPr>
          <a:xfrm>
            <a:off x="3086131" y="4165296"/>
            <a:ext cx="1230103" cy="1592194"/>
            <a:chOff x="3962548" y="3233449"/>
            <a:chExt cx="914400" cy="1183561"/>
          </a:xfrm>
        </p:grpSpPr>
        <p:sp>
          <p:nvSpPr>
            <p:cNvPr id="31" name="Rounded Rectangle 29"/>
            <p:cNvSpPr/>
            <p:nvPr/>
          </p:nvSpPr>
          <p:spPr>
            <a:xfrm>
              <a:off x="3962548" y="3233449"/>
              <a:ext cx="851234" cy="1166298"/>
            </a:xfrm>
            <a:custGeom>
              <a:avLst/>
              <a:gdLst/>
              <a:ahLst/>
              <a:cxnLst/>
              <a:rect l="0" t="0" r="0" b="0"/>
              <a:pathLst>
                <a:path w="851234" h="1166298">
                  <a:moveTo>
                    <a:pt x="520384" y="17265"/>
                  </a:moveTo>
                  <a:lnTo>
                    <a:pt x="126367" y="214272"/>
                  </a:lnTo>
                  <a:cubicBezTo>
                    <a:pt x="48921" y="252996"/>
                    <a:pt x="0" y="332151"/>
                    <a:pt x="0" y="418739"/>
                  </a:cubicBezTo>
                  <a:lnTo>
                    <a:pt x="0" y="949765"/>
                  </a:lnTo>
                  <a:cubicBezTo>
                    <a:pt x="0" y="996130"/>
                    <a:pt x="26624" y="1033649"/>
                    <a:pt x="63165" y="1051998"/>
                  </a:cubicBezTo>
                  <a:lnTo>
                    <a:pt x="291765" y="1166298"/>
                  </a:lnTo>
                  <a:cubicBezTo>
                    <a:pt x="255224" y="1147949"/>
                    <a:pt x="228600" y="1110430"/>
                    <a:pt x="228600" y="1064065"/>
                  </a:cubicBezTo>
                  <a:lnTo>
                    <a:pt x="228600" y="533039"/>
                  </a:lnTo>
                  <a:cubicBezTo>
                    <a:pt x="228600" y="446451"/>
                    <a:pt x="277521" y="367296"/>
                    <a:pt x="354967" y="328572"/>
                  </a:cubicBezTo>
                  <a:lnTo>
                    <a:pt x="748984" y="131565"/>
                  </a:lnTo>
                  <a:cubicBezTo>
                    <a:pt x="783376" y="114367"/>
                    <a:pt x="820519" y="116271"/>
                    <a:pt x="850878" y="131385"/>
                  </a:cubicBezTo>
                  <a:lnTo>
                    <a:pt x="622634" y="17265"/>
                  </a:lnTo>
                  <a:cubicBezTo>
                    <a:pt x="592210" y="1986"/>
                    <a:pt x="554912" y="0"/>
                    <a:pt x="520384" y="17265"/>
                  </a:cubicBezTo>
                  <a:close/>
                  <a:moveTo>
                    <a:pt x="851234" y="131565"/>
                  </a:moveTo>
                  <a:lnTo>
                    <a:pt x="850878" y="131385"/>
                  </a:lnTo>
                  <a:cubicBezTo>
                    <a:pt x="850997" y="131445"/>
                    <a:pt x="851115" y="131505"/>
                    <a:pt x="851234" y="131565"/>
                  </a:cubicBezTo>
                  <a:close/>
                </a:path>
              </a:pathLst>
            </a:custGeom>
            <a:noFill/>
            <a:ln w="14287">
              <a:solidFill>
                <a:srgbClr val="DE8431"/>
              </a:solidFill>
            </a:ln>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Calibri"/>
              </a:endParaRPr>
            </a:p>
          </p:txBody>
        </p:sp>
        <p:sp>
          <p:nvSpPr>
            <p:cNvPr id="33" name="Rounded Rectangle 30"/>
            <p:cNvSpPr/>
            <p:nvPr/>
          </p:nvSpPr>
          <p:spPr>
            <a:xfrm>
              <a:off x="4191148" y="3347816"/>
              <a:ext cx="685800" cy="1069194"/>
            </a:xfrm>
            <a:custGeom>
              <a:avLst/>
              <a:gdLst/>
              <a:ahLst/>
              <a:cxnLst/>
              <a:rect l="0" t="0" r="0" b="0"/>
              <a:pathLst>
                <a:path w="685800" h="1069194">
                  <a:moveTo>
                    <a:pt x="520384" y="17197"/>
                  </a:moveTo>
                  <a:lnTo>
                    <a:pt x="126367" y="214204"/>
                  </a:lnTo>
                  <a:cubicBezTo>
                    <a:pt x="48921" y="252928"/>
                    <a:pt x="0" y="332084"/>
                    <a:pt x="0" y="418671"/>
                  </a:cubicBezTo>
                  <a:lnTo>
                    <a:pt x="0" y="949697"/>
                  </a:lnTo>
                  <a:cubicBezTo>
                    <a:pt x="0" y="996062"/>
                    <a:pt x="26624" y="1033582"/>
                    <a:pt x="63165" y="1051930"/>
                  </a:cubicBezTo>
                  <a:cubicBezTo>
                    <a:pt x="93589" y="1067207"/>
                    <a:pt x="130887" y="1069194"/>
                    <a:pt x="165415" y="1051930"/>
                  </a:cubicBezTo>
                  <a:lnTo>
                    <a:pt x="342890" y="963193"/>
                  </a:lnTo>
                  <a:lnTo>
                    <a:pt x="291765" y="937630"/>
                  </a:lnTo>
                  <a:cubicBezTo>
                    <a:pt x="255224" y="919282"/>
                    <a:pt x="228600" y="881762"/>
                    <a:pt x="228600" y="835397"/>
                  </a:cubicBezTo>
                  <a:lnTo>
                    <a:pt x="228600" y="590121"/>
                  </a:lnTo>
                  <a:cubicBezTo>
                    <a:pt x="228600" y="503534"/>
                    <a:pt x="277521" y="424378"/>
                    <a:pt x="354967" y="385654"/>
                  </a:cubicBezTo>
                  <a:lnTo>
                    <a:pt x="520384" y="302947"/>
                  </a:lnTo>
                  <a:cubicBezTo>
                    <a:pt x="554912" y="285682"/>
                    <a:pt x="592210" y="287669"/>
                    <a:pt x="622634" y="302947"/>
                  </a:cubicBezTo>
                  <a:lnTo>
                    <a:pt x="685800" y="334529"/>
                  </a:lnTo>
                  <a:lnTo>
                    <a:pt x="685800" y="119430"/>
                  </a:lnTo>
                  <a:cubicBezTo>
                    <a:pt x="685800" y="73065"/>
                    <a:pt x="659175" y="35545"/>
                    <a:pt x="622634" y="17197"/>
                  </a:cubicBezTo>
                  <a:lnTo>
                    <a:pt x="622278" y="17019"/>
                  </a:lnTo>
                  <a:cubicBezTo>
                    <a:pt x="591919" y="1904"/>
                    <a:pt x="554776" y="0"/>
                    <a:pt x="520384" y="17197"/>
                  </a:cubicBezTo>
                  <a:close/>
                  <a:moveTo>
                    <a:pt x="622634" y="17197"/>
                  </a:moveTo>
                  <a:cubicBezTo>
                    <a:pt x="622515" y="17137"/>
                    <a:pt x="622397" y="17078"/>
                    <a:pt x="622278" y="17019"/>
                  </a:cubicBezTo>
                </a:path>
              </a:pathLst>
            </a:custGeom>
            <a:noFill/>
            <a:ln w="14287">
              <a:solidFill>
                <a:srgbClr val="DE8431"/>
              </a:solidFill>
            </a:ln>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Calibri"/>
              </a:endParaRPr>
            </a:p>
          </p:txBody>
        </p:sp>
      </p:grpSp>
      <p:grpSp>
        <p:nvGrpSpPr>
          <p:cNvPr id="35" name="Group 34"/>
          <p:cNvGrpSpPr/>
          <p:nvPr/>
        </p:nvGrpSpPr>
        <p:grpSpPr>
          <a:xfrm>
            <a:off x="3701182" y="4703469"/>
            <a:ext cx="922578" cy="1054017"/>
            <a:chOff x="4419748" y="3633501"/>
            <a:chExt cx="685800" cy="783506"/>
          </a:xfrm>
        </p:grpSpPr>
        <p:sp>
          <p:nvSpPr>
            <p:cNvPr id="34" name="Rounded Rectangle 32"/>
            <p:cNvSpPr/>
            <p:nvPr/>
          </p:nvSpPr>
          <p:spPr>
            <a:xfrm>
              <a:off x="4419748" y="3633501"/>
              <a:ext cx="622630" cy="766257"/>
            </a:xfrm>
            <a:custGeom>
              <a:avLst/>
              <a:gdLst/>
              <a:ahLst/>
              <a:cxnLst/>
              <a:rect l="0" t="0" r="0" b="0"/>
              <a:pathLst>
                <a:path w="622630" h="766257">
                  <a:moveTo>
                    <a:pt x="291779" y="17259"/>
                  </a:moveTo>
                  <a:lnTo>
                    <a:pt x="126368" y="99974"/>
                  </a:lnTo>
                  <a:cubicBezTo>
                    <a:pt x="48920" y="138693"/>
                    <a:pt x="0" y="217846"/>
                    <a:pt x="0" y="304438"/>
                  </a:cubicBezTo>
                  <a:lnTo>
                    <a:pt x="0" y="549716"/>
                  </a:lnTo>
                  <a:cubicBezTo>
                    <a:pt x="0" y="596074"/>
                    <a:pt x="26622" y="633593"/>
                    <a:pt x="63169" y="651948"/>
                  </a:cubicBezTo>
                  <a:lnTo>
                    <a:pt x="291779" y="766257"/>
                  </a:lnTo>
                  <a:cubicBezTo>
                    <a:pt x="255231" y="747912"/>
                    <a:pt x="228600" y="710384"/>
                    <a:pt x="228600" y="664016"/>
                  </a:cubicBezTo>
                  <a:lnTo>
                    <a:pt x="228600" y="418738"/>
                  </a:lnTo>
                  <a:cubicBezTo>
                    <a:pt x="228600" y="332146"/>
                    <a:pt x="277520" y="252993"/>
                    <a:pt x="354968" y="214274"/>
                  </a:cubicBezTo>
                  <a:lnTo>
                    <a:pt x="520379" y="131559"/>
                  </a:lnTo>
                  <a:cubicBezTo>
                    <a:pt x="554774" y="114366"/>
                    <a:pt x="591921" y="116271"/>
                    <a:pt x="622277" y="131387"/>
                  </a:cubicBezTo>
                  <a:lnTo>
                    <a:pt x="394030" y="17259"/>
                  </a:lnTo>
                  <a:cubicBezTo>
                    <a:pt x="363607" y="1981"/>
                    <a:pt x="326307" y="0"/>
                    <a:pt x="291779" y="17259"/>
                  </a:cubicBezTo>
                  <a:moveTo>
                    <a:pt x="622277" y="131387"/>
                  </a:moveTo>
                  <a:cubicBezTo>
                    <a:pt x="622401" y="131444"/>
                    <a:pt x="622515" y="131502"/>
                    <a:pt x="622630" y="131559"/>
                  </a:cubicBezTo>
                </a:path>
              </a:pathLst>
            </a:custGeom>
            <a:solidFill>
              <a:srgbClr val="E55753">
                <a:alpha val="20000"/>
              </a:srgbClr>
            </a:solidFill>
            <a:ln>
              <a:noFill/>
            </a:ln>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Calibri"/>
              </a:endParaRPr>
            </a:p>
          </p:txBody>
        </p:sp>
        <p:sp>
          <p:nvSpPr>
            <p:cNvPr id="36" name="Rounded Rectangle 33"/>
            <p:cNvSpPr/>
            <p:nvPr/>
          </p:nvSpPr>
          <p:spPr>
            <a:xfrm>
              <a:off x="4648348" y="3747867"/>
              <a:ext cx="457200" cy="669140"/>
            </a:xfrm>
            <a:custGeom>
              <a:avLst/>
              <a:gdLst/>
              <a:ahLst/>
              <a:cxnLst/>
              <a:rect l="0" t="0" r="0" b="0"/>
              <a:pathLst>
                <a:path w="457200" h="669140">
                  <a:moveTo>
                    <a:pt x="0" y="304371"/>
                  </a:moveTo>
                  <a:cubicBezTo>
                    <a:pt x="0" y="217779"/>
                    <a:pt x="48920" y="138626"/>
                    <a:pt x="126368" y="99907"/>
                  </a:cubicBezTo>
                  <a:lnTo>
                    <a:pt x="291779" y="17192"/>
                  </a:lnTo>
                  <a:cubicBezTo>
                    <a:pt x="326174" y="0"/>
                    <a:pt x="363321" y="1905"/>
                    <a:pt x="393677" y="17021"/>
                  </a:cubicBezTo>
                  <a:cubicBezTo>
                    <a:pt x="393801" y="17078"/>
                    <a:pt x="393915" y="17135"/>
                    <a:pt x="394030" y="17192"/>
                  </a:cubicBezTo>
                  <a:cubicBezTo>
                    <a:pt x="430577" y="35547"/>
                    <a:pt x="457200" y="73066"/>
                    <a:pt x="457200" y="119424"/>
                  </a:cubicBezTo>
                  <a:lnTo>
                    <a:pt x="457200" y="364702"/>
                  </a:lnTo>
                  <a:cubicBezTo>
                    <a:pt x="457200" y="451294"/>
                    <a:pt x="408279" y="530447"/>
                    <a:pt x="330831" y="569166"/>
                  </a:cubicBezTo>
                  <a:lnTo>
                    <a:pt x="165420" y="651881"/>
                  </a:lnTo>
                  <a:cubicBezTo>
                    <a:pt x="130892" y="669140"/>
                    <a:pt x="93602" y="667159"/>
                    <a:pt x="63179" y="651891"/>
                  </a:cubicBezTo>
                  <a:cubicBezTo>
                    <a:pt x="26631" y="633545"/>
                    <a:pt x="0" y="596017"/>
                    <a:pt x="0" y="549649"/>
                  </a:cubicBezTo>
                  <a:lnTo>
                    <a:pt x="0" y="304371"/>
                  </a:lnTo>
                </a:path>
              </a:pathLst>
            </a:custGeom>
            <a:solidFill>
              <a:srgbClr val="E55753">
                <a:alpha val="20000"/>
              </a:srgbClr>
            </a:solidFill>
            <a:ln>
              <a:noFill/>
            </a:ln>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mn-ea"/>
                <a:cs typeface="Calibri"/>
              </a:endParaRPr>
            </a:p>
          </p:txBody>
        </p:sp>
      </p:grpSp>
      <p:grpSp>
        <p:nvGrpSpPr>
          <p:cNvPr id="38" name="Group 37"/>
          <p:cNvGrpSpPr/>
          <p:nvPr/>
        </p:nvGrpSpPr>
        <p:grpSpPr>
          <a:xfrm>
            <a:off x="3701182" y="4703466"/>
            <a:ext cx="922578" cy="1054020"/>
            <a:chOff x="4419748" y="3633499"/>
            <a:chExt cx="685800" cy="783508"/>
          </a:xfrm>
        </p:grpSpPr>
        <p:sp>
          <p:nvSpPr>
            <p:cNvPr id="37" name="Rounded Rectangle 35"/>
            <p:cNvSpPr/>
            <p:nvPr/>
          </p:nvSpPr>
          <p:spPr>
            <a:xfrm>
              <a:off x="4419748" y="3633499"/>
              <a:ext cx="622634" cy="766257"/>
            </a:xfrm>
            <a:custGeom>
              <a:avLst/>
              <a:gdLst/>
              <a:ahLst/>
              <a:cxnLst/>
              <a:rect l="0" t="0" r="0" b="0"/>
              <a:pathLst>
                <a:path w="622634" h="766257">
                  <a:moveTo>
                    <a:pt x="291784" y="17265"/>
                  </a:moveTo>
                  <a:lnTo>
                    <a:pt x="126367" y="99972"/>
                  </a:lnTo>
                  <a:cubicBezTo>
                    <a:pt x="48921" y="138696"/>
                    <a:pt x="0" y="217851"/>
                    <a:pt x="0" y="304439"/>
                  </a:cubicBezTo>
                  <a:lnTo>
                    <a:pt x="0" y="549715"/>
                  </a:lnTo>
                  <a:cubicBezTo>
                    <a:pt x="0" y="596080"/>
                    <a:pt x="26624" y="633599"/>
                    <a:pt x="63165" y="651948"/>
                  </a:cubicBezTo>
                  <a:lnTo>
                    <a:pt x="291784" y="766257"/>
                  </a:lnTo>
                  <a:cubicBezTo>
                    <a:pt x="255233" y="747911"/>
                    <a:pt x="228600" y="710387"/>
                    <a:pt x="228600" y="664015"/>
                  </a:cubicBezTo>
                  <a:lnTo>
                    <a:pt x="228600" y="418739"/>
                  </a:lnTo>
                  <a:cubicBezTo>
                    <a:pt x="228600" y="332151"/>
                    <a:pt x="277521" y="252996"/>
                    <a:pt x="354967" y="214272"/>
                  </a:cubicBezTo>
                  <a:lnTo>
                    <a:pt x="520384" y="131565"/>
                  </a:lnTo>
                  <a:cubicBezTo>
                    <a:pt x="554777" y="114367"/>
                    <a:pt x="591919" y="116272"/>
                    <a:pt x="622278" y="131386"/>
                  </a:cubicBezTo>
                  <a:lnTo>
                    <a:pt x="394034" y="17265"/>
                  </a:lnTo>
                  <a:cubicBezTo>
                    <a:pt x="363610" y="1986"/>
                    <a:pt x="326312" y="0"/>
                    <a:pt x="291784" y="17265"/>
                  </a:cubicBezTo>
                  <a:close/>
                  <a:moveTo>
                    <a:pt x="622634" y="131565"/>
                  </a:moveTo>
                  <a:lnTo>
                    <a:pt x="622278" y="131386"/>
                  </a:lnTo>
                  <a:cubicBezTo>
                    <a:pt x="622397" y="131445"/>
                    <a:pt x="622515" y="131505"/>
                    <a:pt x="622634" y="131565"/>
                  </a:cubicBezTo>
                  <a:close/>
                </a:path>
              </a:pathLst>
            </a:custGeom>
            <a:noFill/>
            <a:ln w="14287">
              <a:solidFill>
                <a:srgbClr val="E55753"/>
              </a:solidFill>
            </a:ln>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Calibri"/>
              </a:endParaRPr>
            </a:p>
          </p:txBody>
        </p:sp>
        <p:sp>
          <p:nvSpPr>
            <p:cNvPr id="39" name="Rounded Rectangle 36"/>
            <p:cNvSpPr/>
            <p:nvPr/>
          </p:nvSpPr>
          <p:spPr>
            <a:xfrm>
              <a:off x="4648348" y="3747866"/>
              <a:ext cx="457200" cy="669141"/>
            </a:xfrm>
            <a:custGeom>
              <a:avLst/>
              <a:gdLst/>
              <a:ahLst/>
              <a:cxnLst/>
              <a:rect l="0" t="0" r="0" b="0"/>
              <a:pathLst>
                <a:path w="457200" h="669141">
                  <a:moveTo>
                    <a:pt x="0" y="304371"/>
                  </a:moveTo>
                  <a:cubicBezTo>
                    <a:pt x="0" y="217784"/>
                    <a:pt x="48921" y="138627"/>
                    <a:pt x="126367" y="99904"/>
                  </a:cubicBezTo>
                  <a:lnTo>
                    <a:pt x="291784" y="17196"/>
                  </a:lnTo>
                  <a:cubicBezTo>
                    <a:pt x="326177" y="0"/>
                    <a:pt x="363319" y="1904"/>
                    <a:pt x="393678" y="17019"/>
                  </a:cubicBezTo>
                  <a:cubicBezTo>
                    <a:pt x="393797" y="17078"/>
                    <a:pt x="393915" y="17137"/>
                    <a:pt x="394034" y="17196"/>
                  </a:cubicBezTo>
                  <a:cubicBezTo>
                    <a:pt x="430575" y="35545"/>
                    <a:pt x="457200" y="73065"/>
                    <a:pt x="457200" y="119430"/>
                  </a:cubicBezTo>
                  <a:lnTo>
                    <a:pt x="457200" y="364706"/>
                  </a:lnTo>
                  <a:cubicBezTo>
                    <a:pt x="457200" y="451293"/>
                    <a:pt x="408278" y="530449"/>
                    <a:pt x="330832" y="569172"/>
                  </a:cubicBezTo>
                  <a:lnTo>
                    <a:pt x="165415" y="651880"/>
                  </a:lnTo>
                  <a:cubicBezTo>
                    <a:pt x="130894" y="669141"/>
                    <a:pt x="93605" y="667158"/>
                    <a:pt x="63184" y="651889"/>
                  </a:cubicBezTo>
                  <a:cubicBezTo>
                    <a:pt x="26633" y="633543"/>
                    <a:pt x="0" y="596020"/>
                    <a:pt x="0" y="549647"/>
                  </a:cubicBezTo>
                  <a:close/>
                  <a:moveTo>
                    <a:pt x="393678" y="17019"/>
                  </a:moveTo>
                  <a:lnTo>
                    <a:pt x="394034" y="17196"/>
                  </a:lnTo>
                </a:path>
              </a:pathLst>
            </a:custGeom>
            <a:noFill/>
            <a:ln w="14287">
              <a:solidFill>
                <a:srgbClr val="E55753"/>
              </a:solidFill>
            </a:ln>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Calibri"/>
              </a:endParaRPr>
            </a:p>
          </p:txBody>
        </p:sp>
      </p:grpSp>
      <p:sp>
        <p:nvSpPr>
          <p:cNvPr id="96" name="TextBox 95">
            <a:extLst>
              <a:ext uri="{FF2B5EF4-FFF2-40B4-BE49-F238E27FC236}">
                <a16:creationId xmlns:a16="http://schemas.microsoft.com/office/drawing/2014/main" id="{4A166D26-D828-6001-DAD5-B15A36546A5D}"/>
              </a:ext>
            </a:extLst>
          </p:cNvPr>
          <p:cNvSpPr txBox="1"/>
          <p:nvPr/>
        </p:nvSpPr>
        <p:spPr>
          <a:xfrm>
            <a:off x="5538155" y="4857319"/>
            <a:ext cx="1757631" cy="276999"/>
          </a:xfrm>
          <a:prstGeom prst="rect">
            <a:avLst/>
          </a:prstGeom>
          <a:noFill/>
        </p:spPr>
        <p:txBody>
          <a:bodyPr wrap="square">
            <a:spAutoFit/>
          </a:bodyPr>
          <a:lstStyle/>
          <a:p>
            <a:pPr marL="0" marR="0" lvl="0" indent="0" algn="l" defTabSz="457200" rtl="1" eaLnBrk="1" fontAlgn="auto" latinLnBrk="0" hangingPunct="1">
              <a:lnSpc>
                <a:spcPct val="100000"/>
              </a:lnSpc>
              <a:spcBef>
                <a:spcPts val="0"/>
              </a:spcBef>
              <a:spcAft>
                <a:spcPts val="0"/>
              </a:spcAft>
              <a:buClrTx/>
              <a:buSzTx/>
              <a:buFontTx/>
              <a:buNone/>
              <a:tabLst/>
              <a:defRPr/>
            </a:pPr>
            <a:r>
              <a:rPr kumimoji="0" lang="ar-SA" sz="1200" b="1" i="0" u="none" strike="noStrike" kern="1200" cap="none" spc="0" normalizeH="0" baseline="0" noProof="0">
                <a:ln>
                  <a:noFill/>
                </a:ln>
                <a:solidFill>
                  <a:srgbClr val="E55753"/>
                </a:solidFill>
                <a:effectLst/>
                <a:uLnTx/>
                <a:uFillTx/>
                <a:latin typeface="Calibri"/>
                <a:ea typeface="Aptos" panose="020B0004020202020204" pitchFamily="34" charset="0"/>
                <a:cs typeface="Shabnam FD" panose="020B0603030804020204" pitchFamily="34" charset="-78"/>
              </a:rPr>
              <a:t>فرصت بیشتر</a:t>
            </a:r>
            <a:endParaRPr kumimoji="0" lang="en-US" sz="1200" b="0" i="0" u="none" strike="noStrike" kern="1200" cap="none" spc="0" normalizeH="0" baseline="0" noProof="0">
              <a:ln>
                <a:noFill/>
              </a:ln>
              <a:solidFill>
                <a:srgbClr val="E55753"/>
              </a:solidFill>
              <a:effectLst/>
              <a:uLnTx/>
              <a:uFillTx/>
              <a:latin typeface="Calibri"/>
              <a:ea typeface="+mn-ea"/>
              <a:cs typeface="Calibri"/>
            </a:endParaRPr>
          </a:p>
        </p:txBody>
      </p:sp>
      <p:sp>
        <p:nvSpPr>
          <p:cNvPr id="97" name="TextBox 96">
            <a:extLst>
              <a:ext uri="{FF2B5EF4-FFF2-40B4-BE49-F238E27FC236}">
                <a16:creationId xmlns:a16="http://schemas.microsoft.com/office/drawing/2014/main" id="{22ABAA9D-0515-5269-2544-C551CB4D57E1}"/>
              </a:ext>
            </a:extLst>
          </p:cNvPr>
          <p:cNvSpPr txBox="1"/>
          <p:nvPr/>
        </p:nvSpPr>
        <p:spPr>
          <a:xfrm>
            <a:off x="5569877" y="4252066"/>
            <a:ext cx="1757631" cy="276999"/>
          </a:xfrm>
          <a:prstGeom prst="rect">
            <a:avLst/>
          </a:prstGeom>
          <a:noFill/>
        </p:spPr>
        <p:txBody>
          <a:bodyPr wrap="square">
            <a:spAutoFit/>
          </a:bodyPr>
          <a:lstStyle/>
          <a:p>
            <a:pPr marL="0" marR="0" lvl="0" indent="0" algn="l" defTabSz="457200" rtl="1" eaLnBrk="1" fontAlgn="auto" latinLnBrk="0" hangingPunct="1">
              <a:lnSpc>
                <a:spcPct val="100000"/>
              </a:lnSpc>
              <a:spcBef>
                <a:spcPts val="0"/>
              </a:spcBef>
              <a:spcAft>
                <a:spcPts val="0"/>
              </a:spcAft>
              <a:buClrTx/>
              <a:buSzTx/>
              <a:buFontTx/>
              <a:buNone/>
              <a:tabLst/>
              <a:defRPr/>
            </a:pPr>
            <a:r>
              <a:rPr kumimoji="0" lang="fa-IR" sz="1200" b="1" i="0" u="none" strike="noStrike" kern="1200" cap="none" spc="0" normalizeH="0" baseline="0" noProof="0">
                <a:ln>
                  <a:noFill/>
                </a:ln>
                <a:solidFill>
                  <a:srgbClr val="E49956"/>
                </a:solidFill>
                <a:effectLst/>
                <a:uLnTx/>
                <a:uFillTx/>
                <a:latin typeface="Calibri"/>
                <a:ea typeface="Aptos" panose="020B0004020202020204" pitchFamily="34" charset="0"/>
                <a:cs typeface="Shabnam FD" panose="020B0603030804020204" pitchFamily="34" charset="-78"/>
              </a:rPr>
              <a:t>تطبیق بهتر</a:t>
            </a:r>
            <a:endParaRPr kumimoji="0" lang="en-US" sz="1200" b="0" i="0" u="none" strike="noStrike" kern="1200" cap="none" spc="0" normalizeH="0" baseline="0" noProof="0">
              <a:ln>
                <a:noFill/>
              </a:ln>
              <a:solidFill>
                <a:srgbClr val="E49956"/>
              </a:solidFill>
              <a:effectLst/>
              <a:uLnTx/>
              <a:uFillTx/>
              <a:latin typeface="Calibri"/>
              <a:ea typeface="+mn-ea"/>
              <a:cs typeface="Calibri"/>
            </a:endParaRPr>
          </a:p>
        </p:txBody>
      </p:sp>
      <p:sp>
        <p:nvSpPr>
          <p:cNvPr id="98" name="TextBox 97">
            <a:extLst>
              <a:ext uri="{FF2B5EF4-FFF2-40B4-BE49-F238E27FC236}">
                <a16:creationId xmlns:a16="http://schemas.microsoft.com/office/drawing/2014/main" id="{C29004DA-E6B9-21D2-92E5-7CE44A26EB17}"/>
              </a:ext>
            </a:extLst>
          </p:cNvPr>
          <p:cNvSpPr txBox="1"/>
          <p:nvPr/>
        </p:nvSpPr>
        <p:spPr>
          <a:xfrm>
            <a:off x="5538154" y="3656825"/>
            <a:ext cx="1757631" cy="276999"/>
          </a:xfrm>
          <a:prstGeom prst="rect">
            <a:avLst/>
          </a:prstGeom>
          <a:noFill/>
        </p:spPr>
        <p:txBody>
          <a:bodyPr wrap="square">
            <a:spAutoFit/>
          </a:bodyPr>
          <a:lstStyle/>
          <a:p>
            <a:pPr marL="0" marR="0" lvl="0" indent="0" algn="l" defTabSz="457200" rtl="1" eaLnBrk="1" fontAlgn="auto" latinLnBrk="0" hangingPunct="1">
              <a:lnSpc>
                <a:spcPct val="100000"/>
              </a:lnSpc>
              <a:spcBef>
                <a:spcPts val="0"/>
              </a:spcBef>
              <a:spcAft>
                <a:spcPts val="0"/>
              </a:spcAft>
              <a:buClrTx/>
              <a:buSzTx/>
              <a:buFontTx/>
              <a:buNone/>
              <a:tabLst/>
              <a:defRPr/>
            </a:pPr>
            <a:r>
              <a:rPr kumimoji="0" lang="fa-IR" sz="1200" b="1" i="0" u="none" strike="noStrike" kern="1200" cap="none" spc="0" normalizeH="0" baseline="0" noProof="0">
                <a:ln>
                  <a:noFill/>
                </a:ln>
                <a:solidFill>
                  <a:srgbClr val="E3CF2A"/>
                </a:solidFill>
                <a:effectLst/>
                <a:uLnTx/>
                <a:uFillTx/>
                <a:latin typeface="Calibri"/>
                <a:ea typeface="Aptos" panose="020B0004020202020204" pitchFamily="34" charset="0"/>
                <a:cs typeface="Shabnam FD" panose="020B0603030804020204" pitchFamily="34" charset="-78"/>
              </a:rPr>
              <a:t>دسترسی و اعتماد بیشتر</a:t>
            </a:r>
            <a:endParaRPr kumimoji="0" lang="en-US" sz="1200" b="0" i="0" u="none" strike="noStrike" kern="1200" cap="none" spc="0" normalizeH="0" baseline="0" noProof="0">
              <a:ln>
                <a:noFill/>
              </a:ln>
              <a:solidFill>
                <a:srgbClr val="E3CF2A"/>
              </a:solidFill>
              <a:effectLst/>
              <a:uLnTx/>
              <a:uFillTx/>
              <a:latin typeface="Calibri"/>
              <a:ea typeface="+mn-ea"/>
              <a:cs typeface="Calibri"/>
            </a:endParaRPr>
          </a:p>
        </p:txBody>
      </p:sp>
      <p:sp>
        <p:nvSpPr>
          <p:cNvPr id="99" name="TextBox 98">
            <a:extLst>
              <a:ext uri="{FF2B5EF4-FFF2-40B4-BE49-F238E27FC236}">
                <a16:creationId xmlns:a16="http://schemas.microsoft.com/office/drawing/2014/main" id="{C31A6FEF-DEA7-123F-198A-75B1A5DE4482}"/>
              </a:ext>
            </a:extLst>
          </p:cNvPr>
          <p:cNvSpPr txBox="1"/>
          <p:nvPr/>
        </p:nvSpPr>
        <p:spPr>
          <a:xfrm>
            <a:off x="5596389" y="3023191"/>
            <a:ext cx="1757631" cy="276999"/>
          </a:xfrm>
          <a:prstGeom prst="rect">
            <a:avLst/>
          </a:prstGeom>
          <a:noFill/>
        </p:spPr>
        <p:txBody>
          <a:bodyPr wrap="square">
            <a:spAutoFit/>
          </a:bodyPr>
          <a:lstStyle/>
          <a:p>
            <a:pPr marL="0" marR="0" lvl="0" indent="0" algn="l" defTabSz="457200" rtl="1" eaLnBrk="1" fontAlgn="auto" latinLnBrk="0" hangingPunct="1">
              <a:lnSpc>
                <a:spcPct val="100000"/>
              </a:lnSpc>
              <a:spcBef>
                <a:spcPts val="0"/>
              </a:spcBef>
              <a:spcAft>
                <a:spcPts val="0"/>
              </a:spcAft>
              <a:buClrTx/>
              <a:buSzTx/>
              <a:buFontTx/>
              <a:buNone/>
              <a:tabLst/>
              <a:defRPr/>
            </a:pPr>
            <a:r>
              <a:rPr kumimoji="0" lang="fa-IR" sz="1200" b="1" i="0" u="none" strike="noStrike" kern="1200" cap="none" spc="0" normalizeH="0" baseline="0" noProof="0">
                <a:ln>
                  <a:noFill/>
                </a:ln>
                <a:solidFill>
                  <a:srgbClr val="B1D072"/>
                </a:solidFill>
                <a:effectLst/>
                <a:uLnTx/>
                <a:uFillTx/>
                <a:latin typeface="Calibri"/>
                <a:ea typeface="Aptos" panose="020B0004020202020204" pitchFamily="34" charset="0"/>
                <a:cs typeface="Shabnam FD" panose="020B0603030804020204" pitchFamily="34" charset="-78"/>
              </a:rPr>
              <a:t>سرمایه و قابلیت بیشتر</a:t>
            </a:r>
            <a:endParaRPr kumimoji="0" lang="en-US" sz="1200" b="0" i="0" u="none" strike="noStrike" kern="1200" cap="none" spc="0" normalizeH="0" baseline="0" noProof="0">
              <a:ln>
                <a:noFill/>
              </a:ln>
              <a:solidFill>
                <a:srgbClr val="B1D072"/>
              </a:solidFill>
              <a:effectLst/>
              <a:uLnTx/>
              <a:uFillTx/>
              <a:latin typeface="Calibri"/>
              <a:ea typeface="+mn-ea"/>
              <a:cs typeface="Calibri"/>
            </a:endParaRPr>
          </a:p>
        </p:txBody>
      </p:sp>
      <p:sp>
        <p:nvSpPr>
          <p:cNvPr id="100" name="TextBox 99">
            <a:extLst>
              <a:ext uri="{FF2B5EF4-FFF2-40B4-BE49-F238E27FC236}">
                <a16:creationId xmlns:a16="http://schemas.microsoft.com/office/drawing/2014/main" id="{6F19DDA5-0657-CE6C-448E-7B5DF085B9C6}"/>
              </a:ext>
            </a:extLst>
          </p:cNvPr>
          <p:cNvSpPr txBox="1"/>
          <p:nvPr/>
        </p:nvSpPr>
        <p:spPr>
          <a:xfrm>
            <a:off x="5596388" y="2417938"/>
            <a:ext cx="1757631" cy="276999"/>
          </a:xfrm>
          <a:prstGeom prst="rect">
            <a:avLst/>
          </a:prstGeom>
          <a:noFill/>
        </p:spPr>
        <p:txBody>
          <a:bodyPr wrap="square">
            <a:spAutoFit/>
          </a:bodyPr>
          <a:lstStyle/>
          <a:p>
            <a:pPr marL="0" marR="0" lvl="0" indent="0" algn="l" defTabSz="457200" rtl="1" eaLnBrk="1" fontAlgn="auto" latinLnBrk="0" hangingPunct="1">
              <a:lnSpc>
                <a:spcPct val="100000"/>
              </a:lnSpc>
              <a:spcBef>
                <a:spcPts val="0"/>
              </a:spcBef>
              <a:spcAft>
                <a:spcPts val="0"/>
              </a:spcAft>
              <a:buClrTx/>
              <a:buSzTx/>
              <a:buFontTx/>
              <a:buNone/>
              <a:tabLst/>
              <a:defRPr/>
            </a:pPr>
            <a:r>
              <a:rPr kumimoji="0" lang="fa-IR" sz="1200" b="1" i="0" u="none" strike="noStrike" kern="1200" cap="none" spc="0" normalizeH="0" baseline="0" noProof="0">
                <a:ln>
                  <a:noFill/>
                </a:ln>
                <a:solidFill>
                  <a:srgbClr val="3CC583"/>
                </a:solidFill>
                <a:effectLst/>
                <a:uLnTx/>
                <a:uFillTx/>
                <a:latin typeface="Calibri"/>
                <a:ea typeface="Aptos" panose="020B0004020202020204" pitchFamily="34" charset="0"/>
                <a:cs typeface="Shabnam FD" panose="020B0603030804020204" pitchFamily="34" charset="-78"/>
              </a:rPr>
              <a:t>نتایج بیشتر و باکیفیت‎تر</a:t>
            </a:r>
            <a:endParaRPr kumimoji="0" lang="en-US" sz="1200" b="0" i="0" u="none" strike="noStrike" kern="1200" cap="none" spc="0" normalizeH="0" baseline="0" noProof="0">
              <a:ln>
                <a:noFill/>
              </a:ln>
              <a:solidFill>
                <a:srgbClr val="3CC583"/>
              </a:solidFill>
              <a:effectLst/>
              <a:uLnTx/>
              <a:uFillTx/>
              <a:latin typeface="Calibri"/>
              <a:ea typeface="+mn-ea"/>
              <a:cs typeface="Calibri"/>
            </a:endParaRPr>
          </a:p>
        </p:txBody>
      </p:sp>
      <p:sp>
        <p:nvSpPr>
          <p:cNvPr id="101" name="TextBox 100">
            <a:extLst>
              <a:ext uri="{FF2B5EF4-FFF2-40B4-BE49-F238E27FC236}">
                <a16:creationId xmlns:a16="http://schemas.microsoft.com/office/drawing/2014/main" id="{2BBFE63C-9034-496D-EC9A-39E8EB3F8DCF}"/>
              </a:ext>
            </a:extLst>
          </p:cNvPr>
          <p:cNvSpPr txBox="1"/>
          <p:nvPr/>
        </p:nvSpPr>
        <p:spPr>
          <a:xfrm>
            <a:off x="5596388" y="1828163"/>
            <a:ext cx="2560320" cy="276999"/>
          </a:xfrm>
          <a:prstGeom prst="rect">
            <a:avLst/>
          </a:prstGeom>
          <a:noFill/>
        </p:spPr>
        <p:txBody>
          <a:bodyPr wrap="square">
            <a:spAutoFit/>
          </a:bodyPr>
          <a:lstStyle/>
          <a:p>
            <a:pPr marL="0" marR="0" lvl="0" indent="0" algn="l" defTabSz="457200" rtl="1" eaLnBrk="1" fontAlgn="auto" latinLnBrk="0" hangingPunct="1">
              <a:lnSpc>
                <a:spcPct val="100000"/>
              </a:lnSpc>
              <a:spcBef>
                <a:spcPts val="0"/>
              </a:spcBef>
              <a:spcAft>
                <a:spcPts val="0"/>
              </a:spcAft>
              <a:buClrTx/>
              <a:buSzTx/>
              <a:buFontTx/>
              <a:buNone/>
              <a:tabLst/>
              <a:defRPr/>
            </a:pPr>
            <a:r>
              <a:rPr kumimoji="0" lang="fa-IR" sz="1200" b="1" i="0" u="none" strike="noStrike" kern="1200" cap="none" spc="0" normalizeH="0" baseline="0" noProof="0">
                <a:ln>
                  <a:noFill/>
                </a:ln>
                <a:solidFill>
                  <a:srgbClr val="1FABDA"/>
                </a:solidFill>
                <a:effectLst/>
                <a:uLnTx/>
                <a:uFillTx/>
                <a:latin typeface="Calibri"/>
                <a:ea typeface="Aptos" panose="020B0004020202020204" pitchFamily="34" charset="0"/>
                <a:cs typeface="Shabnam FD" panose="020B0603030804020204" pitchFamily="34" charset="-78"/>
              </a:rPr>
              <a:t>اعتبار، داده، سرمایه و روابط بیشتر</a:t>
            </a:r>
            <a:endParaRPr kumimoji="0" lang="en-US" sz="1200" b="0" i="0" u="none" strike="noStrike" kern="1200" cap="none" spc="0" normalizeH="0" baseline="0" noProof="0">
              <a:ln>
                <a:noFill/>
              </a:ln>
              <a:solidFill>
                <a:srgbClr val="1FABDA"/>
              </a:solidFill>
              <a:effectLst/>
              <a:uLnTx/>
              <a:uFillTx/>
              <a:latin typeface="Calibri"/>
              <a:ea typeface="+mn-ea"/>
              <a:cs typeface="Calibri"/>
            </a:endParaRPr>
          </a:p>
        </p:txBody>
      </p:sp>
      <p:sp>
        <p:nvSpPr>
          <p:cNvPr id="103" name="TextBox 102">
            <a:extLst>
              <a:ext uri="{FF2B5EF4-FFF2-40B4-BE49-F238E27FC236}">
                <a16:creationId xmlns:a16="http://schemas.microsoft.com/office/drawing/2014/main" id="{72D83736-21EF-FEDC-BB43-B9E306BAFC52}"/>
              </a:ext>
            </a:extLst>
          </p:cNvPr>
          <p:cNvSpPr txBox="1"/>
          <p:nvPr/>
        </p:nvSpPr>
        <p:spPr>
          <a:xfrm>
            <a:off x="555625" y="1207281"/>
            <a:ext cx="10591800" cy="461665"/>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a:ln>
                  <a:noFill/>
                </a:ln>
                <a:solidFill>
                  <a:prstClr val="black"/>
                </a:solidFill>
                <a:effectLst/>
                <a:uLnTx/>
                <a:uFillTx/>
                <a:latin typeface="Shabnam FD" panose="020B0603030804020204" pitchFamily="34" charset="-78"/>
                <a:ea typeface="+mn-ea"/>
                <a:cs typeface="Shabnam FD" panose="020B0603030804020204" pitchFamily="34" charset="-78"/>
              </a:rPr>
              <a:t>چرخه رشد</a:t>
            </a:r>
            <a:r>
              <a:rPr kumimoji="0" lang="en-US" sz="1100" b="0" i="0" u="none" strike="noStrike" kern="1200" cap="none" spc="0" normalizeH="0" baseline="0" noProof="0">
                <a:ln>
                  <a:noFill/>
                </a:ln>
                <a:solidFill>
                  <a:prstClr val="black"/>
                </a:solidFill>
                <a:effectLst/>
                <a:uLnTx/>
                <a:uFillTx/>
                <a:latin typeface="Shabnam FD" panose="020B0603030804020204" pitchFamily="34" charset="-78"/>
                <a:ea typeface="+mn-ea"/>
                <a:cs typeface="Shabnam FD" panose="020B0603030804020204" pitchFamily="34" charset="-78"/>
              </a:rPr>
              <a:t> </a:t>
            </a:r>
            <a:r>
              <a:rPr kumimoji="0" lang="fa-IR" sz="1100" b="0" i="0" u="none" strike="noStrike" kern="1200" cap="none" spc="0" normalizeH="0" baseline="0" noProof="0">
                <a:ln>
                  <a:noFill/>
                </a:ln>
                <a:solidFill>
                  <a:prstClr val="black"/>
                </a:solidFill>
                <a:effectLst/>
                <a:uLnTx/>
                <a:uFillTx/>
                <a:latin typeface="Shabnam FD" panose="020B0603030804020204" pitchFamily="34" charset="-78"/>
                <a:ea typeface="+mn-ea"/>
                <a:cs typeface="Shabnam FD" panose="020B0603030804020204" pitchFamily="34" charset="-78"/>
              </a:rPr>
              <a:t>زمانی واقعاً شکل می‌گیرد که هر خط کسب‌وکار صرفاً مشتری و درآمد تولید نکند، بلکه برای خطوط دیگر نیز </a:t>
            </a:r>
            <a:r>
              <a:rPr kumimoji="0" lang="fa-IR" sz="1200" b="1" i="0" u="none" strike="noStrike" kern="1200" cap="none" spc="0" normalizeH="0" baseline="0" noProof="0">
                <a:ln>
                  <a:noFill/>
                </a:ln>
                <a:solidFill>
                  <a:prstClr val="black"/>
                </a:solidFill>
                <a:effectLst/>
                <a:uLnTx/>
                <a:uFillTx/>
                <a:latin typeface="Shabnam FD" panose="020B0603030804020204" pitchFamily="34" charset="-78"/>
                <a:ea typeface="+mn-ea"/>
                <a:cs typeface="Shabnam FD" panose="020B0603030804020204" pitchFamily="34" charset="-78"/>
              </a:rPr>
              <a:t>دارایی قابل‌استفاده </a:t>
            </a:r>
            <a:r>
              <a:rPr kumimoji="0" lang="fa-IR" sz="1100" b="0" i="0" u="none" strike="noStrike" kern="1200" cap="none" spc="0" normalizeH="0" baseline="0" noProof="0">
                <a:ln>
                  <a:noFill/>
                </a:ln>
                <a:solidFill>
                  <a:prstClr val="black"/>
                </a:solidFill>
                <a:effectLst/>
                <a:uLnTx/>
                <a:uFillTx/>
                <a:latin typeface="Shabnam FD" panose="020B0603030804020204" pitchFamily="34" charset="-78"/>
                <a:ea typeface="+mn-ea"/>
                <a:cs typeface="Shabnam FD" panose="020B0603030804020204" pitchFamily="34" charset="-78"/>
              </a:rPr>
              <a:t>تولید کند. بنابراین رشد مدل از جنس </a:t>
            </a:r>
            <a:r>
              <a:rPr kumimoji="0" lang="fa-IR" sz="1200" b="1" i="0" u="none" strike="noStrike" kern="1200" cap="none" spc="0" normalizeH="0" baseline="0" noProof="0">
                <a:ln>
                  <a:noFill/>
                </a:ln>
                <a:solidFill>
                  <a:prstClr val="black"/>
                </a:solidFill>
                <a:effectLst/>
                <a:uLnTx/>
                <a:uFillTx/>
                <a:latin typeface="Shabnam FD" panose="020B0603030804020204" pitchFamily="34" charset="-78"/>
                <a:ea typeface="+mn-ea"/>
                <a:cs typeface="Shabnam FD" panose="020B0603030804020204" pitchFamily="34" charset="-78"/>
              </a:rPr>
              <a:t>رشد متقابل سه خط کسب‌وکار </a:t>
            </a:r>
            <a:r>
              <a:rPr kumimoji="0" lang="fa-IR" sz="1100" b="0" i="0" u="none" strike="noStrike" kern="1200" cap="none" spc="0" normalizeH="0" baseline="0" noProof="0">
                <a:ln>
                  <a:noFill/>
                </a:ln>
                <a:solidFill>
                  <a:prstClr val="black"/>
                </a:solidFill>
                <a:effectLst/>
                <a:uLnTx/>
                <a:uFillTx/>
                <a:latin typeface="Shabnam FD" panose="020B0603030804020204" pitchFamily="34" charset="-78"/>
                <a:ea typeface="+mn-ea"/>
                <a:cs typeface="Shabnam FD" panose="020B0603030804020204" pitchFamily="34" charset="-78"/>
              </a:rPr>
              <a:t>است، نه صرفاً رشد موازی آنها.</a:t>
            </a:r>
            <a:endParaRPr kumimoji="0" lang="en-US" sz="1100" b="0" i="0" u="none" strike="noStrike" kern="1200" cap="none" spc="0" normalizeH="0" baseline="0" noProof="0">
              <a:ln>
                <a:noFill/>
              </a:ln>
              <a:solidFill>
                <a:prstClr val="black"/>
              </a:solidFill>
              <a:effectLst/>
              <a:uLnTx/>
              <a:uFillTx/>
              <a:latin typeface="Shabnam FD" panose="020B0603030804020204" pitchFamily="34" charset="-78"/>
              <a:ea typeface="+mn-ea"/>
              <a:cs typeface="Shabnam FD" panose="020B0603030804020204" pitchFamily="34" charset="-78"/>
            </a:endParaRPr>
          </a:p>
        </p:txBody>
      </p:sp>
      <p:cxnSp>
        <p:nvCxnSpPr>
          <p:cNvPr id="105" name="Connector: Elbow 104">
            <a:extLst>
              <a:ext uri="{FF2B5EF4-FFF2-40B4-BE49-F238E27FC236}">
                <a16:creationId xmlns:a16="http://schemas.microsoft.com/office/drawing/2014/main" id="{C71FC69F-32A0-FB1F-1276-C3A754E02382}"/>
              </a:ext>
            </a:extLst>
          </p:cNvPr>
          <p:cNvCxnSpPr>
            <a:stCxn id="101" idx="3"/>
            <a:endCxn id="96" idx="3"/>
          </p:cNvCxnSpPr>
          <p:nvPr/>
        </p:nvCxnSpPr>
        <p:spPr>
          <a:xfrm flipH="1">
            <a:off x="7295786" y="1966663"/>
            <a:ext cx="860922" cy="3029156"/>
          </a:xfrm>
          <a:prstGeom prst="bentConnector3">
            <a:avLst>
              <a:gd name="adj1" fmla="val -26553"/>
            </a:avLst>
          </a:prstGeom>
          <a:ln w="38100">
            <a:gradFill>
              <a:gsLst>
                <a:gs pos="0">
                  <a:srgbClr val="1FABDA"/>
                </a:gs>
                <a:gs pos="100000">
                  <a:srgbClr val="E55753"/>
                </a:gs>
              </a:gsLst>
              <a:lin ang="5400000" scaled="1"/>
            </a:gradFill>
            <a:tailEnd type="triangle"/>
          </a:ln>
        </p:spPr>
        <p:style>
          <a:lnRef idx="1">
            <a:schemeClr val="accent4"/>
          </a:lnRef>
          <a:fillRef idx="0">
            <a:schemeClr val="accent4"/>
          </a:fillRef>
          <a:effectRef idx="0">
            <a:schemeClr val="accent4"/>
          </a:effectRef>
          <a:fontRef idx="minor">
            <a:schemeClr val="tx1"/>
          </a:fontRef>
        </p:style>
      </p:cxnSp>
      <p:sp>
        <p:nvSpPr>
          <p:cNvPr id="106" name="Isosceles Triangle 105">
            <a:extLst>
              <a:ext uri="{FF2B5EF4-FFF2-40B4-BE49-F238E27FC236}">
                <a16:creationId xmlns:a16="http://schemas.microsoft.com/office/drawing/2014/main" id="{60B4F37A-61B7-AB6A-42AC-E57406E92B1B}"/>
              </a:ext>
            </a:extLst>
          </p:cNvPr>
          <p:cNvSpPr/>
          <p:nvPr/>
        </p:nvSpPr>
        <p:spPr>
          <a:xfrm>
            <a:off x="5596388" y="4621939"/>
            <a:ext cx="188319" cy="159757"/>
          </a:xfrm>
          <a:prstGeom prst="triangle">
            <a:avLst/>
          </a:prstGeom>
          <a:solidFill>
            <a:srgbClr val="E55753">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07" name="Isosceles Triangle 106">
            <a:extLst>
              <a:ext uri="{FF2B5EF4-FFF2-40B4-BE49-F238E27FC236}">
                <a16:creationId xmlns:a16="http://schemas.microsoft.com/office/drawing/2014/main" id="{FB10CED2-D3D9-FFCB-7285-77EE9B7E1877}"/>
              </a:ext>
            </a:extLst>
          </p:cNvPr>
          <p:cNvSpPr/>
          <p:nvPr/>
        </p:nvSpPr>
        <p:spPr>
          <a:xfrm>
            <a:off x="5596388" y="4008647"/>
            <a:ext cx="188319" cy="159757"/>
          </a:xfrm>
          <a:prstGeom prst="triangle">
            <a:avLst/>
          </a:prstGeom>
          <a:solidFill>
            <a:srgbClr val="E49956">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08" name="Isosceles Triangle 107">
            <a:extLst>
              <a:ext uri="{FF2B5EF4-FFF2-40B4-BE49-F238E27FC236}">
                <a16:creationId xmlns:a16="http://schemas.microsoft.com/office/drawing/2014/main" id="{BDD62307-792A-12AB-37EC-06EFCC92848C}"/>
              </a:ext>
            </a:extLst>
          </p:cNvPr>
          <p:cNvSpPr/>
          <p:nvPr/>
        </p:nvSpPr>
        <p:spPr>
          <a:xfrm>
            <a:off x="5596388" y="3409730"/>
            <a:ext cx="188319" cy="159757"/>
          </a:xfrm>
          <a:prstGeom prst="triangle">
            <a:avLst/>
          </a:prstGeom>
          <a:solidFill>
            <a:srgbClr val="E3CF2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09" name="Isosceles Triangle 108">
            <a:extLst>
              <a:ext uri="{FF2B5EF4-FFF2-40B4-BE49-F238E27FC236}">
                <a16:creationId xmlns:a16="http://schemas.microsoft.com/office/drawing/2014/main" id="{A1DBCE68-CA90-2428-3472-D0A4E3183986}"/>
              </a:ext>
            </a:extLst>
          </p:cNvPr>
          <p:cNvSpPr/>
          <p:nvPr/>
        </p:nvSpPr>
        <p:spPr>
          <a:xfrm>
            <a:off x="5596388" y="2787849"/>
            <a:ext cx="188319" cy="159757"/>
          </a:xfrm>
          <a:prstGeom prst="triangle">
            <a:avLst/>
          </a:prstGeom>
          <a:solidFill>
            <a:srgbClr val="B1D072">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10" name="Isosceles Triangle 109">
            <a:extLst>
              <a:ext uri="{FF2B5EF4-FFF2-40B4-BE49-F238E27FC236}">
                <a16:creationId xmlns:a16="http://schemas.microsoft.com/office/drawing/2014/main" id="{BABC3C9D-A8B0-8874-57E6-7497CEEF1EA2}"/>
              </a:ext>
            </a:extLst>
          </p:cNvPr>
          <p:cNvSpPr/>
          <p:nvPr/>
        </p:nvSpPr>
        <p:spPr>
          <a:xfrm>
            <a:off x="5596388" y="2160306"/>
            <a:ext cx="188319" cy="159757"/>
          </a:xfrm>
          <a:prstGeom prst="triangle">
            <a:avLst/>
          </a:prstGeom>
          <a:solidFill>
            <a:srgbClr val="3CC583">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12" name="TextBox 111">
            <a:extLst>
              <a:ext uri="{FF2B5EF4-FFF2-40B4-BE49-F238E27FC236}">
                <a16:creationId xmlns:a16="http://schemas.microsoft.com/office/drawing/2014/main" id="{0913FB65-5F0F-9507-8A12-74BE9720BC48}"/>
              </a:ext>
            </a:extLst>
          </p:cNvPr>
          <p:cNvSpPr txBox="1"/>
          <p:nvPr/>
        </p:nvSpPr>
        <p:spPr>
          <a:xfrm>
            <a:off x="8372599" y="1921185"/>
            <a:ext cx="2911796" cy="3123547"/>
          </a:xfrm>
          <a:prstGeom prst="rect">
            <a:avLst/>
          </a:prstGeom>
          <a:noFill/>
        </p:spPr>
        <p:txBody>
          <a:bodyPr wrap="square">
            <a:spAutoFit/>
          </a:bodyPr>
          <a:lstStyle/>
          <a:p>
            <a:pPr marL="342900" marR="0" lvl="0" indent="-342900" algn="r" defTabSz="457200" rtl="1" eaLnBrk="1" fontAlgn="auto" latinLnBrk="0" hangingPunct="1">
              <a:lnSpc>
                <a:spcPct val="115000"/>
              </a:lnSpc>
              <a:spcBef>
                <a:spcPts val="0"/>
              </a:spcBef>
              <a:spcAft>
                <a:spcPts val="800"/>
              </a:spcAft>
              <a:buClrTx/>
              <a:buSzPts val="1000"/>
              <a:buFont typeface="Symbol" panose="05050102010706020507" pitchFamily="18" charset="2"/>
              <a:buChar char=""/>
              <a:tabLst>
                <a:tab pos="457200" algn="l"/>
              </a:tabLst>
              <a:defRPr/>
            </a:pPr>
            <a:r>
              <a:rPr kumimoji="0" lang="ar-SA" sz="1050" b="0" i="0" u="none" strike="noStrike" kern="100" cap="none" spc="0" normalizeH="0" baseline="0" noProof="0">
                <a:ln>
                  <a:noFill/>
                </a:ln>
                <a:solidFill>
                  <a:prstClr val="black">
                    <a:lumMod val="75000"/>
                    <a:lumOff val="25000"/>
                  </a:prstClr>
                </a:solidFill>
                <a:effectLst/>
                <a:uLnTx/>
                <a:uFillTx/>
                <a:latin typeface="Aptos" panose="020B0004020202020204" pitchFamily="34" charset="0"/>
                <a:ea typeface="Aptos" panose="020B0004020202020204" pitchFamily="34" charset="0"/>
                <a:cs typeface="Shabnam FD" panose="020B0603030804020204" pitchFamily="34" charset="-78"/>
              </a:rPr>
              <a:t>خدمات حرفه‌ای می‌تواند فرصت سرمایه‌گذاری یا فرصت ساخت ونچر کشف کند</a:t>
            </a:r>
            <a:r>
              <a:rPr kumimoji="0" lang="en-US" sz="1050" b="0" i="0" u="none" strike="noStrike" kern="100" cap="none" spc="0" normalizeH="0" baseline="0" noProof="0">
                <a:ln>
                  <a:noFill/>
                </a:ln>
                <a:solidFill>
                  <a:prstClr val="black">
                    <a:lumMod val="75000"/>
                    <a:lumOff val="25000"/>
                  </a:prstClr>
                </a:solidFill>
                <a:effectLst/>
                <a:uLnTx/>
                <a:uFillTx/>
                <a:latin typeface="Shabnam FD" panose="020B0603030804020204" pitchFamily="34" charset="-78"/>
                <a:ea typeface="Aptos" panose="020B0004020202020204" pitchFamily="34" charset="0"/>
                <a:cs typeface="Arial" panose="020B0604020202020204" pitchFamily="34" charset="0"/>
              </a:rPr>
              <a:t>.</a:t>
            </a:r>
            <a:endParaRPr kumimoji="0" lang="fa-IR" sz="1050" b="0" i="0" u="none" strike="noStrike" kern="100" cap="none" spc="0" normalizeH="0" baseline="0" noProof="0">
              <a:ln>
                <a:noFill/>
              </a:ln>
              <a:solidFill>
                <a:prstClr val="black">
                  <a:lumMod val="75000"/>
                  <a:lumOff val="25000"/>
                </a:prstClr>
              </a:solidFill>
              <a:effectLst/>
              <a:uLnTx/>
              <a:uFillTx/>
              <a:latin typeface="Shabnam FD" panose="020B0603030804020204" pitchFamily="34" charset="-78"/>
              <a:ea typeface="Aptos" panose="020B0004020202020204" pitchFamily="34" charset="0"/>
              <a:cs typeface="Arial" panose="020B0604020202020204" pitchFamily="34" charset="0"/>
            </a:endParaRPr>
          </a:p>
          <a:p>
            <a:pPr marL="342900" marR="0" lvl="0" indent="-342900" algn="r" defTabSz="457200" rtl="1" eaLnBrk="1" fontAlgn="auto" latinLnBrk="0" hangingPunct="1">
              <a:lnSpc>
                <a:spcPct val="115000"/>
              </a:lnSpc>
              <a:spcBef>
                <a:spcPts val="0"/>
              </a:spcBef>
              <a:spcAft>
                <a:spcPts val="800"/>
              </a:spcAft>
              <a:buClrTx/>
              <a:buSzPts val="1000"/>
              <a:buFont typeface="Symbol" panose="05050102010706020507" pitchFamily="18" charset="2"/>
              <a:buChar char=""/>
              <a:tabLst>
                <a:tab pos="457200" algn="l"/>
              </a:tabLst>
              <a:defRPr/>
            </a:pPr>
            <a:endParaRPr kumimoji="0" lang="en-US" sz="1400" b="0" i="0" u="none" strike="noStrike" kern="100" cap="none" spc="0" normalizeH="0" baseline="0" noProof="0">
              <a:ln>
                <a:noFill/>
              </a:ln>
              <a:solidFill>
                <a:prstClr val="black">
                  <a:lumMod val="75000"/>
                  <a:lumOff val="25000"/>
                </a:prstClr>
              </a:solidFill>
              <a:effectLst/>
              <a:uLnTx/>
              <a:uFillTx/>
              <a:latin typeface="Aptos" panose="020B0004020202020204" pitchFamily="34" charset="0"/>
              <a:ea typeface="Aptos" panose="020B0004020202020204" pitchFamily="34" charset="0"/>
              <a:cs typeface="Arial" panose="020B0604020202020204" pitchFamily="34" charset="0"/>
            </a:endParaRPr>
          </a:p>
          <a:p>
            <a:pPr marL="342900" marR="0" lvl="0" indent="-342900" algn="r" defTabSz="457200" rtl="1" eaLnBrk="1" fontAlgn="auto" latinLnBrk="0" hangingPunct="1">
              <a:lnSpc>
                <a:spcPct val="115000"/>
              </a:lnSpc>
              <a:spcBef>
                <a:spcPts val="0"/>
              </a:spcBef>
              <a:spcAft>
                <a:spcPts val="800"/>
              </a:spcAft>
              <a:buClrTx/>
              <a:buSzPts val="1000"/>
              <a:buFont typeface="Symbol" panose="05050102010706020507" pitchFamily="18" charset="2"/>
              <a:buChar char=""/>
              <a:tabLst>
                <a:tab pos="457200" algn="l"/>
              </a:tabLst>
              <a:defRPr/>
            </a:pPr>
            <a:r>
              <a:rPr kumimoji="0" lang="ar-SA" sz="1050" b="0" i="0" u="none" strike="noStrike" kern="100" cap="none" spc="0" normalizeH="0" baseline="0" noProof="0">
                <a:ln>
                  <a:noFill/>
                </a:ln>
                <a:solidFill>
                  <a:prstClr val="black">
                    <a:lumMod val="75000"/>
                    <a:lumOff val="25000"/>
                  </a:prstClr>
                </a:solidFill>
                <a:effectLst/>
                <a:uLnTx/>
                <a:uFillTx/>
                <a:latin typeface="Aptos" panose="020B0004020202020204" pitchFamily="34" charset="0"/>
                <a:ea typeface="Aptos" panose="020B0004020202020204" pitchFamily="34" charset="0"/>
                <a:cs typeface="Shabnam FD" panose="020B0603030804020204" pitchFamily="34" charset="-78"/>
              </a:rPr>
              <a:t>ساخت ونچر می‌تواند مشتری خدمات حرفه‌ای و فرصت سرمایه‌گذاری ایجاد کند</a:t>
            </a:r>
            <a:r>
              <a:rPr kumimoji="0" lang="en-US" sz="1050" b="0" i="0" u="none" strike="noStrike" kern="100" cap="none" spc="0" normalizeH="0" baseline="0" noProof="0">
                <a:ln>
                  <a:noFill/>
                </a:ln>
                <a:solidFill>
                  <a:prstClr val="black">
                    <a:lumMod val="75000"/>
                    <a:lumOff val="25000"/>
                  </a:prstClr>
                </a:solidFill>
                <a:effectLst/>
                <a:uLnTx/>
                <a:uFillTx/>
                <a:latin typeface="Shabnam FD" panose="020B0603030804020204" pitchFamily="34" charset="-78"/>
                <a:ea typeface="Aptos" panose="020B0004020202020204" pitchFamily="34" charset="0"/>
                <a:cs typeface="Arial" panose="020B0604020202020204" pitchFamily="34" charset="0"/>
              </a:rPr>
              <a:t>.</a:t>
            </a:r>
            <a:endParaRPr kumimoji="0" lang="fa-IR" sz="1050" b="0" i="0" u="none" strike="noStrike" kern="100" cap="none" spc="0" normalizeH="0" baseline="0" noProof="0">
              <a:ln>
                <a:noFill/>
              </a:ln>
              <a:solidFill>
                <a:prstClr val="black">
                  <a:lumMod val="75000"/>
                  <a:lumOff val="25000"/>
                </a:prstClr>
              </a:solidFill>
              <a:effectLst/>
              <a:uLnTx/>
              <a:uFillTx/>
              <a:latin typeface="Shabnam FD" panose="020B0603030804020204" pitchFamily="34" charset="-78"/>
              <a:ea typeface="Aptos" panose="020B0004020202020204" pitchFamily="34" charset="0"/>
              <a:cs typeface="Arial" panose="020B0604020202020204" pitchFamily="34" charset="0"/>
            </a:endParaRPr>
          </a:p>
          <a:p>
            <a:pPr marL="342900" marR="0" lvl="0" indent="-342900" algn="r" defTabSz="457200" rtl="1" eaLnBrk="1" fontAlgn="auto" latinLnBrk="0" hangingPunct="1">
              <a:lnSpc>
                <a:spcPct val="115000"/>
              </a:lnSpc>
              <a:spcBef>
                <a:spcPts val="0"/>
              </a:spcBef>
              <a:spcAft>
                <a:spcPts val="800"/>
              </a:spcAft>
              <a:buClrTx/>
              <a:buSzPts val="1000"/>
              <a:buFont typeface="Symbol" panose="05050102010706020507" pitchFamily="18" charset="2"/>
              <a:buChar char=""/>
              <a:tabLst>
                <a:tab pos="457200" algn="l"/>
              </a:tabLst>
              <a:defRPr/>
            </a:pPr>
            <a:endParaRPr kumimoji="0" lang="en-US" sz="1400" b="0" i="0" u="none" strike="noStrike" kern="100" cap="none" spc="0" normalizeH="0" baseline="0" noProof="0">
              <a:ln>
                <a:noFill/>
              </a:ln>
              <a:solidFill>
                <a:prstClr val="black">
                  <a:lumMod val="75000"/>
                  <a:lumOff val="25000"/>
                </a:prstClr>
              </a:solidFill>
              <a:effectLst/>
              <a:uLnTx/>
              <a:uFillTx/>
              <a:latin typeface="Aptos" panose="020B0004020202020204" pitchFamily="34" charset="0"/>
              <a:ea typeface="Aptos" panose="020B0004020202020204" pitchFamily="34" charset="0"/>
              <a:cs typeface="Arial" panose="020B0604020202020204" pitchFamily="34" charset="0"/>
            </a:endParaRPr>
          </a:p>
          <a:p>
            <a:pPr marL="342900" marR="0" lvl="0" indent="-342900" algn="r" defTabSz="457200" rtl="1" eaLnBrk="1" fontAlgn="auto" latinLnBrk="0" hangingPunct="1">
              <a:lnSpc>
                <a:spcPct val="115000"/>
              </a:lnSpc>
              <a:spcBef>
                <a:spcPts val="0"/>
              </a:spcBef>
              <a:spcAft>
                <a:spcPts val="800"/>
              </a:spcAft>
              <a:buClrTx/>
              <a:buSzPts val="1000"/>
              <a:buFont typeface="Symbol" panose="05050102010706020507" pitchFamily="18" charset="2"/>
              <a:buChar char=""/>
              <a:tabLst>
                <a:tab pos="457200" algn="l"/>
              </a:tabLst>
              <a:defRPr/>
            </a:pPr>
            <a:r>
              <a:rPr kumimoji="0" lang="ar-SA" sz="1050" b="0" i="0" u="none" strike="noStrike" kern="100" cap="none" spc="0" normalizeH="0" baseline="0" noProof="0">
                <a:ln>
                  <a:noFill/>
                </a:ln>
                <a:solidFill>
                  <a:prstClr val="black">
                    <a:lumMod val="75000"/>
                    <a:lumOff val="25000"/>
                  </a:prstClr>
                </a:solidFill>
                <a:effectLst/>
                <a:uLnTx/>
                <a:uFillTx/>
                <a:latin typeface="Aptos" panose="020B0004020202020204" pitchFamily="34" charset="0"/>
                <a:ea typeface="Aptos" panose="020B0004020202020204" pitchFamily="34" charset="0"/>
                <a:cs typeface="Shabnam FD" panose="020B0603030804020204" pitchFamily="34" charset="-78"/>
              </a:rPr>
              <a:t>سرمایه‌گذاری می‌تواند شرکت‌ها و فرصت‌هایی ایجاد کند که به خدمات حرفه‌ای یا ساخت ونچر نیاز دارند</a:t>
            </a:r>
            <a:r>
              <a:rPr kumimoji="0" lang="en-US" sz="1050" b="0" i="0" u="none" strike="noStrike" kern="100" cap="none" spc="0" normalizeH="0" baseline="0" noProof="0">
                <a:ln>
                  <a:noFill/>
                </a:ln>
                <a:solidFill>
                  <a:prstClr val="black">
                    <a:lumMod val="75000"/>
                    <a:lumOff val="25000"/>
                  </a:prstClr>
                </a:solidFill>
                <a:effectLst/>
                <a:uLnTx/>
                <a:uFillTx/>
                <a:latin typeface="Shabnam FD" panose="020B0603030804020204" pitchFamily="34" charset="-78"/>
                <a:ea typeface="Aptos" panose="020B0004020202020204" pitchFamily="34" charset="0"/>
                <a:cs typeface="Arial" panose="020B0604020202020204" pitchFamily="34" charset="0"/>
              </a:rPr>
              <a:t>.</a:t>
            </a:r>
            <a:endParaRPr kumimoji="0" lang="fa-IR" sz="1050" b="0" i="0" u="none" strike="noStrike" kern="100" cap="none" spc="0" normalizeH="0" baseline="0" noProof="0">
              <a:ln>
                <a:noFill/>
              </a:ln>
              <a:solidFill>
                <a:prstClr val="black">
                  <a:lumMod val="75000"/>
                  <a:lumOff val="25000"/>
                </a:prstClr>
              </a:solidFill>
              <a:effectLst/>
              <a:uLnTx/>
              <a:uFillTx/>
              <a:latin typeface="Shabnam FD" panose="020B0603030804020204" pitchFamily="34" charset="-78"/>
              <a:ea typeface="Aptos" panose="020B0004020202020204" pitchFamily="34" charset="0"/>
              <a:cs typeface="Arial" panose="020B0604020202020204" pitchFamily="34" charset="0"/>
            </a:endParaRPr>
          </a:p>
          <a:p>
            <a:pPr marL="342900" marR="0" lvl="0" indent="-342900" algn="r" defTabSz="457200" rtl="1" eaLnBrk="1" fontAlgn="auto" latinLnBrk="0" hangingPunct="1">
              <a:lnSpc>
                <a:spcPct val="115000"/>
              </a:lnSpc>
              <a:spcBef>
                <a:spcPts val="0"/>
              </a:spcBef>
              <a:spcAft>
                <a:spcPts val="800"/>
              </a:spcAft>
              <a:buClrTx/>
              <a:buSzPts val="1000"/>
              <a:buFont typeface="Symbol" panose="05050102010706020507" pitchFamily="18" charset="2"/>
              <a:buChar char=""/>
              <a:tabLst>
                <a:tab pos="457200" algn="l"/>
              </a:tabLst>
              <a:defRPr/>
            </a:pPr>
            <a:endParaRPr kumimoji="0" lang="en-US" sz="1400" b="0" i="0" u="none" strike="noStrike" kern="100" cap="none" spc="0" normalizeH="0" baseline="0" noProof="0">
              <a:ln>
                <a:noFill/>
              </a:ln>
              <a:solidFill>
                <a:prstClr val="black">
                  <a:lumMod val="75000"/>
                  <a:lumOff val="25000"/>
                </a:prstClr>
              </a:solidFill>
              <a:effectLst/>
              <a:uLnTx/>
              <a:uFillTx/>
              <a:latin typeface="Aptos" panose="020B0004020202020204" pitchFamily="34" charset="0"/>
              <a:ea typeface="Aptos" panose="020B0004020202020204" pitchFamily="34" charset="0"/>
              <a:cs typeface="Arial" panose="020B0604020202020204" pitchFamily="34" charset="0"/>
            </a:endParaRPr>
          </a:p>
          <a:p>
            <a:pPr marL="342900" marR="0" lvl="0" indent="-342900" algn="r" defTabSz="457200" rtl="1" eaLnBrk="1" fontAlgn="auto" latinLnBrk="0" hangingPunct="1">
              <a:lnSpc>
                <a:spcPct val="115000"/>
              </a:lnSpc>
              <a:spcBef>
                <a:spcPts val="0"/>
              </a:spcBef>
              <a:spcAft>
                <a:spcPts val="800"/>
              </a:spcAft>
              <a:buClrTx/>
              <a:buSzPts val="1000"/>
              <a:buFont typeface="Symbol" panose="05050102010706020507" pitchFamily="18" charset="2"/>
              <a:buChar char=""/>
              <a:tabLst>
                <a:tab pos="457200" algn="l"/>
              </a:tabLst>
              <a:defRPr/>
            </a:pPr>
            <a:r>
              <a:rPr kumimoji="0" lang="ar-SA" sz="1050" b="0" i="0" u="none" strike="noStrike" kern="100" cap="none" spc="0" normalizeH="0" baseline="0" noProof="0">
                <a:ln>
                  <a:noFill/>
                </a:ln>
                <a:solidFill>
                  <a:prstClr val="black">
                    <a:lumMod val="75000"/>
                    <a:lumOff val="25000"/>
                  </a:prstClr>
                </a:solidFill>
                <a:effectLst/>
                <a:uLnTx/>
                <a:uFillTx/>
                <a:latin typeface="Aptos" panose="020B0004020202020204" pitchFamily="34" charset="0"/>
                <a:ea typeface="Aptos" panose="020B0004020202020204" pitchFamily="34" charset="0"/>
                <a:cs typeface="Shabnam FD" panose="020B0603030804020204" pitchFamily="34" charset="-78"/>
              </a:rPr>
              <a:t>هر سه خط کسب‌وکار می‌توانند شبکه، داده، اعتبار و فرصت جدید تولید کنند</a:t>
            </a:r>
            <a:r>
              <a:rPr kumimoji="0" lang="en-US" sz="1050" b="0" i="0" u="none" strike="noStrike" kern="100" cap="none" spc="0" normalizeH="0" baseline="0" noProof="0">
                <a:ln>
                  <a:noFill/>
                </a:ln>
                <a:solidFill>
                  <a:prstClr val="black">
                    <a:lumMod val="75000"/>
                    <a:lumOff val="25000"/>
                  </a:prstClr>
                </a:solidFill>
                <a:effectLst/>
                <a:uLnTx/>
                <a:uFillTx/>
                <a:latin typeface="Shabnam FD" panose="020B0603030804020204" pitchFamily="34" charset="-78"/>
                <a:ea typeface="Aptos" panose="020B0004020202020204" pitchFamily="34" charset="0"/>
                <a:cs typeface="Arial" panose="020B0604020202020204" pitchFamily="34" charset="0"/>
              </a:rPr>
              <a:t>.</a:t>
            </a:r>
            <a:endParaRPr kumimoji="0" lang="en-US" sz="1400" b="0" i="0" u="none" strike="noStrike" kern="100" cap="none" spc="0" normalizeH="0" baseline="0" noProof="0">
              <a:ln>
                <a:noFill/>
              </a:ln>
              <a:solidFill>
                <a:prstClr val="black">
                  <a:lumMod val="75000"/>
                  <a:lumOff val="25000"/>
                </a:prstClr>
              </a:solidFill>
              <a:effectLst/>
              <a:uLnTx/>
              <a:uFillTx/>
              <a:latin typeface="Aptos" panose="020B00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235124626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4DDECD9-83AE-8E26-C90D-4ED819D51957}"/>
              </a:ext>
            </a:extLst>
          </p:cNvPr>
          <p:cNvSpPr>
            <a:spLocks noGrp="1"/>
          </p:cNvSpPr>
          <p:nvPr>
            <p:ph type="body" sz="quarter" idx="10"/>
          </p:nvPr>
        </p:nvSpPr>
        <p:spPr/>
        <p:txBody>
          <a:bodyPr/>
          <a:lstStyle/>
          <a:p>
            <a:r>
              <a:rPr lang="fa-IR"/>
              <a:t>محرک‌های اصلی خلق ارزش </a:t>
            </a:r>
          </a:p>
          <a:p>
            <a:endParaRPr lang="en-US"/>
          </a:p>
        </p:txBody>
      </p:sp>
      <p:sp>
        <p:nvSpPr>
          <p:cNvPr id="3" name="Text Placeholder 2">
            <a:extLst>
              <a:ext uri="{FF2B5EF4-FFF2-40B4-BE49-F238E27FC236}">
                <a16:creationId xmlns:a16="http://schemas.microsoft.com/office/drawing/2014/main" id="{396532E8-5897-F173-C4E7-39E07B4CB9AE}"/>
              </a:ext>
            </a:extLst>
          </p:cNvPr>
          <p:cNvSpPr>
            <a:spLocks noGrp="1"/>
          </p:cNvSpPr>
          <p:nvPr>
            <p:ph type="body" sz="quarter" idx="12"/>
          </p:nvPr>
        </p:nvSpPr>
        <p:spPr/>
        <p:txBody>
          <a:bodyPr/>
          <a:lstStyle/>
          <a:p>
            <a:r>
              <a:rPr lang="fa-IR"/>
              <a:t>کارهای مشتریان در ظاهر متفاوت‌اند، اما در سطح عمیق‌تر، بخش قابل‌توجهی از آن‌ها به چند نیاز مشترک بازمی‌گردند</a:t>
            </a:r>
          </a:p>
        </p:txBody>
      </p:sp>
      <p:grpSp>
        <p:nvGrpSpPr>
          <p:cNvPr id="41" name="Group 40">
            <a:extLst>
              <a:ext uri="{FF2B5EF4-FFF2-40B4-BE49-F238E27FC236}">
                <a16:creationId xmlns:a16="http://schemas.microsoft.com/office/drawing/2014/main" id="{C264946C-EE3B-014C-CDF3-BA0017AA1FC0}"/>
              </a:ext>
            </a:extLst>
          </p:cNvPr>
          <p:cNvGrpSpPr/>
          <p:nvPr/>
        </p:nvGrpSpPr>
        <p:grpSpPr>
          <a:xfrm>
            <a:off x="1333350" y="1495165"/>
            <a:ext cx="9036350" cy="4149762"/>
            <a:chOff x="1333350" y="1400895"/>
            <a:chExt cx="9036350" cy="4149762"/>
          </a:xfrm>
        </p:grpSpPr>
        <p:grpSp>
          <p:nvGrpSpPr>
            <p:cNvPr id="40" name="Group 39">
              <a:extLst>
                <a:ext uri="{FF2B5EF4-FFF2-40B4-BE49-F238E27FC236}">
                  <a16:creationId xmlns:a16="http://schemas.microsoft.com/office/drawing/2014/main" id="{4EE84A8F-70DC-50B9-6DFE-56AD0C57A0A6}"/>
                </a:ext>
              </a:extLst>
            </p:cNvPr>
            <p:cNvGrpSpPr/>
            <p:nvPr/>
          </p:nvGrpSpPr>
          <p:grpSpPr>
            <a:xfrm>
              <a:off x="1333350" y="1400895"/>
              <a:ext cx="9033936" cy="715362"/>
              <a:chOff x="1333350" y="1401419"/>
              <a:chExt cx="9033936" cy="715362"/>
            </a:xfrm>
          </p:grpSpPr>
          <p:sp>
            <p:nvSpPr>
              <p:cNvPr id="34" name="Rectangle: Rounded Corners 33">
                <a:extLst>
                  <a:ext uri="{FF2B5EF4-FFF2-40B4-BE49-F238E27FC236}">
                    <a16:creationId xmlns:a16="http://schemas.microsoft.com/office/drawing/2014/main" id="{4B16ABA7-6F14-8F74-898F-B6CF2FAC6AC8}"/>
                  </a:ext>
                </a:extLst>
              </p:cNvPr>
              <p:cNvSpPr/>
              <p:nvPr/>
            </p:nvSpPr>
            <p:spPr>
              <a:xfrm>
                <a:off x="1333350" y="1401419"/>
                <a:ext cx="9033936" cy="715362"/>
              </a:xfrm>
              <a:prstGeom prst="roundRect">
                <a:avLst/>
              </a:prstGeom>
              <a:solidFill>
                <a:schemeClr val="bg1">
                  <a:lumMod val="95000"/>
                  <a:alpha val="3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410D3842-CB86-52D6-E604-980893E32A2F}"/>
                  </a:ext>
                </a:extLst>
              </p:cNvPr>
              <p:cNvSpPr txBox="1"/>
              <p:nvPr/>
            </p:nvSpPr>
            <p:spPr>
              <a:xfrm>
                <a:off x="1432760" y="1478254"/>
                <a:ext cx="8835117" cy="561692"/>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0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در بخش قبلی، به تفکیک هر پرسونا از مشتریان، کارهای مهم مشتریان، دردسرها (</a:t>
                </a:r>
                <a:r>
                  <a:rPr kumimoji="0" lang="en-US" sz="10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Pain</a:t>
                </a:r>
                <a:r>
                  <a:rPr kumimoji="0" lang="fa-IR" sz="10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a:t>
                </a:r>
                <a:r>
                  <a:rPr kumimoji="0" lang="en-US" sz="10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a:t>
                </a:r>
                <a:r>
                  <a:rPr kumimoji="0" lang="fa-IR" sz="10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و منفعت‌ها (</a:t>
                </a:r>
                <a:r>
                  <a:rPr kumimoji="0" lang="en-US" sz="10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Gain</a:t>
                </a:r>
                <a:r>
                  <a:rPr kumimoji="0" lang="fa-IR" sz="10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را شناسایی کردیم. برای جلوگیری از اینکه به ازای هر دردسر</a:t>
                </a:r>
                <a:r>
                  <a:rPr kumimoji="0" lang="en-US" sz="10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a:t>
                </a:r>
                <a:r>
                  <a:rPr kumimoji="0" lang="fa-IR" sz="10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یا منفعت</a:t>
                </a:r>
                <a:r>
                  <a:rPr kumimoji="0" lang="en-US" sz="10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a:t>
                </a:r>
                <a:r>
                  <a:rPr kumimoji="0" lang="fa-IR" sz="10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یک محصول یا خدمت مستقل طراحی شود، کارها در سطح قابلیت موردنیاز مشتری تحلیل و تجمیع شده‌اند. </a:t>
                </a:r>
              </a:p>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srgbClr val="FFC000"/>
                    </a:solidFill>
                    <a:effectLst/>
                    <a:uLnTx/>
                    <a:uFillTx/>
                    <a:latin typeface="Yekan Bakh" pitchFamily="2" charset="-78"/>
                    <a:ea typeface="Yekan Bakh" pitchFamily="2" charset="-78"/>
                    <a:cs typeface="Yekan Bakh" pitchFamily="2" charset="-78"/>
                  </a:rPr>
                  <a:t>روش طبقه بندی به این صورت می‌باشد: </a:t>
                </a:r>
                <a:endParaRPr kumimoji="0" lang="en-US" sz="1050" b="1" i="0" u="none" strike="noStrike" kern="1200" cap="none" spc="0" normalizeH="0" baseline="0" noProof="0" dirty="0">
                  <a:ln>
                    <a:noFill/>
                  </a:ln>
                  <a:solidFill>
                    <a:srgbClr val="FFC000"/>
                  </a:solidFill>
                  <a:effectLst/>
                  <a:uLnTx/>
                  <a:uFillTx/>
                  <a:latin typeface="Yekan Bakh" pitchFamily="2" charset="-78"/>
                  <a:ea typeface="Yekan Bakh" pitchFamily="2" charset="-78"/>
                  <a:cs typeface="Yekan Bakh" pitchFamily="2" charset="-78"/>
                </a:endParaRPr>
              </a:p>
            </p:txBody>
          </p:sp>
        </p:grpSp>
        <p:cxnSp>
          <p:nvCxnSpPr>
            <p:cNvPr id="14" name="Straight Connector 13">
              <a:extLst>
                <a:ext uri="{FF2B5EF4-FFF2-40B4-BE49-F238E27FC236}">
                  <a16:creationId xmlns:a16="http://schemas.microsoft.com/office/drawing/2014/main" id="{A854934B-9ACA-5783-ED66-840C493B2701}"/>
                </a:ext>
              </a:extLst>
            </p:cNvPr>
            <p:cNvCxnSpPr>
              <a:cxnSpLocks/>
            </p:cNvCxnSpPr>
            <p:nvPr/>
          </p:nvCxnSpPr>
          <p:spPr>
            <a:xfrm flipV="1">
              <a:off x="1664612" y="5550657"/>
              <a:ext cx="8705088" cy="0"/>
            </a:xfrm>
            <a:prstGeom prst="line">
              <a:avLst/>
            </a:prstGeom>
            <a:ln>
              <a:solidFill>
                <a:schemeClr val="bg1">
                  <a:lumMod val="85000"/>
                </a:schemeClr>
              </a:solidFill>
            </a:ln>
          </p:spPr>
          <p:style>
            <a:lnRef idx="1">
              <a:schemeClr val="accent4"/>
            </a:lnRef>
            <a:fillRef idx="0">
              <a:schemeClr val="accent4"/>
            </a:fillRef>
            <a:effectRef idx="0">
              <a:schemeClr val="accent4"/>
            </a:effectRef>
            <a:fontRef idx="minor">
              <a:schemeClr val="tx1"/>
            </a:fontRef>
          </p:style>
        </p:cxnSp>
        <p:cxnSp>
          <p:nvCxnSpPr>
            <p:cNvPr id="11" name="Straight Connector 10">
              <a:extLst>
                <a:ext uri="{FF2B5EF4-FFF2-40B4-BE49-F238E27FC236}">
                  <a16:creationId xmlns:a16="http://schemas.microsoft.com/office/drawing/2014/main" id="{20759F6B-13F5-BCD0-2F36-FF6A4D93FDCA}"/>
                </a:ext>
              </a:extLst>
            </p:cNvPr>
            <p:cNvCxnSpPr>
              <a:cxnSpLocks/>
            </p:cNvCxnSpPr>
            <p:nvPr/>
          </p:nvCxnSpPr>
          <p:spPr>
            <a:xfrm flipV="1">
              <a:off x="1664612" y="2817344"/>
              <a:ext cx="8705088" cy="0"/>
            </a:xfrm>
            <a:prstGeom prst="line">
              <a:avLst/>
            </a:prstGeom>
            <a:ln>
              <a:solidFill>
                <a:srgbClr val="F0BE0F">
                  <a:alpha val="59000"/>
                </a:srgbClr>
              </a:solidFill>
              <a:prstDash val="dash"/>
            </a:ln>
          </p:spPr>
          <p:style>
            <a:lnRef idx="1">
              <a:schemeClr val="accent4"/>
            </a:lnRef>
            <a:fillRef idx="0">
              <a:schemeClr val="accent4"/>
            </a:fillRef>
            <a:effectRef idx="0">
              <a:schemeClr val="accent4"/>
            </a:effectRef>
            <a:fontRef idx="minor">
              <a:schemeClr val="tx1"/>
            </a:fontRef>
          </p:style>
        </p:cxnSp>
        <p:cxnSp>
          <p:nvCxnSpPr>
            <p:cNvPr id="12" name="Straight Connector 11">
              <a:extLst>
                <a:ext uri="{FF2B5EF4-FFF2-40B4-BE49-F238E27FC236}">
                  <a16:creationId xmlns:a16="http://schemas.microsoft.com/office/drawing/2014/main" id="{3E24AAB3-5098-7C90-684C-8283581AC32A}"/>
                </a:ext>
              </a:extLst>
            </p:cNvPr>
            <p:cNvCxnSpPr>
              <a:cxnSpLocks/>
            </p:cNvCxnSpPr>
            <p:nvPr/>
          </p:nvCxnSpPr>
          <p:spPr>
            <a:xfrm flipV="1">
              <a:off x="1664612" y="4184000"/>
              <a:ext cx="8705088" cy="0"/>
            </a:xfrm>
            <a:prstGeom prst="line">
              <a:avLst/>
            </a:prstGeom>
            <a:ln>
              <a:solidFill>
                <a:srgbClr val="F0BE0F">
                  <a:alpha val="59000"/>
                </a:srgbClr>
              </a:solidFill>
              <a:prstDash val="dash"/>
            </a:ln>
          </p:spPr>
          <p:style>
            <a:lnRef idx="1">
              <a:schemeClr val="accent4"/>
            </a:lnRef>
            <a:fillRef idx="0">
              <a:schemeClr val="accent4"/>
            </a:fillRef>
            <a:effectRef idx="0">
              <a:schemeClr val="accent4"/>
            </a:effectRef>
            <a:fontRef idx="minor">
              <a:schemeClr val="tx1"/>
            </a:fontRef>
          </p:style>
        </p:cxnSp>
        <p:cxnSp>
          <p:nvCxnSpPr>
            <p:cNvPr id="13" name="Straight Connector 12">
              <a:extLst>
                <a:ext uri="{FF2B5EF4-FFF2-40B4-BE49-F238E27FC236}">
                  <a16:creationId xmlns:a16="http://schemas.microsoft.com/office/drawing/2014/main" id="{687D32B0-FCED-4BD8-978B-443503460F42}"/>
                </a:ext>
              </a:extLst>
            </p:cNvPr>
            <p:cNvCxnSpPr>
              <a:cxnSpLocks/>
            </p:cNvCxnSpPr>
            <p:nvPr/>
          </p:nvCxnSpPr>
          <p:spPr>
            <a:xfrm flipV="1">
              <a:off x="1664612" y="4867328"/>
              <a:ext cx="8705088" cy="0"/>
            </a:xfrm>
            <a:prstGeom prst="line">
              <a:avLst/>
            </a:prstGeom>
            <a:ln>
              <a:solidFill>
                <a:srgbClr val="F0BE0F">
                  <a:alpha val="59000"/>
                </a:srgbClr>
              </a:solidFill>
              <a:prstDash val="dash"/>
            </a:ln>
          </p:spPr>
          <p:style>
            <a:lnRef idx="1">
              <a:schemeClr val="accent4"/>
            </a:lnRef>
            <a:fillRef idx="0">
              <a:schemeClr val="accent4"/>
            </a:fillRef>
            <a:effectRef idx="0">
              <a:schemeClr val="accent4"/>
            </a:effectRef>
            <a:fontRef idx="minor">
              <a:schemeClr val="tx1"/>
            </a:fontRef>
          </p:style>
        </p:cxnSp>
        <p:cxnSp>
          <p:nvCxnSpPr>
            <p:cNvPr id="15" name="Straight Connector 14">
              <a:extLst>
                <a:ext uri="{FF2B5EF4-FFF2-40B4-BE49-F238E27FC236}">
                  <a16:creationId xmlns:a16="http://schemas.microsoft.com/office/drawing/2014/main" id="{8D783C71-CC05-B82E-BAA6-7E2A23378B30}"/>
                </a:ext>
              </a:extLst>
            </p:cNvPr>
            <p:cNvCxnSpPr>
              <a:cxnSpLocks/>
            </p:cNvCxnSpPr>
            <p:nvPr/>
          </p:nvCxnSpPr>
          <p:spPr>
            <a:xfrm>
              <a:off x="1667027" y="3500672"/>
              <a:ext cx="8700259" cy="0"/>
            </a:xfrm>
            <a:prstGeom prst="line">
              <a:avLst/>
            </a:prstGeom>
            <a:ln>
              <a:solidFill>
                <a:srgbClr val="F0BE0F">
                  <a:alpha val="59000"/>
                </a:srgbClr>
              </a:solidFill>
              <a:prstDash val="dash"/>
            </a:ln>
          </p:spPr>
          <p:style>
            <a:lnRef idx="1">
              <a:schemeClr val="accent4"/>
            </a:lnRef>
            <a:fillRef idx="0">
              <a:schemeClr val="accent4"/>
            </a:fillRef>
            <a:effectRef idx="0">
              <a:schemeClr val="accent4"/>
            </a:effectRef>
            <a:fontRef idx="minor">
              <a:schemeClr val="tx1"/>
            </a:fontRef>
          </p:style>
        </p:cxnSp>
        <p:grpSp>
          <p:nvGrpSpPr>
            <p:cNvPr id="39" name="Group 38">
              <a:extLst>
                <a:ext uri="{FF2B5EF4-FFF2-40B4-BE49-F238E27FC236}">
                  <a16:creationId xmlns:a16="http://schemas.microsoft.com/office/drawing/2014/main" id="{35DFD402-A88F-E3E7-CC47-DA0D76520A42}"/>
                </a:ext>
              </a:extLst>
            </p:cNvPr>
            <p:cNvGrpSpPr/>
            <p:nvPr/>
          </p:nvGrpSpPr>
          <p:grpSpPr>
            <a:xfrm>
              <a:off x="1333350" y="2251445"/>
              <a:ext cx="9036350" cy="524317"/>
              <a:chOff x="1333350" y="1992403"/>
              <a:chExt cx="9036350" cy="524317"/>
            </a:xfrm>
          </p:grpSpPr>
          <p:sp>
            <p:nvSpPr>
              <p:cNvPr id="5" name="Arrow: Pentagon 4">
                <a:extLst>
                  <a:ext uri="{FF2B5EF4-FFF2-40B4-BE49-F238E27FC236}">
                    <a16:creationId xmlns:a16="http://schemas.microsoft.com/office/drawing/2014/main" id="{B48A2F97-90CB-F0F3-45F8-2ECD97D30552}"/>
                  </a:ext>
                </a:extLst>
              </p:cNvPr>
              <p:cNvSpPr/>
              <p:nvPr/>
            </p:nvSpPr>
            <p:spPr>
              <a:xfrm flipH="1">
                <a:off x="7388756" y="1992404"/>
                <a:ext cx="2980944" cy="524316"/>
              </a:xfrm>
              <a:prstGeom prst="homePlate">
                <a:avLst/>
              </a:prstGeom>
              <a:solidFill>
                <a:schemeClr val="bg1">
                  <a:lumMod val="95000"/>
                  <a:alpha val="6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4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گروه کارهای موردنیاز مشتریان</a:t>
                </a:r>
                <a:endParaRPr kumimoji="0" lang="en-US" sz="14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p:txBody>
          </p:sp>
          <p:sp>
            <p:nvSpPr>
              <p:cNvPr id="6" name="Arrow: Chevron 5">
                <a:extLst>
                  <a:ext uri="{FF2B5EF4-FFF2-40B4-BE49-F238E27FC236}">
                    <a16:creationId xmlns:a16="http://schemas.microsoft.com/office/drawing/2014/main" id="{D51C6010-3918-D646-7DE7-77A2BD8E510B}"/>
                  </a:ext>
                </a:extLst>
              </p:cNvPr>
              <p:cNvSpPr/>
              <p:nvPr/>
            </p:nvSpPr>
            <p:spPr>
              <a:xfrm flipH="1">
                <a:off x="4361053" y="1992403"/>
                <a:ext cx="2980944" cy="524317"/>
              </a:xfrm>
              <a:prstGeom prst="chevron">
                <a:avLst/>
              </a:prstGeom>
              <a:solidFill>
                <a:schemeClr val="bg1">
                  <a:lumMod val="95000"/>
                  <a:alpha val="6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4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مکانیزم استخراج ارزش</a:t>
                </a:r>
                <a:endParaRPr kumimoji="0" lang="en-US" sz="14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p:txBody>
          </p:sp>
          <p:sp>
            <p:nvSpPr>
              <p:cNvPr id="7" name="Arrow: Chevron 6">
                <a:extLst>
                  <a:ext uri="{FF2B5EF4-FFF2-40B4-BE49-F238E27FC236}">
                    <a16:creationId xmlns:a16="http://schemas.microsoft.com/office/drawing/2014/main" id="{58224ED1-8F97-1175-41E1-CFB03F8F4B43}"/>
                  </a:ext>
                </a:extLst>
              </p:cNvPr>
              <p:cNvSpPr/>
              <p:nvPr/>
            </p:nvSpPr>
            <p:spPr>
              <a:xfrm flipH="1">
                <a:off x="1333350" y="1992403"/>
                <a:ext cx="2980944" cy="524317"/>
              </a:xfrm>
              <a:prstGeom prst="chevron">
                <a:avLst/>
              </a:prstGeom>
              <a:solidFill>
                <a:schemeClr val="bg1">
                  <a:lumMod val="95000"/>
                  <a:alpha val="6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4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محرک خلق ارزش</a:t>
                </a:r>
                <a:endParaRPr kumimoji="0" lang="en-US" sz="14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p:txBody>
          </p:sp>
        </p:grpSp>
        <p:grpSp>
          <p:nvGrpSpPr>
            <p:cNvPr id="38" name="Group 37">
              <a:extLst>
                <a:ext uri="{FF2B5EF4-FFF2-40B4-BE49-F238E27FC236}">
                  <a16:creationId xmlns:a16="http://schemas.microsoft.com/office/drawing/2014/main" id="{7F29B1B9-D9EC-C456-951C-B7DE238CBFEF}"/>
                </a:ext>
              </a:extLst>
            </p:cNvPr>
            <p:cNvGrpSpPr/>
            <p:nvPr/>
          </p:nvGrpSpPr>
          <p:grpSpPr>
            <a:xfrm>
              <a:off x="1333350" y="2858926"/>
              <a:ext cx="9036350" cy="600164"/>
              <a:chOff x="1333350" y="2706181"/>
              <a:chExt cx="9036350" cy="600164"/>
            </a:xfrm>
          </p:grpSpPr>
          <p:sp>
            <p:nvSpPr>
              <p:cNvPr id="8" name="TextBox 7">
                <a:extLst>
                  <a:ext uri="{FF2B5EF4-FFF2-40B4-BE49-F238E27FC236}">
                    <a16:creationId xmlns:a16="http://schemas.microsoft.com/office/drawing/2014/main" id="{FE6AA85F-DBB4-C9A3-3544-BFD332BE37F4}"/>
                  </a:ext>
                </a:extLst>
              </p:cNvPr>
              <p:cNvSpPr txBox="1"/>
              <p:nvPr/>
            </p:nvSpPr>
            <p:spPr>
              <a:xfrm>
                <a:off x="7388756" y="2790820"/>
                <a:ext cx="2980944" cy="430887"/>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شناخت بازار، اعتبارسنجی طرف، ارزیابی ریسک، تشخیص آمادگی، ارزیابی سرمایه‌گذاری</a:t>
                </a:r>
                <a:endParaRPr kumimoji="0" lang="en-US" sz="11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9" name="TextBox 8">
                <a:extLst>
                  <a:ext uri="{FF2B5EF4-FFF2-40B4-BE49-F238E27FC236}">
                    <a16:creationId xmlns:a16="http://schemas.microsoft.com/office/drawing/2014/main" id="{115DE866-37D3-7AD8-0084-EA179C332712}"/>
                  </a:ext>
                </a:extLst>
              </p:cNvPr>
              <p:cNvSpPr txBox="1"/>
              <p:nvPr/>
            </p:nvSpPr>
            <p:spPr>
              <a:xfrm>
                <a:off x="4361053" y="2706181"/>
                <a:ext cx="2980944" cy="600164"/>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بخش بزرگی از کارها پیش از اقدام، به کاهش عدم‌قطعیت و تشخیص درست فرصت یا طرف مقابل نیاز دارند.</a:t>
                </a:r>
                <a:endParaRPr kumimoji="0" lang="en-US"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10" name="TextBox 9">
                <a:extLst>
                  <a:ext uri="{FF2B5EF4-FFF2-40B4-BE49-F238E27FC236}">
                    <a16:creationId xmlns:a16="http://schemas.microsoft.com/office/drawing/2014/main" id="{4A7E3C35-3CD4-F82C-1E41-9A21D5D5E17C}"/>
                  </a:ext>
                </a:extLst>
              </p:cNvPr>
              <p:cNvSpPr txBox="1"/>
              <p:nvPr/>
            </p:nvSpPr>
            <p:spPr>
              <a:xfrm>
                <a:off x="1333350" y="2836986"/>
                <a:ext cx="2980944" cy="276999"/>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200" b="1" i="0" u="none" strike="noStrike" kern="1200" cap="none" spc="0" normalizeH="0" baseline="0" noProof="0" dirty="0">
                    <a:ln>
                      <a:noFill/>
                    </a:ln>
                    <a:solidFill>
                      <a:srgbClr val="004D80"/>
                    </a:solidFill>
                    <a:effectLst/>
                    <a:uLnTx/>
                    <a:uFillTx/>
                    <a:latin typeface="Yekan Bakh" pitchFamily="2" charset="-78"/>
                    <a:ea typeface="Yekan Bakh" pitchFamily="2" charset="-78"/>
                    <a:cs typeface="Yekan Bakh" pitchFamily="2" charset="-78"/>
                  </a:rPr>
                  <a:t>هوشمندی و اعتبارسنجی فرصت</a:t>
                </a:r>
                <a:endParaRPr kumimoji="0" lang="en-US" sz="1200" b="1" i="0" u="none" strike="noStrike" kern="1200" cap="none" spc="0" normalizeH="0" baseline="0" noProof="0" dirty="0">
                  <a:ln>
                    <a:noFill/>
                  </a:ln>
                  <a:solidFill>
                    <a:srgbClr val="004D80"/>
                  </a:solidFill>
                  <a:effectLst/>
                  <a:uLnTx/>
                  <a:uFillTx/>
                  <a:latin typeface="Yekan Bakh" pitchFamily="2" charset="-78"/>
                  <a:ea typeface="Yekan Bakh" pitchFamily="2" charset="-78"/>
                  <a:cs typeface="Yekan Bakh" pitchFamily="2" charset="-78"/>
                </a:endParaRPr>
              </a:p>
            </p:txBody>
          </p:sp>
        </p:grpSp>
        <p:grpSp>
          <p:nvGrpSpPr>
            <p:cNvPr id="37" name="Group 36">
              <a:extLst>
                <a:ext uri="{FF2B5EF4-FFF2-40B4-BE49-F238E27FC236}">
                  <a16:creationId xmlns:a16="http://schemas.microsoft.com/office/drawing/2014/main" id="{F39D45BE-D671-8F59-0B04-7E06B92229B6}"/>
                </a:ext>
              </a:extLst>
            </p:cNvPr>
            <p:cNvGrpSpPr/>
            <p:nvPr/>
          </p:nvGrpSpPr>
          <p:grpSpPr>
            <a:xfrm>
              <a:off x="1333350" y="3542254"/>
              <a:ext cx="9036350" cy="600164"/>
              <a:chOff x="1333350" y="3474137"/>
              <a:chExt cx="9036350" cy="600164"/>
            </a:xfrm>
          </p:grpSpPr>
          <p:sp>
            <p:nvSpPr>
              <p:cNvPr id="16" name="TextBox 15">
                <a:extLst>
                  <a:ext uri="{FF2B5EF4-FFF2-40B4-BE49-F238E27FC236}">
                    <a16:creationId xmlns:a16="http://schemas.microsoft.com/office/drawing/2014/main" id="{69E221CE-F5D1-3D7E-749C-678C524D8223}"/>
                  </a:ext>
                </a:extLst>
              </p:cNvPr>
              <p:cNvSpPr txBox="1"/>
              <p:nvPr/>
            </p:nvSpPr>
            <p:spPr>
              <a:xfrm>
                <a:off x="7388756" y="3558776"/>
                <a:ext cx="2980944" cy="430887"/>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یافتن شریک، سرمایه‌گذار، مشتری، شریک فنی، بازار و طرف معامله </a:t>
                </a:r>
                <a:endParaRPr kumimoji="0" lang="en-US"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17" name="TextBox 16">
                <a:extLst>
                  <a:ext uri="{FF2B5EF4-FFF2-40B4-BE49-F238E27FC236}">
                    <a16:creationId xmlns:a16="http://schemas.microsoft.com/office/drawing/2014/main" id="{1B075313-650A-A0AB-2985-8C576A2F899C}"/>
                  </a:ext>
                </a:extLst>
              </p:cNvPr>
              <p:cNvSpPr txBox="1"/>
              <p:nvPr/>
            </p:nvSpPr>
            <p:spPr>
              <a:xfrm>
                <a:off x="4361053" y="3474137"/>
                <a:ext cx="2980944" cy="600164"/>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بسیاری از کارها زمانی قابل انجام هستند که مشتری بتواند به طرف، بازار، سرمایه‌گذار یا شریک مناسب دسترسی پیدا کند.</a:t>
                </a:r>
                <a:endParaRPr kumimoji="0" lang="en-US"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18" name="TextBox 17">
                <a:extLst>
                  <a:ext uri="{FF2B5EF4-FFF2-40B4-BE49-F238E27FC236}">
                    <a16:creationId xmlns:a16="http://schemas.microsoft.com/office/drawing/2014/main" id="{A15A61E3-021E-01E0-3AB6-999F37A936EF}"/>
                  </a:ext>
                </a:extLst>
              </p:cNvPr>
              <p:cNvSpPr txBox="1"/>
              <p:nvPr/>
            </p:nvSpPr>
            <p:spPr>
              <a:xfrm>
                <a:off x="1333350" y="3604942"/>
                <a:ext cx="2980944" cy="276999"/>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200" b="1" i="0" u="none" strike="noStrike" kern="1200" cap="none" spc="0" normalizeH="0" baseline="0" noProof="0">
                    <a:ln>
                      <a:noFill/>
                    </a:ln>
                    <a:solidFill>
                      <a:srgbClr val="004D80"/>
                    </a:solidFill>
                    <a:effectLst/>
                    <a:uLnTx/>
                    <a:uFillTx/>
                    <a:latin typeface="Yekan Bakh" pitchFamily="2" charset="-78"/>
                    <a:ea typeface="Yekan Bakh" pitchFamily="2" charset="-78"/>
                    <a:cs typeface="Yekan Bakh" pitchFamily="2" charset="-78"/>
                  </a:rPr>
                  <a:t>ایجاد دسترسی مورداعتماد </a:t>
                </a:r>
                <a:endParaRPr kumimoji="0" lang="en-US" sz="1200" b="1" i="0" u="none" strike="noStrike" kern="1200" cap="none" spc="0" normalizeH="0" baseline="0" noProof="0">
                  <a:ln>
                    <a:noFill/>
                  </a:ln>
                  <a:solidFill>
                    <a:srgbClr val="004D80"/>
                  </a:solidFill>
                  <a:effectLst/>
                  <a:uLnTx/>
                  <a:uFillTx/>
                  <a:latin typeface="Yekan Bakh" pitchFamily="2" charset="-78"/>
                  <a:ea typeface="Yekan Bakh" pitchFamily="2" charset="-78"/>
                  <a:cs typeface="Yekan Bakh" pitchFamily="2" charset="-78"/>
                </a:endParaRPr>
              </a:p>
            </p:txBody>
          </p:sp>
        </p:grpSp>
        <p:grpSp>
          <p:nvGrpSpPr>
            <p:cNvPr id="36" name="Group 35">
              <a:extLst>
                <a:ext uri="{FF2B5EF4-FFF2-40B4-BE49-F238E27FC236}">
                  <a16:creationId xmlns:a16="http://schemas.microsoft.com/office/drawing/2014/main" id="{7DA7E60D-75C1-BC90-F53E-2851AD855A92}"/>
                </a:ext>
              </a:extLst>
            </p:cNvPr>
            <p:cNvGrpSpPr/>
            <p:nvPr/>
          </p:nvGrpSpPr>
          <p:grpSpPr>
            <a:xfrm>
              <a:off x="1333350" y="4225582"/>
              <a:ext cx="9036350" cy="600164"/>
              <a:chOff x="1333350" y="4276597"/>
              <a:chExt cx="9036350" cy="600164"/>
            </a:xfrm>
          </p:grpSpPr>
          <p:sp>
            <p:nvSpPr>
              <p:cNvPr id="19" name="TextBox 18">
                <a:extLst>
                  <a:ext uri="{FF2B5EF4-FFF2-40B4-BE49-F238E27FC236}">
                    <a16:creationId xmlns:a16="http://schemas.microsoft.com/office/drawing/2014/main" id="{31E1E410-DEC3-16B4-70B1-94CA5DEB819F}"/>
                  </a:ext>
                </a:extLst>
              </p:cNvPr>
              <p:cNvSpPr txBox="1"/>
              <p:nvPr/>
            </p:nvSpPr>
            <p:spPr>
              <a:xfrm>
                <a:off x="7388756" y="4361236"/>
                <a:ext cx="2980944" cy="430887"/>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تأمین مالی، حقوق، مالی، گواهی، ساختاردهی، تیم و سرمایه</a:t>
                </a:r>
                <a:endParaRPr kumimoji="0" lang="en-US" sz="11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20" name="TextBox 19">
                <a:extLst>
                  <a:ext uri="{FF2B5EF4-FFF2-40B4-BE49-F238E27FC236}">
                    <a16:creationId xmlns:a16="http://schemas.microsoft.com/office/drawing/2014/main" id="{06A8765B-F401-4482-83E2-4F3BA24320BC}"/>
                  </a:ext>
                </a:extLst>
              </p:cNvPr>
              <p:cNvSpPr txBox="1"/>
              <p:nvPr/>
            </p:nvSpPr>
            <p:spPr>
              <a:xfrm>
                <a:off x="4361053" y="4276597"/>
                <a:ext cx="2980944" cy="600164"/>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rPr>
                  <a:t>پس از شناسایی فرصت، مشتری به تخصص، سرمایه، حقوق، مالی، انطباق و سایر قابلیت‌ها نیاز دارد.</a:t>
                </a:r>
                <a:endParaRPr kumimoji="0" lang="en-US" sz="1100" b="0" i="0" u="none" strike="noStrike" kern="1200" cap="none" spc="0" normalizeH="0" baseline="0" noProof="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21" name="TextBox 20">
                <a:extLst>
                  <a:ext uri="{FF2B5EF4-FFF2-40B4-BE49-F238E27FC236}">
                    <a16:creationId xmlns:a16="http://schemas.microsoft.com/office/drawing/2014/main" id="{38DCC8BA-0940-B9B2-BCBC-5EA09B4A363A}"/>
                  </a:ext>
                </a:extLst>
              </p:cNvPr>
              <p:cNvSpPr txBox="1"/>
              <p:nvPr/>
            </p:nvSpPr>
            <p:spPr>
              <a:xfrm>
                <a:off x="1333350" y="4407402"/>
                <a:ext cx="2980944" cy="276999"/>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200" b="1" i="0" u="none" strike="noStrike" kern="1200" cap="none" spc="0" normalizeH="0" baseline="0" noProof="0">
                    <a:ln>
                      <a:noFill/>
                    </a:ln>
                    <a:solidFill>
                      <a:srgbClr val="004D80"/>
                    </a:solidFill>
                    <a:effectLst/>
                    <a:uLnTx/>
                    <a:uFillTx/>
                    <a:latin typeface="Yekan Bakh" pitchFamily="2" charset="-78"/>
                    <a:ea typeface="Yekan Bakh" pitchFamily="2" charset="-78"/>
                    <a:cs typeface="Yekan Bakh" pitchFamily="2" charset="-78"/>
                  </a:rPr>
                  <a:t>تأمین و فعال‌سازی منابع و قابلیت‌ها</a:t>
                </a:r>
                <a:endParaRPr kumimoji="0" lang="en-US" sz="1200" b="1" i="0" u="none" strike="noStrike" kern="1200" cap="none" spc="0" normalizeH="0" baseline="0" noProof="0">
                  <a:ln>
                    <a:noFill/>
                  </a:ln>
                  <a:solidFill>
                    <a:srgbClr val="004D80"/>
                  </a:solidFill>
                  <a:effectLst/>
                  <a:uLnTx/>
                  <a:uFillTx/>
                  <a:latin typeface="Yekan Bakh" pitchFamily="2" charset="-78"/>
                  <a:ea typeface="Yekan Bakh" pitchFamily="2" charset="-78"/>
                  <a:cs typeface="Yekan Bakh" pitchFamily="2" charset="-78"/>
                </a:endParaRPr>
              </a:p>
            </p:txBody>
          </p:sp>
        </p:grpSp>
        <p:grpSp>
          <p:nvGrpSpPr>
            <p:cNvPr id="35" name="Group 34">
              <a:extLst>
                <a:ext uri="{FF2B5EF4-FFF2-40B4-BE49-F238E27FC236}">
                  <a16:creationId xmlns:a16="http://schemas.microsoft.com/office/drawing/2014/main" id="{FFB0AD6C-0C7E-15F6-8798-AB910CFF32A1}"/>
                </a:ext>
              </a:extLst>
            </p:cNvPr>
            <p:cNvGrpSpPr/>
            <p:nvPr/>
          </p:nvGrpSpPr>
          <p:grpSpPr>
            <a:xfrm>
              <a:off x="1333350" y="4908910"/>
              <a:ext cx="9036350" cy="600164"/>
              <a:chOff x="1333350" y="5079059"/>
              <a:chExt cx="9036350" cy="600164"/>
            </a:xfrm>
          </p:grpSpPr>
          <p:sp>
            <p:nvSpPr>
              <p:cNvPr id="22" name="TextBox 21">
                <a:extLst>
                  <a:ext uri="{FF2B5EF4-FFF2-40B4-BE49-F238E27FC236}">
                    <a16:creationId xmlns:a16="http://schemas.microsoft.com/office/drawing/2014/main" id="{52BE33D8-1898-DA02-2977-956C0F533E08}"/>
                  </a:ext>
                </a:extLst>
              </p:cNvPr>
              <p:cNvSpPr txBox="1"/>
              <p:nvPr/>
            </p:nvSpPr>
            <p:spPr>
              <a:xfrm>
                <a:off x="7388756" y="5163698"/>
                <a:ext cx="2980944" cy="430887"/>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اجرای معامله، ورود به بازار، ساخت ونچر، سرمایه‌گذاری و پایش </a:t>
                </a:r>
                <a:endParaRPr kumimoji="0" lang="en-US"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23" name="TextBox 22">
                <a:extLst>
                  <a:ext uri="{FF2B5EF4-FFF2-40B4-BE49-F238E27FC236}">
                    <a16:creationId xmlns:a16="http://schemas.microsoft.com/office/drawing/2014/main" id="{EAB52AEA-EF9C-FC05-8E0E-D5F0F75727AC}"/>
                  </a:ext>
                </a:extLst>
              </p:cNvPr>
              <p:cNvSpPr txBox="1"/>
              <p:nvPr/>
            </p:nvSpPr>
            <p:spPr>
              <a:xfrm>
                <a:off x="4361053" y="5079059"/>
                <a:ext cx="2980944" cy="600164"/>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ارزش واقعی زمانی ایجاد می‌شود که منابع و طرف‌های مختلف به نتیجه تجاری، سرمایه‌گذاری یا کسب‌وکاری تبدیل شوند. </a:t>
                </a:r>
                <a:endParaRPr kumimoji="0" lang="en-US" sz="11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24" name="TextBox 23">
                <a:extLst>
                  <a:ext uri="{FF2B5EF4-FFF2-40B4-BE49-F238E27FC236}">
                    <a16:creationId xmlns:a16="http://schemas.microsoft.com/office/drawing/2014/main" id="{4F31CB76-7BDC-CD3E-EA9F-9D49177A1B8A}"/>
                  </a:ext>
                </a:extLst>
              </p:cNvPr>
              <p:cNvSpPr txBox="1"/>
              <p:nvPr/>
            </p:nvSpPr>
            <p:spPr>
              <a:xfrm>
                <a:off x="1333350" y="5209864"/>
                <a:ext cx="2980944" cy="276999"/>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200" b="1" i="0" u="none" strike="noStrike" kern="1200" cap="none" spc="0" normalizeH="0" baseline="0" noProof="0">
                    <a:ln>
                      <a:noFill/>
                    </a:ln>
                    <a:solidFill>
                      <a:srgbClr val="004D80"/>
                    </a:solidFill>
                    <a:effectLst/>
                    <a:uLnTx/>
                    <a:uFillTx/>
                    <a:latin typeface="Yekan Bakh" pitchFamily="2" charset="-78"/>
                    <a:ea typeface="Yekan Bakh" pitchFamily="2" charset="-78"/>
                    <a:cs typeface="Yekan Bakh" pitchFamily="2" charset="-78"/>
                  </a:rPr>
                  <a:t>هماهنگ‌سازی و تبدیل فرصت به نتیجه</a:t>
                </a:r>
                <a:endParaRPr kumimoji="0" lang="en-US" sz="1200" b="1" i="0" u="none" strike="noStrike" kern="1200" cap="none" spc="0" normalizeH="0" baseline="0" noProof="0">
                  <a:ln>
                    <a:noFill/>
                  </a:ln>
                  <a:solidFill>
                    <a:srgbClr val="004D80"/>
                  </a:solidFill>
                  <a:effectLst/>
                  <a:uLnTx/>
                  <a:uFillTx/>
                  <a:latin typeface="Yekan Bakh" pitchFamily="2" charset="-78"/>
                  <a:ea typeface="Yekan Bakh" pitchFamily="2" charset="-78"/>
                  <a:cs typeface="Yekan Bakh" pitchFamily="2" charset="-78"/>
                </a:endParaRPr>
              </a:p>
            </p:txBody>
          </p:sp>
        </p:grpSp>
      </p:grpSp>
    </p:spTree>
    <p:extLst>
      <p:ext uri="{BB962C8B-B14F-4D97-AF65-F5344CB8AC3E}">
        <p14:creationId xmlns:p14="http://schemas.microsoft.com/office/powerpoint/2010/main" val="210325301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2FEB57-E533-C4A1-3E65-CF487C6E9667}"/>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BABA2D8-F1FE-041D-1E65-7A6134BD5A55}"/>
              </a:ext>
            </a:extLst>
          </p:cNvPr>
          <p:cNvSpPr>
            <a:spLocks noGrp="1"/>
          </p:cNvSpPr>
          <p:nvPr>
            <p:ph type="body" sz="quarter" idx="10"/>
          </p:nvPr>
        </p:nvSpPr>
        <p:spPr>
          <a:xfrm>
            <a:off x="4753689" y="256653"/>
            <a:ext cx="6489884" cy="250047"/>
          </a:xfrm>
        </p:spPr>
        <p:txBody>
          <a:bodyPr/>
          <a:lstStyle/>
          <a:p>
            <a:r>
              <a:rPr lang="fa-IR" dirty="0"/>
              <a:t>نقشه ارزش (محصولات، دردسرکاه‌ها و منفعت‌سازها) بر اساس چهار محرک خلق ارزش </a:t>
            </a:r>
          </a:p>
        </p:txBody>
      </p:sp>
      <p:sp>
        <p:nvSpPr>
          <p:cNvPr id="3" name="Text Placeholder 2">
            <a:extLst>
              <a:ext uri="{FF2B5EF4-FFF2-40B4-BE49-F238E27FC236}">
                <a16:creationId xmlns:a16="http://schemas.microsoft.com/office/drawing/2014/main" id="{F4C70CED-4109-B6B1-E2AB-5331AF130710}"/>
              </a:ext>
            </a:extLst>
          </p:cNvPr>
          <p:cNvSpPr>
            <a:spLocks noGrp="1"/>
          </p:cNvSpPr>
          <p:nvPr>
            <p:ph type="body" sz="quarter" idx="12"/>
          </p:nvPr>
        </p:nvSpPr>
        <p:spPr/>
        <p:txBody>
          <a:bodyPr/>
          <a:lstStyle/>
          <a:p>
            <a:r>
              <a:rPr lang="fa-IR" dirty="0"/>
              <a:t>کسب‌وکار تراز ایرانی </a:t>
            </a:r>
          </a:p>
        </p:txBody>
      </p:sp>
      <p:sp>
        <p:nvSpPr>
          <p:cNvPr id="4" name="Rectangle: Rounded Corners 3">
            <a:extLst>
              <a:ext uri="{FF2B5EF4-FFF2-40B4-BE49-F238E27FC236}">
                <a16:creationId xmlns:a16="http://schemas.microsoft.com/office/drawing/2014/main" id="{92915004-CFB1-48E1-13CD-C7B88BFC172D}"/>
              </a:ext>
            </a:extLst>
          </p:cNvPr>
          <p:cNvSpPr/>
          <p:nvPr/>
        </p:nvSpPr>
        <p:spPr>
          <a:xfrm>
            <a:off x="8595360" y="1282807"/>
            <a:ext cx="2296311" cy="363736"/>
          </a:xfrm>
          <a:prstGeom prst="roundRect">
            <a:avLst/>
          </a:prstGeom>
          <a:solidFill>
            <a:srgbClr val="F0BE0F">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هوشمندی و اعتبارسنجی فرصت</a:t>
            </a:r>
          </a:p>
        </p:txBody>
      </p:sp>
      <p:sp>
        <p:nvSpPr>
          <p:cNvPr id="5" name="Rectangle: Rounded Corners 4">
            <a:extLst>
              <a:ext uri="{FF2B5EF4-FFF2-40B4-BE49-F238E27FC236}">
                <a16:creationId xmlns:a16="http://schemas.microsoft.com/office/drawing/2014/main" id="{21C16439-1C22-A23C-4712-60260684BBCC}"/>
              </a:ext>
            </a:extLst>
          </p:cNvPr>
          <p:cNvSpPr/>
          <p:nvPr/>
        </p:nvSpPr>
        <p:spPr>
          <a:xfrm>
            <a:off x="6000699" y="1282807"/>
            <a:ext cx="2296311" cy="363736"/>
          </a:xfrm>
          <a:prstGeom prst="roundRect">
            <a:avLst/>
          </a:prstGeom>
          <a:solidFill>
            <a:srgbClr val="004D80">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ایجاد دسترسی مورداعتماد </a:t>
            </a:r>
          </a:p>
        </p:txBody>
      </p:sp>
      <p:sp>
        <p:nvSpPr>
          <p:cNvPr id="6" name="Rectangle: Rounded Corners 5">
            <a:extLst>
              <a:ext uri="{FF2B5EF4-FFF2-40B4-BE49-F238E27FC236}">
                <a16:creationId xmlns:a16="http://schemas.microsoft.com/office/drawing/2014/main" id="{A315DB48-C0F8-C515-CCB2-5FAF80C33DCD}"/>
              </a:ext>
            </a:extLst>
          </p:cNvPr>
          <p:cNvSpPr/>
          <p:nvPr/>
        </p:nvSpPr>
        <p:spPr>
          <a:xfrm>
            <a:off x="3406039" y="1282807"/>
            <a:ext cx="2296311" cy="363736"/>
          </a:xfrm>
          <a:prstGeom prst="roundRect">
            <a:avLst/>
          </a:prstGeom>
          <a:solidFill>
            <a:srgbClr val="004D80">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a:ln>
                  <a:noFill/>
                </a:ln>
                <a:solidFill>
                  <a:schemeClr val="bg1"/>
                </a:solidFill>
                <a:effectLst/>
                <a:uLnTx/>
                <a:uFillTx/>
                <a:latin typeface="Yekan Bakh" pitchFamily="2" charset="-78"/>
                <a:ea typeface="Yekan Bakh" pitchFamily="2" charset="-78"/>
                <a:cs typeface="Yekan Bakh" pitchFamily="2" charset="-78"/>
              </a:rPr>
              <a:t>تأمین و فعال‌سازی منابع و قابلیت‌ها</a:t>
            </a:r>
          </a:p>
        </p:txBody>
      </p:sp>
      <p:sp>
        <p:nvSpPr>
          <p:cNvPr id="7" name="Rectangle: Rounded Corners 6">
            <a:extLst>
              <a:ext uri="{FF2B5EF4-FFF2-40B4-BE49-F238E27FC236}">
                <a16:creationId xmlns:a16="http://schemas.microsoft.com/office/drawing/2014/main" id="{179485F6-A209-46D1-3B26-6F5D8575864F}"/>
              </a:ext>
            </a:extLst>
          </p:cNvPr>
          <p:cNvSpPr/>
          <p:nvPr/>
        </p:nvSpPr>
        <p:spPr>
          <a:xfrm>
            <a:off x="811379" y="1282807"/>
            <a:ext cx="2296311" cy="363736"/>
          </a:xfrm>
          <a:prstGeom prst="roundRect">
            <a:avLst/>
          </a:prstGeom>
          <a:solidFill>
            <a:srgbClr val="004D80">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هماهنگ‌سازی و تبدیل فرصت به نتیجه</a:t>
            </a:r>
          </a:p>
        </p:txBody>
      </p:sp>
      <p:graphicFrame>
        <p:nvGraphicFramePr>
          <p:cNvPr id="8" name="Table 7">
            <a:extLst>
              <a:ext uri="{FF2B5EF4-FFF2-40B4-BE49-F238E27FC236}">
                <a16:creationId xmlns:a16="http://schemas.microsoft.com/office/drawing/2014/main" id="{7487114D-3478-384E-5C36-4B98C5BD4AC0}"/>
              </a:ext>
            </a:extLst>
          </p:cNvPr>
          <p:cNvGraphicFramePr>
            <a:graphicFrameLocks noGrp="1"/>
          </p:cNvGraphicFramePr>
          <p:nvPr>
            <p:extLst>
              <p:ext uri="{D42A27DB-BD31-4B8C-83A1-F6EECF244321}">
                <p14:modId xmlns:p14="http://schemas.microsoft.com/office/powerpoint/2010/main" val="909618455"/>
              </p:ext>
            </p:extLst>
          </p:nvPr>
        </p:nvGraphicFramePr>
        <p:xfrm>
          <a:off x="811379" y="2098582"/>
          <a:ext cx="10080292" cy="3442588"/>
        </p:xfrm>
        <a:graphic>
          <a:graphicData uri="http://schemas.openxmlformats.org/drawingml/2006/table">
            <a:tbl>
              <a:tblPr firstRow="1" bandRow="1">
                <a:tableStyleId>{5C22544A-7EE6-4342-B048-85BDC9FD1C3A}</a:tableStyleId>
              </a:tblPr>
              <a:tblGrid>
                <a:gridCol w="5040146">
                  <a:extLst>
                    <a:ext uri="{9D8B030D-6E8A-4147-A177-3AD203B41FA5}">
                      <a16:colId xmlns:a16="http://schemas.microsoft.com/office/drawing/2014/main" val="1416290991"/>
                    </a:ext>
                  </a:extLst>
                </a:gridCol>
                <a:gridCol w="5040146">
                  <a:extLst>
                    <a:ext uri="{9D8B030D-6E8A-4147-A177-3AD203B41FA5}">
                      <a16:colId xmlns:a16="http://schemas.microsoft.com/office/drawing/2014/main" val="241493819"/>
                    </a:ext>
                  </a:extLst>
                </a:gridCol>
              </a:tblGrid>
              <a:tr h="1721294">
                <a:tc rowSpan="2">
                  <a:txBody>
                    <a:bodyPr/>
                    <a:lstStyle/>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اعتبارسنجی هویت، مالکیت، سوابق و توان مالی طرف خارجی پیش از ورود به تعامل.</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انجام</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Due Diligence </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 تجاری و مالی طرف مقابل.</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ارزیابی اعتبار و قابلیت اتکای شریک یا مشتری خارجی.</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تحلیل بازار مقصد و ارزیابی اندازه، جذابیت و تقاضای واقعی بازار.</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ارزیابی فرصت‌های تجاری، سرمایه‌گذاری و توسعه بازار پیش از تخصیص منابع.</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تحلیل ریسک‌های سیاسی، اقتصادی، تجاری و عملیاتی مرتبط با بازار مقصد.</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ارزیابی قابلیت اجرای معامله و شناسایی موانع احتمالی پیش از تعهد منابع.</a:t>
                      </a:r>
                    </a:p>
                  </a:txBody>
                  <a:tcPr anchor="ctr">
                    <a:lnR w="6350" cap="flat" cmpd="sng" algn="ctr">
                      <a:solidFill>
                        <a:srgbClr val="F0BE0F"/>
                      </a:solidFill>
                      <a:prstDash val="solid"/>
                      <a:round/>
                      <a:headEnd type="none" w="med" len="med"/>
                      <a:tailEnd type="none" w="med" len="med"/>
                    </a:lnR>
                    <a:solidFill>
                      <a:schemeClr val="bg1">
                        <a:lumMod val="65000"/>
                        <a:alpha val="10000"/>
                      </a:schemeClr>
                    </a:solidFill>
                  </a:tcPr>
                </a:tc>
                <a:tc>
                  <a:txBody>
                    <a:bodyPr/>
                    <a:lstStyle/>
                    <a:p>
                      <a:pPr marL="171450" indent="-171450" algn="r" rtl="1">
                        <a:lnSpc>
                          <a:spcPct val="10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یسک معامله با طرف خارجی جعلی، نامعتبر یا فاقد توان مالی را کاهش می‌دهد.</a:t>
                      </a:r>
                    </a:p>
                    <a:p>
                      <a:pPr marL="171450" indent="-171450" algn="r" rtl="1">
                        <a:lnSpc>
                          <a:spcPct val="10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نیاز به اتکا به اطلاعات پراکنده، غیررسمی یا منابعی که قابلیت راستی‌آزمایی محدودی دارند کاهش می‌یابد.</a:t>
                      </a:r>
                    </a:p>
                    <a:p>
                      <a:pPr marL="171450" indent="-171450" algn="r" rtl="1">
                        <a:lnSpc>
                          <a:spcPct val="10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احتمال از دست رفتن غیرقابل‌بازگشت وجه در معاملات با طرف نامعتبر کاهش پیدا می‌کند.</a:t>
                      </a:r>
                    </a:p>
                    <a:p>
                      <a:pPr marL="171450" indent="-171450" algn="r" rtl="1">
                        <a:lnSpc>
                          <a:spcPct val="10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از صرف هزینه بازاریابی و ورود به بازارهایی که تقاضای واقعی برای محصول ندارند جلوگیری می‌کند.</a:t>
                      </a:r>
                    </a:p>
                    <a:p>
                      <a:pPr marL="171450" indent="-171450" algn="r" rtl="1">
                        <a:lnSpc>
                          <a:spcPct val="10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عدم‌قطعیت درباره جذابیت واقعی فرصت و قابلیت اجرای آن را پیش از تعهد منابع کاهش می‌دهد.</a:t>
                      </a:r>
                    </a:p>
                    <a:p>
                      <a:pPr marL="171450" indent="-171450" algn="r" rtl="1">
                        <a:lnSpc>
                          <a:spcPct val="10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ریسک تصمیم‌گیری بر مبنای خوش‌بینی، روابط شخصی یا اطلاعات ناقص را کاهش می‌دهد.</a:t>
                      </a:r>
                    </a:p>
                  </a:txBody>
                  <a:tcPr anchor="ctr">
                    <a:lnL w="6350" cap="flat" cmpd="sng" algn="ctr">
                      <a:solidFill>
                        <a:srgbClr val="F0BE0F"/>
                      </a:solidFill>
                      <a:prstDash val="solid"/>
                      <a:round/>
                      <a:headEnd type="none" w="med" len="med"/>
                      <a:tailEnd type="none" w="med" len="med"/>
                    </a:lnL>
                    <a:lnB w="6350" cap="flat" cmpd="sng" algn="ctr">
                      <a:solidFill>
                        <a:srgbClr val="F0BE0F"/>
                      </a:solidFill>
                      <a:prstDash val="solid"/>
                      <a:round/>
                      <a:headEnd type="none" w="med" len="med"/>
                      <a:tailEnd type="none" w="med" len="med"/>
                    </a:lnB>
                    <a:solidFill>
                      <a:srgbClr val="C00000">
                        <a:alpha val="3000"/>
                      </a:srgbClr>
                    </a:solidFill>
                  </a:tcPr>
                </a:tc>
                <a:extLst>
                  <a:ext uri="{0D108BD9-81ED-4DB2-BD59-A6C34878D82A}">
                    <a16:rowId xmlns:a16="http://schemas.microsoft.com/office/drawing/2014/main" val="2675777916"/>
                  </a:ext>
                </a:extLst>
              </a:tr>
              <a:tr h="1721294">
                <a:tc vMerge="1">
                  <a:txBody>
                    <a:bodyPr/>
                    <a:lstStyle/>
                    <a:p>
                      <a:endParaRPr lang="en-US"/>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ایجاد اطمینان برای ورود به معامله با طرف خارجی.</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فراهم کردن دسترسی به فرصت‌های معاملاتی واقعی و باکیفیت، به‌جای صرفاً </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Lead</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های خام.</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امکان انتخاب بازار هدف بر مبنای شواهد و تقاضای واقعی.</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افزایش کیفیت تصمیم‌های توسعه بازار و تخصیص منابع.</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افزایش احتمال موفقیت معامله به‌دلیل شناخت بهتر طرف مقابل و محیط فعالیت او.</a:t>
                      </a:r>
                    </a:p>
                    <a:p>
                      <a:pPr marL="171450" indent="-171450" algn="r" rtl="1">
                        <a:lnSpc>
                          <a:spcPct val="150000"/>
                        </a:lnSpc>
                        <a:buClr>
                          <a:schemeClr val="accent1"/>
                        </a:buClr>
                        <a:buFont typeface="Arial" panose="020B0604020202020204" pitchFamily="34" charset="0"/>
                        <a:buChar char="•"/>
                      </a:pPr>
                      <a:endParaRPr lang="fa-IR" sz="1000" b="0" kern="1200" dirty="0">
                        <a:solidFill>
                          <a:schemeClr val="tx1">
                            <a:lumMod val="75000"/>
                            <a:lumOff val="25000"/>
                          </a:schemeClr>
                        </a:solidFill>
                        <a:latin typeface="Yekan Bakh" pitchFamily="2" charset="-78"/>
                        <a:ea typeface="Yekan Bakh" pitchFamily="2" charset="-78"/>
                        <a:cs typeface="Yekan Bakh" pitchFamily="2" charset="-78"/>
                      </a:endParaRPr>
                    </a:p>
                  </a:txBody>
                  <a:tcPr anchor="ctr">
                    <a:lnL w="6350" cap="flat" cmpd="sng" algn="ctr">
                      <a:solidFill>
                        <a:srgbClr val="F0BE0F"/>
                      </a:solidFill>
                      <a:prstDash val="solid"/>
                      <a:round/>
                      <a:headEnd type="none" w="med" len="med"/>
                      <a:tailEnd type="none" w="med" len="med"/>
                    </a:lnL>
                    <a:lnT w="6350" cap="flat" cmpd="sng" algn="ctr">
                      <a:solidFill>
                        <a:srgbClr val="F0BE0F"/>
                      </a:solidFill>
                      <a:prstDash val="solid"/>
                      <a:round/>
                      <a:headEnd type="none" w="med" len="med"/>
                      <a:tailEnd type="none" w="med" len="med"/>
                    </a:lnT>
                    <a:solidFill>
                      <a:schemeClr val="accent1">
                        <a:alpha val="4000"/>
                      </a:schemeClr>
                    </a:solidFill>
                  </a:tcPr>
                </a:tc>
                <a:extLst>
                  <a:ext uri="{0D108BD9-81ED-4DB2-BD59-A6C34878D82A}">
                    <a16:rowId xmlns:a16="http://schemas.microsoft.com/office/drawing/2014/main" val="1388272330"/>
                  </a:ext>
                </a:extLst>
              </a:tr>
            </a:tbl>
          </a:graphicData>
        </a:graphic>
      </p:graphicFrame>
      <p:sp>
        <p:nvSpPr>
          <p:cNvPr id="9" name="TextBox 8">
            <a:extLst>
              <a:ext uri="{FF2B5EF4-FFF2-40B4-BE49-F238E27FC236}">
                <a16:creationId xmlns:a16="http://schemas.microsoft.com/office/drawing/2014/main" id="{0CA1B4B5-590C-3BCD-5AD6-EA4C178C3551}"/>
              </a:ext>
            </a:extLst>
          </p:cNvPr>
          <p:cNvSpPr txBox="1"/>
          <p:nvPr/>
        </p:nvSpPr>
        <p:spPr>
          <a:xfrm>
            <a:off x="9378405" y="1895264"/>
            <a:ext cx="1513266" cy="369332"/>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b="1" i="0" u="none" strike="noStrike" kern="1200" cap="none" spc="0" normalizeH="0" baseline="0" noProof="0" dirty="0">
                <a:ln>
                  <a:noFill/>
                </a:ln>
                <a:solidFill>
                  <a:srgbClr val="C00000"/>
                </a:solidFill>
                <a:effectLst/>
                <a:uLnTx/>
                <a:uFillTx/>
                <a:latin typeface="Yekan Bakh" pitchFamily="2" charset="-78"/>
                <a:ea typeface="Yekan Bakh" pitchFamily="2" charset="-78"/>
                <a:cs typeface="Yekan Bakh" pitchFamily="2" charset="-78"/>
              </a:rPr>
              <a:t>دردسرگاه‌ها</a:t>
            </a:r>
          </a:p>
        </p:txBody>
      </p:sp>
      <p:sp>
        <p:nvSpPr>
          <p:cNvPr id="10" name="TextBox 9">
            <a:extLst>
              <a:ext uri="{FF2B5EF4-FFF2-40B4-BE49-F238E27FC236}">
                <a16:creationId xmlns:a16="http://schemas.microsoft.com/office/drawing/2014/main" id="{2CE1F446-A003-D481-40F8-F6AEFE88A3AA}"/>
              </a:ext>
            </a:extLst>
          </p:cNvPr>
          <p:cNvSpPr txBox="1"/>
          <p:nvPr/>
        </p:nvSpPr>
        <p:spPr>
          <a:xfrm>
            <a:off x="9378405" y="5306160"/>
            <a:ext cx="1513266" cy="369332"/>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b="1" i="0" u="none" strike="noStrike" kern="1200" cap="none" spc="0" normalizeH="0" baseline="0" noProof="0" dirty="0">
                <a:ln>
                  <a:noFill/>
                </a:ln>
                <a:solidFill>
                  <a:schemeClr val="accent1"/>
                </a:solidFill>
                <a:effectLst/>
                <a:uLnTx/>
                <a:uFillTx/>
                <a:latin typeface="Yekan Bakh" pitchFamily="2" charset="-78"/>
                <a:ea typeface="Yekan Bakh" pitchFamily="2" charset="-78"/>
                <a:cs typeface="Yekan Bakh" pitchFamily="2" charset="-78"/>
              </a:rPr>
              <a:t>منفعت‌سازها</a:t>
            </a:r>
          </a:p>
        </p:txBody>
      </p:sp>
      <p:sp>
        <p:nvSpPr>
          <p:cNvPr id="11" name="TextBox 10">
            <a:extLst>
              <a:ext uri="{FF2B5EF4-FFF2-40B4-BE49-F238E27FC236}">
                <a16:creationId xmlns:a16="http://schemas.microsoft.com/office/drawing/2014/main" id="{7563503D-B0D7-0C77-02D8-0ADA51ADF8CF}"/>
              </a:ext>
            </a:extLst>
          </p:cNvPr>
          <p:cNvSpPr txBox="1"/>
          <p:nvPr/>
        </p:nvSpPr>
        <p:spPr>
          <a:xfrm>
            <a:off x="827835" y="1876792"/>
            <a:ext cx="1513266" cy="369332"/>
          </a:xfrm>
          <a:prstGeom prst="rect">
            <a:avLst/>
          </a:prstGeom>
          <a:noFill/>
        </p:spPr>
        <p:txBody>
          <a:bodyPr wrap="square">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fa-IR" b="1" i="0" u="none" strike="noStrike" kern="1200" cap="none" spc="0" normalizeH="0" baseline="0" noProof="0" dirty="0">
                <a:ln>
                  <a:noFill/>
                </a:ln>
                <a:solidFill>
                  <a:schemeClr val="tx1">
                    <a:lumMod val="50000"/>
                    <a:lumOff val="50000"/>
                  </a:schemeClr>
                </a:solidFill>
                <a:effectLst/>
                <a:uLnTx/>
                <a:uFillTx/>
                <a:latin typeface="Yekan Bakh" pitchFamily="2" charset="-78"/>
                <a:ea typeface="Yekan Bakh" pitchFamily="2" charset="-78"/>
                <a:cs typeface="Yekan Bakh" pitchFamily="2" charset="-78"/>
              </a:rPr>
              <a:t>محصولات</a:t>
            </a:r>
          </a:p>
        </p:txBody>
      </p:sp>
    </p:spTree>
    <p:extLst>
      <p:ext uri="{BB962C8B-B14F-4D97-AF65-F5344CB8AC3E}">
        <p14:creationId xmlns:p14="http://schemas.microsoft.com/office/powerpoint/2010/main" val="147982036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F1E58-88FD-16C4-DBC5-F788DF88BA6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A406AD4-A433-4C28-4E8D-1468FEA011C0}"/>
              </a:ext>
            </a:extLst>
          </p:cNvPr>
          <p:cNvSpPr>
            <a:spLocks noGrp="1"/>
          </p:cNvSpPr>
          <p:nvPr>
            <p:ph type="body" sz="quarter" idx="10"/>
          </p:nvPr>
        </p:nvSpPr>
        <p:spPr>
          <a:xfrm>
            <a:off x="4753689" y="256653"/>
            <a:ext cx="6489884" cy="250047"/>
          </a:xfrm>
        </p:spPr>
        <p:txBody>
          <a:bodyPr/>
          <a:lstStyle/>
          <a:p>
            <a:r>
              <a:rPr lang="fa-IR"/>
              <a:t>نقشه ارزش (محصولات، دردسرکاه‌ها و منفعت‌سازها) بر اساس چهار محرک خلق ارزش </a:t>
            </a:r>
          </a:p>
        </p:txBody>
      </p:sp>
      <p:sp>
        <p:nvSpPr>
          <p:cNvPr id="3" name="Text Placeholder 2">
            <a:extLst>
              <a:ext uri="{FF2B5EF4-FFF2-40B4-BE49-F238E27FC236}">
                <a16:creationId xmlns:a16="http://schemas.microsoft.com/office/drawing/2014/main" id="{A25FA694-C8DE-F9BD-86A7-F9B1BEF6CC62}"/>
              </a:ext>
            </a:extLst>
          </p:cNvPr>
          <p:cNvSpPr>
            <a:spLocks noGrp="1"/>
          </p:cNvSpPr>
          <p:nvPr>
            <p:ph type="body" sz="quarter" idx="12"/>
          </p:nvPr>
        </p:nvSpPr>
        <p:spPr/>
        <p:txBody>
          <a:bodyPr/>
          <a:lstStyle/>
          <a:p>
            <a:r>
              <a:rPr lang="fa-IR" dirty="0"/>
              <a:t>کسب‌وکار تراز ایرانی </a:t>
            </a:r>
          </a:p>
        </p:txBody>
      </p:sp>
      <p:sp>
        <p:nvSpPr>
          <p:cNvPr id="4" name="Rectangle: Rounded Corners 3">
            <a:extLst>
              <a:ext uri="{FF2B5EF4-FFF2-40B4-BE49-F238E27FC236}">
                <a16:creationId xmlns:a16="http://schemas.microsoft.com/office/drawing/2014/main" id="{BA08F49A-58BB-9A12-3F7A-4E0937669506}"/>
              </a:ext>
            </a:extLst>
          </p:cNvPr>
          <p:cNvSpPr/>
          <p:nvPr/>
        </p:nvSpPr>
        <p:spPr>
          <a:xfrm>
            <a:off x="8595360" y="1282807"/>
            <a:ext cx="2296311" cy="363736"/>
          </a:xfrm>
          <a:prstGeom prst="roundRect">
            <a:avLst/>
          </a:prstGeom>
          <a:solidFill>
            <a:srgbClr val="004D80">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هوشمندی و اعتبارسنجی فرصت</a:t>
            </a:r>
          </a:p>
        </p:txBody>
      </p:sp>
      <p:sp>
        <p:nvSpPr>
          <p:cNvPr id="5" name="Rectangle: Rounded Corners 4">
            <a:extLst>
              <a:ext uri="{FF2B5EF4-FFF2-40B4-BE49-F238E27FC236}">
                <a16:creationId xmlns:a16="http://schemas.microsoft.com/office/drawing/2014/main" id="{2CA39FF2-E167-D1F9-9B41-6EBD845C04EA}"/>
              </a:ext>
            </a:extLst>
          </p:cNvPr>
          <p:cNvSpPr/>
          <p:nvPr/>
        </p:nvSpPr>
        <p:spPr>
          <a:xfrm>
            <a:off x="6000699" y="1282807"/>
            <a:ext cx="2296311" cy="363736"/>
          </a:xfrm>
          <a:prstGeom prst="roundRect">
            <a:avLst/>
          </a:prstGeom>
          <a:solidFill>
            <a:srgbClr val="F0BE0F">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ایجاد دسترسی مورداعتماد </a:t>
            </a:r>
          </a:p>
        </p:txBody>
      </p:sp>
      <p:sp>
        <p:nvSpPr>
          <p:cNvPr id="6" name="Rectangle: Rounded Corners 5">
            <a:extLst>
              <a:ext uri="{FF2B5EF4-FFF2-40B4-BE49-F238E27FC236}">
                <a16:creationId xmlns:a16="http://schemas.microsoft.com/office/drawing/2014/main" id="{D54270F7-BC19-224D-128C-29E2173C7DE4}"/>
              </a:ext>
            </a:extLst>
          </p:cNvPr>
          <p:cNvSpPr/>
          <p:nvPr/>
        </p:nvSpPr>
        <p:spPr>
          <a:xfrm>
            <a:off x="3406039" y="1282807"/>
            <a:ext cx="2296311" cy="363736"/>
          </a:xfrm>
          <a:prstGeom prst="roundRect">
            <a:avLst/>
          </a:prstGeom>
          <a:solidFill>
            <a:srgbClr val="004D80">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a:ln>
                  <a:noFill/>
                </a:ln>
                <a:solidFill>
                  <a:schemeClr val="bg1"/>
                </a:solidFill>
                <a:effectLst/>
                <a:uLnTx/>
                <a:uFillTx/>
                <a:latin typeface="Yekan Bakh" pitchFamily="2" charset="-78"/>
                <a:ea typeface="Yekan Bakh" pitchFamily="2" charset="-78"/>
                <a:cs typeface="Yekan Bakh" pitchFamily="2" charset="-78"/>
              </a:rPr>
              <a:t>تأمین و فعال‌سازی منابع و قابلیت‌ها</a:t>
            </a:r>
          </a:p>
        </p:txBody>
      </p:sp>
      <p:sp>
        <p:nvSpPr>
          <p:cNvPr id="7" name="Rectangle: Rounded Corners 6">
            <a:extLst>
              <a:ext uri="{FF2B5EF4-FFF2-40B4-BE49-F238E27FC236}">
                <a16:creationId xmlns:a16="http://schemas.microsoft.com/office/drawing/2014/main" id="{55191BE8-F8D6-9295-B3B9-A28831991F28}"/>
              </a:ext>
            </a:extLst>
          </p:cNvPr>
          <p:cNvSpPr/>
          <p:nvPr/>
        </p:nvSpPr>
        <p:spPr>
          <a:xfrm>
            <a:off x="811379" y="1282807"/>
            <a:ext cx="2296311" cy="363736"/>
          </a:xfrm>
          <a:prstGeom prst="roundRect">
            <a:avLst/>
          </a:prstGeom>
          <a:solidFill>
            <a:srgbClr val="004D80">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هماهنگ‌سازی و تبدیل فرصت به نتیجه</a:t>
            </a:r>
          </a:p>
        </p:txBody>
      </p:sp>
      <p:graphicFrame>
        <p:nvGraphicFramePr>
          <p:cNvPr id="8" name="Table 7">
            <a:extLst>
              <a:ext uri="{FF2B5EF4-FFF2-40B4-BE49-F238E27FC236}">
                <a16:creationId xmlns:a16="http://schemas.microsoft.com/office/drawing/2014/main" id="{5BE4FCE4-98A0-0518-D2B2-967FEAE7445B}"/>
              </a:ext>
            </a:extLst>
          </p:cNvPr>
          <p:cNvGraphicFramePr>
            <a:graphicFrameLocks noGrp="1"/>
          </p:cNvGraphicFramePr>
          <p:nvPr>
            <p:extLst>
              <p:ext uri="{D42A27DB-BD31-4B8C-83A1-F6EECF244321}">
                <p14:modId xmlns:p14="http://schemas.microsoft.com/office/powerpoint/2010/main" val="771046749"/>
              </p:ext>
            </p:extLst>
          </p:nvPr>
        </p:nvGraphicFramePr>
        <p:xfrm>
          <a:off x="811379" y="2098582"/>
          <a:ext cx="10080292" cy="3442588"/>
        </p:xfrm>
        <a:graphic>
          <a:graphicData uri="http://schemas.openxmlformats.org/drawingml/2006/table">
            <a:tbl>
              <a:tblPr firstRow="1" bandRow="1">
                <a:tableStyleId>{5C22544A-7EE6-4342-B048-85BDC9FD1C3A}</a:tableStyleId>
              </a:tblPr>
              <a:tblGrid>
                <a:gridCol w="5040146">
                  <a:extLst>
                    <a:ext uri="{9D8B030D-6E8A-4147-A177-3AD203B41FA5}">
                      <a16:colId xmlns:a16="http://schemas.microsoft.com/office/drawing/2014/main" val="1416290991"/>
                    </a:ext>
                  </a:extLst>
                </a:gridCol>
                <a:gridCol w="5040146">
                  <a:extLst>
                    <a:ext uri="{9D8B030D-6E8A-4147-A177-3AD203B41FA5}">
                      <a16:colId xmlns:a16="http://schemas.microsoft.com/office/drawing/2014/main" val="241493819"/>
                    </a:ext>
                  </a:extLst>
                </a:gridCol>
              </a:tblGrid>
              <a:tr h="1721294">
                <a:tc rowSpan="2">
                  <a:txBody>
                    <a:bodyPr/>
                    <a:lstStyle/>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معرفی و اتصال شرکت ایرانی به شرکت‌ها، مشتریان، شرکا و سرمایه‌گذاران خارجی معتبر.</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ایجاد کانال ارتباطی معتبر و موردپذیرش طرف خارجی.</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استفاده از شبکه روابط و </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Partner</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های بین‌المللی برای ایجاد دسترسی.</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اعتبارسازی و آماده‌سازی شرکت ایرانی برای معرفی به طرف خارجی.</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ارائه یا تسهیل دریافت گواهی‌ها، تأییدیه‌ها و مدارکی که برای طرف خارجی قابل‌شناسایی و قابل‌اعتماد باشند.</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ایجاد ارتباط با واسطه‌ها، توزیع‌کنندگان و شرکای تجاری مناسب در بازار مقصد.</a:t>
                      </a:r>
                    </a:p>
                  </a:txBody>
                  <a:tcPr anchor="ctr">
                    <a:lnR w="6350" cap="flat" cmpd="sng" algn="ctr">
                      <a:solidFill>
                        <a:srgbClr val="F0BE0F"/>
                      </a:solidFill>
                      <a:prstDash val="solid"/>
                      <a:round/>
                      <a:headEnd type="none" w="med" len="med"/>
                      <a:tailEnd type="none" w="med" len="med"/>
                    </a:lnR>
                    <a:solidFill>
                      <a:schemeClr val="bg1">
                        <a:lumMod val="65000"/>
                        <a:alpha val="10000"/>
                      </a:schemeClr>
                    </a:solidFill>
                  </a:tcPr>
                </a:tc>
                <a:tc>
                  <a:txBody>
                    <a:bodyPr/>
                    <a:lstStyle/>
                    <a:p>
                      <a:pPr marL="171450" indent="-171450" algn="r" rtl="1">
                        <a:lnSpc>
                          <a:spcPct val="10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محدودیت شبکه ارتباطی شرکت ایرانی را کاهش می‌دهد.</a:t>
                      </a:r>
                    </a:p>
                    <a:p>
                      <a:pPr marL="171450" indent="-171450" algn="r" rtl="1">
                        <a:lnSpc>
                          <a:spcPct val="10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ریسک معرفی به طرف‌های ناشناخته و نامعتبر را کاهش می‌دهد.</a:t>
                      </a:r>
                    </a:p>
                    <a:p>
                      <a:pPr marL="171450" indent="-171450" algn="r" rtl="1">
                        <a:lnSpc>
                          <a:spcPct val="10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احتمال رد شدن شرکت ایرانی پیش از شنیده‌شدن پیشنهادش را کاهش می‌دهد.</a:t>
                      </a:r>
                    </a:p>
                    <a:p>
                      <a:pPr marL="171450" indent="-171450" algn="r" rtl="1">
                        <a:lnSpc>
                          <a:spcPct val="10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مشکل نبود کانال معتبر برای معرفی شرکت به طرف خارجی را برطرف می‌کند.</a:t>
                      </a:r>
                    </a:p>
                    <a:p>
                      <a:pPr marL="171450" indent="-171450" algn="r" rtl="1">
                        <a:lnSpc>
                          <a:spcPct val="10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بی‌اعتمادی اولیه ناشی از ناشناخته بودن شرکت ایرانی را کاهش می‌دهد.</a:t>
                      </a:r>
                    </a:p>
                    <a:p>
                      <a:pPr marL="171450" indent="-171450" algn="r" rtl="1">
                        <a:lnSpc>
                          <a:spcPct val="10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هزینه و زمان موردنیاز برای ایجاد شبکه ارتباطی از صفر را کاهش می‌دهد.</a:t>
                      </a:r>
                    </a:p>
                  </a:txBody>
                  <a:tcPr anchor="ctr">
                    <a:lnL w="6350" cap="flat" cmpd="sng" algn="ctr">
                      <a:solidFill>
                        <a:srgbClr val="F0BE0F"/>
                      </a:solidFill>
                      <a:prstDash val="solid"/>
                      <a:round/>
                      <a:headEnd type="none" w="med" len="med"/>
                      <a:tailEnd type="none" w="med" len="med"/>
                    </a:lnL>
                    <a:lnB w="6350" cap="flat" cmpd="sng" algn="ctr">
                      <a:solidFill>
                        <a:srgbClr val="F0BE0F"/>
                      </a:solidFill>
                      <a:prstDash val="solid"/>
                      <a:round/>
                      <a:headEnd type="none" w="med" len="med"/>
                      <a:tailEnd type="none" w="med" len="med"/>
                    </a:lnB>
                    <a:solidFill>
                      <a:srgbClr val="C00000">
                        <a:alpha val="3000"/>
                      </a:srgbClr>
                    </a:solidFill>
                  </a:tcPr>
                </a:tc>
                <a:extLst>
                  <a:ext uri="{0D108BD9-81ED-4DB2-BD59-A6C34878D82A}">
                    <a16:rowId xmlns:a16="http://schemas.microsoft.com/office/drawing/2014/main" val="2675777916"/>
                  </a:ext>
                </a:extLst>
              </a:tr>
              <a:tr h="1721294">
                <a:tc vMerge="1">
                  <a:txBody>
                    <a:bodyPr/>
                    <a:lstStyle/>
                    <a:p>
                      <a:endParaRPr lang="en-US"/>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دسترسی به فرصت‌های معاملاتی واقعی و باکیفیت ایجاد می‌کند.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احتمال پذیرفته‌شدن و شنیده‌شدن شرکت ایرانی نزد طرف خارجی را افزایش می‌دهد.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اعتبار اولیه شرکت ایرانی را در مواجهه با طرف خارجی تقویت می‌کند.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امکان ایجاد روابط تجاری تکرارشونده را فراهم می‌کند.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دسترسی شرکت را از شبکه محدود داخلی به شبکه‌ای گسترده‌تر از شرکا و فرصت‌های بین‌المللی توسعه می‌دهد.</a:t>
                      </a:r>
                    </a:p>
                    <a:p>
                      <a:pPr marL="171450" indent="-171450" algn="r" rtl="1">
                        <a:lnSpc>
                          <a:spcPct val="150000"/>
                        </a:lnSpc>
                        <a:buClr>
                          <a:schemeClr val="accent1"/>
                        </a:buClr>
                        <a:buFont typeface="Arial" panose="020B0604020202020204" pitchFamily="34" charset="0"/>
                        <a:buChar char="•"/>
                      </a:pPr>
                      <a:endParaRPr lang="fa-IR" sz="1000" b="0" kern="1200" dirty="0">
                        <a:solidFill>
                          <a:schemeClr val="tx1">
                            <a:lumMod val="75000"/>
                            <a:lumOff val="25000"/>
                          </a:schemeClr>
                        </a:solidFill>
                        <a:latin typeface="Yekan Bakh" pitchFamily="2" charset="-78"/>
                        <a:ea typeface="Yekan Bakh" pitchFamily="2" charset="-78"/>
                        <a:cs typeface="Yekan Bakh" pitchFamily="2" charset="-78"/>
                      </a:endParaRPr>
                    </a:p>
                  </a:txBody>
                  <a:tcPr anchor="ctr">
                    <a:lnL w="6350" cap="flat" cmpd="sng" algn="ctr">
                      <a:solidFill>
                        <a:srgbClr val="F0BE0F"/>
                      </a:solidFill>
                      <a:prstDash val="solid"/>
                      <a:round/>
                      <a:headEnd type="none" w="med" len="med"/>
                      <a:tailEnd type="none" w="med" len="med"/>
                    </a:lnL>
                    <a:lnT w="6350" cap="flat" cmpd="sng" algn="ctr">
                      <a:solidFill>
                        <a:srgbClr val="F0BE0F"/>
                      </a:solidFill>
                      <a:prstDash val="solid"/>
                      <a:round/>
                      <a:headEnd type="none" w="med" len="med"/>
                      <a:tailEnd type="none" w="med" len="med"/>
                    </a:lnT>
                    <a:solidFill>
                      <a:schemeClr val="accent1">
                        <a:alpha val="4000"/>
                      </a:schemeClr>
                    </a:solidFill>
                  </a:tcPr>
                </a:tc>
                <a:extLst>
                  <a:ext uri="{0D108BD9-81ED-4DB2-BD59-A6C34878D82A}">
                    <a16:rowId xmlns:a16="http://schemas.microsoft.com/office/drawing/2014/main" val="1388272330"/>
                  </a:ext>
                </a:extLst>
              </a:tr>
            </a:tbl>
          </a:graphicData>
        </a:graphic>
      </p:graphicFrame>
      <p:sp>
        <p:nvSpPr>
          <p:cNvPr id="9" name="TextBox 8">
            <a:extLst>
              <a:ext uri="{FF2B5EF4-FFF2-40B4-BE49-F238E27FC236}">
                <a16:creationId xmlns:a16="http://schemas.microsoft.com/office/drawing/2014/main" id="{85BC8B02-2CF2-EDCC-D632-A0E82CED2205}"/>
              </a:ext>
            </a:extLst>
          </p:cNvPr>
          <p:cNvSpPr txBox="1"/>
          <p:nvPr/>
        </p:nvSpPr>
        <p:spPr>
          <a:xfrm>
            <a:off x="9378405" y="1895264"/>
            <a:ext cx="1513266" cy="369332"/>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b="1" i="0" u="none" strike="noStrike" kern="1200" cap="none" spc="0" normalizeH="0" baseline="0" noProof="0" dirty="0">
                <a:ln>
                  <a:noFill/>
                </a:ln>
                <a:solidFill>
                  <a:srgbClr val="C00000"/>
                </a:solidFill>
                <a:effectLst/>
                <a:uLnTx/>
                <a:uFillTx/>
                <a:latin typeface="Yekan Bakh" pitchFamily="2" charset="-78"/>
                <a:ea typeface="Yekan Bakh" pitchFamily="2" charset="-78"/>
                <a:cs typeface="Yekan Bakh" pitchFamily="2" charset="-78"/>
              </a:rPr>
              <a:t>دردسرگاه‌ها</a:t>
            </a:r>
          </a:p>
        </p:txBody>
      </p:sp>
      <p:sp>
        <p:nvSpPr>
          <p:cNvPr id="10" name="TextBox 9">
            <a:extLst>
              <a:ext uri="{FF2B5EF4-FFF2-40B4-BE49-F238E27FC236}">
                <a16:creationId xmlns:a16="http://schemas.microsoft.com/office/drawing/2014/main" id="{1C34B77B-3564-920D-0D9D-FDA0F6E1AA69}"/>
              </a:ext>
            </a:extLst>
          </p:cNvPr>
          <p:cNvSpPr txBox="1"/>
          <p:nvPr/>
        </p:nvSpPr>
        <p:spPr>
          <a:xfrm>
            <a:off x="9378405" y="5306160"/>
            <a:ext cx="1513266" cy="369332"/>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b="1" i="0" u="none" strike="noStrike" kern="1200" cap="none" spc="0" normalizeH="0" baseline="0" noProof="0" dirty="0">
                <a:ln>
                  <a:noFill/>
                </a:ln>
                <a:solidFill>
                  <a:schemeClr val="accent1"/>
                </a:solidFill>
                <a:effectLst/>
                <a:uLnTx/>
                <a:uFillTx/>
                <a:latin typeface="Yekan Bakh" pitchFamily="2" charset="-78"/>
                <a:ea typeface="Yekan Bakh" pitchFamily="2" charset="-78"/>
                <a:cs typeface="Yekan Bakh" pitchFamily="2" charset="-78"/>
              </a:rPr>
              <a:t>منفعت‌سازها</a:t>
            </a:r>
          </a:p>
        </p:txBody>
      </p:sp>
      <p:sp>
        <p:nvSpPr>
          <p:cNvPr id="11" name="TextBox 10">
            <a:extLst>
              <a:ext uri="{FF2B5EF4-FFF2-40B4-BE49-F238E27FC236}">
                <a16:creationId xmlns:a16="http://schemas.microsoft.com/office/drawing/2014/main" id="{DD106690-FF9E-8508-A66C-E0380BFE77F2}"/>
              </a:ext>
            </a:extLst>
          </p:cNvPr>
          <p:cNvSpPr txBox="1"/>
          <p:nvPr/>
        </p:nvSpPr>
        <p:spPr>
          <a:xfrm>
            <a:off x="827835" y="1876792"/>
            <a:ext cx="1513266" cy="369332"/>
          </a:xfrm>
          <a:prstGeom prst="rect">
            <a:avLst/>
          </a:prstGeom>
          <a:noFill/>
        </p:spPr>
        <p:txBody>
          <a:bodyPr wrap="square">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fa-IR" b="1" i="0" u="none" strike="noStrike" kern="1200" cap="none" spc="0" normalizeH="0" baseline="0" noProof="0" dirty="0">
                <a:ln>
                  <a:noFill/>
                </a:ln>
                <a:solidFill>
                  <a:schemeClr val="tx1">
                    <a:lumMod val="50000"/>
                    <a:lumOff val="50000"/>
                  </a:schemeClr>
                </a:solidFill>
                <a:effectLst/>
                <a:uLnTx/>
                <a:uFillTx/>
                <a:latin typeface="Yekan Bakh" pitchFamily="2" charset="-78"/>
                <a:ea typeface="Yekan Bakh" pitchFamily="2" charset="-78"/>
                <a:cs typeface="Yekan Bakh" pitchFamily="2" charset="-78"/>
              </a:rPr>
              <a:t>محصولات</a:t>
            </a:r>
          </a:p>
        </p:txBody>
      </p:sp>
    </p:spTree>
    <p:extLst>
      <p:ext uri="{BB962C8B-B14F-4D97-AF65-F5344CB8AC3E}">
        <p14:creationId xmlns:p14="http://schemas.microsoft.com/office/powerpoint/2010/main" val="282552788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1DF59E-3F0A-D88E-CA68-347D7CE0AACA}"/>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E7C65FB-DE5E-D75A-EADB-B299D1FD9AC6}"/>
              </a:ext>
            </a:extLst>
          </p:cNvPr>
          <p:cNvSpPr>
            <a:spLocks noGrp="1"/>
          </p:cNvSpPr>
          <p:nvPr>
            <p:ph type="body" sz="quarter" idx="10"/>
          </p:nvPr>
        </p:nvSpPr>
        <p:spPr>
          <a:xfrm>
            <a:off x="4753689" y="256653"/>
            <a:ext cx="6489884" cy="250047"/>
          </a:xfrm>
        </p:spPr>
        <p:txBody>
          <a:bodyPr/>
          <a:lstStyle/>
          <a:p>
            <a:r>
              <a:rPr lang="fa-IR"/>
              <a:t>نقشه ارزش (محصولات، دردسرکاه‌ها و منفعت‌سازها) بر اساس چهار محرک خلق ارزش </a:t>
            </a:r>
          </a:p>
        </p:txBody>
      </p:sp>
      <p:sp>
        <p:nvSpPr>
          <p:cNvPr id="3" name="Text Placeholder 2">
            <a:extLst>
              <a:ext uri="{FF2B5EF4-FFF2-40B4-BE49-F238E27FC236}">
                <a16:creationId xmlns:a16="http://schemas.microsoft.com/office/drawing/2014/main" id="{B0A0CB3E-D7EC-FB62-8A84-D03892322448}"/>
              </a:ext>
            </a:extLst>
          </p:cNvPr>
          <p:cNvSpPr>
            <a:spLocks noGrp="1"/>
          </p:cNvSpPr>
          <p:nvPr>
            <p:ph type="body" sz="quarter" idx="12"/>
          </p:nvPr>
        </p:nvSpPr>
        <p:spPr/>
        <p:txBody>
          <a:bodyPr/>
          <a:lstStyle/>
          <a:p>
            <a:r>
              <a:rPr lang="fa-IR" dirty="0"/>
              <a:t>کسب‌وکار تراز ایرانی </a:t>
            </a:r>
          </a:p>
        </p:txBody>
      </p:sp>
      <p:sp>
        <p:nvSpPr>
          <p:cNvPr id="4" name="Rectangle: Rounded Corners 3">
            <a:extLst>
              <a:ext uri="{FF2B5EF4-FFF2-40B4-BE49-F238E27FC236}">
                <a16:creationId xmlns:a16="http://schemas.microsoft.com/office/drawing/2014/main" id="{1D521F81-51F7-CD22-97F3-86ED8A0B1418}"/>
              </a:ext>
            </a:extLst>
          </p:cNvPr>
          <p:cNvSpPr/>
          <p:nvPr/>
        </p:nvSpPr>
        <p:spPr>
          <a:xfrm>
            <a:off x="8595360" y="1282807"/>
            <a:ext cx="2296311" cy="363736"/>
          </a:xfrm>
          <a:prstGeom prst="roundRect">
            <a:avLst/>
          </a:prstGeom>
          <a:solidFill>
            <a:srgbClr val="004D80">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هوشمندی و اعتبارسنجی فرصت</a:t>
            </a:r>
          </a:p>
        </p:txBody>
      </p:sp>
      <p:sp>
        <p:nvSpPr>
          <p:cNvPr id="5" name="Rectangle: Rounded Corners 4">
            <a:extLst>
              <a:ext uri="{FF2B5EF4-FFF2-40B4-BE49-F238E27FC236}">
                <a16:creationId xmlns:a16="http://schemas.microsoft.com/office/drawing/2014/main" id="{0B0FD0E6-B222-7ECC-2DD9-14DD854F42A4}"/>
              </a:ext>
            </a:extLst>
          </p:cNvPr>
          <p:cNvSpPr/>
          <p:nvPr/>
        </p:nvSpPr>
        <p:spPr>
          <a:xfrm>
            <a:off x="6000699" y="1282807"/>
            <a:ext cx="2296311" cy="363736"/>
          </a:xfrm>
          <a:prstGeom prst="roundRect">
            <a:avLst/>
          </a:prstGeom>
          <a:solidFill>
            <a:srgbClr val="004D80">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ایجاد دسترسی مورداعتماد </a:t>
            </a:r>
          </a:p>
        </p:txBody>
      </p:sp>
      <p:sp>
        <p:nvSpPr>
          <p:cNvPr id="6" name="Rectangle: Rounded Corners 5">
            <a:extLst>
              <a:ext uri="{FF2B5EF4-FFF2-40B4-BE49-F238E27FC236}">
                <a16:creationId xmlns:a16="http://schemas.microsoft.com/office/drawing/2014/main" id="{43D7180C-2FD0-7B7B-30AA-24387CA1F204}"/>
              </a:ext>
            </a:extLst>
          </p:cNvPr>
          <p:cNvSpPr/>
          <p:nvPr/>
        </p:nvSpPr>
        <p:spPr>
          <a:xfrm>
            <a:off x="3406039" y="1282807"/>
            <a:ext cx="2296311" cy="363736"/>
          </a:xfrm>
          <a:prstGeom prst="roundRect">
            <a:avLst/>
          </a:prstGeom>
          <a:solidFill>
            <a:srgbClr val="F0BE0F">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a:ln>
                  <a:noFill/>
                </a:ln>
                <a:solidFill>
                  <a:schemeClr val="bg1"/>
                </a:solidFill>
                <a:effectLst/>
                <a:uLnTx/>
                <a:uFillTx/>
                <a:latin typeface="Yekan Bakh" pitchFamily="2" charset="-78"/>
                <a:ea typeface="Yekan Bakh" pitchFamily="2" charset="-78"/>
                <a:cs typeface="Yekan Bakh" pitchFamily="2" charset="-78"/>
              </a:rPr>
              <a:t>تأمین و فعال‌سازی منابع و قابلیت‌ها</a:t>
            </a:r>
          </a:p>
        </p:txBody>
      </p:sp>
      <p:sp>
        <p:nvSpPr>
          <p:cNvPr id="7" name="Rectangle: Rounded Corners 6">
            <a:extLst>
              <a:ext uri="{FF2B5EF4-FFF2-40B4-BE49-F238E27FC236}">
                <a16:creationId xmlns:a16="http://schemas.microsoft.com/office/drawing/2014/main" id="{1AD466A6-60D5-CCE5-8231-9E1E9E2C8EEF}"/>
              </a:ext>
            </a:extLst>
          </p:cNvPr>
          <p:cNvSpPr/>
          <p:nvPr/>
        </p:nvSpPr>
        <p:spPr>
          <a:xfrm>
            <a:off x="811379" y="1282807"/>
            <a:ext cx="2296311" cy="363736"/>
          </a:xfrm>
          <a:prstGeom prst="roundRect">
            <a:avLst/>
          </a:prstGeom>
          <a:solidFill>
            <a:srgbClr val="004D80">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هماهنگ‌سازی و تبدیل فرصت به نتیجه</a:t>
            </a:r>
          </a:p>
        </p:txBody>
      </p:sp>
      <p:graphicFrame>
        <p:nvGraphicFramePr>
          <p:cNvPr id="8" name="Table 7">
            <a:extLst>
              <a:ext uri="{FF2B5EF4-FFF2-40B4-BE49-F238E27FC236}">
                <a16:creationId xmlns:a16="http://schemas.microsoft.com/office/drawing/2014/main" id="{5B1B7FA2-2146-A026-D13E-9678AF349974}"/>
              </a:ext>
            </a:extLst>
          </p:cNvPr>
          <p:cNvGraphicFramePr>
            <a:graphicFrameLocks noGrp="1"/>
          </p:cNvGraphicFramePr>
          <p:nvPr>
            <p:extLst>
              <p:ext uri="{D42A27DB-BD31-4B8C-83A1-F6EECF244321}">
                <p14:modId xmlns:p14="http://schemas.microsoft.com/office/powerpoint/2010/main" val="1958144098"/>
              </p:ext>
            </p:extLst>
          </p:nvPr>
        </p:nvGraphicFramePr>
        <p:xfrm>
          <a:off x="811379" y="2098582"/>
          <a:ext cx="10080292" cy="3442588"/>
        </p:xfrm>
        <a:graphic>
          <a:graphicData uri="http://schemas.openxmlformats.org/drawingml/2006/table">
            <a:tbl>
              <a:tblPr firstRow="1" bandRow="1">
                <a:tableStyleId>{5C22544A-7EE6-4342-B048-85BDC9FD1C3A}</a:tableStyleId>
              </a:tblPr>
              <a:tblGrid>
                <a:gridCol w="5040146">
                  <a:extLst>
                    <a:ext uri="{9D8B030D-6E8A-4147-A177-3AD203B41FA5}">
                      <a16:colId xmlns:a16="http://schemas.microsoft.com/office/drawing/2014/main" val="1416290991"/>
                    </a:ext>
                  </a:extLst>
                </a:gridCol>
                <a:gridCol w="5040146">
                  <a:extLst>
                    <a:ext uri="{9D8B030D-6E8A-4147-A177-3AD203B41FA5}">
                      <a16:colId xmlns:a16="http://schemas.microsoft.com/office/drawing/2014/main" val="241493819"/>
                    </a:ext>
                  </a:extLst>
                </a:gridCol>
              </a:tblGrid>
              <a:tr h="1721294">
                <a:tc rowSpan="2">
                  <a:txBody>
                    <a:bodyPr/>
                    <a:lstStyle/>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خدمات مشاوره مدیریت برای آماده‌سازی و ساختاربندی کسب‌وکار بین‌المللی.</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خدمات حقوقی بین‌المللی و ساختاردهی حقوقی همکاری.</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خدمات مالی، حسابداری، حسابرسی و ساختاردهی مالی.</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خدمات تأمین مالی و اتصال به منابع سرمایه.</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خدمات مربوط به صادرات، گمرک، استاندارد و انطباق.</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خدمات ارزیابی و حفاظت از مالکیت فکری و برند.</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ارائه خدمات تخصصی از طریق شبکه‌ای از </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Partner</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های حرفه‌ای.</a:t>
                      </a:r>
                    </a:p>
                  </a:txBody>
                  <a:tcPr anchor="ctr">
                    <a:lnR w="6350" cap="flat" cmpd="sng" algn="ctr">
                      <a:solidFill>
                        <a:srgbClr val="F0BE0F"/>
                      </a:solidFill>
                      <a:prstDash val="solid"/>
                      <a:round/>
                      <a:headEnd type="none" w="med" len="med"/>
                      <a:tailEnd type="none" w="med" len="med"/>
                    </a:lnR>
                    <a:solidFill>
                      <a:schemeClr val="bg1">
                        <a:lumMod val="65000"/>
                        <a:alpha val="10000"/>
                      </a:schemeClr>
                    </a:solidFill>
                  </a:tcPr>
                </a:tc>
                <a:tc>
                  <a:txBody>
                    <a:bodyPr/>
                    <a:lstStyle/>
                    <a:p>
                      <a:pPr marL="171450" indent="-171450" algn="r" rtl="1">
                        <a:lnSpc>
                          <a:spcPct val="10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نیاز شرکت به ایجاد تمام قابلیت‌های تخصصی موردنیاز در داخل سازمان را کاهش می‌دهد.</a:t>
                      </a:r>
                    </a:p>
                    <a:p>
                      <a:pPr marL="171450" indent="-171450" algn="r" rtl="1">
                        <a:lnSpc>
                          <a:spcPct val="10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شکاف دانش حقوقی، مالی، حسابرسی و عملیاتی شرکت را پوشش می‌دهد.</a:t>
                      </a:r>
                    </a:p>
                    <a:p>
                      <a:pPr marL="171450" indent="-171450" algn="r" rtl="1">
                        <a:lnSpc>
                          <a:spcPct val="10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هزینه و زمان یافتن و مدیریت چندین ارائه‌دهنده تخصصی را کاهش می‌دهد.</a:t>
                      </a:r>
                    </a:p>
                    <a:p>
                      <a:pPr marL="171450" indent="-171450" algn="r" rtl="1">
                        <a:lnSpc>
                          <a:spcPct val="10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ریسک استفاده از ارائه‌دهندگان خدمات نامناسب یا فاقد تجربه بین‌المللی را کاهش می‌دهد.</a:t>
                      </a:r>
                    </a:p>
                    <a:p>
                      <a:pPr marL="171450" indent="-171450" algn="r" rtl="1">
                        <a:lnSpc>
                          <a:spcPct val="10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موانع مالی و ساختاری اجرای پروژه‌های توسعه‌ای را کاهش می‌دهد.</a:t>
                      </a:r>
                    </a:p>
                    <a:p>
                      <a:pPr marL="171450" indent="-171450" algn="r" rtl="1">
                        <a:lnSpc>
                          <a:spcPct val="10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فشار ناشی از تأمین تمام منابع و قابلیت‌های موردنیاز از منابع داخلی شرکت را کاهش می‌دهد.</a:t>
                      </a:r>
                    </a:p>
                  </a:txBody>
                  <a:tcPr anchor="ctr">
                    <a:lnL w="6350" cap="flat" cmpd="sng" algn="ctr">
                      <a:solidFill>
                        <a:srgbClr val="F0BE0F"/>
                      </a:solidFill>
                      <a:prstDash val="solid"/>
                      <a:round/>
                      <a:headEnd type="none" w="med" len="med"/>
                      <a:tailEnd type="none" w="med" len="med"/>
                    </a:lnL>
                    <a:lnB w="6350" cap="flat" cmpd="sng" algn="ctr">
                      <a:solidFill>
                        <a:srgbClr val="F0BE0F"/>
                      </a:solidFill>
                      <a:prstDash val="solid"/>
                      <a:round/>
                      <a:headEnd type="none" w="med" len="med"/>
                      <a:tailEnd type="none" w="med" len="med"/>
                    </a:lnB>
                    <a:solidFill>
                      <a:srgbClr val="C00000">
                        <a:alpha val="3000"/>
                      </a:srgbClr>
                    </a:solidFill>
                  </a:tcPr>
                </a:tc>
                <a:extLst>
                  <a:ext uri="{0D108BD9-81ED-4DB2-BD59-A6C34878D82A}">
                    <a16:rowId xmlns:a16="http://schemas.microsoft.com/office/drawing/2014/main" val="2675777916"/>
                  </a:ext>
                </a:extLst>
              </a:tr>
              <a:tr h="1721294">
                <a:tc vMerge="1">
                  <a:txBody>
                    <a:bodyPr/>
                    <a:lstStyle/>
                    <a:p>
                      <a:endParaRPr lang="en-US"/>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دسترسی هم‌زمان به مجموعه‌ای از قابلیت‌های تخصصی بدون نیاز به ساخت همه آن‌ها در داخل شرکت ایجاد می‌کند.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آمادگی شرکت برای ورود به معامله یا بازار خارجی را افزایش می‌دهد.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امکان استفاده از منابع مالی و تخصصی متناسب با نیاز هر فرصت را فراهم می‌کند.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ظرفیت شرکت برای اجرای پروژه‌های بزرگ‌تر و پیچیده‌تر را افزایش می‌دهد.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امکان تبدیل قابلیت‌های پراکنده به یک بسته اجرایی متناسب با فرصت را ایجاد می‌کند.</a:t>
                      </a:r>
                    </a:p>
                    <a:p>
                      <a:pPr marL="0" indent="0" algn="r" rtl="1">
                        <a:lnSpc>
                          <a:spcPct val="150000"/>
                        </a:lnSpc>
                        <a:buClr>
                          <a:schemeClr val="accent1"/>
                        </a:buClr>
                        <a:buFont typeface="Arial" panose="020B0604020202020204" pitchFamily="34" charset="0"/>
                        <a:buNone/>
                      </a:pPr>
                      <a:endParaRPr lang="fa-IR" sz="1000" b="0" kern="1200" dirty="0">
                        <a:solidFill>
                          <a:schemeClr val="tx1">
                            <a:lumMod val="75000"/>
                            <a:lumOff val="25000"/>
                          </a:schemeClr>
                        </a:solidFill>
                        <a:latin typeface="Yekan Bakh" pitchFamily="2" charset="-78"/>
                        <a:ea typeface="Yekan Bakh" pitchFamily="2" charset="-78"/>
                        <a:cs typeface="Yekan Bakh" pitchFamily="2" charset="-78"/>
                      </a:endParaRPr>
                    </a:p>
                  </a:txBody>
                  <a:tcPr anchor="ctr">
                    <a:lnL w="6350" cap="flat" cmpd="sng" algn="ctr">
                      <a:solidFill>
                        <a:srgbClr val="F0BE0F"/>
                      </a:solidFill>
                      <a:prstDash val="solid"/>
                      <a:round/>
                      <a:headEnd type="none" w="med" len="med"/>
                      <a:tailEnd type="none" w="med" len="med"/>
                    </a:lnL>
                    <a:lnT w="6350" cap="flat" cmpd="sng" algn="ctr">
                      <a:solidFill>
                        <a:srgbClr val="F0BE0F"/>
                      </a:solidFill>
                      <a:prstDash val="solid"/>
                      <a:round/>
                      <a:headEnd type="none" w="med" len="med"/>
                      <a:tailEnd type="none" w="med" len="med"/>
                    </a:lnT>
                    <a:solidFill>
                      <a:schemeClr val="accent1">
                        <a:alpha val="4000"/>
                      </a:schemeClr>
                    </a:solidFill>
                  </a:tcPr>
                </a:tc>
                <a:extLst>
                  <a:ext uri="{0D108BD9-81ED-4DB2-BD59-A6C34878D82A}">
                    <a16:rowId xmlns:a16="http://schemas.microsoft.com/office/drawing/2014/main" val="1388272330"/>
                  </a:ext>
                </a:extLst>
              </a:tr>
            </a:tbl>
          </a:graphicData>
        </a:graphic>
      </p:graphicFrame>
      <p:sp>
        <p:nvSpPr>
          <p:cNvPr id="9" name="TextBox 8">
            <a:extLst>
              <a:ext uri="{FF2B5EF4-FFF2-40B4-BE49-F238E27FC236}">
                <a16:creationId xmlns:a16="http://schemas.microsoft.com/office/drawing/2014/main" id="{40BABF86-2CB5-85C0-A24A-226316C74D9E}"/>
              </a:ext>
            </a:extLst>
          </p:cNvPr>
          <p:cNvSpPr txBox="1"/>
          <p:nvPr/>
        </p:nvSpPr>
        <p:spPr>
          <a:xfrm>
            <a:off x="9378405" y="1895264"/>
            <a:ext cx="1513266" cy="369332"/>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b="1" i="0" u="none" strike="noStrike" kern="1200" cap="none" spc="0" normalizeH="0" baseline="0" noProof="0" dirty="0">
                <a:ln>
                  <a:noFill/>
                </a:ln>
                <a:solidFill>
                  <a:srgbClr val="C00000"/>
                </a:solidFill>
                <a:effectLst/>
                <a:uLnTx/>
                <a:uFillTx/>
                <a:latin typeface="Yekan Bakh" pitchFamily="2" charset="-78"/>
                <a:ea typeface="Yekan Bakh" pitchFamily="2" charset="-78"/>
                <a:cs typeface="Yekan Bakh" pitchFamily="2" charset="-78"/>
              </a:rPr>
              <a:t>دردسرگاه‌ها</a:t>
            </a:r>
          </a:p>
        </p:txBody>
      </p:sp>
      <p:sp>
        <p:nvSpPr>
          <p:cNvPr id="10" name="TextBox 9">
            <a:extLst>
              <a:ext uri="{FF2B5EF4-FFF2-40B4-BE49-F238E27FC236}">
                <a16:creationId xmlns:a16="http://schemas.microsoft.com/office/drawing/2014/main" id="{06CA886B-34AC-D0A3-7B9F-A8D146C70E78}"/>
              </a:ext>
            </a:extLst>
          </p:cNvPr>
          <p:cNvSpPr txBox="1"/>
          <p:nvPr/>
        </p:nvSpPr>
        <p:spPr>
          <a:xfrm>
            <a:off x="9378405" y="5306160"/>
            <a:ext cx="1513266" cy="369332"/>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b="1" i="0" u="none" strike="noStrike" kern="1200" cap="none" spc="0" normalizeH="0" baseline="0" noProof="0" dirty="0">
                <a:ln>
                  <a:noFill/>
                </a:ln>
                <a:solidFill>
                  <a:schemeClr val="accent1"/>
                </a:solidFill>
                <a:effectLst/>
                <a:uLnTx/>
                <a:uFillTx/>
                <a:latin typeface="Yekan Bakh" pitchFamily="2" charset="-78"/>
                <a:ea typeface="Yekan Bakh" pitchFamily="2" charset="-78"/>
                <a:cs typeface="Yekan Bakh" pitchFamily="2" charset="-78"/>
              </a:rPr>
              <a:t>منفعت‌سازها</a:t>
            </a:r>
          </a:p>
        </p:txBody>
      </p:sp>
      <p:sp>
        <p:nvSpPr>
          <p:cNvPr id="11" name="TextBox 10">
            <a:extLst>
              <a:ext uri="{FF2B5EF4-FFF2-40B4-BE49-F238E27FC236}">
                <a16:creationId xmlns:a16="http://schemas.microsoft.com/office/drawing/2014/main" id="{5BF62BE2-2997-9A5E-37F3-6DF35A19F858}"/>
              </a:ext>
            </a:extLst>
          </p:cNvPr>
          <p:cNvSpPr txBox="1"/>
          <p:nvPr/>
        </p:nvSpPr>
        <p:spPr>
          <a:xfrm>
            <a:off x="827835" y="1876792"/>
            <a:ext cx="1513266" cy="369332"/>
          </a:xfrm>
          <a:prstGeom prst="rect">
            <a:avLst/>
          </a:prstGeom>
          <a:noFill/>
        </p:spPr>
        <p:txBody>
          <a:bodyPr wrap="square">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fa-IR" b="1" i="0" u="none" strike="noStrike" kern="1200" cap="none" spc="0" normalizeH="0" baseline="0" noProof="0" dirty="0">
                <a:ln>
                  <a:noFill/>
                </a:ln>
                <a:solidFill>
                  <a:schemeClr val="tx1">
                    <a:lumMod val="50000"/>
                    <a:lumOff val="50000"/>
                  </a:schemeClr>
                </a:solidFill>
                <a:effectLst/>
                <a:uLnTx/>
                <a:uFillTx/>
                <a:latin typeface="Yekan Bakh" pitchFamily="2" charset="-78"/>
                <a:ea typeface="Yekan Bakh" pitchFamily="2" charset="-78"/>
                <a:cs typeface="Yekan Bakh" pitchFamily="2" charset="-78"/>
              </a:rPr>
              <a:t>محصولات</a:t>
            </a:r>
          </a:p>
        </p:txBody>
      </p:sp>
    </p:spTree>
    <p:extLst>
      <p:ext uri="{BB962C8B-B14F-4D97-AF65-F5344CB8AC3E}">
        <p14:creationId xmlns:p14="http://schemas.microsoft.com/office/powerpoint/2010/main" val="223867533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52EBA-008C-3C78-E4BC-E2749D09A9E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191CDA0-8BC9-183F-8402-FCA17DBC226B}"/>
              </a:ext>
            </a:extLst>
          </p:cNvPr>
          <p:cNvSpPr>
            <a:spLocks noGrp="1"/>
          </p:cNvSpPr>
          <p:nvPr>
            <p:ph type="body" sz="quarter" idx="10"/>
          </p:nvPr>
        </p:nvSpPr>
        <p:spPr>
          <a:xfrm>
            <a:off x="4753689" y="256653"/>
            <a:ext cx="6489884" cy="250047"/>
          </a:xfrm>
        </p:spPr>
        <p:txBody>
          <a:bodyPr/>
          <a:lstStyle/>
          <a:p>
            <a:r>
              <a:rPr lang="fa-IR"/>
              <a:t>نقشه ارزش (محصولات، دردسرکاه‌ها و منفعت‌سازها) بر اساس چهار محرک خلق ارزش </a:t>
            </a:r>
          </a:p>
        </p:txBody>
      </p:sp>
      <p:sp>
        <p:nvSpPr>
          <p:cNvPr id="3" name="Text Placeholder 2">
            <a:extLst>
              <a:ext uri="{FF2B5EF4-FFF2-40B4-BE49-F238E27FC236}">
                <a16:creationId xmlns:a16="http://schemas.microsoft.com/office/drawing/2014/main" id="{A8EF0DE7-96FE-EDDE-6DA2-D85365500E5D}"/>
              </a:ext>
            </a:extLst>
          </p:cNvPr>
          <p:cNvSpPr>
            <a:spLocks noGrp="1"/>
          </p:cNvSpPr>
          <p:nvPr>
            <p:ph type="body" sz="quarter" idx="12"/>
          </p:nvPr>
        </p:nvSpPr>
        <p:spPr/>
        <p:txBody>
          <a:bodyPr/>
          <a:lstStyle/>
          <a:p>
            <a:r>
              <a:rPr lang="fa-IR" dirty="0"/>
              <a:t>کسب‌وکار تراز ایرانی </a:t>
            </a:r>
          </a:p>
        </p:txBody>
      </p:sp>
      <p:sp>
        <p:nvSpPr>
          <p:cNvPr id="4" name="Rectangle: Rounded Corners 3">
            <a:extLst>
              <a:ext uri="{FF2B5EF4-FFF2-40B4-BE49-F238E27FC236}">
                <a16:creationId xmlns:a16="http://schemas.microsoft.com/office/drawing/2014/main" id="{5B0E8854-3ECA-2CA5-92B9-0253865588F9}"/>
              </a:ext>
            </a:extLst>
          </p:cNvPr>
          <p:cNvSpPr/>
          <p:nvPr/>
        </p:nvSpPr>
        <p:spPr>
          <a:xfrm>
            <a:off x="8595360" y="1282807"/>
            <a:ext cx="2296311" cy="363736"/>
          </a:xfrm>
          <a:prstGeom prst="roundRect">
            <a:avLst/>
          </a:prstGeom>
          <a:solidFill>
            <a:srgbClr val="004D80">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هوشمندی و اعتبارسنجی فرصت</a:t>
            </a:r>
          </a:p>
        </p:txBody>
      </p:sp>
      <p:sp>
        <p:nvSpPr>
          <p:cNvPr id="5" name="Rectangle: Rounded Corners 4">
            <a:extLst>
              <a:ext uri="{FF2B5EF4-FFF2-40B4-BE49-F238E27FC236}">
                <a16:creationId xmlns:a16="http://schemas.microsoft.com/office/drawing/2014/main" id="{5159FD0F-461D-7BCE-61C0-D1ED60830316}"/>
              </a:ext>
            </a:extLst>
          </p:cNvPr>
          <p:cNvSpPr/>
          <p:nvPr/>
        </p:nvSpPr>
        <p:spPr>
          <a:xfrm>
            <a:off x="6000699" y="1282807"/>
            <a:ext cx="2296311" cy="363736"/>
          </a:xfrm>
          <a:prstGeom prst="roundRect">
            <a:avLst/>
          </a:prstGeom>
          <a:solidFill>
            <a:srgbClr val="004D80">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ایجاد دسترسی مورداعتماد </a:t>
            </a:r>
          </a:p>
        </p:txBody>
      </p:sp>
      <p:sp>
        <p:nvSpPr>
          <p:cNvPr id="6" name="Rectangle: Rounded Corners 5">
            <a:extLst>
              <a:ext uri="{FF2B5EF4-FFF2-40B4-BE49-F238E27FC236}">
                <a16:creationId xmlns:a16="http://schemas.microsoft.com/office/drawing/2014/main" id="{90D8B685-5228-1546-2B5D-09289252FDA5}"/>
              </a:ext>
            </a:extLst>
          </p:cNvPr>
          <p:cNvSpPr/>
          <p:nvPr/>
        </p:nvSpPr>
        <p:spPr>
          <a:xfrm>
            <a:off x="3406039" y="1282807"/>
            <a:ext cx="2296311" cy="363736"/>
          </a:xfrm>
          <a:prstGeom prst="roundRect">
            <a:avLst/>
          </a:prstGeom>
          <a:solidFill>
            <a:srgbClr val="004D80">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a:ln>
                  <a:noFill/>
                </a:ln>
                <a:solidFill>
                  <a:schemeClr val="bg1"/>
                </a:solidFill>
                <a:effectLst/>
                <a:uLnTx/>
                <a:uFillTx/>
                <a:latin typeface="Yekan Bakh" pitchFamily="2" charset="-78"/>
                <a:ea typeface="Yekan Bakh" pitchFamily="2" charset="-78"/>
                <a:cs typeface="Yekan Bakh" pitchFamily="2" charset="-78"/>
              </a:rPr>
              <a:t>تأمین و فعال‌سازی منابع و قابلیت‌ها</a:t>
            </a:r>
          </a:p>
        </p:txBody>
      </p:sp>
      <p:sp>
        <p:nvSpPr>
          <p:cNvPr id="7" name="Rectangle: Rounded Corners 6">
            <a:extLst>
              <a:ext uri="{FF2B5EF4-FFF2-40B4-BE49-F238E27FC236}">
                <a16:creationId xmlns:a16="http://schemas.microsoft.com/office/drawing/2014/main" id="{E3862702-521E-3690-8888-AE9726A15407}"/>
              </a:ext>
            </a:extLst>
          </p:cNvPr>
          <p:cNvSpPr/>
          <p:nvPr/>
        </p:nvSpPr>
        <p:spPr>
          <a:xfrm>
            <a:off x="811379" y="1282807"/>
            <a:ext cx="2296311" cy="363736"/>
          </a:xfrm>
          <a:prstGeom prst="roundRect">
            <a:avLst/>
          </a:prstGeom>
          <a:solidFill>
            <a:srgbClr val="F0BE0F">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هماهنگ‌سازی و تبدیل فرصت به نتیجه</a:t>
            </a:r>
          </a:p>
        </p:txBody>
      </p:sp>
      <p:graphicFrame>
        <p:nvGraphicFramePr>
          <p:cNvPr id="8" name="Table 7">
            <a:extLst>
              <a:ext uri="{FF2B5EF4-FFF2-40B4-BE49-F238E27FC236}">
                <a16:creationId xmlns:a16="http://schemas.microsoft.com/office/drawing/2014/main" id="{9F8B662B-430B-EEAF-B6AB-6AAE9BDEC1E1}"/>
              </a:ext>
            </a:extLst>
          </p:cNvPr>
          <p:cNvGraphicFramePr>
            <a:graphicFrameLocks noGrp="1"/>
          </p:cNvGraphicFramePr>
          <p:nvPr>
            <p:extLst>
              <p:ext uri="{D42A27DB-BD31-4B8C-83A1-F6EECF244321}">
                <p14:modId xmlns:p14="http://schemas.microsoft.com/office/powerpoint/2010/main" val="753496273"/>
              </p:ext>
            </p:extLst>
          </p:nvPr>
        </p:nvGraphicFramePr>
        <p:xfrm>
          <a:off x="811379" y="2098582"/>
          <a:ext cx="10080292" cy="3442588"/>
        </p:xfrm>
        <a:graphic>
          <a:graphicData uri="http://schemas.openxmlformats.org/drawingml/2006/table">
            <a:tbl>
              <a:tblPr firstRow="1" bandRow="1">
                <a:tableStyleId>{5C22544A-7EE6-4342-B048-85BDC9FD1C3A}</a:tableStyleId>
              </a:tblPr>
              <a:tblGrid>
                <a:gridCol w="5040146">
                  <a:extLst>
                    <a:ext uri="{9D8B030D-6E8A-4147-A177-3AD203B41FA5}">
                      <a16:colId xmlns:a16="http://schemas.microsoft.com/office/drawing/2014/main" val="1416290991"/>
                    </a:ext>
                  </a:extLst>
                </a:gridCol>
                <a:gridCol w="5040146">
                  <a:extLst>
                    <a:ext uri="{9D8B030D-6E8A-4147-A177-3AD203B41FA5}">
                      <a16:colId xmlns:a16="http://schemas.microsoft.com/office/drawing/2014/main" val="241493819"/>
                    </a:ext>
                  </a:extLst>
                </a:gridCol>
              </a:tblGrid>
              <a:tr h="1721294">
                <a:tc rowSpan="2">
                  <a:txBody>
                    <a:bodyPr/>
                    <a:lstStyle/>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مدیریت و هماهنگی </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End-to-End</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 فرآیند معامله یا همکاری.</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هماهنگی میان </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Partner</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های حقوقی، مالی، حسابرسی، مشاوره، صادرات و سایر ارائه‌دهندگان تخصصی.</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مدیریت فرآیند مذاکره، ساختاردهی، قرارداد و اجرای معامله.</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پایش اجرای تعهدات و رابطه تجاری پس از قرارداد.</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مدیریت رابطه برای تبدیل معامله اول به معاملات تکراری.</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طراحی و مدیریت مسیر ادامه همکاری یا توسعه رابطه تجاری در بازار مقصد.</a:t>
                      </a:r>
                    </a:p>
                  </a:txBody>
                  <a:tcPr anchor="ctr">
                    <a:lnR w="6350" cap="flat" cmpd="sng" algn="ctr">
                      <a:solidFill>
                        <a:srgbClr val="F0BE0F"/>
                      </a:solidFill>
                      <a:prstDash val="solid"/>
                      <a:round/>
                      <a:headEnd type="none" w="med" len="med"/>
                      <a:tailEnd type="none" w="med" len="med"/>
                    </a:lnR>
                    <a:solidFill>
                      <a:schemeClr val="bg1">
                        <a:lumMod val="65000"/>
                        <a:alpha val="10000"/>
                      </a:schemeClr>
                    </a:solidFill>
                  </a:tcPr>
                </a:tc>
                <a:tc>
                  <a:txBody>
                    <a:bodyPr/>
                    <a:lstStyle/>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پراکندگی مسئولیت میان چند مشاور و ارائه‌دهنده خدمت را کاهش می‌دهد.</a:t>
                      </a:r>
                    </a:p>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نیاز مدیر شرکت به هماهنگی مستقیم چندین </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Partner</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 را کاهش می‌دهد.</a:t>
                      </a:r>
                    </a:p>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اصطکاک میان مراحل مختلف معامله، از معرفی تا قرارداد و اجرا را کاهش می‌دهد.</a:t>
                      </a:r>
                    </a:p>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ریسک متوقف‌شدن فرصت در فاصله میان مذاکره و اجرا را کاهش می‌دهد.</a:t>
                      </a:r>
                    </a:p>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احتمال از بین رفتن رابطه پس از اولین معامله را کاهش می‌دهد.</a:t>
                      </a:r>
                    </a:p>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هزینه و زمان مدیریت فرآیندهای چندطرفه را کاهش می‌دهد.</a:t>
                      </a:r>
                    </a:p>
                  </a:txBody>
                  <a:tcPr anchor="ctr">
                    <a:lnL w="6350" cap="flat" cmpd="sng" algn="ctr">
                      <a:solidFill>
                        <a:srgbClr val="F0BE0F"/>
                      </a:solidFill>
                      <a:prstDash val="solid"/>
                      <a:round/>
                      <a:headEnd type="none" w="med" len="med"/>
                      <a:tailEnd type="none" w="med" len="med"/>
                    </a:lnL>
                    <a:lnB w="6350" cap="flat" cmpd="sng" algn="ctr">
                      <a:solidFill>
                        <a:srgbClr val="F0BE0F"/>
                      </a:solidFill>
                      <a:prstDash val="solid"/>
                      <a:round/>
                      <a:headEnd type="none" w="med" len="med"/>
                      <a:tailEnd type="none" w="med" len="med"/>
                    </a:lnB>
                    <a:solidFill>
                      <a:srgbClr val="C00000">
                        <a:alpha val="3000"/>
                      </a:srgbClr>
                    </a:solidFill>
                  </a:tcPr>
                </a:tc>
                <a:extLst>
                  <a:ext uri="{0D108BD9-81ED-4DB2-BD59-A6C34878D82A}">
                    <a16:rowId xmlns:a16="http://schemas.microsoft.com/office/drawing/2014/main" val="2675777916"/>
                  </a:ext>
                </a:extLst>
              </a:tr>
              <a:tr h="1721294">
                <a:tc vMerge="1">
                  <a:txBody>
                    <a:bodyPr/>
                    <a:lstStyle/>
                    <a:p>
                      <a:endParaRPr lang="en-US"/>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فرصت شناسایی‌شده را به معامله واقعی و قابل‌اجرا تبدیل می‌کند.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زمان رسیدن از فرصت به نتیجه اقتصادی را کاهش می‌دهد.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امکان اجرای یک معامله پیچیده با یک نقطه هماهنگی مشخص را فراهم می‌کند.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احتمال تکرار معامله و تبدیل آن به رابطه تجاری بلندمدت را افزایش می‌دهد.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جریان درآمد پایدارتر و قابل‌تکرارتری برای شرکت ایجاد می‌کند. </a:t>
                      </a:r>
                    </a:p>
                    <a:p>
                      <a:pPr marL="0" indent="0" algn="r" rtl="1">
                        <a:lnSpc>
                          <a:spcPct val="150000"/>
                        </a:lnSpc>
                        <a:buClr>
                          <a:schemeClr val="accent1"/>
                        </a:buClr>
                        <a:buFont typeface="Arial" panose="020B0604020202020204" pitchFamily="34" charset="0"/>
                        <a:buNone/>
                      </a:pPr>
                      <a:endParaRPr lang="fa-IR" sz="1000" b="0" kern="1200" dirty="0">
                        <a:solidFill>
                          <a:schemeClr val="tx1">
                            <a:lumMod val="75000"/>
                            <a:lumOff val="25000"/>
                          </a:schemeClr>
                        </a:solidFill>
                        <a:latin typeface="Yekan Bakh" pitchFamily="2" charset="-78"/>
                        <a:ea typeface="Yekan Bakh" pitchFamily="2" charset="-78"/>
                        <a:cs typeface="Yekan Bakh" pitchFamily="2" charset="-78"/>
                      </a:endParaRPr>
                    </a:p>
                  </a:txBody>
                  <a:tcPr anchor="ctr">
                    <a:lnL w="6350" cap="flat" cmpd="sng" algn="ctr">
                      <a:solidFill>
                        <a:srgbClr val="F0BE0F"/>
                      </a:solidFill>
                      <a:prstDash val="solid"/>
                      <a:round/>
                      <a:headEnd type="none" w="med" len="med"/>
                      <a:tailEnd type="none" w="med" len="med"/>
                    </a:lnL>
                    <a:lnT w="6350" cap="flat" cmpd="sng" algn="ctr">
                      <a:solidFill>
                        <a:srgbClr val="F0BE0F"/>
                      </a:solidFill>
                      <a:prstDash val="solid"/>
                      <a:round/>
                      <a:headEnd type="none" w="med" len="med"/>
                      <a:tailEnd type="none" w="med" len="med"/>
                    </a:lnT>
                    <a:solidFill>
                      <a:schemeClr val="accent1">
                        <a:alpha val="4000"/>
                      </a:schemeClr>
                    </a:solidFill>
                  </a:tcPr>
                </a:tc>
                <a:extLst>
                  <a:ext uri="{0D108BD9-81ED-4DB2-BD59-A6C34878D82A}">
                    <a16:rowId xmlns:a16="http://schemas.microsoft.com/office/drawing/2014/main" val="1388272330"/>
                  </a:ext>
                </a:extLst>
              </a:tr>
            </a:tbl>
          </a:graphicData>
        </a:graphic>
      </p:graphicFrame>
      <p:sp>
        <p:nvSpPr>
          <p:cNvPr id="9" name="TextBox 8">
            <a:extLst>
              <a:ext uri="{FF2B5EF4-FFF2-40B4-BE49-F238E27FC236}">
                <a16:creationId xmlns:a16="http://schemas.microsoft.com/office/drawing/2014/main" id="{C13F2D60-C771-E6B7-80A3-36DAA36D6C25}"/>
              </a:ext>
            </a:extLst>
          </p:cNvPr>
          <p:cNvSpPr txBox="1"/>
          <p:nvPr/>
        </p:nvSpPr>
        <p:spPr>
          <a:xfrm>
            <a:off x="9378405" y="1895264"/>
            <a:ext cx="1513266" cy="369332"/>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b="1" i="0" u="none" strike="noStrike" kern="1200" cap="none" spc="0" normalizeH="0" baseline="0" noProof="0" dirty="0">
                <a:ln>
                  <a:noFill/>
                </a:ln>
                <a:solidFill>
                  <a:srgbClr val="C00000"/>
                </a:solidFill>
                <a:effectLst/>
                <a:uLnTx/>
                <a:uFillTx/>
                <a:latin typeface="Yekan Bakh" pitchFamily="2" charset="-78"/>
                <a:ea typeface="Yekan Bakh" pitchFamily="2" charset="-78"/>
                <a:cs typeface="Yekan Bakh" pitchFamily="2" charset="-78"/>
              </a:rPr>
              <a:t>دردسرگاه‌ها</a:t>
            </a:r>
          </a:p>
        </p:txBody>
      </p:sp>
      <p:sp>
        <p:nvSpPr>
          <p:cNvPr id="10" name="TextBox 9">
            <a:extLst>
              <a:ext uri="{FF2B5EF4-FFF2-40B4-BE49-F238E27FC236}">
                <a16:creationId xmlns:a16="http://schemas.microsoft.com/office/drawing/2014/main" id="{D254A372-6A35-1954-552A-42E82280E625}"/>
              </a:ext>
            </a:extLst>
          </p:cNvPr>
          <p:cNvSpPr txBox="1"/>
          <p:nvPr/>
        </p:nvSpPr>
        <p:spPr>
          <a:xfrm>
            <a:off x="9378405" y="5306160"/>
            <a:ext cx="1513266" cy="369332"/>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b="1" i="0" u="none" strike="noStrike" kern="1200" cap="none" spc="0" normalizeH="0" baseline="0" noProof="0" dirty="0">
                <a:ln>
                  <a:noFill/>
                </a:ln>
                <a:solidFill>
                  <a:schemeClr val="accent1"/>
                </a:solidFill>
                <a:effectLst/>
                <a:uLnTx/>
                <a:uFillTx/>
                <a:latin typeface="Yekan Bakh" pitchFamily="2" charset="-78"/>
                <a:ea typeface="Yekan Bakh" pitchFamily="2" charset="-78"/>
                <a:cs typeface="Yekan Bakh" pitchFamily="2" charset="-78"/>
              </a:rPr>
              <a:t>منفعت‌سازها</a:t>
            </a:r>
          </a:p>
        </p:txBody>
      </p:sp>
      <p:sp>
        <p:nvSpPr>
          <p:cNvPr id="11" name="TextBox 10">
            <a:extLst>
              <a:ext uri="{FF2B5EF4-FFF2-40B4-BE49-F238E27FC236}">
                <a16:creationId xmlns:a16="http://schemas.microsoft.com/office/drawing/2014/main" id="{EDF18C97-D5F1-EC5C-415D-A697A215AB48}"/>
              </a:ext>
            </a:extLst>
          </p:cNvPr>
          <p:cNvSpPr txBox="1"/>
          <p:nvPr/>
        </p:nvSpPr>
        <p:spPr>
          <a:xfrm>
            <a:off x="827835" y="1876792"/>
            <a:ext cx="1513266" cy="369332"/>
          </a:xfrm>
          <a:prstGeom prst="rect">
            <a:avLst/>
          </a:prstGeom>
          <a:noFill/>
        </p:spPr>
        <p:txBody>
          <a:bodyPr wrap="square">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fa-IR" b="1" i="0" u="none" strike="noStrike" kern="1200" cap="none" spc="0" normalizeH="0" baseline="0" noProof="0" dirty="0">
                <a:ln>
                  <a:noFill/>
                </a:ln>
                <a:solidFill>
                  <a:schemeClr val="tx1">
                    <a:lumMod val="50000"/>
                    <a:lumOff val="50000"/>
                  </a:schemeClr>
                </a:solidFill>
                <a:effectLst/>
                <a:uLnTx/>
                <a:uFillTx/>
                <a:latin typeface="Yekan Bakh" pitchFamily="2" charset="-78"/>
                <a:ea typeface="Yekan Bakh" pitchFamily="2" charset="-78"/>
                <a:cs typeface="Yekan Bakh" pitchFamily="2" charset="-78"/>
              </a:rPr>
              <a:t>محصولات</a:t>
            </a:r>
          </a:p>
        </p:txBody>
      </p:sp>
    </p:spTree>
    <p:extLst>
      <p:ext uri="{BB962C8B-B14F-4D97-AF65-F5344CB8AC3E}">
        <p14:creationId xmlns:p14="http://schemas.microsoft.com/office/powerpoint/2010/main" val="338189391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EF481-7F10-3EFE-7C2F-54C25693732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28DDA13-0968-CB43-FA4E-A76B0CF9054A}"/>
              </a:ext>
            </a:extLst>
          </p:cNvPr>
          <p:cNvSpPr>
            <a:spLocks noGrp="1"/>
          </p:cNvSpPr>
          <p:nvPr>
            <p:ph type="body" sz="quarter" idx="10"/>
          </p:nvPr>
        </p:nvSpPr>
        <p:spPr>
          <a:xfrm>
            <a:off x="4753689" y="256653"/>
            <a:ext cx="6489884" cy="250047"/>
          </a:xfrm>
        </p:spPr>
        <p:txBody>
          <a:bodyPr/>
          <a:lstStyle/>
          <a:p>
            <a:r>
              <a:rPr lang="fa-IR"/>
              <a:t>نقشه ارزش (محصولات، دردسرکاه‌ها و منفعت‌سازها) بر اساس چهار محرک خلق ارزش </a:t>
            </a:r>
          </a:p>
        </p:txBody>
      </p:sp>
      <p:sp>
        <p:nvSpPr>
          <p:cNvPr id="3" name="Text Placeholder 2">
            <a:extLst>
              <a:ext uri="{FF2B5EF4-FFF2-40B4-BE49-F238E27FC236}">
                <a16:creationId xmlns:a16="http://schemas.microsoft.com/office/drawing/2014/main" id="{4A2B7606-94B6-0A8E-30F0-DB0D89041F66}"/>
              </a:ext>
            </a:extLst>
          </p:cNvPr>
          <p:cNvSpPr>
            <a:spLocks noGrp="1"/>
          </p:cNvSpPr>
          <p:nvPr>
            <p:ph type="body" sz="quarter" idx="12"/>
          </p:nvPr>
        </p:nvSpPr>
        <p:spPr/>
        <p:txBody>
          <a:bodyPr/>
          <a:lstStyle/>
          <a:p>
            <a:r>
              <a:rPr lang="fa-IR" dirty="0"/>
              <a:t>کسب‌وکار تراز خارجی</a:t>
            </a:r>
          </a:p>
        </p:txBody>
      </p:sp>
      <p:sp>
        <p:nvSpPr>
          <p:cNvPr id="4" name="Rectangle: Rounded Corners 3">
            <a:extLst>
              <a:ext uri="{FF2B5EF4-FFF2-40B4-BE49-F238E27FC236}">
                <a16:creationId xmlns:a16="http://schemas.microsoft.com/office/drawing/2014/main" id="{CEDDD553-6E6C-6D85-7297-750E073BC7F1}"/>
              </a:ext>
            </a:extLst>
          </p:cNvPr>
          <p:cNvSpPr/>
          <p:nvPr/>
        </p:nvSpPr>
        <p:spPr>
          <a:xfrm>
            <a:off x="8595360" y="1282807"/>
            <a:ext cx="2296311" cy="363736"/>
          </a:xfrm>
          <a:prstGeom prst="roundRect">
            <a:avLst/>
          </a:prstGeom>
          <a:solidFill>
            <a:srgbClr val="F0BE0F">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هوشمندی و اعتبارسنجی فرصت</a:t>
            </a:r>
          </a:p>
        </p:txBody>
      </p:sp>
      <p:sp>
        <p:nvSpPr>
          <p:cNvPr id="5" name="Rectangle: Rounded Corners 4">
            <a:extLst>
              <a:ext uri="{FF2B5EF4-FFF2-40B4-BE49-F238E27FC236}">
                <a16:creationId xmlns:a16="http://schemas.microsoft.com/office/drawing/2014/main" id="{184FB142-0F0E-E4E2-8113-81F5EE775EFA}"/>
              </a:ext>
            </a:extLst>
          </p:cNvPr>
          <p:cNvSpPr/>
          <p:nvPr/>
        </p:nvSpPr>
        <p:spPr>
          <a:xfrm>
            <a:off x="6000699" y="1282807"/>
            <a:ext cx="2296311" cy="363736"/>
          </a:xfrm>
          <a:prstGeom prst="roundRect">
            <a:avLst/>
          </a:prstGeom>
          <a:solidFill>
            <a:srgbClr val="004D80">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ایجاد دسترسی مورداعتماد </a:t>
            </a:r>
          </a:p>
        </p:txBody>
      </p:sp>
      <p:sp>
        <p:nvSpPr>
          <p:cNvPr id="6" name="Rectangle: Rounded Corners 5">
            <a:extLst>
              <a:ext uri="{FF2B5EF4-FFF2-40B4-BE49-F238E27FC236}">
                <a16:creationId xmlns:a16="http://schemas.microsoft.com/office/drawing/2014/main" id="{623E89E2-6035-BCE9-2F68-1BF25E0BFD26}"/>
              </a:ext>
            </a:extLst>
          </p:cNvPr>
          <p:cNvSpPr/>
          <p:nvPr/>
        </p:nvSpPr>
        <p:spPr>
          <a:xfrm>
            <a:off x="3406039" y="1282807"/>
            <a:ext cx="2296311" cy="363736"/>
          </a:xfrm>
          <a:prstGeom prst="roundRect">
            <a:avLst/>
          </a:prstGeom>
          <a:solidFill>
            <a:srgbClr val="004D80">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a:ln>
                  <a:noFill/>
                </a:ln>
                <a:solidFill>
                  <a:schemeClr val="bg1"/>
                </a:solidFill>
                <a:effectLst/>
                <a:uLnTx/>
                <a:uFillTx/>
                <a:latin typeface="Yekan Bakh" pitchFamily="2" charset="-78"/>
                <a:ea typeface="Yekan Bakh" pitchFamily="2" charset="-78"/>
                <a:cs typeface="Yekan Bakh" pitchFamily="2" charset="-78"/>
              </a:rPr>
              <a:t>تأمین و فعال‌سازی منابع و قابلیت‌ها</a:t>
            </a:r>
          </a:p>
        </p:txBody>
      </p:sp>
      <p:sp>
        <p:nvSpPr>
          <p:cNvPr id="7" name="Rectangle: Rounded Corners 6">
            <a:extLst>
              <a:ext uri="{FF2B5EF4-FFF2-40B4-BE49-F238E27FC236}">
                <a16:creationId xmlns:a16="http://schemas.microsoft.com/office/drawing/2014/main" id="{FF7C00F6-7F86-C752-1CB6-E2CED55BA450}"/>
              </a:ext>
            </a:extLst>
          </p:cNvPr>
          <p:cNvSpPr/>
          <p:nvPr/>
        </p:nvSpPr>
        <p:spPr>
          <a:xfrm>
            <a:off x="811379" y="1282807"/>
            <a:ext cx="2296311" cy="363736"/>
          </a:xfrm>
          <a:prstGeom prst="roundRect">
            <a:avLst/>
          </a:prstGeom>
          <a:solidFill>
            <a:srgbClr val="004D80">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هماهنگ‌سازی و تبدیل فرصت به نتیجه</a:t>
            </a:r>
          </a:p>
        </p:txBody>
      </p:sp>
      <p:graphicFrame>
        <p:nvGraphicFramePr>
          <p:cNvPr id="8" name="Table 7">
            <a:extLst>
              <a:ext uri="{FF2B5EF4-FFF2-40B4-BE49-F238E27FC236}">
                <a16:creationId xmlns:a16="http://schemas.microsoft.com/office/drawing/2014/main" id="{BA7A7886-ECA9-1338-B5F1-864918444D89}"/>
              </a:ext>
            </a:extLst>
          </p:cNvPr>
          <p:cNvGraphicFramePr>
            <a:graphicFrameLocks noGrp="1"/>
          </p:cNvGraphicFramePr>
          <p:nvPr>
            <p:extLst>
              <p:ext uri="{D42A27DB-BD31-4B8C-83A1-F6EECF244321}">
                <p14:modId xmlns:p14="http://schemas.microsoft.com/office/powerpoint/2010/main" val="2764456895"/>
              </p:ext>
            </p:extLst>
          </p:nvPr>
        </p:nvGraphicFramePr>
        <p:xfrm>
          <a:off x="811379" y="2098582"/>
          <a:ext cx="10080292" cy="3442588"/>
        </p:xfrm>
        <a:graphic>
          <a:graphicData uri="http://schemas.openxmlformats.org/drawingml/2006/table">
            <a:tbl>
              <a:tblPr firstRow="1" bandRow="1">
                <a:tableStyleId>{5C22544A-7EE6-4342-B048-85BDC9FD1C3A}</a:tableStyleId>
              </a:tblPr>
              <a:tblGrid>
                <a:gridCol w="5040146">
                  <a:extLst>
                    <a:ext uri="{9D8B030D-6E8A-4147-A177-3AD203B41FA5}">
                      <a16:colId xmlns:a16="http://schemas.microsoft.com/office/drawing/2014/main" val="1416290991"/>
                    </a:ext>
                  </a:extLst>
                </a:gridCol>
                <a:gridCol w="5040146">
                  <a:extLst>
                    <a:ext uri="{9D8B030D-6E8A-4147-A177-3AD203B41FA5}">
                      <a16:colId xmlns:a16="http://schemas.microsoft.com/office/drawing/2014/main" val="241493819"/>
                    </a:ext>
                  </a:extLst>
                </a:gridCol>
              </a:tblGrid>
              <a:tr h="1721294">
                <a:tc rowSpan="2">
                  <a:txBody>
                    <a:bodyPr/>
                    <a:lstStyle/>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انجام</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Due Diligence </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 طرف ایرانی و بررسی هویت، مالکیت و سوابق آن.</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بررسی </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Beneficial Ownership</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 و ساختار مالکیت واقعی.</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تحلیل ریسک تحریم، </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Compliance</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 و ریسک قانونی معامله.</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تحلیل شرایط کلان اقتصادی، تورم، نرخ ارز و محیط تأمین مالی ایران.</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ارزیابی کیفیت نهادی، شفافیت محیط کسب‌وکار و قابلیت اجرای قوانین.</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ارزیابی جذابیت و ظرفیت رشد بازار ایران.</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ارزیابی قابلیت اجرایی معامله و سناریوهای ورود و خروج.</a:t>
                      </a:r>
                    </a:p>
                  </a:txBody>
                  <a:tcPr anchor="ctr">
                    <a:lnR w="6350" cap="flat" cmpd="sng" algn="ctr">
                      <a:solidFill>
                        <a:srgbClr val="F0BE0F"/>
                      </a:solidFill>
                      <a:prstDash val="solid"/>
                      <a:round/>
                      <a:headEnd type="none" w="med" len="med"/>
                      <a:tailEnd type="none" w="med" len="med"/>
                    </a:lnR>
                    <a:solidFill>
                      <a:schemeClr val="bg1">
                        <a:lumMod val="65000"/>
                        <a:alpha val="10000"/>
                      </a:schemeClr>
                    </a:solidFill>
                  </a:tcPr>
                </a:tc>
                <a:tc>
                  <a:txBody>
                    <a:bodyPr/>
                    <a:lstStyle/>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ریسک درگیرشدن ناخواسته با اشخاص یا نهادهای تحریم‌شده را کاهش می‌دهد.</a:t>
                      </a:r>
                    </a:p>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ریسک جریمه و مسئولیت قانونی ناشی از معامله را کاهش می‌دهد.</a:t>
                      </a:r>
                    </a:p>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ریسک آسیب شهرت سازمانی را کاهش می‌دهد.</a:t>
                      </a:r>
                    </a:p>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عدم‌قطعیت درباره وضعیت واقعی طرف ایرانی را کاهش می‌دهد.</a:t>
                      </a:r>
                    </a:p>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عدم‌قطعیت درباره شرایط اقتصادی، ارزی و سیاسی بازار را کاهش می‌دهد.</a:t>
                      </a:r>
                    </a:p>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شکاف میان قوانین رسمی و نحوه اجرای واقعی آن‌ها را برای تصمیم‌گیرنده آشکار می‌کند.</a:t>
                      </a:r>
                    </a:p>
                  </a:txBody>
                  <a:tcPr anchor="ctr">
                    <a:lnL w="6350" cap="flat" cmpd="sng" algn="ctr">
                      <a:solidFill>
                        <a:srgbClr val="F0BE0F"/>
                      </a:solidFill>
                      <a:prstDash val="solid"/>
                      <a:round/>
                      <a:headEnd type="none" w="med" len="med"/>
                      <a:tailEnd type="none" w="med" len="med"/>
                    </a:lnL>
                    <a:lnB w="6350" cap="flat" cmpd="sng" algn="ctr">
                      <a:solidFill>
                        <a:srgbClr val="F0BE0F"/>
                      </a:solidFill>
                      <a:prstDash val="solid"/>
                      <a:round/>
                      <a:headEnd type="none" w="med" len="med"/>
                      <a:tailEnd type="none" w="med" len="med"/>
                    </a:lnB>
                    <a:solidFill>
                      <a:srgbClr val="C00000">
                        <a:alpha val="3000"/>
                      </a:srgbClr>
                    </a:solidFill>
                  </a:tcPr>
                </a:tc>
                <a:extLst>
                  <a:ext uri="{0D108BD9-81ED-4DB2-BD59-A6C34878D82A}">
                    <a16:rowId xmlns:a16="http://schemas.microsoft.com/office/drawing/2014/main" val="2675777916"/>
                  </a:ext>
                </a:extLst>
              </a:tr>
              <a:tr h="1721294">
                <a:tc vMerge="1">
                  <a:txBody>
                    <a:bodyPr/>
                    <a:lstStyle/>
                    <a:p>
                      <a:endParaRPr lang="en-US"/>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امکان تصمیم‌گیری مستند برای ورود یا عدم ورود ایجاد می‌کند.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قابلیت پیش‌بینی نسبت به بازار و طرف معامله را افزایش می‌دهد.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امکان شناسایی فرصت‌های واقعی در میان عدم‌قطعیت بازار را فراهم می‌کند.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به مدیران امکان می‌دهد ریسک معامله را پیش از تخصیص منابع قیمت‌گذاری و مدیریت کنند.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زمان‌بندی مناسب‌تر برای ورود به بازار را امکان‌پذیر می‌کند.</a:t>
                      </a:r>
                    </a:p>
                    <a:p>
                      <a:pPr marL="171450" indent="-171450" algn="r" rtl="1">
                        <a:lnSpc>
                          <a:spcPct val="150000"/>
                        </a:lnSpc>
                        <a:buClr>
                          <a:schemeClr val="accent1"/>
                        </a:buClr>
                        <a:buFont typeface="Arial" panose="020B0604020202020204" pitchFamily="34" charset="0"/>
                        <a:buChar char="•"/>
                      </a:pPr>
                      <a:endParaRPr lang="fa-IR" sz="1000" b="0" kern="1200" dirty="0">
                        <a:solidFill>
                          <a:schemeClr val="tx1">
                            <a:lumMod val="75000"/>
                            <a:lumOff val="25000"/>
                          </a:schemeClr>
                        </a:solidFill>
                        <a:latin typeface="Yekan Bakh" pitchFamily="2" charset="-78"/>
                        <a:ea typeface="Yekan Bakh" pitchFamily="2" charset="-78"/>
                        <a:cs typeface="Yekan Bakh" pitchFamily="2" charset="-78"/>
                      </a:endParaRPr>
                    </a:p>
                  </a:txBody>
                  <a:tcPr anchor="ctr">
                    <a:lnL w="6350" cap="flat" cmpd="sng" algn="ctr">
                      <a:solidFill>
                        <a:srgbClr val="F0BE0F"/>
                      </a:solidFill>
                      <a:prstDash val="solid"/>
                      <a:round/>
                      <a:headEnd type="none" w="med" len="med"/>
                      <a:tailEnd type="none" w="med" len="med"/>
                    </a:lnL>
                    <a:lnT w="6350" cap="flat" cmpd="sng" algn="ctr">
                      <a:solidFill>
                        <a:srgbClr val="F0BE0F"/>
                      </a:solidFill>
                      <a:prstDash val="solid"/>
                      <a:round/>
                      <a:headEnd type="none" w="med" len="med"/>
                      <a:tailEnd type="none" w="med" len="med"/>
                    </a:lnT>
                    <a:solidFill>
                      <a:schemeClr val="accent1">
                        <a:alpha val="4000"/>
                      </a:schemeClr>
                    </a:solidFill>
                  </a:tcPr>
                </a:tc>
                <a:extLst>
                  <a:ext uri="{0D108BD9-81ED-4DB2-BD59-A6C34878D82A}">
                    <a16:rowId xmlns:a16="http://schemas.microsoft.com/office/drawing/2014/main" val="1388272330"/>
                  </a:ext>
                </a:extLst>
              </a:tr>
            </a:tbl>
          </a:graphicData>
        </a:graphic>
      </p:graphicFrame>
      <p:sp>
        <p:nvSpPr>
          <p:cNvPr id="9" name="TextBox 8">
            <a:extLst>
              <a:ext uri="{FF2B5EF4-FFF2-40B4-BE49-F238E27FC236}">
                <a16:creationId xmlns:a16="http://schemas.microsoft.com/office/drawing/2014/main" id="{9793635F-7C52-46DD-D7E6-F1239145E660}"/>
              </a:ext>
            </a:extLst>
          </p:cNvPr>
          <p:cNvSpPr txBox="1"/>
          <p:nvPr/>
        </p:nvSpPr>
        <p:spPr>
          <a:xfrm>
            <a:off x="9378405" y="1895264"/>
            <a:ext cx="1513266" cy="369332"/>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b="1" i="0" u="none" strike="noStrike" kern="1200" cap="none" spc="0" normalizeH="0" baseline="0" noProof="0" dirty="0">
                <a:ln>
                  <a:noFill/>
                </a:ln>
                <a:solidFill>
                  <a:srgbClr val="C00000"/>
                </a:solidFill>
                <a:effectLst/>
                <a:uLnTx/>
                <a:uFillTx/>
                <a:latin typeface="Yekan Bakh" pitchFamily="2" charset="-78"/>
                <a:ea typeface="Yekan Bakh" pitchFamily="2" charset="-78"/>
                <a:cs typeface="Yekan Bakh" pitchFamily="2" charset="-78"/>
              </a:rPr>
              <a:t>دردسرگاه‌ها</a:t>
            </a:r>
          </a:p>
        </p:txBody>
      </p:sp>
      <p:sp>
        <p:nvSpPr>
          <p:cNvPr id="10" name="TextBox 9">
            <a:extLst>
              <a:ext uri="{FF2B5EF4-FFF2-40B4-BE49-F238E27FC236}">
                <a16:creationId xmlns:a16="http://schemas.microsoft.com/office/drawing/2014/main" id="{7637BF2F-D991-05DC-ED6D-E33A14FFF3CE}"/>
              </a:ext>
            </a:extLst>
          </p:cNvPr>
          <p:cNvSpPr txBox="1"/>
          <p:nvPr/>
        </p:nvSpPr>
        <p:spPr>
          <a:xfrm>
            <a:off x="9378405" y="5306160"/>
            <a:ext cx="1513266" cy="369332"/>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b="1" i="0" u="none" strike="noStrike" kern="1200" cap="none" spc="0" normalizeH="0" baseline="0" noProof="0" dirty="0">
                <a:ln>
                  <a:noFill/>
                </a:ln>
                <a:solidFill>
                  <a:schemeClr val="accent1"/>
                </a:solidFill>
                <a:effectLst/>
                <a:uLnTx/>
                <a:uFillTx/>
                <a:latin typeface="Yekan Bakh" pitchFamily="2" charset="-78"/>
                <a:ea typeface="Yekan Bakh" pitchFamily="2" charset="-78"/>
                <a:cs typeface="Yekan Bakh" pitchFamily="2" charset="-78"/>
              </a:rPr>
              <a:t>منفعت‌سازها</a:t>
            </a:r>
          </a:p>
        </p:txBody>
      </p:sp>
      <p:sp>
        <p:nvSpPr>
          <p:cNvPr id="11" name="TextBox 10">
            <a:extLst>
              <a:ext uri="{FF2B5EF4-FFF2-40B4-BE49-F238E27FC236}">
                <a16:creationId xmlns:a16="http://schemas.microsoft.com/office/drawing/2014/main" id="{121E4B46-31FF-1462-A61C-B0E158D2F957}"/>
              </a:ext>
            </a:extLst>
          </p:cNvPr>
          <p:cNvSpPr txBox="1"/>
          <p:nvPr/>
        </p:nvSpPr>
        <p:spPr>
          <a:xfrm>
            <a:off x="827835" y="1876792"/>
            <a:ext cx="1513266" cy="369332"/>
          </a:xfrm>
          <a:prstGeom prst="rect">
            <a:avLst/>
          </a:prstGeom>
          <a:noFill/>
        </p:spPr>
        <p:txBody>
          <a:bodyPr wrap="square">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fa-IR" b="1" i="0" u="none" strike="noStrike" kern="1200" cap="none" spc="0" normalizeH="0" baseline="0" noProof="0" dirty="0">
                <a:ln>
                  <a:noFill/>
                </a:ln>
                <a:solidFill>
                  <a:schemeClr val="tx1">
                    <a:lumMod val="50000"/>
                    <a:lumOff val="50000"/>
                  </a:schemeClr>
                </a:solidFill>
                <a:effectLst/>
                <a:uLnTx/>
                <a:uFillTx/>
                <a:latin typeface="Yekan Bakh" pitchFamily="2" charset="-78"/>
                <a:ea typeface="Yekan Bakh" pitchFamily="2" charset="-78"/>
                <a:cs typeface="Yekan Bakh" pitchFamily="2" charset="-78"/>
              </a:rPr>
              <a:t>محصولات</a:t>
            </a:r>
          </a:p>
        </p:txBody>
      </p:sp>
    </p:spTree>
    <p:extLst>
      <p:ext uri="{BB962C8B-B14F-4D97-AF65-F5344CB8AC3E}">
        <p14:creationId xmlns:p14="http://schemas.microsoft.com/office/powerpoint/2010/main" val="88834884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E2BCB-9707-7363-4EED-7CC2419A032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B35D33F5-5E66-D60A-B658-079A533C9B53}"/>
              </a:ext>
            </a:extLst>
          </p:cNvPr>
          <p:cNvSpPr>
            <a:spLocks noGrp="1"/>
          </p:cNvSpPr>
          <p:nvPr>
            <p:ph type="body" sz="quarter" idx="10"/>
          </p:nvPr>
        </p:nvSpPr>
        <p:spPr>
          <a:xfrm>
            <a:off x="4753689" y="256653"/>
            <a:ext cx="6489884" cy="250047"/>
          </a:xfrm>
        </p:spPr>
        <p:txBody>
          <a:bodyPr/>
          <a:lstStyle/>
          <a:p>
            <a:r>
              <a:rPr lang="fa-IR"/>
              <a:t>نقشه ارزش (محصولات، دردسرکاه‌ها و منفعت‌سازها) بر اساس چهار محرک خلق ارزش </a:t>
            </a:r>
          </a:p>
        </p:txBody>
      </p:sp>
      <p:sp>
        <p:nvSpPr>
          <p:cNvPr id="3" name="Text Placeholder 2">
            <a:extLst>
              <a:ext uri="{FF2B5EF4-FFF2-40B4-BE49-F238E27FC236}">
                <a16:creationId xmlns:a16="http://schemas.microsoft.com/office/drawing/2014/main" id="{C8F7CE18-E10D-924D-B37B-36A8E1338E0E}"/>
              </a:ext>
            </a:extLst>
          </p:cNvPr>
          <p:cNvSpPr>
            <a:spLocks noGrp="1"/>
          </p:cNvSpPr>
          <p:nvPr>
            <p:ph type="body" sz="quarter" idx="12"/>
          </p:nvPr>
        </p:nvSpPr>
        <p:spPr/>
        <p:txBody>
          <a:bodyPr/>
          <a:lstStyle/>
          <a:p>
            <a:r>
              <a:rPr lang="fa-IR" dirty="0"/>
              <a:t>کسب‌وکار تراز خارجی</a:t>
            </a:r>
          </a:p>
        </p:txBody>
      </p:sp>
      <p:sp>
        <p:nvSpPr>
          <p:cNvPr id="4" name="Rectangle: Rounded Corners 3">
            <a:extLst>
              <a:ext uri="{FF2B5EF4-FFF2-40B4-BE49-F238E27FC236}">
                <a16:creationId xmlns:a16="http://schemas.microsoft.com/office/drawing/2014/main" id="{D426C155-805F-D7AA-E132-D7135F5DCF88}"/>
              </a:ext>
            </a:extLst>
          </p:cNvPr>
          <p:cNvSpPr/>
          <p:nvPr/>
        </p:nvSpPr>
        <p:spPr>
          <a:xfrm>
            <a:off x="8595360" y="1282807"/>
            <a:ext cx="2296311" cy="363736"/>
          </a:xfrm>
          <a:prstGeom prst="roundRect">
            <a:avLst/>
          </a:prstGeom>
          <a:solidFill>
            <a:srgbClr val="004D80">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هوشمندی و اعتبارسنجی فرصت</a:t>
            </a:r>
          </a:p>
        </p:txBody>
      </p:sp>
      <p:sp>
        <p:nvSpPr>
          <p:cNvPr id="5" name="Rectangle: Rounded Corners 4">
            <a:extLst>
              <a:ext uri="{FF2B5EF4-FFF2-40B4-BE49-F238E27FC236}">
                <a16:creationId xmlns:a16="http://schemas.microsoft.com/office/drawing/2014/main" id="{B37FCC40-C80F-2A1A-CF19-296C1450D743}"/>
              </a:ext>
            </a:extLst>
          </p:cNvPr>
          <p:cNvSpPr/>
          <p:nvPr/>
        </p:nvSpPr>
        <p:spPr>
          <a:xfrm>
            <a:off x="6000699" y="1282807"/>
            <a:ext cx="2296311" cy="363736"/>
          </a:xfrm>
          <a:prstGeom prst="roundRect">
            <a:avLst/>
          </a:prstGeom>
          <a:solidFill>
            <a:srgbClr val="F0BE0F">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ایجاد دسترسی مورداعتماد </a:t>
            </a:r>
          </a:p>
        </p:txBody>
      </p:sp>
      <p:sp>
        <p:nvSpPr>
          <p:cNvPr id="6" name="Rectangle: Rounded Corners 5">
            <a:extLst>
              <a:ext uri="{FF2B5EF4-FFF2-40B4-BE49-F238E27FC236}">
                <a16:creationId xmlns:a16="http://schemas.microsoft.com/office/drawing/2014/main" id="{42F80286-308A-7D83-55B6-7687E5997363}"/>
              </a:ext>
            </a:extLst>
          </p:cNvPr>
          <p:cNvSpPr/>
          <p:nvPr/>
        </p:nvSpPr>
        <p:spPr>
          <a:xfrm>
            <a:off x="3406039" y="1282807"/>
            <a:ext cx="2296311" cy="363736"/>
          </a:xfrm>
          <a:prstGeom prst="roundRect">
            <a:avLst/>
          </a:prstGeom>
          <a:solidFill>
            <a:srgbClr val="004D80">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a:ln>
                  <a:noFill/>
                </a:ln>
                <a:solidFill>
                  <a:schemeClr val="bg1"/>
                </a:solidFill>
                <a:effectLst/>
                <a:uLnTx/>
                <a:uFillTx/>
                <a:latin typeface="Yekan Bakh" pitchFamily="2" charset="-78"/>
                <a:ea typeface="Yekan Bakh" pitchFamily="2" charset="-78"/>
                <a:cs typeface="Yekan Bakh" pitchFamily="2" charset="-78"/>
              </a:rPr>
              <a:t>تأمین و فعال‌سازی منابع و قابلیت‌ها</a:t>
            </a:r>
          </a:p>
        </p:txBody>
      </p:sp>
      <p:sp>
        <p:nvSpPr>
          <p:cNvPr id="7" name="Rectangle: Rounded Corners 6">
            <a:extLst>
              <a:ext uri="{FF2B5EF4-FFF2-40B4-BE49-F238E27FC236}">
                <a16:creationId xmlns:a16="http://schemas.microsoft.com/office/drawing/2014/main" id="{8A42F670-8336-7F9A-A52A-4CA7655AE8A2}"/>
              </a:ext>
            </a:extLst>
          </p:cNvPr>
          <p:cNvSpPr/>
          <p:nvPr/>
        </p:nvSpPr>
        <p:spPr>
          <a:xfrm>
            <a:off x="811379" y="1282807"/>
            <a:ext cx="2296311" cy="363736"/>
          </a:xfrm>
          <a:prstGeom prst="roundRect">
            <a:avLst/>
          </a:prstGeom>
          <a:solidFill>
            <a:srgbClr val="004D80">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هماهنگ‌سازی و تبدیل فرصت به نتیجه</a:t>
            </a:r>
          </a:p>
        </p:txBody>
      </p:sp>
      <p:graphicFrame>
        <p:nvGraphicFramePr>
          <p:cNvPr id="8" name="Table 7">
            <a:extLst>
              <a:ext uri="{FF2B5EF4-FFF2-40B4-BE49-F238E27FC236}">
                <a16:creationId xmlns:a16="http://schemas.microsoft.com/office/drawing/2014/main" id="{8A6FCC2F-ACE9-5BF2-941C-147BDD1CFD00}"/>
              </a:ext>
            </a:extLst>
          </p:cNvPr>
          <p:cNvGraphicFramePr>
            <a:graphicFrameLocks noGrp="1"/>
          </p:cNvGraphicFramePr>
          <p:nvPr>
            <p:extLst>
              <p:ext uri="{D42A27DB-BD31-4B8C-83A1-F6EECF244321}">
                <p14:modId xmlns:p14="http://schemas.microsoft.com/office/powerpoint/2010/main" val="3760003152"/>
              </p:ext>
            </p:extLst>
          </p:nvPr>
        </p:nvGraphicFramePr>
        <p:xfrm>
          <a:off x="811379" y="2098582"/>
          <a:ext cx="10080292" cy="3442588"/>
        </p:xfrm>
        <a:graphic>
          <a:graphicData uri="http://schemas.openxmlformats.org/drawingml/2006/table">
            <a:tbl>
              <a:tblPr firstRow="1" bandRow="1">
                <a:tableStyleId>{5C22544A-7EE6-4342-B048-85BDC9FD1C3A}</a:tableStyleId>
              </a:tblPr>
              <a:tblGrid>
                <a:gridCol w="5040146">
                  <a:extLst>
                    <a:ext uri="{9D8B030D-6E8A-4147-A177-3AD203B41FA5}">
                      <a16:colId xmlns:a16="http://schemas.microsoft.com/office/drawing/2014/main" val="1416290991"/>
                    </a:ext>
                  </a:extLst>
                </a:gridCol>
                <a:gridCol w="5040146">
                  <a:extLst>
                    <a:ext uri="{9D8B030D-6E8A-4147-A177-3AD203B41FA5}">
                      <a16:colId xmlns:a16="http://schemas.microsoft.com/office/drawing/2014/main" val="241493819"/>
                    </a:ext>
                  </a:extLst>
                </a:gridCol>
              </a:tblGrid>
              <a:tr h="1721294">
                <a:tc rowSpan="2">
                  <a:txBody>
                    <a:bodyPr/>
                    <a:lstStyle/>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شناسایی و معرفی شریک ایرانی معتبر.</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دسترسی به شبکه شرکت‌ها، مدیران، سرمایه‌گذاران و متخصصان محلی.</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ایجاد ارتباط اولیه با طرف ایرانی از طریق یک واسطه مورداعتماد.</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تسهیل ارتباط و مذاکره میان طرف خارجی و طرف ایرانی.</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ایجاد دسترسی به اطلاعات و روابط محلی که از مسیرهای عمومی قابل دستیابی نیستند.</a:t>
                      </a:r>
                    </a:p>
                  </a:txBody>
                  <a:tcPr anchor="ctr">
                    <a:lnR w="6350" cap="flat" cmpd="sng" algn="ctr">
                      <a:solidFill>
                        <a:srgbClr val="F0BE0F"/>
                      </a:solidFill>
                      <a:prstDash val="solid"/>
                      <a:round/>
                      <a:headEnd type="none" w="med" len="med"/>
                      <a:tailEnd type="none" w="med" len="med"/>
                    </a:lnR>
                    <a:solidFill>
                      <a:schemeClr val="bg1">
                        <a:lumMod val="65000"/>
                        <a:alpha val="10000"/>
                      </a:schemeClr>
                    </a:solidFill>
                  </a:tcPr>
                </a:tc>
                <a:tc>
                  <a:txBody>
                    <a:bodyPr/>
                    <a:lstStyle/>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نبود شناخت محلی از بازیگران بازار را کاهش می‌دهد.</a:t>
                      </a:r>
                    </a:p>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ریسک انتخاب شریک ایرانی نامعتبر را کاهش می‌دهد.</a:t>
                      </a:r>
                    </a:p>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زمان و هزینه جست‌وجوی شریک را کاهش می‌دهد.</a:t>
                      </a:r>
                    </a:p>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ریسک برقراری ارتباط مستقیم با طرف نامناسب را کاهش می‌دهد.</a:t>
                      </a:r>
                    </a:p>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مانع اعتماد اولیه میان دو طرف را کاهش می‌دهد.</a:t>
                      </a:r>
                    </a:p>
                  </a:txBody>
                  <a:tcPr anchor="ctr">
                    <a:lnL w="6350" cap="flat" cmpd="sng" algn="ctr">
                      <a:solidFill>
                        <a:srgbClr val="F0BE0F"/>
                      </a:solidFill>
                      <a:prstDash val="solid"/>
                      <a:round/>
                      <a:headEnd type="none" w="med" len="med"/>
                      <a:tailEnd type="none" w="med" len="med"/>
                    </a:lnL>
                    <a:lnB w="6350" cap="flat" cmpd="sng" algn="ctr">
                      <a:solidFill>
                        <a:srgbClr val="F0BE0F"/>
                      </a:solidFill>
                      <a:prstDash val="solid"/>
                      <a:round/>
                      <a:headEnd type="none" w="med" len="med"/>
                      <a:tailEnd type="none" w="med" len="med"/>
                    </a:lnB>
                    <a:solidFill>
                      <a:srgbClr val="C00000">
                        <a:alpha val="3000"/>
                      </a:srgbClr>
                    </a:solidFill>
                  </a:tcPr>
                </a:tc>
                <a:extLst>
                  <a:ext uri="{0D108BD9-81ED-4DB2-BD59-A6C34878D82A}">
                    <a16:rowId xmlns:a16="http://schemas.microsoft.com/office/drawing/2014/main" val="2675777916"/>
                  </a:ext>
                </a:extLst>
              </a:tr>
              <a:tr h="1721294">
                <a:tc vMerge="1">
                  <a:txBody>
                    <a:bodyPr/>
                    <a:lstStyle/>
                    <a:p>
                      <a:endParaRPr lang="en-US"/>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دسترسی سریع‌تر به شریک مناسب ایجاد می‌کند.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اعتماد اولیه میان طرفین را افزایش می‌دهد.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امکان ورود به شبکه‌ای از روابط محلی را فراهم می‌کند.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کیفیت فرصت‌های قابل بررسی را افزایش می‌دهد.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امکان شکل‌گیری رابطه تجاری بلندمدت را افزایش می‌دهد.</a:t>
                      </a:r>
                    </a:p>
                    <a:p>
                      <a:pPr marL="171450" indent="-171450" algn="r" rtl="1">
                        <a:lnSpc>
                          <a:spcPct val="150000"/>
                        </a:lnSpc>
                        <a:buClr>
                          <a:schemeClr val="accent1"/>
                        </a:buClr>
                        <a:buFont typeface="Arial" panose="020B0604020202020204" pitchFamily="34" charset="0"/>
                        <a:buChar char="•"/>
                      </a:pPr>
                      <a:endParaRPr lang="fa-IR" sz="1000" b="0" kern="1200" dirty="0">
                        <a:solidFill>
                          <a:schemeClr val="tx1">
                            <a:lumMod val="75000"/>
                            <a:lumOff val="25000"/>
                          </a:schemeClr>
                        </a:solidFill>
                        <a:latin typeface="Yekan Bakh" pitchFamily="2" charset="-78"/>
                        <a:ea typeface="Yekan Bakh" pitchFamily="2" charset="-78"/>
                        <a:cs typeface="Yekan Bakh" pitchFamily="2" charset="-78"/>
                      </a:endParaRPr>
                    </a:p>
                  </a:txBody>
                  <a:tcPr anchor="ctr">
                    <a:lnL w="6350" cap="flat" cmpd="sng" algn="ctr">
                      <a:solidFill>
                        <a:srgbClr val="F0BE0F"/>
                      </a:solidFill>
                      <a:prstDash val="solid"/>
                      <a:round/>
                      <a:headEnd type="none" w="med" len="med"/>
                      <a:tailEnd type="none" w="med" len="med"/>
                    </a:lnL>
                    <a:lnT w="6350" cap="flat" cmpd="sng" algn="ctr">
                      <a:solidFill>
                        <a:srgbClr val="F0BE0F"/>
                      </a:solidFill>
                      <a:prstDash val="solid"/>
                      <a:round/>
                      <a:headEnd type="none" w="med" len="med"/>
                      <a:tailEnd type="none" w="med" len="med"/>
                    </a:lnT>
                    <a:solidFill>
                      <a:schemeClr val="accent1">
                        <a:alpha val="4000"/>
                      </a:schemeClr>
                    </a:solidFill>
                  </a:tcPr>
                </a:tc>
                <a:extLst>
                  <a:ext uri="{0D108BD9-81ED-4DB2-BD59-A6C34878D82A}">
                    <a16:rowId xmlns:a16="http://schemas.microsoft.com/office/drawing/2014/main" val="1388272330"/>
                  </a:ext>
                </a:extLst>
              </a:tr>
            </a:tbl>
          </a:graphicData>
        </a:graphic>
      </p:graphicFrame>
      <p:sp>
        <p:nvSpPr>
          <p:cNvPr id="9" name="TextBox 8">
            <a:extLst>
              <a:ext uri="{FF2B5EF4-FFF2-40B4-BE49-F238E27FC236}">
                <a16:creationId xmlns:a16="http://schemas.microsoft.com/office/drawing/2014/main" id="{8632EECF-5B30-CFC2-08C4-90A54B65E3B3}"/>
              </a:ext>
            </a:extLst>
          </p:cNvPr>
          <p:cNvSpPr txBox="1"/>
          <p:nvPr/>
        </p:nvSpPr>
        <p:spPr>
          <a:xfrm>
            <a:off x="9378405" y="1895264"/>
            <a:ext cx="1513266" cy="369332"/>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b="1" i="0" u="none" strike="noStrike" kern="1200" cap="none" spc="0" normalizeH="0" baseline="0" noProof="0" dirty="0">
                <a:ln>
                  <a:noFill/>
                </a:ln>
                <a:solidFill>
                  <a:srgbClr val="C00000"/>
                </a:solidFill>
                <a:effectLst/>
                <a:uLnTx/>
                <a:uFillTx/>
                <a:latin typeface="Yekan Bakh" pitchFamily="2" charset="-78"/>
                <a:ea typeface="Yekan Bakh" pitchFamily="2" charset="-78"/>
                <a:cs typeface="Yekan Bakh" pitchFamily="2" charset="-78"/>
              </a:rPr>
              <a:t>دردسرگاه‌ها</a:t>
            </a:r>
          </a:p>
        </p:txBody>
      </p:sp>
      <p:sp>
        <p:nvSpPr>
          <p:cNvPr id="10" name="TextBox 9">
            <a:extLst>
              <a:ext uri="{FF2B5EF4-FFF2-40B4-BE49-F238E27FC236}">
                <a16:creationId xmlns:a16="http://schemas.microsoft.com/office/drawing/2014/main" id="{AA6A3102-9C67-7B1D-0258-D299932869F6}"/>
              </a:ext>
            </a:extLst>
          </p:cNvPr>
          <p:cNvSpPr txBox="1"/>
          <p:nvPr/>
        </p:nvSpPr>
        <p:spPr>
          <a:xfrm>
            <a:off x="9378405" y="5306160"/>
            <a:ext cx="1513266" cy="369332"/>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b="1" i="0" u="none" strike="noStrike" kern="1200" cap="none" spc="0" normalizeH="0" baseline="0" noProof="0" dirty="0">
                <a:ln>
                  <a:noFill/>
                </a:ln>
                <a:solidFill>
                  <a:schemeClr val="accent1"/>
                </a:solidFill>
                <a:effectLst/>
                <a:uLnTx/>
                <a:uFillTx/>
                <a:latin typeface="Yekan Bakh" pitchFamily="2" charset="-78"/>
                <a:ea typeface="Yekan Bakh" pitchFamily="2" charset="-78"/>
                <a:cs typeface="Yekan Bakh" pitchFamily="2" charset="-78"/>
              </a:rPr>
              <a:t>منفعت‌سازها</a:t>
            </a:r>
          </a:p>
        </p:txBody>
      </p:sp>
      <p:sp>
        <p:nvSpPr>
          <p:cNvPr id="11" name="TextBox 10">
            <a:extLst>
              <a:ext uri="{FF2B5EF4-FFF2-40B4-BE49-F238E27FC236}">
                <a16:creationId xmlns:a16="http://schemas.microsoft.com/office/drawing/2014/main" id="{DCDB4006-E8AC-9096-F841-31F5AF9AFCC3}"/>
              </a:ext>
            </a:extLst>
          </p:cNvPr>
          <p:cNvSpPr txBox="1"/>
          <p:nvPr/>
        </p:nvSpPr>
        <p:spPr>
          <a:xfrm>
            <a:off x="827835" y="1876792"/>
            <a:ext cx="1513266" cy="369332"/>
          </a:xfrm>
          <a:prstGeom prst="rect">
            <a:avLst/>
          </a:prstGeom>
          <a:noFill/>
        </p:spPr>
        <p:txBody>
          <a:bodyPr wrap="square">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fa-IR" b="1" i="0" u="none" strike="noStrike" kern="1200" cap="none" spc="0" normalizeH="0" baseline="0" noProof="0" dirty="0">
                <a:ln>
                  <a:noFill/>
                </a:ln>
                <a:solidFill>
                  <a:schemeClr val="tx1">
                    <a:lumMod val="50000"/>
                    <a:lumOff val="50000"/>
                  </a:schemeClr>
                </a:solidFill>
                <a:effectLst/>
                <a:uLnTx/>
                <a:uFillTx/>
                <a:latin typeface="Yekan Bakh" pitchFamily="2" charset="-78"/>
                <a:ea typeface="Yekan Bakh" pitchFamily="2" charset="-78"/>
                <a:cs typeface="Yekan Bakh" pitchFamily="2" charset="-78"/>
              </a:rPr>
              <a:t>محصولات</a:t>
            </a:r>
          </a:p>
        </p:txBody>
      </p:sp>
    </p:spTree>
    <p:extLst>
      <p:ext uri="{BB962C8B-B14F-4D97-AF65-F5344CB8AC3E}">
        <p14:creationId xmlns:p14="http://schemas.microsoft.com/office/powerpoint/2010/main" val="407320732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F5DE65-B741-BDE4-5FB8-1F072C2E844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6F2CAB8-7CED-05DE-4187-E26843D1D198}"/>
              </a:ext>
            </a:extLst>
          </p:cNvPr>
          <p:cNvSpPr>
            <a:spLocks noGrp="1"/>
          </p:cNvSpPr>
          <p:nvPr>
            <p:ph type="body" sz="quarter" idx="10"/>
          </p:nvPr>
        </p:nvSpPr>
        <p:spPr>
          <a:xfrm>
            <a:off x="4753689" y="256653"/>
            <a:ext cx="6489884" cy="250047"/>
          </a:xfrm>
        </p:spPr>
        <p:txBody>
          <a:bodyPr/>
          <a:lstStyle/>
          <a:p>
            <a:r>
              <a:rPr lang="fa-IR"/>
              <a:t>نقشه ارزش (محصولات، دردسرکاه‌ها و منفعت‌سازها) بر اساس چهار محرک خلق ارزش </a:t>
            </a:r>
          </a:p>
        </p:txBody>
      </p:sp>
      <p:sp>
        <p:nvSpPr>
          <p:cNvPr id="3" name="Text Placeholder 2">
            <a:extLst>
              <a:ext uri="{FF2B5EF4-FFF2-40B4-BE49-F238E27FC236}">
                <a16:creationId xmlns:a16="http://schemas.microsoft.com/office/drawing/2014/main" id="{75D7AEF0-67EA-8EBE-D189-1F9CC9260751}"/>
              </a:ext>
            </a:extLst>
          </p:cNvPr>
          <p:cNvSpPr>
            <a:spLocks noGrp="1"/>
          </p:cNvSpPr>
          <p:nvPr>
            <p:ph type="body" sz="quarter" idx="12"/>
          </p:nvPr>
        </p:nvSpPr>
        <p:spPr/>
        <p:txBody>
          <a:bodyPr/>
          <a:lstStyle/>
          <a:p>
            <a:r>
              <a:rPr lang="fa-IR" dirty="0"/>
              <a:t>کسب‌وکار تراز خارجی</a:t>
            </a:r>
          </a:p>
        </p:txBody>
      </p:sp>
      <p:sp>
        <p:nvSpPr>
          <p:cNvPr id="4" name="Rectangle: Rounded Corners 3">
            <a:extLst>
              <a:ext uri="{FF2B5EF4-FFF2-40B4-BE49-F238E27FC236}">
                <a16:creationId xmlns:a16="http://schemas.microsoft.com/office/drawing/2014/main" id="{2A69C778-E44A-C88F-7E3B-B3086DDA9E46}"/>
              </a:ext>
            </a:extLst>
          </p:cNvPr>
          <p:cNvSpPr/>
          <p:nvPr/>
        </p:nvSpPr>
        <p:spPr>
          <a:xfrm>
            <a:off x="8595360" y="1282807"/>
            <a:ext cx="2296311" cy="363736"/>
          </a:xfrm>
          <a:prstGeom prst="roundRect">
            <a:avLst/>
          </a:prstGeom>
          <a:solidFill>
            <a:srgbClr val="004D80">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هوشمندی و اعتبارسنجی فرصت</a:t>
            </a:r>
          </a:p>
        </p:txBody>
      </p:sp>
      <p:sp>
        <p:nvSpPr>
          <p:cNvPr id="5" name="Rectangle: Rounded Corners 4">
            <a:extLst>
              <a:ext uri="{FF2B5EF4-FFF2-40B4-BE49-F238E27FC236}">
                <a16:creationId xmlns:a16="http://schemas.microsoft.com/office/drawing/2014/main" id="{53559C45-9FBD-AFDF-AF28-A93622904E06}"/>
              </a:ext>
            </a:extLst>
          </p:cNvPr>
          <p:cNvSpPr/>
          <p:nvPr/>
        </p:nvSpPr>
        <p:spPr>
          <a:xfrm>
            <a:off x="6000699" y="1282807"/>
            <a:ext cx="2296311" cy="363736"/>
          </a:xfrm>
          <a:prstGeom prst="roundRect">
            <a:avLst/>
          </a:prstGeom>
          <a:solidFill>
            <a:srgbClr val="004D80">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ایجاد دسترسی مورداعتماد </a:t>
            </a:r>
          </a:p>
        </p:txBody>
      </p:sp>
      <p:sp>
        <p:nvSpPr>
          <p:cNvPr id="6" name="Rectangle: Rounded Corners 5">
            <a:extLst>
              <a:ext uri="{FF2B5EF4-FFF2-40B4-BE49-F238E27FC236}">
                <a16:creationId xmlns:a16="http://schemas.microsoft.com/office/drawing/2014/main" id="{3D49376D-6651-41AD-C8D8-8E3AD3FFBD4D}"/>
              </a:ext>
            </a:extLst>
          </p:cNvPr>
          <p:cNvSpPr/>
          <p:nvPr/>
        </p:nvSpPr>
        <p:spPr>
          <a:xfrm>
            <a:off x="3406039" y="1282807"/>
            <a:ext cx="2296311" cy="363736"/>
          </a:xfrm>
          <a:prstGeom prst="roundRect">
            <a:avLst/>
          </a:prstGeom>
          <a:solidFill>
            <a:srgbClr val="F0BE0F">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تأمین و فعال‌سازی منابع و قابلیت‌ها</a:t>
            </a:r>
          </a:p>
        </p:txBody>
      </p:sp>
      <p:sp>
        <p:nvSpPr>
          <p:cNvPr id="7" name="Rectangle: Rounded Corners 6">
            <a:extLst>
              <a:ext uri="{FF2B5EF4-FFF2-40B4-BE49-F238E27FC236}">
                <a16:creationId xmlns:a16="http://schemas.microsoft.com/office/drawing/2014/main" id="{B7869B45-750F-8FC7-F771-72B18446FFCD}"/>
              </a:ext>
            </a:extLst>
          </p:cNvPr>
          <p:cNvSpPr/>
          <p:nvPr/>
        </p:nvSpPr>
        <p:spPr>
          <a:xfrm>
            <a:off x="811379" y="1282807"/>
            <a:ext cx="2296311" cy="363736"/>
          </a:xfrm>
          <a:prstGeom prst="roundRect">
            <a:avLst/>
          </a:prstGeom>
          <a:solidFill>
            <a:srgbClr val="004D80">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هماهنگ‌سازی و تبدیل فرصت به نتیجه</a:t>
            </a:r>
          </a:p>
        </p:txBody>
      </p:sp>
      <p:graphicFrame>
        <p:nvGraphicFramePr>
          <p:cNvPr id="8" name="Table 7">
            <a:extLst>
              <a:ext uri="{FF2B5EF4-FFF2-40B4-BE49-F238E27FC236}">
                <a16:creationId xmlns:a16="http://schemas.microsoft.com/office/drawing/2014/main" id="{11356EA2-CB27-25B0-397C-D695D6548EE3}"/>
              </a:ext>
            </a:extLst>
          </p:cNvPr>
          <p:cNvGraphicFramePr>
            <a:graphicFrameLocks noGrp="1"/>
          </p:cNvGraphicFramePr>
          <p:nvPr>
            <p:extLst>
              <p:ext uri="{D42A27DB-BD31-4B8C-83A1-F6EECF244321}">
                <p14:modId xmlns:p14="http://schemas.microsoft.com/office/powerpoint/2010/main" val="2348465969"/>
              </p:ext>
            </p:extLst>
          </p:nvPr>
        </p:nvGraphicFramePr>
        <p:xfrm>
          <a:off x="811379" y="2098582"/>
          <a:ext cx="10080292" cy="3442588"/>
        </p:xfrm>
        <a:graphic>
          <a:graphicData uri="http://schemas.openxmlformats.org/drawingml/2006/table">
            <a:tbl>
              <a:tblPr firstRow="1" bandRow="1">
                <a:tableStyleId>{5C22544A-7EE6-4342-B048-85BDC9FD1C3A}</a:tableStyleId>
              </a:tblPr>
              <a:tblGrid>
                <a:gridCol w="5040146">
                  <a:extLst>
                    <a:ext uri="{9D8B030D-6E8A-4147-A177-3AD203B41FA5}">
                      <a16:colId xmlns:a16="http://schemas.microsoft.com/office/drawing/2014/main" val="1416290991"/>
                    </a:ext>
                  </a:extLst>
                </a:gridCol>
                <a:gridCol w="5040146">
                  <a:extLst>
                    <a:ext uri="{9D8B030D-6E8A-4147-A177-3AD203B41FA5}">
                      <a16:colId xmlns:a16="http://schemas.microsoft.com/office/drawing/2014/main" val="241493819"/>
                    </a:ext>
                  </a:extLst>
                </a:gridCol>
              </a:tblGrid>
              <a:tr h="1721294">
                <a:tc rowSpan="2">
                  <a:txBody>
                    <a:bodyPr/>
                    <a:lstStyle/>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ساختاردهی حقوقی معامله و ساختار ورود به بازار.</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خدمات </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Compliance</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 و </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Regulatory</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a:t>
                      </a:r>
                      <a:endParaRPr lang="en-US" sz="1000" b="0" kern="1200" dirty="0">
                        <a:solidFill>
                          <a:schemeClr val="tx1">
                            <a:lumMod val="75000"/>
                            <a:lumOff val="25000"/>
                          </a:schemeClr>
                        </a:solidFill>
                        <a:latin typeface="Yekan Bakh" pitchFamily="2" charset="-78"/>
                        <a:ea typeface="Yekan Bakh" pitchFamily="2" charset="-78"/>
                        <a:cs typeface="Yekan Bakh" pitchFamily="2" charset="-78"/>
                      </a:endParaRP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خدمات مالی، حسابداری و حسابرسی.</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خدمات مربوط به پرداخت و ساختار مالی معامله.</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خدمات محلی برای اجرای قرارداد و عملیات.</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پایش و کنترل عملکرد طرف ایرانی.</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دسترسی به شبکه‌ای از </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Partner</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های حقوقی، مالی، مدیریتی و عملیاتی.</a:t>
                      </a:r>
                    </a:p>
                  </a:txBody>
                  <a:tcPr anchor="ctr">
                    <a:lnR w="6350" cap="flat" cmpd="sng" algn="ctr">
                      <a:solidFill>
                        <a:srgbClr val="F0BE0F"/>
                      </a:solidFill>
                      <a:prstDash val="solid"/>
                      <a:round/>
                      <a:headEnd type="none" w="med" len="med"/>
                      <a:tailEnd type="none" w="med" len="med"/>
                    </a:lnR>
                    <a:solidFill>
                      <a:schemeClr val="bg1">
                        <a:lumMod val="65000"/>
                        <a:alpha val="10000"/>
                      </a:schemeClr>
                    </a:solidFill>
                  </a:tcPr>
                </a:tc>
                <a:tc>
                  <a:txBody>
                    <a:bodyPr/>
                    <a:lstStyle/>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پیچیدگی حقوقی و عملیاتی ورود به ایران را کاهش می‌دهد.</a:t>
                      </a:r>
                    </a:p>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نیاز به ایجاد قابلیت محلی از صفر را کاهش می‌دهد.</a:t>
                      </a:r>
                    </a:p>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شکاف دانش محلی در حوزه‌های حقوقی، مالی و عملیاتی را پوشش می‌دهد.</a:t>
                      </a:r>
                    </a:p>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ریسک اجرای نادرست الزامات قانونی و </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Compliance</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 را کاهش می‌دهد.</a:t>
                      </a:r>
                    </a:p>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نیاز به مدیریت مستقل چندین ارائه‌دهنده تخصصی را کاهش می‌دهد.</a:t>
                      </a:r>
                    </a:p>
                  </a:txBody>
                  <a:tcPr anchor="ctr">
                    <a:lnL w="6350" cap="flat" cmpd="sng" algn="ctr">
                      <a:solidFill>
                        <a:srgbClr val="F0BE0F"/>
                      </a:solidFill>
                      <a:prstDash val="solid"/>
                      <a:round/>
                      <a:headEnd type="none" w="med" len="med"/>
                      <a:tailEnd type="none" w="med" len="med"/>
                    </a:lnL>
                    <a:lnB w="6350" cap="flat" cmpd="sng" algn="ctr">
                      <a:solidFill>
                        <a:srgbClr val="F0BE0F"/>
                      </a:solidFill>
                      <a:prstDash val="solid"/>
                      <a:round/>
                      <a:headEnd type="none" w="med" len="med"/>
                      <a:tailEnd type="none" w="med" len="med"/>
                    </a:lnB>
                    <a:solidFill>
                      <a:srgbClr val="C00000">
                        <a:alpha val="3000"/>
                      </a:srgbClr>
                    </a:solidFill>
                  </a:tcPr>
                </a:tc>
                <a:extLst>
                  <a:ext uri="{0D108BD9-81ED-4DB2-BD59-A6C34878D82A}">
                    <a16:rowId xmlns:a16="http://schemas.microsoft.com/office/drawing/2014/main" val="2675777916"/>
                  </a:ext>
                </a:extLst>
              </a:tr>
              <a:tr h="1721294">
                <a:tc vMerge="1">
                  <a:txBody>
                    <a:bodyPr/>
                    <a:lstStyle/>
                    <a:p>
                      <a:endParaRPr lang="en-US"/>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قابلیت اجرای معامله در محیط پیچیده ایران را ایجاد می‌کند.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امکان ورود ساختاریافته و کنترل‌شده به بازار را فراهم می‌کند.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دسترسی به تخصص محلی بدون ایجاد سازمان محلی کامل ایجاد می‌کند.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شفافیت و کنترل بیشتری بر اجرای فعالیت ایجاد می‌کند.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سرعت تبدیل تصمیم ورود به اقدام واقعی را افزایش می‌دهد.</a:t>
                      </a:r>
                    </a:p>
                    <a:p>
                      <a:pPr marL="171450" indent="-171450" algn="r" rtl="1">
                        <a:lnSpc>
                          <a:spcPct val="150000"/>
                        </a:lnSpc>
                        <a:buClr>
                          <a:schemeClr val="accent1"/>
                        </a:buClr>
                        <a:buFont typeface="Arial" panose="020B0604020202020204" pitchFamily="34" charset="0"/>
                        <a:buChar char="•"/>
                      </a:pPr>
                      <a:endParaRPr lang="fa-IR" sz="1000" b="0" kern="1200" dirty="0">
                        <a:solidFill>
                          <a:schemeClr val="tx1">
                            <a:lumMod val="75000"/>
                            <a:lumOff val="25000"/>
                          </a:schemeClr>
                        </a:solidFill>
                        <a:latin typeface="Yekan Bakh" pitchFamily="2" charset="-78"/>
                        <a:ea typeface="Yekan Bakh" pitchFamily="2" charset="-78"/>
                        <a:cs typeface="Yekan Bakh" pitchFamily="2" charset="-78"/>
                      </a:endParaRPr>
                    </a:p>
                  </a:txBody>
                  <a:tcPr anchor="ctr">
                    <a:lnL w="6350" cap="flat" cmpd="sng" algn="ctr">
                      <a:solidFill>
                        <a:srgbClr val="F0BE0F"/>
                      </a:solidFill>
                      <a:prstDash val="solid"/>
                      <a:round/>
                      <a:headEnd type="none" w="med" len="med"/>
                      <a:tailEnd type="none" w="med" len="med"/>
                    </a:lnL>
                    <a:lnT w="6350" cap="flat" cmpd="sng" algn="ctr">
                      <a:solidFill>
                        <a:srgbClr val="F0BE0F"/>
                      </a:solidFill>
                      <a:prstDash val="solid"/>
                      <a:round/>
                      <a:headEnd type="none" w="med" len="med"/>
                      <a:tailEnd type="none" w="med" len="med"/>
                    </a:lnT>
                    <a:solidFill>
                      <a:schemeClr val="accent1">
                        <a:alpha val="4000"/>
                      </a:schemeClr>
                    </a:solidFill>
                  </a:tcPr>
                </a:tc>
                <a:extLst>
                  <a:ext uri="{0D108BD9-81ED-4DB2-BD59-A6C34878D82A}">
                    <a16:rowId xmlns:a16="http://schemas.microsoft.com/office/drawing/2014/main" val="1388272330"/>
                  </a:ext>
                </a:extLst>
              </a:tr>
            </a:tbl>
          </a:graphicData>
        </a:graphic>
      </p:graphicFrame>
      <p:sp>
        <p:nvSpPr>
          <p:cNvPr id="9" name="TextBox 8">
            <a:extLst>
              <a:ext uri="{FF2B5EF4-FFF2-40B4-BE49-F238E27FC236}">
                <a16:creationId xmlns:a16="http://schemas.microsoft.com/office/drawing/2014/main" id="{E60D06FF-A0B5-BAFF-4B2D-D4044AD7F121}"/>
              </a:ext>
            </a:extLst>
          </p:cNvPr>
          <p:cNvSpPr txBox="1"/>
          <p:nvPr/>
        </p:nvSpPr>
        <p:spPr>
          <a:xfrm>
            <a:off x="9378405" y="1895264"/>
            <a:ext cx="1513266" cy="369332"/>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b="1" i="0" u="none" strike="noStrike" kern="1200" cap="none" spc="0" normalizeH="0" baseline="0" noProof="0" dirty="0">
                <a:ln>
                  <a:noFill/>
                </a:ln>
                <a:solidFill>
                  <a:srgbClr val="C00000"/>
                </a:solidFill>
                <a:effectLst/>
                <a:uLnTx/>
                <a:uFillTx/>
                <a:latin typeface="Yekan Bakh" pitchFamily="2" charset="-78"/>
                <a:ea typeface="Yekan Bakh" pitchFamily="2" charset="-78"/>
                <a:cs typeface="Yekan Bakh" pitchFamily="2" charset="-78"/>
              </a:rPr>
              <a:t>دردسرگاه‌ها</a:t>
            </a:r>
          </a:p>
        </p:txBody>
      </p:sp>
      <p:sp>
        <p:nvSpPr>
          <p:cNvPr id="10" name="TextBox 9">
            <a:extLst>
              <a:ext uri="{FF2B5EF4-FFF2-40B4-BE49-F238E27FC236}">
                <a16:creationId xmlns:a16="http://schemas.microsoft.com/office/drawing/2014/main" id="{F12A2E98-F0FA-AE4A-5507-FB60FC0AA55F}"/>
              </a:ext>
            </a:extLst>
          </p:cNvPr>
          <p:cNvSpPr txBox="1"/>
          <p:nvPr/>
        </p:nvSpPr>
        <p:spPr>
          <a:xfrm>
            <a:off x="9378405" y="5306160"/>
            <a:ext cx="1513266" cy="369332"/>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b="1" i="0" u="none" strike="noStrike" kern="1200" cap="none" spc="0" normalizeH="0" baseline="0" noProof="0" dirty="0">
                <a:ln>
                  <a:noFill/>
                </a:ln>
                <a:solidFill>
                  <a:schemeClr val="accent1"/>
                </a:solidFill>
                <a:effectLst/>
                <a:uLnTx/>
                <a:uFillTx/>
                <a:latin typeface="Yekan Bakh" pitchFamily="2" charset="-78"/>
                <a:ea typeface="Yekan Bakh" pitchFamily="2" charset="-78"/>
                <a:cs typeface="Yekan Bakh" pitchFamily="2" charset="-78"/>
              </a:rPr>
              <a:t>منفعت‌سازها</a:t>
            </a:r>
          </a:p>
        </p:txBody>
      </p:sp>
      <p:sp>
        <p:nvSpPr>
          <p:cNvPr id="11" name="TextBox 10">
            <a:extLst>
              <a:ext uri="{FF2B5EF4-FFF2-40B4-BE49-F238E27FC236}">
                <a16:creationId xmlns:a16="http://schemas.microsoft.com/office/drawing/2014/main" id="{FB311B64-AD3C-E6BB-B4F8-7BC30AF04BA5}"/>
              </a:ext>
            </a:extLst>
          </p:cNvPr>
          <p:cNvSpPr txBox="1"/>
          <p:nvPr/>
        </p:nvSpPr>
        <p:spPr>
          <a:xfrm>
            <a:off x="827835" y="1876792"/>
            <a:ext cx="1513266" cy="369332"/>
          </a:xfrm>
          <a:prstGeom prst="rect">
            <a:avLst/>
          </a:prstGeom>
          <a:noFill/>
        </p:spPr>
        <p:txBody>
          <a:bodyPr wrap="square">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fa-IR" b="1" i="0" u="none" strike="noStrike" kern="1200" cap="none" spc="0" normalizeH="0" baseline="0" noProof="0" dirty="0">
                <a:ln>
                  <a:noFill/>
                </a:ln>
                <a:solidFill>
                  <a:schemeClr val="tx1">
                    <a:lumMod val="50000"/>
                    <a:lumOff val="50000"/>
                  </a:schemeClr>
                </a:solidFill>
                <a:effectLst/>
                <a:uLnTx/>
                <a:uFillTx/>
                <a:latin typeface="Yekan Bakh" pitchFamily="2" charset="-78"/>
                <a:ea typeface="Yekan Bakh" pitchFamily="2" charset="-78"/>
                <a:cs typeface="Yekan Bakh" pitchFamily="2" charset="-78"/>
              </a:rPr>
              <a:t>محصولات</a:t>
            </a:r>
          </a:p>
        </p:txBody>
      </p:sp>
    </p:spTree>
    <p:extLst>
      <p:ext uri="{BB962C8B-B14F-4D97-AF65-F5344CB8AC3E}">
        <p14:creationId xmlns:p14="http://schemas.microsoft.com/office/powerpoint/2010/main" val="54400375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B86485-C8AE-0CE1-A385-0C51766F576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CF869D0-A9BE-857E-47DC-2EF835DD5E9F}"/>
              </a:ext>
            </a:extLst>
          </p:cNvPr>
          <p:cNvSpPr>
            <a:spLocks noGrp="1"/>
          </p:cNvSpPr>
          <p:nvPr>
            <p:ph type="body" sz="quarter" idx="10"/>
          </p:nvPr>
        </p:nvSpPr>
        <p:spPr>
          <a:xfrm>
            <a:off x="4753689" y="256653"/>
            <a:ext cx="6489884" cy="250047"/>
          </a:xfrm>
        </p:spPr>
        <p:txBody>
          <a:bodyPr/>
          <a:lstStyle/>
          <a:p>
            <a:r>
              <a:rPr lang="fa-IR"/>
              <a:t>نقشه ارزش (محصولات، دردسرکاه‌ها و منفعت‌سازها) بر اساس چهار محرک خلق ارزش </a:t>
            </a:r>
          </a:p>
        </p:txBody>
      </p:sp>
      <p:sp>
        <p:nvSpPr>
          <p:cNvPr id="3" name="Text Placeholder 2">
            <a:extLst>
              <a:ext uri="{FF2B5EF4-FFF2-40B4-BE49-F238E27FC236}">
                <a16:creationId xmlns:a16="http://schemas.microsoft.com/office/drawing/2014/main" id="{2F355323-67FA-0446-C38C-6775FCCC3B8A}"/>
              </a:ext>
            </a:extLst>
          </p:cNvPr>
          <p:cNvSpPr>
            <a:spLocks noGrp="1"/>
          </p:cNvSpPr>
          <p:nvPr>
            <p:ph type="body" sz="quarter" idx="12"/>
          </p:nvPr>
        </p:nvSpPr>
        <p:spPr/>
        <p:txBody>
          <a:bodyPr/>
          <a:lstStyle/>
          <a:p>
            <a:r>
              <a:rPr lang="fa-IR" dirty="0"/>
              <a:t>کسب‌وکار تراز خارجی</a:t>
            </a:r>
          </a:p>
        </p:txBody>
      </p:sp>
      <p:sp>
        <p:nvSpPr>
          <p:cNvPr id="4" name="Rectangle: Rounded Corners 3">
            <a:extLst>
              <a:ext uri="{FF2B5EF4-FFF2-40B4-BE49-F238E27FC236}">
                <a16:creationId xmlns:a16="http://schemas.microsoft.com/office/drawing/2014/main" id="{636E665A-8E7D-DC8F-33E8-0AEB406BCD6A}"/>
              </a:ext>
            </a:extLst>
          </p:cNvPr>
          <p:cNvSpPr/>
          <p:nvPr/>
        </p:nvSpPr>
        <p:spPr>
          <a:xfrm>
            <a:off x="8595360" y="1282807"/>
            <a:ext cx="2296311" cy="363736"/>
          </a:xfrm>
          <a:prstGeom prst="roundRect">
            <a:avLst/>
          </a:prstGeom>
          <a:solidFill>
            <a:srgbClr val="004D80">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هوشمندی و اعتبارسنجی فرصت</a:t>
            </a:r>
          </a:p>
        </p:txBody>
      </p:sp>
      <p:sp>
        <p:nvSpPr>
          <p:cNvPr id="5" name="Rectangle: Rounded Corners 4">
            <a:extLst>
              <a:ext uri="{FF2B5EF4-FFF2-40B4-BE49-F238E27FC236}">
                <a16:creationId xmlns:a16="http://schemas.microsoft.com/office/drawing/2014/main" id="{CFF800B2-A739-78D0-982A-E6217CE27517}"/>
              </a:ext>
            </a:extLst>
          </p:cNvPr>
          <p:cNvSpPr/>
          <p:nvPr/>
        </p:nvSpPr>
        <p:spPr>
          <a:xfrm>
            <a:off x="6000699" y="1282807"/>
            <a:ext cx="2296311" cy="363736"/>
          </a:xfrm>
          <a:prstGeom prst="roundRect">
            <a:avLst/>
          </a:prstGeom>
          <a:solidFill>
            <a:srgbClr val="004D80">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ایجاد دسترسی مورداعتماد </a:t>
            </a:r>
          </a:p>
        </p:txBody>
      </p:sp>
      <p:sp>
        <p:nvSpPr>
          <p:cNvPr id="6" name="Rectangle: Rounded Corners 5">
            <a:extLst>
              <a:ext uri="{FF2B5EF4-FFF2-40B4-BE49-F238E27FC236}">
                <a16:creationId xmlns:a16="http://schemas.microsoft.com/office/drawing/2014/main" id="{F6737E8F-2957-ECC9-520D-F5DD3D7D6AA7}"/>
              </a:ext>
            </a:extLst>
          </p:cNvPr>
          <p:cNvSpPr/>
          <p:nvPr/>
        </p:nvSpPr>
        <p:spPr>
          <a:xfrm>
            <a:off x="3406039" y="1282807"/>
            <a:ext cx="2296311" cy="363736"/>
          </a:xfrm>
          <a:prstGeom prst="roundRect">
            <a:avLst/>
          </a:prstGeom>
          <a:solidFill>
            <a:srgbClr val="004D80">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تأمین و فعال‌سازی منابع و قابلیت‌ها</a:t>
            </a:r>
          </a:p>
        </p:txBody>
      </p:sp>
      <p:sp>
        <p:nvSpPr>
          <p:cNvPr id="7" name="Rectangle: Rounded Corners 6">
            <a:extLst>
              <a:ext uri="{FF2B5EF4-FFF2-40B4-BE49-F238E27FC236}">
                <a16:creationId xmlns:a16="http://schemas.microsoft.com/office/drawing/2014/main" id="{978746A4-6834-211C-B769-EEEFA44F4CCA}"/>
              </a:ext>
            </a:extLst>
          </p:cNvPr>
          <p:cNvSpPr/>
          <p:nvPr/>
        </p:nvSpPr>
        <p:spPr>
          <a:xfrm>
            <a:off x="811379" y="1282807"/>
            <a:ext cx="2296311" cy="363736"/>
          </a:xfrm>
          <a:prstGeom prst="roundRect">
            <a:avLst/>
          </a:prstGeom>
          <a:solidFill>
            <a:srgbClr val="F0BE0F">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هماهنگ‌سازی و تبدیل فرصت به نتیجه</a:t>
            </a:r>
          </a:p>
        </p:txBody>
      </p:sp>
      <p:graphicFrame>
        <p:nvGraphicFramePr>
          <p:cNvPr id="8" name="Table 7">
            <a:extLst>
              <a:ext uri="{FF2B5EF4-FFF2-40B4-BE49-F238E27FC236}">
                <a16:creationId xmlns:a16="http://schemas.microsoft.com/office/drawing/2014/main" id="{499FD13E-CC7C-36DE-7BF0-15D687C3BEF6}"/>
              </a:ext>
            </a:extLst>
          </p:cNvPr>
          <p:cNvGraphicFramePr>
            <a:graphicFrameLocks noGrp="1"/>
          </p:cNvGraphicFramePr>
          <p:nvPr>
            <p:extLst>
              <p:ext uri="{D42A27DB-BD31-4B8C-83A1-F6EECF244321}">
                <p14:modId xmlns:p14="http://schemas.microsoft.com/office/powerpoint/2010/main" val="2513219369"/>
              </p:ext>
            </p:extLst>
          </p:nvPr>
        </p:nvGraphicFramePr>
        <p:xfrm>
          <a:off x="811379" y="2098582"/>
          <a:ext cx="10080292" cy="3442588"/>
        </p:xfrm>
        <a:graphic>
          <a:graphicData uri="http://schemas.openxmlformats.org/drawingml/2006/table">
            <a:tbl>
              <a:tblPr firstRow="1" bandRow="1">
                <a:tableStyleId>{5C22544A-7EE6-4342-B048-85BDC9FD1C3A}</a:tableStyleId>
              </a:tblPr>
              <a:tblGrid>
                <a:gridCol w="5040146">
                  <a:extLst>
                    <a:ext uri="{9D8B030D-6E8A-4147-A177-3AD203B41FA5}">
                      <a16:colId xmlns:a16="http://schemas.microsoft.com/office/drawing/2014/main" val="1416290991"/>
                    </a:ext>
                  </a:extLst>
                </a:gridCol>
                <a:gridCol w="5040146">
                  <a:extLst>
                    <a:ext uri="{9D8B030D-6E8A-4147-A177-3AD203B41FA5}">
                      <a16:colId xmlns:a16="http://schemas.microsoft.com/office/drawing/2014/main" val="241493819"/>
                    </a:ext>
                  </a:extLst>
                </a:gridCol>
              </a:tblGrid>
              <a:tr h="1721294">
                <a:tc rowSpan="2">
                  <a:txBody>
                    <a:bodyPr/>
                    <a:lstStyle/>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مدیریت </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End-to-End</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 فرآیند ورود و معامله.</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هماهنگی میان </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Partner</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های حقوقی، مالی، </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Compliance</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 و عملیاتی.</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مدیریت اجرای قرارداد و پایش عملکرد طرف ایرانی.</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طراحی سازوکار </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Continuity</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 و مسیر خروج.</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مدیریت ارتباط میان طرف خارجی و شبکه محلی.</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هماهنگی واکنش به تغییرات سیاسی، اقتصادی یا مقرراتی.</a:t>
                      </a:r>
                    </a:p>
                  </a:txBody>
                  <a:tcPr anchor="ctr">
                    <a:lnR w="6350" cap="flat" cmpd="sng" algn="ctr">
                      <a:solidFill>
                        <a:srgbClr val="F0BE0F"/>
                      </a:solidFill>
                      <a:prstDash val="solid"/>
                      <a:round/>
                      <a:headEnd type="none" w="med" len="med"/>
                      <a:tailEnd type="none" w="med" len="med"/>
                    </a:lnR>
                    <a:solidFill>
                      <a:schemeClr val="bg1">
                        <a:lumMod val="65000"/>
                        <a:alpha val="10000"/>
                      </a:schemeClr>
                    </a:solidFill>
                  </a:tcPr>
                </a:tc>
                <a:tc>
                  <a:txBody>
                    <a:bodyPr/>
                    <a:lstStyle/>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پراکندگی مسئولیت میان ارائه‌دهندگان مختلف را کاهش می‌دهد.</a:t>
                      </a:r>
                    </a:p>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ریسک شکست معامله در مرحله اجرا را کاهش می‌دهد.</a:t>
                      </a:r>
                    </a:p>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نیاز به مدیریت مستقیم پیچیدگی‌های محلی را کاهش می‌دهد.</a:t>
                      </a:r>
                    </a:p>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ریسک عدم هماهنگی در زمان تغییر شرایط را کاهش می‌دهد.</a:t>
                      </a:r>
                    </a:p>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ریسک گیر افتادن سرمایه یا رابطه در یک وضعیت غیرقابل‌کنترل را کاهش می‌دهد.</a:t>
                      </a:r>
                    </a:p>
                  </a:txBody>
                  <a:tcPr anchor="ctr">
                    <a:lnL w="6350" cap="flat" cmpd="sng" algn="ctr">
                      <a:solidFill>
                        <a:srgbClr val="F0BE0F"/>
                      </a:solidFill>
                      <a:prstDash val="solid"/>
                      <a:round/>
                      <a:headEnd type="none" w="med" len="med"/>
                      <a:tailEnd type="none" w="med" len="med"/>
                    </a:lnL>
                    <a:lnB w="6350" cap="flat" cmpd="sng" algn="ctr">
                      <a:solidFill>
                        <a:srgbClr val="F0BE0F"/>
                      </a:solidFill>
                      <a:prstDash val="solid"/>
                      <a:round/>
                      <a:headEnd type="none" w="med" len="med"/>
                      <a:tailEnd type="none" w="med" len="med"/>
                    </a:lnB>
                    <a:solidFill>
                      <a:srgbClr val="C00000">
                        <a:alpha val="3000"/>
                      </a:srgbClr>
                    </a:solidFill>
                  </a:tcPr>
                </a:tc>
                <a:extLst>
                  <a:ext uri="{0D108BD9-81ED-4DB2-BD59-A6C34878D82A}">
                    <a16:rowId xmlns:a16="http://schemas.microsoft.com/office/drawing/2014/main" val="2675777916"/>
                  </a:ext>
                </a:extLst>
              </a:tr>
              <a:tr h="1721294">
                <a:tc vMerge="1">
                  <a:txBody>
                    <a:bodyPr/>
                    <a:lstStyle/>
                    <a:p>
                      <a:endParaRPr lang="en-US"/>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بررسی بازار را به اقدام تجاری واقعی تبدیل می‌کند.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امکان اجرای کنترل‌شده معامله را فراهم می‌کند.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قابلیت واکنش سریع‌تر به تغییر شرایط را ایجاد می‌کند.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امکان تداوم رابطه در شرایط متغیر را افزایش می‌دهد.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در صورت نیاز، امکان خروج کنترل‌شده از معامله را فراهم می‌کند.</a:t>
                      </a:r>
                    </a:p>
                    <a:p>
                      <a:pPr marL="171450" indent="-171450" algn="r" rtl="1">
                        <a:lnSpc>
                          <a:spcPct val="150000"/>
                        </a:lnSpc>
                        <a:buClr>
                          <a:schemeClr val="accent1"/>
                        </a:buClr>
                        <a:buFont typeface="Arial" panose="020B0604020202020204" pitchFamily="34" charset="0"/>
                        <a:buChar char="•"/>
                      </a:pPr>
                      <a:endParaRPr lang="fa-IR" sz="1000" b="0" kern="1200" dirty="0">
                        <a:solidFill>
                          <a:schemeClr val="tx1">
                            <a:lumMod val="75000"/>
                            <a:lumOff val="25000"/>
                          </a:schemeClr>
                        </a:solidFill>
                        <a:latin typeface="Yekan Bakh" pitchFamily="2" charset="-78"/>
                        <a:ea typeface="Yekan Bakh" pitchFamily="2" charset="-78"/>
                        <a:cs typeface="Yekan Bakh" pitchFamily="2" charset="-78"/>
                      </a:endParaRPr>
                    </a:p>
                  </a:txBody>
                  <a:tcPr anchor="ctr">
                    <a:lnL w="6350" cap="flat" cmpd="sng" algn="ctr">
                      <a:solidFill>
                        <a:srgbClr val="F0BE0F"/>
                      </a:solidFill>
                      <a:prstDash val="solid"/>
                      <a:round/>
                      <a:headEnd type="none" w="med" len="med"/>
                      <a:tailEnd type="none" w="med" len="med"/>
                    </a:lnL>
                    <a:lnT w="6350" cap="flat" cmpd="sng" algn="ctr">
                      <a:solidFill>
                        <a:srgbClr val="F0BE0F"/>
                      </a:solidFill>
                      <a:prstDash val="solid"/>
                      <a:round/>
                      <a:headEnd type="none" w="med" len="med"/>
                      <a:tailEnd type="none" w="med" len="med"/>
                    </a:lnT>
                    <a:solidFill>
                      <a:schemeClr val="accent1">
                        <a:alpha val="4000"/>
                      </a:schemeClr>
                    </a:solidFill>
                  </a:tcPr>
                </a:tc>
                <a:extLst>
                  <a:ext uri="{0D108BD9-81ED-4DB2-BD59-A6C34878D82A}">
                    <a16:rowId xmlns:a16="http://schemas.microsoft.com/office/drawing/2014/main" val="1388272330"/>
                  </a:ext>
                </a:extLst>
              </a:tr>
            </a:tbl>
          </a:graphicData>
        </a:graphic>
      </p:graphicFrame>
      <p:sp>
        <p:nvSpPr>
          <p:cNvPr id="9" name="TextBox 8">
            <a:extLst>
              <a:ext uri="{FF2B5EF4-FFF2-40B4-BE49-F238E27FC236}">
                <a16:creationId xmlns:a16="http://schemas.microsoft.com/office/drawing/2014/main" id="{51ADB3B2-D26C-2EBD-99FA-F5E8CD2BDE23}"/>
              </a:ext>
            </a:extLst>
          </p:cNvPr>
          <p:cNvSpPr txBox="1"/>
          <p:nvPr/>
        </p:nvSpPr>
        <p:spPr>
          <a:xfrm>
            <a:off x="9378405" y="1895264"/>
            <a:ext cx="1513266" cy="369332"/>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b="1" i="0" u="none" strike="noStrike" kern="1200" cap="none" spc="0" normalizeH="0" baseline="0" noProof="0" dirty="0">
                <a:ln>
                  <a:noFill/>
                </a:ln>
                <a:solidFill>
                  <a:srgbClr val="C00000"/>
                </a:solidFill>
                <a:effectLst/>
                <a:uLnTx/>
                <a:uFillTx/>
                <a:latin typeface="Yekan Bakh" pitchFamily="2" charset="-78"/>
                <a:ea typeface="Yekan Bakh" pitchFamily="2" charset="-78"/>
                <a:cs typeface="Yekan Bakh" pitchFamily="2" charset="-78"/>
              </a:rPr>
              <a:t>دردسرگاه‌ها</a:t>
            </a:r>
          </a:p>
        </p:txBody>
      </p:sp>
      <p:sp>
        <p:nvSpPr>
          <p:cNvPr id="10" name="TextBox 9">
            <a:extLst>
              <a:ext uri="{FF2B5EF4-FFF2-40B4-BE49-F238E27FC236}">
                <a16:creationId xmlns:a16="http://schemas.microsoft.com/office/drawing/2014/main" id="{BFADEF30-43C7-08B0-8195-C7D900438061}"/>
              </a:ext>
            </a:extLst>
          </p:cNvPr>
          <p:cNvSpPr txBox="1"/>
          <p:nvPr/>
        </p:nvSpPr>
        <p:spPr>
          <a:xfrm>
            <a:off x="9378405" y="5306160"/>
            <a:ext cx="1513266" cy="369332"/>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b="1" i="0" u="none" strike="noStrike" kern="1200" cap="none" spc="0" normalizeH="0" baseline="0" noProof="0" dirty="0">
                <a:ln>
                  <a:noFill/>
                </a:ln>
                <a:solidFill>
                  <a:schemeClr val="accent1"/>
                </a:solidFill>
                <a:effectLst/>
                <a:uLnTx/>
                <a:uFillTx/>
                <a:latin typeface="Yekan Bakh" pitchFamily="2" charset="-78"/>
                <a:ea typeface="Yekan Bakh" pitchFamily="2" charset="-78"/>
                <a:cs typeface="Yekan Bakh" pitchFamily="2" charset="-78"/>
              </a:rPr>
              <a:t>منفعت‌سازها</a:t>
            </a:r>
          </a:p>
        </p:txBody>
      </p:sp>
      <p:sp>
        <p:nvSpPr>
          <p:cNvPr id="11" name="TextBox 10">
            <a:extLst>
              <a:ext uri="{FF2B5EF4-FFF2-40B4-BE49-F238E27FC236}">
                <a16:creationId xmlns:a16="http://schemas.microsoft.com/office/drawing/2014/main" id="{4FF6DBAA-883E-257E-2FD5-E368E8E5D81F}"/>
              </a:ext>
            </a:extLst>
          </p:cNvPr>
          <p:cNvSpPr txBox="1"/>
          <p:nvPr/>
        </p:nvSpPr>
        <p:spPr>
          <a:xfrm>
            <a:off x="827835" y="1876792"/>
            <a:ext cx="1513266" cy="369332"/>
          </a:xfrm>
          <a:prstGeom prst="rect">
            <a:avLst/>
          </a:prstGeom>
          <a:noFill/>
        </p:spPr>
        <p:txBody>
          <a:bodyPr wrap="square">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fa-IR" b="1" i="0" u="none" strike="noStrike" kern="1200" cap="none" spc="0" normalizeH="0" baseline="0" noProof="0" dirty="0">
                <a:ln>
                  <a:noFill/>
                </a:ln>
                <a:solidFill>
                  <a:schemeClr val="tx1">
                    <a:lumMod val="50000"/>
                    <a:lumOff val="50000"/>
                  </a:schemeClr>
                </a:solidFill>
                <a:effectLst/>
                <a:uLnTx/>
                <a:uFillTx/>
                <a:latin typeface="Yekan Bakh" pitchFamily="2" charset="-78"/>
                <a:ea typeface="Yekan Bakh" pitchFamily="2" charset="-78"/>
                <a:cs typeface="Yekan Bakh" pitchFamily="2" charset="-78"/>
              </a:rPr>
              <a:t>محصولات</a:t>
            </a:r>
          </a:p>
        </p:txBody>
      </p:sp>
    </p:spTree>
    <p:extLst>
      <p:ext uri="{BB962C8B-B14F-4D97-AF65-F5344CB8AC3E}">
        <p14:creationId xmlns:p14="http://schemas.microsoft.com/office/powerpoint/2010/main" val="65690714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AB0DEE-D1F9-0C45-414C-B3C0114FDE7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1A6134E-2406-CFCB-2C41-0A81CE6A2C78}"/>
              </a:ext>
            </a:extLst>
          </p:cNvPr>
          <p:cNvSpPr>
            <a:spLocks noGrp="1"/>
          </p:cNvSpPr>
          <p:nvPr>
            <p:ph type="body" sz="quarter" idx="10"/>
          </p:nvPr>
        </p:nvSpPr>
        <p:spPr>
          <a:xfrm>
            <a:off x="4753689" y="256653"/>
            <a:ext cx="6489884" cy="250047"/>
          </a:xfrm>
        </p:spPr>
        <p:txBody>
          <a:bodyPr/>
          <a:lstStyle/>
          <a:p>
            <a:r>
              <a:rPr lang="fa-IR"/>
              <a:t>نقشه ارزش (محصولات، دردسرکاه‌ها و منفعت‌سازها) بر اساس چهار محرک خلق ارزش </a:t>
            </a:r>
          </a:p>
        </p:txBody>
      </p:sp>
      <p:sp>
        <p:nvSpPr>
          <p:cNvPr id="3" name="Text Placeholder 2">
            <a:extLst>
              <a:ext uri="{FF2B5EF4-FFF2-40B4-BE49-F238E27FC236}">
                <a16:creationId xmlns:a16="http://schemas.microsoft.com/office/drawing/2014/main" id="{02025E55-5353-9F82-164B-1648A73D1A5C}"/>
              </a:ext>
            </a:extLst>
          </p:cNvPr>
          <p:cNvSpPr>
            <a:spLocks noGrp="1"/>
          </p:cNvSpPr>
          <p:nvPr>
            <p:ph type="body" sz="quarter" idx="12"/>
          </p:nvPr>
        </p:nvSpPr>
        <p:spPr/>
        <p:txBody>
          <a:bodyPr/>
          <a:lstStyle/>
          <a:p>
            <a:r>
              <a:rPr lang="fa-IR" dirty="0"/>
              <a:t>کسب‌وکار مشتاق</a:t>
            </a:r>
          </a:p>
        </p:txBody>
      </p:sp>
      <p:sp>
        <p:nvSpPr>
          <p:cNvPr id="4" name="Rectangle: Rounded Corners 3">
            <a:extLst>
              <a:ext uri="{FF2B5EF4-FFF2-40B4-BE49-F238E27FC236}">
                <a16:creationId xmlns:a16="http://schemas.microsoft.com/office/drawing/2014/main" id="{0010B0DA-1AC8-792F-B5E5-D37BEA4658E2}"/>
              </a:ext>
            </a:extLst>
          </p:cNvPr>
          <p:cNvSpPr/>
          <p:nvPr/>
        </p:nvSpPr>
        <p:spPr>
          <a:xfrm>
            <a:off x="8595360" y="1282807"/>
            <a:ext cx="2296311" cy="363736"/>
          </a:xfrm>
          <a:prstGeom prst="roundRect">
            <a:avLst/>
          </a:prstGeom>
          <a:solidFill>
            <a:srgbClr val="F0BE0F">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هوشمندی و اعتبارسنجی فرصت</a:t>
            </a:r>
          </a:p>
        </p:txBody>
      </p:sp>
      <p:sp>
        <p:nvSpPr>
          <p:cNvPr id="5" name="Rectangle: Rounded Corners 4">
            <a:extLst>
              <a:ext uri="{FF2B5EF4-FFF2-40B4-BE49-F238E27FC236}">
                <a16:creationId xmlns:a16="http://schemas.microsoft.com/office/drawing/2014/main" id="{0A9F021D-5CEC-2881-E969-493DCC99AD86}"/>
              </a:ext>
            </a:extLst>
          </p:cNvPr>
          <p:cNvSpPr/>
          <p:nvPr/>
        </p:nvSpPr>
        <p:spPr>
          <a:xfrm>
            <a:off x="6000699" y="1282807"/>
            <a:ext cx="2296311" cy="363736"/>
          </a:xfrm>
          <a:prstGeom prst="roundRect">
            <a:avLst/>
          </a:prstGeom>
          <a:solidFill>
            <a:srgbClr val="004D80">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ایجاد دسترسی مورداعتماد </a:t>
            </a:r>
          </a:p>
        </p:txBody>
      </p:sp>
      <p:sp>
        <p:nvSpPr>
          <p:cNvPr id="6" name="Rectangle: Rounded Corners 5">
            <a:extLst>
              <a:ext uri="{FF2B5EF4-FFF2-40B4-BE49-F238E27FC236}">
                <a16:creationId xmlns:a16="http://schemas.microsoft.com/office/drawing/2014/main" id="{7E33CFED-F772-79B0-7D04-D01B394BF7E9}"/>
              </a:ext>
            </a:extLst>
          </p:cNvPr>
          <p:cNvSpPr/>
          <p:nvPr/>
        </p:nvSpPr>
        <p:spPr>
          <a:xfrm>
            <a:off x="3406039" y="1282807"/>
            <a:ext cx="2296311" cy="363736"/>
          </a:xfrm>
          <a:prstGeom prst="roundRect">
            <a:avLst/>
          </a:prstGeom>
          <a:solidFill>
            <a:srgbClr val="004D80">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تأمین و فعال‌سازی منابع و قابلیت‌ها</a:t>
            </a:r>
          </a:p>
        </p:txBody>
      </p:sp>
      <p:sp>
        <p:nvSpPr>
          <p:cNvPr id="7" name="Rectangle: Rounded Corners 6">
            <a:extLst>
              <a:ext uri="{FF2B5EF4-FFF2-40B4-BE49-F238E27FC236}">
                <a16:creationId xmlns:a16="http://schemas.microsoft.com/office/drawing/2014/main" id="{6AC04F0D-AA1E-595D-15C6-255BFDDDB67C}"/>
              </a:ext>
            </a:extLst>
          </p:cNvPr>
          <p:cNvSpPr/>
          <p:nvPr/>
        </p:nvSpPr>
        <p:spPr>
          <a:xfrm>
            <a:off x="811379" y="1282807"/>
            <a:ext cx="2296311" cy="363736"/>
          </a:xfrm>
          <a:prstGeom prst="roundRect">
            <a:avLst/>
          </a:prstGeom>
          <a:solidFill>
            <a:srgbClr val="004D80">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هماهنگ‌سازی و تبدیل فرصت به نتیجه</a:t>
            </a:r>
          </a:p>
        </p:txBody>
      </p:sp>
      <p:graphicFrame>
        <p:nvGraphicFramePr>
          <p:cNvPr id="8" name="Table 7">
            <a:extLst>
              <a:ext uri="{FF2B5EF4-FFF2-40B4-BE49-F238E27FC236}">
                <a16:creationId xmlns:a16="http://schemas.microsoft.com/office/drawing/2014/main" id="{856BD1DA-D1EE-91EF-CD09-CEA4CCB7CBF8}"/>
              </a:ext>
            </a:extLst>
          </p:cNvPr>
          <p:cNvGraphicFramePr>
            <a:graphicFrameLocks noGrp="1"/>
          </p:cNvGraphicFramePr>
          <p:nvPr>
            <p:extLst>
              <p:ext uri="{D42A27DB-BD31-4B8C-83A1-F6EECF244321}">
                <p14:modId xmlns:p14="http://schemas.microsoft.com/office/powerpoint/2010/main" val="445458062"/>
              </p:ext>
            </p:extLst>
          </p:nvPr>
        </p:nvGraphicFramePr>
        <p:xfrm>
          <a:off x="811379" y="2098582"/>
          <a:ext cx="10080292" cy="3442588"/>
        </p:xfrm>
        <a:graphic>
          <a:graphicData uri="http://schemas.openxmlformats.org/drawingml/2006/table">
            <a:tbl>
              <a:tblPr firstRow="1" bandRow="1">
                <a:tableStyleId>{5C22544A-7EE6-4342-B048-85BDC9FD1C3A}</a:tableStyleId>
              </a:tblPr>
              <a:tblGrid>
                <a:gridCol w="5040146">
                  <a:extLst>
                    <a:ext uri="{9D8B030D-6E8A-4147-A177-3AD203B41FA5}">
                      <a16:colId xmlns:a16="http://schemas.microsoft.com/office/drawing/2014/main" val="1416290991"/>
                    </a:ext>
                  </a:extLst>
                </a:gridCol>
                <a:gridCol w="5040146">
                  <a:extLst>
                    <a:ext uri="{9D8B030D-6E8A-4147-A177-3AD203B41FA5}">
                      <a16:colId xmlns:a16="http://schemas.microsoft.com/office/drawing/2014/main" val="241493819"/>
                    </a:ext>
                  </a:extLst>
                </a:gridCol>
              </a:tblGrid>
              <a:tr h="1721294">
                <a:tc rowSpan="2">
                  <a:txBody>
                    <a:bodyPr/>
                    <a:lstStyle/>
                    <a:p>
                      <a:pPr marL="171450" indent="-171450" algn="r" rtl="1">
                        <a:lnSpc>
                          <a:spcPct val="150000"/>
                        </a:lnSpc>
                        <a:buClr>
                          <a:schemeClr val="bg1">
                            <a:lumMod val="75000"/>
                          </a:schemeClr>
                        </a:buClr>
                        <a:buFont typeface="Arial" panose="020B0604020202020204" pitchFamily="34" charset="0"/>
                        <a:buChar char="•"/>
                      </a:pPr>
                      <a:r>
                        <a:rPr lang="en-US" sz="1000" b="0" kern="1200" dirty="0">
                          <a:solidFill>
                            <a:schemeClr val="tx1">
                              <a:lumMod val="75000"/>
                              <a:lumOff val="25000"/>
                            </a:schemeClr>
                          </a:solidFill>
                          <a:latin typeface="Yekan Bakh" pitchFamily="2" charset="-78"/>
                          <a:ea typeface="Yekan Bakh" pitchFamily="2" charset="-78"/>
                          <a:cs typeface="Yekan Bakh" pitchFamily="2" charset="-78"/>
                        </a:rPr>
                        <a:t>International Readiness Assessment</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ارزیابی شکاف‌های حاکمیت شرکتی، مالی، حقوقی و عملیاتی.</a:t>
                      </a:r>
                    </a:p>
                    <a:p>
                      <a:pPr marL="171450" indent="-171450" algn="r" rtl="1">
                        <a:lnSpc>
                          <a:spcPct val="150000"/>
                        </a:lnSpc>
                        <a:buClr>
                          <a:schemeClr val="bg1">
                            <a:lumMod val="75000"/>
                          </a:schemeClr>
                        </a:buClr>
                        <a:buFont typeface="Arial" panose="020B0604020202020204" pitchFamily="34" charset="0"/>
                        <a:buChar char="•"/>
                      </a:pPr>
                      <a:r>
                        <a:rPr lang="en-US" sz="1000" b="0" kern="1200" dirty="0">
                          <a:solidFill>
                            <a:schemeClr val="tx1">
                              <a:lumMod val="75000"/>
                              <a:lumOff val="25000"/>
                            </a:schemeClr>
                          </a:solidFill>
                          <a:latin typeface="Yekan Bakh" pitchFamily="2" charset="-78"/>
                          <a:ea typeface="Yekan Bakh" pitchFamily="2" charset="-78"/>
                          <a:cs typeface="Yekan Bakh" pitchFamily="2" charset="-78"/>
                        </a:rPr>
                        <a:t>Benchmarking</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 با الزامات بازار و طرف خارجی هدف.</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تشخیص علت واقعی رد شدن یا پذیرفته‌نشدن توسط طرف خارجی.</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ارزیابی قابلیت شرکت برای ورود به بازار هدف.</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طراحی</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Roadmap </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 آماده‌سازی بر اساس شکاف‌های شناسایی‌شده.</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ارزیابی اقتصادی مسیر آماده‌سازی و احتمال موفقیت آن.</a:t>
                      </a:r>
                    </a:p>
                  </a:txBody>
                  <a:tcPr anchor="ctr">
                    <a:lnR w="6350" cap="flat" cmpd="sng" algn="ctr">
                      <a:solidFill>
                        <a:srgbClr val="F0BE0F"/>
                      </a:solidFill>
                      <a:prstDash val="solid"/>
                      <a:round/>
                      <a:headEnd type="none" w="med" len="med"/>
                      <a:tailEnd type="none" w="med" len="med"/>
                    </a:lnR>
                    <a:solidFill>
                      <a:schemeClr val="bg1">
                        <a:lumMod val="65000"/>
                        <a:alpha val="10000"/>
                      </a:schemeClr>
                    </a:solidFill>
                  </a:tcPr>
                </a:tc>
                <a:tc>
                  <a:txBody>
                    <a:bodyPr/>
                    <a:lstStyle/>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ابهام درباره دلیل رد شدن توسط طرف خارجی را کاهش می‌دهد.</a:t>
                      </a:r>
                    </a:p>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از اصلاحات پراکنده و غیرضروری جلوگیری می‌کند.</a:t>
                      </a:r>
                    </a:p>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ریسک صرف هزینه برای آماده‌سازی در مسیر اشتباه را کاهش می‌دهد.</a:t>
                      </a:r>
                    </a:p>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نقطه شروع اصلاحات سازمانی را مشخص می‌کند.</a:t>
                      </a:r>
                    </a:p>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ریسک سرمایه‌گذاری روی قابلیت‌هایی که برای بازار هدف ارزش ندارند را کاهش می‌دهد.</a:t>
                      </a:r>
                    </a:p>
                  </a:txBody>
                  <a:tcPr anchor="ctr">
                    <a:lnL w="6350" cap="flat" cmpd="sng" algn="ctr">
                      <a:solidFill>
                        <a:srgbClr val="F0BE0F"/>
                      </a:solidFill>
                      <a:prstDash val="solid"/>
                      <a:round/>
                      <a:headEnd type="none" w="med" len="med"/>
                      <a:tailEnd type="none" w="med" len="med"/>
                    </a:lnL>
                    <a:lnB w="6350" cap="flat" cmpd="sng" algn="ctr">
                      <a:solidFill>
                        <a:srgbClr val="F0BE0F"/>
                      </a:solidFill>
                      <a:prstDash val="solid"/>
                      <a:round/>
                      <a:headEnd type="none" w="med" len="med"/>
                      <a:tailEnd type="none" w="med" len="med"/>
                    </a:lnB>
                    <a:solidFill>
                      <a:srgbClr val="C00000">
                        <a:alpha val="3000"/>
                      </a:srgbClr>
                    </a:solidFill>
                  </a:tcPr>
                </a:tc>
                <a:extLst>
                  <a:ext uri="{0D108BD9-81ED-4DB2-BD59-A6C34878D82A}">
                    <a16:rowId xmlns:a16="http://schemas.microsoft.com/office/drawing/2014/main" val="2675777916"/>
                  </a:ext>
                </a:extLst>
              </a:tr>
              <a:tr h="1721294">
                <a:tc vMerge="1">
                  <a:txBody>
                    <a:bodyPr/>
                    <a:lstStyle/>
                    <a:p>
                      <a:endParaRPr lang="en-US"/>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تصویر دقیق و مستقل از وضعیت آمادگی شرکت ایجاد می‌کند.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مسیر بهبود مشخص و قابل‌اجرا ایجاد می‌کند.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احتمال پذیرفته‌شدن شرکت توسط طرف خارجی را افزایش می‌دهد.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امکان تصمیم‌گیری درباره میزان سرمایه‌گذاری لازم برای آماده‌سازی را ایجاد می‌کند.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آمادگی شرکت برای ورود به بازار خارجی را به یک مسیر قابل‌مدیریت تبدیل می‌کند. </a:t>
                      </a:r>
                    </a:p>
                  </a:txBody>
                  <a:tcPr anchor="ctr">
                    <a:lnL w="6350" cap="flat" cmpd="sng" algn="ctr">
                      <a:solidFill>
                        <a:srgbClr val="F0BE0F"/>
                      </a:solidFill>
                      <a:prstDash val="solid"/>
                      <a:round/>
                      <a:headEnd type="none" w="med" len="med"/>
                      <a:tailEnd type="none" w="med" len="med"/>
                    </a:lnL>
                    <a:lnT w="6350" cap="flat" cmpd="sng" algn="ctr">
                      <a:solidFill>
                        <a:srgbClr val="F0BE0F"/>
                      </a:solidFill>
                      <a:prstDash val="solid"/>
                      <a:round/>
                      <a:headEnd type="none" w="med" len="med"/>
                      <a:tailEnd type="none" w="med" len="med"/>
                    </a:lnT>
                    <a:solidFill>
                      <a:schemeClr val="accent1">
                        <a:alpha val="4000"/>
                      </a:schemeClr>
                    </a:solidFill>
                  </a:tcPr>
                </a:tc>
                <a:extLst>
                  <a:ext uri="{0D108BD9-81ED-4DB2-BD59-A6C34878D82A}">
                    <a16:rowId xmlns:a16="http://schemas.microsoft.com/office/drawing/2014/main" val="1388272330"/>
                  </a:ext>
                </a:extLst>
              </a:tr>
            </a:tbl>
          </a:graphicData>
        </a:graphic>
      </p:graphicFrame>
      <p:sp>
        <p:nvSpPr>
          <p:cNvPr id="9" name="TextBox 8">
            <a:extLst>
              <a:ext uri="{FF2B5EF4-FFF2-40B4-BE49-F238E27FC236}">
                <a16:creationId xmlns:a16="http://schemas.microsoft.com/office/drawing/2014/main" id="{5468FF63-F625-5595-6469-4C9297D48C7C}"/>
              </a:ext>
            </a:extLst>
          </p:cNvPr>
          <p:cNvSpPr txBox="1"/>
          <p:nvPr/>
        </p:nvSpPr>
        <p:spPr>
          <a:xfrm>
            <a:off x="9378405" y="1895264"/>
            <a:ext cx="1513266" cy="369332"/>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b="1" i="0" u="none" strike="noStrike" kern="1200" cap="none" spc="0" normalizeH="0" baseline="0" noProof="0" dirty="0">
                <a:ln>
                  <a:noFill/>
                </a:ln>
                <a:solidFill>
                  <a:srgbClr val="C00000"/>
                </a:solidFill>
                <a:effectLst/>
                <a:uLnTx/>
                <a:uFillTx/>
                <a:latin typeface="Yekan Bakh" pitchFamily="2" charset="-78"/>
                <a:ea typeface="Yekan Bakh" pitchFamily="2" charset="-78"/>
                <a:cs typeface="Yekan Bakh" pitchFamily="2" charset="-78"/>
              </a:rPr>
              <a:t>دردسرگاه‌ها</a:t>
            </a:r>
          </a:p>
        </p:txBody>
      </p:sp>
      <p:sp>
        <p:nvSpPr>
          <p:cNvPr id="10" name="TextBox 9">
            <a:extLst>
              <a:ext uri="{FF2B5EF4-FFF2-40B4-BE49-F238E27FC236}">
                <a16:creationId xmlns:a16="http://schemas.microsoft.com/office/drawing/2014/main" id="{98260105-AF17-840B-B850-8C970162BE7B}"/>
              </a:ext>
            </a:extLst>
          </p:cNvPr>
          <p:cNvSpPr txBox="1"/>
          <p:nvPr/>
        </p:nvSpPr>
        <p:spPr>
          <a:xfrm>
            <a:off x="9378405" y="5306160"/>
            <a:ext cx="1513266" cy="369332"/>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b="1" i="0" u="none" strike="noStrike" kern="1200" cap="none" spc="0" normalizeH="0" baseline="0" noProof="0" dirty="0">
                <a:ln>
                  <a:noFill/>
                </a:ln>
                <a:solidFill>
                  <a:schemeClr val="accent1"/>
                </a:solidFill>
                <a:effectLst/>
                <a:uLnTx/>
                <a:uFillTx/>
                <a:latin typeface="Yekan Bakh" pitchFamily="2" charset="-78"/>
                <a:ea typeface="Yekan Bakh" pitchFamily="2" charset="-78"/>
                <a:cs typeface="Yekan Bakh" pitchFamily="2" charset="-78"/>
              </a:rPr>
              <a:t>منفعت‌سازها</a:t>
            </a:r>
          </a:p>
        </p:txBody>
      </p:sp>
      <p:sp>
        <p:nvSpPr>
          <p:cNvPr id="11" name="TextBox 10">
            <a:extLst>
              <a:ext uri="{FF2B5EF4-FFF2-40B4-BE49-F238E27FC236}">
                <a16:creationId xmlns:a16="http://schemas.microsoft.com/office/drawing/2014/main" id="{D358F289-ABFA-120A-952F-AE69F739F155}"/>
              </a:ext>
            </a:extLst>
          </p:cNvPr>
          <p:cNvSpPr txBox="1"/>
          <p:nvPr/>
        </p:nvSpPr>
        <p:spPr>
          <a:xfrm>
            <a:off x="827835" y="1876792"/>
            <a:ext cx="1513266" cy="369332"/>
          </a:xfrm>
          <a:prstGeom prst="rect">
            <a:avLst/>
          </a:prstGeom>
          <a:noFill/>
        </p:spPr>
        <p:txBody>
          <a:bodyPr wrap="square">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fa-IR" b="1" i="0" u="none" strike="noStrike" kern="1200" cap="none" spc="0" normalizeH="0" baseline="0" noProof="0" dirty="0">
                <a:ln>
                  <a:noFill/>
                </a:ln>
                <a:solidFill>
                  <a:schemeClr val="tx1">
                    <a:lumMod val="50000"/>
                    <a:lumOff val="50000"/>
                  </a:schemeClr>
                </a:solidFill>
                <a:effectLst/>
                <a:uLnTx/>
                <a:uFillTx/>
                <a:latin typeface="Yekan Bakh" pitchFamily="2" charset="-78"/>
                <a:ea typeface="Yekan Bakh" pitchFamily="2" charset="-78"/>
                <a:cs typeface="Yekan Bakh" pitchFamily="2" charset="-78"/>
              </a:rPr>
              <a:t>محصولات</a:t>
            </a:r>
          </a:p>
        </p:txBody>
      </p:sp>
    </p:spTree>
    <p:extLst>
      <p:ext uri="{BB962C8B-B14F-4D97-AF65-F5344CB8AC3E}">
        <p14:creationId xmlns:p14="http://schemas.microsoft.com/office/powerpoint/2010/main" val="239537672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BF4309B-1137-108D-B8E5-63258AAF047B}"/>
              </a:ext>
            </a:extLst>
          </p:cNvPr>
          <p:cNvSpPr>
            <a:spLocks noGrp="1"/>
          </p:cNvSpPr>
          <p:nvPr>
            <p:ph type="body" sz="quarter" idx="10"/>
          </p:nvPr>
        </p:nvSpPr>
        <p:spPr>
          <a:xfrm>
            <a:off x="4753689" y="256653"/>
            <a:ext cx="6489884" cy="250047"/>
          </a:xfrm>
        </p:spPr>
        <p:txBody>
          <a:bodyPr/>
          <a:lstStyle/>
          <a:p>
            <a:r>
              <a:rPr lang="fa-IR"/>
              <a:t>نقشه ارزش (محصولات، دردسرکاه‌ها و منفعت‌سازها) بر اساس چهار محرک خلق ارزش </a:t>
            </a:r>
          </a:p>
        </p:txBody>
      </p:sp>
      <p:sp>
        <p:nvSpPr>
          <p:cNvPr id="3" name="Text Placeholder 2">
            <a:extLst>
              <a:ext uri="{FF2B5EF4-FFF2-40B4-BE49-F238E27FC236}">
                <a16:creationId xmlns:a16="http://schemas.microsoft.com/office/drawing/2014/main" id="{73378514-6737-8D35-085A-4455DE0C6AA2}"/>
              </a:ext>
            </a:extLst>
          </p:cNvPr>
          <p:cNvSpPr>
            <a:spLocks noGrp="1"/>
          </p:cNvSpPr>
          <p:nvPr>
            <p:ph type="body" sz="quarter" idx="12"/>
          </p:nvPr>
        </p:nvSpPr>
        <p:spPr/>
        <p:txBody>
          <a:bodyPr/>
          <a:lstStyle/>
          <a:p>
            <a:r>
              <a:rPr lang="fa-IR"/>
              <a:t>کسب‌وکار مشتاق</a:t>
            </a:r>
          </a:p>
        </p:txBody>
      </p:sp>
      <p:sp>
        <p:nvSpPr>
          <p:cNvPr id="4" name="Rectangle: Rounded Corners 3">
            <a:extLst>
              <a:ext uri="{FF2B5EF4-FFF2-40B4-BE49-F238E27FC236}">
                <a16:creationId xmlns:a16="http://schemas.microsoft.com/office/drawing/2014/main" id="{C071016E-2B47-5AD3-F736-F2DF134F7765}"/>
              </a:ext>
            </a:extLst>
          </p:cNvPr>
          <p:cNvSpPr/>
          <p:nvPr/>
        </p:nvSpPr>
        <p:spPr>
          <a:xfrm>
            <a:off x="8595360" y="1282807"/>
            <a:ext cx="2296311" cy="363736"/>
          </a:xfrm>
          <a:prstGeom prst="roundRect">
            <a:avLst/>
          </a:prstGeom>
          <a:solidFill>
            <a:srgbClr val="004D80">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هوشمندی و اعتبارسنجی فرصت</a:t>
            </a:r>
          </a:p>
        </p:txBody>
      </p:sp>
      <p:sp>
        <p:nvSpPr>
          <p:cNvPr id="5" name="Rectangle: Rounded Corners 4">
            <a:extLst>
              <a:ext uri="{FF2B5EF4-FFF2-40B4-BE49-F238E27FC236}">
                <a16:creationId xmlns:a16="http://schemas.microsoft.com/office/drawing/2014/main" id="{E199C5DF-AB41-97EB-B119-AC8D6998FAF1}"/>
              </a:ext>
            </a:extLst>
          </p:cNvPr>
          <p:cNvSpPr/>
          <p:nvPr/>
        </p:nvSpPr>
        <p:spPr>
          <a:xfrm>
            <a:off x="6000699" y="1282807"/>
            <a:ext cx="2296311" cy="363736"/>
          </a:xfrm>
          <a:prstGeom prst="roundRect">
            <a:avLst/>
          </a:prstGeom>
          <a:solidFill>
            <a:srgbClr val="F0BE0F">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ایجاد دسترسی مورداعتماد </a:t>
            </a:r>
          </a:p>
        </p:txBody>
      </p:sp>
      <p:sp>
        <p:nvSpPr>
          <p:cNvPr id="6" name="Rectangle: Rounded Corners 5">
            <a:extLst>
              <a:ext uri="{FF2B5EF4-FFF2-40B4-BE49-F238E27FC236}">
                <a16:creationId xmlns:a16="http://schemas.microsoft.com/office/drawing/2014/main" id="{A05FA287-B3F9-609A-78DA-B2EE3BD5C244}"/>
              </a:ext>
            </a:extLst>
          </p:cNvPr>
          <p:cNvSpPr/>
          <p:nvPr/>
        </p:nvSpPr>
        <p:spPr>
          <a:xfrm>
            <a:off x="3406039" y="1282807"/>
            <a:ext cx="2296311" cy="363736"/>
          </a:xfrm>
          <a:prstGeom prst="roundRect">
            <a:avLst/>
          </a:prstGeom>
          <a:solidFill>
            <a:srgbClr val="004D80">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a:ln>
                  <a:noFill/>
                </a:ln>
                <a:solidFill>
                  <a:schemeClr val="bg1"/>
                </a:solidFill>
                <a:effectLst/>
                <a:uLnTx/>
                <a:uFillTx/>
                <a:latin typeface="Yekan Bakh" pitchFamily="2" charset="-78"/>
                <a:ea typeface="Yekan Bakh" pitchFamily="2" charset="-78"/>
                <a:cs typeface="Yekan Bakh" pitchFamily="2" charset="-78"/>
              </a:rPr>
              <a:t>تأمین و فعال‌سازی منابع و قابلیت‌ها</a:t>
            </a:r>
          </a:p>
        </p:txBody>
      </p:sp>
      <p:sp>
        <p:nvSpPr>
          <p:cNvPr id="7" name="Rectangle: Rounded Corners 6">
            <a:extLst>
              <a:ext uri="{FF2B5EF4-FFF2-40B4-BE49-F238E27FC236}">
                <a16:creationId xmlns:a16="http://schemas.microsoft.com/office/drawing/2014/main" id="{AE8E3281-91CE-D6C0-1C57-613317EBCDB8}"/>
              </a:ext>
            </a:extLst>
          </p:cNvPr>
          <p:cNvSpPr/>
          <p:nvPr/>
        </p:nvSpPr>
        <p:spPr>
          <a:xfrm>
            <a:off x="811379" y="1282807"/>
            <a:ext cx="2296311" cy="363736"/>
          </a:xfrm>
          <a:prstGeom prst="roundRect">
            <a:avLst/>
          </a:prstGeom>
          <a:solidFill>
            <a:srgbClr val="004D80">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هماهنگ‌سازی و تبدیل فرصت به نتیجه</a:t>
            </a:r>
          </a:p>
        </p:txBody>
      </p:sp>
      <p:graphicFrame>
        <p:nvGraphicFramePr>
          <p:cNvPr id="8" name="Table 7">
            <a:extLst>
              <a:ext uri="{FF2B5EF4-FFF2-40B4-BE49-F238E27FC236}">
                <a16:creationId xmlns:a16="http://schemas.microsoft.com/office/drawing/2014/main" id="{1B30EE5F-5C64-EE87-9299-968C507400B1}"/>
              </a:ext>
            </a:extLst>
          </p:cNvPr>
          <p:cNvGraphicFramePr>
            <a:graphicFrameLocks noGrp="1"/>
          </p:cNvGraphicFramePr>
          <p:nvPr>
            <p:extLst>
              <p:ext uri="{D42A27DB-BD31-4B8C-83A1-F6EECF244321}">
                <p14:modId xmlns:p14="http://schemas.microsoft.com/office/powerpoint/2010/main" val="3865991696"/>
              </p:ext>
            </p:extLst>
          </p:nvPr>
        </p:nvGraphicFramePr>
        <p:xfrm>
          <a:off x="811379" y="2098582"/>
          <a:ext cx="10080292" cy="3442588"/>
        </p:xfrm>
        <a:graphic>
          <a:graphicData uri="http://schemas.openxmlformats.org/drawingml/2006/table">
            <a:tbl>
              <a:tblPr firstRow="1" bandRow="1">
                <a:tableStyleId>{5C22544A-7EE6-4342-B048-85BDC9FD1C3A}</a:tableStyleId>
              </a:tblPr>
              <a:tblGrid>
                <a:gridCol w="5040146">
                  <a:extLst>
                    <a:ext uri="{9D8B030D-6E8A-4147-A177-3AD203B41FA5}">
                      <a16:colId xmlns:a16="http://schemas.microsoft.com/office/drawing/2014/main" val="1416290991"/>
                    </a:ext>
                  </a:extLst>
                </a:gridCol>
                <a:gridCol w="5040146">
                  <a:extLst>
                    <a:ext uri="{9D8B030D-6E8A-4147-A177-3AD203B41FA5}">
                      <a16:colId xmlns:a16="http://schemas.microsoft.com/office/drawing/2014/main" val="241493819"/>
                    </a:ext>
                  </a:extLst>
                </a:gridCol>
              </a:tblGrid>
              <a:tr h="1721294">
                <a:tc rowSpan="2">
                  <a:txBody>
                    <a:bodyPr/>
                    <a:lstStyle/>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معرفی شرکت به طرف‌های خارجی مناسب.</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ایجاد دسترسی به </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Partner</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های صادراتی و واسطه‌های معتبر.</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اتصال به شرکای فنی خارجی.</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ایجاد ارتباط با شبکه تجاری بین‌المللی.</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تسهیل دریافت </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Certification</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 و اعتبارنامه‌های موردشناسایی طرف خارجی.</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ایجاد مسیر معرفی شرکت پس از تکمیل سطح موردنیاز آمادگی.</a:t>
                      </a:r>
                      <a:endParaRPr lang="en-US" sz="1000" b="0" kern="1200" dirty="0">
                        <a:solidFill>
                          <a:schemeClr val="tx1">
                            <a:lumMod val="75000"/>
                            <a:lumOff val="25000"/>
                          </a:schemeClr>
                        </a:solidFill>
                        <a:latin typeface="Yekan Bakh" pitchFamily="2" charset="-78"/>
                        <a:ea typeface="Yekan Bakh" pitchFamily="2" charset="-78"/>
                        <a:cs typeface="Yekan Bakh" pitchFamily="2" charset="-78"/>
                      </a:endParaRPr>
                    </a:p>
                  </a:txBody>
                  <a:tcPr anchor="ctr">
                    <a:lnR w="6350" cap="flat" cmpd="sng" algn="ctr">
                      <a:solidFill>
                        <a:srgbClr val="F0BE0F"/>
                      </a:solidFill>
                      <a:prstDash val="solid"/>
                      <a:round/>
                      <a:headEnd type="none" w="med" len="med"/>
                      <a:tailEnd type="none" w="med" len="med"/>
                    </a:lnR>
                    <a:solidFill>
                      <a:schemeClr val="bg1">
                        <a:lumMod val="65000"/>
                        <a:alpha val="10000"/>
                      </a:schemeClr>
                    </a:solidFill>
                  </a:tcPr>
                </a:tc>
                <a:tc>
                  <a:txBody>
                    <a:bodyPr/>
                    <a:lstStyle/>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ریسک انتخاب واسطه صادراتی نامعتبر را کاهش می‌دهد.</a:t>
                      </a:r>
                    </a:p>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مانع نبود شبکه ارتباطی را کاهش می‌دهد.</a:t>
                      </a:r>
                    </a:p>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بی‌اعتمادی اولیه طرف خارجی نسبت به شرکت ناشناخته را کاهش می‌دهد.</a:t>
                      </a:r>
                    </a:p>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احتمال صرف منابع برای ارتباط با طرف‌های نامتناسب را کاهش می‌دهد.</a:t>
                      </a:r>
                    </a:p>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ریسک دریافت گواهی یا اعتبارنامه‌ای که طرف خارجی آن را نمی‌پذیرد کاهش می‌یابد.</a:t>
                      </a:r>
                      <a:endParaRPr lang="en-US" sz="1000" b="0" kern="1200" dirty="0">
                        <a:solidFill>
                          <a:schemeClr val="tx1">
                            <a:lumMod val="75000"/>
                            <a:lumOff val="25000"/>
                          </a:schemeClr>
                        </a:solidFill>
                        <a:latin typeface="Yekan Bakh" pitchFamily="2" charset="-78"/>
                        <a:ea typeface="Yekan Bakh" pitchFamily="2" charset="-78"/>
                        <a:cs typeface="Yekan Bakh" pitchFamily="2" charset="-78"/>
                      </a:endParaRPr>
                    </a:p>
                  </a:txBody>
                  <a:tcPr anchor="ctr">
                    <a:lnL w="6350" cap="flat" cmpd="sng" algn="ctr">
                      <a:solidFill>
                        <a:srgbClr val="F0BE0F"/>
                      </a:solidFill>
                      <a:prstDash val="solid"/>
                      <a:round/>
                      <a:headEnd type="none" w="med" len="med"/>
                      <a:tailEnd type="none" w="med" len="med"/>
                    </a:lnL>
                    <a:lnB w="6350" cap="flat" cmpd="sng" algn="ctr">
                      <a:solidFill>
                        <a:srgbClr val="F0BE0F"/>
                      </a:solidFill>
                      <a:prstDash val="solid"/>
                      <a:round/>
                      <a:headEnd type="none" w="med" len="med"/>
                      <a:tailEnd type="none" w="med" len="med"/>
                    </a:lnB>
                    <a:solidFill>
                      <a:srgbClr val="C00000">
                        <a:alpha val="3000"/>
                      </a:srgbClr>
                    </a:solidFill>
                  </a:tcPr>
                </a:tc>
                <a:extLst>
                  <a:ext uri="{0D108BD9-81ED-4DB2-BD59-A6C34878D82A}">
                    <a16:rowId xmlns:a16="http://schemas.microsoft.com/office/drawing/2014/main" val="2675777916"/>
                  </a:ext>
                </a:extLst>
              </a:tr>
              <a:tr h="1721294">
                <a:tc vMerge="1">
                  <a:txBody>
                    <a:bodyPr/>
                    <a:lstStyle/>
                    <a:p>
                      <a:endParaRPr lang="en-US"/>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شرکت را از وضعیت «آماده اما بدون دسترسی» به «قابل‌معرفی به بازار» منتقل می‌کند.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احتمال ایجاد ارتباط با شریک یا مشتری خارجی را افزایش می‌دهد.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اعتبار بین‌المللی شرکت را تقویت می‌کند.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امکان دسترسی به فناوری و دانش فنی خارجی را ایجاد می‌کند.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مسیر ورود به بازار خارجی را کوتاه‌تر می‌کند.</a:t>
                      </a:r>
                      <a:endParaRPr lang="en-US" sz="1000" b="0" kern="1200" dirty="0">
                        <a:solidFill>
                          <a:schemeClr val="tx1">
                            <a:lumMod val="75000"/>
                            <a:lumOff val="25000"/>
                          </a:schemeClr>
                        </a:solidFill>
                        <a:latin typeface="Yekan Bakh" pitchFamily="2" charset="-78"/>
                        <a:ea typeface="Yekan Bakh" pitchFamily="2" charset="-78"/>
                        <a:cs typeface="Yekan Bakh" pitchFamily="2" charset="-78"/>
                      </a:endParaRPr>
                    </a:p>
                  </a:txBody>
                  <a:tcPr anchor="ctr">
                    <a:lnL w="6350" cap="flat" cmpd="sng" algn="ctr">
                      <a:solidFill>
                        <a:srgbClr val="F0BE0F"/>
                      </a:solidFill>
                      <a:prstDash val="solid"/>
                      <a:round/>
                      <a:headEnd type="none" w="med" len="med"/>
                      <a:tailEnd type="none" w="med" len="med"/>
                    </a:lnL>
                    <a:lnT w="6350" cap="flat" cmpd="sng" algn="ctr">
                      <a:solidFill>
                        <a:srgbClr val="F0BE0F"/>
                      </a:solidFill>
                      <a:prstDash val="solid"/>
                      <a:round/>
                      <a:headEnd type="none" w="med" len="med"/>
                      <a:tailEnd type="none" w="med" len="med"/>
                    </a:lnT>
                    <a:solidFill>
                      <a:schemeClr val="accent1">
                        <a:alpha val="4000"/>
                      </a:schemeClr>
                    </a:solidFill>
                  </a:tcPr>
                </a:tc>
                <a:extLst>
                  <a:ext uri="{0D108BD9-81ED-4DB2-BD59-A6C34878D82A}">
                    <a16:rowId xmlns:a16="http://schemas.microsoft.com/office/drawing/2014/main" val="1388272330"/>
                  </a:ext>
                </a:extLst>
              </a:tr>
            </a:tbl>
          </a:graphicData>
        </a:graphic>
      </p:graphicFrame>
      <p:sp>
        <p:nvSpPr>
          <p:cNvPr id="10" name="TextBox 9">
            <a:extLst>
              <a:ext uri="{FF2B5EF4-FFF2-40B4-BE49-F238E27FC236}">
                <a16:creationId xmlns:a16="http://schemas.microsoft.com/office/drawing/2014/main" id="{B40C791C-5403-C4E3-46D9-D96B0CC180DC}"/>
              </a:ext>
            </a:extLst>
          </p:cNvPr>
          <p:cNvSpPr txBox="1"/>
          <p:nvPr/>
        </p:nvSpPr>
        <p:spPr>
          <a:xfrm>
            <a:off x="9378405" y="5306160"/>
            <a:ext cx="1513266" cy="369332"/>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b="1" i="0" u="none" strike="noStrike" kern="1200" cap="none" spc="0" normalizeH="0" baseline="0" noProof="0" dirty="0">
                <a:ln>
                  <a:noFill/>
                </a:ln>
                <a:solidFill>
                  <a:schemeClr val="accent1"/>
                </a:solidFill>
                <a:effectLst/>
                <a:uLnTx/>
                <a:uFillTx/>
                <a:latin typeface="Yekan Bakh" pitchFamily="2" charset="-78"/>
                <a:ea typeface="Yekan Bakh" pitchFamily="2" charset="-78"/>
                <a:cs typeface="Yekan Bakh" pitchFamily="2" charset="-78"/>
              </a:rPr>
              <a:t>منفعت‌سازها</a:t>
            </a:r>
          </a:p>
        </p:txBody>
      </p:sp>
      <p:sp>
        <p:nvSpPr>
          <p:cNvPr id="11" name="TextBox 10">
            <a:extLst>
              <a:ext uri="{FF2B5EF4-FFF2-40B4-BE49-F238E27FC236}">
                <a16:creationId xmlns:a16="http://schemas.microsoft.com/office/drawing/2014/main" id="{C6CC0D23-9CFA-D756-AA89-E4F5F33918BA}"/>
              </a:ext>
            </a:extLst>
          </p:cNvPr>
          <p:cNvSpPr txBox="1"/>
          <p:nvPr/>
        </p:nvSpPr>
        <p:spPr>
          <a:xfrm>
            <a:off x="827835" y="1876792"/>
            <a:ext cx="1513266" cy="369332"/>
          </a:xfrm>
          <a:prstGeom prst="rect">
            <a:avLst/>
          </a:prstGeom>
          <a:noFill/>
        </p:spPr>
        <p:txBody>
          <a:bodyPr wrap="square">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fa-IR" b="1" i="0" u="none" strike="noStrike" kern="1200" cap="none" spc="0" normalizeH="0" baseline="0" noProof="0" dirty="0">
                <a:ln>
                  <a:noFill/>
                </a:ln>
                <a:solidFill>
                  <a:schemeClr val="tx1">
                    <a:lumMod val="50000"/>
                    <a:lumOff val="50000"/>
                  </a:schemeClr>
                </a:solidFill>
                <a:effectLst/>
                <a:uLnTx/>
                <a:uFillTx/>
                <a:latin typeface="Yekan Bakh" pitchFamily="2" charset="-78"/>
                <a:ea typeface="Yekan Bakh" pitchFamily="2" charset="-78"/>
                <a:cs typeface="Yekan Bakh" pitchFamily="2" charset="-78"/>
              </a:rPr>
              <a:t>محصولات</a:t>
            </a:r>
          </a:p>
        </p:txBody>
      </p:sp>
      <p:sp>
        <p:nvSpPr>
          <p:cNvPr id="13" name="TextBox 12">
            <a:extLst>
              <a:ext uri="{FF2B5EF4-FFF2-40B4-BE49-F238E27FC236}">
                <a16:creationId xmlns:a16="http://schemas.microsoft.com/office/drawing/2014/main" id="{7466332E-66A1-9350-B34C-E86AE48FC3B2}"/>
              </a:ext>
            </a:extLst>
          </p:cNvPr>
          <p:cNvSpPr txBox="1"/>
          <p:nvPr/>
        </p:nvSpPr>
        <p:spPr>
          <a:xfrm>
            <a:off x="9378405" y="1895264"/>
            <a:ext cx="1513266" cy="369332"/>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b="1" i="0" u="none" strike="noStrike" kern="1200" cap="none" spc="0" normalizeH="0" baseline="0" noProof="0" dirty="0">
                <a:ln>
                  <a:noFill/>
                </a:ln>
                <a:solidFill>
                  <a:srgbClr val="C00000"/>
                </a:solidFill>
                <a:effectLst/>
                <a:uLnTx/>
                <a:uFillTx/>
                <a:latin typeface="Yekan Bakh" pitchFamily="2" charset="-78"/>
                <a:ea typeface="Yekan Bakh" pitchFamily="2" charset="-78"/>
                <a:cs typeface="Yekan Bakh" pitchFamily="2" charset="-78"/>
              </a:rPr>
              <a:t>دردسرگاه‌ها</a:t>
            </a:r>
          </a:p>
        </p:txBody>
      </p:sp>
    </p:spTree>
    <p:extLst>
      <p:ext uri="{BB962C8B-B14F-4D97-AF65-F5344CB8AC3E}">
        <p14:creationId xmlns:p14="http://schemas.microsoft.com/office/powerpoint/2010/main" val="293994952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B1B6C-CEE3-0DA3-33CE-3B688D1B28D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A2CC794-D337-E261-1AE3-F257846EBA8B}"/>
              </a:ext>
            </a:extLst>
          </p:cNvPr>
          <p:cNvSpPr>
            <a:spLocks noGrp="1"/>
          </p:cNvSpPr>
          <p:nvPr>
            <p:ph type="body" sz="quarter" idx="10"/>
          </p:nvPr>
        </p:nvSpPr>
        <p:spPr>
          <a:xfrm>
            <a:off x="4753689" y="256653"/>
            <a:ext cx="6489884" cy="250047"/>
          </a:xfrm>
        </p:spPr>
        <p:txBody>
          <a:bodyPr/>
          <a:lstStyle/>
          <a:p>
            <a:r>
              <a:rPr lang="fa-IR"/>
              <a:t>نقشه ارزش (محصولات، دردسرکاه‌ها و منفعت‌سازها) بر اساس چهار محرک خلق ارزش </a:t>
            </a:r>
          </a:p>
        </p:txBody>
      </p:sp>
      <p:sp>
        <p:nvSpPr>
          <p:cNvPr id="3" name="Text Placeholder 2">
            <a:extLst>
              <a:ext uri="{FF2B5EF4-FFF2-40B4-BE49-F238E27FC236}">
                <a16:creationId xmlns:a16="http://schemas.microsoft.com/office/drawing/2014/main" id="{7DA33C12-0FD9-5DD8-F0DA-A018FBB36E59}"/>
              </a:ext>
            </a:extLst>
          </p:cNvPr>
          <p:cNvSpPr>
            <a:spLocks noGrp="1"/>
          </p:cNvSpPr>
          <p:nvPr>
            <p:ph type="body" sz="quarter" idx="12"/>
          </p:nvPr>
        </p:nvSpPr>
        <p:spPr/>
        <p:txBody>
          <a:bodyPr/>
          <a:lstStyle/>
          <a:p>
            <a:r>
              <a:rPr lang="fa-IR"/>
              <a:t>کسب‌وکار مشتاق</a:t>
            </a:r>
          </a:p>
        </p:txBody>
      </p:sp>
      <p:sp>
        <p:nvSpPr>
          <p:cNvPr id="4" name="Rectangle: Rounded Corners 3">
            <a:extLst>
              <a:ext uri="{FF2B5EF4-FFF2-40B4-BE49-F238E27FC236}">
                <a16:creationId xmlns:a16="http://schemas.microsoft.com/office/drawing/2014/main" id="{223A7EED-8D78-ECF5-5D91-BC54A053DC5F}"/>
              </a:ext>
            </a:extLst>
          </p:cNvPr>
          <p:cNvSpPr/>
          <p:nvPr/>
        </p:nvSpPr>
        <p:spPr>
          <a:xfrm>
            <a:off x="8595360" y="1282807"/>
            <a:ext cx="2296311" cy="363736"/>
          </a:xfrm>
          <a:prstGeom prst="roundRect">
            <a:avLst/>
          </a:prstGeom>
          <a:solidFill>
            <a:srgbClr val="004D80">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هوشمندی و اعتبارسنجی فرصت</a:t>
            </a:r>
          </a:p>
        </p:txBody>
      </p:sp>
      <p:sp>
        <p:nvSpPr>
          <p:cNvPr id="5" name="Rectangle: Rounded Corners 4">
            <a:extLst>
              <a:ext uri="{FF2B5EF4-FFF2-40B4-BE49-F238E27FC236}">
                <a16:creationId xmlns:a16="http://schemas.microsoft.com/office/drawing/2014/main" id="{B505E6F8-0685-99C0-0502-29147D00C22C}"/>
              </a:ext>
            </a:extLst>
          </p:cNvPr>
          <p:cNvSpPr/>
          <p:nvPr/>
        </p:nvSpPr>
        <p:spPr>
          <a:xfrm>
            <a:off x="6000699" y="1282807"/>
            <a:ext cx="2296311" cy="363736"/>
          </a:xfrm>
          <a:prstGeom prst="roundRect">
            <a:avLst/>
          </a:prstGeom>
          <a:solidFill>
            <a:srgbClr val="004D80">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ایجاد دسترسی مورداعتماد </a:t>
            </a:r>
          </a:p>
        </p:txBody>
      </p:sp>
      <p:sp>
        <p:nvSpPr>
          <p:cNvPr id="6" name="Rectangle: Rounded Corners 5">
            <a:extLst>
              <a:ext uri="{FF2B5EF4-FFF2-40B4-BE49-F238E27FC236}">
                <a16:creationId xmlns:a16="http://schemas.microsoft.com/office/drawing/2014/main" id="{CFE1318C-751F-5ED9-7557-D43D002E7ED4}"/>
              </a:ext>
            </a:extLst>
          </p:cNvPr>
          <p:cNvSpPr/>
          <p:nvPr/>
        </p:nvSpPr>
        <p:spPr>
          <a:xfrm>
            <a:off x="3406039" y="1282807"/>
            <a:ext cx="2296311" cy="363736"/>
          </a:xfrm>
          <a:prstGeom prst="roundRect">
            <a:avLst/>
          </a:prstGeom>
          <a:solidFill>
            <a:srgbClr val="F0BE0F">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تأمین و فعال‌سازی منابع و قابلیت‌ها</a:t>
            </a:r>
          </a:p>
        </p:txBody>
      </p:sp>
      <p:sp>
        <p:nvSpPr>
          <p:cNvPr id="7" name="Rectangle: Rounded Corners 6">
            <a:extLst>
              <a:ext uri="{FF2B5EF4-FFF2-40B4-BE49-F238E27FC236}">
                <a16:creationId xmlns:a16="http://schemas.microsoft.com/office/drawing/2014/main" id="{DD3DAE63-4A86-3039-4E0A-FD7C17BFFEE9}"/>
              </a:ext>
            </a:extLst>
          </p:cNvPr>
          <p:cNvSpPr/>
          <p:nvPr/>
        </p:nvSpPr>
        <p:spPr>
          <a:xfrm>
            <a:off x="811379" y="1282807"/>
            <a:ext cx="2296311" cy="363736"/>
          </a:xfrm>
          <a:prstGeom prst="roundRect">
            <a:avLst/>
          </a:prstGeom>
          <a:solidFill>
            <a:srgbClr val="004D80">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هماهنگ‌سازی و تبدیل فرصت به نتیجه</a:t>
            </a:r>
          </a:p>
        </p:txBody>
      </p:sp>
      <p:graphicFrame>
        <p:nvGraphicFramePr>
          <p:cNvPr id="8" name="Table 7">
            <a:extLst>
              <a:ext uri="{FF2B5EF4-FFF2-40B4-BE49-F238E27FC236}">
                <a16:creationId xmlns:a16="http://schemas.microsoft.com/office/drawing/2014/main" id="{1CDA5365-0CB4-4091-09F8-320882D6F362}"/>
              </a:ext>
            </a:extLst>
          </p:cNvPr>
          <p:cNvGraphicFramePr>
            <a:graphicFrameLocks noGrp="1"/>
          </p:cNvGraphicFramePr>
          <p:nvPr>
            <p:extLst>
              <p:ext uri="{D42A27DB-BD31-4B8C-83A1-F6EECF244321}">
                <p14:modId xmlns:p14="http://schemas.microsoft.com/office/powerpoint/2010/main" val="362107688"/>
              </p:ext>
            </p:extLst>
          </p:nvPr>
        </p:nvGraphicFramePr>
        <p:xfrm>
          <a:off x="811379" y="2098582"/>
          <a:ext cx="10080292" cy="3442588"/>
        </p:xfrm>
        <a:graphic>
          <a:graphicData uri="http://schemas.openxmlformats.org/drawingml/2006/table">
            <a:tbl>
              <a:tblPr firstRow="1" bandRow="1">
                <a:tableStyleId>{5C22544A-7EE6-4342-B048-85BDC9FD1C3A}</a:tableStyleId>
              </a:tblPr>
              <a:tblGrid>
                <a:gridCol w="5040146">
                  <a:extLst>
                    <a:ext uri="{9D8B030D-6E8A-4147-A177-3AD203B41FA5}">
                      <a16:colId xmlns:a16="http://schemas.microsoft.com/office/drawing/2014/main" val="1416290991"/>
                    </a:ext>
                  </a:extLst>
                </a:gridCol>
                <a:gridCol w="5040146">
                  <a:extLst>
                    <a:ext uri="{9D8B030D-6E8A-4147-A177-3AD203B41FA5}">
                      <a16:colId xmlns:a16="http://schemas.microsoft.com/office/drawing/2014/main" val="241493819"/>
                    </a:ext>
                  </a:extLst>
                </a:gridCol>
              </a:tblGrid>
              <a:tr h="1721294">
                <a:tc rowSpan="2">
                  <a:txBody>
                    <a:bodyPr/>
                    <a:lstStyle/>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خدمات مشاوره حاکمیت شرکتی و اصلاح ساختار سازمانی.</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خدمات مالی، حسابرسی و اصلاح ساختار مالی.</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خدمات حقوقی و قراردادی بین‌المللی.</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خدمات مربوط به ضمانت‌نامه و ابزارهای تضمینی.</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خدمات صادرات، گمرک و انطباق.</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خدمات استانداردسازی و مستندسازی.</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خدمات ارزش‌گذاری و ساختاربندی دارایی فکری.</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خدمات ارتقای قابلیت‌های دیجیتال و عملیاتی موردنیاز زنجیره ارزش جهانی.</a:t>
                      </a:r>
                    </a:p>
                  </a:txBody>
                  <a:tcPr anchor="ctr">
                    <a:lnR w="6350" cap="flat" cmpd="sng" algn="ctr">
                      <a:solidFill>
                        <a:srgbClr val="F0BE0F"/>
                      </a:solidFill>
                      <a:prstDash val="solid"/>
                      <a:round/>
                      <a:headEnd type="none" w="med" len="med"/>
                      <a:tailEnd type="none" w="med" len="med"/>
                    </a:lnR>
                    <a:solidFill>
                      <a:schemeClr val="bg1">
                        <a:lumMod val="65000"/>
                        <a:alpha val="10000"/>
                      </a:schemeClr>
                    </a:solidFill>
                  </a:tcPr>
                </a:tc>
                <a:tc>
                  <a:txBody>
                    <a:bodyPr/>
                    <a:lstStyle/>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هزینه و پیچیدگی ایجاد قابلیت‌های تخصصی از صفر را کاهش می‌دهد.</a:t>
                      </a:r>
                    </a:p>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شکاف‌های حقوقی، مالی و عملیاتی شرکت را پوشش می‌دهد.</a:t>
                      </a:r>
                    </a:p>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ریسک عدم انطباق با الزامات بازار خارجی را کاهش می‌دهد.</a:t>
                      </a:r>
                    </a:p>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ریسک خطا در مستندسازی و فرآیندهای گمرکی را کاهش می‌دهد.</a:t>
                      </a:r>
                    </a:p>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مشکل دسترسی به ابزارهای تضمین مالی را کاهش می‌دهد.</a:t>
                      </a:r>
                    </a:p>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ابهام درباره ارزش‌گذاری دارایی‌های نامشهود را کاهش می‌دهد.</a:t>
                      </a:r>
                    </a:p>
                  </a:txBody>
                  <a:tcPr anchor="ctr">
                    <a:lnL w="6350" cap="flat" cmpd="sng" algn="ctr">
                      <a:solidFill>
                        <a:srgbClr val="F0BE0F"/>
                      </a:solidFill>
                      <a:prstDash val="solid"/>
                      <a:round/>
                      <a:headEnd type="none" w="med" len="med"/>
                      <a:tailEnd type="none" w="med" len="med"/>
                    </a:lnL>
                    <a:lnB w="6350" cap="flat" cmpd="sng" algn="ctr">
                      <a:solidFill>
                        <a:srgbClr val="F0BE0F"/>
                      </a:solidFill>
                      <a:prstDash val="solid"/>
                      <a:round/>
                      <a:headEnd type="none" w="med" len="med"/>
                      <a:tailEnd type="none" w="med" len="med"/>
                    </a:lnB>
                    <a:solidFill>
                      <a:srgbClr val="C00000">
                        <a:alpha val="3000"/>
                      </a:srgbClr>
                    </a:solidFill>
                  </a:tcPr>
                </a:tc>
                <a:extLst>
                  <a:ext uri="{0D108BD9-81ED-4DB2-BD59-A6C34878D82A}">
                    <a16:rowId xmlns:a16="http://schemas.microsoft.com/office/drawing/2014/main" val="2675777916"/>
                  </a:ext>
                </a:extLst>
              </a:tr>
              <a:tr h="1721294">
                <a:tc vMerge="1">
                  <a:txBody>
                    <a:bodyPr/>
                    <a:lstStyle/>
                    <a:p>
                      <a:endParaRPr lang="en-US"/>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شرکت را به سطح آمادگی موردنیاز برای تعامل خارجی نزدیک می‌کند.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قابلیت ارائه حرفه‌ای شرکت به طرف خارجی را افزایش می‌دهد.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امکان استفاده از دارایی فکری در مذاکره و معامله را فراهم می‌کند.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قابلیت مشارکت در زنجیره ارزش جهانی را افزایش می‌دهد.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امکان اجرای معامله خارجی با اتکا به قابلیت‌های حرفه‌ای را ایجاد می‌کند.</a:t>
                      </a:r>
                    </a:p>
                  </a:txBody>
                  <a:tcPr anchor="ctr">
                    <a:lnL w="6350" cap="flat" cmpd="sng" algn="ctr">
                      <a:solidFill>
                        <a:srgbClr val="F0BE0F"/>
                      </a:solidFill>
                      <a:prstDash val="solid"/>
                      <a:round/>
                      <a:headEnd type="none" w="med" len="med"/>
                      <a:tailEnd type="none" w="med" len="med"/>
                    </a:lnL>
                    <a:lnT w="6350" cap="flat" cmpd="sng" algn="ctr">
                      <a:solidFill>
                        <a:srgbClr val="F0BE0F"/>
                      </a:solidFill>
                      <a:prstDash val="solid"/>
                      <a:round/>
                      <a:headEnd type="none" w="med" len="med"/>
                      <a:tailEnd type="none" w="med" len="med"/>
                    </a:lnT>
                    <a:solidFill>
                      <a:schemeClr val="accent1">
                        <a:alpha val="4000"/>
                      </a:schemeClr>
                    </a:solidFill>
                  </a:tcPr>
                </a:tc>
                <a:extLst>
                  <a:ext uri="{0D108BD9-81ED-4DB2-BD59-A6C34878D82A}">
                    <a16:rowId xmlns:a16="http://schemas.microsoft.com/office/drawing/2014/main" val="1388272330"/>
                  </a:ext>
                </a:extLst>
              </a:tr>
            </a:tbl>
          </a:graphicData>
        </a:graphic>
      </p:graphicFrame>
      <p:sp>
        <p:nvSpPr>
          <p:cNvPr id="9" name="TextBox 8">
            <a:extLst>
              <a:ext uri="{FF2B5EF4-FFF2-40B4-BE49-F238E27FC236}">
                <a16:creationId xmlns:a16="http://schemas.microsoft.com/office/drawing/2014/main" id="{FEF3425D-F1ED-408A-454F-9682828199EE}"/>
              </a:ext>
            </a:extLst>
          </p:cNvPr>
          <p:cNvSpPr txBox="1"/>
          <p:nvPr/>
        </p:nvSpPr>
        <p:spPr>
          <a:xfrm>
            <a:off x="9378405" y="1895264"/>
            <a:ext cx="1513266" cy="369332"/>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b="1" i="0" u="none" strike="noStrike" kern="1200" cap="none" spc="0" normalizeH="0" baseline="0" noProof="0" dirty="0">
                <a:ln>
                  <a:noFill/>
                </a:ln>
                <a:solidFill>
                  <a:srgbClr val="C00000"/>
                </a:solidFill>
                <a:effectLst/>
                <a:uLnTx/>
                <a:uFillTx/>
                <a:latin typeface="Yekan Bakh" pitchFamily="2" charset="-78"/>
                <a:ea typeface="Yekan Bakh" pitchFamily="2" charset="-78"/>
                <a:cs typeface="Yekan Bakh" pitchFamily="2" charset="-78"/>
              </a:rPr>
              <a:t>دردسرگاه‌ها</a:t>
            </a:r>
          </a:p>
        </p:txBody>
      </p:sp>
      <p:sp>
        <p:nvSpPr>
          <p:cNvPr id="10" name="TextBox 9">
            <a:extLst>
              <a:ext uri="{FF2B5EF4-FFF2-40B4-BE49-F238E27FC236}">
                <a16:creationId xmlns:a16="http://schemas.microsoft.com/office/drawing/2014/main" id="{07C38B44-4D9A-A94B-1DD5-F8DE793F2DD5}"/>
              </a:ext>
            </a:extLst>
          </p:cNvPr>
          <p:cNvSpPr txBox="1"/>
          <p:nvPr/>
        </p:nvSpPr>
        <p:spPr>
          <a:xfrm>
            <a:off x="9378405" y="5306160"/>
            <a:ext cx="1513266" cy="369332"/>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b="1" i="0" u="none" strike="noStrike" kern="1200" cap="none" spc="0" normalizeH="0" baseline="0" noProof="0" dirty="0">
                <a:ln>
                  <a:noFill/>
                </a:ln>
                <a:solidFill>
                  <a:schemeClr val="accent1"/>
                </a:solidFill>
                <a:effectLst/>
                <a:uLnTx/>
                <a:uFillTx/>
                <a:latin typeface="Yekan Bakh" pitchFamily="2" charset="-78"/>
                <a:ea typeface="Yekan Bakh" pitchFamily="2" charset="-78"/>
                <a:cs typeface="Yekan Bakh" pitchFamily="2" charset="-78"/>
              </a:rPr>
              <a:t>منفعت‌سازها</a:t>
            </a:r>
          </a:p>
        </p:txBody>
      </p:sp>
      <p:sp>
        <p:nvSpPr>
          <p:cNvPr id="11" name="TextBox 10">
            <a:extLst>
              <a:ext uri="{FF2B5EF4-FFF2-40B4-BE49-F238E27FC236}">
                <a16:creationId xmlns:a16="http://schemas.microsoft.com/office/drawing/2014/main" id="{A934CB10-AF80-3FCB-978F-4EC80A38A239}"/>
              </a:ext>
            </a:extLst>
          </p:cNvPr>
          <p:cNvSpPr txBox="1"/>
          <p:nvPr/>
        </p:nvSpPr>
        <p:spPr>
          <a:xfrm>
            <a:off x="827835" y="1876792"/>
            <a:ext cx="1513266" cy="369332"/>
          </a:xfrm>
          <a:prstGeom prst="rect">
            <a:avLst/>
          </a:prstGeom>
          <a:noFill/>
        </p:spPr>
        <p:txBody>
          <a:bodyPr wrap="square">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fa-IR" b="1" i="0" u="none" strike="noStrike" kern="1200" cap="none" spc="0" normalizeH="0" baseline="0" noProof="0" dirty="0">
                <a:ln>
                  <a:noFill/>
                </a:ln>
                <a:solidFill>
                  <a:schemeClr val="tx1">
                    <a:lumMod val="50000"/>
                    <a:lumOff val="50000"/>
                  </a:schemeClr>
                </a:solidFill>
                <a:effectLst/>
                <a:uLnTx/>
                <a:uFillTx/>
                <a:latin typeface="Yekan Bakh" pitchFamily="2" charset="-78"/>
                <a:ea typeface="Yekan Bakh" pitchFamily="2" charset="-78"/>
                <a:cs typeface="Yekan Bakh" pitchFamily="2" charset="-78"/>
              </a:rPr>
              <a:t>محصولات</a:t>
            </a:r>
          </a:p>
        </p:txBody>
      </p:sp>
    </p:spTree>
    <p:extLst>
      <p:ext uri="{BB962C8B-B14F-4D97-AF65-F5344CB8AC3E}">
        <p14:creationId xmlns:p14="http://schemas.microsoft.com/office/powerpoint/2010/main" val="193683856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6C2CF7-FFFC-BB2F-A978-FFE9BF22328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5804338-AD82-F260-8EC6-D78D6EF480CD}"/>
              </a:ext>
            </a:extLst>
          </p:cNvPr>
          <p:cNvSpPr>
            <a:spLocks noGrp="1"/>
          </p:cNvSpPr>
          <p:nvPr>
            <p:ph type="body" sz="quarter" idx="10"/>
          </p:nvPr>
        </p:nvSpPr>
        <p:spPr>
          <a:xfrm>
            <a:off x="4753689" y="256653"/>
            <a:ext cx="6489884" cy="250047"/>
          </a:xfrm>
        </p:spPr>
        <p:txBody>
          <a:bodyPr/>
          <a:lstStyle/>
          <a:p>
            <a:r>
              <a:rPr lang="fa-IR"/>
              <a:t>نقشه ارزش (محصولات، دردسرکاه‌ها و منفعت‌سازها) بر اساس چهار محرک خلق ارزش </a:t>
            </a:r>
          </a:p>
        </p:txBody>
      </p:sp>
      <p:sp>
        <p:nvSpPr>
          <p:cNvPr id="3" name="Text Placeholder 2">
            <a:extLst>
              <a:ext uri="{FF2B5EF4-FFF2-40B4-BE49-F238E27FC236}">
                <a16:creationId xmlns:a16="http://schemas.microsoft.com/office/drawing/2014/main" id="{0875AC5F-E210-3671-65F4-1F9898A8D023}"/>
              </a:ext>
            </a:extLst>
          </p:cNvPr>
          <p:cNvSpPr>
            <a:spLocks noGrp="1"/>
          </p:cNvSpPr>
          <p:nvPr>
            <p:ph type="body" sz="quarter" idx="12"/>
          </p:nvPr>
        </p:nvSpPr>
        <p:spPr/>
        <p:txBody>
          <a:bodyPr/>
          <a:lstStyle/>
          <a:p>
            <a:r>
              <a:rPr lang="fa-IR"/>
              <a:t>کسب‌وکار مشتاق</a:t>
            </a:r>
          </a:p>
        </p:txBody>
      </p:sp>
      <p:sp>
        <p:nvSpPr>
          <p:cNvPr id="4" name="Rectangle: Rounded Corners 3">
            <a:extLst>
              <a:ext uri="{FF2B5EF4-FFF2-40B4-BE49-F238E27FC236}">
                <a16:creationId xmlns:a16="http://schemas.microsoft.com/office/drawing/2014/main" id="{7BD29FD9-6E41-E649-A8E8-8DE355C8D67B}"/>
              </a:ext>
            </a:extLst>
          </p:cNvPr>
          <p:cNvSpPr/>
          <p:nvPr/>
        </p:nvSpPr>
        <p:spPr>
          <a:xfrm>
            <a:off x="8595360" y="1282807"/>
            <a:ext cx="2296311" cy="363736"/>
          </a:xfrm>
          <a:prstGeom prst="roundRect">
            <a:avLst/>
          </a:prstGeom>
          <a:solidFill>
            <a:srgbClr val="004D80">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هوشمندی و اعتبارسنجی فرصت</a:t>
            </a:r>
          </a:p>
        </p:txBody>
      </p:sp>
      <p:sp>
        <p:nvSpPr>
          <p:cNvPr id="5" name="Rectangle: Rounded Corners 4">
            <a:extLst>
              <a:ext uri="{FF2B5EF4-FFF2-40B4-BE49-F238E27FC236}">
                <a16:creationId xmlns:a16="http://schemas.microsoft.com/office/drawing/2014/main" id="{DB55288A-F48B-8D55-ABEB-3CAF5B4C407B}"/>
              </a:ext>
            </a:extLst>
          </p:cNvPr>
          <p:cNvSpPr/>
          <p:nvPr/>
        </p:nvSpPr>
        <p:spPr>
          <a:xfrm>
            <a:off x="6000699" y="1282807"/>
            <a:ext cx="2296311" cy="363736"/>
          </a:xfrm>
          <a:prstGeom prst="roundRect">
            <a:avLst/>
          </a:prstGeom>
          <a:solidFill>
            <a:srgbClr val="004D80">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ایجاد دسترسی مورداعتماد </a:t>
            </a:r>
          </a:p>
        </p:txBody>
      </p:sp>
      <p:sp>
        <p:nvSpPr>
          <p:cNvPr id="6" name="Rectangle: Rounded Corners 5">
            <a:extLst>
              <a:ext uri="{FF2B5EF4-FFF2-40B4-BE49-F238E27FC236}">
                <a16:creationId xmlns:a16="http://schemas.microsoft.com/office/drawing/2014/main" id="{C83B2AE1-434D-0365-32D3-F8D6D6E43311}"/>
              </a:ext>
            </a:extLst>
          </p:cNvPr>
          <p:cNvSpPr/>
          <p:nvPr/>
        </p:nvSpPr>
        <p:spPr>
          <a:xfrm>
            <a:off x="3406039" y="1282807"/>
            <a:ext cx="2296311" cy="363736"/>
          </a:xfrm>
          <a:prstGeom prst="roundRect">
            <a:avLst/>
          </a:prstGeom>
          <a:solidFill>
            <a:srgbClr val="004D80">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تأمین و فعال‌سازی منابع و قابلیت‌ها</a:t>
            </a:r>
          </a:p>
        </p:txBody>
      </p:sp>
      <p:sp>
        <p:nvSpPr>
          <p:cNvPr id="7" name="Rectangle: Rounded Corners 6">
            <a:extLst>
              <a:ext uri="{FF2B5EF4-FFF2-40B4-BE49-F238E27FC236}">
                <a16:creationId xmlns:a16="http://schemas.microsoft.com/office/drawing/2014/main" id="{F5805EFD-E5DF-39DB-6A9A-0475653DC549}"/>
              </a:ext>
            </a:extLst>
          </p:cNvPr>
          <p:cNvSpPr/>
          <p:nvPr/>
        </p:nvSpPr>
        <p:spPr>
          <a:xfrm>
            <a:off x="811379" y="1282807"/>
            <a:ext cx="2296311" cy="363736"/>
          </a:xfrm>
          <a:prstGeom prst="roundRect">
            <a:avLst/>
          </a:prstGeom>
          <a:solidFill>
            <a:srgbClr val="F0BE0F">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هماهنگ‌سازی و تبدیل فرصت به نتیجه</a:t>
            </a:r>
          </a:p>
        </p:txBody>
      </p:sp>
      <p:graphicFrame>
        <p:nvGraphicFramePr>
          <p:cNvPr id="8" name="Table 7">
            <a:extLst>
              <a:ext uri="{FF2B5EF4-FFF2-40B4-BE49-F238E27FC236}">
                <a16:creationId xmlns:a16="http://schemas.microsoft.com/office/drawing/2014/main" id="{2D164CB5-B828-CD6D-DA88-6EFC3B51DC86}"/>
              </a:ext>
            </a:extLst>
          </p:cNvPr>
          <p:cNvGraphicFramePr>
            <a:graphicFrameLocks noGrp="1"/>
          </p:cNvGraphicFramePr>
          <p:nvPr>
            <p:extLst>
              <p:ext uri="{D42A27DB-BD31-4B8C-83A1-F6EECF244321}">
                <p14:modId xmlns:p14="http://schemas.microsoft.com/office/powerpoint/2010/main" val="3822493781"/>
              </p:ext>
            </p:extLst>
          </p:nvPr>
        </p:nvGraphicFramePr>
        <p:xfrm>
          <a:off x="811379" y="2098582"/>
          <a:ext cx="10080292" cy="3442588"/>
        </p:xfrm>
        <a:graphic>
          <a:graphicData uri="http://schemas.openxmlformats.org/drawingml/2006/table">
            <a:tbl>
              <a:tblPr firstRow="1" bandRow="1">
                <a:tableStyleId>{5C22544A-7EE6-4342-B048-85BDC9FD1C3A}</a:tableStyleId>
              </a:tblPr>
              <a:tblGrid>
                <a:gridCol w="5040146">
                  <a:extLst>
                    <a:ext uri="{9D8B030D-6E8A-4147-A177-3AD203B41FA5}">
                      <a16:colId xmlns:a16="http://schemas.microsoft.com/office/drawing/2014/main" val="1416290991"/>
                    </a:ext>
                  </a:extLst>
                </a:gridCol>
                <a:gridCol w="5040146">
                  <a:extLst>
                    <a:ext uri="{9D8B030D-6E8A-4147-A177-3AD203B41FA5}">
                      <a16:colId xmlns:a16="http://schemas.microsoft.com/office/drawing/2014/main" val="241493819"/>
                    </a:ext>
                  </a:extLst>
                </a:gridCol>
              </a:tblGrid>
              <a:tr h="1721294">
                <a:tc rowSpan="2">
                  <a:txBody>
                    <a:bodyPr/>
                    <a:lstStyle/>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مدیریت برنامه آماده‌سازی و رفع شکاف‌ها.</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هماهنگی میان </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Partner</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های مالی، حقوقی، مدیریتی و عملیاتی.</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اتصال اقدامات آماده‌سازی به یک فرصت واقعی بازار.</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مدیریت فرآیند از ارزیابی آمادگی تا معرفی به طرف خارجی.</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مدیریت مسیر تبدیل آمادگی به مذاکره و معامله.</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پایش پیشرفت و اطمینان از تکمیل پیش‌نیازهای ورود.</a:t>
                      </a:r>
                    </a:p>
                  </a:txBody>
                  <a:tcPr anchor="ctr">
                    <a:lnR w="6350" cap="flat" cmpd="sng" algn="ctr">
                      <a:solidFill>
                        <a:srgbClr val="F0BE0F"/>
                      </a:solidFill>
                      <a:prstDash val="solid"/>
                      <a:round/>
                      <a:headEnd type="none" w="med" len="med"/>
                      <a:tailEnd type="none" w="med" len="med"/>
                    </a:lnR>
                    <a:solidFill>
                      <a:schemeClr val="bg1">
                        <a:lumMod val="65000"/>
                        <a:alpha val="10000"/>
                      </a:schemeClr>
                    </a:solidFill>
                  </a:tcPr>
                </a:tc>
                <a:tc>
                  <a:txBody>
                    <a:bodyPr/>
                    <a:lstStyle/>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از تبدیل آماده‌سازی به پروژه‌ای طولانی و فاقد خروجی تجاری جلوگیری می‌کند.</a:t>
                      </a:r>
                    </a:p>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پراکندگی اقدامات اصلاحی را کاهش می‌دهد.</a:t>
                      </a:r>
                    </a:p>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فاصله میان مشاوره و اجرای واقعی اصلاحات را کاهش می‌دهد</a:t>
                      </a:r>
                    </a:p>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ریسک آماده‌شدن برای بازاری که در نهایت فرصت واقعی ندارد را کاهش می‌دهد.</a:t>
                      </a:r>
                    </a:p>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زمان موردنیاز برای عبور از آمادگی تا معرفی را کاهش می‌دهد.</a:t>
                      </a:r>
                    </a:p>
                  </a:txBody>
                  <a:tcPr anchor="ctr">
                    <a:lnL w="6350" cap="flat" cmpd="sng" algn="ctr">
                      <a:solidFill>
                        <a:srgbClr val="F0BE0F"/>
                      </a:solidFill>
                      <a:prstDash val="solid"/>
                      <a:round/>
                      <a:headEnd type="none" w="med" len="med"/>
                      <a:tailEnd type="none" w="med" len="med"/>
                    </a:lnL>
                    <a:lnB w="6350" cap="flat" cmpd="sng" algn="ctr">
                      <a:solidFill>
                        <a:srgbClr val="F0BE0F"/>
                      </a:solidFill>
                      <a:prstDash val="solid"/>
                      <a:round/>
                      <a:headEnd type="none" w="med" len="med"/>
                      <a:tailEnd type="none" w="med" len="med"/>
                    </a:lnB>
                    <a:solidFill>
                      <a:srgbClr val="C00000">
                        <a:alpha val="3000"/>
                      </a:srgbClr>
                    </a:solidFill>
                  </a:tcPr>
                </a:tc>
                <a:extLst>
                  <a:ext uri="{0D108BD9-81ED-4DB2-BD59-A6C34878D82A}">
                    <a16:rowId xmlns:a16="http://schemas.microsoft.com/office/drawing/2014/main" val="2675777916"/>
                  </a:ext>
                </a:extLst>
              </a:tr>
              <a:tr h="1721294">
                <a:tc vMerge="1">
                  <a:txBody>
                    <a:bodyPr/>
                    <a:lstStyle/>
                    <a:p>
                      <a:endParaRPr lang="en-US"/>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سرمایه‌گذاری روی آماده‌سازی را به نتیجه تجاری متصل می‌کند.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مسیر شرکت از اصلاح داخلی تا تعامل خارجی را یکپارچه می‌کند.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احتمال تبدیل آمادگی به معامله واقعی را افزایش می‌دهد.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زمان رسیدن به بازار را کاهش می‌دهد.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برای شرکت نتیجه‌ای قابل‌مشاهده و اقتصادی از فرآیند آماده‌سازی ایجاد می‌کند.</a:t>
                      </a:r>
                    </a:p>
                  </a:txBody>
                  <a:tcPr anchor="ctr">
                    <a:lnL w="6350" cap="flat" cmpd="sng" algn="ctr">
                      <a:solidFill>
                        <a:srgbClr val="F0BE0F"/>
                      </a:solidFill>
                      <a:prstDash val="solid"/>
                      <a:round/>
                      <a:headEnd type="none" w="med" len="med"/>
                      <a:tailEnd type="none" w="med" len="med"/>
                    </a:lnL>
                    <a:lnT w="6350" cap="flat" cmpd="sng" algn="ctr">
                      <a:solidFill>
                        <a:srgbClr val="F0BE0F"/>
                      </a:solidFill>
                      <a:prstDash val="solid"/>
                      <a:round/>
                      <a:headEnd type="none" w="med" len="med"/>
                      <a:tailEnd type="none" w="med" len="med"/>
                    </a:lnT>
                    <a:solidFill>
                      <a:schemeClr val="accent1">
                        <a:alpha val="4000"/>
                      </a:schemeClr>
                    </a:solidFill>
                  </a:tcPr>
                </a:tc>
                <a:extLst>
                  <a:ext uri="{0D108BD9-81ED-4DB2-BD59-A6C34878D82A}">
                    <a16:rowId xmlns:a16="http://schemas.microsoft.com/office/drawing/2014/main" val="1388272330"/>
                  </a:ext>
                </a:extLst>
              </a:tr>
            </a:tbl>
          </a:graphicData>
        </a:graphic>
      </p:graphicFrame>
      <p:sp>
        <p:nvSpPr>
          <p:cNvPr id="9" name="TextBox 8">
            <a:extLst>
              <a:ext uri="{FF2B5EF4-FFF2-40B4-BE49-F238E27FC236}">
                <a16:creationId xmlns:a16="http://schemas.microsoft.com/office/drawing/2014/main" id="{ED913B06-1784-689A-D6F9-DB513304E11D}"/>
              </a:ext>
            </a:extLst>
          </p:cNvPr>
          <p:cNvSpPr txBox="1"/>
          <p:nvPr/>
        </p:nvSpPr>
        <p:spPr>
          <a:xfrm>
            <a:off x="9378405" y="1895264"/>
            <a:ext cx="1513266" cy="369332"/>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b="1" i="0" u="none" strike="noStrike" kern="1200" cap="none" spc="0" normalizeH="0" baseline="0" noProof="0" dirty="0">
                <a:ln>
                  <a:noFill/>
                </a:ln>
                <a:solidFill>
                  <a:srgbClr val="C00000"/>
                </a:solidFill>
                <a:effectLst/>
                <a:uLnTx/>
                <a:uFillTx/>
                <a:latin typeface="Yekan Bakh" pitchFamily="2" charset="-78"/>
                <a:ea typeface="Yekan Bakh" pitchFamily="2" charset="-78"/>
                <a:cs typeface="Yekan Bakh" pitchFamily="2" charset="-78"/>
              </a:rPr>
              <a:t>دردسرگاه‌ها</a:t>
            </a:r>
          </a:p>
        </p:txBody>
      </p:sp>
      <p:sp>
        <p:nvSpPr>
          <p:cNvPr id="10" name="TextBox 9">
            <a:extLst>
              <a:ext uri="{FF2B5EF4-FFF2-40B4-BE49-F238E27FC236}">
                <a16:creationId xmlns:a16="http://schemas.microsoft.com/office/drawing/2014/main" id="{87FDB796-6649-4A3B-AF5D-7B096AFB21D3}"/>
              </a:ext>
            </a:extLst>
          </p:cNvPr>
          <p:cNvSpPr txBox="1"/>
          <p:nvPr/>
        </p:nvSpPr>
        <p:spPr>
          <a:xfrm>
            <a:off x="9378405" y="5306160"/>
            <a:ext cx="1513266" cy="369332"/>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b="1" i="0" u="none" strike="noStrike" kern="1200" cap="none" spc="0" normalizeH="0" baseline="0" noProof="0" dirty="0">
                <a:ln>
                  <a:noFill/>
                </a:ln>
                <a:solidFill>
                  <a:schemeClr val="accent1"/>
                </a:solidFill>
                <a:effectLst/>
                <a:uLnTx/>
                <a:uFillTx/>
                <a:latin typeface="Yekan Bakh" pitchFamily="2" charset="-78"/>
                <a:ea typeface="Yekan Bakh" pitchFamily="2" charset="-78"/>
                <a:cs typeface="Yekan Bakh" pitchFamily="2" charset="-78"/>
              </a:rPr>
              <a:t>منفعت‌سازها</a:t>
            </a:r>
          </a:p>
        </p:txBody>
      </p:sp>
      <p:sp>
        <p:nvSpPr>
          <p:cNvPr id="11" name="TextBox 10">
            <a:extLst>
              <a:ext uri="{FF2B5EF4-FFF2-40B4-BE49-F238E27FC236}">
                <a16:creationId xmlns:a16="http://schemas.microsoft.com/office/drawing/2014/main" id="{1AE8A285-346F-E3C9-D48F-59DFE208ABB3}"/>
              </a:ext>
            </a:extLst>
          </p:cNvPr>
          <p:cNvSpPr txBox="1"/>
          <p:nvPr/>
        </p:nvSpPr>
        <p:spPr>
          <a:xfrm>
            <a:off x="827835" y="1876792"/>
            <a:ext cx="1513266" cy="369332"/>
          </a:xfrm>
          <a:prstGeom prst="rect">
            <a:avLst/>
          </a:prstGeom>
          <a:noFill/>
        </p:spPr>
        <p:txBody>
          <a:bodyPr wrap="square">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fa-IR" b="1" i="0" u="none" strike="noStrike" kern="1200" cap="none" spc="0" normalizeH="0" baseline="0" noProof="0" dirty="0">
                <a:ln>
                  <a:noFill/>
                </a:ln>
                <a:solidFill>
                  <a:schemeClr val="tx1">
                    <a:lumMod val="50000"/>
                    <a:lumOff val="50000"/>
                  </a:schemeClr>
                </a:solidFill>
                <a:effectLst/>
                <a:uLnTx/>
                <a:uFillTx/>
                <a:latin typeface="Yekan Bakh" pitchFamily="2" charset="-78"/>
                <a:ea typeface="Yekan Bakh" pitchFamily="2" charset="-78"/>
                <a:cs typeface="Yekan Bakh" pitchFamily="2" charset="-78"/>
              </a:rPr>
              <a:t>محصولات</a:t>
            </a:r>
          </a:p>
        </p:txBody>
      </p:sp>
    </p:spTree>
    <p:extLst>
      <p:ext uri="{BB962C8B-B14F-4D97-AF65-F5344CB8AC3E}">
        <p14:creationId xmlns:p14="http://schemas.microsoft.com/office/powerpoint/2010/main" val="186132815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B717DB-2082-C0DC-7E9C-D13A5AF78B6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8A7F88E-7E47-556E-9A63-EE91D9CC9EA4}"/>
              </a:ext>
            </a:extLst>
          </p:cNvPr>
          <p:cNvSpPr>
            <a:spLocks noGrp="1"/>
          </p:cNvSpPr>
          <p:nvPr>
            <p:ph type="body" sz="quarter" idx="10"/>
          </p:nvPr>
        </p:nvSpPr>
        <p:spPr>
          <a:xfrm>
            <a:off x="4753689" y="256653"/>
            <a:ext cx="6489884" cy="250047"/>
          </a:xfrm>
        </p:spPr>
        <p:txBody>
          <a:bodyPr/>
          <a:lstStyle/>
          <a:p>
            <a:r>
              <a:rPr lang="fa-IR"/>
              <a:t>نقشه ارزش (محصولات، دردسرکاه‌ها و منفعت‌سازها) بر اساس چهار محرک خلق ارزش </a:t>
            </a:r>
          </a:p>
        </p:txBody>
      </p:sp>
      <p:sp>
        <p:nvSpPr>
          <p:cNvPr id="3" name="Text Placeholder 2">
            <a:extLst>
              <a:ext uri="{FF2B5EF4-FFF2-40B4-BE49-F238E27FC236}">
                <a16:creationId xmlns:a16="http://schemas.microsoft.com/office/drawing/2014/main" id="{5539A55D-7006-BF5A-013A-7AE1E606BD7F}"/>
              </a:ext>
            </a:extLst>
          </p:cNvPr>
          <p:cNvSpPr>
            <a:spLocks noGrp="1"/>
          </p:cNvSpPr>
          <p:nvPr>
            <p:ph type="body" sz="quarter" idx="12"/>
          </p:nvPr>
        </p:nvSpPr>
        <p:spPr/>
        <p:txBody>
          <a:bodyPr/>
          <a:lstStyle/>
          <a:p>
            <a:r>
              <a:rPr lang="fa-IR" dirty="0"/>
              <a:t>کسب‌وکار کنجکاو </a:t>
            </a:r>
          </a:p>
        </p:txBody>
      </p:sp>
      <p:sp>
        <p:nvSpPr>
          <p:cNvPr id="4" name="Rectangle: Rounded Corners 3">
            <a:extLst>
              <a:ext uri="{FF2B5EF4-FFF2-40B4-BE49-F238E27FC236}">
                <a16:creationId xmlns:a16="http://schemas.microsoft.com/office/drawing/2014/main" id="{13399E3F-911F-26F6-ABCB-94BFE1F79C85}"/>
              </a:ext>
            </a:extLst>
          </p:cNvPr>
          <p:cNvSpPr/>
          <p:nvPr/>
        </p:nvSpPr>
        <p:spPr>
          <a:xfrm>
            <a:off x="8595360" y="1282807"/>
            <a:ext cx="2296311" cy="363736"/>
          </a:xfrm>
          <a:prstGeom prst="roundRect">
            <a:avLst/>
          </a:prstGeom>
          <a:solidFill>
            <a:srgbClr val="F0BE0F">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هوشمندی و اعتبارسنجی فرصت</a:t>
            </a:r>
          </a:p>
        </p:txBody>
      </p:sp>
      <p:sp>
        <p:nvSpPr>
          <p:cNvPr id="5" name="Rectangle: Rounded Corners 4">
            <a:extLst>
              <a:ext uri="{FF2B5EF4-FFF2-40B4-BE49-F238E27FC236}">
                <a16:creationId xmlns:a16="http://schemas.microsoft.com/office/drawing/2014/main" id="{CD6B5964-204F-69C7-FA39-D8A6715272A5}"/>
              </a:ext>
            </a:extLst>
          </p:cNvPr>
          <p:cNvSpPr/>
          <p:nvPr/>
        </p:nvSpPr>
        <p:spPr>
          <a:xfrm>
            <a:off x="6000699" y="1282807"/>
            <a:ext cx="2296311" cy="363736"/>
          </a:xfrm>
          <a:prstGeom prst="roundRect">
            <a:avLst/>
          </a:prstGeom>
          <a:solidFill>
            <a:srgbClr val="004D80">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ایجاد دسترسی مورداعتماد </a:t>
            </a:r>
          </a:p>
        </p:txBody>
      </p:sp>
      <p:sp>
        <p:nvSpPr>
          <p:cNvPr id="6" name="Rectangle: Rounded Corners 5">
            <a:extLst>
              <a:ext uri="{FF2B5EF4-FFF2-40B4-BE49-F238E27FC236}">
                <a16:creationId xmlns:a16="http://schemas.microsoft.com/office/drawing/2014/main" id="{13F988E9-5DC1-CA4E-8381-6BABC3F40D67}"/>
              </a:ext>
            </a:extLst>
          </p:cNvPr>
          <p:cNvSpPr/>
          <p:nvPr/>
        </p:nvSpPr>
        <p:spPr>
          <a:xfrm>
            <a:off x="3406039" y="1282807"/>
            <a:ext cx="2296311" cy="363736"/>
          </a:xfrm>
          <a:prstGeom prst="roundRect">
            <a:avLst/>
          </a:prstGeom>
          <a:solidFill>
            <a:srgbClr val="004D80">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تأمین و فعال‌سازی منابع و قابلیت‌ها</a:t>
            </a:r>
          </a:p>
        </p:txBody>
      </p:sp>
      <p:sp>
        <p:nvSpPr>
          <p:cNvPr id="7" name="Rectangle: Rounded Corners 6">
            <a:extLst>
              <a:ext uri="{FF2B5EF4-FFF2-40B4-BE49-F238E27FC236}">
                <a16:creationId xmlns:a16="http://schemas.microsoft.com/office/drawing/2014/main" id="{4B405260-78F8-8894-9EB7-6A69B713E69D}"/>
              </a:ext>
            </a:extLst>
          </p:cNvPr>
          <p:cNvSpPr/>
          <p:nvPr/>
        </p:nvSpPr>
        <p:spPr>
          <a:xfrm>
            <a:off x="811379" y="1282807"/>
            <a:ext cx="2296311" cy="363736"/>
          </a:xfrm>
          <a:prstGeom prst="roundRect">
            <a:avLst/>
          </a:prstGeom>
          <a:solidFill>
            <a:srgbClr val="004D80">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هماهنگ‌سازی و تبدیل فرصت به نتیجه</a:t>
            </a:r>
          </a:p>
        </p:txBody>
      </p:sp>
      <p:graphicFrame>
        <p:nvGraphicFramePr>
          <p:cNvPr id="8" name="Table 7">
            <a:extLst>
              <a:ext uri="{FF2B5EF4-FFF2-40B4-BE49-F238E27FC236}">
                <a16:creationId xmlns:a16="http://schemas.microsoft.com/office/drawing/2014/main" id="{7EC881E5-21A9-47E0-33FD-7D178BB82912}"/>
              </a:ext>
            </a:extLst>
          </p:cNvPr>
          <p:cNvGraphicFramePr>
            <a:graphicFrameLocks noGrp="1"/>
          </p:cNvGraphicFramePr>
          <p:nvPr>
            <p:extLst>
              <p:ext uri="{D42A27DB-BD31-4B8C-83A1-F6EECF244321}">
                <p14:modId xmlns:p14="http://schemas.microsoft.com/office/powerpoint/2010/main" val="984362865"/>
              </p:ext>
            </p:extLst>
          </p:nvPr>
        </p:nvGraphicFramePr>
        <p:xfrm>
          <a:off x="811379" y="2098582"/>
          <a:ext cx="10080292" cy="3442588"/>
        </p:xfrm>
        <a:graphic>
          <a:graphicData uri="http://schemas.openxmlformats.org/drawingml/2006/table">
            <a:tbl>
              <a:tblPr firstRow="1" bandRow="1">
                <a:tableStyleId>{5C22544A-7EE6-4342-B048-85BDC9FD1C3A}</a:tableStyleId>
              </a:tblPr>
              <a:tblGrid>
                <a:gridCol w="5040146">
                  <a:extLst>
                    <a:ext uri="{9D8B030D-6E8A-4147-A177-3AD203B41FA5}">
                      <a16:colId xmlns:a16="http://schemas.microsoft.com/office/drawing/2014/main" val="1416290991"/>
                    </a:ext>
                  </a:extLst>
                </a:gridCol>
                <a:gridCol w="5040146">
                  <a:extLst>
                    <a:ext uri="{9D8B030D-6E8A-4147-A177-3AD203B41FA5}">
                      <a16:colId xmlns:a16="http://schemas.microsoft.com/office/drawing/2014/main" val="241493819"/>
                    </a:ext>
                  </a:extLst>
                </a:gridCol>
              </a:tblGrid>
              <a:tr h="1721294">
                <a:tc rowSpan="2">
                  <a:txBody>
                    <a:bodyPr/>
                    <a:lstStyle/>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 </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Market Intelligence</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 درباره بازار ایران.</a:t>
                      </a:r>
                    </a:p>
                    <a:p>
                      <a:pPr marL="171450" indent="-171450" algn="r" rtl="1">
                        <a:lnSpc>
                          <a:spcPct val="150000"/>
                        </a:lnSpc>
                        <a:buClr>
                          <a:schemeClr val="bg1">
                            <a:lumMod val="75000"/>
                          </a:schemeClr>
                        </a:buClr>
                        <a:buFont typeface="Arial" panose="020B0604020202020204" pitchFamily="34" charset="0"/>
                        <a:buChar char="•"/>
                      </a:pPr>
                      <a:r>
                        <a:rPr lang="en-US" sz="1000" b="0" kern="1200" dirty="0">
                          <a:solidFill>
                            <a:schemeClr val="tx1">
                              <a:lumMod val="75000"/>
                              <a:lumOff val="25000"/>
                            </a:schemeClr>
                          </a:solidFill>
                          <a:latin typeface="Yekan Bakh" pitchFamily="2" charset="-78"/>
                          <a:ea typeface="Yekan Bakh" pitchFamily="2" charset="-78"/>
                          <a:cs typeface="Yekan Bakh" pitchFamily="2" charset="-78"/>
                        </a:rPr>
                        <a:t>Opportunity Screening </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 و شناسایی فرصت‌های جذاب.</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تحلیل محیط سیاسی، اقتصادی و مقرراتی.</a:t>
                      </a:r>
                    </a:p>
                    <a:p>
                      <a:pPr marL="171450" indent="-171450" algn="r" rtl="1">
                        <a:lnSpc>
                          <a:spcPct val="150000"/>
                        </a:lnSpc>
                        <a:buClr>
                          <a:schemeClr val="bg1">
                            <a:lumMod val="75000"/>
                          </a:schemeClr>
                        </a:buClr>
                        <a:buFont typeface="Arial" panose="020B0604020202020204" pitchFamily="34" charset="0"/>
                        <a:buChar char="•"/>
                      </a:pPr>
                      <a:r>
                        <a:rPr lang="en-US" sz="1000" b="0" kern="1200" dirty="0">
                          <a:solidFill>
                            <a:schemeClr val="tx1">
                              <a:lumMod val="75000"/>
                              <a:lumOff val="25000"/>
                            </a:schemeClr>
                          </a:solidFill>
                          <a:latin typeface="Yekan Bakh" pitchFamily="2" charset="-78"/>
                          <a:ea typeface="Yekan Bakh" pitchFamily="2" charset="-78"/>
                          <a:cs typeface="Yekan Bakh" pitchFamily="2" charset="-78"/>
                        </a:rPr>
                        <a:t>Regulatory Mapping</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 و شناسایی محدودیت‌های ورود.</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امکان‌سنجی ورود به بازار.</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تحلیل سناریوهای مختلف ورود و زمان‌بندی آن.</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تحلیل ریسک سیاسی و اقتصادی.</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ارزیابی امکان اجرای </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Pilot</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 پیش از ورود بزرگ‌مقیاس.</a:t>
                      </a:r>
                    </a:p>
                  </a:txBody>
                  <a:tcPr anchor="ctr">
                    <a:lnR w="6350" cap="flat" cmpd="sng" algn="ctr">
                      <a:solidFill>
                        <a:srgbClr val="F0BE0F"/>
                      </a:solidFill>
                      <a:prstDash val="solid"/>
                      <a:round/>
                      <a:headEnd type="none" w="med" len="med"/>
                      <a:tailEnd type="none" w="med" len="med"/>
                    </a:lnR>
                    <a:solidFill>
                      <a:schemeClr val="bg1">
                        <a:lumMod val="65000"/>
                        <a:alpha val="10000"/>
                      </a:schemeClr>
                    </a:solidFill>
                  </a:tcPr>
                </a:tc>
                <a:tc>
                  <a:txBody>
                    <a:bodyPr/>
                    <a:lstStyle/>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کمبود اطلاعات معتبر و به‌روز را کاهش می‌دهد.</a:t>
                      </a:r>
                    </a:p>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اتکای شرکت به منابع عمومی ناقص یا قدیمی را کاهش می‌دهد.</a:t>
                      </a:r>
                    </a:p>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ابهام درباره موانع قانونی ورود را کاهش می‌دهد.</a:t>
                      </a:r>
                    </a:p>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ریسک تصمیم‌گیری بر مبنای تصور یا اطلاعات غیرقابل‌اتکا را کاهش می‌دهد.</a:t>
                      </a:r>
                    </a:p>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هزینه بررسی فرصت‌های نامناسب را کاهش می‌دهد.</a:t>
                      </a:r>
                    </a:p>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ریسک ورود در زمان نامناسب را کاهش می‌دهد.</a:t>
                      </a:r>
                    </a:p>
                  </a:txBody>
                  <a:tcPr anchor="ctr">
                    <a:lnL w="6350" cap="flat" cmpd="sng" algn="ctr">
                      <a:solidFill>
                        <a:srgbClr val="F0BE0F"/>
                      </a:solidFill>
                      <a:prstDash val="solid"/>
                      <a:round/>
                      <a:headEnd type="none" w="med" len="med"/>
                      <a:tailEnd type="none" w="med" len="med"/>
                    </a:lnL>
                    <a:lnB w="6350" cap="flat" cmpd="sng" algn="ctr">
                      <a:solidFill>
                        <a:srgbClr val="F0BE0F"/>
                      </a:solidFill>
                      <a:prstDash val="solid"/>
                      <a:round/>
                      <a:headEnd type="none" w="med" len="med"/>
                      <a:tailEnd type="none" w="med" len="med"/>
                    </a:lnB>
                    <a:solidFill>
                      <a:srgbClr val="C00000">
                        <a:alpha val="3000"/>
                      </a:srgbClr>
                    </a:solidFill>
                  </a:tcPr>
                </a:tc>
                <a:extLst>
                  <a:ext uri="{0D108BD9-81ED-4DB2-BD59-A6C34878D82A}">
                    <a16:rowId xmlns:a16="http://schemas.microsoft.com/office/drawing/2014/main" val="2675777916"/>
                  </a:ext>
                </a:extLst>
              </a:tr>
              <a:tr h="1721294">
                <a:tc vMerge="1">
                  <a:txBody>
                    <a:bodyPr/>
                    <a:lstStyle/>
                    <a:p>
                      <a:endParaRPr lang="en-US"/>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تصویر روشن‌تری از فرصت بازار ایجاد می‌کند.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امکان تصمیم برو/نرو مبتنی بر شواهد را فراهم می‌کند.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فرصت‌های جذاب را پیش از تعهد سرمایه شناسایی می‌کند.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امکان شناسایی پنجره‌های مناسب ورود را افزایش می‌دهد.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قابلیت حرکت سریع در صورت تغییر شرایط بازار را ایجاد می‌کند</a:t>
                      </a:r>
                    </a:p>
                  </a:txBody>
                  <a:tcPr anchor="ctr">
                    <a:lnL w="6350" cap="flat" cmpd="sng" algn="ctr">
                      <a:solidFill>
                        <a:srgbClr val="F0BE0F"/>
                      </a:solidFill>
                      <a:prstDash val="solid"/>
                      <a:round/>
                      <a:headEnd type="none" w="med" len="med"/>
                      <a:tailEnd type="none" w="med" len="med"/>
                    </a:lnL>
                    <a:lnT w="6350" cap="flat" cmpd="sng" algn="ctr">
                      <a:solidFill>
                        <a:srgbClr val="F0BE0F"/>
                      </a:solidFill>
                      <a:prstDash val="solid"/>
                      <a:round/>
                      <a:headEnd type="none" w="med" len="med"/>
                      <a:tailEnd type="none" w="med" len="med"/>
                    </a:lnT>
                    <a:solidFill>
                      <a:schemeClr val="accent1">
                        <a:alpha val="4000"/>
                      </a:schemeClr>
                    </a:solidFill>
                  </a:tcPr>
                </a:tc>
                <a:extLst>
                  <a:ext uri="{0D108BD9-81ED-4DB2-BD59-A6C34878D82A}">
                    <a16:rowId xmlns:a16="http://schemas.microsoft.com/office/drawing/2014/main" val="1388272330"/>
                  </a:ext>
                </a:extLst>
              </a:tr>
            </a:tbl>
          </a:graphicData>
        </a:graphic>
      </p:graphicFrame>
      <p:sp>
        <p:nvSpPr>
          <p:cNvPr id="9" name="TextBox 8">
            <a:extLst>
              <a:ext uri="{FF2B5EF4-FFF2-40B4-BE49-F238E27FC236}">
                <a16:creationId xmlns:a16="http://schemas.microsoft.com/office/drawing/2014/main" id="{2B5552BB-8295-C024-8749-9FA72BAE5196}"/>
              </a:ext>
            </a:extLst>
          </p:cNvPr>
          <p:cNvSpPr txBox="1"/>
          <p:nvPr/>
        </p:nvSpPr>
        <p:spPr>
          <a:xfrm>
            <a:off x="9378405" y="1895264"/>
            <a:ext cx="1513266" cy="369332"/>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b="1" i="0" u="none" strike="noStrike" kern="1200" cap="none" spc="0" normalizeH="0" baseline="0" noProof="0" dirty="0">
                <a:ln>
                  <a:noFill/>
                </a:ln>
                <a:solidFill>
                  <a:srgbClr val="C00000"/>
                </a:solidFill>
                <a:effectLst/>
                <a:uLnTx/>
                <a:uFillTx/>
                <a:latin typeface="Yekan Bakh" pitchFamily="2" charset="-78"/>
                <a:ea typeface="Yekan Bakh" pitchFamily="2" charset="-78"/>
                <a:cs typeface="Yekan Bakh" pitchFamily="2" charset="-78"/>
              </a:rPr>
              <a:t>دردسرگاه‌ها</a:t>
            </a:r>
          </a:p>
        </p:txBody>
      </p:sp>
      <p:sp>
        <p:nvSpPr>
          <p:cNvPr id="10" name="TextBox 9">
            <a:extLst>
              <a:ext uri="{FF2B5EF4-FFF2-40B4-BE49-F238E27FC236}">
                <a16:creationId xmlns:a16="http://schemas.microsoft.com/office/drawing/2014/main" id="{B05FB547-62F9-EDFD-2C49-C3E93D556835}"/>
              </a:ext>
            </a:extLst>
          </p:cNvPr>
          <p:cNvSpPr txBox="1"/>
          <p:nvPr/>
        </p:nvSpPr>
        <p:spPr>
          <a:xfrm>
            <a:off x="9378405" y="5306160"/>
            <a:ext cx="1513266" cy="369332"/>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b="1" i="0" u="none" strike="noStrike" kern="1200" cap="none" spc="0" normalizeH="0" baseline="0" noProof="0" dirty="0">
                <a:ln>
                  <a:noFill/>
                </a:ln>
                <a:solidFill>
                  <a:schemeClr val="accent1"/>
                </a:solidFill>
                <a:effectLst/>
                <a:uLnTx/>
                <a:uFillTx/>
                <a:latin typeface="Yekan Bakh" pitchFamily="2" charset="-78"/>
                <a:ea typeface="Yekan Bakh" pitchFamily="2" charset="-78"/>
                <a:cs typeface="Yekan Bakh" pitchFamily="2" charset="-78"/>
              </a:rPr>
              <a:t>منفعت‌سازها</a:t>
            </a:r>
          </a:p>
        </p:txBody>
      </p:sp>
      <p:sp>
        <p:nvSpPr>
          <p:cNvPr id="11" name="TextBox 10">
            <a:extLst>
              <a:ext uri="{FF2B5EF4-FFF2-40B4-BE49-F238E27FC236}">
                <a16:creationId xmlns:a16="http://schemas.microsoft.com/office/drawing/2014/main" id="{B3B7C149-985B-0057-DC51-5B3015B0F40C}"/>
              </a:ext>
            </a:extLst>
          </p:cNvPr>
          <p:cNvSpPr txBox="1"/>
          <p:nvPr/>
        </p:nvSpPr>
        <p:spPr>
          <a:xfrm>
            <a:off x="827835" y="1876792"/>
            <a:ext cx="1513266" cy="369332"/>
          </a:xfrm>
          <a:prstGeom prst="rect">
            <a:avLst/>
          </a:prstGeom>
          <a:noFill/>
        </p:spPr>
        <p:txBody>
          <a:bodyPr wrap="square">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fa-IR" b="1" i="0" u="none" strike="noStrike" kern="1200" cap="none" spc="0" normalizeH="0" baseline="0" noProof="0" dirty="0">
                <a:ln>
                  <a:noFill/>
                </a:ln>
                <a:solidFill>
                  <a:schemeClr val="tx1">
                    <a:lumMod val="50000"/>
                    <a:lumOff val="50000"/>
                  </a:schemeClr>
                </a:solidFill>
                <a:effectLst/>
                <a:uLnTx/>
                <a:uFillTx/>
                <a:latin typeface="Yekan Bakh" pitchFamily="2" charset="-78"/>
                <a:ea typeface="Yekan Bakh" pitchFamily="2" charset="-78"/>
                <a:cs typeface="Yekan Bakh" pitchFamily="2" charset="-78"/>
              </a:rPr>
              <a:t>محصولات</a:t>
            </a:r>
          </a:p>
        </p:txBody>
      </p:sp>
    </p:spTree>
    <p:extLst>
      <p:ext uri="{BB962C8B-B14F-4D97-AF65-F5344CB8AC3E}">
        <p14:creationId xmlns:p14="http://schemas.microsoft.com/office/powerpoint/2010/main" val="129691554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4276F2-F95E-5D67-8D89-07CB6A0A3D2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4B04631-442F-572D-3A0F-3DFE140F7F3F}"/>
              </a:ext>
            </a:extLst>
          </p:cNvPr>
          <p:cNvSpPr>
            <a:spLocks noGrp="1"/>
          </p:cNvSpPr>
          <p:nvPr>
            <p:ph type="body" sz="quarter" idx="10"/>
          </p:nvPr>
        </p:nvSpPr>
        <p:spPr>
          <a:xfrm>
            <a:off x="4753689" y="256653"/>
            <a:ext cx="6489884" cy="250047"/>
          </a:xfrm>
        </p:spPr>
        <p:txBody>
          <a:bodyPr/>
          <a:lstStyle/>
          <a:p>
            <a:r>
              <a:rPr lang="fa-IR"/>
              <a:t>نقشه ارزش (محصولات، دردسرکاه‌ها و منفعت‌سازها) بر اساس چهار محرک خلق ارزش </a:t>
            </a:r>
          </a:p>
        </p:txBody>
      </p:sp>
      <p:sp>
        <p:nvSpPr>
          <p:cNvPr id="3" name="Text Placeholder 2">
            <a:extLst>
              <a:ext uri="{FF2B5EF4-FFF2-40B4-BE49-F238E27FC236}">
                <a16:creationId xmlns:a16="http://schemas.microsoft.com/office/drawing/2014/main" id="{46BFBC00-2E7F-5DAE-2461-84AC953EB6AC}"/>
              </a:ext>
            </a:extLst>
          </p:cNvPr>
          <p:cNvSpPr>
            <a:spLocks noGrp="1"/>
          </p:cNvSpPr>
          <p:nvPr>
            <p:ph type="body" sz="quarter" idx="12"/>
          </p:nvPr>
        </p:nvSpPr>
        <p:spPr/>
        <p:txBody>
          <a:bodyPr/>
          <a:lstStyle/>
          <a:p>
            <a:r>
              <a:rPr lang="fa-IR" dirty="0"/>
              <a:t>کسب‌وکار کنجکاو </a:t>
            </a:r>
          </a:p>
        </p:txBody>
      </p:sp>
      <p:sp>
        <p:nvSpPr>
          <p:cNvPr id="4" name="Rectangle: Rounded Corners 3">
            <a:extLst>
              <a:ext uri="{FF2B5EF4-FFF2-40B4-BE49-F238E27FC236}">
                <a16:creationId xmlns:a16="http://schemas.microsoft.com/office/drawing/2014/main" id="{D533FFAF-B2BE-1659-E4FB-F656796640AD}"/>
              </a:ext>
            </a:extLst>
          </p:cNvPr>
          <p:cNvSpPr/>
          <p:nvPr/>
        </p:nvSpPr>
        <p:spPr>
          <a:xfrm>
            <a:off x="8595360" y="1282807"/>
            <a:ext cx="2296311" cy="363736"/>
          </a:xfrm>
          <a:prstGeom prst="roundRect">
            <a:avLst/>
          </a:prstGeom>
          <a:solidFill>
            <a:srgbClr val="004D80">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هوشمندی و اعتبارسنجی فرصت</a:t>
            </a:r>
          </a:p>
        </p:txBody>
      </p:sp>
      <p:sp>
        <p:nvSpPr>
          <p:cNvPr id="5" name="Rectangle: Rounded Corners 4">
            <a:extLst>
              <a:ext uri="{FF2B5EF4-FFF2-40B4-BE49-F238E27FC236}">
                <a16:creationId xmlns:a16="http://schemas.microsoft.com/office/drawing/2014/main" id="{11082CCB-4D04-A627-D8DA-CB07B9935EE7}"/>
              </a:ext>
            </a:extLst>
          </p:cNvPr>
          <p:cNvSpPr/>
          <p:nvPr/>
        </p:nvSpPr>
        <p:spPr>
          <a:xfrm>
            <a:off x="6000699" y="1282807"/>
            <a:ext cx="2296311" cy="363736"/>
          </a:xfrm>
          <a:prstGeom prst="roundRect">
            <a:avLst/>
          </a:prstGeom>
          <a:solidFill>
            <a:srgbClr val="F0BE0F">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ایجاد دسترسی مورداعتماد </a:t>
            </a:r>
          </a:p>
        </p:txBody>
      </p:sp>
      <p:sp>
        <p:nvSpPr>
          <p:cNvPr id="6" name="Rectangle: Rounded Corners 5">
            <a:extLst>
              <a:ext uri="{FF2B5EF4-FFF2-40B4-BE49-F238E27FC236}">
                <a16:creationId xmlns:a16="http://schemas.microsoft.com/office/drawing/2014/main" id="{1AA6FA36-1CB1-0CE9-26DC-A8C3852B95F6}"/>
              </a:ext>
            </a:extLst>
          </p:cNvPr>
          <p:cNvSpPr/>
          <p:nvPr/>
        </p:nvSpPr>
        <p:spPr>
          <a:xfrm>
            <a:off x="3406039" y="1282807"/>
            <a:ext cx="2296311" cy="363736"/>
          </a:xfrm>
          <a:prstGeom prst="roundRect">
            <a:avLst/>
          </a:prstGeom>
          <a:solidFill>
            <a:srgbClr val="004D80">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تأمین و فعال‌سازی منابع و قابلیت‌ها</a:t>
            </a:r>
          </a:p>
        </p:txBody>
      </p:sp>
      <p:sp>
        <p:nvSpPr>
          <p:cNvPr id="7" name="Rectangle: Rounded Corners 6">
            <a:extLst>
              <a:ext uri="{FF2B5EF4-FFF2-40B4-BE49-F238E27FC236}">
                <a16:creationId xmlns:a16="http://schemas.microsoft.com/office/drawing/2014/main" id="{29983DF1-4F66-5BEF-3A97-524592A4B047}"/>
              </a:ext>
            </a:extLst>
          </p:cNvPr>
          <p:cNvSpPr/>
          <p:nvPr/>
        </p:nvSpPr>
        <p:spPr>
          <a:xfrm>
            <a:off x="811379" y="1282807"/>
            <a:ext cx="2296311" cy="363736"/>
          </a:xfrm>
          <a:prstGeom prst="roundRect">
            <a:avLst/>
          </a:prstGeom>
          <a:solidFill>
            <a:srgbClr val="004D80">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هماهنگ‌سازی و تبدیل فرصت به نتیجه</a:t>
            </a:r>
          </a:p>
        </p:txBody>
      </p:sp>
      <p:graphicFrame>
        <p:nvGraphicFramePr>
          <p:cNvPr id="8" name="Table 7">
            <a:extLst>
              <a:ext uri="{FF2B5EF4-FFF2-40B4-BE49-F238E27FC236}">
                <a16:creationId xmlns:a16="http://schemas.microsoft.com/office/drawing/2014/main" id="{477B8EEC-F14B-46D1-5132-D78529139864}"/>
              </a:ext>
            </a:extLst>
          </p:cNvPr>
          <p:cNvGraphicFramePr>
            <a:graphicFrameLocks noGrp="1"/>
          </p:cNvGraphicFramePr>
          <p:nvPr>
            <p:extLst>
              <p:ext uri="{D42A27DB-BD31-4B8C-83A1-F6EECF244321}">
                <p14:modId xmlns:p14="http://schemas.microsoft.com/office/powerpoint/2010/main" val="2591849761"/>
              </p:ext>
            </p:extLst>
          </p:nvPr>
        </p:nvGraphicFramePr>
        <p:xfrm>
          <a:off x="811379" y="2098582"/>
          <a:ext cx="10080292" cy="3442588"/>
        </p:xfrm>
        <a:graphic>
          <a:graphicData uri="http://schemas.openxmlformats.org/drawingml/2006/table">
            <a:tbl>
              <a:tblPr firstRow="1" bandRow="1">
                <a:tableStyleId>{5C22544A-7EE6-4342-B048-85BDC9FD1C3A}</a:tableStyleId>
              </a:tblPr>
              <a:tblGrid>
                <a:gridCol w="5040146">
                  <a:extLst>
                    <a:ext uri="{9D8B030D-6E8A-4147-A177-3AD203B41FA5}">
                      <a16:colId xmlns:a16="http://schemas.microsoft.com/office/drawing/2014/main" val="1416290991"/>
                    </a:ext>
                  </a:extLst>
                </a:gridCol>
                <a:gridCol w="5040146">
                  <a:extLst>
                    <a:ext uri="{9D8B030D-6E8A-4147-A177-3AD203B41FA5}">
                      <a16:colId xmlns:a16="http://schemas.microsoft.com/office/drawing/2014/main" val="241493819"/>
                    </a:ext>
                  </a:extLst>
                </a:gridCol>
              </a:tblGrid>
              <a:tr h="1721294">
                <a:tc rowSpan="2">
                  <a:txBody>
                    <a:bodyPr/>
                    <a:lstStyle/>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دسترسی محرمانه به شبکه محلی.</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معرفی به بازیگران کلیدی بازار.</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گفت‌وگو با شرکت‌ها و متخصصان محلی.</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معرفی تدریجی به شرکای بالقوه.</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دسترسی به اطلاعات میدانی و غیرعمومی بازار.</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ایجاد ارتباط بدون ایجاد تعهد رسمی برای شرکت خارجی.</a:t>
                      </a:r>
                    </a:p>
                  </a:txBody>
                  <a:tcPr anchor="ctr">
                    <a:lnR w="6350" cap="flat" cmpd="sng" algn="ctr">
                      <a:solidFill>
                        <a:srgbClr val="F0BE0F"/>
                      </a:solidFill>
                      <a:prstDash val="solid"/>
                      <a:round/>
                      <a:headEnd type="none" w="med" len="med"/>
                      <a:tailEnd type="none" w="med" len="med"/>
                    </a:lnR>
                    <a:solidFill>
                      <a:schemeClr val="bg1">
                        <a:lumMod val="65000"/>
                        <a:alpha val="10000"/>
                      </a:schemeClr>
                    </a:solidFill>
                  </a:tcPr>
                </a:tc>
                <a:tc>
                  <a:txBody>
                    <a:bodyPr/>
                    <a:lstStyle/>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نبود شبکه محلی را کاهش می‌دهد.</a:t>
                      </a:r>
                    </a:p>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ریسک افشای زودهنگام نیت شرکت را کاهش می‌دهد.</a:t>
                      </a:r>
                    </a:p>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ریسک ارتباط با بازیگران نامناسب را کاهش می‌دهد.</a:t>
                      </a:r>
                    </a:p>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هزینه و زمان ایجاد شبکه محلی از صفر را کاهش می‌دهد.</a:t>
                      </a:r>
                    </a:p>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ترس از ورود مستقیم به یک بازار ناشناخته را کاهش می‌دهد.</a:t>
                      </a:r>
                    </a:p>
                  </a:txBody>
                  <a:tcPr anchor="ctr">
                    <a:lnL w="6350" cap="flat" cmpd="sng" algn="ctr">
                      <a:solidFill>
                        <a:srgbClr val="F0BE0F"/>
                      </a:solidFill>
                      <a:prstDash val="solid"/>
                      <a:round/>
                      <a:headEnd type="none" w="med" len="med"/>
                      <a:tailEnd type="none" w="med" len="med"/>
                    </a:lnL>
                    <a:lnB w="6350" cap="flat" cmpd="sng" algn="ctr">
                      <a:solidFill>
                        <a:srgbClr val="F0BE0F"/>
                      </a:solidFill>
                      <a:prstDash val="solid"/>
                      <a:round/>
                      <a:headEnd type="none" w="med" len="med"/>
                      <a:tailEnd type="none" w="med" len="med"/>
                    </a:lnB>
                    <a:solidFill>
                      <a:srgbClr val="C00000">
                        <a:alpha val="3000"/>
                      </a:srgbClr>
                    </a:solidFill>
                  </a:tcPr>
                </a:tc>
                <a:extLst>
                  <a:ext uri="{0D108BD9-81ED-4DB2-BD59-A6C34878D82A}">
                    <a16:rowId xmlns:a16="http://schemas.microsoft.com/office/drawing/2014/main" val="2675777916"/>
                  </a:ext>
                </a:extLst>
              </a:tr>
              <a:tr h="1721294">
                <a:tc vMerge="1">
                  <a:txBody>
                    <a:bodyPr/>
                    <a:lstStyle/>
                    <a:p>
                      <a:endParaRPr lang="en-US"/>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امکان یادگیری سریع‌تر از بازار را ایجاد می‌کند.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دسترسی به اطلاعاتی فراتر از منابع عمومی فراهم می‌کند.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امکان گفت‌وگوی محرمانه و مرحله‌ای را ایجاد می‌کند.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اختیار تصمیم‌گیری شرکت را تا زمان کافی برای شناخت بازار حفظ می‌کند.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شبکه اولیه لازم برای ورود آینده را شکل می‌دهد.</a:t>
                      </a:r>
                    </a:p>
                  </a:txBody>
                  <a:tcPr anchor="ctr">
                    <a:lnL w="6350" cap="flat" cmpd="sng" algn="ctr">
                      <a:solidFill>
                        <a:srgbClr val="F0BE0F"/>
                      </a:solidFill>
                      <a:prstDash val="solid"/>
                      <a:round/>
                      <a:headEnd type="none" w="med" len="med"/>
                      <a:tailEnd type="none" w="med" len="med"/>
                    </a:lnL>
                    <a:lnT w="6350" cap="flat" cmpd="sng" algn="ctr">
                      <a:solidFill>
                        <a:srgbClr val="F0BE0F"/>
                      </a:solidFill>
                      <a:prstDash val="solid"/>
                      <a:round/>
                      <a:headEnd type="none" w="med" len="med"/>
                      <a:tailEnd type="none" w="med" len="med"/>
                    </a:lnT>
                    <a:solidFill>
                      <a:schemeClr val="accent1">
                        <a:alpha val="4000"/>
                      </a:schemeClr>
                    </a:solidFill>
                  </a:tcPr>
                </a:tc>
                <a:extLst>
                  <a:ext uri="{0D108BD9-81ED-4DB2-BD59-A6C34878D82A}">
                    <a16:rowId xmlns:a16="http://schemas.microsoft.com/office/drawing/2014/main" val="1388272330"/>
                  </a:ext>
                </a:extLst>
              </a:tr>
            </a:tbl>
          </a:graphicData>
        </a:graphic>
      </p:graphicFrame>
      <p:sp>
        <p:nvSpPr>
          <p:cNvPr id="9" name="TextBox 8">
            <a:extLst>
              <a:ext uri="{FF2B5EF4-FFF2-40B4-BE49-F238E27FC236}">
                <a16:creationId xmlns:a16="http://schemas.microsoft.com/office/drawing/2014/main" id="{A647C79D-443A-9CFA-9321-7F022D1927D3}"/>
              </a:ext>
            </a:extLst>
          </p:cNvPr>
          <p:cNvSpPr txBox="1"/>
          <p:nvPr/>
        </p:nvSpPr>
        <p:spPr>
          <a:xfrm>
            <a:off x="9378405" y="1895264"/>
            <a:ext cx="1513266" cy="369332"/>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b="1" i="0" u="none" strike="noStrike" kern="1200" cap="none" spc="0" normalizeH="0" baseline="0" noProof="0" dirty="0">
                <a:ln>
                  <a:noFill/>
                </a:ln>
                <a:solidFill>
                  <a:srgbClr val="C00000"/>
                </a:solidFill>
                <a:effectLst/>
                <a:uLnTx/>
                <a:uFillTx/>
                <a:latin typeface="Yekan Bakh" pitchFamily="2" charset="-78"/>
                <a:ea typeface="Yekan Bakh" pitchFamily="2" charset="-78"/>
                <a:cs typeface="Yekan Bakh" pitchFamily="2" charset="-78"/>
              </a:rPr>
              <a:t>دردسرگاه‌ها</a:t>
            </a:r>
          </a:p>
        </p:txBody>
      </p:sp>
      <p:sp>
        <p:nvSpPr>
          <p:cNvPr id="10" name="TextBox 9">
            <a:extLst>
              <a:ext uri="{FF2B5EF4-FFF2-40B4-BE49-F238E27FC236}">
                <a16:creationId xmlns:a16="http://schemas.microsoft.com/office/drawing/2014/main" id="{9507ABAD-AD7D-473E-5E89-B1965F2922B0}"/>
              </a:ext>
            </a:extLst>
          </p:cNvPr>
          <p:cNvSpPr txBox="1"/>
          <p:nvPr/>
        </p:nvSpPr>
        <p:spPr>
          <a:xfrm>
            <a:off x="9378405" y="5306160"/>
            <a:ext cx="1513266" cy="369332"/>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b="1" i="0" u="none" strike="noStrike" kern="1200" cap="none" spc="0" normalizeH="0" baseline="0" noProof="0" dirty="0">
                <a:ln>
                  <a:noFill/>
                </a:ln>
                <a:solidFill>
                  <a:schemeClr val="accent1"/>
                </a:solidFill>
                <a:effectLst/>
                <a:uLnTx/>
                <a:uFillTx/>
                <a:latin typeface="Yekan Bakh" pitchFamily="2" charset="-78"/>
                <a:ea typeface="Yekan Bakh" pitchFamily="2" charset="-78"/>
                <a:cs typeface="Yekan Bakh" pitchFamily="2" charset="-78"/>
              </a:rPr>
              <a:t>منفعت‌سازها</a:t>
            </a:r>
          </a:p>
        </p:txBody>
      </p:sp>
      <p:sp>
        <p:nvSpPr>
          <p:cNvPr id="11" name="TextBox 10">
            <a:extLst>
              <a:ext uri="{FF2B5EF4-FFF2-40B4-BE49-F238E27FC236}">
                <a16:creationId xmlns:a16="http://schemas.microsoft.com/office/drawing/2014/main" id="{2949CF0D-DE87-83CE-8F66-6DA0F76F504D}"/>
              </a:ext>
            </a:extLst>
          </p:cNvPr>
          <p:cNvSpPr txBox="1"/>
          <p:nvPr/>
        </p:nvSpPr>
        <p:spPr>
          <a:xfrm>
            <a:off x="827835" y="1876792"/>
            <a:ext cx="1513266" cy="369332"/>
          </a:xfrm>
          <a:prstGeom prst="rect">
            <a:avLst/>
          </a:prstGeom>
          <a:noFill/>
        </p:spPr>
        <p:txBody>
          <a:bodyPr wrap="square">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fa-IR" b="1" i="0" u="none" strike="noStrike" kern="1200" cap="none" spc="0" normalizeH="0" baseline="0" noProof="0" dirty="0">
                <a:ln>
                  <a:noFill/>
                </a:ln>
                <a:solidFill>
                  <a:schemeClr val="tx1">
                    <a:lumMod val="50000"/>
                    <a:lumOff val="50000"/>
                  </a:schemeClr>
                </a:solidFill>
                <a:effectLst/>
                <a:uLnTx/>
                <a:uFillTx/>
                <a:latin typeface="Yekan Bakh" pitchFamily="2" charset="-78"/>
                <a:ea typeface="Yekan Bakh" pitchFamily="2" charset="-78"/>
                <a:cs typeface="Yekan Bakh" pitchFamily="2" charset="-78"/>
              </a:rPr>
              <a:t>محصولات</a:t>
            </a:r>
          </a:p>
        </p:txBody>
      </p:sp>
    </p:spTree>
    <p:extLst>
      <p:ext uri="{BB962C8B-B14F-4D97-AF65-F5344CB8AC3E}">
        <p14:creationId xmlns:p14="http://schemas.microsoft.com/office/powerpoint/2010/main" val="310259286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FAD0BC-2E35-0A40-8F3A-3329F281C71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5C6C513-BE97-B7B2-F15E-4FE7442091AA}"/>
              </a:ext>
            </a:extLst>
          </p:cNvPr>
          <p:cNvSpPr>
            <a:spLocks noGrp="1"/>
          </p:cNvSpPr>
          <p:nvPr>
            <p:ph type="body" sz="quarter" idx="10"/>
          </p:nvPr>
        </p:nvSpPr>
        <p:spPr>
          <a:xfrm>
            <a:off x="4753689" y="256653"/>
            <a:ext cx="6489884" cy="250047"/>
          </a:xfrm>
        </p:spPr>
        <p:txBody>
          <a:bodyPr/>
          <a:lstStyle/>
          <a:p>
            <a:r>
              <a:rPr lang="fa-IR"/>
              <a:t>نقشه ارزش (محصولات، دردسرکاه‌ها و منفعت‌سازها) بر اساس چهار محرک خلق ارزش </a:t>
            </a:r>
          </a:p>
        </p:txBody>
      </p:sp>
      <p:sp>
        <p:nvSpPr>
          <p:cNvPr id="3" name="Text Placeholder 2">
            <a:extLst>
              <a:ext uri="{FF2B5EF4-FFF2-40B4-BE49-F238E27FC236}">
                <a16:creationId xmlns:a16="http://schemas.microsoft.com/office/drawing/2014/main" id="{ECCF42D1-5C18-F8DC-05E4-3BA8987E9796}"/>
              </a:ext>
            </a:extLst>
          </p:cNvPr>
          <p:cNvSpPr>
            <a:spLocks noGrp="1"/>
          </p:cNvSpPr>
          <p:nvPr>
            <p:ph type="body" sz="quarter" idx="12"/>
          </p:nvPr>
        </p:nvSpPr>
        <p:spPr/>
        <p:txBody>
          <a:bodyPr/>
          <a:lstStyle/>
          <a:p>
            <a:r>
              <a:rPr lang="fa-IR" dirty="0"/>
              <a:t>کسب‌وکار کنجکاو </a:t>
            </a:r>
          </a:p>
        </p:txBody>
      </p:sp>
      <p:sp>
        <p:nvSpPr>
          <p:cNvPr id="4" name="Rectangle: Rounded Corners 3">
            <a:extLst>
              <a:ext uri="{FF2B5EF4-FFF2-40B4-BE49-F238E27FC236}">
                <a16:creationId xmlns:a16="http://schemas.microsoft.com/office/drawing/2014/main" id="{A49543B2-37EA-3F31-D9C3-6414DC362479}"/>
              </a:ext>
            </a:extLst>
          </p:cNvPr>
          <p:cNvSpPr/>
          <p:nvPr/>
        </p:nvSpPr>
        <p:spPr>
          <a:xfrm>
            <a:off x="8595360" y="1282807"/>
            <a:ext cx="2296311" cy="363736"/>
          </a:xfrm>
          <a:prstGeom prst="roundRect">
            <a:avLst/>
          </a:prstGeom>
          <a:solidFill>
            <a:srgbClr val="004D80">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هوشمندی و اعتبارسنجی فرصت</a:t>
            </a:r>
          </a:p>
        </p:txBody>
      </p:sp>
      <p:sp>
        <p:nvSpPr>
          <p:cNvPr id="5" name="Rectangle: Rounded Corners 4">
            <a:extLst>
              <a:ext uri="{FF2B5EF4-FFF2-40B4-BE49-F238E27FC236}">
                <a16:creationId xmlns:a16="http://schemas.microsoft.com/office/drawing/2014/main" id="{0D0D13F7-5DC0-D6AD-5A33-3342F85F7316}"/>
              </a:ext>
            </a:extLst>
          </p:cNvPr>
          <p:cNvSpPr/>
          <p:nvPr/>
        </p:nvSpPr>
        <p:spPr>
          <a:xfrm>
            <a:off x="6000699" y="1282807"/>
            <a:ext cx="2296311" cy="363736"/>
          </a:xfrm>
          <a:prstGeom prst="roundRect">
            <a:avLst/>
          </a:prstGeom>
          <a:solidFill>
            <a:srgbClr val="004D80">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ایجاد دسترسی مورداعتماد </a:t>
            </a:r>
          </a:p>
        </p:txBody>
      </p:sp>
      <p:sp>
        <p:nvSpPr>
          <p:cNvPr id="6" name="Rectangle: Rounded Corners 5">
            <a:extLst>
              <a:ext uri="{FF2B5EF4-FFF2-40B4-BE49-F238E27FC236}">
                <a16:creationId xmlns:a16="http://schemas.microsoft.com/office/drawing/2014/main" id="{BDB71D7B-7110-832E-0BA1-9020E3463B64}"/>
              </a:ext>
            </a:extLst>
          </p:cNvPr>
          <p:cNvSpPr/>
          <p:nvPr/>
        </p:nvSpPr>
        <p:spPr>
          <a:xfrm>
            <a:off x="3406039" y="1282807"/>
            <a:ext cx="2296311" cy="363736"/>
          </a:xfrm>
          <a:prstGeom prst="roundRect">
            <a:avLst/>
          </a:prstGeom>
          <a:solidFill>
            <a:srgbClr val="F0BE0F">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تأمین و فعال‌سازی منابع و قابلیت‌ها</a:t>
            </a:r>
          </a:p>
        </p:txBody>
      </p:sp>
      <p:sp>
        <p:nvSpPr>
          <p:cNvPr id="7" name="Rectangle: Rounded Corners 6">
            <a:extLst>
              <a:ext uri="{FF2B5EF4-FFF2-40B4-BE49-F238E27FC236}">
                <a16:creationId xmlns:a16="http://schemas.microsoft.com/office/drawing/2014/main" id="{32144904-6F40-56A3-A70B-E9F81F85C5C5}"/>
              </a:ext>
            </a:extLst>
          </p:cNvPr>
          <p:cNvSpPr/>
          <p:nvPr/>
        </p:nvSpPr>
        <p:spPr>
          <a:xfrm>
            <a:off x="811379" y="1282807"/>
            <a:ext cx="2296311" cy="363736"/>
          </a:xfrm>
          <a:prstGeom prst="roundRect">
            <a:avLst/>
          </a:prstGeom>
          <a:solidFill>
            <a:srgbClr val="004D80">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هماهنگ‌سازی و تبدیل فرصت به نتیجه</a:t>
            </a:r>
          </a:p>
        </p:txBody>
      </p:sp>
      <p:graphicFrame>
        <p:nvGraphicFramePr>
          <p:cNvPr id="8" name="Table 7">
            <a:extLst>
              <a:ext uri="{FF2B5EF4-FFF2-40B4-BE49-F238E27FC236}">
                <a16:creationId xmlns:a16="http://schemas.microsoft.com/office/drawing/2014/main" id="{0B325816-5324-FE78-2A3F-B961B077CEB7}"/>
              </a:ext>
            </a:extLst>
          </p:cNvPr>
          <p:cNvGraphicFramePr>
            <a:graphicFrameLocks noGrp="1"/>
          </p:cNvGraphicFramePr>
          <p:nvPr>
            <p:extLst>
              <p:ext uri="{D42A27DB-BD31-4B8C-83A1-F6EECF244321}">
                <p14:modId xmlns:p14="http://schemas.microsoft.com/office/powerpoint/2010/main" val="2932447911"/>
              </p:ext>
            </p:extLst>
          </p:nvPr>
        </p:nvGraphicFramePr>
        <p:xfrm>
          <a:off x="811379" y="2098582"/>
          <a:ext cx="10080292" cy="3442588"/>
        </p:xfrm>
        <a:graphic>
          <a:graphicData uri="http://schemas.openxmlformats.org/drawingml/2006/table">
            <a:tbl>
              <a:tblPr firstRow="1" bandRow="1">
                <a:tableStyleId>{5C22544A-7EE6-4342-B048-85BDC9FD1C3A}</a:tableStyleId>
              </a:tblPr>
              <a:tblGrid>
                <a:gridCol w="5040146">
                  <a:extLst>
                    <a:ext uri="{9D8B030D-6E8A-4147-A177-3AD203B41FA5}">
                      <a16:colId xmlns:a16="http://schemas.microsoft.com/office/drawing/2014/main" val="1416290991"/>
                    </a:ext>
                  </a:extLst>
                </a:gridCol>
                <a:gridCol w="5040146">
                  <a:extLst>
                    <a:ext uri="{9D8B030D-6E8A-4147-A177-3AD203B41FA5}">
                      <a16:colId xmlns:a16="http://schemas.microsoft.com/office/drawing/2014/main" val="241493819"/>
                    </a:ext>
                  </a:extLst>
                </a:gridCol>
              </a:tblGrid>
              <a:tr h="1721294">
                <a:tc rowSpan="2">
                  <a:txBody>
                    <a:bodyPr/>
                    <a:lstStyle/>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طراحی </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Pilot Entry</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خدمات حقوقی و </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Compliance</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 برای بررسی اولیه.</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خدمات بازار و عملیات اولیه.</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دسترسی به متخصصان محلی.</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استفاده از </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Partner</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های تخصصی برای آزمون محدود بازار.</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فراهم‌کردن قابلیت‌های لازم برای ورود مرحله‌ای.</a:t>
                      </a:r>
                    </a:p>
                  </a:txBody>
                  <a:tcPr anchor="ctr">
                    <a:lnR w="6350" cap="flat" cmpd="sng" algn="ctr">
                      <a:solidFill>
                        <a:srgbClr val="F0BE0F"/>
                      </a:solidFill>
                      <a:prstDash val="solid"/>
                      <a:round/>
                      <a:headEnd type="none" w="med" len="med"/>
                      <a:tailEnd type="none" w="med" len="med"/>
                    </a:lnR>
                    <a:solidFill>
                      <a:schemeClr val="bg1">
                        <a:lumMod val="65000"/>
                        <a:alpha val="10000"/>
                      </a:schemeClr>
                    </a:solidFill>
                  </a:tcPr>
                </a:tc>
                <a:tc>
                  <a:txBody>
                    <a:bodyPr/>
                    <a:lstStyle/>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هزینه اولین قدم ورود را کاهش می‌دهد.</a:t>
                      </a:r>
                    </a:p>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نیاز به ایجاد قابلیت محلی کامل در مرحله</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Exploration </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 را کاهش می‌دهد.</a:t>
                      </a:r>
                    </a:p>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ریسک تعهد سرمایه بزرگ پیش از اعتبارسنجی را کاهش می‌دهد.</a:t>
                      </a:r>
                    </a:p>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پیچیدگی اجرای آزمایشی را کاهش می‌دهد.</a:t>
                      </a:r>
                    </a:p>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امکان یادگیری بدون ایجاد ساختار سنگین را فراهم می‌کند.</a:t>
                      </a:r>
                    </a:p>
                  </a:txBody>
                  <a:tcPr anchor="ctr">
                    <a:lnL w="6350" cap="flat" cmpd="sng" algn="ctr">
                      <a:solidFill>
                        <a:srgbClr val="F0BE0F"/>
                      </a:solidFill>
                      <a:prstDash val="solid"/>
                      <a:round/>
                      <a:headEnd type="none" w="med" len="med"/>
                      <a:tailEnd type="none" w="med" len="med"/>
                    </a:lnL>
                    <a:lnB w="6350" cap="flat" cmpd="sng" algn="ctr">
                      <a:solidFill>
                        <a:srgbClr val="F0BE0F"/>
                      </a:solidFill>
                      <a:prstDash val="solid"/>
                      <a:round/>
                      <a:headEnd type="none" w="med" len="med"/>
                      <a:tailEnd type="none" w="med" len="med"/>
                    </a:lnB>
                    <a:solidFill>
                      <a:srgbClr val="C00000">
                        <a:alpha val="3000"/>
                      </a:srgbClr>
                    </a:solidFill>
                  </a:tcPr>
                </a:tc>
                <a:extLst>
                  <a:ext uri="{0D108BD9-81ED-4DB2-BD59-A6C34878D82A}">
                    <a16:rowId xmlns:a16="http://schemas.microsoft.com/office/drawing/2014/main" val="2675777916"/>
                  </a:ext>
                </a:extLst>
              </a:tr>
              <a:tr h="1721294">
                <a:tc vMerge="1">
                  <a:txBody>
                    <a:bodyPr/>
                    <a:lstStyle/>
                    <a:p>
                      <a:endParaRPr lang="en-US"/>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امکان آزمون بازار با سرمایه و تعهد محدود را ایجاد می‌کند.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قابلیت ورود مرحله‌ای به بازار را فراهم می‌کند.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زمان لازم برای تبدیل</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Exploration </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 به </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Pilot</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 را کاهش می‌دهد.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شرکت را برای حرکت سریع در صورت تأیید فرصت آماده می‌کند.</a:t>
                      </a:r>
                    </a:p>
                  </a:txBody>
                  <a:tcPr anchor="ctr">
                    <a:lnL w="6350" cap="flat" cmpd="sng" algn="ctr">
                      <a:solidFill>
                        <a:srgbClr val="F0BE0F"/>
                      </a:solidFill>
                      <a:prstDash val="solid"/>
                      <a:round/>
                      <a:headEnd type="none" w="med" len="med"/>
                      <a:tailEnd type="none" w="med" len="med"/>
                    </a:lnL>
                    <a:lnT w="6350" cap="flat" cmpd="sng" algn="ctr">
                      <a:solidFill>
                        <a:srgbClr val="F0BE0F"/>
                      </a:solidFill>
                      <a:prstDash val="solid"/>
                      <a:round/>
                      <a:headEnd type="none" w="med" len="med"/>
                      <a:tailEnd type="none" w="med" len="med"/>
                    </a:lnT>
                    <a:solidFill>
                      <a:schemeClr val="accent1">
                        <a:alpha val="4000"/>
                      </a:schemeClr>
                    </a:solidFill>
                  </a:tcPr>
                </a:tc>
                <a:extLst>
                  <a:ext uri="{0D108BD9-81ED-4DB2-BD59-A6C34878D82A}">
                    <a16:rowId xmlns:a16="http://schemas.microsoft.com/office/drawing/2014/main" val="1388272330"/>
                  </a:ext>
                </a:extLst>
              </a:tr>
            </a:tbl>
          </a:graphicData>
        </a:graphic>
      </p:graphicFrame>
      <p:sp>
        <p:nvSpPr>
          <p:cNvPr id="9" name="TextBox 8">
            <a:extLst>
              <a:ext uri="{FF2B5EF4-FFF2-40B4-BE49-F238E27FC236}">
                <a16:creationId xmlns:a16="http://schemas.microsoft.com/office/drawing/2014/main" id="{9792429F-67B7-F009-3E50-189A646DB41E}"/>
              </a:ext>
            </a:extLst>
          </p:cNvPr>
          <p:cNvSpPr txBox="1"/>
          <p:nvPr/>
        </p:nvSpPr>
        <p:spPr>
          <a:xfrm>
            <a:off x="9378405" y="1895264"/>
            <a:ext cx="1513266" cy="369332"/>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b="1" i="0" u="none" strike="noStrike" kern="1200" cap="none" spc="0" normalizeH="0" baseline="0" noProof="0" dirty="0">
                <a:ln>
                  <a:noFill/>
                </a:ln>
                <a:solidFill>
                  <a:srgbClr val="C00000"/>
                </a:solidFill>
                <a:effectLst/>
                <a:uLnTx/>
                <a:uFillTx/>
                <a:latin typeface="Yekan Bakh" pitchFamily="2" charset="-78"/>
                <a:ea typeface="Yekan Bakh" pitchFamily="2" charset="-78"/>
                <a:cs typeface="Yekan Bakh" pitchFamily="2" charset="-78"/>
              </a:rPr>
              <a:t>دردسرگاه‌ها</a:t>
            </a:r>
          </a:p>
        </p:txBody>
      </p:sp>
      <p:sp>
        <p:nvSpPr>
          <p:cNvPr id="10" name="TextBox 9">
            <a:extLst>
              <a:ext uri="{FF2B5EF4-FFF2-40B4-BE49-F238E27FC236}">
                <a16:creationId xmlns:a16="http://schemas.microsoft.com/office/drawing/2014/main" id="{E3492D2A-C2F1-0A11-6F9B-10B933218586}"/>
              </a:ext>
            </a:extLst>
          </p:cNvPr>
          <p:cNvSpPr txBox="1"/>
          <p:nvPr/>
        </p:nvSpPr>
        <p:spPr>
          <a:xfrm>
            <a:off x="9378405" y="5306160"/>
            <a:ext cx="1513266" cy="369332"/>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b="1" i="0" u="none" strike="noStrike" kern="1200" cap="none" spc="0" normalizeH="0" baseline="0" noProof="0" dirty="0">
                <a:ln>
                  <a:noFill/>
                </a:ln>
                <a:solidFill>
                  <a:schemeClr val="accent1"/>
                </a:solidFill>
                <a:effectLst/>
                <a:uLnTx/>
                <a:uFillTx/>
                <a:latin typeface="Yekan Bakh" pitchFamily="2" charset="-78"/>
                <a:ea typeface="Yekan Bakh" pitchFamily="2" charset="-78"/>
                <a:cs typeface="Yekan Bakh" pitchFamily="2" charset="-78"/>
              </a:rPr>
              <a:t>منفعت‌سازها</a:t>
            </a:r>
          </a:p>
        </p:txBody>
      </p:sp>
      <p:sp>
        <p:nvSpPr>
          <p:cNvPr id="11" name="TextBox 10">
            <a:extLst>
              <a:ext uri="{FF2B5EF4-FFF2-40B4-BE49-F238E27FC236}">
                <a16:creationId xmlns:a16="http://schemas.microsoft.com/office/drawing/2014/main" id="{59D2CA5B-598E-EBC7-DE8F-B923D58308A7}"/>
              </a:ext>
            </a:extLst>
          </p:cNvPr>
          <p:cNvSpPr txBox="1"/>
          <p:nvPr/>
        </p:nvSpPr>
        <p:spPr>
          <a:xfrm>
            <a:off x="827835" y="1876792"/>
            <a:ext cx="1513266" cy="369332"/>
          </a:xfrm>
          <a:prstGeom prst="rect">
            <a:avLst/>
          </a:prstGeom>
          <a:noFill/>
        </p:spPr>
        <p:txBody>
          <a:bodyPr wrap="square">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fa-IR" b="1" i="0" u="none" strike="noStrike" kern="1200" cap="none" spc="0" normalizeH="0" baseline="0" noProof="0" dirty="0">
                <a:ln>
                  <a:noFill/>
                </a:ln>
                <a:solidFill>
                  <a:schemeClr val="tx1">
                    <a:lumMod val="50000"/>
                    <a:lumOff val="50000"/>
                  </a:schemeClr>
                </a:solidFill>
                <a:effectLst/>
                <a:uLnTx/>
                <a:uFillTx/>
                <a:latin typeface="Yekan Bakh" pitchFamily="2" charset="-78"/>
                <a:ea typeface="Yekan Bakh" pitchFamily="2" charset="-78"/>
                <a:cs typeface="Yekan Bakh" pitchFamily="2" charset="-78"/>
              </a:rPr>
              <a:t>محصولات</a:t>
            </a:r>
          </a:p>
        </p:txBody>
      </p:sp>
    </p:spTree>
    <p:extLst>
      <p:ext uri="{BB962C8B-B14F-4D97-AF65-F5344CB8AC3E}">
        <p14:creationId xmlns:p14="http://schemas.microsoft.com/office/powerpoint/2010/main" val="237201953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5A3F78-4403-402F-17D0-5D6695E8242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BC5AE0C-5FC3-6B86-1A92-B1F7F2C147B4}"/>
              </a:ext>
            </a:extLst>
          </p:cNvPr>
          <p:cNvSpPr>
            <a:spLocks noGrp="1"/>
          </p:cNvSpPr>
          <p:nvPr>
            <p:ph type="body" sz="quarter" idx="10"/>
          </p:nvPr>
        </p:nvSpPr>
        <p:spPr>
          <a:xfrm>
            <a:off x="4753689" y="256653"/>
            <a:ext cx="6489884" cy="250047"/>
          </a:xfrm>
        </p:spPr>
        <p:txBody>
          <a:bodyPr/>
          <a:lstStyle/>
          <a:p>
            <a:r>
              <a:rPr lang="fa-IR"/>
              <a:t>نقشه ارزش (محصولات، دردسرکاه‌ها و منفعت‌سازها) بر اساس چهار محرک خلق ارزش </a:t>
            </a:r>
          </a:p>
        </p:txBody>
      </p:sp>
      <p:sp>
        <p:nvSpPr>
          <p:cNvPr id="3" name="Text Placeholder 2">
            <a:extLst>
              <a:ext uri="{FF2B5EF4-FFF2-40B4-BE49-F238E27FC236}">
                <a16:creationId xmlns:a16="http://schemas.microsoft.com/office/drawing/2014/main" id="{0F0974EB-E787-2AAB-0F80-3B00100A74D8}"/>
              </a:ext>
            </a:extLst>
          </p:cNvPr>
          <p:cNvSpPr>
            <a:spLocks noGrp="1"/>
          </p:cNvSpPr>
          <p:nvPr>
            <p:ph type="body" sz="quarter" idx="12"/>
          </p:nvPr>
        </p:nvSpPr>
        <p:spPr/>
        <p:txBody>
          <a:bodyPr/>
          <a:lstStyle/>
          <a:p>
            <a:r>
              <a:rPr lang="fa-IR" dirty="0"/>
              <a:t>کسب‌وکار کنجکاو </a:t>
            </a:r>
          </a:p>
        </p:txBody>
      </p:sp>
      <p:sp>
        <p:nvSpPr>
          <p:cNvPr id="4" name="Rectangle: Rounded Corners 3">
            <a:extLst>
              <a:ext uri="{FF2B5EF4-FFF2-40B4-BE49-F238E27FC236}">
                <a16:creationId xmlns:a16="http://schemas.microsoft.com/office/drawing/2014/main" id="{C1C38C37-C085-23E2-644C-3DA546461DE3}"/>
              </a:ext>
            </a:extLst>
          </p:cNvPr>
          <p:cNvSpPr/>
          <p:nvPr/>
        </p:nvSpPr>
        <p:spPr>
          <a:xfrm>
            <a:off x="8595360" y="1282807"/>
            <a:ext cx="2296311" cy="363736"/>
          </a:xfrm>
          <a:prstGeom prst="roundRect">
            <a:avLst/>
          </a:prstGeom>
          <a:solidFill>
            <a:srgbClr val="004D80">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هوشمندی و اعتبارسنجی فرصت</a:t>
            </a:r>
          </a:p>
        </p:txBody>
      </p:sp>
      <p:sp>
        <p:nvSpPr>
          <p:cNvPr id="5" name="Rectangle: Rounded Corners 4">
            <a:extLst>
              <a:ext uri="{FF2B5EF4-FFF2-40B4-BE49-F238E27FC236}">
                <a16:creationId xmlns:a16="http://schemas.microsoft.com/office/drawing/2014/main" id="{76BBE746-8EC0-03A7-1384-82EF60CA85B9}"/>
              </a:ext>
            </a:extLst>
          </p:cNvPr>
          <p:cNvSpPr/>
          <p:nvPr/>
        </p:nvSpPr>
        <p:spPr>
          <a:xfrm>
            <a:off x="6000699" y="1282807"/>
            <a:ext cx="2296311" cy="363736"/>
          </a:xfrm>
          <a:prstGeom prst="roundRect">
            <a:avLst/>
          </a:prstGeom>
          <a:solidFill>
            <a:srgbClr val="004D80">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ایجاد دسترسی مورداعتماد </a:t>
            </a:r>
          </a:p>
        </p:txBody>
      </p:sp>
      <p:sp>
        <p:nvSpPr>
          <p:cNvPr id="6" name="Rectangle: Rounded Corners 5">
            <a:extLst>
              <a:ext uri="{FF2B5EF4-FFF2-40B4-BE49-F238E27FC236}">
                <a16:creationId xmlns:a16="http://schemas.microsoft.com/office/drawing/2014/main" id="{1A285E9F-8093-C174-E70A-6776AF7E002B}"/>
              </a:ext>
            </a:extLst>
          </p:cNvPr>
          <p:cNvSpPr/>
          <p:nvPr/>
        </p:nvSpPr>
        <p:spPr>
          <a:xfrm>
            <a:off x="3406039" y="1282807"/>
            <a:ext cx="2296311" cy="363736"/>
          </a:xfrm>
          <a:prstGeom prst="roundRect">
            <a:avLst/>
          </a:prstGeom>
          <a:solidFill>
            <a:srgbClr val="004D80">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تأمین و فعال‌سازی منابع و قابلیت‌ها</a:t>
            </a:r>
          </a:p>
        </p:txBody>
      </p:sp>
      <p:sp>
        <p:nvSpPr>
          <p:cNvPr id="7" name="Rectangle: Rounded Corners 6">
            <a:extLst>
              <a:ext uri="{FF2B5EF4-FFF2-40B4-BE49-F238E27FC236}">
                <a16:creationId xmlns:a16="http://schemas.microsoft.com/office/drawing/2014/main" id="{7A58086F-A448-256C-731C-68E105763DEF}"/>
              </a:ext>
            </a:extLst>
          </p:cNvPr>
          <p:cNvSpPr/>
          <p:nvPr/>
        </p:nvSpPr>
        <p:spPr>
          <a:xfrm>
            <a:off x="811379" y="1282807"/>
            <a:ext cx="2296311" cy="363736"/>
          </a:xfrm>
          <a:prstGeom prst="roundRect">
            <a:avLst/>
          </a:prstGeom>
          <a:solidFill>
            <a:srgbClr val="F0BE0F">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هماهنگ‌سازی و تبدیل فرصت به نتیجه</a:t>
            </a:r>
          </a:p>
        </p:txBody>
      </p:sp>
      <p:graphicFrame>
        <p:nvGraphicFramePr>
          <p:cNvPr id="8" name="Table 7">
            <a:extLst>
              <a:ext uri="{FF2B5EF4-FFF2-40B4-BE49-F238E27FC236}">
                <a16:creationId xmlns:a16="http://schemas.microsoft.com/office/drawing/2014/main" id="{48F23A5E-C09A-61F3-E430-9E75C423E897}"/>
              </a:ext>
            </a:extLst>
          </p:cNvPr>
          <p:cNvGraphicFramePr>
            <a:graphicFrameLocks noGrp="1"/>
          </p:cNvGraphicFramePr>
          <p:nvPr>
            <p:extLst>
              <p:ext uri="{D42A27DB-BD31-4B8C-83A1-F6EECF244321}">
                <p14:modId xmlns:p14="http://schemas.microsoft.com/office/powerpoint/2010/main" val="3395612418"/>
              </p:ext>
            </p:extLst>
          </p:nvPr>
        </p:nvGraphicFramePr>
        <p:xfrm>
          <a:off x="811379" y="2098582"/>
          <a:ext cx="10080292" cy="3442588"/>
        </p:xfrm>
        <a:graphic>
          <a:graphicData uri="http://schemas.openxmlformats.org/drawingml/2006/table">
            <a:tbl>
              <a:tblPr firstRow="1" bandRow="1">
                <a:tableStyleId>{5C22544A-7EE6-4342-B048-85BDC9FD1C3A}</a:tableStyleId>
              </a:tblPr>
              <a:tblGrid>
                <a:gridCol w="5040146">
                  <a:extLst>
                    <a:ext uri="{9D8B030D-6E8A-4147-A177-3AD203B41FA5}">
                      <a16:colId xmlns:a16="http://schemas.microsoft.com/office/drawing/2014/main" val="1416290991"/>
                    </a:ext>
                  </a:extLst>
                </a:gridCol>
                <a:gridCol w="5040146">
                  <a:extLst>
                    <a:ext uri="{9D8B030D-6E8A-4147-A177-3AD203B41FA5}">
                      <a16:colId xmlns:a16="http://schemas.microsoft.com/office/drawing/2014/main" val="241493819"/>
                    </a:ext>
                  </a:extLst>
                </a:gridCol>
              </a:tblGrid>
              <a:tr h="1721294">
                <a:tc rowSpan="2">
                  <a:txBody>
                    <a:bodyPr/>
                    <a:lstStyle/>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مدیریت مسیر</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Exploration </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 تا </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Pilot</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 و </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Entry</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هماهنگی تحقیقات، تحلیل‌ها و تعاملات بازار.</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هماهنگی </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Partner</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های محلی و تخصصی.</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طراحی و اجرای </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Pilot</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مدیریت تبدیل فرصت شناسایی‌شده به برنامه ورود.</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ایجاد مسیر انتقال از شناخت بازار به معامله یا سرمایه‌گذاری.</a:t>
                      </a:r>
                    </a:p>
                  </a:txBody>
                  <a:tcPr anchor="ctr">
                    <a:lnR w="6350" cap="flat" cmpd="sng" algn="ctr">
                      <a:solidFill>
                        <a:srgbClr val="F0BE0F"/>
                      </a:solidFill>
                      <a:prstDash val="solid"/>
                      <a:round/>
                      <a:headEnd type="none" w="med" len="med"/>
                      <a:tailEnd type="none" w="med" len="med"/>
                    </a:lnR>
                    <a:solidFill>
                      <a:schemeClr val="bg1">
                        <a:lumMod val="65000"/>
                        <a:alpha val="10000"/>
                      </a:schemeClr>
                    </a:solidFill>
                  </a:tcPr>
                </a:tc>
                <a:tc>
                  <a:txBody>
                    <a:bodyPr/>
                    <a:lstStyle/>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از باقی ماندن شرکت در مرحله مطالعه و تحلیل جلوگیری می‌کند.</a:t>
                      </a:r>
                    </a:p>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فاصله میان </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Insight</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 و</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Action </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 را کاهش می‌دهد.</a:t>
                      </a:r>
                    </a:p>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پراکندگی تحقیقات و اقدامات اولیه را کاهش می‌دهد.</a:t>
                      </a:r>
                    </a:p>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ریسک از دست رفتن فرصت در اثر طولانی‌شدن فرآیند تصمیم‌گیری را کاهش می‌دهد.</a:t>
                      </a:r>
                    </a:p>
                  </a:txBody>
                  <a:tcPr anchor="ctr">
                    <a:lnL w="6350" cap="flat" cmpd="sng" algn="ctr">
                      <a:solidFill>
                        <a:srgbClr val="F0BE0F"/>
                      </a:solidFill>
                      <a:prstDash val="solid"/>
                      <a:round/>
                      <a:headEnd type="none" w="med" len="med"/>
                      <a:tailEnd type="none" w="med" len="med"/>
                    </a:lnL>
                    <a:lnB w="6350" cap="flat" cmpd="sng" algn="ctr">
                      <a:solidFill>
                        <a:srgbClr val="F0BE0F"/>
                      </a:solidFill>
                      <a:prstDash val="solid"/>
                      <a:round/>
                      <a:headEnd type="none" w="med" len="med"/>
                      <a:tailEnd type="none" w="med" len="med"/>
                    </a:lnB>
                    <a:solidFill>
                      <a:srgbClr val="C00000">
                        <a:alpha val="3000"/>
                      </a:srgbClr>
                    </a:solidFill>
                  </a:tcPr>
                </a:tc>
                <a:extLst>
                  <a:ext uri="{0D108BD9-81ED-4DB2-BD59-A6C34878D82A}">
                    <a16:rowId xmlns:a16="http://schemas.microsoft.com/office/drawing/2014/main" val="2675777916"/>
                  </a:ext>
                </a:extLst>
              </a:tr>
              <a:tr h="1721294">
                <a:tc vMerge="1">
                  <a:txBody>
                    <a:bodyPr/>
                    <a:lstStyle/>
                    <a:p>
                      <a:endParaRPr lang="en-US"/>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کنجکاوی را به</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Pipeline </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 واقعی فرصت تبدیل می‌کند.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امکان حرکت سریع‌تر از شناخت به آزمون بازار را فراهم می‌کند.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فرصت معتبر را به اقدام تجاری تبدیل می‌کند.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امکان تبدیل</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Pilot </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 موفق به ورود واقعی، معامله یا سرمایه‌گذاری را ایجاد می‌کند.</a:t>
                      </a:r>
                    </a:p>
                  </a:txBody>
                  <a:tcPr anchor="ctr">
                    <a:lnL w="6350" cap="flat" cmpd="sng" algn="ctr">
                      <a:solidFill>
                        <a:srgbClr val="F0BE0F"/>
                      </a:solidFill>
                      <a:prstDash val="solid"/>
                      <a:round/>
                      <a:headEnd type="none" w="med" len="med"/>
                      <a:tailEnd type="none" w="med" len="med"/>
                    </a:lnL>
                    <a:lnT w="6350" cap="flat" cmpd="sng" algn="ctr">
                      <a:solidFill>
                        <a:srgbClr val="F0BE0F"/>
                      </a:solidFill>
                      <a:prstDash val="solid"/>
                      <a:round/>
                      <a:headEnd type="none" w="med" len="med"/>
                      <a:tailEnd type="none" w="med" len="med"/>
                    </a:lnT>
                    <a:solidFill>
                      <a:schemeClr val="accent1">
                        <a:alpha val="4000"/>
                      </a:schemeClr>
                    </a:solidFill>
                  </a:tcPr>
                </a:tc>
                <a:extLst>
                  <a:ext uri="{0D108BD9-81ED-4DB2-BD59-A6C34878D82A}">
                    <a16:rowId xmlns:a16="http://schemas.microsoft.com/office/drawing/2014/main" val="1388272330"/>
                  </a:ext>
                </a:extLst>
              </a:tr>
            </a:tbl>
          </a:graphicData>
        </a:graphic>
      </p:graphicFrame>
      <p:sp>
        <p:nvSpPr>
          <p:cNvPr id="9" name="TextBox 8">
            <a:extLst>
              <a:ext uri="{FF2B5EF4-FFF2-40B4-BE49-F238E27FC236}">
                <a16:creationId xmlns:a16="http://schemas.microsoft.com/office/drawing/2014/main" id="{A1095595-1213-6FD5-C035-77239AE375A6}"/>
              </a:ext>
            </a:extLst>
          </p:cNvPr>
          <p:cNvSpPr txBox="1"/>
          <p:nvPr/>
        </p:nvSpPr>
        <p:spPr>
          <a:xfrm>
            <a:off x="9378405" y="1895264"/>
            <a:ext cx="1513266" cy="369332"/>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b="1" i="0" u="none" strike="noStrike" kern="1200" cap="none" spc="0" normalizeH="0" baseline="0" noProof="0" dirty="0">
                <a:ln>
                  <a:noFill/>
                </a:ln>
                <a:solidFill>
                  <a:srgbClr val="C00000"/>
                </a:solidFill>
                <a:effectLst/>
                <a:uLnTx/>
                <a:uFillTx/>
                <a:latin typeface="Yekan Bakh" pitchFamily="2" charset="-78"/>
                <a:ea typeface="Yekan Bakh" pitchFamily="2" charset="-78"/>
                <a:cs typeface="Yekan Bakh" pitchFamily="2" charset="-78"/>
              </a:rPr>
              <a:t>دردسرگاه‌ها</a:t>
            </a:r>
          </a:p>
        </p:txBody>
      </p:sp>
      <p:sp>
        <p:nvSpPr>
          <p:cNvPr id="10" name="TextBox 9">
            <a:extLst>
              <a:ext uri="{FF2B5EF4-FFF2-40B4-BE49-F238E27FC236}">
                <a16:creationId xmlns:a16="http://schemas.microsoft.com/office/drawing/2014/main" id="{048D4D73-BD9D-882D-0C3D-50D5C15C79EA}"/>
              </a:ext>
            </a:extLst>
          </p:cNvPr>
          <p:cNvSpPr txBox="1"/>
          <p:nvPr/>
        </p:nvSpPr>
        <p:spPr>
          <a:xfrm>
            <a:off x="9378405" y="5306160"/>
            <a:ext cx="1513266" cy="369332"/>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b="1" i="0" u="none" strike="noStrike" kern="1200" cap="none" spc="0" normalizeH="0" baseline="0" noProof="0" dirty="0">
                <a:ln>
                  <a:noFill/>
                </a:ln>
                <a:solidFill>
                  <a:schemeClr val="accent1"/>
                </a:solidFill>
                <a:effectLst/>
                <a:uLnTx/>
                <a:uFillTx/>
                <a:latin typeface="Yekan Bakh" pitchFamily="2" charset="-78"/>
                <a:ea typeface="Yekan Bakh" pitchFamily="2" charset="-78"/>
                <a:cs typeface="Yekan Bakh" pitchFamily="2" charset="-78"/>
              </a:rPr>
              <a:t>منفعت‌سازها</a:t>
            </a:r>
          </a:p>
        </p:txBody>
      </p:sp>
      <p:sp>
        <p:nvSpPr>
          <p:cNvPr id="11" name="TextBox 10">
            <a:extLst>
              <a:ext uri="{FF2B5EF4-FFF2-40B4-BE49-F238E27FC236}">
                <a16:creationId xmlns:a16="http://schemas.microsoft.com/office/drawing/2014/main" id="{EC7354DB-BF10-A640-9B97-D0F0FB3CD4EF}"/>
              </a:ext>
            </a:extLst>
          </p:cNvPr>
          <p:cNvSpPr txBox="1"/>
          <p:nvPr/>
        </p:nvSpPr>
        <p:spPr>
          <a:xfrm>
            <a:off x="827835" y="1876792"/>
            <a:ext cx="1513266" cy="369332"/>
          </a:xfrm>
          <a:prstGeom prst="rect">
            <a:avLst/>
          </a:prstGeom>
          <a:noFill/>
        </p:spPr>
        <p:txBody>
          <a:bodyPr wrap="square">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fa-IR" b="1" i="0" u="none" strike="noStrike" kern="1200" cap="none" spc="0" normalizeH="0" baseline="0" noProof="0" dirty="0">
                <a:ln>
                  <a:noFill/>
                </a:ln>
                <a:solidFill>
                  <a:schemeClr val="tx1">
                    <a:lumMod val="50000"/>
                    <a:lumOff val="50000"/>
                  </a:schemeClr>
                </a:solidFill>
                <a:effectLst/>
                <a:uLnTx/>
                <a:uFillTx/>
                <a:latin typeface="Yekan Bakh" pitchFamily="2" charset="-78"/>
                <a:ea typeface="Yekan Bakh" pitchFamily="2" charset="-78"/>
                <a:cs typeface="Yekan Bakh" pitchFamily="2" charset="-78"/>
              </a:rPr>
              <a:t>محصولات</a:t>
            </a:r>
          </a:p>
        </p:txBody>
      </p:sp>
    </p:spTree>
    <p:extLst>
      <p:ext uri="{BB962C8B-B14F-4D97-AF65-F5344CB8AC3E}">
        <p14:creationId xmlns:p14="http://schemas.microsoft.com/office/powerpoint/2010/main" val="52599334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D1BC2A-1B96-9208-F3B1-39F28B1F80E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B340F4F-D98D-0523-3C8D-FD21935662FF}"/>
              </a:ext>
            </a:extLst>
          </p:cNvPr>
          <p:cNvSpPr>
            <a:spLocks noGrp="1"/>
          </p:cNvSpPr>
          <p:nvPr>
            <p:ph type="body" sz="quarter" idx="10"/>
          </p:nvPr>
        </p:nvSpPr>
        <p:spPr>
          <a:xfrm>
            <a:off x="4753689" y="256653"/>
            <a:ext cx="6489884" cy="250047"/>
          </a:xfrm>
        </p:spPr>
        <p:txBody>
          <a:bodyPr/>
          <a:lstStyle/>
          <a:p>
            <a:r>
              <a:rPr lang="fa-IR"/>
              <a:t>نقشه ارزش (محصولات، دردسرکاه‌ها و منفعت‌سازها) بر اساس چهار محرک خلق ارزش </a:t>
            </a:r>
          </a:p>
        </p:txBody>
      </p:sp>
      <p:sp>
        <p:nvSpPr>
          <p:cNvPr id="3" name="Text Placeholder 2">
            <a:extLst>
              <a:ext uri="{FF2B5EF4-FFF2-40B4-BE49-F238E27FC236}">
                <a16:creationId xmlns:a16="http://schemas.microsoft.com/office/drawing/2014/main" id="{828824BA-5AEC-7D7B-1C7F-15443BA957F0}"/>
              </a:ext>
            </a:extLst>
          </p:cNvPr>
          <p:cNvSpPr>
            <a:spLocks noGrp="1"/>
          </p:cNvSpPr>
          <p:nvPr>
            <p:ph type="body" sz="quarter" idx="12"/>
          </p:nvPr>
        </p:nvSpPr>
        <p:spPr/>
        <p:txBody>
          <a:bodyPr/>
          <a:lstStyle/>
          <a:p>
            <a:r>
              <a:rPr lang="fa-IR" dirty="0"/>
              <a:t>خالق کسب‌وکار </a:t>
            </a:r>
          </a:p>
        </p:txBody>
      </p:sp>
      <p:sp>
        <p:nvSpPr>
          <p:cNvPr id="4" name="Rectangle: Rounded Corners 3">
            <a:extLst>
              <a:ext uri="{FF2B5EF4-FFF2-40B4-BE49-F238E27FC236}">
                <a16:creationId xmlns:a16="http://schemas.microsoft.com/office/drawing/2014/main" id="{D0B70FDD-9478-44CF-A7E8-90D24DA25385}"/>
              </a:ext>
            </a:extLst>
          </p:cNvPr>
          <p:cNvSpPr/>
          <p:nvPr/>
        </p:nvSpPr>
        <p:spPr>
          <a:xfrm>
            <a:off x="8595360" y="1282807"/>
            <a:ext cx="2296311" cy="363736"/>
          </a:xfrm>
          <a:prstGeom prst="roundRect">
            <a:avLst/>
          </a:prstGeom>
          <a:solidFill>
            <a:srgbClr val="F0BE0F">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هوشمندی و اعتبارسنجی فرصت</a:t>
            </a:r>
          </a:p>
        </p:txBody>
      </p:sp>
      <p:sp>
        <p:nvSpPr>
          <p:cNvPr id="5" name="Rectangle: Rounded Corners 4">
            <a:extLst>
              <a:ext uri="{FF2B5EF4-FFF2-40B4-BE49-F238E27FC236}">
                <a16:creationId xmlns:a16="http://schemas.microsoft.com/office/drawing/2014/main" id="{B6E3214E-269F-A8A2-7605-1F935A9386B2}"/>
              </a:ext>
            </a:extLst>
          </p:cNvPr>
          <p:cNvSpPr/>
          <p:nvPr/>
        </p:nvSpPr>
        <p:spPr>
          <a:xfrm>
            <a:off x="6000699" y="1282807"/>
            <a:ext cx="2296311" cy="363736"/>
          </a:xfrm>
          <a:prstGeom prst="roundRect">
            <a:avLst/>
          </a:prstGeom>
          <a:solidFill>
            <a:srgbClr val="004D80">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ایجاد دسترسی مورداعتماد </a:t>
            </a:r>
          </a:p>
        </p:txBody>
      </p:sp>
      <p:sp>
        <p:nvSpPr>
          <p:cNvPr id="6" name="Rectangle: Rounded Corners 5">
            <a:extLst>
              <a:ext uri="{FF2B5EF4-FFF2-40B4-BE49-F238E27FC236}">
                <a16:creationId xmlns:a16="http://schemas.microsoft.com/office/drawing/2014/main" id="{1BC39750-E017-0352-CFE6-FF3DBF8FDF0C}"/>
              </a:ext>
            </a:extLst>
          </p:cNvPr>
          <p:cNvSpPr/>
          <p:nvPr/>
        </p:nvSpPr>
        <p:spPr>
          <a:xfrm>
            <a:off x="3406039" y="1282807"/>
            <a:ext cx="2296311" cy="363736"/>
          </a:xfrm>
          <a:prstGeom prst="roundRect">
            <a:avLst/>
          </a:prstGeom>
          <a:solidFill>
            <a:srgbClr val="004D80">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تأمین و فعال‌سازی منابع و قابلیت‌ها</a:t>
            </a:r>
          </a:p>
        </p:txBody>
      </p:sp>
      <p:sp>
        <p:nvSpPr>
          <p:cNvPr id="7" name="Rectangle: Rounded Corners 6">
            <a:extLst>
              <a:ext uri="{FF2B5EF4-FFF2-40B4-BE49-F238E27FC236}">
                <a16:creationId xmlns:a16="http://schemas.microsoft.com/office/drawing/2014/main" id="{747D1086-9F65-6AFF-F269-A2518FA3D575}"/>
              </a:ext>
            </a:extLst>
          </p:cNvPr>
          <p:cNvSpPr/>
          <p:nvPr/>
        </p:nvSpPr>
        <p:spPr>
          <a:xfrm>
            <a:off x="811379" y="1282807"/>
            <a:ext cx="2296311" cy="363736"/>
          </a:xfrm>
          <a:prstGeom prst="roundRect">
            <a:avLst/>
          </a:prstGeom>
          <a:solidFill>
            <a:srgbClr val="004D80">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هماهنگ‌سازی و تبدیل فرصت به نتیجه</a:t>
            </a:r>
          </a:p>
        </p:txBody>
      </p:sp>
      <p:graphicFrame>
        <p:nvGraphicFramePr>
          <p:cNvPr id="8" name="Table 7">
            <a:extLst>
              <a:ext uri="{FF2B5EF4-FFF2-40B4-BE49-F238E27FC236}">
                <a16:creationId xmlns:a16="http://schemas.microsoft.com/office/drawing/2014/main" id="{0E3AEFA6-52E4-69EF-5AE7-C7C2898FAFAC}"/>
              </a:ext>
            </a:extLst>
          </p:cNvPr>
          <p:cNvGraphicFramePr>
            <a:graphicFrameLocks noGrp="1"/>
          </p:cNvGraphicFramePr>
          <p:nvPr>
            <p:extLst>
              <p:ext uri="{D42A27DB-BD31-4B8C-83A1-F6EECF244321}">
                <p14:modId xmlns:p14="http://schemas.microsoft.com/office/powerpoint/2010/main" val="4259040794"/>
              </p:ext>
            </p:extLst>
          </p:nvPr>
        </p:nvGraphicFramePr>
        <p:xfrm>
          <a:off x="811379" y="2098582"/>
          <a:ext cx="10080292" cy="3442588"/>
        </p:xfrm>
        <a:graphic>
          <a:graphicData uri="http://schemas.openxmlformats.org/drawingml/2006/table">
            <a:tbl>
              <a:tblPr firstRow="1" bandRow="1">
                <a:tableStyleId>{5C22544A-7EE6-4342-B048-85BDC9FD1C3A}</a:tableStyleId>
              </a:tblPr>
              <a:tblGrid>
                <a:gridCol w="5040146">
                  <a:extLst>
                    <a:ext uri="{9D8B030D-6E8A-4147-A177-3AD203B41FA5}">
                      <a16:colId xmlns:a16="http://schemas.microsoft.com/office/drawing/2014/main" val="1416290991"/>
                    </a:ext>
                  </a:extLst>
                </a:gridCol>
                <a:gridCol w="5040146">
                  <a:extLst>
                    <a:ext uri="{9D8B030D-6E8A-4147-A177-3AD203B41FA5}">
                      <a16:colId xmlns:a16="http://schemas.microsoft.com/office/drawing/2014/main" val="241493819"/>
                    </a:ext>
                  </a:extLst>
                </a:gridCol>
              </a:tblGrid>
              <a:tr h="1721294">
                <a:tc rowSpan="2">
                  <a:txBody>
                    <a:bodyPr/>
                    <a:lstStyle/>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ارزیابی قابلیت تجاری دارایی خفته.</a:t>
                      </a:r>
                    </a:p>
                    <a:p>
                      <a:pPr marL="171450" indent="-171450" algn="r" rtl="1">
                        <a:lnSpc>
                          <a:spcPct val="150000"/>
                        </a:lnSpc>
                        <a:buClr>
                          <a:schemeClr val="bg1">
                            <a:lumMod val="75000"/>
                          </a:schemeClr>
                        </a:buClr>
                        <a:buFont typeface="Arial" panose="020B0604020202020204" pitchFamily="34" charset="0"/>
                        <a:buChar char="•"/>
                      </a:pPr>
                      <a:r>
                        <a:rPr lang="en-US" sz="1000" b="0" kern="1200" dirty="0">
                          <a:solidFill>
                            <a:schemeClr val="tx1">
                              <a:lumMod val="75000"/>
                              <a:lumOff val="25000"/>
                            </a:schemeClr>
                          </a:solidFill>
                          <a:latin typeface="Yekan Bakh" pitchFamily="2" charset="-78"/>
                          <a:ea typeface="Yekan Bakh" pitchFamily="2" charset="-78"/>
                          <a:cs typeface="Yekan Bakh" pitchFamily="2" charset="-78"/>
                        </a:rPr>
                        <a:t>Market Validation</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a:t>
                      </a:r>
                    </a:p>
                    <a:p>
                      <a:pPr marL="171450" indent="-171450" algn="r" rtl="1">
                        <a:lnSpc>
                          <a:spcPct val="150000"/>
                        </a:lnSpc>
                        <a:buClr>
                          <a:schemeClr val="bg1">
                            <a:lumMod val="75000"/>
                          </a:schemeClr>
                        </a:buClr>
                        <a:buFont typeface="Arial" panose="020B0604020202020204" pitchFamily="34" charset="0"/>
                        <a:buChar char="•"/>
                      </a:pPr>
                      <a:r>
                        <a:rPr lang="en-US" sz="1000" b="0" kern="1200" dirty="0">
                          <a:solidFill>
                            <a:schemeClr val="tx1">
                              <a:lumMod val="75000"/>
                              <a:lumOff val="25000"/>
                            </a:schemeClr>
                          </a:solidFill>
                          <a:latin typeface="Yekan Bakh" pitchFamily="2" charset="-78"/>
                          <a:ea typeface="Yekan Bakh" pitchFamily="2" charset="-78"/>
                          <a:cs typeface="Yekan Bakh" pitchFamily="2" charset="-78"/>
                        </a:rPr>
                        <a:t>Opportunity Validation</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طراحی و ارزیابی مدل کسب‌وکار.</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بررسی بازار، مشتری و مدل درآمدی.</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ارزیابی قابلیت تبدیل دارایی به </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Venture</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 مستقل.</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تحلیل ریسک و سناریوهای ساخت </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Venture</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اعتبارسنجی اولیه پیش از تعهد کامل منابع.</a:t>
                      </a:r>
                    </a:p>
                  </a:txBody>
                  <a:tcPr anchor="ctr">
                    <a:lnR w="6350" cap="flat" cmpd="sng" algn="ctr">
                      <a:solidFill>
                        <a:srgbClr val="F0BE0F"/>
                      </a:solidFill>
                      <a:prstDash val="solid"/>
                      <a:round/>
                      <a:headEnd type="none" w="med" len="med"/>
                      <a:tailEnd type="none" w="med" len="med"/>
                    </a:lnR>
                    <a:solidFill>
                      <a:schemeClr val="bg1">
                        <a:lumMod val="65000"/>
                        <a:alpha val="10000"/>
                      </a:schemeClr>
                    </a:solidFill>
                  </a:tcPr>
                </a:tc>
                <a:tc>
                  <a:txBody>
                    <a:bodyPr/>
                    <a:lstStyle/>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ریسک ساخت کسب‌وکاری که بازار واقعی ندارد را کاهش می‌دهد.</a:t>
                      </a:r>
                    </a:p>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عدم‌قطعیت درباره ارزش اقتصادی دارایی را کاهش می‌دهد.</a:t>
                      </a:r>
                    </a:p>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از سرمایه‌گذاری زودهنگام روی ایده یا مدل تأییدنشده جلوگیری می‌کند.</a:t>
                      </a:r>
                    </a:p>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ریسک انتخاب مدل کسب‌وکار نامناسب را کاهش می‌دهد.</a:t>
                      </a:r>
                    </a:p>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تصمیم‌گیری تحت عدم‌قطعیت را ساختاریافته می‌کند.</a:t>
                      </a:r>
                    </a:p>
                  </a:txBody>
                  <a:tcPr anchor="ctr">
                    <a:lnL w="6350" cap="flat" cmpd="sng" algn="ctr">
                      <a:solidFill>
                        <a:srgbClr val="F0BE0F"/>
                      </a:solidFill>
                      <a:prstDash val="solid"/>
                      <a:round/>
                      <a:headEnd type="none" w="med" len="med"/>
                      <a:tailEnd type="none" w="med" len="med"/>
                    </a:lnL>
                    <a:lnB w="6350" cap="flat" cmpd="sng" algn="ctr">
                      <a:solidFill>
                        <a:srgbClr val="F0BE0F"/>
                      </a:solidFill>
                      <a:prstDash val="solid"/>
                      <a:round/>
                      <a:headEnd type="none" w="med" len="med"/>
                      <a:tailEnd type="none" w="med" len="med"/>
                    </a:lnB>
                    <a:solidFill>
                      <a:srgbClr val="C00000">
                        <a:alpha val="3000"/>
                      </a:srgbClr>
                    </a:solidFill>
                  </a:tcPr>
                </a:tc>
                <a:extLst>
                  <a:ext uri="{0D108BD9-81ED-4DB2-BD59-A6C34878D82A}">
                    <a16:rowId xmlns:a16="http://schemas.microsoft.com/office/drawing/2014/main" val="2675777916"/>
                  </a:ext>
                </a:extLst>
              </a:tr>
              <a:tr h="1721294">
                <a:tc vMerge="1">
                  <a:txBody>
                    <a:bodyPr/>
                    <a:lstStyle/>
                    <a:p>
                      <a:endParaRPr lang="en-US"/>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اطمینان بیشتری نسبت به قابلیت ساخت کسب‌وکار ایجاد می‌کند.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دارایی خفته را به فرصت اقتصادی قابل‌تعریف تبدیل می‌کند.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مدل مناسب برای تجاری‌سازی دارایی را شناسایی می‌کند.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امکان تصمیم‌گیری آگاهانه درباره ساخت یا عدم ساخت </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Venture</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 را ایجاد می‌کند.</a:t>
                      </a:r>
                    </a:p>
                  </a:txBody>
                  <a:tcPr anchor="ctr">
                    <a:lnL w="6350" cap="flat" cmpd="sng" algn="ctr">
                      <a:solidFill>
                        <a:srgbClr val="F0BE0F"/>
                      </a:solidFill>
                      <a:prstDash val="solid"/>
                      <a:round/>
                      <a:headEnd type="none" w="med" len="med"/>
                      <a:tailEnd type="none" w="med" len="med"/>
                    </a:lnL>
                    <a:lnT w="6350" cap="flat" cmpd="sng" algn="ctr">
                      <a:solidFill>
                        <a:srgbClr val="F0BE0F"/>
                      </a:solidFill>
                      <a:prstDash val="solid"/>
                      <a:round/>
                      <a:headEnd type="none" w="med" len="med"/>
                      <a:tailEnd type="none" w="med" len="med"/>
                    </a:lnT>
                    <a:solidFill>
                      <a:schemeClr val="accent1">
                        <a:alpha val="4000"/>
                      </a:schemeClr>
                    </a:solidFill>
                  </a:tcPr>
                </a:tc>
                <a:extLst>
                  <a:ext uri="{0D108BD9-81ED-4DB2-BD59-A6C34878D82A}">
                    <a16:rowId xmlns:a16="http://schemas.microsoft.com/office/drawing/2014/main" val="1388272330"/>
                  </a:ext>
                </a:extLst>
              </a:tr>
            </a:tbl>
          </a:graphicData>
        </a:graphic>
      </p:graphicFrame>
      <p:sp>
        <p:nvSpPr>
          <p:cNvPr id="9" name="TextBox 8">
            <a:extLst>
              <a:ext uri="{FF2B5EF4-FFF2-40B4-BE49-F238E27FC236}">
                <a16:creationId xmlns:a16="http://schemas.microsoft.com/office/drawing/2014/main" id="{B52D1896-A0E9-4835-B04A-6B07D2C163E1}"/>
              </a:ext>
            </a:extLst>
          </p:cNvPr>
          <p:cNvSpPr txBox="1"/>
          <p:nvPr/>
        </p:nvSpPr>
        <p:spPr>
          <a:xfrm>
            <a:off x="9378405" y="1895264"/>
            <a:ext cx="1513266" cy="369332"/>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b="1" i="0" u="none" strike="noStrike" kern="1200" cap="none" spc="0" normalizeH="0" baseline="0" noProof="0" dirty="0">
                <a:ln>
                  <a:noFill/>
                </a:ln>
                <a:solidFill>
                  <a:srgbClr val="C00000"/>
                </a:solidFill>
                <a:effectLst/>
                <a:uLnTx/>
                <a:uFillTx/>
                <a:latin typeface="Yekan Bakh" pitchFamily="2" charset="-78"/>
                <a:ea typeface="Yekan Bakh" pitchFamily="2" charset="-78"/>
                <a:cs typeface="Yekan Bakh" pitchFamily="2" charset="-78"/>
              </a:rPr>
              <a:t>دردسرگاه‌ها</a:t>
            </a:r>
          </a:p>
        </p:txBody>
      </p:sp>
      <p:sp>
        <p:nvSpPr>
          <p:cNvPr id="10" name="TextBox 9">
            <a:extLst>
              <a:ext uri="{FF2B5EF4-FFF2-40B4-BE49-F238E27FC236}">
                <a16:creationId xmlns:a16="http://schemas.microsoft.com/office/drawing/2014/main" id="{40D86345-2E0D-DFD2-306A-EED30CBD2AD0}"/>
              </a:ext>
            </a:extLst>
          </p:cNvPr>
          <p:cNvSpPr txBox="1"/>
          <p:nvPr/>
        </p:nvSpPr>
        <p:spPr>
          <a:xfrm>
            <a:off x="9378405" y="5306160"/>
            <a:ext cx="1513266" cy="369332"/>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b="1" i="0" u="none" strike="noStrike" kern="1200" cap="none" spc="0" normalizeH="0" baseline="0" noProof="0" dirty="0">
                <a:ln>
                  <a:noFill/>
                </a:ln>
                <a:solidFill>
                  <a:schemeClr val="accent1"/>
                </a:solidFill>
                <a:effectLst/>
                <a:uLnTx/>
                <a:uFillTx/>
                <a:latin typeface="Yekan Bakh" pitchFamily="2" charset="-78"/>
                <a:ea typeface="Yekan Bakh" pitchFamily="2" charset="-78"/>
                <a:cs typeface="Yekan Bakh" pitchFamily="2" charset="-78"/>
              </a:rPr>
              <a:t>منفعت‌سازها</a:t>
            </a:r>
          </a:p>
        </p:txBody>
      </p:sp>
      <p:sp>
        <p:nvSpPr>
          <p:cNvPr id="11" name="TextBox 10">
            <a:extLst>
              <a:ext uri="{FF2B5EF4-FFF2-40B4-BE49-F238E27FC236}">
                <a16:creationId xmlns:a16="http://schemas.microsoft.com/office/drawing/2014/main" id="{1C038F2F-6863-BA95-D0C4-DA2DCBFABEE6}"/>
              </a:ext>
            </a:extLst>
          </p:cNvPr>
          <p:cNvSpPr txBox="1"/>
          <p:nvPr/>
        </p:nvSpPr>
        <p:spPr>
          <a:xfrm>
            <a:off x="827835" y="1876792"/>
            <a:ext cx="1513266" cy="369332"/>
          </a:xfrm>
          <a:prstGeom prst="rect">
            <a:avLst/>
          </a:prstGeom>
          <a:noFill/>
        </p:spPr>
        <p:txBody>
          <a:bodyPr wrap="square">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fa-IR" b="1" i="0" u="none" strike="noStrike" kern="1200" cap="none" spc="0" normalizeH="0" baseline="0" noProof="0" dirty="0">
                <a:ln>
                  <a:noFill/>
                </a:ln>
                <a:solidFill>
                  <a:schemeClr val="tx1">
                    <a:lumMod val="50000"/>
                    <a:lumOff val="50000"/>
                  </a:schemeClr>
                </a:solidFill>
                <a:effectLst/>
                <a:uLnTx/>
                <a:uFillTx/>
                <a:latin typeface="Yekan Bakh" pitchFamily="2" charset="-78"/>
                <a:ea typeface="Yekan Bakh" pitchFamily="2" charset="-78"/>
                <a:cs typeface="Yekan Bakh" pitchFamily="2" charset="-78"/>
              </a:rPr>
              <a:t>محصولات</a:t>
            </a:r>
          </a:p>
        </p:txBody>
      </p:sp>
    </p:spTree>
    <p:extLst>
      <p:ext uri="{BB962C8B-B14F-4D97-AF65-F5344CB8AC3E}">
        <p14:creationId xmlns:p14="http://schemas.microsoft.com/office/powerpoint/2010/main" val="9407790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5FEE2-C8A2-4E5D-00F0-64F043DEA54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DEB28AE-BF22-0163-A134-7E6778A44424}"/>
              </a:ext>
            </a:extLst>
          </p:cNvPr>
          <p:cNvSpPr>
            <a:spLocks noGrp="1"/>
          </p:cNvSpPr>
          <p:nvPr>
            <p:ph type="body" sz="quarter" idx="10"/>
          </p:nvPr>
        </p:nvSpPr>
        <p:spPr>
          <a:xfrm>
            <a:off x="4753689" y="256653"/>
            <a:ext cx="6489884" cy="250047"/>
          </a:xfrm>
        </p:spPr>
        <p:txBody>
          <a:bodyPr/>
          <a:lstStyle/>
          <a:p>
            <a:r>
              <a:rPr lang="fa-IR"/>
              <a:t>نقشه ارزش (محصولات، دردسرکاه‌ها و منفعت‌سازها) بر اساس چهار محرک خلق ارزش </a:t>
            </a:r>
          </a:p>
        </p:txBody>
      </p:sp>
      <p:sp>
        <p:nvSpPr>
          <p:cNvPr id="3" name="Text Placeholder 2">
            <a:extLst>
              <a:ext uri="{FF2B5EF4-FFF2-40B4-BE49-F238E27FC236}">
                <a16:creationId xmlns:a16="http://schemas.microsoft.com/office/drawing/2014/main" id="{6957B03B-8FAB-146D-8711-1845CFF1FD7D}"/>
              </a:ext>
            </a:extLst>
          </p:cNvPr>
          <p:cNvSpPr>
            <a:spLocks noGrp="1"/>
          </p:cNvSpPr>
          <p:nvPr>
            <p:ph type="body" sz="quarter" idx="12"/>
          </p:nvPr>
        </p:nvSpPr>
        <p:spPr/>
        <p:txBody>
          <a:bodyPr/>
          <a:lstStyle/>
          <a:p>
            <a:r>
              <a:rPr lang="fa-IR" dirty="0"/>
              <a:t>خالق کسب‌وکار </a:t>
            </a:r>
          </a:p>
        </p:txBody>
      </p:sp>
      <p:sp>
        <p:nvSpPr>
          <p:cNvPr id="4" name="Rectangle: Rounded Corners 3">
            <a:extLst>
              <a:ext uri="{FF2B5EF4-FFF2-40B4-BE49-F238E27FC236}">
                <a16:creationId xmlns:a16="http://schemas.microsoft.com/office/drawing/2014/main" id="{A9CD52E4-D4B8-152C-625F-08D7C7590461}"/>
              </a:ext>
            </a:extLst>
          </p:cNvPr>
          <p:cNvSpPr/>
          <p:nvPr/>
        </p:nvSpPr>
        <p:spPr>
          <a:xfrm>
            <a:off x="8595360" y="1282807"/>
            <a:ext cx="2296311" cy="363736"/>
          </a:xfrm>
          <a:prstGeom prst="roundRect">
            <a:avLst/>
          </a:prstGeom>
          <a:solidFill>
            <a:srgbClr val="004D80">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هوشمندی و اعتبارسنجی فرصت</a:t>
            </a:r>
          </a:p>
        </p:txBody>
      </p:sp>
      <p:sp>
        <p:nvSpPr>
          <p:cNvPr id="5" name="Rectangle: Rounded Corners 4">
            <a:extLst>
              <a:ext uri="{FF2B5EF4-FFF2-40B4-BE49-F238E27FC236}">
                <a16:creationId xmlns:a16="http://schemas.microsoft.com/office/drawing/2014/main" id="{B7C5CF9C-755A-D05F-53AC-98EA0B8DAECD}"/>
              </a:ext>
            </a:extLst>
          </p:cNvPr>
          <p:cNvSpPr/>
          <p:nvPr/>
        </p:nvSpPr>
        <p:spPr>
          <a:xfrm>
            <a:off x="6000699" y="1282807"/>
            <a:ext cx="2296311" cy="363736"/>
          </a:xfrm>
          <a:prstGeom prst="roundRect">
            <a:avLst/>
          </a:prstGeom>
          <a:solidFill>
            <a:srgbClr val="F0BE0F">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ایجاد دسترسی مورداعتماد </a:t>
            </a:r>
          </a:p>
        </p:txBody>
      </p:sp>
      <p:sp>
        <p:nvSpPr>
          <p:cNvPr id="6" name="Rectangle: Rounded Corners 5">
            <a:extLst>
              <a:ext uri="{FF2B5EF4-FFF2-40B4-BE49-F238E27FC236}">
                <a16:creationId xmlns:a16="http://schemas.microsoft.com/office/drawing/2014/main" id="{F4E47C52-3F21-E801-ED5F-CAEF45718228}"/>
              </a:ext>
            </a:extLst>
          </p:cNvPr>
          <p:cNvSpPr/>
          <p:nvPr/>
        </p:nvSpPr>
        <p:spPr>
          <a:xfrm>
            <a:off x="3406039" y="1282807"/>
            <a:ext cx="2296311" cy="363736"/>
          </a:xfrm>
          <a:prstGeom prst="roundRect">
            <a:avLst/>
          </a:prstGeom>
          <a:solidFill>
            <a:srgbClr val="004D80">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تأمین و فعال‌سازی منابع و قابلیت‌ها</a:t>
            </a:r>
          </a:p>
        </p:txBody>
      </p:sp>
      <p:sp>
        <p:nvSpPr>
          <p:cNvPr id="7" name="Rectangle: Rounded Corners 6">
            <a:extLst>
              <a:ext uri="{FF2B5EF4-FFF2-40B4-BE49-F238E27FC236}">
                <a16:creationId xmlns:a16="http://schemas.microsoft.com/office/drawing/2014/main" id="{49E019ED-6DAC-9715-3808-0200A5C04E8F}"/>
              </a:ext>
            </a:extLst>
          </p:cNvPr>
          <p:cNvSpPr/>
          <p:nvPr/>
        </p:nvSpPr>
        <p:spPr>
          <a:xfrm>
            <a:off x="811379" y="1282807"/>
            <a:ext cx="2296311" cy="363736"/>
          </a:xfrm>
          <a:prstGeom prst="roundRect">
            <a:avLst/>
          </a:prstGeom>
          <a:solidFill>
            <a:srgbClr val="004D80">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هماهنگ‌سازی و تبدیل فرصت به نتیجه</a:t>
            </a:r>
          </a:p>
        </p:txBody>
      </p:sp>
      <p:graphicFrame>
        <p:nvGraphicFramePr>
          <p:cNvPr id="8" name="Table 7">
            <a:extLst>
              <a:ext uri="{FF2B5EF4-FFF2-40B4-BE49-F238E27FC236}">
                <a16:creationId xmlns:a16="http://schemas.microsoft.com/office/drawing/2014/main" id="{22106A4F-D730-724C-314E-65C443200E11}"/>
              </a:ext>
            </a:extLst>
          </p:cNvPr>
          <p:cNvGraphicFramePr>
            <a:graphicFrameLocks noGrp="1"/>
          </p:cNvGraphicFramePr>
          <p:nvPr>
            <p:extLst>
              <p:ext uri="{D42A27DB-BD31-4B8C-83A1-F6EECF244321}">
                <p14:modId xmlns:p14="http://schemas.microsoft.com/office/powerpoint/2010/main" val="3630981779"/>
              </p:ext>
            </p:extLst>
          </p:nvPr>
        </p:nvGraphicFramePr>
        <p:xfrm>
          <a:off x="811379" y="2098582"/>
          <a:ext cx="10080292" cy="3442588"/>
        </p:xfrm>
        <a:graphic>
          <a:graphicData uri="http://schemas.openxmlformats.org/drawingml/2006/table">
            <a:tbl>
              <a:tblPr firstRow="1" bandRow="1">
                <a:tableStyleId>{5C22544A-7EE6-4342-B048-85BDC9FD1C3A}</a:tableStyleId>
              </a:tblPr>
              <a:tblGrid>
                <a:gridCol w="5040146">
                  <a:extLst>
                    <a:ext uri="{9D8B030D-6E8A-4147-A177-3AD203B41FA5}">
                      <a16:colId xmlns:a16="http://schemas.microsoft.com/office/drawing/2014/main" val="1416290991"/>
                    </a:ext>
                  </a:extLst>
                </a:gridCol>
                <a:gridCol w="5040146">
                  <a:extLst>
                    <a:ext uri="{9D8B030D-6E8A-4147-A177-3AD203B41FA5}">
                      <a16:colId xmlns:a16="http://schemas.microsoft.com/office/drawing/2014/main" val="241493819"/>
                    </a:ext>
                  </a:extLst>
                </a:gridCol>
              </a:tblGrid>
              <a:tr h="1721294">
                <a:tc rowSpan="2">
                  <a:txBody>
                    <a:bodyPr/>
                    <a:lstStyle/>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دسترسی به</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Co-founder </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 و تیم مکمل.</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دسترسی به متخصصان و مدیران موردنیاز </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Venture</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اتصال به شبکه سرمایه‌گذاران و هم‌سرمایه‌گذاران.</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دسترسی به بازار و شرکای خارجی.</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اتصال به </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Technology Partner</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ها.</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ایجاد شبکه لازم برای رشد </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Venture</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a:t>
                      </a:r>
                      <a:endParaRPr lang="en-US" sz="1000" b="0" kern="1200" dirty="0">
                        <a:solidFill>
                          <a:schemeClr val="tx1">
                            <a:lumMod val="75000"/>
                            <a:lumOff val="25000"/>
                          </a:schemeClr>
                        </a:solidFill>
                        <a:latin typeface="Yekan Bakh" pitchFamily="2" charset="-78"/>
                        <a:ea typeface="Yekan Bakh" pitchFamily="2" charset="-78"/>
                        <a:cs typeface="Yekan Bakh" pitchFamily="2" charset="-78"/>
                      </a:endParaRPr>
                    </a:p>
                  </a:txBody>
                  <a:tcPr anchor="ctr">
                    <a:lnR w="6350" cap="flat" cmpd="sng" algn="ctr">
                      <a:solidFill>
                        <a:srgbClr val="F0BE0F"/>
                      </a:solidFill>
                      <a:prstDash val="solid"/>
                      <a:round/>
                      <a:headEnd type="none" w="med" len="med"/>
                      <a:tailEnd type="none" w="med" len="med"/>
                    </a:lnR>
                    <a:solidFill>
                      <a:schemeClr val="bg1">
                        <a:lumMod val="65000"/>
                        <a:alpha val="10000"/>
                      </a:schemeClr>
                    </a:solidFill>
                  </a:tcPr>
                </a:tc>
                <a:tc>
                  <a:txBody>
                    <a:bodyPr/>
                    <a:lstStyle/>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کمبود تیم و قابلیت‌های مکمل را کاهش می‌دهد.</a:t>
                      </a:r>
                    </a:p>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محدودیت شبکه داخلی سازمان را کاهش می‌دهد.</a:t>
                      </a:r>
                    </a:p>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زمان جست‌وجوی هم‌بنیان‌گذار و اعضای کلیدی تیم را کاهش می‌دهد.</a:t>
                      </a:r>
                    </a:p>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ریسک انتخاب شریک یا عضو تیم نامتناسب را کاهش می‌دهد.</a:t>
                      </a:r>
                    </a:p>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دسترسی محدود به سرمایه و بازار را کاهش می‌دهد.</a:t>
                      </a:r>
                    </a:p>
                  </a:txBody>
                  <a:tcPr anchor="ctr">
                    <a:lnL w="6350" cap="flat" cmpd="sng" algn="ctr">
                      <a:solidFill>
                        <a:srgbClr val="F0BE0F"/>
                      </a:solidFill>
                      <a:prstDash val="solid"/>
                      <a:round/>
                      <a:headEnd type="none" w="med" len="med"/>
                      <a:tailEnd type="none" w="med" len="med"/>
                    </a:lnL>
                    <a:lnB w="6350" cap="flat" cmpd="sng" algn="ctr">
                      <a:solidFill>
                        <a:srgbClr val="F0BE0F"/>
                      </a:solidFill>
                      <a:prstDash val="solid"/>
                      <a:round/>
                      <a:headEnd type="none" w="med" len="med"/>
                      <a:tailEnd type="none" w="med" len="med"/>
                    </a:lnB>
                    <a:solidFill>
                      <a:srgbClr val="C00000">
                        <a:alpha val="3000"/>
                      </a:srgbClr>
                    </a:solidFill>
                  </a:tcPr>
                </a:tc>
                <a:extLst>
                  <a:ext uri="{0D108BD9-81ED-4DB2-BD59-A6C34878D82A}">
                    <a16:rowId xmlns:a16="http://schemas.microsoft.com/office/drawing/2014/main" val="2675777916"/>
                  </a:ext>
                </a:extLst>
              </a:tr>
              <a:tr h="1721294">
                <a:tc vMerge="1">
                  <a:txBody>
                    <a:bodyPr/>
                    <a:lstStyle/>
                    <a:p>
                      <a:endParaRPr lang="en-US"/>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تشکیل تیم متوازن را امکان‌پذیر می‌کند.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دسترسی به قابلیت‌هایی که سازمان مادر ندارد ایجاد می‌کند.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دسترسی </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Venture</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 به سرمایه و بازار را افزایش می‌دهد.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سرعت شکل‌گیری شبکه </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Venture</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 را افزایش می‌دهد.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امکان استفاده از منابع بین‌المللی را فراهم می‌کند.</a:t>
                      </a:r>
                    </a:p>
                  </a:txBody>
                  <a:tcPr anchor="ctr">
                    <a:lnL w="6350" cap="flat" cmpd="sng" algn="ctr">
                      <a:solidFill>
                        <a:srgbClr val="F0BE0F"/>
                      </a:solidFill>
                      <a:prstDash val="solid"/>
                      <a:round/>
                      <a:headEnd type="none" w="med" len="med"/>
                      <a:tailEnd type="none" w="med" len="med"/>
                    </a:lnL>
                    <a:lnT w="6350" cap="flat" cmpd="sng" algn="ctr">
                      <a:solidFill>
                        <a:srgbClr val="F0BE0F"/>
                      </a:solidFill>
                      <a:prstDash val="solid"/>
                      <a:round/>
                      <a:headEnd type="none" w="med" len="med"/>
                      <a:tailEnd type="none" w="med" len="med"/>
                    </a:lnT>
                    <a:solidFill>
                      <a:schemeClr val="accent1">
                        <a:alpha val="4000"/>
                      </a:schemeClr>
                    </a:solidFill>
                  </a:tcPr>
                </a:tc>
                <a:extLst>
                  <a:ext uri="{0D108BD9-81ED-4DB2-BD59-A6C34878D82A}">
                    <a16:rowId xmlns:a16="http://schemas.microsoft.com/office/drawing/2014/main" val="1388272330"/>
                  </a:ext>
                </a:extLst>
              </a:tr>
            </a:tbl>
          </a:graphicData>
        </a:graphic>
      </p:graphicFrame>
      <p:sp>
        <p:nvSpPr>
          <p:cNvPr id="9" name="TextBox 8">
            <a:extLst>
              <a:ext uri="{FF2B5EF4-FFF2-40B4-BE49-F238E27FC236}">
                <a16:creationId xmlns:a16="http://schemas.microsoft.com/office/drawing/2014/main" id="{371FAE98-0533-76B0-91DC-31309BDC2E4B}"/>
              </a:ext>
            </a:extLst>
          </p:cNvPr>
          <p:cNvSpPr txBox="1"/>
          <p:nvPr/>
        </p:nvSpPr>
        <p:spPr>
          <a:xfrm>
            <a:off x="9378405" y="1895264"/>
            <a:ext cx="1513266" cy="369332"/>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b="1" i="0" u="none" strike="noStrike" kern="1200" cap="none" spc="0" normalizeH="0" baseline="0" noProof="0" dirty="0">
                <a:ln>
                  <a:noFill/>
                </a:ln>
                <a:solidFill>
                  <a:srgbClr val="C00000"/>
                </a:solidFill>
                <a:effectLst/>
                <a:uLnTx/>
                <a:uFillTx/>
                <a:latin typeface="Yekan Bakh" pitchFamily="2" charset="-78"/>
                <a:ea typeface="Yekan Bakh" pitchFamily="2" charset="-78"/>
                <a:cs typeface="Yekan Bakh" pitchFamily="2" charset="-78"/>
              </a:rPr>
              <a:t>دردسرگاه‌ها</a:t>
            </a:r>
          </a:p>
        </p:txBody>
      </p:sp>
      <p:sp>
        <p:nvSpPr>
          <p:cNvPr id="10" name="TextBox 9">
            <a:extLst>
              <a:ext uri="{FF2B5EF4-FFF2-40B4-BE49-F238E27FC236}">
                <a16:creationId xmlns:a16="http://schemas.microsoft.com/office/drawing/2014/main" id="{7C36D6F3-B363-91B7-17A0-7BFA09161D1E}"/>
              </a:ext>
            </a:extLst>
          </p:cNvPr>
          <p:cNvSpPr txBox="1"/>
          <p:nvPr/>
        </p:nvSpPr>
        <p:spPr>
          <a:xfrm>
            <a:off x="9378405" y="5306160"/>
            <a:ext cx="1513266" cy="369332"/>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b="1" i="0" u="none" strike="noStrike" kern="1200" cap="none" spc="0" normalizeH="0" baseline="0" noProof="0" dirty="0">
                <a:ln>
                  <a:noFill/>
                </a:ln>
                <a:solidFill>
                  <a:schemeClr val="accent1"/>
                </a:solidFill>
                <a:effectLst/>
                <a:uLnTx/>
                <a:uFillTx/>
                <a:latin typeface="Yekan Bakh" pitchFamily="2" charset="-78"/>
                <a:ea typeface="Yekan Bakh" pitchFamily="2" charset="-78"/>
                <a:cs typeface="Yekan Bakh" pitchFamily="2" charset="-78"/>
              </a:rPr>
              <a:t>منفعت‌سازها</a:t>
            </a:r>
          </a:p>
        </p:txBody>
      </p:sp>
      <p:sp>
        <p:nvSpPr>
          <p:cNvPr id="11" name="TextBox 10">
            <a:extLst>
              <a:ext uri="{FF2B5EF4-FFF2-40B4-BE49-F238E27FC236}">
                <a16:creationId xmlns:a16="http://schemas.microsoft.com/office/drawing/2014/main" id="{0E07D435-2DA2-9A45-FC08-01C4DED7A3FC}"/>
              </a:ext>
            </a:extLst>
          </p:cNvPr>
          <p:cNvSpPr txBox="1"/>
          <p:nvPr/>
        </p:nvSpPr>
        <p:spPr>
          <a:xfrm>
            <a:off x="827835" y="1876792"/>
            <a:ext cx="1513266" cy="369332"/>
          </a:xfrm>
          <a:prstGeom prst="rect">
            <a:avLst/>
          </a:prstGeom>
          <a:noFill/>
        </p:spPr>
        <p:txBody>
          <a:bodyPr wrap="square">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fa-IR" b="1" i="0" u="none" strike="noStrike" kern="1200" cap="none" spc="0" normalizeH="0" baseline="0" noProof="0" dirty="0">
                <a:ln>
                  <a:noFill/>
                </a:ln>
                <a:solidFill>
                  <a:schemeClr val="tx1">
                    <a:lumMod val="50000"/>
                    <a:lumOff val="50000"/>
                  </a:schemeClr>
                </a:solidFill>
                <a:effectLst/>
                <a:uLnTx/>
                <a:uFillTx/>
                <a:latin typeface="Yekan Bakh" pitchFamily="2" charset="-78"/>
                <a:ea typeface="Yekan Bakh" pitchFamily="2" charset="-78"/>
                <a:cs typeface="Yekan Bakh" pitchFamily="2" charset="-78"/>
              </a:rPr>
              <a:t>محصولات</a:t>
            </a:r>
          </a:p>
        </p:txBody>
      </p:sp>
    </p:spTree>
    <p:extLst>
      <p:ext uri="{BB962C8B-B14F-4D97-AF65-F5344CB8AC3E}">
        <p14:creationId xmlns:p14="http://schemas.microsoft.com/office/powerpoint/2010/main" val="163437767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6A0ED3-D0C9-5701-AA07-4B2D51534F0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E09C9AF-4B0C-04E5-A283-89878809B090}"/>
              </a:ext>
            </a:extLst>
          </p:cNvPr>
          <p:cNvSpPr>
            <a:spLocks noGrp="1"/>
          </p:cNvSpPr>
          <p:nvPr>
            <p:ph type="body" sz="quarter" idx="10"/>
          </p:nvPr>
        </p:nvSpPr>
        <p:spPr>
          <a:xfrm>
            <a:off x="4753689" y="256653"/>
            <a:ext cx="6489884" cy="250047"/>
          </a:xfrm>
        </p:spPr>
        <p:txBody>
          <a:bodyPr/>
          <a:lstStyle/>
          <a:p>
            <a:r>
              <a:rPr lang="fa-IR"/>
              <a:t>نقشه ارزش (محصولات، دردسرکاه‌ها و منفعت‌سازها) بر اساس چهار محرک خلق ارزش </a:t>
            </a:r>
          </a:p>
        </p:txBody>
      </p:sp>
      <p:sp>
        <p:nvSpPr>
          <p:cNvPr id="3" name="Text Placeholder 2">
            <a:extLst>
              <a:ext uri="{FF2B5EF4-FFF2-40B4-BE49-F238E27FC236}">
                <a16:creationId xmlns:a16="http://schemas.microsoft.com/office/drawing/2014/main" id="{161568EC-CFD9-8A17-7207-9C4A88788E3F}"/>
              </a:ext>
            </a:extLst>
          </p:cNvPr>
          <p:cNvSpPr>
            <a:spLocks noGrp="1"/>
          </p:cNvSpPr>
          <p:nvPr>
            <p:ph type="body" sz="quarter" idx="12"/>
          </p:nvPr>
        </p:nvSpPr>
        <p:spPr/>
        <p:txBody>
          <a:bodyPr/>
          <a:lstStyle/>
          <a:p>
            <a:r>
              <a:rPr lang="fa-IR" dirty="0"/>
              <a:t>خالق کسب‌وکار </a:t>
            </a:r>
          </a:p>
        </p:txBody>
      </p:sp>
      <p:sp>
        <p:nvSpPr>
          <p:cNvPr id="4" name="Rectangle: Rounded Corners 3">
            <a:extLst>
              <a:ext uri="{FF2B5EF4-FFF2-40B4-BE49-F238E27FC236}">
                <a16:creationId xmlns:a16="http://schemas.microsoft.com/office/drawing/2014/main" id="{4CCE139A-A359-BBC0-7CCA-AEB5A47E89CE}"/>
              </a:ext>
            </a:extLst>
          </p:cNvPr>
          <p:cNvSpPr/>
          <p:nvPr/>
        </p:nvSpPr>
        <p:spPr>
          <a:xfrm>
            <a:off x="8595360" y="1282807"/>
            <a:ext cx="2296311" cy="363736"/>
          </a:xfrm>
          <a:prstGeom prst="roundRect">
            <a:avLst/>
          </a:prstGeom>
          <a:solidFill>
            <a:srgbClr val="004D80">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هوشمندی و اعتبارسنجی فرصت</a:t>
            </a:r>
          </a:p>
        </p:txBody>
      </p:sp>
      <p:sp>
        <p:nvSpPr>
          <p:cNvPr id="5" name="Rectangle: Rounded Corners 4">
            <a:extLst>
              <a:ext uri="{FF2B5EF4-FFF2-40B4-BE49-F238E27FC236}">
                <a16:creationId xmlns:a16="http://schemas.microsoft.com/office/drawing/2014/main" id="{94B69C77-6A1D-882F-D818-57B217B23FEC}"/>
              </a:ext>
            </a:extLst>
          </p:cNvPr>
          <p:cNvSpPr/>
          <p:nvPr/>
        </p:nvSpPr>
        <p:spPr>
          <a:xfrm>
            <a:off x="6000699" y="1282807"/>
            <a:ext cx="2296311" cy="363736"/>
          </a:xfrm>
          <a:prstGeom prst="roundRect">
            <a:avLst/>
          </a:prstGeom>
          <a:solidFill>
            <a:srgbClr val="004D80">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ایجاد دسترسی مورداعتماد </a:t>
            </a:r>
          </a:p>
        </p:txBody>
      </p:sp>
      <p:sp>
        <p:nvSpPr>
          <p:cNvPr id="6" name="Rectangle: Rounded Corners 5">
            <a:extLst>
              <a:ext uri="{FF2B5EF4-FFF2-40B4-BE49-F238E27FC236}">
                <a16:creationId xmlns:a16="http://schemas.microsoft.com/office/drawing/2014/main" id="{9F8A31C9-39D8-3221-B07F-8B770B2508A8}"/>
              </a:ext>
            </a:extLst>
          </p:cNvPr>
          <p:cNvSpPr/>
          <p:nvPr/>
        </p:nvSpPr>
        <p:spPr>
          <a:xfrm>
            <a:off x="3406039" y="1282807"/>
            <a:ext cx="2296311" cy="363736"/>
          </a:xfrm>
          <a:prstGeom prst="roundRect">
            <a:avLst/>
          </a:prstGeom>
          <a:solidFill>
            <a:srgbClr val="F0BE0F">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تأمین و فعال‌سازی منابع و قابلیت‌ها</a:t>
            </a:r>
          </a:p>
        </p:txBody>
      </p:sp>
      <p:sp>
        <p:nvSpPr>
          <p:cNvPr id="7" name="Rectangle: Rounded Corners 6">
            <a:extLst>
              <a:ext uri="{FF2B5EF4-FFF2-40B4-BE49-F238E27FC236}">
                <a16:creationId xmlns:a16="http://schemas.microsoft.com/office/drawing/2014/main" id="{C47E6D37-5129-3640-2638-AE1B9FC603AE}"/>
              </a:ext>
            </a:extLst>
          </p:cNvPr>
          <p:cNvSpPr/>
          <p:nvPr/>
        </p:nvSpPr>
        <p:spPr>
          <a:xfrm>
            <a:off x="811379" y="1282807"/>
            <a:ext cx="2296311" cy="363736"/>
          </a:xfrm>
          <a:prstGeom prst="roundRect">
            <a:avLst/>
          </a:prstGeom>
          <a:solidFill>
            <a:srgbClr val="004D80">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هماهنگ‌سازی و تبدیل فرصت به نتیجه</a:t>
            </a:r>
          </a:p>
        </p:txBody>
      </p:sp>
      <p:graphicFrame>
        <p:nvGraphicFramePr>
          <p:cNvPr id="8" name="Table 7">
            <a:extLst>
              <a:ext uri="{FF2B5EF4-FFF2-40B4-BE49-F238E27FC236}">
                <a16:creationId xmlns:a16="http://schemas.microsoft.com/office/drawing/2014/main" id="{A7F61100-F0F7-C15F-CCBE-A5C7CF15D013}"/>
              </a:ext>
            </a:extLst>
          </p:cNvPr>
          <p:cNvGraphicFramePr>
            <a:graphicFrameLocks noGrp="1"/>
          </p:cNvGraphicFramePr>
          <p:nvPr>
            <p:extLst>
              <p:ext uri="{D42A27DB-BD31-4B8C-83A1-F6EECF244321}">
                <p14:modId xmlns:p14="http://schemas.microsoft.com/office/powerpoint/2010/main" val="1306832039"/>
              </p:ext>
            </p:extLst>
          </p:nvPr>
        </p:nvGraphicFramePr>
        <p:xfrm>
          <a:off x="811379" y="2098582"/>
          <a:ext cx="10080292" cy="3442588"/>
        </p:xfrm>
        <a:graphic>
          <a:graphicData uri="http://schemas.openxmlformats.org/drawingml/2006/table">
            <a:tbl>
              <a:tblPr firstRow="1" bandRow="1">
                <a:tableStyleId>{5C22544A-7EE6-4342-B048-85BDC9FD1C3A}</a:tableStyleId>
              </a:tblPr>
              <a:tblGrid>
                <a:gridCol w="5040146">
                  <a:extLst>
                    <a:ext uri="{9D8B030D-6E8A-4147-A177-3AD203B41FA5}">
                      <a16:colId xmlns:a16="http://schemas.microsoft.com/office/drawing/2014/main" val="1416290991"/>
                    </a:ext>
                  </a:extLst>
                </a:gridCol>
                <a:gridCol w="5040146">
                  <a:extLst>
                    <a:ext uri="{9D8B030D-6E8A-4147-A177-3AD203B41FA5}">
                      <a16:colId xmlns:a16="http://schemas.microsoft.com/office/drawing/2014/main" val="241493819"/>
                    </a:ext>
                  </a:extLst>
                </a:gridCol>
              </a:tblGrid>
              <a:tr h="1721294">
                <a:tc rowSpan="2">
                  <a:txBody>
                    <a:bodyPr/>
                    <a:lstStyle/>
                    <a:p>
                      <a:pPr marL="171450" indent="-171450" algn="r" rtl="1">
                        <a:lnSpc>
                          <a:spcPct val="150000"/>
                        </a:lnSpc>
                        <a:buClr>
                          <a:schemeClr val="bg1">
                            <a:lumMod val="75000"/>
                          </a:schemeClr>
                        </a:buClr>
                        <a:buFont typeface="Arial" panose="020B0604020202020204" pitchFamily="34" charset="0"/>
                        <a:buChar char="•"/>
                      </a:pPr>
                      <a:r>
                        <a:rPr lang="en-US" sz="1000" b="0" kern="1200" dirty="0">
                          <a:solidFill>
                            <a:schemeClr val="tx1">
                              <a:lumMod val="75000"/>
                              <a:lumOff val="25000"/>
                            </a:schemeClr>
                          </a:solidFill>
                          <a:latin typeface="Yekan Bakh" pitchFamily="2" charset="-78"/>
                          <a:ea typeface="Yekan Bakh" pitchFamily="2" charset="-78"/>
                          <a:cs typeface="Yekan Bakh" pitchFamily="2" charset="-78"/>
                        </a:rPr>
                        <a:t>Venture Building</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 به‌صورت </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End-to-End</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جذب و ساختاردهی سرمایه </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Venture</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طراحی </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Cap Table</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 و ساختار مالکیت.</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توافق سهام‌داران و طراحی </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Governance</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خدمات حقوقی، مالی و مدیریتی </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Venture</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دسترسی به متخصصان، </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Technology</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 و قابلیت‌های عملیاتی.</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ایجاد زیرساخت‌های اولیه موردنیاز برای ساخت </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Venture</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a:t>
                      </a:r>
                      <a:endParaRPr lang="en-US" sz="1000" b="0" kern="1200" dirty="0">
                        <a:solidFill>
                          <a:schemeClr val="tx1">
                            <a:lumMod val="75000"/>
                            <a:lumOff val="25000"/>
                          </a:schemeClr>
                        </a:solidFill>
                        <a:latin typeface="Yekan Bakh" pitchFamily="2" charset="-78"/>
                        <a:ea typeface="Yekan Bakh" pitchFamily="2" charset="-78"/>
                        <a:cs typeface="Yekan Bakh" pitchFamily="2" charset="-78"/>
                      </a:endParaRPr>
                    </a:p>
                  </a:txBody>
                  <a:tcPr anchor="ctr">
                    <a:lnR w="6350" cap="flat" cmpd="sng" algn="ctr">
                      <a:solidFill>
                        <a:srgbClr val="F0BE0F"/>
                      </a:solidFill>
                      <a:prstDash val="solid"/>
                      <a:round/>
                      <a:headEnd type="none" w="med" len="med"/>
                      <a:tailEnd type="none" w="med" len="med"/>
                    </a:lnR>
                    <a:solidFill>
                      <a:schemeClr val="bg1">
                        <a:lumMod val="65000"/>
                        <a:alpha val="10000"/>
                      </a:schemeClr>
                    </a:solidFill>
                  </a:tcPr>
                </a:tc>
                <a:tc>
                  <a:txBody>
                    <a:bodyPr/>
                    <a:lstStyle/>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بار اجرایی ساخت</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Venture </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 را از دوش صاحب دارایی کاهش می‌دهد.</a:t>
                      </a:r>
                    </a:p>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نیاز به ایجاد همه قابلیت‌ها از صفر را کاهش می‌دهد.</a:t>
                      </a:r>
                    </a:p>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ریسک ساختاردهی نامناسب مالکیت و حاکمیت را کاهش می‌دهد.</a:t>
                      </a:r>
                    </a:p>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ریسک شکست </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Venture</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 برای سازمان مادر را محدود می‌کند.</a:t>
                      </a:r>
                    </a:p>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اصطکاک میان تأمین سرمایه، تیم و قابلیت‌های اجرایی را کاهش می‌دهد.</a:t>
                      </a:r>
                    </a:p>
                  </a:txBody>
                  <a:tcPr anchor="ctr">
                    <a:lnL w="6350" cap="flat" cmpd="sng" algn="ctr">
                      <a:solidFill>
                        <a:srgbClr val="F0BE0F"/>
                      </a:solidFill>
                      <a:prstDash val="solid"/>
                      <a:round/>
                      <a:headEnd type="none" w="med" len="med"/>
                      <a:tailEnd type="none" w="med" len="med"/>
                    </a:lnL>
                    <a:lnB w="6350" cap="flat" cmpd="sng" algn="ctr">
                      <a:solidFill>
                        <a:srgbClr val="F0BE0F"/>
                      </a:solidFill>
                      <a:prstDash val="solid"/>
                      <a:round/>
                      <a:headEnd type="none" w="med" len="med"/>
                      <a:tailEnd type="none" w="med" len="med"/>
                    </a:lnB>
                    <a:solidFill>
                      <a:srgbClr val="C00000">
                        <a:alpha val="3000"/>
                      </a:srgbClr>
                    </a:solidFill>
                  </a:tcPr>
                </a:tc>
                <a:extLst>
                  <a:ext uri="{0D108BD9-81ED-4DB2-BD59-A6C34878D82A}">
                    <a16:rowId xmlns:a16="http://schemas.microsoft.com/office/drawing/2014/main" val="2675777916"/>
                  </a:ext>
                </a:extLst>
              </a:tr>
              <a:tr h="1721294">
                <a:tc vMerge="1">
                  <a:txBody>
                    <a:bodyPr/>
                    <a:lstStyle/>
                    <a:p>
                      <a:endParaRPr lang="en-US"/>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تمام قابلیت‌های کلیدی لازم برای ساخت </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Venture</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 را در اختیار قرار می‌دهد.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سرعت تبدیل ایده به محصول و کسب‌وکار را افزایش می‌دهد.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امکان ساخت </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Venture</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 بدون ایجاد ساختار کامل در سازمان مادر را فراهم می‌کند.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امکان جذب سرمایه برای مراحل مختلف رشد را ایجاد می‌کند.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ارزش اقتصادی دارایی خفته را قابل‌تحقق می‌کند.</a:t>
                      </a:r>
                    </a:p>
                  </a:txBody>
                  <a:tcPr anchor="ctr">
                    <a:lnL w="6350" cap="flat" cmpd="sng" algn="ctr">
                      <a:solidFill>
                        <a:srgbClr val="F0BE0F"/>
                      </a:solidFill>
                      <a:prstDash val="solid"/>
                      <a:round/>
                      <a:headEnd type="none" w="med" len="med"/>
                      <a:tailEnd type="none" w="med" len="med"/>
                    </a:lnL>
                    <a:lnT w="6350" cap="flat" cmpd="sng" algn="ctr">
                      <a:solidFill>
                        <a:srgbClr val="F0BE0F"/>
                      </a:solidFill>
                      <a:prstDash val="solid"/>
                      <a:round/>
                      <a:headEnd type="none" w="med" len="med"/>
                      <a:tailEnd type="none" w="med" len="med"/>
                    </a:lnT>
                    <a:solidFill>
                      <a:schemeClr val="accent1">
                        <a:alpha val="4000"/>
                      </a:schemeClr>
                    </a:solidFill>
                  </a:tcPr>
                </a:tc>
                <a:extLst>
                  <a:ext uri="{0D108BD9-81ED-4DB2-BD59-A6C34878D82A}">
                    <a16:rowId xmlns:a16="http://schemas.microsoft.com/office/drawing/2014/main" val="1388272330"/>
                  </a:ext>
                </a:extLst>
              </a:tr>
            </a:tbl>
          </a:graphicData>
        </a:graphic>
      </p:graphicFrame>
      <p:sp>
        <p:nvSpPr>
          <p:cNvPr id="9" name="TextBox 8">
            <a:extLst>
              <a:ext uri="{FF2B5EF4-FFF2-40B4-BE49-F238E27FC236}">
                <a16:creationId xmlns:a16="http://schemas.microsoft.com/office/drawing/2014/main" id="{B9D19DD0-C011-0E2A-1AE6-223283C09A91}"/>
              </a:ext>
            </a:extLst>
          </p:cNvPr>
          <p:cNvSpPr txBox="1"/>
          <p:nvPr/>
        </p:nvSpPr>
        <p:spPr>
          <a:xfrm>
            <a:off x="9378405" y="1895264"/>
            <a:ext cx="1513266" cy="369332"/>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b="1" i="0" u="none" strike="noStrike" kern="1200" cap="none" spc="0" normalizeH="0" baseline="0" noProof="0" dirty="0">
                <a:ln>
                  <a:noFill/>
                </a:ln>
                <a:solidFill>
                  <a:srgbClr val="C00000"/>
                </a:solidFill>
                <a:effectLst/>
                <a:uLnTx/>
                <a:uFillTx/>
                <a:latin typeface="Yekan Bakh" pitchFamily="2" charset="-78"/>
                <a:ea typeface="Yekan Bakh" pitchFamily="2" charset="-78"/>
                <a:cs typeface="Yekan Bakh" pitchFamily="2" charset="-78"/>
              </a:rPr>
              <a:t>دردسرگاه‌ها</a:t>
            </a:r>
          </a:p>
        </p:txBody>
      </p:sp>
      <p:sp>
        <p:nvSpPr>
          <p:cNvPr id="10" name="TextBox 9">
            <a:extLst>
              <a:ext uri="{FF2B5EF4-FFF2-40B4-BE49-F238E27FC236}">
                <a16:creationId xmlns:a16="http://schemas.microsoft.com/office/drawing/2014/main" id="{0D8586AC-CAC1-B7AA-80F3-856196E2EDAF}"/>
              </a:ext>
            </a:extLst>
          </p:cNvPr>
          <p:cNvSpPr txBox="1"/>
          <p:nvPr/>
        </p:nvSpPr>
        <p:spPr>
          <a:xfrm>
            <a:off x="9378405" y="5306160"/>
            <a:ext cx="1513266" cy="369332"/>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b="1" i="0" u="none" strike="noStrike" kern="1200" cap="none" spc="0" normalizeH="0" baseline="0" noProof="0" dirty="0">
                <a:ln>
                  <a:noFill/>
                </a:ln>
                <a:solidFill>
                  <a:schemeClr val="accent1"/>
                </a:solidFill>
                <a:effectLst/>
                <a:uLnTx/>
                <a:uFillTx/>
                <a:latin typeface="Yekan Bakh" pitchFamily="2" charset="-78"/>
                <a:ea typeface="Yekan Bakh" pitchFamily="2" charset="-78"/>
                <a:cs typeface="Yekan Bakh" pitchFamily="2" charset="-78"/>
              </a:rPr>
              <a:t>منفعت‌سازها</a:t>
            </a:r>
          </a:p>
        </p:txBody>
      </p:sp>
      <p:sp>
        <p:nvSpPr>
          <p:cNvPr id="11" name="TextBox 10">
            <a:extLst>
              <a:ext uri="{FF2B5EF4-FFF2-40B4-BE49-F238E27FC236}">
                <a16:creationId xmlns:a16="http://schemas.microsoft.com/office/drawing/2014/main" id="{1AC8D614-9E74-1CF3-7AED-8EB955C13ABB}"/>
              </a:ext>
            </a:extLst>
          </p:cNvPr>
          <p:cNvSpPr txBox="1"/>
          <p:nvPr/>
        </p:nvSpPr>
        <p:spPr>
          <a:xfrm>
            <a:off x="827835" y="1876792"/>
            <a:ext cx="1513266" cy="369332"/>
          </a:xfrm>
          <a:prstGeom prst="rect">
            <a:avLst/>
          </a:prstGeom>
          <a:noFill/>
        </p:spPr>
        <p:txBody>
          <a:bodyPr wrap="square">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fa-IR" b="1" i="0" u="none" strike="noStrike" kern="1200" cap="none" spc="0" normalizeH="0" baseline="0" noProof="0" dirty="0">
                <a:ln>
                  <a:noFill/>
                </a:ln>
                <a:solidFill>
                  <a:schemeClr val="tx1">
                    <a:lumMod val="50000"/>
                    <a:lumOff val="50000"/>
                  </a:schemeClr>
                </a:solidFill>
                <a:effectLst/>
                <a:uLnTx/>
                <a:uFillTx/>
                <a:latin typeface="Yekan Bakh" pitchFamily="2" charset="-78"/>
                <a:ea typeface="Yekan Bakh" pitchFamily="2" charset="-78"/>
                <a:cs typeface="Yekan Bakh" pitchFamily="2" charset="-78"/>
              </a:rPr>
              <a:t>محصولات</a:t>
            </a:r>
          </a:p>
        </p:txBody>
      </p:sp>
    </p:spTree>
    <p:extLst>
      <p:ext uri="{BB962C8B-B14F-4D97-AF65-F5344CB8AC3E}">
        <p14:creationId xmlns:p14="http://schemas.microsoft.com/office/powerpoint/2010/main" val="19446364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08A225-DF15-0AE9-E608-2140B0F1E98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DD1980E-3215-C8F5-B97F-8086BECCE8A4}"/>
              </a:ext>
            </a:extLst>
          </p:cNvPr>
          <p:cNvSpPr>
            <a:spLocks noGrp="1"/>
          </p:cNvSpPr>
          <p:nvPr>
            <p:ph type="body" sz="quarter" idx="10"/>
          </p:nvPr>
        </p:nvSpPr>
        <p:spPr>
          <a:xfrm>
            <a:off x="4753689" y="256653"/>
            <a:ext cx="6489884" cy="250047"/>
          </a:xfrm>
        </p:spPr>
        <p:txBody>
          <a:bodyPr/>
          <a:lstStyle/>
          <a:p>
            <a:r>
              <a:rPr lang="fa-IR"/>
              <a:t>نقشه ارزش (محصولات، دردسرکاه‌ها و منفعت‌سازها) بر اساس چهار محرک خلق ارزش </a:t>
            </a:r>
          </a:p>
        </p:txBody>
      </p:sp>
      <p:sp>
        <p:nvSpPr>
          <p:cNvPr id="3" name="Text Placeholder 2">
            <a:extLst>
              <a:ext uri="{FF2B5EF4-FFF2-40B4-BE49-F238E27FC236}">
                <a16:creationId xmlns:a16="http://schemas.microsoft.com/office/drawing/2014/main" id="{A105AC19-C4CB-E8F9-BFB6-E298101B2DB2}"/>
              </a:ext>
            </a:extLst>
          </p:cNvPr>
          <p:cNvSpPr>
            <a:spLocks noGrp="1"/>
          </p:cNvSpPr>
          <p:nvPr>
            <p:ph type="body" sz="quarter" idx="12"/>
          </p:nvPr>
        </p:nvSpPr>
        <p:spPr/>
        <p:txBody>
          <a:bodyPr/>
          <a:lstStyle/>
          <a:p>
            <a:r>
              <a:rPr lang="fa-IR" dirty="0"/>
              <a:t>خالق کسب‌وکار </a:t>
            </a:r>
          </a:p>
        </p:txBody>
      </p:sp>
      <p:sp>
        <p:nvSpPr>
          <p:cNvPr id="4" name="Rectangle: Rounded Corners 3">
            <a:extLst>
              <a:ext uri="{FF2B5EF4-FFF2-40B4-BE49-F238E27FC236}">
                <a16:creationId xmlns:a16="http://schemas.microsoft.com/office/drawing/2014/main" id="{E4219C66-4C9F-F5A2-08A5-8483C425F42E}"/>
              </a:ext>
            </a:extLst>
          </p:cNvPr>
          <p:cNvSpPr/>
          <p:nvPr/>
        </p:nvSpPr>
        <p:spPr>
          <a:xfrm>
            <a:off x="8595360" y="1282807"/>
            <a:ext cx="2296311" cy="363736"/>
          </a:xfrm>
          <a:prstGeom prst="roundRect">
            <a:avLst/>
          </a:prstGeom>
          <a:solidFill>
            <a:srgbClr val="004D80">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هوشمندی و اعتبارسنجی فرصت</a:t>
            </a:r>
          </a:p>
        </p:txBody>
      </p:sp>
      <p:sp>
        <p:nvSpPr>
          <p:cNvPr id="5" name="Rectangle: Rounded Corners 4">
            <a:extLst>
              <a:ext uri="{FF2B5EF4-FFF2-40B4-BE49-F238E27FC236}">
                <a16:creationId xmlns:a16="http://schemas.microsoft.com/office/drawing/2014/main" id="{420BB30C-61FF-1BCC-EF05-9A93679E2538}"/>
              </a:ext>
            </a:extLst>
          </p:cNvPr>
          <p:cNvSpPr/>
          <p:nvPr/>
        </p:nvSpPr>
        <p:spPr>
          <a:xfrm>
            <a:off x="6000699" y="1282807"/>
            <a:ext cx="2296311" cy="363736"/>
          </a:xfrm>
          <a:prstGeom prst="roundRect">
            <a:avLst/>
          </a:prstGeom>
          <a:solidFill>
            <a:srgbClr val="004D80">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ایجاد دسترسی مورداعتماد </a:t>
            </a:r>
          </a:p>
        </p:txBody>
      </p:sp>
      <p:sp>
        <p:nvSpPr>
          <p:cNvPr id="6" name="Rectangle: Rounded Corners 5">
            <a:extLst>
              <a:ext uri="{FF2B5EF4-FFF2-40B4-BE49-F238E27FC236}">
                <a16:creationId xmlns:a16="http://schemas.microsoft.com/office/drawing/2014/main" id="{57010634-70D1-9FED-32AD-C33AF5DB75A4}"/>
              </a:ext>
            </a:extLst>
          </p:cNvPr>
          <p:cNvSpPr/>
          <p:nvPr/>
        </p:nvSpPr>
        <p:spPr>
          <a:xfrm>
            <a:off x="3406039" y="1282807"/>
            <a:ext cx="2296311" cy="363736"/>
          </a:xfrm>
          <a:prstGeom prst="roundRect">
            <a:avLst/>
          </a:prstGeom>
          <a:solidFill>
            <a:srgbClr val="004D80">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تأمین و فعال‌سازی منابع و قابلیت‌ها</a:t>
            </a:r>
          </a:p>
        </p:txBody>
      </p:sp>
      <p:sp>
        <p:nvSpPr>
          <p:cNvPr id="7" name="Rectangle: Rounded Corners 6">
            <a:extLst>
              <a:ext uri="{FF2B5EF4-FFF2-40B4-BE49-F238E27FC236}">
                <a16:creationId xmlns:a16="http://schemas.microsoft.com/office/drawing/2014/main" id="{B5397B55-2654-05F4-D954-2C7EFC60C385}"/>
              </a:ext>
            </a:extLst>
          </p:cNvPr>
          <p:cNvSpPr/>
          <p:nvPr/>
        </p:nvSpPr>
        <p:spPr>
          <a:xfrm>
            <a:off x="811379" y="1282807"/>
            <a:ext cx="2296311" cy="363736"/>
          </a:xfrm>
          <a:prstGeom prst="roundRect">
            <a:avLst/>
          </a:prstGeom>
          <a:solidFill>
            <a:srgbClr val="F0BE0F">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هماهنگ‌سازی و تبدیل فرصت به نتیجه</a:t>
            </a:r>
          </a:p>
        </p:txBody>
      </p:sp>
      <p:graphicFrame>
        <p:nvGraphicFramePr>
          <p:cNvPr id="8" name="Table 7">
            <a:extLst>
              <a:ext uri="{FF2B5EF4-FFF2-40B4-BE49-F238E27FC236}">
                <a16:creationId xmlns:a16="http://schemas.microsoft.com/office/drawing/2014/main" id="{37DB174C-A1EB-F5E8-4A2D-4B2E571023A2}"/>
              </a:ext>
            </a:extLst>
          </p:cNvPr>
          <p:cNvGraphicFramePr>
            <a:graphicFrameLocks noGrp="1"/>
          </p:cNvGraphicFramePr>
          <p:nvPr>
            <p:extLst>
              <p:ext uri="{D42A27DB-BD31-4B8C-83A1-F6EECF244321}">
                <p14:modId xmlns:p14="http://schemas.microsoft.com/office/powerpoint/2010/main" val="565368825"/>
              </p:ext>
            </p:extLst>
          </p:nvPr>
        </p:nvGraphicFramePr>
        <p:xfrm>
          <a:off x="811379" y="2098582"/>
          <a:ext cx="10080292" cy="3442588"/>
        </p:xfrm>
        <a:graphic>
          <a:graphicData uri="http://schemas.openxmlformats.org/drawingml/2006/table">
            <a:tbl>
              <a:tblPr firstRow="1" bandRow="1">
                <a:tableStyleId>{5C22544A-7EE6-4342-B048-85BDC9FD1C3A}</a:tableStyleId>
              </a:tblPr>
              <a:tblGrid>
                <a:gridCol w="5040146">
                  <a:extLst>
                    <a:ext uri="{9D8B030D-6E8A-4147-A177-3AD203B41FA5}">
                      <a16:colId xmlns:a16="http://schemas.microsoft.com/office/drawing/2014/main" val="1416290991"/>
                    </a:ext>
                  </a:extLst>
                </a:gridCol>
                <a:gridCol w="5040146">
                  <a:extLst>
                    <a:ext uri="{9D8B030D-6E8A-4147-A177-3AD203B41FA5}">
                      <a16:colId xmlns:a16="http://schemas.microsoft.com/office/drawing/2014/main" val="241493819"/>
                    </a:ext>
                  </a:extLst>
                </a:gridCol>
              </a:tblGrid>
              <a:tr h="1721294">
                <a:tc rowSpan="2">
                  <a:txBody>
                    <a:bodyPr/>
                    <a:lstStyle/>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مدیریت </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End-to-End</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 فرآیند </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Venture Building</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تبدیل ایده و دارایی به</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MVP </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 و سپس کسب‌وکار عملیاتی.</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مدیریت تیم و </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Governance</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هماهنگی میان صاحب دارایی، تیم، سرمایه‌گذار و </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Partner</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ها.</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مدیریت توسعه بازار و رشد </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Venture</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مدیریت مراحل مختلف از اعتبارسنجی تا </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Scale-up</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a:t>
                      </a:r>
                      <a:endParaRPr lang="en-US" sz="1000" b="0" kern="1200" dirty="0">
                        <a:solidFill>
                          <a:schemeClr val="tx1">
                            <a:lumMod val="75000"/>
                            <a:lumOff val="25000"/>
                          </a:schemeClr>
                        </a:solidFill>
                        <a:latin typeface="Yekan Bakh" pitchFamily="2" charset="-78"/>
                        <a:ea typeface="Yekan Bakh" pitchFamily="2" charset="-78"/>
                        <a:cs typeface="Yekan Bakh" pitchFamily="2" charset="-78"/>
                      </a:endParaRPr>
                    </a:p>
                  </a:txBody>
                  <a:tcPr anchor="ctr">
                    <a:lnR w="6350" cap="flat" cmpd="sng" algn="ctr">
                      <a:solidFill>
                        <a:srgbClr val="F0BE0F"/>
                      </a:solidFill>
                      <a:prstDash val="solid"/>
                      <a:round/>
                      <a:headEnd type="none" w="med" len="med"/>
                      <a:tailEnd type="none" w="med" len="med"/>
                    </a:lnR>
                    <a:solidFill>
                      <a:schemeClr val="bg1">
                        <a:lumMod val="65000"/>
                        <a:alpha val="10000"/>
                      </a:schemeClr>
                    </a:solidFill>
                  </a:tcPr>
                </a:tc>
                <a:tc>
                  <a:txBody>
                    <a:bodyPr/>
                    <a:lstStyle/>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از متوقف‌شدن ایده در مرحله </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Concept</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 جلوگیری می‌کند.</a:t>
                      </a:r>
                    </a:p>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اصطکاک میان صاحب دارایی، تیم و سرمایه‌گذار را کاهش می‌دهد.</a:t>
                      </a:r>
                    </a:p>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پراکندگی مسئولیت در ساخت </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Venture</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 را کاهش می‌دهد.</a:t>
                      </a:r>
                    </a:p>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ریسک کندی تصمیم‌گیری در سازمان مادر را کاهش می‌دهد.</a:t>
                      </a:r>
                    </a:p>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احتمال هدررفت سرمایه اعتباری سازمان مادر در یک پروژه ناموفق را کاهش می‌دهد.</a:t>
                      </a:r>
                    </a:p>
                  </a:txBody>
                  <a:tcPr anchor="ctr">
                    <a:lnL w="6350" cap="flat" cmpd="sng" algn="ctr">
                      <a:solidFill>
                        <a:srgbClr val="F0BE0F"/>
                      </a:solidFill>
                      <a:prstDash val="solid"/>
                      <a:round/>
                      <a:headEnd type="none" w="med" len="med"/>
                      <a:tailEnd type="none" w="med" len="med"/>
                    </a:lnL>
                    <a:lnB w="6350" cap="flat" cmpd="sng" algn="ctr">
                      <a:solidFill>
                        <a:srgbClr val="F0BE0F"/>
                      </a:solidFill>
                      <a:prstDash val="solid"/>
                      <a:round/>
                      <a:headEnd type="none" w="med" len="med"/>
                      <a:tailEnd type="none" w="med" len="med"/>
                    </a:lnB>
                    <a:solidFill>
                      <a:srgbClr val="C00000">
                        <a:alpha val="3000"/>
                      </a:srgbClr>
                    </a:solidFill>
                  </a:tcPr>
                </a:tc>
                <a:extLst>
                  <a:ext uri="{0D108BD9-81ED-4DB2-BD59-A6C34878D82A}">
                    <a16:rowId xmlns:a16="http://schemas.microsoft.com/office/drawing/2014/main" val="2675777916"/>
                  </a:ext>
                </a:extLst>
              </a:tr>
              <a:tr h="1721294">
                <a:tc vMerge="1">
                  <a:txBody>
                    <a:bodyPr/>
                    <a:lstStyle/>
                    <a:p>
                      <a:endParaRPr lang="en-US"/>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دارایی خفته را به کسب‌وکار واقعی تبدیل می‌کند.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امکان ایجاد ارزش اقتصادی جدید را فراهم می‌کند.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سرعت ساخت و آزمون</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Venture </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 را افزایش می‌دهد.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امکان رشد</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Venture </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 مستقل از محدودیت‌های سازمان مادر را ایجاد می‌کند.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برای صاحب دارایی امکان مشارکت در </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Upside</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 اقتصادی </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Venture</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 آینده را فراهم می‌کند.</a:t>
                      </a:r>
                    </a:p>
                  </a:txBody>
                  <a:tcPr anchor="ctr">
                    <a:lnL w="6350" cap="flat" cmpd="sng" algn="ctr">
                      <a:solidFill>
                        <a:srgbClr val="F0BE0F"/>
                      </a:solidFill>
                      <a:prstDash val="solid"/>
                      <a:round/>
                      <a:headEnd type="none" w="med" len="med"/>
                      <a:tailEnd type="none" w="med" len="med"/>
                    </a:lnL>
                    <a:lnT w="6350" cap="flat" cmpd="sng" algn="ctr">
                      <a:solidFill>
                        <a:srgbClr val="F0BE0F"/>
                      </a:solidFill>
                      <a:prstDash val="solid"/>
                      <a:round/>
                      <a:headEnd type="none" w="med" len="med"/>
                      <a:tailEnd type="none" w="med" len="med"/>
                    </a:lnT>
                    <a:solidFill>
                      <a:schemeClr val="accent1">
                        <a:alpha val="4000"/>
                      </a:schemeClr>
                    </a:solidFill>
                  </a:tcPr>
                </a:tc>
                <a:extLst>
                  <a:ext uri="{0D108BD9-81ED-4DB2-BD59-A6C34878D82A}">
                    <a16:rowId xmlns:a16="http://schemas.microsoft.com/office/drawing/2014/main" val="1388272330"/>
                  </a:ext>
                </a:extLst>
              </a:tr>
            </a:tbl>
          </a:graphicData>
        </a:graphic>
      </p:graphicFrame>
      <p:sp>
        <p:nvSpPr>
          <p:cNvPr id="9" name="TextBox 8">
            <a:extLst>
              <a:ext uri="{FF2B5EF4-FFF2-40B4-BE49-F238E27FC236}">
                <a16:creationId xmlns:a16="http://schemas.microsoft.com/office/drawing/2014/main" id="{77ECBDBA-AC0D-7B40-EF33-6E9395378DC1}"/>
              </a:ext>
            </a:extLst>
          </p:cNvPr>
          <p:cNvSpPr txBox="1"/>
          <p:nvPr/>
        </p:nvSpPr>
        <p:spPr>
          <a:xfrm>
            <a:off x="9378405" y="1895264"/>
            <a:ext cx="1513266" cy="369332"/>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b="1" i="0" u="none" strike="noStrike" kern="1200" cap="none" spc="0" normalizeH="0" baseline="0" noProof="0" dirty="0">
                <a:ln>
                  <a:noFill/>
                </a:ln>
                <a:solidFill>
                  <a:srgbClr val="C00000"/>
                </a:solidFill>
                <a:effectLst/>
                <a:uLnTx/>
                <a:uFillTx/>
                <a:latin typeface="Yekan Bakh" pitchFamily="2" charset="-78"/>
                <a:ea typeface="Yekan Bakh" pitchFamily="2" charset="-78"/>
                <a:cs typeface="Yekan Bakh" pitchFamily="2" charset="-78"/>
              </a:rPr>
              <a:t>دردسرگاه‌ها</a:t>
            </a:r>
          </a:p>
        </p:txBody>
      </p:sp>
      <p:sp>
        <p:nvSpPr>
          <p:cNvPr id="10" name="TextBox 9">
            <a:extLst>
              <a:ext uri="{FF2B5EF4-FFF2-40B4-BE49-F238E27FC236}">
                <a16:creationId xmlns:a16="http://schemas.microsoft.com/office/drawing/2014/main" id="{7F760BCD-9C4C-8147-F1C8-607E87D151EC}"/>
              </a:ext>
            </a:extLst>
          </p:cNvPr>
          <p:cNvSpPr txBox="1"/>
          <p:nvPr/>
        </p:nvSpPr>
        <p:spPr>
          <a:xfrm>
            <a:off x="9378405" y="5306160"/>
            <a:ext cx="1513266" cy="369332"/>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b="1" i="0" u="none" strike="noStrike" kern="1200" cap="none" spc="0" normalizeH="0" baseline="0" noProof="0" dirty="0">
                <a:ln>
                  <a:noFill/>
                </a:ln>
                <a:solidFill>
                  <a:schemeClr val="accent1"/>
                </a:solidFill>
                <a:effectLst/>
                <a:uLnTx/>
                <a:uFillTx/>
                <a:latin typeface="Yekan Bakh" pitchFamily="2" charset="-78"/>
                <a:ea typeface="Yekan Bakh" pitchFamily="2" charset="-78"/>
                <a:cs typeface="Yekan Bakh" pitchFamily="2" charset="-78"/>
              </a:rPr>
              <a:t>منفعت‌سازها</a:t>
            </a:r>
          </a:p>
        </p:txBody>
      </p:sp>
      <p:sp>
        <p:nvSpPr>
          <p:cNvPr id="11" name="TextBox 10">
            <a:extLst>
              <a:ext uri="{FF2B5EF4-FFF2-40B4-BE49-F238E27FC236}">
                <a16:creationId xmlns:a16="http://schemas.microsoft.com/office/drawing/2014/main" id="{FAF209F2-563F-0631-CEA4-AC4E92682BCA}"/>
              </a:ext>
            </a:extLst>
          </p:cNvPr>
          <p:cNvSpPr txBox="1"/>
          <p:nvPr/>
        </p:nvSpPr>
        <p:spPr>
          <a:xfrm>
            <a:off x="827835" y="1876792"/>
            <a:ext cx="1513266" cy="369332"/>
          </a:xfrm>
          <a:prstGeom prst="rect">
            <a:avLst/>
          </a:prstGeom>
          <a:noFill/>
        </p:spPr>
        <p:txBody>
          <a:bodyPr wrap="square">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fa-IR" b="1" i="0" u="none" strike="noStrike" kern="1200" cap="none" spc="0" normalizeH="0" baseline="0" noProof="0" dirty="0">
                <a:ln>
                  <a:noFill/>
                </a:ln>
                <a:solidFill>
                  <a:schemeClr val="tx1">
                    <a:lumMod val="50000"/>
                    <a:lumOff val="50000"/>
                  </a:schemeClr>
                </a:solidFill>
                <a:effectLst/>
                <a:uLnTx/>
                <a:uFillTx/>
                <a:latin typeface="Yekan Bakh" pitchFamily="2" charset="-78"/>
                <a:ea typeface="Yekan Bakh" pitchFamily="2" charset="-78"/>
                <a:cs typeface="Yekan Bakh" pitchFamily="2" charset="-78"/>
              </a:rPr>
              <a:t>محصولات</a:t>
            </a:r>
          </a:p>
        </p:txBody>
      </p:sp>
    </p:spTree>
    <p:extLst>
      <p:ext uri="{BB962C8B-B14F-4D97-AF65-F5344CB8AC3E}">
        <p14:creationId xmlns:p14="http://schemas.microsoft.com/office/powerpoint/2010/main" val="566954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944343-2563-EB3F-9F9D-84F587EB159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8451DDB-7909-1702-47EE-57F76851480E}"/>
              </a:ext>
            </a:extLst>
          </p:cNvPr>
          <p:cNvSpPr>
            <a:spLocks noGrp="1"/>
          </p:cNvSpPr>
          <p:nvPr>
            <p:ph type="body" sz="quarter" idx="10"/>
          </p:nvPr>
        </p:nvSpPr>
        <p:spPr>
          <a:xfrm>
            <a:off x="4753689" y="256653"/>
            <a:ext cx="6489884" cy="250047"/>
          </a:xfrm>
        </p:spPr>
        <p:txBody>
          <a:bodyPr/>
          <a:lstStyle/>
          <a:p>
            <a:r>
              <a:rPr lang="fa-IR"/>
              <a:t>نقشه ارزش (محصولات، دردسرکاه‌ها و منفعت‌سازها) بر اساس چهار محرک خلق ارزش </a:t>
            </a:r>
          </a:p>
        </p:txBody>
      </p:sp>
      <p:sp>
        <p:nvSpPr>
          <p:cNvPr id="3" name="Text Placeholder 2">
            <a:extLst>
              <a:ext uri="{FF2B5EF4-FFF2-40B4-BE49-F238E27FC236}">
                <a16:creationId xmlns:a16="http://schemas.microsoft.com/office/drawing/2014/main" id="{1471DEE8-56E2-9700-1986-FAE92ED08766}"/>
              </a:ext>
            </a:extLst>
          </p:cNvPr>
          <p:cNvSpPr>
            <a:spLocks noGrp="1"/>
          </p:cNvSpPr>
          <p:nvPr>
            <p:ph type="body" sz="quarter" idx="12"/>
          </p:nvPr>
        </p:nvSpPr>
        <p:spPr/>
        <p:txBody>
          <a:bodyPr/>
          <a:lstStyle/>
          <a:p>
            <a:r>
              <a:rPr lang="fa-IR" dirty="0"/>
              <a:t>سرمایه‌گذار </a:t>
            </a:r>
          </a:p>
        </p:txBody>
      </p:sp>
      <p:sp>
        <p:nvSpPr>
          <p:cNvPr id="4" name="Rectangle: Rounded Corners 3">
            <a:extLst>
              <a:ext uri="{FF2B5EF4-FFF2-40B4-BE49-F238E27FC236}">
                <a16:creationId xmlns:a16="http://schemas.microsoft.com/office/drawing/2014/main" id="{1C9141BA-1282-DCD8-6070-B067E1184BEB}"/>
              </a:ext>
            </a:extLst>
          </p:cNvPr>
          <p:cNvSpPr/>
          <p:nvPr/>
        </p:nvSpPr>
        <p:spPr>
          <a:xfrm>
            <a:off x="8595360" y="1282807"/>
            <a:ext cx="2296311" cy="363736"/>
          </a:xfrm>
          <a:prstGeom prst="roundRect">
            <a:avLst/>
          </a:prstGeom>
          <a:solidFill>
            <a:srgbClr val="F0BE0F">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هوشمندی و اعتبارسنجی فرصت</a:t>
            </a:r>
          </a:p>
        </p:txBody>
      </p:sp>
      <p:sp>
        <p:nvSpPr>
          <p:cNvPr id="5" name="Rectangle: Rounded Corners 4">
            <a:extLst>
              <a:ext uri="{FF2B5EF4-FFF2-40B4-BE49-F238E27FC236}">
                <a16:creationId xmlns:a16="http://schemas.microsoft.com/office/drawing/2014/main" id="{4EE87B08-4A90-527E-D8CC-6B4F06E33D9F}"/>
              </a:ext>
            </a:extLst>
          </p:cNvPr>
          <p:cNvSpPr/>
          <p:nvPr/>
        </p:nvSpPr>
        <p:spPr>
          <a:xfrm>
            <a:off x="6000699" y="1282807"/>
            <a:ext cx="2296311" cy="363736"/>
          </a:xfrm>
          <a:prstGeom prst="roundRect">
            <a:avLst/>
          </a:prstGeom>
          <a:solidFill>
            <a:srgbClr val="004D80">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ایجاد دسترسی مورداعتماد </a:t>
            </a:r>
          </a:p>
        </p:txBody>
      </p:sp>
      <p:sp>
        <p:nvSpPr>
          <p:cNvPr id="6" name="Rectangle: Rounded Corners 5">
            <a:extLst>
              <a:ext uri="{FF2B5EF4-FFF2-40B4-BE49-F238E27FC236}">
                <a16:creationId xmlns:a16="http://schemas.microsoft.com/office/drawing/2014/main" id="{23E434EF-05E2-CE43-15FB-FCEDE4381A44}"/>
              </a:ext>
            </a:extLst>
          </p:cNvPr>
          <p:cNvSpPr/>
          <p:nvPr/>
        </p:nvSpPr>
        <p:spPr>
          <a:xfrm>
            <a:off x="3406039" y="1282807"/>
            <a:ext cx="2296311" cy="363736"/>
          </a:xfrm>
          <a:prstGeom prst="roundRect">
            <a:avLst/>
          </a:prstGeom>
          <a:solidFill>
            <a:srgbClr val="004D80">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تأمین و فعال‌سازی منابع و قابلیت‌ها</a:t>
            </a:r>
          </a:p>
        </p:txBody>
      </p:sp>
      <p:sp>
        <p:nvSpPr>
          <p:cNvPr id="7" name="Rectangle: Rounded Corners 6">
            <a:extLst>
              <a:ext uri="{FF2B5EF4-FFF2-40B4-BE49-F238E27FC236}">
                <a16:creationId xmlns:a16="http://schemas.microsoft.com/office/drawing/2014/main" id="{5366105C-9B3F-E193-C41D-D479F304348F}"/>
              </a:ext>
            </a:extLst>
          </p:cNvPr>
          <p:cNvSpPr/>
          <p:nvPr/>
        </p:nvSpPr>
        <p:spPr>
          <a:xfrm>
            <a:off x="811379" y="1282807"/>
            <a:ext cx="2296311" cy="363736"/>
          </a:xfrm>
          <a:prstGeom prst="roundRect">
            <a:avLst/>
          </a:prstGeom>
          <a:solidFill>
            <a:srgbClr val="004D80">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هماهنگ‌سازی و تبدیل فرصت به نتیجه</a:t>
            </a:r>
          </a:p>
        </p:txBody>
      </p:sp>
      <p:graphicFrame>
        <p:nvGraphicFramePr>
          <p:cNvPr id="8" name="Table 7">
            <a:extLst>
              <a:ext uri="{FF2B5EF4-FFF2-40B4-BE49-F238E27FC236}">
                <a16:creationId xmlns:a16="http://schemas.microsoft.com/office/drawing/2014/main" id="{802442AC-CC09-C072-99C1-AE6D0B7D9AE1}"/>
              </a:ext>
            </a:extLst>
          </p:cNvPr>
          <p:cNvGraphicFramePr>
            <a:graphicFrameLocks noGrp="1"/>
          </p:cNvGraphicFramePr>
          <p:nvPr>
            <p:extLst>
              <p:ext uri="{D42A27DB-BD31-4B8C-83A1-F6EECF244321}">
                <p14:modId xmlns:p14="http://schemas.microsoft.com/office/powerpoint/2010/main" val="1663456585"/>
              </p:ext>
            </p:extLst>
          </p:nvPr>
        </p:nvGraphicFramePr>
        <p:xfrm>
          <a:off x="811379" y="2098582"/>
          <a:ext cx="10080292" cy="3442588"/>
        </p:xfrm>
        <a:graphic>
          <a:graphicData uri="http://schemas.openxmlformats.org/drawingml/2006/table">
            <a:tbl>
              <a:tblPr firstRow="1" bandRow="1">
                <a:tableStyleId>{5C22544A-7EE6-4342-B048-85BDC9FD1C3A}</a:tableStyleId>
              </a:tblPr>
              <a:tblGrid>
                <a:gridCol w="5040146">
                  <a:extLst>
                    <a:ext uri="{9D8B030D-6E8A-4147-A177-3AD203B41FA5}">
                      <a16:colId xmlns:a16="http://schemas.microsoft.com/office/drawing/2014/main" val="1416290991"/>
                    </a:ext>
                  </a:extLst>
                </a:gridCol>
                <a:gridCol w="5040146">
                  <a:extLst>
                    <a:ext uri="{9D8B030D-6E8A-4147-A177-3AD203B41FA5}">
                      <a16:colId xmlns:a16="http://schemas.microsoft.com/office/drawing/2014/main" val="241493819"/>
                    </a:ext>
                  </a:extLst>
                </a:gridCol>
              </a:tblGrid>
              <a:tr h="1721294">
                <a:tc rowSpan="2">
                  <a:txBody>
                    <a:bodyPr/>
                    <a:lstStyle/>
                    <a:p>
                      <a:pPr marL="171450" indent="-171450" algn="r" rtl="1">
                        <a:lnSpc>
                          <a:spcPct val="150000"/>
                        </a:lnSpc>
                        <a:buClr>
                          <a:schemeClr val="bg1">
                            <a:lumMod val="75000"/>
                          </a:schemeClr>
                        </a:buClr>
                        <a:buFont typeface="Arial" panose="020B0604020202020204" pitchFamily="34" charset="0"/>
                        <a:buChar char="•"/>
                      </a:pPr>
                      <a:r>
                        <a:rPr lang="en-US" sz="1000" b="0" kern="1200" dirty="0">
                          <a:solidFill>
                            <a:schemeClr val="tx1">
                              <a:lumMod val="75000"/>
                              <a:lumOff val="25000"/>
                            </a:schemeClr>
                          </a:solidFill>
                          <a:latin typeface="Yekan Bakh" pitchFamily="2" charset="-78"/>
                          <a:ea typeface="Yekan Bakh" pitchFamily="2" charset="-78"/>
                          <a:cs typeface="Yekan Bakh" pitchFamily="2" charset="-78"/>
                        </a:rPr>
                        <a:t>Deal Origination</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a:t>
                      </a:r>
                    </a:p>
                    <a:p>
                      <a:pPr marL="171450" indent="-171450" algn="r" rtl="1">
                        <a:lnSpc>
                          <a:spcPct val="150000"/>
                        </a:lnSpc>
                        <a:buClr>
                          <a:schemeClr val="bg1">
                            <a:lumMod val="75000"/>
                          </a:schemeClr>
                        </a:buClr>
                        <a:buFont typeface="Arial" panose="020B0604020202020204" pitchFamily="34" charset="0"/>
                        <a:buChar char="•"/>
                      </a:pPr>
                      <a:r>
                        <a:rPr lang="en-US" sz="1000" b="0" kern="1200" dirty="0">
                          <a:solidFill>
                            <a:schemeClr val="tx1">
                              <a:lumMod val="75000"/>
                              <a:lumOff val="25000"/>
                            </a:schemeClr>
                          </a:solidFill>
                          <a:latin typeface="Yekan Bakh" pitchFamily="2" charset="-78"/>
                          <a:ea typeface="Yekan Bakh" pitchFamily="2" charset="-78"/>
                          <a:cs typeface="Yekan Bakh" pitchFamily="2" charset="-78"/>
                        </a:rPr>
                        <a:t>Investment Intelligence</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شناسایی فرصت‌های</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Off-market </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 و اختصاصی.</a:t>
                      </a:r>
                    </a:p>
                    <a:p>
                      <a:pPr marL="171450" indent="-171450" algn="r" rtl="1">
                        <a:lnSpc>
                          <a:spcPct val="150000"/>
                        </a:lnSpc>
                        <a:buClr>
                          <a:schemeClr val="bg1">
                            <a:lumMod val="75000"/>
                          </a:schemeClr>
                        </a:buClr>
                        <a:buFont typeface="Arial" panose="020B0604020202020204" pitchFamily="34" charset="0"/>
                        <a:buChar char="•"/>
                      </a:pPr>
                      <a:r>
                        <a:rPr lang="en-US" sz="1000" b="0" kern="1200" dirty="0">
                          <a:solidFill>
                            <a:schemeClr val="tx1">
                              <a:lumMod val="75000"/>
                              <a:lumOff val="25000"/>
                            </a:schemeClr>
                          </a:solidFill>
                          <a:latin typeface="Yekan Bakh" pitchFamily="2" charset="-78"/>
                          <a:ea typeface="Yekan Bakh" pitchFamily="2" charset="-78"/>
                          <a:cs typeface="Yekan Bakh" pitchFamily="2" charset="-78"/>
                        </a:rPr>
                        <a:t>Screening</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و و غربال‌گری فرصت‌ها.</a:t>
                      </a:r>
                    </a:p>
                    <a:p>
                      <a:pPr marL="171450" indent="-171450" algn="r" rtl="1">
                        <a:lnSpc>
                          <a:spcPct val="150000"/>
                        </a:lnSpc>
                        <a:buClr>
                          <a:schemeClr val="bg1">
                            <a:lumMod val="75000"/>
                          </a:schemeClr>
                        </a:buClr>
                        <a:buFont typeface="Arial" panose="020B0604020202020204" pitchFamily="34" charset="0"/>
                        <a:buChar char="•"/>
                      </a:pPr>
                      <a:r>
                        <a:rPr lang="en-US" sz="1000" b="0" kern="1200" dirty="0">
                          <a:solidFill>
                            <a:schemeClr val="tx1">
                              <a:lumMod val="75000"/>
                              <a:lumOff val="25000"/>
                            </a:schemeClr>
                          </a:solidFill>
                          <a:latin typeface="Yekan Bakh" pitchFamily="2" charset="-78"/>
                          <a:ea typeface="Yekan Bakh" pitchFamily="2" charset="-78"/>
                          <a:cs typeface="Yekan Bakh" pitchFamily="2" charset="-78"/>
                        </a:rPr>
                        <a:t>Due Diligence</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 تجاری، مالی، حقوقی و عملیاتی.</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تحلیل ریسک و بازده.</a:t>
                      </a:r>
                    </a:p>
                    <a:p>
                      <a:pPr marL="171450" indent="-171450" algn="r" rtl="1">
                        <a:lnSpc>
                          <a:spcPct val="150000"/>
                        </a:lnSpc>
                        <a:buClr>
                          <a:schemeClr val="bg1">
                            <a:lumMod val="75000"/>
                          </a:schemeClr>
                        </a:buClr>
                        <a:buFont typeface="Arial" panose="020B0604020202020204" pitchFamily="34" charset="0"/>
                        <a:buChar char="•"/>
                      </a:pPr>
                      <a:r>
                        <a:rPr lang="en-US" sz="1000" b="0" kern="1200" dirty="0">
                          <a:solidFill>
                            <a:schemeClr val="tx1">
                              <a:lumMod val="75000"/>
                              <a:lumOff val="25000"/>
                            </a:schemeClr>
                          </a:solidFill>
                          <a:latin typeface="Yekan Bakh" pitchFamily="2" charset="-78"/>
                          <a:ea typeface="Yekan Bakh" pitchFamily="2" charset="-78"/>
                          <a:cs typeface="Yekan Bakh" pitchFamily="2" charset="-78"/>
                        </a:rPr>
                        <a:t>Valuation</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 و ارزیابی ارزش واقعی فرصت.</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تحلیل سناریوهای خروج و بازگشت سرمایه.</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شناسایی فرصت‌های زیرقیمت در شرایط ترس بازار.</a:t>
                      </a:r>
                    </a:p>
                  </a:txBody>
                  <a:tcPr anchor="ctr">
                    <a:lnR w="6350" cap="flat" cmpd="sng" algn="ctr">
                      <a:solidFill>
                        <a:srgbClr val="F0BE0F"/>
                      </a:solidFill>
                      <a:prstDash val="solid"/>
                      <a:round/>
                      <a:headEnd type="none" w="med" len="med"/>
                      <a:tailEnd type="none" w="med" len="med"/>
                    </a:lnR>
                    <a:solidFill>
                      <a:schemeClr val="bg1">
                        <a:lumMod val="65000"/>
                        <a:alpha val="10000"/>
                      </a:schemeClr>
                    </a:solidFill>
                  </a:tcPr>
                </a:tc>
                <a:tc>
                  <a:txBody>
                    <a:bodyPr/>
                    <a:lstStyle/>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کمبود</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Deal Flow </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 باکیفیت را کاهش می‌دهد.</a:t>
                      </a:r>
                    </a:p>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ریسک سرمایه‌گذاری بر مبنای اطلاعات ناقص را کاهش می‌دهد.</a:t>
                      </a:r>
                    </a:p>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ریسک تقلب یا ارائه اطلاعات نادرست را کاهش می‌دهد.</a:t>
                      </a:r>
                    </a:p>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عدم‌قطعیت درباره ارزش واقعی فرصت را کاهش می‌دهد.</a:t>
                      </a:r>
                    </a:p>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ریسک ورود به فرصت‌هایی که مسیر خروج مشخصی ندارند را کاهش می‌دهد.</a:t>
                      </a:r>
                    </a:p>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هزینه جست‌وجو و ارزیابی فرصت‌های متعدد را کاهش می‌دهد.</a:t>
                      </a:r>
                    </a:p>
                  </a:txBody>
                  <a:tcPr anchor="ctr">
                    <a:lnL w="6350" cap="flat" cmpd="sng" algn="ctr">
                      <a:solidFill>
                        <a:srgbClr val="F0BE0F"/>
                      </a:solidFill>
                      <a:prstDash val="solid"/>
                      <a:round/>
                      <a:headEnd type="none" w="med" len="med"/>
                      <a:tailEnd type="none" w="med" len="med"/>
                    </a:lnL>
                    <a:lnB w="6350" cap="flat" cmpd="sng" algn="ctr">
                      <a:solidFill>
                        <a:srgbClr val="F0BE0F"/>
                      </a:solidFill>
                      <a:prstDash val="solid"/>
                      <a:round/>
                      <a:headEnd type="none" w="med" len="med"/>
                      <a:tailEnd type="none" w="med" len="med"/>
                    </a:lnB>
                    <a:solidFill>
                      <a:srgbClr val="C00000">
                        <a:alpha val="3000"/>
                      </a:srgbClr>
                    </a:solidFill>
                  </a:tcPr>
                </a:tc>
                <a:extLst>
                  <a:ext uri="{0D108BD9-81ED-4DB2-BD59-A6C34878D82A}">
                    <a16:rowId xmlns:a16="http://schemas.microsoft.com/office/drawing/2014/main" val="2675777916"/>
                  </a:ext>
                </a:extLst>
              </a:tr>
              <a:tr h="1721294">
                <a:tc vMerge="1">
                  <a:txBody>
                    <a:bodyPr/>
                    <a:lstStyle/>
                    <a:p>
                      <a:endParaRPr lang="en-US"/>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جریان مستمر فرصت‌های باکیفیت ایجاد می‌کند.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دسترسی به فرصت‌هایی خارج از کانال‌های معمول سرمایه‌گذاری را فراهم می‌کند.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امکان کشف فرصت‌های متمایز و زیرقیمت را افزایش می‌دهد.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کیفیت تصمیم تخصیص سرمایه را افزایش می‌دهد.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امکان بهبود بازده تعدیل‌شده به ریسک پرتفوی را ایجاد می‌کند.</a:t>
                      </a:r>
                    </a:p>
                    <a:p>
                      <a:pPr marL="171450" indent="-171450" algn="r" rtl="1">
                        <a:lnSpc>
                          <a:spcPct val="150000"/>
                        </a:lnSpc>
                        <a:buClr>
                          <a:schemeClr val="accent1"/>
                        </a:buClr>
                        <a:buFont typeface="Arial" panose="020B0604020202020204" pitchFamily="34" charset="0"/>
                        <a:buChar char="•"/>
                      </a:pPr>
                      <a:endParaRPr lang="fa-IR" sz="1000" b="0" kern="1200" dirty="0">
                        <a:solidFill>
                          <a:schemeClr val="tx1">
                            <a:lumMod val="75000"/>
                            <a:lumOff val="25000"/>
                          </a:schemeClr>
                        </a:solidFill>
                        <a:latin typeface="Yekan Bakh" pitchFamily="2" charset="-78"/>
                        <a:ea typeface="Yekan Bakh" pitchFamily="2" charset="-78"/>
                        <a:cs typeface="Yekan Bakh" pitchFamily="2" charset="-78"/>
                      </a:endParaRPr>
                    </a:p>
                  </a:txBody>
                  <a:tcPr anchor="ctr">
                    <a:lnL w="6350" cap="flat" cmpd="sng" algn="ctr">
                      <a:solidFill>
                        <a:srgbClr val="F0BE0F"/>
                      </a:solidFill>
                      <a:prstDash val="solid"/>
                      <a:round/>
                      <a:headEnd type="none" w="med" len="med"/>
                      <a:tailEnd type="none" w="med" len="med"/>
                    </a:lnL>
                    <a:lnT w="6350" cap="flat" cmpd="sng" algn="ctr">
                      <a:solidFill>
                        <a:srgbClr val="F0BE0F"/>
                      </a:solidFill>
                      <a:prstDash val="solid"/>
                      <a:round/>
                      <a:headEnd type="none" w="med" len="med"/>
                      <a:tailEnd type="none" w="med" len="med"/>
                    </a:lnT>
                    <a:solidFill>
                      <a:schemeClr val="accent1">
                        <a:alpha val="4000"/>
                      </a:schemeClr>
                    </a:solidFill>
                  </a:tcPr>
                </a:tc>
                <a:extLst>
                  <a:ext uri="{0D108BD9-81ED-4DB2-BD59-A6C34878D82A}">
                    <a16:rowId xmlns:a16="http://schemas.microsoft.com/office/drawing/2014/main" val="1388272330"/>
                  </a:ext>
                </a:extLst>
              </a:tr>
            </a:tbl>
          </a:graphicData>
        </a:graphic>
      </p:graphicFrame>
      <p:sp>
        <p:nvSpPr>
          <p:cNvPr id="9" name="TextBox 8">
            <a:extLst>
              <a:ext uri="{FF2B5EF4-FFF2-40B4-BE49-F238E27FC236}">
                <a16:creationId xmlns:a16="http://schemas.microsoft.com/office/drawing/2014/main" id="{C0F82C6C-A96D-D889-31FA-CF73CAB0219F}"/>
              </a:ext>
            </a:extLst>
          </p:cNvPr>
          <p:cNvSpPr txBox="1"/>
          <p:nvPr/>
        </p:nvSpPr>
        <p:spPr>
          <a:xfrm>
            <a:off x="9378405" y="1895264"/>
            <a:ext cx="1513266" cy="369332"/>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b="1" i="0" u="none" strike="noStrike" kern="1200" cap="none" spc="0" normalizeH="0" baseline="0" noProof="0" dirty="0">
                <a:ln>
                  <a:noFill/>
                </a:ln>
                <a:solidFill>
                  <a:srgbClr val="C00000"/>
                </a:solidFill>
                <a:effectLst/>
                <a:uLnTx/>
                <a:uFillTx/>
                <a:latin typeface="Yekan Bakh" pitchFamily="2" charset="-78"/>
                <a:ea typeface="Yekan Bakh" pitchFamily="2" charset="-78"/>
                <a:cs typeface="Yekan Bakh" pitchFamily="2" charset="-78"/>
              </a:rPr>
              <a:t>دردسرگاه‌ها</a:t>
            </a:r>
          </a:p>
        </p:txBody>
      </p:sp>
      <p:sp>
        <p:nvSpPr>
          <p:cNvPr id="10" name="TextBox 9">
            <a:extLst>
              <a:ext uri="{FF2B5EF4-FFF2-40B4-BE49-F238E27FC236}">
                <a16:creationId xmlns:a16="http://schemas.microsoft.com/office/drawing/2014/main" id="{A0518794-4BFC-EA20-9D6E-5307C8BFD0A6}"/>
              </a:ext>
            </a:extLst>
          </p:cNvPr>
          <p:cNvSpPr txBox="1"/>
          <p:nvPr/>
        </p:nvSpPr>
        <p:spPr>
          <a:xfrm>
            <a:off x="9378405" y="5306160"/>
            <a:ext cx="1513266" cy="369332"/>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b="1" i="0" u="none" strike="noStrike" kern="1200" cap="none" spc="0" normalizeH="0" baseline="0" noProof="0" dirty="0">
                <a:ln>
                  <a:noFill/>
                </a:ln>
                <a:solidFill>
                  <a:schemeClr val="accent1"/>
                </a:solidFill>
                <a:effectLst/>
                <a:uLnTx/>
                <a:uFillTx/>
                <a:latin typeface="Yekan Bakh" pitchFamily="2" charset="-78"/>
                <a:ea typeface="Yekan Bakh" pitchFamily="2" charset="-78"/>
                <a:cs typeface="Yekan Bakh" pitchFamily="2" charset="-78"/>
              </a:rPr>
              <a:t>منفعت‌سازها</a:t>
            </a:r>
          </a:p>
        </p:txBody>
      </p:sp>
      <p:sp>
        <p:nvSpPr>
          <p:cNvPr id="11" name="TextBox 10">
            <a:extLst>
              <a:ext uri="{FF2B5EF4-FFF2-40B4-BE49-F238E27FC236}">
                <a16:creationId xmlns:a16="http://schemas.microsoft.com/office/drawing/2014/main" id="{6205B5E4-9567-D54A-8EAB-AF2E3BFBCF8C}"/>
              </a:ext>
            </a:extLst>
          </p:cNvPr>
          <p:cNvSpPr txBox="1"/>
          <p:nvPr/>
        </p:nvSpPr>
        <p:spPr>
          <a:xfrm>
            <a:off x="827835" y="1876792"/>
            <a:ext cx="1513266" cy="369332"/>
          </a:xfrm>
          <a:prstGeom prst="rect">
            <a:avLst/>
          </a:prstGeom>
          <a:noFill/>
        </p:spPr>
        <p:txBody>
          <a:bodyPr wrap="square">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fa-IR" b="1" i="0" u="none" strike="noStrike" kern="1200" cap="none" spc="0" normalizeH="0" baseline="0" noProof="0" dirty="0">
                <a:ln>
                  <a:noFill/>
                </a:ln>
                <a:solidFill>
                  <a:schemeClr val="tx1">
                    <a:lumMod val="50000"/>
                    <a:lumOff val="50000"/>
                  </a:schemeClr>
                </a:solidFill>
                <a:effectLst/>
                <a:uLnTx/>
                <a:uFillTx/>
                <a:latin typeface="Yekan Bakh" pitchFamily="2" charset="-78"/>
                <a:ea typeface="Yekan Bakh" pitchFamily="2" charset="-78"/>
                <a:cs typeface="Yekan Bakh" pitchFamily="2" charset="-78"/>
              </a:rPr>
              <a:t>محصولات</a:t>
            </a:r>
          </a:p>
        </p:txBody>
      </p:sp>
    </p:spTree>
    <p:extLst>
      <p:ext uri="{BB962C8B-B14F-4D97-AF65-F5344CB8AC3E}">
        <p14:creationId xmlns:p14="http://schemas.microsoft.com/office/powerpoint/2010/main" val="222123225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BBB531-11D0-03A2-CF11-147449E01B98}"/>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06F7C17-4646-F4D3-DE21-4761BDB21137}"/>
              </a:ext>
            </a:extLst>
          </p:cNvPr>
          <p:cNvSpPr>
            <a:spLocks noGrp="1"/>
          </p:cNvSpPr>
          <p:nvPr>
            <p:ph type="body" sz="quarter" idx="10"/>
          </p:nvPr>
        </p:nvSpPr>
        <p:spPr>
          <a:xfrm>
            <a:off x="4753689" y="256653"/>
            <a:ext cx="6489884" cy="250047"/>
          </a:xfrm>
        </p:spPr>
        <p:txBody>
          <a:bodyPr/>
          <a:lstStyle/>
          <a:p>
            <a:r>
              <a:rPr lang="fa-IR"/>
              <a:t>نقشه ارزش (محصولات، دردسرکاه‌ها و منفعت‌سازها) بر اساس چهار محرک خلق ارزش </a:t>
            </a:r>
          </a:p>
        </p:txBody>
      </p:sp>
      <p:sp>
        <p:nvSpPr>
          <p:cNvPr id="3" name="Text Placeholder 2">
            <a:extLst>
              <a:ext uri="{FF2B5EF4-FFF2-40B4-BE49-F238E27FC236}">
                <a16:creationId xmlns:a16="http://schemas.microsoft.com/office/drawing/2014/main" id="{44309B38-9D85-EB1B-9A82-858344B0D0C9}"/>
              </a:ext>
            </a:extLst>
          </p:cNvPr>
          <p:cNvSpPr>
            <a:spLocks noGrp="1"/>
          </p:cNvSpPr>
          <p:nvPr>
            <p:ph type="body" sz="quarter" idx="12"/>
          </p:nvPr>
        </p:nvSpPr>
        <p:spPr/>
        <p:txBody>
          <a:bodyPr/>
          <a:lstStyle/>
          <a:p>
            <a:r>
              <a:rPr lang="fa-IR" dirty="0"/>
              <a:t>سرمایه‌گذار </a:t>
            </a:r>
          </a:p>
        </p:txBody>
      </p:sp>
      <p:sp>
        <p:nvSpPr>
          <p:cNvPr id="4" name="Rectangle: Rounded Corners 3">
            <a:extLst>
              <a:ext uri="{FF2B5EF4-FFF2-40B4-BE49-F238E27FC236}">
                <a16:creationId xmlns:a16="http://schemas.microsoft.com/office/drawing/2014/main" id="{B473EFD3-BFE7-61CD-1FC0-9FACAF71FC49}"/>
              </a:ext>
            </a:extLst>
          </p:cNvPr>
          <p:cNvSpPr/>
          <p:nvPr/>
        </p:nvSpPr>
        <p:spPr>
          <a:xfrm>
            <a:off x="8595360" y="1282807"/>
            <a:ext cx="2296311" cy="363736"/>
          </a:xfrm>
          <a:prstGeom prst="roundRect">
            <a:avLst/>
          </a:prstGeom>
          <a:solidFill>
            <a:srgbClr val="004D80">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هوشمندی و اعتبارسنجی فرصت</a:t>
            </a:r>
          </a:p>
        </p:txBody>
      </p:sp>
      <p:sp>
        <p:nvSpPr>
          <p:cNvPr id="5" name="Rectangle: Rounded Corners 4">
            <a:extLst>
              <a:ext uri="{FF2B5EF4-FFF2-40B4-BE49-F238E27FC236}">
                <a16:creationId xmlns:a16="http://schemas.microsoft.com/office/drawing/2014/main" id="{D438CCA8-821E-2359-284E-A7DE56C614A5}"/>
              </a:ext>
            </a:extLst>
          </p:cNvPr>
          <p:cNvSpPr/>
          <p:nvPr/>
        </p:nvSpPr>
        <p:spPr>
          <a:xfrm>
            <a:off x="6000699" y="1282807"/>
            <a:ext cx="2296311" cy="363736"/>
          </a:xfrm>
          <a:prstGeom prst="roundRect">
            <a:avLst/>
          </a:prstGeom>
          <a:solidFill>
            <a:srgbClr val="F0BE0F">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ایجاد دسترسی مورداعتماد </a:t>
            </a:r>
          </a:p>
        </p:txBody>
      </p:sp>
      <p:sp>
        <p:nvSpPr>
          <p:cNvPr id="6" name="Rectangle: Rounded Corners 5">
            <a:extLst>
              <a:ext uri="{FF2B5EF4-FFF2-40B4-BE49-F238E27FC236}">
                <a16:creationId xmlns:a16="http://schemas.microsoft.com/office/drawing/2014/main" id="{41CE7E66-7263-F22E-1013-4C2A0D0DC839}"/>
              </a:ext>
            </a:extLst>
          </p:cNvPr>
          <p:cNvSpPr/>
          <p:nvPr/>
        </p:nvSpPr>
        <p:spPr>
          <a:xfrm>
            <a:off x="3406039" y="1282807"/>
            <a:ext cx="2296311" cy="363736"/>
          </a:xfrm>
          <a:prstGeom prst="roundRect">
            <a:avLst/>
          </a:prstGeom>
          <a:solidFill>
            <a:srgbClr val="004D80">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تأمین و فعال‌سازی منابع و قابلیت‌ها</a:t>
            </a:r>
          </a:p>
        </p:txBody>
      </p:sp>
      <p:sp>
        <p:nvSpPr>
          <p:cNvPr id="7" name="Rectangle: Rounded Corners 6">
            <a:extLst>
              <a:ext uri="{FF2B5EF4-FFF2-40B4-BE49-F238E27FC236}">
                <a16:creationId xmlns:a16="http://schemas.microsoft.com/office/drawing/2014/main" id="{DD0E6907-AEB7-FE90-D7B8-5442365A664C}"/>
              </a:ext>
            </a:extLst>
          </p:cNvPr>
          <p:cNvSpPr/>
          <p:nvPr/>
        </p:nvSpPr>
        <p:spPr>
          <a:xfrm>
            <a:off x="811379" y="1282807"/>
            <a:ext cx="2296311" cy="363736"/>
          </a:xfrm>
          <a:prstGeom prst="roundRect">
            <a:avLst/>
          </a:prstGeom>
          <a:solidFill>
            <a:srgbClr val="004D80">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هماهنگ‌سازی و تبدیل فرصت به نتیجه</a:t>
            </a:r>
          </a:p>
        </p:txBody>
      </p:sp>
      <p:graphicFrame>
        <p:nvGraphicFramePr>
          <p:cNvPr id="8" name="Table 7">
            <a:extLst>
              <a:ext uri="{FF2B5EF4-FFF2-40B4-BE49-F238E27FC236}">
                <a16:creationId xmlns:a16="http://schemas.microsoft.com/office/drawing/2014/main" id="{783A2733-4449-37B8-2909-A4C49F18CB4E}"/>
              </a:ext>
            </a:extLst>
          </p:cNvPr>
          <p:cNvGraphicFramePr>
            <a:graphicFrameLocks noGrp="1"/>
          </p:cNvGraphicFramePr>
          <p:nvPr>
            <p:extLst>
              <p:ext uri="{D42A27DB-BD31-4B8C-83A1-F6EECF244321}">
                <p14:modId xmlns:p14="http://schemas.microsoft.com/office/powerpoint/2010/main" val="2313226907"/>
              </p:ext>
            </p:extLst>
          </p:nvPr>
        </p:nvGraphicFramePr>
        <p:xfrm>
          <a:off x="811379" y="2098582"/>
          <a:ext cx="10080292" cy="3442588"/>
        </p:xfrm>
        <a:graphic>
          <a:graphicData uri="http://schemas.openxmlformats.org/drawingml/2006/table">
            <a:tbl>
              <a:tblPr firstRow="1" bandRow="1">
                <a:tableStyleId>{5C22544A-7EE6-4342-B048-85BDC9FD1C3A}</a:tableStyleId>
              </a:tblPr>
              <a:tblGrid>
                <a:gridCol w="5040146">
                  <a:extLst>
                    <a:ext uri="{9D8B030D-6E8A-4147-A177-3AD203B41FA5}">
                      <a16:colId xmlns:a16="http://schemas.microsoft.com/office/drawing/2014/main" val="1416290991"/>
                    </a:ext>
                  </a:extLst>
                </a:gridCol>
                <a:gridCol w="5040146">
                  <a:extLst>
                    <a:ext uri="{9D8B030D-6E8A-4147-A177-3AD203B41FA5}">
                      <a16:colId xmlns:a16="http://schemas.microsoft.com/office/drawing/2014/main" val="241493819"/>
                    </a:ext>
                  </a:extLst>
                </a:gridCol>
              </a:tblGrid>
              <a:tr h="1721294">
                <a:tc rowSpan="2">
                  <a:txBody>
                    <a:bodyPr/>
                    <a:lstStyle/>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معرفی به صاحبان دارایی و شرکت‌ها.</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دسترسی به </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Deal Network</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اتصال به سرمایه‌گذاران و </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Co-investor</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ها.</a:t>
                      </a:r>
                    </a:p>
                    <a:p>
                      <a:pPr marL="171450" indent="-171450" algn="r" rtl="1">
                        <a:lnSpc>
                          <a:spcPct val="150000"/>
                        </a:lnSpc>
                        <a:buClr>
                          <a:schemeClr val="bg1">
                            <a:lumMod val="75000"/>
                          </a:schemeClr>
                        </a:buClr>
                        <a:buFont typeface="Arial" panose="020B0604020202020204" pitchFamily="34" charset="0"/>
                        <a:buChar char="•"/>
                      </a:pPr>
                      <a:r>
                        <a:rPr lang="en-US" sz="1000" b="0" kern="1200" dirty="0">
                          <a:solidFill>
                            <a:schemeClr val="tx1">
                              <a:lumMod val="75000"/>
                              <a:lumOff val="25000"/>
                            </a:schemeClr>
                          </a:solidFill>
                          <a:latin typeface="Yekan Bakh" pitchFamily="2" charset="-78"/>
                          <a:ea typeface="Yekan Bakh" pitchFamily="2" charset="-78"/>
                          <a:cs typeface="Yekan Bakh" pitchFamily="2" charset="-78"/>
                        </a:rPr>
                        <a:t>Syndication</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 و ساخت گروه سرمایه‌گذاری.</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دسترسی به شبکه </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Partner</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های محلی و بین‌المللی.</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ایجاد دسترسی به فرصت‌هایی که از طریق کانال‌های معمول عمومی نمی‌شوند.</a:t>
                      </a:r>
                    </a:p>
                  </a:txBody>
                  <a:tcPr anchor="ctr">
                    <a:lnR w="6350" cap="flat" cmpd="sng" algn="ctr">
                      <a:solidFill>
                        <a:srgbClr val="F0BE0F"/>
                      </a:solidFill>
                      <a:prstDash val="solid"/>
                      <a:round/>
                      <a:headEnd type="none" w="med" len="med"/>
                      <a:tailEnd type="none" w="med" len="med"/>
                    </a:lnR>
                    <a:solidFill>
                      <a:schemeClr val="bg1">
                        <a:lumMod val="65000"/>
                        <a:alpha val="10000"/>
                      </a:schemeClr>
                    </a:solidFill>
                  </a:tcPr>
                </a:tc>
                <a:tc>
                  <a:txBody>
                    <a:bodyPr/>
                    <a:lstStyle/>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محدودیت دسترسی به فرصت‌های</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Off-market </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 را کاهش می‌دهد.</a:t>
                      </a:r>
                    </a:p>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نیاز به ایجاد شبکه </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Deal</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 از صفر را کاهش می‌دهد.</a:t>
                      </a:r>
                    </a:p>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ریسک ورود به شبکه‌های ناشناخته را کاهش می‌دهد.</a:t>
                      </a:r>
                    </a:p>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تمرکز ریسک روی یک سرمایه‌گذار را از طریق</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Co-investment </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 کاهش می‌دهد.</a:t>
                      </a:r>
                    </a:p>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هزینه و زمان یافتن شریک سرمایه‌گذاری مناسب را کاهش می‌دهد.</a:t>
                      </a:r>
                    </a:p>
                  </a:txBody>
                  <a:tcPr anchor="ctr">
                    <a:lnL w="6350" cap="flat" cmpd="sng" algn="ctr">
                      <a:solidFill>
                        <a:srgbClr val="F0BE0F"/>
                      </a:solidFill>
                      <a:prstDash val="solid"/>
                      <a:round/>
                      <a:headEnd type="none" w="med" len="med"/>
                      <a:tailEnd type="none" w="med" len="med"/>
                    </a:lnL>
                    <a:lnB w="6350" cap="flat" cmpd="sng" algn="ctr">
                      <a:solidFill>
                        <a:srgbClr val="F0BE0F"/>
                      </a:solidFill>
                      <a:prstDash val="solid"/>
                      <a:round/>
                      <a:headEnd type="none" w="med" len="med"/>
                      <a:tailEnd type="none" w="med" len="med"/>
                    </a:lnB>
                    <a:solidFill>
                      <a:srgbClr val="C00000">
                        <a:alpha val="3000"/>
                      </a:srgbClr>
                    </a:solidFill>
                  </a:tcPr>
                </a:tc>
                <a:extLst>
                  <a:ext uri="{0D108BD9-81ED-4DB2-BD59-A6C34878D82A}">
                    <a16:rowId xmlns:a16="http://schemas.microsoft.com/office/drawing/2014/main" val="2675777916"/>
                  </a:ext>
                </a:extLst>
              </a:tr>
              <a:tr h="1721294">
                <a:tc vMerge="1">
                  <a:txBody>
                    <a:bodyPr/>
                    <a:lstStyle/>
                    <a:p>
                      <a:endParaRPr lang="en-US"/>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marL="171450" indent="-171450" algn="r" rtl="1">
                        <a:lnSpc>
                          <a:spcPct val="150000"/>
                        </a:lnSpc>
                        <a:buClr>
                          <a:schemeClr val="accent1"/>
                        </a:buClr>
                        <a:buFont typeface="Arial" panose="020B0604020202020204" pitchFamily="34" charset="0"/>
                        <a:buChar char="•"/>
                      </a:pPr>
                      <a:r>
                        <a:rPr lang="en-US" sz="1000" b="0" kern="1200" dirty="0">
                          <a:solidFill>
                            <a:schemeClr val="tx1">
                              <a:lumMod val="75000"/>
                              <a:lumOff val="25000"/>
                            </a:schemeClr>
                          </a:solidFill>
                          <a:latin typeface="Yekan Bakh" pitchFamily="2" charset="-78"/>
                          <a:ea typeface="Yekan Bakh" pitchFamily="2" charset="-78"/>
                          <a:cs typeface="Yekan Bakh" pitchFamily="2" charset="-78"/>
                        </a:rPr>
                        <a:t> Deal Flow</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اختصاصی ایجاد می‌کند.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امکان دسترسی زودتر به فرصت‌ها را فراهم می‌کند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ظرفیت سرمایه‌گذاری را از طریق</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Co-investment </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 افزایش می‌دهد.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امکان تقسیم ریسک با سرمایه‌گذاران معتبر را فراهم می‌کند.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دسترسی سرمایه‌گذار به شبکه‌ای از صاحبان فرصت و دارایی را توسعه می‌دهد.</a:t>
                      </a:r>
                    </a:p>
                    <a:p>
                      <a:pPr marL="171450" indent="-171450" algn="r" rtl="1">
                        <a:lnSpc>
                          <a:spcPct val="150000"/>
                        </a:lnSpc>
                        <a:buClr>
                          <a:schemeClr val="accent1"/>
                        </a:buClr>
                        <a:buFont typeface="Arial" panose="020B0604020202020204" pitchFamily="34" charset="0"/>
                        <a:buChar char="•"/>
                      </a:pPr>
                      <a:endParaRPr lang="fa-IR" sz="1000" b="0" kern="1200" dirty="0">
                        <a:solidFill>
                          <a:schemeClr val="tx1">
                            <a:lumMod val="75000"/>
                            <a:lumOff val="25000"/>
                          </a:schemeClr>
                        </a:solidFill>
                        <a:latin typeface="Yekan Bakh" pitchFamily="2" charset="-78"/>
                        <a:ea typeface="Yekan Bakh" pitchFamily="2" charset="-78"/>
                        <a:cs typeface="Yekan Bakh" pitchFamily="2" charset="-78"/>
                      </a:endParaRPr>
                    </a:p>
                  </a:txBody>
                  <a:tcPr anchor="ctr">
                    <a:lnL w="6350" cap="flat" cmpd="sng" algn="ctr">
                      <a:solidFill>
                        <a:srgbClr val="F0BE0F"/>
                      </a:solidFill>
                      <a:prstDash val="solid"/>
                      <a:round/>
                      <a:headEnd type="none" w="med" len="med"/>
                      <a:tailEnd type="none" w="med" len="med"/>
                    </a:lnL>
                    <a:lnT w="6350" cap="flat" cmpd="sng" algn="ctr">
                      <a:solidFill>
                        <a:srgbClr val="F0BE0F"/>
                      </a:solidFill>
                      <a:prstDash val="solid"/>
                      <a:round/>
                      <a:headEnd type="none" w="med" len="med"/>
                      <a:tailEnd type="none" w="med" len="med"/>
                    </a:lnT>
                    <a:solidFill>
                      <a:schemeClr val="accent1">
                        <a:alpha val="4000"/>
                      </a:schemeClr>
                    </a:solidFill>
                  </a:tcPr>
                </a:tc>
                <a:extLst>
                  <a:ext uri="{0D108BD9-81ED-4DB2-BD59-A6C34878D82A}">
                    <a16:rowId xmlns:a16="http://schemas.microsoft.com/office/drawing/2014/main" val="1388272330"/>
                  </a:ext>
                </a:extLst>
              </a:tr>
            </a:tbl>
          </a:graphicData>
        </a:graphic>
      </p:graphicFrame>
      <p:sp>
        <p:nvSpPr>
          <p:cNvPr id="9" name="TextBox 8">
            <a:extLst>
              <a:ext uri="{FF2B5EF4-FFF2-40B4-BE49-F238E27FC236}">
                <a16:creationId xmlns:a16="http://schemas.microsoft.com/office/drawing/2014/main" id="{FE41B6ED-EDE2-41F5-C830-B7CECB43B777}"/>
              </a:ext>
            </a:extLst>
          </p:cNvPr>
          <p:cNvSpPr txBox="1"/>
          <p:nvPr/>
        </p:nvSpPr>
        <p:spPr>
          <a:xfrm>
            <a:off x="9378405" y="1895264"/>
            <a:ext cx="1513266" cy="369332"/>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b="1" i="0" u="none" strike="noStrike" kern="1200" cap="none" spc="0" normalizeH="0" baseline="0" noProof="0" dirty="0">
                <a:ln>
                  <a:noFill/>
                </a:ln>
                <a:solidFill>
                  <a:srgbClr val="C00000"/>
                </a:solidFill>
                <a:effectLst/>
                <a:uLnTx/>
                <a:uFillTx/>
                <a:latin typeface="Yekan Bakh" pitchFamily="2" charset="-78"/>
                <a:ea typeface="Yekan Bakh" pitchFamily="2" charset="-78"/>
                <a:cs typeface="Yekan Bakh" pitchFamily="2" charset="-78"/>
              </a:rPr>
              <a:t>دردسرگاه‌ها</a:t>
            </a:r>
          </a:p>
        </p:txBody>
      </p:sp>
      <p:sp>
        <p:nvSpPr>
          <p:cNvPr id="10" name="TextBox 9">
            <a:extLst>
              <a:ext uri="{FF2B5EF4-FFF2-40B4-BE49-F238E27FC236}">
                <a16:creationId xmlns:a16="http://schemas.microsoft.com/office/drawing/2014/main" id="{30E69D54-1D3E-EA22-9520-3DB1B7D602DA}"/>
              </a:ext>
            </a:extLst>
          </p:cNvPr>
          <p:cNvSpPr txBox="1"/>
          <p:nvPr/>
        </p:nvSpPr>
        <p:spPr>
          <a:xfrm>
            <a:off x="9378405" y="5306160"/>
            <a:ext cx="1513266" cy="369332"/>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b="1" i="0" u="none" strike="noStrike" kern="1200" cap="none" spc="0" normalizeH="0" baseline="0" noProof="0" dirty="0">
                <a:ln>
                  <a:noFill/>
                </a:ln>
                <a:solidFill>
                  <a:schemeClr val="accent1"/>
                </a:solidFill>
                <a:effectLst/>
                <a:uLnTx/>
                <a:uFillTx/>
                <a:latin typeface="Yekan Bakh" pitchFamily="2" charset="-78"/>
                <a:ea typeface="Yekan Bakh" pitchFamily="2" charset="-78"/>
                <a:cs typeface="Yekan Bakh" pitchFamily="2" charset="-78"/>
              </a:rPr>
              <a:t>منفعت‌سازها</a:t>
            </a:r>
          </a:p>
        </p:txBody>
      </p:sp>
      <p:sp>
        <p:nvSpPr>
          <p:cNvPr id="11" name="TextBox 10">
            <a:extLst>
              <a:ext uri="{FF2B5EF4-FFF2-40B4-BE49-F238E27FC236}">
                <a16:creationId xmlns:a16="http://schemas.microsoft.com/office/drawing/2014/main" id="{532CE25F-EF21-4365-A0AD-BFAD719CF648}"/>
              </a:ext>
            </a:extLst>
          </p:cNvPr>
          <p:cNvSpPr txBox="1"/>
          <p:nvPr/>
        </p:nvSpPr>
        <p:spPr>
          <a:xfrm>
            <a:off x="827835" y="1876792"/>
            <a:ext cx="1513266" cy="369332"/>
          </a:xfrm>
          <a:prstGeom prst="rect">
            <a:avLst/>
          </a:prstGeom>
          <a:noFill/>
        </p:spPr>
        <p:txBody>
          <a:bodyPr wrap="square">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fa-IR" b="1" i="0" u="none" strike="noStrike" kern="1200" cap="none" spc="0" normalizeH="0" baseline="0" noProof="0" dirty="0">
                <a:ln>
                  <a:noFill/>
                </a:ln>
                <a:solidFill>
                  <a:schemeClr val="tx1">
                    <a:lumMod val="50000"/>
                    <a:lumOff val="50000"/>
                  </a:schemeClr>
                </a:solidFill>
                <a:effectLst/>
                <a:uLnTx/>
                <a:uFillTx/>
                <a:latin typeface="Yekan Bakh" pitchFamily="2" charset="-78"/>
                <a:ea typeface="Yekan Bakh" pitchFamily="2" charset="-78"/>
                <a:cs typeface="Yekan Bakh" pitchFamily="2" charset="-78"/>
              </a:rPr>
              <a:t>محصولات</a:t>
            </a:r>
          </a:p>
        </p:txBody>
      </p:sp>
    </p:spTree>
    <p:extLst>
      <p:ext uri="{BB962C8B-B14F-4D97-AF65-F5344CB8AC3E}">
        <p14:creationId xmlns:p14="http://schemas.microsoft.com/office/powerpoint/2010/main" val="208751885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0F8FAE-6870-726E-3001-0245A50E6E1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B750BA2-3685-F744-EADF-020FFA74455A}"/>
              </a:ext>
            </a:extLst>
          </p:cNvPr>
          <p:cNvSpPr>
            <a:spLocks noGrp="1"/>
          </p:cNvSpPr>
          <p:nvPr>
            <p:ph type="body" sz="quarter" idx="10"/>
          </p:nvPr>
        </p:nvSpPr>
        <p:spPr>
          <a:xfrm>
            <a:off x="4753689" y="256653"/>
            <a:ext cx="6489884" cy="250047"/>
          </a:xfrm>
        </p:spPr>
        <p:txBody>
          <a:bodyPr/>
          <a:lstStyle/>
          <a:p>
            <a:r>
              <a:rPr lang="fa-IR"/>
              <a:t>نقشه ارزش (محصولات، دردسرکاه‌ها و منفعت‌سازها) بر اساس چهار محرک خلق ارزش </a:t>
            </a:r>
          </a:p>
        </p:txBody>
      </p:sp>
      <p:sp>
        <p:nvSpPr>
          <p:cNvPr id="3" name="Text Placeholder 2">
            <a:extLst>
              <a:ext uri="{FF2B5EF4-FFF2-40B4-BE49-F238E27FC236}">
                <a16:creationId xmlns:a16="http://schemas.microsoft.com/office/drawing/2014/main" id="{9A81865C-4E13-F7B7-9F21-85BD6EA55F93}"/>
              </a:ext>
            </a:extLst>
          </p:cNvPr>
          <p:cNvSpPr>
            <a:spLocks noGrp="1"/>
          </p:cNvSpPr>
          <p:nvPr>
            <p:ph type="body" sz="quarter" idx="12"/>
          </p:nvPr>
        </p:nvSpPr>
        <p:spPr/>
        <p:txBody>
          <a:bodyPr/>
          <a:lstStyle/>
          <a:p>
            <a:r>
              <a:rPr lang="fa-IR" dirty="0"/>
              <a:t>سرمایه‌گذار </a:t>
            </a:r>
          </a:p>
        </p:txBody>
      </p:sp>
      <p:sp>
        <p:nvSpPr>
          <p:cNvPr id="4" name="Rectangle: Rounded Corners 3">
            <a:extLst>
              <a:ext uri="{FF2B5EF4-FFF2-40B4-BE49-F238E27FC236}">
                <a16:creationId xmlns:a16="http://schemas.microsoft.com/office/drawing/2014/main" id="{06E84E96-C3D5-930E-0685-7B54BC089393}"/>
              </a:ext>
            </a:extLst>
          </p:cNvPr>
          <p:cNvSpPr/>
          <p:nvPr/>
        </p:nvSpPr>
        <p:spPr>
          <a:xfrm>
            <a:off x="8595360" y="1282807"/>
            <a:ext cx="2296311" cy="363736"/>
          </a:xfrm>
          <a:prstGeom prst="roundRect">
            <a:avLst/>
          </a:prstGeom>
          <a:solidFill>
            <a:srgbClr val="004D80">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هوشمندی و اعتبارسنجی فرصت</a:t>
            </a:r>
          </a:p>
        </p:txBody>
      </p:sp>
      <p:sp>
        <p:nvSpPr>
          <p:cNvPr id="5" name="Rectangle: Rounded Corners 4">
            <a:extLst>
              <a:ext uri="{FF2B5EF4-FFF2-40B4-BE49-F238E27FC236}">
                <a16:creationId xmlns:a16="http://schemas.microsoft.com/office/drawing/2014/main" id="{F4990A08-E348-14AA-9DD1-D0DBBEEA147B}"/>
              </a:ext>
            </a:extLst>
          </p:cNvPr>
          <p:cNvSpPr/>
          <p:nvPr/>
        </p:nvSpPr>
        <p:spPr>
          <a:xfrm>
            <a:off x="6000699" y="1282807"/>
            <a:ext cx="2296311" cy="363736"/>
          </a:xfrm>
          <a:prstGeom prst="roundRect">
            <a:avLst/>
          </a:prstGeom>
          <a:solidFill>
            <a:srgbClr val="004D80">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ایجاد دسترسی مورداعتماد </a:t>
            </a:r>
          </a:p>
        </p:txBody>
      </p:sp>
      <p:sp>
        <p:nvSpPr>
          <p:cNvPr id="6" name="Rectangle: Rounded Corners 5">
            <a:extLst>
              <a:ext uri="{FF2B5EF4-FFF2-40B4-BE49-F238E27FC236}">
                <a16:creationId xmlns:a16="http://schemas.microsoft.com/office/drawing/2014/main" id="{F1A9CEDD-EFAF-717E-CBD2-64A423CEB462}"/>
              </a:ext>
            </a:extLst>
          </p:cNvPr>
          <p:cNvSpPr/>
          <p:nvPr/>
        </p:nvSpPr>
        <p:spPr>
          <a:xfrm>
            <a:off x="3406039" y="1282807"/>
            <a:ext cx="2296311" cy="363736"/>
          </a:xfrm>
          <a:prstGeom prst="roundRect">
            <a:avLst/>
          </a:prstGeom>
          <a:solidFill>
            <a:srgbClr val="F0BE0F">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تأمین و فعال‌سازی منابع و قابلیت‌ها</a:t>
            </a:r>
          </a:p>
        </p:txBody>
      </p:sp>
      <p:sp>
        <p:nvSpPr>
          <p:cNvPr id="7" name="Rectangle: Rounded Corners 6">
            <a:extLst>
              <a:ext uri="{FF2B5EF4-FFF2-40B4-BE49-F238E27FC236}">
                <a16:creationId xmlns:a16="http://schemas.microsoft.com/office/drawing/2014/main" id="{EABD7D8C-5940-207E-9200-923A5EAF008D}"/>
              </a:ext>
            </a:extLst>
          </p:cNvPr>
          <p:cNvSpPr/>
          <p:nvPr/>
        </p:nvSpPr>
        <p:spPr>
          <a:xfrm>
            <a:off x="811379" y="1282807"/>
            <a:ext cx="2296311" cy="363736"/>
          </a:xfrm>
          <a:prstGeom prst="roundRect">
            <a:avLst/>
          </a:prstGeom>
          <a:solidFill>
            <a:srgbClr val="004D80">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هماهنگ‌سازی و تبدیل فرصت به نتیجه</a:t>
            </a:r>
          </a:p>
        </p:txBody>
      </p:sp>
      <p:graphicFrame>
        <p:nvGraphicFramePr>
          <p:cNvPr id="8" name="Table 7">
            <a:extLst>
              <a:ext uri="{FF2B5EF4-FFF2-40B4-BE49-F238E27FC236}">
                <a16:creationId xmlns:a16="http://schemas.microsoft.com/office/drawing/2014/main" id="{AA0FCA08-4CF5-41B0-DAE1-00DED52DFD0F}"/>
              </a:ext>
            </a:extLst>
          </p:cNvPr>
          <p:cNvGraphicFramePr>
            <a:graphicFrameLocks noGrp="1"/>
          </p:cNvGraphicFramePr>
          <p:nvPr>
            <p:extLst>
              <p:ext uri="{D42A27DB-BD31-4B8C-83A1-F6EECF244321}">
                <p14:modId xmlns:p14="http://schemas.microsoft.com/office/powerpoint/2010/main" val="970843431"/>
              </p:ext>
            </p:extLst>
          </p:nvPr>
        </p:nvGraphicFramePr>
        <p:xfrm>
          <a:off x="811379" y="2098582"/>
          <a:ext cx="10080292" cy="3442588"/>
        </p:xfrm>
        <a:graphic>
          <a:graphicData uri="http://schemas.openxmlformats.org/drawingml/2006/table">
            <a:tbl>
              <a:tblPr firstRow="1" bandRow="1">
                <a:tableStyleId>{5C22544A-7EE6-4342-B048-85BDC9FD1C3A}</a:tableStyleId>
              </a:tblPr>
              <a:tblGrid>
                <a:gridCol w="5040146">
                  <a:extLst>
                    <a:ext uri="{9D8B030D-6E8A-4147-A177-3AD203B41FA5}">
                      <a16:colId xmlns:a16="http://schemas.microsoft.com/office/drawing/2014/main" val="1416290991"/>
                    </a:ext>
                  </a:extLst>
                </a:gridCol>
                <a:gridCol w="5040146">
                  <a:extLst>
                    <a:ext uri="{9D8B030D-6E8A-4147-A177-3AD203B41FA5}">
                      <a16:colId xmlns:a16="http://schemas.microsoft.com/office/drawing/2014/main" val="241493819"/>
                    </a:ext>
                  </a:extLst>
                </a:gridCol>
              </a:tblGrid>
              <a:tr h="1721294">
                <a:tc rowSpan="2">
                  <a:txBody>
                    <a:bodyPr/>
                    <a:lstStyle/>
                    <a:p>
                      <a:pPr marL="171450" indent="-171450" algn="r" rtl="1">
                        <a:lnSpc>
                          <a:spcPct val="150000"/>
                        </a:lnSpc>
                        <a:buClr>
                          <a:schemeClr val="bg1">
                            <a:lumMod val="75000"/>
                          </a:schemeClr>
                        </a:buClr>
                        <a:buFont typeface="Arial" panose="020B0604020202020204" pitchFamily="34" charset="0"/>
                        <a:buChar char="•"/>
                      </a:pPr>
                      <a:r>
                        <a:rPr lang="en-US" sz="1000" b="0" kern="1200" dirty="0">
                          <a:solidFill>
                            <a:schemeClr val="tx1">
                              <a:lumMod val="75000"/>
                              <a:lumOff val="25000"/>
                            </a:schemeClr>
                          </a:solidFill>
                          <a:latin typeface="Yekan Bakh" pitchFamily="2" charset="-78"/>
                          <a:ea typeface="Yekan Bakh" pitchFamily="2" charset="-78"/>
                          <a:cs typeface="Yekan Bakh" pitchFamily="2" charset="-78"/>
                        </a:rPr>
                        <a:t>Investment Structuring</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ساختاردهی حقوقی و مالی سرمایه‌گذاری.</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خدمات </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Compliance</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 و بررسی منشأ وجوه.</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خدمات مالی، حسابرسی و کنترل.</a:t>
                      </a:r>
                    </a:p>
                    <a:p>
                      <a:pPr marL="171450" indent="-171450" algn="r" rtl="1">
                        <a:lnSpc>
                          <a:spcPct val="150000"/>
                        </a:lnSpc>
                        <a:buClr>
                          <a:schemeClr val="bg1">
                            <a:lumMod val="75000"/>
                          </a:schemeClr>
                        </a:buClr>
                        <a:buFont typeface="Arial" panose="020B0604020202020204" pitchFamily="34" charset="0"/>
                        <a:buChar char="•"/>
                      </a:pPr>
                      <a:r>
                        <a:rPr lang="en-US" sz="1000" b="0" kern="1200" dirty="0">
                          <a:solidFill>
                            <a:schemeClr val="tx1">
                              <a:lumMod val="75000"/>
                              <a:lumOff val="25000"/>
                            </a:schemeClr>
                          </a:solidFill>
                          <a:latin typeface="Yekan Bakh" pitchFamily="2" charset="-78"/>
                          <a:ea typeface="Yekan Bakh" pitchFamily="2" charset="-78"/>
                          <a:cs typeface="Yekan Bakh" pitchFamily="2" charset="-78"/>
                        </a:rPr>
                        <a:t>Portfolio Monitoring</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خدمات مدیریت سرمایه و تخصیص منابع.</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تأمین و سازمان‌دهی سرمایه موردنیاز معامله.</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دسترسی به </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Partner</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های تخصصی برای اجرای سرمایه‌گذاری.</a:t>
                      </a:r>
                    </a:p>
                  </a:txBody>
                  <a:tcPr anchor="ctr">
                    <a:lnR w="6350" cap="flat" cmpd="sng" algn="ctr">
                      <a:solidFill>
                        <a:srgbClr val="F0BE0F"/>
                      </a:solidFill>
                      <a:prstDash val="solid"/>
                      <a:round/>
                      <a:headEnd type="none" w="med" len="med"/>
                      <a:tailEnd type="none" w="med" len="med"/>
                    </a:lnR>
                    <a:solidFill>
                      <a:schemeClr val="bg1">
                        <a:lumMod val="65000"/>
                        <a:alpha val="10000"/>
                      </a:schemeClr>
                    </a:solidFill>
                  </a:tcPr>
                </a:tc>
                <a:tc>
                  <a:txBody>
                    <a:bodyPr/>
                    <a:lstStyle/>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پیچیدگی حقوقی و عملیاتی سرمایه‌گذاری فرامرزی را کاهش می‌دهد.</a:t>
                      </a:r>
                    </a:p>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بار مدیریت مستقیم سرمایه‌گذاری را کاهش می‌دهد.</a:t>
                      </a:r>
                    </a:p>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ریسک‌های قانونی و شهرتی ناشی از منشأ نامشخص وجوه را کاهش می‌دهد.</a:t>
                      </a:r>
                    </a:p>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شکاف تخصصی سرمایه‌گذار در بازار هدف را پوشش می‌دهد.</a:t>
                      </a:r>
                    </a:p>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ریسک عدم‌پایش مناسب سرمایه پس از</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Investment </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 را کاهش می‌دهد.</a:t>
                      </a:r>
                    </a:p>
                  </a:txBody>
                  <a:tcPr anchor="ctr">
                    <a:lnL w="6350" cap="flat" cmpd="sng" algn="ctr">
                      <a:solidFill>
                        <a:srgbClr val="F0BE0F"/>
                      </a:solidFill>
                      <a:prstDash val="solid"/>
                      <a:round/>
                      <a:headEnd type="none" w="med" len="med"/>
                      <a:tailEnd type="none" w="med" len="med"/>
                    </a:lnL>
                    <a:lnB w="6350" cap="flat" cmpd="sng" algn="ctr">
                      <a:solidFill>
                        <a:srgbClr val="F0BE0F"/>
                      </a:solidFill>
                      <a:prstDash val="solid"/>
                      <a:round/>
                      <a:headEnd type="none" w="med" len="med"/>
                      <a:tailEnd type="none" w="med" len="med"/>
                    </a:lnB>
                    <a:solidFill>
                      <a:srgbClr val="C00000">
                        <a:alpha val="3000"/>
                      </a:srgbClr>
                    </a:solidFill>
                  </a:tcPr>
                </a:tc>
                <a:extLst>
                  <a:ext uri="{0D108BD9-81ED-4DB2-BD59-A6C34878D82A}">
                    <a16:rowId xmlns:a16="http://schemas.microsoft.com/office/drawing/2014/main" val="2675777916"/>
                  </a:ext>
                </a:extLst>
              </a:tr>
              <a:tr h="1721294">
                <a:tc vMerge="1">
                  <a:txBody>
                    <a:bodyPr/>
                    <a:lstStyle/>
                    <a:p>
                      <a:endParaRPr lang="en-US"/>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سرمایه‌گذاری را از نظر حقوقی و عملیاتی قابل‌اجرا می‌کند.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امکان تخصیص سرمایه به فرصت‌هایی خارج از توان اجرایی مستقیم سرمایه‌گذار را ایجاد می‌کند.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کنترل و شفافیت نسبت به سرمایه‌گذاری را افزایش می‌دهد.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ظرفیت سرمایه‌گذار برای ورود به فرصت‌های جدید را افزایش می‌دهد.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امکان مدیریت حرفه‌ای‌تر پرتفوی و منابع را فراهم می‌کند.</a:t>
                      </a:r>
                    </a:p>
                    <a:p>
                      <a:pPr marL="171450" indent="-171450" algn="r" rtl="1">
                        <a:lnSpc>
                          <a:spcPct val="150000"/>
                        </a:lnSpc>
                        <a:buClr>
                          <a:schemeClr val="accent1"/>
                        </a:buClr>
                        <a:buFont typeface="Arial" panose="020B0604020202020204" pitchFamily="34" charset="0"/>
                        <a:buChar char="•"/>
                      </a:pPr>
                      <a:endParaRPr lang="fa-IR" sz="1000" b="0" kern="1200" dirty="0">
                        <a:solidFill>
                          <a:schemeClr val="tx1">
                            <a:lumMod val="75000"/>
                            <a:lumOff val="25000"/>
                          </a:schemeClr>
                        </a:solidFill>
                        <a:latin typeface="Yekan Bakh" pitchFamily="2" charset="-78"/>
                        <a:ea typeface="Yekan Bakh" pitchFamily="2" charset="-78"/>
                        <a:cs typeface="Yekan Bakh" pitchFamily="2" charset="-78"/>
                      </a:endParaRPr>
                    </a:p>
                  </a:txBody>
                  <a:tcPr anchor="ctr">
                    <a:lnL w="6350" cap="flat" cmpd="sng" algn="ctr">
                      <a:solidFill>
                        <a:srgbClr val="F0BE0F"/>
                      </a:solidFill>
                      <a:prstDash val="solid"/>
                      <a:round/>
                      <a:headEnd type="none" w="med" len="med"/>
                      <a:tailEnd type="none" w="med" len="med"/>
                    </a:lnL>
                    <a:lnT w="6350" cap="flat" cmpd="sng" algn="ctr">
                      <a:solidFill>
                        <a:srgbClr val="F0BE0F"/>
                      </a:solidFill>
                      <a:prstDash val="solid"/>
                      <a:round/>
                      <a:headEnd type="none" w="med" len="med"/>
                      <a:tailEnd type="none" w="med" len="med"/>
                    </a:lnT>
                    <a:solidFill>
                      <a:schemeClr val="accent1">
                        <a:alpha val="4000"/>
                      </a:schemeClr>
                    </a:solidFill>
                  </a:tcPr>
                </a:tc>
                <a:extLst>
                  <a:ext uri="{0D108BD9-81ED-4DB2-BD59-A6C34878D82A}">
                    <a16:rowId xmlns:a16="http://schemas.microsoft.com/office/drawing/2014/main" val="1388272330"/>
                  </a:ext>
                </a:extLst>
              </a:tr>
            </a:tbl>
          </a:graphicData>
        </a:graphic>
      </p:graphicFrame>
      <p:sp>
        <p:nvSpPr>
          <p:cNvPr id="9" name="TextBox 8">
            <a:extLst>
              <a:ext uri="{FF2B5EF4-FFF2-40B4-BE49-F238E27FC236}">
                <a16:creationId xmlns:a16="http://schemas.microsoft.com/office/drawing/2014/main" id="{6ADD8723-7B34-3645-4A87-B5F1E36F2291}"/>
              </a:ext>
            </a:extLst>
          </p:cNvPr>
          <p:cNvSpPr txBox="1"/>
          <p:nvPr/>
        </p:nvSpPr>
        <p:spPr>
          <a:xfrm>
            <a:off x="9378405" y="1895264"/>
            <a:ext cx="1513266" cy="369332"/>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b="1" i="0" u="none" strike="noStrike" kern="1200" cap="none" spc="0" normalizeH="0" baseline="0" noProof="0" dirty="0">
                <a:ln>
                  <a:noFill/>
                </a:ln>
                <a:solidFill>
                  <a:srgbClr val="C00000"/>
                </a:solidFill>
                <a:effectLst/>
                <a:uLnTx/>
                <a:uFillTx/>
                <a:latin typeface="Yekan Bakh" pitchFamily="2" charset="-78"/>
                <a:ea typeface="Yekan Bakh" pitchFamily="2" charset="-78"/>
                <a:cs typeface="Yekan Bakh" pitchFamily="2" charset="-78"/>
              </a:rPr>
              <a:t>دردسرگاه‌ها</a:t>
            </a:r>
          </a:p>
        </p:txBody>
      </p:sp>
      <p:sp>
        <p:nvSpPr>
          <p:cNvPr id="10" name="TextBox 9">
            <a:extLst>
              <a:ext uri="{FF2B5EF4-FFF2-40B4-BE49-F238E27FC236}">
                <a16:creationId xmlns:a16="http://schemas.microsoft.com/office/drawing/2014/main" id="{BFD83DED-2A9E-ABB7-FCE1-0A53AD0DC38F}"/>
              </a:ext>
            </a:extLst>
          </p:cNvPr>
          <p:cNvSpPr txBox="1"/>
          <p:nvPr/>
        </p:nvSpPr>
        <p:spPr>
          <a:xfrm>
            <a:off x="9378405" y="5306160"/>
            <a:ext cx="1513266" cy="369332"/>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b="1" i="0" u="none" strike="noStrike" kern="1200" cap="none" spc="0" normalizeH="0" baseline="0" noProof="0" dirty="0">
                <a:ln>
                  <a:noFill/>
                </a:ln>
                <a:solidFill>
                  <a:schemeClr val="accent1"/>
                </a:solidFill>
                <a:effectLst/>
                <a:uLnTx/>
                <a:uFillTx/>
                <a:latin typeface="Yekan Bakh" pitchFamily="2" charset="-78"/>
                <a:ea typeface="Yekan Bakh" pitchFamily="2" charset="-78"/>
                <a:cs typeface="Yekan Bakh" pitchFamily="2" charset="-78"/>
              </a:rPr>
              <a:t>منفعت‌سازها</a:t>
            </a:r>
          </a:p>
        </p:txBody>
      </p:sp>
      <p:sp>
        <p:nvSpPr>
          <p:cNvPr id="11" name="TextBox 10">
            <a:extLst>
              <a:ext uri="{FF2B5EF4-FFF2-40B4-BE49-F238E27FC236}">
                <a16:creationId xmlns:a16="http://schemas.microsoft.com/office/drawing/2014/main" id="{9E5F33E4-6E40-0B98-4C9A-85599C30FA6E}"/>
              </a:ext>
            </a:extLst>
          </p:cNvPr>
          <p:cNvSpPr txBox="1"/>
          <p:nvPr/>
        </p:nvSpPr>
        <p:spPr>
          <a:xfrm>
            <a:off x="827835" y="1876792"/>
            <a:ext cx="1513266" cy="369332"/>
          </a:xfrm>
          <a:prstGeom prst="rect">
            <a:avLst/>
          </a:prstGeom>
          <a:noFill/>
        </p:spPr>
        <p:txBody>
          <a:bodyPr wrap="square">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fa-IR" b="1" i="0" u="none" strike="noStrike" kern="1200" cap="none" spc="0" normalizeH="0" baseline="0" noProof="0" dirty="0">
                <a:ln>
                  <a:noFill/>
                </a:ln>
                <a:solidFill>
                  <a:schemeClr val="tx1">
                    <a:lumMod val="50000"/>
                    <a:lumOff val="50000"/>
                  </a:schemeClr>
                </a:solidFill>
                <a:effectLst/>
                <a:uLnTx/>
                <a:uFillTx/>
                <a:latin typeface="Yekan Bakh" pitchFamily="2" charset="-78"/>
                <a:ea typeface="Yekan Bakh" pitchFamily="2" charset="-78"/>
                <a:cs typeface="Yekan Bakh" pitchFamily="2" charset="-78"/>
              </a:rPr>
              <a:t>محصولات</a:t>
            </a:r>
          </a:p>
        </p:txBody>
      </p:sp>
    </p:spTree>
    <p:extLst>
      <p:ext uri="{BB962C8B-B14F-4D97-AF65-F5344CB8AC3E}">
        <p14:creationId xmlns:p14="http://schemas.microsoft.com/office/powerpoint/2010/main" val="43502032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140D4-AA69-23C1-F620-9957451F98C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E7DAEFAD-5080-E6B5-39E8-3441D4677208}"/>
              </a:ext>
            </a:extLst>
          </p:cNvPr>
          <p:cNvSpPr>
            <a:spLocks noGrp="1"/>
          </p:cNvSpPr>
          <p:nvPr>
            <p:ph type="body" sz="quarter" idx="10"/>
          </p:nvPr>
        </p:nvSpPr>
        <p:spPr>
          <a:xfrm>
            <a:off x="4753689" y="256653"/>
            <a:ext cx="6489884" cy="250047"/>
          </a:xfrm>
        </p:spPr>
        <p:txBody>
          <a:bodyPr/>
          <a:lstStyle/>
          <a:p>
            <a:r>
              <a:rPr lang="fa-IR"/>
              <a:t>نقشه ارزش (محصولات، دردسرکاه‌ها و منفعت‌سازها) بر اساس چهار محرک خلق ارزش </a:t>
            </a:r>
          </a:p>
        </p:txBody>
      </p:sp>
      <p:sp>
        <p:nvSpPr>
          <p:cNvPr id="3" name="Text Placeholder 2">
            <a:extLst>
              <a:ext uri="{FF2B5EF4-FFF2-40B4-BE49-F238E27FC236}">
                <a16:creationId xmlns:a16="http://schemas.microsoft.com/office/drawing/2014/main" id="{CC38BD16-7436-6BFA-B626-433065C91B15}"/>
              </a:ext>
            </a:extLst>
          </p:cNvPr>
          <p:cNvSpPr>
            <a:spLocks noGrp="1"/>
          </p:cNvSpPr>
          <p:nvPr>
            <p:ph type="body" sz="quarter" idx="12"/>
          </p:nvPr>
        </p:nvSpPr>
        <p:spPr/>
        <p:txBody>
          <a:bodyPr/>
          <a:lstStyle/>
          <a:p>
            <a:r>
              <a:rPr lang="fa-IR" dirty="0"/>
              <a:t>سرمایه‌گذار </a:t>
            </a:r>
          </a:p>
        </p:txBody>
      </p:sp>
      <p:sp>
        <p:nvSpPr>
          <p:cNvPr id="4" name="Rectangle: Rounded Corners 3">
            <a:extLst>
              <a:ext uri="{FF2B5EF4-FFF2-40B4-BE49-F238E27FC236}">
                <a16:creationId xmlns:a16="http://schemas.microsoft.com/office/drawing/2014/main" id="{8B7D1CBE-457B-3D1A-C102-A4600B912E79}"/>
              </a:ext>
            </a:extLst>
          </p:cNvPr>
          <p:cNvSpPr/>
          <p:nvPr/>
        </p:nvSpPr>
        <p:spPr>
          <a:xfrm>
            <a:off x="8595360" y="1282807"/>
            <a:ext cx="2296311" cy="363736"/>
          </a:xfrm>
          <a:prstGeom prst="roundRect">
            <a:avLst/>
          </a:prstGeom>
          <a:solidFill>
            <a:srgbClr val="004D80">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هوشمندی و اعتبارسنجی فرصت</a:t>
            </a:r>
          </a:p>
        </p:txBody>
      </p:sp>
      <p:sp>
        <p:nvSpPr>
          <p:cNvPr id="5" name="Rectangle: Rounded Corners 4">
            <a:extLst>
              <a:ext uri="{FF2B5EF4-FFF2-40B4-BE49-F238E27FC236}">
                <a16:creationId xmlns:a16="http://schemas.microsoft.com/office/drawing/2014/main" id="{4E313E97-FDB3-B6B3-D2B2-66B5B1889AD9}"/>
              </a:ext>
            </a:extLst>
          </p:cNvPr>
          <p:cNvSpPr/>
          <p:nvPr/>
        </p:nvSpPr>
        <p:spPr>
          <a:xfrm>
            <a:off x="6000699" y="1282807"/>
            <a:ext cx="2296311" cy="363736"/>
          </a:xfrm>
          <a:prstGeom prst="roundRect">
            <a:avLst/>
          </a:prstGeom>
          <a:solidFill>
            <a:srgbClr val="004D80">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ایجاد دسترسی مورداعتماد </a:t>
            </a:r>
          </a:p>
        </p:txBody>
      </p:sp>
      <p:sp>
        <p:nvSpPr>
          <p:cNvPr id="6" name="Rectangle: Rounded Corners 5">
            <a:extLst>
              <a:ext uri="{FF2B5EF4-FFF2-40B4-BE49-F238E27FC236}">
                <a16:creationId xmlns:a16="http://schemas.microsoft.com/office/drawing/2014/main" id="{7BC01700-C4E2-F2B4-1F93-5C0F1BFEA40F}"/>
              </a:ext>
            </a:extLst>
          </p:cNvPr>
          <p:cNvSpPr/>
          <p:nvPr/>
        </p:nvSpPr>
        <p:spPr>
          <a:xfrm>
            <a:off x="3406039" y="1282807"/>
            <a:ext cx="2296311" cy="363736"/>
          </a:xfrm>
          <a:prstGeom prst="roundRect">
            <a:avLst/>
          </a:prstGeom>
          <a:solidFill>
            <a:srgbClr val="004D80">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تأمین و فعال‌سازی منابع و قابلیت‌ها</a:t>
            </a:r>
          </a:p>
        </p:txBody>
      </p:sp>
      <p:sp>
        <p:nvSpPr>
          <p:cNvPr id="7" name="Rectangle: Rounded Corners 6">
            <a:extLst>
              <a:ext uri="{FF2B5EF4-FFF2-40B4-BE49-F238E27FC236}">
                <a16:creationId xmlns:a16="http://schemas.microsoft.com/office/drawing/2014/main" id="{3E472A75-CA87-D9E2-3F64-DB1A07FE290B}"/>
              </a:ext>
            </a:extLst>
          </p:cNvPr>
          <p:cNvSpPr/>
          <p:nvPr/>
        </p:nvSpPr>
        <p:spPr>
          <a:xfrm>
            <a:off x="811379" y="1282807"/>
            <a:ext cx="2296311" cy="363736"/>
          </a:xfrm>
          <a:prstGeom prst="roundRect">
            <a:avLst/>
          </a:prstGeom>
          <a:solidFill>
            <a:srgbClr val="F0BE0F">
              <a:alpha val="9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هماهنگ‌سازی و تبدیل فرصت به نتیجه</a:t>
            </a:r>
          </a:p>
        </p:txBody>
      </p:sp>
      <p:graphicFrame>
        <p:nvGraphicFramePr>
          <p:cNvPr id="8" name="Table 7">
            <a:extLst>
              <a:ext uri="{FF2B5EF4-FFF2-40B4-BE49-F238E27FC236}">
                <a16:creationId xmlns:a16="http://schemas.microsoft.com/office/drawing/2014/main" id="{44EB7A16-1939-8A22-49ED-1EC77B7D3736}"/>
              </a:ext>
            </a:extLst>
          </p:cNvPr>
          <p:cNvGraphicFramePr>
            <a:graphicFrameLocks noGrp="1"/>
          </p:cNvGraphicFramePr>
          <p:nvPr>
            <p:extLst>
              <p:ext uri="{D42A27DB-BD31-4B8C-83A1-F6EECF244321}">
                <p14:modId xmlns:p14="http://schemas.microsoft.com/office/powerpoint/2010/main" val="2201543261"/>
              </p:ext>
            </p:extLst>
          </p:nvPr>
        </p:nvGraphicFramePr>
        <p:xfrm>
          <a:off x="811379" y="2098582"/>
          <a:ext cx="10080292" cy="3442588"/>
        </p:xfrm>
        <a:graphic>
          <a:graphicData uri="http://schemas.openxmlformats.org/drawingml/2006/table">
            <a:tbl>
              <a:tblPr firstRow="1" bandRow="1">
                <a:tableStyleId>{5C22544A-7EE6-4342-B048-85BDC9FD1C3A}</a:tableStyleId>
              </a:tblPr>
              <a:tblGrid>
                <a:gridCol w="5040146">
                  <a:extLst>
                    <a:ext uri="{9D8B030D-6E8A-4147-A177-3AD203B41FA5}">
                      <a16:colId xmlns:a16="http://schemas.microsoft.com/office/drawing/2014/main" val="1416290991"/>
                    </a:ext>
                  </a:extLst>
                </a:gridCol>
                <a:gridCol w="5040146">
                  <a:extLst>
                    <a:ext uri="{9D8B030D-6E8A-4147-A177-3AD203B41FA5}">
                      <a16:colId xmlns:a16="http://schemas.microsoft.com/office/drawing/2014/main" val="241493819"/>
                    </a:ext>
                  </a:extLst>
                </a:gridCol>
              </a:tblGrid>
              <a:tr h="1721294">
                <a:tc rowSpan="2">
                  <a:txBody>
                    <a:bodyPr/>
                    <a:lstStyle/>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مدیریت </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End-to-End</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 سرمایه‌گذاری از </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Sourcing</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 تا </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Exit</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هماهنگی </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Due Diligence، Structuring</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 و </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Investment</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مدیریت اجرای سرمایه‌گذاری.</a:t>
                      </a:r>
                    </a:p>
                    <a:p>
                      <a:pPr marL="171450" indent="-171450" algn="r" rtl="1">
                        <a:lnSpc>
                          <a:spcPct val="150000"/>
                        </a:lnSpc>
                        <a:buClr>
                          <a:schemeClr val="bg1">
                            <a:lumMod val="75000"/>
                          </a:schemeClr>
                        </a:buClr>
                        <a:buFont typeface="Arial" panose="020B0604020202020204" pitchFamily="34" charset="0"/>
                        <a:buChar char="•"/>
                      </a:pPr>
                      <a:r>
                        <a:rPr lang="en-US" sz="1000" b="0" kern="1200" dirty="0">
                          <a:solidFill>
                            <a:schemeClr val="tx1">
                              <a:lumMod val="75000"/>
                              <a:lumOff val="25000"/>
                            </a:schemeClr>
                          </a:solidFill>
                          <a:latin typeface="Yekan Bakh" pitchFamily="2" charset="-78"/>
                          <a:ea typeface="Yekan Bakh" pitchFamily="2" charset="-78"/>
                          <a:cs typeface="Yekan Bakh" pitchFamily="2" charset="-78"/>
                        </a:rPr>
                        <a:t>Portfolio Monitoring</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 و گزارش‌دهی.</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مدیریت رابطه با شرکت سرمایه‌پذیر.</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طراحی و اجرای </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Exit</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a:t>
                      </a:r>
                    </a:p>
                    <a:p>
                      <a:pPr marL="171450" indent="-171450" algn="r" rtl="1">
                        <a:lnSpc>
                          <a:spcPct val="150000"/>
                        </a:lnSpc>
                        <a:buClr>
                          <a:schemeClr val="bg1">
                            <a:lumMod val="75000"/>
                          </a:schemeClr>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اتصال سرمایه به فرصت‌های تجاری و </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Venture</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های جدید.</a:t>
                      </a:r>
                    </a:p>
                  </a:txBody>
                  <a:tcPr anchor="ctr">
                    <a:lnR w="6350" cap="flat" cmpd="sng" algn="ctr">
                      <a:solidFill>
                        <a:srgbClr val="F0BE0F"/>
                      </a:solidFill>
                      <a:prstDash val="solid"/>
                      <a:round/>
                      <a:headEnd type="none" w="med" len="med"/>
                      <a:tailEnd type="none" w="med" len="med"/>
                    </a:lnR>
                    <a:solidFill>
                      <a:schemeClr val="bg1">
                        <a:lumMod val="65000"/>
                        <a:alpha val="10000"/>
                      </a:schemeClr>
                    </a:solidFill>
                  </a:tcPr>
                </a:tc>
                <a:tc>
                  <a:txBody>
                    <a:bodyPr/>
                    <a:lstStyle/>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گسست میان شناسایی فرصت و اجرای سرمایه‌گذاری را کاهش می‌دهد.</a:t>
                      </a:r>
                    </a:p>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ریسک از دست رفتن فرصت به‌دلیل کندی فرآیند تصمیم و اجرا را کاهش می‌دهد.</a:t>
                      </a:r>
                    </a:p>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نیاز به مدیریت هم‌زمان چندین متخصص و</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Partner </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 را کاهش می‌دهد.</a:t>
                      </a:r>
                    </a:p>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ریسک عدم‌پایش پس از سرمایه‌گذاری را کاهش می‌دهد.</a:t>
                      </a:r>
                    </a:p>
                    <a:p>
                      <a:pPr marL="171450" indent="-171450" algn="r" rtl="1">
                        <a:lnSpc>
                          <a:spcPct val="150000"/>
                        </a:lnSpc>
                        <a:buClr>
                          <a:srgbClr val="C00000"/>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ریسک گیر افتادن سرمایه در یک سرمایه‌گذاری بدون مسیر خروج مشخص را کاهش می‌دهد.</a:t>
                      </a:r>
                    </a:p>
                  </a:txBody>
                  <a:tcPr anchor="ctr">
                    <a:lnL w="6350" cap="flat" cmpd="sng" algn="ctr">
                      <a:solidFill>
                        <a:srgbClr val="F0BE0F"/>
                      </a:solidFill>
                      <a:prstDash val="solid"/>
                      <a:round/>
                      <a:headEnd type="none" w="med" len="med"/>
                      <a:tailEnd type="none" w="med" len="med"/>
                    </a:lnL>
                    <a:lnB w="6350" cap="flat" cmpd="sng" algn="ctr">
                      <a:solidFill>
                        <a:srgbClr val="F0BE0F"/>
                      </a:solidFill>
                      <a:prstDash val="solid"/>
                      <a:round/>
                      <a:headEnd type="none" w="med" len="med"/>
                      <a:tailEnd type="none" w="med" len="med"/>
                    </a:lnB>
                    <a:solidFill>
                      <a:srgbClr val="C00000">
                        <a:alpha val="3000"/>
                      </a:srgbClr>
                    </a:solidFill>
                  </a:tcPr>
                </a:tc>
                <a:extLst>
                  <a:ext uri="{0D108BD9-81ED-4DB2-BD59-A6C34878D82A}">
                    <a16:rowId xmlns:a16="http://schemas.microsoft.com/office/drawing/2014/main" val="2675777916"/>
                  </a:ext>
                </a:extLst>
              </a:tr>
              <a:tr h="1721294">
                <a:tc vMerge="1">
                  <a:txBody>
                    <a:bodyPr/>
                    <a:lstStyle/>
                    <a:p>
                      <a:endParaRPr lang="en-US"/>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marL="171450" indent="-171450" algn="r" rtl="1">
                        <a:lnSpc>
                          <a:spcPct val="150000"/>
                        </a:lnSpc>
                        <a:buClr>
                          <a:schemeClr val="accent1"/>
                        </a:buClr>
                        <a:buFont typeface="Arial" panose="020B0604020202020204" pitchFamily="34" charset="0"/>
                        <a:buChar char="•"/>
                      </a:pPr>
                      <a:r>
                        <a:rPr lang="en-US" sz="1000" b="0" kern="1200" dirty="0">
                          <a:solidFill>
                            <a:schemeClr val="tx1">
                              <a:lumMod val="75000"/>
                              <a:lumOff val="25000"/>
                            </a:schemeClr>
                          </a:solidFill>
                          <a:latin typeface="Yekan Bakh" pitchFamily="2" charset="-78"/>
                          <a:ea typeface="Yekan Bakh" pitchFamily="2" charset="-78"/>
                          <a:cs typeface="Yekan Bakh" pitchFamily="2" charset="-78"/>
                        </a:rPr>
                        <a:t>Deal Flow</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 را به سرمایه‌گذاری واقعی تبدیل می‌کند.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سرعت تبدیل فرصت به </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Investment</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 را افزایش می‌دهد.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امکان مدیریت فعال سرمایه پس از</a:t>
                      </a:r>
                      <a:r>
                        <a:rPr lang="en-US" sz="1000" b="0" kern="1200" dirty="0">
                          <a:solidFill>
                            <a:schemeClr val="tx1">
                              <a:lumMod val="75000"/>
                              <a:lumOff val="25000"/>
                            </a:schemeClr>
                          </a:solidFill>
                          <a:latin typeface="Yekan Bakh" pitchFamily="2" charset="-78"/>
                          <a:ea typeface="Yekan Bakh" pitchFamily="2" charset="-78"/>
                          <a:cs typeface="Yekan Bakh" pitchFamily="2" charset="-78"/>
                        </a:rPr>
                        <a:t>Investment </a:t>
                      </a:r>
                      <a:r>
                        <a:rPr lang="fa-IR" sz="1000" b="0" kern="1200" dirty="0">
                          <a:solidFill>
                            <a:schemeClr val="tx1">
                              <a:lumMod val="75000"/>
                              <a:lumOff val="25000"/>
                            </a:schemeClr>
                          </a:solidFill>
                          <a:latin typeface="Yekan Bakh" pitchFamily="2" charset="-78"/>
                          <a:ea typeface="Yekan Bakh" pitchFamily="2" charset="-78"/>
                          <a:cs typeface="Yekan Bakh" pitchFamily="2" charset="-78"/>
                        </a:rPr>
                        <a:t> را فراهم می‌کند.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احتمال تحقق بازده مورد انتظار و خروج کنترل‌شده را افزایش می‌دهد.</a:t>
                      </a:r>
                    </a:p>
                    <a:p>
                      <a:pPr marL="171450" indent="-171450" algn="r" rtl="1">
                        <a:lnSpc>
                          <a:spcPct val="150000"/>
                        </a:lnSpc>
                        <a:buClr>
                          <a:schemeClr val="accent1"/>
                        </a:buClr>
                        <a:buFont typeface="Arial" panose="020B0604020202020204" pitchFamily="34" charset="0"/>
                        <a:buChar char="•"/>
                      </a:pPr>
                      <a:r>
                        <a:rPr lang="fa-IR" sz="1000" b="0" kern="1200" dirty="0">
                          <a:solidFill>
                            <a:schemeClr val="tx1">
                              <a:lumMod val="75000"/>
                              <a:lumOff val="25000"/>
                            </a:schemeClr>
                          </a:solidFill>
                          <a:latin typeface="Yekan Bakh" pitchFamily="2" charset="-78"/>
                          <a:ea typeface="Yekan Bakh" pitchFamily="2" charset="-78"/>
                          <a:cs typeface="Yekan Bakh" pitchFamily="2" charset="-78"/>
                        </a:rPr>
                        <a:t>جریان مستمر فرصت، سرمایه‌گذاری و خروج ایجاد می‌کند.</a:t>
                      </a:r>
                    </a:p>
                    <a:p>
                      <a:pPr marL="171450" indent="-171450" algn="r" rtl="1">
                        <a:lnSpc>
                          <a:spcPct val="150000"/>
                        </a:lnSpc>
                        <a:buClr>
                          <a:schemeClr val="accent1"/>
                        </a:buClr>
                        <a:buFont typeface="Arial" panose="020B0604020202020204" pitchFamily="34" charset="0"/>
                        <a:buChar char="•"/>
                      </a:pPr>
                      <a:endParaRPr lang="fa-IR" sz="1000" b="0" kern="1200" dirty="0">
                        <a:solidFill>
                          <a:schemeClr val="tx1">
                            <a:lumMod val="75000"/>
                            <a:lumOff val="25000"/>
                          </a:schemeClr>
                        </a:solidFill>
                        <a:latin typeface="Yekan Bakh" pitchFamily="2" charset="-78"/>
                        <a:ea typeface="Yekan Bakh" pitchFamily="2" charset="-78"/>
                        <a:cs typeface="Yekan Bakh" pitchFamily="2" charset="-78"/>
                      </a:endParaRPr>
                    </a:p>
                  </a:txBody>
                  <a:tcPr anchor="ctr">
                    <a:lnL w="6350" cap="flat" cmpd="sng" algn="ctr">
                      <a:solidFill>
                        <a:srgbClr val="F0BE0F"/>
                      </a:solidFill>
                      <a:prstDash val="solid"/>
                      <a:round/>
                      <a:headEnd type="none" w="med" len="med"/>
                      <a:tailEnd type="none" w="med" len="med"/>
                    </a:lnL>
                    <a:lnT w="6350" cap="flat" cmpd="sng" algn="ctr">
                      <a:solidFill>
                        <a:srgbClr val="F0BE0F"/>
                      </a:solidFill>
                      <a:prstDash val="solid"/>
                      <a:round/>
                      <a:headEnd type="none" w="med" len="med"/>
                      <a:tailEnd type="none" w="med" len="med"/>
                    </a:lnT>
                    <a:solidFill>
                      <a:schemeClr val="accent1">
                        <a:alpha val="4000"/>
                      </a:schemeClr>
                    </a:solidFill>
                  </a:tcPr>
                </a:tc>
                <a:extLst>
                  <a:ext uri="{0D108BD9-81ED-4DB2-BD59-A6C34878D82A}">
                    <a16:rowId xmlns:a16="http://schemas.microsoft.com/office/drawing/2014/main" val="1388272330"/>
                  </a:ext>
                </a:extLst>
              </a:tr>
            </a:tbl>
          </a:graphicData>
        </a:graphic>
      </p:graphicFrame>
      <p:sp>
        <p:nvSpPr>
          <p:cNvPr id="9" name="TextBox 8">
            <a:extLst>
              <a:ext uri="{FF2B5EF4-FFF2-40B4-BE49-F238E27FC236}">
                <a16:creationId xmlns:a16="http://schemas.microsoft.com/office/drawing/2014/main" id="{CC87E0CE-2663-BDCC-5A68-1F5D09888EBB}"/>
              </a:ext>
            </a:extLst>
          </p:cNvPr>
          <p:cNvSpPr txBox="1"/>
          <p:nvPr/>
        </p:nvSpPr>
        <p:spPr>
          <a:xfrm>
            <a:off x="9378405" y="1895264"/>
            <a:ext cx="1513266" cy="369332"/>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b="1" i="0" u="none" strike="noStrike" kern="1200" cap="none" spc="0" normalizeH="0" baseline="0" noProof="0" dirty="0">
                <a:ln>
                  <a:noFill/>
                </a:ln>
                <a:solidFill>
                  <a:srgbClr val="C00000"/>
                </a:solidFill>
                <a:effectLst/>
                <a:uLnTx/>
                <a:uFillTx/>
                <a:latin typeface="Yekan Bakh" pitchFamily="2" charset="-78"/>
                <a:ea typeface="Yekan Bakh" pitchFamily="2" charset="-78"/>
                <a:cs typeface="Yekan Bakh" pitchFamily="2" charset="-78"/>
              </a:rPr>
              <a:t>دردسرگاه‌ها</a:t>
            </a:r>
          </a:p>
        </p:txBody>
      </p:sp>
      <p:sp>
        <p:nvSpPr>
          <p:cNvPr id="10" name="TextBox 9">
            <a:extLst>
              <a:ext uri="{FF2B5EF4-FFF2-40B4-BE49-F238E27FC236}">
                <a16:creationId xmlns:a16="http://schemas.microsoft.com/office/drawing/2014/main" id="{9106DD9D-C62B-84CE-F025-1977C32A214C}"/>
              </a:ext>
            </a:extLst>
          </p:cNvPr>
          <p:cNvSpPr txBox="1"/>
          <p:nvPr/>
        </p:nvSpPr>
        <p:spPr>
          <a:xfrm>
            <a:off x="9378405" y="5306160"/>
            <a:ext cx="1513266" cy="369332"/>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b="1" i="0" u="none" strike="noStrike" kern="1200" cap="none" spc="0" normalizeH="0" baseline="0" noProof="0" dirty="0">
                <a:ln>
                  <a:noFill/>
                </a:ln>
                <a:solidFill>
                  <a:schemeClr val="accent1"/>
                </a:solidFill>
                <a:effectLst/>
                <a:uLnTx/>
                <a:uFillTx/>
                <a:latin typeface="Yekan Bakh" pitchFamily="2" charset="-78"/>
                <a:ea typeface="Yekan Bakh" pitchFamily="2" charset="-78"/>
                <a:cs typeface="Yekan Bakh" pitchFamily="2" charset="-78"/>
              </a:rPr>
              <a:t>منفعت‌سازها</a:t>
            </a:r>
          </a:p>
        </p:txBody>
      </p:sp>
      <p:sp>
        <p:nvSpPr>
          <p:cNvPr id="11" name="TextBox 10">
            <a:extLst>
              <a:ext uri="{FF2B5EF4-FFF2-40B4-BE49-F238E27FC236}">
                <a16:creationId xmlns:a16="http://schemas.microsoft.com/office/drawing/2014/main" id="{11C68E15-90CB-4CFF-E8DD-DB376364679C}"/>
              </a:ext>
            </a:extLst>
          </p:cNvPr>
          <p:cNvSpPr txBox="1"/>
          <p:nvPr/>
        </p:nvSpPr>
        <p:spPr>
          <a:xfrm>
            <a:off x="827835" y="1876792"/>
            <a:ext cx="1513266" cy="369332"/>
          </a:xfrm>
          <a:prstGeom prst="rect">
            <a:avLst/>
          </a:prstGeom>
          <a:noFill/>
        </p:spPr>
        <p:txBody>
          <a:bodyPr wrap="square">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fa-IR" b="1" i="0" u="none" strike="noStrike" kern="1200" cap="none" spc="0" normalizeH="0" baseline="0" noProof="0" dirty="0">
                <a:ln>
                  <a:noFill/>
                </a:ln>
                <a:solidFill>
                  <a:schemeClr val="tx1">
                    <a:lumMod val="50000"/>
                    <a:lumOff val="50000"/>
                  </a:schemeClr>
                </a:solidFill>
                <a:effectLst/>
                <a:uLnTx/>
                <a:uFillTx/>
                <a:latin typeface="Yekan Bakh" pitchFamily="2" charset="-78"/>
                <a:ea typeface="Yekan Bakh" pitchFamily="2" charset="-78"/>
                <a:cs typeface="Yekan Bakh" pitchFamily="2" charset="-78"/>
              </a:rPr>
              <a:t>محصولات</a:t>
            </a:r>
          </a:p>
        </p:txBody>
      </p:sp>
    </p:spTree>
    <p:extLst>
      <p:ext uri="{BB962C8B-B14F-4D97-AF65-F5344CB8AC3E}">
        <p14:creationId xmlns:p14="http://schemas.microsoft.com/office/powerpoint/2010/main" val="293802256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55C40B7-D5C5-6FB1-6255-97170FAEF0B1}"/>
              </a:ext>
            </a:extLst>
          </p:cNvPr>
          <p:cNvSpPr>
            <a:spLocks noGrp="1"/>
          </p:cNvSpPr>
          <p:nvPr>
            <p:ph type="body" sz="quarter" idx="10"/>
          </p:nvPr>
        </p:nvSpPr>
        <p:spPr/>
        <p:txBody>
          <a:bodyPr/>
          <a:lstStyle/>
          <a:p>
            <a:r>
              <a:rPr lang="fa-IR" dirty="0"/>
              <a:t>ارزش پیشنهادی به تفکیک پرسونا</a:t>
            </a:r>
            <a:endParaRPr lang="en-US" dirty="0"/>
          </a:p>
        </p:txBody>
      </p:sp>
      <p:sp>
        <p:nvSpPr>
          <p:cNvPr id="3" name="Text Placeholder 2">
            <a:extLst>
              <a:ext uri="{FF2B5EF4-FFF2-40B4-BE49-F238E27FC236}">
                <a16:creationId xmlns:a16="http://schemas.microsoft.com/office/drawing/2014/main" id="{8E47A391-08CD-6F31-E13C-0CB56AAC5C46}"/>
              </a:ext>
            </a:extLst>
          </p:cNvPr>
          <p:cNvSpPr>
            <a:spLocks noGrp="1"/>
          </p:cNvSpPr>
          <p:nvPr>
            <p:ph type="body" sz="quarter" idx="12"/>
          </p:nvPr>
        </p:nvSpPr>
        <p:spPr/>
        <p:txBody>
          <a:bodyPr/>
          <a:lstStyle/>
          <a:p>
            <a:endParaRPr lang="en-US"/>
          </a:p>
        </p:txBody>
      </p:sp>
      <p:graphicFrame>
        <p:nvGraphicFramePr>
          <p:cNvPr id="4" name="Table 3">
            <a:extLst>
              <a:ext uri="{FF2B5EF4-FFF2-40B4-BE49-F238E27FC236}">
                <a16:creationId xmlns:a16="http://schemas.microsoft.com/office/drawing/2014/main" id="{0B5C10B2-414F-333C-1272-A64A9DCD907B}"/>
              </a:ext>
            </a:extLst>
          </p:cNvPr>
          <p:cNvGraphicFramePr>
            <a:graphicFrameLocks noGrp="1"/>
          </p:cNvGraphicFramePr>
          <p:nvPr>
            <p:extLst>
              <p:ext uri="{D42A27DB-BD31-4B8C-83A1-F6EECF244321}">
                <p14:modId xmlns:p14="http://schemas.microsoft.com/office/powerpoint/2010/main" val="2260999913"/>
              </p:ext>
            </p:extLst>
          </p:nvPr>
        </p:nvGraphicFramePr>
        <p:xfrm>
          <a:off x="555625" y="1292180"/>
          <a:ext cx="10591800" cy="4655749"/>
        </p:xfrm>
        <a:graphic>
          <a:graphicData uri="http://schemas.openxmlformats.org/drawingml/2006/table">
            <a:tbl>
              <a:tblPr firstRow="1" bandRow="1">
                <a:tableStyleId>{5C22544A-7EE6-4342-B048-85BDC9FD1C3A}</a:tableStyleId>
              </a:tblPr>
              <a:tblGrid>
                <a:gridCol w="9146459">
                  <a:extLst>
                    <a:ext uri="{9D8B030D-6E8A-4147-A177-3AD203B41FA5}">
                      <a16:colId xmlns:a16="http://schemas.microsoft.com/office/drawing/2014/main" val="2208760153"/>
                    </a:ext>
                  </a:extLst>
                </a:gridCol>
                <a:gridCol w="1445341">
                  <a:extLst>
                    <a:ext uri="{9D8B030D-6E8A-4147-A177-3AD203B41FA5}">
                      <a16:colId xmlns:a16="http://schemas.microsoft.com/office/drawing/2014/main" val="1978983389"/>
                    </a:ext>
                  </a:extLst>
                </a:gridCol>
              </a:tblGrid>
              <a:tr h="279916">
                <a:tc>
                  <a:txBody>
                    <a:bodyPr/>
                    <a:lstStyle/>
                    <a:p>
                      <a:pPr algn="ctr" rtl="1"/>
                      <a:r>
                        <a:rPr lang="fa-IR" sz="1050">
                          <a:solidFill>
                            <a:schemeClr val="tx1"/>
                          </a:solidFill>
                          <a:latin typeface="Shabnam FD" panose="020B0603030804020204" pitchFamily="34" charset="-78"/>
                          <a:cs typeface="Shabnam FD" panose="020B0603030804020204" pitchFamily="34" charset="-78"/>
                        </a:rPr>
                        <a:t>ارزش پیشنهادی</a:t>
                      </a:r>
                      <a:endParaRPr lang="en-US" sz="1050">
                        <a:solidFill>
                          <a:schemeClr val="tx1"/>
                        </a:solidFill>
                        <a:latin typeface="Shabnam FD" panose="020B0603030804020204" pitchFamily="34" charset="-78"/>
                        <a:cs typeface="Shabnam FD" panose="020B0603030804020204" pitchFamily="34" charset="-78"/>
                      </a:endParaRPr>
                    </a:p>
                  </a:txBody>
                  <a:tcPr>
                    <a:solidFill>
                      <a:schemeClr val="accent2">
                        <a:lumMod val="20000"/>
                        <a:lumOff val="80000"/>
                      </a:schemeClr>
                    </a:solidFill>
                  </a:tcPr>
                </a:tc>
                <a:tc>
                  <a:txBody>
                    <a:bodyPr/>
                    <a:lstStyle/>
                    <a:p>
                      <a:pPr algn="ctr" rtl="1"/>
                      <a:r>
                        <a:rPr lang="fa-IR" sz="1050">
                          <a:solidFill>
                            <a:schemeClr val="tx1"/>
                          </a:solidFill>
                          <a:latin typeface="Shabnam FD" panose="020B0603030804020204" pitchFamily="34" charset="-78"/>
                          <a:cs typeface="Shabnam FD" panose="020B0603030804020204" pitchFamily="34" charset="-78"/>
                        </a:rPr>
                        <a:t>پرسونا</a:t>
                      </a:r>
                      <a:endParaRPr lang="en-US" sz="1050">
                        <a:solidFill>
                          <a:schemeClr val="tx1"/>
                        </a:solidFill>
                        <a:latin typeface="Shabnam FD" panose="020B0603030804020204" pitchFamily="34" charset="-78"/>
                        <a:cs typeface="Shabnam FD" panose="020B0603030804020204" pitchFamily="34" charset="-78"/>
                      </a:endParaRPr>
                    </a:p>
                  </a:txBody>
                  <a:tcPr>
                    <a:solidFill>
                      <a:schemeClr val="accent2">
                        <a:lumMod val="20000"/>
                        <a:lumOff val="80000"/>
                      </a:schemeClr>
                    </a:solidFill>
                  </a:tcPr>
                </a:tc>
                <a:extLst>
                  <a:ext uri="{0D108BD9-81ED-4DB2-BD59-A6C34878D82A}">
                    <a16:rowId xmlns:a16="http://schemas.microsoft.com/office/drawing/2014/main" val="2866897442"/>
                  </a:ext>
                </a:extLst>
              </a:tr>
              <a:tr h="718233">
                <a:tc>
                  <a:txBody>
                    <a:bodyPr/>
                    <a:lstStyle/>
                    <a:p>
                      <a:pPr algn="justLow" rtl="1"/>
                      <a:r>
                        <a:rPr lang="fa-IR" sz="1050" b="1" dirty="0">
                          <a:latin typeface="Shabnam FD" panose="020B0603030804020204" pitchFamily="34" charset="-78"/>
                          <a:cs typeface="Shabnam FD" panose="020B0603030804020204" pitchFamily="34" charset="-78"/>
                        </a:rPr>
                        <a:t>ما به کسب‌وکارهای ایرانی آماده رشد کمک می‌کنیم تا به فرصت‌ها و طرف‌های معتبر بین‌المللی دسترسی پیدا کنند و با تأمین و فعال‌سازی منابع و قابلیت‌های مناسب، این دسترسی را به معاملات و فرصت‌های رشد قابل‌اجرا تبدیل کنند.</a:t>
                      </a:r>
                    </a:p>
                    <a:p>
                      <a:pPr algn="justLow" rtl="1"/>
                      <a:r>
                        <a:rPr lang="en-US" sz="1050" dirty="0">
                          <a:latin typeface="Shabnam FD" panose="020B0603030804020204" pitchFamily="34" charset="-78"/>
                          <a:cs typeface="Shabnam FD" panose="020B0603030804020204" pitchFamily="34" charset="-78"/>
                        </a:rPr>
                        <a:t>We help growth-ready Iranian businesses access trusted international opportunities and counterparties and turn that access into executable transactions and growth opportunities by activating the right resources and capabilities.</a:t>
                      </a:r>
                    </a:p>
                  </a:txBody>
                  <a:tcPr anchor="ctr">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r" rtl="1"/>
                      <a:r>
                        <a:rPr lang="fa-IR" sz="1050" b="1" i="0" dirty="0">
                          <a:latin typeface="Shabnam FD" panose="020B0603030804020204" pitchFamily="34" charset="-78"/>
                          <a:cs typeface="Shabnam FD" panose="020B0603030804020204" pitchFamily="34" charset="-78"/>
                        </a:rPr>
                        <a:t>کسب‌وکار تراز ایرانی </a:t>
                      </a:r>
                      <a:endParaRPr lang="en-US" sz="1050" b="1" i="0" dirty="0">
                        <a:latin typeface="Shabnam FD" panose="020B0603030804020204" pitchFamily="34" charset="-78"/>
                        <a:cs typeface="Shabnam FD" panose="020B0603030804020204" pitchFamily="34" charset="-78"/>
                      </a:endParaRPr>
                    </a:p>
                  </a:txBody>
                  <a:tcPr anchor="ctr">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708233516"/>
                  </a:ext>
                </a:extLst>
              </a:tr>
              <a:tr h="718233">
                <a:tc>
                  <a:txBody>
                    <a:bodyPr/>
                    <a:lstStyle/>
                    <a:p>
                      <a:pPr algn="justLow" rtl="1"/>
                      <a:r>
                        <a:rPr lang="fa-IR" sz="1050" b="1">
                          <a:latin typeface="Shabnam FD" panose="020B0603030804020204" pitchFamily="34" charset="-78"/>
                          <a:cs typeface="Shabnam FD" panose="020B0603030804020204" pitchFamily="34" charset="-78"/>
                        </a:rPr>
                        <a:t>ما به کسب‌وکارهای خارجی کمک می‌کنیم تا با دسترسی به اطلاعات معتبر، طرف‌های قابل‌اعتماد و قابلیت‌های محلی، امکان ورود و همکاری در ایران را ارزیابی و در صورت توجیه، آن را به یک مسیر اجرایی و قابل‌کنترل تبدیل کنند.</a:t>
                      </a:r>
                    </a:p>
                    <a:p>
                      <a:pPr algn="justLow" rtl="1"/>
                      <a:r>
                        <a:rPr lang="en-US" sz="1050">
                          <a:latin typeface="Shabnam FD" panose="020B0603030804020204" pitchFamily="34" charset="-78"/>
                          <a:cs typeface="Shabnam FD" panose="020B0603030804020204" pitchFamily="34" charset="-78"/>
                        </a:rPr>
                        <a:t>We help foreign businesses assess and, where justified, execute their entry into and engagement with Iran through trusted intelligence, counterparties and local capabilities.</a:t>
                      </a:r>
                    </a:p>
                  </a:txBody>
                  <a:tcPr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rtl="1"/>
                      <a:r>
                        <a:rPr lang="fa-IR" sz="1050" b="1" i="0">
                          <a:latin typeface="Shabnam FD" panose="020B0603030804020204" pitchFamily="34" charset="-78"/>
                          <a:cs typeface="Shabnam FD" panose="020B0603030804020204" pitchFamily="34" charset="-78"/>
                        </a:rPr>
                        <a:t>کسب‌وکار تراز خارجی</a:t>
                      </a:r>
                      <a:endParaRPr lang="en-US" sz="1050" b="1" i="0">
                        <a:latin typeface="Shabnam FD" panose="020B0603030804020204" pitchFamily="34" charset="-78"/>
                        <a:cs typeface="Shabnam FD" panose="020B0603030804020204" pitchFamily="34" charset="-78"/>
                      </a:endParaRPr>
                    </a:p>
                  </a:txBody>
                  <a:tcPr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15461731"/>
                  </a:ext>
                </a:extLst>
              </a:tr>
              <a:tr h="718233">
                <a:tc>
                  <a:txBody>
                    <a:bodyPr/>
                    <a:lstStyle/>
                    <a:p>
                      <a:pPr algn="justLow" rtl="1"/>
                      <a:r>
                        <a:rPr lang="fa-IR" sz="1050" b="1" dirty="0">
                          <a:latin typeface="Shabnam FD" panose="020B0603030804020204" pitchFamily="34" charset="-78"/>
                          <a:cs typeface="Shabnam FD" panose="020B0603030804020204" pitchFamily="34" charset="-78"/>
                        </a:rPr>
                        <a:t>ما به کسب‌وکارهای ایرانی مشتاق کمک می‌کنیم شکاف‌های آمادگی، اعتبار و قابلیت خود را شناسایی و برطرف کنند تا بتوانند به یک طرف قابل‌اعتماد و قابل‌معرفی در تعاملات بین‌المللی تبدیل شوند.</a:t>
                      </a:r>
                    </a:p>
                    <a:p>
                      <a:pPr algn="justLow" rtl="1"/>
                      <a:r>
                        <a:rPr lang="en-US" sz="1050" dirty="0">
                          <a:latin typeface="Shabnam FD" panose="020B0603030804020204" pitchFamily="34" charset="-78"/>
                          <a:cs typeface="Shabnam FD" panose="020B0603030804020204" pitchFamily="34" charset="-78"/>
                        </a:rPr>
                        <a:t>We help aspiring Iranian businesses identify and close the readiness, credibility and capability gaps required to become trusted and introducible international counterparties.</a:t>
                      </a:r>
                    </a:p>
                  </a:txBody>
                  <a:tcPr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r" rtl="1"/>
                      <a:r>
                        <a:rPr lang="fa-IR" sz="1050" b="1" i="0">
                          <a:latin typeface="Shabnam FD" panose="020B0603030804020204" pitchFamily="34" charset="-78"/>
                          <a:cs typeface="Shabnam FD" panose="020B0603030804020204" pitchFamily="34" charset="-78"/>
                        </a:rPr>
                        <a:t>کسب‌وکار مشتاق</a:t>
                      </a:r>
                      <a:endParaRPr lang="en-US" sz="1050" b="1" i="0">
                        <a:latin typeface="Shabnam FD" panose="020B0603030804020204" pitchFamily="34" charset="-78"/>
                        <a:cs typeface="Shabnam FD" panose="020B0603030804020204" pitchFamily="34" charset="-78"/>
                      </a:endParaRPr>
                    </a:p>
                  </a:txBody>
                  <a:tcPr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638684979"/>
                  </a:ext>
                </a:extLst>
              </a:tr>
              <a:tr h="718233">
                <a:tc>
                  <a:txBody>
                    <a:bodyPr/>
                    <a:lstStyle/>
                    <a:p>
                      <a:pPr algn="justLow" rtl="1"/>
                      <a:r>
                        <a:rPr lang="fa-IR" sz="1050" b="1">
                          <a:latin typeface="Shabnam FD" panose="020B0603030804020204" pitchFamily="34" charset="-78"/>
                          <a:cs typeface="Shabnam FD" panose="020B0603030804020204" pitchFamily="34" charset="-78"/>
                        </a:rPr>
                        <a:t>ما به کسب‌وکارهای خارجی کمک می‌کنیم فرصت ایران را با حداقل تعهد اولیه ارزیابی کنند و بر اساس اطلاعات معتبر و تحلیل ریسک، درباره ورود، زمان ورود و نحوه ورود تصمیم بگیرند.</a:t>
                      </a:r>
                    </a:p>
                    <a:p>
                      <a:pPr algn="justLow" rtl="1"/>
                      <a:r>
                        <a:rPr lang="en-US" sz="1050">
                          <a:latin typeface="Shabnam FD" panose="020B0603030804020204" pitchFamily="34" charset="-78"/>
                          <a:cs typeface="Shabnam FD" panose="020B0603030804020204" pitchFamily="34" charset="-78"/>
                        </a:rPr>
                        <a:t>We help foreign businesses explore the Iranian opportunity with minimal initial commitment and make evidence-based decisions on whether, when and how to enter.</a:t>
                      </a:r>
                    </a:p>
                  </a:txBody>
                  <a:tcPr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rtl="1"/>
                      <a:r>
                        <a:rPr lang="fa-IR" sz="1050" b="1" i="0">
                          <a:latin typeface="Shabnam FD" panose="020B0603030804020204" pitchFamily="34" charset="-78"/>
                          <a:cs typeface="Shabnam FD" panose="020B0603030804020204" pitchFamily="34" charset="-78"/>
                        </a:rPr>
                        <a:t>کسب‌وکار کنجکاو</a:t>
                      </a:r>
                      <a:endParaRPr lang="en-US" sz="1050" b="1" i="0">
                        <a:latin typeface="Shabnam FD" panose="020B0603030804020204" pitchFamily="34" charset="-78"/>
                        <a:cs typeface="Shabnam FD" panose="020B0603030804020204" pitchFamily="34" charset="-78"/>
                      </a:endParaRPr>
                    </a:p>
                  </a:txBody>
                  <a:tcPr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10402620"/>
                  </a:ext>
                </a:extLst>
              </a:tr>
              <a:tr h="718233">
                <a:tc>
                  <a:txBody>
                    <a:bodyPr/>
                    <a:lstStyle/>
                    <a:p>
                      <a:pPr algn="justLow" rtl="1"/>
                      <a:r>
                        <a:rPr lang="fa-IR" sz="1050" b="1">
                          <a:latin typeface="Shabnam FD" panose="020B0603030804020204" pitchFamily="34" charset="-78"/>
                          <a:cs typeface="Shabnam FD" panose="020B0603030804020204" pitchFamily="34" charset="-78"/>
                        </a:rPr>
                        <a:t>ما به صاحبان دارایی و فرصت کمک می‌کنیم دارایی‌های خفته خود را از طریق ترکیب تیم، سرمایه، قابلیت و دسترسی بازار به کسب‌وکارهای جدید و قابل‌توسعه تبدیل کنند.</a:t>
                      </a:r>
                    </a:p>
                    <a:p>
                      <a:pPr algn="l" rtl="1"/>
                      <a:r>
                        <a:rPr lang="en-US" sz="1050">
                          <a:latin typeface="Shabnam FD" panose="020B0603030804020204" pitchFamily="34" charset="-78"/>
                          <a:cs typeface="Shabnam FD" panose="020B0603030804020204" pitchFamily="34" charset="-78"/>
                        </a:rPr>
                        <a:t>We help asset and opportunity owners turn dormant assets into scalable new businesses by combining teams, capital, capabilities and market access.</a:t>
                      </a:r>
                    </a:p>
                  </a:txBody>
                  <a:tcPr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r" rtl="1"/>
                      <a:r>
                        <a:rPr lang="fa-IR" sz="1050" b="1" i="0">
                          <a:latin typeface="Shabnam FD" panose="020B0603030804020204" pitchFamily="34" charset="-78"/>
                          <a:cs typeface="Shabnam FD" panose="020B0603030804020204" pitchFamily="34" charset="-78"/>
                        </a:rPr>
                        <a:t>خالق کسب‌وکار</a:t>
                      </a:r>
                      <a:endParaRPr lang="en-US" sz="1050" b="1" i="0">
                        <a:latin typeface="Shabnam FD" panose="020B0603030804020204" pitchFamily="34" charset="-78"/>
                        <a:cs typeface="Shabnam FD" panose="020B0603030804020204" pitchFamily="34" charset="-78"/>
                      </a:endParaRPr>
                    </a:p>
                  </a:txBody>
                  <a:tcPr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838794986"/>
                  </a:ext>
                </a:extLst>
              </a:tr>
              <a:tr h="718233">
                <a:tc>
                  <a:txBody>
                    <a:bodyPr/>
                    <a:lstStyle/>
                    <a:p>
                      <a:pPr algn="r" rtl="1"/>
                      <a:r>
                        <a:rPr lang="fa-IR" sz="1050" b="1">
                          <a:latin typeface="Shabnam FD" panose="020B0603030804020204" pitchFamily="34" charset="-78"/>
                          <a:cs typeface="Shabnam FD" panose="020B0603030804020204" pitchFamily="34" charset="-78"/>
                        </a:rPr>
                        <a:t>ما به سرمایه‌گذاران کمک می‌کنیم به فرصت‌های سرمایه‌گذاری متمایز و راستی‌آزمایی‌شده دسترسی پیدا کنند و با ساختاردهی، تأمین و فعال‌سازی منابع و پایش مستمر، آنها را به سرمایه‌گذاری‌های قابل‌اجرا و قابل‌مدیریت تبدیل کنند.</a:t>
                      </a:r>
                    </a:p>
                    <a:p>
                      <a:pPr algn="l" rtl="1"/>
                      <a:r>
                        <a:rPr lang="en-US" sz="1050">
                          <a:latin typeface="Shabnam FD" panose="020B0603030804020204" pitchFamily="34" charset="-78"/>
                          <a:cs typeface="Shabnam FD" panose="020B0603030804020204" pitchFamily="34" charset="-78"/>
                        </a:rPr>
                        <a:t>We help investors access differentiated and validated investment opportunities and turn them into executable and manageable investments through structuring, resource activation and ongoing oversight.</a:t>
                      </a:r>
                    </a:p>
                  </a:txBody>
                  <a:tcPr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rtl="1"/>
                      <a:r>
                        <a:rPr lang="fa-IR" sz="1050" b="1" i="0" dirty="0">
                          <a:latin typeface="Shabnam FD" panose="020B0603030804020204" pitchFamily="34" charset="-78"/>
                          <a:cs typeface="Shabnam FD" panose="020B0603030804020204" pitchFamily="34" charset="-78"/>
                        </a:rPr>
                        <a:t>سرمایه‌گذار</a:t>
                      </a:r>
                      <a:endParaRPr lang="en-US" sz="1050" b="1" i="0" dirty="0">
                        <a:latin typeface="Shabnam FD" panose="020B0603030804020204" pitchFamily="34" charset="-78"/>
                        <a:cs typeface="Shabnam FD" panose="020B0603030804020204" pitchFamily="34" charset="-78"/>
                      </a:endParaRPr>
                    </a:p>
                  </a:txBody>
                  <a:tcPr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43592642"/>
                  </a:ext>
                </a:extLst>
              </a:tr>
            </a:tbl>
          </a:graphicData>
        </a:graphic>
      </p:graphicFrame>
    </p:spTree>
    <p:extLst>
      <p:ext uri="{BB962C8B-B14F-4D97-AF65-F5344CB8AC3E}">
        <p14:creationId xmlns:p14="http://schemas.microsoft.com/office/powerpoint/2010/main" val="230585314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57553E1-0A85-E523-2B18-98BD7FBDD4C2}"/>
              </a:ext>
            </a:extLst>
          </p:cNvPr>
          <p:cNvSpPr>
            <a:spLocks noGrp="1"/>
          </p:cNvSpPr>
          <p:nvPr>
            <p:ph type="body" sz="quarter" idx="10"/>
          </p:nvPr>
        </p:nvSpPr>
        <p:spPr/>
        <p:txBody>
          <a:bodyPr/>
          <a:lstStyle/>
          <a:p>
            <a:r>
              <a:rPr lang="fa-IR"/>
              <a:t>ارزش پیشنهادی </a:t>
            </a:r>
            <a:endParaRPr lang="en-US"/>
          </a:p>
          <a:p>
            <a:endParaRPr lang="en-US"/>
          </a:p>
        </p:txBody>
      </p:sp>
      <p:sp>
        <p:nvSpPr>
          <p:cNvPr id="3" name="Text Placeholder 2">
            <a:extLst>
              <a:ext uri="{FF2B5EF4-FFF2-40B4-BE49-F238E27FC236}">
                <a16:creationId xmlns:a16="http://schemas.microsoft.com/office/drawing/2014/main" id="{FC35B6E2-F4E5-26AF-8D69-35480FC0E86A}"/>
              </a:ext>
            </a:extLst>
          </p:cNvPr>
          <p:cNvSpPr>
            <a:spLocks noGrp="1"/>
          </p:cNvSpPr>
          <p:nvPr>
            <p:ph type="body" sz="quarter" idx="12"/>
          </p:nvPr>
        </p:nvSpPr>
        <p:spPr/>
        <p:txBody>
          <a:bodyPr/>
          <a:lstStyle/>
          <a:p>
            <a:r>
              <a:rPr lang="fa-IR"/>
              <a:t>برای مشتریانمان، چه ارزشی ایجاد می‌کنیم که باعث می‌شود ما را انتخاب کنند؟»</a:t>
            </a:r>
            <a:endParaRPr lang="en-US"/>
          </a:p>
          <a:p>
            <a:endParaRPr lang="en-US"/>
          </a:p>
        </p:txBody>
      </p:sp>
      <p:grpSp>
        <p:nvGrpSpPr>
          <p:cNvPr id="4" name="Group 3">
            <a:extLst>
              <a:ext uri="{FF2B5EF4-FFF2-40B4-BE49-F238E27FC236}">
                <a16:creationId xmlns:a16="http://schemas.microsoft.com/office/drawing/2014/main" id="{4B307A54-456B-E2F4-8D7D-5401E9635A3E}"/>
              </a:ext>
            </a:extLst>
          </p:cNvPr>
          <p:cNvGrpSpPr/>
          <p:nvPr/>
        </p:nvGrpSpPr>
        <p:grpSpPr>
          <a:xfrm>
            <a:off x="1340989" y="1954744"/>
            <a:ext cx="9021073" cy="2883175"/>
            <a:chOff x="1733670" y="1511982"/>
            <a:chExt cx="9021073" cy="2883175"/>
          </a:xfrm>
        </p:grpSpPr>
        <p:sp>
          <p:nvSpPr>
            <p:cNvPr id="5" name="TextBox 4">
              <a:extLst>
                <a:ext uri="{FF2B5EF4-FFF2-40B4-BE49-F238E27FC236}">
                  <a16:creationId xmlns:a16="http://schemas.microsoft.com/office/drawing/2014/main" id="{590069C1-EC40-F0D7-E554-68819082DC12}"/>
                </a:ext>
              </a:extLst>
            </p:cNvPr>
            <p:cNvSpPr txBox="1"/>
            <p:nvPr/>
          </p:nvSpPr>
          <p:spPr>
            <a:xfrm>
              <a:off x="1733670" y="2203749"/>
              <a:ext cx="9021073" cy="1047979"/>
            </a:xfrm>
            <a:prstGeom prst="rect">
              <a:avLst/>
            </a:prstGeom>
            <a:noFill/>
          </p:spPr>
          <p:txBody>
            <a:bodyPr wrap="square">
              <a:spAutoFit/>
            </a:bodyPr>
            <a:lstStyle/>
            <a:p>
              <a:pPr marL="0" marR="0" lvl="0" indent="0" algn="justLow" defTabSz="457200" rtl="1" eaLnBrk="1" fontAlgn="auto" latinLnBrk="0" hangingPunct="1">
                <a:lnSpc>
                  <a:spcPct val="115000"/>
                </a:lnSpc>
                <a:spcBef>
                  <a:spcPts val="0"/>
                </a:spcBef>
                <a:spcAft>
                  <a:spcPts val="800"/>
                </a:spcAft>
                <a:buClrTx/>
                <a:buSzTx/>
                <a:buFontTx/>
                <a:buNone/>
                <a:tabLst/>
                <a:defRPr/>
              </a:pPr>
              <a:r>
                <a:rPr kumimoji="0" lang="ar-SA" sz="1800" b="1" i="0" u="none" strike="noStrike" kern="100" cap="none" spc="0" normalizeH="0" baseline="0" noProof="0">
                  <a:ln>
                    <a:noFill/>
                  </a:ln>
                  <a:solidFill>
                    <a:srgbClr val="0199FF">
                      <a:lumMod val="50000"/>
                    </a:srgbClr>
                  </a:solidFill>
                  <a:effectLst/>
                  <a:uLnTx/>
                  <a:uFillTx/>
                  <a:latin typeface="Aptos" panose="020B0004020202020204" pitchFamily="34" charset="0"/>
                  <a:ea typeface="Aptos" panose="020B0004020202020204" pitchFamily="34" charset="0"/>
                  <a:cs typeface="Shabnam FD" panose="020B0603030804020204" pitchFamily="34" charset="-78"/>
                </a:rPr>
                <a:t>ما فرصت‌های متمایز را با ترکیب هوشمندی، دسترسی مورداعتماد، سرمایه و قابلیت‌های تخصصی به نتایج واقعی تبدیل می‌کنیم؛ چه این نتیجه یک معامله و همکاری تجاری باشد، چه ایجاد یک کسب‌وکار جدید و چه یک سرمایه‌گذاری با بازده جذاب</a:t>
              </a:r>
              <a:r>
                <a:rPr kumimoji="0" lang="en-US" sz="1800" b="1" i="0" u="none" strike="noStrike" kern="100" cap="none" spc="0" normalizeH="0" baseline="0" noProof="0">
                  <a:ln>
                    <a:noFill/>
                  </a:ln>
                  <a:solidFill>
                    <a:srgbClr val="0199FF">
                      <a:lumMod val="50000"/>
                    </a:srgbClr>
                  </a:solidFill>
                  <a:effectLst/>
                  <a:uLnTx/>
                  <a:uFillTx/>
                  <a:latin typeface="Shabnam FD" panose="020B0603030804020204" pitchFamily="34" charset="-78"/>
                  <a:ea typeface="Aptos" panose="020B0004020202020204" pitchFamily="34" charset="0"/>
                  <a:cs typeface="Arial" panose="020B0604020202020204" pitchFamily="34" charset="0"/>
                </a:rPr>
                <a:t>.</a:t>
              </a:r>
              <a:endParaRPr kumimoji="0" lang="en-US" sz="2800" b="0" i="0" u="none" strike="noStrike" kern="100" cap="none" spc="0" normalizeH="0" baseline="0" noProof="0">
                <a:ln>
                  <a:noFill/>
                </a:ln>
                <a:solidFill>
                  <a:srgbClr val="0199FF">
                    <a:lumMod val="50000"/>
                  </a:srgbClr>
                </a:solidFill>
                <a:effectLst/>
                <a:uLnTx/>
                <a:uFillTx/>
                <a:latin typeface="Aptos" panose="020B0004020202020204" pitchFamily="34" charset="0"/>
                <a:ea typeface="Aptos" panose="020B00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AEB205A5-DB07-54A0-EFD9-04A2662B9B47}"/>
                </a:ext>
              </a:extLst>
            </p:cNvPr>
            <p:cNvSpPr txBox="1"/>
            <p:nvPr/>
          </p:nvSpPr>
          <p:spPr>
            <a:xfrm>
              <a:off x="1733670" y="3656493"/>
              <a:ext cx="9021072" cy="738664"/>
            </a:xfrm>
            <a:prstGeom prst="rect">
              <a:avLst/>
            </a:prstGeom>
            <a:noFill/>
          </p:spPr>
          <p:txBody>
            <a:bodyPr wrap="square">
              <a:spAutoFit/>
            </a:bodyPr>
            <a:lstStyle/>
            <a:p>
              <a:pPr marL="0" marR="0" lvl="0" indent="0" algn="justLow"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199FF">
                      <a:lumMod val="50000"/>
                    </a:srgbClr>
                  </a:solidFill>
                  <a:effectLst/>
                  <a:uLnTx/>
                  <a:uFillTx/>
                  <a:latin typeface="Shabnam FD" panose="020B0603030804020204" pitchFamily="34" charset="-78"/>
                  <a:ea typeface="Aptos" panose="020B0004020202020204" pitchFamily="34" charset="0"/>
                  <a:cs typeface="Calibri"/>
                </a:rPr>
                <a:t>We turn distinctive opportunities into real outcomes by combining intelligence, trusted access, capital and specialized capabilities, whether the outcome is a transaction, a new business or an attractive investment.</a:t>
              </a:r>
              <a:br>
                <a:rPr kumimoji="0" lang="fa-IR" sz="1400" b="0" i="0" u="none" strike="noStrike" kern="1200" cap="none" spc="0" normalizeH="0" baseline="0" noProof="0">
                  <a:ln>
                    <a:noFill/>
                  </a:ln>
                  <a:solidFill>
                    <a:srgbClr val="0199FF">
                      <a:lumMod val="50000"/>
                    </a:srgbClr>
                  </a:solidFill>
                  <a:effectLst/>
                  <a:uLnTx/>
                  <a:uFillTx/>
                  <a:latin typeface="Shabnam FD" panose="020B0603030804020204" pitchFamily="34" charset="-78"/>
                  <a:ea typeface="Aptos" panose="020B0004020202020204" pitchFamily="34" charset="0"/>
                  <a:cs typeface="Calibri"/>
                </a:rPr>
              </a:br>
              <a:endParaRPr kumimoji="0" lang="en-US" sz="1400" b="0" i="0" u="none" strike="noStrike" kern="1200" cap="none" spc="0" normalizeH="0" baseline="0" noProof="0">
                <a:ln>
                  <a:noFill/>
                </a:ln>
                <a:solidFill>
                  <a:srgbClr val="0199FF">
                    <a:lumMod val="50000"/>
                  </a:srgbClr>
                </a:solidFill>
                <a:effectLst/>
                <a:uLnTx/>
                <a:uFillTx/>
                <a:latin typeface="Calibri"/>
                <a:ea typeface="+mn-ea"/>
                <a:cs typeface="Calibri"/>
              </a:endParaRPr>
            </a:p>
          </p:txBody>
        </p:sp>
        <p:sp>
          <p:nvSpPr>
            <p:cNvPr id="8" name="TextBox 7">
              <a:extLst>
                <a:ext uri="{FF2B5EF4-FFF2-40B4-BE49-F238E27FC236}">
                  <a16:creationId xmlns:a16="http://schemas.microsoft.com/office/drawing/2014/main" id="{2A9FF47B-2B95-3DB0-033A-D1A2106F5F5A}"/>
                </a:ext>
              </a:extLst>
            </p:cNvPr>
            <p:cNvSpPr txBox="1"/>
            <p:nvPr/>
          </p:nvSpPr>
          <p:spPr>
            <a:xfrm>
              <a:off x="4185758" y="1511982"/>
              <a:ext cx="4116897" cy="287002"/>
            </a:xfrm>
            <a:prstGeom prst="rect">
              <a:avLst/>
            </a:prstGeom>
            <a:solidFill>
              <a:srgbClr val="F0BE0F">
                <a:alpha val="39000"/>
              </a:srgbClr>
            </a:solidFill>
          </p:spPr>
          <p:txBody>
            <a:bodyPr wrap="square">
              <a:spAutoFit/>
            </a:bodyPr>
            <a:lstStyle/>
            <a:p>
              <a:pPr marL="0" marR="0" lvl="0" indent="0" algn="justLow" defTabSz="457200" rtl="1" eaLnBrk="1" fontAlgn="auto" latinLnBrk="0" hangingPunct="1">
                <a:lnSpc>
                  <a:spcPct val="115000"/>
                </a:lnSpc>
                <a:spcBef>
                  <a:spcPts val="0"/>
                </a:spcBef>
                <a:spcAft>
                  <a:spcPts val="800"/>
                </a:spcAft>
                <a:buClrTx/>
                <a:buSzTx/>
                <a:buFontTx/>
                <a:buNone/>
                <a:tabLst/>
                <a:defRPr/>
              </a:pPr>
              <a:r>
                <a:rPr kumimoji="0" lang="fa-IR" sz="1100" b="1"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Shabnam FD" panose="020B0603030804020204" pitchFamily="34" charset="-78"/>
                </a:rPr>
                <a:t>ارزش پیشنهادی یکپارچه کسب‌وکار (</a:t>
              </a:r>
              <a:r>
                <a:rPr kumimoji="0" lang="en-US" sz="1100" b="1"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Shabnam FD" panose="020B0603030804020204" pitchFamily="34" charset="-78"/>
                </a:rPr>
                <a:t>Integrated Value Proposition</a:t>
              </a:r>
              <a:r>
                <a:rPr kumimoji="0" lang="fa-IR" sz="1100" b="1"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Shabnam FD" panose="020B0603030804020204" pitchFamily="34" charset="-78"/>
                </a:rPr>
                <a:t>):</a:t>
              </a:r>
              <a:endParaRPr kumimoji="0" lang="en-US" sz="16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Arial" panose="020B0604020202020204" pitchFamily="34" charset="0"/>
              </a:endParaRPr>
            </a:p>
          </p:txBody>
        </p:sp>
      </p:grpSp>
    </p:spTree>
    <p:extLst>
      <p:ext uri="{BB962C8B-B14F-4D97-AF65-F5344CB8AC3E}">
        <p14:creationId xmlns:p14="http://schemas.microsoft.com/office/powerpoint/2010/main" val="80083158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651CD4-8C9D-C5DC-06DC-62EEE36550A7}"/>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D406F5F4-0C22-86A0-5956-89E40AFEA10B}"/>
              </a:ext>
            </a:extLst>
          </p:cNvPr>
          <p:cNvGrpSpPr/>
          <p:nvPr/>
        </p:nvGrpSpPr>
        <p:grpSpPr>
          <a:xfrm>
            <a:off x="407773" y="1946806"/>
            <a:ext cx="4699486" cy="2689751"/>
            <a:chOff x="407773" y="2485703"/>
            <a:chExt cx="4699486" cy="2689751"/>
          </a:xfrm>
        </p:grpSpPr>
        <p:sp>
          <p:nvSpPr>
            <p:cNvPr id="9" name="TextBox 8">
              <a:extLst>
                <a:ext uri="{FF2B5EF4-FFF2-40B4-BE49-F238E27FC236}">
                  <a16:creationId xmlns:a16="http://schemas.microsoft.com/office/drawing/2014/main" id="{B2081F22-6452-E501-A0C2-004FF165A713}"/>
                </a:ext>
              </a:extLst>
            </p:cNvPr>
            <p:cNvSpPr txBox="1"/>
            <p:nvPr/>
          </p:nvSpPr>
          <p:spPr>
            <a:xfrm>
              <a:off x="593931" y="3311847"/>
              <a:ext cx="761426" cy="248914"/>
            </a:xfrm>
            <a:prstGeom prst="rect">
              <a:avLst/>
            </a:prstGeom>
            <a:noFill/>
          </p:spPr>
          <p:txBody>
            <a:bodyPr wrap="square" anchor="ctr">
              <a:spAutoFit/>
            </a:bodyPr>
            <a:lstStyle/>
            <a:p>
              <a:pPr marL="0" marR="0" lvl="0" indent="0" algn="ctr" defTabSz="914400" rtl="1" eaLnBrk="1" fontAlgn="auto" latinLnBrk="0" hangingPunct="1">
                <a:lnSpc>
                  <a:spcPct val="90000"/>
                </a:lnSpc>
                <a:spcBef>
                  <a:spcPts val="1117"/>
                </a:spcBef>
                <a:spcAft>
                  <a:spcPts val="0"/>
                </a:spcAft>
                <a:buClr>
                  <a:srgbClr val="F0BE0F"/>
                </a:buClr>
                <a:buSzTx/>
                <a:buFontTx/>
                <a:buNone/>
                <a:tabLst/>
                <a:defRPr/>
              </a:pPr>
              <a:r>
                <a:rPr kumimoji="0" lang="fa-IR" sz="1050" b="1" i="0" u="none" strike="noStrike" kern="1200" cap="none" spc="0" normalizeH="0" baseline="0" noProof="0" dirty="0">
                  <a:ln>
                    <a:noFill/>
                  </a:ln>
                  <a:solidFill>
                    <a:prstClr val="white">
                      <a:lumMod val="50000"/>
                    </a:prstClr>
                  </a:solidFill>
                  <a:effectLst/>
                  <a:uLnTx/>
                  <a:uFillTx/>
                  <a:latin typeface="Yekan Bakh" pitchFamily="2" charset="-78"/>
                  <a:ea typeface="Yekan Bakh" pitchFamily="2" charset="-78"/>
                  <a:cs typeface="Yekan Bakh" pitchFamily="2" charset="-78"/>
                </a:rPr>
                <a:t>اسلاید</a:t>
              </a:r>
              <a:endParaRPr kumimoji="0" lang="en-US" sz="1050" b="1" i="0" u="none" strike="noStrike" kern="1200" cap="none" spc="0" normalizeH="0" baseline="0" noProof="0" dirty="0">
                <a:ln>
                  <a:noFill/>
                </a:ln>
                <a:solidFill>
                  <a:prstClr val="white">
                    <a:lumMod val="50000"/>
                  </a:prstClr>
                </a:solidFill>
                <a:effectLst/>
                <a:uLnTx/>
                <a:uFillTx/>
                <a:latin typeface="Yekan Bakh" pitchFamily="2" charset="-78"/>
                <a:ea typeface="Yekan Bakh" pitchFamily="2" charset="-78"/>
                <a:cs typeface="Yekan Bakh" pitchFamily="2" charset="-78"/>
              </a:endParaRPr>
            </a:p>
          </p:txBody>
        </p:sp>
        <p:grpSp>
          <p:nvGrpSpPr>
            <p:cNvPr id="2" name="Group 1">
              <a:extLst>
                <a:ext uri="{FF2B5EF4-FFF2-40B4-BE49-F238E27FC236}">
                  <a16:creationId xmlns:a16="http://schemas.microsoft.com/office/drawing/2014/main" id="{8E2405FE-5E88-4D19-CD6C-6EAB55190CB7}"/>
                </a:ext>
              </a:extLst>
            </p:cNvPr>
            <p:cNvGrpSpPr/>
            <p:nvPr/>
          </p:nvGrpSpPr>
          <p:grpSpPr>
            <a:xfrm>
              <a:off x="525137" y="3599596"/>
              <a:ext cx="4582122" cy="291618"/>
              <a:chOff x="525137" y="3840896"/>
              <a:chExt cx="4582122" cy="291618"/>
            </a:xfrm>
          </p:grpSpPr>
          <p:sp>
            <p:nvSpPr>
              <p:cNvPr id="13" name="TextBox 12">
                <a:extLst>
                  <a:ext uri="{FF2B5EF4-FFF2-40B4-BE49-F238E27FC236}">
                    <a16:creationId xmlns:a16="http://schemas.microsoft.com/office/drawing/2014/main" id="{D9A838F8-EB63-3F57-4DFB-33EBF90E32A9}"/>
                  </a:ext>
                </a:extLst>
              </p:cNvPr>
              <p:cNvSpPr txBox="1"/>
              <p:nvPr/>
            </p:nvSpPr>
            <p:spPr>
              <a:xfrm>
                <a:off x="1648542" y="3855130"/>
                <a:ext cx="3458717" cy="263149"/>
              </a:xfrm>
              <a:prstGeom prst="rect">
                <a:avLst/>
              </a:prstGeom>
              <a:noFill/>
            </p:spPr>
            <p:txBody>
              <a:bodyPr wrap="square" anchor="ctr">
                <a:spAutoFit/>
              </a:bodyPr>
              <a:lstStyle/>
              <a:p>
                <a:pPr marL="285750" marR="0" lvl="0" indent="-285750" algn="r" defTabSz="914400" rtl="1" eaLnBrk="1" fontAlgn="auto" latinLnBrk="0" hangingPunct="1">
                  <a:lnSpc>
                    <a:spcPct val="90000"/>
                  </a:lnSpc>
                  <a:spcBef>
                    <a:spcPts val="1117"/>
                  </a:spcBef>
                  <a:spcAft>
                    <a:spcPts val="0"/>
                  </a:spcAft>
                  <a:buClr>
                    <a:srgbClr val="F0BE0F"/>
                  </a:buClr>
                  <a:buSzTx/>
                  <a:buFont typeface="Arial" panose="020B0604020202020204" pitchFamily="34" charset="0"/>
                  <a:buChar char="•"/>
                  <a:tabLst/>
                  <a:defRPr/>
                </a:pPr>
                <a:r>
                  <a:rPr kumimoji="0" lang="fa-IR" sz="1200" b="0" i="0" u="none" strike="noStrike" kern="1200" cap="none" spc="0" normalizeH="0" baseline="0" noProof="0" dirty="0">
                    <a:ln>
                      <a:noFill/>
                    </a:ln>
                    <a:solidFill>
                      <a:prstClr val="white">
                        <a:lumMod val="75000"/>
                      </a:prstClr>
                    </a:solidFill>
                    <a:effectLst/>
                    <a:uLnTx/>
                    <a:uFillTx/>
                    <a:latin typeface="Yekan Bakh" pitchFamily="2" charset="-78"/>
                    <a:ea typeface="Yekan Bakh" pitchFamily="2" charset="-78"/>
                    <a:cs typeface="Yekan Bakh" pitchFamily="2" charset="-78"/>
                  </a:rPr>
                  <a:t>کمینه اکوسیستم پذیرفتنی</a:t>
                </a:r>
              </a:p>
            </p:txBody>
          </p:sp>
          <p:sp>
            <p:nvSpPr>
              <p:cNvPr id="15" name="TextBox 14">
                <a:extLst>
                  <a:ext uri="{FF2B5EF4-FFF2-40B4-BE49-F238E27FC236}">
                    <a16:creationId xmlns:a16="http://schemas.microsoft.com/office/drawing/2014/main" id="{71277E65-F607-F2BB-857D-09228DE0E99E}"/>
                  </a:ext>
                </a:extLst>
              </p:cNvPr>
              <p:cNvSpPr txBox="1"/>
              <p:nvPr/>
            </p:nvSpPr>
            <p:spPr>
              <a:xfrm>
                <a:off x="525137" y="3840896"/>
                <a:ext cx="899015" cy="291618"/>
              </a:xfrm>
              <a:prstGeom prst="rect">
                <a:avLst/>
              </a:prstGeom>
              <a:noFill/>
            </p:spPr>
            <p:txBody>
              <a:bodyPr wrap="square" anchor="ctr">
                <a:spAutoFit/>
              </a:bodyPr>
              <a:lstStyle/>
              <a:p>
                <a:pPr marL="0" marR="0" lvl="0" indent="0" algn="ctr" defTabSz="914400" rtl="0" eaLnBrk="1" fontAlgn="auto" latinLnBrk="0" hangingPunct="1">
                  <a:lnSpc>
                    <a:spcPct val="90000"/>
                  </a:lnSpc>
                  <a:spcBef>
                    <a:spcPts val="1117"/>
                  </a:spcBef>
                  <a:spcAft>
                    <a:spcPts val="0"/>
                  </a:spcAft>
                  <a:buClr>
                    <a:srgbClr val="F0BE0F"/>
                  </a:buClr>
                  <a:buSzTx/>
                  <a:buFontTx/>
                  <a:buNone/>
                  <a:tabLst/>
                  <a:defRPr/>
                </a:pPr>
                <a:r>
                  <a:rPr kumimoji="0" lang="fa-IR" sz="1400" b="1" i="0" u="none" strike="noStrike" kern="1200" cap="none" spc="0" normalizeH="0" baseline="0" noProof="0" dirty="0">
                    <a:ln>
                      <a:noFill/>
                    </a:ln>
                    <a:solidFill>
                      <a:srgbClr val="FDBF03">
                        <a:lumMod val="60000"/>
                        <a:lumOff val="40000"/>
                      </a:srgbClr>
                    </a:solidFill>
                    <a:effectLst/>
                    <a:uLnTx/>
                    <a:uFillTx/>
                    <a:latin typeface="Yekan Bakh FaNum SmBoldSmCond" pitchFamily="2" charset="-78"/>
                    <a:ea typeface="Yekan Bakh FaNum SmBoldSmCond" pitchFamily="2" charset="-78"/>
                    <a:cs typeface="Yekan Bakh FaNum SmBoldSmCond" pitchFamily="2" charset="-78"/>
                  </a:rPr>
                  <a:t>۹۴</a:t>
                </a:r>
                <a:endParaRPr kumimoji="0" lang="en-US" sz="1400" b="1" i="0" u="none" strike="noStrike" kern="1200" cap="none" spc="0" normalizeH="0" baseline="0" noProof="0" dirty="0">
                  <a:ln>
                    <a:noFill/>
                  </a:ln>
                  <a:solidFill>
                    <a:srgbClr val="FDBF03">
                      <a:lumMod val="60000"/>
                      <a:lumOff val="40000"/>
                    </a:srgbClr>
                  </a:solidFill>
                  <a:effectLst/>
                  <a:uLnTx/>
                  <a:uFillTx/>
                  <a:latin typeface="Yekan Bakh FaNum SmBoldSmCond" pitchFamily="2" charset="-78"/>
                  <a:ea typeface="Yekan Bakh FaNum SmBoldSmCond" pitchFamily="2" charset="-78"/>
                  <a:cs typeface="Yekan Bakh FaNum SmBoldSmCond" pitchFamily="2" charset="-78"/>
                </a:endParaRPr>
              </a:p>
            </p:txBody>
          </p:sp>
        </p:grpSp>
        <p:sp>
          <p:nvSpPr>
            <p:cNvPr id="23" name="Title 1">
              <a:extLst>
                <a:ext uri="{FF2B5EF4-FFF2-40B4-BE49-F238E27FC236}">
                  <a16:creationId xmlns:a16="http://schemas.microsoft.com/office/drawing/2014/main" id="{7CDF7F9A-92A7-C8D5-3D8E-3C3DBF182383}"/>
                </a:ext>
              </a:extLst>
            </p:cNvPr>
            <p:cNvSpPr txBox="1">
              <a:spLocks/>
            </p:cNvSpPr>
            <p:nvPr/>
          </p:nvSpPr>
          <p:spPr>
            <a:xfrm>
              <a:off x="407773" y="2485703"/>
              <a:ext cx="4699486" cy="693069"/>
            </a:xfrm>
            <a:prstGeom prst="rect">
              <a:avLst/>
            </a:prstGeom>
          </p:spPr>
          <p:txBody>
            <a:bodyPr lIns="91440" tIns="45720" rIns="91440" bIns="45720" anchor="t"/>
            <a:lstStyle>
              <a:lvl1pPr algn="justLow" defTabSz="1021516" rtl="1" eaLnBrk="1" latinLnBrk="0" hangingPunct="1">
                <a:lnSpc>
                  <a:spcPct val="90000"/>
                </a:lnSpc>
                <a:spcBef>
                  <a:spcPct val="0"/>
                </a:spcBef>
                <a:buNone/>
                <a:defRPr sz="4500" b="1" kern="1200">
                  <a:solidFill>
                    <a:schemeClr val="tx1">
                      <a:lumMod val="75000"/>
                      <a:lumOff val="25000"/>
                    </a:schemeClr>
                  </a:solidFill>
                  <a:latin typeface="Shabnam Bold FD" panose="020B0603030804020204" pitchFamily="34" charset="-78"/>
                  <a:ea typeface="+mj-ea"/>
                  <a:cs typeface="Shabnam Bold FD" panose="020B0603030804020204" pitchFamily="34" charset="-78"/>
                </a:defRPr>
              </a:lvl1pPr>
            </a:lstStyle>
            <a:p>
              <a:pPr marL="0" marR="0" lvl="0" indent="0" algn="ctr" defTabSz="1021516" rtl="0" eaLnBrk="1" fontAlgn="auto" latinLnBrk="0" hangingPunct="1">
                <a:lnSpc>
                  <a:spcPct val="90000"/>
                </a:lnSpc>
                <a:spcBef>
                  <a:spcPct val="0"/>
                </a:spcBef>
                <a:spcAft>
                  <a:spcPts val="0"/>
                </a:spcAft>
                <a:buClrTx/>
                <a:buSzTx/>
                <a:buFontTx/>
                <a:buNone/>
                <a:tabLst/>
                <a:defRPr/>
              </a:pPr>
              <a:r>
                <a:rPr kumimoji="0" lang="fa-IR" sz="3200" b="1" i="0" u="none" strike="noStrike" kern="1200" cap="none" spc="0" normalizeH="0" baseline="0" noProof="0" dirty="0">
                  <a:ln>
                    <a:noFill/>
                  </a:ln>
                  <a:solidFill>
                    <a:sysClr val="window" lastClr="FFFFFF">
                      <a:lumMod val="75000"/>
                      <a:lumOff val="25000"/>
                    </a:sysClr>
                  </a:solidFill>
                  <a:effectLst/>
                  <a:uLnTx/>
                  <a:uFillTx/>
                  <a:latin typeface="Yekan Bakh" pitchFamily="2" charset="-78"/>
                  <a:ea typeface="Yekan Bakh" pitchFamily="2" charset="-78"/>
                  <a:cs typeface="Yekan Bakh" pitchFamily="2" charset="-78"/>
                </a:rPr>
                <a:t>اقدام آتی</a:t>
              </a:r>
            </a:p>
          </p:txBody>
        </p:sp>
        <p:cxnSp>
          <p:nvCxnSpPr>
            <p:cNvPr id="25" name="Straight Connector 24">
              <a:extLst>
                <a:ext uri="{FF2B5EF4-FFF2-40B4-BE49-F238E27FC236}">
                  <a16:creationId xmlns:a16="http://schemas.microsoft.com/office/drawing/2014/main" id="{B4014141-3C0E-37A6-A7CD-A94BF28E5526}"/>
                </a:ext>
              </a:extLst>
            </p:cNvPr>
            <p:cNvCxnSpPr>
              <a:cxnSpLocks/>
            </p:cNvCxnSpPr>
            <p:nvPr/>
          </p:nvCxnSpPr>
          <p:spPr>
            <a:xfrm flipV="1">
              <a:off x="407773" y="3238596"/>
              <a:ext cx="4699486" cy="19385"/>
            </a:xfrm>
            <a:prstGeom prst="line">
              <a:avLst/>
            </a:prstGeom>
            <a:ln w="3175">
              <a:solidFill>
                <a:srgbClr val="F0BE0F">
                  <a:alpha val="74000"/>
                </a:srgbClr>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81CA1CB6-5183-9348-1F4F-5FE831E8DFFA}"/>
                </a:ext>
              </a:extLst>
            </p:cNvPr>
            <p:cNvGrpSpPr/>
            <p:nvPr/>
          </p:nvGrpSpPr>
          <p:grpSpPr>
            <a:xfrm>
              <a:off x="525137" y="3920656"/>
              <a:ext cx="4582122" cy="291618"/>
              <a:chOff x="525137" y="3840896"/>
              <a:chExt cx="4582122" cy="291618"/>
            </a:xfrm>
          </p:grpSpPr>
          <p:sp>
            <p:nvSpPr>
              <p:cNvPr id="4" name="TextBox 3">
                <a:extLst>
                  <a:ext uri="{FF2B5EF4-FFF2-40B4-BE49-F238E27FC236}">
                    <a16:creationId xmlns:a16="http://schemas.microsoft.com/office/drawing/2014/main" id="{1FA57A5D-36DA-BE39-F18E-F9AAF5F68141}"/>
                  </a:ext>
                </a:extLst>
              </p:cNvPr>
              <p:cNvSpPr txBox="1"/>
              <p:nvPr/>
            </p:nvSpPr>
            <p:spPr>
              <a:xfrm>
                <a:off x="1648542" y="3855130"/>
                <a:ext cx="3458717" cy="263149"/>
              </a:xfrm>
              <a:prstGeom prst="rect">
                <a:avLst/>
              </a:prstGeom>
              <a:noFill/>
            </p:spPr>
            <p:txBody>
              <a:bodyPr wrap="square" anchor="ctr">
                <a:spAutoFit/>
              </a:bodyPr>
              <a:lstStyle/>
              <a:p>
                <a:pPr marL="285750" marR="0" lvl="0" indent="-285750" algn="r" defTabSz="914400" rtl="1" eaLnBrk="1" fontAlgn="auto" latinLnBrk="0" hangingPunct="1">
                  <a:lnSpc>
                    <a:spcPct val="90000"/>
                  </a:lnSpc>
                  <a:spcBef>
                    <a:spcPts val="1117"/>
                  </a:spcBef>
                  <a:spcAft>
                    <a:spcPts val="0"/>
                  </a:spcAft>
                  <a:buClr>
                    <a:srgbClr val="F0BE0F"/>
                  </a:buClr>
                  <a:buSzTx/>
                  <a:buFont typeface="Arial" panose="020B0604020202020204" pitchFamily="34" charset="0"/>
                  <a:buChar char="•"/>
                  <a:tabLst/>
                  <a:defRPr/>
                </a:pPr>
                <a:r>
                  <a:rPr kumimoji="0" lang="fa-IR" sz="1200" b="0" i="0" u="none" strike="noStrike" kern="1200" cap="none" spc="0" normalizeH="0" baseline="0" noProof="0" dirty="0">
                    <a:ln>
                      <a:noFill/>
                    </a:ln>
                    <a:solidFill>
                      <a:prstClr val="white">
                        <a:lumMod val="75000"/>
                      </a:prstClr>
                    </a:solidFill>
                    <a:effectLst/>
                    <a:uLnTx/>
                    <a:uFillTx/>
                    <a:latin typeface="Yekan Bakh" pitchFamily="2" charset="-78"/>
                    <a:ea typeface="Yekan Bakh" pitchFamily="2" charset="-78"/>
                    <a:cs typeface="Yekan Bakh" pitchFamily="2" charset="-78"/>
                  </a:rPr>
                  <a:t>زنجیره ارزش صنعت</a:t>
                </a:r>
              </a:p>
            </p:txBody>
          </p:sp>
          <p:sp>
            <p:nvSpPr>
              <p:cNvPr id="5" name="TextBox 4">
                <a:extLst>
                  <a:ext uri="{FF2B5EF4-FFF2-40B4-BE49-F238E27FC236}">
                    <a16:creationId xmlns:a16="http://schemas.microsoft.com/office/drawing/2014/main" id="{DF2A522C-A2B1-F778-6038-39697987F38B}"/>
                  </a:ext>
                </a:extLst>
              </p:cNvPr>
              <p:cNvSpPr txBox="1"/>
              <p:nvPr/>
            </p:nvSpPr>
            <p:spPr>
              <a:xfrm>
                <a:off x="525137" y="3840896"/>
                <a:ext cx="899015" cy="291618"/>
              </a:xfrm>
              <a:prstGeom prst="rect">
                <a:avLst/>
              </a:prstGeom>
              <a:noFill/>
            </p:spPr>
            <p:txBody>
              <a:bodyPr wrap="square" anchor="ctr">
                <a:spAutoFit/>
              </a:bodyPr>
              <a:lstStyle/>
              <a:p>
                <a:pPr marL="0" marR="0" lvl="0" indent="0" algn="ctr" defTabSz="914400" rtl="0" eaLnBrk="1" fontAlgn="auto" latinLnBrk="0" hangingPunct="1">
                  <a:lnSpc>
                    <a:spcPct val="90000"/>
                  </a:lnSpc>
                  <a:spcBef>
                    <a:spcPts val="1117"/>
                  </a:spcBef>
                  <a:spcAft>
                    <a:spcPts val="0"/>
                  </a:spcAft>
                  <a:buClr>
                    <a:srgbClr val="F0BE0F"/>
                  </a:buClr>
                  <a:buSzTx/>
                  <a:buFontTx/>
                  <a:buNone/>
                  <a:tabLst/>
                  <a:defRPr/>
                </a:pPr>
                <a:r>
                  <a:rPr kumimoji="0" lang="fa-IR" sz="1400" b="1" i="0" u="none" strike="noStrike" kern="1200" cap="none" spc="0" normalizeH="0" baseline="0" noProof="0" dirty="0">
                    <a:ln>
                      <a:noFill/>
                    </a:ln>
                    <a:solidFill>
                      <a:srgbClr val="FDBF03">
                        <a:lumMod val="60000"/>
                        <a:lumOff val="40000"/>
                      </a:srgbClr>
                    </a:solidFill>
                    <a:effectLst/>
                    <a:uLnTx/>
                    <a:uFillTx/>
                    <a:latin typeface="Yekan Bakh FaNum SmBoldSmCond" pitchFamily="2" charset="-78"/>
                    <a:ea typeface="Yekan Bakh FaNum SmBoldSmCond" pitchFamily="2" charset="-78"/>
                    <a:cs typeface="Yekan Bakh FaNum SmBoldSmCond" pitchFamily="2" charset="-78"/>
                  </a:rPr>
                  <a:t>۹۵-۹۶</a:t>
                </a:r>
                <a:endParaRPr kumimoji="0" lang="en-US" sz="1400" b="1" i="0" u="none" strike="noStrike" kern="1200" cap="none" spc="0" normalizeH="0" baseline="0" noProof="0" dirty="0">
                  <a:ln>
                    <a:noFill/>
                  </a:ln>
                  <a:solidFill>
                    <a:srgbClr val="FDBF03">
                      <a:lumMod val="60000"/>
                      <a:lumOff val="40000"/>
                    </a:srgbClr>
                  </a:solidFill>
                  <a:effectLst/>
                  <a:uLnTx/>
                  <a:uFillTx/>
                  <a:latin typeface="Yekan Bakh FaNum SmBoldSmCond" pitchFamily="2" charset="-78"/>
                  <a:ea typeface="Yekan Bakh FaNum SmBoldSmCond" pitchFamily="2" charset="-78"/>
                  <a:cs typeface="Yekan Bakh FaNum SmBoldSmCond" pitchFamily="2" charset="-78"/>
                </a:endParaRPr>
              </a:p>
            </p:txBody>
          </p:sp>
        </p:grpSp>
        <p:grpSp>
          <p:nvGrpSpPr>
            <p:cNvPr id="6" name="Group 5">
              <a:extLst>
                <a:ext uri="{FF2B5EF4-FFF2-40B4-BE49-F238E27FC236}">
                  <a16:creationId xmlns:a16="http://schemas.microsoft.com/office/drawing/2014/main" id="{2C47A632-0E3E-3012-07FE-A111F3B843EF}"/>
                </a:ext>
              </a:extLst>
            </p:cNvPr>
            <p:cNvGrpSpPr/>
            <p:nvPr/>
          </p:nvGrpSpPr>
          <p:grpSpPr>
            <a:xfrm>
              <a:off x="525137" y="4241716"/>
              <a:ext cx="4582122" cy="291618"/>
              <a:chOff x="525137" y="3840896"/>
              <a:chExt cx="4582122" cy="291618"/>
            </a:xfrm>
          </p:grpSpPr>
          <p:sp>
            <p:nvSpPr>
              <p:cNvPr id="7" name="TextBox 6">
                <a:extLst>
                  <a:ext uri="{FF2B5EF4-FFF2-40B4-BE49-F238E27FC236}">
                    <a16:creationId xmlns:a16="http://schemas.microsoft.com/office/drawing/2014/main" id="{4560E9F7-88A1-C34B-56BC-ADE19C252EF4}"/>
                  </a:ext>
                </a:extLst>
              </p:cNvPr>
              <p:cNvSpPr txBox="1"/>
              <p:nvPr/>
            </p:nvSpPr>
            <p:spPr>
              <a:xfrm>
                <a:off x="1648542" y="3855130"/>
                <a:ext cx="3458717" cy="263149"/>
              </a:xfrm>
              <a:prstGeom prst="rect">
                <a:avLst/>
              </a:prstGeom>
              <a:noFill/>
            </p:spPr>
            <p:txBody>
              <a:bodyPr wrap="square" anchor="ctr">
                <a:spAutoFit/>
              </a:bodyPr>
              <a:lstStyle/>
              <a:p>
                <a:pPr marL="285750" marR="0" lvl="0" indent="-285750" algn="r" defTabSz="914400" rtl="1" eaLnBrk="1" fontAlgn="auto" latinLnBrk="0" hangingPunct="1">
                  <a:lnSpc>
                    <a:spcPct val="90000"/>
                  </a:lnSpc>
                  <a:spcBef>
                    <a:spcPts val="1117"/>
                  </a:spcBef>
                  <a:spcAft>
                    <a:spcPts val="0"/>
                  </a:spcAft>
                  <a:buClr>
                    <a:srgbClr val="F0BE0F"/>
                  </a:buClr>
                  <a:buSzTx/>
                  <a:buFont typeface="Arial" panose="020B0604020202020204" pitchFamily="34" charset="0"/>
                  <a:buChar char="•"/>
                  <a:tabLst/>
                  <a:defRPr/>
                </a:pPr>
                <a:r>
                  <a:rPr kumimoji="0" lang="en-US" sz="1200" b="0" i="0" u="none" strike="noStrike" kern="1200" cap="none" spc="0" normalizeH="0" baseline="0" noProof="0" dirty="0">
                    <a:ln>
                      <a:noFill/>
                    </a:ln>
                    <a:solidFill>
                      <a:prstClr val="white">
                        <a:lumMod val="75000"/>
                      </a:prstClr>
                    </a:solidFill>
                    <a:effectLst/>
                    <a:uLnTx/>
                    <a:uFillTx/>
                    <a:latin typeface="Yekan Bakh" pitchFamily="2" charset="-78"/>
                    <a:ea typeface="Yekan Bakh" pitchFamily="2" charset="-78"/>
                    <a:cs typeface="Yekan Bakh" pitchFamily="2" charset="-78"/>
                  </a:rPr>
                  <a:t>Being</a:t>
                </a:r>
                <a:r>
                  <a:rPr kumimoji="0" lang="fa-IR" sz="1200" b="0" i="0" u="none" strike="noStrike" kern="1200" cap="none" spc="0" normalizeH="0" baseline="0" noProof="0" dirty="0">
                    <a:ln>
                      <a:noFill/>
                    </a:ln>
                    <a:solidFill>
                      <a:prstClr val="white">
                        <a:lumMod val="75000"/>
                      </a:prstClr>
                    </a:solidFill>
                    <a:effectLst/>
                    <a:uLnTx/>
                    <a:uFillTx/>
                    <a:latin typeface="Yekan Bakh" pitchFamily="2" charset="-78"/>
                    <a:ea typeface="Yekan Bakh" pitchFamily="2" charset="-78"/>
                    <a:cs typeface="Yekan Bakh" pitchFamily="2" charset="-78"/>
                  </a:rPr>
                  <a:t> در برابر</a:t>
                </a:r>
                <a:r>
                  <a:rPr kumimoji="0" lang="en-US" sz="1200" b="0" i="0" u="none" strike="noStrike" kern="1200" cap="none" spc="0" normalizeH="0" baseline="0" noProof="0" dirty="0">
                    <a:ln>
                      <a:noFill/>
                    </a:ln>
                    <a:solidFill>
                      <a:prstClr val="white">
                        <a:lumMod val="75000"/>
                      </a:prstClr>
                    </a:solidFill>
                    <a:effectLst/>
                    <a:uLnTx/>
                    <a:uFillTx/>
                    <a:latin typeface="Yekan Bakh" pitchFamily="2" charset="-78"/>
                    <a:ea typeface="Yekan Bakh" pitchFamily="2" charset="-78"/>
                    <a:cs typeface="Yekan Bakh" pitchFamily="2" charset="-78"/>
                  </a:rPr>
                  <a:t>Doing — </a:t>
                </a:r>
                <a:r>
                  <a:rPr kumimoji="0" lang="fa-IR" sz="1200" b="0" i="0" u="none" strike="noStrike" kern="1200" cap="none" spc="0" normalizeH="0" baseline="0" noProof="0" dirty="0">
                    <a:ln>
                      <a:noFill/>
                    </a:ln>
                    <a:solidFill>
                      <a:prstClr val="white">
                        <a:lumMod val="75000"/>
                      </a:prstClr>
                    </a:solidFill>
                    <a:effectLst/>
                    <a:uLnTx/>
                    <a:uFillTx/>
                    <a:latin typeface="Yekan Bakh" pitchFamily="2" charset="-78"/>
                    <a:ea typeface="Yekan Bakh" pitchFamily="2" charset="-78"/>
                    <a:cs typeface="Yekan Bakh" pitchFamily="2" charset="-78"/>
                  </a:rPr>
                  <a:t> تعریف عملیاتی</a:t>
                </a:r>
              </a:p>
            </p:txBody>
          </p:sp>
          <p:sp>
            <p:nvSpPr>
              <p:cNvPr id="8" name="TextBox 7">
                <a:extLst>
                  <a:ext uri="{FF2B5EF4-FFF2-40B4-BE49-F238E27FC236}">
                    <a16:creationId xmlns:a16="http://schemas.microsoft.com/office/drawing/2014/main" id="{3157F704-6077-FA29-0EBD-071D4DAE8844}"/>
                  </a:ext>
                </a:extLst>
              </p:cNvPr>
              <p:cNvSpPr txBox="1"/>
              <p:nvPr/>
            </p:nvSpPr>
            <p:spPr>
              <a:xfrm>
                <a:off x="525137" y="3840896"/>
                <a:ext cx="899015" cy="291618"/>
              </a:xfrm>
              <a:prstGeom prst="rect">
                <a:avLst/>
              </a:prstGeom>
              <a:noFill/>
            </p:spPr>
            <p:txBody>
              <a:bodyPr wrap="square" anchor="ctr">
                <a:spAutoFit/>
              </a:bodyPr>
              <a:lstStyle/>
              <a:p>
                <a:pPr marL="0" marR="0" lvl="0" indent="0" algn="ctr" defTabSz="914400" rtl="0" eaLnBrk="1" fontAlgn="auto" latinLnBrk="0" hangingPunct="1">
                  <a:lnSpc>
                    <a:spcPct val="90000"/>
                  </a:lnSpc>
                  <a:spcBef>
                    <a:spcPts val="1117"/>
                  </a:spcBef>
                  <a:spcAft>
                    <a:spcPts val="0"/>
                  </a:spcAft>
                  <a:buClr>
                    <a:srgbClr val="F0BE0F"/>
                  </a:buClr>
                  <a:buSzTx/>
                  <a:buFontTx/>
                  <a:buNone/>
                  <a:tabLst/>
                  <a:defRPr/>
                </a:pPr>
                <a:r>
                  <a:rPr kumimoji="0" lang="fa-IR" sz="1400" b="1" i="0" u="none" strike="noStrike" kern="1200" cap="none" spc="0" normalizeH="0" baseline="0" noProof="0" dirty="0">
                    <a:ln>
                      <a:noFill/>
                    </a:ln>
                    <a:solidFill>
                      <a:srgbClr val="FDBF03">
                        <a:lumMod val="60000"/>
                        <a:lumOff val="40000"/>
                      </a:srgbClr>
                    </a:solidFill>
                    <a:effectLst/>
                    <a:uLnTx/>
                    <a:uFillTx/>
                    <a:latin typeface="Yekan Bakh FaNum SmBoldSmCond" pitchFamily="2" charset="-78"/>
                    <a:ea typeface="Yekan Bakh FaNum SmBoldSmCond" pitchFamily="2" charset="-78"/>
                    <a:cs typeface="Yekan Bakh FaNum SmBoldSmCond" pitchFamily="2" charset="-78"/>
                  </a:rPr>
                  <a:t>۹۷</a:t>
                </a:r>
                <a:endParaRPr kumimoji="0" lang="en-US" sz="1400" b="1" i="0" u="none" strike="noStrike" kern="1200" cap="none" spc="0" normalizeH="0" baseline="0" noProof="0" dirty="0">
                  <a:ln>
                    <a:noFill/>
                  </a:ln>
                  <a:solidFill>
                    <a:srgbClr val="FDBF03">
                      <a:lumMod val="60000"/>
                      <a:lumOff val="40000"/>
                    </a:srgbClr>
                  </a:solidFill>
                  <a:effectLst/>
                  <a:uLnTx/>
                  <a:uFillTx/>
                  <a:latin typeface="Yekan Bakh FaNum SmBoldSmCond" pitchFamily="2" charset="-78"/>
                  <a:ea typeface="Yekan Bakh FaNum SmBoldSmCond" pitchFamily="2" charset="-78"/>
                  <a:cs typeface="Yekan Bakh FaNum SmBoldSmCond" pitchFamily="2" charset="-78"/>
                </a:endParaRPr>
              </a:p>
            </p:txBody>
          </p:sp>
        </p:grpSp>
        <p:grpSp>
          <p:nvGrpSpPr>
            <p:cNvPr id="10" name="Group 9">
              <a:extLst>
                <a:ext uri="{FF2B5EF4-FFF2-40B4-BE49-F238E27FC236}">
                  <a16:creationId xmlns:a16="http://schemas.microsoft.com/office/drawing/2014/main" id="{BB915EF6-CBBF-B9A2-265D-0C49D2FD6B25}"/>
                </a:ext>
              </a:extLst>
            </p:cNvPr>
            <p:cNvGrpSpPr/>
            <p:nvPr/>
          </p:nvGrpSpPr>
          <p:grpSpPr>
            <a:xfrm>
              <a:off x="525137" y="4562776"/>
              <a:ext cx="4582122" cy="291618"/>
              <a:chOff x="525137" y="3840896"/>
              <a:chExt cx="4582122" cy="291618"/>
            </a:xfrm>
          </p:grpSpPr>
          <p:sp>
            <p:nvSpPr>
              <p:cNvPr id="11" name="TextBox 10">
                <a:extLst>
                  <a:ext uri="{FF2B5EF4-FFF2-40B4-BE49-F238E27FC236}">
                    <a16:creationId xmlns:a16="http://schemas.microsoft.com/office/drawing/2014/main" id="{3158C646-5565-D970-913D-22DF3F89FDE1}"/>
                  </a:ext>
                </a:extLst>
              </p:cNvPr>
              <p:cNvSpPr txBox="1"/>
              <p:nvPr/>
            </p:nvSpPr>
            <p:spPr>
              <a:xfrm>
                <a:off x="1648542" y="3855130"/>
                <a:ext cx="3458717" cy="263149"/>
              </a:xfrm>
              <a:prstGeom prst="rect">
                <a:avLst/>
              </a:prstGeom>
              <a:noFill/>
            </p:spPr>
            <p:txBody>
              <a:bodyPr wrap="square" anchor="ctr">
                <a:spAutoFit/>
              </a:bodyPr>
              <a:lstStyle/>
              <a:p>
                <a:pPr marL="285750" marR="0" lvl="0" indent="-285750" algn="r" defTabSz="914400" rtl="1" eaLnBrk="1" fontAlgn="auto" latinLnBrk="0" hangingPunct="1">
                  <a:lnSpc>
                    <a:spcPct val="90000"/>
                  </a:lnSpc>
                  <a:spcBef>
                    <a:spcPts val="1117"/>
                  </a:spcBef>
                  <a:spcAft>
                    <a:spcPts val="0"/>
                  </a:spcAft>
                  <a:buClr>
                    <a:srgbClr val="F0BE0F"/>
                  </a:buClr>
                  <a:buSzTx/>
                  <a:buFont typeface="Arial" panose="020B0604020202020204" pitchFamily="34" charset="0"/>
                  <a:buChar char="•"/>
                  <a:tabLst/>
                  <a:defRPr/>
                </a:pPr>
                <a:r>
                  <a:rPr kumimoji="0" lang="fa-IR" sz="1200" b="0" i="0" u="none" strike="noStrike" kern="1200" cap="none" spc="0" normalizeH="0" baseline="0" noProof="0" dirty="0">
                    <a:ln>
                      <a:noFill/>
                    </a:ln>
                    <a:solidFill>
                      <a:prstClr val="white">
                        <a:lumMod val="75000"/>
                      </a:prstClr>
                    </a:solidFill>
                    <a:effectLst/>
                    <a:uLnTx/>
                    <a:uFillTx/>
                    <a:latin typeface="Yekan Bakh" pitchFamily="2" charset="-78"/>
                    <a:ea typeface="Yekan Bakh" pitchFamily="2" charset="-78"/>
                    <a:cs typeface="Yekan Bakh" pitchFamily="2" charset="-78"/>
                  </a:rPr>
                  <a:t>سازوکار پول‌سازی از </a:t>
                </a:r>
                <a:r>
                  <a:rPr kumimoji="0" lang="en-US" sz="1200" b="0" i="0" u="none" strike="noStrike" kern="1200" cap="none" spc="0" normalizeH="0" baseline="0" noProof="0" dirty="0">
                    <a:ln>
                      <a:noFill/>
                    </a:ln>
                    <a:solidFill>
                      <a:prstClr val="white">
                        <a:lumMod val="75000"/>
                      </a:prstClr>
                    </a:solidFill>
                    <a:effectLst/>
                    <a:uLnTx/>
                    <a:uFillTx/>
                    <a:latin typeface="Yekan Bakh" pitchFamily="2" charset="-78"/>
                    <a:ea typeface="Yekan Bakh" pitchFamily="2" charset="-78"/>
                    <a:cs typeface="Yekan Bakh" pitchFamily="2" charset="-78"/>
                  </a:rPr>
                  <a:t>Being</a:t>
                </a:r>
                <a:endParaRPr kumimoji="0" lang="fa-IR" sz="1200" b="0" i="0" u="none" strike="noStrike" kern="1200" cap="none" spc="0" normalizeH="0" baseline="0" noProof="0" dirty="0">
                  <a:ln>
                    <a:noFill/>
                  </a:ln>
                  <a:solidFill>
                    <a:prstClr val="white">
                      <a:lumMod val="75000"/>
                    </a:prstClr>
                  </a:solidFill>
                  <a:effectLst/>
                  <a:uLnTx/>
                  <a:uFillTx/>
                  <a:latin typeface="Yekan Bakh" pitchFamily="2" charset="-78"/>
                  <a:ea typeface="Yekan Bakh" pitchFamily="2" charset="-78"/>
                  <a:cs typeface="Yekan Bakh" pitchFamily="2" charset="-78"/>
                </a:endParaRPr>
              </a:p>
            </p:txBody>
          </p:sp>
          <p:sp>
            <p:nvSpPr>
              <p:cNvPr id="12" name="TextBox 11">
                <a:extLst>
                  <a:ext uri="{FF2B5EF4-FFF2-40B4-BE49-F238E27FC236}">
                    <a16:creationId xmlns:a16="http://schemas.microsoft.com/office/drawing/2014/main" id="{78BC5054-D41E-9D2C-11D5-49D9E16131A0}"/>
                  </a:ext>
                </a:extLst>
              </p:cNvPr>
              <p:cNvSpPr txBox="1"/>
              <p:nvPr/>
            </p:nvSpPr>
            <p:spPr>
              <a:xfrm>
                <a:off x="525137" y="3840896"/>
                <a:ext cx="899015" cy="291618"/>
              </a:xfrm>
              <a:prstGeom prst="rect">
                <a:avLst/>
              </a:prstGeom>
              <a:noFill/>
            </p:spPr>
            <p:txBody>
              <a:bodyPr wrap="square" anchor="ctr">
                <a:spAutoFit/>
              </a:bodyPr>
              <a:lstStyle/>
              <a:p>
                <a:pPr marL="0" marR="0" lvl="0" indent="0" algn="ctr" defTabSz="914400" rtl="0" eaLnBrk="1" fontAlgn="auto" latinLnBrk="0" hangingPunct="1">
                  <a:lnSpc>
                    <a:spcPct val="90000"/>
                  </a:lnSpc>
                  <a:spcBef>
                    <a:spcPts val="1117"/>
                  </a:spcBef>
                  <a:spcAft>
                    <a:spcPts val="0"/>
                  </a:spcAft>
                  <a:buClr>
                    <a:srgbClr val="F0BE0F"/>
                  </a:buClr>
                  <a:buSzTx/>
                  <a:buFontTx/>
                  <a:buNone/>
                  <a:tabLst/>
                  <a:defRPr/>
                </a:pPr>
                <a:r>
                  <a:rPr kumimoji="0" lang="fa-IR" sz="1400" b="1" i="0" u="none" strike="noStrike" kern="1200" cap="none" spc="0" normalizeH="0" baseline="0" noProof="0" dirty="0">
                    <a:ln>
                      <a:noFill/>
                    </a:ln>
                    <a:solidFill>
                      <a:srgbClr val="FDBF03">
                        <a:lumMod val="60000"/>
                        <a:lumOff val="40000"/>
                      </a:srgbClr>
                    </a:solidFill>
                    <a:effectLst/>
                    <a:uLnTx/>
                    <a:uFillTx/>
                    <a:latin typeface="Yekan Bakh FaNum SmBoldSmCond" pitchFamily="2" charset="-78"/>
                    <a:ea typeface="Yekan Bakh FaNum SmBoldSmCond" pitchFamily="2" charset="-78"/>
                    <a:cs typeface="Yekan Bakh FaNum SmBoldSmCond" pitchFamily="2" charset="-78"/>
                  </a:rPr>
                  <a:t>۹۸</a:t>
                </a:r>
                <a:endParaRPr kumimoji="0" lang="en-US" sz="1400" b="1" i="0" u="none" strike="noStrike" kern="1200" cap="none" spc="0" normalizeH="0" baseline="0" noProof="0" dirty="0">
                  <a:ln>
                    <a:noFill/>
                  </a:ln>
                  <a:solidFill>
                    <a:srgbClr val="FDBF03">
                      <a:lumMod val="60000"/>
                      <a:lumOff val="40000"/>
                    </a:srgbClr>
                  </a:solidFill>
                  <a:effectLst/>
                  <a:uLnTx/>
                  <a:uFillTx/>
                  <a:latin typeface="Yekan Bakh FaNum SmBoldSmCond" pitchFamily="2" charset="-78"/>
                  <a:ea typeface="Yekan Bakh FaNum SmBoldSmCond" pitchFamily="2" charset="-78"/>
                  <a:cs typeface="Yekan Bakh FaNum SmBoldSmCond" pitchFamily="2" charset="-78"/>
                </a:endParaRPr>
              </a:p>
            </p:txBody>
          </p:sp>
        </p:grpSp>
        <p:grpSp>
          <p:nvGrpSpPr>
            <p:cNvPr id="14" name="Group 13">
              <a:extLst>
                <a:ext uri="{FF2B5EF4-FFF2-40B4-BE49-F238E27FC236}">
                  <a16:creationId xmlns:a16="http://schemas.microsoft.com/office/drawing/2014/main" id="{1ABA0CB0-B846-1658-A785-1AEA6508C139}"/>
                </a:ext>
              </a:extLst>
            </p:cNvPr>
            <p:cNvGrpSpPr/>
            <p:nvPr/>
          </p:nvGrpSpPr>
          <p:grpSpPr>
            <a:xfrm>
              <a:off x="525137" y="4883836"/>
              <a:ext cx="4582122" cy="291618"/>
              <a:chOff x="525137" y="3840896"/>
              <a:chExt cx="4582122" cy="291618"/>
            </a:xfrm>
          </p:grpSpPr>
          <p:sp>
            <p:nvSpPr>
              <p:cNvPr id="16" name="TextBox 15">
                <a:extLst>
                  <a:ext uri="{FF2B5EF4-FFF2-40B4-BE49-F238E27FC236}">
                    <a16:creationId xmlns:a16="http://schemas.microsoft.com/office/drawing/2014/main" id="{F6753FD2-99ED-DBFC-9CFA-DF74996EB135}"/>
                  </a:ext>
                </a:extLst>
              </p:cNvPr>
              <p:cNvSpPr txBox="1"/>
              <p:nvPr/>
            </p:nvSpPr>
            <p:spPr>
              <a:xfrm>
                <a:off x="1648542" y="3855130"/>
                <a:ext cx="3458717" cy="263149"/>
              </a:xfrm>
              <a:prstGeom prst="rect">
                <a:avLst/>
              </a:prstGeom>
              <a:noFill/>
            </p:spPr>
            <p:txBody>
              <a:bodyPr wrap="square" anchor="ctr">
                <a:spAutoFit/>
              </a:bodyPr>
              <a:lstStyle/>
              <a:p>
                <a:pPr marL="285750" marR="0" lvl="0" indent="-285750" algn="r" defTabSz="914400" rtl="1" eaLnBrk="1" fontAlgn="auto" latinLnBrk="0" hangingPunct="1">
                  <a:lnSpc>
                    <a:spcPct val="90000"/>
                  </a:lnSpc>
                  <a:spcBef>
                    <a:spcPts val="1117"/>
                  </a:spcBef>
                  <a:spcAft>
                    <a:spcPts val="0"/>
                  </a:spcAft>
                  <a:buClr>
                    <a:srgbClr val="F0BE0F"/>
                  </a:buClr>
                  <a:buSzTx/>
                  <a:buFont typeface="Arial" panose="020B0604020202020204" pitchFamily="34" charset="0"/>
                  <a:buChar char="•"/>
                  <a:tabLst/>
                  <a:defRPr/>
                </a:pPr>
                <a:r>
                  <a:rPr kumimoji="0" lang="fa-IR" sz="1200" i="0" u="none" strike="noStrike" kern="1200" cap="none" spc="0" normalizeH="0" baseline="0" noProof="0" dirty="0">
                    <a:ln>
                      <a:noFill/>
                    </a:ln>
                    <a:solidFill>
                      <a:schemeClr val="bg1">
                        <a:lumMod val="75000"/>
                      </a:schemeClr>
                    </a:solidFill>
                    <a:effectLst/>
                    <a:uLnTx/>
                    <a:uFillTx/>
                    <a:latin typeface="Yekan Bakh" pitchFamily="2" charset="-78"/>
                    <a:ea typeface="Yekan Bakh" pitchFamily="2" charset="-78"/>
                    <a:cs typeface="Yekan Bakh" pitchFamily="2" charset="-78"/>
                  </a:rPr>
                  <a:t>دوازده بعد دارايى</a:t>
                </a:r>
              </a:p>
            </p:txBody>
          </p:sp>
          <p:sp>
            <p:nvSpPr>
              <p:cNvPr id="17" name="TextBox 16">
                <a:extLst>
                  <a:ext uri="{FF2B5EF4-FFF2-40B4-BE49-F238E27FC236}">
                    <a16:creationId xmlns:a16="http://schemas.microsoft.com/office/drawing/2014/main" id="{2258CB5B-A0BC-5E6E-CE7E-874E61C14EFE}"/>
                  </a:ext>
                </a:extLst>
              </p:cNvPr>
              <p:cNvSpPr txBox="1"/>
              <p:nvPr/>
            </p:nvSpPr>
            <p:spPr>
              <a:xfrm>
                <a:off x="525137" y="3840896"/>
                <a:ext cx="899015" cy="291618"/>
              </a:xfrm>
              <a:prstGeom prst="rect">
                <a:avLst/>
              </a:prstGeom>
              <a:noFill/>
            </p:spPr>
            <p:txBody>
              <a:bodyPr wrap="square" anchor="ctr">
                <a:spAutoFit/>
              </a:bodyPr>
              <a:lstStyle/>
              <a:p>
                <a:pPr marR="0" lvl="0" algn="ctr" defTabSz="914400" eaLnBrk="1" fontAlgn="auto" latinLnBrk="0" hangingPunct="1">
                  <a:lnSpc>
                    <a:spcPct val="90000"/>
                  </a:lnSpc>
                  <a:spcBef>
                    <a:spcPts val="1117"/>
                  </a:spcBef>
                  <a:spcAft>
                    <a:spcPts val="0"/>
                  </a:spcAft>
                  <a:buClr>
                    <a:srgbClr val="F0BE0F"/>
                  </a:buClr>
                  <a:buSzTx/>
                  <a:tabLst/>
                  <a:defRPr/>
                </a:pPr>
                <a:r>
                  <a:rPr lang="fa-IR" sz="1400" b="1" dirty="0">
                    <a:solidFill>
                      <a:schemeClr val="accent2">
                        <a:lumMod val="60000"/>
                        <a:lumOff val="40000"/>
                      </a:schemeClr>
                    </a:solidFill>
                    <a:latin typeface="Yekan Bakh FaNum SmBoldSmCond" pitchFamily="2" charset="-78"/>
                    <a:ea typeface="Yekan Bakh FaNum SmBoldSmCond" pitchFamily="2" charset="-78"/>
                    <a:cs typeface="Yekan Bakh FaNum SmBoldSmCond" pitchFamily="2" charset="-78"/>
                  </a:rPr>
                  <a:t>۹۹</a:t>
                </a:r>
                <a:endParaRPr kumimoji="0" lang="en-US" sz="1400" b="1" i="0" u="none" strike="noStrike" kern="1200" cap="none" spc="0" normalizeH="0" baseline="0" noProof="0" dirty="0">
                  <a:ln>
                    <a:noFill/>
                  </a:ln>
                  <a:solidFill>
                    <a:schemeClr val="accent2">
                      <a:lumMod val="60000"/>
                      <a:lumOff val="40000"/>
                    </a:schemeClr>
                  </a:solidFill>
                  <a:effectLst/>
                  <a:uLnTx/>
                  <a:uFillTx/>
                  <a:latin typeface="Yekan Bakh FaNum SmBoldSmCond" pitchFamily="2" charset="-78"/>
                  <a:ea typeface="Yekan Bakh FaNum SmBoldSmCond" pitchFamily="2" charset="-78"/>
                  <a:cs typeface="Yekan Bakh FaNum SmBoldSmCond" pitchFamily="2" charset="-78"/>
                </a:endParaRPr>
              </a:p>
            </p:txBody>
          </p:sp>
        </p:grpSp>
      </p:grpSp>
    </p:spTree>
    <p:extLst>
      <p:ext uri="{BB962C8B-B14F-4D97-AF65-F5344CB8AC3E}">
        <p14:creationId xmlns:p14="http://schemas.microsoft.com/office/powerpoint/2010/main" val="51156053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C65DEE0-8A05-9AA7-A349-FA72E0338D90}"/>
              </a:ext>
            </a:extLst>
          </p:cNvPr>
          <p:cNvSpPr>
            <a:spLocks noGrp="1"/>
          </p:cNvSpPr>
          <p:nvPr>
            <p:ph type="body" sz="quarter" idx="10"/>
          </p:nvPr>
        </p:nvSpPr>
        <p:spPr/>
        <p:txBody>
          <a:bodyPr/>
          <a:lstStyle/>
          <a:p>
            <a:endParaRPr lang="en-US"/>
          </a:p>
        </p:txBody>
      </p:sp>
      <p:sp>
        <p:nvSpPr>
          <p:cNvPr id="3" name="Text Placeholder 2">
            <a:extLst>
              <a:ext uri="{FF2B5EF4-FFF2-40B4-BE49-F238E27FC236}">
                <a16:creationId xmlns:a16="http://schemas.microsoft.com/office/drawing/2014/main" id="{4CCD3CC9-6773-83E3-7C56-86277FDE960B}"/>
              </a:ext>
            </a:extLst>
          </p:cNvPr>
          <p:cNvSpPr>
            <a:spLocks noGrp="1"/>
          </p:cNvSpPr>
          <p:nvPr>
            <p:ph type="body" sz="quarter" idx="12"/>
          </p:nvPr>
        </p:nvSpPr>
        <p:spPr/>
        <p:txBody>
          <a:bodyPr/>
          <a:lstStyle/>
          <a:p>
            <a:r>
              <a:rPr lang="fa-IR"/>
              <a:t>کمینه اکوسیستم پذیرفتنی (</a:t>
            </a:r>
            <a:r>
              <a:rPr lang="en-US"/>
              <a:t>MVE</a:t>
            </a:r>
            <a:r>
              <a:rPr lang="fa-IR"/>
              <a:t>)</a:t>
            </a:r>
            <a:endParaRPr lang="en-US"/>
          </a:p>
        </p:txBody>
      </p:sp>
      <p:pic>
        <p:nvPicPr>
          <p:cNvPr id="1026" name="Picture 2" descr="Innovating to create an ecosystem">
            <a:extLst>
              <a:ext uri="{FF2B5EF4-FFF2-40B4-BE49-F238E27FC236}">
                <a16:creationId xmlns:a16="http://schemas.microsoft.com/office/drawing/2014/main" id="{2E7C8446-D571-F27B-687D-E8EA76CB25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81798" y="1282807"/>
            <a:ext cx="4939454" cy="43571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367807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9C285-AE57-E475-8C86-C5F246DF404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387A854-3C48-42DE-E697-383355FB1EC4}"/>
              </a:ext>
            </a:extLst>
          </p:cNvPr>
          <p:cNvSpPr>
            <a:spLocks noGrp="1"/>
          </p:cNvSpPr>
          <p:nvPr>
            <p:ph type="body" sz="quarter" idx="10"/>
          </p:nvPr>
        </p:nvSpPr>
        <p:spPr/>
        <p:txBody>
          <a:bodyPr/>
          <a:lstStyle/>
          <a:p>
            <a:endParaRPr lang="en-GB"/>
          </a:p>
        </p:txBody>
      </p:sp>
      <p:sp>
        <p:nvSpPr>
          <p:cNvPr id="3" name="Text Placeholder 2">
            <a:extLst>
              <a:ext uri="{FF2B5EF4-FFF2-40B4-BE49-F238E27FC236}">
                <a16:creationId xmlns:a16="http://schemas.microsoft.com/office/drawing/2014/main" id="{8CF743B5-08FC-863C-D276-931D5031011E}"/>
              </a:ext>
            </a:extLst>
          </p:cNvPr>
          <p:cNvSpPr>
            <a:spLocks noGrp="1"/>
          </p:cNvSpPr>
          <p:nvPr>
            <p:ph type="body" sz="quarter" idx="12"/>
          </p:nvPr>
        </p:nvSpPr>
        <p:spPr/>
        <p:txBody>
          <a:bodyPr/>
          <a:lstStyle/>
          <a:p>
            <a:r>
              <a:rPr lang="en-US" dirty="0"/>
              <a:t>Meaningful Being</a:t>
            </a:r>
            <a:r>
              <a:rPr lang="fa-IR" dirty="0"/>
              <a:t>: موجودیتی مستقل و ارزش‌آفرین که خود به‌تنهایی دارای هویت، اعتبار، قابلیت و جایگاه معنادار در اکوسیستم است </a:t>
            </a:r>
          </a:p>
        </p:txBody>
      </p:sp>
      <p:sp>
        <p:nvSpPr>
          <p:cNvPr id="12" name="TextBox 11">
            <a:extLst>
              <a:ext uri="{FF2B5EF4-FFF2-40B4-BE49-F238E27FC236}">
                <a16:creationId xmlns:a16="http://schemas.microsoft.com/office/drawing/2014/main" id="{5E6E71D3-6AC8-AA34-4014-0B0C8C51C7E8}"/>
              </a:ext>
            </a:extLst>
          </p:cNvPr>
          <p:cNvSpPr txBox="1"/>
          <p:nvPr/>
        </p:nvSpPr>
        <p:spPr>
          <a:xfrm>
            <a:off x="555626" y="1769682"/>
            <a:ext cx="9615845" cy="276999"/>
          </a:xfrm>
          <a:prstGeom prst="rect">
            <a:avLst/>
          </a:prstGeom>
          <a:solidFill>
            <a:schemeClr val="accent2">
              <a:alpha val="16000"/>
            </a:schemeClr>
          </a:solidFill>
        </p:spPr>
        <p:txBody>
          <a:bodyPr wrap="square"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E2761"/>
                </a:solidFill>
                <a:effectLst/>
                <a:uLnTx/>
                <a:uFillTx/>
                <a:latin typeface="Yekan Bakh" pitchFamily="2" charset="-78"/>
                <a:ea typeface="Yekan Bakh" pitchFamily="2" charset="-78"/>
                <a:cs typeface="Yekan Bakh" pitchFamily="2" charset="-78"/>
              </a:rPr>
              <a:t>سازوکار </a:t>
            </a:r>
            <a:r>
              <a:rPr kumimoji="0" lang="en-US" sz="1200" b="1" i="0" u="none" strike="noStrike" kern="1200" cap="none" spc="0" normalizeH="0" baseline="0" noProof="0" dirty="0" err="1">
                <a:ln>
                  <a:noFill/>
                </a:ln>
                <a:solidFill>
                  <a:srgbClr val="1E2761"/>
                </a:solidFill>
                <a:effectLst/>
                <a:uLnTx/>
                <a:uFillTx/>
                <a:latin typeface="Yekan Bakh" pitchFamily="2" charset="-78"/>
                <a:ea typeface="Yekan Bakh" pitchFamily="2" charset="-78"/>
                <a:cs typeface="Yekan Bakh" pitchFamily="2" charset="-78"/>
              </a:rPr>
              <a:t>پول‌سازی</a:t>
            </a:r>
            <a:r>
              <a:rPr kumimoji="0" lang="en-US" sz="12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 </a:t>
            </a:r>
            <a:r>
              <a:rPr kumimoji="0" lang="en-US" sz="1200" b="1" i="0" u="none" strike="noStrike" kern="1200" cap="none" spc="0" normalizeH="0" baseline="0" noProof="0" dirty="0" err="1">
                <a:ln>
                  <a:noFill/>
                </a:ln>
                <a:solidFill>
                  <a:srgbClr val="1E2761"/>
                </a:solidFill>
                <a:effectLst/>
                <a:uLnTx/>
                <a:uFillTx/>
                <a:latin typeface="Yekan Bakh" pitchFamily="2" charset="-78"/>
                <a:ea typeface="Yekan Bakh" pitchFamily="2" charset="-78"/>
                <a:cs typeface="Yekan Bakh" pitchFamily="2" charset="-78"/>
              </a:rPr>
              <a:t>از</a:t>
            </a:r>
            <a:r>
              <a:rPr kumimoji="0" lang="en-US" sz="12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 Being</a:t>
            </a:r>
            <a:endParaRPr kumimoji="0" lang="fa-IR" sz="12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endParaRPr>
          </a:p>
        </p:txBody>
      </p:sp>
      <p:cxnSp>
        <p:nvCxnSpPr>
          <p:cNvPr id="23" name="Straight Connector 22">
            <a:extLst>
              <a:ext uri="{FF2B5EF4-FFF2-40B4-BE49-F238E27FC236}">
                <a16:creationId xmlns:a16="http://schemas.microsoft.com/office/drawing/2014/main" id="{0EF23F85-1FA4-200D-1EF6-565D50C78000}"/>
              </a:ext>
            </a:extLst>
          </p:cNvPr>
          <p:cNvCxnSpPr>
            <a:cxnSpLocks/>
          </p:cNvCxnSpPr>
          <p:nvPr/>
        </p:nvCxnSpPr>
        <p:spPr>
          <a:xfrm>
            <a:off x="555626" y="3181017"/>
            <a:ext cx="10591799" cy="1587"/>
          </a:xfrm>
          <a:prstGeom prst="line">
            <a:avLst/>
          </a:prstGeom>
          <a:ln w="3175">
            <a:solidFill>
              <a:schemeClr val="bg1">
                <a:lumMod val="85000"/>
              </a:schemeClr>
            </a:solidFill>
          </a:ln>
        </p:spPr>
        <p:style>
          <a:lnRef idx="1">
            <a:schemeClr val="accent4"/>
          </a:lnRef>
          <a:fillRef idx="0">
            <a:schemeClr val="accent4"/>
          </a:fillRef>
          <a:effectRef idx="0">
            <a:schemeClr val="accent4"/>
          </a:effectRef>
          <a:fontRef idx="minor">
            <a:schemeClr val="tx1"/>
          </a:fontRef>
        </p:style>
      </p:cxnSp>
      <p:cxnSp>
        <p:nvCxnSpPr>
          <p:cNvPr id="24" name="Straight Connector 23">
            <a:extLst>
              <a:ext uri="{FF2B5EF4-FFF2-40B4-BE49-F238E27FC236}">
                <a16:creationId xmlns:a16="http://schemas.microsoft.com/office/drawing/2014/main" id="{CA4B4A28-A736-DF4E-D506-4C6683CD44CD}"/>
              </a:ext>
            </a:extLst>
          </p:cNvPr>
          <p:cNvCxnSpPr>
            <a:cxnSpLocks/>
          </p:cNvCxnSpPr>
          <p:nvPr/>
        </p:nvCxnSpPr>
        <p:spPr>
          <a:xfrm>
            <a:off x="555626" y="2117515"/>
            <a:ext cx="10591799" cy="1587"/>
          </a:xfrm>
          <a:prstGeom prst="line">
            <a:avLst/>
          </a:prstGeom>
          <a:ln w="3175">
            <a:solidFill>
              <a:schemeClr val="bg1">
                <a:lumMod val="85000"/>
              </a:schemeClr>
            </a:solidFill>
          </a:ln>
        </p:spPr>
        <p:style>
          <a:lnRef idx="1">
            <a:schemeClr val="accent4"/>
          </a:lnRef>
          <a:fillRef idx="0">
            <a:schemeClr val="accent4"/>
          </a:fillRef>
          <a:effectRef idx="0">
            <a:schemeClr val="accent4"/>
          </a:effectRef>
          <a:fontRef idx="minor">
            <a:schemeClr val="tx1"/>
          </a:fontRef>
        </p:style>
      </p:cxnSp>
      <p:cxnSp>
        <p:nvCxnSpPr>
          <p:cNvPr id="25" name="Straight Connector 24">
            <a:extLst>
              <a:ext uri="{FF2B5EF4-FFF2-40B4-BE49-F238E27FC236}">
                <a16:creationId xmlns:a16="http://schemas.microsoft.com/office/drawing/2014/main" id="{EBA055CF-1CA1-486D-87FB-715EDCDC74E1}"/>
              </a:ext>
            </a:extLst>
          </p:cNvPr>
          <p:cNvCxnSpPr>
            <a:cxnSpLocks/>
          </p:cNvCxnSpPr>
          <p:nvPr/>
        </p:nvCxnSpPr>
        <p:spPr>
          <a:xfrm>
            <a:off x="555626" y="4245626"/>
            <a:ext cx="10591799" cy="1587"/>
          </a:xfrm>
          <a:prstGeom prst="line">
            <a:avLst/>
          </a:prstGeom>
          <a:ln w="3175">
            <a:solidFill>
              <a:schemeClr val="bg1">
                <a:lumMod val="85000"/>
              </a:schemeClr>
            </a:solidFill>
          </a:ln>
        </p:spPr>
        <p:style>
          <a:lnRef idx="1">
            <a:schemeClr val="accent4"/>
          </a:lnRef>
          <a:fillRef idx="0">
            <a:schemeClr val="accent4"/>
          </a:fillRef>
          <a:effectRef idx="0">
            <a:schemeClr val="accent4"/>
          </a:effectRef>
          <a:fontRef idx="minor">
            <a:schemeClr val="tx1"/>
          </a:fontRef>
        </p:style>
      </p:cxnSp>
      <p:cxnSp>
        <p:nvCxnSpPr>
          <p:cNvPr id="26" name="Straight Connector 25">
            <a:extLst>
              <a:ext uri="{FF2B5EF4-FFF2-40B4-BE49-F238E27FC236}">
                <a16:creationId xmlns:a16="http://schemas.microsoft.com/office/drawing/2014/main" id="{DD539ACA-46FE-3027-DF4E-59C24DFFA686}"/>
              </a:ext>
            </a:extLst>
          </p:cNvPr>
          <p:cNvCxnSpPr>
            <a:cxnSpLocks/>
          </p:cNvCxnSpPr>
          <p:nvPr/>
        </p:nvCxnSpPr>
        <p:spPr>
          <a:xfrm>
            <a:off x="555626" y="5418315"/>
            <a:ext cx="10591799" cy="1587"/>
          </a:xfrm>
          <a:prstGeom prst="line">
            <a:avLst/>
          </a:prstGeom>
          <a:ln w="3175">
            <a:solidFill>
              <a:schemeClr val="bg1">
                <a:lumMod val="85000"/>
              </a:schemeClr>
            </a:solidFill>
          </a:ln>
        </p:spPr>
        <p:style>
          <a:lnRef idx="1">
            <a:schemeClr val="accent4"/>
          </a:lnRef>
          <a:fillRef idx="0">
            <a:schemeClr val="accent4"/>
          </a:fillRef>
          <a:effectRef idx="0">
            <a:schemeClr val="accent4"/>
          </a:effectRef>
          <a:fontRef idx="minor">
            <a:schemeClr val="tx1"/>
          </a:fontRef>
        </p:style>
      </p:cxnSp>
      <p:sp>
        <p:nvSpPr>
          <p:cNvPr id="14" name="TextBox 13">
            <a:extLst>
              <a:ext uri="{FF2B5EF4-FFF2-40B4-BE49-F238E27FC236}">
                <a16:creationId xmlns:a16="http://schemas.microsoft.com/office/drawing/2014/main" id="{2D0D1EA9-1C70-6C6F-6E79-BAF4B93B0FB8}"/>
              </a:ext>
            </a:extLst>
          </p:cNvPr>
          <p:cNvSpPr txBox="1"/>
          <p:nvPr/>
        </p:nvSpPr>
        <p:spPr>
          <a:xfrm>
            <a:off x="5573483" y="2616166"/>
            <a:ext cx="4534445" cy="430887"/>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05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توانایی ایجاد و کنترل دسترسی به اطلاعات، منابع، شبکه‌ها، بازارها و بازیگران کلیدی که برای سایرین به‌سادگی قابل دسترس نیستند.</a:t>
            </a:r>
            <a:endParaRPr kumimoji="0" lang="en-US" sz="105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17" name="TextBox 16">
            <a:extLst>
              <a:ext uri="{FF2B5EF4-FFF2-40B4-BE49-F238E27FC236}">
                <a16:creationId xmlns:a16="http://schemas.microsoft.com/office/drawing/2014/main" id="{5D3C659D-E4AA-7F35-C357-103CA4337F17}"/>
              </a:ext>
            </a:extLst>
          </p:cNvPr>
          <p:cNvSpPr txBox="1"/>
          <p:nvPr/>
        </p:nvSpPr>
        <p:spPr>
          <a:xfrm>
            <a:off x="7456168" y="2253066"/>
            <a:ext cx="2651760" cy="400110"/>
          </a:xfrm>
          <a:prstGeom prst="rect">
            <a:avLst/>
          </a:prstGeom>
          <a:noFill/>
        </p:spPr>
        <p:txBody>
          <a:bodyPr wrap="square">
            <a:spAutoFit/>
          </a:bodyPr>
          <a:lstStyle/>
          <a:p>
            <a:pPr marL="0" marR="0" lvl="0" indent="0" algn="r" defTabSz="457200" rtl="1" eaLnBrk="1" fontAlgn="auto" latinLnBrk="0" hangingPunct="1">
              <a:lnSpc>
                <a:spcPct val="100000"/>
              </a:lnSpc>
              <a:spcBef>
                <a:spcPts val="600"/>
              </a:spcBef>
              <a:spcAft>
                <a:spcPts val="450"/>
              </a:spcAft>
              <a:buClrTx/>
              <a:buSzTx/>
              <a:buFontTx/>
              <a:buNone/>
              <a:tabLst/>
              <a:defRPr/>
            </a:pPr>
            <a:r>
              <a:rPr kumimoji="0" lang="fa-IR" sz="2000" b="1" i="0" u="none" strike="noStrike" kern="1200" cap="none" spc="0" normalizeH="0" baseline="0" noProof="0" dirty="0">
                <a:ln>
                  <a:noFill/>
                </a:ln>
                <a:solidFill>
                  <a:srgbClr val="004D80"/>
                </a:solidFill>
                <a:effectLst/>
                <a:uLnTx/>
                <a:uFillTx/>
                <a:latin typeface="Yekan Bakh" pitchFamily="2" charset="-78"/>
                <a:ea typeface="Yekan Bakh" pitchFamily="2" charset="-78"/>
                <a:cs typeface="Yekan Bakh" pitchFamily="2" charset="-78"/>
              </a:rPr>
              <a:t>دسترسی</a:t>
            </a:r>
            <a:r>
              <a:rPr kumimoji="0" lang="fa-IR" sz="1600" b="1" i="0" u="none" strike="noStrike" kern="1200" cap="none" spc="0" normalizeH="0" baseline="0" noProof="0" dirty="0">
                <a:ln>
                  <a:noFill/>
                </a:ln>
                <a:solidFill>
                  <a:srgbClr val="004D80"/>
                </a:solidFill>
                <a:effectLst/>
                <a:uLnTx/>
                <a:uFillTx/>
                <a:latin typeface="Yekan Bakh" pitchFamily="2" charset="-78"/>
                <a:ea typeface="Yekan Bakh" pitchFamily="2" charset="-78"/>
                <a:cs typeface="Yekan Bakh" pitchFamily="2" charset="-78"/>
              </a:rPr>
              <a:t> </a:t>
            </a:r>
            <a:r>
              <a:rPr kumimoji="0" lang="fa-IR" sz="1400" b="0" i="0" u="none" strike="noStrike" kern="1200" cap="none" spc="0" normalizeH="0" baseline="0" noProof="0" dirty="0">
                <a:ln>
                  <a:noFill/>
                </a:ln>
                <a:solidFill>
                  <a:srgbClr val="004D80"/>
                </a:solidFill>
                <a:effectLst/>
                <a:uLnTx/>
                <a:uFillTx/>
                <a:latin typeface="Yekan Bakh" pitchFamily="2" charset="-78"/>
                <a:ea typeface="Yekan Bakh" pitchFamily="2" charset="-78"/>
                <a:cs typeface="Yekan Bakh" pitchFamily="2" charset="-78"/>
              </a:rPr>
              <a:t>(</a:t>
            </a:r>
            <a:r>
              <a:rPr kumimoji="0" lang="en-US" sz="1400" b="0" i="0" u="none" strike="noStrike" kern="1200" cap="none" spc="0" normalizeH="0" baseline="0" noProof="0" dirty="0">
                <a:ln>
                  <a:noFill/>
                </a:ln>
                <a:solidFill>
                  <a:srgbClr val="004D80"/>
                </a:solidFill>
                <a:effectLst/>
                <a:uLnTx/>
                <a:uFillTx/>
                <a:latin typeface="Yekan Bakh" pitchFamily="2" charset="-78"/>
                <a:ea typeface="Yekan Bakh" pitchFamily="2" charset="-78"/>
                <a:cs typeface="Yekan Bakh" pitchFamily="2" charset="-78"/>
              </a:rPr>
              <a:t>Access</a:t>
            </a:r>
            <a:r>
              <a:rPr kumimoji="0" lang="fa-IR" sz="1400" b="0" i="0" u="none" strike="noStrike" kern="1200" cap="none" spc="0" normalizeH="0" baseline="0" noProof="0" dirty="0">
                <a:ln>
                  <a:noFill/>
                </a:ln>
                <a:solidFill>
                  <a:srgbClr val="004D80"/>
                </a:solidFill>
                <a:effectLst/>
                <a:uLnTx/>
                <a:uFillTx/>
                <a:latin typeface="Yekan Bakh" pitchFamily="2" charset="-78"/>
                <a:ea typeface="Yekan Bakh" pitchFamily="2" charset="-78"/>
                <a:cs typeface="Yekan Bakh" pitchFamily="2" charset="-78"/>
              </a:rPr>
              <a:t>)</a:t>
            </a:r>
            <a:endParaRPr kumimoji="0" lang="en-US" sz="1600" b="0" i="0" u="none" strike="noStrike" kern="1200" cap="none" spc="0" normalizeH="0" baseline="0" noProof="0" dirty="0">
              <a:ln>
                <a:noFill/>
              </a:ln>
              <a:solidFill>
                <a:srgbClr val="004D80"/>
              </a:solidFill>
              <a:effectLst/>
              <a:uLnTx/>
              <a:uFillTx/>
              <a:latin typeface="Yekan Bakh" pitchFamily="2" charset="-78"/>
              <a:ea typeface="Yekan Bakh" pitchFamily="2" charset="-78"/>
              <a:cs typeface="Yekan Bakh" pitchFamily="2" charset="-78"/>
            </a:endParaRPr>
          </a:p>
        </p:txBody>
      </p:sp>
      <p:sp>
        <p:nvSpPr>
          <p:cNvPr id="20" name="TextBox 19">
            <a:extLst>
              <a:ext uri="{FF2B5EF4-FFF2-40B4-BE49-F238E27FC236}">
                <a16:creationId xmlns:a16="http://schemas.microsoft.com/office/drawing/2014/main" id="{0EE83277-FB12-3F4F-D126-94F9768AF62E}"/>
              </a:ext>
            </a:extLst>
          </p:cNvPr>
          <p:cNvSpPr txBox="1"/>
          <p:nvPr/>
        </p:nvSpPr>
        <p:spPr>
          <a:xfrm>
            <a:off x="649421" y="2616166"/>
            <a:ext cx="4534445" cy="430887"/>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05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توانایی جمع‌آوری، تفسیر و ترکیب اطلاعات پراکنده برای ارزیابی فرصت‌ها، بازیگران و ریسک‌ها و تبدیل آن به تصمیم و توصیه قابل اتکا.</a:t>
            </a:r>
            <a:endParaRPr kumimoji="0" lang="en-US" sz="105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21" name="TextBox 20">
            <a:extLst>
              <a:ext uri="{FF2B5EF4-FFF2-40B4-BE49-F238E27FC236}">
                <a16:creationId xmlns:a16="http://schemas.microsoft.com/office/drawing/2014/main" id="{FAAC3655-AFB5-8ADD-5426-494AAA45B719}"/>
              </a:ext>
            </a:extLst>
          </p:cNvPr>
          <p:cNvSpPr txBox="1"/>
          <p:nvPr/>
        </p:nvSpPr>
        <p:spPr>
          <a:xfrm>
            <a:off x="2532106" y="2253066"/>
            <a:ext cx="2651760" cy="400110"/>
          </a:xfrm>
          <a:prstGeom prst="rect">
            <a:avLst/>
          </a:prstGeom>
          <a:noFill/>
        </p:spPr>
        <p:txBody>
          <a:bodyPr wrap="square">
            <a:spAutoFit/>
          </a:bodyPr>
          <a:lstStyle/>
          <a:p>
            <a:pPr marL="0" marR="0" lvl="0" indent="0" algn="r" defTabSz="457200" rtl="1" eaLnBrk="1" fontAlgn="auto" latinLnBrk="0" hangingPunct="1">
              <a:lnSpc>
                <a:spcPct val="100000"/>
              </a:lnSpc>
              <a:spcBef>
                <a:spcPts val="600"/>
              </a:spcBef>
              <a:spcAft>
                <a:spcPts val="450"/>
              </a:spcAft>
              <a:buClrTx/>
              <a:buSzTx/>
              <a:buFontTx/>
              <a:buNone/>
              <a:tabLst/>
              <a:defRPr/>
            </a:pPr>
            <a:r>
              <a:rPr kumimoji="0" lang="fa-IR" sz="2000" b="1" i="0" u="none" strike="noStrike" kern="1200" cap="none" spc="0" normalizeH="0" baseline="0" noProof="0" dirty="0">
                <a:ln>
                  <a:noFill/>
                </a:ln>
                <a:solidFill>
                  <a:srgbClr val="004D80"/>
                </a:solidFill>
                <a:effectLst/>
                <a:uLnTx/>
                <a:uFillTx/>
                <a:latin typeface="Yekan Bakh" pitchFamily="2" charset="-78"/>
                <a:ea typeface="Yekan Bakh" pitchFamily="2" charset="-78"/>
                <a:cs typeface="Yekan Bakh" pitchFamily="2" charset="-78"/>
              </a:rPr>
              <a:t>قضاوت</a:t>
            </a:r>
            <a:r>
              <a:rPr kumimoji="0" lang="fa-IR" sz="1600" b="1" i="0" u="none" strike="noStrike" kern="1200" cap="none" spc="0" normalizeH="0" baseline="0" noProof="0" dirty="0">
                <a:ln>
                  <a:noFill/>
                </a:ln>
                <a:solidFill>
                  <a:srgbClr val="004D80"/>
                </a:solidFill>
                <a:effectLst/>
                <a:uLnTx/>
                <a:uFillTx/>
                <a:latin typeface="Yekan Bakh" pitchFamily="2" charset="-78"/>
                <a:ea typeface="Yekan Bakh" pitchFamily="2" charset="-78"/>
                <a:cs typeface="Yekan Bakh" pitchFamily="2" charset="-78"/>
              </a:rPr>
              <a:t> </a:t>
            </a:r>
            <a:r>
              <a:rPr kumimoji="0" lang="fa-IR" sz="1400" b="0" i="0" u="none" strike="noStrike" kern="1200" cap="none" spc="0" normalizeH="0" baseline="0" noProof="0" dirty="0">
                <a:ln>
                  <a:noFill/>
                </a:ln>
                <a:solidFill>
                  <a:srgbClr val="004D80"/>
                </a:solidFill>
                <a:effectLst/>
                <a:uLnTx/>
                <a:uFillTx/>
                <a:latin typeface="Yekan Bakh" pitchFamily="2" charset="-78"/>
                <a:ea typeface="Yekan Bakh" pitchFamily="2" charset="-78"/>
                <a:cs typeface="Yekan Bakh" pitchFamily="2" charset="-78"/>
              </a:rPr>
              <a:t>(</a:t>
            </a:r>
            <a:r>
              <a:rPr kumimoji="0" lang="en-US" sz="1400" b="0" i="0" u="none" strike="noStrike" kern="1200" cap="none" spc="0" normalizeH="0" baseline="0" noProof="0" dirty="0">
                <a:ln>
                  <a:noFill/>
                </a:ln>
                <a:solidFill>
                  <a:srgbClr val="004D80"/>
                </a:solidFill>
                <a:effectLst/>
                <a:uLnTx/>
                <a:uFillTx/>
                <a:latin typeface="Yekan Bakh" pitchFamily="2" charset="-78"/>
                <a:ea typeface="Yekan Bakh" pitchFamily="2" charset="-78"/>
                <a:cs typeface="Yekan Bakh" pitchFamily="2" charset="-78"/>
              </a:rPr>
              <a:t>Judgment</a:t>
            </a:r>
            <a:r>
              <a:rPr kumimoji="0" lang="fa-IR" sz="1400" b="0" i="0" u="none" strike="noStrike" kern="1200" cap="none" spc="0" normalizeH="0" baseline="0" noProof="0" dirty="0">
                <a:ln>
                  <a:noFill/>
                </a:ln>
                <a:solidFill>
                  <a:srgbClr val="004D80"/>
                </a:solidFill>
                <a:effectLst/>
                <a:uLnTx/>
                <a:uFillTx/>
                <a:latin typeface="Yekan Bakh" pitchFamily="2" charset="-78"/>
                <a:ea typeface="Yekan Bakh" pitchFamily="2" charset="-78"/>
                <a:cs typeface="Yekan Bakh" pitchFamily="2" charset="-78"/>
              </a:rPr>
              <a:t>)</a:t>
            </a:r>
            <a:endParaRPr kumimoji="0" lang="en-US" sz="1600" b="0" i="0" u="none" strike="noStrike" kern="1200" cap="none" spc="0" normalizeH="0" baseline="0" noProof="0" dirty="0">
              <a:ln>
                <a:noFill/>
              </a:ln>
              <a:solidFill>
                <a:srgbClr val="004D80"/>
              </a:solidFill>
              <a:effectLst/>
              <a:uLnTx/>
              <a:uFillTx/>
              <a:latin typeface="Yekan Bakh" pitchFamily="2" charset="-78"/>
              <a:ea typeface="Yekan Bakh" pitchFamily="2" charset="-78"/>
              <a:cs typeface="Yekan Bakh" pitchFamily="2" charset="-78"/>
            </a:endParaRPr>
          </a:p>
        </p:txBody>
      </p:sp>
      <p:sp>
        <p:nvSpPr>
          <p:cNvPr id="28" name="TextBox 27">
            <a:extLst>
              <a:ext uri="{FF2B5EF4-FFF2-40B4-BE49-F238E27FC236}">
                <a16:creationId xmlns:a16="http://schemas.microsoft.com/office/drawing/2014/main" id="{E2795E86-CEC6-39CF-959F-FE28AAF411FB}"/>
              </a:ext>
            </a:extLst>
          </p:cNvPr>
          <p:cNvSpPr txBox="1"/>
          <p:nvPr/>
        </p:nvSpPr>
        <p:spPr>
          <a:xfrm>
            <a:off x="10218243" y="2234561"/>
            <a:ext cx="929182" cy="830997"/>
          </a:xfrm>
          <a:prstGeom prst="rect">
            <a:avLst/>
          </a:prstGeom>
          <a:solidFill>
            <a:schemeClr val="accent2">
              <a:alpha val="30000"/>
            </a:schemeClr>
          </a:solid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a-IR" sz="1200" b="1"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2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دارایی فعلی</a:t>
            </a:r>
            <a:endParaRPr kumimoji="0" lang="fa-IR" sz="1200" b="1"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endParaRPr>
          </a:p>
        </p:txBody>
      </p:sp>
      <p:sp>
        <p:nvSpPr>
          <p:cNvPr id="31" name="TextBox 30">
            <a:extLst>
              <a:ext uri="{FF2B5EF4-FFF2-40B4-BE49-F238E27FC236}">
                <a16:creationId xmlns:a16="http://schemas.microsoft.com/office/drawing/2014/main" id="{A48663C1-4553-F1DD-2D7C-3F04800DE3C0}"/>
              </a:ext>
            </a:extLst>
          </p:cNvPr>
          <p:cNvSpPr txBox="1"/>
          <p:nvPr/>
        </p:nvSpPr>
        <p:spPr>
          <a:xfrm>
            <a:off x="10218243" y="3298063"/>
            <a:ext cx="929182" cy="832104"/>
          </a:xfrm>
          <a:prstGeom prst="rect">
            <a:avLst/>
          </a:prstGeom>
          <a:solidFill>
            <a:schemeClr val="accent2">
              <a:alpha val="30000"/>
            </a:schemeClr>
          </a:solidFill>
        </p:spPr>
        <p:txBody>
          <a:bodyPr wrap="square"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a-IR" sz="1200" b="1"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2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دارایی آتی</a:t>
            </a:r>
            <a:endParaRPr kumimoji="0" lang="fa-IR" sz="1200" b="1"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endParaRPr>
          </a:p>
        </p:txBody>
      </p:sp>
      <p:grpSp>
        <p:nvGrpSpPr>
          <p:cNvPr id="9" name="Group 8">
            <a:extLst>
              <a:ext uri="{FF2B5EF4-FFF2-40B4-BE49-F238E27FC236}">
                <a16:creationId xmlns:a16="http://schemas.microsoft.com/office/drawing/2014/main" id="{A0D7EAC6-8078-000D-7300-A5840DD0CB7A}"/>
              </a:ext>
            </a:extLst>
          </p:cNvPr>
          <p:cNvGrpSpPr/>
          <p:nvPr/>
        </p:nvGrpSpPr>
        <p:grpSpPr>
          <a:xfrm>
            <a:off x="555625" y="3405607"/>
            <a:ext cx="9552303" cy="617016"/>
            <a:chOff x="555625" y="3255596"/>
            <a:chExt cx="9552303" cy="617016"/>
          </a:xfrm>
        </p:grpSpPr>
        <p:sp>
          <p:nvSpPr>
            <p:cNvPr id="33" name="TextBox 32">
              <a:extLst>
                <a:ext uri="{FF2B5EF4-FFF2-40B4-BE49-F238E27FC236}">
                  <a16:creationId xmlns:a16="http://schemas.microsoft.com/office/drawing/2014/main" id="{2EB01341-D187-5044-86FF-344724CE0B58}"/>
                </a:ext>
              </a:extLst>
            </p:cNvPr>
            <p:cNvSpPr txBox="1"/>
            <p:nvPr/>
          </p:nvSpPr>
          <p:spPr>
            <a:xfrm>
              <a:off x="555625" y="3618696"/>
              <a:ext cx="9552303" cy="253916"/>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05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توانایی ایجاد و انتقال نشانه‌های معتبر درباره کیفیت، اعتبار، ظرفیت و جذابیت یک فرصت یا بازیگر، به‌گونه‌ای که عدم‌اطمینان سایر بازیگران را کاهش دهد.</a:t>
              </a:r>
              <a:endParaRPr kumimoji="0" lang="en-US" sz="105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34" name="TextBox 33">
              <a:extLst>
                <a:ext uri="{FF2B5EF4-FFF2-40B4-BE49-F238E27FC236}">
                  <a16:creationId xmlns:a16="http://schemas.microsoft.com/office/drawing/2014/main" id="{8B557143-9E36-5C5E-2E68-7A0A79020AFF}"/>
                </a:ext>
              </a:extLst>
            </p:cNvPr>
            <p:cNvSpPr txBox="1"/>
            <p:nvPr/>
          </p:nvSpPr>
          <p:spPr>
            <a:xfrm>
              <a:off x="7456168" y="3255596"/>
              <a:ext cx="2651760" cy="400110"/>
            </a:xfrm>
            <a:prstGeom prst="rect">
              <a:avLst/>
            </a:prstGeom>
            <a:noFill/>
          </p:spPr>
          <p:txBody>
            <a:bodyPr wrap="square">
              <a:spAutoFit/>
            </a:bodyPr>
            <a:lstStyle/>
            <a:p>
              <a:pPr marL="0" marR="0" lvl="0" indent="0" algn="r" defTabSz="457200" rtl="1" eaLnBrk="1" fontAlgn="auto" latinLnBrk="0" hangingPunct="1">
                <a:lnSpc>
                  <a:spcPct val="100000"/>
                </a:lnSpc>
                <a:spcBef>
                  <a:spcPts val="600"/>
                </a:spcBef>
                <a:spcAft>
                  <a:spcPts val="450"/>
                </a:spcAft>
                <a:buClrTx/>
                <a:buSzTx/>
                <a:buFontTx/>
                <a:buNone/>
                <a:tabLst/>
                <a:defRPr/>
              </a:pPr>
              <a:r>
                <a:rPr kumimoji="0" lang="fa-IR" sz="2000" b="1" i="0" u="none" strike="noStrike" kern="1200" cap="none" spc="0" normalizeH="0" baseline="0" noProof="0" dirty="0">
                  <a:ln>
                    <a:noFill/>
                  </a:ln>
                  <a:solidFill>
                    <a:srgbClr val="004D80"/>
                  </a:solidFill>
                  <a:effectLst/>
                  <a:uLnTx/>
                  <a:uFillTx/>
                  <a:latin typeface="Yekan Bakh" pitchFamily="2" charset="-78"/>
                  <a:ea typeface="Yekan Bakh" pitchFamily="2" charset="-78"/>
                  <a:cs typeface="Yekan Bakh" pitchFamily="2" charset="-78"/>
                </a:rPr>
                <a:t>سیگنال</a:t>
              </a:r>
              <a:r>
                <a:rPr kumimoji="0" lang="fa-IR" sz="1600" b="1" i="0" u="none" strike="noStrike" kern="1200" cap="none" spc="0" normalizeH="0" baseline="0" noProof="0" dirty="0">
                  <a:ln>
                    <a:noFill/>
                  </a:ln>
                  <a:solidFill>
                    <a:srgbClr val="004D80"/>
                  </a:solidFill>
                  <a:effectLst/>
                  <a:uLnTx/>
                  <a:uFillTx/>
                  <a:latin typeface="Yekan Bakh" pitchFamily="2" charset="-78"/>
                  <a:ea typeface="Yekan Bakh" pitchFamily="2" charset="-78"/>
                  <a:cs typeface="Yekan Bakh" pitchFamily="2" charset="-78"/>
                </a:rPr>
                <a:t> </a:t>
              </a:r>
              <a:r>
                <a:rPr kumimoji="0" lang="fa-IR" sz="1400" b="0" i="0" u="none" strike="noStrike" kern="1200" cap="none" spc="0" normalizeH="0" baseline="0" noProof="0" dirty="0">
                  <a:ln>
                    <a:noFill/>
                  </a:ln>
                  <a:solidFill>
                    <a:srgbClr val="004D80"/>
                  </a:solidFill>
                  <a:effectLst/>
                  <a:uLnTx/>
                  <a:uFillTx/>
                  <a:latin typeface="Yekan Bakh" pitchFamily="2" charset="-78"/>
                  <a:ea typeface="Yekan Bakh" pitchFamily="2" charset="-78"/>
                  <a:cs typeface="Yekan Bakh" pitchFamily="2" charset="-78"/>
                </a:rPr>
                <a:t>(</a:t>
              </a:r>
              <a:r>
                <a:rPr kumimoji="0" lang="en-US" sz="1400" b="0" i="0" u="none" strike="noStrike" kern="1200" cap="none" spc="0" normalizeH="0" baseline="0" noProof="0" dirty="0">
                  <a:ln>
                    <a:noFill/>
                  </a:ln>
                  <a:solidFill>
                    <a:srgbClr val="004D80"/>
                  </a:solidFill>
                  <a:effectLst/>
                  <a:uLnTx/>
                  <a:uFillTx/>
                  <a:latin typeface="Yekan Bakh" pitchFamily="2" charset="-78"/>
                  <a:ea typeface="Yekan Bakh" pitchFamily="2" charset="-78"/>
                  <a:cs typeface="Yekan Bakh" pitchFamily="2" charset="-78"/>
                </a:rPr>
                <a:t>Signal</a:t>
              </a:r>
              <a:r>
                <a:rPr kumimoji="0" lang="fa-IR" sz="1400" b="0" i="0" u="none" strike="noStrike" kern="1200" cap="none" spc="0" normalizeH="0" baseline="0" noProof="0" dirty="0">
                  <a:ln>
                    <a:noFill/>
                  </a:ln>
                  <a:solidFill>
                    <a:srgbClr val="004D80"/>
                  </a:solidFill>
                  <a:effectLst/>
                  <a:uLnTx/>
                  <a:uFillTx/>
                  <a:latin typeface="Yekan Bakh" pitchFamily="2" charset="-78"/>
                  <a:ea typeface="Yekan Bakh" pitchFamily="2" charset="-78"/>
                  <a:cs typeface="Yekan Bakh" pitchFamily="2" charset="-78"/>
                </a:rPr>
                <a:t>)</a:t>
              </a:r>
              <a:endParaRPr kumimoji="0" lang="en-US" sz="1600" b="0" i="0" u="none" strike="noStrike" kern="1200" cap="none" spc="0" normalizeH="0" baseline="0" noProof="0" dirty="0">
                <a:ln>
                  <a:noFill/>
                </a:ln>
                <a:solidFill>
                  <a:srgbClr val="004D80"/>
                </a:solidFill>
                <a:effectLst/>
                <a:uLnTx/>
                <a:uFillTx/>
                <a:latin typeface="Yekan Bakh" pitchFamily="2" charset="-78"/>
                <a:ea typeface="Yekan Bakh" pitchFamily="2" charset="-78"/>
                <a:cs typeface="Yekan Bakh" pitchFamily="2" charset="-78"/>
              </a:endParaRPr>
            </a:p>
          </p:txBody>
        </p:sp>
      </p:grpSp>
      <p:sp>
        <p:nvSpPr>
          <p:cNvPr id="35" name="TextBox 34">
            <a:extLst>
              <a:ext uri="{FF2B5EF4-FFF2-40B4-BE49-F238E27FC236}">
                <a16:creationId xmlns:a16="http://schemas.microsoft.com/office/drawing/2014/main" id="{E2BD672D-E6ED-D43B-10A9-C8ABFAFFA9B1}"/>
              </a:ext>
            </a:extLst>
          </p:cNvPr>
          <p:cNvSpPr txBox="1"/>
          <p:nvPr/>
        </p:nvSpPr>
        <p:spPr>
          <a:xfrm>
            <a:off x="10213245" y="4416710"/>
            <a:ext cx="929182" cy="832104"/>
          </a:xfrm>
          <a:prstGeom prst="rect">
            <a:avLst/>
          </a:prstGeom>
          <a:solidFill>
            <a:schemeClr val="bg1">
              <a:lumMod val="75000"/>
            </a:schemeClr>
          </a:solidFill>
        </p:spPr>
        <p:txBody>
          <a:bodyPr wrap="square"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a-IR" sz="12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2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عدم استفاده</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37" name="TextBox 36">
            <a:extLst>
              <a:ext uri="{FF2B5EF4-FFF2-40B4-BE49-F238E27FC236}">
                <a16:creationId xmlns:a16="http://schemas.microsoft.com/office/drawing/2014/main" id="{9AC60340-1F61-D205-C53C-2EFBE3F87397}"/>
              </a:ext>
            </a:extLst>
          </p:cNvPr>
          <p:cNvSpPr txBox="1"/>
          <p:nvPr/>
        </p:nvSpPr>
        <p:spPr>
          <a:xfrm>
            <a:off x="5573483" y="4798869"/>
            <a:ext cx="4534445" cy="430887"/>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05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ایجاد اطمینان کامل نسبت به نتیحه و کیفیت خروجی‌ها، اعتبار و اجرای تعهدات از طریق سازوکارهای راستی‌آزمایی و پذیرش مسئولیت.</a:t>
            </a:r>
            <a:endParaRPr kumimoji="0" lang="en-US" sz="105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endParaRPr>
          </a:p>
        </p:txBody>
      </p:sp>
      <p:sp>
        <p:nvSpPr>
          <p:cNvPr id="38" name="TextBox 37">
            <a:extLst>
              <a:ext uri="{FF2B5EF4-FFF2-40B4-BE49-F238E27FC236}">
                <a16:creationId xmlns:a16="http://schemas.microsoft.com/office/drawing/2014/main" id="{EC747A82-D5D0-5C77-9304-299D3AF552D7}"/>
              </a:ext>
            </a:extLst>
          </p:cNvPr>
          <p:cNvSpPr txBox="1"/>
          <p:nvPr/>
        </p:nvSpPr>
        <p:spPr>
          <a:xfrm>
            <a:off x="7456168" y="4435769"/>
            <a:ext cx="2651760" cy="400110"/>
          </a:xfrm>
          <a:prstGeom prst="rect">
            <a:avLst/>
          </a:prstGeom>
          <a:noFill/>
        </p:spPr>
        <p:txBody>
          <a:bodyPr wrap="square">
            <a:spAutoFit/>
          </a:bodyPr>
          <a:lstStyle/>
          <a:p>
            <a:pPr marL="0" marR="0" lvl="0" indent="0" algn="r" defTabSz="457200" rtl="1" eaLnBrk="1" fontAlgn="auto" latinLnBrk="0" hangingPunct="1">
              <a:lnSpc>
                <a:spcPct val="100000"/>
              </a:lnSpc>
              <a:spcBef>
                <a:spcPts val="600"/>
              </a:spcBef>
              <a:spcAft>
                <a:spcPts val="450"/>
              </a:spcAft>
              <a:buClrTx/>
              <a:buSzTx/>
              <a:buFontTx/>
              <a:buNone/>
              <a:tabLst/>
              <a:defRPr/>
            </a:pPr>
            <a:r>
              <a:rPr kumimoji="0" lang="fa-IR" sz="2000" b="1"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تضمین</a:t>
            </a:r>
            <a:r>
              <a:rPr kumimoji="0" lang="fa-IR" sz="1600" b="1"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 </a:t>
            </a:r>
            <a:r>
              <a:rPr kumimoji="0" lang="fa-IR" sz="14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a:t>
            </a:r>
            <a:r>
              <a:rPr kumimoji="0" lang="en-US" sz="14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Assurance</a:t>
            </a:r>
            <a:r>
              <a:rPr kumimoji="0" lang="fa-IR" sz="14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a:t>
            </a:r>
            <a:endParaRPr kumimoji="0" lang="en-US" sz="16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endParaRPr>
          </a:p>
        </p:txBody>
      </p:sp>
      <p:sp>
        <p:nvSpPr>
          <p:cNvPr id="4" name="TextBox 3">
            <a:extLst>
              <a:ext uri="{FF2B5EF4-FFF2-40B4-BE49-F238E27FC236}">
                <a16:creationId xmlns:a16="http://schemas.microsoft.com/office/drawing/2014/main" id="{E6900948-E376-148C-92E9-AADEC53CE8A7}"/>
              </a:ext>
            </a:extLst>
          </p:cNvPr>
          <p:cNvSpPr txBox="1"/>
          <p:nvPr/>
        </p:nvSpPr>
        <p:spPr>
          <a:xfrm>
            <a:off x="649421" y="4725772"/>
            <a:ext cx="4534445" cy="577081"/>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05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در اختیار گذاشتن یا ارائه مستقیم دارایی‌ها، امکانات</a:t>
            </a:r>
            <a:r>
              <a:rPr kumimoji="0" lang="en-US" sz="105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 </a:t>
            </a:r>
            <a:r>
              <a:rPr kumimoji="0" lang="fa-IR" sz="105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فرصت‌ها و جریان‌های ارزش‌آفرین، به‌گونه‌ای که بخشی از ارزش خلق‌شده به‌صورت پایدار متعلق به آن باشد.</a:t>
            </a:r>
            <a:endParaRPr kumimoji="0" lang="en-US" sz="105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endParaRPr>
          </a:p>
        </p:txBody>
      </p:sp>
      <p:sp>
        <p:nvSpPr>
          <p:cNvPr id="5" name="TextBox 4">
            <a:extLst>
              <a:ext uri="{FF2B5EF4-FFF2-40B4-BE49-F238E27FC236}">
                <a16:creationId xmlns:a16="http://schemas.microsoft.com/office/drawing/2014/main" id="{D262E5B4-52D6-1E55-EA90-F340AFEC525E}"/>
              </a:ext>
            </a:extLst>
          </p:cNvPr>
          <p:cNvSpPr txBox="1"/>
          <p:nvPr/>
        </p:nvSpPr>
        <p:spPr>
          <a:xfrm>
            <a:off x="2532106" y="4362672"/>
            <a:ext cx="2651760" cy="400110"/>
          </a:xfrm>
          <a:prstGeom prst="rect">
            <a:avLst/>
          </a:prstGeom>
          <a:noFill/>
        </p:spPr>
        <p:txBody>
          <a:bodyPr wrap="square">
            <a:spAutoFit/>
          </a:bodyPr>
          <a:lstStyle/>
          <a:p>
            <a:pPr marL="0" marR="0" lvl="0" indent="0" algn="r" defTabSz="457200" rtl="1" eaLnBrk="1" fontAlgn="auto" latinLnBrk="0" hangingPunct="1">
              <a:lnSpc>
                <a:spcPct val="100000"/>
              </a:lnSpc>
              <a:spcBef>
                <a:spcPts val="600"/>
              </a:spcBef>
              <a:spcAft>
                <a:spcPts val="450"/>
              </a:spcAft>
              <a:buClrTx/>
              <a:buSzTx/>
              <a:buFontTx/>
              <a:buNone/>
              <a:tabLst/>
              <a:defRPr/>
            </a:pPr>
            <a:r>
              <a:rPr kumimoji="0" lang="fa-IR" sz="2000" b="1"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مالکیت</a:t>
            </a:r>
            <a:r>
              <a:rPr kumimoji="0" lang="fa-IR" sz="1600" b="1"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 </a:t>
            </a:r>
            <a:r>
              <a:rPr kumimoji="0" lang="fa-IR" sz="14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a:t>
            </a:r>
            <a:r>
              <a:rPr kumimoji="0" lang="en-US" sz="14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Ownership</a:t>
            </a:r>
            <a:r>
              <a:rPr kumimoji="0" lang="fa-IR" sz="14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a:t>
            </a:r>
            <a:endParaRPr kumimoji="0" lang="en-US" sz="16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endParaRPr>
          </a:p>
        </p:txBody>
      </p:sp>
      <p:cxnSp>
        <p:nvCxnSpPr>
          <p:cNvPr id="22" name="Straight Connector 21">
            <a:extLst>
              <a:ext uri="{FF2B5EF4-FFF2-40B4-BE49-F238E27FC236}">
                <a16:creationId xmlns:a16="http://schemas.microsoft.com/office/drawing/2014/main" id="{77B9C114-C7AD-FDA9-E07E-2B615B6FFE7E}"/>
              </a:ext>
            </a:extLst>
          </p:cNvPr>
          <p:cNvCxnSpPr>
            <a:cxnSpLocks/>
          </p:cNvCxnSpPr>
          <p:nvPr/>
        </p:nvCxnSpPr>
        <p:spPr>
          <a:xfrm>
            <a:off x="5378675" y="2252609"/>
            <a:ext cx="0" cy="812492"/>
          </a:xfrm>
          <a:prstGeom prst="line">
            <a:avLst/>
          </a:prstGeom>
          <a:ln>
            <a:prstDash val="dash"/>
          </a:ln>
        </p:spPr>
        <p:style>
          <a:lnRef idx="1">
            <a:schemeClr val="accent2"/>
          </a:lnRef>
          <a:fillRef idx="0">
            <a:schemeClr val="accent2"/>
          </a:fillRef>
          <a:effectRef idx="0">
            <a:schemeClr val="accent2"/>
          </a:effectRef>
          <a:fontRef idx="minor">
            <a:schemeClr val="tx1"/>
          </a:fontRef>
        </p:style>
      </p:cxnSp>
      <p:cxnSp>
        <p:nvCxnSpPr>
          <p:cNvPr id="27" name="Straight Connector 26">
            <a:extLst>
              <a:ext uri="{FF2B5EF4-FFF2-40B4-BE49-F238E27FC236}">
                <a16:creationId xmlns:a16="http://schemas.microsoft.com/office/drawing/2014/main" id="{B3AE2300-539D-EACF-0ED3-98D367328742}"/>
              </a:ext>
            </a:extLst>
          </p:cNvPr>
          <p:cNvCxnSpPr>
            <a:cxnSpLocks/>
          </p:cNvCxnSpPr>
          <p:nvPr/>
        </p:nvCxnSpPr>
        <p:spPr>
          <a:xfrm>
            <a:off x="5378675" y="4436322"/>
            <a:ext cx="0" cy="812492"/>
          </a:xfrm>
          <a:prstGeom prst="line">
            <a:avLst/>
          </a:prstGeom>
          <a:ln>
            <a:prstDash val="dash"/>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83208210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9C285-AE57-E475-8C86-C5F246DF404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387A854-3C48-42DE-E697-383355FB1EC4}"/>
              </a:ext>
            </a:extLst>
          </p:cNvPr>
          <p:cNvSpPr>
            <a:spLocks noGrp="1"/>
          </p:cNvSpPr>
          <p:nvPr>
            <p:ph type="body" sz="quarter" idx="10"/>
          </p:nvPr>
        </p:nvSpPr>
        <p:spPr/>
        <p:txBody>
          <a:bodyPr/>
          <a:lstStyle/>
          <a:p>
            <a:r>
              <a:rPr lang="fa-IR"/>
              <a:t>نقشه بلوغ و ورود یک بازیگر خارجی </a:t>
            </a:r>
            <a:endParaRPr lang="en-GB"/>
          </a:p>
        </p:txBody>
      </p:sp>
      <p:sp>
        <p:nvSpPr>
          <p:cNvPr id="3" name="Text Placeholder 2">
            <a:extLst>
              <a:ext uri="{FF2B5EF4-FFF2-40B4-BE49-F238E27FC236}">
                <a16:creationId xmlns:a16="http://schemas.microsoft.com/office/drawing/2014/main" id="{8CF743B5-08FC-863C-D276-931D5031011E}"/>
              </a:ext>
            </a:extLst>
          </p:cNvPr>
          <p:cNvSpPr>
            <a:spLocks noGrp="1"/>
          </p:cNvSpPr>
          <p:nvPr>
            <p:ph type="body" sz="quarter" idx="12"/>
          </p:nvPr>
        </p:nvSpPr>
        <p:spPr/>
        <p:txBody>
          <a:bodyPr/>
          <a:lstStyle/>
          <a:p>
            <a:r>
              <a:rPr lang="fa-IR"/>
              <a:t>ورود به یک بازار خارجی یک «تصمیم ورود» نیست، بلکه یک مسیر تدریجی از شناخت و اعتبارسنجی بازار تا ایجاد قابلیت محلی، کسب مزیت رقابتی و مقیاس‌دهی است</a:t>
            </a:r>
            <a:endParaRPr lang="fa-IR" dirty="0"/>
          </a:p>
        </p:txBody>
      </p:sp>
      <p:cxnSp>
        <p:nvCxnSpPr>
          <p:cNvPr id="71" name="Straight Connector 70">
            <a:extLst>
              <a:ext uri="{FF2B5EF4-FFF2-40B4-BE49-F238E27FC236}">
                <a16:creationId xmlns:a16="http://schemas.microsoft.com/office/drawing/2014/main" id="{A6EF7BE0-1572-81D4-6136-AF003F3834E9}"/>
              </a:ext>
            </a:extLst>
          </p:cNvPr>
          <p:cNvCxnSpPr>
            <a:cxnSpLocks/>
          </p:cNvCxnSpPr>
          <p:nvPr/>
        </p:nvCxnSpPr>
        <p:spPr>
          <a:xfrm flipH="1">
            <a:off x="7691119" y="1723426"/>
            <a:ext cx="2747378"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a16="http://schemas.microsoft.com/office/drawing/2014/main" id="{FAC467F1-2401-6404-1602-7E09909B97A5}"/>
              </a:ext>
            </a:extLst>
          </p:cNvPr>
          <p:cNvSpPr txBox="1"/>
          <p:nvPr/>
        </p:nvSpPr>
        <p:spPr>
          <a:xfrm>
            <a:off x="8393752" y="1592621"/>
            <a:ext cx="1342112" cy="261610"/>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1" i="0" u="none" strike="noStrike" kern="1200" cap="none" spc="0" normalizeH="0" baseline="0" noProof="0">
                <a:ln>
                  <a:noFill/>
                </a:ln>
                <a:solidFill>
                  <a:srgbClr val="F0BE0F"/>
                </a:solidFill>
                <a:effectLst/>
                <a:uLnTx/>
                <a:uFillTx/>
                <a:latin typeface="Yekan Bakh" pitchFamily="2" charset="-78"/>
                <a:ea typeface="Yekan Bakh" pitchFamily="2" charset="-78"/>
                <a:cs typeface="Yekan Bakh" pitchFamily="2" charset="-78"/>
              </a:rPr>
              <a:t>لایه مطالعاتی </a:t>
            </a:r>
            <a:endParaRPr kumimoji="0" lang="en-GB" sz="11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p:txBody>
      </p:sp>
      <p:cxnSp>
        <p:nvCxnSpPr>
          <p:cNvPr id="76" name="Straight Connector 75">
            <a:extLst>
              <a:ext uri="{FF2B5EF4-FFF2-40B4-BE49-F238E27FC236}">
                <a16:creationId xmlns:a16="http://schemas.microsoft.com/office/drawing/2014/main" id="{A70DA7DD-675A-8150-7BE7-906E8A0E9B6E}"/>
              </a:ext>
            </a:extLst>
          </p:cNvPr>
          <p:cNvCxnSpPr>
            <a:cxnSpLocks/>
          </p:cNvCxnSpPr>
          <p:nvPr/>
        </p:nvCxnSpPr>
        <p:spPr>
          <a:xfrm flipH="1">
            <a:off x="4876800" y="1723426"/>
            <a:ext cx="2644775"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77" name="TextBox 76">
            <a:extLst>
              <a:ext uri="{FF2B5EF4-FFF2-40B4-BE49-F238E27FC236}">
                <a16:creationId xmlns:a16="http://schemas.microsoft.com/office/drawing/2014/main" id="{1E1847A2-78ED-F1E4-CB7B-021C4009B524}"/>
              </a:ext>
            </a:extLst>
          </p:cNvPr>
          <p:cNvSpPr txBox="1"/>
          <p:nvPr/>
        </p:nvSpPr>
        <p:spPr>
          <a:xfrm>
            <a:off x="5528131" y="1592621"/>
            <a:ext cx="1342112" cy="261610"/>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1" i="0" u="none" strike="noStrike" kern="1200" cap="none" spc="0" normalizeH="0" baseline="0" noProof="0">
                <a:ln>
                  <a:noFill/>
                </a:ln>
                <a:solidFill>
                  <a:srgbClr val="F0BE0F"/>
                </a:solidFill>
                <a:effectLst/>
                <a:uLnTx/>
                <a:uFillTx/>
                <a:latin typeface="Yekan Bakh" pitchFamily="2" charset="-78"/>
                <a:ea typeface="Yekan Bakh" pitchFamily="2" charset="-78"/>
                <a:cs typeface="Yekan Bakh" pitchFamily="2" charset="-78"/>
              </a:rPr>
              <a:t>لایه ایجاد زیرساخت </a:t>
            </a:r>
            <a:endParaRPr kumimoji="0" lang="en-GB" sz="11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p:txBody>
      </p:sp>
      <p:cxnSp>
        <p:nvCxnSpPr>
          <p:cNvPr id="80" name="Straight Connector 79">
            <a:extLst>
              <a:ext uri="{FF2B5EF4-FFF2-40B4-BE49-F238E27FC236}">
                <a16:creationId xmlns:a16="http://schemas.microsoft.com/office/drawing/2014/main" id="{CF2AAA0D-DBF7-0437-F5FD-FA4211E23413}"/>
              </a:ext>
            </a:extLst>
          </p:cNvPr>
          <p:cNvCxnSpPr>
            <a:cxnSpLocks/>
          </p:cNvCxnSpPr>
          <p:nvPr/>
        </p:nvCxnSpPr>
        <p:spPr>
          <a:xfrm flipH="1">
            <a:off x="533441" y="1723426"/>
            <a:ext cx="4134438"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81" name="TextBox 80">
            <a:extLst>
              <a:ext uri="{FF2B5EF4-FFF2-40B4-BE49-F238E27FC236}">
                <a16:creationId xmlns:a16="http://schemas.microsoft.com/office/drawing/2014/main" id="{0E3F5D85-5812-EA5B-29E6-010B52A92E20}"/>
              </a:ext>
            </a:extLst>
          </p:cNvPr>
          <p:cNvSpPr txBox="1"/>
          <p:nvPr/>
        </p:nvSpPr>
        <p:spPr>
          <a:xfrm>
            <a:off x="1742632" y="1592621"/>
            <a:ext cx="1716057" cy="261610"/>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1" i="0" u="none" strike="noStrike" kern="1200" cap="none" spc="0" normalizeH="0" baseline="0" noProof="0">
                <a:ln>
                  <a:noFill/>
                </a:ln>
                <a:solidFill>
                  <a:srgbClr val="F0BE0F"/>
                </a:solidFill>
                <a:effectLst/>
                <a:uLnTx/>
                <a:uFillTx/>
                <a:latin typeface="Yekan Bakh" pitchFamily="2" charset="-78"/>
                <a:ea typeface="Yekan Bakh" pitchFamily="2" charset="-78"/>
                <a:cs typeface="Yekan Bakh" pitchFamily="2" charset="-78"/>
              </a:rPr>
              <a:t>لایه عملیاتی و اجرایی</a:t>
            </a:r>
            <a:endParaRPr kumimoji="0" lang="en-GB" sz="11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p:txBody>
      </p:sp>
      <p:sp>
        <p:nvSpPr>
          <p:cNvPr id="73" name="Rectangle: Rounded Corners 72">
            <a:extLst>
              <a:ext uri="{FF2B5EF4-FFF2-40B4-BE49-F238E27FC236}">
                <a16:creationId xmlns:a16="http://schemas.microsoft.com/office/drawing/2014/main" id="{1EE0626C-8BA0-0D13-7DD8-2649E201A65D}"/>
              </a:ext>
            </a:extLst>
          </p:cNvPr>
          <p:cNvSpPr/>
          <p:nvPr/>
        </p:nvSpPr>
        <p:spPr>
          <a:xfrm>
            <a:off x="9122656" y="1918140"/>
            <a:ext cx="1325880" cy="927046"/>
          </a:xfrm>
          <a:prstGeom prst="roundRect">
            <a:avLst>
              <a:gd name="adj" fmla="val 7082"/>
            </a:avLst>
          </a:prstGeom>
          <a:solidFill>
            <a:srgbClr val="004D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900" b="1" i="0" u="none" strike="noStrike" kern="1200" cap="none" spc="0" normalizeH="0" baseline="0" noProof="0" dirty="0">
                <a:ln>
                  <a:noFill/>
                </a:ln>
                <a:solidFill>
                  <a:schemeClr val="bg1">
                    <a:lumMod val="85000"/>
                  </a:schemeClr>
                </a:solidFill>
                <a:effectLst/>
                <a:uLnTx/>
                <a:uFillTx/>
                <a:latin typeface="Yekan Bakh" pitchFamily="2" charset="-78"/>
                <a:ea typeface="Yekan Bakh" pitchFamily="2" charset="-78"/>
                <a:cs typeface="Yekan Bakh" pitchFamily="2" charset="-78"/>
              </a:rPr>
              <a:t>مرحله</a:t>
            </a:r>
            <a:r>
              <a:rPr kumimoji="0" lang="fa-IR" sz="1100" b="1" i="0" u="none" strike="noStrike" kern="1200" cap="none" spc="0" normalizeH="0" baseline="0" noProof="0" dirty="0">
                <a:ln>
                  <a:noFill/>
                </a:ln>
                <a:solidFill>
                  <a:schemeClr val="bg1">
                    <a:lumMod val="85000"/>
                  </a:schemeClr>
                </a:solidFill>
                <a:effectLst/>
                <a:uLnTx/>
                <a:uFillTx/>
                <a:latin typeface="Yekan Bakh" pitchFamily="2" charset="-78"/>
                <a:ea typeface="Yekan Bakh" pitchFamily="2" charset="-78"/>
                <a:cs typeface="Yekan Bakh" pitchFamily="2" charset="-78"/>
              </a:rPr>
              <a:t> </a:t>
            </a:r>
            <a:r>
              <a:rPr kumimoji="0" lang="fa-IR" sz="900" b="1" i="0" u="none" strike="noStrike" kern="1200" cap="none" spc="0" normalizeH="0" baseline="0" noProof="0" dirty="0">
                <a:ln>
                  <a:noFill/>
                </a:ln>
                <a:solidFill>
                  <a:schemeClr val="bg1">
                    <a:lumMod val="85000"/>
                  </a:schemeClr>
                </a:solidFill>
                <a:effectLst/>
                <a:uLnTx/>
                <a:uFillTx/>
                <a:latin typeface="Yekan Bakh" pitchFamily="2" charset="-78"/>
                <a:ea typeface="Yekan Bakh" pitchFamily="2" charset="-78"/>
                <a:cs typeface="Yekan Bakh" pitchFamily="2" charset="-78"/>
              </a:rPr>
              <a:t>۱</a:t>
            </a:r>
          </a:p>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fa-IR" sz="11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هوشمندی بازار و غربالگری فرصت</a:t>
            </a:r>
          </a:p>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endParaRPr>
          </a:p>
        </p:txBody>
      </p:sp>
      <p:sp>
        <p:nvSpPr>
          <p:cNvPr id="74" name="Rectangle: Rounded Corners 73">
            <a:extLst>
              <a:ext uri="{FF2B5EF4-FFF2-40B4-BE49-F238E27FC236}">
                <a16:creationId xmlns:a16="http://schemas.microsoft.com/office/drawing/2014/main" id="{E1276369-C7E5-701D-87F2-7D5EC8FAF962}"/>
              </a:ext>
            </a:extLst>
          </p:cNvPr>
          <p:cNvSpPr/>
          <p:nvPr/>
        </p:nvSpPr>
        <p:spPr>
          <a:xfrm>
            <a:off x="7691119" y="1918140"/>
            <a:ext cx="1325880" cy="927046"/>
          </a:xfrm>
          <a:prstGeom prst="roundRect">
            <a:avLst>
              <a:gd name="adj" fmla="val 7082"/>
            </a:avLst>
          </a:prstGeom>
          <a:solidFill>
            <a:srgbClr val="004D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900" b="1" i="0" u="none" strike="noStrike" kern="1200" cap="none" spc="0" normalizeH="0" baseline="0" noProof="0" dirty="0">
                <a:ln>
                  <a:noFill/>
                </a:ln>
                <a:solidFill>
                  <a:schemeClr val="bg1">
                    <a:lumMod val="85000"/>
                  </a:schemeClr>
                </a:solidFill>
                <a:effectLst/>
                <a:uLnTx/>
                <a:uFillTx/>
                <a:latin typeface="Yekan Bakh" pitchFamily="2" charset="-78"/>
                <a:ea typeface="Yekan Bakh" pitchFamily="2" charset="-78"/>
                <a:cs typeface="Yekan Bakh" pitchFamily="2" charset="-78"/>
              </a:rPr>
              <a:t>مرحله ۲</a:t>
            </a:r>
          </a:p>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fa-IR" sz="11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استراتژی ورود</a:t>
            </a:r>
          </a:p>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fa-IR" sz="11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fa-IR" sz="11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endParaRPr>
          </a:p>
        </p:txBody>
      </p:sp>
      <p:sp>
        <p:nvSpPr>
          <p:cNvPr id="78" name="Rectangle: Rounded Corners 77">
            <a:extLst>
              <a:ext uri="{FF2B5EF4-FFF2-40B4-BE49-F238E27FC236}">
                <a16:creationId xmlns:a16="http://schemas.microsoft.com/office/drawing/2014/main" id="{29C04FD1-0108-09D7-9388-AB1D0B32D6B9}"/>
              </a:ext>
            </a:extLst>
          </p:cNvPr>
          <p:cNvSpPr/>
          <p:nvPr/>
        </p:nvSpPr>
        <p:spPr>
          <a:xfrm>
            <a:off x="6259583" y="1918140"/>
            <a:ext cx="1325880" cy="927046"/>
          </a:xfrm>
          <a:prstGeom prst="roundRect">
            <a:avLst>
              <a:gd name="adj" fmla="val 7082"/>
            </a:avLst>
          </a:prstGeom>
          <a:solidFill>
            <a:srgbClr val="004D80">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900" b="1" i="0" u="none" strike="noStrike" kern="1200" cap="none" spc="0" normalizeH="0" baseline="0" noProof="0" dirty="0">
                <a:ln>
                  <a:noFill/>
                </a:ln>
                <a:solidFill>
                  <a:srgbClr val="004D80"/>
                </a:solidFill>
                <a:effectLst/>
                <a:uLnTx/>
                <a:uFillTx/>
                <a:latin typeface="Yekan Bakh" pitchFamily="2" charset="-78"/>
                <a:ea typeface="Yekan Bakh" pitchFamily="2" charset="-78"/>
                <a:cs typeface="Yekan Bakh" pitchFamily="2" charset="-78"/>
              </a:rPr>
              <a:t>مرحله ۳</a:t>
            </a:r>
          </a:p>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fa-IR" sz="11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استقرار حقوقی و سازمانی</a:t>
            </a:r>
          </a:p>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fa-IR" sz="11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endParaRPr>
          </a:p>
        </p:txBody>
      </p:sp>
      <p:sp>
        <p:nvSpPr>
          <p:cNvPr id="79" name="Rectangle: Rounded Corners 78">
            <a:extLst>
              <a:ext uri="{FF2B5EF4-FFF2-40B4-BE49-F238E27FC236}">
                <a16:creationId xmlns:a16="http://schemas.microsoft.com/office/drawing/2014/main" id="{E7A2182C-6E00-C676-ACA0-1071677FAA5D}"/>
              </a:ext>
            </a:extLst>
          </p:cNvPr>
          <p:cNvSpPr/>
          <p:nvPr/>
        </p:nvSpPr>
        <p:spPr>
          <a:xfrm>
            <a:off x="4828047" y="1918140"/>
            <a:ext cx="1325880" cy="927046"/>
          </a:xfrm>
          <a:prstGeom prst="roundRect">
            <a:avLst>
              <a:gd name="adj" fmla="val 7082"/>
            </a:avLst>
          </a:prstGeom>
          <a:solidFill>
            <a:srgbClr val="004D80">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900" b="1" i="0" u="none" strike="noStrike" kern="1200" cap="none" spc="0" normalizeH="0" baseline="0" noProof="0" dirty="0">
                <a:ln>
                  <a:noFill/>
                </a:ln>
                <a:solidFill>
                  <a:srgbClr val="004D80"/>
                </a:solidFill>
                <a:effectLst/>
                <a:uLnTx/>
                <a:uFillTx/>
                <a:latin typeface="Yekan Bakh" pitchFamily="2" charset="-78"/>
                <a:ea typeface="Yekan Bakh" pitchFamily="2" charset="-78"/>
                <a:cs typeface="Yekan Bakh" pitchFamily="2" charset="-78"/>
              </a:rPr>
              <a:t>مرحله</a:t>
            </a:r>
            <a:r>
              <a:rPr kumimoji="0" lang="fa-IR" sz="1100" b="1" i="0" u="none" strike="noStrike" kern="1200" cap="none" spc="0" normalizeH="0" baseline="0" noProof="0" dirty="0">
                <a:ln>
                  <a:noFill/>
                </a:ln>
                <a:solidFill>
                  <a:srgbClr val="004D80"/>
                </a:solidFill>
                <a:effectLst/>
                <a:uLnTx/>
                <a:uFillTx/>
                <a:latin typeface="Yekan Bakh" pitchFamily="2" charset="-78"/>
                <a:ea typeface="Yekan Bakh" pitchFamily="2" charset="-78"/>
                <a:cs typeface="Yekan Bakh" pitchFamily="2" charset="-78"/>
              </a:rPr>
              <a:t> </a:t>
            </a:r>
            <a:r>
              <a:rPr kumimoji="0" lang="fa-IR" sz="900" b="1" i="0" u="none" strike="noStrike" kern="1200" cap="none" spc="0" normalizeH="0" baseline="0" noProof="0" dirty="0">
                <a:ln>
                  <a:noFill/>
                </a:ln>
                <a:solidFill>
                  <a:srgbClr val="004D80"/>
                </a:solidFill>
                <a:effectLst/>
                <a:uLnTx/>
                <a:uFillTx/>
                <a:latin typeface="Yekan Bakh" pitchFamily="2" charset="-78"/>
                <a:ea typeface="Yekan Bakh" pitchFamily="2" charset="-78"/>
                <a:cs typeface="Yekan Bakh" pitchFamily="2" charset="-78"/>
              </a:rPr>
              <a:t>۴</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a-IR" sz="11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توانمندسازی عملیاتی</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a-IR" sz="110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endParaRPr>
          </a:p>
        </p:txBody>
      </p:sp>
      <p:sp>
        <p:nvSpPr>
          <p:cNvPr id="82" name="Rectangle: Rounded Corners 81">
            <a:extLst>
              <a:ext uri="{FF2B5EF4-FFF2-40B4-BE49-F238E27FC236}">
                <a16:creationId xmlns:a16="http://schemas.microsoft.com/office/drawing/2014/main" id="{F719B4C7-4D8E-4A6C-C4EC-28DCD3BDAAB4}"/>
              </a:ext>
            </a:extLst>
          </p:cNvPr>
          <p:cNvSpPr/>
          <p:nvPr/>
        </p:nvSpPr>
        <p:spPr>
          <a:xfrm>
            <a:off x="3396511" y="1918140"/>
            <a:ext cx="1325880" cy="927046"/>
          </a:xfrm>
          <a:prstGeom prst="roundRect">
            <a:avLst>
              <a:gd name="adj" fmla="val 7082"/>
            </a:avLst>
          </a:prstGeom>
          <a:solidFill>
            <a:srgbClr val="004D80">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900" b="1" i="0" u="none" strike="noStrike" kern="1200" cap="none" spc="0" normalizeH="0" baseline="0" noProof="0" dirty="0">
                <a:ln>
                  <a:noFill/>
                </a:ln>
                <a:solidFill>
                  <a:srgbClr val="7FA6BF"/>
                </a:solidFill>
                <a:effectLst/>
                <a:uLnTx/>
                <a:uFillTx/>
                <a:latin typeface="Yekan Bakh" pitchFamily="2" charset="-78"/>
                <a:ea typeface="Yekan Bakh" pitchFamily="2" charset="-78"/>
                <a:cs typeface="Yekan Bakh" pitchFamily="2" charset="-78"/>
              </a:rPr>
              <a:t>مرحله ۵</a:t>
            </a:r>
          </a:p>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fa-IR" sz="11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srgbClr val="6092B0"/>
                </a:solidFill>
                <a:effectLst/>
                <a:uLnTx/>
                <a:uFillTx/>
                <a:latin typeface="Yekan Bakh" pitchFamily="2" charset="-78"/>
                <a:ea typeface="Yekan Bakh" pitchFamily="2" charset="-78"/>
                <a:cs typeface="Yekan Bakh" pitchFamily="2" charset="-78"/>
              </a:rPr>
              <a:t>ورود تجاری و توسعه</a:t>
            </a:r>
          </a:p>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fa-IR" sz="11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endParaRPr>
          </a:p>
        </p:txBody>
      </p:sp>
      <p:sp>
        <p:nvSpPr>
          <p:cNvPr id="83" name="Rectangle: Rounded Corners 82">
            <a:extLst>
              <a:ext uri="{FF2B5EF4-FFF2-40B4-BE49-F238E27FC236}">
                <a16:creationId xmlns:a16="http://schemas.microsoft.com/office/drawing/2014/main" id="{EEBDC1DE-10AD-2BAB-8FE8-CA3890831DF0}"/>
              </a:ext>
            </a:extLst>
          </p:cNvPr>
          <p:cNvSpPr/>
          <p:nvPr/>
        </p:nvSpPr>
        <p:spPr>
          <a:xfrm>
            <a:off x="533439" y="1918140"/>
            <a:ext cx="1325880" cy="927046"/>
          </a:xfrm>
          <a:prstGeom prst="roundRect">
            <a:avLst>
              <a:gd name="adj" fmla="val 7082"/>
            </a:avLst>
          </a:prstGeom>
          <a:solidFill>
            <a:srgbClr val="004D80">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900" b="1" i="0" u="none" strike="noStrike" kern="1200" cap="none" spc="0" normalizeH="0" baseline="0" noProof="0" dirty="0">
                <a:ln>
                  <a:noFill/>
                </a:ln>
                <a:solidFill>
                  <a:srgbClr val="7FA6BF"/>
                </a:solidFill>
                <a:effectLst/>
                <a:uLnTx/>
                <a:uFillTx/>
                <a:latin typeface="Yekan Bakh" pitchFamily="2" charset="-78"/>
                <a:ea typeface="Yekan Bakh" pitchFamily="2" charset="-78"/>
                <a:cs typeface="Yekan Bakh" pitchFamily="2" charset="-78"/>
              </a:rPr>
              <a:t>مرحله ۷</a:t>
            </a:r>
          </a:p>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fa-IR" sz="11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srgbClr val="6092B0"/>
                </a:solidFill>
                <a:effectLst/>
                <a:uLnTx/>
                <a:uFillTx/>
                <a:latin typeface="Yekan Bakh" pitchFamily="2" charset="-78"/>
                <a:ea typeface="Yekan Bakh" pitchFamily="2" charset="-78"/>
                <a:cs typeface="Yekan Bakh" pitchFamily="2" charset="-78"/>
              </a:rPr>
              <a:t>ساختاردهی مجدد یا خروج</a:t>
            </a:r>
          </a:p>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fa-IR" sz="11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endParaRPr>
          </a:p>
        </p:txBody>
      </p:sp>
      <p:sp>
        <p:nvSpPr>
          <p:cNvPr id="84" name="Rectangle: Rounded Corners 83">
            <a:extLst>
              <a:ext uri="{FF2B5EF4-FFF2-40B4-BE49-F238E27FC236}">
                <a16:creationId xmlns:a16="http://schemas.microsoft.com/office/drawing/2014/main" id="{4EEEFC18-9E8A-079E-778B-FCA5AEA0901D}"/>
              </a:ext>
            </a:extLst>
          </p:cNvPr>
          <p:cNvSpPr/>
          <p:nvPr/>
        </p:nvSpPr>
        <p:spPr>
          <a:xfrm>
            <a:off x="1964975" y="1918140"/>
            <a:ext cx="1325880" cy="927046"/>
          </a:xfrm>
          <a:prstGeom prst="roundRect">
            <a:avLst>
              <a:gd name="adj" fmla="val 5140"/>
            </a:avLst>
          </a:prstGeom>
          <a:solidFill>
            <a:srgbClr val="004D80">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900" b="1" i="0" u="none" strike="noStrike" kern="1200" cap="none" spc="0" normalizeH="0" baseline="0" noProof="0" dirty="0">
                <a:ln>
                  <a:noFill/>
                </a:ln>
                <a:solidFill>
                  <a:srgbClr val="7FA6BF"/>
                </a:solidFill>
                <a:effectLst/>
                <a:uLnTx/>
                <a:uFillTx/>
                <a:latin typeface="Yekan Bakh" pitchFamily="2" charset="-78"/>
                <a:ea typeface="Yekan Bakh" pitchFamily="2" charset="-78"/>
                <a:cs typeface="Yekan Bakh" pitchFamily="2" charset="-78"/>
              </a:rPr>
              <a:t>مرحله ۶</a:t>
            </a:r>
          </a:p>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fa-IR" sz="11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srgbClr val="6092B0"/>
                </a:solidFill>
                <a:effectLst/>
                <a:uLnTx/>
                <a:uFillTx/>
                <a:latin typeface="Yekan Bakh" pitchFamily="2" charset="-78"/>
                <a:ea typeface="Yekan Bakh" pitchFamily="2" charset="-78"/>
                <a:cs typeface="Yekan Bakh" pitchFamily="2" charset="-78"/>
              </a:rPr>
              <a:t>عملیات در سطح محلی و  مقیاس‌دهی</a:t>
            </a:r>
          </a:p>
        </p:txBody>
      </p:sp>
      <p:sp>
        <p:nvSpPr>
          <p:cNvPr id="4" name="Rectangle: Rounded Corners 3">
            <a:extLst>
              <a:ext uri="{FF2B5EF4-FFF2-40B4-BE49-F238E27FC236}">
                <a16:creationId xmlns:a16="http://schemas.microsoft.com/office/drawing/2014/main" id="{A3330FE7-9E10-FAF9-C208-6DC90C00AFCC}"/>
              </a:ext>
            </a:extLst>
          </p:cNvPr>
          <p:cNvSpPr/>
          <p:nvPr/>
        </p:nvSpPr>
        <p:spPr>
          <a:xfrm>
            <a:off x="10569844" y="4800765"/>
            <a:ext cx="673729" cy="740664"/>
          </a:xfrm>
          <a:prstGeom prst="roundRect">
            <a:avLst/>
          </a:prstGeom>
          <a:solidFill>
            <a:schemeClr val="tx1">
              <a:lumMod val="65000"/>
              <a:lumOff val="35000"/>
              <a:alpha val="2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هدف مرحله</a:t>
            </a:r>
          </a:p>
        </p:txBody>
      </p:sp>
      <p:sp>
        <p:nvSpPr>
          <p:cNvPr id="5" name="TextBox 4">
            <a:extLst>
              <a:ext uri="{FF2B5EF4-FFF2-40B4-BE49-F238E27FC236}">
                <a16:creationId xmlns:a16="http://schemas.microsoft.com/office/drawing/2014/main" id="{7C64D2E2-05FD-AC0A-D4BB-02F56A6876EA}"/>
              </a:ext>
            </a:extLst>
          </p:cNvPr>
          <p:cNvSpPr txBox="1"/>
          <p:nvPr/>
        </p:nvSpPr>
        <p:spPr>
          <a:xfrm>
            <a:off x="9122656" y="4894098"/>
            <a:ext cx="1325879" cy="553998"/>
          </a:xfrm>
          <a:prstGeom prst="rect">
            <a:avLst/>
          </a:prstGeom>
          <a:noFill/>
        </p:spPr>
        <p:txBody>
          <a:bodyPr wrap="square" anchor="ctr">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000" b="0" i="0" u="none" strike="noStrike" kern="1200" cap="none" spc="0" normalizeH="0" baseline="0" noProof="0">
                <a:ln>
                  <a:noFill/>
                </a:ln>
                <a:solidFill>
                  <a:srgbClr val="004D80"/>
                </a:solidFill>
                <a:effectLst/>
                <a:uLnTx/>
                <a:uFillTx/>
                <a:latin typeface="Yekan Bakh" pitchFamily="2" charset="-78"/>
                <a:ea typeface="Yekan Bakh" pitchFamily="2" charset="-78"/>
                <a:cs typeface="Yekan Bakh" pitchFamily="2" charset="-78"/>
              </a:rPr>
              <a:t>تعیین بازارها، بخش‌ها و فرصت‌های اولویت‌دار برای ورود</a:t>
            </a:r>
            <a:endParaRPr kumimoji="0" lang="fa-IR" sz="1000" b="0" i="0" u="none" strike="noStrike" kern="1200" cap="none" spc="0" normalizeH="0" baseline="0" noProof="0" dirty="0">
              <a:ln>
                <a:noFill/>
              </a:ln>
              <a:solidFill>
                <a:srgbClr val="004D80"/>
              </a:solidFill>
              <a:effectLst/>
              <a:uLnTx/>
              <a:uFillTx/>
              <a:latin typeface="Yekan Bakh" pitchFamily="2" charset="-78"/>
              <a:ea typeface="Yekan Bakh" pitchFamily="2" charset="-78"/>
              <a:cs typeface="Yekan Bakh" pitchFamily="2" charset="-78"/>
            </a:endParaRPr>
          </a:p>
        </p:txBody>
      </p:sp>
      <p:sp>
        <p:nvSpPr>
          <p:cNvPr id="6" name="Rectangle: Rounded Corners 5">
            <a:extLst>
              <a:ext uri="{FF2B5EF4-FFF2-40B4-BE49-F238E27FC236}">
                <a16:creationId xmlns:a16="http://schemas.microsoft.com/office/drawing/2014/main" id="{C6374382-E3F9-9D88-1FF1-4ECD6752645B}"/>
              </a:ext>
            </a:extLst>
          </p:cNvPr>
          <p:cNvSpPr/>
          <p:nvPr/>
        </p:nvSpPr>
        <p:spPr>
          <a:xfrm>
            <a:off x="9122656" y="4741638"/>
            <a:ext cx="1325880" cy="858919"/>
          </a:xfrm>
          <a:prstGeom prst="roundRect">
            <a:avLst>
              <a:gd name="adj" fmla="val 11482"/>
            </a:avLst>
          </a:prstGeom>
          <a:no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199FF">
                  <a:lumMod val="50000"/>
                </a:srgbClr>
              </a:solidFill>
              <a:effectLst/>
              <a:uLnTx/>
              <a:uFillTx/>
              <a:latin typeface="Calibri"/>
              <a:ea typeface="+mn-ea"/>
              <a:cs typeface="Calibri"/>
            </a:endParaRPr>
          </a:p>
        </p:txBody>
      </p:sp>
      <p:sp>
        <p:nvSpPr>
          <p:cNvPr id="11" name="TextBox 10">
            <a:extLst>
              <a:ext uri="{FF2B5EF4-FFF2-40B4-BE49-F238E27FC236}">
                <a16:creationId xmlns:a16="http://schemas.microsoft.com/office/drawing/2014/main" id="{3C00492D-07EF-92A5-CC83-D5E4C3E95752}"/>
              </a:ext>
            </a:extLst>
          </p:cNvPr>
          <p:cNvSpPr txBox="1"/>
          <p:nvPr/>
        </p:nvSpPr>
        <p:spPr>
          <a:xfrm>
            <a:off x="7691119" y="4894098"/>
            <a:ext cx="1325879" cy="553998"/>
          </a:xfrm>
          <a:prstGeom prst="rect">
            <a:avLst/>
          </a:prstGeom>
          <a:noFill/>
        </p:spPr>
        <p:txBody>
          <a:bodyPr wrap="square" anchor="ctr">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000" b="0" i="0" u="none" strike="noStrike" kern="1200" cap="none" spc="0" normalizeH="0" baseline="0" noProof="0">
                <a:ln>
                  <a:noFill/>
                </a:ln>
                <a:solidFill>
                  <a:srgbClr val="004D80"/>
                </a:solidFill>
                <a:effectLst/>
                <a:uLnTx/>
                <a:uFillTx/>
                <a:latin typeface="Yekan Bakh" pitchFamily="2" charset="-78"/>
                <a:ea typeface="Yekan Bakh" pitchFamily="2" charset="-78"/>
                <a:cs typeface="Yekan Bakh" pitchFamily="2" charset="-78"/>
              </a:rPr>
              <a:t>تعیین اینکه کجا، با چه مدل و با چه میزان سرمایه وارد شویم </a:t>
            </a:r>
            <a:endParaRPr kumimoji="0" lang="fa-IR" sz="1000" b="0" i="0" u="none" strike="noStrike" kern="1200" cap="none" spc="0" normalizeH="0" baseline="0" noProof="0" dirty="0">
              <a:ln>
                <a:noFill/>
              </a:ln>
              <a:solidFill>
                <a:srgbClr val="004D80"/>
              </a:solidFill>
              <a:effectLst/>
              <a:uLnTx/>
              <a:uFillTx/>
              <a:latin typeface="Yekan Bakh" pitchFamily="2" charset="-78"/>
              <a:ea typeface="Yekan Bakh" pitchFamily="2" charset="-78"/>
              <a:cs typeface="Yekan Bakh" pitchFamily="2" charset="-78"/>
            </a:endParaRPr>
          </a:p>
        </p:txBody>
      </p:sp>
      <p:sp>
        <p:nvSpPr>
          <p:cNvPr id="12" name="Rectangle: Rounded Corners 11">
            <a:extLst>
              <a:ext uri="{FF2B5EF4-FFF2-40B4-BE49-F238E27FC236}">
                <a16:creationId xmlns:a16="http://schemas.microsoft.com/office/drawing/2014/main" id="{918EC814-C6F2-956A-9C3B-6E8A35B3F2ED}"/>
              </a:ext>
            </a:extLst>
          </p:cNvPr>
          <p:cNvSpPr/>
          <p:nvPr/>
        </p:nvSpPr>
        <p:spPr>
          <a:xfrm>
            <a:off x="7691119" y="4741638"/>
            <a:ext cx="1325880" cy="858919"/>
          </a:xfrm>
          <a:prstGeom prst="roundRect">
            <a:avLst>
              <a:gd name="adj" fmla="val 11482"/>
            </a:avLst>
          </a:prstGeom>
          <a:no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199FF">
                  <a:lumMod val="50000"/>
                </a:srgbClr>
              </a:solidFill>
              <a:effectLst/>
              <a:uLnTx/>
              <a:uFillTx/>
              <a:latin typeface="Calibri"/>
              <a:ea typeface="+mn-ea"/>
              <a:cs typeface="Calibri"/>
            </a:endParaRPr>
          </a:p>
        </p:txBody>
      </p:sp>
      <p:grpSp>
        <p:nvGrpSpPr>
          <p:cNvPr id="17" name="Group 16">
            <a:extLst>
              <a:ext uri="{FF2B5EF4-FFF2-40B4-BE49-F238E27FC236}">
                <a16:creationId xmlns:a16="http://schemas.microsoft.com/office/drawing/2014/main" id="{0D691549-171C-AE87-B9DB-70C524780465}"/>
              </a:ext>
            </a:extLst>
          </p:cNvPr>
          <p:cNvGrpSpPr/>
          <p:nvPr/>
        </p:nvGrpSpPr>
        <p:grpSpPr>
          <a:xfrm>
            <a:off x="6259583" y="4741638"/>
            <a:ext cx="1325880" cy="858919"/>
            <a:chOff x="8837521" y="3114240"/>
            <a:chExt cx="1600975" cy="668127"/>
          </a:xfrm>
        </p:grpSpPr>
        <p:sp>
          <p:nvSpPr>
            <p:cNvPr id="19" name="TextBox 18">
              <a:extLst>
                <a:ext uri="{FF2B5EF4-FFF2-40B4-BE49-F238E27FC236}">
                  <a16:creationId xmlns:a16="http://schemas.microsoft.com/office/drawing/2014/main" id="{6EB54ED7-2E31-43D1-61F6-DCC7DB999332}"/>
                </a:ext>
              </a:extLst>
            </p:cNvPr>
            <p:cNvSpPr txBox="1"/>
            <p:nvPr/>
          </p:nvSpPr>
          <p:spPr>
            <a:xfrm>
              <a:off x="8837521" y="3232835"/>
              <a:ext cx="1600974" cy="430938"/>
            </a:xfrm>
            <a:prstGeom prst="rect">
              <a:avLst/>
            </a:prstGeom>
            <a:noFill/>
          </p:spPr>
          <p:txBody>
            <a:bodyPr wrap="square" anchor="ctr">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000" b="0" i="0" u="none" strike="noStrike" kern="1200" cap="none" spc="0" normalizeH="0" baseline="0" noProof="0">
                  <a:ln>
                    <a:noFill/>
                  </a:ln>
                  <a:solidFill>
                    <a:srgbClr val="588CAC"/>
                  </a:solidFill>
                  <a:effectLst/>
                  <a:uLnTx/>
                  <a:uFillTx/>
                  <a:latin typeface="Yekan Bakh" pitchFamily="2" charset="-78"/>
                  <a:ea typeface="Yekan Bakh" pitchFamily="2" charset="-78"/>
                  <a:cs typeface="Yekan Bakh" pitchFamily="2" charset="-78"/>
                </a:rPr>
                <a:t>ایجاد حضور قانونی و ساختار سازمانی قابل‌اتکا برای فعالیت</a:t>
              </a:r>
              <a:endParaRPr kumimoji="0" lang="fa-IR" sz="1000" b="0" i="0" u="none" strike="noStrike" kern="1200" cap="none" spc="0" normalizeH="0" baseline="0" noProof="0" dirty="0">
                <a:ln>
                  <a:noFill/>
                </a:ln>
                <a:solidFill>
                  <a:srgbClr val="588CAC"/>
                </a:solidFill>
                <a:effectLst/>
                <a:uLnTx/>
                <a:uFillTx/>
                <a:latin typeface="Yekan Bakh" pitchFamily="2" charset="-78"/>
                <a:ea typeface="Yekan Bakh" pitchFamily="2" charset="-78"/>
                <a:cs typeface="Yekan Bakh" pitchFamily="2" charset="-78"/>
              </a:endParaRPr>
            </a:p>
          </p:txBody>
        </p:sp>
        <p:sp>
          <p:nvSpPr>
            <p:cNvPr id="21" name="Rectangle: Rounded Corners 20">
              <a:extLst>
                <a:ext uri="{FF2B5EF4-FFF2-40B4-BE49-F238E27FC236}">
                  <a16:creationId xmlns:a16="http://schemas.microsoft.com/office/drawing/2014/main" id="{EA1FDCDC-CD1A-FB6B-BF1A-1090933CEA3E}"/>
                </a:ext>
              </a:extLst>
            </p:cNvPr>
            <p:cNvSpPr/>
            <p:nvPr/>
          </p:nvSpPr>
          <p:spPr>
            <a:xfrm>
              <a:off x="8837521" y="3114240"/>
              <a:ext cx="1600975" cy="668127"/>
            </a:xfrm>
            <a:prstGeom prst="roundRect">
              <a:avLst>
                <a:gd name="adj" fmla="val 11482"/>
              </a:avLst>
            </a:prstGeom>
            <a:no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588CAC"/>
                </a:solidFill>
                <a:effectLst/>
                <a:uLnTx/>
                <a:uFillTx/>
                <a:latin typeface="Calibri"/>
                <a:ea typeface="+mn-ea"/>
                <a:cs typeface="Calibri"/>
              </a:endParaRPr>
            </a:p>
          </p:txBody>
        </p:sp>
      </p:grpSp>
      <p:grpSp>
        <p:nvGrpSpPr>
          <p:cNvPr id="22" name="Group 21">
            <a:extLst>
              <a:ext uri="{FF2B5EF4-FFF2-40B4-BE49-F238E27FC236}">
                <a16:creationId xmlns:a16="http://schemas.microsoft.com/office/drawing/2014/main" id="{7E9486FB-EF3F-72C4-2010-ECCFA7F4B2D5}"/>
              </a:ext>
            </a:extLst>
          </p:cNvPr>
          <p:cNvGrpSpPr/>
          <p:nvPr/>
        </p:nvGrpSpPr>
        <p:grpSpPr>
          <a:xfrm>
            <a:off x="4828047" y="4741638"/>
            <a:ext cx="1325880" cy="858919"/>
            <a:chOff x="8837521" y="3114240"/>
            <a:chExt cx="1600975" cy="668127"/>
          </a:xfrm>
        </p:grpSpPr>
        <p:sp>
          <p:nvSpPr>
            <p:cNvPr id="24" name="TextBox 23">
              <a:extLst>
                <a:ext uri="{FF2B5EF4-FFF2-40B4-BE49-F238E27FC236}">
                  <a16:creationId xmlns:a16="http://schemas.microsoft.com/office/drawing/2014/main" id="{FB562324-87E7-CB1A-7A1A-23CF44B8C77A}"/>
                </a:ext>
              </a:extLst>
            </p:cNvPr>
            <p:cNvSpPr txBox="1"/>
            <p:nvPr/>
          </p:nvSpPr>
          <p:spPr>
            <a:xfrm>
              <a:off x="8837521" y="3232835"/>
              <a:ext cx="1600974" cy="430938"/>
            </a:xfrm>
            <a:prstGeom prst="rect">
              <a:avLst/>
            </a:prstGeom>
            <a:noFill/>
          </p:spPr>
          <p:txBody>
            <a:bodyPr wrap="square" anchor="ctr">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000" b="0" i="0" u="none" strike="noStrike" kern="1200" cap="none" spc="0" normalizeH="0" baseline="0" noProof="0">
                  <a:ln>
                    <a:noFill/>
                  </a:ln>
                  <a:solidFill>
                    <a:srgbClr val="588CAC"/>
                  </a:solidFill>
                  <a:effectLst/>
                  <a:uLnTx/>
                  <a:uFillTx/>
                  <a:latin typeface="Yekan Bakh" pitchFamily="2" charset="-78"/>
                  <a:ea typeface="Yekan Bakh" pitchFamily="2" charset="-78"/>
                  <a:cs typeface="Yekan Bakh" pitchFamily="2" charset="-78"/>
                </a:rPr>
                <a:t>ایجاد ظرفیت عملیاتی پایدار برای ارائه و توسعه کسب‌وکار</a:t>
              </a:r>
              <a:endParaRPr kumimoji="0" lang="fa-IR" sz="1000" b="0" i="0" u="none" strike="noStrike" kern="1200" cap="none" spc="0" normalizeH="0" baseline="0" noProof="0" dirty="0">
                <a:ln>
                  <a:noFill/>
                </a:ln>
                <a:solidFill>
                  <a:srgbClr val="588CAC"/>
                </a:solidFill>
                <a:effectLst/>
                <a:uLnTx/>
                <a:uFillTx/>
                <a:latin typeface="Yekan Bakh" pitchFamily="2" charset="-78"/>
                <a:ea typeface="Yekan Bakh" pitchFamily="2" charset="-78"/>
                <a:cs typeface="Yekan Bakh" pitchFamily="2" charset="-78"/>
              </a:endParaRPr>
            </a:p>
          </p:txBody>
        </p:sp>
        <p:sp>
          <p:nvSpPr>
            <p:cNvPr id="25" name="Rectangle: Rounded Corners 24">
              <a:extLst>
                <a:ext uri="{FF2B5EF4-FFF2-40B4-BE49-F238E27FC236}">
                  <a16:creationId xmlns:a16="http://schemas.microsoft.com/office/drawing/2014/main" id="{4D8CC8A9-DE4C-BDA5-4C67-A9893D08B90C}"/>
                </a:ext>
              </a:extLst>
            </p:cNvPr>
            <p:cNvSpPr/>
            <p:nvPr/>
          </p:nvSpPr>
          <p:spPr>
            <a:xfrm>
              <a:off x="8837521" y="3114240"/>
              <a:ext cx="1600975" cy="668127"/>
            </a:xfrm>
            <a:prstGeom prst="roundRect">
              <a:avLst>
                <a:gd name="adj" fmla="val 11482"/>
              </a:avLst>
            </a:prstGeom>
            <a:no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588CAC"/>
                </a:solidFill>
                <a:effectLst/>
                <a:uLnTx/>
                <a:uFillTx/>
                <a:latin typeface="Calibri"/>
                <a:ea typeface="+mn-ea"/>
                <a:cs typeface="Calibri"/>
              </a:endParaRPr>
            </a:p>
          </p:txBody>
        </p:sp>
      </p:grpSp>
      <p:grpSp>
        <p:nvGrpSpPr>
          <p:cNvPr id="30" name="Group 29">
            <a:extLst>
              <a:ext uri="{FF2B5EF4-FFF2-40B4-BE49-F238E27FC236}">
                <a16:creationId xmlns:a16="http://schemas.microsoft.com/office/drawing/2014/main" id="{16646A64-1B5C-FCAE-15FD-6AE653C6E46A}"/>
              </a:ext>
            </a:extLst>
          </p:cNvPr>
          <p:cNvGrpSpPr/>
          <p:nvPr/>
        </p:nvGrpSpPr>
        <p:grpSpPr>
          <a:xfrm>
            <a:off x="3396511" y="4739376"/>
            <a:ext cx="1325880" cy="863442"/>
            <a:chOff x="8837521" y="3114240"/>
            <a:chExt cx="1600975" cy="668127"/>
          </a:xfrm>
        </p:grpSpPr>
        <p:sp>
          <p:nvSpPr>
            <p:cNvPr id="34" name="TextBox 33">
              <a:extLst>
                <a:ext uri="{FF2B5EF4-FFF2-40B4-BE49-F238E27FC236}">
                  <a16:creationId xmlns:a16="http://schemas.microsoft.com/office/drawing/2014/main" id="{F811CB38-E7E5-FD14-CF80-45C67E629BB7}"/>
                </a:ext>
              </a:extLst>
            </p:cNvPr>
            <p:cNvSpPr txBox="1"/>
            <p:nvPr/>
          </p:nvSpPr>
          <p:spPr>
            <a:xfrm>
              <a:off x="8837521" y="3233964"/>
              <a:ext cx="1600973" cy="428681"/>
            </a:xfrm>
            <a:prstGeom prst="rect">
              <a:avLst/>
            </a:prstGeom>
            <a:noFill/>
          </p:spPr>
          <p:txBody>
            <a:bodyPr wrap="square" anchor="ctr">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000" b="0" i="0" u="none" strike="noStrike" kern="1200" cap="none" spc="0" normalizeH="0" baseline="0" noProof="0">
                  <a:ln>
                    <a:noFill/>
                  </a:ln>
                  <a:solidFill>
                    <a:srgbClr val="7FA6BF"/>
                  </a:solidFill>
                  <a:effectLst/>
                  <a:uLnTx/>
                  <a:uFillTx/>
                  <a:latin typeface="Yekan Bakh" pitchFamily="2" charset="-78"/>
                  <a:ea typeface="Yekan Bakh" pitchFamily="2" charset="-78"/>
                  <a:cs typeface="Yekan Bakh" pitchFamily="2" charset="-78"/>
                </a:rPr>
                <a:t>کسب مشتریان اولیه، ایجاد درآمد و اثبات مدل تجاری</a:t>
              </a:r>
              <a:endParaRPr kumimoji="0" lang="fa-IR" sz="1000" b="0" i="0" u="none" strike="noStrike" kern="1200" cap="none" spc="0" normalizeH="0" baseline="0" noProof="0" dirty="0">
                <a:ln>
                  <a:noFill/>
                </a:ln>
                <a:solidFill>
                  <a:srgbClr val="7FA6BF"/>
                </a:solidFill>
                <a:effectLst/>
                <a:uLnTx/>
                <a:uFillTx/>
                <a:latin typeface="Yekan Bakh" pitchFamily="2" charset="-78"/>
                <a:ea typeface="Yekan Bakh" pitchFamily="2" charset="-78"/>
                <a:cs typeface="Yekan Bakh" pitchFamily="2" charset="-78"/>
              </a:endParaRPr>
            </a:p>
          </p:txBody>
        </p:sp>
        <p:sp>
          <p:nvSpPr>
            <p:cNvPr id="42" name="Rectangle: Rounded Corners 41">
              <a:extLst>
                <a:ext uri="{FF2B5EF4-FFF2-40B4-BE49-F238E27FC236}">
                  <a16:creationId xmlns:a16="http://schemas.microsoft.com/office/drawing/2014/main" id="{D8378268-A386-717D-431A-00E976D29998}"/>
                </a:ext>
              </a:extLst>
            </p:cNvPr>
            <p:cNvSpPr/>
            <p:nvPr/>
          </p:nvSpPr>
          <p:spPr>
            <a:xfrm>
              <a:off x="8837521" y="3114240"/>
              <a:ext cx="1600975" cy="668127"/>
            </a:xfrm>
            <a:prstGeom prst="roundRect">
              <a:avLst>
                <a:gd name="adj" fmla="val 11482"/>
              </a:avLst>
            </a:prstGeom>
            <a:no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7FA6BF"/>
                </a:solidFill>
                <a:effectLst/>
                <a:uLnTx/>
                <a:uFillTx/>
                <a:latin typeface="Calibri"/>
                <a:ea typeface="+mn-ea"/>
                <a:cs typeface="Calibri"/>
              </a:endParaRPr>
            </a:p>
          </p:txBody>
        </p:sp>
      </p:grpSp>
      <p:grpSp>
        <p:nvGrpSpPr>
          <p:cNvPr id="61" name="Group 60">
            <a:extLst>
              <a:ext uri="{FF2B5EF4-FFF2-40B4-BE49-F238E27FC236}">
                <a16:creationId xmlns:a16="http://schemas.microsoft.com/office/drawing/2014/main" id="{1E930081-9703-7A2E-EE31-6A4552ABBFB9}"/>
              </a:ext>
            </a:extLst>
          </p:cNvPr>
          <p:cNvGrpSpPr/>
          <p:nvPr/>
        </p:nvGrpSpPr>
        <p:grpSpPr>
          <a:xfrm>
            <a:off x="1964975" y="4739376"/>
            <a:ext cx="1325880" cy="863442"/>
            <a:chOff x="8837521" y="3114240"/>
            <a:chExt cx="1600975" cy="668127"/>
          </a:xfrm>
        </p:grpSpPr>
        <p:sp>
          <p:nvSpPr>
            <p:cNvPr id="62" name="TextBox 61">
              <a:extLst>
                <a:ext uri="{FF2B5EF4-FFF2-40B4-BE49-F238E27FC236}">
                  <a16:creationId xmlns:a16="http://schemas.microsoft.com/office/drawing/2014/main" id="{34AD08D7-4E0F-3329-B81C-AA114FC1B761}"/>
                </a:ext>
              </a:extLst>
            </p:cNvPr>
            <p:cNvSpPr txBox="1"/>
            <p:nvPr/>
          </p:nvSpPr>
          <p:spPr>
            <a:xfrm>
              <a:off x="8837521" y="3174422"/>
              <a:ext cx="1600973" cy="547759"/>
            </a:xfrm>
            <a:prstGeom prst="rect">
              <a:avLst/>
            </a:prstGeom>
            <a:noFill/>
          </p:spPr>
          <p:txBody>
            <a:bodyPr wrap="square" anchor="ctr">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000" b="0" i="0" u="none" strike="noStrike" kern="1200" cap="none" spc="0" normalizeH="0" baseline="0" noProof="0">
                  <a:ln>
                    <a:noFill/>
                  </a:ln>
                  <a:solidFill>
                    <a:srgbClr val="7FA6BF"/>
                  </a:solidFill>
                  <a:effectLst/>
                  <a:uLnTx/>
                  <a:uFillTx/>
                  <a:latin typeface="Yekan Bakh" pitchFamily="2" charset="-78"/>
                  <a:ea typeface="Yekan Bakh" pitchFamily="2" charset="-78"/>
                  <a:cs typeface="Yekan Bakh" pitchFamily="2" charset="-78"/>
                </a:rPr>
                <a:t>افزایش سهم بازار، بهبود اقتصاد کسب‌وکار و ایجاد مزیت پایدار محلی</a:t>
              </a:r>
              <a:endParaRPr kumimoji="0" lang="fa-IR" sz="1000" b="0" i="0" u="none" strike="noStrike" kern="1200" cap="none" spc="0" normalizeH="0" baseline="0" noProof="0" dirty="0">
                <a:ln>
                  <a:noFill/>
                </a:ln>
                <a:solidFill>
                  <a:srgbClr val="7FA6BF"/>
                </a:solidFill>
                <a:effectLst/>
                <a:uLnTx/>
                <a:uFillTx/>
                <a:latin typeface="Yekan Bakh" pitchFamily="2" charset="-78"/>
                <a:ea typeface="Yekan Bakh" pitchFamily="2" charset="-78"/>
                <a:cs typeface="Yekan Bakh" pitchFamily="2" charset="-78"/>
              </a:endParaRPr>
            </a:p>
          </p:txBody>
        </p:sp>
        <p:sp>
          <p:nvSpPr>
            <p:cNvPr id="63" name="Rectangle: Rounded Corners 62">
              <a:extLst>
                <a:ext uri="{FF2B5EF4-FFF2-40B4-BE49-F238E27FC236}">
                  <a16:creationId xmlns:a16="http://schemas.microsoft.com/office/drawing/2014/main" id="{B923F7C1-F11D-2D69-F0CB-1F19EF163435}"/>
                </a:ext>
              </a:extLst>
            </p:cNvPr>
            <p:cNvSpPr/>
            <p:nvPr/>
          </p:nvSpPr>
          <p:spPr>
            <a:xfrm>
              <a:off x="8837521" y="3114240"/>
              <a:ext cx="1600975" cy="668127"/>
            </a:xfrm>
            <a:prstGeom prst="roundRect">
              <a:avLst>
                <a:gd name="adj" fmla="val 11482"/>
              </a:avLst>
            </a:prstGeom>
            <a:no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7FA6BF"/>
                </a:solidFill>
                <a:effectLst/>
                <a:uLnTx/>
                <a:uFillTx/>
                <a:latin typeface="Calibri"/>
                <a:ea typeface="+mn-ea"/>
                <a:cs typeface="Calibri"/>
              </a:endParaRPr>
            </a:p>
          </p:txBody>
        </p:sp>
      </p:grpSp>
      <p:grpSp>
        <p:nvGrpSpPr>
          <p:cNvPr id="64" name="Group 63">
            <a:extLst>
              <a:ext uri="{FF2B5EF4-FFF2-40B4-BE49-F238E27FC236}">
                <a16:creationId xmlns:a16="http://schemas.microsoft.com/office/drawing/2014/main" id="{391FF8A8-B7B1-B0AD-1A47-B93E245F1D3E}"/>
              </a:ext>
            </a:extLst>
          </p:cNvPr>
          <p:cNvGrpSpPr/>
          <p:nvPr/>
        </p:nvGrpSpPr>
        <p:grpSpPr>
          <a:xfrm>
            <a:off x="533439" y="4739376"/>
            <a:ext cx="1325880" cy="863442"/>
            <a:chOff x="8837521" y="3114240"/>
            <a:chExt cx="1600975" cy="668127"/>
          </a:xfrm>
        </p:grpSpPr>
        <p:sp>
          <p:nvSpPr>
            <p:cNvPr id="7" name="TextBox 6">
              <a:extLst>
                <a:ext uri="{FF2B5EF4-FFF2-40B4-BE49-F238E27FC236}">
                  <a16:creationId xmlns:a16="http://schemas.microsoft.com/office/drawing/2014/main" id="{D1270191-59B4-2CC2-52E9-A5E571AB8DA4}"/>
                </a:ext>
              </a:extLst>
            </p:cNvPr>
            <p:cNvSpPr txBox="1"/>
            <p:nvPr/>
          </p:nvSpPr>
          <p:spPr>
            <a:xfrm>
              <a:off x="8837521" y="3174423"/>
              <a:ext cx="1600973" cy="547759"/>
            </a:xfrm>
            <a:prstGeom prst="rect">
              <a:avLst/>
            </a:prstGeom>
            <a:noFill/>
          </p:spPr>
          <p:txBody>
            <a:bodyPr wrap="square" anchor="ctr">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000" b="0" i="0" u="none" strike="noStrike" kern="1200" cap="none" spc="0" normalizeH="0" baseline="0" noProof="0">
                  <a:ln>
                    <a:noFill/>
                  </a:ln>
                  <a:solidFill>
                    <a:srgbClr val="7FA6BF"/>
                  </a:solidFill>
                  <a:effectLst/>
                  <a:uLnTx/>
                  <a:uFillTx/>
                  <a:latin typeface="Yekan Bakh" pitchFamily="2" charset="-78"/>
                  <a:ea typeface="Yekan Bakh" pitchFamily="2" charset="-78"/>
                  <a:cs typeface="Yekan Bakh" pitchFamily="2" charset="-78"/>
                </a:rPr>
                <a:t>توسعه، بازطراحی یا خروج از بازار با هدف حداکثرسازی ارزش سرمایه‌گذاری</a:t>
              </a:r>
              <a:endParaRPr kumimoji="0" lang="fa-IR" sz="1000" b="0" i="0" u="none" strike="noStrike" kern="1200" cap="none" spc="0" normalizeH="0" baseline="0" noProof="0" dirty="0">
                <a:ln>
                  <a:noFill/>
                </a:ln>
                <a:solidFill>
                  <a:srgbClr val="7FA6BF"/>
                </a:solidFill>
                <a:effectLst/>
                <a:uLnTx/>
                <a:uFillTx/>
                <a:latin typeface="Yekan Bakh" pitchFamily="2" charset="-78"/>
                <a:ea typeface="Yekan Bakh" pitchFamily="2" charset="-78"/>
                <a:cs typeface="Yekan Bakh" pitchFamily="2" charset="-78"/>
              </a:endParaRPr>
            </a:p>
          </p:txBody>
        </p:sp>
        <p:sp>
          <p:nvSpPr>
            <p:cNvPr id="66" name="Rectangle: Rounded Corners 65">
              <a:extLst>
                <a:ext uri="{FF2B5EF4-FFF2-40B4-BE49-F238E27FC236}">
                  <a16:creationId xmlns:a16="http://schemas.microsoft.com/office/drawing/2014/main" id="{0E069A9E-4166-BA6B-E813-A51A6199F1DD}"/>
                </a:ext>
              </a:extLst>
            </p:cNvPr>
            <p:cNvSpPr/>
            <p:nvPr/>
          </p:nvSpPr>
          <p:spPr>
            <a:xfrm>
              <a:off x="8837521" y="3114240"/>
              <a:ext cx="1600975" cy="668127"/>
            </a:xfrm>
            <a:prstGeom prst="roundRect">
              <a:avLst>
                <a:gd name="adj" fmla="val 11482"/>
              </a:avLst>
            </a:prstGeom>
            <a:no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7FA6BF"/>
                </a:solidFill>
                <a:effectLst/>
                <a:uLnTx/>
                <a:uFillTx/>
                <a:latin typeface="Calibri"/>
                <a:ea typeface="+mn-ea"/>
                <a:cs typeface="Calibri"/>
              </a:endParaRPr>
            </a:p>
          </p:txBody>
        </p:sp>
      </p:grpSp>
      <p:sp>
        <p:nvSpPr>
          <p:cNvPr id="41" name="Rectangle: Rounded Corners 40">
            <a:extLst>
              <a:ext uri="{FF2B5EF4-FFF2-40B4-BE49-F238E27FC236}">
                <a16:creationId xmlns:a16="http://schemas.microsoft.com/office/drawing/2014/main" id="{1D7C3CBE-B3AF-D53C-28C2-BDB470681A46}"/>
              </a:ext>
            </a:extLst>
          </p:cNvPr>
          <p:cNvSpPr/>
          <p:nvPr/>
        </p:nvSpPr>
        <p:spPr>
          <a:xfrm>
            <a:off x="10569844" y="3873717"/>
            <a:ext cx="673729" cy="740664"/>
          </a:xfrm>
          <a:prstGeom prst="roundRect">
            <a:avLst/>
          </a:prstGeom>
          <a:solidFill>
            <a:schemeClr val="tx1">
              <a:lumMod val="65000"/>
              <a:lumOff val="35000"/>
              <a:alpha val="2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ماهیت رقابت</a:t>
            </a:r>
          </a:p>
        </p:txBody>
      </p:sp>
      <p:sp>
        <p:nvSpPr>
          <p:cNvPr id="20" name="TextBox 19">
            <a:extLst>
              <a:ext uri="{FF2B5EF4-FFF2-40B4-BE49-F238E27FC236}">
                <a16:creationId xmlns:a16="http://schemas.microsoft.com/office/drawing/2014/main" id="{3E099988-0615-23F0-55F1-FA084B7A2149}"/>
              </a:ext>
            </a:extLst>
          </p:cNvPr>
          <p:cNvSpPr txBox="1"/>
          <p:nvPr/>
        </p:nvSpPr>
        <p:spPr>
          <a:xfrm>
            <a:off x="9122656" y="3967050"/>
            <a:ext cx="1325879" cy="553998"/>
          </a:xfrm>
          <a:prstGeom prst="rect">
            <a:avLst/>
          </a:prstGeom>
          <a:noFill/>
        </p:spPr>
        <p:txBody>
          <a:bodyPr wrap="square" anchor="ctr">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000" b="0" i="0" u="none" strike="noStrike" kern="1200" cap="none" spc="0" normalizeH="0" baseline="0" noProof="0">
                <a:ln>
                  <a:noFill/>
                </a:ln>
                <a:solidFill>
                  <a:srgbClr val="0199FF">
                    <a:lumMod val="50000"/>
                  </a:srgbClr>
                </a:solidFill>
                <a:effectLst/>
                <a:uLnTx/>
                <a:uFillTx/>
                <a:latin typeface="Yekan Bakh" pitchFamily="2" charset="-78"/>
                <a:ea typeface="Yekan Bakh" pitchFamily="2" charset="-78"/>
                <a:cs typeface="Yekan Bakh" pitchFamily="2" charset="-78"/>
              </a:rPr>
              <a:t>کیفیت اطلاعات، عمق شناخت بازار و سرعت شناسایی فرصت</a:t>
            </a:r>
            <a:endParaRPr kumimoji="0" lang="fa-IR" sz="1000" b="0" i="0" u="none" strike="noStrike" kern="1200" cap="none" spc="0" normalizeH="0" baseline="0" noProof="0" dirty="0">
              <a:ln>
                <a:noFill/>
              </a:ln>
              <a:solidFill>
                <a:srgbClr val="0199FF">
                  <a:lumMod val="50000"/>
                </a:srgbClr>
              </a:solidFill>
              <a:effectLst/>
              <a:uLnTx/>
              <a:uFillTx/>
              <a:latin typeface="Yekan Bakh" pitchFamily="2" charset="-78"/>
              <a:ea typeface="Yekan Bakh" pitchFamily="2" charset="-78"/>
              <a:cs typeface="Yekan Bakh" pitchFamily="2" charset="-78"/>
            </a:endParaRPr>
          </a:p>
        </p:txBody>
      </p:sp>
      <p:sp>
        <p:nvSpPr>
          <p:cNvPr id="23" name="Rectangle: Rounded Corners 22">
            <a:extLst>
              <a:ext uri="{FF2B5EF4-FFF2-40B4-BE49-F238E27FC236}">
                <a16:creationId xmlns:a16="http://schemas.microsoft.com/office/drawing/2014/main" id="{15D7DAD0-FEC8-4674-F1D1-B065976F7289}"/>
              </a:ext>
            </a:extLst>
          </p:cNvPr>
          <p:cNvSpPr/>
          <p:nvPr/>
        </p:nvSpPr>
        <p:spPr>
          <a:xfrm>
            <a:off x="9122656" y="3814590"/>
            <a:ext cx="1325880" cy="858919"/>
          </a:xfrm>
          <a:prstGeom prst="roundRect">
            <a:avLst>
              <a:gd name="adj" fmla="val 11482"/>
            </a:avLst>
          </a:prstGeom>
          <a:no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4D80"/>
              </a:solidFill>
              <a:effectLst/>
              <a:uLnTx/>
              <a:uFillTx/>
              <a:latin typeface="Calibri"/>
              <a:ea typeface="+mn-ea"/>
              <a:cs typeface="Calibri"/>
            </a:endParaRPr>
          </a:p>
        </p:txBody>
      </p:sp>
      <p:sp>
        <p:nvSpPr>
          <p:cNvPr id="27" name="TextBox 26">
            <a:extLst>
              <a:ext uri="{FF2B5EF4-FFF2-40B4-BE49-F238E27FC236}">
                <a16:creationId xmlns:a16="http://schemas.microsoft.com/office/drawing/2014/main" id="{D98E4AED-1BE3-C9B6-E489-9A225182A200}"/>
              </a:ext>
            </a:extLst>
          </p:cNvPr>
          <p:cNvSpPr txBox="1"/>
          <p:nvPr/>
        </p:nvSpPr>
        <p:spPr>
          <a:xfrm>
            <a:off x="7691119" y="3967050"/>
            <a:ext cx="1325879" cy="553998"/>
          </a:xfrm>
          <a:prstGeom prst="rect">
            <a:avLst/>
          </a:prstGeom>
          <a:noFill/>
        </p:spPr>
        <p:txBody>
          <a:bodyPr wrap="square" anchor="ctr">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000" b="0" i="0" u="none" strike="noStrike" kern="1200" cap="none" spc="0" normalizeH="0" baseline="0" noProof="0">
                <a:ln>
                  <a:noFill/>
                </a:ln>
                <a:solidFill>
                  <a:srgbClr val="004D80"/>
                </a:solidFill>
                <a:effectLst/>
                <a:uLnTx/>
                <a:uFillTx/>
                <a:latin typeface="Yekan Bakh" pitchFamily="2" charset="-78"/>
                <a:ea typeface="Yekan Bakh" pitchFamily="2" charset="-78"/>
                <a:cs typeface="Yekan Bakh" pitchFamily="2" charset="-78"/>
              </a:rPr>
              <a:t>انتخاب بهینه بازار، مدل ورود و تخصیص سرمایه</a:t>
            </a:r>
            <a:endParaRPr kumimoji="0" lang="fa-IR" sz="1000" b="0" i="0" u="none" strike="noStrike" kern="1200" cap="none" spc="0" normalizeH="0" baseline="0" noProof="0" dirty="0">
              <a:ln>
                <a:noFill/>
              </a:ln>
              <a:solidFill>
                <a:srgbClr val="004D80"/>
              </a:solidFill>
              <a:effectLst/>
              <a:uLnTx/>
              <a:uFillTx/>
              <a:latin typeface="Yekan Bakh" pitchFamily="2" charset="-78"/>
              <a:ea typeface="Yekan Bakh" pitchFamily="2" charset="-78"/>
              <a:cs typeface="Yekan Bakh" pitchFamily="2" charset="-78"/>
            </a:endParaRPr>
          </a:p>
        </p:txBody>
      </p:sp>
      <p:sp>
        <p:nvSpPr>
          <p:cNvPr id="28" name="Rectangle: Rounded Corners 27">
            <a:extLst>
              <a:ext uri="{FF2B5EF4-FFF2-40B4-BE49-F238E27FC236}">
                <a16:creationId xmlns:a16="http://schemas.microsoft.com/office/drawing/2014/main" id="{06C70E4D-529C-9821-3D9E-6D4421D5FE95}"/>
              </a:ext>
            </a:extLst>
          </p:cNvPr>
          <p:cNvSpPr/>
          <p:nvPr/>
        </p:nvSpPr>
        <p:spPr>
          <a:xfrm>
            <a:off x="7691119" y="3814590"/>
            <a:ext cx="1325880" cy="858919"/>
          </a:xfrm>
          <a:prstGeom prst="roundRect">
            <a:avLst>
              <a:gd name="adj" fmla="val 11482"/>
            </a:avLst>
          </a:prstGeom>
          <a:no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199FF">
                  <a:lumMod val="50000"/>
                </a:srgbClr>
              </a:solidFill>
              <a:effectLst/>
              <a:uLnTx/>
              <a:uFillTx/>
              <a:latin typeface="Calibri"/>
              <a:ea typeface="+mn-ea"/>
              <a:cs typeface="Calibri"/>
            </a:endParaRPr>
          </a:p>
        </p:txBody>
      </p:sp>
      <p:grpSp>
        <p:nvGrpSpPr>
          <p:cNvPr id="29" name="Group 28">
            <a:extLst>
              <a:ext uri="{FF2B5EF4-FFF2-40B4-BE49-F238E27FC236}">
                <a16:creationId xmlns:a16="http://schemas.microsoft.com/office/drawing/2014/main" id="{779E1A4A-7388-030E-A63C-B12899FA7737}"/>
              </a:ext>
            </a:extLst>
          </p:cNvPr>
          <p:cNvGrpSpPr/>
          <p:nvPr/>
        </p:nvGrpSpPr>
        <p:grpSpPr>
          <a:xfrm>
            <a:off x="6259583" y="3814590"/>
            <a:ext cx="1325880" cy="858919"/>
            <a:chOff x="8837521" y="3114240"/>
            <a:chExt cx="1600975" cy="668127"/>
          </a:xfrm>
        </p:grpSpPr>
        <p:sp>
          <p:nvSpPr>
            <p:cNvPr id="31" name="TextBox 30">
              <a:extLst>
                <a:ext uri="{FF2B5EF4-FFF2-40B4-BE49-F238E27FC236}">
                  <a16:creationId xmlns:a16="http://schemas.microsoft.com/office/drawing/2014/main" id="{72056E82-6E66-DC0B-ECFE-6A4DF02BF7F3}"/>
                </a:ext>
              </a:extLst>
            </p:cNvPr>
            <p:cNvSpPr txBox="1"/>
            <p:nvPr/>
          </p:nvSpPr>
          <p:spPr>
            <a:xfrm>
              <a:off x="8837521" y="3232834"/>
              <a:ext cx="1600974" cy="430938"/>
            </a:xfrm>
            <a:prstGeom prst="rect">
              <a:avLst/>
            </a:prstGeom>
            <a:noFill/>
          </p:spPr>
          <p:txBody>
            <a:bodyPr wrap="square" anchor="ctr">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000" b="0" i="0" u="none" strike="noStrike" kern="1200" cap="none" spc="0" normalizeH="0" baseline="0" noProof="0">
                  <a:ln>
                    <a:noFill/>
                  </a:ln>
                  <a:solidFill>
                    <a:srgbClr val="588CAC"/>
                  </a:solidFill>
                  <a:effectLst/>
                  <a:uLnTx/>
                  <a:uFillTx/>
                  <a:latin typeface="Yekan Bakh" pitchFamily="2" charset="-78"/>
                  <a:ea typeface="Yekan Bakh" pitchFamily="2" charset="-78"/>
                  <a:cs typeface="Yekan Bakh" pitchFamily="2" charset="-78"/>
                </a:rPr>
                <a:t>سرعت، قابلیت و هزینه عبور از الزامات قانونی و مقرراتی </a:t>
              </a:r>
              <a:endParaRPr kumimoji="0" lang="fa-IR" sz="1000" b="0" i="0" u="none" strike="noStrike" kern="1200" cap="none" spc="0" normalizeH="0" baseline="0" noProof="0" dirty="0">
                <a:ln>
                  <a:noFill/>
                </a:ln>
                <a:solidFill>
                  <a:srgbClr val="588CAC"/>
                </a:solidFill>
                <a:effectLst/>
                <a:uLnTx/>
                <a:uFillTx/>
                <a:latin typeface="Yekan Bakh" pitchFamily="2" charset="-78"/>
                <a:ea typeface="Yekan Bakh" pitchFamily="2" charset="-78"/>
                <a:cs typeface="Yekan Bakh" pitchFamily="2" charset="-78"/>
              </a:endParaRPr>
            </a:p>
          </p:txBody>
        </p:sp>
        <p:sp>
          <p:nvSpPr>
            <p:cNvPr id="32" name="Rectangle: Rounded Corners 31">
              <a:extLst>
                <a:ext uri="{FF2B5EF4-FFF2-40B4-BE49-F238E27FC236}">
                  <a16:creationId xmlns:a16="http://schemas.microsoft.com/office/drawing/2014/main" id="{ABAAB916-0B9C-C4EF-9B9F-0CEEEC096086}"/>
                </a:ext>
              </a:extLst>
            </p:cNvPr>
            <p:cNvSpPr/>
            <p:nvPr/>
          </p:nvSpPr>
          <p:spPr>
            <a:xfrm>
              <a:off x="8837521" y="3114240"/>
              <a:ext cx="1600975" cy="668127"/>
            </a:xfrm>
            <a:prstGeom prst="roundRect">
              <a:avLst>
                <a:gd name="adj" fmla="val 11482"/>
              </a:avLst>
            </a:prstGeom>
            <a:no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588CAC"/>
                </a:solidFill>
                <a:effectLst/>
                <a:uLnTx/>
                <a:uFillTx/>
                <a:latin typeface="Calibri"/>
                <a:ea typeface="+mn-ea"/>
                <a:cs typeface="Calibri"/>
              </a:endParaRPr>
            </a:p>
          </p:txBody>
        </p:sp>
      </p:grpSp>
      <p:grpSp>
        <p:nvGrpSpPr>
          <p:cNvPr id="33" name="Group 32">
            <a:extLst>
              <a:ext uri="{FF2B5EF4-FFF2-40B4-BE49-F238E27FC236}">
                <a16:creationId xmlns:a16="http://schemas.microsoft.com/office/drawing/2014/main" id="{111A776D-9503-ECC1-4580-F8C98395A05D}"/>
              </a:ext>
            </a:extLst>
          </p:cNvPr>
          <p:cNvGrpSpPr/>
          <p:nvPr/>
        </p:nvGrpSpPr>
        <p:grpSpPr>
          <a:xfrm>
            <a:off x="4828047" y="3814590"/>
            <a:ext cx="1325880" cy="858919"/>
            <a:chOff x="8837521" y="3114240"/>
            <a:chExt cx="1600975" cy="668127"/>
          </a:xfrm>
        </p:grpSpPr>
        <p:sp>
          <p:nvSpPr>
            <p:cNvPr id="35" name="TextBox 34">
              <a:extLst>
                <a:ext uri="{FF2B5EF4-FFF2-40B4-BE49-F238E27FC236}">
                  <a16:creationId xmlns:a16="http://schemas.microsoft.com/office/drawing/2014/main" id="{B1643A92-DC75-533E-DC41-314D67AD898C}"/>
                </a:ext>
              </a:extLst>
            </p:cNvPr>
            <p:cNvSpPr txBox="1"/>
            <p:nvPr/>
          </p:nvSpPr>
          <p:spPr>
            <a:xfrm>
              <a:off x="8837521" y="3232834"/>
              <a:ext cx="1600974" cy="430938"/>
            </a:xfrm>
            <a:prstGeom prst="rect">
              <a:avLst/>
            </a:prstGeom>
            <a:noFill/>
          </p:spPr>
          <p:txBody>
            <a:bodyPr wrap="square" anchor="ctr">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000" b="0" i="0" u="none" strike="noStrike" kern="1200" cap="none" spc="0" normalizeH="0" baseline="0" noProof="0">
                  <a:ln>
                    <a:noFill/>
                  </a:ln>
                  <a:solidFill>
                    <a:srgbClr val="588CAC"/>
                  </a:solidFill>
                  <a:effectLst/>
                  <a:uLnTx/>
                  <a:uFillTx/>
                  <a:latin typeface="Yekan Bakh" pitchFamily="2" charset="-78"/>
                  <a:ea typeface="Yekan Bakh" pitchFamily="2" charset="-78"/>
                  <a:cs typeface="Yekan Bakh" pitchFamily="2" charset="-78"/>
                </a:rPr>
                <a:t>زیرساخت، پوشش جغرافیایی، منابع و قابلیت اجرای عملیات </a:t>
              </a:r>
              <a:endParaRPr kumimoji="0" lang="fa-IR" sz="1000" b="0" i="0" u="none" strike="noStrike" kern="1200" cap="none" spc="0" normalizeH="0" baseline="0" noProof="0" dirty="0">
                <a:ln>
                  <a:noFill/>
                </a:ln>
                <a:solidFill>
                  <a:srgbClr val="588CAC"/>
                </a:solidFill>
                <a:effectLst/>
                <a:uLnTx/>
                <a:uFillTx/>
                <a:latin typeface="Yekan Bakh" pitchFamily="2" charset="-78"/>
                <a:ea typeface="Yekan Bakh" pitchFamily="2" charset="-78"/>
                <a:cs typeface="Yekan Bakh" pitchFamily="2" charset="-78"/>
              </a:endParaRPr>
            </a:p>
          </p:txBody>
        </p:sp>
        <p:sp>
          <p:nvSpPr>
            <p:cNvPr id="36" name="Rectangle: Rounded Corners 35">
              <a:extLst>
                <a:ext uri="{FF2B5EF4-FFF2-40B4-BE49-F238E27FC236}">
                  <a16:creationId xmlns:a16="http://schemas.microsoft.com/office/drawing/2014/main" id="{74322A9E-9C79-3442-C959-D72FC9201038}"/>
                </a:ext>
              </a:extLst>
            </p:cNvPr>
            <p:cNvSpPr/>
            <p:nvPr/>
          </p:nvSpPr>
          <p:spPr>
            <a:xfrm>
              <a:off x="8837521" y="3114240"/>
              <a:ext cx="1600975" cy="668127"/>
            </a:xfrm>
            <a:prstGeom prst="roundRect">
              <a:avLst>
                <a:gd name="adj" fmla="val 11482"/>
              </a:avLst>
            </a:prstGeom>
            <a:no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588CAC"/>
                </a:solidFill>
                <a:effectLst/>
                <a:uLnTx/>
                <a:uFillTx/>
                <a:latin typeface="Calibri"/>
                <a:ea typeface="+mn-ea"/>
                <a:cs typeface="Calibri"/>
              </a:endParaRPr>
            </a:p>
          </p:txBody>
        </p:sp>
      </p:grpSp>
      <p:grpSp>
        <p:nvGrpSpPr>
          <p:cNvPr id="37" name="Group 36">
            <a:extLst>
              <a:ext uri="{FF2B5EF4-FFF2-40B4-BE49-F238E27FC236}">
                <a16:creationId xmlns:a16="http://schemas.microsoft.com/office/drawing/2014/main" id="{494B3C4E-80F4-4E2E-88BC-BBC118E51402}"/>
              </a:ext>
            </a:extLst>
          </p:cNvPr>
          <p:cNvGrpSpPr/>
          <p:nvPr/>
        </p:nvGrpSpPr>
        <p:grpSpPr>
          <a:xfrm>
            <a:off x="3396511" y="3812328"/>
            <a:ext cx="1325880" cy="863442"/>
            <a:chOff x="8837521" y="3114240"/>
            <a:chExt cx="1600975" cy="668127"/>
          </a:xfrm>
        </p:grpSpPr>
        <p:sp>
          <p:nvSpPr>
            <p:cNvPr id="38" name="TextBox 37">
              <a:extLst>
                <a:ext uri="{FF2B5EF4-FFF2-40B4-BE49-F238E27FC236}">
                  <a16:creationId xmlns:a16="http://schemas.microsoft.com/office/drawing/2014/main" id="{D248D577-C839-BD68-1B36-06563C498969}"/>
                </a:ext>
              </a:extLst>
            </p:cNvPr>
            <p:cNvSpPr txBox="1"/>
            <p:nvPr/>
          </p:nvSpPr>
          <p:spPr>
            <a:xfrm>
              <a:off x="8837521" y="3174423"/>
              <a:ext cx="1600973" cy="547759"/>
            </a:xfrm>
            <a:prstGeom prst="rect">
              <a:avLst/>
            </a:prstGeom>
            <a:noFill/>
          </p:spPr>
          <p:txBody>
            <a:bodyPr wrap="square" anchor="ctr">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000" b="0" i="0" u="none" strike="noStrike" kern="1200" cap="none" spc="0" normalizeH="0" baseline="0" noProof="0">
                  <a:ln>
                    <a:noFill/>
                  </a:ln>
                  <a:solidFill>
                    <a:srgbClr val="7FA6BF"/>
                  </a:solidFill>
                  <a:effectLst/>
                  <a:uLnTx/>
                  <a:uFillTx/>
                  <a:latin typeface="Yekan Bakh" pitchFamily="2" charset="-78"/>
                  <a:ea typeface="Yekan Bakh" pitchFamily="2" charset="-78"/>
                  <a:cs typeface="Yekan Bakh" pitchFamily="2" charset="-78"/>
                </a:rPr>
                <a:t>دسترسی به مشتری، کانال فروش، قیمت، کیفیت و سرعت جذب بازار </a:t>
              </a:r>
              <a:endParaRPr kumimoji="0" lang="fa-IR" sz="1000" b="0" i="0" u="none" strike="noStrike" kern="1200" cap="none" spc="0" normalizeH="0" baseline="0" noProof="0" dirty="0">
                <a:ln>
                  <a:noFill/>
                </a:ln>
                <a:solidFill>
                  <a:srgbClr val="7FA6BF"/>
                </a:solidFill>
                <a:effectLst/>
                <a:uLnTx/>
                <a:uFillTx/>
                <a:latin typeface="Yekan Bakh" pitchFamily="2" charset="-78"/>
                <a:ea typeface="Yekan Bakh" pitchFamily="2" charset="-78"/>
                <a:cs typeface="Yekan Bakh" pitchFamily="2" charset="-78"/>
              </a:endParaRPr>
            </a:p>
          </p:txBody>
        </p:sp>
        <p:sp>
          <p:nvSpPr>
            <p:cNvPr id="39" name="Rectangle: Rounded Corners 38">
              <a:extLst>
                <a:ext uri="{FF2B5EF4-FFF2-40B4-BE49-F238E27FC236}">
                  <a16:creationId xmlns:a16="http://schemas.microsoft.com/office/drawing/2014/main" id="{6339DCE6-E7E0-CCC8-EB52-2CE7A72D2532}"/>
                </a:ext>
              </a:extLst>
            </p:cNvPr>
            <p:cNvSpPr/>
            <p:nvPr/>
          </p:nvSpPr>
          <p:spPr>
            <a:xfrm>
              <a:off x="8837521" y="3114240"/>
              <a:ext cx="1600975" cy="668127"/>
            </a:xfrm>
            <a:prstGeom prst="roundRect">
              <a:avLst>
                <a:gd name="adj" fmla="val 11482"/>
              </a:avLst>
            </a:prstGeom>
            <a:no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7FA6BF"/>
                </a:solidFill>
                <a:effectLst/>
                <a:uLnTx/>
                <a:uFillTx/>
                <a:latin typeface="Calibri"/>
                <a:ea typeface="+mn-ea"/>
                <a:cs typeface="Calibri"/>
              </a:endParaRPr>
            </a:p>
          </p:txBody>
        </p:sp>
      </p:grpSp>
      <p:grpSp>
        <p:nvGrpSpPr>
          <p:cNvPr id="70" name="Group 69">
            <a:extLst>
              <a:ext uri="{FF2B5EF4-FFF2-40B4-BE49-F238E27FC236}">
                <a16:creationId xmlns:a16="http://schemas.microsoft.com/office/drawing/2014/main" id="{EDAA1E5E-D091-3156-F80F-1A1E7576307A}"/>
              </a:ext>
            </a:extLst>
          </p:cNvPr>
          <p:cNvGrpSpPr/>
          <p:nvPr/>
        </p:nvGrpSpPr>
        <p:grpSpPr>
          <a:xfrm>
            <a:off x="1964975" y="3812328"/>
            <a:ext cx="1325880" cy="863442"/>
            <a:chOff x="8837521" y="3114240"/>
            <a:chExt cx="1600975" cy="668127"/>
          </a:xfrm>
        </p:grpSpPr>
        <p:sp>
          <p:nvSpPr>
            <p:cNvPr id="75" name="TextBox 74">
              <a:extLst>
                <a:ext uri="{FF2B5EF4-FFF2-40B4-BE49-F238E27FC236}">
                  <a16:creationId xmlns:a16="http://schemas.microsoft.com/office/drawing/2014/main" id="{93E19E31-A22D-B2B0-7B6A-F503DA303359}"/>
                </a:ext>
              </a:extLst>
            </p:cNvPr>
            <p:cNvSpPr txBox="1"/>
            <p:nvPr/>
          </p:nvSpPr>
          <p:spPr>
            <a:xfrm>
              <a:off x="8837521" y="3174423"/>
              <a:ext cx="1600973" cy="547759"/>
            </a:xfrm>
            <a:prstGeom prst="rect">
              <a:avLst/>
            </a:prstGeom>
            <a:noFill/>
          </p:spPr>
          <p:txBody>
            <a:bodyPr wrap="square" anchor="ctr">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000" b="0" i="0" u="none" strike="noStrike" kern="1200" cap="none" spc="0" normalizeH="0" baseline="0" noProof="0">
                  <a:ln>
                    <a:noFill/>
                  </a:ln>
                  <a:solidFill>
                    <a:srgbClr val="7FA6BF"/>
                  </a:solidFill>
                  <a:effectLst/>
                  <a:uLnTx/>
                  <a:uFillTx/>
                  <a:latin typeface="Yekan Bakh" pitchFamily="2" charset="-78"/>
                  <a:ea typeface="Yekan Bakh" pitchFamily="2" charset="-78"/>
                  <a:cs typeface="Yekan Bakh" pitchFamily="2" charset="-78"/>
                </a:rPr>
                <a:t>کارایی عملیاتی، شناخت مشتری، شبکه محلی و هزینه خدمت‌رسانی </a:t>
              </a:r>
              <a:endParaRPr kumimoji="0" lang="fa-IR" sz="1000" b="0" i="0" u="none" strike="noStrike" kern="1200" cap="none" spc="0" normalizeH="0" baseline="0" noProof="0" dirty="0">
                <a:ln>
                  <a:noFill/>
                </a:ln>
                <a:solidFill>
                  <a:srgbClr val="7FA6BF"/>
                </a:solidFill>
                <a:effectLst/>
                <a:uLnTx/>
                <a:uFillTx/>
                <a:latin typeface="Yekan Bakh" pitchFamily="2" charset="-78"/>
                <a:ea typeface="Yekan Bakh" pitchFamily="2" charset="-78"/>
                <a:cs typeface="Yekan Bakh" pitchFamily="2" charset="-78"/>
              </a:endParaRPr>
            </a:p>
          </p:txBody>
        </p:sp>
        <p:sp>
          <p:nvSpPr>
            <p:cNvPr id="85" name="Rectangle: Rounded Corners 84">
              <a:extLst>
                <a:ext uri="{FF2B5EF4-FFF2-40B4-BE49-F238E27FC236}">
                  <a16:creationId xmlns:a16="http://schemas.microsoft.com/office/drawing/2014/main" id="{5BF89EFE-72E8-AE6C-37C6-2632A7B4DA48}"/>
                </a:ext>
              </a:extLst>
            </p:cNvPr>
            <p:cNvSpPr/>
            <p:nvPr/>
          </p:nvSpPr>
          <p:spPr>
            <a:xfrm>
              <a:off x="8837521" y="3114240"/>
              <a:ext cx="1600975" cy="668127"/>
            </a:xfrm>
            <a:prstGeom prst="roundRect">
              <a:avLst>
                <a:gd name="adj" fmla="val 11482"/>
              </a:avLst>
            </a:prstGeom>
            <a:no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7FA6BF"/>
                </a:solidFill>
                <a:effectLst/>
                <a:uLnTx/>
                <a:uFillTx/>
                <a:latin typeface="Calibri"/>
                <a:ea typeface="+mn-ea"/>
                <a:cs typeface="Calibri"/>
              </a:endParaRPr>
            </a:p>
          </p:txBody>
        </p:sp>
      </p:grpSp>
      <p:grpSp>
        <p:nvGrpSpPr>
          <p:cNvPr id="86" name="Group 85">
            <a:extLst>
              <a:ext uri="{FF2B5EF4-FFF2-40B4-BE49-F238E27FC236}">
                <a16:creationId xmlns:a16="http://schemas.microsoft.com/office/drawing/2014/main" id="{59195DD1-A4FE-5A83-01E5-1EA14B901335}"/>
              </a:ext>
            </a:extLst>
          </p:cNvPr>
          <p:cNvGrpSpPr/>
          <p:nvPr/>
        </p:nvGrpSpPr>
        <p:grpSpPr>
          <a:xfrm>
            <a:off x="533439" y="3812328"/>
            <a:ext cx="1325880" cy="863442"/>
            <a:chOff x="8837521" y="3114240"/>
            <a:chExt cx="1600975" cy="668127"/>
          </a:xfrm>
        </p:grpSpPr>
        <p:sp>
          <p:nvSpPr>
            <p:cNvPr id="87" name="TextBox 86">
              <a:extLst>
                <a:ext uri="{FF2B5EF4-FFF2-40B4-BE49-F238E27FC236}">
                  <a16:creationId xmlns:a16="http://schemas.microsoft.com/office/drawing/2014/main" id="{892A271A-1815-B207-9883-241AFF423AB0}"/>
                </a:ext>
              </a:extLst>
            </p:cNvPr>
            <p:cNvSpPr txBox="1"/>
            <p:nvPr/>
          </p:nvSpPr>
          <p:spPr>
            <a:xfrm>
              <a:off x="8837521" y="3174425"/>
              <a:ext cx="1600973" cy="547759"/>
            </a:xfrm>
            <a:prstGeom prst="rect">
              <a:avLst/>
            </a:prstGeom>
            <a:noFill/>
          </p:spPr>
          <p:txBody>
            <a:bodyPr wrap="square" anchor="ctr">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000" b="0" i="0" u="none" strike="noStrike" kern="1200" cap="none" spc="0" normalizeH="0" baseline="0" noProof="0">
                  <a:ln>
                    <a:noFill/>
                  </a:ln>
                  <a:solidFill>
                    <a:srgbClr val="7FA6BF"/>
                  </a:solidFill>
                  <a:effectLst/>
                  <a:uLnTx/>
                  <a:uFillTx/>
                  <a:latin typeface="Yekan Bakh" pitchFamily="2" charset="-78"/>
                  <a:ea typeface="Yekan Bakh" pitchFamily="2" charset="-78"/>
                  <a:cs typeface="Yekan Bakh" pitchFamily="2" charset="-78"/>
                </a:rPr>
                <a:t>سرعت تصمیم‌گیری، تخصیص مجدد سرمایه و حداکثرسازی ارزش</a:t>
              </a:r>
              <a:endParaRPr kumimoji="0" lang="fa-IR" sz="1000" b="0" i="0" u="none" strike="noStrike" kern="1200" cap="none" spc="0" normalizeH="0" baseline="0" noProof="0" dirty="0">
                <a:ln>
                  <a:noFill/>
                </a:ln>
                <a:solidFill>
                  <a:srgbClr val="7FA6BF"/>
                </a:solidFill>
                <a:effectLst/>
                <a:uLnTx/>
                <a:uFillTx/>
                <a:latin typeface="Yekan Bakh" pitchFamily="2" charset="-78"/>
                <a:ea typeface="Yekan Bakh" pitchFamily="2" charset="-78"/>
                <a:cs typeface="Yekan Bakh" pitchFamily="2" charset="-78"/>
              </a:endParaRPr>
            </a:p>
          </p:txBody>
        </p:sp>
        <p:sp>
          <p:nvSpPr>
            <p:cNvPr id="88" name="Rectangle: Rounded Corners 87">
              <a:extLst>
                <a:ext uri="{FF2B5EF4-FFF2-40B4-BE49-F238E27FC236}">
                  <a16:creationId xmlns:a16="http://schemas.microsoft.com/office/drawing/2014/main" id="{B9FD1FEE-8BB4-2EF3-E03A-266D668A469E}"/>
                </a:ext>
              </a:extLst>
            </p:cNvPr>
            <p:cNvSpPr/>
            <p:nvPr/>
          </p:nvSpPr>
          <p:spPr>
            <a:xfrm>
              <a:off x="8837521" y="3114240"/>
              <a:ext cx="1600975" cy="668127"/>
            </a:xfrm>
            <a:prstGeom prst="roundRect">
              <a:avLst>
                <a:gd name="adj" fmla="val 11482"/>
              </a:avLst>
            </a:prstGeom>
            <a:no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7FA6BF"/>
                </a:solidFill>
                <a:effectLst/>
                <a:uLnTx/>
                <a:uFillTx/>
                <a:latin typeface="Calibri"/>
                <a:ea typeface="+mn-ea"/>
                <a:cs typeface="Calibri"/>
              </a:endParaRPr>
            </a:p>
          </p:txBody>
        </p:sp>
      </p:grpSp>
      <p:sp>
        <p:nvSpPr>
          <p:cNvPr id="40" name="Rectangle: Rounded Corners 39">
            <a:extLst>
              <a:ext uri="{FF2B5EF4-FFF2-40B4-BE49-F238E27FC236}">
                <a16:creationId xmlns:a16="http://schemas.microsoft.com/office/drawing/2014/main" id="{736A1C1B-9EAD-959F-3F70-5E73585AAE24}"/>
              </a:ext>
            </a:extLst>
          </p:cNvPr>
          <p:cNvSpPr/>
          <p:nvPr/>
        </p:nvSpPr>
        <p:spPr>
          <a:xfrm>
            <a:off x="10569844" y="2979445"/>
            <a:ext cx="673729" cy="740664"/>
          </a:xfrm>
          <a:prstGeom prst="roundRect">
            <a:avLst/>
          </a:prstGeom>
          <a:solidFill>
            <a:schemeClr val="tx1">
              <a:lumMod val="65000"/>
              <a:lumOff val="35000"/>
              <a:alpha val="2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rPr>
              <a:t>نقش</a:t>
            </a:r>
            <a:endParaRPr kumimoji="0" lang="en-GB" sz="1050" b="1" i="0" u="none" strike="noStrike" kern="1200" cap="none" spc="0" normalizeH="0" baseline="0" noProof="0" dirty="0">
              <a:ln>
                <a:noFill/>
              </a:ln>
              <a:solidFill>
                <a:schemeClr val="bg1"/>
              </a:solidFill>
              <a:effectLst/>
              <a:uLnTx/>
              <a:uFillTx/>
              <a:latin typeface="Yekan Bakh" pitchFamily="2" charset="-78"/>
              <a:ea typeface="Yekan Bakh" pitchFamily="2" charset="-78"/>
              <a:cs typeface="Yekan Bakh" pitchFamily="2" charset="-78"/>
            </a:endParaRPr>
          </a:p>
        </p:txBody>
      </p:sp>
      <p:grpSp>
        <p:nvGrpSpPr>
          <p:cNvPr id="89" name="Group 88">
            <a:extLst>
              <a:ext uri="{FF2B5EF4-FFF2-40B4-BE49-F238E27FC236}">
                <a16:creationId xmlns:a16="http://schemas.microsoft.com/office/drawing/2014/main" id="{CB4D00D4-DA9C-7517-C633-98B2BA59E33B}"/>
              </a:ext>
            </a:extLst>
          </p:cNvPr>
          <p:cNvGrpSpPr/>
          <p:nvPr/>
        </p:nvGrpSpPr>
        <p:grpSpPr>
          <a:xfrm>
            <a:off x="9112617" y="2977579"/>
            <a:ext cx="1325880" cy="744397"/>
            <a:chOff x="8837521" y="3114240"/>
            <a:chExt cx="1600975" cy="668127"/>
          </a:xfrm>
        </p:grpSpPr>
        <p:sp>
          <p:nvSpPr>
            <p:cNvPr id="90" name="TextBox 89">
              <a:extLst>
                <a:ext uri="{FF2B5EF4-FFF2-40B4-BE49-F238E27FC236}">
                  <a16:creationId xmlns:a16="http://schemas.microsoft.com/office/drawing/2014/main" id="{6FCA17F9-099E-D49D-700E-6899ECEDFDC0}"/>
                </a:ext>
              </a:extLst>
            </p:cNvPr>
            <p:cNvSpPr txBox="1"/>
            <p:nvPr/>
          </p:nvSpPr>
          <p:spPr>
            <a:xfrm>
              <a:off x="8837521" y="3168078"/>
              <a:ext cx="1600974" cy="560455"/>
            </a:xfrm>
            <a:prstGeom prst="rect">
              <a:avLst/>
            </a:prstGeom>
            <a:noFill/>
          </p:spPr>
          <p:txBody>
            <a:bodyPr wrap="square" anchor="ctr">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000" b="0" i="0" u="none" strike="noStrike" kern="1200" cap="none" spc="0" normalizeH="0" baseline="0" noProof="0" dirty="0">
                  <a:ln>
                    <a:noFill/>
                  </a:ln>
                  <a:solidFill>
                    <a:srgbClr val="004D80"/>
                  </a:solidFill>
                  <a:effectLst/>
                  <a:uLnTx/>
                  <a:uFillTx/>
                  <a:latin typeface="Yekan Bakh" pitchFamily="2" charset="-78"/>
                  <a:ea typeface="Yekan Bakh" pitchFamily="2" charset="-78"/>
                  <a:cs typeface="Yekan Bakh" pitchFamily="2" charset="-78"/>
                </a:rPr>
                <a:t>کاهش عدم‌قطعیت و تعیین جذاب‌ترین فرصت‌های بازار</a:t>
              </a:r>
            </a:p>
          </p:txBody>
        </p:sp>
        <p:sp>
          <p:nvSpPr>
            <p:cNvPr id="91" name="Rectangle: Rounded Corners 90">
              <a:extLst>
                <a:ext uri="{FF2B5EF4-FFF2-40B4-BE49-F238E27FC236}">
                  <a16:creationId xmlns:a16="http://schemas.microsoft.com/office/drawing/2014/main" id="{D6A7E6C6-C643-497A-2B79-D5247CFFF743}"/>
                </a:ext>
              </a:extLst>
            </p:cNvPr>
            <p:cNvSpPr/>
            <p:nvPr/>
          </p:nvSpPr>
          <p:spPr>
            <a:xfrm>
              <a:off x="8837521" y="3114240"/>
              <a:ext cx="1600975" cy="668127"/>
            </a:xfrm>
            <a:prstGeom prst="roundRect">
              <a:avLst>
                <a:gd name="adj" fmla="val 11482"/>
              </a:avLst>
            </a:prstGeom>
            <a:no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4D80"/>
                </a:solidFill>
                <a:effectLst/>
                <a:uLnTx/>
                <a:uFillTx/>
                <a:latin typeface="Calibri"/>
                <a:ea typeface="+mn-ea"/>
                <a:cs typeface="Calibri"/>
              </a:endParaRPr>
            </a:p>
          </p:txBody>
        </p:sp>
      </p:grpSp>
      <p:grpSp>
        <p:nvGrpSpPr>
          <p:cNvPr id="92" name="Group 91">
            <a:extLst>
              <a:ext uri="{FF2B5EF4-FFF2-40B4-BE49-F238E27FC236}">
                <a16:creationId xmlns:a16="http://schemas.microsoft.com/office/drawing/2014/main" id="{D10B1E5E-8C0C-26B5-2D9F-C7F3DF77AE1A}"/>
              </a:ext>
            </a:extLst>
          </p:cNvPr>
          <p:cNvGrpSpPr/>
          <p:nvPr/>
        </p:nvGrpSpPr>
        <p:grpSpPr>
          <a:xfrm>
            <a:off x="7681080" y="2950834"/>
            <a:ext cx="1325880" cy="797887"/>
            <a:chOff x="8837521" y="3090235"/>
            <a:chExt cx="1600975" cy="716137"/>
          </a:xfrm>
        </p:grpSpPr>
        <p:sp>
          <p:nvSpPr>
            <p:cNvPr id="93" name="TextBox 92">
              <a:extLst>
                <a:ext uri="{FF2B5EF4-FFF2-40B4-BE49-F238E27FC236}">
                  <a16:creationId xmlns:a16="http://schemas.microsoft.com/office/drawing/2014/main" id="{6C83E55F-F6A8-1EE2-1B93-A1108D896C3F}"/>
                </a:ext>
              </a:extLst>
            </p:cNvPr>
            <p:cNvSpPr txBox="1"/>
            <p:nvPr/>
          </p:nvSpPr>
          <p:spPr>
            <a:xfrm>
              <a:off x="8837521" y="3090235"/>
              <a:ext cx="1600974" cy="716137"/>
            </a:xfrm>
            <a:prstGeom prst="rect">
              <a:avLst/>
            </a:prstGeom>
            <a:noFill/>
          </p:spPr>
          <p:txBody>
            <a:bodyPr wrap="square" anchor="ctr">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000" b="0" i="0" u="none" strike="noStrike" kern="1200" cap="none" spc="0" normalizeH="0" baseline="0" noProof="0">
                  <a:ln>
                    <a:noFill/>
                  </a:ln>
                  <a:solidFill>
                    <a:srgbClr val="004D80"/>
                  </a:solidFill>
                  <a:effectLst/>
                  <a:uLnTx/>
                  <a:uFillTx/>
                  <a:latin typeface="Yekan Bakh" pitchFamily="2" charset="-78"/>
                  <a:ea typeface="Yekan Bakh" pitchFamily="2" charset="-78"/>
                  <a:cs typeface="Yekan Bakh" pitchFamily="2" charset="-78"/>
                </a:rPr>
                <a:t>تبدیل فرصت بازار به تصمیم مشخص درباره محل، مدل و میزان تعهد</a:t>
              </a:r>
              <a:endParaRPr kumimoji="0" lang="fa-IR" sz="1000" b="0" i="0" u="none" strike="noStrike" kern="1200" cap="none" spc="0" normalizeH="0" baseline="0" noProof="0" dirty="0">
                <a:ln>
                  <a:noFill/>
                </a:ln>
                <a:solidFill>
                  <a:srgbClr val="004D80"/>
                </a:solidFill>
                <a:effectLst/>
                <a:uLnTx/>
                <a:uFillTx/>
                <a:latin typeface="Yekan Bakh" pitchFamily="2" charset="-78"/>
                <a:ea typeface="Yekan Bakh" pitchFamily="2" charset="-78"/>
                <a:cs typeface="Yekan Bakh" pitchFamily="2" charset="-78"/>
              </a:endParaRPr>
            </a:p>
          </p:txBody>
        </p:sp>
        <p:sp>
          <p:nvSpPr>
            <p:cNvPr id="94" name="Rectangle: Rounded Corners 93">
              <a:extLst>
                <a:ext uri="{FF2B5EF4-FFF2-40B4-BE49-F238E27FC236}">
                  <a16:creationId xmlns:a16="http://schemas.microsoft.com/office/drawing/2014/main" id="{5968C7E0-B8FE-10CB-9456-AF777EC88B94}"/>
                </a:ext>
              </a:extLst>
            </p:cNvPr>
            <p:cNvSpPr/>
            <p:nvPr/>
          </p:nvSpPr>
          <p:spPr>
            <a:xfrm>
              <a:off x="8837521" y="3114240"/>
              <a:ext cx="1600975" cy="668127"/>
            </a:xfrm>
            <a:prstGeom prst="roundRect">
              <a:avLst>
                <a:gd name="adj" fmla="val 11482"/>
              </a:avLst>
            </a:prstGeom>
            <a:no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4D80"/>
                </a:solidFill>
                <a:effectLst/>
                <a:uLnTx/>
                <a:uFillTx/>
                <a:latin typeface="Calibri"/>
                <a:ea typeface="+mn-ea"/>
                <a:cs typeface="Calibri"/>
              </a:endParaRPr>
            </a:p>
          </p:txBody>
        </p:sp>
      </p:grpSp>
      <p:grpSp>
        <p:nvGrpSpPr>
          <p:cNvPr id="95" name="Group 94">
            <a:extLst>
              <a:ext uri="{FF2B5EF4-FFF2-40B4-BE49-F238E27FC236}">
                <a16:creationId xmlns:a16="http://schemas.microsoft.com/office/drawing/2014/main" id="{24E5BFB7-3B5D-0712-583D-2BE7D797F817}"/>
              </a:ext>
            </a:extLst>
          </p:cNvPr>
          <p:cNvGrpSpPr/>
          <p:nvPr/>
        </p:nvGrpSpPr>
        <p:grpSpPr>
          <a:xfrm>
            <a:off x="6249544" y="2977579"/>
            <a:ext cx="1325880" cy="744397"/>
            <a:chOff x="8837521" y="3114240"/>
            <a:chExt cx="1600975" cy="668127"/>
          </a:xfrm>
        </p:grpSpPr>
        <p:sp>
          <p:nvSpPr>
            <p:cNvPr id="96" name="TextBox 95">
              <a:extLst>
                <a:ext uri="{FF2B5EF4-FFF2-40B4-BE49-F238E27FC236}">
                  <a16:creationId xmlns:a16="http://schemas.microsoft.com/office/drawing/2014/main" id="{988D99EA-4C74-712F-F2C5-D118E2DB29CE}"/>
                </a:ext>
              </a:extLst>
            </p:cNvPr>
            <p:cNvSpPr txBox="1"/>
            <p:nvPr/>
          </p:nvSpPr>
          <p:spPr>
            <a:xfrm>
              <a:off x="8837521" y="3199686"/>
              <a:ext cx="1600974" cy="497236"/>
            </a:xfrm>
            <a:prstGeom prst="rect">
              <a:avLst/>
            </a:prstGeom>
            <a:noFill/>
          </p:spPr>
          <p:txBody>
            <a:bodyPr wrap="square" anchor="ctr">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000" b="0" i="0" u="none" strike="noStrike" kern="1200" cap="none" spc="0" normalizeH="0" baseline="0" noProof="0" dirty="0">
                  <a:ln>
                    <a:noFill/>
                  </a:ln>
                  <a:solidFill>
                    <a:srgbClr val="588CAC"/>
                  </a:solidFill>
                  <a:effectLst/>
                  <a:uLnTx/>
                  <a:uFillTx/>
                  <a:latin typeface="Yekan Bakh" pitchFamily="2" charset="-78"/>
                  <a:ea typeface="Yekan Bakh" pitchFamily="2" charset="-78"/>
                  <a:cs typeface="Yekan Bakh" pitchFamily="2" charset="-78"/>
                </a:rPr>
                <a:t>ایجاد چارچوب قانونی و سازمانی لازم برای شروع فعالیت</a:t>
              </a:r>
            </a:p>
          </p:txBody>
        </p:sp>
        <p:sp>
          <p:nvSpPr>
            <p:cNvPr id="97" name="Rectangle: Rounded Corners 96">
              <a:extLst>
                <a:ext uri="{FF2B5EF4-FFF2-40B4-BE49-F238E27FC236}">
                  <a16:creationId xmlns:a16="http://schemas.microsoft.com/office/drawing/2014/main" id="{F1BB75A4-B601-28B6-7260-AD2D5C8C4158}"/>
                </a:ext>
              </a:extLst>
            </p:cNvPr>
            <p:cNvSpPr/>
            <p:nvPr/>
          </p:nvSpPr>
          <p:spPr>
            <a:xfrm>
              <a:off x="8837521" y="3114240"/>
              <a:ext cx="1600975" cy="668127"/>
            </a:xfrm>
            <a:prstGeom prst="roundRect">
              <a:avLst>
                <a:gd name="adj" fmla="val 11482"/>
              </a:avLst>
            </a:prstGeom>
            <a:no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588CAC"/>
                </a:solidFill>
                <a:effectLst/>
                <a:uLnTx/>
                <a:uFillTx/>
                <a:latin typeface="Calibri"/>
                <a:ea typeface="+mn-ea"/>
                <a:cs typeface="Calibri"/>
              </a:endParaRPr>
            </a:p>
          </p:txBody>
        </p:sp>
      </p:grpSp>
      <p:grpSp>
        <p:nvGrpSpPr>
          <p:cNvPr id="98" name="Group 97">
            <a:extLst>
              <a:ext uri="{FF2B5EF4-FFF2-40B4-BE49-F238E27FC236}">
                <a16:creationId xmlns:a16="http://schemas.microsoft.com/office/drawing/2014/main" id="{D2279D72-FDFD-7587-7E2E-C5A9F7F54497}"/>
              </a:ext>
            </a:extLst>
          </p:cNvPr>
          <p:cNvGrpSpPr/>
          <p:nvPr/>
        </p:nvGrpSpPr>
        <p:grpSpPr>
          <a:xfrm>
            <a:off x="4818008" y="2977579"/>
            <a:ext cx="1325880" cy="744397"/>
            <a:chOff x="8837521" y="3114240"/>
            <a:chExt cx="1600975" cy="668127"/>
          </a:xfrm>
        </p:grpSpPr>
        <p:sp>
          <p:nvSpPr>
            <p:cNvPr id="99" name="TextBox 98">
              <a:extLst>
                <a:ext uri="{FF2B5EF4-FFF2-40B4-BE49-F238E27FC236}">
                  <a16:creationId xmlns:a16="http://schemas.microsoft.com/office/drawing/2014/main" id="{B14AC4BF-7E06-19F9-78E8-019A6A14B4F9}"/>
                </a:ext>
              </a:extLst>
            </p:cNvPr>
            <p:cNvSpPr txBox="1"/>
            <p:nvPr/>
          </p:nvSpPr>
          <p:spPr>
            <a:xfrm>
              <a:off x="8837521" y="3199686"/>
              <a:ext cx="1600974" cy="497236"/>
            </a:xfrm>
            <a:prstGeom prst="rect">
              <a:avLst/>
            </a:prstGeom>
            <a:noFill/>
          </p:spPr>
          <p:txBody>
            <a:bodyPr wrap="square" anchor="ctr">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000" b="0" i="0" u="none" strike="noStrike" kern="1200" cap="none" spc="0" normalizeH="0" baseline="0" noProof="0">
                  <a:ln>
                    <a:noFill/>
                  </a:ln>
                  <a:solidFill>
                    <a:srgbClr val="588CAC"/>
                  </a:solidFill>
                  <a:effectLst/>
                  <a:uLnTx/>
                  <a:uFillTx/>
                  <a:latin typeface="Yekan Bakh" pitchFamily="2" charset="-78"/>
                  <a:ea typeface="Yekan Bakh" pitchFamily="2" charset="-78"/>
                  <a:cs typeface="Yekan Bakh" pitchFamily="2" charset="-78"/>
                </a:rPr>
                <a:t>تبدیل حضور قانونی به قابلیت واقعی ارائه محصول و خدمت</a:t>
              </a:r>
              <a:endParaRPr kumimoji="0" lang="fa-IR" sz="1000" b="0" i="0" u="none" strike="noStrike" kern="1200" cap="none" spc="0" normalizeH="0" baseline="0" noProof="0" dirty="0">
                <a:ln>
                  <a:noFill/>
                </a:ln>
                <a:solidFill>
                  <a:srgbClr val="588CAC"/>
                </a:solidFill>
                <a:effectLst/>
                <a:uLnTx/>
                <a:uFillTx/>
                <a:latin typeface="Yekan Bakh" pitchFamily="2" charset="-78"/>
                <a:ea typeface="Yekan Bakh" pitchFamily="2" charset="-78"/>
                <a:cs typeface="Yekan Bakh" pitchFamily="2" charset="-78"/>
              </a:endParaRPr>
            </a:p>
          </p:txBody>
        </p:sp>
        <p:sp>
          <p:nvSpPr>
            <p:cNvPr id="100" name="Rectangle: Rounded Corners 99">
              <a:extLst>
                <a:ext uri="{FF2B5EF4-FFF2-40B4-BE49-F238E27FC236}">
                  <a16:creationId xmlns:a16="http://schemas.microsoft.com/office/drawing/2014/main" id="{3FEC7C0F-6FA9-A63E-AFC6-96B7688BEF7B}"/>
                </a:ext>
              </a:extLst>
            </p:cNvPr>
            <p:cNvSpPr/>
            <p:nvPr/>
          </p:nvSpPr>
          <p:spPr>
            <a:xfrm>
              <a:off x="8837521" y="3114240"/>
              <a:ext cx="1600975" cy="668127"/>
            </a:xfrm>
            <a:prstGeom prst="roundRect">
              <a:avLst>
                <a:gd name="adj" fmla="val 11482"/>
              </a:avLst>
            </a:prstGeom>
            <a:no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588CAC"/>
                </a:solidFill>
                <a:effectLst/>
                <a:uLnTx/>
                <a:uFillTx/>
                <a:latin typeface="Calibri"/>
                <a:ea typeface="+mn-ea"/>
                <a:cs typeface="Calibri"/>
              </a:endParaRPr>
            </a:p>
          </p:txBody>
        </p:sp>
      </p:grpSp>
      <p:grpSp>
        <p:nvGrpSpPr>
          <p:cNvPr id="101" name="Group 100">
            <a:extLst>
              <a:ext uri="{FF2B5EF4-FFF2-40B4-BE49-F238E27FC236}">
                <a16:creationId xmlns:a16="http://schemas.microsoft.com/office/drawing/2014/main" id="{1E00A075-43BF-B8FC-5523-47FA075FF2B4}"/>
              </a:ext>
            </a:extLst>
          </p:cNvPr>
          <p:cNvGrpSpPr/>
          <p:nvPr/>
        </p:nvGrpSpPr>
        <p:grpSpPr>
          <a:xfrm>
            <a:off x="3386472" y="2975619"/>
            <a:ext cx="1325880" cy="748317"/>
            <a:chOff x="8837521" y="3114240"/>
            <a:chExt cx="1600975" cy="668127"/>
          </a:xfrm>
        </p:grpSpPr>
        <p:sp>
          <p:nvSpPr>
            <p:cNvPr id="102" name="TextBox 101">
              <a:extLst>
                <a:ext uri="{FF2B5EF4-FFF2-40B4-BE49-F238E27FC236}">
                  <a16:creationId xmlns:a16="http://schemas.microsoft.com/office/drawing/2014/main" id="{E2D1D3A3-8395-0C45-5B86-0DBB607E6320}"/>
                </a:ext>
              </a:extLst>
            </p:cNvPr>
            <p:cNvSpPr txBox="1"/>
            <p:nvPr/>
          </p:nvSpPr>
          <p:spPr>
            <a:xfrm>
              <a:off x="8837521" y="3200988"/>
              <a:ext cx="1600973" cy="494631"/>
            </a:xfrm>
            <a:prstGeom prst="rect">
              <a:avLst/>
            </a:prstGeom>
            <a:noFill/>
          </p:spPr>
          <p:txBody>
            <a:bodyPr wrap="square" anchor="ctr">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000" b="0" i="0" u="none" strike="noStrike" kern="1200" cap="none" spc="0" normalizeH="0" baseline="0" noProof="0" dirty="0">
                  <a:ln>
                    <a:noFill/>
                  </a:ln>
                  <a:solidFill>
                    <a:srgbClr val="7FA6BF"/>
                  </a:solidFill>
                  <a:effectLst/>
                  <a:uLnTx/>
                  <a:uFillTx/>
                  <a:latin typeface="Yekan Bakh" pitchFamily="2" charset="-78"/>
                  <a:ea typeface="Yekan Bakh" pitchFamily="2" charset="-78"/>
                  <a:cs typeface="Yekan Bakh" pitchFamily="2" charset="-78"/>
                </a:rPr>
                <a:t>تبدیل قابلیت عملیاتی به درآمد و حضور واقعی در بازار</a:t>
              </a:r>
            </a:p>
          </p:txBody>
        </p:sp>
        <p:sp>
          <p:nvSpPr>
            <p:cNvPr id="103" name="Rectangle: Rounded Corners 102">
              <a:extLst>
                <a:ext uri="{FF2B5EF4-FFF2-40B4-BE49-F238E27FC236}">
                  <a16:creationId xmlns:a16="http://schemas.microsoft.com/office/drawing/2014/main" id="{57AE4E3D-F8C8-50AF-4F6D-F2F2CF025E4C}"/>
                </a:ext>
              </a:extLst>
            </p:cNvPr>
            <p:cNvSpPr/>
            <p:nvPr/>
          </p:nvSpPr>
          <p:spPr>
            <a:xfrm>
              <a:off x="8837521" y="3114240"/>
              <a:ext cx="1600975" cy="668127"/>
            </a:xfrm>
            <a:prstGeom prst="roundRect">
              <a:avLst>
                <a:gd name="adj" fmla="val 11482"/>
              </a:avLst>
            </a:prstGeom>
            <a:no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7FA6BF"/>
                </a:solidFill>
                <a:effectLst/>
                <a:uLnTx/>
                <a:uFillTx/>
                <a:latin typeface="Calibri"/>
                <a:ea typeface="+mn-ea"/>
                <a:cs typeface="Calibri"/>
              </a:endParaRPr>
            </a:p>
          </p:txBody>
        </p:sp>
      </p:grpSp>
      <p:grpSp>
        <p:nvGrpSpPr>
          <p:cNvPr id="104" name="Group 103">
            <a:extLst>
              <a:ext uri="{FF2B5EF4-FFF2-40B4-BE49-F238E27FC236}">
                <a16:creationId xmlns:a16="http://schemas.microsoft.com/office/drawing/2014/main" id="{C2347E71-C783-9C78-29F8-30FA443AF26C}"/>
              </a:ext>
            </a:extLst>
          </p:cNvPr>
          <p:cNvGrpSpPr/>
          <p:nvPr/>
        </p:nvGrpSpPr>
        <p:grpSpPr>
          <a:xfrm>
            <a:off x="1954936" y="2975620"/>
            <a:ext cx="1325880" cy="748317"/>
            <a:chOff x="8837521" y="3114240"/>
            <a:chExt cx="1600975" cy="668127"/>
          </a:xfrm>
        </p:grpSpPr>
        <p:sp>
          <p:nvSpPr>
            <p:cNvPr id="105" name="TextBox 104">
              <a:extLst>
                <a:ext uri="{FF2B5EF4-FFF2-40B4-BE49-F238E27FC236}">
                  <a16:creationId xmlns:a16="http://schemas.microsoft.com/office/drawing/2014/main" id="{89E421E3-1D1E-6780-7C97-9221AD36709C}"/>
                </a:ext>
              </a:extLst>
            </p:cNvPr>
            <p:cNvSpPr txBox="1"/>
            <p:nvPr/>
          </p:nvSpPr>
          <p:spPr>
            <a:xfrm>
              <a:off x="8837521" y="3132288"/>
              <a:ext cx="1600973" cy="632029"/>
            </a:xfrm>
            <a:prstGeom prst="rect">
              <a:avLst/>
            </a:prstGeom>
            <a:noFill/>
          </p:spPr>
          <p:txBody>
            <a:bodyPr wrap="square" anchor="ctr">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000" b="0" i="0" u="none" strike="noStrike" kern="1200" cap="none" spc="0" normalizeH="0" baseline="0" noProof="0">
                  <a:ln>
                    <a:noFill/>
                  </a:ln>
                  <a:solidFill>
                    <a:srgbClr val="7FA6BF"/>
                  </a:solidFill>
                  <a:effectLst/>
                  <a:uLnTx/>
                  <a:uFillTx/>
                  <a:latin typeface="Yekan Bakh" pitchFamily="2" charset="-78"/>
                  <a:ea typeface="Yekan Bakh" pitchFamily="2" charset="-78"/>
                  <a:cs typeface="Yekan Bakh" pitchFamily="2" charset="-78"/>
                </a:rPr>
                <a:t>تبدیل حضور اولیه به مزیت رقابتی و کسب‌وکار مقیاس‌پذیر</a:t>
              </a:r>
              <a:endParaRPr kumimoji="0" lang="fa-IR" sz="1000" b="0" i="0" u="none" strike="noStrike" kern="1200" cap="none" spc="0" normalizeH="0" baseline="0" noProof="0" dirty="0">
                <a:ln>
                  <a:noFill/>
                </a:ln>
                <a:solidFill>
                  <a:srgbClr val="7FA6BF"/>
                </a:solidFill>
                <a:effectLst/>
                <a:uLnTx/>
                <a:uFillTx/>
                <a:latin typeface="Yekan Bakh" pitchFamily="2" charset="-78"/>
                <a:ea typeface="Yekan Bakh" pitchFamily="2" charset="-78"/>
                <a:cs typeface="Yekan Bakh" pitchFamily="2" charset="-78"/>
              </a:endParaRPr>
            </a:p>
          </p:txBody>
        </p:sp>
        <p:sp>
          <p:nvSpPr>
            <p:cNvPr id="106" name="Rectangle: Rounded Corners 105">
              <a:extLst>
                <a:ext uri="{FF2B5EF4-FFF2-40B4-BE49-F238E27FC236}">
                  <a16:creationId xmlns:a16="http://schemas.microsoft.com/office/drawing/2014/main" id="{D03A3FBB-07BC-10C8-CEA7-CB2C10FBE9C6}"/>
                </a:ext>
              </a:extLst>
            </p:cNvPr>
            <p:cNvSpPr/>
            <p:nvPr/>
          </p:nvSpPr>
          <p:spPr>
            <a:xfrm>
              <a:off x="8837521" y="3114240"/>
              <a:ext cx="1600975" cy="668127"/>
            </a:xfrm>
            <a:prstGeom prst="roundRect">
              <a:avLst>
                <a:gd name="adj" fmla="val 11482"/>
              </a:avLst>
            </a:prstGeom>
            <a:no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7FA6BF"/>
                </a:solidFill>
                <a:effectLst/>
                <a:uLnTx/>
                <a:uFillTx/>
                <a:latin typeface="Calibri"/>
                <a:ea typeface="+mn-ea"/>
                <a:cs typeface="Calibri"/>
              </a:endParaRPr>
            </a:p>
          </p:txBody>
        </p:sp>
      </p:grpSp>
      <p:grpSp>
        <p:nvGrpSpPr>
          <p:cNvPr id="107" name="Group 106">
            <a:extLst>
              <a:ext uri="{FF2B5EF4-FFF2-40B4-BE49-F238E27FC236}">
                <a16:creationId xmlns:a16="http://schemas.microsoft.com/office/drawing/2014/main" id="{EED68DCD-4259-3B23-F959-F525CFCB0792}"/>
              </a:ext>
            </a:extLst>
          </p:cNvPr>
          <p:cNvGrpSpPr/>
          <p:nvPr/>
        </p:nvGrpSpPr>
        <p:grpSpPr>
          <a:xfrm>
            <a:off x="523400" y="2975618"/>
            <a:ext cx="1325880" cy="748317"/>
            <a:chOff x="8837521" y="3114240"/>
            <a:chExt cx="1600975" cy="668127"/>
          </a:xfrm>
        </p:grpSpPr>
        <p:sp>
          <p:nvSpPr>
            <p:cNvPr id="108" name="TextBox 107">
              <a:extLst>
                <a:ext uri="{FF2B5EF4-FFF2-40B4-BE49-F238E27FC236}">
                  <a16:creationId xmlns:a16="http://schemas.microsoft.com/office/drawing/2014/main" id="{C87C4D3F-66A3-2887-9C29-83BDD7D63DA0}"/>
                </a:ext>
              </a:extLst>
            </p:cNvPr>
            <p:cNvSpPr txBox="1"/>
            <p:nvPr/>
          </p:nvSpPr>
          <p:spPr>
            <a:xfrm>
              <a:off x="8837521" y="3132290"/>
              <a:ext cx="1600973" cy="632029"/>
            </a:xfrm>
            <a:prstGeom prst="rect">
              <a:avLst/>
            </a:prstGeom>
            <a:noFill/>
          </p:spPr>
          <p:txBody>
            <a:bodyPr wrap="square" anchor="ctr">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000" b="0" i="0" u="none" strike="noStrike" kern="1200" cap="none" spc="0" normalizeH="0" baseline="0" noProof="0">
                  <a:ln>
                    <a:noFill/>
                  </a:ln>
                  <a:solidFill>
                    <a:srgbClr val="7FA6BF"/>
                  </a:solidFill>
                  <a:effectLst/>
                  <a:uLnTx/>
                  <a:uFillTx/>
                  <a:latin typeface="Yekan Bakh" pitchFamily="2" charset="-78"/>
                  <a:ea typeface="Yekan Bakh" pitchFamily="2" charset="-78"/>
                  <a:cs typeface="Yekan Bakh" pitchFamily="2" charset="-78"/>
                </a:rPr>
                <a:t>بهینه‌سازی مستمر سرمایه و ساختار حضور بر اساس عملکرد بازار</a:t>
              </a:r>
              <a:endParaRPr kumimoji="0" lang="fa-IR" sz="1000" b="0" i="0" u="none" strike="noStrike" kern="1200" cap="none" spc="0" normalizeH="0" baseline="0" noProof="0" dirty="0">
                <a:ln>
                  <a:noFill/>
                </a:ln>
                <a:solidFill>
                  <a:srgbClr val="7FA6BF"/>
                </a:solidFill>
                <a:effectLst/>
                <a:uLnTx/>
                <a:uFillTx/>
                <a:latin typeface="Yekan Bakh" pitchFamily="2" charset="-78"/>
                <a:ea typeface="Yekan Bakh" pitchFamily="2" charset="-78"/>
                <a:cs typeface="Yekan Bakh" pitchFamily="2" charset="-78"/>
              </a:endParaRPr>
            </a:p>
          </p:txBody>
        </p:sp>
        <p:sp>
          <p:nvSpPr>
            <p:cNvPr id="109" name="Rectangle: Rounded Corners 108">
              <a:extLst>
                <a:ext uri="{FF2B5EF4-FFF2-40B4-BE49-F238E27FC236}">
                  <a16:creationId xmlns:a16="http://schemas.microsoft.com/office/drawing/2014/main" id="{54D87595-927F-2BA6-313C-517844ED424A}"/>
                </a:ext>
              </a:extLst>
            </p:cNvPr>
            <p:cNvSpPr/>
            <p:nvPr/>
          </p:nvSpPr>
          <p:spPr>
            <a:xfrm>
              <a:off x="8837521" y="3114240"/>
              <a:ext cx="1600975" cy="668127"/>
            </a:xfrm>
            <a:prstGeom prst="roundRect">
              <a:avLst>
                <a:gd name="adj" fmla="val 11482"/>
              </a:avLst>
            </a:prstGeom>
            <a:no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7FA6BF"/>
                </a:solidFill>
                <a:effectLst/>
                <a:uLnTx/>
                <a:uFillTx/>
                <a:latin typeface="Calibri"/>
                <a:ea typeface="+mn-ea"/>
                <a:cs typeface="Calibri"/>
              </a:endParaRPr>
            </a:p>
          </p:txBody>
        </p:sp>
      </p:grpSp>
    </p:spTree>
    <p:extLst>
      <p:ext uri="{BB962C8B-B14F-4D97-AF65-F5344CB8AC3E}">
        <p14:creationId xmlns:p14="http://schemas.microsoft.com/office/powerpoint/2010/main" val="112430211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BE485-E39C-281E-23E3-EB45E72A3624}"/>
            </a:ext>
          </a:extLst>
        </p:cNvPr>
        <p:cNvGrpSpPr/>
        <p:nvPr/>
      </p:nvGrpSpPr>
      <p:grpSpPr>
        <a:xfrm>
          <a:off x="0" y="0"/>
          <a:ext cx="0" cy="0"/>
          <a:chOff x="0" y="0"/>
          <a:chExt cx="0" cy="0"/>
        </a:xfrm>
      </p:grpSpPr>
      <p:graphicFrame>
        <p:nvGraphicFramePr>
          <p:cNvPr id="18" name="Table 17">
            <a:extLst>
              <a:ext uri="{FF2B5EF4-FFF2-40B4-BE49-F238E27FC236}">
                <a16:creationId xmlns:a16="http://schemas.microsoft.com/office/drawing/2014/main" id="{42751CEC-AA1D-500F-59C3-A28C1A6CB190}"/>
              </a:ext>
            </a:extLst>
          </p:cNvPr>
          <p:cNvGraphicFramePr>
            <a:graphicFrameLocks noGrp="1"/>
          </p:cNvGraphicFramePr>
          <p:nvPr>
            <p:extLst>
              <p:ext uri="{D42A27DB-BD31-4B8C-83A1-F6EECF244321}">
                <p14:modId xmlns:p14="http://schemas.microsoft.com/office/powerpoint/2010/main" val="3624591993"/>
              </p:ext>
            </p:extLst>
          </p:nvPr>
        </p:nvGraphicFramePr>
        <p:xfrm>
          <a:off x="555630" y="2692376"/>
          <a:ext cx="10605428" cy="3102620"/>
        </p:xfrm>
        <a:graphic>
          <a:graphicData uri="http://schemas.openxmlformats.org/drawingml/2006/table">
            <a:tbl>
              <a:tblPr firstRow="1" bandRow="1">
                <a:tableStyleId>{5C22544A-7EE6-4342-B048-85BDC9FD1C3A}</a:tableStyleId>
              </a:tblPr>
              <a:tblGrid>
                <a:gridCol w="589590">
                  <a:extLst>
                    <a:ext uri="{9D8B030D-6E8A-4147-A177-3AD203B41FA5}">
                      <a16:colId xmlns:a16="http://schemas.microsoft.com/office/drawing/2014/main" val="1666235114"/>
                    </a:ext>
                  </a:extLst>
                </a:gridCol>
                <a:gridCol w="1257703">
                  <a:extLst>
                    <a:ext uri="{9D8B030D-6E8A-4147-A177-3AD203B41FA5}">
                      <a16:colId xmlns:a16="http://schemas.microsoft.com/office/drawing/2014/main" val="2693748967"/>
                    </a:ext>
                  </a:extLst>
                </a:gridCol>
                <a:gridCol w="1257703">
                  <a:extLst>
                    <a:ext uri="{9D8B030D-6E8A-4147-A177-3AD203B41FA5}">
                      <a16:colId xmlns:a16="http://schemas.microsoft.com/office/drawing/2014/main" val="1876820462"/>
                    </a:ext>
                  </a:extLst>
                </a:gridCol>
                <a:gridCol w="1257703">
                  <a:extLst>
                    <a:ext uri="{9D8B030D-6E8A-4147-A177-3AD203B41FA5}">
                      <a16:colId xmlns:a16="http://schemas.microsoft.com/office/drawing/2014/main" val="2092735400"/>
                    </a:ext>
                  </a:extLst>
                </a:gridCol>
                <a:gridCol w="1257703">
                  <a:extLst>
                    <a:ext uri="{9D8B030D-6E8A-4147-A177-3AD203B41FA5}">
                      <a16:colId xmlns:a16="http://schemas.microsoft.com/office/drawing/2014/main" val="953193338"/>
                    </a:ext>
                  </a:extLst>
                </a:gridCol>
                <a:gridCol w="1257703">
                  <a:extLst>
                    <a:ext uri="{9D8B030D-6E8A-4147-A177-3AD203B41FA5}">
                      <a16:colId xmlns:a16="http://schemas.microsoft.com/office/drawing/2014/main" val="2609971220"/>
                    </a:ext>
                  </a:extLst>
                </a:gridCol>
                <a:gridCol w="1257703">
                  <a:extLst>
                    <a:ext uri="{9D8B030D-6E8A-4147-A177-3AD203B41FA5}">
                      <a16:colId xmlns:a16="http://schemas.microsoft.com/office/drawing/2014/main" val="3379321948"/>
                    </a:ext>
                  </a:extLst>
                </a:gridCol>
                <a:gridCol w="1257703">
                  <a:extLst>
                    <a:ext uri="{9D8B030D-6E8A-4147-A177-3AD203B41FA5}">
                      <a16:colId xmlns:a16="http://schemas.microsoft.com/office/drawing/2014/main" val="1854692289"/>
                    </a:ext>
                  </a:extLst>
                </a:gridCol>
                <a:gridCol w="1211917">
                  <a:extLst>
                    <a:ext uri="{9D8B030D-6E8A-4147-A177-3AD203B41FA5}">
                      <a16:colId xmlns:a16="http://schemas.microsoft.com/office/drawing/2014/main" val="3038686388"/>
                    </a:ext>
                  </a:extLst>
                </a:gridCol>
              </a:tblGrid>
              <a:tr h="310262">
                <a:tc>
                  <a:txBody>
                    <a:bodyPr/>
                    <a:lstStyle/>
                    <a:p>
                      <a:pPr algn="ctr" rtl="1"/>
                      <a:endParaRPr lang="en-US" sz="900" dirty="0">
                        <a:latin typeface="Yekan Bakh" pitchFamily="2" charset="-78"/>
                        <a:ea typeface="Yekan Bakh" pitchFamily="2" charset="-78"/>
                        <a:cs typeface="Yekan Bakh" pitchFamily="2" charset="-7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1"/>
                      <a:r>
                        <a:rPr lang="fa-IR" sz="900" b="0" dirty="0">
                          <a:solidFill>
                            <a:schemeClr val="bg1">
                              <a:lumMod val="75000"/>
                            </a:schemeClr>
                          </a:solidFill>
                          <a:latin typeface="Yekan Bakh" pitchFamily="2" charset="-78"/>
                          <a:ea typeface="Yekan Bakh" pitchFamily="2" charset="-78"/>
                          <a:cs typeface="Yekan Bakh" pitchFamily="2" charset="-78"/>
                        </a:rPr>
                        <a:t>مرحله ۷</a:t>
                      </a:r>
                      <a:endParaRPr lang="en-US" sz="900" b="0" dirty="0">
                        <a:solidFill>
                          <a:schemeClr val="bg1">
                            <a:lumMod val="75000"/>
                          </a:schemeClr>
                        </a:solidFill>
                        <a:latin typeface="Yekan Bakh" pitchFamily="2" charset="-78"/>
                        <a:ea typeface="Yekan Bakh" pitchFamily="2" charset="-78"/>
                        <a:cs typeface="Yekan Bakh" pitchFamily="2" charset="-7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alpha val="85000"/>
                      </a:schemeClr>
                    </a:solidFill>
                  </a:tcPr>
                </a:tc>
                <a:tc>
                  <a:txBody>
                    <a:bodyPr/>
                    <a:lstStyle/>
                    <a:p>
                      <a:pPr algn="ctr" rtl="1"/>
                      <a:r>
                        <a:rPr lang="fa-IR" sz="900" b="0" dirty="0">
                          <a:solidFill>
                            <a:schemeClr val="bg1">
                              <a:lumMod val="75000"/>
                            </a:schemeClr>
                          </a:solidFill>
                          <a:latin typeface="Yekan Bakh" pitchFamily="2" charset="-78"/>
                          <a:ea typeface="Yekan Bakh" pitchFamily="2" charset="-78"/>
                          <a:cs typeface="Yekan Bakh" pitchFamily="2" charset="-78"/>
                        </a:rPr>
                        <a:t>مرحله ۶</a:t>
                      </a:r>
                      <a:endParaRPr lang="en-US" sz="900" b="0" dirty="0">
                        <a:solidFill>
                          <a:schemeClr val="bg1">
                            <a:lumMod val="75000"/>
                          </a:schemeClr>
                        </a:solidFill>
                        <a:latin typeface="Yekan Bakh" pitchFamily="2" charset="-78"/>
                        <a:ea typeface="Yekan Bakh" pitchFamily="2" charset="-78"/>
                        <a:cs typeface="Yekan Bakh" pitchFamily="2" charset="-7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alpha val="85000"/>
                      </a:schemeClr>
                    </a:solidFill>
                  </a:tcPr>
                </a:tc>
                <a:tc>
                  <a:txBody>
                    <a:bodyPr/>
                    <a:lstStyle/>
                    <a:p>
                      <a:pPr algn="ctr" rtl="1"/>
                      <a:r>
                        <a:rPr lang="fa-IR" sz="900" b="1" dirty="0">
                          <a:solidFill>
                            <a:schemeClr val="bg1"/>
                          </a:solidFill>
                          <a:latin typeface="Yekan Bakh" pitchFamily="2" charset="-78"/>
                          <a:ea typeface="Yekan Bakh" pitchFamily="2" charset="-78"/>
                          <a:cs typeface="Yekan Bakh" pitchFamily="2" charset="-78"/>
                        </a:rPr>
                        <a:t>مرحله ۵</a:t>
                      </a:r>
                      <a:endParaRPr lang="en-US" sz="900" b="1" dirty="0">
                        <a:solidFill>
                          <a:schemeClr val="bg1"/>
                        </a:solidFill>
                        <a:latin typeface="Yekan Bakh" pitchFamily="2" charset="-78"/>
                        <a:ea typeface="Yekan Bakh" pitchFamily="2" charset="-78"/>
                        <a:cs typeface="Yekan Bakh" pitchFamily="2" charset="-7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0BE0F">
                        <a:alpha val="85000"/>
                      </a:srgbClr>
                    </a:solidFill>
                  </a:tcPr>
                </a:tc>
                <a:tc>
                  <a:txBody>
                    <a:bodyPr/>
                    <a:lstStyle/>
                    <a:p>
                      <a:pPr algn="ctr" rtl="1"/>
                      <a:r>
                        <a:rPr lang="fa-IR" sz="900" b="1" dirty="0">
                          <a:solidFill>
                            <a:schemeClr val="bg1"/>
                          </a:solidFill>
                          <a:latin typeface="Yekan Bakh" pitchFamily="2" charset="-78"/>
                          <a:ea typeface="Yekan Bakh" pitchFamily="2" charset="-78"/>
                          <a:cs typeface="Yekan Bakh" pitchFamily="2" charset="-78"/>
                        </a:rPr>
                        <a:t>مرحله ۴</a:t>
                      </a:r>
                      <a:endParaRPr lang="en-US" sz="900" b="1" dirty="0">
                        <a:solidFill>
                          <a:schemeClr val="bg1"/>
                        </a:solidFill>
                        <a:latin typeface="Yekan Bakh" pitchFamily="2" charset="-78"/>
                        <a:ea typeface="Yekan Bakh" pitchFamily="2" charset="-78"/>
                        <a:cs typeface="Yekan Bakh" pitchFamily="2" charset="-7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0BE0F">
                        <a:alpha val="85000"/>
                      </a:srgbClr>
                    </a:solidFill>
                  </a:tcPr>
                </a:tc>
                <a:tc>
                  <a:txBody>
                    <a:bodyPr/>
                    <a:lstStyle/>
                    <a:p>
                      <a:pPr algn="ctr" rtl="1"/>
                      <a:r>
                        <a:rPr lang="fa-IR" sz="900" b="1" dirty="0">
                          <a:solidFill>
                            <a:schemeClr val="bg1"/>
                          </a:solidFill>
                          <a:latin typeface="Yekan Bakh" pitchFamily="2" charset="-78"/>
                          <a:ea typeface="Yekan Bakh" pitchFamily="2" charset="-78"/>
                          <a:cs typeface="Yekan Bakh" pitchFamily="2" charset="-78"/>
                        </a:rPr>
                        <a:t>مرحله ۳</a:t>
                      </a:r>
                      <a:endParaRPr lang="en-US" sz="900" b="1" dirty="0">
                        <a:solidFill>
                          <a:schemeClr val="bg1"/>
                        </a:solidFill>
                        <a:latin typeface="Yekan Bakh" pitchFamily="2" charset="-78"/>
                        <a:ea typeface="Yekan Bakh" pitchFamily="2" charset="-78"/>
                        <a:cs typeface="Yekan Bakh" pitchFamily="2" charset="-7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0BE0F">
                        <a:alpha val="85000"/>
                      </a:srgbClr>
                    </a:solidFill>
                  </a:tcPr>
                </a:tc>
                <a:tc>
                  <a:txBody>
                    <a:bodyPr/>
                    <a:lstStyle/>
                    <a:p>
                      <a:pPr algn="ctr" rtl="1"/>
                      <a:r>
                        <a:rPr lang="fa-IR" sz="900" b="0" dirty="0">
                          <a:solidFill>
                            <a:schemeClr val="bg1">
                              <a:lumMod val="75000"/>
                            </a:schemeClr>
                          </a:solidFill>
                          <a:latin typeface="Yekan Bakh" pitchFamily="2" charset="-78"/>
                          <a:ea typeface="Yekan Bakh" pitchFamily="2" charset="-78"/>
                          <a:cs typeface="Yekan Bakh" pitchFamily="2" charset="-78"/>
                        </a:rPr>
                        <a:t>مرحله ۲</a:t>
                      </a:r>
                      <a:endParaRPr lang="en-US" sz="900" b="0" dirty="0">
                        <a:solidFill>
                          <a:schemeClr val="bg1">
                            <a:lumMod val="75000"/>
                          </a:schemeClr>
                        </a:solidFill>
                        <a:latin typeface="Yekan Bakh" pitchFamily="2" charset="-78"/>
                        <a:ea typeface="Yekan Bakh" pitchFamily="2" charset="-78"/>
                        <a:cs typeface="Yekan Bakh" pitchFamily="2" charset="-7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alpha val="85000"/>
                      </a:schemeClr>
                    </a:solidFill>
                  </a:tcPr>
                </a:tc>
                <a:tc>
                  <a:txBody>
                    <a:bodyPr/>
                    <a:lstStyle/>
                    <a:p>
                      <a:pPr algn="ctr" rtl="1"/>
                      <a:r>
                        <a:rPr lang="fa-IR" sz="900" b="0" dirty="0">
                          <a:solidFill>
                            <a:schemeClr val="bg1">
                              <a:lumMod val="75000"/>
                            </a:schemeClr>
                          </a:solidFill>
                          <a:latin typeface="Yekan Bakh" pitchFamily="2" charset="-78"/>
                          <a:ea typeface="Yekan Bakh" pitchFamily="2" charset="-78"/>
                          <a:cs typeface="Yekan Bakh" pitchFamily="2" charset="-78"/>
                        </a:rPr>
                        <a:t>مرحله ۱</a:t>
                      </a:r>
                      <a:endParaRPr lang="en-US" sz="900" b="0" dirty="0">
                        <a:solidFill>
                          <a:schemeClr val="bg1">
                            <a:lumMod val="75000"/>
                          </a:schemeClr>
                        </a:solidFill>
                        <a:latin typeface="Yekan Bakh" pitchFamily="2" charset="-78"/>
                        <a:ea typeface="Yekan Bakh" pitchFamily="2" charset="-78"/>
                        <a:cs typeface="Yekan Bakh" pitchFamily="2" charset="-7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alpha val="85000"/>
                      </a:schemeClr>
                    </a:solidFill>
                  </a:tcPr>
                </a:tc>
                <a:tc>
                  <a:txBody>
                    <a:bodyPr/>
                    <a:lstStyle/>
                    <a:p>
                      <a:pPr algn="r" rtl="1"/>
                      <a:r>
                        <a:rPr lang="fa-IR" sz="1100" b="1" kern="1200" dirty="0">
                          <a:solidFill>
                            <a:srgbClr val="004D80"/>
                          </a:solidFill>
                          <a:latin typeface="Yekan Bakh" pitchFamily="2" charset="-78"/>
                          <a:ea typeface="Yekan Bakh" pitchFamily="2" charset="-78"/>
                          <a:cs typeface="Yekan Bakh" pitchFamily="2" charset="-78"/>
                        </a:rPr>
                        <a:t>دسترسی</a:t>
                      </a:r>
                      <a:endParaRPr lang="en-US" sz="1100" b="1" kern="1200" dirty="0">
                        <a:solidFill>
                          <a:srgbClr val="004D80"/>
                        </a:solidFill>
                        <a:latin typeface="Yekan Bakh" pitchFamily="2" charset="-78"/>
                        <a:ea typeface="Yekan Bakh" pitchFamily="2" charset="-78"/>
                        <a:cs typeface="Yekan Bakh" pitchFamily="2" charset="-7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36658198"/>
                  </a:ext>
                </a:extLst>
              </a:tr>
              <a:tr h="310262">
                <a:tc gridSpan="9">
                  <a:txBody>
                    <a:bodyPr/>
                    <a:lstStyle/>
                    <a:p>
                      <a:pPr algn="r" rtl="1"/>
                      <a:r>
                        <a:rPr lang="fa-IR" sz="900" dirty="0">
                          <a:solidFill>
                            <a:schemeClr val="tx1">
                              <a:lumMod val="75000"/>
                              <a:lumOff val="25000"/>
                            </a:schemeClr>
                          </a:solidFill>
                          <a:latin typeface="Yekan Bakh" pitchFamily="2" charset="-78"/>
                          <a:ea typeface="Yekan Bakh" pitchFamily="2" charset="-78"/>
                          <a:cs typeface="Yekan Bakh" pitchFamily="2" charset="-78"/>
                        </a:rPr>
                        <a:t>دسترسی، آستانه‌ها را باز می‌کند. تقریباً در همه‌جای زنجیره لازم است اما در مرحله ۳ و مرحله ۵ تعیین‌کننده است.</a:t>
                      </a:r>
                      <a:endParaRPr lang="en-US" sz="900" dirty="0">
                        <a:solidFill>
                          <a:schemeClr val="tx1">
                            <a:lumMod val="75000"/>
                            <a:lumOff val="25000"/>
                          </a:schemeClr>
                        </a:solidFill>
                        <a:latin typeface="Yekan Bakh" pitchFamily="2" charset="-78"/>
                        <a:ea typeface="Yekan Bakh" pitchFamily="2" charset="-78"/>
                        <a:cs typeface="Yekan Bakh" pitchFamily="2" charset="-7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pPr algn="r" rtl="1"/>
                      <a:endParaRPr lang="en-US" sz="1100">
                        <a:latin typeface="Shabnam FD" panose="020B0603030804020204" pitchFamily="34" charset="-78"/>
                        <a:cs typeface="Shabnam FD" panose="020B0603030804020204" pitchFamily="34" charset="-78"/>
                      </a:endParaRPr>
                    </a:p>
                  </a:txBody>
                  <a:tcPr>
                    <a:lnT w="12700" cap="flat" cmpd="sng" algn="ctr">
                      <a:solidFill>
                        <a:schemeClr val="tx1"/>
                      </a:solidFill>
                      <a:prstDash val="solid"/>
                      <a:round/>
                      <a:headEnd type="none" w="med" len="med"/>
                      <a:tailEnd type="none" w="med" len="med"/>
                    </a:lnT>
                    <a:solidFill>
                      <a:schemeClr val="bg1">
                        <a:lumMod val="95000"/>
                      </a:schemeClr>
                    </a:solidFill>
                  </a:tcPr>
                </a:tc>
                <a:tc hMerge="1">
                  <a:txBody>
                    <a:bodyPr/>
                    <a:lstStyle/>
                    <a:p>
                      <a:pPr algn="r" rtl="1"/>
                      <a:endParaRPr lang="en-US" sz="1100">
                        <a:latin typeface="Shabnam FD" panose="020B0603030804020204" pitchFamily="34" charset="-78"/>
                        <a:cs typeface="Shabnam FD" panose="020B0603030804020204" pitchFamily="34" charset="-78"/>
                      </a:endParaRPr>
                    </a:p>
                  </a:txBody>
                  <a:tcPr>
                    <a:solidFill>
                      <a:schemeClr val="bg1">
                        <a:lumMod val="95000"/>
                      </a:schemeClr>
                    </a:solidFill>
                  </a:tcPr>
                </a:tc>
                <a:tc hMerge="1">
                  <a:txBody>
                    <a:bodyPr/>
                    <a:lstStyle/>
                    <a:p>
                      <a:pPr algn="r" rtl="1"/>
                      <a:endParaRPr lang="en-US" sz="1100">
                        <a:latin typeface="Shabnam FD" panose="020B0603030804020204" pitchFamily="34" charset="-78"/>
                        <a:cs typeface="Shabnam FD" panose="020B0603030804020204" pitchFamily="34" charset="-78"/>
                      </a:endParaRPr>
                    </a:p>
                  </a:txBody>
                  <a:tcPr>
                    <a:solidFill>
                      <a:schemeClr val="bg1">
                        <a:lumMod val="95000"/>
                      </a:schemeClr>
                    </a:solidFill>
                  </a:tcPr>
                </a:tc>
                <a:tc hMerge="1">
                  <a:txBody>
                    <a:bodyPr/>
                    <a:lstStyle/>
                    <a:p>
                      <a:pPr algn="r" rtl="1"/>
                      <a:endParaRPr lang="en-US" sz="1100">
                        <a:latin typeface="Shabnam FD" panose="020B0603030804020204" pitchFamily="34" charset="-78"/>
                        <a:cs typeface="Shabnam FD" panose="020B0603030804020204" pitchFamily="34" charset="-78"/>
                      </a:endParaRPr>
                    </a:p>
                  </a:txBody>
                  <a:tcPr>
                    <a:solidFill>
                      <a:schemeClr val="bg1">
                        <a:lumMod val="95000"/>
                      </a:schemeClr>
                    </a:solidFill>
                  </a:tcPr>
                </a:tc>
                <a:tc hMerge="1">
                  <a:txBody>
                    <a:bodyPr/>
                    <a:lstStyle/>
                    <a:p>
                      <a:pPr algn="r" rtl="1"/>
                      <a:endParaRPr lang="en-US" sz="1100">
                        <a:latin typeface="Shabnam FD" panose="020B0603030804020204" pitchFamily="34" charset="-78"/>
                        <a:cs typeface="Shabnam FD" panose="020B0603030804020204" pitchFamily="34" charset="-78"/>
                      </a:endParaRPr>
                    </a:p>
                  </a:txBody>
                  <a:tcPr>
                    <a:solidFill>
                      <a:schemeClr val="bg1">
                        <a:lumMod val="95000"/>
                      </a:schemeClr>
                    </a:solidFill>
                  </a:tcPr>
                </a:tc>
                <a:tc hMerge="1">
                  <a:txBody>
                    <a:bodyPr/>
                    <a:lstStyle/>
                    <a:p>
                      <a:pPr algn="r" rtl="1"/>
                      <a:endParaRPr lang="en-US" sz="1100">
                        <a:latin typeface="Shabnam FD" panose="020B0603030804020204" pitchFamily="34" charset="-78"/>
                        <a:cs typeface="Shabnam FD" panose="020B0603030804020204" pitchFamily="34" charset="-78"/>
                      </a:endParaRPr>
                    </a:p>
                  </a:txBody>
                  <a:tcPr>
                    <a:solidFill>
                      <a:schemeClr val="bg1">
                        <a:lumMod val="95000"/>
                      </a:schemeClr>
                    </a:solidFill>
                  </a:tcPr>
                </a:tc>
                <a:tc hMerge="1">
                  <a:txBody>
                    <a:bodyPr/>
                    <a:lstStyle/>
                    <a:p>
                      <a:pPr algn="r" rtl="1"/>
                      <a:endParaRPr lang="en-US" sz="1100" b="1">
                        <a:latin typeface="Shabnam FD" panose="020B0603030804020204" pitchFamily="34" charset="-78"/>
                        <a:cs typeface="Shabnam FD" panose="020B0603030804020204" pitchFamily="34" charset="-78"/>
                      </a:endParaRPr>
                    </a:p>
                  </a:txBody>
                  <a:tcPr>
                    <a:solidFill>
                      <a:schemeClr val="bg1">
                        <a:lumMod val="95000"/>
                      </a:schemeClr>
                    </a:solidFill>
                  </a:tcPr>
                </a:tc>
                <a:extLst>
                  <a:ext uri="{0D108BD9-81ED-4DB2-BD59-A6C34878D82A}">
                    <a16:rowId xmlns:a16="http://schemas.microsoft.com/office/drawing/2014/main" val="2117860970"/>
                  </a:ext>
                </a:extLst>
              </a:tr>
              <a:tr h="310262">
                <a:tc>
                  <a:txBody>
                    <a:bodyPr/>
                    <a:lstStyle/>
                    <a:p>
                      <a:pPr algn="ctr" rtl="1"/>
                      <a:endParaRPr lang="en-US" sz="900" dirty="0">
                        <a:latin typeface="Yekan Bakh" pitchFamily="2" charset="-78"/>
                        <a:ea typeface="Yekan Bakh" pitchFamily="2" charset="-78"/>
                        <a:cs typeface="Yekan Bakh" pitchFamily="2" charset="-7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1"/>
                      <a:r>
                        <a:rPr lang="fa-IR" sz="900" b="0" dirty="0">
                          <a:solidFill>
                            <a:schemeClr val="bg1">
                              <a:lumMod val="75000"/>
                            </a:schemeClr>
                          </a:solidFill>
                          <a:latin typeface="Yekan Bakh" pitchFamily="2" charset="-78"/>
                          <a:ea typeface="Yekan Bakh" pitchFamily="2" charset="-78"/>
                          <a:cs typeface="Yekan Bakh" pitchFamily="2" charset="-78"/>
                        </a:rPr>
                        <a:t>مرحله ۷</a:t>
                      </a:r>
                      <a:endParaRPr lang="en-US" sz="900" b="0" dirty="0">
                        <a:solidFill>
                          <a:schemeClr val="bg1">
                            <a:lumMod val="75000"/>
                          </a:schemeClr>
                        </a:solidFill>
                        <a:latin typeface="Yekan Bakh" pitchFamily="2" charset="-78"/>
                        <a:ea typeface="Yekan Bakh" pitchFamily="2" charset="-78"/>
                        <a:cs typeface="Yekan Bakh" pitchFamily="2" charset="-7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alpha val="85000"/>
                      </a:schemeClr>
                    </a:solidFill>
                  </a:tcPr>
                </a:tc>
                <a:tc>
                  <a:txBody>
                    <a:bodyPr/>
                    <a:lstStyle/>
                    <a:p>
                      <a:pPr algn="ctr" rtl="1"/>
                      <a:r>
                        <a:rPr lang="fa-IR" sz="900" b="0" dirty="0">
                          <a:solidFill>
                            <a:schemeClr val="bg1">
                              <a:lumMod val="75000"/>
                            </a:schemeClr>
                          </a:solidFill>
                          <a:latin typeface="Yekan Bakh" pitchFamily="2" charset="-78"/>
                          <a:ea typeface="Yekan Bakh" pitchFamily="2" charset="-78"/>
                          <a:cs typeface="Yekan Bakh" pitchFamily="2" charset="-78"/>
                        </a:rPr>
                        <a:t>مرحله ۶</a:t>
                      </a:r>
                      <a:endParaRPr lang="en-US" sz="900" b="0" dirty="0">
                        <a:solidFill>
                          <a:schemeClr val="bg1">
                            <a:lumMod val="75000"/>
                          </a:schemeClr>
                        </a:solidFill>
                        <a:latin typeface="Yekan Bakh" pitchFamily="2" charset="-78"/>
                        <a:ea typeface="Yekan Bakh" pitchFamily="2" charset="-78"/>
                        <a:cs typeface="Yekan Bakh" pitchFamily="2" charset="-7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alpha val="85000"/>
                      </a:schemeClr>
                    </a:solidFill>
                  </a:tcPr>
                </a:tc>
                <a:tc>
                  <a:txBody>
                    <a:bodyPr/>
                    <a:lstStyle/>
                    <a:p>
                      <a:pPr algn="ctr" rtl="1"/>
                      <a:r>
                        <a:rPr lang="fa-IR" sz="900" b="0" dirty="0">
                          <a:solidFill>
                            <a:schemeClr val="bg1">
                              <a:lumMod val="75000"/>
                            </a:schemeClr>
                          </a:solidFill>
                          <a:latin typeface="Yekan Bakh" pitchFamily="2" charset="-78"/>
                          <a:ea typeface="Yekan Bakh" pitchFamily="2" charset="-78"/>
                          <a:cs typeface="Yekan Bakh" pitchFamily="2" charset="-78"/>
                        </a:rPr>
                        <a:t>مرحله ۵</a:t>
                      </a:r>
                      <a:endParaRPr lang="en-US" sz="900" b="0" dirty="0">
                        <a:solidFill>
                          <a:schemeClr val="bg1">
                            <a:lumMod val="75000"/>
                          </a:schemeClr>
                        </a:solidFill>
                        <a:latin typeface="Yekan Bakh" pitchFamily="2" charset="-78"/>
                        <a:ea typeface="Yekan Bakh" pitchFamily="2" charset="-78"/>
                        <a:cs typeface="Yekan Bakh" pitchFamily="2" charset="-7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alpha val="85000"/>
                      </a:schemeClr>
                    </a:solidFill>
                  </a:tcPr>
                </a:tc>
                <a:tc>
                  <a:txBody>
                    <a:bodyPr/>
                    <a:lstStyle/>
                    <a:p>
                      <a:pPr algn="ctr" rtl="1"/>
                      <a:r>
                        <a:rPr lang="fa-IR" sz="900" b="0" dirty="0">
                          <a:solidFill>
                            <a:schemeClr val="bg1">
                              <a:lumMod val="75000"/>
                            </a:schemeClr>
                          </a:solidFill>
                          <a:latin typeface="Yekan Bakh" pitchFamily="2" charset="-78"/>
                          <a:ea typeface="Yekan Bakh" pitchFamily="2" charset="-78"/>
                          <a:cs typeface="Yekan Bakh" pitchFamily="2" charset="-78"/>
                        </a:rPr>
                        <a:t>مرحله ۴</a:t>
                      </a:r>
                      <a:endParaRPr lang="en-US" sz="900" b="0" dirty="0">
                        <a:solidFill>
                          <a:schemeClr val="bg1">
                            <a:lumMod val="75000"/>
                          </a:schemeClr>
                        </a:solidFill>
                        <a:latin typeface="Yekan Bakh" pitchFamily="2" charset="-78"/>
                        <a:ea typeface="Yekan Bakh" pitchFamily="2" charset="-78"/>
                        <a:cs typeface="Yekan Bakh" pitchFamily="2" charset="-7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alpha val="85000"/>
                      </a:schemeClr>
                    </a:solidFill>
                  </a:tcPr>
                </a:tc>
                <a:tc>
                  <a:txBody>
                    <a:bodyPr/>
                    <a:lstStyle/>
                    <a:p>
                      <a:pPr algn="ctr" rtl="1"/>
                      <a:r>
                        <a:rPr lang="fa-IR" sz="900" b="0" dirty="0">
                          <a:solidFill>
                            <a:schemeClr val="bg1">
                              <a:lumMod val="75000"/>
                            </a:schemeClr>
                          </a:solidFill>
                          <a:latin typeface="Yekan Bakh" pitchFamily="2" charset="-78"/>
                          <a:ea typeface="Yekan Bakh" pitchFamily="2" charset="-78"/>
                          <a:cs typeface="Yekan Bakh" pitchFamily="2" charset="-78"/>
                        </a:rPr>
                        <a:t>مرحله ۳</a:t>
                      </a:r>
                      <a:endParaRPr lang="en-US" sz="900" b="0" dirty="0">
                        <a:solidFill>
                          <a:schemeClr val="bg1">
                            <a:lumMod val="75000"/>
                          </a:schemeClr>
                        </a:solidFill>
                        <a:latin typeface="Yekan Bakh" pitchFamily="2" charset="-78"/>
                        <a:ea typeface="Yekan Bakh" pitchFamily="2" charset="-78"/>
                        <a:cs typeface="Yekan Bakh" pitchFamily="2" charset="-7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alpha val="85000"/>
                      </a:schemeClr>
                    </a:solidFill>
                  </a:tcPr>
                </a:tc>
                <a:tc>
                  <a:txBody>
                    <a:bodyPr/>
                    <a:lstStyle/>
                    <a:p>
                      <a:pPr algn="ctr" rtl="1"/>
                      <a:r>
                        <a:rPr lang="fa-IR" sz="900" b="1" dirty="0">
                          <a:solidFill>
                            <a:schemeClr val="bg1"/>
                          </a:solidFill>
                          <a:latin typeface="Yekan Bakh" pitchFamily="2" charset="-78"/>
                          <a:ea typeface="Yekan Bakh" pitchFamily="2" charset="-78"/>
                          <a:cs typeface="Yekan Bakh" pitchFamily="2" charset="-78"/>
                        </a:rPr>
                        <a:t>مرحله ۲</a:t>
                      </a:r>
                      <a:endParaRPr lang="en-US" sz="900" b="1" dirty="0">
                        <a:solidFill>
                          <a:schemeClr val="bg1"/>
                        </a:solidFill>
                        <a:latin typeface="Yekan Bakh" pitchFamily="2" charset="-78"/>
                        <a:ea typeface="Yekan Bakh" pitchFamily="2" charset="-78"/>
                        <a:cs typeface="Yekan Bakh" pitchFamily="2" charset="-7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0BE0F">
                        <a:alpha val="85000"/>
                      </a:srgbClr>
                    </a:solidFill>
                  </a:tcPr>
                </a:tc>
                <a:tc>
                  <a:txBody>
                    <a:bodyPr/>
                    <a:lstStyle/>
                    <a:p>
                      <a:pPr algn="ctr" rtl="1"/>
                      <a:r>
                        <a:rPr lang="fa-IR" sz="900" b="1" dirty="0">
                          <a:solidFill>
                            <a:schemeClr val="bg1"/>
                          </a:solidFill>
                          <a:latin typeface="Yekan Bakh" pitchFamily="2" charset="-78"/>
                          <a:ea typeface="Yekan Bakh" pitchFamily="2" charset="-78"/>
                          <a:cs typeface="Yekan Bakh" pitchFamily="2" charset="-78"/>
                        </a:rPr>
                        <a:t>مرحله ۱</a:t>
                      </a:r>
                      <a:endParaRPr lang="en-US" sz="900" b="1" dirty="0">
                        <a:solidFill>
                          <a:schemeClr val="bg1"/>
                        </a:solidFill>
                        <a:latin typeface="Yekan Bakh" pitchFamily="2" charset="-78"/>
                        <a:ea typeface="Yekan Bakh" pitchFamily="2" charset="-78"/>
                        <a:cs typeface="Yekan Bakh" pitchFamily="2" charset="-7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0BE0F">
                        <a:alpha val="85000"/>
                      </a:srgbClr>
                    </a:solidFill>
                  </a:tcPr>
                </a:tc>
                <a:tc>
                  <a:txBody>
                    <a:bodyPr/>
                    <a:lstStyle/>
                    <a:p>
                      <a:pPr algn="r" rtl="1"/>
                      <a:r>
                        <a:rPr lang="fa-IR" sz="1100" b="1" kern="1200" dirty="0">
                          <a:solidFill>
                            <a:srgbClr val="004D80"/>
                          </a:solidFill>
                          <a:latin typeface="Yekan Bakh" pitchFamily="2" charset="-78"/>
                          <a:ea typeface="Yekan Bakh" pitchFamily="2" charset="-78"/>
                          <a:cs typeface="Yekan Bakh" pitchFamily="2" charset="-78"/>
                        </a:rPr>
                        <a:t>قضاوت</a:t>
                      </a:r>
                      <a:endParaRPr lang="en-US" sz="1100" b="1" kern="1200" dirty="0">
                        <a:solidFill>
                          <a:srgbClr val="004D80"/>
                        </a:solidFill>
                        <a:latin typeface="Yekan Bakh" pitchFamily="2" charset="-78"/>
                        <a:ea typeface="Yekan Bakh" pitchFamily="2" charset="-78"/>
                        <a:cs typeface="Yekan Bakh" pitchFamily="2" charset="-7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70121166"/>
                  </a:ext>
                </a:extLst>
              </a:tr>
              <a:tr h="310262">
                <a:tc gridSpan="9">
                  <a:txBody>
                    <a:bodyPr/>
                    <a:lstStyle/>
                    <a:p>
                      <a:pPr algn="r" rtl="1"/>
                      <a:r>
                        <a:rPr lang="fa-IR" sz="900" dirty="0">
                          <a:solidFill>
                            <a:schemeClr val="tx1">
                              <a:lumMod val="75000"/>
                              <a:lumOff val="25000"/>
                            </a:schemeClr>
                          </a:solidFill>
                          <a:latin typeface="Yekan Bakh" pitchFamily="2" charset="-78"/>
                          <a:ea typeface="Yekan Bakh" pitchFamily="2" charset="-78"/>
                          <a:cs typeface="Yekan Bakh" pitchFamily="2" charset="-78"/>
                        </a:rPr>
                        <a:t>قضاوت در بخش مطالعاتی زنجیره پرارزش است اما حجم کم و درآمد پروژه‌ای دارد. </a:t>
                      </a:r>
                      <a:endParaRPr lang="en-US" sz="900" dirty="0">
                        <a:solidFill>
                          <a:schemeClr val="tx1">
                            <a:lumMod val="75000"/>
                            <a:lumOff val="25000"/>
                          </a:schemeClr>
                        </a:solidFill>
                        <a:latin typeface="Yekan Bakh" pitchFamily="2" charset="-78"/>
                        <a:ea typeface="Yekan Bakh" pitchFamily="2" charset="-78"/>
                        <a:cs typeface="Yekan Bakh" pitchFamily="2" charset="-7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pPr algn="r" rtl="1"/>
                      <a:endParaRPr lang="en-US" sz="1100">
                        <a:latin typeface="Shabnam FD" panose="020B0603030804020204" pitchFamily="34" charset="-78"/>
                        <a:cs typeface="Shabnam FD" panose="020B0603030804020204" pitchFamily="34" charset="-78"/>
                      </a:endParaRPr>
                    </a:p>
                  </a:txBody>
                  <a:tcPr>
                    <a:lnT w="12700" cap="flat" cmpd="sng" algn="ctr">
                      <a:solidFill>
                        <a:schemeClr val="tx1"/>
                      </a:solidFill>
                      <a:prstDash val="solid"/>
                      <a:round/>
                      <a:headEnd type="none" w="med" len="med"/>
                      <a:tailEnd type="none" w="med" len="med"/>
                    </a:lnT>
                    <a:solidFill>
                      <a:schemeClr val="bg1">
                        <a:lumMod val="95000"/>
                      </a:schemeClr>
                    </a:solidFill>
                  </a:tcPr>
                </a:tc>
                <a:tc hMerge="1">
                  <a:txBody>
                    <a:bodyPr/>
                    <a:lstStyle/>
                    <a:p>
                      <a:pPr algn="r" rtl="1"/>
                      <a:endParaRPr lang="en-US" sz="1100">
                        <a:latin typeface="Shabnam FD" panose="020B0603030804020204" pitchFamily="34" charset="-78"/>
                        <a:cs typeface="Shabnam FD" panose="020B0603030804020204" pitchFamily="34" charset="-78"/>
                      </a:endParaRPr>
                    </a:p>
                  </a:txBody>
                  <a:tcPr>
                    <a:solidFill>
                      <a:schemeClr val="bg1">
                        <a:lumMod val="95000"/>
                      </a:schemeClr>
                    </a:solidFill>
                  </a:tcPr>
                </a:tc>
                <a:tc hMerge="1">
                  <a:txBody>
                    <a:bodyPr/>
                    <a:lstStyle/>
                    <a:p>
                      <a:pPr algn="r" rtl="1"/>
                      <a:endParaRPr lang="en-US" sz="1100">
                        <a:latin typeface="Shabnam FD" panose="020B0603030804020204" pitchFamily="34" charset="-78"/>
                        <a:cs typeface="Shabnam FD" panose="020B0603030804020204" pitchFamily="34" charset="-78"/>
                      </a:endParaRPr>
                    </a:p>
                  </a:txBody>
                  <a:tcPr>
                    <a:solidFill>
                      <a:schemeClr val="bg1">
                        <a:lumMod val="95000"/>
                      </a:schemeClr>
                    </a:solidFill>
                  </a:tcPr>
                </a:tc>
                <a:tc hMerge="1">
                  <a:txBody>
                    <a:bodyPr/>
                    <a:lstStyle/>
                    <a:p>
                      <a:pPr algn="r" rtl="1"/>
                      <a:endParaRPr lang="en-US" sz="1100">
                        <a:latin typeface="Shabnam FD" panose="020B0603030804020204" pitchFamily="34" charset="-78"/>
                        <a:cs typeface="Shabnam FD" panose="020B0603030804020204" pitchFamily="34" charset="-78"/>
                      </a:endParaRPr>
                    </a:p>
                  </a:txBody>
                  <a:tcPr>
                    <a:solidFill>
                      <a:schemeClr val="bg1">
                        <a:lumMod val="95000"/>
                      </a:schemeClr>
                    </a:solidFill>
                  </a:tcPr>
                </a:tc>
                <a:tc hMerge="1">
                  <a:txBody>
                    <a:bodyPr/>
                    <a:lstStyle/>
                    <a:p>
                      <a:pPr algn="r" rtl="1"/>
                      <a:endParaRPr lang="en-US" sz="1100">
                        <a:latin typeface="Shabnam FD" panose="020B0603030804020204" pitchFamily="34" charset="-78"/>
                        <a:cs typeface="Shabnam FD" panose="020B0603030804020204" pitchFamily="34" charset="-78"/>
                      </a:endParaRPr>
                    </a:p>
                  </a:txBody>
                  <a:tcPr>
                    <a:solidFill>
                      <a:schemeClr val="bg1">
                        <a:lumMod val="95000"/>
                      </a:schemeClr>
                    </a:solidFill>
                  </a:tcPr>
                </a:tc>
                <a:tc hMerge="1">
                  <a:txBody>
                    <a:bodyPr/>
                    <a:lstStyle/>
                    <a:p>
                      <a:pPr algn="r" rtl="1"/>
                      <a:endParaRPr lang="en-US" sz="1100">
                        <a:latin typeface="Shabnam FD" panose="020B0603030804020204" pitchFamily="34" charset="-78"/>
                        <a:cs typeface="Shabnam FD" panose="020B0603030804020204" pitchFamily="34" charset="-78"/>
                      </a:endParaRPr>
                    </a:p>
                  </a:txBody>
                  <a:tcPr>
                    <a:solidFill>
                      <a:schemeClr val="bg1">
                        <a:lumMod val="95000"/>
                      </a:schemeClr>
                    </a:solidFill>
                  </a:tcPr>
                </a:tc>
                <a:tc hMerge="1">
                  <a:txBody>
                    <a:bodyPr/>
                    <a:lstStyle/>
                    <a:p>
                      <a:pPr algn="r" rtl="1"/>
                      <a:endParaRPr lang="en-US" sz="1100" b="1">
                        <a:latin typeface="Shabnam FD" panose="020B0603030804020204" pitchFamily="34" charset="-78"/>
                        <a:cs typeface="Shabnam FD" panose="020B0603030804020204" pitchFamily="34" charset="-78"/>
                      </a:endParaRPr>
                    </a:p>
                  </a:txBody>
                  <a:tcPr>
                    <a:solidFill>
                      <a:schemeClr val="bg1">
                        <a:lumMod val="95000"/>
                      </a:schemeClr>
                    </a:solidFill>
                  </a:tcPr>
                </a:tc>
                <a:extLst>
                  <a:ext uri="{0D108BD9-81ED-4DB2-BD59-A6C34878D82A}">
                    <a16:rowId xmlns:a16="http://schemas.microsoft.com/office/drawing/2014/main" val="117238512"/>
                  </a:ext>
                </a:extLst>
              </a:tr>
              <a:tr h="310262">
                <a:tc>
                  <a:txBody>
                    <a:bodyPr/>
                    <a:lstStyle/>
                    <a:p>
                      <a:pPr algn="ctr" rtl="1"/>
                      <a:endParaRPr lang="en-US" sz="900" dirty="0">
                        <a:latin typeface="Yekan Bakh" pitchFamily="2" charset="-78"/>
                        <a:ea typeface="Yekan Bakh" pitchFamily="2" charset="-78"/>
                        <a:cs typeface="Yekan Bakh" pitchFamily="2" charset="-7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a:r>
                        <a:rPr lang="fa-IR" sz="900" b="1" dirty="0">
                          <a:solidFill>
                            <a:schemeClr val="bg1"/>
                          </a:solidFill>
                          <a:latin typeface="Yekan Bakh" pitchFamily="2" charset="-78"/>
                          <a:ea typeface="Yekan Bakh" pitchFamily="2" charset="-78"/>
                          <a:cs typeface="Yekan Bakh" pitchFamily="2" charset="-78"/>
                        </a:rPr>
                        <a:t>مرحله ۷</a:t>
                      </a:r>
                      <a:endParaRPr lang="en-US" sz="900" b="1" dirty="0">
                        <a:solidFill>
                          <a:schemeClr val="bg1"/>
                        </a:solidFill>
                        <a:latin typeface="Yekan Bakh" pitchFamily="2" charset="-78"/>
                        <a:ea typeface="Yekan Bakh" pitchFamily="2" charset="-78"/>
                        <a:cs typeface="Yekan Bakh" pitchFamily="2" charset="-7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alpha val="85000"/>
                      </a:schemeClr>
                    </a:solidFill>
                  </a:tcPr>
                </a:tc>
                <a:tc>
                  <a:txBody>
                    <a:bodyPr/>
                    <a:lstStyle/>
                    <a:p>
                      <a:pPr algn="ctr" rtl="1"/>
                      <a:r>
                        <a:rPr lang="fa-IR" sz="900" b="0" dirty="0">
                          <a:solidFill>
                            <a:schemeClr val="bg1">
                              <a:lumMod val="75000"/>
                            </a:schemeClr>
                          </a:solidFill>
                          <a:latin typeface="Yekan Bakh" pitchFamily="2" charset="-78"/>
                          <a:ea typeface="Yekan Bakh" pitchFamily="2" charset="-78"/>
                          <a:cs typeface="Yekan Bakh" pitchFamily="2" charset="-78"/>
                        </a:rPr>
                        <a:t>مرحله ۶</a:t>
                      </a:r>
                      <a:endParaRPr lang="en-US" sz="900" b="0" dirty="0">
                        <a:solidFill>
                          <a:schemeClr val="bg1">
                            <a:lumMod val="75000"/>
                          </a:schemeClr>
                        </a:solidFill>
                        <a:latin typeface="Yekan Bakh" pitchFamily="2" charset="-78"/>
                        <a:ea typeface="Yekan Bakh" pitchFamily="2" charset="-78"/>
                        <a:cs typeface="Yekan Bakh" pitchFamily="2" charset="-7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alpha val="85000"/>
                      </a:schemeClr>
                    </a:solidFill>
                  </a:tcPr>
                </a:tc>
                <a:tc>
                  <a:txBody>
                    <a:bodyPr/>
                    <a:lstStyle/>
                    <a:p>
                      <a:pPr algn="ctr" rtl="1"/>
                      <a:r>
                        <a:rPr lang="fa-IR" sz="900" b="1" dirty="0">
                          <a:solidFill>
                            <a:schemeClr val="bg1"/>
                          </a:solidFill>
                          <a:latin typeface="Yekan Bakh" pitchFamily="2" charset="-78"/>
                          <a:ea typeface="Yekan Bakh" pitchFamily="2" charset="-78"/>
                          <a:cs typeface="Yekan Bakh" pitchFamily="2" charset="-78"/>
                        </a:rPr>
                        <a:t>مرحله ۵</a:t>
                      </a:r>
                      <a:endParaRPr lang="en-US" sz="900" b="1" dirty="0">
                        <a:solidFill>
                          <a:schemeClr val="bg1"/>
                        </a:solidFill>
                        <a:latin typeface="Yekan Bakh" pitchFamily="2" charset="-78"/>
                        <a:ea typeface="Yekan Bakh" pitchFamily="2" charset="-78"/>
                        <a:cs typeface="Yekan Bakh" pitchFamily="2" charset="-7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alpha val="85000"/>
                      </a:schemeClr>
                    </a:solidFill>
                  </a:tcPr>
                </a:tc>
                <a:tc>
                  <a:txBody>
                    <a:bodyPr/>
                    <a:lstStyle/>
                    <a:p>
                      <a:pPr algn="ctr" rtl="1"/>
                      <a:r>
                        <a:rPr lang="fa-IR" sz="900" b="0" dirty="0">
                          <a:solidFill>
                            <a:schemeClr val="bg1">
                              <a:lumMod val="75000"/>
                            </a:schemeClr>
                          </a:solidFill>
                          <a:latin typeface="Yekan Bakh" pitchFamily="2" charset="-78"/>
                          <a:ea typeface="Yekan Bakh" pitchFamily="2" charset="-78"/>
                          <a:cs typeface="Yekan Bakh" pitchFamily="2" charset="-78"/>
                        </a:rPr>
                        <a:t>مرحله ۴</a:t>
                      </a:r>
                      <a:endParaRPr lang="en-US" sz="900" b="0" dirty="0">
                        <a:solidFill>
                          <a:schemeClr val="bg1">
                            <a:lumMod val="75000"/>
                          </a:schemeClr>
                        </a:solidFill>
                        <a:latin typeface="Yekan Bakh" pitchFamily="2" charset="-78"/>
                        <a:ea typeface="Yekan Bakh" pitchFamily="2" charset="-78"/>
                        <a:cs typeface="Yekan Bakh" pitchFamily="2" charset="-7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alpha val="85000"/>
                      </a:schemeClr>
                    </a:solidFill>
                  </a:tcPr>
                </a:tc>
                <a:tc>
                  <a:txBody>
                    <a:bodyPr/>
                    <a:lstStyle/>
                    <a:p>
                      <a:pPr algn="ctr" rtl="1"/>
                      <a:r>
                        <a:rPr lang="fa-IR" sz="900" b="0" dirty="0">
                          <a:solidFill>
                            <a:schemeClr val="bg1">
                              <a:lumMod val="75000"/>
                            </a:schemeClr>
                          </a:solidFill>
                          <a:latin typeface="Yekan Bakh" pitchFamily="2" charset="-78"/>
                          <a:ea typeface="Yekan Bakh" pitchFamily="2" charset="-78"/>
                          <a:cs typeface="Yekan Bakh" pitchFamily="2" charset="-78"/>
                        </a:rPr>
                        <a:t>مرحله ۳</a:t>
                      </a:r>
                      <a:endParaRPr lang="en-US" sz="900" b="0" dirty="0">
                        <a:solidFill>
                          <a:schemeClr val="bg1">
                            <a:lumMod val="75000"/>
                          </a:schemeClr>
                        </a:solidFill>
                        <a:latin typeface="Yekan Bakh" pitchFamily="2" charset="-78"/>
                        <a:ea typeface="Yekan Bakh" pitchFamily="2" charset="-78"/>
                        <a:cs typeface="Yekan Bakh" pitchFamily="2" charset="-7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alpha val="85000"/>
                      </a:schemeClr>
                    </a:solidFill>
                  </a:tcPr>
                </a:tc>
                <a:tc>
                  <a:txBody>
                    <a:bodyPr/>
                    <a:lstStyle/>
                    <a:p>
                      <a:pPr algn="ctr" rtl="1"/>
                      <a:r>
                        <a:rPr lang="fa-IR" sz="900" b="1" dirty="0">
                          <a:solidFill>
                            <a:schemeClr val="bg1"/>
                          </a:solidFill>
                          <a:latin typeface="Yekan Bakh" pitchFamily="2" charset="-78"/>
                          <a:ea typeface="Yekan Bakh" pitchFamily="2" charset="-78"/>
                          <a:cs typeface="Yekan Bakh" pitchFamily="2" charset="-78"/>
                        </a:rPr>
                        <a:t>مرحله ۲</a:t>
                      </a:r>
                      <a:endParaRPr lang="en-US" sz="900" b="1" dirty="0">
                        <a:solidFill>
                          <a:schemeClr val="bg1"/>
                        </a:solidFill>
                        <a:latin typeface="Yekan Bakh" pitchFamily="2" charset="-78"/>
                        <a:ea typeface="Yekan Bakh" pitchFamily="2" charset="-78"/>
                        <a:cs typeface="Yekan Bakh" pitchFamily="2" charset="-7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alpha val="85000"/>
                      </a:schemeClr>
                    </a:solidFill>
                  </a:tcPr>
                </a:tc>
                <a:tc>
                  <a:txBody>
                    <a:bodyPr/>
                    <a:lstStyle/>
                    <a:p>
                      <a:pPr algn="ctr" rtl="1"/>
                      <a:r>
                        <a:rPr lang="fa-IR" sz="900" b="0" dirty="0">
                          <a:solidFill>
                            <a:schemeClr val="bg1">
                              <a:lumMod val="75000"/>
                            </a:schemeClr>
                          </a:solidFill>
                          <a:latin typeface="Yekan Bakh" pitchFamily="2" charset="-78"/>
                          <a:ea typeface="Yekan Bakh" pitchFamily="2" charset="-78"/>
                          <a:cs typeface="Yekan Bakh" pitchFamily="2" charset="-78"/>
                        </a:rPr>
                        <a:t>مرحله ۱</a:t>
                      </a:r>
                      <a:endParaRPr lang="en-US" sz="900" b="0" dirty="0">
                        <a:solidFill>
                          <a:schemeClr val="bg1">
                            <a:lumMod val="75000"/>
                          </a:schemeClr>
                        </a:solidFill>
                        <a:latin typeface="Yekan Bakh" pitchFamily="2" charset="-78"/>
                        <a:ea typeface="Yekan Bakh" pitchFamily="2" charset="-78"/>
                        <a:cs typeface="Yekan Bakh" pitchFamily="2" charset="-7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alpha val="85000"/>
                      </a:schemeClr>
                    </a:solidFill>
                  </a:tcPr>
                </a:tc>
                <a:tc>
                  <a:txBody>
                    <a:bodyPr/>
                    <a:lstStyle/>
                    <a:p>
                      <a:pPr algn="r" rtl="1"/>
                      <a:r>
                        <a:rPr lang="fa-IR" sz="1100" b="1" dirty="0">
                          <a:solidFill>
                            <a:srgbClr val="004D80"/>
                          </a:solidFill>
                          <a:latin typeface="Yekan Bakh" pitchFamily="2" charset="-78"/>
                          <a:ea typeface="Yekan Bakh" pitchFamily="2" charset="-78"/>
                          <a:cs typeface="Yekan Bakh" pitchFamily="2" charset="-78"/>
                        </a:rPr>
                        <a:t>سیگنال</a:t>
                      </a:r>
                      <a:endParaRPr lang="en-US" sz="900" b="1" dirty="0">
                        <a:solidFill>
                          <a:srgbClr val="004D80"/>
                        </a:solidFill>
                        <a:latin typeface="Yekan Bakh" pitchFamily="2" charset="-78"/>
                        <a:ea typeface="Yekan Bakh" pitchFamily="2" charset="-78"/>
                        <a:cs typeface="Yekan Bakh" pitchFamily="2" charset="-7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2908410"/>
                  </a:ext>
                </a:extLst>
              </a:tr>
              <a:tr h="310262">
                <a:tc gridSpan="9">
                  <a:txBody>
                    <a:bodyPr/>
                    <a:lstStyle/>
                    <a:p>
                      <a:pPr algn="r" rtl="1"/>
                      <a:r>
                        <a:rPr lang="fa-IR" sz="900" dirty="0">
                          <a:solidFill>
                            <a:schemeClr val="tx1">
                              <a:lumMod val="75000"/>
                              <a:lumOff val="25000"/>
                            </a:schemeClr>
                          </a:solidFill>
                          <a:latin typeface="Yekan Bakh" pitchFamily="2" charset="-78"/>
                          <a:ea typeface="Yekan Bakh" pitchFamily="2" charset="-78"/>
                          <a:cs typeface="Yekan Bakh" pitchFamily="2" charset="-78"/>
                        </a:rPr>
                        <a:t>اعتبار شما جایی ارزش دارد که طرف مقابل باید به یک ناشناس اعتماد کند: توزیع‌کننده، خریدار، شریک محلی، یا طرفِ یک خروج پرتنش.</a:t>
                      </a:r>
                      <a:endParaRPr lang="en-US" sz="900" dirty="0">
                        <a:solidFill>
                          <a:schemeClr val="tx1">
                            <a:lumMod val="75000"/>
                            <a:lumOff val="25000"/>
                          </a:schemeClr>
                        </a:solidFill>
                        <a:latin typeface="Yekan Bakh" pitchFamily="2" charset="-78"/>
                        <a:ea typeface="Yekan Bakh" pitchFamily="2" charset="-78"/>
                        <a:cs typeface="Yekan Bakh" pitchFamily="2" charset="-7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noFill/>
                  </a:tcPr>
                </a:tc>
                <a:tc hMerge="1">
                  <a:txBody>
                    <a:bodyPr/>
                    <a:lstStyle/>
                    <a:p>
                      <a:pPr algn="ctr" rtl="1"/>
                      <a:endParaRPr lang="en-US" sz="1100">
                        <a:latin typeface="Shabnam FD" panose="020B0603030804020204" pitchFamily="34" charset="-78"/>
                        <a:cs typeface="Shabnam FD" panose="020B0603030804020204" pitchFamily="34" charset="-78"/>
                      </a:endParaRPr>
                    </a:p>
                  </a:txBody>
                  <a:tcPr anchor="ctr">
                    <a:lnT w="12700" cap="flat" cmpd="sng" algn="ctr">
                      <a:solidFill>
                        <a:schemeClr val="tx1"/>
                      </a:solidFill>
                      <a:prstDash val="solid"/>
                      <a:round/>
                      <a:headEnd type="none" w="med" len="med"/>
                      <a:tailEnd type="none" w="med" len="med"/>
                    </a:lnT>
                    <a:noFill/>
                  </a:tcPr>
                </a:tc>
                <a:tc hMerge="1">
                  <a:txBody>
                    <a:bodyPr/>
                    <a:lstStyle/>
                    <a:p>
                      <a:pPr algn="ctr" rtl="1"/>
                      <a:endParaRPr lang="en-US" sz="1100">
                        <a:latin typeface="Shabnam FD" panose="020B0603030804020204" pitchFamily="34" charset="-78"/>
                        <a:cs typeface="Shabnam FD" panose="020B0603030804020204" pitchFamily="34" charset="-78"/>
                      </a:endParaRPr>
                    </a:p>
                  </a:txBody>
                  <a:tcPr anchor="ctr">
                    <a:noFill/>
                  </a:tcPr>
                </a:tc>
                <a:tc hMerge="1">
                  <a:txBody>
                    <a:bodyPr/>
                    <a:lstStyle/>
                    <a:p>
                      <a:pPr algn="ctr" rtl="1"/>
                      <a:endParaRPr lang="en-US" sz="1100">
                        <a:latin typeface="Shabnam FD" panose="020B0603030804020204" pitchFamily="34" charset="-78"/>
                        <a:cs typeface="Shabnam FD" panose="020B0603030804020204" pitchFamily="34" charset="-78"/>
                      </a:endParaRPr>
                    </a:p>
                  </a:txBody>
                  <a:tcPr anchor="ctr">
                    <a:noFill/>
                  </a:tcPr>
                </a:tc>
                <a:tc hMerge="1">
                  <a:txBody>
                    <a:bodyPr/>
                    <a:lstStyle/>
                    <a:p>
                      <a:pPr algn="ctr" rtl="1"/>
                      <a:endParaRPr lang="en-US" sz="1100">
                        <a:latin typeface="Shabnam FD" panose="020B0603030804020204" pitchFamily="34" charset="-78"/>
                        <a:cs typeface="Shabnam FD" panose="020B0603030804020204" pitchFamily="34" charset="-78"/>
                      </a:endParaRPr>
                    </a:p>
                  </a:txBody>
                  <a:tcPr anchor="ctr">
                    <a:noFill/>
                  </a:tcPr>
                </a:tc>
                <a:tc hMerge="1">
                  <a:txBody>
                    <a:bodyPr/>
                    <a:lstStyle/>
                    <a:p>
                      <a:pPr algn="ctr" rtl="1"/>
                      <a:endParaRPr lang="en-US" sz="1100">
                        <a:latin typeface="Shabnam FD" panose="020B0603030804020204" pitchFamily="34" charset="-78"/>
                        <a:cs typeface="Shabnam FD" panose="020B0603030804020204" pitchFamily="34" charset="-78"/>
                      </a:endParaRPr>
                    </a:p>
                  </a:txBody>
                  <a:tcPr anchor="ctr">
                    <a:noFill/>
                  </a:tcPr>
                </a:tc>
                <a:tc hMerge="1">
                  <a:txBody>
                    <a:bodyPr/>
                    <a:lstStyle/>
                    <a:p>
                      <a:pPr algn="ctr" rtl="1"/>
                      <a:endParaRPr lang="en-US" sz="1100">
                        <a:latin typeface="Shabnam FD" panose="020B0603030804020204" pitchFamily="34" charset="-78"/>
                        <a:cs typeface="Shabnam FD" panose="020B0603030804020204" pitchFamily="34" charset="-78"/>
                      </a:endParaRPr>
                    </a:p>
                  </a:txBody>
                  <a:tcPr anchor="ctr">
                    <a:noFill/>
                  </a:tcPr>
                </a:tc>
                <a:tc hMerge="1">
                  <a:txBody>
                    <a:bodyPr/>
                    <a:lstStyle/>
                    <a:p>
                      <a:pPr algn="ctr" rtl="1"/>
                      <a:endParaRPr lang="en-US" sz="1100" b="1">
                        <a:latin typeface="Shabnam FD" panose="020B0603030804020204" pitchFamily="34" charset="-78"/>
                        <a:cs typeface="Shabnam FD" panose="020B0603030804020204" pitchFamily="34" charset="-78"/>
                      </a:endParaRPr>
                    </a:p>
                  </a:txBody>
                  <a:tcPr anchor="ctr">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738187861"/>
                  </a:ext>
                </a:extLst>
              </a:tr>
              <a:tr h="310262">
                <a:tc>
                  <a:txBody>
                    <a:bodyPr/>
                    <a:lstStyle/>
                    <a:p>
                      <a:pPr algn="ctr" rtl="1"/>
                      <a:endParaRPr lang="en-US" sz="900" dirty="0">
                        <a:latin typeface="Yekan Bakh" pitchFamily="2" charset="-78"/>
                        <a:ea typeface="Yekan Bakh" pitchFamily="2" charset="-78"/>
                        <a:cs typeface="Yekan Bakh" pitchFamily="2" charset="-7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a:r>
                        <a:rPr lang="fa-IR" sz="900" b="1" dirty="0">
                          <a:solidFill>
                            <a:schemeClr val="tx1">
                              <a:lumMod val="65000"/>
                              <a:lumOff val="35000"/>
                            </a:schemeClr>
                          </a:solidFill>
                          <a:latin typeface="Yekan Bakh" pitchFamily="2" charset="-78"/>
                          <a:ea typeface="Yekan Bakh" pitchFamily="2" charset="-78"/>
                          <a:cs typeface="Yekan Bakh" pitchFamily="2" charset="-78"/>
                        </a:rPr>
                        <a:t>مرحله ۷</a:t>
                      </a:r>
                      <a:endParaRPr lang="en-US" sz="900" b="1" dirty="0">
                        <a:solidFill>
                          <a:schemeClr val="tx1">
                            <a:lumMod val="65000"/>
                            <a:lumOff val="35000"/>
                          </a:schemeClr>
                        </a:solidFill>
                        <a:latin typeface="Yekan Bakh" pitchFamily="2" charset="-78"/>
                        <a:ea typeface="Yekan Bakh" pitchFamily="2" charset="-78"/>
                        <a:cs typeface="Yekan Bakh" pitchFamily="2" charset="-7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alpha val="85000"/>
                      </a:schemeClr>
                    </a:solidFill>
                  </a:tcPr>
                </a:tc>
                <a:tc>
                  <a:txBody>
                    <a:bodyPr/>
                    <a:lstStyle/>
                    <a:p>
                      <a:pPr algn="ctr" rtl="1"/>
                      <a:r>
                        <a:rPr lang="fa-IR" sz="900" b="0" dirty="0">
                          <a:solidFill>
                            <a:schemeClr val="bg1">
                              <a:lumMod val="75000"/>
                            </a:schemeClr>
                          </a:solidFill>
                          <a:latin typeface="Yekan Bakh" pitchFamily="2" charset="-78"/>
                          <a:ea typeface="Yekan Bakh" pitchFamily="2" charset="-78"/>
                          <a:cs typeface="Yekan Bakh" pitchFamily="2" charset="-78"/>
                        </a:rPr>
                        <a:t>مرحله ۶</a:t>
                      </a:r>
                      <a:endParaRPr lang="en-US" sz="900" b="0" dirty="0">
                        <a:solidFill>
                          <a:schemeClr val="bg1">
                            <a:lumMod val="75000"/>
                          </a:schemeClr>
                        </a:solidFill>
                        <a:latin typeface="Yekan Bakh" pitchFamily="2" charset="-78"/>
                        <a:ea typeface="Yekan Bakh" pitchFamily="2" charset="-78"/>
                        <a:cs typeface="Yekan Bakh" pitchFamily="2" charset="-7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alpha val="85000"/>
                      </a:schemeClr>
                    </a:solidFill>
                  </a:tcPr>
                </a:tc>
                <a:tc>
                  <a:txBody>
                    <a:bodyPr/>
                    <a:lstStyle/>
                    <a:p>
                      <a:pPr algn="ctr" rtl="1"/>
                      <a:r>
                        <a:rPr lang="fa-IR" sz="900" b="0" dirty="0">
                          <a:solidFill>
                            <a:schemeClr val="bg1">
                              <a:lumMod val="75000"/>
                            </a:schemeClr>
                          </a:solidFill>
                          <a:latin typeface="Yekan Bakh" pitchFamily="2" charset="-78"/>
                          <a:ea typeface="Yekan Bakh" pitchFamily="2" charset="-78"/>
                          <a:cs typeface="Yekan Bakh" pitchFamily="2" charset="-78"/>
                        </a:rPr>
                        <a:t>مرحله ۵</a:t>
                      </a:r>
                      <a:endParaRPr lang="en-US" sz="900" b="0" dirty="0">
                        <a:solidFill>
                          <a:schemeClr val="bg1">
                            <a:lumMod val="75000"/>
                          </a:schemeClr>
                        </a:solidFill>
                        <a:latin typeface="Yekan Bakh" pitchFamily="2" charset="-78"/>
                        <a:ea typeface="Yekan Bakh" pitchFamily="2" charset="-78"/>
                        <a:cs typeface="Yekan Bakh" pitchFamily="2" charset="-7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alpha val="85000"/>
                      </a:schemeClr>
                    </a:solidFill>
                  </a:tcPr>
                </a:tc>
                <a:tc>
                  <a:txBody>
                    <a:bodyPr/>
                    <a:lstStyle/>
                    <a:p>
                      <a:pPr algn="ctr" rtl="1"/>
                      <a:r>
                        <a:rPr lang="fa-IR" sz="900" b="1" dirty="0">
                          <a:solidFill>
                            <a:schemeClr val="tx1">
                              <a:lumMod val="65000"/>
                              <a:lumOff val="35000"/>
                            </a:schemeClr>
                          </a:solidFill>
                          <a:latin typeface="Yekan Bakh" pitchFamily="2" charset="-78"/>
                          <a:ea typeface="Yekan Bakh" pitchFamily="2" charset="-78"/>
                          <a:cs typeface="Yekan Bakh" pitchFamily="2" charset="-78"/>
                        </a:rPr>
                        <a:t>مرحله ۴</a:t>
                      </a:r>
                      <a:endParaRPr lang="en-US" sz="900" b="1" dirty="0">
                        <a:solidFill>
                          <a:schemeClr val="tx1">
                            <a:lumMod val="65000"/>
                            <a:lumOff val="35000"/>
                          </a:schemeClr>
                        </a:solidFill>
                        <a:latin typeface="Yekan Bakh" pitchFamily="2" charset="-78"/>
                        <a:ea typeface="Yekan Bakh" pitchFamily="2" charset="-78"/>
                        <a:cs typeface="Yekan Bakh" pitchFamily="2" charset="-7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alpha val="85000"/>
                      </a:schemeClr>
                    </a:solidFill>
                  </a:tcPr>
                </a:tc>
                <a:tc>
                  <a:txBody>
                    <a:bodyPr/>
                    <a:lstStyle/>
                    <a:p>
                      <a:pPr algn="ctr" rtl="1"/>
                      <a:r>
                        <a:rPr lang="fa-IR" sz="900" b="1" dirty="0">
                          <a:solidFill>
                            <a:schemeClr val="tx1">
                              <a:lumMod val="65000"/>
                              <a:lumOff val="35000"/>
                            </a:schemeClr>
                          </a:solidFill>
                          <a:latin typeface="Yekan Bakh" pitchFamily="2" charset="-78"/>
                          <a:ea typeface="Yekan Bakh" pitchFamily="2" charset="-78"/>
                          <a:cs typeface="Yekan Bakh" pitchFamily="2" charset="-78"/>
                        </a:rPr>
                        <a:t>مرحله ۳</a:t>
                      </a:r>
                      <a:endParaRPr lang="en-US" sz="900" b="1" dirty="0">
                        <a:solidFill>
                          <a:schemeClr val="tx1">
                            <a:lumMod val="65000"/>
                            <a:lumOff val="35000"/>
                          </a:schemeClr>
                        </a:solidFill>
                        <a:latin typeface="Yekan Bakh" pitchFamily="2" charset="-78"/>
                        <a:ea typeface="Yekan Bakh" pitchFamily="2" charset="-78"/>
                        <a:cs typeface="Yekan Bakh" pitchFamily="2" charset="-7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alpha val="85000"/>
                      </a:schemeClr>
                    </a:solidFill>
                  </a:tcPr>
                </a:tc>
                <a:tc>
                  <a:txBody>
                    <a:bodyPr/>
                    <a:lstStyle/>
                    <a:p>
                      <a:pPr algn="ctr" rtl="1"/>
                      <a:r>
                        <a:rPr lang="fa-IR" sz="900" b="0" dirty="0">
                          <a:solidFill>
                            <a:schemeClr val="bg1">
                              <a:lumMod val="75000"/>
                            </a:schemeClr>
                          </a:solidFill>
                          <a:latin typeface="Yekan Bakh" pitchFamily="2" charset="-78"/>
                          <a:ea typeface="Yekan Bakh" pitchFamily="2" charset="-78"/>
                          <a:cs typeface="Yekan Bakh" pitchFamily="2" charset="-78"/>
                        </a:rPr>
                        <a:t>مرحله ۲</a:t>
                      </a:r>
                      <a:endParaRPr lang="en-US" sz="900" b="0" dirty="0">
                        <a:solidFill>
                          <a:schemeClr val="bg1">
                            <a:lumMod val="75000"/>
                          </a:schemeClr>
                        </a:solidFill>
                        <a:latin typeface="Yekan Bakh" pitchFamily="2" charset="-78"/>
                        <a:ea typeface="Yekan Bakh" pitchFamily="2" charset="-78"/>
                        <a:cs typeface="Yekan Bakh" pitchFamily="2" charset="-7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alpha val="85000"/>
                      </a:schemeClr>
                    </a:solidFill>
                  </a:tcPr>
                </a:tc>
                <a:tc>
                  <a:txBody>
                    <a:bodyPr/>
                    <a:lstStyle/>
                    <a:p>
                      <a:pPr algn="ctr" rtl="1"/>
                      <a:r>
                        <a:rPr lang="fa-IR" sz="900" b="0" dirty="0">
                          <a:solidFill>
                            <a:schemeClr val="bg1">
                              <a:lumMod val="75000"/>
                            </a:schemeClr>
                          </a:solidFill>
                          <a:latin typeface="Yekan Bakh" pitchFamily="2" charset="-78"/>
                          <a:ea typeface="Yekan Bakh" pitchFamily="2" charset="-78"/>
                          <a:cs typeface="Yekan Bakh" pitchFamily="2" charset="-78"/>
                        </a:rPr>
                        <a:t>مرحله ۱</a:t>
                      </a:r>
                      <a:endParaRPr lang="en-US" sz="900" b="0" dirty="0">
                        <a:solidFill>
                          <a:schemeClr val="bg1">
                            <a:lumMod val="75000"/>
                          </a:schemeClr>
                        </a:solidFill>
                        <a:latin typeface="Yekan Bakh" pitchFamily="2" charset="-78"/>
                        <a:ea typeface="Yekan Bakh" pitchFamily="2" charset="-78"/>
                        <a:cs typeface="Yekan Bakh" pitchFamily="2" charset="-7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alpha val="85000"/>
                      </a:schemeClr>
                    </a:solidFill>
                  </a:tcPr>
                </a:tc>
                <a:tc>
                  <a:txBody>
                    <a:bodyPr/>
                    <a:lstStyle/>
                    <a:p>
                      <a:pPr algn="r" rtl="1"/>
                      <a:r>
                        <a:rPr lang="fa-IR" sz="1100" b="1" kern="1200" dirty="0">
                          <a:solidFill>
                            <a:srgbClr val="004D80"/>
                          </a:solidFill>
                          <a:latin typeface="Yekan Bakh" pitchFamily="2" charset="-78"/>
                          <a:ea typeface="Yekan Bakh" pitchFamily="2" charset="-78"/>
                          <a:cs typeface="Yekan Bakh" pitchFamily="2" charset="-78"/>
                        </a:rPr>
                        <a:t>تضمین</a:t>
                      </a:r>
                      <a:endParaRPr lang="en-US" sz="1100" b="1" kern="1200" dirty="0">
                        <a:solidFill>
                          <a:srgbClr val="004D80"/>
                        </a:solidFill>
                        <a:latin typeface="Yekan Bakh" pitchFamily="2" charset="-78"/>
                        <a:ea typeface="Yekan Bakh" pitchFamily="2" charset="-78"/>
                        <a:cs typeface="Yekan Bakh" pitchFamily="2" charset="-7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6463668"/>
                  </a:ext>
                </a:extLst>
              </a:tr>
              <a:tr h="310262">
                <a:tc gridSpan="9">
                  <a:txBody>
                    <a:bodyPr/>
                    <a:lstStyle/>
                    <a:p>
                      <a:pPr algn="r" rtl="1"/>
                      <a:r>
                        <a:rPr lang="fa-IR" sz="900" dirty="0">
                          <a:solidFill>
                            <a:schemeClr val="tx1">
                              <a:lumMod val="75000"/>
                              <a:lumOff val="25000"/>
                            </a:schemeClr>
                          </a:solidFill>
                          <a:latin typeface="Yekan Bakh" pitchFamily="2" charset="-78"/>
                          <a:ea typeface="Yekan Bakh" pitchFamily="2" charset="-78"/>
                          <a:cs typeface="Yekan Bakh" pitchFamily="2" charset="-78"/>
                        </a:rPr>
                        <a:t>تنگ‌ترین گلوگاه بازار ایران همین‌جاست. کم‌ترین زمان و سریع‌ترین درآمد در کل زنجیره — اما بالاترین ریسک انطباقی.</a:t>
                      </a:r>
                      <a:endParaRPr lang="en-US" sz="900" dirty="0">
                        <a:solidFill>
                          <a:schemeClr val="tx1">
                            <a:lumMod val="75000"/>
                            <a:lumOff val="25000"/>
                          </a:schemeClr>
                        </a:solidFill>
                        <a:latin typeface="Yekan Bakh" pitchFamily="2" charset="-78"/>
                        <a:ea typeface="Yekan Bakh" pitchFamily="2" charset="-78"/>
                        <a:cs typeface="Yekan Bakh" pitchFamily="2" charset="-7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noFill/>
                  </a:tcPr>
                </a:tc>
                <a:tc hMerge="1">
                  <a:txBody>
                    <a:bodyPr/>
                    <a:lstStyle/>
                    <a:p>
                      <a:pPr algn="r" rtl="1"/>
                      <a:endParaRPr lang="en-US" sz="1100">
                        <a:latin typeface="Shabnam FD" panose="020B0603030804020204" pitchFamily="34" charset="-78"/>
                        <a:cs typeface="Shabnam FD" panose="020B0603030804020204" pitchFamily="34" charset="-78"/>
                      </a:endParaRPr>
                    </a:p>
                  </a:txBody>
                  <a:tcPr>
                    <a:lnT w="12700" cap="flat" cmpd="sng" algn="ctr">
                      <a:solidFill>
                        <a:schemeClr val="tx1"/>
                      </a:solidFill>
                      <a:prstDash val="solid"/>
                      <a:round/>
                      <a:headEnd type="none" w="med" len="med"/>
                      <a:tailEnd type="none" w="med" len="med"/>
                    </a:lnT>
                    <a:noFill/>
                  </a:tcPr>
                </a:tc>
                <a:tc hMerge="1">
                  <a:txBody>
                    <a:bodyPr/>
                    <a:lstStyle/>
                    <a:p>
                      <a:pPr algn="r" rtl="1"/>
                      <a:endParaRPr lang="en-US" sz="1100">
                        <a:latin typeface="Shabnam FD" panose="020B0603030804020204" pitchFamily="34" charset="-78"/>
                        <a:cs typeface="Shabnam FD" panose="020B0603030804020204" pitchFamily="34" charset="-78"/>
                      </a:endParaRPr>
                    </a:p>
                  </a:txBody>
                  <a:tcPr>
                    <a:noFill/>
                  </a:tcPr>
                </a:tc>
                <a:tc hMerge="1">
                  <a:txBody>
                    <a:bodyPr/>
                    <a:lstStyle/>
                    <a:p>
                      <a:pPr algn="r" rtl="1"/>
                      <a:endParaRPr lang="en-US" sz="1100">
                        <a:latin typeface="Shabnam FD" panose="020B0603030804020204" pitchFamily="34" charset="-78"/>
                        <a:cs typeface="Shabnam FD" panose="020B0603030804020204" pitchFamily="34" charset="-78"/>
                      </a:endParaRPr>
                    </a:p>
                  </a:txBody>
                  <a:tcPr>
                    <a:noFill/>
                  </a:tcPr>
                </a:tc>
                <a:tc hMerge="1">
                  <a:txBody>
                    <a:bodyPr/>
                    <a:lstStyle/>
                    <a:p>
                      <a:pPr algn="r" rtl="1"/>
                      <a:endParaRPr lang="en-US" sz="1100">
                        <a:latin typeface="Shabnam FD" panose="020B0603030804020204" pitchFamily="34" charset="-78"/>
                        <a:cs typeface="Shabnam FD" panose="020B0603030804020204" pitchFamily="34" charset="-78"/>
                      </a:endParaRPr>
                    </a:p>
                  </a:txBody>
                  <a:tcPr>
                    <a:noFill/>
                  </a:tcPr>
                </a:tc>
                <a:tc hMerge="1">
                  <a:txBody>
                    <a:bodyPr/>
                    <a:lstStyle/>
                    <a:p>
                      <a:pPr algn="r" rtl="1"/>
                      <a:endParaRPr lang="en-US" sz="1100">
                        <a:latin typeface="Shabnam FD" panose="020B0603030804020204" pitchFamily="34" charset="-78"/>
                        <a:cs typeface="Shabnam FD" panose="020B0603030804020204" pitchFamily="34" charset="-78"/>
                      </a:endParaRPr>
                    </a:p>
                  </a:txBody>
                  <a:tcPr>
                    <a:noFill/>
                  </a:tcPr>
                </a:tc>
                <a:tc hMerge="1">
                  <a:txBody>
                    <a:bodyPr/>
                    <a:lstStyle/>
                    <a:p>
                      <a:pPr algn="r" rtl="1"/>
                      <a:endParaRPr lang="en-US" sz="1100">
                        <a:latin typeface="Shabnam FD" panose="020B0603030804020204" pitchFamily="34" charset="-78"/>
                        <a:cs typeface="Shabnam FD" panose="020B0603030804020204" pitchFamily="34" charset="-78"/>
                      </a:endParaRPr>
                    </a:p>
                  </a:txBody>
                  <a:tcPr>
                    <a:noFill/>
                  </a:tcPr>
                </a:tc>
                <a:tc hMerge="1">
                  <a:txBody>
                    <a:bodyPr/>
                    <a:lstStyle/>
                    <a:p>
                      <a:pPr algn="r" rtl="1"/>
                      <a:endParaRPr lang="en-US" sz="1100" b="1">
                        <a:latin typeface="Shabnam FD" panose="020B0603030804020204" pitchFamily="34" charset="-78"/>
                        <a:cs typeface="Shabnam FD" panose="020B0603030804020204" pitchFamily="34" charset="-78"/>
                      </a:endParaRPr>
                    </a:p>
                  </a:txBody>
                  <a:tcPr>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873616596"/>
                  </a:ext>
                </a:extLst>
              </a:tr>
              <a:tr h="310262">
                <a:tc>
                  <a:txBody>
                    <a:bodyPr/>
                    <a:lstStyle/>
                    <a:p>
                      <a:pPr algn="ctr" rtl="1"/>
                      <a:endParaRPr lang="en-US" sz="900" dirty="0">
                        <a:latin typeface="Yekan Bakh" pitchFamily="2" charset="-78"/>
                        <a:ea typeface="Yekan Bakh" pitchFamily="2" charset="-78"/>
                        <a:cs typeface="Yekan Bakh" pitchFamily="2" charset="-7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1"/>
                      <a:r>
                        <a:rPr lang="fa-IR" sz="900" b="0" dirty="0">
                          <a:solidFill>
                            <a:schemeClr val="bg1">
                              <a:lumMod val="75000"/>
                            </a:schemeClr>
                          </a:solidFill>
                          <a:latin typeface="Yekan Bakh" pitchFamily="2" charset="-78"/>
                          <a:ea typeface="Yekan Bakh" pitchFamily="2" charset="-78"/>
                          <a:cs typeface="Yekan Bakh" pitchFamily="2" charset="-78"/>
                        </a:rPr>
                        <a:t>مرحله ۷</a:t>
                      </a:r>
                      <a:endParaRPr lang="en-US" sz="900" b="0" dirty="0">
                        <a:solidFill>
                          <a:schemeClr val="bg1">
                            <a:lumMod val="75000"/>
                          </a:schemeClr>
                        </a:solidFill>
                        <a:latin typeface="Yekan Bakh" pitchFamily="2" charset="-78"/>
                        <a:ea typeface="Yekan Bakh" pitchFamily="2" charset="-78"/>
                        <a:cs typeface="Yekan Bakh" pitchFamily="2" charset="-7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alpha val="85000"/>
                      </a:schemeClr>
                    </a:solidFill>
                  </a:tcPr>
                </a:tc>
                <a:tc>
                  <a:txBody>
                    <a:bodyPr/>
                    <a:lstStyle/>
                    <a:p>
                      <a:pPr algn="ctr" rtl="1"/>
                      <a:r>
                        <a:rPr lang="fa-IR" sz="900" b="0" dirty="0">
                          <a:solidFill>
                            <a:schemeClr val="bg1">
                              <a:lumMod val="75000"/>
                            </a:schemeClr>
                          </a:solidFill>
                          <a:latin typeface="Yekan Bakh" pitchFamily="2" charset="-78"/>
                          <a:ea typeface="Yekan Bakh" pitchFamily="2" charset="-78"/>
                          <a:cs typeface="Yekan Bakh" pitchFamily="2" charset="-78"/>
                        </a:rPr>
                        <a:t>مرحله ۶</a:t>
                      </a:r>
                      <a:endParaRPr lang="en-US" sz="900" b="0" dirty="0">
                        <a:solidFill>
                          <a:schemeClr val="bg1">
                            <a:lumMod val="75000"/>
                          </a:schemeClr>
                        </a:solidFill>
                        <a:latin typeface="Yekan Bakh" pitchFamily="2" charset="-78"/>
                        <a:ea typeface="Yekan Bakh" pitchFamily="2" charset="-78"/>
                        <a:cs typeface="Yekan Bakh" pitchFamily="2" charset="-7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alpha val="85000"/>
                      </a:schemeClr>
                    </a:solidFill>
                  </a:tcPr>
                </a:tc>
                <a:tc>
                  <a:txBody>
                    <a:bodyPr/>
                    <a:lstStyle/>
                    <a:p>
                      <a:pPr algn="ctr" rtl="1"/>
                      <a:r>
                        <a:rPr lang="fa-IR" sz="900" b="1" dirty="0">
                          <a:solidFill>
                            <a:schemeClr val="tx1">
                              <a:lumMod val="65000"/>
                              <a:lumOff val="35000"/>
                            </a:schemeClr>
                          </a:solidFill>
                          <a:latin typeface="Yekan Bakh" pitchFamily="2" charset="-78"/>
                          <a:ea typeface="Yekan Bakh" pitchFamily="2" charset="-78"/>
                          <a:cs typeface="Yekan Bakh" pitchFamily="2" charset="-78"/>
                        </a:rPr>
                        <a:t>مرحله ۵</a:t>
                      </a:r>
                      <a:endParaRPr lang="en-US" sz="900" b="1" dirty="0">
                        <a:solidFill>
                          <a:schemeClr val="tx1">
                            <a:lumMod val="65000"/>
                            <a:lumOff val="35000"/>
                          </a:schemeClr>
                        </a:solidFill>
                        <a:latin typeface="Yekan Bakh" pitchFamily="2" charset="-78"/>
                        <a:ea typeface="Yekan Bakh" pitchFamily="2" charset="-78"/>
                        <a:cs typeface="Yekan Bakh" pitchFamily="2" charset="-7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alpha val="85000"/>
                      </a:schemeClr>
                    </a:solidFill>
                  </a:tcPr>
                </a:tc>
                <a:tc>
                  <a:txBody>
                    <a:bodyPr/>
                    <a:lstStyle/>
                    <a:p>
                      <a:pPr algn="ctr" rtl="1"/>
                      <a:r>
                        <a:rPr lang="fa-IR" sz="900" b="1" dirty="0">
                          <a:solidFill>
                            <a:schemeClr val="tx1">
                              <a:lumMod val="65000"/>
                              <a:lumOff val="35000"/>
                            </a:schemeClr>
                          </a:solidFill>
                          <a:latin typeface="Yekan Bakh" pitchFamily="2" charset="-78"/>
                          <a:ea typeface="Yekan Bakh" pitchFamily="2" charset="-78"/>
                          <a:cs typeface="Yekan Bakh" pitchFamily="2" charset="-78"/>
                        </a:rPr>
                        <a:t>مرحله ۴</a:t>
                      </a:r>
                      <a:endParaRPr lang="en-US" sz="900" b="1" dirty="0">
                        <a:solidFill>
                          <a:schemeClr val="tx1">
                            <a:lumMod val="65000"/>
                            <a:lumOff val="35000"/>
                          </a:schemeClr>
                        </a:solidFill>
                        <a:latin typeface="Yekan Bakh" pitchFamily="2" charset="-78"/>
                        <a:ea typeface="Yekan Bakh" pitchFamily="2" charset="-78"/>
                        <a:cs typeface="Yekan Bakh" pitchFamily="2" charset="-7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alpha val="85000"/>
                      </a:schemeClr>
                    </a:solidFill>
                  </a:tcPr>
                </a:tc>
                <a:tc>
                  <a:txBody>
                    <a:bodyPr/>
                    <a:lstStyle/>
                    <a:p>
                      <a:pPr algn="ctr" rtl="1"/>
                      <a:r>
                        <a:rPr lang="fa-IR" sz="900" b="1" dirty="0">
                          <a:solidFill>
                            <a:schemeClr val="tx1">
                              <a:lumMod val="65000"/>
                              <a:lumOff val="35000"/>
                            </a:schemeClr>
                          </a:solidFill>
                          <a:latin typeface="Yekan Bakh" pitchFamily="2" charset="-78"/>
                          <a:ea typeface="Yekan Bakh" pitchFamily="2" charset="-78"/>
                          <a:cs typeface="Yekan Bakh" pitchFamily="2" charset="-78"/>
                        </a:rPr>
                        <a:t>مرحله ۳</a:t>
                      </a:r>
                      <a:endParaRPr lang="en-US" sz="900" b="1" dirty="0">
                        <a:solidFill>
                          <a:schemeClr val="tx1">
                            <a:lumMod val="65000"/>
                            <a:lumOff val="35000"/>
                          </a:schemeClr>
                        </a:solidFill>
                        <a:latin typeface="Yekan Bakh" pitchFamily="2" charset="-78"/>
                        <a:ea typeface="Yekan Bakh" pitchFamily="2" charset="-78"/>
                        <a:cs typeface="Yekan Bakh" pitchFamily="2" charset="-7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alpha val="85000"/>
                      </a:schemeClr>
                    </a:solidFill>
                  </a:tcPr>
                </a:tc>
                <a:tc>
                  <a:txBody>
                    <a:bodyPr/>
                    <a:lstStyle/>
                    <a:p>
                      <a:pPr algn="ctr" rtl="1"/>
                      <a:r>
                        <a:rPr lang="fa-IR" sz="900" b="0" dirty="0">
                          <a:solidFill>
                            <a:schemeClr val="bg1">
                              <a:lumMod val="75000"/>
                            </a:schemeClr>
                          </a:solidFill>
                          <a:latin typeface="Yekan Bakh" pitchFamily="2" charset="-78"/>
                          <a:ea typeface="Yekan Bakh" pitchFamily="2" charset="-78"/>
                          <a:cs typeface="Yekan Bakh" pitchFamily="2" charset="-78"/>
                        </a:rPr>
                        <a:t>مرحله ۲</a:t>
                      </a:r>
                      <a:endParaRPr lang="en-US" sz="900" b="0" dirty="0">
                        <a:solidFill>
                          <a:schemeClr val="bg1">
                            <a:lumMod val="75000"/>
                          </a:schemeClr>
                        </a:solidFill>
                        <a:latin typeface="Yekan Bakh" pitchFamily="2" charset="-78"/>
                        <a:ea typeface="Yekan Bakh" pitchFamily="2" charset="-78"/>
                        <a:cs typeface="Yekan Bakh" pitchFamily="2" charset="-7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alpha val="85000"/>
                      </a:schemeClr>
                    </a:solidFill>
                  </a:tcPr>
                </a:tc>
                <a:tc>
                  <a:txBody>
                    <a:bodyPr/>
                    <a:lstStyle/>
                    <a:p>
                      <a:pPr algn="ctr" rtl="1"/>
                      <a:r>
                        <a:rPr lang="fa-IR" sz="900" b="0" dirty="0">
                          <a:solidFill>
                            <a:schemeClr val="bg1">
                              <a:lumMod val="75000"/>
                            </a:schemeClr>
                          </a:solidFill>
                          <a:latin typeface="Yekan Bakh" pitchFamily="2" charset="-78"/>
                          <a:ea typeface="Yekan Bakh" pitchFamily="2" charset="-78"/>
                          <a:cs typeface="Yekan Bakh" pitchFamily="2" charset="-78"/>
                        </a:rPr>
                        <a:t>مرحله ۱</a:t>
                      </a:r>
                      <a:endParaRPr lang="en-US" sz="900" b="0" dirty="0">
                        <a:solidFill>
                          <a:schemeClr val="bg1">
                            <a:lumMod val="75000"/>
                          </a:schemeClr>
                        </a:solidFill>
                        <a:latin typeface="Yekan Bakh" pitchFamily="2" charset="-78"/>
                        <a:ea typeface="Yekan Bakh" pitchFamily="2" charset="-78"/>
                        <a:cs typeface="Yekan Bakh" pitchFamily="2" charset="-7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alpha val="85000"/>
                      </a:schemeClr>
                    </a:solidFill>
                  </a:tcPr>
                </a:tc>
                <a:tc>
                  <a:txBody>
                    <a:bodyPr/>
                    <a:lstStyle/>
                    <a:p>
                      <a:pPr marL="0" marR="0" lvl="0" indent="0" algn="r" defTabSz="1021516" rtl="1" eaLnBrk="1" fontAlgn="auto" latinLnBrk="0" hangingPunct="1">
                        <a:lnSpc>
                          <a:spcPct val="100000"/>
                        </a:lnSpc>
                        <a:spcBef>
                          <a:spcPts val="0"/>
                        </a:spcBef>
                        <a:spcAft>
                          <a:spcPts val="0"/>
                        </a:spcAft>
                        <a:buClrTx/>
                        <a:buSzTx/>
                        <a:buFontTx/>
                        <a:buNone/>
                        <a:tabLst/>
                        <a:defRPr/>
                      </a:pPr>
                      <a:r>
                        <a:rPr lang="fa-IR" sz="1100" b="1" kern="1200" dirty="0">
                          <a:solidFill>
                            <a:srgbClr val="004D80"/>
                          </a:solidFill>
                          <a:latin typeface="Yekan Bakh" pitchFamily="2" charset="-78"/>
                          <a:ea typeface="Yekan Bakh" pitchFamily="2" charset="-78"/>
                          <a:cs typeface="Yekan Bakh" pitchFamily="2" charset="-78"/>
                        </a:rPr>
                        <a:t>مالکیت</a:t>
                      </a:r>
                      <a:endParaRPr lang="en-US" sz="1100" b="1" kern="1200" dirty="0">
                        <a:solidFill>
                          <a:srgbClr val="004D80"/>
                        </a:solidFill>
                        <a:latin typeface="Yekan Bakh" pitchFamily="2" charset="-78"/>
                        <a:ea typeface="Yekan Bakh" pitchFamily="2" charset="-78"/>
                        <a:cs typeface="Yekan Bakh" pitchFamily="2" charset="-7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88500933"/>
                  </a:ext>
                </a:extLst>
              </a:tr>
              <a:tr h="310262">
                <a:tc gridSpan="9">
                  <a:txBody>
                    <a:bodyPr/>
                    <a:lstStyle/>
                    <a:p>
                      <a:pPr algn="r" rtl="1"/>
                      <a:r>
                        <a:rPr lang="fa-IR" sz="900" dirty="0">
                          <a:solidFill>
                            <a:schemeClr val="tx1">
                              <a:lumMod val="75000"/>
                              <a:lumOff val="25000"/>
                            </a:schemeClr>
                          </a:solidFill>
                          <a:latin typeface="Yekan Bakh" pitchFamily="2" charset="-78"/>
                          <a:ea typeface="Yekan Bakh" pitchFamily="2" charset="-78"/>
                          <a:cs typeface="Yekan Bakh" pitchFamily="2" charset="-78"/>
                        </a:rPr>
                        <a:t>سریع‌ترین مسیر به درآمد و کم‌ترین زمانِ بنیان‌گذار. اما مسئولیت حقوقی روی نهاد شما می‌ماند و به‌تنهایی مزیت رقابتی نمی‌سازد.</a:t>
                      </a:r>
                      <a:endParaRPr lang="en-US" sz="900" dirty="0">
                        <a:solidFill>
                          <a:schemeClr val="tx1">
                            <a:lumMod val="75000"/>
                            <a:lumOff val="25000"/>
                          </a:schemeClr>
                        </a:solidFill>
                        <a:latin typeface="Yekan Bakh" pitchFamily="2" charset="-78"/>
                        <a:ea typeface="Yekan Bakh" pitchFamily="2" charset="-78"/>
                        <a:cs typeface="Yekan Bakh" pitchFamily="2" charset="-7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dirty="0"/>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pPr algn="ctr" rtl="1"/>
                      <a:endParaRPr lang="en-US" sz="1100">
                        <a:latin typeface="Shabnam FD" panose="020B0603030804020204" pitchFamily="34" charset="-78"/>
                        <a:cs typeface="Shabnam FD" panose="020B0603030804020204" pitchFamily="34" charset="-78"/>
                      </a:endParaRPr>
                    </a:p>
                  </a:txBody>
                  <a:tcPr anchor="ctr">
                    <a:lnT w="12700" cap="flat" cmpd="sng" algn="ctr">
                      <a:solidFill>
                        <a:schemeClr val="tx1"/>
                      </a:solidFill>
                      <a:prstDash val="solid"/>
                      <a:round/>
                      <a:headEnd type="none" w="med" len="med"/>
                      <a:tailEnd type="none" w="med" len="med"/>
                    </a:lnT>
                    <a:solidFill>
                      <a:schemeClr val="bg1"/>
                    </a:solidFill>
                  </a:tcPr>
                </a:tc>
                <a:tc hMerge="1">
                  <a:txBody>
                    <a:bodyPr/>
                    <a:lstStyle/>
                    <a:p>
                      <a:pPr algn="ctr" rtl="1"/>
                      <a:endParaRPr lang="en-US" sz="1100">
                        <a:latin typeface="Shabnam FD" panose="020B0603030804020204" pitchFamily="34" charset="-78"/>
                        <a:cs typeface="Shabnam FD" panose="020B0603030804020204" pitchFamily="34" charset="-78"/>
                      </a:endParaRPr>
                    </a:p>
                  </a:txBody>
                  <a:tcPr anchor="ctr">
                    <a:solidFill>
                      <a:schemeClr val="bg1"/>
                    </a:solidFill>
                  </a:tcPr>
                </a:tc>
                <a:tc hMerge="1">
                  <a:txBody>
                    <a:bodyPr/>
                    <a:lstStyle/>
                    <a:p>
                      <a:pPr algn="ctr" rtl="1"/>
                      <a:endParaRPr lang="en-US" sz="1100">
                        <a:latin typeface="Shabnam FD" panose="020B0603030804020204" pitchFamily="34" charset="-78"/>
                        <a:cs typeface="Shabnam FD" panose="020B0603030804020204" pitchFamily="34" charset="-78"/>
                      </a:endParaRPr>
                    </a:p>
                  </a:txBody>
                  <a:tcPr anchor="ctr">
                    <a:solidFill>
                      <a:schemeClr val="bg1"/>
                    </a:solidFill>
                  </a:tcPr>
                </a:tc>
                <a:tc hMerge="1">
                  <a:txBody>
                    <a:bodyPr/>
                    <a:lstStyle/>
                    <a:p>
                      <a:pPr algn="ctr" rtl="1"/>
                      <a:endParaRPr lang="en-US" sz="1100">
                        <a:latin typeface="Shabnam FD" panose="020B0603030804020204" pitchFamily="34" charset="-78"/>
                        <a:cs typeface="Shabnam FD" panose="020B0603030804020204" pitchFamily="34" charset="-78"/>
                      </a:endParaRPr>
                    </a:p>
                  </a:txBody>
                  <a:tcPr anchor="ctr">
                    <a:solidFill>
                      <a:schemeClr val="bg1"/>
                    </a:solidFill>
                  </a:tcPr>
                </a:tc>
                <a:tc hMerge="1">
                  <a:txBody>
                    <a:bodyPr/>
                    <a:lstStyle/>
                    <a:p>
                      <a:pPr algn="ctr" rtl="1"/>
                      <a:endParaRPr lang="en-US" sz="1100">
                        <a:latin typeface="Shabnam FD" panose="020B0603030804020204" pitchFamily="34" charset="-78"/>
                        <a:cs typeface="Shabnam FD" panose="020B0603030804020204" pitchFamily="34" charset="-78"/>
                      </a:endParaRPr>
                    </a:p>
                  </a:txBody>
                  <a:tcPr anchor="ctr">
                    <a:solidFill>
                      <a:schemeClr val="bg1"/>
                    </a:solidFill>
                  </a:tcPr>
                </a:tc>
                <a:tc hMerge="1">
                  <a:txBody>
                    <a:bodyPr/>
                    <a:lstStyle/>
                    <a:p>
                      <a:pPr algn="ctr" rtl="1"/>
                      <a:endParaRPr lang="en-US" sz="1100">
                        <a:latin typeface="Shabnam FD" panose="020B0603030804020204" pitchFamily="34" charset="-78"/>
                        <a:cs typeface="Shabnam FD" panose="020B0603030804020204" pitchFamily="34" charset="-78"/>
                      </a:endParaRPr>
                    </a:p>
                  </a:txBody>
                  <a:tcPr anchor="ctr">
                    <a:solidFill>
                      <a:schemeClr val="bg1"/>
                    </a:solidFill>
                  </a:tcPr>
                </a:tc>
                <a:tc hMerge="1">
                  <a:txBody>
                    <a:bodyPr/>
                    <a:lstStyle/>
                    <a:p>
                      <a:pPr algn="ctr" rtl="1"/>
                      <a:endParaRPr lang="en-US" sz="1100" b="1">
                        <a:latin typeface="Shabnam FD" panose="020B0603030804020204" pitchFamily="34" charset="-78"/>
                        <a:cs typeface="Shabnam FD" panose="020B0603030804020204" pitchFamily="34" charset="-78"/>
                      </a:endParaRPr>
                    </a:p>
                  </a:txBody>
                  <a:tcPr anchor="ctr">
                    <a:solidFill>
                      <a:schemeClr val="bg1"/>
                    </a:solidFill>
                  </a:tcPr>
                </a:tc>
                <a:extLst>
                  <a:ext uri="{0D108BD9-81ED-4DB2-BD59-A6C34878D82A}">
                    <a16:rowId xmlns:a16="http://schemas.microsoft.com/office/drawing/2014/main" val="2469131567"/>
                  </a:ext>
                </a:extLst>
              </a:tr>
            </a:tbl>
          </a:graphicData>
        </a:graphic>
      </p:graphicFrame>
      <p:sp>
        <p:nvSpPr>
          <p:cNvPr id="2" name="Text Placeholder 1">
            <a:extLst>
              <a:ext uri="{FF2B5EF4-FFF2-40B4-BE49-F238E27FC236}">
                <a16:creationId xmlns:a16="http://schemas.microsoft.com/office/drawing/2014/main" id="{710D7B93-4A2A-5509-36A1-83B25F2B3C09}"/>
              </a:ext>
            </a:extLst>
          </p:cNvPr>
          <p:cNvSpPr>
            <a:spLocks noGrp="1"/>
          </p:cNvSpPr>
          <p:nvPr>
            <p:ph type="body" sz="quarter" idx="10"/>
          </p:nvPr>
        </p:nvSpPr>
        <p:spPr/>
        <p:txBody>
          <a:bodyPr/>
          <a:lstStyle/>
          <a:p>
            <a:r>
              <a:rPr lang="fa-IR"/>
              <a:t>تمرکز مبتنی بر </a:t>
            </a:r>
            <a:r>
              <a:rPr lang="en-US"/>
              <a:t>Being</a:t>
            </a:r>
            <a:r>
              <a:rPr lang="fa-IR"/>
              <a:t> در زنجیره ارزش </a:t>
            </a:r>
          </a:p>
          <a:p>
            <a:endParaRPr lang="en-US"/>
          </a:p>
        </p:txBody>
      </p:sp>
      <p:sp>
        <p:nvSpPr>
          <p:cNvPr id="3" name="Text Placeholder 2">
            <a:extLst>
              <a:ext uri="{FF2B5EF4-FFF2-40B4-BE49-F238E27FC236}">
                <a16:creationId xmlns:a16="http://schemas.microsoft.com/office/drawing/2014/main" id="{BE5E875E-B011-8F0B-02DB-9170A3E96CDF}"/>
              </a:ext>
            </a:extLst>
          </p:cNvPr>
          <p:cNvSpPr>
            <a:spLocks noGrp="1"/>
          </p:cNvSpPr>
          <p:nvPr>
            <p:ph type="body" sz="quarter" idx="12"/>
          </p:nvPr>
        </p:nvSpPr>
        <p:spPr/>
        <p:txBody>
          <a:bodyPr/>
          <a:lstStyle/>
          <a:p>
            <a:r>
              <a:rPr lang="en-US" dirty="0"/>
              <a:t>Being </a:t>
            </a:r>
            <a:r>
              <a:rPr lang="fa-IR" dirty="0"/>
              <a:t> بنیانگذاران، قرار نیست الزاماً خودشان کار اجرایی را انجام دهند؛ باید در نقاطی از زنجیره مداخله کنند که حضورشان باعث باز شدن یک گلوگاه ارزش‌آفرین شود</a:t>
            </a:r>
            <a:endParaRPr lang="en-US" dirty="0"/>
          </a:p>
        </p:txBody>
      </p:sp>
      <p:grpSp>
        <p:nvGrpSpPr>
          <p:cNvPr id="19" name="Group 18">
            <a:extLst>
              <a:ext uri="{FF2B5EF4-FFF2-40B4-BE49-F238E27FC236}">
                <a16:creationId xmlns:a16="http://schemas.microsoft.com/office/drawing/2014/main" id="{BE01D21C-A1B2-0943-D126-1A7308025F69}"/>
              </a:ext>
            </a:extLst>
          </p:cNvPr>
          <p:cNvGrpSpPr/>
          <p:nvPr/>
        </p:nvGrpSpPr>
        <p:grpSpPr>
          <a:xfrm>
            <a:off x="1179871" y="1505720"/>
            <a:ext cx="8695646" cy="839613"/>
            <a:chOff x="2279531" y="1565863"/>
            <a:chExt cx="7595986" cy="986101"/>
          </a:xfrm>
        </p:grpSpPr>
        <p:sp>
          <p:nvSpPr>
            <p:cNvPr id="6" name="Rectangle: Rounded Corners 5">
              <a:extLst>
                <a:ext uri="{FF2B5EF4-FFF2-40B4-BE49-F238E27FC236}">
                  <a16:creationId xmlns:a16="http://schemas.microsoft.com/office/drawing/2014/main" id="{5FE08A2B-8CC5-1C6C-1404-FFFA8F415A83}"/>
                </a:ext>
              </a:extLst>
            </p:cNvPr>
            <p:cNvSpPr/>
            <p:nvPr/>
          </p:nvSpPr>
          <p:spPr>
            <a:xfrm>
              <a:off x="8869677" y="1565863"/>
              <a:ext cx="1005840" cy="986101"/>
            </a:xfrm>
            <a:prstGeom prst="roundRect">
              <a:avLst>
                <a:gd name="adj" fmla="val 7082"/>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900" b="1" i="0" u="none" strike="noStrike" kern="1200" cap="none" spc="0" normalizeH="0" baseline="0" noProof="0" dirty="0">
                  <a:ln>
                    <a:noFill/>
                  </a:ln>
                  <a:solidFill>
                    <a:prstClr val="white"/>
                  </a:solidFill>
                  <a:effectLst/>
                  <a:highlight>
                    <a:srgbClr val="F0BE0F"/>
                  </a:highlight>
                  <a:uLnTx/>
                  <a:uFillTx/>
                  <a:latin typeface="Yekan Bakh" pitchFamily="2" charset="-78"/>
                  <a:ea typeface="Yekan Bakh" pitchFamily="2" charset="-78"/>
                  <a:cs typeface="Yekan Bakh" pitchFamily="2" charset="-78"/>
                </a:rPr>
                <a:t>مرحله ۱</a:t>
              </a:r>
            </a:p>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fa-IR" sz="900" b="1" i="0" u="none" strike="noStrike" kern="1200" cap="none" spc="0" normalizeH="0" baseline="0" noProof="0">
                <a:ln>
                  <a:noFill/>
                </a:ln>
                <a:solidFill>
                  <a:srgbClr val="1E2761"/>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fa-IR" sz="9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9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هوشمندی بازار و </a:t>
              </a:r>
              <a:r>
                <a:rPr kumimoji="0" lang="fa-IR" sz="900" b="1" i="0" u="none" strike="noStrike" kern="1200" cap="none" spc="0" normalizeH="0" baseline="0" noProof="0">
                  <a:ln>
                    <a:noFill/>
                  </a:ln>
                  <a:solidFill>
                    <a:srgbClr val="1E2761"/>
                  </a:solidFill>
                  <a:effectLst/>
                  <a:uLnTx/>
                  <a:uFillTx/>
                  <a:latin typeface="Yekan Bakh" pitchFamily="2" charset="-78"/>
                  <a:ea typeface="Yekan Bakh" pitchFamily="2" charset="-78"/>
                  <a:cs typeface="Yekan Bakh" pitchFamily="2" charset="-78"/>
                </a:rPr>
                <a:t>غربالگری فرصت</a:t>
              </a:r>
              <a:endParaRPr kumimoji="0" lang="en-US" sz="9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endParaRPr>
            </a:p>
          </p:txBody>
        </p:sp>
        <p:sp>
          <p:nvSpPr>
            <p:cNvPr id="7" name="Rectangle: Rounded Corners 6">
              <a:extLst>
                <a:ext uri="{FF2B5EF4-FFF2-40B4-BE49-F238E27FC236}">
                  <a16:creationId xmlns:a16="http://schemas.microsoft.com/office/drawing/2014/main" id="{FC1BB0EB-1944-8FBF-2233-8CB679773790}"/>
                </a:ext>
              </a:extLst>
            </p:cNvPr>
            <p:cNvSpPr/>
            <p:nvPr/>
          </p:nvSpPr>
          <p:spPr>
            <a:xfrm>
              <a:off x="7771321" y="1565863"/>
              <a:ext cx="1005840" cy="986101"/>
            </a:xfrm>
            <a:prstGeom prst="roundRect">
              <a:avLst>
                <a:gd name="adj" fmla="val 7082"/>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900" b="1" i="0" u="none" strike="noStrike" kern="1200" cap="none" spc="0" normalizeH="0" baseline="0" noProof="0" dirty="0">
                  <a:ln>
                    <a:noFill/>
                  </a:ln>
                  <a:solidFill>
                    <a:prstClr val="white"/>
                  </a:solidFill>
                  <a:effectLst/>
                  <a:highlight>
                    <a:srgbClr val="F0BE0F"/>
                  </a:highlight>
                  <a:uLnTx/>
                  <a:uFillTx/>
                  <a:latin typeface="Yekan Bakh" pitchFamily="2" charset="-78"/>
                  <a:ea typeface="Yekan Bakh" pitchFamily="2" charset="-78"/>
                  <a:cs typeface="Yekan Bakh" pitchFamily="2" charset="-78"/>
                </a:rPr>
                <a:t>مرحله ۲</a:t>
              </a:r>
            </a:p>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fa-IR" sz="900" b="1" i="0" u="none" strike="noStrike" kern="1200" cap="none" spc="0" normalizeH="0" baseline="0" noProof="0">
                <a:ln>
                  <a:noFill/>
                </a:ln>
                <a:solidFill>
                  <a:srgbClr val="1E2761"/>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fa-IR" sz="9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900" b="1" i="0" u="none" strike="noStrike" kern="1200" cap="none" spc="0" normalizeH="0" baseline="0" noProof="0">
                  <a:ln>
                    <a:noFill/>
                  </a:ln>
                  <a:solidFill>
                    <a:srgbClr val="1E2761"/>
                  </a:solidFill>
                  <a:effectLst/>
                  <a:uLnTx/>
                  <a:uFillTx/>
                  <a:latin typeface="Yekan Bakh" pitchFamily="2" charset="-78"/>
                  <a:ea typeface="Yekan Bakh" pitchFamily="2" charset="-78"/>
                  <a:cs typeface="Yekan Bakh" pitchFamily="2" charset="-78"/>
                </a:rPr>
                <a:t>استراتژی ورود</a:t>
              </a:r>
            </a:p>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fa-IR" sz="900" b="1" i="0" u="none" strike="noStrike" kern="1200" cap="none" spc="0" normalizeH="0" baseline="0" noProof="0">
                <a:ln>
                  <a:noFill/>
                </a:ln>
                <a:solidFill>
                  <a:srgbClr val="1E2761"/>
                </a:solidFill>
                <a:effectLst/>
                <a:uLnTx/>
                <a:uFillTx/>
                <a:latin typeface="Yekan Bakh" pitchFamily="2" charset="-78"/>
                <a:ea typeface="Yekan Bakh" pitchFamily="2" charset="-78"/>
                <a:cs typeface="Yekan Bakh" pitchFamily="2" charset="-78"/>
              </a:endParaRPr>
            </a:p>
          </p:txBody>
        </p:sp>
        <p:sp>
          <p:nvSpPr>
            <p:cNvPr id="10" name="Rectangle: Rounded Corners 9">
              <a:extLst>
                <a:ext uri="{FF2B5EF4-FFF2-40B4-BE49-F238E27FC236}">
                  <a16:creationId xmlns:a16="http://schemas.microsoft.com/office/drawing/2014/main" id="{B7CDC162-31EB-DA67-6031-21966C4901AF}"/>
                </a:ext>
              </a:extLst>
            </p:cNvPr>
            <p:cNvSpPr/>
            <p:nvPr/>
          </p:nvSpPr>
          <p:spPr>
            <a:xfrm>
              <a:off x="6672963" y="1565863"/>
              <a:ext cx="1005840" cy="986101"/>
            </a:xfrm>
            <a:prstGeom prst="roundRect">
              <a:avLst>
                <a:gd name="adj" fmla="val 7082"/>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900" b="1" i="0" u="none" strike="noStrike" kern="1200" cap="none" spc="0" normalizeH="0" baseline="0" noProof="0" dirty="0">
                  <a:ln>
                    <a:noFill/>
                  </a:ln>
                  <a:solidFill>
                    <a:prstClr val="white"/>
                  </a:solidFill>
                  <a:effectLst/>
                  <a:highlight>
                    <a:srgbClr val="F0BE0F"/>
                  </a:highlight>
                  <a:uLnTx/>
                  <a:uFillTx/>
                  <a:latin typeface="Yekan Bakh" pitchFamily="2" charset="-78"/>
                  <a:ea typeface="Yekan Bakh" pitchFamily="2" charset="-78"/>
                  <a:cs typeface="Yekan Bakh" pitchFamily="2" charset="-78"/>
                </a:rPr>
                <a:t>مرحله ۳</a:t>
              </a:r>
            </a:p>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fa-IR" sz="900" b="1" i="0" u="none" strike="noStrike" kern="1200" cap="none" spc="0" normalizeH="0" baseline="0" noProof="0">
                <a:ln>
                  <a:noFill/>
                </a:ln>
                <a:solidFill>
                  <a:srgbClr val="1E2761"/>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fa-IR" sz="9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900" b="1" i="0" u="none" strike="noStrike" kern="1200" cap="none" spc="0" normalizeH="0" baseline="0" noProof="0">
                  <a:ln>
                    <a:noFill/>
                  </a:ln>
                  <a:solidFill>
                    <a:srgbClr val="1E2761"/>
                  </a:solidFill>
                  <a:effectLst/>
                  <a:uLnTx/>
                  <a:uFillTx/>
                  <a:latin typeface="Yekan Bakh" pitchFamily="2" charset="-78"/>
                  <a:ea typeface="Yekan Bakh" pitchFamily="2" charset="-78"/>
                  <a:cs typeface="Yekan Bakh" pitchFamily="2" charset="-78"/>
                </a:rPr>
                <a:t>استقرار حقوقی و سازمانی</a:t>
              </a:r>
            </a:p>
          </p:txBody>
        </p:sp>
        <p:sp>
          <p:nvSpPr>
            <p:cNvPr id="11" name="Rectangle: Rounded Corners 10">
              <a:extLst>
                <a:ext uri="{FF2B5EF4-FFF2-40B4-BE49-F238E27FC236}">
                  <a16:creationId xmlns:a16="http://schemas.microsoft.com/office/drawing/2014/main" id="{1487FF02-48E0-853E-ACEB-DE3F0A5BB401}"/>
                </a:ext>
              </a:extLst>
            </p:cNvPr>
            <p:cNvSpPr/>
            <p:nvPr/>
          </p:nvSpPr>
          <p:spPr>
            <a:xfrm>
              <a:off x="5574605" y="1565863"/>
              <a:ext cx="1005840" cy="986101"/>
            </a:xfrm>
            <a:prstGeom prst="roundRect">
              <a:avLst>
                <a:gd name="adj" fmla="val 7082"/>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900" b="1" i="0" u="none" strike="noStrike" kern="1200" cap="none" spc="0" normalizeH="0" baseline="0" noProof="0" dirty="0">
                  <a:ln>
                    <a:noFill/>
                  </a:ln>
                  <a:solidFill>
                    <a:prstClr val="white"/>
                  </a:solidFill>
                  <a:effectLst/>
                  <a:highlight>
                    <a:srgbClr val="F0BE0F"/>
                  </a:highlight>
                  <a:uLnTx/>
                  <a:uFillTx/>
                  <a:latin typeface="Yekan Bakh" pitchFamily="2" charset="-78"/>
                  <a:ea typeface="Yekan Bakh" pitchFamily="2" charset="-78"/>
                  <a:cs typeface="Yekan Bakh" pitchFamily="2" charset="-78"/>
                </a:rPr>
                <a:t>مرحله ۴</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a-IR" sz="900" b="1" i="0" u="none" strike="noStrike" kern="1200" cap="none" spc="0" normalizeH="0" baseline="0" noProof="0">
                <a:ln>
                  <a:noFill/>
                </a:ln>
                <a:solidFill>
                  <a:srgbClr val="1E2761"/>
                </a:solidFill>
                <a:effectLst/>
                <a:uLnTx/>
                <a:uFillTx/>
                <a:latin typeface="Yekan Bakh" pitchFamily="2" charset="-78"/>
                <a:ea typeface="Yekan Bakh" pitchFamily="2" charset="-78"/>
                <a:cs typeface="Yekan Bakh" pitchFamily="2" charset="-78"/>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a-IR" sz="9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900" b="1" i="0" u="none" strike="noStrike" kern="1200" cap="none" spc="0" normalizeH="0" baseline="0" noProof="0">
                  <a:ln>
                    <a:noFill/>
                  </a:ln>
                  <a:solidFill>
                    <a:srgbClr val="1E2761"/>
                  </a:solidFill>
                  <a:effectLst/>
                  <a:uLnTx/>
                  <a:uFillTx/>
                  <a:latin typeface="Yekan Bakh" pitchFamily="2" charset="-78"/>
                  <a:ea typeface="Yekan Bakh" pitchFamily="2" charset="-78"/>
                  <a:cs typeface="Yekan Bakh" pitchFamily="2" charset="-78"/>
                </a:rPr>
                <a:t>توانمندسازی عملیاتی</a:t>
              </a:r>
            </a:p>
          </p:txBody>
        </p:sp>
        <p:sp>
          <p:nvSpPr>
            <p:cNvPr id="14" name="Rectangle: Rounded Corners 13">
              <a:extLst>
                <a:ext uri="{FF2B5EF4-FFF2-40B4-BE49-F238E27FC236}">
                  <a16:creationId xmlns:a16="http://schemas.microsoft.com/office/drawing/2014/main" id="{AD77A916-746C-7A3B-415D-0CB1FE9D12B5}"/>
                </a:ext>
              </a:extLst>
            </p:cNvPr>
            <p:cNvSpPr/>
            <p:nvPr/>
          </p:nvSpPr>
          <p:spPr>
            <a:xfrm>
              <a:off x="4476247" y="1565863"/>
              <a:ext cx="1005840" cy="986101"/>
            </a:xfrm>
            <a:prstGeom prst="roundRect">
              <a:avLst>
                <a:gd name="adj" fmla="val 7082"/>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900" b="1" i="0" u="none" strike="noStrike" kern="1200" cap="none" spc="0" normalizeH="0" baseline="0" noProof="0" dirty="0">
                  <a:ln>
                    <a:noFill/>
                  </a:ln>
                  <a:solidFill>
                    <a:prstClr val="white"/>
                  </a:solidFill>
                  <a:effectLst/>
                  <a:highlight>
                    <a:srgbClr val="F0BE0F"/>
                  </a:highlight>
                  <a:uLnTx/>
                  <a:uFillTx/>
                  <a:latin typeface="Yekan Bakh" pitchFamily="2" charset="-78"/>
                  <a:ea typeface="Yekan Bakh" pitchFamily="2" charset="-78"/>
                  <a:cs typeface="Yekan Bakh" pitchFamily="2" charset="-78"/>
                </a:rPr>
                <a:t>مرحله ۵</a:t>
              </a:r>
            </a:p>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fa-IR" sz="9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fa-IR" sz="9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9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ورود تجاری و توسعه</a:t>
              </a:r>
            </a:p>
          </p:txBody>
        </p:sp>
        <p:sp>
          <p:nvSpPr>
            <p:cNvPr id="15" name="Rectangle: Rounded Corners 14">
              <a:extLst>
                <a:ext uri="{FF2B5EF4-FFF2-40B4-BE49-F238E27FC236}">
                  <a16:creationId xmlns:a16="http://schemas.microsoft.com/office/drawing/2014/main" id="{F11E1128-A824-F880-6EA2-5FC5237B187C}"/>
                </a:ext>
              </a:extLst>
            </p:cNvPr>
            <p:cNvSpPr/>
            <p:nvPr/>
          </p:nvSpPr>
          <p:spPr>
            <a:xfrm>
              <a:off x="2279531" y="1565863"/>
              <a:ext cx="1005840" cy="986101"/>
            </a:xfrm>
            <a:prstGeom prst="roundRect">
              <a:avLst>
                <a:gd name="adj" fmla="val 7082"/>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900" b="1" i="0" u="none" strike="noStrike" kern="1200" cap="none" spc="0" normalizeH="0" baseline="0" noProof="0" dirty="0">
                  <a:ln>
                    <a:noFill/>
                  </a:ln>
                  <a:solidFill>
                    <a:prstClr val="white"/>
                  </a:solidFill>
                  <a:effectLst/>
                  <a:highlight>
                    <a:srgbClr val="F0BE0F"/>
                  </a:highlight>
                  <a:uLnTx/>
                  <a:uFillTx/>
                  <a:latin typeface="Yekan Bakh" pitchFamily="2" charset="-78"/>
                  <a:ea typeface="Yekan Bakh" pitchFamily="2" charset="-78"/>
                  <a:cs typeface="Yekan Bakh" pitchFamily="2" charset="-78"/>
                </a:rPr>
                <a:t>مرحله ۷</a:t>
              </a:r>
            </a:p>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fa-IR" sz="9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9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ساختاردهی مجدد  یا خروج</a:t>
              </a:r>
            </a:p>
          </p:txBody>
        </p:sp>
        <p:sp>
          <p:nvSpPr>
            <p:cNvPr id="16" name="Rectangle: Rounded Corners 15">
              <a:extLst>
                <a:ext uri="{FF2B5EF4-FFF2-40B4-BE49-F238E27FC236}">
                  <a16:creationId xmlns:a16="http://schemas.microsoft.com/office/drawing/2014/main" id="{5A1CAC57-FAA9-3D1E-42F4-FA5BDA9F8D8F}"/>
                </a:ext>
              </a:extLst>
            </p:cNvPr>
            <p:cNvSpPr/>
            <p:nvPr/>
          </p:nvSpPr>
          <p:spPr>
            <a:xfrm>
              <a:off x="3377889" y="1565863"/>
              <a:ext cx="1005840" cy="986101"/>
            </a:xfrm>
            <a:prstGeom prst="roundRect">
              <a:avLst>
                <a:gd name="adj" fmla="val 514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900" b="1" i="0" u="none" strike="noStrike" kern="1200" cap="none" spc="0" normalizeH="0" baseline="0" noProof="0" dirty="0">
                  <a:ln>
                    <a:noFill/>
                  </a:ln>
                  <a:solidFill>
                    <a:prstClr val="white"/>
                  </a:solidFill>
                  <a:effectLst/>
                  <a:highlight>
                    <a:srgbClr val="F0BE0F"/>
                  </a:highlight>
                  <a:uLnTx/>
                  <a:uFillTx/>
                  <a:latin typeface="Yekan Bakh" pitchFamily="2" charset="-78"/>
                  <a:ea typeface="Yekan Bakh" pitchFamily="2" charset="-78"/>
                  <a:cs typeface="Yekan Bakh" pitchFamily="2" charset="-78"/>
                </a:rPr>
                <a:t>مرحله ۶</a:t>
              </a:r>
            </a:p>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fa-IR" sz="9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9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عملیات در سطح محلی و  مقیاس‌دهی</a:t>
              </a:r>
            </a:p>
          </p:txBody>
        </p:sp>
      </p:grpSp>
      <p:sp>
        <p:nvSpPr>
          <p:cNvPr id="5" name="Rectangle: Rounded Corners 4">
            <a:extLst>
              <a:ext uri="{FF2B5EF4-FFF2-40B4-BE49-F238E27FC236}">
                <a16:creationId xmlns:a16="http://schemas.microsoft.com/office/drawing/2014/main" id="{F90E6139-2437-D137-E423-95F093B6C7AB}"/>
              </a:ext>
            </a:extLst>
          </p:cNvPr>
          <p:cNvSpPr/>
          <p:nvPr/>
        </p:nvSpPr>
        <p:spPr>
          <a:xfrm>
            <a:off x="1093077" y="2596053"/>
            <a:ext cx="10067982" cy="3198943"/>
          </a:xfrm>
          <a:prstGeom prst="roundRect">
            <a:avLst>
              <a:gd name="adj" fmla="val 2131"/>
            </a:avLst>
          </a:prstGeom>
          <a:noFill/>
          <a:ln w="3175">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01910656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468916B-3ABE-1AAC-4127-B8AB1519B1CE}"/>
              </a:ext>
            </a:extLst>
          </p:cNvPr>
          <p:cNvSpPr>
            <a:spLocks noGrp="1"/>
          </p:cNvSpPr>
          <p:nvPr>
            <p:ph type="body" sz="quarter" idx="10"/>
          </p:nvPr>
        </p:nvSpPr>
        <p:spPr/>
        <p:txBody>
          <a:bodyPr/>
          <a:lstStyle/>
          <a:p>
            <a:endParaRPr lang="en-GB" dirty="0"/>
          </a:p>
        </p:txBody>
      </p:sp>
      <p:sp>
        <p:nvSpPr>
          <p:cNvPr id="3" name="Text Placeholder 2">
            <a:extLst>
              <a:ext uri="{FF2B5EF4-FFF2-40B4-BE49-F238E27FC236}">
                <a16:creationId xmlns:a16="http://schemas.microsoft.com/office/drawing/2014/main" id="{712BEC5B-F780-51B3-53F1-66751087BD45}"/>
              </a:ext>
            </a:extLst>
          </p:cNvPr>
          <p:cNvSpPr>
            <a:spLocks noGrp="1"/>
          </p:cNvSpPr>
          <p:nvPr>
            <p:ph type="body" sz="quarter" idx="12"/>
          </p:nvPr>
        </p:nvSpPr>
        <p:spPr/>
        <p:txBody>
          <a:bodyPr/>
          <a:lstStyle/>
          <a:p>
            <a:pPr algn="r"/>
            <a:r>
              <a:rPr lang="en-GB" dirty="0"/>
              <a:t>Being</a:t>
            </a:r>
            <a:r>
              <a:rPr lang="fa-IR" dirty="0"/>
              <a:t> در برابر</a:t>
            </a:r>
            <a:r>
              <a:rPr lang="en-GB" dirty="0"/>
              <a:t>Doing —  </a:t>
            </a:r>
            <a:r>
              <a:rPr lang="fa-IR" dirty="0"/>
              <a:t> تعریف عملیاتی</a:t>
            </a:r>
          </a:p>
        </p:txBody>
      </p:sp>
      <p:graphicFrame>
        <p:nvGraphicFramePr>
          <p:cNvPr id="9" name="Table 8">
            <a:extLst>
              <a:ext uri="{FF2B5EF4-FFF2-40B4-BE49-F238E27FC236}">
                <a16:creationId xmlns:a16="http://schemas.microsoft.com/office/drawing/2014/main" id="{61AD3EDE-E7C5-7520-AA26-40345D93833B}"/>
              </a:ext>
            </a:extLst>
          </p:cNvPr>
          <p:cNvGraphicFramePr>
            <a:graphicFrameLocks noGrp="1"/>
          </p:cNvGraphicFramePr>
          <p:nvPr/>
        </p:nvGraphicFramePr>
        <p:xfrm>
          <a:off x="1122209" y="2018479"/>
          <a:ext cx="9458632" cy="2626069"/>
        </p:xfrm>
        <a:graphic>
          <a:graphicData uri="http://schemas.openxmlformats.org/drawingml/2006/table">
            <a:tbl>
              <a:tblPr firstRow="1" bandRow="1">
                <a:tableStyleId>{5C22544A-7EE6-4342-B048-85BDC9FD1C3A}</a:tableStyleId>
              </a:tblPr>
              <a:tblGrid>
                <a:gridCol w="4461701">
                  <a:extLst>
                    <a:ext uri="{9D8B030D-6E8A-4147-A177-3AD203B41FA5}">
                      <a16:colId xmlns:a16="http://schemas.microsoft.com/office/drawing/2014/main" val="4265538667"/>
                    </a:ext>
                  </a:extLst>
                </a:gridCol>
                <a:gridCol w="3121727">
                  <a:extLst>
                    <a:ext uri="{9D8B030D-6E8A-4147-A177-3AD203B41FA5}">
                      <a16:colId xmlns:a16="http://schemas.microsoft.com/office/drawing/2014/main" val="3125127807"/>
                    </a:ext>
                  </a:extLst>
                </a:gridCol>
                <a:gridCol w="1875204">
                  <a:extLst>
                    <a:ext uri="{9D8B030D-6E8A-4147-A177-3AD203B41FA5}">
                      <a16:colId xmlns:a16="http://schemas.microsoft.com/office/drawing/2014/main" val="4138427655"/>
                    </a:ext>
                  </a:extLst>
                </a:gridCol>
              </a:tblGrid>
              <a:tr h="290324">
                <a:tc>
                  <a:txBody>
                    <a:bodyPr/>
                    <a:lstStyle/>
                    <a:p>
                      <a:pPr algn="ctr" rtl="1"/>
                      <a:r>
                        <a:rPr lang="en-US" sz="1100" b="1" i="0" kern="1200" dirty="0">
                          <a:solidFill>
                            <a:schemeClr val="lt1"/>
                          </a:solidFill>
                          <a:effectLst/>
                          <a:latin typeface="Yekan Bakh" pitchFamily="2" charset="-78"/>
                          <a:ea typeface="Yekan Bakh" pitchFamily="2" charset="-78"/>
                          <a:cs typeface="Yekan Bakh" pitchFamily="2" charset="-78"/>
                        </a:rPr>
                        <a:t>Being</a:t>
                      </a:r>
                      <a:r>
                        <a:rPr lang="fa-IR" sz="1100" b="1" i="0" kern="1200" dirty="0">
                          <a:solidFill>
                            <a:schemeClr val="lt1"/>
                          </a:solidFill>
                          <a:effectLst/>
                          <a:latin typeface="Yekan Bakh" pitchFamily="2" charset="-78"/>
                          <a:ea typeface="Yekan Bakh" pitchFamily="2" charset="-78"/>
                          <a:cs typeface="Yekan Bakh" pitchFamily="2" charset="-78"/>
                        </a:rPr>
                        <a:t> (</a:t>
                      </a:r>
                      <a:r>
                        <a:rPr lang="en-US" sz="1100" b="1" i="0" kern="1200" dirty="0" err="1">
                          <a:solidFill>
                            <a:schemeClr val="lt1"/>
                          </a:solidFill>
                          <a:effectLst/>
                          <a:latin typeface="Yekan Bakh" pitchFamily="2" charset="-78"/>
                          <a:ea typeface="Yekan Bakh" pitchFamily="2" charset="-78"/>
                          <a:cs typeface="Yekan Bakh" pitchFamily="2" charset="-78"/>
                        </a:rPr>
                        <a:t>هستی</a:t>
                      </a:r>
                      <a:r>
                        <a:rPr lang="fa-IR" sz="1100" b="1" i="0" kern="1200" dirty="0">
                          <a:solidFill>
                            <a:schemeClr val="lt1"/>
                          </a:solidFill>
                          <a:effectLst/>
                          <a:latin typeface="Yekan Bakh" pitchFamily="2" charset="-78"/>
                          <a:ea typeface="Yekan Bakh" pitchFamily="2" charset="-78"/>
                          <a:cs typeface="Yekan Bakh" pitchFamily="2" charset="-78"/>
                        </a:rPr>
                        <a:t>)</a:t>
                      </a:r>
                      <a:endParaRPr lang="en-GB" sz="1100" dirty="0">
                        <a:latin typeface="Yekan Bakh" pitchFamily="2" charset="-78"/>
                        <a:ea typeface="Yekan Bakh" pitchFamily="2" charset="-78"/>
                        <a:cs typeface="Yekan Bakh" pitchFamily="2" charset="-78"/>
                      </a:endParaRPr>
                    </a:p>
                  </a:txBody>
                  <a:tcPr marL="66318" marR="66318" marT="33159" marB="33159" anchor="ctr">
                    <a:solidFill>
                      <a:srgbClr val="1E2761"/>
                    </a:solidFill>
                  </a:tcPr>
                </a:tc>
                <a:tc>
                  <a:txBody>
                    <a:bodyPr/>
                    <a:lstStyle/>
                    <a:p>
                      <a:pPr algn="ctr" rtl="1"/>
                      <a:r>
                        <a:rPr lang="en-US" sz="1100" b="1" i="0" kern="1200" dirty="0">
                          <a:solidFill>
                            <a:schemeClr val="lt1"/>
                          </a:solidFill>
                          <a:effectLst/>
                          <a:latin typeface="Yekan Bakh" pitchFamily="2" charset="-78"/>
                          <a:ea typeface="Yekan Bakh" pitchFamily="2" charset="-78"/>
                          <a:cs typeface="Yekan Bakh" pitchFamily="2" charset="-78"/>
                        </a:rPr>
                        <a:t>Doing</a:t>
                      </a:r>
                      <a:r>
                        <a:rPr lang="fa-IR" sz="1100" b="1" i="0" kern="1200" dirty="0">
                          <a:solidFill>
                            <a:schemeClr val="lt1"/>
                          </a:solidFill>
                          <a:effectLst/>
                          <a:latin typeface="Yekan Bakh" pitchFamily="2" charset="-78"/>
                          <a:ea typeface="Yekan Bakh" pitchFamily="2" charset="-78"/>
                          <a:cs typeface="Yekan Bakh" pitchFamily="2" charset="-78"/>
                        </a:rPr>
                        <a:t> (</a:t>
                      </a:r>
                      <a:r>
                        <a:rPr lang="en-US" sz="1100" b="1" i="0" kern="1200" dirty="0" err="1">
                          <a:solidFill>
                            <a:schemeClr val="lt1"/>
                          </a:solidFill>
                          <a:effectLst/>
                          <a:latin typeface="Yekan Bakh" pitchFamily="2" charset="-78"/>
                          <a:ea typeface="Yekan Bakh" pitchFamily="2" charset="-78"/>
                          <a:cs typeface="Yekan Bakh" pitchFamily="2" charset="-78"/>
                        </a:rPr>
                        <a:t>فعالیت</a:t>
                      </a:r>
                      <a:r>
                        <a:rPr lang="fa-IR" sz="1100" b="1" i="0" kern="1200" dirty="0">
                          <a:solidFill>
                            <a:schemeClr val="lt1"/>
                          </a:solidFill>
                          <a:effectLst/>
                          <a:latin typeface="Yekan Bakh" pitchFamily="2" charset="-78"/>
                          <a:ea typeface="Yekan Bakh" pitchFamily="2" charset="-78"/>
                          <a:cs typeface="Yekan Bakh" pitchFamily="2" charset="-78"/>
                        </a:rPr>
                        <a:t>)</a:t>
                      </a:r>
                      <a:endParaRPr lang="en-GB" sz="1100" dirty="0">
                        <a:latin typeface="Yekan Bakh" pitchFamily="2" charset="-78"/>
                        <a:ea typeface="Yekan Bakh" pitchFamily="2" charset="-78"/>
                        <a:cs typeface="Yekan Bakh" pitchFamily="2" charset="-78"/>
                      </a:endParaRPr>
                    </a:p>
                  </a:txBody>
                  <a:tcPr marL="66318" marR="66318" marT="33159" marB="33159" anchor="ctr">
                    <a:solidFill>
                      <a:srgbClr val="1E2761"/>
                    </a:solidFill>
                  </a:tcPr>
                </a:tc>
                <a:tc>
                  <a:txBody>
                    <a:bodyPr/>
                    <a:lstStyle/>
                    <a:p>
                      <a:pPr algn="ctr" rtl="1"/>
                      <a:r>
                        <a:rPr lang="en-US" sz="1100" b="1" i="0" kern="1200" dirty="0" err="1">
                          <a:solidFill>
                            <a:schemeClr val="lt1"/>
                          </a:solidFill>
                          <a:effectLst/>
                          <a:latin typeface="Yekan Bakh" pitchFamily="2" charset="-78"/>
                          <a:ea typeface="Yekan Bakh" pitchFamily="2" charset="-78"/>
                          <a:cs typeface="Yekan Bakh" pitchFamily="2" charset="-78"/>
                        </a:rPr>
                        <a:t>معیار</a:t>
                      </a:r>
                      <a:endParaRPr lang="en-GB" sz="1100" dirty="0">
                        <a:latin typeface="Yekan Bakh" pitchFamily="2" charset="-78"/>
                        <a:ea typeface="Yekan Bakh" pitchFamily="2" charset="-78"/>
                        <a:cs typeface="Yekan Bakh" pitchFamily="2" charset="-78"/>
                      </a:endParaRPr>
                    </a:p>
                  </a:txBody>
                  <a:tcPr marL="66318" marR="66318" marT="33159" marB="33159" anchor="ctr">
                    <a:solidFill>
                      <a:srgbClr val="1E2761"/>
                    </a:solidFill>
                  </a:tcPr>
                </a:tc>
                <a:extLst>
                  <a:ext uri="{0D108BD9-81ED-4DB2-BD59-A6C34878D82A}">
                    <a16:rowId xmlns:a16="http://schemas.microsoft.com/office/drawing/2014/main" val="4153822292"/>
                  </a:ext>
                </a:extLst>
              </a:tr>
              <a:tr h="348497">
                <a:tc>
                  <a:txBody>
                    <a:bodyPr/>
                    <a:lstStyle/>
                    <a:p>
                      <a:pPr algn="r" rtl="1"/>
                      <a:r>
                        <a:rPr lang="en-US" sz="1000" b="1" i="0" kern="1200" dirty="0" err="1">
                          <a:solidFill>
                            <a:schemeClr val="tx1">
                              <a:lumMod val="75000"/>
                              <a:lumOff val="25000"/>
                            </a:schemeClr>
                          </a:solidFill>
                          <a:effectLst/>
                          <a:latin typeface="Yekan Bakh" pitchFamily="2" charset="-78"/>
                          <a:ea typeface="Yekan Bakh" pitchFamily="2" charset="-78"/>
                          <a:cs typeface="Yekan Bakh" pitchFamily="2" charset="-78"/>
                        </a:rPr>
                        <a:t>ذخیره</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 </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با</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هر</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بار</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استفاده</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مصرف</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نمی‌شود</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fa-IR" sz="1000" b="0" i="0" kern="1200" dirty="0">
                          <a:solidFill>
                            <a:schemeClr val="tx1">
                              <a:lumMod val="75000"/>
                              <a:lumOff val="25000"/>
                            </a:schemeClr>
                          </a:solidFill>
                          <a:effectLst/>
                          <a:latin typeface="Yekan Bakh" pitchFamily="2" charset="-78"/>
                          <a:ea typeface="Yekan Bakh" pitchFamily="2" charset="-78"/>
                          <a:cs typeface="Yekan Bakh" pitchFamily="2" charset="-78"/>
                        </a:rPr>
                        <a:t>(</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اما</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با</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سوءاستفاده</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کاهش</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می‌یابد</a:t>
                      </a:r>
                      <a:r>
                        <a:rPr lang="fa-IR" sz="1000" b="0" i="0" kern="1200" dirty="0">
                          <a:solidFill>
                            <a:schemeClr val="tx1">
                              <a:lumMod val="75000"/>
                              <a:lumOff val="25000"/>
                            </a:schemeClr>
                          </a:solidFill>
                          <a:effectLst/>
                          <a:latin typeface="Yekan Bakh" pitchFamily="2" charset="-78"/>
                          <a:ea typeface="Yekan Bakh" pitchFamily="2" charset="-78"/>
                          <a:cs typeface="Yekan Bakh" pitchFamily="2" charset="-78"/>
                        </a:rPr>
                        <a:t>)</a:t>
                      </a:r>
                      <a:endParaRPr lang="en-GB" sz="1000" dirty="0">
                        <a:solidFill>
                          <a:schemeClr val="tx1">
                            <a:lumMod val="75000"/>
                            <a:lumOff val="25000"/>
                          </a:schemeClr>
                        </a:solidFill>
                        <a:latin typeface="Yekan Bakh" pitchFamily="2" charset="-78"/>
                        <a:ea typeface="Yekan Bakh" pitchFamily="2" charset="-78"/>
                        <a:cs typeface="Yekan Bakh" pitchFamily="2" charset="-78"/>
                      </a:endParaRPr>
                    </a:p>
                  </a:txBody>
                  <a:tcPr marL="66318" marR="66318" marT="33159" marB="33159" anchor="ctr">
                    <a:solidFill>
                      <a:schemeClr val="bg1">
                        <a:lumMod val="95000"/>
                        <a:alpha val="20000"/>
                      </a:schemeClr>
                    </a:solidFill>
                  </a:tcPr>
                </a:tc>
                <a:tc>
                  <a:txBody>
                    <a:bodyPr/>
                    <a:lstStyle/>
                    <a:p>
                      <a:pPr algn="r" rtl="1"/>
                      <a:r>
                        <a:rPr lang="en-US" sz="1000" b="1" i="0" kern="1200" dirty="0" err="1">
                          <a:solidFill>
                            <a:schemeClr val="tx1">
                              <a:lumMod val="75000"/>
                              <a:lumOff val="25000"/>
                            </a:schemeClr>
                          </a:solidFill>
                          <a:effectLst/>
                          <a:latin typeface="Yekan Bakh" pitchFamily="2" charset="-78"/>
                          <a:ea typeface="Yekan Bakh" pitchFamily="2" charset="-78"/>
                          <a:cs typeface="Yekan Bakh" pitchFamily="2" charset="-78"/>
                        </a:rPr>
                        <a:t>جریان</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 </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با</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هر</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واحد</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تولید</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مصرف</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می‌شود</a:t>
                      </a:r>
                      <a:endParaRPr lang="en-GB" sz="1000" dirty="0">
                        <a:solidFill>
                          <a:schemeClr val="tx1">
                            <a:lumMod val="75000"/>
                            <a:lumOff val="25000"/>
                          </a:schemeClr>
                        </a:solidFill>
                        <a:latin typeface="Yekan Bakh" pitchFamily="2" charset="-78"/>
                        <a:ea typeface="Yekan Bakh" pitchFamily="2" charset="-78"/>
                        <a:cs typeface="Yekan Bakh" pitchFamily="2" charset="-78"/>
                      </a:endParaRPr>
                    </a:p>
                  </a:txBody>
                  <a:tcPr marL="66318" marR="66318" marT="33159" marB="33159" anchor="ctr">
                    <a:solidFill>
                      <a:schemeClr val="bg1">
                        <a:lumMod val="95000"/>
                        <a:alpha val="20000"/>
                      </a:schemeClr>
                    </a:solidFill>
                  </a:tcPr>
                </a:tc>
                <a:tc>
                  <a:txBody>
                    <a:bodyPr/>
                    <a:lstStyle/>
                    <a:p>
                      <a:pPr algn="ctr" rtl="1"/>
                      <a:r>
                        <a:rPr lang="en-US" sz="1000" b="1" i="0" kern="1200" dirty="0" err="1">
                          <a:solidFill>
                            <a:srgbClr val="1E2761"/>
                          </a:solidFill>
                          <a:effectLst/>
                          <a:latin typeface="Yekan Bakh" pitchFamily="2" charset="-78"/>
                          <a:ea typeface="Yekan Bakh" pitchFamily="2" charset="-78"/>
                          <a:cs typeface="Yekan Bakh" pitchFamily="2" charset="-78"/>
                        </a:rPr>
                        <a:t>ماهیت</a:t>
                      </a:r>
                      <a:r>
                        <a:rPr lang="en-US" sz="1000" b="1" i="0" kern="1200" dirty="0">
                          <a:solidFill>
                            <a:srgbClr val="1E2761"/>
                          </a:solidFill>
                          <a:effectLst/>
                          <a:latin typeface="Yekan Bakh" pitchFamily="2" charset="-78"/>
                          <a:ea typeface="Yekan Bakh" pitchFamily="2" charset="-78"/>
                          <a:cs typeface="Yekan Bakh" pitchFamily="2" charset="-78"/>
                        </a:rPr>
                        <a:t> </a:t>
                      </a:r>
                      <a:r>
                        <a:rPr lang="en-US" sz="1000" b="1" i="0" kern="1200" dirty="0" err="1">
                          <a:solidFill>
                            <a:srgbClr val="1E2761"/>
                          </a:solidFill>
                          <a:effectLst/>
                          <a:latin typeface="Yekan Bakh" pitchFamily="2" charset="-78"/>
                          <a:ea typeface="Yekan Bakh" pitchFamily="2" charset="-78"/>
                          <a:cs typeface="Yekan Bakh" pitchFamily="2" charset="-78"/>
                        </a:rPr>
                        <a:t>اقتصادی</a:t>
                      </a:r>
                      <a:endParaRPr lang="en-GB" sz="1000" dirty="0">
                        <a:solidFill>
                          <a:srgbClr val="1E2761"/>
                        </a:solidFill>
                        <a:latin typeface="Yekan Bakh" pitchFamily="2" charset="-78"/>
                        <a:ea typeface="Yekan Bakh" pitchFamily="2" charset="-78"/>
                        <a:cs typeface="Yekan Bakh" pitchFamily="2" charset="-78"/>
                      </a:endParaRPr>
                    </a:p>
                  </a:txBody>
                  <a:tcPr marL="66318" marR="66318" marT="33159" marB="33159" anchor="ctr">
                    <a:solidFill>
                      <a:schemeClr val="bg1">
                        <a:lumMod val="95000"/>
                        <a:alpha val="20000"/>
                      </a:schemeClr>
                    </a:solidFill>
                  </a:tcPr>
                </a:tc>
                <a:extLst>
                  <a:ext uri="{0D108BD9-81ED-4DB2-BD59-A6C34878D82A}">
                    <a16:rowId xmlns:a16="http://schemas.microsoft.com/office/drawing/2014/main" val="328930996"/>
                  </a:ext>
                </a:extLst>
              </a:tr>
              <a:tr h="361109">
                <a:tc>
                  <a:txBody>
                    <a:bodyPr/>
                    <a:lstStyle/>
                    <a:p>
                      <a:pPr algn="r" rtl="1"/>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خروجی</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تقریباً</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مستقل</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از</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ساعت</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تابع</a:t>
                      </a:r>
                      <a:r>
                        <a:rPr lang="fa-IR" sz="10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چه</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کسی</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هستید</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a:t>
                      </a:r>
                      <a:r>
                        <a:rPr lang="fa-IR" sz="10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و</a:t>
                      </a:r>
                      <a:r>
                        <a:rPr lang="fa-IR" sz="10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چه</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چیزی</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امضا</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می‌کنید</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a:t>
                      </a:r>
                      <a:endParaRPr lang="en-GB" sz="1000" dirty="0">
                        <a:solidFill>
                          <a:schemeClr val="tx1">
                            <a:lumMod val="75000"/>
                            <a:lumOff val="25000"/>
                          </a:schemeClr>
                        </a:solidFill>
                        <a:latin typeface="Yekan Bakh" pitchFamily="2" charset="-78"/>
                        <a:ea typeface="Yekan Bakh" pitchFamily="2" charset="-78"/>
                        <a:cs typeface="Yekan Bakh" pitchFamily="2" charset="-78"/>
                      </a:endParaRPr>
                    </a:p>
                  </a:txBody>
                  <a:tcPr marL="66318" marR="66318" marT="33159" marB="33159" anchor="ctr">
                    <a:solidFill>
                      <a:srgbClr val="1E2761">
                        <a:alpha val="20000"/>
                      </a:srgbClr>
                    </a:solidFill>
                  </a:tcPr>
                </a:tc>
                <a:tc>
                  <a:txBody>
                    <a:bodyPr/>
                    <a:lstStyle/>
                    <a:p>
                      <a:pPr algn="r" rtl="1"/>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خروجی</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مستقیماً</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تابع</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ساعت</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صرف‌شده</a:t>
                      </a:r>
                      <a:endParaRPr lang="en-GB" sz="1000" dirty="0">
                        <a:solidFill>
                          <a:schemeClr val="tx1">
                            <a:lumMod val="75000"/>
                            <a:lumOff val="25000"/>
                          </a:schemeClr>
                        </a:solidFill>
                        <a:latin typeface="Yekan Bakh" pitchFamily="2" charset="-78"/>
                        <a:ea typeface="Yekan Bakh" pitchFamily="2" charset="-78"/>
                        <a:cs typeface="Yekan Bakh" pitchFamily="2" charset="-78"/>
                      </a:endParaRPr>
                    </a:p>
                  </a:txBody>
                  <a:tcPr marL="66318" marR="66318" marT="33159" marB="33159" anchor="ctr">
                    <a:solidFill>
                      <a:srgbClr val="1E2761">
                        <a:alpha val="20000"/>
                      </a:srgbClr>
                    </a:solidFill>
                  </a:tcPr>
                </a:tc>
                <a:tc>
                  <a:txBody>
                    <a:bodyPr/>
                    <a:lstStyle/>
                    <a:p>
                      <a:pPr algn="ctr" rtl="1"/>
                      <a:r>
                        <a:rPr lang="en-US" sz="1000" b="1" i="0" kern="1200" dirty="0" err="1">
                          <a:solidFill>
                            <a:srgbClr val="1E2761"/>
                          </a:solidFill>
                          <a:effectLst/>
                          <a:latin typeface="Yekan Bakh" pitchFamily="2" charset="-78"/>
                          <a:ea typeface="Yekan Bakh" pitchFamily="2" charset="-78"/>
                          <a:cs typeface="Yekan Bakh" pitchFamily="2" charset="-78"/>
                        </a:rPr>
                        <a:t>رابطه</a:t>
                      </a:r>
                      <a:r>
                        <a:rPr lang="en-US" sz="1000" b="1" i="0" kern="1200" dirty="0">
                          <a:solidFill>
                            <a:srgbClr val="1E2761"/>
                          </a:solidFill>
                          <a:effectLst/>
                          <a:latin typeface="Yekan Bakh" pitchFamily="2" charset="-78"/>
                          <a:ea typeface="Yekan Bakh" pitchFamily="2" charset="-78"/>
                          <a:cs typeface="Yekan Bakh" pitchFamily="2" charset="-78"/>
                        </a:rPr>
                        <a:t> </a:t>
                      </a:r>
                      <a:r>
                        <a:rPr lang="en-US" sz="1000" b="1" i="0" kern="1200" dirty="0" err="1">
                          <a:solidFill>
                            <a:srgbClr val="1E2761"/>
                          </a:solidFill>
                          <a:effectLst/>
                          <a:latin typeface="Yekan Bakh" pitchFamily="2" charset="-78"/>
                          <a:ea typeface="Yekan Bakh" pitchFamily="2" charset="-78"/>
                          <a:cs typeface="Yekan Bakh" pitchFamily="2" charset="-78"/>
                        </a:rPr>
                        <a:t>با</a:t>
                      </a:r>
                      <a:r>
                        <a:rPr lang="en-US" sz="1000" b="1" i="0" kern="1200" dirty="0">
                          <a:solidFill>
                            <a:srgbClr val="1E2761"/>
                          </a:solidFill>
                          <a:effectLst/>
                          <a:latin typeface="Yekan Bakh" pitchFamily="2" charset="-78"/>
                          <a:ea typeface="Yekan Bakh" pitchFamily="2" charset="-78"/>
                          <a:cs typeface="Yekan Bakh" pitchFamily="2" charset="-78"/>
                        </a:rPr>
                        <a:t> </a:t>
                      </a:r>
                      <a:r>
                        <a:rPr lang="en-US" sz="1000" b="1" i="0" kern="1200" dirty="0" err="1">
                          <a:solidFill>
                            <a:srgbClr val="1E2761"/>
                          </a:solidFill>
                          <a:effectLst/>
                          <a:latin typeface="Yekan Bakh" pitchFamily="2" charset="-78"/>
                          <a:ea typeface="Yekan Bakh" pitchFamily="2" charset="-78"/>
                          <a:cs typeface="Yekan Bakh" pitchFamily="2" charset="-78"/>
                        </a:rPr>
                        <a:t>زمان</a:t>
                      </a:r>
                      <a:endParaRPr lang="en-GB" sz="1000" dirty="0">
                        <a:solidFill>
                          <a:srgbClr val="1E2761"/>
                        </a:solidFill>
                        <a:latin typeface="Yekan Bakh" pitchFamily="2" charset="-78"/>
                        <a:ea typeface="Yekan Bakh" pitchFamily="2" charset="-78"/>
                        <a:cs typeface="Yekan Bakh" pitchFamily="2" charset="-78"/>
                      </a:endParaRPr>
                    </a:p>
                  </a:txBody>
                  <a:tcPr marL="66318" marR="66318" marT="33159" marB="33159" anchor="ctr">
                    <a:solidFill>
                      <a:srgbClr val="1E2761">
                        <a:alpha val="20000"/>
                      </a:srgbClr>
                    </a:solidFill>
                  </a:tcPr>
                </a:tc>
                <a:extLst>
                  <a:ext uri="{0D108BD9-81ED-4DB2-BD59-A6C34878D82A}">
                    <a16:rowId xmlns:a16="http://schemas.microsoft.com/office/drawing/2014/main" val="553355467"/>
                  </a:ext>
                </a:extLst>
              </a:tr>
              <a:tr h="290324">
                <a:tc>
                  <a:txBody>
                    <a:bodyPr/>
                    <a:lstStyle/>
                    <a:p>
                      <a:pPr algn="r" rtl="1"/>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غیرخطی</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یک</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معرفی</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می‌تواند</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چند</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معامله</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بسازد</a:t>
                      </a:r>
                      <a:endParaRPr lang="en-GB" sz="1000" dirty="0">
                        <a:solidFill>
                          <a:schemeClr val="tx1">
                            <a:lumMod val="75000"/>
                            <a:lumOff val="25000"/>
                          </a:schemeClr>
                        </a:solidFill>
                        <a:latin typeface="Yekan Bakh" pitchFamily="2" charset="-78"/>
                        <a:ea typeface="Yekan Bakh" pitchFamily="2" charset="-78"/>
                        <a:cs typeface="Yekan Bakh" pitchFamily="2" charset="-78"/>
                      </a:endParaRPr>
                    </a:p>
                  </a:txBody>
                  <a:tcPr marL="66318" marR="66318" marT="33159" marB="33159" anchor="ctr">
                    <a:solidFill>
                      <a:schemeClr val="bg1">
                        <a:lumMod val="95000"/>
                        <a:alpha val="20000"/>
                      </a:schemeClr>
                    </a:solidFill>
                  </a:tcPr>
                </a:tc>
                <a:tc>
                  <a:txBody>
                    <a:bodyPr/>
                    <a:lstStyle/>
                    <a:p>
                      <a:pPr algn="r" rtl="1"/>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خطی</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و </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سقف‌دار</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برای</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رشد</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باید</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نفر</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اضافه</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کرد</a:t>
                      </a:r>
                      <a:endParaRPr lang="en-GB" sz="1000" dirty="0">
                        <a:solidFill>
                          <a:schemeClr val="tx1">
                            <a:lumMod val="75000"/>
                            <a:lumOff val="25000"/>
                          </a:schemeClr>
                        </a:solidFill>
                        <a:latin typeface="Yekan Bakh" pitchFamily="2" charset="-78"/>
                        <a:ea typeface="Yekan Bakh" pitchFamily="2" charset="-78"/>
                        <a:cs typeface="Yekan Bakh" pitchFamily="2" charset="-78"/>
                      </a:endParaRPr>
                    </a:p>
                  </a:txBody>
                  <a:tcPr marL="66318" marR="66318" marT="33159" marB="33159" anchor="ctr">
                    <a:solidFill>
                      <a:schemeClr val="bg1">
                        <a:lumMod val="95000"/>
                        <a:alpha val="20000"/>
                      </a:schemeClr>
                    </a:solidFill>
                  </a:tcPr>
                </a:tc>
                <a:tc>
                  <a:txBody>
                    <a:bodyPr/>
                    <a:lstStyle/>
                    <a:p>
                      <a:pPr algn="ctr" rtl="1"/>
                      <a:r>
                        <a:rPr lang="en-US" sz="1000" b="1" i="0" kern="1200" dirty="0" err="1">
                          <a:solidFill>
                            <a:srgbClr val="1E2761"/>
                          </a:solidFill>
                          <a:effectLst/>
                          <a:latin typeface="Yekan Bakh" pitchFamily="2" charset="-78"/>
                          <a:ea typeface="Yekan Bakh" pitchFamily="2" charset="-78"/>
                          <a:cs typeface="Yekan Bakh" pitchFamily="2" charset="-78"/>
                        </a:rPr>
                        <a:t>مقیاس‌پذیری</a:t>
                      </a:r>
                      <a:endParaRPr lang="en-GB" sz="1000" dirty="0">
                        <a:solidFill>
                          <a:srgbClr val="1E2761"/>
                        </a:solidFill>
                        <a:latin typeface="Yekan Bakh" pitchFamily="2" charset="-78"/>
                        <a:ea typeface="Yekan Bakh" pitchFamily="2" charset="-78"/>
                        <a:cs typeface="Yekan Bakh" pitchFamily="2" charset="-78"/>
                      </a:endParaRPr>
                    </a:p>
                  </a:txBody>
                  <a:tcPr marL="66318" marR="66318" marT="33159" marB="33159" anchor="ctr">
                    <a:solidFill>
                      <a:schemeClr val="bg1">
                        <a:lumMod val="95000"/>
                        <a:alpha val="20000"/>
                      </a:schemeClr>
                    </a:solidFill>
                  </a:tcPr>
                </a:tc>
                <a:extLst>
                  <a:ext uri="{0D108BD9-81ED-4DB2-BD59-A6C34878D82A}">
                    <a16:rowId xmlns:a16="http://schemas.microsoft.com/office/drawing/2014/main" val="2827220959"/>
                  </a:ext>
                </a:extLst>
              </a:tr>
              <a:tr h="348497">
                <a:tc>
                  <a:txBody>
                    <a:bodyPr/>
                    <a:lstStyle/>
                    <a:p>
                      <a:pPr algn="r" rtl="1"/>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غیرقابل</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تفویض</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اگر</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تفویض</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شود</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ارزشش</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از</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بین</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می‌رود</a:t>
                      </a:r>
                      <a:endParaRPr lang="en-GB" sz="1000" dirty="0">
                        <a:solidFill>
                          <a:schemeClr val="tx1">
                            <a:lumMod val="75000"/>
                            <a:lumOff val="25000"/>
                          </a:schemeClr>
                        </a:solidFill>
                        <a:latin typeface="Yekan Bakh" pitchFamily="2" charset="-78"/>
                        <a:ea typeface="Yekan Bakh" pitchFamily="2" charset="-78"/>
                        <a:cs typeface="Yekan Bakh" pitchFamily="2" charset="-78"/>
                      </a:endParaRPr>
                    </a:p>
                  </a:txBody>
                  <a:tcPr marL="66318" marR="66318" marT="33159" marB="33159" anchor="ctr">
                    <a:solidFill>
                      <a:srgbClr val="1E2761">
                        <a:alpha val="20000"/>
                      </a:srgbClr>
                    </a:solidFill>
                  </a:tcPr>
                </a:tc>
                <a:tc>
                  <a:txBody>
                    <a:bodyPr/>
                    <a:lstStyle/>
                    <a:p>
                      <a:pPr algn="r" rtl="1"/>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قابل</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تفویض</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به</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تیم</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 و </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باید</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تفویض</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شود</a:t>
                      </a:r>
                      <a:endParaRPr lang="en-GB" sz="1000" dirty="0">
                        <a:solidFill>
                          <a:schemeClr val="tx1">
                            <a:lumMod val="75000"/>
                            <a:lumOff val="25000"/>
                          </a:schemeClr>
                        </a:solidFill>
                        <a:latin typeface="Yekan Bakh" pitchFamily="2" charset="-78"/>
                        <a:ea typeface="Yekan Bakh" pitchFamily="2" charset="-78"/>
                        <a:cs typeface="Yekan Bakh" pitchFamily="2" charset="-78"/>
                      </a:endParaRPr>
                    </a:p>
                  </a:txBody>
                  <a:tcPr marL="66318" marR="66318" marT="33159" marB="33159" anchor="ctr">
                    <a:solidFill>
                      <a:srgbClr val="1E2761">
                        <a:alpha val="20000"/>
                      </a:srgbClr>
                    </a:solidFill>
                  </a:tcPr>
                </a:tc>
                <a:tc>
                  <a:txBody>
                    <a:bodyPr/>
                    <a:lstStyle/>
                    <a:p>
                      <a:pPr algn="ctr" rtl="1"/>
                      <a:r>
                        <a:rPr lang="en-US" sz="1000" b="1" i="0" kern="1200" dirty="0" err="1">
                          <a:solidFill>
                            <a:srgbClr val="1E2761"/>
                          </a:solidFill>
                          <a:effectLst/>
                          <a:latin typeface="Yekan Bakh" pitchFamily="2" charset="-78"/>
                          <a:ea typeface="Yekan Bakh" pitchFamily="2" charset="-78"/>
                          <a:cs typeface="Yekan Bakh" pitchFamily="2" charset="-78"/>
                        </a:rPr>
                        <a:t>قابلیت</a:t>
                      </a:r>
                      <a:r>
                        <a:rPr lang="en-US" sz="1000" b="1" i="0" kern="1200" dirty="0">
                          <a:solidFill>
                            <a:srgbClr val="1E2761"/>
                          </a:solidFill>
                          <a:effectLst/>
                          <a:latin typeface="Yekan Bakh" pitchFamily="2" charset="-78"/>
                          <a:ea typeface="Yekan Bakh" pitchFamily="2" charset="-78"/>
                          <a:cs typeface="Yekan Bakh" pitchFamily="2" charset="-78"/>
                        </a:rPr>
                        <a:t> </a:t>
                      </a:r>
                      <a:r>
                        <a:rPr lang="en-US" sz="1000" b="1" i="0" kern="1200" dirty="0" err="1">
                          <a:solidFill>
                            <a:srgbClr val="1E2761"/>
                          </a:solidFill>
                          <a:effectLst/>
                          <a:latin typeface="Yekan Bakh" pitchFamily="2" charset="-78"/>
                          <a:ea typeface="Yekan Bakh" pitchFamily="2" charset="-78"/>
                          <a:cs typeface="Yekan Bakh" pitchFamily="2" charset="-78"/>
                        </a:rPr>
                        <a:t>تفویض</a:t>
                      </a:r>
                      <a:endParaRPr lang="en-GB" sz="1000" dirty="0">
                        <a:solidFill>
                          <a:srgbClr val="1E2761"/>
                        </a:solidFill>
                        <a:latin typeface="Yekan Bakh" pitchFamily="2" charset="-78"/>
                        <a:ea typeface="Yekan Bakh" pitchFamily="2" charset="-78"/>
                        <a:cs typeface="Yekan Bakh" pitchFamily="2" charset="-78"/>
                      </a:endParaRPr>
                    </a:p>
                  </a:txBody>
                  <a:tcPr marL="66318" marR="66318" marT="33159" marB="33159" anchor="ctr">
                    <a:solidFill>
                      <a:srgbClr val="1E2761">
                        <a:alpha val="20000"/>
                      </a:srgbClr>
                    </a:solidFill>
                  </a:tcPr>
                </a:tc>
                <a:extLst>
                  <a:ext uri="{0D108BD9-81ED-4DB2-BD59-A6C34878D82A}">
                    <a16:rowId xmlns:a16="http://schemas.microsoft.com/office/drawing/2014/main" val="1732605864"/>
                  </a:ext>
                </a:extLst>
              </a:tr>
              <a:tr h="290324">
                <a:tc>
                  <a:txBody>
                    <a:bodyPr/>
                    <a:lstStyle/>
                    <a:p>
                      <a:pPr algn="r" rtl="1"/>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دسترسی</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مشروعیت</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ریسکِ</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پذیرفته‌شده</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حق</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مالکیت</a:t>
                      </a:r>
                      <a:endParaRPr lang="en-GB" sz="1000" dirty="0">
                        <a:solidFill>
                          <a:schemeClr val="tx1">
                            <a:lumMod val="75000"/>
                            <a:lumOff val="25000"/>
                          </a:schemeClr>
                        </a:solidFill>
                        <a:latin typeface="Yekan Bakh" pitchFamily="2" charset="-78"/>
                        <a:ea typeface="Yekan Bakh" pitchFamily="2" charset="-78"/>
                        <a:cs typeface="Yekan Bakh" pitchFamily="2" charset="-78"/>
                      </a:endParaRPr>
                    </a:p>
                  </a:txBody>
                  <a:tcPr marL="66318" marR="66318" marT="33159" marB="33159" anchor="ctr">
                    <a:solidFill>
                      <a:schemeClr val="bg1">
                        <a:lumMod val="95000"/>
                        <a:alpha val="20000"/>
                      </a:schemeClr>
                    </a:solidFill>
                  </a:tcPr>
                </a:tc>
                <a:tc>
                  <a:txBody>
                    <a:bodyPr/>
                    <a:lstStyle/>
                    <a:p>
                      <a:pPr algn="r" rtl="1"/>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ساعت</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پروژه</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خروجی</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مشخص</a:t>
                      </a:r>
                      <a:endParaRPr lang="en-GB" sz="1000" dirty="0">
                        <a:solidFill>
                          <a:schemeClr val="tx1">
                            <a:lumMod val="75000"/>
                            <a:lumOff val="25000"/>
                          </a:schemeClr>
                        </a:solidFill>
                        <a:latin typeface="Yekan Bakh" pitchFamily="2" charset="-78"/>
                        <a:ea typeface="Yekan Bakh" pitchFamily="2" charset="-78"/>
                        <a:cs typeface="Yekan Bakh" pitchFamily="2" charset="-78"/>
                      </a:endParaRPr>
                    </a:p>
                  </a:txBody>
                  <a:tcPr marL="66318" marR="66318" marT="33159" marB="33159" anchor="ctr">
                    <a:solidFill>
                      <a:schemeClr val="bg1">
                        <a:lumMod val="95000"/>
                        <a:alpha val="20000"/>
                      </a:schemeClr>
                    </a:solidFill>
                  </a:tcPr>
                </a:tc>
                <a:tc>
                  <a:txBody>
                    <a:bodyPr/>
                    <a:lstStyle/>
                    <a:p>
                      <a:pPr algn="ctr" rtl="1"/>
                      <a:r>
                        <a:rPr lang="en-US" sz="1000" b="1" i="0" kern="1200" dirty="0" err="1">
                          <a:solidFill>
                            <a:srgbClr val="1E2761"/>
                          </a:solidFill>
                          <a:effectLst/>
                          <a:latin typeface="Yekan Bakh" pitchFamily="2" charset="-78"/>
                          <a:ea typeface="Yekan Bakh" pitchFamily="2" charset="-78"/>
                          <a:cs typeface="Yekan Bakh" pitchFamily="2" charset="-78"/>
                        </a:rPr>
                        <a:t>واحد</a:t>
                      </a:r>
                      <a:r>
                        <a:rPr lang="en-US" sz="1000" b="1" i="0" kern="1200" dirty="0">
                          <a:solidFill>
                            <a:srgbClr val="1E2761"/>
                          </a:solidFill>
                          <a:effectLst/>
                          <a:latin typeface="Yekan Bakh" pitchFamily="2" charset="-78"/>
                          <a:ea typeface="Yekan Bakh" pitchFamily="2" charset="-78"/>
                          <a:cs typeface="Yekan Bakh" pitchFamily="2" charset="-78"/>
                        </a:rPr>
                        <a:t> </a:t>
                      </a:r>
                      <a:r>
                        <a:rPr lang="en-US" sz="1000" b="1" i="0" kern="1200" dirty="0" err="1">
                          <a:solidFill>
                            <a:srgbClr val="1E2761"/>
                          </a:solidFill>
                          <a:effectLst/>
                          <a:latin typeface="Yekan Bakh" pitchFamily="2" charset="-78"/>
                          <a:ea typeface="Yekan Bakh" pitchFamily="2" charset="-78"/>
                          <a:cs typeface="Yekan Bakh" pitchFamily="2" charset="-78"/>
                        </a:rPr>
                        <a:t>فروش</a:t>
                      </a:r>
                      <a:endParaRPr lang="en-GB" sz="1000" dirty="0">
                        <a:solidFill>
                          <a:srgbClr val="1E2761"/>
                        </a:solidFill>
                        <a:latin typeface="Yekan Bakh" pitchFamily="2" charset="-78"/>
                        <a:ea typeface="Yekan Bakh" pitchFamily="2" charset="-78"/>
                        <a:cs typeface="Yekan Bakh" pitchFamily="2" charset="-78"/>
                      </a:endParaRPr>
                    </a:p>
                  </a:txBody>
                  <a:tcPr marL="66318" marR="66318" marT="33159" marB="33159" anchor="ctr">
                    <a:solidFill>
                      <a:schemeClr val="bg1">
                        <a:lumMod val="95000"/>
                        <a:alpha val="20000"/>
                      </a:schemeClr>
                    </a:solidFill>
                  </a:tcPr>
                </a:tc>
                <a:extLst>
                  <a:ext uri="{0D108BD9-81ED-4DB2-BD59-A6C34878D82A}">
                    <a16:rowId xmlns:a16="http://schemas.microsoft.com/office/drawing/2014/main" val="3269445242"/>
                  </a:ext>
                </a:extLst>
              </a:tr>
              <a:tr h="348497">
                <a:tc>
                  <a:txBody>
                    <a:bodyPr/>
                    <a:lstStyle/>
                    <a:p>
                      <a:pPr algn="r" rtl="1"/>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سهام</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کری</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حق</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موفقیت</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حق</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ضمانت</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رویالتی</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حق</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عضویت</a:t>
                      </a:r>
                      <a:endParaRPr lang="en-GB" sz="1000" dirty="0">
                        <a:solidFill>
                          <a:schemeClr val="tx1">
                            <a:lumMod val="75000"/>
                            <a:lumOff val="25000"/>
                          </a:schemeClr>
                        </a:solidFill>
                        <a:latin typeface="Yekan Bakh" pitchFamily="2" charset="-78"/>
                        <a:ea typeface="Yekan Bakh" pitchFamily="2" charset="-78"/>
                        <a:cs typeface="Yekan Bakh" pitchFamily="2" charset="-78"/>
                      </a:endParaRPr>
                    </a:p>
                  </a:txBody>
                  <a:tcPr marL="66318" marR="66318" marT="33159" marB="33159" anchor="ctr">
                    <a:solidFill>
                      <a:srgbClr val="1E2761">
                        <a:alpha val="20000"/>
                      </a:srgbClr>
                    </a:solidFill>
                  </a:tcPr>
                </a:tc>
                <a:tc>
                  <a:txBody>
                    <a:bodyPr/>
                    <a:lstStyle/>
                    <a:p>
                      <a:pPr algn="r" rtl="1"/>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حق‌الزحمه</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رتینر</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اشتراک</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به‌ازای</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واحد</a:t>
                      </a:r>
                      <a:endParaRPr lang="en-GB" sz="1000" dirty="0">
                        <a:solidFill>
                          <a:schemeClr val="tx1">
                            <a:lumMod val="75000"/>
                            <a:lumOff val="25000"/>
                          </a:schemeClr>
                        </a:solidFill>
                        <a:latin typeface="Yekan Bakh" pitchFamily="2" charset="-78"/>
                        <a:ea typeface="Yekan Bakh" pitchFamily="2" charset="-78"/>
                        <a:cs typeface="Yekan Bakh" pitchFamily="2" charset="-78"/>
                      </a:endParaRPr>
                    </a:p>
                  </a:txBody>
                  <a:tcPr marL="66318" marR="66318" marT="33159" marB="33159" anchor="ctr">
                    <a:solidFill>
                      <a:srgbClr val="1E2761">
                        <a:alpha val="20000"/>
                      </a:srgbClr>
                    </a:solidFill>
                  </a:tcPr>
                </a:tc>
                <a:tc>
                  <a:txBody>
                    <a:bodyPr/>
                    <a:lstStyle/>
                    <a:p>
                      <a:pPr algn="ctr" rtl="1"/>
                      <a:r>
                        <a:rPr lang="en-US" sz="1000" b="1" i="0" kern="1200" dirty="0" err="1">
                          <a:solidFill>
                            <a:srgbClr val="1E2761"/>
                          </a:solidFill>
                          <a:effectLst/>
                          <a:latin typeface="Yekan Bakh" pitchFamily="2" charset="-78"/>
                          <a:ea typeface="Yekan Bakh" pitchFamily="2" charset="-78"/>
                          <a:cs typeface="Yekan Bakh" pitchFamily="2" charset="-78"/>
                        </a:rPr>
                        <a:t>مدل</a:t>
                      </a:r>
                      <a:r>
                        <a:rPr lang="en-US" sz="1000" b="1" i="0" kern="1200" dirty="0">
                          <a:solidFill>
                            <a:srgbClr val="1E2761"/>
                          </a:solidFill>
                          <a:effectLst/>
                          <a:latin typeface="Yekan Bakh" pitchFamily="2" charset="-78"/>
                          <a:ea typeface="Yekan Bakh" pitchFamily="2" charset="-78"/>
                          <a:cs typeface="Yekan Bakh" pitchFamily="2" charset="-78"/>
                        </a:rPr>
                        <a:t> </a:t>
                      </a:r>
                      <a:r>
                        <a:rPr lang="en-US" sz="1000" b="1" i="0" kern="1200" dirty="0" err="1">
                          <a:solidFill>
                            <a:srgbClr val="1E2761"/>
                          </a:solidFill>
                          <a:effectLst/>
                          <a:latin typeface="Yekan Bakh" pitchFamily="2" charset="-78"/>
                          <a:ea typeface="Yekan Bakh" pitchFamily="2" charset="-78"/>
                          <a:cs typeface="Yekan Bakh" pitchFamily="2" charset="-78"/>
                        </a:rPr>
                        <a:t>درآمدی</a:t>
                      </a:r>
                      <a:r>
                        <a:rPr lang="en-US" sz="1000" b="1" i="0" kern="1200" dirty="0">
                          <a:solidFill>
                            <a:srgbClr val="1E2761"/>
                          </a:solidFill>
                          <a:effectLst/>
                          <a:latin typeface="Yekan Bakh" pitchFamily="2" charset="-78"/>
                          <a:ea typeface="Yekan Bakh" pitchFamily="2" charset="-78"/>
                          <a:cs typeface="Yekan Bakh" pitchFamily="2" charset="-78"/>
                        </a:rPr>
                        <a:t> </a:t>
                      </a:r>
                      <a:r>
                        <a:rPr lang="en-US" sz="1000" b="1" i="0" kern="1200" dirty="0" err="1">
                          <a:solidFill>
                            <a:srgbClr val="1E2761"/>
                          </a:solidFill>
                          <a:effectLst/>
                          <a:latin typeface="Yekan Bakh" pitchFamily="2" charset="-78"/>
                          <a:ea typeface="Yekan Bakh" pitchFamily="2" charset="-78"/>
                          <a:cs typeface="Yekan Bakh" pitchFamily="2" charset="-78"/>
                        </a:rPr>
                        <a:t>طبیعی</a:t>
                      </a:r>
                      <a:endParaRPr lang="en-GB" sz="1000" dirty="0">
                        <a:solidFill>
                          <a:srgbClr val="1E2761"/>
                        </a:solidFill>
                        <a:latin typeface="Yekan Bakh" pitchFamily="2" charset="-78"/>
                        <a:ea typeface="Yekan Bakh" pitchFamily="2" charset="-78"/>
                        <a:cs typeface="Yekan Bakh" pitchFamily="2" charset="-78"/>
                      </a:endParaRPr>
                    </a:p>
                  </a:txBody>
                  <a:tcPr marL="66318" marR="66318" marT="33159" marB="33159" anchor="ctr">
                    <a:solidFill>
                      <a:srgbClr val="1E2761">
                        <a:alpha val="20000"/>
                      </a:srgbClr>
                    </a:solidFill>
                  </a:tcPr>
                </a:tc>
                <a:extLst>
                  <a:ext uri="{0D108BD9-81ED-4DB2-BD59-A6C34878D82A}">
                    <a16:rowId xmlns:a16="http://schemas.microsoft.com/office/drawing/2014/main" val="3858656576"/>
                  </a:ext>
                </a:extLst>
              </a:tr>
              <a:tr h="348497">
                <a:tc>
                  <a:txBody>
                    <a:bodyPr/>
                    <a:lstStyle/>
                    <a:p>
                      <a:pPr algn="r" rtl="1"/>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خروجی</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ادامه</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دارد</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فقط</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نرخ</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خلق</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فرصت</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جدید</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کند</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می‌شود</a:t>
                      </a:r>
                      <a:endParaRPr lang="en-GB" sz="1000" dirty="0">
                        <a:solidFill>
                          <a:schemeClr val="tx1">
                            <a:lumMod val="75000"/>
                            <a:lumOff val="25000"/>
                          </a:schemeClr>
                        </a:solidFill>
                        <a:latin typeface="Yekan Bakh" pitchFamily="2" charset="-78"/>
                        <a:ea typeface="Yekan Bakh" pitchFamily="2" charset="-78"/>
                        <a:cs typeface="Yekan Bakh" pitchFamily="2" charset="-78"/>
                      </a:endParaRPr>
                    </a:p>
                  </a:txBody>
                  <a:tcPr marL="66318" marR="66318" marT="33159" marB="33159" anchor="ctr">
                    <a:solidFill>
                      <a:schemeClr val="bg1">
                        <a:lumMod val="95000"/>
                        <a:alpha val="20000"/>
                      </a:schemeClr>
                    </a:solidFill>
                  </a:tcPr>
                </a:tc>
                <a:tc>
                  <a:txBody>
                    <a:bodyPr/>
                    <a:lstStyle/>
                    <a:p>
                      <a:pPr algn="r" rtl="1"/>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خروجی</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متوقف</a:t>
                      </a:r>
                      <a:r>
                        <a:rPr lang="en-US" sz="10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1000" b="0" i="0" kern="1200" dirty="0" err="1">
                          <a:solidFill>
                            <a:schemeClr val="tx1">
                              <a:lumMod val="75000"/>
                              <a:lumOff val="25000"/>
                            </a:schemeClr>
                          </a:solidFill>
                          <a:effectLst/>
                          <a:latin typeface="Yekan Bakh" pitchFamily="2" charset="-78"/>
                          <a:ea typeface="Yekan Bakh" pitchFamily="2" charset="-78"/>
                          <a:cs typeface="Yekan Bakh" pitchFamily="2" charset="-78"/>
                        </a:rPr>
                        <a:t>می‌شود</a:t>
                      </a:r>
                      <a:endParaRPr lang="en-GB" sz="1000" dirty="0">
                        <a:solidFill>
                          <a:schemeClr val="tx1">
                            <a:lumMod val="75000"/>
                            <a:lumOff val="25000"/>
                          </a:schemeClr>
                        </a:solidFill>
                        <a:latin typeface="Yekan Bakh" pitchFamily="2" charset="-78"/>
                        <a:ea typeface="Yekan Bakh" pitchFamily="2" charset="-78"/>
                        <a:cs typeface="Yekan Bakh" pitchFamily="2" charset="-78"/>
                      </a:endParaRPr>
                    </a:p>
                  </a:txBody>
                  <a:tcPr marL="66318" marR="66318" marT="33159" marB="33159" anchor="ctr">
                    <a:solidFill>
                      <a:schemeClr val="bg1">
                        <a:lumMod val="95000"/>
                        <a:alpha val="20000"/>
                      </a:schemeClr>
                    </a:solidFill>
                  </a:tcPr>
                </a:tc>
                <a:tc>
                  <a:txBody>
                    <a:bodyPr/>
                    <a:lstStyle/>
                    <a:p>
                      <a:pPr algn="ctr" rtl="1"/>
                      <a:r>
                        <a:rPr lang="en-US" sz="1000" b="1" i="0" kern="1200" dirty="0" err="1">
                          <a:solidFill>
                            <a:srgbClr val="1E2761"/>
                          </a:solidFill>
                          <a:effectLst/>
                          <a:latin typeface="Yekan Bakh" pitchFamily="2" charset="-78"/>
                          <a:ea typeface="Yekan Bakh" pitchFamily="2" charset="-78"/>
                          <a:cs typeface="Yekan Bakh" pitchFamily="2" charset="-78"/>
                        </a:rPr>
                        <a:t>وقتی</a:t>
                      </a:r>
                      <a:r>
                        <a:rPr lang="en-US" sz="1000" b="1" i="0" kern="1200" dirty="0">
                          <a:solidFill>
                            <a:srgbClr val="1E2761"/>
                          </a:solidFill>
                          <a:effectLst/>
                          <a:latin typeface="Yekan Bakh" pitchFamily="2" charset="-78"/>
                          <a:ea typeface="Yekan Bakh" pitchFamily="2" charset="-78"/>
                          <a:cs typeface="Yekan Bakh" pitchFamily="2" charset="-78"/>
                        </a:rPr>
                        <a:t> </a:t>
                      </a:r>
                      <a:r>
                        <a:rPr lang="en-US" sz="1000" b="1" i="0" kern="1200" dirty="0" err="1">
                          <a:solidFill>
                            <a:srgbClr val="1E2761"/>
                          </a:solidFill>
                          <a:effectLst/>
                          <a:latin typeface="Yekan Bakh" pitchFamily="2" charset="-78"/>
                          <a:ea typeface="Yekan Bakh" pitchFamily="2" charset="-78"/>
                          <a:cs typeface="Yekan Bakh" pitchFamily="2" charset="-78"/>
                        </a:rPr>
                        <a:t>بنیان‌گذار</a:t>
                      </a:r>
                      <a:r>
                        <a:rPr lang="en-US" sz="1000" b="1" i="0" kern="1200" dirty="0">
                          <a:solidFill>
                            <a:srgbClr val="1E2761"/>
                          </a:solidFill>
                          <a:effectLst/>
                          <a:latin typeface="Yekan Bakh" pitchFamily="2" charset="-78"/>
                          <a:ea typeface="Yekan Bakh" pitchFamily="2" charset="-78"/>
                          <a:cs typeface="Yekan Bakh" pitchFamily="2" charset="-78"/>
                        </a:rPr>
                        <a:t> </a:t>
                      </a:r>
                      <a:r>
                        <a:rPr lang="en-US" sz="1000" b="1" i="0" kern="1200" dirty="0" err="1">
                          <a:solidFill>
                            <a:srgbClr val="1E2761"/>
                          </a:solidFill>
                          <a:effectLst/>
                          <a:latin typeface="Yekan Bakh" pitchFamily="2" charset="-78"/>
                          <a:ea typeface="Yekan Bakh" pitchFamily="2" charset="-78"/>
                          <a:cs typeface="Yekan Bakh" pitchFamily="2" charset="-78"/>
                        </a:rPr>
                        <a:t>غایب</a:t>
                      </a:r>
                      <a:r>
                        <a:rPr lang="en-US" sz="1000" b="1" i="0" kern="1200" dirty="0">
                          <a:solidFill>
                            <a:srgbClr val="1E2761"/>
                          </a:solidFill>
                          <a:effectLst/>
                          <a:latin typeface="Yekan Bakh" pitchFamily="2" charset="-78"/>
                          <a:ea typeface="Yekan Bakh" pitchFamily="2" charset="-78"/>
                          <a:cs typeface="Yekan Bakh" pitchFamily="2" charset="-78"/>
                        </a:rPr>
                        <a:t> </a:t>
                      </a:r>
                      <a:r>
                        <a:rPr lang="en-US" sz="1000" b="1" i="0" kern="1200" dirty="0" err="1">
                          <a:solidFill>
                            <a:srgbClr val="1E2761"/>
                          </a:solidFill>
                          <a:effectLst/>
                          <a:latin typeface="Yekan Bakh" pitchFamily="2" charset="-78"/>
                          <a:ea typeface="Yekan Bakh" pitchFamily="2" charset="-78"/>
                          <a:cs typeface="Yekan Bakh" pitchFamily="2" charset="-78"/>
                        </a:rPr>
                        <a:t>است</a:t>
                      </a:r>
                      <a:endParaRPr lang="en-GB" sz="1000" dirty="0">
                        <a:solidFill>
                          <a:srgbClr val="1E2761"/>
                        </a:solidFill>
                        <a:latin typeface="Yekan Bakh" pitchFamily="2" charset="-78"/>
                        <a:ea typeface="Yekan Bakh" pitchFamily="2" charset="-78"/>
                        <a:cs typeface="Yekan Bakh" pitchFamily="2" charset="-78"/>
                      </a:endParaRPr>
                    </a:p>
                  </a:txBody>
                  <a:tcPr marL="66318" marR="66318" marT="33159" marB="33159" anchor="ctr">
                    <a:solidFill>
                      <a:schemeClr val="bg1">
                        <a:lumMod val="95000"/>
                        <a:alpha val="20000"/>
                      </a:schemeClr>
                    </a:solidFill>
                  </a:tcPr>
                </a:tc>
                <a:extLst>
                  <a:ext uri="{0D108BD9-81ED-4DB2-BD59-A6C34878D82A}">
                    <a16:rowId xmlns:a16="http://schemas.microsoft.com/office/drawing/2014/main" val="3839847536"/>
                  </a:ext>
                </a:extLst>
              </a:tr>
            </a:tbl>
          </a:graphicData>
        </a:graphic>
      </p:graphicFrame>
      <p:sp>
        <p:nvSpPr>
          <p:cNvPr id="6" name="Rectangle: Rounded Corners 5">
            <a:extLst>
              <a:ext uri="{FF2B5EF4-FFF2-40B4-BE49-F238E27FC236}">
                <a16:creationId xmlns:a16="http://schemas.microsoft.com/office/drawing/2014/main" id="{71D24DE2-D703-DC0D-2938-1CE0B5E37D9E}"/>
              </a:ext>
            </a:extLst>
          </p:cNvPr>
          <p:cNvSpPr/>
          <p:nvPr/>
        </p:nvSpPr>
        <p:spPr>
          <a:xfrm>
            <a:off x="1122209" y="4835487"/>
            <a:ext cx="9458632" cy="537024"/>
          </a:xfrm>
          <a:prstGeom prst="roundRect">
            <a:avLst/>
          </a:prstGeom>
          <a:solidFill>
            <a:schemeClr val="bg1">
              <a:lumMod val="95000"/>
              <a:alpha val="42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5" name="TextBox 4">
            <a:extLst>
              <a:ext uri="{FF2B5EF4-FFF2-40B4-BE49-F238E27FC236}">
                <a16:creationId xmlns:a16="http://schemas.microsoft.com/office/drawing/2014/main" id="{FACB2972-D27B-3598-CBC6-3919F5859800}"/>
              </a:ext>
            </a:extLst>
          </p:cNvPr>
          <p:cNvSpPr txBox="1"/>
          <p:nvPr/>
        </p:nvSpPr>
        <p:spPr>
          <a:xfrm>
            <a:off x="1220626" y="4888556"/>
            <a:ext cx="7789915" cy="430887"/>
          </a:xfrm>
          <a:prstGeom prst="rect">
            <a:avLst/>
          </a:prstGeom>
          <a:noFill/>
        </p:spPr>
        <p:txBody>
          <a:bodyPr wrap="square">
            <a:spAutoFit/>
          </a:bodyPr>
          <a:lstStyle/>
          <a:p>
            <a:pPr marL="0" marR="0" lvl="0" indent="0" algn="justLow" defTabSz="1021516" rtl="1"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fa-IR" sz="1100" b="0" i="0" u="none" strike="noStrike" kern="1200" cap="none" spc="0" normalizeH="0" baseline="0" noProof="0" dirty="0">
                <a:ln>
                  <a:noFill/>
                </a:ln>
                <a:solidFill>
                  <a:srgbClr val="1E2761"/>
                </a:solidFill>
                <a:effectLst/>
                <a:uLnTx/>
                <a:uFillTx/>
                <a:latin typeface="Yekan Bakh FaNum" pitchFamily="2" charset="-78"/>
                <a:ea typeface="+mn-ea"/>
                <a:cs typeface="Yekan Bakh FaNum" pitchFamily="2" charset="-78"/>
              </a:rPr>
              <a:t>اگر بتوان کار را به فرد دیگری با همان کیفیت سپرد، آن کار </a:t>
            </a:r>
            <a:r>
              <a:rPr kumimoji="0" lang="en-GB" sz="1100" b="0" i="0" u="none" strike="noStrike" kern="1200" cap="none" spc="0" normalizeH="0" baseline="0" noProof="0" dirty="0">
                <a:ln>
                  <a:noFill/>
                </a:ln>
                <a:solidFill>
                  <a:srgbClr val="1E2761"/>
                </a:solidFill>
                <a:effectLst/>
                <a:uLnTx/>
                <a:uFillTx/>
                <a:latin typeface="Yekan Bakh FaNum" pitchFamily="2" charset="-78"/>
                <a:ea typeface="+mn-ea"/>
                <a:cs typeface="Yekan Bakh FaNum" pitchFamily="2" charset="-78"/>
              </a:rPr>
              <a:t>Doing</a:t>
            </a:r>
            <a:r>
              <a:rPr kumimoji="0" lang="fa-IR" sz="1100" b="0" i="0" u="none" strike="noStrike" kern="1200" cap="none" spc="0" normalizeH="0" baseline="0" noProof="0" dirty="0">
                <a:ln>
                  <a:noFill/>
                </a:ln>
                <a:solidFill>
                  <a:srgbClr val="1E2761"/>
                </a:solidFill>
                <a:effectLst/>
                <a:uLnTx/>
                <a:uFillTx/>
                <a:latin typeface="Yekan Bakh FaNum" pitchFamily="2" charset="-78"/>
                <a:ea typeface="+mn-ea"/>
                <a:cs typeface="Yekan Bakh FaNum" pitchFamily="2" charset="-78"/>
              </a:rPr>
              <a:t> است و باید از بنیان‌گذار جدا شود. اگر با سپردن به دیگری ارزشش صفر شود، </a:t>
            </a:r>
            <a:r>
              <a:rPr kumimoji="0" lang="en-GB" sz="1100" b="0" i="0" u="none" strike="noStrike" kern="1200" cap="none" spc="0" normalizeH="0" baseline="0" noProof="0" dirty="0">
                <a:ln>
                  <a:noFill/>
                </a:ln>
                <a:solidFill>
                  <a:srgbClr val="1E2761"/>
                </a:solidFill>
                <a:effectLst/>
                <a:uLnTx/>
                <a:uFillTx/>
                <a:latin typeface="Yekan Bakh FaNum" pitchFamily="2" charset="-78"/>
                <a:ea typeface="+mn-ea"/>
                <a:cs typeface="Yekan Bakh FaNum" pitchFamily="2" charset="-78"/>
              </a:rPr>
              <a:t>Being</a:t>
            </a:r>
            <a:r>
              <a:rPr kumimoji="0" lang="fa-IR" sz="1100" b="0" i="0" u="none" strike="noStrike" kern="1200" cap="none" spc="0" normalizeH="0" baseline="0" noProof="0" dirty="0">
                <a:ln>
                  <a:noFill/>
                </a:ln>
                <a:solidFill>
                  <a:srgbClr val="1E2761"/>
                </a:solidFill>
                <a:effectLst/>
                <a:uLnTx/>
                <a:uFillTx/>
                <a:latin typeface="Yekan Bakh FaNum" pitchFamily="2" charset="-78"/>
                <a:ea typeface="+mn-ea"/>
                <a:cs typeface="Yekan Bakh FaNum" pitchFamily="2" charset="-78"/>
              </a:rPr>
              <a:t> است و باید قیمت‌گذاری و سهمیه‌بندی شود — نه اینکه رایگان و بی‌حساب مصرف شود.</a:t>
            </a:r>
            <a:endParaRPr kumimoji="0" lang="en-GB" sz="1100" b="0" i="0" u="none" strike="noStrike" kern="1200" cap="none" spc="0" normalizeH="0" baseline="0" noProof="0" dirty="0">
              <a:ln>
                <a:noFill/>
              </a:ln>
              <a:solidFill>
                <a:srgbClr val="1E2761"/>
              </a:solidFill>
              <a:effectLst/>
              <a:uLnTx/>
              <a:uFillTx/>
              <a:latin typeface="Yekan Bakh FaNum" pitchFamily="2" charset="-78"/>
              <a:ea typeface="+mn-ea"/>
              <a:cs typeface="Yekan Bakh FaNum" pitchFamily="2" charset="-78"/>
            </a:endParaRPr>
          </a:p>
        </p:txBody>
      </p:sp>
      <p:sp>
        <p:nvSpPr>
          <p:cNvPr id="10" name="TextBox 9">
            <a:extLst>
              <a:ext uri="{FF2B5EF4-FFF2-40B4-BE49-F238E27FC236}">
                <a16:creationId xmlns:a16="http://schemas.microsoft.com/office/drawing/2014/main" id="{EE26F013-C7B9-F953-4751-90517D445974}"/>
              </a:ext>
            </a:extLst>
          </p:cNvPr>
          <p:cNvSpPr txBox="1"/>
          <p:nvPr/>
        </p:nvSpPr>
        <p:spPr>
          <a:xfrm>
            <a:off x="9247831" y="4973194"/>
            <a:ext cx="1225202" cy="261610"/>
          </a:xfrm>
          <a:prstGeom prst="rect">
            <a:avLst/>
          </a:prstGeom>
          <a:noFill/>
        </p:spPr>
        <p:txBody>
          <a:bodyPr wrap="square">
            <a:spAutoFit/>
          </a:bodyPr>
          <a:lstStyle/>
          <a:p>
            <a:pPr marL="0" marR="0" lvl="0" indent="0" algn="justLow" defTabSz="1021516" rtl="1"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fa-IR" sz="1100" b="1" i="0" u="none" strike="noStrike" kern="1200" cap="none" spc="0" normalizeH="0" baseline="0" noProof="0" dirty="0">
                <a:ln>
                  <a:noFill/>
                </a:ln>
                <a:solidFill>
                  <a:srgbClr val="F0BE0F"/>
                </a:solidFill>
                <a:effectLst/>
                <a:uLnTx/>
                <a:uFillTx/>
                <a:latin typeface="Yekan Bakh FaNum" pitchFamily="2" charset="-78"/>
                <a:ea typeface="+mn-ea"/>
                <a:cs typeface="Yekan Bakh FaNum" pitchFamily="2" charset="-78"/>
              </a:rPr>
              <a:t>آزمون یک‌جمله‌ای</a:t>
            </a:r>
            <a:endParaRPr kumimoji="0" lang="en-GB" sz="1100" b="1" i="0" u="none" strike="noStrike" kern="1200" cap="none" spc="0" normalizeH="0" baseline="0" noProof="0" dirty="0">
              <a:ln>
                <a:noFill/>
              </a:ln>
              <a:solidFill>
                <a:srgbClr val="F0BE0F"/>
              </a:solidFill>
              <a:effectLst/>
              <a:uLnTx/>
              <a:uFillTx/>
              <a:latin typeface="Yekan Bakh FaNum" pitchFamily="2" charset="-78"/>
              <a:ea typeface="+mn-ea"/>
              <a:cs typeface="Yekan Bakh FaNum" pitchFamily="2" charset="-78"/>
            </a:endParaRPr>
          </a:p>
        </p:txBody>
      </p:sp>
      <p:grpSp>
        <p:nvGrpSpPr>
          <p:cNvPr id="19" name="Group 18">
            <a:extLst>
              <a:ext uri="{FF2B5EF4-FFF2-40B4-BE49-F238E27FC236}">
                <a16:creationId xmlns:a16="http://schemas.microsoft.com/office/drawing/2014/main" id="{91C1FED6-D800-20EF-9265-86B11EDDE0FA}"/>
              </a:ext>
            </a:extLst>
          </p:cNvPr>
          <p:cNvGrpSpPr/>
          <p:nvPr/>
        </p:nvGrpSpPr>
        <p:grpSpPr>
          <a:xfrm>
            <a:off x="9118360" y="4916799"/>
            <a:ext cx="129471" cy="374400"/>
            <a:chOff x="9118360" y="4916799"/>
            <a:chExt cx="129471" cy="374400"/>
          </a:xfrm>
        </p:grpSpPr>
        <p:cxnSp>
          <p:nvCxnSpPr>
            <p:cNvPr id="12" name="Straight Connector 11">
              <a:extLst>
                <a:ext uri="{FF2B5EF4-FFF2-40B4-BE49-F238E27FC236}">
                  <a16:creationId xmlns:a16="http://schemas.microsoft.com/office/drawing/2014/main" id="{5174670F-CF76-28F7-241E-1FE88C4E0C42}"/>
                </a:ext>
              </a:extLst>
            </p:cNvPr>
            <p:cNvCxnSpPr>
              <a:cxnSpLocks/>
            </p:cNvCxnSpPr>
            <p:nvPr/>
          </p:nvCxnSpPr>
          <p:spPr>
            <a:xfrm>
              <a:off x="9247831" y="4916799"/>
              <a:ext cx="0" cy="374400"/>
            </a:xfrm>
            <a:prstGeom prst="line">
              <a:avLst/>
            </a:prstGeom>
            <a:ln>
              <a:solidFill>
                <a:srgbClr val="F0BE0F"/>
              </a:solidFill>
              <a:prstDash val="dash"/>
            </a:ln>
          </p:spPr>
          <p:style>
            <a:lnRef idx="1">
              <a:schemeClr val="accent1"/>
            </a:lnRef>
            <a:fillRef idx="0">
              <a:schemeClr val="accent1"/>
            </a:fillRef>
            <a:effectRef idx="0">
              <a:schemeClr val="accent1"/>
            </a:effectRef>
            <a:fontRef idx="minor">
              <a:schemeClr val="tx1"/>
            </a:fontRef>
          </p:style>
        </p:cxnSp>
        <p:sp>
          <p:nvSpPr>
            <p:cNvPr id="13" name="Isosceles Triangle 12">
              <a:extLst>
                <a:ext uri="{FF2B5EF4-FFF2-40B4-BE49-F238E27FC236}">
                  <a16:creationId xmlns:a16="http://schemas.microsoft.com/office/drawing/2014/main" id="{35F7749E-4DDF-6032-846C-9306A9109AFD}"/>
                </a:ext>
              </a:extLst>
            </p:cNvPr>
            <p:cNvSpPr/>
            <p:nvPr/>
          </p:nvSpPr>
          <p:spPr>
            <a:xfrm rot="16200000">
              <a:off x="8982143" y="5053016"/>
              <a:ext cx="374399" cy="101965"/>
            </a:xfrm>
            <a:prstGeom prst="triangle">
              <a:avLst/>
            </a:prstGeom>
            <a:solidFill>
              <a:srgbClr val="F0BE0F">
                <a:alpha val="5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Calibri"/>
              </a:endParaRPr>
            </a:p>
          </p:txBody>
        </p:sp>
      </p:grpSp>
      <p:grpSp>
        <p:nvGrpSpPr>
          <p:cNvPr id="21" name="Group 20">
            <a:extLst>
              <a:ext uri="{FF2B5EF4-FFF2-40B4-BE49-F238E27FC236}">
                <a16:creationId xmlns:a16="http://schemas.microsoft.com/office/drawing/2014/main" id="{BD39C25A-75FA-A5A5-8BB9-7B6C82E8A17B}"/>
              </a:ext>
            </a:extLst>
          </p:cNvPr>
          <p:cNvGrpSpPr/>
          <p:nvPr/>
        </p:nvGrpSpPr>
        <p:grpSpPr>
          <a:xfrm>
            <a:off x="1122209" y="1290517"/>
            <a:ext cx="9458632" cy="537024"/>
            <a:chOff x="1248697" y="1290517"/>
            <a:chExt cx="9458632" cy="537024"/>
          </a:xfrm>
        </p:grpSpPr>
        <p:sp>
          <p:nvSpPr>
            <p:cNvPr id="16" name="Rectangle: Rounded Corners 15">
              <a:extLst>
                <a:ext uri="{FF2B5EF4-FFF2-40B4-BE49-F238E27FC236}">
                  <a16:creationId xmlns:a16="http://schemas.microsoft.com/office/drawing/2014/main" id="{651E9690-D139-30CB-77CB-AFF2DAB8BD30}"/>
                </a:ext>
              </a:extLst>
            </p:cNvPr>
            <p:cNvSpPr/>
            <p:nvPr/>
          </p:nvSpPr>
          <p:spPr>
            <a:xfrm>
              <a:off x="1248697" y="1290517"/>
              <a:ext cx="9458632" cy="537024"/>
            </a:xfrm>
            <a:prstGeom prst="roundRect">
              <a:avLst/>
            </a:prstGeom>
            <a:solidFill>
              <a:schemeClr val="bg1">
                <a:lumMod val="95000"/>
                <a:alpha val="42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7" name="TextBox 16">
              <a:extLst>
                <a:ext uri="{FF2B5EF4-FFF2-40B4-BE49-F238E27FC236}">
                  <a16:creationId xmlns:a16="http://schemas.microsoft.com/office/drawing/2014/main" id="{0734E0AC-1310-0EFE-5B2C-48F6729F3EC2}"/>
                </a:ext>
              </a:extLst>
            </p:cNvPr>
            <p:cNvSpPr txBox="1"/>
            <p:nvPr/>
          </p:nvSpPr>
          <p:spPr>
            <a:xfrm>
              <a:off x="1351810" y="1343586"/>
              <a:ext cx="9252407" cy="430887"/>
            </a:xfrm>
            <a:prstGeom prst="rect">
              <a:avLst/>
            </a:prstGeom>
            <a:noFill/>
          </p:spPr>
          <p:txBody>
            <a:bodyPr wrap="square">
              <a:spAutoFit/>
            </a:bodyPr>
            <a:lstStyle/>
            <a:p>
              <a:pPr marL="0" marR="0" lvl="0" indent="0" algn="justLow" defTabSz="1021516" rtl="1"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«Being»</a:t>
              </a:r>
              <a:r>
                <a:rPr kumimoji="0" lang="fa-IR"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 یک مفهوم </a:t>
              </a:r>
              <a:r>
                <a:rPr lang="fa-IR" sz="1100" dirty="0">
                  <a:solidFill>
                    <a:prstClr val="black">
                      <a:lumMod val="75000"/>
                      <a:lumOff val="25000"/>
                    </a:prstClr>
                  </a:solidFill>
                  <a:latin typeface="Yekan Bakh FaNum" pitchFamily="2" charset="-78"/>
                  <a:cs typeface="Yekan Bakh FaNum" pitchFamily="2" charset="-78"/>
                </a:rPr>
                <a:t>غیرعملیاتی</a:t>
              </a:r>
              <a:r>
                <a:rPr kumimoji="0" lang="fa-IR"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 نیست؛ یک طبقه‌بندی دارایی است. تفاوت آن با</a:t>
              </a:r>
              <a:r>
                <a:rPr kumimoji="0" lang="en-US"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Doing </a:t>
              </a:r>
              <a:r>
                <a:rPr kumimoji="0" lang="fa-IR"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 را می‌توان دقیق و قابل‌آزمون تعریف کرد، و همین تعریف است که تعیین می‌کند چه مدل درآمدی ممکن است و چه مدلی محکوم به شکست.</a:t>
              </a:r>
            </a:p>
          </p:txBody>
        </p:sp>
      </p:grpSp>
    </p:spTree>
    <p:extLst>
      <p:ext uri="{BB962C8B-B14F-4D97-AF65-F5344CB8AC3E}">
        <p14:creationId xmlns:p14="http://schemas.microsoft.com/office/powerpoint/2010/main" val="214794478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FAC12A-F85C-7FE7-B4B1-726EADCB4EA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51AB7B1-12F6-6192-0E1E-2D09194E7EDC}"/>
              </a:ext>
            </a:extLst>
          </p:cNvPr>
          <p:cNvSpPr>
            <a:spLocks noGrp="1"/>
          </p:cNvSpPr>
          <p:nvPr>
            <p:ph type="body" sz="quarter" idx="10"/>
          </p:nvPr>
        </p:nvSpPr>
        <p:spPr/>
        <p:txBody>
          <a:bodyPr/>
          <a:lstStyle/>
          <a:p>
            <a:endParaRPr lang="en-GB"/>
          </a:p>
        </p:txBody>
      </p:sp>
      <p:grpSp>
        <p:nvGrpSpPr>
          <p:cNvPr id="42" name="Group 41">
            <a:extLst>
              <a:ext uri="{FF2B5EF4-FFF2-40B4-BE49-F238E27FC236}">
                <a16:creationId xmlns:a16="http://schemas.microsoft.com/office/drawing/2014/main" id="{C6961EB8-0160-87A2-D141-0E841BD8A93D}"/>
              </a:ext>
            </a:extLst>
          </p:cNvPr>
          <p:cNvGrpSpPr/>
          <p:nvPr/>
        </p:nvGrpSpPr>
        <p:grpSpPr>
          <a:xfrm>
            <a:off x="533440" y="1285214"/>
            <a:ext cx="10710133" cy="438698"/>
            <a:chOff x="533440" y="1404482"/>
            <a:chExt cx="10710133" cy="438698"/>
          </a:xfrm>
        </p:grpSpPr>
        <p:sp>
          <p:nvSpPr>
            <p:cNvPr id="4" name="Left Bracket 3">
              <a:extLst>
                <a:ext uri="{FF2B5EF4-FFF2-40B4-BE49-F238E27FC236}">
                  <a16:creationId xmlns:a16="http://schemas.microsoft.com/office/drawing/2014/main" id="{22A89A04-8EA4-5805-529A-7ECDE5E4A285}"/>
                </a:ext>
              </a:extLst>
            </p:cNvPr>
            <p:cNvSpPr/>
            <p:nvPr/>
          </p:nvSpPr>
          <p:spPr>
            <a:xfrm rot="5400000">
              <a:off x="5837486" y="-3762451"/>
              <a:ext cx="102042" cy="10710133"/>
            </a:xfrm>
            <a:prstGeom prst="leftBracket">
              <a:avLst>
                <a:gd name="adj" fmla="val 0"/>
              </a:avLst>
            </a:prstGeom>
            <a:ln>
              <a:solidFill>
                <a:srgbClr val="F0BE0F"/>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Calibri"/>
              </a:endParaRPr>
            </a:p>
          </p:txBody>
        </p:sp>
        <p:sp>
          <p:nvSpPr>
            <p:cNvPr id="6" name="TextBox 5">
              <a:extLst>
                <a:ext uri="{FF2B5EF4-FFF2-40B4-BE49-F238E27FC236}">
                  <a16:creationId xmlns:a16="http://schemas.microsoft.com/office/drawing/2014/main" id="{3D8D51EF-652C-9CEF-8F9C-5C4BE3556E0F}"/>
                </a:ext>
              </a:extLst>
            </p:cNvPr>
            <p:cNvSpPr txBox="1"/>
            <p:nvPr/>
          </p:nvSpPr>
          <p:spPr>
            <a:xfrm>
              <a:off x="4586963" y="1404482"/>
              <a:ext cx="2603089" cy="276999"/>
            </a:xfrm>
            <a:prstGeom prst="rect">
              <a:avLst/>
            </a:prstGeom>
            <a:solidFill>
              <a:schemeClr val="bg1"/>
            </a:solidFill>
          </p:spPr>
          <p:txBody>
            <a:bodyPr wrap="square"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err="1">
                  <a:ln>
                    <a:noFill/>
                  </a:ln>
                  <a:solidFill>
                    <a:srgbClr val="1E2761"/>
                  </a:solidFill>
                  <a:effectLst/>
                  <a:uLnTx/>
                  <a:uFillTx/>
                  <a:latin typeface="Yekan Bakh" pitchFamily="2" charset="-78"/>
                  <a:ea typeface="Yekan Bakh" pitchFamily="2" charset="-78"/>
                  <a:cs typeface="Yekan Bakh" pitchFamily="2" charset="-78"/>
                </a:rPr>
                <a:t>سه</a:t>
              </a:r>
              <a:r>
                <a:rPr kumimoji="0" lang="en-US" sz="12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 </a:t>
              </a:r>
              <a:r>
                <a:rPr kumimoji="0" lang="en-US" sz="1200" b="1" i="0" u="none" strike="noStrike" kern="1200" cap="none" spc="0" normalizeH="0" baseline="0" noProof="0" dirty="0" err="1">
                  <a:ln>
                    <a:noFill/>
                  </a:ln>
                  <a:solidFill>
                    <a:srgbClr val="1E2761"/>
                  </a:solidFill>
                  <a:effectLst/>
                  <a:uLnTx/>
                  <a:uFillTx/>
                  <a:latin typeface="Yekan Bakh" pitchFamily="2" charset="-78"/>
                  <a:ea typeface="Yekan Bakh" pitchFamily="2" charset="-78"/>
                  <a:cs typeface="Yekan Bakh" pitchFamily="2" charset="-78"/>
                </a:rPr>
                <a:t>سازوکار</a:t>
              </a:r>
              <a:r>
                <a:rPr kumimoji="0" lang="en-US" sz="12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 </a:t>
              </a:r>
              <a:r>
                <a:rPr kumimoji="0" lang="en-US" sz="1200" b="1" i="0" u="none" strike="noStrike" kern="1200" cap="none" spc="0" normalizeH="0" baseline="0" noProof="0" dirty="0" err="1">
                  <a:ln>
                    <a:noFill/>
                  </a:ln>
                  <a:solidFill>
                    <a:srgbClr val="1E2761"/>
                  </a:solidFill>
                  <a:effectLst/>
                  <a:uLnTx/>
                  <a:uFillTx/>
                  <a:latin typeface="Yekan Bakh" pitchFamily="2" charset="-78"/>
                  <a:ea typeface="Yekan Bakh" pitchFamily="2" charset="-78"/>
                  <a:cs typeface="Yekan Bakh" pitchFamily="2" charset="-78"/>
                </a:rPr>
                <a:t>پول‌سازی</a:t>
              </a:r>
              <a:r>
                <a:rPr kumimoji="0" lang="en-US" sz="12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 </a:t>
              </a:r>
              <a:r>
                <a:rPr kumimoji="0" lang="en-US" sz="1200" b="1" i="0" u="none" strike="noStrike" kern="1200" cap="none" spc="0" normalizeH="0" baseline="0" noProof="0" dirty="0" err="1">
                  <a:ln>
                    <a:noFill/>
                  </a:ln>
                  <a:solidFill>
                    <a:srgbClr val="1E2761"/>
                  </a:solidFill>
                  <a:effectLst/>
                  <a:uLnTx/>
                  <a:uFillTx/>
                  <a:latin typeface="Yekan Bakh" pitchFamily="2" charset="-78"/>
                  <a:ea typeface="Yekan Bakh" pitchFamily="2" charset="-78"/>
                  <a:cs typeface="Yekan Bakh" pitchFamily="2" charset="-78"/>
                </a:rPr>
                <a:t>از</a:t>
              </a:r>
              <a:r>
                <a:rPr kumimoji="0" lang="en-US" sz="12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 Being</a:t>
              </a:r>
              <a:endParaRPr kumimoji="0" lang="fa-IR" sz="12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endParaRPr>
            </a:p>
          </p:txBody>
        </p:sp>
        <p:sp>
          <p:nvSpPr>
            <p:cNvPr id="7" name="TextBox 6">
              <a:extLst>
                <a:ext uri="{FF2B5EF4-FFF2-40B4-BE49-F238E27FC236}">
                  <a16:creationId xmlns:a16="http://schemas.microsoft.com/office/drawing/2014/main" id="{20C045CC-F7D3-B20A-5CA6-E62F67306C4D}"/>
                </a:ext>
              </a:extLst>
            </p:cNvPr>
            <p:cNvSpPr txBox="1"/>
            <p:nvPr/>
          </p:nvSpPr>
          <p:spPr>
            <a:xfrm>
              <a:off x="2549228" y="1627736"/>
              <a:ext cx="6678558" cy="215444"/>
            </a:xfrm>
            <a:prstGeom prst="rect">
              <a:avLst/>
            </a:prstGeom>
            <a:solidFill>
              <a:schemeClr val="bg1"/>
            </a:solidFill>
          </p:spPr>
          <p:txBody>
            <a:bodyPr wrap="square" anchor="ctr">
              <a:spAutoFit/>
            </a:bodyPr>
            <a:lstStyle/>
            <a:p>
              <a:pPr marL="0" marR="0" lvl="0" indent="0" algn="ctr" defTabSz="457200" rtl="1" eaLnBrk="1" fontAlgn="auto" latinLnBrk="0" hangingPunct="1">
                <a:lnSpc>
                  <a:spcPct val="100000"/>
                </a:lnSpc>
                <a:spcBef>
                  <a:spcPts val="0"/>
                </a:spcBef>
                <a:spcAft>
                  <a:spcPts val="600"/>
                </a:spcAft>
                <a:buClrTx/>
                <a:buSzTx/>
                <a:buFontTx/>
                <a:buNone/>
                <a:tabLst/>
                <a:defRPr/>
              </a:pPr>
              <a:r>
                <a:rPr kumimoji="0" lang="fa-IR" sz="800" b="0" i="0" u="none" strike="noStrike" kern="1200" cap="none" spc="0" normalizeH="0" baseline="0" noProof="0" dirty="0">
                  <a:ln>
                    <a:noFill/>
                  </a:ln>
                  <a:solidFill>
                    <a:prstClr val="white">
                      <a:lumMod val="65000"/>
                    </a:prstClr>
                  </a:solidFill>
                  <a:effectLst/>
                  <a:uLnTx/>
                  <a:uFillTx/>
                  <a:latin typeface="Yekan Bakh" pitchFamily="2" charset="-78"/>
                  <a:ea typeface="Yekan Bakh" pitchFamily="2" charset="-78"/>
                  <a:cs typeface="Yekan Bakh" pitchFamily="2" charset="-78"/>
                </a:rPr>
                <a:t>تمام مدل‌های ممکن، در نهایت از یکی از این سه مسیر (یا ترکیبشان) عبور می‌کنند. هیچ مسیر چهارمی وجود ندارد که نیازمند کار عملیاتی نباشد.</a:t>
              </a:r>
            </a:p>
          </p:txBody>
        </p:sp>
      </p:grpSp>
      <p:grpSp>
        <p:nvGrpSpPr>
          <p:cNvPr id="43" name="Group 42">
            <a:extLst>
              <a:ext uri="{FF2B5EF4-FFF2-40B4-BE49-F238E27FC236}">
                <a16:creationId xmlns:a16="http://schemas.microsoft.com/office/drawing/2014/main" id="{44D698E9-3A4A-1C2B-77EB-D4E2DE9BE7F7}"/>
              </a:ext>
            </a:extLst>
          </p:cNvPr>
          <p:cNvGrpSpPr/>
          <p:nvPr/>
        </p:nvGrpSpPr>
        <p:grpSpPr>
          <a:xfrm>
            <a:off x="533440" y="1735876"/>
            <a:ext cx="10710133" cy="1638557"/>
            <a:chOff x="533440" y="2053928"/>
            <a:chExt cx="10710133" cy="1638557"/>
          </a:xfrm>
        </p:grpSpPr>
        <p:grpSp>
          <p:nvGrpSpPr>
            <p:cNvPr id="16" name="Group 15">
              <a:extLst>
                <a:ext uri="{FF2B5EF4-FFF2-40B4-BE49-F238E27FC236}">
                  <a16:creationId xmlns:a16="http://schemas.microsoft.com/office/drawing/2014/main" id="{37DE6E2C-FF9B-A5C4-CBBB-6F22FB2FE7F4}"/>
                </a:ext>
              </a:extLst>
            </p:cNvPr>
            <p:cNvGrpSpPr/>
            <p:nvPr/>
          </p:nvGrpSpPr>
          <p:grpSpPr>
            <a:xfrm>
              <a:off x="7957456" y="2053928"/>
              <a:ext cx="3286117" cy="1638557"/>
              <a:chOff x="7957457" y="2046514"/>
              <a:chExt cx="3286117" cy="1638557"/>
            </a:xfrm>
          </p:grpSpPr>
          <p:grpSp>
            <p:nvGrpSpPr>
              <p:cNvPr id="24" name="Group 23">
                <a:extLst>
                  <a:ext uri="{FF2B5EF4-FFF2-40B4-BE49-F238E27FC236}">
                    <a16:creationId xmlns:a16="http://schemas.microsoft.com/office/drawing/2014/main" id="{7FCCF99B-A38C-DA46-15CF-4C021A15861F}"/>
                  </a:ext>
                </a:extLst>
              </p:cNvPr>
              <p:cNvGrpSpPr/>
              <p:nvPr/>
            </p:nvGrpSpPr>
            <p:grpSpPr>
              <a:xfrm>
                <a:off x="7957458" y="2046514"/>
                <a:ext cx="3286116" cy="1638557"/>
                <a:chOff x="7957458" y="2046514"/>
                <a:chExt cx="3286116" cy="1245167"/>
              </a:xfrm>
            </p:grpSpPr>
            <p:grpSp>
              <p:nvGrpSpPr>
                <p:cNvPr id="18" name="Group 17">
                  <a:extLst>
                    <a:ext uri="{FF2B5EF4-FFF2-40B4-BE49-F238E27FC236}">
                      <a16:creationId xmlns:a16="http://schemas.microsoft.com/office/drawing/2014/main" id="{68388DAE-FB96-82EB-A8E5-830970071FCE}"/>
                    </a:ext>
                  </a:extLst>
                </p:cNvPr>
                <p:cNvGrpSpPr/>
                <p:nvPr/>
              </p:nvGrpSpPr>
              <p:grpSpPr>
                <a:xfrm rot="16200000" flipH="1">
                  <a:off x="9061384" y="1079664"/>
                  <a:ext cx="1078263" cy="3286115"/>
                  <a:chOff x="1" y="-175098"/>
                  <a:chExt cx="4551349" cy="6758461"/>
                </a:xfrm>
              </p:grpSpPr>
              <p:sp>
                <p:nvSpPr>
                  <p:cNvPr id="9" name="Freeform 8">
                    <a:extLst>
                      <a:ext uri="{FF2B5EF4-FFF2-40B4-BE49-F238E27FC236}">
                        <a16:creationId xmlns:a16="http://schemas.microsoft.com/office/drawing/2014/main" id="{31376404-7C27-32EA-93E1-D4F051874261}"/>
                      </a:ext>
                    </a:extLst>
                  </p:cNvPr>
                  <p:cNvSpPr>
                    <a:spLocks/>
                  </p:cNvSpPr>
                  <p:nvPr/>
                </p:nvSpPr>
                <p:spPr bwMode="auto">
                  <a:xfrm>
                    <a:off x="1" y="-175098"/>
                    <a:ext cx="4551349" cy="6758461"/>
                  </a:xfrm>
                  <a:custGeom>
                    <a:avLst/>
                    <a:gdLst>
                      <a:gd name="T0" fmla="*/ 29066 w 30070"/>
                      <a:gd name="T1" fmla="*/ 3476 h 25517"/>
                      <a:gd name="T2" fmla="*/ 28066 w 30070"/>
                      <a:gd name="T3" fmla="*/ 5139 h 25517"/>
                      <a:gd name="T4" fmla="*/ 26800 w 30070"/>
                      <a:gd name="T5" fmla="*/ 6470 h 25517"/>
                      <a:gd name="T6" fmla="*/ 25268 w 30070"/>
                      <a:gd name="T7" fmla="*/ 7464 h 25517"/>
                      <a:gd name="T8" fmla="*/ 22959 w 30070"/>
                      <a:gd name="T9" fmla="*/ 8253 h 25517"/>
                      <a:gd name="T10" fmla="*/ 18974 w 30070"/>
                      <a:gd name="T11" fmla="*/ 8616 h 25517"/>
                      <a:gd name="T12" fmla="*/ 13442 w 30070"/>
                      <a:gd name="T13" fmla="*/ 8476 h 25517"/>
                      <a:gd name="T14" fmla="*/ 10755 w 30070"/>
                      <a:gd name="T15" fmla="*/ 8794 h 25517"/>
                      <a:gd name="T16" fmla="*/ 9204 w 30070"/>
                      <a:gd name="T17" fmla="*/ 9363 h 25517"/>
                      <a:gd name="T18" fmla="*/ 8000 w 30070"/>
                      <a:gd name="T19" fmla="*/ 10363 h 25517"/>
                      <a:gd name="T20" fmla="*/ 7718 w 30070"/>
                      <a:gd name="T21" fmla="*/ 11592 h 25517"/>
                      <a:gd name="T22" fmla="*/ 8210 w 30070"/>
                      <a:gd name="T23" fmla="*/ 12550 h 25517"/>
                      <a:gd name="T24" fmla="*/ 9282 w 30070"/>
                      <a:gd name="T25" fmla="*/ 13168 h 25517"/>
                      <a:gd name="T26" fmla="*/ 10909 w 30070"/>
                      <a:gd name="T27" fmla="*/ 13386 h 25517"/>
                      <a:gd name="T28" fmla="*/ 13641 w 30070"/>
                      <a:gd name="T29" fmla="*/ 12976 h 25517"/>
                      <a:gd name="T30" fmla="*/ 17987 w 30070"/>
                      <a:gd name="T31" fmla="*/ 11670 h 25517"/>
                      <a:gd name="T32" fmla="*/ 20239 w 30070"/>
                      <a:gd name="T33" fmla="*/ 11407 h 25517"/>
                      <a:gd name="T34" fmla="*/ 22752 w 30070"/>
                      <a:gd name="T35" fmla="*/ 12048 h 25517"/>
                      <a:gd name="T36" fmla="*/ 24667 w 30070"/>
                      <a:gd name="T37" fmla="*/ 13615 h 25517"/>
                      <a:gd name="T38" fmla="*/ 25582 w 30070"/>
                      <a:gd name="T39" fmla="*/ 15314 h 25517"/>
                      <a:gd name="T40" fmla="*/ 25771 w 30070"/>
                      <a:gd name="T41" fmla="*/ 16655 h 25517"/>
                      <a:gd name="T42" fmla="*/ 25547 w 30070"/>
                      <a:gd name="T43" fmla="*/ 18062 h 25517"/>
                      <a:gd name="T44" fmla="*/ 24345 w 30070"/>
                      <a:gd name="T45" fmla="*/ 20267 h 25517"/>
                      <a:gd name="T46" fmla="*/ 22545 w 30070"/>
                      <a:gd name="T47" fmla="*/ 21826 h 25517"/>
                      <a:gd name="T48" fmla="*/ 20527 w 30070"/>
                      <a:gd name="T49" fmla="*/ 22663 h 25517"/>
                      <a:gd name="T50" fmla="*/ 18121 w 30070"/>
                      <a:gd name="T51" fmla="*/ 22954 h 25517"/>
                      <a:gd name="T52" fmla="*/ 14451 w 30070"/>
                      <a:gd name="T53" fmla="*/ 22560 h 25517"/>
                      <a:gd name="T54" fmla="*/ 8798 w 30070"/>
                      <a:gd name="T55" fmla="*/ 21275 h 25517"/>
                      <a:gd name="T56" fmla="*/ 6225 w 30070"/>
                      <a:gd name="T57" fmla="*/ 21083 h 25517"/>
                      <a:gd name="T58" fmla="*/ 4324 w 30070"/>
                      <a:gd name="T59" fmla="*/ 21545 h 25517"/>
                      <a:gd name="T60" fmla="*/ 3165 w 30070"/>
                      <a:gd name="T61" fmla="*/ 22669 h 25517"/>
                      <a:gd name="T62" fmla="*/ 2575 w 30070"/>
                      <a:gd name="T63" fmla="*/ 24340 h 25517"/>
                      <a:gd name="T64" fmla="*/ 18 w 30070"/>
                      <a:gd name="T65" fmla="*/ 24993 h 25517"/>
                      <a:gd name="T66" fmla="*/ 546 w 30070"/>
                      <a:gd name="T67" fmla="*/ 22604 h 25517"/>
                      <a:gd name="T68" fmla="*/ 2082 w 30070"/>
                      <a:gd name="T69" fmla="*/ 20445 h 25517"/>
                      <a:gd name="T70" fmla="*/ 4559 w 30070"/>
                      <a:gd name="T71" fmla="*/ 19278 h 25517"/>
                      <a:gd name="T72" fmla="*/ 7765 w 30070"/>
                      <a:gd name="T73" fmla="*/ 19097 h 25517"/>
                      <a:gd name="T74" fmla="*/ 12609 w 30070"/>
                      <a:gd name="T75" fmla="*/ 20050 h 25517"/>
                      <a:gd name="T76" fmla="*/ 17389 w 30070"/>
                      <a:gd name="T77" fmla="*/ 20918 h 25517"/>
                      <a:gd name="T78" fmla="*/ 19470 w 30070"/>
                      <a:gd name="T79" fmla="*/ 20799 h 25517"/>
                      <a:gd name="T80" fmla="*/ 20879 w 30070"/>
                      <a:gd name="T81" fmla="*/ 20309 h 25517"/>
                      <a:gd name="T82" fmla="*/ 22060 w 30070"/>
                      <a:gd name="T83" fmla="*/ 19407 h 25517"/>
                      <a:gd name="T84" fmla="*/ 23078 w 30070"/>
                      <a:gd name="T85" fmla="*/ 17790 h 25517"/>
                      <a:gd name="T86" fmla="*/ 23233 w 30070"/>
                      <a:gd name="T87" fmla="*/ 15966 h 25517"/>
                      <a:gd name="T88" fmla="*/ 22584 w 30070"/>
                      <a:gd name="T89" fmla="*/ 14708 h 25517"/>
                      <a:gd name="T90" fmla="*/ 21438 w 30070"/>
                      <a:gd name="T91" fmla="*/ 13761 h 25517"/>
                      <a:gd name="T92" fmla="*/ 19886 w 30070"/>
                      <a:gd name="T93" fmla="*/ 13424 h 25517"/>
                      <a:gd name="T94" fmla="*/ 17425 w 30070"/>
                      <a:gd name="T95" fmla="*/ 13964 h 25517"/>
                      <a:gd name="T96" fmla="*/ 12814 w 30070"/>
                      <a:gd name="T97" fmla="*/ 15242 h 25517"/>
                      <a:gd name="T98" fmla="*/ 10450 w 30070"/>
                      <a:gd name="T99" fmla="*/ 15396 h 25517"/>
                      <a:gd name="T100" fmla="*/ 7847 w 30070"/>
                      <a:gd name="T101" fmla="*/ 14851 h 25517"/>
                      <a:gd name="T102" fmla="*/ 5965 w 30070"/>
                      <a:gd name="T103" fmla="*/ 13451 h 25517"/>
                      <a:gd name="T104" fmla="*/ 5231 w 30070"/>
                      <a:gd name="T105" fmla="*/ 11431 h 25517"/>
                      <a:gd name="T106" fmla="*/ 5424 w 30070"/>
                      <a:gd name="T107" fmla="*/ 10189 h 25517"/>
                      <a:gd name="T108" fmla="*/ 6070 w 30070"/>
                      <a:gd name="T109" fmla="*/ 9077 h 25517"/>
                      <a:gd name="T110" fmla="*/ 7318 w 30070"/>
                      <a:gd name="T111" fmla="*/ 7986 h 25517"/>
                      <a:gd name="T112" fmla="*/ 9827 w 30070"/>
                      <a:gd name="T113" fmla="*/ 6914 h 25517"/>
                      <a:gd name="T114" fmla="*/ 12889 w 30070"/>
                      <a:gd name="T115" fmla="*/ 6476 h 25517"/>
                      <a:gd name="T116" fmla="*/ 18534 w 30070"/>
                      <a:gd name="T117" fmla="*/ 6591 h 25517"/>
                      <a:gd name="T118" fmla="*/ 21917 w 30070"/>
                      <a:gd name="T119" fmla="*/ 6384 h 25517"/>
                      <a:gd name="T120" fmla="*/ 24474 w 30070"/>
                      <a:gd name="T121" fmla="*/ 5468 h 25517"/>
                      <a:gd name="T122" fmla="*/ 26398 w 30070"/>
                      <a:gd name="T123" fmla="*/ 3461 h 25517"/>
                      <a:gd name="T124" fmla="*/ 27570 w 30070"/>
                      <a:gd name="T125" fmla="*/ 304 h 25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0070" h="25517">
                        <a:moveTo>
                          <a:pt x="27633" y="0"/>
                        </a:moveTo>
                        <a:lnTo>
                          <a:pt x="30070" y="316"/>
                        </a:lnTo>
                        <a:lnTo>
                          <a:pt x="30070" y="316"/>
                        </a:lnTo>
                        <a:lnTo>
                          <a:pt x="30032" y="501"/>
                        </a:lnTo>
                        <a:lnTo>
                          <a:pt x="29994" y="684"/>
                        </a:lnTo>
                        <a:lnTo>
                          <a:pt x="29953" y="865"/>
                        </a:lnTo>
                        <a:lnTo>
                          <a:pt x="29911" y="1044"/>
                        </a:lnTo>
                        <a:lnTo>
                          <a:pt x="29866" y="1220"/>
                        </a:lnTo>
                        <a:lnTo>
                          <a:pt x="29820" y="1395"/>
                        </a:lnTo>
                        <a:lnTo>
                          <a:pt x="29773" y="1568"/>
                        </a:lnTo>
                        <a:lnTo>
                          <a:pt x="29724" y="1738"/>
                        </a:lnTo>
                        <a:lnTo>
                          <a:pt x="29672" y="1907"/>
                        </a:lnTo>
                        <a:lnTo>
                          <a:pt x="29620" y="2073"/>
                        </a:lnTo>
                        <a:lnTo>
                          <a:pt x="29565" y="2237"/>
                        </a:lnTo>
                        <a:lnTo>
                          <a:pt x="29508" y="2400"/>
                        </a:lnTo>
                        <a:lnTo>
                          <a:pt x="29451" y="2560"/>
                        </a:lnTo>
                        <a:lnTo>
                          <a:pt x="29391" y="2718"/>
                        </a:lnTo>
                        <a:lnTo>
                          <a:pt x="29329" y="2874"/>
                        </a:lnTo>
                        <a:lnTo>
                          <a:pt x="29266" y="3027"/>
                        </a:lnTo>
                        <a:lnTo>
                          <a:pt x="29234" y="3103"/>
                        </a:lnTo>
                        <a:lnTo>
                          <a:pt x="29202" y="3179"/>
                        </a:lnTo>
                        <a:lnTo>
                          <a:pt x="29168" y="3254"/>
                        </a:lnTo>
                        <a:lnTo>
                          <a:pt x="29134" y="3329"/>
                        </a:lnTo>
                        <a:lnTo>
                          <a:pt x="29101" y="3402"/>
                        </a:lnTo>
                        <a:lnTo>
                          <a:pt x="29066" y="3476"/>
                        </a:lnTo>
                        <a:lnTo>
                          <a:pt x="29032" y="3549"/>
                        </a:lnTo>
                        <a:lnTo>
                          <a:pt x="28996" y="3621"/>
                        </a:lnTo>
                        <a:lnTo>
                          <a:pt x="28960" y="3693"/>
                        </a:lnTo>
                        <a:lnTo>
                          <a:pt x="28924" y="3764"/>
                        </a:lnTo>
                        <a:lnTo>
                          <a:pt x="28888" y="3835"/>
                        </a:lnTo>
                        <a:lnTo>
                          <a:pt x="28851" y="3905"/>
                        </a:lnTo>
                        <a:lnTo>
                          <a:pt x="28813" y="3976"/>
                        </a:lnTo>
                        <a:lnTo>
                          <a:pt x="28775" y="4044"/>
                        </a:lnTo>
                        <a:lnTo>
                          <a:pt x="28737" y="4113"/>
                        </a:lnTo>
                        <a:lnTo>
                          <a:pt x="28699" y="4181"/>
                        </a:lnTo>
                        <a:lnTo>
                          <a:pt x="28660" y="4249"/>
                        </a:lnTo>
                        <a:lnTo>
                          <a:pt x="28619" y="4316"/>
                        </a:lnTo>
                        <a:lnTo>
                          <a:pt x="28580" y="4382"/>
                        </a:lnTo>
                        <a:lnTo>
                          <a:pt x="28539" y="4448"/>
                        </a:lnTo>
                        <a:lnTo>
                          <a:pt x="28499" y="4514"/>
                        </a:lnTo>
                        <a:lnTo>
                          <a:pt x="28457" y="4579"/>
                        </a:lnTo>
                        <a:lnTo>
                          <a:pt x="28415" y="4643"/>
                        </a:lnTo>
                        <a:lnTo>
                          <a:pt x="28373" y="4707"/>
                        </a:lnTo>
                        <a:lnTo>
                          <a:pt x="28331" y="4770"/>
                        </a:lnTo>
                        <a:lnTo>
                          <a:pt x="28287" y="4834"/>
                        </a:lnTo>
                        <a:lnTo>
                          <a:pt x="28244" y="4896"/>
                        </a:lnTo>
                        <a:lnTo>
                          <a:pt x="28200" y="4957"/>
                        </a:lnTo>
                        <a:lnTo>
                          <a:pt x="28156" y="5019"/>
                        </a:lnTo>
                        <a:lnTo>
                          <a:pt x="28111" y="5079"/>
                        </a:lnTo>
                        <a:lnTo>
                          <a:pt x="28066" y="5139"/>
                        </a:lnTo>
                        <a:lnTo>
                          <a:pt x="28021" y="5199"/>
                        </a:lnTo>
                        <a:lnTo>
                          <a:pt x="27975" y="5258"/>
                        </a:lnTo>
                        <a:lnTo>
                          <a:pt x="27928" y="5316"/>
                        </a:lnTo>
                        <a:lnTo>
                          <a:pt x="27881" y="5375"/>
                        </a:lnTo>
                        <a:lnTo>
                          <a:pt x="27834" y="5432"/>
                        </a:lnTo>
                        <a:lnTo>
                          <a:pt x="27787" y="5489"/>
                        </a:lnTo>
                        <a:lnTo>
                          <a:pt x="27738" y="5546"/>
                        </a:lnTo>
                        <a:lnTo>
                          <a:pt x="27690" y="5602"/>
                        </a:lnTo>
                        <a:lnTo>
                          <a:pt x="27641" y="5657"/>
                        </a:lnTo>
                        <a:lnTo>
                          <a:pt x="27591" y="5712"/>
                        </a:lnTo>
                        <a:lnTo>
                          <a:pt x="27541" y="5766"/>
                        </a:lnTo>
                        <a:lnTo>
                          <a:pt x="27491" y="5820"/>
                        </a:lnTo>
                        <a:lnTo>
                          <a:pt x="27441" y="5873"/>
                        </a:lnTo>
                        <a:lnTo>
                          <a:pt x="27389" y="5926"/>
                        </a:lnTo>
                        <a:lnTo>
                          <a:pt x="27338" y="5978"/>
                        </a:lnTo>
                        <a:lnTo>
                          <a:pt x="27286" y="6030"/>
                        </a:lnTo>
                        <a:lnTo>
                          <a:pt x="27233" y="6081"/>
                        </a:lnTo>
                        <a:lnTo>
                          <a:pt x="27181" y="6131"/>
                        </a:lnTo>
                        <a:lnTo>
                          <a:pt x="27128" y="6182"/>
                        </a:lnTo>
                        <a:lnTo>
                          <a:pt x="27075" y="6231"/>
                        </a:lnTo>
                        <a:lnTo>
                          <a:pt x="27020" y="6280"/>
                        </a:lnTo>
                        <a:lnTo>
                          <a:pt x="26966" y="6328"/>
                        </a:lnTo>
                        <a:lnTo>
                          <a:pt x="26911" y="6376"/>
                        </a:lnTo>
                        <a:lnTo>
                          <a:pt x="26855" y="6423"/>
                        </a:lnTo>
                        <a:lnTo>
                          <a:pt x="26800" y="6470"/>
                        </a:lnTo>
                        <a:lnTo>
                          <a:pt x="26744" y="6517"/>
                        </a:lnTo>
                        <a:lnTo>
                          <a:pt x="26686" y="6562"/>
                        </a:lnTo>
                        <a:lnTo>
                          <a:pt x="26630" y="6607"/>
                        </a:lnTo>
                        <a:lnTo>
                          <a:pt x="26573" y="6651"/>
                        </a:lnTo>
                        <a:lnTo>
                          <a:pt x="26514" y="6696"/>
                        </a:lnTo>
                        <a:lnTo>
                          <a:pt x="26456" y="6740"/>
                        </a:lnTo>
                        <a:lnTo>
                          <a:pt x="26398" y="6782"/>
                        </a:lnTo>
                        <a:lnTo>
                          <a:pt x="26338" y="6824"/>
                        </a:lnTo>
                        <a:lnTo>
                          <a:pt x="26279" y="6867"/>
                        </a:lnTo>
                        <a:lnTo>
                          <a:pt x="26219" y="6908"/>
                        </a:lnTo>
                        <a:lnTo>
                          <a:pt x="26158" y="6949"/>
                        </a:lnTo>
                        <a:lnTo>
                          <a:pt x="26097" y="6989"/>
                        </a:lnTo>
                        <a:lnTo>
                          <a:pt x="26037" y="7030"/>
                        </a:lnTo>
                        <a:lnTo>
                          <a:pt x="25974" y="7069"/>
                        </a:lnTo>
                        <a:lnTo>
                          <a:pt x="25913" y="7107"/>
                        </a:lnTo>
                        <a:lnTo>
                          <a:pt x="25850" y="7145"/>
                        </a:lnTo>
                        <a:lnTo>
                          <a:pt x="25787" y="7183"/>
                        </a:lnTo>
                        <a:lnTo>
                          <a:pt x="25724" y="7220"/>
                        </a:lnTo>
                        <a:lnTo>
                          <a:pt x="25659" y="7256"/>
                        </a:lnTo>
                        <a:lnTo>
                          <a:pt x="25596" y="7292"/>
                        </a:lnTo>
                        <a:lnTo>
                          <a:pt x="25531" y="7327"/>
                        </a:lnTo>
                        <a:lnTo>
                          <a:pt x="25466" y="7363"/>
                        </a:lnTo>
                        <a:lnTo>
                          <a:pt x="25401" y="7397"/>
                        </a:lnTo>
                        <a:lnTo>
                          <a:pt x="25335" y="7431"/>
                        </a:lnTo>
                        <a:lnTo>
                          <a:pt x="25268" y="7464"/>
                        </a:lnTo>
                        <a:lnTo>
                          <a:pt x="25202" y="7496"/>
                        </a:lnTo>
                        <a:lnTo>
                          <a:pt x="25134" y="7529"/>
                        </a:lnTo>
                        <a:lnTo>
                          <a:pt x="25067" y="7561"/>
                        </a:lnTo>
                        <a:lnTo>
                          <a:pt x="24999" y="7592"/>
                        </a:lnTo>
                        <a:lnTo>
                          <a:pt x="24930" y="7622"/>
                        </a:lnTo>
                        <a:lnTo>
                          <a:pt x="24862" y="7652"/>
                        </a:lnTo>
                        <a:lnTo>
                          <a:pt x="24793" y="7681"/>
                        </a:lnTo>
                        <a:lnTo>
                          <a:pt x="24723" y="7711"/>
                        </a:lnTo>
                        <a:lnTo>
                          <a:pt x="24653" y="7739"/>
                        </a:lnTo>
                        <a:lnTo>
                          <a:pt x="24582" y="7767"/>
                        </a:lnTo>
                        <a:lnTo>
                          <a:pt x="24512" y="7794"/>
                        </a:lnTo>
                        <a:lnTo>
                          <a:pt x="24441" y="7821"/>
                        </a:lnTo>
                        <a:lnTo>
                          <a:pt x="24368" y="7847"/>
                        </a:lnTo>
                        <a:lnTo>
                          <a:pt x="24297" y="7873"/>
                        </a:lnTo>
                        <a:lnTo>
                          <a:pt x="24223" y="7898"/>
                        </a:lnTo>
                        <a:lnTo>
                          <a:pt x="24223" y="7898"/>
                        </a:lnTo>
                        <a:lnTo>
                          <a:pt x="24087" y="7944"/>
                        </a:lnTo>
                        <a:lnTo>
                          <a:pt x="23949" y="7987"/>
                        </a:lnTo>
                        <a:lnTo>
                          <a:pt x="23811" y="8031"/>
                        </a:lnTo>
                        <a:lnTo>
                          <a:pt x="23671" y="8072"/>
                        </a:lnTo>
                        <a:lnTo>
                          <a:pt x="23531" y="8111"/>
                        </a:lnTo>
                        <a:lnTo>
                          <a:pt x="23390" y="8148"/>
                        </a:lnTo>
                        <a:lnTo>
                          <a:pt x="23248" y="8184"/>
                        </a:lnTo>
                        <a:lnTo>
                          <a:pt x="23104" y="8220"/>
                        </a:lnTo>
                        <a:lnTo>
                          <a:pt x="22959" y="8253"/>
                        </a:lnTo>
                        <a:lnTo>
                          <a:pt x="22813" y="8284"/>
                        </a:lnTo>
                        <a:lnTo>
                          <a:pt x="22666" y="8314"/>
                        </a:lnTo>
                        <a:lnTo>
                          <a:pt x="22518" y="8343"/>
                        </a:lnTo>
                        <a:lnTo>
                          <a:pt x="22368" y="8371"/>
                        </a:lnTo>
                        <a:lnTo>
                          <a:pt x="22216" y="8397"/>
                        </a:lnTo>
                        <a:lnTo>
                          <a:pt x="22062" y="8421"/>
                        </a:lnTo>
                        <a:lnTo>
                          <a:pt x="21907" y="8443"/>
                        </a:lnTo>
                        <a:lnTo>
                          <a:pt x="21750" y="8464"/>
                        </a:lnTo>
                        <a:lnTo>
                          <a:pt x="21591" y="8484"/>
                        </a:lnTo>
                        <a:lnTo>
                          <a:pt x="21431" y="8502"/>
                        </a:lnTo>
                        <a:lnTo>
                          <a:pt x="21268" y="8519"/>
                        </a:lnTo>
                        <a:lnTo>
                          <a:pt x="21104" y="8536"/>
                        </a:lnTo>
                        <a:lnTo>
                          <a:pt x="20937" y="8550"/>
                        </a:lnTo>
                        <a:lnTo>
                          <a:pt x="20768" y="8563"/>
                        </a:lnTo>
                        <a:lnTo>
                          <a:pt x="20597" y="8574"/>
                        </a:lnTo>
                        <a:lnTo>
                          <a:pt x="20424" y="8584"/>
                        </a:lnTo>
                        <a:lnTo>
                          <a:pt x="20248" y="8593"/>
                        </a:lnTo>
                        <a:lnTo>
                          <a:pt x="20069" y="8600"/>
                        </a:lnTo>
                        <a:lnTo>
                          <a:pt x="19888" y="8606"/>
                        </a:lnTo>
                        <a:lnTo>
                          <a:pt x="19705" y="8610"/>
                        </a:lnTo>
                        <a:lnTo>
                          <a:pt x="19519" y="8614"/>
                        </a:lnTo>
                        <a:lnTo>
                          <a:pt x="19329" y="8615"/>
                        </a:lnTo>
                        <a:lnTo>
                          <a:pt x="19137" y="8616"/>
                        </a:lnTo>
                        <a:lnTo>
                          <a:pt x="19137" y="8616"/>
                        </a:lnTo>
                        <a:lnTo>
                          <a:pt x="18974" y="8616"/>
                        </a:lnTo>
                        <a:lnTo>
                          <a:pt x="18811" y="8614"/>
                        </a:lnTo>
                        <a:lnTo>
                          <a:pt x="18648" y="8612"/>
                        </a:lnTo>
                        <a:lnTo>
                          <a:pt x="18485" y="8610"/>
                        </a:lnTo>
                        <a:lnTo>
                          <a:pt x="18322" y="8606"/>
                        </a:lnTo>
                        <a:lnTo>
                          <a:pt x="18159" y="8602"/>
                        </a:lnTo>
                        <a:lnTo>
                          <a:pt x="17834" y="8592"/>
                        </a:lnTo>
                        <a:lnTo>
                          <a:pt x="17509" y="8581"/>
                        </a:lnTo>
                        <a:lnTo>
                          <a:pt x="17186" y="8568"/>
                        </a:lnTo>
                        <a:lnTo>
                          <a:pt x="16548" y="8541"/>
                        </a:lnTo>
                        <a:lnTo>
                          <a:pt x="16548" y="8541"/>
                        </a:lnTo>
                        <a:lnTo>
                          <a:pt x="15914" y="8513"/>
                        </a:lnTo>
                        <a:lnTo>
                          <a:pt x="15603" y="8500"/>
                        </a:lnTo>
                        <a:lnTo>
                          <a:pt x="15295" y="8489"/>
                        </a:lnTo>
                        <a:lnTo>
                          <a:pt x="14990" y="8480"/>
                        </a:lnTo>
                        <a:lnTo>
                          <a:pt x="14686" y="8473"/>
                        </a:lnTo>
                        <a:lnTo>
                          <a:pt x="14534" y="8471"/>
                        </a:lnTo>
                        <a:lnTo>
                          <a:pt x="14383" y="8469"/>
                        </a:lnTo>
                        <a:lnTo>
                          <a:pt x="14232" y="8468"/>
                        </a:lnTo>
                        <a:lnTo>
                          <a:pt x="14082" y="8467"/>
                        </a:lnTo>
                        <a:lnTo>
                          <a:pt x="14082" y="8467"/>
                        </a:lnTo>
                        <a:lnTo>
                          <a:pt x="13951" y="8467"/>
                        </a:lnTo>
                        <a:lnTo>
                          <a:pt x="13821" y="8468"/>
                        </a:lnTo>
                        <a:lnTo>
                          <a:pt x="13692" y="8470"/>
                        </a:lnTo>
                        <a:lnTo>
                          <a:pt x="13567" y="8473"/>
                        </a:lnTo>
                        <a:lnTo>
                          <a:pt x="13442" y="8476"/>
                        </a:lnTo>
                        <a:lnTo>
                          <a:pt x="13318" y="8480"/>
                        </a:lnTo>
                        <a:lnTo>
                          <a:pt x="13196" y="8484"/>
                        </a:lnTo>
                        <a:lnTo>
                          <a:pt x="13077" y="8489"/>
                        </a:lnTo>
                        <a:lnTo>
                          <a:pt x="12958" y="8495"/>
                        </a:lnTo>
                        <a:lnTo>
                          <a:pt x="12840" y="8502"/>
                        </a:lnTo>
                        <a:lnTo>
                          <a:pt x="12725" y="8510"/>
                        </a:lnTo>
                        <a:lnTo>
                          <a:pt x="12610" y="8518"/>
                        </a:lnTo>
                        <a:lnTo>
                          <a:pt x="12498" y="8527"/>
                        </a:lnTo>
                        <a:lnTo>
                          <a:pt x="12386" y="8537"/>
                        </a:lnTo>
                        <a:lnTo>
                          <a:pt x="12275" y="8547"/>
                        </a:lnTo>
                        <a:lnTo>
                          <a:pt x="12167" y="8559"/>
                        </a:lnTo>
                        <a:lnTo>
                          <a:pt x="12058" y="8570"/>
                        </a:lnTo>
                        <a:lnTo>
                          <a:pt x="11951" y="8583"/>
                        </a:lnTo>
                        <a:lnTo>
                          <a:pt x="11846" y="8596"/>
                        </a:lnTo>
                        <a:lnTo>
                          <a:pt x="11741" y="8610"/>
                        </a:lnTo>
                        <a:lnTo>
                          <a:pt x="11639" y="8625"/>
                        </a:lnTo>
                        <a:lnTo>
                          <a:pt x="11536" y="8641"/>
                        </a:lnTo>
                        <a:lnTo>
                          <a:pt x="11435" y="8657"/>
                        </a:lnTo>
                        <a:lnTo>
                          <a:pt x="11335" y="8674"/>
                        </a:lnTo>
                        <a:lnTo>
                          <a:pt x="11236" y="8692"/>
                        </a:lnTo>
                        <a:lnTo>
                          <a:pt x="11138" y="8712"/>
                        </a:lnTo>
                        <a:lnTo>
                          <a:pt x="11040" y="8731"/>
                        </a:lnTo>
                        <a:lnTo>
                          <a:pt x="10945" y="8751"/>
                        </a:lnTo>
                        <a:lnTo>
                          <a:pt x="10849" y="8772"/>
                        </a:lnTo>
                        <a:lnTo>
                          <a:pt x="10755" y="8794"/>
                        </a:lnTo>
                        <a:lnTo>
                          <a:pt x="10661" y="8816"/>
                        </a:lnTo>
                        <a:lnTo>
                          <a:pt x="10568" y="8840"/>
                        </a:lnTo>
                        <a:lnTo>
                          <a:pt x="10568" y="8840"/>
                        </a:lnTo>
                        <a:lnTo>
                          <a:pt x="10506" y="8856"/>
                        </a:lnTo>
                        <a:lnTo>
                          <a:pt x="10444" y="8874"/>
                        </a:lnTo>
                        <a:lnTo>
                          <a:pt x="10381" y="8891"/>
                        </a:lnTo>
                        <a:lnTo>
                          <a:pt x="10319" y="8910"/>
                        </a:lnTo>
                        <a:lnTo>
                          <a:pt x="10257" y="8929"/>
                        </a:lnTo>
                        <a:lnTo>
                          <a:pt x="10194" y="8948"/>
                        </a:lnTo>
                        <a:lnTo>
                          <a:pt x="10131" y="8969"/>
                        </a:lnTo>
                        <a:lnTo>
                          <a:pt x="10068" y="8990"/>
                        </a:lnTo>
                        <a:lnTo>
                          <a:pt x="10005" y="9012"/>
                        </a:lnTo>
                        <a:lnTo>
                          <a:pt x="9942" y="9035"/>
                        </a:lnTo>
                        <a:lnTo>
                          <a:pt x="9880" y="9059"/>
                        </a:lnTo>
                        <a:lnTo>
                          <a:pt x="9816" y="9083"/>
                        </a:lnTo>
                        <a:lnTo>
                          <a:pt x="9754" y="9108"/>
                        </a:lnTo>
                        <a:lnTo>
                          <a:pt x="9692" y="9133"/>
                        </a:lnTo>
                        <a:lnTo>
                          <a:pt x="9629" y="9159"/>
                        </a:lnTo>
                        <a:lnTo>
                          <a:pt x="9568" y="9186"/>
                        </a:lnTo>
                        <a:lnTo>
                          <a:pt x="9506" y="9215"/>
                        </a:lnTo>
                        <a:lnTo>
                          <a:pt x="9445" y="9243"/>
                        </a:lnTo>
                        <a:lnTo>
                          <a:pt x="9384" y="9272"/>
                        </a:lnTo>
                        <a:lnTo>
                          <a:pt x="9323" y="9302"/>
                        </a:lnTo>
                        <a:lnTo>
                          <a:pt x="9263" y="9332"/>
                        </a:lnTo>
                        <a:lnTo>
                          <a:pt x="9204" y="9363"/>
                        </a:lnTo>
                        <a:lnTo>
                          <a:pt x="9145" y="9396"/>
                        </a:lnTo>
                        <a:lnTo>
                          <a:pt x="9087" y="9428"/>
                        </a:lnTo>
                        <a:lnTo>
                          <a:pt x="9029" y="9461"/>
                        </a:lnTo>
                        <a:lnTo>
                          <a:pt x="8972" y="9495"/>
                        </a:lnTo>
                        <a:lnTo>
                          <a:pt x="8916" y="9530"/>
                        </a:lnTo>
                        <a:lnTo>
                          <a:pt x="8861" y="9566"/>
                        </a:lnTo>
                        <a:lnTo>
                          <a:pt x="8805" y="9601"/>
                        </a:lnTo>
                        <a:lnTo>
                          <a:pt x="8751" y="9638"/>
                        </a:lnTo>
                        <a:lnTo>
                          <a:pt x="8699" y="9675"/>
                        </a:lnTo>
                        <a:lnTo>
                          <a:pt x="8647" y="9713"/>
                        </a:lnTo>
                        <a:lnTo>
                          <a:pt x="8595" y="9752"/>
                        </a:lnTo>
                        <a:lnTo>
                          <a:pt x="8545" y="9792"/>
                        </a:lnTo>
                        <a:lnTo>
                          <a:pt x="8496" y="9831"/>
                        </a:lnTo>
                        <a:lnTo>
                          <a:pt x="8447" y="9872"/>
                        </a:lnTo>
                        <a:lnTo>
                          <a:pt x="8400" y="9914"/>
                        </a:lnTo>
                        <a:lnTo>
                          <a:pt x="8355" y="9956"/>
                        </a:lnTo>
                        <a:lnTo>
                          <a:pt x="8310" y="9998"/>
                        </a:lnTo>
                        <a:lnTo>
                          <a:pt x="8266" y="10041"/>
                        </a:lnTo>
                        <a:lnTo>
                          <a:pt x="8224" y="10086"/>
                        </a:lnTo>
                        <a:lnTo>
                          <a:pt x="8184" y="10130"/>
                        </a:lnTo>
                        <a:lnTo>
                          <a:pt x="8144" y="10175"/>
                        </a:lnTo>
                        <a:lnTo>
                          <a:pt x="8106" y="10222"/>
                        </a:lnTo>
                        <a:lnTo>
                          <a:pt x="8069" y="10269"/>
                        </a:lnTo>
                        <a:lnTo>
                          <a:pt x="8034" y="10315"/>
                        </a:lnTo>
                        <a:lnTo>
                          <a:pt x="8000" y="10363"/>
                        </a:lnTo>
                        <a:lnTo>
                          <a:pt x="7968" y="10412"/>
                        </a:lnTo>
                        <a:lnTo>
                          <a:pt x="7938" y="10461"/>
                        </a:lnTo>
                        <a:lnTo>
                          <a:pt x="7908" y="10511"/>
                        </a:lnTo>
                        <a:lnTo>
                          <a:pt x="7881" y="10562"/>
                        </a:lnTo>
                        <a:lnTo>
                          <a:pt x="7855" y="10613"/>
                        </a:lnTo>
                        <a:lnTo>
                          <a:pt x="7832" y="10664"/>
                        </a:lnTo>
                        <a:lnTo>
                          <a:pt x="7810" y="10716"/>
                        </a:lnTo>
                        <a:lnTo>
                          <a:pt x="7790" y="10770"/>
                        </a:lnTo>
                        <a:lnTo>
                          <a:pt x="7771" y="10823"/>
                        </a:lnTo>
                        <a:lnTo>
                          <a:pt x="7755" y="10877"/>
                        </a:lnTo>
                        <a:lnTo>
                          <a:pt x="7740" y="10932"/>
                        </a:lnTo>
                        <a:lnTo>
                          <a:pt x="7727" y="10988"/>
                        </a:lnTo>
                        <a:lnTo>
                          <a:pt x="7717" y="11043"/>
                        </a:lnTo>
                        <a:lnTo>
                          <a:pt x="7708" y="11101"/>
                        </a:lnTo>
                        <a:lnTo>
                          <a:pt x="7702" y="11158"/>
                        </a:lnTo>
                        <a:lnTo>
                          <a:pt x="7698" y="11215"/>
                        </a:lnTo>
                        <a:lnTo>
                          <a:pt x="7696" y="11274"/>
                        </a:lnTo>
                        <a:lnTo>
                          <a:pt x="7696" y="11274"/>
                        </a:lnTo>
                        <a:lnTo>
                          <a:pt x="7696" y="11321"/>
                        </a:lnTo>
                        <a:lnTo>
                          <a:pt x="7697" y="11367"/>
                        </a:lnTo>
                        <a:lnTo>
                          <a:pt x="7699" y="11413"/>
                        </a:lnTo>
                        <a:lnTo>
                          <a:pt x="7702" y="11458"/>
                        </a:lnTo>
                        <a:lnTo>
                          <a:pt x="7706" y="11503"/>
                        </a:lnTo>
                        <a:lnTo>
                          <a:pt x="7712" y="11547"/>
                        </a:lnTo>
                        <a:lnTo>
                          <a:pt x="7718" y="11592"/>
                        </a:lnTo>
                        <a:lnTo>
                          <a:pt x="7725" y="11636"/>
                        </a:lnTo>
                        <a:lnTo>
                          <a:pt x="7734" y="11679"/>
                        </a:lnTo>
                        <a:lnTo>
                          <a:pt x="7743" y="11722"/>
                        </a:lnTo>
                        <a:lnTo>
                          <a:pt x="7755" y="11765"/>
                        </a:lnTo>
                        <a:lnTo>
                          <a:pt x="7767" y="11807"/>
                        </a:lnTo>
                        <a:lnTo>
                          <a:pt x="7779" y="11848"/>
                        </a:lnTo>
                        <a:lnTo>
                          <a:pt x="7793" y="11889"/>
                        </a:lnTo>
                        <a:lnTo>
                          <a:pt x="7808" y="11931"/>
                        </a:lnTo>
                        <a:lnTo>
                          <a:pt x="7823" y="11971"/>
                        </a:lnTo>
                        <a:lnTo>
                          <a:pt x="7840" y="12010"/>
                        </a:lnTo>
                        <a:lnTo>
                          <a:pt x="7858" y="12050"/>
                        </a:lnTo>
                        <a:lnTo>
                          <a:pt x="7876" y="12089"/>
                        </a:lnTo>
                        <a:lnTo>
                          <a:pt x="7896" y="12128"/>
                        </a:lnTo>
                        <a:lnTo>
                          <a:pt x="7917" y="12165"/>
                        </a:lnTo>
                        <a:lnTo>
                          <a:pt x="7940" y="12203"/>
                        </a:lnTo>
                        <a:lnTo>
                          <a:pt x="7962" y="12239"/>
                        </a:lnTo>
                        <a:lnTo>
                          <a:pt x="7986" y="12277"/>
                        </a:lnTo>
                        <a:lnTo>
                          <a:pt x="8010" y="12313"/>
                        </a:lnTo>
                        <a:lnTo>
                          <a:pt x="8036" y="12348"/>
                        </a:lnTo>
                        <a:lnTo>
                          <a:pt x="8062" y="12383"/>
                        </a:lnTo>
                        <a:lnTo>
                          <a:pt x="8090" y="12418"/>
                        </a:lnTo>
                        <a:lnTo>
                          <a:pt x="8119" y="12452"/>
                        </a:lnTo>
                        <a:lnTo>
                          <a:pt x="8149" y="12485"/>
                        </a:lnTo>
                        <a:lnTo>
                          <a:pt x="8179" y="12518"/>
                        </a:lnTo>
                        <a:lnTo>
                          <a:pt x="8210" y="12550"/>
                        </a:lnTo>
                        <a:lnTo>
                          <a:pt x="8242" y="12582"/>
                        </a:lnTo>
                        <a:lnTo>
                          <a:pt x="8275" y="12614"/>
                        </a:lnTo>
                        <a:lnTo>
                          <a:pt x="8310" y="12644"/>
                        </a:lnTo>
                        <a:lnTo>
                          <a:pt x="8345" y="12674"/>
                        </a:lnTo>
                        <a:lnTo>
                          <a:pt x="8381" y="12704"/>
                        </a:lnTo>
                        <a:lnTo>
                          <a:pt x="8418" y="12733"/>
                        </a:lnTo>
                        <a:lnTo>
                          <a:pt x="8455" y="12762"/>
                        </a:lnTo>
                        <a:lnTo>
                          <a:pt x="8495" y="12790"/>
                        </a:lnTo>
                        <a:lnTo>
                          <a:pt x="8534" y="12817"/>
                        </a:lnTo>
                        <a:lnTo>
                          <a:pt x="8574" y="12843"/>
                        </a:lnTo>
                        <a:lnTo>
                          <a:pt x="8615" y="12869"/>
                        </a:lnTo>
                        <a:lnTo>
                          <a:pt x="8658" y="12895"/>
                        </a:lnTo>
                        <a:lnTo>
                          <a:pt x="8701" y="12919"/>
                        </a:lnTo>
                        <a:lnTo>
                          <a:pt x="8744" y="12944"/>
                        </a:lnTo>
                        <a:lnTo>
                          <a:pt x="8789" y="12968"/>
                        </a:lnTo>
                        <a:lnTo>
                          <a:pt x="8835" y="12991"/>
                        </a:lnTo>
                        <a:lnTo>
                          <a:pt x="8881" y="13013"/>
                        </a:lnTo>
                        <a:lnTo>
                          <a:pt x="8928" y="13035"/>
                        </a:lnTo>
                        <a:lnTo>
                          <a:pt x="8976" y="13055"/>
                        </a:lnTo>
                        <a:lnTo>
                          <a:pt x="9026" y="13076"/>
                        </a:lnTo>
                        <a:lnTo>
                          <a:pt x="9075" y="13096"/>
                        </a:lnTo>
                        <a:lnTo>
                          <a:pt x="9126" y="13115"/>
                        </a:lnTo>
                        <a:lnTo>
                          <a:pt x="9178" y="13134"/>
                        </a:lnTo>
                        <a:lnTo>
                          <a:pt x="9229" y="13151"/>
                        </a:lnTo>
                        <a:lnTo>
                          <a:pt x="9282" y="13168"/>
                        </a:lnTo>
                        <a:lnTo>
                          <a:pt x="9336" y="13185"/>
                        </a:lnTo>
                        <a:lnTo>
                          <a:pt x="9391" y="13200"/>
                        </a:lnTo>
                        <a:lnTo>
                          <a:pt x="9446" y="13215"/>
                        </a:lnTo>
                        <a:lnTo>
                          <a:pt x="9501" y="13229"/>
                        </a:lnTo>
                        <a:lnTo>
                          <a:pt x="9559" y="13243"/>
                        </a:lnTo>
                        <a:lnTo>
                          <a:pt x="9616" y="13256"/>
                        </a:lnTo>
                        <a:lnTo>
                          <a:pt x="9674" y="13269"/>
                        </a:lnTo>
                        <a:lnTo>
                          <a:pt x="9674" y="13269"/>
                        </a:lnTo>
                        <a:lnTo>
                          <a:pt x="9748" y="13283"/>
                        </a:lnTo>
                        <a:lnTo>
                          <a:pt x="9822" y="13296"/>
                        </a:lnTo>
                        <a:lnTo>
                          <a:pt x="9897" y="13309"/>
                        </a:lnTo>
                        <a:lnTo>
                          <a:pt x="9971" y="13320"/>
                        </a:lnTo>
                        <a:lnTo>
                          <a:pt x="10048" y="13331"/>
                        </a:lnTo>
                        <a:lnTo>
                          <a:pt x="10123" y="13340"/>
                        </a:lnTo>
                        <a:lnTo>
                          <a:pt x="10199" y="13349"/>
                        </a:lnTo>
                        <a:lnTo>
                          <a:pt x="10277" y="13357"/>
                        </a:lnTo>
                        <a:lnTo>
                          <a:pt x="10354" y="13364"/>
                        </a:lnTo>
                        <a:lnTo>
                          <a:pt x="10433" y="13370"/>
                        </a:lnTo>
                        <a:lnTo>
                          <a:pt x="10511" y="13375"/>
                        </a:lnTo>
                        <a:lnTo>
                          <a:pt x="10590" y="13379"/>
                        </a:lnTo>
                        <a:lnTo>
                          <a:pt x="10669" y="13382"/>
                        </a:lnTo>
                        <a:lnTo>
                          <a:pt x="10749" y="13384"/>
                        </a:lnTo>
                        <a:lnTo>
                          <a:pt x="10829" y="13386"/>
                        </a:lnTo>
                        <a:lnTo>
                          <a:pt x="10909" y="13386"/>
                        </a:lnTo>
                        <a:lnTo>
                          <a:pt x="10909" y="13386"/>
                        </a:lnTo>
                        <a:lnTo>
                          <a:pt x="10985" y="13386"/>
                        </a:lnTo>
                        <a:lnTo>
                          <a:pt x="11059" y="13384"/>
                        </a:lnTo>
                        <a:lnTo>
                          <a:pt x="11135" y="13383"/>
                        </a:lnTo>
                        <a:lnTo>
                          <a:pt x="11210" y="13380"/>
                        </a:lnTo>
                        <a:lnTo>
                          <a:pt x="11286" y="13377"/>
                        </a:lnTo>
                        <a:lnTo>
                          <a:pt x="11361" y="13372"/>
                        </a:lnTo>
                        <a:lnTo>
                          <a:pt x="11436" y="13368"/>
                        </a:lnTo>
                        <a:lnTo>
                          <a:pt x="11512" y="13362"/>
                        </a:lnTo>
                        <a:lnTo>
                          <a:pt x="11587" y="13356"/>
                        </a:lnTo>
                        <a:lnTo>
                          <a:pt x="11663" y="13349"/>
                        </a:lnTo>
                        <a:lnTo>
                          <a:pt x="11738" y="13342"/>
                        </a:lnTo>
                        <a:lnTo>
                          <a:pt x="11815" y="13333"/>
                        </a:lnTo>
                        <a:lnTo>
                          <a:pt x="11890" y="13325"/>
                        </a:lnTo>
                        <a:lnTo>
                          <a:pt x="11965" y="13315"/>
                        </a:lnTo>
                        <a:lnTo>
                          <a:pt x="12117" y="13295"/>
                        </a:lnTo>
                        <a:lnTo>
                          <a:pt x="12269" y="13272"/>
                        </a:lnTo>
                        <a:lnTo>
                          <a:pt x="12421" y="13246"/>
                        </a:lnTo>
                        <a:lnTo>
                          <a:pt x="12574" y="13218"/>
                        </a:lnTo>
                        <a:lnTo>
                          <a:pt x="12726" y="13189"/>
                        </a:lnTo>
                        <a:lnTo>
                          <a:pt x="12879" y="13158"/>
                        </a:lnTo>
                        <a:lnTo>
                          <a:pt x="13031" y="13125"/>
                        </a:lnTo>
                        <a:lnTo>
                          <a:pt x="13183" y="13089"/>
                        </a:lnTo>
                        <a:lnTo>
                          <a:pt x="13335" y="13053"/>
                        </a:lnTo>
                        <a:lnTo>
                          <a:pt x="13488" y="13015"/>
                        </a:lnTo>
                        <a:lnTo>
                          <a:pt x="13641" y="12976"/>
                        </a:lnTo>
                        <a:lnTo>
                          <a:pt x="13793" y="12935"/>
                        </a:lnTo>
                        <a:lnTo>
                          <a:pt x="13946" y="12892"/>
                        </a:lnTo>
                        <a:lnTo>
                          <a:pt x="14098" y="12849"/>
                        </a:lnTo>
                        <a:lnTo>
                          <a:pt x="14249" y="12806"/>
                        </a:lnTo>
                        <a:lnTo>
                          <a:pt x="14402" y="12761"/>
                        </a:lnTo>
                        <a:lnTo>
                          <a:pt x="14554" y="12714"/>
                        </a:lnTo>
                        <a:lnTo>
                          <a:pt x="14705" y="12668"/>
                        </a:lnTo>
                        <a:lnTo>
                          <a:pt x="14857" y="12621"/>
                        </a:lnTo>
                        <a:lnTo>
                          <a:pt x="15160" y="12525"/>
                        </a:lnTo>
                        <a:lnTo>
                          <a:pt x="15461" y="12428"/>
                        </a:lnTo>
                        <a:lnTo>
                          <a:pt x="15762" y="12330"/>
                        </a:lnTo>
                        <a:lnTo>
                          <a:pt x="15960" y="12266"/>
                        </a:lnTo>
                        <a:lnTo>
                          <a:pt x="15960" y="12266"/>
                        </a:lnTo>
                        <a:lnTo>
                          <a:pt x="16376" y="12131"/>
                        </a:lnTo>
                        <a:lnTo>
                          <a:pt x="16585" y="12064"/>
                        </a:lnTo>
                        <a:lnTo>
                          <a:pt x="16796" y="11998"/>
                        </a:lnTo>
                        <a:lnTo>
                          <a:pt x="17008" y="11934"/>
                        </a:lnTo>
                        <a:lnTo>
                          <a:pt x="17222" y="11871"/>
                        </a:lnTo>
                        <a:lnTo>
                          <a:pt x="17330" y="11840"/>
                        </a:lnTo>
                        <a:lnTo>
                          <a:pt x="17439" y="11810"/>
                        </a:lnTo>
                        <a:lnTo>
                          <a:pt x="17547" y="11781"/>
                        </a:lnTo>
                        <a:lnTo>
                          <a:pt x="17656" y="11753"/>
                        </a:lnTo>
                        <a:lnTo>
                          <a:pt x="17766" y="11724"/>
                        </a:lnTo>
                        <a:lnTo>
                          <a:pt x="17876" y="11697"/>
                        </a:lnTo>
                        <a:lnTo>
                          <a:pt x="17987" y="11670"/>
                        </a:lnTo>
                        <a:lnTo>
                          <a:pt x="18098" y="11645"/>
                        </a:lnTo>
                        <a:lnTo>
                          <a:pt x="18210" y="11621"/>
                        </a:lnTo>
                        <a:lnTo>
                          <a:pt x="18323" y="11597"/>
                        </a:lnTo>
                        <a:lnTo>
                          <a:pt x="18436" y="11575"/>
                        </a:lnTo>
                        <a:lnTo>
                          <a:pt x="18550" y="11552"/>
                        </a:lnTo>
                        <a:lnTo>
                          <a:pt x="18665" y="11532"/>
                        </a:lnTo>
                        <a:lnTo>
                          <a:pt x="18780" y="11513"/>
                        </a:lnTo>
                        <a:lnTo>
                          <a:pt x="18896" y="11495"/>
                        </a:lnTo>
                        <a:lnTo>
                          <a:pt x="19013" y="11479"/>
                        </a:lnTo>
                        <a:lnTo>
                          <a:pt x="19130" y="11464"/>
                        </a:lnTo>
                        <a:lnTo>
                          <a:pt x="19249" y="11450"/>
                        </a:lnTo>
                        <a:lnTo>
                          <a:pt x="19368" y="11437"/>
                        </a:lnTo>
                        <a:lnTo>
                          <a:pt x="19487" y="11427"/>
                        </a:lnTo>
                        <a:lnTo>
                          <a:pt x="19487" y="11427"/>
                        </a:lnTo>
                        <a:lnTo>
                          <a:pt x="19555" y="11421"/>
                        </a:lnTo>
                        <a:lnTo>
                          <a:pt x="19622" y="11417"/>
                        </a:lnTo>
                        <a:lnTo>
                          <a:pt x="19689" y="11413"/>
                        </a:lnTo>
                        <a:lnTo>
                          <a:pt x="19757" y="11409"/>
                        </a:lnTo>
                        <a:lnTo>
                          <a:pt x="19824" y="11407"/>
                        </a:lnTo>
                        <a:lnTo>
                          <a:pt x="19892" y="11405"/>
                        </a:lnTo>
                        <a:lnTo>
                          <a:pt x="19959" y="11404"/>
                        </a:lnTo>
                        <a:lnTo>
                          <a:pt x="20025" y="11404"/>
                        </a:lnTo>
                        <a:lnTo>
                          <a:pt x="20025" y="11404"/>
                        </a:lnTo>
                        <a:lnTo>
                          <a:pt x="20132" y="11405"/>
                        </a:lnTo>
                        <a:lnTo>
                          <a:pt x="20239" y="11407"/>
                        </a:lnTo>
                        <a:lnTo>
                          <a:pt x="20344" y="11412"/>
                        </a:lnTo>
                        <a:lnTo>
                          <a:pt x="20451" y="11418"/>
                        </a:lnTo>
                        <a:lnTo>
                          <a:pt x="20555" y="11426"/>
                        </a:lnTo>
                        <a:lnTo>
                          <a:pt x="20661" y="11436"/>
                        </a:lnTo>
                        <a:lnTo>
                          <a:pt x="20766" y="11448"/>
                        </a:lnTo>
                        <a:lnTo>
                          <a:pt x="20870" y="11461"/>
                        </a:lnTo>
                        <a:lnTo>
                          <a:pt x="20974" y="11476"/>
                        </a:lnTo>
                        <a:lnTo>
                          <a:pt x="21077" y="11493"/>
                        </a:lnTo>
                        <a:lnTo>
                          <a:pt x="21181" y="11512"/>
                        </a:lnTo>
                        <a:lnTo>
                          <a:pt x="21284" y="11532"/>
                        </a:lnTo>
                        <a:lnTo>
                          <a:pt x="21386" y="11554"/>
                        </a:lnTo>
                        <a:lnTo>
                          <a:pt x="21488" y="11579"/>
                        </a:lnTo>
                        <a:lnTo>
                          <a:pt x="21588" y="11605"/>
                        </a:lnTo>
                        <a:lnTo>
                          <a:pt x="21689" y="11632"/>
                        </a:lnTo>
                        <a:lnTo>
                          <a:pt x="21789" y="11661"/>
                        </a:lnTo>
                        <a:lnTo>
                          <a:pt x="21888" y="11692"/>
                        </a:lnTo>
                        <a:lnTo>
                          <a:pt x="21988" y="11725"/>
                        </a:lnTo>
                        <a:lnTo>
                          <a:pt x="22085" y="11760"/>
                        </a:lnTo>
                        <a:lnTo>
                          <a:pt x="22183" y="11796"/>
                        </a:lnTo>
                        <a:lnTo>
                          <a:pt x="22279" y="11833"/>
                        </a:lnTo>
                        <a:lnTo>
                          <a:pt x="22376" y="11873"/>
                        </a:lnTo>
                        <a:lnTo>
                          <a:pt x="22470" y="11915"/>
                        </a:lnTo>
                        <a:lnTo>
                          <a:pt x="22565" y="11957"/>
                        </a:lnTo>
                        <a:lnTo>
                          <a:pt x="22658" y="12002"/>
                        </a:lnTo>
                        <a:lnTo>
                          <a:pt x="22752" y="12048"/>
                        </a:lnTo>
                        <a:lnTo>
                          <a:pt x="22843" y="12096"/>
                        </a:lnTo>
                        <a:lnTo>
                          <a:pt x="22935" y="12146"/>
                        </a:lnTo>
                        <a:lnTo>
                          <a:pt x="23025" y="12196"/>
                        </a:lnTo>
                        <a:lnTo>
                          <a:pt x="23115" y="12250"/>
                        </a:lnTo>
                        <a:lnTo>
                          <a:pt x="23203" y="12304"/>
                        </a:lnTo>
                        <a:lnTo>
                          <a:pt x="23203" y="12304"/>
                        </a:lnTo>
                        <a:lnTo>
                          <a:pt x="23292" y="12361"/>
                        </a:lnTo>
                        <a:lnTo>
                          <a:pt x="23379" y="12420"/>
                        </a:lnTo>
                        <a:lnTo>
                          <a:pt x="23465" y="12479"/>
                        </a:lnTo>
                        <a:lnTo>
                          <a:pt x="23550" y="12540"/>
                        </a:lnTo>
                        <a:lnTo>
                          <a:pt x="23634" y="12603"/>
                        </a:lnTo>
                        <a:lnTo>
                          <a:pt x="23716" y="12666"/>
                        </a:lnTo>
                        <a:lnTo>
                          <a:pt x="23798" y="12731"/>
                        </a:lnTo>
                        <a:lnTo>
                          <a:pt x="23877" y="12798"/>
                        </a:lnTo>
                        <a:lnTo>
                          <a:pt x="23956" y="12866"/>
                        </a:lnTo>
                        <a:lnTo>
                          <a:pt x="24033" y="12935"/>
                        </a:lnTo>
                        <a:lnTo>
                          <a:pt x="24109" y="13006"/>
                        </a:lnTo>
                        <a:lnTo>
                          <a:pt x="24183" y="13077"/>
                        </a:lnTo>
                        <a:lnTo>
                          <a:pt x="24256" y="13150"/>
                        </a:lnTo>
                        <a:lnTo>
                          <a:pt x="24329" y="13224"/>
                        </a:lnTo>
                        <a:lnTo>
                          <a:pt x="24399" y="13300"/>
                        </a:lnTo>
                        <a:lnTo>
                          <a:pt x="24468" y="13377"/>
                        </a:lnTo>
                        <a:lnTo>
                          <a:pt x="24535" y="13455"/>
                        </a:lnTo>
                        <a:lnTo>
                          <a:pt x="24601" y="13534"/>
                        </a:lnTo>
                        <a:lnTo>
                          <a:pt x="24667" y="13615"/>
                        </a:lnTo>
                        <a:lnTo>
                          <a:pt x="24729" y="13695"/>
                        </a:lnTo>
                        <a:lnTo>
                          <a:pt x="24792" y="13779"/>
                        </a:lnTo>
                        <a:lnTo>
                          <a:pt x="24852" y="13862"/>
                        </a:lnTo>
                        <a:lnTo>
                          <a:pt x="24910" y="13947"/>
                        </a:lnTo>
                        <a:lnTo>
                          <a:pt x="24968" y="14032"/>
                        </a:lnTo>
                        <a:lnTo>
                          <a:pt x="25024" y="14120"/>
                        </a:lnTo>
                        <a:lnTo>
                          <a:pt x="25077" y="14207"/>
                        </a:lnTo>
                        <a:lnTo>
                          <a:pt x="25130" y="14296"/>
                        </a:lnTo>
                        <a:lnTo>
                          <a:pt x="25182" y="14386"/>
                        </a:lnTo>
                        <a:lnTo>
                          <a:pt x="25231" y="14477"/>
                        </a:lnTo>
                        <a:lnTo>
                          <a:pt x="25278" y="14569"/>
                        </a:lnTo>
                        <a:lnTo>
                          <a:pt x="25325" y="14662"/>
                        </a:lnTo>
                        <a:lnTo>
                          <a:pt x="25369" y="14755"/>
                        </a:lnTo>
                        <a:lnTo>
                          <a:pt x="25369" y="14755"/>
                        </a:lnTo>
                        <a:lnTo>
                          <a:pt x="25392" y="14806"/>
                        </a:lnTo>
                        <a:lnTo>
                          <a:pt x="25414" y="14855"/>
                        </a:lnTo>
                        <a:lnTo>
                          <a:pt x="25435" y="14905"/>
                        </a:lnTo>
                        <a:lnTo>
                          <a:pt x="25456" y="14956"/>
                        </a:lnTo>
                        <a:lnTo>
                          <a:pt x="25476" y="15006"/>
                        </a:lnTo>
                        <a:lnTo>
                          <a:pt x="25496" y="15057"/>
                        </a:lnTo>
                        <a:lnTo>
                          <a:pt x="25514" y="15107"/>
                        </a:lnTo>
                        <a:lnTo>
                          <a:pt x="25532" y="15159"/>
                        </a:lnTo>
                        <a:lnTo>
                          <a:pt x="25550" y="15210"/>
                        </a:lnTo>
                        <a:lnTo>
                          <a:pt x="25566" y="15261"/>
                        </a:lnTo>
                        <a:lnTo>
                          <a:pt x="25582" y="15314"/>
                        </a:lnTo>
                        <a:lnTo>
                          <a:pt x="25598" y="15365"/>
                        </a:lnTo>
                        <a:lnTo>
                          <a:pt x="25612" y="15417"/>
                        </a:lnTo>
                        <a:lnTo>
                          <a:pt x="25626" y="15470"/>
                        </a:lnTo>
                        <a:lnTo>
                          <a:pt x="25640" y="15522"/>
                        </a:lnTo>
                        <a:lnTo>
                          <a:pt x="25652" y="15574"/>
                        </a:lnTo>
                        <a:lnTo>
                          <a:pt x="25666" y="15626"/>
                        </a:lnTo>
                        <a:lnTo>
                          <a:pt x="25677" y="15680"/>
                        </a:lnTo>
                        <a:lnTo>
                          <a:pt x="25688" y="15732"/>
                        </a:lnTo>
                        <a:lnTo>
                          <a:pt x="25698" y="15785"/>
                        </a:lnTo>
                        <a:lnTo>
                          <a:pt x="25707" y="15839"/>
                        </a:lnTo>
                        <a:lnTo>
                          <a:pt x="25716" y="15892"/>
                        </a:lnTo>
                        <a:lnTo>
                          <a:pt x="25724" y="15946"/>
                        </a:lnTo>
                        <a:lnTo>
                          <a:pt x="25732" y="16000"/>
                        </a:lnTo>
                        <a:lnTo>
                          <a:pt x="25739" y="16054"/>
                        </a:lnTo>
                        <a:lnTo>
                          <a:pt x="25745" y="16107"/>
                        </a:lnTo>
                        <a:lnTo>
                          <a:pt x="25750" y="16162"/>
                        </a:lnTo>
                        <a:lnTo>
                          <a:pt x="25755" y="16216"/>
                        </a:lnTo>
                        <a:lnTo>
                          <a:pt x="25759" y="16270"/>
                        </a:lnTo>
                        <a:lnTo>
                          <a:pt x="25763" y="16325"/>
                        </a:lnTo>
                        <a:lnTo>
                          <a:pt x="25766" y="16380"/>
                        </a:lnTo>
                        <a:lnTo>
                          <a:pt x="25768" y="16434"/>
                        </a:lnTo>
                        <a:lnTo>
                          <a:pt x="25770" y="16490"/>
                        </a:lnTo>
                        <a:lnTo>
                          <a:pt x="25771" y="16545"/>
                        </a:lnTo>
                        <a:lnTo>
                          <a:pt x="25771" y="16599"/>
                        </a:lnTo>
                        <a:lnTo>
                          <a:pt x="25771" y="16655"/>
                        </a:lnTo>
                        <a:lnTo>
                          <a:pt x="25770" y="16710"/>
                        </a:lnTo>
                        <a:lnTo>
                          <a:pt x="25768" y="16765"/>
                        </a:lnTo>
                        <a:lnTo>
                          <a:pt x="25766" y="16822"/>
                        </a:lnTo>
                        <a:lnTo>
                          <a:pt x="25763" y="16877"/>
                        </a:lnTo>
                        <a:lnTo>
                          <a:pt x="25759" y="16932"/>
                        </a:lnTo>
                        <a:lnTo>
                          <a:pt x="25755" y="16989"/>
                        </a:lnTo>
                        <a:lnTo>
                          <a:pt x="25750" y="17044"/>
                        </a:lnTo>
                        <a:lnTo>
                          <a:pt x="25744" y="17100"/>
                        </a:lnTo>
                        <a:lnTo>
                          <a:pt x="25738" y="17157"/>
                        </a:lnTo>
                        <a:lnTo>
                          <a:pt x="25731" y="17212"/>
                        </a:lnTo>
                        <a:lnTo>
                          <a:pt x="25723" y="17268"/>
                        </a:lnTo>
                        <a:lnTo>
                          <a:pt x="25715" y="17325"/>
                        </a:lnTo>
                        <a:lnTo>
                          <a:pt x="25706" y="17381"/>
                        </a:lnTo>
                        <a:lnTo>
                          <a:pt x="25697" y="17437"/>
                        </a:lnTo>
                        <a:lnTo>
                          <a:pt x="25686" y="17495"/>
                        </a:lnTo>
                        <a:lnTo>
                          <a:pt x="25676" y="17551"/>
                        </a:lnTo>
                        <a:lnTo>
                          <a:pt x="25664" y="17607"/>
                        </a:lnTo>
                        <a:lnTo>
                          <a:pt x="25651" y="17664"/>
                        </a:lnTo>
                        <a:lnTo>
                          <a:pt x="25638" y="17721"/>
                        </a:lnTo>
                        <a:lnTo>
                          <a:pt x="25624" y="17777"/>
                        </a:lnTo>
                        <a:lnTo>
                          <a:pt x="25610" y="17835"/>
                        </a:lnTo>
                        <a:lnTo>
                          <a:pt x="25595" y="17891"/>
                        </a:lnTo>
                        <a:lnTo>
                          <a:pt x="25580" y="17948"/>
                        </a:lnTo>
                        <a:lnTo>
                          <a:pt x="25564" y="18005"/>
                        </a:lnTo>
                        <a:lnTo>
                          <a:pt x="25547" y="18062"/>
                        </a:lnTo>
                        <a:lnTo>
                          <a:pt x="25530" y="18118"/>
                        </a:lnTo>
                        <a:lnTo>
                          <a:pt x="25511" y="18176"/>
                        </a:lnTo>
                        <a:lnTo>
                          <a:pt x="25493" y="18233"/>
                        </a:lnTo>
                        <a:lnTo>
                          <a:pt x="25493" y="18233"/>
                        </a:lnTo>
                        <a:lnTo>
                          <a:pt x="25456" y="18336"/>
                        </a:lnTo>
                        <a:lnTo>
                          <a:pt x="25419" y="18437"/>
                        </a:lnTo>
                        <a:lnTo>
                          <a:pt x="25379" y="18539"/>
                        </a:lnTo>
                        <a:lnTo>
                          <a:pt x="25338" y="18640"/>
                        </a:lnTo>
                        <a:lnTo>
                          <a:pt x="25294" y="18741"/>
                        </a:lnTo>
                        <a:lnTo>
                          <a:pt x="25248" y="18842"/>
                        </a:lnTo>
                        <a:lnTo>
                          <a:pt x="25201" y="18941"/>
                        </a:lnTo>
                        <a:lnTo>
                          <a:pt x="25152" y="19041"/>
                        </a:lnTo>
                        <a:lnTo>
                          <a:pt x="25100" y="19139"/>
                        </a:lnTo>
                        <a:lnTo>
                          <a:pt x="25047" y="19238"/>
                        </a:lnTo>
                        <a:lnTo>
                          <a:pt x="24992" y="19335"/>
                        </a:lnTo>
                        <a:lnTo>
                          <a:pt x="24934" y="19432"/>
                        </a:lnTo>
                        <a:lnTo>
                          <a:pt x="24876" y="19528"/>
                        </a:lnTo>
                        <a:lnTo>
                          <a:pt x="24816" y="19623"/>
                        </a:lnTo>
                        <a:lnTo>
                          <a:pt x="24753" y="19718"/>
                        </a:lnTo>
                        <a:lnTo>
                          <a:pt x="24690" y="19811"/>
                        </a:lnTo>
                        <a:lnTo>
                          <a:pt x="24624" y="19905"/>
                        </a:lnTo>
                        <a:lnTo>
                          <a:pt x="24556" y="19996"/>
                        </a:lnTo>
                        <a:lnTo>
                          <a:pt x="24488" y="20088"/>
                        </a:lnTo>
                        <a:lnTo>
                          <a:pt x="24417" y="20177"/>
                        </a:lnTo>
                        <a:lnTo>
                          <a:pt x="24345" y="20267"/>
                        </a:lnTo>
                        <a:lnTo>
                          <a:pt x="24272" y="20354"/>
                        </a:lnTo>
                        <a:lnTo>
                          <a:pt x="24196" y="20442"/>
                        </a:lnTo>
                        <a:lnTo>
                          <a:pt x="24120" y="20528"/>
                        </a:lnTo>
                        <a:lnTo>
                          <a:pt x="24041" y="20613"/>
                        </a:lnTo>
                        <a:lnTo>
                          <a:pt x="23961" y="20697"/>
                        </a:lnTo>
                        <a:lnTo>
                          <a:pt x="23880" y="20779"/>
                        </a:lnTo>
                        <a:lnTo>
                          <a:pt x="23798" y="20859"/>
                        </a:lnTo>
                        <a:lnTo>
                          <a:pt x="23713" y="20940"/>
                        </a:lnTo>
                        <a:lnTo>
                          <a:pt x="23628" y="21018"/>
                        </a:lnTo>
                        <a:lnTo>
                          <a:pt x="23541" y="21096"/>
                        </a:lnTo>
                        <a:lnTo>
                          <a:pt x="23453" y="21171"/>
                        </a:lnTo>
                        <a:lnTo>
                          <a:pt x="23453" y="21171"/>
                        </a:lnTo>
                        <a:lnTo>
                          <a:pt x="23387" y="21227"/>
                        </a:lnTo>
                        <a:lnTo>
                          <a:pt x="23319" y="21282"/>
                        </a:lnTo>
                        <a:lnTo>
                          <a:pt x="23252" y="21336"/>
                        </a:lnTo>
                        <a:lnTo>
                          <a:pt x="23183" y="21389"/>
                        </a:lnTo>
                        <a:lnTo>
                          <a:pt x="23115" y="21441"/>
                        </a:lnTo>
                        <a:lnTo>
                          <a:pt x="23046" y="21492"/>
                        </a:lnTo>
                        <a:lnTo>
                          <a:pt x="22975" y="21543"/>
                        </a:lnTo>
                        <a:lnTo>
                          <a:pt x="22905" y="21592"/>
                        </a:lnTo>
                        <a:lnTo>
                          <a:pt x="22834" y="21641"/>
                        </a:lnTo>
                        <a:lnTo>
                          <a:pt x="22763" y="21688"/>
                        </a:lnTo>
                        <a:lnTo>
                          <a:pt x="22691" y="21735"/>
                        </a:lnTo>
                        <a:lnTo>
                          <a:pt x="22618" y="21781"/>
                        </a:lnTo>
                        <a:lnTo>
                          <a:pt x="22545" y="21826"/>
                        </a:lnTo>
                        <a:lnTo>
                          <a:pt x="22471" y="21870"/>
                        </a:lnTo>
                        <a:lnTo>
                          <a:pt x="22397" y="21914"/>
                        </a:lnTo>
                        <a:lnTo>
                          <a:pt x="22322" y="21956"/>
                        </a:lnTo>
                        <a:lnTo>
                          <a:pt x="22247" y="21997"/>
                        </a:lnTo>
                        <a:lnTo>
                          <a:pt x="22171" y="22037"/>
                        </a:lnTo>
                        <a:lnTo>
                          <a:pt x="22094" y="22078"/>
                        </a:lnTo>
                        <a:lnTo>
                          <a:pt x="22017" y="22116"/>
                        </a:lnTo>
                        <a:lnTo>
                          <a:pt x="21939" y="22154"/>
                        </a:lnTo>
                        <a:lnTo>
                          <a:pt x="21861" y="22190"/>
                        </a:lnTo>
                        <a:lnTo>
                          <a:pt x="21782" y="22227"/>
                        </a:lnTo>
                        <a:lnTo>
                          <a:pt x="21703" y="22262"/>
                        </a:lnTo>
                        <a:lnTo>
                          <a:pt x="21622" y="22297"/>
                        </a:lnTo>
                        <a:lnTo>
                          <a:pt x="21542" y="22330"/>
                        </a:lnTo>
                        <a:lnTo>
                          <a:pt x="21461" y="22362"/>
                        </a:lnTo>
                        <a:lnTo>
                          <a:pt x="21379" y="22395"/>
                        </a:lnTo>
                        <a:lnTo>
                          <a:pt x="21297" y="22425"/>
                        </a:lnTo>
                        <a:lnTo>
                          <a:pt x="21214" y="22455"/>
                        </a:lnTo>
                        <a:lnTo>
                          <a:pt x="21130" y="22484"/>
                        </a:lnTo>
                        <a:lnTo>
                          <a:pt x="21046" y="22512"/>
                        </a:lnTo>
                        <a:lnTo>
                          <a:pt x="20961" y="22539"/>
                        </a:lnTo>
                        <a:lnTo>
                          <a:pt x="20875" y="22566"/>
                        </a:lnTo>
                        <a:lnTo>
                          <a:pt x="20790" y="22592"/>
                        </a:lnTo>
                        <a:lnTo>
                          <a:pt x="20703" y="22616"/>
                        </a:lnTo>
                        <a:lnTo>
                          <a:pt x="20616" y="22640"/>
                        </a:lnTo>
                        <a:lnTo>
                          <a:pt x="20527" y="22663"/>
                        </a:lnTo>
                        <a:lnTo>
                          <a:pt x="20439" y="22685"/>
                        </a:lnTo>
                        <a:lnTo>
                          <a:pt x="20350" y="22706"/>
                        </a:lnTo>
                        <a:lnTo>
                          <a:pt x="20260" y="22727"/>
                        </a:lnTo>
                        <a:lnTo>
                          <a:pt x="20169" y="22746"/>
                        </a:lnTo>
                        <a:lnTo>
                          <a:pt x="20079" y="22764"/>
                        </a:lnTo>
                        <a:lnTo>
                          <a:pt x="19987" y="22782"/>
                        </a:lnTo>
                        <a:lnTo>
                          <a:pt x="19895" y="22799"/>
                        </a:lnTo>
                        <a:lnTo>
                          <a:pt x="19801" y="22815"/>
                        </a:lnTo>
                        <a:lnTo>
                          <a:pt x="19708" y="22830"/>
                        </a:lnTo>
                        <a:lnTo>
                          <a:pt x="19614" y="22844"/>
                        </a:lnTo>
                        <a:lnTo>
                          <a:pt x="19519" y="22857"/>
                        </a:lnTo>
                        <a:lnTo>
                          <a:pt x="19423" y="22869"/>
                        </a:lnTo>
                        <a:lnTo>
                          <a:pt x="19327" y="22881"/>
                        </a:lnTo>
                        <a:lnTo>
                          <a:pt x="19230" y="22893"/>
                        </a:lnTo>
                        <a:lnTo>
                          <a:pt x="19132" y="22902"/>
                        </a:lnTo>
                        <a:lnTo>
                          <a:pt x="19035" y="22911"/>
                        </a:lnTo>
                        <a:lnTo>
                          <a:pt x="18935" y="22920"/>
                        </a:lnTo>
                        <a:lnTo>
                          <a:pt x="18836" y="22927"/>
                        </a:lnTo>
                        <a:lnTo>
                          <a:pt x="18736" y="22933"/>
                        </a:lnTo>
                        <a:lnTo>
                          <a:pt x="18634" y="22939"/>
                        </a:lnTo>
                        <a:lnTo>
                          <a:pt x="18533" y="22943"/>
                        </a:lnTo>
                        <a:lnTo>
                          <a:pt x="18431" y="22947"/>
                        </a:lnTo>
                        <a:lnTo>
                          <a:pt x="18329" y="22950"/>
                        </a:lnTo>
                        <a:lnTo>
                          <a:pt x="18225" y="22952"/>
                        </a:lnTo>
                        <a:lnTo>
                          <a:pt x="18121" y="22954"/>
                        </a:lnTo>
                        <a:lnTo>
                          <a:pt x="18016" y="22954"/>
                        </a:lnTo>
                        <a:lnTo>
                          <a:pt x="18016" y="22954"/>
                        </a:lnTo>
                        <a:lnTo>
                          <a:pt x="17885" y="22953"/>
                        </a:lnTo>
                        <a:lnTo>
                          <a:pt x="17754" y="22951"/>
                        </a:lnTo>
                        <a:lnTo>
                          <a:pt x="17622" y="22948"/>
                        </a:lnTo>
                        <a:lnTo>
                          <a:pt x="17488" y="22944"/>
                        </a:lnTo>
                        <a:lnTo>
                          <a:pt x="17488" y="22944"/>
                        </a:lnTo>
                        <a:lnTo>
                          <a:pt x="17394" y="22940"/>
                        </a:lnTo>
                        <a:lnTo>
                          <a:pt x="17300" y="22935"/>
                        </a:lnTo>
                        <a:lnTo>
                          <a:pt x="17205" y="22930"/>
                        </a:lnTo>
                        <a:lnTo>
                          <a:pt x="17111" y="22924"/>
                        </a:lnTo>
                        <a:lnTo>
                          <a:pt x="16922" y="22911"/>
                        </a:lnTo>
                        <a:lnTo>
                          <a:pt x="16732" y="22895"/>
                        </a:lnTo>
                        <a:lnTo>
                          <a:pt x="16542" y="22876"/>
                        </a:lnTo>
                        <a:lnTo>
                          <a:pt x="16351" y="22857"/>
                        </a:lnTo>
                        <a:lnTo>
                          <a:pt x="16161" y="22835"/>
                        </a:lnTo>
                        <a:lnTo>
                          <a:pt x="15970" y="22811"/>
                        </a:lnTo>
                        <a:lnTo>
                          <a:pt x="15780" y="22785"/>
                        </a:lnTo>
                        <a:lnTo>
                          <a:pt x="15589" y="22758"/>
                        </a:lnTo>
                        <a:lnTo>
                          <a:pt x="15399" y="22729"/>
                        </a:lnTo>
                        <a:lnTo>
                          <a:pt x="15209" y="22697"/>
                        </a:lnTo>
                        <a:lnTo>
                          <a:pt x="15019" y="22665"/>
                        </a:lnTo>
                        <a:lnTo>
                          <a:pt x="14829" y="22631"/>
                        </a:lnTo>
                        <a:lnTo>
                          <a:pt x="14640" y="22596"/>
                        </a:lnTo>
                        <a:lnTo>
                          <a:pt x="14451" y="22560"/>
                        </a:lnTo>
                        <a:lnTo>
                          <a:pt x="14263" y="22522"/>
                        </a:lnTo>
                        <a:lnTo>
                          <a:pt x="14075" y="22484"/>
                        </a:lnTo>
                        <a:lnTo>
                          <a:pt x="13887" y="22445"/>
                        </a:lnTo>
                        <a:lnTo>
                          <a:pt x="13700" y="22405"/>
                        </a:lnTo>
                        <a:lnTo>
                          <a:pt x="13514" y="22364"/>
                        </a:lnTo>
                        <a:lnTo>
                          <a:pt x="13329" y="22323"/>
                        </a:lnTo>
                        <a:lnTo>
                          <a:pt x="13144" y="22281"/>
                        </a:lnTo>
                        <a:lnTo>
                          <a:pt x="12961" y="22239"/>
                        </a:lnTo>
                        <a:lnTo>
                          <a:pt x="12597" y="22152"/>
                        </a:lnTo>
                        <a:lnTo>
                          <a:pt x="12237" y="22066"/>
                        </a:lnTo>
                        <a:lnTo>
                          <a:pt x="11882" y="21978"/>
                        </a:lnTo>
                        <a:lnTo>
                          <a:pt x="11532" y="21893"/>
                        </a:lnTo>
                        <a:lnTo>
                          <a:pt x="11532" y="21893"/>
                        </a:lnTo>
                        <a:lnTo>
                          <a:pt x="11118" y="21790"/>
                        </a:lnTo>
                        <a:lnTo>
                          <a:pt x="10710" y="21691"/>
                        </a:lnTo>
                        <a:lnTo>
                          <a:pt x="10509" y="21643"/>
                        </a:lnTo>
                        <a:lnTo>
                          <a:pt x="10310" y="21596"/>
                        </a:lnTo>
                        <a:lnTo>
                          <a:pt x="10113" y="21550"/>
                        </a:lnTo>
                        <a:lnTo>
                          <a:pt x="9918" y="21505"/>
                        </a:lnTo>
                        <a:lnTo>
                          <a:pt x="9725" y="21462"/>
                        </a:lnTo>
                        <a:lnTo>
                          <a:pt x="9535" y="21421"/>
                        </a:lnTo>
                        <a:lnTo>
                          <a:pt x="9347" y="21382"/>
                        </a:lnTo>
                        <a:lnTo>
                          <a:pt x="9162" y="21343"/>
                        </a:lnTo>
                        <a:lnTo>
                          <a:pt x="8978" y="21308"/>
                        </a:lnTo>
                        <a:lnTo>
                          <a:pt x="8798" y="21275"/>
                        </a:lnTo>
                        <a:lnTo>
                          <a:pt x="8620" y="21245"/>
                        </a:lnTo>
                        <a:lnTo>
                          <a:pt x="8446" y="21217"/>
                        </a:lnTo>
                        <a:lnTo>
                          <a:pt x="8446" y="21217"/>
                        </a:lnTo>
                        <a:lnTo>
                          <a:pt x="8328" y="21199"/>
                        </a:lnTo>
                        <a:lnTo>
                          <a:pt x="8211" y="21182"/>
                        </a:lnTo>
                        <a:lnTo>
                          <a:pt x="8094" y="21167"/>
                        </a:lnTo>
                        <a:lnTo>
                          <a:pt x="7980" y="21153"/>
                        </a:lnTo>
                        <a:lnTo>
                          <a:pt x="7866" y="21140"/>
                        </a:lnTo>
                        <a:lnTo>
                          <a:pt x="7752" y="21128"/>
                        </a:lnTo>
                        <a:lnTo>
                          <a:pt x="7641" y="21117"/>
                        </a:lnTo>
                        <a:lnTo>
                          <a:pt x="7530" y="21107"/>
                        </a:lnTo>
                        <a:lnTo>
                          <a:pt x="7421" y="21098"/>
                        </a:lnTo>
                        <a:lnTo>
                          <a:pt x="7313" y="21091"/>
                        </a:lnTo>
                        <a:lnTo>
                          <a:pt x="7206" y="21085"/>
                        </a:lnTo>
                        <a:lnTo>
                          <a:pt x="7100" y="21079"/>
                        </a:lnTo>
                        <a:lnTo>
                          <a:pt x="6996" y="21075"/>
                        </a:lnTo>
                        <a:lnTo>
                          <a:pt x="6893" y="21072"/>
                        </a:lnTo>
                        <a:lnTo>
                          <a:pt x="6791" y="21071"/>
                        </a:lnTo>
                        <a:lnTo>
                          <a:pt x="6690" y="21070"/>
                        </a:lnTo>
                        <a:lnTo>
                          <a:pt x="6690" y="21070"/>
                        </a:lnTo>
                        <a:lnTo>
                          <a:pt x="6595" y="21071"/>
                        </a:lnTo>
                        <a:lnTo>
                          <a:pt x="6501" y="21072"/>
                        </a:lnTo>
                        <a:lnTo>
                          <a:pt x="6408" y="21075"/>
                        </a:lnTo>
                        <a:lnTo>
                          <a:pt x="6316" y="21079"/>
                        </a:lnTo>
                        <a:lnTo>
                          <a:pt x="6225" y="21083"/>
                        </a:lnTo>
                        <a:lnTo>
                          <a:pt x="6135" y="21089"/>
                        </a:lnTo>
                        <a:lnTo>
                          <a:pt x="6047" y="21096"/>
                        </a:lnTo>
                        <a:lnTo>
                          <a:pt x="5959" y="21104"/>
                        </a:lnTo>
                        <a:lnTo>
                          <a:pt x="5873" y="21113"/>
                        </a:lnTo>
                        <a:lnTo>
                          <a:pt x="5787" y="21123"/>
                        </a:lnTo>
                        <a:lnTo>
                          <a:pt x="5703" y="21134"/>
                        </a:lnTo>
                        <a:lnTo>
                          <a:pt x="5620" y="21146"/>
                        </a:lnTo>
                        <a:lnTo>
                          <a:pt x="5538" y="21159"/>
                        </a:lnTo>
                        <a:lnTo>
                          <a:pt x="5457" y="21173"/>
                        </a:lnTo>
                        <a:lnTo>
                          <a:pt x="5378" y="21188"/>
                        </a:lnTo>
                        <a:lnTo>
                          <a:pt x="5300" y="21206"/>
                        </a:lnTo>
                        <a:lnTo>
                          <a:pt x="5222" y="21223"/>
                        </a:lnTo>
                        <a:lnTo>
                          <a:pt x="5146" y="21241"/>
                        </a:lnTo>
                        <a:lnTo>
                          <a:pt x="5071" y="21261"/>
                        </a:lnTo>
                        <a:lnTo>
                          <a:pt x="4997" y="21281"/>
                        </a:lnTo>
                        <a:lnTo>
                          <a:pt x="4924" y="21303"/>
                        </a:lnTo>
                        <a:lnTo>
                          <a:pt x="4853" y="21325"/>
                        </a:lnTo>
                        <a:lnTo>
                          <a:pt x="4783" y="21349"/>
                        </a:lnTo>
                        <a:lnTo>
                          <a:pt x="4713" y="21374"/>
                        </a:lnTo>
                        <a:lnTo>
                          <a:pt x="4646" y="21400"/>
                        </a:lnTo>
                        <a:lnTo>
                          <a:pt x="4579" y="21427"/>
                        </a:lnTo>
                        <a:lnTo>
                          <a:pt x="4513" y="21454"/>
                        </a:lnTo>
                        <a:lnTo>
                          <a:pt x="4449" y="21483"/>
                        </a:lnTo>
                        <a:lnTo>
                          <a:pt x="4386" y="21513"/>
                        </a:lnTo>
                        <a:lnTo>
                          <a:pt x="4324" y="21545"/>
                        </a:lnTo>
                        <a:lnTo>
                          <a:pt x="4264" y="21576"/>
                        </a:lnTo>
                        <a:lnTo>
                          <a:pt x="4204" y="21609"/>
                        </a:lnTo>
                        <a:lnTo>
                          <a:pt x="4204" y="21609"/>
                        </a:lnTo>
                        <a:lnTo>
                          <a:pt x="4145" y="21644"/>
                        </a:lnTo>
                        <a:lnTo>
                          <a:pt x="4087" y="21680"/>
                        </a:lnTo>
                        <a:lnTo>
                          <a:pt x="4030" y="21718"/>
                        </a:lnTo>
                        <a:lnTo>
                          <a:pt x="3975" y="21757"/>
                        </a:lnTo>
                        <a:lnTo>
                          <a:pt x="3921" y="21798"/>
                        </a:lnTo>
                        <a:lnTo>
                          <a:pt x="3867" y="21839"/>
                        </a:lnTo>
                        <a:lnTo>
                          <a:pt x="3815" y="21883"/>
                        </a:lnTo>
                        <a:lnTo>
                          <a:pt x="3764" y="21927"/>
                        </a:lnTo>
                        <a:lnTo>
                          <a:pt x="3714" y="21973"/>
                        </a:lnTo>
                        <a:lnTo>
                          <a:pt x="3665" y="22020"/>
                        </a:lnTo>
                        <a:lnTo>
                          <a:pt x="3618" y="22069"/>
                        </a:lnTo>
                        <a:lnTo>
                          <a:pt x="3572" y="22118"/>
                        </a:lnTo>
                        <a:lnTo>
                          <a:pt x="3526" y="22168"/>
                        </a:lnTo>
                        <a:lnTo>
                          <a:pt x="3482" y="22220"/>
                        </a:lnTo>
                        <a:lnTo>
                          <a:pt x="3439" y="22273"/>
                        </a:lnTo>
                        <a:lnTo>
                          <a:pt x="3397" y="22326"/>
                        </a:lnTo>
                        <a:lnTo>
                          <a:pt x="3355" y="22381"/>
                        </a:lnTo>
                        <a:lnTo>
                          <a:pt x="3315" y="22437"/>
                        </a:lnTo>
                        <a:lnTo>
                          <a:pt x="3276" y="22494"/>
                        </a:lnTo>
                        <a:lnTo>
                          <a:pt x="3239" y="22551"/>
                        </a:lnTo>
                        <a:lnTo>
                          <a:pt x="3202" y="22610"/>
                        </a:lnTo>
                        <a:lnTo>
                          <a:pt x="3165" y="22669"/>
                        </a:lnTo>
                        <a:lnTo>
                          <a:pt x="3130" y="22730"/>
                        </a:lnTo>
                        <a:lnTo>
                          <a:pt x="3097" y="22791"/>
                        </a:lnTo>
                        <a:lnTo>
                          <a:pt x="3064" y="22852"/>
                        </a:lnTo>
                        <a:lnTo>
                          <a:pt x="3032" y="22915"/>
                        </a:lnTo>
                        <a:lnTo>
                          <a:pt x="3001" y="22978"/>
                        </a:lnTo>
                        <a:lnTo>
                          <a:pt x="2971" y="23042"/>
                        </a:lnTo>
                        <a:lnTo>
                          <a:pt x="2942" y="23107"/>
                        </a:lnTo>
                        <a:lnTo>
                          <a:pt x="2914" y="23171"/>
                        </a:lnTo>
                        <a:lnTo>
                          <a:pt x="2887" y="23238"/>
                        </a:lnTo>
                        <a:lnTo>
                          <a:pt x="2861" y="23304"/>
                        </a:lnTo>
                        <a:lnTo>
                          <a:pt x="2835" y="23370"/>
                        </a:lnTo>
                        <a:lnTo>
                          <a:pt x="2811" y="23438"/>
                        </a:lnTo>
                        <a:lnTo>
                          <a:pt x="2787" y="23505"/>
                        </a:lnTo>
                        <a:lnTo>
                          <a:pt x="2765" y="23574"/>
                        </a:lnTo>
                        <a:lnTo>
                          <a:pt x="2744" y="23642"/>
                        </a:lnTo>
                        <a:lnTo>
                          <a:pt x="2723" y="23710"/>
                        </a:lnTo>
                        <a:lnTo>
                          <a:pt x="2703" y="23780"/>
                        </a:lnTo>
                        <a:lnTo>
                          <a:pt x="2684" y="23849"/>
                        </a:lnTo>
                        <a:lnTo>
                          <a:pt x="2666" y="23919"/>
                        </a:lnTo>
                        <a:lnTo>
                          <a:pt x="2648" y="23988"/>
                        </a:lnTo>
                        <a:lnTo>
                          <a:pt x="2632" y="24058"/>
                        </a:lnTo>
                        <a:lnTo>
                          <a:pt x="2616" y="24129"/>
                        </a:lnTo>
                        <a:lnTo>
                          <a:pt x="2602" y="24199"/>
                        </a:lnTo>
                        <a:lnTo>
                          <a:pt x="2588" y="24270"/>
                        </a:lnTo>
                        <a:lnTo>
                          <a:pt x="2575" y="24340"/>
                        </a:lnTo>
                        <a:lnTo>
                          <a:pt x="2563" y="24410"/>
                        </a:lnTo>
                        <a:lnTo>
                          <a:pt x="2551" y="24481"/>
                        </a:lnTo>
                        <a:lnTo>
                          <a:pt x="2540" y="24551"/>
                        </a:lnTo>
                        <a:lnTo>
                          <a:pt x="2531" y="24622"/>
                        </a:lnTo>
                        <a:lnTo>
                          <a:pt x="2521" y="24692"/>
                        </a:lnTo>
                        <a:lnTo>
                          <a:pt x="2513" y="24763"/>
                        </a:lnTo>
                        <a:lnTo>
                          <a:pt x="2505" y="24832"/>
                        </a:lnTo>
                        <a:lnTo>
                          <a:pt x="2499" y="24902"/>
                        </a:lnTo>
                        <a:lnTo>
                          <a:pt x="2492" y="24972"/>
                        </a:lnTo>
                        <a:lnTo>
                          <a:pt x="2486" y="25041"/>
                        </a:lnTo>
                        <a:lnTo>
                          <a:pt x="2481" y="25111"/>
                        </a:lnTo>
                        <a:lnTo>
                          <a:pt x="2477" y="25179"/>
                        </a:lnTo>
                        <a:lnTo>
                          <a:pt x="2474" y="25247"/>
                        </a:lnTo>
                        <a:lnTo>
                          <a:pt x="2471" y="25316"/>
                        </a:lnTo>
                        <a:lnTo>
                          <a:pt x="2470" y="25383"/>
                        </a:lnTo>
                        <a:lnTo>
                          <a:pt x="2468" y="25451"/>
                        </a:lnTo>
                        <a:lnTo>
                          <a:pt x="2468" y="25517"/>
                        </a:lnTo>
                        <a:lnTo>
                          <a:pt x="0" y="25517"/>
                        </a:lnTo>
                        <a:lnTo>
                          <a:pt x="0" y="25517"/>
                        </a:lnTo>
                        <a:lnTo>
                          <a:pt x="2" y="25377"/>
                        </a:lnTo>
                        <a:lnTo>
                          <a:pt x="4" y="25304"/>
                        </a:lnTo>
                        <a:lnTo>
                          <a:pt x="6" y="25228"/>
                        </a:lnTo>
                        <a:lnTo>
                          <a:pt x="9" y="25152"/>
                        </a:lnTo>
                        <a:lnTo>
                          <a:pt x="13" y="25073"/>
                        </a:lnTo>
                        <a:lnTo>
                          <a:pt x="18" y="24993"/>
                        </a:lnTo>
                        <a:lnTo>
                          <a:pt x="24" y="24910"/>
                        </a:lnTo>
                        <a:lnTo>
                          <a:pt x="31" y="24827"/>
                        </a:lnTo>
                        <a:lnTo>
                          <a:pt x="39" y="24741"/>
                        </a:lnTo>
                        <a:lnTo>
                          <a:pt x="47" y="24655"/>
                        </a:lnTo>
                        <a:lnTo>
                          <a:pt x="57" y="24566"/>
                        </a:lnTo>
                        <a:lnTo>
                          <a:pt x="68" y="24477"/>
                        </a:lnTo>
                        <a:lnTo>
                          <a:pt x="80" y="24386"/>
                        </a:lnTo>
                        <a:lnTo>
                          <a:pt x="93" y="24294"/>
                        </a:lnTo>
                        <a:lnTo>
                          <a:pt x="107" y="24201"/>
                        </a:lnTo>
                        <a:lnTo>
                          <a:pt x="123" y="24107"/>
                        </a:lnTo>
                        <a:lnTo>
                          <a:pt x="140" y="24011"/>
                        </a:lnTo>
                        <a:lnTo>
                          <a:pt x="158" y="23916"/>
                        </a:lnTo>
                        <a:lnTo>
                          <a:pt x="178" y="23818"/>
                        </a:lnTo>
                        <a:lnTo>
                          <a:pt x="199" y="23720"/>
                        </a:lnTo>
                        <a:lnTo>
                          <a:pt x="223" y="23621"/>
                        </a:lnTo>
                        <a:lnTo>
                          <a:pt x="247" y="23521"/>
                        </a:lnTo>
                        <a:lnTo>
                          <a:pt x="273" y="23422"/>
                        </a:lnTo>
                        <a:lnTo>
                          <a:pt x="301" y="23321"/>
                        </a:lnTo>
                        <a:lnTo>
                          <a:pt x="330" y="23219"/>
                        </a:lnTo>
                        <a:lnTo>
                          <a:pt x="361" y="23118"/>
                        </a:lnTo>
                        <a:lnTo>
                          <a:pt x="395" y="23015"/>
                        </a:lnTo>
                        <a:lnTo>
                          <a:pt x="430" y="22913"/>
                        </a:lnTo>
                        <a:lnTo>
                          <a:pt x="466" y="22810"/>
                        </a:lnTo>
                        <a:lnTo>
                          <a:pt x="505" y="22707"/>
                        </a:lnTo>
                        <a:lnTo>
                          <a:pt x="546" y="22604"/>
                        </a:lnTo>
                        <a:lnTo>
                          <a:pt x="546" y="22604"/>
                        </a:lnTo>
                        <a:lnTo>
                          <a:pt x="592" y="22494"/>
                        </a:lnTo>
                        <a:lnTo>
                          <a:pt x="639" y="22386"/>
                        </a:lnTo>
                        <a:lnTo>
                          <a:pt x="688" y="22279"/>
                        </a:lnTo>
                        <a:lnTo>
                          <a:pt x="739" y="22174"/>
                        </a:lnTo>
                        <a:lnTo>
                          <a:pt x="791" y="22072"/>
                        </a:lnTo>
                        <a:lnTo>
                          <a:pt x="844" y="21970"/>
                        </a:lnTo>
                        <a:lnTo>
                          <a:pt x="899" y="21870"/>
                        </a:lnTo>
                        <a:lnTo>
                          <a:pt x="957" y="21773"/>
                        </a:lnTo>
                        <a:lnTo>
                          <a:pt x="1015" y="21676"/>
                        </a:lnTo>
                        <a:lnTo>
                          <a:pt x="1075" y="21582"/>
                        </a:lnTo>
                        <a:lnTo>
                          <a:pt x="1137" y="21489"/>
                        </a:lnTo>
                        <a:lnTo>
                          <a:pt x="1200" y="21398"/>
                        </a:lnTo>
                        <a:lnTo>
                          <a:pt x="1266" y="21309"/>
                        </a:lnTo>
                        <a:lnTo>
                          <a:pt x="1332" y="21222"/>
                        </a:lnTo>
                        <a:lnTo>
                          <a:pt x="1400" y="21136"/>
                        </a:lnTo>
                        <a:lnTo>
                          <a:pt x="1470" y="21052"/>
                        </a:lnTo>
                        <a:lnTo>
                          <a:pt x="1541" y="20970"/>
                        </a:lnTo>
                        <a:lnTo>
                          <a:pt x="1614" y="20890"/>
                        </a:lnTo>
                        <a:lnTo>
                          <a:pt x="1688" y="20811"/>
                        </a:lnTo>
                        <a:lnTo>
                          <a:pt x="1763" y="20734"/>
                        </a:lnTo>
                        <a:lnTo>
                          <a:pt x="1841" y="20659"/>
                        </a:lnTo>
                        <a:lnTo>
                          <a:pt x="1920" y="20586"/>
                        </a:lnTo>
                        <a:lnTo>
                          <a:pt x="2001" y="20514"/>
                        </a:lnTo>
                        <a:lnTo>
                          <a:pt x="2082" y="20445"/>
                        </a:lnTo>
                        <a:lnTo>
                          <a:pt x="2166" y="20377"/>
                        </a:lnTo>
                        <a:lnTo>
                          <a:pt x="2251" y="20311"/>
                        </a:lnTo>
                        <a:lnTo>
                          <a:pt x="2338" y="20247"/>
                        </a:lnTo>
                        <a:lnTo>
                          <a:pt x="2426" y="20184"/>
                        </a:lnTo>
                        <a:lnTo>
                          <a:pt x="2516" y="20124"/>
                        </a:lnTo>
                        <a:lnTo>
                          <a:pt x="2607" y="20065"/>
                        </a:lnTo>
                        <a:lnTo>
                          <a:pt x="2700" y="20008"/>
                        </a:lnTo>
                        <a:lnTo>
                          <a:pt x="2793" y="19953"/>
                        </a:lnTo>
                        <a:lnTo>
                          <a:pt x="2793" y="19953"/>
                        </a:lnTo>
                        <a:lnTo>
                          <a:pt x="2893" y="19898"/>
                        </a:lnTo>
                        <a:lnTo>
                          <a:pt x="2993" y="19844"/>
                        </a:lnTo>
                        <a:lnTo>
                          <a:pt x="3095" y="19793"/>
                        </a:lnTo>
                        <a:lnTo>
                          <a:pt x="3199" y="19743"/>
                        </a:lnTo>
                        <a:lnTo>
                          <a:pt x="3304" y="19695"/>
                        </a:lnTo>
                        <a:lnTo>
                          <a:pt x="3411" y="19648"/>
                        </a:lnTo>
                        <a:lnTo>
                          <a:pt x="3519" y="19603"/>
                        </a:lnTo>
                        <a:lnTo>
                          <a:pt x="3629" y="19560"/>
                        </a:lnTo>
                        <a:lnTo>
                          <a:pt x="3740" y="19519"/>
                        </a:lnTo>
                        <a:lnTo>
                          <a:pt x="3852" y="19479"/>
                        </a:lnTo>
                        <a:lnTo>
                          <a:pt x="3967" y="19441"/>
                        </a:lnTo>
                        <a:lnTo>
                          <a:pt x="4083" y="19405"/>
                        </a:lnTo>
                        <a:lnTo>
                          <a:pt x="4199" y="19371"/>
                        </a:lnTo>
                        <a:lnTo>
                          <a:pt x="4318" y="19338"/>
                        </a:lnTo>
                        <a:lnTo>
                          <a:pt x="4438" y="19307"/>
                        </a:lnTo>
                        <a:lnTo>
                          <a:pt x="4559" y="19278"/>
                        </a:lnTo>
                        <a:lnTo>
                          <a:pt x="4682" y="19251"/>
                        </a:lnTo>
                        <a:lnTo>
                          <a:pt x="4807" y="19226"/>
                        </a:lnTo>
                        <a:lnTo>
                          <a:pt x="4932" y="19202"/>
                        </a:lnTo>
                        <a:lnTo>
                          <a:pt x="5059" y="19180"/>
                        </a:lnTo>
                        <a:lnTo>
                          <a:pt x="5188" y="19159"/>
                        </a:lnTo>
                        <a:lnTo>
                          <a:pt x="5319" y="19140"/>
                        </a:lnTo>
                        <a:lnTo>
                          <a:pt x="5449" y="19124"/>
                        </a:lnTo>
                        <a:lnTo>
                          <a:pt x="5582" y="19109"/>
                        </a:lnTo>
                        <a:lnTo>
                          <a:pt x="5717" y="19096"/>
                        </a:lnTo>
                        <a:lnTo>
                          <a:pt x="5852" y="19084"/>
                        </a:lnTo>
                        <a:lnTo>
                          <a:pt x="5989" y="19074"/>
                        </a:lnTo>
                        <a:lnTo>
                          <a:pt x="6127" y="19066"/>
                        </a:lnTo>
                        <a:lnTo>
                          <a:pt x="6267" y="19060"/>
                        </a:lnTo>
                        <a:lnTo>
                          <a:pt x="6408" y="19056"/>
                        </a:lnTo>
                        <a:lnTo>
                          <a:pt x="6551" y="19053"/>
                        </a:lnTo>
                        <a:lnTo>
                          <a:pt x="6694" y="19052"/>
                        </a:lnTo>
                        <a:lnTo>
                          <a:pt x="6694" y="19052"/>
                        </a:lnTo>
                        <a:lnTo>
                          <a:pt x="6824" y="19053"/>
                        </a:lnTo>
                        <a:lnTo>
                          <a:pt x="6955" y="19055"/>
                        </a:lnTo>
                        <a:lnTo>
                          <a:pt x="7087" y="19059"/>
                        </a:lnTo>
                        <a:lnTo>
                          <a:pt x="7220" y="19064"/>
                        </a:lnTo>
                        <a:lnTo>
                          <a:pt x="7354" y="19070"/>
                        </a:lnTo>
                        <a:lnTo>
                          <a:pt x="7490" y="19078"/>
                        </a:lnTo>
                        <a:lnTo>
                          <a:pt x="7627" y="19087"/>
                        </a:lnTo>
                        <a:lnTo>
                          <a:pt x="7765" y="19097"/>
                        </a:lnTo>
                        <a:lnTo>
                          <a:pt x="7903" y="19109"/>
                        </a:lnTo>
                        <a:lnTo>
                          <a:pt x="8044" y="19123"/>
                        </a:lnTo>
                        <a:lnTo>
                          <a:pt x="8185" y="19138"/>
                        </a:lnTo>
                        <a:lnTo>
                          <a:pt x="8327" y="19154"/>
                        </a:lnTo>
                        <a:lnTo>
                          <a:pt x="8470" y="19171"/>
                        </a:lnTo>
                        <a:lnTo>
                          <a:pt x="8613" y="19191"/>
                        </a:lnTo>
                        <a:lnTo>
                          <a:pt x="8757" y="19211"/>
                        </a:lnTo>
                        <a:lnTo>
                          <a:pt x="8903" y="19233"/>
                        </a:lnTo>
                        <a:lnTo>
                          <a:pt x="8903" y="19233"/>
                        </a:lnTo>
                        <a:lnTo>
                          <a:pt x="9101" y="19265"/>
                        </a:lnTo>
                        <a:lnTo>
                          <a:pt x="9300" y="19298"/>
                        </a:lnTo>
                        <a:lnTo>
                          <a:pt x="9501" y="19335"/>
                        </a:lnTo>
                        <a:lnTo>
                          <a:pt x="9704" y="19374"/>
                        </a:lnTo>
                        <a:lnTo>
                          <a:pt x="9907" y="19415"/>
                        </a:lnTo>
                        <a:lnTo>
                          <a:pt x="10112" y="19457"/>
                        </a:lnTo>
                        <a:lnTo>
                          <a:pt x="10318" y="19501"/>
                        </a:lnTo>
                        <a:lnTo>
                          <a:pt x="10526" y="19548"/>
                        </a:lnTo>
                        <a:lnTo>
                          <a:pt x="10735" y="19596"/>
                        </a:lnTo>
                        <a:lnTo>
                          <a:pt x="10947" y="19644"/>
                        </a:lnTo>
                        <a:lnTo>
                          <a:pt x="11159" y="19695"/>
                        </a:lnTo>
                        <a:lnTo>
                          <a:pt x="11373" y="19746"/>
                        </a:lnTo>
                        <a:lnTo>
                          <a:pt x="11806" y="19852"/>
                        </a:lnTo>
                        <a:lnTo>
                          <a:pt x="12244" y="19959"/>
                        </a:lnTo>
                        <a:lnTo>
                          <a:pt x="12244" y="19959"/>
                        </a:lnTo>
                        <a:lnTo>
                          <a:pt x="12609" y="20050"/>
                        </a:lnTo>
                        <a:lnTo>
                          <a:pt x="12976" y="20139"/>
                        </a:lnTo>
                        <a:lnTo>
                          <a:pt x="13343" y="20228"/>
                        </a:lnTo>
                        <a:lnTo>
                          <a:pt x="13710" y="20314"/>
                        </a:lnTo>
                        <a:lnTo>
                          <a:pt x="13894" y="20356"/>
                        </a:lnTo>
                        <a:lnTo>
                          <a:pt x="14078" y="20399"/>
                        </a:lnTo>
                        <a:lnTo>
                          <a:pt x="14262" y="20439"/>
                        </a:lnTo>
                        <a:lnTo>
                          <a:pt x="14445" y="20479"/>
                        </a:lnTo>
                        <a:lnTo>
                          <a:pt x="14628" y="20517"/>
                        </a:lnTo>
                        <a:lnTo>
                          <a:pt x="14810" y="20556"/>
                        </a:lnTo>
                        <a:lnTo>
                          <a:pt x="14993" y="20592"/>
                        </a:lnTo>
                        <a:lnTo>
                          <a:pt x="15174" y="20627"/>
                        </a:lnTo>
                        <a:lnTo>
                          <a:pt x="15356" y="20661"/>
                        </a:lnTo>
                        <a:lnTo>
                          <a:pt x="15537" y="20693"/>
                        </a:lnTo>
                        <a:lnTo>
                          <a:pt x="15717" y="20724"/>
                        </a:lnTo>
                        <a:lnTo>
                          <a:pt x="15896" y="20753"/>
                        </a:lnTo>
                        <a:lnTo>
                          <a:pt x="16075" y="20780"/>
                        </a:lnTo>
                        <a:lnTo>
                          <a:pt x="16253" y="20805"/>
                        </a:lnTo>
                        <a:lnTo>
                          <a:pt x="16431" y="20829"/>
                        </a:lnTo>
                        <a:lnTo>
                          <a:pt x="16607" y="20850"/>
                        </a:lnTo>
                        <a:lnTo>
                          <a:pt x="16783" y="20870"/>
                        </a:lnTo>
                        <a:lnTo>
                          <a:pt x="16958" y="20887"/>
                        </a:lnTo>
                        <a:lnTo>
                          <a:pt x="17131" y="20901"/>
                        </a:lnTo>
                        <a:lnTo>
                          <a:pt x="17217" y="20907"/>
                        </a:lnTo>
                        <a:lnTo>
                          <a:pt x="17304" y="20913"/>
                        </a:lnTo>
                        <a:lnTo>
                          <a:pt x="17389" y="20918"/>
                        </a:lnTo>
                        <a:lnTo>
                          <a:pt x="17475" y="20923"/>
                        </a:lnTo>
                        <a:lnTo>
                          <a:pt x="17560" y="20926"/>
                        </a:lnTo>
                        <a:lnTo>
                          <a:pt x="17646" y="20930"/>
                        </a:lnTo>
                        <a:lnTo>
                          <a:pt x="17730" y="20932"/>
                        </a:lnTo>
                        <a:lnTo>
                          <a:pt x="17815" y="20934"/>
                        </a:lnTo>
                        <a:lnTo>
                          <a:pt x="17898" y="20935"/>
                        </a:lnTo>
                        <a:lnTo>
                          <a:pt x="17983" y="20935"/>
                        </a:lnTo>
                        <a:lnTo>
                          <a:pt x="17983" y="20935"/>
                        </a:lnTo>
                        <a:lnTo>
                          <a:pt x="18128" y="20934"/>
                        </a:lnTo>
                        <a:lnTo>
                          <a:pt x="18270" y="20931"/>
                        </a:lnTo>
                        <a:lnTo>
                          <a:pt x="18412" y="20925"/>
                        </a:lnTo>
                        <a:lnTo>
                          <a:pt x="18551" y="20917"/>
                        </a:lnTo>
                        <a:lnTo>
                          <a:pt x="18689" y="20907"/>
                        </a:lnTo>
                        <a:lnTo>
                          <a:pt x="18756" y="20901"/>
                        </a:lnTo>
                        <a:lnTo>
                          <a:pt x="18824" y="20895"/>
                        </a:lnTo>
                        <a:lnTo>
                          <a:pt x="18890" y="20888"/>
                        </a:lnTo>
                        <a:lnTo>
                          <a:pt x="18956" y="20881"/>
                        </a:lnTo>
                        <a:lnTo>
                          <a:pt x="19023" y="20872"/>
                        </a:lnTo>
                        <a:lnTo>
                          <a:pt x="19088" y="20863"/>
                        </a:lnTo>
                        <a:lnTo>
                          <a:pt x="19152" y="20854"/>
                        </a:lnTo>
                        <a:lnTo>
                          <a:pt x="19217" y="20844"/>
                        </a:lnTo>
                        <a:lnTo>
                          <a:pt x="19281" y="20833"/>
                        </a:lnTo>
                        <a:lnTo>
                          <a:pt x="19345" y="20822"/>
                        </a:lnTo>
                        <a:lnTo>
                          <a:pt x="19407" y="20811"/>
                        </a:lnTo>
                        <a:lnTo>
                          <a:pt x="19470" y="20799"/>
                        </a:lnTo>
                        <a:lnTo>
                          <a:pt x="19532" y="20786"/>
                        </a:lnTo>
                        <a:lnTo>
                          <a:pt x="19593" y="20773"/>
                        </a:lnTo>
                        <a:lnTo>
                          <a:pt x="19654" y="20759"/>
                        </a:lnTo>
                        <a:lnTo>
                          <a:pt x="19715" y="20745"/>
                        </a:lnTo>
                        <a:lnTo>
                          <a:pt x="19775" y="20730"/>
                        </a:lnTo>
                        <a:lnTo>
                          <a:pt x="19834" y="20715"/>
                        </a:lnTo>
                        <a:lnTo>
                          <a:pt x="19894" y="20699"/>
                        </a:lnTo>
                        <a:lnTo>
                          <a:pt x="19952" y="20681"/>
                        </a:lnTo>
                        <a:lnTo>
                          <a:pt x="20010" y="20664"/>
                        </a:lnTo>
                        <a:lnTo>
                          <a:pt x="20069" y="20646"/>
                        </a:lnTo>
                        <a:lnTo>
                          <a:pt x="20125" y="20628"/>
                        </a:lnTo>
                        <a:lnTo>
                          <a:pt x="20182" y="20609"/>
                        </a:lnTo>
                        <a:lnTo>
                          <a:pt x="20239" y="20589"/>
                        </a:lnTo>
                        <a:lnTo>
                          <a:pt x="20295" y="20569"/>
                        </a:lnTo>
                        <a:lnTo>
                          <a:pt x="20350" y="20549"/>
                        </a:lnTo>
                        <a:lnTo>
                          <a:pt x="20405" y="20528"/>
                        </a:lnTo>
                        <a:lnTo>
                          <a:pt x="20459" y="20505"/>
                        </a:lnTo>
                        <a:lnTo>
                          <a:pt x="20513" y="20482"/>
                        </a:lnTo>
                        <a:lnTo>
                          <a:pt x="20567" y="20460"/>
                        </a:lnTo>
                        <a:lnTo>
                          <a:pt x="20620" y="20436"/>
                        </a:lnTo>
                        <a:lnTo>
                          <a:pt x="20673" y="20412"/>
                        </a:lnTo>
                        <a:lnTo>
                          <a:pt x="20725" y="20387"/>
                        </a:lnTo>
                        <a:lnTo>
                          <a:pt x="20777" y="20362"/>
                        </a:lnTo>
                        <a:lnTo>
                          <a:pt x="20828" y="20335"/>
                        </a:lnTo>
                        <a:lnTo>
                          <a:pt x="20879" y="20309"/>
                        </a:lnTo>
                        <a:lnTo>
                          <a:pt x="20930" y="20282"/>
                        </a:lnTo>
                        <a:lnTo>
                          <a:pt x="20980" y="20254"/>
                        </a:lnTo>
                        <a:lnTo>
                          <a:pt x="21029" y="20226"/>
                        </a:lnTo>
                        <a:lnTo>
                          <a:pt x="21078" y="20198"/>
                        </a:lnTo>
                        <a:lnTo>
                          <a:pt x="21128" y="20167"/>
                        </a:lnTo>
                        <a:lnTo>
                          <a:pt x="21176" y="20138"/>
                        </a:lnTo>
                        <a:lnTo>
                          <a:pt x="21223" y="20107"/>
                        </a:lnTo>
                        <a:lnTo>
                          <a:pt x="21270" y="20076"/>
                        </a:lnTo>
                        <a:lnTo>
                          <a:pt x="21318" y="20045"/>
                        </a:lnTo>
                        <a:lnTo>
                          <a:pt x="21364" y="20011"/>
                        </a:lnTo>
                        <a:lnTo>
                          <a:pt x="21410" y="19979"/>
                        </a:lnTo>
                        <a:lnTo>
                          <a:pt x="21457" y="19945"/>
                        </a:lnTo>
                        <a:lnTo>
                          <a:pt x="21502" y="19911"/>
                        </a:lnTo>
                        <a:lnTo>
                          <a:pt x="21547" y="19877"/>
                        </a:lnTo>
                        <a:lnTo>
                          <a:pt x="21591" y="19841"/>
                        </a:lnTo>
                        <a:lnTo>
                          <a:pt x="21636" y="19805"/>
                        </a:lnTo>
                        <a:lnTo>
                          <a:pt x="21679" y="19769"/>
                        </a:lnTo>
                        <a:lnTo>
                          <a:pt x="21679" y="19769"/>
                        </a:lnTo>
                        <a:lnTo>
                          <a:pt x="21735" y="19721"/>
                        </a:lnTo>
                        <a:lnTo>
                          <a:pt x="21790" y="19670"/>
                        </a:lnTo>
                        <a:lnTo>
                          <a:pt x="21846" y="19620"/>
                        </a:lnTo>
                        <a:lnTo>
                          <a:pt x="21900" y="19569"/>
                        </a:lnTo>
                        <a:lnTo>
                          <a:pt x="21954" y="19516"/>
                        </a:lnTo>
                        <a:lnTo>
                          <a:pt x="22008" y="19462"/>
                        </a:lnTo>
                        <a:lnTo>
                          <a:pt x="22060" y="19407"/>
                        </a:lnTo>
                        <a:lnTo>
                          <a:pt x="22112" y="19352"/>
                        </a:lnTo>
                        <a:lnTo>
                          <a:pt x="22164" y="19295"/>
                        </a:lnTo>
                        <a:lnTo>
                          <a:pt x="22214" y="19238"/>
                        </a:lnTo>
                        <a:lnTo>
                          <a:pt x="22263" y="19179"/>
                        </a:lnTo>
                        <a:lnTo>
                          <a:pt x="22312" y="19119"/>
                        </a:lnTo>
                        <a:lnTo>
                          <a:pt x="22361" y="19060"/>
                        </a:lnTo>
                        <a:lnTo>
                          <a:pt x="22407" y="18998"/>
                        </a:lnTo>
                        <a:lnTo>
                          <a:pt x="22454" y="18937"/>
                        </a:lnTo>
                        <a:lnTo>
                          <a:pt x="22499" y="18874"/>
                        </a:lnTo>
                        <a:lnTo>
                          <a:pt x="22544" y="18810"/>
                        </a:lnTo>
                        <a:lnTo>
                          <a:pt x="22587" y="18747"/>
                        </a:lnTo>
                        <a:lnTo>
                          <a:pt x="22629" y="18683"/>
                        </a:lnTo>
                        <a:lnTo>
                          <a:pt x="22670" y="18617"/>
                        </a:lnTo>
                        <a:lnTo>
                          <a:pt x="22712" y="18551"/>
                        </a:lnTo>
                        <a:lnTo>
                          <a:pt x="22751" y="18484"/>
                        </a:lnTo>
                        <a:lnTo>
                          <a:pt x="22789" y="18417"/>
                        </a:lnTo>
                        <a:lnTo>
                          <a:pt x="22826" y="18350"/>
                        </a:lnTo>
                        <a:lnTo>
                          <a:pt x="22862" y="18281"/>
                        </a:lnTo>
                        <a:lnTo>
                          <a:pt x="22897" y="18212"/>
                        </a:lnTo>
                        <a:lnTo>
                          <a:pt x="22930" y="18143"/>
                        </a:lnTo>
                        <a:lnTo>
                          <a:pt x="22962" y="18073"/>
                        </a:lnTo>
                        <a:lnTo>
                          <a:pt x="22993" y="18003"/>
                        </a:lnTo>
                        <a:lnTo>
                          <a:pt x="23022" y="17932"/>
                        </a:lnTo>
                        <a:lnTo>
                          <a:pt x="23052" y="17862"/>
                        </a:lnTo>
                        <a:lnTo>
                          <a:pt x="23078" y="17790"/>
                        </a:lnTo>
                        <a:lnTo>
                          <a:pt x="23104" y="17719"/>
                        </a:lnTo>
                        <a:lnTo>
                          <a:pt x="23128" y="17646"/>
                        </a:lnTo>
                        <a:lnTo>
                          <a:pt x="23151" y="17574"/>
                        </a:lnTo>
                        <a:lnTo>
                          <a:pt x="23172" y="17502"/>
                        </a:lnTo>
                        <a:lnTo>
                          <a:pt x="23191" y="17429"/>
                        </a:lnTo>
                        <a:lnTo>
                          <a:pt x="23211" y="17356"/>
                        </a:lnTo>
                        <a:lnTo>
                          <a:pt x="23227" y="17283"/>
                        </a:lnTo>
                        <a:lnTo>
                          <a:pt x="23242" y="17210"/>
                        </a:lnTo>
                        <a:lnTo>
                          <a:pt x="23256" y="17136"/>
                        </a:lnTo>
                        <a:lnTo>
                          <a:pt x="23268" y="17063"/>
                        </a:lnTo>
                        <a:lnTo>
                          <a:pt x="23278" y="16990"/>
                        </a:lnTo>
                        <a:lnTo>
                          <a:pt x="23286" y="16916"/>
                        </a:lnTo>
                        <a:lnTo>
                          <a:pt x="23293" y="16842"/>
                        </a:lnTo>
                        <a:lnTo>
                          <a:pt x="23298" y="16768"/>
                        </a:lnTo>
                        <a:lnTo>
                          <a:pt x="23302" y="16695"/>
                        </a:lnTo>
                        <a:lnTo>
                          <a:pt x="23303" y="16621"/>
                        </a:lnTo>
                        <a:lnTo>
                          <a:pt x="23303" y="16548"/>
                        </a:lnTo>
                        <a:lnTo>
                          <a:pt x="23301" y="16475"/>
                        </a:lnTo>
                        <a:lnTo>
                          <a:pt x="23297" y="16401"/>
                        </a:lnTo>
                        <a:lnTo>
                          <a:pt x="23291" y="16328"/>
                        </a:lnTo>
                        <a:lnTo>
                          <a:pt x="23283" y="16255"/>
                        </a:lnTo>
                        <a:lnTo>
                          <a:pt x="23274" y="16182"/>
                        </a:lnTo>
                        <a:lnTo>
                          <a:pt x="23262" y="16109"/>
                        </a:lnTo>
                        <a:lnTo>
                          <a:pt x="23248" y="16037"/>
                        </a:lnTo>
                        <a:lnTo>
                          <a:pt x="23233" y="15966"/>
                        </a:lnTo>
                        <a:lnTo>
                          <a:pt x="23215" y="15894"/>
                        </a:lnTo>
                        <a:lnTo>
                          <a:pt x="23194" y="15823"/>
                        </a:lnTo>
                        <a:lnTo>
                          <a:pt x="23172" y="15751"/>
                        </a:lnTo>
                        <a:lnTo>
                          <a:pt x="23148" y="15681"/>
                        </a:lnTo>
                        <a:lnTo>
                          <a:pt x="23122" y="15610"/>
                        </a:lnTo>
                        <a:lnTo>
                          <a:pt x="23093" y="15541"/>
                        </a:lnTo>
                        <a:lnTo>
                          <a:pt x="23062" y="15472"/>
                        </a:lnTo>
                        <a:lnTo>
                          <a:pt x="23062" y="15472"/>
                        </a:lnTo>
                        <a:lnTo>
                          <a:pt x="23042" y="15427"/>
                        </a:lnTo>
                        <a:lnTo>
                          <a:pt x="23019" y="15382"/>
                        </a:lnTo>
                        <a:lnTo>
                          <a:pt x="22996" y="15338"/>
                        </a:lnTo>
                        <a:lnTo>
                          <a:pt x="22973" y="15293"/>
                        </a:lnTo>
                        <a:lnTo>
                          <a:pt x="22948" y="15247"/>
                        </a:lnTo>
                        <a:lnTo>
                          <a:pt x="22923" y="15202"/>
                        </a:lnTo>
                        <a:lnTo>
                          <a:pt x="22896" y="15157"/>
                        </a:lnTo>
                        <a:lnTo>
                          <a:pt x="22869" y="15111"/>
                        </a:lnTo>
                        <a:lnTo>
                          <a:pt x="22840" y="15066"/>
                        </a:lnTo>
                        <a:lnTo>
                          <a:pt x="22812" y="15022"/>
                        </a:lnTo>
                        <a:lnTo>
                          <a:pt x="22782" y="14977"/>
                        </a:lnTo>
                        <a:lnTo>
                          <a:pt x="22751" y="14931"/>
                        </a:lnTo>
                        <a:lnTo>
                          <a:pt x="22720" y="14886"/>
                        </a:lnTo>
                        <a:lnTo>
                          <a:pt x="22687" y="14842"/>
                        </a:lnTo>
                        <a:lnTo>
                          <a:pt x="22653" y="14797"/>
                        </a:lnTo>
                        <a:lnTo>
                          <a:pt x="22619" y="14752"/>
                        </a:lnTo>
                        <a:lnTo>
                          <a:pt x="22584" y="14708"/>
                        </a:lnTo>
                        <a:lnTo>
                          <a:pt x="22549" y="14664"/>
                        </a:lnTo>
                        <a:lnTo>
                          <a:pt x="22512" y="14621"/>
                        </a:lnTo>
                        <a:lnTo>
                          <a:pt x="22474" y="14577"/>
                        </a:lnTo>
                        <a:lnTo>
                          <a:pt x="22435" y="14534"/>
                        </a:lnTo>
                        <a:lnTo>
                          <a:pt x="22396" y="14492"/>
                        </a:lnTo>
                        <a:lnTo>
                          <a:pt x="22356" y="14450"/>
                        </a:lnTo>
                        <a:lnTo>
                          <a:pt x="22315" y="14407"/>
                        </a:lnTo>
                        <a:lnTo>
                          <a:pt x="22273" y="14366"/>
                        </a:lnTo>
                        <a:lnTo>
                          <a:pt x="22231" y="14326"/>
                        </a:lnTo>
                        <a:lnTo>
                          <a:pt x="22187" y="14285"/>
                        </a:lnTo>
                        <a:lnTo>
                          <a:pt x="22142" y="14245"/>
                        </a:lnTo>
                        <a:lnTo>
                          <a:pt x="22097" y="14206"/>
                        </a:lnTo>
                        <a:lnTo>
                          <a:pt x="22052" y="14168"/>
                        </a:lnTo>
                        <a:lnTo>
                          <a:pt x="22005" y="14130"/>
                        </a:lnTo>
                        <a:lnTo>
                          <a:pt x="21957" y="14092"/>
                        </a:lnTo>
                        <a:lnTo>
                          <a:pt x="21909" y="14055"/>
                        </a:lnTo>
                        <a:lnTo>
                          <a:pt x="21860" y="14020"/>
                        </a:lnTo>
                        <a:lnTo>
                          <a:pt x="21810" y="13985"/>
                        </a:lnTo>
                        <a:lnTo>
                          <a:pt x="21759" y="13951"/>
                        </a:lnTo>
                        <a:lnTo>
                          <a:pt x="21708" y="13916"/>
                        </a:lnTo>
                        <a:lnTo>
                          <a:pt x="21656" y="13884"/>
                        </a:lnTo>
                        <a:lnTo>
                          <a:pt x="21602" y="13852"/>
                        </a:lnTo>
                        <a:lnTo>
                          <a:pt x="21548" y="13821"/>
                        </a:lnTo>
                        <a:lnTo>
                          <a:pt x="21494" y="13791"/>
                        </a:lnTo>
                        <a:lnTo>
                          <a:pt x="21438" y="13761"/>
                        </a:lnTo>
                        <a:lnTo>
                          <a:pt x="21382" y="13734"/>
                        </a:lnTo>
                        <a:lnTo>
                          <a:pt x="21325" y="13707"/>
                        </a:lnTo>
                        <a:lnTo>
                          <a:pt x="21266" y="13681"/>
                        </a:lnTo>
                        <a:lnTo>
                          <a:pt x="21208" y="13656"/>
                        </a:lnTo>
                        <a:lnTo>
                          <a:pt x="21149" y="13632"/>
                        </a:lnTo>
                        <a:lnTo>
                          <a:pt x="21088" y="13610"/>
                        </a:lnTo>
                        <a:lnTo>
                          <a:pt x="21028" y="13587"/>
                        </a:lnTo>
                        <a:lnTo>
                          <a:pt x="20967" y="13567"/>
                        </a:lnTo>
                        <a:lnTo>
                          <a:pt x="20904" y="13548"/>
                        </a:lnTo>
                        <a:lnTo>
                          <a:pt x="20841" y="13530"/>
                        </a:lnTo>
                        <a:lnTo>
                          <a:pt x="20778" y="13513"/>
                        </a:lnTo>
                        <a:lnTo>
                          <a:pt x="20712" y="13498"/>
                        </a:lnTo>
                        <a:lnTo>
                          <a:pt x="20647" y="13484"/>
                        </a:lnTo>
                        <a:lnTo>
                          <a:pt x="20582" y="13471"/>
                        </a:lnTo>
                        <a:lnTo>
                          <a:pt x="20514" y="13460"/>
                        </a:lnTo>
                        <a:lnTo>
                          <a:pt x="20447" y="13450"/>
                        </a:lnTo>
                        <a:lnTo>
                          <a:pt x="20378" y="13442"/>
                        </a:lnTo>
                        <a:lnTo>
                          <a:pt x="20310" y="13435"/>
                        </a:lnTo>
                        <a:lnTo>
                          <a:pt x="20241" y="13428"/>
                        </a:lnTo>
                        <a:lnTo>
                          <a:pt x="20170" y="13425"/>
                        </a:lnTo>
                        <a:lnTo>
                          <a:pt x="20099" y="13422"/>
                        </a:lnTo>
                        <a:lnTo>
                          <a:pt x="20026" y="13421"/>
                        </a:lnTo>
                        <a:lnTo>
                          <a:pt x="20026" y="13421"/>
                        </a:lnTo>
                        <a:lnTo>
                          <a:pt x="19956" y="13422"/>
                        </a:lnTo>
                        <a:lnTo>
                          <a:pt x="19886" y="13424"/>
                        </a:lnTo>
                        <a:lnTo>
                          <a:pt x="19814" y="13428"/>
                        </a:lnTo>
                        <a:lnTo>
                          <a:pt x="19743" y="13435"/>
                        </a:lnTo>
                        <a:lnTo>
                          <a:pt x="19743" y="13435"/>
                        </a:lnTo>
                        <a:lnTo>
                          <a:pt x="19654" y="13443"/>
                        </a:lnTo>
                        <a:lnTo>
                          <a:pt x="19566" y="13452"/>
                        </a:lnTo>
                        <a:lnTo>
                          <a:pt x="19477" y="13463"/>
                        </a:lnTo>
                        <a:lnTo>
                          <a:pt x="19390" y="13475"/>
                        </a:lnTo>
                        <a:lnTo>
                          <a:pt x="19301" y="13488"/>
                        </a:lnTo>
                        <a:lnTo>
                          <a:pt x="19213" y="13502"/>
                        </a:lnTo>
                        <a:lnTo>
                          <a:pt x="19124" y="13517"/>
                        </a:lnTo>
                        <a:lnTo>
                          <a:pt x="19036" y="13533"/>
                        </a:lnTo>
                        <a:lnTo>
                          <a:pt x="18947" y="13550"/>
                        </a:lnTo>
                        <a:lnTo>
                          <a:pt x="18859" y="13569"/>
                        </a:lnTo>
                        <a:lnTo>
                          <a:pt x="18770" y="13588"/>
                        </a:lnTo>
                        <a:lnTo>
                          <a:pt x="18681" y="13609"/>
                        </a:lnTo>
                        <a:lnTo>
                          <a:pt x="18592" y="13630"/>
                        </a:lnTo>
                        <a:lnTo>
                          <a:pt x="18504" y="13651"/>
                        </a:lnTo>
                        <a:lnTo>
                          <a:pt x="18414" y="13674"/>
                        </a:lnTo>
                        <a:lnTo>
                          <a:pt x="18326" y="13697"/>
                        </a:lnTo>
                        <a:lnTo>
                          <a:pt x="18236" y="13721"/>
                        </a:lnTo>
                        <a:lnTo>
                          <a:pt x="18147" y="13746"/>
                        </a:lnTo>
                        <a:lnTo>
                          <a:pt x="17967" y="13798"/>
                        </a:lnTo>
                        <a:lnTo>
                          <a:pt x="17787" y="13851"/>
                        </a:lnTo>
                        <a:lnTo>
                          <a:pt x="17606" y="13906"/>
                        </a:lnTo>
                        <a:lnTo>
                          <a:pt x="17425" y="13964"/>
                        </a:lnTo>
                        <a:lnTo>
                          <a:pt x="17242" y="14022"/>
                        </a:lnTo>
                        <a:lnTo>
                          <a:pt x="16872" y="14142"/>
                        </a:lnTo>
                        <a:lnTo>
                          <a:pt x="16671" y="14207"/>
                        </a:lnTo>
                        <a:lnTo>
                          <a:pt x="16671" y="14207"/>
                        </a:lnTo>
                        <a:lnTo>
                          <a:pt x="16344" y="14314"/>
                        </a:lnTo>
                        <a:lnTo>
                          <a:pt x="16012" y="14420"/>
                        </a:lnTo>
                        <a:lnTo>
                          <a:pt x="15843" y="14474"/>
                        </a:lnTo>
                        <a:lnTo>
                          <a:pt x="15674" y="14527"/>
                        </a:lnTo>
                        <a:lnTo>
                          <a:pt x="15503" y="14579"/>
                        </a:lnTo>
                        <a:lnTo>
                          <a:pt x="15331" y="14632"/>
                        </a:lnTo>
                        <a:lnTo>
                          <a:pt x="15158" y="14684"/>
                        </a:lnTo>
                        <a:lnTo>
                          <a:pt x="14984" y="14734"/>
                        </a:lnTo>
                        <a:lnTo>
                          <a:pt x="14808" y="14785"/>
                        </a:lnTo>
                        <a:lnTo>
                          <a:pt x="14632" y="14834"/>
                        </a:lnTo>
                        <a:lnTo>
                          <a:pt x="14455" y="14882"/>
                        </a:lnTo>
                        <a:lnTo>
                          <a:pt x="14276" y="14929"/>
                        </a:lnTo>
                        <a:lnTo>
                          <a:pt x="14097" y="14975"/>
                        </a:lnTo>
                        <a:lnTo>
                          <a:pt x="13916" y="15018"/>
                        </a:lnTo>
                        <a:lnTo>
                          <a:pt x="13735" y="15060"/>
                        </a:lnTo>
                        <a:lnTo>
                          <a:pt x="13553" y="15101"/>
                        </a:lnTo>
                        <a:lnTo>
                          <a:pt x="13369" y="15140"/>
                        </a:lnTo>
                        <a:lnTo>
                          <a:pt x="13185" y="15176"/>
                        </a:lnTo>
                        <a:lnTo>
                          <a:pt x="13000" y="15210"/>
                        </a:lnTo>
                        <a:lnTo>
                          <a:pt x="12908" y="15227"/>
                        </a:lnTo>
                        <a:lnTo>
                          <a:pt x="12814" y="15242"/>
                        </a:lnTo>
                        <a:lnTo>
                          <a:pt x="12722" y="15257"/>
                        </a:lnTo>
                        <a:lnTo>
                          <a:pt x="12628" y="15272"/>
                        </a:lnTo>
                        <a:lnTo>
                          <a:pt x="12535" y="15285"/>
                        </a:lnTo>
                        <a:lnTo>
                          <a:pt x="12441" y="15300"/>
                        </a:lnTo>
                        <a:lnTo>
                          <a:pt x="12347" y="15312"/>
                        </a:lnTo>
                        <a:lnTo>
                          <a:pt x="12253" y="15324"/>
                        </a:lnTo>
                        <a:lnTo>
                          <a:pt x="12159" y="15335"/>
                        </a:lnTo>
                        <a:lnTo>
                          <a:pt x="12064" y="15345"/>
                        </a:lnTo>
                        <a:lnTo>
                          <a:pt x="11970" y="15355"/>
                        </a:lnTo>
                        <a:lnTo>
                          <a:pt x="11875" y="15364"/>
                        </a:lnTo>
                        <a:lnTo>
                          <a:pt x="11779" y="15372"/>
                        </a:lnTo>
                        <a:lnTo>
                          <a:pt x="11685" y="15379"/>
                        </a:lnTo>
                        <a:lnTo>
                          <a:pt x="11589" y="15386"/>
                        </a:lnTo>
                        <a:lnTo>
                          <a:pt x="11494" y="15391"/>
                        </a:lnTo>
                        <a:lnTo>
                          <a:pt x="11398" y="15396"/>
                        </a:lnTo>
                        <a:lnTo>
                          <a:pt x="11303" y="15400"/>
                        </a:lnTo>
                        <a:lnTo>
                          <a:pt x="11207" y="15403"/>
                        </a:lnTo>
                        <a:lnTo>
                          <a:pt x="11111" y="15406"/>
                        </a:lnTo>
                        <a:lnTo>
                          <a:pt x="11014" y="15407"/>
                        </a:lnTo>
                        <a:lnTo>
                          <a:pt x="10919" y="15407"/>
                        </a:lnTo>
                        <a:lnTo>
                          <a:pt x="10919" y="15407"/>
                        </a:lnTo>
                        <a:lnTo>
                          <a:pt x="10801" y="15407"/>
                        </a:lnTo>
                        <a:lnTo>
                          <a:pt x="10683" y="15405"/>
                        </a:lnTo>
                        <a:lnTo>
                          <a:pt x="10567" y="15401"/>
                        </a:lnTo>
                        <a:lnTo>
                          <a:pt x="10450" y="15396"/>
                        </a:lnTo>
                        <a:lnTo>
                          <a:pt x="10334" y="15390"/>
                        </a:lnTo>
                        <a:lnTo>
                          <a:pt x="10218" y="15382"/>
                        </a:lnTo>
                        <a:lnTo>
                          <a:pt x="10103" y="15373"/>
                        </a:lnTo>
                        <a:lnTo>
                          <a:pt x="9987" y="15363"/>
                        </a:lnTo>
                        <a:lnTo>
                          <a:pt x="9873" y="15351"/>
                        </a:lnTo>
                        <a:lnTo>
                          <a:pt x="9759" y="15338"/>
                        </a:lnTo>
                        <a:lnTo>
                          <a:pt x="9645" y="15323"/>
                        </a:lnTo>
                        <a:lnTo>
                          <a:pt x="9532" y="15307"/>
                        </a:lnTo>
                        <a:lnTo>
                          <a:pt x="9419" y="15290"/>
                        </a:lnTo>
                        <a:lnTo>
                          <a:pt x="9307" y="15270"/>
                        </a:lnTo>
                        <a:lnTo>
                          <a:pt x="9196" y="15250"/>
                        </a:lnTo>
                        <a:lnTo>
                          <a:pt x="9085" y="15228"/>
                        </a:lnTo>
                        <a:lnTo>
                          <a:pt x="9085" y="15228"/>
                        </a:lnTo>
                        <a:lnTo>
                          <a:pt x="8975" y="15205"/>
                        </a:lnTo>
                        <a:lnTo>
                          <a:pt x="8866" y="15181"/>
                        </a:lnTo>
                        <a:lnTo>
                          <a:pt x="8758" y="15155"/>
                        </a:lnTo>
                        <a:lnTo>
                          <a:pt x="8652" y="15127"/>
                        </a:lnTo>
                        <a:lnTo>
                          <a:pt x="8546" y="15097"/>
                        </a:lnTo>
                        <a:lnTo>
                          <a:pt x="8441" y="15066"/>
                        </a:lnTo>
                        <a:lnTo>
                          <a:pt x="8339" y="15034"/>
                        </a:lnTo>
                        <a:lnTo>
                          <a:pt x="8238" y="15000"/>
                        </a:lnTo>
                        <a:lnTo>
                          <a:pt x="8138" y="14965"/>
                        </a:lnTo>
                        <a:lnTo>
                          <a:pt x="8040" y="14928"/>
                        </a:lnTo>
                        <a:lnTo>
                          <a:pt x="7943" y="14890"/>
                        </a:lnTo>
                        <a:lnTo>
                          <a:pt x="7847" y="14851"/>
                        </a:lnTo>
                        <a:lnTo>
                          <a:pt x="7752" y="14810"/>
                        </a:lnTo>
                        <a:lnTo>
                          <a:pt x="7660" y="14767"/>
                        </a:lnTo>
                        <a:lnTo>
                          <a:pt x="7568" y="14723"/>
                        </a:lnTo>
                        <a:lnTo>
                          <a:pt x="7479" y="14679"/>
                        </a:lnTo>
                        <a:lnTo>
                          <a:pt x="7390" y="14633"/>
                        </a:lnTo>
                        <a:lnTo>
                          <a:pt x="7304" y="14584"/>
                        </a:lnTo>
                        <a:lnTo>
                          <a:pt x="7218" y="14535"/>
                        </a:lnTo>
                        <a:lnTo>
                          <a:pt x="7135" y="14485"/>
                        </a:lnTo>
                        <a:lnTo>
                          <a:pt x="7053" y="14433"/>
                        </a:lnTo>
                        <a:lnTo>
                          <a:pt x="6972" y="14381"/>
                        </a:lnTo>
                        <a:lnTo>
                          <a:pt x="6894" y="14327"/>
                        </a:lnTo>
                        <a:lnTo>
                          <a:pt x="6816" y="14271"/>
                        </a:lnTo>
                        <a:lnTo>
                          <a:pt x="6741" y="14215"/>
                        </a:lnTo>
                        <a:lnTo>
                          <a:pt x="6666" y="14158"/>
                        </a:lnTo>
                        <a:lnTo>
                          <a:pt x="6594" y="14098"/>
                        </a:lnTo>
                        <a:lnTo>
                          <a:pt x="6523" y="14039"/>
                        </a:lnTo>
                        <a:lnTo>
                          <a:pt x="6454" y="13978"/>
                        </a:lnTo>
                        <a:lnTo>
                          <a:pt x="6387" y="13915"/>
                        </a:lnTo>
                        <a:lnTo>
                          <a:pt x="6321" y="13852"/>
                        </a:lnTo>
                        <a:lnTo>
                          <a:pt x="6258" y="13788"/>
                        </a:lnTo>
                        <a:lnTo>
                          <a:pt x="6196" y="13722"/>
                        </a:lnTo>
                        <a:lnTo>
                          <a:pt x="6135" y="13656"/>
                        </a:lnTo>
                        <a:lnTo>
                          <a:pt x="6077" y="13588"/>
                        </a:lnTo>
                        <a:lnTo>
                          <a:pt x="6021" y="13520"/>
                        </a:lnTo>
                        <a:lnTo>
                          <a:pt x="5965" y="13451"/>
                        </a:lnTo>
                        <a:lnTo>
                          <a:pt x="5912" y="13380"/>
                        </a:lnTo>
                        <a:lnTo>
                          <a:pt x="5862" y="13308"/>
                        </a:lnTo>
                        <a:lnTo>
                          <a:pt x="5812" y="13235"/>
                        </a:lnTo>
                        <a:lnTo>
                          <a:pt x="5764" y="13162"/>
                        </a:lnTo>
                        <a:lnTo>
                          <a:pt x="5719" y="13087"/>
                        </a:lnTo>
                        <a:lnTo>
                          <a:pt x="5676" y="13013"/>
                        </a:lnTo>
                        <a:lnTo>
                          <a:pt x="5633" y="12937"/>
                        </a:lnTo>
                        <a:lnTo>
                          <a:pt x="5594" y="12859"/>
                        </a:lnTo>
                        <a:lnTo>
                          <a:pt x="5556" y="12782"/>
                        </a:lnTo>
                        <a:lnTo>
                          <a:pt x="5521" y="12703"/>
                        </a:lnTo>
                        <a:lnTo>
                          <a:pt x="5487" y="12623"/>
                        </a:lnTo>
                        <a:lnTo>
                          <a:pt x="5454" y="12542"/>
                        </a:lnTo>
                        <a:lnTo>
                          <a:pt x="5425" y="12462"/>
                        </a:lnTo>
                        <a:lnTo>
                          <a:pt x="5397" y="12379"/>
                        </a:lnTo>
                        <a:lnTo>
                          <a:pt x="5372" y="12297"/>
                        </a:lnTo>
                        <a:lnTo>
                          <a:pt x="5348" y="12213"/>
                        </a:lnTo>
                        <a:lnTo>
                          <a:pt x="5327" y="12129"/>
                        </a:lnTo>
                        <a:lnTo>
                          <a:pt x="5307" y="12044"/>
                        </a:lnTo>
                        <a:lnTo>
                          <a:pt x="5289" y="11959"/>
                        </a:lnTo>
                        <a:lnTo>
                          <a:pt x="5274" y="11872"/>
                        </a:lnTo>
                        <a:lnTo>
                          <a:pt x="5261" y="11786"/>
                        </a:lnTo>
                        <a:lnTo>
                          <a:pt x="5250" y="11697"/>
                        </a:lnTo>
                        <a:lnTo>
                          <a:pt x="5242" y="11610"/>
                        </a:lnTo>
                        <a:lnTo>
                          <a:pt x="5235" y="11520"/>
                        </a:lnTo>
                        <a:lnTo>
                          <a:pt x="5231" y="11431"/>
                        </a:lnTo>
                        <a:lnTo>
                          <a:pt x="5229" y="11341"/>
                        </a:lnTo>
                        <a:lnTo>
                          <a:pt x="5229" y="11251"/>
                        </a:lnTo>
                        <a:lnTo>
                          <a:pt x="5229" y="11251"/>
                        </a:lnTo>
                        <a:lnTo>
                          <a:pt x="5230" y="11200"/>
                        </a:lnTo>
                        <a:lnTo>
                          <a:pt x="5232" y="11151"/>
                        </a:lnTo>
                        <a:lnTo>
                          <a:pt x="5235" y="11102"/>
                        </a:lnTo>
                        <a:lnTo>
                          <a:pt x="5238" y="11052"/>
                        </a:lnTo>
                        <a:lnTo>
                          <a:pt x="5242" y="11004"/>
                        </a:lnTo>
                        <a:lnTo>
                          <a:pt x="5247" y="10955"/>
                        </a:lnTo>
                        <a:lnTo>
                          <a:pt x="5252" y="10906"/>
                        </a:lnTo>
                        <a:lnTo>
                          <a:pt x="5259" y="10857"/>
                        </a:lnTo>
                        <a:lnTo>
                          <a:pt x="5266" y="10809"/>
                        </a:lnTo>
                        <a:lnTo>
                          <a:pt x="5273" y="10760"/>
                        </a:lnTo>
                        <a:lnTo>
                          <a:pt x="5282" y="10711"/>
                        </a:lnTo>
                        <a:lnTo>
                          <a:pt x="5291" y="10663"/>
                        </a:lnTo>
                        <a:lnTo>
                          <a:pt x="5302" y="10616"/>
                        </a:lnTo>
                        <a:lnTo>
                          <a:pt x="5313" y="10568"/>
                        </a:lnTo>
                        <a:lnTo>
                          <a:pt x="5324" y="10519"/>
                        </a:lnTo>
                        <a:lnTo>
                          <a:pt x="5336" y="10472"/>
                        </a:lnTo>
                        <a:lnTo>
                          <a:pt x="5349" y="10425"/>
                        </a:lnTo>
                        <a:lnTo>
                          <a:pt x="5363" y="10377"/>
                        </a:lnTo>
                        <a:lnTo>
                          <a:pt x="5377" y="10330"/>
                        </a:lnTo>
                        <a:lnTo>
                          <a:pt x="5392" y="10283"/>
                        </a:lnTo>
                        <a:lnTo>
                          <a:pt x="5408" y="10236"/>
                        </a:lnTo>
                        <a:lnTo>
                          <a:pt x="5424" y="10189"/>
                        </a:lnTo>
                        <a:lnTo>
                          <a:pt x="5441" y="10142"/>
                        </a:lnTo>
                        <a:lnTo>
                          <a:pt x="5459" y="10096"/>
                        </a:lnTo>
                        <a:lnTo>
                          <a:pt x="5479" y="10049"/>
                        </a:lnTo>
                        <a:lnTo>
                          <a:pt x="5498" y="10003"/>
                        </a:lnTo>
                        <a:lnTo>
                          <a:pt x="5518" y="9958"/>
                        </a:lnTo>
                        <a:lnTo>
                          <a:pt x="5539" y="9912"/>
                        </a:lnTo>
                        <a:lnTo>
                          <a:pt x="5560" y="9866"/>
                        </a:lnTo>
                        <a:lnTo>
                          <a:pt x="5583" y="9821"/>
                        </a:lnTo>
                        <a:lnTo>
                          <a:pt x="5606" y="9776"/>
                        </a:lnTo>
                        <a:lnTo>
                          <a:pt x="5629" y="9731"/>
                        </a:lnTo>
                        <a:lnTo>
                          <a:pt x="5654" y="9685"/>
                        </a:lnTo>
                        <a:lnTo>
                          <a:pt x="5679" y="9641"/>
                        </a:lnTo>
                        <a:lnTo>
                          <a:pt x="5705" y="9596"/>
                        </a:lnTo>
                        <a:lnTo>
                          <a:pt x="5732" y="9552"/>
                        </a:lnTo>
                        <a:lnTo>
                          <a:pt x="5759" y="9507"/>
                        </a:lnTo>
                        <a:lnTo>
                          <a:pt x="5786" y="9464"/>
                        </a:lnTo>
                        <a:lnTo>
                          <a:pt x="5815" y="9420"/>
                        </a:lnTo>
                        <a:lnTo>
                          <a:pt x="5845" y="9377"/>
                        </a:lnTo>
                        <a:lnTo>
                          <a:pt x="5875" y="9333"/>
                        </a:lnTo>
                        <a:lnTo>
                          <a:pt x="5906" y="9290"/>
                        </a:lnTo>
                        <a:lnTo>
                          <a:pt x="5937" y="9247"/>
                        </a:lnTo>
                        <a:lnTo>
                          <a:pt x="5969" y="9204"/>
                        </a:lnTo>
                        <a:lnTo>
                          <a:pt x="6002" y="9161"/>
                        </a:lnTo>
                        <a:lnTo>
                          <a:pt x="6036" y="9119"/>
                        </a:lnTo>
                        <a:lnTo>
                          <a:pt x="6070" y="9077"/>
                        </a:lnTo>
                        <a:lnTo>
                          <a:pt x="6105" y="9035"/>
                        </a:lnTo>
                        <a:lnTo>
                          <a:pt x="6140" y="8993"/>
                        </a:lnTo>
                        <a:lnTo>
                          <a:pt x="6177" y="8952"/>
                        </a:lnTo>
                        <a:lnTo>
                          <a:pt x="6214" y="8911"/>
                        </a:lnTo>
                        <a:lnTo>
                          <a:pt x="6251" y="8870"/>
                        </a:lnTo>
                        <a:lnTo>
                          <a:pt x="6289" y="8829"/>
                        </a:lnTo>
                        <a:lnTo>
                          <a:pt x="6328" y="8789"/>
                        </a:lnTo>
                        <a:lnTo>
                          <a:pt x="6369" y="8749"/>
                        </a:lnTo>
                        <a:lnTo>
                          <a:pt x="6409" y="8709"/>
                        </a:lnTo>
                        <a:lnTo>
                          <a:pt x="6450" y="8668"/>
                        </a:lnTo>
                        <a:lnTo>
                          <a:pt x="6491" y="8629"/>
                        </a:lnTo>
                        <a:lnTo>
                          <a:pt x="6534" y="8590"/>
                        </a:lnTo>
                        <a:lnTo>
                          <a:pt x="6577" y="8551"/>
                        </a:lnTo>
                        <a:lnTo>
                          <a:pt x="6621" y="8511"/>
                        </a:lnTo>
                        <a:lnTo>
                          <a:pt x="6665" y="8473"/>
                        </a:lnTo>
                        <a:lnTo>
                          <a:pt x="6711" y="8435"/>
                        </a:lnTo>
                        <a:lnTo>
                          <a:pt x="6756" y="8397"/>
                        </a:lnTo>
                        <a:lnTo>
                          <a:pt x="6756" y="8397"/>
                        </a:lnTo>
                        <a:lnTo>
                          <a:pt x="6832" y="8335"/>
                        </a:lnTo>
                        <a:lnTo>
                          <a:pt x="6910" y="8275"/>
                        </a:lnTo>
                        <a:lnTo>
                          <a:pt x="6988" y="8216"/>
                        </a:lnTo>
                        <a:lnTo>
                          <a:pt x="7069" y="8156"/>
                        </a:lnTo>
                        <a:lnTo>
                          <a:pt x="7150" y="8099"/>
                        </a:lnTo>
                        <a:lnTo>
                          <a:pt x="7234" y="8042"/>
                        </a:lnTo>
                        <a:lnTo>
                          <a:pt x="7318" y="7986"/>
                        </a:lnTo>
                        <a:lnTo>
                          <a:pt x="7404" y="7931"/>
                        </a:lnTo>
                        <a:lnTo>
                          <a:pt x="7491" y="7877"/>
                        </a:lnTo>
                        <a:lnTo>
                          <a:pt x="7580" y="7823"/>
                        </a:lnTo>
                        <a:lnTo>
                          <a:pt x="7670" y="7772"/>
                        </a:lnTo>
                        <a:lnTo>
                          <a:pt x="7762" y="7721"/>
                        </a:lnTo>
                        <a:lnTo>
                          <a:pt x="7854" y="7670"/>
                        </a:lnTo>
                        <a:lnTo>
                          <a:pt x="7948" y="7621"/>
                        </a:lnTo>
                        <a:lnTo>
                          <a:pt x="8043" y="7573"/>
                        </a:lnTo>
                        <a:lnTo>
                          <a:pt x="8139" y="7526"/>
                        </a:lnTo>
                        <a:lnTo>
                          <a:pt x="8236" y="7479"/>
                        </a:lnTo>
                        <a:lnTo>
                          <a:pt x="8335" y="7434"/>
                        </a:lnTo>
                        <a:lnTo>
                          <a:pt x="8434" y="7390"/>
                        </a:lnTo>
                        <a:lnTo>
                          <a:pt x="8536" y="7346"/>
                        </a:lnTo>
                        <a:lnTo>
                          <a:pt x="8638" y="7304"/>
                        </a:lnTo>
                        <a:lnTo>
                          <a:pt x="8741" y="7263"/>
                        </a:lnTo>
                        <a:lnTo>
                          <a:pt x="8845" y="7224"/>
                        </a:lnTo>
                        <a:lnTo>
                          <a:pt x="8950" y="7185"/>
                        </a:lnTo>
                        <a:lnTo>
                          <a:pt x="9057" y="7147"/>
                        </a:lnTo>
                        <a:lnTo>
                          <a:pt x="9164" y="7110"/>
                        </a:lnTo>
                        <a:lnTo>
                          <a:pt x="9272" y="7075"/>
                        </a:lnTo>
                        <a:lnTo>
                          <a:pt x="9381" y="7041"/>
                        </a:lnTo>
                        <a:lnTo>
                          <a:pt x="9491" y="7007"/>
                        </a:lnTo>
                        <a:lnTo>
                          <a:pt x="9602" y="6975"/>
                        </a:lnTo>
                        <a:lnTo>
                          <a:pt x="9714" y="6944"/>
                        </a:lnTo>
                        <a:lnTo>
                          <a:pt x="9827" y="6914"/>
                        </a:lnTo>
                        <a:lnTo>
                          <a:pt x="9827" y="6914"/>
                        </a:lnTo>
                        <a:lnTo>
                          <a:pt x="9943" y="6885"/>
                        </a:lnTo>
                        <a:lnTo>
                          <a:pt x="10060" y="6857"/>
                        </a:lnTo>
                        <a:lnTo>
                          <a:pt x="10177" y="6829"/>
                        </a:lnTo>
                        <a:lnTo>
                          <a:pt x="10295" y="6803"/>
                        </a:lnTo>
                        <a:lnTo>
                          <a:pt x="10415" y="6778"/>
                        </a:lnTo>
                        <a:lnTo>
                          <a:pt x="10534" y="6753"/>
                        </a:lnTo>
                        <a:lnTo>
                          <a:pt x="10656" y="6730"/>
                        </a:lnTo>
                        <a:lnTo>
                          <a:pt x="10778" y="6708"/>
                        </a:lnTo>
                        <a:lnTo>
                          <a:pt x="10900" y="6687"/>
                        </a:lnTo>
                        <a:lnTo>
                          <a:pt x="11024" y="6665"/>
                        </a:lnTo>
                        <a:lnTo>
                          <a:pt x="11150" y="6646"/>
                        </a:lnTo>
                        <a:lnTo>
                          <a:pt x="11276" y="6627"/>
                        </a:lnTo>
                        <a:lnTo>
                          <a:pt x="11403" y="6610"/>
                        </a:lnTo>
                        <a:lnTo>
                          <a:pt x="11531" y="6593"/>
                        </a:lnTo>
                        <a:lnTo>
                          <a:pt x="11661" y="6577"/>
                        </a:lnTo>
                        <a:lnTo>
                          <a:pt x="11791" y="6563"/>
                        </a:lnTo>
                        <a:lnTo>
                          <a:pt x="11924" y="6549"/>
                        </a:lnTo>
                        <a:lnTo>
                          <a:pt x="12058" y="6536"/>
                        </a:lnTo>
                        <a:lnTo>
                          <a:pt x="12193" y="6524"/>
                        </a:lnTo>
                        <a:lnTo>
                          <a:pt x="12329" y="6513"/>
                        </a:lnTo>
                        <a:lnTo>
                          <a:pt x="12466" y="6501"/>
                        </a:lnTo>
                        <a:lnTo>
                          <a:pt x="12606" y="6492"/>
                        </a:lnTo>
                        <a:lnTo>
                          <a:pt x="12746" y="6484"/>
                        </a:lnTo>
                        <a:lnTo>
                          <a:pt x="12889" y="6476"/>
                        </a:lnTo>
                        <a:lnTo>
                          <a:pt x="13033" y="6470"/>
                        </a:lnTo>
                        <a:lnTo>
                          <a:pt x="13178" y="6464"/>
                        </a:lnTo>
                        <a:lnTo>
                          <a:pt x="13325" y="6459"/>
                        </a:lnTo>
                        <a:lnTo>
                          <a:pt x="13474" y="6455"/>
                        </a:lnTo>
                        <a:lnTo>
                          <a:pt x="13624" y="6452"/>
                        </a:lnTo>
                        <a:lnTo>
                          <a:pt x="13777" y="6450"/>
                        </a:lnTo>
                        <a:lnTo>
                          <a:pt x="13931" y="6449"/>
                        </a:lnTo>
                        <a:lnTo>
                          <a:pt x="14087" y="6448"/>
                        </a:lnTo>
                        <a:lnTo>
                          <a:pt x="14087" y="6448"/>
                        </a:lnTo>
                        <a:lnTo>
                          <a:pt x="14251" y="6449"/>
                        </a:lnTo>
                        <a:lnTo>
                          <a:pt x="14413" y="6450"/>
                        </a:lnTo>
                        <a:lnTo>
                          <a:pt x="14577" y="6452"/>
                        </a:lnTo>
                        <a:lnTo>
                          <a:pt x="14740" y="6455"/>
                        </a:lnTo>
                        <a:lnTo>
                          <a:pt x="14903" y="6458"/>
                        </a:lnTo>
                        <a:lnTo>
                          <a:pt x="15067" y="6463"/>
                        </a:lnTo>
                        <a:lnTo>
                          <a:pt x="15392" y="6472"/>
                        </a:lnTo>
                        <a:lnTo>
                          <a:pt x="15717" y="6484"/>
                        </a:lnTo>
                        <a:lnTo>
                          <a:pt x="16040" y="6496"/>
                        </a:lnTo>
                        <a:lnTo>
                          <a:pt x="16679" y="6525"/>
                        </a:lnTo>
                        <a:lnTo>
                          <a:pt x="16679" y="6525"/>
                        </a:lnTo>
                        <a:lnTo>
                          <a:pt x="17310" y="6552"/>
                        </a:lnTo>
                        <a:lnTo>
                          <a:pt x="17620" y="6564"/>
                        </a:lnTo>
                        <a:lnTo>
                          <a:pt x="17926" y="6575"/>
                        </a:lnTo>
                        <a:lnTo>
                          <a:pt x="18231" y="6584"/>
                        </a:lnTo>
                        <a:lnTo>
                          <a:pt x="18534" y="6591"/>
                        </a:lnTo>
                        <a:lnTo>
                          <a:pt x="18685" y="6594"/>
                        </a:lnTo>
                        <a:lnTo>
                          <a:pt x="18836" y="6595"/>
                        </a:lnTo>
                        <a:lnTo>
                          <a:pt x="18985" y="6597"/>
                        </a:lnTo>
                        <a:lnTo>
                          <a:pt x="19136" y="6597"/>
                        </a:lnTo>
                        <a:lnTo>
                          <a:pt x="19136" y="6597"/>
                        </a:lnTo>
                        <a:lnTo>
                          <a:pt x="19296" y="6597"/>
                        </a:lnTo>
                        <a:lnTo>
                          <a:pt x="19453" y="6595"/>
                        </a:lnTo>
                        <a:lnTo>
                          <a:pt x="19608" y="6592"/>
                        </a:lnTo>
                        <a:lnTo>
                          <a:pt x="19761" y="6589"/>
                        </a:lnTo>
                        <a:lnTo>
                          <a:pt x="19911" y="6584"/>
                        </a:lnTo>
                        <a:lnTo>
                          <a:pt x="20059" y="6579"/>
                        </a:lnTo>
                        <a:lnTo>
                          <a:pt x="20204" y="6572"/>
                        </a:lnTo>
                        <a:lnTo>
                          <a:pt x="20347" y="6564"/>
                        </a:lnTo>
                        <a:lnTo>
                          <a:pt x="20489" y="6555"/>
                        </a:lnTo>
                        <a:lnTo>
                          <a:pt x="20628" y="6545"/>
                        </a:lnTo>
                        <a:lnTo>
                          <a:pt x="20766" y="6534"/>
                        </a:lnTo>
                        <a:lnTo>
                          <a:pt x="20900" y="6522"/>
                        </a:lnTo>
                        <a:lnTo>
                          <a:pt x="21033" y="6509"/>
                        </a:lnTo>
                        <a:lnTo>
                          <a:pt x="21165" y="6493"/>
                        </a:lnTo>
                        <a:lnTo>
                          <a:pt x="21295" y="6478"/>
                        </a:lnTo>
                        <a:lnTo>
                          <a:pt x="21422" y="6461"/>
                        </a:lnTo>
                        <a:lnTo>
                          <a:pt x="21548" y="6444"/>
                        </a:lnTo>
                        <a:lnTo>
                          <a:pt x="21673" y="6425"/>
                        </a:lnTo>
                        <a:lnTo>
                          <a:pt x="21795" y="6405"/>
                        </a:lnTo>
                        <a:lnTo>
                          <a:pt x="21917" y="6384"/>
                        </a:lnTo>
                        <a:lnTo>
                          <a:pt x="22037" y="6361"/>
                        </a:lnTo>
                        <a:lnTo>
                          <a:pt x="22156" y="6338"/>
                        </a:lnTo>
                        <a:lnTo>
                          <a:pt x="22272" y="6312"/>
                        </a:lnTo>
                        <a:lnTo>
                          <a:pt x="22388" y="6286"/>
                        </a:lnTo>
                        <a:lnTo>
                          <a:pt x="22503" y="6259"/>
                        </a:lnTo>
                        <a:lnTo>
                          <a:pt x="22616" y="6231"/>
                        </a:lnTo>
                        <a:lnTo>
                          <a:pt x="22729" y="6201"/>
                        </a:lnTo>
                        <a:lnTo>
                          <a:pt x="22839" y="6171"/>
                        </a:lnTo>
                        <a:lnTo>
                          <a:pt x="22950" y="6138"/>
                        </a:lnTo>
                        <a:lnTo>
                          <a:pt x="23059" y="6105"/>
                        </a:lnTo>
                        <a:lnTo>
                          <a:pt x="23167" y="6070"/>
                        </a:lnTo>
                        <a:lnTo>
                          <a:pt x="23275" y="6035"/>
                        </a:lnTo>
                        <a:lnTo>
                          <a:pt x="23275" y="6035"/>
                        </a:lnTo>
                        <a:lnTo>
                          <a:pt x="23382" y="5996"/>
                        </a:lnTo>
                        <a:lnTo>
                          <a:pt x="23487" y="5957"/>
                        </a:lnTo>
                        <a:lnTo>
                          <a:pt x="23592" y="5916"/>
                        </a:lnTo>
                        <a:lnTo>
                          <a:pt x="23694" y="5874"/>
                        </a:lnTo>
                        <a:lnTo>
                          <a:pt x="23797" y="5830"/>
                        </a:lnTo>
                        <a:lnTo>
                          <a:pt x="23897" y="5783"/>
                        </a:lnTo>
                        <a:lnTo>
                          <a:pt x="23996" y="5735"/>
                        </a:lnTo>
                        <a:lnTo>
                          <a:pt x="24095" y="5685"/>
                        </a:lnTo>
                        <a:lnTo>
                          <a:pt x="24191" y="5633"/>
                        </a:lnTo>
                        <a:lnTo>
                          <a:pt x="24287" y="5580"/>
                        </a:lnTo>
                        <a:lnTo>
                          <a:pt x="24381" y="5525"/>
                        </a:lnTo>
                        <a:lnTo>
                          <a:pt x="24474" y="5468"/>
                        </a:lnTo>
                        <a:lnTo>
                          <a:pt x="24565" y="5409"/>
                        </a:lnTo>
                        <a:lnTo>
                          <a:pt x="24656" y="5349"/>
                        </a:lnTo>
                        <a:lnTo>
                          <a:pt x="24745" y="5286"/>
                        </a:lnTo>
                        <a:lnTo>
                          <a:pt x="24834" y="5223"/>
                        </a:lnTo>
                        <a:lnTo>
                          <a:pt x="24920" y="5157"/>
                        </a:lnTo>
                        <a:lnTo>
                          <a:pt x="25006" y="5089"/>
                        </a:lnTo>
                        <a:lnTo>
                          <a:pt x="25090" y="5020"/>
                        </a:lnTo>
                        <a:lnTo>
                          <a:pt x="25173" y="4948"/>
                        </a:lnTo>
                        <a:lnTo>
                          <a:pt x="25255" y="4876"/>
                        </a:lnTo>
                        <a:lnTo>
                          <a:pt x="25336" y="4800"/>
                        </a:lnTo>
                        <a:lnTo>
                          <a:pt x="25415" y="4724"/>
                        </a:lnTo>
                        <a:lnTo>
                          <a:pt x="25493" y="4645"/>
                        </a:lnTo>
                        <a:lnTo>
                          <a:pt x="25570" y="4565"/>
                        </a:lnTo>
                        <a:lnTo>
                          <a:pt x="25645" y="4484"/>
                        </a:lnTo>
                        <a:lnTo>
                          <a:pt x="25720" y="4400"/>
                        </a:lnTo>
                        <a:lnTo>
                          <a:pt x="25793" y="4314"/>
                        </a:lnTo>
                        <a:lnTo>
                          <a:pt x="25866" y="4226"/>
                        </a:lnTo>
                        <a:lnTo>
                          <a:pt x="25936" y="4137"/>
                        </a:lnTo>
                        <a:lnTo>
                          <a:pt x="26005" y="4046"/>
                        </a:lnTo>
                        <a:lnTo>
                          <a:pt x="26074" y="3953"/>
                        </a:lnTo>
                        <a:lnTo>
                          <a:pt x="26141" y="3859"/>
                        </a:lnTo>
                        <a:lnTo>
                          <a:pt x="26208" y="3762"/>
                        </a:lnTo>
                        <a:lnTo>
                          <a:pt x="26272" y="3664"/>
                        </a:lnTo>
                        <a:lnTo>
                          <a:pt x="26335" y="3563"/>
                        </a:lnTo>
                        <a:lnTo>
                          <a:pt x="26398" y="3461"/>
                        </a:lnTo>
                        <a:lnTo>
                          <a:pt x="26459" y="3357"/>
                        </a:lnTo>
                        <a:lnTo>
                          <a:pt x="26518" y="3251"/>
                        </a:lnTo>
                        <a:lnTo>
                          <a:pt x="26578" y="3144"/>
                        </a:lnTo>
                        <a:lnTo>
                          <a:pt x="26635" y="3034"/>
                        </a:lnTo>
                        <a:lnTo>
                          <a:pt x="26691" y="2923"/>
                        </a:lnTo>
                        <a:lnTo>
                          <a:pt x="26747" y="2810"/>
                        </a:lnTo>
                        <a:lnTo>
                          <a:pt x="26801" y="2695"/>
                        </a:lnTo>
                        <a:lnTo>
                          <a:pt x="26853" y="2578"/>
                        </a:lnTo>
                        <a:lnTo>
                          <a:pt x="26905" y="2460"/>
                        </a:lnTo>
                        <a:lnTo>
                          <a:pt x="26955" y="2339"/>
                        </a:lnTo>
                        <a:lnTo>
                          <a:pt x="27004" y="2216"/>
                        </a:lnTo>
                        <a:lnTo>
                          <a:pt x="27052" y="2091"/>
                        </a:lnTo>
                        <a:lnTo>
                          <a:pt x="27100" y="1966"/>
                        </a:lnTo>
                        <a:lnTo>
                          <a:pt x="27145" y="1837"/>
                        </a:lnTo>
                        <a:lnTo>
                          <a:pt x="27189" y="1707"/>
                        </a:lnTo>
                        <a:lnTo>
                          <a:pt x="27233" y="1575"/>
                        </a:lnTo>
                        <a:lnTo>
                          <a:pt x="27275" y="1442"/>
                        </a:lnTo>
                        <a:lnTo>
                          <a:pt x="27316" y="1306"/>
                        </a:lnTo>
                        <a:lnTo>
                          <a:pt x="27356" y="1169"/>
                        </a:lnTo>
                        <a:lnTo>
                          <a:pt x="27394" y="1029"/>
                        </a:lnTo>
                        <a:lnTo>
                          <a:pt x="27433" y="888"/>
                        </a:lnTo>
                        <a:lnTo>
                          <a:pt x="27469" y="744"/>
                        </a:lnTo>
                        <a:lnTo>
                          <a:pt x="27504" y="600"/>
                        </a:lnTo>
                        <a:lnTo>
                          <a:pt x="27537" y="453"/>
                        </a:lnTo>
                        <a:lnTo>
                          <a:pt x="27570" y="304"/>
                        </a:lnTo>
                        <a:lnTo>
                          <a:pt x="27603" y="153"/>
                        </a:lnTo>
                        <a:lnTo>
                          <a:pt x="27633" y="0"/>
                        </a:lnTo>
                        <a:lnTo>
                          <a:pt x="27633" y="0"/>
                        </a:lnTo>
                        <a:close/>
                      </a:path>
                    </a:pathLst>
                  </a:custGeom>
                  <a:solidFill>
                    <a:srgbClr val="E7E6E6">
                      <a:lumMod val="75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a:ea typeface="+mn-ea"/>
                      <a:cs typeface="Calibri"/>
                    </a:endParaRPr>
                  </a:p>
                </p:txBody>
              </p:sp>
              <p:sp>
                <p:nvSpPr>
                  <p:cNvPr id="11" name="Freeform 9">
                    <a:extLst>
                      <a:ext uri="{FF2B5EF4-FFF2-40B4-BE49-F238E27FC236}">
                        <a16:creationId xmlns:a16="http://schemas.microsoft.com/office/drawing/2014/main" id="{48E77326-84BF-441F-1EBC-0915761F60A8}"/>
                      </a:ext>
                    </a:extLst>
                  </p:cNvPr>
                  <p:cNvSpPr>
                    <a:spLocks/>
                  </p:cNvSpPr>
                  <p:nvPr/>
                </p:nvSpPr>
                <p:spPr bwMode="auto">
                  <a:xfrm>
                    <a:off x="972566" y="1790325"/>
                    <a:ext cx="2086035" cy="1863445"/>
                  </a:xfrm>
                  <a:custGeom>
                    <a:avLst/>
                    <a:gdLst>
                      <a:gd name="T0" fmla="*/ 12557 w 13782"/>
                      <a:gd name="T1" fmla="*/ 5095 h 7036"/>
                      <a:gd name="T2" fmla="*/ 11743 w 13782"/>
                      <a:gd name="T3" fmla="*/ 5262 h 7036"/>
                      <a:gd name="T4" fmla="*/ 10750 w 13782"/>
                      <a:gd name="T5" fmla="*/ 5541 h 7036"/>
                      <a:gd name="T6" fmla="*/ 8947 w 13782"/>
                      <a:gd name="T7" fmla="*/ 6118 h 7036"/>
                      <a:gd name="T8" fmla="*/ 7375 w 13782"/>
                      <a:gd name="T9" fmla="*/ 6571 h 7036"/>
                      <a:gd name="T10" fmla="*/ 6527 w 13782"/>
                      <a:gd name="T11" fmla="*/ 6762 h 7036"/>
                      <a:gd name="T12" fmla="*/ 5671 w 13782"/>
                      <a:gd name="T13" fmla="*/ 6900 h 7036"/>
                      <a:gd name="T14" fmla="*/ 4809 w 13782"/>
                      <a:gd name="T15" fmla="*/ 6970 h 7036"/>
                      <a:gd name="T16" fmla="*/ 3940 w 13782"/>
                      <a:gd name="T17" fmla="*/ 6957 h 7036"/>
                      <a:gd name="T18" fmla="*/ 3063 w 13782"/>
                      <a:gd name="T19" fmla="*/ 6848 h 7036"/>
                      <a:gd name="T20" fmla="*/ 2464 w 13782"/>
                      <a:gd name="T21" fmla="*/ 6706 h 7036"/>
                      <a:gd name="T22" fmla="*/ 1873 w 13782"/>
                      <a:gd name="T23" fmla="*/ 6484 h 7036"/>
                      <a:gd name="T24" fmla="*/ 1356 w 13782"/>
                      <a:gd name="T25" fmla="*/ 6201 h 7036"/>
                      <a:gd name="T26" fmla="*/ 918 w 13782"/>
                      <a:gd name="T27" fmla="*/ 5859 h 7036"/>
                      <a:gd name="T28" fmla="*/ 565 w 13782"/>
                      <a:gd name="T29" fmla="*/ 5465 h 7036"/>
                      <a:gd name="T30" fmla="*/ 301 w 13782"/>
                      <a:gd name="T31" fmla="*/ 5024 h 7036"/>
                      <a:gd name="T32" fmla="*/ 132 w 13782"/>
                      <a:gd name="T33" fmla="*/ 4541 h 7036"/>
                      <a:gd name="T34" fmla="*/ 61 w 13782"/>
                      <a:gd name="T35" fmla="*/ 4020 h 7036"/>
                      <a:gd name="T36" fmla="*/ 93 w 13782"/>
                      <a:gd name="T37" fmla="*/ 3524 h 7036"/>
                      <a:gd name="T38" fmla="*/ 263 w 13782"/>
                      <a:gd name="T39" fmla="*/ 2965 h 7036"/>
                      <a:gd name="T40" fmla="*/ 572 w 13782"/>
                      <a:gd name="T41" fmla="*/ 2434 h 7036"/>
                      <a:gd name="T42" fmla="*/ 1017 w 13782"/>
                      <a:gd name="T43" fmla="*/ 1939 h 7036"/>
                      <a:gd name="T44" fmla="*/ 1471 w 13782"/>
                      <a:gd name="T45" fmla="*/ 1570 h 7036"/>
                      <a:gd name="T46" fmla="*/ 2047 w 13782"/>
                      <a:gd name="T47" fmla="*/ 1213 h 7036"/>
                      <a:gd name="T48" fmla="*/ 2695 w 13782"/>
                      <a:gd name="T49" fmla="*/ 903 h 7036"/>
                      <a:gd name="T50" fmla="*/ 3401 w 13782"/>
                      <a:gd name="T51" fmla="*/ 649 h 7036"/>
                      <a:gd name="T52" fmla="*/ 4022 w 13782"/>
                      <a:gd name="T53" fmla="*/ 484 h 7036"/>
                      <a:gd name="T54" fmla="*/ 4945 w 13782"/>
                      <a:gd name="T55" fmla="*/ 310 h 7036"/>
                      <a:gd name="T56" fmla="*/ 4770 w 13782"/>
                      <a:gd name="T57" fmla="*/ 277 h 7036"/>
                      <a:gd name="T58" fmla="*/ 4009 w 13782"/>
                      <a:gd name="T59" fmla="*/ 425 h 7036"/>
                      <a:gd name="T60" fmla="*/ 3384 w 13782"/>
                      <a:gd name="T61" fmla="*/ 591 h 7036"/>
                      <a:gd name="T62" fmla="*/ 2671 w 13782"/>
                      <a:gd name="T63" fmla="*/ 849 h 7036"/>
                      <a:gd name="T64" fmla="*/ 2016 w 13782"/>
                      <a:gd name="T65" fmla="*/ 1162 h 7036"/>
                      <a:gd name="T66" fmla="*/ 1436 w 13782"/>
                      <a:gd name="T67" fmla="*/ 1522 h 7036"/>
                      <a:gd name="T68" fmla="*/ 974 w 13782"/>
                      <a:gd name="T69" fmla="*/ 1896 h 7036"/>
                      <a:gd name="T70" fmla="*/ 522 w 13782"/>
                      <a:gd name="T71" fmla="*/ 2401 h 7036"/>
                      <a:gd name="T72" fmla="*/ 207 w 13782"/>
                      <a:gd name="T73" fmla="*/ 2943 h 7036"/>
                      <a:gd name="T74" fmla="*/ 34 w 13782"/>
                      <a:gd name="T75" fmla="*/ 3515 h 7036"/>
                      <a:gd name="T76" fmla="*/ 1 w 13782"/>
                      <a:gd name="T77" fmla="*/ 4022 h 7036"/>
                      <a:gd name="T78" fmla="*/ 72 w 13782"/>
                      <a:gd name="T79" fmla="*/ 4554 h 7036"/>
                      <a:gd name="T80" fmla="*/ 244 w 13782"/>
                      <a:gd name="T81" fmla="*/ 5047 h 7036"/>
                      <a:gd name="T82" fmla="*/ 513 w 13782"/>
                      <a:gd name="T83" fmla="*/ 5497 h 7036"/>
                      <a:gd name="T84" fmla="*/ 872 w 13782"/>
                      <a:gd name="T85" fmla="*/ 5899 h 7036"/>
                      <a:gd name="T86" fmla="*/ 1317 w 13782"/>
                      <a:gd name="T87" fmla="*/ 6248 h 7036"/>
                      <a:gd name="T88" fmla="*/ 1843 w 13782"/>
                      <a:gd name="T89" fmla="*/ 6537 h 7036"/>
                      <a:gd name="T90" fmla="*/ 2444 w 13782"/>
                      <a:gd name="T91" fmla="*/ 6762 h 7036"/>
                      <a:gd name="T92" fmla="*/ 3052 w 13782"/>
                      <a:gd name="T93" fmla="*/ 6907 h 7036"/>
                      <a:gd name="T94" fmla="*/ 3934 w 13782"/>
                      <a:gd name="T95" fmla="*/ 7017 h 7036"/>
                      <a:gd name="T96" fmla="*/ 4808 w 13782"/>
                      <a:gd name="T97" fmla="*/ 7031 h 7036"/>
                      <a:gd name="T98" fmla="*/ 5674 w 13782"/>
                      <a:gd name="T99" fmla="*/ 6960 h 7036"/>
                      <a:gd name="T100" fmla="*/ 6533 w 13782"/>
                      <a:gd name="T101" fmla="*/ 6822 h 7036"/>
                      <a:gd name="T102" fmla="*/ 7385 w 13782"/>
                      <a:gd name="T103" fmla="*/ 6630 h 7036"/>
                      <a:gd name="T104" fmla="*/ 8962 w 13782"/>
                      <a:gd name="T105" fmla="*/ 6175 h 7036"/>
                      <a:gd name="T106" fmla="*/ 10766 w 13782"/>
                      <a:gd name="T107" fmla="*/ 5599 h 7036"/>
                      <a:gd name="T108" fmla="*/ 11756 w 13782"/>
                      <a:gd name="T109" fmla="*/ 5321 h 7036"/>
                      <a:gd name="T110" fmla="*/ 12565 w 13782"/>
                      <a:gd name="T111" fmla="*/ 5154 h 7036"/>
                      <a:gd name="T112" fmla="*/ 13261 w 13782"/>
                      <a:gd name="T113" fmla="*/ 5071 h 7036"/>
                      <a:gd name="T114" fmla="*/ 13782 w 13782"/>
                      <a:gd name="T115" fmla="*/ 5004 h 7036"/>
                      <a:gd name="T116" fmla="*/ 13255 w 13782"/>
                      <a:gd name="T117" fmla="*/ 5011 h 70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3782" h="7036">
                        <a:moveTo>
                          <a:pt x="13180" y="5017"/>
                        </a:moveTo>
                        <a:lnTo>
                          <a:pt x="13180" y="5017"/>
                        </a:lnTo>
                        <a:lnTo>
                          <a:pt x="13075" y="5027"/>
                        </a:lnTo>
                        <a:lnTo>
                          <a:pt x="12971" y="5038"/>
                        </a:lnTo>
                        <a:lnTo>
                          <a:pt x="12867" y="5050"/>
                        </a:lnTo>
                        <a:lnTo>
                          <a:pt x="12764" y="5064"/>
                        </a:lnTo>
                        <a:lnTo>
                          <a:pt x="12660" y="5078"/>
                        </a:lnTo>
                        <a:lnTo>
                          <a:pt x="12557" y="5095"/>
                        </a:lnTo>
                        <a:lnTo>
                          <a:pt x="12454" y="5112"/>
                        </a:lnTo>
                        <a:lnTo>
                          <a:pt x="12352" y="5130"/>
                        </a:lnTo>
                        <a:lnTo>
                          <a:pt x="12250" y="5150"/>
                        </a:lnTo>
                        <a:lnTo>
                          <a:pt x="12148" y="5171"/>
                        </a:lnTo>
                        <a:lnTo>
                          <a:pt x="12047" y="5193"/>
                        </a:lnTo>
                        <a:lnTo>
                          <a:pt x="11945" y="5215"/>
                        </a:lnTo>
                        <a:lnTo>
                          <a:pt x="11844" y="5238"/>
                        </a:lnTo>
                        <a:lnTo>
                          <a:pt x="11743" y="5262"/>
                        </a:lnTo>
                        <a:lnTo>
                          <a:pt x="11643" y="5287"/>
                        </a:lnTo>
                        <a:lnTo>
                          <a:pt x="11543" y="5313"/>
                        </a:lnTo>
                        <a:lnTo>
                          <a:pt x="11443" y="5340"/>
                        </a:lnTo>
                        <a:lnTo>
                          <a:pt x="11343" y="5367"/>
                        </a:lnTo>
                        <a:lnTo>
                          <a:pt x="11244" y="5395"/>
                        </a:lnTo>
                        <a:lnTo>
                          <a:pt x="11144" y="5423"/>
                        </a:lnTo>
                        <a:lnTo>
                          <a:pt x="10947" y="5481"/>
                        </a:lnTo>
                        <a:lnTo>
                          <a:pt x="10750" y="5541"/>
                        </a:lnTo>
                        <a:lnTo>
                          <a:pt x="10555" y="5602"/>
                        </a:lnTo>
                        <a:lnTo>
                          <a:pt x="10360" y="5663"/>
                        </a:lnTo>
                        <a:lnTo>
                          <a:pt x="9973" y="5788"/>
                        </a:lnTo>
                        <a:lnTo>
                          <a:pt x="9775" y="5853"/>
                        </a:lnTo>
                        <a:lnTo>
                          <a:pt x="9775" y="5853"/>
                        </a:lnTo>
                        <a:lnTo>
                          <a:pt x="9361" y="5985"/>
                        </a:lnTo>
                        <a:lnTo>
                          <a:pt x="9154" y="6052"/>
                        </a:lnTo>
                        <a:lnTo>
                          <a:pt x="8947" y="6118"/>
                        </a:lnTo>
                        <a:lnTo>
                          <a:pt x="8739" y="6183"/>
                        </a:lnTo>
                        <a:lnTo>
                          <a:pt x="8530" y="6247"/>
                        </a:lnTo>
                        <a:lnTo>
                          <a:pt x="8321" y="6309"/>
                        </a:lnTo>
                        <a:lnTo>
                          <a:pt x="8111" y="6371"/>
                        </a:lnTo>
                        <a:lnTo>
                          <a:pt x="7902" y="6430"/>
                        </a:lnTo>
                        <a:lnTo>
                          <a:pt x="7692" y="6488"/>
                        </a:lnTo>
                        <a:lnTo>
                          <a:pt x="7481" y="6544"/>
                        </a:lnTo>
                        <a:lnTo>
                          <a:pt x="7375" y="6571"/>
                        </a:lnTo>
                        <a:lnTo>
                          <a:pt x="7269" y="6597"/>
                        </a:lnTo>
                        <a:lnTo>
                          <a:pt x="7164" y="6623"/>
                        </a:lnTo>
                        <a:lnTo>
                          <a:pt x="7058" y="6648"/>
                        </a:lnTo>
                        <a:lnTo>
                          <a:pt x="6952" y="6672"/>
                        </a:lnTo>
                        <a:lnTo>
                          <a:pt x="6846" y="6696"/>
                        </a:lnTo>
                        <a:lnTo>
                          <a:pt x="6739" y="6719"/>
                        </a:lnTo>
                        <a:lnTo>
                          <a:pt x="6634" y="6741"/>
                        </a:lnTo>
                        <a:lnTo>
                          <a:pt x="6527" y="6762"/>
                        </a:lnTo>
                        <a:lnTo>
                          <a:pt x="6420" y="6783"/>
                        </a:lnTo>
                        <a:lnTo>
                          <a:pt x="6314" y="6802"/>
                        </a:lnTo>
                        <a:lnTo>
                          <a:pt x="6207" y="6821"/>
                        </a:lnTo>
                        <a:lnTo>
                          <a:pt x="6100" y="6838"/>
                        </a:lnTo>
                        <a:lnTo>
                          <a:pt x="5993" y="6856"/>
                        </a:lnTo>
                        <a:lnTo>
                          <a:pt x="5886" y="6872"/>
                        </a:lnTo>
                        <a:lnTo>
                          <a:pt x="5779" y="6887"/>
                        </a:lnTo>
                        <a:lnTo>
                          <a:pt x="5671" y="6900"/>
                        </a:lnTo>
                        <a:lnTo>
                          <a:pt x="5565" y="6913"/>
                        </a:lnTo>
                        <a:lnTo>
                          <a:pt x="5457" y="6925"/>
                        </a:lnTo>
                        <a:lnTo>
                          <a:pt x="5349" y="6935"/>
                        </a:lnTo>
                        <a:lnTo>
                          <a:pt x="5242" y="6944"/>
                        </a:lnTo>
                        <a:lnTo>
                          <a:pt x="5133" y="6953"/>
                        </a:lnTo>
                        <a:lnTo>
                          <a:pt x="5026" y="6960"/>
                        </a:lnTo>
                        <a:lnTo>
                          <a:pt x="4918" y="6965"/>
                        </a:lnTo>
                        <a:lnTo>
                          <a:pt x="4809" y="6970"/>
                        </a:lnTo>
                        <a:lnTo>
                          <a:pt x="4701" y="6973"/>
                        </a:lnTo>
                        <a:lnTo>
                          <a:pt x="4593" y="6975"/>
                        </a:lnTo>
                        <a:lnTo>
                          <a:pt x="4484" y="6975"/>
                        </a:lnTo>
                        <a:lnTo>
                          <a:pt x="4376" y="6975"/>
                        </a:lnTo>
                        <a:lnTo>
                          <a:pt x="4267" y="6972"/>
                        </a:lnTo>
                        <a:lnTo>
                          <a:pt x="4158" y="6969"/>
                        </a:lnTo>
                        <a:lnTo>
                          <a:pt x="4049" y="6964"/>
                        </a:lnTo>
                        <a:lnTo>
                          <a:pt x="3940" y="6957"/>
                        </a:lnTo>
                        <a:lnTo>
                          <a:pt x="3831" y="6949"/>
                        </a:lnTo>
                        <a:lnTo>
                          <a:pt x="3721" y="6940"/>
                        </a:lnTo>
                        <a:lnTo>
                          <a:pt x="3612" y="6929"/>
                        </a:lnTo>
                        <a:lnTo>
                          <a:pt x="3503" y="6916"/>
                        </a:lnTo>
                        <a:lnTo>
                          <a:pt x="3393" y="6902"/>
                        </a:lnTo>
                        <a:lnTo>
                          <a:pt x="3284" y="6886"/>
                        </a:lnTo>
                        <a:lnTo>
                          <a:pt x="3173" y="6868"/>
                        </a:lnTo>
                        <a:lnTo>
                          <a:pt x="3063" y="6848"/>
                        </a:lnTo>
                        <a:lnTo>
                          <a:pt x="2954" y="6827"/>
                        </a:lnTo>
                        <a:lnTo>
                          <a:pt x="2954" y="6827"/>
                        </a:lnTo>
                        <a:lnTo>
                          <a:pt x="2869" y="6809"/>
                        </a:lnTo>
                        <a:lnTo>
                          <a:pt x="2786" y="6791"/>
                        </a:lnTo>
                        <a:lnTo>
                          <a:pt x="2704" y="6771"/>
                        </a:lnTo>
                        <a:lnTo>
                          <a:pt x="2623" y="6750"/>
                        </a:lnTo>
                        <a:lnTo>
                          <a:pt x="2543" y="6729"/>
                        </a:lnTo>
                        <a:lnTo>
                          <a:pt x="2464" y="6706"/>
                        </a:lnTo>
                        <a:lnTo>
                          <a:pt x="2387" y="6681"/>
                        </a:lnTo>
                        <a:lnTo>
                          <a:pt x="2310" y="6656"/>
                        </a:lnTo>
                        <a:lnTo>
                          <a:pt x="2235" y="6630"/>
                        </a:lnTo>
                        <a:lnTo>
                          <a:pt x="2159" y="6603"/>
                        </a:lnTo>
                        <a:lnTo>
                          <a:pt x="2086" y="6575"/>
                        </a:lnTo>
                        <a:lnTo>
                          <a:pt x="2014" y="6546"/>
                        </a:lnTo>
                        <a:lnTo>
                          <a:pt x="1943" y="6516"/>
                        </a:lnTo>
                        <a:lnTo>
                          <a:pt x="1873" y="6484"/>
                        </a:lnTo>
                        <a:lnTo>
                          <a:pt x="1804" y="6452"/>
                        </a:lnTo>
                        <a:lnTo>
                          <a:pt x="1737" y="6419"/>
                        </a:lnTo>
                        <a:lnTo>
                          <a:pt x="1670" y="6385"/>
                        </a:lnTo>
                        <a:lnTo>
                          <a:pt x="1605" y="6350"/>
                        </a:lnTo>
                        <a:lnTo>
                          <a:pt x="1541" y="6314"/>
                        </a:lnTo>
                        <a:lnTo>
                          <a:pt x="1478" y="6277"/>
                        </a:lnTo>
                        <a:lnTo>
                          <a:pt x="1416" y="6239"/>
                        </a:lnTo>
                        <a:lnTo>
                          <a:pt x="1356" y="6201"/>
                        </a:lnTo>
                        <a:lnTo>
                          <a:pt x="1296" y="6160"/>
                        </a:lnTo>
                        <a:lnTo>
                          <a:pt x="1239" y="6120"/>
                        </a:lnTo>
                        <a:lnTo>
                          <a:pt x="1183" y="6079"/>
                        </a:lnTo>
                        <a:lnTo>
                          <a:pt x="1127" y="6037"/>
                        </a:lnTo>
                        <a:lnTo>
                          <a:pt x="1073" y="5993"/>
                        </a:lnTo>
                        <a:lnTo>
                          <a:pt x="1020" y="5949"/>
                        </a:lnTo>
                        <a:lnTo>
                          <a:pt x="968" y="5905"/>
                        </a:lnTo>
                        <a:lnTo>
                          <a:pt x="918" y="5859"/>
                        </a:lnTo>
                        <a:lnTo>
                          <a:pt x="869" y="5812"/>
                        </a:lnTo>
                        <a:lnTo>
                          <a:pt x="822" y="5765"/>
                        </a:lnTo>
                        <a:lnTo>
                          <a:pt x="775" y="5717"/>
                        </a:lnTo>
                        <a:lnTo>
                          <a:pt x="731" y="5668"/>
                        </a:lnTo>
                        <a:lnTo>
                          <a:pt x="687" y="5618"/>
                        </a:lnTo>
                        <a:lnTo>
                          <a:pt x="645" y="5568"/>
                        </a:lnTo>
                        <a:lnTo>
                          <a:pt x="604" y="5517"/>
                        </a:lnTo>
                        <a:lnTo>
                          <a:pt x="565" y="5465"/>
                        </a:lnTo>
                        <a:lnTo>
                          <a:pt x="527" y="5412"/>
                        </a:lnTo>
                        <a:lnTo>
                          <a:pt x="491" y="5359"/>
                        </a:lnTo>
                        <a:lnTo>
                          <a:pt x="456" y="5305"/>
                        </a:lnTo>
                        <a:lnTo>
                          <a:pt x="421" y="5250"/>
                        </a:lnTo>
                        <a:lnTo>
                          <a:pt x="389" y="5195"/>
                        </a:lnTo>
                        <a:lnTo>
                          <a:pt x="358" y="5138"/>
                        </a:lnTo>
                        <a:lnTo>
                          <a:pt x="329" y="5081"/>
                        </a:lnTo>
                        <a:lnTo>
                          <a:pt x="301" y="5024"/>
                        </a:lnTo>
                        <a:lnTo>
                          <a:pt x="274" y="4965"/>
                        </a:lnTo>
                        <a:lnTo>
                          <a:pt x="249" y="4907"/>
                        </a:lnTo>
                        <a:lnTo>
                          <a:pt x="226" y="4848"/>
                        </a:lnTo>
                        <a:lnTo>
                          <a:pt x="204" y="4787"/>
                        </a:lnTo>
                        <a:lnTo>
                          <a:pt x="184" y="4726"/>
                        </a:lnTo>
                        <a:lnTo>
                          <a:pt x="165" y="4665"/>
                        </a:lnTo>
                        <a:lnTo>
                          <a:pt x="147" y="4603"/>
                        </a:lnTo>
                        <a:lnTo>
                          <a:pt x="132" y="4541"/>
                        </a:lnTo>
                        <a:lnTo>
                          <a:pt x="117" y="4477"/>
                        </a:lnTo>
                        <a:lnTo>
                          <a:pt x="105" y="4414"/>
                        </a:lnTo>
                        <a:lnTo>
                          <a:pt x="93" y="4350"/>
                        </a:lnTo>
                        <a:lnTo>
                          <a:pt x="83" y="4284"/>
                        </a:lnTo>
                        <a:lnTo>
                          <a:pt x="75" y="4219"/>
                        </a:lnTo>
                        <a:lnTo>
                          <a:pt x="69" y="4154"/>
                        </a:lnTo>
                        <a:lnTo>
                          <a:pt x="64" y="4087"/>
                        </a:lnTo>
                        <a:lnTo>
                          <a:pt x="61" y="4020"/>
                        </a:lnTo>
                        <a:lnTo>
                          <a:pt x="60" y="3952"/>
                        </a:lnTo>
                        <a:lnTo>
                          <a:pt x="60" y="3885"/>
                        </a:lnTo>
                        <a:lnTo>
                          <a:pt x="60" y="3885"/>
                        </a:lnTo>
                        <a:lnTo>
                          <a:pt x="62" y="3813"/>
                        </a:lnTo>
                        <a:lnTo>
                          <a:pt x="66" y="3740"/>
                        </a:lnTo>
                        <a:lnTo>
                          <a:pt x="73" y="3668"/>
                        </a:lnTo>
                        <a:lnTo>
                          <a:pt x="82" y="3596"/>
                        </a:lnTo>
                        <a:lnTo>
                          <a:pt x="93" y="3524"/>
                        </a:lnTo>
                        <a:lnTo>
                          <a:pt x="108" y="3453"/>
                        </a:lnTo>
                        <a:lnTo>
                          <a:pt x="123" y="3382"/>
                        </a:lnTo>
                        <a:lnTo>
                          <a:pt x="141" y="3312"/>
                        </a:lnTo>
                        <a:lnTo>
                          <a:pt x="161" y="3241"/>
                        </a:lnTo>
                        <a:lnTo>
                          <a:pt x="183" y="3172"/>
                        </a:lnTo>
                        <a:lnTo>
                          <a:pt x="208" y="3102"/>
                        </a:lnTo>
                        <a:lnTo>
                          <a:pt x="234" y="3034"/>
                        </a:lnTo>
                        <a:lnTo>
                          <a:pt x="263" y="2965"/>
                        </a:lnTo>
                        <a:lnTo>
                          <a:pt x="295" y="2897"/>
                        </a:lnTo>
                        <a:lnTo>
                          <a:pt x="328" y="2830"/>
                        </a:lnTo>
                        <a:lnTo>
                          <a:pt x="363" y="2762"/>
                        </a:lnTo>
                        <a:lnTo>
                          <a:pt x="401" y="2696"/>
                        </a:lnTo>
                        <a:lnTo>
                          <a:pt x="440" y="2629"/>
                        </a:lnTo>
                        <a:lnTo>
                          <a:pt x="483" y="2564"/>
                        </a:lnTo>
                        <a:lnTo>
                          <a:pt x="526" y="2499"/>
                        </a:lnTo>
                        <a:lnTo>
                          <a:pt x="572" y="2434"/>
                        </a:lnTo>
                        <a:lnTo>
                          <a:pt x="620" y="2370"/>
                        </a:lnTo>
                        <a:lnTo>
                          <a:pt x="671" y="2307"/>
                        </a:lnTo>
                        <a:lnTo>
                          <a:pt x="723" y="2244"/>
                        </a:lnTo>
                        <a:lnTo>
                          <a:pt x="777" y="2182"/>
                        </a:lnTo>
                        <a:lnTo>
                          <a:pt x="835" y="2120"/>
                        </a:lnTo>
                        <a:lnTo>
                          <a:pt x="893" y="2059"/>
                        </a:lnTo>
                        <a:lnTo>
                          <a:pt x="953" y="1999"/>
                        </a:lnTo>
                        <a:lnTo>
                          <a:pt x="1017" y="1939"/>
                        </a:lnTo>
                        <a:lnTo>
                          <a:pt x="1081" y="1881"/>
                        </a:lnTo>
                        <a:lnTo>
                          <a:pt x="1148" y="1823"/>
                        </a:lnTo>
                        <a:lnTo>
                          <a:pt x="1217" y="1764"/>
                        </a:lnTo>
                        <a:lnTo>
                          <a:pt x="1217" y="1764"/>
                        </a:lnTo>
                        <a:lnTo>
                          <a:pt x="1278" y="1715"/>
                        </a:lnTo>
                        <a:lnTo>
                          <a:pt x="1342" y="1667"/>
                        </a:lnTo>
                        <a:lnTo>
                          <a:pt x="1406" y="1619"/>
                        </a:lnTo>
                        <a:lnTo>
                          <a:pt x="1471" y="1570"/>
                        </a:lnTo>
                        <a:lnTo>
                          <a:pt x="1539" y="1524"/>
                        </a:lnTo>
                        <a:lnTo>
                          <a:pt x="1608" y="1478"/>
                        </a:lnTo>
                        <a:lnTo>
                          <a:pt x="1677" y="1431"/>
                        </a:lnTo>
                        <a:lnTo>
                          <a:pt x="1749" y="1386"/>
                        </a:lnTo>
                        <a:lnTo>
                          <a:pt x="1821" y="1342"/>
                        </a:lnTo>
                        <a:lnTo>
                          <a:pt x="1896" y="1299"/>
                        </a:lnTo>
                        <a:lnTo>
                          <a:pt x="1970" y="1255"/>
                        </a:lnTo>
                        <a:lnTo>
                          <a:pt x="2047" y="1213"/>
                        </a:lnTo>
                        <a:lnTo>
                          <a:pt x="2124" y="1172"/>
                        </a:lnTo>
                        <a:lnTo>
                          <a:pt x="2202" y="1132"/>
                        </a:lnTo>
                        <a:lnTo>
                          <a:pt x="2282" y="1091"/>
                        </a:lnTo>
                        <a:lnTo>
                          <a:pt x="2362" y="1052"/>
                        </a:lnTo>
                        <a:lnTo>
                          <a:pt x="2444" y="1014"/>
                        </a:lnTo>
                        <a:lnTo>
                          <a:pt x="2527" y="977"/>
                        </a:lnTo>
                        <a:lnTo>
                          <a:pt x="2611" y="939"/>
                        </a:lnTo>
                        <a:lnTo>
                          <a:pt x="2695" y="903"/>
                        </a:lnTo>
                        <a:lnTo>
                          <a:pt x="2781" y="869"/>
                        </a:lnTo>
                        <a:lnTo>
                          <a:pt x="2867" y="835"/>
                        </a:lnTo>
                        <a:lnTo>
                          <a:pt x="2954" y="802"/>
                        </a:lnTo>
                        <a:lnTo>
                          <a:pt x="3042" y="769"/>
                        </a:lnTo>
                        <a:lnTo>
                          <a:pt x="3131" y="737"/>
                        </a:lnTo>
                        <a:lnTo>
                          <a:pt x="3220" y="707"/>
                        </a:lnTo>
                        <a:lnTo>
                          <a:pt x="3311" y="678"/>
                        </a:lnTo>
                        <a:lnTo>
                          <a:pt x="3401" y="649"/>
                        </a:lnTo>
                        <a:lnTo>
                          <a:pt x="3494" y="622"/>
                        </a:lnTo>
                        <a:lnTo>
                          <a:pt x="3585" y="595"/>
                        </a:lnTo>
                        <a:lnTo>
                          <a:pt x="3679" y="569"/>
                        </a:lnTo>
                        <a:lnTo>
                          <a:pt x="3772" y="545"/>
                        </a:lnTo>
                        <a:lnTo>
                          <a:pt x="3772" y="545"/>
                        </a:lnTo>
                        <a:lnTo>
                          <a:pt x="3855" y="524"/>
                        </a:lnTo>
                        <a:lnTo>
                          <a:pt x="3938" y="504"/>
                        </a:lnTo>
                        <a:lnTo>
                          <a:pt x="4022" y="484"/>
                        </a:lnTo>
                        <a:lnTo>
                          <a:pt x="4104" y="466"/>
                        </a:lnTo>
                        <a:lnTo>
                          <a:pt x="4189" y="447"/>
                        </a:lnTo>
                        <a:lnTo>
                          <a:pt x="4272" y="429"/>
                        </a:lnTo>
                        <a:lnTo>
                          <a:pt x="4356" y="412"/>
                        </a:lnTo>
                        <a:lnTo>
                          <a:pt x="4439" y="396"/>
                        </a:lnTo>
                        <a:lnTo>
                          <a:pt x="4608" y="365"/>
                        </a:lnTo>
                        <a:lnTo>
                          <a:pt x="4776" y="337"/>
                        </a:lnTo>
                        <a:lnTo>
                          <a:pt x="4945" y="310"/>
                        </a:lnTo>
                        <a:lnTo>
                          <a:pt x="5114" y="286"/>
                        </a:lnTo>
                        <a:lnTo>
                          <a:pt x="4939" y="551"/>
                        </a:lnTo>
                        <a:lnTo>
                          <a:pt x="5502" y="212"/>
                        </a:lnTo>
                        <a:lnTo>
                          <a:pt x="4880" y="0"/>
                        </a:lnTo>
                        <a:lnTo>
                          <a:pt x="5111" y="225"/>
                        </a:lnTo>
                        <a:lnTo>
                          <a:pt x="5111" y="225"/>
                        </a:lnTo>
                        <a:lnTo>
                          <a:pt x="4940" y="249"/>
                        </a:lnTo>
                        <a:lnTo>
                          <a:pt x="4770" y="277"/>
                        </a:lnTo>
                        <a:lnTo>
                          <a:pt x="4600" y="306"/>
                        </a:lnTo>
                        <a:lnTo>
                          <a:pt x="4515" y="321"/>
                        </a:lnTo>
                        <a:lnTo>
                          <a:pt x="4430" y="337"/>
                        </a:lnTo>
                        <a:lnTo>
                          <a:pt x="4346" y="353"/>
                        </a:lnTo>
                        <a:lnTo>
                          <a:pt x="4261" y="370"/>
                        </a:lnTo>
                        <a:lnTo>
                          <a:pt x="4177" y="388"/>
                        </a:lnTo>
                        <a:lnTo>
                          <a:pt x="4093" y="406"/>
                        </a:lnTo>
                        <a:lnTo>
                          <a:pt x="4009" y="425"/>
                        </a:lnTo>
                        <a:lnTo>
                          <a:pt x="3924" y="446"/>
                        </a:lnTo>
                        <a:lnTo>
                          <a:pt x="3841" y="466"/>
                        </a:lnTo>
                        <a:lnTo>
                          <a:pt x="3757" y="487"/>
                        </a:lnTo>
                        <a:lnTo>
                          <a:pt x="3757" y="487"/>
                        </a:lnTo>
                        <a:lnTo>
                          <a:pt x="3663" y="511"/>
                        </a:lnTo>
                        <a:lnTo>
                          <a:pt x="3569" y="537"/>
                        </a:lnTo>
                        <a:lnTo>
                          <a:pt x="3476" y="564"/>
                        </a:lnTo>
                        <a:lnTo>
                          <a:pt x="3384" y="591"/>
                        </a:lnTo>
                        <a:lnTo>
                          <a:pt x="3292" y="621"/>
                        </a:lnTo>
                        <a:lnTo>
                          <a:pt x="3201" y="651"/>
                        </a:lnTo>
                        <a:lnTo>
                          <a:pt x="3111" y="681"/>
                        </a:lnTo>
                        <a:lnTo>
                          <a:pt x="3021" y="713"/>
                        </a:lnTo>
                        <a:lnTo>
                          <a:pt x="2933" y="745"/>
                        </a:lnTo>
                        <a:lnTo>
                          <a:pt x="2844" y="779"/>
                        </a:lnTo>
                        <a:lnTo>
                          <a:pt x="2758" y="814"/>
                        </a:lnTo>
                        <a:lnTo>
                          <a:pt x="2671" y="849"/>
                        </a:lnTo>
                        <a:lnTo>
                          <a:pt x="2586" y="885"/>
                        </a:lnTo>
                        <a:lnTo>
                          <a:pt x="2501" y="922"/>
                        </a:lnTo>
                        <a:lnTo>
                          <a:pt x="2418" y="960"/>
                        </a:lnTo>
                        <a:lnTo>
                          <a:pt x="2335" y="999"/>
                        </a:lnTo>
                        <a:lnTo>
                          <a:pt x="2254" y="1038"/>
                        </a:lnTo>
                        <a:lnTo>
                          <a:pt x="2173" y="1078"/>
                        </a:lnTo>
                        <a:lnTo>
                          <a:pt x="2095" y="1120"/>
                        </a:lnTo>
                        <a:lnTo>
                          <a:pt x="2016" y="1162"/>
                        </a:lnTo>
                        <a:lnTo>
                          <a:pt x="1940" y="1204"/>
                        </a:lnTo>
                        <a:lnTo>
                          <a:pt x="1864" y="1247"/>
                        </a:lnTo>
                        <a:lnTo>
                          <a:pt x="1789" y="1292"/>
                        </a:lnTo>
                        <a:lnTo>
                          <a:pt x="1716" y="1336"/>
                        </a:lnTo>
                        <a:lnTo>
                          <a:pt x="1644" y="1382"/>
                        </a:lnTo>
                        <a:lnTo>
                          <a:pt x="1574" y="1427"/>
                        </a:lnTo>
                        <a:lnTo>
                          <a:pt x="1504" y="1475"/>
                        </a:lnTo>
                        <a:lnTo>
                          <a:pt x="1436" y="1522"/>
                        </a:lnTo>
                        <a:lnTo>
                          <a:pt x="1370" y="1570"/>
                        </a:lnTo>
                        <a:lnTo>
                          <a:pt x="1304" y="1620"/>
                        </a:lnTo>
                        <a:lnTo>
                          <a:pt x="1241" y="1669"/>
                        </a:lnTo>
                        <a:lnTo>
                          <a:pt x="1179" y="1718"/>
                        </a:lnTo>
                        <a:lnTo>
                          <a:pt x="1179" y="1718"/>
                        </a:lnTo>
                        <a:lnTo>
                          <a:pt x="1108" y="1777"/>
                        </a:lnTo>
                        <a:lnTo>
                          <a:pt x="1041" y="1837"/>
                        </a:lnTo>
                        <a:lnTo>
                          <a:pt x="974" y="1896"/>
                        </a:lnTo>
                        <a:lnTo>
                          <a:pt x="910" y="1958"/>
                        </a:lnTo>
                        <a:lnTo>
                          <a:pt x="849" y="2019"/>
                        </a:lnTo>
                        <a:lnTo>
                          <a:pt x="788" y="2081"/>
                        </a:lnTo>
                        <a:lnTo>
                          <a:pt x="731" y="2144"/>
                        </a:lnTo>
                        <a:lnTo>
                          <a:pt x="676" y="2207"/>
                        </a:lnTo>
                        <a:lnTo>
                          <a:pt x="622" y="2271"/>
                        </a:lnTo>
                        <a:lnTo>
                          <a:pt x="571" y="2336"/>
                        </a:lnTo>
                        <a:lnTo>
                          <a:pt x="522" y="2401"/>
                        </a:lnTo>
                        <a:lnTo>
                          <a:pt x="475" y="2468"/>
                        </a:lnTo>
                        <a:lnTo>
                          <a:pt x="430" y="2534"/>
                        </a:lnTo>
                        <a:lnTo>
                          <a:pt x="387" y="2600"/>
                        </a:lnTo>
                        <a:lnTo>
                          <a:pt x="347" y="2668"/>
                        </a:lnTo>
                        <a:lnTo>
                          <a:pt x="309" y="2736"/>
                        </a:lnTo>
                        <a:lnTo>
                          <a:pt x="272" y="2805"/>
                        </a:lnTo>
                        <a:lnTo>
                          <a:pt x="239" y="2874"/>
                        </a:lnTo>
                        <a:lnTo>
                          <a:pt x="207" y="2943"/>
                        </a:lnTo>
                        <a:lnTo>
                          <a:pt x="178" y="3013"/>
                        </a:lnTo>
                        <a:lnTo>
                          <a:pt x="151" y="3084"/>
                        </a:lnTo>
                        <a:lnTo>
                          <a:pt x="126" y="3155"/>
                        </a:lnTo>
                        <a:lnTo>
                          <a:pt x="103" y="3226"/>
                        </a:lnTo>
                        <a:lnTo>
                          <a:pt x="82" y="3297"/>
                        </a:lnTo>
                        <a:lnTo>
                          <a:pt x="64" y="3370"/>
                        </a:lnTo>
                        <a:lnTo>
                          <a:pt x="48" y="3442"/>
                        </a:lnTo>
                        <a:lnTo>
                          <a:pt x="34" y="3515"/>
                        </a:lnTo>
                        <a:lnTo>
                          <a:pt x="23" y="3588"/>
                        </a:lnTo>
                        <a:lnTo>
                          <a:pt x="14" y="3662"/>
                        </a:lnTo>
                        <a:lnTo>
                          <a:pt x="7" y="3736"/>
                        </a:lnTo>
                        <a:lnTo>
                          <a:pt x="2" y="3809"/>
                        </a:lnTo>
                        <a:lnTo>
                          <a:pt x="0" y="3884"/>
                        </a:lnTo>
                        <a:lnTo>
                          <a:pt x="0" y="3884"/>
                        </a:lnTo>
                        <a:lnTo>
                          <a:pt x="0" y="3953"/>
                        </a:lnTo>
                        <a:lnTo>
                          <a:pt x="1" y="4022"/>
                        </a:lnTo>
                        <a:lnTo>
                          <a:pt x="5" y="4090"/>
                        </a:lnTo>
                        <a:lnTo>
                          <a:pt x="9" y="4159"/>
                        </a:lnTo>
                        <a:lnTo>
                          <a:pt x="16" y="4226"/>
                        </a:lnTo>
                        <a:lnTo>
                          <a:pt x="24" y="4292"/>
                        </a:lnTo>
                        <a:lnTo>
                          <a:pt x="33" y="4359"/>
                        </a:lnTo>
                        <a:lnTo>
                          <a:pt x="45" y="4424"/>
                        </a:lnTo>
                        <a:lnTo>
                          <a:pt x="58" y="4490"/>
                        </a:lnTo>
                        <a:lnTo>
                          <a:pt x="72" y="4554"/>
                        </a:lnTo>
                        <a:lnTo>
                          <a:pt x="88" y="4617"/>
                        </a:lnTo>
                        <a:lnTo>
                          <a:pt x="107" y="4681"/>
                        </a:lnTo>
                        <a:lnTo>
                          <a:pt x="126" y="4743"/>
                        </a:lnTo>
                        <a:lnTo>
                          <a:pt x="146" y="4805"/>
                        </a:lnTo>
                        <a:lnTo>
                          <a:pt x="169" y="4867"/>
                        </a:lnTo>
                        <a:lnTo>
                          <a:pt x="192" y="4927"/>
                        </a:lnTo>
                        <a:lnTo>
                          <a:pt x="218" y="4987"/>
                        </a:lnTo>
                        <a:lnTo>
                          <a:pt x="244" y="5047"/>
                        </a:lnTo>
                        <a:lnTo>
                          <a:pt x="273" y="5106"/>
                        </a:lnTo>
                        <a:lnTo>
                          <a:pt x="303" y="5163"/>
                        </a:lnTo>
                        <a:lnTo>
                          <a:pt x="334" y="5221"/>
                        </a:lnTo>
                        <a:lnTo>
                          <a:pt x="367" y="5278"/>
                        </a:lnTo>
                        <a:lnTo>
                          <a:pt x="401" y="5334"/>
                        </a:lnTo>
                        <a:lnTo>
                          <a:pt x="437" y="5389"/>
                        </a:lnTo>
                        <a:lnTo>
                          <a:pt x="475" y="5443"/>
                        </a:lnTo>
                        <a:lnTo>
                          <a:pt x="513" y="5497"/>
                        </a:lnTo>
                        <a:lnTo>
                          <a:pt x="553" y="5550"/>
                        </a:lnTo>
                        <a:lnTo>
                          <a:pt x="594" y="5602"/>
                        </a:lnTo>
                        <a:lnTo>
                          <a:pt x="638" y="5654"/>
                        </a:lnTo>
                        <a:lnTo>
                          <a:pt x="682" y="5705"/>
                        </a:lnTo>
                        <a:lnTo>
                          <a:pt x="727" y="5755"/>
                        </a:lnTo>
                        <a:lnTo>
                          <a:pt x="774" y="5803"/>
                        </a:lnTo>
                        <a:lnTo>
                          <a:pt x="823" y="5852"/>
                        </a:lnTo>
                        <a:lnTo>
                          <a:pt x="872" y="5899"/>
                        </a:lnTo>
                        <a:lnTo>
                          <a:pt x="923" y="5946"/>
                        </a:lnTo>
                        <a:lnTo>
                          <a:pt x="975" y="5991"/>
                        </a:lnTo>
                        <a:lnTo>
                          <a:pt x="1030" y="6037"/>
                        </a:lnTo>
                        <a:lnTo>
                          <a:pt x="1084" y="6081"/>
                        </a:lnTo>
                        <a:lnTo>
                          <a:pt x="1140" y="6123"/>
                        </a:lnTo>
                        <a:lnTo>
                          <a:pt x="1199" y="6165"/>
                        </a:lnTo>
                        <a:lnTo>
                          <a:pt x="1257" y="6207"/>
                        </a:lnTo>
                        <a:lnTo>
                          <a:pt x="1317" y="6248"/>
                        </a:lnTo>
                        <a:lnTo>
                          <a:pt x="1379" y="6287"/>
                        </a:lnTo>
                        <a:lnTo>
                          <a:pt x="1441" y="6325"/>
                        </a:lnTo>
                        <a:lnTo>
                          <a:pt x="1505" y="6364"/>
                        </a:lnTo>
                        <a:lnTo>
                          <a:pt x="1571" y="6400"/>
                        </a:lnTo>
                        <a:lnTo>
                          <a:pt x="1637" y="6436"/>
                        </a:lnTo>
                        <a:lnTo>
                          <a:pt x="1705" y="6470"/>
                        </a:lnTo>
                        <a:lnTo>
                          <a:pt x="1773" y="6504"/>
                        </a:lnTo>
                        <a:lnTo>
                          <a:pt x="1843" y="6537"/>
                        </a:lnTo>
                        <a:lnTo>
                          <a:pt x="1914" y="6569"/>
                        </a:lnTo>
                        <a:lnTo>
                          <a:pt x="1986" y="6600"/>
                        </a:lnTo>
                        <a:lnTo>
                          <a:pt x="2060" y="6629"/>
                        </a:lnTo>
                        <a:lnTo>
                          <a:pt x="2134" y="6658"/>
                        </a:lnTo>
                        <a:lnTo>
                          <a:pt x="2211" y="6686"/>
                        </a:lnTo>
                        <a:lnTo>
                          <a:pt x="2287" y="6713"/>
                        </a:lnTo>
                        <a:lnTo>
                          <a:pt x="2365" y="6738"/>
                        </a:lnTo>
                        <a:lnTo>
                          <a:pt x="2444" y="6762"/>
                        </a:lnTo>
                        <a:lnTo>
                          <a:pt x="2524" y="6786"/>
                        </a:lnTo>
                        <a:lnTo>
                          <a:pt x="2606" y="6808"/>
                        </a:lnTo>
                        <a:lnTo>
                          <a:pt x="2688" y="6829"/>
                        </a:lnTo>
                        <a:lnTo>
                          <a:pt x="2772" y="6849"/>
                        </a:lnTo>
                        <a:lnTo>
                          <a:pt x="2856" y="6869"/>
                        </a:lnTo>
                        <a:lnTo>
                          <a:pt x="2942" y="6886"/>
                        </a:lnTo>
                        <a:lnTo>
                          <a:pt x="2942" y="6886"/>
                        </a:lnTo>
                        <a:lnTo>
                          <a:pt x="3052" y="6907"/>
                        </a:lnTo>
                        <a:lnTo>
                          <a:pt x="3163" y="6927"/>
                        </a:lnTo>
                        <a:lnTo>
                          <a:pt x="3274" y="6945"/>
                        </a:lnTo>
                        <a:lnTo>
                          <a:pt x="3384" y="6961"/>
                        </a:lnTo>
                        <a:lnTo>
                          <a:pt x="3494" y="6975"/>
                        </a:lnTo>
                        <a:lnTo>
                          <a:pt x="3604" y="6988"/>
                        </a:lnTo>
                        <a:lnTo>
                          <a:pt x="3714" y="6999"/>
                        </a:lnTo>
                        <a:lnTo>
                          <a:pt x="3825" y="7009"/>
                        </a:lnTo>
                        <a:lnTo>
                          <a:pt x="3934" y="7017"/>
                        </a:lnTo>
                        <a:lnTo>
                          <a:pt x="4044" y="7025"/>
                        </a:lnTo>
                        <a:lnTo>
                          <a:pt x="4154" y="7030"/>
                        </a:lnTo>
                        <a:lnTo>
                          <a:pt x="4263" y="7033"/>
                        </a:lnTo>
                        <a:lnTo>
                          <a:pt x="4372" y="7036"/>
                        </a:lnTo>
                        <a:lnTo>
                          <a:pt x="4481" y="7036"/>
                        </a:lnTo>
                        <a:lnTo>
                          <a:pt x="4590" y="7036"/>
                        </a:lnTo>
                        <a:lnTo>
                          <a:pt x="4700" y="7034"/>
                        </a:lnTo>
                        <a:lnTo>
                          <a:pt x="4808" y="7031"/>
                        </a:lnTo>
                        <a:lnTo>
                          <a:pt x="4917" y="7026"/>
                        </a:lnTo>
                        <a:lnTo>
                          <a:pt x="5026" y="7020"/>
                        </a:lnTo>
                        <a:lnTo>
                          <a:pt x="5134" y="7013"/>
                        </a:lnTo>
                        <a:lnTo>
                          <a:pt x="5243" y="7004"/>
                        </a:lnTo>
                        <a:lnTo>
                          <a:pt x="5350" y="6995"/>
                        </a:lnTo>
                        <a:lnTo>
                          <a:pt x="5459" y="6985"/>
                        </a:lnTo>
                        <a:lnTo>
                          <a:pt x="5567" y="6973"/>
                        </a:lnTo>
                        <a:lnTo>
                          <a:pt x="5674" y="6960"/>
                        </a:lnTo>
                        <a:lnTo>
                          <a:pt x="5783" y="6947"/>
                        </a:lnTo>
                        <a:lnTo>
                          <a:pt x="5890" y="6932"/>
                        </a:lnTo>
                        <a:lnTo>
                          <a:pt x="5997" y="6916"/>
                        </a:lnTo>
                        <a:lnTo>
                          <a:pt x="6105" y="6899"/>
                        </a:lnTo>
                        <a:lnTo>
                          <a:pt x="6212" y="6882"/>
                        </a:lnTo>
                        <a:lnTo>
                          <a:pt x="6320" y="6863"/>
                        </a:lnTo>
                        <a:lnTo>
                          <a:pt x="6427" y="6842"/>
                        </a:lnTo>
                        <a:lnTo>
                          <a:pt x="6533" y="6822"/>
                        </a:lnTo>
                        <a:lnTo>
                          <a:pt x="6641" y="6801"/>
                        </a:lnTo>
                        <a:lnTo>
                          <a:pt x="6747" y="6779"/>
                        </a:lnTo>
                        <a:lnTo>
                          <a:pt x="6854" y="6756"/>
                        </a:lnTo>
                        <a:lnTo>
                          <a:pt x="6961" y="6732"/>
                        </a:lnTo>
                        <a:lnTo>
                          <a:pt x="7066" y="6708"/>
                        </a:lnTo>
                        <a:lnTo>
                          <a:pt x="7173" y="6682"/>
                        </a:lnTo>
                        <a:lnTo>
                          <a:pt x="7279" y="6657"/>
                        </a:lnTo>
                        <a:lnTo>
                          <a:pt x="7385" y="6630"/>
                        </a:lnTo>
                        <a:lnTo>
                          <a:pt x="7491" y="6603"/>
                        </a:lnTo>
                        <a:lnTo>
                          <a:pt x="7703" y="6548"/>
                        </a:lnTo>
                        <a:lnTo>
                          <a:pt x="7914" y="6489"/>
                        </a:lnTo>
                        <a:lnTo>
                          <a:pt x="8124" y="6430"/>
                        </a:lnTo>
                        <a:lnTo>
                          <a:pt x="8334" y="6369"/>
                        </a:lnTo>
                        <a:lnTo>
                          <a:pt x="8545" y="6305"/>
                        </a:lnTo>
                        <a:lnTo>
                          <a:pt x="8754" y="6241"/>
                        </a:lnTo>
                        <a:lnTo>
                          <a:pt x="8962" y="6175"/>
                        </a:lnTo>
                        <a:lnTo>
                          <a:pt x="9170" y="6110"/>
                        </a:lnTo>
                        <a:lnTo>
                          <a:pt x="9378" y="6044"/>
                        </a:lnTo>
                        <a:lnTo>
                          <a:pt x="9793" y="5910"/>
                        </a:lnTo>
                        <a:lnTo>
                          <a:pt x="9992" y="5846"/>
                        </a:lnTo>
                        <a:lnTo>
                          <a:pt x="9992" y="5846"/>
                        </a:lnTo>
                        <a:lnTo>
                          <a:pt x="10377" y="5721"/>
                        </a:lnTo>
                        <a:lnTo>
                          <a:pt x="10571" y="5659"/>
                        </a:lnTo>
                        <a:lnTo>
                          <a:pt x="10766" y="5599"/>
                        </a:lnTo>
                        <a:lnTo>
                          <a:pt x="10962" y="5540"/>
                        </a:lnTo>
                        <a:lnTo>
                          <a:pt x="11159" y="5481"/>
                        </a:lnTo>
                        <a:lnTo>
                          <a:pt x="11258" y="5453"/>
                        </a:lnTo>
                        <a:lnTo>
                          <a:pt x="11357" y="5425"/>
                        </a:lnTo>
                        <a:lnTo>
                          <a:pt x="11456" y="5399"/>
                        </a:lnTo>
                        <a:lnTo>
                          <a:pt x="11556" y="5372"/>
                        </a:lnTo>
                        <a:lnTo>
                          <a:pt x="11655" y="5347"/>
                        </a:lnTo>
                        <a:lnTo>
                          <a:pt x="11756" y="5321"/>
                        </a:lnTo>
                        <a:lnTo>
                          <a:pt x="11856" y="5297"/>
                        </a:lnTo>
                        <a:lnTo>
                          <a:pt x="11957" y="5274"/>
                        </a:lnTo>
                        <a:lnTo>
                          <a:pt x="12058" y="5251"/>
                        </a:lnTo>
                        <a:lnTo>
                          <a:pt x="12158" y="5230"/>
                        </a:lnTo>
                        <a:lnTo>
                          <a:pt x="12260" y="5210"/>
                        </a:lnTo>
                        <a:lnTo>
                          <a:pt x="12361" y="5190"/>
                        </a:lnTo>
                        <a:lnTo>
                          <a:pt x="12464" y="5172"/>
                        </a:lnTo>
                        <a:lnTo>
                          <a:pt x="12565" y="5154"/>
                        </a:lnTo>
                        <a:lnTo>
                          <a:pt x="12668" y="5138"/>
                        </a:lnTo>
                        <a:lnTo>
                          <a:pt x="12771" y="5123"/>
                        </a:lnTo>
                        <a:lnTo>
                          <a:pt x="12874" y="5109"/>
                        </a:lnTo>
                        <a:lnTo>
                          <a:pt x="12977" y="5097"/>
                        </a:lnTo>
                        <a:lnTo>
                          <a:pt x="13081" y="5086"/>
                        </a:lnTo>
                        <a:lnTo>
                          <a:pt x="13185" y="5077"/>
                        </a:lnTo>
                        <a:lnTo>
                          <a:pt x="13185" y="5077"/>
                        </a:lnTo>
                        <a:lnTo>
                          <a:pt x="13261" y="5071"/>
                        </a:lnTo>
                        <a:lnTo>
                          <a:pt x="13338" y="5066"/>
                        </a:lnTo>
                        <a:lnTo>
                          <a:pt x="13413" y="5063"/>
                        </a:lnTo>
                        <a:lnTo>
                          <a:pt x="13488" y="5061"/>
                        </a:lnTo>
                        <a:lnTo>
                          <a:pt x="13562" y="5059"/>
                        </a:lnTo>
                        <a:lnTo>
                          <a:pt x="13637" y="5059"/>
                        </a:lnTo>
                        <a:lnTo>
                          <a:pt x="13710" y="5061"/>
                        </a:lnTo>
                        <a:lnTo>
                          <a:pt x="13782" y="5063"/>
                        </a:lnTo>
                        <a:lnTo>
                          <a:pt x="13782" y="5004"/>
                        </a:lnTo>
                        <a:lnTo>
                          <a:pt x="13782" y="5004"/>
                        </a:lnTo>
                        <a:lnTo>
                          <a:pt x="13708" y="5002"/>
                        </a:lnTo>
                        <a:lnTo>
                          <a:pt x="13633" y="5001"/>
                        </a:lnTo>
                        <a:lnTo>
                          <a:pt x="13558" y="5000"/>
                        </a:lnTo>
                        <a:lnTo>
                          <a:pt x="13483" y="5001"/>
                        </a:lnTo>
                        <a:lnTo>
                          <a:pt x="13407" y="5003"/>
                        </a:lnTo>
                        <a:lnTo>
                          <a:pt x="13332" y="5007"/>
                        </a:lnTo>
                        <a:lnTo>
                          <a:pt x="13255" y="5011"/>
                        </a:lnTo>
                        <a:lnTo>
                          <a:pt x="13180" y="5017"/>
                        </a:lnTo>
                        <a:lnTo>
                          <a:pt x="13180" y="5017"/>
                        </a:ln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Calibri"/>
                    </a:endParaRPr>
                  </a:p>
                </p:txBody>
              </p:sp>
              <p:sp>
                <p:nvSpPr>
                  <p:cNvPr id="13" name="Freeform 10">
                    <a:extLst>
                      <a:ext uri="{FF2B5EF4-FFF2-40B4-BE49-F238E27FC236}">
                        <a16:creationId xmlns:a16="http://schemas.microsoft.com/office/drawing/2014/main" id="{93CF8278-7D10-3DB8-1D17-66AE39D3FF05}"/>
                      </a:ext>
                    </a:extLst>
                  </p:cNvPr>
                  <p:cNvSpPr>
                    <a:spLocks/>
                  </p:cNvSpPr>
                  <p:nvPr/>
                </p:nvSpPr>
                <p:spPr bwMode="auto">
                  <a:xfrm>
                    <a:off x="181166" y="5322525"/>
                    <a:ext cx="361269" cy="1260838"/>
                  </a:xfrm>
                  <a:custGeom>
                    <a:avLst/>
                    <a:gdLst>
                      <a:gd name="T0" fmla="*/ 2039 w 2390"/>
                      <a:gd name="T1" fmla="*/ 148 h 4760"/>
                      <a:gd name="T2" fmla="*/ 1951 w 2390"/>
                      <a:gd name="T3" fmla="*/ 208 h 4760"/>
                      <a:gd name="T4" fmla="*/ 1826 w 2390"/>
                      <a:gd name="T5" fmla="*/ 302 h 4760"/>
                      <a:gd name="T6" fmla="*/ 1705 w 2390"/>
                      <a:gd name="T7" fmla="*/ 399 h 4760"/>
                      <a:gd name="T8" fmla="*/ 1590 w 2390"/>
                      <a:gd name="T9" fmla="*/ 501 h 4760"/>
                      <a:gd name="T10" fmla="*/ 1480 w 2390"/>
                      <a:gd name="T11" fmla="*/ 605 h 4760"/>
                      <a:gd name="T12" fmla="*/ 1375 w 2390"/>
                      <a:gd name="T13" fmla="*/ 713 h 4760"/>
                      <a:gd name="T14" fmla="*/ 1275 w 2390"/>
                      <a:gd name="T15" fmla="*/ 824 h 4760"/>
                      <a:gd name="T16" fmla="*/ 1091 w 2390"/>
                      <a:gd name="T17" fmla="*/ 1054 h 4760"/>
                      <a:gd name="T18" fmla="*/ 924 w 2390"/>
                      <a:gd name="T19" fmla="*/ 1293 h 4760"/>
                      <a:gd name="T20" fmla="*/ 777 w 2390"/>
                      <a:gd name="T21" fmla="*/ 1538 h 4760"/>
                      <a:gd name="T22" fmla="*/ 644 w 2390"/>
                      <a:gd name="T23" fmla="*/ 1788 h 4760"/>
                      <a:gd name="T24" fmla="*/ 528 w 2390"/>
                      <a:gd name="T25" fmla="*/ 2042 h 4760"/>
                      <a:gd name="T26" fmla="*/ 427 w 2390"/>
                      <a:gd name="T27" fmla="*/ 2296 h 4760"/>
                      <a:gd name="T28" fmla="*/ 339 w 2390"/>
                      <a:gd name="T29" fmla="*/ 2551 h 4760"/>
                      <a:gd name="T30" fmla="*/ 264 w 2390"/>
                      <a:gd name="T31" fmla="*/ 2802 h 4760"/>
                      <a:gd name="T32" fmla="*/ 200 w 2390"/>
                      <a:gd name="T33" fmla="*/ 3050 h 4760"/>
                      <a:gd name="T34" fmla="*/ 148 w 2390"/>
                      <a:gd name="T35" fmla="*/ 3290 h 4760"/>
                      <a:gd name="T36" fmla="*/ 106 w 2390"/>
                      <a:gd name="T37" fmla="*/ 3524 h 4760"/>
                      <a:gd name="T38" fmla="*/ 72 w 2390"/>
                      <a:gd name="T39" fmla="*/ 3746 h 4760"/>
                      <a:gd name="T40" fmla="*/ 45 w 2390"/>
                      <a:gd name="T41" fmla="*/ 3956 h 4760"/>
                      <a:gd name="T42" fmla="*/ 17 w 2390"/>
                      <a:gd name="T43" fmla="*/ 4275 h 4760"/>
                      <a:gd name="T44" fmla="*/ 2 w 2390"/>
                      <a:gd name="T45" fmla="*/ 4593 h 4760"/>
                      <a:gd name="T46" fmla="*/ 60 w 2390"/>
                      <a:gd name="T47" fmla="*/ 4760 h 4760"/>
                      <a:gd name="T48" fmla="*/ 62 w 2390"/>
                      <a:gd name="T49" fmla="*/ 4596 h 4760"/>
                      <a:gd name="T50" fmla="*/ 78 w 2390"/>
                      <a:gd name="T51" fmla="*/ 4283 h 4760"/>
                      <a:gd name="T52" fmla="*/ 113 w 2390"/>
                      <a:gd name="T53" fmla="*/ 3903 h 4760"/>
                      <a:gd name="T54" fmla="*/ 140 w 2390"/>
                      <a:gd name="T55" fmla="*/ 3693 h 4760"/>
                      <a:gd name="T56" fmla="*/ 176 w 2390"/>
                      <a:gd name="T57" fmla="*/ 3470 h 4760"/>
                      <a:gd name="T58" fmla="*/ 220 w 2390"/>
                      <a:gd name="T59" fmla="*/ 3239 h 4760"/>
                      <a:gd name="T60" fmla="*/ 275 w 2390"/>
                      <a:gd name="T61" fmla="*/ 3001 h 4760"/>
                      <a:gd name="T62" fmla="*/ 340 w 2390"/>
                      <a:gd name="T63" fmla="*/ 2755 h 4760"/>
                      <a:gd name="T64" fmla="*/ 417 w 2390"/>
                      <a:gd name="T65" fmla="*/ 2507 h 4760"/>
                      <a:gd name="T66" fmla="*/ 506 w 2390"/>
                      <a:gd name="T67" fmla="*/ 2257 h 4760"/>
                      <a:gd name="T68" fmla="*/ 610 w 2390"/>
                      <a:gd name="T69" fmla="*/ 2007 h 4760"/>
                      <a:gd name="T70" fmla="*/ 727 w 2390"/>
                      <a:gd name="T71" fmla="*/ 1757 h 4760"/>
                      <a:gd name="T72" fmla="*/ 860 w 2390"/>
                      <a:gd name="T73" fmla="*/ 1513 h 4760"/>
                      <a:gd name="T74" fmla="*/ 1010 w 2390"/>
                      <a:gd name="T75" fmla="*/ 1272 h 4760"/>
                      <a:gd name="T76" fmla="*/ 1178 w 2390"/>
                      <a:gd name="T77" fmla="*/ 1040 h 4760"/>
                      <a:gd name="T78" fmla="*/ 1363 w 2390"/>
                      <a:gd name="T79" fmla="*/ 817 h 4760"/>
                      <a:gd name="T80" fmla="*/ 1463 w 2390"/>
                      <a:gd name="T81" fmla="*/ 709 h 4760"/>
                      <a:gd name="T82" fmla="*/ 1568 w 2390"/>
                      <a:gd name="T83" fmla="*/ 604 h 4760"/>
                      <a:gd name="T84" fmla="*/ 1678 w 2390"/>
                      <a:gd name="T85" fmla="*/ 503 h 4760"/>
                      <a:gd name="T86" fmla="*/ 1793 w 2390"/>
                      <a:gd name="T87" fmla="*/ 405 h 4760"/>
                      <a:gd name="T88" fmla="*/ 1914 w 2390"/>
                      <a:gd name="T89" fmla="*/ 311 h 4760"/>
                      <a:gd name="T90" fmla="*/ 2040 w 2390"/>
                      <a:gd name="T91" fmla="*/ 220 h 47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390" h="4760">
                        <a:moveTo>
                          <a:pt x="2390" y="3"/>
                        </a:moveTo>
                        <a:lnTo>
                          <a:pt x="1732" y="0"/>
                        </a:lnTo>
                        <a:lnTo>
                          <a:pt x="2039" y="148"/>
                        </a:lnTo>
                        <a:lnTo>
                          <a:pt x="2039" y="148"/>
                        </a:lnTo>
                        <a:lnTo>
                          <a:pt x="1994" y="177"/>
                        </a:lnTo>
                        <a:lnTo>
                          <a:pt x="1951" y="208"/>
                        </a:lnTo>
                        <a:lnTo>
                          <a:pt x="1909" y="238"/>
                        </a:lnTo>
                        <a:lnTo>
                          <a:pt x="1867" y="269"/>
                        </a:lnTo>
                        <a:lnTo>
                          <a:pt x="1826" y="302"/>
                        </a:lnTo>
                        <a:lnTo>
                          <a:pt x="1784" y="334"/>
                        </a:lnTo>
                        <a:lnTo>
                          <a:pt x="1744" y="366"/>
                        </a:lnTo>
                        <a:lnTo>
                          <a:pt x="1705" y="399"/>
                        </a:lnTo>
                        <a:lnTo>
                          <a:pt x="1666" y="432"/>
                        </a:lnTo>
                        <a:lnTo>
                          <a:pt x="1627" y="467"/>
                        </a:lnTo>
                        <a:lnTo>
                          <a:pt x="1590" y="501"/>
                        </a:lnTo>
                        <a:lnTo>
                          <a:pt x="1553" y="535"/>
                        </a:lnTo>
                        <a:lnTo>
                          <a:pt x="1516" y="570"/>
                        </a:lnTo>
                        <a:lnTo>
                          <a:pt x="1480" y="605"/>
                        </a:lnTo>
                        <a:lnTo>
                          <a:pt x="1444" y="641"/>
                        </a:lnTo>
                        <a:lnTo>
                          <a:pt x="1410" y="677"/>
                        </a:lnTo>
                        <a:lnTo>
                          <a:pt x="1375" y="713"/>
                        </a:lnTo>
                        <a:lnTo>
                          <a:pt x="1342" y="750"/>
                        </a:lnTo>
                        <a:lnTo>
                          <a:pt x="1309" y="787"/>
                        </a:lnTo>
                        <a:lnTo>
                          <a:pt x="1275" y="824"/>
                        </a:lnTo>
                        <a:lnTo>
                          <a:pt x="1212" y="899"/>
                        </a:lnTo>
                        <a:lnTo>
                          <a:pt x="1151" y="977"/>
                        </a:lnTo>
                        <a:lnTo>
                          <a:pt x="1091" y="1054"/>
                        </a:lnTo>
                        <a:lnTo>
                          <a:pt x="1033" y="1133"/>
                        </a:lnTo>
                        <a:lnTo>
                          <a:pt x="978" y="1212"/>
                        </a:lnTo>
                        <a:lnTo>
                          <a:pt x="924" y="1293"/>
                        </a:lnTo>
                        <a:lnTo>
                          <a:pt x="873" y="1373"/>
                        </a:lnTo>
                        <a:lnTo>
                          <a:pt x="824" y="1455"/>
                        </a:lnTo>
                        <a:lnTo>
                          <a:pt x="777" y="1538"/>
                        </a:lnTo>
                        <a:lnTo>
                          <a:pt x="730" y="1620"/>
                        </a:lnTo>
                        <a:lnTo>
                          <a:pt x="686" y="1704"/>
                        </a:lnTo>
                        <a:lnTo>
                          <a:pt x="644" y="1788"/>
                        </a:lnTo>
                        <a:lnTo>
                          <a:pt x="604" y="1873"/>
                        </a:lnTo>
                        <a:lnTo>
                          <a:pt x="565" y="1957"/>
                        </a:lnTo>
                        <a:lnTo>
                          <a:pt x="528" y="2042"/>
                        </a:lnTo>
                        <a:lnTo>
                          <a:pt x="493" y="2126"/>
                        </a:lnTo>
                        <a:lnTo>
                          <a:pt x="459" y="2212"/>
                        </a:lnTo>
                        <a:lnTo>
                          <a:pt x="427" y="2296"/>
                        </a:lnTo>
                        <a:lnTo>
                          <a:pt x="395" y="2382"/>
                        </a:lnTo>
                        <a:lnTo>
                          <a:pt x="366" y="2466"/>
                        </a:lnTo>
                        <a:lnTo>
                          <a:pt x="339" y="2551"/>
                        </a:lnTo>
                        <a:lnTo>
                          <a:pt x="312" y="2635"/>
                        </a:lnTo>
                        <a:lnTo>
                          <a:pt x="288" y="2719"/>
                        </a:lnTo>
                        <a:lnTo>
                          <a:pt x="264" y="2802"/>
                        </a:lnTo>
                        <a:lnTo>
                          <a:pt x="242" y="2886"/>
                        </a:lnTo>
                        <a:lnTo>
                          <a:pt x="220" y="2968"/>
                        </a:lnTo>
                        <a:lnTo>
                          <a:pt x="200" y="3050"/>
                        </a:lnTo>
                        <a:lnTo>
                          <a:pt x="182" y="3131"/>
                        </a:lnTo>
                        <a:lnTo>
                          <a:pt x="164" y="3211"/>
                        </a:lnTo>
                        <a:lnTo>
                          <a:pt x="148" y="3290"/>
                        </a:lnTo>
                        <a:lnTo>
                          <a:pt x="133" y="3370"/>
                        </a:lnTo>
                        <a:lnTo>
                          <a:pt x="119" y="3447"/>
                        </a:lnTo>
                        <a:lnTo>
                          <a:pt x="106" y="3524"/>
                        </a:lnTo>
                        <a:lnTo>
                          <a:pt x="94" y="3599"/>
                        </a:lnTo>
                        <a:lnTo>
                          <a:pt x="82" y="3673"/>
                        </a:lnTo>
                        <a:lnTo>
                          <a:pt x="72" y="3746"/>
                        </a:lnTo>
                        <a:lnTo>
                          <a:pt x="62" y="3817"/>
                        </a:lnTo>
                        <a:lnTo>
                          <a:pt x="53" y="3888"/>
                        </a:lnTo>
                        <a:lnTo>
                          <a:pt x="45" y="3956"/>
                        </a:lnTo>
                        <a:lnTo>
                          <a:pt x="38" y="4024"/>
                        </a:lnTo>
                        <a:lnTo>
                          <a:pt x="27" y="4152"/>
                        </a:lnTo>
                        <a:lnTo>
                          <a:pt x="17" y="4275"/>
                        </a:lnTo>
                        <a:lnTo>
                          <a:pt x="10" y="4389"/>
                        </a:lnTo>
                        <a:lnTo>
                          <a:pt x="5" y="4495"/>
                        </a:lnTo>
                        <a:lnTo>
                          <a:pt x="2" y="4593"/>
                        </a:lnTo>
                        <a:lnTo>
                          <a:pt x="1" y="4682"/>
                        </a:lnTo>
                        <a:lnTo>
                          <a:pt x="0" y="4760"/>
                        </a:lnTo>
                        <a:lnTo>
                          <a:pt x="60" y="4760"/>
                        </a:lnTo>
                        <a:lnTo>
                          <a:pt x="60" y="4760"/>
                        </a:lnTo>
                        <a:lnTo>
                          <a:pt x="61" y="4683"/>
                        </a:lnTo>
                        <a:lnTo>
                          <a:pt x="62" y="4596"/>
                        </a:lnTo>
                        <a:lnTo>
                          <a:pt x="66" y="4501"/>
                        </a:lnTo>
                        <a:lnTo>
                          <a:pt x="71" y="4396"/>
                        </a:lnTo>
                        <a:lnTo>
                          <a:pt x="78" y="4283"/>
                        </a:lnTo>
                        <a:lnTo>
                          <a:pt x="87" y="4164"/>
                        </a:lnTo>
                        <a:lnTo>
                          <a:pt x="98" y="4036"/>
                        </a:lnTo>
                        <a:lnTo>
                          <a:pt x="113" y="3903"/>
                        </a:lnTo>
                        <a:lnTo>
                          <a:pt x="121" y="3835"/>
                        </a:lnTo>
                        <a:lnTo>
                          <a:pt x="130" y="3764"/>
                        </a:lnTo>
                        <a:lnTo>
                          <a:pt x="140" y="3693"/>
                        </a:lnTo>
                        <a:lnTo>
                          <a:pt x="151" y="3619"/>
                        </a:lnTo>
                        <a:lnTo>
                          <a:pt x="163" y="3546"/>
                        </a:lnTo>
                        <a:lnTo>
                          <a:pt x="176" y="3470"/>
                        </a:lnTo>
                        <a:lnTo>
                          <a:pt x="189" y="3394"/>
                        </a:lnTo>
                        <a:lnTo>
                          <a:pt x="204" y="3318"/>
                        </a:lnTo>
                        <a:lnTo>
                          <a:pt x="220" y="3239"/>
                        </a:lnTo>
                        <a:lnTo>
                          <a:pt x="237" y="3161"/>
                        </a:lnTo>
                        <a:lnTo>
                          <a:pt x="256" y="3080"/>
                        </a:lnTo>
                        <a:lnTo>
                          <a:pt x="275" y="3001"/>
                        </a:lnTo>
                        <a:lnTo>
                          <a:pt x="295" y="2919"/>
                        </a:lnTo>
                        <a:lnTo>
                          <a:pt x="317" y="2838"/>
                        </a:lnTo>
                        <a:lnTo>
                          <a:pt x="340" y="2755"/>
                        </a:lnTo>
                        <a:lnTo>
                          <a:pt x="364" y="2673"/>
                        </a:lnTo>
                        <a:lnTo>
                          <a:pt x="389" y="2590"/>
                        </a:lnTo>
                        <a:lnTo>
                          <a:pt x="417" y="2507"/>
                        </a:lnTo>
                        <a:lnTo>
                          <a:pt x="445" y="2424"/>
                        </a:lnTo>
                        <a:lnTo>
                          <a:pt x="475" y="2341"/>
                        </a:lnTo>
                        <a:lnTo>
                          <a:pt x="506" y="2257"/>
                        </a:lnTo>
                        <a:lnTo>
                          <a:pt x="539" y="2174"/>
                        </a:lnTo>
                        <a:lnTo>
                          <a:pt x="573" y="2089"/>
                        </a:lnTo>
                        <a:lnTo>
                          <a:pt x="610" y="2007"/>
                        </a:lnTo>
                        <a:lnTo>
                          <a:pt x="647" y="1923"/>
                        </a:lnTo>
                        <a:lnTo>
                          <a:pt x="686" y="1840"/>
                        </a:lnTo>
                        <a:lnTo>
                          <a:pt x="727" y="1757"/>
                        </a:lnTo>
                        <a:lnTo>
                          <a:pt x="770" y="1676"/>
                        </a:lnTo>
                        <a:lnTo>
                          <a:pt x="814" y="1593"/>
                        </a:lnTo>
                        <a:lnTo>
                          <a:pt x="860" y="1513"/>
                        </a:lnTo>
                        <a:lnTo>
                          <a:pt x="908" y="1431"/>
                        </a:lnTo>
                        <a:lnTo>
                          <a:pt x="959" y="1352"/>
                        </a:lnTo>
                        <a:lnTo>
                          <a:pt x="1010" y="1272"/>
                        </a:lnTo>
                        <a:lnTo>
                          <a:pt x="1064" y="1194"/>
                        </a:lnTo>
                        <a:lnTo>
                          <a:pt x="1120" y="1116"/>
                        </a:lnTo>
                        <a:lnTo>
                          <a:pt x="1178" y="1040"/>
                        </a:lnTo>
                        <a:lnTo>
                          <a:pt x="1237" y="965"/>
                        </a:lnTo>
                        <a:lnTo>
                          <a:pt x="1300" y="890"/>
                        </a:lnTo>
                        <a:lnTo>
                          <a:pt x="1363" y="817"/>
                        </a:lnTo>
                        <a:lnTo>
                          <a:pt x="1396" y="780"/>
                        </a:lnTo>
                        <a:lnTo>
                          <a:pt x="1429" y="745"/>
                        </a:lnTo>
                        <a:lnTo>
                          <a:pt x="1463" y="709"/>
                        </a:lnTo>
                        <a:lnTo>
                          <a:pt x="1498" y="674"/>
                        </a:lnTo>
                        <a:lnTo>
                          <a:pt x="1533" y="639"/>
                        </a:lnTo>
                        <a:lnTo>
                          <a:pt x="1568" y="604"/>
                        </a:lnTo>
                        <a:lnTo>
                          <a:pt x="1604" y="570"/>
                        </a:lnTo>
                        <a:lnTo>
                          <a:pt x="1640" y="537"/>
                        </a:lnTo>
                        <a:lnTo>
                          <a:pt x="1678" y="503"/>
                        </a:lnTo>
                        <a:lnTo>
                          <a:pt x="1716" y="470"/>
                        </a:lnTo>
                        <a:lnTo>
                          <a:pt x="1754" y="437"/>
                        </a:lnTo>
                        <a:lnTo>
                          <a:pt x="1793" y="405"/>
                        </a:lnTo>
                        <a:lnTo>
                          <a:pt x="1833" y="373"/>
                        </a:lnTo>
                        <a:lnTo>
                          <a:pt x="1873" y="342"/>
                        </a:lnTo>
                        <a:lnTo>
                          <a:pt x="1914" y="311"/>
                        </a:lnTo>
                        <a:lnTo>
                          <a:pt x="1955" y="281"/>
                        </a:lnTo>
                        <a:lnTo>
                          <a:pt x="1997" y="250"/>
                        </a:lnTo>
                        <a:lnTo>
                          <a:pt x="2040" y="220"/>
                        </a:lnTo>
                        <a:lnTo>
                          <a:pt x="1964" y="504"/>
                        </a:lnTo>
                        <a:lnTo>
                          <a:pt x="2390" y="3"/>
                        </a:ln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Calibri"/>
                    </a:endParaRPr>
                  </a:p>
                </p:txBody>
              </p:sp>
              <p:sp>
                <p:nvSpPr>
                  <p:cNvPr id="15" name="Freeform 11">
                    <a:extLst>
                      <a:ext uri="{FF2B5EF4-FFF2-40B4-BE49-F238E27FC236}">
                        <a16:creationId xmlns:a16="http://schemas.microsoft.com/office/drawing/2014/main" id="{9D19C1BD-75C6-EEBE-8FEE-70017DCA31EB}"/>
                      </a:ext>
                    </a:extLst>
                  </p:cNvPr>
                  <p:cNvSpPr>
                    <a:spLocks/>
                  </p:cNvSpPr>
                  <p:nvPr/>
                </p:nvSpPr>
                <p:spPr bwMode="auto">
                  <a:xfrm>
                    <a:off x="1509702" y="4050562"/>
                    <a:ext cx="2244951" cy="1592735"/>
                  </a:xfrm>
                  <a:custGeom>
                    <a:avLst/>
                    <a:gdLst>
                      <a:gd name="T0" fmla="*/ 14520 w 14832"/>
                      <a:gd name="T1" fmla="*/ 465 h 6014"/>
                      <a:gd name="T2" fmla="*/ 14517 w 14832"/>
                      <a:gd name="T3" fmla="*/ 908 h 6014"/>
                      <a:gd name="T4" fmla="*/ 14464 w 14832"/>
                      <a:gd name="T5" fmla="*/ 1346 h 6014"/>
                      <a:gd name="T6" fmla="*/ 14364 w 14832"/>
                      <a:gd name="T7" fmla="*/ 1778 h 6014"/>
                      <a:gd name="T8" fmla="*/ 14222 w 14832"/>
                      <a:gd name="T9" fmla="*/ 2199 h 6014"/>
                      <a:gd name="T10" fmla="*/ 14041 w 14832"/>
                      <a:gd name="T11" fmla="*/ 2609 h 6014"/>
                      <a:gd name="T12" fmla="*/ 13828 w 14832"/>
                      <a:gd name="T13" fmla="*/ 3001 h 6014"/>
                      <a:gd name="T14" fmla="*/ 13584 w 14832"/>
                      <a:gd name="T15" fmla="*/ 3375 h 6014"/>
                      <a:gd name="T16" fmla="*/ 13315 w 14832"/>
                      <a:gd name="T17" fmla="*/ 3728 h 6014"/>
                      <a:gd name="T18" fmla="*/ 13026 w 14832"/>
                      <a:gd name="T19" fmla="*/ 4055 h 6014"/>
                      <a:gd name="T20" fmla="*/ 12720 w 14832"/>
                      <a:gd name="T21" fmla="*/ 4354 h 6014"/>
                      <a:gd name="T22" fmla="*/ 12429 w 14832"/>
                      <a:gd name="T23" fmla="*/ 4602 h 6014"/>
                      <a:gd name="T24" fmla="*/ 12019 w 14832"/>
                      <a:gd name="T25" fmla="*/ 4898 h 6014"/>
                      <a:gd name="T26" fmla="*/ 11592 w 14832"/>
                      <a:gd name="T27" fmla="*/ 5154 h 6014"/>
                      <a:gd name="T28" fmla="*/ 11151 w 14832"/>
                      <a:gd name="T29" fmla="*/ 5369 h 6014"/>
                      <a:gd name="T30" fmla="*/ 10696 w 14832"/>
                      <a:gd name="T31" fmla="*/ 5547 h 6014"/>
                      <a:gd name="T32" fmla="*/ 10227 w 14832"/>
                      <a:gd name="T33" fmla="*/ 5690 h 6014"/>
                      <a:gd name="T34" fmla="*/ 9747 w 14832"/>
                      <a:gd name="T35" fmla="*/ 5800 h 6014"/>
                      <a:gd name="T36" fmla="*/ 9257 w 14832"/>
                      <a:gd name="T37" fmla="*/ 5878 h 6014"/>
                      <a:gd name="T38" fmla="*/ 8756 w 14832"/>
                      <a:gd name="T39" fmla="*/ 5928 h 6014"/>
                      <a:gd name="T40" fmla="*/ 8248 w 14832"/>
                      <a:gd name="T41" fmla="*/ 5951 h 6014"/>
                      <a:gd name="T42" fmla="*/ 7732 w 14832"/>
                      <a:gd name="T43" fmla="*/ 5950 h 6014"/>
                      <a:gd name="T44" fmla="*/ 6860 w 14832"/>
                      <a:gd name="T45" fmla="*/ 5898 h 6014"/>
                      <a:gd name="T46" fmla="*/ 5798 w 14832"/>
                      <a:gd name="T47" fmla="*/ 5771 h 6014"/>
                      <a:gd name="T48" fmla="*/ 4729 w 14832"/>
                      <a:gd name="T49" fmla="*/ 5584 h 6014"/>
                      <a:gd name="T50" fmla="*/ 3662 w 14832"/>
                      <a:gd name="T51" fmla="*/ 5358 h 6014"/>
                      <a:gd name="T52" fmla="*/ 1911 w 14832"/>
                      <a:gd name="T53" fmla="*/ 4941 h 6014"/>
                      <a:gd name="T54" fmla="*/ 464 w 14832"/>
                      <a:gd name="T55" fmla="*/ 4594 h 6014"/>
                      <a:gd name="T56" fmla="*/ 461 w 14832"/>
                      <a:gd name="T57" fmla="*/ 4654 h 6014"/>
                      <a:gd name="T58" fmla="*/ 1896 w 14832"/>
                      <a:gd name="T59" fmla="*/ 4999 h 6014"/>
                      <a:gd name="T60" fmla="*/ 3608 w 14832"/>
                      <a:gd name="T61" fmla="*/ 5408 h 6014"/>
                      <a:gd name="T62" fmla="*/ 4767 w 14832"/>
                      <a:gd name="T63" fmla="*/ 5653 h 6014"/>
                      <a:gd name="T64" fmla="*/ 5929 w 14832"/>
                      <a:gd name="T65" fmla="*/ 5850 h 6014"/>
                      <a:gd name="T66" fmla="*/ 6985 w 14832"/>
                      <a:gd name="T67" fmla="*/ 5970 h 6014"/>
                      <a:gd name="T68" fmla="*/ 7554 w 14832"/>
                      <a:gd name="T69" fmla="*/ 6004 h 6014"/>
                      <a:gd name="T70" fmla="*/ 8024 w 14832"/>
                      <a:gd name="T71" fmla="*/ 6014 h 6014"/>
                      <a:gd name="T72" fmla="*/ 8730 w 14832"/>
                      <a:gd name="T73" fmla="*/ 5990 h 6014"/>
                      <a:gd name="T74" fmla="*/ 9193 w 14832"/>
                      <a:gd name="T75" fmla="*/ 5947 h 6014"/>
                      <a:gd name="T76" fmla="*/ 9647 w 14832"/>
                      <a:gd name="T77" fmla="*/ 5879 h 6014"/>
                      <a:gd name="T78" fmla="*/ 10094 w 14832"/>
                      <a:gd name="T79" fmla="*/ 5787 h 6014"/>
                      <a:gd name="T80" fmla="*/ 10530 w 14832"/>
                      <a:gd name="T81" fmla="*/ 5666 h 6014"/>
                      <a:gd name="T82" fmla="*/ 10957 w 14832"/>
                      <a:gd name="T83" fmla="*/ 5515 h 6014"/>
                      <a:gd name="T84" fmla="*/ 11371 w 14832"/>
                      <a:gd name="T85" fmla="*/ 5335 h 6014"/>
                      <a:gd name="T86" fmla="*/ 11774 w 14832"/>
                      <a:gd name="T87" fmla="*/ 5121 h 6014"/>
                      <a:gd name="T88" fmla="*/ 12163 w 14832"/>
                      <a:gd name="T89" fmla="*/ 4873 h 6014"/>
                      <a:gd name="T90" fmla="*/ 12540 w 14832"/>
                      <a:gd name="T91" fmla="*/ 4590 h 6014"/>
                      <a:gd name="T92" fmla="*/ 12847 w 14832"/>
                      <a:gd name="T93" fmla="*/ 4319 h 6014"/>
                      <a:gd name="T94" fmla="*/ 13189 w 14832"/>
                      <a:gd name="T95" fmla="*/ 3973 h 6014"/>
                      <a:gd name="T96" fmla="*/ 13496 w 14832"/>
                      <a:gd name="T97" fmla="*/ 3609 h 6014"/>
                      <a:gd name="T98" fmla="*/ 13766 w 14832"/>
                      <a:gd name="T99" fmla="*/ 3229 h 6014"/>
                      <a:gd name="T100" fmla="*/ 13999 w 14832"/>
                      <a:gd name="T101" fmla="*/ 2837 h 6014"/>
                      <a:gd name="T102" fmla="*/ 14193 w 14832"/>
                      <a:gd name="T103" fmla="*/ 2436 h 6014"/>
                      <a:gd name="T104" fmla="*/ 14350 w 14832"/>
                      <a:gd name="T105" fmla="*/ 2027 h 6014"/>
                      <a:gd name="T106" fmla="*/ 14466 w 14832"/>
                      <a:gd name="T107" fmla="*/ 1615 h 6014"/>
                      <a:gd name="T108" fmla="*/ 14542 w 14832"/>
                      <a:gd name="T109" fmla="*/ 1203 h 6014"/>
                      <a:gd name="T110" fmla="*/ 14576 w 14832"/>
                      <a:gd name="T111" fmla="*/ 792 h 6014"/>
                      <a:gd name="T112" fmla="*/ 14568 w 14832"/>
                      <a:gd name="T113" fmla="*/ 386 h 60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4832" h="6014">
                        <a:moveTo>
                          <a:pt x="14832" y="581"/>
                        </a:moveTo>
                        <a:lnTo>
                          <a:pt x="14522" y="0"/>
                        </a:lnTo>
                        <a:lnTo>
                          <a:pt x="14277" y="611"/>
                        </a:lnTo>
                        <a:lnTo>
                          <a:pt x="14515" y="392"/>
                        </a:lnTo>
                        <a:lnTo>
                          <a:pt x="14515" y="392"/>
                        </a:lnTo>
                        <a:lnTo>
                          <a:pt x="14520" y="465"/>
                        </a:lnTo>
                        <a:lnTo>
                          <a:pt x="14523" y="540"/>
                        </a:lnTo>
                        <a:lnTo>
                          <a:pt x="14525" y="613"/>
                        </a:lnTo>
                        <a:lnTo>
                          <a:pt x="14525" y="687"/>
                        </a:lnTo>
                        <a:lnTo>
                          <a:pt x="14524" y="761"/>
                        </a:lnTo>
                        <a:lnTo>
                          <a:pt x="14521" y="834"/>
                        </a:lnTo>
                        <a:lnTo>
                          <a:pt x="14517" y="908"/>
                        </a:lnTo>
                        <a:lnTo>
                          <a:pt x="14512" y="981"/>
                        </a:lnTo>
                        <a:lnTo>
                          <a:pt x="14505" y="1055"/>
                        </a:lnTo>
                        <a:lnTo>
                          <a:pt x="14497" y="1127"/>
                        </a:lnTo>
                        <a:lnTo>
                          <a:pt x="14487" y="1201"/>
                        </a:lnTo>
                        <a:lnTo>
                          <a:pt x="14477" y="1273"/>
                        </a:lnTo>
                        <a:lnTo>
                          <a:pt x="14464" y="1346"/>
                        </a:lnTo>
                        <a:lnTo>
                          <a:pt x="14450" y="1419"/>
                        </a:lnTo>
                        <a:lnTo>
                          <a:pt x="14435" y="1491"/>
                        </a:lnTo>
                        <a:lnTo>
                          <a:pt x="14419" y="1563"/>
                        </a:lnTo>
                        <a:lnTo>
                          <a:pt x="14402" y="1635"/>
                        </a:lnTo>
                        <a:lnTo>
                          <a:pt x="14384" y="1707"/>
                        </a:lnTo>
                        <a:lnTo>
                          <a:pt x="14364" y="1778"/>
                        </a:lnTo>
                        <a:lnTo>
                          <a:pt x="14343" y="1848"/>
                        </a:lnTo>
                        <a:lnTo>
                          <a:pt x="14321" y="1920"/>
                        </a:lnTo>
                        <a:lnTo>
                          <a:pt x="14298" y="1990"/>
                        </a:lnTo>
                        <a:lnTo>
                          <a:pt x="14273" y="2061"/>
                        </a:lnTo>
                        <a:lnTo>
                          <a:pt x="14248" y="2130"/>
                        </a:lnTo>
                        <a:lnTo>
                          <a:pt x="14222" y="2199"/>
                        </a:lnTo>
                        <a:lnTo>
                          <a:pt x="14194" y="2269"/>
                        </a:lnTo>
                        <a:lnTo>
                          <a:pt x="14166" y="2337"/>
                        </a:lnTo>
                        <a:lnTo>
                          <a:pt x="14136" y="2406"/>
                        </a:lnTo>
                        <a:lnTo>
                          <a:pt x="14105" y="2474"/>
                        </a:lnTo>
                        <a:lnTo>
                          <a:pt x="14074" y="2541"/>
                        </a:lnTo>
                        <a:lnTo>
                          <a:pt x="14041" y="2609"/>
                        </a:lnTo>
                        <a:lnTo>
                          <a:pt x="14008" y="2675"/>
                        </a:lnTo>
                        <a:lnTo>
                          <a:pt x="13974" y="2742"/>
                        </a:lnTo>
                        <a:lnTo>
                          <a:pt x="13939" y="2807"/>
                        </a:lnTo>
                        <a:lnTo>
                          <a:pt x="13902" y="2872"/>
                        </a:lnTo>
                        <a:lnTo>
                          <a:pt x="13865" y="2937"/>
                        </a:lnTo>
                        <a:lnTo>
                          <a:pt x="13828" y="3001"/>
                        </a:lnTo>
                        <a:lnTo>
                          <a:pt x="13789" y="3066"/>
                        </a:lnTo>
                        <a:lnTo>
                          <a:pt x="13749" y="3129"/>
                        </a:lnTo>
                        <a:lnTo>
                          <a:pt x="13709" y="3191"/>
                        </a:lnTo>
                        <a:lnTo>
                          <a:pt x="13668" y="3254"/>
                        </a:lnTo>
                        <a:lnTo>
                          <a:pt x="13627" y="3315"/>
                        </a:lnTo>
                        <a:lnTo>
                          <a:pt x="13584" y="3375"/>
                        </a:lnTo>
                        <a:lnTo>
                          <a:pt x="13541" y="3436"/>
                        </a:lnTo>
                        <a:lnTo>
                          <a:pt x="13497" y="3496"/>
                        </a:lnTo>
                        <a:lnTo>
                          <a:pt x="13453" y="3554"/>
                        </a:lnTo>
                        <a:lnTo>
                          <a:pt x="13408" y="3613"/>
                        </a:lnTo>
                        <a:lnTo>
                          <a:pt x="13361" y="3671"/>
                        </a:lnTo>
                        <a:lnTo>
                          <a:pt x="13315" y="3728"/>
                        </a:lnTo>
                        <a:lnTo>
                          <a:pt x="13269" y="3785"/>
                        </a:lnTo>
                        <a:lnTo>
                          <a:pt x="13221" y="3840"/>
                        </a:lnTo>
                        <a:lnTo>
                          <a:pt x="13173" y="3894"/>
                        </a:lnTo>
                        <a:lnTo>
                          <a:pt x="13125" y="3949"/>
                        </a:lnTo>
                        <a:lnTo>
                          <a:pt x="13076" y="4002"/>
                        </a:lnTo>
                        <a:lnTo>
                          <a:pt x="13026" y="4055"/>
                        </a:lnTo>
                        <a:lnTo>
                          <a:pt x="12976" y="4107"/>
                        </a:lnTo>
                        <a:lnTo>
                          <a:pt x="12926" y="4158"/>
                        </a:lnTo>
                        <a:lnTo>
                          <a:pt x="12874" y="4208"/>
                        </a:lnTo>
                        <a:lnTo>
                          <a:pt x="12823" y="4258"/>
                        </a:lnTo>
                        <a:lnTo>
                          <a:pt x="12772" y="4307"/>
                        </a:lnTo>
                        <a:lnTo>
                          <a:pt x="12720" y="4354"/>
                        </a:lnTo>
                        <a:lnTo>
                          <a:pt x="12667" y="4401"/>
                        </a:lnTo>
                        <a:lnTo>
                          <a:pt x="12615" y="4448"/>
                        </a:lnTo>
                        <a:lnTo>
                          <a:pt x="12562" y="4493"/>
                        </a:lnTo>
                        <a:lnTo>
                          <a:pt x="12562" y="4493"/>
                        </a:lnTo>
                        <a:lnTo>
                          <a:pt x="12495" y="4547"/>
                        </a:lnTo>
                        <a:lnTo>
                          <a:pt x="12429" y="4602"/>
                        </a:lnTo>
                        <a:lnTo>
                          <a:pt x="12362" y="4654"/>
                        </a:lnTo>
                        <a:lnTo>
                          <a:pt x="12294" y="4705"/>
                        </a:lnTo>
                        <a:lnTo>
                          <a:pt x="12226" y="4756"/>
                        </a:lnTo>
                        <a:lnTo>
                          <a:pt x="12157" y="4804"/>
                        </a:lnTo>
                        <a:lnTo>
                          <a:pt x="12088" y="4852"/>
                        </a:lnTo>
                        <a:lnTo>
                          <a:pt x="12019" y="4898"/>
                        </a:lnTo>
                        <a:lnTo>
                          <a:pt x="11949" y="4944"/>
                        </a:lnTo>
                        <a:lnTo>
                          <a:pt x="11879" y="4988"/>
                        </a:lnTo>
                        <a:lnTo>
                          <a:pt x="11807" y="5031"/>
                        </a:lnTo>
                        <a:lnTo>
                          <a:pt x="11736" y="5073"/>
                        </a:lnTo>
                        <a:lnTo>
                          <a:pt x="11665" y="5114"/>
                        </a:lnTo>
                        <a:lnTo>
                          <a:pt x="11592" y="5154"/>
                        </a:lnTo>
                        <a:lnTo>
                          <a:pt x="11520" y="5192"/>
                        </a:lnTo>
                        <a:lnTo>
                          <a:pt x="11447" y="5229"/>
                        </a:lnTo>
                        <a:lnTo>
                          <a:pt x="11374" y="5267"/>
                        </a:lnTo>
                        <a:lnTo>
                          <a:pt x="11300" y="5302"/>
                        </a:lnTo>
                        <a:lnTo>
                          <a:pt x="11226" y="5336"/>
                        </a:lnTo>
                        <a:lnTo>
                          <a:pt x="11151" y="5369"/>
                        </a:lnTo>
                        <a:lnTo>
                          <a:pt x="11076" y="5401"/>
                        </a:lnTo>
                        <a:lnTo>
                          <a:pt x="11001" y="5433"/>
                        </a:lnTo>
                        <a:lnTo>
                          <a:pt x="10925" y="5463"/>
                        </a:lnTo>
                        <a:lnTo>
                          <a:pt x="10849" y="5492"/>
                        </a:lnTo>
                        <a:lnTo>
                          <a:pt x="10773" y="5520"/>
                        </a:lnTo>
                        <a:lnTo>
                          <a:pt x="10696" y="5547"/>
                        </a:lnTo>
                        <a:lnTo>
                          <a:pt x="10619" y="5573"/>
                        </a:lnTo>
                        <a:lnTo>
                          <a:pt x="10541" y="5599"/>
                        </a:lnTo>
                        <a:lnTo>
                          <a:pt x="10463" y="5623"/>
                        </a:lnTo>
                        <a:lnTo>
                          <a:pt x="10384" y="5646"/>
                        </a:lnTo>
                        <a:lnTo>
                          <a:pt x="10306" y="5668"/>
                        </a:lnTo>
                        <a:lnTo>
                          <a:pt x="10227" y="5690"/>
                        </a:lnTo>
                        <a:lnTo>
                          <a:pt x="10148" y="5710"/>
                        </a:lnTo>
                        <a:lnTo>
                          <a:pt x="10068" y="5730"/>
                        </a:lnTo>
                        <a:lnTo>
                          <a:pt x="9989" y="5748"/>
                        </a:lnTo>
                        <a:lnTo>
                          <a:pt x="9909" y="5767"/>
                        </a:lnTo>
                        <a:lnTo>
                          <a:pt x="9828" y="5784"/>
                        </a:lnTo>
                        <a:lnTo>
                          <a:pt x="9747" y="5800"/>
                        </a:lnTo>
                        <a:lnTo>
                          <a:pt x="9666" y="5815"/>
                        </a:lnTo>
                        <a:lnTo>
                          <a:pt x="9585" y="5829"/>
                        </a:lnTo>
                        <a:lnTo>
                          <a:pt x="9503" y="5842"/>
                        </a:lnTo>
                        <a:lnTo>
                          <a:pt x="9421" y="5855"/>
                        </a:lnTo>
                        <a:lnTo>
                          <a:pt x="9339" y="5867"/>
                        </a:lnTo>
                        <a:lnTo>
                          <a:pt x="9257" y="5878"/>
                        </a:lnTo>
                        <a:lnTo>
                          <a:pt x="9173" y="5888"/>
                        </a:lnTo>
                        <a:lnTo>
                          <a:pt x="9091" y="5897"/>
                        </a:lnTo>
                        <a:lnTo>
                          <a:pt x="9007" y="5906"/>
                        </a:lnTo>
                        <a:lnTo>
                          <a:pt x="8924" y="5914"/>
                        </a:lnTo>
                        <a:lnTo>
                          <a:pt x="8841" y="5921"/>
                        </a:lnTo>
                        <a:lnTo>
                          <a:pt x="8756" y="5928"/>
                        </a:lnTo>
                        <a:lnTo>
                          <a:pt x="8673" y="5934"/>
                        </a:lnTo>
                        <a:lnTo>
                          <a:pt x="8588" y="5939"/>
                        </a:lnTo>
                        <a:lnTo>
                          <a:pt x="8503" y="5943"/>
                        </a:lnTo>
                        <a:lnTo>
                          <a:pt x="8418" y="5946"/>
                        </a:lnTo>
                        <a:lnTo>
                          <a:pt x="8333" y="5949"/>
                        </a:lnTo>
                        <a:lnTo>
                          <a:pt x="8248" y="5951"/>
                        </a:lnTo>
                        <a:lnTo>
                          <a:pt x="8163" y="5953"/>
                        </a:lnTo>
                        <a:lnTo>
                          <a:pt x="8076" y="5953"/>
                        </a:lnTo>
                        <a:lnTo>
                          <a:pt x="7991" y="5953"/>
                        </a:lnTo>
                        <a:lnTo>
                          <a:pt x="7905" y="5953"/>
                        </a:lnTo>
                        <a:lnTo>
                          <a:pt x="7819" y="5952"/>
                        </a:lnTo>
                        <a:lnTo>
                          <a:pt x="7732" y="5950"/>
                        </a:lnTo>
                        <a:lnTo>
                          <a:pt x="7646" y="5947"/>
                        </a:lnTo>
                        <a:lnTo>
                          <a:pt x="7559" y="5944"/>
                        </a:lnTo>
                        <a:lnTo>
                          <a:pt x="7385" y="5936"/>
                        </a:lnTo>
                        <a:lnTo>
                          <a:pt x="7210" y="5926"/>
                        </a:lnTo>
                        <a:lnTo>
                          <a:pt x="7035" y="5913"/>
                        </a:lnTo>
                        <a:lnTo>
                          <a:pt x="6860" y="5898"/>
                        </a:lnTo>
                        <a:lnTo>
                          <a:pt x="6684" y="5882"/>
                        </a:lnTo>
                        <a:lnTo>
                          <a:pt x="6507" y="5863"/>
                        </a:lnTo>
                        <a:lnTo>
                          <a:pt x="6330" y="5843"/>
                        </a:lnTo>
                        <a:lnTo>
                          <a:pt x="6153" y="5820"/>
                        </a:lnTo>
                        <a:lnTo>
                          <a:pt x="5976" y="5796"/>
                        </a:lnTo>
                        <a:lnTo>
                          <a:pt x="5798" y="5771"/>
                        </a:lnTo>
                        <a:lnTo>
                          <a:pt x="5620" y="5742"/>
                        </a:lnTo>
                        <a:lnTo>
                          <a:pt x="5442" y="5713"/>
                        </a:lnTo>
                        <a:lnTo>
                          <a:pt x="5264" y="5683"/>
                        </a:lnTo>
                        <a:lnTo>
                          <a:pt x="5086" y="5652"/>
                        </a:lnTo>
                        <a:lnTo>
                          <a:pt x="4907" y="5619"/>
                        </a:lnTo>
                        <a:lnTo>
                          <a:pt x="4729" y="5584"/>
                        </a:lnTo>
                        <a:lnTo>
                          <a:pt x="4551" y="5549"/>
                        </a:lnTo>
                        <a:lnTo>
                          <a:pt x="4373" y="5513"/>
                        </a:lnTo>
                        <a:lnTo>
                          <a:pt x="4195" y="5476"/>
                        </a:lnTo>
                        <a:lnTo>
                          <a:pt x="4017" y="5438"/>
                        </a:lnTo>
                        <a:lnTo>
                          <a:pt x="3839" y="5398"/>
                        </a:lnTo>
                        <a:lnTo>
                          <a:pt x="3662" y="5358"/>
                        </a:lnTo>
                        <a:lnTo>
                          <a:pt x="3484" y="5318"/>
                        </a:lnTo>
                        <a:lnTo>
                          <a:pt x="3308" y="5278"/>
                        </a:lnTo>
                        <a:lnTo>
                          <a:pt x="2955" y="5194"/>
                        </a:lnTo>
                        <a:lnTo>
                          <a:pt x="2605" y="5110"/>
                        </a:lnTo>
                        <a:lnTo>
                          <a:pt x="2256" y="5025"/>
                        </a:lnTo>
                        <a:lnTo>
                          <a:pt x="1911" y="4941"/>
                        </a:lnTo>
                        <a:lnTo>
                          <a:pt x="1911" y="4941"/>
                        </a:lnTo>
                        <a:lnTo>
                          <a:pt x="1419" y="4820"/>
                        </a:lnTo>
                        <a:lnTo>
                          <a:pt x="1178" y="4762"/>
                        </a:lnTo>
                        <a:lnTo>
                          <a:pt x="937" y="4704"/>
                        </a:lnTo>
                        <a:lnTo>
                          <a:pt x="700" y="4648"/>
                        </a:lnTo>
                        <a:lnTo>
                          <a:pt x="464" y="4594"/>
                        </a:lnTo>
                        <a:lnTo>
                          <a:pt x="231" y="4540"/>
                        </a:lnTo>
                        <a:lnTo>
                          <a:pt x="0" y="4490"/>
                        </a:lnTo>
                        <a:lnTo>
                          <a:pt x="0" y="4551"/>
                        </a:lnTo>
                        <a:lnTo>
                          <a:pt x="0" y="4551"/>
                        </a:lnTo>
                        <a:lnTo>
                          <a:pt x="229" y="4602"/>
                        </a:lnTo>
                        <a:lnTo>
                          <a:pt x="461" y="4654"/>
                        </a:lnTo>
                        <a:lnTo>
                          <a:pt x="694" y="4708"/>
                        </a:lnTo>
                        <a:lnTo>
                          <a:pt x="930" y="4765"/>
                        </a:lnTo>
                        <a:lnTo>
                          <a:pt x="1169" y="4822"/>
                        </a:lnTo>
                        <a:lnTo>
                          <a:pt x="1409" y="4879"/>
                        </a:lnTo>
                        <a:lnTo>
                          <a:pt x="1896" y="4999"/>
                        </a:lnTo>
                        <a:lnTo>
                          <a:pt x="1896" y="4999"/>
                        </a:lnTo>
                        <a:lnTo>
                          <a:pt x="2272" y="5091"/>
                        </a:lnTo>
                        <a:lnTo>
                          <a:pt x="2651" y="5183"/>
                        </a:lnTo>
                        <a:lnTo>
                          <a:pt x="3032" y="5275"/>
                        </a:lnTo>
                        <a:lnTo>
                          <a:pt x="3224" y="5320"/>
                        </a:lnTo>
                        <a:lnTo>
                          <a:pt x="3416" y="5364"/>
                        </a:lnTo>
                        <a:lnTo>
                          <a:pt x="3608" y="5408"/>
                        </a:lnTo>
                        <a:lnTo>
                          <a:pt x="3801" y="5452"/>
                        </a:lnTo>
                        <a:lnTo>
                          <a:pt x="3993" y="5494"/>
                        </a:lnTo>
                        <a:lnTo>
                          <a:pt x="4187" y="5535"/>
                        </a:lnTo>
                        <a:lnTo>
                          <a:pt x="4380" y="5575"/>
                        </a:lnTo>
                        <a:lnTo>
                          <a:pt x="4573" y="5615"/>
                        </a:lnTo>
                        <a:lnTo>
                          <a:pt x="4767" y="5653"/>
                        </a:lnTo>
                        <a:lnTo>
                          <a:pt x="4961" y="5690"/>
                        </a:lnTo>
                        <a:lnTo>
                          <a:pt x="5155" y="5725"/>
                        </a:lnTo>
                        <a:lnTo>
                          <a:pt x="5349" y="5760"/>
                        </a:lnTo>
                        <a:lnTo>
                          <a:pt x="5542" y="5792"/>
                        </a:lnTo>
                        <a:lnTo>
                          <a:pt x="5736" y="5822"/>
                        </a:lnTo>
                        <a:lnTo>
                          <a:pt x="5929" y="5850"/>
                        </a:lnTo>
                        <a:lnTo>
                          <a:pt x="6122" y="5877"/>
                        </a:lnTo>
                        <a:lnTo>
                          <a:pt x="6314" y="5901"/>
                        </a:lnTo>
                        <a:lnTo>
                          <a:pt x="6506" y="5925"/>
                        </a:lnTo>
                        <a:lnTo>
                          <a:pt x="6698" y="5945"/>
                        </a:lnTo>
                        <a:lnTo>
                          <a:pt x="6889" y="5962"/>
                        </a:lnTo>
                        <a:lnTo>
                          <a:pt x="6985" y="5970"/>
                        </a:lnTo>
                        <a:lnTo>
                          <a:pt x="7080" y="5978"/>
                        </a:lnTo>
                        <a:lnTo>
                          <a:pt x="7175" y="5984"/>
                        </a:lnTo>
                        <a:lnTo>
                          <a:pt x="7271" y="5990"/>
                        </a:lnTo>
                        <a:lnTo>
                          <a:pt x="7365" y="5996"/>
                        </a:lnTo>
                        <a:lnTo>
                          <a:pt x="7460" y="6000"/>
                        </a:lnTo>
                        <a:lnTo>
                          <a:pt x="7554" y="6004"/>
                        </a:lnTo>
                        <a:lnTo>
                          <a:pt x="7649" y="6008"/>
                        </a:lnTo>
                        <a:lnTo>
                          <a:pt x="7742" y="6010"/>
                        </a:lnTo>
                        <a:lnTo>
                          <a:pt x="7837" y="6012"/>
                        </a:lnTo>
                        <a:lnTo>
                          <a:pt x="7930" y="6013"/>
                        </a:lnTo>
                        <a:lnTo>
                          <a:pt x="8024" y="6014"/>
                        </a:lnTo>
                        <a:lnTo>
                          <a:pt x="8024" y="6014"/>
                        </a:lnTo>
                        <a:lnTo>
                          <a:pt x="8182" y="6013"/>
                        </a:lnTo>
                        <a:lnTo>
                          <a:pt x="8340" y="6009"/>
                        </a:lnTo>
                        <a:lnTo>
                          <a:pt x="8497" y="6003"/>
                        </a:lnTo>
                        <a:lnTo>
                          <a:pt x="8574" y="6000"/>
                        </a:lnTo>
                        <a:lnTo>
                          <a:pt x="8652" y="5995"/>
                        </a:lnTo>
                        <a:lnTo>
                          <a:pt x="8730" y="5990"/>
                        </a:lnTo>
                        <a:lnTo>
                          <a:pt x="8807" y="5985"/>
                        </a:lnTo>
                        <a:lnTo>
                          <a:pt x="8885" y="5979"/>
                        </a:lnTo>
                        <a:lnTo>
                          <a:pt x="8962" y="5972"/>
                        </a:lnTo>
                        <a:lnTo>
                          <a:pt x="9040" y="5964"/>
                        </a:lnTo>
                        <a:lnTo>
                          <a:pt x="9116" y="5956"/>
                        </a:lnTo>
                        <a:lnTo>
                          <a:pt x="9193" y="5947"/>
                        </a:lnTo>
                        <a:lnTo>
                          <a:pt x="9269" y="5938"/>
                        </a:lnTo>
                        <a:lnTo>
                          <a:pt x="9345" y="5928"/>
                        </a:lnTo>
                        <a:lnTo>
                          <a:pt x="9421" y="5916"/>
                        </a:lnTo>
                        <a:lnTo>
                          <a:pt x="9496" y="5904"/>
                        </a:lnTo>
                        <a:lnTo>
                          <a:pt x="9572" y="5892"/>
                        </a:lnTo>
                        <a:lnTo>
                          <a:pt x="9647" y="5879"/>
                        </a:lnTo>
                        <a:lnTo>
                          <a:pt x="9723" y="5866"/>
                        </a:lnTo>
                        <a:lnTo>
                          <a:pt x="9797" y="5851"/>
                        </a:lnTo>
                        <a:lnTo>
                          <a:pt x="9871" y="5836"/>
                        </a:lnTo>
                        <a:lnTo>
                          <a:pt x="9946" y="5820"/>
                        </a:lnTo>
                        <a:lnTo>
                          <a:pt x="10019" y="5804"/>
                        </a:lnTo>
                        <a:lnTo>
                          <a:pt x="10094" y="5787"/>
                        </a:lnTo>
                        <a:lnTo>
                          <a:pt x="10167" y="5769"/>
                        </a:lnTo>
                        <a:lnTo>
                          <a:pt x="10239" y="5749"/>
                        </a:lnTo>
                        <a:lnTo>
                          <a:pt x="10313" y="5729"/>
                        </a:lnTo>
                        <a:lnTo>
                          <a:pt x="10385" y="5709"/>
                        </a:lnTo>
                        <a:lnTo>
                          <a:pt x="10458" y="5688"/>
                        </a:lnTo>
                        <a:lnTo>
                          <a:pt x="10530" y="5666"/>
                        </a:lnTo>
                        <a:lnTo>
                          <a:pt x="10602" y="5643"/>
                        </a:lnTo>
                        <a:lnTo>
                          <a:pt x="10673" y="5619"/>
                        </a:lnTo>
                        <a:lnTo>
                          <a:pt x="10744" y="5595"/>
                        </a:lnTo>
                        <a:lnTo>
                          <a:pt x="10816" y="5568"/>
                        </a:lnTo>
                        <a:lnTo>
                          <a:pt x="10886" y="5542"/>
                        </a:lnTo>
                        <a:lnTo>
                          <a:pt x="10957" y="5515"/>
                        </a:lnTo>
                        <a:lnTo>
                          <a:pt x="11026" y="5488"/>
                        </a:lnTo>
                        <a:lnTo>
                          <a:pt x="11095" y="5459"/>
                        </a:lnTo>
                        <a:lnTo>
                          <a:pt x="11165" y="5429"/>
                        </a:lnTo>
                        <a:lnTo>
                          <a:pt x="11234" y="5398"/>
                        </a:lnTo>
                        <a:lnTo>
                          <a:pt x="11303" y="5367"/>
                        </a:lnTo>
                        <a:lnTo>
                          <a:pt x="11371" y="5335"/>
                        </a:lnTo>
                        <a:lnTo>
                          <a:pt x="11439" y="5302"/>
                        </a:lnTo>
                        <a:lnTo>
                          <a:pt x="11507" y="5268"/>
                        </a:lnTo>
                        <a:lnTo>
                          <a:pt x="11574" y="5232"/>
                        </a:lnTo>
                        <a:lnTo>
                          <a:pt x="11641" y="5196"/>
                        </a:lnTo>
                        <a:lnTo>
                          <a:pt x="11708" y="5159"/>
                        </a:lnTo>
                        <a:lnTo>
                          <a:pt x="11774" y="5121"/>
                        </a:lnTo>
                        <a:lnTo>
                          <a:pt x="11840" y="5083"/>
                        </a:lnTo>
                        <a:lnTo>
                          <a:pt x="11905" y="5042"/>
                        </a:lnTo>
                        <a:lnTo>
                          <a:pt x="11970" y="5002"/>
                        </a:lnTo>
                        <a:lnTo>
                          <a:pt x="12035" y="4960"/>
                        </a:lnTo>
                        <a:lnTo>
                          <a:pt x="12099" y="4918"/>
                        </a:lnTo>
                        <a:lnTo>
                          <a:pt x="12163" y="4873"/>
                        </a:lnTo>
                        <a:lnTo>
                          <a:pt x="12227" y="4829"/>
                        </a:lnTo>
                        <a:lnTo>
                          <a:pt x="12290" y="4783"/>
                        </a:lnTo>
                        <a:lnTo>
                          <a:pt x="12354" y="4736"/>
                        </a:lnTo>
                        <a:lnTo>
                          <a:pt x="12416" y="4688"/>
                        </a:lnTo>
                        <a:lnTo>
                          <a:pt x="12478" y="4640"/>
                        </a:lnTo>
                        <a:lnTo>
                          <a:pt x="12540" y="4590"/>
                        </a:lnTo>
                        <a:lnTo>
                          <a:pt x="12601" y="4539"/>
                        </a:lnTo>
                        <a:lnTo>
                          <a:pt x="12601" y="4539"/>
                        </a:lnTo>
                        <a:lnTo>
                          <a:pt x="12664" y="4485"/>
                        </a:lnTo>
                        <a:lnTo>
                          <a:pt x="12726" y="4431"/>
                        </a:lnTo>
                        <a:lnTo>
                          <a:pt x="12787" y="4375"/>
                        </a:lnTo>
                        <a:lnTo>
                          <a:pt x="12847" y="4319"/>
                        </a:lnTo>
                        <a:lnTo>
                          <a:pt x="12907" y="4263"/>
                        </a:lnTo>
                        <a:lnTo>
                          <a:pt x="12965" y="4206"/>
                        </a:lnTo>
                        <a:lnTo>
                          <a:pt x="13023" y="4149"/>
                        </a:lnTo>
                        <a:lnTo>
                          <a:pt x="13080" y="4091"/>
                        </a:lnTo>
                        <a:lnTo>
                          <a:pt x="13135" y="4032"/>
                        </a:lnTo>
                        <a:lnTo>
                          <a:pt x="13189" y="3973"/>
                        </a:lnTo>
                        <a:lnTo>
                          <a:pt x="13243" y="3914"/>
                        </a:lnTo>
                        <a:lnTo>
                          <a:pt x="13295" y="3853"/>
                        </a:lnTo>
                        <a:lnTo>
                          <a:pt x="13347" y="3793"/>
                        </a:lnTo>
                        <a:lnTo>
                          <a:pt x="13397" y="3732"/>
                        </a:lnTo>
                        <a:lnTo>
                          <a:pt x="13447" y="3670"/>
                        </a:lnTo>
                        <a:lnTo>
                          <a:pt x="13496" y="3609"/>
                        </a:lnTo>
                        <a:lnTo>
                          <a:pt x="13543" y="3546"/>
                        </a:lnTo>
                        <a:lnTo>
                          <a:pt x="13590" y="3484"/>
                        </a:lnTo>
                        <a:lnTo>
                          <a:pt x="13635" y="3421"/>
                        </a:lnTo>
                        <a:lnTo>
                          <a:pt x="13680" y="3357"/>
                        </a:lnTo>
                        <a:lnTo>
                          <a:pt x="13723" y="3293"/>
                        </a:lnTo>
                        <a:lnTo>
                          <a:pt x="13766" y="3229"/>
                        </a:lnTo>
                        <a:lnTo>
                          <a:pt x="13807" y="3164"/>
                        </a:lnTo>
                        <a:lnTo>
                          <a:pt x="13847" y="3100"/>
                        </a:lnTo>
                        <a:lnTo>
                          <a:pt x="13886" y="3034"/>
                        </a:lnTo>
                        <a:lnTo>
                          <a:pt x="13925" y="2969"/>
                        </a:lnTo>
                        <a:lnTo>
                          <a:pt x="13963" y="2903"/>
                        </a:lnTo>
                        <a:lnTo>
                          <a:pt x="13999" y="2837"/>
                        </a:lnTo>
                        <a:lnTo>
                          <a:pt x="14034" y="2771"/>
                        </a:lnTo>
                        <a:lnTo>
                          <a:pt x="14067" y="2704"/>
                        </a:lnTo>
                        <a:lnTo>
                          <a:pt x="14100" y="2637"/>
                        </a:lnTo>
                        <a:lnTo>
                          <a:pt x="14133" y="2571"/>
                        </a:lnTo>
                        <a:lnTo>
                          <a:pt x="14164" y="2503"/>
                        </a:lnTo>
                        <a:lnTo>
                          <a:pt x="14193" y="2436"/>
                        </a:lnTo>
                        <a:lnTo>
                          <a:pt x="14222" y="2367"/>
                        </a:lnTo>
                        <a:lnTo>
                          <a:pt x="14250" y="2300"/>
                        </a:lnTo>
                        <a:lnTo>
                          <a:pt x="14276" y="2232"/>
                        </a:lnTo>
                        <a:lnTo>
                          <a:pt x="14302" y="2164"/>
                        </a:lnTo>
                        <a:lnTo>
                          <a:pt x="14326" y="2096"/>
                        </a:lnTo>
                        <a:lnTo>
                          <a:pt x="14350" y="2027"/>
                        </a:lnTo>
                        <a:lnTo>
                          <a:pt x="14372" y="1959"/>
                        </a:lnTo>
                        <a:lnTo>
                          <a:pt x="14393" y="1891"/>
                        </a:lnTo>
                        <a:lnTo>
                          <a:pt x="14412" y="1822"/>
                        </a:lnTo>
                        <a:lnTo>
                          <a:pt x="14431" y="1753"/>
                        </a:lnTo>
                        <a:lnTo>
                          <a:pt x="14449" y="1684"/>
                        </a:lnTo>
                        <a:lnTo>
                          <a:pt x="14466" y="1615"/>
                        </a:lnTo>
                        <a:lnTo>
                          <a:pt x="14482" y="1547"/>
                        </a:lnTo>
                        <a:lnTo>
                          <a:pt x="14496" y="1478"/>
                        </a:lnTo>
                        <a:lnTo>
                          <a:pt x="14509" y="1409"/>
                        </a:lnTo>
                        <a:lnTo>
                          <a:pt x="14521" y="1340"/>
                        </a:lnTo>
                        <a:lnTo>
                          <a:pt x="14532" y="1271"/>
                        </a:lnTo>
                        <a:lnTo>
                          <a:pt x="14542" y="1203"/>
                        </a:lnTo>
                        <a:lnTo>
                          <a:pt x="14550" y="1134"/>
                        </a:lnTo>
                        <a:lnTo>
                          <a:pt x="14558" y="1066"/>
                        </a:lnTo>
                        <a:lnTo>
                          <a:pt x="14564" y="996"/>
                        </a:lnTo>
                        <a:lnTo>
                          <a:pt x="14569" y="928"/>
                        </a:lnTo>
                        <a:lnTo>
                          <a:pt x="14573" y="860"/>
                        </a:lnTo>
                        <a:lnTo>
                          <a:pt x="14576" y="792"/>
                        </a:lnTo>
                        <a:lnTo>
                          <a:pt x="14577" y="724"/>
                        </a:lnTo>
                        <a:lnTo>
                          <a:pt x="14578" y="655"/>
                        </a:lnTo>
                        <a:lnTo>
                          <a:pt x="14577" y="588"/>
                        </a:lnTo>
                        <a:lnTo>
                          <a:pt x="14575" y="521"/>
                        </a:lnTo>
                        <a:lnTo>
                          <a:pt x="14572" y="453"/>
                        </a:lnTo>
                        <a:lnTo>
                          <a:pt x="14568" y="386"/>
                        </a:lnTo>
                        <a:lnTo>
                          <a:pt x="14832" y="581"/>
                        </a:ln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Calibri"/>
                    </a:endParaRPr>
                  </a:p>
                </p:txBody>
              </p:sp>
              <p:sp>
                <p:nvSpPr>
                  <p:cNvPr id="17" name="Freeform 12">
                    <a:extLst>
                      <a:ext uri="{FF2B5EF4-FFF2-40B4-BE49-F238E27FC236}">
                        <a16:creationId xmlns:a16="http://schemas.microsoft.com/office/drawing/2014/main" id="{DAEFFA8E-917A-9BB8-572B-0151D5E4E5C4}"/>
                      </a:ext>
                    </a:extLst>
                  </p:cNvPr>
                  <p:cNvSpPr>
                    <a:spLocks/>
                  </p:cNvSpPr>
                  <p:nvPr/>
                </p:nvSpPr>
                <p:spPr bwMode="auto">
                  <a:xfrm>
                    <a:off x="2682500" y="6611"/>
                    <a:ext cx="1688745" cy="1857882"/>
                  </a:xfrm>
                  <a:custGeom>
                    <a:avLst/>
                    <a:gdLst>
                      <a:gd name="T0" fmla="*/ 10920 w 11158"/>
                      <a:gd name="T1" fmla="*/ 367 h 7009"/>
                      <a:gd name="T2" fmla="*/ 10734 w 11158"/>
                      <a:gd name="T3" fmla="*/ 1089 h 7009"/>
                      <a:gd name="T4" fmla="*/ 10513 w 11158"/>
                      <a:gd name="T5" fmla="*/ 1768 h 7009"/>
                      <a:gd name="T6" fmla="*/ 10258 w 11158"/>
                      <a:gd name="T7" fmla="*/ 2403 h 7009"/>
                      <a:gd name="T8" fmla="*/ 9967 w 11158"/>
                      <a:gd name="T9" fmla="*/ 2998 h 7009"/>
                      <a:gd name="T10" fmla="*/ 9642 w 11158"/>
                      <a:gd name="T11" fmla="*/ 3549 h 7009"/>
                      <a:gd name="T12" fmla="*/ 9283 w 11158"/>
                      <a:gd name="T13" fmla="*/ 4057 h 7009"/>
                      <a:gd name="T14" fmla="*/ 8891 w 11158"/>
                      <a:gd name="T15" fmla="*/ 4523 h 7009"/>
                      <a:gd name="T16" fmla="*/ 8463 w 11158"/>
                      <a:gd name="T17" fmla="*/ 4945 h 7009"/>
                      <a:gd name="T18" fmla="*/ 8003 w 11158"/>
                      <a:gd name="T19" fmla="*/ 5325 h 7009"/>
                      <a:gd name="T20" fmla="*/ 7508 w 11158"/>
                      <a:gd name="T21" fmla="*/ 5661 h 7009"/>
                      <a:gd name="T22" fmla="*/ 6980 w 11158"/>
                      <a:gd name="T23" fmla="*/ 5952 h 7009"/>
                      <a:gd name="T24" fmla="*/ 6418 w 11158"/>
                      <a:gd name="T25" fmla="*/ 6201 h 7009"/>
                      <a:gd name="T26" fmla="*/ 5944 w 11158"/>
                      <a:gd name="T27" fmla="*/ 6368 h 7009"/>
                      <a:gd name="T28" fmla="*/ 5496 w 11158"/>
                      <a:gd name="T29" fmla="*/ 6499 h 7009"/>
                      <a:gd name="T30" fmla="*/ 5042 w 11158"/>
                      <a:gd name="T31" fmla="*/ 6610 h 7009"/>
                      <a:gd name="T32" fmla="*/ 4585 w 11158"/>
                      <a:gd name="T33" fmla="*/ 6703 h 7009"/>
                      <a:gd name="T34" fmla="*/ 4125 w 11158"/>
                      <a:gd name="T35" fmla="*/ 6778 h 7009"/>
                      <a:gd name="T36" fmla="*/ 3383 w 11158"/>
                      <a:gd name="T37" fmla="*/ 6867 h 7009"/>
                      <a:gd name="T38" fmla="*/ 2447 w 11158"/>
                      <a:gd name="T39" fmla="*/ 6931 h 7009"/>
                      <a:gd name="T40" fmla="*/ 1507 w 11158"/>
                      <a:gd name="T41" fmla="*/ 6952 h 7009"/>
                      <a:gd name="T42" fmla="*/ 564 w 11158"/>
                      <a:gd name="T43" fmla="*/ 6943 h 7009"/>
                      <a:gd name="T44" fmla="*/ 0 w 11158"/>
                      <a:gd name="T45" fmla="*/ 6983 h 7009"/>
                      <a:gd name="T46" fmla="*/ 944 w 11158"/>
                      <a:gd name="T47" fmla="*/ 7006 h 7009"/>
                      <a:gd name="T48" fmla="*/ 1888 w 11158"/>
                      <a:gd name="T49" fmla="*/ 7004 h 7009"/>
                      <a:gd name="T50" fmla="*/ 2829 w 11158"/>
                      <a:gd name="T51" fmla="*/ 6966 h 7009"/>
                      <a:gd name="T52" fmla="*/ 3765 w 11158"/>
                      <a:gd name="T53" fmla="*/ 6882 h 7009"/>
                      <a:gd name="T54" fmla="*/ 4229 w 11158"/>
                      <a:gd name="T55" fmla="*/ 6818 h 7009"/>
                      <a:gd name="T56" fmla="*/ 4690 w 11158"/>
                      <a:gd name="T57" fmla="*/ 6739 h 7009"/>
                      <a:gd name="T58" fmla="*/ 5149 w 11158"/>
                      <a:gd name="T59" fmla="*/ 6642 h 7009"/>
                      <a:gd name="T60" fmla="*/ 5603 w 11158"/>
                      <a:gd name="T61" fmla="*/ 6528 h 7009"/>
                      <a:gd name="T62" fmla="*/ 5963 w 11158"/>
                      <a:gd name="T63" fmla="*/ 6421 h 7009"/>
                      <a:gd name="T64" fmla="*/ 6309 w 11158"/>
                      <a:gd name="T65" fmla="*/ 6302 h 7009"/>
                      <a:gd name="T66" fmla="*/ 6645 w 11158"/>
                      <a:gd name="T67" fmla="*/ 6169 h 7009"/>
                      <a:gd name="T68" fmla="*/ 6969 w 11158"/>
                      <a:gd name="T69" fmla="*/ 6021 h 7009"/>
                      <a:gd name="T70" fmla="*/ 7283 w 11158"/>
                      <a:gd name="T71" fmla="*/ 5859 h 7009"/>
                      <a:gd name="T72" fmla="*/ 7584 w 11158"/>
                      <a:gd name="T73" fmla="*/ 5682 h 7009"/>
                      <a:gd name="T74" fmla="*/ 7875 w 11158"/>
                      <a:gd name="T75" fmla="*/ 5491 h 7009"/>
                      <a:gd name="T76" fmla="*/ 8155 w 11158"/>
                      <a:gd name="T77" fmla="*/ 5284 h 7009"/>
                      <a:gd name="T78" fmla="*/ 8422 w 11158"/>
                      <a:gd name="T79" fmla="*/ 5065 h 7009"/>
                      <a:gd name="T80" fmla="*/ 8679 w 11158"/>
                      <a:gd name="T81" fmla="*/ 4831 h 7009"/>
                      <a:gd name="T82" fmla="*/ 8923 w 11158"/>
                      <a:gd name="T83" fmla="*/ 4582 h 7009"/>
                      <a:gd name="T84" fmla="*/ 9156 w 11158"/>
                      <a:gd name="T85" fmla="*/ 4321 h 7009"/>
                      <a:gd name="T86" fmla="*/ 9377 w 11158"/>
                      <a:gd name="T87" fmla="*/ 4044 h 7009"/>
                      <a:gd name="T88" fmla="*/ 9545 w 11158"/>
                      <a:gd name="T89" fmla="*/ 3813 h 7009"/>
                      <a:gd name="T90" fmla="*/ 9837 w 11158"/>
                      <a:gd name="T91" fmla="*/ 3361 h 7009"/>
                      <a:gd name="T92" fmla="*/ 10103 w 11158"/>
                      <a:gd name="T93" fmla="*/ 2881 h 7009"/>
                      <a:gd name="T94" fmla="*/ 10343 w 11158"/>
                      <a:gd name="T95" fmla="*/ 2370 h 7009"/>
                      <a:gd name="T96" fmla="*/ 10558 w 11158"/>
                      <a:gd name="T97" fmla="*/ 1828 h 7009"/>
                      <a:gd name="T98" fmla="*/ 10749 w 11158"/>
                      <a:gd name="T99" fmla="*/ 1253 h 7009"/>
                      <a:gd name="T100" fmla="*/ 10916 w 11158"/>
                      <a:gd name="T101" fmla="*/ 645 h 70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1158" h="7009">
                        <a:moveTo>
                          <a:pt x="11158" y="648"/>
                        </a:moveTo>
                        <a:lnTo>
                          <a:pt x="11045" y="0"/>
                        </a:lnTo>
                        <a:lnTo>
                          <a:pt x="10622" y="503"/>
                        </a:lnTo>
                        <a:lnTo>
                          <a:pt x="10920" y="367"/>
                        </a:lnTo>
                        <a:lnTo>
                          <a:pt x="10920" y="367"/>
                        </a:lnTo>
                        <a:lnTo>
                          <a:pt x="10885" y="515"/>
                        </a:lnTo>
                        <a:lnTo>
                          <a:pt x="10850" y="661"/>
                        </a:lnTo>
                        <a:lnTo>
                          <a:pt x="10813" y="805"/>
                        </a:lnTo>
                        <a:lnTo>
                          <a:pt x="10774" y="948"/>
                        </a:lnTo>
                        <a:lnTo>
                          <a:pt x="10734" y="1089"/>
                        </a:lnTo>
                        <a:lnTo>
                          <a:pt x="10692" y="1227"/>
                        </a:lnTo>
                        <a:lnTo>
                          <a:pt x="10650" y="1365"/>
                        </a:lnTo>
                        <a:lnTo>
                          <a:pt x="10606" y="1501"/>
                        </a:lnTo>
                        <a:lnTo>
                          <a:pt x="10559" y="1635"/>
                        </a:lnTo>
                        <a:lnTo>
                          <a:pt x="10513" y="1768"/>
                        </a:lnTo>
                        <a:lnTo>
                          <a:pt x="10465" y="1897"/>
                        </a:lnTo>
                        <a:lnTo>
                          <a:pt x="10415" y="2027"/>
                        </a:lnTo>
                        <a:lnTo>
                          <a:pt x="10363" y="2154"/>
                        </a:lnTo>
                        <a:lnTo>
                          <a:pt x="10311" y="2280"/>
                        </a:lnTo>
                        <a:lnTo>
                          <a:pt x="10258" y="2403"/>
                        </a:lnTo>
                        <a:lnTo>
                          <a:pt x="10202" y="2526"/>
                        </a:lnTo>
                        <a:lnTo>
                          <a:pt x="10145" y="2646"/>
                        </a:lnTo>
                        <a:lnTo>
                          <a:pt x="10088" y="2765"/>
                        </a:lnTo>
                        <a:lnTo>
                          <a:pt x="10027" y="2882"/>
                        </a:lnTo>
                        <a:lnTo>
                          <a:pt x="9967" y="2998"/>
                        </a:lnTo>
                        <a:lnTo>
                          <a:pt x="9905" y="3111"/>
                        </a:lnTo>
                        <a:lnTo>
                          <a:pt x="9841" y="3223"/>
                        </a:lnTo>
                        <a:lnTo>
                          <a:pt x="9776" y="3334"/>
                        </a:lnTo>
                        <a:lnTo>
                          <a:pt x="9711" y="3442"/>
                        </a:lnTo>
                        <a:lnTo>
                          <a:pt x="9642" y="3549"/>
                        </a:lnTo>
                        <a:lnTo>
                          <a:pt x="9574" y="3654"/>
                        </a:lnTo>
                        <a:lnTo>
                          <a:pt x="9503" y="3757"/>
                        </a:lnTo>
                        <a:lnTo>
                          <a:pt x="9431" y="3859"/>
                        </a:lnTo>
                        <a:lnTo>
                          <a:pt x="9359" y="3960"/>
                        </a:lnTo>
                        <a:lnTo>
                          <a:pt x="9283" y="4057"/>
                        </a:lnTo>
                        <a:lnTo>
                          <a:pt x="9208" y="4154"/>
                        </a:lnTo>
                        <a:lnTo>
                          <a:pt x="9130" y="4249"/>
                        </a:lnTo>
                        <a:lnTo>
                          <a:pt x="9052" y="4342"/>
                        </a:lnTo>
                        <a:lnTo>
                          <a:pt x="8972" y="4433"/>
                        </a:lnTo>
                        <a:lnTo>
                          <a:pt x="8891" y="4523"/>
                        </a:lnTo>
                        <a:lnTo>
                          <a:pt x="8807" y="4611"/>
                        </a:lnTo>
                        <a:lnTo>
                          <a:pt x="8724" y="4697"/>
                        </a:lnTo>
                        <a:lnTo>
                          <a:pt x="8638" y="4781"/>
                        </a:lnTo>
                        <a:lnTo>
                          <a:pt x="8552" y="4865"/>
                        </a:lnTo>
                        <a:lnTo>
                          <a:pt x="8463" y="4945"/>
                        </a:lnTo>
                        <a:lnTo>
                          <a:pt x="8374" y="5025"/>
                        </a:lnTo>
                        <a:lnTo>
                          <a:pt x="8283" y="5102"/>
                        </a:lnTo>
                        <a:lnTo>
                          <a:pt x="8191" y="5178"/>
                        </a:lnTo>
                        <a:lnTo>
                          <a:pt x="8097" y="5252"/>
                        </a:lnTo>
                        <a:lnTo>
                          <a:pt x="8003" y="5325"/>
                        </a:lnTo>
                        <a:lnTo>
                          <a:pt x="7906" y="5395"/>
                        </a:lnTo>
                        <a:lnTo>
                          <a:pt x="7809" y="5464"/>
                        </a:lnTo>
                        <a:lnTo>
                          <a:pt x="7710" y="5532"/>
                        </a:lnTo>
                        <a:lnTo>
                          <a:pt x="7610" y="5597"/>
                        </a:lnTo>
                        <a:lnTo>
                          <a:pt x="7508" y="5661"/>
                        </a:lnTo>
                        <a:lnTo>
                          <a:pt x="7404" y="5722"/>
                        </a:lnTo>
                        <a:lnTo>
                          <a:pt x="7301" y="5782"/>
                        </a:lnTo>
                        <a:lnTo>
                          <a:pt x="7195" y="5841"/>
                        </a:lnTo>
                        <a:lnTo>
                          <a:pt x="7088" y="5898"/>
                        </a:lnTo>
                        <a:lnTo>
                          <a:pt x="6980" y="5952"/>
                        </a:lnTo>
                        <a:lnTo>
                          <a:pt x="6869" y="6006"/>
                        </a:lnTo>
                        <a:lnTo>
                          <a:pt x="6759" y="6057"/>
                        </a:lnTo>
                        <a:lnTo>
                          <a:pt x="6646" y="6107"/>
                        </a:lnTo>
                        <a:lnTo>
                          <a:pt x="6532" y="6155"/>
                        </a:lnTo>
                        <a:lnTo>
                          <a:pt x="6418" y="6201"/>
                        </a:lnTo>
                        <a:lnTo>
                          <a:pt x="6301" y="6245"/>
                        </a:lnTo>
                        <a:lnTo>
                          <a:pt x="6183" y="6288"/>
                        </a:lnTo>
                        <a:lnTo>
                          <a:pt x="6065" y="6330"/>
                        </a:lnTo>
                        <a:lnTo>
                          <a:pt x="5944" y="6368"/>
                        </a:lnTo>
                        <a:lnTo>
                          <a:pt x="5944" y="6368"/>
                        </a:lnTo>
                        <a:lnTo>
                          <a:pt x="5855" y="6396"/>
                        </a:lnTo>
                        <a:lnTo>
                          <a:pt x="5765" y="6423"/>
                        </a:lnTo>
                        <a:lnTo>
                          <a:pt x="5676" y="6449"/>
                        </a:lnTo>
                        <a:lnTo>
                          <a:pt x="5585" y="6474"/>
                        </a:lnTo>
                        <a:lnTo>
                          <a:pt x="5496" y="6499"/>
                        </a:lnTo>
                        <a:lnTo>
                          <a:pt x="5405" y="6523"/>
                        </a:lnTo>
                        <a:lnTo>
                          <a:pt x="5315" y="6546"/>
                        </a:lnTo>
                        <a:lnTo>
                          <a:pt x="5224" y="6568"/>
                        </a:lnTo>
                        <a:lnTo>
                          <a:pt x="5132" y="6589"/>
                        </a:lnTo>
                        <a:lnTo>
                          <a:pt x="5042" y="6610"/>
                        </a:lnTo>
                        <a:lnTo>
                          <a:pt x="4950" y="6630"/>
                        </a:lnTo>
                        <a:lnTo>
                          <a:pt x="4860" y="6649"/>
                        </a:lnTo>
                        <a:lnTo>
                          <a:pt x="4768" y="6668"/>
                        </a:lnTo>
                        <a:lnTo>
                          <a:pt x="4677" y="6686"/>
                        </a:lnTo>
                        <a:lnTo>
                          <a:pt x="4585" y="6703"/>
                        </a:lnTo>
                        <a:lnTo>
                          <a:pt x="4493" y="6719"/>
                        </a:lnTo>
                        <a:lnTo>
                          <a:pt x="4401" y="6735"/>
                        </a:lnTo>
                        <a:lnTo>
                          <a:pt x="4309" y="6750"/>
                        </a:lnTo>
                        <a:lnTo>
                          <a:pt x="4217" y="6764"/>
                        </a:lnTo>
                        <a:lnTo>
                          <a:pt x="4125" y="6778"/>
                        </a:lnTo>
                        <a:lnTo>
                          <a:pt x="4032" y="6791"/>
                        </a:lnTo>
                        <a:lnTo>
                          <a:pt x="3940" y="6804"/>
                        </a:lnTo>
                        <a:lnTo>
                          <a:pt x="3755" y="6827"/>
                        </a:lnTo>
                        <a:lnTo>
                          <a:pt x="3569" y="6849"/>
                        </a:lnTo>
                        <a:lnTo>
                          <a:pt x="3383" y="6867"/>
                        </a:lnTo>
                        <a:lnTo>
                          <a:pt x="3196" y="6884"/>
                        </a:lnTo>
                        <a:lnTo>
                          <a:pt x="3009" y="6899"/>
                        </a:lnTo>
                        <a:lnTo>
                          <a:pt x="2822" y="6911"/>
                        </a:lnTo>
                        <a:lnTo>
                          <a:pt x="2634" y="6922"/>
                        </a:lnTo>
                        <a:lnTo>
                          <a:pt x="2447" y="6931"/>
                        </a:lnTo>
                        <a:lnTo>
                          <a:pt x="2259" y="6938"/>
                        </a:lnTo>
                        <a:lnTo>
                          <a:pt x="2071" y="6944"/>
                        </a:lnTo>
                        <a:lnTo>
                          <a:pt x="1883" y="6948"/>
                        </a:lnTo>
                        <a:lnTo>
                          <a:pt x="1695" y="6951"/>
                        </a:lnTo>
                        <a:lnTo>
                          <a:pt x="1507" y="6952"/>
                        </a:lnTo>
                        <a:lnTo>
                          <a:pt x="1318" y="6953"/>
                        </a:lnTo>
                        <a:lnTo>
                          <a:pt x="1130" y="6952"/>
                        </a:lnTo>
                        <a:lnTo>
                          <a:pt x="942" y="6950"/>
                        </a:lnTo>
                        <a:lnTo>
                          <a:pt x="753" y="6947"/>
                        </a:lnTo>
                        <a:lnTo>
                          <a:pt x="564" y="6943"/>
                        </a:lnTo>
                        <a:lnTo>
                          <a:pt x="376" y="6939"/>
                        </a:lnTo>
                        <a:lnTo>
                          <a:pt x="188" y="6934"/>
                        </a:lnTo>
                        <a:lnTo>
                          <a:pt x="0" y="6928"/>
                        </a:lnTo>
                        <a:lnTo>
                          <a:pt x="0" y="6983"/>
                        </a:lnTo>
                        <a:lnTo>
                          <a:pt x="0" y="6983"/>
                        </a:lnTo>
                        <a:lnTo>
                          <a:pt x="188" y="6989"/>
                        </a:lnTo>
                        <a:lnTo>
                          <a:pt x="377" y="6994"/>
                        </a:lnTo>
                        <a:lnTo>
                          <a:pt x="565" y="6999"/>
                        </a:lnTo>
                        <a:lnTo>
                          <a:pt x="755" y="7003"/>
                        </a:lnTo>
                        <a:lnTo>
                          <a:pt x="944" y="7006"/>
                        </a:lnTo>
                        <a:lnTo>
                          <a:pt x="1133" y="7008"/>
                        </a:lnTo>
                        <a:lnTo>
                          <a:pt x="1322" y="7009"/>
                        </a:lnTo>
                        <a:lnTo>
                          <a:pt x="1510" y="7009"/>
                        </a:lnTo>
                        <a:lnTo>
                          <a:pt x="1699" y="7007"/>
                        </a:lnTo>
                        <a:lnTo>
                          <a:pt x="1888" y="7004"/>
                        </a:lnTo>
                        <a:lnTo>
                          <a:pt x="2076" y="7000"/>
                        </a:lnTo>
                        <a:lnTo>
                          <a:pt x="2265" y="6993"/>
                        </a:lnTo>
                        <a:lnTo>
                          <a:pt x="2453" y="6986"/>
                        </a:lnTo>
                        <a:lnTo>
                          <a:pt x="2641" y="6977"/>
                        </a:lnTo>
                        <a:lnTo>
                          <a:pt x="2829" y="6966"/>
                        </a:lnTo>
                        <a:lnTo>
                          <a:pt x="3017" y="6953"/>
                        </a:lnTo>
                        <a:lnTo>
                          <a:pt x="3205" y="6939"/>
                        </a:lnTo>
                        <a:lnTo>
                          <a:pt x="3392" y="6922"/>
                        </a:lnTo>
                        <a:lnTo>
                          <a:pt x="3579" y="6903"/>
                        </a:lnTo>
                        <a:lnTo>
                          <a:pt x="3765" y="6882"/>
                        </a:lnTo>
                        <a:lnTo>
                          <a:pt x="3858" y="6871"/>
                        </a:lnTo>
                        <a:lnTo>
                          <a:pt x="3951" y="6859"/>
                        </a:lnTo>
                        <a:lnTo>
                          <a:pt x="4043" y="6846"/>
                        </a:lnTo>
                        <a:lnTo>
                          <a:pt x="4137" y="6833"/>
                        </a:lnTo>
                        <a:lnTo>
                          <a:pt x="4229" y="6818"/>
                        </a:lnTo>
                        <a:lnTo>
                          <a:pt x="4322" y="6804"/>
                        </a:lnTo>
                        <a:lnTo>
                          <a:pt x="4414" y="6789"/>
                        </a:lnTo>
                        <a:lnTo>
                          <a:pt x="4506" y="6773"/>
                        </a:lnTo>
                        <a:lnTo>
                          <a:pt x="4598" y="6757"/>
                        </a:lnTo>
                        <a:lnTo>
                          <a:pt x="4690" y="6739"/>
                        </a:lnTo>
                        <a:lnTo>
                          <a:pt x="4782" y="6722"/>
                        </a:lnTo>
                        <a:lnTo>
                          <a:pt x="4874" y="6703"/>
                        </a:lnTo>
                        <a:lnTo>
                          <a:pt x="4966" y="6684"/>
                        </a:lnTo>
                        <a:lnTo>
                          <a:pt x="5057" y="6664"/>
                        </a:lnTo>
                        <a:lnTo>
                          <a:pt x="5149" y="6642"/>
                        </a:lnTo>
                        <a:lnTo>
                          <a:pt x="5239" y="6621"/>
                        </a:lnTo>
                        <a:lnTo>
                          <a:pt x="5331" y="6599"/>
                        </a:lnTo>
                        <a:lnTo>
                          <a:pt x="5421" y="6576"/>
                        </a:lnTo>
                        <a:lnTo>
                          <a:pt x="5513" y="6552"/>
                        </a:lnTo>
                        <a:lnTo>
                          <a:pt x="5603" y="6528"/>
                        </a:lnTo>
                        <a:lnTo>
                          <a:pt x="5693" y="6502"/>
                        </a:lnTo>
                        <a:lnTo>
                          <a:pt x="5783" y="6475"/>
                        </a:lnTo>
                        <a:lnTo>
                          <a:pt x="5874" y="6448"/>
                        </a:lnTo>
                        <a:lnTo>
                          <a:pt x="5963" y="6421"/>
                        </a:lnTo>
                        <a:lnTo>
                          <a:pt x="5963" y="6421"/>
                        </a:lnTo>
                        <a:lnTo>
                          <a:pt x="6034" y="6398"/>
                        </a:lnTo>
                        <a:lnTo>
                          <a:pt x="6103" y="6375"/>
                        </a:lnTo>
                        <a:lnTo>
                          <a:pt x="6172" y="6352"/>
                        </a:lnTo>
                        <a:lnTo>
                          <a:pt x="6241" y="6328"/>
                        </a:lnTo>
                        <a:lnTo>
                          <a:pt x="6309" y="6302"/>
                        </a:lnTo>
                        <a:lnTo>
                          <a:pt x="6378" y="6276"/>
                        </a:lnTo>
                        <a:lnTo>
                          <a:pt x="6445" y="6251"/>
                        </a:lnTo>
                        <a:lnTo>
                          <a:pt x="6512" y="6224"/>
                        </a:lnTo>
                        <a:lnTo>
                          <a:pt x="6579" y="6197"/>
                        </a:lnTo>
                        <a:lnTo>
                          <a:pt x="6645" y="6169"/>
                        </a:lnTo>
                        <a:lnTo>
                          <a:pt x="6710" y="6140"/>
                        </a:lnTo>
                        <a:lnTo>
                          <a:pt x="6776" y="6111"/>
                        </a:lnTo>
                        <a:lnTo>
                          <a:pt x="6840" y="6082"/>
                        </a:lnTo>
                        <a:lnTo>
                          <a:pt x="6906" y="6052"/>
                        </a:lnTo>
                        <a:lnTo>
                          <a:pt x="6969" y="6021"/>
                        </a:lnTo>
                        <a:lnTo>
                          <a:pt x="7032" y="5990"/>
                        </a:lnTo>
                        <a:lnTo>
                          <a:pt x="7096" y="5958"/>
                        </a:lnTo>
                        <a:lnTo>
                          <a:pt x="7158" y="5925"/>
                        </a:lnTo>
                        <a:lnTo>
                          <a:pt x="7220" y="5892"/>
                        </a:lnTo>
                        <a:lnTo>
                          <a:pt x="7283" y="5859"/>
                        </a:lnTo>
                        <a:lnTo>
                          <a:pt x="7344" y="5825"/>
                        </a:lnTo>
                        <a:lnTo>
                          <a:pt x="7404" y="5789"/>
                        </a:lnTo>
                        <a:lnTo>
                          <a:pt x="7465" y="5754"/>
                        </a:lnTo>
                        <a:lnTo>
                          <a:pt x="7525" y="5718"/>
                        </a:lnTo>
                        <a:lnTo>
                          <a:pt x="7584" y="5682"/>
                        </a:lnTo>
                        <a:lnTo>
                          <a:pt x="7644" y="5644"/>
                        </a:lnTo>
                        <a:lnTo>
                          <a:pt x="7702" y="5607"/>
                        </a:lnTo>
                        <a:lnTo>
                          <a:pt x="7760" y="5569"/>
                        </a:lnTo>
                        <a:lnTo>
                          <a:pt x="7818" y="5530"/>
                        </a:lnTo>
                        <a:lnTo>
                          <a:pt x="7875" y="5491"/>
                        </a:lnTo>
                        <a:lnTo>
                          <a:pt x="7932" y="5450"/>
                        </a:lnTo>
                        <a:lnTo>
                          <a:pt x="7989" y="5410"/>
                        </a:lnTo>
                        <a:lnTo>
                          <a:pt x="8044" y="5369"/>
                        </a:lnTo>
                        <a:lnTo>
                          <a:pt x="8099" y="5327"/>
                        </a:lnTo>
                        <a:lnTo>
                          <a:pt x="8155" y="5284"/>
                        </a:lnTo>
                        <a:lnTo>
                          <a:pt x="8209" y="5242"/>
                        </a:lnTo>
                        <a:lnTo>
                          <a:pt x="8263" y="5199"/>
                        </a:lnTo>
                        <a:lnTo>
                          <a:pt x="8317" y="5155"/>
                        </a:lnTo>
                        <a:lnTo>
                          <a:pt x="8370" y="5110"/>
                        </a:lnTo>
                        <a:lnTo>
                          <a:pt x="8422" y="5065"/>
                        </a:lnTo>
                        <a:lnTo>
                          <a:pt x="8475" y="5019"/>
                        </a:lnTo>
                        <a:lnTo>
                          <a:pt x="8526" y="4973"/>
                        </a:lnTo>
                        <a:lnTo>
                          <a:pt x="8577" y="4926"/>
                        </a:lnTo>
                        <a:lnTo>
                          <a:pt x="8628" y="4879"/>
                        </a:lnTo>
                        <a:lnTo>
                          <a:pt x="8679" y="4831"/>
                        </a:lnTo>
                        <a:lnTo>
                          <a:pt x="8729" y="4782"/>
                        </a:lnTo>
                        <a:lnTo>
                          <a:pt x="8778" y="4733"/>
                        </a:lnTo>
                        <a:lnTo>
                          <a:pt x="8827" y="4684"/>
                        </a:lnTo>
                        <a:lnTo>
                          <a:pt x="8875" y="4634"/>
                        </a:lnTo>
                        <a:lnTo>
                          <a:pt x="8923" y="4582"/>
                        </a:lnTo>
                        <a:lnTo>
                          <a:pt x="8970" y="4531"/>
                        </a:lnTo>
                        <a:lnTo>
                          <a:pt x="9018" y="4480"/>
                        </a:lnTo>
                        <a:lnTo>
                          <a:pt x="9064" y="4427"/>
                        </a:lnTo>
                        <a:lnTo>
                          <a:pt x="9110" y="4374"/>
                        </a:lnTo>
                        <a:lnTo>
                          <a:pt x="9156" y="4321"/>
                        </a:lnTo>
                        <a:lnTo>
                          <a:pt x="9201" y="4266"/>
                        </a:lnTo>
                        <a:lnTo>
                          <a:pt x="9246" y="4211"/>
                        </a:lnTo>
                        <a:lnTo>
                          <a:pt x="9290" y="4156"/>
                        </a:lnTo>
                        <a:lnTo>
                          <a:pt x="9333" y="4100"/>
                        </a:lnTo>
                        <a:lnTo>
                          <a:pt x="9377" y="4044"/>
                        </a:lnTo>
                        <a:lnTo>
                          <a:pt x="9420" y="3987"/>
                        </a:lnTo>
                        <a:lnTo>
                          <a:pt x="9462" y="3929"/>
                        </a:lnTo>
                        <a:lnTo>
                          <a:pt x="9503" y="3871"/>
                        </a:lnTo>
                        <a:lnTo>
                          <a:pt x="9545" y="3813"/>
                        </a:lnTo>
                        <a:lnTo>
                          <a:pt x="9545" y="3813"/>
                        </a:lnTo>
                        <a:lnTo>
                          <a:pt x="9606" y="3725"/>
                        </a:lnTo>
                        <a:lnTo>
                          <a:pt x="9665" y="3636"/>
                        </a:lnTo>
                        <a:lnTo>
                          <a:pt x="9724" y="3545"/>
                        </a:lnTo>
                        <a:lnTo>
                          <a:pt x="9781" y="3454"/>
                        </a:lnTo>
                        <a:lnTo>
                          <a:pt x="9837" y="3361"/>
                        </a:lnTo>
                        <a:lnTo>
                          <a:pt x="9893" y="3267"/>
                        </a:lnTo>
                        <a:lnTo>
                          <a:pt x="9947" y="3173"/>
                        </a:lnTo>
                        <a:lnTo>
                          <a:pt x="9999" y="3076"/>
                        </a:lnTo>
                        <a:lnTo>
                          <a:pt x="10052" y="2980"/>
                        </a:lnTo>
                        <a:lnTo>
                          <a:pt x="10103" y="2881"/>
                        </a:lnTo>
                        <a:lnTo>
                          <a:pt x="10153" y="2782"/>
                        </a:lnTo>
                        <a:lnTo>
                          <a:pt x="10202" y="2680"/>
                        </a:lnTo>
                        <a:lnTo>
                          <a:pt x="10250" y="2578"/>
                        </a:lnTo>
                        <a:lnTo>
                          <a:pt x="10297" y="2475"/>
                        </a:lnTo>
                        <a:lnTo>
                          <a:pt x="10343" y="2370"/>
                        </a:lnTo>
                        <a:lnTo>
                          <a:pt x="10388" y="2264"/>
                        </a:lnTo>
                        <a:lnTo>
                          <a:pt x="10433" y="2158"/>
                        </a:lnTo>
                        <a:lnTo>
                          <a:pt x="10475" y="2049"/>
                        </a:lnTo>
                        <a:lnTo>
                          <a:pt x="10517" y="1940"/>
                        </a:lnTo>
                        <a:lnTo>
                          <a:pt x="10558" y="1828"/>
                        </a:lnTo>
                        <a:lnTo>
                          <a:pt x="10599" y="1716"/>
                        </a:lnTo>
                        <a:lnTo>
                          <a:pt x="10638" y="1603"/>
                        </a:lnTo>
                        <a:lnTo>
                          <a:pt x="10676" y="1488"/>
                        </a:lnTo>
                        <a:lnTo>
                          <a:pt x="10713" y="1371"/>
                        </a:lnTo>
                        <a:lnTo>
                          <a:pt x="10749" y="1253"/>
                        </a:lnTo>
                        <a:lnTo>
                          <a:pt x="10785" y="1135"/>
                        </a:lnTo>
                        <a:lnTo>
                          <a:pt x="10819" y="1014"/>
                        </a:lnTo>
                        <a:lnTo>
                          <a:pt x="10852" y="892"/>
                        </a:lnTo>
                        <a:lnTo>
                          <a:pt x="10884" y="770"/>
                        </a:lnTo>
                        <a:lnTo>
                          <a:pt x="10916" y="645"/>
                        </a:lnTo>
                        <a:lnTo>
                          <a:pt x="10947" y="519"/>
                        </a:lnTo>
                        <a:lnTo>
                          <a:pt x="10976" y="391"/>
                        </a:lnTo>
                        <a:lnTo>
                          <a:pt x="11158" y="648"/>
                        </a:ln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Calibri"/>
                    </a:endParaRPr>
                  </a:p>
                </p:txBody>
              </p:sp>
            </p:grpSp>
            <p:sp>
              <p:nvSpPr>
                <p:cNvPr id="19" name="Rectangle: Rounded Corners 18">
                  <a:extLst>
                    <a:ext uri="{FF2B5EF4-FFF2-40B4-BE49-F238E27FC236}">
                      <a16:creationId xmlns:a16="http://schemas.microsoft.com/office/drawing/2014/main" id="{16B52684-ED7F-F516-C7D2-F008729A5D8A}"/>
                    </a:ext>
                  </a:extLst>
                </p:cNvPr>
                <p:cNvSpPr/>
                <p:nvPr/>
              </p:nvSpPr>
              <p:spPr>
                <a:xfrm>
                  <a:off x="7957458" y="2046514"/>
                  <a:ext cx="3286116" cy="1245167"/>
                </a:xfrm>
                <a:prstGeom prst="roundRect">
                  <a:avLst>
                    <a:gd name="adj" fmla="val 9680"/>
                  </a:avLst>
                </a:prstGeom>
                <a:solidFill>
                  <a:schemeClr val="bg1">
                    <a:lumMod val="95000"/>
                    <a:alpha val="86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grpSp>
          <p:sp>
            <p:nvSpPr>
              <p:cNvPr id="23" name="TextBox 22">
                <a:extLst>
                  <a:ext uri="{FF2B5EF4-FFF2-40B4-BE49-F238E27FC236}">
                    <a16:creationId xmlns:a16="http://schemas.microsoft.com/office/drawing/2014/main" id="{134C5136-1E1C-B952-697D-B5B42D12EA47}"/>
                  </a:ext>
                </a:extLst>
              </p:cNvPr>
              <p:cNvSpPr txBox="1"/>
              <p:nvPr/>
            </p:nvSpPr>
            <p:spPr>
              <a:xfrm>
                <a:off x="7957457" y="2061342"/>
                <a:ext cx="3286116" cy="1618392"/>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err="1">
                    <a:ln>
                      <a:noFill/>
                    </a:ln>
                    <a:solidFill>
                      <a:srgbClr val="F0BE0F"/>
                    </a:solidFill>
                    <a:effectLst/>
                    <a:uLnTx/>
                    <a:uFillTx/>
                    <a:latin typeface="Yekan Bakh" pitchFamily="2" charset="-78"/>
                    <a:ea typeface="Yekan Bakh" pitchFamily="2" charset="-78"/>
                    <a:cs typeface="Yekan Bakh" pitchFamily="2" charset="-78"/>
                  </a:rPr>
                  <a:t>مسیر</a:t>
                </a:r>
                <a:r>
                  <a:rPr kumimoji="0" lang="en-US" sz="10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 ۱</a:t>
                </a:r>
                <a:endParaRPr kumimoji="0" lang="en-US" sz="1000" b="0"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600"/>
                  </a:spcBef>
                  <a:spcAft>
                    <a:spcPts val="450"/>
                  </a:spcAft>
                  <a:buClrTx/>
                  <a:buSzTx/>
                  <a:buFontTx/>
                  <a:buNone/>
                  <a:tabLst/>
                  <a:defRPr/>
                </a:pPr>
                <a:r>
                  <a:rPr kumimoji="0" lang="en-US" sz="800" b="1" i="0" u="none" strike="noStrike" kern="1200" cap="none" spc="0" normalizeH="0" baseline="0" noProof="0" dirty="0" err="1">
                    <a:ln>
                      <a:noFill/>
                    </a:ln>
                    <a:solidFill>
                      <a:srgbClr val="3242A4"/>
                    </a:solidFill>
                    <a:effectLst/>
                    <a:uLnTx/>
                    <a:uFillTx/>
                    <a:latin typeface="Yekan Bakh" pitchFamily="2" charset="-78"/>
                    <a:ea typeface="Yekan Bakh" pitchFamily="2" charset="-78"/>
                    <a:cs typeface="Yekan Bakh" pitchFamily="2" charset="-78"/>
                  </a:rPr>
                  <a:t>سیگنال</a:t>
                </a:r>
                <a:r>
                  <a:rPr kumimoji="0" lang="fa-IR" sz="800" b="1" i="0" u="none" strike="noStrike" kern="1200" cap="none" spc="0" normalizeH="0" baseline="0" noProof="0" dirty="0">
                    <a:ln>
                      <a:noFill/>
                    </a:ln>
                    <a:solidFill>
                      <a:srgbClr val="3242A4"/>
                    </a:solidFill>
                    <a:effectLst/>
                    <a:uLnTx/>
                    <a:uFillTx/>
                    <a:latin typeface="Yekan Bakh" pitchFamily="2" charset="-78"/>
                    <a:ea typeface="Yekan Bakh" pitchFamily="2" charset="-78"/>
                    <a:cs typeface="Yekan Bakh" pitchFamily="2" charset="-78"/>
                  </a:rPr>
                  <a:t> - </a:t>
                </a:r>
                <a:r>
                  <a:rPr kumimoji="0" lang="en-US" sz="800" b="1" i="0" u="none" strike="noStrike" kern="1200" cap="none" spc="0" normalizeH="0" baseline="0" noProof="0" dirty="0">
                    <a:ln>
                      <a:noFill/>
                    </a:ln>
                    <a:solidFill>
                      <a:srgbClr val="3242A4"/>
                    </a:solidFill>
                    <a:effectLst/>
                    <a:uLnTx/>
                    <a:uFillTx/>
                    <a:latin typeface="Yekan Bakh" pitchFamily="2" charset="-78"/>
                    <a:ea typeface="Yekan Bakh" pitchFamily="2" charset="-78"/>
                    <a:cs typeface="Yekan Bakh" pitchFamily="2" charset="-78"/>
                  </a:rPr>
                  <a:t> Signal</a:t>
                </a:r>
              </a:p>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err="1">
                    <a:ln>
                      <a:noFill/>
                    </a:ln>
                    <a:solidFill>
                      <a:prstClr val="black">
                        <a:lumMod val="75000"/>
                        <a:lumOff val="25000"/>
                      </a:prstClr>
                    </a:solidFill>
                    <a:effectLst/>
                    <a:uLnTx/>
                    <a:uFillTx/>
                    <a:latin typeface="Yekan Bakh" pitchFamily="2" charset="-78"/>
                    <a:ea typeface="Yekan Bakh" pitchFamily="2" charset="-78"/>
                    <a:cs typeface="Yekan Bakh" pitchFamily="2" charset="-78"/>
                  </a:rPr>
                  <a:t>نام</a:t>
                </a:r>
                <a:r>
                  <a:rPr kumimoji="0" lang="en-US" sz="8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 </a:t>
                </a:r>
                <a:r>
                  <a:rPr kumimoji="0" lang="en-US" sz="800" b="0" i="0" u="none" strike="noStrike" kern="1200" cap="none" spc="0" normalizeH="0" baseline="0" noProof="0" dirty="0" err="1">
                    <a:ln>
                      <a:noFill/>
                    </a:ln>
                    <a:solidFill>
                      <a:prstClr val="black">
                        <a:lumMod val="75000"/>
                        <a:lumOff val="25000"/>
                      </a:prstClr>
                    </a:solidFill>
                    <a:effectLst/>
                    <a:uLnTx/>
                    <a:uFillTx/>
                    <a:latin typeface="Yekan Bakh" pitchFamily="2" charset="-78"/>
                    <a:ea typeface="Yekan Bakh" pitchFamily="2" charset="-78"/>
                    <a:cs typeface="Yekan Bakh" pitchFamily="2" charset="-78"/>
                  </a:rPr>
                  <a:t>شما</a:t>
                </a:r>
                <a:r>
                  <a:rPr kumimoji="0" lang="en-US" sz="8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 </a:t>
                </a:r>
                <a:r>
                  <a:rPr kumimoji="0" lang="en-US" sz="800" b="0" i="0" u="none" strike="noStrike" kern="1200" cap="none" spc="0" normalizeH="0" baseline="0" noProof="0" dirty="0" err="1">
                    <a:ln>
                      <a:noFill/>
                    </a:ln>
                    <a:solidFill>
                      <a:prstClr val="black">
                        <a:lumMod val="75000"/>
                        <a:lumOff val="25000"/>
                      </a:prstClr>
                    </a:solidFill>
                    <a:effectLst/>
                    <a:uLnTx/>
                    <a:uFillTx/>
                    <a:latin typeface="Yekan Bakh" pitchFamily="2" charset="-78"/>
                    <a:ea typeface="Yekan Bakh" pitchFamily="2" charset="-78"/>
                    <a:cs typeface="Yekan Bakh" pitchFamily="2" charset="-78"/>
                  </a:rPr>
                  <a:t>به</a:t>
                </a:r>
                <a:r>
                  <a:rPr kumimoji="0" lang="en-US" sz="8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 </a:t>
                </a:r>
                <a:r>
                  <a:rPr kumimoji="0" lang="en-US" sz="800" b="0" i="0" u="none" strike="noStrike" kern="1200" cap="none" spc="0" normalizeH="0" baseline="0" noProof="0" dirty="0" err="1">
                    <a:ln>
                      <a:noFill/>
                    </a:ln>
                    <a:solidFill>
                      <a:prstClr val="black">
                        <a:lumMod val="75000"/>
                        <a:lumOff val="25000"/>
                      </a:prstClr>
                    </a:solidFill>
                    <a:effectLst/>
                    <a:uLnTx/>
                    <a:uFillTx/>
                    <a:latin typeface="Yekan Bakh" pitchFamily="2" charset="-78"/>
                    <a:ea typeface="Yekan Bakh" pitchFamily="2" charset="-78"/>
                    <a:cs typeface="Yekan Bakh" pitchFamily="2" charset="-78"/>
                  </a:rPr>
                  <a:t>یک</a:t>
                </a:r>
                <a:r>
                  <a:rPr kumimoji="0" lang="en-US" sz="8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 </a:t>
                </a:r>
                <a:r>
                  <a:rPr kumimoji="0" lang="en-US" sz="800" b="0" i="0" u="none" strike="noStrike" kern="1200" cap="none" spc="0" normalizeH="0" baseline="0" noProof="0" dirty="0" err="1">
                    <a:ln>
                      <a:noFill/>
                    </a:ln>
                    <a:solidFill>
                      <a:prstClr val="black">
                        <a:lumMod val="75000"/>
                        <a:lumOff val="25000"/>
                      </a:prstClr>
                    </a:solidFill>
                    <a:effectLst/>
                    <a:uLnTx/>
                    <a:uFillTx/>
                    <a:latin typeface="Yekan Bakh" pitchFamily="2" charset="-78"/>
                    <a:ea typeface="Yekan Bakh" pitchFamily="2" charset="-78"/>
                    <a:cs typeface="Yekan Bakh" pitchFamily="2" charset="-78"/>
                  </a:rPr>
                  <a:t>چیز</a:t>
                </a:r>
                <a:r>
                  <a:rPr kumimoji="0" lang="en-US" sz="8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 </a:t>
                </a:r>
                <a:r>
                  <a:rPr kumimoji="0" lang="en-US" sz="800" b="0" i="0" u="none" strike="noStrike" kern="1200" cap="none" spc="0" normalizeH="0" baseline="0" noProof="0" dirty="0" err="1">
                    <a:ln>
                      <a:noFill/>
                    </a:ln>
                    <a:solidFill>
                      <a:prstClr val="black">
                        <a:lumMod val="75000"/>
                        <a:lumOff val="25000"/>
                      </a:prstClr>
                    </a:solidFill>
                    <a:effectLst/>
                    <a:uLnTx/>
                    <a:uFillTx/>
                    <a:latin typeface="Yekan Bakh" pitchFamily="2" charset="-78"/>
                    <a:ea typeface="Yekan Bakh" pitchFamily="2" charset="-78"/>
                    <a:cs typeface="Yekan Bakh" pitchFamily="2" charset="-78"/>
                  </a:rPr>
                  <a:t>چسبیده</a:t>
                </a:r>
                <a:r>
                  <a:rPr kumimoji="0" lang="en-US" sz="8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 و </a:t>
                </a:r>
                <a:r>
                  <a:rPr kumimoji="0" lang="en-US" sz="800" b="0" i="0" u="none" strike="noStrike" kern="1200" cap="none" spc="0" normalizeH="0" baseline="0" noProof="0" dirty="0" err="1">
                    <a:ln>
                      <a:noFill/>
                    </a:ln>
                    <a:solidFill>
                      <a:prstClr val="black">
                        <a:lumMod val="75000"/>
                        <a:lumOff val="25000"/>
                      </a:prstClr>
                    </a:solidFill>
                    <a:effectLst/>
                    <a:uLnTx/>
                    <a:uFillTx/>
                    <a:latin typeface="Yekan Bakh" pitchFamily="2" charset="-78"/>
                    <a:ea typeface="Yekan Bakh" pitchFamily="2" charset="-78"/>
                    <a:cs typeface="Yekan Bakh" pitchFamily="2" charset="-78"/>
                  </a:rPr>
                  <a:t>ادراک</a:t>
                </a:r>
                <a:r>
                  <a:rPr kumimoji="0" lang="en-US" sz="8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 </a:t>
                </a:r>
                <a:r>
                  <a:rPr kumimoji="0" lang="en-US" sz="800" b="0" i="0" u="none" strike="noStrike" kern="1200" cap="none" spc="0" normalizeH="0" baseline="0" noProof="0" dirty="0" err="1">
                    <a:ln>
                      <a:noFill/>
                    </a:ln>
                    <a:solidFill>
                      <a:prstClr val="black">
                        <a:lumMod val="75000"/>
                        <a:lumOff val="25000"/>
                      </a:prstClr>
                    </a:solidFill>
                    <a:effectLst/>
                    <a:uLnTx/>
                    <a:uFillTx/>
                    <a:latin typeface="Yekan Bakh" pitchFamily="2" charset="-78"/>
                    <a:ea typeface="Yekan Bakh" pitchFamily="2" charset="-78"/>
                    <a:cs typeface="Yekan Bakh" pitchFamily="2" charset="-78"/>
                  </a:rPr>
                  <a:t>دیگران</a:t>
                </a:r>
                <a:r>
                  <a:rPr kumimoji="0" lang="en-US" sz="8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 </a:t>
                </a:r>
                <a:r>
                  <a:rPr kumimoji="0" lang="en-US" sz="800" b="0" i="0" u="none" strike="noStrike" kern="1200" cap="none" spc="0" normalizeH="0" baseline="0" noProof="0" dirty="0" err="1">
                    <a:ln>
                      <a:noFill/>
                    </a:ln>
                    <a:solidFill>
                      <a:prstClr val="black">
                        <a:lumMod val="75000"/>
                        <a:lumOff val="25000"/>
                      </a:prstClr>
                    </a:solidFill>
                    <a:effectLst/>
                    <a:uLnTx/>
                    <a:uFillTx/>
                    <a:latin typeface="Yekan Bakh" pitchFamily="2" charset="-78"/>
                    <a:ea typeface="Yekan Bakh" pitchFamily="2" charset="-78"/>
                    <a:cs typeface="Yekan Bakh" pitchFamily="2" charset="-78"/>
                  </a:rPr>
                  <a:t>را</a:t>
                </a:r>
                <a:r>
                  <a:rPr kumimoji="0" lang="en-US" sz="8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 </a:t>
                </a:r>
                <a:r>
                  <a:rPr kumimoji="0" lang="en-US" sz="800" b="0" i="0" u="none" strike="noStrike" kern="1200" cap="none" spc="0" normalizeH="0" baseline="0" noProof="0" dirty="0" err="1">
                    <a:ln>
                      <a:noFill/>
                    </a:ln>
                    <a:solidFill>
                      <a:prstClr val="black">
                        <a:lumMod val="75000"/>
                        <a:lumOff val="25000"/>
                      </a:prstClr>
                    </a:solidFill>
                    <a:effectLst/>
                    <a:uLnTx/>
                    <a:uFillTx/>
                    <a:latin typeface="Yekan Bakh" pitchFamily="2" charset="-78"/>
                    <a:ea typeface="Yekan Bakh" pitchFamily="2" charset="-78"/>
                    <a:cs typeface="Yekan Bakh" pitchFamily="2" charset="-78"/>
                  </a:rPr>
                  <a:t>نسبت</a:t>
                </a:r>
                <a:r>
                  <a:rPr kumimoji="0" lang="en-US" sz="8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 </a:t>
                </a:r>
                <a:r>
                  <a:rPr kumimoji="0" lang="en-US" sz="800" b="0" i="0" u="none" strike="noStrike" kern="1200" cap="none" spc="0" normalizeH="0" baseline="0" noProof="0" dirty="0" err="1">
                    <a:ln>
                      <a:noFill/>
                    </a:ln>
                    <a:solidFill>
                      <a:prstClr val="black">
                        <a:lumMod val="75000"/>
                        <a:lumOff val="25000"/>
                      </a:prstClr>
                    </a:solidFill>
                    <a:effectLst/>
                    <a:uLnTx/>
                    <a:uFillTx/>
                    <a:latin typeface="Yekan Bakh" pitchFamily="2" charset="-78"/>
                    <a:ea typeface="Yekan Bakh" pitchFamily="2" charset="-78"/>
                    <a:cs typeface="Yekan Bakh" pitchFamily="2" charset="-78"/>
                  </a:rPr>
                  <a:t>به</a:t>
                </a:r>
                <a:r>
                  <a:rPr kumimoji="0" lang="en-US" sz="8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 </a:t>
                </a:r>
                <a:r>
                  <a:rPr kumimoji="0" lang="en-US" sz="800" b="0" i="0" u="none" strike="noStrike" kern="1200" cap="none" spc="0" normalizeH="0" baseline="0" noProof="0" dirty="0" err="1">
                    <a:ln>
                      <a:noFill/>
                    </a:ln>
                    <a:solidFill>
                      <a:prstClr val="black">
                        <a:lumMod val="75000"/>
                        <a:lumOff val="25000"/>
                      </a:prstClr>
                    </a:solidFill>
                    <a:effectLst/>
                    <a:uLnTx/>
                    <a:uFillTx/>
                    <a:latin typeface="Yekan Bakh" pitchFamily="2" charset="-78"/>
                    <a:ea typeface="Yekan Bakh" pitchFamily="2" charset="-78"/>
                    <a:cs typeface="Yekan Bakh" pitchFamily="2" charset="-78"/>
                  </a:rPr>
                  <a:t>آن</a:t>
                </a:r>
                <a:r>
                  <a:rPr kumimoji="0" lang="en-US" sz="8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 </a:t>
                </a:r>
                <a:r>
                  <a:rPr kumimoji="0" lang="en-US" sz="800" b="0" i="0" u="none" strike="noStrike" kern="1200" cap="none" spc="0" normalizeH="0" baseline="0" noProof="0" dirty="0" err="1">
                    <a:ln>
                      <a:noFill/>
                    </a:ln>
                    <a:solidFill>
                      <a:prstClr val="black">
                        <a:lumMod val="75000"/>
                        <a:lumOff val="25000"/>
                      </a:prstClr>
                    </a:solidFill>
                    <a:effectLst/>
                    <a:uLnTx/>
                    <a:uFillTx/>
                    <a:latin typeface="Yekan Bakh" pitchFamily="2" charset="-78"/>
                    <a:ea typeface="Yekan Bakh" pitchFamily="2" charset="-78"/>
                    <a:cs typeface="Yekan Bakh" pitchFamily="2" charset="-78"/>
                  </a:rPr>
                  <a:t>تغییر</a:t>
                </a:r>
                <a:r>
                  <a:rPr kumimoji="0" lang="en-US" sz="8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 </a:t>
                </a:r>
                <a:r>
                  <a:rPr kumimoji="0" lang="en-US" sz="800" b="0" i="0" u="none" strike="noStrike" kern="1200" cap="none" spc="0" normalizeH="0" baseline="0" noProof="0" dirty="0" err="1">
                    <a:ln>
                      <a:noFill/>
                    </a:ln>
                    <a:solidFill>
                      <a:prstClr val="black">
                        <a:lumMod val="75000"/>
                        <a:lumOff val="25000"/>
                      </a:prstClr>
                    </a:solidFill>
                    <a:effectLst/>
                    <a:uLnTx/>
                    <a:uFillTx/>
                    <a:latin typeface="Yekan Bakh" pitchFamily="2" charset="-78"/>
                    <a:ea typeface="Yekan Bakh" pitchFamily="2" charset="-78"/>
                    <a:cs typeface="Yekan Bakh" pitchFamily="2" charset="-78"/>
                  </a:rPr>
                  <a:t>می‌دهد</a:t>
                </a:r>
                <a:r>
                  <a:rPr kumimoji="0" lang="en-US" sz="8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 </a:t>
                </a:r>
                <a:r>
                  <a:rPr kumimoji="0" lang="en-US" sz="800" b="0" i="0" u="none" strike="noStrike" kern="1200" cap="none" spc="0" normalizeH="0" baseline="0" noProof="0" dirty="0" err="1">
                    <a:ln>
                      <a:noFill/>
                    </a:ln>
                    <a:solidFill>
                      <a:prstClr val="black">
                        <a:lumMod val="75000"/>
                        <a:lumOff val="25000"/>
                      </a:prstClr>
                    </a:solidFill>
                    <a:effectLst/>
                    <a:uLnTx/>
                    <a:uFillTx/>
                    <a:latin typeface="Yekan Bakh" pitchFamily="2" charset="-78"/>
                    <a:ea typeface="Yekan Bakh" pitchFamily="2" charset="-78"/>
                    <a:cs typeface="Yekan Bakh" pitchFamily="2" charset="-78"/>
                  </a:rPr>
                  <a:t>شرکت</a:t>
                </a:r>
                <a:r>
                  <a:rPr kumimoji="0" lang="en-US" sz="8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 </a:t>
                </a:r>
                <a:r>
                  <a:rPr kumimoji="0" lang="en-US" sz="800" b="0" i="0" u="none" strike="noStrike" kern="1200" cap="none" spc="0" normalizeH="0" baseline="0" noProof="0" dirty="0" err="1">
                    <a:ln>
                      <a:noFill/>
                    </a:ln>
                    <a:solidFill>
                      <a:prstClr val="black">
                        <a:lumMod val="75000"/>
                        <a:lumOff val="25000"/>
                      </a:prstClr>
                    </a:solidFill>
                    <a:effectLst/>
                    <a:uLnTx/>
                    <a:uFillTx/>
                    <a:latin typeface="Yekan Bakh" pitchFamily="2" charset="-78"/>
                    <a:ea typeface="Yekan Bakh" pitchFamily="2" charset="-78"/>
                    <a:cs typeface="Yekan Bakh" pitchFamily="2" charset="-78"/>
                  </a:rPr>
                  <a:t>خارجی</a:t>
                </a:r>
                <a:r>
                  <a:rPr kumimoji="0" lang="en-US" sz="8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 </a:t>
                </a:r>
                <a:r>
                  <a:rPr kumimoji="0" lang="en-US" sz="800" b="0" i="0" u="none" strike="noStrike" kern="1200" cap="none" spc="0" normalizeH="0" baseline="0" noProof="0" dirty="0" err="1">
                    <a:ln>
                      <a:noFill/>
                    </a:ln>
                    <a:solidFill>
                      <a:prstClr val="black">
                        <a:lumMod val="75000"/>
                        <a:lumOff val="25000"/>
                      </a:prstClr>
                    </a:solidFill>
                    <a:effectLst/>
                    <a:uLnTx/>
                    <a:uFillTx/>
                    <a:latin typeface="Yekan Bakh" pitchFamily="2" charset="-78"/>
                    <a:ea typeface="Yekan Bakh" pitchFamily="2" charset="-78"/>
                    <a:cs typeface="Yekan Bakh" pitchFamily="2" charset="-78"/>
                  </a:rPr>
                  <a:t>که</a:t>
                </a:r>
                <a:r>
                  <a:rPr kumimoji="0" lang="en-US" sz="8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 </a:t>
                </a:r>
                <a:r>
                  <a:rPr kumimoji="0" lang="en-US" sz="800" b="0" i="0" u="none" strike="noStrike" kern="1200" cap="none" spc="0" normalizeH="0" baseline="0" noProof="0" dirty="0" err="1">
                    <a:ln>
                      <a:noFill/>
                    </a:ln>
                    <a:solidFill>
                      <a:prstClr val="black">
                        <a:lumMod val="75000"/>
                        <a:lumOff val="25000"/>
                      </a:prstClr>
                    </a:solidFill>
                    <a:effectLst/>
                    <a:uLnTx/>
                    <a:uFillTx/>
                    <a:latin typeface="Yekan Bakh" pitchFamily="2" charset="-78"/>
                    <a:ea typeface="Yekan Bakh" pitchFamily="2" charset="-78"/>
                    <a:cs typeface="Yekan Bakh" pitchFamily="2" charset="-78"/>
                  </a:rPr>
                  <a:t>با</a:t>
                </a:r>
                <a:r>
                  <a:rPr kumimoji="0" lang="en-US" sz="8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 </a:t>
                </a:r>
                <a:r>
                  <a:rPr kumimoji="0" lang="en-US" sz="800" b="0" i="0" u="none" strike="noStrike" kern="1200" cap="none" spc="0" normalizeH="0" baseline="0" noProof="0" dirty="0" err="1">
                    <a:ln>
                      <a:noFill/>
                    </a:ln>
                    <a:solidFill>
                      <a:prstClr val="black">
                        <a:lumMod val="75000"/>
                        <a:lumOff val="25000"/>
                      </a:prstClr>
                    </a:solidFill>
                    <a:effectLst/>
                    <a:uLnTx/>
                    <a:uFillTx/>
                    <a:latin typeface="Yekan Bakh" pitchFamily="2" charset="-78"/>
                    <a:ea typeface="Yekan Bakh" pitchFamily="2" charset="-78"/>
                    <a:cs typeface="Yekan Bakh" pitchFamily="2" charset="-78"/>
                  </a:rPr>
                  <a:t>شما</a:t>
                </a:r>
                <a:r>
                  <a:rPr kumimoji="0" lang="en-US" sz="8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 </a:t>
                </a:r>
                <a:r>
                  <a:rPr kumimoji="0" lang="en-US" sz="800" b="0" i="0" u="none" strike="noStrike" kern="1200" cap="none" spc="0" normalizeH="0" baseline="0" noProof="0" dirty="0" err="1">
                    <a:ln>
                      <a:noFill/>
                    </a:ln>
                    <a:solidFill>
                      <a:prstClr val="black">
                        <a:lumMod val="75000"/>
                        <a:lumOff val="25000"/>
                      </a:prstClr>
                    </a:solidFill>
                    <a:effectLst/>
                    <a:uLnTx/>
                    <a:uFillTx/>
                    <a:latin typeface="Yekan Bakh" pitchFamily="2" charset="-78"/>
                    <a:ea typeface="Yekan Bakh" pitchFamily="2" charset="-78"/>
                    <a:cs typeface="Yekan Bakh" pitchFamily="2" charset="-78"/>
                  </a:rPr>
                  <a:t>شریک</a:t>
                </a:r>
                <a:r>
                  <a:rPr kumimoji="0" lang="en-US" sz="8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 </a:t>
                </a:r>
                <a:r>
                  <a:rPr kumimoji="0" lang="en-US" sz="800" b="0" i="0" u="none" strike="noStrike" kern="1200" cap="none" spc="0" normalizeH="0" baseline="0" noProof="0" dirty="0" err="1">
                    <a:ln>
                      <a:noFill/>
                    </a:ln>
                    <a:solidFill>
                      <a:prstClr val="black">
                        <a:lumMod val="75000"/>
                        <a:lumOff val="25000"/>
                      </a:prstClr>
                    </a:solidFill>
                    <a:effectLst/>
                    <a:uLnTx/>
                    <a:uFillTx/>
                    <a:latin typeface="Yekan Bakh" pitchFamily="2" charset="-78"/>
                    <a:ea typeface="Yekan Bakh" pitchFamily="2" charset="-78"/>
                    <a:cs typeface="Yekan Bakh" pitchFamily="2" charset="-78"/>
                  </a:rPr>
                  <a:t>می‌شود</a:t>
                </a:r>
                <a:r>
                  <a:rPr kumimoji="0" lang="en-US" sz="8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 </a:t>
                </a:r>
                <a:r>
                  <a:rPr kumimoji="0" lang="en-US" sz="800" b="0" i="0" u="none" strike="noStrike" kern="1200" cap="none" spc="0" normalizeH="0" baseline="0" noProof="0" dirty="0" err="1">
                    <a:ln>
                      <a:noFill/>
                    </a:ln>
                    <a:solidFill>
                      <a:prstClr val="black">
                        <a:lumMod val="75000"/>
                        <a:lumOff val="25000"/>
                      </a:prstClr>
                    </a:solidFill>
                    <a:effectLst/>
                    <a:uLnTx/>
                    <a:uFillTx/>
                    <a:latin typeface="Yekan Bakh" pitchFamily="2" charset="-78"/>
                    <a:ea typeface="Yekan Bakh" pitchFamily="2" charset="-78"/>
                    <a:cs typeface="Yekan Bakh" pitchFamily="2" charset="-78"/>
                  </a:rPr>
                  <a:t>نزد</a:t>
                </a:r>
                <a:r>
                  <a:rPr kumimoji="0" lang="en-US" sz="8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 </a:t>
                </a:r>
                <a:r>
                  <a:rPr kumimoji="0" lang="en-US" sz="800" b="0" i="0" u="none" strike="noStrike" kern="1200" cap="none" spc="0" normalizeH="0" baseline="0" noProof="0" dirty="0" err="1">
                    <a:ln>
                      <a:noFill/>
                    </a:ln>
                    <a:solidFill>
                      <a:prstClr val="black">
                        <a:lumMod val="75000"/>
                        <a:lumOff val="25000"/>
                      </a:prstClr>
                    </a:solidFill>
                    <a:effectLst/>
                    <a:uLnTx/>
                    <a:uFillTx/>
                    <a:latin typeface="Yekan Bakh" pitchFamily="2" charset="-78"/>
                    <a:ea typeface="Yekan Bakh" pitchFamily="2" charset="-78"/>
                    <a:cs typeface="Yekan Bakh" pitchFamily="2" charset="-78"/>
                  </a:rPr>
                  <a:t>رگولاتور</a:t>
                </a:r>
                <a:r>
                  <a:rPr kumimoji="0" lang="en-US" sz="8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 </a:t>
                </a:r>
                <a:r>
                  <a:rPr kumimoji="0" lang="en-US" sz="800" b="0" i="0" u="none" strike="noStrike" kern="1200" cap="none" spc="0" normalizeH="0" baseline="0" noProof="0" dirty="0" err="1">
                    <a:ln>
                      <a:noFill/>
                    </a:ln>
                    <a:solidFill>
                      <a:prstClr val="black">
                        <a:lumMod val="75000"/>
                        <a:lumOff val="25000"/>
                      </a:prstClr>
                    </a:solidFill>
                    <a:effectLst/>
                    <a:uLnTx/>
                    <a:uFillTx/>
                    <a:latin typeface="Yekan Bakh" pitchFamily="2" charset="-78"/>
                    <a:ea typeface="Yekan Bakh" pitchFamily="2" charset="-78"/>
                    <a:cs typeface="Yekan Bakh" pitchFamily="2" charset="-78"/>
                  </a:rPr>
                  <a:t>بانک</a:t>
                </a:r>
                <a:r>
                  <a:rPr kumimoji="0" lang="en-US" sz="8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 و </a:t>
                </a:r>
                <a:r>
                  <a:rPr kumimoji="0" lang="en-US" sz="800" b="0" i="0" u="none" strike="noStrike" kern="1200" cap="none" spc="0" normalizeH="0" baseline="0" noProof="0" dirty="0" err="1">
                    <a:ln>
                      <a:noFill/>
                    </a:ln>
                    <a:solidFill>
                      <a:prstClr val="black">
                        <a:lumMod val="75000"/>
                        <a:lumOff val="25000"/>
                      </a:prstClr>
                    </a:solidFill>
                    <a:effectLst/>
                    <a:uLnTx/>
                    <a:uFillTx/>
                    <a:latin typeface="Yekan Bakh" pitchFamily="2" charset="-78"/>
                    <a:ea typeface="Yekan Bakh" pitchFamily="2" charset="-78"/>
                    <a:cs typeface="Yekan Bakh" pitchFamily="2" charset="-78"/>
                  </a:rPr>
                  <a:t>شرکای</a:t>
                </a:r>
                <a:r>
                  <a:rPr kumimoji="0" lang="en-US" sz="8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 </a:t>
                </a:r>
                <a:r>
                  <a:rPr kumimoji="0" lang="en-US" sz="800" b="0" i="0" u="none" strike="noStrike" kern="1200" cap="none" spc="0" normalizeH="0" baseline="0" noProof="0" dirty="0" err="1">
                    <a:ln>
                      <a:noFill/>
                    </a:ln>
                    <a:solidFill>
                      <a:prstClr val="black">
                        <a:lumMod val="75000"/>
                        <a:lumOff val="25000"/>
                      </a:prstClr>
                    </a:solidFill>
                    <a:effectLst/>
                    <a:uLnTx/>
                    <a:uFillTx/>
                    <a:latin typeface="Yekan Bakh" pitchFamily="2" charset="-78"/>
                    <a:ea typeface="Yekan Bakh" pitchFamily="2" charset="-78"/>
                    <a:cs typeface="Yekan Bakh" pitchFamily="2" charset="-78"/>
                  </a:rPr>
                  <a:t>محل</a:t>
                </a:r>
                <a:r>
                  <a:rPr kumimoji="0" lang="fa-IR" sz="8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ی </a:t>
                </a:r>
                <a:r>
                  <a:rPr kumimoji="0" lang="en-US" sz="8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»ت</a:t>
                </a:r>
                <a:r>
                  <a:rPr kumimoji="0" lang="fa-IR" sz="8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ا</a:t>
                </a:r>
                <a:r>
                  <a:rPr kumimoji="0" lang="en-US" sz="800" b="0" i="0" u="none" strike="noStrike" kern="1200" cap="none" spc="0" normalizeH="0" baseline="0" noProof="0" dirty="0" err="1">
                    <a:ln>
                      <a:noFill/>
                    </a:ln>
                    <a:solidFill>
                      <a:prstClr val="black">
                        <a:lumMod val="75000"/>
                        <a:lumOff val="25000"/>
                      </a:prstClr>
                    </a:solidFill>
                    <a:effectLst/>
                    <a:uLnTx/>
                    <a:uFillTx/>
                    <a:latin typeface="Yekan Bakh" pitchFamily="2" charset="-78"/>
                    <a:ea typeface="Yekan Bakh" pitchFamily="2" charset="-78"/>
                    <a:cs typeface="Yekan Bakh" pitchFamily="2" charset="-78"/>
                  </a:rPr>
                  <a:t>ییدشده</a:t>
                </a:r>
                <a:r>
                  <a:rPr kumimoji="0" lang="en-US" sz="8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a:t>
                </a:r>
                <a:r>
                  <a:rPr kumimoji="0" lang="fa-IR" sz="8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 ت</a:t>
                </a:r>
                <a:r>
                  <a:rPr kumimoji="0" lang="en-US" sz="800" b="0" i="0" u="none" strike="noStrike" kern="1200" cap="none" spc="0" normalizeH="0" baseline="0" noProof="0" dirty="0" err="1">
                    <a:ln>
                      <a:noFill/>
                    </a:ln>
                    <a:solidFill>
                      <a:prstClr val="black">
                        <a:lumMod val="75000"/>
                        <a:lumOff val="25000"/>
                      </a:prstClr>
                    </a:solidFill>
                    <a:effectLst/>
                    <a:uLnTx/>
                    <a:uFillTx/>
                    <a:latin typeface="Yekan Bakh" pitchFamily="2" charset="-78"/>
                    <a:ea typeface="Yekan Bakh" pitchFamily="2" charset="-78"/>
                    <a:cs typeface="Yekan Bakh" pitchFamily="2" charset="-78"/>
                  </a:rPr>
                  <a:t>لقی</a:t>
                </a:r>
                <a:r>
                  <a:rPr kumimoji="0" lang="en-US" sz="8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 </a:t>
                </a:r>
                <a:r>
                  <a:rPr kumimoji="0" lang="en-US" sz="800" b="0" i="0" u="none" strike="noStrike" kern="1200" cap="none" spc="0" normalizeH="0" baseline="0" noProof="0" dirty="0" err="1">
                    <a:ln>
                      <a:noFill/>
                    </a:ln>
                    <a:solidFill>
                      <a:prstClr val="black">
                        <a:lumMod val="75000"/>
                        <a:lumOff val="25000"/>
                      </a:prstClr>
                    </a:solidFill>
                    <a:effectLst/>
                    <a:uLnTx/>
                    <a:uFillTx/>
                    <a:latin typeface="Yekan Bakh" pitchFamily="2" charset="-78"/>
                    <a:ea typeface="Yekan Bakh" pitchFamily="2" charset="-78"/>
                    <a:cs typeface="Yekan Bakh" pitchFamily="2" charset="-78"/>
                  </a:rPr>
                  <a:t>می‌شود</a:t>
                </a:r>
                <a:r>
                  <a:rPr kumimoji="0" lang="en-US" sz="8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a:t>
                </a:r>
                <a:endParaRPr kumimoji="0" lang="fa-IR" sz="8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a:p>
                <a:pPr marL="0" marR="0" lvl="0" indent="0" algn="r" defTabSz="457200" rtl="1"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err="1">
                    <a:ln>
                      <a:noFill/>
                    </a:ln>
                    <a:solidFill>
                      <a:prstClr val="black">
                        <a:lumMod val="65000"/>
                        <a:lumOff val="35000"/>
                      </a:prstClr>
                    </a:solidFill>
                    <a:effectLst/>
                    <a:uLnTx/>
                    <a:uFillTx/>
                    <a:latin typeface="Yekan Bakh" pitchFamily="2" charset="-78"/>
                    <a:ea typeface="Yekan Bakh" pitchFamily="2" charset="-78"/>
                    <a:cs typeface="Yekan Bakh" pitchFamily="2" charset="-78"/>
                  </a:rPr>
                  <a:t>محصول</a:t>
                </a:r>
                <a:r>
                  <a:rPr kumimoji="0" lang="en-US" sz="800" b="1"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a:t>
                </a:r>
                <a:r>
                  <a:rPr kumimoji="0" lang="en-US" sz="8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 </a:t>
                </a:r>
                <a:r>
                  <a:rPr kumimoji="0" lang="en-US" sz="800" b="0" i="0" u="none" strike="noStrike" kern="1200" cap="none" spc="0" normalizeH="0" baseline="0" noProof="0" dirty="0" err="1">
                    <a:ln>
                      <a:noFill/>
                    </a:ln>
                    <a:solidFill>
                      <a:prstClr val="black">
                        <a:lumMod val="65000"/>
                        <a:lumOff val="35000"/>
                      </a:prstClr>
                    </a:solidFill>
                    <a:effectLst/>
                    <a:uLnTx/>
                    <a:uFillTx/>
                    <a:latin typeface="Yekan Bakh" pitchFamily="2" charset="-78"/>
                    <a:ea typeface="Yekan Bakh" pitchFamily="2" charset="-78"/>
                    <a:cs typeface="Yekan Bakh" pitchFamily="2" charset="-78"/>
                  </a:rPr>
                  <a:t>مشروعیت</a:t>
                </a:r>
                <a:endParaRPr kumimoji="0" lang="fa-IR" sz="8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endParaRPr>
              </a:p>
              <a:p>
                <a:pPr marL="0" marR="0" lvl="0" indent="0" algn="r" defTabSz="457200" rtl="1"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err="1">
                    <a:ln>
                      <a:noFill/>
                    </a:ln>
                    <a:solidFill>
                      <a:prstClr val="black">
                        <a:lumMod val="65000"/>
                        <a:lumOff val="35000"/>
                      </a:prstClr>
                    </a:solidFill>
                    <a:effectLst/>
                    <a:uLnTx/>
                    <a:uFillTx/>
                    <a:latin typeface="Yekan Bakh" pitchFamily="2" charset="-78"/>
                    <a:ea typeface="Yekan Bakh" pitchFamily="2" charset="-78"/>
                    <a:cs typeface="Yekan Bakh" pitchFamily="2" charset="-78"/>
                  </a:rPr>
                  <a:t>ابزار</a:t>
                </a:r>
                <a:r>
                  <a:rPr kumimoji="0" lang="en-US" sz="800" b="1"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a:t>
                </a:r>
                <a:r>
                  <a:rPr kumimoji="0" lang="fa-IR" sz="8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 </a:t>
                </a:r>
                <a:r>
                  <a:rPr kumimoji="0" lang="en-US" sz="800" b="0" i="0" u="none" strike="noStrike" kern="1200" cap="none" spc="0" normalizeH="0" baseline="0" noProof="0" dirty="0" err="1">
                    <a:ln>
                      <a:noFill/>
                    </a:ln>
                    <a:solidFill>
                      <a:prstClr val="black">
                        <a:lumMod val="65000"/>
                        <a:lumOff val="35000"/>
                      </a:prstClr>
                    </a:solidFill>
                    <a:effectLst/>
                    <a:uLnTx/>
                    <a:uFillTx/>
                    <a:latin typeface="Yekan Bakh" pitchFamily="2" charset="-78"/>
                    <a:ea typeface="Yekan Bakh" pitchFamily="2" charset="-78"/>
                    <a:cs typeface="Yekan Bakh" pitchFamily="2" charset="-78"/>
                  </a:rPr>
                  <a:t>کرسی</a:t>
                </a:r>
                <a:r>
                  <a:rPr kumimoji="0" lang="en-US" sz="8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 </a:t>
                </a:r>
                <a:r>
                  <a:rPr kumimoji="0" lang="en-US" sz="800" b="0" i="0" u="none" strike="noStrike" kern="1200" cap="none" spc="0" normalizeH="0" baseline="0" noProof="0" dirty="0" err="1">
                    <a:ln>
                      <a:noFill/>
                    </a:ln>
                    <a:solidFill>
                      <a:prstClr val="black">
                        <a:lumMod val="65000"/>
                        <a:lumOff val="35000"/>
                      </a:prstClr>
                    </a:solidFill>
                    <a:effectLst/>
                    <a:uLnTx/>
                    <a:uFillTx/>
                    <a:latin typeface="Yekan Bakh" pitchFamily="2" charset="-78"/>
                    <a:ea typeface="Yekan Bakh" pitchFamily="2" charset="-78"/>
                    <a:cs typeface="Yekan Bakh" pitchFamily="2" charset="-78"/>
                  </a:rPr>
                  <a:t>هیئت‌مدیره</a:t>
                </a:r>
                <a:r>
                  <a:rPr kumimoji="0" lang="en-US" sz="8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 </a:t>
                </a:r>
                <a:r>
                  <a:rPr kumimoji="0" lang="en-US" sz="800" b="0" i="0" u="none" strike="noStrike" kern="1200" cap="none" spc="0" normalizeH="0" baseline="0" noProof="0" dirty="0" err="1">
                    <a:ln>
                      <a:noFill/>
                    </a:ln>
                    <a:solidFill>
                      <a:prstClr val="black">
                        <a:lumMod val="65000"/>
                        <a:lumOff val="35000"/>
                      </a:prstClr>
                    </a:solidFill>
                    <a:effectLst/>
                    <a:uLnTx/>
                    <a:uFillTx/>
                    <a:latin typeface="Yekan Bakh" pitchFamily="2" charset="-78"/>
                    <a:ea typeface="Yekan Bakh" pitchFamily="2" charset="-78"/>
                    <a:cs typeface="Yekan Bakh" pitchFamily="2" charset="-78"/>
                  </a:rPr>
                  <a:t>امضای</a:t>
                </a:r>
                <a:r>
                  <a:rPr kumimoji="0" lang="en-US" sz="8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 </a:t>
                </a:r>
                <a:r>
                  <a:rPr kumimoji="0" lang="en-US" sz="800" b="0" i="0" u="none" strike="noStrike" kern="1200" cap="none" spc="0" normalizeH="0" baseline="0" noProof="0" dirty="0" err="1">
                    <a:ln>
                      <a:noFill/>
                    </a:ln>
                    <a:solidFill>
                      <a:prstClr val="black">
                        <a:lumMod val="65000"/>
                        <a:lumOff val="35000"/>
                      </a:prstClr>
                    </a:solidFill>
                    <a:effectLst/>
                    <a:uLnTx/>
                    <a:uFillTx/>
                    <a:latin typeface="Yekan Bakh" pitchFamily="2" charset="-78"/>
                    <a:ea typeface="Yekan Bakh" pitchFamily="2" charset="-78"/>
                    <a:cs typeface="Yekan Bakh" pitchFamily="2" charset="-78"/>
                  </a:rPr>
                  <a:t>بیانیه</a:t>
                </a:r>
                <a:r>
                  <a:rPr kumimoji="0" lang="en-US" sz="8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 </a:t>
                </a:r>
                <a:r>
                  <a:rPr kumimoji="0" lang="en-US" sz="800" b="0" i="0" u="none" strike="noStrike" kern="1200" cap="none" spc="0" normalizeH="0" baseline="0" noProof="0" dirty="0" err="1">
                    <a:ln>
                      <a:noFill/>
                    </a:ln>
                    <a:solidFill>
                      <a:prstClr val="black">
                        <a:lumMod val="65000"/>
                        <a:lumOff val="35000"/>
                      </a:prstClr>
                    </a:solidFill>
                    <a:effectLst/>
                    <a:uLnTx/>
                    <a:uFillTx/>
                    <a:latin typeface="Yekan Bakh" pitchFamily="2" charset="-78"/>
                    <a:ea typeface="Yekan Bakh" pitchFamily="2" charset="-78"/>
                    <a:cs typeface="Yekan Bakh" pitchFamily="2" charset="-78"/>
                  </a:rPr>
                  <a:t>حق</a:t>
                </a:r>
                <a:r>
                  <a:rPr kumimoji="0" lang="en-US" sz="8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 </a:t>
                </a:r>
                <a:r>
                  <a:rPr kumimoji="0" lang="en-US" sz="800" b="0" i="0" u="none" strike="noStrike" kern="1200" cap="none" spc="0" normalizeH="0" baseline="0" noProof="0" dirty="0" err="1">
                    <a:ln>
                      <a:noFill/>
                    </a:ln>
                    <a:solidFill>
                      <a:prstClr val="black">
                        <a:lumMod val="65000"/>
                        <a:lumOff val="35000"/>
                      </a:prstClr>
                    </a:solidFill>
                    <a:effectLst/>
                    <a:uLnTx/>
                    <a:uFillTx/>
                    <a:latin typeface="Yekan Bakh" pitchFamily="2" charset="-78"/>
                    <a:ea typeface="Yekan Bakh" pitchFamily="2" charset="-78"/>
                    <a:cs typeface="Yekan Bakh" pitchFamily="2" charset="-78"/>
                  </a:rPr>
                  <a:t>استفاده</a:t>
                </a:r>
                <a:r>
                  <a:rPr kumimoji="0" lang="en-US" sz="8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 </a:t>
                </a:r>
                <a:r>
                  <a:rPr kumimoji="0" lang="en-US" sz="800" b="0" i="0" u="none" strike="noStrike" kern="1200" cap="none" spc="0" normalizeH="0" baseline="0" noProof="0" dirty="0" err="1">
                    <a:ln>
                      <a:noFill/>
                    </a:ln>
                    <a:solidFill>
                      <a:prstClr val="black">
                        <a:lumMod val="65000"/>
                        <a:lumOff val="35000"/>
                      </a:prstClr>
                    </a:solidFill>
                    <a:effectLst/>
                    <a:uLnTx/>
                    <a:uFillTx/>
                    <a:latin typeface="Yekan Bakh" pitchFamily="2" charset="-78"/>
                    <a:ea typeface="Yekan Bakh" pitchFamily="2" charset="-78"/>
                    <a:cs typeface="Yekan Bakh" pitchFamily="2" charset="-78"/>
                  </a:rPr>
                  <a:t>از</a:t>
                </a:r>
                <a:r>
                  <a:rPr kumimoji="0" lang="en-US" sz="8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 </a:t>
                </a:r>
                <a:r>
                  <a:rPr kumimoji="0" lang="en-US" sz="800" b="0" i="0" u="none" strike="noStrike" kern="1200" cap="none" spc="0" normalizeH="0" baseline="0" noProof="0" dirty="0" err="1">
                    <a:ln>
                      <a:noFill/>
                    </a:ln>
                    <a:solidFill>
                      <a:prstClr val="black">
                        <a:lumMod val="65000"/>
                        <a:lumOff val="35000"/>
                      </a:prstClr>
                    </a:solidFill>
                    <a:effectLst/>
                    <a:uLnTx/>
                    <a:uFillTx/>
                    <a:latin typeface="Yekan Bakh" pitchFamily="2" charset="-78"/>
                    <a:ea typeface="Yekan Bakh" pitchFamily="2" charset="-78"/>
                    <a:cs typeface="Yekan Bakh" pitchFamily="2" charset="-78"/>
                  </a:rPr>
                  <a:t>نام</a:t>
                </a:r>
                <a:r>
                  <a:rPr kumimoji="0" lang="en-US" sz="8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 </a:t>
                </a:r>
                <a:r>
                  <a:rPr kumimoji="0" lang="en-US" sz="800" b="0" i="0" u="none" strike="noStrike" kern="1200" cap="none" spc="0" normalizeH="0" baseline="0" noProof="0" dirty="0" err="1">
                    <a:ln>
                      <a:noFill/>
                    </a:ln>
                    <a:solidFill>
                      <a:prstClr val="black">
                        <a:lumMod val="65000"/>
                        <a:lumOff val="35000"/>
                      </a:prstClr>
                    </a:solidFill>
                    <a:effectLst/>
                    <a:uLnTx/>
                    <a:uFillTx/>
                    <a:latin typeface="Yekan Bakh" pitchFamily="2" charset="-78"/>
                    <a:ea typeface="Yekan Bakh" pitchFamily="2" charset="-78"/>
                    <a:cs typeface="Yekan Bakh" pitchFamily="2" charset="-78"/>
                  </a:rPr>
                  <a:t>هم‌برندی</a:t>
                </a:r>
                <a:r>
                  <a:rPr kumimoji="0" lang="en-US" sz="8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 </a:t>
                </a:r>
                <a:r>
                  <a:rPr kumimoji="0" lang="en-US" sz="800" b="0" i="0" u="none" strike="noStrike" kern="1200" cap="none" spc="0" normalizeH="0" baseline="0" noProof="0" dirty="0" err="1">
                    <a:ln>
                      <a:noFill/>
                    </a:ln>
                    <a:solidFill>
                      <a:prstClr val="black">
                        <a:lumMod val="65000"/>
                        <a:lumOff val="35000"/>
                      </a:prstClr>
                    </a:solidFill>
                    <a:effectLst/>
                    <a:uLnTx/>
                    <a:uFillTx/>
                    <a:latin typeface="Yekan Bakh" pitchFamily="2" charset="-78"/>
                    <a:ea typeface="Yekan Bakh" pitchFamily="2" charset="-78"/>
                    <a:cs typeface="Yekan Bakh" pitchFamily="2" charset="-78"/>
                  </a:rPr>
                  <a:t>عضویت</a:t>
                </a:r>
                <a:r>
                  <a:rPr kumimoji="0" lang="en-US" sz="8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 </a:t>
                </a:r>
                <a:r>
                  <a:rPr kumimoji="0" lang="en-US" sz="800" b="0" i="0" u="none" strike="noStrike" kern="1200" cap="none" spc="0" normalizeH="0" baseline="0" noProof="0" dirty="0" err="1">
                    <a:ln>
                      <a:noFill/>
                    </a:ln>
                    <a:solidFill>
                      <a:prstClr val="black">
                        <a:lumMod val="65000"/>
                        <a:lumOff val="35000"/>
                      </a:prstClr>
                    </a:solidFill>
                    <a:effectLst/>
                    <a:uLnTx/>
                    <a:uFillTx/>
                    <a:latin typeface="Yekan Bakh" pitchFamily="2" charset="-78"/>
                    <a:ea typeface="Yekan Bakh" pitchFamily="2" charset="-78"/>
                    <a:cs typeface="Yekan Bakh" pitchFamily="2" charset="-78"/>
                  </a:rPr>
                  <a:t>در</a:t>
                </a:r>
                <a:r>
                  <a:rPr kumimoji="0" lang="en-US" sz="8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 </a:t>
                </a:r>
                <a:r>
                  <a:rPr kumimoji="0" lang="en-US" sz="800" b="0" i="0" u="none" strike="noStrike" kern="1200" cap="none" spc="0" normalizeH="0" baseline="0" noProof="0" dirty="0" err="1">
                    <a:ln>
                      <a:noFill/>
                    </a:ln>
                    <a:solidFill>
                      <a:prstClr val="black">
                        <a:lumMod val="65000"/>
                        <a:lumOff val="35000"/>
                      </a:prstClr>
                    </a:solidFill>
                    <a:effectLst/>
                    <a:uLnTx/>
                    <a:uFillTx/>
                    <a:latin typeface="Yekan Bakh" pitchFamily="2" charset="-78"/>
                    <a:ea typeface="Yekan Bakh" pitchFamily="2" charset="-78"/>
                    <a:cs typeface="Yekan Bakh" pitchFamily="2" charset="-78"/>
                  </a:rPr>
                  <a:t>شورا</a:t>
                </a:r>
                <a:br>
                  <a:rPr kumimoji="0" lang="en-US" sz="8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br>
                <a:r>
                  <a:rPr kumimoji="0" lang="en-US" sz="800" b="1" i="0" u="none" strike="noStrike" kern="1200" cap="none" spc="0" normalizeH="0" baseline="0" noProof="0" dirty="0" err="1">
                    <a:ln>
                      <a:noFill/>
                    </a:ln>
                    <a:solidFill>
                      <a:prstClr val="black">
                        <a:lumMod val="65000"/>
                        <a:lumOff val="35000"/>
                      </a:prstClr>
                    </a:solidFill>
                    <a:effectLst/>
                    <a:uLnTx/>
                    <a:uFillTx/>
                    <a:latin typeface="Yekan Bakh" pitchFamily="2" charset="-78"/>
                    <a:ea typeface="Yekan Bakh" pitchFamily="2" charset="-78"/>
                    <a:cs typeface="Yekan Bakh" pitchFamily="2" charset="-78"/>
                  </a:rPr>
                  <a:t>مصرف</a:t>
                </a:r>
                <a:r>
                  <a:rPr kumimoji="0" lang="en-US" sz="800" b="1"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 </a:t>
                </a:r>
                <a:r>
                  <a:rPr kumimoji="0" lang="en-US" sz="800" b="1" i="0" u="none" strike="noStrike" kern="1200" cap="none" spc="0" normalizeH="0" baseline="0" noProof="0" dirty="0" err="1">
                    <a:ln>
                      <a:noFill/>
                    </a:ln>
                    <a:solidFill>
                      <a:prstClr val="black">
                        <a:lumMod val="65000"/>
                        <a:lumOff val="35000"/>
                      </a:prstClr>
                    </a:solidFill>
                    <a:effectLst/>
                    <a:uLnTx/>
                    <a:uFillTx/>
                    <a:latin typeface="Yekan Bakh" pitchFamily="2" charset="-78"/>
                    <a:ea typeface="Yekan Bakh" pitchFamily="2" charset="-78"/>
                    <a:cs typeface="Yekan Bakh" pitchFamily="2" charset="-78"/>
                  </a:rPr>
                  <a:t>زمان</a:t>
                </a:r>
                <a:r>
                  <a:rPr kumimoji="0" lang="fa-IR" sz="800" b="1"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a:t>
                </a:r>
                <a:r>
                  <a:rPr kumimoji="0" lang="en-US" sz="8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 </a:t>
                </a:r>
                <a:r>
                  <a:rPr kumimoji="0" lang="en-US" sz="800" b="0" i="0" u="none" strike="noStrike" kern="1200" cap="none" spc="0" normalizeH="0" baseline="0" noProof="0" dirty="0" err="1">
                    <a:ln>
                      <a:noFill/>
                    </a:ln>
                    <a:solidFill>
                      <a:prstClr val="black">
                        <a:lumMod val="65000"/>
                        <a:lumOff val="35000"/>
                      </a:prstClr>
                    </a:solidFill>
                    <a:effectLst/>
                    <a:uLnTx/>
                    <a:uFillTx/>
                    <a:latin typeface="Yekan Bakh" pitchFamily="2" charset="-78"/>
                    <a:ea typeface="Yekan Bakh" pitchFamily="2" charset="-78"/>
                    <a:cs typeface="Yekan Bakh" pitchFamily="2" charset="-78"/>
                  </a:rPr>
                  <a:t>نزدیک</a:t>
                </a:r>
                <a:r>
                  <a:rPr kumimoji="0" lang="en-US" sz="8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 </a:t>
                </a:r>
                <a:r>
                  <a:rPr kumimoji="0" lang="en-US" sz="800" b="0" i="0" u="none" strike="noStrike" kern="1200" cap="none" spc="0" normalizeH="0" baseline="0" noProof="0" dirty="0" err="1">
                    <a:ln>
                      <a:noFill/>
                    </a:ln>
                    <a:solidFill>
                      <a:prstClr val="black">
                        <a:lumMod val="65000"/>
                        <a:lumOff val="35000"/>
                      </a:prstClr>
                    </a:solidFill>
                    <a:effectLst/>
                    <a:uLnTx/>
                    <a:uFillTx/>
                    <a:latin typeface="Yekan Bakh" pitchFamily="2" charset="-78"/>
                    <a:ea typeface="Yekan Bakh" pitchFamily="2" charset="-78"/>
                    <a:cs typeface="Yekan Bakh" pitchFamily="2" charset="-78"/>
                  </a:rPr>
                  <a:t>صفر</a:t>
                </a:r>
                <a:endParaRPr kumimoji="0" lang="fa-IR" sz="8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endParaRPr>
              </a:p>
              <a:p>
                <a:pPr marL="0" marR="0" lvl="0" indent="0" algn="r" defTabSz="457200" rtl="1"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err="1">
                    <a:ln>
                      <a:noFill/>
                    </a:ln>
                    <a:solidFill>
                      <a:prstClr val="black">
                        <a:lumMod val="65000"/>
                        <a:lumOff val="35000"/>
                      </a:prstClr>
                    </a:solidFill>
                    <a:effectLst/>
                    <a:uLnTx/>
                    <a:uFillTx/>
                    <a:latin typeface="Yekan Bakh" pitchFamily="2" charset="-78"/>
                    <a:ea typeface="Yekan Bakh" pitchFamily="2" charset="-78"/>
                    <a:cs typeface="Yekan Bakh" pitchFamily="2" charset="-78"/>
                  </a:rPr>
                  <a:t>فرسایش</a:t>
                </a:r>
                <a:r>
                  <a:rPr kumimoji="0" lang="fa-IR" sz="800" b="1"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 </a:t>
                </a:r>
                <a:r>
                  <a:rPr kumimoji="0" lang="en-US" sz="800" b="1"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a:t>
                </a:r>
                <a:r>
                  <a:rPr kumimoji="0" lang="en-US" sz="800" b="0" i="0" u="none" strike="noStrike" kern="1200" cap="none" spc="0" normalizeH="0" baseline="0" noProof="0" dirty="0" err="1">
                    <a:ln>
                      <a:noFill/>
                    </a:ln>
                    <a:solidFill>
                      <a:prstClr val="black">
                        <a:lumMod val="65000"/>
                        <a:lumOff val="35000"/>
                      </a:prstClr>
                    </a:solidFill>
                    <a:effectLst/>
                    <a:uLnTx/>
                    <a:uFillTx/>
                    <a:latin typeface="Yekan Bakh" pitchFamily="2" charset="-78"/>
                    <a:ea typeface="Yekan Bakh" pitchFamily="2" charset="-78"/>
                    <a:cs typeface="Yekan Bakh" pitchFamily="2" charset="-78"/>
                  </a:rPr>
                  <a:t>بالا</a:t>
                </a:r>
                <a:r>
                  <a:rPr kumimoji="0" lang="en-US" sz="8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 </a:t>
                </a:r>
                <a:r>
                  <a:rPr kumimoji="0" lang="en-US" sz="800" b="0" i="0" u="none" strike="noStrike" kern="1200" cap="none" spc="0" normalizeH="0" baseline="0" noProof="0" dirty="0" err="1">
                    <a:ln>
                      <a:noFill/>
                    </a:ln>
                    <a:solidFill>
                      <a:prstClr val="black">
                        <a:lumMod val="65000"/>
                        <a:lumOff val="35000"/>
                      </a:prstClr>
                    </a:solidFill>
                    <a:effectLst/>
                    <a:uLnTx/>
                    <a:uFillTx/>
                    <a:latin typeface="Yekan Bakh" pitchFamily="2" charset="-78"/>
                    <a:ea typeface="Yekan Bakh" pitchFamily="2" charset="-78"/>
                    <a:cs typeface="Yekan Bakh" pitchFamily="2" charset="-78"/>
                  </a:rPr>
                  <a:t>اگر</a:t>
                </a:r>
                <a:r>
                  <a:rPr kumimoji="0" lang="en-US" sz="8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 </a:t>
                </a:r>
                <a:r>
                  <a:rPr kumimoji="0" lang="en-US" sz="800" b="0" i="0" u="none" strike="noStrike" kern="1200" cap="none" spc="0" normalizeH="0" baseline="0" noProof="0" dirty="0" err="1">
                    <a:ln>
                      <a:noFill/>
                    </a:ln>
                    <a:solidFill>
                      <a:prstClr val="black">
                        <a:lumMod val="65000"/>
                        <a:lumOff val="35000"/>
                      </a:prstClr>
                    </a:solidFill>
                    <a:effectLst/>
                    <a:uLnTx/>
                    <a:uFillTx/>
                    <a:latin typeface="Yekan Bakh" pitchFamily="2" charset="-78"/>
                    <a:ea typeface="Yekan Bakh" pitchFamily="2" charset="-78"/>
                    <a:cs typeface="Yekan Bakh" pitchFamily="2" charset="-78"/>
                  </a:rPr>
                  <a:t>بی‌حساب</a:t>
                </a:r>
                <a:r>
                  <a:rPr kumimoji="0" lang="en-US" sz="8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 </a:t>
                </a:r>
                <a:r>
                  <a:rPr kumimoji="0" lang="en-US" sz="800" b="0" i="0" u="none" strike="noStrike" kern="1200" cap="none" spc="0" normalizeH="0" baseline="0" noProof="0" dirty="0" err="1">
                    <a:ln>
                      <a:noFill/>
                    </a:ln>
                    <a:solidFill>
                      <a:prstClr val="black">
                        <a:lumMod val="65000"/>
                        <a:lumOff val="35000"/>
                      </a:prstClr>
                    </a:solidFill>
                    <a:effectLst/>
                    <a:uLnTx/>
                    <a:uFillTx/>
                    <a:latin typeface="Yekan Bakh" pitchFamily="2" charset="-78"/>
                    <a:ea typeface="Yekan Bakh" pitchFamily="2" charset="-78"/>
                    <a:cs typeface="Yekan Bakh" pitchFamily="2" charset="-78"/>
                  </a:rPr>
                  <a:t>استفاده</a:t>
                </a:r>
                <a:r>
                  <a:rPr kumimoji="0" lang="en-US" sz="8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 </a:t>
                </a:r>
                <a:r>
                  <a:rPr kumimoji="0" lang="en-US" sz="800" b="0" i="0" u="none" strike="noStrike" kern="1200" cap="none" spc="0" normalizeH="0" baseline="0" noProof="0" dirty="0" err="1">
                    <a:ln>
                      <a:noFill/>
                    </a:ln>
                    <a:solidFill>
                      <a:prstClr val="black">
                        <a:lumMod val="65000"/>
                        <a:lumOff val="35000"/>
                      </a:prstClr>
                    </a:solidFill>
                    <a:effectLst/>
                    <a:uLnTx/>
                    <a:uFillTx/>
                    <a:latin typeface="Yekan Bakh" pitchFamily="2" charset="-78"/>
                    <a:ea typeface="Yekan Bakh" pitchFamily="2" charset="-78"/>
                    <a:cs typeface="Yekan Bakh" pitchFamily="2" charset="-78"/>
                  </a:rPr>
                  <a:t>شود</a:t>
                </a:r>
                <a:endParaRPr kumimoji="0" lang="en-US" sz="8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endParaRPr>
              </a:p>
            </p:txBody>
          </p:sp>
        </p:grpSp>
        <p:grpSp>
          <p:nvGrpSpPr>
            <p:cNvPr id="20" name="Group 19">
              <a:extLst>
                <a:ext uri="{FF2B5EF4-FFF2-40B4-BE49-F238E27FC236}">
                  <a16:creationId xmlns:a16="http://schemas.microsoft.com/office/drawing/2014/main" id="{7BC157C2-ADF1-3A4A-A355-8B1490EA3648}"/>
                </a:ext>
              </a:extLst>
            </p:cNvPr>
            <p:cNvGrpSpPr/>
            <p:nvPr/>
          </p:nvGrpSpPr>
          <p:grpSpPr>
            <a:xfrm>
              <a:off x="4245448" y="2053928"/>
              <a:ext cx="3286117" cy="1638557"/>
              <a:chOff x="7957457" y="2046514"/>
              <a:chExt cx="3286117" cy="1638557"/>
            </a:xfrm>
          </p:grpSpPr>
          <p:grpSp>
            <p:nvGrpSpPr>
              <p:cNvPr id="21" name="Group 20">
                <a:extLst>
                  <a:ext uri="{FF2B5EF4-FFF2-40B4-BE49-F238E27FC236}">
                    <a16:creationId xmlns:a16="http://schemas.microsoft.com/office/drawing/2014/main" id="{5E8199F0-B575-4915-C2B6-D73361280E4A}"/>
                  </a:ext>
                </a:extLst>
              </p:cNvPr>
              <p:cNvGrpSpPr/>
              <p:nvPr/>
            </p:nvGrpSpPr>
            <p:grpSpPr>
              <a:xfrm>
                <a:off x="7957458" y="2046514"/>
                <a:ext cx="3286116" cy="1638557"/>
                <a:chOff x="7957458" y="2046514"/>
                <a:chExt cx="3286116" cy="1245167"/>
              </a:xfrm>
            </p:grpSpPr>
            <p:grpSp>
              <p:nvGrpSpPr>
                <p:cNvPr id="25" name="Group 24">
                  <a:extLst>
                    <a:ext uri="{FF2B5EF4-FFF2-40B4-BE49-F238E27FC236}">
                      <a16:creationId xmlns:a16="http://schemas.microsoft.com/office/drawing/2014/main" id="{759B623B-6090-FEF6-E1B0-4543603B8762}"/>
                    </a:ext>
                  </a:extLst>
                </p:cNvPr>
                <p:cNvGrpSpPr/>
                <p:nvPr/>
              </p:nvGrpSpPr>
              <p:grpSpPr>
                <a:xfrm rot="16200000" flipH="1">
                  <a:off x="9061384" y="1079664"/>
                  <a:ext cx="1078263" cy="3286115"/>
                  <a:chOff x="1" y="-175098"/>
                  <a:chExt cx="4551349" cy="6758461"/>
                </a:xfrm>
              </p:grpSpPr>
              <p:sp>
                <p:nvSpPr>
                  <p:cNvPr id="27" name="Freeform 8">
                    <a:extLst>
                      <a:ext uri="{FF2B5EF4-FFF2-40B4-BE49-F238E27FC236}">
                        <a16:creationId xmlns:a16="http://schemas.microsoft.com/office/drawing/2014/main" id="{DE9A0A3B-4803-65D1-9E3F-8FFBE0158762}"/>
                      </a:ext>
                    </a:extLst>
                  </p:cNvPr>
                  <p:cNvSpPr>
                    <a:spLocks/>
                  </p:cNvSpPr>
                  <p:nvPr/>
                </p:nvSpPr>
                <p:spPr bwMode="auto">
                  <a:xfrm>
                    <a:off x="1" y="-175098"/>
                    <a:ext cx="4551349" cy="6758461"/>
                  </a:xfrm>
                  <a:custGeom>
                    <a:avLst/>
                    <a:gdLst>
                      <a:gd name="T0" fmla="*/ 29066 w 30070"/>
                      <a:gd name="T1" fmla="*/ 3476 h 25517"/>
                      <a:gd name="T2" fmla="*/ 28066 w 30070"/>
                      <a:gd name="T3" fmla="*/ 5139 h 25517"/>
                      <a:gd name="T4" fmla="*/ 26800 w 30070"/>
                      <a:gd name="T5" fmla="*/ 6470 h 25517"/>
                      <a:gd name="T6" fmla="*/ 25268 w 30070"/>
                      <a:gd name="T7" fmla="*/ 7464 h 25517"/>
                      <a:gd name="T8" fmla="*/ 22959 w 30070"/>
                      <a:gd name="T9" fmla="*/ 8253 h 25517"/>
                      <a:gd name="T10" fmla="*/ 18974 w 30070"/>
                      <a:gd name="T11" fmla="*/ 8616 h 25517"/>
                      <a:gd name="T12" fmla="*/ 13442 w 30070"/>
                      <a:gd name="T13" fmla="*/ 8476 h 25517"/>
                      <a:gd name="T14" fmla="*/ 10755 w 30070"/>
                      <a:gd name="T15" fmla="*/ 8794 h 25517"/>
                      <a:gd name="T16" fmla="*/ 9204 w 30070"/>
                      <a:gd name="T17" fmla="*/ 9363 h 25517"/>
                      <a:gd name="T18" fmla="*/ 8000 w 30070"/>
                      <a:gd name="T19" fmla="*/ 10363 h 25517"/>
                      <a:gd name="T20" fmla="*/ 7718 w 30070"/>
                      <a:gd name="T21" fmla="*/ 11592 h 25517"/>
                      <a:gd name="T22" fmla="*/ 8210 w 30070"/>
                      <a:gd name="T23" fmla="*/ 12550 h 25517"/>
                      <a:gd name="T24" fmla="*/ 9282 w 30070"/>
                      <a:gd name="T25" fmla="*/ 13168 h 25517"/>
                      <a:gd name="T26" fmla="*/ 10909 w 30070"/>
                      <a:gd name="T27" fmla="*/ 13386 h 25517"/>
                      <a:gd name="T28" fmla="*/ 13641 w 30070"/>
                      <a:gd name="T29" fmla="*/ 12976 h 25517"/>
                      <a:gd name="T30" fmla="*/ 17987 w 30070"/>
                      <a:gd name="T31" fmla="*/ 11670 h 25517"/>
                      <a:gd name="T32" fmla="*/ 20239 w 30070"/>
                      <a:gd name="T33" fmla="*/ 11407 h 25517"/>
                      <a:gd name="T34" fmla="*/ 22752 w 30070"/>
                      <a:gd name="T35" fmla="*/ 12048 h 25517"/>
                      <a:gd name="T36" fmla="*/ 24667 w 30070"/>
                      <a:gd name="T37" fmla="*/ 13615 h 25517"/>
                      <a:gd name="T38" fmla="*/ 25582 w 30070"/>
                      <a:gd name="T39" fmla="*/ 15314 h 25517"/>
                      <a:gd name="T40" fmla="*/ 25771 w 30070"/>
                      <a:gd name="T41" fmla="*/ 16655 h 25517"/>
                      <a:gd name="T42" fmla="*/ 25547 w 30070"/>
                      <a:gd name="T43" fmla="*/ 18062 h 25517"/>
                      <a:gd name="T44" fmla="*/ 24345 w 30070"/>
                      <a:gd name="T45" fmla="*/ 20267 h 25517"/>
                      <a:gd name="T46" fmla="*/ 22545 w 30070"/>
                      <a:gd name="T47" fmla="*/ 21826 h 25517"/>
                      <a:gd name="T48" fmla="*/ 20527 w 30070"/>
                      <a:gd name="T49" fmla="*/ 22663 h 25517"/>
                      <a:gd name="T50" fmla="*/ 18121 w 30070"/>
                      <a:gd name="T51" fmla="*/ 22954 h 25517"/>
                      <a:gd name="T52" fmla="*/ 14451 w 30070"/>
                      <a:gd name="T53" fmla="*/ 22560 h 25517"/>
                      <a:gd name="T54" fmla="*/ 8798 w 30070"/>
                      <a:gd name="T55" fmla="*/ 21275 h 25517"/>
                      <a:gd name="T56" fmla="*/ 6225 w 30070"/>
                      <a:gd name="T57" fmla="*/ 21083 h 25517"/>
                      <a:gd name="T58" fmla="*/ 4324 w 30070"/>
                      <a:gd name="T59" fmla="*/ 21545 h 25517"/>
                      <a:gd name="T60" fmla="*/ 3165 w 30070"/>
                      <a:gd name="T61" fmla="*/ 22669 h 25517"/>
                      <a:gd name="T62" fmla="*/ 2575 w 30070"/>
                      <a:gd name="T63" fmla="*/ 24340 h 25517"/>
                      <a:gd name="T64" fmla="*/ 18 w 30070"/>
                      <a:gd name="T65" fmla="*/ 24993 h 25517"/>
                      <a:gd name="T66" fmla="*/ 546 w 30070"/>
                      <a:gd name="T67" fmla="*/ 22604 h 25517"/>
                      <a:gd name="T68" fmla="*/ 2082 w 30070"/>
                      <a:gd name="T69" fmla="*/ 20445 h 25517"/>
                      <a:gd name="T70" fmla="*/ 4559 w 30070"/>
                      <a:gd name="T71" fmla="*/ 19278 h 25517"/>
                      <a:gd name="T72" fmla="*/ 7765 w 30070"/>
                      <a:gd name="T73" fmla="*/ 19097 h 25517"/>
                      <a:gd name="T74" fmla="*/ 12609 w 30070"/>
                      <a:gd name="T75" fmla="*/ 20050 h 25517"/>
                      <a:gd name="T76" fmla="*/ 17389 w 30070"/>
                      <a:gd name="T77" fmla="*/ 20918 h 25517"/>
                      <a:gd name="T78" fmla="*/ 19470 w 30070"/>
                      <a:gd name="T79" fmla="*/ 20799 h 25517"/>
                      <a:gd name="T80" fmla="*/ 20879 w 30070"/>
                      <a:gd name="T81" fmla="*/ 20309 h 25517"/>
                      <a:gd name="T82" fmla="*/ 22060 w 30070"/>
                      <a:gd name="T83" fmla="*/ 19407 h 25517"/>
                      <a:gd name="T84" fmla="*/ 23078 w 30070"/>
                      <a:gd name="T85" fmla="*/ 17790 h 25517"/>
                      <a:gd name="T86" fmla="*/ 23233 w 30070"/>
                      <a:gd name="T87" fmla="*/ 15966 h 25517"/>
                      <a:gd name="T88" fmla="*/ 22584 w 30070"/>
                      <a:gd name="T89" fmla="*/ 14708 h 25517"/>
                      <a:gd name="T90" fmla="*/ 21438 w 30070"/>
                      <a:gd name="T91" fmla="*/ 13761 h 25517"/>
                      <a:gd name="T92" fmla="*/ 19886 w 30070"/>
                      <a:gd name="T93" fmla="*/ 13424 h 25517"/>
                      <a:gd name="T94" fmla="*/ 17425 w 30070"/>
                      <a:gd name="T95" fmla="*/ 13964 h 25517"/>
                      <a:gd name="T96" fmla="*/ 12814 w 30070"/>
                      <a:gd name="T97" fmla="*/ 15242 h 25517"/>
                      <a:gd name="T98" fmla="*/ 10450 w 30070"/>
                      <a:gd name="T99" fmla="*/ 15396 h 25517"/>
                      <a:gd name="T100" fmla="*/ 7847 w 30070"/>
                      <a:gd name="T101" fmla="*/ 14851 h 25517"/>
                      <a:gd name="T102" fmla="*/ 5965 w 30070"/>
                      <a:gd name="T103" fmla="*/ 13451 h 25517"/>
                      <a:gd name="T104" fmla="*/ 5231 w 30070"/>
                      <a:gd name="T105" fmla="*/ 11431 h 25517"/>
                      <a:gd name="T106" fmla="*/ 5424 w 30070"/>
                      <a:gd name="T107" fmla="*/ 10189 h 25517"/>
                      <a:gd name="T108" fmla="*/ 6070 w 30070"/>
                      <a:gd name="T109" fmla="*/ 9077 h 25517"/>
                      <a:gd name="T110" fmla="*/ 7318 w 30070"/>
                      <a:gd name="T111" fmla="*/ 7986 h 25517"/>
                      <a:gd name="T112" fmla="*/ 9827 w 30070"/>
                      <a:gd name="T113" fmla="*/ 6914 h 25517"/>
                      <a:gd name="T114" fmla="*/ 12889 w 30070"/>
                      <a:gd name="T115" fmla="*/ 6476 h 25517"/>
                      <a:gd name="T116" fmla="*/ 18534 w 30070"/>
                      <a:gd name="T117" fmla="*/ 6591 h 25517"/>
                      <a:gd name="T118" fmla="*/ 21917 w 30070"/>
                      <a:gd name="T119" fmla="*/ 6384 h 25517"/>
                      <a:gd name="T120" fmla="*/ 24474 w 30070"/>
                      <a:gd name="T121" fmla="*/ 5468 h 25517"/>
                      <a:gd name="T122" fmla="*/ 26398 w 30070"/>
                      <a:gd name="T123" fmla="*/ 3461 h 25517"/>
                      <a:gd name="T124" fmla="*/ 27570 w 30070"/>
                      <a:gd name="T125" fmla="*/ 304 h 25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0070" h="25517">
                        <a:moveTo>
                          <a:pt x="27633" y="0"/>
                        </a:moveTo>
                        <a:lnTo>
                          <a:pt x="30070" y="316"/>
                        </a:lnTo>
                        <a:lnTo>
                          <a:pt x="30070" y="316"/>
                        </a:lnTo>
                        <a:lnTo>
                          <a:pt x="30032" y="501"/>
                        </a:lnTo>
                        <a:lnTo>
                          <a:pt x="29994" y="684"/>
                        </a:lnTo>
                        <a:lnTo>
                          <a:pt x="29953" y="865"/>
                        </a:lnTo>
                        <a:lnTo>
                          <a:pt x="29911" y="1044"/>
                        </a:lnTo>
                        <a:lnTo>
                          <a:pt x="29866" y="1220"/>
                        </a:lnTo>
                        <a:lnTo>
                          <a:pt x="29820" y="1395"/>
                        </a:lnTo>
                        <a:lnTo>
                          <a:pt x="29773" y="1568"/>
                        </a:lnTo>
                        <a:lnTo>
                          <a:pt x="29724" y="1738"/>
                        </a:lnTo>
                        <a:lnTo>
                          <a:pt x="29672" y="1907"/>
                        </a:lnTo>
                        <a:lnTo>
                          <a:pt x="29620" y="2073"/>
                        </a:lnTo>
                        <a:lnTo>
                          <a:pt x="29565" y="2237"/>
                        </a:lnTo>
                        <a:lnTo>
                          <a:pt x="29508" y="2400"/>
                        </a:lnTo>
                        <a:lnTo>
                          <a:pt x="29451" y="2560"/>
                        </a:lnTo>
                        <a:lnTo>
                          <a:pt x="29391" y="2718"/>
                        </a:lnTo>
                        <a:lnTo>
                          <a:pt x="29329" y="2874"/>
                        </a:lnTo>
                        <a:lnTo>
                          <a:pt x="29266" y="3027"/>
                        </a:lnTo>
                        <a:lnTo>
                          <a:pt x="29234" y="3103"/>
                        </a:lnTo>
                        <a:lnTo>
                          <a:pt x="29202" y="3179"/>
                        </a:lnTo>
                        <a:lnTo>
                          <a:pt x="29168" y="3254"/>
                        </a:lnTo>
                        <a:lnTo>
                          <a:pt x="29134" y="3329"/>
                        </a:lnTo>
                        <a:lnTo>
                          <a:pt x="29101" y="3402"/>
                        </a:lnTo>
                        <a:lnTo>
                          <a:pt x="29066" y="3476"/>
                        </a:lnTo>
                        <a:lnTo>
                          <a:pt x="29032" y="3549"/>
                        </a:lnTo>
                        <a:lnTo>
                          <a:pt x="28996" y="3621"/>
                        </a:lnTo>
                        <a:lnTo>
                          <a:pt x="28960" y="3693"/>
                        </a:lnTo>
                        <a:lnTo>
                          <a:pt x="28924" y="3764"/>
                        </a:lnTo>
                        <a:lnTo>
                          <a:pt x="28888" y="3835"/>
                        </a:lnTo>
                        <a:lnTo>
                          <a:pt x="28851" y="3905"/>
                        </a:lnTo>
                        <a:lnTo>
                          <a:pt x="28813" y="3976"/>
                        </a:lnTo>
                        <a:lnTo>
                          <a:pt x="28775" y="4044"/>
                        </a:lnTo>
                        <a:lnTo>
                          <a:pt x="28737" y="4113"/>
                        </a:lnTo>
                        <a:lnTo>
                          <a:pt x="28699" y="4181"/>
                        </a:lnTo>
                        <a:lnTo>
                          <a:pt x="28660" y="4249"/>
                        </a:lnTo>
                        <a:lnTo>
                          <a:pt x="28619" y="4316"/>
                        </a:lnTo>
                        <a:lnTo>
                          <a:pt x="28580" y="4382"/>
                        </a:lnTo>
                        <a:lnTo>
                          <a:pt x="28539" y="4448"/>
                        </a:lnTo>
                        <a:lnTo>
                          <a:pt x="28499" y="4514"/>
                        </a:lnTo>
                        <a:lnTo>
                          <a:pt x="28457" y="4579"/>
                        </a:lnTo>
                        <a:lnTo>
                          <a:pt x="28415" y="4643"/>
                        </a:lnTo>
                        <a:lnTo>
                          <a:pt x="28373" y="4707"/>
                        </a:lnTo>
                        <a:lnTo>
                          <a:pt x="28331" y="4770"/>
                        </a:lnTo>
                        <a:lnTo>
                          <a:pt x="28287" y="4834"/>
                        </a:lnTo>
                        <a:lnTo>
                          <a:pt x="28244" y="4896"/>
                        </a:lnTo>
                        <a:lnTo>
                          <a:pt x="28200" y="4957"/>
                        </a:lnTo>
                        <a:lnTo>
                          <a:pt x="28156" y="5019"/>
                        </a:lnTo>
                        <a:lnTo>
                          <a:pt x="28111" y="5079"/>
                        </a:lnTo>
                        <a:lnTo>
                          <a:pt x="28066" y="5139"/>
                        </a:lnTo>
                        <a:lnTo>
                          <a:pt x="28021" y="5199"/>
                        </a:lnTo>
                        <a:lnTo>
                          <a:pt x="27975" y="5258"/>
                        </a:lnTo>
                        <a:lnTo>
                          <a:pt x="27928" y="5316"/>
                        </a:lnTo>
                        <a:lnTo>
                          <a:pt x="27881" y="5375"/>
                        </a:lnTo>
                        <a:lnTo>
                          <a:pt x="27834" y="5432"/>
                        </a:lnTo>
                        <a:lnTo>
                          <a:pt x="27787" y="5489"/>
                        </a:lnTo>
                        <a:lnTo>
                          <a:pt x="27738" y="5546"/>
                        </a:lnTo>
                        <a:lnTo>
                          <a:pt x="27690" y="5602"/>
                        </a:lnTo>
                        <a:lnTo>
                          <a:pt x="27641" y="5657"/>
                        </a:lnTo>
                        <a:lnTo>
                          <a:pt x="27591" y="5712"/>
                        </a:lnTo>
                        <a:lnTo>
                          <a:pt x="27541" y="5766"/>
                        </a:lnTo>
                        <a:lnTo>
                          <a:pt x="27491" y="5820"/>
                        </a:lnTo>
                        <a:lnTo>
                          <a:pt x="27441" y="5873"/>
                        </a:lnTo>
                        <a:lnTo>
                          <a:pt x="27389" y="5926"/>
                        </a:lnTo>
                        <a:lnTo>
                          <a:pt x="27338" y="5978"/>
                        </a:lnTo>
                        <a:lnTo>
                          <a:pt x="27286" y="6030"/>
                        </a:lnTo>
                        <a:lnTo>
                          <a:pt x="27233" y="6081"/>
                        </a:lnTo>
                        <a:lnTo>
                          <a:pt x="27181" y="6131"/>
                        </a:lnTo>
                        <a:lnTo>
                          <a:pt x="27128" y="6182"/>
                        </a:lnTo>
                        <a:lnTo>
                          <a:pt x="27075" y="6231"/>
                        </a:lnTo>
                        <a:lnTo>
                          <a:pt x="27020" y="6280"/>
                        </a:lnTo>
                        <a:lnTo>
                          <a:pt x="26966" y="6328"/>
                        </a:lnTo>
                        <a:lnTo>
                          <a:pt x="26911" y="6376"/>
                        </a:lnTo>
                        <a:lnTo>
                          <a:pt x="26855" y="6423"/>
                        </a:lnTo>
                        <a:lnTo>
                          <a:pt x="26800" y="6470"/>
                        </a:lnTo>
                        <a:lnTo>
                          <a:pt x="26744" y="6517"/>
                        </a:lnTo>
                        <a:lnTo>
                          <a:pt x="26686" y="6562"/>
                        </a:lnTo>
                        <a:lnTo>
                          <a:pt x="26630" y="6607"/>
                        </a:lnTo>
                        <a:lnTo>
                          <a:pt x="26573" y="6651"/>
                        </a:lnTo>
                        <a:lnTo>
                          <a:pt x="26514" y="6696"/>
                        </a:lnTo>
                        <a:lnTo>
                          <a:pt x="26456" y="6740"/>
                        </a:lnTo>
                        <a:lnTo>
                          <a:pt x="26398" y="6782"/>
                        </a:lnTo>
                        <a:lnTo>
                          <a:pt x="26338" y="6824"/>
                        </a:lnTo>
                        <a:lnTo>
                          <a:pt x="26279" y="6867"/>
                        </a:lnTo>
                        <a:lnTo>
                          <a:pt x="26219" y="6908"/>
                        </a:lnTo>
                        <a:lnTo>
                          <a:pt x="26158" y="6949"/>
                        </a:lnTo>
                        <a:lnTo>
                          <a:pt x="26097" y="6989"/>
                        </a:lnTo>
                        <a:lnTo>
                          <a:pt x="26037" y="7030"/>
                        </a:lnTo>
                        <a:lnTo>
                          <a:pt x="25974" y="7069"/>
                        </a:lnTo>
                        <a:lnTo>
                          <a:pt x="25913" y="7107"/>
                        </a:lnTo>
                        <a:lnTo>
                          <a:pt x="25850" y="7145"/>
                        </a:lnTo>
                        <a:lnTo>
                          <a:pt x="25787" y="7183"/>
                        </a:lnTo>
                        <a:lnTo>
                          <a:pt x="25724" y="7220"/>
                        </a:lnTo>
                        <a:lnTo>
                          <a:pt x="25659" y="7256"/>
                        </a:lnTo>
                        <a:lnTo>
                          <a:pt x="25596" y="7292"/>
                        </a:lnTo>
                        <a:lnTo>
                          <a:pt x="25531" y="7327"/>
                        </a:lnTo>
                        <a:lnTo>
                          <a:pt x="25466" y="7363"/>
                        </a:lnTo>
                        <a:lnTo>
                          <a:pt x="25401" y="7397"/>
                        </a:lnTo>
                        <a:lnTo>
                          <a:pt x="25335" y="7431"/>
                        </a:lnTo>
                        <a:lnTo>
                          <a:pt x="25268" y="7464"/>
                        </a:lnTo>
                        <a:lnTo>
                          <a:pt x="25202" y="7496"/>
                        </a:lnTo>
                        <a:lnTo>
                          <a:pt x="25134" y="7529"/>
                        </a:lnTo>
                        <a:lnTo>
                          <a:pt x="25067" y="7561"/>
                        </a:lnTo>
                        <a:lnTo>
                          <a:pt x="24999" y="7592"/>
                        </a:lnTo>
                        <a:lnTo>
                          <a:pt x="24930" y="7622"/>
                        </a:lnTo>
                        <a:lnTo>
                          <a:pt x="24862" y="7652"/>
                        </a:lnTo>
                        <a:lnTo>
                          <a:pt x="24793" y="7681"/>
                        </a:lnTo>
                        <a:lnTo>
                          <a:pt x="24723" y="7711"/>
                        </a:lnTo>
                        <a:lnTo>
                          <a:pt x="24653" y="7739"/>
                        </a:lnTo>
                        <a:lnTo>
                          <a:pt x="24582" y="7767"/>
                        </a:lnTo>
                        <a:lnTo>
                          <a:pt x="24512" y="7794"/>
                        </a:lnTo>
                        <a:lnTo>
                          <a:pt x="24441" y="7821"/>
                        </a:lnTo>
                        <a:lnTo>
                          <a:pt x="24368" y="7847"/>
                        </a:lnTo>
                        <a:lnTo>
                          <a:pt x="24297" y="7873"/>
                        </a:lnTo>
                        <a:lnTo>
                          <a:pt x="24223" y="7898"/>
                        </a:lnTo>
                        <a:lnTo>
                          <a:pt x="24223" y="7898"/>
                        </a:lnTo>
                        <a:lnTo>
                          <a:pt x="24087" y="7944"/>
                        </a:lnTo>
                        <a:lnTo>
                          <a:pt x="23949" y="7987"/>
                        </a:lnTo>
                        <a:lnTo>
                          <a:pt x="23811" y="8031"/>
                        </a:lnTo>
                        <a:lnTo>
                          <a:pt x="23671" y="8072"/>
                        </a:lnTo>
                        <a:lnTo>
                          <a:pt x="23531" y="8111"/>
                        </a:lnTo>
                        <a:lnTo>
                          <a:pt x="23390" y="8148"/>
                        </a:lnTo>
                        <a:lnTo>
                          <a:pt x="23248" y="8184"/>
                        </a:lnTo>
                        <a:lnTo>
                          <a:pt x="23104" y="8220"/>
                        </a:lnTo>
                        <a:lnTo>
                          <a:pt x="22959" y="8253"/>
                        </a:lnTo>
                        <a:lnTo>
                          <a:pt x="22813" y="8284"/>
                        </a:lnTo>
                        <a:lnTo>
                          <a:pt x="22666" y="8314"/>
                        </a:lnTo>
                        <a:lnTo>
                          <a:pt x="22518" y="8343"/>
                        </a:lnTo>
                        <a:lnTo>
                          <a:pt x="22368" y="8371"/>
                        </a:lnTo>
                        <a:lnTo>
                          <a:pt x="22216" y="8397"/>
                        </a:lnTo>
                        <a:lnTo>
                          <a:pt x="22062" y="8421"/>
                        </a:lnTo>
                        <a:lnTo>
                          <a:pt x="21907" y="8443"/>
                        </a:lnTo>
                        <a:lnTo>
                          <a:pt x="21750" y="8464"/>
                        </a:lnTo>
                        <a:lnTo>
                          <a:pt x="21591" y="8484"/>
                        </a:lnTo>
                        <a:lnTo>
                          <a:pt x="21431" y="8502"/>
                        </a:lnTo>
                        <a:lnTo>
                          <a:pt x="21268" y="8519"/>
                        </a:lnTo>
                        <a:lnTo>
                          <a:pt x="21104" y="8536"/>
                        </a:lnTo>
                        <a:lnTo>
                          <a:pt x="20937" y="8550"/>
                        </a:lnTo>
                        <a:lnTo>
                          <a:pt x="20768" y="8563"/>
                        </a:lnTo>
                        <a:lnTo>
                          <a:pt x="20597" y="8574"/>
                        </a:lnTo>
                        <a:lnTo>
                          <a:pt x="20424" y="8584"/>
                        </a:lnTo>
                        <a:lnTo>
                          <a:pt x="20248" y="8593"/>
                        </a:lnTo>
                        <a:lnTo>
                          <a:pt x="20069" y="8600"/>
                        </a:lnTo>
                        <a:lnTo>
                          <a:pt x="19888" y="8606"/>
                        </a:lnTo>
                        <a:lnTo>
                          <a:pt x="19705" y="8610"/>
                        </a:lnTo>
                        <a:lnTo>
                          <a:pt x="19519" y="8614"/>
                        </a:lnTo>
                        <a:lnTo>
                          <a:pt x="19329" y="8615"/>
                        </a:lnTo>
                        <a:lnTo>
                          <a:pt x="19137" y="8616"/>
                        </a:lnTo>
                        <a:lnTo>
                          <a:pt x="19137" y="8616"/>
                        </a:lnTo>
                        <a:lnTo>
                          <a:pt x="18974" y="8616"/>
                        </a:lnTo>
                        <a:lnTo>
                          <a:pt x="18811" y="8614"/>
                        </a:lnTo>
                        <a:lnTo>
                          <a:pt x="18648" y="8612"/>
                        </a:lnTo>
                        <a:lnTo>
                          <a:pt x="18485" y="8610"/>
                        </a:lnTo>
                        <a:lnTo>
                          <a:pt x="18322" y="8606"/>
                        </a:lnTo>
                        <a:lnTo>
                          <a:pt x="18159" y="8602"/>
                        </a:lnTo>
                        <a:lnTo>
                          <a:pt x="17834" y="8592"/>
                        </a:lnTo>
                        <a:lnTo>
                          <a:pt x="17509" y="8581"/>
                        </a:lnTo>
                        <a:lnTo>
                          <a:pt x="17186" y="8568"/>
                        </a:lnTo>
                        <a:lnTo>
                          <a:pt x="16548" y="8541"/>
                        </a:lnTo>
                        <a:lnTo>
                          <a:pt x="16548" y="8541"/>
                        </a:lnTo>
                        <a:lnTo>
                          <a:pt x="15914" y="8513"/>
                        </a:lnTo>
                        <a:lnTo>
                          <a:pt x="15603" y="8500"/>
                        </a:lnTo>
                        <a:lnTo>
                          <a:pt x="15295" y="8489"/>
                        </a:lnTo>
                        <a:lnTo>
                          <a:pt x="14990" y="8480"/>
                        </a:lnTo>
                        <a:lnTo>
                          <a:pt x="14686" y="8473"/>
                        </a:lnTo>
                        <a:lnTo>
                          <a:pt x="14534" y="8471"/>
                        </a:lnTo>
                        <a:lnTo>
                          <a:pt x="14383" y="8469"/>
                        </a:lnTo>
                        <a:lnTo>
                          <a:pt x="14232" y="8468"/>
                        </a:lnTo>
                        <a:lnTo>
                          <a:pt x="14082" y="8467"/>
                        </a:lnTo>
                        <a:lnTo>
                          <a:pt x="14082" y="8467"/>
                        </a:lnTo>
                        <a:lnTo>
                          <a:pt x="13951" y="8467"/>
                        </a:lnTo>
                        <a:lnTo>
                          <a:pt x="13821" y="8468"/>
                        </a:lnTo>
                        <a:lnTo>
                          <a:pt x="13692" y="8470"/>
                        </a:lnTo>
                        <a:lnTo>
                          <a:pt x="13567" y="8473"/>
                        </a:lnTo>
                        <a:lnTo>
                          <a:pt x="13442" y="8476"/>
                        </a:lnTo>
                        <a:lnTo>
                          <a:pt x="13318" y="8480"/>
                        </a:lnTo>
                        <a:lnTo>
                          <a:pt x="13196" y="8484"/>
                        </a:lnTo>
                        <a:lnTo>
                          <a:pt x="13077" y="8489"/>
                        </a:lnTo>
                        <a:lnTo>
                          <a:pt x="12958" y="8495"/>
                        </a:lnTo>
                        <a:lnTo>
                          <a:pt x="12840" y="8502"/>
                        </a:lnTo>
                        <a:lnTo>
                          <a:pt x="12725" y="8510"/>
                        </a:lnTo>
                        <a:lnTo>
                          <a:pt x="12610" y="8518"/>
                        </a:lnTo>
                        <a:lnTo>
                          <a:pt x="12498" y="8527"/>
                        </a:lnTo>
                        <a:lnTo>
                          <a:pt x="12386" y="8537"/>
                        </a:lnTo>
                        <a:lnTo>
                          <a:pt x="12275" y="8547"/>
                        </a:lnTo>
                        <a:lnTo>
                          <a:pt x="12167" y="8559"/>
                        </a:lnTo>
                        <a:lnTo>
                          <a:pt x="12058" y="8570"/>
                        </a:lnTo>
                        <a:lnTo>
                          <a:pt x="11951" y="8583"/>
                        </a:lnTo>
                        <a:lnTo>
                          <a:pt x="11846" y="8596"/>
                        </a:lnTo>
                        <a:lnTo>
                          <a:pt x="11741" y="8610"/>
                        </a:lnTo>
                        <a:lnTo>
                          <a:pt x="11639" y="8625"/>
                        </a:lnTo>
                        <a:lnTo>
                          <a:pt x="11536" y="8641"/>
                        </a:lnTo>
                        <a:lnTo>
                          <a:pt x="11435" y="8657"/>
                        </a:lnTo>
                        <a:lnTo>
                          <a:pt x="11335" y="8674"/>
                        </a:lnTo>
                        <a:lnTo>
                          <a:pt x="11236" y="8692"/>
                        </a:lnTo>
                        <a:lnTo>
                          <a:pt x="11138" y="8712"/>
                        </a:lnTo>
                        <a:lnTo>
                          <a:pt x="11040" y="8731"/>
                        </a:lnTo>
                        <a:lnTo>
                          <a:pt x="10945" y="8751"/>
                        </a:lnTo>
                        <a:lnTo>
                          <a:pt x="10849" y="8772"/>
                        </a:lnTo>
                        <a:lnTo>
                          <a:pt x="10755" y="8794"/>
                        </a:lnTo>
                        <a:lnTo>
                          <a:pt x="10661" y="8816"/>
                        </a:lnTo>
                        <a:lnTo>
                          <a:pt x="10568" y="8840"/>
                        </a:lnTo>
                        <a:lnTo>
                          <a:pt x="10568" y="8840"/>
                        </a:lnTo>
                        <a:lnTo>
                          <a:pt x="10506" y="8856"/>
                        </a:lnTo>
                        <a:lnTo>
                          <a:pt x="10444" y="8874"/>
                        </a:lnTo>
                        <a:lnTo>
                          <a:pt x="10381" y="8891"/>
                        </a:lnTo>
                        <a:lnTo>
                          <a:pt x="10319" y="8910"/>
                        </a:lnTo>
                        <a:lnTo>
                          <a:pt x="10257" y="8929"/>
                        </a:lnTo>
                        <a:lnTo>
                          <a:pt x="10194" y="8948"/>
                        </a:lnTo>
                        <a:lnTo>
                          <a:pt x="10131" y="8969"/>
                        </a:lnTo>
                        <a:lnTo>
                          <a:pt x="10068" y="8990"/>
                        </a:lnTo>
                        <a:lnTo>
                          <a:pt x="10005" y="9012"/>
                        </a:lnTo>
                        <a:lnTo>
                          <a:pt x="9942" y="9035"/>
                        </a:lnTo>
                        <a:lnTo>
                          <a:pt x="9880" y="9059"/>
                        </a:lnTo>
                        <a:lnTo>
                          <a:pt x="9816" y="9083"/>
                        </a:lnTo>
                        <a:lnTo>
                          <a:pt x="9754" y="9108"/>
                        </a:lnTo>
                        <a:lnTo>
                          <a:pt x="9692" y="9133"/>
                        </a:lnTo>
                        <a:lnTo>
                          <a:pt x="9629" y="9159"/>
                        </a:lnTo>
                        <a:lnTo>
                          <a:pt x="9568" y="9186"/>
                        </a:lnTo>
                        <a:lnTo>
                          <a:pt x="9506" y="9215"/>
                        </a:lnTo>
                        <a:lnTo>
                          <a:pt x="9445" y="9243"/>
                        </a:lnTo>
                        <a:lnTo>
                          <a:pt x="9384" y="9272"/>
                        </a:lnTo>
                        <a:lnTo>
                          <a:pt x="9323" y="9302"/>
                        </a:lnTo>
                        <a:lnTo>
                          <a:pt x="9263" y="9332"/>
                        </a:lnTo>
                        <a:lnTo>
                          <a:pt x="9204" y="9363"/>
                        </a:lnTo>
                        <a:lnTo>
                          <a:pt x="9145" y="9396"/>
                        </a:lnTo>
                        <a:lnTo>
                          <a:pt x="9087" y="9428"/>
                        </a:lnTo>
                        <a:lnTo>
                          <a:pt x="9029" y="9461"/>
                        </a:lnTo>
                        <a:lnTo>
                          <a:pt x="8972" y="9495"/>
                        </a:lnTo>
                        <a:lnTo>
                          <a:pt x="8916" y="9530"/>
                        </a:lnTo>
                        <a:lnTo>
                          <a:pt x="8861" y="9566"/>
                        </a:lnTo>
                        <a:lnTo>
                          <a:pt x="8805" y="9601"/>
                        </a:lnTo>
                        <a:lnTo>
                          <a:pt x="8751" y="9638"/>
                        </a:lnTo>
                        <a:lnTo>
                          <a:pt x="8699" y="9675"/>
                        </a:lnTo>
                        <a:lnTo>
                          <a:pt x="8647" y="9713"/>
                        </a:lnTo>
                        <a:lnTo>
                          <a:pt x="8595" y="9752"/>
                        </a:lnTo>
                        <a:lnTo>
                          <a:pt x="8545" y="9792"/>
                        </a:lnTo>
                        <a:lnTo>
                          <a:pt x="8496" y="9831"/>
                        </a:lnTo>
                        <a:lnTo>
                          <a:pt x="8447" y="9872"/>
                        </a:lnTo>
                        <a:lnTo>
                          <a:pt x="8400" y="9914"/>
                        </a:lnTo>
                        <a:lnTo>
                          <a:pt x="8355" y="9956"/>
                        </a:lnTo>
                        <a:lnTo>
                          <a:pt x="8310" y="9998"/>
                        </a:lnTo>
                        <a:lnTo>
                          <a:pt x="8266" y="10041"/>
                        </a:lnTo>
                        <a:lnTo>
                          <a:pt x="8224" y="10086"/>
                        </a:lnTo>
                        <a:lnTo>
                          <a:pt x="8184" y="10130"/>
                        </a:lnTo>
                        <a:lnTo>
                          <a:pt x="8144" y="10175"/>
                        </a:lnTo>
                        <a:lnTo>
                          <a:pt x="8106" y="10222"/>
                        </a:lnTo>
                        <a:lnTo>
                          <a:pt x="8069" y="10269"/>
                        </a:lnTo>
                        <a:lnTo>
                          <a:pt x="8034" y="10315"/>
                        </a:lnTo>
                        <a:lnTo>
                          <a:pt x="8000" y="10363"/>
                        </a:lnTo>
                        <a:lnTo>
                          <a:pt x="7968" y="10412"/>
                        </a:lnTo>
                        <a:lnTo>
                          <a:pt x="7938" y="10461"/>
                        </a:lnTo>
                        <a:lnTo>
                          <a:pt x="7908" y="10511"/>
                        </a:lnTo>
                        <a:lnTo>
                          <a:pt x="7881" y="10562"/>
                        </a:lnTo>
                        <a:lnTo>
                          <a:pt x="7855" y="10613"/>
                        </a:lnTo>
                        <a:lnTo>
                          <a:pt x="7832" y="10664"/>
                        </a:lnTo>
                        <a:lnTo>
                          <a:pt x="7810" y="10716"/>
                        </a:lnTo>
                        <a:lnTo>
                          <a:pt x="7790" y="10770"/>
                        </a:lnTo>
                        <a:lnTo>
                          <a:pt x="7771" y="10823"/>
                        </a:lnTo>
                        <a:lnTo>
                          <a:pt x="7755" y="10877"/>
                        </a:lnTo>
                        <a:lnTo>
                          <a:pt x="7740" y="10932"/>
                        </a:lnTo>
                        <a:lnTo>
                          <a:pt x="7727" y="10988"/>
                        </a:lnTo>
                        <a:lnTo>
                          <a:pt x="7717" y="11043"/>
                        </a:lnTo>
                        <a:lnTo>
                          <a:pt x="7708" y="11101"/>
                        </a:lnTo>
                        <a:lnTo>
                          <a:pt x="7702" y="11158"/>
                        </a:lnTo>
                        <a:lnTo>
                          <a:pt x="7698" y="11215"/>
                        </a:lnTo>
                        <a:lnTo>
                          <a:pt x="7696" y="11274"/>
                        </a:lnTo>
                        <a:lnTo>
                          <a:pt x="7696" y="11274"/>
                        </a:lnTo>
                        <a:lnTo>
                          <a:pt x="7696" y="11321"/>
                        </a:lnTo>
                        <a:lnTo>
                          <a:pt x="7697" y="11367"/>
                        </a:lnTo>
                        <a:lnTo>
                          <a:pt x="7699" y="11413"/>
                        </a:lnTo>
                        <a:lnTo>
                          <a:pt x="7702" y="11458"/>
                        </a:lnTo>
                        <a:lnTo>
                          <a:pt x="7706" y="11503"/>
                        </a:lnTo>
                        <a:lnTo>
                          <a:pt x="7712" y="11547"/>
                        </a:lnTo>
                        <a:lnTo>
                          <a:pt x="7718" y="11592"/>
                        </a:lnTo>
                        <a:lnTo>
                          <a:pt x="7725" y="11636"/>
                        </a:lnTo>
                        <a:lnTo>
                          <a:pt x="7734" y="11679"/>
                        </a:lnTo>
                        <a:lnTo>
                          <a:pt x="7743" y="11722"/>
                        </a:lnTo>
                        <a:lnTo>
                          <a:pt x="7755" y="11765"/>
                        </a:lnTo>
                        <a:lnTo>
                          <a:pt x="7767" y="11807"/>
                        </a:lnTo>
                        <a:lnTo>
                          <a:pt x="7779" y="11848"/>
                        </a:lnTo>
                        <a:lnTo>
                          <a:pt x="7793" y="11889"/>
                        </a:lnTo>
                        <a:lnTo>
                          <a:pt x="7808" y="11931"/>
                        </a:lnTo>
                        <a:lnTo>
                          <a:pt x="7823" y="11971"/>
                        </a:lnTo>
                        <a:lnTo>
                          <a:pt x="7840" y="12010"/>
                        </a:lnTo>
                        <a:lnTo>
                          <a:pt x="7858" y="12050"/>
                        </a:lnTo>
                        <a:lnTo>
                          <a:pt x="7876" y="12089"/>
                        </a:lnTo>
                        <a:lnTo>
                          <a:pt x="7896" y="12128"/>
                        </a:lnTo>
                        <a:lnTo>
                          <a:pt x="7917" y="12165"/>
                        </a:lnTo>
                        <a:lnTo>
                          <a:pt x="7940" y="12203"/>
                        </a:lnTo>
                        <a:lnTo>
                          <a:pt x="7962" y="12239"/>
                        </a:lnTo>
                        <a:lnTo>
                          <a:pt x="7986" y="12277"/>
                        </a:lnTo>
                        <a:lnTo>
                          <a:pt x="8010" y="12313"/>
                        </a:lnTo>
                        <a:lnTo>
                          <a:pt x="8036" y="12348"/>
                        </a:lnTo>
                        <a:lnTo>
                          <a:pt x="8062" y="12383"/>
                        </a:lnTo>
                        <a:lnTo>
                          <a:pt x="8090" y="12418"/>
                        </a:lnTo>
                        <a:lnTo>
                          <a:pt x="8119" y="12452"/>
                        </a:lnTo>
                        <a:lnTo>
                          <a:pt x="8149" y="12485"/>
                        </a:lnTo>
                        <a:lnTo>
                          <a:pt x="8179" y="12518"/>
                        </a:lnTo>
                        <a:lnTo>
                          <a:pt x="8210" y="12550"/>
                        </a:lnTo>
                        <a:lnTo>
                          <a:pt x="8242" y="12582"/>
                        </a:lnTo>
                        <a:lnTo>
                          <a:pt x="8275" y="12614"/>
                        </a:lnTo>
                        <a:lnTo>
                          <a:pt x="8310" y="12644"/>
                        </a:lnTo>
                        <a:lnTo>
                          <a:pt x="8345" y="12674"/>
                        </a:lnTo>
                        <a:lnTo>
                          <a:pt x="8381" y="12704"/>
                        </a:lnTo>
                        <a:lnTo>
                          <a:pt x="8418" y="12733"/>
                        </a:lnTo>
                        <a:lnTo>
                          <a:pt x="8455" y="12762"/>
                        </a:lnTo>
                        <a:lnTo>
                          <a:pt x="8495" y="12790"/>
                        </a:lnTo>
                        <a:lnTo>
                          <a:pt x="8534" y="12817"/>
                        </a:lnTo>
                        <a:lnTo>
                          <a:pt x="8574" y="12843"/>
                        </a:lnTo>
                        <a:lnTo>
                          <a:pt x="8615" y="12869"/>
                        </a:lnTo>
                        <a:lnTo>
                          <a:pt x="8658" y="12895"/>
                        </a:lnTo>
                        <a:lnTo>
                          <a:pt x="8701" y="12919"/>
                        </a:lnTo>
                        <a:lnTo>
                          <a:pt x="8744" y="12944"/>
                        </a:lnTo>
                        <a:lnTo>
                          <a:pt x="8789" y="12968"/>
                        </a:lnTo>
                        <a:lnTo>
                          <a:pt x="8835" y="12991"/>
                        </a:lnTo>
                        <a:lnTo>
                          <a:pt x="8881" y="13013"/>
                        </a:lnTo>
                        <a:lnTo>
                          <a:pt x="8928" y="13035"/>
                        </a:lnTo>
                        <a:lnTo>
                          <a:pt x="8976" y="13055"/>
                        </a:lnTo>
                        <a:lnTo>
                          <a:pt x="9026" y="13076"/>
                        </a:lnTo>
                        <a:lnTo>
                          <a:pt x="9075" y="13096"/>
                        </a:lnTo>
                        <a:lnTo>
                          <a:pt x="9126" y="13115"/>
                        </a:lnTo>
                        <a:lnTo>
                          <a:pt x="9178" y="13134"/>
                        </a:lnTo>
                        <a:lnTo>
                          <a:pt x="9229" y="13151"/>
                        </a:lnTo>
                        <a:lnTo>
                          <a:pt x="9282" y="13168"/>
                        </a:lnTo>
                        <a:lnTo>
                          <a:pt x="9336" y="13185"/>
                        </a:lnTo>
                        <a:lnTo>
                          <a:pt x="9391" y="13200"/>
                        </a:lnTo>
                        <a:lnTo>
                          <a:pt x="9446" y="13215"/>
                        </a:lnTo>
                        <a:lnTo>
                          <a:pt x="9501" y="13229"/>
                        </a:lnTo>
                        <a:lnTo>
                          <a:pt x="9559" y="13243"/>
                        </a:lnTo>
                        <a:lnTo>
                          <a:pt x="9616" y="13256"/>
                        </a:lnTo>
                        <a:lnTo>
                          <a:pt x="9674" y="13269"/>
                        </a:lnTo>
                        <a:lnTo>
                          <a:pt x="9674" y="13269"/>
                        </a:lnTo>
                        <a:lnTo>
                          <a:pt x="9748" y="13283"/>
                        </a:lnTo>
                        <a:lnTo>
                          <a:pt x="9822" y="13296"/>
                        </a:lnTo>
                        <a:lnTo>
                          <a:pt x="9897" y="13309"/>
                        </a:lnTo>
                        <a:lnTo>
                          <a:pt x="9971" y="13320"/>
                        </a:lnTo>
                        <a:lnTo>
                          <a:pt x="10048" y="13331"/>
                        </a:lnTo>
                        <a:lnTo>
                          <a:pt x="10123" y="13340"/>
                        </a:lnTo>
                        <a:lnTo>
                          <a:pt x="10199" y="13349"/>
                        </a:lnTo>
                        <a:lnTo>
                          <a:pt x="10277" y="13357"/>
                        </a:lnTo>
                        <a:lnTo>
                          <a:pt x="10354" y="13364"/>
                        </a:lnTo>
                        <a:lnTo>
                          <a:pt x="10433" y="13370"/>
                        </a:lnTo>
                        <a:lnTo>
                          <a:pt x="10511" y="13375"/>
                        </a:lnTo>
                        <a:lnTo>
                          <a:pt x="10590" y="13379"/>
                        </a:lnTo>
                        <a:lnTo>
                          <a:pt x="10669" y="13382"/>
                        </a:lnTo>
                        <a:lnTo>
                          <a:pt x="10749" y="13384"/>
                        </a:lnTo>
                        <a:lnTo>
                          <a:pt x="10829" y="13386"/>
                        </a:lnTo>
                        <a:lnTo>
                          <a:pt x="10909" y="13386"/>
                        </a:lnTo>
                        <a:lnTo>
                          <a:pt x="10909" y="13386"/>
                        </a:lnTo>
                        <a:lnTo>
                          <a:pt x="10985" y="13386"/>
                        </a:lnTo>
                        <a:lnTo>
                          <a:pt x="11059" y="13384"/>
                        </a:lnTo>
                        <a:lnTo>
                          <a:pt x="11135" y="13383"/>
                        </a:lnTo>
                        <a:lnTo>
                          <a:pt x="11210" y="13380"/>
                        </a:lnTo>
                        <a:lnTo>
                          <a:pt x="11286" y="13377"/>
                        </a:lnTo>
                        <a:lnTo>
                          <a:pt x="11361" y="13372"/>
                        </a:lnTo>
                        <a:lnTo>
                          <a:pt x="11436" y="13368"/>
                        </a:lnTo>
                        <a:lnTo>
                          <a:pt x="11512" y="13362"/>
                        </a:lnTo>
                        <a:lnTo>
                          <a:pt x="11587" y="13356"/>
                        </a:lnTo>
                        <a:lnTo>
                          <a:pt x="11663" y="13349"/>
                        </a:lnTo>
                        <a:lnTo>
                          <a:pt x="11738" y="13342"/>
                        </a:lnTo>
                        <a:lnTo>
                          <a:pt x="11815" y="13333"/>
                        </a:lnTo>
                        <a:lnTo>
                          <a:pt x="11890" y="13325"/>
                        </a:lnTo>
                        <a:lnTo>
                          <a:pt x="11965" y="13315"/>
                        </a:lnTo>
                        <a:lnTo>
                          <a:pt x="12117" y="13295"/>
                        </a:lnTo>
                        <a:lnTo>
                          <a:pt x="12269" y="13272"/>
                        </a:lnTo>
                        <a:lnTo>
                          <a:pt x="12421" y="13246"/>
                        </a:lnTo>
                        <a:lnTo>
                          <a:pt x="12574" y="13218"/>
                        </a:lnTo>
                        <a:lnTo>
                          <a:pt x="12726" y="13189"/>
                        </a:lnTo>
                        <a:lnTo>
                          <a:pt x="12879" y="13158"/>
                        </a:lnTo>
                        <a:lnTo>
                          <a:pt x="13031" y="13125"/>
                        </a:lnTo>
                        <a:lnTo>
                          <a:pt x="13183" y="13089"/>
                        </a:lnTo>
                        <a:lnTo>
                          <a:pt x="13335" y="13053"/>
                        </a:lnTo>
                        <a:lnTo>
                          <a:pt x="13488" y="13015"/>
                        </a:lnTo>
                        <a:lnTo>
                          <a:pt x="13641" y="12976"/>
                        </a:lnTo>
                        <a:lnTo>
                          <a:pt x="13793" y="12935"/>
                        </a:lnTo>
                        <a:lnTo>
                          <a:pt x="13946" y="12892"/>
                        </a:lnTo>
                        <a:lnTo>
                          <a:pt x="14098" y="12849"/>
                        </a:lnTo>
                        <a:lnTo>
                          <a:pt x="14249" y="12806"/>
                        </a:lnTo>
                        <a:lnTo>
                          <a:pt x="14402" y="12761"/>
                        </a:lnTo>
                        <a:lnTo>
                          <a:pt x="14554" y="12714"/>
                        </a:lnTo>
                        <a:lnTo>
                          <a:pt x="14705" y="12668"/>
                        </a:lnTo>
                        <a:lnTo>
                          <a:pt x="14857" y="12621"/>
                        </a:lnTo>
                        <a:lnTo>
                          <a:pt x="15160" y="12525"/>
                        </a:lnTo>
                        <a:lnTo>
                          <a:pt x="15461" y="12428"/>
                        </a:lnTo>
                        <a:lnTo>
                          <a:pt x="15762" y="12330"/>
                        </a:lnTo>
                        <a:lnTo>
                          <a:pt x="15960" y="12266"/>
                        </a:lnTo>
                        <a:lnTo>
                          <a:pt x="15960" y="12266"/>
                        </a:lnTo>
                        <a:lnTo>
                          <a:pt x="16376" y="12131"/>
                        </a:lnTo>
                        <a:lnTo>
                          <a:pt x="16585" y="12064"/>
                        </a:lnTo>
                        <a:lnTo>
                          <a:pt x="16796" y="11998"/>
                        </a:lnTo>
                        <a:lnTo>
                          <a:pt x="17008" y="11934"/>
                        </a:lnTo>
                        <a:lnTo>
                          <a:pt x="17222" y="11871"/>
                        </a:lnTo>
                        <a:lnTo>
                          <a:pt x="17330" y="11840"/>
                        </a:lnTo>
                        <a:lnTo>
                          <a:pt x="17439" y="11810"/>
                        </a:lnTo>
                        <a:lnTo>
                          <a:pt x="17547" y="11781"/>
                        </a:lnTo>
                        <a:lnTo>
                          <a:pt x="17656" y="11753"/>
                        </a:lnTo>
                        <a:lnTo>
                          <a:pt x="17766" y="11724"/>
                        </a:lnTo>
                        <a:lnTo>
                          <a:pt x="17876" y="11697"/>
                        </a:lnTo>
                        <a:lnTo>
                          <a:pt x="17987" y="11670"/>
                        </a:lnTo>
                        <a:lnTo>
                          <a:pt x="18098" y="11645"/>
                        </a:lnTo>
                        <a:lnTo>
                          <a:pt x="18210" y="11621"/>
                        </a:lnTo>
                        <a:lnTo>
                          <a:pt x="18323" y="11597"/>
                        </a:lnTo>
                        <a:lnTo>
                          <a:pt x="18436" y="11575"/>
                        </a:lnTo>
                        <a:lnTo>
                          <a:pt x="18550" y="11552"/>
                        </a:lnTo>
                        <a:lnTo>
                          <a:pt x="18665" y="11532"/>
                        </a:lnTo>
                        <a:lnTo>
                          <a:pt x="18780" y="11513"/>
                        </a:lnTo>
                        <a:lnTo>
                          <a:pt x="18896" y="11495"/>
                        </a:lnTo>
                        <a:lnTo>
                          <a:pt x="19013" y="11479"/>
                        </a:lnTo>
                        <a:lnTo>
                          <a:pt x="19130" y="11464"/>
                        </a:lnTo>
                        <a:lnTo>
                          <a:pt x="19249" y="11450"/>
                        </a:lnTo>
                        <a:lnTo>
                          <a:pt x="19368" y="11437"/>
                        </a:lnTo>
                        <a:lnTo>
                          <a:pt x="19487" y="11427"/>
                        </a:lnTo>
                        <a:lnTo>
                          <a:pt x="19487" y="11427"/>
                        </a:lnTo>
                        <a:lnTo>
                          <a:pt x="19555" y="11421"/>
                        </a:lnTo>
                        <a:lnTo>
                          <a:pt x="19622" y="11417"/>
                        </a:lnTo>
                        <a:lnTo>
                          <a:pt x="19689" y="11413"/>
                        </a:lnTo>
                        <a:lnTo>
                          <a:pt x="19757" y="11409"/>
                        </a:lnTo>
                        <a:lnTo>
                          <a:pt x="19824" y="11407"/>
                        </a:lnTo>
                        <a:lnTo>
                          <a:pt x="19892" y="11405"/>
                        </a:lnTo>
                        <a:lnTo>
                          <a:pt x="19959" y="11404"/>
                        </a:lnTo>
                        <a:lnTo>
                          <a:pt x="20025" y="11404"/>
                        </a:lnTo>
                        <a:lnTo>
                          <a:pt x="20025" y="11404"/>
                        </a:lnTo>
                        <a:lnTo>
                          <a:pt x="20132" y="11405"/>
                        </a:lnTo>
                        <a:lnTo>
                          <a:pt x="20239" y="11407"/>
                        </a:lnTo>
                        <a:lnTo>
                          <a:pt x="20344" y="11412"/>
                        </a:lnTo>
                        <a:lnTo>
                          <a:pt x="20451" y="11418"/>
                        </a:lnTo>
                        <a:lnTo>
                          <a:pt x="20555" y="11426"/>
                        </a:lnTo>
                        <a:lnTo>
                          <a:pt x="20661" y="11436"/>
                        </a:lnTo>
                        <a:lnTo>
                          <a:pt x="20766" y="11448"/>
                        </a:lnTo>
                        <a:lnTo>
                          <a:pt x="20870" y="11461"/>
                        </a:lnTo>
                        <a:lnTo>
                          <a:pt x="20974" y="11476"/>
                        </a:lnTo>
                        <a:lnTo>
                          <a:pt x="21077" y="11493"/>
                        </a:lnTo>
                        <a:lnTo>
                          <a:pt x="21181" y="11512"/>
                        </a:lnTo>
                        <a:lnTo>
                          <a:pt x="21284" y="11532"/>
                        </a:lnTo>
                        <a:lnTo>
                          <a:pt x="21386" y="11554"/>
                        </a:lnTo>
                        <a:lnTo>
                          <a:pt x="21488" y="11579"/>
                        </a:lnTo>
                        <a:lnTo>
                          <a:pt x="21588" y="11605"/>
                        </a:lnTo>
                        <a:lnTo>
                          <a:pt x="21689" y="11632"/>
                        </a:lnTo>
                        <a:lnTo>
                          <a:pt x="21789" y="11661"/>
                        </a:lnTo>
                        <a:lnTo>
                          <a:pt x="21888" y="11692"/>
                        </a:lnTo>
                        <a:lnTo>
                          <a:pt x="21988" y="11725"/>
                        </a:lnTo>
                        <a:lnTo>
                          <a:pt x="22085" y="11760"/>
                        </a:lnTo>
                        <a:lnTo>
                          <a:pt x="22183" y="11796"/>
                        </a:lnTo>
                        <a:lnTo>
                          <a:pt x="22279" y="11833"/>
                        </a:lnTo>
                        <a:lnTo>
                          <a:pt x="22376" y="11873"/>
                        </a:lnTo>
                        <a:lnTo>
                          <a:pt x="22470" y="11915"/>
                        </a:lnTo>
                        <a:lnTo>
                          <a:pt x="22565" y="11957"/>
                        </a:lnTo>
                        <a:lnTo>
                          <a:pt x="22658" y="12002"/>
                        </a:lnTo>
                        <a:lnTo>
                          <a:pt x="22752" y="12048"/>
                        </a:lnTo>
                        <a:lnTo>
                          <a:pt x="22843" y="12096"/>
                        </a:lnTo>
                        <a:lnTo>
                          <a:pt x="22935" y="12146"/>
                        </a:lnTo>
                        <a:lnTo>
                          <a:pt x="23025" y="12196"/>
                        </a:lnTo>
                        <a:lnTo>
                          <a:pt x="23115" y="12250"/>
                        </a:lnTo>
                        <a:lnTo>
                          <a:pt x="23203" y="12304"/>
                        </a:lnTo>
                        <a:lnTo>
                          <a:pt x="23203" y="12304"/>
                        </a:lnTo>
                        <a:lnTo>
                          <a:pt x="23292" y="12361"/>
                        </a:lnTo>
                        <a:lnTo>
                          <a:pt x="23379" y="12420"/>
                        </a:lnTo>
                        <a:lnTo>
                          <a:pt x="23465" y="12479"/>
                        </a:lnTo>
                        <a:lnTo>
                          <a:pt x="23550" y="12540"/>
                        </a:lnTo>
                        <a:lnTo>
                          <a:pt x="23634" y="12603"/>
                        </a:lnTo>
                        <a:lnTo>
                          <a:pt x="23716" y="12666"/>
                        </a:lnTo>
                        <a:lnTo>
                          <a:pt x="23798" y="12731"/>
                        </a:lnTo>
                        <a:lnTo>
                          <a:pt x="23877" y="12798"/>
                        </a:lnTo>
                        <a:lnTo>
                          <a:pt x="23956" y="12866"/>
                        </a:lnTo>
                        <a:lnTo>
                          <a:pt x="24033" y="12935"/>
                        </a:lnTo>
                        <a:lnTo>
                          <a:pt x="24109" y="13006"/>
                        </a:lnTo>
                        <a:lnTo>
                          <a:pt x="24183" y="13077"/>
                        </a:lnTo>
                        <a:lnTo>
                          <a:pt x="24256" y="13150"/>
                        </a:lnTo>
                        <a:lnTo>
                          <a:pt x="24329" y="13224"/>
                        </a:lnTo>
                        <a:lnTo>
                          <a:pt x="24399" y="13300"/>
                        </a:lnTo>
                        <a:lnTo>
                          <a:pt x="24468" y="13377"/>
                        </a:lnTo>
                        <a:lnTo>
                          <a:pt x="24535" y="13455"/>
                        </a:lnTo>
                        <a:lnTo>
                          <a:pt x="24601" y="13534"/>
                        </a:lnTo>
                        <a:lnTo>
                          <a:pt x="24667" y="13615"/>
                        </a:lnTo>
                        <a:lnTo>
                          <a:pt x="24729" y="13695"/>
                        </a:lnTo>
                        <a:lnTo>
                          <a:pt x="24792" y="13779"/>
                        </a:lnTo>
                        <a:lnTo>
                          <a:pt x="24852" y="13862"/>
                        </a:lnTo>
                        <a:lnTo>
                          <a:pt x="24910" y="13947"/>
                        </a:lnTo>
                        <a:lnTo>
                          <a:pt x="24968" y="14032"/>
                        </a:lnTo>
                        <a:lnTo>
                          <a:pt x="25024" y="14120"/>
                        </a:lnTo>
                        <a:lnTo>
                          <a:pt x="25077" y="14207"/>
                        </a:lnTo>
                        <a:lnTo>
                          <a:pt x="25130" y="14296"/>
                        </a:lnTo>
                        <a:lnTo>
                          <a:pt x="25182" y="14386"/>
                        </a:lnTo>
                        <a:lnTo>
                          <a:pt x="25231" y="14477"/>
                        </a:lnTo>
                        <a:lnTo>
                          <a:pt x="25278" y="14569"/>
                        </a:lnTo>
                        <a:lnTo>
                          <a:pt x="25325" y="14662"/>
                        </a:lnTo>
                        <a:lnTo>
                          <a:pt x="25369" y="14755"/>
                        </a:lnTo>
                        <a:lnTo>
                          <a:pt x="25369" y="14755"/>
                        </a:lnTo>
                        <a:lnTo>
                          <a:pt x="25392" y="14806"/>
                        </a:lnTo>
                        <a:lnTo>
                          <a:pt x="25414" y="14855"/>
                        </a:lnTo>
                        <a:lnTo>
                          <a:pt x="25435" y="14905"/>
                        </a:lnTo>
                        <a:lnTo>
                          <a:pt x="25456" y="14956"/>
                        </a:lnTo>
                        <a:lnTo>
                          <a:pt x="25476" y="15006"/>
                        </a:lnTo>
                        <a:lnTo>
                          <a:pt x="25496" y="15057"/>
                        </a:lnTo>
                        <a:lnTo>
                          <a:pt x="25514" y="15107"/>
                        </a:lnTo>
                        <a:lnTo>
                          <a:pt x="25532" y="15159"/>
                        </a:lnTo>
                        <a:lnTo>
                          <a:pt x="25550" y="15210"/>
                        </a:lnTo>
                        <a:lnTo>
                          <a:pt x="25566" y="15261"/>
                        </a:lnTo>
                        <a:lnTo>
                          <a:pt x="25582" y="15314"/>
                        </a:lnTo>
                        <a:lnTo>
                          <a:pt x="25598" y="15365"/>
                        </a:lnTo>
                        <a:lnTo>
                          <a:pt x="25612" y="15417"/>
                        </a:lnTo>
                        <a:lnTo>
                          <a:pt x="25626" y="15470"/>
                        </a:lnTo>
                        <a:lnTo>
                          <a:pt x="25640" y="15522"/>
                        </a:lnTo>
                        <a:lnTo>
                          <a:pt x="25652" y="15574"/>
                        </a:lnTo>
                        <a:lnTo>
                          <a:pt x="25666" y="15626"/>
                        </a:lnTo>
                        <a:lnTo>
                          <a:pt x="25677" y="15680"/>
                        </a:lnTo>
                        <a:lnTo>
                          <a:pt x="25688" y="15732"/>
                        </a:lnTo>
                        <a:lnTo>
                          <a:pt x="25698" y="15785"/>
                        </a:lnTo>
                        <a:lnTo>
                          <a:pt x="25707" y="15839"/>
                        </a:lnTo>
                        <a:lnTo>
                          <a:pt x="25716" y="15892"/>
                        </a:lnTo>
                        <a:lnTo>
                          <a:pt x="25724" y="15946"/>
                        </a:lnTo>
                        <a:lnTo>
                          <a:pt x="25732" y="16000"/>
                        </a:lnTo>
                        <a:lnTo>
                          <a:pt x="25739" y="16054"/>
                        </a:lnTo>
                        <a:lnTo>
                          <a:pt x="25745" y="16107"/>
                        </a:lnTo>
                        <a:lnTo>
                          <a:pt x="25750" y="16162"/>
                        </a:lnTo>
                        <a:lnTo>
                          <a:pt x="25755" y="16216"/>
                        </a:lnTo>
                        <a:lnTo>
                          <a:pt x="25759" y="16270"/>
                        </a:lnTo>
                        <a:lnTo>
                          <a:pt x="25763" y="16325"/>
                        </a:lnTo>
                        <a:lnTo>
                          <a:pt x="25766" y="16380"/>
                        </a:lnTo>
                        <a:lnTo>
                          <a:pt x="25768" y="16434"/>
                        </a:lnTo>
                        <a:lnTo>
                          <a:pt x="25770" y="16490"/>
                        </a:lnTo>
                        <a:lnTo>
                          <a:pt x="25771" y="16545"/>
                        </a:lnTo>
                        <a:lnTo>
                          <a:pt x="25771" y="16599"/>
                        </a:lnTo>
                        <a:lnTo>
                          <a:pt x="25771" y="16655"/>
                        </a:lnTo>
                        <a:lnTo>
                          <a:pt x="25770" y="16710"/>
                        </a:lnTo>
                        <a:lnTo>
                          <a:pt x="25768" y="16765"/>
                        </a:lnTo>
                        <a:lnTo>
                          <a:pt x="25766" y="16822"/>
                        </a:lnTo>
                        <a:lnTo>
                          <a:pt x="25763" y="16877"/>
                        </a:lnTo>
                        <a:lnTo>
                          <a:pt x="25759" y="16932"/>
                        </a:lnTo>
                        <a:lnTo>
                          <a:pt x="25755" y="16989"/>
                        </a:lnTo>
                        <a:lnTo>
                          <a:pt x="25750" y="17044"/>
                        </a:lnTo>
                        <a:lnTo>
                          <a:pt x="25744" y="17100"/>
                        </a:lnTo>
                        <a:lnTo>
                          <a:pt x="25738" y="17157"/>
                        </a:lnTo>
                        <a:lnTo>
                          <a:pt x="25731" y="17212"/>
                        </a:lnTo>
                        <a:lnTo>
                          <a:pt x="25723" y="17268"/>
                        </a:lnTo>
                        <a:lnTo>
                          <a:pt x="25715" y="17325"/>
                        </a:lnTo>
                        <a:lnTo>
                          <a:pt x="25706" y="17381"/>
                        </a:lnTo>
                        <a:lnTo>
                          <a:pt x="25697" y="17437"/>
                        </a:lnTo>
                        <a:lnTo>
                          <a:pt x="25686" y="17495"/>
                        </a:lnTo>
                        <a:lnTo>
                          <a:pt x="25676" y="17551"/>
                        </a:lnTo>
                        <a:lnTo>
                          <a:pt x="25664" y="17607"/>
                        </a:lnTo>
                        <a:lnTo>
                          <a:pt x="25651" y="17664"/>
                        </a:lnTo>
                        <a:lnTo>
                          <a:pt x="25638" y="17721"/>
                        </a:lnTo>
                        <a:lnTo>
                          <a:pt x="25624" y="17777"/>
                        </a:lnTo>
                        <a:lnTo>
                          <a:pt x="25610" y="17835"/>
                        </a:lnTo>
                        <a:lnTo>
                          <a:pt x="25595" y="17891"/>
                        </a:lnTo>
                        <a:lnTo>
                          <a:pt x="25580" y="17948"/>
                        </a:lnTo>
                        <a:lnTo>
                          <a:pt x="25564" y="18005"/>
                        </a:lnTo>
                        <a:lnTo>
                          <a:pt x="25547" y="18062"/>
                        </a:lnTo>
                        <a:lnTo>
                          <a:pt x="25530" y="18118"/>
                        </a:lnTo>
                        <a:lnTo>
                          <a:pt x="25511" y="18176"/>
                        </a:lnTo>
                        <a:lnTo>
                          <a:pt x="25493" y="18233"/>
                        </a:lnTo>
                        <a:lnTo>
                          <a:pt x="25493" y="18233"/>
                        </a:lnTo>
                        <a:lnTo>
                          <a:pt x="25456" y="18336"/>
                        </a:lnTo>
                        <a:lnTo>
                          <a:pt x="25419" y="18437"/>
                        </a:lnTo>
                        <a:lnTo>
                          <a:pt x="25379" y="18539"/>
                        </a:lnTo>
                        <a:lnTo>
                          <a:pt x="25338" y="18640"/>
                        </a:lnTo>
                        <a:lnTo>
                          <a:pt x="25294" y="18741"/>
                        </a:lnTo>
                        <a:lnTo>
                          <a:pt x="25248" y="18842"/>
                        </a:lnTo>
                        <a:lnTo>
                          <a:pt x="25201" y="18941"/>
                        </a:lnTo>
                        <a:lnTo>
                          <a:pt x="25152" y="19041"/>
                        </a:lnTo>
                        <a:lnTo>
                          <a:pt x="25100" y="19139"/>
                        </a:lnTo>
                        <a:lnTo>
                          <a:pt x="25047" y="19238"/>
                        </a:lnTo>
                        <a:lnTo>
                          <a:pt x="24992" y="19335"/>
                        </a:lnTo>
                        <a:lnTo>
                          <a:pt x="24934" y="19432"/>
                        </a:lnTo>
                        <a:lnTo>
                          <a:pt x="24876" y="19528"/>
                        </a:lnTo>
                        <a:lnTo>
                          <a:pt x="24816" y="19623"/>
                        </a:lnTo>
                        <a:lnTo>
                          <a:pt x="24753" y="19718"/>
                        </a:lnTo>
                        <a:lnTo>
                          <a:pt x="24690" y="19811"/>
                        </a:lnTo>
                        <a:lnTo>
                          <a:pt x="24624" y="19905"/>
                        </a:lnTo>
                        <a:lnTo>
                          <a:pt x="24556" y="19996"/>
                        </a:lnTo>
                        <a:lnTo>
                          <a:pt x="24488" y="20088"/>
                        </a:lnTo>
                        <a:lnTo>
                          <a:pt x="24417" y="20177"/>
                        </a:lnTo>
                        <a:lnTo>
                          <a:pt x="24345" y="20267"/>
                        </a:lnTo>
                        <a:lnTo>
                          <a:pt x="24272" y="20354"/>
                        </a:lnTo>
                        <a:lnTo>
                          <a:pt x="24196" y="20442"/>
                        </a:lnTo>
                        <a:lnTo>
                          <a:pt x="24120" y="20528"/>
                        </a:lnTo>
                        <a:lnTo>
                          <a:pt x="24041" y="20613"/>
                        </a:lnTo>
                        <a:lnTo>
                          <a:pt x="23961" y="20697"/>
                        </a:lnTo>
                        <a:lnTo>
                          <a:pt x="23880" y="20779"/>
                        </a:lnTo>
                        <a:lnTo>
                          <a:pt x="23798" y="20859"/>
                        </a:lnTo>
                        <a:lnTo>
                          <a:pt x="23713" y="20940"/>
                        </a:lnTo>
                        <a:lnTo>
                          <a:pt x="23628" y="21018"/>
                        </a:lnTo>
                        <a:lnTo>
                          <a:pt x="23541" y="21096"/>
                        </a:lnTo>
                        <a:lnTo>
                          <a:pt x="23453" y="21171"/>
                        </a:lnTo>
                        <a:lnTo>
                          <a:pt x="23453" y="21171"/>
                        </a:lnTo>
                        <a:lnTo>
                          <a:pt x="23387" y="21227"/>
                        </a:lnTo>
                        <a:lnTo>
                          <a:pt x="23319" y="21282"/>
                        </a:lnTo>
                        <a:lnTo>
                          <a:pt x="23252" y="21336"/>
                        </a:lnTo>
                        <a:lnTo>
                          <a:pt x="23183" y="21389"/>
                        </a:lnTo>
                        <a:lnTo>
                          <a:pt x="23115" y="21441"/>
                        </a:lnTo>
                        <a:lnTo>
                          <a:pt x="23046" y="21492"/>
                        </a:lnTo>
                        <a:lnTo>
                          <a:pt x="22975" y="21543"/>
                        </a:lnTo>
                        <a:lnTo>
                          <a:pt x="22905" y="21592"/>
                        </a:lnTo>
                        <a:lnTo>
                          <a:pt x="22834" y="21641"/>
                        </a:lnTo>
                        <a:lnTo>
                          <a:pt x="22763" y="21688"/>
                        </a:lnTo>
                        <a:lnTo>
                          <a:pt x="22691" y="21735"/>
                        </a:lnTo>
                        <a:lnTo>
                          <a:pt x="22618" y="21781"/>
                        </a:lnTo>
                        <a:lnTo>
                          <a:pt x="22545" y="21826"/>
                        </a:lnTo>
                        <a:lnTo>
                          <a:pt x="22471" y="21870"/>
                        </a:lnTo>
                        <a:lnTo>
                          <a:pt x="22397" y="21914"/>
                        </a:lnTo>
                        <a:lnTo>
                          <a:pt x="22322" y="21956"/>
                        </a:lnTo>
                        <a:lnTo>
                          <a:pt x="22247" y="21997"/>
                        </a:lnTo>
                        <a:lnTo>
                          <a:pt x="22171" y="22037"/>
                        </a:lnTo>
                        <a:lnTo>
                          <a:pt x="22094" y="22078"/>
                        </a:lnTo>
                        <a:lnTo>
                          <a:pt x="22017" y="22116"/>
                        </a:lnTo>
                        <a:lnTo>
                          <a:pt x="21939" y="22154"/>
                        </a:lnTo>
                        <a:lnTo>
                          <a:pt x="21861" y="22190"/>
                        </a:lnTo>
                        <a:lnTo>
                          <a:pt x="21782" y="22227"/>
                        </a:lnTo>
                        <a:lnTo>
                          <a:pt x="21703" y="22262"/>
                        </a:lnTo>
                        <a:lnTo>
                          <a:pt x="21622" y="22297"/>
                        </a:lnTo>
                        <a:lnTo>
                          <a:pt x="21542" y="22330"/>
                        </a:lnTo>
                        <a:lnTo>
                          <a:pt x="21461" y="22362"/>
                        </a:lnTo>
                        <a:lnTo>
                          <a:pt x="21379" y="22395"/>
                        </a:lnTo>
                        <a:lnTo>
                          <a:pt x="21297" y="22425"/>
                        </a:lnTo>
                        <a:lnTo>
                          <a:pt x="21214" y="22455"/>
                        </a:lnTo>
                        <a:lnTo>
                          <a:pt x="21130" y="22484"/>
                        </a:lnTo>
                        <a:lnTo>
                          <a:pt x="21046" y="22512"/>
                        </a:lnTo>
                        <a:lnTo>
                          <a:pt x="20961" y="22539"/>
                        </a:lnTo>
                        <a:lnTo>
                          <a:pt x="20875" y="22566"/>
                        </a:lnTo>
                        <a:lnTo>
                          <a:pt x="20790" y="22592"/>
                        </a:lnTo>
                        <a:lnTo>
                          <a:pt x="20703" y="22616"/>
                        </a:lnTo>
                        <a:lnTo>
                          <a:pt x="20616" y="22640"/>
                        </a:lnTo>
                        <a:lnTo>
                          <a:pt x="20527" y="22663"/>
                        </a:lnTo>
                        <a:lnTo>
                          <a:pt x="20439" y="22685"/>
                        </a:lnTo>
                        <a:lnTo>
                          <a:pt x="20350" y="22706"/>
                        </a:lnTo>
                        <a:lnTo>
                          <a:pt x="20260" y="22727"/>
                        </a:lnTo>
                        <a:lnTo>
                          <a:pt x="20169" y="22746"/>
                        </a:lnTo>
                        <a:lnTo>
                          <a:pt x="20079" y="22764"/>
                        </a:lnTo>
                        <a:lnTo>
                          <a:pt x="19987" y="22782"/>
                        </a:lnTo>
                        <a:lnTo>
                          <a:pt x="19895" y="22799"/>
                        </a:lnTo>
                        <a:lnTo>
                          <a:pt x="19801" y="22815"/>
                        </a:lnTo>
                        <a:lnTo>
                          <a:pt x="19708" y="22830"/>
                        </a:lnTo>
                        <a:lnTo>
                          <a:pt x="19614" y="22844"/>
                        </a:lnTo>
                        <a:lnTo>
                          <a:pt x="19519" y="22857"/>
                        </a:lnTo>
                        <a:lnTo>
                          <a:pt x="19423" y="22869"/>
                        </a:lnTo>
                        <a:lnTo>
                          <a:pt x="19327" y="22881"/>
                        </a:lnTo>
                        <a:lnTo>
                          <a:pt x="19230" y="22893"/>
                        </a:lnTo>
                        <a:lnTo>
                          <a:pt x="19132" y="22902"/>
                        </a:lnTo>
                        <a:lnTo>
                          <a:pt x="19035" y="22911"/>
                        </a:lnTo>
                        <a:lnTo>
                          <a:pt x="18935" y="22920"/>
                        </a:lnTo>
                        <a:lnTo>
                          <a:pt x="18836" y="22927"/>
                        </a:lnTo>
                        <a:lnTo>
                          <a:pt x="18736" y="22933"/>
                        </a:lnTo>
                        <a:lnTo>
                          <a:pt x="18634" y="22939"/>
                        </a:lnTo>
                        <a:lnTo>
                          <a:pt x="18533" y="22943"/>
                        </a:lnTo>
                        <a:lnTo>
                          <a:pt x="18431" y="22947"/>
                        </a:lnTo>
                        <a:lnTo>
                          <a:pt x="18329" y="22950"/>
                        </a:lnTo>
                        <a:lnTo>
                          <a:pt x="18225" y="22952"/>
                        </a:lnTo>
                        <a:lnTo>
                          <a:pt x="18121" y="22954"/>
                        </a:lnTo>
                        <a:lnTo>
                          <a:pt x="18016" y="22954"/>
                        </a:lnTo>
                        <a:lnTo>
                          <a:pt x="18016" y="22954"/>
                        </a:lnTo>
                        <a:lnTo>
                          <a:pt x="17885" y="22953"/>
                        </a:lnTo>
                        <a:lnTo>
                          <a:pt x="17754" y="22951"/>
                        </a:lnTo>
                        <a:lnTo>
                          <a:pt x="17622" y="22948"/>
                        </a:lnTo>
                        <a:lnTo>
                          <a:pt x="17488" y="22944"/>
                        </a:lnTo>
                        <a:lnTo>
                          <a:pt x="17488" y="22944"/>
                        </a:lnTo>
                        <a:lnTo>
                          <a:pt x="17394" y="22940"/>
                        </a:lnTo>
                        <a:lnTo>
                          <a:pt x="17300" y="22935"/>
                        </a:lnTo>
                        <a:lnTo>
                          <a:pt x="17205" y="22930"/>
                        </a:lnTo>
                        <a:lnTo>
                          <a:pt x="17111" y="22924"/>
                        </a:lnTo>
                        <a:lnTo>
                          <a:pt x="16922" y="22911"/>
                        </a:lnTo>
                        <a:lnTo>
                          <a:pt x="16732" y="22895"/>
                        </a:lnTo>
                        <a:lnTo>
                          <a:pt x="16542" y="22876"/>
                        </a:lnTo>
                        <a:lnTo>
                          <a:pt x="16351" y="22857"/>
                        </a:lnTo>
                        <a:lnTo>
                          <a:pt x="16161" y="22835"/>
                        </a:lnTo>
                        <a:lnTo>
                          <a:pt x="15970" y="22811"/>
                        </a:lnTo>
                        <a:lnTo>
                          <a:pt x="15780" y="22785"/>
                        </a:lnTo>
                        <a:lnTo>
                          <a:pt x="15589" y="22758"/>
                        </a:lnTo>
                        <a:lnTo>
                          <a:pt x="15399" y="22729"/>
                        </a:lnTo>
                        <a:lnTo>
                          <a:pt x="15209" y="22697"/>
                        </a:lnTo>
                        <a:lnTo>
                          <a:pt x="15019" y="22665"/>
                        </a:lnTo>
                        <a:lnTo>
                          <a:pt x="14829" y="22631"/>
                        </a:lnTo>
                        <a:lnTo>
                          <a:pt x="14640" y="22596"/>
                        </a:lnTo>
                        <a:lnTo>
                          <a:pt x="14451" y="22560"/>
                        </a:lnTo>
                        <a:lnTo>
                          <a:pt x="14263" y="22522"/>
                        </a:lnTo>
                        <a:lnTo>
                          <a:pt x="14075" y="22484"/>
                        </a:lnTo>
                        <a:lnTo>
                          <a:pt x="13887" y="22445"/>
                        </a:lnTo>
                        <a:lnTo>
                          <a:pt x="13700" y="22405"/>
                        </a:lnTo>
                        <a:lnTo>
                          <a:pt x="13514" y="22364"/>
                        </a:lnTo>
                        <a:lnTo>
                          <a:pt x="13329" y="22323"/>
                        </a:lnTo>
                        <a:lnTo>
                          <a:pt x="13144" y="22281"/>
                        </a:lnTo>
                        <a:lnTo>
                          <a:pt x="12961" y="22239"/>
                        </a:lnTo>
                        <a:lnTo>
                          <a:pt x="12597" y="22152"/>
                        </a:lnTo>
                        <a:lnTo>
                          <a:pt x="12237" y="22066"/>
                        </a:lnTo>
                        <a:lnTo>
                          <a:pt x="11882" y="21978"/>
                        </a:lnTo>
                        <a:lnTo>
                          <a:pt x="11532" y="21893"/>
                        </a:lnTo>
                        <a:lnTo>
                          <a:pt x="11532" y="21893"/>
                        </a:lnTo>
                        <a:lnTo>
                          <a:pt x="11118" y="21790"/>
                        </a:lnTo>
                        <a:lnTo>
                          <a:pt x="10710" y="21691"/>
                        </a:lnTo>
                        <a:lnTo>
                          <a:pt x="10509" y="21643"/>
                        </a:lnTo>
                        <a:lnTo>
                          <a:pt x="10310" y="21596"/>
                        </a:lnTo>
                        <a:lnTo>
                          <a:pt x="10113" y="21550"/>
                        </a:lnTo>
                        <a:lnTo>
                          <a:pt x="9918" y="21505"/>
                        </a:lnTo>
                        <a:lnTo>
                          <a:pt x="9725" y="21462"/>
                        </a:lnTo>
                        <a:lnTo>
                          <a:pt x="9535" y="21421"/>
                        </a:lnTo>
                        <a:lnTo>
                          <a:pt x="9347" y="21382"/>
                        </a:lnTo>
                        <a:lnTo>
                          <a:pt x="9162" y="21343"/>
                        </a:lnTo>
                        <a:lnTo>
                          <a:pt x="8978" y="21308"/>
                        </a:lnTo>
                        <a:lnTo>
                          <a:pt x="8798" y="21275"/>
                        </a:lnTo>
                        <a:lnTo>
                          <a:pt x="8620" y="21245"/>
                        </a:lnTo>
                        <a:lnTo>
                          <a:pt x="8446" y="21217"/>
                        </a:lnTo>
                        <a:lnTo>
                          <a:pt x="8446" y="21217"/>
                        </a:lnTo>
                        <a:lnTo>
                          <a:pt x="8328" y="21199"/>
                        </a:lnTo>
                        <a:lnTo>
                          <a:pt x="8211" y="21182"/>
                        </a:lnTo>
                        <a:lnTo>
                          <a:pt x="8094" y="21167"/>
                        </a:lnTo>
                        <a:lnTo>
                          <a:pt x="7980" y="21153"/>
                        </a:lnTo>
                        <a:lnTo>
                          <a:pt x="7866" y="21140"/>
                        </a:lnTo>
                        <a:lnTo>
                          <a:pt x="7752" y="21128"/>
                        </a:lnTo>
                        <a:lnTo>
                          <a:pt x="7641" y="21117"/>
                        </a:lnTo>
                        <a:lnTo>
                          <a:pt x="7530" y="21107"/>
                        </a:lnTo>
                        <a:lnTo>
                          <a:pt x="7421" y="21098"/>
                        </a:lnTo>
                        <a:lnTo>
                          <a:pt x="7313" y="21091"/>
                        </a:lnTo>
                        <a:lnTo>
                          <a:pt x="7206" y="21085"/>
                        </a:lnTo>
                        <a:lnTo>
                          <a:pt x="7100" y="21079"/>
                        </a:lnTo>
                        <a:lnTo>
                          <a:pt x="6996" y="21075"/>
                        </a:lnTo>
                        <a:lnTo>
                          <a:pt x="6893" y="21072"/>
                        </a:lnTo>
                        <a:lnTo>
                          <a:pt x="6791" y="21071"/>
                        </a:lnTo>
                        <a:lnTo>
                          <a:pt x="6690" y="21070"/>
                        </a:lnTo>
                        <a:lnTo>
                          <a:pt x="6690" y="21070"/>
                        </a:lnTo>
                        <a:lnTo>
                          <a:pt x="6595" y="21071"/>
                        </a:lnTo>
                        <a:lnTo>
                          <a:pt x="6501" y="21072"/>
                        </a:lnTo>
                        <a:lnTo>
                          <a:pt x="6408" y="21075"/>
                        </a:lnTo>
                        <a:lnTo>
                          <a:pt x="6316" y="21079"/>
                        </a:lnTo>
                        <a:lnTo>
                          <a:pt x="6225" y="21083"/>
                        </a:lnTo>
                        <a:lnTo>
                          <a:pt x="6135" y="21089"/>
                        </a:lnTo>
                        <a:lnTo>
                          <a:pt x="6047" y="21096"/>
                        </a:lnTo>
                        <a:lnTo>
                          <a:pt x="5959" y="21104"/>
                        </a:lnTo>
                        <a:lnTo>
                          <a:pt x="5873" y="21113"/>
                        </a:lnTo>
                        <a:lnTo>
                          <a:pt x="5787" y="21123"/>
                        </a:lnTo>
                        <a:lnTo>
                          <a:pt x="5703" y="21134"/>
                        </a:lnTo>
                        <a:lnTo>
                          <a:pt x="5620" y="21146"/>
                        </a:lnTo>
                        <a:lnTo>
                          <a:pt x="5538" y="21159"/>
                        </a:lnTo>
                        <a:lnTo>
                          <a:pt x="5457" y="21173"/>
                        </a:lnTo>
                        <a:lnTo>
                          <a:pt x="5378" y="21188"/>
                        </a:lnTo>
                        <a:lnTo>
                          <a:pt x="5300" y="21206"/>
                        </a:lnTo>
                        <a:lnTo>
                          <a:pt x="5222" y="21223"/>
                        </a:lnTo>
                        <a:lnTo>
                          <a:pt x="5146" y="21241"/>
                        </a:lnTo>
                        <a:lnTo>
                          <a:pt x="5071" y="21261"/>
                        </a:lnTo>
                        <a:lnTo>
                          <a:pt x="4997" y="21281"/>
                        </a:lnTo>
                        <a:lnTo>
                          <a:pt x="4924" y="21303"/>
                        </a:lnTo>
                        <a:lnTo>
                          <a:pt x="4853" y="21325"/>
                        </a:lnTo>
                        <a:lnTo>
                          <a:pt x="4783" y="21349"/>
                        </a:lnTo>
                        <a:lnTo>
                          <a:pt x="4713" y="21374"/>
                        </a:lnTo>
                        <a:lnTo>
                          <a:pt x="4646" y="21400"/>
                        </a:lnTo>
                        <a:lnTo>
                          <a:pt x="4579" y="21427"/>
                        </a:lnTo>
                        <a:lnTo>
                          <a:pt x="4513" y="21454"/>
                        </a:lnTo>
                        <a:lnTo>
                          <a:pt x="4449" y="21483"/>
                        </a:lnTo>
                        <a:lnTo>
                          <a:pt x="4386" y="21513"/>
                        </a:lnTo>
                        <a:lnTo>
                          <a:pt x="4324" y="21545"/>
                        </a:lnTo>
                        <a:lnTo>
                          <a:pt x="4264" y="21576"/>
                        </a:lnTo>
                        <a:lnTo>
                          <a:pt x="4204" y="21609"/>
                        </a:lnTo>
                        <a:lnTo>
                          <a:pt x="4204" y="21609"/>
                        </a:lnTo>
                        <a:lnTo>
                          <a:pt x="4145" y="21644"/>
                        </a:lnTo>
                        <a:lnTo>
                          <a:pt x="4087" y="21680"/>
                        </a:lnTo>
                        <a:lnTo>
                          <a:pt x="4030" y="21718"/>
                        </a:lnTo>
                        <a:lnTo>
                          <a:pt x="3975" y="21757"/>
                        </a:lnTo>
                        <a:lnTo>
                          <a:pt x="3921" y="21798"/>
                        </a:lnTo>
                        <a:lnTo>
                          <a:pt x="3867" y="21839"/>
                        </a:lnTo>
                        <a:lnTo>
                          <a:pt x="3815" y="21883"/>
                        </a:lnTo>
                        <a:lnTo>
                          <a:pt x="3764" y="21927"/>
                        </a:lnTo>
                        <a:lnTo>
                          <a:pt x="3714" y="21973"/>
                        </a:lnTo>
                        <a:lnTo>
                          <a:pt x="3665" y="22020"/>
                        </a:lnTo>
                        <a:lnTo>
                          <a:pt x="3618" y="22069"/>
                        </a:lnTo>
                        <a:lnTo>
                          <a:pt x="3572" y="22118"/>
                        </a:lnTo>
                        <a:lnTo>
                          <a:pt x="3526" y="22168"/>
                        </a:lnTo>
                        <a:lnTo>
                          <a:pt x="3482" y="22220"/>
                        </a:lnTo>
                        <a:lnTo>
                          <a:pt x="3439" y="22273"/>
                        </a:lnTo>
                        <a:lnTo>
                          <a:pt x="3397" y="22326"/>
                        </a:lnTo>
                        <a:lnTo>
                          <a:pt x="3355" y="22381"/>
                        </a:lnTo>
                        <a:lnTo>
                          <a:pt x="3315" y="22437"/>
                        </a:lnTo>
                        <a:lnTo>
                          <a:pt x="3276" y="22494"/>
                        </a:lnTo>
                        <a:lnTo>
                          <a:pt x="3239" y="22551"/>
                        </a:lnTo>
                        <a:lnTo>
                          <a:pt x="3202" y="22610"/>
                        </a:lnTo>
                        <a:lnTo>
                          <a:pt x="3165" y="22669"/>
                        </a:lnTo>
                        <a:lnTo>
                          <a:pt x="3130" y="22730"/>
                        </a:lnTo>
                        <a:lnTo>
                          <a:pt x="3097" y="22791"/>
                        </a:lnTo>
                        <a:lnTo>
                          <a:pt x="3064" y="22852"/>
                        </a:lnTo>
                        <a:lnTo>
                          <a:pt x="3032" y="22915"/>
                        </a:lnTo>
                        <a:lnTo>
                          <a:pt x="3001" y="22978"/>
                        </a:lnTo>
                        <a:lnTo>
                          <a:pt x="2971" y="23042"/>
                        </a:lnTo>
                        <a:lnTo>
                          <a:pt x="2942" y="23107"/>
                        </a:lnTo>
                        <a:lnTo>
                          <a:pt x="2914" y="23171"/>
                        </a:lnTo>
                        <a:lnTo>
                          <a:pt x="2887" y="23238"/>
                        </a:lnTo>
                        <a:lnTo>
                          <a:pt x="2861" y="23304"/>
                        </a:lnTo>
                        <a:lnTo>
                          <a:pt x="2835" y="23370"/>
                        </a:lnTo>
                        <a:lnTo>
                          <a:pt x="2811" y="23438"/>
                        </a:lnTo>
                        <a:lnTo>
                          <a:pt x="2787" y="23505"/>
                        </a:lnTo>
                        <a:lnTo>
                          <a:pt x="2765" y="23574"/>
                        </a:lnTo>
                        <a:lnTo>
                          <a:pt x="2744" y="23642"/>
                        </a:lnTo>
                        <a:lnTo>
                          <a:pt x="2723" y="23710"/>
                        </a:lnTo>
                        <a:lnTo>
                          <a:pt x="2703" y="23780"/>
                        </a:lnTo>
                        <a:lnTo>
                          <a:pt x="2684" y="23849"/>
                        </a:lnTo>
                        <a:lnTo>
                          <a:pt x="2666" y="23919"/>
                        </a:lnTo>
                        <a:lnTo>
                          <a:pt x="2648" y="23988"/>
                        </a:lnTo>
                        <a:lnTo>
                          <a:pt x="2632" y="24058"/>
                        </a:lnTo>
                        <a:lnTo>
                          <a:pt x="2616" y="24129"/>
                        </a:lnTo>
                        <a:lnTo>
                          <a:pt x="2602" y="24199"/>
                        </a:lnTo>
                        <a:lnTo>
                          <a:pt x="2588" y="24270"/>
                        </a:lnTo>
                        <a:lnTo>
                          <a:pt x="2575" y="24340"/>
                        </a:lnTo>
                        <a:lnTo>
                          <a:pt x="2563" y="24410"/>
                        </a:lnTo>
                        <a:lnTo>
                          <a:pt x="2551" y="24481"/>
                        </a:lnTo>
                        <a:lnTo>
                          <a:pt x="2540" y="24551"/>
                        </a:lnTo>
                        <a:lnTo>
                          <a:pt x="2531" y="24622"/>
                        </a:lnTo>
                        <a:lnTo>
                          <a:pt x="2521" y="24692"/>
                        </a:lnTo>
                        <a:lnTo>
                          <a:pt x="2513" y="24763"/>
                        </a:lnTo>
                        <a:lnTo>
                          <a:pt x="2505" y="24832"/>
                        </a:lnTo>
                        <a:lnTo>
                          <a:pt x="2499" y="24902"/>
                        </a:lnTo>
                        <a:lnTo>
                          <a:pt x="2492" y="24972"/>
                        </a:lnTo>
                        <a:lnTo>
                          <a:pt x="2486" y="25041"/>
                        </a:lnTo>
                        <a:lnTo>
                          <a:pt x="2481" y="25111"/>
                        </a:lnTo>
                        <a:lnTo>
                          <a:pt x="2477" y="25179"/>
                        </a:lnTo>
                        <a:lnTo>
                          <a:pt x="2474" y="25247"/>
                        </a:lnTo>
                        <a:lnTo>
                          <a:pt x="2471" y="25316"/>
                        </a:lnTo>
                        <a:lnTo>
                          <a:pt x="2470" y="25383"/>
                        </a:lnTo>
                        <a:lnTo>
                          <a:pt x="2468" y="25451"/>
                        </a:lnTo>
                        <a:lnTo>
                          <a:pt x="2468" y="25517"/>
                        </a:lnTo>
                        <a:lnTo>
                          <a:pt x="0" y="25517"/>
                        </a:lnTo>
                        <a:lnTo>
                          <a:pt x="0" y="25517"/>
                        </a:lnTo>
                        <a:lnTo>
                          <a:pt x="2" y="25377"/>
                        </a:lnTo>
                        <a:lnTo>
                          <a:pt x="4" y="25304"/>
                        </a:lnTo>
                        <a:lnTo>
                          <a:pt x="6" y="25228"/>
                        </a:lnTo>
                        <a:lnTo>
                          <a:pt x="9" y="25152"/>
                        </a:lnTo>
                        <a:lnTo>
                          <a:pt x="13" y="25073"/>
                        </a:lnTo>
                        <a:lnTo>
                          <a:pt x="18" y="24993"/>
                        </a:lnTo>
                        <a:lnTo>
                          <a:pt x="24" y="24910"/>
                        </a:lnTo>
                        <a:lnTo>
                          <a:pt x="31" y="24827"/>
                        </a:lnTo>
                        <a:lnTo>
                          <a:pt x="39" y="24741"/>
                        </a:lnTo>
                        <a:lnTo>
                          <a:pt x="47" y="24655"/>
                        </a:lnTo>
                        <a:lnTo>
                          <a:pt x="57" y="24566"/>
                        </a:lnTo>
                        <a:lnTo>
                          <a:pt x="68" y="24477"/>
                        </a:lnTo>
                        <a:lnTo>
                          <a:pt x="80" y="24386"/>
                        </a:lnTo>
                        <a:lnTo>
                          <a:pt x="93" y="24294"/>
                        </a:lnTo>
                        <a:lnTo>
                          <a:pt x="107" y="24201"/>
                        </a:lnTo>
                        <a:lnTo>
                          <a:pt x="123" y="24107"/>
                        </a:lnTo>
                        <a:lnTo>
                          <a:pt x="140" y="24011"/>
                        </a:lnTo>
                        <a:lnTo>
                          <a:pt x="158" y="23916"/>
                        </a:lnTo>
                        <a:lnTo>
                          <a:pt x="178" y="23818"/>
                        </a:lnTo>
                        <a:lnTo>
                          <a:pt x="199" y="23720"/>
                        </a:lnTo>
                        <a:lnTo>
                          <a:pt x="223" y="23621"/>
                        </a:lnTo>
                        <a:lnTo>
                          <a:pt x="247" y="23521"/>
                        </a:lnTo>
                        <a:lnTo>
                          <a:pt x="273" y="23422"/>
                        </a:lnTo>
                        <a:lnTo>
                          <a:pt x="301" y="23321"/>
                        </a:lnTo>
                        <a:lnTo>
                          <a:pt x="330" y="23219"/>
                        </a:lnTo>
                        <a:lnTo>
                          <a:pt x="361" y="23118"/>
                        </a:lnTo>
                        <a:lnTo>
                          <a:pt x="395" y="23015"/>
                        </a:lnTo>
                        <a:lnTo>
                          <a:pt x="430" y="22913"/>
                        </a:lnTo>
                        <a:lnTo>
                          <a:pt x="466" y="22810"/>
                        </a:lnTo>
                        <a:lnTo>
                          <a:pt x="505" y="22707"/>
                        </a:lnTo>
                        <a:lnTo>
                          <a:pt x="546" y="22604"/>
                        </a:lnTo>
                        <a:lnTo>
                          <a:pt x="546" y="22604"/>
                        </a:lnTo>
                        <a:lnTo>
                          <a:pt x="592" y="22494"/>
                        </a:lnTo>
                        <a:lnTo>
                          <a:pt x="639" y="22386"/>
                        </a:lnTo>
                        <a:lnTo>
                          <a:pt x="688" y="22279"/>
                        </a:lnTo>
                        <a:lnTo>
                          <a:pt x="739" y="22174"/>
                        </a:lnTo>
                        <a:lnTo>
                          <a:pt x="791" y="22072"/>
                        </a:lnTo>
                        <a:lnTo>
                          <a:pt x="844" y="21970"/>
                        </a:lnTo>
                        <a:lnTo>
                          <a:pt x="899" y="21870"/>
                        </a:lnTo>
                        <a:lnTo>
                          <a:pt x="957" y="21773"/>
                        </a:lnTo>
                        <a:lnTo>
                          <a:pt x="1015" y="21676"/>
                        </a:lnTo>
                        <a:lnTo>
                          <a:pt x="1075" y="21582"/>
                        </a:lnTo>
                        <a:lnTo>
                          <a:pt x="1137" y="21489"/>
                        </a:lnTo>
                        <a:lnTo>
                          <a:pt x="1200" y="21398"/>
                        </a:lnTo>
                        <a:lnTo>
                          <a:pt x="1266" y="21309"/>
                        </a:lnTo>
                        <a:lnTo>
                          <a:pt x="1332" y="21222"/>
                        </a:lnTo>
                        <a:lnTo>
                          <a:pt x="1400" y="21136"/>
                        </a:lnTo>
                        <a:lnTo>
                          <a:pt x="1470" y="21052"/>
                        </a:lnTo>
                        <a:lnTo>
                          <a:pt x="1541" y="20970"/>
                        </a:lnTo>
                        <a:lnTo>
                          <a:pt x="1614" y="20890"/>
                        </a:lnTo>
                        <a:lnTo>
                          <a:pt x="1688" y="20811"/>
                        </a:lnTo>
                        <a:lnTo>
                          <a:pt x="1763" y="20734"/>
                        </a:lnTo>
                        <a:lnTo>
                          <a:pt x="1841" y="20659"/>
                        </a:lnTo>
                        <a:lnTo>
                          <a:pt x="1920" y="20586"/>
                        </a:lnTo>
                        <a:lnTo>
                          <a:pt x="2001" y="20514"/>
                        </a:lnTo>
                        <a:lnTo>
                          <a:pt x="2082" y="20445"/>
                        </a:lnTo>
                        <a:lnTo>
                          <a:pt x="2166" y="20377"/>
                        </a:lnTo>
                        <a:lnTo>
                          <a:pt x="2251" y="20311"/>
                        </a:lnTo>
                        <a:lnTo>
                          <a:pt x="2338" y="20247"/>
                        </a:lnTo>
                        <a:lnTo>
                          <a:pt x="2426" y="20184"/>
                        </a:lnTo>
                        <a:lnTo>
                          <a:pt x="2516" y="20124"/>
                        </a:lnTo>
                        <a:lnTo>
                          <a:pt x="2607" y="20065"/>
                        </a:lnTo>
                        <a:lnTo>
                          <a:pt x="2700" y="20008"/>
                        </a:lnTo>
                        <a:lnTo>
                          <a:pt x="2793" y="19953"/>
                        </a:lnTo>
                        <a:lnTo>
                          <a:pt x="2793" y="19953"/>
                        </a:lnTo>
                        <a:lnTo>
                          <a:pt x="2893" y="19898"/>
                        </a:lnTo>
                        <a:lnTo>
                          <a:pt x="2993" y="19844"/>
                        </a:lnTo>
                        <a:lnTo>
                          <a:pt x="3095" y="19793"/>
                        </a:lnTo>
                        <a:lnTo>
                          <a:pt x="3199" y="19743"/>
                        </a:lnTo>
                        <a:lnTo>
                          <a:pt x="3304" y="19695"/>
                        </a:lnTo>
                        <a:lnTo>
                          <a:pt x="3411" y="19648"/>
                        </a:lnTo>
                        <a:lnTo>
                          <a:pt x="3519" y="19603"/>
                        </a:lnTo>
                        <a:lnTo>
                          <a:pt x="3629" y="19560"/>
                        </a:lnTo>
                        <a:lnTo>
                          <a:pt x="3740" y="19519"/>
                        </a:lnTo>
                        <a:lnTo>
                          <a:pt x="3852" y="19479"/>
                        </a:lnTo>
                        <a:lnTo>
                          <a:pt x="3967" y="19441"/>
                        </a:lnTo>
                        <a:lnTo>
                          <a:pt x="4083" y="19405"/>
                        </a:lnTo>
                        <a:lnTo>
                          <a:pt x="4199" y="19371"/>
                        </a:lnTo>
                        <a:lnTo>
                          <a:pt x="4318" y="19338"/>
                        </a:lnTo>
                        <a:lnTo>
                          <a:pt x="4438" y="19307"/>
                        </a:lnTo>
                        <a:lnTo>
                          <a:pt x="4559" y="19278"/>
                        </a:lnTo>
                        <a:lnTo>
                          <a:pt x="4682" y="19251"/>
                        </a:lnTo>
                        <a:lnTo>
                          <a:pt x="4807" y="19226"/>
                        </a:lnTo>
                        <a:lnTo>
                          <a:pt x="4932" y="19202"/>
                        </a:lnTo>
                        <a:lnTo>
                          <a:pt x="5059" y="19180"/>
                        </a:lnTo>
                        <a:lnTo>
                          <a:pt x="5188" y="19159"/>
                        </a:lnTo>
                        <a:lnTo>
                          <a:pt x="5319" y="19140"/>
                        </a:lnTo>
                        <a:lnTo>
                          <a:pt x="5449" y="19124"/>
                        </a:lnTo>
                        <a:lnTo>
                          <a:pt x="5582" y="19109"/>
                        </a:lnTo>
                        <a:lnTo>
                          <a:pt x="5717" y="19096"/>
                        </a:lnTo>
                        <a:lnTo>
                          <a:pt x="5852" y="19084"/>
                        </a:lnTo>
                        <a:lnTo>
                          <a:pt x="5989" y="19074"/>
                        </a:lnTo>
                        <a:lnTo>
                          <a:pt x="6127" y="19066"/>
                        </a:lnTo>
                        <a:lnTo>
                          <a:pt x="6267" y="19060"/>
                        </a:lnTo>
                        <a:lnTo>
                          <a:pt x="6408" y="19056"/>
                        </a:lnTo>
                        <a:lnTo>
                          <a:pt x="6551" y="19053"/>
                        </a:lnTo>
                        <a:lnTo>
                          <a:pt x="6694" y="19052"/>
                        </a:lnTo>
                        <a:lnTo>
                          <a:pt x="6694" y="19052"/>
                        </a:lnTo>
                        <a:lnTo>
                          <a:pt x="6824" y="19053"/>
                        </a:lnTo>
                        <a:lnTo>
                          <a:pt x="6955" y="19055"/>
                        </a:lnTo>
                        <a:lnTo>
                          <a:pt x="7087" y="19059"/>
                        </a:lnTo>
                        <a:lnTo>
                          <a:pt x="7220" y="19064"/>
                        </a:lnTo>
                        <a:lnTo>
                          <a:pt x="7354" y="19070"/>
                        </a:lnTo>
                        <a:lnTo>
                          <a:pt x="7490" y="19078"/>
                        </a:lnTo>
                        <a:lnTo>
                          <a:pt x="7627" y="19087"/>
                        </a:lnTo>
                        <a:lnTo>
                          <a:pt x="7765" y="19097"/>
                        </a:lnTo>
                        <a:lnTo>
                          <a:pt x="7903" y="19109"/>
                        </a:lnTo>
                        <a:lnTo>
                          <a:pt x="8044" y="19123"/>
                        </a:lnTo>
                        <a:lnTo>
                          <a:pt x="8185" y="19138"/>
                        </a:lnTo>
                        <a:lnTo>
                          <a:pt x="8327" y="19154"/>
                        </a:lnTo>
                        <a:lnTo>
                          <a:pt x="8470" y="19171"/>
                        </a:lnTo>
                        <a:lnTo>
                          <a:pt x="8613" y="19191"/>
                        </a:lnTo>
                        <a:lnTo>
                          <a:pt x="8757" y="19211"/>
                        </a:lnTo>
                        <a:lnTo>
                          <a:pt x="8903" y="19233"/>
                        </a:lnTo>
                        <a:lnTo>
                          <a:pt x="8903" y="19233"/>
                        </a:lnTo>
                        <a:lnTo>
                          <a:pt x="9101" y="19265"/>
                        </a:lnTo>
                        <a:lnTo>
                          <a:pt x="9300" y="19298"/>
                        </a:lnTo>
                        <a:lnTo>
                          <a:pt x="9501" y="19335"/>
                        </a:lnTo>
                        <a:lnTo>
                          <a:pt x="9704" y="19374"/>
                        </a:lnTo>
                        <a:lnTo>
                          <a:pt x="9907" y="19415"/>
                        </a:lnTo>
                        <a:lnTo>
                          <a:pt x="10112" y="19457"/>
                        </a:lnTo>
                        <a:lnTo>
                          <a:pt x="10318" y="19501"/>
                        </a:lnTo>
                        <a:lnTo>
                          <a:pt x="10526" y="19548"/>
                        </a:lnTo>
                        <a:lnTo>
                          <a:pt x="10735" y="19596"/>
                        </a:lnTo>
                        <a:lnTo>
                          <a:pt x="10947" y="19644"/>
                        </a:lnTo>
                        <a:lnTo>
                          <a:pt x="11159" y="19695"/>
                        </a:lnTo>
                        <a:lnTo>
                          <a:pt x="11373" y="19746"/>
                        </a:lnTo>
                        <a:lnTo>
                          <a:pt x="11806" y="19852"/>
                        </a:lnTo>
                        <a:lnTo>
                          <a:pt x="12244" y="19959"/>
                        </a:lnTo>
                        <a:lnTo>
                          <a:pt x="12244" y="19959"/>
                        </a:lnTo>
                        <a:lnTo>
                          <a:pt x="12609" y="20050"/>
                        </a:lnTo>
                        <a:lnTo>
                          <a:pt x="12976" y="20139"/>
                        </a:lnTo>
                        <a:lnTo>
                          <a:pt x="13343" y="20228"/>
                        </a:lnTo>
                        <a:lnTo>
                          <a:pt x="13710" y="20314"/>
                        </a:lnTo>
                        <a:lnTo>
                          <a:pt x="13894" y="20356"/>
                        </a:lnTo>
                        <a:lnTo>
                          <a:pt x="14078" y="20399"/>
                        </a:lnTo>
                        <a:lnTo>
                          <a:pt x="14262" y="20439"/>
                        </a:lnTo>
                        <a:lnTo>
                          <a:pt x="14445" y="20479"/>
                        </a:lnTo>
                        <a:lnTo>
                          <a:pt x="14628" y="20517"/>
                        </a:lnTo>
                        <a:lnTo>
                          <a:pt x="14810" y="20556"/>
                        </a:lnTo>
                        <a:lnTo>
                          <a:pt x="14993" y="20592"/>
                        </a:lnTo>
                        <a:lnTo>
                          <a:pt x="15174" y="20627"/>
                        </a:lnTo>
                        <a:lnTo>
                          <a:pt x="15356" y="20661"/>
                        </a:lnTo>
                        <a:lnTo>
                          <a:pt x="15537" y="20693"/>
                        </a:lnTo>
                        <a:lnTo>
                          <a:pt x="15717" y="20724"/>
                        </a:lnTo>
                        <a:lnTo>
                          <a:pt x="15896" y="20753"/>
                        </a:lnTo>
                        <a:lnTo>
                          <a:pt x="16075" y="20780"/>
                        </a:lnTo>
                        <a:lnTo>
                          <a:pt x="16253" y="20805"/>
                        </a:lnTo>
                        <a:lnTo>
                          <a:pt x="16431" y="20829"/>
                        </a:lnTo>
                        <a:lnTo>
                          <a:pt x="16607" y="20850"/>
                        </a:lnTo>
                        <a:lnTo>
                          <a:pt x="16783" y="20870"/>
                        </a:lnTo>
                        <a:lnTo>
                          <a:pt x="16958" y="20887"/>
                        </a:lnTo>
                        <a:lnTo>
                          <a:pt x="17131" y="20901"/>
                        </a:lnTo>
                        <a:lnTo>
                          <a:pt x="17217" y="20907"/>
                        </a:lnTo>
                        <a:lnTo>
                          <a:pt x="17304" y="20913"/>
                        </a:lnTo>
                        <a:lnTo>
                          <a:pt x="17389" y="20918"/>
                        </a:lnTo>
                        <a:lnTo>
                          <a:pt x="17475" y="20923"/>
                        </a:lnTo>
                        <a:lnTo>
                          <a:pt x="17560" y="20926"/>
                        </a:lnTo>
                        <a:lnTo>
                          <a:pt x="17646" y="20930"/>
                        </a:lnTo>
                        <a:lnTo>
                          <a:pt x="17730" y="20932"/>
                        </a:lnTo>
                        <a:lnTo>
                          <a:pt x="17815" y="20934"/>
                        </a:lnTo>
                        <a:lnTo>
                          <a:pt x="17898" y="20935"/>
                        </a:lnTo>
                        <a:lnTo>
                          <a:pt x="17983" y="20935"/>
                        </a:lnTo>
                        <a:lnTo>
                          <a:pt x="17983" y="20935"/>
                        </a:lnTo>
                        <a:lnTo>
                          <a:pt x="18128" y="20934"/>
                        </a:lnTo>
                        <a:lnTo>
                          <a:pt x="18270" y="20931"/>
                        </a:lnTo>
                        <a:lnTo>
                          <a:pt x="18412" y="20925"/>
                        </a:lnTo>
                        <a:lnTo>
                          <a:pt x="18551" y="20917"/>
                        </a:lnTo>
                        <a:lnTo>
                          <a:pt x="18689" y="20907"/>
                        </a:lnTo>
                        <a:lnTo>
                          <a:pt x="18756" y="20901"/>
                        </a:lnTo>
                        <a:lnTo>
                          <a:pt x="18824" y="20895"/>
                        </a:lnTo>
                        <a:lnTo>
                          <a:pt x="18890" y="20888"/>
                        </a:lnTo>
                        <a:lnTo>
                          <a:pt x="18956" y="20881"/>
                        </a:lnTo>
                        <a:lnTo>
                          <a:pt x="19023" y="20872"/>
                        </a:lnTo>
                        <a:lnTo>
                          <a:pt x="19088" y="20863"/>
                        </a:lnTo>
                        <a:lnTo>
                          <a:pt x="19152" y="20854"/>
                        </a:lnTo>
                        <a:lnTo>
                          <a:pt x="19217" y="20844"/>
                        </a:lnTo>
                        <a:lnTo>
                          <a:pt x="19281" y="20833"/>
                        </a:lnTo>
                        <a:lnTo>
                          <a:pt x="19345" y="20822"/>
                        </a:lnTo>
                        <a:lnTo>
                          <a:pt x="19407" y="20811"/>
                        </a:lnTo>
                        <a:lnTo>
                          <a:pt x="19470" y="20799"/>
                        </a:lnTo>
                        <a:lnTo>
                          <a:pt x="19532" y="20786"/>
                        </a:lnTo>
                        <a:lnTo>
                          <a:pt x="19593" y="20773"/>
                        </a:lnTo>
                        <a:lnTo>
                          <a:pt x="19654" y="20759"/>
                        </a:lnTo>
                        <a:lnTo>
                          <a:pt x="19715" y="20745"/>
                        </a:lnTo>
                        <a:lnTo>
                          <a:pt x="19775" y="20730"/>
                        </a:lnTo>
                        <a:lnTo>
                          <a:pt x="19834" y="20715"/>
                        </a:lnTo>
                        <a:lnTo>
                          <a:pt x="19894" y="20699"/>
                        </a:lnTo>
                        <a:lnTo>
                          <a:pt x="19952" y="20681"/>
                        </a:lnTo>
                        <a:lnTo>
                          <a:pt x="20010" y="20664"/>
                        </a:lnTo>
                        <a:lnTo>
                          <a:pt x="20069" y="20646"/>
                        </a:lnTo>
                        <a:lnTo>
                          <a:pt x="20125" y="20628"/>
                        </a:lnTo>
                        <a:lnTo>
                          <a:pt x="20182" y="20609"/>
                        </a:lnTo>
                        <a:lnTo>
                          <a:pt x="20239" y="20589"/>
                        </a:lnTo>
                        <a:lnTo>
                          <a:pt x="20295" y="20569"/>
                        </a:lnTo>
                        <a:lnTo>
                          <a:pt x="20350" y="20549"/>
                        </a:lnTo>
                        <a:lnTo>
                          <a:pt x="20405" y="20528"/>
                        </a:lnTo>
                        <a:lnTo>
                          <a:pt x="20459" y="20505"/>
                        </a:lnTo>
                        <a:lnTo>
                          <a:pt x="20513" y="20482"/>
                        </a:lnTo>
                        <a:lnTo>
                          <a:pt x="20567" y="20460"/>
                        </a:lnTo>
                        <a:lnTo>
                          <a:pt x="20620" y="20436"/>
                        </a:lnTo>
                        <a:lnTo>
                          <a:pt x="20673" y="20412"/>
                        </a:lnTo>
                        <a:lnTo>
                          <a:pt x="20725" y="20387"/>
                        </a:lnTo>
                        <a:lnTo>
                          <a:pt x="20777" y="20362"/>
                        </a:lnTo>
                        <a:lnTo>
                          <a:pt x="20828" y="20335"/>
                        </a:lnTo>
                        <a:lnTo>
                          <a:pt x="20879" y="20309"/>
                        </a:lnTo>
                        <a:lnTo>
                          <a:pt x="20930" y="20282"/>
                        </a:lnTo>
                        <a:lnTo>
                          <a:pt x="20980" y="20254"/>
                        </a:lnTo>
                        <a:lnTo>
                          <a:pt x="21029" y="20226"/>
                        </a:lnTo>
                        <a:lnTo>
                          <a:pt x="21078" y="20198"/>
                        </a:lnTo>
                        <a:lnTo>
                          <a:pt x="21128" y="20167"/>
                        </a:lnTo>
                        <a:lnTo>
                          <a:pt x="21176" y="20138"/>
                        </a:lnTo>
                        <a:lnTo>
                          <a:pt x="21223" y="20107"/>
                        </a:lnTo>
                        <a:lnTo>
                          <a:pt x="21270" y="20076"/>
                        </a:lnTo>
                        <a:lnTo>
                          <a:pt x="21318" y="20045"/>
                        </a:lnTo>
                        <a:lnTo>
                          <a:pt x="21364" y="20011"/>
                        </a:lnTo>
                        <a:lnTo>
                          <a:pt x="21410" y="19979"/>
                        </a:lnTo>
                        <a:lnTo>
                          <a:pt x="21457" y="19945"/>
                        </a:lnTo>
                        <a:lnTo>
                          <a:pt x="21502" y="19911"/>
                        </a:lnTo>
                        <a:lnTo>
                          <a:pt x="21547" y="19877"/>
                        </a:lnTo>
                        <a:lnTo>
                          <a:pt x="21591" y="19841"/>
                        </a:lnTo>
                        <a:lnTo>
                          <a:pt x="21636" y="19805"/>
                        </a:lnTo>
                        <a:lnTo>
                          <a:pt x="21679" y="19769"/>
                        </a:lnTo>
                        <a:lnTo>
                          <a:pt x="21679" y="19769"/>
                        </a:lnTo>
                        <a:lnTo>
                          <a:pt x="21735" y="19721"/>
                        </a:lnTo>
                        <a:lnTo>
                          <a:pt x="21790" y="19670"/>
                        </a:lnTo>
                        <a:lnTo>
                          <a:pt x="21846" y="19620"/>
                        </a:lnTo>
                        <a:lnTo>
                          <a:pt x="21900" y="19569"/>
                        </a:lnTo>
                        <a:lnTo>
                          <a:pt x="21954" y="19516"/>
                        </a:lnTo>
                        <a:lnTo>
                          <a:pt x="22008" y="19462"/>
                        </a:lnTo>
                        <a:lnTo>
                          <a:pt x="22060" y="19407"/>
                        </a:lnTo>
                        <a:lnTo>
                          <a:pt x="22112" y="19352"/>
                        </a:lnTo>
                        <a:lnTo>
                          <a:pt x="22164" y="19295"/>
                        </a:lnTo>
                        <a:lnTo>
                          <a:pt x="22214" y="19238"/>
                        </a:lnTo>
                        <a:lnTo>
                          <a:pt x="22263" y="19179"/>
                        </a:lnTo>
                        <a:lnTo>
                          <a:pt x="22312" y="19119"/>
                        </a:lnTo>
                        <a:lnTo>
                          <a:pt x="22361" y="19060"/>
                        </a:lnTo>
                        <a:lnTo>
                          <a:pt x="22407" y="18998"/>
                        </a:lnTo>
                        <a:lnTo>
                          <a:pt x="22454" y="18937"/>
                        </a:lnTo>
                        <a:lnTo>
                          <a:pt x="22499" y="18874"/>
                        </a:lnTo>
                        <a:lnTo>
                          <a:pt x="22544" y="18810"/>
                        </a:lnTo>
                        <a:lnTo>
                          <a:pt x="22587" y="18747"/>
                        </a:lnTo>
                        <a:lnTo>
                          <a:pt x="22629" y="18683"/>
                        </a:lnTo>
                        <a:lnTo>
                          <a:pt x="22670" y="18617"/>
                        </a:lnTo>
                        <a:lnTo>
                          <a:pt x="22712" y="18551"/>
                        </a:lnTo>
                        <a:lnTo>
                          <a:pt x="22751" y="18484"/>
                        </a:lnTo>
                        <a:lnTo>
                          <a:pt x="22789" y="18417"/>
                        </a:lnTo>
                        <a:lnTo>
                          <a:pt x="22826" y="18350"/>
                        </a:lnTo>
                        <a:lnTo>
                          <a:pt x="22862" y="18281"/>
                        </a:lnTo>
                        <a:lnTo>
                          <a:pt x="22897" y="18212"/>
                        </a:lnTo>
                        <a:lnTo>
                          <a:pt x="22930" y="18143"/>
                        </a:lnTo>
                        <a:lnTo>
                          <a:pt x="22962" y="18073"/>
                        </a:lnTo>
                        <a:lnTo>
                          <a:pt x="22993" y="18003"/>
                        </a:lnTo>
                        <a:lnTo>
                          <a:pt x="23022" y="17932"/>
                        </a:lnTo>
                        <a:lnTo>
                          <a:pt x="23052" y="17862"/>
                        </a:lnTo>
                        <a:lnTo>
                          <a:pt x="23078" y="17790"/>
                        </a:lnTo>
                        <a:lnTo>
                          <a:pt x="23104" y="17719"/>
                        </a:lnTo>
                        <a:lnTo>
                          <a:pt x="23128" y="17646"/>
                        </a:lnTo>
                        <a:lnTo>
                          <a:pt x="23151" y="17574"/>
                        </a:lnTo>
                        <a:lnTo>
                          <a:pt x="23172" y="17502"/>
                        </a:lnTo>
                        <a:lnTo>
                          <a:pt x="23191" y="17429"/>
                        </a:lnTo>
                        <a:lnTo>
                          <a:pt x="23211" y="17356"/>
                        </a:lnTo>
                        <a:lnTo>
                          <a:pt x="23227" y="17283"/>
                        </a:lnTo>
                        <a:lnTo>
                          <a:pt x="23242" y="17210"/>
                        </a:lnTo>
                        <a:lnTo>
                          <a:pt x="23256" y="17136"/>
                        </a:lnTo>
                        <a:lnTo>
                          <a:pt x="23268" y="17063"/>
                        </a:lnTo>
                        <a:lnTo>
                          <a:pt x="23278" y="16990"/>
                        </a:lnTo>
                        <a:lnTo>
                          <a:pt x="23286" y="16916"/>
                        </a:lnTo>
                        <a:lnTo>
                          <a:pt x="23293" y="16842"/>
                        </a:lnTo>
                        <a:lnTo>
                          <a:pt x="23298" y="16768"/>
                        </a:lnTo>
                        <a:lnTo>
                          <a:pt x="23302" y="16695"/>
                        </a:lnTo>
                        <a:lnTo>
                          <a:pt x="23303" y="16621"/>
                        </a:lnTo>
                        <a:lnTo>
                          <a:pt x="23303" y="16548"/>
                        </a:lnTo>
                        <a:lnTo>
                          <a:pt x="23301" y="16475"/>
                        </a:lnTo>
                        <a:lnTo>
                          <a:pt x="23297" y="16401"/>
                        </a:lnTo>
                        <a:lnTo>
                          <a:pt x="23291" y="16328"/>
                        </a:lnTo>
                        <a:lnTo>
                          <a:pt x="23283" y="16255"/>
                        </a:lnTo>
                        <a:lnTo>
                          <a:pt x="23274" y="16182"/>
                        </a:lnTo>
                        <a:lnTo>
                          <a:pt x="23262" y="16109"/>
                        </a:lnTo>
                        <a:lnTo>
                          <a:pt x="23248" y="16037"/>
                        </a:lnTo>
                        <a:lnTo>
                          <a:pt x="23233" y="15966"/>
                        </a:lnTo>
                        <a:lnTo>
                          <a:pt x="23215" y="15894"/>
                        </a:lnTo>
                        <a:lnTo>
                          <a:pt x="23194" y="15823"/>
                        </a:lnTo>
                        <a:lnTo>
                          <a:pt x="23172" y="15751"/>
                        </a:lnTo>
                        <a:lnTo>
                          <a:pt x="23148" y="15681"/>
                        </a:lnTo>
                        <a:lnTo>
                          <a:pt x="23122" y="15610"/>
                        </a:lnTo>
                        <a:lnTo>
                          <a:pt x="23093" y="15541"/>
                        </a:lnTo>
                        <a:lnTo>
                          <a:pt x="23062" y="15472"/>
                        </a:lnTo>
                        <a:lnTo>
                          <a:pt x="23062" y="15472"/>
                        </a:lnTo>
                        <a:lnTo>
                          <a:pt x="23042" y="15427"/>
                        </a:lnTo>
                        <a:lnTo>
                          <a:pt x="23019" y="15382"/>
                        </a:lnTo>
                        <a:lnTo>
                          <a:pt x="22996" y="15338"/>
                        </a:lnTo>
                        <a:lnTo>
                          <a:pt x="22973" y="15293"/>
                        </a:lnTo>
                        <a:lnTo>
                          <a:pt x="22948" y="15247"/>
                        </a:lnTo>
                        <a:lnTo>
                          <a:pt x="22923" y="15202"/>
                        </a:lnTo>
                        <a:lnTo>
                          <a:pt x="22896" y="15157"/>
                        </a:lnTo>
                        <a:lnTo>
                          <a:pt x="22869" y="15111"/>
                        </a:lnTo>
                        <a:lnTo>
                          <a:pt x="22840" y="15066"/>
                        </a:lnTo>
                        <a:lnTo>
                          <a:pt x="22812" y="15022"/>
                        </a:lnTo>
                        <a:lnTo>
                          <a:pt x="22782" y="14977"/>
                        </a:lnTo>
                        <a:lnTo>
                          <a:pt x="22751" y="14931"/>
                        </a:lnTo>
                        <a:lnTo>
                          <a:pt x="22720" y="14886"/>
                        </a:lnTo>
                        <a:lnTo>
                          <a:pt x="22687" y="14842"/>
                        </a:lnTo>
                        <a:lnTo>
                          <a:pt x="22653" y="14797"/>
                        </a:lnTo>
                        <a:lnTo>
                          <a:pt x="22619" y="14752"/>
                        </a:lnTo>
                        <a:lnTo>
                          <a:pt x="22584" y="14708"/>
                        </a:lnTo>
                        <a:lnTo>
                          <a:pt x="22549" y="14664"/>
                        </a:lnTo>
                        <a:lnTo>
                          <a:pt x="22512" y="14621"/>
                        </a:lnTo>
                        <a:lnTo>
                          <a:pt x="22474" y="14577"/>
                        </a:lnTo>
                        <a:lnTo>
                          <a:pt x="22435" y="14534"/>
                        </a:lnTo>
                        <a:lnTo>
                          <a:pt x="22396" y="14492"/>
                        </a:lnTo>
                        <a:lnTo>
                          <a:pt x="22356" y="14450"/>
                        </a:lnTo>
                        <a:lnTo>
                          <a:pt x="22315" y="14407"/>
                        </a:lnTo>
                        <a:lnTo>
                          <a:pt x="22273" y="14366"/>
                        </a:lnTo>
                        <a:lnTo>
                          <a:pt x="22231" y="14326"/>
                        </a:lnTo>
                        <a:lnTo>
                          <a:pt x="22187" y="14285"/>
                        </a:lnTo>
                        <a:lnTo>
                          <a:pt x="22142" y="14245"/>
                        </a:lnTo>
                        <a:lnTo>
                          <a:pt x="22097" y="14206"/>
                        </a:lnTo>
                        <a:lnTo>
                          <a:pt x="22052" y="14168"/>
                        </a:lnTo>
                        <a:lnTo>
                          <a:pt x="22005" y="14130"/>
                        </a:lnTo>
                        <a:lnTo>
                          <a:pt x="21957" y="14092"/>
                        </a:lnTo>
                        <a:lnTo>
                          <a:pt x="21909" y="14055"/>
                        </a:lnTo>
                        <a:lnTo>
                          <a:pt x="21860" y="14020"/>
                        </a:lnTo>
                        <a:lnTo>
                          <a:pt x="21810" y="13985"/>
                        </a:lnTo>
                        <a:lnTo>
                          <a:pt x="21759" y="13951"/>
                        </a:lnTo>
                        <a:lnTo>
                          <a:pt x="21708" y="13916"/>
                        </a:lnTo>
                        <a:lnTo>
                          <a:pt x="21656" y="13884"/>
                        </a:lnTo>
                        <a:lnTo>
                          <a:pt x="21602" y="13852"/>
                        </a:lnTo>
                        <a:lnTo>
                          <a:pt x="21548" y="13821"/>
                        </a:lnTo>
                        <a:lnTo>
                          <a:pt x="21494" y="13791"/>
                        </a:lnTo>
                        <a:lnTo>
                          <a:pt x="21438" y="13761"/>
                        </a:lnTo>
                        <a:lnTo>
                          <a:pt x="21382" y="13734"/>
                        </a:lnTo>
                        <a:lnTo>
                          <a:pt x="21325" y="13707"/>
                        </a:lnTo>
                        <a:lnTo>
                          <a:pt x="21266" y="13681"/>
                        </a:lnTo>
                        <a:lnTo>
                          <a:pt x="21208" y="13656"/>
                        </a:lnTo>
                        <a:lnTo>
                          <a:pt x="21149" y="13632"/>
                        </a:lnTo>
                        <a:lnTo>
                          <a:pt x="21088" y="13610"/>
                        </a:lnTo>
                        <a:lnTo>
                          <a:pt x="21028" y="13587"/>
                        </a:lnTo>
                        <a:lnTo>
                          <a:pt x="20967" y="13567"/>
                        </a:lnTo>
                        <a:lnTo>
                          <a:pt x="20904" y="13548"/>
                        </a:lnTo>
                        <a:lnTo>
                          <a:pt x="20841" y="13530"/>
                        </a:lnTo>
                        <a:lnTo>
                          <a:pt x="20778" y="13513"/>
                        </a:lnTo>
                        <a:lnTo>
                          <a:pt x="20712" y="13498"/>
                        </a:lnTo>
                        <a:lnTo>
                          <a:pt x="20647" y="13484"/>
                        </a:lnTo>
                        <a:lnTo>
                          <a:pt x="20582" y="13471"/>
                        </a:lnTo>
                        <a:lnTo>
                          <a:pt x="20514" y="13460"/>
                        </a:lnTo>
                        <a:lnTo>
                          <a:pt x="20447" y="13450"/>
                        </a:lnTo>
                        <a:lnTo>
                          <a:pt x="20378" y="13442"/>
                        </a:lnTo>
                        <a:lnTo>
                          <a:pt x="20310" y="13435"/>
                        </a:lnTo>
                        <a:lnTo>
                          <a:pt x="20241" y="13428"/>
                        </a:lnTo>
                        <a:lnTo>
                          <a:pt x="20170" y="13425"/>
                        </a:lnTo>
                        <a:lnTo>
                          <a:pt x="20099" y="13422"/>
                        </a:lnTo>
                        <a:lnTo>
                          <a:pt x="20026" y="13421"/>
                        </a:lnTo>
                        <a:lnTo>
                          <a:pt x="20026" y="13421"/>
                        </a:lnTo>
                        <a:lnTo>
                          <a:pt x="19956" y="13422"/>
                        </a:lnTo>
                        <a:lnTo>
                          <a:pt x="19886" y="13424"/>
                        </a:lnTo>
                        <a:lnTo>
                          <a:pt x="19814" y="13428"/>
                        </a:lnTo>
                        <a:lnTo>
                          <a:pt x="19743" y="13435"/>
                        </a:lnTo>
                        <a:lnTo>
                          <a:pt x="19743" y="13435"/>
                        </a:lnTo>
                        <a:lnTo>
                          <a:pt x="19654" y="13443"/>
                        </a:lnTo>
                        <a:lnTo>
                          <a:pt x="19566" y="13452"/>
                        </a:lnTo>
                        <a:lnTo>
                          <a:pt x="19477" y="13463"/>
                        </a:lnTo>
                        <a:lnTo>
                          <a:pt x="19390" y="13475"/>
                        </a:lnTo>
                        <a:lnTo>
                          <a:pt x="19301" y="13488"/>
                        </a:lnTo>
                        <a:lnTo>
                          <a:pt x="19213" y="13502"/>
                        </a:lnTo>
                        <a:lnTo>
                          <a:pt x="19124" y="13517"/>
                        </a:lnTo>
                        <a:lnTo>
                          <a:pt x="19036" y="13533"/>
                        </a:lnTo>
                        <a:lnTo>
                          <a:pt x="18947" y="13550"/>
                        </a:lnTo>
                        <a:lnTo>
                          <a:pt x="18859" y="13569"/>
                        </a:lnTo>
                        <a:lnTo>
                          <a:pt x="18770" y="13588"/>
                        </a:lnTo>
                        <a:lnTo>
                          <a:pt x="18681" y="13609"/>
                        </a:lnTo>
                        <a:lnTo>
                          <a:pt x="18592" y="13630"/>
                        </a:lnTo>
                        <a:lnTo>
                          <a:pt x="18504" y="13651"/>
                        </a:lnTo>
                        <a:lnTo>
                          <a:pt x="18414" y="13674"/>
                        </a:lnTo>
                        <a:lnTo>
                          <a:pt x="18326" y="13697"/>
                        </a:lnTo>
                        <a:lnTo>
                          <a:pt x="18236" y="13721"/>
                        </a:lnTo>
                        <a:lnTo>
                          <a:pt x="18147" y="13746"/>
                        </a:lnTo>
                        <a:lnTo>
                          <a:pt x="17967" y="13798"/>
                        </a:lnTo>
                        <a:lnTo>
                          <a:pt x="17787" y="13851"/>
                        </a:lnTo>
                        <a:lnTo>
                          <a:pt x="17606" y="13906"/>
                        </a:lnTo>
                        <a:lnTo>
                          <a:pt x="17425" y="13964"/>
                        </a:lnTo>
                        <a:lnTo>
                          <a:pt x="17242" y="14022"/>
                        </a:lnTo>
                        <a:lnTo>
                          <a:pt x="16872" y="14142"/>
                        </a:lnTo>
                        <a:lnTo>
                          <a:pt x="16671" y="14207"/>
                        </a:lnTo>
                        <a:lnTo>
                          <a:pt x="16671" y="14207"/>
                        </a:lnTo>
                        <a:lnTo>
                          <a:pt x="16344" y="14314"/>
                        </a:lnTo>
                        <a:lnTo>
                          <a:pt x="16012" y="14420"/>
                        </a:lnTo>
                        <a:lnTo>
                          <a:pt x="15843" y="14474"/>
                        </a:lnTo>
                        <a:lnTo>
                          <a:pt x="15674" y="14527"/>
                        </a:lnTo>
                        <a:lnTo>
                          <a:pt x="15503" y="14579"/>
                        </a:lnTo>
                        <a:lnTo>
                          <a:pt x="15331" y="14632"/>
                        </a:lnTo>
                        <a:lnTo>
                          <a:pt x="15158" y="14684"/>
                        </a:lnTo>
                        <a:lnTo>
                          <a:pt x="14984" y="14734"/>
                        </a:lnTo>
                        <a:lnTo>
                          <a:pt x="14808" y="14785"/>
                        </a:lnTo>
                        <a:lnTo>
                          <a:pt x="14632" y="14834"/>
                        </a:lnTo>
                        <a:lnTo>
                          <a:pt x="14455" y="14882"/>
                        </a:lnTo>
                        <a:lnTo>
                          <a:pt x="14276" y="14929"/>
                        </a:lnTo>
                        <a:lnTo>
                          <a:pt x="14097" y="14975"/>
                        </a:lnTo>
                        <a:lnTo>
                          <a:pt x="13916" y="15018"/>
                        </a:lnTo>
                        <a:lnTo>
                          <a:pt x="13735" y="15060"/>
                        </a:lnTo>
                        <a:lnTo>
                          <a:pt x="13553" y="15101"/>
                        </a:lnTo>
                        <a:lnTo>
                          <a:pt x="13369" y="15140"/>
                        </a:lnTo>
                        <a:lnTo>
                          <a:pt x="13185" y="15176"/>
                        </a:lnTo>
                        <a:lnTo>
                          <a:pt x="13000" y="15210"/>
                        </a:lnTo>
                        <a:lnTo>
                          <a:pt x="12908" y="15227"/>
                        </a:lnTo>
                        <a:lnTo>
                          <a:pt x="12814" y="15242"/>
                        </a:lnTo>
                        <a:lnTo>
                          <a:pt x="12722" y="15257"/>
                        </a:lnTo>
                        <a:lnTo>
                          <a:pt x="12628" y="15272"/>
                        </a:lnTo>
                        <a:lnTo>
                          <a:pt x="12535" y="15285"/>
                        </a:lnTo>
                        <a:lnTo>
                          <a:pt x="12441" y="15300"/>
                        </a:lnTo>
                        <a:lnTo>
                          <a:pt x="12347" y="15312"/>
                        </a:lnTo>
                        <a:lnTo>
                          <a:pt x="12253" y="15324"/>
                        </a:lnTo>
                        <a:lnTo>
                          <a:pt x="12159" y="15335"/>
                        </a:lnTo>
                        <a:lnTo>
                          <a:pt x="12064" y="15345"/>
                        </a:lnTo>
                        <a:lnTo>
                          <a:pt x="11970" y="15355"/>
                        </a:lnTo>
                        <a:lnTo>
                          <a:pt x="11875" y="15364"/>
                        </a:lnTo>
                        <a:lnTo>
                          <a:pt x="11779" y="15372"/>
                        </a:lnTo>
                        <a:lnTo>
                          <a:pt x="11685" y="15379"/>
                        </a:lnTo>
                        <a:lnTo>
                          <a:pt x="11589" y="15386"/>
                        </a:lnTo>
                        <a:lnTo>
                          <a:pt x="11494" y="15391"/>
                        </a:lnTo>
                        <a:lnTo>
                          <a:pt x="11398" y="15396"/>
                        </a:lnTo>
                        <a:lnTo>
                          <a:pt x="11303" y="15400"/>
                        </a:lnTo>
                        <a:lnTo>
                          <a:pt x="11207" y="15403"/>
                        </a:lnTo>
                        <a:lnTo>
                          <a:pt x="11111" y="15406"/>
                        </a:lnTo>
                        <a:lnTo>
                          <a:pt x="11014" y="15407"/>
                        </a:lnTo>
                        <a:lnTo>
                          <a:pt x="10919" y="15407"/>
                        </a:lnTo>
                        <a:lnTo>
                          <a:pt x="10919" y="15407"/>
                        </a:lnTo>
                        <a:lnTo>
                          <a:pt x="10801" y="15407"/>
                        </a:lnTo>
                        <a:lnTo>
                          <a:pt x="10683" y="15405"/>
                        </a:lnTo>
                        <a:lnTo>
                          <a:pt x="10567" y="15401"/>
                        </a:lnTo>
                        <a:lnTo>
                          <a:pt x="10450" y="15396"/>
                        </a:lnTo>
                        <a:lnTo>
                          <a:pt x="10334" y="15390"/>
                        </a:lnTo>
                        <a:lnTo>
                          <a:pt x="10218" y="15382"/>
                        </a:lnTo>
                        <a:lnTo>
                          <a:pt x="10103" y="15373"/>
                        </a:lnTo>
                        <a:lnTo>
                          <a:pt x="9987" y="15363"/>
                        </a:lnTo>
                        <a:lnTo>
                          <a:pt x="9873" y="15351"/>
                        </a:lnTo>
                        <a:lnTo>
                          <a:pt x="9759" y="15338"/>
                        </a:lnTo>
                        <a:lnTo>
                          <a:pt x="9645" y="15323"/>
                        </a:lnTo>
                        <a:lnTo>
                          <a:pt x="9532" y="15307"/>
                        </a:lnTo>
                        <a:lnTo>
                          <a:pt x="9419" y="15290"/>
                        </a:lnTo>
                        <a:lnTo>
                          <a:pt x="9307" y="15270"/>
                        </a:lnTo>
                        <a:lnTo>
                          <a:pt x="9196" y="15250"/>
                        </a:lnTo>
                        <a:lnTo>
                          <a:pt x="9085" y="15228"/>
                        </a:lnTo>
                        <a:lnTo>
                          <a:pt x="9085" y="15228"/>
                        </a:lnTo>
                        <a:lnTo>
                          <a:pt x="8975" y="15205"/>
                        </a:lnTo>
                        <a:lnTo>
                          <a:pt x="8866" y="15181"/>
                        </a:lnTo>
                        <a:lnTo>
                          <a:pt x="8758" y="15155"/>
                        </a:lnTo>
                        <a:lnTo>
                          <a:pt x="8652" y="15127"/>
                        </a:lnTo>
                        <a:lnTo>
                          <a:pt x="8546" y="15097"/>
                        </a:lnTo>
                        <a:lnTo>
                          <a:pt x="8441" y="15066"/>
                        </a:lnTo>
                        <a:lnTo>
                          <a:pt x="8339" y="15034"/>
                        </a:lnTo>
                        <a:lnTo>
                          <a:pt x="8238" y="15000"/>
                        </a:lnTo>
                        <a:lnTo>
                          <a:pt x="8138" y="14965"/>
                        </a:lnTo>
                        <a:lnTo>
                          <a:pt x="8040" y="14928"/>
                        </a:lnTo>
                        <a:lnTo>
                          <a:pt x="7943" y="14890"/>
                        </a:lnTo>
                        <a:lnTo>
                          <a:pt x="7847" y="14851"/>
                        </a:lnTo>
                        <a:lnTo>
                          <a:pt x="7752" y="14810"/>
                        </a:lnTo>
                        <a:lnTo>
                          <a:pt x="7660" y="14767"/>
                        </a:lnTo>
                        <a:lnTo>
                          <a:pt x="7568" y="14723"/>
                        </a:lnTo>
                        <a:lnTo>
                          <a:pt x="7479" y="14679"/>
                        </a:lnTo>
                        <a:lnTo>
                          <a:pt x="7390" y="14633"/>
                        </a:lnTo>
                        <a:lnTo>
                          <a:pt x="7304" y="14584"/>
                        </a:lnTo>
                        <a:lnTo>
                          <a:pt x="7218" y="14535"/>
                        </a:lnTo>
                        <a:lnTo>
                          <a:pt x="7135" y="14485"/>
                        </a:lnTo>
                        <a:lnTo>
                          <a:pt x="7053" y="14433"/>
                        </a:lnTo>
                        <a:lnTo>
                          <a:pt x="6972" y="14381"/>
                        </a:lnTo>
                        <a:lnTo>
                          <a:pt x="6894" y="14327"/>
                        </a:lnTo>
                        <a:lnTo>
                          <a:pt x="6816" y="14271"/>
                        </a:lnTo>
                        <a:lnTo>
                          <a:pt x="6741" y="14215"/>
                        </a:lnTo>
                        <a:lnTo>
                          <a:pt x="6666" y="14158"/>
                        </a:lnTo>
                        <a:lnTo>
                          <a:pt x="6594" y="14098"/>
                        </a:lnTo>
                        <a:lnTo>
                          <a:pt x="6523" y="14039"/>
                        </a:lnTo>
                        <a:lnTo>
                          <a:pt x="6454" y="13978"/>
                        </a:lnTo>
                        <a:lnTo>
                          <a:pt x="6387" y="13915"/>
                        </a:lnTo>
                        <a:lnTo>
                          <a:pt x="6321" y="13852"/>
                        </a:lnTo>
                        <a:lnTo>
                          <a:pt x="6258" y="13788"/>
                        </a:lnTo>
                        <a:lnTo>
                          <a:pt x="6196" y="13722"/>
                        </a:lnTo>
                        <a:lnTo>
                          <a:pt x="6135" y="13656"/>
                        </a:lnTo>
                        <a:lnTo>
                          <a:pt x="6077" y="13588"/>
                        </a:lnTo>
                        <a:lnTo>
                          <a:pt x="6021" y="13520"/>
                        </a:lnTo>
                        <a:lnTo>
                          <a:pt x="5965" y="13451"/>
                        </a:lnTo>
                        <a:lnTo>
                          <a:pt x="5912" y="13380"/>
                        </a:lnTo>
                        <a:lnTo>
                          <a:pt x="5862" y="13308"/>
                        </a:lnTo>
                        <a:lnTo>
                          <a:pt x="5812" y="13235"/>
                        </a:lnTo>
                        <a:lnTo>
                          <a:pt x="5764" y="13162"/>
                        </a:lnTo>
                        <a:lnTo>
                          <a:pt x="5719" y="13087"/>
                        </a:lnTo>
                        <a:lnTo>
                          <a:pt x="5676" y="13013"/>
                        </a:lnTo>
                        <a:lnTo>
                          <a:pt x="5633" y="12937"/>
                        </a:lnTo>
                        <a:lnTo>
                          <a:pt x="5594" y="12859"/>
                        </a:lnTo>
                        <a:lnTo>
                          <a:pt x="5556" y="12782"/>
                        </a:lnTo>
                        <a:lnTo>
                          <a:pt x="5521" y="12703"/>
                        </a:lnTo>
                        <a:lnTo>
                          <a:pt x="5487" y="12623"/>
                        </a:lnTo>
                        <a:lnTo>
                          <a:pt x="5454" y="12542"/>
                        </a:lnTo>
                        <a:lnTo>
                          <a:pt x="5425" y="12462"/>
                        </a:lnTo>
                        <a:lnTo>
                          <a:pt x="5397" y="12379"/>
                        </a:lnTo>
                        <a:lnTo>
                          <a:pt x="5372" y="12297"/>
                        </a:lnTo>
                        <a:lnTo>
                          <a:pt x="5348" y="12213"/>
                        </a:lnTo>
                        <a:lnTo>
                          <a:pt x="5327" y="12129"/>
                        </a:lnTo>
                        <a:lnTo>
                          <a:pt x="5307" y="12044"/>
                        </a:lnTo>
                        <a:lnTo>
                          <a:pt x="5289" y="11959"/>
                        </a:lnTo>
                        <a:lnTo>
                          <a:pt x="5274" y="11872"/>
                        </a:lnTo>
                        <a:lnTo>
                          <a:pt x="5261" y="11786"/>
                        </a:lnTo>
                        <a:lnTo>
                          <a:pt x="5250" y="11697"/>
                        </a:lnTo>
                        <a:lnTo>
                          <a:pt x="5242" y="11610"/>
                        </a:lnTo>
                        <a:lnTo>
                          <a:pt x="5235" y="11520"/>
                        </a:lnTo>
                        <a:lnTo>
                          <a:pt x="5231" y="11431"/>
                        </a:lnTo>
                        <a:lnTo>
                          <a:pt x="5229" y="11341"/>
                        </a:lnTo>
                        <a:lnTo>
                          <a:pt x="5229" y="11251"/>
                        </a:lnTo>
                        <a:lnTo>
                          <a:pt x="5229" y="11251"/>
                        </a:lnTo>
                        <a:lnTo>
                          <a:pt x="5230" y="11200"/>
                        </a:lnTo>
                        <a:lnTo>
                          <a:pt x="5232" y="11151"/>
                        </a:lnTo>
                        <a:lnTo>
                          <a:pt x="5235" y="11102"/>
                        </a:lnTo>
                        <a:lnTo>
                          <a:pt x="5238" y="11052"/>
                        </a:lnTo>
                        <a:lnTo>
                          <a:pt x="5242" y="11004"/>
                        </a:lnTo>
                        <a:lnTo>
                          <a:pt x="5247" y="10955"/>
                        </a:lnTo>
                        <a:lnTo>
                          <a:pt x="5252" y="10906"/>
                        </a:lnTo>
                        <a:lnTo>
                          <a:pt x="5259" y="10857"/>
                        </a:lnTo>
                        <a:lnTo>
                          <a:pt x="5266" y="10809"/>
                        </a:lnTo>
                        <a:lnTo>
                          <a:pt x="5273" y="10760"/>
                        </a:lnTo>
                        <a:lnTo>
                          <a:pt x="5282" y="10711"/>
                        </a:lnTo>
                        <a:lnTo>
                          <a:pt x="5291" y="10663"/>
                        </a:lnTo>
                        <a:lnTo>
                          <a:pt x="5302" y="10616"/>
                        </a:lnTo>
                        <a:lnTo>
                          <a:pt x="5313" y="10568"/>
                        </a:lnTo>
                        <a:lnTo>
                          <a:pt x="5324" y="10519"/>
                        </a:lnTo>
                        <a:lnTo>
                          <a:pt x="5336" y="10472"/>
                        </a:lnTo>
                        <a:lnTo>
                          <a:pt x="5349" y="10425"/>
                        </a:lnTo>
                        <a:lnTo>
                          <a:pt x="5363" y="10377"/>
                        </a:lnTo>
                        <a:lnTo>
                          <a:pt x="5377" y="10330"/>
                        </a:lnTo>
                        <a:lnTo>
                          <a:pt x="5392" y="10283"/>
                        </a:lnTo>
                        <a:lnTo>
                          <a:pt x="5408" y="10236"/>
                        </a:lnTo>
                        <a:lnTo>
                          <a:pt x="5424" y="10189"/>
                        </a:lnTo>
                        <a:lnTo>
                          <a:pt x="5441" y="10142"/>
                        </a:lnTo>
                        <a:lnTo>
                          <a:pt x="5459" y="10096"/>
                        </a:lnTo>
                        <a:lnTo>
                          <a:pt x="5479" y="10049"/>
                        </a:lnTo>
                        <a:lnTo>
                          <a:pt x="5498" y="10003"/>
                        </a:lnTo>
                        <a:lnTo>
                          <a:pt x="5518" y="9958"/>
                        </a:lnTo>
                        <a:lnTo>
                          <a:pt x="5539" y="9912"/>
                        </a:lnTo>
                        <a:lnTo>
                          <a:pt x="5560" y="9866"/>
                        </a:lnTo>
                        <a:lnTo>
                          <a:pt x="5583" y="9821"/>
                        </a:lnTo>
                        <a:lnTo>
                          <a:pt x="5606" y="9776"/>
                        </a:lnTo>
                        <a:lnTo>
                          <a:pt x="5629" y="9731"/>
                        </a:lnTo>
                        <a:lnTo>
                          <a:pt x="5654" y="9685"/>
                        </a:lnTo>
                        <a:lnTo>
                          <a:pt x="5679" y="9641"/>
                        </a:lnTo>
                        <a:lnTo>
                          <a:pt x="5705" y="9596"/>
                        </a:lnTo>
                        <a:lnTo>
                          <a:pt x="5732" y="9552"/>
                        </a:lnTo>
                        <a:lnTo>
                          <a:pt x="5759" y="9507"/>
                        </a:lnTo>
                        <a:lnTo>
                          <a:pt x="5786" y="9464"/>
                        </a:lnTo>
                        <a:lnTo>
                          <a:pt x="5815" y="9420"/>
                        </a:lnTo>
                        <a:lnTo>
                          <a:pt x="5845" y="9377"/>
                        </a:lnTo>
                        <a:lnTo>
                          <a:pt x="5875" y="9333"/>
                        </a:lnTo>
                        <a:lnTo>
                          <a:pt x="5906" y="9290"/>
                        </a:lnTo>
                        <a:lnTo>
                          <a:pt x="5937" y="9247"/>
                        </a:lnTo>
                        <a:lnTo>
                          <a:pt x="5969" y="9204"/>
                        </a:lnTo>
                        <a:lnTo>
                          <a:pt x="6002" y="9161"/>
                        </a:lnTo>
                        <a:lnTo>
                          <a:pt x="6036" y="9119"/>
                        </a:lnTo>
                        <a:lnTo>
                          <a:pt x="6070" y="9077"/>
                        </a:lnTo>
                        <a:lnTo>
                          <a:pt x="6105" y="9035"/>
                        </a:lnTo>
                        <a:lnTo>
                          <a:pt x="6140" y="8993"/>
                        </a:lnTo>
                        <a:lnTo>
                          <a:pt x="6177" y="8952"/>
                        </a:lnTo>
                        <a:lnTo>
                          <a:pt x="6214" y="8911"/>
                        </a:lnTo>
                        <a:lnTo>
                          <a:pt x="6251" y="8870"/>
                        </a:lnTo>
                        <a:lnTo>
                          <a:pt x="6289" y="8829"/>
                        </a:lnTo>
                        <a:lnTo>
                          <a:pt x="6328" y="8789"/>
                        </a:lnTo>
                        <a:lnTo>
                          <a:pt x="6369" y="8749"/>
                        </a:lnTo>
                        <a:lnTo>
                          <a:pt x="6409" y="8709"/>
                        </a:lnTo>
                        <a:lnTo>
                          <a:pt x="6450" y="8668"/>
                        </a:lnTo>
                        <a:lnTo>
                          <a:pt x="6491" y="8629"/>
                        </a:lnTo>
                        <a:lnTo>
                          <a:pt x="6534" y="8590"/>
                        </a:lnTo>
                        <a:lnTo>
                          <a:pt x="6577" y="8551"/>
                        </a:lnTo>
                        <a:lnTo>
                          <a:pt x="6621" y="8511"/>
                        </a:lnTo>
                        <a:lnTo>
                          <a:pt x="6665" y="8473"/>
                        </a:lnTo>
                        <a:lnTo>
                          <a:pt x="6711" y="8435"/>
                        </a:lnTo>
                        <a:lnTo>
                          <a:pt x="6756" y="8397"/>
                        </a:lnTo>
                        <a:lnTo>
                          <a:pt x="6756" y="8397"/>
                        </a:lnTo>
                        <a:lnTo>
                          <a:pt x="6832" y="8335"/>
                        </a:lnTo>
                        <a:lnTo>
                          <a:pt x="6910" y="8275"/>
                        </a:lnTo>
                        <a:lnTo>
                          <a:pt x="6988" y="8216"/>
                        </a:lnTo>
                        <a:lnTo>
                          <a:pt x="7069" y="8156"/>
                        </a:lnTo>
                        <a:lnTo>
                          <a:pt x="7150" y="8099"/>
                        </a:lnTo>
                        <a:lnTo>
                          <a:pt x="7234" y="8042"/>
                        </a:lnTo>
                        <a:lnTo>
                          <a:pt x="7318" y="7986"/>
                        </a:lnTo>
                        <a:lnTo>
                          <a:pt x="7404" y="7931"/>
                        </a:lnTo>
                        <a:lnTo>
                          <a:pt x="7491" y="7877"/>
                        </a:lnTo>
                        <a:lnTo>
                          <a:pt x="7580" y="7823"/>
                        </a:lnTo>
                        <a:lnTo>
                          <a:pt x="7670" y="7772"/>
                        </a:lnTo>
                        <a:lnTo>
                          <a:pt x="7762" y="7721"/>
                        </a:lnTo>
                        <a:lnTo>
                          <a:pt x="7854" y="7670"/>
                        </a:lnTo>
                        <a:lnTo>
                          <a:pt x="7948" y="7621"/>
                        </a:lnTo>
                        <a:lnTo>
                          <a:pt x="8043" y="7573"/>
                        </a:lnTo>
                        <a:lnTo>
                          <a:pt x="8139" y="7526"/>
                        </a:lnTo>
                        <a:lnTo>
                          <a:pt x="8236" y="7479"/>
                        </a:lnTo>
                        <a:lnTo>
                          <a:pt x="8335" y="7434"/>
                        </a:lnTo>
                        <a:lnTo>
                          <a:pt x="8434" y="7390"/>
                        </a:lnTo>
                        <a:lnTo>
                          <a:pt x="8536" y="7346"/>
                        </a:lnTo>
                        <a:lnTo>
                          <a:pt x="8638" y="7304"/>
                        </a:lnTo>
                        <a:lnTo>
                          <a:pt x="8741" y="7263"/>
                        </a:lnTo>
                        <a:lnTo>
                          <a:pt x="8845" y="7224"/>
                        </a:lnTo>
                        <a:lnTo>
                          <a:pt x="8950" y="7185"/>
                        </a:lnTo>
                        <a:lnTo>
                          <a:pt x="9057" y="7147"/>
                        </a:lnTo>
                        <a:lnTo>
                          <a:pt x="9164" y="7110"/>
                        </a:lnTo>
                        <a:lnTo>
                          <a:pt x="9272" y="7075"/>
                        </a:lnTo>
                        <a:lnTo>
                          <a:pt x="9381" y="7041"/>
                        </a:lnTo>
                        <a:lnTo>
                          <a:pt x="9491" y="7007"/>
                        </a:lnTo>
                        <a:lnTo>
                          <a:pt x="9602" y="6975"/>
                        </a:lnTo>
                        <a:lnTo>
                          <a:pt x="9714" y="6944"/>
                        </a:lnTo>
                        <a:lnTo>
                          <a:pt x="9827" y="6914"/>
                        </a:lnTo>
                        <a:lnTo>
                          <a:pt x="9827" y="6914"/>
                        </a:lnTo>
                        <a:lnTo>
                          <a:pt x="9943" y="6885"/>
                        </a:lnTo>
                        <a:lnTo>
                          <a:pt x="10060" y="6857"/>
                        </a:lnTo>
                        <a:lnTo>
                          <a:pt x="10177" y="6829"/>
                        </a:lnTo>
                        <a:lnTo>
                          <a:pt x="10295" y="6803"/>
                        </a:lnTo>
                        <a:lnTo>
                          <a:pt x="10415" y="6778"/>
                        </a:lnTo>
                        <a:lnTo>
                          <a:pt x="10534" y="6753"/>
                        </a:lnTo>
                        <a:lnTo>
                          <a:pt x="10656" y="6730"/>
                        </a:lnTo>
                        <a:lnTo>
                          <a:pt x="10778" y="6708"/>
                        </a:lnTo>
                        <a:lnTo>
                          <a:pt x="10900" y="6687"/>
                        </a:lnTo>
                        <a:lnTo>
                          <a:pt x="11024" y="6665"/>
                        </a:lnTo>
                        <a:lnTo>
                          <a:pt x="11150" y="6646"/>
                        </a:lnTo>
                        <a:lnTo>
                          <a:pt x="11276" y="6627"/>
                        </a:lnTo>
                        <a:lnTo>
                          <a:pt x="11403" y="6610"/>
                        </a:lnTo>
                        <a:lnTo>
                          <a:pt x="11531" y="6593"/>
                        </a:lnTo>
                        <a:lnTo>
                          <a:pt x="11661" y="6577"/>
                        </a:lnTo>
                        <a:lnTo>
                          <a:pt x="11791" y="6563"/>
                        </a:lnTo>
                        <a:lnTo>
                          <a:pt x="11924" y="6549"/>
                        </a:lnTo>
                        <a:lnTo>
                          <a:pt x="12058" y="6536"/>
                        </a:lnTo>
                        <a:lnTo>
                          <a:pt x="12193" y="6524"/>
                        </a:lnTo>
                        <a:lnTo>
                          <a:pt x="12329" y="6513"/>
                        </a:lnTo>
                        <a:lnTo>
                          <a:pt x="12466" y="6501"/>
                        </a:lnTo>
                        <a:lnTo>
                          <a:pt x="12606" y="6492"/>
                        </a:lnTo>
                        <a:lnTo>
                          <a:pt x="12746" y="6484"/>
                        </a:lnTo>
                        <a:lnTo>
                          <a:pt x="12889" y="6476"/>
                        </a:lnTo>
                        <a:lnTo>
                          <a:pt x="13033" y="6470"/>
                        </a:lnTo>
                        <a:lnTo>
                          <a:pt x="13178" y="6464"/>
                        </a:lnTo>
                        <a:lnTo>
                          <a:pt x="13325" y="6459"/>
                        </a:lnTo>
                        <a:lnTo>
                          <a:pt x="13474" y="6455"/>
                        </a:lnTo>
                        <a:lnTo>
                          <a:pt x="13624" y="6452"/>
                        </a:lnTo>
                        <a:lnTo>
                          <a:pt x="13777" y="6450"/>
                        </a:lnTo>
                        <a:lnTo>
                          <a:pt x="13931" y="6449"/>
                        </a:lnTo>
                        <a:lnTo>
                          <a:pt x="14087" y="6448"/>
                        </a:lnTo>
                        <a:lnTo>
                          <a:pt x="14087" y="6448"/>
                        </a:lnTo>
                        <a:lnTo>
                          <a:pt x="14251" y="6449"/>
                        </a:lnTo>
                        <a:lnTo>
                          <a:pt x="14413" y="6450"/>
                        </a:lnTo>
                        <a:lnTo>
                          <a:pt x="14577" y="6452"/>
                        </a:lnTo>
                        <a:lnTo>
                          <a:pt x="14740" y="6455"/>
                        </a:lnTo>
                        <a:lnTo>
                          <a:pt x="14903" y="6458"/>
                        </a:lnTo>
                        <a:lnTo>
                          <a:pt x="15067" y="6463"/>
                        </a:lnTo>
                        <a:lnTo>
                          <a:pt x="15392" y="6472"/>
                        </a:lnTo>
                        <a:lnTo>
                          <a:pt x="15717" y="6484"/>
                        </a:lnTo>
                        <a:lnTo>
                          <a:pt x="16040" y="6496"/>
                        </a:lnTo>
                        <a:lnTo>
                          <a:pt x="16679" y="6525"/>
                        </a:lnTo>
                        <a:lnTo>
                          <a:pt x="16679" y="6525"/>
                        </a:lnTo>
                        <a:lnTo>
                          <a:pt x="17310" y="6552"/>
                        </a:lnTo>
                        <a:lnTo>
                          <a:pt x="17620" y="6564"/>
                        </a:lnTo>
                        <a:lnTo>
                          <a:pt x="17926" y="6575"/>
                        </a:lnTo>
                        <a:lnTo>
                          <a:pt x="18231" y="6584"/>
                        </a:lnTo>
                        <a:lnTo>
                          <a:pt x="18534" y="6591"/>
                        </a:lnTo>
                        <a:lnTo>
                          <a:pt x="18685" y="6594"/>
                        </a:lnTo>
                        <a:lnTo>
                          <a:pt x="18836" y="6595"/>
                        </a:lnTo>
                        <a:lnTo>
                          <a:pt x="18985" y="6597"/>
                        </a:lnTo>
                        <a:lnTo>
                          <a:pt x="19136" y="6597"/>
                        </a:lnTo>
                        <a:lnTo>
                          <a:pt x="19136" y="6597"/>
                        </a:lnTo>
                        <a:lnTo>
                          <a:pt x="19296" y="6597"/>
                        </a:lnTo>
                        <a:lnTo>
                          <a:pt x="19453" y="6595"/>
                        </a:lnTo>
                        <a:lnTo>
                          <a:pt x="19608" y="6592"/>
                        </a:lnTo>
                        <a:lnTo>
                          <a:pt x="19761" y="6589"/>
                        </a:lnTo>
                        <a:lnTo>
                          <a:pt x="19911" y="6584"/>
                        </a:lnTo>
                        <a:lnTo>
                          <a:pt x="20059" y="6579"/>
                        </a:lnTo>
                        <a:lnTo>
                          <a:pt x="20204" y="6572"/>
                        </a:lnTo>
                        <a:lnTo>
                          <a:pt x="20347" y="6564"/>
                        </a:lnTo>
                        <a:lnTo>
                          <a:pt x="20489" y="6555"/>
                        </a:lnTo>
                        <a:lnTo>
                          <a:pt x="20628" y="6545"/>
                        </a:lnTo>
                        <a:lnTo>
                          <a:pt x="20766" y="6534"/>
                        </a:lnTo>
                        <a:lnTo>
                          <a:pt x="20900" y="6522"/>
                        </a:lnTo>
                        <a:lnTo>
                          <a:pt x="21033" y="6509"/>
                        </a:lnTo>
                        <a:lnTo>
                          <a:pt x="21165" y="6493"/>
                        </a:lnTo>
                        <a:lnTo>
                          <a:pt x="21295" y="6478"/>
                        </a:lnTo>
                        <a:lnTo>
                          <a:pt x="21422" y="6461"/>
                        </a:lnTo>
                        <a:lnTo>
                          <a:pt x="21548" y="6444"/>
                        </a:lnTo>
                        <a:lnTo>
                          <a:pt x="21673" y="6425"/>
                        </a:lnTo>
                        <a:lnTo>
                          <a:pt x="21795" y="6405"/>
                        </a:lnTo>
                        <a:lnTo>
                          <a:pt x="21917" y="6384"/>
                        </a:lnTo>
                        <a:lnTo>
                          <a:pt x="22037" y="6361"/>
                        </a:lnTo>
                        <a:lnTo>
                          <a:pt x="22156" y="6338"/>
                        </a:lnTo>
                        <a:lnTo>
                          <a:pt x="22272" y="6312"/>
                        </a:lnTo>
                        <a:lnTo>
                          <a:pt x="22388" y="6286"/>
                        </a:lnTo>
                        <a:lnTo>
                          <a:pt x="22503" y="6259"/>
                        </a:lnTo>
                        <a:lnTo>
                          <a:pt x="22616" y="6231"/>
                        </a:lnTo>
                        <a:lnTo>
                          <a:pt x="22729" y="6201"/>
                        </a:lnTo>
                        <a:lnTo>
                          <a:pt x="22839" y="6171"/>
                        </a:lnTo>
                        <a:lnTo>
                          <a:pt x="22950" y="6138"/>
                        </a:lnTo>
                        <a:lnTo>
                          <a:pt x="23059" y="6105"/>
                        </a:lnTo>
                        <a:lnTo>
                          <a:pt x="23167" y="6070"/>
                        </a:lnTo>
                        <a:lnTo>
                          <a:pt x="23275" y="6035"/>
                        </a:lnTo>
                        <a:lnTo>
                          <a:pt x="23275" y="6035"/>
                        </a:lnTo>
                        <a:lnTo>
                          <a:pt x="23382" y="5996"/>
                        </a:lnTo>
                        <a:lnTo>
                          <a:pt x="23487" y="5957"/>
                        </a:lnTo>
                        <a:lnTo>
                          <a:pt x="23592" y="5916"/>
                        </a:lnTo>
                        <a:lnTo>
                          <a:pt x="23694" y="5874"/>
                        </a:lnTo>
                        <a:lnTo>
                          <a:pt x="23797" y="5830"/>
                        </a:lnTo>
                        <a:lnTo>
                          <a:pt x="23897" y="5783"/>
                        </a:lnTo>
                        <a:lnTo>
                          <a:pt x="23996" y="5735"/>
                        </a:lnTo>
                        <a:lnTo>
                          <a:pt x="24095" y="5685"/>
                        </a:lnTo>
                        <a:lnTo>
                          <a:pt x="24191" y="5633"/>
                        </a:lnTo>
                        <a:lnTo>
                          <a:pt x="24287" y="5580"/>
                        </a:lnTo>
                        <a:lnTo>
                          <a:pt x="24381" y="5525"/>
                        </a:lnTo>
                        <a:lnTo>
                          <a:pt x="24474" y="5468"/>
                        </a:lnTo>
                        <a:lnTo>
                          <a:pt x="24565" y="5409"/>
                        </a:lnTo>
                        <a:lnTo>
                          <a:pt x="24656" y="5349"/>
                        </a:lnTo>
                        <a:lnTo>
                          <a:pt x="24745" y="5286"/>
                        </a:lnTo>
                        <a:lnTo>
                          <a:pt x="24834" y="5223"/>
                        </a:lnTo>
                        <a:lnTo>
                          <a:pt x="24920" y="5157"/>
                        </a:lnTo>
                        <a:lnTo>
                          <a:pt x="25006" y="5089"/>
                        </a:lnTo>
                        <a:lnTo>
                          <a:pt x="25090" y="5020"/>
                        </a:lnTo>
                        <a:lnTo>
                          <a:pt x="25173" y="4948"/>
                        </a:lnTo>
                        <a:lnTo>
                          <a:pt x="25255" y="4876"/>
                        </a:lnTo>
                        <a:lnTo>
                          <a:pt x="25336" y="4800"/>
                        </a:lnTo>
                        <a:lnTo>
                          <a:pt x="25415" y="4724"/>
                        </a:lnTo>
                        <a:lnTo>
                          <a:pt x="25493" y="4645"/>
                        </a:lnTo>
                        <a:lnTo>
                          <a:pt x="25570" y="4565"/>
                        </a:lnTo>
                        <a:lnTo>
                          <a:pt x="25645" y="4484"/>
                        </a:lnTo>
                        <a:lnTo>
                          <a:pt x="25720" y="4400"/>
                        </a:lnTo>
                        <a:lnTo>
                          <a:pt x="25793" y="4314"/>
                        </a:lnTo>
                        <a:lnTo>
                          <a:pt x="25866" y="4226"/>
                        </a:lnTo>
                        <a:lnTo>
                          <a:pt x="25936" y="4137"/>
                        </a:lnTo>
                        <a:lnTo>
                          <a:pt x="26005" y="4046"/>
                        </a:lnTo>
                        <a:lnTo>
                          <a:pt x="26074" y="3953"/>
                        </a:lnTo>
                        <a:lnTo>
                          <a:pt x="26141" y="3859"/>
                        </a:lnTo>
                        <a:lnTo>
                          <a:pt x="26208" y="3762"/>
                        </a:lnTo>
                        <a:lnTo>
                          <a:pt x="26272" y="3664"/>
                        </a:lnTo>
                        <a:lnTo>
                          <a:pt x="26335" y="3563"/>
                        </a:lnTo>
                        <a:lnTo>
                          <a:pt x="26398" y="3461"/>
                        </a:lnTo>
                        <a:lnTo>
                          <a:pt x="26459" y="3357"/>
                        </a:lnTo>
                        <a:lnTo>
                          <a:pt x="26518" y="3251"/>
                        </a:lnTo>
                        <a:lnTo>
                          <a:pt x="26578" y="3144"/>
                        </a:lnTo>
                        <a:lnTo>
                          <a:pt x="26635" y="3034"/>
                        </a:lnTo>
                        <a:lnTo>
                          <a:pt x="26691" y="2923"/>
                        </a:lnTo>
                        <a:lnTo>
                          <a:pt x="26747" y="2810"/>
                        </a:lnTo>
                        <a:lnTo>
                          <a:pt x="26801" y="2695"/>
                        </a:lnTo>
                        <a:lnTo>
                          <a:pt x="26853" y="2578"/>
                        </a:lnTo>
                        <a:lnTo>
                          <a:pt x="26905" y="2460"/>
                        </a:lnTo>
                        <a:lnTo>
                          <a:pt x="26955" y="2339"/>
                        </a:lnTo>
                        <a:lnTo>
                          <a:pt x="27004" y="2216"/>
                        </a:lnTo>
                        <a:lnTo>
                          <a:pt x="27052" y="2091"/>
                        </a:lnTo>
                        <a:lnTo>
                          <a:pt x="27100" y="1966"/>
                        </a:lnTo>
                        <a:lnTo>
                          <a:pt x="27145" y="1837"/>
                        </a:lnTo>
                        <a:lnTo>
                          <a:pt x="27189" y="1707"/>
                        </a:lnTo>
                        <a:lnTo>
                          <a:pt x="27233" y="1575"/>
                        </a:lnTo>
                        <a:lnTo>
                          <a:pt x="27275" y="1442"/>
                        </a:lnTo>
                        <a:lnTo>
                          <a:pt x="27316" y="1306"/>
                        </a:lnTo>
                        <a:lnTo>
                          <a:pt x="27356" y="1169"/>
                        </a:lnTo>
                        <a:lnTo>
                          <a:pt x="27394" y="1029"/>
                        </a:lnTo>
                        <a:lnTo>
                          <a:pt x="27433" y="888"/>
                        </a:lnTo>
                        <a:lnTo>
                          <a:pt x="27469" y="744"/>
                        </a:lnTo>
                        <a:lnTo>
                          <a:pt x="27504" y="600"/>
                        </a:lnTo>
                        <a:lnTo>
                          <a:pt x="27537" y="453"/>
                        </a:lnTo>
                        <a:lnTo>
                          <a:pt x="27570" y="304"/>
                        </a:lnTo>
                        <a:lnTo>
                          <a:pt x="27603" y="153"/>
                        </a:lnTo>
                        <a:lnTo>
                          <a:pt x="27633" y="0"/>
                        </a:lnTo>
                        <a:lnTo>
                          <a:pt x="27633" y="0"/>
                        </a:lnTo>
                        <a:close/>
                      </a:path>
                    </a:pathLst>
                  </a:custGeom>
                  <a:solidFill>
                    <a:srgbClr val="E7E6E6">
                      <a:lumMod val="75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a:ea typeface="+mn-ea"/>
                      <a:cs typeface="Calibri"/>
                    </a:endParaRPr>
                  </a:p>
                </p:txBody>
              </p:sp>
              <p:sp>
                <p:nvSpPr>
                  <p:cNvPr id="28" name="Freeform 9">
                    <a:extLst>
                      <a:ext uri="{FF2B5EF4-FFF2-40B4-BE49-F238E27FC236}">
                        <a16:creationId xmlns:a16="http://schemas.microsoft.com/office/drawing/2014/main" id="{F4BA9161-94E3-E966-C4ED-F49C74203381}"/>
                      </a:ext>
                    </a:extLst>
                  </p:cNvPr>
                  <p:cNvSpPr>
                    <a:spLocks/>
                  </p:cNvSpPr>
                  <p:nvPr/>
                </p:nvSpPr>
                <p:spPr bwMode="auto">
                  <a:xfrm>
                    <a:off x="972566" y="1790325"/>
                    <a:ext cx="2086035" cy="1863445"/>
                  </a:xfrm>
                  <a:custGeom>
                    <a:avLst/>
                    <a:gdLst>
                      <a:gd name="T0" fmla="*/ 12557 w 13782"/>
                      <a:gd name="T1" fmla="*/ 5095 h 7036"/>
                      <a:gd name="T2" fmla="*/ 11743 w 13782"/>
                      <a:gd name="T3" fmla="*/ 5262 h 7036"/>
                      <a:gd name="T4" fmla="*/ 10750 w 13782"/>
                      <a:gd name="T5" fmla="*/ 5541 h 7036"/>
                      <a:gd name="T6" fmla="*/ 8947 w 13782"/>
                      <a:gd name="T7" fmla="*/ 6118 h 7036"/>
                      <a:gd name="T8" fmla="*/ 7375 w 13782"/>
                      <a:gd name="T9" fmla="*/ 6571 h 7036"/>
                      <a:gd name="T10" fmla="*/ 6527 w 13782"/>
                      <a:gd name="T11" fmla="*/ 6762 h 7036"/>
                      <a:gd name="T12" fmla="*/ 5671 w 13782"/>
                      <a:gd name="T13" fmla="*/ 6900 h 7036"/>
                      <a:gd name="T14" fmla="*/ 4809 w 13782"/>
                      <a:gd name="T15" fmla="*/ 6970 h 7036"/>
                      <a:gd name="T16" fmla="*/ 3940 w 13782"/>
                      <a:gd name="T17" fmla="*/ 6957 h 7036"/>
                      <a:gd name="T18" fmla="*/ 3063 w 13782"/>
                      <a:gd name="T19" fmla="*/ 6848 h 7036"/>
                      <a:gd name="T20" fmla="*/ 2464 w 13782"/>
                      <a:gd name="T21" fmla="*/ 6706 h 7036"/>
                      <a:gd name="T22" fmla="*/ 1873 w 13782"/>
                      <a:gd name="T23" fmla="*/ 6484 h 7036"/>
                      <a:gd name="T24" fmla="*/ 1356 w 13782"/>
                      <a:gd name="T25" fmla="*/ 6201 h 7036"/>
                      <a:gd name="T26" fmla="*/ 918 w 13782"/>
                      <a:gd name="T27" fmla="*/ 5859 h 7036"/>
                      <a:gd name="T28" fmla="*/ 565 w 13782"/>
                      <a:gd name="T29" fmla="*/ 5465 h 7036"/>
                      <a:gd name="T30" fmla="*/ 301 w 13782"/>
                      <a:gd name="T31" fmla="*/ 5024 h 7036"/>
                      <a:gd name="T32" fmla="*/ 132 w 13782"/>
                      <a:gd name="T33" fmla="*/ 4541 h 7036"/>
                      <a:gd name="T34" fmla="*/ 61 w 13782"/>
                      <a:gd name="T35" fmla="*/ 4020 h 7036"/>
                      <a:gd name="T36" fmla="*/ 93 w 13782"/>
                      <a:gd name="T37" fmla="*/ 3524 h 7036"/>
                      <a:gd name="T38" fmla="*/ 263 w 13782"/>
                      <a:gd name="T39" fmla="*/ 2965 h 7036"/>
                      <a:gd name="T40" fmla="*/ 572 w 13782"/>
                      <a:gd name="T41" fmla="*/ 2434 h 7036"/>
                      <a:gd name="T42" fmla="*/ 1017 w 13782"/>
                      <a:gd name="T43" fmla="*/ 1939 h 7036"/>
                      <a:gd name="T44" fmla="*/ 1471 w 13782"/>
                      <a:gd name="T45" fmla="*/ 1570 h 7036"/>
                      <a:gd name="T46" fmla="*/ 2047 w 13782"/>
                      <a:gd name="T47" fmla="*/ 1213 h 7036"/>
                      <a:gd name="T48" fmla="*/ 2695 w 13782"/>
                      <a:gd name="T49" fmla="*/ 903 h 7036"/>
                      <a:gd name="T50" fmla="*/ 3401 w 13782"/>
                      <a:gd name="T51" fmla="*/ 649 h 7036"/>
                      <a:gd name="T52" fmla="*/ 4022 w 13782"/>
                      <a:gd name="T53" fmla="*/ 484 h 7036"/>
                      <a:gd name="T54" fmla="*/ 4945 w 13782"/>
                      <a:gd name="T55" fmla="*/ 310 h 7036"/>
                      <a:gd name="T56" fmla="*/ 4770 w 13782"/>
                      <a:gd name="T57" fmla="*/ 277 h 7036"/>
                      <a:gd name="T58" fmla="*/ 4009 w 13782"/>
                      <a:gd name="T59" fmla="*/ 425 h 7036"/>
                      <a:gd name="T60" fmla="*/ 3384 w 13782"/>
                      <a:gd name="T61" fmla="*/ 591 h 7036"/>
                      <a:gd name="T62" fmla="*/ 2671 w 13782"/>
                      <a:gd name="T63" fmla="*/ 849 h 7036"/>
                      <a:gd name="T64" fmla="*/ 2016 w 13782"/>
                      <a:gd name="T65" fmla="*/ 1162 h 7036"/>
                      <a:gd name="T66" fmla="*/ 1436 w 13782"/>
                      <a:gd name="T67" fmla="*/ 1522 h 7036"/>
                      <a:gd name="T68" fmla="*/ 974 w 13782"/>
                      <a:gd name="T69" fmla="*/ 1896 h 7036"/>
                      <a:gd name="T70" fmla="*/ 522 w 13782"/>
                      <a:gd name="T71" fmla="*/ 2401 h 7036"/>
                      <a:gd name="T72" fmla="*/ 207 w 13782"/>
                      <a:gd name="T73" fmla="*/ 2943 h 7036"/>
                      <a:gd name="T74" fmla="*/ 34 w 13782"/>
                      <a:gd name="T75" fmla="*/ 3515 h 7036"/>
                      <a:gd name="T76" fmla="*/ 1 w 13782"/>
                      <a:gd name="T77" fmla="*/ 4022 h 7036"/>
                      <a:gd name="T78" fmla="*/ 72 w 13782"/>
                      <a:gd name="T79" fmla="*/ 4554 h 7036"/>
                      <a:gd name="T80" fmla="*/ 244 w 13782"/>
                      <a:gd name="T81" fmla="*/ 5047 h 7036"/>
                      <a:gd name="T82" fmla="*/ 513 w 13782"/>
                      <a:gd name="T83" fmla="*/ 5497 h 7036"/>
                      <a:gd name="T84" fmla="*/ 872 w 13782"/>
                      <a:gd name="T85" fmla="*/ 5899 h 7036"/>
                      <a:gd name="T86" fmla="*/ 1317 w 13782"/>
                      <a:gd name="T87" fmla="*/ 6248 h 7036"/>
                      <a:gd name="T88" fmla="*/ 1843 w 13782"/>
                      <a:gd name="T89" fmla="*/ 6537 h 7036"/>
                      <a:gd name="T90" fmla="*/ 2444 w 13782"/>
                      <a:gd name="T91" fmla="*/ 6762 h 7036"/>
                      <a:gd name="T92" fmla="*/ 3052 w 13782"/>
                      <a:gd name="T93" fmla="*/ 6907 h 7036"/>
                      <a:gd name="T94" fmla="*/ 3934 w 13782"/>
                      <a:gd name="T95" fmla="*/ 7017 h 7036"/>
                      <a:gd name="T96" fmla="*/ 4808 w 13782"/>
                      <a:gd name="T97" fmla="*/ 7031 h 7036"/>
                      <a:gd name="T98" fmla="*/ 5674 w 13782"/>
                      <a:gd name="T99" fmla="*/ 6960 h 7036"/>
                      <a:gd name="T100" fmla="*/ 6533 w 13782"/>
                      <a:gd name="T101" fmla="*/ 6822 h 7036"/>
                      <a:gd name="T102" fmla="*/ 7385 w 13782"/>
                      <a:gd name="T103" fmla="*/ 6630 h 7036"/>
                      <a:gd name="T104" fmla="*/ 8962 w 13782"/>
                      <a:gd name="T105" fmla="*/ 6175 h 7036"/>
                      <a:gd name="T106" fmla="*/ 10766 w 13782"/>
                      <a:gd name="T107" fmla="*/ 5599 h 7036"/>
                      <a:gd name="T108" fmla="*/ 11756 w 13782"/>
                      <a:gd name="T109" fmla="*/ 5321 h 7036"/>
                      <a:gd name="T110" fmla="*/ 12565 w 13782"/>
                      <a:gd name="T111" fmla="*/ 5154 h 7036"/>
                      <a:gd name="T112" fmla="*/ 13261 w 13782"/>
                      <a:gd name="T113" fmla="*/ 5071 h 7036"/>
                      <a:gd name="T114" fmla="*/ 13782 w 13782"/>
                      <a:gd name="T115" fmla="*/ 5004 h 7036"/>
                      <a:gd name="T116" fmla="*/ 13255 w 13782"/>
                      <a:gd name="T117" fmla="*/ 5011 h 70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3782" h="7036">
                        <a:moveTo>
                          <a:pt x="13180" y="5017"/>
                        </a:moveTo>
                        <a:lnTo>
                          <a:pt x="13180" y="5017"/>
                        </a:lnTo>
                        <a:lnTo>
                          <a:pt x="13075" y="5027"/>
                        </a:lnTo>
                        <a:lnTo>
                          <a:pt x="12971" y="5038"/>
                        </a:lnTo>
                        <a:lnTo>
                          <a:pt x="12867" y="5050"/>
                        </a:lnTo>
                        <a:lnTo>
                          <a:pt x="12764" y="5064"/>
                        </a:lnTo>
                        <a:lnTo>
                          <a:pt x="12660" y="5078"/>
                        </a:lnTo>
                        <a:lnTo>
                          <a:pt x="12557" y="5095"/>
                        </a:lnTo>
                        <a:lnTo>
                          <a:pt x="12454" y="5112"/>
                        </a:lnTo>
                        <a:lnTo>
                          <a:pt x="12352" y="5130"/>
                        </a:lnTo>
                        <a:lnTo>
                          <a:pt x="12250" y="5150"/>
                        </a:lnTo>
                        <a:lnTo>
                          <a:pt x="12148" y="5171"/>
                        </a:lnTo>
                        <a:lnTo>
                          <a:pt x="12047" y="5193"/>
                        </a:lnTo>
                        <a:lnTo>
                          <a:pt x="11945" y="5215"/>
                        </a:lnTo>
                        <a:lnTo>
                          <a:pt x="11844" y="5238"/>
                        </a:lnTo>
                        <a:lnTo>
                          <a:pt x="11743" y="5262"/>
                        </a:lnTo>
                        <a:lnTo>
                          <a:pt x="11643" y="5287"/>
                        </a:lnTo>
                        <a:lnTo>
                          <a:pt x="11543" y="5313"/>
                        </a:lnTo>
                        <a:lnTo>
                          <a:pt x="11443" y="5340"/>
                        </a:lnTo>
                        <a:lnTo>
                          <a:pt x="11343" y="5367"/>
                        </a:lnTo>
                        <a:lnTo>
                          <a:pt x="11244" y="5395"/>
                        </a:lnTo>
                        <a:lnTo>
                          <a:pt x="11144" y="5423"/>
                        </a:lnTo>
                        <a:lnTo>
                          <a:pt x="10947" y="5481"/>
                        </a:lnTo>
                        <a:lnTo>
                          <a:pt x="10750" y="5541"/>
                        </a:lnTo>
                        <a:lnTo>
                          <a:pt x="10555" y="5602"/>
                        </a:lnTo>
                        <a:lnTo>
                          <a:pt x="10360" y="5663"/>
                        </a:lnTo>
                        <a:lnTo>
                          <a:pt x="9973" y="5788"/>
                        </a:lnTo>
                        <a:lnTo>
                          <a:pt x="9775" y="5853"/>
                        </a:lnTo>
                        <a:lnTo>
                          <a:pt x="9775" y="5853"/>
                        </a:lnTo>
                        <a:lnTo>
                          <a:pt x="9361" y="5985"/>
                        </a:lnTo>
                        <a:lnTo>
                          <a:pt x="9154" y="6052"/>
                        </a:lnTo>
                        <a:lnTo>
                          <a:pt x="8947" y="6118"/>
                        </a:lnTo>
                        <a:lnTo>
                          <a:pt x="8739" y="6183"/>
                        </a:lnTo>
                        <a:lnTo>
                          <a:pt x="8530" y="6247"/>
                        </a:lnTo>
                        <a:lnTo>
                          <a:pt x="8321" y="6309"/>
                        </a:lnTo>
                        <a:lnTo>
                          <a:pt x="8111" y="6371"/>
                        </a:lnTo>
                        <a:lnTo>
                          <a:pt x="7902" y="6430"/>
                        </a:lnTo>
                        <a:lnTo>
                          <a:pt x="7692" y="6488"/>
                        </a:lnTo>
                        <a:lnTo>
                          <a:pt x="7481" y="6544"/>
                        </a:lnTo>
                        <a:lnTo>
                          <a:pt x="7375" y="6571"/>
                        </a:lnTo>
                        <a:lnTo>
                          <a:pt x="7269" y="6597"/>
                        </a:lnTo>
                        <a:lnTo>
                          <a:pt x="7164" y="6623"/>
                        </a:lnTo>
                        <a:lnTo>
                          <a:pt x="7058" y="6648"/>
                        </a:lnTo>
                        <a:lnTo>
                          <a:pt x="6952" y="6672"/>
                        </a:lnTo>
                        <a:lnTo>
                          <a:pt x="6846" y="6696"/>
                        </a:lnTo>
                        <a:lnTo>
                          <a:pt x="6739" y="6719"/>
                        </a:lnTo>
                        <a:lnTo>
                          <a:pt x="6634" y="6741"/>
                        </a:lnTo>
                        <a:lnTo>
                          <a:pt x="6527" y="6762"/>
                        </a:lnTo>
                        <a:lnTo>
                          <a:pt x="6420" y="6783"/>
                        </a:lnTo>
                        <a:lnTo>
                          <a:pt x="6314" y="6802"/>
                        </a:lnTo>
                        <a:lnTo>
                          <a:pt x="6207" y="6821"/>
                        </a:lnTo>
                        <a:lnTo>
                          <a:pt x="6100" y="6838"/>
                        </a:lnTo>
                        <a:lnTo>
                          <a:pt x="5993" y="6856"/>
                        </a:lnTo>
                        <a:lnTo>
                          <a:pt x="5886" y="6872"/>
                        </a:lnTo>
                        <a:lnTo>
                          <a:pt x="5779" y="6887"/>
                        </a:lnTo>
                        <a:lnTo>
                          <a:pt x="5671" y="6900"/>
                        </a:lnTo>
                        <a:lnTo>
                          <a:pt x="5565" y="6913"/>
                        </a:lnTo>
                        <a:lnTo>
                          <a:pt x="5457" y="6925"/>
                        </a:lnTo>
                        <a:lnTo>
                          <a:pt x="5349" y="6935"/>
                        </a:lnTo>
                        <a:lnTo>
                          <a:pt x="5242" y="6944"/>
                        </a:lnTo>
                        <a:lnTo>
                          <a:pt x="5133" y="6953"/>
                        </a:lnTo>
                        <a:lnTo>
                          <a:pt x="5026" y="6960"/>
                        </a:lnTo>
                        <a:lnTo>
                          <a:pt x="4918" y="6965"/>
                        </a:lnTo>
                        <a:lnTo>
                          <a:pt x="4809" y="6970"/>
                        </a:lnTo>
                        <a:lnTo>
                          <a:pt x="4701" y="6973"/>
                        </a:lnTo>
                        <a:lnTo>
                          <a:pt x="4593" y="6975"/>
                        </a:lnTo>
                        <a:lnTo>
                          <a:pt x="4484" y="6975"/>
                        </a:lnTo>
                        <a:lnTo>
                          <a:pt x="4376" y="6975"/>
                        </a:lnTo>
                        <a:lnTo>
                          <a:pt x="4267" y="6972"/>
                        </a:lnTo>
                        <a:lnTo>
                          <a:pt x="4158" y="6969"/>
                        </a:lnTo>
                        <a:lnTo>
                          <a:pt x="4049" y="6964"/>
                        </a:lnTo>
                        <a:lnTo>
                          <a:pt x="3940" y="6957"/>
                        </a:lnTo>
                        <a:lnTo>
                          <a:pt x="3831" y="6949"/>
                        </a:lnTo>
                        <a:lnTo>
                          <a:pt x="3721" y="6940"/>
                        </a:lnTo>
                        <a:lnTo>
                          <a:pt x="3612" y="6929"/>
                        </a:lnTo>
                        <a:lnTo>
                          <a:pt x="3503" y="6916"/>
                        </a:lnTo>
                        <a:lnTo>
                          <a:pt x="3393" y="6902"/>
                        </a:lnTo>
                        <a:lnTo>
                          <a:pt x="3284" y="6886"/>
                        </a:lnTo>
                        <a:lnTo>
                          <a:pt x="3173" y="6868"/>
                        </a:lnTo>
                        <a:lnTo>
                          <a:pt x="3063" y="6848"/>
                        </a:lnTo>
                        <a:lnTo>
                          <a:pt x="2954" y="6827"/>
                        </a:lnTo>
                        <a:lnTo>
                          <a:pt x="2954" y="6827"/>
                        </a:lnTo>
                        <a:lnTo>
                          <a:pt x="2869" y="6809"/>
                        </a:lnTo>
                        <a:lnTo>
                          <a:pt x="2786" y="6791"/>
                        </a:lnTo>
                        <a:lnTo>
                          <a:pt x="2704" y="6771"/>
                        </a:lnTo>
                        <a:lnTo>
                          <a:pt x="2623" y="6750"/>
                        </a:lnTo>
                        <a:lnTo>
                          <a:pt x="2543" y="6729"/>
                        </a:lnTo>
                        <a:lnTo>
                          <a:pt x="2464" y="6706"/>
                        </a:lnTo>
                        <a:lnTo>
                          <a:pt x="2387" y="6681"/>
                        </a:lnTo>
                        <a:lnTo>
                          <a:pt x="2310" y="6656"/>
                        </a:lnTo>
                        <a:lnTo>
                          <a:pt x="2235" y="6630"/>
                        </a:lnTo>
                        <a:lnTo>
                          <a:pt x="2159" y="6603"/>
                        </a:lnTo>
                        <a:lnTo>
                          <a:pt x="2086" y="6575"/>
                        </a:lnTo>
                        <a:lnTo>
                          <a:pt x="2014" y="6546"/>
                        </a:lnTo>
                        <a:lnTo>
                          <a:pt x="1943" y="6516"/>
                        </a:lnTo>
                        <a:lnTo>
                          <a:pt x="1873" y="6484"/>
                        </a:lnTo>
                        <a:lnTo>
                          <a:pt x="1804" y="6452"/>
                        </a:lnTo>
                        <a:lnTo>
                          <a:pt x="1737" y="6419"/>
                        </a:lnTo>
                        <a:lnTo>
                          <a:pt x="1670" y="6385"/>
                        </a:lnTo>
                        <a:lnTo>
                          <a:pt x="1605" y="6350"/>
                        </a:lnTo>
                        <a:lnTo>
                          <a:pt x="1541" y="6314"/>
                        </a:lnTo>
                        <a:lnTo>
                          <a:pt x="1478" y="6277"/>
                        </a:lnTo>
                        <a:lnTo>
                          <a:pt x="1416" y="6239"/>
                        </a:lnTo>
                        <a:lnTo>
                          <a:pt x="1356" y="6201"/>
                        </a:lnTo>
                        <a:lnTo>
                          <a:pt x="1296" y="6160"/>
                        </a:lnTo>
                        <a:lnTo>
                          <a:pt x="1239" y="6120"/>
                        </a:lnTo>
                        <a:lnTo>
                          <a:pt x="1183" y="6079"/>
                        </a:lnTo>
                        <a:lnTo>
                          <a:pt x="1127" y="6037"/>
                        </a:lnTo>
                        <a:lnTo>
                          <a:pt x="1073" y="5993"/>
                        </a:lnTo>
                        <a:lnTo>
                          <a:pt x="1020" y="5949"/>
                        </a:lnTo>
                        <a:lnTo>
                          <a:pt x="968" y="5905"/>
                        </a:lnTo>
                        <a:lnTo>
                          <a:pt x="918" y="5859"/>
                        </a:lnTo>
                        <a:lnTo>
                          <a:pt x="869" y="5812"/>
                        </a:lnTo>
                        <a:lnTo>
                          <a:pt x="822" y="5765"/>
                        </a:lnTo>
                        <a:lnTo>
                          <a:pt x="775" y="5717"/>
                        </a:lnTo>
                        <a:lnTo>
                          <a:pt x="731" y="5668"/>
                        </a:lnTo>
                        <a:lnTo>
                          <a:pt x="687" y="5618"/>
                        </a:lnTo>
                        <a:lnTo>
                          <a:pt x="645" y="5568"/>
                        </a:lnTo>
                        <a:lnTo>
                          <a:pt x="604" y="5517"/>
                        </a:lnTo>
                        <a:lnTo>
                          <a:pt x="565" y="5465"/>
                        </a:lnTo>
                        <a:lnTo>
                          <a:pt x="527" y="5412"/>
                        </a:lnTo>
                        <a:lnTo>
                          <a:pt x="491" y="5359"/>
                        </a:lnTo>
                        <a:lnTo>
                          <a:pt x="456" y="5305"/>
                        </a:lnTo>
                        <a:lnTo>
                          <a:pt x="421" y="5250"/>
                        </a:lnTo>
                        <a:lnTo>
                          <a:pt x="389" y="5195"/>
                        </a:lnTo>
                        <a:lnTo>
                          <a:pt x="358" y="5138"/>
                        </a:lnTo>
                        <a:lnTo>
                          <a:pt x="329" y="5081"/>
                        </a:lnTo>
                        <a:lnTo>
                          <a:pt x="301" y="5024"/>
                        </a:lnTo>
                        <a:lnTo>
                          <a:pt x="274" y="4965"/>
                        </a:lnTo>
                        <a:lnTo>
                          <a:pt x="249" y="4907"/>
                        </a:lnTo>
                        <a:lnTo>
                          <a:pt x="226" y="4848"/>
                        </a:lnTo>
                        <a:lnTo>
                          <a:pt x="204" y="4787"/>
                        </a:lnTo>
                        <a:lnTo>
                          <a:pt x="184" y="4726"/>
                        </a:lnTo>
                        <a:lnTo>
                          <a:pt x="165" y="4665"/>
                        </a:lnTo>
                        <a:lnTo>
                          <a:pt x="147" y="4603"/>
                        </a:lnTo>
                        <a:lnTo>
                          <a:pt x="132" y="4541"/>
                        </a:lnTo>
                        <a:lnTo>
                          <a:pt x="117" y="4477"/>
                        </a:lnTo>
                        <a:lnTo>
                          <a:pt x="105" y="4414"/>
                        </a:lnTo>
                        <a:lnTo>
                          <a:pt x="93" y="4350"/>
                        </a:lnTo>
                        <a:lnTo>
                          <a:pt x="83" y="4284"/>
                        </a:lnTo>
                        <a:lnTo>
                          <a:pt x="75" y="4219"/>
                        </a:lnTo>
                        <a:lnTo>
                          <a:pt x="69" y="4154"/>
                        </a:lnTo>
                        <a:lnTo>
                          <a:pt x="64" y="4087"/>
                        </a:lnTo>
                        <a:lnTo>
                          <a:pt x="61" y="4020"/>
                        </a:lnTo>
                        <a:lnTo>
                          <a:pt x="60" y="3952"/>
                        </a:lnTo>
                        <a:lnTo>
                          <a:pt x="60" y="3885"/>
                        </a:lnTo>
                        <a:lnTo>
                          <a:pt x="60" y="3885"/>
                        </a:lnTo>
                        <a:lnTo>
                          <a:pt x="62" y="3813"/>
                        </a:lnTo>
                        <a:lnTo>
                          <a:pt x="66" y="3740"/>
                        </a:lnTo>
                        <a:lnTo>
                          <a:pt x="73" y="3668"/>
                        </a:lnTo>
                        <a:lnTo>
                          <a:pt x="82" y="3596"/>
                        </a:lnTo>
                        <a:lnTo>
                          <a:pt x="93" y="3524"/>
                        </a:lnTo>
                        <a:lnTo>
                          <a:pt x="108" y="3453"/>
                        </a:lnTo>
                        <a:lnTo>
                          <a:pt x="123" y="3382"/>
                        </a:lnTo>
                        <a:lnTo>
                          <a:pt x="141" y="3312"/>
                        </a:lnTo>
                        <a:lnTo>
                          <a:pt x="161" y="3241"/>
                        </a:lnTo>
                        <a:lnTo>
                          <a:pt x="183" y="3172"/>
                        </a:lnTo>
                        <a:lnTo>
                          <a:pt x="208" y="3102"/>
                        </a:lnTo>
                        <a:lnTo>
                          <a:pt x="234" y="3034"/>
                        </a:lnTo>
                        <a:lnTo>
                          <a:pt x="263" y="2965"/>
                        </a:lnTo>
                        <a:lnTo>
                          <a:pt x="295" y="2897"/>
                        </a:lnTo>
                        <a:lnTo>
                          <a:pt x="328" y="2830"/>
                        </a:lnTo>
                        <a:lnTo>
                          <a:pt x="363" y="2762"/>
                        </a:lnTo>
                        <a:lnTo>
                          <a:pt x="401" y="2696"/>
                        </a:lnTo>
                        <a:lnTo>
                          <a:pt x="440" y="2629"/>
                        </a:lnTo>
                        <a:lnTo>
                          <a:pt x="483" y="2564"/>
                        </a:lnTo>
                        <a:lnTo>
                          <a:pt x="526" y="2499"/>
                        </a:lnTo>
                        <a:lnTo>
                          <a:pt x="572" y="2434"/>
                        </a:lnTo>
                        <a:lnTo>
                          <a:pt x="620" y="2370"/>
                        </a:lnTo>
                        <a:lnTo>
                          <a:pt x="671" y="2307"/>
                        </a:lnTo>
                        <a:lnTo>
                          <a:pt x="723" y="2244"/>
                        </a:lnTo>
                        <a:lnTo>
                          <a:pt x="777" y="2182"/>
                        </a:lnTo>
                        <a:lnTo>
                          <a:pt x="835" y="2120"/>
                        </a:lnTo>
                        <a:lnTo>
                          <a:pt x="893" y="2059"/>
                        </a:lnTo>
                        <a:lnTo>
                          <a:pt x="953" y="1999"/>
                        </a:lnTo>
                        <a:lnTo>
                          <a:pt x="1017" y="1939"/>
                        </a:lnTo>
                        <a:lnTo>
                          <a:pt x="1081" y="1881"/>
                        </a:lnTo>
                        <a:lnTo>
                          <a:pt x="1148" y="1823"/>
                        </a:lnTo>
                        <a:lnTo>
                          <a:pt x="1217" y="1764"/>
                        </a:lnTo>
                        <a:lnTo>
                          <a:pt x="1217" y="1764"/>
                        </a:lnTo>
                        <a:lnTo>
                          <a:pt x="1278" y="1715"/>
                        </a:lnTo>
                        <a:lnTo>
                          <a:pt x="1342" y="1667"/>
                        </a:lnTo>
                        <a:lnTo>
                          <a:pt x="1406" y="1619"/>
                        </a:lnTo>
                        <a:lnTo>
                          <a:pt x="1471" y="1570"/>
                        </a:lnTo>
                        <a:lnTo>
                          <a:pt x="1539" y="1524"/>
                        </a:lnTo>
                        <a:lnTo>
                          <a:pt x="1608" y="1478"/>
                        </a:lnTo>
                        <a:lnTo>
                          <a:pt x="1677" y="1431"/>
                        </a:lnTo>
                        <a:lnTo>
                          <a:pt x="1749" y="1386"/>
                        </a:lnTo>
                        <a:lnTo>
                          <a:pt x="1821" y="1342"/>
                        </a:lnTo>
                        <a:lnTo>
                          <a:pt x="1896" y="1299"/>
                        </a:lnTo>
                        <a:lnTo>
                          <a:pt x="1970" y="1255"/>
                        </a:lnTo>
                        <a:lnTo>
                          <a:pt x="2047" y="1213"/>
                        </a:lnTo>
                        <a:lnTo>
                          <a:pt x="2124" y="1172"/>
                        </a:lnTo>
                        <a:lnTo>
                          <a:pt x="2202" y="1132"/>
                        </a:lnTo>
                        <a:lnTo>
                          <a:pt x="2282" y="1091"/>
                        </a:lnTo>
                        <a:lnTo>
                          <a:pt x="2362" y="1052"/>
                        </a:lnTo>
                        <a:lnTo>
                          <a:pt x="2444" y="1014"/>
                        </a:lnTo>
                        <a:lnTo>
                          <a:pt x="2527" y="977"/>
                        </a:lnTo>
                        <a:lnTo>
                          <a:pt x="2611" y="939"/>
                        </a:lnTo>
                        <a:lnTo>
                          <a:pt x="2695" y="903"/>
                        </a:lnTo>
                        <a:lnTo>
                          <a:pt x="2781" y="869"/>
                        </a:lnTo>
                        <a:lnTo>
                          <a:pt x="2867" y="835"/>
                        </a:lnTo>
                        <a:lnTo>
                          <a:pt x="2954" y="802"/>
                        </a:lnTo>
                        <a:lnTo>
                          <a:pt x="3042" y="769"/>
                        </a:lnTo>
                        <a:lnTo>
                          <a:pt x="3131" y="737"/>
                        </a:lnTo>
                        <a:lnTo>
                          <a:pt x="3220" y="707"/>
                        </a:lnTo>
                        <a:lnTo>
                          <a:pt x="3311" y="678"/>
                        </a:lnTo>
                        <a:lnTo>
                          <a:pt x="3401" y="649"/>
                        </a:lnTo>
                        <a:lnTo>
                          <a:pt x="3494" y="622"/>
                        </a:lnTo>
                        <a:lnTo>
                          <a:pt x="3585" y="595"/>
                        </a:lnTo>
                        <a:lnTo>
                          <a:pt x="3679" y="569"/>
                        </a:lnTo>
                        <a:lnTo>
                          <a:pt x="3772" y="545"/>
                        </a:lnTo>
                        <a:lnTo>
                          <a:pt x="3772" y="545"/>
                        </a:lnTo>
                        <a:lnTo>
                          <a:pt x="3855" y="524"/>
                        </a:lnTo>
                        <a:lnTo>
                          <a:pt x="3938" y="504"/>
                        </a:lnTo>
                        <a:lnTo>
                          <a:pt x="4022" y="484"/>
                        </a:lnTo>
                        <a:lnTo>
                          <a:pt x="4104" y="466"/>
                        </a:lnTo>
                        <a:lnTo>
                          <a:pt x="4189" y="447"/>
                        </a:lnTo>
                        <a:lnTo>
                          <a:pt x="4272" y="429"/>
                        </a:lnTo>
                        <a:lnTo>
                          <a:pt x="4356" y="412"/>
                        </a:lnTo>
                        <a:lnTo>
                          <a:pt x="4439" y="396"/>
                        </a:lnTo>
                        <a:lnTo>
                          <a:pt x="4608" y="365"/>
                        </a:lnTo>
                        <a:lnTo>
                          <a:pt x="4776" y="337"/>
                        </a:lnTo>
                        <a:lnTo>
                          <a:pt x="4945" y="310"/>
                        </a:lnTo>
                        <a:lnTo>
                          <a:pt x="5114" y="286"/>
                        </a:lnTo>
                        <a:lnTo>
                          <a:pt x="4939" y="551"/>
                        </a:lnTo>
                        <a:lnTo>
                          <a:pt x="5502" y="212"/>
                        </a:lnTo>
                        <a:lnTo>
                          <a:pt x="4880" y="0"/>
                        </a:lnTo>
                        <a:lnTo>
                          <a:pt x="5111" y="225"/>
                        </a:lnTo>
                        <a:lnTo>
                          <a:pt x="5111" y="225"/>
                        </a:lnTo>
                        <a:lnTo>
                          <a:pt x="4940" y="249"/>
                        </a:lnTo>
                        <a:lnTo>
                          <a:pt x="4770" y="277"/>
                        </a:lnTo>
                        <a:lnTo>
                          <a:pt x="4600" y="306"/>
                        </a:lnTo>
                        <a:lnTo>
                          <a:pt x="4515" y="321"/>
                        </a:lnTo>
                        <a:lnTo>
                          <a:pt x="4430" y="337"/>
                        </a:lnTo>
                        <a:lnTo>
                          <a:pt x="4346" y="353"/>
                        </a:lnTo>
                        <a:lnTo>
                          <a:pt x="4261" y="370"/>
                        </a:lnTo>
                        <a:lnTo>
                          <a:pt x="4177" y="388"/>
                        </a:lnTo>
                        <a:lnTo>
                          <a:pt x="4093" y="406"/>
                        </a:lnTo>
                        <a:lnTo>
                          <a:pt x="4009" y="425"/>
                        </a:lnTo>
                        <a:lnTo>
                          <a:pt x="3924" y="446"/>
                        </a:lnTo>
                        <a:lnTo>
                          <a:pt x="3841" y="466"/>
                        </a:lnTo>
                        <a:lnTo>
                          <a:pt x="3757" y="487"/>
                        </a:lnTo>
                        <a:lnTo>
                          <a:pt x="3757" y="487"/>
                        </a:lnTo>
                        <a:lnTo>
                          <a:pt x="3663" y="511"/>
                        </a:lnTo>
                        <a:lnTo>
                          <a:pt x="3569" y="537"/>
                        </a:lnTo>
                        <a:lnTo>
                          <a:pt x="3476" y="564"/>
                        </a:lnTo>
                        <a:lnTo>
                          <a:pt x="3384" y="591"/>
                        </a:lnTo>
                        <a:lnTo>
                          <a:pt x="3292" y="621"/>
                        </a:lnTo>
                        <a:lnTo>
                          <a:pt x="3201" y="651"/>
                        </a:lnTo>
                        <a:lnTo>
                          <a:pt x="3111" y="681"/>
                        </a:lnTo>
                        <a:lnTo>
                          <a:pt x="3021" y="713"/>
                        </a:lnTo>
                        <a:lnTo>
                          <a:pt x="2933" y="745"/>
                        </a:lnTo>
                        <a:lnTo>
                          <a:pt x="2844" y="779"/>
                        </a:lnTo>
                        <a:lnTo>
                          <a:pt x="2758" y="814"/>
                        </a:lnTo>
                        <a:lnTo>
                          <a:pt x="2671" y="849"/>
                        </a:lnTo>
                        <a:lnTo>
                          <a:pt x="2586" y="885"/>
                        </a:lnTo>
                        <a:lnTo>
                          <a:pt x="2501" y="922"/>
                        </a:lnTo>
                        <a:lnTo>
                          <a:pt x="2418" y="960"/>
                        </a:lnTo>
                        <a:lnTo>
                          <a:pt x="2335" y="999"/>
                        </a:lnTo>
                        <a:lnTo>
                          <a:pt x="2254" y="1038"/>
                        </a:lnTo>
                        <a:lnTo>
                          <a:pt x="2173" y="1078"/>
                        </a:lnTo>
                        <a:lnTo>
                          <a:pt x="2095" y="1120"/>
                        </a:lnTo>
                        <a:lnTo>
                          <a:pt x="2016" y="1162"/>
                        </a:lnTo>
                        <a:lnTo>
                          <a:pt x="1940" y="1204"/>
                        </a:lnTo>
                        <a:lnTo>
                          <a:pt x="1864" y="1247"/>
                        </a:lnTo>
                        <a:lnTo>
                          <a:pt x="1789" y="1292"/>
                        </a:lnTo>
                        <a:lnTo>
                          <a:pt x="1716" y="1336"/>
                        </a:lnTo>
                        <a:lnTo>
                          <a:pt x="1644" y="1382"/>
                        </a:lnTo>
                        <a:lnTo>
                          <a:pt x="1574" y="1427"/>
                        </a:lnTo>
                        <a:lnTo>
                          <a:pt x="1504" y="1475"/>
                        </a:lnTo>
                        <a:lnTo>
                          <a:pt x="1436" y="1522"/>
                        </a:lnTo>
                        <a:lnTo>
                          <a:pt x="1370" y="1570"/>
                        </a:lnTo>
                        <a:lnTo>
                          <a:pt x="1304" y="1620"/>
                        </a:lnTo>
                        <a:lnTo>
                          <a:pt x="1241" y="1669"/>
                        </a:lnTo>
                        <a:lnTo>
                          <a:pt x="1179" y="1718"/>
                        </a:lnTo>
                        <a:lnTo>
                          <a:pt x="1179" y="1718"/>
                        </a:lnTo>
                        <a:lnTo>
                          <a:pt x="1108" y="1777"/>
                        </a:lnTo>
                        <a:lnTo>
                          <a:pt x="1041" y="1837"/>
                        </a:lnTo>
                        <a:lnTo>
                          <a:pt x="974" y="1896"/>
                        </a:lnTo>
                        <a:lnTo>
                          <a:pt x="910" y="1958"/>
                        </a:lnTo>
                        <a:lnTo>
                          <a:pt x="849" y="2019"/>
                        </a:lnTo>
                        <a:lnTo>
                          <a:pt x="788" y="2081"/>
                        </a:lnTo>
                        <a:lnTo>
                          <a:pt x="731" y="2144"/>
                        </a:lnTo>
                        <a:lnTo>
                          <a:pt x="676" y="2207"/>
                        </a:lnTo>
                        <a:lnTo>
                          <a:pt x="622" y="2271"/>
                        </a:lnTo>
                        <a:lnTo>
                          <a:pt x="571" y="2336"/>
                        </a:lnTo>
                        <a:lnTo>
                          <a:pt x="522" y="2401"/>
                        </a:lnTo>
                        <a:lnTo>
                          <a:pt x="475" y="2468"/>
                        </a:lnTo>
                        <a:lnTo>
                          <a:pt x="430" y="2534"/>
                        </a:lnTo>
                        <a:lnTo>
                          <a:pt x="387" y="2600"/>
                        </a:lnTo>
                        <a:lnTo>
                          <a:pt x="347" y="2668"/>
                        </a:lnTo>
                        <a:lnTo>
                          <a:pt x="309" y="2736"/>
                        </a:lnTo>
                        <a:lnTo>
                          <a:pt x="272" y="2805"/>
                        </a:lnTo>
                        <a:lnTo>
                          <a:pt x="239" y="2874"/>
                        </a:lnTo>
                        <a:lnTo>
                          <a:pt x="207" y="2943"/>
                        </a:lnTo>
                        <a:lnTo>
                          <a:pt x="178" y="3013"/>
                        </a:lnTo>
                        <a:lnTo>
                          <a:pt x="151" y="3084"/>
                        </a:lnTo>
                        <a:lnTo>
                          <a:pt x="126" y="3155"/>
                        </a:lnTo>
                        <a:lnTo>
                          <a:pt x="103" y="3226"/>
                        </a:lnTo>
                        <a:lnTo>
                          <a:pt x="82" y="3297"/>
                        </a:lnTo>
                        <a:lnTo>
                          <a:pt x="64" y="3370"/>
                        </a:lnTo>
                        <a:lnTo>
                          <a:pt x="48" y="3442"/>
                        </a:lnTo>
                        <a:lnTo>
                          <a:pt x="34" y="3515"/>
                        </a:lnTo>
                        <a:lnTo>
                          <a:pt x="23" y="3588"/>
                        </a:lnTo>
                        <a:lnTo>
                          <a:pt x="14" y="3662"/>
                        </a:lnTo>
                        <a:lnTo>
                          <a:pt x="7" y="3736"/>
                        </a:lnTo>
                        <a:lnTo>
                          <a:pt x="2" y="3809"/>
                        </a:lnTo>
                        <a:lnTo>
                          <a:pt x="0" y="3884"/>
                        </a:lnTo>
                        <a:lnTo>
                          <a:pt x="0" y="3884"/>
                        </a:lnTo>
                        <a:lnTo>
                          <a:pt x="0" y="3953"/>
                        </a:lnTo>
                        <a:lnTo>
                          <a:pt x="1" y="4022"/>
                        </a:lnTo>
                        <a:lnTo>
                          <a:pt x="5" y="4090"/>
                        </a:lnTo>
                        <a:lnTo>
                          <a:pt x="9" y="4159"/>
                        </a:lnTo>
                        <a:lnTo>
                          <a:pt x="16" y="4226"/>
                        </a:lnTo>
                        <a:lnTo>
                          <a:pt x="24" y="4292"/>
                        </a:lnTo>
                        <a:lnTo>
                          <a:pt x="33" y="4359"/>
                        </a:lnTo>
                        <a:lnTo>
                          <a:pt x="45" y="4424"/>
                        </a:lnTo>
                        <a:lnTo>
                          <a:pt x="58" y="4490"/>
                        </a:lnTo>
                        <a:lnTo>
                          <a:pt x="72" y="4554"/>
                        </a:lnTo>
                        <a:lnTo>
                          <a:pt x="88" y="4617"/>
                        </a:lnTo>
                        <a:lnTo>
                          <a:pt x="107" y="4681"/>
                        </a:lnTo>
                        <a:lnTo>
                          <a:pt x="126" y="4743"/>
                        </a:lnTo>
                        <a:lnTo>
                          <a:pt x="146" y="4805"/>
                        </a:lnTo>
                        <a:lnTo>
                          <a:pt x="169" y="4867"/>
                        </a:lnTo>
                        <a:lnTo>
                          <a:pt x="192" y="4927"/>
                        </a:lnTo>
                        <a:lnTo>
                          <a:pt x="218" y="4987"/>
                        </a:lnTo>
                        <a:lnTo>
                          <a:pt x="244" y="5047"/>
                        </a:lnTo>
                        <a:lnTo>
                          <a:pt x="273" y="5106"/>
                        </a:lnTo>
                        <a:lnTo>
                          <a:pt x="303" y="5163"/>
                        </a:lnTo>
                        <a:lnTo>
                          <a:pt x="334" y="5221"/>
                        </a:lnTo>
                        <a:lnTo>
                          <a:pt x="367" y="5278"/>
                        </a:lnTo>
                        <a:lnTo>
                          <a:pt x="401" y="5334"/>
                        </a:lnTo>
                        <a:lnTo>
                          <a:pt x="437" y="5389"/>
                        </a:lnTo>
                        <a:lnTo>
                          <a:pt x="475" y="5443"/>
                        </a:lnTo>
                        <a:lnTo>
                          <a:pt x="513" y="5497"/>
                        </a:lnTo>
                        <a:lnTo>
                          <a:pt x="553" y="5550"/>
                        </a:lnTo>
                        <a:lnTo>
                          <a:pt x="594" y="5602"/>
                        </a:lnTo>
                        <a:lnTo>
                          <a:pt x="638" y="5654"/>
                        </a:lnTo>
                        <a:lnTo>
                          <a:pt x="682" y="5705"/>
                        </a:lnTo>
                        <a:lnTo>
                          <a:pt x="727" y="5755"/>
                        </a:lnTo>
                        <a:lnTo>
                          <a:pt x="774" y="5803"/>
                        </a:lnTo>
                        <a:lnTo>
                          <a:pt x="823" y="5852"/>
                        </a:lnTo>
                        <a:lnTo>
                          <a:pt x="872" y="5899"/>
                        </a:lnTo>
                        <a:lnTo>
                          <a:pt x="923" y="5946"/>
                        </a:lnTo>
                        <a:lnTo>
                          <a:pt x="975" y="5991"/>
                        </a:lnTo>
                        <a:lnTo>
                          <a:pt x="1030" y="6037"/>
                        </a:lnTo>
                        <a:lnTo>
                          <a:pt x="1084" y="6081"/>
                        </a:lnTo>
                        <a:lnTo>
                          <a:pt x="1140" y="6123"/>
                        </a:lnTo>
                        <a:lnTo>
                          <a:pt x="1199" y="6165"/>
                        </a:lnTo>
                        <a:lnTo>
                          <a:pt x="1257" y="6207"/>
                        </a:lnTo>
                        <a:lnTo>
                          <a:pt x="1317" y="6248"/>
                        </a:lnTo>
                        <a:lnTo>
                          <a:pt x="1379" y="6287"/>
                        </a:lnTo>
                        <a:lnTo>
                          <a:pt x="1441" y="6325"/>
                        </a:lnTo>
                        <a:lnTo>
                          <a:pt x="1505" y="6364"/>
                        </a:lnTo>
                        <a:lnTo>
                          <a:pt x="1571" y="6400"/>
                        </a:lnTo>
                        <a:lnTo>
                          <a:pt x="1637" y="6436"/>
                        </a:lnTo>
                        <a:lnTo>
                          <a:pt x="1705" y="6470"/>
                        </a:lnTo>
                        <a:lnTo>
                          <a:pt x="1773" y="6504"/>
                        </a:lnTo>
                        <a:lnTo>
                          <a:pt x="1843" y="6537"/>
                        </a:lnTo>
                        <a:lnTo>
                          <a:pt x="1914" y="6569"/>
                        </a:lnTo>
                        <a:lnTo>
                          <a:pt x="1986" y="6600"/>
                        </a:lnTo>
                        <a:lnTo>
                          <a:pt x="2060" y="6629"/>
                        </a:lnTo>
                        <a:lnTo>
                          <a:pt x="2134" y="6658"/>
                        </a:lnTo>
                        <a:lnTo>
                          <a:pt x="2211" y="6686"/>
                        </a:lnTo>
                        <a:lnTo>
                          <a:pt x="2287" y="6713"/>
                        </a:lnTo>
                        <a:lnTo>
                          <a:pt x="2365" y="6738"/>
                        </a:lnTo>
                        <a:lnTo>
                          <a:pt x="2444" y="6762"/>
                        </a:lnTo>
                        <a:lnTo>
                          <a:pt x="2524" y="6786"/>
                        </a:lnTo>
                        <a:lnTo>
                          <a:pt x="2606" y="6808"/>
                        </a:lnTo>
                        <a:lnTo>
                          <a:pt x="2688" y="6829"/>
                        </a:lnTo>
                        <a:lnTo>
                          <a:pt x="2772" y="6849"/>
                        </a:lnTo>
                        <a:lnTo>
                          <a:pt x="2856" y="6869"/>
                        </a:lnTo>
                        <a:lnTo>
                          <a:pt x="2942" y="6886"/>
                        </a:lnTo>
                        <a:lnTo>
                          <a:pt x="2942" y="6886"/>
                        </a:lnTo>
                        <a:lnTo>
                          <a:pt x="3052" y="6907"/>
                        </a:lnTo>
                        <a:lnTo>
                          <a:pt x="3163" y="6927"/>
                        </a:lnTo>
                        <a:lnTo>
                          <a:pt x="3274" y="6945"/>
                        </a:lnTo>
                        <a:lnTo>
                          <a:pt x="3384" y="6961"/>
                        </a:lnTo>
                        <a:lnTo>
                          <a:pt x="3494" y="6975"/>
                        </a:lnTo>
                        <a:lnTo>
                          <a:pt x="3604" y="6988"/>
                        </a:lnTo>
                        <a:lnTo>
                          <a:pt x="3714" y="6999"/>
                        </a:lnTo>
                        <a:lnTo>
                          <a:pt x="3825" y="7009"/>
                        </a:lnTo>
                        <a:lnTo>
                          <a:pt x="3934" y="7017"/>
                        </a:lnTo>
                        <a:lnTo>
                          <a:pt x="4044" y="7025"/>
                        </a:lnTo>
                        <a:lnTo>
                          <a:pt x="4154" y="7030"/>
                        </a:lnTo>
                        <a:lnTo>
                          <a:pt x="4263" y="7033"/>
                        </a:lnTo>
                        <a:lnTo>
                          <a:pt x="4372" y="7036"/>
                        </a:lnTo>
                        <a:lnTo>
                          <a:pt x="4481" y="7036"/>
                        </a:lnTo>
                        <a:lnTo>
                          <a:pt x="4590" y="7036"/>
                        </a:lnTo>
                        <a:lnTo>
                          <a:pt x="4700" y="7034"/>
                        </a:lnTo>
                        <a:lnTo>
                          <a:pt x="4808" y="7031"/>
                        </a:lnTo>
                        <a:lnTo>
                          <a:pt x="4917" y="7026"/>
                        </a:lnTo>
                        <a:lnTo>
                          <a:pt x="5026" y="7020"/>
                        </a:lnTo>
                        <a:lnTo>
                          <a:pt x="5134" y="7013"/>
                        </a:lnTo>
                        <a:lnTo>
                          <a:pt x="5243" y="7004"/>
                        </a:lnTo>
                        <a:lnTo>
                          <a:pt x="5350" y="6995"/>
                        </a:lnTo>
                        <a:lnTo>
                          <a:pt x="5459" y="6985"/>
                        </a:lnTo>
                        <a:lnTo>
                          <a:pt x="5567" y="6973"/>
                        </a:lnTo>
                        <a:lnTo>
                          <a:pt x="5674" y="6960"/>
                        </a:lnTo>
                        <a:lnTo>
                          <a:pt x="5783" y="6947"/>
                        </a:lnTo>
                        <a:lnTo>
                          <a:pt x="5890" y="6932"/>
                        </a:lnTo>
                        <a:lnTo>
                          <a:pt x="5997" y="6916"/>
                        </a:lnTo>
                        <a:lnTo>
                          <a:pt x="6105" y="6899"/>
                        </a:lnTo>
                        <a:lnTo>
                          <a:pt x="6212" y="6882"/>
                        </a:lnTo>
                        <a:lnTo>
                          <a:pt x="6320" y="6863"/>
                        </a:lnTo>
                        <a:lnTo>
                          <a:pt x="6427" y="6842"/>
                        </a:lnTo>
                        <a:lnTo>
                          <a:pt x="6533" y="6822"/>
                        </a:lnTo>
                        <a:lnTo>
                          <a:pt x="6641" y="6801"/>
                        </a:lnTo>
                        <a:lnTo>
                          <a:pt x="6747" y="6779"/>
                        </a:lnTo>
                        <a:lnTo>
                          <a:pt x="6854" y="6756"/>
                        </a:lnTo>
                        <a:lnTo>
                          <a:pt x="6961" y="6732"/>
                        </a:lnTo>
                        <a:lnTo>
                          <a:pt x="7066" y="6708"/>
                        </a:lnTo>
                        <a:lnTo>
                          <a:pt x="7173" y="6682"/>
                        </a:lnTo>
                        <a:lnTo>
                          <a:pt x="7279" y="6657"/>
                        </a:lnTo>
                        <a:lnTo>
                          <a:pt x="7385" y="6630"/>
                        </a:lnTo>
                        <a:lnTo>
                          <a:pt x="7491" y="6603"/>
                        </a:lnTo>
                        <a:lnTo>
                          <a:pt x="7703" y="6548"/>
                        </a:lnTo>
                        <a:lnTo>
                          <a:pt x="7914" y="6489"/>
                        </a:lnTo>
                        <a:lnTo>
                          <a:pt x="8124" y="6430"/>
                        </a:lnTo>
                        <a:lnTo>
                          <a:pt x="8334" y="6369"/>
                        </a:lnTo>
                        <a:lnTo>
                          <a:pt x="8545" y="6305"/>
                        </a:lnTo>
                        <a:lnTo>
                          <a:pt x="8754" y="6241"/>
                        </a:lnTo>
                        <a:lnTo>
                          <a:pt x="8962" y="6175"/>
                        </a:lnTo>
                        <a:lnTo>
                          <a:pt x="9170" y="6110"/>
                        </a:lnTo>
                        <a:lnTo>
                          <a:pt x="9378" y="6044"/>
                        </a:lnTo>
                        <a:lnTo>
                          <a:pt x="9793" y="5910"/>
                        </a:lnTo>
                        <a:lnTo>
                          <a:pt x="9992" y="5846"/>
                        </a:lnTo>
                        <a:lnTo>
                          <a:pt x="9992" y="5846"/>
                        </a:lnTo>
                        <a:lnTo>
                          <a:pt x="10377" y="5721"/>
                        </a:lnTo>
                        <a:lnTo>
                          <a:pt x="10571" y="5659"/>
                        </a:lnTo>
                        <a:lnTo>
                          <a:pt x="10766" y="5599"/>
                        </a:lnTo>
                        <a:lnTo>
                          <a:pt x="10962" y="5540"/>
                        </a:lnTo>
                        <a:lnTo>
                          <a:pt x="11159" y="5481"/>
                        </a:lnTo>
                        <a:lnTo>
                          <a:pt x="11258" y="5453"/>
                        </a:lnTo>
                        <a:lnTo>
                          <a:pt x="11357" y="5425"/>
                        </a:lnTo>
                        <a:lnTo>
                          <a:pt x="11456" y="5399"/>
                        </a:lnTo>
                        <a:lnTo>
                          <a:pt x="11556" y="5372"/>
                        </a:lnTo>
                        <a:lnTo>
                          <a:pt x="11655" y="5347"/>
                        </a:lnTo>
                        <a:lnTo>
                          <a:pt x="11756" y="5321"/>
                        </a:lnTo>
                        <a:lnTo>
                          <a:pt x="11856" y="5297"/>
                        </a:lnTo>
                        <a:lnTo>
                          <a:pt x="11957" y="5274"/>
                        </a:lnTo>
                        <a:lnTo>
                          <a:pt x="12058" y="5251"/>
                        </a:lnTo>
                        <a:lnTo>
                          <a:pt x="12158" y="5230"/>
                        </a:lnTo>
                        <a:lnTo>
                          <a:pt x="12260" y="5210"/>
                        </a:lnTo>
                        <a:lnTo>
                          <a:pt x="12361" y="5190"/>
                        </a:lnTo>
                        <a:lnTo>
                          <a:pt x="12464" y="5172"/>
                        </a:lnTo>
                        <a:lnTo>
                          <a:pt x="12565" y="5154"/>
                        </a:lnTo>
                        <a:lnTo>
                          <a:pt x="12668" y="5138"/>
                        </a:lnTo>
                        <a:lnTo>
                          <a:pt x="12771" y="5123"/>
                        </a:lnTo>
                        <a:lnTo>
                          <a:pt x="12874" y="5109"/>
                        </a:lnTo>
                        <a:lnTo>
                          <a:pt x="12977" y="5097"/>
                        </a:lnTo>
                        <a:lnTo>
                          <a:pt x="13081" y="5086"/>
                        </a:lnTo>
                        <a:lnTo>
                          <a:pt x="13185" y="5077"/>
                        </a:lnTo>
                        <a:lnTo>
                          <a:pt x="13185" y="5077"/>
                        </a:lnTo>
                        <a:lnTo>
                          <a:pt x="13261" y="5071"/>
                        </a:lnTo>
                        <a:lnTo>
                          <a:pt x="13338" y="5066"/>
                        </a:lnTo>
                        <a:lnTo>
                          <a:pt x="13413" y="5063"/>
                        </a:lnTo>
                        <a:lnTo>
                          <a:pt x="13488" y="5061"/>
                        </a:lnTo>
                        <a:lnTo>
                          <a:pt x="13562" y="5059"/>
                        </a:lnTo>
                        <a:lnTo>
                          <a:pt x="13637" y="5059"/>
                        </a:lnTo>
                        <a:lnTo>
                          <a:pt x="13710" y="5061"/>
                        </a:lnTo>
                        <a:lnTo>
                          <a:pt x="13782" y="5063"/>
                        </a:lnTo>
                        <a:lnTo>
                          <a:pt x="13782" y="5004"/>
                        </a:lnTo>
                        <a:lnTo>
                          <a:pt x="13782" y="5004"/>
                        </a:lnTo>
                        <a:lnTo>
                          <a:pt x="13708" y="5002"/>
                        </a:lnTo>
                        <a:lnTo>
                          <a:pt x="13633" y="5001"/>
                        </a:lnTo>
                        <a:lnTo>
                          <a:pt x="13558" y="5000"/>
                        </a:lnTo>
                        <a:lnTo>
                          <a:pt x="13483" y="5001"/>
                        </a:lnTo>
                        <a:lnTo>
                          <a:pt x="13407" y="5003"/>
                        </a:lnTo>
                        <a:lnTo>
                          <a:pt x="13332" y="5007"/>
                        </a:lnTo>
                        <a:lnTo>
                          <a:pt x="13255" y="5011"/>
                        </a:lnTo>
                        <a:lnTo>
                          <a:pt x="13180" y="5017"/>
                        </a:lnTo>
                        <a:lnTo>
                          <a:pt x="13180" y="5017"/>
                        </a:ln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Calibri"/>
                    </a:endParaRPr>
                  </a:p>
                </p:txBody>
              </p:sp>
              <p:sp>
                <p:nvSpPr>
                  <p:cNvPr id="29" name="Freeform 10">
                    <a:extLst>
                      <a:ext uri="{FF2B5EF4-FFF2-40B4-BE49-F238E27FC236}">
                        <a16:creationId xmlns:a16="http://schemas.microsoft.com/office/drawing/2014/main" id="{C74CC7E0-F181-249C-DBAD-C252617FDCBC}"/>
                      </a:ext>
                    </a:extLst>
                  </p:cNvPr>
                  <p:cNvSpPr>
                    <a:spLocks/>
                  </p:cNvSpPr>
                  <p:nvPr/>
                </p:nvSpPr>
                <p:spPr bwMode="auto">
                  <a:xfrm>
                    <a:off x="181166" y="5322525"/>
                    <a:ext cx="361269" cy="1260838"/>
                  </a:xfrm>
                  <a:custGeom>
                    <a:avLst/>
                    <a:gdLst>
                      <a:gd name="T0" fmla="*/ 2039 w 2390"/>
                      <a:gd name="T1" fmla="*/ 148 h 4760"/>
                      <a:gd name="T2" fmla="*/ 1951 w 2390"/>
                      <a:gd name="T3" fmla="*/ 208 h 4760"/>
                      <a:gd name="T4" fmla="*/ 1826 w 2390"/>
                      <a:gd name="T5" fmla="*/ 302 h 4760"/>
                      <a:gd name="T6" fmla="*/ 1705 w 2390"/>
                      <a:gd name="T7" fmla="*/ 399 h 4760"/>
                      <a:gd name="T8" fmla="*/ 1590 w 2390"/>
                      <a:gd name="T9" fmla="*/ 501 h 4760"/>
                      <a:gd name="T10" fmla="*/ 1480 w 2390"/>
                      <a:gd name="T11" fmla="*/ 605 h 4760"/>
                      <a:gd name="T12" fmla="*/ 1375 w 2390"/>
                      <a:gd name="T13" fmla="*/ 713 h 4760"/>
                      <a:gd name="T14" fmla="*/ 1275 w 2390"/>
                      <a:gd name="T15" fmla="*/ 824 h 4760"/>
                      <a:gd name="T16" fmla="*/ 1091 w 2390"/>
                      <a:gd name="T17" fmla="*/ 1054 h 4760"/>
                      <a:gd name="T18" fmla="*/ 924 w 2390"/>
                      <a:gd name="T19" fmla="*/ 1293 h 4760"/>
                      <a:gd name="T20" fmla="*/ 777 w 2390"/>
                      <a:gd name="T21" fmla="*/ 1538 h 4760"/>
                      <a:gd name="T22" fmla="*/ 644 w 2390"/>
                      <a:gd name="T23" fmla="*/ 1788 h 4760"/>
                      <a:gd name="T24" fmla="*/ 528 w 2390"/>
                      <a:gd name="T25" fmla="*/ 2042 h 4760"/>
                      <a:gd name="T26" fmla="*/ 427 w 2390"/>
                      <a:gd name="T27" fmla="*/ 2296 h 4760"/>
                      <a:gd name="T28" fmla="*/ 339 w 2390"/>
                      <a:gd name="T29" fmla="*/ 2551 h 4760"/>
                      <a:gd name="T30" fmla="*/ 264 w 2390"/>
                      <a:gd name="T31" fmla="*/ 2802 h 4760"/>
                      <a:gd name="T32" fmla="*/ 200 w 2390"/>
                      <a:gd name="T33" fmla="*/ 3050 h 4760"/>
                      <a:gd name="T34" fmla="*/ 148 w 2390"/>
                      <a:gd name="T35" fmla="*/ 3290 h 4760"/>
                      <a:gd name="T36" fmla="*/ 106 w 2390"/>
                      <a:gd name="T37" fmla="*/ 3524 h 4760"/>
                      <a:gd name="T38" fmla="*/ 72 w 2390"/>
                      <a:gd name="T39" fmla="*/ 3746 h 4760"/>
                      <a:gd name="T40" fmla="*/ 45 w 2390"/>
                      <a:gd name="T41" fmla="*/ 3956 h 4760"/>
                      <a:gd name="T42" fmla="*/ 17 w 2390"/>
                      <a:gd name="T43" fmla="*/ 4275 h 4760"/>
                      <a:gd name="T44" fmla="*/ 2 w 2390"/>
                      <a:gd name="T45" fmla="*/ 4593 h 4760"/>
                      <a:gd name="T46" fmla="*/ 60 w 2390"/>
                      <a:gd name="T47" fmla="*/ 4760 h 4760"/>
                      <a:gd name="T48" fmla="*/ 62 w 2390"/>
                      <a:gd name="T49" fmla="*/ 4596 h 4760"/>
                      <a:gd name="T50" fmla="*/ 78 w 2390"/>
                      <a:gd name="T51" fmla="*/ 4283 h 4760"/>
                      <a:gd name="T52" fmla="*/ 113 w 2390"/>
                      <a:gd name="T53" fmla="*/ 3903 h 4760"/>
                      <a:gd name="T54" fmla="*/ 140 w 2390"/>
                      <a:gd name="T55" fmla="*/ 3693 h 4760"/>
                      <a:gd name="T56" fmla="*/ 176 w 2390"/>
                      <a:gd name="T57" fmla="*/ 3470 h 4760"/>
                      <a:gd name="T58" fmla="*/ 220 w 2390"/>
                      <a:gd name="T59" fmla="*/ 3239 h 4760"/>
                      <a:gd name="T60" fmla="*/ 275 w 2390"/>
                      <a:gd name="T61" fmla="*/ 3001 h 4760"/>
                      <a:gd name="T62" fmla="*/ 340 w 2390"/>
                      <a:gd name="T63" fmla="*/ 2755 h 4760"/>
                      <a:gd name="T64" fmla="*/ 417 w 2390"/>
                      <a:gd name="T65" fmla="*/ 2507 h 4760"/>
                      <a:gd name="T66" fmla="*/ 506 w 2390"/>
                      <a:gd name="T67" fmla="*/ 2257 h 4760"/>
                      <a:gd name="T68" fmla="*/ 610 w 2390"/>
                      <a:gd name="T69" fmla="*/ 2007 h 4760"/>
                      <a:gd name="T70" fmla="*/ 727 w 2390"/>
                      <a:gd name="T71" fmla="*/ 1757 h 4760"/>
                      <a:gd name="T72" fmla="*/ 860 w 2390"/>
                      <a:gd name="T73" fmla="*/ 1513 h 4760"/>
                      <a:gd name="T74" fmla="*/ 1010 w 2390"/>
                      <a:gd name="T75" fmla="*/ 1272 h 4760"/>
                      <a:gd name="T76" fmla="*/ 1178 w 2390"/>
                      <a:gd name="T77" fmla="*/ 1040 h 4760"/>
                      <a:gd name="T78" fmla="*/ 1363 w 2390"/>
                      <a:gd name="T79" fmla="*/ 817 h 4760"/>
                      <a:gd name="T80" fmla="*/ 1463 w 2390"/>
                      <a:gd name="T81" fmla="*/ 709 h 4760"/>
                      <a:gd name="T82" fmla="*/ 1568 w 2390"/>
                      <a:gd name="T83" fmla="*/ 604 h 4760"/>
                      <a:gd name="T84" fmla="*/ 1678 w 2390"/>
                      <a:gd name="T85" fmla="*/ 503 h 4760"/>
                      <a:gd name="T86" fmla="*/ 1793 w 2390"/>
                      <a:gd name="T87" fmla="*/ 405 h 4760"/>
                      <a:gd name="T88" fmla="*/ 1914 w 2390"/>
                      <a:gd name="T89" fmla="*/ 311 h 4760"/>
                      <a:gd name="T90" fmla="*/ 2040 w 2390"/>
                      <a:gd name="T91" fmla="*/ 220 h 47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390" h="4760">
                        <a:moveTo>
                          <a:pt x="2390" y="3"/>
                        </a:moveTo>
                        <a:lnTo>
                          <a:pt x="1732" y="0"/>
                        </a:lnTo>
                        <a:lnTo>
                          <a:pt x="2039" y="148"/>
                        </a:lnTo>
                        <a:lnTo>
                          <a:pt x="2039" y="148"/>
                        </a:lnTo>
                        <a:lnTo>
                          <a:pt x="1994" y="177"/>
                        </a:lnTo>
                        <a:lnTo>
                          <a:pt x="1951" y="208"/>
                        </a:lnTo>
                        <a:lnTo>
                          <a:pt x="1909" y="238"/>
                        </a:lnTo>
                        <a:lnTo>
                          <a:pt x="1867" y="269"/>
                        </a:lnTo>
                        <a:lnTo>
                          <a:pt x="1826" y="302"/>
                        </a:lnTo>
                        <a:lnTo>
                          <a:pt x="1784" y="334"/>
                        </a:lnTo>
                        <a:lnTo>
                          <a:pt x="1744" y="366"/>
                        </a:lnTo>
                        <a:lnTo>
                          <a:pt x="1705" y="399"/>
                        </a:lnTo>
                        <a:lnTo>
                          <a:pt x="1666" y="432"/>
                        </a:lnTo>
                        <a:lnTo>
                          <a:pt x="1627" y="467"/>
                        </a:lnTo>
                        <a:lnTo>
                          <a:pt x="1590" y="501"/>
                        </a:lnTo>
                        <a:lnTo>
                          <a:pt x="1553" y="535"/>
                        </a:lnTo>
                        <a:lnTo>
                          <a:pt x="1516" y="570"/>
                        </a:lnTo>
                        <a:lnTo>
                          <a:pt x="1480" y="605"/>
                        </a:lnTo>
                        <a:lnTo>
                          <a:pt x="1444" y="641"/>
                        </a:lnTo>
                        <a:lnTo>
                          <a:pt x="1410" y="677"/>
                        </a:lnTo>
                        <a:lnTo>
                          <a:pt x="1375" y="713"/>
                        </a:lnTo>
                        <a:lnTo>
                          <a:pt x="1342" y="750"/>
                        </a:lnTo>
                        <a:lnTo>
                          <a:pt x="1309" y="787"/>
                        </a:lnTo>
                        <a:lnTo>
                          <a:pt x="1275" y="824"/>
                        </a:lnTo>
                        <a:lnTo>
                          <a:pt x="1212" y="899"/>
                        </a:lnTo>
                        <a:lnTo>
                          <a:pt x="1151" y="977"/>
                        </a:lnTo>
                        <a:lnTo>
                          <a:pt x="1091" y="1054"/>
                        </a:lnTo>
                        <a:lnTo>
                          <a:pt x="1033" y="1133"/>
                        </a:lnTo>
                        <a:lnTo>
                          <a:pt x="978" y="1212"/>
                        </a:lnTo>
                        <a:lnTo>
                          <a:pt x="924" y="1293"/>
                        </a:lnTo>
                        <a:lnTo>
                          <a:pt x="873" y="1373"/>
                        </a:lnTo>
                        <a:lnTo>
                          <a:pt x="824" y="1455"/>
                        </a:lnTo>
                        <a:lnTo>
                          <a:pt x="777" y="1538"/>
                        </a:lnTo>
                        <a:lnTo>
                          <a:pt x="730" y="1620"/>
                        </a:lnTo>
                        <a:lnTo>
                          <a:pt x="686" y="1704"/>
                        </a:lnTo>
                        <a:lnTo>
                          <a:pt x="644" y="1788"/>
                        </a:lnTo>
                        <a:lnTo>
                          <a:pt x="604" y="1873"/>
                        </a:lnTo>
                        <a:lnTo>
                          <a:pt x="565" y="1957"/>
                        </a:lnTo>
                        <a:lnTo>
                          <a:pt x="528" y="2042"/>
                        </a:lnTo>
                        <a:lnTo>
                          <a:pt x="493" y="2126"/>
                        </a:lnTo>
                        <a:lnTo>
                          <a:pt x="459" y="2212"/>
                        </a:lnTo>
                        <a:lnTo>
                          <a:pt x="427" y="2296"/>
                        </a:lnTo>
                        <a:lnTo>
                          <a:pt x="395" y="2382"/>
                        </a:lnTo>
                        <a:lnTo>
                          <a:pt x="366" y="2466"/>
                        </a:lnTo>
                        <a:lnTo>
                          <a:pt x="339" y="2551"/>
                        </a:lnTo>
                        <a:lnTo>
                          <a:pt x="312" y="2635"/>
                        </a:lnTo>
                        <a:lnTo>
                          <a:pt x="288" y="2719"/>
                        </a:lnTo>
                        <a:lnTo>
                          <a:pt x="264" y="2802"/>
                        </a:lnTo>
                        <a:lnTo>
                          <a:pt x="242" y="2886"/>
                        </a:lnTo>
                        <a:lnTo>
                          <a:pt x="220" y="2968"/>
                        </a:lnTo>
                        <a:lnTo>
                          <a:pt x="200" y="3050"/>
                        </a:lnTo>
                        <a:lnTo>
                          <a:pt x="182" y="3131"/>
                        </a:lnTo>
                        <a:lnTo>
                          <a:pt x="164" y="3211"/>
                        </a:lnTo>
                        <a:lnTo>
                          <a:pt x="148" y="3290"/>
                        </a:lnTo>
                        <a:lnTo>
                          <a:pt x="133" y="3370"/>
                        </a:lnTo>
                        <a:lnTo>
                          <a:pt x="119" y="3447"/>
                        </a:lnTo>
                        <a:lnTo>
                          <a:pt x="106" y="3524"/>
                        </a:lnTo>
                        <a:lnTo>
                          <a:pt x="94" y="3599"/>
                        </a:lnTo>
                        <a:lnTo>
                          <a:pt x="82" y="3673"/>
                        </a:lnTo>
                        <a:lnTo>
                          <a:pt x="72" y="3746"/>
                        </a:lnTo>
                        <a:lnTo>
                          <a:pt x="62" y="3817"/>
                        </a:lnTo>
                        <a:lnTo>
                          <a:pt x="53" y="3888"/>
                        </a:lnTo>
                        <a:lnTo>
                          <a:pt x="45" y="3956"/>
                        </a:lnTo>
                        <a:lnTo>
                          <a:pt x="38" y="4024"/>
                        </a:lnTo>
                        <a:lnTo>
                          <a:pt x="27" y="4152"/>
                        </a:lnTo>
                        <a:lnTo>
                          <a:pt x="17" y="4275"/>
                        </a:lnTo>
                        <a:lnTo>
                          <a:pt x="10" y="4389"/>
                        </a:lnTo>
                        <a:lnTo>
                          <a:pt x="5" y="4495"/>
                        </a:lnTo>
                        <a:lnTo>
                          <a:pt x="2" y="4593"/>
                        </a:lnTo>
                        <a:lnTo>
                          <a:pt x="1" y="4682"/>
                        </a:lnTo>
                        <a:lnTo>
                          <a:pt x="0" y="4760"/>
                        </a:lnTo>
                        <a:lnTo>
                          <a:pt x="60" y="4760"/>
                        </a:lnTo>
                        <a:lnTo>
                          <a:pt x="60" y="4760"/>
                        </a:lnTo>
                        <a:lnTo>
                          <a:pt x="61" y="4683"/>
                        </a:lnTo>
                        <a:lnTo>
                          <a:pt x="62" y="4596"/>
                        </a:lnTo>
                        <a:lnTo>
                          <a:pt x="66" y="4501"/>
                        </a:lnTo>
                        <a:lnTo>
                          <a:pt x="71" y="4396"/>
                        </a:lnTo>
                        <a:lnTo>
                          <a:pt x="78" y="4283"/>
                        </a:lnTo>
                        <a:lnTo>
                          <a:pt x="87" y="4164"/>
                        </a:lnTo>
                        <a:lnTo>
                          <a:pt x="98" y="4036"/>
                        </a:lnTo>
                        <a:lnTo>
                          <a:pt x="113" y="3903"/>
                        </a:lnTo>
                        <a:lnTo>
                          <a:pt x="121" y="3835"/>
                        </a:lnTo>
                        <a:lnTo>
                          <a:pt x="130" y="3764"/>
                        </a:lnTo>
                        <a:lnTo>
                          <a:pt x="140" y="3693"/>
                        </a:lnTo>
                        <a:lnTo>
                          <a:pt x="151" y="3619"/>
                        </a:lnTo>
                        <a:lnTo>
                          <a:pt x="163" y="3546"/>
                        </a:lnTo>
                        <a:lnTo>
                          <a:pt x="176" y="3470"/>
                        </a:lnTo>
                        <a:lnTo>
                          <a:pt x="189" y="3394"/>
                        </a:lnTo>
                        <a:lnTo>
                          <a:pt x="204" y="3318"/>
                        </a:lnTo>
                        <a:lnTo>
                          <a:pt x="220" y="3239"/>
                        </a:lnTo>
                        <a:lnTo>
                          <a:pt x="237" y="3161"/>
                        </a:lnTo>
                        <a:lnTo>
                          <a:pt x="256" y="3080"/>
                        </a:lnTo>
                        <a:lnTo>
                          <a:pt x="275" y="3001"/>
                        </a:lnTo>
                        <a:lnTo>
                          <a:pt x="295" y="2919"/>
                        </a:lnTo>
                        <a:lnTo>
                          <a:pt x="317" y="2838"/>
                        </a:lnTo>
                        <a:lnTo>
                          <a:pt x="340" y="2755"/>
                        </a:lnTo>
                        <a:lnTo>
                          <a:pt x="364" y="2673"/>
                        </a:lnTo>
                        <a:lnTo>
                          <a:pt x="389" y="2590"/>
                        </a:lnTo>
                        <a:lnTo>
                          <a:pt x="417" y="2507"/>
                        </a:lnTo>
                        <a:lnTo>
                          <a:pt x="445" y="2424"/>
                        </a:lnTo>
                        <a:lnTo>
                          <a:pt x="475" y="2341"/>
                        </a:lnTo>
                        <a:lnTo>
                          <a:pt x="506" y="2257"/>
                        </a:lnTo>
                        <a:lnTo>
                          <a:pt x="539" y="2174"/>
                        </a:lnTo>
                        <a:lnTo>
                          <a:pt x="573" y="2089"/>
                        </a:lnTo>
                        <a:lnTo>
                          <a:pt x="610" y="2007"/>
                        </a:lnTo>
                        <a:lnTo>
                          <a:pt x="647" y="1923"/>
                        </a:lnTo>
                        <a:lnTo>
                          <a:pt x="686" y="1840"/>
                        </a:lnTo>
                        <a:lnTo>
                          <a:pt x="727" y="1757"/>
                        </a:lnTo>
                        <a:lnTo>
                          <a:pt x="770" y="1676"/>
                        </a:lnTo>
                        <a:lnTo>
                          <a:pt x="814" y="1593"/>
                        </a:lnTo>
                        <a:lnTo>
                          <a:pt x="860" y="1513"/>
                        </a:lnTo>
                        <a:lnTo>
                          <a:pt x="908" y="1431"/>
                        </a:lnTo>
                        <a:lnTo>
                          <a:pt x="959" y="1352"/>
                        </a:lnTo>
                        <a:lnTo>
                          <a:pt x="1010" y="1272"/>
                        </a:lnTo>
                        <a:lnTo>
                          <a:pt x="1064" y="1194"/>
                        </a:lnTo>
                        <a:lnTo>
                          <a:pt x="1120" y="1116"/>
                        </a:lnTo>
                        <a:lnTo>
                          <a:pt x="1178" y="1040"/>
                        </a:lnTo>
                        <a:lnTo>
                          <a:pt x="1237" y="965"/>
                        </a:lnTo>
                        <a:lnTo>
                          <a:pt x="1300" y="890"/>
                        </a:lnTo>
                        <a:lnTo>
                          <a:pt x="1363" y="817"/>
                        </a:lnTo>
                        <a:lnTo>
                          <a:pt x="1396" y="780"/>
                        </a:lnTo>
                        <a:lnTo>
                          <a:pt x="1429" y="745"/>
                        </a:lnTo>
                        <a:lnTo>
                          <a:pt x="1463" y="709"/>
                        </a:lnTo>
                        <a:lnTo>
                          <a:pt x="1498" y="674"/>
                        </a:lnTo>
                        <a:lnTo>
                          <a:pt x="1533" y="639"/>
                        </a:lnTo>
                        <a:lnTo>
                          <a:pt x="1568" y="604"/>
                        </a:lnTo>
                        <a:lnTo>
                          <a:pt x="1604" y="570"/>
                        </a:lnTo>
                        <a:lnTo>
                          <a:pt x="1640" y="537"/>
                        </a:lnTo>
                        <a:lnTo>
                          <a:pt x="1678" y="503"/>
                        </a:lnTo>
                        <a:lnTo>
                          <a:pt x="1716" y="470"/>
                        </a:lnTo>
                        <a:lnTo>
                          <a:pt x="1754" y="437"/>
                        </a:lnTo>
                        <a:lnTo>
                          <a:pt x="1793" y="405"/>
                        </a:lnTo>
                        <a:lnTo>
                          <a:pt x="1833" y="373"/>
                        </a:lnTo>
                        <a:lnTo>
                          <a:pt x="1873" y="342"/>
                        </a:lnTo>
                        <a:lnTo>
                          <a:pt x="1914" y="311"/>
                        </a:lnTo>
                        <a:lnTo>
                          <a:pt x="1955" y="281"/>
                        </a:lnTo>
                        <a:lnTo>
                          <a:pt x="1997" y="250"/>
                        </a:lnTo>
                        <a:lnTo>
                          <a:pt x="2040" y="220"/>
                        </a:lnTo>
                        <a:lnTo>
                          <a:pt x="1964" y="504"/>
                        </a:lnTo>
                        <a:lnTo>
                          <a:pt x="2390" y="3"/>
                        </a:ln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Calibri"/>
                    </a:endParaRPr>
                  </a:p>
                </p:txBody>
              </p:sp>
              <p:sp>
                <p:nvSpPr>
                  <p:cNvPr id="30" name="Freeform 11">
                    <a:extLst>
                      <a:ext uri="{FF2B5EF4-FFF2-40B4-BE49-F238E27FC236}">
                        <a16:creationId xmlns:a16="http://schemas.microsoft.com/office/drawing/2014/main" id="{7EB06CBB-06EE-C1EE-45F3-5D2BD508ED34}"/>
                      </a:ext>
                    </a:extLst>
                  </p:cNvPr>
                  <p:cNvSpPr>
                    <a:spLocks/>
                  </p:cNvSpPr>
                  <p:nvPr/>
                </p:nvSpPr>
                <p:spPr bwMode="auto">
                  <a:xfrm>
                    <a:off x="1509702" y="4050562"/>
                    <a:ext cx="2244951" cy="1592735"/>
                  </a:xfrm>
                  <a:custGeom>
                    <a:avLst/>
                    <a:gdLst>
                      <a:gd name="T0" fmla="*/ 14520 w 14832"/>
                      <a:gd name="T1" fmla="*/ 465 h 6014"/>
                      <a:gd name="T2" fmla="*/ 14517 w 14832"/>
                      <a:gd name="T3" fmla="*/ 908 h 6014"/>
                      <a:gd name="T4" fmla="*/ 14464 w 14832"/>
                      <a:gd name="T5" fmla="*/ 1346 h 6014"/>
                      <a:gd name="T6" fmla="*/ 14364 w 14832"/>
                      <a:gd name="T7" fmla="*/ 1778 h 6014"/>
                      <a:gd name="T8" fmla="*/ 14222 w 14832"/>
                      <a:gd name="T9" fmla="*/ 2199 h 6014"/>
                      <a:gd name="T10" fmla="*/ 14041 w 14832"/>
                      <a:gd name="T11" fmla="*/ 2609 h 6014"/>
                      <a:gd name="T12" fmla="*/ 13828 w 14832"/>
                      <a:gd name="T13" fmla="*/ 3001 h 6014"/>
                      <a:gd name="T14" fmla="*/ 13584 w 14832"/>
                      <a:gd name="T15" fmla="*/ 3375 h 6014"/>
                      <a:gd name="T16" fmla="*/ 13315 w 14832"/>
                      <a:gd name="T17" fmla="*/ 3728 h 6014"/>
                      <a:gd name="T18" fmla="*/ 13026 w 14832"/>
                      <a:gd name="T19" fmla="*/ 4055 h 6014"/>
                      <a:gd name="T20" fmla="*/ 12720 w 14832"/>
                      <a:gd name="T21" fmla="*/ 4354 h 6014"/>
                      <a:gd name="T22" fmla="*/ 12429 w 14832"/>
                      <a:gd name="T23" fmla="*/ 4602 h 6014"/>
                      <a:gd name="T24" fmla="*/ 12019 w 14832"/>
                      <a:gd name="T25" fmla="*/ 4898 h 6014"/>
                      <a:gd name="T26" fmla="*/ 11592 w 14832"/>
                      <a:gd name="T27" fmla="*/ 5154 h 6014"/>
                      <a:gd name="T28" fmla="*/ 11151 w 14832"/>
                      <a:gd name="T29" fmla="*/ 5369 h 6014"/>
                      <a:gd name="T30" fmla="*/ 10696 w 14832"/>
                      <a:gd name="T31" fmla="*/ 5547 h 6014"/>
                      <a:gd name="T32" fmla="*/ 10227 w 14832"/>
                      <a:gd name="T33" fmla="*/ 5690 h 6014"/>
                      <a:gd name="T34" fmla="*/ 9747 w 14832"/>
                      <a:gd name="T35" fmla="*/ 5800 h 6014"/>
                      <a:gd name="T36" fmla="*/ 9257 w 14832"/>
                      <a:gd name="T37" fmla="*/ 5878 h 6014"/>
                      <a:gd name="T38" fmla="*/ 8756 w 14832"/>
                      <a:gd name="T39" fmla="*/ 5928 h 6014"/>
                      <a:gd name="T40" fmla="*/ 8248 w 14832"/>
                      <a:gd name="T41" fmla="*/ 5951 h 6014"/>
                      <a:gd name="T42" fmla="*/ 7732 w 14832"/>
                      <a:gd name="T43" fmla="*/ 5950 h 6014"/>
                      <a:gd name="T44" fmla="*/ 6860 w 14832"/>
                      <a:gd name="T45" fmla="*/ 5898 h 6014"/>
                      <a:gd name="T46" fmla="*/ 5798 w 14832"/>
                      <a:gd name="T47" fmla="*/ 5771 h 6014"/>
                      <a:gd name="T48" fmla="*/ 4729 w 14832"/>
                      <a:gd name="T49" fmla="*/ 5584 h 6014"/>
                      <a:gd name="T50" fmla="*/ 3662 w 14832"/>
                      <a:gd name="T51" fmla="*/ 5358 h 6014"/>
                      <a:gd name="T52" fmla="*/ 1911 w 14832"/>
                      <a:gd name="T53" fmla="*/ 4941 h 6014"/>
                      <a:gd name="T54" fmla="*/ 464 w 14832"/>
                      <a:gd name="T55" fmla="*/ 4594 h 6014"/>
                      <a:gd name="T56" fmla="*/ 461 w 14832"/>
                      <a:gd name="T57" fmla="*/ 4654 h 6014"/>
                      <a:gd name="T58" fmla="*/ 1896 w 14832"/>
                      <a:gd name="T59" fmla="*/ 4999 h 6014"/>
                      <a:gd name="T60" fmla="*/ 3608 w 14832"/>
                      <a:gd name="T61" fmla="*/ 5408 h 6014"/>
                      <a:gd name="T62" fmla="*/ 4767 w 14832"/>
                      <a:gd name="T63" fmla="*/ 5653 h 6014"/>
                      <a:gd name="T64" fmla="*/ 5929 w 14832"/>
                      <a:gd name="T65" fmla="*/ 5850 h 6014"/>
                      <a:gd name="T66" fmla="*/ 6985 w 14832"/>
                      <a:gd name="T67" fmla="*/ 5970 h 6014"/>
                      <a:gd name="T68" fmla="*/ 7554 w 14832"/>
                      <a:gd name="T69" fmla="*/ 6004 h 6014"/>
                      <a:gd name="T70" fmla="*/ 8024 w 14832"/>
                      <a:gd name="T71" fmla="*/ 6014 h 6014"/>
                      <a:gd name="T72" fmla="*/ 8730 w 14832"/>
                      <a:gd name="T73" fmla="*/ 5990 h 6014"/>
                      <a:gd name="T74" fmla="*/ 9193 w 14832"/>
                      <a:gd name="T75" fmla="*/ 5947 h 6014"/>
                      <a:gd name="T76" fmla="*/ 9647 w 14832"/>
                      <a:gd name="T77" fmla="*/ 5879 h 6014"/>
                      <a:gd name="T78" fmla="*/ 10094 w 14832"/>
                      <a:gd name="T79" fmla="*/ 5787 h 6014"/>
                      <a:gd name="T80" fmla="*/ 10530 w 14832"/>
                      <a:gd name="T81" fmla="*/ 5666 h 6014"/>
                      <a:gd name="T82" fmla="*/ 10957 w 14832"/>
                      <a:gd name="T83" fmla="*/ 5515 h 6014"/>
                      <a:gd name="T84" fmla="*/ 11371 w 14832"/>
                      <a:gd name="T85" fmla="*/ 5335 h 6014"/>
                      <a:gd name="T86" fmla="*/ 11774 w 14832"/>
                      <a:gd name="T87" fmla="*/ 5121 h 6014"/>
                      <a:gd name="T88" fmla="*/ 12163 w 14832"/>
                      <a:gd name="T89" fmla="*/ 4873 h 6014"/>
                      <a:gd name="T90" fmla="*/ 12540 w 14832"/>
                      <a:gd name="T91" fmla="*/ 4590 h 6014"/>
                      <a:gd name="T92" fmla="*/ 12847 w 14832"/>
                      <a:gd name="T93" fmla="*/ 4319 h 6014"/>
                      <a:gd name="T94" fmla="*/ 13189 w 14832"/>
                      <a:gd name="T95" fmla="*/ 3973 h 6014"/>
                      <a:gd name="T96" fmla="*/ 13496 w 14832"/>
                      <a:gd name="T97" fmla="*/ 3609 h 6014"/>
                      <a:gd name="T98" fmla="*/ 13766 w 14832"/>
                      <a:gd name="T99" fmla="*/ 3229 h 6014"/>
                      <a:gd name="T100" fmla="*/ 13999 w 14832"/>
                      <a:gd name="T101" fmla="*/ 2837 h 6014"/>
                      <a:gd name="T102" fmla="*/ 14193 w 14832"/>
                      <a:gd name="T103" fmla="*/ 2436 h 6014"/>
                      <a:gd name="T104" fmla="*/ 14350 w 14832"/>
                      <a:gd name="T105" fmla="*/ 2027 h 6014"/>
                      <a:gd name="T106" fmla="*/ 14466 w 14832"/>
                      <a:gd name="T107" fmla="*/ 1615 h 6014"/>
                      <a:gd name="T108" fmla="*/ 14542 w 14832"/>
                      <a:gd name="T109" fmla="*/ 1203 h 6014"/>
                      <a:gd name="T110" fmla="*/ 14576 w 14832"/>
                      <a:gd name="T111" fmla="*/ 792 h 6014"/>
                      <a:gd name="T112" fmla="*/ 14568 w 14832"/>
                      <a:gd name="T113" fmla="*/ 386 h 60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4832" h="6014">
                        <a:moveTo>
                          <a:pt x="14832" y="581"/>
                        </a:moveTo>
                        <a:lnTo>
                          <a:pt x="14522" y="0"/>
                        </a:lnTo>
                        <a:lnTo>
                          <a:pt x="14277" y="611"/>
                        </a:lnTo>
                        <a:lnTo>
                          <a:pt x="14515" y="392"/>
                        </a:lnTo>
                        <a:lnTo>
                          <a:pt x="14515" y="392"/>
                        </a:lnTo>
                        <a:lnTo>
                          <a:pt x="14520" y="465"/>
                        </a:lnTo>
                        <a:lnTo>
                          <a:pt x="14523" y="540"/>
                        </a:lnTo>
                        <a:lnTo>
                          <a:pt x="14525" y="613"/>
                        </a:lnTo>
                        <a:lnTo>
                          <a:pt x="14525" y="687"/>
                        </a:lnTo>
                        <a:lnTo>
                          <a:pt x="14524" y="761"/>
                        </a:lnTo>
                        <a:lnTo>
                          <a:pt x="14521" y="834"/>
                        </a:lnTo>
                        <a:lnTo>
                          <a:pt x="14517" y="908"/>
                        </a:lnTo>
                        <a:lnTo>
                          <a:pt x="14512" y="981"/>
                        </a:lnTo>
                        <a:lnTo>
                          <a:pt x="14505" y="1055"/>
                        </a:lnTo>
                        <a:lnTo>
                          <a:pt x="14497" y="1127"/>
                        </a:lnTo>
                        <a:lnTo>
                          <a:pt x="14487" y="1201"/>
                        </a:lnTo>
                        <a:lnTo>
                          <a:pt x="14477" y="1273"/>
                        </a:lnTo>
                        <a:lnTo>
                          <a:pt x="14464" y="1346"/>
                        </a:lnTo>
                        <a:lnTo>
                          <a:pt x="14450" y="1419"/>
                        </a:lnTo>
                        <a:lnTo>
                          <a:pt x="14435" y="1491"/>
                        </a:lnTo>
                        <a:lnTo>
                          <a:pt x="14419" y="1563"/>
                        </a:lnTo>
                        <a:lnTo>
                          <a:pt x="14402" y="1635"/>
                        </a:lnTo>
                        <a:lnTo>
                          <a:pt x="14384" y="1707"/>
                        </a:lnTo>
                        <a:lnTo>
                          <a:pt x="14364" y="1778"/>
                        </a:lnTo>
                        <a:lnTo>
                          <a:pt x="14343" y="1848"/>
                        </a:lnTo>
                        <a:lnTo>
                          <a:pt x="14321" y="1920"/>
                        </a:lnTo>
                        <a:lnTo>
                          <a:pt x="14298" y="1990"/>
                        </a:lnTo>
                        <a:lnTo>
                          <a:pt x="14273" y="2061"/>
                        </a:lnTo>
                        <a:lnTo>
                          <a:pt x="14248" y="2130"/>
                        </a:lnTo>
                        <a:lnTo>
                          <a:pt x="14222" y="2199"/>
                        </a:lnTo>
                        <a:lnTo>
                          <a:pt x="14194" y="2269"/>
                        </a:lnTo>
                        <a:lnTo>
                          <a:pt x="14166" y="2337"/>
                        </a:lnTo>
                        <a:lnTo>
                          <a:pt x="14136" y="2406"/>
                        </a:lnTo>
                        <a:lnTo>
                          <a:pt x="14105" y="2474"/>
                        </a:lnTo>
                        <a:lnTo>
                          <a:pt x="14074" y="2541"/>
                        </a:lnTo>
                        <a:lnTo>
                          <a:pt x="14041" y="2609"/>
                        </a:lnTo>
                        <a:lnTo>
                          <a:pt x="14008" y="2675"/>
                        </a:lnTo>
                        <a:lnTo>
                          <a:pt x="13974" y="2742"/>
                        </a:lnTo>
                        <a:lnTo>
                          <a:pt x="13939" y="2807"/>
                        </a:lnTo>
                        <a:lnTo>
                          <a:pt x="13902" y="2872"/>
                        </a:lnTo>
                        <a:lnTo>
                          <a:pt x="13865" y="2937"/>
                        </a:lnTo>
                        <a:lnTo>
                          <a:pt x="13828" y="3001"/>
                        </a:lnTo>
                        <a:lnTo>
                          <a:pt x="13789" y="3066"/>
                        </a:lnTo>
                        <a:lnTo>
                          <a:pt x="13749" y="3129"/>
                        </a:lnTo>
                        <a:lnTo>
                          <a:pt x="13709" y="3191"/>
                        </a:lnTo>
                        <a:lnTo>
                          <a:pt x="13668" y="3254"/>
                        </a:lnTo>
                        <a:lnTo>
                          <a:pt x="13627" y="3315"/>
                        </a:lnTo>
                        <a:lnTo>
                          <a:pt x="13584" y="3375"/>
                        </a:lnTo>
                        <a:lnTo>
                          <a:pt x="13541" y="3436"/>
                        </a:lnTo>
                        <a:lnTo>
                          <a:pt x="13497" y="3496"/>
                        </a:lnTo>
                        <a:lnTo>
                          <a:pt x="13453" y="3554"/>
                        </a:lnTo>
                        <a:lnTo>
                          <a:pt x="13408" y="3613"/>
                        </a:lnTo>
                        <a:lnTo>
                          <a:pt x="13361" y="3671"/>
                        </a:lnTo>
                        <a:lnTo>
                          <a:pt x="13315" y="3728"/>
                        </a:lnTo>
                        <a:lnTo>
                          <a:pt x="13269" y="3785"/>
                        </a:lnTo>
                        <a:lnTo>
                          <a:pt x="13221" y="3840"/>
                        </a:lnTo>
                        <a:lnTo>
                          <a:pt x="13173" y="3894"/>
                        </a:lnTo>
                        <a:lnTo>
                          <a:pt x="13125" y="3949"/>
                        </a:lnTo>
                        <a:lnTo>
                          <a:pt x="13076" y="4002"/>
                        </a:lnTo>
                        <a:lnTo>
                          <a:pt x="13026" y="4055"/>
                        </a:lnTo>
                        <a:lnTo>
                          <a:pt x="12976" y="4107"/>
                        </a:lnTo>
                        <a:lnTo>
                          <a:pt x="12926" y="4158"/>
                        </a:lnTo>
                        <a:lnTo>
                          <a:pt x="12874" y="4208"/>
                        </a:lnTo>
                        <a:lnTo>
                          <a:pt x="12823" y="4258"/>
                        </a:lnTo>
                        <a:lnTo>
                          <a:pt x="12772" y="4307"/>
                        </a:lnTo>
                        <a:lnTo>
                          <a:pt x="12720" y="4354"/>
                        </a:lnTo>
                        <a:lnTo>
                          <a:pt x="12667" y="4401"/>
                        </a:lnTo>
                        <a:lnTo>
                          <a:pt x="12615" y="4448"/>
                        </a:lnTo>
                        <a:lnTo>
                          <a:pt x="12562" y="4493"/>
                        </a:lnTo>
                        <a:lnTo>
                          <a:pt x="12562" y="4493"/>
                        </a:lnTo>
                        <a:lnTo>
                          <a:pt x="12495" y="4547"/>
                        </a:lnTo>
                        <a:lnTo>
                          <a:pt x="12429" y="4602"/>
                        </a:lnTo>
                        <a:lnTo>
                          <a:pt x="12362" y="4654"/>
                        </a:lnTo>
                        <a:lnTo>
                          <a:pt x="12294" y="4705"/>
                        </a:lnTo>
                        <a:lnTo>
                          <a:pt x="12226" y="4756"/>
                        </a:lnTo>
                        <a:lnTo>
                          <a:pt x="12157" y="4804"/>
                        </a:lnTo>
                        <a:lnTo>
                          <a:pt x="12088" y="4852"/>
                        </a:lnTo>
                        <a:lnTo>
                          <a:pt x="12019" y="4898"/>
                        </a:lnTo>
                        <a:lnTo>
                          <a:pt x="11949" y="4944"/>
                        </a:lnTo>
                        <a:lnTo>
                          <a:pt x="11879" y="4988"/>
                        </a:lnTo>
                        <a:lnTo>
                          <a:pt x="11807" y="5031"/>
                        </a:lnTo>
                        <a:lnTo>
                          <a:pt x="11736" y="5073"/>
                        </a:lnTo>
                        <a:lnTo>
                          <a:pt x="11665" y="5114"/>
                        </a:lnTo>
                        <a:lnTo>
                          <a:pt x="11592" y="5154"/>
                        </a:lnTo>
                        <a:lnTo>
                          <a:pt x="11520" y="5192"/>
                        </a:lnTo>
                        <a:lnTo>
                          <a:pt x="11447" y="5229"/>
                        </a:lnTo>
                        <a:lnTo>
                          <a:pt x="11374" y="5267"/>
                        </a:lnTo>
                        <a:lnTo>
                          <a:pt x="11300" y="5302"/>
                        </a:lnTo>
                        <a:lnTo>
                          <a:pt x="11226" y="5336"/>
                        </a:lnTo>
                        <a:lnTo>
                          <a:pt x="11151" y="5369"/>
                        </a:lnTo>
                        <a:lnTo>
                          <a:pt x="11076" y="5401"/>
                        </a:lnTo>
                        <a:lnTo>
                          <a:pt x="11001" y="5433"/>
                        </a:lnTo>
                        <a:lnTo>
                          <a:pt x="10925" y="5463"/>
                        </a:lnTo>
                        <a:lnTo>
                          <a:pt x="10849" y="5492"/>
                        </a:lnTo>
                        <a:lnTo>
                          <a:pt x="10773" y="5520"/>
                        </a:lnTo>
                        <a:lnTo>
                          <a:pt x="10696" y="5547"/>
                        </a:lnTo>
                        <a:lnTo>
                          <a:pt x="10619" y="5573"/>
                        </a:lnTo>
                        <a:lnTo>
                          <a:pt x="10541" y="5599"/>
                        </a:lnTo>
                        <a:lnTo>
                          <a:pt x="10463" y="5623"/>
                        </a:lnTo>
                        <a:lnTo>
                          <a:pt x="10384" y="5646"/>
                        </a:lnTo>
                        <a:lnTo>
                          <a:pt x="10306" y="5668"/>
                        </a:lnTo>
                        <a:lnTo>
                          <a:pt x="10227" y="5690"/>
                        </a:lnTo>
                        <a:lnTo>
                          <a:pt x="10148" y="5710"/>
                        </a:lnTo>
                        <a:lnTo>
                          <a:pt x="10068" y="5730"/>
                        </a:lnTo>
                        <a:lnTo>
                          <a:pt x="9989" y="5748"/>
                        </a:lnTo>
                        <a:lnTo>
                          <a:pt x="9909" y="5767"/>
                        </a:lnTo>
                        <a:lnTo>
                          <a:pt x="9828" y="5784"/>
                        </a:lnTo>
                        <a:lnTo>
                          <a:pt x="9747" y="5800"/>
                        </a:lnTo>
                        <a:lnTo>
                          <a:pt x="9666" y="5815"/>
                        </a:lnTo>
                        <a:lnTo>
                          <a:pt x="9585" y="5829"/>
                        </a:lnTo>
                        <a:lnTo>
                          <a:pt x="9503" y="5842"/>
                        </a:lnTo>
                        <a:lnTo>
                          <a:pt x="9421" y="5855"/>
                        </a:lnTo>
                        <a:lnTo>
                          <a:pt x="9339" y="5867"/>
                        </a:lnTo>
                        <a:lnTo>
                          <a:pt x="9257" y="5878"/>
                        </a:lnTo>
                        <a:lnTo>
                          <a:pt x="9173" y="5888"/>
                        </a:lnTo>
                        <a:lnTo>
                          <a:pt x="9091" y="5897"/>
                        </a:lnTo>
                        <a:lnTo>
                          <a:pt x="9007" y="5906"/>
                        </a:lnTo>
                        <a:lnTo>
                          <a:pt x="8924" y="5914"/>
                        </a:lnTo>
                        <a:lnTo>
                          <a:pt x="8841" y="5921"/>
                        </a:lnTo>
                        <a:lnTo>
                          <a:pt x="8756" y="5928"/>
                        </a:lnTo>
                        <a:lnTo>
                          <a:pt x="8673" y="5934"/>
                        </a:lnTo>
                        <a:lnTo>
                          <a:pt x="8588" y="5939"/>
                        </a:lnTo>
                        <a:lnTo>
                          <a:pt x="8503" y="5943"/>
                        </a:lnTo>
                        <a:lnTo>
                          <a:pt x="8418" y="5946"/>
                        </a:lnTo>
                        <a:lnTo>
                          <a:pt x="8333" y="5949"/>
                        </a:lnTo>
                        <a:lnTo>
                          <a:pt x="8248" y="5951"/>
                        </a:lnTo>
                        <a:lnTo>
                          <a:pt x="8163" y="5953"/>
                        </a:lnTo>
                        <a:lnTo>
                          <a:pt x="8076" y="5953"/>
                        </a:lnTo>
                        <a:lnTo>
                          <a:pt x="7991" y="5953"/>
                        </a:lnTo>
                        <a:lnTo>
                          <a:pt x="7905" y="5953"/>
                        </a:lnTo>
                        <a:lnTo>
                          <a:pt x="7819" y="5952"/>
                        </a:lnTo>
                        <a:lnTo>
                          <a:pt x="7732" y="5950"/>
                        </a:lnTo>
                        <a:lnTo>
                          <a:pt x="7646" y="5947"/>
                        </a:lnTo>
                        <a:lnTo>
                          <a:pt x="7559" y="5944"/>
                        </a:lnTo>
                        <a:lnTo>
                          <a:pt x="7385" y="5936"/>
                        </a:lnTo>
                        <a:lnTo>
                          <a:pt x="7210" y="5926"/>
                        </a:lnTo>
                        <a:lnTo>
                          <a:pt x="7035" y="5913"/>
                        </a:lnTo>
                        <a:lnTo>
                          <a:pt x="6860" y="5898"/>
                        </a:lnTo>
                        <a:lnTo>
                          <a:pt x="6684" y="5882"/>
                        </a:lnTo>
                        <a:lnTo>
                          <a:pt x="6507" y="5863"/>
                        </a:lnTo>
                        <a:lnTo>
                          <a:pt x="6330" y="5843"/>
                        </a:lnTo>
                        <a:lnTo>
                          <a:pt x="6153" y="5820"/>
                        </a:lnTo>
                        <a:lnTo>
                          <a:pt x="5976" y="5796"/>
                        </a:lnTo>
                        <a:lnTo>
                          <a:pt x="5798" y="5771"/>
                        </a:lnTo>
                        <a:lnTo>
                          <a:pt x="5620" y="5742"/>
                        </a:lnTo>
                        <a:lnTo>
                          <a:pt x="5442" y="5713"/>
                        </a:lnTo>
                        <a:lnTo>
                          <a:pt x="5264" y="5683"/>
                        </a:lnTo>
                        <a:lnTo>
                          <a:pt x="5086" y="5652"/>
                        </a:lnTo>
                        <a:lnTo>
                          <a:pt x="4907" y="5619"/>
                        </a:lnTo>
                        <a:lnTo>
                          <a:pt x="4729" y="5584"/>
                        </a:lnTo>
                        <a:lnTo>
                          <a:pt x="4551" y="5549"/>
                        </a:lnTo>
                        <a:lnTo>
                          <a:pt x="4373" y="5513"/>
                        </a:lnTo>
                        <a:lnTo>
                          <a:pt x="4195" y="5476"/>
                        </a:lnTo>
                        <a:lnTo>
                          <a:pt x="4017" y="5438"/>
                        </a:lnTo>
                        <a:lnTo>
                          <a:pt x="3839" y="5398"/>
                        </a:lnTo>
                        <a:lnTo>
                          <a:pt x="3662" y="5358"/>
                        </a:lnTo>
                        <a:lnTo>
                          <a:pt x="3484" y="5318"/>
                        </a:lnTo>
                        <a:lnTo>
                          <a:pt x="3308" y="5278"/>
                        </a:lnTo>
                        <a:lnTo>
                          <a:pt x="2955" y="5194"/>
                        </a:lnTo>
                        <a:lnTo>
                          <a:pt x="2605" y="5110"/>
                        </a:lnTo>
                        <a:lnTo>
                          <a:pt x="2256" y="5025"/>
                        </a:lnTo>
                        <a:lnTo>
                          <a:pt x="1911" y="4941"/>
                        </a:lnTo>
                        <a:lnTo>
                          <a:pt x="1911" y="4941"/>
                        </a:lnTo>
                        <a:lnTo>
                          <a:pt x="1419" y="4820"/>
                        </a:lnTo>
                        <a:lnTo>
                          <a:pt x="1178" y="4762"/>
                        </a:lnTo>
                        <a:lnTo>
                          <a:pt x="937" y="4704"/>
                        </a:lnTo>
                        <a:lnTo>
                          <a:pt x="700" y="4648"/>
                        </a:lnTo>
                        <a:lnTo>
                          <a:pt x="464" y="4594"/>
                        </a:lnTo>
                        <a:lnTo>
                          <a:pt x="231" y="4540"/>
                        </a:lnTo>
                        <a:lnTo>
                          <a:pt x="0" y="4490"/>
                        </a:lnTo>
                        <a:lnTo>
                          <a:pt x="0" y="4551"/>
                        </a:lnTo>
                        <a:lnTo>
                          <a:pt x="0" y="4551"/>
                        </a:lnTo>
                        <a:lnTo>
                          <a:pt x="229" y="4602"/>
                        </a:lnTo>
                        <a:lnTo>
                          <a:pt x="461" y="4654"/>
                        </a:lnTo>
                        <a:lnTo>
                          <a:pt x="694" y="4708"/>
                        </a:lnTo>
                        <a:lnTo>
                          <a:pt x="930" y="4765"/>
                        </a:lnTo>
                        <a:lnTo>
                          <a:pt x="1169" y="4822"/>
                        </a:lnTo>
                        <a:lnTo>
                          <a:pt x="1409" y="4879"/>
                        </a:lnTo>
                        <a:lnTo>
                          <a:pt x="1896" y="4999"/>
                        </a:lnTo>
                        <a:lnTo>
                          <a:pt x="1896" y="4999"/>
                        </a:lnTo>
                        <a:lnTo>
                          <a:pt x="2272" y="5091"/>
                        </a:lnTo>
                        <a:lnTo>
                          <a:pt x="2651" y="5183"/>
                        </a:lnTo>
                        <a:lnTo>
                          <a:pt x="3032" y="5275"/>
                        </a:lnTo>
                        <a:lnTo>
                          <a:pt x="3224" y="5320"/>
                        </a:lnTo>
                        <a:lnTo>
                          <a:pt x="3416" y="5364"/>
                        </a:lnTo>
                        <a:lnTo>
                          <a:pt x="3608" y="5408"/>
                        </a:lnTo>
                        <a:lnTo>
                          <a:pt x="3801" y="5452"/>
                        </a:lnTo>
                        <a:lnTo>
                          <a:pt x="3993" y="5494"/>
                        </a:lnTo>
                        <a:lnTo>
                          <a:pt x="4187" y="5535"/>
                        </a:lnTo>
                        <a:lnTo>
                          <a:pt x="4380" y="5575"/>
                        </a:lnTo>
                        <a:lnTo>
                          <a:pt x="4573" y="5615"/>
                        </a:lnTo>
                        <a:lnTo>
                          <a:pt x="4767" y="5653"/>
                        </a:lnTo>
                        <a:lnTo>
                          <a:pt x="4961" y="5690"/>
                        </a:lnTo>
                        <a:lnTo>
                          <a:pt x="5155" y="5725"/>
                        </a:lnTo>
                        <a:lnTo>
                          <a:pt x="5349" y="5760"/>
                        </a:lnTo>
                        <a:lnTo>
                          <a:pt x="5542" y="5792"/>
                        </a:lnTo>
                        <a:lnTo>
                          <a:pt x="5736" y="5822"/>
                        </a:lnTo>
                        <a:lnTo>
                          <a:pt x="5929" y="5850"/>
                        </a:lnTo>
                        <a:lnTo>
                          <a:pt x="6122" y="5877"/>
                        </a:lnTo>
                        <a:lnTo>
                          <a:pt x="6314" y="5901"/>
                        </a:lnTo>
                        <a:lnTo>
                          <a:pt x="6506" y="5925"/>
                        </a:lnTo>
                        <a:lnTo>
                          <a:pt x="6698" y="5945"/>
                        </a:lnTo>
                        <a:lnTo>
                          <a:pt x="6889" y="5962"/>
                        </a:lnTo>
                        <a:lnTo>
                          <a:pt x="6985" y="5970"/>
                        </a:lnTo>
                        <a:lnTo>
                          <a:pt x="7080" y="5978"/>
                        </a:lnTo>
                        <a:lnTo>
                          <a:pt x="7175" y="5984"/>
                        </a:lnTo>
                        <a:lnTo>
                          <a:pt x="7271" y="5990"/>
                        </a:lnTo>
                        <a:lnTo>
                          <a:pt x="7365" y="5996"/>
                        </a:lnTo>
                        <a:lnTo>
                          <a:pt x="7460" y="6000"/>
                        </a:lnTo>
                        <a:lnTo>
                          <a:pt x="7554" y="6004"/>
                        </a:lnTo>
                        <a:lnTo>
                          <a:pt x="7649" y="6008"/>
                        </a:lnTo>
                        <a:lnTo>
                          <a:pt x="7742" y="6010"/>
                        </a:lnTo>
                        <a:lnTo>
                          <a:pt x="7837" y="6012"/>
                        </a:lnTo>
                        <a:lnTo>
                          <a:pt x="7930" y="6013"/>
                        </a:lnTo>
                        <a:lnTo>
                          <a:pt x="8024" y="6014"/>
                        </a:lnTo>
                        <a:lnTo>
                          <a:pt x="8024" y="6014"/>
                        </a:lnTo>
                        <a:lnTo>
                          <a:pt x="8182" y="6013"/>
                        </a:lnTo>
                        <a:lnTo>
                          <a:pt x="8340" y="6009"/>
                        </a:lnTo>
                        <a:lnTo>
                          <a:pt x="8497" y="6003"/>
                        </a:lnTo>
                        <a:lnTo>
                          <a:pt x="8574" y="6000"/>
                        </a:lnTo>
                        <a:lnTo>
                          <a:pt x="8652" y="5995"/>
                        </a:lnTo>
                        <a:lnTo>
                          <a:pt x="8730" y="5990"/>
                        </a:lnTo>
                        <a:lnTo>
                          <a:pt x="8807" y="5985"/>
                        </a:lnTo>
                        <a:lnTo>
                          <a:pt x="8885" y="5979"/>
                        </a:lnTo>
                        <a:lnTo>
                          <a:pt x="8962" y="5972"/>
                        </a:lnTo>
                        <a:lnTo>
                          <a:pt x="9040" y="5964"/>
                        </a:lnTo>
                        <a:lnTo>
                          <a:pt x="9116" y="5956"/>
                        </a:lnTo>
                        <a:lnTo>
                          <a:pt x="9193" y="5947"/>
                        </a:lnTo>
                        <a:lnTo>
                          <a:pt x="9269" y="5938"/>
                        </a:lnTo>
                        <a:lnTo>
                          <a:pt x="9345" y="5928"/>
                        </a:lnTo>
                        <a:lnTo>
                          <a:pt x="9421" y="5916"/>
                        </a:lnTo>
                        <a:lnTo>
                          <a:pt x="9496" y="5904"/>
                        </a:lnTo>
                        <a:lnTo>
                          <a:pt x="9572" y="5892"/>
                        </a:lnTo>
                        <a:lnTo>
                          <a:pt x="9647" y="5879"/>
                        </a:lnTo>
                        <a:lnTo>
                          <a:pt x="9723" y="5866"/>
                        </a:lnTo>
                        <a:lnTo>
                          <a:pt x="9797" y="5851"/>
                        </a:lnTo>
                        <a:lnTo>
                          <a:pt x="9871" y="5836"/>
                        </a:lnTo>
                        <a:lnTo>
                          <a:pt x="9946" y="5820"/>
                        </a:lnTo>
                        <a:lnTo>
                          <a:pt x="10019" y="5804"/>
                        </a:lnTo>
                        <a:lnTo>
                          <a:pt x="10094" y="5787"/>
                        </a:lnTo>
                        <a:lnTo>
                          <a:pt x="10167" y="5769"/>
                        </a:lnTo>
                        <a:lnTo>
                          <a:pt x="10239" y="5749"/>
                        </a:lnTo>
                        <a:lnTo>
                          <a:pt x="10313" y="5729"/>
                        </a:lnTo>
                        <a:lnTo>
                          <a:pt x="10385" y="5709"/>
                        </a:lnTo>
                        <a:lnTo>
                          <a:pt x="10458" y="5688"/>
                        </a:lnTo>
                        <a:lnTo>
                          <a:pt x="10530" y="5666"/>
                        </a:lnTo>
                        <a:lnTo>
                          <a:pt x="10602" y="5643"/>
                        </a:lnTo>
                        <a:lnTo>
                          <a:pt x="10673" y="5619"/>
                        </a:lnTo>
                        <a:lnTo>
                          <a:pt x="10744" y="5595"/>
                        </a:lnTo>
                        <a:lnTo>
                          <a:pt x="10816" y="5568"/>
                        </a:lnTo>
                        <a:lnTo>
                          <a:pt x="10886" y="5542"/>
                        </a:lnTo>
                        <a:lnTo>
                          <a:pt x="10957" y="5515"/>
                        </a:lnTo>
                        <a:lnTo>
                          <a:pt x="11026" y="5488"/>
                        </a:lnTo>
                        <a:lnTo>
                          <a:pt x="11095" y="5459"/>
                        </a:lnTo>
                        <a:lnTo>
                          <a:pt x="11165" y="5429"/>
                        </a:lnTo>
                        <a:lnTo>
                          <a:pt x="11234" y="5398"/>
                        </a:lnTo>
                        <a:lnTo>
                          <a:pt x="11303" y="5367"/>
                        </a:lnTo>
                        <a:lnTo>
                          <a:pt x="11371" y="5335"/>
                        </a:lnTo>
                        <a:lnTo>
                          <a:pt x="11439" y="5302"/>
                        </a:lnTo>
                        <a:lnTo>
                          <a:pt x="11507" y="5268"/>
                        </a:lnTo>
                        <a:lnTo>
                          <a:pt x="11574" y="5232"/>
                        </a:lnTo>
                        <a:lnTo>
                          <a:pt x="11641" y="5196"/>
                        </a:lnTo>
                        <a:lnTo>
                          <a:pt x="11708" y="5159"/>
                        </a:lnTo>
                        <a:lnTo>
                          <a:pt x="11774" y="5121"/>
                        </a:lnTo>
                        <a:lnTo>
                          <a:pt x="11840" y="5083"/>
                        </a:lnTo>
                        <a:lnTo>
                          <a:pt x="11905" y="5042"/>
                        </a:lnTo>
                        <a:lnTo>
                          <a:pt x="11970" y="5002"/>
                        </a:lnTo>
                        <a:lnTo>
                          <a:pt x="12035" y="4960"/>
                        </a:lnTo>
                        <a:lnTo>
                          <a:pt x="12099" y="4918"/>
                        </a:lnTo>
                        <a:lnTo>
                          <a:pt x="12163" y="4873"/>
                        </a:lnTo>
                        <a:lnTo>
                          <a:pt x="12227" y="4829"/>
                        </a:lnTo>
                        <a:lnTo>
                          <a:pt x="12290" y="4783"/>
                        </a:lnTo>
                        <a:lnTo>
                          <a:pt x="12354" y="4736"/>
                        </a:lnTo>
                        <a:lnTo>
                          <a:pt x="12416" y="4688"/>
                        </a:lnTo>
                        <a:lnTo>
                          <a:pt x="12478" y="4640"/>
                        </a:lnTo>
                        <a:lnTo>
                          <a:pt x="12540" y="4590"/>
                        </a:lnTo>
                        <a:lnTo>
                          <a:pt x="12601" y="4539"/>
                        </a:lnTo>
                        <a:lnTo>
                          <a:pt x="12601" y="4539"/>
                        </a:lnTo>
                        <a:lnTo>
                          <a:pt x="12664" y="4485"/>
                        </a:lnTo>
                        <a:lnTo>
                          <a:pt x="12726" y="4431"/>
                        </a:lnTo>
                        <a:lnTo>
                          <a:pt x="12787" y="4375"/>
                        </a:lnTo>
                        <a:lnTo>
                          <a:pt x="12847" y="4319"/>
                        </a:lnTo>
                        <a:lnTo>
                          <a:pt x="12907" y="4263"/>
                        </a:lnTo>
                        <a:lnTo>
                          <a:pt x="12965" y="4206"/>
                        </a:lnTo>
                        <a:lnTo>
                          <a:pt x="13023" y="4149"/>
                        </a:lnTo>
                        <a:lnTo>
                          <a:pt x="13080" y="4091"/>
                        </a:lnTo>
                        <a:lnTo>
                          <a:pt x="13135" y="4032"/>
                        </a:lnTo>
                        <a:lnTo>
                          <a:pt x="13189" y="3973"/>
                        </a:lnTo>
                        <a:lnTo>
                          <a:pt x="13243" y="3914"/>
                        </a:lnTo>
                        <a:lnTo>
                          <a:pt x="13295" y="3853"/>
                        </a:lnTo>
                        <a:lnTo>
                          <a:pt x="13347" y="3793"/>
                        </a:lnTo>
                        <a:lnTo>
                          <a:pt x="13397" y="3732"/>
                        </a:lnTo>
                        <a:lnTo>
                          <a:pt x="13447" y="3670"/>
                        </a:lnTo>
                        <a:lnTo>
                          <a:pt x="13496" y="3609"/>
                        </a:lnTo>
                        <a:lnTo>
                          <a:pt x="13543" y="3546"/>
                        </a:lnTo>
                        <a:lnTo>
                          <a:pt x="13590" y="3484"/>
                        </a:lnTo>
                        <a:lnTo>
                          <a:pt x="13635" y="3421"/>
                        </a:lnTo>
                        <a:lnTo>
                          <a:pt x="13680" y="3357"/>
                        </a:lnTo>
                        <a:lnTo>
                          <a:pt x="13723" y="3293"/>
                        </a:lnTo>
                        <a:lnTo>
                          <a:pt x="13766" y="3229"/>
                        </a:lnTo>
                        <a:lnTo>
                          <a:pt x="13807" y="3164"/>
                        </a:lnTo>
                        <a:lnTo>
                          <a:pt x="13847" y="3100"/>
                        </a:lnTo>
                        <a:lnTo>
                          <a:pt x="13886" y="3034"/>
                        </a:lnTo>
                        <a:lnTo>
                          <a:pt x="13925" y="2969"/>
                        </a:lnTo>
                        <a:lnTo>
                          <a:pt x="13963" y="2903"/>
                        </a:lnTo>
                        <a:lnTo>
                          <a:pt x="13999" y="2837"/>
                        </a:lnTo>
                        <a:lnTo>
                          <a:pt x="14034" y="2771"/>
                        </a:lnTo>
                        <a:lnTo>
                          <a:pt x="14067" y="2704"/>
                        </a:lnTo>
                        <a:lnTo>
                          <a:pt x="14100" y="2637"/>
                        </a:lnTo>
                        <a:lnTo>
                          <a:pt x="14133" y="2571"/>
                        </a:lnTo>
                        <a:lnTo>
                          <a:pt x="14164" y="2503"/>
                        </a:lnTo>
                        <a:lnTo>
                          <a:pt x="14193" y="2436"/>
                        </a:lnTo>
                        <a:lnTo>
                          <a:pt x="14222" y="2367"/>
                        </a:lnTo>
                        <a:lnTo>
                          <a:pt x="14250" y="2300"/>
                        </a:lnTo>
                        <a:lnTo>
                          <a:pt x="14276" y="2232"/>
                        </a:lnTo>
                        <a:lnTo>
                          <a:pt x="14302" y="2164"/>
                        </a:lnTo>
                        <a:lnTo>
                          <a:pt x="14326" y="2096"/>
                        </a:lnTo>
                        <a:lnTo>
                          <a:pt x="14350" y="2027"/>
                        </a:lnTo>
                        <a:lnTo>
                          <a:pt x="14372" y="1959"/>
                        </a:lnTo>
                        <a:lnTo>
                          <a:pt x="14393" y="1891"/>
                        </a:lnTo>
                        <a:lnTo>
                          <a:pt x="14412" y="1822"/>
                        </a:lnTo>
                        <a:lnTo>
                          <a:pt x="14431" y="1753"/>
                        </a:lnTo>
                        <a:lnTo>
                          <a:pt x="14449" y="1684"/>
                        </a:lnTo>
                        <a:lnTo>
                          <a:pt x="14466" y="1615"/>
                        </a:lnTo>
                        <a:lnTo>
                          <a:pt x="14482" y="1547"/>
                        </a:lnTo>
                        <a:lnTo>
                          <a:pt x="14496" y="1478"/>
                        </a:lnTo>
                        <a:lnTo>
                          <a:pt x="14509" y="1409"/>
                        </a:lnTo>
                        <a:lnTo>
                          <a:pt x="14521" y="1340"/>
                        </a:lnTo>
                        <a:lnTo>
                          <a:pt x="14532" y="1271"/>
                        </a:lnTo>
                        <a:lnTo>
                          <a:pt x="14542" y="1203"/>
                        </a:lnTo>
                        <a:lnTo>
                          <a:pt x="14550" y="1134"/>
                        </a:lnTo>
                        <a:lnTo>
                          <a:pt x="14558" y="1066"/>
                        </a:lnTo>
                        <a:lnTo>
                          <a:pt x="14564" y="996"/>
                        </a:lnTo>
                        <a:lnTo>
                          <a:pt x="14569" y="928"/>
                        </a:lnTo>
                        <a:lnTo>
                          <a:pt x="14573" y="860"/>
                        </a:lnTo>
                        <a:lnTo>
                          <a:pt x="14576" y="792"/>
                        </a:lnTo>
                        <a:lnTo>
                          <a:pt x="14577" y="724"/>
                        </a:lnTo>
                        <a:lnTo>
                          <a:pt x="14578" y="655"/>
                        </a:lnTo>
                        <a:lnTo>
                          <a:pt x="14577" y="588"/>
                        </a:lnTo>
                        <a:lnTo>
                          <a:pt x="14575" y="521"/>
                        </a:lnTo>
                        <a:lnTo>
                          <a:pt x="14572" y="453"/>
                        </a:lnTo>
                        <a:lnTo>
                          <a:pt x="14568" y="386"/>
                        </a:lnTo>
                        <a:lnTo>
                          <a:pt x="14832" y="581"/>
                        </a:ln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Calibri"/>
                    </a:endParaRPr>
                  </a:p>
                </p:txBody>
              </p:sp>
              <p:sp>
                <p:nvSpPr>
                  <p:cNvPr id="31" name="Freeform 12">
                    <a:extLst>
                      <a:ext uri="{FF2B5EF4-FFF2-40B4-BE49-F238E27FC236}">
                        <a16:creationId xmlns:a16="http://schemas.microsoft.com/office/drawing/2014/main" id="{16D18D3B-A254-257C-F7E7-D9572A2DD6EB}"/>
                      </a:ext>
                    </a:extLst>
                  </p:cNvPr>
                  <p:cNvSpPr>
                    <a:spLocks/>
                  </p:cNvSpPr>
                  <p:nvPr/>
                </p:nvSpPr>
                <p:spPr bwMode="auto">
                  <a:xfrm>
                    <a:off x="2682500" y="6611"/>
                    <a:ext cx="1688745" cy="1857882"/>
                  </a:xfrm>
                  <a:custGeom>
                    <a:avLst/>
                    <a:gdLst>
                      <a:gd name="T0" fmla="*/ 10920 w 11158"/>
                      <a:gd name="T1" fmla="*/ 367 h 7009"/>
                      <a:gd name="T2" fmla="*/ 10734 w 11158"/>
                      <a:gd name="T3" fmla="*/ 1089 h 7009"/>
                      <a:gd name="T4" fmla="*/ 10513 w 11158"/>
                      <a:gd name="T5" fmla="*/ 1768 h 7009"/>
                      <a:gd name="T6" fmla="*/ 10258 w 11158"/>
                      <a:gd name="T7" fmla="*/ 2403 h 7009"/>
                      <a:gd name="T8" fmla="*/ 9967 w 11158"/>
                      <a:gd name="T9" fmla="*/ 2998 h 7009"/>
                      <a:gd name="T10" fmla="*/ 9642 w 11158"/>
                      <a:gd name="T11" fmla="*/ 3549 h 7009"/>
                      <a:gd name="T12" fmla="*/ 9283 w 11158"/>
                      <a:gd name="T13" fmla="*/ 4057 h 7009"/>
                      <a:gd name="T14" fmla="*/ 8891 w 11158"/>
                      <a:gd name="T15" fmla="*/ 4523 h 7009"/>
                      <a:gd name="T16" fmla="*/ 8463 w 11158"/>
                      <a:gd name="T17" fmla="*/ 4945 h 7009"/>
                      <a:gd name="T18" fmla="*/ 8003 w 11158"/>
                      <a:gd name="T19" fmla="*/ 5325 h 7009"/>
                      <a:gd name="T20" fmla="*/ 7508 w 11158"/>
                      <a:gd name="T21" fmla="*/ 5661 h 7009"/>
                      <a:gd name="T22" fmla="*/ 6980 w 11158"/>
                      <a:gd name="T23" fmla="*/ 5952 h 7009"/>
                      <a:gd name="T24" fmla="*/ 6418 w 11158"/>
                      <a:gd name="T25" fmla="*/ 6201 h 7009"/>
                      <a:gd name="T26" fmla="*/ 5944 w 11158"/>
                      <a:gd name="T27" fmla="*/ 6368 h 7009"/>
                      <a:gd name="T28" fmla="*/ 5496 w 11158"/>
                      <a:gd name="T29" fmla="*/ 6499 h 7009"/>
                      <a:gd name="T30" fmla="*/ 5042 w 11158"/>
                      <a:gd name="T31" fmla="*/ 6610 h 7009"/>
                      <a:gd name="T32" fmla="*/ 4585 w 11158"/>
                      <a:gd name="T33" fmla="*/ 6703 h 7009"/>
                      <a:gd name="T34" fmla="*/ 4125 w 11158"/>
                      <a:gd name="T35" fmla="*/ 6778 h 7009"/>
                      <a:gd name="T36" fmla="*/ 3383 w 11158"/>
                      <a:gd name="T37" fmla="*/ 6867 h 7009"/>
                      <a:gd name="T38" fmla="*/ 2447 w 11158"/>
                      <a:gd name="T39" fmla="*/ 6931 h 7009"/>
                      <a:gd name="T40" fmla="*/ 1507 w 11158"/>
                      <a:gd name="T41" fmla="*/ 6952 h 7009"/>
                      <a:gd name="T42" fmla="*/ 564 w 11158"/>
                      <a:gd name="T43" fmla="*/ 6943 h 7009"/>
                      <a:gd name="T44" fmla="*/ 0 w 11158"/>
                      <a:gd name="T45" fmla="*/ 6983 h 7009"/>
                      <a:gd name="T46" fmla="*/ 944 w 11158"/>
                      <a:gd name="T47" fmla="*/ 7006 h 7009"/>
                      <a:gd name="T48" fmla="*/ 1888 w 11158"/>
                      <a:gd name="T49" fmla="*/ 7004 h 7009"/>
                      <a:gd name="T50" fmla="*/ 2829 w 11158"/>
                      <a:gd name="T51" fmla="*/ 6966 h 7009"/>
                      <a:gd name="T52" fmla="*/ 3765 w 11158"/>
                      <a:gd name="T53" fmla="*/ 6882 h 7009"/>
                      <a:gd name="T54" fmla="*/ 4229 w 11158"/>
                      <a:gd name="T55" fmla="*/ 6818 h 7009"/>
                      <a:gd name="T56" fmla="*/ 4690 w 11158"/>
                      <a:gd name="T57" fmla="*/ 6739 h 7009"/>
                      <a:gd name="T58" fmla="*/ 5149 w 11158"/>
                      <a:gd name="T59" fmla="*/ 6642 h 7009"/>
                      <a:gd name="T60" fmla="*/ 5603 w 11158"/>
                      <a:gd name="T61" fmla="*/ 6528 h 7009"/>
                      <a:gd name="T62" fmla="*/ 5963 w 11158"/>
                      <a:gd name="T63" fmla="*/ 6421 h 7009"/>
                      <a:gd name="T64" fmla="*/ 6309 w 11158"/>
                      <a:gd name="T65" fmla="*/ 6302 h 7009"/>
                      <a:gd name="T66" fmla="*/ 6645 w 11158"/>
                      <a:gd name="T67" fmla="*/ 6169 h 7009"/>
                      <a:gd name="T68" fmla="*/ 6969 w 11158"/>
                      <a:gd name="T69" fmla="*/ 6021 h 7009"/>
                      <a:gd name="T70" fmla="*/ 7283 w 11158"/>
                      <a:gd name="T71" fmla="*/ 5859 h 7009"/>
                      <a:gd name="T72" fmla="*/ 7584 w 11158"/>
                      <a:gd name="T73" fmla="*/ 5682 h 7009"/>
                      <a:gd name="T74" fmla="*/ 7875 w 11158"/>
                      <a:gd name="T75" fmla="*/ 5491 h 7009"/>
                      <a:gd name="T76" fmla="*/ 8155 w 11158"/>
                      <a:gd name="T77" fmla="*/ 5284 h 7009"/>
                      <a:gd name="T78" fmla="*/ 8422 w 11158"/>
                      <a:gd name="T79" fmla="*/ 5065 h 7009"/>
                      <a:gd name="T80" fmla="*/ 8679 w 11158"/>
                      <a:gd name="T81" fmla="*/ 4831 h 7009"/>
                      <a:gd name="T82" fmla="*/ 8923 w 11158"/>
                      <a:gd name="T83" fmla="*/ 4582 h 7009"/>
                      <a:gd name="T84" fmla="*/ 9156 w 11158"/>
                      <a:gd name="T85" fmla="*/ 4321 h 7009"/>
                      <a:gd name="T86" fmla="*/ 9377 w 11158"/>
                      <a:gd name="T87" fmla="*/ 4044 h 7009"/>
                      <a:gd name="T88" fmla="*/ 9545 w 11158"/>
                      <a:gd name="T89" fmla="*/ 3813 h 7009"/>
                      <a:gd name="T90" fmla="*/ 9837 w 11158"/>
                      <a:gd name="T91" fmla="*/ 3361 h 7009"/>
                      <a:gd name="T92" fmla="*/ 10103 w 11158"/>
                      <a:gd name="T93" fmla="*/ 2881 h 7009"/>
                      <a:gd name="T94" fmla="*/ 10343 w 11158"/>
                      <a:gd name="T95" fmla="*/ 2370 h 7009"/>
                      <a:gd name="T96" fmla="*/ 10558 w 11158"/>
                      <a:gd name="T97" fmla="*/ 1828 h 7009"/>
                      <a:gd name="T98" fmla="*/ 10749 w 11158"/>
                      <a:gd name="T99" fmla="*/ 1253 h 7009"/>
                      <a:gd name="T100" fmla="*/ 10916 w 11158"/>
                      <a:gd name="T101" fmla="*/ 645 h 70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1158" h="7009">
                        <a:moveTo>
                          <a:pt x="11158" y="648"/>
                        </a:moveTo>
                        <a:lnTo>
                          <a:pt x="11045" y="0"/>
                        </a:lnTo>
                        <a:lnTo>
                          <a:pt x="10622" y="503"/>
                        </a:lnTo>
                        <a:lnTo>
                          <a:pt x="10920" y="367"/>
                        </a:lnTo>
                        <a:lnTo>
                          <a:pt x="10920" y="367"/>
                        </a:lnTo>
                        <a:lnTo>
                          <a:pt x="10885" y="515"/>
                        </a:lnTo>
                        <a:lnTo>
                          <a:pt x="10850" y="661"/>
                        </a:lnTo>
                        <a:lnTo>
                          <a:pt x="10813" y="805"/>
                        </a:lnTo>
                        <a:lnTo>
                          <a:pt x="10774" y="948"/>
                        </a:lnTo>
                        <a:lnTo>
                          <a:pt x="10734" y="1089"/>
                        </a:lnTo>
                        <a:lnTo>
                          <a:pt x="10692" y="1227"/>
                        </a:lnTo>
                        <a:lnTo>
                          <a:pt x="10650" y="1365"/>
                        </a:lnTo>
                        <a:lnTo>
                          <a:pt x="10606" y="1501"/>
                        </a:lnTo>
                        <a:lnTo>
                          <a:pt x="10559" y="1635"/>
                        </a:lnTo>
                        <a:lnTo>
                          <a:pt x="10513" y="1768"/>
                        </a:lnTo>
                        <a:lnTo>
                          <a:pt x="10465" y="1897"/>
                        </a:lnTo>
                        <a:lnTo>
                          <a:pt x="10415" y="2027"/>
                        </a:lnTo>
                        <a:lnTo>
                          <a:pt x="10363" y="2154"/>
                        </a:lnTo>
                        <a:lnTo>
                          <a:pt x="10311" y="2280"/>
                        </a:lnTo>
                        <a:lnTo>
                          <a:pt x="10258" y="2403"/>
                        </a:lnTo>
                        <a:lnTo>
                          <a:pt x="10202" y="2526"/>
                        </a:lnTo>
                        <a:lnTo>
                          <a:pt x="10145" y="2646"/>
                        </a:lnTo>
                        <a:lnTo>
                          <a:pt x="10088" y="2765"/>
                        </a:lnTo>
                        <a:lnTo>
                          <a:pt x="10027" y="2882"/>
                        </a:lnTo>
                        <a:lnTo>
                          <a:pt x="9967" y="2998"/>
                        </a:lnTo>
                        <a:lnTo>
                          <a:pt x="9905" y="3111"/>
                        </a:lnTo>
                        <a:lnTo>
                          <a:pt x="9841" y="3223"/>
                        </a:lnTo>
                        <a:lnTo>
                          <a:pt x="9776" y="3334"/>
                        </a:lnTo>
                        <a:lnTo>
                          <a:pt x="9711" y="3442"/>
                        </a:lnTo>
                        <a:lnTo>
                          <a:pt x="9642" y="3549"/>
                        </a:lnTo>
                        <a:lnTo>
                          <a:pt x="9574" y="3654"/>
                        </a:lnTo>
                        <a:lnTo>
                          <a:pt x="9503" y="3757"/>
                        </a:lnTo>
                        <a:lnTo>
                          <a:pt x="9431" y="3859"/>
                        </a:lnTo>
                        <a:lnTo>
                          <a:pt x="9359" y="3960"/>
                        </a:lnTo>
                        <a:lnTo>
                          <a:pt x="9283" y="4057"/>
                        </a:lnTo>
                        <a:lnTo>
                          <a:pt x="9208" y="4154"/>
                        </a:lnTo>
                        <a:lnTo>
                          <a:pt x="9130" y="4249"/>
                        </a:lnTo>
                        <a:lnTo>
                          <a:pt x="9052" y="4342"/>
                        </a:lnTo>
                        <a:lnTo>
                          <a:pt x="8972" y="4433"/>
                        </a:lnTo>
                        <a:lnTo>
                          <a:pt x="8891" y="4523"/>
                        </a:lnTo>
                        <a:lnTo>
                          <a:pt x="8807" y="4611"/>
                        </a:lnTo>
                        <a:lnTo>
                          <a:pt x="8724" y="4697"/>
                        </a:lnTo>
                        <a:lnTo>
                          <a:pt x="8638" y="4781"/>
                        </a:lnTo>
                        <a:lnTo>
                          <a:pt x="8552" y="4865"/>
                        </a:lnTo>
                        <a:lnTo>
                          <a:pt x="8463" y="4945"/>
                        </a:lnTo>
                        <a:lnTo>
                          <a:pt x="8374" y="5025"/>
                        </a:lnTo>
                        <a:lnTo>
                          <a:pt x="8283" y="5102"/>
                        </a:lnTo>
                        <a:lnTo>
                          <a:pt x="8191" y="5178"/>
                        </a:lnTo>
                        <a:lnTo>
                          <a:pt x="8097" y="5252"/>
                        </a:lnTo>
                        <a:lnTo>
                          <a:pt x="8003" y="5325"/>
                        </a:lnTo>
                        <a:lnTo>
                          <a:pt x="7906" y="5395"/>
                        </a:lnTo>
                        <a:lnTo>
                          <a:pt x="7809" y="5464"/>
                        </a:lnTo>
                        <a:lnTo>
                          <a:pt x="7710" y="5532"/>
                        </a:lnTo>
                        <a:lnTo>
                          <a:pt x="7610" y="5597"/>
                        </a:lnTo>
                        <a:lnTo>
                          <a:pt x="7508" y="5661"/>
                        </a:lnTo>
                        <a:lnTo>
                          <a:pt x="7404" y="5722"/>
                        </a:lnTo>
                        <a:lnTo>
                          <a:pt x="7301" y="5782"/>
                        </a:lnTo>
                        <a:lnTo>
                          <a:pt x="7195" y="5841"/>
                        </a:lnTo>
                        <a:lnTo>
                          <a:pt x="7088" y="5898"/>
                        </a:lnTo>
                        <a:lnTo>
                          <a:pt x="6980" y="5952"/>
                        </a:lnTo>
                        <a:lnTo>
                          <a:pt x="6869" y="6006"/>
                        </a:lnTo>
                        <a:lnTo>
                          <a:pt x="6759" y="6057"/>
                        </a:lnTo>
                        <a:lnTo>
                          <a:pt x="6646" y="6107"/>
                        </a:lnTo>
                        <a:lnTo>
                          <a:pt x="6532" y="6155"/>
                        </a:lnTo>
                        <a:lnTo>
                          <a:pt x="6418" y="6201"/>
                        </a:lnTo>
                        <a:lnTo>
                          <a:pt x="6301" y="6245"/>
                        </a:lnTo>
                        <a:lnTo>
                          <a:pt x="6183" y="6288"/>
                        </a:lnTo>
                        <a:lnTo>
                          <a:pt x="6065" y="6330"/>
                        </a:lnTo>
                        <a:lnTo>
                          <a:pt x="5944" y="6368"/>
                        </a:lnTo>
                        <a:lnTo>
                          <a:pt x="5944" y="6368"/>
                        </a:lnTo>
                        <a:lnTo>
                          <a:pt x="5855" y="6396"/>
                        </a:lnTo>
                        <a:lnTo>
                          <a:pt x="5765" y="6423"/>
                        </a:lnTo>
                        <a:lnTo>
                          <a:pt x="5676" y="6449"/>
                        </a:lnTo>
                        <a:lnTo>
                          <a:pt x="5585" y="6474"/>
                        </a:lnTo>
                        <a:lnTo>
                          <a:pt x="5496" y="6499"/>
                        </a:lnTo>
                        <a:lnTo>
                          <a:pt x="5405" y="6523"/>
                        </a:lnTo>
                        <a:lnTo>
                          <a:pt x="5315" y="6546"/>
                        </a:lnTo>
                        <a:lnTo>
                          <a:pt x="5224" y="6568"/>
                        </a:lnTo>
                        <a:lnTo>
                          <a:pt x="5132" y="6589"/>
                        </a:lnTo>
                        <a:lnTo>
                          <a:pt x="5042" y="6610"/>
                        </a:lnTo>
                        <a:lnTo>
                          <a:pt x="4950" y="6630"/>
                        </a:lnTo>
                        <a:lnTo>
                          <a:pt x="4860" y="6649"/>
                        </a:lnTo>
                        <a:lnTo>
                          <a:pt x="4768" y="6668"/>
                        </a:lnTo>
                        <a:lnTo>
                          <a:pt x="4677" y="6686"/>
                        </a:lnTo>
                        <a:lnTo>
                          <a:pt x="4585" y="6703"/>
                        </a:lnTo>
                        <a:lnTo>
                          <a:pt x="4493" y="6719"/>
                        </a:lnTo>
                        <a:lnTo>
                          <a:pt x="4401" y="6735"/>
                        </a:lnTo>
                        <a:lnTo>
                          <a:pt x="4309" y="6750"/>
                        </a:lnTo>
                        <a:lnTo>
                          <a:pt x="4217" y="6764"/>
                        </a:lnTo>
                        <a:lnTo>
                          <a:pt x="4125" y="6778"/>
                        </a:lnTo>
                        <a:lnTo>
                          <a:pt x="4032" y="6791"/>
                        </a:lnTo>
                        <a:lnTo>
                          <a:pt x="3940" y="6804"/>
                        </a:lnTo>
                        <a:lnTo>
                          <a:pt x="3755" y="6827"/>
                        </a:lnTo>
                        <a:lnTo>
                          <a:pt x="3569" y="6849"/>
                        </a:lnTo>
                        <a:lnTo>
                          <a:pt x="3383" y="6867"/>
                        </a:lnTo>
                        <a:lnTo>
                          <a:pt x="3196" y="6884"/>
                        </a:lnTo>
                        <a:lnTo>
                          <a:pt x="3009" y="6899"/>
                        </a:lnTo>
                        <a:lnTo>
                          <a:pt x="2822" y="6911"/>
                        </a:lnTo>
                        <a:lnTo>
                          <a:pt x="2634" y="6922"/>
                        </a:lnTo>
                        <a:lnTo>
                          <a:pt x="2447" y="6931"/>
                        </a:lnTo>
                        <a:lnTo>
                          <a:pt x="2259" y="6938"/>
                        </a:lnTo>
                        <a:lnTo>
                          <a:pt x="2071" y="6944"/>
                        </a:lnTo>
                        <a:lnTo>
                          <a:pt x="1883" y="6948"/>
                        </a:lnTo>
                        <a:lnTo>
                          <a:pt x="1695" y="6951"/>
                        </a:lnTo>
                        <a:lnTo>
                          <a:pt x="1507" y="6952"/>
                        </a:lnTo>
                        <a:lnTo>
                          <a:pt x="1318" y="6953"/>
                        </a:lnTo>
                        <a:lnTo>
                          <a:pt x="1130" y="6952"/>
                        </a:lnTo>
                        <a:lnTo>
                          <a:pt x="942" y="6950"/>
                        </a:lnTo>
                        <a:lnTo>
                          <a:pt x="753" y="6947"/>
                        </a:lnTo>
                        <a:lnTo>
                          <a:pt x="564" y="6943"/>
                        </a:lnTo>
                        <a:lnTo>
                          <a:pt x="376" y="6939"/>
                        </a:lnTo>
                        <a:lnTo>
                          <a:pt x="188" y="6934"/>
                        </a:lnTo>
                        <a:lnTo>
                          <a:pt x="0" y="6928"/>
                        </a:lnTo>
                        <a:lnTo>
                          <a:pt x="0" y="6983"/>
                        </a:lnTo>
                        <a:lnTo>
                          <a:pt x="0" y="6983"/>
                        </a:lnTo>
                        <a:lnTo>
                          <a:pt x="188" y="6989"/>
                        </a:lnTo>
                        <a:lnTo>
                          <a:pt x="377" y="6994"/>
                        </a:lnTo>
                        <a:lnTo>
                          <a:pt x="565" y="6999"/>
                        </a:lnTo>
                        <a:lnTo>
                          <a:pt x="755" y="7003"/>
                        </a:lnTo>
                        <a:lnTo>
                          <a:pt x="944" y="7006"/>
                        </a:lnTo>
                        <a:lnTo>
                          <a:pt x="1133" y="7008"/>
                        </a:lnTo>
                        <a:lnTo>
                          <a:pt x="1322" y="7009"/>
                        </a:lnTo>
                        <a:lnTo>
                          <a:pt x="1510" y="7009"/>
                        </a:lnTo>
                        <a:lnTo>
                          <a:pt x="1699" y="7007"/>
                        </a:lnTo>
                        <a:lnTo>
                          <a:pt x="1888" y="7004"/>
                        </a:lnTo>
                        <a:lnTo>
                          <a:pt x="2076" y="7000"/>
                        </a:lnTo>
                        <a:lnTo>
                          <a:pt x="2265" y="6993"/>
                        </a:lnTo>
                        <a:lnTo>
                          <a:pt x="2453" y="6986"/>
                        </a:lnTo>
                        <a:lnTo>
                          <a:pt x="2641" y="6977"/>
                        </a:lnTo>
                        <a:lnTo>
                          <a:pt x="2829" y="6966"/>
                        </a:lnTo>
                        <a:lnTo>
                          <a:pt x="3017" y="6953"/>
                        </a:lnTo>
                        <a:lnTo>
                          <a:pt x="3205" y="6939"/>
                        </a:lnTo>
                        <a:lnTo>
                          <a:pt x="3392" y="6922"/>
                        </a:lnTo>
                        <a:lnTo>
                          <a:pt x="3579" y="6903"/>
                        </a:lnTo>
                        <a:lnTo>
                          <a:pt x="3765" y="6882"/>
                        </a:lnTo>
                        <a:lnTo>
                          <a:pt x="3858" y="6871"/>
                        </a:lnTo>
                        <a:lnTo>
                          <a:pt x="3951" y="6859"/>
                        </a:lnTo>
                        <a:lnTo>
                          <a:pt x="4043" y="6846"/>
                        </a:lnTo>
                        <a:lnTo>
                          <a:pt x="4137" y="6833"/>
                        </a:lnTo>
                        <a:lnTo>
                          <a:pt x="4229" y="6818"/>
                        </a:lnTo>
                        <a:lnTo>
                          <a:pt x="4322" y="6804"/>
                        </a:lnTo>
                        <a:lnTo>
                          <a:pt x="4414" y="6789"/>
                        </a:lnTo>
                        <a:lnTo>
                          <a:pt x="4506" y="6773"/>
                        </a:lnTo>
                        <a:lnTo>
                          <a:pt x="4598" y="6757"/>
                        </a:lnTo>
                        <a:lnTo>
                          <a:pt x="4690" y="6739"/>
                        </a:lnTo>
                        <a:lnTo>
                          <a:pt x="4782" y="6722"/>
                        </a:lnTo>
                        <a:lnTo>
                          <a:pt x="4874" y="6703"/>
                        </a:lnTo>
                        <a:lnTo>
                          <a:pt x="4966" y="6684"/>
                        </a:lnTo>
                        <a:lnTo>
                          <a:pt x="5057" y="6664"/>
                        </a:lnTo>
                        <a:lnTo>
                          <a:pt x="5149" y="6642"/>
                        </a:lnTo>
                        <a:lnTo>
                          <a:pt x="5239" y="6621"/>
                        </a:lnTo>
                        <a:lnTo>
                          <a:pt x="5331" y="6599"/>
                        </a:lnTo>
                        <a:lnTo>
                          <a:pt x="5421" y="6576"/>
                        </a:lnTo>
                        <a:lnTo>
                          <a:pt x="5513" y="6552"/>
                        </a:lnTo>
                        <a:lnTo>
                          <a:pt x="5603" y="6528"/>
                        </a:lnTo>
                        <a:lnTo>
                          <a:pt x="5693" y="6502"/>
                        </a:lnTo>
                        <a:lnTo>
                          <a:pt x="5783" y="6475"/>
                        </a:lnTo>
                        <a:lnTo>
                          <a:pt x="5874" y="6448"/>
                        </a:lnTo>
                        <a:lnTo>
                          <a:pt x="5963" y="6421"/>
                        </a:lnTo>
                        <a:lnTo>
                          <a:pt x="5963" y="6421"/>
                        </a:lnTo>
                        <a:lnTo>
                          <a:pt x="6034" y="6398"/>
                        </a:lnTo>
                        <a:lnTo>
                          <a:pt x="6103" y="6375"/>
                        </a:lnTo>
                        <a:lnTo>
                          <a:pt x="6172" y="6352"/>
                        </a:lnTo>
                        <a:lnTo>
                          <a:pt x="6241" y="6328"/>
                        </a:lnTo>
                        <a:lnTo>
                          <a:pt x="6309" y="6302"/>
                        </a:lnTo>
                        <a:lnTo>
                          <a:pt x="6378" y="6276"/>
                        </a:lnTo>
                        <a:lnTo>
                          <a:pt x="6445" y="6251"/>
                        </a:lnTo>
                        <a:lnTo>
                          <a:pt x="6512" y="6224"/>
                        </a:lnTo>
                        <a:lnTo>
                          <a:pt x="6579" y="6197"/>
                        </a:lnTo>
                        <a:lnTo>
                          <a:pt x="6645" y="6169"/>
                        </a:lnTo>
                        <a:lnTo>
                          <a:pt x="6710" y="6140"/>
                        </a:lnTo>
                        <a:lnTo>
                          <a:pt x="6776" y="6111"/>
                        </a:lnTo>
                        <a:lnTo>
                          <a:pt x="6840" y="6082"/>
                        </a:lnTo>
                        <a:lnTo>
                          <a:pt x="6906" y="6052"/>
                        </a:lnTo>
                        <a:lnTo>
                          <a:pt x="6969" y="6021"/>
                        </a:lnTo>
                        <a:lnTo>
                          <a:pt x="7032" y="5990"/>
                        </a:lnTo>
                        <a:lnTo>
                          <a:pt x="7096" y="5958"/>
                        </a:lnTo>
                        <a:lnTo>
                          <a:pt x="7158" y="5925"/>
                        </a:lnTo>
                        <a:lnTo>
                          <a:pt x="7220" y="5892"/>
                        </a:lnTo>
                        <a:lnTo>
                          <a:pt x="7283" y="5859"/>
                        </a:lnTo>
                        <a:lnTo>
                          <a:pt x="7344" y="5825"/>
                        </a:lnTo>
                        <a:lnTo>
                          <a:pt x="7404" y="5789"/>
                        </a:lnTo>
                        <a:lnTo>
                          <a:pt x="7465" y="5754"/>
                        </a:lnTo>
                        <a:lnTo>
                          <a:pt x="7525" y="5718"/>
                        </a:lnTo>
                        <a:lnTo>
                          <a:pt x="7584" y="5682"/>
                        </a:lnTo>
                        <a:lnTo>
                          <a:pt x="7644" y="5644"/>
                        </a:lnTo>
                        <a:lnTo>
                          <a:pt x="7702" y="5607"/>
                        </a:lnTo>
                        <a:lnTo>
                          <a:pt x="7760" y="5569"/>
                        </a:lnTo>
                        <a:lnTo>
                          <a:pt x="7818" y="5530"/>
                        </a:lnTo>
                        <a:lnTo>
                          <a:pt x="7875" y="5491"/>
                        </a:lnTo>
                        <a:lnTo>
                          <a:pt x="7932" y="5450"/>
                        </a:lnTo>
                        <a:lnTo>
                          <a:pt x="7989" y="5410"/>
                        </a:lnTo>
                        <a:lnTo>
                          <a:pt x="8044" y="5369"/>
                        </a:lnTo>
                        <a:lnTo>
                          <a:pt x="8099" y="5327"/>
                        </a:lnTo>
                        <a:lnTo>
                          <a:pt x="8155" y="5284"/>
                        </a:lnTo>
                        <a:lnTo>
                          <a:pt x="8209" y="5242"/>
                        </a:lnTo>
                        <a:lnTo>
                          <a:pt x="8263" y="5199"/>
                        </a:lnTo>
                        <a:lnTo>
                          <a:pt x="8317" y="5155"/>
                        </a:lnTo>
                        <a:lnTo>
                          <a:pt x="8370" y="5110"/>
                        </a:lnTo>
                        <a:lnTo>
                          <a:pt x="8422" y="5065"/>
                        </a:lnTo>
                        <a:lnTo>
                          <a:pt x="8475" y="5019"/>
                        </a:lnTo>
                        <a:lnTo>
                          <a:pt x="8526" y="4973"/>
                        </a:lnTo>
                        <a:lnTo>
                          <a:pt x="8577" y="4926"/>
                        </a:lnTo>
                        <a:lnTo>
                          <a:pt x="8628" y="4879"/>
                        </a:lnTo>
                        <a:lnTo>
                          <a:pt x="8679" y="4831"/>
                        </a:lnTo>
                        <a:lnTo>
                          <a:pt x="8729" y="4782"/>
                        </a:lnTo>
                        <a:lnTo>
                          <a:pt x="8778" y="4733"/>
                        </a:lnTo>
                        <a:lnTo>
                          <a:pt x="8827" y="4684"/>
                        </a:lnTo>
                        <a:lnTo>
                          <a:pt x="8875" y="4634"/>
                        </a:lnTo>
                        <a:lnTo>
                          <a:pt x="8923" y="4582"/>
                        </a:lnTo>
                        <a:lnTo>
                          <a:pt x="8970" y="4531"/>
                        </a:lnTo>
                        <a:lnTo>
                          <a:pt x="9018" y="4480"/>
                        </a:lnTo>
                        <a:lnTo>
                          <a:pt x="9064" y="4427"/>
                        </a:lnTo>
                        <a:lnTo>
                          <a:pt x="9110" y="4374"/>
                        </a:lnTo>
                        <a:lnTo>
                          <a:pt x="9156" y="4321"/>
                        </a:lnTo>
                        <a:lnTo>
                          <a:pt x="9201" y="4266"/>
                        </a:lnTo>
                        <a:lnTo>
                          <a:pt x="9246" y="4211"/>
                        </a:lnTo>
                        <a:lnTo>
                          <a:pt x="9290" y="4156"/>
                        </a:lnTo>
                        <a:lnTo>
                          <a:pt x="9333" y="4100"/>
                        </a:lnTo>
                        <a:lnTo>
                          <a:pt x="9377" y="4044"/>
                        </a:lnTo>
                        <a:lnTo>
                          <a:pt x="9420" y="3987"/>
                        </a:lnTo>
                        <a:lnTo>
                          <a:pt x="9462" y="3929"/>
                        </a:lnTo>
                        <a:lnTo>
                          <a:pt x="9503" y="3871"/>
                        </a:lnTo>
                        <a:lnTo>
                          <a:pt x="9545" y="3813"/>
                        </a:lnTo>
                        <a:lnTo>
                          <a:pt x="9545" y="3813"/>
                        </a:lnTo>
                        <a:lnTo>
                          <a:pt x="9606" y="3725"/>
                        </a:lnTo>
                        <a:lnTo>
                          <a:pt x="9665" y="3636"/>
                        </a:lnTo>
                        <a:lnTo>
                          <a:pt x="9724" y="3545"/>
                        </a:lnTo>
                        <a:lnTo>
                          <a:pt x="9781" y="3454"/>
                        </a:lnTo>
                        <a:lnTo>
                          <a:pt x="9837" y="3361"/>
                        </a:lnTo>
                        <a:lnTo>
                          <a:pt x="9893" y="3267"/>
                        </a:lnTo>
                        <a:lnTo>
                          <a:pt x="9947" y="3173"/>
                        </a:lnTo>
                        <a:lnTo>
                          <a:pt x="9999" y="3076"/>
                        </a:lnTo>
                        <a:lnTo>
                          <a:pt x="10052" y="2980"/>
                        </a:lnTo>
                        <a:lnTo>
                          <a:pt x="10103" y="2881"/>
                        </a:lnTo>
                        <a:lnTo>
                          <a:pt x="10153" y="2782"/>
                        </a:lnTo>
                        <a:lnTo>
                          <a:pt x="10202" y="2680"/>
                        </a:lnTo>
                        <a:lnTo>
                          <a:pt x="10250" y="2578"/>
                        </a:lnTo>
                        <a:lnTo>
                          <a:pt x="10297" y="2475"/>
                        </a:lnTo>
                        <a:lnTo>
                          <a:pt x="10343" y="2370"/>
                        </a:lnTo>
                        <a:lnTo>
                          <a:pt x="10388" y="2264"/>
                        </a:lnTo>
                        <a:lnTo>
                          <a:pt x="10433" y="2158"/>
                        </a:lnTo>
                        <a:lnTo>
                          <a:pt x="10475" y="2049"/>
                        </a:lnTo>
                        <a:lnTo>
                          <a:pt x="10517" y="1940"/>
                        </a:lnTo>
                        <a:lnTo>
                          <a:pt x="10558" y="1828"/>
                        </a:lnTo>
                        <a:lnTo>
                          <a:pt x="10599" y="1716"/>
                        </a:lnTo>
                        <a:lnTo>
                          <a:pt x="10638" y="1603"/>
                        </a:lnTo>
                        <a:lnTo>
                          <a:pt x="10676" y="1488"/>
                        </a:lnTo>
                        <a:lnTo>
                          <a:pt x="10713" y="1371"/>
                        </a:lnTo>
                        <a:lnTo>
                          <a:pt x="10749" y="1253"/>
                        </a:lnTo>
                        <a:lnTo>
                          <a:pt x="10785" y="1135"/>
                        </a:lnTo>
                        <a:lnTo>
                          <a:pt x="10819" y="1014"/>
                        </a:lnTo>
                        <a:lnTo>
                          <a:pt x="10852" y="892"/>
                        </a:lnTo>
                        <a:lnTo>
                          <a:pt x="10884" y="770"/>
                        </a:lnTo>
                        <a:lnTo>
                          <a:pt x="10916" y="645"/>
                        </a:lnTo>
                        <a:lnTo>
                          <a:pt x="10947" y="519"/>
                        </a:lnTo>
                        <a:lnTo>
                          <a:pt x="10976" y="391"/>
                        </a:lnTo>
                        <a:lnTo>
                          <a:pt x="11158" y="648"/>
                        </a:ln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Calibri"/>
                    </a:endParaRPr>
                  </a:p>
                </p:txBody>
              </p:sp>
            </p:grpSp>
            <p:sp>
              <p:nvSpPr>
                <p:cNvPr id="26" name="Rectangle: Rounded Corners 25">
                  <a:extLst>
                    <a:ext uri="{FF2B5EF4-FFF2-40B4-BE49-F238E27FC236}">
                      <a16:creationId xmlns:a16="http://schemas.microsoft.com/office/drawing/2014/main" id="{A102E7C1-35D7-FDE6-36C6-6899A5D5A156}"/>
                    </a:ext>
                  </a:extLst>
                </p:cNvPr>
                <p:cNvSpPr/>
                <p:nvPr/>
              </p:nvSpPr>
              <p:spPr>
                <a:xfrm>
                  <a:off x="7957458" y="2046514"/>
                  <a:ext cx="3286116" cy="1245167"/>
                </a:xfrm>
                <a:prstGeom prst="roundRect">
                  <a:avLst>
                    <a:gd name="adj" fmla="val 9680"/>
                  </a:avLst>
                </a:prstGeom>
                <a:solidFill>
                  <a:schemeClr val="bg1">
                    <a:lumMod val="95000"/>
                    <a:alpha val="86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grpSp>
          <p:sp>
            <p:nvSpPr>
              <p:cNvPr id="22" name="TextBox 21">
                <a:extLst>
                  <a:ext uri="{FF2B5EF4-FFF2-40B4-BE49-F238E27FC236}">
                    <a16:creationId xmlns:a16="http://schemas.microsoft.com/office/drawing/2014/main" id="{4635A6DD-DEA5-F098-498C-99BABB7503A6}"/>
                  </a:ext>
                </a:extLst>
              </p:cNvPr>
              <p:cNvSpPr txBox="1"/>
              <p:nvPr/>
            </p:nvSpPr>
            <p:spPr>
              <a:xfrm>
                <a:off x="7957457" y="2061342"/>
                <a:ext cx="3286116" cy="1495281"/>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err="1">
                    <a:ln>
                      <a:noFill/>
                    </a:ln>
                    <a:solidFill>
                      <a:srgbClr val="F0BE0F"/>
                    </a:solidFill>
                    <a:effectLst/>
                    <a:uLnTx/>
                    <a:uFillTx/>
                    <a:latin typeface="Yekan Bakh" pitchFamily="2" charset="-78"/>
                    <a:ea typeface="Yekan Bakh" pitchFamily="2" charset="-78"/>
                    <a:cs typeface="Yekan Bakh" pitchFamily="2" charset="-78"/>
                  </a:rPr>
                  <a:t>مسیر</a:t>
                </a:r>
                <a:r>
                  <a:rPr kumimoji="0" lang="en-US" sz="10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 </a:t>
                </a:r>
                <a:r>
                  <a:rPr kumimoji="0" lang="fa-IR" sz="10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۲</a:t>
                </a:r>
                <a:endParaRPr kumimoji="0" lang="en-US" sz="1000" b="0"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600"/>
                  </a:spcBef>
                  <a:spcAft>
                    <a:spcPts val="450"/>
                  </a:spcAft>
                  <a:buClrTx/>
                  <a:buSzTx/>
                  <a:buFontTx/>
                  <a:buNone/>
                  <a:tabLst/>
                  <a:defRPr/>
                </a:pPr>
                <a:r>
                  <a:rPr kumimoji="0" lang="fa-IR" sz="800" b="1" i="0" u="none" strike="noStrike" kern="1200" cap="none" spc="0" normalizeH="0" baseline="0" noProof="0" dirty="0">
                    <a:ln>
                      <a:noFill/>
                    </a:ln>
                    <a:solidFill>
                      <a:srgbClr val="3242A4"/>
                    </a:solidFill>
                    <a:effectLst/>
                    <a:uLnTx/>
                    <a:uFillTx/>
                    <a:latin typeface="Yekan Bakh" pitchFamily="2" charset="-78"/>
                    <a:ea typeface="Yekan Bakh" pitchFamily="2" charset="-78"/>
                    <a:cs typeface="Yekan Bakh" pitchFamily="2" charset="-78"/>
                  </a:rPr>
                  <a:t>دسترسی - </a:t>
                </a:r>
                <a:r>
                  <a:rPr kumimoji="0" lang="en-US" sz="800" b="1" i="0" u="none" strike="noStrike" kern="1200" cap="none" spc="0" normalizeH="0" baseline="0" noProof="0" dirty="0">
                    <a:ln>
                      <a:noFill/>
                    </a:ln>
                    <a:solidFill>
                      <a:srgbClr val="3242A4"/>
                    </a:solidFill>
                    <a:effectLst/>
                    <a:uLnTx/>
                    <a:uFillTx/>
                    <a:latin typeface="Yekan Bakh" pitchFamily="2" charset="-78"/>
                    <a:ea typeface="Yekan Bakh" pitchFamily="2" charset="-78"/>
                    <a:cs typeface="Yekan Bakh" pitchFamily="2" charset="-78"/>
                  </a:rPr>
                  <a:t>Access</a:t>
                </a:r>
              </a:p>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8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شما می‌توانید جلسه‌ای بسازید که بدون شما اتفاق نمی‌افتاد. این کمیاب‌ترین کالای بازارهای بسته است و قیمت واقعی‌اش را کسی که بیرون در ایستاده تعیین می‌کند.</a:t>
                </a:r>
              </a:p>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a:p>
                <a:pPr marL="0" marR="0" lvl="0" indent="0" algn="r" defTabSz="457200" rtl="1"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err="1">
                    <a:ln>
                      <a:noFill/>
                    </a:ln>
                    <a:solidFill>
                      <a:prstClr val="black">
                        <a:lumMod val="65000"/>
                        <a:lumOff val="35000"/>
                      </a:prstClr>
                    </a:solidFill>
                    <a:effectLst/>
                    <a:uLnTx/>
                    <a:uFillTx/>
                    <a:latin typeface="Yekan Bakh" pitchFamily="2" charset="-78"/>
                    <a:ea typeface="Yekan Bakh" pitchFamily="2" charset="-78"/>
                    <a:cs typeface="Yekan Bakh" pitchFamily="2" charset="-78"/>
                  </a:rPr>
                  <a:t>محصول</a:t>
                </a:r>
                <a:r>
                  <a:rPr kumimoji="0" lang="fa-IR" sz="800" b="1"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 </a:t>
                </a:r>
                <a:r>
                  <a:rPr kumimoji="0" lang="fa-IR" sz="8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ورود به اتاق</a:t>
                </a:r>
              </a:p>
              <a:p>
                <a:pPr marL="0" marR="0" lvl="0" indent="0" algn="r" defTabSz="457200" rtl="1"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err="1">
                    <a:ln>
                      <a:noFill/>
                    </a:ln>
                    <a:solidFill>
                      <a:prstClr val="black">
                        <a:lumMod val="65000"/>
                        <a:lumOff val="35000"/>
                      </a:prstClr>
                    </a:solidFill>
                    <a:effectLst/>
                    <a:uLnTx/>
                    <a:uFillTx/>
                    <a:latin typeface="Yekan Bakh" pitchFamily="2" charset="-78"/>
                    <a:ea typeface="Yekan Bakh" pitchFamily="2" charset="-78"/>
                    <a:cs typeface="Yekan Bakh" pitchFamily="2" charset="-78"/>
                  </a:rPr>
                  <a:t>ابزار</a:t>
                </a:r>
                <a:r>
                  <a:rPr kumimoji="0" lang="en-US" sz="800" b="1"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a:t>
                </a:r>
                <a:r>
                  <a:rPr kumimoji="0" lang="fa-IR" sz="8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 معرفی، میزبانی، باشگاه عضویت، هیئت تجاری، گزینش و دروازه‌بانی</a:t>
                </a:r>
              </a:p>
              <a:p>
                <a:pPr marL="0" marR="0" lvl="0" indent="0" algn="r" defTabSz="457200" rtl="1"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err="1">
                    <a:ln>
                      <a:noFill/>
                    </a:ln>
                    <a:solidFill>
                      <a:prstClr val="black">
                        <a:lumMod val="65000"/>
                        <a:lumOff val="35000"/>
                      </a:prstClr>
                    </a:solidFill>
                    <a:effectLst/>
                    <a:uLnTx/>
                    <a:uFillTx/>
                    <a:latin typeface="Yekan Bakh" pitchFamily="2" charset="-78"/>
                    <a:ea typeface="Yekan Bakh" pitchFamily="2" charset="-78"/>
                    <a:cs typeface="Yekan Bakh" pitchFamily="2" charset="-78"/>
                  </a:rPr>
                  <a:t>مصرف</a:t>
                </a:r>
                <a:r>
                  <a:rPr kumimoji="0" lang="en-US" sz="800" b="1"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 </a:t>
                </a:r>
                <a:r>
                  <a:rPr kumimoji="0" lang="en-US" sz="800" b="1" i="0" u="none" strike="noStrike" kern="1200" cap="none" spc="0" normalizeH="0" baseline="0" noProof="0" dirty="0" err="1">
                    <a:ln>
                      <a:noFill/>
                    </a:ln>
                    <a:solidFill>
                      <a:prstClr val="black">
                        <a:lumMod val="65000"/>
                        <a:lumOff val="35000"/>
                      </a:prstClr>
                    </a:solidFill>
                    <a:effectLst/>
                    <a:uLnTx/>
                    <a:uFillTx/>
                    <a:latin typeface="Yekan Bakh" pitchFamily="2" charset="-78"/>
                    <a:ea typeface="Yekan Bakh" pitchFamily="2" charset="-78"/>
                    <a:cs typeface="Yekan Bakh" pitchFamily="2" charset="-78"/>
                  </a:rPr>
                  <a:t>زمان</a:t>
                </a:r>
                <a:r>
                  <a:rPr kumimoji="0" lang="fa-IR" sz="800" b="1"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a:t>
                </a:r>
                <a:r>
                  <a:rPr kumimoji="0" lang="en-US" sz="8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 </a:t>
                </a:r>
                <a:r>
                  <a:rPr kumimoji="0" lang="fa-IR" sz="8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کم و اپیزودیک</a:t>
                </a:r>
              </a:p>
              <a:p>
                <a:pPr marL="0" marR="0" lvl="0" indent="0" algn="r" defTabSz="457200" rtl="1"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err="1">
                    <a:ln>
                      <a:noFill/>
                    </a:ln>
                    <a:solidFill>
                      <a:prstClr val="black">
                        <a:lumMod val="65000"/>
                        <a:lumOff val="35000"/>
                      </a:prstClr>
                    </a:solidFill>
                    <a:effectLst/>
                    <a:uLnTx/>
                    <a:uFillTx/>
                    <a:latin typeface="Yekan Bakh" pitchFamily="2" charset="-78"/>
                    <a:ea typeface="Yekan Bakh" pitchFamily="2" charset="-78"/>
                    <a:cs typeface="Yekan Bakh" pitchFamily="2" charset="-78"/>
                  </a:rPr>
                  <a:t>فرسایش</a:t>
                </a:r>
                <a:r>
                  <a:rPr kumimoji="0" lang="en-US" sz="800" b="1"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a:t>
                </a:r>
                <a:r>
                  <a:rPr kumimoji="0" lang="fa-IR" sz="800" b="1"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 </a:t>
                </a:r>
                <a:r>
                  <a:rPr kumimoji="0" lang="fa-IR" sz="8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متوسط (خستگی شبکه)</a:t>
                </a:r>
                <a:endParaRPr kumimoji="0" lang="en-US" sz="8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endParaRPr>
              </a:p>
            </p:txBody>
          </p:sp>
        </p:grpSp>
        <p:grpSp>
          <p:nvGrpSpPr>
            <p:cNvPr id="32" name="Group 31">
              <a:extLst>
                <a:ext uri="{FF2B5EF4-FFF2-40B4-BE49-F238E27FC236}">
                  <a16:creationId xmlns:a16="http://schemas.microsoft.com/office/drawing/2014/main" id="{79C28870-3AE6-1365-5E8A-C7D42AC3D805}"/>
                </a:ext>
              </a:extLst>
            </p:cNvPr>
            <p:cNvGrpSpPr/>
            <p:nvPr/>
          </p:nvGrpSpPr>
          <p:grpSpPr>
            <a:xfrm>
              <a:off x="533440" y="2053928"/>
              <a:ext cx="3286117" cy="1638557"/>
              <a:chOff x="7957457" y="2046514"/>
              <a:chExt cx="3286117" cy="1638557"/>
            </a:xfrm>
          </p:grpSpPr>
          <p:grpSp>
            <p:nvGrpSpPr>
              <p:cNvPr id="33" name="Group 32">
                <a:extLst>
                  <a:ext uri="{FF2B5EF4-FFF2-40B4-BE49-F238E27FC236}">
                    <a16:creationId xmlns:a16="http://schemas.microsoft.com/office/drawing/2014/main" id="{95572F47-902C-3F65-BBC3-2E800C8E5A17}"/>
                  </a:ext>
                </a:extLst>
              </p:cNvPr>
              <p:cNvGrpSpPr/>
              <p:nvPr/>
            </p:nvGrpSpPr>
            <p:grpSpPr>
              <a:xfrm>
                <a:off x="7957458" y="2046514"/>
                <a:ext cx="3286116" cy="1638557"/>
                <a:chOff x="7957458" y="2046514"/>
                <a:chExt cx="3286116" cy="1245167"/>
              </a:xfrm>
            </p:grpSpPr>
            <p:grpSp>
              <p:nvGrpSpPr>
                <p:cNvPr id="35" name="Group 34">
                  <a:extLst>
                    <a:ext uri="{FF2B5EF4-FFF2-40B4-BE49-F238E27FC236}">
                      <a16:creationId xmlns:a16="http://schemas.microsoft.com/office/drawing/2014/main" id="{974ECC98-368E-3673-359B-BB6F43E9C1D8}"/>
                    </a:ext>
                  </a:extLst>
                </p:cNvPr>
                <p:cNvGrpSpPr/>
                <p:nvPr/>
              </p:nvGrpSpPr>
              <p:grpSpPr>
                <a:xfrm rot="16200000" flipH="1">
                  <a:off x="9061384" y="1079664"/>
                  <a:ext cx="1078263" cy="3286115"/>
                  <a:chOff x="1" y="-175098"/>
                  <a:chExt cx="4551349" cy="6758461"/>
                </a:xfrm>
              </p:grpSpPr>
              <p:sp>
                <p:nvSpPr>
                  <p:cNvPr id="37" name="Freeform 8">
                    <a:extLst>
                      <a:ext uri="{FF2B5EF4-FFF2-40B4-BE49-F238E27FC236}">
                        <a16:creationId xmlns:a16="http://schemas.microsoft.com/office/drawing/2014/main" id="{89F8CB60-EC3E-0971-F379-2AE4A7F29D40}"/>
                      </a:ext>
                    </a:extLst>
                  </p:cNvPr>
                  <p:cNvSpPr>
                    <a:spLocks/>
                  </p:cNvSpPr>
                  <p:nvPr/>
                </p:nvSpPr>
                <p:spPr bwMode="auto">
                  <a:xfrm>
                    <a:off x="1" y="-175098"/>
                    <a:ext cx="4551349" cy="6758461"/>
                  </a:xfrm>
                  <a:custGeom>
                    <a:avLst/>
                    <a:gdLst>
                      <a:gd name="T0" fmla="*/ 29066 w 30070"/>
                      <a:gd name="T1" fmla="*/ 3476 h 25517"/>
                      <a:gd name="T2" fmla="*/ 28066 w 30070"/>
                      <a:gd name="T3" fmla="*/ 5139 h 25517"/>
                      <a:gd name="T4" fmla="*/ 26800 w 30070"/>
                      <a:gd name="T5" fmla="*/ 6470 h 25517"/>
                      <a:gd name="T6" fmla="*/ 25268 w 30070"/>
                      <a:gd name="T7" fmla="*/ 7464 h 25517"/>
                      <a:gd name="T8" fmla="*/ 22959 w 30070"/>
                      <a:gd name="T9" fmla="*/ 8253 h 25517"/>
                      <a:gd name="T10" fmla="*/ 18974 w 30070"/>
                      <a:gd name="T11" fmla="*/ 8616 h 25517"/>
                      <a:gd name="T12" fmla="*/ 13442 w 30070"/>
                      <a:gd name="T13" fmla="*/ 8476 h 25517"/>
                      <a:gd name="T14" fmla="*/ 10755 w 30070"/>
                      <a:gd name="T15" fmla="*/ 8794 h 25517"/>
                      <a:gd name="T16" fmla="*/ 9204 w 30070"/>
                      <a:gd name="T17" fmla="*/ 9363 h 25517"/>
                      <a:gd name="T18" fmla="*/ 8000 w 30070"/>
                      <a:gd name="T19" fmla="*/ 10363 h 25517"/>
                      <a:gd name="T20" fmla="*/ 7718 w 30070"/>
                      <a:gd name="T21" fmla="*/ 11592 h 25517"/>
                      <a:gd name="T22" fmla="*/ 8210 w 30070"/>
                      <a:gd name="T23" fmla="*/ 12550 h 25517"/>
                      <a:gd name="T24" fmla="*/ 9282 w 30070"/>
                      <a:gd name="T25" fmla="*/ 13168 h 25517"/>
                      <a:gd name="T26" fmla="*/ 10909 w 30070"/>
                      <a:gd name="T27" fmla="*/ 13386 h 25517"/>
                      <a:gd name="T28" fmla="*/ 13641 w 30070"/>
                      <a:gd name="T29" fmla="*/ 12976 h 25517"/>
                      <a:gd name="T30" fmla="*/ 17987 w 30070"/>
                      <a:gd name="T31" fmla="*/ 11670 h 25517"/>
                      <a:gd name="T32" fmla="*/ 20239 w 30070"/>
                      <a:gd name="T33" fmla="*/ 11407 h 25517"/>
                      <a:gd name="T34" fmla="*/ 22752 w 30070"/>
                      <a:gd name="T35" fmla="*/ 12048 h 25517"/>
                      <a:gd name="T36" fmla="*/ 24667 w 30070"/>
                      <a:gd name="T37" fmla="*/ 13615 h 25517"/>
                      <a:gd name="T38" fmla="*/ 25582 w 30070"/>
                      <a:gd name="T39" fmla="*/ 15314 h 25517"/>
                      <a:gd name="T40" fmla="*/ 25771 w 30070"/>
                      <a:gd name="T41" fmla="*/ 16655 h 25517"/>
                      <a:gd name="T42" fmla="*/ 25547 w 30070"/>
                      <a:gd name="T43" fmla="*/ 18062 h 25517"/>
                      <a:gd name="T44" fmla="*/ 24345 w 30070"/>
                      <a:gd name="T45" fmla="*/ 20267 h 25517"/>
                      <a:gd name="T46" fmla="*/ 22545 w 30070"/>
                      <a:gd name="T47" fmla="*/ 21826 h 25517"/>
                      <a:gd name="T48" fmla="*/ 20527 w 30070"/>
                      <a:gd name="T49" fmla="*/ 22663 h 25517"/>
                      <a:gd name="T50" fmla="*/ 18121 w 30070"/>
                      <a:gd name="T51" fmla="*/ 22954 h 25517"/>
                      <a:gd name="T52" fmla="*/ 14451 w 30070"/>
                      <a:gd name="T53" fmla="*/ 22560 h 25517"/>
                      <a:gd name="T54" fmla="*/ 8798 w 30070"/>
                      <a:gd name="T55" fmla="*/ 21275 h 25517"/>
                      <a:gd name="T56" fmla="*/ 6225 w 30070"/>
                      <a:gd name="T57" fmla="*/ 21083 h 25517"/>
                      <a:gd name="T58" fmla="*/ 4324 w 30070"/>
                      <a:gd name="T59" fmla="*/ 21545 h 25517"/>
                      <a:gd name="T60" fmla="*/ 3165 w 30070"/>
                      <a:gd name="T61" fmla="*/ 22669 h 25517"/>
                      <a:gd name="T62" fmla="*/ 2575 w 30070"/>
                      <a:gd name="T63" fmla="*/ 24340 h 25517"/>
                      <a:gd name="T64" fmla="*/ 18 w 30070"/>
                      <a:gd name="T65" fmla="*/ 24993 h 25517"/>
                      <a:gd name="T66" fmla="*/ 546 w 30070"/>
                      <a:gd name="T67" fmla="*/ 22604 h 25517"/>
                      <a:gd name="T68" fmla="*/ 2082 w 30070"/>
                      <a:gd name="T69" fmla="*/ 20445 h 25517"/>
                      <a:gd name="T70" fmla="*/ 4559 w 30070"/>
                      <a:gd name="T71" fmla="*/ 19278 h 25517"/>
                      <a:gd name="T72" fmla="*/ 7765 w 30070"/>
                      <a:gd name="T73" fmla="*/ 19097 h 25517"/>
                      <a:gd name="T74" fmla="*/ 12609 w 30070"/>
                      <a:gd name="T75" fmla="*/ 20050 h 25517"/>
                      <a:gd name="T76" fmla="*/ 17389 w 30070"/>
                      <a:gd name="T77" fmla="*/ 20918 h 25517"/>
                      <a:gd name="T78" fmla="*/ 19470 w 30070"/>
                      <a:gd name="T79" fmla="*/ 20799 h 25517"/>
                      <a:gd name="T80" fmla="*/ 20879 w 30070"/>
                      <a:gd name="T81" fmla="*/ 20309 h 25517"/>
                      <a:gd name="T82" fmla="*/ 22060 w 30070"/>
                      <a:gd name="T83" fmla="*/ 19407 h 25517"/>
                      <a:gd name="T84" fmla="*/ 23078 w 30070"/>
                      <a:gd name="T85" fmla="*/ 17790 h 25517"/>
                      <a:gd name="T86" fmla="*/ 23233 w 30070"/>
                      <a:gd name="T87" fmla="*/ 15966 h 25517"/>
                      <a:gd name="T88" fmla="*/ 22584 w 30070"/>
                      <a:gd name="T89" fmla="*/ 14708 h 25517"/>
                      <a:gd name="T90" fmla="*/ 21438 w 30070"/>
                      <a:gd name="T91" fmla="*/ 13761 h 25517"/>
                      <a:gd name="T92" fmla="*/ 19886 w 30070"/>
                      <a:gd name="T93" fmla="*/ 13424 h 25517"/>
                      <a:gd name="T94" fmla="*/ 17425 w 30070"/>
                      <a:gd name="T95" fmla="*/ 13964 h 25517"/>
                      <a:gd name="T96" fmla="*/ 12814 w 30070"/>
                      <a:gd name="T97" fmla="*/ 15242 h 25517"/>
                      <a:gd name="T98" fmla="*/ 10450 w 30070"/>
                      <a:gd name="T99" fmla="*/ 15396 h 25517"/>
                      <a:gd name="T100" fmla="*/ 7847 w 30070"/>
                      <a:gd name="T101" fmla="*/ 14851 h 25517"/>
                      <a:gd name="T102" fmla="*/ 5965 w 30070"/>
                      <a:gd name="T103" fmla="*/ 13451 h 25517"/>
                      <a:gd name="T104" fmla="*/ 5231 w 30070"/>
                      <a:gd name="T105" fmla="*/ 11431 h 25517"/>
                      <a:gd name="T106" fmla="*/ 5424 w 30070"/>
                      <a:gd name="T107" fmla="*/ 10189 h 25517"/>
                      <a:gd name="T108" fmla="*/ 6070 w 30070"/>
                      <a:gd name="T109" fmla="*/ 9077 h 25517"/>
                      <a:gd name="T110" fmla="*/ 7318 w 30070"/>
                      <a:gd name="T111" fmla="*/ 7986 h 25517"/>
                      <a:gd name="T112" fmla="*/ 9827 w 30070"/>
                      <a:gd name="T113" fmla="*/ 6914 h 25517"/>
                      <a:gd name="T114" fmla="*/ 12889 w 30070"/>
                      <a:gd name="T115" fmla="*/ 6476 h 25517"/>
                      <a:gd name="T116" fmla="*/ 18534 w 30070"/>
                      <a:gd name="T117" fmla="*/ 6591 h 25517"/>
                      <a:gd name="T118" fmla="*/ 21917 w 30070"/>
                      <a:gd name="T119" fmla="*/ 6384 h 25517"/>
                      <a:gd name="T120" fmla="*/ 24474 w 30070"/>
                      <a:gd name="T121" fmla="*/ 5468 h 25517"/>
                      <a:gd name="T122" fmla="*/ 26398 w 30070"/>
                      <a:gd name="T123" fmla="*/ 3461 h 25517"/>
                      <a:gd name="T124" fmla="*/ 27570 w 30070"/>
                      <a:gd name="T125" fmla="*/ 304 h 25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0070" h="25517">
                        <a:moveTo>
                          <a:pt x="27633" y="0"/>
                        </a:moveTo>
                        <a:lnTo>
                          <a:pt x="30070" y="316"/>
                        </a:lnTo>
                        <a:lnTo>
                          <a:pt x="30070" y="316"/>
                        </a:lnTo>
                        <a:lnTo>
                          <a:pt x="30032" y="501"/>
                        </a:lnTo>
                        <a:lnTo>
                          <a:pt x="29994" y="684"/>
                        </a:lnTo>
                        <a:lnTo>
                          <a:pt x="29953" y="865"/>
                        </a:lnTo>
                        <a:lnTo>
                          <a:pt x="29911" y="1044"/>
                        </a:lnTo>
                        <a:lnTo>
                          <a:pt x="29866" y="1220"/>
                        </a:lnTo>
                        <a:lnTo>
                          <a:pt x="29820" y="1395"/>
                        </a:lnTo>
                        <a:lnTo>
                          <a:pt x="29773" y="1568"/>
                        </a:lnTo>
                        <a:lnTo>
                          <a:pt x="29724" y="1738"/>
                        </a:lnTo>
                        <a:lnTo>
                          <a:pt x="29672" y="1907"/>
                        </a:lnTo>
                        <a:lnTo>
                          <a:pt x="29620" y="2073"/>
                        </a:lnTo>
                        <a:lnTo>
                          <a:pt x="29565" y="2237"/>
                        </a:lnTo>
                        <a:lnTo>
                          <a:pt x="29508" y="2400"/>
                        </a:lnTo>
                        <a:lnTo>
                          <a:pt x="29451" y="2560"/>
                        </a:lnTo>
                        <a:lnTo>
                          <a:pt x="29391" y="2718"/>
                        </a:lnTo>
                        <a:lnTo>
                          <a:pt x="29329" y="2874"/>
                        </a:lnTo>
                        <a:lnTo>
                          <a:pt x="29266" y="3027"/>
                        </a:lnTo>
                        <a:lnTo>
                          <a:pt x="29234" y="3103"/>
                        </a:lnTo>
                        <a:lnTo>
                          <a:pt x="29202" y="3179"/>
                        </a:lnTo>
                        <a:lnTo>
                          <a:pt x="29168" y="3254"/>
                        </a:lnTo>
                        <a:lnTo>
                          <a:pt x="29134" y="3329"/>
                        </a:lnTo>
                        <a:lnTo>
                          <a:pt x="29101" y="3402"/>
                        </a:lnTo>
                        <a:lnTo>
                          <a:pt x="29066" y="3476"/>
                        </a:lnTo>
                        <a:lnTo>
                          <a:pt x="29032" y="3549"/>
                        </a:lnTo>
                        <a:lnTo>
                          <a:pt x="28996" y="3621"/>
                        </a:lnTo>
                        <a:lnTo>
                          <a:pt x="28960" y="3693"/>
                        </a:lnTo>
                        <a:lnTo>
                          <a:pt x="28924" y="3764"/>
                        </a:lnTo>
                        <a:lnTo>
                          <a:pt x="28888" y="3835"/>
                        </a:lnTo>
                        <a:lnTo>
                          <a:pt x="28851" y="3905"/>
                        </a:lnTo>
                        <a:lnTo>
                          <a:pt x="28813" y="3976"/>
                        </a:lnTo>
                        <a:lnTo>
                          <a:pt x="28775" y="4044"/>
                        </a:lnTo>
                        <a:lnTo>
                          <a:pt x="28737" y="4113"/>
                        </a:lnTo>
                        <a:lnTo>
                          <a:pt x="28699" y="4181"/>
                        </a:lnTo>
                        <a:lnTo>
                          <a:pt x="28660" y="4249"/>
                        </a:lnTo>
                        <a:lnTo>
                          <a:pt x="28619" y="4316"/>
                        </a:lnTo>
                        <a:lnTo>
                          <a:pt x="28580" y="4382"/>
                        </a:lnTo>
                        <a:lnTo>
                          <a:pt x="28539" y="4448"/>
                        </a:lnTo>
                        <a:lnTo>
                          <a:pt x="28499" y="4514"/>
                        </a:lnTo>
                        <a:lnTo>
                          <a:pt x="28457" y="4579"/>
                        </a:lnTo>
                        <a:lnTo>
                          <a:pt x="28415" y="4643"/>
                        </a:lnTo>
                        <a:lnTo>
                          <a:pt x="28373" y="4707"/>
                        </a:lnTo>
                        <a:lnTo>
                          <a:pt x="28331" y="4770"/>
                        </a:lnTo>
                        <a:lnTo>
                          <a:pt x="28287" y="4834"/>
                        </a:lnTo>
                        <a:lnTo>
                          <a:pt x="28244" y="4896"/>
                        </a:lnTo>
                        <a:lnTo>
                          <a:pt x="28200" y="4957"/>
                        </a:lnTo>
                        <a:lnTo>
                          <a:pt x="28156" y="5019"/>
                        </a:lnTo>
                        <a:lnTo>
                          <a:pt x="28111" y="5079"/>
                        </a:lnTo>
                        <a:lnTo>
                          <a:pt x="28066" y="5139"/>
                        </a:lnTo>
                        <a:lnTo>
                          <a:pt x="28021" y="5199"/>
                        </a:lnTo>
                        <a:lnTo>
                          <a:pt x="27975" y="5258"/>
                        </a:lnTo>
                        <a:lnTo>
                          <a:pt x="27928" y="5316"/>
                        </a:lnTo>
                        <a:lnTo>
                          <a:pt x="27881" y="5375"/>
                        </a:lnTo>
                        <a:lnTo>
                          <a:pt x="27834" y="5432"/>
                        </a:lnTo>
                        <a:lnTo>
                          <a:pt x="27787" y="5489"/>
                        </a:lnTo>
                        <a:lnTo>
                          <a:pt x="27738" y="5546"/>
                        </a:lnTo>
                        <a:lnTo>
                          <a:pt x="27690" y="5602"/>
                        </a:lnTo>
                        <a:lnTo>
                          <a:pt x="27641" y="5657"/>
                        </a:lnTo>
                        <a:lnTo>
                          <a:pt x="27591" y="5712"/>
                        </a:lnTo>
                        <a:lnTo>
                          <a:pt x="27541" y="5766"/>
                        </a:lnTo>
                        <a:lnTo>
                          <a:pt x="27491" y="5820"/>
                        </a:lnTo>
                        <a:lnTo>
                          <a:pt x="27441" y="5873"/>
                        </a:lnTo>
                        <a:lnTo>
                          <a:pt x="27389" y="5926"/>
                        </a:lnTo>
                        <a:lnTo>
                          <a:pt x="27338" y="5978"/>
                        </a:lnTo>
                        <a:lnTo>
                          <a:pt x="27286" y="6030"/>
                        </a:lnTo>
                        <a:lnTo>
                          <a:pt x="27233" y="6081"/>
                        </a:lnTo>
                        <a:lnTo>
                          <a:pt x="27181" y="6131"/>
                        </a:lnTo>
                        <a:lnTo>
                          <a:pt x="27128" y="6182"/>
                        </a:lnTo>
                        <a:lnTo>
                          <a:pt x="27075" y="6231"/>
                        </a:lnTo>
                        <a:lnTo>
                          <a:pt x="27020" y="6280"/>
                        </a:lnTo>
                        <a:lnTo>
                          <a:pt x="26966" y="6328"/>
                        </a:lnTo>
                        <a:lnTo>
                          <a:pt x="26911" y="6376"/>
                        </a:lnTo>
                        <a:lnTo>
                          <a:pt x="26855" y="6423"/>
                        </a:lnTo>
                        <a:lnTo>
                          <a:pt x="26800" y="6470"/>
                        </a:lnTo>
                        <a:lnTo>
                          <a:pt x="26744" y="6517"/>
                        </a:lnTo>
                        <a:lnTo>
                          <a:pt x="26686" y="6562"/>
                        </a:lnTo>
                        <a:lnTo>
                          <a:pt x="26630" y="6607"/>
                        </a:lnTo>
                        <a:lnTo>
                          <a:pt x="26573" y="6651"/>
                        </a:lnTo>
                        <a:lnTo>
                          <a:pt x="26514" y="6696"/>
                        </a:lnTo>
                        <a:lnTo>
                          <a:pt x="26456" y="6740"/>
                        </a:lnTo>
                        <a:lnTo>
                          <a:pt x="26398" y="6782"/>
                        </a:lnTo>
                        <a:lnTo>
                          <a:pt x="26338" y="6824"/>
                        </a:lnTo>
                        <a:lnTo>
                          <a:pt x="26279" y="6867"/>
                        </a:lnTo>
                        <a:lnTo>
                          <a:pt x="26219" y="6908"/>
                        </a:lnTo>
                        <a:lnTo>
                          <a:pt x="26158" y="6949"/>
                        </a:lnTo>
                        <a:lnTo>
                          <a:pt x="26097" y="6989"/>
                        </a:lnTo>
                        <a:lnTo>
                          <a:pt x="26037" y="7030"/>
                        </a:lnTo>
                        <a:lnTo>
                          <a:pt x="25974" y="7069"/>
                        </a:lnTo>
                        <a:lnTo>
                          <a:pt x="25913" y="7107"/>
                        </a:lnTo>
                        <a:lnTo>
                          <a:pt x="25850" y="7145"/>
                        </a:lnTo>
                        <a:lnTo>
                          <a:pt x="25787" y="7183"/>
                        </a:lnTo>
                        <a:lnTo>
                          <a:pt x="25724" y="7220"/>
                        </a:lnTo>
                        <a:lnTo>
                          <a:pt x="25659" y="7256"/>
                        </a:lnTo>
                        <a:lnTo>
                          <a:pt x="25596" y="7292"/>
                        </a:lnTo>
                        <a:lnTo>
                          <a:pt x="25531" y="7327"/>
                        </a:lnTo>
                        <a:lnTo>
                          <a:pt x="25466" y="7363"/>
                        </a:lnTo>
                        <a:lnTo>
                          <a:pt x="25401" y="7397"/>
                        </a:lnTo>
                        <a:lnTo>
                          <a:pt x="25335" y="7431"/>
                        </a:lnTo>
                        <a:lnTo>
                          <a:pt x="25268" y="7464"/>
                        </a:lnTo>
                        <a:lnTo>
                          <a:pt x="25202" y="7496"/>
                        </a:lnTo>
                        <a:lnTo>
                          <a:pt x="25134" y="7529"/>
                        </a:lnTo>
                        <a:lnTo>
                          <a:pt x="25067" y="7561"/>
                        </a:lnTo>
                        <a:lnTo>
                          <a:pt x="24999" y="7592"/>
                        </a:lnTo>
                        <a:lnTo>
                          <a:pt x="24930" y="7622"/>
                        </a:lnTo>
                        <a:lnTo>
                          <a:pt x="24862" y="7652"/>
                        </a:lnTo>
                        <a:lnTo>
                          <a:pt x="24793" y="7681"/>
                        </a:lnTo>
                        <a:lnTo>
                          <a:pt x="24723" y="7711"/>
                        </a:lnTo>
                        <a:lnTo>
                          <a:pt x="24653" y="7739"/>
                        </a:lnTo>
                        <a:lnTo>
                          <a:pt x="24582" y="7767"/>
                        </a:lnTo>
                        <a:lnTo>
                          <a:pt x="24512" y="7794"/>
                        </a:lnTo>
                        <a:lnTo>
                          <a:pt x="24441" y="7821"/>
                        </a:lnTo>
                        <a:lnTo>
                          <a:pt x="24368" y="7847"/>
                        </a:lnTo>
                        <a:lnTo>
                          <a:pt x="24297" y="7873"/>
                        </a:lnTo>
                        <a:lnTo>
                          <a:pt x="24223" y="7898"/>
                        </a:lnTo>
                        <a:lnTo>
                          <a:pt x="24223" y="7898"/>
                        </a:lnTo>
                        <a:lnTo>
                          <a:pt x="24087" y="7944"/>
                        </a:lnTo>
                        <a:lnTo>
                          <a:pt x="23949" y="7987"/>
                        </a:lnTo>
                        <a:lnTo>
                          <a:pt x="23811" y="8031"/>
                        </a:lnTo>
                        <a:lnTo>
                          <a:pt x="23671" y="8072"/>
                        </a:lnTo>
                        <a:lnTo>
                          <a:pt x="23531" y="8111"/>
                        </a:lnTo>
                        <a:lnTo>
                          <a:pt x="23390" y="8148"/>
                        </a:lnTo>
                        <a:lnTo>
                          <a:pt x="23248" y="8184"/>
                        </a:lnTo>
                        <a:lnTo>
                          <a:pt x="23104" y="8220"/>
                        </a:lnTo>
                        <a:lnTo>
                          <a:pt x="22959" y="8253"/>
                        </a:lnTo>
                        <a:lnTo>
                          <a:pt x="22813" y="8284"/>
                        </a:lnTo>
                        <a:lnTo>
                          <a:pt x="22666" y="8314"/>
                        </a:lnTo>
                        <a:lnTo>
                          <a:pt x="22518" y="8343"/>
                        </a:lnTo>
                        <a:lnTo>
                          <a:pt x="22368" y="8371"/>
                        </a:lnTo>
                        <a:lnTo>
                          <a:pt x="22216" y="8397"/>
                        </a:lnTo>
                        <a:lnTo>
                          <a:pt x="22062" y="8421"/>
                        </a:lnTo>
                        <a:lnTo>
                          <a:pt x="21907" y="8443"/>
                        </a:lnTo>
                        <a:lnTo>
                          <a:pt x="21750" y="8464"/>
                        </a:lnTo>
                        <a:lnTo>
                          <a:pt x="21591" y="8484"/>
                        </a:lnTo>
                        <a:lnTo>
                          <a:pt x="21431" y="8502"/>
                        </a:lnTo>
                        <a:lnTo>
                          <a:pt x="21268" y="8519"/>
                        </a:lnTo>
                        <a:lnTo>
                          <a:pt x="21104" y="8536"/>
                        </a:lnTo>
                        <a:lnTo>
                          <a:pt x="20937" y="8550"/>
                        </a:lnTo>
                        <a:lnTo>
                          <a:pt x="20768" y="8563"/>
                        </a:lnTo>
                        <a:lnTo>
                          <a:pt x="20597" y="8574"/>
                        </a:lnTo>
                        <a:lnTo>
                          <a:pt x="20424" y="8584"/>
                        </a:lnTo>
                        <a:lnTo>
                          <a:pt x="20248" y="8593"/>
                        </a:lnTo>
                        <a:lnTo>
                          <a:pt x="20069" y="8600"/>
                        </a:lnTo>
                        <a:lnTo>
                          <a:pt x="19888" y="8606"/>
                        </a:lnTo>
                        <a:lnTo>
                          <a:pt x="19705" y="8610"/>
                        </a:lnTo>
                        <a:lnTo>
                          <a:pt x="19519" y="8614"/>
                        </a:lnTo>
                        <a:lnTo>
                          <a:pt x="19329" y="8615"/>
                        </a:lnTo>
                        <a:lnTo>
                          <a:pt x="19137" y="8616"/>
                        </a:lnTo>
                        <a:lnTo>
                          <a:pt x="19137" y="8616"/>
                        </a:lnTo>
                        <a:lnTo>
                          <a:pt x="18974" y="8616"/>
                        </a:lnTo>
                        <a:lnTo>
                          <a:pt x="18811" y="8614"/>
                        </a:lnTo>
                        <a:lnTo>
                          <a:pt x="18648" y="8612"/>
                        </a:lnTo>
                        <a:lnTo>
                          <a:pt x="18485" y="8610"/>
                        </a:lnTo>
                        <a:lnTo>
                          <a:pt x="18322" y="8606"/>
                        </a:lnTo>
                        <a:lnTo>
                          <a:pt x="18159" y="8602"/>
                        </a:lnTo>
                        <a:lnTo>
                          <a:pt x="17834" y="8592"/>
                        </a:lnTo>
                        <a:lnTo>
                          <a:pt x="17509" y="8581"/>
                        </a:lnTo>
                        <a:lnTo>
                          <a:pt x="17186" y="8568"/>
                        </a:lnTo>
                        <a:lnTo>
                          <a:pt x="16548" y="8541"/>
                        </a:lnTo>
                        <a:lnTo>
                          <a:pt x="16548" y="8541"/>
                        </a:lnTo>
                        <a:lnTo>
                          <a:pt x="15914" y="8513"/>
                        </a:lnTo>
                        <a:lnTo>
                          <a:pt x="15603" y="8500"/>
                        </a:lnTo>
                        <a:lnTo>
                          <a:pt x="15295" y="8489"/>
                        </a:lnTo>
                        <a:lnTo>
                          <a:pt x="14990" y="8480"/>
                        </a:lnTo>
                        <a:lnTo>
                          <a:pt x="14686" y="8473"/>
                        </a:lnTo>
                        <a:lnTo>
                          <a:pt x="14534" y="8471"/>
                        </a:lnTo>
                        <a:lnTo>
                          <a:pt x="14383" y="8469"/>
                        </a:lnTo>
                        <a:lnTo>
                          <a:pt x="14232" y="8468"/>
                        </a:lnTo>
                        <a:lnTo>
                          <a:pt x="14082" y="8467"/>
                        </a:lnTo>
                        <a:lnTo>
                          <a:pt x="14082" y="8467"/>
                        </a:lnTo>
                        <a:lnTo>
                          <a:pt x="13951" y="8467"/>
                        </a:lnTo>
                        <a:lnTo>
                          <a:pt x="13821" y="8468"/>
                        </a:lnTo>
                        <a:lnTo>
                          <a:pt x="13692" y="8470"/>
                        </a:lnTo>
                        <a:lnTo>
                          <a:pt x="13567" y="8473"/>
                        </a:lnTo>
                        <a:lnTo>
                          <a:pt x="13442" y="8476"/>
                        </a:lnTo>
                        <a:lnTo>
                          <a:pt x="13318" y="8480"/>
                        </a:lnTo>
                        <a:lnTo>
                          <a:pt x="13196" y="8484"/>
                        </a:lnTo>
                        <a:lnTo>
                          <a:pt x="13077" y="8489"/>
                        </a:lnTo>
                        <a:lnTo>
                          <a:pt x="12958" y="8495"/>
                        </a:lnTo>
                        <a:lnTo>
                          <a:pt x="12840" y="8502"/>
                        </a:lnTo>
                        <a:lnTo>
                          <a:pt x="12725" y="8510"/>
                        </a:lnTo>
                        <a:lnTo>
                          <a:pt x="12610" y="8518"/>
                        </a:lnTo>
                        <a:lnTo>
                          <a:pt x="12498" y="8527"/>
                        </a:lnTo>
                        <a:lnTo>
                          <a:pt x="12386" y="8537"/>
                        </a:lnTo>
                        <a:lnTo>
                          <a:pt x="12275" y="8547"/>
                        </a:lnTo>
                        <a:lnTo>
                          <a:pt x="12167" y="8559"/>
                        </a:lnTo>
                        <a:lnTo>
                          <a:pt x="12058" y="8570"/>
                        </a:lnTo>
                        <a:lnTo>
                          <a:pt x="11951" y="8583"/>
                        </a:lnTo>
                        <a:lnTo>
                          <a:pt x="11846" y="8596"/>
                        </a:lnTo>
                        <a:lnTo>
                          <a:pt x="11741" y="8610"/>
                        </a:lnTo>
                        <a:lnTo>
                          <a:pt x="11639" y="8625"/>
                        </a:lnTo>
                        <a:lnTo>
                          <a:pt x="11536" y="8641"/>
                        </a:lnTo>
                        <a:lnTo>
                          <a:pt x="11435" y="8657"/>
                        </a:lnTo>
                        <a:lnTo>
                          <a:pt x="11335" y="8674"/>
                        </a:lnTo>
                        <a:lnTo>
                          <a:pt x="11236" y="8692"/>
                        </a:lnTo>
                        <a:lnTo>
                          <a:pt x="11138" y="8712"/>
                        </a:lnTo>
                        <a:lnTo>
                          <a:pt x="11040" y="8731"/>
                        </a:lnTo>
                        <a:lnTo>
                          <a:pt x="10945" y="8751"/>
                        </a:lnTo>
                        <a:lnTo>
                          <a:pt x="10849" y="8772"/>
                        </a:lnTo>
                        <a:lnTo>
                          <a:pt x="10755" y="8794"/>
                        </a:lnTo>
                        <a:lnTo>
                          <a:pt x="10661" y="8816"/>
                        </a:lnTo>
                        <a:lnTo>
                          <a:pt x="10568" y="8840"/>
                        </a:lnTo>
                        <a:lnTo>
                          <a:pt x="10568" y="8840"/>
                        </a:lnTo>
                        <a:lnTo>
                          <a:pt x="10506" y="8856"/>
                        </a:lnTo>
                        <a:lnTo>
                          <a:pt x="10444" y="8874"/>
                        </a:lnTo>
                        <a:lnTo>
                          <a:pt x="10381" y="8891"/>
                        </a:lnTo>
                        <a:lnTo>
                          <a:pt x="10319" y="8910"/>
                        </a:lnTo>
                        <a:lnTo>
                          <a:pt x="10257" y="8929"/>
                        </a:lnTo>
                        <a:lnTo>
                          <a:pt x="10194" y="8948"/>
                        </a:lnTo>
                        <a:lnTo>
                          <a:pt x="10131" y="8969"/>
                        </a:lnTo>
                        <a:lnTo>
                          <a:pt x="10068" y="8990"/>
                        </a:lnTo>
                        <a:lnTo>
                          <a:pt x="10005" y="9012"/>
                        </a:lnTo>
                        <a:lnTo>
                          <a:pt x="9942" y="9035"/>
                        </a:lnTo>
                        <a:lnTo>
                          <a:pt x="9880" y="9059"/>
                        </a:lnTo>
                        <a:lnTo>
                          <a:pt x="9816" y="9083"/>
                        </a:lnTo>
                        <a:lnTo>
                          <a:pt x="9754" y="9108"/>
                        </a:lnTo>
                        <a:lnTo>
                          <a:pt x="9692" y="9133"/>
                        </a:lnTo>
                        <a:lnTo>
                          <a:pt x="9629" y="9159"/>
                        </a:lnTo>
                        <a:lnTo>
                          <a:pt x="9568" y="9186"/>
                        </a:lnTo>
                        <a:lnTo>
                          <a:pt x="9506" y="9215"/>
                        </a:lnTo>
                        <a:lnTo>
                          <a:pt x="9445" y="9243"/>
                        </a:lnTo>
                        <a:lnTo>
                          <a:pt x="9384" y="9272"/>
                        </a:lnTo>
                        <a:lnTo>
                          <a:pt x="9323" y="9302"/>
                        </a:lnTo>
                        <a:lnTo>
                          <a:pt x="9263" y="9332"/>
                        </a:lnTo>
                        <a:lnTo>
                          <a:pt x="9204" y="9363"/>
                        </a:lnTo>
                        <a:lnTo>
                          <a:pt x="9145" y="9396"/>
                        </a:lnTo>
                        <a:lnTo>
                          <a:pt x="9087" y="9428"/>
                        </a:lnTo>
                        <a:lnTo>
                          <a:pt x="9029" y="9461"/>
                        </a:lnTo>
                        <a:lnTo>
                          <a:pt x="8972" y="9495"/>
                        </a:lnTo>
                        <a:lnTo>
                          <a:pt x="8916" y="9530"/>
                        </a:lnTo>
                        <a:lnTo>
                          <a:pt x="8861" y="9566"/>
                        </a:lnTo>
                        <a:lnTo>
                          <a:pt x="8805" y="9601"/>
                        </a:lnTo>
                        <a:lnTo>
                          <a:pt x="8751" y="9638"/>
                        </a:lnTo>
                        <a:lnTo>
                          <a:pt x="8699" y="9675"/>
                        </a:lnTo>
                        <a:lnTo>
                          <a:pt x="8647" y="9713"/>
                        </a:lnTo>
                        <a:lnTo>
                          <a:pt x="8595" y="9752"/>
                        </a:lnTo>
                        <a:lnTo>
                          <a:pt x="8545" y="9792"/>
                        </a:lnTo>
                        <a:lnTo>
                          <a:pt x="8496" y="9831"/>
                        </a:lnTo>
                        <a:lnTo>
                          <a:pt x="8447" y="9872"/>
                        </a:lnTo>
                        <a:lnTo>
                          <a:pt x="8400" y="9914"/>
                        </a:lnTo>
                        <a:lnTo>
                          <a:pt x="8355" y="9956"/>
                        </a:lnTo>
                        <a:lnTo>
                          <a:pt x="8310" y="9998"/>
                        </a:lnTo>
                        <a:lnTo>
                          <a:pt x="8266" y="10041"/>
                        </a:lnTo>
                        <a:lnTo>
                          <a:pt x="8224" y="10086"/>
                        </a:lnTo>
                        <a:lnTo>
                          <a:pt x="8184" y="10130"/>
                        </a:lnTo>
                        <a:lnTo>
                          <a:pt x="8144" y="10175"/>
                        </a:lnTo>
                        <a:lnTo>
                          <a:pt x="8106" y="10222"/>
                        </a:lnTo>
                        <a:lnTo>
                          <a:pt x="8069" y="10269"/>
                        </a:lnTo>
                        <a:lnTo>
                          <a:pt x="8034" y="10315"/>
                        </a:lnTo>
                        <a:lnTo>
                          <a:pt x="8000" y="10363"/>
                        </a:lnTo>
                        <a:lnTo>
                          <a:pt x="7968" y="10412"/>
                        </a:lnTo>
                        <a:lnTo>
                          <a:pt x="7938" y="10461"/>
                        </a:lnTo>
                        <a:lnTo>
                          <a:pt x="7908" y="10511"/>
                        </a:lnTo>
                        <a:lnTo>
                          <a:pt x="7881" y="10562"/>
                        </a:lnTo>
                        <a:lnTo>
                          <a:pt x="7855" y="10613"/>
                        </a:lnTo>
                        <a:lnTo>
                          <a:pt x="7832" y="10664"/>
                        </a:lnTo>
                        <a:lnTo>
                          <a:pt x="7810" y="10716"/>
                        </a:lnTo>
                        <a:lnTo>
                          <a:pt x="7790" y="10770"/>
                        </a:lnTo>
                        <a:lnTo>
                          <a:pt x="7771" y="10823"/>
                        </a:lnTo>
                        <a:lnTo>
                          <a:pt x="7755" y="10877"/>
                        </a:lnTo>
                        <a:lnTo>
                          <a:pt x="7740" y="10932"/>
                        </a:lnTo>
                        <a:lnTo>
                          <a:pt x="7727" y="10988"/>
                        </a:lnTo>
                        <a:lnTo>
                          <a:pt x="7717" y="11043"/>
                        </a:lnTo>
                        <a:lnTo>
                          <a:pt x="7708" y="11101"/>
                        </a:lnTo>
                        <a:lnTo>
                          <a:pt x="7702" y="11158"/>
                        </a:lnTo>
                        <a:lnTo>
                          <a:pt x="7698" y="11215"/>
                        </a:lnTo>
                        <a:lnTo>
                          <a:pt x="7696" y="11274"/>
                        </a:lnTo>
                        <a:lnTo>
                          <a:pt x="7696" y="11274"/>
                        </a:lnTo>
                        <a:lnTo>
                          <a:pt x="7696" y="11321"/>
                        </a:lnTo>
                        <a:lnTo>
                          <a:pt x="7697" y="11367"/>
                        </a:lnTo>
                        <a:lnTo>
                          <a:pt x="7699" y="11413"/>
                        </a:lnTo>
                        <a:lnTo>
                          <a:pt x="7702" y="11458"/>
                        </a:lnTo>
                        <a:lnTo>
                          <a:pt x="7706" y="11503"/>
                        </a:lnTo>
                        <a:lnTo>
                          <a:pt x="7712" y="11547"/>
                        </a:lnTo>
                        <a:lnTo>
                          <a:pt x="7718" y="11592"/>
                        </a:lnTo>
                        <a:lnTo>
                          <a:pt x="7725" y="11636"/>
                        </a:lnTo>
                        <a:lnTo>
                          <a:pt x="7734" y="11679"/>
                        </a:lnTo>
                        <a:lnTo>
                          <a:pt x="7743" y="11722"/>
                        </a:lnTo>
                        <a:lnTo>
                          <a:pt x="7755" y="11765"/>
                        </a:lnTo>
                        <a:lnTo>
                          <a:pt x="7767" y="11807"/>
                        </a:lnTo>
                        <a:lnTo>
                          <a:pt x="7779" y="11848"/>
                        </a:lnTo>
                        <a:lnTo>
                          <a:pt x="7793" y="11889"/>
                        </a:lnTo>
                        <a:lnTo>
                          <a:pt x="7808" y="11931"/>
                        </a:lnTo>
                        <a:lnTo>
                          <a:pt x="7823" y="11971"/>
                        </a:lnTo>
                        <a:lnTo>
                          <a:pt x="7840" y="12010"/>
                        </a:lnTo>
                        <a:lnTo>
                          <a:pt x="7858" y="12050"/>
                        </a:lnTo>
                        <a:lnTo>
                          <a:pt x="7876" y="12089"/>
                        </a:lnTo>
                        <a:lnTo>
                          <a:pt x="7896" y="12128"/>
                        </a:lnTo>
                        <a:lnTo>
                          <a:pt x="7917" y="12165"/>
                        </a:lnTo>
                        <a:lnTo>
                          <a:pt x="7940" y="12203"/>
                        </a:lnTo>
                        <a:lnTo>
                          <a:pt x="7962" y="12239"/>
                        </a:lnTo>
                        <a:lnTo>
                          <a:pt x="7986" y="12277"/>
                        </a:lnTo>
                        <a:lnTo>
                          <a:pt x="8010" y="12313"/>
                        </a:lnTo>
                        <a:lnTo>
                          <a:pt x="8036" y="12348"/>
                        </a:lnTo>
                        <a:lnTo>
                          <a:pt x="8062" y="12383"/>
                        </a:lnTo>
                        <a:lnTo>
                          <a:pt x="8090" y="12418"/>
                        </a:lnTo>
                        <a:lnTo>
                          <a:pt x="8119" y="12452"/>
                        </a:lnTo>
                        <a:lnTo>
                          <a:pt x="8149" y="12485"/>
                        </a:lnTo>
                        <a:lnTo>
                          <a:pt x="8179" y="12518"/>
                        </a:lnTo>
                        <a:lnTo>
                          <a:pt x="8210" y="12550"/>
                        </a:lnTo>
                        <a:lnTo>
                          <a:pt x="8242" y="12582"/>
                        </a:lnTo>
                        <a:lnTo>
                          <a:pt x="8275" y="12614"/>
                        </a:lnTo>
                        <a:lnTo>
                          <a:pt x="8310" y="12644"/>
                        </a:lnTo>
                        <a:lnTo>
                          <a:pt x="8345" y="12674"/>
                        </a:lnTo>
                        <a:lnTo>
                          <a:pt x="8381" y="12704"/>
                        </a:lnTo>
                        <a:lnTo>
                          <a:pt x="8418" y="12733"/>
                        </a:lnTo>
                        <a:lnTo>
                          <a:pt x="8455" y="12762"/>
                        </a:lnTo>
                        <a:lnTo>
                          <a:pt x="8495" y="12790"/>
                        </a:lnTo>
                        <a:lnTo>
                          <a:pt x="8534" y="12817"/>
                        </a:lnTo>
                        <a:lnTo>
                          <a:pt x="8574" y="12843"/>
                        </a:lnTo>
                        <a:lnTo>
                          <a:pt x="8615" y="12869"/>
                        </a:lnTo>
                        <a:lnTo>
                          <a:pt x="8658" y="12895"/>
                        </a:lnTo>
                        <a:lnTo>
                          <a:pt x="8701" y="12919"/>
                        </a:lnTo>
                        <a:lnTo>
                          <a:pt x="8744" y="12944"/>
                        </a:lnTo>
                        <a:lnTo>
                          <a:pt x="8789" y="12968"/>
                        </a:lnTo>
                        <a:lnTo>
                          <a:pt x="8835" y="12991"/>
                        </a:lnTo>
                        <a:lnTo>
                          <a:pt x="8881" y="13013"/>
                        </a:lnTo>
                        <a:lnTo>
                          <a:pt x="8928" y="13035"/>
                        </a:lnTo>
                        <a:lnTo>
                          <a:pt x="8976" y="13055"/>
                        </a:lnTo>
                        <a:lnTo>
                          <a:pt x="9026" y="13076"/>
                        </a:lnTo>
                        <a:lnTo>
                          <a:pt x="9075" y="13096"/>
                        </a:lnTo>
                        <a:lnTo>
                          <a:pt x="9126" y="13115"/>
                        </a:lnTo>
                        <a:lnTo>
                          <a:pt x="9178" y="13134"/>
                        </a:lnTo>
                        <a:lnTo>
                          <a:pt x="9229" y="13151"/>
                        </a:lnTo>
                        <a:lnTo>
                          <a:pt x="9282" y="13168"/>
                        </a:lnTo>
                        <a:lnTo>
                          <a:pt x="9336" y="13185"/>
                        </a:lnTo>
                        <a:lnTo>
                          <a:pt x="9391" y="13200"/>
                        </a:lnTo>
                        <a:lnTo>
                          <a:pt x="9446" y="13215"/>
                        </a:lnTo>
                        <a:lnTo>
                          <a:pt x="9501" y="13229"/>
                        </a:lnTo>
                        <a:lnTo>
                          <a:pt x="9559" y="13243"/>
                        </a:lnTo>
                        <a:lnTo>
                          <a:pt x="9616" y="13256"/>
                        </a:lnTo>
                        <a:lnTo>
                          <a:pt x="9674" y="13269"/>
                        </a:lnTo>
                        <a:lnTo>
                          <a:pt x="9674" y="13269"/>
                        </a:lnTo>
                        <a:lnTo>
                          <a:pt x="9748" y="13283"/>
                        </a:lnTo>
                        <a:lnTo>
                          <a:pt x="9822" y="13296"/>
                        </a:lnTo>
                        <a:lnTo>
                          <a:pt x="9897" y="13309"/>
                        </a:lnTo>
                        <a:lnTo>
                          <a:pt x="9971" y="13320"/>
                        </a:lnTo>
                        <a:lnTo>
                          <a:pt x="10048" y="13331"/>
                        </a:lnTo>
                        <a:lnTo>
                          <a:pt x="10123" y="13340"/>
                        </a:lnTo>
                        <a:lnTo>
                          <a:pt x="10199" y="13349"/>
                        </a:lnTo>
                        <a:lnTo>
                          <a:pt x="10277" y="13357"/>
                        </a:lnTo>
                        <a:lnTo>
                          <a:pt x="10354" y="13364"/>
                        </a:lnTo>
                        <a:lnTo>
                          <a:pt x="10433" y="13370"/>
                        </a:lnTo>
                        <a:lnTo>
                          <a:pt x="10511" y="13375"/>
                        </a:lnTo>
                        <a:lnTo>
                          <a:pt x="10590" y="13379"/>
                        </a:lnTo>
                        <a:lnTo>
                          <a:pt x="10669" y="13382"/>
                        </a:lnTo>
                        <a:lnTo>
                          <a:pt x="10749" y="13384"/>
                        </a:lnTo>
                        <a:lnTo>
                          <a:pt x="10829" y="13386"/>
                        </a:lnTo>
                        <a:lnTo>
                          <a:pt x="10909" y="13386"/>
                        </a:lnTo>
                        <a:lnTo>
                          <a:pt x="10909" y="13386"/>
                        </a:lnTo>
                        <a:lnTo>
                          <a:pt x="10985" y="13386"/>
                        </a:lnTo>
                        <a:lnTo>
                          <a:pt x="11059" y="13384"/>
                        </a:lnTo>
                        <a:lnTo>
                          <a:pt x="11135" y="13383"/>
                        </a:lnTo>
                        <a:lnTo>
                          <a:pt x="11210" y="13380"/>
                        </a:lnTo>
                        <a:lnTo>
                          <a:pt x="11286" y="13377"/>
                        </a:lnTo>
                        <a:lnTo>
                          <a:pt x="11361" y="13372"/>
                        </a:lnTo>
                        <a:lnTo>
                          <a:pt x="11436" y="13368"/>
                        </a:lnTo>
                        <a:lnTo>
                          <a:pt x="11512" y="13362"/>
                        </a:lnTo>
                        <a:lnTo>
                          <a:pt x="11587" y="13356"/>
                        </a:lnTo>
                        <a:lnTo>
                          <a:pt x="11663" y="13349"/>
                        </a:lnTo>
                        <a:lnTo>
                          <a:pt x="11738" y="13342"/>
                        </a:lnTo>
                        <a:lnTo>
                          <a:pt x="11815" y="13333"/>
                        </a:lnTo>
                        <a:lnTo>
                          <a:pt x="11890" y="13325"/>
                        </a:lnTo>
                        <a:lnTo>
                          <a:pt x="11965" y="13315"/>
                        </a:lnTo>
                        <a:lnTo>
                          <a:pt x="12117" y="13295"/>
                        </a:lnTo>
                        <a:lnTo>
                          <a:pt x="12269" y="13272"/>
                        </a:lnTo>
                        <a:lnTo>
                          <a:pt x="12421" y="13246"/>
                        </a:lnTo>
                        <a:lnTo>
                          <a:pt x="12574" y="13218"/>
                        </a:lnTo>
                        <a:lnTo>
                          <a:pt x="12726" y="13189"/>
                        </a:lnTo>
                        <a:lnTo>
                          <a:pt x="12879" y="13158"/>
                        </a:lnTo>
                        <a:lnTo>
                          <a:pt x="13031" y="13125"/>
                        </a:lnTo>
                        <a:lnTo>
                          <a:pt x="13183" y="13089"/>
                        </a:lnTo>
                        <a:lnTo>
                          <a:pt x="13335" y="13053"/>
                        </a:lnTo>
                        <a:lnTo>
                          <a:pt x="13488" y="13015"/>
                        </a:lnTo>
                        <a:lnTo>
                          <a:pt x="13641" y="12976"/>
                        </a:lnTo>
                        <a:lnTo>
                          <a:pt x="13793" y="12935"/>
                        </a:lnTo>
                        <a:lnTo>
                          <a:pt x="13946" y="12892"/>
                        </a:lnTo>
                        <a:lnTo>
                          <a:pt x="14098" y="12849"/>
                        </a:lnTo>
                        <a:lnTo>
                          <a:pt x="14249" y="12806"/>
                        </a:lnTo>
                        <a:lnTo>
                          <a:pt x="14402" y="12761"/>
                        </a:lnTo>
                        <a:lnTo>
                          <a:pt x="14554" y="12714"/>
                        </a:lnTo>
                        <a:lnTo>
                          <a:pt x="14705" y="12668"/>
                        </a:lnTo>
                        <a:lnTo>
                          <a:pt x="14857" y="12621"/>
                        </a:lnTo>
                        <a:lnTo>
                          <a:pt x="15160" y="12525"/>
                        </a:lnTo>
                        <a:lnTo>
                          <a:pt x="15461" y="12428"/>
                        </a:lnTo>
                        <a:lnTo>
                          <a:pt x="15762" y="12330"/>
                        </a:lnTo>
                        <a:lnTo>
                          <a:pt x="15960" y="12266"/>
                        </a:lnTo>
                        <a:lnTo>
                          <a:pt x="15960" y="12266"/>
                        </a:lnTo>
                        <a:lnTo>
                          <a:pt x="16376" y="12131"/>
                        </a:lnTo>
                        <a:lnTo>
                          <a:pt x="16585" y="12064"/>
                        </a:lnTo>
                        <a:lnTo>
                          <a:pt x="16796" y="11998"/>
                        </a:lnTo>
                        <a:lnTo>
                          <a:pt x="17008" y="11934"/>
                        </a:lnTo>
                        <a:lnTo>
                          <a:pt x="17222" y="11871"/>
                        </a:lnTo>
                        <a:lnTo>
                          <a:pt x="17330" y="11840"/>
                        </a:lnTo>
                        <a:lnTo>
                          <a:pt x="17439" y="11810"/>
                        </a:lnTo>
                        <a:lnTo>
                          <a:pt x="17547" y="11781"/>
                        </a:lnTo>
                        <a:lnTo>
                          <a:pt x="17656" y="11753"/>
                        </a:lnTo>
                        <a:lnTo>
                          <a:pt x="17766" y="11724"/>
                        </a:lnTo>
                        <a:lnTo>
                          <a:pt x="17876" y="11697"/>
                        </a:lnTo>
                        <a:lnTo>
                          <a:pt x="17987" y="11670"/>
                        </a:lnTo>
                        <a:lnTo>
                          <a:pt x="18098" y="11645"/>
                        </a:lnTo>
                        <a:lnTo>
                          <a:pt x="18210" y="11621"/>
                        </a:lnTo>
                        <a:lnTo>
                          <a:pt x="18323" y="11597"/>
                        </a:lnTo>
                        <a:lnTo>
                          <a:pt x="18436" y="11575"/>
                        </a:lnTo>
                        <a:lnTo>
                          <a:pt x="18550" y="11552"/>
                        </a:lnTo>
                        <a:lnTo>
                          <a:pt x="18665" y="11532"/>
                        </a:lnTo>
                        <a:lnTo>
                          <a:pt x="18780" y="11513"/>
                        </a:lnTo>
                        <a:lnTo>
                          <a:pt x="18896" y="11495"/>
                        </a:lnTo>
                        <a:lnTo>
                          <a:pt x="19013" y="11479"/>
                        </a:lnTo>
                        <a:lnTo>
                          <a:pt x="19130" y="11464"/>
                        </a:lnTo>
                        <a:lnTo>
                          <a:pt x="19249" y="11450"/>
                        </a:lnTo>
                        <a:lnTo>
                          <a:pt x="19368" y="11437"/>
                        </a:lnTo>
                        <a:lnTo>
                          <a:pt x="19487" y="11427"/>
                        </a:lnTo>
                        <a:lnTo>
                          <a:pt x="19487" y="11427"/>
                        </a:lnTo>
                        <a:lnTo>
                          <a:pt x="19555" y="11421"/>
                        </a:lnTo>
                        <a:lnTo>
                          <a:pt x="19622" y="11417"/>
                        </a:lnTo>
                        <a:lnTo>
                          <a:pt x="19689" y="11413"/>
                        </a:lnTo>
                        <a:lnTo>
                          <a:pt x="19757" y="11409"/>
                        </a:lnTo>
                        <a:lnTo>
                          <a:pt x="19824" y="11407"/>
                        </a:lnTo>
                        <a:lnTo>
                          <a:pt x="19892" y="11405"/>
                        </a:lnTo>
                        <a:lnTo>
                          <a:pt x="19959" y="11404"/>
                        </a:lnTo>
                        <a:lnTo>
                          <a:pt x="20025" y="11404"/>
                        </a:lnTo>
                        <a:lnTo>
                          <a:pt x="20025" y="11404"/>
                        </a:lnTo>
                        <a:lnTo>
                          <a:pt x="20132" y="11405"/>
                        </a:lnTo>
                        <a:lnTo>
                          <a:pt x="20239" y="11407"/>
                        </a:lnTo>
                        <a:lnTo>
                          <a:pt x="20344" y="11412"/>
                        </a:lnTo>
                        <a:lnTo>
                          <a:pt x="20451" y="11418"/>
                        </a:lnTo>
                        <a:lnTo>
                          <a:pt x="20555" y="11426"/>
                        </a:lnTo>
                        <a:lnTo>
                          <a:pt x="20661" y="11436"/>
                        </a:lnTo>
                        <a:lnTo>
                          <a:pt x="20766" y="11448"/>
                        </a:lnTo>
                        <a:lnTo>
                          <a:pt x="20870" y="11461"/>
                        </a:lnTo>
                        <a:lnTo>
                          <a:pt x="20974" y="11476"/>
                        </a:lnTo>
                        <a:lnTo>
                          <a:pt x="21077" y="11493"/>
                        </a:lnTo>
                        <a:lnTo>
                          <a:pt x="21181" y="11512"/>
                        </a:lnTo>
                        <a:lnTo>
                          <a:pt x="21284" y="11532"/>
                        </a:lnTo>
                        <a:lnTo>
                          <a:pt x="21386" y="11554"/>
                        </a:lnTo>
                        <a:lnTo>
                          <a:pt x="21488" y="11579"/>
                        </a:lnTo>
                        <a:lnTo>
                          <a:pt x="21588" y="11605"/>
                        </a:lnTo>
                        <a:lnTo>
                          <a:pt x="21689" y="11632"/>
                        </a:lnTo>
                        <a:lnTo>
                          <a:pt x="21789" y="11661"/>
                        </a:lnTo>
                        <a:lnTo>
                          <a:pt x="21888" y="11692"/>
                        </a:lnTo>
                        <a:lnTo>
                          <a:pt x="21988" y="11725"/>
                        </a:lnTo>
                        <a:lnTo>
                          <a:pt x="22085" y="11760"/>
                        </a:lnTo>
                        <a:lnTo>
                          <a:pt x="22183" y="11796"/>
                        </a:lnTo>
                        <a:lnTo>
                          <a:pt x="22279" y="11833"/>
                        </a:lnTo>
                        <a:lnTo>
                          <a:pt x="22376" y="11873"/>
                        </a:lnTo>
                        <a:lnTo>
                          <a:pt x="22470" y="11915"/>
                        </a:lnTo>
                        <a:lnTo>
                          <a:pt x="22565" y="11957"/>
                        </a:lnTo>
                        <a:lnTo>
                          <a:pt x="22658" y="12002"/>
                        </a:lnTo>
                        <a:lnTo>
                          <a:pt x="22752" y="12048"/>
                        </a:lnTo>
                        <a:lnTo>
                          <a:pt x="22843" y="12096"/>
                        </a:lnTo>
                        <a:lnTo>
                          <a:pt x="22935" y="12146"/>
                        </a:lnTo>
                        <a:lnTo>
                          <a:pt x="23025" y="12196"/>
                        </a:lnTo>
                        <a:lnTo>
                          <a:pt x="23115" y="12250"/>
                        </a:lnTo>
                        <a:lnTo>
                          <a:pt x="23203" y="12304"/>
                        </a:lnTo>
                        <a:lnTo>
                          <a:pt x="23203" y="12304"/>
                        </a:lnTo>
                        <a:lnTo>
                          <a:pt x="23292" y="12361"/>
                        </a:lnTo>
                        <a:lnTo>
                          <a:pt x="23379" y="12420"/>
                        </a:lnTo>
                        <a:lnTo>
                          <a:pt x="23465" y="12479"/>
                        </a:lnTo>
                        <a:lnTo>
                          <a:pt x="23550" y="12540"/>
                        </a:lnTo>
                        <a:lnTo>
                          <a:pt x="23634" y="12603"/>
                        </a:lnTo>
                        <a:lnTo>
                          <a:pt x="23716" y="12666"/>
                        </a:lnTo>
                        <a:lnTo>
                          <a:pt x="23798" y="12731"/>
                        </a:lnTo>
                        <a:lnTo>
                          <a:pt x="23877" y="12798"/>
                        </a:lnTo>
                        <a:lnTo>
                          <a:pt x="23956" y="12866"/>
                        </a:lnTo>
                        <a:lnTo>
                          <a:pt x="24033" y="12935"/>
                        </a:lnTo>
                        <a:lnTo>
                          <a:pt x="24109" y="13006"/>
                        </a:lnTo>
                        <a:lnTo>
                          <a:pt x="24183" y="13077"/>
                        </a:lnTo>
                        <a:lnTo>
                          <a:pt x="24256" y="13150"/>
                        </a:lnTo>
                        <a:lnTo>
                          <a:pt x="24329" y="13224"/>
                        </a:lnTo>
                        <a:lnTo>
                          <a:pt x="24399" y="13300"/>
                        </a:lnTo>
                        <a:lnTo>
                          <a:pt x="24468" y="13377"/>
                        </a:lnTo>
                        <a:lnTo>
                          <a:pt x="24535" y="13455"/>
                        </a:lnTo>
                        <a:lnTo>
                          <a:pt x="24601" y="13534"/>
                        </a:lnTo>
                        <a:lnTo>
                          <a:pt x="24667" y="13615"/>
                        </a:lnTo>
                        <a:lnTo>
                          <a:pt x="24729" y="13695"/>
                        </a:lnTo>
                        <a:lnTo>
                          <a:pt x="24792" y="13779"/>
                        </a:lnTo>
                        <a:lnTo>
                          <a:pt x="24852" y="13862"/>
                        </a:lnTo>
                        <a:lnTo>
                          <a:pt x="24910" y="13947"/>
                        </a:lnTo>
                        <a:lnTo>
                          <a:pt x="24968" y="14032"/>
                        </a:lnTo>
                        <a:lnTo>
                          <a:pt x="25024" y="14120"/>
                        </a:lnTo>
                        <a:lnTo>
                          <a:pt x="25077" y="14207"/>
                        </a:lnTo>
                        <a:lnTo>
                          <a:pt x="25130" y="14296"/>
                        </a:lnTo>
                        <a:lnTo>
                          <a:pt x="25182" y="14386"/>
                        </a:lnTo>
                        <a:lnTo>
                          <a:pt x="25231" y="14477"/>
                        </a:lnTo>
                        <a:lnTo>
                          <a:pt x="25278" y="14569"/>
                        </a:lnTo>
                        <a:lnTo>
                          <a:pt x="25325" y="14662"/>
                        </a:lnTo>
                        <a:lnTo>
                          <a:pt x="25369" y="14755"/>
                        </a:lnTo>
                        <a:lnTo>
                          <a:pt x="25369" y="14755"/>
                        </a:lnTo>
                        <a:lnTo>
                          <a:pt x="25392" y="14806"/>
                        </a:lnTo>
                        <a:lnTo>
                          <a:pt x="25414" y="14855"/>
                        </a:lnTo>
                        <a:lnTo>
                          <a:pt x="25435" y="14905"/>
                        </a:lnTo>
                        <a:lnTo>
                          <a:pt x="25456" y="14956"/>
                        </a:lnTo>
                        <a:lnTo>
                          <a:pt x="25476" y="15006"/>
                        </a:lnTo>
                        <a:lnTo>
                          <a:pt x="25496" y="15057"/>
                        </a:lnTo>
                        <a:lnTo>
                          <a:pt x="25514" y="15107"/>
                        </a:lnTo>
                        <a:lnTo>
                          <a:pt x="25532" y="15159"/>
                        </a:lnTo>
                        <a:lnTo>
                          <a:pt x="25550" y="15210"/>
                        </a:lnTo>
                        <a:lnTo>
                          <a:pt x="25566" y="15261"/>
                        </a:lnTo>
                        <a:lnTo>
                          <a:pt x="25582" y="15314"/>
                        </a:lnTo>
                        <a:lnTo>
                          <a:pt x="25598" y="15365"/>
                        </a:lnTo>
                        <a:lnTo>
                          <a:pt x="25612" y="15417"/>
                        </a:lnTo>
                        <a:lnTo>
                          <a:pt x="25626" y="15470"/>
                        </a:lnTo>
                        <a:lnTo>
                          <a:pt x="25640" y="15522"/>
                        </a:lnTo>
                        <a:lnTo>
                          <a:pt x="25652" y="15574"/>
                        </a:lnTo>
                        <a:lnTo>
                          <a:pt x="25666" y="15626"/>
                        </a:lnTo>
                        <a:lnTo>
                          <a:pt x="25677" y="15680"/>
                        </a:lnTo>
                        <a:lnTo>
                          <a:pt x="25688" y="15732"/>
                        </a:lnTo>
                        <a:lnTo>
                          <a:pt x="25698" y="15785"/>
                        </a:lnTo>
                        <a:lnTo>
                          <a:pt x="25707" y="15839"/>
                        </a:lnTo>
                        <a:lnTo>
                          <a:pt x="25716" y="15892"/>
                        </a:lnTo>
                        <a:lnTo>
                          <a:pt x="25724" y="15946"/>
                        </a:lnTo>
                        <a:lnTo>
                          <a:pt x="25732" y="16000"/>
                        </a:lnTo>
                        <a:lnTo>
                          <a:pt x="25739" y="16054"/>
                        </a:lnTo>
                        <a:lnTo>
                          <a:pt x="25745" y="16107"/>
                        </a:lnTo>
                        <a:lnTo>
                          <a:pt x="25750" y="16162"/>
                        </a:lnTo>
                        <a:lnTo>
                          <a:pt x="25755" y="16216"/>
                        </a:lnTo>
                        <a:lnTo>
                          <a:pt x="25759" y="16270"/>
                        </a:lnTo>
                        <a:lnTo>
                          <a:pt x="25763" y="16325"/>
                        </a:lnTo>
                        <a:lnTo>
                          <a:pt x="25766" y="16380"/>
                        </a:lnTo>
                        <a:lnTo>
                          <a:pt x="25768" y="16434"/>
                        </a:lnTo>
                        <a:lnTo>
                          <a:pt x="25770" y="16490"/>
                        </a:lnTo>
                        <a:lnTo>
                          <a:pt x="25771" y="16545"/>
                        </a:lnTo>
                        <a:lnTo>
                          <a:pt x="25771" y="16599"/>
                        </a:lnTo>
                        <a:lnTo>
                          <a:pt x="25771" y="16655"/>
                        </a:lnTo>
                        <a:lnTo>
                          <a:pt x="25770" y="16710"/>
                        </a:lnTo>
                        <a:lnTo>
                          <a:pt x="25768" y="16765"/>
                        </a:lnTo>
                        <a:lnTo>
                          <a:pt x="25766" y="16822"/>
                        </a:lnTo>
                        <a:lnTo>
                          <a:pt x="25763" y="16877"/>
                        </a:lnTo>
                        <a:lnTo>
                          <a:pt x="25759" y="16932"/>
                        </a:lnTo>
                        <a:lnTo>
                          <a:pt x="25755" y="16989"/>
                        </a:lnTo>
                        <a:lnTo>
                          <a:pt x="25750" y="17044"/>
                        </a:lnTo>
                        <a:lnTo>
                          <a:pt x="25744" y="17100"/>
                        </a:lnTo>
                        <a:lnTo>
                          <a:pt x="25738" y="17157"/>
                        </a:lnTo>
                        <a:lnTo>
                          <a:pt x="25731" y="17212"/>
                        </a:lnTo>
                        <a:lnTo>
                          <a:pt x="25723" y="17268"/>
                        </a:lnTo>
                        <a:lnTo>
                          <a:pt x="25715" y="17325"/>
                        </a:lnTo>
                        <a:lnTo>
                          <a:pt x="25706" y="17381"/>
                        </a:lnTo>
                        <a:lnTo>
                          <a:pt x="25697" y="17437"/>
                        </a:lnTo>
                        <a:lnTo>
                          <a:pt x="25686" y="17495"/>
                        </a:lnTo>
                        <a:lnTo>
                          <a:pt x="25676" y="17551"/>
                        </a:lnTo>
                        <a:lnTo>
                          <a:pt x="25664" y="17607"/>
                        </a:lnTo>
                        <a:lnTo>
                          <a:pt x="25651" y="17664"/>
                        </a:lnTo>
                        <a:lnTo>
                          <a:pt x="25638" y="17721"/>
                        </a:lnTo>
                        <a:lnTo>
                          <a:pt x="25624" y="17777"/>
                        </a:lnTo>
                        <a:lnTo>
                          <a:pt x="25610" y="17835"/>
                        </a:lnTo>
                        <a:lnTo>
                          <a:pt x="25595" y="17891"/>
                        </a:lnTo>
                        <a:lnTo>
                          <a:pt x="25580" y="17948"/>
                        </a:lnTo>
                        <a:lnTo>
                          <a:pt x="25564" y="18005"/>
                        </a:lnTo>
                        <a:lnTo>
                          <a:pt x="25547" y="18062"/>
                        </a:lnTo>
                        <a:lnTo>
                          <a:pt x="25530" y="18118"/>
                        </a:lnTo>
                        <a:lnTo>
                          <a:pt x="25511" y="18176"/>
                        </a:lnTo>
                        <a:lnTo>
                          <a:pt x="25493" y="18233"/>
                        </a:lnTo>
                        <a:lnTo>
                          <a:pt x="25493" y="18233"/>
                        </a:lnTo>
                        <a:lnTo>
                          <a:pt x="25456" y="18336"/>
                        </a:lnTo>
                        <a:lnTo>
                          <a:pt x="25419" y="18437"/>
                        </a:lnTo>
                        <a:lnTo>
                          <a:pt x="25379" y="18539"/>
                        </a:lnTo>
                        <a:lnTo>
                          <a:pt x="25338" y="18640"/>
                        </a:lnTo>
                        <a:lnTo>
                          <a:pt x="25294" y="18741"/>
                        </a:lnTo>
                        <a:lnTo>
                          <a:pt x="25248" y="18842"/>
                        </a:lnTo>
                        <a:lnTo>
                          <a:pt x="25201" y="18941"/>
                        </a:lnTo>
                        <a:lnTo>
                          <a:pt x="25152" y="19041"/>
                        </a:lnTo>
                        <a:lnTo>
                          <a:pt x="25100" y="19139"/>
                        </a:lnTo>
                        <a:lnTo>
                          <a:pt x="25047" y="19238"/>
                        </a:lnTo>
                        <a:lnTo>
                          <a:pt x="24992" y="19335"/>
                        </a:lnTo>
                        <a:lnTo>
                          <a:pt x="24934" y="19432"/>
                        </a:lnTo>
                        <a:lnTo>
                          <a:pt x="24876" y="19528"/>
                        </a:lnTo>
                        <a:lnTo>
                          <a:pt x="24816" y="19623"/>
                        </a:lnTo>
                        <a:lnTo>
                          <a:pt x="24753" y="19718"/>
                        </a:lnTo>
                        <a:lnTo>
                          <a:pt x="24690" y="19811"/>
                        </a:lnTo>
                        <a:lnTo>
                          <a:pt x="24624" y="19905"/>
                        </a:lnTo>
                        <a:lnTo>
                          <a:pt x="24556" y="19996"/>
                        </a:lnTo>
                        <a:lnTo>
                          <a:pt x="24488" y="20088"/>
                        </a:lnTo>
                        <a:lnTo>
                          <a:pt x="24417" y="20177"/>
                        </a:lnTo>
                        <a:lnTo>
                          <a:pt x="24345" y="20267"/>
                        </a:lnTo>
                        <a:lnTo>
                          <a:pt x="24272" y="20354"/>
                        </a:lnTo>
                        <a:lnTo>
                          <a:pt x="24196" y="20442"/>
                        </a:lnTo>
                        <a:lnTo>
                          <a:pt x="24120" y="20528"/>
                        </a:lnTo>
                        <a:lnTo>
                          <a:pt x="24041" y="20613"/>
                        </a:lnTo>
                        <a:lnTo>
                          <a:pt x="23961" y="20697"/>
                        </a:lnTo>
                        <a:lnTo>
                          <a:pt x="23880" y="20779"/>
                        </a:lnTo>
                        <a:lnTo>
                          <a:pt x="23798" y="20859"/>
                        </a:lnTo>
                        <a:lnTo>
                          <a:pt x="23713" y="20940"/>
                        </a:lnTo>
                        <a:lnTo>
                          <a:pt x="23628" y="21018"/>
                        </a:lnTo>
                        <a:lnTo>
                          <a:pt x="23541" y="21096"/>
                        </a:lnTo>
                        <a:lnTo>
                          <a:pt x="23453" y="21171"/>
                        </a:lnTo>
                        <a:lnTo>
                          <a:pt x="23453" y="21171"/>
                        </a:lnTo>
                        <a:lnTo>
                          <a:pt x="23387" y="21227"/>
                        </a:lnTo>
                        <a:lnTo>
                          <a:pt x="23319" y="21282"/>
                        </a:lnTo>
                        <a:lnTo>
                          <a:pt x="23252" y="21336"/>
                        </a:lnTo>
                        <a:lnTo>
                          <a:pt x="23183" y="21389"/>
                        </a:lnTo>
                        <a:lnTo>
                          <a:pt x="23115" y="21441"/>
                        </a:lnTo>
                        <a:lnTo>
                          <a:pt x="23046" y="21492"/>
                        </a:lnTo>
                        <a:lnTo>
                          <a:pt x="22975" y="21543"/>
                        </a:lnTo>
                        <a:lnTo>
                          <a:pt x="22905" y="21592"/>
                        </a:lnTo>
                        <a:lnTo>
                          <a:pt x="22834" y="21641"/>
                        </a:lnTo>
                        <a:lnTo>
                          <a:pt x="22763" y="21688"/>
                        </a:lnTo>
                        <a:lnTo>
                          <a:pt x="22691" y="21735"/>
                        </a:lnTo>
                        <a:lnTo>
                          <a:pt x="22618" y="21781"/>
                        </a:lnTo>
                        <a:lnTo>
                          <a:pt x="22545" y="21826"/>
                        </a:lnTo>
                        <a:lnTo>
                          <a:pt x="22471" y="21870"/>
                        </a:lnTo>
                        <a:lnTo>
                          <a:pt x="22397" y="21914"/>
                        </a:lnTo>
                        <a:lnTo>
                          <a:pt x="22322" y="21956"/>
                        </a:lnTo>
                        <a:lnTo>
                          <a:pt x="22247" y="21997"/>
                        </a:lnTo>
                        <a:lnTo>
                          <a:pt x="22171" y="22037"/>
                        </a:lnTo>
                        <a:lnTo>
                          <a:pt x="22094" y="22078"/>
                        </a:lnTo>
                        <a:lnTo>
                          <a:pt x="22017" y="22116"/>
                        </a:lnTo>
                        <a:lnTo>
                          <a:pt x="21939" y="22154"/>
                        </a:lnTo>
                        <a:lnTo>
                          <a:pt x="21861" y="22190"/>
                        </a:lnTo>
                        <a:lnTo>
                          <a:pt x="21782" y="22227"/>
                        </a:lnTo>
                        <a:lnTo>
                          <a:pt x="21703" y="22262"/>
                        </a:lnTo>
                        <a:lnTo>
                          <a:pt x="21622" y="22297"/>
                        </a:lnTo>
                        <a:lnTo>
                          <a:pt x="21542" y="22330"/>
                        </a:lnTo>
                        <a:lnTo>
                          <a:pt x="21461" y="22362"/>
                        </a:lnTo>
                        <a:lnTo>
                          <a:pt x="21379" y="22395"/>
                        </a:lnTo>
                        <a:lnTo>
                          <a:pt x="21297" y="22425"/>
                        </a:lnTo>
                        <a:lnTo>
                          <a:pt x="21214" y="22455"/>
                        </a:lnTo>
                        <a:lnTo>
                          <a:pt x="21130" y="22484"/>
                        </a:lnTo>
                        <a:lnTo>
                          <a:pt x="21046" y="22512"/>
                        </a:lnTo>
                        <a:lnTo>
                          <a:pt x="20961" y="22539"/>
                        </a:lnTo>
                        <a:lnTo>
                          <a:pt x="20875" y="22566"/>
                        </a:lnTo>
                        <a:lnTo>
                          <a:pt x="20790" y="22592"/>
                        </a:lnTo>
                        <a:lnTo>
                          <a:pt x="20703" y="22616"/>
                        </a:lnTo>
                        <a:lnTo>
                          <a:pt x="20616" y="22640"/>
                        </a:lnTo>
                        <a:lnTo>
                          <a:pt x="20527" y="22663"/>
                        </a:lnTo>
                        <a:lnTo>
                          <a:pt x="20439" y="22685"/>
                        </a:lnTo>
                        <a:lnTo>
                          <a:pt x="20350" y="22706"/>
                        </a:lnTo>
                        <a:lnTo>
                          <a:pt x="20260" y="22727"/>
                        </a:lnTo>
                        <a:lnTo>
                          <a:pt x="20169" y="22746"/>
                        </a:lnTo>
                        <a:lnTo>
                          <a:pt x="20079" y="22764"/>
                        </a:lnTo>
                        <a:lnTo>
                          <a:pt x="19987" y="22782"/>
                        </a:lnTo>
                        <a:lnTo>
                          <a:pt x="19895" y="22799"/>
                        </a:lnTo>
                        <a:lnTo>
                          <a:pt x="19801" y="22815"/>
                        </a:lnTo>
                        <a:lnTo>
                          <a:pt x="19708" y="22830"/>
                        </a:lnTo>
                        <a:lnTo>
                          <a:pt x="19614" y="22844"/>
                        </a:lnTo>
                        <a:lnTo>
                          <a:pt x="19519" y="22857"/>
                        </a:lnTo>
                        <a:lnTo>
                          <a:pt x="19423" y="22869"/>
                        </a:lnTo>
                        <a:lnTo>
                          <a:pt x="19327" y="22881"/>
                        </a:lnTo>
                        <a:lnTo>
                          <a:pt x="19230" y="22893"/>
                        </a:lnTo>
                        <a:lnTo>
                          <a:pt x="19132" y="22902"/>
                        </a:lnTo>
                        <a:lnTo>
                          <a:pt x="19035" y="22911"/>
                        </a:lnTo>
                        <a:lnTo>
                          <a:pt x="18935" y="22920"/>
                        </a:lnTo>
                        <a:lnTo>
                          <a:pt x="18836" y="22927"/>
                        </a:lnTo>
                        <a:lnTo>
                          <a:pt x="18736" y="22933"/>
                        </a:lnTo>
                        <a:lnTo>
                          <a:pt x="18634" y="22939"/>
                        </a:lnTo>
                        <a:lnTo>
                          <a:pt x="18533" y="22943"/>
                        </a:lnTo>
                        <a:lnTo>
                          <a:pt x="18431" y="22947"/>
                        </a:lnTo>
                        <a:lnTo>
                          <a:pt x="18329" y="22950"/>
                        </a:lnTo>
                        <a:lnTo>
                          <a:pt x="18225" y="22952"/>
                        </a:lnTo>
                        <a:lnTo>
                          <a:pt x="18121" y="22954"/>
                        </a:lnTo>
                        <a:lnTo>
                          <a:pt x="18016" y="22954"/>
                        </a:lnTo>
                        <a:lnTo>
                          <a:pt x="18016" y="22954"/>
                        </a:lnTo>
                        <a:lnTo>
                          <a:pt x="17885" y="22953"/>
                        </a:lnTo>
                        <a:lnTo>
                          <a:pt x="17754" y="22951"/>
                        </a:lnTo>
                        <a:lnTo>
                          <a:pt x="17622" y="22948"/>
                        </a:lnTo>
                        <a:lnTo>
                          <a:pt x="17488" y="22944"/>
                        </a:lnTo>
                        <a:lnTo>
                          <a:pt x="17488" y="22944"/>
                        </a:lnTo>
                        <a:lnTo>
                          <a:pt x="17394" y="22940"/>
                        </a:lnTo>
                        <a:lnTo>
                          <a:pt x="17300" y="22935"/>
                        </a:lnTo>
                        <a:lnTo>
                          <a:pt x="17205" y="22930"/>
                        </a:lnTo>
                        <a:lnTo>
                          <a:pt x="17111" y="22924"/>
                        </a:lnTo>
                        <a:lnTo>
                          <a:pt x="16922" y="22911"/>
                        </a:lnTo>
                        <a:lnTo>
                          <a:pt x="16732" y="22895"/>
                        </a:lnTo>
                        <a:lnTo>
                          <a:pt x="16542" y="22876"/>
                        </a:lnTo>
                        <a:lnTo>
                          <a:pt x="16351" y="22857"/>
                        </a:lnTo>
                        <a:lnTo>
                          <a:pt x="16161" y="22835"/>
                        </a:lnTo>
                        <a:lnTo>
                          <a:pt x="15970" y="22811"/>
                        </a:lnTo>
                        <a:lnTo>
                          <a:pt x="15780" y="22785"/>
                        </a:lnTo>
                        <a:lnTo>
                          <a:pt x="15589" y="22758"/>
                        </a:lnTo>
                        <a:lnTo>
                          <a:pt x="15399" y="22729"/>
                        </a:lnTo>
                        <a:lnTo>
                          <a:pt x="15209" y="22697"/>
                        </a:lnTo>
                        <a:lnTo>
                          <a:pt x="15019" y="22665"/>
                        </a:lnTo>
                        <a:lnTo>
                          <a:pt x="14829" y="22631"/>
                        </a:lnTo>
                        <a:lnTo>
                          <a:pt x="14640" y="22596"/>
                        </a:lnTo>
                        <a:lnTo>
                          <a:pt x="14451" y="22560"/>
                        </a:lnTo>
                        <a:lnTo>
                          <a:pt x="14263" y="22522"/>
                        </a:lnTo>
                        <a:lnTo>
                          <a:pt x="14075" y="22484"/>
                        </a:lnTo>
                        <a:lnTo>
                          <a:pt x="13887" y="22445"/>
                        </a:lnTo>
                        <a:lnTo>
                          <a:pt x="13700" y="22405"/>
                        </a:lnTo>
                        <a:lnTo>
                          <a:pt x="13514" y="22364"/>
                        </a:lnTo>
                        <a:lnTo>
                          <a:pt x="13329" y="22323"/>
                        </a:lnTo>
                        <a:lnTo>
                          <a:pt x="13144" y="22281"/>
                        </a:lnTo>
                        <a:lnTo>
                          <a:pt x="12961" y="22239"/>
                        </a:lnTo>
                        <a:lnTo>
                          <a:pt x="12597" y="22152"/>
                        </a:lnTo>
                        <a:lnTo>
                          <a:pt x="12237" y="22066"/>
                        </a:lnTo>
                        <a:lnTo>
                          <a:pt x="11882" y="21978"/>
                        </a:lnTo>
                        <a:lnTo>
                          <a:pt x="11532" y="21893"/>
                        </a:lnTo>
                        <a:lnTo>
                          <a:pt x="11532" y="21893"/>
                        </a:lnTo>
                        <a:lnTo>
                          <a:pt x="11118" y="21790"/>
                        </a:lnTo>
                        <a:lnTo>
                          <a:pt x="10710" y="21691"/>
                        </a:lnTo>
                        <a:lnTo>
                          <a:pt x="10509" y="21643"/>
                        </a:lnTo>
                        <a:lnTo>
                          <a:pt x="10310" y="21596"/>
                        </a:lnTo>
                        <a:lnTo>
                          <a:pt x="10113" y="21550"/>
                        </a:lnTo>
                        <a:lnTo>
                          <a:pt x="9918" y="21505"/>
                        </a:lnTo>
                        <a:lnTo>
                          <a:pt x="9725" y="21462"/>
                        </a:lnTo>
                        <a:lnTo>
                          <a:pt x="9535" y="21421"/>
                        </a:lnTo>
                        <a:lnTo>
                          <a:pt x="9347" y="21382"/>
                        </a:lnTo>
                        <a:lnTo>
                          <a:pt x="9162" y="21343"/>
                        </a:lnTo>
                        <a:lnTo>
                          <a:pt x="8978" y="21308"/>
                        </a:lnTo>
                        <a:lnTo>
                          <a:pt x="8798" y="21275"/>
                        </a:lnTo>
                        <a:lnTo>
                          <a:pt x="8620" y="21245"/>
                        </a:lnTo>
                        <a:lnTo>
                          <a:pt x="8446" y="21217"/>
                        </a:lnTo>
                        <a:lnTo>
                          <a:pt x="8446" y="21217"/>
                        </a:lnTo>
                        <a:lnTo>
                          <a:pt x="8328" y="21199"/>
                        </a:lnTo>
                        <a:lnTo>
                          <a:pt x="8211" y="21182"/>
                        </a:lnTo>
                        <a:lnTo>
                          <a:pt x="8094" y="21167"/>
                        </a:lnTo>
                        <a:lnTo>
                          <a:pt x="7980" y="21153"/>
                        </a:lnTo>
                        <a:lnTo>
                          <a:pt x="7866" y="21140"/>
                        </a:lnTo>
                        <a:lnTo>
                          <a:pt x="7752" y="21128"/>
                        </a:lnTo>
                        <a:lnTo>
                          <a:pt x="7641" y="21117"/>
                        </a:lnTo>
                        <a:lnTo>
                          <a:pt x="7530" y="21107"/>
                        </a:lnTo>
                        <a:lnTo>
                          <a:pt x="7421" y="21098"/>
                        </a:lnTo>
                        <a:lnTo>
                          <a:pt x="7313" y="21091"/>
                        </a:lnTo>
                        <a:lnTo>
                          <a:pt x="7206" y="21085"/>
                        </a:lnTo>
                        <a:lnTo>
                          <a:pt x="7100" y="21079"/>
                        </a:lnTo>
                        <a:lnTo>
                          <a:pt x="6996" y="21075"/>
                        </a:lnTo>
                        <a:lnTo>
                          <a:pt x="6893" y="21072"/>
                        </a:lnTo>
                        <a:lnTo>
                          <a:pt x="6791" y="21071"/>
                        </a:lnTo>
                        <a:lnTo>
                          <a:pt x="6690" y="21070"/>
                        </a:lnTo>
                        <a:lnTo>
                          <a:pt x="6690" y="21070"/>
                        </a:lnTo>
                        <a:lnTo>
                          <a:pt x="6595" y="21071"/>
                        </a:lnTo>
                        <a:lnTo>
                          <a:pt x="6501" y="21072"/>
                        </a:lnTo>
                        <a:lnTo>
                          <a:pt x="6408" y="21075"/>
                        </a:lnTo>
                        <a:lnTo>
                          <a:pt x="6316" y="21079"/>
                        </a:lnTo>
                        <a:lnTo>
                          <a:pt x="6225" y="21083"/>
                        </a:lnTo>
                        <a:lnTo>
                          <a:pt x="6135" y="21089"/>
                        </a:lnTo>
                        <a:lnTo>
                          <a:pt x="6047" y="21096"/>
                        </a:lnTo>
                        <a:lnTo>
                          <a:pt x="5959" y="21104"/>
                        </a:lnTo>
                        <a:lnTo>
                          <a:pt x="5873" y="21113"/>
                        </a:lnTo>
                        <a:lnTo>
                          <a:pt x="5787" y="21123"/>
                        </a:lnTo>
                        <a:lnTo>
                          <a:pt x="5703" y="21134"/>
                        </a:lnTo>
                        <a:lnTo>
                          <a:pt x="5620" y="21146"/>
                        </a:lnTo>
                        <a:lnTo>
                          <a:pt x="5538" y="21159"/>
                        </a:lnTo>
                        <a:lnTo>
                          <a:pt x="5457" y="21173"/>
                        </a:lnTo>
                        <a:lnTo>
                          <a:pt x="5378" y="21188"/>
                        </a:lnTo>
                        <a:lnTo>
                          <a:pt x="5300" y="21206"/>
                        </a:lnTo>
                        <a:lnTo>
                          <a:pt x="5222" y="21223"/>
                        </a:lnTo>
                        <a:lnTo>
                          <a:pt x="5146" y="21241"/>
                        </a:lnTo>
                        <a:lnTo>
                          <a:pt x="5071" y="21261"/>
                        </a:lnTo>
                        <a:lnTo>
                          <a:pt x="4997" y="21281"/>
                        </a:lnTo>
                        <a:lnTo>
                          <a:pt x="4924" y="21303"/>
                        </a:lnTo>
                        <a:lnTo>
                          <a:pt x="4853" y="21325"/>
                        </a:lnTo>
                        <a:lnTo>
                          <a:pt x="4783" y="21349"/>
                        </a:lnTo>
                        <a:lnTo>
                          <a:pt x="4713" y="21374"/>
                        </a:lnTo>
                        <a:lnTo>
                          <a:pt x="4646" y="21400"/>
                        </a:lnTo>
                        <a:lnTo>
                          <a:pt x="4579" y="21427"/>
                        </a:lnTo>
                        <a:lnTo>
                          <a:pt x="4513" y="21454"/>
                        </a:lnTo>
                        <a:lnTo>
                          <a:pt x="4449" y="21483"/>
                        </a:lnTo>
                        <a:lnTo>
                          <a:pt x="4386" y="21513"/>
                        </a:lnTo>
                        <a:lnTo>
                          <a:pt x="4324" y="21545"/>
                        </a:lnTo>
                        <a:lnTo>
                          <a:pt x="4264" y="21576"/>
                        </a:lnTo>
                        <a:lnTo>
                          <a:pt x="4204" y="21609"/>
                        </a:lnTo>
                        <a:lnTo>
                          <a:pt x="4204" y="21609"/>
                        </a:lnTo>
                        <a:lnTo>
                          <a:pt x="4145" y="21644"/>
                        </a:lnTo>
                        <a:lnTo>
                          <a:pt x="4087" y="21680"/>
                        </a:lnTo>
                        <a:lnTo>
                          <a:pt x="4030" y="21718"/>
                        </a:lnTo>
                        <a:lnTo>
                          <a:pt x="3975" y="21757"/>
                        </a:lnTo>
                        <a:lnTo>
                          <a:pt x="3921" y="21798"/>
                        </a:lnTo>
                        <a:lnTo>
                          <a:pt x="3867" y="21839"/>
                        </a:lnTo>
                        <a:lnTo>
                          <a:pt x="3815" y="21883"/>
                        </a:lnTo>
                        <a:lnTo>
                          <a:pt x="3764" y="21927"/>
                        </a:lnTo>
                        <a:lnTo>
                          <a:pt x="3714" y="21973"/>
                        </a:lnTo>
                        <a:lnTo>
                          <a:pt x="3665" y="22020"/>
                        </a:lnTo>
                        <a:lnTo>
                          <a:pt x="3618" y="22069"/>
                        </a:lnTo>
                        <a:lnTo>
                          <a:pt x="3572" y="22118"/>
                        </a:lnTo>
                        <a:lnTo>
                          <a:pt x="3526" y="22168"/>
                        </a:lnTo>
                        <a:lnTo>
                          <a:pt x="3482" y="22220"/>
                        </a:lnTo>
                        <a:lnTo>
                          <a:pt x="3439" y="22273"/>
                        </a:lnTo>
                        <a:lnTo>
                          <a:pt x="3397" y="22326"/>
                        </a:lnTo>
                        <a:lnTo>
                          <a:pt x="3355" y="22381"/>
                        </a:lnTo>
                        <a:lnTo>
                          <a:pt x="3315" y="22437"/>
                        </a:lnTo>
                        <a:lnTo>
                          <a:pt x="3276" y="22494"/>
                        </a:lnTo>
                        <a:lnTo>
                          <a:pt x="3239" y="22551"/>
                        </a:lnTo>
                        <a:lnTo>
                          <a:pt x="3202" y="22610"/>
                        </a:lnTo>
                        <a:lnTo>
                          <a:pt x="3165" y="22669"/>
                        </a:lnTo>
                        <a:lnTo>
                          <a:pt x="3130" y="22730"/>
                        </a:lnTo>
                        <a:lnTo>
                          <a:pt x="3097" y="22791"/>
                        </a:lnTo>
                        <a:lnTo>
                          <a:pt x="3064" y="22852"/>
                        </a:lnTo>
                        <a:lnTo>
                          <a:pt x="3032" y="22915"/>
                        </a:lnTo>
                        <a:lnTo>
                          <a:pt x="3001" y="22978"/>
                        </a:lnTo>
                        <a:lnTo>
                          <a:pt x="2971" y="23042"/>
                        </a:lnTo>
                        <a:lnTo>
                          <a:pt x="2942" y="23107"/>
                        </a:lnTo>
                        <a:lnTo>
                          <a:pt x="2914" y="23171"/>
                        </a:lnTo>
                        <a:lnTo>
                          <a:pt x="2887" y="23238"/>
                        </a:lnTo>
                        <a:lnTo>
                          <a:pt x="2861" y="23304"/>
                        </a:lnTo>
                        <a:lnTo>
                          <a:pt x="2835" y="23370"/>
                        </a:lnTo>
                        <a:lnTo>
                          <a:pt x="2811" y="23438"/>
                        </a:lnTo>
                        <a:lnTo>
                          <a:pt x="2787" y="23505"/>
                        </a:lnTo>
                        <a:lnTo>
                          <a:pt x="2765" y="23574"/>
                        </a:lnTo>
                        <a:lnTo>
                          <a:pt x="2744" y="23642"/>
                        </a:lnTo>
                        <a:lnTo>
                          <a:pt x="2723" y="23710"/>
                        </a:lnTo>
                        <a:lnTo>
                          <a:pt x="2703" y="23780"/>
                        </a:lnTo>
                        <a:lnTo>
                          <a:pt x="2684" y="23849"/>
                        </a:lnTo>
                        <a:lnTo>
                          <a:pt x="2666" y="23919"/>
                        </a:lnTo>
                        <a:lnTo>
                          <a:pt x="2648" y="23988"/>
                        </a:lnTo>
                        <a:lnTo>
                          <a:pt x="2632" y="24058"/>
                        </a:lnTo>
                        <a:lnTo>
                          <a:pt x="2616" y="24129"/>
                        </a:lnTo>
                        <a:lnTo>
                          <a:pt x="2602" y="24199"/>
                        </a:lnTo>
                        <a:lnTo>
                          <a:pt x="2588" y="24270"/>
                        </a:lnTo>
                        <a:lnTo>
                          <a:pt x="2575" y="24340"/>
                        </a:lnTo>
                        <a:lnTo>
                          <a:pt x="2563" y="24410"/>
                        </a:lnTo>
                        <a:lnTo>
                          <a:pt x="2551" y="24481"/>
                        </a:lnTo>
                        <a:lnTo>
                          <a:pt x="2540" y="24551"/>
                        </a:lnTo>
                        <a:lnTo>
                          <a:pt x="2531" y="24622"/>
                        </a:lnTo>
                        <a:lnTo>
                          <a:pt x="2521" y="24692"/>
                        </a:lnTo>
                        <a:lnTo>
                          <a:pt x="2513" y="24763"/>
                        </a:lnTo>
                        <a:lnTo>
                          <a:pt x="2505" y="24832"/>
                        </a:lnTo>
                        <a:lnTo>
                          <a:pt x="2499" y="24902"/>
                        </a:lnTo>
                        <a:lnTo>
                          <a:pt x="2492" y="24972"/>
                        </a:lnTo>
                        <a:lnTo>
                          <a:pt x="2486" y="25041"/>
                        </a:lnTo>
                        <a:lnTo>
                          <a:pt x="2481" y="25111"/>
                        </a:lnTo>
                        <a:lnTo>
                          <a:pt x="2477" y="25179"/>
                        </a:lnTo>
                        <a:lnTo>
                          <a:pt x="2474" y="25247"/>
                        </a:lnTo>
                        <a:lnTo>
                          <a:pt x="2471" y="25316"/>
                        </a:lnTo>
                        <a:lnTo>
                          <a:pt x="2470" y="25383"/>
                        </a:lnTo>
                        <a:lnTo>
                          <a:pt x="2468" y="25451"/>
                        </a:lnTo>
                        <a:lnTo>
                          <a:pt x="2468" y="25517"/>
                        </a:lnTo>
                        <a:lnTo>
                          <a:pt x="0" y="25517"/>
                        </a:lnTo>
                        <a:lnTo>
                          <a:pt x="0" y="25517"/>
                        </a:lnTo>
                        <a:lnTo>
                          <a:pt x="2" y="25377"/>
                        </a:lnTo>
                        <a:lnTo>
                          <a:pt x="4" y="25304"/>
                        </a:lnTo>
                        <a:lnTo>
                          <a:pt x="6" y="25228"/>
                        </a:lnTo>
                        <a:lnTo>
                          <a:pt x="9" y="25152"/>
                        </a:lnTo>
                        <a:lnTo>
                          <a:pt x="13" y="25073"/>
                        </a:lnTo>
                        <a:lnTo>
                          <a:pt x="18" y="24993"/>
                        </a:lnTo>
                        <a:lnTo>
                          <a:pt x="24" y="24910"/>
                        </a:lnTo>
                        <a:lnTo>
                          <a:pt x="31" y="24827"/>
                        </a:lnTo>
                        <a:lnTo>
                          <a:pt x="39" y="24741"/>
                        </a:lnTo>
                        <a:lnTo>
                          <a:pt x="47" y="24655"/>
                        </a:lnTo>
                        <a:lnTo>
                          <a:pt x="57" y="24566"/>
                        </a:lnTo>
                        <a:lnTo>
                          <a:pt x="68" y="24477"/>
                        </a:lnTo>
                        <a:lnTo>
                          <a:pt x="80" y="24386"/>
                        </a:lnTo>
                        <a:lnTo>
                          <a:pt x="93" y="24294"/>
                        </a:lnTo>
                        <a:lnTo>
                          <a:pt x="107" y="24201"/>
                        </a:lnTo>
                        <a:lnTo>
                          <a:pt x="123" y="24107"/>
                        </a:lnTo>
                        <a:lnTo>
                          <a:pt x="140" y="24011"/>
                        </a:lnTo>
                        <a:lnTo>
                          <a:pt x="158" y="23916"/>
                        </a:lnTo>
                        <a:lnTo>
                          <a:pt x="178" y="23818"/>
                        </a:lnTo>
                        <a:lnTo>
                          <a:pt x="199" y="23720"/>
                        </a:lnTo>
                        <a:lnTo>
                          <a:pt x="223" y="23621"/>
                        </a:lnTo>
                        <a:lnTo>
                          <a:pt x="247" y="23521"/>
                        </a:lnTo>
                        <a:lnTo>
                          <a:pt x="273" y="23422"/>
                        </a:lnTo>
                        <a:lnTo>
                          <a:pt x="301" y="23321"/>
                        </a:lnTo>
                        <a:lnTo>
                          <a:pt x="330" y="23219"/>
                        </a:lnTo>
                        <a:lnTo>
                          <a:pt x="361" y="23118"/>
                        </a:lnTo>
                        <a:lnTo>
                          <a:pt x="395" y="23015"/>
                        </a:lnTo>
                        <a:lnTo>
                          <a:pt x="430" y="22913"/>
                        </a:lnTo>
                        <a:lnTo>
                          <a:pt x="466" y="22810"/>
                        </a:lnTo>
                        <a:lnTo>
                          <a:pt x="505" y="22707"/>
                        </a:lnTo>
                        <a:lnTo>
                          <a:pt x="546" y="22604"/>
                        </a:lnTo>
                        <a:lnTo>
                          <a:pt x="546" y="22604"/>
                        </a:lnTo>
                        <a:lnTo>
                          <a:pt x="592" y="22494"/>
                        </a:lnTo>
                        <a:lnTo>
                          <a:pt x="639" y="22386"/>
                        </a:lnTo>
                        <a:lnTo>
                          <a:pt x="688" y="22279"/>
                        </a:lnTo>
                        <a:lnTo>
                          <a:pt x="739" y="22174"/>
                        </a:lnTo>
                        <a:lnTo>
                          <a:pt x="791" y="22072"/>
                        </a:lnTo>
                        <a:lnTo>
                          <a:pt x="844" y="21970"/>
                        </a:lnTo>
                        <a:lnTo>
                          <a:pt x="899" y="21870"/>
                        </a:lnTo>
                        <a:lnTo>
                          <a:pt x="957" y="21773"/>
                        </a:lnTo>
                        <a:lnTo>
                          <a:pt x="1015" y="21676"/>
                        </a:lnTo>
                        <a:lnTo>
                          <a:pt x="1075" y="21582"/>
                        </a:lnTo>
                        <a:lnTo>
                          <a:pt x="1137" y="21489"/>
                        </a:lnTo>
                        <a:lnTo>
                          <a:pt x="1200" y="21398"/>
                        </a:lnTo>
                        <a:lnTo>
                          <a:pt x="1266" y="21309"/>
                        </a:lnTo>
                        <a:lnTo>
                          <a:pt x="1332" y="21222"/>
                        </a:lnTo>
                        <a:lnTo>
                          <a:pt x="1400" y="21136"/>
                        </a:lnTo>
                        <a:lnTo>
                          <a:pt x="1470" y="21052"/>
                        </a:lnTo>
                        <a:lnTo>
                          <a:pt x="1541" y="20970"/>
                        </a:lnTo>
                        <a:lnTo>
                          <a:pt x="1614" y="20890"/>
                        </a:lnTo>
                        <a:lnTo>
                          <a:pt x="1688" y="20811"/>
                        </a:lnTo>
                        <a:lnTo>
                          <a:pt x="1763" y="20734"/>
                        </a:lnTo>
                        <a:lnTo>
                          <a:pt x="1841" y="20659"/>
                        </a:lnTo>
                        <a:lnTo>
                          <a:pt x="1920" y="20586"/>
                        </a:lnTo>
                        <a:lnTo>
                          <a:pt x="2001" y="20514"/>
                        </a:lnTo>
                        <a:lnTo>
                          <a:pt x="2082" y="20445"/>
                        </a:lnTo>
                        <a:lnTo>
                          <a:pt x="2166" y="20377"/>
                        </a:lnTo>
                        <a:lnTo>
                          <a:pt x="2251" y="20311"/>
                        </a:lnTo>
                        <a:lnTo>
                          <a:pt x="2338" y="20247"/>
                        </a:lnTo>
                        <a:lnTo>
                          <a:pt x="2426" y="20184"/>
                        </a:lnTo>
                        <a:lnTo>
                          <a:pt x="2516" y="20124"/>
                        </a:lnTo>
                        <a:lnTo>
                          <a:pt x="2607" y="20065"/>
                        </a:lnTo>
                        <a:lnTo>
                          <a:pt x="2700" y="20008"/>
                        </a:lnTo>
                        <a:lnTo>
                          <a:pt x="2793" y="19953"/>
                        </a:lnTo>
                        <a:lnTo>
                          <a:pt x="2793" y="19953"/>
                        </a:lnTo>
                        <a:lnTo>
                          <a:pt x="2893" y="19898"/>
                        </a:lnTo>
                        <a:lnTo>
                          <a:pt x="2993" y="19844"/>
                        </a:lnTo>
                        <a:lnTo>
                          <a:pt x="3095" y="19793"/>
                        </a:lnTo>
                        <a:lnTo>
                          <a:pt x="3199" y="19743"/>
                        </a:lnTo>
                        <a:lnTo>
                          <a:pt x="3304" y="19695"/>
                        </a:lnTo>
                        <a:lnTo>
                          <a:pt x="3411" y="19648"/>
                        </a:lnTo>
                        <a:lnTo>
                          <a:pt x="3519" y="19603"/>
                        </a:lnTo>
                        <a:lnTo>
                          <a:pt x="3629" y="19560"/>
                        </a:lnTo>
                        <a:lnTo>
                          <a:pt x="3740" y="19519"/>
                        </a:lnTo>
                        <a:lnTo>
                          <a:pt x="3852" y="19479"/>
                        </a:lnTo>
                        <a:lnTo>
                          <a:pt x="3967" y="19441"/>
                        </a:lnTo>
                        <a:lnTo>
                          <a:pt x="4083" y="19405"/>
                        </a:lnTo>
                        <a:lnTo>
                          <a:pt x="4199" y="19371"/>
                        </a:lnTo>
                        <a:lnTo>
                          <a:pt x="4318" y="19338"/>
                        </a:lnTo>
                        <a:lnTo>
                          <a:pt x="4438" y="19307"/>
                        </a:lnTo>
                        <a:lnTo>
                          <a:pt x="4559" y="19278"/>
                        </a:lnTo>
                        <a:lnTo>
                          <a:pt x="4682" y="19251"/>
                        </a:lnTo>
                        <a:lnTo>
                          <a:pt x="4807" y="19226"/>
                        </a:lnTo>
                        <a:lnTo>
                          <a:pt x="4932" y="19202"/>
                        </a:lnTo>
                        <a:lnTo>
                          <a:pt x="5059" y="19180"/>
                        </a:lnTo>
                        <a:lnTo>
                          <a:pt x="5188" y="19159"/>
                        </a:lnTo>
                        <a:lnTo>
                          <a:pt x="5319" y="19140"/>
                        </a:lnTo>
                        <a:lnTo>
                          <a:pt x="5449" y="19124"/>
                        </a:lnTo>
                        <a:lnTo>
                          <a:pt x="5582" y="19109"/>
                        </a:lnTo>
                        <a:lnTo>
                          <a:pt x="5717" y="19096"/>
                        </a:lnTo>
                        <a:lnTo>
                          <a:pt x="5852" y="19084"/>
                        </a:lnTo>
                        <a:lnTo>
                          <a:pt x="5989" y="19074"/>
                        </a:lnTo>
                        <a:lnTo>
                          <a:pt x="6127" y="19066"/>
                        </a:lnTo>
                        <a:lnTo>
                          <a:pt x="6267" y="19060"/>
                        </a:lnTo>
                        <a:lnTo>
                          <a:pt x="6408" y="19056"/>
                        </a:lnTo>
                        <a:lnTo>
                          <a:pt x="6551" y="19053"/>
                        </a:lnTo>
                        <a:lnTo>
                          <a:pt x="6694" y="19052"/>
                        </a:lnTo>
                        <a:lnTo>
                          <a:pt x="6694" y="19052"/>
                        </a:lnTo>
                        <a:lnTo>
                          <a:pt x="6824" y="19053"/>
                        </a:lnTo>
                        <a:lnTo>
                          <a:pt x="6955" y="19055"/>
                        </a:lnTo>
                        <a:lnTo>
                          <a:pt x="7087" y="19059"/>
                        </a:lnTo>
                        <a:lnTo>
                          <a:pt x="7220" y="19064"/>
                        </a:lnTo>
                        <a:lnTo>
                          <a:pt x="7354" y="19070"/>
                        </a:lnTo>
                        <a:lnTo>
                          <a:pt x="7490" y="19078"/>
                        </a:lnTo>
                        <a:lnTo>
                          <a:pt x="7627" y="19087"/>
                        </a:lnTo>
                        <a:lnTo>
                          <a:pt x="7765" y="19097"/>
                        </a:lnTo>
                        <a:lnTo>
                          <a:pt x="7903" y="19109"/>
                        </a:lnTo>
                        <a:lnTo>
                          <a:pt x="8044" y="19123"/>
                        </a:lnTo>
                        <a:lnTo>
                          <a:pt x="8185" y="19138"/>
                        </a:lnTo>
                        <a:lnTo>
                          <a:pt x="8327" y="19154"/>
                        </a:lnTo>
                        <a:lnTo>
                          <a:pt x="8470" y="19171"/>
                        </a:lnTo>
                        <a:lnTo>
                          <a:pt x="8613" y="19191"/>
                        </a:lnTo>
                        <a:lnTo>
                          <a:pt x="8757" y="19211"/>
                        </a:lnTo>
                        <a:lnTo>
                          <a:pt x="8903" y="19233"/>
                        </a:lnTo>
                        <a:lnTo>
                          <a:pt x="8903" y="19233"/>
                        </a:lnTo>
                        <a:lnTo>
                          <a:pt x="9101" y="19265"/>
                        </a:lnTo>
                        <a:lnTo>
                          <a:pt x="9300" y="19298"/>
                        </a:lnTo>
                        <a:lnTo>
                          <a:pt x="9501" y="19335"/>
                        </a:lnTo>
                        <a:lnTo>
                          <a:pt x="9704" y="19374"/>
                        </a:lnTo>
                        <a:lnTo>
                          <a:pt x="9907" y="19415"/>
                        </a:lnTo>
                        <a:lnTo>
                          <a:pt x="10112" y="19457"/>
                        </a:lnTo>
                        <a:lnTo>
                          <a:pt x="10318" y="19501"/>
                        </a:lnTo>
                        <a:lnTo>
                          <a:pt x="10526" y="19548"/>
                        </a:lnTo>
                        <a:lnTo>
                          <a:pt x="10735" y="19596"/>
                        </a:lnTo>
                        <a:lnTo>
                          <a:pt x="10947" y="19644"/>
                        </a:lnTo>
                        <a:lnTo>
                          <a:pt x="11159" y="19695"/>
                        </a:lnTo>
                        <a:lnTo>
                          <a:pt x="11373" y="19746"/>
                        </a:lnTo>
                        <a:lnTo>
                          <a:pt x="11806" y="19852"/>
                        </a:lnTo>
                        <a:lnTo>
                          <a:pt x="12244" y="19959"/>
                        </a:lnTo>
                        <a:lnTo>
                          <a:pt x="12244" y="19959"/>
                        </a:lnTo>
                        <a:lnTo>
                          <a:pt x="12609" y="20050"/>
                        </a:lnTo>
                        <a:lnTo>
                          <a:pt x="12976" y="20139"/>
                        </a:lnTo>
                        <a:lnTo>
                          <a:pt x="13343" y="20228"/>
                        </a:lnTo>
                        <a:lnTo>
                          <a:pt x="13710" y="20314"/>
                        </a:lnTo>
                        <a:lnTo>
                          <a:pt x="13894" y="20356"/>
                        </a:lnTo>
                        <a:lnTo>
                          <a:pt x="14078" y="20399"/>
                        </a:lnTo>
                        <a:lnTo>
                          <a:pt x="14262" y="20439"/>
                        </a:lnTo>
                        <a:lnTo>
                          <a:pt x="14445" y="20479"/>
                        </a:lnTo>
                        <a:lnTo>
                          <a:pt x="14628" y="20517"/>
                        </a:lnTo>
                        <a:lnTo>
                          <a:pt x="14810" y="20556"/>
                        </a:lnTo>
                        <a:lnTo>
                          <a:pt x="14993" y="20592"/>
                        </a:lnTo>
                        <a:lnTo>
                          <a:pt x="15174" y="20627"/>
                        </a:lnTo>
                        <a:lnTo>
                          <a:pt x="15356" y="20661"/>
                        </a:lnTo>
                        <a:lnTo>
                          <a:pt x="15537" y="20693"/>
                        </a:lnTo>
                        <a:lnTo>
                          <a:pt x="15717" y="20724"/>
                        </a:lnTo>
                        <a:lnTo>
                          <a:pt x="15896" y="20753"/>
                        </a:lnTo>
                        <a:lnTo>
                          <a:pt x="16075" y="20780"/>
                        </a:lnTo>
                        <a:lnTo>
                          <a:pt x="16253" y="20805"/>
                        </a:lnTo>
                        <a:lnTo>
                          <a:pt x="16431" y="20829"/>
                        </a:lnTo>
                        <a:lnTo>
                          <a:pt x="16607" y="20850"/>
                        </a:lnTo>
                        <a:lnTo>
                          <a:pt x="16783" y="20870"/>
                        </a:lnTo>
                        <a:lnTo>
                          <a:pt x="16958" y="20887"/>
                        </a:lnTo>
                        <a:lnTo>
                          <a:pt x="17131" y="20901"/>
                        </a:lnTo>
                        <a:lnTo>
                          <a:pt x="17217" y="20907"/>
                        </a:lnTo>
                        <a:lnTo>
                          <a:pt x="17304" y="20913"/>
                        </a:lnTo>
                        <a:lnTo>
                          <a:pt x="17389" y="20918"/>
                        </a:lnTo>
                        <a:lnTo>
                          <a:pt x="17475" y="20923"/>
                        </a:lnTo>
                        <a:lnTo>
                          <a:pt x="17560" y="20926"/>
                        </a:lnTo>
                        <a:lnTo>
                          <a:pt x="17646" y="20930"/>
                        </a:lnTo>
                        <a:lnTo>
                          <a:pt x="17730" y="20932"/>
                        </a:lnTo>
                        <a:lnTo>
                          <a:pt x="17815" y="20934"/>
                        </a:lnTo>
                        <a:lnTo>
                          <a:pt x="17898" y="20935"/>
                        </a:lnTo>
                        <a:lnTo>
                          <a:pt x="17983" y="20935"/>
                        </a:lnTo>
                        <a:lnTo>
                          <a:pt x="17983" y="20935"/>
                        </a:lnTo>
                        <a:lnTo>
                          <a:pt x="18128" y="20934"/>
                        </a:lnTo>
                        <a:lnTo>
                          <a:pt x="18270" y="20931"/>
                        </a:lnTo>
                        <a:lnTo>
                          <a:pt x="18412" y="20925"/>
                        </a:lnTo>
                        <a:lnTo>
                          <a:pt x="18551" y="20917"/>
                        </a:lnTo>
                        <a:lnTo>
                          <a:pt x="18689" y="20907"/>
                        </a:lnTo>
                        <a:lnTo>
                          <a:pt x="18756" y="20901"/>
                        </a:lnTo>
                        <a:lnTo>
                          <a:pt x="18824" y="20895"/>
                        </a:lnTo>
                        <a:lnTo>
                          <a:pt x="18890" y="20888"/>
                        </a:lnTo>
                        <a:lnTo>
                          <a:pt x="18956" y="20881"/>
                        </a:lnTo>
                        <a:lnTo>
                          <a:pt x="19023" y="20872"/>
                        </a:lnTo>
                        <a:lnTo>
                          <a:pt x="19088" y="20863"/>
                        </a:lnTo>
                        <a:lnTo>
                          <a:pt x="19152" y="20854"/>
                        </a:lnTo>
                        <a:lnTo>
                          <a:pt x="19217" y="20844"/>
                        </a:lnTo>
                        <a:lnTo>
                          <a:pt x="19281" y="20833"/>
                        </a:lnTo>
                        <a:lnTo>
                          <a:pt x="19345" y="20822"/>
                        </a:lnTo>
                        <a:lnTo>
                          <a:pt x="19407" y="20811"/>
                        </a:lnTo>
                        <a:lnTo>
                          <a:pt x="19470" y="20799"/>
                        </a:lnTo>
                        <a:lnTo>
                          <a:pt x="19532" y="20786"/>
                        </a:lnTo>
                        <a:lnTo>
                          <a:pt x="19593" y="20773"/>
                        </a:lnTo>
                        <a:lnTo>
                          <a:pt x="19654" y="20759"/>
                        </a:lnTo>
                        <a:lnTo>
                          <a:pt x="19715" y="20745"/>
                        </a:lnTo>
                        <a:lnTo>
                          <a:pt x="19775" y="20730"/>
                        </a:lnTo>
                        <a:lnTo>
                          <a:pt x="19834" y="20715"/>
                        </a:lnTo>
                        <a:lnTo>
                          <a:pt x="19894" y="20699"/>
                        </a:lnTo>
                        <a:lnTo>
                          <a:pt x="19952" y="20681"/>
                        </a:lnTo>
                        <a:lnTo>
                          <a:pt x="20010" y="20664"/>
                        </a:lnTo>
                        <a:lnTo>
                          <a:pt x="20069" y="20646"/>
                        </a:lnTo>
                        <a:lnTo>
                          <a:pt x="20125" y="20628"/>
                        </a:lnTo>
                        <a:lnTo>
                          <a:pt x="20182" y="20609"/>
                        </a:lnTo>
                        <a:lnTo>
                          <a:pt x="20239" y="20589"/>
                        </a:lnTo>
                        <a:lnTo>
                          <a:pt x="20295" y="20569"/>
                        </a:lnTo>
                        <a:lnTo>
                          <a:pt x="20350" y="20549"/>
                        </a:lnTo>
                        <a:lnTo>
                          <a:pt x="20405" y="20528"/>
                        </a:lnTo>
                        <a:lnTo>
                          <a:pt x="20459" y="20505"/>
                        </a:lnTo>
                        <a:lnTo>
                          <a:pt x="20513" y="20482"/>
                        </a:lnTo>
                        <a:lnTo>
                          <a:pt x="20567" y="20460"/>
                        </a:lnTo>
                        <a:lnTo>
                          <a:pt x="20620" y="20436"/>
                        </a:lnTo>
                        <a:lnTo>
                          <a:pt x="20673" y="20412"/>
                        </a:lnTo>
                        <a:lnTo>
                          <a:pt x="20725" y="20387"/>
                        </a:lnTo>
                        <a:lnTo>
                          <a:pt x="20777" y="20362"/>
                        </a:lnTo>
                        <a:lnTo>
                          <a:pt x="20828" y="20335"/>
                        </a:lnTo>
                        <a:lnTo>
                          <a:pt x="20879" y="20309"/>
                        </a:lnTo>
                        <a:lnTo>
                          <a:pt x="20930" y="20282"/>
                        </a:lnTo>
                        <a:lnTo>
                          <a:pt x="20980" y="20254"/>
                        </a:lnTo>
                        <a:lnTo>
                          <a:pt x="21029" y="20226"/>
                        </a:lnTo>
                        <a:lnTo>
                          <a:pt x="21078" y="20198"/>
                        </a:lnTo>
                        <a:lnTo>
                          <a:pt x="21128" y="20167"/>
                        </a:lnTo>
                        <a:lnTo>
                          <a:pt x="21176" y="20138"/>
                        </a:lnTo>
                        <a:lnTo>
                          <a:pt x="21223" y="20107"/>
                        </a:lnTo>
                        <a:lnTo>
                          <a:pt x="21270" y="20076"/>
                        </a:lnTo>
                        <a:lnTo>
                          <a:pt x="21318" y="20045"/>
                        </a:lnTo>
                        <a:lnTo>
                          <a:pt x="21364" y="20011"/>
                        </a:lnTo>
                        <a:lnTo>
                          <a:pt x="21410" y="19979"/>
                        </a:lnTo>
                        <a:lnTo>
                          <a:pt x="21457" y="19945"/>
                        </a:lnTo>
                        <a:lnTo>
                          <a:pt x="21502" y="19911"/>
                        </a:lnTo>
                        <a:lnTo>
                          <a:pt x="21547" y="19877"/>
                        </a:lnTo>
                        <a:lnTo>
                          <a:pt x="21591" y="19841"/>
                        </a:lnTo>
                        <a:lnTo>
                          <a:pt x="21636" y="19805"/>
                        </a:lnTo>
                        <a:lnTo>
                          <a:pt x="21679" y="19769"/>
                        </a:lnTo>
                        <a:lnTo>
                          <a:pt x="21679" y="19769"/>
                        </a:lnTo>
                        <a:lnTo>
                          <a:pt x="21735" y="19721"/>
                        </a:lnTo>
                        <a:lnTo>
                          <a:pt x="21790" y="19670"/>
                        </a:lnTo>
                        <a:lnTo>
                          <a:pt x="21846" y="19620"/>
                        </a:lnTo>
                        <a:lnTo>
                          <a:pt x="21900" y="19569"/>
                        </a:lnTo>
                        <a:lnTo>
                          <a:pt x="21954" y="19516"/>
                        </a:lnTo>
                        <a:lnTo>
                          <a:pt x="22008" y="19462"/>
                        </a:lnTo>
                        <a:lnTo>
                          <a:pt x="22060" y="19407"/>
                        </a:lnTo>
                        <a:lnTo>
                          <a:pt x="22112" y="19352"/>
                        </a:lnTo>
                        <a:lnTo>
                          <a:pt x="22164" y="19295"/>
                        </a:lnTo>
                        <a:lnTo>
                          <a:pt x="22214" y="19238"/>
                        </a:lnTo>
                        <a:lnTo>
                          <a:pt x="22263" y="19179"/>
                        </a:lnTo>
                        <a:lnTo>
                          <a:pt x="22312" y="19119"/>
                        </a:lnTo>
                        <a:lnTo>
                          <a:pt x="22361" y="19060"/>
                        </a:lnTo>
                        <a:lnTo>
                          <a:pt x="22407" y="18998"/>
                        </a:lnTo>
                        <a:lnTo>
                          <a:pt x="22454" y="18937"/>
                        </a:lnTo>
                        <a:lnTo>
                          <a:pt x="22499" y="18874"/>
                        </a:lnTo>
                        <a:lnTo>
                          <a:pt x="22544" y="18810"/>
                        </a:lnTo>
                        <a:lnTo>
                          <a:pt x="22587" y="18747"/>
                        </a:lnTo>
                        <a:lnTo>
                          <a:pt x="22629" y="18683"/>
                        </a:lnTo>
                        <a:lnTo>
                          <a:pt x="22670" y="18617"/>
                        </a:lnTo>
                        <a:lnTo>
                          <a:pt x="22712" y="18551"/>
                        </a:lnTo>
                        <a:lnTo>
                          <a:pt x="22751" y="18484"/>
                        </a:lnTo>
                        <a:lnTo>
                          <a:pt x="22789" y="18417"/>
                        </a:lnTo>
                        <a:lnTo>
                          <a:pt x="22826" y="18350"/>
                        </a:lnTo>
                        <a:lnTo>
                          <a:pt x="22862" y="18281"/>
                        </a:lnTo>
                        <a:lnTo>
                          <a:pt x="22897" y="18212"/>
                        </a:lnTo>
                        <a:lnTo>
                          <a:pt x="22930" y="18143"/>
                        </a:lnTo>
                        <a:lnTo>
                          <a:pt x="22962" y="18073"/>
                        </a:lnTo>
                        <a:lnTo>
                          <a:pt x="22993" y="18003"/>
                        </a:lnTo>
                        <a:lnTo>
                          <a:pt x="23022" y="17932"/>
                        </a:lnTo>
                        <a:lnTo>
                          <a:pt x="23052" y="17862"/>
                        </a:lnTo>
                        <a:lnTo>
                          <a:pt x="23078" y="17790"/>
                        </a:lnTo>
                        <a:lnTo>
                          <a:pt x="23104" y="17719"/>
                        </a:lnTo>
                        <a:lnTo>
                          <a:pt x="23128" y="17646"/>
                        </a:lnTo>
                        <a:lnTo>
                          <a:pt x="23151" y="17574"/>
                        </a:lnTo>
                        <a:lnTo>
                          <a:pt x="23172" y="17502"/>
                        </a:lnTo>
                        <a:lnTo>
                          <a:pt x="23191" y="17429"/>
                        </a:lnTo>
                        <a:lnTo>
                          <a:pt x="23211" y="17356"/>
                        </a:lnTo>
                        <a:lnTo>
                          <a:pt x="23227" y="17283"/>
                        </a:lnTo>
                        <a:lnTo>
                          <a:pt x="23242" y="17210"/>
                        </a:lnTo>
                        <a:lnTo>
                          <a:pt x="23256" y="17136"/>
                        </a:lnTo>
                        <a:lnTo>
                          <a:pt x="23268" y="17063"/>
                        </a:lnTo>
                        <a:lnTo>
                          <a:pt x="23278" y="16990"/>
                        </a:lnTo>
                        <a:lnTo>
                          <a:pt x="23286" y="16916"/>
                        </a:lnTo>
                        <a:lnTo>
                          <a:pt x="23293" y="16842"/>
                        </a:lnTo>
                        <a:lnTo>
                          <a:pt x="23298" y="16768"/>
                        </a:lnTo>
                        <a:lnTo>
                          <a:pt x="23302" y="16695"/>
                        </a:lnTo>
                        <a:lnTo>
                          <a:pt x="23303" y="16621"/>
                        </a:lnTo>
                        <a:lnTo>
                          <a:pt x="23303" y="16548"/>
                        </a:lnTo>
                        <a:lnTo>
                          <a:pt x="23301" y="16475"/>
                        </a:lnTo>
                        <a:lnTo>
                          <a:pt x="23297" y="16401"/>
                        </a:lnTo>
                        <a:lnTo>
                          <a:pt x="23291" y="16328"/>
                        </a:lnTo>
                        <a:lnTo>
                          <a:pt x="23283" y="16255"/>
                        </a:lnTo>
                        <a:lnTo>
                          <a:pt x="23274" y="16182"/>
                        </a:lnTo>
                        <a:lnTo>
                          <a:pt x="23262" y="16109"/>
                        </a:lnTo>
                        <a:lnTo>
                          <a:pt x="23248" y="16037"/>
                        </a:lnTo>
                        <a:lnTo>
                          <a:pt x="23233" y="15966"/>
                        </a:lnTo>
                        <a:lnTo>
                          <a:pt x="23215" y="15894"/>
                        </a:lnTo>
                        <a:lnTo>
                          <a:pt x="23194" y="15823"/>
                        </a:lnTo>
                        <a:lnTo>
                          <a:pt x="23172" y="15751"/>
                        </a:lnTo>
                        <a:lnTo>
                          <a:pt x="23148" y="15681"/>
                        </a:lnTo>
                        <a:lnTo>
                          <a:pt x="23122" y="15610"/>
                        </a:lnTo>
                        <a:lnTo>
                          <a:pt x="23093" y="15541"/>
                        </a:lnTo>
                        <a:lnTo>
                          <a:pt x="23062" y="15472"/>
                        </a:lnTo>
                        <a:lnTo>
                          <a:pt x="23062" y="15472"/>
                        </a:lnTo>
                        <a:lnTo>
                          <a:pt x="23042" y="15427"/>
                        </a:lnTo>
                        <a:lnTo>
                          <a:pt x="23019" y="15382"/>
                        </a:lnTo>
                        <a:lnTo>
                          <a:pt x="22996" y="15338"/>
                        </a:lnTo>
                        <a:lnTo>
                          <a:pt x="22973" y="15293"/>
                        </a:lnTo>
                        <a:lnTo>
                          <a:pt x="22948" y="15247"/>
                        </a:lnTo>
                        <a:lnTo>
                          <a:pt x="22923" y="15202"/>
                        </a:lnTo>
                        <a:lnTo>
                          <a:pt x="22896" y="15157"/>
                        </a:lnTo>
                        <a:lnTo>
                          <a:pt x="22869" y="15111"/>
                        </a:lnTo>
                        <a:lnTo>
                          <a:pt x="22840" y="15066"/>
                        </a:lnTo>
                        <a:lnTo>
                          <a:pt x="22812" y="15022"/>
                        </a:lnTo>
                        <a:lnTo>
                          <a:pt x="22782" y="14977"/>
                        </a:lnTo>
                        <a:lnTo>
                          <a:pt x="22751" y="14931"/>
                        </a:lnTo>
                        <a:lnTo>
                          <a:pt x="22720" y="14886"/>
                        </a:lnTo>
                        <a:lnTo>
                          <a:pt x="22687" y="14842"/>
                        </a:lnTo>
                        <a:lnTo>
                          <a:pt x="22653" y="14797"/>
                        </a:lnTo>
                        <a:lnTo>
                          <a:pt x="22619" y="14752"/>
                        </a:lnTo>
                        <a:lnTo>
                          <a:pt x="22584" y="14708"/>
                        </a:lnTo>
                        <a:lnTo>
                          <a:pt x="22549" y="14664"/>
                        </a:lnTo>
                        <a:lnTo>
                          <a:pt x="22512" y="14621"/>
                        </a:lnTo>
                        <a:lnTo>
                          <a:pt x="22474" y="14577"/>
                        </a:lnTo>
                        <a:lnTo>
                          <a:pt x="22435" y="14534"/>
                        </a:lnTo>
                        <a:lnTo>
                          <a:pt x="22396" y="14492"/>
                        </a:lnTo>
                        <a:lnTo>
                          <a:pt x="22356" y="14450"/>
                        </a:lnTo>
                        <a:lnTo>
                          <a:pt x="22315" y="14407"/>
                        </a:lnTo>
                        <a:lnTo>
                          <a:pt x="22273" y="14366"/>
                        </a:lnTo>
                        <a:lnTo>
                          <a:pt x="22231" y="14326"/>
                        </a:lnTo>
                        <a:lnTo>
                          <a:pt x="22187" y="14285"/>
                        </a:lnTo>
                        <a:lnTo>
                          <a:pt x="22142" y="14245"/>
                        </a:lnTo>
                        <a:lnTo>
                          <a:pt x="22097" y="14206"/>
                        </a:lnTo>
                        <a:lnTo>
                          <a:pt x="22052" y="14168"/>
                        </a:lnTo>
                        <a:lnTo>
                          <a:pt x="22005" y="14130"/>
                        </a:lnTo>
                        <a:lnTo>
                          <a:pt x="21957" y="14092"/>
                        </a:lnTo>
                        <a:lnTo>
                          <a:pt x="21909" y="14055"/>
                        </a:lnTo>
                        <a:lnTo>
                          <a:pt x="21860" y="14020"/>
                        </a:lnTo>
                        <a:lnTo>
                          <a:pt x="21810" y="13985"/>
                        </a:lnTo>
                        <a:lnTo>
                          <a:pt x="21759" y="13951"/>
                        </a:lnTo>
                        <a:lnTo>
                          <a:pt x="21708" y="13916"/>
                        </a:lnTo>
                        <a:lnTo>
                          <a:pt x="21656" y="13884"/>
                        </a:lnTo>
                        <a:lnTo>
                          <a:pt x="21602" y="13852"/>
                        </a:lnTo>
                        <a:lnTo>
                          <a:pt x="21548" y="13821"/>
                        </a:lnTo>
                        <a:lnTo>
                          <a:pt x="21494" y="13791"/>
                        </a:lnTo>
                        <a:lnTo>
                          <a:pt x="21438" y="13761"/>
                        </a:lnTo>
                        <a:lnTo>
                          <a:pt x="21382" y="13734"/>
                        </a:lnTo>
                        <a:lnTo>
                          <a:pt x="21325" y="13707"/>
                        </a:lnTo>
                        <a:lnTo>
                          <a:pt x="21266" y="13681"/>
                        </a:lnTo>
                        <a:lnTo>
                          <a:pt x="21208" y="13656"/>
                        </a:lnTo>
                        <a:lnTo>
                          <a:pt x="21149" y="13632"/>
                        </a:lnTo>
                        <a:lnTo>
                          <a:pt x="21088" y="13610"/>
                        </a:lnTo>
                        <a:lnTo>
                          <a:pt x="21028" y="13587"/>
                        </a:lnTo>
                        <a:lnTo>
                          <a:pt x="20967" y="13567"/>
                        </a:lnTo>
                        <a:lnTo>
                          <a:pt x="20904" y="13548"/>
                        </a:lnTo>
                        <a:lnTo>
                          <a:pt x="20841" y="13530"/>
                        </a:lnTo>
                        <a:lnTo>
                          <a:pt x="20778" y="13513"/>
                        </a:lnTo>
                        <a:lnTo>
                          <a:pt x="20712" y="13498"/>
                        </a:lnTo>
                        <a:lnTo>
                          <a:pt x="20647" y="13484"/>
                        </a:lnTo>
                        <a:lnTo>
                          <a:pt x="20582" y="13471"/>
                        </a:lnTo>
                        <a:lnTo>
                          <a:pt x="20514" y="13460"/>
                        </a:lnTo>
                        <a:lnTo>
                          <a:pt x="20447" y="13450"/>
                        </a:lnTo>
                        <a:lnTo>
                          <a:pt x="20378" y="13442"/>
                        </a:lnTo>
                        <a:lnTo>
                          <a:pt x="20310" y="13435"/>
                        </a:lnTo>
                        <a:lnTo>
                          <a:pt x="20241" y="13428"/>
                        </a:lnTo>
                        <a:lnTo>
                          <a:pt x="20170" y="13425"/>
                        </a:lnTo>
                        <a:lnTo>
                          <a:pt x="20099" y="13422"/>
                        </a:lnTo>
                        <a:lnTo>
                          <a:pt x="20026" y="13421"/>
                        </a:lnTo>
                        <a:lnTo>
                          <a:pt x="20026" y="13421"/>
                        </a:lnTo>
                        <a:lnTo>
                          <a:pt x="19956" y="13422"/>
                        </a:lnTo>
                        <a:lnTo>
                          <a:pt x="19886" y="13424"/>
                        </a:lnTo>
                        <a:lnTo>
                          <a:pt x="19814" y="13428"/>
                        </a:lnTo>
                        <a:lnTo>
                          <a:pt x="19743" y="13435"/>
                        </a:lnTo>
                        <a:lnTo>
                          <a:pt x="19743" y="13435"/>
                        </a:lnTo>
                        <a:lnTo>
                          <a:pt x="19654" y="13443"/>
                        </a:lnTo>
                        <a:lnTo>
                          <a:pt x="19566" y="13452"/>
                        </a:lnTo>
                        <a:lnTo>
                          <a:pt x="19477" y="13463"/>
                        </a:lnTo>
                        <a:lnTo>
                          <a:pt x="19390" y="13475"/>
                        </a:lnTo>
                        <a:lnTo>
                          <a:pt x="19301" y="13488"/>
                        </a:lnTo>
                        <a:lnTo>
                          <a:pt x="19213" y="13502"/>
                        </a:lnTo>
                        <a:lnTo>
                          <a:pt x="19124" y="13517"/>
                        </a:lnTo>
                        <a:lnTo>
                          <a:pt x="19036" y="13533"/>
                        </a:lnTo>
                        <a:lnTo>
                          <a:pt x="18947" y="13550"/>
                        </a:lnTo>
                        <a:lnTo>
                          <a:pt x="18859" y="13569"/>
                        </a:lnTo>
                        <a:lnTo>
                          <a:pt x="18770" y="13588"/>
                        </a:lnTo>
                        <a:lnTo>
                          <a:pt x="18681" y="13609"/>
                        </a:lnTo>
                        <a:lnTo>
                          <a:pt x="18592" y="13630"/>
                        </a:lnTo>
                        <a:lnTo>
                          <a:pt x="18504" y="13651"/>
                        </a:lnTo>
                        <a:lnTo>
                          <a:pt x="18414" y="13674"/>
                        </a:lnTo>
                        <a:lnTo>
                          <a:pt x="18326" y="13697"/>
                        </a:lnTo>
                        <a:lnTo>
                          <a:pt x="18236" y="13721"/>
                        </a:lnTo>
                        <a:lnTo>
                          <a:pt x="18147" y="13746"/>
                        </a:lnTo>
                        <a:lnTo>
                          <a:pt x="17967" y="13798"/>
                        </a:lnTo>
                        <a:lnTo>
                          <a:pt x="17787" y="13851"/>
                        </a:lnTo>
                        <a:lnTo>
                          <a:pt x="17606" y="13906"/>
                        </a:lnTo>
                        <a:lnTo>
                          <a:pt x="17425" y="13964"/>
                        </a:lnTo>
                        <a:lnTo>
                          <a:pt x="17242" y="14022"/>
                        </a:lnTo>
                        <a:lnTo>
                          <a:pt x="16872" y="14142"/>
                        </a:lnTo>
                        <a:lnTo>
                          <a:pt x="16671" y="14207"/>
                        </a:lnTo>
                        <a:lnTo>
                          <a:pt x="16671" y="14207"/>
                        </a:lnTo>
                        <a:lnTo>
                          <a:pt x="16344" y="14314"/>
                        </a:lnTo>
                        <a:lnTo>
                          <a:pt x="16012" y="14420"/>
                        </a:lnTo>
                        <a:lnTo>
                          <a:pt x="15843" y="14474"/>
                        </a:lnTo>
                        <a:lnTo>
                          <a:pt x="15674" y="14527"/>
                        </a:lnTo>
                        <a:lnTo>
                          <a:pt x="15503" y="14579"/>
                        </a:lnTo>
                        <a:lnTo>
                          <a:pt x="15331" y="14632"/>
                        </a:lnTo>
                        <a:lnTo>
                          <a:pt x="15158" y="14684"/>
                        </a:lnTo>
                        <a:lnTo>
                          <a:pt x="14984" y="14734"/>
                        </a:lnTo>
                        <a:lnTo>
                          <a:pt x="14808" y="14785"/>
                        </a:lnTo>
                        <a:lnTo>
                          <a:pt x="14632" y="14834"/>
                        </a:lnTo>
                        <a:lnTo>
                          <a:pt x="14455" y="14882"/>
                        </a:lnTo>
                        <a:lnTo>
                          <a:pt x="14276" y="14929"/>
                        </a:lnTo>
                        <a:lnTo>
                          <a:pt x="14097" y="14975"/>
                        </a:lnTo>
                        <a:lnTo>
                          <a:pt x="13916" y="15018"/>
                        </a:lnTo>
                        <a:lnTo>
                          <a:pt x="13735" y="15060"/>
                        </a:lnTo>
                        <a:lnTo>
                          <a:pt x="13553" y="15101"/>
                        </a:lnTo>
                        <a:lnTo>
                          <a:pt x="13369" y="15140"/>
                        </a:lnTo>
                        <a:lnTo>
                          <a:pt x="13185" y="15176"/>
                        </a:lnTo>
                        <a:lnTo>
                          <a:pt x="13000" y="15210"/>
                        </a:lnTo>
                        <a:lnTo>
                          <a:pt x="12908" y="15227"/>
                        </a:lnTo>
                        <a:lnTo>
                          <a:pt x="12814" y="15242"/>
                        </a:lnTo>
                        <a:lnTo>
                          <a:pt x="12722" y="15257"/>
                        </a:lnTo>
                        <a:lnTo>
                          <a:pt x="12628" y="15272"/>
                        </a:lnTo>
                        <a:lnTo>
                          <a:pt x="12535" y="15285"/>
                        </a:lnTo>
                        <a:lnTo>
                          <a:pt x="12441" y="15300"/>
                        </a:lnTo>
                        <a:lnTo>
                          <a:pt x="12347" y="15312"/>
                        </a:lnTo>
                        <a:lnTo>
                          <a:pt x="12253" y="15324"/>
                        </a:lnTo>
                        <a:lnTo>
                          <a:pt x="12159" y="15335"/>
                        </a:lnTo>
                        <a:lnTo>
                          <a:pt x="12064" y="15345"/>
                        </a:lnTo>
                        <a:lnTo>
                          <a:pt x="11970" y="15355"/>
                        </a:lnTo>
                        <a:lnTo>
                          <a:pt x="11875" y="15364"/>
                        </a:lnTo>
                        <a:lnTo>
                          <a:pt x="11779" y="15372"/>
                        </a:lnTo>
                        <a:lnTo>
                          <a:pt x="11685" y="15379"/>
                        </a:lnTo>
                        <a:lnTo>
                          <a:pt x="11589" y="15386"/>
                        </a:lnTo>
                        <a:lnTo>
                          <a:pt x="11494" y="15391"/>
                        </a:lnTo>
                        <a:lnTo>
                          <a:pt x="11398" y="15396"/>
                        </a:lnTo>
                        <a:lnTo>
                          <a:pt x="11303" y="15400"/>
                        </a:lnTo>
                        <a:lnTo>
                          <a:pt x="11207" y="15403"/>
                        </a:lnTo>
                        <a:lnTo>
                          <a:pt x="11111" y="15406"/>
                        </a:lnTo>
                        <a:lnTo>
                          <a:pt x="11014" y="15407"/>
                        </a:lnTo>
                        <a:lnTo>
                          <a:pt x="10919" y="15407"/>
                        </a:lnTo>
                        <a:lnTo>
                          <a:pt x="10919" y="15407"/>
                        </a:lnTo>
                        <a:lnTo>
                          <a:pt x="10801" y="15407"/>
                        </a:lnTo>
                        <a:lnTo>
                          <a:pt x="10683" y="15405"/>
                        </a:lnTo>
                        <a:lnTo>
                          <a:pt x="10567" y="15401"/>
                        </a:lnTo>
                        <a:lnTo>
                          <a:pt x="10450" y="15396"/>
                        </a:lnTo>
                        <a:lnTo>
                          <a:pt x="10334" y="15390"/>
                        </a:lnTo>
                        <a:lnTo>
                          <a:pt x="10218" y="15382"/>
                        </a:lnTo>
                        <a:lnTo>
                          <a:pt x="10103" y="15373"/>
                        </a:lnTo>
                        <a:lnTo>
                          <a:pt x="9987" y="15363"/>
                        </a:lnTo>
                        <a:lnTo>
                          <a:pt x="9873" y="15351"/>
                        </a:lnTo>
                        <a:lnTo>
                          <a:pt x="9759" y="15338"/>
                        </a:lnTo>
                        <a:lnTo>
                          <a:pt x="9645" y="15323"/>
                        </a:lnTo>
                        <a:lnTo>
                          <a:pt x="9532" y="15307"/>
                        </a:lnTo>
                        <a:lnTo>
                          <a:pt x="9419" y="15290"/>
                        </a:lnTo>
                        <a:lnTo>
                          <a:pt x="9307" y="15270"/>
                        </a:lnTo>
                        <a:lnTo>
                          <a:pt x="9196" y="15250"/>
                        </a:lnTo>
                        <a:lnTo>
                          <a:pt x="9085" y="15228"/>
                        </a:lnTo>
                        <a:lnTo>
                          <a:pt x="9085" y="15228"/>
                        </a:lnTo>
                        <a:lnTo>
                          <a:pt x="8975" y="15205"/>
                        </a:lnTo>
                        <a:lnTo>
                          <a:pt x="8866" y="15181"/>
                        </a:lnTo>
                        <a:lnTo>
                          <a:pt x="8758" y="15155"/>
                        </a:lnTo>
                        <a:lnTo>
                          <a:pt x="8652" y="15127"/>
                        </a:lnTo>
                        <a:lnTo>
                          <a:pt x="8546" y="15097"/>
                        </a:lnTo>
                        <a:lnTo>
                          <a:pt x="8441" y="15066"/>
                        </a:lnTo>
                        <a:lnTo>
                          <a:pt x="8339" y="15034"/>
                        </a:lnTo>
                        <a:lnTo>
                          <a:pt x="8238" y="15000"/>
                        </a:lnTo>
                        <a:lnTo>
                          <a:pt x="8138" y="14965"/>
                        </a:lnTo>
                        <a:lnTo>
                          <a:pt x="8040" y="14928"/>
                        </a:lnTo>
                        <a:lnTo>
                          <a:pt x="7943" y="14890"/>
                        </a:lnTo>
                        <a:lnTo>
                          <a:pt x="7847" y="14851"/>
                        </a:lnTo>
                        <a:lnTo>
                          <a:pt x="7752" y="14810"/>
                        </a:lnTo>
                        <a:lnTo>
                          <a:pt x="7660" y="14767"/>
                        </a:lnTo>
                        <a:lnTo>
                          <a:pt x="7568" y="14723"/>
                        </a:lnTo>
                        <a:lnTo>
                          <a:pt x="7479" y="14679"/>
                        </a:lnTo>
                        <a:lnTo>
                          <a:pt x="7390" y="14633"/>
                        </a:lnTo>
                        <a:lnTo>
                          <a:pt x="7304" y="14584"/>
                        </a:lnTo>
                        <a:lnTo>
                          <a:pt x="7218" y="14535"/>
                        </a:lnTo>
                        <a:lnTo>
                          <a:pt x="7135" y="14485"/>
                        </a:lnTo>
                        <a:lnTo>
                          <a:pt x="7053" y="14433"/>
                        </a:lnTo>
                        <a:lnTo>
                          <a:pt x="6972" y="14381"/>
                        </a:lnTo>
                        <a:lnTo>
                          <a:pt x="6894" y="14327"/>
                        </a:lnTo>
                        <a:lnTo>
                          <a:pt x="6816" y="14271"/>
                        </a:lnTo>
                        <a:lnTo>
                          <a:pt x="6741" y="14215"/>
                        </a:lnTo>
                        <a:lnTo>
                          <a:pt x="6666" y="14158"/>
                        </a:lnTo>
                        <a:lnTo>
                          <a:pt x="6594" y="14098"/>
                        </a:lnTo>
                        <a:lnTo>
                          <a:pt x="6523" y="14039"/>
                        </a:lnTo>
                        <a:lnTo>
                          <a:pt x="6454" y="13978"/>
                        </a:lnTo>
                        <a:lnTo>
                          <a:pt x="6387" y="13915"/>
                        </a:lnTo>
                        <a:lnTo>
                          <a:pt x="6321" y="13852"/>
                        </a:lnTo>
                        <a:lnTo>
                          <a:pt x="6258" y="13788"/>
                        </a:lnTo>
                        <a:lnTo>
                          <a:pt x="6196" y="13722"/>
                        </a:lnTo>
                        <a:lnTo>
                          <a:pt x="6135" y="13656"/>
                        </a:lnTo>
                        <a:lnTo>
                          <a:pt x="6077" y="13588"/>
                        </a:lnTo>
                        <a:lnTo>
                          <a:pt x="6021" y="13520"/>
                        </a:lnTo>
                        <a:lnTo>
                          <a:pt x="5965" y="13451"/>
                        </a:lnTo>
                        <a:lnTo>
                          <a:pt x="5912" y="13380"/>
                        </a:lnTo>
                        <a:lnTo>
                          <a:pt x="5862" y="13308"/>
                        </a:lnTo>
                        <a:lnTo>
                          <a:pt x="5812" y="13235"/>
                        </a:lnTo>
                        <a:lnTo>
                          <a:pt x="5764" y="13162"/>
                        </a:lnTo>
                        <a:lnTo>
                          <a:pt x="5719" y="13087"/>
                        </a:lnTo>
                        <a:lnTo>
                          <a:pt x="5676" y="13013"/>
                        </a:lnTo>
                        <a:lnTo>
                          <a:pt x="5633" y="12937"/>
                        </a:lnTo>
                        <a:lnTo>
                          <a:pt x="5594" y="12859"/>
                        </a:lnTo>
                        <a:lnTo>
                          <a:pt x="5556" y="12782"/>
                        </a:lnTo>
                        <a:lnTo>
                          <a:pt x="5521" y="12703"/>
                        </a:lnTo>
                        <a:lnTo>
                          <a:pt x="5487" y="12623"/>
                        </a:lnTo>
                        <a:lnTo>
                          <a:pt x="5454" y="12542"/>
                        </a:lnTo>
                        <a:lnTo>
                          <a:pt x="5425" y="12462"/>
                        </a:lnTo>
                        <a:lnTo>
                          <a:pt x="5397" y="12379"/>
                        </a:lnTo>
                        <a:lnTo>
                          <a:pt x="5372" y="12297"/>
                        </a:lnTo>
                        <a:lnTo>
                          <a:pt x="5348" y="12213"/>
                        </a:lnTo>
                        <a:lnTo>
                          <a:pt x="5327" y="12129"/>
                        </a:lnTo>
                        <a:lnTo>
                          <a:pt x="5307" y="12044"/>
                        </a:lnTo>
                        <a:lnTo>
                          <a:pt x="5289" y="11959"/>
                        </a:lnTo>
                        <a:lnTo>
                          <a:pt x="5274" y="11872"/>
                        </a:lnTo>
                        <a:lnTo>
                          <a:pt x="5261" y="11786"/>
                        </a:lnTo>
                        <a:lnTo>
                          <a:pt x="5250" y="11697"/>
                        </a:lnTo>
                        <a:lnTo>
                          <a:pt x="5242" y="11610"/>
                        </a:lnTo>
                        <a:lnTo>
                          <a:pt x="5235" y="11520"/>
                        </a:lnTo>
                        <a:lnTo>
                          <a:pt x="5231" y="11431"/>
                        </a:lnTo>
                        <a:lnTo>
                          <a:pt x="5229" y="11341"/>
                        </a:lnTo>
                        <a:lnTo>
                          <a:pt x="5229" y="11251"/>
                        </a:lnTo>
                        <a:lnTo>
                          <a:pt x="5229" y="11251"/>
                        </a:lnTo>
                        <a:lnTo>
                          <a:pt x="5230" y="11200"/>
                        </a:lnTo>
                        <a:lnTo>
                          <a:pt x="5232" y="11151"/>
                        </a:lnTo>
                        <a:lnTo>
                          <a:pt x="5235" y="11102"/>
                        </a:lnTo>
                        <a:lnTo>
                          <a:pt x="5238" y="11052"/>
                        </a:lnTo>
                        <a:lnTo>
                          <a:pt x="5242" y="11004"/>
                        </a:lnTo>
                        <a:lnTo>
                          <a:pt x="5247" y="10955"/>
                        </a:lnTo>
                        <a:lnTo>
                          <a:pt x="5252" y="10906"/>
                        </a:lnTo>
                        <a:lnTo>
                          <a:pt x="5259" y="10857"/>
                        </a:lnTo>
                        <a:lnTo>
                          <a:pt x="5266" y="10809"/>
                        </a:lnTo>
                        <a:lnTo>
                          <a:pt x="5273" y="10760"/>
                        </a:lnTo>
                        <a:lnTo>
                          <a:pt x="5282" y="10711"/>
                        </a:lnTo>
                        <a:lnTo>
                          <a:pt x="5291" y="10663"/>
                        </a:lnTo>
                        <a:lnTo>
                          <a:pt x="5302" y="10616"/>
                        </a:lnTo>
                        <a:lnTo>
                          <a:pt x="5313" y="10568"/>
                        </a:lnTo>
                        <a:lnTo>
                          <a:pt x="5324" y="10519"/>
                        </a:lnTo>
                        <a:lnTo>
                          <a:pt x="5336" y="10472"/>
                        </a:lnTo>
                        <a:lnTo>
                          <a:pt x="5349" y="10425"/>
                        </a:lnTo>
                        <a:lnTo>
                          <a:pt x="5363" y="10377"/>
                        </a:lnTo>
                        <a:lnTo>
                          <a:pt x="5377" y="10330"/>
                        </a:lnTo>
                        <a:lnTo>
                          <a:pt x="5392" y="10283"/>
                        </a:lnTo>
                        <a:lnTo>
                          <a:pt x="5408" y="10236"/>
                        </a:lnTo>
                        <a:lnTo>
                          <a:pt x="5424" y="10189"/>
                        </a:lnTo>
                        <a:lnTo>
                          <a:pt x="5441" y="10142"/>
                        </a:lnTo>
                        <a:lnTo>
                          <a:pt x="5459" y="10096"/>
                        </a:lnTo>
                        <a:lnTo>
                          <a:pt x="5479" y="10049"/>
                        </a:lnTo>
                        <a:lnTo>
                          <a:pt x="5498" y="10003"/>
                        </a:lnTo>
                        <a:lnTo>
                          <a:pt x="5518" y="9958"/>
                        </a:lnTo>
                        <a:lnTo>
                          <a:pt x="5539" y="9912"/>
                        </a:lnTo>
                        <a:lnTo>
                          <a:pt x="5560" y="9866"/>
                        </a:lnTo>
                        <a:lnTo>
                          <a:pt x="5583" y="9821"/>
                        </a:lnTo>
                        <a:lnTo>
                          <a:pt x="5606" y="9776"/>
                        </a:lnTo>
                        <a:lnTo>
                          <a:pt x="5629" y="9731"/>
                        </a:lnTo>
                        <a:lnTo>
                          <a:pt x="5654" y="9685"/>
                        </a:lnTo>
                        <a:lnTo>
                          <a:pt x="5679" y="9641"/>
                        </a:lnTo>
                        <a:lnTo>
                          <a:pt x="5705" y="9596"/>
                        </a:lnTo>
                        <a:lnTo>
                          <a:pt x="5732" y="9552"/>
                        </a:lnTo>
                        <a:lnTo>
                          <a:pt x="5759" y="9507"/>
                        </a:lnTo>
                        <a:lnTo>
                          <a:pt x="5786" y="9464"/>
                        </a:lnTo>
                        <a:lnTo>
                          <a:pt x="5815" y="9420"/>
                        </a:lnTo>
                        <a:lnTo>
                          <a:pt x="5845" y="9377"/>
                        </a:lnTo>
                        <a:lnTo>
                          <a:pt x="5875" y="9333"/>
                        </a:lnTo>
                        <a:lnTo>
                          <a:pt x="5906" y="9290"/>
                        </a:lnTo>
                        <a:lnTo>
                          <a:pt x="5937" y="9247"/>
                        </a:lnTo>
                        <a:lnTo>
                          <a:pt x="5969" y="9204"/>
                        </a:lnTo>
                        <a:lnTo>
                          <a:pt x="6002" y="9161"/>
                        </a:lnTo>
                        <a:lnTo>
                          <a:pt x="6036" y="9119"/>
                        </a:lnTo>
                        <a:lnTo>
                          <a:pt x="6070" y="9077"/>
                        </a:lnTo>
                        <a:lnTo>
                          <a:pt x="6105" y="9035"/>
                        </a:lnTo>
                        <a:lnTo>
                          <a:pt x="6140" y="8993"/>
                        </a:lnTo>
                        <a:lnTo>
                          <a:pt x="6177" y="8952"/>
                        </a:lnTo>
                        <a:lnTo>
                          <a:pt x="6214" y="8911"/>
                        </a:lnTo>
                        <a:lnTo>
                          <a:pt x="6251" y="8870"/>
                        </a:lnTo>
                        <a:lnTo>
                          <a:pt x="6289" y="8829"/>
                        </a:lnTo>
                        <a:lnTo>
                          <a:pt x="6328" y="8789"/>
                        </a:lnTo>
                        <a:lnTo>
                          <a:pt x="6369" y="8749"/>
                        </a:lnTo>
                        <a:lnTo>
                          <a:pt x="6409" y="8709"/>
                        </a:lnTo>
                        <a:lnTo>
                          <a:pt x="6450" y="8668"/>
                        </a:lnTo>
                        <a:lnTo>
                          <a:pt x="6491" y="8629"/>
                        </a:lnTo>
                        <a:lnTo>
                          <a:pt x="6534" y="8590"/>
                        </a:lnTo>
                        <a:lnTo>
                          <a:pt x="6577" y="8551"/>
                        </a:lnTo>
                        <a:lnTo>
                          <a:pt x="6621" y="8511"/>
                        </a:lnTo>
                        <a:lnTo>
                          <a:pt x="6665" y="8473"/>
                        </a:lnTo>
                        <a:lnTo>
                          <a:pt x="6711" y="8435"/>
                        </a:lnTo>
                        <a:lnTo>
                          <a:pt x="6756" y="8397"/>
                        </a:lnTo>
                        <a:lnTo>
                          <a:pt x="6756" y="8397"/>
                        </a:lnTo>
                        <a:lnTo>
                          <a:pt x="6832" y="8335"/>
                        </a:lnTo>
                        <a:lnTo>
                          <a:pt x="6910" y="8275"/>
                        </a:lnTo>
                        <a:lnTo>
                          <a:pt x="6988" y="8216"/>
                        </a:lnTo>
                        <a:lnTo>
                          <a:pt x="7069" y="8156"/>
                        </a:lnTo>
                        <a:lnTo>
                          <a:pt x="7150" y="8099"/>
                        </a:lnTo>
                        <a:lnTo>
                          <a:pt x="7234" y="8042"/>
                        </a:lnTo>
                        <a:lnTo>
                          <a:pt x="7318" y="7986"/>
                        </a:lnTo>
                        <a:lnTo>
                          <a:pt x="7404" y="7931"/>
                        </a:lnTo>
                        <a:lnTo>
                          <a:pt x="7491" y="7877"/>
                        </a:lnTo>
                        <a:lnTo>
                          <a:pt x="7580" y="7823"/>
                        </a:lnTo>
                        <a:lnTo>
                          <a:pt x="7670" y="7772"/>
                        </a:lnTo>
                        <a:lnTo>
                          <a:pt x="7762" y="7721"/>
                        </a:lnTo>
                        <a:lnTo>
                          <a:pt x="7854" y="7670"/>
                        </a:lnTo>
                        <a:lnTo>
                          <a:pt x="7948" y="7621"/>
                        </a:lnTo>
                        <a:lnTo>
                          <a:pt x="8043" y="7573"/>
                        </a:lnTo>
                        <a:lnTo>
                          <a:pt x="8139" y="7526"/>
                        </a:lnTo>
                        <a:lnTo>
                          <a:pt x="8236" y="7479"/>
                        </a:lnTo>
                        <a:lnTo>
                          <a:pt x="8335" y="7434"/>
                        </a:lnTo>
                        <a:lnTo>
                          <a:pt x="8434" y="7390"/>
                        </a:lnTo>
                        <a:lnTo>
                          <a:pt x="8536" y="7346"/>
                        </a:lnTo>
                        <a:lnTo>
                          <a:pt x="8638" y="7304"/>
                        </a:lnTo>
                        <a:lnTo>
                          <a:pt x="8741" y="7263"/>
                        </a:lnTo>
                        <a:lnTo>
                          <a:pt x="8845" y="7224"/>
                        </a:lnTo>
                        <a:lnTo>
                          <a:pt x="8950" y="7185"/>
                        </a:lnTo>
                        <a:lnTo>
                          <a:pt x="9057" y="7147"/>
                        </a:lnTo>
                        <a:lnTo>
                          <a:pt x="9164" y="7110"/>
                        </a:lnTo>
                        <a:lnTo>
                          <a:pt x="9272" y="7075"/>
                        </a:lnTo>
                        <a:lnTo>
                          <a:pt x="9381" y="7041"/>
                        </a:lnTo>
                        <a:lnTo>
                          <a:pt x="9491" y="7007"/>
                        </a:lnTo>
                        <a:lnTo>
                          <a:pt x="9602" y="6975"/>
                        </a:lnTo>
                        <a:lnTo>
                          <a:pt x="9714" y="6944"/>
                        </a:lnTo>
                        <a:lnTo>
                          <a:pt x="9827" y="6914"/>
                        </a:lnTo>
                        <a:lnTo>
                          <a:pt x="9827" y="6914"/>
                        </a:lnTo>
                        <a:lnTo>
                          <a:pt x="9943" y="6885"/>
                        </a:lnTo>
                        <a:lnTo>
                          <a:pt x="10060" y="6857"/>
                        </a:lnTo>
                        <a:lnTo>
                          <a:pt x="10177" y="6829"/>
                        </a:lnTo>
                        <a:lnTo>
                          <a:pt x="10295" y="6803"/>
                        </a:lnTo>
                        <a:lnTo>
                          <a:pt x="10415" y="6778"/>
                        </a:lnTo>
                        <a:lnTo>
                          <a:pt x="10534" y="6753"/>
                        </a:lnTo>
                        <a:lnTo>
                          <a:pt x="10656" y="6730"/>
                        </a:lnTo>
                        <a:lnTo>
                          <a:pt x="10778" y="6708"/>
                        </a:lnTo>
                        <a:lnTo>
                          <a:pt x="10900" y="6687"/>
                        </a:lnTo>
                        <a:lnTo>
                          <a:pt x="11024" y="6665"/>
                        </a:lnTo>
                        <a:lnTo>
                          <a:pt x="11150" y="6646"/>
                        </a:lnTo>
                        <a:lnTo>
                          <a:pt x="11276" y="6627"/>
                        </a:lnTo>
                        <a:lnTo>
                          <a:pt x="11403" y="6610"/>
                        </a:lnTo>
                        <a:lnTo>
                          <a:pt x="11531" y="6593"/>
                        </a:lnTo>
                        <a:lnTo>
                          <a:pt x="11661" y="6577"/>
                        </a:lnTo>
                        <a:lnTo>
                          <a:pt x="11791" y="6563"/>
                        </a:lnTo>
                        <a:lnTo>
                          <a:pt x="11924" y="6549"/>
                        </a:lnTo>
                        <a:lnTo>
                          <a:pt x="12058" y="6536"/>
                        </a:lnTo>
                        <a:lnTo>
                          <a:pt x="12193" y="6524"/>
                        </a:lnTo>
                        <a:lnTo>
                          <a:pt x="12329" y="6513"/>
                        </a:lnTo>
                        <a:lnTo>
                          <a:pt x="12466" y="6501"/>
                        </a:lnTo>
                        <a:lnTo>
                          <a:pt x="12606" y="6492"/>
                        </a:lnTo>
                        <a:lnTo>
                          <a:pt x="12746" y="6484"/>
                        </a:lnTo>
                        <a:lnTo>
                          <a:pt x="12889" y="6476"/>
                        </a:lnTo>
                        <a:lnTo>
                          <a:pt x="13033" y="6470"/>
                        </a:lnTo>
                        <a:lnTo>
                          <a:pt x="13178" y="6464"/>
                        </a:lnTo>
                        <a:lnTo>
                          <a:pt x="13325" y="6459"/>
                        </a:lnTo>
                        <a:lnTo>
                          <a:pt x="13474" y="6455"/>
                        </a:lnTo>
                        <a:lnTo>
                          <a:pt x="13624" y="6452"/>
                        </a:lnTo>
                        <a:lnTo>
                          <a:pt x="13777" y="6450"/>
                        </a:lnTo>
                        <a:lnTo>
                          <a:pt x="13931" y="6449"/>
                        </a:lnTo>
                        <a:lnTo>
                          <a:pt x="14087" y="6448"/>
                        </a:lnTo>
                        <a:lnTo>
                          <a:pt x="14087" y="6448"/>
                        </a:lnTo>
                        <a:lnTo>
                          <a:pt x="14251" y="6449"/>
                        </a:lnTo>
                        <a:lnTo>
                          <a:pt x="14413" y="6450"/>
                        </a:lnTo>
                        <a:lnTo>
                          <a:pt x="14577" y="6452"/>
                        </a:lnTo>
                        <a:lnTo>
                          <a:pt x="14740" y="6455"/>
                        </a:lnTo>
                        <a:lnTo>
                          <a:pt x="14903" y="6458"/>
                        </a:lnTo>
                        <a:lnTo>
                          <a:pt x="15067" y="6463"/>
                        </a:lnTo>
                        <a:lnTo>
                          <a:pt x="15392" y="6472"/>
                        </a:lnTo>
                        <a:lnTo>
                          <a:pt x="15717" y="6484"/>
                        </a:lnTo>
                        <a:lnTo>
                          <a:pt x="16040" y="6496"/>
                        </a:lnTo>
                        <a:lnTo>
                          <a:pt x="16679" y="6525"/>
                        </a:lnTo>
                        <a:lnTo>
                          <a:pt x="16679" y="6525"/>
                        </a:lnTo>
                        <a:lnTo>
                          <a:pt x="17310" y="6552"/>
                        </a:lnTo>
                        <a:lnTo>
                          <a:pt x="17620" y="6564"/>
                        </a:lnTo>
                        <a:lnTo>
                          <a:pt x="17926" y="6575"/>
                        </a:lnTo>
                        <a:lnTo>
                          <a:pt x="18231" y="6584"/>
                        </a:lnTo>
                        <a:lnTo>
                          <a:pt x="18534" y="6591"/>
                        </a:lnTo>
                        <a:lnTo>
                          <a:pt x="18685" y="6594"/>
                        </a:lnTo>
                        <a:lnTo>
                          <a:pt x="18836" y="6595"/>
                        </a:lnTo>
                        <a:lnTo>
                          <a:pt x="18985" y="6597"/>
                        </a:lnTo>
                        <a:lnTo>
                          <a:pt x="19136" y="6597"/>
                        </a:lnTo>
                        <a:lnTo>
                          <a:pt x="19136" y="6597"/>
                        </a:lnTo>
                        <a:lnTo>
                          <a:pt x="19296" y="6597"/>
                        </a:lnTo>
                        <a:lnTo>
                          <a:pt x="19453" y="6595"/>
                        </a:lnTo>
                        <a:lnTo>
                          <a:pt x="19608" y="6592"/>
                        </a:lnTo>
                        <a:lnTo>
                          <a:pt x="19761" y="6589"/>
                        </a:lnTo>
                        <a:lnTo>
                          <a:pt x="19911" y="6584"/>
                        </a:lnTo>
                        <a:lnTo>
                          <a:pt x="20059" y="6579"/>
                        </a:lnTo>
                        <a:lnTo>
                          <a:pt x="20204" y="6572"/>
                        </a:lnTo>
                        <a:lnTo>
                          <a:pt x="20347" y="6564"/>
                        </a:lnTo>
                        <a:lnTo>
                          <a:pt x="20489" y="6555"/>
                        </a:lnTo>
                        <a:lnTo>
                          <a:pt x="20628" y="6545"/>
                        </a:lnTo>
                        <a:lnTo>
                          <a:pt x="20766" y="6534"/>
                        </a:lnTo>
                        <a:lnTo>
                          <a:pt x="20900" y="6522"/>
                        </a:lnTo>
                        <a:lnTo>
                          <a:pt x="21033" y="6509"/>
                        </a:lnTo>
                        <a:lnTo>
                          <a:pt x="21165" y="6493"/>
                        </a:lnTo>
                        <a:lnTo>
                          <a:pt x="21295" y="6478"/>
                        </a:lnTo>
                        <a:lnTo>
                          <a:pt x="21422" y="6461"/>
                        </a:lnTo>
                        <a:lnTo>
                          <a:pt x="21548" y="6444"/>
                        </a:lnTo>
                        <a:lnTo>
                          <a:pt x="21673" y="6425"/>
                        </a:lnTo>
                        <a:lnTo>
                          <a:pt x="21795" y="6405"/>
                        </a:lnTo>
                        <a:lnTo>
                          <a:pt x="21917" y="6384"/>
                        </a:lnTo>
                        <a:lnTo>
                          <a:pt x="22037" y="6361"/>
                        </a:lnTo>
                        <a:lnTo>
                          <a:pt x="22156" y="6338"/>
                        </a:lnTo>
                        <a:lnTo>
                          <a:pt x="22272" y="6312"/>
                        </a:lnTo>
                        <a:lnTo>
                          <a:pt x="22388" y="6286"/>
                        </a:lnTo>
                        <a:lnTo>
                          <a:pt x="22503" y="6259"/>
                        </a:lnTo>
                        <a:lnTo>
                          <a:pt x="22616" y="6231"/>
                        </a:lnTo>
                        <a:lnTo>
                          <a:pt x="22729" y="6201"/>
                        </a:lnTo>
                        <a:lnTo>
                          <a:pt x="22839" y="6171"/>
                        </a:lnTo>
                        <a:lnTo>
                          <a:pt x="22950" y="6138"/>
                        </a:lnTo>
                        <a:lnTo>
                          <a:pt x="23059" y="6105"/>
                        </a:lnTo>
                        <a:lnTo>
                          <a:pt x="23167" y="6070"/>
                        </a:lnTo>
                        <a:lnTo>
                          <a:pt x="23275" y="6035"/>
                        </a:lnTo>
                        <a:lnTo>
                          <a:pt x="23275" y="6035"/>
                        </a:lnTo>
                        <a:lnTo>
                          <a:pt x="23382" y="5996"/>
                        </a:lnTo>
                        <a:lnTo>
                          <a:pt x="23487" y="5957"/>
                        </a:lnTo>
                        <a:lnTo>
                          <a:pt x="23592" y="5916"/>
                        </a:lnTo>
                        <a:lnTo>
                          <a:pt x="23694" y="5874"/>
                        </a:lnTo>
                        <a:lnTo>
                          <a:pt x="23797" y="5830"/>
                        </a:lnTo>
                        <a:lnTo>
                          <a:pt x="23897" y="5783"/>
                        </a:lnTo>
                        <a:lnTo>
                          <a:pt x="23996" y="5735"/>
                        </a:lnTo>
                        <a:lnTo>
                          <a:pt x="24095" y="5685"/>
                        </a:lnTo>
                        <a:lnTo>
                          <a:pt x="24191" y="5633"/>
                        </a:lnTo>
                        <a:lnTo>
                          <a:pt x="24287" y="5580"/>
                        </a:lnTo>
                        <a:lnTo>
                          <a:pt x="24381" y="5525"/>
                        </a:lnTo>
                        <a:lnTo>
                          <a:pt x="24474" y="5468"/>
                        </a:lnTo>
                        <a:lnTo>
                          <a:pt x="24565" y="5409"/>
                        </a:lnTo>
                        <a:lnTo>
                          <a:pt x="24656" y="5349"/>
                        </a:lnTo>
                        <a:lnTo>
                          <a:pt x="24745" y="5286"/>
                        </a:lnTo>
                        <a:lnTo>
                          <a:pt x="24834" y="5223"/>
                        </a:lnTo>
                        <a:lnTo>
                          <a:pt x="24920" y="5157"/>
                        </a:lnTo>
                        <a:lnTo>
                          <a:pt x="25006" y="5089"/>
                        </a:lnTo>
                        <a:lnTo>
                          <a:pt x="25090" y="5020"/>
                        </a:lnTo>
                        <a:lnTo>
                          <a:pt x="25173" y="4948"/>
                        </a:lnTo>
                        <a:lnTo>
                          <a:pt x="25255" y="4876"/>
                        </a:lnTo>
                        <a:lnTo>
                          <a:pt x="25336" y="4800"/>
                        </a:lnTo>
                        <a:lnTo>
                          <a:pt x="25415" y="4724"/>
                        </a:lnTo>
                        <a:lnTo>
                          <a:pt x="25493" y="4645"/>
                        </a:lnTo>
                        <a:lnTo>
                          <a:pt x="25570" y="4565"/>
                        </a:lnTo>
                        <a:lnTo>
                          <a:pt x="25645" y="4484"/>
                        </a:lnTo>
                        <a:lnTo>
                          <a:pt x="25720" y="4400"/>
                        </a:lnTo>
                        <a:lnTo>
                          <a:pt x="25793" y="4314"/>
                        </a:lnTo>
                        <a:lnTo>
                          <a:pt x="25866" y="4226"/>
                        </a:lnTo>
                        <a:lnTo>
                          <a:pt x="25936" y="4137"/>
                        </a:lnTo>
                        <a:lnTo>
                          <a:pt x="26005" y="4046"/>
                        </a:lnTo>
                        <a:lnTo>
                          <a:pt x="26074" y="3953"/>
                        </a:lnTo>
                        <a:lnTo>
                          <a:pt x="26141" y="3859"/>
                        </a:lnTo>
                        <a:lnTo>
                          <a:pt x="26208" y="3762"/>
                        </a:lnTo>
                        <a:lnTo>
                          <a:pt x="26272" y="3664"/>
                        </a:lnTo>
                        <a:lnTo>
                          <a:pt x="26335" y="3563"/>
                        </a:lnTo>
                        <a:lnTo>
                          <a:pt x="26398" y="3461"/>
                        </a:lnTo>
                        <a:lnTo>
                          <a:pt x="26459" y="3357"/>
                        </a:lnTo>
                        <a:lnTo>
                          <a:pt x="26518" y="3251"/>
                        </a:lnTo>
                        <a:lnTo>
                          <a:pt x="26578" y="3144"/>
                        </a:lnTo>
                        <a:lnTo>
                          <a:pt x="26635" y="3034"/>
                        </a:lnTo>
                        <a:lnTo>
                          <a:pt x="26691" y="2923"/>
                        </a:lnTo>
                        <a:lnTo>
                          <a:pt x="26747" y="2810"/>
                        </a:lnTo>
                        <a:lnTo>
                          <a:pt x="26801" y="2695"/>
                        </a:lnTo>
                        <a:lnTo>
                          <a:pt x="26853" y="2578"/>
                        </a:lnTo>
                        <a:lnTo>
                          <a:pt x="26905" y="2460"/>
                        </a:lnTo>
                        <a:lnTo>
                          <a:pt x="26955" y="2339"/>
                        </a:lnTo>
                        <a:lnTo>
                          <a:pt x="27004" y="2216"/>
                        </a:lnTo>
                        <a:lnTo>
                          <a:pt x="27052" y="2091"/>
                        </a:lnTo>
                        <a:lnTo>
                          <a:pt x="27100" y="1966"/>
                        </a:lnTo>
                        <a:lnTo>
                          <a:pt x="27145" y="1837"/>
                        </a:lnTo>
                        <a:lnTo>
                          <a:pt x="27189" y="1707"/>
                        </a:lnTo>
                        <a:lnTo>
                          <a:pt x="27233" y="1575"/>
                        </a:lnTo>
                        <a:lnTo>
                          <a:pt x="27275" y="1442"/>
                        </a:lnTo>
                        <a:lnTo>
                          <a:pt x="27316" y="1306"/>
                        </a:lnTo>
                        <a:lnTo>
                          <a:pt x="27356" y="1169"/>
                        </a:lnTo>
                        <a:lnTo>
                          <a:pt x="27394" y="1029"/>
                        </a:lnTo>
                        <a:lnTo>
                          <a:pt x="27433" y="888"/>
                        </a:lnTo>
                        <a:lnTo>
                          <a:pt x="27469" y="744"/>
                        </a:lnTo>
                        <a:lnTo>
                          <a:pt x="27504" y="600"/>
                        </a:lnTo>
                        <a:lnTo>
                          <a:pt x="27537" y="453"/>
                        </a:lnTo>
                        <a:lnTo>
                          <a:pt x="27570" y="304"/>
                        </a:lnTo>
                        <a:lnTo>
                          <a:pt x="27603" y="153"/>
                        </a:lnTo>
                        <a:lnTo>
                          <a:pt x="27633" y="0"/>
                        </a:lnTo>
                        <a:lnTo>
                          <a:pt x="27633" y="0"/>
                        </a:lnTo>
                        <a:close/>
                      </a:path>
                    </a:pathLst>
                  </a:custGeom>
                  <a:solidFill>
                    <a:srgbClr val="E7E6E6">
                      <a:lumMod val="75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a:ea typeface="+mn-ea"/>
                      <a:cs typeface="Calibri"/>
                    </a:endParaRPr>
                  </a:p>
                </p:txBody>
              </p:sp>
              <p:sp>
                <p:nvSpPr>
                  <p:cNvPr id="38" name="Freeform 9">
                    <a:extLst>
                      <a:ext uri="{FF2B5EF4-FFF2-40B4-BE49-F238E27FC236}">
                        <a16:creationId xmlns:a16="http://schemas.microsoft.com/office/drawing/2014/main" id="{28A1F2C1-98AD-7643-04DB-A4264ED88B0C}"/>
                      </a:ext>
                    </a:extLst>
                  </p:cNvPr>
                  <p:cNvSpPr>
                    <a:spLocks/>
                  </p:cNvSpPr>
                  <p:nvPr/>
                </p:nvSpPr>
                <p:spPr bwMode="auto">
                  <a:xfrm>
                    <a:off x="972566" y="1790325"/>
                    <a:ext cx="2086035" cy="1863445"/>
                  </a:xfrm>
                  <a:custGeom>
                    <a:avLst/>
                    <a:gdLst>
                      <a:gd name="T0" fmla="*/ 12557 w 13782"/>
                      <a:gd name="T1" fmla="*/ 5095 h 7036"/>
                      <a:gd name="T2" fmla="*/ 11743 w 13782"/>
                      <a:gd name="T3" fmla="*/ 5262 h 7036"/>
                      <a:gd name="T4" fmla="*/ 10750 w 13782"/>
                      <a:gd name="T5" fmla="*/ 5541 h 7036"/>
                      <a:gd name="T6" fmla="*/ 8947 w 13782"/>
                      <a:gd name="T7" fmla="*/ 6118 h 7036"/>
                      <a:gd name="T8" fmla="*/ 7375 w 13782"/>
                      <a:gd name="T9" fmla="*/ 6571 h 7036"/>
                      <a:gd name="T10" fmla="*/ 6527 w 13782"/>
                      <a:gd name="T11" fmla="*/ 6762 h 7036"/>
                      <a:gd name="T12" fmla="*/ 5671 w 13782"/>
                      <a:gd name="T13" fmla="*/ 6900 h 7036"/>
                      <a:gd name="T14" fmla="*/ 4809 w 13782"/>
                      <a:gd name="T15" fmla="*/ 6970 h 7036"/>
                      <a:gd name="T16" fmla="*/ 3940 w 13782"/>
                      <a:gd name="T17" fmla="*/ 6957 h 7036"/>
                      <a:gd name="T18" fmla="*/ 3063 w 13782"/>
                      <a:gd name="T19" fmla="*/ 6848 h 7036"/>
                      <a:gd name="T20" fmla="*/ 2464 w 13782"/>
                      <a:gd name="T21" fmla="*/ 6706 h 7036"/>
                      <a:gd name="T22" fmla="*/ 1873 w 13782"/>
                      <a:gd name="T23" fmla="*/ 6484 h 7036"/>
                      <a:gd name="T24" fmla="*/ 1356 w 13782"/>
                      <a:gd name="T25" fmla="*/ 6201 h 7036"/>
                      <a:gd name="T26" fmla="*/ 918 w 13782"/>
                      <a:gd name="T27" fmla="*/ 5859 h 7036"/>
                      <a:gd name="T28" fmla="*/ 565 w 13782"/>
                      <a:gd name="T29" fmla="*/ 5465 h 7036"/>
                      <a:gd name="T30" fmla="*/ 301 w 13782"/>
                      <a:gd name="T31" fmla="*/ 5024 h 7036"/>
                      <a:gd name="T32" fmla="*/ 132 w 13782"/>
                      <a:gd name="T33" fmla="*/ 4541 h 7036"/>
                      <a:gd name="T34" fmla="*/ 61 w 13782"/>
                      <a:gd name="T35" fmla="*/ 4020 h 7036"/>
                      <a:gd name="T36" fmla="*/ 93 w 13782"/>
                      <a:gd name="T37" fmla="*/ 3524 h 7036"/>
                      <a:gd name="T38" fmla="*/ 263 w 13782"/>
                      <a:gd name="T39" fmla="*/ 2965 h 7036"/>
                      <a:gd name="T40" fmla="*/ 572 w 13782"/>
                      <a:gd name="T41" fmla="*/ 2434 h 7036"/>
                      <a:gd name="T42" fmla="*/ 1017 w 13782"/>
                      <a:gd name="T43" fmla="*/ 1939 h 7036"/>
                      <a:gd name="T44" fmla="*/ 1471 w 13782"/>
                      <a:gd name="T45" fmla="*/ 1570 h 7036"/>
                      <a:gd name="T46" fmla="*/ 2047 w 13782"/>
                      <a:gd name="T47" fmla="*/ 1213 h 7036"/>
                      <a:gd name="T48" fmla="*/ 2695 w 13782"/>
                      <a:gd name="T49" fmla="*/ 903 h 7036"/>
                      <a:gd name="T50" fmla="*/ 3401 w 13782"/>
                      <a:gd name="T51" fmla="*/ 649 h 7036"/>
                      <a:gd name="T52" fmla="*/ 4022 w 13782"/>
                      <a:gd name="T53" fmla="*/ 484 h 7036"/>
                      <a:gd name="T54" fmla="*/ 4945 w 13782"/>
                      <a:gd name="T55" fmla="*/ 310 h 7036"/>
                      <a:gd name="T56" fmla="*/ 4770 w 13782"/>
                      <a:gd name="T57" fmla="*/ 277 h 7036"/>
                      <a:gd name="T58" fmla="*/ 4009 w 13782"/>
                      <a:gd name="T59" fmla="*/ 425 h 7036"/>
                      <a:gd name="T60" fmla="*/ 3384 w 13782"/>
                      <a:gd name="T61" fmla="*/ 591 h 7036"/>
                      <a:gd name="T62" fmla="*/ 2671 w 13782"/>
                      <a:gd name="T63" fmla="*/ 849 h 7036"/>
                      <a:gd name="T64" fmla="*/ 2016 w 13782"/>
                      <a:gd name="T65" fmla="*/ 1162 h 7036"/>
                      <a:gd name="T66" fmla="*/ 1436 w 13782"/>
                      <a:gd name="T67" fmla="*/ 1522 h 7036"/>
                      <a:gd name="T68" fmla="*/ 974 w 13782"/>
                      <a:gd name="T69" fmla="*/ 1896 h 7036"/>
                      <a:gd name="T70" fmla="*/ 522 w 13782"/>
                      <a:gd name="T71" fmla="*/ 2401 h 7036"/>
                      <a:gd name="T72" fmla="*/ 207 w 13782"/>
                      <a:gd name="T73" fmla="*/ 2943 h 7036"/>
                      <a:gd name="T74" fmla="*/ 34 w 13782"/>
                      <a:gd name="T75" fmla="*/ 3515 h 7036"/>
                      <a:gd name="T76" fmla="*/ 1 w 13782"/>
                      <a:gd name="T77" fmla="*/ 4022 h 7036"/>
                      <a:gd name="T78" fmla="*/ 72 w 13782"/>
                      <a:gd name="T79" fmla="*/ 4554 h 7036"/>
                      <a:gd name="T80" fmla="*/ 244 w 13782"/>
                      <a:gd name="T81" fmla="*/ 5047 h 7036"/>
                      <a:gd name="T82" fmla="*/ 513 w 13782"/>
                      <a:gd name="T83" fmla="*/ 5497 h 7036"/>
                      <a:gd name="T84" fmla="*/ 872 w 13782"/>
                      <a:gd name="T85" fmla="*/ 5899 h 7036"/>
                      <a:gd name="T86" fmla="*/ 1317 w 13782"/>
                      <a:gd name="T87" fmla="*/ 6248 h 7036"/>
                      <a:gd name="T88" fmla="*/ 1843 w 13782"/>
                      <a:gd name="T89" fmla="*/ 6537 h 7036"/>
                      <a:gd name="T90" fmla="*/ 2444 w 13782"/>
                      <a:gd name="T91" fmla="*/ 6762 h 7036"/>
                      <a:gd name="T92" fmla="*/ 3052 w 13782"/>
                      <a:gd name="T93" fmla="*/ 6907 h 7036"/>
                      <a:gd name="T94" fmla="*/ 3934 w 13782"/>
                      <a:gd name="T95" fmla="*/ 7017 h 7036"/>
                      <a:gd name="T96" fmla="*/ 4808 w 13782"/>
                      <a:gd name="T97" fmla="*/ 7031 h 7036"/>
                      <a:gd name="T98" fmla="*/ 5674 w 13782"/>
                      <a:gd name="T99" fmla="*/ 6960 h 7036"/>
                      <a:gd name="T100" fmla="*/ 6533 w 13782"/>
                      <a:gd name="T101" fmla="*/ 6822 h 7036"/>
                      <a:gd name="T102" fmla="*/ 7385 w 13782"/>
                      <a:gd name="T103" fmla="*/ 6630 h 7036"/>
                      <a:gd name="T104" fmla="*/ 8962 w 13782"/>
                      <a:gd name="T105" fmla="*/ 6175 h 7036"/>
                      <a:gd name="T106" fmla="*/ 10766 w 13782"/>
                      <a:gd name="T107" fmla="*/ 5599 h 7036"/>
                      <a:gd name="T108" fmla="*/ 11756 w 13782"/>
                      <a:gd name="T109" fmla="*/ 5321 h 7036"/>
                      <a:gd name="T110" fmla="*/ 12565 w 13782"/>
                      <a:gd name="T111" fmla="*/ 5154 h 7036"/>
                      <a:gd name="T112" fmla="*/ 13261 w 13782"/>
                      <a:gd name="T113" fmla="*/ 5071 h 7036"/>
                      <a:gd name="T114" fmla="*/ 13782 w 13782"/>
                      <a:gd name="T115" fmla="*/ 5004 h 7036"/>
                      <a:gd name="T116" fmla="*/ 13255 w 13782"/>
                      <a:gd name="T117" fmla="*/ 5011 h 70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3782" h="7036">
                        <a:moveTo>
                          <a:pt x="13180" y="5017"/>
                        </a:moveTo>
                        <a:lnTo>
                          <a:pt x="13180" y="5017"/>
                        </a:lnTo>
                        <a:lnTo>
                          <a:pt x="13075" y="5027"/>
                        </a:lnTo>
                        <a:lnTo>
                          <a:pt x="12971" y="5038"/>
                        </a:lnTo>
                        <a:lnTo>
                          <a:pt x="12867" y="5050"/>
                        </a:lnTo>
                        <a:lnTo>
                          <a:pt x="12764" y="5064"/>
                        </a:lnTo>
                        <a:lnTo>
                          <a:pt x="12660" y="5078"/>
                        </a:lnTo>
                        <a:lnTo>
                          <a:pt x="12557" y="5095"/>
                        </a:lnTo>
                        <a:lnTo>
                          <a:pt x="12454" y="5112"/>
                        </a:lnTo>
                        <a:lnTo>
                          <a:pt x="12352" y="5130"/>
                        </a:lnTo>
                        <a:lnTo>
                          <a:pt x="12250" y="5150"/>
                        </a:lnTo>
                        <a:lnTo>
                          <a:pt x="12148" y="5171"/>
                        </a:lnTo>
                        <a:lnTo>
                          <a:pt x="12047" y="5193"/>
                        </a:lnTo>
                        <a:lnTo>
                          <a:pt x="11945" y="5215"/>
                        </a:lnTo>
                        <a:lnTo>
                          <a:pt x="11844" y="5238"/>
                        </a:lnTo>
                        <a:lnTo>
                          <a:pt x="11743" y="5262"/>
                        </a:lnTo>
                        <a:lnTo>
                          <a:pt x="11643" y="5287"/>
                        </a:lnTo>
                        <a:lnTo>
                          <a:pt x="11543" y="5313"/>
                        </a:lnTo>
                        <a:lnTo>
                          <a:pt x="11443" y="5340"/>
                        </a:lnTo>
                        <a:lnTo>
                          <a:pt x="11343" y="5367"/>
                        </a:lnTo>
                        <a:lnTo>
                          <a:pt x="11244" y="5395"/>
                        </a:lnTo>
                        <a:lnTo>
                          <a:pt x="11144" y="5423"/>
                        </a:lnTo>
                        <a:lnTo>
                          <a:pt x="10947" y="5481"/>
                        </a:lnTo>
                        <a:lnTo>
                          <a:pt x="10750" y="5541"/>
                        </a:lnTo>
                        <a:lnTo>
                          <a:pt x="10555" y="5602"/>
                        </a:lnTo>
                        <a:lnTo>
                          <a:pt x="10360" y="5663"/>
                        </a:lnTo>
                        <a:lnTo>
                          <a:pt x="9973" y="5788"/>
                        </a:lnTo>
                        <a:lnTo>
                          <a:pt x="9775" y="5853"/>
                        </a:lnTo>
                        <a:lnTo>
                          <a:pt x="9775" y="5853"/>
                        </a:lnTo>
                        <a:lnTo>
                          <a:pt x="9361" y="5985"/>
                        </a:lnTo>
                        <a:lnTo>
                          <a:pt x="9154" y="6052"/>
                        </a:lnTo>
                        <a:lnTo>
                          <a:pt x="8947" y="6118"/>
                        </a:lnTo>
                        <a:lnTo>
                          <a:pt x="8739" y="6183"/>
                        </a:lnTo>
                        <a:lnTo>
                          <a:pt x="8530" y="6247"/>
                        </a:lnTo>
                        <a:lnTo>
                          <a:pt x="8321" y="6309"/>
                        </a:lnTo>
                        <a:lnTo>
                          <a:pt x="8111" y="6371"/>
                        </a:lnTo>
                        <a:lnTo>
                          <a:pt x="7902" y="6430"/>
                        </a:lnTo>
                        <a:lnTo>
                          <a:pt x="7692" y="6488"/>
                        </a:lnTo>
                        <a:lnTo>
                          <a:pt x="7481" y="6544"/>
                        </a:lnTo>
                        <a:lnTo>
                          <a:pt x="7375" y="6571"/>
                        </a:lnTo>
                        <a:lnTo>
                          <a:pt x="7269" y="6597"/>
                        </a:lnTo>
                        <a:lnTo>
                          <a:pt x="7164" y="6623"/>
                        </a:lnTo>
                        <a:lnTo>
                          <a:pt x="7058" y="6648"/>
                        </a:lnTo>
                        <a:lnTo>
                          <a:pt x="6952" y="6672"/>
                        </a:lnTo>
                        <a:lnTo>
                          <a:pt x="6846" y="6696"/>
                        </a:lnTo>
                        <a:lnTo>
                          <a:pt x="6739" y="6719"/>
                        </a:lnTo>
                        <a:lnTo>
                          <a:pt x="6634" y="6741"/>
                        </a:lnTo>
                        <a:lnTo>
                          <a:pt x="6527" y="6762"/>
                        </a:lnTo>
                        <a:lnTo>
                          <a:pt x="6420" y="6783"/>
                        </a:lnTo>
                        <a:lnTo>
                          <a:pt x="6314" y="6802"/>
                        </a:lnTo>
                        <a:lnTo>
                          <a:pt x="6207" y="6821"/>
                        </a:lnTo>
                        <a:lnTo>
                          <a:pt x="6100" y="6838"/>
                        </a:lnTo>
                        <a:lnTo>
                          <a:pt x="5993" y="6856"/>
                        </a:lnTo>
                        <a:lnTo>
                          <a:pt x="5886" y="6872"/>
                        </a:lnTo>
                        <a:lnTo>
                          <a:pt x="5779" y="6887"/>
                        </a:lnTo>
                        <a:lnTo>
                          <a:pt x="5671" y="6900"/>
                        </a:lnTo>
                        <a:lnTo>
                          <a:pt x="5565" y="6913"/>
                        </a:lnTo>
                        <a:lnTo>
                          <a:pt x="5457" y="6925"/>
                        </a:lnTo>
                        <a:lnTo>
                          <a:pt x="5349" y="6935"/>
                        </a:lnTo>
                        <a:lnTo>
                          <a:pt x="5242" y="6944"/>
                        </a:lnTo>
                        <a:lnTo>
                          <a:pt x="5133" y="6953"/>
                        </a:lnTo>
                        <a:lnTo>
                          <a:pt x="5026" y="6960"/>
                        </a:lnTo>
                        <a:lnTo>
                          <a:pt x="4918" y="6965"/>
                        </a:lnTo>
                        <a:lnTo>
                          <a:pt x="4809" y="6970"/>
                        </a:lnTo>
                        <a:lnTo>
                          <a:pt x="4701" y="6973"/>
                        </a:lnTo>
                        <a:lnTo>
                          <a:pt x="4593" y="6975"/>
                        </a:lnTo>
                        <a:lnTo>
                          <a:pt x="4484" y="6975"/>
                        </a:lnTo>
                        <a:lnTo>
                          <a:pt x="4376" y="6975"/>
                        </a:lnTo>
                        <a:lnTo>
                          <a:pt x="4267" y="6972"/>
                        </a:lnTo>
                        <a:lnTo>
                          <a:pt x="4158" y="6969"/>
                        </a:lnTo>
                        <a:lnTo>
                          <a:pt x="4049" y="6964"/>
                        </a:lnTo>
                        <a:lnTo>
                          <a:pt x="3940" y="6957"/>
                        </a:lnTo>
                        <a:lnTo>
                          <a:pt x="3831" y="6949"/>
                        </a:lnTo>
                        <a:lnTo>
                          <a:pt x="3721" y="6940"/>
                        </a:lnTo>
                        <a:lnTo>
                          <a:pt x="3612" y="6929"/>
                        </a:lnTo>
                        <a:lnTo>
                          <a:pt x="3503" y="6916"/>
                        </a:lnTo>
                        <a:lnTo>
                          <a:pt x="3393" y="6902"/>
                        </a:lnTo>
                        <a:lnTo>
                          <a:pt x="3284" y="6886"/>
                        </a:lnTo>
                        <a:lnTo>
                          <a:pt x="3173" y="6868"/>
                        </a:lnTo>
                        <a:lnTo>
                          <a:pt x="3063" y="6848"/>
                        </a:lnTo>
                        <a:lnTo>
                          <a:pt x="2954" y="6827"/>
                        </a:lnTo>
                        <a:lnTo>
                          <a:pt x="2954" y="6827"/>
                        </a:lnTo>
                        <a:lnTo>
                          <a:pt x="2869" y="6809"/>
                        </a:lnTo>
                        <a:lnTo>
                          <a:pt x="2786" y="6791"/>
                        </a:lnTo>
                        <a:lnTo>
                          <a:pt x="2704" y="6771"/>
                        </a:lnTo>
                        <a:lnTo>
                          <a:pt x="2623" y="6750"/>
                        </a:lnTo>
                        <a:lnTo>
                          <a:pt x="2543" y="6729"/>
                        </a:lnTo>
                        <a:lnTo>
                          <a:pt x="2464" y="6706"/>
                        </a:lnTo>
                        <a:lnTo>
                          <a:pt x="2387" y="6681"/>
                        </a:lnTo>
                        <a:lnTo>
                          <a:pt x="2310" y="6656"/>
                        </a:lnTo>
                        <a:lnTo>
                          <a:pt x="2235" y="6630"/>
                        </a:lnTo>
                        <a:lnTo>
                          <a:pt x="2159" y="6603"/>
                        </a:lnTo>
                        <a:lnTo>
                          <a:pt x="2086" y="6575"/>
                        </a:lnTo>
                        <a:lnTo>
                          <a:pt x="2014" y="6546"/>
                        </a:lnTo>
                        <a:lnTo>
                          <a:pt x="1943" y="6516"/>
                        </a:lnTo>
                        <a:lnTo>
                          <a:pt x="1873" y="6484"/>
                        </a:lnTo>
                        <a:lnTo>
                          <a:pt x="1804" y="6452"/>
                        </a:lnTo>
                        <a:lnTo>
                          <a:pt x="1737" y="6419"/>
                        </a:lnTo>
                        <a:lnTo>
                          <a:pt x="1670" y="6385"/>
                        </a:lnTo>
                        <a:lnTo>
                          <a:pt x="1605" y="6350"/>
                        </a:lnTo>
                        <a:lnTo>
                          <a:pt x="1541" y="6314"/>
                        </a:lnTo>
                        <a:lnTo>
                          <a:pt x="1478" y="6277"/>
                        </a:lnTo>
                        <a:lnTo>
                          <a:pt x="1416" y="6239"/>
                        </a:lnTo>
                        <a:lnTo>
                          <a:pt x="1356" y="6201"/>
                        </a:lnTo>
                        <a:lnTo>
                          <a:pt x="1296" y="6160"/>
                        </a:lnTo>
                        <a:lnTo>
                          <a:pt x="1239" y="6120"/>
                        </a:lnTo>
                        <a:lnTo>
                          <a:pt x="1183" y="6079"/>
                        </a:lnTo>
                        <a:lnTo>
                          <a:pt x="1127" y="6037"/>
                        </a:lnTo>
                        <a:lnTo>
                          <a:pt x="1073" y="5993"/>
                        </a:lnTo>
                        <a:lnTo>
                          <a:pt x="1020" y="5949"/>
                        </a:lnTo>
                        <a:lnTo>
                          <a:pt x="968" y="5905"/>
                        </a:lnTo>
                        <a:lnTo>
                          <a:pt x="918" y="5859"/>
                        </a:lnTo>
                        <a:lnTo>
                          <a:pt x="869" y="5812"/>
                        </a:lnTo>
                        <a:lnTo>
                          <a:pt x="822" y="5765"/>
                        </a:lnTo>
                        <a:lnTo>
                          <a:pt x="775" y="5717"/>
                        </a:lnTo>
                        <a:lnTo>
                          <a:pt x="731" y="5668"/>
                        </a:lnTo>
                        <a:lnTo>
                          <a:pt x="687" y="5618"/>
                        </a:lnTo>
                        <a:lnTo>
                          <a:pt x="645" y="5568"/>
                        </a:lnTo>
                        <a:lnTo>
                          <a:pt x="604" y="5517"/>
                        </a:lnTo>
                        <a:lnTo>
                          <a:pt x="565" y="5465"/>
                        </a:lnTo>
                        <a:lnTo>
                          <a:pt x="527" y="5412"/>
                        </a:lnTo>
                        <a:lnTo>
                          <a:pt x="491" y="5359"/>
                        </a:lnTo>
                        <a:lnTo>
                          <a:pt x="456" y="5305"/>
                        </a:lnTo>
                        <a:lnTo>
                          <a:pt x="421" y="5250"/>
                        </a:lnTo>
                        <a:lnTo>
                          <a:pt x="389" y="5195"/>
                        </a:lnTo>
                        <a:lnTo>
                          <a:pt x="358" y="5138"/>
                        </a:lnTo>
                        <a:lnTo>
                          <a:pt x="329" y="5081"/>
                        </a:lnTo>
                        <a:lnTo>
                          <a:pt x="301" y="5024"/>
                        </a:lnTo>
                        <a:lnTo>
                          <a:pt x="274" y="4965"/>
                        </a:lnTo>
                        <a:lnTo>
                          <a:pt x="249" y="4907"/>
                        </a:lnTo>
                        <a:lnTo>
                          <a:pt x="226" y="4848"/>
                        </a:lnTo>
                        <a:lnTo>
                          <a:pt x="204" y="4787"/>
                        </a:lnTo>
                        <a:lnTo>
                          <a:pt x="184" y="4726"/>
                        </a:lnTo>
                        <a:lnTo>
                          <a:pt x="165" y="4665"/>
                        </a:lnTo>
                        <a:lnTo>
                          <a:pt x="147" y="4603"/>
                        </a:lnTo>
                        <a:lnTo>
                          <a:pt x="132" y="4541"/>
                        </a:lnTo>
                        <a:lnTo>
                          <a:pt x="117" y="4477"/>
                        </a:lnTo>
                        <a:lnTo>
                          <a:pt x="105" y="4414"/>
                        </a:lnTo>
                        <a:lnTo>
                          <a:pt x="93" y="4350"/>
                        </a:lnTo>
                        <a:lnTo>
                          <a:pt x="83" y="4284"/>
                        </a:lnTo>
                        <a:lnTo>
                          <a:pt x="75" y="4219"/>
                        </a:lnTo>
                        <a:lnTo>
                          <a:pt x="69" y="4154"/>
                        </a:lnTo>
                        <a:lnTo>
                          <a:pt x="64" y="4087"/>
                        </a:lnTo>
                        <a:lnTo>
                          <a:pt x="61" y="4020"/>
                        </a:lnTo>
                        <a:lnTo>
                          <a:pt x="60" y="3952"/>
                        </a:lnTo>
                        <a:lnTo>
                          <a:pt x="60" y="3885"/>
                        </a:lnTo>
                        <a:lnTo>
                          <a:pt x="60" y="3885"/>
                        </a:lnTo>
                        <a:lnTo>
                          <a:pt x="62" y="3813"/>
                        </a:lnTo>
                        <a:lnTo>
                          <a:pt x="66" y="3740"/>
                        </a:lnTo>
                        <a:lnTo>
                          <a:pt x="73" y="3668"/>
                        </a:lnTo>
                        <a:lnTo>
                          <a:pt x="82" y="3596"/>
                        </a:lnTo>
                        <a:lnTo>
                          <a:pt x="93" y="3524"/>
                        </a:lnTo>
                        <a:lnTo>
                          <a:pt x="108" y="3453"/>
                        </a:lnTo>
                        <a:lnTo>
                          <a:pt x="123" y="3382"/>
                        </a:lnTo>
                        <a:lnTo>
                          <a:pt x="141" y="3312"/>
                        </a:lnTo>
                        <a:lnTo>
                          <a:pt x="161" y="3241"/>
                        </a:lnTo>
                        <a:lnTo>
                          <a:pt x="183" y="3172"/>
                        </a:lnTo>
                        <a:lnTo>
                          <a:pt x="208" y="3102"/>
                        </a:lnTo>
                        <a:lnTo>
                          <a:pt x="234" y="3034"/>
                        </a:lnTo>
                        <a:lnTo>
                          <a:pt x="263" y="2965"/>
                        </a:lnTo>
                        <a:lnTo>
                          <a:pt x="295" y="2897"/>
                        </a:lnTo>
                        <a:lnTo>
                          <a:pt x="328" y="2830"/>
                        </a:lnTo>
                        <a:lnTo>
                          <a:pt x="363" y="2762"/>
                        </a:lnTo>
                        <a:lnTo>
                          <a:pt x="401" y="2696"/>
                        </a:lnTo>
                        <a:lnTo>
                          <a:pt x="440" y="2629"/>
                        </a:lnTo>
                        <a:lnTo>
                          <a:pt x="483" y="2564"/>
                        </a:lnTo>
                        <a:lnTo>
                          <a:pt x="526" y="2499"/>
                        </a:lnTo>
                        <a:lnTo>
                          <a:pt x="572" y="2434"/>
                        </a:lnTo>
                        <a:lnTo>
                          <a:pt x="620" y="2370"/>
                        </a:lnTo>
                        <a:lnTo>
                          <a:pt x="671" y="2307"/>
                        </a:lnTo>
                        <a:lnTo>
                          <a:pt x="723" y="2244"/>
                        </a:lnTo>
                        <a:lnTo>
                          <a:pt x="777" y="2182"/>
                        </a:lnTo>
                        <a:lnTo>
                          <a:pt x="835" y="2120"/>
                        </a:lnTo>
                        <a:lnTo>
                          <a:pt x="893" y="2059"/>
                        </a:lnTo>
                        <a:lnTo>
                          <a:pt x="953" y="1999"/>
                        </a:lnTo>
                        <a:lnTo>
                          <a:pt x="1017" y="1939"/>
                        </a:lnTo>
                        <a:lnTo>
                          <a:pt x="1081" y="1881"/>
                        </a:lnTo>
                        <a:lnTo>
                          <a:pt x="1148" y="1823"/>
                        </a:lnTo>
                        <a:lnTo>
                          <a:pt x="1217" y="1764"/>
                        </a:lnTo>
                        <a:lnTo>
                          <a:pt x="1217" y="1764"/>
                        </a:lnTo>
                        <a:lnTo>
                          <a:pt x="1278" y="1715"/>
                        </a:lnTo>
                        <a:lnTo>
                          <a:pt x="1342" y="1667"/>
                        </a:lnTo>
                        <a:lnTo>
                          <a:pt x="1406" y="1619"/>
                        </a:lnTo>
                        <a:lnTo>
                          <a:pt x="1471" y="1570"/>
                        </a:lnTo>
                        <a:lnTo>
                          <a:pt x="1539" y="1524"/>
                        </a:lnTo>
                        <a:lnTo>
                          <a:pt x="1608" y="1478"/>
                        </a:lnTo>
                        <a:lnTo>
                          <a:pt x="1677" y="1431"/>
                        </a:lnTo>
                        <a:lnTo>
                          <a:pt x="1749" y="1386"/>
                        </a:lnTo>
                        <a:lnTo>
                          <a:pt x="1821" y="1342"/>
                        </a:lnTo>
                        <a:lnTo>
                          <a:pt x="1896" y="1299"/>
                        </a:lnTo>
                        <a:lnTo>
                          <a:pt x="1970" y="1255"/>
                        </a:lnTo>
                        <a:lnTo>
                          <a:pt x="2047" y="1213"/>
                        </a:lnTo>
                        <a:lnTo>
                          <a:pt x="2124" y="1172"/>
                        </a:lnTo>
                        <a:lnTo>
                          <a:pt x="2202" y="1132"/>
                        </a:lnTo>
                        <a:lnTo>
                          <a:pt x="2282" y="1091"/>
                        </a:lnTo>
                        <a:lnTo>
                          <a:pt x="2362" y="1052"/>
                        </a:lnTo>
                        <a:lnTo>
                          <a:pt x="2444" y="1014"/>
                        </a:lnTo>
                        <a:lnTo>
                          <a:pt x="2527" y="977"/>
                        </a:lnTo>
                        <a:lnTo>
                          <a:pt x="2611" y="939"/>
                        </a:lnTo>
                        <a:lnTo>
                          <a:pt x="2695" y="903"/>
                        </a:lnTo>
                        <a:lnTo>
                          <a:pt x="2781" y="869"/>
                        </a:lnTo>
                        <a:lnTo>
                          <a:pt x="2867" y="835"/>
                        </a:lnTo>
                        <a:lnTo>
                          <a:pt x="2954" y="802"/>
                        </a:lnTo>
                        <a:lnTo>
                          <a:pt x="3042" y="769"/>
                        </a:lnTo>
                        <a:lnTo>
                          <a:pt x="3131" y="737"/>
                        </a:lnTo>
                        <a:lnTo>
                          <a:pt x="3220" y="707"/>
                        </a:lnTo>
                        <a:lnTo>
                          <a:pt x="3311" y="678"/>
                        </a:lnTo>
                        <a:lnTo>
                          <a:pt x="3401" y="649"/>
                        </a:lnTo>
                        <a:lnTo>
                          <a:pt x="3494" y="622"/>
                        </a:lnTo>
                        <a:lnTo>
                          <a:pt x="3585" y="595"/>
                        </a:lnTo>
                        <a:lnTo>
                          <a:pt x="3679" y="569"/>
                        </a:lnTo>
                        <a:lnTo>
                          <a:pt x="3772" y="545"/>
                        </a:lnTo>
                        <a:lnTo>
                          <a:pt x="3772" y="545"/>
                        </a:lnTo>
                        <a:lnTo>
                          <a:pt x="3855" y="524"/>
                        </a:lnTo>
                        <a:lnTo>
                          <a:pt x="3938" y="504"/>
                        </a:lnTo>
                        <a:lnTo>
                          <a:pt x="4022" y="484"/>
                        </a:lnTo>
                        <a:lnTo>
                          <a:pt x="4104" y="466"/>
                        </a:lnTo>
                        <a:lnTo>
                          <a:pt x="4189" y="447"/>
                        </a:lnTo>
                        <a:lnTo>
                          <a:pt x="4272" y="429"/>
                        </a:lnTo>
                        <a:lnTo>
                          <a:pt x="4356" y="412"/>
                        </a:lnTo>
                        <a:lnTo>
                          <a:pt x="4439" y="396"/>
                        </a:lnTo>
                        <a:lnTo>
                          <a:pt x="4608" y="365"/>
                        </a:lnTo>
                        <a:lnTo>
                          <a:pt x="4776" y="337"/>
                        </a:lnTo>
                        <a:lnTo>
                          <a:pt x="4945" y="310"/>
                        </a:lnTo>
                        <a:lnTo>
                          <a:pt x="5114" y="286"/>
                        </a:lnTo>
                        <a:lnTo>
                          <a:pt x="4939" y="551"/>
                        </a:lnTo>
                        <a:lnTo>
                          <a:pt x="5502" y="212"/>
                        </a:lnTo>
                        <a:lnTo>
                          <a:pt x="4880" y="0"/>
                        </a:lnTo>
                        <a:lnTo>
                          <a:pt x="5111" y="225"/>
                        </a:lnTo>
                        <a:lnTo>
                          <a:pt x="5111" y="225"/>
                        </a:lnTo>
                        <a:lnTo>
                          <a:pt x="4940" y="249"/>
                        </a:lnTo>
                        <a:lnTo>
                          <a:pt x="4770" y="277"/>
                        </a:lnTo>
                        <a:lnTo>
                          <a:pt x="4600" y="306"/>
                        </a:lnTo>
                        <a:lnTo>
                          <a:pt x="4515" y="321"/>
                        </a:lnTo>
                        <a:lnTo>
                          <a:pt x="4430" y="337"/>
                        </a:lnTo>
                        <a:lnTo>
                          <a:pt x="4346" y="353"/>
                        </a:lnTo>
                        <a:lnTo>
                          <a:pt x="4261" y="370"/>
                        </a:lnTo>
                        <a:lnTo>
                          <a:pt x="4177" y="388"/>
                        </a:lnTo>
                        <a:lnTo>
                          <a:pt x="4093" y="406"/>
                        </a:lnTo>
                        <a:lnTo>
                          <a:pt x="4009" y="425"/>
                        </a:lnTo>
                        <a:lnTo>
                          <a:pt x="3924" y="446"/>
                        </a:lnTo>
                        <a:lnTo>
                          <a:pt x="3841" y="466"/>
                        </a:lnTo>
                        <a:lnTo>
                          <a:pt x="3757" y="487"/>
                        </a:lnTo>
                        <a:lnTo>
                          <a:pt x="3757" y="487"/>
                        </a:lnTo>
                        <a:lnTo>
                          <a:pt x="3663" y="511"/>
                        </a:lnTo>
                        <a:lnTo>
                          <a:pt x="3569" y="537"/>
                        </a:lnTo>
                        <a:lnTo>
                          <a:pt x="3476" y="564"/>
                        </a:lnTo>
                        <a:lnTo>
                          <a:pt x="3384" y="591"/>
                        </a:lnTo>
                        <a:lnTo>
                          <a:pt x="3292" y="621"/>
                        </a:lnTo>
                        <a:lnTo>
                          <a:pt x="3201" y="651"/>
                        </a:lnTo>
                        <a:lnTo>
                          <a:pt x="3111" y="681"/>
                        </a:lnTo>
                        <a:lnTo>
                          <a:pt x="3021" y="713"/>
                        </a:lnTo>
                        <a:lnTo>
                          <a:pt x="2933" y="745"/>
                        </a:lnTo>
                        <a:lnTo>
                          <a:pt x="2844" y="779"/>
                        </a:lnTo>
                        <a:lnTo>
                          <a:pt x="2758" y="814"/>
                        </a:lnTo>
                        <a:lnTo>
                          <a:pt x="2671" y="849"/>
                        </a:lnTo>
                        <a:lnTo>
                          <a:pt x="2586" y="885"/>
                        </a:lnTo>
                        <a:lnTo>
                          <a:pt x="2501" y="922"/>
                        </a:lnTo>
                        <a:lnTo>
                          <a:pt x="2418" y="960"/>
                        </a:lnTo>
                        <a:lnTo>
                          <a:pt x="2335" y="999"/>
                        </a:lnTo>
                        <a:lnTo>
                          <a:pt x="2254" y="1038"/>
                        </a:lnTo>
                        <a:lnTo>
                          <a:pt x="2173" y="1078"/>
                        </a:lnTo>
                        <a:lnTo>
                          <a:pt x="2095" y="1120"/>
                        </a:lnTo>
                        <a:lnTo>
                          <a:pt x="2016" y="1162"/>
                        </a:lnTo>
                        <a:lnTo>
                          <a:pt x="1940" y="1204"/>
                        </a:lnTo>
                        <a:lnTo>
                          <a:pt x="1864" y="1247"/>
                        </a:lnTo>
                        <a:lnTo>
                          <a:pt x="1789" y="1292"/>
                        </a:lnTo>
                        <a:lnTo>
                          <a:pt x="1716" y="1336"/>
                        </a:lnTo>
                        <a:lnTo>
                          <a:pt x="1644" y="1382"/>
                        </a:lnTo>
                        <a:lnTo>
                          <a:pt x="1574" y="1427"/>
                        </a:lnTo>
                        <a:lnTo>
                          <a:pt x="1504" y="1475"/>
                        </a:lnTo>
                        <a:lnTo>
                          <a:pt x="1436" y="1522"/>
                        </a:lnTo>
                        <a:lnTo>
                          <a:pt x="1370" y="1570"/>
                        </a:lnTo>
                        <a:lnTo>
                          <a:pt x="1304" y="1620"/>
                        </a:lnTo>
                        <a:lnTo>
                          <a:pt x="1241" y="1669"/>
                        </a:lnTo>
                        <a:lnTo>
                          <a:pt x="1179" y="1718"/>
                        </a:lnTo>
                        <a:lnTo>
                          <a:pt x="1179" y="1718"/>
                        </a:lnTo>
                        <a:lnTo>
                          <a:pt x="1108" y="1777"/>
                        </a:lnTo>
                        <a:lnTo>
                          <a:pt x="1041" y="1837"/>
                        </a:lnTo>
                        <a:lnTo>
                          <a:pt x="974" y="1896"/>
                        </a:lnTo>
                        <a:lnTo>
                          <a:pt x="910" y="1958"/>
                        </a:lnTo>
                        <a:lnTo>
                          <a:pt x="849" y="2019"/>
                        </a:lnTo>
                        <a:lnTo>
                          <a:pt x="788" y="2081"/>
                        </a:lnTo>
                        <a:lnTo>
                          <a:pt x="731" y="2144"/>
                        </a:lnTo>
                        <a:lnTo>
                          <a:pt x="676" y="2207"/>
                        </a:lnTo>
                        <a:lnTo>
                          <a:pt x="622" y="2271"/>
                        </a:lnTo>
                        <a:lnTo>
                          <a:pt x="571" y="2336"/>
                        </a:lnTo>
                        <a:lnTo>
                          <a:pt x="522" y="2401"/>
                        </a:lnTo>
                        <a:lnTo>
                          <a:pt x="475" y="2468"/>
                        </a:lnTo>
                        <a:lnTo>
                          <a:pt x="430" y="2534"/>
                        </a:lnTo>
                        <a:lnTo>
                          <a:pt x="387" y="2600"/>
                        </a:lnTo>
                        <a:lnTo>
                          <a:pt x="347" y="2668"/>
                        </a:lnTo>
                        <a:lnTo>
                          <a:pt x="309" y="2736"/>
                        </a:lnTo>
                        <a:lnTo>
                          <a:pt x="272" y="2805"/>
                        </a:lnTo>
                        <a:lnTo>
                          <a:pt x="239" y="2874"/>
                        </a:lnTo>
                        <a:lnTo>
                          <a:pt x="207" y="2943"/>
                        </a:lnTo>
                        <a:lnTo>
                          <a:pt x="178" y="3013"/>
                        </a:lnTo>
                        <a:lnTo>
                          <a:pt x="151" y="3084"/>
                        </a:lnTo>
                        <a:lnTo>
                          <a:pt x="126" y="3155"/>
                        </a:lnTo>
                        <a:lnTo>
                          <a:pt x="103" y="3226"/>
                        </a:lnTo>
                        <a:lnTo>
                          <a:pt x="82" y="3297"/>
                        </a:lnTo>
                        <a:lnTo>
                          <a:pt x="64" y="3370"/>
                        </a:lnTo>
                        <a:lnTo>
                          <a:pt x="48" y="3442"/>
                        </a:lnTo>
                        <a:lnTo>
                          <a:pt x="34" y="3515"/>
                        </a:lnTo>
                        <a:lnTo>
                          <a:pt x="23" y="3588"/>
                        </a:lnTo>
                        <a:lnTo>
                          <a:pt x="14" y="3662"/>
                        </a:lnTo>
                        <a:lnTo>
                          <a:pt x="7" y="3736"/>
                        </a:lnTo>
                        <a:lnTo>
                          <a:pt x="2" y="3809"/>
                        </a:lnTo>
                        <a:lnTo>
                          <a:pt x="0" y="3884"/>
                        </a:lnTo>
                        <a:lnTo>
                          <a:pt x="0" y="3884"/>
                        </a:lnTo>
                        <a:lnTo>
                          <a:pt x="0" y="3953"/>
                        </a:lnTo>
                        <a:lnTo>
                          <a:pt x="1" y="4022"/>
                        </a:lnTo>
                        <a:lnTo>
                          <a:pt x="5" y="4090"/>
                        </a:lnTo>
                        <a:lnTo>
                          <a:pt x="9" y="4159"/>
                        </a:lnTo>
                        <a:lnTo>
                          <a:pt x="16" y="4226"/>
                        </a:lnTo>
                        <a:lnTo>
                          <a:pt x="24" y="4292"/>
                        </a:lnTo>
                        <a:lnTo>
                          <a:pt x="33" y="4359"/>
                        </a:lnTo>
                        <a:lnTo>
                          <a:pt x="45" y="4424"/>
                        </a:lnTo>
                        <a:lnTo>
                          <a:pt x="58" y="4490"/>
                        </a:lnTo>
                        <a:lnTo>
                          <a:pt x="72" y="4554"/>
                        </a:lnTo>
                        <a:lnTo>
                          <a:pt x="88" y="4617"/>
                        </a:lnTo>
                        <a:lnTo>
                          <a:pt x="107" y="4681"/>
                        </a:lnTo>
                        <a:lnTo>
                          <a:pt x="126" y="4743"/>
                        </a:lnTo>
                        <a:lnTo>
                          <a:pt x="146" y="4805"/>
                        </a:lnTo>
                        <a:lnTo>
                          <a:pt x="169" y="4867"/>
                        </a:lnTo>
                        <a:lnTo>
                          <a:pt x="192" y="4927"/>
                        </a:lnTo>
                        <a:lnTo>
                          <a:pt x="218" y="4987"/>
                        </a:lnTo>
                        <a:lnTo>
                          <a:pt x="244" y="5047"/>
                        </a:lnTo>
                        <a:lnTo>
                          <a:pt x="273" y="5106"/>
                        </a:lnTo>
                        <a:lnTo>
                          <a:pt x="303" y="5163"/>
                        </a:lnTo>
                        <a:lnTo>
                          <a:pt x="334" y="5221"/>
                        </a:lnTo>
                        <a:lnTo>
                          <a:pt x="367" y="5278"/>
                        </a:lnTo>
                        <a:lnTo>
                          <a:pt x="401" y="5334"/>
                        </a:lnTo>
                        <a:lnTo>
                          <a:pt x="437" y="5389"/>
                        </a:lnTo>
                        <a:lnTo>
                          <a:pt x="475" y="5443"/>
                        </a:lnTo>
                        <a:lnTo>
                          <a:pt x="513" y="5497"/>
                        </a:lnTo>
                        <a:lnTo>
                          <a:pt x="553" y="5550"/>
                        </a:lnTo>
                        <a:lnTo>
                          <a:pt x="594" y="5602"/>
                        </a:lnTo>
                        <a:lnTo>
                          <a:pt x="638" y="5654"/>
                        </a:lnTo>
                        <a:lnTo>
                          <a:pt x="682" y="5705"/>
                        </a:lnTo>
                        <a:lnTo>
                          <a:pt x="727" y="5755"/>
                        </a:lnTo>
                        <a:lnTo>
                          <a:pt x="774" y="5803"/>
                        </a:lnTo>
                        <a:lnTo>
                          <a:pt x="823" y="5852"/>
                        </a:lnTo>
                        <a:lnTo>
                          <a:pt x="872" y="5899"/>
                        </a:lnTo>
                        <a:lnTo>
                          <a:pt x="923" y="5946"/>
                        </a:lnTo>
                        <a:lnTo>
                          <a:pt x="975" y="5991"/>
                        </a:lnTo>
                        <a:lnTo>
                          <a:pt x="1030" y="6037"/>
                        </a:lnTo>
                        <a:lnTo>
                          <a:pt x="1084" y="6081"/>
                        </a:lnTo>
                        <a:lnTo>
                          <a:pt x="1140" y="6123"/>
                        </a:lnTo>
                        <a:lnTo>
                          <a:pt x="1199" y="6165"/>
                        </a:lnTo>
                        <a:lnTo>
                          <a:pt x="1257" y="6207"/>
                        </a:lnTo>
                        <a:lnTo>
                          <a:pt x="1317" y="6248"/>
                        </a:lnTo>
                        <a:lnTo>
                          <a:pt x="1379" y="6287"/>
                        </a:lnTo>
                        <a:lnTo>
                          <a:pt x="1441" y="6325"/>
                        </a:lnTo>
                        <a:lnTo>
                          <a:pt x="1505" y="6364"/>
                        </a:lnTo>
                        <a:lnTo>
                          <a:pt x="1571" y="6400"/>
                        </a:lnTo>
                        <a:lnTo>
                          <a:pt x="1637" y="6436"/>
                        </a:lnTo>
                        <a:lnTo>
                          <a:pt x="1705" y="6470"/>
                        </a:lnTo>
                        <a:lnTo>
                          <a:pt x="1773" y="6504"/>
                        </a:lnTo>
                        <a:lnTo>
                          <a:pt x="1843" y="6537"/>
                        </a:lnTo>
                        <a:lnTo>
                          <a:pt x="1914" y="6569"/>
                        </a:lnTo>
                        <a:lnTo>
                          <a:pt x="1986" y="6600"/>
                        </a:lnTo>
                        <a:lnTo>
                          <a:pt x="2060" y="6629"/>
                        </a:lnTo>
                        <a:lnTo>
                          <a:pt x="2134" y="6658"/>
                        </a:lnTo>
                        <a:lnTo>
                          <a:pt x="2211" y="6686"/>
                        </a:lnTo>
                        <a:lnTo>
                          <a:pt x="2287" y="6713"/>
                        </a:lnTo>
                        <a:lnTo>
                          <a:pt x="2365" y="6738"/>
                        </a:lnTo>
                        <a:lnTo>
                          <a:pt x="2444" y="6762"/>
                        </a:lnTo>
                        <a:lnTo>
                          <a:pt x="2524" y="6786"/>
                        </a:lnTo>
                        <a:lnTo>
                          <a:pt x="2606" y="6808"/>
                        </a:lnTo>
                        <a:lnTo>
                          <a:pt x="2688" y="6829"/>
                        </a:lnTo>
                        <a:lnTo>
                          <a:pt x="2772" y="6849"/>
                        </a:lnTo>
                        <a:lnTo>
                          <a:pt x="2856" y="6869"/>
                        </a:lnTo>
                        <a:lnTo>
                          <a:pt x="2942" y="6886"/>
                        </a:lnTo>
                        <a:lnTo>
                          <a:pt x="2942" y="6886"/>
                        </a:lnTo>
                        <a:lnTo>
                          <a:pt x="3052" y="6907"/>
                        </a:lnTo>
                        <a:lnTo>
                          <a:pt x="3163" y="6927"/>
                        </a:lnTo>
                        <a:lnTo>
                          <a:pt x="3274" y="6945"/>
                        </a:lnTo>
                        <a:lnTo>
                          <a:pt x="3384" y="6961"/>
                        </a:lnTo>
                        <a:lnTo>
                          <a:pt x="3494" y="6975"/>
                        </a:lnTo>
                        <a:lnTo>
                          <a:pt x="3604" y="6988"/>
                        </a:lnTo>
                        <a:lnTo>
                          <a:pt x="3714" y="6999"/>
                        </a:lnTo>
                        <a:lnTo>
                          <a:pt x="3825" y="7009"/>
                        </a:lnTo>
                        <a:lnTo>
                          <a:pt x="3934" y="7017"/>
                        </a:lnTo>
                        <a:lnTo>
                          <a:pt x="4044" y="7025"/>
                        </a:lnTo>
                        <a:lnTo>
                          <a:pt x="4154" y="7030"/>
                        </a:lnTo>
                        <a:lnTo>
                          <a:pt x="4263" y="7033"/>
                        </a:lnTo>
                        <a:lnTo>
                          <a:pt x="4372" y="7036"/>
                        </a:lnTo>
                        <a:lnTo>
                          <a:pt x="4481" y="7036"/>
                        </a:lnTo>
                        <a:lnTo>
                          <a:pt x="4590" y="7036"/>
                        </a:lnTo>
                        <a:lnTo>
                          <a:pt x="4700" y="7034"/>
                        </a:lnTo>
                        <a:lnTo>
                          <a:pt x="4808" y="7031"/>
                        </a:lnTo>
                        <a:lnTo>
                          <a:pt x="4917" y="7026"/>
                        </a:lnTo>
                        <a:lnTo>
                          <a:pt x="5026" y="7020"/>
                        </a:lnTo>
                        <a:lnTo>
                          <a:pt x="5134" y="7013"/>
                        </a:lnTo>
                        <a:lnTo>
                          <a:pt x="5243" y="7004"/>
                        </a:lnTo>
                        <a:lnTo>
                          <a:pt x="5350" y="6995"/>
                        </a:lnTo>
                        <a:lnTo>
                          <a:pt x="5459" y="6985"/>
                        </a:lnTo>
                        <a:lnTo>
                          <a:pt x="5567" y="6973"/>
                        </a:lnTo>
                        <a:lnTo>
                          <a:pt x="5674" y="6960"/>
                        </a:lnTo>
                        <a:lnTo>
                          <a:pt x="5783" y="6947"/>
                        </a:lnTo>
                        <a:lnTo>
                          <a:pt x="5890" y="6932"/>
                        </a:lnTo>
                        <a:lnTo>
                          <a:pt x="5997" y="6916"/>
                        </a:lnTo>
                        <a:lnTo>
                          <a:pt x="6105" y="6899"/>
                        </a:lnTo>
                        <a:lnTo>
                          <a:pt x="6212" y="6882"/>
                        </a:lnTo>
                        <a:lnTo>
                          <a:pt x="6320" y="6863"/>
                        </a:lnTo>
                        <a:lnTo>
                          <a:pt x="6427" y="6842"/>
                        </a:lnTo>
                        <a:lnTo>
                          <a:pt x="6533" y="6822"/>
                        </a:lnTo>
                        <a:lnTo>
                          <a:pt x="6641" y="6801"/>
                        </a:lnTo>
                        <a:lnTo>
                          <a:pt x="6747" y="6779"/>
                        </a:lnTo>
                        <a:lnTo>
                          <a:pt x="6854" y="6756"/>
                        </a:lnTo>
                        <a:lnTo>
                          <a:pt x="6961" y="6732"/>
                        </a:lnTo>
                        <a:lnTo>
                          <a:pt x="7066" y="6708"/>
                        </a:lnTo>
                        <a:lnTo>
                          <a:pt x="7173" y="6682"/>
                        </a:lnTo>
                        <a:lnTo>
                          <a:pt x="7279" y="6657"/>
                        </a:lnTo>
                        <a:lnTo>
                          <a:pt x="7385" y="6630"/>
                        </a:lnTo>
                        <a:lnTo>
                          <a:pt x="7491" y="6603"/>
                        </a:lnTo>
                        <a:lnTo>
                          <a:pt x="7703" y="6548"/>
                        </a:lnTo>
                        <a:lnTo>
                          <a:pt x="7914" y="6489"/>
                        </a:lnTo>
                        <a:lnTo>
                          <a:pt x="8124" y="6430"/>
                        </a:lnTo>
                        <a:lnTo>
                          <a:pt x="8334" y="6369"/>
                        </a:lnTo>
                        <a:lnTo>
                          <a:pt x="8545" y="6305"/>
                        </a:lnTo>
                        <a:lnTo>
                          <a:pt x="8754" y="6241"/>
                        </a:lnTo>
                        <a:lnTo>
                          <a:pt x="8962" y="6175"/>
                        </a:lnTo>
                        <a:lnTo>
                          <a:pt x="9170" y="6110"/>
                        </a:lnTo>
                        <a:lnTo>
                          <a:pt x="9378" y="6044"/>
                        </a:lnTo>
                        <a:lnTo>
                          <a:pt x="9793" y="5910"/>
                        </a:lnTo>
                        <a:lnTo>
                          <a:pt x="9992" y="5846"/>
                        </a:lnTo>
                        <a:lnTo>
                          <a:pt x="9992" y="5846"/>
                        </a:lnTo>
                        <a:lnTo>
                          <a:pt x="10377" y="5721"/>
                        </a:lnTo>
                        <a:lnTo>
                          <a:pt x="10571" y="5659"/>
                        </a:lnTo>
                        <a:lnTo>
                          <a:pt x="10766" y="5599"/>
                        </a:lnTo>
                        <a:lnTo>
                          <a:pt x="10962" y="5540"/>
                        </a:lnTo>
                        <a:lnTo>
                          <a:pt x="11159" y="5481"/>
                        </a:lnTo>
                        <a:lnTo>
                          <a:pt x="11258" y="5453"/>
                        </a:lnTo>
                        <a:lnTo>
                          <a:pt x="11357" y="5425"/>
                        </a:lnTo>
                        <a:lnTo>
                          <a:pt x="11456" y="5399"/>
                        </a:lnTo>
                        <a:lnTo>
                          <a:pt x="11556" y="5372"/>
                        </a:lnTo>
                        <a:lnTo>
                          <a:pt x="11655" y="5347"/>
                        </a:lnTo>
                        <a:lnTo>
                          <a:pt x="11756" y="5321"/>
                        </a:lnTo>
                        <a:lnTo>
                          <a:pt x="11856" y="5297"/>
                        </a:lnTo>
                        <a:lnTo>
                          <a:pt x="11957" y="5274"/>
                        </a:lnTo>
                        <a:lnTo>
                          <a:pt x="12058" y="5251"/>
                        </a:lnTo>
                        <a:lnTo>
                          <a:pt x="12158" y="5230"/>
                        </a:lnTo>
                        <a:lnTo>
                          <a:pt x="12260" y="5210"/>
                        </a:lnTo>
                        <a:lnTo>
                          <a:pt x="12361" y="5190"/>
                        </a:lnTo>
                        <a:lnTo>
                          <a:pt x="12464" y="5172"/>
                        </a:lnTo>
                        <a:lnTo>
                          <a:pt x="12565" y="5154"/>
                        </a:lnTo>
                        <a:lnTo>
                          <a:pt x="12668" y="5138"/>
                        </a:lnTo>
                        <a:lnTo>
                          <a:pt x="12771" y="5123"/>
                        </a:lnTo>
                        <a:lnTo>
                          <a:pt x="12874" y="5109"/>
                        </a:lnTo>
                        <a:lnTo>
                          <a:pt x="12977" y="5097"/>
                        </a:lnTo>
                        <a:lnTo>
                          <a:pt x="13081" y="5086"/>
                        </a:lnTo>
                        <a:lnTo>
                          <a:pt x="13185" y="5077"/>
                        </a:lnTo>
                        <a:lnTo>
                          <a:pt x="13185" y="5077"/>
                        </a:lnTo>
                        <a:lnTo>
                          <a:pt x="13261" y="5071"/>
                        </a:lnTo>
                        <a:lnTo>
                          <a:pt x="13338" y="5066"/>
                        </a:lnTo>
                        <a:lnTo>
                          <a:pt x="13413" y="5063"/>
                        </a:lnTo>
                        <a:lnTo>
                          <a:pt x="13488" y="5061"/>
                        </a:lnTo>
                        <a:lnTo>
                          <a:pt x="13562" y="5059"/>
                        </a:lnTo>
                        <a:lnTo>
                          <a:pt x="13637" y="5059"/>
                        </a:lnTo>
                        <a:lnTo>
                          <a:pt x="13710" y="5061"/>
                        </a:lnTo>
                        <a:lnTo>
                          <a:pt x="13782" y="5063"/>
                        </a:lnTo>
                        <a:lnTo>
                          <a:pt x="13782" y="5004"/>
                        </a:lnTo>
                        <a:lnTo>
                          <a:pt x="13782" y="5004"/>
                        </a:lnTo>
                        <a:lnTo>
                          <a:pt x="13708" y="5002"/>
                        </a:lnTo>
                        <a:lnTo>
                          <a:pt x="13633" y="5001"/>
                        </a:lnTo>
                        <a:lnTo>
                          <a:pt x="13558" y="5000"/>
                        </a:lnTo>
                        <a:lnTo>
                          <a:pt x="13483" y="5001"/>
                        </a:lnTo>
                        <a:lnTo>
                          <a:pt x="13407" y="5003"/>
                        </a:lnTo>
                        <a:lnTo>
                          <a:pt x="13332" y="5007"/>
                        </a:lnTo>
                        <a:lnTo>
                          <a:pt x="13255" y="5011"/>
                        </a:lnTo>
                        <a:lnTo>
                          <a:pt x="13180" y="5017"/>
                        </a:lnTo>
                        <a:lnTo>
                          <a:pt x="13180" y="5017"/>
                        </a:ln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Calibri"/>
                    </a:endParaRPr>
                  </a:p>
                </p:txBody>
              </p:sp>
              <p:sp>
                <p:nvSpPr>
                  <p:cNvPr id="39" name="Freeform 10">
                    <a:extLst>
                      <a:ext uri="{FF2B5EF4-FFF2-40B4-BE49-F238E27FC236}">
                        <a16:creationId xmlns:a16="http://schemas.microsoft.com/office/drawing/2014/main" id="{0768E8C0-63DF-098A-3665-4BCE3031AFFC}"/>
                      </a:ext>
                    </a:extLst>
                  </p:cNvPr>
                  <p:cNvSpPr>
                    <a:spLocks/>
                  </p:cNvSpPr>
                  <p:nvPr/>
                </p:nvSpPr>
                <p:spPr bwMode="auto">
                  <a:xfrm>
                    <a:off x="181166" y="5322525"/>
                    <a:ext cx="361269" cy="1260838"/>
                  </a:xfrm>
                  <a:custGeom>
                    <a:avLst/>
                    <a:gdLst>
                      <a:gd name="T0" fmla="*/ 2039 w 2390"/>
                      <a:gd name="T1" fmla="*/ 148 h 4760"/>
                      <a:gd name="T2" fmla="*/ 1951 w 2390"/>
                      <a:gd name="T3" fmla="*/ 208 h 4760"/>
                      <a:gd name="T4" fmla="*/ 1826 w 2390"/>
                      <a:gd name="T5" fmla="*/ 302 h 4760"/>
                      <a:gd name="T6" fmla="*/ 1705 w 2390"/>
                      <a:gd name="T7" fmla="*/ 399 h 4760"/>
                      <a:gd name="T8" fmla="*/ 1590 w 2390"/>
                      <a:gd name="T9" fmla="*/ 501 h 4760"/>
                      <a:gd name="T10" fmla="*/ 1480 w 2390"/>
                      <a:gd name="T11" fmla="*/ 605 h 4760"/>
                      <a:gd name="T12" fmla="*/ 1375 w 2390"/>
                      <a:gd name="T13" fmla="*/ 713 h 4760"/>
                      <a:gd name="T14" fmla="*/ 1275 w 2390"/>
                      <a:gd name="T15" fmla="*/ 824 h 4760"/>
                      <a:gd name="T16" fmla="*/ 1091 w 2390"/>
                      <a:gd name="T17" fmla="*/ 1054 h 4760"/>
                      <a:gd name="T18" fmla="*/ 924 w 2390"/>
                      <a:gd name="T19" fmla="*/ 1293 h 4760"/>
                      <a:gd name="T20" fmla="*/ 777 w 2390"/>
                      <a:gd name="T21" fmla="*/ 1538 h 4760"/>
                      <a:gd name="T22" fmla="*/ 644 w 2390"/>
                      <a:gd name="T23" fmla="*/ 1788 h 4760"/>
                      <a:gd name="T24" fmla="*/ 528 w 2390"/>
                      <a:gd name="T25" fmla="*/ 2042 h 4760"/>
                      <a:gd name="T26" fmla="*/ 427 w 2390"/>
                      <a:gd name="T27" fmla="*/ 2296 h 4760"/>
                      <a:gd name="T28" fmla="*/ 339 w 2390"/>
                      <a:gd name="T29" fmla="*/ 2551 h 4760"/>
                      <a:gd name="T30" fmla="*/ 264 w 2390"/>
                      <a:gd name="T31" fmla="*/ 2802 h 4760"/>
                      <a:gd name="T32" fmla="*/ 200 w 2390"/>
                      <a:gd name="T33" fmla="*/ 3050 h 4760"/>
                      <a:gd name="T34" fmla="*/ 148 w 2390"/>
                      <a:gd name="T35" fmla="*/ 3290 h 4760"/>
                      <a:gd name="T36" fmla="*/ 106 w 2390"/>
                      <a:gd name="T37" fmla="*/ 3524 h 4760"/>
                      <a:gd name="T38" fmla="*/ 72 w 2390"/>
                      <a:gd name="T39" fmla="*/ 3746 h 4760"/>
                      <a:gd name="T40" fmla="*/ 45 w 2390"/>
                      <a:gd name="T41" fmla="*/ 3956 h 4760"/>
                      <a:gd name="T42" fmla="*/ 17 w 2390"/>
                      <a:gd name="T43" fmla="*/ 4275 h 4760"/>
                      <a:gd name="T44" fmla="*/ 2 w 2390"/>
                      <a:gd name="T45" fmla="*/ 4593 h 4760"/>
                      <a:gd name="T46" fmla="*/ 60 w 2390"/>
                      <a:gd name="T47" fmla="*/ 4760 h 4760"/>
                      <a:gd name="T48" fmla="*/ 62 w 2390"/>
                      <a:gd name="T49" fmla="*/ 4596 h 4760"/>
                      <a:gd name="T50" fmla="*/ 78 w 2390"/>
                      <a:gd name="T51" fmla="*/ 4283 h 4760"/>
                      <a:gd name="T52" fmla="*/ 113 w 2390"/>
                      <a:gd name="T53" fmla="*/ 3903 h 4760"/>
                      <a:gd name="T54" fmla="*/ 140 w 2390"/>
                      <a:gd name="T55" fmla="*/ 3693 h 4760"/>
                      <a:gd name="T56" fmla="*/ 176 w 2390"/>
                      <a:gd name="T57" fmla="*/ 3470 h 4760"/>
                      <a:gd name="T58" fmla="*/ 220 w 2390"/>
                      <a:gd name="T59" fmla="*/ 3239 h 4760"/>
                      <a:gd name="T60" fmla="*/ 275 w 2390"/>
                      <a:gd name="T61" fmla="*/ 3001 h 4760"/>
                      <a:gd name="T62" fmla="*/ 340 w 2390"/>
                      <a:gd name="T63" fmla="*/ 2755 h 4760"/>
                      <a:gd name="T64" fmla="*/ 417 w 2390"/>
                      <a:gd name="T65" fmla="*/ 2507 h 4760"/>
                      <a:gd name="T66" fmla="*/ 506 w 2390"/>
                      <a:gd name="T67" fmla="*/ 2257 h 4760"/>
                      <a:gd name="T68" fmla="*/ 610 w 2390"/>
                      <a:gd name="T69" fmla="*/ 2007 h 4760"/>
                      <a:gd name="T70" fmla="*/ 727 w 2390"/>
                      <a:gd name="T71" fmla="*/ 1757 h 4760"/>
                      <a:gd name="T72" fmla="*/ 860 w 2390"/>
                      <a:gd name="T73" fmla="*/ 1513 h 4760"/>
                      <a:gd name="T74" fmla="*/ 1010 w 2390"/>
                      <a:gd name="T75" fmla="*/ 1272 h 4760"/>
                      <a:gd name="T76" fmla="*/ 1178 w 2390"/>
                      <a:gd name="T77" fmla="*/ 1040 h 4760"/>
                      <a:gd name="T78" fmla="*/ 1363 w 2390"/>
                      <a:gd name="T79" fmla="*/ 817 h 4760"/>
                      <a:gd name="T80" fmla="*/ 1463 w 2390"/>
                      <a:gd name="T81" fmla="*/ 709 h 4760"/>
                      <a:gd name="T82" fmla="*/ 1568 w 2390"/>
                      <a:gd name="T83" fmla="*/ 604 h 4760"/>
                      <a:gd name="T84" fmla="*/ 1678 w 2390"/>
                      <a:gd name="T85" fmla="*/ 503 h 4760"/>
                      <a:gd name="T86" fmla="*/ 1793 w 2390"/>
                      <a:gd name="T87" fmla="*/ 405 h 4760"/>
                      <a:gd name="T88" fmla="*/ 1914 w 2390"/>
                      <a:gd name="T89" fmla="*/ 311 h 4760"/>
                      <a:gd name="T90" fmla="*/ 2040 w 2390"/>
                      <a:gd name="T91" fmla="*/ 220 h 47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390" h="4760">
                        <a:moveTo>
                          <a:pt x="2390" y="3"/>
                        </a:moveTo>
                        <a:lnTo>
                          <a:pt x="1732" y="0"/>
                        </a:lnTo>
                        <a:lnTo>
                          <a:pt x="2039" y="148"/>
                        </a:lnTo>
                        <a:lnTo>
                          <a:pt x="2039" y="148"/>
                        </a:lnTo>
                        <a:lnTo>
                          <a:pt x="1994" y="177"/>
                        </a:lnTo>
                        <a:lnTo>
                          <a:pt x="1951" y="208"/>
                        </a:lnTo>
                        <a:lnTo>
                          <a:pt x="1909" y="238"/>
                        </a:lnTo>
                        <a:lnTo>
                          <a:pt x="1867" y="269"/>
                        </a:lnTo>
                        <a:lnTo>
                          <a:pt x="1826" y="302"/>
                        </a:lnTo>
                        <a:lnTo>
                          <a:pt x="1784" y="334"/>
                        </a:lnTo>
                        <a:lnTo>
                          <a:pt x="1744" y="366"/>
                        </a:lnTo>
                        <a:lnTo>
                          <a:pt x="1705" y="399"/>
                        </a:lnTo>
                        <a:lnTo>
                          <a:pt x="1666" y="432"/>
                        </a:lnTo>
                        <a:lnTo>
                          <a:pt x="1627" y="467"/>
                        </a:lnTo>
                        <a:lnTo>
                          <a:pt x="1590" y="501"/>
                        </a:lnTo>
                        <a:lnTo>
                          <a:pt x="1553" y="535"/>
                        </a:lnTo>
                        <a:lnTo>
                          <a:pt x="1516" y="570"/>
                        </a:lnTo>
                        <a:lnTo>
                          <a:pt x="1480" y="605"/>
                        </a:lnTo>
                        <a:lnTo>
                          <a:pt x="1444" y="641"/>
                        </a:lnTo>
                        <a:lnTo>
                          <a:pt x="1410" y="677"/>
                        </a:lnTo>
                        <a:lnTo>
                          <a:pt x="1375" y="713"/>
                        </a:lnTo>
                        <a:lnTo>
                          <a:pt x="1342" y="750"/>
                        </a:lnTo>
                        <a:lnTo>
                          <a:pt x="1309" y="787"/>
                        </a:lnTo>
                        <a:lnTo>
                          <a:pt x="1275" y="824"/>
                        </a:lnTo>
                        <a:lnTo>
                          <a:pt x="1212" y="899"/>
                        </a:lnTo>
                        <a:lnTo>
                          <a:pt x="1151" y="977"/>
                        </a:lnTo>
                        <a:lnTo>
                          <a:pt x="1091" y="1054"/>
                        </a:lnTo>
                        <a:lnTo>
                          <a:pt x="1033" y="1133"/>
                        </a:lnTo>
                        <a:lnTo>
                          <a:pt x="978" y="1212"/>
                        </a:lnTo>
                        <a:lnTo>
                          <a:pt x="924" y="1293"/>
                        </a:lnTo>
                        <a:lnTo>
                          <a:pt x="873" y="1373"/>
                        </a:lnTo>
                        <a:lnTo>
                          <a:pt x="824" y="1455"/>
                        </a:lnTo>
                        <a:lnTo>
                          <a:pt x="777" y="1538"/>
                        </a:lnTo>
                        <a:lnTo>
                          <a:pt x="730" y="1620"/>
                        </a:lnTo>
                        <a:lnTo>
                          <a:pt x="686" y="1704"/>
                        </a:lnTo>
                        <a:lnTo>
                          <a:pt x="644" y="1788"/>
                        </a:lnTo>
                        <a:lnTo>
                          <a:pt x="604" y="1873"/>
                        </a:lnTo>
                        <a:lnTo>
                          <a:pt x="565" y="1957"/>
                        </a:lnTo>
                        <a:lnTo>
                          <a:pt x="528" y="2042"/>
                        </a:lnTo>
                        <a:lnTo>
                          <a:pt x="493" y="2126"/>
                        </a:lnTo>
                        <a:lnTo>
                          <a:pt x="459" y="2212"/>
                        </a:lnTo>
                        <a:lnTo>
                          <a:pt x="427" y="2296"/>
                        </a:lnTo>
                        <a:lnTo>
                          <a:pt x="395" y="2382"/>
                        </a:lnTo>
                        <a:lnTo>
                          <a:pt x="366" y="2466"/>
                        </a:lnTo>
                        <a:lnTo>
                          <a:pt x="339" y="2551"/>
                        </a:lnTo>
                        <a:lnTo>
                          <a:pt x="312" y="2635"/>
                        </a:lnTo>
                        <a:lnTo>
                          <a:pt x="288" y="2719"/>
                        </a:lnTo>
                        <a:lnTo>
                          <a:pt x="264" y="2802"/>
                        </a:lnTo>
                        <a:lnTo>
                          <a:pt x="242" y="2886"/>
                        </a:lnTo>
                        <a:lnTo>
                          <a:pt x="220" y="2968"/>
                        </a:lnTo>
                        <a:lnTo>
                          <a:pt x="200" y="3050"/>
                        </a:lnTo>
                        <a:lnTo>
                          <a:pt x="182" y="3131"/>
                        </a:lnTo>
                        <a:lnTo>
                          <a:pt x="164" y="3211"/>
                        </a:lnTo>
                        <a:lnTo>
                          <a:pt x="148" y="3290"/>
                        </a:lnTo>
                        <a:lnTo>
                          <a:pt x="133" y="3370"/>
                        </a:lnTo>
                        <a:lnTo>
                          <a:pt x="119" y="3447"/>
                        </a:lnTo>
                        <a:lnTo>
                          <a:pt x="106" y="3524"/>
                        </a:lnTo>
                        <a:lnTo>
                          <a:pt x="94" y="3599"/>
                        </a:lnTo>
                        <a:lnTo>
                          <a:pt x="82" y="3673"/>
                        </a:lnTo>
                        <a:lnTo>
                          <a:pt x="72" y="3746"/>
                        </a:lnTo>
                        <a:lnTo>
                          <a:pt x="62" y="3817"/>
                        </a:lnTo>
                        <a:lnTo>
                          <a:pt x="53" y="3888"/>
                        </a:lnTo>
                        <a:lnTo>
                          <a:pt x="45" y="3956"/>
                        </a:lnTo>
                        <a:lnTo>
                          <a:pt x="38" y="4024"/>
                        </a:lnTo>
                        <a:lnTo>
                          <a:pt x="27" y="4152"/>
                        </a:lnTo>
                        <a:lnTo>
                          <a:pt x="17" y="4275"/>
                        </a:lnTo>
                        <a:lnTo>
                          <a:pt x="10" y="4389"/>
                        </a:lnTo>
                        <a:lnTo>
                          <a:pt x="5" y="4495"/>
                        </a:lnTo>
                        <a:lnTo>
                          <a:pt x="2" y="4593"/>
                        </a:lnTo>
                        <a:lnTo>
                          <a:pt x="1" y="4682"/>
                        </a:lnTo>
                        <a:lnTo>
                          <a:pt x="0" y="4760"/>
                        </a:lnTo>
                        <a:lnTo>
                          <a:pt x="60" y="4760"/>
                        </a:lnTo>
                        <a:lnTo>
                          <a:pt x="60" y="4760"/>
                        </a:lnTo>
                        <a:lnTo>
                          <a:pt x="61" y="4683"/>
                        </a:lnTo>
                        <a:lnTo>
                          <a:pt x="62" y="4596"/>
                        </a:lnTo>
                        <a:lnTo>
                          <a:pt x="66" y="4501"/>
                        </a:lnTo>
                        <a:lnTo>
                          <a:pt x="71" y="4396"/>
                        </a:lnTo>
                        <a:lnTo>
                          <a:pt x="78" y="4283"/>
                        </a:lnTo>
                        <a:lnTo>
                          <a:pt x="87" y="4164"/>
                        </a:lnTo>
                        <a:lnTo>
                          <a:pt x="98" y="4036"/>
                        </a:lnTo>
                        <a:lnTo>
                          <a:pt x="113" y="3903"/>
                        </a:lnTo>
                        <a:lnTo>
                          <a:pt x="121" y="3835"/>
                        </a:lnTo>
                        <a:lnTo>
                          <a:pt x="130" y="3764"/>
                        </a:lnTo>
                        <a:lnTo>
                          <a:pt x="140" y="3693"/>
                        </a:lnTo>
                        <a:lnTo>
                          <a:pt x="151" y="3619"/>
                        </a:lnTo>
                        <a:lnTo>
                          <a:pt x="163" y="3546"/>
                        </a:lnTo>
                        <a:lnTo>
                          <a:pt x="176" y="3470"/>
                        </a:lnTo>
                        <a:lnTo>
                          <a:pt x="189" y="3394"/>
                        </a:lnTo>
                        <a:lnTo>
                          <a:pt x="204" y="3318"/>
                        </a:lnTo>
                        <a:lnTo>
                          <a:pt x="220" y="3239"/>
                        </a:lnTo>
                        <a:lnTo>
                          <a:pt x="237" y="3161"/>
                        </a:lnTo>
                        <a:lnTo>
                          <a:pt x="256" y="3080"/>
                        </a:lnTo>
                        <a:lnTo>
                          <a:pt x="275" y="3001"/>
                        </a:lnTo>
                        <a:lnTo>
                          <a:pt x="295" y="2919"/>
                        </a:lnTo>
                        <a:lnTo>
                          <a:pt x="317" y="2838"/>
                        </a:lnTo>
                        <a:lnTo>
                          <a:pt x="340" y="2755"/>
                        </a:lnTo>
                        <a:lnTo>
                          <a:pt x="364" y="2673"/>
                        </a:lnTo>
                        <a:lnTo>
                          <a:pt x="389" y="2590"/>
                        </a:lnTo>
                        <a:lnTo>
                          <a:pt x="417" y="2507"/>
                        </a:lnTo>
                        <a:lnTo>
                          <a:pt x="445" y="2424"/>
                        </a:lnTo>
                        <a:lnTo>
                          <a:pt x="475" y="2341"/>
                        </a:lnTo>
                        <a:lnTo>
                          <a:pt x="506" y="2257"/>
                        </a:lnTo>
                        <a:lnTo>
                          <a:pt x="539" y="2174"/>
                        </a:lnTo>
                        <a:lnTo>
                          <a:pt x="573" y="2089"/>
                        </a:lnTo>
                        <a:lnTo>
                          <a:pt x="610" y="2007"/>
                        </a:lnTo>
                        <a:lnTo>
                          <a:pt x="647" y="1923"/>
                        </a:lnTo>
                        <a:lnTo>
                          <a:pt x="686" y="1840"/>
                        </a:lnTo>
                        <a:lnTo>
                          <a:pt x="727" y="1757"/>
                        </a:lnTo>
                        <a:lnTo>
                          <a:pt x="770" y="1676"/>
                        </a:lnTo>
                        <a:lnTo>
                          <a:pt x="814" y="1593"/>
                        </a:lnTo>
                        <a:lnTo>
                          <a:pt x="860" y="1513"/>
                        </a:lnTo>
                        <a:lnTo>
                          <a:pt x="908" y="1431"/>
                        </a:lnTo>
                        <a:lnTo>
                          <a:pt x="959" y="1352"/>
                        </a:lnTo>
                        <a:lnTo>
                          <a:pt x="1010" y="1272"/>
                        </a:lnTo>
                        <a:lnTo>
                          <a:pt x="1064" y="1194"/>
                        </a:lnTo>
                        <a:lnTo>
                          <a:pt x="1120" y="1116"/>
                        </a:lnTo>
                        <a:lnTo>
                          <a:pt x="1178" y="1040"/>
                        </a:lnTo>
                        <a:lnTo>
                          <a:pt x="1237" y="965"/>
                        </a:lnTo>
                        <a:lnTo>
                          <a:pt x="1300" y="890"/>
                        </a:lnTo>
                        <a:lnTo>
                          <a:pt x="1363" y="817"/>
                        </a:lnTo>
                        <a:lnTo>
                          <a:pt x="1396" y="780"/>
                        </a:lnTo>
                        <a:lnTo>
                          <a:pt x="1429" y="745"/>
                        </a:lnTo>
                        <a:lnTo>
                          <a:pt x="1463" y="709"/>
                        </a:lnTo>
                        <a:lnTo>
                          <a:pt x="1498" y="674"/>
                        </a:lnTo>
                        <a:lnTo>
                          <a:pt x="1533" y="639"/>
                        </a:lnTo>
                        <a:lnTo>
                          <a:pt x="1568" y="604"/>
                        </a:lnTo>
                        <a:lnTo>
                          <a:pt x="1604" y="570"/>
                        </a:lnTo>
                        <a:lnTo>
                          <a:pt x="1640" y="537"/>
                        </a:lnTo>
                        <a:lnTo>
                          <a:pt x="1678" y="503"/>
                        </a:lnTo>
                        <a:lnTo>
                          <a:pt x="1716" y="470"/>
                        </a:lnTo>
                        <a:lnTo>
                          <a:pt x="1754" y="437"/>
                        </a:lnTo>
                        <a:lnTo>
                          <a:pt x="1793" y="405"/>
                        </a:lnTo>
                        <a:lnTo>
                          <a:pt x="1833" y="373"/>
                        </a:lnTo>
                        <a:lnTo>
                          <a:pt x="1873" y="342"/>
                        </a:lnTo>
                        <a:lnTo>
                          <a:pt x="1914" y="311"/>
                        </a:lnTo>
                        <a:lnTo>
                          <a:pt x="1955" y="281"/>
                        </a:lnTo>
                        <a:lnTo>
                          <a:pt x="1997" y="250"/>
                        </a:lnTo>
                        <a:lnTo>
                          <a:pt x="2040" y="220"/>
                        </a:lnTo>
                        <a:lnTo>
                          <a:pt x="1964" y="504"/>
                        </a:lnTo>
                        <a:lnTo>
                          <a:pt x="2390" y="3"/>
                        </a:ln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Calibri"/>
                    </a:endParaRPr>
                  </a:p>
                </p:txBody>
              </p:sp>
              <p:sp>
                <p:nvSpPr>
                  <p:cNvPr id="40" name="Freeform 11">
                    <a:extLst>
                      <a:ext uri="{FF2B5EF4-FFF2-40B4-BE49-F238E27FC236}">
                        <a16:creationId xmlns:a16="http://schemas.microsoft.com/office/drawing/2014/main" id="{EB74B843-8480-4522-38A6-1B67E59F7D5D}"/>
                      </a:ext>
                    </a:extLst>
                  </p:cNvPr>
                  <p:cNvSpPr>
                    <a:spLocks/>
                  </p:cNvSpPr>
                  <p:nvPr/>
                </p:nvSpPr>
                <p:spPr bwMode="auto">
                  <a:xfrm>
                    <a:off x="1509702" y="4050562"/>
                    <a:ext cx="2244951" cy="1592735"/>
                  </a:xfrm>
                  <a:custGeom>
                    <a:avLst/>
                    <a:gdLst>
                      <a:gd name="T0" fmla="*/ 14520 w 14832"/>
                      <a:gd name="T1" fmla="*/ 465 h 6014"/>
                      <a:gd name="T2" fmla="*/ 14517 w 14832"/>
                      <a:gd name="T3" fmla="*/ 908 h 6014"/>
                      <a:gd name="T4" fmla="*/ 14464 w 14832"/>
                      <a:gd name="T5" fmla="*/ 1346 h 6014"/>
                      <a:gd name="T6" fmla="*/ 14364 w 14832"/>
                      <a:gd name="T7" fmla="*/ 1778 h 6014"/>
                      <a:gd name="T8" fmla="*/ 14222 w 14832"/>
                      <a:gd name="T9" fmla="*/ 2199 h 6014"/>
                      <a:gd name="T10" fmla="*/ 14041 w 14832"/>
                      <a:gd name="T11" fmla="*/ 2609 h 6014"/>
                      <a:gd name="T12" fmla="*/ 13828 w 14832"/>
                      <a:gd name="T13" fmla="*/ 3001 h 6014"/>
                      <a:gd name="T14" fmla="*/ 13584 w 14832"/>
                      <a:gd name="T15" fmla="*/ 3375 h 6014"/>
                      <a:gd name="T16" fmla="*/ 13315 w 14832"/>
                      <a:gd name="T17" fmla="*/ 3728 h 6014"/>
                      <a:gd name="T18" fmla="*/ 13026 w 14832"/>
                      <a:gd name="T19" fmla="*/ 4055 h 6014"/>
                      <a:gd name="T20" fmla="*/ 12720 w 14832"/>
                      <a:gd name="T21" fmla="*/ 4354 h 6014"/>
                      <a:gd name="T22" fmla="*/ 12429 w 14832"/>
                      <a:gd name="T23" fmla="*/ 4602 h 6014"/>
                      <a:gd name="T24" fmla="*/ 12019 w 14832"/>
                      <a:gd name="T25" fmla="*/ 4898 h 6014"/>
                      <a:gd name="T26" fmla="*/ 11592 w 14832"/>
                      <a:gd name="T27" fmla="*/ 5154 h 6014"/>
                      <a:gd name="T28" fmla="*/ 11151 w 14832"/>
                      <a:gd name="T29" fmla="*/ 5369 h 6014"/>
                      <a:gd name="T30" fmla="*/ 10696 w 14832"/>
                      <a:gd name="T31" fmla="*/ 5547 h 6014"/>
                      <a:gd name="T32" fmla="*/ 10227 w 14832"/>
                      <a:gd name="T33" fmla="*/ 5690 h 6014"/>
                      <a:gd name="T34" fmla="*/ 9747 w 14832"/>
                      <a:gd name="T35" fmla="*/ 5800 h 6014"/>
                      <a:gd name="T36" fmla="*/ 9257 w 14832"/>
                      <a:gd name="T37" fmla="*/ 5878 h 6014"/>
                      <a:gd name="T38" fmla="*/ 8756 w 14832"/>
                      <a:gd name="T39" fmla="*/ 5928 h 6014"/>
                      <a:gd name="T40" fmla="*/ 8248 w 14832"/>
                      <a:gd name="T41" fmla="*/ 5951 h 6014"/>
                      <a:gd name="T42" fmla="*/ 7732 w 14832"/>
                      <a:gd name="T43" fmla="*/ 5950 h 6014"/>
                      <a:gd name="T44" fmla="*/ 6860 w 14832"/>
                      <a:gd name="T45" fmla="*/ 5898 h 6014"/>
                      <a:gd name="T46" fmla="*/ 5798 w 14832"/>
                      <a:gd name="T47" fmla="*/ 5771 h 6014"/>
                      <a:gd name="T48" fmla="*/ 4729 w 14832"/>
                      <a:gd name="T49" fmla="*/ 5584 h 6014"/>
                      <a:gd name="T50" fmla="*/ 3662 w 14832"/>
                      <a:gd name="T51" fmla="*/ 5358 h 6014"/>
                      <a:gd name="T52" fmla="*/ 1911 w 14832"/>
                      <a:gd name="T53" fmla="*/ 4941 h 6014"/>
                      <a:gd name="T54" fmla="*/ 464 w 14832"/>
                      <a:gd name="T55" fmla="*/ 4594 h 6014"/>
                      <a:gd name="T56" fmla="*/ 461 w 14832"/>
                      <a:gd name="T57" fmla="*/ 4654 h 6014"/>
                      <a:gd name="T58" fmla="*/ 1896 w 14832"/>
                      <a:gd name="T59" fmla="*/ 4999 h 6014"/>
                      <a:gd name="T60" fmla="*/ 3608 w 14832"/>
                      <a:gd name="T61" fmla="*/ 5408 h 6014"/>
                      <a:gd name="T62" fmla="*/ 4767 w 14832"/>
                      <a:gd name="T63" fmla="*/ 5653 h 6014"/>
                      <a:gd name="T64" fmla="*/ 5929 w 14832"/>
                      <a:gd name="T65" fmla="*/ 5850 h 6014"/>
                      <a:gd name="T66" fmla="*/ 6985 w 14832"/>
                      <a:gd name="T67" fmla="*/ 5970 h 6014"/>
                      <a:gd name="T68" fmla="*/ 7554 w 14832"/>
                      <a:gd name="T69" fmla="*/ 6004 h 6014"/>
                      <a:gd name="T70" fmla="*/ 8024 w 14832"/>
                      <a:gd name="T71" fmla="*/ 6014 h 6014"/>
                      <a:gd name="T72" fmla="*/ 8730 w 14832"/>
                      <a:gd name="T73" fmla="*/ 5990 h 6014"/>
                      <a:gd name="T74" fmla="*/ 9193 w 14832"/>
                      <a:gd name="T75" fmla="*/ 5947 h 6014"/>
                      <a:gd name="T76" fmla="*/ 9647 w 14832"/>
                      <a:gd name="T77" fmla="*/ 5879 h 6014"/>
                      <a:gd name="T78" fmla="*/ 10094 w 14832"/>
                      <a:gd name="T79" fmla="*/ 5787 h 6014"/>
                      <a:gd name="T80" fmla="*/ 10530 w 14832"/>
                      <a:gd name="T81" fmla="*/ 5666 h 6014"/>
                      <a:gd name="T82" fmla="*/ 10957 w 14832"/>
                      <a:gd name="T83" fmla="*/ 5515 h 6014"/>
                      <a:gd name="T84" fmla="*/ 11371 w 14832"/>
                      <a:gd name="T85" fmla="*/ 5335 h 6014"/>
                      <a:gd name="T86" fmla="*/ 11774 w 14832"/>
                      <a:gd name="T87" fmla="*/ 5121 h 6014"/>
                      <a:gd name="T88" fmla="*/ 12163 w 14832"/>
                      <a:gd name="T89" fmla="*/ 4873 h 6014"/>
                      <a:gd name="T90" fmla="*/ 12540 w 14832"/>
                      <a:gd name="T91" fmla="*/ 4590 h 6014"/>
                      <a:gd name="T92" fmla="*/ 12847 w 14832"/>
                      <a:gd name="T93" fmla="*/ 4319 h 6014"/>
                      <a:gd name="T94" fmla="*/ 13189 w 14832"/>
                      <a:gd name="T95" fmla="*/ 3973 h 6014"/>
                      <a:gd name="T96" fmla="*/ 13496 w 14832"/>
                      <a:gd name="T97" fmla="*/ 3609 h 6014"/>
                      <a:gd name="T98" fmla="*/ 13766 w 14832"/>
                      <a:gd name="T99" fmla="*/ 3229 h 6014"/>
                      <a:gd name="T100" fmla="*/ 13999 w 14832"/>
                      <a:gd name="T101" fmla="*/ 2837 h 6014"/>
                      <a:gd name="T102" fmla="*/ 14193 w 14832"/>
                      <a:gd name="T103" fmla="*/ 2436 h 6014"/>
                      <a:gd name="T104" fmla="*/ 14350 w 14832"/>
                      <a:gd name="T105" fmla="*/ 2027 h 6014"/>
                      <a:gd name="T106" fmla="*/ 14466 w 14832"/>
                      <a:gd name="T107" fmla="*/ 1615 h 6014"/>
                      <a:gd name="T108" fmla="*/ 14542 w 14832"/>
                      <a:gd name="T109" fmla="*/ 1203 h 6014"/>
                      <a:gd name="T110" fmla="*/ 14576 w 14832"/>
                      <a:gd name="T111" fmla="*/ 792 h 6014"/>
                      <a:gd name="T112" fmla="*/ 14568 w 14832"/>
                      <a:gd name="T113" fmla="*/ 386 h 60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4832" h="6014">
                        <a:moveTo>
                          <a:pt x="14832" y="581"/>
                        </a:moveTo>
                        <a:lnTo>
                          <a:pt x="14522" y="0"/>
                        </a:lnTo>
                        <a:lnTo>
                          <a:pt x="14277" y="611"/>
                        </a:lnTo>
                        <a:lnTo>
                          <a:pt x="14515" y="392"/>
                        </a:lnTo>
                        <a:lnTo>
                          <a:pt x="14515" y="392"/>
                        </a:lnTo>
                        <a:lnTo>
                          <a:pt x="14520" y="465"/>
                        </a:lnTo>
                        <a:lnTo>
                          <a:pt x="14523" y="540"/>
                        </a:lnTo>
                        <a:lnTo>
                          <a:pt x="14525" y="613"/>
                        </a:lnTo>
                        <a:lnTo>
                          <a:pt x="14525" y="687"/>
                        </a:lnTo>
                        <a:lnTo>
                          <a:pt x="14524" y="761"/>
                        </a:lnTo>
                        <a:lnTo>
                          <a:pt x="14521" y="834"/>
                        </a:lnTo>
                        <a:lnTo>
                          <a:pt x="14517" y="908"/>
                        </a:lnTo>
                        <a:lnTo>
                          <a:pt x="14512" y="981"/>
                        </a:lnTo>
                        <a:lnTo>
                          <a:pt x="14505" y="1055"/>
                        </a:lnTo>
                        <a:lnTo>
                          <a:pt x="14497" y="1127"/>
                        </a:lnTo>
                        <a:lnTo>
                          <a:pt x="14487" y="1201"/>
                        </a:lnTo>
                        <a:lnTo>
                          <a:pt x="14477" y="1273"/>
                        </a:lnTo>
                        <a:lnTo>
                          <a:pt x="14464" y="1346"/>
                        </a:lnTo>
                        <a:lnTo>
                          <a:pt x="14450" y="1419"/>
                        </a:lnTo>
                        <a:lnTo>
                          <a:pt x="14435" y="1491"/>
                        </a:lnTo>
                        <a:lnTo>
                          <a:pt x="14419" y="1563"/>
                        </a:lnTo>
                        <a:lnTo>
                          <a:pt x="14402" y="1635"/>
                        </a:lnTo>
                        <a:lnTo>
                          <a:pt x="14384" y="1707"/>
                        </a:lnTo>
                        <a:lnTo>
                          <a:pt x="14364" y="1778"/>
                        </a:lnTo>
                        <a:lnTo>
                          <a:pt x="14343" y="1848"/>
                        </a:lnTo>
                        <a:lnTo>
                          <a:pt x="14321" y="1920"/>
                        </a:lnTo>
                        <a:lnTo>
                          <a:pt x="14298" y="1990"/>
                        </a:lnTo>
                        <a:lnTo>
                          <a:pt x="14273" y="2061"/>
                        </a:lnTo>
                        <a:lnTo>
                          <a:pt x="14248" y="2130"/>
                        </a:lnTo>
                        <a:lnTo>
                          <a:pt x="14222" y="2199"/>
                        </a:lnTo>
                        <a:lnTo>
                          <a:pt x="14194" y="2269"/>
                        </a:lnTo>
                        <a:lnTo>
                          <a:pt x="14166" y="2337"/>
                        </a:lnTo>
                        <a:lnTo>
                          <a:pt x="14136" y="2406"/>
                        </a:lnTo>
                        <a:lnTo>
                          <a:pt x="14105" y="2474"/>
                        </a:lnTo>
                        <a:lnTo>
                          <a:pt x="14074" y="2541"/>
                        </a:lnTo>
                        <a:lnTo>
                          <a:pt x="14041" y="2609"/>
                        </a:lnTo>
                        <a:lnTo>
                          <a:pt x="14008" y="2675"/>
                        </a:lnTo>
                        <a:lnTo>
                          <a:pt x="13974" y="2742"/>
                        </a:lnTo>
                        <a:lnTo>
                          <a:pt x="13939" y="2807"/>
                        </a:lnTo>
                        <a:lnTo>
                          <a:pt x="13902" y="2872"/>
                        </a:lnTo>
                        <a:lnTo>
                          <a:pt x="13865" y="2937"/>
                        </a:lnTo>
                        <a:lnTo>
                          <a:pt x="13828" y="3001"/>
                        </a:lnTo>
                        <a:lnTo>
                          <a:pt x="13789" y="3066"/>
                        </a:lnTo>
                        <a:lnTo>
                          <a:pt x="13749" y="3129"/>
                        </a:lnTo>
                        <a:lnTo>
                          <a:pt x="13709" y="3191"/>
                        </a:lnTo>
                        <a:lnTo>
                          <a:pt x="13668" y="3254"/>
                        </a:lnTo>
                        <a:lnTo>
                          <a:pt x="13627" y="3315"/>
                        </a:lnTo>
                        <a:lnTo>
                          <a:pt x="13584" y="3375"/>
                        </a:lnTo>
                        <a:lnTo>
                          <a:pt x="13541" y="3436"/>
                        </a:lnTo>
                        <a:lnTo>
                          <a:pt x="13497" y="3496"/>
                        </a:lnTo>
                        <a:lnTo>
                          <a:pt x="13453" y="3554"/>
                        </a:lnTo>
                        <a:lnTo>
                          <a:pt x="13408" y="3613"/>
                        </a:lnTo>
                        <a:lnTo>
                          <a:pt x="13361" y="3671"/>
                        </a:lnTo>
                        <a:lnTo>
                          <a:pt x="13315" y="3728"/>
                        </a:lnTo>
                        <a:lnTo>
                          <a:pt x="13269" y="3785"/>
                        </a:lnTo>
                        <a:lnTo>
                          <a:pt x="13221" y="3840"/>
                        </a:lnTo>
                        <a:lnTo>
                          <a:pt x="13173" y="3894"/>
                        </a:lnTo>
                        <a:lnTo>
                          <a:pt x="13125" y="3949"/>
                        </a:lnTo>
                        <a:lnTo>
                          <a:pt x="13076" y="4002"/>
                        </a:lnTo>
                        <a:lnTo>
                          <a:pt x="13026" y="4055"/>
                        </a:lnTo>
                        <a:lnTo>
                          <a:pt x="12976" y="4107"/>
                        </a:lnTo>
                        <a:lnTo>
                          <a:pt x="12926" y="4158"/>
                        </a:lnTo>
                        <a:lnTo>
                          <a:pt x="12874" y="4208"/>
                        </a:lnTo>
                        <a:lnTo>
                          <a:pt x="12823" y="4258"/>
                        </a:lnTo>
                        <a:lnTo>
                          <a:pt x="12772" y="4307"/>
                        </a:lnTo>
                        <a:lnTo>
                          <a:pt x="12720" y="4354"/>
                        </a:lnTo>
                        <a:lnTo>
                          <a:pt x="12667" y="4401"/>
                        </a:lnTo>
                        <a:lnTo>
                          <a:pt x="12615" y="4448"/>
                        </a:lnTo>
                        <a:lnTo>
                          <a:pt x="12562" y="4493"/>
                        </a:lnTo>
                        <a:lnTo>
                          <a:pt x="12562" y="4493"/>
                        </a:lnTo>
                        <a:lnTo>
                          <a:pt x="12495" y="4547"/>
                        </a:lnTo>
                        <a:lnTo>
                          <a:pt x="12429" y="4602"/>
                        </a:lnTo>
                        <a:lnTo>
                          <a:pt x="12362" y="4654"/>
                        </a:lnTo>
                        <a:lnTo>
                          <a:pt x="12294" y="4705"/>
                        </a:lnTo>
                        <a:lnTo>
                          <a:pt x="12226" y="4756"/>
                        </a:lnTo>
                        <a:lnTo>
                          <a:pt x="12157" y="4804"/>
                        </a:lnTo>
                        <a:lnTo>
                          <a:pt x="12088" y="4852"/>
                        </a:lnTo>
                        <a:lnTo>
                          <a:pt x="12019" y="4898"/>
                        </a:lnTo>
                        <a:lnTo>
                          <a:pt x="11949" y="4944"/>
                        </a:lnTo>
                        <a:lnTo>
                          <a:pt x="11879" y="4988"/>
                        </a:lnTo>
                        <a:lnTo>
                          <a:pt x="11807" y="5031"/>
                        </a:lnTo>
                        <a:lnTo>
                          <a:pt x="11736" y="5073"/>
                        </a:lnTo>
                        <a:lnTo>
                          <a:pt x="11665" y="5114"/>
                        </a:lnTo>
                        <a:lnTo>
                          <a:pt x="11592" y="5154"/>
                        </a:lnTo>
                        <a:lnTo>
                          <a:pt x="11520" y="5192"/>
                        </a:lnTo>
                        <a:lnTo>
                          <a:pt x="11447" y="5229"/>
                        </a:lnTo>
                        <a:lnTo>
                          <a:pt x="11374" y="5267"/>
                        </a:lnTo>
                        <a:lnTo>
                          <a:pt x="11300" y="5302"/>
                        </a:lnTo>
                        <a:lnTo>
                          <a:pt x="11226" y="5336"/>
                        </a:lnTo>
                        <a:lnTo>
                          <a:pt x="11151" y="5369"/>
                        </a:lnTo>
                        <a:lnTo>
                          <a:pt x="11076" y="5401"/>
                        </a:lnTo>
                        <a:lnTo>
                          <a:pt x="11001" y="5433"/>
                        </a:lnTo>
                        <a:lnTo>
                          <a:pt x="10925" y="5463"/>
                        </a:lnTo>
                        <a:lnTo>
                          <a:pt x="10849" y="5492"/>
                        </a:lnTo>
                        <a:lnTo>
                          <a:pt x="10773" y="5520"/>
                        </a:lnTo>
                        <a:lnTo>
                          <a:pt x="10696" y="5547"/>
                        </a:lnTo>
                        <a:lnTo>
                          <a:pt x="10619" y="5573"/>
                        </a:lnTo>
                        <a:lnTo>
                          <a:pt x="10541" y="5599"/>
                        </a:lnTo>
                        <a:lnTo>
                          <a:pt x="10463" y="5623"/>
                        </a:lnTo>
                        <a:lnTo>
                          <a:pt x="10384" y="5646"/>
                        </a:lnTo>
                        <a:lnTo>
                          <a:pt x="10306" y="5668"/>
                        </a:lnTo>
                        <a:lnTo>
                          <a:pt x="10227" y="5690"/>
                        </a:lnTo>
                        <a:lnTo>
                          <a:pt x="10148" y="5710"/>
                        </a:lnTo>
                        <a:lnTo>
                          <a:pt x="10068" y="5730"/>
                        </a:lnTo>
                        <a:lnTo>
                          <a:pt x="9989" y="5748"/>
                        </a:lnTo>
                        <a:lnTo>
                          <a:pt x="9909" y="5767"/>
                        </a:lnTo>
                        <a:lnTo>
                          <a:pt x="9828" y="5784"/>
                        </a:lnTo>
                        <a:lnTo>
                          <a:pt x="9747" y="5800"/>
                        </a:lnTo>
                        <a:lnTo>
                          <a:pt x="9666" y="5815"/>
                        </a:lnTo>
                        <a:lnTo>
                          <a:pt x="9585" y="5829"/>
                        </a:lnTo>
                        <a:lnTo>
                          <a:pt x="9503" y="5842"/>
                        </a:lnTo>
                        <a:lnTo>
                          <a:pt x="9421" y="5855"/>
                        </a:lnTo>
                        <a:lnTo>
                          <a:pt x="9339" y="5867"/>
                        </a:lnTo>
                        <a:lnTo>
                          <a:pt x="9257" y="5878"/>
                        </a:lnTo>
                        <a:lnTo>
                          <a:pt x="9173" y="5888"/>
                        </a:lnTo>
                        <a:lnTo>
                          <a:pt x="9091" y="5897"/>
                        </a:lnTo>
                        <a:lnTo>
                          <a:pt x="9007" y="5906"/>
                        </a:lnTo>
                        <a:lnTo>
                          <a:pt x="8924" y="5914"/>
                        </a:lnTo>
                        <a:lnTo>
                          <a:pt x="8841" y="5921"/>
                        </a:lnTo>
                        <a:lnTo>
                          <a:pt x="8756" y="5928"/>
                        </a:lnTo>
                        <a:lnTo>
                          <a:pt x="8673" y="5934"/>
                        </a:lnTo>
                        <a:lnTo>
                          <a:pt x="8588" y="5939"/>
                        </a:lnTo>
                        <a:lnTo>
                          <a:pt x="8503" y="5943"/>
                        </a:lnTo>
                        <a:lnTo>
                          <a:pt x="8418" y="5946"/>
                        </a:lnTo>
                        <a:lnTo>
                          <a:pt x="8333" y="5949"/>
                        </a:lnTo>
                        <a:lnTo>
                          <a:pt x="8248" y="5951"/>
                        </a:lnTo>
                        <a:lnTo>
                          <a:pt x="8163" y="5953"/>
                        </a:lnTo>
                        <a:lnTo>
                          <a:pt x="8076" y="5953"/>
                        </a:lnTo>
                        <a:lnTo>
                          <a:pt x="7991" y="5953"/>
                        </a:lnTo>
                        <a:lnTo>
                          <a:pt x="7905" y="5953"/>
                        </a:lnTo>
                        <a:lnTo>
                          <a:pt x="7819" y="5952"/>
                        </a:lnTo>
                        <a:lnTo>
                          <a:pt x="7732" y="5950"/>
                        </a:lnTo>
                        <a:lnTo>
                          <a:pt x="7646" y="5947"/>
                        </a:lnTo>
                        <a:lnTo>
                          <a:pt x="7559" y="5944"/>
                        </a:lnTo>
                        <a:lnTo>
                          <a:pt x="7385" y="5936"/>
                        </a:lnTo>
                        <a:lnTo>
                          <a:pt x="7210" y="5926"/>
                        </a:lnTo>
                        <a:lnTo>
                          <a:pt x="7035" y="5913"/>
                        </a:lnTo>
                        <a:lnTo>
                          <a:pt x="6860" y="5898"/>
                        </a:lnTo>
                        <a:lnTo>
                          <a:pt x="6684" y="5882"/>
                        </a:lnTo>
                        <a:lnTo>
                          <a:pt x="6507" y="5863"/>
                        </a:lnTo>
                        <a:lnTo>
                          <a:pt x="6330" y="5843"/>
                        </a:lnTo>
                        <a:lnTo>
                          <a:pt x="6153" y="5820"/>
                        </a:lnTo>
                        <a:lnTo>
                          <a:pt x="5976" y="5796"/>
                        </a:lnTo>
                        <a:lnTo>
                          <a:pt x="5798" y="5771"/>
                        </a:lnTo>
                        <a:lnTo>
                          <a:pt x="5620" y="5742"/>
                        </a:lnTo>
                        <a:lnTo>
                          <a:pt x="5442" y="5713"/>
                        </a:lnTo>
                        <a:lnTo>
                          <a:pt x="5264" y="5683"/>
                        </a:lnTo>
                        <a:lnTo>
                          <a:pt x="5086" y="5652"/>
                        </a:lnTo>
                        <a:lnTo>
                          <a:pt x="4907" y="5619"/>
                        </a:lnTo>
                        <a:lnTo>
                          <a:pt x="4729" y="5584"/>
                        </a:lnTo>
                        <a:lnTo>
                          <a:pt x="4551" y="5549"/>
                        </a:lnTo>
                        <a:lnTo>
                          <a:pt x="4373" y="5513"/>
                        </a:lnTo>
                        <a:lnTo>
                          <a:pt x="4195" y="5476"/>
                        </a:lnTo>
                        <a:lnTo>
                          <a:pt x="4017" y="5438"/>
                        </a:lnTo>
                        <a:lnTo>
                          <a:pt x="3839" y="5398"/>
                        </a:lnTo>
                        <a:lnTo>
                          <a:pt x="3662" y="5358"/>
                        </a:lnTo>
                        <a:lnTo>
                          <a:pt x="3484" y="5318"/>
                        </a:lnTo>
                        <a:lnTo>
                          <a:pt x="3308" y="5278"/>
                        </a:lnTo>
                        <a:lnTo>
                          <a:pt x="2955" y="5194"/>
                        </a:lnTo>
                        <a:lnTo>
                          <a:pt x="2605" y="5110"/>
                        </a:lnTo>
                        <a:lnTo>
                          <a:pt x="2256" y="5025"/>
                        </a:lnTo>
                        <a:lnTo>
                          <a:pt x="1911" y="4941"/>
                        </a:lnTo>
                        <a:lnTo>
                          <a:pt x="1911" y="4941"/>
                        </a:lnTo>
                        <a:lnTo>
                          <a:pt x="1419" y="4820"/>
                        </a:lnTo>
                        <a:lnTo>
                          <a:pt x="1178" y="4762"/>
                        </a:lnTo>
                        <a:lnTo>
                          <a:pt x="937" y="4704"/>
                        </a:lnTo>
                        <a:lnTo>
                          <a:pt x="700" y="4648"/>
                        </a:lnTo>
                        <a:lnTo>
                          <a:pt x="464" y="4594"/>
                        </a:lnTo>
                        <a:lnTo>
                          <a:pt x="231" y="4540"/>
                        </a:lnTo>
                        <a:lnTo>
                          <a:pt x="0" y="4490"/>
                        </a:lnTo>
                        <a:lnTo>
                          <a:pt x="0" y="4551"/>
                        </a:lnTo>
                        <a:lnTo>
                          <a:pt x="0" y="4551"/>
                        </a:lnTo>
                        <a:lnTo>
                          <a:pt x="229" y="4602"/>
                        </a:lnTo>
                        <a:lnTo>
                          <a:pt x="461" y="4654"/>
                        </a:lnTo>
                        <a:lnTo>
                          <a:pt x="694" y="4708"/>
                        </a:lnTo>
                        <a:lnTo>
                          <a:pt x="930" y="4765"/>
                        </a:lnTo>
                        <a:lnTo>
                          <a:pt x="1169" y="4822"/>
                        </a:lnTo>
                        <a:lnTo>
                          <a:pt x="1409" y="4879"/>
                        </a:lnTo>
                        <a:lnTo>
                          <a:pt x="1896" y="4999"/>
                        </a:lnTo>
                        <a:lnTo>
                          <a:pt x="1896" y="4999"/>
                        </a:lnTo>
                        <a:lnTo>
                          <a:pt x="2272" y="5091"/>
                        </a:lnTo>
                        <a:lnTo>
                          <a:pt x="2651" y="5183"/>
                        </a:lnTo>
                        <a:lnTo>
                          <a:pt x="3032" y="5275"/>
                        </a:lnTo>
                        <a:lnTo>
                          <a:pt x="3224" y="5320"/>
                        </a:lnTo>
                        <a:lnTo>
                          <a:pt x="3416" y="5364"/>
                        </a:lnTo>
                        <a:lnTo>
                          <a:pt x="3608" y="5408"/>
                        </a:lnTo>
                        <a:lnTo>
                          <a:pt x="3801" y="5452"/>
                        </a:lnTo>
                        <a:lnTo>
                          <a:pt x="3993" y="5494"/>
                        </a:lnTo>
                        <a:lnTo>
                          <a:pt x="4187" y="5535"/>
                        </a:lnTo>
                        <a:lnTo>
                          <a:pt x="4380" y="5575"/>
                        </a:lnTo>
                        <a:lnTo>
                          <a:pt x="4573" y="5615"/>
                        </a:lnTo>
                        <a:lnTo>
                          <a:pt x="4767" y="5653"/>
                        </a:lnTo>
                        <a:lnTo>
                          <a:pt x="4961" y="5690"/>
                        </a:lnTo>
                        <a:lnTo>
                          <a:pt x="5155" y="5725"/>
                        </a:lnTo>
                        <a:lnTo>
                          <a:pt x="5349" y="5760"/>
                        </a:lnTo>
                        <a:lnTo>
                          <a:pt x="5542" y="5792"/>
                        </a:lnTo>
                        <a:lnTo>
                          <a:pt x="5736" y="5822"/>
                        </a:lnTo>
                        <a:lnTo>
                          <a:pt x="5929" y="5850"/>
                        </a:lnTo>
                        <a:lnTo>
                          <a:pt x="6122" y="5877"/>
                        </a:lnTo>
                        <a:lnTo>
                          <a:pt x="6314" y="5901"/>
                        </a:lnTo>
                        <a:lnTo>
                          <a:pt x="6506" y="5925"/>
                        </a:lnTo>
                        <a:lnTo>
                          <a:pt x="6698" y="5945"/>
                        </a:lnTo>
                        <a:lnTo>
                          <a:pt x="6889" y="5962"/>
                        </a:lnTo>
                        <a:lnTo>
                          <a:pt x="6985" y="5970"/>
                        </a:lnTo>
                        <a:lnTo>
                          <a:pt x="7080" y="5978"/>
                        </a:lnTo>
                        <a:lnTo>
                          <a:pt x="7175" y="5984"/>
                        </a:lnTo>
                        <a:lnTo>
                          <a:pt x="7271" y="5990"/>
                        </a:lnTo>
                        <a:lnTo>
                          <a:pt x="7365" y="5996"/>
                        </a:lnTo>
                        <a:lnTo>
                          <a:pt x="7460" y="6000"/>
                        </a:lnTo>
                        <a:lnTo>
                          <a:pt x="7554" y="6004"/>
                        </a:lnTo>
                        <a:lnTo>
                          <a:pt x="7649" y="6008"/>
                        </a:lnTo>
                        <a:lnTo>
                          <a:pt x="7742" y="6010"/>
                        </a:lnTo>
                        <a:lnTo>
                          <a:pt x="7837" y="6012"/>
                        </a:lnTo>
                        <a:lnTo>
                          <a:pt x="7930" y="6013"/>
                        </a:lnTo>
                        <a:lnTo>
                          <a:pt x="8024" y="6014"/>
                        </a:lnTo>
                        <a:lnTo>
                          <a:pt x="8024" y="6014"/>
                        </a:lnTo>
                        <a:lnTo>
                          <a:pt x="8182" y="6013"/>
                        </a:lnTo>
                        <a:lnTo>
                          <a:pt x="8340" y="6009"/>
                        </a:lnTo>
                        <a:lnTo>
                          <a:pt x="8497" y="6003"/>
                        </a:lnTo>
                        <a:lnTo>
                          <a:pt x="8574" y="6000"/>
                        </a:lnTo>
                        <a:lnTo>
                          <a:pt x="8652" y="5995"/>
                        </a:lnTo>
                        <a:lnTo>
                          <a:pt x="8730" y="5990"/>
                        </a:lnTo>
                        <a:lnTo>
                          <a:pt x="8807" y="5985"/>
                        </a:lnTo>
                        <a:lnTo>
                          <a:pt x="8885" y="5979"/>
                        </a:lnTo>
                        <a:lnTo>
                          <a:pt x="8962" y="5972"/>
                        </a:lnTo>
                        <a:lnTo>
                          <a:pt x="9040" y="5964"/>
                        </a:lnTo>
                        <a:lnTo>
                          <a:pt x="9116" y="5956"/>
                        </a:lnTo>
                        <a:lnTo>
                          <a:pt x="9193" y="5947"/>
                        </a:lnTo>
                        <a:lnTo>
                          <a:pt x="9269" y="5938"/>
                        </a:lnTo>
                        <a:lnTo>
                          <a:pt x="9345" y="5928"/>
                        </a:lnTo>
                        <a:lnTo>
                          <a:pt x="9421" y="5916"/>
                        </a:lnTo>
                        <a:lnTo>
                          <a:pt x="9496" y="5904"/>
                        </a:lnTo>
                        <a:lnTo>
                          <a:pt x="9572" y="5892"/>
                        </a:lnTo>
                        <a:lnTo>
                          <a:pt x="9647" y="5879"/>
                        </a:lnTo>
                        <a:lnTo>
                          <a:pt x="9723" y="5866"/>
                        </a:lnTo>
                        <a:lnTo>
                          <a:pt x="9797" y="5851"/>
                        </a:lnTo>
                        <a:lnTo>
                          <a:pt x="9871" y="5836"/>
                        </a:lnTo>
                        <a:lnTo>
                          <a:pt x="9946" y="5820"/>
                        </a:lnTo>
                        <a:lnTo>
                          <a:pt x="10019" y="5804"/>
                        </a:lnTo>
                        <a:lnTo>
                          <a:pt x="10094" y="5787"/>
                        </a:lnTo>
                        <a:lnTo>
                          <a:pt x="10167" y="5769"/>
                        </a:lnTo>
                        <a:lnTo>
                          <a:pt x="10239" y="5749"/>
                        </a:lnTo>
                        <a:lnTo>
                          <a:pt x="10313" y="5729"/>
                        </a:lnTo>
                        <a:lnTo>
                          <a:pt x="10385" y="5709"/>
                        </a:lnTo>
                        <a:lnTo>
                          <a:pt x="10458" y="5688"/>
                        </a:lnTo>
                        <a:lnTo>
                          <a:pt x="10530" y="5666"/>
                        </a:lnTo>
                        <a:lnTo>
                          <a:pt x="10602" y="5643"/>
                        </a:lnTo>
                        <a:lnTo>
                          <a:pt x="10673" y="5619"/>
                        </a:lnTo>
                        <a:lnTo>
                          <a:pt x="10744" y="5595"/>
                        </a:lnTo>
                        <a:lnTo>
                          <a:pt x="10816" y="5568"/>
                        </a:lnTo>
                        <a:lnTo>
                          <a:pt x="10886" y="5542"/>
                        </a:lnTo>
                        <a:lnTo>
                          <a:pt x="10957" y="5515"/>
                        </a:lnTo>
                        <a:lnTo>
                          <a:pt x="11026" y="5488"/>
                        </a:lnTo>
                        <a:lnTo>
                          <a:pt x="11095" y="5459"/>
                        </a:lnTo>
                        <a:lnTo>
                          <a:pt x="11165" y="5429"/>
                        </a:lnTo>
                        <a:lnTo>
                          <a:pt x="11234" y="5398"/>
                        </a:lnTo>
                        <a:lnTo>
                          <a:pt x="11303" y="5367"/>
                        </a:lnTo>
                        <a:lnTo>
                          <a:pt x="11371" y="5335"/>
                        </a:lnTo>
                        <a:lnTo>
                          <a:pt x="11439" y="5302"/>
                        </a:lnTo>
                        <a:lnTo>
                          <a:pt x="11507" y="5268"/>
                        </a:lnTo>
                        <a:lnTo>
                          <a:pt x="11574" y="5232"/>
                        </a:lnTo>
                        <a:lnTo>
                          <a:pt x="11641" y="5196"/>
                        </a:lnTo>
                        <a:lnTo>
                          <a:pt x="11708" y="5159"/>
                        </a:lnTo>
                        <a:lnTo>
                          <a:pt x="11774" y="5121"/>
                        </a:lnTo>
                        <a:lnTo>
                          <a:pt x="11840" y="5083"/>
                        </a:lnTo>
                        <a:lnTo>
                          <a:pt x="11905" y="5042"/>
                        </a:lnTo>
                        <a:lnTo>
                          <a:pt x="11970" y="5002"/>
                        </a:lnTo>
                        <a:lnTo>
                          <a:pt x="12035" y="4960"/>
                        </a:lnTo>
                        <a:lnTo>
                          <a:pt x="12099" y="4918"/>
                        </a:lnTo>
                        <a:lnTo>
                          <a:pt x="12163" y="4873"/>
                        </a:lnTo>
                        <a:lnTo>
                          <a:pt x="12227" y="4829"/>
                        </a:lnTo>
                        <a:lnTo>
                          <a:pt x="12290" y="4783"/>
                        </a:lnTo>
                        <a:lnTo>
                          <a:pt x="12354" y="4736"/>
                        </a:lnTo>
                        <a:lnTo>
                          <a:pt x="12416" y="4688"/>
                        </a:lnTo>
                        <a:lnTo>
                          <a:pt x="12478" y="4640"/>
                        </a:lnTo>
                        <a:lnTo>
                          <a:pt x="12540" y="4590"/>
                        </a:lnTo>
                        <a:lnTo>
                          <a:pt x="12601" y="4539"/>
                        </a:lnTo>
                        <a:lnTo>
                          <a:pt x="12601" y="4539"/>
                        </a:lnTo>
                        <a:lnTo>
                          <a:pt x="12664" y="4485"/>
                        </a:lnTo>
                        <a:lnTo>
                          <a:pt x="12726" y="4431"/>
                        </a:lnTo>
                        <a:lnTo>
                          <a:pt x="12787" y="4375"/>
                        </a:lnTo>
                        <a:lnTo>
                          <a:pt x="12847" y="4319"/>
                        </a:lnTo>
                        <a:lnTo>
                          <a:pt x="12907" y="4263"/>
                        </a:lnTo>
                        <a:lnTo>
                          <a:pt x="12965" y="4206"/>
                        </a:lnTo>
                        <a:lnTo>
                          <a:pt x="13023" y="4149"/>
                        </a:lnTo>
                        <a:lnTo>
                          <a:pt x="13080" y="4091"/>
                        </a:lnTo>
                        <a:lnTo>
                          <a:pt x="13135" y="4032"/>
                        </a:lnTo>
                        <a:lnTo>
                          <a:pt x="13189" y="3973"/>
                        </a:lnTo>
                        <a:lnTo>
                          <a:pt x="13243" y="3914"/>
                        </a:lnTo>
                        <a:lnTo>
                          <a:pt x="13295" y="3853"/>
                        </a:lnTo>
                        <a:lnTo>
                          <a:pt x="13347" y="3793"/>
                        </a:lnTo>
                        <a:lnTo>
                          <a:pt x="13397" y="3732"/>
                        </a:lnTo>
                        <a:lnTo>
                          <a:pt x="13447" y="3670"/>
                        </a:lnTo>
                        <a:lnTo>
                          <a:pt x="13496" y="3609"/>
                        </a:lnTo>
                        <a:lnTo>
                          <a:pt x="13543" y="3546"/>
                        </a:lnTo>
                        <a:lnTo>
                          <a:pt x="13590" y="3484"/>
                        </a:lnTo>
                        <a:lnTo>
                          <a:pt x="13635" y="3421"/>
                        </a:lnTo>
                        <a:lnTo>
                          <a:pt x="13680" y="3357"/>
                        </a:lnTo>
                        <a:lnTo>
                          <a:pt x="13723" y="3293"/>
                        </a:lnTo>
                        <a:lnTo>
                          <a:pt x="13766" y="3229"/>
                        </a:lnTo>
                        <a:lnTo>
                          <a:pt x="13807" y="3164"/>
                        </a:lnTo>
                        <a:lnTo>
                          <a:pt x="13847" y="3100"/>
                        </a:lnTo>
                        <a:lnTo>
                          <a:pt x="13886" y="3034"/>
                        </a:lnTo>
                        <a:lnTo>
                          <a:pt x="13925" y="2969"/>
                        </a:lnTo>
                        <a:lnTo>
                          <a:pt x="13963" y="2903"/>
                        </a:lnTo>
                        <a:lnTo>
                          <a:pt x="13999" y="2837"/>
                        </a:lnTo>
                        <a:lnTo>
                          <a:pt x="14034" y="2771"/>
                        </a:lnTo>
                        <a:lnTo>
                          <a:pt x="14067" y="2704"/>
                        </a:lnTo>
                        <a:lnTo>
                          <a:pt x="14100" y="2637"/>
                        </a:lnTo>
                        <a:lnTo>
                          <a:pt x="14133" y="2571"/>
                        </a:lnTo>
                        <a:lnTo>
                          <a:pt x="14164" y="2503"/>
                        </a:lnTo>
                        <a:lnTo>
                          <a:pt x="14193" y="2436"/>
                        </a:lnTo>
                        <a:lnTo>
                          <a:pt x="14222" y="2367"/>
                        </a:lnTo>
                        <a:lnTo>
                          <a:pt x="14250" y="2300"/>
                        </a:lnTo>
                        <a:lnTo>
                          <a:pt x="14276" y="2232"/>
                        </a:lnTo>
                        <a:lnTo>
                          <a:pt x="14302" y="2164"/>
                        </a:lnTo>
                        <a:lnTo>
                          <a:pt x="14326" y="2096"/>
                        </a:lnTo>
                        <a:lnTo>
                          <a:pt x="14350" y="2027"/>
                        </a:lnTo>
                        <a:lnTo>
                          <a:pt x="14372" y="1959"/>
                        </a:lnTo>
                        <a:lnTo>
                          <a:pt x="14393" y="1891"/>
                        </a:lnTo>
                        <a:lnTo>
                          <a:pt x="14412" y="1822"/>
                        </a:lnTo>
                        <a:lnTo>
                          <a:pt x="14431" y="1753"/>
                        </a:lnTo>
                        <a:lnTo>
                          <a:pt x="14449" y="1684"/>
                        </a:lnTo>
                        <a:lnTo>
                          <a:pt x="14466" y="1615"/>
                        </a:lnTo>
                        <a:lnTo>
                          <a:pt x="14482" y="1547"/>
                        </a:lnTo>
                        <a:lnTo>
                          <a:pt x="14496" y="1478"/>
                        </a:lnTo>
                        <a:lnTo>
                          <a:pt x="14509" y="1409"/>
                        </a:lnTo>
                        <a:lnTo>
                          <a:pt x="14521" y="1340"/>
                        </a:lnTo>
                        <a:lnTo>
                          <a:pt x="14532" y="1271"/>
                        </a:lnTo>
                        <a:lnTo>
                          <a:pt x="14542" y="1203"/>
                        </a:lnTo>
                        <a:lnTo>
                          <a:pt x="14550" y="1134"/>
                        </a:lnTo>
                        <a:lnTo>
                          <a:pt x="14558" y="1066"/>
                        </a:lnTo>
                        <a:lnTo>
                          <a:pt x="14564" y="996"/>
                        </a:lnTo>
                        <a:lnTo>
                          <a:pt x="14569" y="928"/>
                        </a:lnTo>
                        <a:lnTo>
                          <a:pt x="14573" y="860"/>
                        </a:lnTo>
                        <a:lnTo>
                          <a:pt x="14576" y="792"/>
                        </a:lnTo>
                        <a:lnTo>
                          <a:pt x="14577" y="724"/>
                        </a:lnTo>
                        <a:lnTo>
                          <a:pt x="14578" y="655"/>
                        </a:lnTo>
                        <a:lnTo>
                          <a:pt x="14577" y="588"/>
                        </a:lnTo>
                        <a:lnTo>
                          <a:pt x="14575" y="521"/>
                        </a:lnTo>
                        <a:lnTo>
                          <a:pt x="14572" y="453"/>
                        </a:lnTo>
                        <a:lnTo>
                          <a:pt x="14568" y="386"/>
                        </a:lnTo>
                        <a:lnTo>
                          <a:pt x="14832" y="581"/>
                        </a:ln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Calibri"/>
                    </a:endParaRPr>
                  </a:p>
                </p:txBody>
              </p:sp>
              <p:sp>
                <p:nvSpPr>
                  <p:cNvPr id="41" name="Freeform 12">
                    <a:extLst>
                      <a:ext uri="{FF2B5EF4-FFF2-40B4-BE49-F238E27FC236}">
                        <a16:creationId xmlns:a16="http://schemas.microsoft.com/office/drawing/2014/main" id="{E7962661-3037-02DB-E11E-857BE3AC7264}"/>
                      </a:ext>
                    </a:extLst>
                  </p:cNvPr>
                  <p:cNvSpPr>
                    <a:spLocks/>
                  </p:cNvSpPr>
                  <p:nvPr/>
                </p:nvSpPr>
                <p:spPr bwMode="auto">
                  <a:xfrm>
                    <a:off x="2682500" y="6611"/>
                    <a:ext cx="1688745" cy="1857882"/>
                  </a:xfrm>
                  <a:custGeom>
                    <a:avLst/>
                    <a:gdLst>
                      <a:gd name="T0" fmla="*/ 10920 w 11158"/>
                      <a:gd name="T1" fmla="*/ 367 h 7009"/>
                      <a:gd name="T2" fmla="*/ 10734 w 11158"/>
                      <a:gd name="T3" fmla="*/ 1089 h 7009"/>
                      <a:gd name="T4" fmla="*/ 10513 w 11158"/>
                      <a:gd name="T5" fmla="*/ 1768 h 7009"/>
                      <a:gd name="T6" fmla="*/ 10258 w 11158"/>
                      <a:gd name="T7" fmla="*/ 2403 h 7009"/>
                      <a:gd name="T8" fmla="*/ 9967 w 11158"/>
                      <a:gd name="T9" fmla="*/ 2998 h 7009"/>
                      <a:gd name="T10" fmla="*/ 9642 w 11158"/>
                      <a:gd name="T11" fmla="*/ 3549 h 7009"/>
                      <a:gd name="T12" fmla="*/ 9283 w 11158"/>
                      <a:gd name="T13" fmla="*/ 4057 h 7009"/>
                      <a:gd name="T14" fmla="*/ 8891 w 11158"/>
                      <a:gd name="T15" fmla="*/ 4523 h 7009"/>
                      <a:gd name="T16" fmla="*/ 8463 w 11158"/>
                      <a:gd name="T17" fmla="*/ 4945 h 7009"/>
                      <a:gd name="T18" fmla="*/ 8003 w 11158"/>
                      <a:gd name="T19" fmla="*/ 5325 h 7009"/>
                      <a:gd name="T20" fmla="*/ 7508 w 11158"/>
                      <a:gd name="T21" fmla="*/ 5661 h 7009"/>
                      <a:gd name="T22" fmla="*/ 6980 w 11158"/>
                      <a:gd name="T23" fmla="*/ 5952 h 7009"/>
                      <a:gd name="T24" fmla="*/ 6418 w 11158"/>
                      <a:gd name="T25" fmla="*/ 6201 h 7009"/>
                      <a:gd name="T26" fmla="*/ 5944 w 11158"/>
                      <a:gd name="T27" fmla="*/ 6368 h 7009"/>
                      <a:gd name="T28" fmla="*/ 5496 w 11158"/>
                      <a:gd name="T29" fmla="*/ 6499 h 7009"/>
                      <a:gd name="T30" fmla="*/ 5042 w 11158"/>
                      <a:gd name="T31" fmla="*/ 6610 h 7009"/>
                      <a:gd name="T32" fmla="*/ 4585 w 11158"/>
                      <a:gd name="T33" fmla="*/ 6703 h 7009"/>
                      <a:gd name="T34" fmla="*/ 4125 w 11158"/>
                      <a:gd name="T35" fmla="*/ 6778 h 7009"/>
                      <a:gd name="T36" fmla="*/ 3383 w 11158"/>
                      <a:gd name="T37" fmla="*/ 6867 h 7009"/>
                      <a:gd name="T38" fmla="*/ 2447 w 11158"/>
                      <a:gd name="T39" fmla="*/ 6931 h 7009"/>
                      <a:gd name="T40" fmla="*/ 1507 w 11158"/>
                      <a:gd name="T41" fmla="*/ 6952 h 7009"/>
                      <a:gd name="T42" fmla="*/ 564 w 11158"/>
                      <a:gd name="T43" fmla="*/ 6943 h 7009"/>
                      <a:gd name="T44" fmla="*/ 0 w 11158"/>
                      <a:gd name="T45" fmla="*/ 6983 h 7009"/>
                      <a:gd name="T46" fmla="*/ 944 w 11158"/>
                      <a:gd name="T47" fmla="*/ 7006 h 7009"/>
                      <a:gd name="T48" fmla="*/ 1888 w 11158"/>
                      <a:gd name="T49" fmla="*/ 7004 h 7009"/>
                      <a:gd name="T50" fmla="*/ 2829 w 11158"/>
                      <a:gd name="T51" fmla="*/ 6966 h 7009"/>
                      <a:gd name="T52" fmla="*/ 3765 w 11158"/>
                      <a:gd name="T53" fmla="*/ 6882 h 7009"/>
                      <a:gd name="T54" fmla="*/ 4229 w 11158"/>
                      <a:gd name="T55" fmla="*/ 6818 h 7009"/>
                      <a:gd name="T56" fmla="*/ 4690 w 11158"/>
                      <a:gd name="T57" fmla="*/ 6739 h 7009"/>
                      <a:gd name="T58" fmla="*/ 5149 w 11158"/>
                      <a:gd name="T59" fmla="*/ 6642 h 7009"/>
                      <a:gd name="T60" fmla="*/ 5603 w 11158"/>
                      <a:gd name="T61" fmla="*/ 6528 h 7009"/>
                      <a:gd name="T62" fmla="*/ 5963 w 11158"/>
                      <a:gd name="T63" fmla="*/ 6421 h 7009"/>
                      <a:gd name="T64" fmla="*/ 6309 w 11158"/>
                      <a:gd name="T65" fmla="*/ 6302 h 7009"/>
                      <a:gd name="T66" fmla="*/ 6645 w 11158"/>
                      <a:gd name="T67" fmla="*/ 6169 h 7009"/>
                      <a:gd name="T68" fmla="*/ 6969 w 11158"/>
                      <a:gd name="T69" fmla="*/ 6021 h 7009"/>
                      <a:gd name="T70" fmla="*/ 7283 w 11158"/>
                      <a:gd name="T71" fmla="*/ 5859 h 7009"/>
                      <a:gd name="T72" fmla="*/ 7584 w 11158"/>
                      <a:gd name="T73" fmla="*/ 5682 h 7009"/>
                      <a:gd name="T74" fmla="*/ 7875 w 11158"/>
                      <a:gd name="T75" fmla="*/ 5491 h 7009"/>
                      <a:gd name="T76" fmla="*/ 8155 w 11158"/>
                      <a:gd name="T77" fmla="*/ 5284 h 7009"/>
                      <a:gd name="T78" fmla="*/ 8422 w 11158"/>
                      <a:gd name="T79" fmla="*/ 5065 h 7009"/>
                      <a:gd name="T80" fmla="*/ 8679 w 11158"/>
                      <a:gd name="T81" fmla="*/ 4831 h 7009"/>
                      <a:gd name="T82" fmla="*/ 8923 w 11158"/>
                      <a:gd name="T83" fmla="*/ 4582 h 7009"/>
                      <a:gd name="T84" fmla="*/ 9156 w 11158"/>
                      <a:gd name="T85" fmla="*/ 4321 h 7009"/>
                      <a:gd name="T86" fmla="*/ 9377 w 11158"/>
                      <a:gd name="T87" fmla="*/ 4044 h 7009"/>
                      <a:gd name="T88" fmla="*/ 9545 w 11158"/>
                      <a:gd name="T89" fmla="*/ 3813 h 7009"/>
                      <a:gd name="T90" fmla="*/ 9837 w 11158"/>
                      <a:gd name="T91" fmla="*/ 3361 h 7009"/>
                      <a:gd name="T92" fmla="*/ 10103 w 11158"/>
                      <a:gd name="T93" fmla="*/ 2881 h 7009"/>
                      <a:gd name="T94" fmla="*/ 10343 w 11158"/>
                      <a:gd name="T95" fmla="*/ 2370 h 7009"/>
                      <a:gd name="T96" fmla="*/ 10558 w 11158"/>
                      <a:gd name="T97" fmla="*/ 1828 h 7009"/>
                      <a:gd name="T98" fmla="*/ 10749 w 11158"/>
                      <a:gd name="T99" fmla="*/ 1253 h 7009"/>
                      <a:gd name="T100" fmla="*/ 10916 w 11158"/>
                      <a:gd name="T101" fmla="*/ 645 h 70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1158" h="7009">
                        <a:moveTo>
                          <a:pt x="11158" y="648"/>
                        </a:moveTo>
                        <a:lnTo>
                          <a:pt x="11045" y="0"/>
                        </a:lnTo>
                        <a:lnTo>
                          <a:pt x="10622" y="503"/>
                        </a:lnTo>
                        <a:lnTo>
                          <a:pt x="10920" y="367"/>
                        </a:lnTo>
                        <a:lnTo>
                          <a:pt x="10920" y="367"/>
                        </a:lnTo>
                        <a:lnTo>
                          <a:pt x="10885" y="515"/>
                        </a:lnTo>
                        <a:lnTo>
                          <a:pt x="10850" y="661"/>
                        </a:lnTo>
                        <a:lnTo>
                          <a:pt x="10813" y="805"/>
                        </a:lnTo>
                        <a:lnTo>
                          <a:pt x="10774" y="948"/>
                        </a:lnTo>
                        <a:lnTo>
                          <a:pt x="10734" y="1089"/>
                        </a:lnTo>
                        <a:lnTo>
                          <a:pt x="10692" y="1227"/>
                        </a:lnTo>
                        <a:lnTo>
                          <a:pt x="10650" y="1365"/>
                        </a:lnTo>
                        <a:lnTo>
                          <a:pt x="10606" y="1501"/>
                        </a:lnTo>
                        <a:lnTo>
                          <a:pt x="10559" y="1635"/>
                        </a:lnTo>
                        <a:lnTo>
                          <a:pt x="10513" y="1768"/>
                        </a:lnTo>
                        <a:lnTo>
                          <a:pt x="10465" y="1897"/>
                        </a:lnTo>
                        <a:lnTo>
                          <a:pt x="10415" y="2027"/>
                        </a:lnTo>
                        <a:lnTo>
                          <a:pt x="10363" y="2154"/>
                        </a:lnTo>
                        <a:lnTo>
                          <a:pt x="10311" y="2280"/>
                        </a:lnTo>
                        <a:lnTo>
                          <a:pt x="10258" y="2403"/>
                        </a:lnTo>
                        <a:lnTo>
                          <a:pt x="10202" y="2526"/>
                        </a:lnTo>
                        <a:lnTo>
                          <a:pt x="10145" y="2646"/>
                        </a:lnTo>
                        <a:lnTo>
                          <a:pt x="10088" y="2765"/>
                        </a:lnTo>
                        <a:lnTo>
                          <a:pt x="10027" y="2882"/>
                        </a:lnTo>
                        <a:lnTo>
                          <a:pt x="9967" y="2998"/>
                        </a:lnTo>
                        <a:lnTo>
                          <a:pt x="9905" y="3111"/>
                        </a:lnTo>
                        <a:lnTo>
                          <a:pt x="9841" y="3223"/>
                        </a:lnTo>
                        <a:lnTo>
                          <a:pt x="9776" y="3334"/>
                        </a:lnTo>
                        <a:lnTo>
                          <a:pt x="9711" y="3442"/>
                        </a:lnTo>
                        <a:lnTo>
                          <a:pt x="9642" y="3549"/>
                        </a:lnTo>
                        <a:lnTo>
                          <a:pt x="9574" y="3654"/>
                        </a:lnTo>
                        <a:lnTo>
                          <a:pt x="9503" y="3757"/>
                        </a:lnTo>
                        <a:lnTo>
                          <a:pt x="9431" y="3859"/>
                        </a:lnTo>
                        <a:lnTo>
                          <a:pt x="9359" y="3960"/>
                        </a:lnTo>
                        <a:lnTo>
                          <a:pt x="9283" y="4057"/>
                        </a:lnTo>
                        <a:lnTo>
                          <a:pt x="9208" y="4154"/>
                        </a:lnTo>
                        <a:lnTo>
                          <a:pt x="9130" y="4249"/>
                        </a:lnTo>
                        <a:lnTo>
                          <a:pt x="9052" y="4342"/>
                        </a:lnTo>
                        <a:lnTo>
                          <a:pt x="8972" y="4433"/>
                        </a:lnTo>
                        <a:lnTo>
                          <a:pt x="8891" y="4523"/>
                        </a:lnTo>
                        <a:lnTo>
                          <a:pt x="8807" y="4611"/>
                        </a:lnTo>
                        <a:lnTo>
                          <a:pt x="8724" y="4697"/>
                        </a:lnTo>
                        <a:lnTo>
                          <a:pt x="8638" y="4781"/>
                        </a:lnTo>
                        <a:lnTo>
                          <a:pt x="8552" y="4865"/>
                        </a:lnTo>
                        <a:lnTo>
                          <a:pt x="8463" y="4945"/>
                        </a:lnTo>
                        <a:lnTo>
                          <a:pt x="8374" y="5025"/>
                        </a:lnTo>
                        <a:lnTo>
                          <a:pt x="8283" y="5102"/>
                        </a:lnTo>
                        <a:lnTo>
                          <a:pt x="8191" y="5178"/>
                        </a:lnTo>
                        <a:lnTo>
                          <a:pt x="8097" y="5252"/>
                        </a:lnTo>
                        <a:lnTo>
                          <a:pt x="8003" y="5325"/>
                        </a:lnTo>
                        <a:lnTo>
                          <a:pt x="7906" y="5395"/>
                        </a:lnTo>
                        <a:lnTo>
                          <a:pt x="7809" y="5464"/>
                        </a:lnTo>
                        <a:lnTo>
                          <a:pt x="7710" y="5532"/>
                        </a:lnTo>
                        <a:lnTo>
                          <a:pt x="7610" y="5597"/>
                        </a:lnTo>
                        <a:lnTo>
                          <a:pt x="7508" y="5661"/>
                        </a:lnTo>
                        <a:lnTo>
                          <a:pt x="7404" y="5722"/>
                        </a:lnTo>
                        <a:lnTo>
                          <a:pt x="7301" y="5782"/>
                        </a:lnTo>
                        <a:lnTo>
                          <a:pt x="7195" y="5841"/>
                        </a:lnTo>
                        <a:lnTo>
                          <a:pt x="7088" y="5898"/>
                        </a:lnTo>
                        <a:lnTo>
                          <a:pt x="6980" y="5952"/>
                        </a:lnTo>
                        <a:lnTo>
                          <a:pt x="6869" y="6006"/>
                        </a:lnTo>
                        <a:lnTo>
                          <a:pt x="6759" y="6057"/>
                        </a:lnTo>
                        <a:lnTo>
                          <a:pt x="6646" y="6107"/>
                        </a:lnTo>
                        <a:lnTo>
                          <a:pt x="6532" y="6155"/>
                        </a:lnTo>
                        <a:lnTo>
                          <a:pt x="6418" y="6201"/>
                        </a:lnTo>
                        <a:lnTo>
                          <a:pt x="6301" y="6245"/>
                        </a:lnTo>
                        <a:lnTo>
                          <a:pt x="6183" y="6288"/>
                        </a:lnTo>
                        <a:lnTo>
                          <a:pt x="6065" y="6330"/>
                        </a:lnTo>
                        <a:lnTo>
                          <a:pt x="5944" y="6368"/>
                        </a:lnTo>
                        <a:lnTo>
                          <a:pt x="5944" y="6368"/>
                        </a:lnTo>
                        <a:lnTo>
                          <a:pt x="5855" y="6396"/>
                        </a:lnTo>
                        <a:lnTo>
                          <a:pt x="5765" y="6423"/>
                        </a:lnTo>
                        <a:lnTo>
                          <a:pt x="5676" y="6449"/>
                        </a:lnTo>
                        <a:lnTo>
                          <a:pt x="5585" y="6474"/>
                        </a:lnTo>
                        <a:lnTo>
                          <a:pt x="5496" y="6499"/>
                        </a:lnTo>
                        <a:lnTo>
                          <a:pt x="5405" y="6523"/>
                        </a:lnTo>
                        <a:lnTo>
                          <a:pt x="5315" y="6546"/>
                        </a:lnTo>
                        <a:lnTo>
                          <a:pt x="5224" y="6568"/>
                        </a:lnTo>
                        <a:lnTo>
                          <a:pt x="5132" y="6589"/>
                        </a:lnTo>
                        <a:lnTo>
                          <a:pt x="5042" y="6610"/>
                        </a:lnTo>
                        <a:lnTo>
                          <a:pt x="4950" y="6630"/>
                        </a:lnTo>
                        <a:lnTo>
                          <a:pt x="4860" y="6649"/>
                        </a:lnTo>
                        <a:lnTo>
                          <a:pt x="4768" y="6668"/>
                        </a:lnTo>
                        <a:lnTo>
                          <a:pt x="4677" y="6686"/>
                        </a:lnTo>
                        <a:lnTo>
                          <a:pt x="4585" y="6703"/>
                        </a:lnTo>
                        <a:lnTo>
                          <a:pt x="4493" y="6719"/>
                        </a:lnTo>
                        <a:lnTo>
                          <a:pt x="4401" y="6735"/>
                        </a:lnTo>
                        <a:lnTo>
                          <a:pt x="4309" y="6750"/>
                        </a:lnTo>
                        <a:lnTo>
                          <a:pt x="4217" y="6764"/>
                        </a:lnTo>
                        <a:lnTo>
                          <a:pt x="4125" y="6778"/>
                        </a:lnTo>
                        <a:lnTo>
                          <a:pt x="4032" y="6791"/>
                        </a:lnTo>
                        <a:lnTo>
                          <a:pt x="3940" y="6804"/>
                        </a:lnTo>
                        <a:lnTo>
                          <a:pt x="3755" y="6827"/>
                        </a:lnTo>
                        <a:lnTo>
                          <a:pt x="3569" y="6849"/>
                        </a:lnTo>
                        <a:lnTo>
                          <a:pt x="3383" y="6867"/>
                        </a:lnTo>
                        <a:lnTo>
                          <a:pt x="3196" y="6884"/>
                        </a:lnTo>
                        <a:lnTo>
                          <a:pt x="3009" y="6899"/>
                        </a:lnTo>
                        <a:lnTo>
                          <a:pt x="2822" y="6911"/>
                        </a:lnTo>
                        <a:lnTo>
                          <a:pt x="2634" y="6922"/>
                        </a:lnTo>
                        <a:lnTo>
                          <a:pt x="2447" y="6931"/>
                        </a:lnTo>
                        <a:lnTo>
                          <a:pt x="2259" y="6938"/>
                        </a:lnTo>
                        <a:lnTo>
                          <a:pt x="2071" y="6944"/>
                        </a:lnTo>
                        <a:lnTo>
                          <a:pt x="1883" y="6948"/>
                        </a:lnTo>
                        <a:lnTo>
                          <a:pt x="1695" y="6951"/>
                        </a:lnTo>
                        <a:lnTo>
                          <a:pt x="1507" y="6952"/>
                        </a:lnTo>
                        <a:lnTo>
                          <a:pt x="1318" y="6953"/>
                        </a:lnTo>
                        <a:lnTo>
                          <a:pt x="1130" y="6952"/>
                        </a:lnTo>
                        <a:lnTo>
                          <a:pt x="942" y="6950"/>
                        </a:lnTo>
                        <a:lnTo>
                          <a:pt x="753" y="6947"/>
                        </a:lnTo>
                        <a:lnTo>
                          <a:pt x="564" y="6943"/>
                        </a:lnTo>
                        <a:lnTo>
                          <a:pt x="376" y="6939"/>
                        </a:lnTo>
                        <a:lnTo>
                          <a:pt x="188" y="6934"/>
                        </a:lnTo>
                        <a:lnTo>
                          <a:pt x="0" y="6928"/>
                        </a:lnTo>
                        <a:lnTo>
                          <a:pt x="0" y="6983"/>
                        </a:lnTo>
                        <a:lnTo>
                          <a:pt x="0" y="6983"/>
                        </a:lnTo>
                        <a:lnTo>
                          <a:pt x="188" y="6989"/>
                        </a:lnTo>
                        <a:lnTo>
                          <a:pt x="377" y="6994"/>
                        </a:lnTo>
                        <a:lnTo>
                          <a:pt x="565" y="6999"/>
                        </a:lnTo>
                        <a:lnTo>
                          <a:pt x="755" y="7003"/>
                        </a:lnTo>
                        <a:lnTo>
                          <a:pt x="944" y="7006"/>
                        </a:lnTo>
                        <a:lnTo>
                          <a:pt x="1133" y="7008"/>
                        </a:lnTo>
                        <a:lnTo>
                          <a:pt x="1322" y="7009"/>
                        </a:lnTo>
                        <a:lnTo>
                          <a:pt x="1510" y="7009"/>
                        </a:lnTo>
                        <a:lnTo>
                          <a:pt x="1699" y="7007"/>
                        </a:lnTo>
                        <a:lnTo>
                          <a:pt x="1888" y="7004"/>
                        </a:lnTo>
                        <a:lnTo>
                          <a:pt x="2076" y="7000"/>
                        </a:lnTo>
                        <a:lnTo>
                          <a:pt x="2265" y="6993"/>
                        </a:lnTo>
                        <a:lnTo>
                          <a:pt x="2453" y="6986"/>
                        </a:lnTo>
                        <a:lnTo>
                          <a:pt x="2641" y="6977"/>
                        </a:lnTo>
                        <a:lnTo>
                          <a:pt x="2829" y="6966"/>
                        </a:lnTo>
                        <a:lnTo>
                          <a:pt x="3017" y="6953"/>
                        </a:lnTo>
                        <a:lnTo>
                          <a:pt x="3205" y="6939"/>
                        </a:lnTo>
                        <a:lnTo>
                          <a:pt x="3392" y="6922"/>
                        </a:lnTo>
                        <a:lnTo>
                          <a:pt x="3579" y="6903"/>
                        </a:lnTo>
                        <a:lnTo>
                          <a:pt x="3765" y="6882"/>
                        </a:lnTo>
                        <a:lnTo>
                          <a:pt x="3858" y="6871"/>
                        </a:lnTo>
                        <a:lnTo>
                          <a:pt x="3951" y="6859"/>
                        </a:lnTo>
                        <a:lnTo>
                          <a:pt x="4043" y="6846"/>
                        </a:lnTo>
                        <a:lnTo>
                          <a:pt x="4137" y="6833"/>
                        </a:lnTo>
                        <a:lnTo>
                          <a:pt x="4229" y="6818"/>
                        </a:lnTo>
                        <a:lnTo>
                          <a:pt x="4322" y="6804"/>
                        </a:lnTo>
                        <a:lnTo>
                          <a:pt x="4414" y="6789"/>
                        </a:lnTo>
                        <a:lnTo>
                          <a:pt x="4506" y="6773"/>
                        </a:lnTo>
                        <a:lnTo>
                          <a:pt x="4598" y="6757"/>
                        </a:lnTo>
                        <a:lnTo>
                          <a:pt x="4690" y="6739"/>
                        </a:lnTo>
                        <a:lnTo>
                          <a:pt x="4782" y="6722"/>
                        </a:lnTo>
                        <a:lnTo>
                          <a:pt x="4874" y="6703"/>
                        </a:lnTo>
                        <a:lnTo>
                          <a:pt x="4966" y="6684"/>
                        </a:lnTo>
                        <a:lnTo>
                          <a:pt x="5057" y="6664"/>
                        </a:lnTo>
                        <a:lnTo>
                          <a:pt x="5149" y="6642"/>
                        </a:lnTo>
                        <a:lnTo>
                          <a:pt x="5239" y="6621"/>
                        </a:lnTo>
                        <a:lnTo>
                          <a:pt x="5331" y="6599"/>
                        </a:lnTo>
                        <a:lnTo>
                          <a:pt x="5421" y="6576"/>
                        </a:lnTo>
                        <a:lnTo>
                          <a:pt x="5513" y="6552"/>
                        </a:lnTo>
                        <a:lnTo>
                          <a:pt x="5603" y="6528"/>
                        </a:lnTo>
                        <a:lnTo>
                          <a:pt x="5693" y="6502"/>
                        </a:lnTo>
                        <a:lnTo>
                          <a:pt x="5783" y="6475"/>
                        </a:lnTo>
                        <a:lnTo>
                          <a:pt x="5874" y="6448"/>
                        </a:lnTo>
                        <a:lnTo>
                          <a:pt x="5963" y="6421"/>
                        </a:lnTo>
                        <a:lnTo>
                          <a:pt x="5963" y="6421"/>
                        </a:lnTo>
                        <a:lnTo>
                          <a:pt x="6034" y="6398"/>
                        </a:lnTo>
                        <a:lnTo>
                          <a:pt x="6103" y="6375"/>
                        </a:lnTo>
                        <a:lnTo>
                          <a:pt x="6172" y="6352"/>
                        </a:lnTo>
                        <a:lnTo>
                          <a:pt x="6241" y="6328"/>
                        </a:lnTo>
                        <a:lnTo>
                          <a:pt x="6309" y="6302"/>
                        </a:lnTo>
                        <a:lnTo>
                          <a:pt x="6378" y="6276"/>
                        </a:lnTo>
                        <a:lnTo>
                          <a:pt x="6445" y="6251"/>
                        </a:lnTo>
                        <a:lnTo>
                          <a:pt x="6512" y="6224"/>
                        </a:lnTo>
                        <a:lnTo>
                          <a:pt x="6579" y="6197"/>
                        </a:lnTo>
                        <a:lnTo>
                          <a:pt x="6645" y="6169"/>
                        </a:lnTo>
                        <a:lnTo>
                          <a:pt x="6710" y="6140"/>
                        </a:lnTo>
                        <a:lnTo>
                          <a:pt x="6776" y="6111"/>
                        </a:lnTo>
                        <a:lnTo>
                          <a:pt x="6840" y="6082"/>
                        </a:lnTo>
                        <a:lnTo>
                          <a:pt x="6906" y="6052"/>
                        </a:lnTo>
                        <a:lnTo>
                          <a:pt x="6969" y="6021"/>
                        </a:lnTo>
                        <a:lnTo>
                          <a:pt x="7032" y="5990"/>
                        </a:lnTo>
                        <a:lnTo>
                          <a:pt x="7096" y="5958"/>
                        </a:lnTo>
                        <a:lnTo>
                          <a:pt x="7158" y="5925"/>
                        </a:lnTo>
                        <a:lnTo>
                          <a:pt x="7220" y="5892"/>
                        </a:lnTo>
                        <a:lnTo>
                          <a:pt x="7283" y="5859"/>
                        </a:lnTo>
                        <a:lnTo>
                          <a:pt x="7344" y="5825"/>
                        </a:lnTo>
                        <a:lnTo>
                          <a:pt x="7404" y="5789"/>
                        </a:lnTo>
                        <a:lnTo>
                          <a:pt x="7465" y="5754"/>
                        </a:lnTo>
                        <a:lnTo>
                          <a:pt x="7525" y="5718"/>
                        </a:lnTo>
                        <a:lnTo>
                          <a:pt x="7584" y="5682"/>
                        </a:lnTo>
                        <a:lnTo>
                          <a:pt x="7644" y="5644"/>
                        </a:lnTo>
                        <a:lnTo>
                          <a:pt x="7702" y="5607"/>
                        </a:lnTo>
                        <a:lnTo>
                          <a:pt x="7760" y="5569"/>
                        </a:lnTo>
                        <a:lnTo>
                          <a:pt x="7818" y="5530"/>
                        </a:lnTo>
                        <a:lnTo>
                          <a:pt x="7875" y="5491"/>
                        </a:lnTo>
                        <a:lnTo>
                          <a:pt x="7932" y="5450"/>
                        </a:lnTo>
                        <a:lnTo>
                          <a:pt x="7989" y="5410"/>
                        </a:lnTo>
                        <a:lnTo>
                          <a:pt x="8044" y="5369"/>
                        </a:lnTo>
                        <a:lnTo>
                          <a:pt x="8099" y="5327"/>
                        </a:lnTo>
                        <a:lnTo>
                          <a:pt x="8155" y="5284"/>
                        </a:lnTo>
                        <a:lnTo>
                          <a:pt x="8209" y="5242"/>
                        </a:lnTo>
                        <a:lnTo>
                          <a:pt x="8263" y="5199"/>
                        </a:lnTo>
                        <a:lnTo>
                          <a:pt x="8317" y="5155"/>
                        </a:lnTo>
                        <a:lnTo>
                          <a:pt x="8370" y="5110"/>
                        </a:lnTo>
                        <a:lnTo>
                          <a:pt x="8422" y="5065"/>
                        </a:lnTo>
                        <a:lnTo>
                          <a:pt x="8475" y="5019"/>
                        </a:lnTo>
                        <a:lnTo>
                          <a:pt x="8526" y="4973"/>
                        </a:lnTo>
                        <a:lnTo>
                          <a:pt x="8577" y="4926"/>
                        </a:lnTo>
                        <a:lnTo>
                          <a:pt x="8628" y="4879"/>
                        </a:lnTo>
                        <a:lnTo>
                          <a:pt x="8679" y="4831"/>
                        </a:lnTo>
                        <a:lnTo>
                          <a:pt x="8729" y="4782"/>
                        </a:lnTo>
                        <a:lnTo>
                          <a:pt x="8778" y="4733"/>
                        </a:lnTo>
                        <a:lnTo>
                          <a:pt x="8827" y="4684"/>
                        </a:lnTo>
                        <a:lnTo>
                          <a:pt x="8875" y="4634"/>
                        </a:lnTo>
                        <a:lnTo>
                          <a:pt x="8923" y="4582"/>
                        </a:lnTo>
                        <a:lnTo>
                          <a:pt x="8970" y="4531"/>
                        </a:lnTo>
                        <a:lnTo>
                          <a:pt x="9018" y="4480"/>
                        </a:lnTo>
                        <a:lnTo>
                          <a:pt x="9064" y="4427"/>
                        </a:lnTo>
                        <a:lnTo>
                          <a:pt x="9110" y="4374"/>
                        </a:lnTo>
                        <a:lnTo>
                          <a:pt x="9156" y="4321"/>
                        </a:lnTo>
                        <a:lnTo>
                          <a:pt x="9201" y="4266"/>
                        </a:lnTo>
                        <a:lnTo>
                          <a:pt x="9246" y="4211"/>
                        </a:lnTo>
                        <a:lnTo>
                          <a:pt x="9290" y="4156"/>
                        </a:lnTo>
                        <a:lnTo>
                          <a:pt x="9333" y="4100"/>
                        </a:lnTo>
                        <a:lnTo>
                          <a:pt x="9377" y="4044"/>
                        </a:lnTo>
                        <a:lnTo>
                          <a:pt x="9420" y="3987"/>
                        </a:lnTo>
                        <a:lnTo>
                          <a:pt x="9462" y="3929"/>
                        </a:lnTo>
                        <a:lnTo>
                          <a:pt x="9503" y="3871"/>
                        </a:lnTo>
                        <a:lnTo>
                          <a:pt x="9545" y="3813"/>
                        </a:lnTo>
                        <a:lnTo>
                          <a:pt x="9545" y="3813"/>
                        </a:lnTo>
                        <a:lnTo>
                          <a:pt x="9606" y="3725"/>
                        </a:lnTo>
                        <a:lnTo>
                          <a:pt x="9665" y="3636"/>
                        </a:lnTo>
                        <a:lnTo>
                          <a:pt x="9724" y="3545"/>
                        </a:lnTo>
                        <a:lnTo>
                          <a:pt x="9781" y="3454"/>
                        </a:lnTo>
                        <a:lnTo>
                          <a:pt x="9837" y="3361"/>
                        </a:lnTo>
                        <a:lnTo>
                          <a:pt x="9893" y="3267"/>
                        </a:lnTo>
                        <a:lnTo>
                          <a:pt x="9947" y="3173"/>
                        </a:lnTo>
                        <a:lnTo>
                          <a:pt x="9999" y="3076"/>
                        </a:lnTo>
                        <a:lnTo>
                          <a:pt x="10052" y="2980"/>
                        </a:lnTo>
                        <a:lnTo>
                          <a:pt x="10103" y="2881"/>
                        </a:lnTo>
                        <a:lnTo>
                          <a:pt x="10153" y="2782"/>
                        </a:lnTo>
                        <a:lnTo>
                          <a:pt x="10202" y="2680"/>
                        </a:lnTo>
                        <a:lnTo>
                          <a:pt x="10250" y="2578"/>
                        </a:lnTo>
                        <a:lnTo>
                          <a:pt x="10297" y="2475"/>
                        </a:lnTo>
                        <a:lnTo>
                          <a:pt x="10343" y="2370"/>
                        </a:lnTo>
                        <a:lnTo>
                          <a:pt x="10388" y="2264"/>
                        </a:lnTo>
                        <a:lnTo>
                          <a:pt x="10433" y="2158"/>
                        </a:lnTo>
                        <a:lnTo>
                          <a:pt x="10475" y="2049"/>
                        </a:lnTo>
                        <a:lnTo>
                          <a:pt x="10517" y="1940"/>
                        </a:lnTo>
                        <a:lnTo>
                          <a:pt x="10558" y="1828"/>
                        </a:lnTo>
                        <a:lnTo>
                          <a:pt x="10599" y="1716"/>
                        </a:lnTo>
                        <a:lnTo>
                          <a:pt x="10638" y="1603"/>
                        </a:lnTo>
                        <a:lnTo>
                          <a:pt x="10676" y="1488"/>
                        </a:lnTo>
                        <a:lnTo>
                          <a:pt x="10713" y="1371"/>
                        </a:lnTo>
                        <a:lnTo>
                          <a:pt x="10749" y="1253"/>
                        </a:lnTo>
                        <a:lnTo>
                          <a:pt x="10785" y="1135"/>
                        </a:lnTo>
                        <a:lnTo>
                          <a:pt x="10819" y="1014"/>
                        </a:lnTo>
                        <a:lnTo>
                          <a:pt x="10852" y="892"/>
                        </a:lnTo>
                        <a:lnTo>
                          <a:pt x="10884" y="770"/>
                        </a:lnTo>
                        <a:lnTo>
                          <a:pt x="10916" y="645"/>
                        </a:lnTo>
                        <a:lnTo>
                          <a:pt x="10947" y="519"/>
                        </a:lnTo>
                        <a:lnTo>
                          <a:pt x="10976" y="391"/>
                        </a:lnTo>
                        <a:lnTo>
                          <a:pt x="11158" y="648"/>
                        </a:ln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Calibri"/>
                    </a:endParaRPr>
                  </a:p>
                </p:txBody>
              </p:sp>
            </p:grpSp>
            <p:sp>
              <p:nvSpPr>
                <p:cNvPr id="36" name="Rectangle: Rounded Corners 35">
                  <a:extLst>
                    <a:ext uri="{FF2B5EF4-FFF2-40B4-BE49-F238E27FC236}">
                      <a16:creationId xmlns:a16="http://schemas.microsoft.com/office/drawing/2014/main" id="{79FD0D03-9F20-D117-0A8C-F1A5228A3420}"/>
                    </a:ext>
                  </a:extLst>
                </p:cNvPr>
                <p:cNvSpPr/>
                <p:nvPr/>
              </p:nvSpPr>
              <p:spPr>
                <a:xfrm>
                  <a:off x="7957458" y="2046514"/>
                  <a:ext cx="3286116" cy="1245167"/>
                </a:xfrm>
                <a:prstGeom prst="roundRect">
                  <a:avLst>
                    <a:gd name="adj" fmla="val 9680"/>
                  </a:avLst>
                </a:prstGeom>
                <a:solidFill>
                  <a:schemeClr val="bg1">
                    <a:lumMod val="95000"/>
                    <a:alpha val="86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grpSp>
          <p:sp>
            <p:nvSpPr>
              <p:cNvPr id="34" name="TextBox 33">
                <a:extLst>
                  <a:ext uri="{FF2B5EF4-FFF2-40B4-BE49-F238E27FC236}">
                    <a16:creationId xmlns:a16="http://schemas.microsoft.com/office/drawing/2014/main" id="{7BB72FD1-4A8A-B2A6-D93E-9C1C8FF84DE8}"/>
                  </a:ext>
                </a:extLst>
              </p:cNvPr>
              <p:cNvSpPr txBox="1"/>
              <p:nvPr/>
            </p:nvSpPr>
            <p:spPr>
              <a:xfrm>
                <a:off x="7957457" y="2061342"/>
                <a:ext cx="3286116" cy="1618392"/>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err="1">
                    <a:ln>
                      <a:noFill/>
                    </a:ln>
                    <a:solidFill>
                      <a:srgbClr val="F0BE0F"/>
                    </a:solidFill>
                    <a:effectLst/>
                    <a:uLnTx/>
                    <a:uFillTx/>
                    <a:latin typeface="Yekan Bakh" pitchFamily="2" charset="-78"/>
                    <a:ea typeface="Yekan Bakh" pitchFamily="2" charset="-78"/>
                    <a:cs typeface="Yekan Bakh" pitchFamily="2" charset="-78"/>
                  </a:rPr>
                  <a:t>مسیر</a:t>
                </a:r>
                <a:r>
                  <a:rPr kumimoji="0" lang="en-US" sz="10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 </a:t>
                </a:r>
                <a:r>
                  <a:rPr kumimoji="0" lang="fa-IR" sz="10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۳</a:t>
                </a:r>
                <a:endParaRPr kumimoji="0" lang="en-US" sz="1000" b="0"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a:p>
                <a:pPr marL="0" marR="0" lvl="0" indent="0" algn="ctr" defTabSz="457200" rtl="1" eaLnBrk="1" fontAlgn="auto" latinLnBrk="0" hangingPunct="1">
                  <a:lnSpc>
                    <a:spcPct val="100000"/>
                  </a:lnSpc>
                  <a:spcBef>
                    <a:spcPts val="600"/>
                  </a:spcBef>
                  <a:spcAft>
                    <a:spcPts val="450"/>
                  </a:spcAft>
                  <a:buClrTx/>
                  <a:buSzTx/>
                  <a:buFontTx/>
                  <a:buNone/>
                  <a:tabLst/>
                  <a:defRPr/>
                </a:pPr>
                <a:r>
                  <a:rPr kumimoji="0" lang="fa-IR" sz="800" b="1" i="0" u="none" strike="noStrike" kern="1200" cap="none" spc="0" normalizeH="0" baseline="0" noProof="0" dirty="0">
                    <a:ln>
                      <a:noFill/>
                    </a:ln>
                    <a:solidFill>
                      <a:srgbClr val="3242A4"/>
                    </a:solidFill>
                    <a:effectLst/>
                    <a:uLnTx/>
                    <a:uFillTx/>
                    <a:latin typeface="Yekan Bakh" pitchFamily="2" charset="-78"/>
                    <a:ea typeface="Yekan Bakh" pitchFamily="2" charset="-78"/>
                    <a:cs typeface="Yekan Bakh" pitchFamily="2" charset="-78"/>
                  </a:rPr>
                  <a:t>تضمین - </a:t>
                </a:r>
                <a:r>
                  <a:rPr kumimoji="0" lang="en-US" sz="800" b="1" i="0" u="none" strike="noStrike" kern="1200" cap="none" spc="0" normalizeH="0" baseline="0" noProof="0" dirty="0">
                    <a:ln>
                      <a:noFill/>
                    </a:ln>
                    <a:solidFill>
                      <a:srgbClr val="3242A4"/>
                    </a:solidFill>
                    <a:effectLst/>
                    <a:uLnTx/>
                    <a:uFillTx/>
                    <a:latin typeface="Yekan Bakh" pitchFamily="2" charset="-78"/>
                    <a:ea typeface="Yekan Bakh" pitchFamily="2" charset="-78"/>
                    <a:cs typeface="Yekan Bakh" pitchFamily="2" charset="-78"/>
                  </a:rPr>
                  <a:t>Assurance</a:t>
                </a:r>
              </a:p>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8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ترازنامه و جایگاه شما ریسک طرف مقابل را کاهش می‌دهد. شرکت خارجی که نمی‌تواند قرارداد را اجرا کند یا پولش را برگرداند، حاضر است بابت «کسی که پشت معامله ایستاده» پول بدهد.</a:t>
                </a:r>
              </a:p>
              <a:p>
                <a:pPr marL="0" marR="0" lvl="0" indent="0" algn="justLow" defTabSz="457200" rtl="1"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a:p>
                <a:pPr marL="0" marR="0" lvl="0" indent="0" algn="r" defTabSz="457200" rtl="1"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err="1">
                    <a:ln>
                      <a:noFill/>
                    </a:ln>
                    <a:solidFill>
                      <a:prstClr val="black">
                        <a:lumMod val="65000"/>
                        <a:lumOff val="35000"/>
                      </a:prstClr>
                    </a:solidFill>
                    <a:effectLst/>
                    <a:uLnTx/>
                    <a:uFillTx/>
                    <a:latin typeface="Yekan Bakh" pitchFamily="2" charset="-78"/>
                    <a:ea typeface="Yekan Bakh" pitchFamily="2" charset="-78"/>
                    <a:cs typeface="Yekan Bakh" pitchFamily="2" charset="-78"/>
                  </a:rPr>
                  <a:t>محصول</a:t>
                </a:r>
                <a:r>
                  <a:rPr kumimoji="0" lang="fa-IR" sz="800" b="1"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a:t>
                </a:r>
                <a:r>
                  <a:rPr kumimoji="0" lang="en-US" sz="8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 </a:t>
                </a:r>
                <a:r>
                  <a:rPr kumimoji="0" lang="fa-IR" sz="8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کاهش ریسک</a:t>
                </a:r>
              </a:p>
              <a:p>
                <a:pPr marL="0" marR="0" lvl="0" indent="0" algn="r" defTabSz="457200" rtl="1"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err="1">
                    <a:ln>
                      <a:noFill/>
                    </a:ln>
                    <a:solidFill>
                      <a:prstClr val="black">
                        <a:lumMod val="65000"/>
                        <a:lumOff val="35000"/>
                      </a:prstClr>
                    </a:solidFill>
                    <a:effectLst/>
                    <a:uLnTx/>
                    <a:uFillTx/>
                    <a:latin typeface="Yekan Bakh" pitchFamily="2" charset="-78"/>
                    <a:ea typeface="Yekan Bakh" pitchFamily="2" charset="-78"/>
                    <a:cs typeface="Yekan Bakh" pitchFamily="2" charset="-78"/>
                  </a:rPr>
                  <a:t>ابزار</a:t>
                </a:r>
                <a:r>
                  <a:rPr kumimoji="0" lang="en-US" sz="800" b="1"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a:t>
                </a:r>
                <a:r>
                  <a:rPr kumimoji="0" lang="fa-IR" sz="8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 ضمانت، سرمایه اولیه‌زیان، هم‌سرمایه‌گذاری، امانی، سهم در طرف مقابل</a:t>
                </a:r>
                <a:br>
                  <a:rPr kumimoji="0" lang="en-US" sz="8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br>
                <a:r>
                  <a:rPr kumimoji="0" lang="en-US" sz="800" b="1" i="0" u="none" strike="noStrike" kern="1200" cap="none" spc="0" normalizeH="0" baseline="0" noProof="0" dirty="0" err="1">
                    <a:ln>
                      <a:noFill/>
                    </a:ln>
                    <a:solidFill>
                      <a:prstClr val="black">
                        <a:lumMod val="65000"/>
                        <a:lumOff val="35000"/>
                      </a:prstClr>
                    </a:solidFill>
                    <a:effectLst/>
                    <a:uLnTx/>
                    <a:uFillTx/>
                    <a:latin typeface="Yekan Bakh" pitchFamily="2" charset="-78"/>
                    <a:ea typeface="Yekan Bakh" pitchFamily="2" charset="-78"/>
                    <a:cs typeface="Yekan Bakh" pitchFamily="2" charset="-78"/>
                  </a:rPr>
                  <a:t>مصرف</a:t>
                </a:r>
                <a:r>
                  <a:rPr kumimoji="0" lang="en-US" sz="800" b="1"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 </a:t>
                </a:r>
                <a:r>
                  <a:rPr kumimoji="0" lang="en-US" sz="800" b="1" i="0" u="none" strike="noStrike" kern="1200" cap="none" spc="0" normalizeH="0" baseline="0" noProof="0" dirty="0" err="1">
                    <a:ln>
                      <a:noFill/>
                    </a:ln>
                    <a:solidFill>
                      <a:prstClr val="black">
                        <a:lumMod val="65000"/>
                        <a:lumOff val="35000"/>
                      </a:prstClr>
                    </a:solidFill>
                    <a:effectLst/>
                    <a:uLnTx/>
                    <a:uFillTx/>
                    <a:latin typeface="Yekan Bakh" pitchFamily="2" charset="-78"/>
                    <a:ea typeface="Yekan Bakh" pitchFamily="2" charset="-78"/>
                    <a:cs typeface="Yekan Bakh" pitchFamily="2" charset="-78"/>
                  </a:rPr>
                  <a:t>زمان</a:t>
                </a:r>
                <a:r>
                  <a:rPr kumimoji="0" lang="fa-IR" sz="800" b="1"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a:t>
                </a:r>
                <a:r>
                  <a:rPr kumimoji="0" lang="en-US" sz="8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 </a:t>
                </a:r>
                <a:r>
                  <a:rPr kumimoji="0" lang="fa-IR" sz="8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حداقلی (فقط کمیته) </a:t>
                </a:r>
              </a:p>
              <a:p>
                <a:pPr marL="0" marR="0" lvl="0" indent="0" algn="r" defTabSz="457200" rtl="1"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err="1">
                    <a:ln>
                      <a:noFill/>
                    </a:ln>
                    <a:solidFill>
                      <a:prstClr val="black">
                        <a:lumMod val="65000"/>
                        <a:lumOff val="35000"/>
                      </a:prstClr>
                    </a:solidFill>
                    <a:effectLst/>
                    <a:uLnTx/>
                    <a:uFillTx/>
                    <a:latin typeface="Yekan Bakh" pitchFamily="2" charset="-78"/>
                    <a:ea typeface="Yekan Bakh" pitchFamily="2" charset="-78"/>
                    <a:cs typeface="Yekan Bakh" pitchFamily="2" charset="-78"/>
                  </a:rPr>
                  <a:t>فرسایش</a:t>
                </a:r>
                <a:r>
                  <a:rPr kumimoji="0" lang="en-US" sz="800" b="1"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a:t>
                </a:r>
                <a:r>
                  <a:rPr kumimoji="0" lang="fa-IR" sz="8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 ظرفیت مالی متناهی است</a:t>
                </a:r>
                <a:endParaRPr kumimoji="0" lang="en-US" sz="8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endParaRPr>
              </a:p>
            </p:txBody>
          </p:sp>
        </p:grpSp>
      </p:grpSp>
      <p:sp>
        <p:nvSpPr>
          <p:cNvPr id="3" name="Text Placeholder 2">
            <a:extLst>
              <a:ext uri="{FF2B5EF4-FFF2-40B4-BE49-F238E27FC236}">
                <a16:creationId xmlns:a16="http://schemas.microsoft.com/office/drawing/2014/main" id="{BB152D7D-05A0-9EBB-22F3-661E04326AEA}"/>
              </a:ext>
            </a:extLst>
          </p:cNvPr>
          <p:cNvSpPr>
            <a:spLocks noGrp="1"/>
          </p:cNvSpPr>
          <p:nvPr>
            <p:ph type="body" sz="quarter" idx="12"/>
          </p:nvPr>
        </p:nvSpPr>
        <p:spPr/>
        <p:txBody>
          <a:bodyPr/>
          <a:lstStyle/>
          <a:p>
            <a:endParaRPr lang="en-GB" dirty="0"/>
          </a:p>
        </p:txBody>
      </p:sp>
      <p:graphicFrame>
        <p:nvGraphicFramePr>
          <p:cNvPr id="51" name="Table 50">
            <a:extLst>
              <a:ext uri="{FF2B5EF4-FFF2-40B4-BE49-F238E27FC236}">
                <a16:creationId xmlns:a16="http://schemas.microsoft.com/office/drawing/2014/main" id="{425E4AF4-ACF0-B123-7866-B30708B8DB70}"/>
              </a:ext>
            </a:extLst>
          </p:cNvPr>
          <p:cNvGraphicFramePr>
            <a:graphicFrameLocks noGrp="1"/>
          </p:cNvGraphicFramePr>
          <p:nvPr/>
        </p:nvGraphicFramePr>
        <p:xfrm>
          <a:off x="533441" y="4720418"/>
          <a:ext cx="10710131" cy="1162577"/>
        </p:xfrm>
        <a:graphic>
          <a:graphicData uri="http://schemas.openxmlformats.org/drawingml/2006/table">
            <a:tbl>
              <a:tblPr firstRow="1" bandRow="1">
                <a:tableStyleId>{5C22544A-7EE6-4342-B048-85BDC9FD1C3A}</a:tableStyleId>
              </a:tblPr>
              <a:tblGrid>
                <a:gridCol w="3432777">
                  <a:extLst>
                    <a:ext uri="{9D8B030D-6E8A-4147-A177-3AD203B41FA5}">
                      <a16:colId xmlns:a16="http://schemas.microsoft.com/office/drawing/2014/main" val="4018227167"/>
                    </a:ext>
                  </a:extLst>
                </a:gridCol>
                <a:gridCol w="2375109">
                  <a:extLst>
                    <a:ext uri="{9D8B030D-6E8A-4147-A177-3AD203B41FA5}">
                      <a16:colId xmlns:a16="http://schemas.microsoft.com/office/drawing/2014/main" val="4265538667"/>
                    </a:ext>
                  </a:extLst>
                </a:gridCol>
                <a:gridCol w="3459486">
                  <a:extLst>
                    <a:ext uri="{9D8B030D-6E8A-4147-A177-3AD203B41FA5}">
                      <a16:colId xmlns:a16="http://schemas.microsoft.com/office/drawing/2014/main" val="3125127807"/>
                    </a:ext>
                  </a:extLst>
                </a:gridCol>
                <a:gridCol w="1442759">
                  <a:extLst>
                    <a:ext uri="{9D8B030D-6E8A-4147-A177-3AD203B41FA5}">
                      <a16:colId xmlns:a16="http://schemas.microsoft.com/office/drawing/2014/main" val="4138427655"/>
                    </a:ext>
                  </a:extLst>
                </a:gridCol>
              </a:tblGrid>
              <a:tr h="232103">
                <a:tc>
                  <a:txBody>
                    <a:bodyPr/>
                    <a:lstStyle/>
                    <a:p>
                      <a:pPr marL="0" marR="0" lvl="0" indent="0" algn="ctr" defTabSz="1021516" rtl="1"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آنچه بدون آن اتفاق می‌افتد</a:t>
                      </a:r>
                      <a:endParaRPr kumimoji="0" lang="en-GB" sz="10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a:txBody>
                  <a:tcPr marL="66318" marR="66318" marT="33159" marB="33159" anchor="ctr">
                    <a:solidFill>
                      <a:srgbClr val="1E2761"/>
                    </a:solidFill>
                  </a:tcPr>
                </a:tc>
                <a:tc>
                  <a:txBody>
                    <a:bodyPr/>
                    <a:lstStyle/>
                    <a:p>
                      <a:pPr algn="ctr" rtl="1"/>
                      <a:r>
                        <a:rPr lang="fa-IR" sz="1000" b="1" i="0" kern="1200" dirty="0">
                          <a:solidFill>
                            <a:schemeClr val="lt1"/>
                          </a:solidFill>
                          <a:effectLst/>
                          <a:latin typeface="Yekan Bakh" pitchFamily="2" charset="-78"/>
                          <a:ea typeface="Yekan Bakh" pitchFamily="2" charset="-78"/>
                          <a:cs typeface="Yekan Bakh" pitchFamily="2" charset="-78"/>
                        </a:rPr>
                        <a:t>اوج در کدام مرحله</a:t>
                      </a:r>
                      <a:endParaRPr lang="en-GB" sz="1000" dirty="0">
                        <a:latin typeface="Yekan Bakh" pitchFamily="2" charset="-78"/>
                        <a:ea typeface="Yekan Bakh" pitchFamily="2" charset="-78"/>
                        <a:cs typeface="Yekan Bakh" pitchFamily="2" charset="-78"/>
                      </a:endParaRPr>
                    </a:p>
                  </a:txBody>
                  <a:tcPr marL="66318" marR="66318" marT="33159" marB="33159" anchor="ctr">
                    <a:solidFill>
                      <a:srgbClr val="1E2761"/>
                    </a:solidFill>
                  </a:tcPr>
                </a:tc>
                <a:tc>
                  <a:txBody>
                    <a:bodyPr/>
                    <a:lstStyle/>
                    <a:p>
                      <a:pPr algn="ctr" rtl="1"/>
                      <a:r>
                        <a:rPr lang="fa-IR" sz="1000" b="1" i="0" kern="1200" dirty="0">
                          <a:solidFill>
                            <a:schemeClr val="lt1"/>
                          </a:solidFill>
                          <a:effectLst/>
                          <a:latin typeface="Yekan Bakh" pitchFamily="2" charset="-78"/>
                          <a:ea typeface="Yekan Bakh" pitchFamily="2" charset="-78"/>
                          <a:cs typeface="Yekan Bakh" pitchFamily="2" charset="-78"/>
                        </a:rPr>
                        <a:t>در زنجیره ارزش یعنی</a:t>
                      </a:r>
                      <a:endParaRPr lang="en-GB" sz="1000" dirty="0">
                        <a:latin typeface="Yekan Bakh" pitchFamily="2" charset="-78"/>
                        <a:ea typeface="Yekan Bakh" pitchFamily="2" charset="-78"/>
                        <a:cs typeface="Yekan Bakh" pitchFamily="2" charset="-78"/>
                      </a:endParaRPr>
                    </a:p>
                  </a:txBody>
                  <a:tcPr marL="66318" marR="66318" marT="33159" marB="33159" anchor="ctr">
                    <a:solidFill>
                      <a:srgbClr val="1E2761"/>
                    </a:solidFill>
                  </a:tcPr>
                </a:tc>
                <a:tc>
                  <a:txBody>
                    <a:bodyPr/>
                    <a:lstStyle/>
                    <a:p>
                      <a:pPr algn="ctr" rtl="1"/>
                      <a:r>
                        <a:rPr lang="fa-IR" sz="1000" b="1" i="0" kern="1200" dirty="0">
                          <a:solidFill>
                            <a:schemeClr val="lt1"/>
                          </a:solidFill>
                          <a:effectLst/>
                          <a:latin typeface="Yekan Bakh" pitchFamily="2" charset="-78"/>
                          <a:ea typeface="Yekan Bakh" pitchFamily="2" charset="-78"/>
                          <a:cs typeface="Yekan Bakh" pitchFamily="2" charset="-78"/>
                        </a:rPr>
                        <a:t>کارکرد</a:t>
                      </a:r>
                      <a:endParaRPr lang="en-GB" sz="1000" dirty="0">
                        <a:latin typeface="Yekan Bakh" pitchFamily="2" charset="-78"/>
                        <a:ea typeface="Yekan Bakh" pitchFamily="2" charset="-78"/>
                        <a:cs typeface="Yekan Bakh" pitchFamily="2" charset="-78"/>
                      </a:endParaRPr>
                    </a:p>
                  </a:txBody>
                  <a:tcPr marL="66318" marR="66318" marT="33159" marB="33159" anchor="ctr">
                    <a:solidFill>
                      <a:srgbClr val="1E2761"/>
                    </a:solidFill>
                  </a:tcPr>
                </a:tc>
                <a:extLst>
                  <a:ext uri="{0D108BD9-81ED-4DB2-BD59-A6C34878D82A}">
                    <a16:rowId xmlns:a16="http://schemas.microsoft.com/office/drawing/2014/main" val="4153822292"/>
                  </a:ext>
                </a:extLst>
              </a:tr>
              <a:tr h="278610">
                <a:tc>
                  <a:txBody>
                    <a:bodyPr/>
                    <a:lstStyle/>
                    <a:p>
                      <a:pPr algn="r" rtl="1"/>
                      <a:r>
                        <a:rPr lang="fa-IR" sz="800" b="0" dirty="0">
                          <a:solidFill>
                            <a:schemeClr val="tx1">
                              <a:lumMod val="75000"/>
                              <a:lumOff val="25000"/>
                            </a:schemeClr>
                          </a:solidFill>
                          <a:latin typeface="Yekan Bakh" pitchFamily="2" charset="-78"/>
                          <a:ea typeface="Yekan Bakh" pitchFamily="2" charset="-78"/>
                          <a:cs typeface="Yekan Bakh" pitchFamily="2" charset="-78"/>
                        </a:rPr>
                        <a:t>توزیع‌کننده معتبر جواب نمی‌دهد؛ شریک درجه‌یک وارد مذاکره نمی‌شود؛ فرایند نظارتی در صف عادی می‌ماند</a:t>
                      </a:r>
                      <a:endParaRPr lang="en-GB" sz="800" b="0" dirty="0">
                        <a:solidFill>
                          <a:schemeClr val="tx1">
                            <a:lumMod val="75000"/>
                            <a:lumOff val="25000"/>
                          </a:schemeClr>
                        </a:solidFill>
                        <a:latin typeface="Yekan Bakh" pitchFamily="2" charset="-78"/>
                        <a:ea typeface="Yekan Bakh" pitchFamily="2" charset="-78"/>
                        <a:cs typeface="Yekan Bakh" pitchFamily="2" charset="-78"/>
                      </a:endParaRPr>
                    </a:p>
                  </a:txBody>
                  <a:tcPr marL="66318" marR="66318" marT="33159" marB="33159" anchor="ctr">
                    <a:solidFill>
                      <a:schemeClr val="bg1">
                        <a:lumMod val="95000"/>
                        <a:alpha val="20000"/>
                      </a:schemeClr>
                    </a:solidFill>
                  </a:tcPr>
                </a:tc>
                <a:tc>
                  <a:txBody>
                    <a:bodyPr/>
                    <a:lstStyle/>
                    <a:p>
                      <a:pPr algn="r" rtl="1"/>
                      <a:r>
                        <a:rPr lang="fa-IR" sz="800" b="0" i="0" kern="1200" dirty="0">
                          <a:solidFill>
                            <a:schemeClr val="tx1">
                              <a:lumMod val="75000"/>
                              <a:lumOff val="25000"/>
                            </a:schemeClr>
                          </a:solidFill>
                          <a:effectLst/>
                          <a:latin typeface="Yekan Bakh" pitchFamily="2" charset="-78"/>
                          <a:ea typeface="Yekan Bakh" pitchFamily="2" charset="-78"/>
                          <a:cs typeface="Yekan Bakh" pitchFamily="2" charset="-78"/>
                        </a:rPr>
                        <a:t>م۲ (انتخاب شریک) · م۵ (پذیرش کانال)</a:t>
                      </a:r>
                      <a:endParaRPr lang="en-GB" sz="800" b="0" dirty="0">
                        <a:solidFill>
                          <a:schemeClr val="tx1">
                            <a:lumMod val="75000"/>
                            <a:lumOff val="25000"/>
                          </a:schemeClr>
                        </a:solidFill>
                        <a:latin typeface="Yekan Bakh" pitchFamily="2" charset="-78"/>
                        <a:ea typeface="Yekan Bakh" pitchFamily="2" charset="-78"/>
                        <a:cs typeface="Yekan Bakh" pitchFamily="2" charset="-78"/>
                      </a:endParaRPr>
                    </a:p>
                  </a:txBody>
                  <a:tcPr marL="66318" marR="66318" marT="33159" marB="33159" anchor="ctr">
                    <a:solidFill>
                      <a:schemeClr val="bg1">
                        <a:lumMod val="95000"/>
                        <a:alpha val="20000"/>
                      </a:schemeClr>
                    </a:solidFill>
                  </a:tcPr>
                </a:tc>
                <a:tc>
                  <a:txBody>
                    <a:bodyPr/>
                    <a:lstStyle/>
                    <a:p>
                      <a:pPr algn="r" rtl="1"/>
                      <a:r>
                        <a:rPr lang="fa-IR" sz="800" b="0" i="0" kern="1200" dirty="0">
                          <a:solidFill>
                            <a:schemeClr val="tx1">
                              <a:lumMod val="75000"/>
                              <a:lumOff val="25000"/>
                            </a:schemeClr>
                          </a:solidFill>
                          <a:effectLst/>
                          <a:latin typeface="Yekan Bakh" pitchFamily="2" charset="-78"/>
                          <a:ea typeface="Yekan Bakh" pitchFamily="2" charset="-78"/>
                          <a:cs typeface="Yekan Bakh" pitchFamily="2" charset="-78"/>
                        </a:rPr>
                        <a:t>تغییر ادراکِ طرف مقابل نسبت به شرکت خارجی — از «ناشناخته و پرریسک» به «تأییدشده»</a:t>
                      </a:r>
                      <a:endParaRPr lang="en-GB" sz="800" b="0" dirty="0">
                        <a:solidFill>
                          <a:schemeClr val="tx1">
                            <a:lumMod val="75000"/>
                            <a:lumOff val="25000"/>
                          </a:schemeClr>
                        </a:solidFill>
                        <a:latin typeface="Yekan Bakh" pitchFamily="2" charset="-78"/>
                        <a:ea typeface="Yekan Bakh" pitchFamily="2" charset="-78"/>
                        <a:cs typeface="Yekan Bakh" pitchFamily="2" charset="-78"/>
                      </a:endParaRPr>
                    </a:p>
                  </a:txBody>
                  <a:tcPr marL="66318" marR="66318" marT="33159" marB="33159" anchor="ctr">
                    <a:solidFill>
                      <a:schemeClr val="bg1">
                        <a:lumMod val="95000"/>
                        <a:alpha val="20000"/>
                      </a:schemeClr>
                    </a:solidFill>
                  </a:tcPr>
                </a:tc>
                <a:tc>
                  <a:txBody>
                    <a:bodyPr/>
                    <a:lstStyle/>
                    <a:p>
                      <a:pPr algn="ctr" rtl="1"/>
                      <a:r>
                        <a:rPr lang="fa-IR" sz="800" b="1" i="0" kern="1200" dirty="0">
                          <a:solidFill>
                            <a:srgbClr val="1E2761"/>
                          </a:solidFill>
                          <a:effectLst/>
                          <a:latin typeface="Yekan Bakh" pitchFamily="2" charset="-78"/>
                          <a:ea typeface="Yekan Bakh" pitchFamily="2" charset="-78"/>
                          <a:cs typeface="Yekan Bakh" pitchFamily="2" charset="-78"/>
                        </a:rPr>
                        <a:t>سیگنال</a:t>
                      </a:r>
                    </a:p>
                    <a:p>
                      <a:pPr algn="ctr" rtl="1"/>
                      <a:r>
                        <a:rPr lang="en-US" sz="800" b="1" i="0" kern="1200" dirty="0">
                          <a:solidFill>
                            <a:srgbClr val="1E2761"/>
                          </a:solidFill>
                          <a:effectLst/>
                          <a:latin typeface="Yekan Bakh" pitchFamily="2" charset="-78"/>
                          <a:ea typeface="Yekan Bakh" pitchFamily="2" charset="-78"/>
                          <a:cs typeface="Yekan Bakh" pitchFamily="2" charset="-78"/>
                        </a:rPr>
                        <a:t>Signal</a:t>
                      </a:r>
                      <a:endParaRPr lang="en-GB" sz="800" dirty="0">
                        <a:solidFill>
                          <a:srgbClr val="1E2761"/>
                        </a:solidFill>
                        <a:latin typeface="Yekan Bakh" pitchFamily="2" charset="-78"/>
                        <a:ea typeface="Yekan Bakh" pitchFamily="2" charset="-78"/>
                        <a:cs typeface="Yekan Bakh" pitchFamily="2" charset="-78"/>
                      </a:endParaRPr>
                    </a:p>
                  </a:txBody>
                  <a:tcPr marL="66318" marR="66318" marT="33159" marB="33159" anchor="ctr">
                    <a:solidFill>
                      <a:schemeClr val="bg1">
                        <a:lumMod val="95000"/>
                        <a:alpha val="20000"/>
                      </a:schemeClr>
                    </a:solidFill>
                  </a:tcPr>
                </a:tc>
                <a:extLst>
                  <a:ext uri="{0D108BD9-81ED-4DB2-BD59-A6C34878D82A}">
                    <a16:rowId xmlns:a16="http://schemas.microsoft.com/office/drawing/2014/main" val="328930996"/>
                  </a:ext>
                </a:extLst>
              </a:tr>
              <a:tr h="288693">
                <a:tc>
                  <a:txBody>
                    <a:bodyPr/>
                    <a:lstStyle/>
                    <a:p>
                      <a:pPr algn="r" rtl="1"/>
                      <a:r>
                        <a:rPr lang="fa-IR" sz="800" b="0" dirty="0">
                          <a:solidFill>
                            <a:schemeClr val="tx1">
                              <a:lumMod val="75000"/>
                              <a:lumOff val="25000"/>
                            </a:schemeClr>
                          </a:solidFill>
                          <a:latin typeface="Yekan Bakh" pitchFamily="2" charset="-78"/>
                          <a:ea typeface="Yekan Bakh" pitchFamily="2" charset="-78"/>
                          <a:cs typeface="Yekan Bakh" pitchFamily="2" charset="-78"/>
                        </a:rPr>
                        <a:t>پروژه در انتظار پاسخ می‌ماند؛ هزینه ثابت ادامه دارد و درآمد شروع نمی‌شود — گران‌ترین نوع شکست</a:t>
                      </a:r>
                      <a:endParaRPr lang="en-GB" sz="800" b="0" dirty="0">
                        <a:solidFill>
                          <a:schemeClr val="tx1">
                            <a:lumMod val="75000"/>
                            <a:lumOff val="25000"/>
                          </a:schemeClr>
                        </a:solidFill>
                        <a:latin typeface="Yekan Bakh" pitchFamily="2" charset="-78"/>
                        <a:ea typeface="Yekan Bakh" pitchFamily="2" charset="-78"/>
                        <a:cs typeface="Yekan Bakh" pitchFamily="2" charset="-78"/>
                      </a:endParaRPr>
                    </a:p>
                  </a:txBody>
                  <a:tcPr marL="66318" marR="66318" marT="33159" marB="33159" anchor="ctr">
                    <a:solidFill>
                      <a:srgbClr val="1E2761">
                        <a:alpha val="20000"/>
                      </a:srgbClr>
                    </a:solidFill>
                  </a:tcPr>
                </a:tc>
                <a:tc>
                  <a:txBody>
                    <a:bodyPr/>
                    <a:lstStyle/>
                    <a:p>
                      <a:pPr algn="r" rtl="1"/>
                      <a:r>
                        <a:rPr lang="fa-IR" sz="800" b="0" i="0" kern="1200" dirty="0">
                          <a:solidFill>
                            <a:schemeClr val="tx1">
                              <a:lumMod val="75000"/>
                              <a:lumOff val="25000"/>
                            </a:schemeClr>
                          </a:solidFill>
                          <a:effectLst/>
                          <a:latin typeface="Yekan Bakh" pitchFamily="2" charset="-78"/>
                          <a:ea typeface="Yekan Bakh" pitchFamily="2" charset="-78"/>
                          <a:cs typeface="Yekan Bakh" pitchFamily="2" charset="-78"/>
                        </a:rPr>
                        <a:t>م۳ (مجوز و بانک) · م۵ (خریدار) · م۶ (روابط دولتی)</a:t>
                      </a:r>
                      <a:endParaRPr lang="en-GB" sz="800" b="0" dirty="0">
                        <a:solidFill>
                          <a:schemeClr val="tx1">
                            <a:lumMod val="75000"/>
                            <a:lumOff val="25000"/>
                          </a:schemeClr>
                        </a:solidFill>
                        <a:latin typeface="Yekan Bakh" pitchFamily="2" charset="-78"/>
                        <a:ea typeface="Yekan Bakh" pitchFamily="2" charset="-78"/>
                        <a:cs typeface="Yekan Bakh" pitchFamily="2" charset="-78"/>
                      </a:endParaRPr>
                    </a:p>
                  </a:txBody>
                  <a:tcPr marL="66318" marR="66318" marT="33159" marB="33159" anchor="ctr">
                    <a:solidFill>
                      <a:srgbClr val="1E2761">
                        <a:alpha val="20000"/>
                      </a:srgbClr>
                    </a:solidFill>
                  </a:tcPr>
                </a:tc>
                <a:tc>
                  <a:txBody>
                    <a:bodyPr/>
                    <a:lstStyle/>
                    <a:p>
                      <a:pPr algn="r" rtl="1"/>
                      <a:r>
                        <a:rPr lang="fa-IR" sz="800" b="0" i="0" kern="1200" dirty="0">
                          <a:solidFill>
                            <a:schemeClr val="tx1">
                              <a:lumMod val="75000"/>
                              <a:lumOff val="25000"/>
                            </a:schemeClr>
                          </a:solidFill>
                          <a:effectLst/>
                          <a:latin typeface="Yekan Bakh" pitchFamily="2" charset="-78"/>
                          <a:ea typeface="Yekan Bakh" pitchFamily="2" charset="-78"/>
                          <a:cs typeface="Yekan Bakh" pitchFamily="2" charset="-78"/>
                        </a:rPr>
                        <a:t>ساختن جلسه‌ای که بدون آن رابطه شکل نمی‌گرفت — و کوتاه‌کردن زمان تا پاسخ</a:t>
                      </a:r>
                      <a:endParaRPr lang="en-GB" sz="800" b="0" dirty="0">
                        <a:solidFill>
                          <a:schemeClr val="tx1">
                            <a:lumMod val="75000"/>
                            <a:lumOff val="25000"/>
                          </a:schemeClr>
                        </a:solidFill>
                        <a:latin typeface="Yekan Bakh" pitchFamily="2" charset="-78"/>
                        <a:ea typeface="Yekan Bakh" pitchFamily="2" charset="-78"/>
                        <a:cs typeface="Yekan Bakh" pitchFamily="2" charset="-78"/>
                      </a:endParaRPr>
                    </a:p>
                  </a:txBody>
                  <a:tcPr marL="66318" marR="66318" marT="33159" marB="33159" anchor="ctr">
                    <a:solidFill>
                      <a:srgbClr val="1E2761">
                        <a:alpha val="20000"/>
                      </a:srgbClr>
                    </a:solidFill>
                  </a:tcPr>
                </a:tc>
                <a:tc>
                  <a:txBody>
                    <a:bodyPr/>
                    <a:lstStyle/>
                    <a:p>
                      <a:pPr algn="ctr" rtl="1"/>
                      <a:r>
                        <a:rPr lang="fa-IR" sz="800" b="1" i="0" kern="1200" dirty="0">
                          <a:solidFill>
                            <a:srgbClr val="1E2761"/>
                          </a:solidFill>
                          <a:effectLst/>
                          <a:latin typeface="Yekan Bakh" pitchFamily="2" charset="-78"/>
                          <a:ea typeface="Yekan Bakh" pitchFamily="2" charset="-78"/>
                          <a:cs typeface="Yekan Bakh" pitchFamily="2" charset="-78"/>
                        </a:rPr>
                        <a:t>دسترسی</a:t>
                      </a:r>
                    </a:p>
                    <a:p>
                      <a:pPr algn="ctr" rtl="1"/>
                      <a:r>
                        <a:rPr lang="en-US" sz="800" b="1" i="0" kern="1200" dirty="0">
                          <a:solidFill>
                            <a:srgbClr val="1E2761"/>
                          </a:solidFill>
                          <a:effectLst/>
                          <a:latin typeface="Yekan Bakh" pitchFamily="2" charset="-78"/>
                          <a:ea typeface="Yekan Bakh" pitchFamily="2" charset="-78"/>
                          <a:cs typeface="Yekan Bakh" pitchFamily="2" charset="-78"/>
                        </a:rPr>
                        <a:t>Access</a:t>
                      </a:r>
                      <a:endParaRPr lang="en-GB" sz="800" dirty="0">
                        <a:solidFill>
                          <a:srgbClr val="1E2761"/>
                        </a:solidFill>
                        <a:latin typeface="Yekan Bakh" pitchFamily="2" charset="-78"/>
                        <a:ea typeface="Yekan Bakh" pitchFamily="2" charset="-78"/>
                        <a:cs typeface="Yekan Bakh" pitchFamily="2" charset="-78"/>
                      </a:endParaRPr>
                    </a:p>
                  </a:txBody>
                  <a:tcPr marL="66318" marR="66318" marT="33159" marB="33159" anchor="ctr">
                    <a:solidFill>
                      <a:srgbClr val="1E2761">
                        <a:alpha val="20000"/>
                      </a:srgbClr>
                    </a:solidFill>
                  </a:tcPr>
                </a:tc>
                <a:extLst>
                  <a:ext uri="{0D108BD9-81ED-4DB2-BD59-A6C34878D82A}">
                    <a16:rowId xmlns:a16="http://schemas.microsoft.com/office/drawing/2014/main" val="553355467"/>
                  </a:ext>
                </a:extLst>
              </a:tr>
              <a:tr h="232103">
                <a:tc>
                  <a:txBody>
                    <a:bodyPr/>
                    <a:lstStyle/>
                    <a:p>
                      <a:pPr algn="r" rtl="1"/>
                      <a:r>
                        <a:rPr lang="fa-IR" sz="800" b="0" dirty="0">
                          <a:solidFill>
                            <a:schemeClr val="tx1">
                              <a:lumMod val="75000"/>
                              <a:lumOff val="25000"/>
                            </a:schemeClr>
                          </a:solidFill>
                          <a:latin typeface="Yekan Bakh" pitchFamily="2" charset="-78"/>
                          <a:ea typeface="Yekan Bakh" pitchFamily="2" charset="-78"/>
                          <a:cs typeface="Yekan Bakh" pitchFamily="2" charset="-78"/>
                        </a:rPr>
                        <a:t>معامله روی کاغذ درست است ولی هیچ‌کس اولین قدم را برنمی‌دارد؛ بن‌بست اعتماد</a:t>
                      </a:r>
                      <a:endParaRPr lang="en-GB" sz="800" b="0" dirty="0">
                        <a:solidFill>
                          <a:schemeClr val="tx1">
                            <a:lumMod val="75000"/>
                            <a:lumOff val="25000"/>
                          </a:schemeClr>
                        </a:solidFill>
                        <a:latin typeface="Yekan Bakh" pitchFamily="2" charset="-78"/>
                        <a:ea typeface="Yekan Bakh" pitchFamily="2" charset="-78"/>
                        <a:cs typeface="Yekan Bakh" pitchFamily="2" charset="-78"/>
                      </a:endParaRPr>
                    </a:p>
                  </a:txBody>
                  <a:tcPr marL="66318" marR="66318" marT="33159" marB="33159" anchor="ctr">
                    <a:solidFill>
                      <a:schemeClr val="bg1">
                        <a:lumMod val="95000"/>
                        <a:alpha val="20000"/>
                      </a:schemeClr>
                    </a:solidFill>
                  </a:tcPr>
                </a:tc>
                <a:tc>
                  <a:txBody>
                    <a:bodyPr/>
                    <a:lstStyle/>
                    <a:p>
                      <a:pPr algn="r" rtl="1"/>
                      <a:r>
                        <a:rPr lang="fa-IR" sz="800" b="0" i="0" kern="1200" dirty="0">
                          <a:solidFill>
                            <a:schemeClr val="tx1">
                              <a:lumMod val="75000"/>
                              <a:lumOff val="25000"/>
                            </a:schemeClr>
                          </a:solidFill>
                          <a:effectLst/>
                          <a:latin typeface="Yekan Bakh" pitchFamily="2" charset="-78"/>
                          <a:ea typeface="Yekan Bakh" pitchFamily="2" charset="-78"/>
                          <a:cs typeface="Yekan Bakh" pitchFamily="2" charset="-78"/>
                        </a:rPr>
                        <a:t>م۴٫۴–۴٫۵ (بانک و تأمین مالی) · م۷ (خروج)</a:t>
                      </a:r>
                      <a:endParaRPr lang="en-GB" sz="800" b="0" dirty="0">
                        <a:solidFill>
                          <a:schemeClr val="tx1">
                            <a:lumMod val="75000"/>
                            <a:lumOff val="25000"/>
                          </a:schemeClr>
                        </a:solidFill>
                        <a:latin typeface="Yekan Bakh" pitchFamily="2" charset="-78"/>
                        <a:ea typeface="Yekan Bakh" pitchFamily="2" charset="-78"/>
                        <a:cs typeface="Yekan Bakh" pitchFamily="2" charset="-78"/>
                      </a:endParaRPr>
                    </a:p>
                  </a:txBody>
                  <a:tcPr marL="66318" marR="66318" marT="33159" marB="33159" anchor="ctr">
                    <a:solidFill>
                      <a:schemeClr val="bg1">
                        <a:lumMod val="95000"/>
                        <a:alpha val="20000"/>
                      </a:schemeClr>
                    </a:solidFill>
                  </a:tcPr>
                </a:tc>
                <a:tc>
                  <a:txBody>
                    <a:bodyPr/>
                    <a:lstStyle/>
                    <a:p>
                      <a:pPr algn="r" rtl="1"/>
                      <a:r>
                        <a:rPr lang="fa-IR" sz="800" b="0" i="0" kern="1200" dirty="0">
                          <a:solidFill>
                            <a:schemeClr val="tx1">
                              <a:lumMod val="75000"/>
                              <a:lumOff val="25000"/>
                            </a:schemeClr>
                          </a:solidFill>
                          <a:effectLst/>
                          <a:latin typeface="Yekan Bakh" pitchFamily="2" charset="-78"/>
                          <a:ea typeface="Yekan Bakh" pitchFamily="2" charset="-78"/>
                          <a:cs typeface="Yekan Bakh" pitchFamily="2" charset="-78"/>
                        </a:rPr>
                        <a:t>پذیرش ریسکی که طرف مقابل حاضر به پذیرشش نیست: اعتباری، عملکردی، اجرایی</a:t>
                      </a:r>
                      <a:endParaRPr lang="en-GB" sz="800" b="0" dirty="0">
                        <a:solidFill>
                          <a:schemeClr val="tx1">
                            <a:lumMod val="75000"/>
                            <a:lumOff val="25000"/>
                          </a:schemeClr>
                        </a:solidFill>
                        <a:latin typeface="Yekan Bakh" pitchFamily="2" charset="-78"/>
                        <a:ea typeface="Yekan Bakh" pitchFamily="2" charset="-78"/>
                        <a:cs typeface="Yekan Bakh" pitchFamily="2" charset="-78"/>
                      </a:endParaRPr>
                    </a:p>
                  </a:txBody>
                  <a:tcPr marL="66318" marR="66318" marT="33159" marB="33159" anchor="ctr">
                    <a:solidFill>
                      <a:schemeClr val="bg1">
                        <a:lumMod val="95000"/>
                        <a:alpha val="20000"/>
                      </a:schemeClr>
                    </a:solidFill>
                  </a:tcPr>
                </a:tc>
                <a:tc>
                  <a:txBody>
                    <a:bodyPr/>
                    <a:lstStyle/>
                    <a:p>
                      <a:pPr algn="ctr" rtl="1"/>
                      <a:r>
                        <a:rPr lang="fa-IR" sz="800" b="1" i="0" kern="1200" dirty="0">
                          <a:solidFill>
                            <a:srgbClr val="1E2761"/>
                          </a:solidFill>
                          <a:effectLst/>
                          <a:latin typeface="Yekan Bakh" pitchFamily="2" charset="-78"/>
                          <a:ea typeface="Yekan Bakh" pitchFamily="2" charset="-78"/>
                          <a:cs typeface="Yekan Bakh" pitchFamily="2" charset="-78"/>
                        </a:rPr>
                        <a:t>تضمین</a:t>
                      </a:r>
                    </a:p>
                    <a:p>
                      <a:pPr algn="ctr" rtl="1"/>
                      <a:r>
                        <a:rPr lang="en-US" sz="800" b="1" i="0" kern="1200" dirty="0">
                          <a:solidFill>
                            <a:srgbClr val="1E2761"/>
                          </a:solidFill>
                          <a:effectLst/>
                          <a:latin typeface="Yekan Bakh" pitchFamily="2" charset="-78"/>
                          <a:ea typeface="Yekan Bakh" pitchFamily="2" charset="-78"/>
                          <a:cs typeface="Yekan Bakh" pitchFamily="2" charset="-78"/>
                        </a:rPr>
                        <a:t>Assurance</a:t>
                      </a:r>
                      <a:endParaRPr lang="en-GB" sz="800" dirty="0">
                        <a:solidFill>
                          <a:srgbClr val="1E2761"/>
                        </a:solidFill>
                        <a:latin typeface="Yekan Bakh" pitchFamily="2" charset="-78"/>
                        <a:ea typeface="Yekan Bakh" pitchFamily="2" charset="-78"/>
                        <a:cs typeface="Yekan Bakh" pitchFamily="2" charset="-78"/>
                      </a:endParaRPr>
                    </a:p>
                  </a:txBody>
                  <a:tcPr marL="66318" marR="66318" marT="33159" marB="33159" anchor="ctr">
                    <a:solidFill>
                      <a:schemeClr val="bg1">
                        <a:lumMod val="95000"/>
                        <a:alpha val="20000"/>
                      </a:schemeClr>
                    </a:solidFill>
                  </a:tcPr>
                </a:tc>
                <a:extLst>
                  <a:ext uri="{0D108BD9-81ED-4DB2-BD59-A6C34878D82A}">
                    <a16:rowId xmlns:a16="http://schemas.microsoft.com/office/drawing/2014/main" val="2827220959"/>
                  </a:ext>
                </a:extLst>
              </a:tr>
            </a:tbl>
          </a:graphicData>
        </a:graphic>
      </p:graphicFrame>
      <p:grpSp>
        <p:nvGrpSpPr>
          <p:cNvPr id="44" name="Group 43">
            <a:extLst>
              <a:ext uri="{FF2B5EF4-FFF2-40B4-BE49-F238E27FC236}">
                <a16:creationId xmlns:a16="http://schemas.microsoft.com/office/drawing/2014/main" id="{1D01753F-7500-0026-70D6-DE2551268770}"/>
              </a:ext>
            </a:extLst>
          </p:cNvPr>
          <p:cNvGrpSpPr/>
          <p:nvPr/>
        </p:nvGrpSpPr>
        <p:grpSpPr>
          <a:xfrm>
            <a:off x="533440" y="4404509"/>
            <a:ext cx="10710133" cy="276999"/>
            <a:chOff x="533440" y="1404482"/>
            <a:chExt cx="10710133" cy="276999"/>
          </a:xfrm>
        </p:grpSpPr>
        <p:sp>
          <p:nvSpPr>
            <p:cNvPr id="47" name="Left Bracket 46">
              <a:extLst>
                <a:ext uri="{FF2B5EF4-FFF2-40B4-BE49-F238E27FC236}">
                  <a16:creationId xmlns:a16="http://schemas.microsoft.com/office/drawing/2014/main" id="{E82983FF-8074-330B-7AED-31B65E947CBD}"/>
                </a:ext>
              </a:extLst>
            </p:cNvPr>
            <p:cNvSpPr/>
            <p:nvPr/>
          </p:nvSpPr>
          <p:spPr>
            <a:xfrm rot="5400000">
              <a:off x="5837486" y="-3762451"/>
              <a:ext cx="102042" cy="10710133"/>
            </a:xfrm>
            <a:prstGeom prst="leftBracket">
              <a:avLst>
                <a:gd name="adj" fmla="val 0"/>
              </a:avLst>
            </a:prstGeom>
            <a:ln>
              <a:solidFill>
                <a:srgbClr val="F0BE0F"/>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Calibri"/>
              </a:endParaRPr>
            </a:p>
          </p:txBody>
        </p:sp>
        <p:sp>
          <p:nvSpPr>
            <p:cNvPr id="48" name="TextBox 47">
              <a:extLst>
                <a:ext uri="{FF2B5EF4-FFF2-40B4-BE49-F238E27FC236}">
                  <a16:creationId xmlns:a16="http://schemas.microsoft.com/office/drawing/2014/main" id="{835EB6EE-B2DE-21FB-6C98-6E8AF9722929}"/>
                </a:ext>
              </a:extLst>
            </p:cNvPr>
            <p:cNvSpPr txBox="1"/>
            <p:nvPr/>
          </p:nvSpPr>
          <p:spPr>
            <a:xfrm>
              <a:off x="3995538" y="1404482"/>
              <a:ext cx="3711975" cy="276999"/>
            </a:xfrm>
            <a:prstGeom prst="rect">
              <a:avLst/>
            </a:prstGeom>
            <a:solidFill>
              <a:schemeClr val="bg1"/>
            </a:solidFill>
          </p:spPr>
          <p:txBody>
            <a:bodyPr wrap="square"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2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سه کارکرد </a:t>
              </a:r>
              <a:r>
                <a:rPr kumimoji="0" lang="en-US" sz="12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Being، </a:t>
              </a:r>
              <a:r>
                <a:rPr kumimoji="0" lang="fa-IR" sz="12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بازخوانی‌شده در زبان زنجیره ارزش</a:t>
              </a:r>
            </a:p>
          </p:txBody>
        </p:sp>
      </p:grpSp>
      <p:grpSp>
        <p:nvGrpSpPr>
          <p:cNvPr id="14" name="Group 13">
            <a:extLst>
              <a:ext uri="{FF2B5EF4-FFF2-40B4-BE49-F238E27FC236}">
                <a16:creationId xmlns:a16="http://schemas.microsoft.com/office/drawing/2014/main" id="{5C2300FC-0BBA-333B-9592-3066C23C22E0}"/>
              </a:ext>
            </a:extLst>
          </p:cNvPr>
          <p:cNvGrpSpPr/>
          <p:nvPr/>
        </p:nvGrpSpPr>
        <p:grpSpPr>
          <a:xfrm>
            <a:off x="533440" y="3470043"/>
            <a:ext cx="10710132" cy="838856"/>
            <a:chOff x="533440" y="3512336"/>
            <a:chExt cx="10710132" cy="838856"/>
          </a:xfrm>
        </p:grpSpPr>
        <p:sp>
          <p:nvSpPr>
            <p:cNvPr id="45" name="Rectangle: Rounded Corners 44">
              <a:extLst>
                <a:ext uri="{FF2B5EF4-FFF2-40B4-BE49-F238E27FC236}">
                  <a16:creationId xmlns:a16="http://schemas.microsoft.com/office/drawing/2014/main" id="{6DDFB9EB-CC26-0BBC-062B-5603CBCDAF43}"/>
                </a:ext>
              </a:extLst>
            </p:cNvPr>
            <p:cNvSpPr/>
            <p:nvPr/>
          </p:nvSpPr>
          <p:spPr>
            <a:xfrm>
              <a:off x="9819138" y="3512337"/>
              <a:ext cx="1424434" cy="838855"/>
            </a:xfrm>
            <a:prstGeom prst="roundRect">
              <a:avLst/>
            </a:prstGeom>
            <a:solidFill>
              <a:schemeClr val="bg1">
                <a:lumMod val="95000"/>
                <a:alpha val="42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100" b="1" i="0" u="none" strike="noStrike" kern="1200" cap="none" spc="0" normalizeH="0" baseline="0" noProof="0" dirty="0">
                  <a:ln>
                    <a:noFill/>
                  </a:ln>
                  <a:solidFill>
                    <a:srgbClr val="3242A4"/>
                  </a:solidFill>
                  <a:effectLst/>
                  <a:uLnTx/>
                  <a:uFillTx/>
                  <a:latin typeface="Yekan Bakh" pitchFamily="2" charset="-78"/>
                  <a:ea typeface="Yekan Bakh" pitchFamily="2" charset="-78"/>
                  <a:cs typeface="Yekan Bakh" pitchFamily="2" charset="-78"/>
                </a:rPr>
                <a:t>دو دارایی مرزی</a:t>
              </a:r>
            </a:p>
          </p:txBody>
        </p:sp>
        <p:sp>
          <p:nvSpPr>
            <p:cNvPr id="52" name="Rectangle: Rounded Corners 51">
              <a:extLst>
                <a:ext uri="{FF2B5EF4-FFF2-40B4-BE49-F238E27FC236}">
                  <a16:creationId xmlns:a16="http://schemas.microsoft.com/office/drawing/2014/main" id="{72AA683A-2491-9437-9FB7-E79B40C1BB3D}"/>
                </a:ext>
              </a:extLst>
            </p:cNvPr>
            <p:cNvSpPr/>
            <p:nvPr/>
          </p:nvSpPr>
          <p:spPr>
            <a:xfrm>
              <a:off x="533440" y="3512337"/>
              <a:ext cx="8852100" cy="395182"/>
            </a:xfrm>
            <a:prstGeom prst="roundRect">
              <a:avLst/>
            </a:prstGeom>
            <a:solidFill>
              <a:srgbClr val="3242A4">
                <a:alpha val="7000"/>
              </a:srgb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600"/>
                </a:spcAft>
                <a:buClrTx/>
                <a:buSzTx/>
                <a:buFontTx/>
                <a:buNone/>
                <a:tabLst/>
                <a:defRPr/>
              </a:pPr>
              <a:r>
                <a:rPr kumimoji="0" lang="fa-IR" sz="9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قضاوت (</a:t>
              </a:r>
              <a:r>
                <a:rPr kumimoji="0" lang="en-GB" sz="9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Judgment</a:t>
              </a:r>
              <a:r>
                <a:rPr kumimoji="0" lang="fa-IR" sz="9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 </a:t>
              </a:r>
              <a:r>
                <a:rPr kumimoji="0" lang="fa-IR"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تشخیص الگو در نقاط تصمیم. </a:t>
              </a:r>
              <a:r>
                <a:rPr kumimoji="0" lang="fa-IR" sz="800" b="1" i="0" u="none" strike="noStrike" kern="1200" cap="none" spc="0" normalizeH="0" baseline="0" noProof="0" dirty="0">
                  <a:ln>
                    <a:noFill/>
                  </a:ln>
                  <a:solidFill>
                    <a:srgbClr val="3242A4"/>
                  </a:solidFill>
                  <a:effectLst/>
                  <a:highlight>
                    <a:srgbClr val="F0BE0F"/>
                  </a:highlight>
                  <a:uLnTx/>
                  <a:uFillTx/>
                  <a:latin typeface="Yekan Bakh" pitchFamily="2" charset="-78"/>
                  <a:ea typeface="Yekan Bakh" pitchFamily="2" charset="-78"/>
                  <a:cs typeface="Yekan Bakh" pitchFamily="2" charset="-78"/>
                </a:rPr>
                <a:t>مرزی</a:t>
              </a:r>
              <a:r>
                <a:rPr kumimoji="0" lang="fa-IR"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 تا وقتی در لحظات تصمیم اعمال شود </a:t>
              </a:r>
              <a:r>
                <a:rPr kumimoji="0" lang="en-GB"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Being</a:t>
              </a:r>
              <a:r>
                <a:rPr kumimoji="0" lang="fa-IR"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 است؛ به‌محض اینکه به فرایند روزمره تبدیل شود،</a:t>
              </a:r>
              <a:r>
                <a:rPr kumimoji="0" lang="en-GB"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Doing </a:t>
              </a:r>
              <a:r>
                <a:rPr kumimoji="0" lang="fa-IR"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است. مرز عملی: قضاوت در کمیته سرمایه‌گذاری = </a:t>
              </a:r>
              <a:r>
                <a:rPr kumimoji="0" lang="en-GB"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Being؛ </a:t>
              </a:r>
              <a:r>
                <a:rPr kumimoji="0" lang="fa-IR"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قضاوت در جلسه هفتگی پروژه = </a:t>
              </a:r>
              <a:r>
                <a:rPr kumimoji="0" lang="en-GB"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Doing</a:t>
              </a:r>
              <a:r>
                <a:rPr kumimoji="0" lang="fa-IR"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a:t>
              </a:r>
              <a:endParaRPr kumimoji="0" lang="en-GB"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endParaRPr>
            </a:p>
          </p:txBody>
        </p:sp>
        <p:sp>
          <p:nvSpPr>
            <p:cNvPr id="5" name="Rectangle: Rounded Corners 4">
              <a:extLst>
                <a:ext uri="{FF2B5EF4-FFF2-40B4-BE49-F238E27FC236}">
                  <a16:creationId xmlns:a16="http://schemas.microsoft.com/office/drawing/2014/main" id="{CFD1DE67-893C-7046-270B-D4A6D49C1235}"/>
                </a:ext>
              </a:extLst>
            </p:cNvPr>
            <p:cNvSpPr/>
            <p:nvPr/>
          </p:nvSpPr>
          <p:spPr>
            <a:xfrm>
              <a:off x="533440" y="3956010"/>
              <a:ext cx="8852100" cy="395182"/>
            </a:xfrm>
            <a:prstGeom prst="roundRect">
              <a:avLst/>
            </a:prstGeom>
            <a:solidFill>
              <a:srgbClr val="3242A4">
                <a:alpha val="7000"/>
              </a:srgb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600"/>
                </a:spcAft>
                <a:buClrTx/>
                <a:buSzTx/>
                <a:buFontTx/>
                <a:buNone/>
                <a:tabLst/>
                <a:defRPr/>
              </a:pPr>
              <a:r>
                <a:rPr kumimoji="0" lang="fa-IR" sz="9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مالکیت (</a:t>
              </a:r>
              <a:r>
                <a:rPr kumimoji="0" lang="en-US" sz="9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Ownership</a:t>
              </a:r>
              <a:r>
                <a:rPr kumimoji="0" lang="fa-IR" sz="9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 </a:t>
              </a:r>
              <a:r>
                <a:rPr kumimoji="0" lang="fa-IR"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شرکت‌ها، مجوزها، زمین، شبکه توزیع موجود. </a:t>
              </a:r>
              <a:r>
                <a:rPr kumimoji="0" lang="en-US" sz="800" b="1" i="0" u="none" strike="noStrike" kern="1200" cap="none" spc="0" normalizeH="0" baseline="0" noProof="0" dirty="0">
                  <a:ln>
                    <a:noFill/>
                  </a:ln>
                  <a:solidFill>
                    <a:srgbClr val="3242A4"/>
                  </a:solidFill>
                  <a:effectLst/>
                  <a:highlight>
                    <a:srgbClr val="F0BE0F"/>
                  </a:highlight>
                  <a:uLnTx/>
                  <a:uFillTx/>
                  <a:latin typeface="Yekan Bakh" pitchFamily="2" charset="-78"/>
                  <a:ea typeface="Yekan Bakh" pitchFamily="2" charset="-78"/>
                  <a:cs typeface="Yekan Bakh" pitchFamily="2" charset="-78"/>
                </a:rPr>
                <a:t>Being</a:t>
              </a:r>
              <a:r>
                <a:rPr kumimoji="0" lang="fa-IR" sz="800" b="1" i="0" u="none" strike="noStrike" kern="1200" cap="none" spc="0" normalizeH="0" baseline="0" noProof="0" dirty="0">
                  <a:ln>
                    <a:noFill/>
                  </a:ln>
                  <a:solidFill>
                    <a:srgbClr val="3242A4"/>
                  </a:solidFill>
                  <a:effectLst/>
                  <a:highlight>
                    <a:srgbClr val="F0BE0F"/>
                  </a:highlight>
                  <a:uLnTx/>
                  <a:uFillTx/>
                  <a:latin typeface="Yekan Bakh" pitchFamily="2" charset="-78"/>
                  <a:ea typeface="Yekan Bakh" pitchFamily="2" charset="-78"/>
                  <a:cs typeface="Yekan Bakh" pitchFamily="2" charset="-78"/>
                </a:rPr>
                <a:t> ساختاری </a:t>
              </a:r>
              <a:r>
                <a:rPr kumimoji="0" lang="fa-IR"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این دارایی «آنچه هستید» است نه «آنچه می‌کنید»؛ اجاره‌دادنش هیچ ساعتی از بنیان‌گذار نمی‌گیرد. در کریدور ایران این یکی از قوی‌ترین دارایی‌هاست: شرکت خارجی که نمی‌تواند به‌راحتی نهاد ثبت کند، از نهاد شما استفاده می‌کند.</a:t>
              </a:r>
              <a:endParaRPr kumimoji="0" lang="en-GB"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endParaRPr>
            </a:p>
          </p:txBody>
        </p:sp>
        <p:grpSp>
          <p:nvGrpSpPr>
            <p:cNvPr id="8" name="Group 7">
              <a:extLst>
                <a:ext uri="{FF2B5EF4-FFF2-40B4-BE49-F238E27FC236}">
                  <a16:creationId xmlns:a16="http://schemas.microsoft.com/office/drawing/2014/main" id="{26FB0207-2F76-9380-B02E-4FF0C53A193A}"/>
                </a:ext>
              </a:extLst>
            </p:cNvPr>
            <p:cNvGrpSpPr/>
            <p:nvPr/>
          </p:nvGrpSpPr>
          <p:grpSpPr>
            <a:xfrm>
              <a:off x="9535778" y="3512336"/>
              <a:ext cx="129471" cy="838855"/>
              <a:chOff x="9118360" y="4916799"/>
              <a:chExt cx="129471" cy="374400"/>
            </a:xfrm>
          </p:grpSpPr>
          <p:cxnSp>
            <p:nvCxnSpPr>
              <p:cNvPr id="10" name="Straight Connector 9">
                <a:extLst>
                  <a:ext uri="{FF2B5EF4-FFF2-40B4-BE49-F238E27FC236}">
                    <a16:creationId xmlns:a16="http://schemas.microsoft.com/office/drawing/2014/main" id="{39E55B43-590C-7261-AFC3-824604594288}"/>
                  </a:ext>
                </a:extLst>
              </p:cNvPr>
              <p:cNvCxnSpPr>
                <a:cxnSpLocks/>
              </p:cNvCxnSpPr>
              <p:nvPr/>
            </p:nvCxnSpPr>
            <p:spPr>
              <a:xfrm>
                <a:off x="9247831" y="4916799"/>
                <a:ext cx="0" cy="374400"/>
              </a:xfrm>
              <a:prstGeom prst="line">
                <a:avLst/>
              </a:prstGeom>
              <a:ln>
                <a:solidFill>
                  <a:srgbClr val="F0BE0F"/>
                </a:solidFill>
                <a:prstDash val="dash"/>
              </a:ln>
            </p:spPr>
            <p:style>
              <a:lnRef idx="1">
                <a:schemeClr val="accent1"/>
              </a:lnRef>
              <a:fillRef idx="0">
                <a:schemeClr val="accent1"/>
              </a:fillRef>
              <a:effectRef idx="0">
                <a:schemeClr val="accent1"/>
              </a:effectRef>
              <a:fontRef idx="minor">
                <a:schemeClr val="tx1"/>
              </a:fontRef>
            </p:style>
          </p:cxnSp>
          <p:sp>
            <p:nvSpPr>
              <p:cNvPr id="12" name="Isosceles Triangle 11">
                <a:extLst>
                  <a:ext uri="{FF2B5EF4-FFF2-40B4-BE49-F238E27FC236}">
                    <a16:creationId xmlns:a16="http://schemas.microsoft.com/office/drawing/2014/main" id="{4DD35C72-3FA5-B95B-F476-A6A2E9065C64}"/>
                  </a:ext>
                </a:extLst>
              </p:cNvPr>
              <p:cNvSpPr/>
              <p:nvPr/>
            </p:nvSpPr>
            <p:spPr>
              <a:xfrm rot="16200000">
                <a:off x="8982143" y="5053016"/>
                <a:ext cx="374399" cy="101965"/>
              </a:xfrm>
              <a:prstGeom prst="triangle">
                <a:avLst/>
              </a:prstGeom>
              <a:solidFill>
                <a:srgbClr val="F0BE0F">
                  <a:alpha val="5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Calibri"/>
                </a:endParaRPr>
              </a:p>
            </p:txBody>
          </p:sp>
        </p:grpSp>
      </p:grpSp>
    </p:spTree>
    <p:extLst>
      <p:ext uri="{BB962C8B-B14F-4D97-AF65-F5344CB8AC3E}">
        <p14:creationId xmlns:p14="http://schemas.microsoft.com/office/powerpoint/2010/main" val="329950417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471698B-5843-0230-5201-58EA2D17CE4D}"/>
              </a:ext>
            </a:extLst>
          </p:cNvPr>
          <p:cNvSpPr>
            <a:spLocks noGrp="1"/>
          </p:cNvSpPr>
          <p:nvPr>
            <p:ph type="body" sz="quarter" idx="10"/>
          </p:nvPr>
        </p:nvSpPr>
        <p:spPr/>
        <p:txBody>
          <a:bodyPr/>
          <a:lstStyle/>
          <a:p>
            <a:endParaRPr lang="en-GB"/>
          </a:p>
        </p:txBody>
      </p:sp>
      <p:sp>
        <p:nvSpPr>
          <p:cNvPr id="3" name="Text Placeholder 2">
            <a:extLst>
              <a:ext uri="{FF2B5EF4-FFF2-40B4-BE49-F238E27FC236}">
                <a16:creationId xmlns:a16="http://schemas.microsoft.com/office/drawing/2014/main" id="{12B45E75-1612-F5B0-AA4C-AABDC38FAB96}"/>
              </a:ext>
            </a:extLst>
          </p:cNvPr>
          <p:cNvSpPr>
            <a:spLocks noGrp="1"/>
          </p:cNvSpPr>
          <p:nvPr>
            <p:ph type="body" sz="quarter" idx="12"/>
          </p:nvPr>
        </p:nvSpPr>
        <p:spPr/>
        <p:txBody>
          <a:bodyPr/>
          <a:lstStyle/>
          <a:p>
            <a:endParaRPr lang="en-GB" dirty="0"/>
          </a:p>
        </p:txBody>
      </p:sp>
      <p:graphicFrame>
        <p:nvGraphicFramePr>
          <p:cNvPr id="4" name="Table 3">
            <a:extLst>
              <a:ext uri="{FF2B5EF4-FFF2-40B4-BE49-F238E27FC236}">
                <a16:creationId xmlns:a16="http://schemas.microsoft.com/office/drawing/2014/main" id="{61215A75-7097-F1D2-D0B3-82A5A1B04609}"/>
              </a:ext>
            </a:extLst>
          </p:cNvPr>
          <p:cNvGraphicFramePr>
            <a:graphicFrameLocks noGrp="1"/>
          </p:cNvGraphicFramePr>
          <p:nvPr/>
        </p:nvGraphicFramePr>
        <p:xfrm>
          <a:off x="496459" y="2113472"/>
          <a:ext cx="10710132" cy="3660945"/>
        </p:xfrm>
        <a:graphic>
          <a:graphicData uri="http://schemas.openxmlformats.org/drawingml/2006/table">
            <a:tbl>
              <a:tblPr firstRow="1" bandRow="1">
                <a:tableStyleId>{5C22544A-7EE6-4342-B048-85BDC9FD1C3A}</a:tableStyleId>
              </a:tblPr>
              <a:tblGrid>
                <a:gridCol w="2677533">
                  <a:extLst>
                    <a:ext uri="{9D8B030D-6E8A-4147-A177-3AD203B41FA5}">
                      <a16:colId xmlns:a16="http://schemas.microsoft.com/office/drawing/2014/main" val="2548669166"/>
                    </a:ext>
                  </a:extLst>
                </a:gridCol>
                <a:gridCol w="5179433">
                  <a:extLst>
                    <a:ext uri="{9D8B030D-6E8A-4147-A177-3AD203B41FA5}">
                      <a16:colId xmlns:a16="http://schemas.microsoft.com/office/drawing/2014/main" val="2656273839"/>
                    </a:ext>
                  </a:extLst>
                </a:gridCol>
                <a:gridCol w="2360583">
                  <a:extLst>
                    <a:ext uri="{9D8B030D-6E8A-4147-A177-3AD203B41FA5}">
                      <a16:colId xmlns:a16="http://schemas.microsoft.com/office/drawing/2014/main" val="2026430514"/>
                    </a:ext>
                  </a:extLst>
                </a:gridCol>
                <a:gridCol w="492583">
                  <a:extLst>
                    <a:ext uri="{9D8B030D-6E8A-4147-A177-3AD203B41FA5}">
                      <a16:colId xmlns:a16="http://schemas.microsoft.com/office/drawing/2014/main" val="414381875"/>
                    </a:ext>
                  </a:extLst>
                </a:gridCol>
              </a:tblGrid>
              <a:tr h="281295">
                <a:tc>
                  <a:txBody>
                    <a:bodyPr/>
                    <a:lstStyle/>
                    <a:p>
                      <a:pPr algn="ctr" rtl="1"/>
                      <a:r>
                        <a:rPr lang="fa-IR" sz="1000" dirty="0">
                          <a:latin typeface="Yekan Bakh" pitchFamily="2" charset="-78"/>
                          <a:ea typeface="Yekan Bakh" pitchFamily="2" charset="-78"/>
                          <a:cs typeface="Yekan Bakh" pitchFamily="2" charset="-78"/>
                        </a:rPr>
                        <a:t>قاعده تجمیع گروهی</a:t>
                      </a:r>
                      <a:endParaRPr lang="en-GB" sz="1000" dirty="0">
                        <a:latin typeface="Yekan Bakh" pitchFamily="2" charset="-78"/>
                        <a:ea typeface="Yekan Bakh" pitchFamily="2" charset="-78"/>
                        <a:cs typeface="Yekan Bakh" pitchFamily="2" charset="-78"/>
                      </a:endParaRPr>
                    </a:p>
                  </a:txBody>
                  <a:tcPr marL="68621" marR="68621" marT="34310" marB="34310" anchor="ctr">
                    <a:solidFill>
                      <a:srgbClr val="1E2761"/>
                    </a:solidFill>
                  </a:tcPr>
                </a:tc>
                <a:tc>
                  <a:txBody>
                    <a:bodyPr/>
                    <a:lstStyle/>
                    <a:p>
                      <a:pPr algn="ctr" rtl="1"/>
                      <a:r>
                        <a:rPr lang="fa-IR" sz="1000" dirty="0">
                          <a:latin typeface="Yekan Bakh" pitchFamily="2" charset="-78"/>
                          <a:ea typeface="Yekan Bakh" pitchFamily="2" charset="-78"/>
                          <a:cs typeface="Yekan Bakh" pitchFamily="2" charset="-78"/>
                        </a:rPr>
                        <a:t>تعریف و لنگر امتیاز ۵</a:t>
                      </a:r>
                      <a:endParaRPr lang="en-GB" sz="1000" dirty="0">
                        <a:latin typeface="Yekan Bakh" pitchFamily="2" charset="-78"/>
                        <a:ea typeface="Yekan Bakh" pitchFamily="2" charset="-78"/>
                        <a:cs typeface="Yekan Bakh" pitchFamily="2" charset="-78"/>
                      </a:endParaRPr>
                    </a:p>
                  </a:txBody>
                  <a:tcPr marL="68621" marR="68621" marT="34310" marB="34310" anchor="ctr">
                    <a:solidFill>
                      <a:srgbClr val="1E2761"/>
                    </a:solidFill>
                  </a:tcPr>
                </a:tc>
                <a:tc>
                  <a:txBody>
                    <a:bodyPr/>
                    <a:lstStyle/>
                    <a:p>
                      <a:pPr algn="ctr" rtl="1"/>
                      <a:r>
                        <a:rPr lang="fa-IR" sz="1000" dirty="0">
                          <a:latin typeface="Yekan Bakh" pitchFamily="2" charset="-78"/>
                          <a:ea typeface="Yekan Bakh" pitchFamily="2" charset="-78"/>
                          <a:cs typeface="Yekan Bakh" pitchFamily="2" charset="-78"/>
                        </a:rPr>
                        <a:t>بعد</a:t>
                      </a:r>
                      <a:endParaRPr lang="en-GB" sz="1000" dirty="0">
                        <a:latin typeface="Yekan Bakh" pitchFamily="2" charset="-78"/>
                        <a:ea typeface="Yekan Bakh" pitchFamily="2" charset="-78"/>
                        <a:cs typeface="Yekan Bakh" pitchFamily="2" charset="-78"/>
                      </a:endParaRPr>
                    </a:p>
                  </a:txBody>
                  <a:tcPr marL="68621" marR="68621" marT="34310" marB="34310" anchor="ctr">
                    <a:solidFill>
                      <a:srgbClr val="1E2761"/>
                    </a:solidFill>
                  </a:tcPr>
                </a:tc>
                <a:tc>
                  <a:txBody>
                    <a:bodyPr/>
                    <a:lstStyle/>
                    <a:p>
                      <a:pPr algn="ctr" rtl="1"/>
                      <a:r>
                        <a:rPr lang="fa-IR" sz="1000" dirty="0">
                          <a:latin typeface="Yekan Bakh" pitchFamily="2" charset="-78"/>
                          <a:ea typeface="Yekan Bakh" pitchFamily="2" charset="-78"/>
                          <a:cs typeface="Yekan Bakh" pitchFamily="2" charset="-78"/>
                        </a:rPr>
                        <a:t>کد</a:t>
                      </a:r>
                      <a:endParaRPr lang="en-GB" sz="1000" dirty="0">
                        <a:latin typeface="Yekan Bakh" pitchFamily="2" charset="-78"/>
                        <a:ea typeface="Yekan Bakh" pitchFamily="2" charset="-78"/>
                        <a:cs typeface="Yekan Bakh" pitchFamily="2" charset="-78"/>
                      </a:endParaRPr>
                    </a:p>
                  </a:txBody>
                  <a:tcPr marL="68621" marR="68621" marT="34310" marB="34310" anchor="ctr">
                    <a:solidFill>
                      <a:srgbClr val="1E2761"/>
                    </a:solidFill>
                  </a:tcPr>
                </a:tc>
                <a:extLst>
                  <a:ext uri="{0D108BD9-81ED-4DB2-BD59-A6C34878D82A}">
                    <a16:rowId xmlns:a16="http://schemas.microsoft.com/office/drawing/2014/main" val="1190276793"/>
                  </a:ext>
                </a:extLst>
              </a:tr>
              <a:tr h="281295">
                <a:tc>
                  <a:txBody>
                    <a:bodyPr/>
                    <a:lstStyle/>
                    <a:p>
                      <a:pPr algn="r" rtl="1"/>
                      <a:r>
                        <a:rPr lang="en-US" sz="800" b="1" i="0" kern="1200" dirty="0" err="1">
                          <a:solidFill>
                            <a:schemeClr val="tx1">
                              <a:lumMod val="75000"/>
                              <a:lumOff val="25000"/>
                            </a:schemeClr>
                          </a:solidFill>
                          <a:effectLst/>
                          <a:latin typeface="Yekan Bakh" pitchFamily="2" charset="-78"/>
                          <a:ea typeface="Yekan Bakh" pitchFamily="2" charset="-78"/>
                          <a:cs typeface="Yekan Bakh" pitchFamily="2" charset="-78"/>
                        </a:rPr>
                        <a:t>بیشینه</a:t>
                      </a:r>
                      <a:r>
                        <a:rPr lang="en-US" sz="800" b="0" i="0" kern="1200" dirty="0">
                          <a:solidFill>
                            <a:schemeClr val="tx1">
                              <a:lumMod val="75000"/>
                              <a:lumOff val="25000"/>
                            </a:schemeClr>
                          </a:solidFill>
                          <a:effectLst/>
                          <a:latin typeface="Yekan Bakh" pitchFamily="2" charset="-78"/>
                          <a:ea typeface="Yekan Bakh" pitchFamily="2" charset="-78"/>
                          <a:cs typeface="Yekan Bakh" pitchFamily="2" charset="-78"/>
                        </a:rPr>
                        <a:t> — </a:t>
                      </a:r>
                      <a:r>
                        <a:rPr lang="en-US" sz="800" b="0" i="0" kern="1200" dirty="0" err="1">
                          <a:solidFill>
                            <a:schemeClr val="tx1">
                              <a:lumMod val="75000"/>
                              <a:lumOff val="25000"/>
                            </a:schemeClr>
                          </a:solidFill>
                          <a:effectLst/>
                          <a:latin typeface="Yekan Bakh" pitchFamily="2" charset="-78"/>
                          <a:ea typeface="Yekan Bakh" pitchFamily="2" charset="-78"/>
                          <a:cs typeface="Yekan Bakh" pitchFamily="2" charset="-78"/>
                        </a:rPr>
                        <a:t>معتبرترین</a:t>
                      </a:r>
                      <a:r>
                        <a:rPr lang="en-US" sz="8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800" b="0" i="0" kern="1200" dirty="0" err="1">
                          <a:solidFill>
                            <a:schemeClr val="tx1">
                              <a:lumMod val="75000"/>
                              <a:lumOff val="25000"/>
                            </a:schemeClr>
                          </a:solidFill>
                          <a:effectLst/>
                          <a:latin typeface="Yekan Bakh" pitchFamily="2" charset="-78"/>
                          <a:ea typeface="Yekan Bakh" pitchFamily="2" charset="-78"/>
                          <a:cs typeface="Yekan Bakh" pitchFamily="2" charset="-78"/>
                        </a:rPr>
                        <a:t>فرد</a:t>
                      </a:r>
                      <a:r>
                        <a:rPr lang="en-US" sz="8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800" b="0" i="0" kern="1200" dirty="0" err="1">
                          <a:solidFill>
                            <a:schemeClr val="tx1">
                              <a:lumMod val="75000"/>
                              <a:lumOff val="25000"/>
                            </a:schemeClr>
                          </a:solidFill>
                          <a:effectLst/>
                          <a:latin typeface="Yekan Bakh" pitchFamily="2" charset="-78"/>
                          <a:ea typeface="Yekan Bakh" pitchFamily="2" charset="-78"/>
                          <a:cs typeface="Yekan Bakh" pitchFamily="2" charset="-78"/>
                        </a:rPr>
                        <a:t>استاندارد</a:t>
                      </a:r>
                      <a:r>
                        <a:rPr lang="en-US" sz="8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800" b="0" i="0" kern="1200" dirty="0" err="1">
                          <a:solidFill>
                            <a:schemeClr val="tx1">
                              <a:lumMod val="75000"/>
                              <a:lumOff val="25000"/>
                            </a:schemeClr>
                          </a:solidFill>
                          <a:effectLst/>
                          <a:latin typeface="Yekan Bakh" pitchFamily="2" charset="-78"/>
                          <a:ea typeface="Yekan Bakh" pitchFamily="2" charset="-78"/>
                          <a:cs typeface="Yekan Bakh" pitchFamily="2" charset="-78"/>
                        </a:rPr>
                        <a:t>برند</a:t>
                      </a:r>
                      <a:r>
                        <a:rPr lang="en-US" sz="8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800" b="0" i="0" kern="1200" dirty="0" err="1">
                          <a:solidFill>
                            <a:schemeClr val="tx1">
                              <a:lumMod val="75000"/>
                              <a:lumOff val="25000"/>
                            </a:schemeClr>
                          </a:solidFill>
                          <a:effectLst/>
                          <a:latin typeface="Yekan Bakh" pitchFamily="2" charset="-78"/>
                          <a:ea typeface="Yekan Bakh" pitchFamily="2" charset="-78"/>
                          <a:cs typeface="Yekan Bakh" pitchFamily="2" charset="-78"/>
                        </a:rPr>
                        <a:t>را</a:t>
                      </a:r>
                      <a:r>
                        <a:rPr lang="en-US" sz="8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800" b="0" i="0" kern="1200" dirty="0" err="1">
                          <a:solidFill>
                            <a:schemeClr val="tx1">
                              <a:lumMod val="75000"/>
                              <a:lumOff val="25000"/>
                            </a:schemeClr>
                          </a:solidFill>
                          <a:effectLst/>
                          <a:latin typeface="Yekan Bakh" pitchFamily="2" charset="-78"/>
                          <a:ea typeface="Yekan Bakh" pitchFamily="2" charset="-78"/>
                          <a:cs typeface="Yekan Bakh" pitchFamily="2" charset="-78"/>
                        </a:rPr>
                        <a:t>تعیین</a:t>
                      </a:r>
                      <a:r>
                        <a:rPr lang="en-US" sz="8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800" b="0" i="0" kern="1200" dirty="0" err="1">
                          <a:solidFill>
                            <a:schemeClr val="tx1">
                              <a:lumMod val="75000"/>
                              <a:lumOff val="25000"/>
                            </a:schemeClr>
                          </a:solidFill>
                          <a:effectLst/>
                          <a:latin typeface="Yekan Bakh" pitchFamily="2" charset="-78"/>
                          <a:ea typeface="Yekan Bakh" pitchFamily="2" charset="-78"/>
                          <a:cs typeface="Yekan Bakh" pitchFamily="2" charset="-78"/>
                        </a:rPr>
                        <a:t>می‌کند</a:t>
                      </a:r>
                      <a:endParaRPr lang="en-GB" sz="800" dirty="0">
                        <a:solidFill>
                          <a:schemeClr val="tx1">
                            <a:lumMod val="75000"/>
                            <a:lumOff val="25000"/>
                          </a:schemeClr>
                        </a:solidFill>
                        <a:latin typeface="Yekan Bakh" pitchFamily="2" charset="-78"/>
                        <a:ea typeface="Yekan Bakh" pitchFamily="2" charset="-78"/>
                        <a:cs typeface="Yekan Bakh" pitchFamily="2" charset="-78"/>
                      </a:endParaRPr>
                    </a:p>
                  </a:txBody>
                  <a:tcPr marL="68621" marR="68621" marT="34310" marB="34310" anchor="ctr">
                    <a:solidFill>
                      <a:schemeClr val="bg1">
                        <a:lumMod val="85000"/>
                        <a:alpha val="20000"/>
                      </a:schemeClr>
                    </a:solidFill>
                  </a:tcPr>
                </a:tc>
                <a:tc>
                  <a:txBody>
                    <a:bodyPr/>
                    <a:lstStyle/>
                    <a:p>
                      <a:pPr algn="r" rtl="1"/>
                      <a:r>
                        <a:rPr lang="fa-IR" sz="700" dirty="0">
                          <a:solidFill>
                            <a:schemeClr val="tx1">
                              <a:lumMod val="75000"/>
                              <a:lumOff val="25000"/>
                            </a:schemeClr>
                          </a:solidFill>
                          <a:latin typeface="Yekan Bakh" pitchFamily="2" charset="-78"/>
                          <a:ea typeface="Yekan Bakh" pitchFamily="2" charset="-78"/>
                          <a:cs typeface="Yekan Bakh" pitchFamily="2" charset="-78"/>
                        </a:rPr>
                        <a:t>نام شما در بازار ایران شناخته‌شده است و حضورتان به یک معامله مشروعیت می‌دهد. ۵ = نامتان به‌تنهایی درِ اکثر شرکت‌های بزرگ را باز می‌کند.</a:t>
                      </a:r>
                      <a:endParaRPr lang="en-GB" sz="700" dirty="0">
                        <a:solidFill>
                          <a:schemeClr val="tx1">
                            <a:lumMod val="75000"/>
                            <a:lumOff val="25000"/>
                          </a:schemeClr>
                        </a:solidFill>
                        <a:latin typeface="Yekan Bakh" pitchFamily="2" charset="-78"/>
                        <a:ea typeface="Yekan Bakh" pitchFamily="2" charset="-78"/>
                        <a:cs typeface="Yekan Bakh" pitchFamily="2" charset="-78"/>
                      </a:endParaRPr>
                    </a:p>
                  </a:txBody>
                  <a:tcPr marL="68621" marR="68621" marT="34310" marB="34310" anchor="ctr">
                    <a:solidFill>
                      <a:schemeClr val="bg1">
                        <a:lumMod val="85000"/>
                        <a:alpha val="20000"/>
                      </a:schemeClr>
                    </a:solidFill>
                  </a:tcPr>
                </a:tc>
                <a:tc>
                  <a:txBody>
                    <a:bodyPr/>
                    <a:lstStyle/>
                    <a:p>
                      <a:pPr algn="ctr" rtl="1"/>
                      <a:r>
                        <a:rPr lang="en-US" sz="900" b="0" i="0" kern="1200" dirty="0" err="1">
                          <a:solidFill>
                            <a:srgbClr val="1E2761"/>
                          </a:solidFill>
                          <a:effectLst/>
                          <a:latin typeface="Yekan Bakh" pitchFamily="2" charset="-78"/>
                          <a:ea typeface="Yekan Bakh" pitchFamily="2" charset="-78"/>
                          <a:cs typeface="Yekan Bakh" pitchFamily="2" charset="-78"/>
                        </a:rPr>
                        <a:t>اعتبار</a:t>
                      </a:r>
                      <a:r>
                        <a:rPr lang="en-US" sz="900" b="0" i="0" kern="1200" dirty="0">
                          <a:solidFill>
                            <a:srgbClr val="1E2761"/>
                          </a:solidFill>
                          <a:effectLst/>
                          <a:latin typeface="Yekan Bakh" pitchFamily="2" charset="-78"/>
                          <a:ea typeface="Yekan Bakh" pitchFamily="2" charset="-78"/>
                          <a:cs typeface="Yekan Bakh" pitchFamily="2" charset="-78"/>
                        </a:rPr>
                        <a:t> و </a:t>
                      </a:r>
                      <a:r>
                        <a:rPr lang="en-US" sz="900" b="0" i="0" kern="1200" dirty="0" err="1">
                          <a:solidFill>
                            <a:srgbClr val="1E2761"/>
                          </a:solidFill>
                          <a:effectLst/>
                          <a:latin typeface="Yekan Bakh" pitchFamily="2" charset="-78"/>
                          <a:ea typeface="Yekan Bakh" pitchFamily="2" charset="-78"/>
                          <a:cs typeface="Yekan Bakh" pitchFamily="2" charset="-78"/>
                        </a:rPr>
                        <a:t>شناخته‌شدگی</a:t>
                      </a:r>
                      <a:r>
                        <a:rPr lang="en-US" sz="900" b="0" i="0" kern="1200" dirty="0">
                          <a:solidFill>
                            <a:srgbClr val="1E2761"/>
                          </a:solidFill>
                          <a:effectLst/>
                          <a:latin typeface="Yekan Bakh" pitchFamily="2" charset="-78"/>
                          <a:ea typeface="Yekan Bakh" pitchFamily="2" charset="-78"/>
                          <a:cs typeface="Yekan Bakh" pitchFamily="2" charset="-78"/>
                        </a:rPr>
                        <a:t> </a:t>
                      </a:r>
                      <a:r>
                        <a:rPr lang="en-US" sz="900" b="0" i="0" kern="1200" dirty="0" err="1">
                          <a:solidFill>
                            <a:srgbClr val="1E2761"/>
                          </a:solidFill>
                          <a:effectLst/>
                          <a:latin typeface="Yekan Bakh" pitchFamily="2" charset="-78"/>
                          <a:ea typeface="Yekan Bakh" pitchFamily="2" charset="-78"/>
                          <a:cs typeface="Yekan Bakh" pitchFamily="2" charset="-78"/>
                        </a:rPr>
                        <a:t>داخلی</a:t>
                      </a:r>
                      <a:endParaRPr lang="en-GB" sz="900" dirty="0">
                        <a:solidFill>
                          <a:srgbClr val="1E2761"/>
                        </a:solidFill>
                        <a:latin typeface="Yekan Bakh" pitchFamily="2" charset="-78"/>
                        <a:ea typeface="Yekan Bakh" pitchFamily="2" charset="-78"/>
                        <a:cs typeface="Yekan Bakh" pitchFamily="2" charset="-78"/>
                      </a:endParaRPr>
                    </a:p>
                  </a:txBody>
                  <a:tcPr marL="68621" marR="68621" marT="34310" marB="34310" anchor="ctr">
                    <a:solidFill>
                      <a:schemeClr val="bg1">
                        <a:lumMod val="85000"/>
                        <a:alpha val="20000"/>
                      </a:schemeClr>
                    </a:solidFill>
                  </a:tcPr>
                </a:tc>
                <a:tc>
                  <a:txBody>
                    <a:bodyPr/>
                    <a:lstStyle/>
                    <a:p>
                      <a:pPr algn="ctr" rtl="1"/>
                      <a:r>
                        <a:rPr lang="fa-IR" sz="900" dirty="0">
                          <a:latin typeface="Yekan Bakh" pitchFamily="2" charset="-78"/>
                          <a:ea typeface="Yekan Bakh" pitchFamily="2" charset="-78"/>
                          <a:cs typeface="Yekan Bakh" pitchFamily="2" charset="-78"/>
                        </a:rPr>
                        <a:t>س ۱</a:t>
                      </a:r>
                    </a:p>
                  </a:txBody>
                  <a:tcPr marL="68621" marR="68621" marT="34310" marB="34310" anchor="ctr">
                    <a:solidFill>
                      <a:schemeClr val="bg1">
                        <a:lumMod val="85000"/>
                        <a:alpha val="20000"/>
                      </a:schemeClr>
                    </a:solidFill>
                  </a:tcPr>
                </a:tc>
                <a:extLst>
                  <a:ext uri="{0D108BD9-81ED-4DB2-BD59-A6C34878D82A}">
                    <a16:rowId xmlns:a16="http://schemas.microsoft.com/office/drawing/2014/main" val="3102929682"/>
                  </a:ext>
                </a:extLst>
              </a:tr>
              <a:tr h="281295">
                <a:tc>
                  <a:txBody>
                    <a:bodyPr/>
                    <a:lstStyle/>
                    <a:p>
                      <a:pPr algn="r" rtl="1"/>
                      <a:r>
                        <a:rPr lang="en-US" sz="800" b="1" i="0" kern="1200" dirty="0" err="1">
                          <a:solidFill>
                            <a:schemeClr val="tx1">
                              <a:lumMod val="75000"/>
                              <a:lumOff val="25000"/>
                            </a:schemeClr>
                          </a:solidFill>
                          <a:effectLst/>
                          <a:latin typeface="Yekan Bakh" pitchFamily="2" charset="-78"/>
                          <a:ea typeface="Yekan Bakh" pitchFamily="2" charset="-78"/>
                          <a:cs typeface="Yekan Bakh" pitchFamily="2" charset="-78"/>
                        </a:rPr>
                        <a:t>بیشینه</a:t>
                      </a:r>
                      <a:endParaRPr lang="en-GB" sz="800" dirty="0">
                        <a:solidFill>
                          <a:schemeClr val="tx1">
                            <a:lumMod val="75000"/>
                            <a:lumOff val="25000"/>
                          </a:schemeClr>
                        </a:solidFill>
                        <a:latin typeface="Yekan Bakh" pitchFamily="2" charset="-78"/>
                        <a:ea typeface="Yekan Bakh" pitchFamily="2" charset="-78"/>
                        <a:cs typeface="Yekan Bakh" pitchFamily="2" charset="-78"/>
                      </a:endParaRPr>
                    </a:p>
                  </a:txBody>
                  <a:tcPr marL="68621" marR="68621" marT="34310" marB="34310" anchor="ctr">
                    <a:solidFill>
                      <a:srgbClr val="1E2761">
                        <a:alpha val="20000"/>
                      </a:srgbClr>
                    </a:solidFill>
                  </a:tcPr>
                </a:tc>
                <a:tc>
                  <a:txBody>
                    <a:bodyPr/>
                    <a:lstStyle/>
                    <a:p>
                      <a:pPr algn="r" rtl="1"/>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سابقه</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تحصیلات</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جایگاه</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یا</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روابطی</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که</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نزد</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یک</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شرکت</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خارجی</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قابل</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راستی‌آزمایی</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و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قابل</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اتکاست</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1" i="0" kern="1200" dirty="0">
                          <a:solidFill>
                            <a:schemeClr val="tx1">
                              <a:lumMod val="75000"/>
                              <a:lumOff val="25000"/>
                            </a:schemeClr>
                          </a:solidFill>
                          <a:effectLst/>
                          <a:latin typeface="Yekan Bakh" pitchFamily="2" charset="-78"/>
                          <a:ea typeface="Yekan Bakh" pitchFamily="2" charset="-78"/>
                          <a:cs typeface="Yekan Bakh" pitchFamily="2" charset="-78"/>
                        </a:rPr>
                        <a:t>۵ =</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یک</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شرکت</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اروپایی</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آسیایی</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بدون</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واسطه</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شما</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را</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می‌پذیرد</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a:t>
                      </a:r>
                      <a:endParaRPr lang="en-GB" sz="700" dirty="0">
                        <a:solidFill>
                          <a:schemeClr val="tx1">
                            <a:lumMod val="75000"/>
                            <a:lumOff val="25000"/>
                          </a:schemeClr>
                        </a:solidFill>
                        <a:latin typeface="Yekan Bakh" pitchFamily="2" charset="-78"/>
                        <a:ea typeface="Yekan Bakh" pitchFamily="2" charset="-78"/>
                        <a:cs typeface="Yekan Bakh" pitchFamily="2" charset="-78"/>
                      </a:endParaRPr>
                    </a:p>
                  </a:txBody>
                  <a:tcPr marL="68621" marR="68621" marT="34310" marB="34310" anchor="ctr">
                    <a:solidFill>
                      <a:srgbClr val="1E2761">
                        <a:alpha val="20000"/>
                      </a:srgbClr>
                    </a:solidFill>
                  </a:tcPr>
                </a:tc>
                <a:tc>
                  <a:txBody>
                    <a:bodyPr/>
                    <a:lstStyle/>
                    <a:p>
                      <a:pPr algn="ctr" rtl="1"/>
                      <a:r>
                        <a:rPr lang="en-US" sz="900" b="0" i="0" kern="1200" dirty="0" err="1">
                          <a:solidFill>
                            <a:srgbClr val="1E2761"/>
                          </a:solidFill>
                          <a:effectLst/>
                          <a:latin typeface="Yekan Bakh" pitchFamily="2" charset="-78"/>
                          <a:ea typeface="Yekan Bakh" pitchFamily="2" charset="-78"/>
                          <a:cs typeface="Yekan Bakh" pitchFamily="2" charset="-78"/>
                        </a:rPr>
                        <a:t>مشروعیت</a:t>
                      </a:r>
                      <a:r>
                        <a:rPr lang="en-US" sz="900" b="0" i="0" kern="1200" dirty="0">
                          <a:solidFill>
                            <a:srgbClr val="1E2761"/>
                          </a:solidFill>
                          <a:effectLst/>
                          <a:latin typeface="Yekan Bakh" pitchFamily="2" charset="-78"/>
                          <a:ea typeface="Yekan Bakh" pitchFamily="2" charset="-78"/>
                          <a:cs typeface="Yekan Bakh" pitchFamily="2" charset="-78"/>
                        </a:rPr>
                        <a:t> </a:t>
                      </a:r>
                      <a:r>
                        <a:rPr lang="en-US" sz="900" b="0" i="0" kern="1200" dirty="0" err="1">
                          <a:solidFill>
                            <a:srgbClr val="1E2761"/>
                          </a:solidFill>
                          <a:effectLst/>
                          <a:latin typeface="Yekan Bakh" pitchFamily="2" charset="-78"/>
                          <a:ea typeface="Yekan Bakh" pitchFamily="2" charset="-78"/>
                          <a:cs typeface="Yekan Bakh" pitchFamily="2" charset="-78"/>
                        </a:rPr>
                        <a:t>بین‌المللی</a:t>
                      </a:r>
                      <a:endParaRPr lang="en-GB" sz="900" dirty="0">
                        <a:solidFill>
                          <a:srgbClr val="1E2761"/>
                        </a:solidFill>
                        <a:latin typeface="Yekan Bakh" pitchFamily="2" charset="-78"/>
                        <a:ea typeface="Yekan Bakh" pitchFamily="2" charset="-78"/>
                        <a:cs typeface="Yekan Bakh" pitchFamily="2" charset="-78"/>
                      </a:endParaRPr>
                    </a:p>
                  </a:txBody>
                  <a:tcPr marL="68621" marR="68621" marT="34310" marB="34310" anchor="ctr">
                    <a:solidFill>
                      <a:srgbClr val="1E2761">
                        <a:alpha val="20000"/>
                      </a:srgbClr>
                    </a:solidFill>
                  </a:tcPr>
                </a:tc>
                <a:tc>
                  <a:txBody>
                    <a:bodyPr/>
                    <a:lstStyle/>
                    <a:p>
                      <a:pPr algn="ctr" rtl="1"/>
                      <a:r>
                        <a:rPr lang="fa-IR" sz="900" dirty="0">
                          <a:latin typeface="Yekan Bakh" pitchFamily="2" charset="-78"/>
                          <a:ea typeface="Yekan Bakh" pitchFamily="2" charset="-78"/>
                          <a:cs typeface="Yekan Bakh" pitchFamily="2" charset="-78"/>
                        </a:rPr>
                        <a:t>س ۲</a:t>
                      </a:r>
                      <a:endParaRPr lang="en-GB" sz="900" dirty="0">
                        <a:latin typeface="Yekan Bakh" pitchFamily="2" charset="-78"/>
                        <a:ea typeface="Yekan Bakh" pitchFamily="2" charset="-78"/>
                        <a:cs typeface="Yekan Bakh" pitchFamily="2" charset="-78"/>
                      </a:endParaRPr>
                    </a:p>
                  </a:txBody>
                  <a:tcPr marL="68621" marR="68621" marT="34310" marB="34310" anchor="ctr">
                    <a:solidFill>
                      <a:srgbClr val="1E2761">
                        <a:alpha val="20000"/>
                      </a:srgbClr>
                    </a:solidFill>
                  </a:tcPr>
                </a:tc>
                <a:extLst>
                  <a:ext uri="{0D108BD9-81ED-4DB2-BD59-A6C34878D82A}">
                    <a16:rowId xmlns:a16="http://schemas.microsoft.com/office/drawing/2014/main" val="3466789253"/>
                  </a:ext>
                </a:extLst>
              </a:tr>
              <a:tr h="281295">
                <a:tc>
                  <a:txBody>
                    <a:bodyPr/>
                    <a:lstStyle/>
                    <a:p>
                      <a:pPr algn="r" rtl="1"/>
                      <a:r>
                        <a:rPr lang="en-US" sz="800" b="1" i="0" kern="1200" dirty="0" err="1">
                          <a:solidFill>
                            <a:schemeClr val="tx1">
                              <a:lumMod val="75000"/>
                              <a:lumOff val="25000"/>
                            </a:schemeClr>
                          </a:solidFill>
                          <a:effectLst/>
                          <a:latin typeface="Yekan Bakh" pitchFamily="2" charset="-78"/>
                          <a:ea typeface="Yekan Bakh" pitchFamily="2" charset="-78"/>
                          <a:cs typeface="Yekan Bakh" pitchFamily="2" charset="-78"/>
                        </a:rPr>
                        <a:t>بیشینه</a:t>
                      </a:r>
                      <a:r>
                        <a:rPr lang="en-US" sz="800" b="0" i="0" kern="1200" dirty="0">
                          <a:solidFill>
                            <a:schemeClr val="tx1">
                              <a:lumMod val="75000"/>
                              <a:lumOff val="25000"/>
                            </a:schemeClr>
                          </a:solidFill>
                          <a:effectLst/>
                          <a:latin typeface="Yekan Bakh" pitchFamily="2" charset="-78"/>
                          <a:ea typeface="Yekan Bakh" pitchFamily="2" charset="-78"/>
                          <a:cs typeface="Yekan Bakh" pitchFamily="2" charset="-78"/>
                        </a:rPr>
                        <a:t> · </a:t>
                      </a:r>
                      <a:r>
                        <a:rPr lang="en-US" sz="800" b="0" i="0" kern="1200" dirty="0" err="1">
                          <a:solidFill>
                            <a:schemeClr val="tx1">
                              <a:lumMod val="75000"/>
                              <a:lumOff val="25000"/>
                            </a:schemeClr>
                          </a:solidFill>
                          <a:effectLst/>
                          <a:latin typeface="Yekan Bakh" pitchFamily="2" charset="-78"/>
                          <a:ea typeface="Yekan Bakh" pitchFamily="2" charset="-78"/>
                          <a:cs typeface="Yekan Bakh" pitchFamily="2" charset="-78"/>
                        </a:rPr>
                        <a:t>تنوع</a:t>
                      </a:r>
                      <a:r>
                        <a:rPr lang="en-US" sz="8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800" b="0" i="0" kern="1200" dirty="0" err="1">
                          <a:solidFill>
                            <a:schemeClr val="tx1">
                              <a:lumMod val="75000"/>
                              <a:lumOff val="25000"/>
                            </a:schemeClr>
                          </a:solidFill>
                          <a:effectLst/>
                          <a:latin typeface="Yekan Bakh" pitchFamily="2" charset="-78"/>
                          <a:ea typeface="Yekan Bakh" pitchFamily="2" charset="-78"/>
                          <a:cs typeface="Yekan Bakh" pitchFamily="2" charset="-78"/>
                        </a:rPr>
                        <a:t>صنایع</a:t>
                      </a:r>
                      <a:r>
                        <a:rPr lang="en-US" sz="8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800" b="0" i="0" kern="1200" dirty="0" err="1">
                          <a:solidFill>
                            <a:schemeClr val="tx1">
                              <a:lumMod val="75000"/>
                              <a:lumOff val="25000"/>
                            </a:schemeClr>
                          </a:solidFill>
                          <a:effectLst/>
                          <a:latin typeface="Yekan Bakh" pitchFamily="2" charset="-78"/>
                          <a:ea typeface="Yekan Bakh" pitchFamily="2" charset="-78"/>
                          <a:cs typeface="Yekan Bakh" pitchFamily="2" charset="-78"/>
                        </a:rPr>
                        <a:t>را</a:t>
                      </a:r>
                      <a:r>
                        <a:rPr lang="en-US" sz="8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800" b="0" i="0" kern="1200" dirty="0" err="1">
                          <a:solidFill>
                            <a:schemeClr val="tx1">
                              <a:lumMod val="75000"/>
                              <a:lumOff val="25000"/>
                            </a:schemeClr>
                          </a:solidFill>
                          <a:effectLst/>
                          <a:latin typeface="Yekan Bakh" pitchFamily="2" charset="-78"/>
                          <a:ea typeface="Yekan Bakh" pitchFamily="2" charset="-78"/>
                          <a:cs typeface="Yekan Bakh" pitchFamily="2" charset="-78"/>
                        </a:rPr>
                        <a:t>جداگانه</a:t>
                      </a:r>
                      <a:r>
                        <a:rPr lang="en-US" sz="8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800" b="0" i="0" kern="1200" dirty="0" err="1">
                          <a:solidFill>
                            <a:schemeClr val="tx1">
                              <a:lumMod val="75000"/>
                              <a:lumOff val="25000"/>
                            </a:schemeClr>
                          </a:solidFill>
                          <a:effectLst/>
                          <a:latin typeface="Yekan Bakh" pitchFamily="2" charset="-78"/>
                          <a:ea typeface="Yekan Bakh" pitchFamily="2" charset="-78"/>
                          <a:cs typeface="Yekan Bakh" pitchFamily="2" charset="-78"/>
                        </a:rPr>
                        <a:t>یادداشت</a:t>
                      </a:r>
                      <a:r>
                        <a:rPr lang="en-US" sz="8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800" b="0" i="0" kern="1200" dirty="0" err="1">
                          <a:solidFill>
                            <a:schemeClr val="tx1">
                              <a:lumMod val="75000"/>
                              <a:lumOff val="25000"/>
                            </a:schemeClr>
                          </a:solidFill>
                          <a:effectLst/>
                          <a:latin typeface="Yekan Bakh" pitchFamily="2" charset="-78"/>
                          <a:ea typeface="Yekan Bakh" pitchFamily="2" charset="-78"/>
                          <a:cs typeface="Yekan Bakh" pitchFamily="2" charset="-78"/>
                        </a:rPr>
                        <a:t>کنید</a:t>
                      </a:r>
                      <a:endParaRPr lang="en-GB" sz="800" dirty="0">
                        <a:solidFill>
                          <a:schemeClr val="tx1">
                            <a:lumMod val="75000"/>
                            <a:lumOff val="25000"/>
                          </a:schemeClr>
                        </a:solidFill>
                        <a:latin typeface="Yekan Bakh" pitchFamily="2" charset="-78"/>
                        <a:ea typeface="Yekan Bakh" pitchFamily="2" charset="-78"/>
                        <a:cs typeface="Yekan Bakh" pitchFamily="2" charset="-78"/>
                      </a:endParaRPr>
                    </a:p>
                  </a:txBody>
                  <a:tcPr marL="68621" marR="68621" marT="34310" marB="34310" anchor="ctr">
                    <a:solidFill>
                      <a:schemeClr val="bg1">
                        <a:lumMod val="85000"/>
                        <a:alpha val="20000"/>
                      </a:schemeClr>
                    </a:solidFill>
                  </a:tcPr>
                </a:tc>
                <a:tc>
                  <a:txBody>
                    <a:bodyPr/>
                    <a:lstStyle/>
                    <a:p>
                      <a:pPr algn="r" rtl="1"/>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مرجعیت</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شناخته‌شده</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در</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یک</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عمودی</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مشخص</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دارو</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انرژی</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خرده‌فروشی</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فولاد</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1" i="0" kern="1200" dirty="0">
                          <a:solidFill>
                            <a:schemeClr val="tx1">
                              <a:lumMod val="75000"/>
                              <a:lumOff val="25000"/>
                            </a:schemeClr>
                          </a:solidFill>
                          <a:effectLst/>
                          <a:latin typeface="Yekan Bakh" pitchFamily="2" charset="-78"/>
                          <a:ea typeface="Yekan Bakh" pitchFamily="2" charset="-78"/>
                          <a:cs typeface="Yekan Bakh" pitchFamily="2" charset="-78"/>
                        </a:rPr>
                        <a:t>۵ =</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در</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آن</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صنعت</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نظر</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شما</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مرجع</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است</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a:t>
                      </a:r>
                      <a:endParaRPr lang="en-GB" sz="700" dirty="0">
                        <a:solidFill>
                          <a:schemeClr val="tx1">
                            <a:lumMod val="75000"/>
                            <a:lumOff val="25000"/>
                          </a:schemeClr>
                        </a:solidFill>
                        <a:latin typeface="Yekan Bakh" pitchFamily="2" charset="-78"/>
                        <a:ea typeface="Yekan Bakh" pitchFamily="2" charset="-78"/>
                        <a:cs typeface="Yekan Bakh" pitchFamily="2" charset="-78"/>
                      </a:endParaRPr>
                    </a:p>
                  </a:txBody>
                  <a:tcPr marL="68621" marR="68621" marT="34310" marB="34310" anchor="ctr">
                    <a:solidFill>
                      <a:schemeClr val="bg1">
                        <a:lumMod val="85000"/>
                        <a:alpha val="20000"/>
                      </a:schemeClr>
                    </a:solidFill>
                  </a:tcPr>
                </a:tc>
                <a:tc>
                  <a:txBody>
                    <a:bodyPr/>
                    <a:lstStyle/>
                    <a:p>
                      <a:pPr algn="ctr" rtl="1"/>
                      <a:r>
                        <a:rPr lang="en-US" sz="900" b="0" i="0" kern="1200" dirty="0" err="1">
                          <a:solidFill>
                            <a:srgbClr val="1E2761"/>
                          </a:solidFill>
                          <a:effectLst/>
                          <a:latin typeface="Yekan Bakh" pitchFamily="2" charset="-78"/>
                          <a:ea typeface="Yekan Bakh" pitchFamily="2" charset="-78"/>
                          <a:cs typeface="Yekan Bakh" pitchFamily="2" charset="-78"/>
                        </a:rPr>
                        <a:t>اقتدار</a:t>
                      </a:r>
                      <a:r>
                        <a:rPr lang="en-US" sz="900" b="0" i="0" kern="1200" dirty="0">
                          <a:solidFill>
                            <a:srgbClr val="1E2761"/>
                          </a:solidFill>
                          <a:effectLst/>
                          <a:latin typeface="Yekan Bakh" pitchFamily="2" charset="-78"/>
                          <a:ea typeface="Yekan Bakh" pitchFamily="2" charset="-78"/>
                          <a:cs typeface="Yekan Bakh" pitchFamily="2" charset="-78"/>
                        </a:rPr>
                        <a:t> </a:t>
                      </a:r>
                      <a:r>
                        <a:rPr lang="en-US" sz="900" b="0" i="0" kern="1200" dirty="0" err="1">
                          <a:solidFill>
                            <a:srgbClr val="1E2761"/>
                          </a:solidFill>
                          <a:effectLst/>
                          <a:latin typeface="Yekan Bakh" pitchFamily="2" charset="-78"/>
                          <a:ea typeface="Yekan Bakh" pitchFamily="2" charset="-78"/>
                          <a:cs typeface="Yekan Bakh" pitchFamily="2" charset="-78"/>
                        </a:rPr>
                        <a:t>تخصصی</a:t>
                      </a:r>
                      <a:r>
                        <a:rPr lang="en-US" sz="900" b="0" i="0" kern="1200" dirty="0">
                          <a:solidFill>
                            <a:srgbClr val="1E2761"/>
                          </a:solidFill>
                          <a:effectLst/>
                          <a:latin typeface="Yekan Bakh" pitchFamily="2" charset="-78"/>
                          <a:ea typeface="Yekan Bakh" pitchFamily="2" charset="-78"/>
                          <a:cs typeface="Yekan Bakh" pitchFamily="2" charset="-78"/>
                        </a:rPr>
                        <a:t> </a:t>
                      </a:r>
                      <a:r>
                        <a:rPr lang="en-US" sz="900" b="0" i="0" kern="1200" dirty="0" err="1">
                          <a:solidFill>
                            <a:srgbClr val="1E2761"/>
                          </a:solidFill>
                          <a:effectLst/>
                          <a:latin typeface="Yekan Bakh" pitchFamily="2" charset="-78"/>
                          <a:ea typeface="Yekan Bakh" pitchFamily="2" charset="-78"/>
                          <a:cs typeface="Yekan Bakh" pitchFamily="2" charset="-78"/>
                        </a:rPr>
                        <a:t>در</a:t>
                      </a:r>
                      <a:r>
                        <a:rPr lang="en-US" sz="900" b="0" i="0" kern="1200" dirty="0">
                          <a:solidFill>
                            <a:srgbClr val="1E2761"/>
                          </a:solidFill>
                          <a:effectLst/>
                          <a:latin typeface="Yekan Bakh" pitchFamily="2" charset="-78"/>
                          <a:ea typeface="Yekan Bakh" pitchFamily="2" charset="-78"/>
                          <a:cs typeface="Yekan Bakh" pitchFamily="2" charset="-78"/>
                        </a:rPr>
                        <a:t> </a:t>
                      </a:r>
                      <a:r>
                        <a:rPr lang="en-US" sz="900" b="0" i="0" kern="1200" dirty="0" err="1">
                          <a:solidFill>
                            <a:srgbClr val="1E2761"/>
                          </a:solidFill>
                          <a:effectLst/>
                          <a:latin typeface="Yekan Bakh" pitchFamily="2" charset="-78"/>
                          <a:ea typeface="Yekan Bakh" pitchFamily="2" charset="-78"/>
                          <a:cs typeface="Yekan Bakh" pitchFamily="2" charset="-78"/>
                        </a:rPr>
                        <a:t>یک</a:t>
                      </a:r>
                      <a:r>
                        <a:rPr lang="en-US" sz="900" b="0" i="0" kern="1200" dirty="0">
                          <a:solidFill>
                            <a:srgbClr val="1E2761"/>
                          </a:solidFill>
                          <a:effectLst/>
                          <a:latin typeface="Yekan Bakh" pitchFamily="2" charset="-78"/>
                          <a:ea typeface="Yekan Bakh" pitchFamily="2" charset="-78"/>
                          <a:cs typeface="Yekan Bakh" pitchFamily="2" charset="-78"/>
                        </a:rPr>
                        <a:t> </a:t>
                      </a:r>
                      <a:r>
                        <a:rPr lang="en-US" sz="900" b="0" i="0" kern="1200" dirty="0" err="1">
                          <a:solidFill>
                            <a:srgbClr val="1E2761"/>
                          </a:solidFill>
                          <a:effectLst/>
                          <a:latin typeface="Yekan Bakh" pitchFamily="2" charset="-78"/>
                          <a:ea typeface="Yekan Bakh" pitchFamily="2" charset="-78"/>
                          <a:cs typeface="Yekan Bakh" pitchFamily="2" charset="-78"/>
                        </a:rPr>
                        <a:t>صنعت</a:t>
                      </a:r>
                      <a:endParaRPr lang="en-GB" sz="900" dirty="0">
                        <a:solidFill>
                          <a:srgbClr val="1E2761"/>
                        </a:solidFill>
                        <a:latin typeface="Yekan Bakh" pitchFamily="2" charset="-78"/>
                        <a:ea typeface="Yekan Bakh" pitchFamily="2" charset="-78"/>
                        <a:cs typeface="Yekan Bakh" pitchFamily="2" charset="-78"/>
                      </a:endParaRPr>
                    </a:p>
                  </a:txBody>
                  <a:tcPr marL="68621" marR="68621" marT="34310" marB="34310" anchor="ctr">
                    <a:solidFill>
                      <a:schemeClr val="bg1">
                        <a:lumMod val="85000"/>
                        <a:alpha val="20000"/>
                      </a:schemeClr>
                    </a:solidFill>
                  </a:tcPr>
                </a:tc>
                <a:tc>
                  <a:txBody>
                    <a:bodyPr/>
                    <a:lstStyle/>
                    <a:p>
                      <a:pPr algn="ctr" rtl="1"/>
                      <a:r>
                        <a:rPr lang="fa-IR" sz="900" dirty="0">
                          <a:latin typeface="Yekan Bakh" pitchFamily="2" charset="-78"/>
                          <a:ea typeface="Yekan Bakh" pitchFamily="2" charset="-78"/>
                          <a:cs typeface="Yekan Bakh" pitchFamily="2" charset="-78"/>
                        </a:rPr>
                        <a:t>س ۳</a:t>
                      </a:r>
                      <a:endParaRPr lang="en-GB" sz="900" dirty="0">
                        <a:latin typeface="Yekan Bakh" pitchFamily="2" charset="-78"/>
                        <a:ea typeface="Yekan Bakh" pitchFamily="2" charset="-78"/>
                        <a:cs typeface="Yekan Bakh" pitchFamily="2" charset="-78"/>
                      </a:endParaRPr>
                    </a:p>
                  </a:txBody>
                  <a:tcPr marL="68621" marR="68621" marT="34310" marB="34310" anchor="ctr">
                    <a:solidFill>
                      <a:schemeClr val="bg1">
                        <a:lumMod val="85000"/>
                        <a:alpha val="20000"/>
                      </a:schemeClr>
                    </a:solidFill>
                  </a:tcPr>
                </a:tc>
                <a:extLst>
                  <a:ext uri="{0D108BD9-81ED-4DB2-BD59-A6C34878D82A}">
                    <a16:rowId xmlns:a16="http://schemas.microsoft.com/office/drawing/2014/main" val="100892185"/>
                  </a:ext>
                </a:extLst>
              </a:tr>
              <a:tr h="281295">
                <a:tc>
                  <a:txBody>
                    <a:bodyPr/>
                    <a:lstStyle/>
                    <a:p>
                      <a:pPr algn="r" rtl="1"/>
                      <a:r>
                        <a:rPr lang="en-US" sz="800" b="1" i="0" kern="1200" dirty="0" err="1">
                          <a:solidFill>
                            <a:schemeClr val="tx1">
                              <a:lumMod val="75000"/>
                              <a:lumOff val="25000"/>
                            </a:schemeClr>
                          </a:solidFill>
                          <a:effectLst/>
                          <a:latin typeface="Yekan Bakh" pitchFamily="2" charset="-78"/>
                          <a:ea typeface="Yekan Bakh" pitchFamily="2" charset="-78"/>
                          <a:cs typeface="Yekan Bakh" pitchFamily="2" charset="-78"/>
                        </a:rPr>
                        <a:t>بیشینه</a:t>
                      </a:r>
                      <a:r>
                        <a:rPr lang="en-US" sz="800" b="0" i="0" kern="1200" dirty="0">
                          <a:solidFill>
                            <a:schemeClr val="tx1">
                              <a:lumMod val="75000"/>
                              <a:lumOff val="25000"/>
                            </a:schemeClr>
                          </a:solidFill>
                          <a:effectLst/>
                          <a:latin typeface="Yekan Bakh" pitchFamily="2" charset="-78"/>
                          <a:ea typeface="Yekan Bakh" pitchFamily="2" charset="-78"/>
                          <a:cs typeface="Yekan Bakh" pitchFamily="2" charset="-78"/>
                        </a:rPr>
                        <a:t> — </a:t>
                      </a:r>
                      <a:r>
                        <a:rPr lang="en-US" sz="800" b="0" i="0" kern="1200" dirty="0" err="1">
                          <a:solidFill>
                            <a:schemeClr val="tx1">
                              <a:lumMod val="75000"/>
                              <a:lumOff val="25000"/>
                            </a:schemeClr>
                          </a:solidFill>
                          <a:effectLst/>
                          <a:latin typeface="Yekan Bakh" pitchFamily="2" charset="-78"/>
                          <a:ea typeface="Yekan Bakh" pitchFamily="2" charset="-78"/>
                          <a:cs typeface="Yekan Bakh" pitchFamily="2" charset="-78"/>
                        </a:rPr>
                        <a:t>یک</a:t>
                      </a:r>
                      <a:r>
                        <a:rPr lang="en-US" sz="8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800" b="0" i="0" kern="1200" dirty="0" err="1">
                          <a:solidFill>
                            <a:schemeClr val="tx1">
                              <a:lumMod val="75000"/>
                              <a:lumOff val="25000"/>
                            </a:schemeClr>
                          </a:solidFill>
                          <a:effectLst/>
                          <a:latin typeface="Yekan Bakh" pitchFamily="2" charset="-78"/>
                          <a:ea typeface="Yekan Bakh" pitchFamily="2" charset="-78"/>
                          <a:cs typeface="Yekan Bakh" pitchFamily="2" charset="-78"/>
                        </a:rPr>
                        <a:t>در</a:t>
                      </a:r>
                      <a:r>
                        <a:rPr lang="en-US" sz="8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800" b="0" i="0" kern="1200" dirty="0" err="1">
                          <a:solidFill>
                            <a:schemeClr val="tx1">
                              <a:lumMod val="75000"/>
                              <a:lumOff val="25000"/>
                            </a:schemeClr>
                          </a:solidFill>
                          <a:effectLst/>
                          <a:latin typeface="Yekan Bakh" pitchFamily="2" charset="-78"/>
                          <a:ea typeface="Yekan Bakh" pitchFamily="2" charset="-78"/>
                          <a:cs typeface="Yekan Bakh" pitchFamily="2" charset="-78"/>
                        </a:rPr>
                        <a:t>باز</a:t>
                      </a:r>
                      <a:r>
                        <a:rPr lang="en-US" sz="8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800" b="0" i="0" kern="1200" dirty="0" err="1">
                          <a:solidFill>
                            <a:schemeClr val="tx1">
                              <a:lumMod val="75000"/>
                              <a:lumOff val="25000"/>
                            </a:schemeClr>
                          </a:solidFill>
                          <a:effectLst/>
                          <a:latin typeface="Yekan Bakh" pitchFamily="2" charset="-78"/>
                          <a:ea typeface="Yekan Bakh" pitchFamily="2" charset="-78"/>
                          <a:cs typeface="Yekan Bakh" pitchFamily="2" charset="-78"/>
                        </a:rPr>
                        <a:t>کافی</a:t>
                      </a:r>
                      <a:r>
                        <a:rPr lang="en-US" sz="8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800" b="0" i="0" kern="1200" dirty="0" err="1">
                          <a:solidFill>
                            <a:schemeClr val="tx1">
                              <a:lumMod val="75000"/>
                              <a:lumOff val="25000"/>
                            </a:schemeClr>
                          </a:solidFill>
                          <a:effectLst/>
                          <a:latin typeface="Yekan Bakh" pitchFamily="2" charset="-78"/>
                          <a:ea typeface="Yekan Bakh" pitchFamily="2" charset="-78"/>
                          <a:cs typeface="Yekan Bakh" pitchFamily="2" charset="-78"/>
                        </a:rPr>
                        <a:t>است</a:t>
                      </a:r>
                      <a:endParaRPr lang="en-GB" sz="800" dirty="0">
                        <a:solidFill>
                          <a:schemeClr val="tx1">
                            <a:lumMod val="75000"/>
                            <a:lumOff val="25000"/>
                          </a:schemeClr>
                        </a:solidFill>
                        <a:latin typeface="Yekan Bakh" pitchFamily="2" charset="-78"/>
                        <a:ea typeface="Yekan Bakh" pitchFamily="2" charset="-78"/>
                        <a:cs typeface="Yekan Bakh" pitchFamily="2" charset="-78"/>
                      </a:endParaRPr>
                    </a:p>
                  </a:txBody>
                  <a:tcPr marL="68621" marR="68621" marT="34310" marB="34310" anchor="ctr">
                    <a:solidFill>
                      <a:srgbClr val="1E2761">
                        <a:alpha val="20000"/>
                      </a:srgbClr>
                    </a:solidFill>
                  </a:tcPr>
                </a:tc>
                <a:tc>
                  <a:txBody>
                    <a:bodyPr/>
                    <a:lstStyle/>
                    <a:p>
                      <a:pPr algn="r" rtl="1"/>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توان</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رساندن</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یک</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موضوع</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به</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سطح</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تصمیم‌گیر</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در</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وزارتخانه</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سازمان</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یا</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رگولاتور</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1" i="0" kern="1200" dirty="0">
                          <a:solidFill>
                            <a:schemeClr val="tx1">
                              <a:lumMod val="75000"/>
                              <a:lumOff val="25000"/>
                            </a:schemeClr>
                          </a:solidFill>
                          <a:effectLst/>
                          <a:latin typeface="Yekan Bakh" pitchFamily="2" charset="-78"/>
                          <a:ea typeface="Yekan Bakh" pitchFamily="2" charset="-78"/>
                          <a:cs typeface="Yekan Bakh" pitchFamily="2" charset="-78"/>
                        </a:rPr>
                        <a:t>۵ =</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ظرف</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یک</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هفته</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جلسه</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در</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سطح</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معاون</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وزیر</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a:t>
                      </a:r>
                      <a:endParaRPr lang="en-GB" sz="700" dirty="0">
                        <a:solidFill>
                          <a:schemeClr val="tx1">
                            <a:lumMod val="75000"/>
                            <a:lumOff val="25000"/>
                          </a:schemeClr>
                        </a:solidFill>
                        <a:latin typeface="Yekan Bakh" pitchFamily="2" charset="-78"/>
                        <a:ea typeface="Yekan Bakh" pitchFamily="2" charset="-78"/>
                        <a:cs typeface="Yekan Bakh" pitchFamily="2" charset="-78"/>
                      </a:endParaRPr>
                    </a:p>
                  </a:txBody>
                  <a:tcPr marL="68621" marR="68621" marT="34310" marB="34310" anchor="ctr">
                    <a:solidFill>
                      <a:srgbClr val="1E2761">
                        <a:alpha val="20000"/>
                      </a:srgbClr>
                    </a:solidFill>
                  </a:tcPr>
                </a:tc>
                <a:tc>
                  <a:txBody>
                    <a:bodyPr/>
                    <a:lstStyle/>
                    <a:p>
                      <a:pPr algn="ctr" rtl="1"/>
                      <a:r>
                        <a:rPr lang="en-US" sz="900" b="0" i="0" kern="1200" dirty="0" err="1">
                          <a:solidFill>
                            <a:srgbClr val="1E2761"/>
                          </a:solidFill>
                          <a:effectLst/>
                          <a:latin typeface="Yekan Bakh" pitchFamily="2" charset="-78"/>
                          <a:ea typeface="Yekan Bakh" pitchFamily="2" charset="-78"/>
                          <a:cs typeface="Yekan Bakh" pitchFamily="2" charset="-78"/>
                        </a:rPr>
                        <a:t>دسترسی</a:t>
                      </a:r>
                      <a:r>
                        <a:rPr lang="en-US" sz="900" b="0" i="0" kern="1200" dirty="0">
                          <a:solidFill>
                            <a:srgbClr val="1E2761"/>
                          </a:solidFill>
                          <a:effectLst/>
                          <a:latin typeface="Yekan Bakh" pitchFamily="2" charset="-78"/>
                          <a:ea typeface="Yekan Bakh" pitchFamily="2" charset="-78"/>
                          <a:cs typeface="Yekan Bakh" pitchFamily="2" charset="-78"/>
                        </a:rPr>
                        <a:t> </a:t>
                      </a:r>
                      <a:r>
                        <a:rPr lang="en-US" sz="900" b="0" i="0" kern="1200" dirty="0" err="1">
                          <a:solidFill>
                            <a:srgbClr val="1E2761"/>
                          </a:solidFill>
                          <a:effectLst/>
                          <a:latin typeface="Yekan Bakh" pitchFamily="2" charset="-78"/>
                          <a:ea typeface="Yekan Bakh" pitchFamily="2" charset="-78"/>
                          <a:cs typeface="Yekan Bakh" pitchFamily="2" charset="-78"/>
                        </a:rPr>
                        <a:t>حاکمیتی</a:t>
                      </a:r>
                      <a:r>
                        <a:rPr lang="en-US" sz="900" b="0" i="0" kern="1200" dirty="0">
                          <a:solidFill>
                            <a:srgbClr val="1E2761"/>
                          </a:solidFill>
                          <a:effectLst/>
                          <a:latin typeface="Yekan Bakh" pitchFamily="2" charset="-78"/>
                          <a:ea typeface="Yekan Bakh" pitchFamily="2" charset="-78"/>
                          <a:cs typeface="Yekan Bakh" pitchFamily="2" charset="-78"/>
                        </a:rPr>
                        <a:t> و </a:t>
                      </a:r>
                      <a:r>
                        <a:rPr lang="en-US" sz="900" b="0" i="0" kern="1200" dirty="0" err="1">
                          <a:solidFill>
                            <a:srgbClr val="1E2761"/>
                          </a:solidFill>
                          <a:effectLst/>
                          <a:latin typeface="Yekan Bakh" pitchFamily="2" charset="-78"/>
                          <a:ea typeface="Yekan Bakh" pitchFamily="2" charset="-78"/>
                          <a:cs typeface="Yekan Bakh" pitchFamily="2" charset="-78"/>
                        </a:rPr>
                        <a:t>رگولاتوری</a:t>
                      </a:r>
                      <a:endParaRPr lang="en-GB" sz="900" dirty="0">
                        <a:solidFill>
                          <a:srgbClr val="1E2761"/>
                        </a:solidFill>
                        <a:latin typeface="Yekan Bakh" pitchFamily="2" charset="-78"/>
                        <a:ea typeface="Yekan Bakh" pitchFamily="2" charset="-78"/>
                        <a:cs typeface="Yekan Bakh" pitchFamily="2" charset="-78"/>
                      </a:endParaRPr>
                    </a:p>
                  </a:txBody>
                  <a:tcPr marL="68621" marR="68621" marT="34310" marB="34310" anchor="ctr">
                    <a:solidFill>
                      <a:srgbClr val="1E2761">
                        <a:alpha val="20000"/>
                      </a:srgbClr>
                    </a:solidFill>
                  </a:tcPr>
                </a:tc>
                <a:tc>
                  <a:txBody>
                    <a:bodyPr/>
                    <a:lstStyle/>
                    <a:p>
                      <a:pPr algn="ctr" rtl="1"/>
                      <a:r>
                        <a:rPr lang="fa-IR" sz="900" dirty="0">
                          <a:latin typeface="Yekan Bakh" pitchFamily="2" charset="-78"/>
                          <a:ea typeface="Yekan Bakh" pitchFamily="2" charset="-78"/>
                          <a:cs typeface="Yekan Bakh" pitchFamily="2" charset="-78"/>
                        </a:rPr>
                        <a:t>د ۱</a:t>
                      </a:r>
                      <a:endParaRPr lang="en-GB" sz="900" dirty="0">
                        <a:latin typeface="Yekan Bakh" pitchFamily="2" charset="-78"/>
                        <a:ea typeface="Yekan Bakh" pitchFamily="2" charset="-78"/>
                        <a:cs typeface="Yekan Bakh" pitchFamily="2" charset="-78"/>
                      </a:endParaRPr>
                    </a:p>
                  </a:txBody>
                  <a:tcPr marL="68621" marR="68621" marT="34310" marB="34310" anchor="ctr">
                    <a:solidFill>
                      <a:srgbClr val="1E2761">
                        <a:alpha val="20000"/>
                      </a:srgbClr>
                    </a:solidFill>
                  </a:tcPr>
                </a:tc>
                <a:extLst>
                  <a:ext uri="{0D108BD9-81ED-4DB2-BD59-A6C34878D82A}">
                    <a16:rowId xmlns:a16="http://schemas.microsoft.com/office/drawing/2014/main" val="4276782358"/>
                  </a:ext>
                </a:extLst>
              </a:tr>
              <a:tr h="281295">
                <a:tc>
                  <a:txBody>
                    <a:bodyPr/>
                    <a:lstStyle/>
                    <a:p>
                      <a:pPr algn="r" rtl="1"/>
                      <a:r>
                        <a:rPr lang="en-US" sz="800" b="1" i="0" kern="1200" dirty="0" err="1">
                          <a:solidFill>
                            <a:schemeClr val="tx1">
                              <a:lumMod val="75000"/>
                              <a:lumOff val="25000"/>
                            </a:schemeClr>
                          </a:solidFill>
                          <a:effectLst/>
                          <a:latin typeface="Yekan Bakh" pitchFamily="2" charset="-78"/>
                          <a:ea typeface="Yekan Bakh" pitchFamily="2" charset="-78"/>
                          <a:cs typeface="Yekan Bakh" pitchFamily="2" charset="-78"/>
                        </a:rPr>
                        <a:t>بیشینه</a:t>
                      </a:r>
                      <a:r>
                        <a:rPr lang="en-US" sz="800" b="0" i="0" kern="1200" dirty="0">
                          <a:solidFill>
                            <a:schemeClr val="tx1">
                              <a:lumMod val="75000"/>
                              <a:lumOff val="25000"/>
                            </a:schemeClr>
                          </a:solidFill>
                          <a:effectLst/>
                          <a:latin typeface="Yekan Bakh" pitchFamily="2" charset="-78"/>
                          <a:ea typeface="Yekan Bakh" pitchFamily="2" charset="-78"/>
                          <a:cs typeface="Yekan Bakh" pitchFamily="2" charset="-78"/>
                        </a:rPr>
                        <a:t> · </a:t>
                      </a:r>
                      <a:r>
                        <a:rPr lang="en-US" sz="800" b="0" i="0" kern="1200" dirty="0" err="1">
                          <a:solidFill>
                            <a:schemeClr val="tx1">
                              <a:lumMod val="75000"/>
                              <a:lumOff val="25000"/>
                            </a:schemeClr>
                          </a:solidFill>
                          <a:effectLst/>
                          <a:latin typeface="Yekan Bakh" pitchFamily="2" charset="-78"/>
                          <a:ea typeface="Yekan Bakh" pitchFamily="2" charset="-78"/>
                          <a:cs typeface="Yekan Bakh" pitchFamily="2" charset="-78"/>
                        </a:rPr>
                        <a:t>در</a:t>
                      </a:r>
                      <a:r>
                        <a:rPr lang="en-US" sz="8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800" b="0" i="0" kern="1200" dirty="0" err="1">
                          <a:solidFill>
                            <a:schemeClr val="tx1">
                              <a:lumMod val="75000"/>
                              <a:lumOff val="25000"/>
                            </a:schemeClr>
                          </a:solidFill>
                          <a:effectLst/>
                          <a:latin typeface="Yekan Bakh" pitchFamily="2" charset="-78"/>
                          <a:ea typeface="Yekan Bakh" pitchFamily="2" charset="-78"/>
                          <a:cs typeface="Yekan Bakh" pitchFamily="2" charset="-78"/>
                        </a:rPr>
                        <a:t>ایران</a:t>
                      </a:r>
                      <a:r>
                        <a:rPr lang="en-US" sz="8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800" b="0" i="0" kern="1200" dirty="0" err="1">
                          <a:solidFill>
                            <a:schemeClr val="tx1">
                              <a:lumMod val="75000"/>
                              <a:lumOff val="25000"/>
                            </a:schemeClr>
                          </a:solidFill>
                          <a:effectLst/>
                          <a:latin typeface="Yekan Bakh" pitchFamily="2" charset="-78"/>
                          <a:ea typeface="Yekan Bakh" pitchFamily="2" charset="-78"/>
                          <a:cs typeface="Yekan Bakh" pitchFamily="2" charset="-78"/>
                        </a:rPr>
                        <a:t>این</a:t>
                      </a:r>
                      <a:r>
                        <a:rPr lang="en-US" sz="8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800" b="0" i="0" kern="1200" dirty="0" err="1">
                          <a:solidFill>
                            <a:schemeClr val="tx1">
                              <a:lumMod val="75000"/>
                              <a:lumOff val="25000"/>
                            </a:schemeClr>
                          </a:solidFill>
                          <a:effectLst/>
                          <a:latin typeface="Yekan Bakh" pitchFamily="2" charset="-78"/>
                          <a:ea typeface="Yekan Bakh" pitchFamily="2" charset="-78"/>
                          <a:cs typeface="Yekan Bakh" pitchFamily="2" charset="-78"/>
                        </a:rPr>
                        <a:t>تنگنای</a:t>
                      </a:r>
                      <a:r>
                        <a:rPr lang="en-US" sz="8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800" b="0" i="0" kern="1200" dirty="0" err="1">
                          <a:solidFill>
                            <a:schemeClr val="tx1">
                              <a:lumMod val="75000"/>
                              <a:lumOff val="25000"/>
                            </a:schemeClr>
                          </a:solidFill>
                          <a:effectLst/>
                          <a:latin typeface="Yekan Bakh" pitchFamily="2" charset="-78"/>
                          <a:ea typeface="Yekan Bakh" pitchFamily="2" charset="-78"/>
                          <a:cs typeface="Yekan Bakh" pitchFamily="2" charset="-78"/>
                        </a:rPr>
                        <a:t>اصلی</a:t>
                      </a:r>
                      <a:r>
                        <a:rPr lang="en-US" sz="8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800" b="0" i="0" kern="1200" dirty="0" err="1">
                          <a:solidFill>
                            <a:schemeClr val="tx1">
                              <a:lumMod val="75000"/>
                              <a:lumOff val="25000"/>
                            </a:schemeClr>
                          </a:solidFill>
                          <a:effectLst/>
                          <a:latin typeface="Yekan Bakh" pitchFamily="2" charset="-78"/>
                          <a:ea typeface="Yekan Bakh" pitchFamily="2" charset="-78"/>
                          <a:cs typeface="Yekan Bakh" pitchFamily="2" charset="-78"/>
                        </a:rPr>
                        <a:t>است</a:t>
                      </a:r>
                      <a:endParaRPr lang="en-GB" sz="800" dirty="0">
                        <a:solidFill>
                          <a:schemeClr val="tx1">
                            <a:lumMod val="75000"/>
                            <a:lumOff val="25000"/>
                          </a:schemeClr>
                        </a:solidFill>
                        <a:latin typeface="Yekan Bakh" pitchFamily="2" charset="-78"/>
                        <a:ea typeface="Yekan Bakh" pitchFamily="2" charset="-78"/>
                        <a:cs typeface="Yekan Bakh" pitchFamily="2" charset="-78"/>
                      </a:endParaRPr>
                    </a:p>
                  </a:txBody>
                  <a:tcPr marL="68621" marR="68621" marT="34310" marB="34310" anchor="ctr">
                    <a:solidFill>
                      <a:schemeClr val="bg1">
                        <a:lumMod val="85000"/>
                        <a:alpha val="20000"/>
                      </a:schemeClr>
                    </a:solidFill>
                  </a:tcPr>
                </a:tc>
                <a:tc>
                  <a:txBody>
                    <a:bodyPr/>
                    <a:lstStyle/>
                    <a:p>
                      <a:pPr algn="r" rtl="1"/>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روابط</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کارآمد</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با</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بانک</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صرافی</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بازار</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سرمایه</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و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مسیرهای</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انتقال</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وجه</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1" i="0" kern="1200" dirty="0">
                          <a:solidFill>
                            <a:schemeClr val="tx1">
                              <a:lumMod val="75000"/>
                              <a:lumOff val="25000"/>
                            </a:schemeClr>
                          </a:solidFill>
                          <a:effectLst/>
                          <a:latin typeface="Yekan Bakh" pitchFamily="2" charset="-78"/>
                          <a:ea typeface="Yekan Bakh" pitchFamily="2" charset="-78"/>
                          <a:cs typeface="Yekan Bakh" pitchFamily="2" charset="-78"/>
                        </a:rPr>
                        <a:t>۵ =</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می‌توانید</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یک</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مسیر</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پرداخت</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قابل</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اتکا</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برای</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مشتری</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خارجی</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بسازید</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a:t>
                      </a:r>
                      <a:endParaRPr lang="en-GB" sz="700" dirty="0">
                        <a:solidFill>
                          <a:schemeClr val="tx1">
                            <a:lumMod val="75000"/>
                            <a:lumOff val="25000"/>
                          </a:schemeClr>
                        </a:solidFill>
                        <a:latin typeface="Yekan Bakh" pitchFamily="2" charset="-78"/>
                        <a:ea typeface="Yekan Bakh" pitchFamily="2" charset="-78"/>
                        <a:cs typeface="Yekan Bakh" pitchFamily="2" charset="-78"/>
                      </a:endParaRPr>
                    </a:p>
                  </a:txBody>
                  <a:tcPr marL="68621" marR="68621" marT="34310" marB="34310" anchor="ctr">
                    <a:solidFill>
                      <a:schemeClr val="bg1">
                        <a:lumMod val="85000"/>
                        <a:alpha val="20000"/>
                      </a:schemeClr>
                    </a:solidFill>
                  </a:tcPr>
                </a:tc>
                <a:tc>
                  <a:txBody>
                    <a:bodyPr/>
                    <a:lstStyle/>
                    <a:p>
                      <a:pPr algn="ctr" rtl="1"/>
                      <a:r>
                        <a:rPr lang="en-US" sz="900" b="0" i="0" kern="1200" dirty="0" err="1">
                          <a:solidFill>
                            <a:srgbClr val="1E2761"/>
                          </a:solidFill>
                          <a:effectLst/>
                          <a:latin typeface="Yekan Bakh" pitchFamily="2" charset="-78"/>
                          <a:ea typeface="Yekan Bakh" pitchFamily="2" charset="-78"/>
                          <a:cs typeface="Yekan Bakh" pitchFamily="2" charset="-78"/>
                        </a:rPr>
                        <a:t>دسترسی</a:t>
                      </a:r>
                      <a:r>
                        <a:rPr lang="en-US" sz="900" b="0" i="0" kern="1200" dirty="0">
                          <a:solidFill>
                            <a:srgbClr val="1E2761"/>
                          </a:solidFill>
                          <a:effectLst/>
                          <a:latin typeface="Yekan Bakh" pitchFamily="2" charset="-78"/>
                          <a:ea typeface="Yekan Bakh" pitchFamily="2" charset="-78"/>
                          <a:cs typeface="Yekan Bakh" pitchFamily="2" charset="-78"/>
                        </a:rPr>
                        <a:t> </a:t>
                      </a:r>
                      <a:r>
                        <a:rPr lang="en-US" sz="900" b="0" i="0" kern="1200" dirty="0" err="1">
                          <a:solidFill>
                            <a:srgbClr val="1E2761"/>
                          </a:solidFill>
                          <a:effectLst/>
                          <a:latin typeface="Yekan Bakh" pitchFamily="2" charset="-78"/>
                          <a:ea typeface="Yekan Bakh" pitchFamily="2" charset="-78"/>
                          <a:cs typeface="Yekan Bakh" pitchFamily="2" charset="-78"/>
                        </a:rPr>
                        <a:t>بانکی</a:t>
                      </a:r>
                      <a:r>
                        <a:rPr lang="en-US" sz="900" b="0" i="0" kern="1200" dirty="0">
                          <a:solidFill>
                            <a:srgbClr val="1E2761"/>
                          </a:solidFill>
                          <a:effectLst/>
                          <a:latin typeface="Yekan Bakh" pitchFamily="2" charset="-78"/>
                          <a:ea typeface="Yekan Bakh" pitchFamily="2" charset="-78"/>
                          <a:cs typeface="Yekan Bakh" pitchFamily="2" charset="-78"/>
                        </a:rPr>
                        <a:t> و </a:t>
                      </a:r>
                      <a:r>
                        <a:rPr lang="en-US" sz="900" b="0" i="0" kern="1200" dirty="0" err="1">
                          <a:solidFill>
                            <a:srgbClr val="1E2761"/>
                          </a:solidFill>
                          <a:effectLst/>
                          <a:latin typeface="Yekan Bakh" pitchFamily="2" charset="-78"/>
                          <a:ea typeface="Yekan Bakh" pitchFamily="2" charset="-78"/>
                          <a:cs typeface="Yekan Bakh" pitchFamily="2" charset="-78"/>
                        </a:rPr>
                        <a:t>مالی</a:t>
                      </a:r>
                      <a:endParaRPr lang="en-GB" sz="900" dirty="0">
                        <a:solidFill>
                          <a:srgbClr val="1E2761"/>
                        </a:solidFill>
                        <a:latin typeface="Yekan Bakh" pitchFamily="2" charset="-78"/>
                        <a:ea typeface="Yekan Bakh" pitchFamily="2" charset="-78"/>
                        <a:cs typeface="Yekan Bakh" pitchFamily="2" charset="-78"/>
                      </a:endParaRPr>
                    </a:p>
                  </a:txBody>
                  <a:tcPr marL="68621" marR="68621" marT="34310" marB="34310" anchor="ctr">
                    <a:solidFill>
                      <a:schemeClr val="bg1">
                        <a:lumMod val="85000"/>
                        <a:alpha val="20000"/>
                      </a:schemeClr>
                    </a:solidFill>
                  </a:tcPr>
                </a:tc>
                <a:tc>
                  <a:txBody>
                    <a:bodyPr/>
                    <a:lstStyle/>
                    <a:p>
                      <a:pPr algn="ctr" rtl="1"/>
                      <a:r>
                        <a:rPr lang="fa-IR" sz="900" dirty="0">
                          <a:latin typeface="Yekan Bakh" pitchFamily="2" charset="-78"/>
                          <a:ea typeface="Yekan Bakh" pitchFamily="2" charset="-78"/>
                          <a:cs typeface="Yekan Bakh" pitchFamily="2" charset="-78"/>
                        </a:rPr>
                        <a:t>د ۲</a:t>
                      </a:r>
                      <a:endParaRPr lang="en-GB" sz="900" dirty="0">
                        <a:latin typeface="Yekan Bakh" pitchFamily="2" charset="-78"/>
                        <a:ea typeface="Yekan Bakh" pitchFamily="2" charset="-78"/>
                        <a:cs typeface="Yekan Bakh" pitchFamily="2" charset="-78"/>
                      </a:endParaRPr>
                    </a:p>
                  </a:txBody>
                  <a:tcPr marL="68621" marR="68621" marT="34310" marB="34310" anchor="ctr">
                    <a:solidFill>
                      <a:schemeClr val="bg1">
                        <a:lumMod val="85000"/>
                        <a:alpha val="20000"/>
                      </a:schemeClr>
                    </a:solidFill>
                  </a:tcPr>
                </a:tc>
                <a:extLst>
                  <a:ext uri="{0D108BD9-81ED-4DB2-BD59-A6C34878D82A}">
                    <a16:rowId xmlns:a16="http://schemas.microsoft.com/office/drawing/2014/main" val="1360706092"/>
                  </a:ext>
                </a:extLst>
              </a:tr>
              <a:tr h="281295">
                <a:tc>
                  <a:txBody>
                    <a:bodyPr/>
                    <a:lstStyle/>
                    <a:p>
                      <a:pPr algn="r" rtl="1"/>
                      <a:r>
                        <a:rPr lang="en-US" sz="800" b="1" i="0" kern="1200" dirty="0" err="1">
                          <a:solidFill>
                            <a:schemeClr val="tx1">
                              <a:lumMod val="75000"/>
                              <a:lumOff val="25000"/>
                            </a:schemeClr>
                          </a:solidFill>
                          <a:effectLst/>
                          <a:latin typeface="Yekan Bakh" pitchFamily="2" charset="-78"/>
                          <a:ea typeface="Yekan Bakh" pitchFamily="2" charset="-78"/>
                          <a:cs typeface="Yekan Bakh" pitchFamily="2" charset="-78"/>
                        </a:rPr>
                        <a:t>بیشینه</a:t>
                      </a:r>
                      <a:r>
                        <a:rPr lang="en-US" sz="800" b="1" i="0" kern="1200" dirty="0">
                          <a:solidFill>
                            <a:schemeClr val="tx1">
                              <a:lumMod val="75000"/>
                              <a:lumOff val="25000"/>
                            </a:schemeClr>
                          </a:solidFill>
                          <a:effectLst/>
                          <a:latin typeface="Yekan Bakh" pitchFamily="2" charset="-78"/>
                          <a:ea typeface="Yekan Bakh" pitchFamily="2" charset="-78"/>
                          <a:cs typeface="Yekan Bakh" pitchFamily="2" charset="-78"/>
                        </a:rPr>
                        <a:t> + </a:t>
                      </a:r>
                      <a:r>
                        <a:rPr lang="en-US" sz="800" b="1" i="0" kern="1200" dirty="0" err="1">
                          <a:solidFill>
                            <a:schemeClr val="tx1">
                              <a:lumMod val="75000"/>
                              <a:lumOff val="25000"/>
                            </a:schemeClr>
                          </a:solidFill>
                          <a:effectLst/>
                          <a:latin typeface="Yekan Bakh" pitchFamily="2" charset="-78"/>
                          <a:ea typeface="Yekan Bakh" pitchFamily="2" charset="-78"/>
                          <a:cs typeface="Yekan Bakh" pitchFamily="2" charset="-78"/>
                        </a:rPr>
                        <a:t>پاداش</a:t>
                      </a:r>
                      <a:r>
                        <a:rPr lang="en-US" sz="800" b="1"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800" b="1" i="0" kern="1200" dirty="0" err="1">
                          <a:solidFill>
                            <a:schemeClr val="tx1">
                              <a:lumMod val="75000"/>
                              <a:lumOff val="25000"/>
                            </a:schemeClr>
                          </a:solidFill>
                          <a:effectLst/>
                          <a:latin typeface="Yekan Bakh" pitchFamily="2" charset="-78"/>
                          <a:ea typeface="Yekan Bakh" pitchFamily="2" charset="-78"/>
                          <a:cs typeface="Yekan Bakh" pitchFamily="2" charset="-78"/>
                        </a:rPr>
                        <a:t>تنوع</a:t>
                      </a:r>
                      <a:endParaRPr lang="en-GB" sz="800" dirty="0">
                        <a:solidFill>
                          <a:schemeClr val="tx1">
                            <a:lumMod val="75000"/>
                            <a:lumOff val="25000"/>
                          </a:schemeClr>
                        </a:solidFill>
                        <a:latin typeface="Yekan Bakh" pitchFamily="2" charset="-78"/>
                        <a:ea typeface="Yekan Bakh" pitchFamily="2" charset="-78"/>
                        <a:cs typeface="Yekan Bakh" pitchFamily="2" charset="-78"/>
                      </a:endParaRPr>
                    </a:p>
                  </a:txBody>
                  <a:tcPr marL="68621" marR="68621" marT="34310" marB="34310" anchor="ctr">
                    <a:solidFill>
                      <a:srgbClr val="1E2761">
                        <a:alpha val="20000"/>
                      </a:srgbClr>
                    </a:solidFill>
                  </a:tcPr>
                </a:tc>
                <a:tc>
                  <a:txBody>
                    <a:bodyPr/>
                    <a:lstStyle/>
                    <a:p>
                      <a:pPr algn="r" rtl="1"/>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رابطه</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شخصی</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با</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مالکان</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و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مدیران</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ارشد</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بنگاه‌های</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بزرگ</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داخلی</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یعنی</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شرکای</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بالقوه</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توزیع‌کننده</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و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مشتری</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برای</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ورودکننده</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خارجی</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1" i="0" kern="1200" dirty="0">
                          <a:solidFill>
                            <a:schemeClr val="tx1">
                              <a:lumMod val="75000"/>
                              <a:lumOff val="25000"/>
                            </a:schemeClr>
                          </a:solidFill>
                          <a:effectLst/>
                          <a:latin typeface="Yekan Bakh" pitchFamily="2" charset="-78"/>
                          <a:ea typeface="Yekan Bakh" pitchFamily="2" charset="-78"/>
                          <a:cs typeface="Yekan Bakh" pitchFamily="2" charset="-78"/>
                        </a:rPr>
                        <a:t>۵ =</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شبکه‌ای</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از</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ده‌ها</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رابطه</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فعال</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a:t>
                      </a:r>
                      <a:endParaRPr lang="en-GB" sz="700" dirty="0">
                        <a:solidFill>
                          <a:schemeClr val="tx1">
                            <a:lumMod val="75000"/>
                            <a:lumOff val="25000"/>
                          </a:schemeClr>
                        </a:solidFill>
                        <a:latin typeface="Yekan Bakh" pitchFamily="2" charset="-78"/>
                        <a:ea typeface="Yekan Bakh" pitchFamily="2" charset="-78"/>
                        <a:cs typeface="Yekan Bakh" pitchFamily="2" charset="-78"/>
                      </a:endParaRPr>
                    </a:p>
                  </a:txBody>
                  <a:tcPr marL="68621" marR="68621" marT="34310" marB="34310" anchor="ctr">
                    <a:solidFill>
                      <a:srgbClr val="1E2761">
                        <a:alpha val="20000"/>
                      </a:srgbClr>
                    </a:solidFill>
                  </a:tcPr>
                </a:tc>
                <a:tc>
                  <a:txBody>
                    <a:bodyPr/>
                    <a:lstStyle/>
                    <a:p>
                      <a:pPr algn="ctr" rtl="1"/>
                      <a:r>
                        <a:rPr lang="en-US" sz="900" b="0" i="0" kern="1200" dirty="0" err="1">
                          <a:solidFill>
                            <a:srgbClr val="1E2761"/>
                          </a:solidFill>
                          <a:effectLst/>
                          <a:latin typeface="Yekan Bakh" pitchFamily="2" charset="-78"/>
                          <a:ea typeface="Yekan Bakh" pitchFamily="2" charset="-78"/>
                          <a:cs typeface="Yekan Bakh" pitchFamily="2" charset="-78"/>
                        </a:rPr>
                        <a:t>دسترسی</a:t>
                      </a:r>
                      <a:r>
                        <a:rPr lang="en-US" sz="900" b="0" i="0" kern="1200" dirty="0">
                          <a:solidFill>
                            <a:srgbClr val="1E2761"/>
                          </a:solidFill>
                          <a:effectLst/>
                          <a:latin typeface="Yekan Bakh" pitchFamily="2" charset="-78"/>
                          <a:ea typeface="Yekan Bakh" pitchFamily="2" charset="-78"/>
                          <a:cs typeface="Yekan Bakh" pitchFamily="2" charset="-78"/>
                        </a:rPr>
                        <a:t> </a:t>
                      </a:r>
                      <a:r>
                        <a:rPr lang="en-US" sz="900" b="0" i="0" kern="1200" dirty="0" err="1">
                          <a:solidFill>
                            <a:srgbClr val="1E2761"/>
                          </a:solidFill>
                          <a:effectLst/>
                          <a:latin typeface="Yekan Bakh" pitchFamily="2" charset="-78"/>
                          <a:ea typeface="Yekan Bakh" pitchFamily="2" charset="-78"/>
                          <a:cs typeface="Yekan Bakh" pitchFamily="2" charset="-78"/>
                        </a:rPr>
                        <a:t>به</a:t>
                      </a:r>
                      <a:r>
                        <a:rPr lang="en-US" sz="900" b="0" i="0" kern="1200" dirty="0">
                          <a:solidFill>
                            <a:srgbClr val="1E2761"/>
                          </a:solidFill>
                          <a:effectLst/>
                          <a:latin typeface="Yekan Bakh" pitchFamily="2" charset="-78"/>
                          <a:ea typeface="Yekan Bakh" pitchFamily="2" charset="-78"/>
                          <a:cs typeface="Yekan Bakh" pitchFamily="2" charset="-78"/>
                        </a:rPr>
                        <a:t> </a:t>
                      </a:r>
                      <a:r>
                        <a:rPr lang="en-US" sz="900" b="0" i="0" kern="1200" dirty="0" err="1">
                          <a:solidFill>
                            <a:srgbClr val="1E2761"/>
                          </a:solidFill>
                          <a:effectLst/>
                          <a:latin typeface="Yekan Bakh" pitchFamily="2" charset="-78"/>
                          <a:ea typeface="Yekan Bakh" pitchFamily="2" charset="-78"/>
                          <a:cs typeface="Yekan Bakh" pitchFamily="2" charset="-78"/>
                        </a:rPr>
                        <a:t>بنگاه‌ها</a:t>
                      </a:r>
                      <a:r>
                        <a:rPr lang="en-US" sz="900" b="0" i="0" kern="1200" dirty="0">
                          <a:solidFill>
                            <a:srgbClr val="1E2761"/>
                          </a:solidFill>
                          <a:effectLst/>
                          <a:latin typeface="Yekan Bakh" pitchFamily="2" charset="-78"/>
                          <a:ea typeface="Yekan Bakh" pitchFamily="2" charset="-78"/>
                          <a:cs typeface="Yekan Bakh" pitchFamily="2" charset="-78"/>
                        </a:rPr>
                        <a:t> و </a:t>
                      </a:r>
                      <a:r>
                        <a:rPr lang="en-US" sz="900" b="0" i="0" kern="1200" dirty="0" err="1">
                          <a:solidFill>
                            <a:srgbClr val="1E2761"/>
                          </a:solidFill>
                          <a:effectLst/>
                          <a:latin typeface="Yekan Bakh" pitchFamily="2" charset="-78"/>
                          <a:ea typeface="Yekan Bakh" pitchFamily="2" charset="-78"/>
                          <a:cs typeface="Yekan Bakh" pitchFamily="2" charset="-78"/>
                        </a:rPr>
                        <a:t>خانواده‌های</a:t>
                      </a:r>
                      <a:r>
                        <a:rPr lang="en-US" sz="900" b="0" i="0" kern="1200" dirty="0">
                          <a:solidFill>
                            <a:srgbClr val="1E2761"/>
                          </a:solidFill>
                          <a:effectLst/>
                          <a:latin typeface="Yekan Bakh" pitchFamily="2" charset="-78"/>
                          <a:ea typeface="Yekan Bakh" pitchFamily="2" charset="-78"/>
                          <a:cs typeface="Yekan Bakh" pitchFamily="2" charset="-78"/>
                        </a:rPr>
                        <a:t> </a:t>
                      </a:r>
                      <a:r>
                        <a:rPr lang="en-US" sz="900" b="0" i="0" kern="1200" dirty="0" err="1">
                          <a:solidFill>
                            <a:srgbClr val="1E2761"/>
                          </a:solidFill>
                          <a:effectLst/>
                          <a:latin typeface="Yekan Bakh" pitchFamily="2" charset="-78"/>
                          <a:ea typeface="Yekan Bakh" pitchFamily="2" charset="-78"/>
                          <a:cs typeface="Yekan Bakh" pitchFamily="2" charset="-78"/>
                        </a:rPr>
                        <a:t>تجاری</a:t>
                      </a:r>
                      <a:endParaRPr lang="en-GB" sz="900" dirty="0">
                        <a:solidFill>
                          <a:srgbClr val="1E2761"/>
                        </a:solidFill>
                        <a:latin typeface="Yekan Bakh" pitchFamily="2" charset="-78"/>
                        <a:ea typeface="Yekan Bakh" pitchFamily="2" charset="-78"/>
                        <a:cs typeface="Yekan Bakh" pitchFamily="2" charset="-78"/>
                      </a:endParaRPr>
                    </a:p>
                  </a:txBody>
                  <a:tcPr marL="68621" marR="68621" marT="34310" marB="34310" anchor="ctr">
                    <a:solidFill>
                      <a:srgbClr val="1E2761">
                        <a:alpha val="20000"/>
                      </a:srgbClr>
                    </a:solidFill>
                  </a:tcPr>
                </a:tc>
                <a:tc>
                  <a:txBody>
                    <a:bodyPr/>
                    <a:lstStyle/>
                    <a:p>
                      <a:pPr algn="ctr" rtl="1"/>
                      <a:r>
                        <a:rPr lang="fa-IR" sz="900" dirty="0">
                          <a:latin typeface="Yekan Bakh" pitchFamily="2" charset="-78"/>
                          <a:ea typeface="Yekan Bakh" pitchFamily="2" charset="-78"/>
                          <a:cs typeface="Yekan Bakh" pitchFamily="2" charset="-78"/>
                        </a:rPr>
                        <a:t>د ۳</a:t>
                      </a:r>
                      <a:endParaRPr lang="en-GB" sz="900" dirty="0">
                        <a:latin typeface="Yekan Bakh" pitchFamily="2" charset="-78"/>
                        <a:ea typeface="Yekan Bakh" pitchFamily="2" charset="-78"/>
                        <a:cs typeface="Yekan Bakh" pitchFamily="2" charset="-78"/>
                      </a:endParaRPr>
                    </a:p>
                  </a:txBody>
                  <a:tcPr marL="68621" marR="68621" marT="34310" marB="34310" anchor="ctr">
                    <a:solidFill>
                      <a:srgbClr val="1E2761">
                        <a:alpha val="20000"/>
                      </a:srgbClr>
                    </a:solidFill>
                  </a:tcPr>
                </a:tc>
                <a:extLst>
                  <a:ext uri="{0D108BD9-81ED-4DB2-BD59-A6C34878D82A}">
                    <a16:rowId xmlns:a16="http://schemas.microsoft.com/office/drawing/2014/main" val="2370203960"/>
                  </a:ext>
                </a:extLst>
              </a:tr>
              <a:tr h="281295">
                <a:tc>
                  <a:txBody>
                    <a:bodyPr/>
                    <a:lstStyle/>
                    <a:p>
                      <a:pPr algn="r" rtl="1"/>
                      <a:r>
                        <a:rPr lang="en-US" sz="800" b="1" i="0" kern="1200" dirty="0" err="1">
                          <a:solidFill>
                            <a:schemeClr val="tx1">
                              <a:lumMod val="75000"/>
                              <a:lumOff val="25000"/>
                            </a:schemeClr>
                          </a:solidFill>
                          <a:effectLst/>
                          <a:latin typeface="Yekan Bakh" pitchFamily="2" charset="-78"/>
                          <a:ea typeface="Yekan Bakh" pitchFamily="2" charset="-78"/>
                          <a:cs typeface="Yekan Bakh" pitchFamily="2" charset="-78"/>
                        </a:rPr>
                        <a:t>مجموع</a:t>
                      </a:r>
                      <a:r>
                        <a:rPr lang="en-US" sz="800" b="1"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800" b="1" i="0" kern="1200" dirty="0" err="1">
                          <a:solidFill>
                            <a:schemeClr val="tx1">
                              <a:lumMod val="75000"/>
                              <a:lumOff val="25000"/>
                            </a:schemeClr>
                          </a:solidFill>
                          <a:effectLst/>
                          <a:latin typeface="Yekan Bakh" pitchFamily="2" charset="-78"/>
                          <a:ea typeface="Yekan Bakh" pitchFamily="2" charset="-78"/>
                          <a:cs typeface="Yekan Bakh" pitchFamily="2" charset="-78"/>
                        </a:rPr>
                        <a:t>سقف‌دار</a:t>
                      </a:r>
                      <a:r>
                        <a:rPr lang="en-US" sz="800" b="0" i="0" kern="1200" dirty="0">
                          <a:solidFill>
                            <a:schemeClr val="tx1">
                              <a:lumMod val="75000"/>
                              <a:lumOff val="25000"/>
                            </a:schemeClr>
                          </a:solidFill>
                          <a:effectLst/>
                          <a:latin typeface="Yekan Bakh" pitchFamily="2" charset="-78"/>
                          <a:ea typeface="Yekan Bakh" pitchFamily="2" charset="-78"/>
                          <a:cs typeface="Yekan Bakh" pitchFamily="2" charset="-78"/>
                        </a:rPr>
                        <a:t> — </a:t>
                      </a:r>
                      <a:r>
                        <a:rPr lang="en-US" sz="800" b="0" i="0" kern="1200" dirty="0" err="1">
                          <a:solidFill>
                            <a:schemeClr val="tx1">
                              <a:lumMod val="75000"/>
                              <a:lumOff val="25000"/>
                            </a:schemeClr>
                          </a:solidFill>
                          <a:effectLst/>
                          <a:latin typeface="Yekan Bakh" pitchFamily="2" charset="-78"/>
                          <a:ea typeface="Yekan Bakh" pitchFamily="2" charset="-78"/>
                          <a:cs typeface="Yekan Bakh" pitchFamily="2" charset="-78"/>
                        </a:rPr>
                        <a:t>شبکه‌ها</a:t>
                      </a:r>
                      <a:r>
                        <a:rPr lang="en-US" sz="8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800" b="0" i="0" kern="1200" dirty="0" err="1">
                          <a:solidFill>
                            <a:schemeClr val="tx1">
                              <a:lumMod val="75000"/>
                              <a:lumOff val="25000"/>
                            </a:schemeClr>
                          </a:solidFill>
                          <a:effectLst/>
                          <a:latin typeface="Yekan Bakh" pitchFamily="2" charset="-78"/>
                          <a:ea typeface="Yekan Bakh" pitchFamily="2" charset="-78"/>
                          <a:cs typeface="Yekan Bakh" pitchFamily="2" charset="-78"/>
                        </a:rPr>
                        <a:t>مکمل‌اند</a:t>
                      </a:r>
                      <a:endParaRPr lang="en-GB" sz="800" dirty="0">
                        <a:solidFill>
                          <a:schemeClr val="tx1">
                            <a:lumMod val="75000"/>
                            <a:lumOff val="25000"/>
                          </a:schemeClr>
                        </a:solidFill>
                        <a:latin typeface="Yekan Bakh" pitchFamily="2" charset="-78"/>
                        <a:ea typeface="Yekan Bakh" pitchFamily="2" charset="-78"/>
                        <a:cs typeface="Yekan Bakh" pitchFamily="2" charset="-78"/>
                      </a:endParaRPr>
                    </a:p>
                  </a:txBody>
                  <a:tcPr marL="68621" marR="68621" marT="34310" marB="34310" anchor="ctr">
                    <a:solidFill>
                      <a:schemeClr val="bg1">
                        <a:lumMod val="85000"/>
                        <a:alpha val="20000"/>
                      </a:schemeClr>
                    </a:solidFill>
                  </a:tcPr>
                </a:tc>
                <a:tc>
                  <a:txBody>
                    <a:bodyPr/>
                    <a:lstStyle/>
                    <a:p>
                      <a:pPr algn="r" rtl="1"/>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روابط</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خارج</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از</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کشور</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که</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می‌تواند</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جریان</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مشتری</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ورودی</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بسازد</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1" i="0" kern="1200" dirty="0">
                          <a:solidFill>
                            <a:schemeClr val="tx1">
                              <a:lumMod val="75000"/>
                              <a:lumOff val="25000"/>
                            </a:schemeClr>
                          </a:solidFill>
                          <a:effectLst/>
                          <a:latin typeface="Yekan Bakh" pitchFamily="2" charset="-78"/>
                          <a:ea typeface="Yekan Bakh" pitchFamily="2" charset="-78"/>
                          <a:cs typeface="Yekan Bakh" pitchFamily="2" charset="-78"/>
                        </a:rPr>
                        <a:t>۵ =</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منبع</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پایدار</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ارجاع</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از</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چند</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کشور</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a:t>
                      </a:r>
                      <a:endParaRPr lang="en-GB" sz="700" dirty="0">
                        <a:solidFill>
                          <a:schemeClr val="tx1">
                            <a:lumMod val="75000"/>
                            <a:lumOff val="25000"/>
                          </a:schemeClr>
                        </a:solidFill>
                        <a:latin typeface="Yekan Bakh" pitchFamily="2" charset="-78"/>
                        <a:ea typeface="Yekan Bakh" pitchFamily="2" charset="-78"/>
                        <a:cs typeface="Yekan Bakh" pitchFamily="2" charset="-78"/>
                      </a:endParaRPr>
                    </a:p>
                  </a:txBody>
                  <a:tcPr marL="68621" marR="68621" marT="34310" marB="34310" anchor="ctr">
                    <a:solidFill>
                      <a:schemeClr val="bg1">
                        <a:lumMod val="85000"/>
                        <a:alpha val="20000"/>
                      </a:schemeClr>
                    </a:solidFill>
                  </a:tcPr>
                </a:tc>
                <a:tc>
                  <a:txBody>
                    <a:bodyPr/>
                    <a:lstStyle/>
                    <a:p>
                      <a:pPr algn="ctr" rtl="1"/>
                      <a:r>
                        <a:rPr lang="en-US" sz="900" b="0" i="0" kern="1200" dirty="0" err="1">
                          <a:solidFill>
                            <a:srgbClr val="1E2761"/>
                          </a:solidFill>
                          <a:effectLst/>
                          <a:latin typeface="Yekan Bakh" pitchFamily="2" charset="-78"/>
                          <a:ea typeface="Yekan Bakh" pitchFamily="2" charset="-78"/>
                          <a:cs typeface="Yekan Bakh" pitchFamily="2" charset="-78"/>
                        </a:rPr>
                        <a:t>شبکه</a:t>
                      </a:r>
                      <a:r>
                        <a:rPr lang="en-US" sz="900" b="0" i="0" kern="1200" dirty="0">
                          <a:solidFill>
                            <a:srgbClr val="1E2761"/>
                          </a:solidFill>
                          <a:effectLst/>
                          <a:latin typeface="Yekan Bakh" pitchFamily="2" charset="-78"/>
                          <a:ea typeface="Yekan Bakh" pitchFamily="2" charset="-78"/>
                          <a:cs typeface="Yekan Bakh" pitchFamily="2" charset="-78"/>
                        </a:rPr>
                        <a:t> </a:t>
                      </a:r>
                      <a:r>
                        <a:rPr lang="en-US" sz="900" b="0" i="0" kern="1200" dirty="0" err="1">
                          <a:solidFill>
                            <a:srgbClr val="1E2761"/>
                          </a:solidFill>
                          <a:effectLst/>
                          <a:latin typeface="Yekan Bakh" pitchFamily="2" charset="-78"/>
                          <a:ea typeface="Yekan Bakh" pitchFamily="2" charset="-78"/>
                          <a:cs typeface="Yekan Bakh" pitchFamily="2" charset="-78"/>
                        </a:rPr>
                        <a:t>بین‌المللی</a:t>
                      </a:r>
                      <a:r>
                        <a:rPr lang="en-US" sz="900" b="0" i="0" kern="1200" dirty="0">
                          <a:solidFill>
                            <a:srgbClr val="1E2761"/>
                          </a:solidFill>
                          <a:effectLst/>
                          <a:latin typeface="Yekan Bakh" pitchFamily="2" charset="-78"/>
                          <a:ea typeface="Yekan Bakh" pitchFamily="2" charset="-78"/>
                          <a:cs typeface="Yekan Bakh" pitchFamily="2" charset="-78"/>
                        </a:rPr>
                        <a:t> و </a:t>
                      </a:r>
                      <a:r>
                        <a:rPr lang="en-US" sz="900" b="0" i="0" kern="1200" dirty="0" err="1">
                          <a:solidFill>
                            <a:srgbClr val="1E2761"/>
                          </a:solidFill>
                          <a:effectLst/>
                          <a:latin typeface="Yekan Bakh" pitchFamily="2" charset="-78"/>
                          <a:ea typeface="Yekan Bakh" pitchFamily="2" charset="-78"/>
                          <a:cs typeface="Yekan Bakh" pitchFamily="2" charset="-78"/>
                        </a:rPr>
                        <a:t>دیاسپورا</a:t>
                      </a:r>
                      <a:endParaRPr lang="en-GB" sz="900" dirty="0">
                        <a:solidFill>
                          <a:srgbClr val="1E2761"/>
                        </a:solidFill>
                        <a:latin typeface="Yekan Bakh" pitchFamily="2" charset="-78"/>
                        <a:ea typeface="Yekan Bakh" pitchFamily="2" charset="-78"/>
                        <a:cs typeface="Yekan Bakh" pitchFamily="2" charset="-78"/>
                      </a:endParaRPr>
                    </a:p>
                  </a:txBody>
                  <a:tcPr marL="68621" marR="68621" marT="34310" marB="34310" anchor="ctr">
                    <a:solidFill>
                      <a:schemeClr val="bg1">
                        <a:lumMod val="85000"/>
                        <a:alpha val="20000"/>
                      </a:schemeClr>
                    </a:solidFill>
                  </a:tcPr>
                </a:tc>
                <a:tc>
                  <a:txBody>
                    <a:bodyPr/>
                    <a:lstStyle/>
                    <a:p>
                      <a:pPr algn="ctr" rtl="1"/>
                      <a:r>
                        <a:rPr lang="fa-IR" sz="900" dirty="0">
                          <a:latin typeface="Yekan Bakh" pitchFamily="2" charset="-78"/>
                          <a:ea typeface="Yekan Bakh" pitchFamily="2" charset="-78"/>
                          <a:cs typeface="Yekan Bakh" pitchFamily="2" charset="-78"/>
                        </a:rPr>
                        <a:t>د ۴</a:t>
                      </a:r>
                      <a:endParaRPr lang="en-GB" sz="900" dirty="0">
                        <a:latin typeface="Yekan Bakh" pitchFamily="2" charset="-78"/>
                        <a:ea typeface="Yekan Bakh" pitchFamily="2" charset="-78"/>
                        <a:cs typeface="Yekan Bakh" pitchFamily="2" charset="-78"/>
                      </a:endParaRPr>
                    </a:p>
                  </a:txBody>
                  <a:tcPr marL="68621" marR="68621" marT="34310" marB="34310" anchor="ctr">
                    <a:solidFill>
                      <a:schemeClr val="bg1">
                        <a:lumMod val="85000"/>
                        <a:alpha val="20000"/>
                      </a:schemeClr>
                    </a:solidFill>
                  </a:tcPr>
                </a:tc>
                <a:extLst>
                  <a:ext uri="{0D108BD9-81ED-4DB2-BD59-A6C34878D82A}">
                    <a16:rowId xmlns:a16="http://schemas.microsoft.com/office/drawing/2014/main" val="167284021"/>
                  </a:ext>
                </a:extLst>
              </a:tr>
              <a:tr h="281295">
                <a:tc>
                  <a:txBody>
                    <a:bodyPr/>
                    <a:lstStyle/>
                    <a:p>
                      <a:pPr algn="r" rtl="1"/>
                      <a:r>
                        <a:rPr lang="en-US" sz="800" b="1" i="0" kern="1200" dirty="0" err="1">
                          <a:solidFill>
                            <a:schemeClr val="tx1">
                              <a:lumMod val="75000"/>
                              <a:lumOff val="25000"/>
                            </a:schemeClr>
                          </a:solidFill>
                          <a:effectLst/>
                          <a:latin typeface="Yekan Bakh" pitchFamily="2" charset="-78"/>
                          <a:ea typeface="Yekan Bakh" pitchFamily="2" charset="-78"/>
                          <a:cs typeface="Yekan Bakh" pitchFamily="2" charset="-78"/>
                        </a:rPr>
                        <a:t>مجموع</a:t>
                      </a:r>
                      <a:r>
                        <a:rPr lang="en-US" sz="800" b="0" i="0" kern="1200" dirty="0">
                          <a:solidFill>
                            <a:schemeClr val="tx1">
                              <a:lumMod val="75000"/>
                              <a:lumOff val="25000"/>
                            </a:schemeClr>
                          </a:solidFill>
                          <a:effectLst/>
                          <a:latin typeface="Yekan Bakh" pitchFamily="2" charset="-78"/>
                          <a:ea typeface="Yekan Bakh" pitchFamily="2" charset="-78"/>
                          <a:cs typeface="Yekan Bakh" pitchFamily="2" charset="-78"/>
                        </a:rPr>
                        <a:t> — </a:t>
                      </a:r>
                      <a:r>
                        <a:rPr lang="en-US" sz="800" b="0" i="0" kern="1200" dirty="0" err="1">
                          <a:solidFill>
                            <a:schemeClr val="tx1">
                              <a:lumMod val="75000"/>
                              <a:lumOff val="25000"/>
                            </a:schemeClr>
                          </a:solidFill>
                          <a:effectLst/>
                          <a:latin typeface="Yekan Bakh" pitchFamily="2" charset="-78"/>
                          <a:ea typeface="Yekan Bakh" pitchFamily="2" charset="-78"/>
                          <a:cs typeface="Yekan Bakh" pitchFamily="2" charset="-78"/>
                        </a:rPr>
                        <a:t>سرمایه</a:t>
                      </a:r>
                      <a:r>
                        <a:rPr lang="en-US" sz="8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800" b="0" i="0" kern="1200" dirty="0" err="1">
                          <a:solidFill>
                            <a:schemeClr val="tx1">
                              <a:lumMod val="75000"/>
                              <a:lumOff val="25000"/>
                            </a:schemeClr>
                          </a:solidFill>
                          <a:effectLst/>
                          <a:latin typeface="Yekan Bakh" pitchFamily="2" charset="-78"/>
                          <a:ea typeface="Yekan Bakh" pitchFamily="2" charset="-78"/>
                          <a:cs typeface="Yekan Bakh" pitchFamily="2" charset="-78"/>
                        </a:rPr>
                        <a:t>جمع‌شدنی</a:t>
                      </a:r>
                      <a:r>
                        <a:rPr lang="en-US" sz="8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800" b="0" i="0" kern="1200" dirty="0" err="1">
                          <a:solidFill>
                            <a:schemeClr val="tx1">
                              <a:lumMod val="75000"/>
                              <a:lumOff val="25000"/>
                            </a:schemeClr>
                          </a:solidFill>
                          <a:effectLst/>
                          <a:latin typeface="Yekan Bakh" pitchFamily="2" charset="-78"/>
                          <a:ea typeface="Yekan Bakh" pitchFamily="2" charset="-78"/>
                          <a:cs typeface="Yekan Bakh" pitchFamily="2" charset="-78"/>
                        </a:rPr>
                        <a:t>است</a:t>
                      </a:r>
                      <a:endParaRPr lang="en-GB" sz="800" dirty="0">
                        <a:solidFill>
                          <a:schemeClr val="tx1">
                            <a:lumMod val="75000"/>
                            <a:lumOff val="25000"/>
                          </a:schemeClr>
                        </a:solidFill>
                        <a:latin typeface="Yekan Bakh" pitchFamily="2" charset="-78"/>
                        <a:ea typeface="Yekan Bakh" pitchFamily="2" charset="-78"/>
                        <a:cs typeface="Yekan Bakh" pitchFamily="2" charset="-78"/>
                      </a:endParaRPr>
                    </a:p>
                  </a:txBody>
                  <a:tcPr marL="68621" marR="68621" marT="34310" marB="34310" anchor="ctr">
                    <a:solidFill>
                      <a:srgbClr val="1E2761">
                        <a:alpha val="20000"/>
                      </a:srgbClr>
                    </a:solidFill>
                  </a:tcPr>
                </a:tc>
                <a:tc>
                  <a:txBody>
                    <a:bodyPr/>
                    <a:lstStyle/>
                    <a:p>
                      <a:pPr algn="r" rtl="1"/>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نقدینگی</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یا</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دارایی</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نقدشونده‌ای</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که</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واقعاً</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حاضرید</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به</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این</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کسب‌وکار</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اختصاص</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دهید</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نه</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کل</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ثروت</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1" i="0" kern="1200" dirty="0">
                          <a:solidFill>
                            <a:schemeClr val="tx1">
                              <a:lumMod val="75000"/>
                              <a:lumOff val="25000"/>
                            </a:schemeClr>
                          </a:solidFill>
                          <a:effectLst/>
                          <a:latin typeface="Yekan Bakh" pitchFamily="2" charset="-78"/>
                          <a:ea typeface="Yekan Bakh" pitchFamily="2" charset="-78"/>
                          <a:cs typeface="Yekan Bakh" pitchFamily="2" charset="-78"/>
                        </a:rPr>
                        <a:t>۵ =</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توان</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تعهد</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چندین</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میلیون</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دلار</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به‌صورت</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صبور</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a:t>
                      </a:r>
                      <a:endParaRPr lang="en-GB" sz="700" dirty="0">
                        <a:solidFill>
                          <a:schemeClr val="tx1">
                            <a:lumMod val="75000"/>
                            <a:lumOff val="25000"/>
                          </a:schemeClr>
                        </a:solidFill>
                        <a:latin typeface="Yekan Bakh" pitchFamily="2" charset="-78"/>
                        <a:ea typeface="Yekan Bakh" pitchFamily="2" charset="-78"/>
                        <a:cs typeface="Yekan Bakh" pitchFamily="2" charset="-78"/>
                      </a:endParaRPr>
                    </a:p>
                  </a:txBody>
                  <a:tcPr marL="68621" marR="68621" marT="34310" marB="34310" anchor="ctr">
                    <a:solidFill>
                      <a:srgbClr val="1E2761">
                        <a:alpha val="20000"/>
                      </a:srgbClr>
                    </a:solidFill>
                  </a:tcPr>
                </a:tc>
                <a:tc>
                  <a:txBody>
                    <a:bodyPr/>
                    <a:lstStyle/>
                    <a:p>
                      <a:pPr algn="ctr" rtl="1"/>
                      <a:r>
                        <a:rPr lang="en-US" sz="900" b="0" i="0" kern="1200" dirty="0" err="1">
                          <a:solidFill>
                            <a:srgbClr val="1E2761"/>
                          </a:solidFill>
                          <a:effectLst/>
                          <a:latin typeface="Yekan Bakh" pitchFamily="2" charset="-78"/>
                          <a:ea typeface="Yekan Bakh" pitchFamily="2" charset="-78"/>
                          <a:cs typeface="Yekan Bakh" pitchFamily="2" charset="-78"/>
                        </a:rPr>
                        <a:t>سرمایه</a:t>
                      </a:r>
                      <a:r>
                        <a:rPr lang="en-US" sz="900" b="0" i="0" kern="1200" dirty="0">
                          <a:solidFill>
                            <a:srgbClr val="1E2761"/>
                          </a:solidFill>
                          <a:effectLst/>
                          <a:latin typeface="Yekan Bakh" pitchFamily="2" charset="-78"/>
                          <a:ea typeface="Yekan Bakh" pitchFamily="2" charset="-78"/>
                          <a:cs typeface="Yekan Bakh" pitchFamily="2" charset="-78"/>
                        </a:rPr>
                        <a:t> </a:t>
                      </a:r>
                      <a:r>
                        <a:rPr lang="en-US" sz="900" b="0" i="0" kern="1200" dirty="0" err="1">
                          <a:solidFill>
                            <a:srgbClr val="1E2761"/>
                          </a:solidFill>
                          <a:effectLst/>
                          <a:latin typeface="Yekan Bakh" pitchFamily="2" charset="-78"/>
                          <a:ea typeface="Yekan Bakh" pitchFamily="2" charset="-78"/>
                          <a:cs typeface="Yekan Bakh" pitchFamily="2" charset="-78"/>
                        </a:rPr>
                        <a:t>قابل</a:t>
                      </a:r>
                      <a:r>
                        <a:rPr lang="en-US" sz="900" b="0" i="0" kern="1200" dirty="0">
                          <a:solidFill>
                            <a:srgbClr val="1E2761"/>
                          </a:solidFill>
                          <a:effectLst/>
                          <a:latin typeface="Yekan Bakh" pitchFamily="2" charset="-78"/>
                          <a:ea typeface="Yekan Bakh" pitchFamily="2" charset="-78"/>
                          <a:cs typeface="Yekan Bakh" pitchFamily="2" charset="-78"/>
                        </a:rPr>
                        <a:t> </a:t>
                      </a:r>
                      <a:r>
                        <a:rPr lang="en-US" sz="900" b="0" i="0" kern="1200" dirty="0" err="1">
                          <a:solidFill>
                            <a:srgbClr val="1E2761"/>
                          </a:solidFill>
                          <a:effectLst/>
                          <a:latin typeface="Yekan Bakh" pitchFamily="2" charset="-78"/>
                          <a:ea typeface="Yekan Bakh" pitchFamily="2" charset="-78"/>
                          <a:cs typeface="Yekan Bakh" pitchFamily="2" charset="-78"/>
                        </a:rPr>
                        <a:t>تخصیص</a:t>
                      </a:r>
                      <a:endParaRPr lang="en-GB" sz="900" dirty="0">
                        <a:solidFill>
                          <a:srgbClr val="1E2761"/>
                        </a:solidFill>
                        <a:latin typeface="Yekan Bakh" pitchFamily="2" charset="-78"/>
                        <a:ea typeface="Yekan Bakh" pitchFamily="2" charset="-78"/>
                        <a:cs typeface="Yekan Bakh" pitchFamily="2" charset="-78"/>
                      </a:endParaRPr>
                    </a:p>
                  </a:txBody>
                  <a:tcPr marL="68621" marR="68621" marT="34310" marB="34310" anchor="ctr">
                    <a:solidFill>
                      <a:srgbClr val="1E2761">
                        <a:alpha val="20000"/>
                      </a:srgbClr>
                    </a:solidFill>
                  </a:tcPr>
                </a:tc>
                <a:tc>
                  <a:txBody>
                    <a:bodyPr/>
                    <a:lstStyle/>
                    <a:p>
                      <a:pPr algn="ctr" rtl="1"/>
                      <a:r>
                        <a:rPr lang="fa-IR" sz="900" dirty="0">
                          <a:latin typeface="Yekan Bakh" pitchFamily="2" charset="-78"/>
                          <a:ea typeface="Yekan Bakh" pitchFamily="2" charset="-78"/>
                          <a:cs typeface="Yekan Bakh" pitchFamily="2" charset="-78"/>
                        </a:rPr>
                        <a:t>ض ۱</a:t>
                      </a:r>
                      <a:endParaRPr lang="en-GB" sz="900" dirty="0">
                        <a:latin typeface="Yekan Bakh" pitchFamily="2" charset="-78"/>
                        <a:ea typeface="Yekan Bakh" pitchFamily="2" charset="-78"/>
                        <a:cs typeface="Yekan Bakh" pitchFamily="2" charset="-78"/>
                      </a:endParaRPr>
                    </a:p>
                  </a:txBody>
                  <a:tcPr marL="68621" marR="68621" marT="34310" marB="34310" anchor="ctr">
                    <a:solidFill>
                      <a:srgbClr val="1E2761">
                        <a:alpha val="20000"/>
                      </a:srgbClr>
                    </a:solidFill>
                  </a:tcPr>
                </a:tc>
                <a:extLst>
                  <a:ext uri="{0D108BD9-81ED-4DB2-BD59-A6C34878D82A}">
                    <a16:rowId xmlns:a16="http://schemas.microsoft.com/office/drawing/2014/main" val="459703765"/>
                  </a:ext>
                </a:extLst>
              </a:tr>
              <a:tr h="281295">
                <a:tc>
                  <a:txBody>
                    <a:bodyPr/>
                    <a:lstStyle/>
                    <a:p>
                      <a:pPr algn="r" rtl="1"/>
                      <a:r>
                        <a:rPr lang="en-US" sz="800" b="1" i="0" kern="1200" dirty="0" err="1">
                          <a:solidFill>
                            <a:schemeClr val="tx1">
                              <a:lumMod val="75000"/>
                              <a:lumOff val="25000"/>
                            </a:schemeClr>
                          </a:solidFill>
                          <a:effectLst/>
                          <a:latin typeface="Yekan Bakh" pitchFamily="2" charset="-78"/>
                          <a:ea typeface="Yekan Bakh" pitchFamily="2" charset="-78"/>
                          <a:cs typeface="Yekan Bakh" pitchFamily="2" charset="-78"/>
                        </a:rPr>
                        <a:t>مجموع</a:t>
                      </a:r>
                      <a:endParaRPr lang="en-GB" sz="800" dirty="0">
                        <a:solidFill>
                          <a:schemeClr val="tx1">
                            <a:lumMod val="75000"/>
                            <a:lumOff val="25000"/>
                          </a:schemeClr>
                        </a:solidFill>
                        <a:latin typeface="Yekan Bakh" pitchFamily="2" charset="-78"/>
                        <a:ea typeface="Yekan Bakh" pitchFamily="2" charset="-78"/>
                        <a:cs typeface="Yekan Bakh" pitchFamily="2" charset="-78"/>
                      </a:endParaRPr>
                    </a:p>
                  </a:txBody>
                  <a:tcPr marL="68621" marR="68621" marT="34310" marB="34310" anchor="ctr">
                    <a:solidFill>
                      <a:schemeClr val="bg1">
                        <a:lumMod val="85000"/>
                        <a:alpha val="20000"/>
                      </a:schemeClr>
                    </a:solidFill>
                  </a:tcPr>
                </a:tc>
                <a:tc>
                  <a:txBody>
                    <a:bodyPr/>
                    <a:lstStyle/>
                    <a:p>
                      <a:pPr algn="r" rtl="1"/>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توان</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و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تمایل</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به</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ایستادن</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پشت</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تعهد</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دیگری</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ضمانت‌نامه</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زیان</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اول</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تضمین</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عملکرد</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1" i="0" kern="1200" dirty="0">
                          <a:solidFill>
                            <a:schemeClr val="tx1">
                              <a:lumMod val="75000"/>
                              <a:lumOff val="25000"/>
                            </a:schemeClr>
                          </a:solidFill>
                          <a:effectLst/>
                          <a:latin typeface="Yekan Bakh" pitchFamily="2" charset="-78"/>
                          <a:ea typeface="Yekan Bakh" pitchFamily="2" charset="-78"/>
                          <a:cs typeface="Yekan Bakh" pitchFamily="2" charset="-78"/>
                        </a:rPr>
                        <a:t>۵ =</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اعتبار</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و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ترازنامه‌ای</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که</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ضمانتتان</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نزد</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طرف</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خارجی</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معنا</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دارد</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a:t>
                      </a:r>
                      <a:endParaRPr lang="en-GB" sz="700" dirty="0">
                        <a:solidFill>
                          <a:schemeClr val="tx1">
                            <a:lumMod val="75000"/>
                            <a:lumOff val="25000"/>
                          </a:schemeClr>
                        </a:solidFill>
                        <a:latin typeface="Yekan Bakh" pitchFamily="2" charset="-78"/>
                        <a:ea typeface="Yekan Bakh" pitchFamily="2" charset="-78"/>
                        <a:cs typeface="Yekan Bakh" pitchFamily="2" charset="-78"/>
                      </a:endParaRPr>
                    </a:p>
                  </a:txBody>
                  <a:tcPr marL="68621" marR="68621" marT="34310" marB="34310" anchor="ctr">
                    <a:solidFill>
                      <a:schemeClr val="bg1">
                        <a:lumMod val="85000"/>
                        <a:alpha val="20000"/>
                      </a:schemeClr>
                    </a:solidFill>
                  </a:tcPr>
                </a:tc>
                <a:tc>
                  <a:txBody>
                    <a:bodyPr/>
                    <a:lstStyle/>
                    <a:p>
                      <a:pPr algn="ctr" rtl="1"/>
                      <a:r>
                        <a:rPr lang="en-US" sz="900" b="0" i="0" kern="1200" dirty="0" err="1">
                          <a:solidFill>
                            <a:srgbClr val="1E2761"/>
                          </a:solidFill>
                          <a:effectLst/>
                          <a:latin typeface="Yekan Bakh" pitchFamily="2" charset="-78"/>
                          <a:ea typeface="Yekan Bakh" pitchFamily="2" charset="-78"/>
                          <a:cs typeface="Yekan Bakh" pitchFamily="2" charset="-78"/>
                        </a:rPr>
                        <a:t>ظرفیت</a:t>
                      </a:r>
                      <a:r>
                        <a:rPr lang="en-US" sz="900" b="0" i="0" kern="1200" dirty="0">
                          <a:solidFill>
                            <a:srgbClr val="1E2761"/>
                          </a:solidFill>
                          <a:effectLst/>
                          <a:latin typeface="Yekan Bakh" pitchFamily="2" charset="-78"/>
                          <a:ea typeface="Yekan Bakh" pitchFamily="2" charset="-78"/>
                          <a:cs typeface="Yekan Bakh" pitchFamily="2" charset="-78"/>
                        </a:rPr>
                        <a:t> </a:t>
                      </a:r>
                      <a:r>
                        <a:rPr lang="en-US" sz="900" b="0" i="0" kern="1200" dirty="0" err="1">
                          <a:solidFill>
                            <a:srgbClr val="1E2761"/>
                          </a:solidFill>
                          <a:effectLst/>
                          <a:latin typeface="Yekan Bakh" pitchFamily="2" charset="-78"/>
                          <a:ea typeface="Yekan Bakh" pitchFamily="2" charset="-78"/>
                          <a:cs typeface="Yekan Bakh" pitchFamily="2" charset="-78"/>
                        </a:rPr>
                        <a:t>ضمانت</a:t>
                      </a:r>
                      <a:r>
                        <a:rPr lang="en-US" sz="900" b="0" i="0" kern="1200" dirty="0">
                          <a:solidFill>
                            <a:srgbClr val="1E2761"/>
                          </a:solidFill>
                          <a:effectLst/>
                          <a:latin typeface="Yekan Bakh" pitchFamily="2" charset="-78"/>
                          <a:ea typeface="Yekan Bakh" pitchFamily="2" charset="-78"/>
                          <a:cs typeface="Yekan Bakh" pitchFamily="2" charset="-78"/>
                        </a:rPr>
                        <a:t> و </a:t>
                      </a:r>
                      <a:r>
                        <a:rPr lang="en-US" sz="900" b="0" i="0" kern="1200" dirty="0" err="1">
                          <a:solidFill>
                            <a:srgbClr val="1E2761"/>
                          </a:solidFill>
                          <a:effectLst/>
                          <a:latin typeface="Yekan Bakh" pitchFamily="2" charset="-78"/>
                          <a:ea typeface="Yekan Bakh" pitchFamily="2" charset="-78"/>
                          <a:cs typeface="Yekan Bakh" pitchFamily="2" charset="-78"/>
                        </a:rPr>
                        <a:t>پذیرش</a:t>
                      </a:r>
                      <a:r>
                        <a:rPr lang="en-US" sz="900" b="0" i="0" kern="1200" dirty="0">
                          <a:solidFill>
                            <a:srgbClr val="1E2761"/>
                          </a:solidFill>
                          <a:effectLst/>
                          <a:latin typeface="Yekan Bakh" pitchFamily="2" charset="-78"/>
                          <a:ea typeface="Yekan Bakh" pitchFamily="2" charset="-78"/>
                          <a:cs typeface="Yekan Bakh" pitchFamily="2" charset="-78"/>
                        </a:rPr>
                        <a:t> </a:t>
                      </a:r>
                      <a:r>
                        <a:rPr lang="en-US" sz="900" b="0" i="0" kern="1200" dirty="0" err="1">
                          <a:solidFill>
                            <a:srgbClr val="1E2761"/>
                          </a:solidFill>
                          <a:effectLst/>
                          <a:latin typeface="Yekan Bakh" pitchFamily="2" charset="-78"/>
                          <a:ea typeface="Yekan Bakh" pitchFamily="2" charset="-78"/>
                          <a:cs typeface="Yekan Bakh" pitchFamily="2" charset="-78"/>
                        </a:rPr>
                        <a:t>ریسک</a:t>
                      </a:r>
                      <a:r>
                        <a:rPr lang="en-US" sz="900" b="0" i="0" kern="1200" dirty="0">
                          <a:solidFill>
                            <a:srgbClr val="1E2761"/>
                          </a:solidFill>
                          <a:effectLst/>
                          <a:latin typeface="Yekan Bakh" pitchFamily="2" charset="-78"/>
                          <a:ea typeface="Yekan Bakh" pitchFamily="2" charset="-78"/>
                          <a:cs typeface="Yekan Bakh" pitchFamily="2" charset="-78"/>
                        </a:rPr>
                        <a:t> </a:t>
                      </a:r>
                      <a:r>
                        <a:rPr lang="en-US" sz="900" b="0" i="0" kern="1200" dirty="0" err="1">
                          <a:solidFill>
                            <a:srgbClr val="1E2761"/>
                          </a:solidFill>
                          <a:effectLst/>
                          <a:latin typeface="Yekan Bakh" pitchFamily="2" charset="-78"/>
                          <a:ea typeface="Yekan Bakh" pitchFamily="2" charset="-78"/>
                          <a:cs typeface="Yekan Bakh" pitchFamily="2" charset="-78"/>
                        </a:rPr>
                        <a:t>اول</a:t>
                      </a:r>
                      <a:endParaRPr lang="en-GB" sz="900" dirty="0">
                        <a:solidFill>
                          <a:srgbClr val="1E2761"/>
                        </a:solidFill>
                        <a:latin typeface="Yekan Bakh" pitchFamily="2" charset="-78"/>
                        <a:ea typeface="Yekan Bakh" pitchFamily="2" charset="-78"/>
                        <a:cs typeface="Yekan Bakh" pitchFamily="2" charset="-78"/>
                      </a:endParaRPr>
                    </a:p>
                  </a:txBody>
                  <a:tcPr marL="68621" marR="68621" marT="34310" marB="34310" anchor="ctr">
                    <a:solidFill>
                      <a:schemeClr val="bg1">
                        <a:lumMod val="85000"/>
                        <a:alpha val="20000"/>
                      </a:schemeClr>
                    </a:solidFill>
                  </a:tcPr>
                </a:tc>
                <a:tc>
                  <a:txBody>
                    <a:bodyPr/>
                    <a:lstStyle/>
                    <a:p>
                      <a:pPr algn="ctr" rtl="1"/>
                      <a:r>
                        <a:rPr lang="fa-IR" sz="900" dirty="0">
                          <a:latin typeface="Yekan Bakh" pitchFamily="2" charset="-78"/>
                          <a:ea typeface="Yekan Bakh" pitchFamily="2" charset="-78"/>
                          <a:cs typeface="Yekan Bakh" pitchFamily="2" charset="-78"/>
                        </a:rPr>
                        <a:t>ض ۲</a:t>
                      </a:r>
                      <a:endParaRPr lang="en-GB" sz="900" dirty="0">
                        <a:latin typeface="Yekan Bakh" pitchFamily="2" charset="-78"/>
                        <a:ea typeface="Yekan Bakh" pitchFamily="2" charset="-78"/>
                        <a:cs typeface="Yekan Bakh" pitchFamily="2" charset="-78"/>
                      </a:endParaRPr>
                    </a:p>
                  </a:txBody>
                  <a:tcPr marL="68621" marR="68621" marT="34310" marB="34310" anchor="ctr">
                    <a:solidFill>
                      <a:schemeClr val="bg1">
                        <a:lumMod val="85000"/>
                        <a:alpha val="20000"/>
                      </a:schemeClr>
                    </a:solidFill>
                  </a:tcPr>
                </a:tc>
                <a:extLst>
                  <a:ext uri="{0D108BD9-81ED-4DB2-BD59-A6C34878D82A}">
                    <a16:rowId xmlns:a16="http://schemas.microsoft.com/office/drawing/2014/main" val="4206497901"/>
                  </a:ext>
                </a:extLst>
              </a:tr>
              <a:tr h="281295">
                <a:tc>
                  <a:txBody>
                    <a:bodyPr/>
                    <a:lstStyle/>
                    <a:p>
                      <a:pPr algn="r" rtl="1"/>
                      <a:r>
                        <a:rPr lang="en-US" sz="800" b="1" i="0" kern="1200" dirty="0" err="1">
                          <a:solidFill>
                            <a:schemeClr val="tx1">
                              <a:lumMod val="75000"/>
                              <a:lumOff val="25000"/>
                            </a:schemeClr>
                          </a:solidFill>
                          <a:effectLst/>
                          <a:latin typeface="Yekan Bakh" pitchFamily="2" charset="-78"/>
                          <a:ea typeface="Yekan Bakh" pitchFamily="2" charset="-78"/>
                          <a:cs typeface="Yekan Bakh" pitchFamily="2" charset="-78"/>
                        </a:rPr>
                        <a:t>بیشینه</a:t>
                      </a:r>
                      <a:endParaRPr lang="en-GB" sz="800" dirty="0">
                        <a:solidFill>
                          <a:schemeClr val="tx1">
                            <a:lumMod val="75000"/>
                            <a:lumOff val="25000"/>
                          </a:schemeClr>
                        </a:solidFill>
                        <a:latin typeface="Yekan Bakh" pitchFamily="2" charset="-78"/>
                        <a:ea typeface="Yekan Bakh" pitchFamily="2" charset="-78"/>
                        <a:cs typeface="Yekan Bakh" pitchFamily="2" charset="-78"/>
                      </a:endParaRPr>
                    </a:p>
                  </a:txBody>
                  <a:tcPr marL="68621" marR="68621" marT="34310" marB="34310" anchor="ctr">
                    <a:solidFill>
                      <a:srgbClr val="1E2761">
                        <a:alpha val="20000"/>
                      </a:srgbClr>
                    </a:solidFill>
                  </a:tcPr>
                </a:tc>
                <a:tc>
                  <a:txBody>
                    <a:bodyPr/>
                    <a:lstStyle/>
                    <a:p>
                      <a:pPr algn="r" rtl="1"/>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سابقه</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اثبات‌شده</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در</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تشخیص</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معامله</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خوب</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از</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بد</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و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شریک</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درست</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از</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غلط</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1" i="0" kern="1200" dirty="0">
                          <a:solidFill>
                            <a:schemeClr val="tx1">
                              <a:lumMod val="75000"/>
                              <a:lumOff val="25000"/>
                            </a:schemeClr>
                          </a:solidFill>
                          <a:effectLst/>
                          <a:latin typeface="Yekan Bakh" pitchFamily="2" charset="-78"/>
                          <a:ea typeface="Yekan Bakh" pitchFamily="2" charset="-78"/>
                          <a:cs typeface="Yekan Bakh" pitchFamily="2" charset="-78"/>
                        </a:rPr>
                        <a:t>۵ =</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ده‌ها</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معامله</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با</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نتیجه</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قابل</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راستی‌آزمایی</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a:t>
                      </a:r>
                      <a:endParaRPr lang="en-GB" sz="700" dirty="0">
                        <a:solidFill>
                          <a:schemeClr val="tx1">
                            <a:lumMod val="75000"/>
                            <a:lumOff val="25000"/>
                          </a:schemeClr>
                        </a:solidFill>
                        <a:latin typeface="Yekan Bakh" pitchFamily="2" charset="-78"/>
                        <a:ea typeface="Yekan Bakh" pitchFamily="2" charset="-78"/>
                        <a:cs typeface="Yekan Bakh" pitchFamily="2" charset="-78"/>
                      </a:endParaRPr>
                    </a:p>
                  </a:txBody>
                  <a:tcPr marL="68621" marR="68621" marT="34310" marB="34310" anchor="ctr">
                    <a:solidFill>
                      <a:srgbClr val="1E2761">
                        <a:alpha val="20000"/>
                      </a:srgbClr>
                    </a:solidFill>
                  </a:tcPr>
                </a:tc>
                <a:tc>
                  <a:txBody>
                    <a:bodyPr/>
                    <a:lstStyle/>
                    <a:p>
                      <a:pPr algn="ctr" rtl="1"/>
                      <a:r>
                        <a:rPr lang="en-US" sz="900" b="0" i="0" kern="1200" dirty="0" err="1">
                          <a:solidFill>
                            <a:srgbClr val="1E2761"/>
                          </a:solidFill>
                          <a:effectLst/>
                          <a:latin typeface="Yekan Bakh" pitchFamily="2" charset="-78"/>
                          <a:ea typeface="Yekan Bakh" pitchFamily="2" charset="-78"/>
                          <a:cs typeface="Yekan Bakh" pitchFamily="2" charset="-78"/>
                        </a:rPr>
                        <a:t>قضاوت</a:t>
                      </a:r>
                      <a:r>
                        <a:rPr lang="en-US" sz="900" b="0" i="0" kern="1200" dirty="0">
                          <a:solidFill>
                            <a:srgbClr val="1E2761"/>
                          </a:solidFill>
                          <a:effectLst/>
                          <a:latin typeface="Yekan Bakh" pitchFamily="2" charset="-78"/>
                          <a:ea typeface="Yekan Bakh" pitchFamily="2" charset="-78"/>
                          <a:cs typeface="Yekan Bakh" pitchFamily="2" charset="-78"/>
                        </a:rPr>
                        <a:t> </a:t>
                      </a:r>
                      <a:r>
                        <a:rPr lang="en-US" sz="900" b="0" i="0" kern="1200" dirty="0" err="1">
                          <a:solidFill>
                            <a:srgbClr val="1E2761"/>
                          </a:solidFill>
                          <a:effectLst/>
                          <a:latin typeface="Yekan Bakh" pitchFamily="2" charset="-78"/>
                          <a:ea typeface="Yekan Bakh" pitchFamily="2" charset="-78"/>
                          <a:cs typeface="Yekan Bakh" pitchFamily="2" charset="-78"/>
                        </a:rPr>
                        <a:t>معاملاتی</a:t>
                      </a:r>
                      <a:endParaRPr lang="en-GB" sz="900" dirty="0">
                        <a:solidFill>
                          <a:srgbClr val="1E2761"/>
                        </a:solidFill>
                        <a:latin typeface="Yekan Bakh" pitchFamily="2" charset="-78"/>
                        <a:ea typeface="Yekan Bakh" pitchFamily="2" charset="-78"/>
                        <a:cs typeface="Yekan Bakh" pitchFamily="2" charset="-78"/>
                      </a:endParaRPr>
                    </a:p>
                  </a:txBody>
                  <a:tcPr marL="68621" marR="68621" marT="34310" marB="34310" anchor="ctr">
                    <a:solidFill>
                      <a:srgbClr val="1E2761">
                        <a:alpha val="20000"/>
                      </a:srgbClr>
                    </a:solidFill>
                  </a:tcPr>
                </a:tc>
                <a:tc>
                  <a:txBody>
                    <a:bodyPr/>
                    <a:lstStyle/>
                    <a:p>
                      <a:pPr algn="ctr" rtl="1"/>
                      <a:r>
                        <a:rPr lang="fa-IR" sz="900" dirty="0">
                          <a:latin typeface="Yekan Bakh" pitchFamily="2" charset="-78"/>
                          <a:ea typeface="Yekan Bakh" pitchFamily="2" charset="-78"/>
                          <a:cs typeface="Yekan Bakh" pitchFamily="2" charset="-78"/>
                        </a:rPr>
                        <a:t>ق ۱</a:t>
                      </a:r>
                      <a:endParaRPr lang="en-GB" sz="900" dirty="0">
                        <a:latin typeface="Yekan Bakh" pitchFamily="2" charset="-78"/>
                        <a:ea typeface="Yekan Bakh" pitchFamily="2" charset="-78"/>
                        <a:cs typeface="Yekan Bakh" pitchFamily="2" charset="-78"/>
                      </a:endParaRPr>
                    </a:p>
                  </a:txBody>
                  <a:tcPr marL="68621" marR="68621" marT="34310" marB="34310" anchor="ctr">
                    <a:solidFill>
                      <a:srgbClr val="1E2761">
                        <a:alpha val="20000"/>
                      </a:srgbClr>
                    </a:solidFill>
                  </a:tcPr>
                </a:tc>
                <a:extLst>
                  <a:ext uri="{0D108BD9-81ED-4DB2-BD59-A6C34878D82A}">
                    <a16:rowId xmlns:a16="http://schemas.microsoft.com/office/drawing/2014/main" val="3744884884"/>
                  </a:ext>
                </a:extLst>
              </a:tr>
              <a:tr h="281295">
                <a:tc>
                  <a:txBody>
                    <a:bodyPr/>
                    <a:lstStyle/>
                    <a:p>
                      <a:pPr algn="r" rtl="1"/>
                      <a:r>
                        <a:rPr lang="en-US" sz="800" b="1" i="0" kern="1200" dirty="0" err="1">
                          <a:solidFill>
                            <a:schemeClr val="tx1">
                              <a:lumMod val="75000"/>
                              <a:lumOff val="25000"/>
                            </a:schemeClr>
                          </a:solidFill>
                          <a:effectLst/>
                          <a:latin typeface="Yekan Bakh" pitchFamily="2" charset="-78"/>
                          <a:ea typeface="Yekan Bakh" pitchFamily="2" charset="-78"/>
                          <a:cs typeface="Yekan Bakh" pitchFamily="2" charset="-78"/>
                        </a:rPr>
                        <a:t>مجموع</a:t>
                      </a:r>
                      <a:endParaRPr lang="en-GB" sz="800" dirty="0">
                        <a:solidFill>
                          <a:schemeClr val="tx1">
                            <a:lumMod val="75000"/>
                            <a:lumOff val="25000"/>
                          </a:schemeClr>
                        </a:solidFill>
                        <a:latin typeface="Yekan Bakh" pitchFamily="2" charset="-78"/>
                        <a:ea typeface="Yekan Bakh" pitchFamily="2" charset="-78"/>
                        <a:cs typeface="Yekan Bakh" pitchFamily="2" charset="-78"/>
                      </a:endParaRPr>
                    </a:p>
                  </a:txBody>
                  <a:tcPr marL="68621" marR="68621" marT="34310" marB="34310" anchor="ctr">
                    <a:solidFill>
                      <a:schemeClr val="bg1">
                        <a:lumMod val="85000"/>
                        <a:alpha val="20000"/>
                      </a:schemeClr>
                    </a:solidFill>
                  </a:tcPr>
                </a:tc>
                <a:tc>
                  <a:txBody>
                    <a:bodyPr/>
                    <a:lstStyle/>
                    <a:p>
                      <a:pPr algn="r" rtl="1"/>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شرکت‌های</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ثبت‌شده</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فعال</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مجوزهای</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کمیاب</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پروانه</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واردات</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کارت</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بازرگانی</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معتبر</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نمایندگی‌ها</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1" i="0" kern="1200" dirty="0">
                          <a:solidFill>
                            <a:schemeClr val="tx1">
                              <a:lumMod val="75000"/>
                              <a:lumOff val="25000"/>
                            </a:schemeClr>
                          </a:solidFill>
                          <a:effectLst/>
                          <a:latin typeface="Yekan Bakh" pitchFamily="2" charset="-78"/>
                          <a:ea typeface="Yekan Bakh" pitchFamily="2" charset="-78"/>
                          <a:cs typeface="Yekan Bakh" pitchFamily="2" charset="-78"/>
                        </a:rPr>
                        <a:t>۵ =</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سبدی</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از</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نهادهای</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آماده</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که</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فوراً</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قابل</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استفاده‌اند</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a:t>
                      </a:r>
                      <a:endParaRPr lang="en-GB" sz="700" dirty="0">
                        <a:solidFill>
                          <a:schemeClr val="tx1">
                            <a:lumMod val="75000"/>
                            <a:lumOff val="25000"/>
                          </a:schemeClr>
                        </a:solidFill>
                        <a:latin typeface="Yekan Bakh" pitchFamily="2" charset="-78"/>
                        <a:ea typeface="Yekan Bakh" pitchFamily="2" charset="-78"/>
                        <a:cs typeface="Yekan Bakh" pitchFamily="2" charset="-78"/>
                      </a:endParaRPr>
                    </a:p>
                  </a:txBody>
                  <a:tcPr marL="68621" marR="68621" marT="34310" marB="34310" anchor="ctr">
                    <a:solidFill>
                      <a:schemeClr val="bg1">
                        <a:lumMod val="85000"/>
                        <a:alpha val="20000"/>
                      </a:schemeClr>
                    </a:solidFill>
                  </a:tcPr>
                </a:tc>
                <a:tc>
                  <a:txBody>
                    <a:bodyPr/>
                    <a:lstStyle/>
                    <a:p>
                      <a:pPr algn="ctr" rtl="1"/>
                      <a:r>
                        <a:rPr lang="fa-IR" sz="900" dirty="0">
                          <a:solidFill>
                            <a:srgbClr val="1E2761"/>
                          </a:solidFill>
                          <a:latin typeface="Yekan Bakh" pitchFamily="2" charset="-78"/>
                          <a:ea typeface="Yekan Bakh" pitchFamily="2" charset="-78"/>
                          <a:cs typeface="Yekan Bakh" pitchFamily="2" charset="-78"/>
                        </a:rPr>
                        <a:t>نهادها، مجوزها و شرکت‌های موجود</a:t>
                      </a:r>
                      <a:endParaRPr lang="en-GB" sz="900" dirty="0">
                        <a:solidFill>
                          <a:srgbClr val="1E2761"/>
                        </a:solidFill>
                        <a:latin typeface="Yekan Bakh" pitchFamily="2" charset="-78"/>
                        <a:ea typeface="Yekan Bakh" pitchFamily="2" charset="-78"/>
                        <a:cs typeface="Yekan Bakh" pitchFamily="2" charset="-78"/>
                      </a:endParaRPr>
                    </a:p>
                  </a:txBody>
                  <a:tcPr marL="68621" marR="68621" marT="34310" marB="34310" anchor="ctr">
                    <a:solidFill>
                      <a:schemeClr val="bg1">
                        <a:lumMod val="85000"/>
                        <a:alpha val="20000"/>
                      </a:schemeClr>
                    </a:solidFill>
                  </a:tcPr>
                </a:tc>
                <a:tc>
                  <a:txBody>
                    <a:bodyPr/>
                    <a:lstStyle/>
                    <a:p>
                      <a:pPr algn="ctr" rtl="1"/>
                      <a:r>
                        <a:rPr lang="fa-IR" sz="900" dirty="0">
                          <a:latin typeface="Yekan Bakh" pitchFamily="2" charset="-78"/>
                          <a:ea typeface="Yekan Bakh" pitchFamily="2" charset="-78"/>
                          <a:cs typeface="Yekan Bakh" pitchFamily="2" charset="-78"/>
                        </a:rPr>
                        <a:t>م ۱</a:t>
                      </a:r>
                      <a:endParaRPr lang="en-GB" sz="900" dirty="0">
                        <a:latin typeface="Yekan Bakh" pitchFamily="2" charset="-78"/>
                        <a:ea typeface="Yekan Bakh" pitchFamily="2" charset="-78"/>
                        <a:cs typeface="Yekan Bakh" pitchFamily="2" charset="-78"/>
                      </a:endParaRPr>
                    </a:p>
                  </a:txBody>
                  <a:tcPr marL="68621" marR="68621" marT="34310" marB="34310" anchor="ctr">
                    <a:solidFill>
                      <a:schemeClr val="bg1">
                        <a:lumMod val="85000"/>
                        <a:alpha val="20000"/>
                      </a:schemeClr>
                    </a:solidFill>
                  </a:tcPr>
                </a:tc>
                <a:extLst>
                  <a:ext uri="{0D108BD9-81ED-4DB2-BD59-A6C34878D82A}">
                    <a16:rowId xmlns:a16="http://schemas.microsoft.com/office/drawing/2014/main" val="841406216"/>
                  </a:ext>
                </a:extLst>
              </a:tr>
              <a:tr h="281295">
                <a:tc>
                  <a:txBody>
                    <a:bodyPr/>
                    <a:lstStyle/>
                    <a:p>
                      <a:pPr algn="r" rtl="1"/>
                      <a:r>
                        <a:rPr lang="en-US" sz="800" b="1" i="0" kern="1200" dirty="0" err="1">
                          <a:solidFill>
                            <a:schemeClr val="tx1">
                              <a:lumMod val="75000"/>
                              <a:lumOff val="25000"/>
                            </a:schemeClr>
                          </a:solidFill>
                          <a:effectLst/>
                          <a:latin typeface="Yekan Bakh" pitchFamily="2" charset="-78"/>
                          <a:ea typeface="Yekan Bakh" pitchFamily="2" charset="-78"/>
                          <a:cs typeface="Yekan Bakh" pitchFamily="2" charset="-78"/>
                        </a:rPr>
                        <a:t>مجموع</a:t>
                      </a:r>
                      <a:endParaRPr lang="en-GB" sz="800" dirty="0">
                        <a:solidFill>
                          <a:schemeClr val="tx1">
                            <a:lumMod val="75000"/>
                            <a:lumOff val="25000"/>
                          </a:schemeClr>
                        </a:solidFill>
                        <a:latin typeface="Yekan Bakh" pitchFamily="2" charset="-78"/>
                        <a:ea typeface="Yekan Bakh" pitchFamily="2" charset="-78"/>
                        <a:cs typeface="Yekan Bakh" pitchFamily="2" charset="-78"/>
                      </a:endParaRPr>
                    </a:p>
                  </a:txBody>
                  <a:tcPr marL="68621" marR="68621" marT="34310" marB="34310" anchor="ctr">
                    <a:solidFill>
                      <a:srgbClr val="1E2761">
                        <a:alpha val="20000"/>
                      </a:srgbClr>
                    </a:solidFill>
                  </a:tcPr>
                </a:tc>
                <a:tc>
                  <a:txBody>
                    <a:bodyPr/>
                    <a:lstStyle/>
                    <a:p>
                      <a:pPr algn="r" rtl="1"/>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انبار</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ملک</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اداری</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ناوگان</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شبکه</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پخش</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فروشگاه</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خط</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تولید</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مازاد</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1" i="0" kern="1200" dirty="0">
                          <a:solidFill>
                            <a:schemeClr val="tx1">
                              <a:lumMod val="75000"/>
                              <a:lumOff val="25000"/>
                            </a:schemeClr>
                          </a:solidFill>
                          <a:effectLst/>
                          <a:latin typeface="Yekan Bakh" pitchFamily="2" charset="-78"/>
                          <a:ea typeface="Yekan Bakh" pitchFamily="2" charset="-78"/>
                          <a:cs typeface="Yekan Bakh" pitchFamily="2" charset="-78"/>
                        </a:rPr>
                        <a:t>۵ =</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زیرساخت</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آماده‌ای</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که</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ورودکننده</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خارجی</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بابتش</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پول</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 </a:t>
                      </a:r>
                      <a:r>
                        <a:rPr lang="en-US" sz="700" b="0" i="0" kern="1200" dirty="0" err="1">
                          <a:solidFill>
                            <a:schemeClr val="tx1">
                              <a:lumMod val="75000"/>
                              <a:lumOff val="25000"/>
                            </a:schemeClr>
                          </a:solidFill>
                          <a:effectLst/>
                          <a:latin typeface="Yekan Bakh" pitchFamily="2" charset="-78"/>
                          <a:ea typeface="Yekan Bakh" pitchFamily="2" charset="-78"/>
                          <a:cs typeface="Yekan Bakh" pitchFamily="2" charset="-78"/>
                        </a:rPr>
                        <a:t>می‌دهد</a:t>
                      </a:r>
                      <a:r>
                        <a:rPr lang="en-US" sz="700" b="0" i="0" kern="1200" dirty="0">
                          <a:solidFill>
                            <a:schemeClr val="tx1">
                              <a:lumMod val="75000"/>
                              <a:lumOff val="25000"/>
                            </a:schemeClr>
                          </a:solidFill>
                          <a:effectLst/>
                          <a:latin typeface="Yekan Bakh" pitchFamily="2" charset="-78"/>
                          <a:ea typeface="Yekan Bakh" pitchFamily="2" charset="-78"/>
                          <a:cs typeface="Yekan Bakh" pitchFamily="2" charset="-78"/>
                        </a:rPr>
                        <a:t>.</a:t>
                      </a:r>
                      <a:endParaRPr lang="en-GB" sz="700" dirty="0">
                        <a:solidFill>
                          <a:schemeClr val="tx1">
                            <a:lumMod val="75000"/>
                            <a:lumOff val="25000"/>
                          </a:schemeClr>
                        </a:solidFill>
                        <a:latin typeface="Yekan Bakh" pitchFamily="2" charset="-78"/>
                        <a:ea typeface="Yekan Bakh" pitchFamily="2" charset="-78"/>
                        <a:cs typeface="Yekan Bakh" pitchFamily="2" charset="-78"/>
                      </a:endParaRPr>
                    </a:p>
                  </a:txBody>
                  <a:tcPr marL="68621" marR="68621" marT="34310" marB="34310" anchor="ctr">
                    <a:solidFill>
                      <a:srgbClr val="1E2761">
                        <a:alpha val="20000"/>
                      </a:srgbClr>
                    </a:solidFill>
                  </a:tcPr>
                </a:tc>
                <a:tc>
                  <a:txBody>
                    <a:bodyPr/>
                    <a:lstStyle/>
                    <a:p>
                      <a:pPr algn="ctr" rtl="1"/>
                      <a:r>
                        <a:rPr lang="en-US" sz="900" b="0" i="0" kern="1200" dirty="0" err="1">
                          <a:solidFill>
                            <a:srgbClr val="1E2761"/>
                          </a:solidFill>
                          <a:effectLst/>
                          <a:latin typeface="Yekan Bakh" pitchFamily="2" charset="-78"/>
                          <a:ea typeface="Yekan Bakh" pitchFamily="2" charset="-78"/>
                          <a:cs typeface="Yekan Bakh" pitchFamily="2" charset="-78"/>
                        </a:rPr>
                        <a:t>دارایی</a:t>
                      </a:r>
                      <a:r>
                        <a:rPr lang="en-US" sz="900" b="0" i="0" kern="1200" dirty="0">
                          <a:solidFill>
                            <a:srgbClr val="1E2761"/>
                          </a:solidFill>
                          <a:effectLst/>
                          <a:latin typeface="Yekan Bakh" pitchFamily="2" charset="-78"/>
                          <a:ea typeface="Yekan Bakh" pitchFamily="2" charset="-78"/>
                          <a:cs typeface="Yekan Bakh" pitchFamily="2" charset="-78"/>
                        </a:rPr>
                        <a:t> </a:t>
                      </a:r>
                      <a:r>
                        <a:rPr lang="en-US" sz="900" b="0" i="0" kern="1200" dirty="0" err="1">
                          <a:solidFill>
                            <a:srgbClr val="1E2761"/>
                          </a:solidFill>
                          <a:effectLst/>
                          <a:latin typeface="Yekan Bakh" pitchFamily="2" charset="-78"/>
                          <a:ea typeface="Yekan Bakh" pitchFamily="2" charset="-78"/>
                          <a:cs typeface="Yekan Bakh" pitchFamily="2" charset="-78"/>
                        </a:rPr>
                        <a:t>فیزیکی</a:t>
                      </a:r>
                      <a:r>
                        <a:rPr lang="en-US" sz="900" b="0" i="0" kern="1200" dirty="0">
                          <a:solidFill>
                            <a:srgbClr val="1E2761"/>
                          </a:solidFill>
                          <a:effectLst/>
                          <a:latin typeface="Yekan Bakh" pitchFamily="2" charset="-78"/>
                          <a:ea typeface="Yekan Bakh" pitchFamily="2" charset="-78"/>
                          <a:cs typeface="Yekan Bakh" pitchFamily="2" charset="-78"/>
                        </a:rPr>
                        <a:t> و </a:t>
                      </a:r>
                      <a:r>
                        <a:rPr lang="en-US" sz="900" b="0" i="0" kern="1200" dirty="0" err="1">
                          <a:solidFill>
                            <a:srgbClr val="1E2761"/>
                          </a:solidFill>
                          <a:effectLst/>
                          <a:latin typeface="Yekan Bakh" pitchFamily="2" charset="-78"/>
                          <a:ea typeface="Yekan Bakh" pitchFamily="2" charset="-78"/>
                          <a:cs typeface="Yekan Bakh" pitchFamily="2" charset="-78"/>
                        </a:rPr>
                        <a:t>شبکه</a:t>
                      </a:r>
                      <a:r>
                        <a:rPr lang="en-US" sz="900" b="0" i="0" kern="1200" dirty="0">
                          <a:solidFill>
                            <a:srgbClr val="1E2761"/>
                          </a:solidFill>
                          <a:effectLst/>
                          <a:latin typeface="Yekan Bakh" pitchFamily="2" charset="-78"/>
                          <a:ea typeface="Yekan Bakh" pitchFamily="2" charset="-78"/>
                          <a:cs typeface="Yekan Bakh" pitchFamily="2" charset="-78"/>
                        </a:rPr>
                        <a:t> </a:t>
                      </a:r>
                      <a:r>
                        <a:rPr lang="en-US" sz="900" b="0" i="0" kern="1200" dirty="0" err="1">
                          <a:solidFill>
                            <a:srgbClr val="1E2761"/>
                          </a:solidFill>
                          <a:effectLst/>
                          <a:latin typeface="Yekan Bakh" pitchFamily="2" charset="-78"/>
                          <a:ea typeface="Yekan Bakh" pitchFamily="2" charset="-78"/>
                          <a:cs typeface="Yekan Bakh" pitchFamily="2" charset="-78"/>
                        </a:rPr>
                        <a:t>توزیع</a:t>
                      </a:r>
                      <a:endParaRPr lang="en-GB" sz="900" dirty="0">
                        <a:solidFill>
                          <a:srgbClr val="1E2761"/>
                        </a:solidFill>
                        <a:latin typeface="Yekan Bakh" pitchFamily="2" charset="-78"/>
                        <a:ea typeface="Yekan Bakh" pitchFamily="2" charset="-78"/>
                        <a:cs typeface="Yekan Bakh" pitchFamily="2" charset="-78"/>
                      </a:endParaRPr>
                    </a:p>
                  </a:txBody>
                  <a:tcPr marL="68621" marR="68621" marT="34310" marB="34310" anchor="ctr">
                    <a:solidFill>
                      <a:srgbClr val="1E2761">
                        <a:alpha val="20000"/>
                      </a:srgbClr>
                    </a:solidFill>
                  </a:tcPr>
                </a:tc>
                <a:tc>
                  <a:txBody>
                    <a:bodyPr/>
                    <a:lstStyle/>
                    <a:p>
                      <a:pPr algn="ctr" rtl="1"/>
                      <a:r>
                        <a:rPr lang="fa-IR" sz="900" dirty="0">
                          <a:latin typeface="Yekan Bakh" pitchFamily="2" charset="-78"/>
                          <a:ea typeface="Yekan Bakh" pitchFamily="2" charset="-78"/>
                          <a:cs typeface="Yekan Bakh" pitchFamily="2" charset="-78"/>
                        </a:rPr>
                        <a:t>م ۲</a:t>
                      </a:r>
                      <a:endParaRPr lang="en-GB" sz="900" dirty="0">
                        <a:latin typeface="Yekan Bakh" pitchFamily="2" charset="-78"/>
                        <a:ea typeface="Yekan Bakh" pitchFamily="2" charset="-78"/>
                        <a:cs typeface="Yekan Bakh" pitchFamily="2" charset="-78"/>
                      </a:endParaRPr>
                    </a:p>
                  </a:txBody>
                  <a:tcPr marL="68621" marR="68621" marT="34310" marB="34310" anchor="ctr">
                    <a:solidFill>
                      <a:srgbClr val="1E2761">
                        <a:alpha val="20000"/>
                      </a:srgbClr>
                    </a:solidFill>
                  </a:tcPr>
                </a:tc>
                <a:extLst>
                  <a:ext uri="{0D108BD9-81ED-4DB2-BD59-A6C34878D82A}">
                    <a16:rowId xmlns:a16="http://schemas.microsoft.com/office/drawing/2014/main" val="2662654323"/>
                  </a:ext>
                </a:extLst>
              </a:tr>
            </a:tbl>
          </a:graphicData>
        </a:graphic>
      </p:graphicFrame>
      <p:grpSp>
        <p:nvGrpSpPr>
          <p:cNvPr id="9" name="Group 8">
            <a:extLst>
              <a:ext uri="{FF2B5EF4-FFF2-40B4-BE49-F238E27FC236}">
                <a16:creationId xmlns:a16="http://schemas.microsoft.com/office/drawing/2014/main" id="{5EB4083F-2528-AB71-07AC-0C3E6DAFE29B}"/>
              </a:ext>
            </a:extLst>
          </p:cNvPr>
          <p:cNvGrpSpPr/>
          <p:nvPr/>
        </p:nvGrpSpPr>
        <p:grpSpPr>
          <a:xfrm>
            <a:off x="496459" y="1454417"/>
            <a:ext cx="10710132" cy="537024"/>
            <a:chOff x="1248697" y="1290517"/>
            <a:chExt cx="9458632" cy="537024"/>
          </a:xfrm>
        </p:grpSpPr>
        <p:sp>
          <p:nvSpPr>
            <p:cNvPr id="10" name="Rectangle: Rounded Corners 9">
              <a:extLst>
                <a:ext uri="{FF2B5EF4-FFF2-40B4-BE49-F238E27FC236}">
                  <a16:creationId xmlns:a16="http://schemas.microsoft.com/office/drawing/2014/main" id="{CF844020-C811-29A9-319C-5BFF1E049D35}"/>
                </a:ext>
              </a:extLst>
            </p:cNvPr>
            <p:cNvSpPr/>
            <p:nvPr/>
          </p:nvSpPr>
          <p:spPr>
            <a:xfrm>
              <a:off x="1248697" y="1290517"/>
              <a:ext cx="9458632" cy="537024"/>
            </a:xfrm>
            <a:prstGeom prst="roundRect">
              <a:avLst/>
            </a:prstGeom>
            <a:solidFill>
              <a:schemeClr val="bg1">
                <a:lumMod val="95000"/>
                <a:alpha val="42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1" name="TextBox 10">
              <a:extLst>
                <a:ext uri="{FF2B5EF4-FFF2-40B4-BE49-F238E27FC236}">
                  <a16:creationId xmlns:a16="http://schemas.microsoft.com/office/drawing/2014/main" id="{6664E6AA-DAA5-B040-FAA6-22C576082C4C}"/>
                </a:ext>
              </a:extLst>
            </p:cNvPr>
            <p:cNvSpPr txBox="1"/>
            <p:nvPr/>
          </p:nvSpPr>
          <p:spPr>
            <a:xfrm>
              <a:off x="1351810" y="1343586"/>
              <a:ext cx="9252407" cy="430887"/>
            </a:xfrm>
            <a:prstGeom prst="rect">
              <a:avLst/>
            </a:prstGeom>
            <a:noFill/>
          </p:spPr>
          <p:txBody>
            <a:bodyPr wrap="square">
              <a:spAutoFit/>
            </a:bodyPr>
            <a:lstStyle/>
            <a:p>
              <a:pPr marL="0" marR="0" lvl="0" indent="0" algn="justLow" defTabSz="1021516" rtl="1"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fa-IR"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دوازده بعد دارايى، كل فضاى چيزى است كه یک بنيان‌گذار مى‌تواند به اين كسب‌وكار بياورد، در پنج خوشه: اعتبار (چه كسى هستيد)، دسترسى (چه درى را باز مى‌كنيد)، سرمايه و ضمانت (چه ريسكى را مى‌پذيريد)، قضاوت (چه تشخيصى داريد)، مالكيت (چه چيزى داريد).</a:t>
              </a:r>
            </a:p>
          </p:txBody>
        </p:sp>
      </p:grpSp>
    </p:spTree>
    <p:extLst>
      <p:ext uri="{BB962C8B-B14F-4D97-AF65-F5344CB8AC3E}">
        <p14:creationId xmlns:p14="http://schemas.microsoft.com/office/powerpoint/2010/main" val="41032471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520E4E-D1A9-1425-6657-9477D3905C05}"/>
            </a:ext>
          </a:extLst>
        </p:cNvPr>
        <p:cNvGrpSpPr/>
        <p:nvPr/>
      </p:nvGrpSpPr>
      <p:grpSpPr>
        <a:xfrm>
          <a:off x="0" y="0"/>
          <a:ext cx="0" cy="0"/>
          <a:chOff x="0" y="0"/>
          <a:chExt cx="0" cy="0"/>
        </a:xfrm>
      </p:grpSpPr>
      <p:grpSp>
        <p:nvGrpSpPr>
          <p:cNvPr id="44" name="Group 43">
            <a:extLst>
              <a:ext uri="{FF2B5EF4-FFF2-40B4-BE49-F238E27FC236}">
                <a16:creationId xmlns:a16="http://schemas.microsoft.com/office/drawing/2014/main" id="{644773E0-C374-73BA-EE0D-CDADBC3E54D1}"/>
              </a:ext>
            </a:extLst>
          </p:cNvPr>
          <p:cNvGrpSpPr/>
          <p:nvPr/>
        </p:nvGrpSpPr>
        <p:grpSpPr>
          <a:xfrm>
            <a:off x="407773" y="1183181"/>
            <a:ext cx="4699486" cy="4217001"/>
            <a:chOff x="407773" y="1946806"/>
            <a:chExt cx="4699486" cy="4217001"/>
          </a:xfrm>
        </p:grpSpPr>
        <p:sp>
          <p:nvSpPr>
            <p:cNvPr id="9" name="TextBox 8">
              <a:extLst>
                <a:ext uri="{FF2B5EF4-FFF2-40B4-BE49-F238E27FC236}">
                  <a16:creationId xmlns:a16="http://schemas.microsoft.com/office/drawing/2014/main" id="{B1C41D23-534E-C8B4-53C3-A8A579C3147D}"/>
                </a:ext>
              </a:extLst>
            </p:cNvPr>
            <p:cNvSpPr txBox="1"/>
            <p:nvPr/>
          </p:nvSpPr>
          <p:spPr>
            <a:xfrm>
              <a:off x="593931" y="2772950"/>
              <a:ext cx="761426" cy="248914"/>
            </a:xfrm>
            <a:prstGeom prst="rect">
              <a:avLst/>
            </a:prstGeom>
            <a:noFill/>
          </p:spPr>
          <p:txBody>
            <a:bodyPr wrap="square" anchor="ctr">
              <a:spAutoFit/>
            </a:bodyPr>
            <a:lstStyle/>
            <a:p>
              <a:pPr marL="0" marR="0" lvl="0" indent="0" algn="ctr" defTabSz="914400" rtl="1" eaLnBrk="1" fontAlgn="auto" latinLnBrk="0" hangingPunct="1">
                <a:lnSpc>
                  <a:spcPct val="90000"/>
                </a:lnSpc>
                <a:spcBef>
                  <a:spcPts val="1117"/>
                </a:spcBef>
                <a:spcAft>
                  <a:spcPts val="0"/>
                </a:spcAft>
                <a:buClr>
                  <a:srgbClr val="F0BE0F"/>
                </a:buClr>
                <a:buSzTx/>
                <a:buFontTx/>
                <a:buNone/>
                <a:tabLst/>
                <a:defRPr/>
              </a:pPr>
              <a:r>
                <a:rPr kumimoji="0" lang="fa-IR" sz="1050" b="1" i="0" u="none" strike="noStrike" kern="1200" cap="none" spc="0" normalizeH="0" baseline="0" noProof="0" dirty="0">
                  <a:ln>
                    <a:noFill/>
                  </a:ln>
                  <a:solidFill>
                    <a:prstClr val="white">
                      <a:lumMod val="50000"/>
                    </a:prstClr>
                  </a:solidFill>
                  <a:effectLst/>
                  <a:uLnTx/>
                  <a:uFillTx/>
                  <a:latin typeface="Yekan Bakh" pitchFamily="2" charset="-78"/>
                  <a:ea typeface="Yekan Bakh" pitchFamily="2" charset="-78"/>
                  <a:cs typeface="Yekan Bakh" pitchFamily="2" charset="-78"/>
                </a:rPr>
                <a:t>اسلاید</a:t>
              </a:r>
              <a:endParaRPr kumimoji="0" lang="en-US" sz="1050" b="1" i="0" u="none" strike="noStrike" kern="1200" cap="none" spc="0" normalizeH="0" baseline="0" noProof="0" dirty="0">
                <a:ln>
                  <a:noFill/>
                </a:ln>
                <a:solidFill>
                  <a:prstClr val="white">
                    <a:lumMod val="50000"/>
                  </a:prstClr>
                </a:solidFill>
                <a:effectLst/>
                <a:uLnTx/>
                <a:uFillTx/>
                <a:latin typeface="Yekan Bakh" pitchFamily="2" charset="-78"/>
                <a:ea typeface="Yekan Bakh" pitchFamily="2" charset="-78"/>
                <a:cs typeface="Yekan Bakh" pitchFamily="2" charset="-78"/>
              </a:endParaRPr>
            </a:p>
          </p:txBody>
        </p:sp>
        <p:grpSp>
          <p:nvGrpSpPr>
            <p:cNvPr id="41" name="Group 40">
              <a:extLst>
                <a:ext uri="{FF2B5EF4-FFF2-40B4-BE49-F238E27FC236}">
                  <a16:creationId xmlns:a16="http://schemas.microsoft.com/office/drawing/2014/main" id="{81B5E382-2A68-F4A3-2092-5CE4CD626571}"/>
                </a:ext>
              </a:extLst>
            </p:cNvPr>
            <p:cNvGrpSpPr/>
            <p:nvPr/>
          </p:nvGrpSpPr>
          <p:grpSpPr>
            <a:xfrm>
              <a:off x="525137" y="3060699"/>
              <a:ext cx="4582122" cy="291618"/>
              <a:chOff x="525137" y="3060699"/>
              <a:chExt cx="4582122" cy="291618"/>
            </a:xfrm>
          </p:grpSpPr>
          <p:sp>
            <p:nvSpPr>
              <p:cNvPr id="13" name="TextBox 12">
                <a:extLst>
                  <a:ext uri="{FF2B5EF4-FFF2-40B4-BE49-F238E27FC236}">
                    <a16:creationId xmlns:a16="http://schemas.microsoft.com/office/drawing/2014/main" id="{6938B76F-5DC0-CF3A-7510-2B9081CAA452}"/>
                  </a:ext>
                </a:extLst>
              </p:cNvPr>
              <p:cNvSpPr txBox="1"/>
              <p:nvPr/>
            </p:nvSpPr>
            <p:spPr>
              <a:xfrm>
                <a:off x="1648542" y="3074933"/>
                <a:ext cx="3458717" cy="263149"/>
              </a:xfrm>
              <a:prstGeom prst="rect">
                <a:avLst/>
              </a:prstGeom>
              <a:noFill/>
            </p:spPr>
            <p:txBody>
              <a:bodyPr wrap="square" anchor="ctr">
                <a:spAutoFit/>
              </a:bodyPr>
              <a:lstStyle/>
              <a:p>
                <a:pPr marL="285750" marR="0" lvl="0" indent="-285750" algn="r" defTabSz="914400" rtl="1" eaLnBrk="1" fontAlgn="auto" latinLnBrk="0" hangingPunct="1">
                  <a:lnSpc>
                    <a:spcPct val="90000"/>
                  </a:lnSpc>
                  <a:spcBef>
                    <a:spcPts val="1117"/>
                  </a:spcBef>
                  <a:spcAft>
                    <a:spcPts val="0"/>
                  </a:spcAft>
                  <a:buClr>
                    <a:srgbClr val="F0BE0F"/>
                  </a:buClr>
                  <a:buSzTx/>
                  <a:buFont typeface="Arial" panose="020B0604020202020204" pitchFamily="34" charset="0"/>
                  <a:buChar char="•"/>
                  <a:tabLst/>
                  <a:defRPr/>
                </a:pPr>
                <a:r>
                  <a:rPr kumimoji="0" lang="fa-IR" sz="1200" b="0" i="0" u="none" strike="noStrike" kern="1200" cap="none" spc="0" normalizeH="0" baseline="0" noProof="0" dirty="0">
                    <a:ln>
                      <a:noFill/>
                    </a:ln>
                    <a:solidFill>
                      <a:prstClr val="white">
                        <a:lumMod val="75000"/>
                      </a:prstClr>
                    </a:solidFill>
                    <a:effectLst/>
                    <a:uLnTx/>
                    <a:uFillTx/>
                    <a:latin typeface="Yekan Bakh" pitchFamily="2" charset="-78"/>
                    <a:ea typeface="Yekan Bakh" pitchFamily="2" charset="-78"/>
                    <a:cs typeface="Yekan Bakh" pitchFamily="2" charset="-78"/>
                  </a:rPr>
                  <a:t>جمع‌بندی اقدامات قبلی</a:t>
                </a:r>
              </a:p>
            </p:txBody>
          </p:sp>
          <p:sp>
            <p:nvSpPr>
              <p:cNvPr id="15" name="TextBox 14">
                <a:extLst>
                  <a:ext uri="{FF2B5EF4-FFF2-40B4-BE49-F238E27FC236}">
                    <a16:creationId xmlns:a16="http://schemas.microsoft.com/office/drawing/2014/main" id="{52560331-D976-CD6B-24AE-115BC563B6B0}"/>
                  </a:ext>
                </a:extLst>
              </p:cNvPr>
              <p:cNvSpPr txBox="1"/>
              <p:nvPr/>
            </p:nvSpPr>
            <p:spPr>
              <a:xfrm>
                <a:off x="525137" y="3060699"/>
                <a:ext cx="899015" cy="291618"/>
              </a:xfrm>
              <a:prstGeom prst="rect">
                <a:avLst/>
              </a:prstGeom>
              <a:noFill/>
            </p:spPr>
            <p:txBody>
              <a:bodyPr wrap="square" anchor="ctr">
                <a:spAutoFit/>
              </a:bodyPr>
              <a:lstStyle/>
              <a:p>
                <a:pPr marL="0" marR="0" lvl="0" indent="0" algn="ctr" defTabSz="914400" rtl="0" eaLnBrk="1" fontAlgn="auto" latinLnBrk="0" hangingPunct="1">
                  <a:lnSpc>
                    <a:spcPct val="90000"/>
                  </a:lnSpc>
                  <a:spcBef>
                    <a:spcPts val="1117"/>
                  </a:spcBef>
                  <a:spcAft>
                    <a:spcPts val="0"/>
                  </a:spcAft>
                  <a:buClr>
                    <a:srgbClr val="F0BE0F"/>
                  </a:buClr>
                  <a:buSzTx/>
                  <a:buFontTx/>
                  <a:buNone/>
                  <a:tabLst/>
                  <a:defRPr/>
                </a:pPr>
                <a:r>
                  <a:rPr kumimoji="0" lang="fa-IR" sz="1400" b="1" i="0" u="none" strike="noStrike" kern="1200" cap="none" spc="0" normalizeH="0" baseline="0" noProof="0" dirty="0">
                    <a:ln>
                      <a:noFill/>
                    </a:ln>
                    <a:solidFill>
                      <a:srgbClr val="FDBF03">
                        <a:lumMod val="60000"/>
                        <a:lumOff val="40000"/>
                      </a:srgbClr>
                    </a:solidFill>
                    <a:effectLst/>
                    <a:uLnTx/>
                    <a:uFillTx/>
                    <a:latin typeface="Yekan Bakh FaNum SmBoldSmCond" pitchFamily="2" charset="-78"/>
                    <a:ea typeface="Yekan Bakh FaNum SmBoldSmCond" pitchFamily="2" charset="-78"/>
                    <a:cs typeface="Yekan Bakh FaNum SmBoldSmCond" pitchFamily="2" charset="-78"/>
                  </a:rPr>
                  <a:t>۱۰۱</a:t>
                </a:r>
                <a:endParaRPr kumimoji="0" lang="en-US" sz="1400" b="1" i="0" u="none" strike="noStrike" kern="1200" cap="none" spc="0" normalizeH="0" baseline="0" noProof="0" dirty="0">
                  <a:ln>
                    <a:noFill/>
                  </a:ln>
                  <a:solidFill>
                    <a:srgbClr val="FDBF03">
                      <a:lumMod val="60000"/>
                      <a:lumOff val="40000"/>
                    </a:srgbClr>
                  </a:solidFill>
                  <a:effectLst/>
                  <a:uLnTx/>
                  <a:uFillTx/>
                  <a:latin typeface="Yekan Bakh FaNum SmBoldSmCond" pitchFamily="2" charset="-78"/>
                  <a:ea typeface="Yekan Bakh FaNum SmBoldSmCond" pitchFamily="2" charset="-78"/>
                  <a:cs typeface="Yekan Bakh FaNum SmBoldSmCond" pitchFamily="2" charset="-78"/>
                </a:endParaRPr>
              </a:p>
            </p:txBody>
          </p:sp>
        </p:grpSp>
        <p:sp>
          <p:nvSpPr>
            <p:cNvPr id="23" name="Title 1">
              <a:extLst>
                <a:ext uri="{FF2B5EF4-FFF2-40B4-BE49-F238E27FC236}">
                  <a16:creationId xmlns:a16="http://schemas.microsoft.com/office/drawing/2014/main" id="{495226BF-10DA-6C7A-EF6D-BB2F6727FDDA}"/>
                </a:ext>
              </a:extLst>
            </p:cNvPr>
            <p:cNvSpPr txBox="1">
              <a:spLocks/>
            </p:cNvSpPr>
            <p:nvPr/>
          </p:nvSpPr>
          <p:spPr>
            <a:xfrm>
              <a:off x="407773" y="1946806"/>
              <a:ext cx="4699486" cy="693069"/>
            </a:xfrm>
            <a:prstGeom prst="rect">
              <a:avLst/>
            </a:prstGeom>
          </p:spPr>
          <p:txBody>
            <a:bodyPr lIns="91440" tIns="45720" rIns="91440" bIns="45720" anchor="t"/>
            <a:lstStyle>
              <a:lvl1pPr algn="justLow" defTabSz="1021516" rtl="1" eaLnBrk="1" latinLnBrk="0" hangingPunct="1">
                <a:lnSpc>
                  <a:spcPct val="90000"/>
                </a:lnSpc>
                <a:spcBef>
                  <a:spcPct val="0"/>
                </a:spcBef>
                <a:buNone/>
                <a:defRPr sz="4500" b="1" kern="1200">
                  <a:solidFill>
                    <a:schemeClr val="tx1">
                      <a:lumMod val="75000"/>
                      <a:lumOff val="25000"/>
                    </a:schemeClr>
                  </a:solidFill>
                  <a:latin typeface="Shabnam Bold FD" panose="020B0603030804020204" pitchFamily="34" charset="-78"/>
                  <a:ea typeface="+mj-ea"/>
                  <a:cs typeface="Shabnam Bold FD" panose="020B0603030804020204" pitchFamily="34" charset="-78"/>
                </a:defRPr>
              </a:lvl1pPr>
            </a:lstStyle>
            <a:p>
              <a:pPr marL="0" marR="0" lvl="0" indent="0" algn="ctr" defTabSz="1021516" rtl="0" eaLnBrk="1" fontAlgn="auto" latinLnBrk="0" hangingPunct="1">
                <a:lnSpc>
                  <a:spcPct val="90000"/>
                </a:lnSpc>
                <a:spcBef>
                  <a:spcPct val="0"/>
                </a:spcBef>
                <a:spcAft>
                  <a:spcPts val="0"/>
                </a:spcAft>
                <a:buClrTx/>
                <a:buSzTx/>
                <a:buFontTx/>
                <a:buNone/>
                <a:tabLst/>
                <a:defRPr/>
              </a:pPr>
              <a:r>
                <a:rPr kumimoji="0" lang="fa-IR" sz="3200" b="1" i="0" u="none" strike="noStrike" kern="1200" cap="none" spc="0" normalizeH="0" baseline="0" noProof="0" dirty="0">
                  <a:ln>
                    <a:noFill/>
                  </a:ln>
                  <a:solidFill>
                    <a:sysClr val="window" lastClr="FFFFFF">
                      <a:lumMod val="75000"/>
                      <a:lumOff val="25000"/>
                    </a:sysClr>
                  </a:solidFill>
                  <a:effectLst/>
                  <a:uLnTx/>
                  <a:uFillTx/>
                  <a:latin typeface="Yekan Bakh" pitchFamily="2" charset="-78"/>
                  <a:ea typeface="Yekan Bakh" pitchFamily="2" charset="-78"/>
                  <a:cs typeface="Yekan Bakh" pitchFamily="2" charset="-78"/>
                </a:rPr>
                <a:t>کانال‌های مشتری</a:t>
              </a:r>
              <a:endParaRPr kumimoji="0" lang="en-US" sz="3200" b="1" i="0" u="none" strike="noStrike" kern="1200" cap="none" spc="0" normalizeH="0" baseline="0" noProof="0" dirty="0">
                <a:ln>
                  <a:noFill/>
                </a:ln>
                <a:solidFill>
                  <a:sysClr val="window" lastClr="FFFFFF">
                    <a:lumMod val="75000"/>
                    <a:lumOff val="25000"/>
                  </a:sysClr>
                </a:solidFill>
                <a:effectLst/>
                <a:uLnTx/>
                <a:uFillTx/>
                <a:latin typeface="Yekan Bakh" pitchFamily="2" charset="-78"/>
                <a:ea typeface="Yekan Bakh" pitchFamily="2" charset="-78"/>
                <a:cs typeface="Yekan Bakh" pitchFamily="2" charset="-78"/>
              </a:endParaRPr>
            </a:p>
          </p:txBody>
        </p:sp>
        <p:cxnSp>
          <p:nvCxnSpPr>
            <p:cNvPr id="25" name="Straight Connector 24">
              <a:extLst>
                <a:ext uri="{FF2B5EF4-FFF2-40B4-BE49-F238E27FC236}">
                  <a16:creationId xmlns:a16="http://schemas.microsoft.com/office/drawing/2014/main" id="{1AB03AD4-6E04-94AB-3EB0-34ECBA04B533}"/>
                </a:ext>
              </a:extLst>
            </p:cNvPr>
            <p:cNvCxnSpPr>
              <a:cxnSpLocks/>
            </p:cNvCxnSpPr>
            <p:nvPr/>
          </p:nvCxnSpPr>
          <p:spPr>
            <a:xfrm flipV="1">
              <a:off x="407773" y="2699699"/>
              <a:ext cx="4699486" cy="19385"/>
            </a:xfrm>
            <a:prstGeom prst="line">
              <a:avLst/>
            </a:prstGeom>
            <a:ln w="3175">
              <a:solidFill>
                <a:srgbClr val="F0BE0F">
                  <a:alpha val="74000"/>
                </a:srgbClr>
              </a:solidFill>
            </a:ln>
          </p:spPr>
          <p:style>
            <a:lnRef idx="1">
              <a:schemeClr val="accent1"/>
            </a:lnRef>
            <a:fillRef idx="0">
              <a:schemeClr val="accent1"/>
            </a:fillRef>
            <a:effectRef idx="0">
              <a:schemeClr val="accent1"/>
            </a:effectRef>
            <a:fontRef idx="minor">
              <a:schemeClr val="tx1"/>
            </a:fontRef>
          </p:style>
        </p:cxnSp>
        <p:grpSp>
          <p:nvGrpSpPr>
            <p:cNvPr id="42" name="Group 41">
              <a:extLst>
                <a:ext uri="{FF2B5EF4-FFF2-40B4-BE49-F238E27FC236}">
                  <a16:creationId xmlns:a16="http://schemas.microsoft.com/office/drawing/2014/main" id="{0B2182D9-1CA8-F73C-4545-28E29CCAE031}"/>
                </a:ext>
              </a:extLst>
            </p:cNvPr>
            <p:cNvGrpSpPr/>
            <p:nvPr/>
          </p:nvGrpSpPr>
          <p:grpSpPr>
            <a:xfrm>
              <a:off x="525137" y="3373087"/>
              <a:ext cx="4582122" cy="291618"/>
              <a:chOff x="525137" y="3381759"/>
              <a:chExt cx="4582122" cy="291618"/>
            </a:xfrm>
          </p:grpSpPr>
          <p:sp>
            <p:nvSpPr>
              <p:cNvPr id="4" name="TextBox 3">
                <a:extLst>
                  <a:ext uri="{FF2B5EF4-FFF2-40B4-BE49-F238E27FC236}">
                    <a16:creationId xmlns:a16="http://schemas.microsoft.com/office/drawing/2014/main" id="{017DFE70-FBDA-FC77-D03E-4EF982E9BFBA}"/>
                  </a:ext>
                </a:extLst>
              </p:cNvPr>
              <p:cNvSpPr txBox="1"/>
              <p:nvPr/>
            </p:nvSpPr>
            <p:spPr>
              <a:xfrm>
                <a:off x="1648542" y="3395993"/>
                <a:ext cx="3458717" cy="263149"/>
              </a:xfrm>
              <a:prstGeom prst="rect">
                <a:avLst/>
              </a:prstGeom>
              <a:noFill/>
            </p:spPr>
            <p:txBody>
              <a:bodyPr wrap="square" anchor="ctr">
                <a:spAutoFit/>
              </a:bodyPr>
              <a:lstStyle/>
              <a:p>
                <a:pPr marL="285750" marR="0" lvl="0" indent="-285750" algn="r" defTabSz="914400" rtl="1" eaLnBrk="1" fontAlgn="auto" latinLnBrk="0" hangingPunct="1">
                  <a:lnSpc>
                    <a:spcPct val="90000"/>
                  </a:lnSpc>
                  <a:spcBef>
                    <a:spcPts val="1117"/>
                  </a:spcBef>
                  <a:spcAft>
                    <a:spcPts val="0"/>
                  </a:spcAft>
                  <a:buClr>
                    <a:srgbClr val="F0BE0F"/>
                  </a:buClr>
                  <a:buSzTx/>
                  <a:buFont typeface="Arial" panose="020B0604020202020204" pitchFamily="34" charset="0"/>
                  <a:buChar char="•"/>
                  <a:tabLst/>
                  <a:defRPr/>
                </a:pPr>
                <a:r>
                  <a:rPr lang="fa-IR" sz="1200" dirty="0">
                    <a:solidFill>
                      <a:prstClr val="white">
                        <a:lumMod val="75000"/>
                      </a:prstClr>
                    </a:solidFill>
                    <a:latin typeface="Yekan Bakh" pitchFamily="2" charset="-78"/>
                    <a:ea typeface="Yekan Bakh" pitchFamily="2" charset="-78"/>
                    <a:cs typeface="Yekan Bakh" pitchFamily="2" charset="-78"/>
                  </a:rPr>
                  <a:t>بخش کانال‌ها</a:t>
                </a:r>
                <a:endParaRPr kumimoji="0" lang="fa-IR" sz="1200" b="0" i="0" u="none" strike="noStrike" kern="1200" cap="none" spc="0" normalizeH="0" baseline="0" noProof="0" dirty="0">
                  <a:ln>
                    <a:noFill/>
                  </a:ln>
                  <a:solidFill>
                    <a:prstClr val="white">
                      <a:lumMod val="75000"/>
                    </a:prstClr>
                  </a:solidFill>
                  <a:effectLst/>
                  <a:uLnTx/>
                  <a:uFillTx/>
                  <a:latin typeface="Yekan Bakh" pitchFamily="2" charset="-78"/>
                  <a:ea typeface="Yekan Bakh" pitchFamily="2" charset="-78"/>
                  <a:cs typeface="Yekan Bakh" pitchFamily="2" charset="-78"/>
                </a:endParaRPr>
              </a:p>
            </p:txBody>
          </p:sp>
          <p:sp>
            <p:nvSpPr>
              <p:cNvPr id="5" name="TextBox 4">
                <a:extLst>
                  <a:ext uri="{FF2B5EF4-FFF2-40B4-BE49-F238E27FC236}">
                    <a16:creationId xmlns:a16="http://schemas.microsoft.com/office/drawing/2014/main" id="{2177235D-898B-EC9D-CC3D-9225E39CD98E}"/>
                  </a:ext>
                </a:extLst>
              </p:cNvPr>
              <p:cNvSpPr txBox="1"/>
              <p:nvPr/>
            </p:nvSpPr>
            <p:spPr>
              <a:xfrm>
                <a:off x="525137" y="3381759"/>
                <a:ext cx="899015" cy="291618"/>
              </a:xfrm>
              <a:prstGeom prst="rect">
                <a:avLst/>
              </a:prstGeom>
              <a:noFill/>
            </p:spPr>
            <p:txBody>
              <a:bodyPr wrap="square" anchor="ctr">
                <a:spAutoFit/>
              </a:bodyPr>
              <a:lstStyle/>
              <a:p>
                <a:pPr marL="0" marR="0" lvl="0" indent="0" algn="ctr" defTabSz="914400" rtl="0" eaLnBrk="1" fontAlgn="auto" latinLnBrk="0" hangingPunct="1">
                  <a:lnSpc>
                    <a:spcPct val="90000"/>
                  </a:lnSpc>
                  <a:spcBef>
                    <a:spcPts val="1117"/>
                  </a:spcBef>
                  <a:spcAft>
                    <a:spcPts val="0"/>
                  </a:spcAft>
                  <a:buClr>
                    <a:srgbClr val="F0BE0F"/>
                  </a:buClr>
                  <a:buSzTx/>
                  <a:buFontTx/>
                  <a:buNone/>
                  <a:tabLst/>
                  <a:defRPr/>
                </a:pPr>
                <a:r>
                  <a:rPr kumimoji="0" lang="fa-IR" sz="1400" b="1" i="0" u="none" strike="noStrike" kern="1200" cap="none" spc="0" normalizeH="0" baseline="0" noProof="0" dirty="0">
                    <a:ln>
                      <a:noFill/>
                    </a:ln>
                    <a:solidFill>
                      <a:srgbClr val="FDBF03">
                        <a:lumMod val="60000"/>
                        <a:lumOff val="40000"/>
                      </a:srgbClr>
                    </a:solidFill>
                    <a:effectLst/>
                    <a:uLnTx/>
                    <a:uFillTx/>
                    <a:latin typeface="Yekan Bakh FaNum SmBoldSmCond" pitchFamily="2" charset="-78"/>
                    <a:ea typeface="Yekan Bakh FaNum SmBoldSmCond" pitchFamily="2" charset="-78"/>
                    <a:cs typeface="Yekan Bakh FaNum SmBoldSmCond" pitchFamily="2" charset="-78"/>
                  </a:rPr>
                  <a:t>۱۰۲-۱۰۳</a:t>
                </a:r>
                <a:endParaRPr kumimoji="0" lang="en-US" sz="1400" b="1" i="0" u="none" strike="noStrike" kern="1200" cap="none" spc="0" normalizeH="0" baseline="0" noProof="0" dirty="0">
                  <a:ln>
                    <a:noFill/>
                  </a:ln>
                  <a:solidFill>
                    <a:srgbClr val="FDBF03">
                      <a:lumMod val="60000"/>
                      <a:lumOff val="40000"/>
                    </a:srgbClr>
                  </a:solidFill>
                  <a:effectLst/>
                  <a:uLnTx/>
                  <a:uFillTx/>
                  <a:latin typeface="Yekan Bakh FaNum SmBoldSmCond" pitchFamily="2" charset="-78"/>
                  <a:ea typeface="Yekan Bakh FaNum SmBoldSmCond" pitchFamily="2" charset="-78"/>
                  <a:cs typeface="Yekan Bakh FaNum SmBoldSmCond" pitchFamily="2" charset="-78"/>
                </a:endParaRPr>
              </a:p>
            </p:txBody>
          </p:sp>
        </p:grpSp>
        <p:grpSp>
          <p:nvGrpSpPr>
            <p:cNvPr id="43" name="Group 42">
              <a:extLst>
                <a:ext uri="{FF2B5EF4-FFF2-40B4-BE49-F238E27FC236}">
                  <a16:creationId xmlns:a16="http://schemas.microsoft.com/office/drawing/2014/main" id="{22A47EB6-C2F5-74E1-0F3D-9493A5620D6F}"/>
                </a:ext>
              </a:extLst>
            </p:cNvPr>
            <p:cNvGrpSpPr/>
            <p:nvPr/>
          </p:nvGrpSpPr>
          <p:grpSpPr>
            <a:xfrm>
              <a:off x="525137" y="3685475"/>
              <a:ext cx="4582122" cy="291618"/>
              <a:chOff x="525137" y="3702819"/>
              <a:chExt cx="4582122" cy="291618"/>
            </a:xfrm>
          </p:grpSpPr>
          <p:sp>
            <p:nvSpPr>
              <p:cNvPr id="7" name="TextBox 6">
                <a:extLst>
                  <a:ext uri="{FF2B5EF4-FFF2-40B4-BE49-F238E27FC236}">
                    <a16:creationId xmlns:a16="http://schemas.microsoft.com/office/drawing/2014/main" id="{D000E1A9-7E02-A559-5E81-E6DA78B0DDD8}"/>
                  </a:ext>
                </a:extLst>
              </p:cNvPr>
              <p:cNvSpPr txBox="1"/>
              <p:nvPr/>
            </p:nvSpPr>
            <p:spPr>
              <a:xfrm>
                <a:off x="1648542" y="3717053"/>
                <a:ext cx="3458717" cy="263149"/>
              </a:xfrm>
              <a:prstGeom prst="rect">
                <a:avLst/>
              </a:prstGeom>
              <a:noFill/>
            </p:spPr>
            <p:txBody>
              <a:bodyPr wrap="square" anchor="ctr">
                <a:spAutoFit/>
              </a:bodyPr>
              <a:lstStyle/>
              <a:p>
                <a:pPr marL="285750" marR="0" lvl="0" indent="-285750" algn="r" defTabSz="914400" rtl="1" eaLnBrk="1" fontAlgn="auto" latinLnBrk="0" hangingPunct="1">
                  <a:lnSpc>
                    <a:spcPct val="90000"/>
                  </a:lnSpc>
                  <a:spcBef>
                    <a:spcPts val="1117"/>
                  </a:spcBef>
                  <a:spcAft>
                    <a:spcPts val="0"/>
                  </a:spcAft>
                  <a:buClr>
                    <a:srgbClr val="F0BE0F"/>
                  </a:buClr>
                  <a:buSzTx/>
                  <a:buFont typeface="Arial" panose="020B0604020202020204" pitchFamily="34" charset="0"/>
                  <a:buChar char="•"/>
                  <a:tabLst/>
                  <a:defRPr/>
                </a:pPr>
                <a:r>
                  <a:rPr kumimoji="0" lang="fa-IR" sz="1200" b="0" i="0" u="none" strike="noStrike" kern="1200" cap="none" spc="0" normalizeH="0" baseline="0" noProof="0" dirty="0">
                    <a:ln>
                      <a:noFill/>
                    </a:ln>
                    <a:solidFill>
                      <a:prstClr val="white">
                        <a:lumMod val="75000"/>
                      </a:prstClr>
                    </a:solidFill>
                    <a:effectLst/>
                    <a:uLnTx/>
                    <a:uFillTx/>
                    <a:latin typeface="Yekan Bakh" pitchFamily="2" charset="-78"/>
                    <a:ea typeface="Yekan Bakh" pitchFamily="2" charset="-78"/>
                    <a:cs typeface="Yekan Bakh" pitchFamily="2" charset="-78"/>
                  </a:rPr>
                  <a:t>ادبیات موضوع</a:t>
                </a:r>
              </a:p>
            </p:txBody>
          </p:sp>
          <p:sp>
            <p:nvSpPr>
              <p:cNvPr id="8" name="TextBox 7">
                <a:extLst>
                  <a:ext uri="{FF2B5EF4-FFF2-40B4-BE49-F238E27FC236}">
                    <a16:creationId xmlns:a16="http://schemas.microsoft.com/office/drawing/2014/main" id="{FE123733-8310-928A-AA73-D3046BB94E92}"/>
                  </a:ext>
                </a:extLst>
              </p:cNvPr>
              <p:cNvSpPr txBox="1"/>
              <p:nvPr/>
            </p:nvSpPr>
            <p:spPr>
              <a:xfrm>
                <a:off x="525137" y="3702819"/>
                <a:ext cx="899015" cy="291618"/>
              </a:xfrm>
              <a:prstGeom prst="rect">
                <a:avLst/>
              </a:prstGeom>
              <a:noFill/>
            </p:spPr>
            <p:txBody>
              <a:bodyPr wrap="square" anchor="ctr">
                <a:spAutoFit/>
              </a:bodyPr>
              <a:lstStyle/>
              <a:p>
                <a:pPr marL="0" marR="0" lvl="0" indent="0" algn="ctr" defTabSz="914400" rtl="0" eaLnBrk="1" fontAlgn="auto" latinLnBrk="0" hangingPunct="1">
                  <a:lnSpc>
                    <a:spcPct val="90000"/>
                  </a:lnSpc>
                  <a:spcBef>
                    <a:spcPts val="1117"/>
                  </a:spcBef>
                  <a:spcAft>
                    <a:spcPts val="0"/>
                  </a:spcAft>
                  <a:buClr>
                    <a:srgbClr val="F0BE0F"/>
                  </a:buClr>
                  <a:buSzTx/>
                  <a:buFontTx/>
                  <a:buNone/>
                  <a:tabLst/>
                  <a:defRPr/>
                </a:pPr>
                <a:r>
                  <a:rPr kumimoji="0" lang="fa-IR" sz="1400" b="1" i="0" u="none" strike="noStrike" kern="1200" cap="none" spc="0" normalizeH="0" baseline="0" noProof="0" dirty="0">
                    <a:ln>
                      <a:noFill/>
                    </a:ln>
                    <a:solidFill>
                      <a:srgbClr val="FDBF03">
                        <a:lumMod val="60000"/>
                        <a:lumOff val="40000"/>
                      </a:srgbClr>
                    </a:solidFill>
                    <a:effectLst/>
                    <a:uLnTx/>
                    <a:uFillTx/>
                    <a:latin typeface="Yekan Bakh FaNum SmBoldSmCond" pitchFamily="2" charset="-78"/>
                    <a:ea typeface="Yekan Bakh FaNum SmBoldSmCond" pitchFamily="2" charset="-78"/>
                    <a:cs typeface="Yekan Bakh FaNum SmBoldSmCond" pitchFamily="2" charset="-78"/>
                  </a:rPr>
                  <a:t>۱۰۴</a:t>
                </a:r>
                <a:endParaRPr kumimoji="0" lang="en-US" sz="1400" b="1" i="0" u="none" strike="noStrike" kern="1200" cap="none" spc="0" normalizeH="0" baseline="0" noProof="0" dirty="0">
                  <a:ln>
                    <a:noFill/>
                  </a:ln>
                  <a:solidFill>
                    <a:srgbClr val="FDBF03">
                      <a:lumMod val="60000"/>
                      <a:lumOff val="40000"/>
                    </a:srgbClr>
                  </a:solidFill>
                  <a:effectLst/>
                  <a:uLnTx/>
                  <a:uFillTx/>
                  <a:latin typeface="Yekan Bakh FaNum SmBoldSmCond" pitchFamily="2" charset="-78"/>
                  <a:ea typeface="Yekan Bakh FaNum SmBoldSmCond" pitchFamily="2" charset="-78"/>
                  <a:cs typeface="Yekan Bakh FaNum SmBoldSmCond" pitchFamily="2" charset="-78"/>
                </a:endParaRPr>
              </a:p>
            </p:txBody>
          </p:sp>
        </p:grpSp>
        <p:grpSp>
          <p:nvGrpSpPr>
            <p:cNvPr id="21" name="Group 20">
              <a:extLst>
                <a:ext uri="{FF2B5EF4-FFF2-40B4-BE49-F238E27FC236}">
                  <a16:creationId xmlns:a16="http://schemas.microsoft.com/office/drawing/2014/main" id="{77643776-09A1-BFA8-E482-DE08D5FEDBE6}"/>
                </a:ext>
              </a:extLst>
            </p:cNvPr>
            <p:cNvGrpSpPr/>
            <p:nvPr/>
          </p:nvGrpSpPr>
          <p:grpSpPr>
            <a:xfrm>
              <a:off x="525137" y="3997863"/>
              <a:ext cx="4582122" cy="291618"/>
              <a:chOff x="525137" y="4023879"/>
              <a:chExt cx="4582122" cy="291618"/>
            </a:xfrm>
          </p:grpSpPr>
          <p:sp>
            <p:nvSpPr>
              <p:cNvPr id="11" name="TextBox 10">
                <a:extLst>
                  <a:ext uri="{FF2B5EF4-FFF2-40B4-BE49-F238E27FC236}">
                    <a16:creationId xmlns:a16="http://schemas.microsoft.com/office/drawing/2014/main" id="{FF22CDAF-AC93-98A7-EC7F-E87ADB8961C4}"/>
                  </a:ext>
                </a:extLst>
              </p:cNvPr>
              <p:cNvSpPr txBox="1"/>
              <p:nvPr/>
            </p:nvSpPr>
            <p:spPr>
              <a:xfrm>
                <a:off x="1648542" y="4038113"/>
                <a:ext cx="3458717" cy="263149"/>
              </a:xfrm>
              <a:prstGeom prst="rect">
                <a:avLst/>
              </a:prstGeom>
              <a:noFill/>
            </p:spPr>
            <p:txBody>
              <a:bodyPr wrap="square" anchor="ctr">
                <a:spAutoFit/>
              </a:bodyPr>
              <a:lstStyle/>
              <a:p>
                <a:pPr marL="285750" marR="0" lvl="0" indent="-285750" algn="r" defTabSz="914400" rtl="1" eaLnBrk="1" fontAlgn="auto" latinLnBrk="0" hangingPunct="1">
                  <a:lnSpc>
                    <a:spcPct val="90000"/>
                  </a:lnSpc>
                  <a:spcBef>
                    <a:spcPts val="1117"/>
                  </a:spcBef>
                  <a:spcAft>
                    <a:spcPts val="0"/>
                  </a:spcAft>
                  <a:buClr>
                    <a:srgbClr val="F0BE0F"/>
                  </a:buClr>
                  <a:buSzTx/>
                  <a:buFont typeface="Arial" panose="020B0604020202020204" pitchFamily="34" charset="0"/>
                  <a:buChar char="•"/>
                  <a:tabLst/>
                  <a:defRPr/>
                </a:pPr>
                <a:r>
                  <a:rPr kumimoji="0" lang="fa-IR" sz="1200" b="0" i="0" u="none" strike="noStrike" kern="1200" cap="none" spc="0" normalizeH="0" baseline="0" noProof="0" dirty="0">
                    <a:ln>
                      <a:noFill/>
                    </a:ln>
                    <a:solidFill>
                      <a:prstClr val="white">
                        <a:lumMod val="75000"/>
                      </a:prstClr>
                    </a:solidFill>
                    <a:effectLst/>
                    <a:uLnTx/>
                    <a:uFillTx/>
                    <a:latin typeface="Yekan Bakh" pitchFamily="2" charset="-78"/>
                    <a:ea typeface="Yekan Bakh" pitchFamily="2" charset="-78"/>
                    <a:cs typeface="Yekan Bakh" pitchFamily="2" charset="-78"/>
                  </a:rPr>
                  <a:t>متدولوژی</a:t>
                </a:r>
              </a:p>
            </p:txBody>
          </p:sp>
          <p:sp>
            <p:nvSpPr>
              <p:cNvPr id="12" name="TextBox 11">
                <a:extLst>
                  <a:ext uri="{FF2B5EF4-FFF2-40B4-BE49-F238E27FC236}">
                    <a16:creationId xmlns:a16="http://schemas.microsoft.com/office/drawing/2014/main" id="{31DD0232-5241-20F6-8D3E-60830C5F0876}"/>
                  </a:ext>
                </a:extLst>
              </p:cNvPr>
              <p:cNvSpPr txBox="1"/>
              <p:nvPr/>
            </p:nvSpPr>
            <p:spPr>
              <a:xfrm>
                <a:off x="525137" y="4023879"/>
                <a:ext cx="899015" cy="291618"/>
              </a:xfrm>
              <a:prstGeom prst="rect">
                <a:avLst/>
              </a:prstGeom>
              <a:noFill/>
            </p:spPr>
            <p:txBody>
              <a:bodyPr wrap="square" anchor="ctr">
                <a:spAutoFit/>
              </a:bodyPr>
              <a:lstStyle/>
              <a:p>
                <a:pPr marL="0" marR="0" lvl="0" indent="0" algn="ctr" defTabSz="914400" rtl="0" eaLnBrk="1" fontAlgn="auto" latinLnBrk="0" hangingPunct="1">
                  <a:lnSpc>
                    <a:spcPct val="90000"/>
                  </a:lnSpc>
                  <a:spcBef>
                    <a:spcPts val="1117"/>
                  </a:spcBef>
                  <a:spcAft>
                    <a:spcPts val="0"/>
                  </a:spcAft>
                  <a:buClr>
                    <a:srgbClr val="F0BE0F"/>
                  </a:buClr>
                  <a:buSzTx/>
                  <a:buFontTx/>
                  <a:buNone/>
                  <a:tabLst/>
                  <a:defRPr/>
                </a:pPr>
                <a:r>
                  <a:rPr kumimoji="0" lang="fa-IR" sz="1400" b="1" i="0" u="none" strike="noStrike" kern="1200" cap="none" spc="0" normalizeH="0" baseline="0" noProof="0" dirty="0">
                    <a:ln>
                      <a:noFill/>
                    </a:ln>
                    <a:solidFill>
                      <a:srgbClr val="FDBF03">
                        <a:lumMod val="60000"/>
                        <a:lumOff val="40000"/>
                      </a:srgbClr>
                    </a:solidFill>
                    <a:effectLst/>
                    <a:uLnTx/>
                    <a:uFillTx/>
                    <a:latin typeface="Yekan Bakh FaNum SmBoldSmCond" pitchFamily="2" charset="-78"/>
                    <a:ea typeface="Yekan Bakh FaNum SmBoldSmCond" pitchFamily="2" charset="-78"/>
                    <a:cs typeface="Yekan Bakh FaNum SmBoldSmCond" pitchFamily="2" charset="-78"/>
                  </a:rPr>
                  <a:t>۱۰۵-۱۰۶</a:t>
                </a:r>
                <a:endParaRPr kumimoji="0" lang="en-US" sz="1400" b="1" i="0" u="none" strike="noStrike" kern="1200" cap="none" spc="0" normalizeH="0" baseline="0" noProof="0" dirty="0">
                  <a:ln>
                    <a:noFill/>
                  </a:ln>
                  <a:solidFill>
                    <a:srgbClr val="FDBF03">
                      <a:lumMod val="60000"/>
                      <a:lumOff val="40000"/>
                    </a:srgbClr>
                  </a:solidFill>
                  <a:effectLst/>
                  <a:uLnTx/>
                  <a:uFillTx/>
                  <a:latin typeface="Yekan Bakh FaNum SmBoldSmCond" pitchFamily="2" charset="-78"/>
                  <a:ea typeface="Yekan Bakh FaNum SmBoldSmCond" pitchFamily="2" charset="-78"/>
                  <a:cs typeface="Yekan Bakh FaNum SmBoldSmCond" pitchFamily="2" charset="-78"/>
                </a:endParaRPr>
              </a:p>
            </p:txBody>
          </p:sp>
        </p:grpSp>
        <p:grpSp>
          <p:nvGrpSpPr>
            <p:cNvPr id="20" name="Group 19">
              <a:extLst>
                <a:ext uri="{FF2B5EF4-FFF2-40B4-BE49-F238E27FC236}">
                  <a16:creationId xmlns:a16="http://schemas.microsoft.com/office/drawing/2014/main" id="{0EC88204-FB9C-8891-519C-0CAEAB616876}"/>
                </a:ext>
              </a:extLst>
            </p:cNvPr>
            <p:cNvGrpSpPr/>
            <p:nvPr/>
          </p:nvGrpSpPr>
          <p:grpSpPr>
            <a:xfrm>
              <a:off x="525137" y="4310251"/>
              <a:ext cx="4582122" cy="291618"/>
              <a:chOff x="525137" y="4344939"/>
              <a:chExt cx="4582122" cy="291618"/>
            </a:xfrm>
          </p:grpSpPr>
          <p:sp>
            <p:nvSpPr>
              <p:cNvPr id="16" name="TextBox 15">
                <a:extLst>
                  <a:ext uri="{FF2B5EF4-FFF2-40B4-BE49-F238E27FC236}">
                    <a16:creationId xmlns:a16="http://schemas.microsoft.com/office/drawing/2014/main" id="{018CCF03-C0B4-594F-5A12-F9FF3C99952B}"/>
                  </a:ext>
                </a:extLst>
              </p:cNvPr>
              <p:cNvSpPr txBox="1"/>
              <p:nvPr/>
            </p:nvSpPr>
            <p:spPr>
              <a:xfrm>
                <a:off x="1648542" y="4359173"/>
                <a:ext cx="3458717" cy="263149"/>
              </a:xfrm>
              <a:prstGeom prst="rect">
                <a:avLst/>
              </a:prstGeom>
              <a:noFill/>
            </p:spPr>
            <p:txBody>
              <a:bodyPr wrap="square" anchor="ctr">
                <a:spAutoFit/>
              </a:bodyPr>
              <a:lstStyle/>
              <a:p>
                <a:pPr marL="285750" marR="0" lvl="0" indent="-285750" algn="r" defTabSz="914400" rtl="1" eaLnBrk="1" fontAlgn="auto" latinLnBrk="0" hangingPunct="1">
                  <a:lnSpc>
                    <a:spcPct val="90000"/>
                  </a:lnSpc>
                  <a:spcBef>
                    <a:spcPts val="1117"/>
                  </a:spcBef>
                  <a:spcAft>
                    <a:spcPts val="0"/>
                  </a:spcAft>
                  <a:buClr>
                    <a:srgbClr val="F0BE0F"/>
                  </a:buClr>
                  <a:buSzTx/>
                  <a:buFont typeface="Arial" panose="020B0604020202020204" pitchFamily="34" charset="0"/>
                  <a:buChar char="•"/>
                  <a:tabLst/>
                  <a:defRPr/>
                </a:pPr>
                <a:r>
                  <a:rPr kumimoji="0" lang="fa-IR" sz="1200" i="0" u="none" strike="noStrike" kern="1200" cap="none" spc="0" normalizeH="0" baseline="0" noProof="0" dirty="0">
                    <a:ln>
                      <a:noFill/>
                    </a:ln>
                    <a:solidFill>
                      <a:schemeClr val="bg1">
                        <a:lumMod val="75000"/>
                      </a:schemeClr>
                    </a:solidFill>
                    <a:effectLst/>
                    <a:uLnTx/>
                    <a:uFillTx/>
                    <a:latin typeface="Yekan Bakh" pitchFamily="2" charset="-78"/>
                    <a:ea typeface="Yekan Bakh" pitchFamily="2" charset="-78"/>
                    <a:cs typeface="Yekan Bakh" pitchFamily="2" charset="-78"/>
                  </a:rPr>
                  <a:t>تحلیل عمیق کانال </a:t>
                </a:r>
              </a:p>
            </p:txBody>
          </p:sp>
          <p:sp>
            <p:nvSpPr>
              <p:cNvPr id="17" name="TextBox 16">
                <a:extLst>
                  <a:ext uri="{FF2B5EF4-FFF2-40B4-BE49-F238E27FC236}">
                    <a16:creationId xmlns:a16="http://schemas.microsoft.com/office/drawing/2014/main" id="{1ADAC2FD-456C-B0FD-0C63-55B8F06E6D30}"/>
                  </a:ext>
                </a:extLst>
              </p:cNvPr>
              <p:cNvSpPr txBox="1"/>
              <p:nvPr/>
            </p:nvSpPr>
            <p:spPr>
              <a:xfrm>
                <a:off x="525137" y="4344939"/>
                <a:ext cx="899015" cy="291618"/>
              </a:xfrm>
              <a:prstGeom prst="rect">
                <a:avLst/>
              </a:prstGeom>
              <a:noFill/>
            </p:spPr>
            <p:txBody>
              <a:bodyPr wrap="square" anchor="ctr">
                <a:spAutoFit/>
              </a:bodyPr>
              <a:lstStyle/>
              <a:p>
                <a:pPr marR="0" lvl="0" algn="ctr" defTabSz="914400" eaLnBrk="1" fontAlgn="auto" latinLnBrk="0" hangingPunct="1">
                  <a:lnSpc>
                    <a:spcPct val="90000"/>
                  </a:lnSpc>
                  <a:spcBef>
                    <a:spcPts val="1117"/>
                  </a:spcBef>
                  <a:spcAft>
                    <a:spcPts val="0"/>
                  </a:spcAft>
                  <a:buClr>
                    <a:srgbClr val="F0BE0F"/>
                  </a:buClr>
                  <a:buSzTx/>
                  <a:tabLst/>
                  <a:defRPr/>
                </a:pPr>
                <a:r>
                  <a:rPr lang="fa-IR" sz="1400" b="1" dirty="0">
                    <a:solidFill>
                      <a:schemeClr val="accent2">
                        <a:lumMod val="60000"/>
                        <a:lumOff val="40000"/>
                      </a:schemeClr>
                    </a:solidFill>
                    <a:latin typeface="Yekan Bakh FaNum SmBoldSmCond" pitchFamily="2" charset="-78"/>
                    <a:ea typeface="Yekan Bakh FaNum SmBoldSmCond" pitchFamily="2" charset="-78"/>
                    <a:cs typeface="Yekan Bakh FaNum SmBoldSmCond" pitchFamily="2" charset="-78"/>
                  </a:rPr>
                  <a:t>۱۰۷-۱۱۳</a:t>
                </a:r>
                <a:endParaRPr kumimoji="0" lang="en-US" sz="1400" b="1" i="0" u="none" strike="noStrike" kern="1200" cap="none" spc="0" normalizeH="0" baseline="0" noProof="0" dirty="0">
                  <a:ln>
                    <a:noFill/>
                  </a:ln>
                  <a:solidFill>
                    <a:schemeClr val="accent2">
                      <a:lumMod val="60000"/>
                      <a:lumOff val="40000"/>
                    </a:schemeClr>
                  </a:solidFill>
                  <a:effectLst/>
                  <a:uLnTx/>
                  <a:uFillTx/>
                  <a:latin typeface="Yekan Bakh FaNum SmBoldSmCond" pitchFamily="2" charset="-78"/>
                  <a:ea typeface="Yekan Bakh FaNum SmBoldSmCond" pitchFamily="2" charset="-78"/>
                  <a:cs typeface="Yekan Bakh FaNum SmBoldSmCond" pitchFamily="2" charset="-78"/>
                </a:endParaRPr>
              </a:p>
            </p:txBody>
          </p:sp>
        </p:grpSp>
        <p:grpSp>
          <p:nvGrpSpPr>
            <p:cNvPr id="22" name="Group 21">
              <a:extLst>
                <a:ext uri="{FF2B5EF4-FFF2-40B4-BE49-F238E27FC236}">
                  <a16:creationId xmlns:a16="http://schemas.microsoft.com/office/drawing/2014/main" id="{8DAF7684-A083-7C68-D3D6-7A2DA912B9E4}"/>
                </a:ext>
              </a:extLst>
            </p:cNvPr>
            <p:cNvGrpSpPr/>
            <p:nvPr/>
          </p:nvGrpSpPr>
          <p:grpSpPr>
            <a:xfrm>
              <a:off x="525137" y="4622639"/>
              <a:ext cx="4582122" cy="291618"/>
              <a:chOff x="525137" y="4344939"/>
              <a:chExt cx="4582122" cy="291618"/>
            </a:xfrm>
          </p:grpSpPr>
          <p:sp>
            <p:nvSpPr>
              <p:cNvPr id="24" name="TextBox 23">
                <a:extLst>
                  <a:ext uri="{FF2B5EF4-FFF2-40B4-BE49-F238E27FC236}">
                    <a16:creationId xmlns:a16="http://schemas.microsoft.com/office/drawing/2014/main" id="{3FD7E53A-D8B1-727E-C7BE-268A4538D17B}"/>
                  </a:ext>
                </a:extLst>
              </p:cNvPr>
              <p:cNvSpPr txBox="1"/>
              <p:nvPr/>
            </p:nvSpPr>
            <p:spPr>
              <a:xfrm>
                <a:off x="1648542" y="4359173"/>
                <a:ext cx="3458717" cy="263149"/>
              </a:xfrm>
              <a:prstGeom prst="rect">
                <a:avLst/>
              </a:prstGeom>
              <a:noFill/>
            </p:spPr>
            <p:txBody>
              <a:bodyPr wrap="square" anchor="ctr">
                <a:spAutoFit/>
              </a:bodyPr>
              <a:lstStyle/>
              <a:p>
                <a:pPr marL="285750" marR="0" lvl="0" indent="-285750" algn="r" defTabSz="914400" rtl="1" eaLnBrk="1" fontAlgn="auto" latinLnBrk="0" hangingPunct="1">
                  <a:lnSpc>
                    <a:spcPct val="90000"/>
                  </a:lnSpc>
                  <a:spcBef>
                    <a:spcPts val="1117"/>
                  </a:spcBef>
                  <a:spcAft>
                    <a:spcPts val="0"/>
                  </a:spcAft>
                  <a:buClr>
                    <a:srgbClr val="F0BE0F"/>
                  </a:buClr>
                  <a:buSzTx/>
                  <a:buFont typeface="Arial" panose="020B0604020202020204" pitchFamily="34" charset="0"/>
                  <a:buChar char="•"/>
                  <a:tabLst/>
                  <a:defRPr/>
                </a:pPr>
                <a:r>
                  <a:rPr kumimoji="0" lang="fa-IR" sz="1200" i="0" u="none" strike="noStrike" kern="1200" cap="none" spc="0" normalizeH="0" baseline="0" noProof="0" dirty="0">
                    <a:ln>
                      <a:noFill/>
                    </a:ln>
                    <a:solidFill>
                      <a:schemeClr val="bg1">
                        <a:lumMod val="75000"/>
                      </a:schemeClr>
                    </a:solidFill>
                    <a:effectLst/>
                    <a:uLnTx/>
                    <a:uFillTx/>
                    <a:latin typeface="Yekan Bakh" pitchFamily="2" charset="-78"/>
                    <a:ea typeface="Yekan Bakh" pitchFamily="2" charset="-78"/>
                    <a:cs typeface="Yekan Bakh" pitchFamily="2" charset="-78"/>
                  </a:rPr>
                  <a:t>جمع‌بندی میانی</a:t>
                </a:r>
              </a:p>
            </p:txBody>
          </p:sp>
          <p:sp>
            <p:nvSpPr>
              <p:cNvPr id="26" name="TextBox 25">
                <a:extLst>
                  <a:ext uri="{FF2B5EF4-FFF2-40B4-BE49-F238E27FC236}">
                    <a16:creationId xmlns:a16="http://schemas.microsoft.com/office/drawing/2014/main" id="{F6701489-824E-09CF-09A8-5487A5623BFA}"/>
                  </a:ext>
                </a:extLst>
              </p:cNvPr>
              <p:cNvSpPr txBox="1"/>
              <p:nvPr/>
            </p:nvSpPr>
            <p:spPr>
              <a:xfrm>
                <a:off x="525137" y="4344939"/>
                <a:ext cx="899015" cy="291618"/>
              </a:xfrm>
              <a:prstGeom prst="rect">
                <a:avLst/>
              </a:prstGeom>
              <a:noFill/>
            </p:spPr>
            <p:txBody>
              <a:bodyPr wrap="square" anchor="ctr">
                <a:spAutoFit/>
              </a:bodyPr>
              <a:lstStyle/>
              <a:p>
                <a:pPr marR="0" lvl="0" algn="ctr" defTabSz="914400" eaLnBrk="1" fontAlgn="auto" latinLnBrk="0" hangingPunct="1">
                  <a:lnSpc>
                    <a:spcPct val="90000"/>
                  </a:lnSpc>
                  <a:spcBef>
                    <a:spcPts val="1117"/>
                  </a:spcBef>
                  <a:spcAft>
                    <a:spcPts val="0"/>
                  </a:spcAft>
                  <a:buClr>
                    <a:srgbClr val="F0BE0F"/>
                  </a:buClr>
                  <a:buSzTx/>
                  <a:tabLst/>
                  <a:defRPr/>
                </a:pPr>
                <a:r>
                  <a:rPr lang="fa-IR" sz="1400" b="1" dirty="0">
                    <a:solidFill>
                      <a:schemeClr val="accent2">
                        <a:lumMod val="60000"/>
                        <a:lumOff val="40000"/>
                      </a:schemeClr>
                    </a:solidFill>
                    <a:latin typeface="Yekan Bakh FaNum SmBoldSmCond" pitchFamily="2" charset="-78"/>
                    <a:ea typeface="Yekan Bakh FaNum SmBoldSmCond" pitchFamily="2" charset="-78"/>
                    <a:cs typeface="Yekan Bakh FaNum SmBoldSmCond" pitchFamily="2" charset="-78"/>
                  </a:rPr>
                  <a:t>۱۱۴</a:t>
                </a:r>
                <a:endParaRPr kumimoji="0" lang="en-US" sz="1400" b="1" i="0" u="none" strike="noStrike" kern="1200" cap="none" spc="0" normalizeH="0" baseline="0" noProof="0" dirty="0">
                  <a:ln>
                    <a:noFill/>
                  </a:ln>
                  <a:solidFill>
                    <a:schemeClr val="accent2">
                      <a:lumMod val="60000"/>
                      <a:lumOff val="40000"/>
                    </a:schemeClr>
                  </a:solidFill>
                  <a:effectLst/>
                  <a:uLnTx/>
                  <a:uFillTx/>
                  <a:latin typeface="Yekan Bakh FaNum SmBoldSmCond" pitchFamily="2" charset="-78"/>
                  <a:ea typeface="Yekan Bakh FaNum SmBoldSmCond" pitchFamily="2" charset="-78"/>
                  <a:cs typeface="Yekan Bakh FaNum SmBoldSmCond" pitchFamily="2" charset="-78"/>
                </a:endParaRPr>
              </a:p>
            </p:txBody>
          </p:sp>
        </p:grpSp>
        <p:grpSp>
          <p:nvGrpSpPr>
            <p:cNvPr id="27" name="Group 26">
              <a:extLst>
                <a:ext uri="{FF2B5EF4-FFF2-40B4-BE49-F238E27FC236}">
                  <a16:creationId xmlns:a16="http://schemas.microsoft.com/office/drawing/2014/main" id="{C0A468E5-53EC-1E81-A2A3-4688B8EE2971}"/>
                </a:ext>
              </a:extLst>
            </p:cNvPr>
            <p:cNvGrpSpPr/>
            <p:nvPr/>
          </p:nvGrpSpPr>
          <p:grpSpPr>
            <a:xfrm>
              <a:off x="525137" y="4935027"/>
              <a:ext cx="4582122" cy="291618"/>
              <a:chOff x="525137" y="4344939"/>
              <a:chExt cx="4582122" cy="291618"/>
            </a:xfrm>
          </p:grpSpPr>
          <p:sp>
            <p:nvSpPr>
              <p:cNvPr id="28" name="TextBox 27">
                <a:extLst>
                  <a:ext uri="{FF2B5EF4-FFF2-40B4-BE49-F238E27FC236}">
                    <a16:creationId xmlns:a16="http://schemas.microsoft.com/office/drawing/2014/main" id="{2BE6ADEC-412D-8A2A-6C64-71CC024ECD26}"/>
                  </a:ext>
                </a:extLst>
              </p:cNvPr>
              <p:cNvSpPr txBox="1"/>
              <p:nvPr/>
            </p:nvSpPr>
            <p:spPr>
              <a:xfrm>
                <a:off x="1648542" y="4359173"/>
                <a:ext cx="3458717" cy="263149"/>
              </a:xfrm>
              <a:prstGeom prst="rect">
                <a:avLst/>
              </a:prstGeom>
              <a:noFill/>
            </p:spPr>
            <p:txBody>
              <a:bodyPr wrap="square" anchor="ctr">
                <a:spAutoFit/>
              </a:bodyPr>
              <a:lstStyle/>
              <a:p>
                <a:pPr marL="285750" marR="0" lvl="0" indent="-285750" algn="r" defTabSz="914400" rtl="1" eaLnBrk="1" fontAlgn="auto" latinLnBrk="0" hangingPunct="1">
                  <a:lnSpc>
                    <a:spcPct val="90000"/>
                  </a:lnSpc>
                  <a:spcBef>
                    <a:spcPts val="1117"/>
                  </a:spcBef>
                  <a:spcAft>
                    <a:spcPts val="0"/>
                  </a:spcAft>
                  <a:buClr>
                    <a:srgbClr val="F0BE0F"/>
                  </a:buClr>
                  <a:buSzTx/>
                  <a:buFont typeface="Arial" panose="020B0604020202020204" pitchFamily="34" charset="0"/>
                  <a:buChar char="•"/>
                  <a:tabLst/>
                  <a:defRPr/>
                </a:pPr>
                <a:r>
                  <a:rPr kumimoji="0" lang="fa-IR" sz="1200" i="0" u="none" strike="noStrike" kern="1200" cap="none" spc="0" normalizeH="0" baseline="0" noProof="0" dirty="0">
                    <a:ln>
                      <a:noFill/>
                    </a:ln>
                    <a:solidFill>
                      <a:schemeClr val="bg1">
                        <a:lumMod val="75000"/>
                      </a:schemeClr>
                    </a:solidFill>
                    <a:effectLst/>
                    <a:uLnTx/>
                    <a:uFillTx/>
                    <a:latin typeface="Yekan Bakh" pitchFamily="2" charset="-78"/>
                    <a:ea typeface="Yekan Bakh" pitchFamily="2" charset="-78"/>
                    <a:cs typeface="Yekan Bakh" pitchFamily="2" charset="-78"/>
                  </a:rPr>
                  <a:t>تحلیل عمیق کانال</a:t>
                </a:r>
              </a:p>
            </p:txBody>
          </p:sp>
          <p:sp>
            <p:nvSpPr>
              <p:cNvPr id="29" name="TextBox 28">
                <a:extLst>
                  <a:ext uri="{FF2B5EF4-FFF2-40B4-BE49-F238E27FC236}">
                    <a16:creationId xmlns:a16="http://schemas.microsoft.com/office/drawing/2014/main" id="{6AE82867-62DD-F646-7D92-077B87171D03}"/>
                  </a:ext>
                </a:extLst>
              </p:cNvPr>
              <p:cNvSpPr txBox="1"/>
              <p:nvPr/>
            </p:nvSpPr>
            <p:spPr>
              <a:xfrm>
                <a:off x="525137" y="4344939"/>
                <a:ext cx="899015" cy="291618"/>
              </a:xfrm>
              <a:prstGeom prst="rect">
                <a:avLst/>
              </a:prstGeom>
              <a:noFill/>
            </p:spPr>
            <p:txBody>
              <a:bodyPr wrap="square" anchor="ctr">
                <a:spAutoFit/>
              </a:bodyPr>
              <a:lstStyle/>
              <a:p>
                <a:pPr marR="0" lvl="0" algn="ctr" defTabSz="914400" eaLnBrk="1" fontAlgn="auto" latinLnBrk="0" hangingPunct="1">
                  <a:lnSpc>
                    <a:spcPct val="90000"/>
                  </a:lnSpc>
                  <a:spcBef>
                    <a:spcPts val="1117"/>
                  </a:spcBef>
                  <a:spcAft>
                    <a:spcPts val="0"/>
                  </a:spcAft>
                  <a:buClr>
                    <a:srgbClr val="F0BE0F"/>
                  </a:buClr>
                  <a:buSzTx/>
                  <a:tabLst/>
                  <a:defRPr/>
                </a:pPr>
                <a:r>
                  <a:rPr lang="fa-IR" sz="1400" b="1" dirty="0">
                    <a:solidFill>
                      <a:schemeClr val="accent2">
                        <a:lumMod val="60000"/>
                        <a:lumOff val="40000"/>
                      </a:schemeClr>
                    </a:solidFill>
                    <a:latin typeface="Yekan Bakh FaNum SmBoldSmCond" pitchFamily="2" charset="-78"/>
                    <a:ea typeface="Yekan Bakh FaNum SmBoldSmCond" pitchFamily="2" charset="-78"/>
                    <a:cs typeface="Yekan Bakh FaNum SmBoldSmCond" pitchFamily="2" charset="-78"/>
                  </a:rPr>
                  <a:t>۱۱۵-۱۱۶</a:t>
                </a:r>
                <a:endParaRPr kumimoji="0" lang="en-US" sz="1400" b="1" i="0" u="none" strike="noStrike" kern="1200" cap="none" spc="0" normalizeH="0" baseline="0" noProof="0" dirty="0">
                  <a:ln>
                    <a:noFill/>
                  </a:ln>
                  <a:solidFill>
                    <a:schemeClr val="accent2">
                      <a:lumMod val="60000"/>
                      <a:lumOff val="40000"/>
                    </a:schemeClr>
                  </a:solidFill>
                  <a:effectLst/>
                  <a:uLnTx/>
                  <a:uFillTx/>
                  <a:latin typeface="Yekan Bakh FaNum SmBoldSmCond" pitchFamily="2" charset="-78"/>
                  <a:ea typeface="Yekan Bakh FaNum SmBoldSmCond" pitchFamily="2" charset="-78"/>
                  <a:cs typeface="Yekan Bakh FaNum SmBoldSmCond" pitchFamily="2" charset="-78"/>
                </a:endParaRPr>
              </a:p>
            </p:txBody>
          </p:sp>
        </p:grpSp>
        <p:grpSp>
          <p:nvGrpSpPr>
            <p:cNvPr id="30" name="Group 29">
              <a:extLst>
                <a:ext uri="{FF2B5EF4-FFF2-40B4-BE49-F238E27FC236}">
                  <a16:creationId xmlns:a16="http://schemas.microsoft.com/office/drawing/2014/main" id="{01AF8EF3-547F-A9DA-E5B4-CE6DA7B4D9D5}"/>
                </a:ext>
              </a:extLst>
            </p:cNvPr>
            <p:cNvGrpSpPr/>
            <p:nvPr/>
          </p:nvGrpSpPr>
          <p:grpSpPr>
            <a:xfrm>
              <a:off x="525137" y="5247415"/>
              <a:ext cx="4582122" cy="291618"/>
              <a:chOff x="525137" y="4344939"/>
              <a:chExt cx="4582122" cy="291618"/>
            </a:xfrm>
          </p:grpSpPr>
          <p:sp>
            <p:nvSpPr>
              <p:cNvPr id="31" name="TextBox 30">
                <a:extLst>
                  <a:ext uri="{FF2B5EF4-FFF2-40B4-BE49-F238E27FC236}">
                    <a16:creationId xmlns:a16="http://schemas.microsoft.com/office/drawing/2014/main" id="{AAF47AAE-1C1B-CC56-FD93-640D7F15BB5E}"/>
                  </a:ext>
                </a:extLst>
              </p:cNvPr>
              <p:cNvSpPr txBox="1"/>
              <p:nvPr/>
            </p:nvSpPr>
            <p:spPr>
              <a:xfrm>
                <a:off x="1648542" y="4359173"/>
                <a:ext cx="3458717" cy="263149"/>
              </a:xfrm>
              <a:prstGeom prst="rect">
                <a:avLst/>
              </a:prstGeom>
              <a:noFill/>
            </p:spPr>
            <p:txBody>
              <a:bodyPr wrap="square" anchor="ctr">
                <a:spAutoFit/>
              </a:bodyPr>
              <a:lstStyle/>
              <a:p>
                <a:pPr marL="285750" marR="0" lvl="0" indent="-285750" algn="r" defTabSz="914400" rtl="1" eaLnBrk="1" fontAlgn="auto" latinLnBrk="0" hangingPunct="1">
                  <a:lnSpc>
                    <a:spcPct val="90000"/>
                  </a:lnSpc>
                  <a:spcBef>
                    <a:spcPts val="1117"/>
                  </a:spcBef>
                  <a:spcAft>
                    <a:spcPts val="0"/>
                  </a:spcAft>
                  <a:buClr>
                    <a:srgbClr val="F0BE0F"/>
                  </a:buClr>
                  <a:buSzTx/>
                  <a:buFont typeface="Arial" panose="020B0604020202020204" pitchFamily="34" charset="0"/>
                  <a:buChar char="•"/>
                  <a:tabLst/>
                  <a:defRPr/>
                </a:pPr>
                <a:r>
                  <a:rPr kumimoji="0" lang="fa-IR" sz="1200" i="0" u="none" strike="noStrike" kern="1200" cap="none" spc="0" normalizeH="0" baseline="0" noProof="0" dirty="0">
                    <a:ln>
                      <a:noFill/>
                    </a:ln>
                    <a:solidFill>
                      <a:schemeClr val="bg1">
                        <a:lumMod val="75000"/>
                      </a:schemeClr>
                    </a:solidFill>
                    <a:effectLst/>
                    <a:uLnTx/>
                    <a:uFillTx/>
                    <a:latin typeface="Yekan Bakh" pitchFamily="2" charset="-78"/>
                    <a:ea typeface="Yekan Bakh" pitchFamily="2" charset="-78"/>
                    <a:cs typeface="Yekan Bakh" pitchFamily="2" charset="-78"/>
                  </a:rPr>
                  <a:t>جمع‌بندی نهایی</a:t>
                </a:r>
              </a:p>
            </p:txBody>
          </p:sp>
          <p:sp>
            <p:nvSpPr>
              <p:cNvPr id="32" name="TextBox 31">
                <a:extLst>
                  <a:ext uri="{FF2B5EF4-FFF2-40B4-BE49-F238E27FC236}">
                    <a16:creationId xmlns:a16="http://schemas.microsoft.com/office/drawing/2014/main" id="{F2E2F09F-F8D0-E6D8-06CB-1F386B06732E}"/>
                  </a:ext>
                </a:extLst>
              </p:cNvPr>
              <p:cNvSpPr txBox="1"/>
              <p:nvPr/>
            </p:nvSpPr>
            <p:spPr>
              <a:xfrm>
                <a:off x="525137" y="4344939"/>
                <a:ext cx="899015" cy="291618"/>
              </a:xfrm>
              <a:prstGeom prst="rect">
                <a:avLst/>
              </a:prstGeom>
              <a:noFill/>
            </p:spPr>
            <p:txBody>
              <a:bodyPr wrap="square" anchor="ctr">
                <a:spAutoFit/>
              </a:bodyPr>
              <a:lstStyle/>
              <a:p>
                <a:pPr marR="0" lvl="0" algn="ctr" defTabSz="914400" eaLnBrk="1" fontAlgn="auto" latinLnBrk="0" hangingPunct="1">
                  <a:lnSpc>
                    <a:spcPct val="90000"/>
                  </a:lnSpc>
                  <a:spcBef>
                    <a:spcPts val="1117"/>
                  </a:spcBef>
                  <a:spcAft>
                    <a:spcPts val="0"/>
                  </a:spcAft>
                  <a:buClr>
                    <a:srgbClr val="F0BE0F"/>
                  </a:buClr>
                  <a:buSzTx/>
                  <a:tabLst/>
                  <a:defRPr/>
                </a:pPr>
                <a:r>
                  <a:rPr lang="fa-IR" sz="1400" b="1" dirty="0">
                    <a:solidFill>
                      <a:schemeClr val="accent2">
                        <a:lumMod val="60000"/>
                        <a:lumOff val="40000"/>
                      </a:schemeClr>
                    </a:solidFill>
                    <a:latin typeface="Yekan Bakh FaNum SmBoldSmCond" pitchFamily="2" charset="-78"/>
                    <a:ea typeface="Yekan Bakh FaNum SmBoldSmCond" pitchFamily="2" charset="-78"/>
                    <a:cs typeface="Yekan Bakh FaNum SmBoldSmCond" pitchFamily="2" charset="-78"/>
                  </a:rPr>
                  <a:t>۱۱۷</a:t>
                </a:r>
                <a:endParaRPr kumimoji="0" lang="en-US" sz="1400" b="1" i="0" u="none" strike="noStrike" kern="1200" cap="none" spc="0" normalizeH="0" baseline="0" noProof="0" dirty="0">
                  <a:ln>
                    <a:noFill/>
                  </a:ln>
                  <a:solidFill>
                    <a:schemeClr val="accent2">
                      <a:lumMod val="60000"/>
                      <a:lumOff val="40000"/>
                    </a:schemeClr>
                  </a:solidFill>
                  <a:effectLst/>
                  <a:uLnTx/>
                  <a:uFillTx/>
                  <a:latin typeface="Yekan Bakh FaNum SmBoldSmCond" pitchFamily="2" charset="-78"/>
                  <a:ea typeface="Yekan Bakh FaNum SmBoldSmCond" pitchFamily="2" charset="-78"/>
                  <a:cs typeface="Yekan Bakh FaNum SmBoldSmCond" pitchFamily="2" charset="-78"/>
                </a:endParaRPr>
              </a:p>
            </p:txBody>
          </p:sp>
        </p:grpSp>
        <p:grpSp>
          <p:nvGrpSpPr>
            <p:cNvPr id="33" name="Group 32">
              <a:extLst>
                <a:ext uri="{FF2B5EF4-FFF2-40B4-BE49-F238E27FC236}">
                  <a16:creationId xmlns:a16="http://schemas.microsoft.com/office/drawing/2014/main" id="{C96900FB-BD06-8B31-C9FC-D71EE3F96809}"/>
                </a:ext>
              </a:extLst>
            </p:cNvPr>
            <p:cNvGrpSpPr/>
            <p:nvPr/>
          </p:nvGrpSpPr>
          <p:grpSpPr>
            <a:xfrm>
              <a:off x="525137" y="5559803"/>
              <a:ext cx="4582122" cy="291618"/>
              <a:chOff x="525137" y="4344939"/>
              <a:chExt cx="4582122" cy="291618"/>
            </a:xfrm>
          </p:grpSpPr>
          <p:sp>
            <p:nvSpPr>
              <p:cNvPr id="34" name="TextBox 33">
                <a:extLst>
                  <a:ext uri="{FF2B5EF4-FFF2-40B4-BE49-F238E27FC236}">
                    <a16:creationId xmlns:a16="http://schemas.microsoft.com/office/drawing/2014/main" id="{D69E061F-0D4D-C7BC-0C9A-9537DB74ECED}"/>
                  </a:ext>
                </a:extLst>
              </p:cNvPr>
              <p:cNvSpPr txBox="1"/>
              <p:nvPr/>
            </p:nvSpPr>
            <p:spPr>
              <a:xfrm>
                <a:off x="1648542" y="4359173"/>
                <a:ext cx="3458717" cy="263149"/>
              </a:xfrm>
              <a:prstGeom prst="rect">
                <a:avLst/>
              </a:prstGeom>
              <a:noFill/>
            </p:spPr>
            <p:txBody>
              <a:bodyPr wrap="square" anchor="ctr">
                <a:spAutoFit/>
              </a:bodyPr>
              <a:lstStyle/>
              <a:p>
                <a:pPr marL="285750" marR="0" lvl="0" indent="-285750" algn="r" defTabSz="914400" rtl="1" eaLnBrk="1" fontAlgn="auto" latinLnBrk="0" hangingPunct="1">
                  <a:lnSpc>
                    <a:spcPct val="90000"/>
                  </a:lnSpc>
                  <a:spcBef>
                    <a:spcPts val="1117"/>
                  </a:spcBef>
                  <a:spcAft>
                    <a:spcPts val="0"/>
                  </a:spcAft>
                  <a:buClr>
                    <a:srgbClr val="F0BE0F"/>
                  </a:buClr>
                  <a:buSzTx/>
                  <a:buFont typeface="Arial" panose="020B0604020202020204" pitchFamily="34" charset="0"/>
                  <a:buChar char="•"/>
                  <a:tabLst/>
                  <a:defRPr/>
                </a:pPr>
                <a:r>
                  <a:rPr kumimoji="0" lang="fa-IR" sz="1200" i="0" u="none" strike="noStrike" kern="1200" cap="none" spc="0" normalizeH="0" baseline="0" noProof="0" dirty="0">
                    <a:ln>
                      <a:noFill/>
                    </a:ln>
                    <a:solidFill>
                      <a:schemeClr val="bg1">
                        <a:lumMod val="75000"/>
                      </a:schemeClr>
                    </a:solidFill>
                    <a:effectLst/>
                    <a:uLnTx/>
                    <a:uFillTx/>
                    <a:latin typeface="Yekan Bakh" pitchFamily="2" charset="-78"/>
                    <a:ea typeface="Yekan Bakh" pitchFamily="2" charset="-78"/>
                    <a:cs typeface="Yekan Bakh" pitchFamily="2" charset="-78"/>
                  </a:rPr>
                  <a:t>اقدامات فاز عملیاتی</a:t>
                </a:r>
              </a:p>
            </p:txBody>
          </p:sp>
          <p:sp>
            <p:nvSpPr>
              <p:cNvPr id="35" name="TextBox 34">
                <a:extLst>
                  <a:ext uri="{FF2B5EF4-FFF2-40B4-BE49-F238E27FC236}">
                    <a16:creationId xmlns:a16="http://schemas.microsoft.com/office/drawing/2014/main" id="{57EC5D26-A3D2-EDF2-D872-7CBE030C7DEE}"/>
                  </a:ext>
                </a:extLst>
              </p:cNvPr>
              <p:cNvSpPr txBox="1"/>
              <p:nvPr/>
            </p:nvSpPr>
            <p:spPr>
              <a:xfrm>
                <a:off x="525137" y="4344939"/>
                <a:ext cx="899015" cy="291618"/>
              </a:xfrm>
              <a:prstGeom prst="rect">
                <a:avLst/>
              </a:prstGeom>
              <a:noFill/>
            </p:spPr>
            <p:txBody>
              <a:bodyPr wrap="square" anchor="ctr">
                <a:spAutoFit/>
              </a:bodyPr>
              <a:lstStyle/>
              <a:p>
                <a:pPr marR="0" lvl="0" algn="ctr" defTabSz="914400" eaLnBrk="1" fontAlgn="auto" latinLnBrk="0" hangingPunct="1">
                  <a:lnSpc>
                    <a:spcPct val="90000"/>
                  </a:lnSpc>
                  <a:spcBef>
                    <a:spcPts val="1117"/>
                  </a:spcBef>
                  <a:spcAft>
                    <a:spcPts val="0"/>
                  </a:spcAft>
                  <a:buClr>
                    <a:srgbClr val="F0BE0F"/>
                  </a:buClr>
                  <a:buSzTx/>
                  <a:tabLst/>
                  <a:defRPr/>
                </a:pPr>
                <a:r>
                  <a:rPr lang="fa-IR" sz="1400" b="1" dirty="0">
                    <a:solidFill>
                      <a:schemeClr val="accent2">
                        <a:lumMod val="60000"/>
                        <a:lumOff val="40000"/>
                      </a:schemeClr>
                    </a:solidFill>
                    <a:latin typeface="Yekan Bakh FaNum SmBoldSmCond" pitchFamily="2" charset="-78"/>
                    <a:ea typeface="Yekan Bakh FaNum SmBoldSmCond" pitchFamily="2" charset="-78"/>
                    <a:cs typeface="Yekan Bakh FaNum SmBoldSmCond" pitchFamily="2" charset="-78"/>
                  </a:rPr>
                  <a:t>۱۱۸</a:t>
                </a:r>
                <a:endParaRPr kumimoji="0" lang="en-US" sz="1400" b="1" i="0" u="none" strike="noStrike" kern="1200" cap="none" spc="0" normalizeH="0" baseline="0" noProof="0" dirty="0">
                  <a:ln>
                    <a:noFill/>
                  </a:ln>
                  <a:solidFill>
                    <a:schemeClr val="accent2">
                      <a:lumMod val="60000"/>
                      <a:lumOff val="40000"/>
                    </a:schemeClr>
                  </a:solidFill>
                  <a:effectLst/>
                  <a:uLnTx/>
                  <a:uFillTx/>
                  <a:latin typeface="Yekan Bakh FaNum SmBoldSmCond" pitchFamily="2" charset="-78"/>
                  <a:ea typeface="Yekan Bakh FaNum SmBoldSmCond" pitchFamily="2" charset="-78"/>
                  <a:cs typeface="Yekan Bakh FaNum SmBoldSmCond" pitchFamily="2" charset="-78"/>
                </a:endParaRPr>
              </a:p>
            </p:txBody>
          </p:sp>
        </p:grpSp>
        <p:grpSp>
          <p:nvGrpSpPr>
            <p:cNvPr id="36" name="Group 35">
              <a:extLst>
                <a:ext uri="{FF2B5EF4-FFF2-40B4-BE49-F238E27FC236}">
                  <a16:creationId xmlns:a16="http://schemas.microsoft.com/office/drawing/2014/main" id="{CEB85858-4ABD-4AAF-A675-CC99AA446701}"/>
                </a:ext>
              </a:extLst>
            </p:cNvPr>
            <p:cNvGrpSpPr/>
            <p:nvPr/>
          </p:nvGrpSpPr>
          <p:grpSpPr>
            <a:xfrm>
              <a:off x="525137" y="5872189"/>
              <a:ext cx="4582122" cy="291618"/>
              <a:chOff x="525137" y="4344939"/>
              <a:chExt cx="4582122" cy="291618"/>
            </a:xfrm>
          </p:grpSpPr>
          <p:sp>
            <p:nvSpPr>
              <p:cNvPr id="37" name="TextBox 36">
                <a:extLst>
                  <a:ext uri="{FF2B5EF4-FFF2-40B4-BE49-F238E27FC236}">
                    <a16:creationId xmlns:a16="http://schemas.microsoft.com/office/drawing/2014/main" id="{A9963561-FC24-4430-C92A-1DD6992F8863}"/>
                  </a:ext>
                </a:extLst>
              </p:cNvPr>
              <p:cNvSpPr txBox="1"/>
              <p:nvPr/>
            </p:nvSpPr>
            <p:spPr>
              <a:xfrm>
                <a:off x="1648542" y="4359173"/>
                <a:ext cx="3458717" cy="263149"/>
              </a:xfrm>
              <a:prstGeom prst="rect">
                <a:avLst/>
              </a:prstGeom>
              <a:noFill/>
            </p:spPr>
            <p:txBody>
              <a:bodyPr wrap="square" anchor="ctr">
                <a:spAutoFit/>
              </a:bodyPr>
              <a:lstStyle/>
              <a:p>
                <a:pPr marL="285750" marR="0" lvl="0" indent="-285750" algn="r" defTabSz="914400" rtl="1" eaLnBrk="1" fontAlgn="auto" latinLnBrk="0" hangingPunct="1">
                  <a:lnSpc>
                    <a:spcPct val="90000"/>
                  </a:lnSpc>
                  <a:spcBef>
                    <a:spcPts val="1117"/>
                  </a:spcBef>
                  <a:spcAft>
                    <a:spcPts val="0"/>
                  </a:spcAft>
                  <a:buClr>
                    <a:srgbClr val="F0BE0F"/>
                  </a:buClr>
                  <a:buSzTx/>
                  <a:buFont typeface="Arial" panose="020B0604020202020204" pitchFamily="34" charset="0"/>
                  <a:buChar char="•"/>
                  <a:tabLst/>
                  <a:defRPr/>
                </a:pPr>
                <a:r>
                  <a:rPr kumimoji="0" lang="fa-IR" sz="1200" i="0" u="none" strike="noStrike" kern="1200" cap="none" spc="0" normalizeH="0" baseline="0" noProof="0" dirty="0">
                    <a:ln>
                      <a:noFill/>
                    </a:ln>
                    <a:solidFill>
                      <a:schemeClr val="bg1">
                        <a:lumMod val="75000"/>
                      </a:schemeClr>
                    </a:solidFill>
                    <a:effectLst/>
                    <a:uLnTx/>
                    <a:uFillTx/>
                    <a:latin typeface="Yekan Bakh" pitchFamily="2" charset="-78"/>
                    <a:ea typeface="Yekan Bakh" pitchFamily="2" charset="-78"/>
                    <a:cs typeface="Yekan Bakh" pitchFamily="2" charset="-78"/>
                  </a:rPr>
                  <a:t>منابع</a:t>
                </a:r>
              </a:p>
            </p:txBody>
          </p:sp>
          <p:sp>
            <p:nvSpPr>
              <p:cNvPr id="38" name="TextBox 37">
                <a:extLst>
                  <a:ext uri="{FF2B5EF4-FFF2-40B4-BE49-F238E27FC236}">
                    <a16:creationId xmlns:a16="http://schemas.microsoft.com/office/drawing/2014/main" id="{9ADF9B91-03C5-0528-78DB-D34F17F3C943}"/>
                  </a:ext>
                </a:extLst>
              </p:cNvPr>
              <p:cNvSpPr txBox="1"/>
              <p:nvPr/>
            </p:nvSpPr>
            <p:spPr>
              <a:xfrm>
                <a:off x="525137" y="4344939"/>
                <a:ext cx="899015" cy="291618"/>
              </a:xfrm>
              <a:prstGeom prst="rect">
                <a:avLst/>
              </a:prstGeom>
              <a:noFill/>
            </p:spPr>
            <p:txBody>
              <a:bodyPr wrap="square" anchor="ctr">
                <a:spAutoFit/>
              </a:bodyPr>
              <a:lstStyle/>
              <a:p>
                <a:pPr marR="0" lvl="0" algn="ctr" defTabSz="914400" eaLnBrk="1" fontAlgn="auto" latinLnBrk="0" hangingPunct="1">
                  <a:lnSpc>
                    <a:spcPct val="90000"/>
                  </a:lnSpc>
                  <a:spcBef>
                    <a:spcPts val="1117"/>
                  </a:spcBef>
                  <a:spcAft>
                    <a:spcPts val="0"/>
                  </a:spcAft>
                  <a:buClr>
                    <a:srgbClr val="F0BE0F"/>
                  </a:buClr>
                  <a:buSzTx/>
                  <a:tabLst/>
                  <a:defRPr/>
                </a:pPr>
                <a:r>
                  <a:rPr lang="fa-IR" sz="1400" b="1" dirty="0">
                    <a:solidFill>
                      <a:schemeClr val="accent2">
                        <a:lumMod val="60000"/>
                        <a:lumOff val="40000"/>
                      </a:schemeClr>
                    </a:solidFill>
                    <a:latin typeface="Yekan Bakh FaNum SmBoldSmCond" pitchFamily="2" charset="-78"/>
                    <a:ea typeface="Yekan Bakh FaNum SmBoldSmCond" pitchFamily="2" charset="-78"/>
                    <a:cs typeface="Yekan Bakh FaNum SmBoldSmCond" pitchFamily="2" charset="-78"/>
                  </a:rPr>
                  <a:t>۱۱۹</a:t>
                </a:r>
                <a:endParaRPr kumimoji="0" lang="en-US" sz="1400" b="1" i="0" u="none" strike="noStrike" kern="1200" cap="none" spc="0" normalizeH="0" baseline="0" noProof="0" dirty="0">
                  <a:ln>
                    <a:noFill/>
                  </a:ln>
                  <a:solidFill>
                    <a:schemeClr val="accent2">
                      <a:lumMod val="60000"/>
                      <a:lumOff val="40000"/>
                    </a:schemeClr>
                  </a:solidFill>
                  <a:effectLst/>
                  <a:uLnTx/>
                  <a:uFillTx/>
                  <a:latin typeface="Yekan Bakh FaNum SmBoldSmCond" pitchFamily="2" charset="-78"/>
                  <a:ea typeface="Yekan Bakh FaNum SmBoldSmCond" pitchFamily="2" charset="-78"/>
                  <a:cs typeface="Yekan Bakh FaNum SmBoldSmCond" pitchFamily="2" charset="-78"/>
                </a:endParaRPr>
              </a:p>
            </p:txBody>
          </p:sp>
        </p:grpSp>
      </p:grpSp>
    </p:spTree>
    <p:extLst>
      <p:ext uri="{BB962C8B-B14F-4D97-AF65-F5344CB8AC3E}">
        <p14:creationId xmlns:p14="http://schemas.microsoft.com/office/powerpoint/2010/main" val="95052398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F0AF87C-931F-9EBC-2C14-83ED644169F3}"/>
              </a:ext>
            </a:extLst>
          </p:cNvPr>
          <p:cNvSpPr>
            <a:spLocks noGrp="1"/>
          </p:cNvSpPr>
          <p:nvPr>
            <p:ph type="body" sz="quarter" idx="10"/>
          </p:nvPr>
        </p:nvSpPr>
        <p:spPr/>
        <p:txBody>
          <a:bodyPr/>
          <a:lstStyle/>
          <a:p>
            <a:r>
              <a:rPr lang="fa-IR" dirty="0"/>
              <a:t>جمع‌بندی اقدامات قبلی</a:t>
            </a:r>
          </a:p>
        </p:txBody>
      </p:sp>
      <p:sp>
        <p:nvSpPr>
          <p:cNvPr id="3" name="Text Placeholder 2">
            <a:extLst>
              <a:ext uri="{FF2B5EF4-FFF2-40B4-BE49-F238E27FC236}">
                <a16:creationId xmlns:a16="http://schemas.microsoft.com/office/drawing/2014/main" id="{47DF2DDC-02E5-2FD8-6740-5C6097FC1D10}"/>
              </a:ext>
            </a:extLst>
          </p:cNvPr>
          <p:cNvSpPr>
            <a:spLocks noGrp="1"/>
          </p:cNvSpPr>
          <p:nvPr>
            <p:ph type="body" sz="quarter" idx="12"/>
          </p:nvPr>
        </p:nvSpPr>
        <p:spPr/>
        <p:txBody>
          <a:bodyPr/>
          <a:lstStyle/>
          <a:p>
            <a:r>
              <a:rPr lang="fa-IR" dirty="0"/>
              <a:t>خروجی‌های موجود که پایه‌ی تحلیل کانال هستند</a:t>
            </a:r>
          </a:p>
        </p:txBody>
      </p:sp>
      <p:grpSp>
        <p:nvGrpSpPr>
          <p:cNvPr id="12" name="Group 11">
            <a:extLst>
              <a:ext uri="{FF2B5EF4-FFF2-40B4-BE49-F238E27FC236}">
                <a16:creationId xmlns:a16="http://schemas.microsoft.com/office/drawing/2014/main" id="{9E000B81-FAF2-A93D-2974-62DDD3F4851C}"/>
              </a:ext>
            </a:extLst>
          </p:cNvPr>
          <p:cNvGrpSpPr/>
          <p:nvPr/>
        </p:nvGrpSpPr>
        <p:grpSpPr>
          <a:xfrm>
            <a:off x="437288" y="1419967"/>
            <a:ext cx="10828474" cy="568479"/>
            <a:chOff x="437288" y="1282807"/>
            <a:chExt cx="10828474" cy="568479"/>
          </a:xfrm>
        </p:grpSpPr>
        <p:sp>
          <p:nvSpPr>
            <p:cNvPr id="7" name="Rectangle: Rounded Corners 6">
              <a:extLst>
                <a:ext uri="{FF2B5EF4-FFF2-40B4-BE49-F238E27FC236}">
                  <a16:creationId xmlns:a16="http://schemas.microsoft.com/office/drawing/2014/main" id="{80C198A2-F91C-110E-7DB2-46FC9A36C932}"/>
                </a:ext>
              </a:extLst>
            </p:cNvPr>
            <p:cNvSpPr/>
            <p:nvPr/>
          </p:nvSpPr>
          <p:spPr>
            <a:xfrm>
              <a:off x="8989191" y="1300008"/>
              <a:ext cx="2276571" cy="551278"/>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متدولوژی بخش‌بندی مشتریان </a:t>
              </a:r>
            </a:p>
          </p:txBody>
        </p:sp>
        <p:sp>
          <p:nvSpPr>
            <p:cNvPr id="9" name="Isosceles Triangle 8">
              <a:extLst>
                <a:ext uri="{FF2B5EF4-FFF2-40B4-BE49-F238E27FC236}">
                  <a16:creationId xmlns:a16="http://schemas.microsoft.com/office/drawing/2014/main" id="{7E02DBC9-BBAA-E132-7A6A-E9330AFEE733}"/>
                </a:ext>
              </a:extLst>
            </p:cNvPr>
            <p:cNvSpPr/>
            <p:nvPr/>
          </p:nvSpPr>
          <p:spPr>
            <a:xfrm rot="16200000">
              <a:off x="8466495" y="1504654"/>
              <a:ext cx="551278" cy="141981"/>
            </a:xfrm>
            <a:prstGeom prst="triangle">
              <a:avLst/>
            </a:prstGeom>
            <a:solidFill>
              <a:srgbClr val="F0BE0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1" name="Rectangle: Rounded Corners 10">
              <a:extLst>
                <a:ext uri="{FF2B5EF4-FFF2-40B4-BE49-F238E27FC236}">
                  <a16:creationId xmlns:a16="http://schemas.microsoft.com/office/drawing/2014/main" id="{97AA8382-7A3F-955B-CD26-426ECBABD133}"/>
                </a:ext>
              </a:extLst>
            </p:cNvPr>
            <p:cNvSpPr/>
            <p:nvPr/>
          </p:nvSpPr>
          <p:spPr>
            <a:xfrm>
              <a:off x="437288" y="1282807"/>
              <a:ext cx="8057787" cy="568477"/>
            </a:xfrm>
            <a:prstGeom prst="roundRect">
              <a:avLst/>
            </a:prstGeom>
            <a:solidFill>
              <a:srgbClr val="1E2761">
                <a:alpha val="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ابعاد کلیدی در سه بخش نیاز مشتریان (دستیابی به طرف معامله، قابلیت معامله پیدا کردن، تبدیل دارایی به یک کسب‌وکار و تخصیص سرمایه در فرصتِ ارزیابی شده)، رفتار مشتریان (فوریت استراتژیک و تمایل به اشتراک‌گذاری کنترل) و مشخصات شرکتی (شرکت ایرانی یا خارجی) تحلیل گردید. </a:t>
              </a:r>
            </a:p>
          </p:txBody>
        </p:sp>
      </p:grpSp>
      <p:grpSp>
        <p:nvGrpSpPr>
          <p:cNvPr id="13" name="Group 12">
            <a:extLst>
              <a:ext uri="{FF2B5EF4-FFF2-40B4-BE49-F238E27FC236}">
                <a16:creationId xmlns:a16="http://schemas.microsoft.com/office/drawing/2014/main" id="{CB69CC70-AE31-C5A4-3D65-8D701086EB90}"/>
              </a:ext>
            </a:extLst>
          </p:cNvPr>
          <p:cNvGrpSpPr/>
          <p:nvPr/>
        </p:nvGrpSpPr>
        <p:grpSpPr>
          <a:xfrm>
            <a:off x="437288" y="2155583"/>
            <a:ext cx="10828474" cy="568479"/>
            <a:chOff x="437288" y="1282807"/>
            <a:chExt cx="10828474" cy="568479"/>
          </a:xfrm>
        </p:grpSpPr>
        <p:sp>
          <p:nvSpPr>
            <p:cNvPr id="14" name="Rectangle: Rounded Corners 13">
              <a:extLst>
                <a:ext uri="{FF2B5EF4-FFF2-40B4-BE49-F238E27FC236}">
                  <a16:creationId xmlns:a16="http://schemas.microsoft.com/office/drawing/2014/main" id="{9212E086-FF73-0D07-6857-D76B3ED85AFF}"/>
                </a:ext>
              </a:extLst>
            </p:cNvPr>
            <p:cNvSpPr/>
            <p:nvPr/>
          </p:nvSpPr>
          <p:spPr>
            <a:xfrm>
              <a:off x="8989191" y="1300008"/>
              <a:ext cx="2276571" cy="551278"/>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۶ پرسونای نهایی مشتری </a:t>
              </a:r>
            </a:p>
          </p:txBody>
        </p:sp>
        <p:sp>
          <p:nvSpPr>
            <p:cNvPr id="15" name="Isosceles Triangle 14">
              <a:extLst>
                <a:ext uri="{FF2B5EF4-FFF2-40B4-BE49-F238E27FC236}">
                  <a16:creationId xmlns:a16="http://schemas.microsoft.com/office/drawing/2014/main" id="{EC038830-F72C-919F-95D7-7A833B2B2B3E}"/>
                </a:ext>
              </a:extLst>
            </p:cNvPr>
            <p:cNvSpPr/>
            <p:nvPr/>
          </p:nvSpPr>
          <p:spPr>
            <a:xfrm rot="16200000">
              <a:off x="8466495" y="1504654"/>
              <a:ext cx="551278" cy="141981"/>
            </a:xfrm>
            <a:prstGeom prst="triangle">
              <a:avLst/>
            </a:prstGeom>
            <a:solidFill>
              <a:srgbClr val="F0BE0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6" name="Rectangle: Rounded Corners 15">
              <a:extLst>
                <a:ext uri="{FF2B5EF4-FFF2-40B4-BE49-F238E27FC236}">
                  <a16:creationId xmlns:a16="http://schemas.microsoft.com/office/drawing/2014/main" id="{7DE396E8-5E9F-BCBB-E64E-DFA4DC67E4E5}"/>
                </a:ext>
              </a:extLst>
            </p:cNvPr>
            <p:cNvSpPr/>
            <p:nvPr/>
          </p:nvSpPr>
          <p:spPr>
            <a:xfrm>
              <a:off x="437288" y="1282807"/>
              <a:ext cx="8057787" cy="568477"/>
            </a:xfrm>
            <a:prstGeom prst="roundRect">
              <a:avLst/>
            </a:prstGeom>
            <a:solidFill>
              <a:srgbClr val="1E2761">
                <a:alpha val="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شامل: کسب‌وکار تراز ایرانی، کسب‌وکار تراز خارجی، کسب‌وکار مشتاق، کسب‌وکار کنجکاو، خالق کسب‌وکار، سرمایه‌گذار — هرکدام با پروفایل کامل که نیاز محوری، رفتار خرید، تصمیم‌گیرندگان، رویدادهای محرک و توالی خرید مربوطه تهیه شده است. </a:t>
              </a:r>
            </a:p>
          </p:txBody>
        </p:sp>
      </p:grpSp>
      <p:grpSp>
        <p:nvGrpSpPr>
          <p:cNvPr id="17" name="Group 16">
            <a:extLst>
              <a:ext uri="{FF2B5EF4-FFF2-40B4-BE49-F238E27FC236}">
                <a16:creationId xmlns:a16="http://schemas.microsoft.com/office/drawing/2014/main" id="{C56F3F59-5FC0-5615-6D77-74385F2F481D}"/>
              </a:ext>
            </a:extLst>
          </p:cNvPr>
          <p:cNvGrpSpPr/>
          <p:nvPr/>
        </p:nvGrpSpPr>
        <p:grpSpPr>
          <a:xfrm>
            <a:off x="437288" y="2891199"/>
            <a:ext cx="10828474" cy="568479"/>
            <a:chOff x="437288" y="1282807"/>
            <a:chExt cx="10828474" cy="568479"/>
          </a:xfrm>
        </p:grpSpPr>
        <p:sp>
          <p:nvSpPr>
            <p:cNvPr id="18" name="Rectangle: Rounded Corners 17">
              <a:extLst>
                <a:ext uri="{FF2B5EF4-FFF2-40B4-BE49-F238E27FC236}">
                  <a16:creationId xmlns:a16="http://schemas.microsoft.com/office/drawing/2014/main" id="{DFB9B134-A570-2B5A-6F91-A21FFDA6AEC3}"/>
                </a:ext>
              </a:extLst>
            </p:cNvPr>
            <p:cNvSpPr/>
            <p:nvPr/>
          </p:nvSpPr>
          <p:spPr>
            <a:xfrm>
              <a:off x="8989191" y="1300008"/>
              <a:ext cx="2276571" cy="551278"/>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نقشه بازیگران اکوسیستم </a:t>
              </a:r>
            </a:p>
          </p:txBody>
        </p:sp>
        <p:sp>
          <p:nvSpPr>
            <p:cNvPr id="19" name="Isosceles Triangle 18">
              <a:extLst>
                <a:ext uri="{FF2B5EF4-FFF2-40B4-BE49-F238E27FC236}">
                  <a16:creationId xmlns:a16="http://schemas.microsoft.com/office/drawing/2014/main" id="{8FD69BDA-F6B1-E95E-9EE5-1A0E17B557D5}"/>
                </a:ext>
              </a:extLst>
            </p:cNvPr>
            <p:cNvSpPr/>
            <p:nvPr/>
          </p:nvSpPr>
          <p:spPr>
            <a:xfrm rot="16200000">
              <a:off x="8466495" y="1504654"/>
              <a:ext cx="551278" cy="141981"/>
            </a:xfrm>
            <a:prstGeom prst="triangle">
              <a:avLst/>
            </a:prstGeom>
            <a:solidFill>
              <a:srgbClr val="F0BE0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20" name="Rectangle: Rounded Corners 19">
              <a:extLst>
                <a:ext uri="{FF2B5EF4-FFF2-40B4-BE49-F238E27FC236}">
                  <a16:creationId xmlns:a16="http://schemas.microsoft.com/office/drawing/2014/main" id="{399C7960-92D3-F12D-59EA-059DB4070F06}"/>
                </a:ext>
              </a:extLst>
            </p:cNvPr>
            <p:cNvSpPr/>
            <p:nvPr/>
          </p:nvSpPr>
          <p:spPr>
            <a:xfrm>
              <a:off x="437288" y="1282807"/>
              <a:ext cx="8057787" cy="568477"/>
            </a:xfrm>
            <a:prstGeom prst="roundRect">
              <a:avLst/>
            </a:prstGeom>
            <a:solidFill>
              <a:srgbClr val="1E2761">
                <a:alpha val="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اتاق‌های بازرگانی، صنف‌ها و ایرانیان خارج از کشور صراحتاً » غیرمشتری اما کاندید کانال جذب» علامت‌گذاری شده‌اند — نقطه اتصال مستقیم به کار امروز.</a:t>
              </a:r>
            </a:p>
          </p:txBody>
        </p:sp>
      </p:grpSp>
      <p:grpSp>
        <p:nvGrpSpPr>
          <p:cNvPr id="25" name="Group 24">
            <a:extLst>
              <a:ext uri="{FF2B5EF4-FFF2-40B4-BE49-F238E27FC236}">
                <a16:creationId xmlns:a16="http://schemas.microsoft.com/office/drawing/2014/main" id="{D513B246-A836-9902-A340-8D516405974A}"/>
              </a:ext>
            </a:extLst>
          </p:cNvPr>
          <p:cNvGrpSpPr/>
          <p:nvPr/>
        </p:nvGrpSpPr>
        <p:grpSpPr>
          <a:xfrm>
            <a:off x="437288" y="3626815"/>
            <a:ext cx="10828474" cy="568479"/>
            <a:chOff x="437288" y="1282807"/>
            <a:chExt cx="10828474" cy="568479"/>
          </a:xfrm>
        </p:grpSpPr>
        <p:sp>
          <p:nvSpPr>
            <p:cNvPr id="26" name="Rectangle: Rounded Corners 25">
              <a:extLst>
                <a:ext uri="{FF2B5EF4-FFF2-40B4-BE49-F238E27FC236}">
                  <a16:creationId xmlns:a16="http://schemas.microsoft.com/office/drawing/2014/main" id="{85674F10-8E30-BD71-83F0-588604D1BC2B}"/>
                </a:ext>
              </a:extLst>
            </p:cNvPr>
            <p:cNvSpPr/>
            <p:nvPr/>
          </p:nvSpPr>
          <p:spPr>
            <a:xfrm>
              <a:off x="8989191" y="1300008"/>
              <a:ext cx="2276571" cy="551278"/>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نقشه ارزش پیشنهادی </a:t>
              </a:r>
            </a:p>
          </p:txBody>
        </p:sp>
        <p:sp>
          <p:nvSpPr>
            <p:cNvPr id="27" name="Isosceles Triangle 26">
              <a:extLst>
                <a:ext uri="{FF2B5EF4-FFF2-40B4-BE49-F238E27FC236}">
                  <a16:creationId xmlns:a16="http://schemas.microsoft.com/office/drawing/2014/main" id="{C900BF5D-234A-9C7B-85A0-15965703AF4E}"/>
                </a:ext>
              </a:extLst>
            </p:cNvPr>
            <p:cNvSpPr/>
            <p:nvPr/>
          </p:nvSpPr>
          <p:spPr>
            <a:xfrm rot="16200000">
              <a:off x="8466495" y="1504654"/>
              <a:ext cx="551278" cy="141981"/>
            </a:xfrm>
            <a:prstGeom prst="triangle">
              <a:avLst/>
            </a:prstGeom>
            <a:solidFill>
              <a:srgbClr val="F0BE0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28" name="Rectangle: Rounded Corners 27">
              <a:extLst>
                <a:ext uri="{FF2B5EF4-FFF2-40B4-BE49-F238E27FC236}">
                  <a16:creationId xmlns:a16="http://schemas.microsoft.com/office/drawing/2014/main" id="{03A5E92A-EBD8-9475-30E4-ADC5EEB5E838}"/>
                </a:ext>
              </a:extLst>
            </p:cNvPr>
            <p:cNvSpPr/>
            <p:nvPr/>
          </p:nvSpPr>
          <p:spPr>
            <a:xfrm>
              <a:off x="437288" y="1282807"/>
              <a:ext cx="8057787" cy="568477"/>
            </a:xfrm>
            <a:prstGeom prst="roundRect">
              <a:avLst/>
            </a:prstGeom>
            <a:solidFill>
              <a:srgbClr val="1E2761">
                <a:alpha val="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محصولات/دردسرکاه‌ها/منفعت‌سازها به تفکیک ۶ پرسونا حول ۴ محرک خلق ارزش (هوشمندی و اعتبارسنجی، دسترسی مورداعتماد، تأمین و فعال‌سازی منابع و قابلیت‌ها، هماهنگ‌سازی و تبدیل فرصت به نتیجه) به صورت کامل تدوین گردید </a:t>
              </a:r>
            </a:p>
          </p:txBody>
        </p:sp>
      </p:grpSp>
      <p:grpSp>
        <p:nvGrpSpPr>
          <p:cNvPr id="33" name="Group 32">
            <a:extLst>
              <a:ext uri="{FF2B5EF4-FFF2-40B4-BE49-F238E27FC236}">
                <a16:creationId xmlns:a16="http://schemas.microsoft.com/office/drawing/2014/main" id="{B7706D87-99EF-A730-C95D-061C7E210337}"/>
              </a:ext>
            </a:extLst>
          </p:cNvPr>
          <p:cNvGrpSpPr/>
          <p:nvPr/>
        </p:nvGrpSpPr>
        <p:grpSpPr>
          <a:xfrm>
            <a:off x="437288" y="4362431"/>
            <a:ext cx="10828474" cy="568479"/>
            <a:chOff x="437288" y="1282807"/>
            <a:chExt cx="10828474" cy="568479"/>
          </a:xfrm>
        </p:grpSpPr>
        <p:sp>
          <p:nvSpPr>
            <p:cNvPr id="34" name="Rectangle: Rounded Corners 33">
              <a:extLst>
                <a:ext uri="{FF2B5EF4-FFF2-40B4-BE49-F238E27FC236}">
                  <a16:creationId xmlns:a16="http://schemas.microsoft.com/office/drawing/2014/main" id="{78822189-8D83-9B04-75A7-2C0E304D50DF}"/>
                </a:ext>
              </a:extLst>
            </p:cNvPr>
            <p:cNvSpPr/>
            <p:nvPr/>
          </p:nvSpPr>
          <p:spPr>
            <a:xfrm>
              <a:off x="8989191" y="1300008"/>
              <a:ext cx="2276571" cy="551278"/>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زنجیره ارزش تجارت بین‌المللی </a:t>
              </a:r>
            </a:p>
          </p:txBody>
        </p:sp>
        <p:sp>
          <p:nvSpPr>
            <p:cNvPr id="35" name="Isosceles Triangle 34">
              <a:extLst>
                <a:ext uri="{FF2B5EF4-FFF2-40B4-BE49-F238E27FC236}">
                  <a16:creationId xmlns:a16="http://schemas.microsoft.com/office/drawing/2014/main" id="{E28622E1-88C4-3EE0-4A95-1805235EE56D}"/>
                </a:ext>
              </a:extLst>
            </p:cNvPr>
            <p:cNvSpPr/>
            <p:nvPr/>
          </p:nvSpPr>
          <p:spPr>
            <a:xfrm rot="16200000">
              <a:off x="8466495" y="1504654"/>
              <a:ext cx="551278" cy="141981"/>
            </a:xfrm>
            <a:prstGeom prst="triangle">
              <a:avLst/>
            </a:prstGeom>
            <a:solidFill>
              <a:srgbClr val="F0BE0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36" name="Rectangle: Rounded Corners 35">
              <a:extLst>
                <a:ext uri="{FF2B5EF4-FFF2-40B4-BE49-F238E27FC236}">
                  <a16:creationId xmlns:a16="http://schemas.microsoft.com/office/drawing/2014/main" id="{D940D8BD-8C6F-825D-79B4-225FCA244E2B}"/>
                </a:ext>
              </a:extLst>
            </p:cNvPr>
            <p:cNvSpPr/>
            <p:nvPr/>
          </p:nvSpPr>
          <p:spPr>
            <a:xfrm>
              <a:off x="437288" y="1282807"/>
              <a:ext cx="8057787" cy="568477"/>
            </a:xfrm>
            <a:prstGeom prst="roundRect">
              <a:avLst/>
            </a:prstGeom>
            <a:solidFill>
              <a:srgbClr val="1E2761">
                <a:alpha val="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هفت مرحله است که در سه لایه مطالعاتی، لایه ایجاد زیرساخت و لایه عملیاتی و اجرایی شناسایی شده است. </a:t>
              </a:r>
            </a:p>
          </p:txBody>
        </p:sp>
      </p:grpSp>
      <p:grpSp>
        <p:nvGrpSpPr>
          <p:cNvPr id="37" name="Group 36">
            <a:extLst>
              <a:ext uri="{FF2B5EF4-FFF2-40B4-BE49-F238E27FC236}">
                <a16:creationId xmlns:a16="http://schemas.microsoft.com/office/drawing/2014/main" id="{1C0E9D17-1803-FC0C-3618-527C2F61348E}"/>
              </a:ext>
            </a:extLst>
          </p:cNvPr>
          <p:cNvGrpSpPr/>
          <p:nvPr/>
        </p:nvGrpSpPr>
        <p:grpSpPr>
          <a:xfrm>
            <a:off x="437288" y="5098049"/>
            <a:ext cx="10828474" cy="568479"/>
            <a:chOff x="437288" y="1282807"/>
            <a:chExt cx="10828474" cy="568479"/>
          </a:xfrm>
        </p:grpSpPr>
        <p:sp>
          <p:nvSpPr>
            <p:cNvPr id="38" name="Rectangle: Rounded Corners 37">
              <a:extLst>
                <a:ext uri="{FF2B5EF4-FFF2-40B4-BE49-F238E27FC236}">
                  <a16:creationId xmlns:a16="http://schemas.microsoft.com/office/drawing/2014/main" id="{0C314884-A79D-41CC-21CA-7FFB58CD360C}"/>
                </a:ext>
              </a:extLst>
            </p:cNvPr>
            <p:cNvSpPr/>
            <p:nvPr/>
          </p:nvSpPr>
          <p:spPr>
            <a:xfrm>
              <a:off x="8989191" y="1300008"/>
              <a:ext cx="2276571" cy="551278"/>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چارچوب</a:t>
              </a:r>
              <a:r>
                <a:rPr kumimoji="0" lang="en-US" sz="105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Being </a:t>
              </a:r>
              <a:r>
                <a:rPr kumimoji="0" lang="fa-IR" sz="105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 در برابر</a:t>
              </a:r>
              <a:r>
                <a:rPr kumimoji="0" lang="en-US" sz="105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Doing </a:t>
              </a:r>
              <a:endParaRPr kumimoji="0" lang="fa-IR" sz="105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39" name="Isosceles Triangle 38">
              <a:extLst>
                <a:ext uri="{FF2B5EF4-FFF2-40B4-BE49-F238E27FC236}">
                  <a16:creationId xmlns:a16="http://schemas.microsoft.com/office/drawing/2014/main" id="{873F8C11-3280-95E9-256E-1768C74AE27A}"/>
                </a:ext>
              </a:extLst>
            </p:cNvPr>
            <p:cNvSpPr/>
            <p:nvPr/>
          </p:nvSpPr>
          <p:spPr>
            <a:xfrm rot="16200000">
              <a:off x="8466495" y="1504654"/>
              <a:ext cx="551278" cy="141981"/>
            </a:xfrm>
            <a:prstGeom prst="triangle">
              <a:avLst/>
            </a:prstGeom>
            <a:solidFill>
              <a:srgbClr val="F0BE0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0" name="Rectangle: Rounded Corners 39">
              <a:extLst>
                <a:ext uri="{FF2B5EF4-FFF2-40B4-BE49-F238E27FC236}">
                  <a16:creationId xmlns:a16="http://schemas.microsoft.com/office/drawing/2014/main" id="{544376B4-0301-7B49-ACE4-76CCDC5E0926}"/>
                </a:ext>
              </a:extLst>
            </p:cNvPr>
            <p:cNvSpPr/>
            <p:nvPr/>
          </p:nvSpPr>
          <p:spPr>
            <a:xfrm>
              <a:off x="437288" y="1282807"/>
              <a:ext cx="8057787" cy="568477"/>
            </a:xfrm>
            <a:prstGeom prst="roundRect">
              <a:avLst/>
            </a:prstGeom>
            <a:solidFill>
              <a:srgbClr val="1E2761">
                <a:alpha val="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کار غیرقابل‌تفویض/رابطه‌محور بنیان‌گذاران (</a:t>
              </a:r>
              <a:r>
                <a:rPr kumimoji="0" lang="en-US" sz="9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Being</a:t>
              </a:r>
              <a:r>
                <a:rPr kumimoji="0" lang="fa-IR" sz="9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 در برابر کار قابل‌تفویض/سیستماتیک (</a:t>
              </a:r>
              <a:r>
                <a:rPr kumimoji="0" lang="en-US" sz="9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Doing</a:t>
              </a:r>
              <a:r>
                <a:rPr kumimoji="0" lang="fa-IR" sz="900" b="0"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 نیز برای بلوک کانال مشتریان مجددا مورد استفاده قرار گرفته است. </a:t>
              </a:r>
            </a:p>
          </p:txBody>
        </p:sp>
      </p:grpSp>
    </p:spTree>
    <p:extLst>
      <p:ext uri="{BB962C8B-B14F-4D97-AF65-F5344CB8AC3E}">
        <p14:creationId xmlns:p14="http://schemas.microsoft.com/office/powerpoint/2010/main" val="235630512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AD842F-A52E-C2B4-EFB0-47F669DF75A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C89958A-16FF-8439-3C62-FA19EB7081F6}"/>
              </a:ext>
            </a:extLst>
          </p:cNvPr>
          <p:cNvSpPr>
            <a:spLocks noGrp="1"/>
          </p:cNvSpPr>
          <p:nvPr>
            <p:ph type="body" sz="quarter" idx="10"/>
          </p:nvPr>
        </p:nvSpPr>
        <p:spPr/>
        <p:txBody>
          <a:bodyPr/>
          <a:lstStyle/>
          <a:p>
            <a:r>
              <a:rPr lang="fa-IR" dirty="0">
                <a:solidFill>
                  <a:schemeClr val="bg1">
                    <a:lumMod val="85000"/>
                  </a:schemeClr>
                </a:solidFill>
                <a:latin typeface="Yekan Bakh" pitchFamily="2" charset="-78"/>
                <a:ea typeface="Yekan Bakh" pitchFamily="2" charset="-78"/>
                <a:cs typeface="Yekan Bakh" pitchFamily="2" charset="-78"/>
              </a:rPr>
              <a:t>مقدمه</a:t>
            </a:r>
          </a:p>
        </p:txBody>
      </p:sp>
      <p:sp>
        <p:nvSpPr>
          <p:cNvPr id="3" name="Text Placeholder 2">
            <a:extLst>
              <a:ext uri="{FF2B5EF4-FFF2-40B4-BE49-F238E27FC236}">
                <a16:creationId xmlns:a16="http://schemas.microsoft.com/office/drawing/2014/main" id="{E13B63F8-6A11-305F-A4F7-E4DD15F26C5D}"/>
              </a:ext>
            </a:extLst>
          </p:cNvPr>
          <p:cNvSpPr>
            <a:spLocks noGrp="1"/>
          </p:cNvSpPr>
          <p:nvPr>
            <p:ph type="body" sz="quarter" idx="12"/>
          </p:nvPr>
        </p:nvSpPr>
        <p:spPr>
          <a:xfrm>
            <a:off x="555629" y="567444"/>
            <a:ext cx="10710133" cy="715363"/>
          </a:xfrm>
        </p:spPr>
        <p:txBody>
          <a:bodyPr/>
          <a:lstStyle/>
          <a:p>
            <a:r>
              <a:rPr lang="fa-IR" dirty="0">
                <a:solidFill>
                  <a:schemeClr val="bg1"/>
                </a:solidFill>
                <a:latin typeface="Yekan Bakh" pitchFamily="2" charset="-78"/>
                <a:ea typeface="Yekan Bakh" pitchFamily="2" charset="-78"/>
                <a:cs typeface="Yekan Bakh" pitchFamily="2" charset="-78"/>
              </a:rPr>
              <a:t>موتور اصلی کسب‌وکار در ۹ بخش کلیدی طراحی می‌شود: </a:t>
            </a:r>
          </a:p>
        </p:txBody>
      </p:sp>
      <p:cxnSp>
        <p:nvCxnSpPr>
          <p:cNvPr id="1043" name="Straight Connector 1042">
            <a:extLst>
              <a:ext uri="{FF2B5EF4-FFF2-40B4-BE49-F238E27FC236}">
                <a16:creationId xmlns:a16="http://schemas.microsoft.com/office/drawing/2014/main" id="{6A97A74F-FFFB-9991-99D9-27D158574DCA}"/>
              </a:ext>
            </a:extLst>
          </p:cNvPr>
          <p:cNvCxnSpPr>
            <a:cxnSpLocks/>
          </p:cNvCxnSpPr>
          <p:nvPr/>
        </p:nvCxnSpPr>
        <p:spPr>
          <a:xfrm>
            <a:off x="2538516" y="1298702"/>
            <a:ext cx="0" cy="2926080"/>
          </a:xfrm>
          <a:prstGeom prst="line">
            <a:avLst/>
          </a:prstGeom>
          <a:ln w="6350">
            <a:solidFill>
              <a:schemeClr val="bg1">
                <a:lumMod val="85000"/>
              </a:schemeClr>
            </a:solidFill>
            <a:prstDash val="dash"/>
          </a:ln>
        </p:spPr>
        <p:style>
          <a:lnRef idx="1">
            <a:schemeClr val="accent4"/>
          </a:lnRef>
          <a:fillRef idx="0">
            <a:schemeClr val="accent4"/>
          </a:fillRef>
          <a:effectRef idx="0">
            <a:schemeClr val="accent4"/>
          </a:effectRef>
          <a:fontRef idx="minor">
            <a:schemeClr val="tx1"/>
          </a:fontRef>
        </p:style>
      </p:cxnSp>
      <p:cxnSp>
        <p:nvCxnSpPr>
          <p:cNvPr id="1058" name="Straight Connector 1057">
            <a:extLst>
              <a:ext uri="{FF2B5EF4-FFF2-40B4-BE49-F238E27FC236}">
                <a16:creationId xmlns:a16="http://schemas.microsoft.com/office/drawing/2014/main" id="{138FFB24-6EC7-F350-3DE4-B0E53BD986FB}"/>
              </a:ext>
            </a:extLst>
          </p:cNvPr>
          <p:cNvCxnSpPr>
            <a:cxnSpLocks/>
          </p:cNvCxnSpPr>
          <p:nvPr/>
        </p:nvCxnSpPr>
        <p:spPr>
          <a:xfrm>
            <a:off x="4809384" y="1298702"/>
            <a:ext cx="0" cy="2926080"/>
          </a:xfrm>
          <a:prstGeom prst="line">
            <a:avLst/>
          </a:prstGeom>
          <a:ln w="6350">
            <a:solidFill>
              <a:schemeClr val="bg1">
                <a:lumMod val="85000"/>
              </a:schemeClr>
            </a:solidFill>
            <a:prstDash val="dash"/>
          </a:ln>
        </p:spPr>
        <p:style>
          <a:lnRef idx="1">
            <a:schemeClr val="accent4"/>
          </a:lnRef>
          <a:fillRef idx="0">
            <a:schemeClr val="accent4"/>
          </a:fillRef>
          <a:effectRef idx="0">
            <a:schemeClr val="accent4"/>
          </a:effectRef>
          <a:fontRef idx="minor">
            <a:schemeClr val="tx1"/>
          </a:fontRef>
        </p:style>
      </p:cxnSp>
      <p:cxnSp>
        <p:nvCxnSpPr>
          <p:cNvPr id="1064" name="Straight Connector 1063">
            <a:extLst>
              <a:ext uri="{FF2B5EF4-FFF2-40B4-BE49-F238E27FC236}">
                <a16:creationId xmlns:a16="http://schemas.microsoft.com/office/drawing/2014/main" id="{07DD0672-3005-67F6-C31B-3DD3FA13045C}"/>
              </a:ext>
            </a:extLst>
          </p:cNvPr>
          <p:cNvCxnSpPr>
            <a:cxnSpLocks/>
          </p:cNvCxnSpPr>
          <p:nvPr/>
        </p:nvCxnSpPr>
        <p:spPr>
          <a:xfrm>
            <a:off x="6911496" y="1298702"/>
            <a:ext cx="0" cy="2926080"/>
          </a:xfrm>
          <a:prstGeom prst="line">
            <a:avLst/>
          </a:prstGeom>
          <a:ln w="6350">
            <a:solidFill>
              <a:schemeClr val="bg1">
                <a:lumMod val="85000"/>
              </a:schemeClr>
            </a:solidFill>
            <a:prstDash val="dash"/>
          </a:ln>
        </p:spPr>
        <p:style>
          <a:lnRef idx="1">
            <a:schemeClr val="accent4"/>
          </a:lnRef>
          <a:fillRef idx="0">
            <a:schemeClr val="accent4"/>
          </a:fillRef>
          <a:effectRef idx="0">
            <a:schemeClr val="accent4"/>
          </a:effectRef>
          <a:fontRef idx="minor">
            <a:schemeClr val="tx1"/>
          </a:fontRef>
        </p:style>
      </p:cxnSp>
      <p:cxnSp>
        <p:nvCxnSpPr>
          <p:cNvPr id="1070" name="Straight Connector 1069">
            <a:extLst>
              <a:ext uri="{FF2B5EF4-FFF2-40B4-BE49-F238E27FC236}">
                <a16:creationId xmlns:a16="http://schemas.microsoft.com/office/drawing/2014/main" id="{1CCDBC90-F089-6B6D-1D8C-745249077977}"/>
              </a:ext>
            </a:extLst>
          </p:cNvPr>
          <p:cNvCxnSpPr>
            <a:cxnSpLocks/>
          </p:cNvCxnSpPr>
          <p:nvPr/>
        </p:nvCxnSpPr>
        <p:spPr>
          <a:xfrm>
            <a:off x="9182364" y="1298702"/>
            <a:ext cx="0" cy="2926080"/>
          </a:xfrm>
          <a:prstGeom prst="line">
            <a:avLst/>
          </a:prstGeom>
          <a:ln w="6350">
            <a:solidFill>
              <a:schemeClr val="bg1">
                <a:lumMod val="85000"/>
              </a:schemeClr>
            </a:solidFill>
            <a:prstDash val="dash"/>
          </a:ln>
        </p:spPr>
        <p:style>
          <a:lnRef idx="1">
            <a:schemeClr val="accent4"/>
          </a:lnRef>
          <a:fillRef idx="0">
            <a:schemeClr val="accent4"/>
          </a:fillRef>
          <a:effectRef idx="0">
            <a:schemeClr val="accent4"/>
          </a:effectRef>
          <a:fontRef idx="minor">
            <a:schemeClr val="tx1"/>
          </a:fontRef>
        </p:style>
      </p:cxnSp>
      <p:cxnSp>
        <p:nvCxnSpPr>
          <p:cNvPr id="1075" name="Straight Connector 1074">
            <a:extLst>
              <a:ext uri="{FF2B5EF4-FFF2-40B4-BE49-F238E27FC236}">
                <a16:creationId xmlns:a16="http://schemas.microsoft.com/office/drawing/2014/main" id="{1B17F42F-C691-6DEF-5C11-F95341400C3D}"/>
              </a:ext>
            </a:extLst>
          </p:cNvPr>
          <p:cNvCxnSpPr>
            <a:cxnSpLocks/>
          </p:cNvCxnSpPr>
          <p:nvPr/>
        </p:nvCxnSpPr>
        <p:spPr>
          <a:xfrm>
            <a:off x="5851525" y="4316556"/>
            <a:ext cx="0" cy="1005840"/>
          </a:xfrm>
          <a:prstGeom prst="line">
            <a:avLst/>
          </a:prstGeom>
          <a:ln w="6350">
            <a:solidFill>
              <a:schemeClr val="bg1">
                <a:lumMod val="85000"/>
              </a:schemeClr>
            </a:solidFill>
            <a:prstDash val="dash"/>
          </a:ln>
        </p:spPr>
        <p:style>
          <a:lnRef idx="1">
            <a:schemeClr val="accent4"/>
          </a:lnRef>
          <a:fillRef idx="0">
            <a:schemeClr val="accent4"/>
          </a:fillRef>
          <a:effectRef idx="0">
            <a:schemeClr val="accent4"/>
          </a:effectRef>
          <a:fontRef idx="minor">
            <a:schemeClr val="tx1"/>
          </a:fontRef>
        </p:style>
      </p:cxnSp>
      <p:cxnSp>
        <p:nvCxnSpPr>
          <p:cNvPr id="1076" name="Straight Connector 1075">
            <a:extLst>
              <a:ext uri="{FF2B5EF4-FFF2-40B4-BE49-F238E27FC236}">
                <a16:creationId xmlns:a16="http://schemas.microsoft.com/office/drawing/2014/main" id="{78BA4049-2AE7-DD75-D8C4-A90021CE13EE}"/>
              </a:ext>
            </a:extLst>
          </p:cNvPr>
          <p:cNvCxnSpPr>
            <a:cxnSpLocks/>
          </p:cNvCxnSpPr>
          <p:nvPr/>
        </p:nvCxnSpPr>
        <p:spPr>
          <a:xfrm flipH="1">
            <a:off x="512712" y="4273653"/>
            <a:ext cx="10698480" cy="0"/>
          </a:xfrm>
          <a:prstGeom prst="line">
            <a:avLst/>
          </a:prstGeom>
          <a:ln w="6350">
            <a:solidFill>
              <a:schemeClr val="bg1">
                <a:lumMod val="85000"/>
              </a:schemeClr>
            </a:solidFill>
            <a:prstDash val="dash"/>
          </a:ln>
        </p:spPr>
        <p:style>
          <a:lnRef idx="1">
            <a:schemeClr val="accent4"/>
          </a:lnRef>
          <a:fillRef idx="0">
            <a:schemeClr val="accent4"/>
          </a:fillRef>
          <a:effectRef idx="0">
            <a:schemeClr val="accent4"/>
          </a:effectRef>
          <a:fontRef idx="minor">
            <a:schemeClr val="tx1"/>
          </a:fontRef>
        </p:style>
      </p:cxnSp>
      <p:sp>
        <p:nvSpPr>
          <p:cNvPr id="1101" name="TextBox 1100">
            <a:extLst>
              <a:ext uri="{FF2B5EF4-FFF2-40B4-BE49-F238E27FC236}">
                <a16:creationId xmlns:a16="http://schemas.microsoft.com/office/drawing/2014/main" id="{AEE6ED8E-E4C5-68DE-7436-0252295419E6}"/>
              </a:ext>
            </a:extLst>
          </p:cNvPr>
          <p:cNvSpPr txBox="1"/>
          <p:nvPr/>
        </p:nvSpPr>
        <p:spPr>
          <a:xfrm>
            <a:off x="5982104" y="4622154"/>
            <a:ext cx="5238442" cy="761747"/>
          </a:xfrm>
          <a:prstGeom prst="rect">
            <a:avLst/>
          </a:prstGeom>
          <a:noFill/>
        </p:spPr>
        <p:txBody>
          <a:bodyPr wrap="square" rtlCol="0">
            <a:spAutoFit/>
          </a:bodyPr>
          <a:lstStyle/>
          <a:p>
            <a:pPr marL="115888" marR="0" lvl="0" indent="-115888" algn="justLow" defTabSz="457200" rtl="1" eaLnBrk="1" fontAlgn="auto" latinLnBrk="0" hangingPunct="1">
              <a:lnSpc>
                <a:spcPct val="10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مشتریان واقعاً حاضرند بابت چه ارزشی پول پرداخت کنند؟</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a:p>
            <a:pPr marL="115888" marR="0" lvl="0" indent="-115888" algn="justLow" defTabSz="457200" rtl="1" eaLnBrk="1" fontAlgn="auto" latinLnBrk="0" hangingPunct="1">
              <a:lnSpc>
                <a:spcPct val="10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در حال حاضر بابت چه چیزی پول می‌پردازند؟</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a:p>
            <a:pPr marL="115888" marR="0" lvl="0" indent="-115888" algn="justLow" defTabSz="457200" rtl="1" eaLnBrk="1" fontAlgn="auto" latinLnBrk="0" hangingPunct="1">
              <a:lnSpc>
                <a:spcPct val="10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مدل درآمدی ما چیست؟</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a:p>
            <a:pPr marL="115888" marR="0" lvl="0" indent="-115888" algn="justLow" defTabSz="457200" rtl="1" eaLnBrk="1" fontAlgn="auto" latinLnBrk="0" hangingPunct="1">
              <a:lnSpc>
                <a:spcPct val="10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تاکتیک‌های قیمت‌گذاری ما کدامند؟</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p:txBody>
      </p:sp>
      <p:sp>
        <p:nvSpPr>
          <p:cNvPr id="1107" name="TextBox 1106">
            <a:extLst>
              <a:ext uri="{FF2B5EF4-FFF2-40B4-BE49-F238E27FC236}">
                <a16:creationId xmlns:a16="http://schemas.microsoft.com/office/drawing/2014/main" id="{3EA11A98-888F-13DF-7AEA-DEEE251B6F3D}"/>
              </a:ext>
            </a:extLst>
          </p:cNvPr>
          <p:cNvSpPr txBox="1"/>
          <p:nvPr/>
        </p:nvSpPr>
        <p:spPr>
          <a:xfrm>
            <a:off x="482504" y="4622154"/>
            <a:ext cx="5219631" cy="584775"/>
          </a:xfrm>
          <a:prstGeom prst="rect">
            <a:avLst/>
          </a:prstGeom>
          <a:noFill/>
        </p:spPr>
        <p:txBody>
          <a:bodyPr wrap="square" rtlCol="0">
            <a:spAutoFit/>
          </a:bodyPr>
          <a:lstStyle/>
          <a:p>
            <a:pPr marL="115888" marR="0" lvl="0" indent="-115888" algn="justLow" defTabSz="457200" rtl="1" eaLnBrk="1" fontAlgn="auto" latinLnBrk="0" hangingPunct="1">
              <a:lnSpc>
                <a:spcPct val="10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مهم‌ترین هزینه‌های ذاتیِ مدل کسب‌وکار ما چیست؟</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a:p>
            <a:pPr marL="115888" marR="0" lvl="0" indent="-115888" algn="justLow" defTabSz="457200" rtl="1" eaLnBrk="1" fontAlgn="auto" latinLnBrk="0" hangingPunct="1">
              <a:lnSpc>
                <a:spcPct val="10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کدام منابع کلیدی گران‌ترین هستند؟</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a:p>
            <a:pPr marL="115888" marR="0" lvl="0" indent="-115888" algn="justLow" defTabSz="457200" rtl="1" eaLnBrk="1" fontAlgn="auto" latinLnBrk="0" hangingPunct="1">
              <a:lnSpc>
                <a:spcPct val="10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کدام فعالیت‌های کلیدی بیشترین هزینه را دارند؟</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p:txBody>
      </p:sp>
      <p:sp>
        <p:nvSpPr>
          <p:cNvPr id="1096" name="TextBox 1095">
            <a:extLst>
              <a:ext uri="{FF2B5EF4-FFF2-40B4-BE49-F238E27FC236}">
                <a16:creationId xmlns:a16="http://schemas.microsoft.com/office/drawing/2014/main" id="{9916994B-BD49-6AF1-8BB8-017D59810FA0}"/>
              </a:ext>
            </a:extLst>
          </p:cNvPr>
          <p:cNvSpPr txBox="1"/>
          <p:nvPr/>
        </p:nvSpPr>
        <p:spPr>
          <a:xfrm>
            <a:off x="9245866" y="1510684"/>
            <a:ext cx="1974682" cy="1398460"/>
          </a:xfrm>
          <a:prstGeom prst="rect">
            <a:avLst/>
          </a:prstGeom>
          <a:noFill/>
        </p:spPr>
        <p:txBody>
          <a:bodyPr wrap="square" rtlCol="0">
            <a:spAutoFit/>
          </a:bodyPr>
          <a:lstStyle/>
          <a:p>
            <a:pPr marL="115888" marR="0" lvl="0" indent="-115888" algn="justLow" defTabSz="457200" rtl="1" eaLnBrk="1" fontAlgn="auto" latinLnBrk="0" hangingPunct="1">
              <a:lnSpc>
                <a:spcPct val="15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ما برای چه کسانی ارزش‌آفرینی می‌کنیم؟</a:t>
            </a:r>
          </a:p>
          <a:p>
            <a:pPr marL="115888" marR="0" lvl="0" indent="-115888" algn="justLow" defTabSz="457200" rtl="1" eaLnBrk="1" fontAlgn="auto" latinLnBrk="0" hangingPunct="1">
              <a:lnSpc>
                <a:spcPct val="15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مهم‌ترین مشتریان ما چه کسانی هستند؟</a:t>
            </a:r>
          </a:p>
          <a:p>
            <a:pPr marL="115888" marR="0" lvl="0" indent="-115888" algn="justLow" defTabSz="457200" rtl="1" eaLnBrk="1" fontAlgn="auto" latinLnBrk="0" hangingPunct="1">
              <a:lnSpc>
                <a:spcPct val="15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آرکی‌تایپ‌ها (الگوها/پرتره‌های شخصیتی) مشتریان ما کدامند؟</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p:txBody>
      </p:sp>
      <p:sp>
        <p:nvSpPr>
          <p:cNvPr id="8" name="Rectangle: Rounded Corners 7">
            <a:extLst>
              <a:ext uri="{FF2B5EF4-FFF2-40B4-BE49-F238E27FC236}">
                <a16:creationId xmlns:a16="http://schemas.microsoft.com/office/drawing/2014/main" id="{4315CAF5-E945-E297-560B-FF2A80F06401}"/>
              </a:ext>
            </a:extLst>
          </p:cNvPr>
          <p:cNvSpPr/>
          <p:nvPr/>
        </p:nvSpPr>
        <p:spPr>
          <a:xfrm>
            <a:off x="10946229" y="1162738"/>
            <a:ext cx="274320" cy="274320"/>
          </a:xfrm>
          <a:prstGeom prst="roundRect">
            <a:avLst>
              <a:gd name="adj" fmla="val 20381"/>
            </a:avLst>
          </a:prstGeom>
          <a:solidFill>
            <a:srgbClr val="F0BE0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endParaRPr lang="fa-IR" sz="1600" b="1" dirty="0">
              <a:latin typeface="Yekan Bakh" pitchFamily="2" charset="-78"/>
              <a:ea typeface="Yekan Bakh" pitchFamily="2" charset="-78"/>
              <a:cs typeface="Yekan Bakh" pitchFamily="2" charset="-78"/>
            </a:endParaRPr>
          </a:p>
        </p:txBody>
      </p:sp>
      <p:sp>
        <p:nvSpPr>
          <p:cNvPr id="9" name="TextBox 8">
            <a:extLst>
              <a:ext uri="{FF2B5EF4-FFF2-40B4-BE49-F238E27FC236}">
                <a16:creationId xmlns:a16="http://schemas.microsoft.com/office/drawing/2014/main" id="{9F9FAEBE-0C95-23AF-2043-CFB4C1426CBC}"/>
              </a:ext>
            </a:extLst>
          </p:cNvPr>
          <p:cNvSpPr txBox="1"/>
          <p:nvPr/>
        </p:nvSpPr>
        <p:spPr>
          <a:xfrm>
            <a:off x="10965421" y="1163059"/>
            <a:ext cx="235936" cy="307777"/>
          </a:xfrm>
          <a:prstGeom prst="rect">
            <a:avLst/>
          </a:prstGeom>
          <a:noFill/>
        </p:spPr>
        <p:txBody>
          <a:bodyPr wrap="square" rtlCol="0" anchor="ctr">
            <a:spAutoFit/>
          </a:bodyPr>
          <a:lstStyle/>
          <a:p>
            <a:pPr algn="ctr"/>
            <a:r>
              <a:rPr lang="fa-IR" sz="1400" b="1" dirty="0">
                <a:solidFill>
                  <a:schemeClr val="bg1"/>
                </a:solidFill>
                <a:latin typeface="Yekan Bakh FaNum" pitchFamily="2" charset="-78"/>
                <a:ea typeface="Yekan Bakh FaNum" pitchFamily="2" charset="-78"/>
                <a:cs typeface="Yekan Bakh FaNum" pitchFamily="2" charset="-78"/>
              </a:rPr>
              <a:t>۱</a:t>
            </a:r>
            <a:endParaRPr lang="en-GB" sz="1400" b="1" dirty="0">
              <a:solidFill>
                <a:schemeClr val="bg1"/>
              </a:solidFill>
              <a:latin typeface="Yekan Bakh FaNum" pitchFamily="2" charset="-78"/>
              <a:ea typeface="Yekan Bakh FaNum" pitchFamily="2" charset="-78"/>
              <a:cs typeface="Yekan Bakh FaNum" pitchFamily="2" charset="-78"/>
            </a:endParaRPr>
          </a:p>
        </p:txBody>
      </p:sp>
      <p:sp>
        <p:nvSpPr>
          <p:cNvPr id="10" name="Rectangle: Rounded Corners 9">
            <a:extLst>
              <a:ext uri="{FF2B5EF4-FFF2-40B4-BE49-F238E27FC236}">
                <a16:creationId xmlns:a16="http://schemas.microsoft.com/office/drawing/2014/main" id="{2EA9C4BB-E4EB-9053-57FC-2307932657DD}"/>
              </a:ext>
            </a:extLst>
          </p:cNvPr>
          <p:cNvSpPr/>
          <p:nvPr/>
        </p:nvSpPr>
        <p:spPr>
          <a:xfrm>
            <a:off x="9245866" y="1162738"/>
            <a:ext cx="1682279" cy="274320"/>
          </a:xfrm>
          <a:prstGeom prst="roundRect">
            <a:avLst>
              <a:gd name="adj" fmla="val 20381"/>
            </a:avLst>
          </a:prstGeom>
          <a:solidFill>
            <a:srgbClr val="F0BE0F">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fa-IR" sz="1100" b="1" dirty="0">
                <a:solidFill>
                  <a:srgbClr val="004D80"/>
                </a:solidFill>
                <a:latin typeface="Yekan Bakh" pitchFamily="2" charset="-78"/>
                <a:ea typeface="Yekan Bakh" pitchFamily="2" charset="-78"/>
                <a:cs typeface="Yekan Bakh" pitchFamily="2" charset="-78"/>
              </a:rPr>
              <a:t>بخش‌های مشتریان</a:t>
            </a:r>
          </a:p>
        </p:txBody>
      </p:sp>
      <p:sp>
        <p:nvSpPr>
          <p:cNvPr id="1097" name="TextBox 1096">
            <a:extLst>
              <a:ext uri="{FF2B5EF4-FFF2-40B4-BE49-F238E27FC236}">
                <a16:creationId xmlns:a16="http://schemas.microsoft.com/office/drawing/2014/main" id="{A59824D9-9C17-50C4-0045-69F2F3BC8785}"/>
              </a:ext>
            </a:extLst>
          </p:cNvPr>
          <p:cNvSpPr txBox="1"/>
          <p:nvPr/>
        </p:nvSpPr>
        <p:spPr>
          <a:xfrm>
            <a:off x="4872888" y="1510684"/>
            <a:ext cx="1975104" cy="2514150"/>
          </a:xfrm>
          <a:prstGeom prst="rect">
            <a:avLst/>
          </a:prstGeom>
          <a:noFill/>
        </p:spPr>
        <p:txBody>
          <a:bodyPr wrap="square" rtlCol="0">
            <a:spAutoFit/>
          </a:bodyPr>
          <a:lstStyle/>
          <a:p>
            <a:pPr marL="115888" marR="0" lvl="0" indent="-115888" algn="justLow" defTabSz="457200" rtl="1" eaLnBrk="1" fontAlgn="auto" latinLnBrk="0" hangingPunct="1">
              <a:lnSpc>
                <a:spcPct val="15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چه ارزشی را به مشتری ارائه می‌دهیم؟</a:t>
            </a:r>
          </a:p>
          <a:p>
            <a:pPr marL="115888" marR="0" lvl="0" indent="-115888" algn="justLow" defTabSz="457200" rtl="1" eaLnBrk="1" fontAlgn="auto" latinLnBrk="0" hangingPunct="1">
              <a:lnSpc>
                <a:spcPct val="15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به حل کدام‌یک از مسائل مشتریان خود کمک می‌کنیم؟</a:t>
            </a:r>
          </a:p>
          <a:p>
            <a:pPr marL="115888" marR="0" lvl="0" indent="-115888" algn="justLow" defTabSz="457200" rtl="1" eaLnBrk="1" fontAlgn="auto" latinLnBrk="0" hangingPunct="1">
              <a:lnSpc>
                <a:spcPct val="15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چه بسته‌ای از محصولات و خدمات را به هر بخش از مشتریان عرضه می‌کنیم؟</a:t>
            </a:r>
          </a:p>
          <a:p>
            <a:pPr marL="115888" marR="0" lvl="0" indent="-115888" algn="justLow" defTabSz="457200" rtl="1" eaLnBrk="1" fontAlgn="auto" latinLnBrk="0" hangingPunct="1">
              <a:lnSpc>
                <a:spcPct val="15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کدام‌یک از نیازهای مشتریان را برطرف می‌سازیم؟</a:t>
            </a:r>
          </a:p>
          <a:p>
            <a:pPr marL="115888" marR="0" lvl="0" indent="-115888" algn="justLow" defTabSz="457200" rtl="1" eaLnBrk="1" fontAlgn="auto" latinLnBrk="0" hangingPunct="1">
              <a:lnSpc>
                <a:spcPct val="15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«کمینه اکوسیستم پذیرفتنی» (</a:t>
            </a:r>
            <a:r>
              <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MVE</a:t>
            </a: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 ما چیست؟</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p:txBody>
      </p:sp>
      <p:sp>
        <p:nvSpPr>
          <p:cNvPr id="18" name="Rectangle: Rounded Corners 17">
            <a:extLst>
              <a:ext uri="{FF2B5EF4-FFF2-40B4-BE49-F238E27FC236}">
                <a16:creationId xmlns:a16="http://schemas.microsoft.com/office/drawing/2014/main" id="{C0CA2AEB-27C7-864C-0BB5-5869D73B57F3}"/>
              </a:ext>
            </a:extLst>
          </p:cNvPr>
          <p:cNvSpPr/>
          <p:nvPr/>
        </p:nvSpPr>
        <p:spPr>
          <a:xfrm>
            <a:off x="6573462" y="1162738"/>
            <a:ext cx="274320" cy="274320"/>
          </a:xfrm>
          <a:prstGeom prst="roundRect">
            <a:avLst>
              <a:gd name="adj" fmla="val 20381"/>
            </a:avLst>
          </a:prstGeom>
          <a:solidFill>
            <a:srgbClr val="F0BE0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endParaRPr lang="fa-IR" sz="1600" b="1" dirty="0">
              <a:latin typeface="Yekan Bakh" pitchFamily="2" charset="-78"/>
              <a:ea typeface="Yekan Bakh" pitchFamily="2" charset="-78"/>
              <a:cs typeface="Yekan Bakh" pitchFamily="2" charset="-78"/>
            </a:endParaRPr>
          </a:p>
        </p:txBody>
      </p:sp>
      <p:sp>
        <p:nvSpPr>
          <p:cNvPr id="19" name="TextBox 18">
            <a:extLst>
              <a:ext uri="{FF2B5EF4-FFF2-40B4-BE49-F238E27FC236}">
                <a16:creationId xmlns:a16="http://schemas.microsoft.com/office/drawing/2014/main" id="{69E647AA-072A-5509-C327-0B74D0313780}"/>
              </a:ext>
            </a:extLst>
          </p:cNvPr>
          <p:cNvSpPr txBox="1"/>
          <p:nvPr/>
        </p:nvSpPr>
        <p:spPr>
          <a:xfrm>
            <a:off x="6592654" y="1163059"/>
            <a:ext cx="235936" cy="307777"/>
          </a:xfrm>
          <a:prstGeom prst="rect">
            <a:avLst/>
          </a:prstGeom>
          <a:noFill/>
        </p:spPr>
        <p:txBody>
          <a:bodyPr wrap="square" rtlCol="0" anchor="ctr">
            <a:spAutoFit/>
          </a:bodyPr>
          <a:lstStyle/>
          <a:p>
            <a:pPr algn="ctr"/>
            <a:r>
              <a:rPr lang="fa-IR" sz="1400" b="1" dirty="0">
                <a:solidFill>
                  <a:schemeClr val="bg1"/>
                </a:solidFill>
                <a:latin typeface="Yekan Bakh FaNum" pitchFamily="2" charset="-78"/>
                <a:ea typeface="Yekan Bakh FaNum" pitchFamily="2" charset="-78"/>
                <a:cs typeface="Yekan Bakh FaNum" pitchFamily="2" charset="-78"/>
              </a:rPr>
              <a:t>۲</a:t>
            </a:r>
            <a:endParaRPr lang="en-GB" sz="1400" b="1" dirty="0">
              <a:solidFill>
                <a:schemeClr val="bg1"/>
              </a:solidFill>
              <a:latin typeface="Yekan Bakh FaNum" pitchFamily="2" charset="-78"/>
              <a:ea typeface="Yekan Bakh FaNum" pitchFamily="2" charset="-78"/>
              <a:cs typeface="Yekan Bakh FaNum" pitchFamily="2" charset="-78"/>
            </a:endParaRPr>
          </a:p>
        </p:txBody>
      </p:sp>
      <p:sp>
        <p:nvSpPr>
          <p:cNvPr id="25" name="Rectangle: Rounded Corners 24">
            <a:extLst>
              <a:ext uri="{FF2B5EF4-FFF2-40B4-BE49-F238E27FC236}">
                <a16:creationId xmlns:a16="http://schemas.microsoft.com/office/drawing/2014/main" id="{DA077ED3-FED0-52F1-8E54-58CE64775EED}"/>
              </a:ext>
            </a:extLst>
          </p:cNvPr>
          <p:cNvSpPr/>
          <p:nvPr/>
        </p:nvSpPr>
        <p:spPr>
          <a:xfrm>
            <a:off x="4873099" y="1162738"/>
            <a:ext cx="1682279" cy="274320"/>
          </a:xfrm>
          <a:prstGeom prst="roundRect">
            <a:avLst>
              <a:gd name="adj" fmla="val 20381"/>
            </a:avLst>
          </a:prstGeom>
          <a:solidFill>
            <a:srgbClr val="F0BE0F">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fa-IR" sz="1100" b="1" dirty="0">
                <a:solidFill>
                  <a:srgbClr val="004D80"/>
                </a:solidFill>
                <a:latin typeface="Yekan Bakh" pitchFamily="2" charset="-78"/>
                <a:ea typeface="Yekan Bakh" pitchFamily="2" charset="-78"/>
                <a:cs typeface="Yekan Bakh" pitchFamily="2" charset="-78"/>
              </a:rPr>
              <a:t>ارزش‌های پیشنهادی</a:t>
            </a:r>
          </a:p>
        </p:txBody>
      </p:sp>
      <p:sp>
        <p:nvSpPr>
          <p:cNvPr id="1105" name="TextBox 1104">
            <a:extLst>
              <a:ext uri="{FF2B5EF4-FFF2-40B4-BE49-F238E27FC236}">
                <a16:creationId xmlns:a16="http://schemas.microsoft.com/office/drawing/2014/main" id="{CFEA52F8-FABD-2F35-EA66-61A1E948011D}"/>
              </a:ext>
            </a:extLst>
          </p:cNvPr>
          <p:cNvSpPr txBox="1"/>
          <p:nvPr/>
        </p:nvSpPr>
        <p:spPr>
          <a:xfrm>
            <a:off x="499908" y="1510684"/>
            <a:ext cx="1975104" cy="1852430"/>
          </a:xfrm>
          <a:prstGeom prst="rect">
            <a:avLst/>
          </a:prstGeom>
          <a:noFill/>
        </p:spPr>
        <p:txBody>
          <a:bodyPr wrap="square" rtlCol="0">
            <a:spAutoFit/>
          </a:bodyPr>
          <a:lstStyle/>
          <a:p>
            <a:pPr marL="115888" marR="0" lvl="0" indent="-115888" algn="justLow" defTabSz="457200" rtl="1" eaLnBrk="1" fontAlgn="auto" latinLnBrk="0" hangingPunct="1">
              <a:lnSpc>
                <a:spcPct val="15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شرکای کلیدی ما چه کسانی هستند؟</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a:p>
            <a:pPr marL="115888" marR="0" lvl="0" indent="-115888" algn="justLow" defTabSz="457200" rtl="1" eaLnBrk="1" fontAlgn="auto" latinLnBrk="0" hangingPunct="1">
              <a:lnSpc>
                <a:spcPct val="15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تأمین‌کنندگان کلیدی ما چه کسانی هستند؟</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a:p>
            <a:pPr marL="115888" marR="0" lvl="0" indent="-115888" algn="justLow" defTabSz="457200" rtl="1" eaLnBrk="1" fontAlgn="auto" latinLnBrk="0" hangingPunct="1">
              <a:lnSpc>
                <a:spcPct val="15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کدام‌یک از منابع کلیدی را از طریق شرکای خود تأمین می‌کنیم؟</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a:p>
            <a:pPr marL="115888" marR="0" lvl="0" indent="-115888" algn="justLow" defTabSz="457200" rtl="1" eaLnBrk="1" fontAlgn="auto" latinLnBrk="0" hangingPunct="1">
              <a:lnSpc>
                <a:spcPct val="15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شرکای ما چه فعالیت‌های کلیدی را انجام می‌دهند؟</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p:txBody>
      </p:sp>
      <p:sp>
        <p:nvSpPr>
          <p:cNvPr id="32" name="Rectangle: Rounded Corners 31">
            <a:extLst>
              <a:ext uri="{FF2B5EF4-FFF2-40B4-BE49-F238E27FC236}">
                <a16:creationId xmlns:a16="http://schemas.microsoft.com/office/drawing/2014/main" id="{02A40E1D-BA1D-A335-84B4-275F75595A30}"/>
              </a:ext>
            </a:extLst>
          </p:cNvPr>
          <p:cNvSpPr/>
          <p:nvPr/>
        </p:nvSpPr>
        <p:spPr>
          <a:xfrm>
            <a:off x="2200482" y="1162738"/>
            <a:ext cx="274320" cy="274320"/>
          </a:xfrm>
          <a:prstGeom prst="roundRect">
            <a:avLst>
              <a:gd name="adj" fmla="val 20381"/>
            </a:avLst>
          </a:prstGeom>
          <a:solidFill>
            <a:srgbClr val="F0BE0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a-IR" sz="1600" b="1" dirty="0">
              <a:latin typeface="Yekan Bakh" pitchFamily="2" charset="-78"/>
              <a:ea typeface="Yekan Bakh" pitchFamily="2" charset="-78"/>
              <a:cs typeface="Yekan Bakh" pitchFamily="2" charset="-78"/>
            </a:endParaRPr>
          </a:p>
        </p:txBody>
      </p:sp>
      <p:sp>
        <p:nvSpPr>
          <p:cNvPr id="34" name="TextBox 33">
            <a:extLst>
              <a:ext uri="{FF2B5EF4-FFF2-40B4-BE49-F238E27FC236}">
                <a16:creationId xmlns:a16="http://schemas.microsoft.com/office/drawing/2014/main" id="{495B1D35-62BA-B5B1-4518-BA30D65F296F}"/>
              </a:ext>
            </a:extLst>
          </p:cNvPr>
          <p:cNvSpPr txBox="1"/>
          <p:nvPr/>
        </p:nvSpPr>
        <p:spPr>
          <a:xfrm>
            <a:off x="2219674" y="1163059"/>
            <a:ext cx="235936" cy="307777"/>
          </a:xfrm>
          <a:prstGeom prst="rect">
            <a:avLst/>
          </a:prstGeom>
          <a:noFill/>
        </p:spPr>
        <p:txBody>
          <a:bodyPr wrap="square" rtlCol="0" anchor="ctr">
            <a:spAutoFit/>
          </a:bodyPr>
          <a:lstStyle/>
          <a:p>
            <a:pPr algn="ctr"/>
            <a:r>
              <a:rPr lang="fa-IR" sz="1400" b="1" dirty="0">
                <a:solidFill>
                  <a:schemeClr val="bg1"/>
                </a:solidFill>
                <a:latin typeface="Yekan Bakh FaNum" pitchFamily="2" charset="-78"/>
                <a:ea typeface="Yekan Bakh FaNum" pitchFamily="2" charset="-78"/>
                <a:cs typeface="Yekan Bakh FaNum" pitchFamily="2" charset="-78"/>
              </a:rPr>
              <a:t>۸</a:t>
            </a:r>
            <a:endParaRPr lang="en-GB" sz="1400" b="1" dirty="0">
              <a:solidFill>
                <a:schemeClr val="bg1"/>
              </a:solidFill>
              <a:latin typeface="Yekan Bakh FaNum" pitchFamily="2" charset="-78"/>
              <a:ea typeface="Yekan Bakh FaNum" pitchFamily="2" charset="-78"/>
              <a:cs typeface="Yekan Bakh FaNum" pitchFamily="2" charset="-78"/>
            </a:endParaRPr>
          </a:p>
        </p:txBody>
      </p:sp>
      <p:sp>
        <p:nvSpPr>
          <p:cNvPr id="35" name="Rectangle: Rounded Corners 34">
            <a:extLst>
              <a:ext uri="{FF2B5EF4-FFF2-40B4-BE49-F238E27FC236}">
                <a16:creationId xmlns:a16="http://schemas.microsoft.com/office/drawing/2014/main" id="{166A0500-18AA-447C-9FE7-BC66AEA4B607}"/>
              </a:ext>
            </a:extLst>
          </p:cNvPr>
          <p:cNvSpPr/>
          <p:nvPr/>
        </p:nvSpPr>
        <p:spPr>
          <a:xfrm>
            <a:off x="500119" y="1162738"/>
            <a:ext cx="1682279" cy="274320"/>
          </a:xfrm>
          <a:prstGeom prst="roundRect">
            <a:avLst>
              <a:gd name="adj" fmla="val 20381"/>
            </a:avLst>
          </a:prstGeom>
          <a:solidFill>
            <a:srgbClr val="F0BE0F">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1100" b="1" dirty="0">
                <a:solidFill>
                  <a:srgbClr val="004D80"/>
                </a:solidFill>
                <a:latin typeface="Yekan Bakh" pitchFamily="2" charset="-78"/>
                <a:ea typeface="Yekan Bakh" pitchFamily="2" charset="-78"/>
                <a:cs typeface="Yekan Bakh" pitchFamily="2" charset="-78"/>
              </a:rPr>
              <a:t>مشارکت‌های کلیدی</a:t>
            </a:r>
          </a:p>
        </p:txBody>
      </p:sp>
      <p:sp>
        <p:nvSpPr>
          <p:cNvPr id="39" name="Rectangle: Rounded Corners 38">
            <a:extLst>
              <a:ext uri="{FF2B5EF4-FFF2-40B4-BE49-F238E27FC236}">
                <a16:creationId xmlns:a16="http://schemas.microsoft.com/office/drawing/2014/main" id="{84138B24-13EB-7C28-DB68-FEC84BFD39C3}"/>
              </a:ext>
            </a:extLst>
          </p:cNvPr>
          <p:cNvSpPr/>
          <p:nvPr/>
        </p:nvSpPr>
        <p:spPr>
          <a:xfrm>
            <a:off x="10946229" y="4314303"/>
            <a:ext cx="274320" cy="274320"/>
          </a:xfrm>
          <a:prstGeom prst="roundRect">
            <a:avLst>
              <a:gd name="adj" fmla="val 20381"/>
            </a:avLst>
          </a:prstGeom>
          <a:solidFill>
            <a:srgbClr val="F0BE0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endParaRPr lang="fa-IR" sz="1600" b="1" dirty="0">
              <a:latin typeface="Yekan Bakh" pitchFamily="2" charset="-78"/>
              <a:ea typeface="Yekan Bakh" pitchFamily="2" charset="-78"/>
              <a:cs typeface="Yekan Bakh" pitchFamily="2" charset="-78"/>
            </a:endParaRPr>
          </a:p>
        </p:txBody>
      </p:sp>
      <p:sp>
        <p:nvSpPr>
          <p:cNvPr id="40" name="TextBox 39">
            <a:extLst>
              <a:ext uri="{FF2B5EF4-FFF2-40B4-BE49-F238E27FC236}">
                <a16:creationId xmlns:a16="http://schemas.microsoft.com/office/drawing/2014/main" id="{01351E5A-C2A8-97A0-BA51-402D3E4FCF88}"/>
              </a:ext>
            </a:extLst>
          </p:cNvPr>
          <p:cNvSpPr txBox="1"/>
          <p:nvPr/>
        </p:nvSpPr>
        <p:spPr>
          <a:xfrm>
            <a:off x="10965421" y="4314624"/>
            <a:ext cx="235936" cy="307777"/>
          </a:xfrm>
          <a:prstGeom prst="rect">
            <a:avLst/>
          </a:prstGeom>
          <a:noFill/>
        </p:spPr>
        <p:txBody>
          <a:bodyPr wrap="square" rtlCol="0" anchor="ctr">
            <a:spAutoFit/>
          </a:bodyPr>
          <a:lstStyle/>
          <a:p>
            <a:pPr algn="ctr"/>
            <a:r>
              <a:rPr lang="fa-IR" sz="1400" b="1" dirty="0">
                <a:solidFill>
                  <a:schemeClr val="bg1"/>
                </a:solidFill>
                <a:latin typeface="Yekan Bakh FaNum" pitchFamily="2" charset="-78"/>
                <a:ea typeface="Yekan Bakh FaNum" pitchFamily="2" charset="-78"/>
                <a:cs typeface="Yekan Bakh FaNum" pitchFamily="2" charset="-78"/>
              </a:rPr>
              <a:t>۵</a:t>
            </a:r>
            <a:endParaRPr lang="en-GB" sz="1400" b="1" dirty="0">
              <a:solidFill>
                <a:schemeClr val="bg1"/>
              </a:solidFill>
              <a:latin typeface="Yekan Bakh FaNum" pitchFamily="2" charset="-78"/>
              <a:ea typeface="Yekan Bakh FaNum" pitchFamily="2" charset="-78"/>
              <a:cs typeface="Yekan Bakh FaNum" pitchFamily="2" charset="-78"/>
            </a:endParaRPr>
          </a:p>
        </p:txBody>
      </p:sp>
      <p:sp>
        <p:nvSpPr>
          <p:cNvPr id="42" name="Rectangle: Rounded Corners 41">
            <a:extLst>
              <a:ext uri="{FF2B5EF4-FFF2-40B4-BE49-F238E27FC236}">
                <a16:creationId xmlns:a16="http://schemas.microsoft.com/office/drawing/2014/main" id="{90612B64-F3BA-0380-F042-A4E44878179C}"/>
              </a:ext>
            </a:extLst>
          </p:cNvPr>
          <p:cNvSpPr/>
          <p:nvPr/>
        </p:nvSpPr>
        <p:spPr>
          <a:xfrm>
            <a:off x="5982104" y="4314303"/>
            <a:ext cx="4946041" cy="274320"/>
          </a:xfrm>
          <a:prstGeom prst="roundRect">
            <a:avLst>
              <a:gd name="adj" fmla="val 20381"/>
            </a:avLst>
          </a:prstGeom>
          <a:solidFill>
            <a:srgbClr val="F0BE0F">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rtl="1"/>
            <a:r>
              <a:rPr lang="fa-IR" sz="1100" b="1" dirty="0">
                <a:solidFill>
                  <a:srgbClr val="004D80"/>
                </a:solidFill>
                <a:latin typeface="Yekan Bakh" pitchFamily="2" charset="-78"/>
                <a:ea typeface="Yekan Bakh" pitchFamily="2" charset="-78"/>
                <a:cs typeface="Yekan Bakh" pitchFamily="2" charset="-78"/>
              </a:rPr>
              <a:t>جریان‌های درآمدی</a:t>
            </a:r>
          </a:p>
        </p:txBody>
      </p:sp>
      <p:sp>
        <p:nvSpPr>
          <p:cNvPr id="45" name="Rectangle: Rounded Corners 44">
            <a:extLst>
              <a:ext uri="{FF2B5EF4-FFF2-40B4-BE49-F238E27FC236}">
                <a16:creationId xmlns:a16="http://schemas.microsoft.com/office/drawing/2014/main" id="{60B74755-5045-261F-FB5B-C69551594E99}"/>
              </a:ext>
            </a:extLst>
          </p:cNvPr>
          <p:cNvSpPr/>
          <p:nvPr/>
        </p:nvSpPr>
        <p:spPr>
          <a:xfrm>
            <a:off x="5427818" y="4314303"/>
            <a:ext cx="274320" cy="274320"/>
          </a:xfrm>
          <a:prstGeom prst="roundRect">
            <a:avLst>
              <a:gd name="adj" fmla="val 20381"/>
            </a:avLst>
          </a:prstGeom>
          <a:solidFill>
            <a:srgbClr val="F0BE0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endParaRPr lang="fa-IR" sz="1600" b="1" dirty="0">
              <a:latin typeface="Yekan Bakh" pitchFamily="2" charset="-78"/>
              <a:ea typeface="Yekan Bakh" pitchFamily="2" charset="-78"/>
              <a:cs typeface="Yekan Bakh" pitchFamily="2" charset="-78"/>
            </a:endParaRPr>
          </a:p>
        </p:txBody>
      </p:sp>
      <p:sp>
        <p:nvSpPr>
          <p:cNvPr id="46" name="TextBox 45">
            <a:extLst>
              <a:ext uri="{FF2B5EF4-FFF2-40B4-BE49-F238E27FC236}">
                <a16:creationId xmlns:a16="http://schemas.microsoft.com/office/drawing/2014/main" id="{0985D821-F110-FC61-C91C-89EA9F31DA71}"/>
              </a:ext>
            </a:extLst>
          </p:cNvPr>
          <p:cNvSpPr txBox="1"/>
          <p:nvPr/>
        </p:nvSpPr>
        <p:spPr>
          <a:xfrm>
            <a:off x="5447010" y="4314624"/>
            <a:ext cx="235936" cy="307777"/>
          </a:xfrm>
          <a:prstGeom prst="rect">
            <a:avLst/>
          </a:prstGeom>
          <a:noFill/>
        </p:spPr>
        <p:txBody>
          <a:bodyPr wrap="square" rtlCol="0" anchor="ctr">
            <a:spAutoFit/>
          </a:bodyPr>
          <a:lstStyle/>
          <a:p>
            <a:pPr algn="ctr"/>
            <a:r>
              <a:rPr lang="fa-IR" sz="1400" b="1" dirty="0">
                <a:solidFill>
                  <a:schemeClr val="bg1"/>
                </a:solidFill>
                <a:latin typeface="Yekan Bakh FaNum" pitchFamily="2" charset="-78"/>
                <a:ea typeface="Yekan Bakh FaNum" pitchFamily="2" charset="-78"/>
                <a:cs typeface="Yekan Bakh FaNum" pitchFamily="2" charset="-78"/>
              </a:rPr>
              <a:t>۹</a:t>
            </a:r>
            <a:endParaRPr lang="en-GB" sz="1400" b="1" dirty="0">
              <a:solidFill>
                <a:schemeClr val="bg1"/>
              </a:solidFill>
              <a:latin typeface="Yekan Bakh FaNum" pitchFamily="2" charset="-78"/>
              <a:ea typeface="Yekan Bakh FaNum" pitchFamily="2" charset="-78"/>
              <a:cs typeface="Yekan Bakh FaNum" pitchFamily="2" charset="-78"/>
            </a:endParaRPr>
          </a:p>
        </p:txBody>
      </p:sp>
      <p:sp>
        <p:nvSpPr>
          <p:cNvPr id="47" name="Rectangle: Rounded Corners 46">
            <a:extLst>
              <a:ext uri="{FF2B5EF4-FFF2-40B4-BE49-F238E27FC236}">
                <a16:creationId xmlns:a16="http://schemas.microsoft.com/office/drawing/2014/main" id="{FCC09B7A-4E21-4DAA-AD98-DD852A9FF201}"/>
              </a:ext>
            </a:extLst>
          </p:cNvPr>
          <p:cNvSpPr/>
          <p:nvPr/>
        </p:nvSpPr>
        <p:spPr>
          <a:xfrm>
            <a:off x="463693" y="4314303"/>
            <a:ext cx="4946041" cy="274320"/>
          </a:xfrm>
          <a:prstGeom prst="roundRect">
            <a:avLst>
              <a:gd name="adj" fmla="val 20381"/>
            </a:avLst>
          </a:prstGeom>
          <a:solidFill>
            <a:srgbClr val="F0BE0F">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rtl="1"/>
            <a:r>
              <a:rPr lang="fa-IR" sz="1100" b="1" dirty="0">
                <a:solidFill>
                  <a:srgbClr val="004D80"/>
                </a:solidFill>
                <a:latin typeface="Yekan Bakh" pitchFamily="2" charset="-78"/>
                <a:ea typeface="Yekan Bakh" pitchFamily="2" charset="-78"/>
                <a:cs typeface="Yekan Bakh" pitchFamily="2" charset="-78"/>
              </a:rPr>
              <a:t>ساختار هزینه‌ها</a:t>
            </a:r>
          </a:p>
        </p:txBody>
      </p:sp>
      <p:cxnSp>
        <p:nvCxnSpPr>
          <p:cNvPr id="1081" name="Straight Connector 1080">
            <a:extLst>
              <a:ext uri="{FF2B5EF4-FFF2-40B4-BE49-F238E27FC236}">
                <a16:creationId xmlns:a16="http://schemas.microsoft.com/office/drawing/2014/main" id="{FD2134F0-98E1-2331-1B3B-35893D99444A}"/>
              </a:ext>
            </a:extLst>
          </p:cNvPr>
          <p:cNvCxnSpPr>
            <a:cxnSpLocks/>
          </p:cNvCxnSpPr>
          <p:nvPr/>
        </p:nvCxnSpPr>
        <p:spPr>
          <a:xfrm flipH="1">
            <a:off x="6975000" y="2666274"/>
            <a:ext cx="2143860" cy="0"/>
          </a:xfrm>
          <a:prstGeom prst="line">
            <a:avLst/>
          </a:prstGeom>
          <a:ln w="6350">
            <a:solidFill>
              <a:schemeClr val="bg1">
                <a:lumMod val="85000"/>
              </a:schemeClr>
            </a:solidFill>
            <a:prstDash val="dash"/>
          </a:ln>
        </p:spPr>
        <p:style>
          <a:lnRef idx="1">
            <a:schemeClr val="accent4"/>
          </a:lnRef>
          <a:fillRef idx="0">
            <a:schemeClr val="accent4"/>
          </a:fillRef>
          <a:effectRef idx="0">
            <a:schemeClr val="accent4"/>
          </a:effectRef>
          <a:fontRef idx="minor">
            <a:schemeClr val="tx1"/>
          </a:fontRef>
        </p:style>
      </p:cxnSp>
      <p:sp>
        <p:nvSpPr>
          <p:cNvPr id="1098" name="TextBox 1097">
            <a:extLst>
              <a:ext uri="{FF2B5EF4-FFF2-40B4-BE49-F238E27FC236}">
                <a16:creationId xmlns:a16="http://schemas.microsoft.com/office/drawing/2014/main" id="{4679AE60-D5FF-C73F-CC58-9BCD5A9EC456}"/>
              </a:ext>
            </a:extLst>
          </p:cNvPr>
          <p:cNvSpPr txBox="1"/>
          <p:nvPr/>
        </p:nvSpPr>
        <p:spPr>
          <a:xfrm>
            <a:off x="7059378" y="3118992"/>
            <a:ext cx="1975104" cy="1000274"/>
          </a:xfrm>
          <a:prstGeom prst="rect">
            <a:avLst/>
          </a:prstGeom>
          <a:noFill/>
        </p:spPr>
        <p:txBody>
          <a:bodyPr wrap="square" rtlCol="0">
            <a:spAutoFit/>
          </a:bodyPr>
          <a:lstStyle/>
          <a:p>
            <a:pPr marL="115888" marR="0" lvl="0" indent="-115888" algn="justLow" defTabSz="457200" rtl="1" eaLnBrk="1" fontAlgn="auto" latinLnBrk="0" hangingPunct="1">
              <a:lnSpc>
                <a:spcPct val="10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مشتریان تمایل دارند از چه طریقی به آن‌ها دسترسی داشته باشیم؟</a:t>
            </a:r>
          </a:p>
          <a:p>
            <a:pPr marL="115888" marR="0" lvl="0" indent="-115888" algn="justLow" defTabSz="457200" rtl="1" eaLnBrk="1" fontAlgn="auto" latinLnBrk="0" hangingPunct="1">
              <a:lnSpc>
                <a:spcPct val="10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سایر شرکت‌ها در حال حاضر چگونه به آن‌ها دسترسی دارند؟</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a:p>
            <a:pPr marL="115888" marR="0" lvl="0" indent="-115888" algn="justLow" defTabSz="457200" rtl="1" eaLnBrk="1" fontAlgn="auto" latinLnBrk="0" hangingPunct="1">
              <a:lnSpc>
                <a:spcPct val="10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چگونه این کانال‌ها را با روال‌های روزمره مشتریان یکپارچه می‌کنیم؟</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p:txBody>
      </p:sp>
      <p:sp>
        <p:nvSpPr>
          <p:cNvPr id="1100" name="TextBox 1099">
            <a:extLst>
              <a:ext uri="{FF2B5EF4-FFF2-40B4-BE49-F238E27FC236}">
                <a16:creationId xmlns:a16="http://schemas.microsoft.com/office/drawing/2014/main" id="{F8AE1248-CF67-DD72-AF5A-4D350995135B}"/>
              </a:ext>
            </a:extLst>
          </p:cNvPr>
          <p:cNvSpPr txBox="1"/>
          <p:nvPr/>
        </p:nvSpPr>
        <p:spPr>
          <a:xfrm>
            <a:off x="7059378" y="1510684"/>
            <a:ext cx="1975104" cy="1138773"/>
          </a:xfrm>
          <a:prstGeom prst="rect">
            <a:avLst/>
          </a:prstGeom>
          <a:noFill/>
        </p:spPr>
        <p:txBody>
          <a:bodyPr wrap="square" rtlCol="0">
            <a:spAutoFit/>
          </a:bodyPr>
          <a:lstStyle/>
          <a:p>
            <a:pPr marL="115888" marR="0" lvl="0" indent="-115888" algn="justLow" defTabSz="457200" rtl="1" eaLnBrk="1" fontAlgn="auto" latinLnBrk="0" hangingPunct="1">
              <a:lnSpc>
                <a:spcPct val="10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چگونه مشتریان را جذب می‌کنیم، آن‌ها را حفظ می‌کنیم و توسعه می‌دهیم؟</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a:p>
            <a:pPr marL="115888" marR="0" lvl="0" indent="-115888" algn="justLow" defTabSz="457200" rtl="1" eaLnBrk="1" fontAlgn="auto" latinLnBrk="0" hangingPunct="1">
              <a:lnSpc>
                <a:spcPct val="10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چه نوع روابطی را با مشتریان پایه‌گذاری کرده‌ایم؟</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a:p>
            <a:pPr marL="115888" marR="0" lvl="0" indent="-115888" algn="justLow" defTabSz="457200" rtl="1" eaLnBrk="1" fontAlgn="auto" latinLnBrk="0" hangingPunct="1">
              <a:lnSpc>
                <a:spcPct val="10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این روابط چگونه با سایر بخش‌های مدل کسب‌وکار ما یکپارچه شده‌اند؟</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p:txBody>
      </p:sp>
      <p:grpSp>
        <p:nvGrpSpPr>
          <p:cNvPr id="13" name="Group 12">
            <a:extLst>
              <a:ext uri="{FF2B5EF4-FFF2-40B4-BE49-F238E27FC236}">
                <a16:creationId xmlns:a16="http://schemas.microsoft.com/office/drawing/2014/main" id="{75AEB494-9B97-8EE1-D33F-444D9275338E}"/>
              </a:ext>
            </a:extLst>
          </p:cNvPr>
          <p:cNvGrpSpPr/>
          <p:nvPr/>
        </p:nvGrpSpPr>
        <p:grpSpPr>
          <a:xfrm>
            <a:off x="7059589" y="1162738"/>
            <a:ext cx="1974683" cy="308098"/>
            <a:chOff x="9235887" y="1514246"/>
            <a:chExt cx="1974683" cy="308098"/>
          </a:xfrm>
        </p:grpSpPr>
        <p:sp>
          <p:nvSpPr>
            <p:cNvPr id="14" name="Rectangle: Rounded Corners 13">
              <a:extLst>
                <a:ext uri="{FF2B5EF4-FFF2-40B4-BE49-F238E27FC236}">
                  <a16:creationId xmlns:a16="http://schemas.microsoft.com/office/drawing/2014/main" id="{34964664-9666-3A2B-C337-60DA1DB974BE}"/>
                </a:ext>
              </a:extLst>
            </p:cNvPr>
            <p:cNvSpPr/>
            <p:nvPr/>
          </p:nvSpPr>
          <p:spPr>
            <a:xfrm>
              <a:off x="10936250" y="1514246"/>
              <a:ext cx="274320" cy="274320"/>
            </a:xfrm>
            <a:prstGeom prst="roundRect">
              <a:avLst>
                <a:gd name="adj" fmla="val 20381"/>
              </a:avLst>
            </a:prstGeom>
            <a:solidFill>
              <a:srgbClr val="F0BE0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endParaRPr lang="fa-IR" sz="1600" b="1" dirty="0">
                <a:latin typeface="Yekan Bakh" pitchFamily="2" charset="-78"/>
                <a:ea typeface="Yekan Bakh" pitchFamily="2" charset="-78"/>
                <a:cs typeface="Yekan Bakh" pitchFamily="2" charset="-78"/>
              </a:endParaRPr>
            </a:p>
          </p:txBody>
        </p:sp>
        <p:sp>
          <p:nvSpPr>
            <p:cNvPr id="15" name="TextBox 14">
              <a:extLst>
                <a:ext uri="{FF2B5EF4-FFF2-40B4-BE49-F238E27FC236}">
                  <a16:creationId xmlns:a16="http://schemas.microsoft.com/office/drawing/2014/main" id="{CECAC4BC-92FF-F475-796D-D3DEC8B1B90B}"/>
                </a:ext>
              </a:extLst>
            </p:cNvPr>
            <p:cNvSpPr txBox="1"/>
            <p:nvPr/>
          </p:nvSpPr>
          <p:spPr>
            <a:xfrm>
              <a:off x="10955442" y="1514567"/>
              <a:ext cx="235936" cy="307777"/>
            </a:xfrm>
            <a:prstGeom prst="rect">
              <a:avLst/>
            </a:prstGeom>
            <a:noFill/>
          </p:spPr>
          <p:txBody>
            <a:bodyPr wrap="square" rtlCol="0" anchor="ctr">
              <a:spAutoFit/>
            </a:bodyPr>
            <a:lstStyle/>
            <a:p>
              <a:pPr algn="ctr"/>
              <a:r>
                <a:rPr lang="fa-IR" sz="1400" b="1" dirty="0">
                  <a:solidFill>
                    <a:schemeClr val="bg1"/>
                  </a:solidFill>
                  <a:latin typeface="Yekan Bakh FaNum" pitchFamily="2" charset="-78"/>
                  <a:ea typeface="Yekan Bakh FaNum" pitchFamily="2" charset="-78"/>
                  <a:cs typeface="Yekan Bakh FaNum" pitchFamily="2" charset="-78"/>
                </a:rPr>
                <a:t>۴</a:t>
              </a:r>
              <a:endParaRPr lang="en-GB" sz="1400" b="1" dirty="0">
                <a:solidFill>
                  <a:schemeClr val="bg1"/>
                </a:solidFill>
                <a:latin typeface="Yekan Bakh FaNum" pitchFamily="2" charset="-78"/>
                <a:ea typeface="Yekan Bakh FaNum" pitchFamily="2" charset="-78"/>
                <a:cs typeface="Yekan Bakh FaNum" pitchFamily="2" charset="-78"/>
              </a:endParaRPr>
            </a:p>
          </p:txBody>
        </p:sp>
        <p:sp>
          <p:nvSpPr>
            <p:cNvPr id="16" name="Rectangle: Rounded Corners 15">
              <a:extLst>
                <a:ext uri="{FF2B5EF4-FFF2-40B4-BE49-F238E27FC236}">
                  <a16:creationId xmlns:a16="http://schemas.microsoft.com/office/drawing/2014/main" id="{B10FBBE0-2D95-BB59-3F97-FABB2549B34F}"/>
                </a:ext>
              </a:extLst>
            </p:cNvPr>
            <p:cNvSpPr/>
            <p:nvPr/>
          </p:nvSpPr>
          <p:spPr>
            <a:xfrm>
              <a:off x="9235887" y="1514246"/>
              <a:ext cx="1682279" cy="274320"/>
            </a:xfrm>
            <a:prstGeom prst="roundRect">
              <a:avLst>
                <a:gd name="adj" fmla="val 20381"/>
              </a:avLst>
            </a:prstGeom>
            <a:solidFill>
              <a:srgbClr val="F0BE0F">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fa-IR" sz="1100" b="1" dirty="0">
                  <a:solidFill>
                    <a:srgbClr val="004D80"/>
                  </a:solidFill>
                  <a:latin typeface="Yekan Bakh" pitchFamily="2" charset="-78"/>
                  <a:ea typeface="Yekan Bakh" pitchFamily="2" charset="-78"/>
                  <a:cs typeface="Yekan Bakh" pitchFamily="2" charset="-78"/>
                </a:rPr>
                <a:t>ارتباط با مشتری</a:t>
              </a:r>
            </a:p>
          </p:txBody>
        </p:sp>
      </p:grpSp>
      <p:grpSp>
        <p:nvGrpSpPr>
          <p:cNvPr id="48" name="Group 47">
            <a:extLst>
              <a:ext uri="{FF2B5EF4-FFF2-40B4-BE49-F238E27FC236}">
                <a16:creationId xmlns:a16="http://schemas.microsoft.com/office/drawing/2014/main" id="{622C87C5-5CE5-E335-3043-2C983CBFDF1F}"/>
              </a:ext>
            </a:extLst>
          </p:cNvPr>
          <p:cNvGrpSpPr/>
          <p:nvPr/>
        </p:nvGrpSpPr>
        <p:grpSpPr>
          <a:xfrm>
            <a:off x="7059589" y="2774081"/>
            <a:ext cx="1974683" cy="308098"/>
            <a:chOff x="9235887" y="1514246"/>
            <a:chExt cx="1974683" cy="308098"/>
          </a:xfrm>
        </p:grpSpPr>
        <p:sp>
          <p:nvSpPr>
            <p:cNvPr id="49" name="Rectangle: Rounded Corners 48">
              <a:extLst>
                <a:ext uri="{FF2B5EF4-FFF2-40B4-BE49-F238E27FC236}">
                  <a16:creationId xmlns:a16="http://schemas.microsoft.com/office/drawing/2014/main" id="{34F112AE-9D26-4B4D-FD1E-F7C8DD3E83EF}"/>
                </a:ext>
              </a:extLst>
            </p:cNvPr>
            <p:cNvSpPr/>
            <p:nvPr/>
          </p:nvSpPr>
          <p:spPr>
            <a:xfrm>
              <a:off x="10936250" y="1514246"/>
              <a:ext cx="274320" cy="274320"/>
            </a:xfrm>
            <a:prstGeom prst="roundRect">
              <a:avLst>
                <a:gd name="adj" fmla="val 20381"/>
              </a:avLst>
            </a:prstGeom>
            <a:solidFill>
              <a:srgbClr val="F0BE0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a-IR" sz="1600" b="1" dirty="0">
                <a:latin typeface="Yekan Bakh" pitchFamily="2" charset="-78"/>
                <a:ea typeface="Yekan Bakh" pitchFamily="2" charset="-78"/>
                <a:cs typeface="Yekan Bakh" pitchFamily="2" charset="-78"/>
              </a:endParaRPr>
            </a:p>
          </p:txBody>
        </p:sp>
        <p:sp>
          <p:nvSpPr>
            <p:cNvPr id="50" name="TextBox 49">
              <a:extLst>
                <a:ext uri="{FF2B5EF4-FFF2-40B4-BE49-F238E27FC236}">
                  <a16:creationId xmlns:a16="http://schemas.microsoft.com/office/drawing/2014/main" id="{BE7826AE-D149-4DCB-03CF-AEDFA606B306}"/>
                </a:ext>
              </a:extLst>
            </p:cNvPr>
            <p:cNvSpPr txBox="1"/>
            <p:nvPr/>
          </p:nvSpPr>
          <p:spPr>
            <a:xfrm>
              <a:off x="10955442" y="1514567"/>
              <a:ext cx="235936" cy="307777"/>
            </a:xfrm>
            <a:prstGeom prst="rect">
              <a:avLst/>
            </a:prstGeom>
            <a:noFill/>
          </p:spPr>
          <p:txBody>
            <a:bodyPr wrap="square" rtlCol="0" anchor="ctr">
              <a:spAutoFit/>
            </a:bodyPr>
            <a:lstStyle/>
            <a:p>
              <a:pPr algn="ctr"/>
              <a:r>
                <a:rPr lang="fa-IR" sz="1400" b="1" dirty="0">
                  <a:solidFill>
                    <a:schemeClr val="bg1"/>
                  </a:solidFill>
                  <a:latin typeface="Yekan Bakh FaNum" pitchFamily="2" charset="-78"/>
                  <a:ea typeface="Yekan Bakh FaNum" pitchFamily="2" charset="-78"/>
                  <a:cs typeface="Yekan Bakh FaNum" pitchFamily="2" charset="-78"/>
                </a:rPr>
                <a:t>۳</a:t>
              </a:r>
              <a:endParaRPr lang="en-GB" sz="1400" b="1" dirty="0">
                <a:solidFill>
                  <a:schemeClr val="bg1"/>
                </a:solidFill>
                <a:latin typeface="Yekan Bakh FaNum" pitchFamily="2" charset="-78"/>
                <a:ea typeface="Yekan Bakh FaNum" pitchFamily="2" charset="-78"/>
                <a:cs typeface="Yekan Bakh FaNum" pitchFamily="2" charset="-78"/>
              </a:endParaRPr>
            </a:p>
          </p:txBody>
        </p:sp>
        <p:sp>
          <p:nvSpPr>
            <p:cNvPr id="51" name="Rectangle: Rounded Corners 50">
              <a:extLst>
                <a:ext uri="{FF2B5EF4-FFF2-40B4-BE49-F238E27FC236}">
                  <a16:creationId xmlns:a16="http://schemas.microsoft.com/office/drawing/2014/main" id="{93BC304A-F65E-B322-5BE6-DFB660D9A3ED}"/>
                </a:ext>
              </a:extLst>
            </p:cNvPr>
            <p:cNvSpPr/>
            <p:nvPr/>
          </p:nvSpPr>
          <p:spPr>
            <a:xfrm>
              <a:off x="9235887" y="1514246"/>
              <a:ext cx="1682279" cy="274320"/>
            </a:xfrm>
            <a:prstGeom prst="roundRect">
              <a:avLst>
                <a:gd name="adj" fmla="val 20381"/>
              </a:avLst>
            </a:prstGeom>
            <a:solidFill>
              <a:srgbClr val="F0BE0F">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1100" b="1" dirty="0">
                  <a:solidFill>
                    <a:srgbClr val="004D80"/>
                  </a:solidFill>
                  <a:latin typeface="Yekan Bakh" pitchFamily="2" charset="-78"/>
                  <a:ea typeface="Yekan Bakh" pitchFamily="2" charset="-78"/>
                  <a:cs typeface="Yekan Bakh" pitchFamily="2" charset="-78"/>
                </a:rPr>
                <a:t>کانال‌ها</a:t>
              </a:r>
            </a:p>
          </p:txBody>
        </p:sp>
      </p:grpSp>
      <p:cxnSp>
        <p:nvCxnSpPr>
          <p:cNvPr id="1082" name="Straight Connector 1081">
            <a:extLst>
              <a:ext uri="{FF2B5EF4-FFF2-40B4-BE49-F238E27FC236}">
                <a16:creationId xmlns:a16="http://schemas.microsoft.com/office/drawing/2014/main" id="{B9880EC7-C9C0-5DCD-9704-F5758ACEA802}"/>
              </a:ext>
            </a:extLst>
          </p:cNvPr>
          <p:cNvCxnSpPr>
            <a:cxnSpLocks/>
          </p:cNvCxnSpPr>
          <p:nvPr/>
        </p:nvCxnSpPr>
        <p:spPr>
          <a:xfrm flipH="1">
            <a:off x="2602020" y="2666274"/>
            <a:ext cx="2143860" cy="0"/>
          </a:xfrm>
          <a:prstGeom prst="line">
            <a:avLst/>
          </a:prstGeom>
          <a:noFill/>
          <a:ln w="6350">
            <a:solidFill>
              <a:schemeClr val="bg1">
                <a:lumMod val="85000"/>
              </a:schemeClr>
            </a:solidFill>
            <a:prstDash val="dash"/>
          </a:ln>
        </p:spPr>
      </p:cxnSp>
      <p:sp>
        <p:nvSpPr>
          <p:cNvPr id="1103" name="TextBox 1102">
            <a:extLst>
              <a:ext uri="{FF2B5EF4-FFF2-40B4-BE49-F238E27FC236}">
                <a16:creationId xmlns:a16="http://schemas.microsoft.com/office/drawing/2014/main" id="{972A2E06-FA5B-31E5-C1B1-36362AC4C593}"/>
              </a:ext>
            </a:extLst>
          </p:cNvPr>
          <p:cNvSpPr txBox="1"/>
          <p:nvPr/>
        </p:nvSpPr>
        <p:spPr>
          <a:xfrm>
            <a:off x="2686398" y="3118992"/>
            <a:ext cx="1975104" cy="1000274"/>
          </a:xfrm>
          <a:prstGeom prst="rect">
            <a:avLst/>
          </a:prstGeom>
          <a:noFill/>
        </p:spPr>
        <p:txBody>
          <a:bodyPr wrap="square" rtlCol="0">
            <a:spAutoFit/>
          </a:bodyPr>
          <a:lstStyle/>
          <a:p>
            <a:pPr marL="115888" marR="0" lvl="0" indent="-115888" algn="justLow" defTabSz="457200" rtl="1" eaLnBrk="1" fontAlgn="auto" latinLnBrk="0" hangingPunct="1">
              <a:lnSpc>
                <a:spcPct val="10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ارزش پیشنهادی ما مستلزم چه منابع کلیدی است؟</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a:p>
            <a:pPr marL="115888" marR="0" lvl="0" indent="-115888" algn="justLow" defTabSz="457200" rtl="1" eaLnBrk="1" fontAlgn="auto" latinLnBrk="0" hangingPunct="1">
              <a:lnSpc>
                <a:spcPct val="10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کانال‌های توزیع ما به چه منابعی نیاز دارند؟</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a:p>
            <a:pPr marL="115888" marR="0" lvl="0" indent="-115888" algn="justLow" defTabSz="457200" rtl="1" eaLnBrk="1" fontAlgn="auto" latinLnBrk="0" hangingPunct="1">
              <a:lnSpc>
                <a:spcPct val="10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ارتباط با مشتریان نیازمند چه منابعی است؟</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p:txBody>
      </p:sp>
      <p:sp>
        <p:nvSpPr>
          <p:cNvPr id="1104" name="TextBox 1103">
            <a:extLst>
              <a:ext uri="{FF2B5EF4-FFF2-40B4-BE49-F238E27FC236}">
                <a16:creationId xmlns:a16="http://schemas.microsoft.com/office/drawing/2014/main" id="{D012270C-EDD9-8625-9A5B-B2EECE8EEF41}"/>
              </a:ext>
            </a:extLst>
          </p:cNvPr>
          <p:cNvSpPr txBox="1"/>
          <p:nvPr/>
        </p:nvSpPr>
        <p:spPr>
          <a:xfrm>
            <a:off x="2686398" y="1510684"/>
            <a:ext cx="1975104" cy="1000274"/>
          </a:xfrm>
          <a:prstGeom prst="rect">
            <a:avLst/>
          </a:prstGeom>
          <a:noFill/>
        </p:spPr>
        <p:txBody>
          <a:bodyPr wrap="square" rtlCol="0">
            <a:spAutoFit/>
          </a:bodyPr>
          <a:lstStyle/>
          <a:p>
            <a:pPr marL="115888" marR="0" lvl="0" indent="-115888" algn="justLow" defTabSz="457200" rtl="1" eaLnBrk="1" fontAlgn="auto" latinLnBrk="0" hangingPunct="1">
              <a:lnSpc>
                <a:spcPct val="10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ارزش پیشنهادی ما مستلزم چه فعالیت‌های کلیدی است؟</a:t>
            </a:r>
          </a:p>
          <a:p>
            <a:pPr marL="115888" marR="0" lvl="0" indent="-115888" algn="justLow" defTabSz="457200" rtl="1" eaLnBrk="1" fontAlgn="auto" latinLnBrk="0" hangingPunct="1">
              <a:lnSpc>
                <a:spcPct val="10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کانال‌های توزیع ما به چه فعالیت‌هایی نیاز دارند؟</a:t>
            </a:r>
          </a:p>
          <a:p>
            <a:pPr marL="115888" marR="0" lvl="0" indent="-115888" algn="justLow" defTabSz="457200" rtl="1" eaLnBrk="1" fontAlgn="auto" latinLnBrk="0" hangingPunct="1">
              <a:lnSpc>
                <a:spcPct val="10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ارتباط با مشتریان چه فعالیت‌هایی را می‌طلبد؟</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p:txBody>
      </p:sp>
      <p:sp>
        <p:nvSpPr>
          <p:cNvPr id="28" name="Rectangle: Rounded Corners 27">
            <a:extLst>
              <a:ext uri="{FF2B5EF4-FFF2-40B4-BE49-F238E27FC236}">
                <a16:creationId xmlns:a16="http://schemas.microsoft.com/office/drawing/2014/main" id="{BE89D34E-A76A-D043-8288-765C85751840}"/>
              </a:ext>
            </a:extLst>
          </p:cNvPr>
          <p:cNvSpPr/>
          <p:nvPr/>
        </p:nvSpPr>
        <p:spPr>
          <a:xfrm>
            <a:off x="4386972" y="1162738"/>
            <a:ext cx="274320" cy="274320"/>
          </a:xfrm>
          <a:prstGeom prst="roundRect">
            <a:avLst>
              <a:gd name="adj" fmla="val 20381"/>
            </a:avLst>
          </a:prstGeom>
          <a:solidFill>
            <a:srgbClr val="F0BE0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endParaRPr lang="fa-IR" sz="1600" b="1" dirty="0">
              <a:latin typeface="Yekan Bakh" pitchFamily="2" charset="-78"/>
              <a:ea typeface="Yekan Bakh" pitchFamily="2" charset="-78"/>
              <a:cs typeface="Yekan Bakh" pitchFamily="2" charset="-78"/>
            </a:endParaRPr>
          </a:p>
        </p:txBody>
      </p:sp>
      <p:sp>
        <p:nvSpPr>
          <p:cNvPr id="29" name="TextBox 28">
            <a:extLst>
              <a:ext uri="{FF2B5EF4-FFF2-40B4-BE49-F238E27FC236}">
                <a16:creationId xmlns:a16="http://schemas.microsoft.com/office/drawing/2014/main" id="{CEE8F072-96A7-798E-DA85-974F3BE99A61}"/>
              </a:ext>
            </a:extLst>
          </p:cNvPr>
          <p:cNvSpPr txBox="1"/>
          <p:nvPr/>
        </p:nvSpPr>
        <p:spPr>
          <a:xfrm>
            <a:off x="4406164" y="1163059"/>
            <a:ext cx="235936" cy="307777"/>
          </a:xfrm>
          <a:prstGeom prst="rect">
            <a:avLst/>
          </a:prstGeom>
          <a:noFill/>
        </p:spPr>
        <p:txBody>
          <a:bodyPr wrap="square" rtlCol="0" anchor="ctr">
            <a:spAutoFit/>
          </a:bodyPr>
          <a:lstStyle/>
          <a:p>
            <a:pPr algn="ctr"/>
            <a:r>
              <a:rPr lang="fa-IR" sz="1400" b="1" dirty="0">
                <a:solidFill>
                  <a:schemeClr val="bg1"/>
                </a:solidFill>
                <a:latin typeface="Yekan Bakh FaNum" pitchFamily="2" charset="-78"/>
                <a:ea typeface="Yekan Bakh FaNum" pitchFamily="2" charset="-78"/>
                <a:cs typeface="Yekan Bakh FaNum" pitchFamily="2" charset="-78"/>
              </a:rPr>
              <a:t>۷</a:t>
            </a:r>
            <a:endParaRPr lang="en-GB" sz="1400" b="1" dirty="0">
              <a:solidFill>
                <a:schemeClr val="bg1"/>
              </a:solidFill>
              <a:latin typeface="Yekan Bakh FaNum" pitchFamily="2" charset="-78"/>
              <a:ea typeface="Yekan Bakh FaNum" pitchFamily="2" charset="-78"/>
              <a:cs typeface="Yekan Bakh FaNum" pitchFamily="2" charset="-78"/>
            </a:endParaRPr>
          </a:p>
        </p:txBody>
      </p:sp>
      <p:sp>
        <p:nvSpPr>
          <p:cNvPr id="30" name="Rectangle: Rounded Corners 29">
            <a:extLst>
              <a:ext uri="{FF2B5EF4-FFF2-40B4-BE49-F238E27FC236}">
                <a16:creationId xmlns:a16="http://schemas.microsoft.com/office/drawing/2014/main" id="{39527EE6-DC01-52F7-5D73-5DADAF0CCE50}"/>
              </a:ext>
            </a:extLst>
          </p:cNvPr>
          <p:cNvSpPr/>
          <p:nvPr/>
        </p:nvSpPr>
        <p:spPr>
          <a:xfrm>
            <a:off x="2686609" y="1162738"/>
            <a:ext cx="1682279" cy="274320"/>
          </a:xfrm>
          <a:prstGeom prst="roundRect">
            <a:avLst>
              <a:gd name="adj" fmla="val 20381"/>
            </a:avLst>
          </a:prstGeom>
          <a:solidFill>
            <a:srgbClr val="F0BE0F">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fa-IR" sz="1100" b="1" dirty="0">
                <a:solidFill>
                  <a:srgbClr val="004D80"/>
                </a:solidFill>
                <a:latin typeface="Yekan Bakh" pitchFamily="2" charset="-78"/>
                <a:ea typeface="Yekan Bakh" pitchFamily="2" charset="-78"/>
                <a:cs typeface="Yekan Bakh" pitchFamily="2" charset="-78"/>
              </a:rPr>
              <a:t>فعالیت‌های کلیدی</a:t>
            </a:r>
          </a:p>
        </p:txBody>
      </p:sp>
      <p:sp>
        <p:nvSpPr>
          <p:cNvPr id="54" name="Rectangle: Rounded Corners 53">
            <a:extLst>
              <a:ext uri="{FF2B5EF4-FFF2-40B4-BE49-F238E27FC236}">
                <a16:creationId xmlns:a16="http://schemas.microsoft.com/office/drawing/2014/main" id="{0B446137-7139-7B3F-CA18-D3D42F2A4912}"/>
              </a:ext>
            </a:extLst>
          </p:cNvPr>
          <p:cNvSpPr/>
          <p:nvPr/>
        </p:nvSpPr>
        <p:spPr>
          <a:xfrm>
            <a:off x="4386972" y="2774081"/>
            <a:ext cx="274320" cy="274320"/>
          </a:xfrm>
          <a:prstGeom prst="roundRect">
            <a:avLst>
              <a:gd name="adj" fmla="val 20381"/>
            </a:avLst>
          </a:prstGeom>
          <a:solidFill>
            <a:srgbClr val="F0BE0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a-IR" sz="1600" b="1" dirty="0">
              <a:latin typeface="Yekan Bakh" pitchFamily="2" charset="-78"/>
              <a:ea typeface="Yekan Bakh" pitchFamily="2" charset="-78"/>
              <a:cs typeface="Yekan Bakh" pitchFamily="2" charset="-78"/>
            </a:endParaRPr>
          </a:p>
        </p:txBody>
      </p:sp>
      <p:sp>
        <p:nvSpPr>
          <p:cNvPr id="55" name="TextBox 54">
            <a:extLst>
              <a:ext uri="{FF2B5EF4-FFF2-40B4-BE49-F238E27FC236}">
                <a16:creationId xmlns:a16="http://schemas.microsoft.com/office/drawing/2014/main" id="{D895D627-48FD-5446-B972-EA38D36C2B6A}"/>
              </a:ext>
            </a:extLst>
          </p:cNvPr>
          <p:cNvSpPr txBox="1"/>
          <p:nvPr/>
        </p:nvSpPr>
        <p:spPr>
          <a:xfrm>
            <a:off x="4406164" y="2774402"/>
            <a:ext cx="235936" cy="307777"/>
          </a:xfrm>
          <a:prstGeom prst="rect">
            <a:avLst/>
          </a:prstGeom>
          <a:noFill/>
        </p:spPr>
        <p:txBody>
          <a:bodyPr wrap="square" rtlCol="0" anchor="ctr">
            <a:spAutoFit/>
          </a:bodyPr>
          <a:lstStyle/>
          <a:p>
            <a:pPr algn="ctr"/>
            <a:r>
              <a:rPr lang="fa-IR" sz="1400" b="1" dirty="0">
                <a:solidFill>
                  <a:schemeClr val="bg1"/>
                </a:solidFill>
                <a:latin typeface="Yekan Bakh FaNum" pitchFamily="2" charset="-78"/>
                <a:ea typeface="Yekan Bakh FaNum" pitchFamily="2" charset="-78"/>
                <a:cs typeface="Yekan Bakh FaNum" pitchFamily="2" charset="-78"/>
              </a:rPr>
              <a:t>۶</a:t>
            </a:r>
            <a:endParaRPr lang="en-GB" sz="1400" b="1" dirty="0">
              <a:solidFill>
                <a:schemeClr val="bg1"/>
              </a:solidFill>
              <a:latin typeface="Yekan Bakh FaNum" pitchFamily="2" charset="-78"/>
              <a:ea typeface="Yekan Bakh FaNum" pitchFamily="2" charset="-78"/>
              <a:cs typeface="Yekan Bakh FaNum" pitchFamily="2" charset="-78"/>
            </a:endParaRPr>
          </a:p>
        </p:txBody>
      </p:sp>
      <p:sp>
        <p:nvSpPr>
          <p:cNvPr id="56" name="Rectangle: Rounded Corners 55">
            <a:extLst>
              <a:ext uri="{FF2B5EF4-FFF2-40B4-BE49-F238E27FC236}">
                <a16:creationId xmlns:a16="http://schemas.microsoft.com/office/drawing/2014/main" id="{AB22FC57-B47A-C38F-0635-96F4CDF7404B}"/>
              </a:ext>
            </a:extLst>
          </p:cNvPr>
          <p:cNvSpPr/>
          <p:nvPr/>
        </p:nvSpPr>
        <p:spPr>
          <a:xfrm>
            <a:off x="2686609" y="2774081"/>
            <a:ext cx="1682279" cy="274320"/>
          </a:xfrm>
          <a:prstGeom prst="roundRect">
            <a:avLst>
              <a:gd name="adj" fmla="val 20381"/>
            </a:avLst>
          </a:prstGeom>
          <a:solidFill>
            <a:srgbClr val="F0BE0F">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1100" b="1" dirty="0">
                <a:solidFill>
                  <a:srgbClr val="004D80"/>
                </a:solidFill>
                <a:latin typeface="Yekan Bakh" pitchFamily="2" charset="-78"/>
                <a:ea typeface="Yekan Bakh" pitchFamily="2" charset="-78"/>
                <a:cs typeface="Yekan Bakh" pitchFamily="2" charset="-78"/>
              </a:rPr>
              <a:t>منابع کلیدی</a:t>
            </a:r>
          </a:p>
        </p:txBody>
      </p:sp>
      <p:sp>
        <p:nvSpPr>
          <p:cNvPr id="4" name="Rectangle 3">
            <a:extLst>
              <a:ext uri="{FF2B5EF4-FFF2-40B4-BE49-F238E27FC236}">
                <a16:creationId xmlns:a16="http://schemas.microsoft.com/office/drawing/2014/main" id="{2FCC8254-770D-61B1-9A95-CA3FCD0F9D41}"/>
              </a:ext>
            </a:extLst>
          </p:cNvPr>
          <p:cNvSpPr/>
          <p:nvPr/>
        </p:nvSpPr>
        <p:spPr>
          <a:xfrm>
            <a:off x="0" y="0"/>
            <a:ext cx="11703050" cy="6583363"/>
          </a:xfrm>
          <a:prstGeom prst="rect">
            <a:avLst/>
          </a:prstGeom>
          <a:solidFill>
            <a:schemeClr val="tx1">
              <a:alpha val="4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034" name="Rectangle: Rounded Corners 1033">
            <a:extLst>
              <a:ext uri="{FF2B5EF4-FFF2-40B4-BE49-F238E27FC236}">
                <a16:creationId xmlns:a16="http://schemas.microsoft.com/office/drawing/2014/main" id="{A905F43D-B305-9C6A-7941-21ACEECA59FB}"/>
              </a:ext>
            </a:extLst>
          </p:cNvPr>
          <p:cNvSpPr/>
          <p:nvPr/>
        </p:nvSpPr>
        <p:spPr>
          <a:xfrm>
            <a:off x="6975000" y="2698328"/>
            <a:ext cx="2143858" cy="1480788"/>
          </a:xfrm>
          <a:prstGeom prst="roundRect">
            <a:avLst>
              <a:gd name="adj" fmla="val 7466"/>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033" name="Group 1032">
            <a:extLst>
              <a:ext uri="{FF2B5EF4-FFF2-40B4-BE49-F238E27FC236}">
                <a16:creationId xmlns:a16="http://schemas.microsoft.com/office/drawing/2014/main" id="{8B460D71-AC1A-85B2-357B-2BA30E93426D}"/>
              </a:ext>
            </a:extLst>
          </p:cNvPr>
          <p:cNvGrpSpPr/>
          <p:nvPr/>
        </p:nvGrpSpPr>
        <p:grpSpPr>
          <a:xfrm>
            <a:off x="7058410" y="2774081"/>
            <a:ext cx="1975104" cy="1345185"/>
            <a:chOff x="12984413" y="1282807"/>
            <a:chExt cx="1975104" cy="1345185"/>
          </a:xfrm>
        </p:grpSpPr>
        <p:sp>
          <p:nvSpPr>
            <p:cNvPr id="1028" name="TextBox 1027">
              <a:extLst>
                <a:ext uri="{FF2B5EF4-FFF2-40B4-BE49-F238E27FC236}">
                  <a16:creationId xmlns:a16="http://schemas.microsoft.com/office/drawing/2014/main" id="{9A98ABA5-C841-1BCE-AF04-70BB870A0392}"/>
                </a:ext>
              </a:extLst>
            </p:cNvPr>
            <p:cNvSpPr txBox="1"/>
            <p:nvPr/>
          </p:nvSpPr>
          <p:spPr>
            <a:xfrm>
              <a:off x="12984413" y="1627718"/>
              <a:ext cx="1975104" cy="1000274"/>
            </a:xfrm>
            <a:prstGeom prst="rect">
              <a:avLst/>
            </a:prstGeom>
            <a:noFill/>
          </p:spPr>
          <p:txBody>
            <a:bodyPr wrap="square" rtlCol="0">
              <a:spAutoFit/>
            </a:bodyPr>
            <a:lstStyle/>
            <a:p>
              <a:pPr marL="115888" marR="0" lvl="0" indent="-115888" algn="justLow" defTabSz="457200" rtl="1" eaLnBrk="1" fontAlgn="auto" latinLnBrk="0" hangingPunct="1">
                <a:lnSpc>
                  <a:spcPct val="10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مشتریان تمایل دارند از چه طریقی به آن‌ها دسترسی داشته باشیم؟</a:t>
              </a:r>
            </a:p>
            <a:p>
              <a:pPr marL="115888" marR="0" lvl="0" indent="-115888" algn="justLow" defTabSz="457200" rtl="1" eaLnBrk="1" fontAlgn="auto" latinLnBrk="0" hangingPunct="1">
                <a:lnSpc>
                  <a:spcPct val="10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سایر شرکت‌ها در حال حاضر چگونه به آن‌ها دسترسی دارند؟</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a:p>
              <a:pPr marL="115888" marR="0" lvl="0" indent="-115888" algn="justLow" defTabSz="457200" rtl="1" eaLnBrk="1" fontAlgn="auto" latinLnBrk="0" hangingPunct="1">
                <a:lnSpc>
                  <a:spcPct val="100000"/>
                </a:lnSpc>
                <a:spcBef>
                  <a:spcPts val="0"/>
                </a:spcBef>
                <a:spcAft>
                  <a:spcPts val="300"/>
                </a:spcAft>
                <a:buClr>
                  <a:srgbClr val="F0BE0F"/>
                </a:buClr>
                <a:buSzTx/>
                <a:buFont typeface="Arial" panose="020B0604020202020204" pitchFamily="34" charset="0"/>
                <a:buChar char="•"/>
                <a:tabLst/>
                <a:defRPr/>
              </a:pPr>
              <a:r>
                <a:rPr kumimoji="0" lang="fa-IR"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rPr>
                <a:t>چگونه این کانال‌ها را با روال‌های روزمره مشتریان یکپارچه می‌کنیم؟</a:t>
              </a:r>
              <a:endParaRPr kumimoji="0" lang="en-US" sz="900" b="1" i="0" u="none" strike="noStrike" kern="1200" cap="none" spc="0" normalizeH="0" baseline="0" noProof="0" dirty="0">
                <a:ln>
                  <a:noFill/>
                </a:ln>
                <a:solidFill>
                  <a:schemeClr val="tx1">
                    <a:lumMod val="65000"/>
                    <a:lumOff val="35000"/>
                  </a:schemeClr>
                </a:solidFill>
                <a:effectLst/>
                <a:uLnTx/>
                <a:uFillTx/>
                <a:latin typeface="Yekan Bakh FaNum" pitchFamily="2" charset="-78"/>
                <a:ea typeface="Yekan Bakh FaNum" pitchFamily="2" charset="-78"/>
                <a:cs typeface="Yekan Bakh FaNum" pitchFamily="2" charset="-78"/>
              </a:endParaRPr>
            </a:p>
          </p:txBody>
        </p:sp>
        <p:grpSp>
          <p:nvGrpSpPr>
            <p:cNvPr id="1029" name="Group 1028">
              <a:extLst>
                <a:ext uri="{FF2B5EF4-FFF2-40B4-BE49-F238E27FC236}">
                  <a16:creationId xmlns:a16="http://schemas.microsoft.com/office/drawing/2014/main" id="{51F18AD5-D1B2-1F79-C017-F8D1C6076EC8}"/>
                </a:ext>
              </a:extLst>
            </p:cNvPr>
            <p:cNvGrpSpPr/>
            <p:nvPr/>
          </p:nvGrpSpPr>
          <p:grpSpPr>
            <a:xfrm>
              <a:off x="12984624" y="1282807"/>
              <a:ext cx="1974683" cy="308098"/>
              <a:chOff x="9235887" y="1514246"/>
              <a:chExt cx="1974683" cy="308098"/>
            </a:xfrm>
          </p:grpSpPr>
          <p:sp>
            <p:nvSpPr>
              <p:cNvPr id="1030" name="Rectangle: Rounded Corners 1029">
                <a:extLst>
                  <a:ext uri="{FF2B5EF4-FFF2-40B4-BE49-F238E27FC236}">
                    <a16:creationId xmlns:a16="http://schemas.microsoft.com/office/drawing/2014/main" id="{09A44038-71C0-A575-AB74-14CBAC2D5BC1}"/>
                  </a:ext>
                </a:extLst>
              </p:cNvPr>
              <p:cNvSpPr/>
              <p:nvPr/>
            </p:nvSpPr>
            <p:spPr>
              <a:xfrm>
                <a:off x="10936250" y="1514246"/>
                <a:ext cx="274320" cy="274320"/>
              </a:xfrm>
              <a:prstGeom prst="roundRect">
                <a:avLst>
                  <a:gd name="adj" fmla="val 20381"/>
                </a:avLst>
              </a:prstGeom>
              <a:solidFill>
                <a:srgbClr val="F0BE0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a-IR" sz="1600" b="1" dirty="0">
                  <a:latin typeface="Yekan Bakh" pitchFamily="2" charset="-78"/>
                  <a:ea typeface="Yekan Bakh" pitchFamily="2" charset="-78"/>
                  <a:cs typeface="Yekan Bakh" pitchFamily="2" charset="-78"/>
                </a:endParaRPr>
              </a:p>
            </p:txBody>
          </p:sp>
          <p:sp>
            <p:nvSpPr>
              <p:cNvPr id="1031" name="TextBox 1030">
                <a:extLst>
                  <a:ext uri="{FF2B5EF4-FFF2-40B4-BE49-F238E27FC236}">
                    <a16:creationId xmlns:a16="http://schemas.microsoft.com/office/drawing/2014/main" id="{327812B3-A2B6-A656-C94D-269E653BDCA3}"/>
                  </a:ext>
                </a:extLst>
              </p:cNvPr>
              <p:cNvSpPr txBox="1"/>
              <p:nvPr/>
            </p:nvSpPr>
            <p:spPr>
              <a:xfrm>
                <a:off x="10955442" y="1514567"/>
                <a:ext cx="235936" cy="307777"/>
              </a:xfrm>
              <a:prstGeom prst="rect">
                <a:avLst/>
              </a:prstGeom>
              <a:noFill/>
            </p:spPr>
            <p:txBody>
              <a:bodyPr wrap="square" rtlCol="0" anchor="ctr">
                <a:spAutoFit/>
              </a:bodyPr>
              <a:lstStyle/>
              <a:p>
                <a:pPr algn="ctr"/>
                <a:r>
                  <a:rPr lang="fa-IR" sz="1400" b="1" dirty="0">
                    <a:solidFill>
                      <a:schemeClr val="bg1"/>
                    </a:solidFill>
                    <a:latin typeface="Yekan Bakh FaNum" pitchFamily="2" charset="-78"/>
                    <a:ea typeface="Yekan Bakh FaNum" pitchFamily="2" charset="-78"/>
                    <a:cs typeface="Yekan Bakh FaNum" pitchFamily="2" charset="-78"/>
                  </a:rPr>
                  <a:t>۳</a:t>
                </a:r>
                <a:endParaRPr lang="en-GB" sz="1400" b="1" dirty="0">
                  <a:solidFill>
                    <a:schemeClr val="bg1"/>
                  </a:solidFill>
                  <a:latin typeface="Yekan Bakh FaNum" pitchFamily="2" charset="-78"/>
                  <a:ea typeface="Yekan Bakh FaNum" pitchFamily="2" charset="-78"/>
                  <a:cs typeface="Yekan Bakh FaNum" pitchFamily="2" charset="-78"/>
                </a:endParaRPr>
              </a:p>
            </p:txBody>
          </p:sp>
          <p:sp>
            <p:nvSpPr>
              <p:cNvPr id="1032" name="Rectangle: Rounded Corners 1031">
                <a:extLst>
                  <a:ext uri="{FF2B5EF4-FFF2-40B4-BE49-F238E27FC236}">
                    <a16:creationId xmlns:a16="http://schemas.microsoft.com/office/drawing/2014/main" id="{91BDF1E3-41A5-AE85-8B93-62B4A1A5D7D0}"/>
                  </a:ext>
                </a:extLst>
              </p:cNvPr>
              <p:cNvSpPr/>
              <p:nvPr/>
            </p:nvSpPr>
            <p:spPr>
              <a:xfrm>
                <a:off x="9235887" y="1514246"/>
                <a:ext cx="1682279" cy="274320"/>
              </a:xfrm>
              <a:prstGeom prst="roundRect">
                <a:avLst>
                  <a:gd name="adj" fmla="val 20381"/>
                </a:avLst>
              </a:prstGeom>
              <a:solidFill>
                <a:srgbClr val="F0BE0F">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1100" b="1" dirty="0">
                    <a:solidFill>
                      <a:srgbClr val="004D80"/>
                    </a:solidFill>
                    <a:latin typeface="Yekan Bakh" pitchFamily="2" charset="-78"/>
                    <a:ea typeface="Yekan Bakh" pitchFamily="2" charset="-78"/>
                    <a:cs typeface="Yekan Bakh" pitchFamily="2" charset="-78"/>
                  </a:rPr>
                  <a:t>کانال‌ها</a:t>
                </a:r>
              </a:p>
            </p:txBody>
          </p:sp>
        </p:grpSp>
      </p:grpSp>
    </p:spTree>
    <p:extLst>
      <p:ext uri="{BB962C8B-B14F-4D97-AF65-F5344CB8AC3E}">
        <p14:creationId xmlns:p14="http://schemas.microsoft.com/office/powerpoint/2010/main" val="357094733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34E247FF-F67A-3E3D-139E-D04607704C63}"/>
              </a:ext>
            </a:extLst>
          </p:cNvPr>
          <p:cNvGrpSpPr/>
          <p:nvPr/>
        </p:nvGrpSpPr>
        <p:grpSpPr>
          <a:xfrm>
            <a:off x="1024732" y="1667904"/>
            <a:ext cx="9653587" cy="2942755"/>
            <a:chOff x="914400" y="1349845"/>
            <a:chExt cx="9653587" cy="2942755"/>
          </a:xfrm>
        </p:grpSpPr>
        <p:grpSp>
          <p:nvGrpSpPr>
            <p:cNvPr id="13" name="Group 12">
              <a:extLst>
                <a:ext uri="{FF2B5EF4-FFF2-40B4-BE49-F238E27FC236}">
                  <a16:creationId xmlns:a16="http://schemas.microsoft.com/office/drawing/2014/main" id="{4EFC8E60-013F-AF15-B4B3-A74069BE8A66}"/>
                </a:ext>
              </a:extLst>
            </p:cNvPr>
            <p:cNvGrpSpPr/>
            <p:nvPr/>
          </p:nvGrpSpPr>
          <p:grpSpPr>
            <a:xfrm>
              <a:off x="977236" y="1349845"/>
              <a:ext cx="9589164" cy="1350706"/>
              <a:chOff x="977236" y="765645"/>
              <a:chExt cx="9589164" cy="1350706"/>
            </a:xfrm>
          </p:grpSpPr>
          <p:sp>
            <p:nvSpPr>
              <p:cNvPr id="3" name="TextBox 2">
                <a:extLst>
                  <a:ext uri="{FF2B5EF4-FFF2-40B4-BE49-F238E27FC236}">
                    <a16:creationId xmlns:a16="http://schemas.microsoft.com/office/drawing/2014/main" id="{B4C7045E-01D6-0208-450B-B0802B46665F}"/>
                  </a:ext>
                </a:extLst>
              </p:cNvPr>
              <p:cNvSpPr txBox="1"/>
              <p:nvPr/>
            </p:nvSpPr>
            <p:spPr>
              <a:xfrm>
                <a:off x="977236" y="1212491"/>
                <a:ext cx="9589164" cy="761747"/>
              </a:xfrm>
              <a:prstGeom prst="rect">
                <a:avLst/>
              </a:prstGeom>
              <a:noFill/>
            </p:spPr>
            <p:txBody>
              <a:bodyPr wrap="square">
                <a:spAutoFit/>
              </a:bodyPr>
              <a:lstStyle/>
              <a:p>
                <a:pPr algn="justLow"/>
                <a:r>
                  <a:rPr lang="en-US" sz="1100" b="1" dirty="0">
                    <a:solidFill>
                      <a:schemeClr val="bg1"/>
                    </a:solidFill>
                    <a:latin typeface="Acumin Pro Wide Semibold" panose="020B0705020202020204" pitchFamily="34" charset="0"/>
                    <a:cs typeface="Arial" panose="020B0604020202020204" pitchFamily="34" charset="0"/>
                  </a:rPr>
                  <a:t>Each Multi-trillion-dollar Ecosystem Is Ruled By Unforgiving Mathematics: A Few Large-scale Platforms Are Likely To Win A Disproportionately Large Portion Of The Value Because</a:t>
                </a:r>
                <a:r>
                  <a:rPr lang="fa-IR" sz="1100" b="1" dirty="0">
                    <a:solidFill>
                      <a:schemeClr val="bg1"/>
                    </a:solidFill>
                    <a:latin typeface="Acumin Pro Wide Semibold" panose="020B0705020202020204" pitchFamily="34" charset="0"/>
                    <a:cs typeface="Arial" panose="020B0604020202020204" pitchFamily="34" charset="0"/>
                  </a:rPr>
                  <a:t> </a:t>
                </a:r>
                <a:r>
                  <a:rPr lang="en-US" sz="1100" b="1" dirty="0">
                    <a:solidFill>
                      <a:schemeClr val="bg1"/>
                    </a:solidFill>
                    <a:latin typeface="Acumin Pro Wide Semibold" panose="020B0705020202020204" pitchFamily="34" charset="0"/>
                    <a:cs typeface="Arial" panose="020B0604020202020204" pitchFamily="34" charset="0"/>
                  </a:rPr>
                  <a:t>They Will Own The Customer.</a:t>
                </a:r>
                <a:endParaRPr lang="fa-IR" sz="1100" b="1" dirty="0">
                  <a:solidFill>
                    <a:schemeClr val="bg1"/>
                  </a:solidFill>
                  <a:latin typeface="Acumin Pro Wide Semibold" panose="020B0705020202020204" pitchFamily="34" charset="0"/>
                  <a:cs typeface="Arial" panose="020B0604020202020204" pitchFamily="34" charset="0"/>
                </a:endParaRPr>
              </a:p>
              <a:p>
                <a:pPr algn="justLow"/>
                <a:endParaRPr lang="en-US" sz="1100" dirty="0">
                  <a:solidFill>
                    <a:schemeClr val="bg1"/>
                  </a:solidFill>
                  <a:latin typeface="Acumin Pro Wide Semibold" panose="020B0705020202020204" pitchFamily="34" charset="0"/>
                  <a:cs typeface="Arial" panose="020B0604020202020204" pitchFamily="34" charset="0"/>
                </a:endParaRPr>
              </a:p>
              <a:p>
                <a:pPr algn="justLow"/>
                <a:r>
                  <a:rPr lang="en-US" sz="1050" i="1" dirty="0">
                    <a:solidFill>
                      <a:schemeClr val="bg1"/>
                    </a:solidFill>
                    <a:latin typeface="Acumin Pro Wide Semibold" panose="020B0705020202020204" pitchFamily="34" charset="0"/>
                    <a:cs typeface="Arial" panose="020B0604020202020204" pitchFamily="34" charset="0"/>
                  </a:rPr>
                  <a:t>Miklós Dietz</a:t>
                </a:r>
                <a:endParaRPr lang="fa-IR" sz="1050" i="1" dirty="0">
                  <a:solidFill>
                    <a:schemeClr val="bg1"/>
                  </a:solidFill>
                  <a:latin typeface="Acumin Pro Wide Semibold" panose="020B0705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DF760029-6944-C0DD-FE00-81523EA619CC}"/>
                  </a:ext>
                </a:extLst>
              </p:cNvPr>
              <p:cNvPicPr>
                <a:picLocks noChangeAspect="1"/>
              </p:cNvPicPr>
              <p:nvPr/>
            </p:nvPicPr>
            <p:blipFill>
              <a:blip r:embed="rId2">
                <a:duotone>
                  <a:schemeClr val="accent2">
                    <a:shade val="45000"/>
                    <a:satMod val="135000"/>
                  </a:schemeClr>
                  <a:prstClr val="white"/>
                </a:duotone>
              </a:blip>
              <a:stretch>
                <a:fillRect/>
              </a:stretch>
            </p:blipFill>
            <p:spPr>
              <a:xfrm rot="10800000">
                <a:off x="977236" y="765645"/>
                <a:ext cx="313812" cy="313812"/>
              </a:xfrm>
              <a:prstGeom prst="rect">
                <a:avLst/>
              </a:prstGeom>
            </p:spPr>
          </p:pic>
          <p:pic>
            <p:nvPicPr>
              <p:cNvPr id="7" name="Picture 6">
                <a:extLst>
                  <a:ext uri="{FF2B5EF4-FFF2-40B4-BE49-F238E27FC236}">
                    <a16:creationId xmlns:a16="http://schemas.microsoft.com/office/drawing/2014/main" id="{05457031-FD58-1E1E-C0EE-CFDBC70AE664}"/>
                  </a:ext>
                </a:extLst>
              </p:cNvPr>
              <p:cNvPicPr>
                <a:picLocks noChangeAspect="1"/>
              </p:cNvPicPr>
              <p:nvPr/>
            </p:nvPicPr>
            <p:blipFill>
              <a:blip r:embed="rId2">
                <a:duotone>
                  <a:schemeClr val="accent2">
                    <a:shade val="45000"/>
                    <a:satMod val="135000"/>
                  </a:schemeClr>
                  <a:prstClr val="white"/>
                </a:duotone>
              </a:blip>
              <a:stretch>
                <a:fillRect/>
              </a:stretch>
            </p:blipFill>
            <p:spPr>
              <a:xfrm>
                <a:off x="10252588" y="1802539"/>
                <a:ext cx="313812" cy="313812"/>
              </a:xfrm>
              <a:prstGeom prst="rect">
                <a:avLst/>
              </a:prstGeom>
            </p:spPr>
          </p:pic>
        </p:grpSp>
        <p:sp>
          <p:nvSpPr>
            <p:cNvPr id="9" name="TextBox 8">
              <a:extLst>
                <a:ext uri="{FF2B5EF4-FFF2-40B4-BE49-F238E27FC236}">
                  <a16:creationId xmlns:a16="http://schemas.microsoft.com/office/drawing/2014/main" id="{634137B9-48F8-6246-3781-7CE48BFFFE0B}"/>
                </a:ext>
              </a:extLst>
            </p:cNvPr>
            <p:cNvSpPr txBox="1"/>
            <p:nvPr/>
          </p:nvSpPr>
          <p:spPr>
            <a:xfrm>
              <a:off x="914400" y="2958812"/>
              <a:ext cx="9653587" cy="1200329"/>
            </a:xfrm>
            <a:prstGeom prst="rect">
              <a:avLst/>
            </a:prstGeom>
            <a:noFill/>
          </p:spPr>
          <p:txBody>
            <a:bodyPr wrap="square">
              <a:spAutoFit/>
            </a:bodyPr>
            <a:lstStyle/>
            <a:p>
              <a:pPr algn="justLow" rtl="1"/>
              <a:r>
                <a:rPr lang="fa-IR" b="1" dirty="0">
                  <a:solidFill>
                    <a:schemeClr val="bg1"/>
                  </a:solidFill>
                  <a:latin typeface="Yekan Bakh" pitchFamily="2" charset="-78"/>
                  <a:ea typeface="Yekan Bakh" pitchFamily="2" charset="-78"/>
                  <a:cs typeface="Yekan Bakh" pitchFamily="2" charset="-78"/>
                </a:rPr>
                <a:t>هر اکوسیستم چند تریلیون‌دلاری تحت حاکمیت ریاضیات بی‌رحمانه‌ای است: </a:t>
              </a:r>
              <a:endParaRPr lang="en-US" b="1" dirty="0">
                <a:solidFill>
                  <a:schemeClr val="bg1"/>
                </a:solidFill>
                <a:latin typeface="Yekan Bakh" pitchFamily="2" charset="-78"/>
                <a:ea typeface="Yekan Bakh" pitchFamily="2" charset="-78"/>
                <a:cs typeface="Yekan Bakh" pitchFamily="2" charset="-78"/>
              </a:endParaRPr>
            </a:p>
            <a:p>
              <a:pPr algn="justLow" rtl="1"/>
              <a:r>
                <a:rPr lang="fa-IR" b="1" dirty="0">
                  <a:solidFill>
                    <a:schemeClr val="bg1"/>
                  </a:solidFill>
                  <a:latin typeface="Yekan Bakh" pitchFamily="2" charset="-78"/>
                  <a:ea typeface="Yekan Bakh" pitchFamily="2" charset="-78"/>
                  <a:cs typeface="Yekan Bakh" pitchFamily="2" charset="-78"/>
                </a:rPr>
                <a:t>احتمالاً تعداد محدودی از پلتفرم‌های بزرگ‌مقیاس، سهمی نامتناسب و بسیار بزرگ از ارزش ایجادشده را تصاحب خواهند کرد، زیرا </a:t>
              </a:r>
              <a:r>
                <a:rPr lang="fa-IR" sz="3600" b="1" dirty="0">
                  <a:solidFill>
                    <a:srgbClr val="0D1D40"/>
                  </a:solidFill>
                  <a:latin typeface="Yekan Bakh" pitchFamily="2" charset="-78"/>
                  <a:ea typeface="Yekan Bakh" pitchFamily="2" charset="-78"/>
                  <a:cs typeface="Yekan Bakh" pitchFamily="2" charset="-78"/>
                </a:rPr>
                <a:t>مالک رابطه با مشتری </a:t>
              </a:r>
              <a:r>
                <a:rPr lang="fa-IR" b="1" dirty="0">
                  <a:solidFill>
                    <a:schemeClr val="bg1"/>
                  </a:solidFill>
                  <a:latin typeface="Yekan Bakh" pitchFamily="2" charset="-78"/>
                  <a:ea typeface="Yekan Bakh" pitchFamily="2" charset="-78"/>
                  <a:cs typeface="Yekan Bakh" pitchFamily="2" charset="-78"/>
                </a:rPr>
                <a:t>خواهند بود.</a:t>
              </a:r>
              <a:endParaRPr lang="en-US" b="1" dirty="0">
                <a:solidFill>
                  <a:schemeClr val="bg1"/>
                </a:solidFill>
                <a:latin typeface="Yekan Bakh" pitchFamily="2" charset="-78"/>
                <a:ea typeface="Yekan Bakh" pitchFamily="2" charset="-78"/>
                <a:cs typeface="Yekan Bakh" pitchFamily="2" charset="-78"/>
              </a:endParaRPr>
            </a:p>
          </p:txBody>
        </p:sp>
        <p:cxnSp>
          <p:nvCxnSpPr>
            <p:cNvPr id="11" name="Straight Connector 10">
              <a:extLst>
                <a:ext uri="{FF2B5EF4-FFF2-40B4-BE49-F238E27FC236}">
                  <a16:creationId xmlns:a16="http://schemas.microsoft.com/office/drawing/2014/main" id="{30BEB0E2-D07E-A2BC-0CFD-30AE03C869F4}"/>
                </a:ext>
              </a:extLst>
            </p:cNvPr>
            <p:cNvCxnSpPr/>
            <p:nvPr/>
          </p:nvCxnSpPr>
          <p:spPr>
            <a:xfrm>
              <a:off x="977235" y="4292600"/>
              <a:ext cx="9589165" cy="0"/>
            </a:xfrm>
            <a:prstGeom prst="line">
              <a:avLst/>
            </a:prstGeom>
            <a:ln w="3175"/>
          </p:spPr>
          <p:style>
            <a:lnRef idx="1">
              <a:schemeClr val="accent2"/>
            </a:lnRef>
            <a:fillRef idx="0">
              <a:schemeClr val="accent2"/>
            </a:fillRef>
            <a:effectRef idx="0">
              <a:schemeClr val="accent2"/>
            </a:effectRef>
            <a:fontRef idx="minor">
              <a:schemeClr val="tx1"/>
            </a:fontRef>
          </p:style>
        </p:cxnSp>
      </p:grpSp>
    </p:spTree>
    <p:extLst>
      <p:ext uri="{BB962C8B-B14F-4D97-AF65-F5344CB8AC3E}">
        <p14:creationId xmlns:p14="http://schemas.microsoft.com/office/powerpoint/2010/main" val="227056757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0A5C100B-F39C-C948-97F2-977C89331FF7}"/>
              </a:ext>
            </a:extLst>
          </p:cNvPr>
          <p:cNvCxnSpPr>
            <a:cxnSpLocks/>
          </p:cNvCxnSpPr>
          <p:nvPr/>
        </p:nvCxnSpPr>
        <p:spPr>
          <a:xfrm>
            <a:off x="11243573" y="1666039"/>
            <a:ext cx="0" cy="3575034"/>
          </a:xfrm>
          <a:prstGeom prst="line">
            <a:avLst/>
          </a:prstGeom>
          <a:ln w="9525"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 name="Text Placeholder 1">
            <a:extLst>
              <a:ext uri="{FF2B5EF4-FFF2-40B4-BE49-F238E27FC236}">
                <a16:creationId xmlns:a16="http://schemas.microsoft.com/office/drawing/2014/main" id="{80690F06-C6DE-1E18-C034-9D49FF38DCC5}"/>
              </a:ext>
            </a:extLst>
          </p:cNvPr>
          <p:cNvSpPr>
            <a:spLocks noGrp="1"/>
          </p:cNvSpPr>
          <p:nvPr>
            <p:ph type="body" sz="quarter" idx="10"/>
          </p:nvPr>
        </p:nvSpPr>
        <p:spPr/>
        <p:txBody>
          <a:bodyPr/>
          <a:lstStyle/>
          <a:p>
            <a:r>
              <a:rPr lang="fa-IR" dirty="0"/>
              <a:t>ادبیات موضوع</a:t>
            </a:r>
          </a:p>
          <a:p>
            <a:endParaRPr lang="en-GB" dirty="0"/>
          </a:p>
        </p:txBody>
      </p:sp>
      <p:sp>
        <p:nvSpPr>
          <p:cNvPr id="3" name="Text Placeholder 2">
            <a:extLst>
              <a:ext uri="{FF2B5EF4-FFF2-40B4-BE49-F238E27FC236}">
                <a16:creationId xmlns:a16="http://schemas.microsoft.com/office/drawing/2014/main" id="{A0D348B4-6BB8-512F-071F-7D6118C06751}"/>
              </a:ext>
            </a:extLst>
          </p:cNvPr>
          <p:cNvSpPr>
            <a:spLocks noGrp="1"/>
          </p:cNvSpPr>
          <p:nvPr>
            <p:ph type="body" sz="quarter" idx="12"/>
          </p:nvPr>
        </p:nvSpPr>
        <p:spPr/>
        <p:txBody>
          <a:bodyPr/>
          <a:lstStyle/>
          <a:p>
            <a:r>
              <a:rPr lang="fa-IR" dirty="0"/>
              <a:t>بلوک کانال مشتریان</a:t>
            </a:r>
            <a:r>
              <a:rPr lang="en-GB" dirty="0"/>
              <a:t>Customer Channels) </a:t>
            </a:r>
            <a:r>
              <a:rPr lang="fa-IR" dirty="0"/>
              <a:t>) چیست و چرا اهمیت دارد؟</a:t>
            </a:r>
          </a:p>
        </p:txBody>
      </p:sp>
      <p:sp>
        <p:nvSpPr>
          <p:cNvPr id="4" name="Rectangle: Rounded Corners 3">
            <a:extLst>
              <a:ext uri="{FF2B5EF4-FFF2-40B4-BE49-F238E27FC236}">
                <a16:creationId xmlns:a16="http://schemas.microsoft.com/office/drawing/2014/main" id="{512D2F01-8BF4-5F19-7054-217A761FDE33}"/>
              </a:ext>
            </a:extLst>
          </p:cNvPr>
          <p:cNvSpPr/>
          <p:nvPr/>
        </p:nvSpPr>
        <p:spPr>
          <a:xfrm>
            <a:off x="533441" y="1514245"/>
            <a:ext cx="9306518" cy="740664"/>
          </a:xfrm>
          <a:prstGeom prst="roundRect">
            <a:avLst>
              <a:gd name="adj" fmla="val 15338"/>
            </a:avLst>
          </a:prstGeom>
          <a:solidFill>
            <a:schemeClr val="bg1">
              <a:lumMod val="95000"/>
              <a:alpha val="13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Low" rtl="1"/>
            <a:r>
              <a:rPr lang="fa-IR" sz="1050" b="1" dirty="0">
                <a:solidFill>
                  <a:srgbClr val="004D80"/>
                </a:solidFill>
                <a:latin typeface="Yekan Bakh" pitchFamily="2" charset="-78"/>
                <a:ea typeface="Yekan Bakh" pitchFamily="2" charset="-78"/>
                <a:cs typeface="Yekan Bakh" pitchFamily="2" charset="-78"/>
              </a:rPr>
              <a:t>کانال مشتریان، بلوکی از بوم مدل کسب‌وکار است که توصیف می‌کند «شرکت چگونه با هر بخش مشتری ارتباط برقرار می‌کند و به او دسترسی می‌یابد» تا ارزش پیشنهادی را ارائه کند.</a:t>
            </a:r>
          </a:p>
        </p:txBody>
      </p:sp>
      <p:sp>
        <p:nvSpPr>
          <p:cNvPr id="5" name="Rectangle: Rounded Corners 4">
            <a:extLst>
              <a:ext uri="{FF2B5EF4-FFF2-40B4-BE49-F238E27FC236}">
                <a16:creationId xmlns:a16="http://schemas.microsoft.com/office/drawing/2014/main" id="{90A0FCB4-8677-5BFF-9D4E-B14D2BFA3D7D}"/>
              </a:ext>
            </a:extLst>
          </p:cNvPr>
          <p:cNvSpPr/>
          <p:nvPr/>
        </p:nvSpPr>
        <p:spPr>
          <a:xfrm>
            <a:off x="9896410" y="1514245"/>
            <a:ext cx="1358590" cy="740664"/>
          </a:xfrm>
          <a:prstGeom prst="roundRect">
            <a:avLst>
              <a:gd name="adj" fmla="val 20381"/>
            </a:avLst>
          </a:prstGeom>
          <a:solidFill>
            <a:srgbClr val="F0BE0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fa-IR" sz="1100" b="1" dirty="0">
                <a:latin typeface="Yekan Bakh" pitchFamily="2" charset="-78"/>
                <a:ea typeface="Yekan Bakh" pitchFamily="2" charset="-78"/>
                <a:cs typeface="Yekan Bakh" pitchFamily="2" charset="-78"/>
              </a:rPr>
              <a:t>تعریف مرجع</a:t>
            </a:r>
          </a:p>
        </p:txBody>
      </p:sp>
      <p:grpSp>
        <p:nvGrpSpPr>
          <p:cNvPr id="18" name="Group 17">
            <a:extLst>
              <a:ext uri="{FF2B5EF4-FFF2-40B4-BE49-F238E27FC236}">
                <a16:creationId xmlns:a16="http://schemas.microsoft.com/office/drawing/2014/main" id="{9CAAC597-89CD-0B20-607F-43FE6D7C0CE0}"/>
              </a:ext>
            </a:extLst>
          </p:cNvPr>
          <p:cNvGrpSpPr/>
          <p:nvPr/>
        </p:nvGrpSpPr>
        <p:grpSpPr>
          <a:xfrm>
            <a:off x="9792396" y="2695699"/>
            <a:ext cx="1451177" cy="296996"/>
            <a:chOff x="9792396" y="2395727"/>
            <a:chExt cx="1451177" cy="296996"/>
          </a:xfrm>
        </p:grpSpPr>
        <p:cxnSp>
          <p:nvCxnSpPr>
            <p:cNvPr id="10" name="Straight Connector 9">
              <a:extLst>
                <a:ext uri="{FF2B5EF4-FFF2-40B4-BE49-F238E27FC236}">
                  <a16:creationId xmlns:a16="http://schemas.microsoft.com/office/drawing/2014/main" id="{5BE9ADB0-5A50-D5B2-D3C1-F95C294190C4}"/>
                </a:ext>
              </a:extLst>
            </p:cNvPr>
            <p:cNvCxnSpPr>
              <a:cxnSpLocks/>
            </p:cNvCxnSpPr>
            <p:nvPr/>
          </p:nvCxnSpPr>
          <p:spPr>
            <a:xfrm flipH="1">
              <a:off x="9839960" y="2692723"/>
              <a:ext cx="1403613" cy="0"/>
            </a:xfrm>
            <a:prstGeom prst="line">
              <a:avLst/>
            </a:prstGeom>
            <a:ln w="9525"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2" name="TextBox 11">
              <a:extLst>
                <a:ext uri="{FF2B5EF4-FFF2-40B4-BE49-F238E27FC236}">
                  <a16:creationId xmlns:a16="http://schemas.microsoft.com/office/drawing/2014/main" id="{1ED2F80E-02AD-CF3B-390E-CC39EF53D71C}"/>
                </a:ext>
              </a:extLst>
            </p:cNvPr>
            <p:cNvSpPr txBox="1"/>
            <p:nvPr/>
          </p:nvSpPr>
          <p:spPr>
            <a:xfrm>
              <a:off x="9792396" y="2395727"/>
              <a:ext cx="1451176" cy="278153"/>
            </a:xfrm>
            <a:prstGeom prst="rect">
              <a:avLst/>
            </a:prstGeom>
            <a:noFill/>
          </p:spPr>
          <p:txBody>
            <a:bodyPr wrap="square" anchor="t">
              <a:spAutoFit/>
            </a:bodyPr>
            <a:lstStyle/>
            <a:p>
              <a:pPr algn="ctr" rtl="1">
                <a:lnSpc>
                  <a:spcPct val="115000"/>
                </a:lnSpc>
              </a:pPr>
              <a:r>
                <a:rPr sz="1050" b="1" dirty="0" err="1">
                  <a:solidFill>
                    <a:srgbClr val="004D80"/>
                  </a:solidFill>
                  <a:latin typeface="Yekan Bakh"/>
                  <a:cs typeface="Yekan Bakh"/>
                </a:rPr>
                <a:t>کجا</a:t>
              </a:r>
              <a:r>
                <a:rPr sz="1050" b="1" dirty="0">
                  <a:solidFill>
                    <a:srgbClr val="004D80"/>
                  </a:solidFill>
                  <a:latin typeface="Yekan Bakh"/>
                  <a:cs typeface="Yekan Bakh"/>
                </a:rPr>
                <a:t> </a:t>
              </a:r>
              <a:r>
                <a:rPr sz="1050" b="1" dirty="0" err="1">
                  <a:solidFill>
                    <a:srgbClr val="004D80"/>
                  </a:solidFill>
                  <a:latin typeface="Yekan Bakh"/>
                  <a:cs typeface="Yekan Bakh"/>
                </a:rPr>
                <a:t>استفاده</a:t>
              </a:r>
              <a:r>
                <a:rPr sz="1050" b="1" dirty="0">
                  <a:solidFill>
                    <a:srgbClr val="004D80"/>
                  </a:solidFill>
                  <a:latin typeface="Yekan Bakh"/>
                  <a:cs typeface="Yekan Bakh"/>
                </a:rPr>
                <a:t> </a:t>
              </a:r>
              <a:r>
                <a:rPr sz="1050" b="1" dirty="0" err="1">
                  <a:solidFill>
                    <a:srgbClr val="004D80"/>
                  </a:solidFill>
                  <a:latin typeface="Yekan Bakh"/>
                  <a:cs typeface="Yekan Bakh"/>
                </a:rPr>
                <a:t>می‌شود</a:t>
              </a:r>
              <a:r>
                <a:rPr sz="1050" b="1" dirty="0">
                  <a:solidFill>
                    <a:srgbClr val="004D80"/>
                  </a:solidFill>
                  <a:latin typeface="Yekan Bakh"/>
                  <a:cs typeface="Yekan Bakh"/>
                </a:rPr>
                <a:t>؟</a:t>
              </a:r>
            </a:p>
          </p:txBody>
        </p:sp>
      </p:grpSp>
      <p:sp>
        <p:nvSpPr>
          <p:cNvPr id="17" name="Rectangle: Rounded Corners 16">
            <a:extLst>
              <a:ext uri="{FF2B5EF4-FFF2-40B4-BE49-F238E27FC236}">
                <a16:creationId xmlns:a16="http://schemas.microsoft.com/office/drawing/2014/main" id="{55DD3E5D-8E8D-D5D2-E17A-F4F920B61F41}"/>
              </a:ext>
            </a:extLst>
          </p:cNvPr>
          <p:cNvSpPr/>
          <p:nvPr/>
        </p:nvSpPr>
        <p:spPr>
          <a:xfrm>
            <a:off x="533441" y="2473865"/>
            <a:ext cx="9306518" cy="740664"/>
          </a:xfrm>
          <a:prstGeom prst="roundRect">
            <a:avLst>
              <a:gd name="adj" fmla="val 13326"/>
            </a:avLst>
          </a:prstGeom>
          <a:solidFill>
            <a:schemeClr val="bg1">
              <a:lumMod val="95000"/>
              <a:alpha val="13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15000"/>
              </a:lnSpc>
              <a:spcBef>
                <a:spcPts val="0"/>
              </a:spcBef>
              <a:spcAft>
                <a:spcPts val="0"/>
              </a:spcAft>
              <a:buClrTx/>
              <a:buSzTx/>
              <a:buFontTx/>
              <a:buNone/>
              <a:tabLst/>
              <a:defRPr/>
            </a:pPr>
            <a:r>
              <a:rPr kumimoji="0" lang="fa-IR" sz="1000" b="0" i="0" u="none" strike="noStrike" kern="1200" cap="none" spc="0" normalizeH="0" baseline="0" noProof="0" dirty="0">
                <a:ln>
                  <a:noFill/>
                </a:ln>
                <a:solidFill>
                  <a:srgbClr val="222222"/>
                </a:solidFill>
                <a:effectLst/>
                <a:uLnTx/>
                <a:uFillTx/>
                <a:latin typeface="Yekan Bakh"/>
                <a:ea typeface="+mn-ea"/>
                <a:cs typeface="Yekan Bakh"/>
              </a:rPr>
              <a:t>در تقاطع «ارزش پیشنهادی» و «بخش‌بندی مشتریان» در بوم مدل کسب‌وکار؛ ورودی مستقیم برای طراحی برنامه </a:t>
            </a:r>
            <a:r>
              <a:rPr kumimoji="0" lang="en-US" sz="1000" b="0" i="0" u="none" strike="noStrike" kern="1200" cap="none" spc="0" normalizeH="0" baseline="0" noProof="0" dirty="0">
                <a:ln>
                  <a:noFill/>
                </a:ln>
                <a:solidFill>
                  <a:srgbClr val="222222"/>
                </a:solidFill>
                <a:effectLst/>
                <a:uLnTx/>
                <a:uFillTx/>
                <a:latin typeface="Yekan Bakh"/>
                <a:ea typeface="+mn-ea"/>
                <a:cs typeface="Yekan Bakh"/>
              </a:rPr>
              <a:t>Go-to-Market، </a:t>
            </a:r>
            <a:r>
              <a:rPr kumimoji="0" lang="fa-IR" sz="1000" b="0" i="0" u="none" strike="noStrike" kern="1200" cap="none" spc="0" normalizeH="0" baseline="0" noProof="0" dirty="0">
                <a:ln>
                  <a:noFill/>
                </a:ln>
                <a:solidFill>
                  <a:srgbClr val="222222"/>
                </a:solidFill>
                <a:effectLst/>
                <a:uLnTx/>
                <a:uFillTx/>
                <a:latin typeface="Yekan Bakh"/>
                <a:ea typeface="+mn-ea"/>
                <a:cs typeface="Yekan Bakh"/>
              </a:rPr>
              <a:t>تخصیص بودجه فروش/بازاریابی، ساختاردهی شراکت‌ها، و مدیریت مالی کانال. </a:t>
            </a:r>
          </a:p>
        </p:txBody>
      </p:sp>
      <p:grpSp>
        <p:nvGrpSpPr>
          <p:cNvPr id="21" name="Group 20">
            <a:extLst>
              <a:ext uri="{FF2B5EF4-FFF2-40B4-BE49-F238E27FC236}">
                <a16:creationId xmlns:a16="http://schemas.microsoft.com/office/drawing/2014/main" id="{61DF377D-8A05-BBCA-B121-698B7E69197F}"/>
              </a:ext>
            </a:extLst>
          </p:cNvPr>
          <p:cNvGrpSpPr/>
          <p:nvPr/>
        </p:nvGrpSpPr>
        <p:grpSpPr>
          <a:xfrm>
            <a:off x="9839959" y="3820120"/>
            <a:ext cx="1403614" cy="296996"/>
            <a:chOff x="9839959" y="2395727"/>
            <a:chExt cx="1403614" cy="296996"/>
          </a:xfrm>
        </p:grpSpPr>
        <p:cxnSp>
          <p:nvCxnSpPr>
            <p:cNvPr id="23" name="Straight Connector 22">
              <a:extLst>
                <a:ext uri="{FF2B5EF4-FFF2-40B4-BE49-F238E27FC236}">
                  <a16:creationId xmlns:a16="http://schemas.microsoft.com/office/drawing/2014/main" id="{ADECC7E1-65DD-E29F-F03A-AD35BE60DDE2}"/>
                </a:ext>
              </a:extLst>
            </p:cNvPr>
            <p:cNvCxnSpPr>
              <a:cxnSpLocks/>
            </p:cNvCxnSpPr>
            <p:nvPr/>
          </p:nvCxnSpPr>
          <p:spPr>
            <a:xfrm flipH="1">
              <a:off x="9839960" y="2692723"/>
              <a:ext cx="1403613" cy="0"/>
            </a:xfrm>
            <a:prstGeom prst="line">
              <a:avLst/>
            </a:prstGeom>
            <a:ln w="9525"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4" name="TextBox 23">
              <a:extLst>
                <a:ext uri="{FF2B5EF4-FFF2-40B4-BE49-F238E27FC236}">
                  <a16:creationId xmlns:a16="http://schemas.microsoft.com/office/drawing/2014/main" id="{96BFD779-ABF3-EDD6-2EA1-EE861641F9F5}"/>
                </a:ext>
              </a:extLst>
            </p:cNvPr>
            <p:cNvSpPr txBox="1"/>
            <p:nvPr/>
          </p:nvSpPr>
          <p:spPr>
            <a:xfrm>
              <a:off x="9839959" y="2395727"/>
              <a:ext cx="1403613" cy="278153"/>
            </a:xfrm>
            <a:prstGeom prst="rect">
              <a:avLst/>
            </a:prstGeom>
            <a:noFill/>
          </p:spPr>
          <p:txBody>
            <a:bodyPr wrap="square" anchor="t">
              <a:spAutoFit/>
            </a:bodyPr>
            <a:lstStyle/>
            <a:p>
              <a:pPr algn="ctr" rtl="1">
                <a:lnSpc>
                  <a:spcPct val="115000"/>
                </a:lnSpc>
              </a:pPr>
              <a:r>
                <a:rPr lang="fa-IR" sz="1050" b="1" dirty="0">
                  <a:solidFill>
                    <a:srgbClr val="004D80"/>
                  </a:solidFill>
                  <a:latin typeface="Yekan Bakh"/>
                  <a:cs typeface="Yekan Bakh"/>
                </a:rPr>
                <a:t>هدف بلوک کانال</a:t>
              </a:r>
            </a:p>
          </p:txBody>
        </p:sp>
      </p:grpSp>
      <p:sp>
        <p:nvSpPr>
          <p:cNvPr id="22" name="Rectangle: Rounded Corners 21">
            <a:extLst>
              <a:ext uri="{FF2B5EF4-FFF2-40B4-BE49-F238E27FC236}">
                <a16:creationId xmlns:a16="http://schemas.microsoft.com/office/drawing/2014/main" id="{529C9003-AD07-8B15-BAE1-19A8044EDE23}"/>
              </a:ext>
            </a:extLst>
          </p:cNvPr>
          <p:cNvSpPr/>
          <p:nvPr/>
        </p:nvSpPr>
        <p:spPr>
          <a:xfrm>
            <a:off x="533441" y="3433485"/>
            <a:ext cx="9306518" cy="1070266"/>
          </a:xfrm>
          <a:prstGeom prst="roundRect">
            <a:avLst>
              <a:gd name="adj" fmla="val 9309"/>
            </a:avLst>
          </a:prstGeom>
          <a:solidFill>
            <a:schemeClr val="bg1">
              <a:lumMod val="95000"/>
              <a:alpha val="13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marR="0" lvl="0" indent="-171450" algn="justLow" defTabSz="457200" rtl="1" eaLnBrk="1" fontAlgn="auto" latinLnBrk="0" hangingPunct="1">
              <a:lnSpc>
                <a:spcPct val="115000"/>
              </a:lnSpc>
              <a:spcBef>
                <a:spcPts val="0"/>
              </a:spcBef>
              <a:spcAft>
                <a:spcPts val="0"/>
              </a:spcAft>
              <a:buClr>
                <a:srgbClr val="F0BE0F"/>
              </a:buClr>
              <a:buSzTx/>
              <a:buFont typeface="Arial" panose="020B0604020202020204" pitchFamily="34" charset="0"/>
              <a:buChar char="•"/>
              <a:tabLst/>
              <a:defRPr/>
            </a:pPr>
            <a:r>
              <a:rPr kumimoji="0" lang="fa-IR" sz="1000" b="0" i="0" u="none" strike="noStrike" kern="1200" cap="none" spc="0" normalizeH="0" baseline="0" noProof="0" dirty="0">
                <a:ln>
                  <a:noFill/>
                </a:ln>
                <a:solidFill>
                  <a:srgbClr val="222222"/>
                </a:solidFill>
                <a:effectLst/>
                <a:uLnTx/>
                <a:uFillTx/>
                <a:latin typeface="Yekan Bakh"/>
                <a:ea typeface="+mn-ea"/>
                <a:cs typeface="Yekan Bakh"/>
              </a:rPr>
              <a:t>افزایش آگاهی مشتری از ارزش پیشنهادی</a:t>
            </a:r>
          </a:p>
          <a:p>
            <a:pPr marL="171450" marR="0" lvl="0" indent="-171450" algn="justLow" defTabSz="457200" rtl="1" eaLnBrk="1" fontAlgn="auto" latinLnBrk="0" hangingPunct="1">
              <a:lnSpc>
                <a:spcPct val="115000"/>
              </a:lnSpc>
              <a:spcBef>
                <a:spcPts val="0"/>
              </a:spcBef>
              <a:spcAft>
                <a:spcPts val="0"/>
              </a:spcAft>
              <a:buClr>
                <a:srgbClr val="F0BE0F"/>
              </a:buClr>
              <a:buSzTx/>
              <a:buFont typeface="Arial" panose="020B0604020202020204" pitchFamily="34" charset="0"/>
              <a:buChar char="•"/>
              <a:tabLst/>
              <a:defRPr/>
            </a:pPr>
            <a:r>
              <a:rPr kumimoji="0" lang="fa-IR" sz="1000" b="0" i="0" u="none" strike="noStrike" kern="1200" cap="none" spc="0" normalizeH="0" baseline="0" noProof="0" dirty="0">
                <a:ln>
                  <a:noFill/>
                </a:ln>
                <a:solidFill>
                  <a:srgbClr val="222222"/>
                </a:solidFill>
                <a:effectLst/>
                <a:uLnTx/>
                <a:uFillTx/>
                <a:latin typeface="Yekan Bakh"/>
                <a:ea typeface="+mn-ea"/>
                <a:cs typeface="Yekan Bakh"/>
              </a:rPr>
              <a:t>کمک به مشتری برای ارزیابی و مقایسه پیشنهاد</a:t>
            </a:r>
          </a:p>
          <a:p>
            <a:pPr marL="171450" marR="0" lvl="0" indent="-171450" algn="justLow" defTabSz="457200" rtl="1" eaLnBrk="1" fontAlgn="auto" latinLnBrk="0" hangingPunct="1">
              <a:lnSpc>
                <a:spcPct val="115000"/>
              </a:lnSpc>
              <a:spcBef>
                <a:spcPts val="0"/>
              </a:spcBef>
              <a:spcAft>
                <a:spcPts val="0"/>
              </a:spcAft>
              <a:buClr>
                <a:srgbClr val="F0BE0F"/>
              </a:buClr>
              <a:buSzTx/>
              <a:buFont typeface="Arial" panose="020B0604020202020204" pitchFamily="34" charset="0"/>
              <a:buChar char="•"/>
              <a:tabLst/>
              <a:defRPr/>
            </a:pPr>
            <a:r>
              <a:rPr kumimoji="0" lang="fa-IR" sz="1000" b="0" i="0" u="none" strike="noStrike" kern="1200" cap="none" spc="0" normalizeH="0" baseline="0" noProof="0" dirty="0">
                <a:ln>
                  <a:noFill/>
                </a:ln>
                <a:solidFill>
                  <a:srgbClr val="222222"/>
                </a:solidFill>
                <a:effectLst/>
                <a:uLnTx/>
                <a:uFillTx/>
                <a:latin typeface="Yekan Bakh"/>
                <a:ea typeface="+mn-ea"/>
                <a:cs typeface="Yekan Bakh"/>
              </a:rPr>
              <a:t>امکان‌پذیر کردن خرید محصولات/خدمات مشخص</a:t>
            </a:r>
          </a:p>
          <a:p>
            <a:pPr marL="171450" marR="0" lvl="0" indent="-171450" algn="justLow" defTabSz="457200" rtl="1" eaLnBrk="1" fontAlgn="auto" latinLnBrk="0" hangingPunct="1">
              <a:lnSpc>
                <a:spcPct val="115000"/>
              </a:lnSpc>
              <a:spcBef>
                <a:spcPts val="0"/>
              </a:spcBef>
              <a:spcAft>
                <a:spcPts val="0"/>
              </a:spcAft>
              <a:buClr>
                <a:srgbClr val="F0BE0F"/>
              </a:buClr>
              <a:buSzTx/>
              <a:buFont typeface="Arial" panose="020B0604020202020204" pitchFamily="34" charset="0"/>
              <a:buChar char="•"/>
              <a:tabLst/>
              <a:defRPr/>
            </a:pPr>
            <a:r>
              <a:rPr kumimoji="0" lang="fa-IR" sz="1000" b="0" i="0" u="none" strike="noStrike" kern="1200" cap="none" spc="0" normalizeH="0" baseline="0" noProof="0" dirty="0">
                <a:ln>
                  <a:noFill/>
                </a:ln>
                <a:solidFill>
                  <a:srgbClr val="222222"/>
                </a:solidFill>
                <a:effectLst/>
                <a:uLnTx/>
                <a:uFillTx/>
                <a:latin typeface="Yekan Bakh"/>
                <a:ea typeface="+mn-ea"/>
                <a:cs typeface="Yekan Bakh"/>
              </a:rPr>
              <a:t>تحویل ارزش پیشنهادی به مشتری</a:t>
            </a:r>
          </a:p>
          <a:p>
            <a:pPr marL="171450" marR="0" lvl="0" indent="-171450" algn="justLow" defTabSz="457200" rtl="1" eaLnBrk="1" fontAlgn="auto" latinLnBrk="0" hangingPunct="1">
              <a:lnSpc>
                <a:spcPct val="115000"/>
              </a:lnSpc>
              <a:spcBef>
                <a:spcPts val="0"/>
              </a:spcBef>
              <a:spcAft>
                <a:spcPts val="0"/>
              </a:spcAft>
              <a:buClr>
                <a:srgbClr val="F0BE0F"/>
              </a:buClr>
              <a:buSzTx/>
              <a:buFont typeface="Arial" panose="020B0604020202020204" pitchFamily="34" charset="0"/>
              <a:buChar char="•"/>
              <a:tabLst/>
              <a:defRPr/>
            </a:pPr>
            <a:r>
              <a:rPr kumimoji="0" lang="fa-IR" sz="1000" b="0" i="0" u="none" strike="noStrike" kern="1200" cap="none" spc="0" normalizeH="0" baseline="0" noProof="0" dirty="0">
                <a:ln>
                  <a:noFill/>
                </a:ln>
                <a:solidFill>
                  <a:srgbClr val="222222"/>
                </a:solidFill>
                <a:effectLst/>
                <a:uLnTx/>
                <a:uFillTx/>
                <a:latin typeface="Yekan Bakh"/>
                <a:ea typeface="+mn-ea"/>
                <a:cs typeface="Yekan Bakh"/>
              </a:rPr>
              <a:t>ارائه پشتیبانی پس از خرید</a:t>
            </a:r>
          </a:p>
        </p:txBody>
      </p:sp>
      <p:cxnSp>
        <p:nvCxnSpPr>
          <p:cNvPr id="34" name="Straight Connector 33">
            <a:extLst>
              <a:ext uri="{FF2B5EF4-FFF2-40B4-BE49-F238E27FC236}">
                <a16:creationId xmlns:a16="http://schemas.microsoft.com/office/drawing/2014/main" id="{1B0F06F6-44BC-5DD7-9134-EAA0A9C37564}"/>
              </a:ext>
            </a:extLst>
          </p:cNvPr>
          <p:cNvCxnSpPr>
            <a:cxnSpLocks/>
          </p:cNvCxnSpPr>
          <p:nvPr/>
        </p:nvCxnSpPr>
        <p:spPr>
          <a:xfrm flipH="1">
            <a:off x="9839960" y="5240254"/>
            <a:ext cx="1403613" cy="0"/>
          </a:xfrm>
          <a:prstGeom prst="line">
            <a:avLst/>
          </a:prstGeom>
          <a:ln w="9525"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5" name="TextBox 34">
            <a:extLst>
              <a:ext uri="{FF2B5EF4-FFF2-40B4-BE49-F238E27FC236}">
                <a16:creationId xmlns:a16="http://schemas.microsoft.com/office/drawing/2014/main" id="{75186A9F-DE13-84F4-0E17-1A41EE726C00}"/>
              </a:ext>
            </a:extLst>
          </p:cNvPr>
          <p:cNvSpPr txBox="1"/>
          <p:nvPr/>
        </p:nvSpPr>
        <p:spPr>
          <a:xfrm>
            <a:off x="9839959" y="4943258"/>
            <a:ext cx="1403613" cy="278153"/>
          </a:xfrm>
          <a:prstGeom prst="rect">
            <a:avLst/>
          </a:prstGeom>
          <a:noFill/>
        </p:spPr>
        <p:txBody>
          <a:bodyPr wrap="square" anchor="t">
            <a:spAutoFit/>
          </a:bodyPr>
          <a:lstStyle/>
          <a:p>
            <a:pPr algn="ctr" rtl="1">
              <a:lnSpc>
                <a:spcPct val="115000"/>
              </a:lnSpc>
            </a:pPr>
            <a:r>
              <a:rPr lang="fa-IR" sz="1050" b="1" dirty="0">
                <a:solidFill>
                  <a:srgbClr val="004D80"/>
                </a:solidFill>
                <a:latin typeface="Yekan Bakh"/>
                <a:cs typeface="Yekan Bakh"/>
              </a:rPr>
              <a:t>چرا اهمیت دارد؟ </a:t>
            </a:r>
          </a:p>
        </p:txBody>
      </p:sp>
      <p:sp>
        <p:nvSpPr>
          <p:cNvPr id="33" name="Rectangle: Rounded Corners 32">
            <a:extLst>
              <a:ext uri="{FF2B5EF4-FFF2-40B4-BE49-F238E27FC236}">
                <a16:creationId xmlns:a16="http://schemas.microsoft.com/office/drawing/2014/main" id="{B1DED52E-2F30-22A1-8ABC-45D40840C52C}"/>
              </a:ext>
            </a:extLst>
          </p:cNvPr>
          <p:cNvSpPr/>
          <p:nvPr/>
        </p:nvSpPr>
        <p:spPr>
          <a:xfrm>
            <a:off x="533441" y="4722708"/>
            <a:ext cx="9306518" cy="738097"/>
          </a:xfrm>
          <a:prstGeom prst="roundRect">
            <a:avLst>
              <a:gd name="adj" fmla="val 12608"/>
            </a:avLst>
          </a:prstGeom>
          <a:solidFill>
            <a:schemeClr val="bg1">
              <a:lumMod val="95000"/>
              <a:alpha val="13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algn="justLow" defTabSz="457200" rtl="1" eaLnBrk="1" fontAlgn="auto" latinLnBrk="0" hangingPunct="1">
              <a:lnSpc>
                <a:spcPct val="115000"/>
              </a:lnSpc>
              <a:spcBef>
                <a:spcPts val="0"/>
              </a:spcBef>
              <a:spcAft>
                <a:spcPts val="0"/>
              </a:spcAft>
              <a:buClr>
                <a:srgbClr val="F0BE0F"/>
              </a:buClr>
              <a:buSzTx/>
              <a:tabLst/>
              <a:defRPr/>
            </a:pPr>
            <a:r>
              <a:rPr kumimoji="0" lang="fa-IR" sz="1000" b="0" i="0" u="none" strike="noStrike" kern="1200" cap="none" spc="0" normalizeH="0" baseline="0" noProof="0" dirty="0">
                <a:ln>
                  <a:noFill/>
                </a:ln>
                <a:solidFill>
                  <a:srgbClr val="222222"/>
                </a:solidFill>
                <a:effectLst/>
                <a:uLnTx/>
                <a:uFillTx/>
                <a:latin typeface="Yekan Bakh"/>
                <a:ea typeface="+mn-ea"/>
                <a:cs typeface="Yekan Bakh"/>
              </a:rPr>
              <a:t>کانال «مایل آخر» تحویل ارزش است: بسیاری از ارزش‌پیشنهادی‌های قوی صرفاً به این دلیل به درآمد تبدیل نمی‌شوند که کانال دسترسی/اعتمادسازی درست طراحی نشده. کانال هم‌زمان بر تجربه مشتری، ساختار هزینه (از طریق اقتصاد کانال) و اندازه بازار قابل‌دسترس اثر مستقیم می‌گذارد.</a:t>
            </a:r>
          </a:p>
        </p:txBody>
      </p:sp>
    </p:spTree>
    <p:extLst>
      <p:ext uri="{BB962C8B-B14F-4D97-AF65-F5344CB8AC3E}">
        <p14:creationId xmlns:p14="http://schemas.microsoft.com/office/powerpoint/2010/main" val="199587658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E2EC650-1D47-AD5F-5762-F7A000D952FC}"/>
              </a:ext>
            </a:extLst>
          </p:cNvPr>
          <p:cNvSpPr>
            <a:spLocks noGrp="1"/>
          </p:cNvSpPr>
          <p:nvPr>
            <p:ph type="body" sz="quarter" idx="10"/>
          </p:nvPr>
        </p:nvSpPr>
        <p:spPr/>
        <p:txBody>
          <a:bodyPr/>
          <a:lstStyle/>
          <a:p>
            <a:r>
              <a:rPr lang="fa-IR" dirty="0"/>
              <a:t>متدولوژی</a:t>
            </a:r>
          </a:p>
        </p:txBody>
      </p:sp>
      <p:sp>
        <p:nvSpPr>
          <p:cNvPr id="3" name="Text Placeholder 2">
            <a:extLst>
              <a:ext uri="{FF2B5EF4-FFF2-40B4-BE49-F238E27FC236}">
                <a16:creationId xmlns:a16="http://schemas.microsoft.com/office/drawing/2014/main" id="{9A9167DD-58AC-2CD7-8B13-7698410279E6}"/>
              </a:ext>
            </a:extLst>
          </p:cNvPr>
          <p:cNvSpPr>
            <a:spLocks noGrp="1"/>
          </p:cNvSpPr>
          <p:nvPr>
            <p:ph type="body" sz="quarter" idx="12"/>
          </p:nvPr>
        </p:nvSpPr>
        <p:spPr/>
        <p:txBody>
          <a:bodyPr/>
          <a:lstStyle/>
          <a:p>
            <a:r>
              <a:rPr lang="fa-IR" dirty="0"/>
              <a:t>طبقه‌بندی کانال و مدل ۵فازی مرجع</a:t>
            </a:r>
          </a:p>
        </p:txBody>
      </p:sp>
      <p:grpSp>
        <p:nvGrpSpPr>
          <p:cNvPr id="39" name="Group 38">
            <a:extLst>
              <a:ext uri="{FF2B5EF4-FFF2-40B4-BE49-F238E27FC236}">
                <a16:creationId xmlns:a16="http://schemas.microsoft.com/office/drawing/2014/main" id="{A90511D8-02E6-B8F6-382D-C0C82D4736DF}"/>
              </a:ext>
            </a:extLst>
          </p:cNvPr>
          <p:cNvGrpSpPr/>
          <p:nvPr/>
        </p:nvGrpSpPr>
        <p:grpSpPr>
          <a:xfrm>
            <a:off x="8386551" y="1701934"/>
            <a:ext cx="2635576" cy="3359710"/>
            <a:chOff x="8283038" y="1917592"/>
            <a:chExt cx="2635576" cy="3359710"/>
          </a:xfrm>
        </p:grpSpPr>
        <p:grpSp>
          <p:nvGrpSpPr>
            <p:cNvPr id="29" name="Group 28">
              <a:extLst>
                <a:ext uri="{FF2B5EF4-FFF2-40B4-BE49-F238E27FC236}">
                  <a16:creationId xmlns:a16="http://schemas.microsoft.com/office/drawing/2014/main" id="{B6877800-FAC4-C574-EA7C-439C87789550}"/>
                </a:ext>
              </a:extLst>
            </p:cNvPr>
            <p:cNvGrpSpPr/>
            <p:nvPr/>
          </p:nvGrpSpPr>
          <p:grpSpPr>
            <a:xfrm>
              <a:off x="8283038" y="1917592"/>
              <a:ext cx="2635576" cy="516621"/>
              <a:chOff x="8283038" y="1917592"/>
              <a:chExt cx="2635576" cy="516621"/>
            </a:xfrm>
          </p:grpSpPr>
          <p:grpSp>
            <p:nvGrpSpPr>
              <p:cNvPr id="8" name="Group 7">
                <a:extLst>
                  <a:ext uri="{FF2B5EF4-FFF2-40B4-BE49-F238E27FC236}">
                    <a16:creationId xmlns:a16="http://schemas.microsoft.com/office/drawing/2014/main" id="{870011CB-6EF5-3224-FE50-D0077141F160}"/>
                  </a:ext>
                </a:extLst>
              </p:cNvPr>
              <p:cNvGrpSpPr/>
              <p:nvPr/>
            </p:nvGrpSpPr>
            <p:grpSpPr>
              <a:xfrm>
                <a:off x="8283038" y="1917592"/>
                <a:ext cx="2479667" cy="516621"/>
                <a:chOff x="8805553" y="2115994"/>
                <a:chExt cx="2479667" cy="516621"/>
              </a:xfrm>
            </p:grpSpPr>
            <p:sp>
              <p:nvSpPr>
                <p:cNvPr id="9" name="TextBox 8">
                  <a:extLst>
                    <a:ext uri="{FF2B5EF4-FFF2-40B4-BE49-F238E27FC236}">
                      <a16:creationId xmlns:a16="http://schemas.microsoft.com/office/drawing/2014/main" id="{23699A49-8822-5ABE-BD80-0C6B292DD376}"/>
                    </a:ext>
                  </a:extLst>
                </p:cNvPr>
                <p:cNvSpPr txBox="1"/>
                <p:nvPr/>
              </p:nvSpPr>
              <p:spPr>
                <a:xfrm>
                  <a:off x="10090072" y="2115994"/>
                  <a:ext cx="1195148" cy="304699"/>
                </a:xfrm>
                <a:prstGeom prst="rect">
                  <a:avLst/>
                </a:prstGeom>
                <a:noFill/>
              </p:spPr>
              <p:txBody>
                <a:bodyPr wrap="square" anchor="ctr">
                  <a:spAutoFit/>
                </a:bodyPr>
                <a:lstStyle/>
                <a:p>
                  <a:pPr algn="r" rtl="1">
                    <a:lnSpc>
                      <a:spcPct val="115000"/>
                    </a:lnSpc>
                  </a:pPr>
                  <a:r>
                    <a:rPr sz="1200" b="1" dirty="0">
                      <a:solidFill>
                        <a:srgbClr val="1E2761"/>
                      </a:solidFill>
                      <a:latin typeface="Yekan Bakh"/>
                      <a:cs typeface="Yekan Bakh"/>
                    </a:rPr>
                    <a:t>۱. </a:t>
                  </a:r>
                  <a:r>
                    <a:rPr sz="1200" b="1" dirty="0" err="1">
                      <a:solidFill>
                        <a:srgbClr val="1E2761"/>
                      </a:solidFill>
                      <a:latin typeface="Yekan Bakh"/>
                      <a:cs typeface="Yekan Bakh"/>
                    </a:rPr>
                    <a:t>آگاهی‌سازی</a:t>
                  </a:r>
                  <a:endParaRPr sz="1200" b="1" dirty="0">
                    <a:solidFill>
                      <a:srgbClr val="1E2761"/>
                    </a:solidFill>
                    <a:latin typeface="Yekan Bakh"/>
                    <a:cs typeface="Yekan Bakh"/>
                  </a:endParaRPr>
                </a:p>
              </p:txBody>
            </p:sp>
            <p:sp>
              <p:nvSpPr>
                <p:cNvPr id="10" name="TextBox 9">
                  <a:extLst>
                    <a:ext uri="{FF2B5EF4-FFF2-40B4-BE49-F238E27FC236}">
                      <a16:creationId xmlns:a16="http://schemas.microsoft.com/office/drawing/2014/main" id="{0572EFB7-1441-2F1B-B747-4EEBA1A1F4CE}"/>
                    </a:ext>
                  </a:extLst>
                </p:cNvPr>
                <p:cNvSpPr txBox="1"/>
                <p:nvPr/>
              </p:nvSpPr>
              <p:spPr>
                <a:xfrm>
                  <a:off x="8805553" y="2354462"/>
                  <a:ext cx="2479667" cy="278153"/>
                </a:xfrm>
                <a:prstGeom prst="rect">
                  <a:avLst/>
                </a:prstGeom>
                <a:noFill/>
              </p:spPr>
              <p:txBody>
                <a:bodyPr wrap="square" anchor="ctr">
                  <a:spAutoFit/>
                </a:bodyPr>
                <a:lstStyle/>
                <a:p>
                  <a:pPr algn="r" rtl="1">
                    <a:lnSpc>
                      <a:spcPct val="115000"/>
                    </a:lnSpc>
                  </a:pPr>
                  <a:r>
                    <a:rPr sz="1050" b="0">
                      <a:solidFill>
                        <a:srgbClr val="222222"/>
                      </a:solidFill>
                      <a:latin typeface="Yekan Bakh"/>
                      <a:cs typeface="Yekan Bakh"/>
                    </a:rPr>
                    <a:t>معرفی ارزش پیشنهادی به مشتری بالقوه</a:t>
                  </a:r>
                </a:p>
              </p:txBody>
            </p:sp>
          </p:grpSp>
          <p:sp>
            <p:nvSpPr>
              <p:cNvPr id="23" name="Rectangle: Rounded Corners 22">
                <a:extLst>
                  <a:ext uri="{FF2B5EF4-FFF2-40B4-BE49-F238E27FC236}">
                    <a16:creationId xmlns:a16="http://schemas.microsoft.com/office/drawing/2014/main" id="{DD3566FF-A78E-D866-0746-0706A7109F95}"/>
                  </a:ext>
                </a:extLst>
              </p:cNvPr>
              <p:cNvSpPr/>
              <p:nvPr/>
            </p:nvSpPr>
            <p:spPr>
              <a:xfrm>
                <a:off x="10762706" y="1954305"/>
                <a:ext cx="155908" cy="443195"/>
              </a:xfrm>
              <a:prstGeom prst="roundRect">
                <a:avLst/>
              </a:prstGeom>
              <a:solidFill>
                <a:srgbClr val="0040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grpSp>
          <p:nvGrpSpPr>
            <p:cNvPr id="30" name="Group 29">
              <a:extLst>
                <a:ext uri="{FF2B5EF4-FFF2-40B4-BE49-F238E27FC236}">
                  <a16:creationId xmlns:a16="http://schemas.microsoft.com/office/drawing/2014/main" id="{38E772CD-EBD8-7EE4-244A-CA7BBE3C6DBD}"/>
                </a:ext>
              </a:extLst>
            </p:cNvPr>
            <p:cNvGrpSpPr/>
            <p:nvPr/>
          </p:nvGrpSpPr>
          <p:grpSpPr>
            <a:xfrm>
              <a:off x="8283038" y="2628364"/>
              <a:ext cx="2635576" cy="516621"/>
              <a:chOff x="8283038" y="2647775"/>
              <a:chExt cx="2635576" cy="516621"/>
            </a:xfrm>
          </p:grpSpPr>
          <p:grpSp>
            <p:nvGrpSpPr>
              <p:cNvPr id="11" name="Group 10">
                <a:extLst>
                  <a:ext uri="{FF2B5EF4-FFF2-40B4-BE49-F238E27FC236}">
                    <a16:creationId xmlns:a16="http://schemas.microsoft.com/office/drawing/2014/main" id="{6222087A-5AE1-75DC-A115-FD916EBB32C5}"/>
                  </a:ext>
                </a:extLst>
              </p:cNvPr>
              <p:cNvGrpSpPr/>
              <p:nvPr/>
            </p:nvGrpSpPr>
            <p:grpSpPr>
              <a:xfrm>
                <a:off x="8283038" y="2647775"/>
                <a:ext cx="2479667" cy="516621"/>
                <a:chOff x="8805553" y="2820296"/>
                <a:chExt cx="2479667" cy="516621"/>
              </a:xfrm>
            </p:grpSpPr>
            <p:sp>
              <p:nvSpPr>
                <p:cNvPr id="12" name="TextBox 11">
                  <a:extLst>
                    <a:ext uri="{FF2B5EF4-FFF2-40B4-BE49-F238E27FC236}">
                      <a16:creationId xmlns:a16="http://schemas.microsoft.com/office/drawing/2014/main" id="{E8C76766-B7BB-928A-6F1B-66CFB26F2067}"/>
                    </a:ext>
                  </a:extLst>
                </p:cNvPr>
                <p:cNvSpPr txBox="1"/>
                <p:nvPr/>
              </p:nvSpPr>
              <p:spPr>
                <a:xfrm>
                  <a:off x="10090072" y="2820296"/>
                  <a:ext cx="1195148" cy="304699"/>
                </a:xfrm>
                <a:prstGeom prst="rect">
                  <a:avLst/>
                </a:prstGeom>
                <a:noFill/>
              </p:spPr>
              <p:txBody>
                <a:bodyPr wrap="square" anchor="ctr">
                  <a:spAutoFit/>
                </a:bodyPr>
                <a:lstStyle/>
                <a:p>
                  <a:pPr algn="r" rtl="1">
                    <a:lnSpc>
                      <a:spcPct val="115000"/>
                    </a:lnSpc>
                  </a:pPr>
                  <a:r>
                    <a:rPr sz="1200" b="1">
                      <a:solidFill>
                        <a:srgbClr val="1E2761"/>
                      </a:solidFill>
                      <a:latin typeface="Yekan Bakh"/>
                      <a:cs typeface="Yekan Bakh"/>
                    </a:rPr>
                    <a:t>۲. ارزیابی</a:t>
                  </a:r>
                </a:p>
              </p:txBody>
            </p:sp>
            <p:sp>
              <p:nvSpPr>
                <p:cNvPr id="13" name="TextBox 12">
                  <a:extLst>
                    <a:ext uri="{FF2B5EF4-FFF2-40B4-BE49-F238E27FC236}">
                      <a16:creationId xmlns:a16="http://schemas.microsoft.com/office/drawing/2014/main" id="{75013344-F0A6-3780-5C89-0CF628173090}"/>
                    </a:ext>
                  </a:extLst>
                </p:cNvPr>
                <p:cNvSpPr txBox="1"/>
                <p:nvPr/>
              </p:nvSpPr>
              <p:spPr>
                <a:xfrm>
                  <a:off x="8805553" y="3058764"/>
                  <a:ext cx="2479667" cy="278153"/>
                </a:xfrm>
                <a:prstGeom prst="rect">
                  <a:avLst/>
                </a:prstGeom>
                <a:noFill/>
              </p:spPr>
              <p:txBody>
                <a:bodyPr wrap="square" anchor="ctr">
                  <a:spAutoFit/>
                </a:bodyPr>
                <a:lstStyle/>
                <a:p>
                  <a:pPr algn="r" rtl="1">
                    <a:lnSpc>
                      <a:spcPct val="115000"/>
                    </a:lnSpc>
                  </a:pPr>
                  <a:r>
                    <a:rPr sz="1050" b="0">
                      <a:solidFill>
                        <a:srgbClr val="222222"/>
                      </a:solidFill>
                      <a:latin typeface="Yekan Bakh"/>
                      <a:cs typeface="Yekan Bakh"/>
                    </a:rPr>
                    <a:t>کمک به مقایسه و سنجش پیشنهاد</a:t>
                  </a:r>
                </a:p>
              </p:txBody>
            </p:sp>
          </p:grpSp>
          <p:sp>
            <p:nvSpPr>
              <p:cNvPr id="25" name="Rectangle: Rounded Corners 24">
                <a:extLst>
                  <a:ext uri="{FF2B5EF4-FFF2-40B4-BE49-F238E27FC236}">
                    <a16:creationId xmlns:a16="http://schemas.microsoft.com/office/drawing/2014/main" id="{12295C08-A8B1-0EA5-3304-1EE42CF16D13}"/>
                  </a:ext>
                </a:extLst>
              </p:cNvPr>
              <p:cNvSpPr/>
              <p:nvPr/>
            </p:nvSpPr>
            <p:spPr>
              <a:xfrm>
                <a:off x="10762706" y="2682057"/>
                <a:ext cx="155908" cy="448056"/>
              </a:xfrm>
              <a:prstGeom prst="roundRect">
                <a:avLst/>
              </a:prstGeom>
              <a:solidFill>
                <a:srgbClr val="00406C">
                  <a:alpha val="7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1" name="Group 30">
              <a:extLst>
                <a:ext uri="{FF2B5EF4-FFF2-40B4-BE49-F238E27FC236}">
                  <a16:creationId xmlns:a16="http://schemas.microsoft.com/office/drawing/2014/main" id="{80290242-992D-D375-F065-F498240A732E}"/>
                </a:ext>
              </a:extLst>
            </p:cNvPr>
            <p:cNvGrpSpPr/>
            <p:nvPr/>
          </p:nvGrpSpPr>
          <p:grpSpPr>
            <a:xfrm>
              <a:off x="8283038" y="3339136"/>
              <a:ext cx="2635576" cy="516621"/>
              <a:chOff x="8283038" y="3352077"/>
              <a:chExt cx="2635576" cy="516621"/>
            </a:xfrm>
          </p:grpSpPr>
          <p:grpSp>
            <p:nvGrpSpPr>
              <p:cNvPr id="14" name="Group 13">
                <a:extLst>
                  <a:ext uri="{FF2B5EF4-FFF2-40B4-BE49-F238E27FC236}">
                    <a16:creationId xmlns:a16="http://schemas.microsoft.com/office/drawing/2014/main" id="{71079A60-4AC9-CC34-6DE3-07C2738C937A}"/>
                  </a:ext>
                </a:extLst>
              </p:cNvPr>
              <p:cNvGrpSpPr/>
              <p:nvPr/>
            </p:nvGrpSpPr>
            <p:grpSpPr>
              <a:xfrm>
                <a:off x="8283038" y="3352077"/>
                <a:ext cx="2479667" cy="516621"/>
                <a:chOff x="8805553" y="3524598"/>
                <a:chExt cx="2479667" cy="516621"/>
              </a:xfrm>
            </p:grpSpPr>
            <p:sp>
              <p:nvSpPr>
                <p:cNvPr id="15" name="TextBox 14">
                  <a:extLst>
                    <a:ext uri="{FF2B5EF4-FFF2-40B4-BE49-F238E27FC236}">
                      <a16:creationId xmlns:a16="http://schemas.microsoft.com/office/drawing/2014/main" id="{A488DE09-1616-1067-EFF1-B966B4D6C85C}"/>
                    </a:ext>
                  </a:extLst>
                </p:cNvPr>
                <p:cNvSpPr txBox="1"/>
                <p:nvPr/>
              </p:nvSpPr>
              <p:spPr>
                <a:xfrm>
                  <a:off x="10090072" y="3524598"/>
                  <a:ext cx="1195148" cy="304699"/>
                </a:xfrm>
                <a:prstGeom prst="rect">
                  <a:avLst/>
                </a:prstGeom>
                <a:noFill/>
              </p:spPr>
              <p:txBody>
                <a:bodyPr wrap="square" anchor="ctr">
                  <a:spAutoFit/>
                </a:bodyPr>
                <a:lstStyle/>
                <a:p>
                  <a:pPr algn="r" rtl="1">
                    <a:lnSpc>
                      <a:spcPct val="115000"/>
                    </a:lnSpc>
                  </a:pPr>
                  <a:r>
                    <a:rPr sz="1200" b="1">
                      <a:solidFill>
                        <a:srgbClr val="1E2761"/>
                      </a:solidFill>
                      <a:latin typeface="Yekan Bakh"/>
                      <a:cs typeface="Yekan Bakh"/>
                    </a:rPr>
                    <a:t>۳. خرید</a:t>
                  </a:r>
                </a:p>
              </p:txBody>
            </p:sp>
            <p:sp>
              <p:nvSpPr>
                <p:cNvPr id="16" name="TextBox 15">
                  <a:extLst>
                    <a:ext uri="{FF2B5EF4-FFF2-40B4-BE49-F238E27FC236}">
                      <a16:creationId xmlns:a16="http://schemas.microsoft.com/office/drawing/2014/main" id="{54881330-5014-E15D-95D6-516B103577C4}"/>
                    </a:ext>
                  </a:extLst>
                </p:cNvPr>
                <p:cNvSpPr txBox="1"/>
                <p:nvPr/>
              </p:nvSpPr>
              <p:spPr>
                <a:xfrm>
                  <a:off x="8805553" y="3763066"/>
                  <a:ext cx="2479667" cy="278153"/>
                </a:xfrm>
                <a:prstGeom prst="rect">
                  <a:avLst/>
                </a:prstGeom>
                <a:noFill/>
              </p:spPr>
              <p:txBody>
                <a:bodyPr wrap="square" anchor="ctr">
                  <a:spAutoFit/>
                </a:bodyPr>
                <a:lstStyle/>
                <a:p>
                  <a:pPr algn="r" rtl="1">
                    <a:lnSpc>
                      <a:spcPct val="115000"/>
                    </a:lnSpc>
                  </a:pPr>
                  <a:r>
                    <a:rPr sz="1050" b="0">
                      <a:solidFill>
                        <a:srgbClr val="222222"/>
                      </a:solidFill>
                      <a:latin typeface="Yekan Bakh"/>
                      <a:cs typeface="Yekan Bakh"/>
                    </a:rPr>
                    <a:t>امکان‌پذیرکردن تراکنش/عقد قرارداد</a:t>
                  </a:r>
                </a:p>
              </p:txBody>
            </p:sp>
          </p:grpSp>
          <p:sp>
            <p:nvSpPr>
              <p:cNvPr id="26" name="Rectangle: Rounded Corners 25">
                <a:extLst>
                  <a:ext uri="{FF2B5EF4-FFF2-40B4-BE49-F238E27FC236}">
                    <a16:creationId xmlns:a16="http://schemas.microsoft.com/office/drawing/2014/main" id="{F2E8E457-66B2-4DA8-218F-F8D9A0C0DFBD}"/>
                  </a:ext>
                </a:extLst>
              </p:cNvPr>
              <p:cNvSpPr/>
              <p:nvPr/>
            </p:nvSpPr>
            <p:spPr>
              <a:xfrm>
                <a:off x="10762706" y="3386359"/>
                <a:ext cx="155908" cy="448056"/>
              </a:xfrm>
              <a:prstGeom prst="roundRect">
                <a:avLst/>
              </a:prstGeom>
              <a:solidFill>
                <a:srgbClr val="00406C">
                  <a:alpha val="3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grpSp>
          <p:nvGrpSpPr>
            <p:cNvPr id="32" name="Group 31">
              <a:extLst>
                <a:ext uri="{FF2B5EF4-FFF2-40B4-BE49-F238E27FC236}">
                  <a16:creationId xmlns:a16="http://schemas.microsoft.com/office/drawing/2014/main" id="{9C71D4C0-47D7-C7B5-D899-4AB95B326588}"/>
                </a:ext>
              </a:extLst>
            </p:cNvPr>
            <p:cNvGrpSpPr/>
            <p:nvPr/>
          </p:nvGrpSpPr>
          <p:grpSpPr>
            <a:xfrm>
              <a:off x="8283038" y="4049908"/>
              <a:ext cx="2635576" cy="516621"/>
              <a:chOff x="8283038" y="4056379"/>
              <a:chExt cx="2635576" cy="516621"/>
            </a:xfrm>
          </p:grpSpPr>
          <p:grpSp>
            <p:nvGrpSpPr>
              <p:cNvPr id="17" name="Group 16">
                <a:extLst>
                  <a:ext uri="{FF2B5EF4-FFF2-40B4-BE49-F238E27FC236}">
                    <a16:creationId xmlns:a16="http://schemas.microsoft.com/office/drawing/2014/main" id="{89CD4A41-9FF7-D73D-F527-FBA4B6009C11}"/>
                  </a:ext>
                </a:extLst>
              </p:cNvPr>
              <p:cNvGrpSpPr/>
              <p:nvPr/>
            </p:nvGrpSpPr>
            <p:grpSpPr>
              <a:xfrm>
                <a:off x="8283038" y="4056379"/>
                <a:ext cx="2479667" cy="516621"/>
                <a:chOff x="8805553" y="4228900"/>
                <a:chExt cx="2479667" cy="516621"/>
              </a:xfrm>
            </p:grpSpPr>
            <p:sp>
              <p:nvSpPr>
                <p:cNvPr id="18" name="TextBox 17">
                  <a:extLst>
                    <a:ext uri="{FF2B5EF4-FFF2-40B4-BE49-F238E27FC236}">
                      <a16:creationId xmlns:a16="http://schemas.microsoft.com/office/drawing/2014/main" id="{EA466F2C-A9A8-4702-6CD2-3F2BF70AD3CC}"/>
                    </a:ext>
                  </a:extLst>
                </p:cNvPr>
                <p:cNvSpPr txBox="1"/>
                <p:nvPr/>
              </p:nvSpPr>
              <p:spPr>
                <a:xfrm>
                  <a:off x="10090072" y="4228900"/>
                  <a:ext cx="1195148" cy="304699"/>
                </a:xfrm>
                <a:prstGeom prst="rect">
                  <a:avLst/>
                </a:prstGeom>
                <a:noFill/>
              </p:spPr>
              <p:txBody>
                <a:bodyPr wrap="square" anchor="ctr">
                  <a:spAutoFit/>
                </a:bodyPr>
                <a:lstStyle/>
                <a:p>
                  <a:pPr algn="r" rtl="1">
                    <a:lnSpc>
                      <a:spcPct val="115000"/>
                    </a:lnSpc>
                  </a:pPr>
                  <a:r>
                    <a:rPr sz="1200" b="1">
                      <a:solidFill>
                        <a:srgbClr val="6B6B6B"/>
                      </a:solidFill>
                      <a:latin typeface="Yekan Bakh"/>
                      <a:cs typeface="Yekan Bakh"/>
                    </a:rPr>
                    <a:t>۴. تحویل</a:t>
                  </a:r>
                </a:p>
              </p:txBody>
            </p:sp>
            <p:sp>
              <p:nvSpPr>
                <p:cNvPr id="19" name="TextBox 18">
                  <a:extLst>
                    <a:ext uri="{FF2B5EF4-FFF2-40B4-BE49-F238E27FC236}">
                      <a16:creationId xmlns:a16="http://schemas.microsoft.com/office/drawing/2014/main" id="{1AE17D72-5776-ABA8-7ECB-CCD24522B564}"/>
                    </a:ext>
                  </a:extLst>
                </p:cNvPr>
                <p:cNvSpPr txBox="1"/>
                <p:nvPr/>
              </p:nvSpPr>
              <p:spPr>
                <a:xfrm>
                  <a:off x="8805553" y="4467368"/>
                  <a:ext cx="2479667" cy="278153"/>
                </a:xfrm>
                <a:prstGeom prst="rect">
                  <a:avLst/>
                </a:prstGeom>
                <a:noFill/>
              </p:spPr>
              <p:txBody>
                <a:bodyPr wrap="square" anchor="ctr">
                  <a:spAutoFit/>
                </a:bodyPr>
                <a:lstStyle/>
                <a:p>
                  <a:pPr algn="r" rtl="1">
                    <a:lnSpc>
                      <a:spcPct val="115000"/>
                    </a:lnSpc>
                  </a:pPr>
                  <a:r>
                    <a:rPr sz="1050" b="0">
                      <a:solidFill>
                        <a:srgbClr val="6B6B6B"/>
                      </a:solidFill>
                      <a:latin typeface="Yekan Bakh"/>
                      <a:cs typeface="Yekan Bakh"/>
                    </a:rPr>
                    <a:t>رساندن ارزش پیشنهادی به مشتری</a:t>
                  </a:r>
                </a:p>
              </p:txBody>
            </p:sp>
          </p:grpSp>
          <p:sp>
            <p:nvSpPr>
              <p:cNvPr id="27" name="Rectangle: Rounded Corners 26">
                <a:extLst>
                  <a:ext uri="{FF2B5EF4-FFF2-40B4-BE49-F238E27FC236}">
                    <a16:creationId xmlns:a16="http://schemas.microsoft.com/office/drawing/2014/main" id="{CB339E5B-86ED-D64F-E66E-BEA05FDA95F0}"/>
                  </a:ext>
                </a:extLst>
              </p:cNvPr>
              <p:cNvSpPr/>
              <p:nvPr/>
            </p:nvSpPr>
            <p:spPr>
              <a:xfrm>
                <a:off x="10762706" y="4090661"/>
                <a:ext cx="155908" cy="448056"/>
              </a:xfrm>
              <a:prstGeom prst="roundRect">
                <a:avLst/>
              </a:prstGeom>
              <a:solidFill>
                <a:schemeClr val="tx1">
                  <a:lumMod val="95000"/>
                  <a:lumOff val="5000"/>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grpSp>
          <p:nvGrpSpPr>
            <p:cNvPr id="33" name="Group 32">
              <a:extLst>
                <a:ext uri="{FF2B5EF4-FFF2-40B4-BE49-F238E27FC236}">
                  <a16:creationId xmlns:a16="http://schemas.microsoft.com/office/drawing/2014/main" id="{59BFC1C9-14BA-ACA3-0D7C-0EFBEAF2568D}"/>
                </a:ext>
              </a:extLst>
            </p:cNvPr>
            <p:cNvGrpSpPr/>
            <p:nvPr/>
          </p:nvGrpSpPr>
          <p:grpSpPr>
            <a:xfrm>
              <a:off x="8283038" y="4760681"/>
              <a:ext cx="2635576" cy="516621"/>
              <a:chOff x="8283038" y="4760681"/>
              <a:chExt cx="2635576" cy="516621"/>
            </a:xfrm>
          </p:grpSpPr>
          <p:grpSp>
            <p:nvGrpSpPr>
              <p:cNvPr id="20" name="Group 19">
                <a:extLst>
                  <a:ext uri="{FF2B5EF4-FFF2-40B4-BE49-F238E27FC236}">
                    <a16:creationId xmlns:a16="http://schemas.microsoft.com/office/drawing/2014/main" id="{244F87B5-150F-95B0-33C4-CA19C6A1AAF0}"/>
                  </a:ext>
                </a:extLst>
              </p:cNvPr>
              <p:cNvGrpSpPr/>
              <p:nvPr/>
            </p:nvGrpSpPr>
            <p:grpSpPr>
              <a:xfrm>
                <a:off x="8283038" y="4760681"/>
                <a:ext cx="2479667" cy="516621"/>
                <a:chOff x="8805553" y="4933202"/>
                <a:chExt cx="2479667" cy="516621"/>
              </a:xfrm>
            </p:grpSpPr>
            <p:sp>
              <p:nvSpPr>
                <p:cNvPr id="21" name="TextBox 20">
                  <a:extLst>
                    <a:ext uri="{FF2B5EF4-FFF2-40B4-BE49-F238E27FC236}">
                      <a16:creationId xmlns:a16="http://schemas.microsoft.com/office/drawing/2014/main" id="{2392236F-CF3F-5DE7-7BE8-4DCC9569D7DD}"/>
                    </a:ext>
                  </a:extLst>
                </p:cNvPr>
                <p:cNvSpPr txBox="1"/>
                <p:nvPr/>
              </p:nvSpPr>
              <p:spPr>
                <a:xfrm>
                  <a:off x="10090072" y="4933202"/>
                  <a:ext cx="1195148" cy="304699"/>
                </a:xfrm>
                <a:prstGeom prst="rect">
                  <a:avLst/>
                </a:prstGeom>
                <a:noFill/>
              </p:spPr>
              <p:txBody>
                <a:bodyPr wrap="square" anchor="ctr">
                  <a:spAutoFit/>
                </a:bodyPr>
                <a:lstStyle/>
                <a:p>
                  <a:pPr algn="r" rtl="1">
                    <a:lnSpc>
                      <a:spcPct val="115000"/>
                    </a:lnSpc>
                  </a:pPr>
                  <a:r>
                    <a:rPr sz="1200" b="1">
                      <a:solidFill>
                        <a:srgbClr val="6B6B6B"/>
                      </a:solidFill>
                      <a:latin typeface="Yekan Bakh"/>
                      <a:cs typeface="Yekan Bakh"/>
                    </a:rPr>
                    <a:t>۵. پس از فروش</a:t>
                  </a:r>
                </a:p>
              </p:txBody>
            </p:sp>
            <p:sp>
              <p:nvSpPr>
                <p:cNvPr id="22" name="TextBox 21">
                  <a:extLst>
                    <a:ext uri="{FF2B5EF4-FFF2-40B4-BE49-F238E27FC236}">
                      <a16:creationId xmlns:a16="http://schemas.microsoft.com/office/drawing/2014/main" id="{98B35F5D-61D9-26A7-091C-5CBFF5B87C09}"/>
                    </a:ext>
                  </a:extLst>
                </p:cNvPr>
                <p:cNvSpPr txBox="1"/>
                <p:nvPr/>
              </p:nvSpPr>
              <p:spPr>
                <a:xfrm>
                  <a:off x="8805553" y="5171670"/>
                  <a:ext cx="2479667" cy="278153"/>
                </a:xfrm>
                <a:prstGeom prst="rect">
                  <a:avLst/>
                </a:prstGeom>
                <a:noFill/>
              </p:spPr>
              <p:txBody>
                <a:bodyPr wrap="square" anchor="ctr">
                  <a:spAutoFit/>
                </a:bodyPr>
                <a:lstStyle/>
                <a:p>
                  <a:pPr algn="r" rtl="1">
                    <a:lnSpc>
                      <a:spcPct val="115000"/>
                    </a:lnSpc>
                  </a:pPr>
                  <a:r>
                    <a:rPr sz="1050" b="0">
                      <a:solidFill>
                        <a:srgbClr val="6B6B6B"/>
                      </a:solidFill>
                      <a:latin typeface="Yekan Bakh"/>
                      <a:cs typeface="Yekan Bakh"/>
                    </a:rPr>
                    <a:t>پشتیبانی و حفظ رابطه پس از خرید</a:t>
                  </a:r>
                </a:p>
              </p:txBody>
            </p:sp>
          </p:grpSp>
          <p:sp>
            <p:nvSpPr>
              <p:cNvPr id="28" name="Rectangle: Rounded Corners 27">
                <a:extLst>
                  <a:ext uri="{FF2B5EF4-FFF2-40B4-BE49-F238E27FC236}">
                    <a16:creationId xmlns:a16="http://schemas.microsoft.com/office/drawing/2014/main" id="{CCC57C6D-A328-6057-35B1-11F73F3634F0}"/>
                  </a:ext>
                </a:extLst>
              </p:cNvPr>
              <p:cNvSpPr/>
              <p:nvPr/>
            </p:nvSpPr>
            <p:spPr>
              <a:xfrm>
                <a:off x="10762706" y="4794963"/>
                <a:ext cx="155908" cy="448056"/>
              </a:xfrm>
              <a:prstGeom prst="roundRect">
                <a:avLst/>
              </a:prstGeom>
              <a:solidFill>
                <a:schemeClr val="bg1">
                  <a:lumMod val="65000"/>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grpSp>
      <p:sp>
        <p:nvSpPr>
          <p:cNvPr id="37" name="Rectangle: Rounded Corners 36">
            <a:extLst>
              <a:ext uri="{FF2B5EF4-FFF2-40B4-BE49-F238E27FC236}">
                <a16:creationId xmlns:a16="http://schemas.microsoft.com/office/drawing/2014/main" id="{EF0862AF-B3B8-C157-9E6D-B0793E007DD8}"/>
              </a:ext>
            </a:extLst>
          </p:cNvPr>
          <p:cNvSpPr/>
          <p:nvPr/>
        </p:nvSpPr>
        <p:spPr>
          <a:xfrm>
            <a:off x="8405021" y="5256496"/>
            <a:ext cx="2635576" cy="371734"/>
          </a:xfrm>
          <a:prstGeom prst="round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Low" rtl="1"/>
            <a:r>
              <a:rPr lang="fa-IR" sz="800" dirty="0">
                <a:latin typeface="Yekan Bakh" pitchFamily="2" charset="-78"/>
                <a:ea typeface="Yekan Bakh" pitchFamily="2" charset="-78"/>
                <a:cs typeface="Yekan Bakh" pitchFamily="2" charset="-78"/>
              </a:rPr>
              <a:t>فازهای ۴ و ۵ (رنگ خاکستری) به‌عمد در دامنه این بلوک نیستند. به بلوک آتی</a:t>
            </a:r>
            <a:r>
              <a:rPr lang="en-GB" sz="600" dirty="0">
                <a:latin typeface="Yekan Bakh" pitchFamily="2" charset="-78"/>
                <a:ea typeface="Yekan Bakh" pitchFamily="2" charset="-78"/>
                <a:cs typeface="Yekan Bakh" pitchFamily="2" charset="-78"/>
              </a:rPr>
              <a:t>Customer Relationships </a:t>
            </a:r>
            <a:r>
              <a:rPr lang="fa-IR" sz="600" dirty="0">
                <a:latin typeface="Yekan Bakh" pitchFamily="2" charset="-78"/>
                <a:ea typeface="Yekan Bakh" pitchFamily="2" charset="-78"/>
                <a:cs typeface="Yekan Bakh" pitchFamily="2" charset="-78"/>
              </a:rPr>
              <a:t> </a:t>
            </a:r>
            <a:r>
              <a:rPr lang="fa-IR" sz="800" dirty="0">
                <a:latin typeface="Yekan Bakh" pitchFamily="2" charset="-78"/>
                <a:ea typeface="Yekan Bakh" pitchFamily="2" charset="-78"/>
                <a:cs typeface="Yekan Bakh" pitchFamily="2" charset="-78"/>
              </a:rPr>
              <a:t>موکول شده‌اند.</a:t>
            </a:r>
          </a:p>
        </p:txBody>
      </p:sp>
      <p:sp>
        <p:nvSpPr>
          <p:cNvPr id="38" name="Rectangle: Rounded Corners 37">
            <a:extLst>
              <a:ext uri="{FF2B5EF4-FFF2-40B4-BE49-F238E27FC236}">
                <a16:creationId xmlns:a16="http://schemas.microsoft.com/office/drawing/2014/main" id="{9D99CD91-4AF9-E42A-5B34-E1E22CF598BC}"/>
              </a:ext>
            </a:extLst>
          </p:cNvPr>
          <p:cNvSpPr/>
          <p:nvPr/>
        </p:nvSpPr>
        <p:spPr>
          <a:xfrm>
            <a:off x="8283038" y="1397481"/>
            <a:ext cx="2879543" cy="4330459"/>
          </a:xfrm>
          <a:prstGeom prst="roundRect">
            <a:avLst>
              <a:gd name="adj" fmla="val 6182"/>
            </a:avLst>
          </a:prstGeom>
          <a:noFill/>
          <a:ln w="3175">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C5E1E6DD-533D-D76C-B709-DF9212B74CFD}"/>
              </a:ext>
            </a:extLst>
          </p:cNvPr>
          <p:cNvSpPr txBox="1"/>
          <p:nvPr/>
        </p:nvSpPr>
        <p:spPr>
          <a:xfrm>
            <a:off x="8698325" y="1243495"/>
            <a:ext cx="2048968" cy="304699"/>
          </a:xfrm>
          <a:prstGeom prst="rect">
            <a:avLst/>
          </a:prstGeom>
          <a:solidFill>
            <a:schemeClr val="bg1"/>
          </a:solidFill>
        </p:spPr>
        <p:txBody>
          <a:bodyPr wrap="square" anchor="t">
            <a:spAutoFit/>
          </a:bodyPr>
          <a:lstStyle/>
          <a:p>
            <a:pPr algn="ctr" rtl="1">
              <a:lnSpc>
                <a:spcPct val="115000"/>
              </a:lnSpc>
            </a:pPr>
            <a:r>
              <a:rPr sz="1200" b="1" dirty="0" err="1">
                <a:solidFill>
                  <a:srgbClr val="1E2761"/>
                </a:solidFill>
                <a:latin typeface="Yekan Bakh"/>
                <a:cs typeface="Yekan Bakh"/>
              </a:rPr>
              <a:t>مدل</a:t>
            </a:r>
            <a:r>
              <a:rPr sz="1200" b="1" dirty="0">
                <a:solidFill>
                  <a:srgbClr val="1E2761"/>
                </a:solidFill>
                <a:latin typeface="Yekan Bakh"/>
                <a:cs typeface="Yekan Bakh"/>
              </a:rPr>
              <a:t> ۵فازی </a:t>
            </a:r>
            <a:r>
              <a:rPr sz="1200" b="1" dirty="0" err="1">
                <a:solidFill>
                  <a:srgbClr val="1E2761"/>
                </a:solidFill>
                <a:latin typeface="Yekan Bakh"/>
                <a:cs typeface="Yekan Bakh"/>
              </a:rPr>
              <a:t>کانال</a:t>
            </a:r>
            <a:r>
              <a:rPr lang="fa-IR" sz="1200" b="1" dirty="0">
                <a:solidFill>
                  <a:srgbClr val="1E2761"/>
                </a:solidFill>
                <a:latin typeface="Yekan Bakh"/>
                <a:cs typeface="Yekan Bakh"/>
              </a:rPr>
              <a:t> مشتریان </a:t>
            </a:r>
            <a:endParaRPr sz="1200" b="1" dirty="0">
              <a:solidFill>
                <a:srgbClr val="1E2761"/>
              </a:solidFill>
              <a:latin typeface="Yekan Bakh"/>
              <a:cs typeface="Yekan Bakh"/>
            </a:endParaRPr>
          </a:p>
        </p:txBody>
      </p:sp>
      <p:graphicFrame>
        <p:nvGraphicFramePr>
          <p:cNvPr id="43" name="Table 42">
            <a:extLst>
              <a:ext uri="{FF2B5EF4-FFF2-40B4-BE49-F238E27FC236}">
                <a16:creationId xmlns:a16="http://schemas.microsoft.com/office/drawing/2014/main" id="{BBEED6BA-9378-242B-A243-417DD454708E}"/>
              </a:ext>
            </a:extLst>
          </p:cNvPr>
          <p:cNvGraphicFramePr>
            <a:graphicFrameLocks noGrp="1"/>
          </p:cNvGraphicFramePr>
          <p:nvPr>
            <p:extLst>
              <p:ext uri="{D42A27DB-BD31-4B8C-83A1-F6EECF244321}">
                <p14:modId xmlns:p14="http://schemas.microsoft.com/office/powerpoint/2010/main" val="2569699435"/>
              </p:ext>
            </p:extLst>
          </p:nvPr>
        </p:nvGraphicFramePr>
        <p:xfrm>
          <a:off x="961534" y="1636721"/>
          <a:ext cx="6730738" cy="4091217"/>
        </p:xfrm>
        <a:graphic>
          <a:graphicData uri="http://schemas.openxmlformats.org/drawingml/2006/table">
            <a:tbl>
              <a:tblPr firstRow="1" bandRow="1">
                <a:tableStyleId>{5C22544A-7EE6-4342-B048-85BDC9FD1C3A}</a:tableStyleId>
              </a:tblPr>
              <a:tblGrid>
                <a:gridCol w="4595481">
                  <a:extLst>
                    <a:ext uri="{9D8B030D-6E8A-4147-A177-3AD203B41FA5}">
                      <a16:colId xmlns:a16="http://schemas.microsoft.com/office/drawing/2014/main" val="2164560073"/>
                    </a:ext>
                  </a:extLst>
                </a:gridCol>
                <a:gridCol w="2135257">
                  <a:extLst>
                    <a:ext uri="{9D8B030D-6E8A-4147-A177-3AD203B41FA5}">
                      <a16:colId xmlns:a16="http://schemas.microsoft.com/office/drawing/2014/main" val="20000"/>
                    </a:ext>
                  </a:extLst>
                </a:gridCol>
              </a:tblGrid>
              <a:tr h="372393">
                <a:tc>
                  <a:txBody>
                    <a:bodyPr/>
                    <a:lstStyle/>
                    <a:p>
                      <a:pPr algn="r" rtl="1">
                        <a:lnSpc>
                          <a:spcPct val="105000"/>
                        </a:lnSpc>
                      </a:pPr>
                      <a:r>
                        <a:rPr sz="1100" b="1" dirty="0" err="1">
                          <a:solidFill>
                            <a:srgbClr val="FFFFFF"/>
                          </a:solidFill>
                          <a:latin typeface="Yekan Bakh"/>
                          <a:cs typeface="Yekan Bakh"/>
                        </a:rPr>
                        <a:t>نمونه</a:t>
                      </a:r>
                      <a:endParaRPr sz="1100" b="1" dirty="0">
                        <a:solidFill>
                          <a:srgbClr val="FFFFFF"/>
                        </a:solidFill>
                        <a:latin typeface="Yekan Bakh"/>
                        <a:cs typeface="Yekan Bakh"/>
                      </a:endParaRPr>
                    </a:p>
                  </a:txBody>
                  <a:tcPr marL="50800" marR="50800" marT="38100" marB="38100" anchor="ctr">
                    <a:solidFill>
                      <a:srgbClr val="1E2761"/>
                    </a:solidFill>
                  </a:tcPr>
                </a:tc>
                <a:tc>
                  <a:txBody>
                    <a:bodyPr/>
                    <a:lstStyle/>
                    <a:p>
                      <a:pPr algn="ctr" rtl="1">
                        <a:lnSpc>
                          <a:spcPct val="105000"/>
                        </a:lnSpc>
                      </a:pPr>
                      <a:r>
                        <a:rPr lang="fa-IR" sz="1100" b="1" dirty="0">
                          <a:solidFill>
                            <a:srgbClr val="FFFFFF"/>
                          </a:solidFill>
                          <a:latin typeface="Yekan Bakh"/>
                          <a:cs typeface="Yekan Bakh"/>
                        </a:rPr>
                        <a:t>نوع</a:t>
                      </a:r>
                      <a:endParaRPr sz="1100" b="1" dirty="0">
                        <a:solidFill>
                          <a:srgbClr val="FFFFFF"/>
                        </a:solidFill>
                        <a:latin typeface="Yekan Bakh"/>
                        <a:cs typeface="Yekan Bakh"/>
                      </a:endParaRPr>
                    </a:p>
                  </a:txBody>
                  <a:tcPr marL="50800" marR="50800" marT="38100" marB="38100" anchor="ctr">
                    <a:solidFill>
                      <a:srgbClr val="1E2761"/>
                    </a:solidFill>
                  </a:tcPr>
                </a:tc>
                <a:extLst>
                  <a:ext uri="{0D108BD9-81ED-4DB2-BD59-A6C34878D82A}">
                    <a16:rowId xmlns:a16="http://schemas.microsoft.com/office/drawing/2014/main" val="10000"/>
                  </a:ext>
                </a:extLst>
              </a:tr>
              <a:tr h="464853">
                <a:tc>
                  <a:txBody>
                    <a:bodyPr/>
                    <a:lstStyle/>
                    <a:p>
                      <a:pPr algn="r" rtl="1">
                        <a:lnSpc>
                          <a:spcPct val="105000"/>
                        </a:lnSpc>
                      </a:pPr>
                      <a:r>
                        <a:rPr sz="1050" b="0" dirty="0" err="1">
                          <a:solidFill>
                            <a:schemeClr val="tx1">
                              <a:lumMod val="65000"/>
                              <a:lumOff val="35000"/>
                            </a:schemeClr>
                          </a:solidFill>
                          <a:latin typeface="Yekan Bakh"/>
                          <a:cs typeface="Yekan Bakh"/>
                        </a:rPr>
                        <a:t>وب‌سایت</a:t>
                      </a:r>
                      <a:r>
                        <a:rPr sz="1050" b="0" dirty="0">
                          <a:solidFill>
                            <a:schemeClr val="tx1">
                              <a:lumMod val="65000"/>
                              <a:lumOff val="35000"/>
                            </a:schemeClr>
                          </a:solidFill>
                          <a:latin typeface="Yekan Bakh"/>
                          <a:cs typeface="Yekan Bakh"/>
                        </a:rPr>
                        <a:t>، </a:t>
                      </a:r>
                      <a:r>
                        <a:rPr sz="1050" b="0" dirty="0" err="1">
                          <a:solidFill>
                            <a:schemeClr val="tx1">
                              <a:lumMod val="65000"/>
                              <a:lumOff val="35000"/>
                            </a:schemeClr>
                          </a:solidFill>
                          <a:latin typeface="Yekan Bakh"/>
                          <a:cs typeface="Yekan Bakh"/>
                        </a:rPr>
                        <a:t>اپ</a:t>
                      </a:r>
                      <a:r>
                        <a:rPr sz="1050" b="0" dirty="0">
                          <a:solidFill>
                            <a:schemeClr val="tx1">
                              <a:lumMod val="65000"/>
                              <a:lumOff val="35000"/>
                            </a:schemeClr>
                          </a:solidFill>
                          <a:latin typeface="Yekan Bakh"/>
                          <a:cs typeface="Yekan Bakh"/>
                        </a:rPr>
                        <a:t>، </a:t>
                      </a:r>
                      <a:r>
                        <a:rPr sz="1050" b="0" dirty="0" err="1">
                          <a:solidFill>
                            <a:schemeClr val="tx1">
                              <a:lumMod val="65000"/>
                              <a:lumOff val="35000"/>
                            </a:schemeClr>
                          </a:solidFill>
                          <a:latin typeface="Yekan Bakh"/>
                          <a:cs typeface="Yekan Bakh"/>
                        </a:rPr>
                        <a:t>فروشگاه</a:t>
                      </a:r>
                      <a:r>
                        <a:rPr sz="1050" b="0" dirty="0">
                          <a:solidFill>
                            <a:schemeClr val="tx1">
                              <a:lumMod val="65000"/>
                              <a:lumOff val="35000"/>
                            </a:schemeClr>
                          </a:solidFill>
                          <a:latin typeface="Yekan Bakh"/>
                          <a:cs typeface="Yekan Bakh"/>
                        </a:rPr>
                        <a:t>، </a:t>
                      </a:r>
                      <a:r>
                        <a:rPr sz="1050" b="0" dirty="0" err="1">
                          <a:solidFill>
                            <a:schemeClr val="tx1">
                              <a:lumMod val="65000"/>
                              <a:lumOff val="35000"/>
                            </a:schemeClr>
                          </a:solidFill>
                          <a:latin typeface="Yekan Bakh"/>
                          <a:cs typeface="Yekan Bakh"/>
                        </a:rPr>
                        <a:t>تیم</a:t>
                      </a:r>
                      <a:r>
                        <a:rPr sz="1050" b="0" dirty="0">
                          <a:solidFill>
                            <a:schemeClr val="tx1">
                              <a:lumMod val="65000"/>
                              <a:lumOff val="35000"/>
                            </a:schemeClr>
                          </a:solidFill>
                          <a:latin typeface="Yekan Bakh"/>
                          <a:cs typeface="Yekan Bakh"/>
                        </a:rPr>
                        <a:t> </a:t>
                      </a:r>
                      <a:r>
                        <a:rPr sz="1050" b="0" dirty="0" err="1">
                          <a:solidFill>
                            <a:schemeClr val="tx1">
                              <a:lumMod val="65000"/>
                              <a:lumOff val="35000"/>
                            </a:schemeClr>
                          </a:solidFill>
                          <a:latin typeface="Yekan Bakh"/>
                          <a:cs typeface="Yekan Bakh"/>
                        </a:rPr>
                        <a:t>فروش</a:t>
                      </a:r>
                      <a:endParaRPr sz="1050" b="0" dirty="0">
                        <a:solidFill>
                          <a:schemeClr val="tx1">
                            <a:lumMod val="65000"/>
                            <a:lumOff val="35000"/>
                          </a:schemeClr>
                        </a:solidFill>
                        <a:latin typeface="Yekan Bakh"/>
                        <a:cs typeface="Yekan Bakh"/>
                      </a:endParaRPr>
                    </a:p>
                  </a:txBody>
                  <a:tcPr marL="50800" marR="50800" marT="38100" marB="38100" anchor="ctr">
                    <a:solidFill>
                      <a:srgbClr val="FFFFFF"/>
                    </a:solidFill>
                  </a:tcPr>
                </a:tc>
                <a:tc>
                  <a:txBody>
                    <a:bodyPr/>
                    <a:lstStyle/>
                    <a:p>
                      <a:pPr algn="ctr" rtl="1">
                        <a:lnSpc>
                          <a:spcPct val="105000"/>
                        </a:lnSpc>
                      </a:pPr>
                      <a:r>
                        <a:rPr lang="fa-IR" sz="1050" b="1" dirty="0">
                          <a:solidFill>
                            <a:srgbClr val="00406C"/>
                          </a:solidFill>
                          <a:latin typeface="Yekan Bakh"/>
                          <a:cs typeface="Yekan Bakh"/>
                        </a:rPr>
                        <a:t>کانال تحت مالکیت </a:t>
                      </a:r>
                      <a:endParaRPr sz="1050" b="1" dirty="0">
                        <a:solidFill>
                          <a:srgbClr val="00406C"/>
                        </a:solidFill>
                        <a:latin typeface="Yekan Bakh"/>
                        <a:cs typeface="Yekan Bakh"/>
                      </a:endParaRPr>
                    </a:p>
                  </a:txBody>
                  <a:tcPr marL="50800" marR="50800" marT="38100" marB="38100" anchor="ctr">
                    <a:solidFill>
                      <a:srgbClr val="FFFFFF"/>
                    </a:solidFill>
                  </a:tcPr>
                </a:tc>
                <a:extLst>
                  <a:ext uri="{0D108BD9-81ED-4DB2-BD59-A6C34878D82A}">
                    <a16:rowId xmlns:a16="http://schemas.microsoft.com/office/drawing/2014/main" val="10001"/>
                  </a:ext>
                </a:extLst>
              </a:tr>
              <a:tr h="464853">
                <a:tc>
                  <a:txBody>
                    <a:bodyPr/>
                    <a:lstStyle/>
                    <a:p>
                      <a:pPr algn="r" rtl="1">
                        <a:lnSpc>
                          <a:spcPct val="105000"/>
                        </a:lnSpc>
                      </a:pPr>
                      <a:r>
                        <a:rPr sz="1050" b="0">
                          <a:solidFill>
                            <a:schemeClr val="tx1">
                              <a:lumMod val="65000"/>
                              <a:lumOff val="35000"/>
                            </a:schemeClr>
                          </a:solidFill>
                          <a:latin typeface="Yekan Bakh"/>
                          <a:cs typeface="Yekan Bakh"/>
                        </a:rPr>
                        <a:t>نماینده، </a:t>
                      </a:r>
                      <a:r>
                        <a:rPr lang="fa-IR" sz="1050" b="0">
                          <a:solidFill>
                            <a:schemeClr val="tx1">
                              <a:lumMod val="65000"/>
                              <a:lumOff val="35000"/>
                            </a:schemeClr>
                          </a:solidFill>
                          <a:latin typeface="Yekan Bakh"/>
                          <a:cs typeface="Yekan Bakh"/>
                        </a:rPr>
                        <a:t>توزیع‌کننده</a:t>
                      </a:r>
                      <a:r>
                        <a:rPr sz="1050" b="0">
                          <a:solidFill>
                            <a:schemeClr val="tx1">
                              <a:lumMod val="65000"/>
                              <a:lumOff val="35000"/>
                            </a:schemeClr>
                          </a:solidFill>
                          <a:latin typeface="Yekan Bakh"/>
                          <a:cs typeface="Yekan Bakh"/>
                        </a:rPr>
                        <a:t>، </a:t>
                      </a:r>
                      <a:r>
                        <a:rPr lang="fa-IR" sz="1050" b="0">
                          <a:solidFill>
                            <a:schemeClr val="tx1">
                              <a:lumMod val="65000"/>
                              <a:lumOff val="35000"/>
                            </a:schemeClr>
                          </a:solidFill>
                          <a:latin typeface="Yekan Bakh"/>
                          <a:cs typeface="Yekan Bakh"/>
                        </a:rPr>
                        <a:t>خرده‌فروشان </a:t>
                      </a:r>
                      <a:endParaRPr sz="1050" b="0">
                        <a:solidFill>
                          <a:schemeClr val="tx1">
                            <a:lumMod val="65000"/>
                            <a:lumOff val="35000"/>
                          </a:schemeClr>
                        </a:solidFill>
                        <a:latin typeface="Yekan Bakh"/>
                        <a:cs typeface="Yekan Bakh"/>
                      </a:endParaRPr>
                    </a:p>
                  </a:txBody>
                  <a:tcPr marL="50800" marR="50800" marT="38100" marB="38100" anchor="ctr">
                    <a:solidFill>
                      <a:srgbClr val="F2F2F2"/>
                    </a:solidFill>
                  </a:tcPr>
                </a:tc>
                <a:tc>
                  <a:txBody>
                    <a:bodyPr/>
                    <a:lstStyle/>
                    <a:p>
                      <a:pPr algn="ctr" rtl="1">
                        <a:lnSpc>
                          <a:spcPct val="105000"/>
                        </a:lnSpc>
                      </a:pPr>
                      <a:r>
                        <a:rPr lang="fa-IR" sz="1050" b="1" dirty="0">
                          <a:solidFill>
                            <a:srgbClr val="00406C"/>
                          </a:solidFill>
                          <a:latin typeface="Yekan Bakh"/>
                          <a:cs typeface="Yekan Bakh"/>
                        </a:rPr>
                        <a:t>کانال بیرونی </a:t>
                      </a:r>
                      <a:endParaRPr sz="1050" b="1" dirty="0">
                        <a:solidFill>
                          <a:srgbClr val="00406C"/>
                        </a:solidFill>
                        <a:latin typeface="Yekan Bakh"/>
                        <a:cs typeface="Yekan Bakh"/>
                      </a:endParaRPr>
                    </a:p>
                  </a:txBody>
                  <a:tcPr marL="50800" marR="50800" marT="38100" marB="38100" anchor="ctr">
                    <a:solidFill>
                      <a:srgbClr val="F2F2F2"/>
                    </a:solidFill>
                  </a:tcPr>
                </a:tc>
                <a:extLst>
                  <a:ext uri="{0D108BD9-81ED-4DB2-BD59-A6C34878D82A}">
                    <a16:rowId xmlns:a16="http://schemas.microsoft.com/office/drawing/2014/main" val="10002"/>
                  </a:ext>
                </a:extLst>
              </a:tr>
              <a:tr h="464853">
                <a:tc>
                  <a:txBody>
                    <a:bodyPr/>
                    <a:lstStyle/>
                    <a:p>
                      <a:pPr algn="r" rtl="1">
                        <a:lnSpc>
                          <a:spcPct val="105000"/>
                        </a:lnSpc>
                      </a:pPr>
                      <a:r>
                        <a:rPr sz="1050" b="0" dirty="0" err="1">
                          <a:solidFill>
                            <a:schemeClr val="tx1">
                              <a:lumMod val="65000"/>
                              <a:lumOff val="35000"/>
                            </a:schemeClr>
                          </a:solidFill>
                          <a:latin typeface="Yekan Bakh"/>
                          <a:cs typeface="Yekan Bakh"/>
                        </a:rPr>
                        <a:t>تبلیغات</a:t>
                      </a:r>
                      <a:r>
                        <a:rPr sz="1050" b="0" dirty="0">
                          <a:solidFill>
                            <a:schemeClr val="tx1">
                              <a:lumMod val="65000"/>
                              <a:lumOff val="35000"/>
                            </a:schemeClr>
                          </a:solidFill>
                          <a:latin typeface="Yekan Bakh"/>
                          <a:cs typeface="Yekan Bakh"/>
                        </a:rPr>
                        <a:t>، </a:t>
                      </a:r>
                      <a:r>
                        <a:rPr lang="fa-IR" sz="1050" b="0" dirty="0">
                          <a:solidFill>
                            <a:schemeClr val="tx1">
                              <a:lumMod val="65000"/>
                              <a:lumOff val="35000"/>
                            </a:schemeClr>
                          </a:solidFill>
                          <a:latin typeface="Yekan Bakh"/>
                          <a:cs typeface="Yekan Bakh"/>
                        </a:rPr>
                        <a:t>اینفلوئنسر</a:t>
                      </a:r>
                      <a:r>
                        <a:rPr sz="1050" b="0" dirty="0">
                          <a:solidFill>
                            <a:schemeClr val="tx1">
                              <a:lumMod val="65000"/>
                              <a:lumOff val="35000"/>
                            </a:schemeClr>
                          </a:solidFill>
                          <a:latin typeface="Yekan Bakh"/>
                          <a:cs typeface="Yekan Bakh"/>
                        </a:rPr>
                        <a:t>، </a:t>
                      </a:r>
                      <a:r>
                        <a:rPr lang="fa-IR" sz="1050" b="0" dirty="0">
                          <a:solidFill>
                            <a:schemeClr val="tx1">
                              <a:lumMod val="65000"/>
                              <a:lumOff val="35000"/>
                            </a:schemeClr>
                          </a:solidFill>
                          <a:latin typeface="Yekan Bakh"/>
                          <a:cs typeface="Yekan Bakh"/>
                        </a:rPr>
                        <a:t>اسپانسر </a:t>
                      </a:r>
                      <a:endParaRPr sz="1050" b="0" dirty="0">
                        <a:solidFill>
                          <a:schemeClr val="tx1">
                            <a:lumMod val="65000"/>
                            <a:lumOff val="35000"/>
                          </a:schemeClr>
                        </a:solidFill>
                        <a:latin typeface="Yekan Bakh"/>
                        <a:cs typeface="Yekan Bakh"/>
                      </a:endParaRPr>
                    </a:p>
                  </a:txBody>
                  <a:tcPr marL="50800" marR="50800" marT="38100" marB="38100" anchor="ctr">
                    <a:solidFill>
                      <a:srgbClr val="FFFFFF"/>
                    </a:solidFill>
                  </a:tcPr>
                </a:tc>
                <a:tc>
                  <a:txBody>
                    <a:bodyPr/>
                    <a:lstStyle/>
                    <a:p>
                      <a:pPr algn="ctr" rtl="1">
                        <a:lnSpc>
                          <a:spcPct val="105000"/>
                        </a:lnSpc>
                      </a:pPr>
                      <a:r>
                        <a:rPr lang="fa-IR" sz="1050" b="1" dirty="0">
                          <a:solidFill>
                            <a:srgbClr val="00406C"/>
                          </a:solidFill>
                          <a:latin typeface="Yekan Bakh"/>
                          <a:cs typeface="Yekan Bakh"/>
                        </a:rPr>
                        <a:t>کانال پولی</a:t>
                      </a:r>
                      <a:endParaRPr sz="1050" b="1" dirty="0">
                        <a:solidFill>
                          <a:srgbClr val="00406C"/>
                        </a:solidFill>
                        <a:latin typeface="Yekan Bakh"/>
                        <a:cs typeface="Yekan Bakh"/>
                      </a:endParaRPr>
                    </a:p>
                  </a:txBody>
                  <a:tcPr marL="50800" marR="50800" marT="38100" marB="38100" anchor="ctr">
                    <a:solidFill>
                      <a:srgbClr val="FFFFFF"/>
                    </a:solidFill>
                  </a:tcPr>
                </a:tc>
                <a:extLst>
                  <a:ext uri="{0D108BD9-81ED-4DB2-BD59-A6C34878D82A}">
                    <a16:rowId xmlns:a16="http://schemas.microsoft.com/office/drawing/2014/main" val="10003"/>
                  </a:ext>
                </a:extLst>
              </a:tr>
              <a:tr h="464853">
                <a:tc>
                  <a:txBody>
                    <a:bodyPr/>
                    <a:lstStyle/>
                    <a:p>
                      <a:pPr algn="r" rtl="1">
                        <a:lnSpc>
                          <a:spcPct val="105000"/>
                        </a:lnSpc>
                      </a:pPr>
                      <a:r>
                        <a:rPr lang="fa-IR" sz="1050" b="0" dirty="0">
                          <a:solidFill>
                            <a:schemeClr val="tx1">
                              <a:lumMod val="65000"/>
                              <a:lumOff val="35000"/>
                            </a:schemeClr>
                          </a:solidFill>
                          <a:latin typeface="Yekan Bakh"/>
                          <a:cs typeface="Yekan Bakh"/>
                        </a:rPr>
                        <a:t>معرفی توسط دیگران</a:t>
                      </a:r>
                      <a:r>
                        <a:rPr sz="1050" b="0" dirty="0">
                          <a:solidFill>
                            <a:schemeClr val="tx1">
                              <a:lumMod val="65000"/>
                              <a:lumOff val="35000"/>
                            </a:schemeClr>
                          </a:solidFill>
                          <a:latin typeface="Yekan Bakh"/>
                          <a:cs typeface="Yekan Bakh"/>
                        </a:rPr>
                        <a:t>، </a:t>
                      </a:r>
                      <a:r>
                        <a:rPr lang="fa-IR" sz="1050" b="0" dirty="0">
                          <a:solidFill>
                            <a:schemeClr val="tx1">
                              <a:lumMod val="65000"/>
                              <a:lumOff val="35000"/>
                            </a:schemeClr>
                          </a:solidFill>
                          <a:latin typeface="Yekan Bakh"/>
                          <a:cs typeface="Yekan Bakh"/>
                        </a:rPr>
                        <a:t>برند شاخص</a:t>
                      </a:r>
                      <a:r>
                        <a:rPr sz="1050" b="0" dirty="0">
                          <a:solidFill>
                            <a:schemeClr val="tx1">
                              <a:lumMod val="65000"/>
                              <a:lumOff val="35000"/>
                            </a:schemeClr>
                          </a:solidFill>
                          <a:latin typeface="Yekan Bakh"/>
                          <a:cs typeface="Yekan Bakh"/>
                        </a:rPr>
                        <a:t>، </a:t>
                      </a:r>
                      <a:r>
                        <a:rPr lang="fa-IR" sz="1050" b="0" dirty="0">
                          <a:solidFill>
                            <a:schemeClr val="tx1">
                              <a:lumMod val="65000"/>
                              <a:lumOff val="35000"/>
                            </a:schemeClr>
                          </a:solidFill>
                          <a:latin typeface="Yekan Bakh"/>
                          <a:cs typeface="Yekan Bakh"/>
                        </a:rPr>
                        <a:t>روابط عمومی</a:t>
                      </a:r>
                      <a:endParaRPr sz="1050" b="0" dirty="0">
                        <a:solidFill>
                          <a:schemeClr val="tx1">
                            <a:lumMod val="65000"/>
                            <a:lumOff val="35000"/>
                          </a:schemeClr>
                        </a:solidFill>
                        <a:latin typeface="Yekan Bakh"/>
                        <a:cs typeface="Yekan Bakh"/>
                      </a:endParaRPr>
                    </a:p>
                  </a:txBody>
                  <a:tcPr marL="50800" marR="50800" marT="38100" marB="38100" anchor="ctr">
                    <a:solidFill>
                      <a:srgbClr val="F2F2F2"/>
                    </a:solidFill>
                  </a:tcPr>
                </a:tc>
                <a:tc>
                  <a:txBody>
                    <a:bodyPr/>
                    <a:lstStyle/>
                    <a:p>
                      <a:pPr algn="ctr" rtl="1">
                        <a:lnSpc>
                          <a:spcPct val="105000"/>
                        </a:lnSpc>
                      </a:pPr>
                      <a:r>
                        <a:rPr lang="fa-IR" sz="1050" b="1" dirty="0">
                          <a:solidFill>
                            <a:srgbClr val="00406C"/>
                          </a:solidFill>
                          <a:latin typeface="Yekan Bakh"/>
                          <a:cs typeface="Yekan Bakh"/>
                        </a:rPr>
                        <a:t>کانال اعتباری</a:t>
                      </a:r>
                      <a:endParaRPr sz="1050" b="1" dirty="0">
                        <a:solidFill>
                          <a:srgbClr val="00406C"/>
                        </a:solidFill>
                        <a:latin typeface="Yekan Bakh"/>
                        <a:cs typeface="Yekan Bakh"/>
                      </a:endParaRPr>
                    </a:p>
                  </a:txBody>
                  <a:tcPr marL="50800" marR="50800" marT="38100" marB="38100" anchor="ctr">
                    <a:solidFill>
                      <a:srgbClr val="F2F2F2"/>
                    </a:solidFill>
                  </a:tcPr>
                </a:tc>
                <a:extLst>
                  <a:ext uri="{0D108BD9-81ED-4DB2-BD59-A6C34878D82A}">
                    <a16:rowId xmlns:a16="http://schemas.microsoft.com/office/drawing/2014/main" val="10004"/>
                  </a:ext>
                </a:extLst>
              </a:tr>
              <a:tr h="464853">
                <a:tc>
                  <a:txBody>
                    <a:bodyPr/>
                    <a:lstStyle/>
                    <a:p>
                      <a:pPr algn="r" rtl="1">
                        <a:lnSpc>
                          <a:spcPct val="105000"/>
                        </a:lnSpc>
                      </a:pPr>
                      <a:r>
                        <a:rPr lang="fa-IR" sz="1050" b="0">
                          <a:solidFill>
                            <a:schemeClr val="tx1">
                              <a:lumMod val="65000"/>
                              <a:lumOff val="35000"/>
                            </a:schemeClr>
                          </a:solidFill>
                          <a:latin typeface="Yekan Bakh"/>
                          <a:cs typeface="Yekan Bakh"/>
                        </a:rPr>
                        <a:t>وبسایت</a:t>
                      </a:r>
                      <a:r>
                        <a:rPr sz="1050" b="0">
                          <a:solidFill>
                            <a:schemeClr val="tx1">
                              <a:lumMod val="65000"/>
                              <a:lumOff val="35000"/>
                            </a:schemeClr>
                          </a:solidFill>
                          <a:latin typeface="Yekan Bakh"/>
                          <a:cs typeface="Yekan Bakh"/>
                        </a:rPr>
                        <a:t>، </a:t>
                      </a:r>
                      <a:r>
                        <a:rPr lang="fa-IR" sz="1050" b="0">
                          <a:solidFill>
                            <a:schemeClr val="tx1">
                              <a:lumMod val="65000"/>
                              <a:lumOff val="35000"/>
                            </a:schemeClr>
                          </a:solidFill>
                          <a:latin typeface="Yekan Bakh"/>
                          <a:cs typeface="Yekan Bakh"/>
                        </a:rPr>
                        <a:t>اپلیکیشن</a:t>
                      </a:r>
                      <a:r>
                        <a:rPr sz="1050" b="0">
                          <a:solidFill>
                            <a:schemeClr val="tx1">
                              <a:lumMod val="65000"/>
                              <a:lumOff val="35000"/>
                            </a:schemeClr>
                          </a:solidFill>
                          <a:latin typeface="Yekan Bakh"/>
                          <a:cs typeface="Yekan Bakh"/>
                        </a:rPr>
                        <a:t>، </a:t>
                      </a:r>
                      <a:r>
                        <a:rPr lang="fa-IR" sz="1050" b="0">
                          <a:solidFill>
                            <a:schemeClr val="tx1">
                              <a:lumMod val="65000"/>
                              <a:lumOff val="35000"/>
                            </a:schemeClr>
                          </a:solidFill>
                          <a:latin typeface="Yekan Bakh"/>
                          <a:cs typeface="Yekan Bakh"/>
                        </a:rPr>
                        <a:t>فضای مجازی</a:t>
                      </a:r>
                      <a:r>
                        <a:rPr sz="1050" b="0">
                          <a:solidFill>
                            <a:schemeClr val="tx1">
                              <a:lumMod val="65000"/>
                              <a:lumOff val="35000"/>
                            </a:schemeClr>
                          </a:solidFill>
                          <a:latin typeface="Yekan Bakh"/>
                          <a:cs typeface="Yekan Bakh"/>
                        </a:rPr>
                        <a:t>، </a:t>
                      </a:r>
                      <a:r>
                        <a:rPr lang="fa-IR" sz="1050" b="0">
                          <a:solidFill>
                            <a:schemeClr val="tx1">
                              <a:lumMod val="65000"/>
                              <a:lumOff val="35000"/>
                            </a:schemeClr>
                          </a:solidFill>
                          <a:latin typeface="Yekan Bakh"/>
                          <a:cs typeface="Yekan Bakh"/>
                        </a:rPr>
                        <a:t>پلتفرم‌ها و مارکت‌پلیس</a:t>
                      </a:r>
                      <a:endParaRPr sz="1050" b="0">
                        <a:solidFill>
                          <a:schemeClr val="tx1">
                            <a:lumMod val="65000"/>
                            <a:lumOff val="35000"/>
                          </a:schemeClr>
                        </a:solidFill>
                        <a:latin typeface="Yekan Bakh"/>
                        <a:cs typeface="Yekan Bakh"/>
                      </a:endParaRPr>
                    </a:p>
                  </a:txBody>
                  <a:tcPr marL="50800" marR="50800" marT="38100" marB="38100" anchor="ctr">
                    <a:solidFill>
                      <a:srgbClr val="FFFFFF"/>
                    </a:solidFill>
                  </a:tcPr>
                </a:tc>
                <a:tc>
                  <a:txBody>
                    <a:bodyPr/>
                    <a:lstStyle/>
                    <a:p>
                      <a:pPr algn="ctr" rtl="1">
                        <a:lnSpc>
                          <a:spcPct val="105000"/>
                        </a:lnSpc>
                      </a:pPr>
                      <a:r>
                        <a:rPr lang="fa-IR" sz="1050" b="1" kern="1200" dirty="0">
                          <a:solidFill>
                            <a:srgbClr val="00406C"/>
                          </a:solidFill>
                          <a:latin typeface="Yekan Bakh"/>
                          <a:ea typeface="+mn-ea"/>
                          <a:cs typeface="Yekan Bakh"/>
                        </a:rPr>
                        <a:t>کانال‌ دیجیتال</a:t>
                      </a:r>
                    </a:p>
                  </a:txBody>
                  <a:tcPr marL="50800" marR="50800" marT="38100" marB="38100" anchor="ctr">
                    <a:solidFill>
                      <a:srgbClr val="FFFFFF"/>
                    </a:solidFill>
                  </a:tcPr>
                </a:tc>
                <a:extLst>
                  <a:ext uri="{0D108BD9-81ED-4DB2-BD59-A6C34878D82A}">
                    <a16:rowId xmlns:a16="http://schemas.microsoft.com/office/drawing/2014/main" val="10005"/>
                  </a:ext>
                </a:extLst>
              </a:tr>
              <a:tr h="464853">
                <a:tc>
                  <a:txBody>
                    <a:bodyPr/>
                    <a:lstStyle/>
                    <a:p>
                      <a:pPr algn="r" rtl="1">
                        <a:lnSpc>
                          <a:spcPct val="105000"/>
                        </a:lnSpc>
                      </a:pPr>
                      <a:r>
                        <a:rPr lang="fa-IR" sz="1050" b="0" dirty="0">
                          <a:solidFill>
                            <a:schemeClr val="tx1">
                              <a:lumMod val="65000"/>
                              <a:lumOff val="35000"/>
                            </a:schemeClr>
                          </a:solidFill>
                          <a:latin typeface="Yekan Bakh"/>
                          <a:cs typeface="Yekan Bakh"/>
                        </a:rPr>
                        <a:t>فروشگاه</a:t>
                      </a:r>
                      <a:r>
                        <a:rPr sz="1050" b="0" dirty="0">
                          <a:solidFill>
                            <a:schemeClr val="tx1">
                              <a:lumMod val="65000"/>
                              <a:lumOff val="35000"/>
                            </a:schemeClr>
                          </a:solidFill>
                          <a:latin typeface="Yekan Bakh"/>
                          <a:cs typeface="Yekan Bakh"/>
                        </a:rPr>
                        <a:t>، </a:t>
                      </a:r>
                      <a:r>
                        <a:rPr lang="fa-IR" sz="1050" b="0" dirty="0">
                          <a:solidFill>
                            <a:schemeClr val="tx1">
                              <a:lumMod val="65000"/>
                              <a:lumOff val="35000"/>
                            </a:schemeClr>
                          </a:solidFill>
                          <a:latin typeface="Yekan Bakh"/>
                          <a:cs typeface="Yekan Bakh"/>
                        </a:rPr>
                        <a:t>شعب</a:t>
                      </a:r>
                      <a:r>
                        <a:rPr sz="1050" b="0" dirty="0">
                          <a:solidFill>
                            <a:schemeClr val="tx1">
                              <a:lumMod val="65000"/>
                              <a:lumOff val="35000"/>
                            </a:schemeClr>
                          </a:solidFill>
                          <a:latin typeface="Yekan Bakh"/>
                          <a:cs typeface="Yekan Bakh"/>
                        </a:rPr>
                        <a:t>، </a:t>
                      </a:r>
                      <a:r>
                        <a:rPr lang="fa-IR" sz="1050" b="0" dirty="0">
                          <a:solidFill>
                            <a:schemeClr val="tx1">
                              <a:lumMod val="65000"/>
                              <a:lumOff val="35000"/>
                            </a:schemeClr>
                          </a:solidFill>
                          <a:latin typeface="Yekan Bakh"/>
                          <a:cs typeface="Yekan Bakh"/>
                        </a:rPr>
                        <a:t>سازمان فروش</a:t>
                      </a:r>
                      <a:r>
                        <a:rPr sz="1050" b="0" dirty="0">
                          <a:solidFill>
                            <a:schemeClr val="tx1">
                              <a:lumMod val="65000"/>
                              <a:lumOff val="35000"/>
                            </a:schemeClr>
                          </a:solidFill>
                          <a:latin typeface="Yekan Bakh"/>
                          <a:cs typeface="Yekan Bakh"/>
                        </a:rPr>
                        <a:t>، </a:t>
                      </a:r>
                      <a:r>
                        <a:rPr lang="fa-IR" sz="1050" b="0" dirty="0">
                          <a:solidFill>
                            <a:schemeClr val="tx1">
                              <a:lumMod val="65000"/>
                              <a:lumOff val="35000"/>
                            </a:schemeClr>
                          </a:solidFill>
                          <a:latin typeface="Yekan Bakh"/>
                          <a:cs typeface="Yekan Bakh"/>
                        </a:rPr>
                        <a:t>رویدادها و نمایشگاه‌ها </a:t>
                      </a:r>
                      <a:endParaRPr sz="1050" b="0" dirty="0">
                        <a:solidFill>
                          <a:schemeClr val="tx1">
                            <a:lumMod val="65000"/>
                            <a:lumOff val="35000"/>
                          </a:schemeClr>
                        </a:solidFill>
                        <a:latin typeface="Yekan Bakh"/>
                        <a:cs typeface="Yekan Bakh"/>
                      </a:endParaRPr>
                    </a:p>
                  </a:txBody>
                  <a:tcPr marL="50800" marR="50800" marT="38100" marB="38100" anchor="ctr">
                    <a:solidFill>
                      <a:srgbClr val="F2F2F2"/>
                    </a:solidFill>
                  </a:tcPr>
                </a:tc>
                <a:tc>
                  <a:txBody>
                    <a:bodyPr/>
                    <a:lstStyle/>
                    <a:p>
                      <a:pPr algn="ctr" rtl="1">
                        <a:lnSpc>
                          <a:spcPct val="105000"/>
                        </a:lnSpc>
                      </a:pPr>
                      <a:r>
                        <a:rPr lang="fa-IR" sz="1050" b="1" kern="1200" dirty="0">
                          <a:solidFill>
                            <a:srgbClr val="00406C"/>
                          </a:solidFill>
                          <a:latin typeface="Yekan Bakh"/>
                          <a:ea typeface="+mn-ea"/>
                          <a:cs typeface="Yekan Bakh"/>
                        </a:rPr>
                        <a:t>کانال حضوری </a:t>
                      </a:r>
                      <a:endParaRPr sz="1050" b="1" kern="1200" dirty="0">
                        <a:solidFill>
                          <a:srgbClr val="00406C"/>
                        </a:solidFill>
                        <a:latin typeface="Yekan Bakh"/>
                        <a:ea typeface="+mn-ea"/>
                        <a:cs typeface="Yekan Bakh"/>
                      </a:endParaRPr>
                    </a:p>
                  </a:txBody>
                  <a:tcPr marL="50800" marR="50800" marT="38100" marB="38100" anchor="ctr">
                    <a:solidFill>
                      <a:srgbClr val="F2F2F2"/>
                    </a:solidFill>
                  </a:tcPr>
                </a:tc>
                <a:extLst>
                  <a:ext uri="{0D108BD9-81ED-4DB2-BD59-A6C34878D82A}">
                    <a16:rowId xmlns:a16="http://schemas.microsoft.com/office/drawing/2014/main" val="10006"/>
                  </a:ext>
                </a:extLst>
              </a:tr>
              <a:tr h="464853">
                <a:tc>
                  <a:txBody>
                    <a:bodyPr/>
                    <a:lstStyle/>
                    <a:p>
                      <a:pPr algn="r" rtl="1">
                        <a:lnSpc>
                          <a:spcPct val="105000"/>
                        </a:lnSpc>
                      </a:pPr>
                      <a:r>
                        <a:rPr lang="fa-IR" sz="1050" b="0" dirty="0">
                          <a:solidFill>
                            <a:schemeClr val="tx1">
                              <a:lumMod val="65000"/>
                              <a:lumOff val="35000"/>
                            </a:schemeClr>
                          </a:solidFill>
                          <a:latin typeface="Yekan Bakh"/>
                          <a:cs typeface="Yekan Bakh"/>
                        </a:rPr>
                        <a:t>ایجنت فروش</a:t>
                      </a:r>
                      <a:r>
                        <a:rPr sz="1050" b="0" dirty="0">
                          <a:solidFill>
                            <a:schemeClr val="tx1">
                              <a:lumMod val="65000"/>
                              <a:lumOff val="35000"/>
                            </a:schemeClr>
                          </a:solidFill>
                          <a:latin typeface="Yekan Bakh"/>
                          <a:cs typeface="Yekan Bakh"/>
                        </a:rPr>
                        <a:t>، </a:t>
                      </a:r>
                      <a:r>
                        <a:rPr lang="fa-IR" sz="1050" b="0" dirty="0">
                          <a:solidFill>
                            <a:schemeClr val="tx1">
                              <a:lumMod val="65000"/>
                              <a:lumOff val="35000"/>
                            </a:schemeClr>
                          </a:solidFill>
                          <a:latin typeface="Yekan Bakh"/>
                          <a:cs typeface="Yekan Bakh"/>
                        </a:rPr>
                        <a:t>مدیر اکانت</a:t>
                      </a:r>
                      <a:r>
                        <a:rPr sz="1050" b="0" dirty="0">
                          <a:solidFill>
                            <a:schemeClr val="tx1">
                              <a:lumMod val="65000"/>
                              <a:lumOff val="35000"/>
                            </a:schemeClr>
                          </a:solidFill>
                          <a:latin typeface="Yekan Bakh"/>
                          <a:cs typeface="Yekan Bakh"/>
                        </a:rPr>
                        <a:t>، </a:t>
                      </a:r>
                      <a:r>
                        <a:rPr lang="fa-IR" sz="1050" b="0" dirty="0">
                          <a:solidFill>
                            <a:schemeClr val="tx1">
                              <a:lumMod val="65000"/>
                              <a:lumOff val="35000"/>
                            </a:schemeClr>
                          </a:solidFill>
                          <a:latin typeface="Yekan Bakh"/>
                          <a:cs typeface="Yekan Bakh"/>
                        </a:rPr>
                        <a:t>تماس با مشتری </a:t>
                      </a:r>
                      <a:endParaRPr sz="1050" b="0" dirty="0">
                        <a:solidFill>
                          <a:schemeClr val="tx1">
                            <a:lumMod val="65000"/>
                            <a:lumOff val="35000"/>
                          </a:schemeClr>
                        </a:solidFill>
                        <a:latin typeface="Yekan Bakh"/>
                        <a:cs typeface="Yekan Bakh"/>
                      </a:endParaRPr>
                    </a:p>
                  </a:txBody>
                  <a:tcPr marL="50800" marR="50800" marT="38100" marB="38100" anchor="ctr">
                    <a:solidFill>
                      <a:srgbClr val="FFFFFF"/>
                    </a:solidFill>
                  </a:tcPr>
                </a:tc>
                <a:tc>
                  <a:txBody>
                    <a:bodyPr/>
                    <a:lstStyle/>
                    <a:p>
                      <a:pPr algn="ctr" rtl="1">
                        <a:lnSpc>
                          <a:spcPct val="105000"/>
                        </a:lnSpc>
                      </a:pPr>
                      <a:r>
                        <a:rPr lang="fa-IR" sz="1050" b="1" kern="1200" dirty="0">
                          <a:solidFill>
                            <a:srgbClr val="00406C"/>
                          </a:solidFill>
                          <a:latin typeface="Yekan Bakh"/>
                          <a:ea typeface="+mn-ea"/>
                          <a:cs typeface="Yekan Bakh"/>
                        </a:rPr>
                        <a:t>تعامل انسانی</a:t>
                      </a:r>
                    </a:p>
                  </a:txBody>
                  <a:tcPr marL="50800" marR="50800" marT="38100" marB="38100" anchor="ctr">
                    <a:solidFill>
                      <a:srgbClr val="FFFFFF"/>
                    </a:solidFill>
                  </a:tcPr>
                </a:tc>
                <a:extLst>
                  <a:ext uri="{0D108BD9-81ED-4DB2-BD59-A6C34878D82A}">
                    <a16:rowId xmlns:a16="http://schemas.microsoft.com/office/drawing/2014/main" val="10007"/>
                  </a:ext>
                </a:extLst>
              </a:tr>
              <a:tr h="464853">
                <a:tc>
                  <a:txBody>
                    <a:bodyPr/>
                    <a:lstStyle/>
                    <a:p>
                      <a:pPr algn="r" rtl="1">
                        <a:lnSpc>
                          <a:spcPct val="105000"/>
                        </a:lnSpc>
                      </a:pPr>
                      <a:r>
                        <a:rPr lang="fa-IR" sz="1050" b="0" dirty="0">
                          <a:solidFill>
                            <a:schemeClr val="tx1">
                              <a:lumMod val="65000"/>
                              <a:lumOff val="35000"/>
                            </a:schemeClr>
                          </a:solidFill>
                          <a:latin typeface="Yekan Bakh"/>
                          <a:cs typeface="Yekan Bakh"/>
                        </a:rPr>
                        <a:t>پورتال مشتریان </a:t>
                      </a:r>
                      <a:endParaRPr sz="1050" b="0" dirty="0">
                        <a:solidFill>
                          <a:schemeClr val="tx1">
                            <a:lumMod val="65000"/>
                            <a:lumOff val="35000"/>
                          </a:schemeClr>
                        </a:solidFill>
                        <a:latin typeface="Yekan Bakh"/>
                        <a:cs typeface="Yekan Bakh"/>
                      </a:endParaRPr>
                    </a:p>
                  </a:txBody>
                  <a:tcPr marL="50800" marR="50800" marT="38100" marB="38100" anchor="ctr">
                    <a:solidFill>
                      <a:srgbClr val="F2F2F2"/>
                    </a:solidFill>
                  </a:tcPr>
                </a:tc>
                <a:tc>
                  <a:txBody>
                    <a:bodyPr/>
                    <a:lstStyle/>
                    <a:p>
                      <a:pPr algn="ctr" rtl="1">
                        <a:lnSpc>
                          <a:spcPct val="105000"/>
                        </a:lnSpc>
                      </a:pPr>
                      <a:r>
                        <a:rPr lang="fa-IR" sz="1050" b="1" kern="1200" dirty="0">
                          <a:solidFill>
                            <a:srgbClr val="00406C"/>
                          </a:solidFill>
                          <a:latin typeface="Yekan Bakh"/>
                          <a:ea typeface="+mn-ea"/>
                          <a:cs typeface="Yekan Bakh"/>
                        </a:rPr>
                        <a:t>کانال‌های سلف سرویس </a:t>
                      </a:r>
                      <a:endParaRPr sz="1050" b="1" kern="1200" dirty="0">
                        <a:solidFill>
                          <a:srgbClr val="00406C"/>
                        </a:solidFill>
                        <a:latin typeface="Yekan Bakh"/>
                        <a:ea typeface="+mn-ea"/>
                        <a:cs typeface="Yekan Bakh"/>
                      </a:endParaRPr>
                    </a:p>
                  </a:txBody>
                  <a:tcPr marL="50800" marR="50800" marT="38100" marB="38100" anchor="ctr">
                    <a:solidFill>
                      <a:srgbClr val="F2F2F2"/>
                    </a:solidFill>
                  </a:tcPr>
                </a:tc>
                <a:extLst>
                  <a:ext uri="{0D108BD9-81ED-4DB2-BD59-A6C34878D82A}">
                    <a16:rowId xmlns:a16="http://schemas.microsoft.com/office/drawing/2014/main" val="10008"/>
                  </a:ext>
                </a:extLst>
              </a:tr>
            </a:tbl>
          </a:graphicData>
        </a:graphic>
      </p:graphicFrame>
      <p:cxnSp>
        <p:nvCxnSpPr>
          <p:cNvPr id="45" name="Straight Connector 44">
            <a:extLst>
              <a:ext uri="{FF2B5EF4-FFF2-40B4-BE49-F238E27FC236}">
                <a16:creationId xmlns:a16="http://schemas.microsoft.com/office/drawing/2014/main" id="{C38096F6-842F-86FD-35F2-F71CABA72287}"/>
              </a:ext>
            </a:extLst>
          </p:cNvPr>
          <p:cNvCxnSpPr>
            <a:cxnSpLocks/>
          </p:cNvCxnSpPr>
          <p:nvPr/>
        </p:nvCxnSpPr>
        <p:spPr>
          <a:xfrm flipH="1">
            <a:off x="961534" y="1397481"/>
            <a:ext cx="6730738"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923955B7-AC4C-DD79-B9D8-2D7994595EB5}"/>
              </a:ext>
            </a:extLst>
          </p:cNvPr>
          <p:cNvSpPr txBox="1"/>
          <p:nvPr/>
        </p:nvSpPr>
        <p:spPr>
          <a:xfrm>
            <a:off x="3133211" y="1173869"/>
            <a:ext cx="2387385" cy="446276"/>
          </a:xfrm>
          <a:prstGeom prst="rect">
            <a:avLst/>
          </a:prstGeom>
          <a:solidFill>
            <a:schemeClr val="bg1"/>
          </a:solidFill>
        </p:spPr>
        <p:txBody>
          <a:bodyPr wrap="square" anchor="t">
            <a:spAutoFit/>
          </a:bodyPr>
          <a:lstStyle/>
          <a:p>
            <a:pPr algn="ctr" rtl="1">
              <a:lnSpc>
                <a:spcPct val="115000"/>
              </a:lnSpc>
            </a:pPr>
            <a:r>
              <a:rPr lang="fa-IR" sz="1200" b="1" dirty="0">
                <a:solidFill>
                  <a:srgbClr val="1E2761"/>
                </a:solidFill>
                <a:latin typeface="Yekan Bakh"/>
                <a:cs typeface="Yekan Bakh"/>
              </a:rPr>
              <a:t>انواع کانال</a:t>
            </a:r>
          </a:p>
          <a:p>
            <a:pPr algn="ctr" rtl="1">
              <a:lnSpc>
                <a:spcPct val="115000"/>
              </a:lnSpc>
            </a:pPr>
            <a:r>
              <a:rPr lang="fa-IR" sz="800" dirty="0">
                <a:solidFill>
                  <a:schemeClr val="tx1">
                    <a:lumMod val="50000"/>
                    <a:lumOff val="50000"/>
                  </a:schemeClr>
                </a:solidFill>
                <a:latin typeface="Yekan Bakh"/>
                <a:cs typeface="Yekan Bakh"/>
              </a:rPr>
              <a:t>یک کانال می‌تواند ترکیبی از دسته‌های مختلف باشد.  </a:t>
            </a:r>
          </a:p>
        </p:txBody>
      </p:sp>
    </p:spTree>
    <p:extLst>
      <p:ext uri="{BB962C8B-B14F-4D97-AF65-F5344CB8AC3E}">
        <p14:creationId xmlns:p14="http://schemas.microsoft.com/office/powerpoint/2010/main" val="3562739646"/>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2" name="Connector: Elbow 61">
            <a:extLst>
              <a:ext uri="{FF2B5EF4-FFF2-40B4-BE49-F238E27FC236}">
                <a16:creationId xmlns:a16="http://schemas.microsoft.com/office/drawing/2014/main" id="{A28F629D-4A02-3925-D270-0EF1807EB154}"/>
              </a:ext>
            </a:extLst>
          </p:cNvPr>
          <p:cNvCxnSpPr>
            <a:cxnSpLocks/>
            <a:stCxn id="4" idx="1"/>
            <a:endCxn id="40" idx="1"/>
          </p:cNvCxnSpPr>
          <p:nvPr/>
        </p:nvCxnSpPr>
        <p:spPr>
          <a:xfrm rot="10800000" flipH="1" flipV="1">
            <a:off x="723635" y="2058361"/>
            <a:ext cx="264158" cy="1681971"/>
          </a:xfrm>
          <a:prstGeom prst="bentConnector3">
            <a:avLst>
              <a:gd name="adj1" fmla="val -86539"/>
            </a:avLst>
          </a:prstGeom>
          <a:ln>
            <a:tailEnd type="triangle"/>
          </a:ln>
        </p:spPr>
        <p:style>
          <a:lnRef idx="1">
            <a:schemeClr val="accent2"/>
          </a:lnRef>
          <a:fillRef idx="0">
            <a:schemeClr val="accent2"/>
          </a:fillRef>
          <a:effectRef idx="0">
            <a:schemeClr val="accent2"/>
          </a:effectRef>
          <a:fontRef idx="minor">
            <a:schemeClr val="tx1"/>
          </a:fontRef>
        </p:style>
      </p:cxnSp>
      <p:sp>
        <p:nvSpPr>
          <p:cNvPr id="2" name="Text Placeholder 1">
            <a:extLst>
              <a:ext uri="{FF2B5EF4-FFF2-40B4-BE49-F238E27FC236}">
                <a16:creationId xmlns:a16="http://schemas.microsoft.com/office/drawing/2014/main" id="{1496812D-93B0-698C-9A70-84CAD05A5849}"/>
              </a:ext>
            </a:extLst>
          </p:cNvPr>
          <p:cNvSpPr>
            <a:spLocks noGrp="1"/>
          </p:cNvSpPr>
          <p:nvPr>
            <p:ph type="body" sz="quarter" idx="10"/>
          </p:nvPr>
        </p:nvSpPr>
        <p:spPr/>
        <p:txBody>
          <a:bodyPr/>
          <a:lstStyle/>
          <a:p>
            <a:r>
              <a:rPr lang="fa-IR"/>
              <a:t>متدولوژی</a:t>
            </a:r>
            <a:endParaRPr lang="fa-IR" dirty="0"/>
          </a:p>
        </p:txBody>
      </p:sp>
      <p:sp>
        <p:nvSpPr>
          <p:cNvPr id="3" name="Text Placeholder 2">
            <a:extLst>
              <a:ext uri="{FF2B5EF4-FFF2-40B4-BE49-F238E27FC236}">
                <a16:creationId xmlns:a16="http://schemas.microsoft.com/office/drawing/2014/main" id="{B3A6066B-8F34-5372-03FC-6F779DA98168}"/>
              </a:ext>
            </a:extLst>
          </p:cNvPr>
          <p:cNvSpPr>
            <a:spLocks noGrp="1"/>
          </p:cNvSpPr>
          <p:nvPr>
            <p:ph type="body" sz="quarter" idx="12"/>
          </p:nvPr>
        </p:nvSpPr>
        <p:spPr/>
        <p:txBody>
          <a:bodyPr/>
          <a:lstStyle/>
          <a:p>
            <a:r>
              <a:rPr lang="fa-IR" dirty="0"/>
              <a:t>گام‌های فرآیند تحلیل</a:t>
            </a:r>
          </a:p>
        </p:txBody>
      </p:sp>
      <p:grpSp>
        <p:nvGrpSpPr>
          <p:cNvPr id="83" name="Group 82">
            <a:extLst>
              <a:ext uri="{FF2B5EF4-FFF2-40B4-BE49-F238E27FC236}">
                <a16:creationId xmlns:a16="http://schemas.microsoft.com/office/drawing/2014/main" id="{74A58EFD-74C6-F019-C347-917034E7821D}"/>
              </a:ext>
            </a:extLst>
          </p:cNvPr>
          <p:cNvGrpSpPr/>
          <p:nvPr/>
        </p:nvGrpSpPr>
        <p:grpSpPr>
          <a:xfrm>
            <a:off x="723635" y="1293039"/>
            <a:ext cx="10255781" cy="1396487"/>
            <a:chOff x="987792" y="1293039"/>
            <a:chExt cx="10255781" cy="1396487"/>
          </a:xfrm>
        </p:grpSpPr>
        <p:sp>
          <p:nvSpPr>
            <p:cNvPr id="4" name="Rectangle: Rounded Corners 3">
              <a:extLst>
                <a:ext uri="{FF2B5EF4-FFF2-40B4-BE49-F238E27FC236}">
                  <a16:creationId xmlns:a16="http://schemas.microsoft.com/office/drawing/2014/main" id="{6AD43384-D339-2ADB-1940-D7E8C34AD72C}"/>
                </a:ext>
              </a:extLst>
            </p:cNvPr>
            <p:cNvSpPr/>
            <p:nvPr/>
          </p:nvSpPr>
          <p:spPr>
            <a:xfrm>
              <a:off x="987792" y="1427198"/>
              <a:ext cx="10255781" cy="1262328"/>
            </a:xfrm>
            <a:prstGeom prst="roundRect">
              <a:avLst>
                <a:gd name="adj" fmla="val 9876"/>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Rounded Corners 4">
              <a:extLst>
                <a:ext uri="{FF2B5EF4-FFF2-40B4-BE49-F238E27FC236}">
                  <a16:creationId xmlns:a16="http://schemas.microsoft.com/office/drawing/2014/main" id="{42E3C70C-4F46-E937-9306-1C8FFF958A35}"/>
                </a:ext>
              </a:extLst>
            </p:cNvPr>
            <p:cNvSpPr/>
            <p:nvPr/>
          </p:nvSpPr>
          <p:spPr>
            <a:xfrm>
              <a:off x="10560504" y="1293039"/>
              <a:ext cx="584655" cy="265761"/>
            </a:xfrm>
            <a:prstGeom prst="roundRect">
              <a:avLst/>
            </a:prstGeom>
            <a:solidFill>
              <a:srgbClr val="0040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fa-IR" sz="1100" b="1" dirty="0">
                  <a:solidFill>
                    <a:schemeClr val="bg1"/>
                  </a:solidFill>
                  <a:latin typeface="Yekan Bakh FaNum SemiBold" pitchFamily="2" charset="-78"/>
                  <a:ea typeface="Yekan Bakh FaNum SemiBold" pitchFamily="2" charset="-78"/>
                  <a:cs typeface="Yekan Bakh FaNum SemiBold" pitchFamily="2" charset="-78"/>
                </a:rPr>
                <a:t>گام ۱</a:t>
              </a:r>
              <a:endParaRPr lang="en-GB" sz="1100" b="1" dirty="0">
                <a:solidFill>
                  <a:schemeClr val="bg1"/>
                </a:solidFill>
                <a:latin typeface="Yekan Bakh FaNum SemiBold" pitchFamily="2" charset="-78"/>
                <a:ea typeface="Yekan Bakh FaNum SemiBold" pitchFamily="2" charset="-78"/>
                <a:cs typeface="Yekan Bakh FaNum SemiBold" pitchFamily="2" charset="-78"/>
              </a:endParaRPr>
            </a:p>
          </p:txBody>
        </p:sp>
        <p:sp>
          <p:nvSpPr>
            <p:cNvPr id="7" name="TextBox 6">
              <a:extLst>
                <a:ext uri="{FF2B5EF4-FFF2-40B4-BE49-F238E27FC236}">
                  <a16:creationId xmlns:a16="http://schemas.microsoft.com/office/drawing/2014/main" id="{3EAC648B-8A90-86CE-F152-83F00452CB73}"/>
                </a:ext>
              </a:extLst>
            </p:cNvPr>
            <p:cNvSpPr txBox="1"/>
            <p:nvPr/>
          </p:nvSpPr>
          <p:spPr>
            <a:xfrm>
              <a:off x="1049637" y="1588030"/>
              <a:ext cx="10133636" cy="461665"/>
            </a:xfrm>
            <a:prstGeom prst="rect">
              <a:avLst/>
            </a:prstGeom>
            <a:noFill/>
          </p:spPr>
          <p:txBody>
            <a:bodyPr wrap="square">
              <a:spAutoFit/>
            </a:bodyPr>
            <a:lstStyle/>
            <a:p>
              <a:pPr algn="justLow" rtl="1">
                <a:lnSpc>
                  <a:spcPct val="120000"/>
                </a:lnSpc>
                <a:spcAft>
                  <a:spcPts val="750"/>
                </a:spcAft>
              </a:pPr>
              <a:r>
                <a:rPr lang="fa-IR" sz="1000" b="0" dirty="0">
                  <a:solidFill>
                    <a:srgbClr val="222222"/>
                  </a:solidFill>
                  <a:latin typeface="Yekan Bakh"/>
                  <a:cs typeface="Yekan Bakh"/>
                </a:rPr>
                <a:t>برای هر پرسونا، «رویدادهای محرک» و «فرآیند خرید/تصمیم‌گیری» مستندشده در بلوک بخش‌بندی مشتریان بازخوانی شده است ؛ هم‌زمان یک فهرست اولیه کانال به تفکیک ۳ فاز (زیر) به‌عنوان فهرست مرجع کاندیدها استفاده می‌شود. </a:t>
              </a:r>
            </a:p>
          </p:txBody>
        </p:sp>
        <p:sp>
          <p:nvSpPr>
            <p:cNvPr id="9" name="TextBox 8">
              <a:extLst>
                <a:ext uri="{FF2B5EF4-FFF2-40B4-BE49-F238E27FC236}">
                  <a16:creationId xmlns:a16="http://schemas.microsoft.com/office/drawing/2014/main" id="{8D210591-7EFB-8D00-0049-C4DBC02FE440}"/>
                </a:ext>
              </a:extLst>
            </p:cNvPr>
            <p:cNvSpPr txBox="1"/>
            <p:nvPr/>
          </p:nvSpPr>
          <p:spPr>
            <a:xfrm>
              <a:off x="7448842" y="1295114"/>
              <a:ext cx="3111661" cy="261610"/>
            </a:xfrm>
            <a:prstGeom prst="rect">
              <a:avLst/>
            </a:prstGeom>
            <a:solidFill>
              <a:schemeClr val="bg1"/>
            </a:solidFill>
          </p:spPr>
          <p:txBody>
            <a:bodyPr wrap="square">
              <a:spAutoFit/>
            </a:bodyPr>
            <a:lstStyle/>
            <a:p>
              <a:pPr algn="r" rtl="1"/>
              <a:r>
                <a:rPr lang="fa-IR" sz="1100" b="1" dirty="0">
                  <a:solidFill>
                    <a:srgbClr val="00406C"/>
                  </a:solidFill>
                  <a:latin typeface="Yekan Bakh" pitchFamily="2" charset="-78"/>
                  <a:ea typeface="Yekan Bakh" pitchFamily="2" charset="-78"/>
                  <a:cs typeface="Yekan Bakh" pitchFamily="2" charset="-78"/>
                </a:rPr>
                <a:t>استخراج فهرست اولیه کانال های ارتباط با مشتریان </a:t>
              </a:r>
              <a:endParaRPr lang="en-GB" dirty="0">
                <a:solidFill>
                  <a:srgbClr val="00406C"/>
                </a:solidFill>
              </a:endParaRPr>
            </a:p>
          </p:txBody>
        </p:sp>
        <p:sp>
          <p:nvSpPr>
            <p:cNvPr id="17" name="TextBox 16">
              <a:extLst>
                <a:ext uri="{FF2B5EF4-FFF2-40B4-BE49-F238E27FC236}">
                  <a16:creationId xmlns:a16="http://schemas.microsoft.com/office/drawing/2014/main" id="{08082F3F-B4A5-E958-909E-9E99778AF5F6}"/>
                </a:ext>
              </a:extLst>
            </p:cNvPr>
            <p:cNvSpPr txBox="1"/>
            <p:nvPr/>
          </p:nvSpPr>
          <p:spPr>
            <a:xfrm>
              <a:off x="1049637" y="2018468"/>
              <a:ext cx="10095522" cy="629018"/>
            </a:xfrm>
            <a:prstGeom prst="rect">
              <a:avLst/>
            </a:prstGeom>
            <a:noFill/>
          </p:spPr>
          <p:txBody>
            <a:bodyPr wrap="square" anchor="t">
              <a:spAutoFit/>
            </a:bodyPr>
            <a:lstStyle/>
            <a:p>
              <a:pPr algn="r" rtl="1">
                <a:lnSpc>
                  <a:spcPct val="125000"/>
                </a:lnSpc>
              </a:pPr>
              <a:r>
                <a:rPr sz="900" b="1" dirty="0" err="1">
                  <a:solidFill>
                    <a:srgbClr val="00406C"/>
                  </a:solidFill>
                  <a:latin typeface="Yekan Bakh"/>
                  <a:cs typeface="Yekan Bakh"/>
                </a:rPr>
                <a:t>آگاهی</a:t>
              </a:r>
              <a:r>
                <a:rPr sz="900" b="1" dirty="0">
                  <a:solidFill>
                    <a:srgbClr val="00406C"/>
                  </a:solidFill>
                  <a:latin typeface="Yekan Bakh"/>
                  <a:cs typeface="Yekan Bakh"/>
                </a:rPr>
                <a:t>/</a:t>
              </a:r>
              <a:r>
                <a:rPr sz="900" b="1" dirty="0" err="1">
                  <a:solidFill>
                    <a:srgbClr val="00406C"/>
                  </a:solidFill>
                  <a:latin typeface="Yekan Bakh"/>
                  <a:cs typeface="Yekan Bakh"/>
                </a:rPr>
                <a:t>کشف</a:t>
              </a:r>
              <a:r>
                <a:rPr lang="fa-IR" sz="900" dirty="0">
                  <a:solidFill>
                    <a:srgbClr val="00406C"/>
                  </a:solidFill>
                  <a:latin typeface="Yekan Bakh"/>
                  <a:cs typeface="Yekan Bakh"/>
                </a:rPr>
                <a:t>: </a:t>
              </a:r>
              <a:r>
                <a:rPr lang="fa-IR" sz="900" dirty="0">
                  <a:solidFill>
                    <a:srgbClr val="6B6B6B"/>
                  </a:solidFill>
                  <a:latin typeface="Yekan Bakh"/>
                  <a:cs typeface="Yekan Bakh"/>
                </a:rPr>
                <a:t>ت</a:t>
              </a:r>
              <a:r>
                <a:rPr sz="900" b="0" dirty="0" err="1">
                  <a:solidFill>
                    <a:srgbClr val="6B6B6B"/>
                  </a:solidFill>
                  <a:latin typeface="Yekan Bakh"/>
                  <a:cs typeface="Yekan Bakh"/>
                </a:rPr>
                <a:t>بلیغات</a:t>
              </a:r>
              <a:r>
                <a:rPr sz="900" b="0" dirty="0">
                  <a:solidFill>
                    <a:srgbClr val="6B6B6B"/>
                  </a:solidFill>
                  <a:latin typeface="Yekan Bakh"/>
                  <a:cs typeface="Yekan Bakh"/>
                </a:rPr>
                <a:t>، </a:t>
              </a:r>
              <a:r>
                <a:rPr sz="900" b="0" dirty="0" err="1">
                  <a:solidFill>
                    <a:srgbClr val="6B6B6B"/>
                  </a:solidFill>
                  <a:latin typeface="Yekan Bakh"/>
                  <a:cs typeface="Yekan Bakh"/>
                </a:rPr>
                <a:t>شبکه</a:t>
              </a:r>
              <a:r>
                <a:rPr sz="900" b="0" dirty="0">
                  <a:solidFill>
                    <a:srgbClr val="6B6B6B"/>
                  </a:solidFill>
                  <a:latin typeface="Yekan Bakh"/>
                  <a:cs typeface="Yekan Bakh"/>
                </a:rPr>
                <a:t> </a:t>
              </a:r>
              <a:r>
                <a:rPr sz="900" b="0" dirty="0" err="1">
                  <a:solidFill>
                    <a:srgbClr val="6B6B6B"/>
                  </a:solidFill>
                  <a:latin typeface="Yekan Bakh"/>
                  <a:cs typeface="Yekan Bakh"/>
                </a:rPr>
                <a:t>اجتماعی</a:t>
              </a:r>
              <a:r>
                <a:rPr sz="900" b="0" dirty="0">
                  <a:solidFill>
                    <a:srgbClr val="6B6B6B"/>
                  </a:solidFill>
                  <a:latin typeface="Yekan Bakh"/>
                  <a:cs typeface="Yekan Bakh"/>
                </a:rPr>
                <a:t>، </a:t>
              </a:r>
              <a:r>
                <a:rPr sz="900" b="0" dirty="0" err="1">
                  <a:solidFill>
                    <a:srgbClr val="6B6B6B"/>
                  </a:solidFill>
                  <a:latin typeface="Yekan Bakh"/>
                  <a:cs typeface="Yekan Bakh"/>
                </a:rPr>
                <a:t>محتو</a:t>
              </a:r>
              <a:r>
                <a:rPr lang="fa-IR" sz="900" b="0" dirty="0">
                  <a:solidFill>
                    <a:srgbClr val="6B6B6B"/>
                  </a:solidFill>
                  <a:latin typeface="Yekan Bakh"/>
                  <a:cs typeface="Yekan Bakh"/>
                </a:rPr>
                <a:t>ا </a:t>
              </a:r>
              <a:r>
                <a:rPr sz="900" b="0" dirty="0">
                  <a:solidFill>
                    <a:srgbClr val="6B6B6B"/>
                  </a:solidFill>
                  <a:latin typeface="Yekan Bakh"/>
                  <a:cs typeface="Yekan Bakh"/>
                </a:rPr>
                <a:t>/SEO، PR، </a:t>
              </a:r>
              <a:r>
                <a:rPr sz="900" b="0" dirty="0" err="1">
                  <a:solidFill>
                    <a:srgbClr val="6B6B6B"/>
                  </a:solidFill>
                  <a:latin typeface="Yekan Bakh"/>
                  <a:cs typeface="Yekan Bakh"/>
                </a:rPr>
                <a:t>رویداد</a:t>
              </a:r>
              <a:r>
                <a:rPr sz="900" b="0" dirty="0">
                  <a:solidFill>
                    <a:srgbClr val="6B6B6B"/>
                  </a:solidFill>
                  <a:latin typeface="Yekan Bakh"/>
                  <a:cs typeface="Yekan Bakh"/>
                </a:rPr>
                <a:t>، </a:t>
              </a:r>
              <a:r>
                <a:rPr sz="900" b="0" dirty="0" err="1">
                  <a:solidFill>
                    <a:srgbClr val="6B6B6B"/>
                  </a:solidFill>
                  <a:latin typeface="Yekan Bakh"/>
                  <a:cs typeface="Yekan Bakh"/>
                </a:rPr>
                <a:t>معرفی</a:t>
              </a:r>
              <a:r>
                <a:rPr sz="900" b="0" dirty="0">
                  <a:solidFill>
                    <a:srgbClr val="6B6B6B"/>
                  </a:solidFill>
                  <a:latin typeface="Yekan Bakh"/>
                  <a:cs typeface="Yekan Bakh"/>
                </a:rPr>
                <a:t>/</a:t>
              </a:r>
              <a:r>
                <a:rPr sz="900" b="0" dirty="0" err="1">
                  <a:solidFill>
                    <a:srgbClr val="6B6B6B"/>
                  </a:solidFill>
                  <a:latin typeface="Yekan Bakh"/>
                  <a:cs typeface="Yekan Bakh"/>
                </a:rPr>
                <a:t>ارجاع</a:t>
              </a:r>
              <a:r>
                <a:rPr sz="900" b="0" dirty="0">
                  <a:solidFill>
                    <a:srgbClr val="6B6B6B"/>
                  </a:solidFill>
                  <a:latin typeface="Yekan Bakh"/>
                  <a:cs typeface="Yekan Bakh"/>
                </a:rPr>
                <a:t>، </a:t>
              </a:r>
              <a:r>
                <a:rPr sz="900" b="0" dirty="0" err="1">
                  <a:solidFill>
                    <a:srgbClr val="6B6B6B"/>
                  </a:solidFill>
                  <a:latin typeface="Yekan Bakh"/>
                  <a:cs typeface="Yekan Bakh"/>
                </a:rPr>
                <a:t>مشارکت</a:t>
              </a:r>
              <a:r>
                <a:rPr sz="900" b="0" dirty="0">
                  <a:solidFill>
                    <a:srgbClr val="6B6B6B"/>
                  </a:solidFill>
                  <a:latin typeface="Yekan Bakh"/>
                  <a:cs typeface="Yekan Bakh"/>
                </a:rPr>
                <a:t> </a:t>
              </a:r>
              <a:r>
                <a:rPr sz="900" b="0" dirty="0" err="1">
                  <a:solidFill>
                    <a:srgbClr val="6B6B6B"/>
                  </a:solidFill>
                  <a:latin typeface="Yekan Bakh"/>
                  <a:cs typeface="Yekan Bakh"/>
                </a:rPr>
                <a:t>تجاری</a:t>
              </a:r>
              <a:r>
                <a:rPr lang="fa-IR" sz="900" b="0" dirty="0">
                  <a:solidFill>
                    <a:srgbClr val="6B6B6B"/>
                  </a:solidFill>
                  <a:latin typeface="Yekan Bakh"/>
                  <a:cs typeface="Yekan Bakh"/>
                </a:rPr>
                <a:t> و سایر موارد مشابه</a:t>
              </a:r>
              <a:endParaRPr sz="900" b="0" dirty="0">
                <a:solidFill>
                  <a:srgbClr val="6B6B6B"/>
                </a:solidFill>
                <a:latin typeface="Yekan Bakh"/>
                <a:cs typeface="Yekan Bakh"/>
              </a:endParaRPr>
            </a:p>
            <a:p>
              <a:pPr algn="r" rtl="1">
                <a:lnSpc>
                  <a:spcPct val="125000"/>
                </a:lnSpc>
              </a:pPr>
              <a:r>
                <a:rPr sz="900" b="1" dirty="0" err="1">
                  <a:solidFill>
                    <a:srgbClr val="00406C"/>
                  </a:solidFill>
                  <a:latin typeface="Yekan Bakh"/>
                  <a:cs typeface="Yekan Bakh"/>
                </a:rPr>
                <a:t>ارزیابی</a:t>
              </a:r>
              <a:r>
                <a:rPr sz="900" b="1" dirty="0">
                  <a:solidFill>
                    <a:srgbClr val="00406C"/>
                  </a:solidFill>
                  <a:latin typeface="Yekan Bakh"/>
                  <a:cs typeface="Yekan Bakh"/>
                </a:rPr>
                <a:t>/</a:t>
              </a:r>
              <a:r>
                <a:rPr sz="900" b="1" dirty="0" err="1">
                  <a:solidFill>
                    <a:srgbClr val="00406C"/>
                  </a:solidFill>
                  <a:latin typeface="Yekan Bakh"/>
                  <a:cs typeface="Yekan Bakh"/>
                </a:rPr>
                <a:t>بررسی</a:t>
              </a:r>
              <a:r>
                <a:rPr lang="fa-IR" sz="900" dirty="0">
                  <a:solidFill>
                    <a:srgbClr val="00406C"/>
                  </a:solidFill>
                  <a:latin typeface="Yekan Bakh"/>
                  <a:cs typeface="Yekan Bakh"/>
                </a:rPr>
                <a:t>:</a:t>
              </a:r>
              <a:r>
                <a:rPr sz="900" b="0" dirty="0">
                  <a:solidFill>
                    <a:srgbClr val="00406C"/>
                  </a:solidFill>
                  <a:latin typeface="Yekan Bakh"/>
                  <a:cs typeface="Yekan Bakh"/>
                </a:rPr>
                <a:t> </a:t>
              </a:r>
              <a:r>
                <a:rPr sz="900" b="0" dirty="0" err="1">
                  <a:solidFill>
                    <a:srgbClr val="6B6B6B"/>
                  </a:solidFill>
                  <a:latin typeface="Yekan Bakh"/>
                  <a:cs typeface="Yekan Bakh"/>
                </a:rPr>
                <a:t>وب‌سایت</a:t>
              </a:r>
              <a:r>
                <a:rPr sz="900" b="0" dirty="0">
                  <a:solidFill>
                    <a:srgbClr val="6B6B6B"/>
                  </a:solidFill>
                  <a:latin typeface="Yekan Bakh"/>
                  <a:cs typeface="Yekan Bakh"/>
                </a:rPr>
                <a:t>، </a:t>
              </a:r>
              <a:r>
                <a:rPr sz="900" b="0" dirty="0" err="1">
                  <a:solidFill>
                    <a:srgbClr val="6B6B6B"/>
                  </a:solidFill>
                  <a:latin typeface="Yekan Bakh"/>
                  <a:cs typeface="Yekan Bakh"/>
                </a:rPr>
                <a:t>اپ</a:t>
              </a:r>
              <a:r>
                <a:rPr sz="900" b="0" dirty="0">
                  <a:solidFill>
                    <a:srgbClr val="6B6B6B"/>
                  </a:solidFill>
                  <a:latin typeface="Yekan Bakh"/>
                  <a:cs typeface="Yekan Bakh"/>
                </a:rPr>
                <a:t>، </a:t>
              </a:r>
              <a:r>
                <a:rPr sz="900" b="0" dirty="0" err="1">
                  <a:solidFill>
                    <a:srgbClr val="6B6B6B"/>
                  </a:solidFill>
                  <a:latin typeface="Yekan Bakh"/>
                  <a:cs typeface="Yekan Bakh"/>
                </a:rPr>
                <a:t>تیم</a:t>
              </a:r>
              <a:r>
                <a:rPr sz="900" b="0" dirty="0">
                  <a:solidFill>
                    <a:srgbClr val="6B6B6B"/>
                  </a:solidFill>
                  <a:latin typeface="Yekan Bakh"/>
                  <a:cs typeface="Yekan Bakh"/>
                </a:rPr>
                <a:t> </a:t>
              </a:r>
              <a:r>
                <a:rPr sz="900" b="0" dirty="0" err="1">
                  <a:solidFill>
                    <a:srgbClr val="6B6B6B"/>
                  </a:solidFill>
                  <a:latin typeface="Yekan Bakh"/>
                  <a:cs typeface="Yekan Bakh"/>
                </a:rPr>
                <a:t>فروش</a:t>
              </a:r>
              <a:r>
                <a:rPr sz="900" b="0" dirty="0">
                  <a:solidFill>
                    <a:srgbClr val="6B6B6B"/>
                  </a:solidFill>
                  <a:latin typeface="Yekan Bakh"/>
                  <a:cs typeface="Yekan Bakh"/>
                </a:rPr>
                <a:t>، </a:t>
              </a:r>
              <a:r>
                <a:rPr sz="900" b="0" dirty="0" err="1">
                  <a:solidFill>
                    <a:srgbClr val="6B6B6B"/>
                  </a:solidFill>
                  <a:latin typeface="Yekan Bakh"/>
                  <a:cs typeface="Yekan Bakh"/>
                </a:rPr>
                <a:t>دمو</a:t>
              </a:r>
              <a:r>
                <a:rPr sz="900" b="0" dirty="0">
                  <a:solidFill>
                    <a:srgbClr val="6B6B6B"/>
                  </a:solidFill>
                  <a:latin typeface="Yekan Bakh"/>
                  <a:cs typeface="Yekan Bakh"/>
                </a:rPr>
                <a:t>/</a:t>
              </a:r>
              <a:r>
                <a:rPr sz="900" b="0" dirty="0" err="1">
                  <a:solidFill>
                    <a:srgbClr val="6B6B6B"/>
                  </a:solidFill>
                  <a:latin typeface="Yekan Bakh"/>
                  <a:cs typeface="Yekan Bakh"/>
                </a:rPr>
                <a:t>وبینار</a:t>
              </a:r>
              <a:r>
                <a:rPr sz="900" b="0" dirty="0">
                  <a:solidFill>
                    <a:srgbClr val="6B6B6B"/>
                  </a:solidFill>
                  <a:latin typeface="Yekan Bakh"/>
                  <a:cs typeface="Yekan Bakh"/>
                </a:rPr>
                <a:t>، </a:t>
              </a:r>
              <a:r>
                <a:rPr sz="900" b="0" dirty="0" err="1">
                  <a:solidFill>
                    <a:srgbClr val="6B6B6B"/>
                  </a:solidFill>
                  <a:latin typeface="Yekan Bakh"/>
                  <a:cs typeface="Yekan Bakh"/>
                </a:rPr>
                <a:t>مارکت‌پلیس</a:t>
              </a:r>
              <a:r>
                <a:rPr sz="900" b="0" dirty="0">
                  <a:solidFill>
                    <a:srgbClr val="6B6B6B"/>
                  </a:solidFill>
                  <a:latin typeface="Yekan Bakh"/>
                  <a:cs typeface="Yekan Bakh"/>
                </a:rPr>
                <a:t>، </a:t>
              </a:r>
              <a:r>
                <a:rPr sz="900" b="0" dirty="0" err="1">
                  <a:solidFill>
                    <a:srgbClr val="6B6B6B"/>
                  </a:solidFill>
                  <a:latin typeface="Yekan Bakh"/>
                  <a:cs typeface="Yekan Bakh"/>
                </a:rPr>
                <a:t>انجمن</a:t>
              </a:r>
              <a:r>
                <a:rPr sz="900" b="0" dirty="0">
                  <a:solidFill>
                    <a:srgbClr val="6B6B6B"/>
                  </a:solidFill>
                  <a:latin typeface="Yekan Bakh"/>
                  <a:cs typeface="Yekan Bakh"/>
                </a:rPr>
                <a:t>، </a:t>
              </a:r>
              <a:r>
                <a:rPr sz="900" b="0" dirty="0" err="1">
                  <a:solidFill>
                    <a:srgbClr val="6B6B6B"/>
                  </a:solidFill>
                  <a:latin typeface="Yekan Bakh"/>
                  <a:cs typeface="Yekan Bakh"/>
                </a:rPr>
                <a:t>چت</a:t>
              </a:r>
              <a:r>
                <a:rPr sz="900" b="0" dirty="0">
                  <a:solidFill>
                    <a:srgbClr val="6B6B6B"/>
                  </a:solidFill>
                  <a:latin typeface="Yekan Bakh"/>
                  <a:cs typeface="Yekan Bakh"/>
                </a:rPr>
                <a:t> </a:t>
              </a:r>
              <a:r>
                <a:rPr sz="900" b="0" dirty="0" err="1">
                  <a:solidFill>
                    <a:srgbClr val="6B6B6B"/>
                  </a:solidFill>
                  <a:latin typeface="Yekan Bakh"/>
                  <a:cs typeface="Yekan Bakh"/>
                </a:rPr>
                <a:t>آنلاین</a:t>
              </a:r>
              <a:r>
                <a:rPr lang="fa-IR" sz="900" b="0" dirty="0">
                  <a:solidFill>
                    <a:srgbClr val="6B6B6B"/>
                  </a:solidFill>
                  <a:latin typeface="Yekan Bakh"/>
                  <a:cs typeface="Yekan Bakh"/>
                </a:rPr>
                <a:t> و سایر موارد مشابه</a:t>
              </a:r>
              <a:endParaRPr sz="900" b="0" dirty="0">
                <a:solidFill>
                  <a:srgbClr val="6B6B6B"/>
                </a:solidFill>
                <a:latin typeface="Yekan Bakh"/>
                <a:cs typeface="Yekan Bakh"/>
              </a:endParaRPr>
            </a:p>
            <a:p>
              <a:pPr algn="r" rtl="1">
                <a:lnSpc>
                  <a:spcPct val="125000"/>
                </a:lnSpc>
              </a:pPr>
              <a:r>
                <a:rPr sz="900" b="1" dirty="0" err="1">
                  <a:solidFill>
                    <a:srgbClr val="00406C"/>
                  </a:solidFill>
                  <a:latin typeface="Yekan Bakh"/>
                  <a:cs typeface="Yekan Bakh"/>
                </a:rPr>
                <a:t>خرید</a:t>
              </a:r>
              <a:r>
                <a:rPr sz="900" b="1" dirty="0">
                  <a:solidFill>
                    <a:srgbClr val="00406C"/>
                  </a:solidFill>
                  <a:latin typeface="Yekan Bakh"/>
                  <a:cs typeface="Yekan Bakh"/>
                </a:rPr>
                <a:t>/</a:t>
              </a:r>
              <a:r>
                <a:rPr sz="900" b="1" dirty="0" err="1">
                  <a:solidFill>
                    <a:srgbClr val="00406C"/>
                  </a:solidFill>
                  <a:latin typeface="Yekan Bakh"/>
                  <a:cs typeface="Yekan Bakh"/>
                </a:rPr>
                <a:t>معامله</a:t>
              </a:r>
              <a:r>
                <a:rPr lang="fa-IR" sz="900" b="1" dirty="0">
                  <a:solidFill>
                    <a:srgbClr val="00406C"/>
                  </a:solidFill>
                  <a:latin typeface="Yekan Bakh"/>
                  <a:cs typeface="Yekan Bakh"/>
                </a:rPr>
                <a:t>: </a:t>
              </a:r>
              <a:r>
                <a:rPr sz="900" b="0" dirty="0" err="1">
                  <a:solidFill>
                    <a:srgbClr val="6B6B6B"/>
                  </a:solidFill>
                  <a:latin typeface="Yekan Bakh"/>
                  <a:cs typeface="Yekan Bakh"/>
                </a:rPr>
                <a:t>فروش</a:t>
              </a:r>
              <a:r>
                <a:rPr sz="900" b="0" dirty="0">
                  <a:solidFill>
                    <a:srgbClr val="6B6B6B"/>
                  </a:solidFill>
                  <a:latin typeface="Yekan Bakh"/>
                  <a:cs typeface="Yekan Bakh"/>
                </a:rPr>
                <a:t> </a:t>
              </a:r>
              <a:r>
                <a:rPr sz="900" b="0" dirty="0" err="1">
                  <a:solidFill>
                    <a:srgbClr val="6B6B6B"/>
                  </a:solidFill>
                  <a:latin typeface="Yekan Bakh"/>
                  <a:cs typeface="Yekan Bakh"/>
                </a:rPr>
                <a:t>مستقیم</a:t>
              </a:r>
              <a:r>
                <a:rPr sz="900" b="0" dirty="0">
                  <a:solidFill>
                    <a:srgbClr val="6B6B6B"/>
                  </a:solidFill>
                  <a:latin typeface="Yekan Bakh"/>
                  <a:cs typeface="Yekan Bakh"/>
                </a:rPr>
                <a:t>، </a:t>
              </a:r>
              <a:r>
                <a:rPr sz="900" b="0" dirty="0" err="1">
                  <a:solidFill>
                    <a:srgbClr val="6B6B6B"/>
                  </a:solidFill>
                  <a:latin typeface="Yekan Bakh"/>
                  <a:cs typeface="Yekan Bakh"/>
                </a:rPr>
                <a:t>فروشگاه</a:t>
              </a:r>
              <a:r>
                <a:rPr sz="900" b="0" dirty="0">
                  <a:solidFill>
                    <a:srgbClr val="6B6B6B"/>
                  </a:solidFill>
                  <a:latin typeface="Yekan Bakh"/>
                  <a:cs typeface="Yekan Bakh"/>
                </a:rPr>
                <a:t> </a:t>
              </a:r>
              <a:r>
                <a:rPr sz="900" b="0" dirty="0" err="1">
                  <a:solidFill>
                    <a:srgbClr val="6B6B6B"/>
                  </a:solidFill>
                  <a:latin typeface="Yekan Bakh"/>
                  <a:cs typeface="Yekan Bakh"/>
                </a:rPr>
                <a:t>آنلاین</a:t>
              </a:r>
              <a:r>
                <a:rPr sz="900" b="0" dirty="0">
                  <a:solidFill>
                    <a:srgbClr val="6B6B6B"/>
                  </a:solidFill>
                  <a:latin typeface="Yekan Bakh"/>
                  <a:cs typeface="Yekan Bakh"/>
                </a:rPr>
                <a:t>، </a:t>
              </a:r>
              <a:r>
                <a:rPr sz="900" b="0" dirty="0" err="1">
                  <a:solidFill>
                    <a:srgbClr val="6B6B6B"/>
                  </a:solidFill>
                  <a:latin typeface="Yekan Bakh"/>
                  <a:cs typeface="Yekan Bakh"/>
                </a:rPr>
                <a:t>توزیع‌کننده</a:t>
              </a:r>
              <a:r>
                <a:rPr sz="900" b="0" dirty="0">
                  <a:solidFill>
                    <a:srgbClr val="6B6B6B"/>
                  </a:solidFill>
                  <a:latin typeface="Yekan Bakh"/>
                  <a:cs typeface="Yekan Bakh"/>
                </a:rPr>
                <a:t>/</a:t>
              </a:r>
              <a:r>
                <a:rPr sz="900" b="0" dirty="0" err="1">
                  <a:solidFill>
                    <a:srgbClr val="6B6B6B"/>
                  </a:solidFill>
                  <a:latin typeface="Yekan Bakh"/>
                  <a:cs typeface="Yekan Bakh"/>
                </a:rPr>
                <a:t>نماینده</a:t>
              </a:r>
              <a:r>
                <a:rPr sz="900" b="0" dirty="0">
                  <a:solidFill>
                    <a:srgbClr val="6B6B6B"/>
                  </a:solidFill>
                  <a:latin typeface="Yekan Bakh"/>
                  <a:cs typeface="Yekan Bakh"/>
                </a:rPr>
                <a:t>، </a:t>
              </a:r>
              <a:r>
                <a:rPr sz="900" b="0" dirty="0" err="1">
                  <a:solidFill>
                    <a:srgbClr val="6B6B6B"/>
                  </a:solidFill>
                  <a:latin typeface="Yekan Bakh"/>
                  <a:cs typeface="Yekan Bakh"/>
                </a:rPr>
                <a:t>مارکت‌پلیس</a:t>
              </a:r>
              <a:r>
                <a:rPr sz="900" b="0" dirty="0">
                  <a:solidFill>
                    <a:srgbClr val="6B6B6B"/>
                  </a:solidFill>
                  <a:latin typeface="Yekan Bakh"/>
                  <a:cs typeface="Yekan Bakh"/>
                </a:rPr>
                <a:t>، </a:t>
              </a:r>
              <a:r>
                <a:rPr sz="900" b="0" dirty="0" err="1">
                  <a:solidFill>
                    <a:srgbClr val="6B6B6B"/>
                  </a:solidFill>
                  <a:latin typeface="Yekan Bakh"/>
                  <a:cs typeface="Yekan Bakh"/>
                </a:rPr>
                <a:t>پلتفرم</a:t>
              </a:r>
              <a:r>
                <a:rPr sz="900" b="0" dirty="0">
                  <a:solidFill>
                    <a:srgbClr val="6B6B6B"/>
                  </a:solidFill>
                  <a:latin typeface="Yekan Bakh"/>
                  <a:cs typeface="Yekan Bakh"/>
                </a:rPr>
                <a:t> </a:t>
              </a:r>
              <a:r>
                <a:rPr sz="900" b="0" dirty="0" err="1">
                  <a:solidFill>
                    <a:srgbClr val="6B6B6B"/>
                  </a:solidFill>
                  <a:latin typeface="Yekan Bakh"/>
                  <a:cs typeface="Yekan Bakh"/>
                </a:rPr>
                <a:t>سازمانی</a:t>
              </a:r>
              <a:r>
                <a:rPr lang="fa-IR" sz="900" b="0" dirty="0">
                  <a:solidFill>
                    <a:srgbClr val="6B6B6B"/>
                  </a:solidFill>
                  <a:latin typeface="Yekan Bakh"/>
                  <a:cs typeface="Yekan Bakh"/>
                </a:rPr>
                <a:t> و سایر موارد مشابه</a:t>
              </a:r>
              <a:endParaRPr sz="900" b="0" dirty="0">
                <a:solidFill>
                  <a:srgbClr val="6B6B6B"/>
                </a:solidFill>
                <a:latin typeface="Yekan Bakh"/>
                <a:cs typeface="Yekan Bakh"/>
              </a:endParaRPr>
            </a:p>
          </p:txBody>
        </p:sp>
      </p:grpSp>
      <p:grpSp>
        <p:nvGrpSpPr>
          <p:cNvPr id="44" name="Group 43">
            <a:extLst>
              <a:ext uri="{FF2B5EF4-FFF2-40B4-BE49-F238E27FC236}">
                <a16:creationId xmlns:a16="http://schemas.microsoft.com/office/drawing/2014/main" id="{3DF72266-F058-9C26-EFFD-09A233F84052}"/>
              </a:ext>
            </a:extLst>
          </p:cNvPr>
          <p:cNvGrpSpPr/>
          <p:nvPr/>
        </p:nvGrpSpPr>
        <p:grpSpPr>
          <a:xfrm>
            <a:off x="987793" y="2925594"/>
            <a:ext cx="9727465" cy="1495319"/>
            <a:chOff x="1516108" y="2825086"/>
            <a:chExt cx="9727465" cy="1495319"/>
          </a:xfrm>
        </p:grpSpPr>
        <p:grpSp>
          <p:nvGrpSpPr>
            <p:cNvPr id="33" name="Group 32">
              <a:extLst>
                <a:ext uri="{FF2B5EF4-FFF2-40B4-BE49-F238E27FC236}">
                  <a16:creationId xmlns:a16="http://schemas.microsoft.com/office/drawing/2014/main" id="{A75A7E5E-31F4-C93E-B905-5EBC951C2FB1}"/>
                </a:ext>
              </a:extLst>
            </p:cNvPr>
            <p:cNvGrpSpPr/>
            <p:nvPr/>
          </p:nvGrpSpPr>
          <p:grpSpPr>
            <a:xfrm>
              <a:off x="8217970" y="2825086"/>
              <a:ext cx="3025603" cy="1495319"/>
              <a:chOff x="8217970" y="2825086"/>
              <a:chExt cx="3025603" cy="1495319"/>
            </a:xfrm>
          </p:grpSpPr>
          <p:sp>
            <p:nvSpPr>
              <p:cNvPr id="18" name="Rectangle: Rounded Corners 17">
                <a:extLst>
                  <a:ext uri="{FF2B5EF4-FFF2-40B4-BE49-F238E27FC236}">
                    <a16:creationId xmlns:a16="http://schemas.microsoft.com/office/drawing/2014/main" id="{5B8978AB-E30B-7162-0808-814E64264CC1}"/>
                  </a:ext>
                </a:extLst>
              </p:cNvPr>
              <p:cNvSpPr/>
              <p:nvPr/>
            </p:nvSpPr>
            <p:spPr>
              <a:xfrm>
                <a:off x="8217970" y="2959244"/>
                <a:ext cx="3025603" cy="1361161"/>
              </a:xfrm>
              <a:prstGeom prst="roundRect">
                <a:avLst>
                  <a:gd name="adj" fmla="val 9876"/>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9" name="Rectangle: Rounded Corners 18">
                <a:extLst>
                  <a:ext uri="{FF2B5EF4-FFF2-40B4-BE49-F238E27FC236}">
                    <a16:creationId xmlns:a16="http://schemas.microsoft.com/office/drawing/2014/main" id="{804B722F-3029-EBD1-CBFB-F70C838B226D}"/>
                  </a:ext>
                </a:extLst>
              </p:cNvPr>
              <p:cNvSpPr/>
              <p:nvPr/>
            </p:nvSpPr>
            <p:spPr>
              <a:xfrm>
                <a:off x="10560504" y="2825086"/>
                <a:ext cx="584655" cy="265761"/>
              </a:xfrm>
              <a:prstGeom prst="roundRect">
                <a:avLst/>
              </a:prstGeom>
              <a:solidFill>
                <a:srgbClr val="0040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fa-IR" sz="1100" b="1" dirty="0">
                    <a:solidFill>
                      <a:schemeClr val="bg1"/>
                    </a:solidFill>
                    <a:latin typeface="Yekan Bakh FaNum SemiBold" pitchFamily="2" charset="-78"/>
                    <a:ea typeface="Yekan Bakh FaNum SemiBold" pitchFamily="2" charset="-78"/>
                    <a:cs typeface="Yekan Bakh FaNum SemiBold" pitchFamily="2" charset="-78"/>
                  </a:rPr>
                  <a:t>گام 4</a:t>
                </a:r>
                <a:endParaRPr lang="en-GB" sz="1100" b="1" dirty="0">
                  <a:solidFill>
                    <a:schemeClr val="bg1"/>
                  </a:solidFill>
                  <a:latin typeface="Yekan Bakh FaNum SemiBold" pitchFamily="2" charset="-78"/>
                  <a:ea typeface="Yekan Bakh FaNum SemiBold" pitchFamily="2" charset="-78"/>
                  <a:cs typeface="Yekan Bakh FaNum SemiBold" pitchFamily="2" charset="-78"/>
                </a:endParaRPr>
              </a:p>
            </p:txBody>
          </p:sp>
          <p:sp>
            <p:nvSpPr>
              <p:cNvPr id="20" name="TextBox 19">
                <a:extLst>
                  <a:ext uri="{FF2B5EF4-FFF2-40B4-BE49-F238E27FC236}">
                    <a16:creationId xmlns:a16="http://schemas.microsoft.com/office/drawing/2014/main" id="{1D617CDC-9B61-0A0A-C66F-B4BF1C75A434}"/>
                  </a:ext>
                </a:extLst>
              </p:cNvPr>
              <p:cNvSpPr txBox="1"/>
              <p:nvPr/>
            </p:nvSpPr>
            <p:spPr>
              <a:xfrm>
                <a:off x="8279814" y="3120077"/>
                <a:ext cx="2901914" cy="830997"/>
              </a:xfrm>
              <a:prstGeom prst="rect">
                <a:avLst/>
              </a:prstGeom>
              <a:noFill/>
            </p:spPr>
            <p:txBody>
              <a:bodyPr wrap="square">
                <a:spAutoFit/>
              </a:bodyPr>
              <a:lstStyle/>
              <a:p>
                <a:pPr algn="justLow" rtl="1">
                  <a:lnSpc>
                    <a:spcPct val="120000"/>
                  </a:lnSpc>
                  <a:spcAft>
                    <a:spcPts val="750"/>
                  </a:spcAft>
                </a:pPr>
                <a:r>
                  <a:rPr lang="fa-IR" sz="1000" b="0" dirty="0">
                    <a:solidFill>
                      <a:srgbClr val="222222"/>
                    </a:solidFill>
                    <a:latin typeface="Yekan Bakh"/>
                    <a:cs typeface="Yekan Bakh"/>
                  </a:rPr>
                  <a:t>هر کانال در هر فاز با ۷ ویژگی (کانال، نوع/مدل، منبع جذب، نقطه تماس، فعالیت، بازیگر، خروجی تجاری) به‌علاوه طبقه </a:t>
                </a:r>
                <a:r>
                  <a:rPr lang="en-US" sz="1000" b="0" dirty="0">
                    <a:solidFill>
                      <a:srgbClr val="222222"/>
                    </a:solidFill>
                    <a:latin typeface="Yekan Bakh"/>
                    <a:cs typeface="Yekan Bakh"/>
                  </a:rPr>
                  <a:t>Being/Doing</a:t>
                </a:r>
                <a:r>
                  <a:rPr lang="fa-IR" sz="1000" b="0" dirty="0">
                    <a:solidFill>
                      <a:srgbClr val="222222"/>
                    </a:solidFill>
                    <a:latin typeface="Yekan Bakh"/>
                    <a:cs typeface="Yekan Bakh"/>
                  </a:rPr>
                  <a:t> و برچسب مالکیت/برون‌سپاری مشخص می‌شود.</a:t>
                </a:r>
              </a:p>
            </p:txBody>
          </p:sp>
          <p:sp>
            <p:nvSpPr>
              <p:cNvPr id="21" name="TextBox 20">
                <a:extLst>
                  <a:ext uri="{FF2B5EF4-FFF2-40B4-BE49-F238E27FC236}">
                    <a16:creationId xmlns:a16="http://schemas.microsoft.com/office/drawing/2014/main" id="{BCB15B01-DCA8-C0B4-49DD-9D1D122C9213}"/>
                  </a:ext>
                </a:extLst>
              </p:cNvPr>
              <p:cNvSpPr txBox="1"/>
              <p:nvPr/>
            </p:nvSpPr>
            <p:spPr>
              <a:xfrm>
                <a:off x="8936181" y="2827161"/>
                <a:ext cx="1624321" cy="261610"/>
              </a:xfrm>
              <a:prstGeom prst="rect">
                <a:avLst/>
              </a:prstGeom>
              <a:solidFill>
                <a:schemeClr val="bg1"/>
              </a:solidFill>
            </p:spPr>
            <p:txBody>
              <a:bodyPr wrap="square">
                <a:spAutoFit/>
              </a:bodyPr>
              <a:lstStyle/>
              <a:p>
                <a:pPr algn="r" rtl="1"/>
                <a:r>
                  <a:rPr lang="fa-IR" sz="1100" b="1" dirty="0">
                    <a:solidFill>
                      <a:srgbClr val="00406C"/>
                    </a:solidFill>
                    <a:latin typeface="Yekan Bakh" pitchFamily="2" charset="-78"/>
                    <a:ea typeface="Yekan Bakh" pitchFamily="2" charset="-78"/>
                    <a:cs typeface="Yekan Bakh" pitchFamily="2" charset="-78"/>
                  </a:rPr>
                  <a:t>برچسب‌گذاری هفت‌بعدی </a:t>
                </a:r>
                <a:endParaRPr lang="en-GB" dirty="0">
                  <a:solidFill>
                    <a:srgbClr val="00406C"/>
                  </a:solidFill>
                </a:endParaRPr>
              </a:p>
            </p:txBody>
          </p:sp>
        </p:grpSp>
        <p:grpSp>
          <p:nvGrpSpPr>
            <p:cNvPr id="34" name="Group 33">
              <a:extLst>
                <a:ext uri="{FF2B5EF4-FFF2-40B4-BE49-F238E27FC236}">
                  <a16:creationId xmlns:a16="http://schemas.microsoft.com/office/drawing/2014/main" id="{98E42CB8-2C1E-6D64-F058-561DE2928025}"/>
                </a:ext>
              </a:extLst>
            </p:cNvPr>
            <p:cNvGrpSpPr/>
            <p:nvPr/>
          </p:nvGrpSpPr>
          <p:grpSpPr>
            <a:xfrm>
              <a:off x="4867039" y="2825086"/>
              <a:ext cx="3025603" cy="1495319"/>
              <a:chOff x="8217970" y="2825086"/>
              <a:chExt cx="3025603" cy="1495319"/>
            </a:xfrm>
          </p:grpSpPr>
          <p:sp>
            <p:nvSpPr>
              <p:cNvPr id="35" name="Rectangle: Rounded Corners 34">
                <a:extLst>
                  <a:ext uri="{FF2B5EF4-FFF2-40B4-BE49-F238E27FC236}">
                    <a16:creationId xmlns:a16="http://schemas.microsoft.com/office/drawing/2014/main" id="{CDE3CA10-AE13-D6E9-4207-AF5DAD3B4C44}"/>
                  </a:ext>
                </a:extLst>
              </p:cNvPr>
              <p:cNvSpPr/>
              <p:nvPr/>
            </p:nvSpPr>
            <p:spPr>
              <a:xfrm>
                <a:off x="8217970" y="2959244"/>
                <a:ext cx="3025603" cy="1361161"/>
              </a:xfrm>
              <a:prstGeom prst="roundRect">
                <a:avLst>
                  <a:gd name="adj" fmla="val 9876"/>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6" name="Rectangle: Rounded Corners 35">
                <a:extLst>
                  <a:ext uri="{FF2B5EF4-FFF2-40B4-BE49-F238E27FC236}">
                    <a16:creationId xmlns:a16="http://schemas.microsoft.com/office/drawing/2014/main" id="{B79B3D7B-46BB-E8A2-AC6A-707B6208231A}"/>
                  </a:ext>
                </a:extLst>
              </p:cNvPr>
              <p:cNvSpPr/>
              <p:nvPr/>
            </p:nvSpPr>
            <p:spPr>
              <a:xfrm>
                <a:off x="10560504" y="2825086"/>
                <a:ext cx="584655" cy="265761"/>
              </a:xfrm>
              <a:prstGeom prst="roundRect">
                <a:avLst/>
              </a:prstGeom>
              <a:solidFill>
                <a:srgbClr val="0040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fa-IR" sz="1100" b="1" dirty="0">
                    <a:solidFill>
                      <a:schemeClr val="bg1"/>
                    </a:solidFill>
                    <a:latin typeface="Yekan Bakh FaNum SemiBold" pitchFamily="2" charset="-78"/>
                    <a:ea typeface="Yekan Bakh FaNum SemiBold" pitchFamily="2" charset="-78"/>
                    <a:cs typeface="Yekan Bakh FaNum SemiBold" pitchFamily="2" charset="-78"/>
                  </a:rPr>
                  <a:t>گام 3</a:t>
                </a:r>
                <a:endParaRPr lang="en-GB" sz="1100" b="1" dirty="0">
                  <a:solidFill>
                    <a:schemeClr val="bg1"/>
                  </a:solidFill>
                  <a:latin typeface="Yekan Bakh FaNum SemiBold" pitchFamily="2" charset="-78"/>
                  <a:ea typeface="Yekan Bakh FaNum SemiBold" pitchFamily="2" charset="-78"/>
                  <a:cs typeface="Yekan Bakh FaNum SemiBold" pitchFamily="2" charset="-78"/>
                </a:endParaRPr>
              </a:p>
            </p:txBody>
          </p:sp>
          <p:sp>
            <p:nvSpPr>
              <p:cNvPr id="37" name="TextBox 36">
                <a:extLst>
                  <a:ext uri="{FF2B5EF4-FFF2-40B4-BE49-F238E27FC236}">
                    <a16:creationId xmlns:a16="http://schemas.microsoft.com/office/drawing/2014/main" id="{C471FAD9-1164-F4E9-DDD3-432322EE8858}"/>
                  </a:ext>
                </a:extLst>
              </p:cNvPr>
              <p:cNvSpPr txBox="1"/>
              <p:nvPr/>
            </p:nvSpPr>
            <p:spPr>
              <a:xfrm>
                <a:off x="8279814" y="3120077"/>
                <a:ext cx="2901914" cy="1015663"/>
              </a:xfrm>
              <a:prstGeom prst="rect">
                <a:avLst/>
              </a:prstGeom>
              <a:noFill/>
            </p:spPr>
            <p:txBody>
              <a:bodyPr wrap="square">
                <a:spAutoFit/>
              </a:bodyPr>
              <a:lstStyle/>
              <a:p>
                <a:pPr algn="justLow" rtl="1">
                  <a:lnSpc>
                    <a:spcPct val="120000"/>
                  </a:lnSpc>
                  <a:spcAft>
                    <a:spcPts val="750"/>
                  </a:spcAft>
                </a:pPr>
                <a:r>
                  <a:rPr lang="fa-IR" sz="1000" b="0" dirty="0">
                    <a:solidFill>
                      <a:srgbClr val="222222"/>
                    </a:solidFill>
                    <a:latin typeface="Yekan Bakh"/>
                    <a:cs typeface="Yekan Bakh"/>
                  </a:rPr>
                  <a:t>کانال‌های بازیگران مشابه بنچمارک‌شده (</a:t>
                </a:r>
                <a:r>
                  <a:rPr lang="en-US" sz="1000" b="0" dirty="0">
                    <a:solidFill>
                      <a:srgbClr val="222222"/>
                    </a:solidFill>
                    <a:latin typeface="Yekan Bakh"/>
                    <a:cs typeface="Yekan Bakh"/>
                  </a:rPr>
                  <a:t>EEN، US Commercial Service، </a:t>
                </a:r>
                <a:r>
                  <a:rPr lang="fa-IR" sz="1000" b="0" dirty="0">
                    <a:solidFill>
                      <a:srgbClr val="222222"/>
                    </a:solidFill>
                    <a:latin typeface="Yekan Bakh"/>
                    <a:cs typeface="Yekan Bakh"/>
                  </a:rPr>
                  <a:t>هیئت‌های تجاری بریتانیا و…) مورد ارزیابی قرار گرفته و با کانال های تعریف شده از گام دوم مطابقت داده می شود تا از کانال‌های بدون جنبه عملیاتی/بدون‌پشتوانه پرهیز شود.</a:t>
                </a:r>
              </a:p>
            </p:txBody>
          </p:sp>
          <p:sp>
            <p:nvSpPr>
              <p:cNvPr id="38" name="TextBox 37">
                <a:extLst>
                  <a:ext uri="{FF2B5EF4-FFF2-40B4-BE49-F238E27FC236}">
                    <a16:creationId xmlns:a16="http://schemas.microsoft.com/office/drawing/2014/main" id="{D90C47C8-5393-F554-B0D3-C3E73209CC26}"/>
                  </a:ext>
                </a:extLst>
              </p:cNvPr>
              <p:cNvSpPr txBox="1"/>
              <p:nvPr/>
            </p:nvSpPr>
            <p:spPr>
              <a:xfrm>
                <a:off x="9063487" y="2827161"/>
                <a:ext cx="1497016" cy="261610"/>
              </a:xfrm>
              <a:prstGeom prst="rect">
                <a:avLst/>
              </a:prstGeom>
              <a:solidFill>
                <a:schemeClr val="bg1"/>
              </a:solidFill>
            </p:spPr>
            <p:txBody>
              <a:bodyPr wrap="square">
                <a:spAutoFit/>
              </a:bodyPr>
              <a:lstStyle/>
              <a:p>
                <a:pPr algn="r" rtl="1"/>
                <a:r>
                  <a:rPr lang="fa-IR" sz="1100" b="1" dirty="0">
                    <a:solidFill>
                      <a:srgbClr val="00406C"/>
                    </a:solidFill>
                    <a:latin typeface="Yekan Bakh" pitchFamily="2" charset="-78"/>
                    <a:ea typeface="Yekan Bakh" pitchFamily="2" charset="-78"/>
                    <a:cs typeface="Yekan Bakh" pitchFamily="2" charset="-78"/>
                  </a:rPr>
                  <a:t>اعتبارسنجی با بنچمارک </a:t>
                </a:r>
                <a:endParaRPr lang="en-GB" dirty="0">
                  <a:solidFill>
                    <a:srgbClr val="00406C"/>
                  </a:solidFill>
                </a:endParaRPr>
              </a:p>
            </p:txBody>
          </p:sp>
        </p:grpSp>
        <p:grpSp>
          <p:nvGrpSpPr>
            <p:cNvPr id="39" name="Group 38">
              <a:extLst>
                <a:ext uri="{FF2B5EF4-FFF2-40B4-BE49-F238E27FC236}">
                  <a16:creationId xmlns:a16="http://schemas.microsoft.com/office/drawing/2014/main" id="{6EAC3D94-B749-E126-742E-F97525208BDB}"/>
                </a:ext>
              </a:extLst>
            </p:cNvPr>
            <p:cNvGrpSpPr/>
            <p:nvPr/>
          </p:nvGrpSpPr>
          <p:grpSpPr>
            <a:xfrm>
              <a:off x="1516108" y="2825086"/>
              <a:ext cx="3025603" cy="1495319"/>
              <a:chOff x="8217970" y="2825086"/>
              <a:chExt cx="3025603" cy="1495319"/>
            </a:xfrm>
          </p:grpSpPr>
          <p:sp>
            <p:nvSpPr>
              <p:cNvPr id="40" name="Rectangle: Rounded Corners 39">
                <a:extLst>
                  <a:ext uri="{FF2B5EF4-FFF2-40B4-BE49-F238E27FC236}">
                    <a16:creationId xmlns:a16="http://schemas.microsoft.com/office/drawing/2014/main" id="{37351E3C-F697-3C56-0A05-E9EEAB34AA02}"/>
                  </a:ext>
                </a:extLst>
              </p:cNvPr>
              <p:cNvSpPr/>
              <p:nvPr/>
            </p:nvSpPr>
            <p:spPr>
              <a:xfrm>
                <a:off x="8217970" y="2959244"/>
                <a:ext cx="3025603" cy="1361161"/>
              </a:xfrm>
              <a:prstGeom prst="roundRect">
                <a:avLst>
                  <a:gd name="adj" fmla="val 9876"/>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1" name="Rectangle: Rounded Corners 40">
                <a:extLst>
                  <a:ext uri="{FF2B5EF4-FFF2-40B4-BE49-F238E27FC236}">
                    <a16:creationId xmlns:a16="http://schemas.microsoft.com/office/drawing/2014/main" id="{88E75CCC-FD22-CA2C-0C5B-6343821AD32E}"/>
                  </a:ext>
                </a:extLst>
              </p:cNvPr>
              <p:cNvSpPr/>
              <p:nvPr/>
            </p:nvSpPr>
            <p:spPr>
              <a:xfrm>
                <a:off x="10560504" y="2825086"/>
                <a:ext cx="584655" cy="265761"/>
              </a:xfrm>
              <a:prstGeom prst="roundRect">
                <a:avLst/>
              </a:prstGeom>
              <a:solidFill>
                <a:srgbClr val="0040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fa-IR" sz="1100" b="1" dirty="0">
                    <a:solidFill>
                      <a:schemeClr val="bg1"/>
                    </a:solidFill>
                    <a:latin typeface="Yekan Bakh FaNum SemiBold" pitchFamily="2" charset="-78"/>
                    <a:ea typeface="Yekan Bakh FaNum SemiBold" pitchFamily="2" charset="-78"/>
                    <a:cs typeface="Yekan Bakh FaNum SemiBold" pitchFamily="2" charset="-78"/>
                  </a:rPr>
                  <a:t>گام 2</a:t>
                </a:r>
                <a:endParaRPr lang="en-GB" sz="1100" b="1" dirty="0">
                  <a:solidFill>
                    <a:schemeClr val="bg1"/>
                  </a:solidFill>
                  <a:latin typeface="Yekan Bakh FaNum SemiBold" pitchFamily="2" charset="-78"/>
                  <a:ea typeface="Yekan Bakh FaNum SemiBold" pitchFamily="2" charset="-78"/>
                  <a:cs typeface="Yekan Bakh FaNum SemiBold" pitchFamily="2" charset="-78"/>
                </a:endParaRPr>
              </a:p>
            </p:txBody>
          </p:sp>
          <p:sp>
            <p:nvSpPr>
              <p:cNvPr id="42" name="TextBox 41">
                <a:extLst>
                  <a:ext uri="{FF2B5EF4-FFF2-40B4-BE49-F238E27FC236}">
                    <a16:creationId xmlns:a16="http://schemas.microsoft.com/office/drawing/2014/main" id="{AFC832B3-5711-A2D8-267D-763204B1EAF9}"/>
                  </a:ext>
                </a:extLst>
              </p:cNvPr>
              <p:cNvSpPr txBox="1"/>
              <p:nvPr/>
            </p:nvSpPr>
            <p:spPr>
              <a:xfrm>
                <a:off x="8279814" y="3120077"/>
                <a:ext cx="2901914" cy="1015663"/>
              </a:xfrm>
              <a:prstGeom prst="rect">
                <a:avLst/>
              </a:prstGeom>
              <a:noFill/>
            </p:spPr>
            <p:txBody>
              <a:bodyPr wrap="square">
                <a:spAutoFit/>
              </a:bodyPr>
              <a:lstStyle/>
              <a:p>
                <a:pPr algn="justLow" rtl="1">
                  <a:lnSpc>
                    <a:spcPct val="120000"/>
                  </a:lnSpc>
                  <a:spcAft>
                    <a:spcPts val="750"/>
                  </a:spcAft>
                </a:pPr>
                <a:r>
                  <a:rPr lang="fa-IR" sz="1000" b="0" dirty="0">
                    <a:solidFill>
                      <a:srgbClr val="222222"/>
                    </a:solidFill>
                    <a:latin typeface="Yekan Bakh"/>
                    <a:cs typeface="Yekan Bakh"/>
                  </a:rPr>
                  <a:t>برای هر یک از ۳ فاز، این پرسش پاسخ داده می‌شود: «با توجه به رفتار مستند این پرسونا، او در کجا واقعاً با اکوسیستم فرصت ایران آشنا می‌شود، آن را می‌سنجد، و متعهد می‌شود؟» و کدام مورد از فهرست کانال، همان رفتار را پوشش می‌دهد.</a:t>
                </a:r>
              </a:p>
            </p:txBody>
          </p:sp>
          <p:sp>
            <p:nvSpPr>
              <p:cNvPr id="43" name="TextBox 42">
                <a:extLst>
                  <a:ext uri="{FF2B5EF4-FFF2-40B4-BE49-F238E27FC236}">
                    <a16:creationId xmlns:a16="http://schemas.microsoft.com/office/drawing/2014/main" id="{EA36A1A3-5D4E-8605-9FF8-DF92007544B0}"/>
                  </a:ext>
                </a:extLst>
              </p:cNvPr>
              <p:cNvSpPr txBox="1"/>
              <p:nvPr/>
            </p:nvSpPr>
            <p:spPr>
              <a:xfrm>
                <a:off x="8739051" y="2827161"/>
                <a:ext cx="1821452" cy="261610"/>
              </a:xfrm>
              <a:prstGeom prst="rect">
                <a:avLst/>
              </a:prstGeom>
              <a:solidFill>
                <a:schemeClr val="bg1"/>
              </a:solidFill>
            </p:spPr>
            <p:txBody>
              <a:bodyPr wrap="square">
                <a:spAutoFit/>
              </a:bodyPr>
              <a:lstStyle/>
              <a:p>
                <a:pPr algn="r" rtl="1"/>
                <a:r>
                  <a:rPr lang="fa-IR" sz="1100" b="1" dirty="0">
                    <a:solidFill>
                      <a:srgbClr val="00406C"/>
                    </a:solidFill>
                    <a:latin typeface="Yekan Bakh" pitchFamily="2" charset="-78"/>
                    <a:ea typeface="Yekan Bakh" pitchFamily="2" charset="-78"/>
                    <a:cs typeface="Yekan Bakh" pitchFamily="2" charset="-78"/>
                  </a:rPr>
                  <a:t>نگاشت کانال بر رفتار واقعی </a:t>
                </a:r>
                <a:endParaRPr lang="en-GB" dirty="0">
                  <a:solidFill>
                    <a:srgbClr val="00406C"/>
                  </a:solidFill>
                </a:endParaRPr>
              </a:p>
            </p:txBody>
          </p:sp>
        </p:grpSp>
      </p:grpSp>
      <p:cxnSp>
        <p:nvCxnSpPr>
          <p:cNvPr id="64" name="Straight Arrow Connector 63">
            <a:extLst>
              <a:ext uri="{FF2B5EF4-FFF2-40B4-BE49-F238E27FC236}">
                <a16:creationId xmlns:a16="http://schemas.microsoft.com/office/drawing/2014/main" id="{9D6AB967-1D80-AD97-002D-E2B606289909}"/>
              </a:ext>
            </a:extLst>
          </p:cNvPr>
          <p:cNvCxnSpPr>
            <a:stCxn id="40" idx="3"/>
            <a:endCxn id="35" idx="1"/>
          </p:cNvCxnSpPr>
          <p:nvPr/>
        </p:nvCxnSpPr>
        <p:spPr>
          <a:xfrm>
            <a:off x="4013396" y="3740333"/>
            <a:ext cx="325328"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65" name="Straight Arrow Connector 64">
            <a:extLst>
              <a:ext uri="{FF2B5EF4-FFF2-40B4-BE49-F238E27FC236}">
                <a16:creationId xmlns:a16="http://schemas.microsoft.com/office/drawing/2014/main" id="{98E731B8-2CEB-5E33-DF76-C2069F703AAC}"/>
              </a:ext>
            </a:extLst>
          </p:cNvPr>
          <p:cNvCxnSpPr/>
          <p:nvPr/>
        </p:nvCxnSpPr>
        <p:spPr>
          <a:xfrm>
            <a:off x="7364327" y="3616095"/>
            <a:ext cx="325328"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67" name="Connector: Elbow 66">
            <a:extLst>
              <a:ext uri="{FF2B5EF4-FFF2-40B4-BE49-F238E27FC236}">
                <a16:creationId xmlns:a16="http://schemas.microsoft.com/office/drawing/2014/main" id="{5853ED97-BCED-6C24-86E4-B000A3BE37B2}"/>
              </a:ext>
            </a:extLst>
          </p:cNvPr>
          <p:cNvCxnSpPr>
            <a:cxnSpLocks/>
            <a:stCxn id="18" idx="3"/>
            <a:endCxn id="57" idx="3"/>
          </p:cNvCxnSpPr>
          <p:nvPr/>
        </p:nvCxnSpPr>
        <p:spPr>
          <a:xfrm>
            <a:off x="10715258" y="3740333"/>
            <a:ext cx="12700" cy="1582309"/>
          </a:xfrm>
          <a:prstGeom prst="bentConnector3">
            <a:avLst>
              <a:gd name="adj1" fmla="val 1800000"/>
            </a:avLst>
          </a:prstGeom>
          <a:ln>
            <a:tailEnd type="triangle"/>
          </a:ln>
        </p:spPr>
        <p:style>
          <a:lnRef idx="1">
            <a:schemeClr val="accent2"/>
          </a:lnRef>
          <a:fillRef idx="0">
            <a:schemeClr val="accent2"/>
          </a:fillRef>
          <a:effectRef idx="0">
            <a:schemeClr val="accent2"/>
          </a:effectRef>
          <a:fontRef idx="minor">
            <a:schemeClr val="tx1"/>
          </a:fontRef>
        </p:style>
      </p:cxnSp>
      <p:grpSp>
        <p:nvGrpSpPr>
          <p:cNvPr id="91" name="Group 90">
            <a:extLst>
              <a:ext uri="{FF2B5EF4-FFF2-40B4-BE49-F238E27FC236}">
                <a16:creationId xmlns:a16="http://schemas.microsoft.com/office/drawing/2014/main" id="{34D184DB-5E50-CB20-EEB2-125BAF3E41E9}"/>
              </a:ext>
            </a:extLst>
          </p:cNvPr>
          <p:cNvGrpSpPr/>
          <p:nvPr/>
        </p:nvGrpSpPr>
        <p:grpSpPr>
          <a:xfrm>
            <a:off x="987793" y="4656980"/>
            <a:ext cx="9727465" cy="1197165"/>
            <a:chOff x="987793" y="4517834"/>
            <a:chExt cx="9727465" cy="1197165"/>
          </a:xfrm>
        </p:grpSpPr>
        <p:sp>
          <p:nvSpPr>
            <p:cNvPr id="57" name="Rectangle: Rounded Corners 56">
              <a:extLst>
                <a:ext uri="{FF2B5EF4-FFF2-40B4-BE49-F238E27FC236}">
                  <a16:creationId xmlns:a16="http://schemas.microsoft.com/office/drawing/2014/main" id="{26AE4CC9-5C8B-4DC0-05D5-2394148CC35C}"/>
                </a:ext>
              </a:extLst>
            </p:cNvPr>
            <p:cNvSpPr/>
            <p:nvPr/>
          </p:nvSpPr>
          <p:spPr>
            <a:xfrm>
              <a:off x="7689655" y="4651993"/>
              <a:ext cx="3025603" cy="1063006"/>
            </a:xfrm>
            <a:prstGeom prst="roundRect">
              <a:avLst>
                <a:gd name="adj" fmla="val 9876"/>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8" name="Rectangle: Rounded Corners 57">
              <a:extLst>
                <a:ext uri="{FF2B5EF4-FFF2-40B4-BE49-F238E27FC236}">
                  <a16:creationId xmlns:a16="http://schemas.microsoft.com/office/drawing/2014/main" id="{AE22FF8E-E5F0-E6F2-9323-AC27C3E764A7}"/>
                </a:ext>
              </a:extLst>
            </p:cNvPr>
            <p:cNvSpPr/>
            <p:nvPr/>
          </p:nvSpPr>
          <p:spPr>
            <a:xfrm>
              <a:off x="10032189" y="4517834"/>
              <a:ext cx="584655" cy="265761"/>
            </a:xfrm>
            <a:prstGeom prst="roundRect">
              <a:avLst/>
            </a:prstGeom>
            <a:solidFill>
              <a:srgbClr val="0040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fa-IR" sz="1100" b="1" dirty="0">
                  <a:solidFill>
                    <a:schemeClr val="bg1"/>
                  </a:solidFill>
                  <a:latin typeface="Yekan Bakh FaNum SemiBold" pitchFamily="2" charset="-78"/>
                  <a:ea typeface="Yekan Bakh FaNum SemiBold" pitchFamily="2" charset="-78"/>
                  <a:cs typeface="Yekan Bakh FaNum SemiBold" pitchFamily="2" charset="-78"/>
                </a:rPr>
                <a:t>گام 5</a:t>
              </a:r>
              <a:endParaRPr lang="en-GB" sz="1100" b="1" dirty="0">
                <a:solidFill>
                  <a:schemeClr val="bg1"/>
                </a:solidFill>
                <a:latin typeface="Yekan Bakh FaNum SemiBold" pitchFamily="2" charset="-78"/>
                <a:ea typeface="Yekan Bakh FaNum SemiBold" pitchFamily="2" charset="-78"/>
                <a:cs typeface="Yekan Bakh FaNum SemiBold" pitchFamily="2" charset="-78"/>
              </a:endParaRPr>
            </a:p>
          </p:txBody>
        </p:sp>
        <p:sp>
          <p:nvSpPr>
            <p:cNvPr id="59" name="TextBox 58">
              <a:extLst>
                <a:ext uri="{FF2B5EF4-FFF2-40B4-BE49-F238E27FC236}">
                  <a16:creationId xmlns:a16="http://schemas.microsoft.com/office/drawing/2014/main" id="{3A510F7F-1758-EAF6-A693-D8EBB676C50C}"/>
                </a:ext>
              </a:extLst>
            </p:cNvPr>
            <p:cNvSpPr txBox="1"/>
            <p:nvPr/>
          </p:nvSpPr>
          <p:spPr>
            <a:xfrm>
              <a:off x="7751499" y="4812825"/>
              <a:ext cx="2901914" cy="461665"/>
            </a:xfrm>
            <a:prstGeom prst="rect">
              <a:avLst/>
            </a:prstGeom>
            <a:noFill/>
          </p:spPr>
          <p:txBody>
            <a:bodyPr wrap="square">
              <a:spAutoFit/>
            </a:bodyPr>
            <a:lstStyle/>
            <a:p>
              <a:pPr algn="justLow" rtl="1">
                <a:lnSpc>
                  <a:spcPct val="120000"/>
                </a:lnSpc>
                <a:spcAft>
                  <a:spcPts val="750"/>
                </a:spcAft>
              </a:pPr>
              <a:r>
                <a:rPr lang="fa-IR" sz="1000" b="0" dirty="0">
                  <a:solidFill>
                    <a:srgbClr val="222222"/>
                  </a:solidFill>
                  <a:latin typeface="Yekan Bakh"/>
                  <a:cs typeface="Yekan Bakh"/>
                </a:rPr>
                <a:t>کانال‌های معرف </a:t>
              </a:r>
              <a:r>
                <a:rPr lang="en-US" sz="1000" b="0" dirty="0">
                  <a:solidFill>
                    <a:srgbClr val="222222"/>
                  </a:solidFill>
                  <a:latin typeface="Yekan Bakh"/>
                  <a:cs typeface="Yekan Bakh"/>
                </a:rPr>
                <a:t>enabler</a:t>
              </a:r>
              <a:r>
                <a:rPr lang="fa-IR" sz="1000" b="0" dirty="0">
                  <a:solidFill>
                    <a:srgbClr val="222222"/>
                  </a:solidFill>
                  <a:latin typeface="Yekan Bakh"/>
                  <a:cs typeface="Yekan Bakh"/>
                </a:rPr>
                <a:t> (غیرمشتری) به‌صورت مجزا تحلیل می‌شوند.</a:t>
              </a:r>
            </a:p>
          </p:txBody>
        </p:sp>
        <p:sp>
          <p:nvSpPr>
            <p:cNvPr id="60" name="TextBox 59">
              <a:extLst>
                <a:ext uri="{FF2B5EF4-FFF2-40B4-BE49-F238E27FC236}">
                  <a16:creationId xmlns:a16="http://schemas.microsoft.com/office/drawing/2014/main" id="{6F4F81AE-0A9A-635D-0971-F95EC453A78F}"/>
                </a:ext>
              </a:extLst>
            </p:cNvPr>
            <p:cNvSpPr txBox="1"/>
            <p:nvPr/>
          </p:nvSpPr>
          <p:spPr>
            <a:xfrm>
              <a:off x="8407866" y="4519909"/>
              <a:ext cx="1624321" cy="261610"/>
            </a:xfrm>
            <a:prstGeom prst="rect">
              <a:avLst/>
            </a:prstGeom>
            <a:solidFill>
              <a:schemeClr val="bg1"/>
            </a:solidFill>
          </p:spPr>
          <p:txBody>
            <a:bodyPr wrap="square">
              <a:spAutoFit/>
            </a:bodyPr>
            <a:lstStyle/>
            <a:p>
              <a:pPr algn="r" rtl="1"/>
              <a:r>
                <a:rPr lang="fa-IR" sz="1100" b="1" dirty="0">
                  <a:solidFill>
                    <a:srgbClr val="00406C"/>
                  </a:solidFill>
                  <a:latin typeface="Yekan Bakh" pitchFamily="2" charset="-78"/>
                  <a:ea typeface="Yekan Bakh" pitchFamily="2" charset="-78"/>
                  <a:cs typeface="Yekan Bakh" pitchFamily="2" charset="-78"/>
                </a:rPr>
                <a:t>تحلیل مسیر معرف‌ها (</a:t>
              </a:r>
              <a:r>
                <a:rPr lang="en-US" sz="1100" b="1" dirty="0">
                  <a:solidFill>
                    <a:srgbClr val="00406C"/>
                  </a:solidFill>
                  <a:latin typeface="Yekan Bakh" pitchFamily="2" charset="-78"/>
                  <a:ea typeface="Yekan Bakh" pitchFamily="2" charset="-78"/>
                  <a:cs typeface="Yekan Bakh" pitchFamily="2" charset="-78"/>
                </a:rPr>
                <a:t>(B</a:t>
              </a:r>
              <a:endParaRPr lang="en-GB" dirty="0">
                <a:solidFill>
                  <a:srgbClr val="00406C"/>
                </a:solidFill>
              </a:endParaRPr>
            </a:p>
          </p:txBody>
        </p:sp>
        <p:sp>
          <p:nvSpPr>
            <p:cNvPr id="53" name="Rectangle: Rounded Corners 52">
              <a:extLst>
                <a:ext uri="{FF2B5EF4-FFF2-40B4-BE49-F238E27FC236}">
                  <a16:creationId xmlns:a16="http://schemas.microsoft.com/office/drawing/2014/main" id="{16BE3E0C-970C-FBDF-A876-D673237D586E}"/>
                </a:ext>
              </a:extLst>
            </p:cNvPr>
            <p:cNvSpPr/>
            <p:nvPr/>
          </p:nvSpPr>
          <p:spPr>
            <a:xfrm>
              <a:off x="4338724" y="4651993"/>
              <a:ext cx="3025603" cy="1063006"/>
            </a:xfrm>
            <a:prstGeom prst="roundRect">
              <a:avLst>
                <a:gd name="adj" fmla="val 9876"/>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4" name="Rectangle: Rounded Corners 53">
              <a:extLst>
                <a:ext uri="{FF2B5EF4-FFF2-40B4-BE49-F238E27FC236}">
                  <a16:creationId xmlns:a16="http://schemas.microsoft.com/office/drawing/2014/main" id="{595FB3FF-98CB-143B-3A67-72DC1C5A6BFC}"/>
                </a:ext>
              </a:extLst>
            </p:cNvPr>
            <p:cNvSpPr/>
            <p:nvPr/>
          </p:nvSpPr>
          <p:spPr>
            <a:xfrm>
              <a:off x="6681258" y="4517834"/>
              <a:ext cx="584655" cy="265761"/>
            </a:xfrm>
            <a:prstGeom prst="roundRect">
              <a:avLst/>
            </a:prstGeom>
            <a:solidFill>
              <a:srgbClr val="0040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fa-IR" sz="1100" b="1" dirty="0">
                  <a:solidFill>
                    <a:schemeClr val="bg1"/>
                  </a:solidFill>
                  <a:latin typeface="Yekan Bakh FaNum SemiBold" pitchFamily="2" charset="-78"/>
                  <a:ea typeface="Yekan Bakh FaNum SemiBold" pitchFamily="2" charset="-78"/>
                  <a:cs typeface="Yekan Bakh FaNum SemiBold" pitchFamily="2" charset="-78"/>
                </a:rPr>
                <a:t>گام 6</a:t>
              </a:r>
              <a:endParaRPr lang="en-GB" sz="1100" b="1" dirty="0">
                <a:solidFill>
                  <a:schemeClr val="bg1"/>
                </a:solidFill>
                <a:latin typeface="Yekan Bakh FaNum SemiBold" pitchFamily="2" charset="-78"/>
                <a:ea typeface="Yekan Bakh FaNum SemiBold" pitchFamily="2" charset="-78"/>
                <a:cs typeface="Yekan Bakh FaNum SemiBold" pitchFamily="2" charset="-78"/>
              </a:endParaRPr>
            </a:p>
          </p:txBody>
        </p:sp>
        <p:sp>
          <p:nvSpPr>
            <p:cNvPr id="55" name="TextBox 54">
              <a:extLst>
                <a:ext uri="{FF2B5EF4-FFF2-40B4-BE49-F238E27FC236}">
                  <a16:creationId xmlns:a16="http://schemas.microsoft.com/office/drawing/2014/main" id="{13EF425A-AC9E-5C89-6F14-441C7E61D2E1}"/>
                </a:ext>
              </a:extLst>
            </p:cNvPr>
            <p:cNvSpPr txBox="1"/>
            <p:nvPr/>
          </p:nvSpPr>
          <p:spPr>
            <a:xfrm>
              <a:off x="4400568" y="4812825"/>
              <a:ext cx="2901914" cy="646331"/>
            </a:xfrm>
            <a:prstGeom prst="rect">
              <a:avLst/>
            </a:prstGeom>
            <a:noFill/>
          </p:spPr>
          <p:txBody>
            <a:bodyPr wrap="square">
              <a:spAutoFit/>
            </a:bodyPr>
            <a:lstStyle/>
            <a:p>
              <a:pPr algn="justLow" rtl="1">
                <a:lnSpc>
                  <a:spcPct val="120000"/>
                </a:lnSpc>
                <a:spcAft>
                  <a:spcPts val="750"/>
                </a:spcAft>
              </a:pPr>
              <a:r>
                <a:rPr lang="fa-IR" sz="1000" b="0" dirty="0">
                  <a:solidFill>
                    <a:srgbClr val="222222"/>
                  </a:solidFill>
                  <a:latin typeface="Yekan Bakh"/>
                  <a:cs typeface="Yekan Bakh"/>
                </a:rPr>
                <a:t>همه کانال‌های شناسایی‌شده (مسیر </a:t>
              </a:r>
              <a:r>
                <a:rPr lang="en-US" sz="1000" b="0" dirty="0">
                  <a:solidFill>
                    <a:srgbClr val="222222"/>
                  </a:solidFill>
                  <a:latin typeface="Yekan Bakh"/>
                  <a:cs typeface="Yekan Bakh"/>
                </a:rPr>
                <a:t>A </a:t>
              </a:r>
              <a:r>
                <a:rPr lang="fa-IR" sz="1000" b="0" dirty="0">
                  <a:solidFill>
                    <a:srgbClr val="222222"/>
                  </a:solidFill>
                  <a:latin typeface="Yekan Bakh"/>
                  <a:cs typeface="Yekan Bakh"/>
                </a:rPr>
                <a:t> و </a:t>
              </a:r>
              <a:r>
                <a:rPr lang="en-US" sz="1000" b="0" dirty="0">
                  <a:solidFill>
                    <a:srgbClr val="222222"/>
                  </a:solidFill>
                  <a:latin typeface="Yekan Bakh"/>
                  <a:cs typeface="Yekan Bakh"/>
                </a:rPr>
                <a:t>B </a:t>
              </a:r>
              <a:r>
                <a:rPr lang="fa-IR" sz="1000" b="0" dirty="0">
                  <a:solidFill>
                    <a:srgbClr val="222222"/>
                  </a:solidFill>
                  <a:latin typeface="Yekan Bakh"/>
                  <a:cs typeface="Yekan Bakh"/>
                </a:rPr>
                <a:t>) بر پنج معیار ارزیابی شده اند و اولویت آن ها مشخص شده است. </a:t>
              </a:r>
            </a:p>
          </p:txBody>
        </p:sp>
        <p:sp>
          <p:nvSpPr>
            <p:cNvPr id="56" name="TextBox 55">
              <a:extLst>
                <a:ext uri="{FF2B5EF4-FFF2-40B4-BE49-F238E27FC236}">
                  <a16:creationId xmlns:a16="http://schemas.microsoft.com/office/drawing/2014/main" id="{59EE4268-4D3E-F975-F8AB-4838D23F88CD}"/>
                </a:ext>
              </a:extLst>
            </p:cNvPr>
            <p:cNvSpPr txBox="1"/>
            <p:nvPr/>
          </p:nvSpPr>
          <p:spPr>
            <a:xfrm>
              <a:off x="5021793" y="4519909"/>
              <a:ext cx="1659464" cy="261610"/>
            </a:xfrm>
            <a:prstGeom prst="rect">
              <a:avLst/>
            </a:prstGeom>
            <a:solidFill>
              <a:schemeClr val="bg1"/>
            </a:solidFill>
          </p:spPr>
          <p:txBody>
            <a:bodyPr wrap="square">
              <a:spAutoFit/>
            </a:bodyPr>
            <a:lstStyle/>
            <a:p>
              <a:pPr algn="r" rtl="1"/>
              <a:r>
                <a:rPr lang="fa-IR" sz="1100" b="1" dirty="0">
                  <a:solidFill>
                    <a:srgbClr val="00406C"/>
                  </a:solidFill>
                  <a:latin typeface="Yekan Bakh" pitchFamily="2" charset="-78"/>
                  <a:ea typeface="Yekan Bakh" pitchFamily="2" charset="-78"/>
                  <a:cs typeface="Yekan Bakh" pitchFamily="2" charset="-78"/>
                </a:rPr>
                <a:t>امتیازدهی و اولویت‌بندی </a:t>
              </a:r>
              <a:endParaRPr lang="en-GB" dirty="0">
                <a:solidFill>
                  <a:srgbClr val="00406C"/>
                </a:solidFill>
              </a:endParaRPr>
            </a:p>
          </p:txBody>
        </p:sp>
        <p:sp>
          <p:nvSpPr>
            <p:cNvPr id="49" name="Rectangle: Rounded Corners 48">
              <a:extLst>
                <a:ext uri="{FF2B5EF4-FFF2-40B4-BE49-F238E27FC236}">
                  <a16:creationId xmlns:a16="http://schemas.microsoft.com/office/drawing/2014/main" id="{3363A564-8963-ED48-339B-0136825E9A87}"/>
                </a:ext>
              </a:extLst>
            </p:cNvPr>
            <p:cNvSpPr/>
            <p:nvPr/>
          </p:nvSpPr>
          <p:spPr>
            <a:xfrm>
              <a:off x="987793" y="4651993"/>
              <a:ext cx="3025603" cy="1063006"/>
            </a:xfrm>
            <a:prstGeom prst="roundRect">
              <a:avLst>
                <a:gd name="adj" fmla="val 9876"/>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0" name="Rectangle: Rounded Corners 49">
              <a:extLst>
                <a:ext uri="{FF2B5EF4-FFF2-40B4-BE49-F238E27FC236}">
                  <a16:creationId xmlns:a16="http://schemas.microsoft.com/office/drawing/2014/main" id="{B4D41CA7-24FF-8DCD-27E4-3E7DC981C3A5}"/>
                </a:ext>
              </a:extLst>
            </p:cNvPr>
            <p:cNvSpPr/>
            <p:nvPr/>
          </p:nvSpPr>
          <p:spPr>
            <a:xfrm>
              <a:off x="3330327" y="4517834"/>
              <a:ext cx="584655" cy="265761"/>
            </a:xfrm>
            <a:prstGeom prst="roundRect">
              <a:avLst/>
            </a:prstGeom>
            <a:solidFill>
              <a:srgbClr val="0040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fa-IR" sz="1100" b="1" dirty="0">
                  <a:solidFill>
                    <a:schemeClr val="bg1"/>
                  </a:solidFill>
                  <a:latin typeface="Yekan Bakh FaNum SemiBold" pitchFamily="2" charset="-78"/>
                  <a:ea typeface="Yekan Bakh FaNum SemiBold" pitchFamily="2" charset="-78"/>
                  <a:cs typeface="Yekan Bakh FaNum SemiBold" pitchFamily="2" charset="-78"/>
                </a:rPr>
                <a:t>گام 7</a:t>
              </a:r>
              <a:endParaRPr lang="en-GB" sz="1100" b="1" dirty="0">
                <a:solidFill>
                  <a:schemeClr val="bg1"/>
                </a:solidFill>
                <a:latin typeface="Yekan Bakh FaNum SemiBold" pitchFamily="2" charset="-78"/>
                <a:ea typeface="Yekan Bakh FaNum SemiBold" pitchFamily="2" charset="-78"/>
                <a:cs typeface="Yekan Bakh FaNum SemiBold" pitchFamily="2" charset="-78"/>
              </a:endParaRPr>
            </a:p>
          </p:txBody>
        </p:sp>
        <p:sp>
          <p:nvSpPr>
            <p:cNvPr id="51" name="TextBox 50">
              <a:extLst>
                <a:ext uri="{FF2B5EF4-FFF2-40B4-BE49-F238E27FC236}">
                  <a16:creationId xmlns:a16="http://schemas.microsoft.com/office/drawing/2014/main" id="{5EFCE715-BD81-02BF-DE74-F1C91BA8CDC2}"/>
                </a:ext>
              </a:extLst>
            </p:cNvPr>
            <p:cNvSpPr txBox="1"/>
            <p:nvPr/>
          </p:nvSpPr>
          <p:spPr>
            <a:xfrm>
              <a:off x="1049637" y="4812825"/>
              <a:ext cx="2901914" cy="830997"/>
            </a:xfrm>
            <a:prstGeom prst="rect">
              <a:avLst/>
            </a:prstGeom>
            <a:noFill/>
          </p:spPr>
          <p:txBody>
            <a:bodyPr wrap="square">
              <a:spAutoFit/>
            </a:bodyPr>
            <a:lstStyle/>
            <a:p>
              <a:pPr algn="justLow" rtl="1">
                <a:lnSpc>
                  <a:spcPct val="120000"/>
                </a:lnSpc>
                <a:spcAft>
                  <a:spcPts val="750"/>
                </a:spcAft>
              </a:pPr>
              <a:r>
                <a:rPr lang="fa-IR" sz="1000" b="0" dirty="0">
                  <a:solidFill>
                    <a:srgbClr val="222222"/>
                  </a:solidFill>
                  <a:latin typeface="Yekan Bakh"/>
                  <a:cs typeface="Yekan Bakh"/>
                </a:rPr>
                <a:t>خروجی به طبقه‌بندی مالکیت/برون سپاری اکوسیستم فرصت ایران، اقدامات قابل‌اجرای فاز عملیاتی و یک نقشه جامع نهایی کانال تبدیل می‌شود.</a:t>
              </a:r>
            </a:p>
          </p:txBody>
        </p:sp>
        <p:sp>
          <p:nvSpPr>
            <p:cNvPr id="52" name="TextBox 51">
              <a:extLst>
                <a:ext uri="{FF2B5EF4-FFF2-40B4-BE49-F238E27FC236}">
                  <a16:creationId xmlns:a16="http://schemas.microsoft.com/office/drawing/2014/main" id="{9466356A-F151-49F5-727C-276358EFCDD4}"/>
                </a:ext>
              </a:extLst>
            </p:cNvPr>
            <p:cNvSpPr txBox="1"/>
            <p:nvPr/>
          </p:nvSpPr>
          <p:spPr>
            <a:xfrm>
              <a:off x="2826688" y="4519909"/>
              <a:ext cx="503637" cy="261610"/>
            </a:xfrm>
            <a:prstGeom prst="rect">
              <a:avLst/>
            </a:prstGeom>
            <a:solidFill>
              <a:schemeClr val="bg1"/>
            </a:solidFill>
          </p:spPr>
          <p:txBody>
            <a:bodyPr wrap="square">
              <a:spAutoFit/>
            </a:bodyPr>
            <a:lstStyle/>
            <a:p>
              <a:pPr algn="r" rtl="1"/>
              <a:r>
                <a:rPr lang="fa-IR" sz="1100" b="1" dirty="0">
                  <a:solidFill>
                    <a:srgbClr val="00406C"/>
                  </a:solidFill>
                  <a:latin typeface="Yekan Bakh" pitchFamily="2" charset="-78"/>
                  <a:ea typeface="Yekan Bakh" pitchFamily="2" charset="-78"/>
                  <a:cs typeface="Yekan Bakh" pitchFamily="2" charset="-78"/>
                </a:rPr>
                <a:t>سنتز</a:t>
              </a:r>
              <a:endParaRPr lang="en-GB" dirty="0">
                <a:solidFill>
                  <a:srgbClr val="00406C"/>
                </a:solidFill>
              </a:endParaRPr>
            </a:p>
          </p:txBody>
        </p:sp>
        <p:cxnSp>
          <p:nvCxnSpPr>
            <p:cNvPr id="70" name="Straight Arrow Connector 69">
              <a:extLst>
                <a:ext uri="{FF2B5EF4-FFF2-40B4-BE49-F238E27FC236}">
                  <a16:creationId xmlns:a16="http://schemas.microsoft.com/office/drawing/2014/main" id="{AA6311FC-05FB-B9ED-6A6A-8E6E8D564E0B}"/>
                </a:ext>
              </a:extLst>
            </p:cNvPr>
            <p:cNvCxnSpPr>
              <a:cxnSpLocks/>
              <a:stCxn id="57" idx="1"/>
              <a:endCxn id="53" idx="3"/>
            </p:cNvCxnSpPr>
            <p:nvPr/>
          </p:nvCxnSpPr>
          <p:spPr>
            <a:xfrm flipH="1">
              <a:off x="7364327" y="5183496"/>
              <a:ext cx="325328"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71" name="Straight Arrow Connector 70">
              <a:extLst>
                <a:ext uri="{FF2B5EF4-FFF2-40B4-BE49-F238E27FC236}">
                  <a16:creationId xmlns:a16="http://schemas.microsoft.com/office/drawing/2014/main" id="{52F09699-D12F-EF4F-39A3-018B90C4630B}"/>
                </a:ext>
              </a:extLst>
            </p:cNvPr>
            <p:cNvCxnSpPr/>
            <p:nvPr/>
          </p:nvCxnSpPr>
          <p:spPr>
            <a:xfrm flipH="1">
              <a:off x="4013396" y="5332573"/>
              <a:ext cx="325328"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grpSp>
    </p:spTree>
    <p:extLst>
      <p:ext uri="{BB962C8B-B14F-4D97-AF65-F5344CB8AC3E}">
        <p14:creationId xmlns:p14="http://schemas.microsoft.com/office/powerpoint/2010/main" val="4030321530"/>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C70CD52-5E9F-6C0B-19D0-4A4E1E6E0AFB}"/>
              </a:ext>
            </a:extLst>
          </p:cNvPr>
          <p:cNvSpPr>
            <a:spLocks noGrp="1"/>
          </p:cNvSpPr>
          <p:nvPr>
            <p:ph type="body" sz="quarter" idx="10"/>
          </p:nvPr>
        </p:nvSpPr>
        <p:spPr/>
        <p:txBody>
          <a:bodyPr/>
          <a:lstStyle/>
          <a:p>
            <a:r>
              <a:rPr lang="fa-IR" dirty="0"/>
              <a:t>تحلیل عمیق کانال — پرسونا 1</a:t>
            </a:r>
          </a:p>
        </p:txBody>
      </p:sp>
      <p:sp>
        <p:nvSpPr>
          <p:cNvPr id="3" name="Text Placeholder 2">
            <a:extLst>
              <a:ext uri="{FF2B5EF4-FFF2-40B4-BE49-F238E27FC236}">
                <a16:creationId xmlns:a16="http://schemas.microsoft.com/office/drawing/2014/main" id="{E8D1A0B0-F1ED-FE91-7839-EC8A8076DF25}"/>
              </a:ext>
            </a:extLst>
          </p:cNvPr>
          <p:cNvSpPr>
            <a:spLocks noGrp="1"/>
          </p:cNvSpPr>
          <p:nvPr>
            <p:ph type="body" sz="quarter" idx="12"/>
          </p:nvPr>
        </p:nvSpPr>
        <p:spPr/>
        <p:txBody>
          <a:bodyPr/>
          <a:lstStyle/>
          <a:p>
            <a:r>
              <a:rPr lang="fa-IR" dirty="0"/>
              <a:t>۱. کسب‌وکار تراز ایرانی</a:t>
            </a:r>
          </a:p>
        </p:txBody>
      </p:sp>
      <p:graphicFrame>
        <p:nvGraphicFramePr>
          <p:cNvPr id="7" name="Table 6">
            <a:extLst>
              <a:ext uri="{FF2B5EF4-FFF2-40B4-BE49-F238E27FC236}">
                <a16:creationId xmlns:a16="http://schemas.microsoft.com/office/drawing/2014/main" id="{64189932-385B-325E-9E1B-93B721AE9CF0}"/>
              </a:ext>
            </a:extLst>
          </p:cNvPr>
          <p:cNvGraphicFramePr>
            <a:graphicFrameLocks noGrp="1"/>
          </p:cNvGraphicFramePr>
          <p:nvPr>
            <p:extLst>
              <p:ext uri="{D42A27DB-BD31-4B8C-83A1-F6EECF244321}">
                <p14:modId xmlns:p14="http://schemas.microsoft.com/office/powerpoint/2010/main" val="2481324957"/>
              </p:ext>
            </p:extLst>
          </p:nvPr>
        </p:nvGraphicFramePr>
        <p:xfrm>
          <a:off x="457199" y="1918252"/>
          <a:ext cx="10788648" cy="3770270"/>
        </p:xfrm>
        <a:graphic>
          <a:graphicData uri="http://schemas.openxmlformats.org/drawingml/2006/table">
            <a:tbl>
              <a:tblPr firstRow="1" bandRow="1">
                <a:tableStyleId>{5C22544A-7EE6-4342-B048-85BDC9FD1C3A}</a:tableStyleId>
              </a:tblPr>
              <a:tblGrid>
                <a:gridCol w="2697162">
                  <a:extLst>
                    <a:ext uri="{9D8B030D-6E8A-4147-A177-3AD203B41FA5}">
                      <a16:colId xmlns:a16="http://schemas.microsoft.com/office/drawing/2014/main" val="460191556"/>
                    </a:ext>
                  </a:extLst>
                </a:gridCol>
                <a:gridCol w="2697162">
                  <a:extLst>
                    <a:ext uri="{9D8B030D-6E8A-4147-A177-3AD203B41FA5}">
                      <a16:colId xmlns:a16="http://schemas.microsoft.com/office/drawing/2014/main" val="1589458168"/>
                    </a:ext>
                  </a:extLst>
                </a:gridCol>
                <a:gridCol w="2697162">
                  <a:extLst>
                    <a:ext uri="{9D8B030D-6E8A-4147-A177-3AD203B41FA5}">
                      <a16:colId xmlns:a16="http://schemas.microsoft.com/office/drawing/2014/main" val="2044792427"/>
                    </a:ext>
                  </a:extLst>
                </a:gridCol>
                <a:gridCol w="2697162">
                  <a:extLst>
                    <a:ext uri="{9D8B030D-6E8A-4147-A177-3AD203B41FA5}">
                      <a16:colId xmlns:a16="http://schemas.microsoft.com/office/drawing/2014/main" val="20000"/>
                    </a:ext>
                  </a:extLst>
                </a:gridCol>
              </a:tblGrid>
              <a:tr h="363173">
                <a:tc>
                  <a:txBody>
                    <a:bodyPr/>
                    <a:lstStyle/>
                    <a:p>
                      <a:pPr algn="ctr" rtl="1">
                        <a:lnSpc>
                          <a:spcPct val="105000"/>
                        </a:lnSpc>
                      </a:pPr>
                      <a:r>
                        <a:rPr sz="1100" b="1" dirty="0" err="1">
                          <a:solidFill>
                            <a:srgbClr val="FFFFFF"/>
                          </a:solidFill>
                          <a:latin typeface="Yekan Bakh" pitchFamily="2" charset="-78"/>
                          <a:ea typeface="Yekan Bakh" pitchFamily="2" charset="-78"/>
                          <a:cs typeface="Yekan Bakh" pitchFamily="2" charset="-78"/>
                        </a:rPr>
                        <a:t>خرید</a:t>
                      </a:r>
                      <a:endParaRPr sz="1100" b="1" dirty="0">
                        <a:solidFill>
                          <a:srgbClr val="FFFFFF"/>
                        </a:solidFill>
                        <a:latin typeface="Yekan Bakh" pitchFamily="2" charset="-78"/>
                        <a:ea typeface="Yekan Bakh" pitchFamily="2" charset="-78"/>
                        <a:cs typeface="Yekan Bakh" pitchFamily="2" charset="-78"/>
                      </a:endParaRPr>
                    </a:p>
                  </a:txBody>
                  <a:tcPr marL="50800" marR="50800" marT="38100" marB="38100" anchor="ctr">
                    <a:solidFill>
                      <a:srgbClr val="00406C">
                        <a:alpha val="30000"/>
                      </a:srgbClr>
                    </a:solidFill>
                  </a:tcPr>
                </a:tc>
                <a:tc>
                  <a:txBody>
                    <a:bodyPr/>
                    <a:lstStyle/>
                    <a:p>
                      <a:pPr algn="ctr" rtl="1">
                        <a:lnSpc>
                          <a:spcPct val="105000"/>
                        </a:lnSpc>
                      </a:pPr>
                      <a:r>
                        <a:rPr sz="1100" b="1" dirty="0" err="1">
                          <a:solidFill>
                            <a:srgbClr val="FFFFFF"/>
                          </a:solidFill>
                          <a:latin typeface="Yekan Bakh" pitchFamily="2" charset="-78"/>
                          <a:ea typeface="Yekan Bakh" pitchFamily="2" charset="-78"/>
                          <a:cs typeface="Yekan Bakh" pitchFamily="2" charset="-78"/>
                        </a:rPr>
                        <a:t>ارزیابی</a:t>
                      </a:r>
                      <a:endParaRPr sz="1100" b="1" dirty="0">
                        <a:solidFill>
                          <a:srgbClr val="FFFFFF"/>
                        </a:solidFill>
                        <a:latin typeface="Yekan Bakh" pitchFamily="2" charset="-78"/>
                        <a:ea typeface="Yekan Bakh" pitchFamily="2" charset="-78"/>
                        <a:cs typeface="Yekan Bakh" pitchFamily="2" charset="-78"/>
                      </a:endParaRPr>
                    </a:p>
                  </a:txBody>
                  <a:tcPr marL="50800" marR="50800" marT="38100" marB="38100" anchor="ctr">
                    <a:solidFill>
                      <a:srgbClr val="00406C">
                        <a:alpha val="70000"/>
                      </a:srgbClr>
                    </a:solidFill>
                  </a:tcPr>
                </a:tc>
                <a:tc>
                  <a:txBody>
                    <a:bodyPr/>
                    <a:lstStyle/>
                    <a:p>
                      <a:pPr algn="ctr" rtl="1">
                        <a:lnSpc>
                          <a:spcPct val="105000"/>
                        </a:lnSpc>
                      </a:pPr>
                      <a:r>
                        <a:rPr sz="1100" b="1" dirty="0" err="1">
                          <a:solidFill>
                            <a:srgbClr val="FFFFFF"/>
                          </a:solidFill>
                          <a:latin typeface="Yekan Bakh" pitchFamily="2" charset="-78"/>
                          <a:ea typeface="Yekan Bakh" pitchFamily="2" charset="-78"/>
                          <a:cs typeface="Yekan Bakh" pitchFamily="2" charset="-78"/>
                        </a:rPr>
                        <a:t>آگاهی‌سازی</a:t>
                      </a:r>
                      <a:endParaRPr sz="1100" b="1" dirty="0">
                        <a:solidFill>
                          <a:srgbClr val="FFFFFF"/>
                        </a:solidFill>
                        <a:latin typeface="Yekan Bakh" pitchFamily="2" charset="-78"/>
                        <a:ea typeface="Yekan Bakh" pitchFamily="2" charset="-78"/>
                        <a:cs typeface="Yekan Bakh" pitchFamily="2" charset="-78"/>
                      </a:endParaRPr>
                    </a:p>
                  </a:txBody>
                  <a:tcPr marL="50800" marR="50800" marT="38100" marB="38100" anchor="ctr">
                    <a:solidFill>
                      <a:srgbClr val="00406C"/>
                    </a:solidFill>
                  </a:tcPr>
                </a:tc>
                <a:tc>
                  <a:txBody>
                    <a:bodyPr/>
                    <a:lstStyle/>
                    <a:p>
                      <a:pPr algn="ctr" rtl="1">
                        <a:lnSpc>
                          <a:spcPct val="105000"/>
                        </a:lnSpc>
                      </a:pPr>
                      <a:endParaRPr sz="1100" dirty="0">
                        <a:latin typeface="Yekan Bakh" pitchFamily="2" charset="-78"/>
                        <a:ea typeface="Yekan Bakh" pitchFamily="2" charset="-78"/>
                        <a:cs typeface="Yekan Bakh" pitchFamily="2" charset="-78"/>
                      </a:endParaRPr>
                    </a:p>
                  </a:txBody>
                  <a:tcPr marL="50800" marR="50800" marT="38100" marB="38100" anchor="ctr">
                    <a:solidFill>
                      <a:schemeClr val="bg1"/>
                    </a:solidFill>
                  </a:tcPr>
                </a:tc>
                <a:extLst>
                  <a:ext uri="{0D108BD9-81ED-4DB2-BD59-A6C34878D82A}">
                    <a16:rowId xmlns:a16="http://schemas.microsoft.com/office/drawing/2014/main" val="10000"/>
                  </a:ext>
                </a:extLst>
              </a:tr>
              <a:tr h="534785">
                <a:tc>
                  <a:txBody>
                    <a:bodyPr/>
                    <a:lstStyle/>
                    <a:p>
                      <a:pPr algn="r" rtl="1">
                        <a:lnSpc>
                          <a:spcPct val="105000"/>
                        </a:lnSpc>
                      </a:pPr>
                      <a:r>
                        <a:rPr sz="800" b="1" dirty="0" err="1">
                          <a:solidFill>
                            <a:schemeClr val="tx1">
                              <a:lumMod val="65000"/>
                              <a:lumOff val="35000"/>
                            </a:schemeClr>
                          </a:solidFill>
                          <a:latin typeface="Yekan Bakh"/>
                          <a:cs typeface="Yekan Bakh"/>
                        </a:rPr>
                        <a:t>مذاکره</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مستقیم</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مالک</a:t>
                      </a:r>
                      <a:r>
                        <a:rPr sz="800" b="1" dirty="0">
                          <a:solidFill>
                            <a:schemeClr val="tx1">
                              <a:lumMod val="65000"/>
                              <a:lumOff val="35000"/>
                            </a:schemeClr>
                          </a:solidFill>
                          <a:latin typeface="Yekan Bakh"/>
                          <a:cs typeface="Yekan Bakh"/>
                        </a:rPr>
                        <a:t>/</a:t>
                      </a:r>
                      <a:r>
                        <a:rPr sz="800" b="1" dirty="0" err="1">
                          <a:solidFill>
                            <a:schemeClr val="tx1">
                              <a:lumMod val="65000"/>
                              <a:lumOff val="35000"/>
                            </a:schemeClr>
                          </a:solidFill>
                          <a:latin typeface="Yekan Bakh"/>
                          <a:cs typeface="Yekan Bakh"/>
                        </a:rPr>
                        <a:t>مدیرعامل</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با</a:t>
                      </a:r>
                      <a:r>
                        <a:rPr sz="800" b="1" dirty="0">
                          <a:solidFill>
                            <a:schemeClr val="tx1">
                              <a:lumMod val="65000"/>
                              <a:lumOff val="35000"/>
                            </a:schemeClr>
                          </a:solidFill>
                          <a:latin typeface="Yekan Bakh"/>
                          <a:cs typeface="Yekan Bakh"/>
                        </a:rPr>
                        <a:t> </a:t>
                      </a:r>
                      <a:r>
                        <a:rPr lang="fa-IR" sz="800" b="1" dirty="0">
                          <a:solidFill>
                            <a:schemeClr val="tx1">
                              <a:lumMod val="65000"/>
                              <a:lumOff val="35000"/>
                            </a:schemeClr>
                          </a:solidFill>
                          <a:latin typeface="Yekan Bakh"/>
                          <a:cs typeface="Yekan Bakh"/>
                        </a:rPr>
                        <a:t>اکوسیستم فرصت ایران</a:t>
                      </a:r>
                      <a:endParaRPr sz="800" b="1" dirty="0">
                        <a:solidFill>
                          <a:schemeClr val="tx1">
                            <a:lumMod val="65000"/>
                            <a:lumOff val="35000"/>
                          </a:schemeClr>
                        </a:solidFill>
                        <a:latin typeface="Yekan Bakh"/>
                        <a:cs typeface="Yekan Bakh"/>
                      </a:endParaRPr>
                    </a:p>
                  </a:txBody>
                  <a:tcPr marL="50800" marR="50800" marT="38100" marB="38100" anchor="ctr">
                    <a:solidFill>
                      <a:schemeClr val="bg1">
                        <a:lumMod val="95000"/>
                      </a:schemeClr>
                    </a:solidFill>
                  </a:tcPr>
                </a:tc>
                <a:tc>
                  <a:txBody>
                    <a:bodyPr/>
                    <a:lstStyle/>
                    <a:p>
                      <a:pPr algn="r" rtl="1">
                        <a:lnSpc>
                          <a:spcPct val="105000"/>
                        </a:lnSpc>
                      </a:pPr>
                      <a:r>
                        <a:rPr sz="800" b="1" dirty="0" err="1">
                          <a:solidFill>
                            <a:schemeClr val="tx1">
                              <a:lumMod val="65000"/>
                              <a:lumOff val="35000"/>
                            </a:schemeClr>
                          </a:solidFill>
                          <a:latin typeface="Yekan Bakh"/>
                          <a:cs typeface="Yekan Bakh"/>
                        </a:rPr>
                        <a:t>جلسه</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مستقیم</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با</a:t>
                      </a:r>
                      <a:r>
                        <a:rPr sz="800" b="1" dirty="0">
                          <a:solidFill>
                            <a:schemeClr val="tx1">
                              <a:lumMod val="65000"/>
                              <a:lumOff val="35000"/>
                            </a:schemeClr>
                          </a:solidFill>
                          <a:latin typeface="Yekan Bakh"/>
                          <a:cs typeface="Yekan Bakh"/>
                        </a:rPr>
                        <a:t> </a:t>
                      </a:r>
                      <a:r>
                        <a:rPr lang="fa-IR" sz="800" b="1" dirty="0">
                          <a:solidFill>
                            <a:schemeClr val="tx1">
                              <a:lumMod val="65000"/>
                              <a:lumOff val="35000"/>
                            </a:schemeClr>
                          </a:solidFill>
                          <a:latin typeface="Yekan Bakh"/>
                          <a:cs typeface="Yekan Bakh"/>
                        </a:rPr>
                        <a:t>اکوسیستم فرصت ایران</a:t>
                      </a:r>
                      <a:r>
                        <a:rPr sz="800" b="1" dirty="0">
                          <a:solidFill>
                            <a:schemeClr val="tx1">
                              <a:lumMod val="65000"/>
                              <a:lumOff val="35000"/>
                            </a:schemeClr>
                          </a:solidFill>
                          <a:latin typeface="Yekan Bakh"/>
                          <a:cs typeface="Yekan Bakh"/>
                        </a:rPr>
                        <a:t> + </a:t>
                      </a:r>
                      <a:endParaRPr lang="fa-IR" sz="800" b="1" dirty="0">
                        <a:solidFill>
                          <a:schemeClr val="tx1">
                            <a:lumMod val="65000"/>
                            <a:lumOff val="35000"/>
                          </a:schemeClr>
                        </a:solidFill>
                        <a:latin typeface="Yekan Bakh"/>
                        <a:cs typeface="Yekan Bakh"/>
                      </a:endParaRPr>
                    </a:p>
                    <a:p>
                      <a:pPr algn="r" rtl="1">
                        <a:lnSpc>
                          <a:spcPct val="105000"/>
                        </a:lnSpc>
                      </a:pPr>
                      <a:r>
                        <a:rPr sz="800" b="1" dirty="0" err="1">
                          <a:solidFill>
                            <a:schemeClr val="tx1">
                              <a:lumMod val="65000"/>
                              <a:lumOff val="35000"/>
                            </a:schemeClr>
                          </a:solidFill>
                          <a:latin typeface="Yekan Bakh"/>
                          <a:cs typeface="Yekan Bakh"/>
                        </a:rPr>
                        <a:t>مرور</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نمونه‌کار</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قبلی</a:t>
                      </a:r>
                      <a:r>
                        <a:rPr sz="800" b="1" dirty="0">
                          <a:solidFill>
                            <a:schemeClr val="tx1">
                              <a:lumMod val="65000"/>
                              <a:lumOff val="35000"/>
                            </a:schemeClr>
                          </a:solidFill>
                          <a:latin typeface="Yekan Bakh"/>
                          <a:cs typeface="Yekan Bakh"/>
                        </a:rPr>
                        <a:t>/</a:t>
                      </a:r>
                      <a:r>
                        <a:rPr sz="800" b="1" dirty="0" err="1">
                          <a:solidFill>
                            <a:schemeClr val="tx1">
                              <a:lumMod val="65000"/>
                              <a:lumOff val="35000"/>
                            </a:schemeClr>
                          </a:solidFill>
                          <a:latin typeface="Yekan Bakh"/>
                          <a:cs typeface="Yekan Bakh"/>
                        </a:rPr>
                        <a:t>مراجع</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قابل‌راستی‌آزمایی</a:t>
                      </a:r>
                      <a:endParaRPr sz="800" b="1" dirty="0">
                        <a:solidFill>
                          <a:schemeClr val="tx1">
                            <a:lumMod val="65000"/>
                            <a:lumOff val="35000"/>
                          </a:schemeClr>
                        </a:solidFill>
                        <a:latin typeface="Yekan Bakh"/>
                        <a:cs typeface="Yekan Bakh"/>
                      </a:endParaRPr>
                    </a:p>
                  </a:txBody>
                  <a:tcPr marL="50800" marR="50800" marT="38100" marB="38100" anchor="ctr">
                    <a:solidFill>
                      <a:schemeClr val="bg1">
                        <a:lumMod val="95000"/>
                      </a:schemeClr>
                    </a:solidFill>
                  </a:tcPr>
                </a:tc>
                <a:tc>
                  <a:txBody>
                    <a:bodyPr/>
                    <a:lstStyle/>
                    <a:p>
                      <a:pPr algn="r" rtl="1">
                        <a:lnSpc>
                          <a:spcPct val="105000"/>
                        </a:lnSpc>
                      </a:pPr>
                      <a:r>
                        <a:rPr sz="800" b="1" dirty="0" err="1">
                          <a:solidFill>
                            <a:schemeClr val="tx1">
                              <a:lumMod val="65000"/>
                              <a:lumOff val="35000"/>
                            </a:schemeClr>
                          </a:solidFill>
                          <a:latin typeface="Yekan Bakh"/>
                          <a:cs typeface="Yekan Bakh"/>
                        </a:rPr>
                        <a:t>شبکه</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روابط</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بنیان‌گذاران</a:t>
                      </a:r>
                      <a:r>
                        <a:rPr sz="800" b="1" dirty="0">
                          <a:solidFill>
                            <a:schemeClr val="tx1">
                              <a:lumMod val="65000"/>
                              <a:lumOff val="35000"/>
                            </a:schemeClr>
                          </a:solidFill>
                          <a:latin typeface="Yekan Bakh"/>
                          <a:cs typeface="Yekan Bakh"/>
                        </a:rPr>
                        <a:t> و </a:t>
                      </a:r>
                      <a:r>
                        <a:rPr sz="800" b="1" dirty="0" err="1">
                          <a:solidFill>
                            <a:schemeClr val="tx1">
                              <a:lumMod val="65000"/>
                              <a:lumOff val="35000"/>
                            </a:schemeClr>
                          </a:solidFill>
                          <a:latin typeface="Yekan Bakh"/>
                          <a:cs typeface="Yekan Bakh"/>
                        </a:rPr>
                        <a:t>تیم</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هسته</a:t>
                      </a:r>
                      <a:r>
                        <a:rPr sz="800" b="1" dirty="0">
                          <a:solidFill>
                            <a:schemeClr val="tx1">
                              <a:lumMod val="65000"/>
                              <a:lumOff val="35000"/>
                            </a:schemeClr>
                          </a:solidFill>
                          <a:latin typeface="Yekan Bakh"/>
                          <a:cs typeface="Yekan Bakh"/>
                        </a:rPr>
                        <a:t> + </a:t>
                      </a:r>
                      <a:endParaRPr lang="fa-IR" sz="800" b="1" dirty="0">
                        <a:solidFill>
                          <a:schemeClr val="tx1">
                            <a:lumMod val="65000"/>
                            <a:lumOff val="35000"/>
                          </a:schemeClr>
                        </a:solidFill>
                        <a:latin typeface="Yekan Bakh"/>
                        <a:cs typeface="Yekan Bakh"/>
                      </a:endParaRPr>
                    </a:p>
                    <a:p>
                      <a:pPr algn="r" rtl="1">
                        <a:lnSpc>
                          <a:spcPct val="105000"/>
                        </a:lnSpc>
                      </a:pPr>
                      <a:r>
                        <a:rPr sz="800" b="1" dirty="0" err="1">
                          <a:solidFill>
                            <a:schemeClr val="tx1">
                              <a:lumMod val="65000"/>
                              <a:lumOff val="35000"/>
                            </a:schemeClr>
                          </a:solidFill>
                          <a:latin typeface="Yekan Bakh"/>
                          <a:cs typeface="Yekan Bakh"/>
                        </a:rPr>
                        <a:t>شبکه</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اتاق‌های</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بازرگانی</a:t>
                      </a:r>
                      <a:r>
                        <a:rPr sz="800" b="1" dirty="0">
                          <a:solidFill>
                            <a:schemeClr val="tx1">
                              <a:lumMod val="65000"/>
                              <a:lumOff val="35000"/>
                            </a:schemeClr>
                          </a:solidFill>
                          <a:latin typeface="Yekan Bakh"/>
                          <a:cs typeface="Yekan Bakh"/>
                        </a:rPr>
                        <a:t>/</a:t>
                      </a:r>
                      <a:r>
                        <a:rPr sz="800" b="1" dirty="0" err="1">
                          <a:solidFill>
                            <a:schemeClr val="tx1">
                              <a:lumMod val="65000"/>
                              <a:lumOff val="35000"/>
                            </a:schemeClr>
                          </a:solidFill>
                          <a:latin typeface="Yekan Bakh"/>
                          <a:cs typeface="Yekan Bakh"/>
                        </a:rPr>
                        <a:t>انجمن‌های</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صنفی</a:t>
                      </a:r>
                      <a:r>
                        <a:rPr sz="800" b="1" dirty="0">
                          <a:solidFill>
                            <a:schemeClr val="tx1">
                              <a:lumMod val="65000"/>
                              <a:lumOff val="35000"/>
                            </a:schemeClr>
                          </a:solidFill>
                          <a:latin typeface="Yekan Bakh"/>
                          <a:cs typeface="Yekan Bakh"/>
                        </a:rPr>
                        <a:t> + </a:t>
                      </a:r>
                      <a:endParaRPr lang="fa-IR" sz="800" b="1" dirty="0">
                        <a:solidFill>
                          <a:schemeClr val="tx1">
                            <a:lumMod val="65000"/>
                            <a:lumOff val="35000"/>
                          </a:schemeClr>
                        </a:solidFill>
                        <a:latin typeface="Yekan Bakh"/>
                        <a:cs typeface="Yekan Bakh"/>
                      </a:endParaRPr>
                    </a:p>
                    <a:p>
                      <a:pPr algn="r" rtl="1">
                        <a:lnSpc>
                          <a:spcPct val="105000"/>
                        </a:lnSpc>
                      </a:pPr>
                      <a:r>
                        <a:rPr sz="800" b="1" dirty="0" err="1">
                          <a:solidFill>
                            <a:schemeClr val="tx1">
                              <a:lumMod val="65000"/>
                              <a:lumOff val="35000"/>
                            </a:schemeClr>
                          </a:solidFill>
                          <a:latin typeface="Yekan Bakh"/>
                          <a:cs typeface="Yekan Bakh"/>
                        </a:rPr>
                        <a:t>پوشش</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در</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رسانه‌های</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اقتصادی</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معتبر</a:t>
                      </a:r>
                      <a:endParaRPr sz="800" b="1" dirty="0">
                        <a:solidFill>
                          <a:schemeClr val="tx1">
                            <a:lumMod val="65000"/>
                            <a:lumOff val="35000"/>
                          </a:schemeClr>
                        </a:solidFill>
                        <a:latin typeface="Yekan Bakh"/>
                        <a:cs typeface="Yekan Bakh"/>
                      </a:endParaRPr>
                    </a:p>
                  </a:txBody>
                  <a:tcPr marL="50800" marR="50800" marT="38100" marB="38100" anchor="ctr">
                    <a:solidFill>
                      <a:schemeClr val="bg1">
                        <a:lumMod val="95000"/>
                      </a:schemeClr>
                    </a:solidFill>
                  </a:tcPr>
                </a:tc>
                <a:tc>
                  <a:txBody>
                    <a:bodyPr/>
                    <a:lstStyle/>
                    <a:p>
                      <a:pPr algn="ctr" rtl="1">
                        <a:lnSpc>
                          <a:spcPct val="105000"/>
                        </a:lnSpc>
                      </a:pPr>
                      <a:r>
                        <a:rPr sz="1050" b="1" dirty="0" err="1">
                          <a:solidFill>
                            <a:srgbClr val="00406C"/>
                          </a:solidFill>
                          <a:latin typeface="Yekan Bakh"/>
                          <a:cs typeface="Yekan Bakh"/>
                        </a:rPr>
                        <a:t>کانال</a:t>
                      </a:r>
                      <a:r>
                        <a:rPr sz="1050" b="1" dirty="0">
                          <a:solidFill>
                            <a:srgbClr val="00406C"/>
                          </a:solidFill>
                          <a:latin typeface="Yekan Bakh"/>
                          <a:cs typeface="Yekan Bakh"/>
                        </a:rPr>
                        <a:t> (Channel)</a:t>
                      </a:r>
                    </a:p>
                  </a:txBody>
                  <a:tcPr marL="50800" marR="50800" marT="38100" marB="38100" anchor="ctr">
                    <a:solidFill>
                      <a:schemeClr val="bg1">
                        <a:lumMod val="95000"/>
                      </a:schemeClr>
                    </a:solidFill>
                  </a:tcPr>
                </a:tc>
                <a:extLst>
                  <a:ext uri="{0D108BD9-81ED-4DB2-BD59-A6C34878D82A}">
                    <a16:rowId xmlns:a16="http://schemas.microsoft.com/office/drawing/2014/main" val="10001"/>
                  </a:ext>
                </a:extLst>
              </a:tr>
              <a:tr h="345022">
                <a:tc>
                  <a:txBody>
                    <a:bodyPr/>
                    <a:lstStyle/>
                    <a:p>
                      <a:pPr marL="171450" indent="-171450" algn="r" rtl="1">
                        <a:lnSpc>
                          <a:spcPct val="105000"/>
                        </a:lnSpc>
                        <a:buFont typeface="Arial" panose="020B0604020202020204" pitchFamily="34" charset="0"/>
                        <a:buChar char="•"/>
                      </a:pPr>
                      <a:r>
                        <a:rPr lang="fa-IR" sz="800" b="0">
                          <a:solidFill>
                            <a:schemeClr val="tx1">
                              <a:lumMod val="65000"/>
                              <a:lumOff val="35000"/>
                            </a:schemeClr>
                          </a:solidFill>
                          <a:latin typeface="Yekan Bakh"/>
                          <a:cs typeface="Yekan Bakh"/>
                        </a:rPr>
                        <a:t>کانال تحت مالکیت + تعامل انسانی  </a:t>
                      </a:r>
                    </a:p>
                  </a:txBody>
                  <a:tcPr marL="50800" marR="50800" marT="38100" marB="38100" anchor="ctr">
                    <a:solidFill>
                      <a:schemeClr val="bg1"/>
                    </a:solidFill>
                  </a:tcPr>
                </a:tc>
                <a:tc>
                  <a:txBody>
                    <a:bodyPr/>
                    <a:lstStyle/>
                    <a:p>
                      <a:pPr marL="171450" indent="-171450" algn="r" rtl="1">
                        <a:lnSpc>
                          <a:spcPct val="105000"/>
                        </a:lnSpc>
                        <a:buFont typeface="Arial" panose="020B0604020202020204" pitchFamily="34" charset="0"/>
                        <a:buChar char="•"/>
                      </a:pPr>
                      <a:r>
                        <a:rPr lang="fa-IR" sz="800" b="0">
                          <a:solidFill>
                            <a:schemeClr val="tx1">
                              <a:lumMod val="65000"/>
                              <a:lumOff val="35000"/>
                            </a:schemeClr>
                          </a:solidFill>
                          <a:latin typeface="Yekan Bakh"/>
                          <a:cs typeface="Yekan Bakh"/>
                        </a:rPr>
                        <a:t>کانال تحت مالکیت + تعامل انسانی  </a:t>
                      </a:r>
                    </a:p>
                  </a:txBody>
                  <a:tcPr marL="50800" marR="50800" marT="38100" marB="38100" anchor="ctr">
                    <a:solidFill>
                      <a:schemeClr val="bg1"/>
                    </a:solidFill>
                  </a:tcPr>
                </a:tc>
                <a:tc>
                  <a:txBody>
                    <a:bodyPr/>
                    <a:lstStyle/>
                    <a:p>
                      <a:pPr marL="171450" indent="-171450" algn="r" rtl="1">
                        <a:lnSpc>
                          <a:spcPct val="105000"/>
                        </a:lnSpc>
                        <a:buFont typeface="Arial" panose="020B0604020202020204" pitchFamily="34" charset="0"/>
                        <a:buChar char="•"/>
                      </a:pPr>
                      <a:r>
                        <a:rPr lang="fa-IR" sz="800" b="0" dirty="0">
                          <a:solidFill>
                            <a:schemeClr val="tx1">
                              <a:lumMod val="65000"/>
                              <a:lumOff val="35000"/>
                            </a:schemeClr>
                          </a:solidFill>
                          <a:latin typeface="Yekan Bakh"/>
                          <a:cs typeface="Yekan Bakh"/>
                        </a:rPr>
                        <a:t>کانال تحت مالکیت + تعامل انسانی </a:t>
                      </a:r>
                    </a:p>
                    <a:p>
                      <a:pPr marL="171450" indent="-171450" algn="r" rtl="1">
                        <a:lnSpc>
                          <a:spcPct val="105000"/>
                        </a:lnSpc>
                        <a:buFont typeface="Arial" panose="020B0604020202020204" pitchFamily="34" charset="0"/>
                        <a:buChar char="•"/>
                      </a:pPr>
                      <a:r>
                        <a:rPr lang="fa-IR" sz="800" b="0" dirty="0">
                          <a:solidFill>
                            <a:schemeClr val="tx1">
                              <a:lumMod val="65000"/>
                              <a:lumOff val="35000"/>
                            </a:schemeClr>
                          </a:solidFill>
                          <a:latin typeface="Yekan Bakh"/>
                          <a:cs typeface="Yekan Bakh"/>
                        </a:rPr>
                        <a:t>کانال بیرونی + تعامل انسانی </a:t>
                      </a:r>
                    </a:p>
                  </a:txBody>
                  <a:tcPr marL="50800" marR="50800" marT="38100" marB="38100" anchor="ctr">
                    <a:solidFill>
                      <a:schemeClr val="bg1"/>
                    </a:solidFill>
                  </a:tcPr>
                </a:tc>
                <a:tc>
                  <a:txBody>
                    <a:bodyPr/>
                    <a:lstStyle/>
                    <a:p>
                      <a:pPr algn="ctr" rtl="1">
                        <a:lnSpc>
                          <a:spcPct val="105000"/>
                        </a:lnSpc>
                      </a:pPr>
                      <a:r>
                        <a:rPr sz="1050" b="1" dirty="0" err="1">
                          <a:solidFill>
                            <a:srgbClr val="00406C"/>
                          </a:solidFill>
                          <a:latin typeface="Yekan Bakh"/>
                          <a:cs typeface="Yekan Bakh"/>
                        </a:rPr>
                        <a:t>نوع</a:t>
                      </a:r>
                      <a:r>
                        <a:rPr lang="fa-IR" sz="1050" b="1" dirty="0">
                          <a:solidFill>
                            <a:srgbClr val="00406C"/>
                          </a:solidFill>
                          <a:latin typeface="Yekan Bakh"/>
                          <a:cs typeface="Yekan Bakh"/>
                        </a:rPr>
                        <a:t> / </a:t>
                      </a:r>
                      <a:r>
                        <a:rPr sz="1050" b="1" dirty="0" err="1">
                          <a:solidFill>
                            <a:srgbClr val="00406C"/>
                          </a:solidFill>
                          <a:latin typeface="Yekan Bakh"/>
                          <a:cs typeface="Yekan Bakh"/>
                        </a:rPr>
                        <a:t>مدل</a:t>
                      </a:r>
                      <a:r>
                        <a:rPr sz="1050" b="1" dirty="0">
                          <a:solidFill>
                            <a:srgbClr val="00406C"/>
                          </a:solidFill>
                          <a:latin typeface="Yekan Bakh"/>
                          <a:cs typeface="Yekan Bakh"/>
                        </a:rPr>
                        <a:t> </a:t>
                      </a:r>
                      <a:r>
                        <a:rPr sz="1050" b="1" dirty="0" err="1">
                          <a:solidFill>
                            <a:srgbClr val="00406C"/>
                          </a:solidFill>
                          <a:latin typeface="Yekan Bakh"/>
                          <a:cs typeface="Yekan Bakh"/>
                        </a:rPr>
                        <a:t>کانال</a:t>
                      </a:r>
                      <a:endParaRPr sz="1050" b="1" dirty="0">
                        <a:solidFill>
                          <a:srgbClr val="00406C"/>
                        </a:solidFill>
                        <a:latin typeface="Yekan Bakh"/>
                        <a:cs typeface="Yekan Bakh"/>
                      </a:endParaRPr>
                    </a:p>
                  </a:txBody>
                  <a:tcPr marL="50800" marR="50800" marT="38100" marB="38100" anchor="ctr">
                    <a:solidFill>
                      <a:schemeClr val="bg1"/>
                    </a:solidFill>
                  </a:tcPr>
                </a:tc>
                <a:extLst>
                  <a:ext uri="{0D108BD9-81ED-4DB2-BD59-A6C34878D82A}">
                    <a16:rowId xmlns:a16="http://schemas.microsoft.com/office/drawing/2014/main" val="10002"/>
                  </a:ext>
                </a:extLst>
              </a:tr>
              <a:tr h="414027">
                <a:tc>
                  <a:txBody>
                    <a:bodyPr/>
                    <a:lstStyle/>
                    <a:p>
                      <a:pPr algn="r" rtl="1">
                        <a:lnSpc>
                          <a:spcPct val="105000"/>
                        </a:lnSpc>
                      </a:pPr>
                      <a:r>
                        <a:rPr sz="800" b="0" dirty="0" err="1">
                          <a:solidFill>
                            <a:schemeClr val="tx1">
                              <a:lumMod val="65000"/>
                              <a:lumOff val="35000"/>
                            </a:schemeClr>
                          </a:solidFill>
                          <a:latin typeface="Yekan Bakh"/>
                          <a:cs typeface="Yekan Bakh"/>
                        </a:rPr>
                        <a:t>ادامه</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مسیر</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رابطه‌ای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از</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دو</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فاز</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قبل</a:t>
                      </a:r>
                      <a:endParaRPr sz="800" b="0" dirty="0">
                        <a:solidFill>
                          <a:schemeClr val="tx1">
                            <a:lumMod val="65000"/>
                            <a:lumOff val="35000"/>
                          </a:schemeClr>
                        </a:solidFill>
                        <a:latin typeface="Yekan Bakh"/>
                        <a:cs typeface="Yekan Bakh"/>
                      </a:endParaRPr>
                    </a:p>
                  </a:txBody>
                  <a:tcPr marL="50800" marR="50800" marT="38100" marB="38100" anchor="ctr">
                    <a:solidFill>
                      <a:schemeClr val="bg1">
                        <a:lumMod val="95000"/>
                      </a:schemeClr>
                    </a:solidFill>
                  </a:tcPr>
                </a:tc>
                <a:tc>
                  <a:txBody>
                    <a:bodyPr/>
                    <a:lstStyle/>
                    <a:p>
                      <a:pPr algn="r" rtl="1">
                        <a:lnSpc>
                          <a:spcPct val="105000"/>
                        </a:lnSpc>
                      </a:pPr>
                      <a:r>
                        <a:rPr sz="800" b="0" dirty="0" err="1">
                          <a:solidFill>
                            <a:schemeClr val="tx1">
                              <a:lumMod val="65000"/>
                              <a:lumOff val="35000"/>
                            </a:schemeClr>
                          </a:solidFill>
                          <a:latin typeface="Yekan Bakh"/>
                          <a:cs typeface="Yekan Bakh"/>
                        </a:rPr>
                        <a:t>تداوم</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رابطه</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شکل‌گرفته</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در</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فاز</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آگاهی</a:t>
                      </a:r>
                      <a:r>
                        <a:rPr sz="800" b="0" dirty="0">
                          <a:solidFill>
                            <a:schemeClr val="tx1">
                              <a:lumMod val="65000"/>
                              <a:lumOff val="35000"/>
                            </a:schemeClr>
                          </a:solidFill>
                          <a:latin typeface="Yekan Bakh"/>
                          <a:cs typeface="Yekan Bakh"/>
                        </a:rPr>
                        <a:t> </a:t>
                      </a:r>
                      <a:r>
                        <a:rPr lang="fa-IR" sz="800" b="0" dirty="0">
                          <a:solidFill>
                            <a:schemeClr val="tx1">
                              <a:lumMod val="65000"/>
                              <a:lumOff val="35000"/>
                            </a:schemeClr>
                          </a:solidFill>
                          <a:latin typeface="Yekan Bakh"/>
                          <a:cs typeface="Yekan Bakh"/>
                        </a:rPr>
                        <a:t>(</a:t>
                      </a:r>
                      <a:r>
                        <a:rPr sz="800" b="0" dirty="0" err="1">
                          <a:solidFill>
                            <a:schemeClr val="tx1">
                              <a:lumMod val="65000"/>
                              <a:lumOff val="35000"/>
                            </a:schemeClr>
                          </a:solidFill>
                          <a:latin typeface="Yekan Bakh"/>
                          <a:cs typeface="Yekan Bakh"/>
                        </a:rPr>
                        <a:t>بدون</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واسطه</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جدید</a:t>
                      </a:r>
                      <a:r>
                        <a:rPr lang="fa-IR" sz="800" b="0" dirty="0">
                          <a:solidFill>
                            <a:schemeClr val="tx1">
                              <a:lumMod val="65000"/>
                              <a:lumOff val="35000"/>
                            </a:schemeClr>
                          </a:solidFill>
                          <a:latin typeface="Yekan Bakh"/>
                          <a:cs typeface="Yekan Bakh"/>
                        </a:rPr>
                        <a:t>)</a:t>
                      </a:r>
                      <a:endParaRPr sz="800" b="0" dirty="0">
                        <a:solidFill>
                          <a:schemeClr val="tx1">
                            <a:lumMod val="65000"/>
                            <a:lumOff val="35000"/>
                          </a:schemeClr>
                        </a:solidFill>
                        <a:latin typeface="Yekan Bakh"/>
                        <a:cs typeface="Yekan Bakh"/>
                      </a:endParaRPr>
                    </a:p>
                  </a:txBody>
                  <a:tcPr marL="50800" marR="50800" marT="38100" marB="38100" anchor="ctr">
                    <a:solidFill>
                      <a:schemeClr val="bg1">
                        <a:lumMod val="95000"/>
                      </a:schemeClr>
                    </a:solidFill>
                  </a:tcPr>
                </a:tc>
                <a:tc>
                  <a:txBody>
                    <a:bodyPr/>
                    <a:lstStyle/>
                    <a:p>
                      <a:pPr algn="r" rtl="1">
                        <a:lnSpc>
                          <a:spcPct val="105000"/>
                        </a:lnSpc>
                      </a:pPr>
                      <a:r>
                        <a:rPr sz="800" b="0" dirty="0" err="1">
                          <a:solidFill>
                            <a:schemeClr val="tx1">
                              <a:lumMod val="65000"/>
                              <a:lumOff val="35000"/>
                            </a:schemeClr>
                          </a:solidFill>
                          <a:latin typeface="Yekan Bakh"/>
                          <a:cs typeface="Yekan Bakh"/>
                        </a:rPr>
                        <a:t>معرفی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حضوری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از</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شبکه</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شخصی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بنیان‌گذاران</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معرفی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رسمی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از</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اتاق</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بازرگانی</a:t>
                      </a:r>
                      <a:endParaRPr sz="800" b="0" dirty="0">
                        <a:solidFill>
                          <a:schemeClr val="tx1">
                            <a:lumMod val="65000"/>
                            <a:lumOff val="35000"/>
                          </a:schemeClr>
                        </a:solidFill>
                        <a:latin typeface="Yekan Bakh"/>
                        <a:cs typeface="Yekan Bakh"/>
                      </a:endParaRPr>
                    </a:p>
                  </a:txBody>
                  <a:tcPr marL="50800" marR="50800" marT="38100" marB="38100" anchor="ctr">
                    <a:solidFill>
                      <a:schemeClr val="bg1">
                        <a:lumMod val="95000"/>
                      </a:schemeClr>
                    </a:solidFill>
                  </a:tcPr>
                </a:tc>
                <a:tc>
                  <a:txBody>
                    <a:bodyPr/>
                    <a:lstStyle/>
                    <a:p>
                      <a:pPr algn="ctr" rtl="1">
                        <a:lnSpc>
                          <a:spcPct val="105000"/>
                        </a:lnSpc>
                      </a:pPr>
                      <a:r>
                        <a:rPr sz="1050" b="1" dirty="0" err="1">
                          <a:solidFill>
                            <a:srgbClr val="00406C"/>
                          </a:solidFill>
                          <a:latin typeface="Yekan Bakh"/>
                          <a:cs typeface="Yekan Bakh"/>
                        </a:rPr>
                        <a:t>منبع</a:t>
                      </a:r>
                      <a:r>
                        <a:rPr sz="1050" b="1" dirty="0">
                          <a:solidFill>
                            <a:srgbClr val="00406C"/>
                          </a:solidFill>
                          <a:latin typeface="Yekan Bakh"/>
                          <a:cs typeface="Yekan Bakh"/>
                        </a:rPr>
                        <a:t> </a:t>
                      </a:r>
                      <a:r>
                        <a:rPr sz="1050" b="1" dirty="0" err="1">
                          <a:solidFill>
                            <a:srgbClr val="00406C"/>
                          </a:solidFill>
                          <a:latin typeface="Yekan Bakh"/>
                          <a:cs typeface="Yekan Bakh"/>
                        </a:rPr>
                        <a:t>دسترسی</a:t>
                      </a:r>
                      <a:r>
                        <a:rPr sz="1050" b="1" dirty="0">
                          <a:solidFill>
                            <a:srgbClr val="00406C"/>
                          </a:solidFill>
                          <a:latin typeface="Yekan Bakh"/>
                          <a:cs typeface="Yekan Bakh"/>
                        </a:rPr>
                        <a:t>/ </a:t>
                      </a:r>
                      <a:r>
                        <a:rPr lang="fa-IR" sz="1050" b="1" dirty="0">
                          <a:solidFill>
                            <a:srgbClr val="00406C"/>
                          </a:solidFill>
                          <a:latin typeface="Yekan Bakh"/>
                          <a:cs typeface="Yekan Bakh"/>
                        </a:rPr>
                        <a:t> </a:t>
                      </a:r>
                      <a:r>
                        <a:rPr sz="1050" b="1" dirty="0" err="1">
                          <a:solidFill>
                            <a:srgbClr val="00406C"/>
                          </a:solidFill>
                          <a:latin typeface="Yekan Bakh"/>
                          <a:cs typeface="Yekan Bakh"/>
                        </a:rPr>
                        <a:t>جذب</a:t>
                      </a:r>
                      <a:endParaRPr sz="1050" b="1" dirty="0">
                        <a:solidFill>
                          <a:srgbClr val="00406C"/>
                        </a:solidFill>
                        <a:latin typeface="Yekan Bakh"/>
                        <a:cs typeface="Yekan Bakh"/>
                      </a:endParaRPr>
                    </a:p>
                  </a:txBody>
                  <a:tcPr marL="50800" marR="50800" marT="38100" marB="38100" anchor="ctr">
                    <a:solidFill>
                      <a:schemeClr val="bg1">
                        <a:lumMod val="95000"/>
                      </a:schemeClr>
                    </a:solidFill>
                  </a:tcPr>
                </a:tc>
                <a:extLst>
                  <a:ext uri="{0D108BD9-81ED-4DB2-BD59-A6C34878D82A}">
                    <a16:rowId xmlns:a16="http://schemas.microsoft.com/office/drawing/2014/main" val="10003"/>
                  </a:ext>
                </a:extLst>
              </a:tr>
              <a:tr h="345022">
                <a:tc>
                  <a:txBody>
                    <a:bodyPr/>
                    <a:lstStyle/>
                    <a:p>
                      <a:pPr algn="r" rtl="1">
                        <a:lnSpc>
                          <a:spcPct val="105000"/>
                        </a:lnSpc>
                      </a:pPr>
                      <a:r>
                        <a:rPr sz="800" b="0" dirty="0" err="1">
                          <a:solidFill>
                            <a:schemeClr val="tx1">
                              <a:lumMod val="65000"/>
                              <a:lumOff val="35000"/>
                            </a:schemeClr>
                          </a:solidFill>
                          <a:latin typeface="Yekan Bakh"/>
                          <a:cs typeface="Yekan Bakh"/>
                        </a:rPr>
                        <a:t>جلسه</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نهایی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مذاکره</a:t>
                      </a:r>
                      <a:r>
                        <a:rPr sz="800" b="0" dirty="0">
                          <a:solidFill>
                            <a:schemeClr val="tx1">
                              <a:lumMod val="65000"/>
                              <a:lumOff val="35000"/>
                            </a:schemeClr>
                          </a:solidFill>
                          <a:latin typeface="Yekan Bakh"/>
                          <a:cs typeface="Yekan Bakh"/>
                        </a:rPr>
                        <a:t> و </a:t>
                      </a:r>
                      <a:r>
                        <a:rPr sz="800" b="0" dirty="0" err="1">
                          <a:solidFill>
                            <a:schemeClr val="tx1">
                              <a:lumMod val="65000"/>
                              <a:lumOff val="35000"/>
                            </a:schemeClr>
                          </a:solidFill>
                          <a:latin typeface="Yekan Bakh"/>
                          <a:cs typeface="Yekan Bakh"/>
                        </a:rPr>
                        <a:t>امضا</a:t>
                      </a:r>
                      <a:endParaRPr sz="800" b="0" dirty="0">
                        <a:solidFill>
                          <a:schemeClr val="tx1">
                            <a:lumMod val="65000"/>
                            <a:lumOff val="35000"/>
                          </a:schemeClr>
                        </a:solidFill>
                        <a:latin typeface="Yekan Bakh"/>
                        <a:cs typeface="Yekan Bakh"/>
                      </a:endParaRPr>
                    </a:p>
                  </a:txBody>
                  <a:tcPr marL="50800" marR="50800" marT="38100" marB="38100" anchor="ctr">
                    <a:solidFill>
                      <a:schemeClr val="bg1"/>
                    </a:solidFill>
                  </a:tcPr>
                </a:tc>
                <a:tc>
                  <a:txBody>
                    <a:bodyPr/>
                    <a:lstStyle/>
                    <a:p>
                      <a:pPr algn="r" rtl="1">
                        <a:lnSpc>
                          <a:spcPct val="105000"/>
                        </a:lnSpc>
                      </a:pPr>
                      <a:r>
                        <a:rPr sz="800" b="0" dirty="0" err="1">
                          <a:solidFill>
                            <a:schemeClr val="tx1">
                              <a:lumMod val="65000"/>
                              <a:lumOff val="35000"/>
                            </a:schemeClr>
                          </a:solidFill>
                          <a:latin typeface="Yekan Bakh"/>
                          <a:cs typeface="Yekan Bakh"/>
                        </a:rPr>
                        <a:t>جلسه</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حضوری</a:t>
                      </a:r>
                      <a:r>
                        <a:rPr sz="800" b="0" dirty="0">
                          <a:solidFill>
                            <a:schemeClr val="tx1">
                              <a:lumMod val="65000"/>
                              <a:lumOff val="35000"/>
                            </a:schemeClr>
                          </a:solidFill>
                          <a:latin typeface="Yekan Bakh"/>
                          <a:cs typeface="Yekan Bakh"/>
                        </a:rPr>
                        <a:t>/</a:t>
                      </a:r>
                      <a:r>
                        <a:rPr sz="800" b="0" dirty="0" err="1">
                          <a:solidFill>
                            <a:schemeClr val="tx1">
                              <a:lumMod val="65000"/>
                              <a:lumOff val="35000"/>
                            </a:schemeClr>
                          </a:solidFill>
                          <a:latin typeface="Yekan Bakh"/>
                          <a:cs typeface="Yekan Bakh"/>
                        </a:rPr>
                        <a:t>آنلاین</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با</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بنیان‌گذار</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یا</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مدیر</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توسعه</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کسب‌وکار</a:t>
                      </a:r>
                      <a:endParaRPr sz="800" b="0" dirty="0">
                        <a:solidFill>
                          <a:schemeClr val="tx1">
                            <a:lumMod val="65000"/>
                            <a:lumOff val="35000"/>
                          </a:schemeClr>
                        </a:solidFill>
                        <a:latin typeface="Yekan Bakh"/>
                        <a:cs typeface="Yekan Bakh"/>
                      </a:endParaRPr>
                    </a:p>
                  </a:txBody>
                  <a:tcPr marL="50800" marR="50800" marT="38100" marB="38100" anchor="ctr">
                    <a:solidFill>
                      <a:schemeClr val="bg1"/>
                    </a:solidFill>
                  </a:tcPr>
                </a:tc>
                <a:tc>
                  <a:txBody>
                    <a:bodyPr/>
                    <a:lstStyle/>
                    <a:p>
                      <a:pPr algn="r" rtl="1">
                        <a:lnSpc>
                          <a:spcPct val="105000"/>
                        </a:lnSpc>
                      </a:pPr>
                      <a:r>
                        <a:rPr sz="800" b="0" dirty="0" err="1">
                          <a:solidFill>
                            <a:schemeClr val="tx1">
                              <a:lumMod val="65000"/>
                              <a:lumOff val="35000"/>
                            </a:schemeClr>
                          </a:solidFill>
                          <a:latin typeface="Yekan Bakh"/>
                          <a:cs typeface="Yekan Bakh"/>
                        </a:rPr>
                        <a:t>دیدار</a:t>
                      </a:r>
                      <a:r>
                        <a:rPr sz="800" b="0" dirty="0">
                          <a:solidFill>
                            <a:schemeClr val="tx1">
                              <a:lumMod val="65000"/>
                              <a:lumOff val="35000"/>
                            </a:schemeClr>
                          </a:solidFill>
                          <a:latin typeface="Yekan Bakh"/>
                          <a:cs typeface="Yekan Bakh"/>
                        </a:rPr>
                        <a:t>/</a:t>
                      </a:r>
                      <a:r>
                        <a:rPr sz="800" b="0" dirty="0" err="1">
                          <a:solidFill>
                            <a:schemeClr val="tx1">
                              <a:lumMod val="65000"/>
                              <a:lumOff val="35000"/>
                            </a:schemeClr>
                          </a:solidFill>
                          <a:latin typeface="Yekan Bakh"/>
                          <a:cs typeface="Yekan Bakh"/>
                        </a:rPr>
                        <a:t>تماس</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اولیه</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غیررسمی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رویداد</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یا</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نشست</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اتاق</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بازرگانی</a:t>
                      </a:r>
                      <a:endParaRPr sz="800" b="0" dirty="0">
                        <a:solidFill>
                          <a:schemeClr val="tx1">
                            <a:lumMod val="65000"/>
                            <a:lumOff val="35000"/>
                          </a:schemeClr>
                        </a:solidFill>
                        <a:latin typeface="Yekan Bakh"/>
                        <a:cs typeface="Yekan Bakh"/>
                      </a:endParaRPr>
                    </a:p>
                  </a:txBody>
                  <a:tcPr marL="50800" marR="50800" marT="38100" marB="38100" anchor="ctr">
                    <a:solidFill>
                      <a:schemeClr val="bg1"/>
                    </a:solidFill>
                  </a:tcPr>
                </a:tc>
                <a:tc>
                  <a:txBody>
                    <a:bodyPr/>
                    <a:lstStyle/>
                    <a:p>
                      <a:pPr algn="ctr" rtl="1">
                        <a:lnSpc>
                          <a:spcPct val="105000"/>
                        </a:lnSpc>
                      </a:pPr>
                      <a:r>
                        <a:rPr sz="1050" b="1" dirty="0" err="1">
                          <a:solidFill>
                            <a:srgbClr val="00406C"/>
                          </a:solidFill>
                          <a:latin typeface="Yekan Bakh"/>
                          <a:cs typeface="Yekan Bakh"/>
                        </a:rPr>
                        <a:t>نقطه</a:t>
                      </a:r>
                      <a:r>
                        <a:rPr sz="1050" b="1" dirty="0">
                          <a:solidFill>
                            <a:srgbClr val="00406C"/>
                          </a:solidFill>
                          <a:latin typeface="Yekan Bakh"/>
                          <a:cs typeface="Yekan Bakh"/>
                        </a:rPr>
                        <a:t> </a:t>
                      </a:r>
                      <a:r>
                        <a:rPr sz="1050" b="1" dirty="0" err="1">
                          <a:solidFill>
                            <a:srgbClr val="00406C"/>
                          </a:solidFill>
                          <a:latin typeface="Yekan Bakh"/>
                          <a:cs typeface="Yekan Bakh"/>
                        </a:rPr>
                        <a:t>تماس</a:t>
                      </a:r>
                      <a:endParaRPr sz="1050" b="1" dirty="0">
                        <a:solidFill>
                          <a:srgbClr val="00406C"/>
                        </a:solidFill>
                        <a:latin typeface="Yekan Bakh"/>
                        <a:cs typeface="Yekan Bakh"/>
                      </a:endParaRPr>
                    </a:p>
                  </a:txBody>
                  <a:tcPr marL="50800" marR="50800" marT="38100" marB="38100" anchor="ctr">
                    <a:solidFill>
                      <a:schemeClr val="bg1"/>
                    </a:solidFill>
                  </a:tcPr>
                </a:tc>
                <a:extLst>
                  <a:ext uri="{0D108BD9-81ED-4DB2-BD59-A6C34878D82A}">
                    <a16:rowId xmlns:a16="http://schemas.microsoft.com/office/drawing/2014/main" val="10004"/>
                  </a:ext>
                </a:extLst>
              </a:tr>
              <a:tr h="396776">
                <a:tc>
                  <a:txBody>
                    <a:bodyPr/>
                    <a:lstStyle/>
                    <a:p>
                      <a:pPr algn="r" rtl="1">
                        <a:lnSpc>
                          <a:spcPct val="105000"/>
                        </a:lnSpc>
                      </a:pPr>
                      <a:r>
                        <a:rPr sz="800" b="0">
                          <a:solidFill>
                            <a:schemeClr val="tx1">
                              <a:lumMod val="65000"/>
                              <a:lumOff val="35000"/>
                            </a:schemeClr>
                          </a:solidFill>
                          <a:latin typeface="Yekan Bakh"/>
                          <a:cs typeface="Yekan Bakh"/>
                        </a:rPr>
                        <a:t>تعیین محدوده ماموریت و شرایط پرداخت مرحله‌ای؛ عقد قرارداد</a:t>
                      </a:r>
                    </a:p>
                  </a:txBody>
                  <a:tcPr marL="50800" marR="50800" marT="38100" marB="38100" anchor="ctr">
                    <a:solidFill>
                      <a:schemeClr val="bg1">
                        <a:lumMod val="95000"/>
                      </a:schemeClr>
                    </a:solidFill>
                  </a:tcPr>
                </a:tc>
                <a:tc>
                  <a:txBody>
                    <a:bodyPr/>
                    <a:lstStyle/>
                    <a:p>
                      <a:pPr algn="r" rtl="1">
                        <a:lnSpc>
                          <a:spcPct val="105000"/>
                        </a:lnSpc>
                      </a:pPr>
                      <a:r>
                        <a:rPr sz="800" b="0">
                          <a:solidFill>
                            <a:schemeClr val="tx1">
                              <a:lumMod val="65000"/>
                              <a:lumOff val="35000"/>
                            </a:schemeClr>
                          </a:solidFill>
                          <a:latin typeface="Yekan Bakh"/>
                          <a:cs typeface="Yekan Bakh"/>
                        </a:rPr>
                        <a:t>ارائه نمونه‌کار، معرفی مراجع قابل تماس، پاسخ به پرسش‌های اعتبارسنجی</a:t>
                      </a:r>
                    </a:p>
                  </a:txBody>
                  <a:tcPr marL="50800" marR="50800" marT="38100" marB="38100" anchor="ctr">
                    <a:solidFill>
                      <a:schemeClr val="bg1">
                        <a:lumMod val="95000"/>
                      </a:schemeClr>
                    </a:solidFill>
                  </a:tcPr>
                </a:tc>
                <a:tc>
                  <a:txBody>
                    <a:bodyPr/>
                    <a:lstStyle/>
                    <a:p>
                      <a:pPr algn="r" rtl="1">
                        <a:lnSpc>
                          <a:spcPct val="105000"/>
                        </a:lnSpc>
                      </a:pPr>
                      <a:r>
                        <a:rPr sz="800" b="0" dirty="0" err="1">
                          <a:solidFill>
                            <a:schemeClr val="tx1">
                              <a:lumMod val="65000"/>
                              <a:lumOff val="35000"/>
                            </a:schemeClr>
                          </a:solidFill>
                          <a:latin typeface="Yekan Bakh"/>
                          <a:cs typeface="Yekan Bakh"/>
                        </a:rPr>
                        <a:t>معرفی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غیررسمی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کسب‌وکار</a:t>
                      </a:r>
                      <a:r>
                        <a:rPr sz="800" b="0" dirty="0">
                          <a:solidFill>
                            <a:schemeClr val="tx1">
                              <a:lumMod val="65000"/>
                              <a:lumOff val="35000"/>
                            </a:schemeClr>
                          </a:solidFill>
                          <a:latin typeface="Yekan Bakh"/>
                          <a:cs typeface="Yekan Bakh"/>
                        </a:rPr>
                        <a:t> و </a:t>
                      </a:r>
                      <a:r>
                        <a:rPr sz="800" b="0" dirty="0" err="1">
                          <a:solidFill>
                            <a:schemeClr val="tx1">
                              <a:lumMod val="65000"/>
                              <a:lumOff val="35000"/>
                            </a:schemeClr>
                          </a:solidFill>
                          <a:latin typeface="Yekan Bakh"/>
                          <a:cs typeface="Yekan Bakh"/>
                        </a:rPr>
                        <a:t>طرح</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فرصت</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همکاری</a:t>
                      </a:r>
                      <a:endParaRPr sz="800" b="0" dirty="0">
                        <a:solidFill>
                          <a:schemeClr val="tx1">
                            <a:lumMod val="65000"/>
                            <a:lumOff val="35000"/>
                          </a:schemeClr>
                        </a:solidFill>
                        <a:latin typeface="Yekan Bakh"/>
                        <a:cs typeface="Yekan Bakh"/>
                      </a:endParaRPr>
                    </a:p>
                  </a:txBody>
                  <a:tcPr marL="50800" marR="50800" marT="38100" marB="38100" anchor="ctr">
                    <a:solidFill>
                      <a:schemeClr val="bg1">
                        <a:lumMod val="95000"/>
                      </a:schemeClr>
                    </a:solidFill>
                  </a:tcPr>
                </a:tc>
                <a:tc>
                  <a:txBody>
                    <a:bodyPr/>
                    <a:lstStyle/>
                    <a:p>
                      <a:pPr algn="ctr" rtl="1">
                        <a:lnSpc>
                          <a:spcPct val="105000"/>
                        </a:lnSpc>
                      </a:pPr>
                      <a:r>
                        <a:rPr sz="1050" b="1" dirty="0" err="1">
                          <a:solidFill>
                            <a:srgbClr val="00406C"/>
                          </a:solidFill>
                          <a:latin typeface="Yekan Bakh"/>
                          <a:cs typeface="Yekan Bakh"/>
                        </a:rPr>
                        <a:t>فعالیت</a:t>
                      </a:r>
                      <a:r>
                        <a:rPr sz="1050" b="1" dirty="0">
                          <a:solidFill>
                            <a:srgbClr val="00406C"/>
                          </a:solidFill>
                          <a:latin typeface="Yekan Bakh"/>
                          <a:cs typeface="Yekan Bakh"/>
                        </a:rPr>
                        <a:t> </a:t>
                      </a:r>
                      <a:r>
                        <a:rPr lang="fa-IR" sz="1050" b="1" dirty="0">
                          <a:solidFill>
                            <a:srgbClr val="00406C"/>
                          </a:solidFill>
                          <a:latin typeface="Yekan Bakh"/>
                          <a:cs typeface="Yekan Bakh"/>
                        </a:rPr>
                        <a:t>/</a:t>
                      </a:r>
                      <a:r>
                        <a:rPr sz="1050" b="1" dirty="0">
                          <a:solidFill>
                            <a:srgbClr val="00406C"/>
                          </a:solidFill>
                          <a:latin typeface="Yekan Bakh"/>
                          <a:cs typeface="Yekan Bakh"/>
                        </a:rPr>
                        <a:t> </a:t>
                      </a:r>
                      <a:r>
                        <a:rPr sz="1050" b="1" dirty="0" err="1">
                          <a:solidFill>
                            <a:srgbClr val="00406C"/>
                          </a:solidFill>
                          <a:latin typeface="Yekan Bakh"/>
                          <a:cs typeface="Yekan Bakh"/>
                        </a:rPr>
                        <a:t>اقدام</a:t>
                      </a:r>
                      <a:endParaRPr sz="1050" b="1" dirty="0">
                        <a:solidFill>
                          <a:srgbClr val="00406C"/>
                        </a:solidFill>
                        <a:latin typeface="Yekan Bakh"/>
                        <a:cs typeface="Yekan Bakh"/>
                      </a:endParaRPr>
                    </a:p>
                  </a:txBody>
                  <a:tcPr marL="50800" marR="50800" marT="38100" marB="38100" anchor="ctr">
                    <a:solidFill>
                      <a:schemeClr val="bg1">
                        <a:lumMod val="95000"/>
                      </a:schemeClr>
                    </a:solidFill>
                  </a:tcPr>
                </a:tc>
                <a:extLst>
                  <a:ext uri="{0D108BD9-81ED-4DB2-BD59-A6C34878D82A}">
                    <a16:rowId xmlns:a16="http://schemas.microsoft.com/office/drawing/2014/main" val="10005"/>
                  </a:ext>
                </a:extLst>
              </a:tr>
              <a:tr h="362274">
                <a:tc>
                  <a:txBody>
                    <a:bodyPr/>
                    <a:lstStyle/>
                    <a:p>
                      <a:pPr algn="r" rtl="1">
                        <a:lnSpc>
                          <a:spcPct val="105000"/>
                        </a:lnSpc>
                      </a:pPr>
                      <a:r>
                        <a:rPr sz="800" b="0">
                          <a:solidFill>
                            <a:schemeClr val="tx1">
                              <a:lumMod val="65000"/>
                              <a:lumOff val="35000"/>
                            </a:schemeClr>
                          </a:solidFill>
                          <a:latin typeface="Yekan Bakh"/>
                          <a:cs typeface="Yekan Bakh"/>
                        </a:rPr>
                        <a:t>مالک/مدیرعامل مشتری ↔ بنیان‌گذار </a:t>
                      </a:r>
                      <a:r>
                        <a:rPr lang="fa-IR" sz="800" b="0">
                          <a:solidFill>
                            <a:schemeClr val="tx1">
                              <a:lumMod val="65000"/>
                              <a:lumOff val="35000"/>
                            </a:schemeClr>
                          </a:solidFill>
                          <a:latin typeface="Yekan Bakh"/>
                          <a:cs typeface="Yekan Bakh"/>
                        </a:rPr>
                        <a:t>اکوسیستم فرصت ایران</a:t>
                      </a:r>
                      <a:endParaRPr sz="800" b="0">
                        <a:solidFill>
                          <a:schemeClr val="tx1">
                            <a:lumMod val="65000"/>
                            <a:lumOff val="35000"/>
                          </a:schemeClr>
                        </a:solidFill>
                        <a:latin typeface="Yekan Bakh"/>
                        <a:cs typeface="Yekan Bakh"/>
                      </a:endParaRPr>
                    </a:p>
                  </a:txBody>
                  <a:tcPr marL="50800" marR="50800" marT="38100" marB="38100" anchor="ctr">
                    <a:solidFill>
                      <a:schemeClr val="bg1"/>
                    </a:solidFill>
                  </a:tcPr>
                </a:tc>
                <a:tc>
                  <a:txBody>
                    <a:bodyPr/>
                    <a:lstStyle/>
                    <a:p>
                      <a:pPr algn="r" rtl="1">
                        <a:lnSpc>
                          <a:spcPct val="105000"/>
                        </a:lnSpc>
                      </a:pPr>
                      <a:r>
                        <a:rPr sz="800" b="0">
                          <a:solidFill>
                            <a:schemeClr val="tx1">
                              <a:lumMod val="65000"/>
                              <a:lumOff val="35000"/>
                            </a:schemeClr>
                          </a:solidFill>
                          <a:latin typeface="Yekan Bakh"/>
                          <a:cs typeface="Yekan Bakh"/>
                        </a:rPr>
                        <a:t>بنیان‌گذار یا مدیر توسعه کسب‌وکار </a:t>
                      </a:r>
                      <a:r>
                        <a:rPr lang="fa-IR" sz="800" b="0">
                          <a:solidFill>
                            <a:schemeClr val="tx1">
                              <a:lumMod val="65000"/>
                              <a:lumOff val="35000"/>
                            </a:schemeClr>
                          </a:solidFill>
                          <a:latin typeface="Yekan Bakh"/>
                          <a:cs typeface="Yekan Bakh"/>
                        </a:rPr>
                        <a:t>اکوسیستم فرصت ایران</a:t>
                      </a:r>
                      <a:endParaRPr sz="800" b="0">
                        <a:solidFill>
                          <a:schemeClr val="tx1">
                            <a:lumMod val="65000"/>
                            <a:lumOff val="35000"/>
                          </a:schemeClr>
                        </a:solidFill>
                        <a:latin typeface="Yekan Bakh"/>
                        <a:cs typeface="Yekan Bakh"/>
                      </a:endParaRPr>
                    </a:p>
                  </a:txBody>
                  <a:tcPr marL="50800" marR="50800" marT="38100" marB="38100" anchor="ctr">
                    <a:solidFill>
                      <a:schemeClr val="bg1"/>
                    </a:solidFill>
                  </a:tcPr>
                </a:tc>
                <a:tc>
                  <a:txBody>
                    <a:bodyPr/>
                    <a:lstStyle/>
                    <a:p>
                      <a:pPr algn="r" rtl="1">
                        <a:lnSpc>
                          <a:spcPct val="105000"/>
                        </a:lnSpc>
                      </a:pPr>
                      <a:r>
                        <a:rPr sz="800" b="0" dirty="0" err="1">
                          <a:solidFill>
                            <a:schemeClr val="tx1">
                              <a:lumMod val="65000"/>
                              <a:lumOff val="35000"/>
                            </a:schemeClr>
                          </a:solidFill>
                          <a:latin typeface="Yekan Bakh"/>
                          <a:cs typeface="Yekan Bakh"/>
                        </a:rPr>
                        <a:t>بنیان‌گذار</a:t>
                      </a:r>
                      <a:r>
                        <a:rPr sz="800" b="0" dirty="0">
                          <a:solidFill>
                            <a:schemeClr val="tx1">
                              <a:lumMod val="65000"/>
                              <a:lumOff val="35000"/>
                            </a:schemeClr>
                          </a:solidFill>
                          <a:latin typeface="Yekan Bakh"/>
                          <a:cs typeface="Yekan Bakh"/>
                        </a:rPr>
                        <a:t>/</a:t>
                      </a:r>
                      <a:r>
                        <a:rPr sz="800" b="0" dirty="0" err="1">
                          <a:solidFill>
                            <a:schemeClr val="tx1">
                              <a:lumMod val="65000"/>
                              <a:lumOff val="35000"/>
                            </a:schemeClr>
                          </a:solidFill>
                          <a:latin typeface="Yekan Bakh"/>
                          <a:cs typeface="Yekan Bakh"/>
                        </a:rPr>
                        <a:t>عضو</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تیم</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هسته</a:t>
                      </a:r>
                      <a:r>
                        <a:rPr sz="800" b="0" dirty="0">
                          <a:solidFill>
                            <a:schemeClr val="tx1">
                              <a:lumMod val="65000"/>
                              <a:lumOff val="35000"/>
                            </a:schemeClr>
                          </a:solidFill>
                          <a:latin typeface="Yekan Bakh"/>
                          <a:cs typeface="Yekan Bakh"/>
                        </a:rPr>
                        <a:t> </a:t>
                      </a:r>
                      <a:r>
                        <a:rPr lang="fa-IR" sz="800" b="0" dirty="0">
                          <a:solidFill>
                            <a:schemeClr val="tx1">
                              <a:lumMod val="65000"/>
                              <a:lumOff val="35000"/>
                            </a:schemeClr>
                          </a:solidFill>
                          <a:latin typeface="Yekan Bakh"/>
                          <a:cs typeface="Yekan Bakh"/>
                        </a:rPr>
                        <a:t>اکوسیستم فرصت ایران</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نماینده</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اتاق</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بازرگانی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به‌عنوان</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معرف</a:t>
                      </a:r>
                      <a:endParaRPr sz="800" b="0" dirty="0">
                        <a:solidFill>
                          <a:schemeClr val="tx1">
                            <a:lumMod val="65000"/>
                            <a:lumOff val="35000"/>
                          </a:schemeClr>
                        </a:solidFill>
                        <a:latin typeface="Yekan Bakh"/>
                        <a:cs typeface="Yekan Bakh"/>
                      </a:endParaRPr>
                    </a:p>
                  </a:txBody>
                  <a:tcPr marL="50800" marR="50800" marT="38100" marB="38100" anchor="ctr">
                    <a:solidFill>
                      <a:schemeClr val="bg1"/>
                    </a:solidFill>
                  </a:tcPr>
                </a:tc>
                <a:tc>
                  <a:txBody>
                    <a:bodyPr/>
                    <a:lstStyle/>
                    <a:p>
                      <a:pPr algn="ctr" rtl="1">
                        <a:lnSpc>
                          <a:spcPct val="105000"/>
                        </a:lnSpc>
                      </a:pPr>
                      <a:r>
                        <a:rPr sz="1050" b="1" dirty="0" err="1">
                          <a:solidFill>
                            <a:srgbClr val="00406C"/>
                          </a:solidFill>
                          <a:latin typeface="Yekan Bakh"/>
                          <a:cs typeface="Yekan Bakh"/>
                        </a:rPr>
                        <a:t>بازیگر</a:t>
                      </a:r>
                      <a:r>
                        <a:rPr sz="1050" b="1" dirty="0">
                          <a:solidFill>
                            <a:srgbClr val="00406C"/>
                          </a:solidFill>
                          <a:latin typeface="Yekan Bakh"/>
                          <a:cs typeface="Yekan Bakh"/>
                        </a:rPr>
                        <a:t>/ </a:t>
                      </a:r>
                      <a:r>
                        <a:rPr lang="fa-IR" sz="1050" b="1" dirty="0">
                          <a:solidFill>
                            <a:srgbClr val="00406C"/>
                          </a:solidFill>
                          <a:latin typeface="Yekan Bakh"/>
                          <a:cs typeface="Yekan Bakh"/>
                        </a:rPr>
                        <a:t> م</a:t>
                      </a:r>
                      <a:r>
                        <a:rPr sz="1050" b="1" dirty="0" err="1">
                          <a:solidFill>
                            <a:srgbClr val="00406C"/>
                          </a:solidFill>
                          <a:latin typeface="Yekan Bakh"/>
                          <a:cs typeface="Yekan Bakh"/>
                        </a:rPr>
                        <a:t>الک</a:t>
                      </a:r>
                      <a:r>
                        <a:rPr sz="1050" b="1" dirty="0">
                          <a:solidFill>
                            <a:srgbClr val="00406C"/>
                          </a:solidFill>
                          <a:latin typeface="Yekan Bakh"/>
                          <a:cs typeface="Yekan Bakh"/>
                        </a:rPr>
                        <a:t> </a:t>
                      </a:r>
                      <a:r>
                        <a:rPr sz="1050" b="1" dirty="0" err="1">
                          <a:solidFill>
                            <a:srgbClr val="00406C"/>
                          </a:solidFill>
                          <a:latin typeface="Yekan Bakh"/>
                          <a:cs typeface="Yekan Bakh"/>
                        </a:rPr>
                        <a:t>تعامل</a:t>
                      </a:r>
                      <a:endParaRPr sz="1050" b="1" dirty="0">
                        <a:solidFill>
                          <a:srgbClr val="00406C"/>
                        </a:solidFill>
                        <a:latin typeface="Yekan Bakh"/>
                        <a:cs typeface="Yekan Bakh"/>
                      </a:endParaRPr>
                    </a:p>
                  </a:txBody>
                  <a:tcPr marL="50800" marR="50800" marT="38100" marB="38100" anchor="ctr">
                    <a:solidFill>
                      <a:schemeClr val="bg1"/>
                    </a:solidFill>
                  </a:tcPr>
                </a:tc>
                <a:extLst>
                  <a:ext uri="{0D108BD9-81ED-4DB2-BD59-A6C34878D82A}">
                    <a16:rowId xmlns:a16="http://schemas.microsoft.com/office/drawing/2014/main" val="10006"/>
                  </a:ext>
                </a:extLst>
              </a:tr>
              <a:tr h="276018">
                <a:tc>
                  <a:txBody>
                    <a:bodyPr/>
                    <a:lstStyle/>
                    <a:p>
                      <a:pPr algn="r" rtl="1">
                        <a:lnSpc>
                          <a:spcPct val="105000"/>
                        </a:lnSpc>
                      </a:pPr>
                      <a:r>
                        <a:rPr sz="800" b="0" dirty="0">
                          <a:solidFill>
                            <a:schemeClr val="tx1">
                              <a:lumMod val="65000"/>
                              <a:lumOff val="35000"/>
                            </a:schemeClr>
                          </a:solidFill>
                          <a:latin typeface="Yekan Bakh"/>
                          <a:cs typeface="Yekan Bakh"/>
                        </a:rPr>
                        <a:t>Contract</a:t>
                      </a:r>
                      <a:r>
                        <a:rPr lang="fa-I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قرارداد</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امضاشده</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پرداخت</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مرحله</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اول</a:t>
                      </a:r>
                      <a:endParaRPr sz="800" b="0" dirty="0">
                        <a:solidFill>
                          <a:schemeClr val="tx1">
                            <a:lumMod val="65000"/>
                            <a:lumOff val="35000"/>
                          </a:schemeClr>
                        </a:solidFill>
                        <a:latin typeface="Yekan Bakh"/>
                        <a:cs typeface="Yekan Bakh"/>
                      </a:endParaRPr>
                    </a:p>
                  </a:txBody>
                  <a:tcPr marL="50800" marR="50800" marT="38100" marB="38100" anchor="ctr">
                    <a:solidFill>
                      <a:schemeClr val="bg1">
                        <a:lumMod val="95000"/>
                      </a:schemeClr>
                    </a:solidFill>
                  </a:tcPr>
                </a:tc>
                <a:tc>
                  <a:txBody>
                    <a:bodyPr/>
                    <a:lstStyle/>
                    <a:p>
                      <a:pPr algn="r" rtl="1">
                        <a:lnSpc>
                          <a:spcPct val="105000"/>
                        </a:lnSpc>
                      </a:pPr>
                      <a:r>
                        <a:rPr sz="800" b="0" dirty="0">
                          <a:solidFill>
                            <a:schemeClr val="tx1">
                              <a:lumMod val="65000"/>
                              <a:lumOff val="35000"/>
                            </a:schemeClr>
                          </a:solidFill>
                          <a:latin typeface="Yekan Bakh"/>
                          <a:cs typeface="Yekan Bakh"/>
                        </a:rPr>
                        <a:t>Qualified Opportunity</a:t>
                      </a:r>
                      <a:r>
                        <a:rPr lang="fa-IR" sz="800" b="0" dirty="0">
                          <a:solidFill>
                            <a:schemeClr val="tx1">
                              <a:lumMod val="65000"/>
                              <a:lumOff val="35000"/>
                            </a:schemeClr>
                          </a:solidFill>
                          <a:latin typeface="Yekan Bakh"/>
                          <a:cs typeface="Yekan Bakh"/>
                        </a:rPr>
                        <a:t> ج</a:t>
                      </a:r>
                      <a:r>
                        <a:rPr sz="800" b="0" dirty="0" err="1">
                          <a:solidFill>
                            <a:schemeClr val="tx1">
                              <a:lumMod val="65000"/>
                              <a:lumOff val="35000"/>
                            </a:schemeClr>
                          </a:solidFill>
                          <a:latin typeface="Yekan Bakh"/>
                          <a:cs typeface="Yekan Bakh"/>
                        </a:rPr>
                        <a:t>لسه</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بعدی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مقرر</a:t>
                      </a:r>
                      <a:endParaRPr sz="800" b="0" dirty="0">
                        <a:solidFill>
                          <a:schemeClr val="tx1">
                            <a:lumMod val="65000"/>
                            <a:lumOff val="35000"/>
                          </a:schemeClr>
                        </a:solidFill>
                        <a:latin typeface="Yekan Bakh"/>
                        <a:cs typeface="Yekan Bakh"/>
                      </a:endParaRPr>
                    </a:p>
                  </a:txBody>
                  <a:tcPr marL="50800" marR="50800" marT="38100" marB="38100" anchor="ctr">
                    <a:solidFill>
                      <a:schemeClr val="bg1">
                        <a:lumMod val="95000"/>
                      </a:schemeClr>
                    </a:solidFill>
                  </a:tcPr>
                </a:tc>
                <a:tc>
                  <a:txBody>
                    <a:bodyPr/>
                    <a:lstStyle/>
                    <a:p>
                      <a:pPr algn="r" rtl="1">
                        <a:lnSpc>
                          <a:spcPct val="105000"/>
                        </a:lnSpc>
                      </a:pPr>
                      <a:r>
                        <a:rPr sz="800" b="0" dirty="0">
                          <a:solidFill>
                            <a:schemeClr val="tx1">
                              <a:lumMod val="65000"/>
                              <a:lumOff val="35000"/>
                            </a:schemeClr>
                          </a:solidFill>
                          <a:latin typeface="Yekan Bakh"/>
                          <a:cs typeface="Yekan Bakh"/>
                        </a:rPr>
                        <a:t>Lead</a:t>
                      </a:r>
                      <a:r>
                        <a:rPr lang="fa-I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سرنخ</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اولیه</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واجد</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شرایط</a:t>
                      </a:r>
                      <a:endParaRPr sz="800" b="0" dirty="0">
                        <a:solidFill>
                          <a:schemeClr val="tx1">
                            <a:lumMod val="65000"/>
                            <a:lumOff val="35000"/>
                          </a:schemeClr>
                        </a:solidFill>
                        <a:latin typeface="Yekan Bakh"/>
                        <a:cs typeface="Yekan Bakh"/>
                      </a:endParaRPr>
                    </a:p>
                  </a:txBody>
                  <a:tcPr marL="50800" marR="50800" marT="38100" marB="38100" anchor="ctr">
                    <a:solidFill>
                      <a:schemeClr val="bg1">
                        <a:lumMod val="95000"/>
                      </a:schemeClr>
                    </a:solidFill>
                  </a:tcPr>
                </a:tc>
                <a:tc>
                  <a:txBody>
                    <a:bodyPr/>
                    <a:lstStyle/>
                    <a:p>
                      <a:pPr algn="ctr" rtl="1">
                        <a:lnSpc>
                          <a:spcPct val="105000"/>
                        </a:lnSpc>
                      </a:pPr>
                      <a:r>
                        <a:rPr sz="1050" b="1" dirty="0" err="1">
                          <a:solidFill>
                            <a:srgbClr val="00406C"/>
                          </a:solidFill>
                          <a:latin typeface="Yekan Bakh"/>
                          <a:cs typeface="Yekan Bakh"/>
                        </a:rPr>
                        <a:t>خروجی</a:t>
                      </a:r>
                      <a:r>
                        <a:rPr sz="1050" b="1" dirty="0">
                          <a:solidFill>
                            <a:srgbClr val="00406C"/>
                          </a:solidFill>
                          <a:latin typeface="Yekan Bakh"/>
                          <a:cs typeface="Yekan Bakh"/>
                        </a:rPr>
                        <a:t> /</a:t>
                      </a:r>
                      <a:r>
                        <a:rPr lang="fa-IR" sz="1050" b="1" dirty="0">
                          <a:solidFill>
                            <a:srgbClr val="00406C"/>
                          </a:solidFill>
                          <a:latin typeface="Yekan Bakh"/>
                          <a:cs typeface="Yekan Bakh"/>
                        </a:rPr>
                        <a:t> ن</a:t>
                      </a:r>
                      <a:r>
                        <a:rPr sz="1050" b="1" dirty="0" err="1">
                          <a:solidFill>
                            <a:srgbClr val="00406C"/>
                          </a:solidFill>
                          <a:latin typeface="Yekan Bakh"/>
                          <a:cs typeface="Yekan Bakh"/>
                        </a:rPr>
                        <a:t>تیجه</a:t>
                      </a:r>
                      <a:r>
                        <a:rPr sz="1050" b="1" dirty="0">
                          <a:solidFill>
                            <a:srgbClr val="00406C"/>
                          </a:solidFill>
                          <a:latin typeface="Yekan Bakh"/>
                          <a:cs typeface="Yekan Bakh"/>
                        </a:rPr>
                        <a:t> </a:t>
                      </a:r>
                      <a:r>
                        <a:rPr sz="1050" b="1" dirty="0" err="1">
                          <a:solidFill>
                            <a:srgbClr val="00406C"/>
                          </a:solidFill>
                          <a:latin typeface="Yekan Bakh"/>
                          <a:cs typeface="Yekan Bakh"/>
                        </a:rPr>
                        <a:t>تجاری</a:t>
                      </a:r>
                      <a:endParaRPr sz="1050" b="1" dirty="0">
                        <a:solidFill>
                          <a:srgbClr val="00406C"/>
                        </a:solidFill>
                        <a:latin typeface="Yekan Bakh"/>
                        <a:cs typeface="Yekan Bakh"/>
                      </a:endParaRPr>
                    </a:p>
                  </a:txBody>
                  <a:tcPr marL="50800" marR="50800" marT="38100" marB="38100" anchor="ctr">
                    <a:solidFill>
                      <a:schemeClr val="bg1">
                        <a:lumMod val="95000"/>
                      </a:schemeClr>
                    </a:solidFill>
                  </a:tcPr>
                </a:tc>
                <a:extLst>
                  <a:ext uri="{0D108BD9-81ED-4DB2-BD59-A6C34878D82A}">
                    <a16:rowId xmlns:a16="http://schemas.microsoft.com/office/drawing/2014/main" val="10007"/>
                  </a:ext>
                </a:extLst>
              </a:tr>
              <a:tr h="733173">
                <a:tc>
                  <a:txBody>
                    <a:bodyPr/>
                    <a:lstStyle/>
                    <a:p>
                      <a:pPr algn="r" rtl="1">
                        <a:lnSpc>
                          <a:spcPct val="105000"/>
                        </a:lnSpc>
                      </a:pPr>
                      <a:r>
                        <a:rPr sz="800" b="0" dirty="0" err="1">
                          <a:solidFill>
                            <a:schemeClr val="tx1">
                              <a:lumMod val="65000"/>
                              <a:lumOff val="35000"/>
                            </a:schemeClr>
                          </a:solidFill>
                          <a:latin typeface="Yekan Bakh"/>
                          <a:cs typeface="Yekan Bakh"/>
                        </a:rPr>
                        <a:t>فرضیه</a:t>
                      </a:r>
                      <a:r>
                        <a:rPr sz="800" b="0" dirty="0">
                          <a:solidFill>
                            <a:schemeClr val="tx1">
                              <a:lumMod val="65000"/>
                              <a:lumOff val="35000"/>
                            </a:schemeClr>
                          </a:solidFill>
                          <a:latin typeface="Yekan Bakh"/>
                          <a:cs typeface="Yekan Bakh"/>
                        </a:rPr>
                        <a:t> ۶ — </a:t>
                      </a:r>
                      <a:r>
                        <a:rPr sz="800" b="0" dirty="0" err="1">
                          <a:solidFill>
                            <a:schemeClr val="tx1">
                              <a:lumMod val="65000"/>
                              <a:lumOff val="35000"/>
                            </a:schemeClr>
                          </a:solidFill>
                          <a:latin typeface="Yekan Bakh"/>
                          <a:cs typeface="Yekan Bakh"/>
                        </a:rPr>
                        <a:t>پرداخت</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از</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ابتدای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فرآیند</a:t>
                      </a:r>
                      <a:endParaRPr sz="800" b="0" dirty="0">
                        <a:solidFill>
                          <a:schemeClr val="tx1">
                            <a:lumMod val="65000"/>
                            <a:lumOff val="35000"/>
                          </a:schemeClr>
                        </a:solidFill>
                        <a:latin typeface="Yekan Bakh"/>
                        <a:cs typeface="Yekan Bakh"/>
                      </a:endParaRPr>
                    </a:p>
                    <a:p>
                      <a:pPr algn="r" rtl="1">
                        <a:lnSpc>
                          <a:spcPct val="105000"/>
                        </a:lnSpc>
                      </a:pPr>
                      <a:r>
                        <a:rPr sz="800" b="0" dirty="0" err="1">
                          <a:solidFill>
                            <a:schemeClr val="tx1">
                              <a:lumMod val="65000"/>
                              <a:lumOff val="35000"/>
                            </a:schemeClr>
                          </a:solidFill>
                          <a:latin typeface="Yekan Bakh"/>
                          <a:cs typeface="Yekan Bakh"/>
                        </a:rPr>
                        <a:t>مدل</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تعامل</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مستند</a:t>
                      </a:r>
                      <a:r>
                        <a:rPr lang="fa-IR" sz="800" b="0" dirty="0">
                          <a:solidFill>
                            <a:schemeClr val="tx1">
                              <a:lumMod val="65000"/>
                              <a:lumOff val="35000"/>
                            </a:schemeClr>
                          </a:solidFill>
                          <a:latin typeface="Yekan Bakh"/>
                          <a:cs typeface="Yekan Bakh"/>
                        </a:rPr>
                        <a:t>:</a:t>
                      </a:r>
                      <a:r>
                        <a:rPr lang="en-US" sz="800" b="0" dirty="0">
                          <a:solidFill>
                            <a:schemeClr val="tx1">
                              <a:lumMod val="65000"/>
                              <a:lumOff val="35000"/>
                            </a:schemeClr>
                          </a:solidFill>
                          <a:latin typeface="Yekan Bakh"/>
                          <a:cs typeface="Yekan Bakh"/>
                        </a:rPr>
                        <a:t> » </a:t>
                      </a:r>
                      <a:r>
                        <a:rPr sz="800" b="0" dirty="0" err="1">
                          <a:solidFill>
                            <a:schemeClr val="tx1">
                              <a:lumMod val="65000"/>
                              <a:lumOff val="35000"/>
                            </a:schemeClr>
                          </a:solidFill>
                          <a:latin typeface="Yekan Bakh"/>
                          <a:cs typeface="Yekan Bakh"/>
                        </a:rPr>
                        <a:t>ماموریت</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با</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محدوده</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مشخص</a:t>
                      </a:r>
                      <a:r>
                        <a:rPr sz="800" b="0" dirty="0">
                          <a:solidFill>
                            <a:schemeClr val="tx1">
                              <a:lumMod val="65000"/>
                              <a:lumOff val="35000"/>
                            </a:schemeClr>
                          </a:solidFill>
                          <a:latin typeface="Yekan Bakh"/>
                          <a:cs typeface="Yekan Bakh"/>
                        </a:rPr>
                        <a:t> و </a:t>
                      </a:r>
                      <a:r>
                        <a:rPr sz="800" b="0" dirty="0" err="1">
                          <a:solidFill>
                            <a:schemeClr val="tx1">
                              <a:lumMod val="65000"/>
                              <a:lumOff val="35000"/>
                            </a:schemeClr>
                          </a:solidFill>
                          <a:latin typeface="Yekan Bakh"/>
                          <a:cs typeface="Yekan Bakh"/>
                        </a:rPr>
                        <a:t>شرایط</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پرداخت</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مرحله‌ای</a:t>
                      </a:r>
                      <a:r>
                        <a:rPr lang="fa-IR" sz="800" b="0" dirty="0">
                          <a:solidFill>
                            <a:srgbClr val="222222"/>
                          </a:solidFill>
                          <a:latin typeface="Yekan Bakh"/>
                          <a:cs typeface="Yekan Bakh"/>
                        </a:rPr>
                        <a:t>»</a:t>
                      </a:r>
                      <a:endParaRPr sz="800" b="0" dirty="0">
                        <a:solidFill>
                          <a:schemeClr val="tx1">
                            <a:lumMod val="65000"/>
                            <a:lumOff val="35000"/>
                          </a:schemeClr>
                        </a:solidFill>
                        <a:latin typeface="Yekan Bakh"/>
                        <a:cs typeface="Yekan Bakh"/>
                      </a:endParaRPr>
                    </a:p>
                  </a:txBody>
                  <a:tcPr marL="50800" marR="50800" marT="38100" marB="38100" anchor="ctr">
                    <a:solidFill>
                      <a:schemeClr val="bg1"/>
                    </a:solidFill>
                  </a:tcPr>
                </a:tc>
                <a:tc>
                  <a:txBody>
                    <a:bodyPr/>
                    <a:lstStyle/>
                    <a:p>
                      <a:pPr algn="r" rtl="1">
                        <a:lnSpc>
                          <a:spcPct val="105000"/>
                        </a:lnSpc>
                      </a:pPr>
                      <a:r>
                        <a:rPr sz="800" b="0" dirty="0" err="1">
                          <a:solidFill>
                            <a:schemeClr val="tx1">
                              <a:lumMod val="65000"/>
                              <a:lumOff val="35000"/>
                            </a:schemeClr>
                          </a:solidFill>
                          <a:latin typeface="Yekan Bakh"/>
                          <a:cs typeface="Yekan Bakh"/>
                        </a:rPr>
                        <a:t>توالی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خرید</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مستند</a:t>
                      </a:r>
                      <a:r>
                        <a:rPr lang="fa-IR" sz="800" b="0" dirty="0">
                          <a:solidFill>
                            <a:schemeClr val="tx1">
                              <a:lumMod val="65000"/>
                              <a:lumOff val="35000"/>
                            </a:schemeClr>
                          </a:solidFill>
                          <a:latin typeface="Yekan Bakh"/>
                          <a:cs typeface="Yekan Bakh"/>
                        </a:rPr>
                        <a:t>:</a:t>
                      </a:r>
                      <a:r>
                        <a:rPr lang="en-US" sz="800" b="0" dirty="0">
                          <a:solidFill>
                            <a:schemeClr val="tx1">
                              <a:lumMod val="65000"/>
                              <a:lumOff val="35000"/>
                            </a:schemeClr>
                          </a:solidFill>
                          <a:latin typeface="Yekan Bakh"/>
                          <a:cs typeface="Yekan Bakh"/>
                        </a:rPr>
                        <a:t> » </a:t>
                      </a:r>
                      <a:r>
                        <a:rPr sz="800" b="0" dirty="0" err="1">
                          <a:solidFill>
                            <a:schemeClr val="tx1">
                              <a:lumMod val="65000"/>
                              <a:lumOff val="35000"/>
                            </a:schemeClr>
                          </a:solidFill>
                          <a:latin typeface="Yekan Bakh"/>
                          <a:cs typeface="Yekan Bakh"/>
                        </a:rPr>
                        <a:t>فهرست</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کوتاه</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واسطه‌ها</a:t>
                      </a:r>
                      <a:r>
                        <a:rPr sz="800" b="0" dirty="0">
                          <a:solidFill>
                            <a:schemeClr val="tx1">
                              <a:lumMod val="65000"/>
                              <a:lumOff val="35000"/>
                            </a:schemeClr>
                          </a:solidFill>
                          <a:latin typeface="Yekan Bakh"/>
                          <a:cs typeface="Yekan Bakh"/>
                        </a:rPr>
                        <a:t> ← </a:t>
                      </a:r>
                      <a:r>
                        <a:rPr sz="800" b="0" dirty="0" err="1">
                          <a:solidFill>
                            <a:schemeClr val="tx1">
                              <a:lumMod val="65000"/>
                              <a:lumOff val="35000"/>
                            </a:schemeClr>
                          </a:solidFill>
                          <a:latin typeface="Yekan Bakh"/>
                          <a:cs typeface="Yekan Bakh"/>
                        </a:rPr>
                        <a:t>ارزیابی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اعتبار</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واسطه‌ها</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پیش</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از</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پایلوت</a:t>
                      </a:r>
                      <a:r>
                        <a:rPr lang="fa-IR" sz="800" b="0" dirty="0">
                          <a:solidFill>
                            <a:srgbClr val="222222"/>
                          </a:solidFill>
                          <a:latin typeface="Yekan Bakh"/>
                          <a:cs typeface="Yekan Bakh"/>
                        </a:rPr>
                        <a:t>»</a:t>
                      </a:r>
                      <a:endParaRPr sz="800" b="0" dirty="0">
                        <a:solidFill>
                          <a:schemeClr val="tx1">
                            <a:lumMod val="65000"/>
                            <a:lumOff val="35000"/>
                          </a:schemeClr>
                        </a:solidFill>
                        <a:latin typeface="Yekan Bakh"/>
                        <a:cs typeface="Yekan Bakh"/>
                      </a:endParaRPr>
                    </a:p>
                    <a:p>
                      <a:pPr algn="r" rtl="1">
                        <a:lnSpc>
                          <a:spcPct val="105000"/>
                        </a:lnSpc>
                      </a:pPr>
                      <a:r>
                        <a:rPr sz="800" b="0" dirty="0" err="1">
                          <a:solidFill>
                            <a:schemeClr val="tx1">
                              <a:lumMod val="65000"/>
                              <a:lumOff val="35000"/>
                            </a:schemeClr>
                          </a:solidFill>
                          <a:latin typeface="Yekan Bakh"/>
                          <a:cs typeface="Yekan Bakh"/>
                        </a:rPr>
                        <a:t>نیاز</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مستند</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به</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راستی‌آزمایی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مرجع</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پیش</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از</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تعهد</a:t>
                      </a:r>
                      <a:endParaRPr sz="800" b="0" dirty="0">
                        <a:solidFill>
                          <a:schemeClr val="tx1">
                            <a:lumMod val="65000"/>
                            <a:lumOff val="35000"/>
                          </a:schemeClr>
                        </a:solidFill>
                        <a:latin typeface="Yekan Bakh"/>
                        <a:cs typeface="Yekan Bakh"/>
                      </a:endParaRPr>
                    </a:p>
                  </a:txBody>
                  <a:tcPr marL="50800" marR="50800" marT="38100" marB="38100" anchor="ctr">
                    <a:solidFill>
                      <a:schemeClr val="bg1"/>
                    </a:solidFill>
                  </a:tcPr>
                </a:tc>
                <a:tc>
                  <a:txBody>
                    <a:bodyPr/>
                    <a:lstStyle/>
                    <a:p>
                      <a:pPr algn="r" rtl="1">
                        <a:lnSpc>
                          <a:spcPct val="105000"/>
                        </a:lnSpc>
                      </a:pPr>
                      <a:r>
                        <a:rPr sz="800" b="0" dirty="0" err="1">
                          <a:solidFill>
                            <a:schemeClr val="tx1">
                              <a:lumMod val="65000"/>
                              <a:lumOff val="35000"/>
                            </a:schemeClr>
                          </a:solidFill>
                          <a:latin typeface="Yekan Bakh"/>
                          <a:cs typeface="Yekan Bakh"/>
                        </a:rPr>
                        <a:t>پروفایل</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مستن</a:t>
                      </a:r>
                      <a:r>
                        <a:rPr lang="fa-IR" sz="800" b="0" dirty="0">
                          <a:solidFill>
                            <a:schemeClr val="tx1">
                              <a:lumMod val="65000"/>
                              <a:lumOff val="35000"/>
                            </a:schemeClr>
                          </a:solidFill>
                          <a:latin typeface="Yekan Bakh"/>
                          <a:cs typeface="Yekan Bakh"/>
                        </a:rPr>
                        <a:t>د:</a:t>
                      </a:r>
                      <a:r>
                        <a:rPr lang="en-US" sz="800" b="0" dirty="0">
                          <a:solidFill>
                            <a:schemeClr val="tx1">
                              <a:lumMod val="65000"/>
                              <a:lumOff val="35000"/>
                            </a:schemeClr>
                          </a:solidFill>
                          <a:latin typeface="Yekan Bakh"/>
                          <a:cs typeface="Yekan Bakh"/>
                        </a:rPr>
                        <a:t> » </a:t>
                      </a:r>
                      <a:r>
                        <a:rPr sz="800" b="0" dirty="0" err="1">
                          <a:solidFill>
                            <a:schemeClr val="tx1">
                              <a:lumMod val="65000"/>
                              <a:lumOff val="35000"/>
                            </a:schemeClr>
                          </a:solidFill>
                          <a:latin typeface="Yekan Bakh"/>
                          <a:cs typeface="Yekan Bakh"/>
                        </a:rPr>
                        <a:t>واسطه</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را</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بر</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اساس</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جایگاه</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شخصی</a:t>
                      </a:r>
                      <a:r>
                        <a:rPr sz="800" b="0" dirty="0">
                          <a:solidFill>
                            <a:schemeClr val="tx1">
                              <a:lumMod val="65000"/>
                              <a:lumOff val="35000"/>
                            </a:schemeClr>
                          </a:solidFill>
                          <a:latin typeface="Yekan Bakh"/>
                          <a:cs typeface="Yekan Bakh"/>
                        </a:rPr>
                        <a:t> و </a:t>
                      </a:r>
                      <a:r>
                        <a:rPr sz="800" b="0" dirty="0" err="1">
                          <a:solidFill>
                            <a:schemeClr val="tx1">
                              <a:lumMod val="65000"/>
                              <a:lumOff val="35000"/>
                            </a:schemeClr>
                          </a:solidFill>
                          <a:latin typeface="Yekan Bakh"/>
                          <a:cs typeface="Yekan Bakh"/>
                        </a:rPr>
                        <a:t>اعتبار</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محلی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ارزیابی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می‌کند</a:t>
                      </a:r>
                      <a:r>
                        <a:rPr lang="fa-IR" sz="800" b="0" dirty="0">
                          <a:solidFill>
                            <a:srgbClr val="222222"/>
                          </a:solidFill>
                          <a:latin typeface="Yekan Bakh"/>
                          <a:cs typeface="Yekan Bakh"/>
                        </a:rPr>
                        <a:t>»</a:t>
                      </a:r>
                      <a:endParaRPr sz="800" b="0" dirty="0">
                        <a:solidFill>
                          <a:schemeClr val="tx1">
                            <a:lumMod val="65000"/>
                            <a:lumOff val="35000"/>
                          </a:schemeClr>
                        </a:solidFill>
                        <a:latin typeface="Yekan Bakh"/>
                        <a:cs typeface="Yekan Bakh"/>
                      </a:endParaRPr>
                    </a:p>
                    <a:p>
                      <a:pPr algn="r" rtl="1">
                        <a:lnSpc>
                          <a:spcPct val="105000"/>
                        </a:lnSpc>
                      </a:pPr>
                      <a:r>
                        <a:rPr sz="800" b="0" dirty="0" err="1">
                          <a:solidFill>
                            <a:schemeClr val="tx1">
                              <a:lumMod val="65000"/>
                              <a:lumOff val="35000"/>
                            </a:schemeClr>
                          </a:solidFill>
                          <a:latin typeface="Yekan Bakh"/>
                          <a:cs typeface="Yekan Bakh"/>
                        </a:rPr>
                        <a:t>فرضیه</a:t>
                      </a:r>
                      <a:r>
                        <a:rPr sz="800" b="0" dirty="0">
                          <a:solidFill>
                            <a:schemeClr val="tx1">
                              <a:lumMod val="65000"/>
                              <a:lumOff val="35000"/>
                            </a:schemeClr>
                          </a:solidFill>
                          <a:latin typeface="Yekan Bakh"/>
                          <a:cs typeface="Yekan Bakh"/>
                        </a:rPr>
                        <a:t> ۱۲ — </a:t>
                      </a:r>
                      <a:r>
                        <a:rPr lang="fa-I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شهرت</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به‌عنوان</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لنگر</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ذهنی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اعتماد</a:t>
                      </a:r>
                      <a:endParaRPr lang="en-US" sz="800" b="0" dirty="0">
                        <a:solidFill>
                          <a:schemeClr val="tx1">
                            <a:lumMod val="65000"/>
                            <a:lumOff val="35000"/>
                          </a:schemeClr>
                        </a:solidFill>
                        <a:latin typeface="Yekan Bakh"/>
                        <a:cs typeface="Yekan Bakh"/>
                      </a:endParaRPr>
                    </a:p>
                  </a:txBody>
                  <a:tcPr marL="50800" marR="50800" marT="38100" marB="38100" anchor="ctr">
                    <a:solidFill>
                      <a:schemeClr val="bg1"/>
                    </a:solidFill>
                  </a:tcPr>
                </a:tc>
                <a:tc>
                  <a:txBody>
                    <a:bodyPr/>
                    <a:lstStyle/>
                    <a:p>
                      <a:pPr algn="ctr" rtl="1">
                        <a:lnSpc>
                          <a:spcPct val="105000"/>
                        </a:lnSpc>
                      </a:pPr>
                      <a:r>
                        <a:rPr lang="fa-IR" sz="1050" b="1" dirty="0">
                          <a:solidFill>
                            <a:srgbClr val="00406C"/>
                          </a:solidFill>
                          <a:latin typeface="Yekan Bakh"/>
                          <a:cs typeface="Yekan Bakh"/>
                        </a:rPr>
                        <a:t>شواهد پشتیبان</a:t>
                      </a:r>
                    </a:p>
                  </a:txBody>
                  <a:tcPr marL="50800" marR="50800" marT="38100" marB="38100" anchor="ctr">
                    <a:solidFill>
                      <a:schemeClr val="bg1"/>
                    </a:solidFill>
                  </a:tcPr>
                </a:tc>
                <a:extLst>
                  <a:ext uri="{0D108BD9-81ED-4DB2-BD59-A6C34878D82A}">
                    <a16:rowId xmlns:a16="http://schemas.microsoft.com/office/drawing/2014/main" val="10008"/>
                  </a:ext>
                </a:extLst>
              </a:tr>
            </a:tbl>
          </a:graphicData>
        </a:graphic>
      </p:graphicFrame>
      <p:sp>
        <p:nvSpPr>
          <p:cNvPr id="8" name="Rectangle 7">
            <a:extLst>
              <a:ext uri="{FF2B5EF4-FFF2-40B4-BE49-F238E27FC236}">
                <a16:creationId xmlns:a16="http://schemas.microsoft.com/office/drawing/2014/main" id="{34D4C23B-5EA8-786E-31DE-3C38C2DEF6E9}"/>
              </a:ext>
            </a:extLst>
          </p:cNvPr>
          <p:cNvSpPr/>
          <p:nvPr/>
        </p:nvSpPr>
        <p:spPr>
          <a:xfrm>
            <a:off x="457199" y="1918252"/>
            <a:ext cx="10786374" cy="3770270"/>
          </a:xfrm>
          <a:prstGeom prst="rect">
            <a:avLst/>
          </a:prstGeom>
          <a:no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0" name="Straight Connector 9">
            <a:extLst>
              <a:ext uri="{FF2B5EF4-FFF2-40B4-BE49-F238E27FC236}">
                <a16:creationId xmlns:a16="http://schemas.microsoft.com/office/drawing/2014/main" id="{E9B8B5E6-F92E-C010-6C94-1D8D9A507305}"/>
              </a:ext>
            </a:extLst>
          </p:cNvPr>
          <p:cNvCxnSpPr/>
          <p:nvPr/>
        </p:nvCxnSpPr>
        <p:spPr>
          <a:xfrm>
            <a:off x="457199" y="1759226"/>
            <a:ext cx="10786374" cy="0"/>
          </a:xfrm>
          <a:prstGeom prst="line">
            <a:avLst/>
          </a:prstGeom>
          <a:ln w="6350">
            <a:prstDash val="dash"/>
          </a:ln>
        </p:spPr>
        <p:style>
          <a:lnRef idx="1">
            <a:schemeClr val="accent2"/>
          </a:lnRef>
          <a:fillRef idx="0">
            <a:schemeClr val="accent2"/>
          </a:fillRef>
          <a:effectRef idx="0">
            <a:schemeClr val="accent2"/>
          </a:effectRef>
          <a:fontRef idx="minor">
            <a:schemeClr val="tx1"/>
          </a:fontRef>
        </p:style>
      </p:cxnSp>
      <p:grpSp>
        <p:nvGrpSpPr>
          <p:cNvPr id="12" name="Group 11">
            <a:extLst>
              <a:ext uri="{FF2B5EF4-FFF2-40B4-BE49-F238E27FC236}">
                <a16:creationId xmlns:a16="http://schemas.microsoft.com/office/drawing/2014/main" id="{567D36F8-D607-21B3-F109-B041F5139A1D}"/>
              </a:ext>
            </a:extLst>
          </p:cNvPr>
          <p:cNvGrpSpPr/>
          <p:nvPr/>
        </p:nvGrpSpPr>
        <p:grpSpPr>
          <a:xfrm>
            <a:off x="6423116" y="1293039"/>
            <a:ext cx="4820456" cy="396613"/>
            <a:chOff x="6423116" y="1293039"/>
            <a:chExt cx="4820456" cy="396613"/>
          </a:xfrm>
        </p:grpSpPr>
        <p:sp>
          <p:nvSpPr>
            <p:cNvPr id="5" name="Rectangle: Rounded Corners 4">
              <a:extLst>
                <a:ext uri="{FF2B5EF4-FFF2-40B4-BE49-F238E27FC236}">
                  <a16:creationId xmlns:a16="http://schemas.microsoft.com/office/drawing/2014/main" id="{19BD1902-7E6D-3127-6AE3-5FFCE058FA72}"/>
                </a:ext>
              </a:extLst>
            </p:cNvPr>
            <p:cNvSpPr/>
            <p:nvPr/>
          </p:nvSpPr>
          <p:spPr>
            <a:xfrm>
              <a:off x="10355343" y="1293039"/>
              <a:ext cx="888229" cy="396613"/>
            </a:xfrm>
            <a:prstGeom prst="roundRect">
              <a:avLst/>
            </a:prstGeom>
            <a:solidFill>
              <a:srgbClr val="F0BE0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fa-IR" sz="1100" b="1" dirty="0">
                  <a:solidFill>
                    <a:schemeClr val="bg1"/>
                  </a:solidFill>
                  <a:latin typeface="Yekan Bakh" pitchFamily="2" charset="-78"/>
                  <a:ea typeface="Yekan Bakh" pitchFamily="2" charset="-78"/>
                  <a:cs typeface="Yekan Bakh" pitchFamily="2" charset="-78"/>
                </a:rPr>
                <a:t>نیاز محوری:</a:t>
              </a:r>
              <a:endParaRPr lang="en-GB" sz="1100" b="1" dirty="0">
                <a:solidFill>
                  <a:schemeClr val="bg1"/>
                </a:solidFill>
                <a:latin typeface="Yekan Bakh" pitchFamily="2" charset="-78"/>
                <a:ea typeface="Yekan Bakh" pitchFamily="2" charset="-78"/>
                <a:cs typeface="Yekan Bakh" pitchFamily="2" charset="-78"/>
              </a:endParaRPr>
            </a:p>
          </p:txBody>
        </p:sp>
        <p:sp>
          <p:nvSpPr>
            <p:cNvPr id="11" name="Rectangle: Rounded Corners 10">
              <a:extLst>
                <a:ext uri="{FF2B5EF4-FFF2-40B4-BE49-F238E27FC236}">
                  <a16:creationId xmlns:a16="http://schemas.microsoft.com/office/drawing/2014/main" id="{59316DDE-51D7-636F-E5C2-DA8C6BE8F29F}"/>
                </a:ext>
              </a:extLst>
            </p:cNvPr>
            <p:cNvSpPr/>
            <p:nvPr/>
          </p:nvSpPr>
          <p:spPr>
            <a:xfrm>
              <a:off x="6423116" y="1293039"/>
              <a:ext cx="3928309" cy="396613"/>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fa-IR" sz="1000" dirty="0">
                  <a:solidFill>
                    <a:schemeClr val="tx1">
                      <a:lumMod val="65000"/>
                      <a:lumOff val="35000"/>
                    </a:schemeClr>
                  </a:solidFill>
                  <a:latin typeface="Yekan Bakh" pitchFamily="2" charset="-78"/>
                  <a:ea typeface="Yekan Bakh" pitchFamily="2" charset="-78"/>
                  <a:cs typeface="Yekan Bakh" pitchFamily="2" charset="-78"/>
                </a:rPr>
                <a:t>دسترسی به طرف معامله خارجی اعتبارسنجی‌شده و پذیرفته‌شدن نزد او </a:t>
              </a:r>
              <a:endParaRPr lang="en-GB" sz="1000" dirty="0">
                <a:solidFill>
                  <a:schemeClr val="tx1">
                    <a:lumMod val="65000"/>
                    <a:lumOff val="35000"/>
                  </a:schemeClr>
                </a:solidFill>
                <a:latin typeface="Yekan Bakh" pitchFamily="2" charset="-78"/>
                <a:ea typeface="Yekan Bakh" pitchFamily="2" charset="-78"/>
                <a:cs typeface="Yekan Bakh" pitchFamily="2" charset="-78"/>
              </a:endParaRPr>
            </a:p>
          </p:txBody>
        </p:sp>
      </p:grpSp>
      <p:sp>
        <p:nvSpPr>
          <p:cNvPr id="14" name="Rectangle: Rounded Corners 13">
            <a:extLst>
              <a:ext uri="{FF2B5EF4-FFF2-40B4-BE49-F238E27FC236}">
                <a16:creationId xmlns:a16="http://schemas.microsoft.com/office/drawing/2014/main" id="{EAAC9271-2D6E-C6AA-778E-DBB81BB59617}"/>
              </a:ext>
            </a:extLst>
          </p:cNvPr>
          <p:cNvSpPr/>
          <p:nvPr/>
        </p:nvSpPr>
        <p:spPr>
          <a:xfrm>
            <a:off x="5279936" y="1293039"/>
            <a:ext cx="1122130" cy="396613"/>
          </a:xfrm>
          <a:prstGeom prst="roundRect">
            <a:avLst/>
          </a:prstGeom>
          <a:solidFill>
            <a:srgbClr val="F0BE0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fa-IR" sz="1100" b="1" dirty="0">
                <a:solidFill>
                  <a:schemeClr val="bg1"/>
                </a:solidFill>
                <a:latin typeface="Yekan Bakh" pitchFamily="2" charset="-78"/>
                <a:ea typeface="Yekan Bakh" pitchFamily="2" charset="-78"/>
                <a:cs typeface="Yekan Bakh" pitchFamily="2" charset="-78"/>
              </a:rPr>
              <a:t>تصمیم‌گیرنده:</a:t>
            </a:r>
            <a:endParaRPr lang="en-GB" sz="1100" b="1" dirty="0">
              <a:solidFill>
                <a:schemeClr val="bg1"/>
              </a:solidFill>
              <a:latin typeface="Yekan Bakh" pitchFamily="2" charset="-78"/>
              <a:ea typeface="Yekan Bakh" pitchFamily="2" charset="-78"/>
              <a:cs typeface="Yekan Bakh" pitchFamily="2" charset="-78"/>
            </a:endParaRPr>
          </a:p>
        </p:txBody>
      </p:sp>
      <p:sp>
        <p:nvSpPr>
          <p:cNvPr id="15" name="Rectangle: Rounded Corners 14">
            <a:extLst>
              <a:ext uri="{FF2B5EF4-FFF2-40B4-BE49-F238E27FC236}">
                <a16:creationId xmlns:a16="http://schemas.microsoft.com/office/drawing/2014/main" id="{8233E512-5B8E-9BF7-7023-0B30605492A2}"/>
              </a:ext>
            </a:extLst>
          </p:cNvPr>
          <p:cNvSpPr/>
          <p:nvPr/>
        </p:nvSpPr>
        <p:spPr>
          <a:xfrm>
            <a:off x="2569997" y="1293039"/>
            <a:ext cx="2688889" cy="396613"/>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fa-IR" sz="1000" dirty="0">
                <a:solidFill>
                  <a:schemeClr val="tx1">
                    <a:lumMod val="65000"/>
                    <a:lumOff val="35000"/>
                  </a:schemeClr>
                </a:solidFill>
                <a:latin typeface="Yekan Bakh" pitchFamily="2" charset="-78"/>
                <a:ea typeface="Yekan Bakh" pitchFamily="2" charset="-78"/>
                <a:cs typeface="Yekan Bakh" pitchFamily="2" charset="-78"/>
              </a:rPr>
              <a:t>مالک/مدیرعامل، زنجیره کوتاه </a:t>
            </a:r>
            <a:endParaRPr lang="en-GB" sz="1000" dirty="0">
              <a:solidFill>
                <a:schemeClr val="tx1">
                  <a:lumMod val="65000"/>
                  <a:lumOff val="35000"/>
                </a:schemeClr>
              </a:solidFill>
              <a:latin typeface="Yekan Bakh" pitchFamily="2" charset="-78"/>
              <a:ea typeface="Yekan Bakh" pitchFamily="2" charset="-78"/>
              <a:cs typeface="Yekan Bakh" pitchFamily="2" charset="-78"/>
            </a:endParaRPr>
          </a:p>
        </p:txBody>
      </p:sp>
      <p:sp>
        <p:nvSpPr>
          <p:cNvPr id="16" name="Rectangle: Rounded Corners 15">
            <a:extLst>
              <a:ext uri="{FF2B5EF4-FFF2-40B4-BE49-F238E27FC236}">
                <a16:creationId xmlns:a16="http://schemas.microsoft.com/office/drawing/2014/main" id="{3AF8E3C2-620F-29EC-FED4-7FDF5D8230DD}"/>
              </a:ext>
            </a:extLst>
          </p:cNvPr>
          <p:cNvSpPr/>
          <p:nvPr/>
        </p:nvSpPr>
        <p:spPr>
          <a:xfrm>
            <a:off x="1965353" y="1293039"/>
            <a:ext cx="583594" cy="396613"/>
          </a:xfrm>
          <a:prstGeom prst="roundRect">
            <a:avLst/>
          </a:prstGeom>
          <a:solidFill>
            <a:srgbClr val="F0BE0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fa-IR" sz="1100" b="1" dirty="0">
                <a:solidFill>
                  <a:schemeClr val="bg1"/>
                </a:solidFill>
                <a:latin typeface="Yekan Bakh" pitchFamily="2" charset="-78"/>
                <a:ea typeface="Yekan Bakh" pitchFamily="2" charset="-78"/>
                <a:cs typeface="Yekan Bakh" pitchFamily="2" charset="-78"/>
              </a:rPr>
              <a:t>رفتار:</a:t>
            </a:r>
            <a:endParaRPr lang="en-GB" sz="1100" b="1" dirty="0">
              <a:solidFill>
                <a:schemeClr val="bg1"/>
              </a:solidFill>
              <a:latin typeface="Yekan Bakh" pitchFamily="2" charset="-78"/>
              <a:ea typeface="Yekan Bakh" pitchFamily="2" charset="-78"/>
              <a:cs typeface="Yekan Bakh" pitchFamily="2" charset="-78"/>
            </a:endParaRPr>
          </a:p>
        </p:txBody>
      </p:sp>
      <p:sp>
        <p:nvSpPr>
          <p:cNvPr id="17" name="Rectangle: Rounded Corners 16">
            <a:extLst>
              <a:ext uri="{FF2B5EF4-FFF2-40B4-BE49-F238E27FC236}">
                <a16:creationId xmlns:a16="http://schemas.microsoft.com/office/drawing/2014/main" id="{1E588FEC-F220-7EF7-142F-595705507E9A}"/>
              </a:ext>
            </a:extLst>
          </p:cNvPr>
          <p:cNvSpPr/>
          <p:nvPr/>
        </p:nvSpPr>
        <p:spPr>
          <a:xfrm>
            <a:off x="457199" y="1293039"/>
            <a:ext cx="1487104" cy="396613"/>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fa-IR" sz="1000" dirty="0">
                <a:solidFill>
                  <a:schemeClr val="tx1">
                    <a:lumMod val="65000"/>
                    <a:lumOff val="35000"/>
                  </a:schemeClr>
                </a:solidFill>
                <a:latin typeface="Yekan Bakh" pitchFamily="2" charset="-78"/>
                <a:ea typeface="Yekan Bakh" pitchFamily="2" charset="-78"/>
                <a:cs typeface="Yekan Bakh" pitchFamily="2" charset="-78"/>
              </a:rPr>
              <a:t>رابطه‌محور</a:t>
            </a:r>
            <a:endParaRPr lang="en-GB" sz="1000" dirty="0">
              <a:solidFill>
                <a:schemeClr val="tx1">
                  <a:lumMod val="65000"/>
                  <a:lumOff val="35000"/>
                </a:schemeClr>
              </a:solidFill>
              <a:latin typeface="Yekan Bakh" pitchFamily="2" charset="-78"/>
              <a:ea typeface="Yekan Bakh" pitchFamily="2" charset="-78"/>
              <a:cs typeface="Yekan Bakh" pitchFamily="2" charset="-78"/>
            </a:endParaRPr>
          </a:p>
        </p:txBody>
      </p:sp>
    </p:spTree>
    <p:extLst>
      <p:ext uri="{BB962C8B-B14F-4D97-AF65-F5344CB8AC3E}">
        <p14:creationId xmlns:p14="http://schemas.microsoft.com/office/powerpoint/2010/main" val="826218956"/>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58187F-F6FC-4B8D-147F-A34E764FD93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D6168DE-8AFA-A747-A368-EA01B997C4D4}"/>
              </a:ext>
            </a:extLst>
          </p:cNvPr>
          <p:cNvSpPr>
            <a:spLocks noGrp="1"/>
          </p:cNvSpPr>
          <p:nvPr>
            <p:ph type="body" sz="quarter" idx="10"/>
          </p:nvPr>
        </p:nvSpPr>
        <p:spPr/>
        <p:txBody>
          <a:bodyPr/>
          <a:lstStyle/>
          <a:p>
            <a:r>
              <a:rPr lang="fa-IR" dirty="0"/>
              <a:t>تحلیل عمیق کانال — پرسونا 2</a:t>
            </a:r>
          </a:p>
        </p:txBody>
      </p:sp>
      <p:sp>
        <p:nvSpPr>
          <p:cNvPr id="3" name="Text Placeholder 2">
            <a:extLst>
              <a:ext uri="{FF2B5EF4-FFF2-40B4-BE49-F238E27FC236}">
                <a16:creationId xmlns:a16="http://schemas.microsoft.com/office/drawing/2014/main" id="{87D187D0-D7B4-BD89-0D24-D9486470C41C}"/>
              </a:ext>
            </a:extLst>
          </p:cNvPr>
          <p:cNvSpPr>
            <a:spLocks noGrp="1"/>
          </p:cNvSpPr>
          <p:nvPr>
            <p:ph type="body" sz="quarter" idx="12"/>
          </p:nvPr>
        </p:nvSpPr>
        <p:spPr/>
        <p:txBody>
          <a:bodyPr/>
          <a:lstStyle/>
          <a:p>
            <a:r>
              <a:rPr lang="fa-IR" dirty="0"/>
              <a:t>۲. کسب‌وکار تراز خارجی</a:t>
            </a:r>
          </a:p>
        </p:txBody>
      </p:sp>
      <p:graphicFrame>
        <p:nvGraphicFramePr>
          <p:cNvPr id="7" name="Table 6">
            <a:extLst>
              <a:ext uri="{FF2B5EF4-FFF2-40B4-BE49-F238E27FC236}">
                <a16:creationId xmlns:a16="http://schemas.microsoft.com/office/drawing/2014/main" id="{A1E72B6F-F8B6-0EB8-C550-4981FBF065AE}"/>
              </a:ext>
            </a:extLst>
          </p:cNvPr>
          <p:cNvGraphicFramePr>
            <a:graphicFrameLocks noGrp="1"/>
          </p:cNvGraphicFramePr>
          <p:nvPr>
            <p:extLst>
              <p:ext uri="{D42A27DB-BD31-4B8C-83A1-F6EECF244321}">
                <p14:modId xmlns:p14="http://schemas.microsoft.com/office/powerpoint/2010/main" val="3053979165"/>
              </p:ext>
            </p:extLst>
          </p:nvPr>
        </p:nvGraphicFramePr>
        <p:xfrm>
          <a:off x="457199" y="1918254"/>
          <a:ext cx="10788648" cy="3787138"/>
        </p:xfrm>
        <a:graphic>
          <a:graphicData uri="http://schemas.openxmlformats.org/drawingml/2006/table">
            <a:tbl>
              <a:tblPr firstRow="1" bandRow="1">
                <a:tableStyleId>{5C22544A-7EE6-4342-B048-85BDC9FD1C3A}</a:tableStyleId>
              </a:tblPr>
              <a:tblGrid>
                <a:gridCol w="2697162">
                  <a:extLst>
                    <a:ext uri="{9D8B030D-6E8A-4147-A177-3AD203B41FA5}">
                      <a16:colId xmlns:a16="http://schemas.microsoft.com/office/drawing/2014/main" val="460191556"/>
                    </a:ext>
                  </a:extLst>
                </a:gridCol>
                <a:gridCol w="2697162">
                  <a:extLst>
                    <a:ext uri="{9D8B030D-6E8A-4147-A177-3AD203B41FA5}">
                      <a16:colId xmlns:a16="http://schemas.microsoft.com/office/drawing/2014/main" val="1589458168"/>
                    </a:ext>
                  </a:extLst>
                </a:gridCol>
                <a:gridCol w="2697162">
                  <a:extLst>
                    <a:ext uri="{9D8B030D-6E8A-4147-A177-3AD203B41FA5}">
                      <a16:colId xmlns:a16="http://schemas.microsoft.com/office/drawing/2014/main" val="2044792427"/>
                    </a:ext>
                  </a:extLst>
                </a:gridCol>
                <a:gridCol w="2697162">
                  <a:extLst>
                    <a:ext uri="{9D8B030D-6E8A-4147-A177-3AD203B41FA5}">
                      <a16:colId xmlns:a16="http://schemas.microsoft.com/office/drawing/2014/main" val="20000"/>
                    </a:ext>
                  </a:extLst>
                </a:gridCol>
              </a:tblGrid>
              <a:tr h="338693">
                <a:tc>
                  <a:txBody>
                    <a:bodyPr/>
                    <a:lstStyle/>
                    <a:p>
                      <a:pPr algn="ctr" rtl="1">
                        <a:lnSpc>
                          <a:spcPct val="105000"/>
                        </a:lnSpc>
                      </a:pPr>
                      <a:r>
                        <a:rPr sz="1100" b="1" dirty="0" err="1">
                          <a:solidFill>
                            <a:srgbClr val="FFFFFF"/>
                          </a:solidFill>
                          <a:latin typeface="Yekan Bakh" pitchFamily="2" charset="-78"/>
                          <a:ea typeface="Yekan Bakh" pitchFamily="2" charset="-78"/>
                          <a:cs typeface="Yekan Bakh" pitchFamily="2" charset="-78"/>
                        </a:rPr>
                        <a:t>خرید</a:t>
                      </a:r>
                      <a:endParaRPr sz="1100" b="1" dirty="0">
                        <a:solidFill>
                          <a:srgbClr val="FFFFFF"/>
                        </a:solidFill>
                        <a:latin typeface="Yekan Bakh" pitchFamily="2" charset="-78"/>
                        <a:ea typeface="Yekan Bakh" pitchFamily="2" charset="-78"/>
                        <a:cs typeface="Yekan Bakh" pitchFamily="2" charset="-78"/>
                      </a:endParaRPr>
                    </a:p>
                  </a:txBody>
                  <a:tcPr marL="50800" marR="50800" marT="38100" marB="38100" anchor="ctr">
                    <a:solidFill>
                      <a:srgbClr val="00406C">
                        <a:alpha val="30000"/>
                      </a:srgbClr>
                    </a:solidFill>
                  </a:tcPr>
                </a:tc>
                <a:tc>
                  <a:txBody>
                    <a:bodyPr/>
                    <a:lstStyle/>
                    <a:p>
                      <a:pPr algn="ctr" rtl="1">
                        <a:lnSpc>
                          <a:spcPct val="105000"/>
                        </a:lnSpc>
                      </a:pPr>
                      <a:r>
                        <a:rPr sz="1100" b="1" dirty="0" err="1">
                          <a:solidFill>
                            <a:srgbClr val="FFFFFF"/>
                          </a:solidFill>
                          <a:latin typeface="Yekan Bakh" pitchFamily="2" charset="-78"/>
                          <a:ea typeface="Yekan Bakh" pitchFamily="2" charset="-78"/>
                          <a:cs typeface="Yekan Bakh" pitchFamily="2" charset="-78"/>
                        </a:rPr>
                        <a:t>ارزیابی</a:t>
                      </a:r>
                      <a:endParaRPr sz="1100" b="1" dirty="0">
                        <a:solidFill>
                          <a:srgbClr val="FFFFFF"/>
                        </a:solidFill>
                        <a:latin typeface="Yekan Bakh" pitchFamily="2" charset="-78"/>
                        <a:ea typeface="Yekan Bakh" pitchFamily="2" charset="-78"/>
                        <a:cs typeface="Yekan Bakh" pitchFamily="2" charset="-78"/>
                      </a:endParaRPr>
                    </a:p>
                  </a:txBody>
                  <a:tcPr marL="50800" marR="50800" marT="38100" marB="38100" anchor="ctr">
                    <a:solidFill>
                      <a:srgbClr val="00406C">
                        <a:alpha val="70000"/>
                      </a:srgbClr>
                    </a:solidFill>
                  </a:tcPr>
                </a:tc>
                <a:tc>
                  <a:txBody>
                    <a:bodyPr/>
                    <a:lstStyle/>
                    <a:p>
                      <a:pPr algn="ctr" rtl="1">
                        <a:lnSpc>
                          <a:spcPct val="105000"/>
                        </a:lnSpc>
                      </a:pPr>
                      <a:r>
                        <a:rPr sz="1100" b="1" dirty="0" err="1">
                          <a:solidFill>
                            <a:srgbClr val="FFFFFF"/>
                          </a:solidFill>
                          <a:latin typeface="Yekan Bakh" pitchFamily="2" charset="-78"/>
                          <a:ea typeface="Yekan Bakh" pitchFamily="2" charset="-78"/>
                          <a:cs typeface="Yekan Bakh" pitchFamily="2" charset="-78"/>
                        </a:rPr>
                        <a:t>آگاهی‌سازی</a:t>
                      </a:r>
                      <a:endParaRPr sz="1100" b="1" dirty="0">
                        <a:solidFill>
                          <a:srgbClr val="FFFFFF"/>
                        </a:solidFill>
                        <a:latin typeface="Yekan Bakh" pitchFamily="2" charset="-78"/>
                        <a:ea typeface="Yekan Bakh" pitchFamily="2" charset="-78"/>
                        <a:cs typeface="Yekan Bakh" pitchFamily="2" charset="-78"/>
                      </a:endParaRPr>
                    </a:p>
                  </a:txBody>
                  <a:tcPr marL="50800" marR="50800" marT="38100" marB="38100" anchor="ctr">
                    <a:solidFill>
                      <a:srgbClr val="00406C"/>
                    </a:solidFill>
                  </a:tcPr>
                </a:tc>
                <a:tc>
                  <a:txBody>
                    <a:bodyPr/>
                    <a:lstStyle/>
                    <a:p>
                      <a:pPr algn="ctr" rtl="1">
                        <a:lnSpc>
                          <a:spcPct val="105000"/>
                        </a:lnSpc>
                      </a:pPr>
                      <a:endParaRPr sz="1100" dirty="0">
                        <a:latin typeface="Yekan Bakh" pitchFamily="2" charset="-78"/>
                        <a:ea typeface="Yekan Bakh" pitchFamily="2" charset="-78"/>
                        <a:cs typeface="Yekan Bakh" pitchFamily="2" charset="-78"/>
                      </a:endParaRPr>
                    </a:p>
                  </a:txBody>
                  <a:tcPr marL="50800" marR="50800" marT="38100" marB="38100" anchor="ctr">
                    <a:solidFill>
                      <a:schemeClr val="bg1"/>
                    </a:solidFill>
                  </a:tcPr>
                </a:tc>
                <a:extLst>
                  <a:ext uri="{0D108BD9-81ED-4DB2-BD59-A6C34878D82A}">
                    <a16:rowId xmlns:a16="http://schemas.microsoft.com/office/drawing/2014/main" val="10000"/>
                  </a:ext>
                </a:extLst>
              </a:tr>
              <a:tr h="710517">
                <a:tc>
                  <a:txBody>
                    <a:bodyPr/>
                    <a:lstStyle/>
                    <a:p>
                      <a:pPr algn="r" rtl="1">
                        <a:lnSpc>
                          <a:spcPct val="105000"/>
                        </a:lnSpc>
                      </a:pPr>
                      <a:r>
                        <a:rPr lang="fa-IR" sz="800" b="1">
                          <a:solidFill>
                            <a:schemeClr val="tx1">
                              <a:lumMod val="65000"/>
                              <a:lumOff val="35000"/>
                            </a:schemeClr>
                          </a:solidFill>
                          <a:latin typeface="Yekan Bakh"/>
                          <a:cs typeface="Yekan Bakh"/>
                        </a:rPr>
                        <a:t>صدور شرح خدمات رسمی (</a:t>
                      </a:r>
                      <a:r>
                        <a:rPr lang="en-US" sz="800" b="1">
                          <a:solidFill>
                            <a:schemeClr val="tx1">
                              <a:lumMod val="65000"/>
                              <a:lumOff val="35000"/>
                            </a:schemeClr>
                          </a:solidFill>
                          <a:latin typeface="Yekan Bakh"/>
                          <a:cs typeface="Yekan Bakh"/>
                        </a:rPr>
                        <a:t>SOW</a:t>
                      </a:r>
                      <a:r>
                        <a:rPr lang="fa-IR" sz="800" b="1">
                          <a:solidFill>
                            <a:schemeClr val="tx1">
                              <a:lumMod val="65000"/>
                              <a:lumOff val="35000"/>
                            </a:schemeClr>
                          </a:solidFill>
                          <a:latin typeface="Yekan Bakh"/>
                          <a:cs typeface="Yekan Bakh"/>
                        </a:rPr>
                        <a:t>) از مسیر حقوقی/تدارکات مشتری</a:t>
                      </a:r>
                    </a:p>
                  </a:txBody>
                  <a:tcPr marL="50800" marR="50800" marT="38100" marB="38100" anchor="ctr">
                    <a:solidFill>
                      <a:schemeClr val="bg1">
                        <a:lumMod val="95000"/>
                      </a:schemeClr>
                    </a:solidFill>
                  </a:tcPr>
                </a:tc>
                <a:tc>
                  <a:txBody>
                    <a:bodyPr/>
                    <a:lstStyle/>
                    <a:p>
                      <a:pPr algn="r" rtl="1">
                        <a:lnSpc>
                          <a:spcPct val="105000"/>
                        </a:lnSpc>
                      </a:pPr>
                      <a:r>
                        <a:rPr lang="fa-IR" sz="800" b="1" dirty="0">
                          <a:solidFill>
                            <a:schemeClr val="tx1">
                              <a:lumMod val="65000"/>
                              <a:lumOff val="35000"/>
                            </a:schemeClr>
                          </a:solidFill>
                          <a:latin typeface="Yekan Bakh"/>
                          <a:cs typeface="Yekan Bakh"/>
                        </a:rPr>
                        <a:t>فرآیند رسمی درخواست اطلاعات (</a:t>
                      </a:r>
                      <a:r>
                        <a:rPr lang="en-US" sz="800" b="1" dirty="0">
                          <a:solidFill>
                            <a:schemeClr val="tx1">
                              <a:lumMod val="65000"/>
                              <a:lumOff val="35000"/>
                            </a:schemeClr>
                          </a:solidFill>
                          <a:latin typeface="Yekan Bakh"/>
                          <a:cs typeface="Yekan Bakh"/>
                        </a:rPr>
                        <a:t>RFI</a:t>
                      </a:r>
                      <a:r>
                        <a:rPr lang="fa-IR" sz="800" b="1" dirty="0">
                          <a:solidFill>
                            <a:schemeClr val="tx1">
                              <a:lumMod val="65000"/>
                              <a:lumOff val="35000"/>
                            </a:schemeClr>
                          </a:solidFill>
                          <a:latin typeface="Yekan Bakh"/>
                          <a:cs typeface="Yekan Bakh"/>
                        </a:rPr>
                        <a:t>) + </a:t>
                      </a:r>
                    </a:p>
                    <a:p>
                      <a:pPr algn="r" rtl="1">
                        <a:lnSpc>
                          <a:spcPct val="105000"/>
                        </a:lnSpc>
                      </a:pPr>
                      <a:r>
                        <a:rPr lang="fa-IR" sz="800" b="1" dirty="0">
                          <a:solidFill>
                            <a:schemeClr val="tx1">
                              <a:lumMod val="65000"/>
                              <a:lumOff val="35000"/>
                            </a:schemeClr>
                          </a:solidFill>
                          <a:latin typeface="Yekan Bakh"/>
                          <a:cs typeface="Yekan Bakh"/>
                        </a:rPr>
                        <a:t>مستندات انطباق </a:t>
                      </a:r>
                      <a:r>
                        <a:rPr lang="en-US" sz="800" b="1" dirty="0">
                          <a:solidFill>
                            <a:schemeClr val="tx1">
                              <a:lumMod val="65000"/>
                              <a:lumOff val="35000"/>
                            </a:schemeClr>
                          </a:solidFill>
                          <a:latin typeface="Yekan Bakh"/>
                          <a:cs typeface="Yekan Bakh"/>
                        </a:rPr>
                        <a:t>Compliance memo)</a:t>
                      </a:r>
                      <a:r>
                        <a:rPr lang="fa-IR" sz="800" b="1" dirty="0">
                          <a:solidFill>
                            <a:schemeClr val="tx1">
                              <a:lumMod val="65000"/>
                              <a:lumOff val="35000"/>
                            </a:schemeClr>
                          </a:solidFill>
                          <a:latin typeface="Yekan Bakh"/>
                          <a:cs typeface="Yekan Bakh"/>
                        </a:rPr>
                        <a:t>) + </a:t>
                      </a:r>
                    </a:p>
                    <a:p>
                      <a:pPr algn="r" rtl="1">
                        <a:lnSpc>
                          <a:spcPct val="105000"/>
                        </a:lnSpc>
                      </a:pPr>
                      <a:r>
                        <a:rPr lang="fa-IR" sz="800" b="1" dirty="0">
                          <a:solidFill>
                            <a:schemeClr val="tx1">
                              <a:lumMod val="65000"/>
                              <a:lumOff val="35000"/>
                            </a:schemeClr>
                          </a:solidFill>
                          <a:latin typeface="Yekan Bakh"/>
                          <a:cs typeface="Yekan Bakh"/>
                        </a:rPr>
                        <a:t>گزارش راستی‌آزمایی شخص‌ثالث</a:t>
                      </a:r>
                    </a:p>
                  </a:txBody>
                  <a:tcPr marL="50800" marR="50800" marT="38100" marB="38100" anchor="ctr">
                    <a:solidFill>
                      <a:schemeClr val="bg1">
                        <a:lumMod val="95000"/>
                      </a:schemeClr>
                    </a:solidFill>
                  </a:tcPr>
                </a:tc>
                <a:tc>
                  <a:txBody>
                    <a:bodyPr/>
                    <a:lstStyle/>
                    <a:p>
                      <a:pPr algn="r" rtl="1">
                        <a:lnSpc>
                          <a:spcPct val="105000"/>
                        </a:lnSpc>
                      </a:pPr>
                      <a:r>
                        <a:rPr sz="800" b="1" dirty="0" err="1">
                          <a:solidFill>
                            <a:schemeClr val="tx1">
                              <a:lumMod val="65000"/>
                              <a:lumOff val="35000"/>
                            </a:schemeClr>
                          </a:solidFill>
                          <a:latin typeface="Yekan Bakh"/>
                          <a:cs typeface="Yekan Bakh"/>
                        </a:rPr>
                        <a:t>شرکای</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نهادی</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بین‌المللی</a:t>
                      </a:r>
                      <a:r>
                        <a:rPr sz="800" b="1" dirty="0">
                          <a:solidFill>
                            <a:schemeClr val="tx1">
                              <a:lumMod val="65000"/>
                              <a:lumOff val="35000"/>
                            </a:schemeClr>
                          </a:solidFill>
                          <a:latin typeface="Yekan Bakh"/>
                          <a:cs typeface="Yekan Bakh"/>
                        </a:rPr>
                        <a:t> </a:t>
                      </a:r>
                      <a:r>
                        <a:rPr lang="fa-IR" sz="800" b="1" dirty="0">
                          <a:solidFill>
                            <a:schemeClr val="tx1">
                              <a:lumMod val="65000"/>
                              <a:lumOff val="35000"/>
                            </a:schemeClr>
                          </a:solidFill>
                          <a:latin typeface="Yekan Bakh"/>
                          <a:cs typeface="Yekan Bakh"/>
                        </a:rPr>
                        <a:t>(</a:t>
                      </a:r>
                      <a:r>
                        <a:rPr sz="800" b="1" dirty="0" err="1">
                          <a:solidFill>
                            <a:schemeClr val="tx1">
                              <a:lumMod val="65000"/>
                              <a:lumOff val="35000"/>
                            </a:schemeClr>
                          </a:solidFill>
                          <a:latin typeface="Yekan Bakh"/>
                          <a:cs typeface="Yekan Bakh"/>
                        </a:rPr>
                        <a:t>برند</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معتبر</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حسابرسی</a:t>
                      </a:r>
                      <a:r>
                        <a:rPr sz="800" b="1" dirty="0">
                          <a:solidFill>
                            <a:schemeClr val="tx1">
                              <a:lumMod val="65000"/>
                              <a:lumOff val="35000"/>
                            </a:schemeClr>
                          </a:solidFill>
                          <a:latin typeface="Yekan Bakh"/>
                          <a:cs typeface="Yekan Bakh"/>
                        </a:rPr>
                        <a:t>/</a:t>
                      </a:r>
                      <a:r>
                        <a:rPr sz="800" b="1" dirty="0" err="1">
                          <a:solidFill>
                            <a:schemeClr val="tx1">
                              <a:lumMod val="65000"/>
                              <a:lumOff val="35000"/>
                            </a:schemeClr>
                          </a:solidFill>
                          <a:latin typeface="Yekan Bakh"/>
                          <a:cs typeface="Yekan Bakh"/>
                        </a:rPr>
                        <a:t>حقوقی</a:t>
                      </a:r>
                      <a:r>
                        <a:rPr sz="800" b="1" dirty="0">
                          <a:solidFill>
                            <a:schemeClr val="tx1">
                              <a:lumMod val="65000"/>
                              <a:lumOff val="35000"/>
                            </a:schemeClr>
                          </a:solidFill>
                          <a:latin typeface="Yekan Bakh"/>
                          <a:cs typeface="Yekan Bakh"/>
                        </a:rPr>
                        <a:t>/</a:t>
                      </a:r>
                      <a:r>
                        <a:rPr sz="800" b="1" dirty="0" err="1">
                          <a:solidFill>
                            <a:schemeClr val="tx1">
                              <a:lumMod val="65000"/>
                              <a:lumOff val="35000"/>
                            </a:schemeClr>
                          </a:solidFill>
                          <a:latin typeface="Yekan Bakh"/>
                          <a:cs typeface="Yekan Bakh"/>
                        </a:rPr>
                        <a:t>مشاوره</a:t>
                      </a:r>
                      <a:r>
                        <a:rPr lang="fa-IR" sz="800" b="1" dirty="0">
                          <a:solidFill>
                            <a:schemeClr val="tx1">
                              <a:lumMod val="65000"/>
                              <a:lumOff val="35000"/>
                            </a:schemeClr>
                          </a:solidFill>
                          <a:latin typeface="Yekan Bakh"/>
                          <a:cs typeface="Yekan Bakh"/>
                        </a:rPr>
                        <a:t>) + </a:t>
                      </a:r>
                    </a:p>
                    <a:p>
                      <a:pPr algn="r" rtl="1">
                        <a:lnSpc>
                          <a:spcPct val="105000"/>
                        </a:lnSpc>
                      </a:pPr>
                      <a:r>
                        <a:rPr sz="800" b="1" dirty="0" err="1">
                          <a:solidFill>
                            <a:schemeClr val="tx1">
                              <a:lumMod val="65000"/>
                              <a:lumOff val="35000"/>
                            </a:schemeClr>
                          </a:solidFill>
                          <a:latin typeface="Yekan Bakh"/>
                          <a:cs typeface="Yekan Bakh"/>
                        </a:rPr>
                        <a:t>شبکه‌های</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تسهیل‌گر</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تجارت</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بین‌المللی</a:t>
                      </a:r>
                      <a:r>
                        <a:rPr sz="800" b="1" dirty="0">
                          <a:solidFill>
                            <a:schemeClr val="tx1">
                              <a:lumMod val="65000"/>
                              <a:lumOff val="35000"/>
                            </a:schemeClr>
                          </a:solidFill>
                          <a:latin typeface="Yekan Bakh"/>
                          <a:cs typeface="Yekan Bakh"/>
                        </a:rPr>
                        <a:t> </a:t>
                      </a:r>
                      <a:r>
                        <a:rPr lang="fa-IR" sz="800" b="1" dirty="0">
                          <a:solidFill>
                            <a:schemeClr val="tx1">
                              <a:lumMod val="65000"/>
                              <a:lumOff val="35000"/>
                            </a:schemeClr>
                          </a:solidFill>
                          <a:latin typeface="Yekan Bakh"/>
                          <a:cs typeface="Yekan Bakh"/>
                        </a:rPr>
                        <a:t>(</a:t>
                      </a:r>
                      <a:r>
                        <a:rPr sz="800" b="1" dirty="0" err="1">
                          <a:solidFill>
                            <a:schemeClr val="tx1">
                              <a:lumMod val="65000"/>
                              <a:lumOff val="35000"/>
                            </a:schemeClr>
                          </a:solidFill>
                          <a:latin typeface="Yekan Bakh"/>
                          <a:cs typeface="Yekan Bakh"/>
                        </a:rPr>
                        <a:t>نظیر</a:t>
                      </a:r>
                      <a:r>
                        <a:rPr sz="800" b="1" dirty="0">
                          <a:solidFill>
                            <a:schemeClr val="tx1">
                              <a:lumMod val="65000"/>
                              <a:lumOff val="35000"/>
                            </a:schemeClr>
                          </a:solidFill>
                          <a:latin typeface="Yekan Bakh"/>
                          <a:cs typeface="Yekan Bakh"/>
                        </a:rPr>
                        <a:t> EEN</a:t>
                      </a:r>
                      <a:r>
                        <a:rPr lang="fa-IR" sz="800" b="1" dirty="0">
                          <a:solidFill>
                            <a:schemeClr val="tx1">
                              <a:lumMod val="65000"/>
                              <a:lumOff val="35000"/>
                            </a:schemeClr>
                          </a:solidFill>
                          <a:latin typeface="Yekan Bakh"/>
                          <a:cs typeface="Yekan Bakh"/>
                        </a:rPr>
                        <a:t>) </a:t>
                      </a:r>
                      <a:r>
                        <a:rPr sz="800" b="1" dirty="0">
                          <a:solidFill>
                            <a:schemeClr val="tx1">
                              <a:lumMod val="65000"/>
                              <a:lumOff val="35000"/>
                            </a:schemeClr>
                          </a:solidFill>
                          <a:latin typeface="Yekan Bakh"/>
                          <a:cs typeface="Yekan Bakh"/>
                        </a:rPr>
                        <a:t> و </a:t>
                      </a:r>
                      <a:r>
                        <a:rPr sz="800" b="1" dirty="0" err="1">
                          <a:solidFill>
                            <a:schemeClr val="tx1">
                              <a:lumMod val="65000"/>
                              <a:lumOff val="35000"/>
                            </a:schemeClr>
                          </a:solidFill>
                          <a:latin typeface="Yekan Bakh"/>
                          <a:cs typeface="Yekan Bakh"/>
                        </a:rPr>
                        <a:t>دفاتر</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تجاری</a:t>
                      </a:r>
                      <a:r>
                        <a:rPr sz="800" b="1" dirty="0">
                          <a:solidFill>
                            <a:schemeClr val="tx1">
                              <a:lumMod val="65000"/>
                              <a:lumOff val="35000"/>
                            </a:schemeClr>
                          </a:solidFill>
                          <a:latin typeface="Yekan Bakh"/>
                          <a:cs typeface="Yekan Bakh"/>
                        </a:rPr>
                        <a:t> + </a:t>
                      </a:r>
                      <a:endParaRPr lang="fa-IR" sz="800" b="1" dirty="0">
                        <a:solidFill>
                          <a:schemeClr val="tx1">
                            <a:lumMod val="65000"/>
                            <a:lumOff val="35000"/>
                          </a:schemeClr>
                        </a:solidFill>
                        <a:latin typeface="Yekan Bakh"/>
                        <a:cs typeface="Yekan Bakh"/>
                      </a:endParaRPr>
                    </a:p>
                    <a:p>
                      <a:pPr algn="r" rtl="1">
                        <a:lnSpc>
                          <a:spcPct val="105000"/>
                        </a:lnSpc>
                      </a:pPr>
                      <a:r>
                        <a:rPr sz="800" b="1" dirty="0" err="1">
                          <a:solidFill>
                            <a:schemeClr val="tx1">
                              <a:lumMod val="65000"/>
                              <a:lumOff val="35000"/>
                            </a:schemeClr>
                          </a:solidFill>
                          <a:latin typeface="Yekan Bakh"/>
                          <a:cs typeface="Yekan Bakh"/>
                        </a:rPr>
                        <a:t>محتوای</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تخصصی</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انگلیسی</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درباره</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فرصت</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ایران</a:t>
                      </a:r>
                      <a:endParaRPr sz="800" b="1" dirty="0">
                        <a:solidFill>
                          <a:schemeClr val="tx1">
                            <a:lumMod val="65000"/>
                            <a:lumOff val="35000"/>
                          </a:schemeClr>
                        </a:solidFill>
                        <a:latin typeface="Yekan Bakh"/>
                        <a:cs typeface="Yekan Bakh"/>
                      </a:endParaRPr>
                    </a:p>
                  </a:txBody>
                  <a:tcPr marL="50800" marR="50800" marT="38100" marB="38100" anchor="ctr">
                    <a:solidFill>
                      <a:schemeClr val="bg1">
                        <a:lumMod val="95000"/>
                      </a:schemeClr>
                    </a:solidFill>
                  </a:tcPr>
                </a:tc>
                <a:tc>
                  <a:txBody>
                    <a:bodyPr/>
                    <a:lstStyle/>
                    <a:p>
                      <a:pPr algn="ctr" rtl="1">
                        <a:lnSpc>
                          <a:spcPct val="105000"/>
                        </a:lnSpc>
                      </a:pPr>
                      <a:r>
                        <a:rPr sz="1050" b="1" dirty="0" err="1">
                          <a:solidFill>
                            <a:srgbClr val="00406C"/>
                          </a:solidFill>
                          <a:latin typeface="Yekan Bakh"/>
                          <a:cs typeface="Yekan Bakh"/>
                        </a:rPr>
                        <a:t>کانال</a:t>
                      </a:r>
                      <a:r>
                        <a:rPr sz="1050" b="1" dirty="0">
                          <a:solidFill>
                            <a:srgbClr val="00406C"/>
                          </a:solidFill>
                          <a:latin typeface="Yekan Bakh"/>
                          <a:cs typeface="Yekan Bakh"/>
                        </a:rPr>
                        <a:t> (Channel)</a:t>
                      </a:r>
                    </a:p>
                  </a:txBody>
                  <a:tcPr marL="50800" marR="50800" marT="38100" marB="38100" anchor="ctr">
                    <a:solidFill>
                      <a:schemeClr val="bg1">
                        <a:lumMod val="95000"/>
                      </a:schemeClr>
                    </a:solidFill>
                  </a:tcPr>
                </a:tc>
                <a:extLst>
                  <a:ext uri="{0D108BD9-81ED-4DB2-BD59-A6C34878D82A}">
                    <a16:rowId xmlns:a16="http://schemas.microsoft.com/office/drawing/2014/main" val="10001"/>
                  </a:ext>
                </a:extLst>
              </a:tr>
              <a:tr h="329559">
                <a:tc>
                  <a:txBody>
                    <a:bodyPr/>
                    <a:lstStyle/>
                    <a:p>
                      <a:pPr algn="r" rtl="1">
                        <a:lnSpc>
                          <a:spcPct val="105000"/>
                        </a:lnSpc>
                      </a:pPr>
                      <a:r>
                        <a:rPr lang="fa-IR" sz="800" b="0">
                          <a:solidFill>
                            <a:schemeClr val="tx1">
                              <a:lumMod val="65000"/>
                              <a:lumOff val="35000"/>
                            </a:schemeClr>
                          </a:solidFill>
                          <a:latin typeface="Yekan Bakh"/>
                          <a:cs typeface="Yekan Bakh"/>
                        </a:rPr>
                        <a:t>کانال تحت مالکیت + تعامل انسانی</a:t>
                      </a:r>
                    </a:p>
                  </a:txBody>
                  <a:tcPr marL="50800" marR="50800" marT="38100" marB="38100" anchor="ctr">
                    <a:solidFill>
                      <a:schemeClr val="bg1"/>
                    </a:solidFill>
                  </a:tcPr>
                </a:tc>
                <a:tc>
                  <a:txBody>
                    <a:bodyPr/>
                    <a:lstStyle/>
                    <a:p>
                      <a:pPr algn="r" rtl="1">
                        <a:lnSpc>
                          <a:spcPct val="105000"/>
                        </a:lnSpc>
                      </a:pPr>
                      <a:r>
                        <a:rPr lang="fa-IR" sz="800" b="0">
                          <a:solidFill>
                            <a:schemeClr val="tx1">
                              <a:lumMod val="65000"/>
                              <a:lumOff val="35000"/>
                            </a:schemeClr>
                          </a:solidFill>
                          <a:latin typeface="Yekan Bakh"/>
                          <a:cs typeface="Yekan Bakh"/>
                        </a:rPr>
                        <a:t>کانال تحت مالکیت + تعامل انسانی</a:t>
                      </a:r>
                    </a:p>
                    <a:p>
                      <a:pPr algn="r" rtl="1">
                        <a:lnSpc>
                          <a:spcPct val="105000"/>
                        </a:lnSpc>
                      </a:pPr>
                      <a:r>
                        <a:rPr lang="fa-IR" sz="800" b="0">
                          <a:solidFill>
                            <a:schemeClr val="tx1">
                              <a:lumMod val="65000"/>
                              <a:lumOff val="35000"/>
                            </a:schemeClr>
                          </a:solidFill>
                          <a:latin typeface="Yekan Bakh"/>
                          <a:cs typeface="Yekan Bakh"/>
                        </a:rPr>
                        <a:t> کانال بیرونی + تعامل انسانی</a:t>
                      </a:r>
                    </a:p>
                  </a:txBody>
                  <a:tcPr marL="50800" marR="50800" marT="38100" marB="38100" anchor="ctr">
                    <a:solidFill>
                      <a:schemeClr val="bg1"/>
                    </a:solidFill>
                  </a:tcPr>
                </a:tc>
                <a:tc>
                  <a:txBody>
                    <a:bodyPr/>
                    <a:lstStyle/>
                    <a:p>
                      <a:pPr algn="r" rtl="1">
                        <a:lnSpc>
                          <a:spcPct val="105000"/>
                        </a:lnSpc>
                      </a:pPr>
                      <a:r>
                        <a:rPr lang="fa-IR" sz="800" b="0" dirty="0">
                          <a:solidFill>
                            <a:schemeClr val="tx1">
                              <a:lumMod val="65000"/>
                              <a:lumOff val="35000"/>
                            </a:schemeClr>
                          </a:solidFill>
                          <a:latin typeface="Yekan Bakh"/>
                          <a:cs typeface="Yekan Bakh"/>
                        </a:rPr>
                        <a:t>کانال تحت مالکیت + تعامل انسانی + دیجیتال </a:t>
                      </a:r>
                    </a:p>
                    <a:p>
                      <a:pPr algn="r" rtl="1">
                        <a:lnSpc>
                          <a:spcPct val="105000"/>
                        </a:lnSpc>
                      </a:pPr>
                      <a:r>
                        <a:rPr sz="800" b="0" dirty="0">
                          <a:solidFill>
                            <a:schemeClr val="tx1">
                              <a:lumMod val="65000"/>
                              <a:lumOff val="35000"/>
                            </a:schemeClr>
                          </a:solidFill>
                          <a:latin typeface="Yekan Bakh"/>
                          <a:cs typeface="Yekan Bakh"/>
                        </a:rPr>
                        <a:t> </a:t>
                      </a:r>
                      <a:r>
                        <a:rPr lang="fa-IR" sz="800" b="0" dirty="0">
                          <a:solidFill>
                            <a:schemeClr val="tx1">
                              <a:lumMod val="65000"/>
                              <a:lumOff val="35000"/>
                            </a:schemeClr>
                          </a:solidFill>
                          <a:latin typeface="Yekan Bakh"/>
                          <a:cs typeface="Yekan Bakh"/>
                        </a:rPr>
                        <a:t>کانال بیرونی + تعامل انسانی + دیجیتال </a:t>
                      </a:r>
                    </a:p>
                  </a:txBody>
                  <a:tcPr marL="50800" marR="50800" marT="38100" marB="38100" anchor="ctr">
                    <a:solidFill>
                      <a:schemeClr val="bg1"/>
                    </a:solidFill>
                  </a:tcPr>
                </a:tc>
                <a:tc>
                  <a:txBody>
                    <a:bodyPr/>
                    <a:lstStyle/>
                    <a:p>
                      <a:pPr algn="ctr" rtl="1">
                        <a:lnSpc>
                          <a:spcPct val="105000"/>
                        </a:lnSpc>
                      </a:pPr>
                      <a:r>
                        <a:rPr sz="1050" b="1" dirty="0" err="1">
                          <a:solidFill>
                            <a:srgbClr val="00406C"/>
                          </a:solidFill>
                          <a:latin typeface="Yekan Bakh"/>
                          <a:cs typeface="Yekan Bakh"/>
                        </a:rPr>
                        <a:t>نوع</a:t>
                      </a:r>
                      <a:r>
                        <a:rPr lang="fa-IR" sz="1050" b="1" dirty="0">
                          <a:solidFill>
                            <a:srgbClr val="00406C"/>
                          </a:solidFill>
                          <a:latin typeface="Yekan Bakh"/>
                          <a:cs typeface="Yekan Bakh"/>
                        </a:rPr>
                        <a:t> / </a:t>
                      </a:r>
                      <a:r>
                        <a:rPr sz="1050" b="1" dirty="0" err="1">
                          <a:solidFill>
                            <a:srgbClr val="00406C"/>
                          </a:solidFill>
                          <a:latin typeface="Yekan Bakh"/>
                          <a:cs typeface="Yekan Bakh"/>
                        </a:rPr>
                        <a:t>مدل</a:t>
                      </a:r>
                      <a:r>
                        <a:rPr sz="1050" b="1" dirty="0">
                          <a:solidFill>
                            <a:srgbClr val="00406C"/>
                          </a:solidFill>
                          <a:latin typeface="Yekan Bakh"/>
                          <a:cs typeface="Yekan Bakh"/>
                        </a:rPr>
                        <a:t> </a:t>
                      </a:r>
                      <a:r>
                        <a:rPr sz="1050" b="1" dirty="0" err="1">
                          <a:solidFill>
                            <a:srgbClr val="00406C"/>
                          </a:solidFill>
                          <a:latin typeface="Yekan Bakh"/>
                          <a:cs typeface="Yekan Bakh"/>
                        </a:rPr>
                        <a:t>کانال</a:t>
                      </a:r>
                      <a:endParaRPr sz="1050" b="1" dirty="0">
                        <a:solidFill>
                          <a:srgbClr val="00406C"/>
                        </a:solidFill>
                        <a:latin typeface="Yekan Bakh"/>
                        <a:cs typeface="Yekan Bakh"/>
                      </a:endParaRPr>
                    </a:p>
                  </a:txBody>
                  <a:tcPr marL="50800" marR="50800" marT="38100" marB="38100" anchor="ctr">
                    <a:solidFill>
                      <a:schemeClr val="bg1"/>
                    </a:solidFill>
                  </a:tcPr>
                </a:tc>
                <a:extLst>
                  <a:ext uri="{0D108BD9-81ED-4DB2-BD59-A6C34878D82A}">
                    <a16:rowId xmlns:a16="http://schemas.microsoft.com/office/drawing/2014/main" val="10002"/>
                  </a:ext>
                </a:extLst>
              </a:tr>
              <a:tr h="386120">
                <a:tc>
                  <a:txBody>
                    <a:bodyPr/>
                    <a:lstStyle/>
                    <a:p>
                      <a:pPr algn="r" rtl="1">
                        <a:lnSpc>
                          <a:spcPct val="105000"/>
                        </a:lnSpc>
                      </a:pPr>
                      <a:r>
                        <a:rPr lang="fa-IR" sz="800" b="0">
                          <a:solidFill>
                            <a:schemeClr val="tx1">
                              <a:lumMod val="65000"/>
                              <a:lumOff val="35000"/>
                            </a:schemeClr>
                          </a:solidFill>
                          <a:latin typeface="Yekan Bakh"/>
                          <a:cs typeface="Yekan Bakh"/>
                        </a:rPr>
                        <a:t>ادامه مسیر رسمی داخلی مشتری</a:t>
                      </a:r>
                    </a:p>
                  </a:txBody>
                  <a:tcPr marL="50800" marR="50800" marT="38100" marB="38100" anchor="ctr">
                    <a:solidFill>
                      <a:schemeClr val="bg1">
                        <a:lumMod val="95000"/>
                      </a:schemeClr>
                    </a:solidFill>
                  </a:tcPr>
                </a:tc>
                <a:tc>
                  <a:txBody>
                    <a:bodyPr/>
                    <a:lstStyle/>
                    <a:p>
                      <a:pPr algn="r" rtl="1">
                        <a:lnSpc>
                          <a:spcPct val="105000"/>
                        </a:lnSpc>
                      </a:pPr>
                      <a:r>
                        <a:rPr lang="fa-IR" sz="800" b="0">
                          <a:solidFill>
                            <a:schemeClr val="tx1">
                              <a:lumMod val="65000"/>
                              <a:lumOff val="35000"/>
                            </a:schemeClr>
                          </a:solidFill>
                          <a:latin typeface="Yekan Bakh"/>
                          <a:cs typeface="Yekan Bakh"/>
                        </a:rPr>
                        <a:t>مسیر رسمی داخلی مشتری (واحد انطباق/استراتژی / توسعه بین الملل) پس از ارجاع اولیه</a:t>
                      </a:r>
                    </a:p>
                  </a:txBody>
                  <a:tcPr marL="50800" marR="50800" marT="38100" marB="38100" anchor="ctr">
                    <a:solidFill>
                      <a:schemeClr val="bg1">
                        <a:lumMod val="95000"/>
                      </a:schemeClr>
                    </a:solidFill>
                  </a:tcPr>
                </a:tc>
                <a:tc>
                  <a:txBody>
                    <a:bodyPr/>
                    <a:lstStyle/>
                    <a:p>
                      <a:pPr algn="r" rtl="1">
                        <a:lnSpc>
                          <a:spcPct val="105000"/>
                        </a:lnSpc>
                      </a:pPr>
                      <a:r>
                        <a:rPr sz="800" b="0" dirty="0" err="1">
                          <a:solidFill>
                            <a:schemeClr val="tx1">
                              <a:lumMod val="65000"/>
                              <a:lumOff val="35000"/>
                            </a:schemeClr>
                          </a:solidFill>
                          <a:latin typeface="Yekan Bakh"/>
                          <a:cs typeface="Yekan Bakh"/>
                        </a:rPr>
                        <a:t>ارجاع</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از</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شریک</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نهادی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بین‌المللی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معرفی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از</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دفتر</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تجاری</a:t>
                      </a:r>
                      <a:r>
                        <a:rPr sz="800" b="0" dirty="0">
                          <a:solidFill>
                            <a:schemeClr val="tx1">
                              <a:lumMod val="65000"/>
                              <a:lumOff val="35000"/>
                            </a:schemeClr>
                          </a:solidFill>
                          <a:latin typeface="Yekan Bakh"/>
                          <a:cs typeface="Yekan Bakh"/>
                        </a:rPr>
                        <a:t>/</a:t>
                      </a:r>
                      <a:r>
                        <a:rPr sz="800" b="0" dirty="0" err="1">
                          <a:solidFill>
                            <a:schemeClr val="tx1">
                              <a:lumMod val="65000"/>
                              <a:lumOff val="35000"/>
                            </a:schemeClr>
                          </a:solidFill>
                          <a:latin typeface="Yekan Bakh"/>
                          <a:cs typeface="Yekan Bakh"/>
                        </a:rPr>
                        <a:t>اتاق</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بازرگانی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دوجانبه</a:t>
                      </a:r>
                      <a:endParaRPr sz="800" b="0" dirty="0">
                        <a:solidFill>
                          <a:schemeClr val="tx1">
                            <a:lumMod val="65000"/>
                            <a:lumOff val="35000"/>
                          </a:schemeClr>
                        </a:solidFill>
                        <a:latin typeface="Yekan Bakh"/>
                        <a:cs typeface="Yekan Bakh"/>
                      </a:endParaRPr>
                    </a:p>
                  </a:txBody>
                  <a:tcPr marL="50800" marR="50800" marT="38100" marB="38100" anchor="ctr">
                    <a:solidFill>
                      <a:schemeClr val="bg1">
                        <a:lumMod val="95000"/>
                      </a:schemeClr>
                    </a:solidFill>
                  </a:tcPr>
                </a:tc>
                <a:tc>
                  <a:txBody>
                    <a:bodyPr/>
                    <a:lstStyle/>
                    <a:p>
                      <a:pPr algn="ctr" rtl="1">
                        <a:lnSpc>
                          <a:spcPct val="105000"/>
                        </a:lnSpc>
                      </a:pPr>
                      <a:r>
                        <a:rPr sz="1050" b="1" dirty="0" err="1">
                          <a:solidFill>
                            <a:srgbClr val="00406C"/>
                          </a:solidFill>
                          <a:latin typeface="Yekan Bakh"/>
                          <a:cs typeface="Yekan Bakh"/>
                        </a:rPr>
                        <a:t>منبع</a:t>
                      </a:r>
                      <a:r>
                        <a:rPr sz="1050" b="1" dirty="0">
                          <a:solidFill>
                            <a:srgbClr val="00406C"/>
                          </a:solidFill>
                          <a:latin typeface="Yekan Bakh"/>
                          <a:cs typeface="Yekan Bakh"/>
                        </a:rPr>
                        <a:t> </a:t>
                      </a:r>
                      <a:r>
                        <a:rPr sz="1050" b="1" dirty="0" err="1">
                          <a:solidFill>
                            <a:srgbClr val="00406C"/>
                          </a:solidFill>
                          <a:latin typeface="Yekan Bakh"/>
                          <a:cs typeface="Yekan Bakh"/>
                        </a:rPr>
                        <a:t>دسترسی</a:t>
                      </a:r>
                      <a:r>
                        <a:rPr sz="1050" b="1" dirty="0">
                          <a:solidFill>
                            <a:srgbClr val="00406C"/>
                          </a:solidFill>
                          <a:latin typeface="Yekan Bakh"/>
                          <a:cs typeface="Yekan Bakh"/>
                        </a:rPr>
                        <a:t>/ </a:t>
                      </a:r>
                      <a:r>
                        <a:rPr lang="fa-IR" sz="1050" b="1" dirty="0">
                          <a:solidFill>
                            <a:srgbClr val="00406C"/>
                          </a:solidFill>
                          <a:latin typeface="Yekan Bakh"/>
                          <a:cs typeface="Yekan Bakh"/>
                        </a:rPr>
                        <a:t> </a:t>
                      </a:r>
                      <a:r>
                        <a:rPr sz="1050" b="1" dirty="0" err="1">
                          <a:solidFill>
                            <a:srgbClr val="00406C"/>
                          </a:solidFill>
                          <a:latin typeface="Yekan Bakh"/>
                          <a:cs typeface="Yekan Bakh"/>
                        </a:rPr>
                        <a:t>جذب</a:t>
                      </a:r>
                      <a:endParaRPr sz="1050" b="1" dirty="0">
                        <a:solidFill>
                          <a:srgbClr val="00406C"/>
                        </a:solidFill>
                        <a:latin typeface="Yekan Bakh"/>
                        <a:cs typeface="Yekan Bakh"/>
                      </a:endParaRPr>
                    </a:p>
                  </a:txBody>
                  <a:tcPr marL="50800" marR="50800" marT="38100" marB="38100" anchor="ctr">
                    <a:solidFill>
                      <a:schemeClr val="bg1">
                        <a:lumMod val="95000"/>
                      </a:schemeClr>
                    </a:solidFill>
                  </a:tcPr>
                </a:tc>
                <a:extLst>
                  <a:ext uri="{0D108BD9-81ED-4DB2-BD59-A6C34878D82A}">
                    <a16:rowId xmlns:a16="http://schemas.microsoft.com/office/drawing/2014/main" val="10003"/>
                  </a:ext>
                </a:extLst>
              </a:tr>
              <a:tr h="329559">
                <a:tc>
                  <a:txBody>
                    <a:bodyPr/>
                    <a:lstStyle/>
                    <a:p>
                      <a:pPr algn="r" rtl="1">
                        <a:lnSpc>
                          <a:spcPct val="105000"/>
                        </a:lnSpc>
                      </a:pPr>
                      <a:r>
                        <a:rPr lang="fa-IR" sz="800" b="0">
                          <a:solidFill>
                            <a:schemeClr val="tx1">
                              <a:lumMod val="65000"/>
                              <a:lumOff val="35000"/>
                            </a:schemeClr>
                          </a:solidFill>
                          <a:latin typeface="Yekan Bakh"/>
                          <a:cs typeface="Yekan Bakh"/>
                        </a:rPr>
                        <a:t>امضای </a:t>
                      </a:r>
                      <a:r>
                        <a:rPr lang="en-US" sz="800" b="0">
                          <a:solidFill>
                            <a:schemeClr val="tx1">
                              <a:lumMod val="65000"/>
                              <a:lumOff val="35000"/>
                            </a:schemeClr>
                          </a:solidFill>
                          <a:latin typeface="Yekan Bakh"/>
                          <a:cs typeface="Yekan Bakh"/>
                        </a:rPr>
                        <a:t>SOW</a:t>
                      </a:r>
                      <a:r>
                        <a:rPr lang="fa-IR" sz="800" b="0">
                          <a:solidFill>
                            <a:schemeClr val="tx1">
                              <a:lumMod val="65000"/>
                              <a:lumOff val="35000"/>
                            </a:schemeClr>
                          </a:solidFill>
                          <a:latin typeface="Yekan Bakh"/>
                          <a:cs typeface="Yekan Bakh"/>
                        </a:rPr>
                        <a:t> یا قرارداد چارچوب</a:t>
                      </a:r>
                    </a:p>
                  </a:txBody>
                  <a:tcPr marL="50800" marR="50800" marT="38100" marB="38100" anchor="ctr">
                    <a:solidFill>
                      <a:schemeClr val="bg1"/>
                    </a:solidFill>
                  </a:tcPr>
                </a:tc>
                <a:tc>
                  <a:txBody>
                    <a:bodyPr/>
                    <a:lstStyle/>
                    <a:p>
                      <a:pPr algn="r" rtl="1">
                        <a:lnSpc>
                          <a:spcPct val="105000"/>
                        </a:lnSpc>
                      </a:pPr>
                      <a:r>
                        <a:rPr lang="fa-IR" sz="800" b="0">
                          <a:solidFill>
                            <a:schemeClr val="tx1">
                              <a:lumMod val="65000"/>
                              <a:lumOff val="35000"/>
                            </a:schemeClr>
                          </a:solidFill>
                          <a:latin typeface="Yekan Bakh"/>
                          <a:cs typeface="Yekan Bakh"/>
                        </a:rPr>
                        <a:t>تبادل مستندات رسمی؛ جلسه با واحد انطباق/حقوقی مشتری</a:t>
                      </a:r>
                    </a:p>
                  </a:txBody>
                  <a:tcPr marL="50800" marR="50800" marT="38100" marB="38100" anchor="ctr">
                    <a:solidFill>
                      <a:schemeClr val="bg1"/>
                    </a:solidFill>
                  </a:tcPr>
                </a:tc>
                <a:tc>
                  <a:txBody>
                    <a:bodyPr/>
                    <a:lstStyle/>
                    <a:p>
                      <a:pPr algn="r" rtl="1">
                        <a:lnSpc>
                          <a:spcPct val="105000"/>
                        </a:lnSpc>
                      </a:pPr>
                      <a:r>
                        <a:rPr sz="800" b="0" dirty="0" err="1">
                          <a:solidFill>
                            <a:schemeClr val="tx1">
                              <a:lumMod val="65000"/>
                              <a:lumOff val="35000"/>
                            </a:schemeClr>
                          </a:solidFill>
                          <a:latin typeface="Yekan Bakh"/>
                          <a:cs typeface="Yekan Bakh"/>
                        </a:rPr>
                        <a:t>نشست</a:t>
                      </a:r>
                      <a:r>
                        <a:rPr sz="800" b="0" dirty="0">
                          <a:solidFill>
                            <a:schemeClr val="tx1">
                              <a:lumMod val="65000"/>
                              <a:lumOff val="35000"/>
                            </a:schemeClr>
                          </a:solidFill>
                          <a:latin typeface="Yekan Bakh"/>
                          <a:cs typeface="Yekan Bakh"/>
                        </a:rPr>
                        <a:t>/</a:t>
                      </a:r>
                      <a:r>
                        <a:rPr sz="800" b="0" dirty="0" err="1">
                          <a:solidFill>
                            <a:schemeClr val="tx1">
                              <a:lumMod val="65000"/>
                              <a:lumOff val="35000"/>
                            </a:schemeClr>
                          </a:solidFill>
                          <a:latin typeface="Yekan Bakh"/>
                          <a:cs typeface="Yekan Bakh"/>
                        </a:rPr>
                        <a:t>ایمیل</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معرفی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از</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طریق</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شریک</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نهادی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رویداد</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تجاری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دوجانبه</a:t>
                      </a:r>
                      <a:endParaRPr sz="800" b="0" dirty="0">
                        <a:solidFill>
                          <a:schemeClr val="tx1">
                            <a:lumMod val="65000"/>
                            <a:lumOff val="35000"/>
                          </a:schemeClr>
                        </a:solidFill>
                        <a:latin typeface="Yekan Bakh"/>
                        <a:cs typeface="Yekan Bakh"/>
                      </a:endParaRPr>
                    </a:p>
                  </a:txBody>
                  <a:tcPr marL="50800" marR="50800" marT="38100" marB="38100" anchor="ctr">
                    <a:solidFill>
                      <a:schemeClr val="bg1"/>
                    </a:solidFill>
                  </a:tcPr>
                </a:tc>
                <a:tc>
                  <a:txBody>
                    <a:bodyPr/>
                    <a:lstStyle/>
                    <a:p>
                      <a:pPr algn="ctr" rtl="1">
                        <a:lnSpc>
                          <a:spcPct val="105000"/>
                        </a:lnSpc>
                      </a:pPr>
                      <a:r>
                        <a:rPr sz="1050" b="1" dirty="0" err="1">
                          <a:solidFill>
                            <a:srgbClr val="00406C"/>
                          </a:solidFill>
                          <a:latin typeface="Yekan Bakh"/>
                          <a:cs typeface="Yekan Bakh"/>
                        </a:rPr>
                        <a:t>نقطه</a:t>
                      </a:r>
                      <a:r>
                        <a:rPr sz="1050" b="1" dirty="0">
                          <a:solidFill>
                            <a:srgbClr val="00406C"/>
                          </a:solidFill>
                          <a:latin typeface="Yekan Bakh"/>
                          <a:cs typeface="Yekan Bakh"/>
                        </a:rPr>
                        <a:t> </a:t>
                      </a:r>
                      <a:r>
                        <a:rPr sz="1050" b="1" dirty="0" err="1">
                          <a:solidFill>
                            <a:srgbClr val="00406C"/>
                          </a:solidFill>
                          <a:latin typeface="Yekan Bakh"/>
                          <a:cs typeface="Yekan Bakh"/>
                        </a:rPr>
                        <a:t>تماس</a:t>
                      </a:r>
                      <a:endParaRPr sz="1050" b="1" dirty="0">
                        <a:solidFill>
                          <a:srgbClr val="00406C"/>
                        </a:solidFill>
                        <a:latin typeface="Yekan Bakh"/>
                        <a:cs typeface="Yekan Bakh"/>
                      </a:endParaRPr>
                    </a:p>
                  </a:txBody>
                  <a:tcPr marL="50800" marR="50800" marT="38100" marB="38100" anchor="ctr">
                    <a:solidFill>
                      <a:schemeClr val="bg1"/>
                    </a:solidFill>
                  </a:tcPr>
                </a:tc>
                <a:extLst>
                  <a:ext uri="{0D108BD9-81ED-4DB2-BD59-A6C34878D82A}">
                    <a16:rowId xmlns:a16="http://schemas.microsoft.com/office/drawing/2014/main" val="10004"/>
                  </a:ext>
                </a:extLst>
              </a:tr>
              <a:tr h="370032">
                <a:tc>
                  <a:txBody>
                    <a:bodyPr/>
                    <a:lstStyle/>
                    <a:p>
                      <a:pPr algn="r" rtl="1">
                        <a:lnSpc>
                          <a:spcPct val="105000"/>
                        </a:lnSpc>
                      </a:pPr>
                      <a:r>
                        <a:rPr lang="fa-IR" sz="800" b="0">
                          <a:solidFill>
                            <a:schemeClr val="tx1">
                              <a:lumMod val="65000"/>
                              <a:lumOff val="35000"/>
                            </a:schemeClr>
                          </a:solidFill>
                          <a:latin typeface="Yekan Bakh"/>
                          <a:cs typeface="Yekan Bakh"/>
                        </a:rPr>
                        <a:t>نهایی‌سازی محدوده، شرایط پرداخت مرحله‌ای، امضا</a:t>
                      </a:r>
                    </a:p>
                  </a:txBody>
                  <a:tcPr marL="50800" marR="50800" marT="38100" marB="38100" anchor="ctr">
                    <a:solidFill>
                      <a:schemeClr val="bg1">
                        <a:lumMod val="95000"/>
                      </a:schemeClr>
                    </a:solidFill>
                  </a:tcPr>
                </a:tc>
                <a:tc>
                  <a:txBody>
                    <a:bodyPr/>
                    <a:lstStyle/>
                    <a:p>
                      <a:pPr algn="r" rtl="1">
                        <a:lnSpc>
                          <a:spcPct val="105000"/>
                        </a:lnSpc>
                      </a:pPr>
                      <a:r>
                        <a:rPr lang="fa-IR" sz="800" b="0">
                          <a:solidFill>
                            <a:schemeClr val="tx1">
                              <a:lumMod val="65000"/>
                              <a:lumOff val="35000"/>
                            </a:schemeClr>
                          </a:solidFill>
                          <a:latin typeface="Yekan Bakh"/>
                          <a:cs typeface="Yekan Bakh"/>
                        </a:rPr>
                        <a:t>پاسخ به </a:t>
                      </a:r>
                      <a:r>
                        <a:rPr lang="en-US" sz="800" b="0">
                          <a:solidFill>
                            <a:schemeClr val="tx1">
                              <a:lumMod val="65000"/>
                              <a:lumOff val="35000"/>
                            </a:schemeClr>
                          </a:solidFill>
                          <a:latin typeface="Yekan Bakh"/>
                          <a:cs typeface="Yekan Bakh"/>
                        </a:rPr>
                        <a:t>RFI، </a:t>
                      </a:r>
                      <a:r>
                        <a:rPr lang="fa-IR" sz="800" b="0">
                          <a:solidFill>
                            <a:schemeClr val="tx1">
                              <a:lumMod val="65000"/>
                              <a:lumOff val="35000"/>
                            </a:schemeClr>
                          </a:solidFill>
                          <a:latin typeface="Yekan Bakh"/>
                          <a:cs typeface="Yekan Bakh"/>
                        </a:rPr>
                        <a:t>ارائه گواهی/تاییدیه حسابرس یا مشاور حقوقی شریک</a:t>
                      </a:r>
                    </a:p>
                  </a:txBody>
                  <a:tcPr marL="50800" marR="50800" marT="38100" marB="38100" anchor="ctr">
                    <a:solidFill>
                      <a:schemeClr val="bg1">
                        <a:lumMod val="95000"/>
                      </a:schemeClr>
                    </a:solidFill>
                  </a:tcPr>
                </a:tc>
                <a:tc>
                  <a:txBody>
                    <a:bodyPr/>
                    <a:lstStyle/>
                    <a:p>
                      <a:pPr algn="r" rtl="1">
                        <a:lnSpc>
                          <a:spcPct val="105000"/>
                        </a:lnSpc>
                      </a:pPr>
                      <a:r>
                        <a:rPr sz="800" b="0" dirty="0" err="1">
                          <a:solidFill>
                            <a:schemeClr val="tx1">
                              <a:lumMod val="65000"/>
                              <a:lumOff val="35000"/>
                            </a:schemeClr>
                          </a:solidFill>
                          <a:latin typeface="Yekan Bakh"/>
                          <a:cs typeface="Yekan Bakh"/>
                        </a:rPr>
                        <a:t>معرفی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نهادی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فرصت</a:t>
                      </a:r>
                      <a:r>
                        <a:rPr sz="800" b="0" dirty="0">
                          <a:solidFill>
                            <a:schemeClr val="tx1">
                              <a:lumMod val="65000"/>
                              <a:lumOff val="35000"/>
                            </a:schemeClr>
                          </a:solidFill>
                          <a:latin typeface="Yekan Bakh"/>
                          <a:cs typeface="Yekan Bakh"/>
                        </a:rPr>
                        <a:t> و </a:t>
                      </a:r>
                      <a:r>
                        <a:rPr sz="800" b="0" dirty="0" err="1">
                          <a:solidFill>
                            <a:schemeClr val="tx1">
                              <a:lumMod val="65000"/>
                              <a:lumOff val="35000"/>
                            </a:schemeClr>
                          </a:solidFill>
                          <a:latin typeface="Yekan Bakh"/>
                          <a:cs typeface="Yekan Bakh"/>
                        </a:rPr>
                        <a:t>ارجاع</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رسمی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به</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تیم</a:t>
                      </a:r>
                      <a:r>
                        <a:rPr sz="800" b="0" dirty="0">
                          <a:solidFill>
                            <a:schemeClr val="tx1">
                              <a:lumMod val="65000"/>
                              <a:lumOff val="35000"/>
                            </a:schemeClr>
                          </a:solidFill>
                          <a:latin typeface="Yekan Bakh"/>
                          <a:cs typeface="Yekan Bakh"/>
                        </a:rPr>
                        <a:t> </a:t>
                      </a:r>
                      <a:r>
                        <a:rPr lang="fa-IR" sz="800" b="0" dirty="0">
                          <a:solidFill>
                            <a:schemeClr val="tx1">
                              <a:lumMod val="65000"/>
                              <a:lumOff val="35000"/>
                            </a:schemeClr>
                          </a:solidFill>
                          <a:latin typeface="Yekan Bakh"/>
                          <a:cs typeface="Yekan Bakh"/>
                        </a:rPr>
                        <a:t>اکوسیستم فرصت ایران</a:t>
                      </a:r>
                      <a:endParaRPr sz="800" b="0" dirty="0">
                        <a:solidFill>
                          <a:schemeClr val="tx1">
                            <a:lumMod val="65000"/>
                            <a:lumOff val="35000"/>
                          </a:schemeClr>
                        </a:solidFill>
                        <a:latin typeface="Yekan Bakh"/>
                        <a:cs typeface="Yekan Bakh"/>
                      </a:endParaRPr>
                    </a:p>
                  </a:txBody>
                  <a:tcPr marL="50800" marR="50800" marT="38100" marB="38100" anchor="ctr">
                    <a:solidFill>
                      <a:schemeClr val="bg1">
                        <a:lumMod val="95000"/>
                      </a:schemeClr>
                    </a:solidFill>
                  </a:tcPr>
                </a:tc>
                <a:tc>
                  <a:txBody>
                    <a:bodyPr/>
                    <a:lstStyle/>
                    <a:p>
                      <a:pPr algn="ctr" rtl="1">
                        <a:lnSpc>
                          <a:spcPct val="105000"/>
                        </a:lnSpc>
                      </a:pPr>
                      <a:r>
                        <a:rPr sz="1050" b="1" dirty="0" err="1">
                          <a:solidFill>
                            <a:srgbClr val="00406C"/>
                          </a:solidFill>
                          <a:latin typeface="Yekan Bakh"/>
                          <a:cs typeface="Yekan Bakh"/>
                        </a:rPr>
                        <a:t>فعالیت</a:t>
                      </a:r>
                      <a:r>
                        <a:rPr sz="1050" b="1" dirty="0">
                          <a:solidFill>
                            <a:srgbClr val="00406C"/>
                          </a:solidFill>
                          <a:latin typeface="Yekan Bakh"/>
                          <a:cs typeface="Yekan Bakh"/>
                        </a:rPr>
                        <a:t> </a:t>
                      </a:r>
                      <a:r>
                        <a:rPr lang="fa-IR" sz="1050" b="1" dirty="0">
                          <a:solidFill>
                            <a:srgbClr val="00406C"/>
                          </a:solidFill>
                          <a:latin typeface="Yekan Bakh"/>
                          <a:cs typeface="Yekan Bakh"/>
                        </a:rPr>
                        <a:t>/</a:t>
                      </a:r>
                      <a:r>
                        <a:rPr sz="1050" b="1" dirty="0">
                          <a:solidFill>
                            <a:srgbClr val="00406C"/>
                          </a:solidFill>
                          <a:latin typeface="Yekan Bakh"/>
                          <a:cs typeface="Yekan Bakh"/>
                        </a:rPr>
                        <a:t> </a:t>
                      </a:r>
                      <a:r>
                        <a:rPr sz="1050" b="1" dirty="0" err="1">
                          <a:solidFill>
                            <a:srgbClr val="00406C"/>
                          </a:solidFill>
                          <a:latin typeface="Yekan Bakh"/>
                          <a:cs typeface="Yekan Bakh"/>
                        </a:rPr>
                        <a:t>اقدام</a:t>
                      </a:r>
                      <a:endParaRPr sz="1050" b="1" dirty="0">
                        <a:solidFill>
                          <a:srgbClr val="00406C"/>
                        </a:solidFill>
                        <a:latin typeface="Yekan Bakh"/>
                        <a:cs typeface="Yekan Bakh"/>
                      </a:endParaRPr>
                    </a:p>
                  </a:txBody>
                  <a:tcPr marL="50800" marR="50800" marT="38100" marB="38100" anchor="ctr">
                    <a:solidFill>
                      <a:schemeClr val="bg1">
                        <a:lumMod val="95000"/>
                      </a:schemeClr>
                    </a:solidFill>
                  </a:tcPr>
                </a:tc>
                <a:extLst>
                  <a:ext uri="{0D108BD9-81ED-4DB2-BD59-A6C34878D82A}">
                    <a16:rowId xmlns:a16="http://schemas.microsoft.com/office/drawing/2014/main" val="10005"/>
                  </a:ext>
                </a:extLst>
              </a:tr>
              <a:tr h="337856">
                <a:tc>
                  <a:txBody>
                    <a:bodyPr/>
                    <a:lstStyle/>
                    <a:p>
                      <a:pPr algn="r" rtl="1">
                        <a:lnSpc>
                          <a:spcPct val="105000"/>
                        </a:lnSpc>
                      </a:pPr>
                      <a:r>
                        <a:rPr lang="fa-IR" sz="800" b="0">
                          <a:solidFill>
                            <a:schemeClr val="tx1">
                              <a:lumMod val="65000"/>
                              <a:lumOff val="35000"/>
                            </a:schemeClr>
                          </a:solidFill>
                          <a:latin typeface="Yekan Bakh"/>
                          <a:cs typeface="Yekan Bakh"/>
                        </a:rPr>
                        <a:t>واحد مشتری ↔ تیم اکوسیستم فرصت ایران</a:t>
                      </a:r>
                    </a:p>
                  </a:txBody>
                  <a:tcPr marL="50800" marR="50800" marT="38100" marB="38100" anchor="ctr">
                    <a:solidFill>
                      <a:schemeClr val="bg1"/>
                    </a:solidFill>
                  </a:tcPr>
                </a:tc>
                <a:tc>
                  <a:txBody>
                    <a:bodyPr/>
                    <a:lstStyle/>
                    <a:p>
                      <a:pPr algn="r" rtl="1">
                        <a:lnSpc>
                          <a:spcPct val="105000"/>
                        </a:lnSpc>
                      </a:pPr>
                      <a:r>
                        <a:rPr lang="fa-IR" sz="800" b="0">
                          <a:solidFill>
                            <a:schemeClr val="tx1">
                              <a:lumMod val="65000"/>
                              <a:lumOff val="35000"/>
                            </a:schemeClr>
                          </a:solidFill>
                          <a:latin typeface="Yekan Bakh"/>
                          <a:cs typeface="Yekan Bakh"/>
                        </a:rPr>
                        <a:t>تیم انطباق اکوسیستم فرصت ایران ↔ واحد مشتری؛ شریک ثالث تاییدکننده</a:t>
                      </a:r>
                    </a:p>
                  </a:txBody>
                  <a:tcPr marL="50800" marR="50800" marT="38100" marB="38100" anchor="ctr">
                    <a:solidFill>
                      <a:schemeClr val="bg1"/>
                    </a:solidFill>
                  </a:tcPr>
                </a:tc>
                <a:tc>
                  <a:txBody>
                    <a:bodyPr/>
                    <a:lstStyle/>
                    <a:p>
                      <a:pPr algn="r" rtl="1">
                        <a:lnSpc>
                          <a:spcPct val="105000"/>
                        </a:lnSpc>
                      </a:pPr>
                      <a:r>
                        <a:rPr sz="800" b="0" dirty="0" err="1">
                          <a:solidFill>
                            <a:schemeClr val="tx1">
                              <a:lumMod val="65000"/>
                              <a:lumOff val="35000"/>
                            </a:schemeClr>
                          </a:solidFill>
                          <a:latin typeface="Yekan Bakh"/>
                          <a:cs typeface="Yekan Bakh"/>
                        </a:rPr>
                        <a:t>شریک</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نهادی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بین‌المللی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یا</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نماینده</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دفتر</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تجاری</a:t>
                      </a:r>
                      <a:r>
                        <a:rPr sz="800" b="0" dirty="0">
                          <a:solidFill>
                            <a:schemeClr val="tx1">
                              <a:lumMod val="65000"/>
                              <a:lumOff val="35000"/>
                            </a:schemeClr>
                          </a:solidFill>
                          <a:latin typeface="Yekan Bakh"/>
                          <a:cs typeface="Yekan Bakh"/>
                        </a:rPr>
                        <a:t> </a:t>
                      </a:r>
                      <a:r>
                        <a:rPr lang="fa-IR" sz="800" b="0" dirty="0">
                          <a:solidFill>
                            <a:schemeClr val="tx1">
                              <a:lumMod val="65000"/>
                              <a:lumOff val="35000"/>
                            </a:schemeClr>
                          </a:solidFill>
                          <a:latin typeface="Yekan Bakh"/>
                          <a:cs typeface="Yekan Bakh"/>
                        </a:rPr>
                        <a:t>(</a:t>
                      </a:r>
                      <a:r>
                        <a:rPr sz="800" b="0" dirty="0" err="1">
                          <a:solidFill>
                            <a:schemeClr val="tx1">
                              <a:lumMod val="65000"/>
                              <a:lumOff val="35000"/>
                            </a:schemeClr>
                          </a:solidFill>
                          <a:latin typeface="Yekan Bakh"/>
                          <a:cs typeface="Yekan Bakh"/>
                        </a:rPr>
                        <a:t>معرف</a:t>
                      </a:r>
                      <a:r>
                        <a:rPr lang="fa-IR" sz="800" b="0" dirty="0">
                          <a:solidFill>
                            <a:schemeClr val="tx1">
                              <a:lumMod val="65000"/>
                              <a:lumOff val="35000"/>
                            </a:schemeClr>
                          </a:solidFill>
                          <a:latin typeface="Yekan Bakh"/>
                          <a:cs typeface="Yekan Bakh"/>
                        </a:rPr>
                        <a:t>)</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تیم</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توسعه</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کسب‌وکار</a:t>
                      </a:r>
                      <a:r>
                        <a:rPr sz="800" b="0" dirty="0">
                          <a:solidFill>
                            <a:schemeClr val="tx1">
                              <a:lumMod val="65000"/>
                              <a:lumOff val="35000"/>
                            </a:schemeClr>
                          </a:solidFill>
                          <a:latin typeface="Yekan Bakh"/>
                          <a:cs typeface="Yekan Bakh"/>
                        </a:rPr>
                        <a:t> </a:t>
                      </a:r>
                      <a:r>
                        <a:rPr lang="fa-IR" sz="800" b="0" dirty="0">
                          <a:solidFill>
                            <a:schemeClr val="tx1">
                              <a:lumMod val="65000"/>
                              <a:lumOff val="35000"/>
                            </a:schemeClr>
                          </a:solidFill>
                          <a:latin typeface="Yekan Bakh"/>
                          <a:cs typeface="Yekan Bakh"/>
                        </a:rPr>
                        <a:t>اکوسیستم فرصت ایران</a:t>
                      </a:r>
                      <a:endParaRPr sz="800" b="0" dirty="0">
                        <a:solidFill>
                          <a:schemeClr val="tx1">
                            <a:lumMod val="65000"/>
                            <a:lumOff val="35000"/>
                          </a:schemeClr>
                        </a:solidFill>
                        <a:latin typeface="Yekan Bakh"/>
                        <a:cs typeface="Yekan Bakh"/>
                      </a:endParaRPr>
                    </a:p>
                  </a:txBody>
                  <a:tcPr marL="50800" marR="50800" marT="38100" marB="38100" anchor="ctr">
                    <a:solidFill>
                      <a:schemeClr val="bg1"/>
                    </a:solidFill>
                  </a:tcPr>
                </a:tc>
                <a:tc>
                  <a:txBody>
                    <a:bodyPr/>
                    <a:lstStyle/>
                    <a:p>
                      <a:pPr algn="ctr" rtl="1">
                        <a:lnSpc>
                          <a:spcPct val="105000"/>
                        </a:lnSpc>
                      </a:pPr>
                      <a:r>
                        <a:rPr sz="1050" b="1" dirty="0" err="1">
                          <a:solidFill>
                            <a:srgbClr val="00406C"/>
                          </a:solidFill>
                          <a:latin typeface="Yekan Bakh"/>
                          <a:cs typeface="Yekan Bakh"/>
                        </a:rPr>
                        <a:t>بازیگر</a:t>
                      </a:r>
                      <a:r>
                        <a:rPr sz="1050" b="1" dirty="0">
                          <a:solidFill>
                            <a:srgbClr val="00406C"/>
                          </a:solidFill>
                          <a:latin typeface="Yekan Bakh"/>
                          <a:cs typeface="Yekan Bakh"/>
                        </a:rPr>
                        <a:t>/ </a:t>
                      </a:r>
                      <a:r>
                        <a:rPr lang="fa-IR" sz="1050" b="1" dirty="0">
                          <a:solidFill>
                            <a:srgbClr val="00406C"/>
                          </a:solidFill>
                          <a:latin typeface="Yekan Bakh"/>
                          <a:cs typeface="Yekan Bakh"/>
                        </a:rPr>
                        <a:t> م</a:t>
                      </a:r>
                      <a:r>
                        <a:rPr sz="1050" b="1" dirty="0" err="1">
                          <a:solidFill>
                            <a:srgbClr val="00406C"/>
                          </a:solidFill>
                          <a:latin typeface="Yekan Bakh"/>
                          <a:cs typeface="Yekan Bakh"/>
                        </a:rPr>
                        <a:t>الک</a:t>
                      </a:r>
                      <a:r>
                        <a:rPr sz="1050" b="1" dirty="0">
                          <a:solidFill>
                            <a:srgbClr val="00406C"/>
                          </a:solidFill>
                          <a:latin typeface="Yekan Bakh"/>
                          <a:cs typeface="Yekan Bakh"/>
                        </a:rPr>
                        <a:t> </a:t>
                      </a:r>
                      <a:r>
                        <a:rPr sz="1050" b="1" dirty="0" err="1">
                          <a:solidFill>
                            <a:srgbClr val="00406C"/>
                          </a:solidFill>
                          <a:latin typeface="Yekan Bakh"/>
                          <a:cs typeface="Yekan Bakh"/>
                        </a:rPr>
                        <a:t>تعامل</a:t>
                      </a:r>
                      <a:endParaRPr sz="1050" b="1" dirty="0">
                        <a:solidFill>
                          <a:srgbClr val="00406C"/>
                        </a:solidFill>
                        <a:latin typeface="Yekan Bakh"/>
                        <a:cs typeface="Yekan Bakh"/>
                      </a:endParaRPr>
                    </a:p>
                  </a:txBody>
                  <a:tcPr marL="50800" marR="50800" marT="38100" marB="38100" anchor="ctr">
                    <a:solidFill>
                      <a:schemeClr val="bg1"/>
                    </a:solidFill>
                  </a:tcPr>
                </a:tc>
                <a:extLst>
                  <a:ext uri="{0D108BD9-81ED-4DB2-BD59-A6C34878D82A}">
                    <a16:rowId xmlns:a16="http://schemas.microsoft.com/office/drawing/2014/main" val="10006"/>
                  </a:ext>
                </a:extLst>
              </a:tr>
              <a:tr h="257413">
                <a:tc>
                  <a:txBody>
                    <a:bodyPr/>
                    <a:lstStyle/>
                    <a:p>
                      <a:pPr algn="r" rtl="1">
                        <a:lnSpc>
                          <a:spcPct val="105000"/>
                        </a:lnSpc>
                      </a:pPr>
                      <a:r>
                        <a:rPr lang="en-US" sz="800" b="0">
                          <a:solidFill>
                            <a:schemeClr val="tx1">
                              <a:lumMod val="65000"/>
                              <a:lumOff val="35000"/>
                            </a:schemeClr>
                          </a:solidFill>
                          <a:latin typeface="Yekan Bakh"/>
                          <a:cs typeface="Yekan Bakh"/>
                        </a:rPr>
                        <a:t>Contract</a:t>
                      </a:r>
                    </a:p>
                  </a:txBody>
                  <a:tcPr marL="50800" marR="50800" marT="38100" marB="38100" anchor="ctr">
                    <a:solidFill>
                      <a:schemeClr val="bg1">
                        <a:lumMod val="95000"/>
                      </a:schemeClr>
                    </a:solidFill>
                  </a:tcPr>
                </a:tc>
                <a:tc>
                  <a:txBody>
                    <a:bodyPr/>
                    <a:lstStyle/>
                    <a:p>
                      <a:pPr algn="r" rtl="1">
                        <a:lnSpc>
                          <a:spcPct val="105000"/>
                        </a:lnSpc>
                      </a:pPr>
                      <a:r>
                        <a:rPr sz="800" b="0" dirty="0">
                          <a:solidFill>
                            <a:schemeClr val="tx1">
                              <a:lumMod val="65000"/>
                              <a:lumOff val="35000"/>
                            </a:schemeClr>
                          </a:solidFill>
                          <a:latin typeface="Yekan Bakh"/>
                          <a:cs typeface="Yekan Bakh"/>
                        </a:rPr>
                        <a:t>Qualified Opportunit</a:t>
                      </a:r>
                      <a:r>
                        <a:rPr lang="en-US" sz="800" b="0" dirty="0">
                          <a:solidFill>
                            <a:schemeClr val="tx1">
                              <a:lumMod val="65000"/>
                              <a:lumOff val="35000"/>
                            </a:schemeClr>
                          </a:solidFill>
                          <a:latin typeface="Yekan Bakh"/>
                          <a:cs typeface="Yekan Bakh"/>
                        </a:rPr>
                        <a:t>y</a:t>
                      </a:r>
                      <a:r>
                        <a:rPr lang="fa-IR" sz="800" b="0" dirty="0">
                          <a:solidFill>
                            <a:schemeClr val="tx1">
                              <a:lumMod val="65000"/>
                              <a:lumOff val="35000"/>
                            </a:schemeClr>
                          </a:solidFill>
                          <a:latin typeface="Yekan Bakh"/>
                          <a:cs typeface="Yekan Bakh"/>
                        </a:rPr>
                        <a:t> ع</a:t>
                      </a:r>
                      <a:r>
                        <a:rPr sz="800" b="0" dirty="0" err="1">
                          <a:solidFill>
                            <a:schemeClr val="tx1">
                              <a:lumMod val="65000"/>
                              <a:lumOff val="35000"/>
                            </a:schemeClr>
                          </a:solidFill>
                          <a:latin typeface="Yekan Bakh"/>
                          <a:cs typeface="Yekan Bakh"/>
                        </a:rPr>
                        <a:t>بور</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از</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وتوی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انطباق</a:t>
                      </a:r>
                      <a:endParaRPr sz="800" b="0" dirty="0">
                        <a:solidFill>
                          <a:schemeClr val="tx1">
                            <a:lumMod val="65000"/>
                            <a:lumOff val="35000"/>
                          </a:schemeClr>
                        </a:solidFill>
                        <a:latin typeface="Yekan Bakh"/>
                        <a:cs typeface="Yekan Bakh"/>
                      </a:endParaRPr>
                    </a:p>
                  </a:txBody>
                  <a:tcPr marL="50800" marR="50800" marT="38100" marB="38100" anchor="ctr">
                    <a:solidFill>
                      <a:schemeClr val="bg1">
                        <a:lumMod val="95000"/>
                      </a:schemeClr>
                    </a:solidFill>
                  </a:tcPr>
                </a:tc>
                <a:tc>
                  <a:txBody>
                    <a:bodyPr/>
                    <a:lstStyle/>
                    <a:p>
                      <a:pPr algn="r" rtl="1">
                        <a:lnSpc>
                          <a:spcPct val="105000"/>
                        </a:lnSpc>
                      </a:pPr>
                      <a:r>
                        <a:rPr sz="800" b="0" dirty="0">
                          <a:solidFill>
                            <a:schemeClr val="tx1">
                              <a:lumMod val="65000"/>
                              <a:lumOff val="35000"/>
                            </a:schemeClr>
                          </a:solidFill>
                          <a:latin typeface="Yekan Bakh"/>
                          <a:cs typeface="Yekan Bakh"/>
                        </a:rPr>
                        <a:t>Lead</a:t>
                      </a:r>
                      <a:r>
                        <a:rPr lang="fa-IR" sz="800" b="0" dirty="0">
                          <a:solidFill>
                            <a:schemeClr val="tx1">
                              <a:lumMod val="65000"/>
                              <a:lumOff val="35000"/>
                            </a:schemeClr>
                          </a:solidFill>
                          <a:latin typeface="Yekan Bakh"/>
                          <a:cs typeface="Yekan Bakh"/>
                        </a:rPr>
                        <a:t> س</a:t>
                      </a:r>
                      <a:r>
                        <a:rPr sz="800" b="0" dirty="0" err="1">
                          <a:solidFill>
                            <a:schemeClr val="tx1">
                              <a:lumMod val="65000"/>
                              <a:lumOff val="35000"/>
                            </a:schemeClr>
                          </a:solidFill>
                          <a:latin typeface="Yekan Bakh"/>
                          <a:cs typeface="Yekan Bakh"/>
                        </a:rPr>
                        <a:t>رنخ</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ارجاعی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نهادی</a:t>
                      </a:r>
                      <a:endParaRPr sz="800" b="0" dirty="0">
                        <a:solidFill>
                          <a:schemeClr val="tx1">
                            <a:lumMod val="65000"/>
                            <a:lumOff val="35000"/>
                          </a:schemeClr>
                        </a:solidFill>
                        <a:latin typeface="Yekan Bakh"/>
                        <a:cs typeface="Yekan Bakh"/>
                      </a:endParaRPr>
                    </a:p>
                  </a:txBody>
                  <a:tcPr marL="50800" marR="50800" marT="38100" marB="38100" anchor="ctr">
                    <a:solidFill>
                      <a:schemeClr val="bg1">
                        <a:lumMod val="95000"/>
                      </a:schemeClr>
                    </a:solidFill>
                  </a:tcPr>
                </a:tc>
                <a:tc>
                  <a:txBody>
                    <a:bodyPr/>
                    <a:lstStyle/>
                    <a:p>
                      <a:pPr algn="ctr" rtl="1">
                        <a:lnSpc>
                          <a:spcPct val="105000"/>
                        </a:lnSpc>
                      </a:pPr>
                      <a:r>
                        <a:rPr sz="1050" b="1" dirty="0" err="1">
                          <a:solidFill>
                            <a:srgbClr val="00406C"/>
                          </a:solidFill>
                          <a:latin typeface="Yekan Bakh"/>
                          <a:cs typeface="Yekan Bakh"/>
                        </a:rPr>
                        <a:t>خروجی</a:t>
                      </a:r>
                      <a:r>
                        <a:rPr sz="1050" b="1" dirty="0">
                          <a:solidFill>
                            <a:srgbClr val="00406C"/>
                          </a:solidFill>
                          <a:latin typeface="Yekan Bakh"/>
                          <a:cs typeface="Yekan Bakh"/>
                        </a:rPr>
                        <a:t> /</a:t>
                      </a:r>
                      <a:r>
                        <a:rPr lang="fa-IR" sz="1050" b="1" dirty="0">
                          <a:solidFill>
                            <a:srgbClr val="00406C"/>
                          </a:solidFill>
                          <a:latin typeface="Yekan Bakh"/>
                          <a:cs typeface="Yekan Bakh"/>
                        </a:rPr>
                        <a:t> ن</a:t>
                      </a:r>
                      <a:r>
                        <a:rPr sz="1050" b="1" dirty="0" err="1">
                          <a:solidFill>
                            <a:srgbClr val="00406C"/>
                          </a:solidFill>
                          <a:latin typeface="Yekan Bakh"/>
                          <a:cs typeface="Yekan Bakh"/>
                        </a:rPr>
                        <a:t>تیجه</a:t>
                      </a:r>
                      <a:r>
                        <a:rPr sz="1050" b="1" dirty="0">
                          <a:solidFill>
                            <a:srgbClr val="00406C"/>
                          </a:solidFill>
                          <a:latin typeface="Yekan Bakh"/>
                          <a:cs typeface="Yekan Bakh"/>
                        </a:rPr>
                        <a:t> </a:t>
                      </a:r>
                      <a:r>
                        <a:rPr sz="1050" b="1" dirty="0" err="1">
                          <a:solidFill>
                            <a:srgbClr val="00406C"/>
                          </a:solidFill>
                          <a:latin typeface="Yekan Bakh"/>
                          <a:cs typeface="Yekan Bakh"/>
                        </a:rPr>
                        <a:t>تجاری</a:t>
                      </a:r>
                      <a:endParaRPr sz="1050" b="1" dirty="0">
                        <a:solidFill>
                          <a:srgbClr val="00406C"/>
                        </a:solidFill>
                        <a:latin typeface="Yekan Bakh"/>
                        <a:cs typeface="Yekan Bakh"/>
                      </a:endParaRPr>
                    </a:p>
                  </a:txBody>
                  <a:tcPr marL="50800" marR="50800" marT="38100" marB="38100" anchor="ctr">
                    <a:solidFill>
                      <a:schemeClr val="bg1">
                        <a:lumMod val="95000"/>
                      </a:schemeClr>
                    </a:solidFill>
                  </a:tcPr>
                </a:tc>
                <a:extLst>
                  <a:ext uri="{0D108BD9-81ED-4DB2-BD59-A6C34878D82A}">
                    <a16:rowId xmlns:a16="http://schemas.microsoft.com/office/drawing/2014/main" val="10007"/>
                  </a:ext>
                </a:extLst>
              </a:tr>
              <a:tr h="710517">
                <a:tc>
                  <a:txBody>
                    <a:bodyPr/>
                    <a:lstStyle/>
                    <a:p>
                      <a:pPr algn="r" rtl="1">
                        <a:lnSpc>
                          <a:spcPct val="105000"/>
                        </a:lnSpc>
                      </a:pPr>
                      <a:r>
                        <a:rPr sz="800" b="0" dirty="0" err="1">
                          <a:solidFill>
                            <a:schemeClr val="tx1">
                              <a:lumMod val="65000"/>
                              <a:lumOff val="35000"/>
                            </a:schemeClr>
                          </a:solidFill>
                          <a:latin typeface="Yekan Bakh"/>
                          <a:cs typeface="Yekan Bakh"/>
                        </a:rPr>
                        <a:t>مدل</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تعامل</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مستند</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در</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پروفایل</a:t>
                      </a:r>
                      <a:r>
                        <a:rPr lang="fa-IR" sz="800" b="0" dirty="0">
                          <a:solidFill>
                            <a:schemeClr val="tx1">
                              <a:lumMod val="65000"/>
                              <a:lumOff val="35000"/>
                            </a:schemeClr>
                          </a:solidFill>
                          <a:latin typeface="Yekan Bakh"/>
                          <a:cs typeface="Yekan Bakh"/>
                        </a:rPr>
                        <a:t>:</a:t>
                      </a:r>
                      <a:r>
                        <a:rPr lang="en-US" sz="800" b="0" dirty="0">
                          <a:solidFill>
                            <a:schemeClr val="tx1">
                              <a:lumMod val="65000"/>
                              <a:lumOff val="35000"/>
                            </a:schemeClr>
                          </a:solidFill>
                          <a:latin typeface="Yekan Bakh"/>
                          <a:cs typeface="Yekan Bakh"/>
                        </a:rPr>
                        <a:t> » </a:t>
                      </a:r>
                      <a:r>
                        <a:rPr sz="800" b="0" dirty="0" err="1">
                          <a:solidFill>
                            <a:schemeClr val="tx1">
                              <a:lumMod val="65000"/>
                              <a:lumOff val="35000"/>
                            </a:schemeClr>
                          </a:solidFill>
                          <a:latin typeface="Yekan Bakh"/>
                          <a:cs typeface="Yekan Bakh"/>
                        </a:rPr>
                        <a:t>ماموریت</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با</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محدوده</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مشخص</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شرایط</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پرداخت</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مرحله‌ای</a:t>
                      </a:r>
                      <a:r>
                        <a:rPr lang="fa-IR" sz="800" b="0" dirty="0">
                          <a:solidFill>
                            <a:srgbClr val="222222"/>
                          </a:solidFill>
                          <a:latin typeface="Yekan Bakh"/>
                          <a:cs typeface="Yekan Bakh"/>
                        </a:rPr>
                        <a:t>»</a:t>
                      </a:r>
                      <a:endParaRPr sz="800" b="0" dirty="0">
                        <a:solidFill>
                          <a:schemeClr val="tx1">
                            <a:lumMod val="65000"/>
                            <a:lumOff val="35000"/>
                          </a:schemeClr>
                        </a:solidFill>
                        <a:latin typeface="Yekan Bakh"/>
                        <a:cs typeface="Yekan Bakh"/>
                      </a:endParaRPr>
                    </a:p>
                  </a:txBody>
                  <a:tcPr marL="50800" marR="50800" marT="38100" marB="38100" anchor="ctr">
                    <a:solidFill>
                      <a:schemeClr val="bg1"/>
                    </a:solidFill>
                  </a:tcPr>
                </a:tc>
                <a:tc>
                  <a:txBody>
                    <a:bodyPr/>
                    <a:lstStyle/>
                    <a:p>
                      <a:pPr algn="r" rtl="1">
                        <a:lnSpc>
                          <a:spcPct val="105000"/>
                        </a:lnSpc>
                      </a:pPr>
                      <a:r>
                        <a:rPr sz="800" b="0" dirty="0" err="1">
                          <a:solidFill>
                            <a:schemeClr val="tx1">
                              <a:lumMod val="65000"/>
                              <a:lumOff val="35000"/>
                            </a:schemeClr>
                          </a:solidFill>
                          <a:latin typeface="Yekan Bakh"/>
                          <a:cs typeface="Yekan Bakh"/>
                        </a:rPr>
                        <a:t>پروفایل</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مستند</a:t>
                      </a:r>
                      <a:r>
                        <a:rPr lang="fa-IR" sz="800" b="0" dirty="0">
                          <a:solidFill>
                            <a:schemeClr val="tx1">
                              <a:lumMod val="65000"/>
                              <a:lumOff val="35000"/>
                            </a:schemeClr>
                          </a:solidFill>
                          <a:latin typeface="Yekan Bakh"/>
                          <a:cs typeface="Yekan Bakh"/>
                        </a:rPr>
                        <a:t>:</a:t>
                      </a:r>
                      <a:r>
                        <a:rPr lang="en-US" sz="800" b="0" dirty="0">
                          <a:solidFill>
                            <a:schemeClr val="tx1">
                              <a:lumMod val="65000"/>
                              <a:lumOff val="35000"/>
                            </a:schemeClr>
                          </a:solidFill>
                          <a:latin typeface="Yekan Bakh"/>
                          <a:cs typeface="Yekan Bakh"/>
                        </a:rPr>
                        <a:t> » </a:t>
                      </a:r>
                      <a:r>
                        <a:rPr sz="800" b="0" dirty="0" err="1">
                          <a:solidFill>
                            <a:schemeClr val="tx1">
                              <a:lumMod val="65000"/>
                              <a:lumOff val="35000"/>
                            </a:schemeClr>
                          </a:solidFill>
                          <a:latin typeface="Yekan Bakh"/>
                          <a:cs typeface="Yekan Bakh"/>
                        </a:rPr>
                        <a:t>بخش</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انطباق</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پیش</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از</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آغاز</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مذاکرات</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تجاری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حق</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وتوی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واقعی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دارد</a:t>
                      </a:r>
                      <a:r>
                        <a:rPr lang="fa-IR" sz="800" b="0" dirty="0">
                          <a:solidFill>
                            <a:srgbClr val="222222"/>
                          </a:solidFill>
                          <a:latin typeface="Yekan Bakh"/>
                          <a:cs typeface="Yekan Bakh"/>
                        </a:rPr>
                        <a:t>»</a:t>
                      </a:r>
                      <a:endParaRPr sz="800" b="0" dirty="0">
                        <a:solidFill>
                          <a:schemeClr val="tx1">
                            <a:lumMod val="65000"/>
                            <a:lumOff val="35000"/>
                          </a:schemeClr>
                        </a:solidFill>
                        <a:latin typeface="Yekan Bakh"/>
                        <a:cs typeface="Yekan Bakh"/>
                      </a:endParaRPr>
                    </a:p>
                  </a:txBody>
                  <a:tcPr marL="50800" marR="50800" marT="38100" marB="38100" anchor="ctr">
                    <a:solidFill>
                      <a:schemeClr val="bg1"/>
                    </a:solidFill>
                  </a:tcPr>
                </a:tc>
                <a:tc>
                  <a:txBody>
                    <a:bodyPr/>
                    <a:lstStyle/>
                    <a:p>
                      <a:pPr algn="r" rtl="1">
                        <a:lnSpc>
                          <a:spcPct val="105000"/>
                        </a:lnSpc>
                      </a:pPr>
                      <a:r>
                        <a:rPr sz="800" b="0" dirty="0" err="1">
                          <a:solidFill>
                            <a:schemeClr val="tx1">
                              <a:lumMod val="65000"/>
                              <a:lumOff val="35000"/>
                            </a:schemeClr>
                          </a:solidFill>
                          <a:latin typeface="Yekan Bakh"/>
                          <a:cs typeface="Yekan Bakh"/>
                        </a:rPr>
                        <a:t>پروفایل</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مستند</a:t>
                      </a:r>
                      <a:r>
                        <a:rPr lang="fa-IR" sz="800" b="0" dirty="0">
                          <a:solidFill>
                            <a:schemeClr val="tx1">
                              <a:lumMod val="65000"/>
                              <a:lumOff val="35000"/>
                            </a:schemeClr>
                          </a:solidFill>
                          <a:latin typeface="Yekan Bakh"/>
                          <a:cs typeface="Yekan Bakh"/>
                        </a:rPr>
                        <a:t>:</a:t>
                      </a:r>
                      <a:r>
                        <a:rPr lang="en-US" sz="800" b="0" dirty="0">
                          <a:solidFill>
                            <a:schemeClr val="tx1">
                              <a:lumMod val="65000"/>
                              <a:lumOff val="35000"/>
                            </a:schemeClr>
                          </a:solidFill>
                          <a:latin typeface="Yekan Bakh"/>
                          <a:cs typeface="Yekan Bakh"/>
                        </a:rPr>
                        <a:t> » </a:t>
                      </a:r>
                      <a:r>
                        <a:rPr sz="800" b="0" dirty="0" err="1">
                          <a:solidFill>
                            <a:schemeClr val="tx1">
                              <a:lumMod val="65000"/>
                              <a:lumOff val="35000"/>
                            </a:schemeClr>
                          </a:solidFill>
                          <a:latin typeface="Yekan Bakh"/>
                          <a:cs typeface="Yekan Bakh"/>
                        </a:rPr>
                        <a:t>واسطه</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را</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بر</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اساس</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اعتبارات</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نهادی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ارزیابی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می‌کند</a:t>
                      </a:r>
                      <a:r>
                        <a:rPr lang="fa-IR" sz="800" b="0" dirty="0">
                          <a:solidFill>
                            <a:srgbClr val="222222"/>
                          </a:solidFill>
                          <a:latin typeface="Yekan Bakh"/>
                          <a:cs typeface="Yekan Bakh"/>
                        </a:rPr>
                        <a:t>»</a:t>
                      </a:r>
                      <a:endParaRPr sz="800" b="0" dirty="0">
                        <a:solidFill>
                          <a:schemeClr val="tx1">
                            <a:lumMod val="65000"/>
                            <a:lumOff val="35000"/>
                          </a:schemeClr>
                        </a:solidFill>
                        <a:latin typeface="Yekan Bakh"/>
                        <a:cs typeface="Yekan Bakh"/>
                      </a:endParaRPr>
                    </a:p>
                    <a:p>
                      <a:pPr algn="r" rtl="1">
                        <a:lnSpc>
                          <a:spcPct val="105000"/>
                        </a:lnSpc>
                      </a:pPr>
                      <a:r>
                        <a:rPr sz="800" b="0" dirty="0">
                          <a:solidFill>
                            <a:schemeClr val="tx1">
                              <a:lumMod val="65000"/>
                              <a:lumOff val="35000"/>
                            </a:schemeClr>
                          </a:solidFill>
                          <a:latin typeface="Yekan Bakh"/>
                          <a:cs typeface="Yekan Bakh"/>
                        </a:rPr>
                        <a:t>فرضیه۹</a:t>
                      </a:r>
                      <a:r>
                        <a:rPr lang="en-US" sz="800" b="0" dirty="0">
                          <a:solidFill>
                            <a:schemeClr val="tx1">
                              <a:lumMod val="65000"/>
                              <a:lumOff val="35000"/>
                            </a:schemeClr>
                          </a:solidFill>
                          <a:latin typeface="Yekan Bakh"/>
                          <a:cs typeface="Yekan Bakh"/>
                        </a:rPr>
                        <a:t> </a:t>
                      </a:r>
                      <a:r>
                        <a:rPr lang="fa-IR" sz="800" b="0" dirty="0">
                          <a:solidFill>
                            <a:schemeClr val="tx1">
                              <a:lumMod val="65000"/>
                              <a:lumOff val="35000"/>
                            </a:schemeClr>
                          </a:solidFill>
                          <a:latin typeface="Yekan Bakh"/>
                          <a:cs typeface="Yekan Bakh"/>
                        </a:rPr>
                        <a:t> -</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اعتبار</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Partnerها</a:t>
                      </a:r>
                      <a:endParaRPr sz="800" b="0" dirty="0">
                        <a:solidFill>
                          <a:schemeClr val="tx1">
                            <a:lumMod val="65000"/>
                            <a:lumOff val="35000"/>
                          </a:schemeClr>
                        </a:solidFill>
                        <a:latin typeface="Yekan Bakh"/>
                        <a:cs typeface="Yekan Bakh"/>
                      </a:endParaRPr>
                    </a:p>
                    <a:p>
                      <a:pPr algn="r" rtl="1">
                        <a:lnSpc>
                          <a:spcPct val="105000"/>
                        </a:lnSpc>
                      </a:pPr>
                      <a:r>
                        <a:rPr sz="800" b="0" dirty="0" err="1">
                          <a:solidFill>
                            <a:schemeClr val="tx1">
                              <a:lumMod val="65000"/>
                              <a:lumOff val="35000"/>
                            </a:schemeClr>
                          </a:solidFill>
                          <a:latin typeface="Yekan Bakh"/>
                          <a:cs typeface="Yekan Bakh"/>
                        </a:rPr>
                        <a:t>بنچمارک</a:t>
                      </a:r>
                      <a:r>
                        <a:rPr sz="800" b="0" dirty="0">
                          <a:solidFill>
                            <a:schemeClr val="tx1">
                              <a:lumMod val="65000"/>
                              <a:lumOff val="35000"/>
                            </a:schemeClr>
                          </a:solidFill>
                          <a:latin typeface="Yekan Bakh"/>
                          <a:cs typeface="Yekan Bakh"/>
                        </a:rPr>
                        <a:t> EEN ۵۶۹</a:t>
                      </a:r>
                      <a:r>
                        <a:rPr lang="fa-I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سازمان</a:t>
                      </a:r>
                      <a:r>
                        <a:rPr sz="800" b="0" dirty="0">
                          <a:solidFill>
                            <a:schemeClr val="tx1">
                              <a:lumMod val="65000"/>
                              <a:lumOff val="35000"/>
                            </a:schemeClr>
                          </a:solidFill>
                          <a:latin typeface="Yekan Bakh"/>
                          <a:cs typeface="Yekan Bakh"/>
                        </a:rPr>
                        <a:t> در۵۶ </a:t>
                      </a:r>
                      <a:r>
                        <a:rPr lang="fa-IR" sz="800" b="0" dirty="0">
                          <a:solidFill>
                            <a:schemeClr val="tx1">
                              <a:lumMod val="65000"/>
                              <a:lumOff val="35000"/>
                            </a:schemeClr>
                          </a:solidFill>
                          <a:latin typeface="Yekan Bakh"/>
                          <a:cs typeface="Yekan Bakh"/>
                        </a:rPr>
                        <a:t> ک</a:t>
                      </a:r>
                      <a:r>
                        <a:rPr sz="800" b="0" dirty="0" err="1">
                          <a:solidFill>
                            <a:schemeClr val="tx1">
                              <a:lumMod val="65000"/>
                              <a:lumOff val="35000"/>
                            </a:schemeClr>
                          </a:solidFill>
                          <a:latin typeface="Yekan Bakh"/>
                          <a:cs typeface="Yekan Bakh"/>
                        </a:rPr>
                        <a:t>شور</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به‌عنوان</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الگوی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شبکه</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شریک</a:t>
                      </a:r>
                      <a:r>
                        <a:rPr lang="fa-IR" sz="800" b="0" dirty="0">
                          <a:solidFill>
                            <a:schemeClr val="tx1">
                              <a:lumMod val="65000"/>
                              <a:lumOff val="35000"/>
                            </a:schemeClr>
                          </a:solidFill>
                          <a:latin typeface="Yekan Bakh"/>
                          <a:cs typeface="Yekan Bakh"/>
                        </a:rPr>
                        <a:t>)</a:t>
                      </a:r>
                      <a:endParaRPr sz="800" b="0" dirty="0">
                        <a:solidFill>
                          <a:schemeClr val="tx1">
                            <a:lumMod val="65000"/>
                            <a:lumOff val="35000"/>
                          </a:schemeClr>
                        </a:solidFill>
                        <a:latin typeface="Yekan Bakh"/>
                        <a:cs typeface="Yekan Bakh"/>
                      </a:endParaRPr>
                    </a:p>
                  </a:txBody>
                  <a:tcPr marL="50800" marR="50800" marT="38100" marB="38100" anchor="ctr">
                    <a:solidFill>
                      <a:schemeClr val="bg1"/>
                    </a:solidFill>
                  </a:tcPr>
                </a:tc>
                <a:tc>
                  <a:txBody>
                    <a:bodyPr/>
                    <a:lstStyle/>
                    <a:p>
                      <a:pPr algn="ctr" rtl="1">
                        <a:lnSpc>
                          <a:spcPct val="105000"/>
                        </a:lnSpc>
                      </a:pPr>
                      <a:r>
                        <a:rPr lang="fa-IR" sz="1050" b="1" dirty="0">
                          <a:solidFill>
                            <a:srgbClr val="00406C"/>
                          </a:solidFill>
                          <a:latin typeface="Yekan Bakh"/>
                          <a:cs typeface="Yekan Bakh"/>
                        </a:rPr>
                        <a:t>شواهد پشتیبان</a:t>
                      </a:r>
                    </a:p>
                  </a:txBody>
                  <a:tcPr marL="50800" marR="50800" marT="38100" marB="38100" anchor="ctr">
                    <a:solidFill>
                      <a:schemeClr val="bg1"/>
                    </a:solidFill>
                  </a:tcPr>
                </a:tc>
                <a:extLst>
                  <a:ext uri="{0D108BD9-81ED-4DB2-BD59-A6C34878D82A}">
                    <a16:rowId xmlns:a16="http://schemas.microsoft.com/office/drawing/2014/main" val="10008"/>
                  </a:ext>
                </a:extLst>
              </a:tr>
            </a:tbl>
          </a:graphicData>
        </a:graphic>
      </p:graphicFrame>
      <p:sp>
        <p:nvSpPr>
          <p:cNvPr id="8" name="Rectangle 7">
            <a:extLst>
              <a:ext uri="{FF2B5EF4-FFF2-40B4-BE49-F238E27FC236}">
                <a16:creationId xmlns:a16="http://schemas.microsoft.com/office/drawing/2014/main" id="{3A61B971-590A-6178-AF66-8B4270C43308}"/>
              </a:ext>
            </a:extLst>
          </p:cNvPr>
          <p:cNvSpPr/>
          <p:nvPr/>
        </p:nvSpPr>
        <p:spPr>
          <a:xfrm>
            <a:off x="457199" y="1918252"/>
            <a:ext cx="10786374" cy="3770270"/>
          </a:xfrm>
          <a:prstGeom prst="rect">
            <a:avLst/>
          </a:prstGeom>
          <a:no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0" name="Straight Connector 9">
            <a:extLst>
              <a:ext uri="{FF2B5EF4-FFF2-40B4-BE49-F238E27FC236}">
                <a16:creationId xmlns:a16="http://schemas.microsoft.com/office/drawing/2014/main" id="{96AA224A-F087-67A5-BF36-3C55AD9907A2}"/>
              </a:ext>
            </a:extLst>
          </p:cNvPr>
          <p:cNvCxnSpPr/>
          <p:nvPr/>
        </p:nvCxnSpPr>
        <p:spPr>
          <a:xfrm>
            <a:off x="457199" y="1759226"/>
            <a:ext cx="10786374" cy="0"/>
          </a:xfrm>
          <a:prstGeom prst="line">
            <a:avLst/>
          </a:prstGeom>
          <a:ln w="6350">
            <a:prstDash val="dash"/>
          </a:ln>
        </p:spPr>
        <p:style>
          <a:lnRef idx="1">
            <a:schemeClr val="accent2"/>
          </a:lnRef>
          <a:fillRef idx="0">
            <a:schemeClr val="accent2"/>
          </a:fillRef>
          <a:effectRef idx="0">
            <a:schemeClr val="accent2"/>
          </a:effectRef>
          <a:fontRef idx="minor">
            <a:schemeClr val="tx1"/>
          </a:fontRef>
        </p:style>
      </p:cxnSp>
      <p:grpSp>
        <p:nvGrpSpPr>
          <p:cNvPr id="12" name="Group 11">
            <a:extLst>
              <a:ext uri="{FF2B5EF4-FFF2-40B4-BE49-F238E27FC236}">
                <a16:creationId xmlns:a16="http://schemas.microsoft.com/office/drawing/2014/main" id="{D5C11D73-05A2-BA5D-2511-DCCC78651883}"/>
              </a:ext>
            </a:extLst>
          </p:cNvPr>
          <p:cNvGrpSpPr/>
          <p:nvPr/>
        </p:nvGrpSpPr>
        <p:grpSpPr>
          <a:xfrm>
            <a:off x="6423116" y="1293039"/>
            <a:ext cx="4820456" cy="396613"/>
            <a:chOff x="6423116" y="1293039"/>
            <a:chExt cx="4820456" cy="396613"/>
          </a:xfrm>
        </p:grpSpPr>
        <p:sp>
          <p:nvSpPr>
            <p:cNvPr id="5" name="Rectangle: Rounded Corners 4">
              <a:extLst>
                <a:ext uri="{FF2B5EF4-FFF2-40B4-BE49-F238E27FC236}">
                  <a16:creationId xmlns:a16="http://schemas.microsoft.com/office/drawing/2014/main" id="{18904C0E-69B8-BB8D-0833-EE26F751D7D8}"/>
                </a:ext>
              </a:extLst>
            </p:cNvPr>
            <p:cNvSpPr/>
            <p:nvPr/>
          </p:nvSpPr>
          <p:spPr>
            <a:xfrm>
              <a:off x="10355343" y="1293039"/>
              <a:ext cx="888229" cy="396613"/>
            </a:xfrm>
            <a:prstGeom prst="roundRect">
              <a:avLst/>
            </a:prstGeom>
            <a:solidFill>
              <a:srgbClr val="F0BE0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fa-IR" sz="1100" b="1" dirty="0">
                  <a:solidFill>
                    <a:schemeClr val="bg1"/>
                  </a:solidFill>
                  <a:latin typeface="Yekan Bakh" pitchFamily="2" charset="-78"/>
                  <a:ea typeface="Yekan Bakh" pitchFamily="2" charset="-78"/>
                  <a:cs typeface="Yekan Bakh" pitchFamily="2" charset="-78"/>
                </a:rPr>
                <a:t>نیاز محوری:</a:t>
              </a:r>
              <a:endParaRPr lang="en-GB" sz="1100" b="1" dirty="0">
                <a:solidFill>
                  <a:schemeClr val="bg1"/>
                </a:solidFill>
                <a:latin typeface="Yekan Bakh" pitchFamily="2" charset="-78"/>
                <a:ea typeface="Yekan Bakh" pitchFamily="2" charset="-78"/>
                <a:cs typeface="Yekan Bakh" pitchFamily="2" charset="-78"/>
              </a:endParaRPr>
            </a:p>
          </p:txBody>
        </p:sp>
        <p:sp>
          <p:nvSpPr>
            <p:cNvPr id="11" name="Rectangle: Rounded Corners 10">
              <a:extLst>
                <a:ext uri="{FF2B5EF4-FFF2-40B4-BE49-F238E27FC236}">
                  <a16:creationId xmlns:a16="http://schemas.microsoft.com/office/drawing/2014/main" id="{7E3695DF-D668-8C43-F31E-5142DD3D479E}"/>
                </a:ext>
              </a:extLst>
            </p:cNvPr>
            <p:cNvSpPr/>
            <p:nvPr/>
          </p:nvSpPr>
          <p:spPr>
            <a:xfrm>
              <a:off x="6423116" y="1293039"/>
              <a:ext cx="3928309" cy="396613"/>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fa-IR" sz="1000" dirty="0">
                  <a:solidFill>
                    <a:schemeClr val="tx1">
                      <a:lumMod val="65000"/>
                      <a:lumOff val="35000"/>
                    </a:schemeClr>
                  </a:solidFill>
                  <a:latin typeface="Yekan Bakh" pitchFamily="2" charset="-78"/>
                  <a:ea typeface="Yekan Bakh" pitchFamily="2" charset="-78"/>
                  <a:cs typeface="Yekan Bakh" pitchFamily="2" charset="-78"/>
                </a:rPr>
                <a:t>دسترسی به طرف ایرانی اعتبارسنجی‌شده و محافظت حین فرآیند</a:t>
              </a:r>
              <a:endParaRPr lang="en-GB" sz="1000" dirty="0">
                <a:solidFill>
                  <a:schemeClr val="tx1">
                    <a:lumMod val="65000"/>
                    <a:lumOff val="35000"/>
                  </a:schemeClr>
                </a:solidFill>
                <a:latin typeface="Yekan Bakh" pitchFamily="2" charset="-78"/>
                <a:ea typeface="Yekan Bakh" pitchFamily="2" charset="-78"/>
                <a:cs typeface="Yekan Bakh" pitchFamily="2" charset="-78"/>
              </a:endParaRPr>
            </a:p>
          </p:txBody>
        </p:sp>
      </p:grpSp>
      <p:sp>
        <p:nvSpPr>
          <p:cNvPr id="14" name="Rectangle: Rounded Corners 13">
            <a:extLst>
              <a:ext uri="{FF2B5EF4-FFF2-40B4-BE49-F238E27FC236}">
                <a16:creationId xmlns:a16="http://schemas.microsoft.com/office/drawing/2014/main" id="{B148E3D1-187D-A48D-5016-8248FDEB1B8B}"/>
              </a:ext>
            </a:extLst>
          </p:cNvPr>
          <p:cNvSpPr/>
          <p:nvPr/>
        </p:nvSpPr>
        <p:spPr>
          <a:xfrm>
            <a:off x="5279936" y="1293039"/>
            <a:ext cx="1122130" cy="396613"/>
          </a:xfrm>
          <a:prstGeom prst="roundRect">
            <a:avLst/>
          </a:prstGeom>
          <a:solidFill>
            <a:srgbClr val="F0BE0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fa-IR" sz="1100" b="1" dirty="0">
                <a:solidFill>
                  <a:schemeClr val="bg1"/>
                </a:solidFill>
                <a:latin typeface="Yekan Bakh" pitchFamily="2" charset="-78"/>
                <a:ea typeface="Yekan Bakh" pitchFamily="2" charset="-78"/>
                <a:cs typeface="Yekan Bakh" pitchFamily="2" charset="-78"/>
              </a:rPr>
              <a:t>تصمیم‌گیرنده:</a:t>
            </a:r>
            <a:endParaRPr lang="en-GB" sz="1100" b="1" dirty="0">
              <a:solidFill>
                <a:schemeClr val="bg1"/>
              </a:solidFill>
              <a:latin typeface="Yekan Bakh" pitchFamily="2" charset="-78"/>
              <a:ea typeface="Yekan Bakh" pitchFamily="2" charset="-78"/>
              <a:cs typeface="Yekan Bakh" pitchFamily="2" charset="-78"/>
            </a:endParaRPr>
          </a:p>
        </p:txBody>
      </p:sp>
      <p:sp>
        <p:nvSpPr>
          <p:cNvPr id="15" name="Rectangle: Rounded Corners 14">
            <a:extLst>
              <a:ext uri="{FF2B5EF4-FFF2-40B4-BE49-F238E27FC236}">
                <a16:creationId xmlns:a16="http://schemas.microsoft.com/office/drawing/2014/main" id="{336E75CB-C907-633C-707F-158C479C4015}"/>
              </a:ext>
            </a:extLst>
          </p:cNvPr>
          <p:cNvSpPr/>
          <p:nvPr/>
        </p:nvSpPr>
        <p:spPr>
          <a:xfrm>
            <a:off x="2569997" y="1293039"/>
            <a:ext cx="2688889" cy="396613"/>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fa-IR" sz="1000" dirty="0">
                <a:solidFill>
                  <a:schemeClr val="tx1">
                    <a:lumMod val="65000"/>
                    <a:lumOff val="35000"/>
                  </a:schemeClr>
                </a:solidFill>
                <a:latin typeface="Yekan Bakh" pitchFamily="2" charset="-78"/>
                <a:ea typeface="Yekan Bakh" pitchFamily="2" charset="-78"/>
                <a:cs typeface="Yekan Bakh" pitchFamily="2" charset="-78"/>
              </a:rPr>
              <a:t>مدیرعامل  + واحد انطباق/حقوقی حق وتو دارد  </a:t>
            </a:r>
            <a:endParaRPr lang="en-GB" sz="1000" dirty="0">
              <a:solidFill>
                <a:schemeClr val="tx1">
                  <a:lumMod val="65000"/>
                  <a:lumOff val="35000"/>
                </a:schemeClr>
              </a:solidFill>
              <a:latin typeface="Yekan Bakh" pitchFamily="2" charset="-78"/>
              <a:ea typeface="Yekan Bakh" pitchFamily="2" charset="-78"/>
              <a:cs typeface="Yekan Bakh" pitchFamily="2" charset="-78"/>
            </a:endParaRPr>
          </a:p>
        </p:txBody>
      </p:sp>
      <p:sp>
        <p:nvSpPr>
          <p:cNvPr id="16" name="Rectangle: Rounded Corners 15">
            <a:extLst>
              <a:ext uri="{FF2B5EF4-FFF2-40B4-BE49-F238E27FC236}">
                <a16:creationId xmlns:a16="http://schemas.microsoft.com/office/drawing/2014/main" id="{1F887E88-0436-16DA-36CB-C2DC11BE3D9C}"/>
              </a:ext>
            </a:extLst>
          </p:cNvPr>
          <p:cNvSpPr/>
          <p:nvPr/>
        </p:nvSpPr>
        <p:spPr>
          <a:xfrm>
            <a:off x="1965353" y="1293039"/>
            <a:ext cx="583594" cy="396613"/>
          </a:xfrm>
          <a:prstGeom prst="roundRect">
            <a:avLst/>
          </a:prstGeom>
          <a:solidFill>
            <a:srgbClr val="F0BE0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fa-IR" sz="1100" b="1" dirty="0">
                <a:solidFill>
                  <a:schemeClr val="bg1"/>
                </a:solidFill>
                <a:latin typeface="Yekan Bakh" pitchFamily="2" charset="-78"/>
                <a:ea typeface="Yekan Bakh" pitchFamily="2" charset="-78"/>
                <a:cs typeface="Yekan Bakh" pitchFamily="2" charset="-78"/>
              </a:rPr>
              <a:t>رفتار:</a:t>
            </a:r>
            <a:endParaRPr lang="en-GB" sz="1100" b="1" dirty="0">
              <a:solidFill>
                <a:schemeClr val="bg1"/>
              </a:solidFill>
              <a:latin typeface="Yekan Bakh" pitchFamily="2" charset="-78"/>
              <a:ea typeface="Yekan Bakh" pitchFamily="2" charset="-78"/>
              <a:cs typeface="Yekan Bakh" pitchFamily="2" charset="-78"/>
            </a:endParaRPr>
          </a:p>
        </p:txBody>
      </p:sp>
      <p:sp>
        <p:nvSpPr>
          <p:cNvPr id="17" name="Rectangle: Rounded Corners 16">
            <a:extLst>
              <a:ext uri="{FF2B5EF4-FFF2-40B4-BE49-F238E27FC236}">
                <a16:creationId xmlns:a16="http://schemas.microsoft.com/office/drawing/2014/main" id="{D6F2D801-1614-084D-154C-CC14F1965229}"/>
              </a:ext>
            </a:extLst>
          </p:cNvPr>
          <p:cNvSpPr/>
          <p:nvPr/>
        </p:nvSpPr>
        <p:spPr>
          <a:xfrm>
            <a:off x="457199" y="1293039"/>
            <a:ext cx="1487104" cy="396613"/>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fa-IR" sz="1000" dirty="0">
                <a:solidFill>
                  <a:schemeClr val="tx1">
                    <a:lumMod val="65000"/>
                    <a:lumOff val="35000"/>
                  </a:schemeClr>
                </a:solidFill>
                <a:latin typeface="Yekan Bakh" pitchFamily="2" charset="-78"/>
                <a:ea typeface="Yekan Bakh" pitchFamily="2" charset="-78"/>
                <a:cs typeface="Yekan Bakh" pitchFamily="2" charset="-78"/>
              </a:rPr>
              <a:t>فرآیندمحور</a:t>
            </a:r>
            <a:endParaRPr lang="en-GB" sz="1000" dirty="0">
              <a:solidFill>
                <a:schemeClr val="tx1">
                  <a:lumMod val="65000"/>
                  <a:lumOff val="35000"/>
                </a:schemeClr>
              </a:solidFill>
              <a:latin typeface="Yekan Bakh" pitchFamily="2" charset="-78"/>
              <a:ea typeface="Yekan Bakh" pitchFamily="2" charset="-78"/>
              <a:cs typeface="Yekan Bakh" pitchFamily="2" charset="-78"/>
            </a:endParaRPr>
          </a:p>
        </p:txBody>
      </p:sp>
    </p:spTree>
    <p:extLst>
      <p:ext uri="{BB962C8B-B14F-4D97-AF65-F5344CB8AC3E}">
        <p14:creationId xmlns:p14="http://schemas.microsoft.com/office/powerpoint/2010/main" val="1704879407"/>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CE93F4-03BF-A59F-440B-0BF575E615F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FC5F65E-A832-96EC-2163-62B81E0FA704}"/>
              </a:ext>
            </a:extLst>
          </p:cNvPr>
          <p:cNvSpPr>
            <a:spLocks noGrp="1"/>
          </p:cNvSpPr>
          <p:nvPr>
            <p:ph type="body" sz="quarter" idx="10"/>
          </p:nvPr>
        </p:nvSpPr>
        <p:spPr/>
        <p:txBody>
          <a:bodyPr/>
          <a:lstStyle/>
          <a:p>
            <a:r>
              <a:rPr lang="fa-IR" dirty="0"/>
              <a:t>تحلیل عمیق کانال — پرسونا 3</a:t>
            </a:r>
          </a:p>
        </p:txBody>
      </p:sp>
      <p:sp>
        <p:nvSpPr>
          <p:cNvPr id="3" name="Text Placeholder 2">
            <a:extLst>
              <a:ext uri="{FF2B5EF4-FFF2-40B4-BE49-F238E27FC236}">
                <a16:creationId xmlns:a16="http://schemas.microsoft.com/office/drawing/2014/main" id="{8D2136BF-DE02-4964-101B-EF4A7AEFAE18}"/>
              </a:ext>
            </a:extLst>
          </p:cNvPr>
          <p:cNvSpPr>
            <a:spLocks noGrp="1"/>
          </p:cNvSpPr>
          <p:nvPr>
            <p:ph type="body" sz="quarter" idx="12"/>
          </p:nvPr>
        </p:nvSpPr>
        <p:spPr/>
        <p:txBody>
          <a:bodyPr/>
          <a:lstStyle/>
          <a:p>
            <a:r>
              <a:rPr lang="fa-IR" dirty="0"/>
              <a:t>۳. کسب‌وکار مشتاق</a:t>
            </a:r>
          </a:p>
        </p:txBody>
      </p:sp>
      <p:graphicFrame>
        <p:nvGraphicFramePr>
          <p:cNvPr id="7" name="Table 6">
            <a:extLst>
              <a:ext uri="{FF2B5EF4-FFF2-40B4-BE49-F238E27FC236}">
                <a16:creationId xmlns:a16="http://schemas.microsoft.com/office/drawing/2014/main" id="{F8C9753D-A73A-FEA7-18E8-2353A90B950E}"/>
              </a:ext>
            </a:extLst>
          </p:cNvPr>
          <p:cNvGraphicFramePr>
            <a:graphicFrameLocks noGrp="1"/>
          </p:cNvGraphicFramePr>
          <p:nvPr>
            <p:extLst>
              <p:ext uri="{D42A27DB-BD31-4B8C-83A1-F6EECF244321}">
                <p14:modId xmlns:p14="http://schemas.microsoft.com/office/powerpoint/2010/main" val="132122908"/>
              </p:ext>
            </p:extLst>
          </p:nvPr>
        </p:nvGraphicFramePr>
        <p:xfrm>
          <a:off x="457199" y="1918254"/>
          <a:ext cx="10788648" cy="3775111"/>
        </p:xfrm>
        <a:graphic>
          <a:graphicData uri="http://schemas.openxmlformats.org/drawingml/2006/table">
            <a:tbl>
              <a:tblPr firstRow="1" bandRow="1">
                <a:tableStyleId>{5C22544A-7EE6-4342-B048-85BDC9FD1C3A}</a:tableStyleId>
              </a:tblPr>
              <a:tblGrid>
                <a:gridCol w="2697162">
                  <a:extLst>
                    <a:ext uri="{9D8B030D-6E8A-4147-A177-3AD203B41FA5}">
                      <a16:colId xmlns:a16="http://schemas.microsoft.com/office/drawing/2014/main" val="460191556"/>
                    </a:ext>
                  </a:extLst>
                </a:gridCol>
                <a:gridCol w="2697162">
                  <a:extLst>
                    <a:ext uri="{9D8B030D-6E8A-4147-A177-3AD203B41FA5}">
                      <a16:colId xmlns:a16="http://schemas.microsoft.com/office/drawing/2014/main" val="1589458168"/>
                    </a:ext>
                  </a:extLst>
                </a:gridCol>
                <a:gridCol w="2697162">
                  <a:extLst>
                    <a:ext uri="{9D8B030D-6E8A-4147-A177-3AD203B41FA5}">
                      <a16:colId xmlns:a16="http://schemas.microsoft.com/office/drawing/2014/main" val="2044792427"/>
                    </a:ext>
                  </a:extLst>
                </a:gridCol>
                <a:gridCol w="2697162">
                  <a:extLst>
                    <a:ext uri="{9D8B030D-6E8A-4147-A177-3AD203B41FA5}">
                      <a16:colId xmlns:a16="http://schemas.microsoft.com/office/drawing/2014/main" val="20000"/>
                    </a:ext>
                  </a:extLst>
                </a:gridCol>
              </a:tblGrid>
              <a:tr h="341440">
                <a:tc>
                  <a:txBody>
                    <a:bodyPr/>
                    <a:lstStyle/>
                    <a:p>
                      <a:pPr algn="ctr" rtl="1">
                        <a:lnSpc>
                          <a:spcPct val="105000"/>
                        </a:lnSpc>
                      </a:pPr>
                      <a:r>
                        <a:rPr sz="1100" b="1" dirty="0" err="1">
                          <a:solidFill>
                            <a:srgbClr val="FFFFFF"/>
                          </a:solidFill>
                          <a:latin typeface="Yekan Bakh" pitchFamily="2" charset="-78"/>
                          <a:ea typeface="Yekan Bakh" pitchFamily="2" charset="-78"/>
                          <a:cs typeface="Yekan Bakh" pitchFamily="2" charset="-78"/>
                        </a:rPr>
                        <a:t>خرید</a:t>
                      </a:r>
                      <a:endParaRPr sz="1100" b="1" dirty="0">
                        <a:solidFill>
                          <a:srgbClr val="FFFFFF"/>
                        </a:solidFill>
                        <a:latin typeface="Yekan Bakh" pitchFamily="2" charset="-78"/>
                        <a:ea typeface="Yekan Bakh" pitchFamily="2" charset="-78"/>
                        <a:cs typeface="Yekan Bakh" pitchFamily="2" charset="-78"/>
                      </a:endParaRPr>
                    </a:p>
                  </a:txBody>
                  <a:tcPr marL="50800" marR="50800" marT="38100" marB="38100" anchor="ctr">
                    <a:solidFill>
                      <a:srgbClr val="00406C">
                        <a:alpha val="30000"/>
                      </a:srgbClr>
                    </a:solidFill>
                  </a:tcPr>
                </a:tc>
                <a:tc>
                  <a:txBody>
                    <a:bodyPr/>
                    <a:lstStyle/>
                    <a:p>
                      <a:pPr algn="ctr" rtl="1">
                        <a:lnSpc>
                          <a:spcPct val="105000"/>
                        </a:lnSpc>
                      </a:pPr>
                      <a:r>
                        <a:rPr sz="1100" b="1" dirty="0" err="1">
                          <a:solidFill>
                            <a:srgbClr val="FFFFFF"/>
                          </a:solidFill>
                          <a:latin typeface="Yekan Bakh" pitchFamily="2" charset="-78"/>
                          <a:ea typeface="Yekan Bakh" pitchFamily="2" charset="-78"/>
                          <a:cs typeface="Yekan Bakh" pitchFamily="2" charset="-78"/>
                        </a:rPr>
                        <a:t>ارزیابی</a:t>
                      </a:r>
                      <a:endParaRPr sz="1100" b="1" dirty="0">
                        <a:solidFill>
                          <a:srgbClr val="FFFFFF"/>
                        </a:solidFill>
                        <a:latin typeface="Yekan Bakh" pitchFamily="2" charset="-78"/>
                        <a:ea typeface="Yekan Bakh" pitchFamily="2" charset="-78"/>
                        <a:cs typeface="Yekan Bakh" pitchFamily="2" charset="-78"/>
                      </a:endParaRPr>
                    </a:p>
                  </a:txBody>
                  <a:tcPr marL="50800" marR="50800" marT="38100" marB="38100" anchor="ctr">
                    <a:solidFill>
                      <a:srgbClr val="00406C">
                        <a:alpha val="70000"/>
                      </a:srgbClr>
                    </a:solidFill>
                  </a:tcPr>
                </a:tc>
                <a:tc>
                  <a:txBody>
                    <a:bodyPr/>
                    <a:lstStyle/>
                    <a:p>
                      <a:pPr algn="ctr" rtl="1">
                        <a:lnSpc>
                          <a:spcPct val="105000"/>
                        </a:lnSpc>
                      </a:pPr>
                      <a:r>
                        <a:rPr sz="1100" b="1" dirty="0" err="1">
                          <a:solidFill>
                            <a:srgbClr val="FFFFFF"/>
                          </a:solidFill>
                          <a:latin typeface="Yekan Bakh" pitchFamily="2" charset="-78"/>
                          <a:ea typeface="Yekan Bakh" pitchFamily="2" charset="-78"/>
                          <a:cs typeface="Yekan Bakh" pitchFamily="2" charset="-78"/>
                        </a:rPr>
                        <a:t>آگاهی‌سازی</a:t>
                      </a:r>
                      <a:endParaRPr sz="1100" b="1" dirty="0">
                        <a:solidFill>
                          <a:srgbClr val="FFFFFF"/>
                        </a:solidFill>
                        <a:latin typeface="Yekan Bakh" pitchFamily="2" charset="-78"/>
                        <a:ea typeface="Yekan Bakh" pitchFamily="2" charset="-78"/>
                        <a:cs typeface="Yekan Bakh" pitchFamily="2" charset="-78"/>
                      </a:endParaRPr>
                    </a:p>
                  </a:txBody>
                  <a:tcPr marL="50800" marR="50800" marT="38100" marB="38100" anchor="ctr">
                    <a:solidFill>
                      <a:srgbClr val="00406C"/>
                    </a:solidFill>
                  </a:tcPr>
                </a:tc>
                <a:tc>
                  <a:txBody>
                    <a:bodyPr/>
                    <a:lstStyle/>
                    <a:p>
                      <a:pPr algn="ctr" rtl="1">
                        <a:lnSpc>
                          <a:spcPct val="105000"/>
                        </a:lnSpc>
                      </a:pPr>
                      <a:endParaRPr sz="1100" dirty="0">
                        <a:latin typeface="Yekan Bakh" pitchFamily="2" charset="-78"/>
                        <a:ea typeface="Yekan Bakh" pitchFamily="2" charset="-78"/>
                        <a:cs typeface="Yekan Bakh" pitchFamily="2" charset="-78"/>
                      </a:endParaRPr>
                    </a:p>
                  </a:txBody>
                  <a:tcPr marL="50800" marR="50800" marT="38100" marB="38100" anchor="ctr">
                    <a:solidFill>
                      <a:schemeClr val="bg1"/>
                    </a:solidFill>
                  </a:tcPr>
                </a:tc>
                <a:extLst>
                  <a:ext uri="{0D108BD9-81ED-4DB2-BD59-A6C34878D82A}">
                    <a16:rowId xmlns:a16="http://schemas.microsoft.com/office/drawing/2014/main" val="10000"/>
                  </a:ext>
                </a:extLst>
              </a:tr>
              <a:tr h="705835">
                <a:tc>
                  <a:txBody>
                    <a:bodyPr/>
                    <a:lstStyle/>
                    <a:p>
                      <a:pPr algn="r" rtl="1">
                        <a:lnSpc>
                          <a:spcPct val="105000"/>
                        </a:lnSpc>
                      </a:pPr>
                      <a:r>
                        <a:rPr sz="800" b="1">
                          <a:solidFill>
                            <a:schemeClr val="tx1">
                              <a:lumMod val="65000"/>
                              <a:lumOff val="35000"/>
                            </a:schemeClr>
                          </a:solidFill>
                          <a:latin typeface="Yekan Bakh"/>
                          <a:cs typeface="Yekan Bakh"/>
                        </a:rPr>
                        <a:t>خرید دیجیتال بسته ارزیابی/آمادگی با تعرفه ثابت</a:t>
                      </a:r>
                    </a:p>
                  </a:txBody>
                  <a:tcPr marL="50800" marR="50800" marT="38100" marB="38100" anchor="ctr">
                    <a:solidFill>
                      <a:schemeClr val="bg1">
                        <a:lumMod val="95000"/>
                      </a:schemeClr>
                    </a:solidFill>
                  </a:tcPr>
                </a:tc>
                <a:tc>
                  <a:txBody>
                    <a:bodyPr/>
                    <a:lstStyle/>
                    <a:p>
                      <a:pPr algn="r" rtl="1">
                        <a:lnSpc>
                          <a:spcPct val="105000"/>
                        </a:lnSpc>
                      </a:pPr>
                      <a:r>
                        <a:rPr sz="800" b="1" dirty="0" err="1">
                          <a:solidFill>
                            <a:schemeClr val="tx1">
                              <a:lumMod val="65000"/>
                              <a:lumOff val="35000"/>
                            </a:schemeClr>
                          </a:solidFill>
                          <a:latin typeface="Yekan Bakh"/>
                          <a:cs typeface="Yekan Bakh"/>
                        </a:rPr>
                        <a:t>گزارش</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ارزیابی</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آمادگی</a:t>
                      </a:r>
                      <a:r>
                        <a:rPr sz="800" b="1" dirty="0">
                          <a:solidFill>
                            <a:schemeClr val="tx1">
                              <a:lumMod val="65000"/>
                              <a:lumOff val="35000"/>
                            </a:schemeClr>
                          </a:solidFill>
                          <a:latin typeface="Yekan Bakh"/>
                          <a:cs typeface="Yekan Bakh"/>
                        </a:rPr>
                        <a:t> </a:t>
                      </a:r>
                      <a:r>
                        <a:rPr lang="fa-IR" sz="800" b="1" dirty="0">
                          <a:solidFill>
                            <a:schemeClr val="tx1">
                              <a:lumMod val="65000"/>
                              <a:lumOff val="35000"/>
                            </a:schemeClr>
                          </a:solidFill>
                          <a:latin typeface="Yekan Bakh"/>
                          <a:cs typeface="Yekan Bakh"/>
                        </a:rPr>
                        <a:t>(</a:t>
                      </a:r>
                      <a:r>
                        <a:rPr sz="800" b="1" dirty="0" err="1">
                          <a:solidFill>
                            <a:schemeClr val="tx1">
                              <a:lumMod val="65000"/>
                              <a:lumOff val="35000"/>
                            </a:schemeClr>
                          </a:solidFill>
                          <a:latin typeface="Yekan Bakh"/>
                          <a:cs typeface="Yekan Bakh"/>
                        </a:rPr>
                        <a:t>خروجی</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خودکار</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محصول</a:t>
                      </a:r>
                      <a:r>
                        <a:rPr lang="fa-IR" sz="800" b="1" dirty="0">
                          <a:solidFill>
                            <a:schemeClr val="tx1">
                              <a:lumMod val="65000"/>
                              <a:lumOff val="35000"/>
                            </a:schemeClr>
                          </a:solidFill>
                          <a:latin typeface="Yekan Bakh"/>
                          <a:cs typeface="Yekan Bakh"/>
                        </a:rPr>
                        <a:t>)</a:t>
                      </a:r>
                    </a:p>
                    <a:p>
                      <a:pPr algn="r" rtl="1">
                        <a:lnSpc>
                          <a:spcPct val="105000"/>
                        </a:lnSpc>
                      </a:pPr>
                      <a:r>
                        <a:rPr lang="fa-IR" sz="800" b="1" dirty="0">
                          <a:solidFill>
                            <a:schemeClr val="tx1">
                              <a:lumMod val="65000"/>
                              <a:lumOff val="35000"/>
                            </a:schemeClr>
                          </a:solidFill>
                          <a:latin typeface="Yekan Bakh"/>
                          <a:cs typeface="Yekan Bakh"/>
                        </a:rPr>
                        <a:t> </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انتشار</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عمومی</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چارچوب</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استاندارد</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قابلیت</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معامله</a:t>
                      </a:r>
                      <a:endParaRPr sz="800" b="1" dirty="0">
                        <a:solidFill>
                          <a:schemeClr val="tx1">
                            <a:lumMod val="65000"/>
                            <a:lumOff val="35000"/>
                          </a:schemeClr>
                        </a:solidFill>
                        <a:latin typeface="Yekan Bakh"/>
                        <a:cs typeface="Yekan Bakh"/>
                      </a:endParaRPr>
                    </a:p>
                  </a:txBody>
                  <a:tcPr marL="50800" marR="50800" marT="38100" marB="38100" anchor="ctr">
                    <a:solidFill>
                      <a:schemeClr val="bg1">
                        <a:lumMod val="95000"/>
                      </a:schemeClr>
                    </a:solidFill>
                  </a:tcPr>
                </a:tc>
                <a:tc>
                  <a:txBody>
                    <a:bodyPr/>
                    <a:lstStyle/>
                    <a:p>
                      <a:pPr algn="r" rtl="1">
                        <a:lnSpc>
                          <a:spcPct val="105000"/>
                        </a:lnSpc>
                      </a:pPr>
                      <a:r>
                        <a:rPr sz="800" b="1" dirty="0" err="1">
                          <a:solidFill>
                            <a:schemeClr val="tx1">
                              <a:lumMod val="65000"/>
                              <a:lumOff val="35000"/>
                            </a:schemeClr>
                          </a:solidFill>
                          <a:latin typeface="Yekan Bakh"/>
                          <a:cs typeface="Yekan Bakh"/>
                        </a:rPr>
                        <a:t>قیف</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داخلی</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ارجاع</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از</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غربال</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پرسونا</a:t>
                      </a:r>
                      <a:r>
                        <a:rPr sz="800" b="1" dirty="0">
                          <a:solidFill>
                            <a:schemeClr val="tx1">
                              <a:lumMod val="65000"/>
                              <a:lumOff val="35000"/>
                            </a:schemeClr>
                          </a:solidFill>
                          <a:latin typeface="Yekan Bakh"/>
                          <a:cs typeface="Yekan Bakh"/>
                        </a:rPr>
                        <a:t> ۱ Cross-referral </a:t>
                      </a:r>
                      <a:r>
                        <a:rPr lang="fa-IR" sz="800" b="1" dirty="0">
                          <a:solidFill>
                            <a:schemeClr val="tx1">
                              <a:lumMod val="65000"/>
                              <a:lumOff val="35000"/>
                            </a:schemeClr>
                          </a:solidFill>
                          <a:latin typeface="Yekan Bakh"/>
                          <a:cs typeface="Yekan Bakh"/>
                        </a:rPr>
                        <a:t> (خ</a:t>
                      </a:r>
                      <a:r>
                        <a:rPr sz="800" b="1" dirty="0" err="1">
                          <a:solidFill>
                            <a:schemeClr val="tx1">
                              <a:lumMod val="65000"/>
                              <a:lumOff val="35000"/>
                            </a:schemeClr>
                          </a:solidFill>
                          <a:latin typeface="Yekan Bakh"/>
                          <a:cs typeface="Yekan Bakh"/>
                        </a:rPr>
                        <a:t>ودکار</a:t>
                      </a:r>
                      <a:r>
                        <a:rPr lang="fa-IR" sz="800" b="1" dirty="0">
                          <a:solidFill>
                            <a:schemeClr val="tx1">
                              <a:lumMod val="65000"/>
                              <a:lumOff val="35000"/>
                            </a:schemeClr>
                          </a:solidFill>
                          <a:latin typeface="Yekan Bakh"/>
                          <a:cs typeface="Yekan Bakh"/>
                        </a:rPr>
                        <a:t>)</a:t>
                      </a:r>
                    </a:p>
                    <a:p>
                      <a:pPr algn="r" rtl="1">
                        <a:lnSpc>
                          <a:spcPct val="105000"/>
                        </a:lnSpc>
                      </a:pPr>
                      <a:r>
                        <a:rPr sz="800" b="1" dirty="0">
                          <a:solidFill>
                            <a:schemeClr val="tx1">
                              <a:lumMod val="65000"/>
                              <a:lumOff val="35000"/>
                            </a:schemeClr>
                          </a:solidFill>
                          <a:latin typeface="Yekan Bakh"/>
                          <a:cs typeface="Yekan Bakh"/>
                        </a:rPr>
                        <a:t>+ </a:t>
                      </a:r>
                      <a:r>
                        <a:rPr lang="fa-I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انجمن‌های</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صنفی</a:t>
                      </a:r>
                      <a:r>
                        <a:rPr sz="800" b="1" dirty="0">
                          <a:solidFill>
                            <a:schemeClr val="tx1">
                              <a:lumMod val="65000"/>
                              <a:lumOff val="35000"/>
                            </a:schemeClr>
                          </a:solidFill>
                          <a:latin typeface="Yekan Bakh"/>
                          <a:cs typeface="Yekan Bakh"/>
                        </a:rPr>
                        <a:t> </a:t>
                      </a:r>
                      <a:endParaRPr lang="fa-IR" sz="800" b="1" dirty="0">
                        <a:solidFill>
                          <a:schemeClr val="tx1">
                            <a:lumMod val="65000"/>
                            <a:lumOff val="35000"/>
                          </a:schemeClr>
                        </a:solidFill>
                        <a:latin typeface="Yekan Bakh"/>
                        <a:cs typeface="Yekan Bakh"/>
                      </a:endParaRPr>
                    </a:p>
                    <a:p>
                      <a:pPr algn="r" rtl="1">
                        <a:lnSpc>
                          <a:spcPct val="105000"/>
                        </a:lnSpc>
                      </a:pPr>
                      <a:r>
                        <a:rPr sz="800" b="1" dirty="0">
                          <a:solidFill>
                            <a:schemeClr val="tx1">
                              <a:lumMod val="65000"/>
                              <a:lumOff val="35000"/>
                            </a:schemeClr>
                          </a:solidFill>
                          <a:latin typeface="Yekan Bakh"/>
                          <a:cs typeface="Yekan Bakh"/>
                        </a:rPr>
                        <a:t>+ </a:t>
                      </a:r>
                      <a:r>
                        <a:rPr lang="fa-I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ابزار</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خودارزیابی</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دیجیتال</a:t>
                      </a:r>
                      <a:r>
                        <a:rPr sz="800" b="1" dirty="0">
                          <a:solidFill>
                            <a:schemeClr val="tx1">
                              <a:lumMod val="65000"/>
                              <a:lumOff val="35000"/>
                            </a:schemeClr>
                          </a:solidFill>
                          <a:latin typeface="Yekan Bakh"/>
                          <a:cs typeface="Yekan Bakh"/>
                        </a:rPr>
                        <a:t>(Readiness Scorecard) </a:t>
                      </a:r>
                      <a:r>
                        <a:rPr lang="fa-I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به‌عنوان</a:t>
                      </a:r>
                      <a:r>
                        <a:rPr sz="800" b="1" dirty="0">
                          <a:solidFill>
                            <a:schemeClr val="tx1">
                              <a:lumMod val="65000"/>
                              <a:lumOff val="35000"/>
                            </a:schemeClr>
                          </a:solidFill>
                          <a:latin typeface="Yekan Bakh"/>
                          <a:cs typeface="Yekan Bakh"/>
                        </a:rPr>
                        <a:t> Lead Magnet</a:t>
                      </a:r>
                    </a:p>
                  </a:txBody>
                  <a:tcPr marL="50800" marR="50800" marT="38100" marB="38100" anchor="ctr">
                    <a:solidFill>
                      <a:schemeClr val="bg1">
                        <a:lumMod val="95000"/>
                      </a:schemeClr>
                    </a:solidFill>
                  </a:tcPr>
                </a:tc>
                <a:tc>
                  <a:txBody>
                    <a:bodyPr/>
                    <a:lstStyle/>
                    <a:p>
                      <a:pPr algn="ctr" rtl="1">
                        <a:lnSpc>
                          <a:spcPct val="105000"/>
                        </a:lnSpc>
                      </a:pPr>
                      <a:r>
                        <a:rPr sz="1050" b="1" dirty="0" err="1">
                          <a:solidFill>
                            <a:srgbClr val="00406C"/>
                          </a:solidFill>
                          <a:latin typeface="Yekan Bakh"/>
                          <a:cs typeface="Yekan Bakh"/>
                        </a:rPr>
                        <a:t>کانال</a:t>
                      </a:r>
                      <a:r>
                        <a:rPr sz="1050" b="1" dirty="0">
                          <a:solidFill>
                            <a:srgbClr val="00406C"/>
                          </a:solidFill>
                          <a:latin typeface="Yekan Bakh"/>
                          <a:cs typeface="Yekan Bakh"/>
                        </a:rPr>
                        <a:t> (Channel)</a:t>
                      </a:r>
                    </a:p>
                  </a:txBody>
                  <a:tcPr marL="50800" marR="50800" marT="38100" marB="38100" anchor="ctr">
                    <a:solidFill>
                      <a:schemeClr val="bg1">
                        <a:lumMod val="95000"/>
                      </a:schemeClr>
                    </a:solidFill>
                  </a:tcPr>
                </a:tc>
                <a:extLst>
                  <a:ext uri="{0D108BD9-81ED-4DB2-BD59-A6C34878D82A}">
                    <a16:rowId xmlns:a16="http://schemas.microsoft.com/office/drawing/2014/main" val="10001"/>
                  </a:ext>
                </a:extLst>
              </a:tr>
              <a:tr h="327387">
                <a:tc>
                  <a:txBody>
                    <a:bodyPr/>
                    <a:lstStyle/>
                    <a:p>
                      <a:pPr algn="r" rtl="1">
                        <a:lnSpc>
                          <a:spcPct val="105000"/>
                        </a:lnSpc>
                      </a:pPr>
                      <a:r>
                        <a:rPr lang="fa-IR" sz="800" b="0" dirty="0">
                          <a:solidFill>
                            <a:schemeClr val="tx1">
                              <a:lumMod val="65000"/>
                              <a:lumOff val="35000"/>
                            </a:schemeClr>
                          </a:solidFill>
                          <a:latin typeface="Yekan Bakh"/>
                          <a:cs typeface="Yekan Bakh"/>
                        </a:rPr>
                        <a:t>کانال تحت مالکیت + دیجیتال + سلف سرویس </a:t>
                      </a:r>
                    </a:p>
                  </a:txBody>
                  <a:tcPr marL="50800" marR="50800" marT="38100" marB="38100" anchor="ctr">
                    <a:solidFill>
                      <a:schemeClr val="bg1"/>
                    </a:solidFill>
                  </a:tcPr>
                </a:tc>
                <a:tc>
                  <a:txBody>
                    <a:bodyPr/>
                    <a:lstStyle/>
                    <a:p>
                      <a:pPr algn="r" rtl="1">
                        <a:lnSpc>
                          <a:spcPct val="105000"/>
                        </a:lnSpc>
                      </a:pPr>
                      <a:r>
                        <a:rPr lang="fa-IR" sz="800" b="0" dirty="0">
                          <a:solidFill>
                            <a:schemeClr val="tx1">
                              <a:lumMod val="65000"/>
                              <a:lumOff val="35000"/>
                            </a:schemeClr>
                          </a:solidFill>
                          <a:latin typeface="Yekan Bakh"/>
                          <a:cs typeface="Yekan Bakh"/>
                        </a:rPr>
                        <a:t>کانال تحت مالکیت + دیجیتال + سلف سرویس</a:t>
                      </a:r>
                    </a:p>
                  </a:txBody>
                  <a:tcPr marL="50800" marR="50800" marT="38100" marB="38100" anchor="ctr">
                    <a:solidFill>
                      <a:schemeClr val="bg1"/>
                    </a:solidFill>
                  </a:tcPr>
                </a:tc>
                <a:tc>
                  <a:txBody>
                    <a:bodyPr/>
                    <a:lstStyle/>
                    <a:p>
                      <a:pPr algn="r" rtl="1">
                        <a:lnSpc>
                          <a:spcPct val="105000"/>
                        </a:lnSpc>
                      </a:pPr>
                      <a:r>
                        <a:rPr lang="fa-IR" sz="800" b="0" dirty="0">
                          <a:solidFill>
                            <a:schemeClr val="tx1">
                              <a:lumMod val="65000"/>
                              <a:lumOff val="35000"/>
                            </a:schemeClr>
                          </a:solidFill>
                          <a:latin typeface="Yekan Bakh"/>
                          <a:cs typeface="Yekan Bakh"/>
                        </a:rPr>
                        <a:t>کانال تحت مالکیت + تعامل انسانی + دیجیتال + سلف سرویس</a:t>
                      </a:r>
                    </a:p>
                    <a:p>
                      <a:pPr algn="r" rtl="1">
                        <a:lnSpc>
                          <a:spcPct val="105000"/>
                        </a:lnSpc>
                      </a:pPr>
                      <a:r>
                        <a:rPr lang="fa-IR" sz="800" b="0" dirty="0">
                          <a:solidFill>
                            <a:schemeClr val="tx1">
                              <a:lumMod val="65000"/>
                              <a:lumOff val="35000"/>
                            </a:schemeClr>
                          </a:solidFill>
                          <a:latin typeface="Yekan Bakh"/>
                          <a:cs typeface="Yekan Bakh"/>
                        </a:rPr>
                        <a:t> کانال بیرونی + تعامل انسانی + دیجیتال + سلف سرویس</a:t>
                      </a:r>
                    </a:p>
                  </a:txBody>
                  <a:tcPr marL="50800" marR="50800" marT="38100" marB="38100" anchor="ctr">
                    <a:solidFill>
                      <a:schemeClr val="bg1"/>
                    </a:solidFill>
                  </a:tcPr>
                </a:tc>
                <a:tc>
                  <a:txBody>
                    <a:bodyPr/>
                    <a:lstStyle/>
                    <a:p>
                      <a:pPr algn="ctr" rtl="1">
                        <a:lnSpc>
                          <a:spcPct val="105000"/>
                        </a:lnSpc>
                      </a:pPr>
                      <a:r>
                        <a:rPr sz="1050" b="1" dirty="0" err="1">
                          <a:solidFill>
                            <a:srgbClr val="00406C"/>
                          </a:solidFill>
                          <a:latin typeface="Yekan Bakh"/>
                          <a:cs typeface="Yekan Bakh"/>
                        </a:rPr>
                        <a:t>نوع</a:t>
                      </a:r>
                      <a:r>
                        <a:rPr lang="fa-IR" sz="1050" b="1" dirty="0">
                          <a:solidFill>
                            <a:srgbClr val="00406C"/>
                          </a:solidFill>
                          <a:latin typeface="Yekan Bakh"/>
                          <a:cs typeface="Yekan Bakh"/>
                        </a:rPr>
                        <a:t> / </a:t>
                      </a:r>
                      <a:r>
                        <a:rPr sz="1050" b="1" dirty="0" err="1">
                          <a:solidFill>
                            <a:srgbClr val="00406C"/>
                          </a:solidFill>
                          <a:latin typeface="Yekan Bakh"/>
                          <a:cs typeface="Yekan Bakh"/>
                        </a:rPr>
                        <a:t>مدل</a:t>
                      </a:r>
                      <a:r>
                        <a:rPr sz="1050" b="1" dirty="0">
                          <a:solidFill>
                            <a:srgbClr val="00406C"/>
                          </a:solidFill>
                          <a:latin typeface="Yekan Bakh"/>
                          <a:cs typeface="Yekan Bakh"/>
                        </a:rPr>
                        <a:t> </a:t>
                      </a:r>
                      <a:r>
                        <a:rPr sz="1050" b="1" dirty="0" err="1">
                          <a:solidFill>
                            <a:srgbClr val="00406C"/>
                          </a:solidFill>
                          <a:latin typeface="Yekan Bakh"/>
                          <a:cs typeface="Yekan Bakh"/>
                        </a:rPr>
                        <a:t>کانال</a:t>
                      </a:r>
                      <a:endParaRPr sz="1050" b="1" dirty="0">
                        <a:solidFill>
                          <a:srgbClr val="00406C"/>
                        </a:solidFill>
                        <a:latin typeface="Yekan Bakh"/>
                        <a:cs typeface="Yekan Bakh"/>
                      </a:endParaRPr>
                    </a:p>
                  </a:txBody>
                  <a:tcPr marL="50800" marR="50800" marT="38100" marB="38100" anchor="ctr">
                    <a:solidFill>
                      <a:schemeClr val="bg1"/>
                    </a:solidFill>
                  </a:tcPr>
                </a:tc>
                <a:extLst>
                  <a:ext uri="{0D108BD9-81ED-4DB2-BD59-A6C34878D82A}">
                    <a16:rowId xmlns:a16="http://schemas.microsoft.com/office/drawing/2014/main" val="10002"/>
                  </a:ext>
                </a:extLst>
              </a:tr>
              <a:tr h="389252">
                <a:tc>
                  <a:txBody>
                    <a:bodyPr/>
                    <a:lstStyle/>
                    <a:p>
                      <a:pPr algn="r" rtl="1">
                        <a:lnSpc>
                          <a:spcPct val="105000"/>
                        </a:lnSpc>
                      </a:pPr>
                      <a:r>
                        <a:rPr sz="800" b="0">
                          <a:solidFill>
                            <a:schemeClr val="tx1">
                              <a:lumMod val="65000"/>
                              <a:lumOff val="35000"/>
                            </a:schemeClr>
                          </a:solidFill>
                          <a:latin typeface="Yekan Bakh"/>
                          <a:cs typeface="Yekan Bakh"/>
                        </a:rPr>
                        <a:t>تکمیل مسیر آنلاین بدون واسطه انسانی</a:t>
                      </a:r>
                    </a:p>
                  </a:txBody>
                  <a:tcPr marL="50800" marR="50800" marT="38100" marB="38100" anchor="ctr">
                    <a:solidFill>
                      <a:schemeClr val="bg1">
                        <a:lumMod val="95000"/>
                      </a:schemeClr>
                    </a:solidFill>
                  </a:tcPr>
                </a:tc>
                <a:tc>
                  <a:txBody>
                    <a:bodyPr/>
                    <a:lstStyle/>
                    <a:p>
                      <a:pPr algn="r" rtl="1">
                        <a:lnSpc>
                          <a:spcPct val="105000"/>
                        </a:lnSpc>
                      </a:pPr>
                      <a:r>
                        <a:rPr sz="800" b="0" dirty="0" err="1">
                          <a:solidFill>
                            <a:schemeClr val="tx1">
                              <a:lumMod val="65000"/>
                              <a:lumOff val="35000"/>
                            </a:schemeClr>
                          </a:solidFill>
                          <a:latin typeface="Yekan Bakh"/>
                          <a:cs typeface="Yekan Bakh"/>
                        </a:rPr>
                        <a:t>تداوم</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همان</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مسیر</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دیجیتال</a:t>
                      </a:r>
                      <a:r>
                        <a:rPr sz="800" b="0" dirty="0">
                          <a:solidFill>
                            <a:schemeClr val="tx1">
                              <a:lumMod val="65000"/>
                              <a:lumOff val="35000"/>
                            </a:schemeClr>
                          </a:solidFill>
                          <a:latin typeface="Yekan Bakh"/>
                          <a:cs typeface="Yekan Bakh"/>
                        </a:rPr>
                        <a:t> </a:t>
                      </a:r>
                      <a:r>
                        <a:rPr lang="fa-IR" sz="800" b="0" dirty="0">
                          <a:solidFill>
                            <a:schemeClr val="tx1">
                              <a:lumMod val="65000"/>
                              <a:lumOff val="35000"/>
                            </a:schemeClr>
                          </a:solidFill>
                          <a:latin typeface="Yekan Bakh"/>
                          <a:cs typeface="Yekan Bakh"/>
                        </a:rPr>
                        <a:t>(</a:t>
                      </a:r>
                      <a:r>
                        <a:rPr sz="800" b="0" dirty="0" err="1">
                          <a:solidFill>
                            <a:schemeClr val="tx1">
                              <a:lumMod val="65000"/>
                              <a:lumOff val="35000"/>
                            </a:schemeClr>
                          </a:solidFill>
                          <a:latin typeface="Yekan Bakh"/>
                          <a:cs typeface="Yekan Bakh"/>
                        </a:rPr>
                        <a:t>بدون</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ورود</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انسانی</a:t>
                      </a:r>
                      <a:r>
                        <a:rPr lang="fa-IR" sz="800" b="0" dirty="0">
                          <a:solidFill>
                            <a:schemeClr val="tx1">
                              <a:lumMod val="65000"/>
                              <a:lumOff val="35000"/>
                            </a:schemeClr>
                          </a:solidFill>
                          <a:latin typeface="Yekan Bakh"/>
                          <a:cs typeface="Yekan Bakh"/>
                        </a:rPr>
                        <a:t>)</a:t>
                      </a:r>
                      <a:endParaRPr sz="800" b="0" dirty="0">
                        <a:solidFill>
                          <a:schemeClr val="tx1">
                            <a:lumMod val="65000"/>
                            <a:lumOff val="35000"/>
                          </a:schemeClr>
                        </a:solidFill>
                        <a:latin typeface="Yekan Bakh"/>
                        <a:cs typeface="Yekan Bakh"/>
                      </a:endParaRPr>
                    </a:p>
                  </a:txBody>
                  <a:tcPr marL="50800" marR="50800" marT="38100" marB="38100" anchor="ctr">
                    <a:solidFill>
                      <a:schemeClr val="bg1">
                        <a:lumMod val="95000"/>
                      </a:schemeClr>
                    </a:solidFill>
                  </a:tcPr>
                </a:tc>
                <a:tc>
                  <a:txBody>
                    <a:bodyPr/>
                    <a:lstStyle/>
                    <a:p>
                      <a:pPr algn="r" rtl="1">
                        <a:lnSpc>
                          <a:spcPct val="105000"/>
                        </a:lnSpc>
                      </a:pPr>
                      <a:r>
                        <a:rPr sz="800" b="0" dirty="0" err="1">
                          <a:solidFill>
                            <a:schemeClr val="tx1">
                              <a:lumMod val="65000"/>
                              <a:lumOff val="35000"/>
                            </a:schemeClr>
                          </a:solidFill>
                          <a:latin typeface="Yekan Bakh"/>
                          <a:cs typeface="Yekan Bakh"/>
                        </a:rPr>
                        <a:t>ارجاع</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داخلی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خودکار</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از</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مسیر</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پرسونا</a:t>
                      </a:r>
                      <a:r>
                        <a:rPr sz="800" b="0" dirty="0">
                          <a:solidFill>
                            <a:schemeClr val="tx1">
                              <a:lumMod val="65000"/>
                              <a:lumOff val="35000"/>
                            </a:schemeClr>
                          </a:solidFill>
                          <a:latin typeface="Yekan Bakh"/>
                          <a:cs typeface="Yekan Bakh"/>
                        </a:rPr>
                        <a:t> ۱؛ </a:t>
                      </a:r>
                      <a:r>
                        <a:rPr sz="800" b="0" dirty="0" err="1">
                          <a:solidFill>
                            <a:schemeClr val="tx1">
                              <a:lumMod val="65000"/>
                              <a:lumOff val="35000"/>
                            </a:schemeClr>
                          </a:solidFill>
                          <a:latin typeface="Yekan Bakh"/>
                          <a:cs typeface="Yekan Bakh"/>
                        </a:rPr>
                        <a:t>معرفی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از</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انجمن</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صنفی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کشف</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آنلاین</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ابزار</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خودارزیابی</a:t>
                      </a:r>
                      <a:endParaRPr sz="800" b="0" dirty="0">
                        <a:solidFill>
                          <a:schemeClr val="tx1">
                            <a:lumMod val="65000"/>
                            <a:lumOff val="35000"/>
                          </a:schemeClr>
                        </a:solidFill>
                        <a:latin typeface="Yekan Bakh"/>
                        <a:cs typeface="Yekan Bakh"/>
                      </a:endParaRPr>
                    </a:p>
                  </a:txBody>
                  <a:tcPr marL="50800" marR="50800" marT="38100" marB="38100" anchor="ctr">
                    <a:solidFill>
                      <a:schemeClr val="bg1">
                        <a:lumMod val="95000"/>
                      </a:schemeClr>
                    </a:solidFill>
                  </a:tcPr>
                </a:tc>
                <a:tc>
                  <a:txBody>
                    <a:bodyPr/>
                    <a:lstStyle/>
                    <a:p>
                      <a:pPr algn="ctr" rtl="1">
                        <a:lnSpc>
                          <a:spcPct val="105000"/>
                        </a:lnSpc>
                      </a:pPr>
                      <a:r>
                        <a:rPr sz="1050" b="1" dirty="0" err="1">
                          <a:solidFill>
                            <a:srgbClr val="00406C"/>
                          </a:solidFill>
                          <a:latin typeface="Yekan Bakh"/>
                          <a:cs typeface="Yekan Bakh"/>
                        </a:rPr>
                        <a:t>منبع</a:t>
                      </a:r>
                      <a:r>
                        <a:rPr sz="1050" b="1" dirty="0">
                          <a:solidFill>
                            <a:srgbClr val="00406C"/>
                          </a:solidFill>
                          <a:latin typeface="Yekan Bakh"/>
                          <a:cs typeface="Yekan Bakh"/>
                        </a:rPr>
                        <a:t> </a:t>
                      </a:r>
                      <a:r>
                        <a:rPr sz="1050" b="1" dirty="0" err="1">
                          <a:solidFill>
                            <a:srgbClr val="00406C"/>
                          </a:solidFill>
                          <a:latin typeface="Yekan Bakh"/>
                          <a:cs typeface="Yekan Bakh"/>
                        </a:rPr>
                        <a:t>دسترسی</a:t>
                      </a:r>
                      <a:r>
                        <a:rPr sz="1050" b="1" dirty="0">
                          <a:solidFill>
                            <a:srgbClr val="00406C"/>
                          </a:solidFill>
                          <a:latin typeface="Yekan Bakh"/>
                          <a:cs typeface="Yekan Bakh"/>
                        </a:rPr>
                        <a:t>/ </a:t>
                      </a:r>
                      <a:r>
                        <a:rPr lang="fa-IR" sz="1050" b="1" dirty="0">
                          <a:solidFill>
                            <a:srgbClr val="00406C"/>
                          </a:solidFill>
                          <a:latin typeface="Yekan Bakh"/>
                          <a:cs typeface="Yekan Bakh"/>
                        </a:rPr>
                        <a:t> </a:t>
                      </a:r>
                      <a:r>
                        <a:rPr sz="1050" b="1" dirty="0" err="1">
                          <a:solidFill>
                            <a:srgbClr val="00406C"/>
                          </a:solidFill>
                          <a:latin typeface="Yekan Bakh"/>
                          <a:cs typeface="Yekan Bakh"/>
                        </a:rPr>
                        <a:t>جذب</a:t>
                      </a:r>
                      <a:endParaRPr sz="1050" b="1" dirty="0">
                        <a:solidFill>
                          <a:srgbClr val="00406C"/>
                        </a:solidFill>
                        <a:latin typeface="Yekan Bakh"/>
                        <a:cs typeface="Yekan Bakh"/>
                      </a:endParaRPr>
                    </a:p>
                  </a:txBody>
                  <a:tcPr marL="50800" marR="50800" marT="38100" marB="38100" anchor="ctr">
                    <a:solidFill>
                      <a:schemeClr val="bg1">
                        <a:lumMod val="95000"/>
                      </a:schemeClr>
                    </a:solidFill>
                  </a:tcPr>
                </a:tc>
                <a:extLst>
                  <a:ext uri="{0D108BD9-81ED-4DB2-BD59-A6C34878D82A}">
                    <a16:rowId xmlns:a16="http://schemas.microsoft.com/office/drawing/2014/main" val="10003"/>
                  </a:ext>
                </a:extLst>
              </a:tr>
              <a:tr h="327387">
                <a:tc>
                  <a:txBody>
                    <a:bodyPr/>
                    <a:lstStyle/>
                    <a:p>
                      <a:pPr algn="r" rtl="1">
                        <a:lnSpc>
                          <a:spcPct val="105000"/>
                        </a:lnSpc>
                      </a:pPr>
                      <a:r>
                        <a:rPr sz="800" b="0">
                          <a:solidFill>
                            <a:schemeClr val="tx1">
                              <a:lumMod val="65000"/>
                              <a:lumOff val="35000"/>
                            </a:schemeClr>
                          </a:solidFill>
                          <a:latin typeface="Yekan Bakh"/>
                          <a:cs typeface="Yekan Bakh"/>
                        </a:rPr>
                        <a:t>صفحه پرداخت/تسویه آنلاین</a:t>
                      </a:r>
                    </a:p>
                  </a:txBody>
                  <a:tcPr marL="50800" marR="50800" marT="38100" marB="38100" anchor="ctr">
                    <a:solidFill>
                      <a:schemeClr val="bg1"/>
                    </a:solidFill>
                  </a:tcPr>
                </a:tc>
                <a:tc>
                  <a:txBody>
                    <a:bodyPr/>
                    <a:lstStyle/>
                    <a:p>
                      <a:pPr algn="r" rtl="1">
                        <a:lnSpc>
                          <a:spcPct val="105000"/>
                        </a:lnSpc>
                      </a:pPr>
                      <a:r>
                        <a:rPr sz="800" b="0">
                          <a:solidFill>
                            <a:schemeClr val="tx1">
                              <a:lumMod val="65000"/>
                              <a:lumOff val="35000"/>
                            </a:schemeClr>
                          </a:solidFill>
                          <a:latin typeface="Yekan Bakh"/>
                          <a:cs typeface="Yekan Bakh"/>
                        </a:rPr>
                        <a:t>داشبورد/گزارش آنلاین</a:t>
                      </a:r>
                    </a:p>
                  </a:txBody>
                  <a:tcPr marL="50800" marR="50800" marT="38100" marB="38100" anchor="ctr">
                    <a:solidFill>
                      <a:schemeClr val="bg1"/>
                    </a:solidFill>
                  </a:tcPr>
                </a:tc>
                <a:tc>
                  <a:txBody>
                    <a:bodyPr/>
                    <a:lstStyle/>
                    <a:p>
                      <a:pPr algn="r" rtl="1">
                        <a:lnSpc>
                          <a:spcPct val="105000"/>
                        </a:lnSpc>
                      </a:pPr>
                      <a:r>
                        <a:rPr sz="800" b="0" dirty="0" err="1">
                          <a:solidFill>
                            <a:schemeClr val="tx1">
                              <a:lumMod val="65000"/>
                              <a:lumOff val="35000"/>
                            </a:schemeClr>
                          </a:solidFill>
                          <a:latin typeface="Yekan Bakh"/>
                          <a:cs typeface="Yekan Bakh"/>
                        </a:rPr>
                        <a:t>لینک</a:t>
                      </a:r>
                      <a:r>
                        <a:rPr sz="800" b="0" dirty="0">
                          <a:solidFill>
                            <a:schemeClr val="tx1">
                              <a:lumMod val="65000"/>
                              <a:lumOff val="35000"/>
                            </a:schemeClr>
                          </a:solidFill>
                          <a:latin typeface="Yekan Bakh"/>
                          <a:cs typeface="Yekan Bakh"/>
                        </a:rPr>
                        <a:t>/</a:t>
                      </a:r>
                      <a:r>
                        <a:rPr sz="800" b="0" dirty="0" err="1">
                          <a:solidFill>
                            <a:schemeClr val="tx1">
                              <a:lumMod val="65000"/>
                              <a:lumOff val="35000"/>
                            </a:schemeClr>
                          </a:solidFill>
                          <a:latin typeface="Yekan Bakh"/>
                          <a:cs typeface="Yekan Bakh"/>
                        </a:rPr>
                        <a:t>ایمیل</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ارجاع</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داخلی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صفحه</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فرود</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ابزار</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خودارزیابی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آنلاین</a:t>
                      </a:r>
                      <a:endParaRPr sz="800" b="0" dirty="0">
                        <a:solidFill>
                          <a:schemeClr val="tx1">
                            <a:lumMod val="65000"/>
                            <a:lumOff val="35000"/>
                          </a:schemeClr>
                        </a:solidFill>
                        <a:latin typeface="Yekan Bakh"/>
                        <a:cs typeface="Yekan Bakh"/>
                      </a:endParaRPr>
                    </a:p>
                  </a:txBody>
                  <a:tcPr marL="50800" marR="50800" marT="38100" marB="38100" anchor="ctr">
                    <a:solidFill>
                      <a:schemeClr val="bg1"/>
                    </a:solidFill>
                  </a:tcPr>
                </a:tc>
                <a:tc>
                  <a:txBody>
                    <a:bodyPr/>
                    <a:lstStyle/>
                    <a:p>
                      <a:pPr algn="ctr" rtl="1">
                        <a:lnSpc>
                          <a:spcPct val="105000"/>
                        </a:lnSpc>
                      </a:pPr>
                      <a:r>
                        <a:rPr sz="1050" b="1" dirty="0" err="1">
                          <a:solidFill>
                            <a:srgbClr val="00406C"/>
                          </a:solidFill>
                          <a:latin typeface="Yekan Bakh"/>
                          <a:cs typeface="Yekan Bakh"/>
                        </a:rPr>
                        <a:t>نقطه</a:t>
                      </a:r>
                      <a:r>
                        <a:rPr sz="1050" b="1" dirty="0">
                          <a:solidFill>
                            <a:srgbClr val="00406C"/>
                          </a:solidFill>
                          <a:latin typeface="Yekan Bakh"/>
                          <a:cs typeface="Yekan Bakh"/>
                        </a:rPr>
                        <a:t> </a:t>
                      </a:r>
                      <a:r>
                        <a:rPr sz="1050" b="1" dirty="0" err="1">
                          <a:solidFill>
                            <a:srgbClr val="00406C"/>
                          </a:solidFill>
                          <a:latin typeface="Yekan Bakh"/>
                          <a:cs typeface="Yekan Bakh"/>
                        </a:rPr>
                        <a:t>تماس</a:t>
                      </a:r>
                      <a:endParaRPr sz="1050" b="1" dirty="0">
                        <a:solidFill>
                          <a:srgbClr val="00406C"/>
                        </a:solidFill>
                        <a:latin typeface="Yekan Bakh"/>
                        <a:cs typeface="Yekan Bakh"/>
                      </a:endParaRPr>
                    </a:p>
                  </a:txBody>
                  <a:tcPr marL="50800" marR="50800" marT="38100" marB="38100" anchor="ctr">
                    <a:solidFill>
                      <a:schemeClr val="bg1"/>
                    </a:solidFill>
                  </a:tcPr>
                </a:tc>
                <a:extLst>
                  <a:ext uri="{0D108BD9-81ED-4DB2-BD59-A6C34878D82A}">
                    <a16:rowId xmlns:a16="http://schemas.microsoft.com/office/drawing/2014/main" val="10004"/>
                  </a:ext>
                </a:extLst>
              </a:tr>
              <a:tr h="373033">
                <a:tc>
                  <a:txBody>
                    <a:bodyPr/>
                    <a:lstStyle/>
                    <a:p>
                      <a:pPr algn="r" rtl="1">
                        <a:lnSpc>
                          <a:spcPct val="105000"/>
                        </a:lnSpc>
                      </a:pPr>
                      <a:r>
                        <a:rPr sz="800" b="0">
                          <a:solidFill>
                            <a:schemeClr val="tx1">
                              <a:lumMod val="65000"/>
                              <a:lumOff val="35000"/>
                            </a:schemeClr>
                          </a:solidFill>
                          <a:latin typeface="Yekan Bakh"/>
                          <a:cs typeface="Yekan Bakh"/>
                        </a:rPr>
                        <a:t>پرداخت آنلاین و دریافت خودکار خدمت</a:t>
                      </a:r>
                    </a:p>
                  </a:txBody>
                  <a:tcPr marL="50800" marR="50800" marT="38100" marB="38100" anchor="ctr">
                    <a:solidFill>
                      <a:schemeClr val="bg1">
                        <a:lumMod val="95000"/>
                      </a:schemeClr>
                    </a:solidFill>
                  </a:tcPr>
                </a:tc>
                <a:tc>
                  <a:txBody>
                    <a:bodyPr/>
                    <a:lstStyle/>
                    <a:p>
                      <a:pPr algn="r" rtl="1">
                        <a:lnSpc>
                          <a:spcPct val="105000"/>
                        </a:lnSpc>
                      </a:pPr>
                      <a:r>
                        <a:rPr sz="800" b="0">
                          <a:solidFill>
                            <a:schemeClr val="tx1">
                              <a:lumMod val="65000"/>
                              <a:lumOff val="35000"/>
                            </a:schemeClr>
                          </a:solidFill>
                          <a:latin typeface="Yekan Bakh"/>
                          <a:cs typeface="Yekan Bakh"/>
                        </a:rPr>
                        <a:t>مرور نتیجه ارزیابی و مقایسه با استاندارد منتشرشده</a:t>
                      </a:r>
                    </a:p>
                  </a:txBody>
                  <a:tcPr marL="50800" marR="50800" marT="38100" marB="38100" anchor="ctr">
                    <a:solidFill>
                      <a:schemeClr val="bg1">
                        <a:lumMod val="95000"/>
                      </a:schemeClr>
                    </a:solidFill>
                  </a:tcPr>
                </a:tc>
                <a:tc>
                  <a:txBody>
                    <a:bodyPr/>
                    <a:lstStyle/>
                    <a:p>
                      <a:pPr algn="r" rtl="1">
                        <a:lnSpc>
                          <a:spcPct val="105000"/>
                        </a:lnSpc>
                      </a:pPr>
                      <a:r>
                        <a:rPr sz="800" b="0" dirty="0" err="1">
                          <a:solidFill>
                            <a:schemeClr val="tx1">
                              <a:lumMod val="65000"/>
                              <a:lumOff val="35000"/>
                            </a:schemeClr>
                          </a:solidFill>
                          <a:latin typeface="Yekan Bakh"/>
                          <a:cs typeface="Yekan Bakh"/>
                        </a:rPr>
                        <a:t>تکمیل</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ابزار</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خودارزیابی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آنلاین</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دریافت</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گزارش</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اولیه</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آمادگی</a:t>
                      </a:r>
                      <a:endParaRPr sz="800" b="0" dirty="0">
                        <a:solidFill>
                          <a:schemeClr val="tx1">
                            <a:lumMod val="65000"/>
                            <a:lumOff val="35000"/>
                          </a:schemeClr>
                        </a:solidFill>
                        <a:latin typeface="Yekan Bakh"/>
                        <a:cs typeface="Yekan Bakh"/>
                      </a:endParaRPr>
                    </a:p>
                  </a:txBody>
                  <a:tcPr marL="50800" marR="50800" marT="38100" marB="38100" anchor="ctr">
                    <a:solidFill>
                      <a:schemeClr val="bg1">
                        <a:lumMod val="95000"/>
                      </a:schemeClr>
                    </a:solidFill>
                  </a:tcPr>
                </a:tc>
                <a:tc>
                  <a:txBody>
                    <a:bodyPr/>
                    <a:lstStyle/>
                    <a:p>
                      <a:pPr algn="ctr" rtl="1">
                        <a:lnSpc>
                          <a:spcPct val="105000"/>
                        </a:lnSpc>
                      </a:pPr>
                      <a:r>
                        <a:rPr sz="1050" b="1" dirty="0" err="1">
                          <a:solidFill>
                            <a:srgbClr val="00406C"/>
                          </a:solidFill>
                          <a:latin typeface="Yekan Bakh"/>
                          <a:cs typeface="Yekan Bakh"/>
                        </a:rPr>
                        <a:t>فعالیت</a:t>
                      </a:r>
                      <a:r>
                        <a:rPr sz="1050" b="1" dirty="0">
                          <a:solidFill>
                            <a:srgbClr val="00406C"/>
                          </a:solidFill>
                          <a:latin typeface="Yekan Bakh"/>
                          <a:cs typeface="Yekan Bakh"/>
                        </a:rPr>
                        <a:t> </a:t>
                      </a:r>
                      <a:r>
                        <a:rPr lang="fa-IR" sz="1050" b="1" dirty="0">
                          <a:solidFill>
                            <a:srgbClr val="00406C"/>
                          </a:solidFill>
                          <a:latin typeface="Yekan Bakh"/>
                          <a:cs typeface="Yekan Bakh"/>
                        </a:rPr>
                        <a:t>/</a:t>
                      </a:r>
                      <a:r>
                        <a:rPr sz="1050" b="1" dirty="0">
                          <a:solidFill>
                            <a:srgbClr val="00406C"/>
                          </a:solidFill>
                          <a:latin typeface="Yekan Bakh"/>
                          <a:cs typeface="Yekan Bakh"/>
                        </a:rPr>
                        <a:t> </a:t>
                      </a:r>
                      <a:r>
                        <a:rPr sz="1050" b="1" dirty="0" err="1">
                          <a:solidFill>
                            <a:srgbClr val="00406C"/>
                          </a:solidFill>
                          <a:latin typeface="Yekan Bakh"/>
                          <a:cs typeface="Yekan Bakh"/>
                        </a:rPr>
                        <a:t>اقدام</a:t>
                      </a:r>
                      <a:endParaRPr sz="1050" b="1" dirty="0">
                        <a:solidFill>
                          <a:srgbClr val="00406C"/>
                        </a:solidFill>
                        <a:latin typeface="Yekan Bakh"/>
                        <a:cs typeface="Yekan Bakh"/>
                      </a:endParaRPr>
                    </a:p>
                  </a:txBody>
                  <a:tcPr marL="50800" marR="50800" marT="38100" marB="38100" anchor="ctr">
                    <a:solidFill>
                      <a:schemeClr val="bg1">
                        <a:lumMod val="95000"/>
                      </a:schemeClr>
                    </a:solidFill>
                  </a:tcPr>
                </a:tc>
                <a:extLst>
                  <a:ext uri="{0D108BD9-81ED-4DB2-BD59-A6C34878D82A}">
                    <a16:rowId xmlns:a16="http://schemas.microsoft.com/office/drawing/2014/main" val="10005"/>
                  </a:ext>
                </a:extLst>
              </a:tr>
              <a:tr h="340596">
                <a:tc>
                  <a:txBody>
                    <a:bodyPr/>
                    <a:lstStyle/>
                    <a:p>
                      <a:pPr algn="r" rtl="1">
                        <a:lnSpc>
                          <a:spcPct val="105000"/>
                        </a:lnSpc>
                      </a:pPr>
                      <a:r>
                        <a:rPr sz="800" b="0">
                          <a:solidFill>
                            <a:schemeClr val="tx1">
                              <a:lumMod val="65000"/>
                              <a:lumOff val="35000"/>
                            </a:schemeClr>
                          </a:solidFill>
                          <a:latin typeface="Yekan Bakh"/>
                          <a:cs typeface="Yekan Bakh"/>
                        </a:rPr>
                        <a:t>خودِ مشتری؛ سامانه پرداخت </a:t>
                      </a:r>
                      <a:r>
                        <a:rPr lang="fa-IR" sz="800" b="0">
                          <a:solidFill>
                            <a:schemeClr val="tx1">
                              <a:lumMod val="65000"/>
                              <a:lumOff val="35000"/>
                            </a:schemeClr>
                          </a:solidFill>
                          <a:latin typeface="Yekan Bakh"/>
                          <a:cs typeface="Yekan Bakh"/>
                        </a:rPr>
                        <a:t>اکوسیستم فرصت ایران + پارتنرهای تخصصی </a:t>
                      </a:r>
                      <a:endParaRPr sz="800" b="0">
                        <a:solidFill>
                          <a:schemeClr val="tx1">
                            <a:lumMod val="65000"/>
                            <a:lumOff val="35000"/>
                          </a:schemeClr>
                        </a:solidFill>
                        <a:latin typeface="Yekan Bakh"/>
                        <a:cs typeface="Yekan Bakh"/>
                      </a:endParaRPr>
                    </a:p>
                  </a:txBody>
                  <a:tcPr marL="50800" marR="50800" marT="38100" marB="38100" anchor="ctr">
                    <a:solidFill>
                      <a:schemeClr val="bg1"/>
                    </a:solidFill>
                  </a:tcPr>
                </a:tc>
                <a:tc>
                  <a:txBody>
                    <a:bodyPr/>
                    <a:lstStyle/>
                    <a:p>
                      <a:pPr algn="r" rtl="1">
                        <a:lnSpc>
                          <a:spcPct val="105000"/>
                        </a:lnSpc>
                      </a:pPr>
                      <a:r>
                        <a:rPr sz="800" b="0">
                          <a:solidFill>
                            <a:schemeClr val="tx1">
                              <a:lumMod val="65000"/>
                              <a:lumOff val="35000"/>
                            </a:schemeClr>
                          </a:solidFill>
                          <a:latin typeface="Yekan Bakh"/>
                          <a:cs typeface="Yekan Bakh"/>
                        </a:rPr>
                        <a:t>خودِ مشتری (self-service)؛ محتوای منتشرشده </a:t>
                      </a:r>
                      <a:r>
                        <a:rPr lang="fa-IR" sz="800" b="0">
                          <a:solidFill>
                            <a:schemeClr val="tx1">
                              <a:lumMod val="65000"/>
                              <a:lumOff val="35000"/>
                            </a:schemeClr>
                          </a:solidFill>
                          <a:latin typeface="Yekan Bakh"/>
                          <a:cs typeface="Yekan Bakh"/>
                        </a:rPr>
                        <a:t>اکوسیستم فرصت ایران + پارتنرهای تخصصی </a:t>
                      </a:r>
                      <a:endParaRPr sz="800" b="0">
                        <a:solidFill>
                          <a:schemeClr val="tx1">
                            <a:lumMod val="65000"/>
                            <a:lumOff val="35000"/>
                          </a:schemeClr>
                        </a:solidFill>
                        <a:latin typeface="Yekan Bakh"/>
                        <a:cs typeface="Yekan Bakh"/>
                      </a:endParaRPr>
                    </a:p>
                  </a:txBody>
                  <a:tcPr marL="50800" marR="50800" marT="38100" marB="38100" anchor="ctr">
                    <a:solidFill>
                      <a:schemeClr val="bg1"/>
                    </a:solidFill>
                  </a:tcPr>
                </a:tc>
                <a:tc>
                  <a:txBody>
                    <a:bodyPr/>
                    <a:lstStyle/>
                    <a:p>
                      <a:pPr algn="r" rtl="1">
                        <a:lnSpc>
                          <a:spcPct val="105000"/>
                        </a:lnSpc>
                      </a:pPr>
                      <a:r>
                        <a:rPr sz="800" b="0" dirty="0" err="1">
                          <a:solidFill>
                            <a:schemeClr val="tx1">
                              <a:lumMod val="65000"/>
                              <a:lumOff val="35000"/>
                            </a:schemeClr>
                          </a:solidFill>
                          <a:latin typeface="Yekan Bakh"/>
                          <a:cs typeface="Yekan Bakh"/>
                        </a:rPr>
                        <a:t>سامانه</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دیجیتال</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خودسرویس</a:t>
                      </a:r>
                      <a:r>
                        <a:rPr sz="800" b="0" dirty="0">
                          <a:solidFill>
                            <a:schemeClr val="tx1">
                              <a:lumMod val="65000"/>
                              <a:lumOff val="35000"/>
                            </a:schemeClr>
                          </a:solidFill>
                          <a:latin typeface="Yekan Bakh"/>
                          <a:cs typeface="Yekan Bakh"/>
                        </a:rPr>
                        <a:t> </a:t>
                      </a:r>
                      <a:r>
                        <a:rPr lang="fa-IR" sz="800" b="0" dirty="0">
                          <a:solidFill>
                            <a:schemeClr val="tx1">
                              <a:lumMod val="65000"/>
                              <a:lumOff val="35000"/>
                            </a:schemeClr>
                          </a:solidFill>
                          <a:latin typeface="Yekan Bakh"/>
                          <a:cs typeface="Yekan Bakh"/>
                        </a:rPr>
                        <a:t>(</a:t>
                      </a:r>
                      <a:r>
                        <a:rPr sz="800" b="0" dirty="0" err="1">
                          <a:solidFill>
                            <a:schemeClr val="tx1">
                              <a:lumMod val="65000"/>
                              <a:lumOff val="35000"/>
                            </a:schemeClr>
                          </a:solidFill>
                          <a:latin typeface="Yekan Bakh"/>
                          <a:cs typeface="Yekan Bakh"/>
                        </a:rPr>
                        <a:t>بدون</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دخالت</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مستقیم</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تیم</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هسته</a:t>
                      </a:r>
                      <a:r>
                        <a:rPr lang="fa-IR" sz="800" b="0" dirty="0">
                          <a:solidFill>
                            <a:schemeClr val="tx1">
                              <a:lumMod val="65000"/>
                              <a:lumOff val="35000"/>
                            </a:schemeClr>
                          </a:solidFill>
                          <a:latin typeface="Yekan Bakh"/>
                          <a:cs typeface="Yekan Bakh"/>
                        </a:rPr>
                        <a:t>)</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انجمن</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صنفی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به‌عنوان</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معرف</a:t>
                      </a:r>
                      <a:endParaRPr sz="800" b="0" dirty="0">
                        <a:solidFill>
                          <a:schemeClr val="tx1">
                            <a:lumMod val="65000"/>
                            <a:lumOff val="35000"/>
                          </a:schemeClr>
                        </a:solidFill>
                        <a:latin typeface="Yekan Bakh"/>
                        <a:cs typeface="Yekan Bakh"/>
                      </a:endParaRPr>
                    </a:p>
                  </a:txBody>
                  <a:tcPr marL="50800" marR="50800" marT="38100" marB="38100" anchor="ctr">
                    <a:solidFill>
                      <a:schemeClr val="bg1"/>
                    </a:solidFill>
                  </a:tcPr>
                </a:tc>
                <a:tc>
                  <a:txBody>
                    <a:bodyPr/>
                    <a:lstStyle/>
                    <a:p>
                      <a:pPr algn="ctr" rtl="1">
                        <a:lnSpc>
                          <a:spcPct val="105000"/>
                        </a:lnSpc>
                      </a:pPr>
                      <a:r>
                        <a:rPr sz="1050" b="1" dirty="0" err="1">
                          <a:solidFill>
                            <a:srgbClr val="00406C"/>
                          </a:solidFill>
                          <a:latin typeface="Yekan Bakh"/>
                          <a:cs typeface="Yekan Bakh"/>
                        </a:rPr>
                        <a:t>بازیگر</a:t>
                      </a:r>
                      <a:r>
                        <a:rPr sz="1050" b="1" dirty="0">
                          <a:solidFill>
                            <a:srgbClr val="00406C"/>
                          </a:solidFill>
                          <a:latin typeface="Yekan Bakh"/>
                          <a:cs typeface="Yekan Bakh"/>
                        </a:rPr>
                        <a:t>/ </a:t>
                      </a:r>
                      <a:r>
                        <a:rPr lang="fa-IR" sz="1050" b="1" dirty="0">
                          <a:solidFill>
                            <a:srgbClr val="00406C"/>
                          </a:solidFill>
                          <a:latin typeface="Yekan Bakh"/>
                          <a:cs typeface="Yekan Bakh"/>
                        </a:rPr>
                        <a:t> م</a:t>
                      </a:r>
                      <a:r>
                        <a:rPr sz="1050" b="1" dirty="0" err="1">
                          <a:solidFill>
                            <a:srgbClr val="00406C"/>
                          </a:solidFill>
                          <a:latin typeface="Yekan Bakh"/>
                          <a:cs typeface="Yekan Bakh"/>
                        </a:rPr>
                        <a:t>الک</a:t>
                      </a:r>
                      <a:r>
                        <a:rPr sz="1050" b="1" dirty="0">
                          <a:solidFill>
                            <a:srgbClr val="00406C"/>
                          </a:solidFill>
                          <a:latin typeface="Yekan Bakh"/>
                          <a:cs typeface="Yekan Bakh"/>
                        </a:rPr>
                        <a:t> </a:t>
                      </a:r>
                      <a:r>
                        <a:rPr sz="1050" b="1" dirty="0" err="1">
                          <a:solidFill>
                            <a:srgbClr val="00406C"/>
                          </a:solidFill>
                          <a:latin typeface="Yekan Bakh"/>
                          <a:cs typeface="Yekan Bakh"/>
                        </a:rPr>
                        <a:t>تعامل</a:t>
                      </a:r>
                      <a:endParaRPr sz="1050" b="1" dirty="0">
                        <a:solidFill>
                          <a:srgbClr val="00406C"/>
                        </a:solidFill>
                        <a:latin typeface="Yekan Bakh"/>
                        <a:cs typeface="Yekan Bakh"/>
                      </a:endParaRPr>
                    </a:p>
                  </a:txBody>
                  <a:tcPr marL="50800" marR="50800" marT="38100" marB="38100" anchor="ctr">
                    <a:solidFill>
                      <a:schemeClr val="bg1"/>
                    </a:solidFill>
                  </a:tcPr>
                </a:tc>
                <a:extLst>
                  <a:ext uri="{0D108BD9-81ED-4DB2-BD59-A6C34878D82A}">
                    <a16:rowId xmlns:a16="http://schemas.microsoft.com/office/drawing/2014/main" val="10006"/>
                  </a:ext>
                </a:extLst>
              </a:tr>
              <a:tr h="259501">
                <a:tc>
                  <a:txBody>
                    <a:bodyPr/>
                    <a:lstStyle/>
                    <a:p>
                      <a:pPr algn="r" rtl="1">
                        <a:lnSpc>
                          <a:spcPct val="105000"/>
                        </a:lnSpc>
                      </a:pPr>
                      <a:r>
                        <a:rPr sz="800" b="0" dirty="0">
                          <a:solidFill>
                            <a:schemeClr val="tx1">
                              <a:lumMod val="65000"/>
                              <a:lumOff val="35000"/>
                            </a:schemeClr>
                          </a:solidFill>
                          <a:latin typeface="Yekan Bakh"/>
                          <a:cs typeface="Yekan Bakh"/>
                        </a:rPr>
                        <a:t>Purchase</a:t>
                      </a:r>
                      <a:r>
                        <a:rPr lang="fa-I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خرید</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تکمیل‌شده</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با</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تعرفه</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ثابت</a:t>
                      </a:r>
                      <a:endParaRPr sz="800" b="0" dirty="0">
                        <a:solidFill>
                          <a:schemeClr val="tx1">
                            <a:lumMod val="65000"/>
                            <a:lumOff val="35000"/>
                          </a:schemeClr>
                        </a:solidFill>
                        <a:latin typeface="Yekan Bakh"/>
                        <a:cs typeface="Yekan Bakh"/>
                      </a:endParaRPr>
                    </a:p>
                  </a:txBody>
                  <a:tcPr marL="50800" marR="50800" marT="38100" marB="38100" anchor="ctr">
                    <a:solidFill>
                      <a:schemeClr val="bg1">
                        <a:lumMod val="95000"/>
                      </a:schemeClr>
                    </a:solidFill>
                  </a:tcPr>
                </a:tc>
                <a:tc>
                  <a:txBody>
                    <a:bodyPr/>
                    <a:lstStyle/>
                    <a:p>
                      <a:pPr algn="r" rtl="1">
                        <a:lnSpc>
                          <a:spcPct val="105000"/>
                        </a:lnSpc>
                      </a:pPr>
                      <a:r>
                        <a:rPr sz="800" b="0" dirty="0">
                          <a:solidFill>
                            <a:schemeClr val="tx1">
                              <a:lumMod val="65000"/>
                              <a:lumOff val="35000"/>
                            </a:schemeClr>
                          </a:solidFill>
                          <a:latin typeface="Yekan Bakh"/>
                          <a:cs typeface="Yekan Bakh"/>
                        </a:rPr>
                        <a:t>Qualified Opportunity</a:t>
                      </a:r>
                      <a:r>
                        <a:rPr lang="fa-I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پذیرش</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نتیجه</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ارزیابی</a:t>
                      </a:r>
                      <a:endParaRPr sz="800" b="0" dirty="0">
                        <a:solidFill>
                          <a:schemeClr val="tx1">
                            <a:lumMod val="65000"/>
                            <a:lumOff val="35000"/>
                          </a:schemeClr>
                        </a:solidFill>
                        <a:latin typeface="Yekan Bakh"/>
                        <a:cs typeface="Yekan Bakh"/>
                      </a:endParaRPr>
                    </a:p>
                  </a:txBody>
                  <a:tcPr marL="50800" marR="50800" marT="38100" marB="38100" anchor="ctr">
                    <a:solidFill>
                      <a:schemeClr val="bg1">
                        <a:lumMod val="95000"/>
                      </a:schemeClr>
                    </a:solidFill>
                  </a:tcPr>
                </a:tc>
                <a:tc>
                  <a:txBody>
                    <a:bodyPr/>
                    <a:lstStyle/>
                    <a:p>
                      <a:pPr algn="r" rtl="1">
                        <a:lnSpc>
                          <a:spcPct val="105000"/>
                        </a:lnSpc>
                      </a:pPr>
                      <a:r>
                        <a:rPr sz="800" b="0" dirty="0">
                          <a:solidFill>
                            <a:schemeClr val="tx1">
                              <a:lumMod val="65000"/>
                              <a:lumOff val="35000"/>
                            </a:schemeClr>
                          </a:solidFill>
                          <a:latin typeface="Yekan Bakh"/>
                          <a:cs typeface="Yekan Bakh"/>
                        </a:rPr>
                        <a:t>Lead</a:t>
                      </a:r>
                      <a:r>
                        <a:rPr lang="fa-IR" sz="800" b="0" dirty="0">
                          <a:solidFill>
                            <a:schemeClr val="tx1">
                              <a:lumMod val="65000"/>
                              <a:lumOff val="35000"/>
                            </a:schemeClr>
                          </a:solidFill>
                          <a:latin typeface="Yekan Bakh"/>
                          <a:cs typeface="Yekan Bakh"/>
                        </a:rPr>
                        <a:t> ث</a:t>
                      </a:r>
                      <a:r>
                        <a:rPr sz="800" b="0" dirty="0" err="1">
                          <a:solidFill>
                            <a:schemeClr val="tx1">
                              <a:lumMod val="65000"/>
                              <a:lumOff val="35000"/>
                            </a:schemeClr>
                          </a:solidFill>
                          <a:latin typeface="Yekan Bakh"/>
                          <a:cs typeface="Yekan Bakh"/>
                        </a:rPr>
                        <a:t>بت‌نام</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در</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ابزار</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خودارزیابی</a:t>
                      </a:r>
                      <a:endParaRPr sz="800" b="0" dirty="0">
                        <a:solidFill>
                          <a:schemeClr val="tx1">
                            <a:lumMod val="65000"/>
                            <a:lumOff val="35000"/>
                          </a:schemeClr>
                        </a:solidFill>
                        <a:latin typeface="Yekan Bakh"/>
                        <a:cs typeface="Yekan Bakh"/>
                      </a:endParaRPr>
                    </a:p>
                  </a:txBody>
                  <a:tcPr marL="50800" marR="50800" marT="38100" marB="38100" anchor="ctr">
                    <a:solidFill>
                      <a:schemeClr val="bg1">
                        <a:lumMod val="95000"/>
                      </a:schemeClr>
                    </a:solidFill>
                  </a:tcPr>
                </a:tc>
                <a:tc>
                  <a:txBody>
                    <a:bodyPr/>
                    <a:lstStyle/>
                    <a:p>
                      <a:pPr algn="ctr" rtl="1">
                        <a:lnSpc>
                          <a:spcPct val="105000"/>
                        </a:lnSpc>
                      </a:pPr>
                      <a:r>
                        <a:rPr sz="1050" b="1" dirty="0" err="1">
                          <a:solidFill>
                            <a:srgbClr val="00406C"/>
                          </a:solidFill>
                          <a:latin typeface="Yekan Bakh"/>
                          <a:cs typeface="Yekan Bakh"/>
                        </a:rPr>
                        <a:t>خروجی</a:t>
                      </a:r>
                      <a:r>
                        <a:rPr sz="1050" b="1" dirty="0">
                          <a:solidFill>
                            <a:srgbClr val="00406C"/>
                          </a:solidFill>
                          <a:latin typeface="Yekan Bakh"/>
                          <a:cs typeface="Yekan Bakh"/>
                        </a:rPr>
                        <a:t> /</a:t>
                      </a:r>
                      <a:r>
                        <a:rPr lang="fa-IR" sz="1050" b="1" dirty="0">
                          <a:solidFill>
                            <a:srgbClr val="00406C"/>
                          </a:solidFill>
                          <a:latin typeface="Yekan Bakh"/>
                          <a:cs typeface="Yekan Bakh"/>
                        </a:rPr>
                        <a:t> ن</a:t>
                      </a:r>
                      <a:r>
                        <a:rPr sz="1050" b="1" dirty="0" err="1">
                          <a:solidFill>
                            <a:srgbClr val="00406C"/>
                          </a:solidFill>
                          <a:latin typeface="Yekan Bakh"/>
                          <a:cs typeface="Yekan Bakh"/>
                        </a:rPr>
                        <a:t>تیجه</a:t>
                      </a:r>
                      <a:r>
                        <a:rPr sz="1050" b="1" dirty="0">
                          <a:solidFill>
                            <a:srgbClr val="00406C"/>
                          </a:solidFill>
                          <a:latin typeface="Yekan Bakh"/>
                          <a:cs typeface="Yekan Bakh"/>
                        </a:rPr>
                        <a:t> </a:t>
                      </a:r>
                      <a:r>
                        <a:rPr sz="1050" b="1" dirty="0" err="1">
                          <a:solidFill>
                            <a:srgbClr val="00406C"/>
                          </a:solidFill>
                          <a:latin typeface="Yekan Bakh"/>
                          <a:cs typeface="Yekan Bakh"/>
                        </a:rPr>
                        <a:t>تجاری</a:t>
                      </a:r>
                      <a:endParaRPr sz="1050" b="1" dirty="0">
                        <a:solidFill>
                          <a:srgbClr val="00406C"/>
                        </a:solidFill>
                        <a:latin typeface="Yekan Bakh"/>
                        <a:cs typeface="Yekan Bakh"/>
                      </a:endParaRPr>
                    </a:p>
                  </a:txBody>
                  <a:tcPr marL="50800" marR="50800" marT="38100" marB="38100" anchor="ctr">
                    <a:solidFill>
                      <a:schemeClr val="bg1">
                        <a:lumMod val="95000"/>
                      </a:schemeClr>
                    </a:solidFill>
                  </a:tcPr>
                </a:tc>
                <a:extLst>
                  <a:ext uri="{0D108BD9-81ED-4DB2-BD59-A6C34878D82A}">
                    <a16:rowId xmlns:a16="http://schemas.microsoft.com/office/drawing/2014/main" val="10007"/>
                  </a:ext>
                </a:extLst>
              </a:tr>
              <a:tr h="705835">
                <a:tc>
                  <a:txBody>
                    <a:bodyPr/>
                    <a:lstStyle/>
                    <a:p>
                      <a:pPr algn="r" rtl="1">
                        <a:lnSpc>
                          <a:spcPct val="105000"/>
                        </a:lnSpc>
                      </a:pPr>
                      <a:r>
                        <a:rPr sz="800" b="0" dirty="0" err="1">
                          <a:solidFill>
                            <a:schemeClr val="tx1">
                              <a:lumMod val="65000"/>
                              <a:lumOff val="35000"/>
                            </a:schemeClr>
                          </a:solidFill>
                          <a:latin typeface="Yekan Bakh"/>
                          <a:cs typeface="Yekan Bakh"/>
                        </a:rPr>
                        <a:t>پروفایل</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مستند</a:t>
                      </a:r>
                      <a:r>
                        <a:rPr lang="fa-IR" sz="800" b="0" dirty="0">
                          <a:solidFill>
                            <a:schemeClr val="tx1">
                              <a:lumMod val="65000"/>
                              <a:lumOff val="35000"/>
                            </a:schemeClr>
                          </a:solidFill>
                          <a:latin typeface="Yekan Bakh"/>
                          <a:cs typeface="Yekan Bakh"/>
                        </a:rPr>
                        <a:t>:</a:t>
                      </a:r>
                      <a:r>
                        <a:rPr lang="en-US" sz="800" b="0" dirty="0">
                          <a:solidFill>
                            <a:schemeClr val="tx1">
                              <a:lumMod val="65000"/>
                              <a:lumOff val="35000"/>
                            </a:schemeClr>
                          </a:solidFill>
                          <a:latin typeface="Yekan Bakh"/>
                          <a:cs typeface="Yekan Bakh"/>
                        </a:rPr>
                        <a:t> » </a:t>
                      </a:r>
                      <a:r>
                        <a:rPr sz="800" b="0" dirty="0" err="1">
                          <a:solidFill>
                            <a:schemeClr val="tx1">
                              <a:lumMod val="65000"/>
                              <a:lumOff val="35000"/>
                            </a:schemeClr>
                          </a:solidFill>
                          <a:latin typeface="Yekan Bakh"/>
                          <a:cs typeface="Yekan Bakh"/>
                        </a:rPr>
                        <a:t>باید</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کم‌هزینه</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یا</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همراه</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با</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سایر</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خدمات</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ارائه</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شود</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تا</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مقیاس‌پذیر</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باشد</a:t>
                      </a:r>
                      <a:r>
                        <a:rPr lang="fa-IR" sz="800" b="0" dirty="0">
                          <a:solidFill>
                            <a:srgbClr val="222222"/>
                          </a:solidFill>
                          <a:latin typeface="Yekan Bakh"/>
                          <a:cs typeface="Yekan Bakh"/>
                        </a:rPr>
                        <a:t>»</a:t>
                      </a:r>
                      <a:endParaRPr sz="800" b="0" dirty="0">
                        <a:solidFill>
                          <a:schemeClr val="tx1">
                            <a:lumMod val="65000"/>
                            <a:lumOff val="35000"/>
                          </a:schemeClr>
                        </a:solidFill>
                        <a:latin typeface="Yekan Bakh"/>
                        <a:cs typeface="Yekan Bakh"/>
                      </a:endParaRPr>
                    </a:p>
                  </a:txBody>
                  <a:tcPr marL="50800" marR="50800" marT="38100" marB="38100" anchor="ctr">
                    <a:solidFill>
                      <a:schemeClr val="bg1"/>
                    </a:solidFill>
                  </a:tcPr>
                </a:tc>
                <a:tc>
                  <a:txBody>
                    <a:bodyPr/>
                    <a:lstStyle/>
                    <a:p>
                      <a:pPr algn="r" rtl="1">
                        <a:lnSpc>
                          <a:spcPct val="105000"/>
                        </a:lnSpc>
                      </a:pPr>
                      <a:r>
                        <a:rPr sz="800" b="0" dirty="0" err="1">
                          <a:solidFill>
                            <a:schemeClr val="tx1">
                              <a:lumMod val="65000"/>
                              <a:lumOff val="35000"/>
                            </a:schemeClr>
                          </a:solidFill>
                          <a:latin typeface="Yekan Bakh"/>
                          <a:cs typeface="Yekan Bakh"/>
                        </a:rPr>
                        <a:t>اقدام</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تکمیلی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از</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قبل</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توصیه‌شده</a:t>
                      </a:r>
                      <a:r>
                        <a:rPr lang="fa-IR" sz="800" b="0" dirty="0">
                          <a:solidFill>
                            <a:schemeClr val="tx1">
                              <a:lumMod val="65000"/>
                              <a:lumOff val="35000"/>
                            </a:schemeClr>
                          </a:solidFill>
                          <a:latin typeface="Yekan Bakh"/>
                          <a:cs typeface="Yekan Bakh"/>
                        </a:rPr>
                        <a:t>:</a:t>
                      </a:r>
                      <a:r>
                        <a:rPr lang="en-US" sz="800" b="0" dirty="0">
                          <a:solidFill>
                            <a:schemeClr val="tx1">
                              <a:lumMod val="65000"/>
                              <a:lumOff val="35000"/>
                            </a:schemeClr>
                          </a:solidFill>
                          <a:latin typeface="Yekan Bakh"/>
                          <a:cs typeface="Yekan Bakh"/>
                        </a:rPr>
                        <a:t> » </a:t>
                      </a:r>
                      <a:r>
                        <a:rPr sz="800" b="0" dirty="0" err="1">
                          <a:solidFill>
                            <a:schemeClr val="tx1">
                              <a:lumMod val="65000"/>
                              <a:lumOff val="35000"/>
                            </a:schemeClr>
                          </a:solidFill>
                          <a:latin typeface="Yekan Bakh"/>
                          <a:cs typeface="Yekan Bakh"/>
                        </a:rPr>
                        <a:t>تدوین</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استاندارد</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قابلیت</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انجام</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معامل</a:t>
                      </a:r>
                      <a:r>
                        <a:rPr lang="fa-IR" sz="800" b="0" dirty="0">
                          <a:solidFill>
                            <a:schemeClr val="tx1">
                              <a:lumMod val="65000"/>
                              <a:lumOff val="35000"/>
                            </a:schemeClr>
                          </a:solidFill>
                          <a:latin typeface="Yekan Bakh"/>
                          <a:cs typeface="Yekan Bakh"/>
                        </a:rPr>
                        <a:t>ه</a:t>
                      </a:r>
                      <a:r>
                        <a:rPr sz="800" b="0" dirty="0">
                          <a:solidFill>
                            <a:schemeClr val="tx1">
                              <a:lumMod val="65000"/>
                              <a:lumOff val="35000"/>
                            </a:schemeClr>
                          </a:solidFill>
                          <a:latin typeface="Yekan Bakh"/>
                          <a:cs typeface="Yekan Bakh"/>
                        </a:rPr>
                        <a:t> </a:t>
                      </a:r>
                      <a:r>
                        <a:rPr lang="fa-IR" sz="800" b="0" dirty="0">
                          <a:solidFill>
                            <a:srgbClr val="222222"/>
                          </a:solidFill>
                          <a:latin typeface="Yekan Bakh"/>
                          <a:cs typeface="Yekan Bakh"/>
                        </a:rPr>
                        <a:t>»</a:t>
                      </a:r>
                      <a:endParaRPr sz="800" b="0" dirty="0">
                        <a:solidFill>
                          <a:schemeClr val="tx1">
                            <a:lumMod val="65000"/>
                            <a:lumOff val="35000"/>
                          </a:schemeClr>
                        </a:solidFill>
                        <a:latin typeface="Yekan Bakh"/>
                        <a:cs typeface="Yekan Bakh"/>
                      </a:endParaRPr>
                    </a:p>
                  </a:txBody>
                  <a:tcPr marL="50800" marR="50800" marT="38100" marB="38100" anchor="ctr">
                    <a:solidFill>
                      <a:schemeClr val="bg1"/>
                    </a:solidFill>
                  </a:tcPr>
                </a:tc>
                <a:tc>
                  <a:txBody>
                    <a:bodyPr/>
                    <a:lstStyle/>
                    <a:p>
                      <a:pPr algn="r" rtl="1">
                        <a:lnSpc>
                          <a:spcPct val="105000"/>
                        </a:lnSpc>
                      </a:pPr>
                      <a:r>
                        <a:rPr sz="800" b="0" dirty="0" err="1">
                          <a:solidFill>
                            <a:schemeClr val="tx1">
                              <a:lumMod val="65000"/>
                              <a:lumOff val="35000"/>
                            </a:schemeClr>
                          </a:solidFill>
                          <a:latin typeface="Yekan Bakh"/>
                          <a:cs typeface="Yekan Bakh"/>
                        </a:rPr>
                        <a:t>پروفایل</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مستند</a:t>
                      </a:r>
                      <a:r>
                        <a:rPr lang="fa-IR" sz="800" b="0" dirty="0">
                          <a:solidFill>
                            <a:schemeClr val="tx1">
                              <a:lumMod val="65000"/>
                              <a:lumOff val="35000"/>
                            </a:schemeClr>
                          </a:solidFill>
                          <a:latin typeface="Yekan Bakh"/>
                          <a:cs typeface="Yekan Bakh"/>
                        </a:rPr>
                        <a:t>:</a:t>
                      </a:r>
                      <a:r>
                        <a:rPr lang="en-US" sz="800" b="0" dirty="0">
                          <a:solidFill>
                            <a:schemeClr val="tx1">
                              <a:lumMod val="65000"/>
                              <a:lumOff val="35000"/>
                            </a:schemeClr>
                          </a:solidFill>
                          <a:latin typeface="Yekan Bakh"/>
                          <a:cs typeface="Yekan Bakh"/>
                        </a:rPr>
                        <a:t> » </a:t>
                      </a:r>
                      <a:r>
                        <a:rPr sz="800" b="0" dirty="0" err="1">
                          <a:solidFill>
                            <a:schemeClr val="tx1">
                              <a:lumMod val="65000"/>
                              <a:lumOff val="35000"/>
                            </a:schemeClr>
                          </a:solidFill>
                          <a:latin typeface="Yekan Bakh"/>
                          <a:cs typeface="Yekan Bakh"/>
                        </a:rPr>
                        <a:t>نقطه</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تعیین‌کننده</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پذیرش</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نتیجه</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ارزیابی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است</a:t>
                      </a:r>
                      <a:r>
                        <a:rPr lang="fa-IR" sz="800" b="0" dirty="0">
                          <a:solidFill>
                            <a:srgbClr val="222222"/>
                          </a:solidFill>
                          <a:latin typeface="Yekan Bakh"/>
                          <a:cs typeface="Yekan Bakh"/>
                        </a:rPr>
                        <a:t>»</a:t>
                      </a:r>
                      <a:endParaRPr sz="800" b="0" dirty="0">
                        <a:solidFill>
                          <a:schemeClr val="tx1">
                            <a:lumMod val="65000"/>
                            <a:lumOff val="35000"/>
                          </a:schemeClr>
                        </a:solidFill>
                        <a:latin typeface="Yekan Bakh"/>
                        <a:cs typeface="Yekan Bakh"/>
                      </a:endParaRPr>
                    </a:p>
                    <a:p>
                      <a:pPr algn="r" rtl="1">
                        <a:lnSpc>
                          <a:spcPct val="105000"/>
                        </a:lnSpc>
                      </a:pPr>
                      <a:r>
                        <a:rPr sz="800" b="0" dirty="0" err="1">
                          <a:solidFill>
                            <a:schemeClr val="tx1">
                              <a:lumMod val="65000"/>
                              <a:lumOff val="35000"/>
                            </a:schemeClr>
                          </a:solidFill>
                          <a:latin typeface="Yekan Bakh"/>
                          <a:cs typeface="Yekan Bakh"/>
                        </a:rPr>
                        <a:t>نیاز</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مستند</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به</a:t>
                      </a:r>
                      <a:r>
                        <a:rPr lang="en-US" sz="800" b="0" dirty="0">
                          <a:solidFill>
                            <a:schemeClr val="tx1">
                              <a:lumMod val="65000"/>
                              <a:lumOff val="35000"/>
                            </a:schemeClr>
                          </a:solidFill>
                          <a:latin typeface="Yekan Bakh"/>
                          <a:cs typeface="Yekan Bakh"/>
                        </a:rPr>
                        <a:t> » </a:t>
                      </a:r>
                      <a:r>
                        <a:rPr sz="800" b="0" dirty="0" err="1">
                          <a:solidFill>
                            <a:schemeClr val="tx1">
                              <a:lumMod val="65000"/>
                              <a:lumOff val="35000"/>
                            </a:schemeClr>
                          </a:solidFill>
                          <a:latin typeface="Yekan Bakh"/>
                          <a:cs typeface="Yekan Bakh"/>
                        </a:rPr>
                        <a:t>مدل</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کاملاً</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محصول‌محور</a:t>
                      </a:r>
                      <a:r>
                        <a:rPr sz="800" b="0" dirty="0">
                          <a:solidFill>
                            <a:schemeClr val="tx1">
                              <a:lumMod val="65000"/>
                              <a:lumOff val="35000"/>
                            </a:schemeClr>
                          </a:solidFill>
                          <a:latin typeface="Yekan Bakh"/>
                          <a:cs typeface="Yekan Bakh"/>
                        </a:rPr>
                        <a:t> و </a:t>
                      </a:r>
                      <a:r>
                        <a:rPr sz="800" b="0" dirty="0" err="1">
                          <a:solidFill>
                            <a:schemeClr val="tx1">
                              <a:lumMod val="65000"/>
                              <a:lumOff val="35000"/>
                            </a:schemeClr>
                          </a:solidFill>
                          <a:latin typeface="Yekan Bakh"/>
                          <a:cs typeface="Yekan Bakh"/>
                        </a:rPr>
                        <a:t>استانداردشده</a:t>
                      </a:r>
                      <a:r>
                        <a:rPr lang="fa-IR" sz="800" b="0" dirty="0">
                          <a:solidFill>
                            <a:srgbClr val="222222"/>
                          </a:solidFill>
                          <a:latin typeface="Yekan Bakh"/>
                          <a:cs typeface="Yekan Bakh"/>
                        </a:rPr>
                        <a:t>»</a:t>
                      </a:r>
                      <a:endParaRPr sz="800" b="0" dirty="0">
                        <a:solidFill>
                          <a:schemeClr val="tx1">
                            <a:lumMod val="65000"/>
                            <a:lumOff val="35000"/>
                          </a:schemeClr>
                        </a:solidFill>
                        <a:latin typeface="Yekan Bakh"/>
                        <a:cs typeface="Yekan Bakh"/>
                      </a:endParaRPr>
                    </a:p>
                  </a:txBody>
                  <a:tcPr marL="50800" marR="50800" marT="38100" marB="38100" anchor="ctr">
                    <a:solidFill>
                      <a:schemeClr val="bg1"/>
                    </a:solidFill>
                  </a:tcPr>
                </a:tc>
                <a:tc>
                  <a:txBody>
                    <a:bodyPr/>
                    <a:lstStyle/>
                    <a:p>
                      <a:pPr algn="ctr" rtl="1">
                        <a:lnSpc>
                          <a:spcPct val="105000"/>
                        </a:lnSpc>
                      </a:pPr>
                      <a:r>
                        <a:rPr lang="fa-IR" sz="1050" b="1" dirty="0">
                          <a:solidFill>
                            <a:srgbClr val="00406C"/>
                          </a:solidFill>
                          <a:latin typeface="Yekan Bakh"/>
                          <a:cs typeface="Yekan Bakh"/>
                        </a:rPr>
                        <a:t>شواهد پشتیبان</a:t>
                      </a:r>
                    </a:p>
                  </a:txBody>
                  <a:tcPr marL="50800" marR="50800" marT="38100" marB="38100" anchor="ctr">
                    <a:solidFill>
                      <a:schemeClr val="bg1"/>
                    </a:solidFill>
                  </a:tcPr>
                </a:tc>
                <a:extLst>
                  <a:ext uri="{0D108BD9-81ED-4DB2-BD59-A6C34878D82A}">
                    <a16:rowId xmlns:a16="http://schemas.microsoft.com/office/drawing/2014/main" val="10008"/>
                  </a:ext>
                </a:extLst>
              </a:tr>
            </a:tbl>
          </a:graphicData>
        </a:graphic>
      </p:graphicFrame>
      <p:sp>
        <p:nvSpPr>
          <p:cNvPr id="8" name="Rectangle 7">
            <a:extLst>
              <a:ext uri="{FF2B5EF4-FFF2-40B4-BE49-F238E27FC236}">
                <a16:creationId xmlns:a16="http://schemas.microsoft.com/office/drawing/2014/main" id="{3FE100A2-1299-F405-D567-F8094A86A215}"/>
              </a:ext>
            </a:extLst>
          </p:cNvPr>
          <p:cNvSpPr/>
          <p:nvPr/>
        </p:nvSpPr>
        <p:spPr>
          <a:xfrm>
            <a:off x="457199" y="1918252"/>
            <a:ext cx="10786374" cy="3770270"/>
          </a:xfrm>
          <a:prstGeom prst="rect">
            <a:avLst/>
          </a:prstGeom>
          <a:no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0" name="Straight Connector 9">
            <a:extLst>
              <a:ext uri="{FF2B5EF4-FFF2-40B4-BE49-F238E27FC236}">
                <a16:creationId xmlns:a16="http://schemas.microsoft.com/office/drawing/2014/main" id="{E9C983F7-8D55-FBC0-8E4A-BFF434EFB96E}"/>
              </a:ext>
            </a:extLst>
          </p:cNvPr>
          <p:cNvCxnSpPr/>
          <p:nvPr/>
        </p:nvCxnSpPr>
        <p:spPr>
          <a:xfrm>
            <a:off x="457199" y="1759226"/>
            <a:ext cx="10786374" cy="0"/>
          </a:xfrm>
          <a:prstGeom prst="line">
            <a:avLst/>
          </a:prstGeom>
          <a:ln w="6350">
            <a:prstDash val="dash"/>
          </a:ln>
        </p:spPr>
        <p:style>
          <a:lnRef idx="1">
            <a:schemeClr val="accent2"/>
          </a:lnRef>
          <a:fillRef idx="0">
            <a:schemeClr val="accent2"/>
          </a:fillRef>
          <a:effectRef idx="0">
            <a:schemeClr val="accent2"/>
          </a:effectRef>
          <a:fontRef idx="minor">
            <a:schemeClr val="tx1"/>
          </a:fontRef>
        </p:style>
      </p:cxnSp>
      <p:sp>
        <p:nvSpPr>
          <p:cNvPr id="5" name="Rectangle: Rounded Corners 4">
            <a:extLst>
              <a:ext uri="{FF2B5EF4-FFF2-40B4-BE49-F238E27FC236}">
                <a16:creationId xmlns:a16="http://schemas.microsoft.com/office/drawing/2014/main" id="{D6DB9AB8-B729-AF06-E630-BC5A9C83354D}"/>
              </a:ext>
            </a:extLst>
          </p:cNvPr>
          <p:cNvSpPr/>
          <p:nvPr/>
        </p:nvSpPr>
        <p:spPr>
          <a:xfrm>
            <a:off x="10355343" y="1293039"/>
            <a:ext cx="888229" cy="396613"/>
          </a:xfrm>
          <a:prstGeom prst="roundRect">
            <a:avLst/>
          </a:prstGeom>
          <a:solidFill>
            <a:srgbClr val="F0BE0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fa-IR" sz="1100" b="1" dirty="0">
                <a:solidFill>
                  <a:schemeClr val="bg1"/>
                </a:solidFill>
                <a:latin typeface="Yekan Bakh" pitchFamily="2" charset="-78"/>
                <a:ea typeface="Yekan Bakh" pitchFamily="2" charset="-78"/>
                <a:cs typeface="Yekan Bakh" pitchFamily="2" charset="-78"/>
              </a:rPr>
              <a:t>نیاز محوری:</a:t>
            </a:r>
            <a:endParaRPr lang="en-GB" sz="1100" b="1" dirty="0">
              <a:solidFill>
                <a:schemeClr val="bg1"/>
              </a:solidFill>
              <a:latin typeface="Yekan Bakh" pitchFamily="2" charset="-78"/>
              <a:ea typeface="Yekan Bakh" pitchFamily="2" charset="-78"/>
              <a:cs typeface="Yekan Bakh" pitchFamily="2" charset="-78"/>
            </a:endParaRPr>
          </a:p>
        </p:txBody>
      </p:sp>
      <p:sp>
        <p:nvSpPr>
          <p:cNvPr id="11" name="Rectangle: Rounded Corners 10">
            <a:extLst>
              <a:ext uri="{FF2B5EF4-FFF2-40B4-BE49-F238E27FC236}">
                <a16:creationId xmlns:a16="http://schemas.microsoft.com/office/drawing/2014/main" id="{AF13D381-5C54-0676-C501-98113A42B0F6}"/>
              </a:ext>
            </a:extLst>
          </p:cNvPr>
          <p:cNvSpPr/>
          <p:nvPr/>
        </p:nvSpPr>
        <p:spPr>
          <a:xfrm>
            <a:off x="6493814" y="1288069"/>
            <a:ext cx="3877365" cy="396613"/>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fa-IR" sz="1000" dirty="0">
                <a:solidFill>
                  <a:schemeClr val="tx1">
                    <a:lumMod val="65000"/>
                    <a:lumOff val="35000"/>
                  </a:schemeClr>
                </a:solidFill>
                <a:latin typeface="Yekan Bakh" pitchFamily="2" charset="-78"/>
                <a:ea typeface="Yekan Bakh" pitchFamily="2" charset="-78"/>
                <a:cs typeface="Yekan Bakh" pitchFamily="2" charset="-78"/>
              </a:rPr>
              <a:t>کسب اعتبار و آمادگی ساختاری برای معرفی </a:t>
            </a:r>
            <a:endParaRPr lang="en-GB" sz="1000" dirty="0">
              <a:solidFill>
                <a:schemeClr val="tx1">
                  <a:lumMod val="65000"/>
                  <a:lumOff val="35000"/>
                </a:schemeClr>
              </a:solidFill>
              <a:latin typeface="Yekan Bakh" pitchFamily="2" charset="-78"/>
              <a:ea typeface="Yekan Bakh" pitchFamily="2" charset="-78"/>
              <a:cs typeface="Yekan Bakh" pitchFamily="2" charset="-78"/>
            </a:endParaRPr>
          </a:p>
        </p:txBody>
      </p:sp>
      <p:sp>
        <p:nvSpPr>
          <p:cNvPr id="20" name="Rectangle: Rounded Corners 19">
            <a:extLst>
              <a:ext uri="{FF2B5EF4-FFF2-40B4-BE49-F238E27FC236}">
                <a16:creationId xmlns:a16="http://schemas.microsoft.com/office/drawing/2014/main" id="{48FE56F3-EE2B-F562-AD53-2EDFEAD06779}"/>
              </a:ext>
            </a:extLst>
          </p:cNvPr>
          <p:cNvSpPr/>
          <p:nvPr/>
        </p:nvSpPr>
        <p:spPr>
          <a:xfrm>
            <a:off x="2569996" y="1288069"/>
            <a:ext cx="3901924" cy="396613"/>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fa-IR" sz="1000" dirty="0">
                <a:solidFill>
                  <a:schemeClr val="tx1">
                    <a:lumMod val="65000"/>
                    <a:lumOff val="35000"/>
                  </a:schemeClr>
                </a:solidFill>
                <a:latin typeface="Yekan Bakh" pitchFamily="2" charset="-78"/>
                <a:ea typeface="Yekan Bakh" pitchFamily="2" charset="-78"/>
                <a:cs typeface="Yekan Bakh" pitchFamily="2" charset="-78"/>
              </a:rPr>
              <a:t>حساس به هزینه، به‌دنبال میان‌بر معرفی</a:t>
            </a:r>
            <a:endParaRPr lang="en-GB" sz="1000" dirty="0">
              <a:solidFill>
                <a:schemeClr val="tx1">
                  <a:lumMod val="65000"/>
                  <a:lumOff val="35000"/>
                </a:schemeClr>
              </a:solidFill>
              <a:latin typeface="Yekan Bakh" pitchFamily="2" charset="-78"/>
              <a:ea typeface="Yekan Bakh" pitchFamily="2" charset="-78"/>
              <a:cs typeface="Yekan Bakh" pitchFamily="2" charset="-78"/>
            </a:endParaRPr>
          </a:p>
        </p:txBody>
      </p:sp>
      <p:sp>
        <p:nvSpPr>
          <p:cNvPr id="23" name="Rectangle: Rounded Corners 22">
            <a:extLst>
              <a:ext uri="{FF2B5EF4-FFF2-40B4-BE49-F238E27FC236}">
                <a16:creationId xmlns:a16="http://schemas.microsoft.com/office/drawing/2014/main" id="{81EDC7B6-E8FD-1FCC-85AC-8FE829E3CCD9}"/>
              </a:ext>
            </a:extLst>
          </p:cNvPr>
          <p:cNvSpPr/>
          <p:nvPr/>
        </p:nvSpPr>
        <p:spPr>
          <a:xfrm>
            <a:off x="1965353" y="1293039"/>
            <a:ext cx="583594" cy="396613"/>
          </a:xfrm>
          <a:prstGeom prst="roundRect">
            <a:avLst/>
          </a:prstGeom>
          <a:solidFill>
            <a:srgbClr val="F0BE0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fa-IR" sz="1100" b="1" dirty="0">
                <a:solidFill>
                  <a:schemeClr val="bg1"/>
                </a:solidFill>
                <a:latin typeface="Yekan Bakh" pitchFamily="2" charset="-78"/>
                <a:ea typeface="Yekan Bakh" pitchFamily="2" charset="-78"/>
                <a:cs typeface="Yekan Bakh" pitchFamily="2" charset="-78"/>
              </a:rPr>
              <a:t>رفتار:</a:t>
            </a:r>
            <a:endParaRPr lang="en-GB" sz="1100" b="1" dirty="0">
              <a:solidFill>
                <a:schemeClr val="bg1"/>
              </a:solidFill>
              <a:latin typeface="Yekan Bakh" pitchFamily="2" charset="-78"/>
              <a:ea typeface="Yekan Bakh" pitchFamily="2" charset="-78"/>
              <a:cs typeface="Yekan Bakh" pitchFamily="2" charset="-78"/>
            </a:endParaRPr>
          </a:p>
        </p:txBody>
      </p:sp>
      <p:sp>
        <p:nvSpPr>
          <p:cNvPr id="25" name="Rectangle: Rounded Corners 24">
            <a:extLst>
              <a:ext uri="{FF2B5EF4-FFF2-40B4-BE49-F238E27FC236}">
                <a16:creationId xmlns:a16="http://schemas.microsoft.com/office/drawing/2014/main" id="{9B74FCEC-8C53-0FC0-88AC-F37527C363FD}"/>
              </a:ext>
            </a:extLst>
          </p:cNvPr>
          <p:cNvSpPr/>
          <p:nvPr/>
        </p:nvSpPr>
        <p:spPr>
          <a:xfrm>
            <a:off x="457199" y="1293039"/>
            <a:ext cx="1487104" cy="396613"/>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fa-IR" sz="1000" dirty="0">
                <a:solidFill>
                  <a:schemeClr val="tx1">
                    <a:lumMod val="65000"/>
                    <a:lumOff val="35000"/>
                  </a:schemeClr>
                </a:solidFill>
                <a:latin typeface="Yekan Bakh" pitchFamily="2" charset="-78"/>
                <a:ea typeface="Yekan Bakh" pitchFamily="2" charset="-78"/>
                <a:cs typeface="Yekan Bakh" pitchFamily="2" charset="-78"/>
              </a:rPr>
              <a:t>اکثراً مالک‌محور</a:t>
            </a:r>
            <a:endParaRPr lang="en-GB" sz="1000" dirty="0">
              <a:solidFill>
                <a:schemeClr val="tx1">
                  <a:lumMod val="65000"/>
                  <a:lumOff val="35000"/>
                </a:schemeClr>
              </a:solidFill>
              <a:latin typeface="Yekan Bakh" pitchFamily="2" charset="-78"/>
              <a:ea typeface="Yekan Bakh" pitchFamily="2" charset="-78"/>
              <a:cs typeface="Yekan Bakh" pitchFamily="2" charset="-78"/>
            </a:endParaRPr>
          </a:p>
        </p:txBody>
      </p:sp>
    </p:spTree>
    <p:extLst>
      <p:ext uri="{BB962C8B-B14F-4D97-AF65-F5344CB8AC3E}">
        <p14:creationId xmlns:p14="http://schemas.microsoft.com/office/powerpoint/2010/main" val="128305920"/>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A4039B-6D01-D19A-0560-BEA5B570FE57}"/>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E2FB732-FEC8-F076-ADC7-39CC714686D8}"/>
              </a:ext>
            </a:extLst>
          </p:cNvPr>
          <p:cNvSpPr>
            <a:spLocks noGrp="1"/>
          </p:cNvSpPr>
          <p:nvPr>
            <p:ph type="body" sz="quarter" idx="10"/>
          </p:nvPr>
        </p:nvSpPr>
        <p:spPr/>
        <p:txBody>
          <a:bodyPr/>
          <a:lstStyle/>
          <a:p>
            <a:r>
              <a:rPr lang="fa-IR" dirty="0"/>
              <a:t>تحلیل عمیق کانال — پرسونا 4</a:t>
            </a:r>
          </a:p>
        </p:txBody>
      </p:sp>
      <p:sp>
        <p:nvSpPr>
          <p:cNvPr id="3" name="Text Placeholder 2">
            <a:extLst>
              <a:ext uri="{FF2B5EF4-FFF2-40B4-BE49-F238E27FC236}">
                <a16:creationId xmlns:a16="http://schemas.microsoft.com/office/drawing/2014/main" id="{699B0AF6-A8CC-138F-09AC-28932EABEDA5}"/>
              </a:ext>
            </a:extLst>
          </p:cNvPr>
          <p:cNvSpPr>
            <a:spLocks noGrp="1"/>
          </p:cNvSpPr>
          <p:nvPr>
            <p:ph type="body" sz="quarter" idx="12"/>
          </p:nvPr>
        </p:nvSpPr>
        <p:spPr/>
        <p:txBody>
          <a:bodyPr/>
          <a:lstStyle/>
          <a:p>
            <a:r>
              <a:rPr lang="fa-IR" dirty="0"/>
              <a:t>۴. کسب‌وکار کنجکاو</a:t>
            </a:r>
          </a:p>
        </p:txBody>
      </p:sp>
      <p:graphicFrame>
        <p:nvGraphicFramePr>
          <p:cNvPr id="7" name="Table 6">
            <a:extLst>
              <a:ext uri="{FF2B5EF4-FFF2-40B4-BE49-F238E27FC236}">
                <a16:creationId xmlns:a16="http://schemas.microsoft.com/office/drawing/2014/main" id="{4512D0FE-F6F0-3E69-D47F-4FE5A85BF702}"/>
              </a:ext>
            </a:extLst>
          </p:cNvPr>
          <p:cNvGraphicFramePr>
            <a:graphicFrameLocks noGrp="1"/>
          </p:cNvGraphicFramePr>
          <p:nvPr>
            <p:extLst>
              <p:ext uri="{D42A27DB-BD31-4B8C-83A1-F6EECF244321}">
                <p14:modId xmlns:p14="http://schemas.microsoft.com/office/powerpoint/2010/main" val="993754771"/>
              </p:ext>
            </p:extLst>
          </p:nvPr>
        </p:nvGraphicFramePr>
        <p:xfrm>
          <a:off x="457199" y="1918254"/>
          <a:ext cx="10788648" cy="3783662"/>
        </p:xfrm>
        <a:graphic>
          <a:graphicData uri="http://schemas.openxmlformats.org/drawingml/2006/table">
            <a:tbl>
              <a:tblPr firstRow="1" bandRow="1">
                <a:tableStyleId>{5C22544A-7EE6-4342-B048-85BDC9FD1C3A}</a:tableStyleId>
              </a:tblPr>
              <a:tblGrid>
                <a:gridCol w="2697162">
                  <a:extLst>
                    <a:ext uri="{9D8B030D-6E8A-4147-A177-3AD203B41FA5}">
                      <a16:colId xmlns:a16="http://schemas.microsoft.com/office/drawing/2014/main" val="460191556"/>
                    </a:ext>
                  </a:extLst>
                </a:gridCol>
                <a:gridCol w="2697162">
                  <a:extLst>
                    <a:ext uri="{9D8B030D-6E8A-4147-A177-3AD203B41FA5}">
                      <a16:colId xmlns:a16="http://schemas.microsoft.com/office/drawing/2014/main" val="1589458168"/>
                    </a:ext>
                  </a:extLst>
                </a:gridCol>
                <a:gridCol w="2697162">
                  <a:extLst>
                    <a:ext uri="{9D8B030D-6E8A-4147-A177-3AD203B41FA5}">
                      <a16:colId xmlns:a16="http://schemas.microsoft.com/office/drawing/2014/main" val="2044792427"/>
                    </a:ext>
                  </a:extLst>
                </a:gridCol>
                <a:gridCol w="2697162">
                  <a:extLst>
                    <a:ext uri="{9D8B030D-6E8A-4147-A177-3AD203B41FA5}">
                      <a16:colId xmlns:a16="http://schemas.microsoft.com/office/drawing/2014/main" val="20000"/>
                    </a:ext>
                  </a:extLst>
                </a:gridCol>
              </a:tblGrid>
              <a:tr h="334556">
                <a:tc>
                  <a:txBody>
                    <a:bodyPr/>
                    <a:lstStyle/>
                    <a:p>
                      <a:pPr algn="ctr" rtl="1">
                        <a:lnSpc>
                          <a:spcPct val="105000"/>
                        </a:lnSpc>
                      </a:pPr>
                      <a:r>
                        <a:rPr sz="1100" b="1" dirty="0" err="1">
                          <a:solidFill>
                            <a:srgbClr val="FFFFFF"/>
                          </a:solidFill>
                          <a:latin typeface="Yekan Bakh" pitchFamily="2" charset="-78"/>
                          <a:ea typeface="Yekan Bakh" pitchFamily="2" charset="-78"/>
                          <a:cs typeface="Yekan Bakh" pitchFamily="2" charset="-78"/>
                        </a:rPr>
                        <a:t>خرید</a:t>
                      </a:r>
                      <a:endParaRPr sz="1100" b="1" dirty="0">
                        <a:solidFill>
                          <a:srgbClr val="FFFFFF"/>
                        </a:solidFill>
                        <a:latin typeface="Yekan Bakh" pitchFamily="2" charset="-78"/>
                        <a:ea typeface="Yekan Bakh" pitchFamily="2" charset="-78"/>
                        <a:cs typeface="Yekan Bakh" pitchFamily="2" charset="-78"/>
                      </a:endParaRPr>
                    </a:p>
                  </a:txBody>
                  <a:tcPr marL="50800" marR="50800" marT="38100" marB="38100" anchor="ctr">
                    <a:solidFill>
                      <a:srgbClr val="00406C">
                        <a:alpha val="30000"/>
                      </a:srgbClr>
                    </a:solidFill>
                  </a:tcPr>
                </a:tc>
                <a:tc>
                  <a:txBody>
                    <a:bodyPr/>
                    <a:lstStyle/>
                    <a:p>
                      <a:pPr algn="ctr" rtl="1">
                        <a:lnSpc>
                          <a:spcPct val="105000"/>
                        </a:lnSpc>
                      </a:pPr>
                      <a:r>
                        <a:rPr sz="1100" b="1" dirty="0" err="1">
                          <a:solidFill>
                            <a:srgbClr val="FFFFFF"/>
                          </a:solidFill>
                          <a:latin typeface="Yekan Bakh" pitchFamily="2" charset="-78"/>
                          <a:ea typeface="Yekan Bakh" pitchFamily="2" charset="-78"/>
                          <a:cs typeface="Yekan Bakh" pitchFamily="2" charset="-78"/>
                        </a:rPr>
                        <a:t>ارزیابی</a:t>
                      </a:r>
                      <a:endParaRPr sz="1100" b="1" dirty="0">
                        <a:solidFill>
                          <a:srgbClr val="FFFFFF"/>
                        </a:solidFill>
                        <a:latin typeface="Yekan Bakh" pitchFamily="2" charset="-78"/>
                        <a:ea typeface="Yekan Bakh" pitchFamily="2" charset="-78"/>
                        <a:cs typeface="Yekan Bakh" pitchFamily="2" charset="-78"/>
                      </a:endParaRPr>
                    </a:p>
                  </a:txBody>
                  <a:tcPr marL="50800" marR="50800" marT="38100" marB="38100" anchor="ctr">
                    <a:solidFill>
                      <a:srgbClr val="00406C">
                        <a:alpha val="70000"/>
                      </a:srgbClr>
                    </a:solidFill>
                  </a:tcPr>
                </a:tc>
                <a:tc>
                  <a:txBody>
                    <a:bodyPr/>
                    <a:lstStyle/>
                    <a:p>
                      <a:pPr algn="ctr" rtl="1">
                        <a:lnSpc>
                          <a:spcPct val="105000"/>
                        </a:lnSpc>
                      </a:pPr>
                      <a:r>
                        <a:rPr sz="1100" b="1" dirty="0" err="1">
                          <a:solidFill>
                            <a:srgbClr val="FFFFFF"/>
                          </a:solidFill>
                          <a:latin typeface="Yekan Bakh" pitchFamily="2" charset="-78"/>
                          <a:ea typeface="Yekan Bakh" pitchFamily="2" charset="-78"/>
                          <a:cs typeface="Yekan Bakh" pitchFamily="2" charset="-78"/>
                        </a:rPr>
                        <a:t>آگاهی‌سازی</a:t>
                      </a:r>
                      <a:endParaRPr sz="1100" b="1" dirty="0">
                        <a:solidFill>
                          <a:srgbClr val="FFFFFF"/>
                        </a:solidFill>
                        <a:latin typeface="Yekan Bakh" pitchFamily="2" charset="-78"/>
                        <a:ea typeface="Yekan Bakh" pitchFamily="2" charset="-78"/>
                        <a:cs typeface="Yekan Bakh" pitchFamily="2" charset="-78"/>
                      </a:endParaRPr>
                    </a:p>
                  </a:txBody>
                  <a:tcPr marL="50800" marR="50800" marT="38100" marB="38100" anchor="ctr">
                    <a:solidFill>
                      <a:srgbClr val="00406C"/>
                    </a:solidFill>
                  </a:tcPr>
                </a:tc>
                <a:tc>
                  <a:txBody>
                    <a:bodyPr/>
                    <a:lstStyle/>
                    <a:p>
                      <a:pPr algn="ctr" rtl="1">
                        <a:lnSpc>
                          <a:spcPct val="105000"/>
                        </a:lnSpc>
                      </a:pPr>
                      <a:endParaRPr sz="1100" dirty="0">
                        <a:latin typeface="Yekan Bakh" pitchFamily="2" charset="-78"/>
                        <a:ea typeface="Yekan Bakh" pitchFamily="2" charset="-78"/>
                        <a:cs typeface="Yekan Bakh" pitchFamily="2" charset="-78"/>
                      </a:endParaRPr>
                    </a:p>
                  </a:txBody>
                  <a:tcPr marL="50800" marR="50800" marT="38100" marB="38100" anchor="ctr">
                    <a:solidFill>
                      <a:schemeClr val="bg1"/>
                    </a:solidFill>
                  </a:tcPr>
                </a:tc>
                <a:extLst>
                  <a:ext uri="{0D108BD9-81ED-4DB2-BD59-A6C34878D82A}">
                    <a16:rowId xmlns:a16="http://schemas.microsoft.com/office/drawing/2014/main" val="10000"/>
                  </a:ext>
                </a:extLst>
              </a:tr>
              <a:tr h="691605">
                <a:tc>
                  <a:txBody>
                    <a:bodyPr/>
                    <a:lstStyle/>
                    <a:p>
                      <a:pPr algn="r" rtl="1">
                        <a:lnSpc>
                          <a:spcPct val="105000"/>
                        </a:lnSpc>
                      </a:pPr>
                      <a:r>
                        <a:rPr sz="800" b="1" dirty="0" err="1">
                          <a:solidFill>
                            <a:schemeClr val="tx1">
                              <a:lumMod val="65000"/>
                              <a:lumOff val="35000"/>
                            </a:schemeClr>
                          </a:solidFill>
                          <a:latin typeface="Yekan Bakh"/>
                          <a:cs typeface="Yekan Bakh"/>
                        </a:rPr>
                        <a:t>ثبت‌نام</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دیجیتال</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در</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برنامه</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ساختاریافته</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آمادگی</a:t>
                      </a:r>
                      <a:r>
                        <a:rPr lang="fa-IR" sz="800" b="1" dirty="0">
                          <a:solidFill>
                            <a:schemeClr val="tx1">
                              <a:lumMod val="65000"/>
                              <a:lumOff val="35000"/>
                            </a:schemeClr>
                          </a:solidFill>
                          <a:latin typeface="Yekan Bakh"/>
                          <a:cs typeface="Yekan Bakh"/>
                        </a:rPr>
                        <a:t> / </a:t>
                      </a:r>
                      <a:r>
                        <a:rPr sz="800" b="1" dirty="0" err="1">
                          <a:solidFill>
                            <a:schemeClr val="tx1">
                              <a:lumMod val="65000"/>
                              <a:lumOff val="35000"/>
                            </a:schemeClr>
                          </a:solidFill>
                          <a:latin typeface="Yekan Bakh"/>
                          <a:cs typeface="Yekan Bakh"/>
                        </a:rPr>
                        <a:t>اشتراک</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گزارش</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دوره‌ای</a:t>
                      </a:r>
                      <a:r>
                        <a:rPr sz="800" b="1" dirty="0">
                          <a:solidFill>
                            <a:schemeClr val="tx1">
                              <a:lumMod val="65000"/>
                              <a:lumOff val="35000"/>
                            </a:schemeClr>
                          </a:solidFill>
                          <a:latin typeface="Yekan Bakh"/>
                          <a:cs typeface="Yekan Bakh"/>
                        </a:rPr>
                        <a:t> </a:t>
                      </a:r>
                      <a:r>
                        <a:rPr lang="fa-IR" sz="800" b="1" dirty="0">
                          <a:solidFill>
                            <a:schemeClr val="tx1">
                              <a:lumMod val="65000"/>
                              <a:lumOff val="35000"/>
                            </a:schemeClr>
                          </a:solidFill>
                          <a:latin typeface="Yekan Bakh"/>
                          <a:cs typeface="Yekan Bakh"/>
                        </a:rPr>
                        <a:t>(</a:t>
                      </a:r>
                      <a:r>
                        <a:rPr sz="800" b="1" dirty="0">
                          <a:solidFill>
                            <a:schemeClr val="tx1">
                              <a:lumMod val="65000"/>
                              <a:lumOff val="35000"/>
                            </a:schemeClr>
                          </a:solidFill>
                          <a:latin typeface="Yekan Bakh"/>
                          <a:cs typeface="Yekan Bakh"/>
                        </a:rPr>
                        <a:t>=</a:t>
                      </a:r>
                      <a:r>
                        <a:rPr sz="800" b="1" dirty="0" err="1">
                          <a:solidFill>
                            <a:schemeClr val="tx1">
                              <a:lumMod val="65000"/>
                              <a:lumOff val="35000"/>
                            </a:schemeClr>
                          </a:solidFill>
                          <a:latin typeface="Yekan Bakh"/>
                          <a:cs typeface="Yekan Bakh"/>
                        </a:rPr>
                        <a:t>عضویت</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در</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برنامه</a:t>
                      </a:r>
                      <a:r>
                        <a:rPr lang="fa-IR" sz="800" b="1" dirty="0">
                          <a:solidFill>
                            <a:schemeClr val="tx1">
                              <a:lumMod val="65000"/>
                              <a:lumOff val="35000"/>
                            </a:schemeClr>
                          </a:solidFill>
                          <a:latin typeface="Yekan Bakh"/>
                          <a:cs typeface="Yekan Bakh"/>
                        </a:rPr>
                        <a:t>)</a:t>
                      </a:r>
                      <a:endParaRPr sz="800" b="1" dirty="0">
                        <a:solidFill>
                          <a:schemeClr val="tx1">
                            <a:lumMod val="65000"/>
                            <a:lumOff val="35000"/>
                          </a:schemeClr>
                        </a:solidFill>
                        <a:latin typeface="Yekan Bakh"/>
                        <a:cs typeface="Yekan Bakh"/>
                      </a:endParaRPr>
                    </a:p>
                  </a:txBody>
                  <a:tcPr marL="50800" marR="50800" marT="38100" marB="38100" anchor="ctr">
                    <a:solidFill>
                      <a:schemeClr val="bg1">
                        <a:lumMod val="95000"/>
                      </a:schemeClr>
                    </a:solidFill>
                  </a:tcPr>
                </a:tc>
                <a:tc>
                  <a:txBody>
                    <a:bodyPr/>
                    <a:lstStyle/>
                    <a:p>
                      <a:pPr algn="r" rtl="1">
                        <a:lnSpc>
                          <a:spcPct val="105000"/>
                        </a:lnSpc>
                      </a:pPr>
                      <a:r>
                        <a:rPr sz="800" b="1">
                          <a:solidFill>
                            <a:schemeClr val="tx1">
                              <a:lumMod val="65000"/>
                              <a:lumOff val="35000"/>
                            </a:schemeClr>
                          </a:solidFill>
                          <a:latin typeface="Yekan Bakh"/>
                          <a:cs typeface="Yekan Bakh"/>
                        </a:rPr>
                        <a:t>بریفینگ اختصاصی/وبینار با دعوت محدود </a:t>
                      </a:r>
                      <a:endParaRPr lang="fa-IR" sz="800" b="1">
                        <a:solidFill>
                          <a:schemeClr val="tx1">
                            <a:lumMod val="65000"/>
                            <a:lumOff val="35000"/>
                          </a:schemeClr>
                        </a:solidFill>
                        <a:latin typeface="Yekan Bakh"/>
                        <a:cs typeface="Yekan Bakh"/>
                      </a:endParaRPr>
                    </a:p>
                    <a:p>
                      <a:pPr algn="r" rtl="1">
                        <a:lnSpc>
                          <a:spcPct val="105000"/>
                        </a:lnSpc>
                      </a:pPr>
                      <a:r>
                        <a:rPr lang="fa-IR" sz="800" b="1">
                          <a:solidFill>
                            <a:schemeClr val="tx1">
                              <a:lumMod val="65000"/>
                              <a:lumOff val="35000"/>
                            </a:schemeClr>
                          </a:solidFill>
                          <a:latin typeface="Yekan Bakh"/>
                          <a:cs typeface="Yekan Bakh"/>
                        </a:rPr>
                        <a:t> </a:t>
                      </a:r>
                      <a:r>
                        <a:rPr sz="800" b="1">
                          <a:solidFill>
                            <a:schemeClr val="tx1">
                              <a:lumMod val="65000"/>
                              <a:lumOff val="35000"/>
                            </a:schemeClr>
                          </a:solidFill>
                          <a:latin typeface="Yekan Bakh"/>
                          <a:cs typeface="Yekan Bakh"/>
                        </a:rPr>
                        <a:t>+ گزارش</a:t>
                      </a:r>
                      <a:r>
                        <a:rPr lang="fa-IR" sz="800" b="1">
                          <a:solidFill>
                            <a:schemeClr val="tx1">
                              <a:lumMod val="65000"/>
                              <a:lumOff val="35000"/>
                            </a:schemeClr>
                          </a:solidFill>
                          <a:latin typeface="Yekan Bakh"/>
                          <a:cs typeface="Yekan Bakh"/>
                        </a:rPr>
                        <a:t>‌های مرحله‌ای </a:t>
                      </a:r>
                      <a:r>
                        <a:rPr sz="800" b="1">
                          <a:solidFill>
                            <a:schemeClr val="tx1">
                              <a:lumMod val="65000"/>
                              <a:lumOff val="35000"/>
                            </a:schemeClr>
                          </a:solidFill>
                          <a:latin typeface="Yekan Bakh"/>
                          <a:cs typeface="Yekan Bakh"/>
                        </a:rPr>
                        <a:t> (Gated report)</a:t>
                      </a:r>
                    </a:p>
                  </a:txBody>
                  <a:tcPr marL="50800" marR="50800" marT="38100" marB="38100" anchor="ctr">
                    <a:solidFill>
                      <a:schemeClr val="bg1">
                        <a:lumMod val="95000"/>
                      </a:schemeClr>
                    </a:solidFill>
                  </a:tcPr>
                </a:tc>
                <a:tc>
                  <a:txBody>
                    <a:bodyPr/>
                    <a:lstStyle/>
                    <a:p>
                      <a:pPr algn="r" rtl="1">
                        <a:lnSpc>
                          <a:spcPct val="105000"/>
                        </a:lnSpc>
                      </a:pPr>
                      <a:r>
                        <a:rPr sz="800" b="1" dirty="0" err="1">
                          <a:solidFill>
                            <a:schemeClr val="tx1">
                              <a:lumMod val="65000"/>
                              <a:lumOff val="35000"/>
                            </a:schemeClr>
                          </a:solidFill>
                          <a:latin typeface="Yekan Bakh"/>
                          <a:cs typeface="Yekan Bakh"/>
                        </a:rPr>
                        <a:t>محتوای</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تحلیلی</a:t>
                      </a:r>
                      <a:r>
                        <a:rPr sz="800" b="1" dirty="0">
                          <a:solidFill>
                            <a:schemeClr val="tx1">
                              <a:lumMod val="65000"/>
                              <a:lumOff val="35000"/>
                            </a:schemeClr>
                          </a:solidFill>
                          <a:latin typeface="Yekan Bakh"/>
                          <a:cs typeface="Yekan Bakh"/>
                        </a:rPr>
                        <a:t>/</a:t>
                      </a:r>
                      <a:r>
                        <a:rPr sz="800" b="1" dirty="0" err="1">
                          <a:solidFill>
                            <a:schemeClr val="tx1">
                              <a:lumMod val="65000"/>
                              <a:lumOff val="35000"/>
                            </a:schemeClr>
                          </a:solidFill>
                          <a:latin typeface="Yekan Bakh"/>
                          <a:cs typeface="Yekan Bakh"/>
                        </a:rPr>
                        <a:t>گزارش</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بازار</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ایران</a:t>
                      </a:r>
                      <a:r>
                        <a:rPr sz="800" b="1" dirty="0">
                          <a:solidFill>
                            <a:schemeClr val="tx1">
                              <a:lumMod val="65000"/>
                              <a:lumOff val="35000"/>
                            </a:schemeClr>
                          </a:solidFill>
                          <a:latin typeface="Yekan Bakh"/>
                          <a:cs typeface="Yekan Bakh"/>
                        </a:rPr>
                        <a:t> </a:t>
                      </a:r>
                      <a:r>
                        <a:rPr lang="fa-IR" sz="800" b="1" dirty="0">
                          <a:solidFill>
                            <a:schemeClr val="tx1">
                              <a:lumMod val="65000"/>
                              <a:lumOff val="35000"/>
                            </a:schemeClr>
                          </a:solidFill>
                          <a:latin typeface="Yekan Bakh"/>
                          <a:cs typeface="Yekan Bakh"/>
                        </a:rPr>
                        <a:t>(</a:t>
                      </a:r>
                      <a:r>
                        <a:rPr sz="800" b="1" dirty="0" err="1">
                          <a:solidFill>
                            <a:schemeClr val="tx1">
                              <a:lumMod val="65000"/>
                              <a:lumOff val="35000"/>
                            </a:schemeClr>
                          </a:solidFill>
                          <a:latin typeface="Yekan Bakh"/>
                          <a:cs typeface="Yekan Bakh"/>
                        </a:rPr>
                        <a:t>انگلیسی</a:t>
                      </a:r>
                      <a:r>
                        <a:rPr lang="fa-IR" sz="800" b="1" dirty="0">
                          <a:solidFill>
                            <a:schemeClr val="tx1">
                              <a:lumMod val="65000"/>
                              <a:lumOff val="35000"/>
                            </a:schemeClr>
                          </a:solidFill>
                          <a:latin typeface="Yekan Bakh"/>
                          <a:cs typeface="Yekan Bakh"/>
                        </a:rPr>
                        <a:t>)</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در</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رسانه‌های</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اقتصادی</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معتبر</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بین‌المللی</a:t>
                      </a:r>
                      <a:r>
                        <a:rPr sz="800" b="1" dirty="0">
                          <a:solidFill>
                            <a:schemeClr val="tx1">
                              <a:lumMod val="65000"/>
                              <a:lumOff val="35000"/>
                            </a:schemeClr>
                          </a:solidFill>
                          <a:latin typeface="Yekan Bakh"/>
                          <a:cs typeface="Yekan Bakh"/>
                        </a:rPr>
                        <a:t>/</a:t>
                      </a:r>
                      <a:r>
                        <a:rPr sz="800" b="1" dirty="0" err="1">
                          <a:solidFill>
                            <a:schemeClr val="tx1">
                              <a:lumMod val="65000"/>
                              <a:lumOff val="35000"/>
                            </a:schemeClr>
                          </a:solidFill>
                          <a:latin typeface="Yekan Bakh"/>
                          <a:cs typeface="Yekan Bakh"/>
                        </a:rPr>
                        <a:t>تخصصی</a:t>
                      </a:r>
                      <a:r>
                        <a:rPr sz="800" b="1" dirty="0">
                          <a:solidFill>
                            <a:schemeClr val="tx1">
                              <a:lumMod val="65000"/>
                              <a:lumOff val="35000"/>
                            </a:schemeClr>
                          </a:solidFill>
                          <a:latin typeface="Yekan Bakh"/>
                          <a:cs typeface="Yekan Bakh"/>
                        </a:rPr>
                        <a:t> + </a:t>
                      </a:r>
                      <a:endParaRPr lang="fa-IR" sz="800" b="1" dirty="0">
                        <a:solidFill>
                          <a:schemeClr val="tx1">
                            <a:lumMod val="65000"/>
                            <a:lumOff val="35000"/>
                          </a:schemeClr>
                        </a:solidFill>
                        <a:latin typeface="Yekan Bakh"/>
                        <a:cs typeface="Yekan Bakh"/>
                      </a:endParaRPr>
                    </a:p>
                    <a:p>
                      <a:pPr algn="r" rtl="1">
                        <a:lnSpc>
                          <a:spcPct val="105000"/>
                        </a:lnSpc>
                      </a:pPr>
                      <a:r>
                        <a:rPr sz="800" b="1" dirty="0" err="1">
                          <a:solidFill>
                            <a:schemeClr val="tx1">
                              <a:lumMod val="65000"/>
                              <a:lumOff val="35000"/>
                            </a:schemeClr>
                          </a:solidFill>
                          <a:latin typeface="Yekan Bakh"/>
                          <a:cs typeface="Yekan Bakh"/>
                        </a:rPr>
                        <a:t>رویداد</a:t>
                      </a:r>
                      <a:r>
                        <a:rPr sz="800" b="1" dirty="0">
                          <a:solidFill>
                            <a:schemeClr val="tx1">
                              <a:lumMod val="65000"/>
                              <a:lumOff val="35000"/>
                            </a:schemeClr>
                          </a:solidFill>
                          <a:latin typeface="Yekan Bakh"/>
                          <a:cs typeface="Yekan Bakh"/>
                        </a:rPr>
                        <a:t> و </a:t>
                      </a:r>
                      <a:r>
                        <a:rPr sz="800" b="1" dirty="0" err="1">
                          <a:solidFill>
                            <a:schemeClr val="tx1">
                              <a:lumMod val="65000"/>
                              <a:lumOff val="35000"/>
                            </a:schemeClr>
                          </a:solidFill>
                          <a:latin typeface="Yekan Bakh"/>
                          <a:cs typeface="Yekan Bakh"/>
                        </a:rPr>
                        <a:t>هیئت</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تجاری</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بین‌المللی</a:t>
                      </a:r>
                      <a:r>
                        <a:rPr sz="800" b="1" dirty="0">
                          <a:solidFill>
                            <a:schemeClr val="tx1">
                              <a:lumMod val="65000"/>
                              <a:lumOff val="35000"/>
                            </a:schemeClr>
                          </a:solidFill>
                          <a:latin typeface="Yekan Bakh"/>
                          <a:cs typeface="Yekan Bakh"/>
                        </a:rPr>
                        <a:t> + </a:t>
                      </a:r>
                      <a:endParaRPr lang="fa-IR" sz="800" b="1" dirty="0">
                        <a:solidFill>
                          <a:schemeClr val="tx1">
                            <a:lumMod val="65000"/>
                            <a:lumOff val="35000"/>
                          </a:schemeClr>
                        </a:solidFill>
                        <a:latin typeface="Yekan Bakh"/>
                        <a:cs typeface="Yekan Bakh"/>
                      </a:endParaRPr>
                    </a:p>
                    <a:p>
                      <a:pPr algn="r" rtl="1">
                        <a:lnSpc>
                          <a:spcPct val="105000"/>
                        </a:lnSpc>
                      </a:pPr>
                      <a:r>
                        <a:rPr sz="800" b="1" dirty="0" err="1">
                          <a:solidFill>
                            <a:schemeClr val="tx1">
                              <a:lumMod val="65000"/>
                              <a:lumOff val="35000"/>
                            </a:schemeClr>
                          </a:solidFill>
                          <a:latin typeface="Yekan Bakh"/>
                          <a:cs typeface="Yekan Bakh"/>
                        </a:rPr>
                        <a:t>شبکه‌های</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تسهیل‌گر</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تجارت</a:t>
                      </a:r>
                      <a:r>
                        <a:rPr sz="800" b="1" dirty="0">
                          <a:solidFill>
                            <a:schemeClr val="tx1">
                              <a:lumMod val="65000"/>
                              <a:lumOff val="35000"/>
                            </a:schemeClr>
                          </a:solidFill>
                          <a:latin typeface="Yekan Bakh"/>
                          <a:cs typeface="Yekan Bakh"/>
                        </a:rPr>
                        <a:t> </a:t>
                      </a:r>
                      <a:r>
                        <a:rPr lang="fa-IR" sz="800" b="1" dirty="0">
                          <a:solidFill>
                            <a:schemeClr val="tx1">
                              <a:lumMod val="65000"/>
                              <a:lumOff val="35000"/>
                            </a:schemeClr>
                          </a:solidFill>
                          <a:latin typeface="Yekan Bakh"/>
                          <a:cs typeface="Yekan Bakh"/>
                        </a:rPr>
                        <a:t>(</a:t>
                      </a:r>
                      <a:r>
                        <a:rPr sz="800" b="1" dirty="0" err="1">
                          <a:solidFill>
                            <a:schemeClr val="tx1">
                              <a:lumMod val="65000"/>
                              <a:lumOff val="35000"/>
                            </a:schemeClr>
                          </a:solidFill>
                          <a:latin typeface="Yekan Bakh"/>
                          <a:cs typeface="Yekan Bakh"/>
                        </a:rPr>
                        <a:t>نظیر</a:t>
                      </a:r>
                      <a:r>
                        <a:rPr sz="800" b="1" dirty="0">
                          <a:solidFill>
                            <a:schemeClr val="tx1">
                              <a:lumMod val="65000"/>
                              <a:lumOff val="35000"/>
                            </a:schemeClr>
                          </a:solidFill>
                          <a:latin typeface="Yekan Bakh"/>
                          <a:cs typeface="Yekan Bakh"/>
                        </a:rPr>
                        <a:t> EEN</a:t>
                      </a:r>
                      <a:r>
                        <a:rPr lang="fa-IR" sz="800" b="1" dirty="0">
                          <a:solidFill>
                            <a:schemeClr val="tx1">
                              <a:lumMod val="65000"/>
                              <a:lumOff val="35000"/>
                            </a:schemeClr>
                          </a:solidFill>
                          <a:latin typeface="Yekan Bakh"/>
                          <a:cs typeface="Yekan Bakh"/>
                        </a:rPr>
                        <a:t>)</a:t>
                      </a:r>
                      <a:r>
                        <a:rPr sz="800" b="1" dirty="0">
                          <a:solidFill>
                            <a:schemeClr val="tx1">
                              <a:lumMod val="65000"/>
                              <a:lumOff val="35000"/>
                            </a:schemeClr>
                          </a:solidFill>
                          <a:latin typeface="Yekan Bakh"/>
                          <a:cs typeface="Yekan Bakh"/>
                        </a:rPr>
                        <a:t>/</a:t>
                      </a:r>
                      <a:r>
                        <a:rPr sz="800" b="1" dirty="0" err="1">
                          <a:solidFill>
                            <a:schemeClr val="tx1">
                              <a:lumMod val="65000"/>
                              <a:lumOff val="35000"/>
                            </a:schemeClr>
                          </a:solidFill>
                          <a:latin typeface="Yekan Bakh"/>
                          <a:cs typeface="Yekan Bakh"/>
                        </a:rPr>
                        <a:t>دفاتر</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تجاری</a:t>
                      </a:r>
                      <a:endParaRPr sz="800" b="1" dirty="0">
                        <a:solidFill>
                          <a:schemeClr val="tx1">
                            <a:lumMod val="65000"/>
                            <a:lumOff val="35000"/>
                          </a:schemeClr>
                        </a:solidFill>
                        <a:latin typeface="Yekan Bakh"/>
                        <a:cs typeface="Yekan Bakh"/>
                      </a:endParaRPr>
                    </a:p>
                  </a:txBody>
                  <a:tcPr marL="50800" marR="50800" marT="38100" marB="38100" anchor="ctr">
                    <a:solidFill>
                      <a:schemeClr val="bg1">
                        <a:lumMod val="95000"/>
                      </a:schemeClr>
                    </a:solidFill>
                  </a:tcPr>
                </a:tc>
                <a:tc>
                  <a:txBody>
                    <a:bodyPr/>
                    <a:lstStyle/>
                    <a:p>
                      <a:pPr algn="ctr" rtl="1">
                        <a:lnSpc>
                          <a:spcPct val="105000"/>
                        </a:lnSpc>
                      </a:pPr>
                      <a:r>
                        <a:rPr sz="1050" b="1" dirty="0" err="1">
                          <a:solidFill>
                            <a:srgbClr val="00406C"/>
                          </a:solidFill>
                          <a:latin typeface="Yekan Bakh"/>
                          <a:cs typeface="Yekan Bakh"/>
                        </a:rPr>
                        <a:t>کانال</a:t>
                      </a:r>
                      <a:r>
                        <a:rPr sz="1050" b="1" dirty="0">
                          <a:solidFill>
                            <a:srgbClr val="00406C"/>
                          </a:solidFill>
                          <a:latin typeface="Yekan Bakh"/>
                          <a:cs typeface="Yekan Bakh"/>
                        </a:rPr>
                        <a:t> (Channel)</a:t>
                      </a:r>
                    </a:p>
                  </a:txBody>
                  <a:tcPr marL="50800" marR="50800" marT="38100" marB="38100" anchor="ctr">
                    <a:solidFill>
                      <a:schemeClr val="bg1">
                        <a:lumMod val="95000"/>
                      </a:schemeClr>
                    </a:solidFill>
                  </a:tcPr>
                </a:tc>
                <a:extLst>
                  <a:ext uri="{0D108BD9-81ED-4DB2-BD59-A6C34878D82A}">
                    <a16:rowId xmlns:a16="http://schemas.microsoft.com/office/drawing/2014/main" val="10001"/>
                  </a:ext>
                </a:extLst>
              </a:tr>
              <a:tr h="325534">
                <a:tc>
                  <a:txBody>
                    <a:bodyPr/>
                    <a:lstStyle/>
                    <a:p>
                      <a:pPr algn="r" rtl="1">
                        <a:lnSpc>
                          <a:spcPct val="105000"/>
                        </a:lnSpc>
                      </a:pPr>
                      <a:r>
                        <a:rPr lang="fa-IR" sz="800" b="0" dirty="0">
                          <a:solidFill>
                            <a:schemeClr val="tx1">
                              <a:lumMod val="65000"/>
                              <a:lumOff val="35000"/>
                            </a:schemeClr>
                          </a:solidFill>
                          <a:latin typeface="Yekan Bakh"/>
                          <a:cs typeface="Yekan Bakh"/>
                        </a:rPr>
                        <a:t>کانال تحت مالکیت + تعامل انسانی + دیجیتال + سلف سرویس</a:t>
                      </a:r>
                    </a:p>
                  </a:txBody>
                  <a:tcPr marL="50800" marR="50800" marT="38100" marB="38100" anchor="ctr">
                    <a:solidFill>
                      <a:schemeClr val="bg1"/>
                    </a:solidFill>
                  </a:tcPr>
                </a:tc>
                <a:tc>
                  <a:txBody>
                    <a:bodyPr/>
                    <a:lstStyle/>
                    <a:p>
                      <a:pPr algn="r" rtl="1">
                        <a:lnSpc>
                          <a:spcPct val="105000"/>
                        </a:lnSpc>
                      </a:pPr>
                      <a:r>
                        <a:rPr lang="fa-IR" sz="800" b="0">
                          <a:solidFill>
                            <a:schemeClr val="tx1">
                              <a:lumMod val="65000"/>
                              <a:lumOff val="35000"/>
                            </a:schemeClr>
                          </a:solidFill>
                          <a:latin typeface="Yekan Bakh"/>
                          <a:cs typeface="Yekan Bakh"/>
                        </a:rPr>
                        <a:t>کانال تحت مالکیت + تعامل انسانی + دیجیتال </a:t>
                      </a:r>
                    </a:p>
                  </a:txBody>
                  <a:tcPr marL="50800" marR="50800" marT="38100" marB="38100" anchor="ctr">
                    <a:solidFill>
                      <a:schemeClr val="bg1"/>
                    </a:solidFill>
                  </a:tcPr>
                </a:tc>
                <a:tc>
                  <a:txBody>
                    <a:bodyPr/>
                    <a:lstStyle/>
                    <a:p>
                      <a:pPr algn="r" rtl="1">
                        <a:lnSpc>
                          <a:spcPct val="105000"/>
                        </a:lnSpc>
                      </a:pPr>
                      <a:r>
                        <a:rPr lang="fa-IR" sz="800" b="0" dirty="0">
                          <a:solidFill>
                            <a:schemeClr val="tx1">
                              <a:lumMod val="65000"/>
                              <a:lumOff val="35000"/>
                            </a:schemeClr>
                          </a:solidFill>
                          <a:latin typeface="Yekan Bakh"/>
                          <a:cs typeface="Yekan Bakh"/>
                        </a:rPr>
                        <a:t>کانال تحت مالکیت + دیجیتال + فیزیکی</a:t>
                      </a:r>
                    </a:p>
                    <a:p>
                      <a:pPr algn="r" rtl="1">
                        <a:lnSpc>
                          <a:spcPct val="105000"/>
                        </a:lnSpc>
                      </a:pPr>
                      <a:r>
                        <a:rPr lang="fa-IR" sz="800" b="0" dirty="0">
                          <a:solidFill>
                            <a:schemeClr val="tx1">
                              <a:lumMod val="65000"/>
                              <a:lumOff val="35000"/>
                            </a:schemeClr>
                          </a:solidFill>
                          <a:latin typeface="Yekan Bakh"/>
                          <a:cs typeface="Yekan Bakh"/>
                        </a:rPr>
                        <a:t> کانال بیرونی + دیجیتال + فیزیکی </a:t>
                      </a:r>
                    </a:p>
                  </a:txBody>
                  <a:tcPr marL="50800" marR="50800" marT="38100" marB="38100" anchor="ctr">
                    <a:solidFill>
                      <a:schemeClr val="bg1"/>
                    </a:solidFill>
                  </a:tcPr>
                </a:tc>
                <a:tc>
                  <a:txBody>
                    <a:bodyPr/>
                    <a:lstStyle/>
                    <a:p>
                      <a:pPr algn="ctr" rtl="1">
                        <a:lnSpc>
                          <a:spcPct val="105000"/>
                        </a:lnSpc>
                      </a:pPr>
                      <a:r>
                        <a:rPr sz="1050" b="1" dirty="0" err="1">
                          <a:solidFill>
                            <a:srgbClr val="00406C"/>
                          </a:solidFill>
                          <a:latin typeface="Yekan Bakh"/>
                          <a:cs typeface="Yekan Bakh"/>
                        </a:rPr>
                        <a:t>نوع</a:t>
                      </a:r>
                      <a:r>
                        <a:rPr lang="fa-IR" sz="1050" b="1" dirty="0">
                          <a:solidFill>
                            <a:srgbClr val="00406C"/>
                          </a:solidFill>
                          <a:latin typeface="Yekan Bakh"/>
                          <a:cs typeface="Yekan Bakh"/>
                        </a:rPr>
                        <a:t> / </a:t>
                      </a:r>
                      <a:r>
                        <a:rPr sz="1050" b="1" dirty="0" err="1">
                          <a:solidFill>
                            <a:srgbClr val="00406C"/>
                          </a:solidFill>
                          <a:latin typeface="Yekan Bakh"/>
                          <a:cs typeface="Yekan Bakh"/>
                        </a:rPr>
                        <a:t>مدل</a:t>
                      </a:r>
                      <a:r>
                        <a:rPr sz="1050" b="1" dirty="0">
                          <a:solidFill>
                            <a:srgbClr val="00406C"/>
                          </a:solidFill>
                          <a:latin typeface="Yekan Bakh"/>
                          <a:cs typeface="Yekan Bakh"/>
                        </a:rPr>
                        <a:t> </a:t>
                      </a:r>
                      <a:r>
                        <a:rPr sz="1050" b="1" dirty="0" err="1">
                          <a:solidFill>
                            <a:srgbClr val="00406C"/>
                          </a:solidFill>
                          <a:latin typeface="Yekan Bakh"/>
                          <a:cs typeface="Yekan Bakh"/>
                        </a:rPr>
                        <a:t>کانال</a:t>
                      </a:r>
                      <a:endParaRPr sz="1050" b="1" dirty="0">
                        <a:solidFill>
                          <a:srgbClr val="00406C"/>
                        </a:solidFill>
                        <a:latin typeface="Yekan Bakh"/>
                        <a:cs typeface="Yekan Bakh"/>
                      </a:endParaRPr>
                    </a:p>
                  </a:txBody>
                  <a:tcPr marL="50800" marR="50800" marT="38100" marB="38100" anchor="ctr">
                    <a:solidFill>
                      <a:schemeClr val="bg1"/>
                    </a:solidFill>
                  </a:tcPr>
                </a:tc>
                <a:extLst>
                  <a:ext uri="{0D108BD9-81ED-4DB2-BD59-A6C34878D82A}">
                    <a16:rowId xmlns:a16="http://schemas.microsoft.com/office/drawing/2014/main" val="10002"/>
                  </a:ext>
                </a:extLst>
              </a:tr>
              <a:tr h="381404">
                <a:tc>
                  <a:txBody>
                    <a:bodyPr/>
                    <a:lstStyle/>
                    <a:p>
                      <a:pPr algn="r" rtl="1">
                        <a:lnSpc>
                          <a:spcPct val="105000"/>
                        </a:lnSpc>
                      </a:pPr>
                      <a:r>
                        <a:rPr sz="800" b="0">
                          <a:solidFill>
                            <a:schemeClr val="tx1">
                              <a:lumMod val="65000"/>
                              <a:lumOff val="35000"/>
                            </a:schemeClr>
                          </a:solidFill>
                          <a:latin typeface="Yekan Bakh"/>
                          <a:cs typeface="Yekan Bakh"/>
                        </a:rPr>
                        <a:t>تکمیل مسیر دیجیتال از فاز ارزیابی</a:t>
                      </a:r>
                    </a:p>
                  </a:txBody>
                  <a:tcPr marL="50800" marR="50800" marT="38100" marB="38100" anchor="ctr">
                    <a:solidFill>
                      <a:schemeClr val="bg1">
                        <a:lumMod val="95000"/>
                      </a:schemeClr>
                    </a:solidFill>
                  </a:tcPr>
                </a:tc>
                <a:tc>
                  <a:txBody>
                    <a:bodyPr/>
                    <a:lstStyle/>
                    <a:p>
                      <a:pPr algn="r" rtl="1">
                        <a:lnSpc>
                          <a:spcPct val="105000"/>
                        </a:lnSpc>
                      </a:pPr>
                      <a:r>
                        <a:rPr sz="800" b="0">
                          <a:solidFill>
                            <a:schemeClr val="tx1">
                              <a:lumMod val="65000"/>
                              <a:lumOff val="35000"/>
                            </a:schemeClr>
                          </a:solidFill>
                          <a:latin typeface="Yekan Bakh"/>
                          <a:cs typeface="Yekan Bakh"/>
                        </a:rPr>
                        <a:t>ثبت‌نام برای دریافت گزارش دروازه‌دار یا دعوت به وبینار</a:t>
                      </a:r>
                    </a:p>
                  </a:txBody>
                  <a:tcPr marL="50800" marR="50800" marT="38100" marB="38100" anchor="ctr">
                    <a:solidFill>
                      <a:schemeClr val="bg1">
                        <a:lumMod val="95000"/>
                      </a:schemeClr>
                    </a:solidFill>
                  </a:tcPr>
                </a:tc>
                <a:tc>
                  <a:txBody>
                    <a:bodyPr/>
                    <a:lstStyle/>
                    <a:p>
                      <a:pPr algn="r" rtl="1">
                        <a:lnSpc>
                          <a:spcPct val="105000"/>
                        </a:lnSpc>
                      </a:pPr>
                      <a:r>
                        <a:rPr sz="800" b="0" dirty="0" err="1">
                          <a:solidFill>
                            <a:schemeClr val="tx1">
                              <a:lumMod val="65000"/>
                              <a:lumOff val="35000"/>
                            </a:schemeClr>
                          </a:solidFill>
                          <a:latin typeface="Yekan Bakh"/>
                          <a:cs typeface="Yekan Bakh"/>
                        </a:rPr>
                        <a:t>کشف</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محتوا</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از</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طریق</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جست‌وجو</a:t>
                      </a:r>
                      <a:r>
                        <a:rPr sz="800" b="0" dirty="0">
                          <a:solidFill>
                            <a:schemeClr val="tx1">
                              <a:lumMod val="65000"/>
                              <a:lumOff val="35000"/>
                            </a:schemeClr>
                          </a:solidFill>
                          <a:latin typeface="Yekan Bakh"/>
                          <a:cs typeface="Yekan Bakh"/>
                        </a:rPr>
                        <a:t>/</a:t>
                      </a:r>
                      <a:r>
                        <a:rPr sz="800" b="0" dirty="0" err="1">
                          <a:solidFill>
                            <a:schemeClr val="tx1">
                              <a:lumMod val="65000"/>
                              <a:lumOff val="35000"/>
                            </a:schemeClr>
                          </a:solidFill>
                          <a:latin typeface="Yekan Bakh"/>
                          <a:cs typeface="Yekan Bakh"/>
                        </a:rPr>
                        <a:t>رسانه</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تخصصی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دعوت</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به</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رویداد</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از</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شبکه</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تسهیل‌گر</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تجاری</a:t>
                      </a:r>
                      <a:endParaRPr sz="800" b="0" dirty="0">
                        <a:solidFill>
                          <a:schemeClr val="tx1">
                            <a:lumMod val="65000"/>
                            <a:lumOff val="35000"/>
                          </a:schemeClr>
                        </a:solidFill>
                        <a:latin typeface="Yekan Bakh"/>
                        <a:cs typeface="Yekan Bakh"/>
                      </a:endParaRPr>
                    </a:p>
                  </a:txBody>
                  <a:tcPr marL="50800" marR="50800" marT="38100" marB="38100" anchor="ctr">
                    <a:solidFill>
                      <a:schemeClr val="bg1">
                        <a:lumMod val="95000"/>
                      </a:schemeClr>
                    </a:solidFill>
                  </a:tcPr>
                </a:tc>
                <a:tc>
                  <a:txBody>
                    <a:bodyPr/>
                    <a:lstStyle/>
                    <a:p>
                      <a:pPr algn="ctr" rtl="1">
                        <a:lnSpc>
                          <a:spcPct val="105000"/>
                        </a:lnSpc>
                      </a:pPr>
                      <a:r>
                        <a:rPr sz="1050" b="1" dirty="0" err="1">
                          <a:solidFill>
                            <a:srgbClr val="00406C"/>
                          </a:solidFill>
                          <a:latin typeface="Yekan Bakh"/>
                          <a:cs typeface="Yekan Bakh"/>
                        </a:rPr>
                        <a:t>منبع</a:t>
                      </a:r>
                      <a:r>
                        <a:rPr sz="1050" b="1" dirty="0">
                          <a:solidFill>
                            <a:srgbClr val="00406C"/>
                          </a:solidFill>
                          <a:latin typeface="Yekan Bakh"/>
                          <a:cs typeface="Yekan Bakh"/>
                        </a:rPr>
                        <a:t> </a:t>
                      </a:r>
                      <a:r>
                        <a:rPr sz="1050" b="1" dirty="0" err="1">
                          <a:solidFill>
                            <a:srgbClr val="00406C"/>
                          </a:solidFill>
                          <a:latin typeface="Yekan Bakh"/>
                          <a:cs typeface="Yekan Bakh"/>
                        </a:rPr>
                        <a:t>دسترسی</a:t>
                      </a:r>
                      <a:r>
                        <a:rPr sz="1050" b="1" dirty="0">
                          <a:solidFill>
                            <a:srgbClr val="00406C"/>
                          </a:solidFill>
                          <a:latin typeface="Yekan Bakh"/>
                          <a:cs typeface="Yekan Bakh"/>
                        </a:rPr>
                        <a:t>/ </a:t>
                      </a:r>
                      <a:r>
                        <a:rPr lang="fa-IR" sz="1050" b="1" dirty="0">
                          <a:solidFill>
                            <a:srgbClr val="00406C"/>
                          </a:solidFill>
                          <a:latin typeface="Yekan Bakh"/>
                          <a:cs typeface="Yekan Bakh"/>
                        </a:rPr>
                        <a:t> </a:t>
                      </a:r>
                      <a:r>
                        <a:rPr sz="1050" b="1" dirty="0" err="1">
                          <a:solidFill>
                            <a:srgbClr val="00406C"/>
                          </a:solidFill>
                          <a:latin typeface="Yekan Bakh"/>
                          <a:cs typeface="Yekan Bakh"/>
                        </a:rPr>
                        <a:t>جذب</a:t>
                      </a:r>
                      <a:endParaRPr sz="1050" b="1" dirty="0">
                        <a:solidFill>
                          <a:srgbClr val="00406C"/>
                        </a:solidFill>
                        <a:latin typeface="Yekan Bakh"/>
                        <a:cs typeface="Yekan Bakh"/>
                      </a:endParaRPr>
                    </a:p>
                  </a:txBody>
                  <a:tcPr marL="50800" marR="50800" marT="38100" marB="38100" anchor="ctr">
                    <a:solidFill>
                      <a:schemeClr val="bg1">
                        <a:lumMod val="95000"/>
                      </a:schemeClr>
                    </a:solidFill>
                  </a:tcPr>
                </a:tc>
                <a:extLst>
                  <a:ext uri="{0D108BD9-81ED-4DB2-BD59-A6C34878D82A}">
                    <a16:rowId xmlns:a16="http://schemas.microsoft.com/office/drawing/2014/main" val="10003"/>
                  </a:ext>
                </a:extLst>
              </a:tr>
              <a:tr h="320787">
                <a:tc>
                  <a:txBody>
                    <a:bodyPr/>
                    <a:lstStyle/>
                    <a:p>
                      <a:pPr algn="r" rtl="1">
                        <a:lnSpc>
                          <a:spcPct val="105000"/>
                        </a:lnSpc>
                      </a:pPr>
                      <a:r>
                        <a:rPr sz="800" b="0">
                          <a:solidFill>
                            <a:schemeClr val="tx1">
                              <a:lumMod val="65000"/>
                              <a:lumOff val="35000"/>
                            </a:schemeClr>
                          </a:solidFill>
                          <a:latin typeface="Yekan Bakh"/>
                          <a:cs typeface="Yekan Bakh"/>
                        </a:rPr>
                        <a:t>صفحه ثبت‌نام/اشتراک آنلاین</a:t>
                      </a:r>
                    </a:p>
                  </a:txBody>
                  <a:tcPr marL="50800" marR="50800" marT="38100" marB="38100" anchor="ctr">
                    <a:solidFill>
                      <a:schemeClr val="bg1"/>
                    </a:solidFill>
                  </a:tcPr>
                </a:tc>
                <a:tc>
                  <a:txBody>
                    <a:bodyPr/>
                    <a:lstStyle/>
                    <a:p>
                      <a:pPr algn="r" rtl="1">
                        <a:lnSpc>
                          <a:spcPct val="105000"/>
                        </a:lnSpc>
                      </a:pPr>
                      <a:r>
                        <a:rPr sz="800" b="0">
                          <a:solidFill>
                            <a:schemeClr val="tx1">
                              <a:lumMod val="65000"/>
                              <a:lumOff val="35000"/>
                            </a:schemeClr>
                          </a:solidFill>
                          <a:latin typeface="Yekan Bakh"/>
                          <a:cs typeface="Yekan Bakh"/>
                        </a:rPr>
                        <a:t>وبینار آنلاین؛ فرم دانلود گزارش</a:t>
                      </a:r>
                    </a:p>
                  </a:txBody>
                  <a:tcPr marL="50800" marR="50800" marT="38100" marB="38100" anchor="ctr">
                    <a:solidFill>
                      <a:schemeClr val="bg1"/>
                    </a:solidFill>
                  </a:tcPr>
                </a:tc>
                <a:tc>
                  <a:txBody>
                    <a:bodyPr/>
                    <a:lstStyle/>
                    <a:p>
                      <a:pPr algn="r" rtl="1">
                        <a:lnSpc>
                          <a:spcPct val="105000"/>
                        </a:lnSpc>
                      </a:pPr>
                      <a:r>
                        <a:rPr sz="800" b="0" dirty="0" err="1">
                          <a:solidFill>
                            <a:schemeClr val="tx1">
                              <a:lumMod val="65000"/>
                              <a:lumOff val="35000"/>
                            </a:schemeClr>
                          </a:solidFill>
                          <a:latin typeface="Yekan Bakh"/>
                          <a:cs typeface="Yekan Bakh"/>
                        </a:rPr>
                        <a:t>مقاله</a:t>
                      </a:r>
                      <a:r>
                        <a:rPr sz="800" b="0" dirty="0">
                          <a:solidFill>
                            <a:schemeClr val="tx1">
                              <a:lumMod val="65000"/>
                              <a:lumOff val="35000"/>
                            </a:schemeClr>
                          </a:solidFill>
                          <a:latin typeface="Yekan Bakh"/>
                          <a:cs typeface="Yekan Bakh"/>
                        </a:rPr>
                        <a:t>/</a:t>
                      </a:r>
                      <a:r>
                        <a:rPr sz="800" b="0" dirty="0" err="1">
                          <a:solidFill>
                            <a:schemeClr val="tx1">
                              <a:lumMod val="65000"/>
                              <a:lumOff val="35000"/>
                            </a:schemeClr>
                          </a:solidFill>
                          <a:latin typeface="Yekan Bakh"/>
                          <a:cs typeface="Yekan Bakh"/>
                        </a:rPr>
                        <a:t>گزارش</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آنلاین</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غرفه</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یا</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نشست</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در</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رویداد</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تجاری</a:t>
                      </a:r>
                      <a:endParaRPr sz="800" b="0" dirty="0">
                        <a:solidFill>
                          <a:schemeClr val="tx1">
                            <a:lumMod val="65000"/>
                            <a:lumOff val="35000"/>
                          </a:schemeClr>
                        </a:solidFill>
                        <a:latin typeface="Yekan Bakh"/>
                        <a:cs typeface="Yekan Bakh"/>
                      </a:endParaRPr>
                    </a:p>
                  </a:txBody>
                  <a:tcPr marL="50800" marR="50800" marT="38100" marB="38100" anchor="ctr">
                    <a:solidFill>
                      <a:schemeClr val="bg1"/>
                    </a:solidFill>
                  </a:tcPr>
                </a:tc>
                <a:tc>
                  <a:txBody>
                    <a:bodyPr/>
                    <a:lstStyle/>
                    <a:p>
                      <a:pPr algn="ctr" rtl="1">
                        <a:lnSpc>
                          <a:spcPct val="105000"/>
                        </a:lnSpc>
                      </a:pPr>
                      <a:r>
                        <a:rPr sz="1050" b="1" dirty="0" err="1">
                          <a:solidFill>
                            <a:srgbClr val="00406C"/>
                          </a:solidFill>
                          <a:latin typeface="Yekan Bakh"/>
                          <a:cs typeface="Yekan Bakh"/>
                        </a:rPr>
                        <a:t>نقطه</a:t>
                      </a:r>
                      <a:r>
                        <a:rPr sz="1050" b="1" dirty="0">
                          <a:solidFill>
                            <a:srgbClr val="00406C"/>
                          </a:solidFill>
                          <a:latin typeface="Yekan Bakh"/>
                          <a:cs typeface="Yekan Bakh"/>
                        </a:rPr>
                        <a:t> </a:t>
                      </a:r>
                      <a:r>
                        <a:rPr sz="1050" b="1" dirty="0" err="1">
                          <a:solidFill>
                            <a:srgbClr val="00406C"/>
                          </a:solidFill>
                          <a:latin typeface="Yekan Bakh"/>
                          <a:cs typeface="Yekan Bakh"/>
                        </a:rPr>
                        <a:t>تماس</a:t>
                      </a:r>
                      <a:endParaRPr sz="1050" b="1" dirty="0">
                        <a:solidFill>
                          <a:srgbClr val="00406C"/>
                        </a:solidFill>
                        <a:latin typeface="Yekan Bakh"/>
                        <a:cs typeface="Yekan Bakh"/>
                      </a:endParaRPr>
                    </a:p>
                  </a:txBody>
                  <a:tcPr marL="50800" marR="50800" marT="38100" marB="38100" anchor="ctr">
                    <a:solidFill>
                      <a:schemeClr val="bg1"/>
                    </a:solidFill>
                  </a:tcPr>
                </a:tc>
                <a:extLst>
                  <a:ext uri="{0D108BD9-81ED-4DB2-BD59-A6C34878D82A}">
                    <a16:rowId xmlns:a16="http://schemas.microsoft.com/office/drawing/2014/main" val="10004"/>
                  </a:ext>
                </a:extLst>
              </a:tr>
              <a:tr h="365512">
                <a:tc>
                  <a:txBody>
                    <a:bodyPr/>
                    <a:lstStyle/>
                    <a:p>
                      <a:pPr algn="r" rtl="1">
                        <a:lnSpc>
                          <a:spcPct val="105000"/>
                        </a:lnSpc>
                      </a:pPr>
                      <a:r>
                        <a:rPr sz="800" b="0">
                          <a:solidFill>
                            <a:schemeClr val="tx1">
                              <a:lumMod val="65000"/>
                              <a:lumOff val="35000"/>
                            </a:schemeClr>
                          </a:solidFill>
                          <a:latin typeface="Yekan Bakh"/>
                          <a:cs typeface="Yekan Bakh"/>
                        </a:rPr>
                        <a:t>عضویت در برنامه و دریافت محتوای دوره‌ای</a:t>
                      </a:r>
                    </a:p>
                  </a:txBody>
                  <a:tcPr marL="50800" marR="50800" marT="38100" marB="38100" anchor="ctr">
                    <a:solidFill>
                      <a:schemeClr val="bg1">
                        <a:lumMod val="95000"/>
                      </a:schemeClr>
                    </a:solidFill>
                  </a:tcPr>
                </a:tc>
                <a:tc>
                  <a:txBody>
                    <a:bodyPr/>
                    <a:lstStyle/>
                    <a:p>
                      <a:pPr algn="r" rtl="1">
                        <a:lnSpc>
                          <a:spcPct val="105000"/>
                        </a:lnSpc>
                      </a:pPr>
                      <a:r>
                        <a:rPr sz="800" b="0">
                          <a:solidFill>
                            <a:schemeClr val="tx1">
                              <a:lumMod val="65000"/>
                              <a:lumOff val="35000"/>
                            </a:schemeClr>
                          </a:solidFill>
                          <a:latin typeface="Yekan Bakh"/>
                          <a:cs typeface="Yekan Bakh"/>
                        </a:rPr>
                        <a:t>ارائه بریفینگ تخصصی؛ پاسخ به پرسش‌های اولیه بدون فشار فروش</a:t>
                      </a:r>
                    </a:p>
                  </a:txBody>
                  <a:tcPr marL="50800" marR="50800" marT="38100" marB="38100" anchor="ctr">
                    <a:solidFill>
                      <a:schemeClr val="bg1">
                        <a:lumMod val="95000"/>
                      </a:schemeClr>
                    </a:solidFill>
                  </a:tcPr>
                </a:tc>
                <a:tc>
                  <a:txBody>
                    <a:bodyPr/>
                    <a:lstStyle/>
                    <a:p>
                      <a:pPr algn="r" rtl="1">
                        <a:lnSpc>
                          <a:spcPct val="105000"/>
                        </a:lnSpc>
                      </a:pPr>
                      <a:r>
                        <a:rPr sz="800" b="0" dirty="0" err="1">
                          <a:solidFill>
                            <a:schemeClr val="tx1">
                              <a:lumMod val="65000"/>
                              <a:lumOff val="35000"/>
                            </a:schemeClr>
                          </a:solidFill>
                          <a:latin typeface="Yekan Bakh"/>
                          <a:cs typeface="Yekan Bakh"/>
                        </a:rPr>
                        <a:t>مطالعه</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گزارش</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تحلیلی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گفت‌وگوی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اولیه</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در</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رویداد</a:t>
                      </a:r>
                      <a:endParaRPr sz="800" b="0" dirty="0">
                        <a:solidFill>
                          <a:schemeClr val="tx1">
                            <a:lumMod val="65000"/>
                            <a:lumOff val="35000"/>
                          </a:schemeClr>
                        </a:solidFill>
                        <a:latin typeface="Yekan Bakh"/>
                        <a:cs typeface="Yekan Bakh"/>
                      </a:endParaRPr>
                    </a:p>
                  </a:txBody>
                  <a:tcPr marL="50800" marR="50800" marT="38100" marB="38100" anchor="ctr">
                    <a:solidFill>
                      <a:schemeClr val="bg1">
                        <a:lumMod val="95000"/>
                      </a:schemeClr>
                    </a:solidFill>
                  </a:tcPr>
                </a:tc>
                <a:tc>
                  <a:txBody>
                    <a:bodyPr/>
                    <a:lstStyle/>
                    <a:p>
                      <a:pPr algn="ctr" rtl="1">
                        <a:lnSpc>
                          <a:spcPct val="105000"/>
                        </a:lnSpc>
                      </a:pPr>
                      <a:r>
                        <a:rPr sz="1050" b="1" dirty="0" err="1">
                          <a:solidFill>
                            <a:srgbClr val="00406C"/>
                          </a:solidFill>
                          <a:latin typeface="Yekan Bakh"/>
                          <a:cs typeface="Yekan Bakh"/>
                        </a:rPr>
                        <a:t>فعالیت</a:t>
                      </a:r>
                      <a:r>
                        <a:rPr sz="1050" b="1" dirty="0">
                          <a:solidFill>
                            <a:srgbClr val="00406C"/>
                          </a:solidFill>
                          <a:latin typeface="Yekan Bakh"/>
                          <a:cs typeface="Yekan Bakh"/>
                        </a:rPr>
                        <a:t> </a:t>
                      </a:r>
                      <a:r>
                        <a:rPr lang="fa-IR" sz="1050" b="1" dirty="0">
                          <a:solidFill>
                            <a:srgbClr val="00406C"/>
                          </a:solidFill>
                          <a:latin typeface="Yekan Bakh"/>
                          <a:cs typeface="Yekan Bakh"/>
                        </a:rPr>
                        <a:t>/</a:t>
                      </a:r>
                      <a:r>
                        <a:rPr sz="1050" b="1" dirty="0">
                          <a:solidFill>
                            <a:srgbClr val="00406C"/>
                          </a:solidFill>
                          <a:latin typeface="Yekan Bakh"/>
                          <a:cs typeface="Yekan Bakh"/>
                        </a:rPr>
                        <a:t> </a:t>
                      </a:r>
                      <a:r>
                        <a:rPr sz="1050" b="1" dirty="0" err="1">
                          <a:solidFill>
                            <a:srgbClr val="00406C"/>
                          </a:solidFill>
                          <a:latin typeface="Yekan Bakh"/>
                          <a:cs typeface="Yekan Bakh"/>
                        </a:rPr>
                        <a:t>اقدام</a:t>
                      </a:r>
                      <a:endParaRPr sz="1050" b="1" dirty="0">
                        <a:solidFill>
                          <a:srgbClr val="00406C"/>
                        </a:solidFill>
                        <a:latin typeface="Yekan Bakh"/>
                        <a:cs typeface="Yekan Bakh"/>
                      </a:endParaRPr>
                    </a:p>
                  </a:txBody>
                  <a:tcPr marL="50800" marR="50800" marT="38100" marB="38100" anchor="ctr">
                    <a:solidFill>
                      <a:schemeClr val="bg1">
                        <a:lumMod val="95000"/>
                      </a:schemeClr>
                    </a:solidFill>
                  </a:tcPr>
                </a:tc>
                <a:extLst>
                  <a:ext uri="{0D108BD9-81ED-4DB2-BD59-A6C34878D82A}">
                    <a16:rowId xmlns:a16="http://schemas.microsoft.com/office/drawing/2014/main" val="10005"/>
                  </a:ext>
                </a:extLst>
              </a:tr>
              <a:tr h="333729">
                <a:tc>
                  <a:txBody>
                    <a:bodyPr/>
                    <a:lstStyle/>
                    <a:p>
                      <a:pPr algn="r" rtl="1">
                        <a:lnSpc>
                          <a:spcPct val="105000"/>
                        </a:lnSpc>
                      </a:pPr>
                      <a:r>
                        <a:rPr sz="800" b="0">
                          <a:solidFill>
                            <a:schemeClr val="tx1">
                              <a:lumMod val="65000"/>
                              <a:lumOff val="35000"/>
                            </a:schemeClr>
                          </a:solidFill>
                          <a:latin typeface="Yekan Bakh"/>
                          <a:cs typeface="Yekan Bakh"/>
                        </a:rPr>
                        <a:t>خودِ مشتری؛ سامانه اشتراک </a:t>
                      </a:r>
                      <a:r>
                        <a:rPr lang="fa-IR" sz="800" b="0">
                          <a:solidFill>
                            <a:schemeClr val="tx1">
                              <a:lumMod val="65000"/>
                              <a:lumOff val="35000"/>
                            </a:schemeClr>
                          </a:solidFill>
                          <a:latin typeface="Yekan Bakh"/>
                          <a:cs typeface="Yekan Bakh"/>
                        </a:rPr>
                        <a:t>اکوسیستم فرصت ایران</a:t>
                      </a:r>
                      <a:endParaRPr sz="800" b="0">
                        <a:solidFill>
                          <a:schemeClr val="tx1">
                            <a:lumMod val="65000"/>
                            <a:lumOff val="35000"/>
                          </a:schemeClr>
                        </a:solidFill>
                        <a:latin typeface="Yekan Bakh"/>
                        <a:cs typeface="Yekan Bakh"/>
                      </a:endParaRPr>
                    </a:p>
                  </a:txBody>
                  <a:tcPr marL="50800" marR="50800" marT="38100" marB="38100" anchor="ctr">
                    <a:solidFill>
                      <a:schemeClr val="bg1"/>
                    </a:solidFill>
                  </a:tcPr>
                </a:tc>
                <a:tc>
                  <a:txBody>
                    <a:bodyPr/>
                    <a:lstStyle/>
                    <a:p>
                      <a:pPr algn="r" rtl="1">
                        <a:lnSpc>
                          <a:spcPct val="105000"/>
                        </a:lnSpc>
                      </a:pPr>
                      <a:r>
                        <a:rPr sz="800" b="0">
                          <a:solidFill>
                            <a:schemeClr val="tx1">
                              <a:lumMod val="65000"/>
                              <a:lumOff val="35000"/>
                            </a:schemeClr>
                          </a:solidFill>
                          <a:latin typeface="Yekan Bakh"/>
                          <a:cs typeface="Yekan Bakh"/>
                        </a:rPr>
                        <a:t>تیم توسعه کسب‌وکار </a:t>
                      </a:r>
                      <a:r>
                        <a:rPr lang="fa-IR" sz="800" b="0">
                          <a:solidFill>
                            <a:schemeClr val="tx1">
                              <a:lumMod val="65000"/>
                              <a:lumOff val="35000"/>
                            </a:schemeClr>
                          </a:solidFill>
                          <a:latin typeface="Yekan Bakh"/>
                          <a:cs typeface="Yekan Bakh"/>
                        </a:rPr>
                        <a:t>اکوسیستم فرصت ایران</a:t>
                      </a:r>
                      <a:endParaRPr sz="800" b="0">
                        <a:solidFill>
                          <a:schemeClr val="tx1">
                            <a:lumMod val="65000"/>
                            <a:lumOff val="35000"/>
                          </a:schemeClr>
                        </a:solidFill>
                        <a:latin typeface="Yekan Bakh"/>
                        <a:cs typeface="Yekan Bakh"/>
                      </a:endParaRPr>
                    </a:p>
                  </a:txBody>
                  <a:tcPr marL="50800" marR="50800" marT="38100" marB="38100" anchor="ctr">
                    <a:solidFill>
                      <a:schemeClr val="bg1"/>
                    </a:solidFill>
                  </a:tcPr>
                </a:tc>
                <a:tc>
                  <a:txBody>
                    <a:bodyPr/>
                    <a:lstStyle/>
                    <a:p>
                      <a:pPr algn="r" rtl="1">
                        <a:lnSpc>
                          <a:spcPct val="105000"/>
                        </a:lnSpc>
                      </a:pPr>
                      <a:r>
                        <a:rPr sz="800" b="0" dirty="0" err="1">
                          <a:solidFill>
                            <a:schemeClr val="tx1">
                              <a:lumMod val="65000"/>
                              <a:lumOff val="35000"/>
                            </a:schemeClr>
                          </a:solidFill>
                          <a:latin typeface="Yekan Bakh"/>
                          <a:cs typeface="Yekan Bakh"/>
                        </a:rPr>
                        <a:t>تیم</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محتوای</a:t>
                      </a:r>
                      <a:r>
                        <a:rPr sz="800" b="0" dirty="0">
                          <a:solidFill>
                            <a:schemeClr val="tx1">
                              <a:lumMod val="65000"/>
                              <a:lumOff val="35000"/>
                            </a:schemeClr>
                          </a:solidFill>
                          <a:latin typeface="Yekan Bakh"/>
                          <a:cs typeface="Yekan Bakh"/>
                        </a:rPr>
                        <a:t> </a:t>
                      </a:r>
                      <a:r>
                        <a:rPr lang="fa-IR" sz="800" b="0" dirty="0">
                          <a:solidFill>
                            <a:schemeClr val="tx1">
                              <a:lumMod val="65000"/>
                              <a:lumOff val="35000"/>
                            </a:schemeClr>
                          </a:solidFill>
                          <a:latin typeface="Yekan Bakh"/>
                          <a:cs typeface="Yekan Bakh"/>
                        </a:rPr>
                        <a:t>اکوسیستم فرصت ایران</a:t>
                      </a:r>
                      <a:r>
                        <a:rPr lang="en-US" sz="800" b="0" dirty="0">
                          <a:solidFill>
                            <a:schemeClr val="tx1">
                              <a:lumMod val="65000"/>
                              <a:lumOff val="35000"/>
                            </a:schemeClr>
                          </a:solidFill>
                          <a:latin typeface="Yekan Bakh"/>
                          <a:cs typeface="Yekan Bakh"/>
                        </a:rPr>
                        <a:t> </a:t>
                      </a:r>
                      <a:r>
                        <a:rPr lang="fa-IR" sz="800" b="0" dirty="0">
                          <a:solidFill>
                            <a:schemeClr val="tx1">
                              <a:lumMod val="65000"/>
                              <a:lumOff val="35000"/>
                            </a:schemeClr>
                          </a:solidFill>
                          <a:latin typeface="Yekan Bakh"/>
                          <a:cs typeface="Yekan Bakh"/>
                        </a:rPr>
                        <a:t>(</a:t>
                      </a:r>
                      <a:r>
                        <a:rPr sz="800" b="0" dirty="0" err="1">
                          <a:solidFill>
                            <a:schemeClr val="tx1">
                              <a:lumMod val="65000"/>
                              <a:lumOff val="35000"/>
                            </a:schemeClr>
                          </a:solidFill>
                          <a:latin typeface="Yekan Bakh"/>
                          <a:cs typeface="Yekan Bakh"/>
                        </a:rPr>
                        <a:t>انتشار</a:t>
                      </a:r>
                      <a:r>
                        <a:rPr lang="fa-IR" sz="800" b="0" dirty="0">
                          <a:solidFill>
                            <a:schemeClr val="tx1">
                              <a:lumMod val="65000"/>
                              <a:lumOff val="35000"/>
                            </a:schemeClr>
                          </a:solidFill>
                          <a:latin typeface="Yekan Bakh"/>
                          <a:cs typeface="Yekan Bakh"/>
                        </a:rPr>
                        <a:t>)</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نماینده</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شبکه</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تسهیل‌گر</a:t>
                      </a:r>
                      <a:r>
                        <a:rPr sz="800" b="0" dirty="0">
                          <a:solidFill>
                            <a:schemeClr val="tx1">
                              <a:lumMod val="65000"/>
                              <a:lumOff val="35000"/>
                            </a:schemeClr>
                          </a:solidFill>
                          <a:latin typeface="Yekan Bakh"/>
                          <a:cs typeface="Yekan Bakh"/>
                        </a:rPr>
                        <a:t>/</a:t>
                      </a:r>
                      <a:r>
                        <a:rPr sz="800" b="0" dirty="0" err="1">
                          <a:solidFill>
                            <a:schemeClr val="tx1">
                              <a:lumMod val="65000"/>
                              <a:lumOff val="35000"/>
                            </a:schemeClr>
                          </a:solidFill>
                          <a:latin typeface="Yekan Bakh"/>
                          <a:cs typeface="Yekan Bakh"/>
                        </a:rPr>
                        <a:t>دفتر</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تجاری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در</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رویداد</a:t>
                      </a:r>
                      <a:endParaRPr sz="800" b="0" dirty="0">
                        <a:solidFill>
                          <a:schemeClr val="tx1">
                            <a:lumMod val="65000"/>
                            <a:lumOff val="35000"/>
                          </a:schemeClr>
                        </a:solidFill>
                        <a:latin typeface="Yekan Bakh"/>
                        <a:cs typeface="Yekan Bakh"/>
                      </a:endParaRPr>
                    </a:p>
                  </a:txBody>
                  <a:tcPr marL="50800" marR="50800" marT="38100" marB="38100" anchor="ctr">
                    <a:solidFill>
                      <a:schemeClr val="bg1"/>
                    </a:solidFill>
                  </a:tcPr>
                </a:tc>
                <a:tc>
                  <a:txBody>
                    <a:bodyPr/>
                    <a:lstStyle/>
                    <a:p>
                      <a:pPr algn="ctr" rtl="1">
                        <a:lnSpc>
                          <a:spcPct val="105000"/>
                        </a:lnSpc>
                      </a:pPr>
                      <a:r>
                        <a:rPr sz="1050" b="1" dirty="0" err="1">
                          <a:solidFill>
                            <a:srgbClr val="00406C"/>
                          </a:solidFill>
                          <a:latin typeface="Yekan Bakh"/>
                          <a:cs typeface="Yekan Bakh"/>
                        </a:rPr>
                        <a:t>بازیگر</a:t>
                      </a:r>
                      <a:r>
                        <a:rPr sz="1050" b="1" dirty="0">
                          <a:solidFill>
                            <a:srgbClr val="00406C"/>
                          </a:solidFill>
                          <a:latin typeface="Yekan Bakh"/>
                          <a:cs typeface="Yekan Bakh"/>
                        </a:rPr>
                        <a:t>/ </a:t>
                      </a:r>
                      <a:r>
                        <a:rPr lang="fa-IR" sz="1050" b="1" dirty="0">
                          <a:solidFill>
                            <a:srgbClr val="00406C"/>
                          </a:solidFill>
                          <a:latin typeface="Yekan Bakh"/>
                          <a:cs typeface="Yekan Bakh"/>
                        </a:rPr>
                        <a:t> م</a:t>
                      </a:r>
                      <a:r>
                        <a:rPr sz="1050" b="1" dirty="0" err="1">
                          <a:solidFill>
                            <a:srgbClr val="00406C"/>
                          </a:solidFill>
                          <a:latin typeface="Yekan Bakh"/>
                          <a:cs typeface="Yekan Bakh"/>
                        </a:rPr>
                        <a:t>الک</a:t>
                      </a:r>
                      <a:r>
                        <a:rPr sz="1050" b="1" dirty="0">
                          <a:solidFill>
                            <a:srgbClr val="00406C"/>
                          </a:solidFill>
                          <a:latin typeface="Yekan Bakh"/>
                          <a:cs typeface="Yekan Bakh"/>
                        </a:rPr>
                        <a:t> </a:t>
                      </a:r>
                      <a:r>
                        <a:rPr sz="1050" b="1" dirty="0" err="1">
                          <a:solidFill>
                            <a:srgbClr val="00406C"/>
                          </a:solidFill>
                          <a:latin typeface="Yekan Bakh"/>
                          <a:cs typeface="Yekan Bakh"/>
                        </a:rPr>
                        <a:t>تعامل</a:t>
                      </a:r>
                      <a:endParaRPr sz="1050" b="1" dirty="0">
                        <a:solidFill>
                          <a:srgbClr val="00406C"/>
                        </a:solidFill>
                        <a:latin typeface="Yekan Bakh"/>
                        <a:cs typeface="Yekan Bakh"/>
                      </a:endParaRPr>
                    </a:p>
                  </a:txBody>
                  <a:tcPr marL="50800" marR="50800" marT="38100" marB="38100" anchor="ctr">
                    <a:solidFill>
                      <a:schemeClr val="bg1"/>
                    </a:solidFill>
                  </a:tcPr>
                </a:tc>
                <a:extLst>
                  <a:ext uri="{0D108BD9-81ED-4DB2-BD59-A6C34878D82A}">
                    <a16:rowId xmlns:a16="http://schemas.microsoft.com/office/drawing/2014/main" val="10006"/>
                  </a:ext>
                </a:extLst>
              </a:tr>
              <a:tr h="325534">
                <a:tc>
                  <a:txBody>
                    <a:bodyPr/>
                    <a:lstStyle/>
                    <a:p>
                      <a:pPr algn="r" rtl="1">
                        <a:lnSpc>
                          <a:spcPct val="105000"/>
                        </a:lnSpc>
                      </a:pPr>
                      <a:r>
                        <a:rPr sz="800" b="0">
                          <a:solidFill>
                            <a:schemeClr val="tx1">
                              <a:lumMod val="65000"/>
                              <a:lumOff val="35000"/>
                            </a:schemeClr>
                          </a:solidFill>
                          <a:latin typeface="Yekan Bakh"/>
                          <a:cs typeface="Yekan Bakh"/>
                        </a:rPr>
                        <a:t>Meeting / Renewal </a:t>
                      </a:r>
                      <a:r>
                        <a:rPr lang="fa-IR" sz="800" b="0">
                          <a:solidFill>
                            <a:schemeClr val="tx1">
                              <a:lumMod val="65000"/>
                              <a:lumOff val="35000"/>
                            </a:schemeClr>
                          </a:solidFill>
                          <a:latin typeface="Yekan Bakh"/>
                          <a:cs typeface="Yekan Bakh"/>
                        </a:rPr>
                        <a:t> (</a:t>
                      </a:r>
                      <a:r>
                        <a:rPr sz="800" b="0">
                          <a:solidFill>
                            <a:schemeClr val="tx1">
                              <a:lumMod val="65000"/>
                              <a:lumOff val="35000"/>
                            </a:schemeClr>
                          </a:solidFill>
                          <a:latin typeface="Yekan Bakh"/>
                          <a:cs typeface="Yekan Bakh"/>
                        </a:rPr>
                        <a:t>عضویت مستمر تا رسیدن به تعهد بالاتر</a:t>
                      </a:r>
                      <a:r>
                        <a:rPr lang="fa-IR" sz="800" b="0">
                          <a:solidFill>
                            <a:schemeClr val="tx1">
                              <a:lumMod val="65000"/>
                              <a:lumOff val="35000"/>
                            </a:schemeClr>
                          </a:solidFill>
                          <a:latin typeface="Yekan Bakh"/>
                          <a:cs typeface="Yekan Bakh"/>
                        </a:rPr>
                        <a:t>)</a:t>
                      </a:r>
                      <a:endParaRPr sz="800" b="0">
                        <a:solidFill>
                          <a:schemeClr val="tx1">
                            <a:lumMod val="65000"/>
                            <a:lumOff val="35000"/>
                          </a:schemeClr>
                        </a:solidFill>
                        <a:latin typeface="Yekan Bakh"/>
                        <a:cs typeface="Yekan Bakh"/>
                      </a:endParaRPr>
                    </a:p>
                  </a:txBody>
                  <a:tcPr marL="50800" marR="50800" marT="38100" marB="38100" anchor="ctr">
                    <a:solidFill>
                      <a:schemeClr val="bg1">
                        <a:lumMod val="95000"/>
                      </a:schemeClr>
                    </a:solidFill>
                  </a:tcPr>
                </a:tc>
                <a:tc>
                  <a:txBody>
                    <a:bodyPr/>
                    <a:lstStyle/>
                    <a:p>
                      <a:pPr algn="r" rtl="1">
                        <a:lnSpc>
                          <a:spcPct val="105000"/>
                        </a:lnSpc>
                      </a:pPr>
                      <a:r>
                        <a:rPr sz="800" b="0" dirty="0">
                          <a:solidFill>
                            <a:schemeClr val="tx1">
                              <a:lumMod val="65000"/>
                              <a:lumOff val="35000"/>
                            </a:schemeClr>
                          </a:solidFill>
                          <a:latin typeface="Yekan Bakh"/>
                          <a:cs typeface="Yekan Bakh"/>
                        </a:rPr>
                        <a:t>Qualified Opportunity</a:t>
                      </a:r>
                      <a:r>
                        <a:rPr lang="fa-I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تعامل</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فعال</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با</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محتوای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اختصاصی</a:t>
                      </a:r>
                      <a:r>
                        <a:rPr lang="fa-IR" sz="800" b="0" dirty="0">
                          <a:solidFill>
                            <a:schemeClr val="tx1">
                              <a:lumMod val="65000"/>
                              <a:lumOff val="35000"/>
                            </a:schemeClr>
                          </a:solidFill>
                          <a:latin typeface="Yekan Bakh"/>
                          <a:cs typeface="Yekan Bakh"/>
                        </a:rPr>
                        <a:t>)</a:t>
                      </a:r>
                      <a:endParaRPr sz="800" b="0" dirty="0">
                        <a:solidFill>
                          <a:schemeClr val="tx1">
                            <a:lumMod val="65000"/>
                            <a:lumOff val="35000"/>
                          </a:schemeClr>
                        </a:solidFill>
                        <a:latin typeface="Yekan Bakh"/>
                        <a:cs typeface="Yekan Bakh"/>
                      </a:endParaRPr>
                    </a:p>
                  </a:txBody>
                  <a:tcPr marL="50800" marR="50800" marT="38100" marB="38100" anchor="ctr">
                    <a:solidFill>
                      <a:schemeClr val="bg1">
                        <a:lumMod val="95000"/>
                      </a:schemeClr>
                    </a:solidFill>
                  </a:tcPr>
                </a:tc>
                <a:tc>
                  <a:txBody>
                    <a:bodyPr/>
                    <a:lstStyle/>
                    <a:p>
                      <a:pPr algn="r" rtl="1">
                        <a:lnSpc>
                          <a:spcPct val="105000"/>
                        </a:lnSpc>
                      </a:pPr>
                      <a:r>
                        <a:rPr sz="800" b="0" dirty="0">
                          <a:solidFill>
                            <a:schemeClr val="tx1">
                              <a:lumMod val="65000"/>
                              <a:lumOff val="35000"/>
                            </a:schemeClr>
                          </a:solidFill>
                          <a:latin typeface="Yekan Bakh"/>
                          <a:cs typeface="Yekan Bakh"/>
                        </a:rPr>
                        <a:t>Lead </a:t>
                      </a:r>
                      <a:r>
                        <a:rPr lang="fa-I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ثبت</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علاقه</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اولیه</a:t>
                      </a:r>
                      <a:r>
                        <a:rPr lang="fa-IR" sz="800" b="0" dirty="0">
                          <a:solidFill>
                            <a:schemeClr val="tx1">
                              <a:lumMod val="65000"/>
                              <a:lumOff val="35000"/>
                            </a:schemeClr>
                          </a:solidFill>
                          <a:latin typeface="Yekan Bakh"/>
                          <a:cs typeface="Yekan Bakh"/>
                        </a:rPr>
                        <a:t>)</a:t>
                      </a:r>
                      <a:endParaRPr sz="800" b="0" dirty="0">
                        <a:solidFill>
                          <a:schemeClr val="tx1">
                            <a:lumMod val="65000"/>
                            <a:lumOff val="35000"/>
                          </a:schemeClr>
                        </a:solidFill>
                        <a:latin typeface="Yekan Bakh"/>
                        <a:cs typeface="Yekan Bakh"/>
                      </a:endParaRPr>
                    </a:p>
                  </a:txBody>
                  <a:tcPr marL="50800" marR="50800" marT="38100" marB="38100" anchor="ctr">
                    <a:solidFill>
                      <a:schemeClr val="bg1">
                        <a:lumMod val="95000"/>
                      </a:schemeClr>
                    </a:solidFill>
                  </a:tcPr>
                </a:tc>
                <a:tc>
                  <a:txBody>
                    <a:bodyPr/>
                    <a:lstStyle/>
                    <a:p>
                      <a:pPr algn="ctr" rtl="1">
                        <a:lnSpc>
                          <a:spcPct val="105000"/>
                        </a:lnSpc>
                      </a:pPr>
                      <a:r>
                        <a:rPr sz="1050" b="1" dirty="0" err="1">
                          <a:solidFill>
                            <a:srgbClr val="00406C"/>
                          </a:solidFill>
                          <a:latin typeface="Yekan Bakh"/>
                          <a:cs typeface="Yekan Bakh"/>
                        </a:rPr>
                        <a:t>خروجی</a:t>
                      </a:r>
                      <a:r>
                        <a:rPr sz="1050" b="1" dirty="0">
                          <a:solidFill>
                            <a:srgbClr val="00406C"/>
                          </a:solidFill>
                          <a:latin typeface="Yekan Bakh"/>
                          <a:cs typeface="Yekan Bakh"/>
                        </a:rPr>
                        <a:t> /</a:t>
                      </a:r>
                      <a:r>
                        <a:rPr lang="fa-IR" sz="1050" b="1" dirty="0">
                          <a:solidFill>
                            <a:srgbClr val="00406C"/>
                          </a:solidFill>
                          <a:latin typeface="Yekan Bakh"/>
                          <a:cs typeface="Yekan Bakh"/>
                        </a:rPr>
                        <a:t> ن</a:t>
                      </a:r>
                      <a:r>
                        <a:rPr sz="1050" b="1" dirty="0" err="1">
                          <a:solidFill>
                            <a:srgbClr val="00406C"/>
                          </a:solidFill>
                          <a:latin typeface="Yekan Bakh"/>
                          <a:cs typeface="Yekan Bakh"/>
                        </a:rPr>
                        <a:t>تیجه</a:t>
                      </a:r>
                      <a:r>
                        <a:rPr sz="1050" b="1" dirty="0">
                          <a:solidFill>
                            <a:srgbClr val="00406C"/>
                          </a:solidFill>
                          <a:latin typeface="Yekan Bakh"/>
                          <a:cs typeface="Yekan Bakh"/>
                        </a:rPr>
                        <a:t> </a:t>
                      </a:r>
                      <a:r>
                        <a:rPr sz="1050" b="1" dirty="0" err="1">
                          <a:solidFill>
                            <a:srgbClr val="00406C"/>
                          </a:solidFill>
                          <a:latin typeface="Yekan Bakh"/>
                          <a:cs typeface="Yekan Bakh"/>
                        </a:rPr>
                        <a:t>تجاری</a:t>
                      </a:r>
                      <a:endParaRPr sz="1050" b="1" dirty="0">
                        <a:solidFill>
                          <a:srgbClr val="00406C"/>
                        </a:solidFill>
                        <a:latin typeface="Yekan Bakh"/>
                        <a:cs typeface="Yekan Bakh"/>
                      </a:endParaRPr>
                    </a:p>
                  </a:txBody>
                  <a:tcPr marL="50800" marR="50800" marT="38100" marB="38100" anchor="ctr">
                    <a:solidFill>
                      <a:schemeClr val="bg1">
                        <a:lumMod val="95000"/>
                      </a:schemeClr>
                    </a:solidFill>
                  </a:tcPr>
                </a:tc>
                <a:extLst>
                  <a:ext uri="{0D108BD9-81ED-4DB2-BD59-A6C34878D82A}">
                    <a16:rowId xmlns:a16="http://schemas.microsoft.com/office/drawing/2014/main" val="10007"/>
                  </a:ext>
                </a:extLst>
              </a:tr>
              <a:tr h="691605">
                <a:tc>
                  <a:txBody>
                    <a:bodyPr/>
                    <a:lstStyle/>
                    <a:p>
                      <a:pPr algn="r" rtl="1">
                        <a:lnSpc>
                          <a:spcPct val="105000"/>
                        </a:lnSpc>
                      </a:pPr>
                      <a:r>
                        <a:rPr sz="800" b="0" dirty="0" err="1">
                          <a:solidFill>
                            <a:schemeClr val="tx1">
                              <a:lumMod val="65000"/>
                              <a:lumOff val="35000"/>
                            </a:schemeClr>
                          </a:solidFill>
                          <a:latin typeface="Yekan Bakh"/>
                          <a:cs typeface="Yekan Bakh"/>
                        </a:rPr>
                        <a:t>پروفایل</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مستند</a:t>
                      </a:r>
                      <a:r>
                        <a:rPr lang="fa-IR" sz="800" b="0" dirty="0">
                          <a:solidFill>
                            <a:schemeClr val="tx1">
                              <a:lumMod val="65000"/>
                              <a:lumOff val="35000"/>
                            </a:schemeClr>
                          </a:solidFill>
                          <a:latin typeface="Yekan Bakh"/>
                          <a:cs typeface="Yekan Bakh"/>
                        </a:rPr>
                        <a:t>:</a:t>
                      </a:r>
                      <a:r>
                        <a:rPr lang="en-US" sz="800" b="0" dirty="0">
                          <a:solidFill>
                            <a:schemeClr val="tx1">
                              <a:lumMod val="65000"/>
                              <a:lumOff val="35000"/>
                            </a:schemeClr>
                          </a:solidFill>
                          <a:latin typeface="Yekan Bakh"/>
                          <a:cs typeface="Yekan Bakh"/>
                        </a:rPr>
                        <a:t> » </a:t>
                      </a:r>
                      <a:r>
                        <a:rPr sz="800" b="0" dirty="0" err="1">
                          <a:solidFill>
                            <a:schemeClr val="tx1">
                              <a:lumMod val="65000"/>
                              <a:lumOff val="35000"/>
                            </a:schemeClr>
                          </a:solidFill>
                          <a:latin typeface="Yekan Bakh"/>
                          <a:cs typeface="Yekan Bakh"/>
                        </a:rPr>
                        <a:t>هدف</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اصلی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این</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مدل</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تبدیل</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مشتری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به</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گروه</a:t>
                      </a:r>
                      <a:r>
                        <a:rPr sz="800" b="0" dirty="0">
                          <a:solidFill>
                            <a:schemeClr val="tx1">
                              <a:lumMod val="65000"/>
                              <a:lumOff val="35000"/>
                            </a:schemeClr>
                          </a:solidFill>
                          <a:latin typeface="Yekan Bakh"/>
                          <a:cs typeface="Yekan Bakh"/>
                        </a:rPr>
                        <a:t> </a:t>
                      </a:r>
                      <a:r>
                        <a:rPr lang="fa-IR" sz="800" b="0" dirty="0">
                          <a:solidFill>
                            <a:schemeClr val="tx1">
                              <a:lumMod val="65000"/>
                              <a:lumOff val="35000"/>
                            </a:schemeClr>
                          </a:solidFill>
                          <a:latin typeface="Yekan Bakh"/>
                          <a:cs typeface="Yekan Bakh"/>
                        </a:rPr>
                        <a:t>  ۲ </a:t>
                      </a:r>
                      <a:r>
                        <a:rPr sz="800" b="0" dirty="0" err="1">
                          <a:solidFill>
                            <a:schemeClr val="tx1">
                              <a:lumMod val="65000"/>
                              <a:lumOff val="35000"/>
                            </a:schemeClr>
                          </a:solidFill>
                          <a:latin typeface="Yekan Bakh"/>
                          <a:cs typeface="Yekan Bakh"/>
                        </a:rPr>
                        <a:t>است</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نه</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کسب</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حداکثر</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درآمد</a:t>
                      </a:r>
                      <a:r>
                        <a:rPr lang="fa-IR" sz="800" b="0" dirty="0">
                          <a:solidFill>
                            <a:srgbClr val="222222"/>
                          </a:solidFill>
                          <a:latin typeface="Yekan Bakh"/>
                          <a:cs typeface="Yekan Bakh"/>
                        </a:rPr>
                        <a:t>»</a:t>
                      </a:r>
                      <a:endParaRPr sz="800" b="0" dirty="0">
                        <a:solidFill>
                          <a:schemeClr val="tx1">
                            <a:lumMod val="65000"/>
                            <a:lumOff val="35000"/>
                          </a:schemeClr>
                        </a:solidFill>
                        <a:latin typeface="Yekan Bakh"/>
                        <a:cs typeface="Yekan Bakh"/>
                      </a:endParaRPr>
                    </a:p>
                  </a:txBody>
                  <a:tcPr marL="50800" marR="50800" marT="38100" marB="38100" anchor="ctr">
                    <a:solidFill>
                      <a:schemeClr val="bg1"/>
                    </a:solidFill>
                  </a:tcPr>
                </a:tc>
                <a:tc>
                  <a:txBody>
                    <a:bodyPr/>
                    <a:lstStyle/>
                    <a:p>
                      <a:pPr algn="r" rtl="1">
                        <a:lnSpc>
                          <a:spcPct val="105000"/>
                        </a:lnSpc>
                      </a:pPr>
                      <a:r>
                        <a:rPr sz="800" b="0" dirty="0" err="1">
                          <a:solidFill>
                            <a:schemeClr val="tx1">
                              <a:lumMod val="65000"/>
                              <a:lumOff val="35000"/>
                            </a:schemeClr>
                          </a:solidFill>
                          <a:latin typeface="Yekan Bakh"/>
                          <a:cs typeface="Yekan Bakh"/>
                        </a:rPr>
                        <a:t>پروفایل</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مستند</a:t>
                      </a:r>
                      <a:r>
                        <a:rPr lang="fa-IR" sz="800" b="0" dirty="0">
                          <a:solidFill>
                            <a:schemeClr val="tx1">
                              <a:lumMod val="65000"/>
                              <a:lumOff val="35000"/>
                            </a:schemeClr>
                          </a:solidFill>
                          <a:latin typeface="Yekan Bakh"/>
                          <a:cs typeface="Yekan Bakh"/>
                        </a:rPr>
                        <a:t>:</a:t>
                      </a:r>
                      <a:r>
                        <a:rPr lang="en-US" sz="800" b="0" dirty="0">
                          <a:solidFill>
                            <a:schemeClr val="tx1">
                              <a:lumMod val="65000"/>
                              <a:lumOff val="35000"/>
                            </a:schemeClr>
                          </a:solidFill>
                          <a:latin typeface="Yekan Bakh"/>
                          <a:cs typeface="Yekan Bakh"/>
                        </a:rPr>
                        <a:t> » </a:t>
                      </a:r>
                      <a:r>
                        <a:rPr sz="800" b="0" dirty="0" err="1">
                          <a:solidFill>
                            <a:schemeClr val="tx1">
                              <a:lumMod val="65000"/>
                              <a:lumOff val="35000"/>
                            </a:schemeClr>
                          </a:solidFill>
                          <a:latin typeface="Yekan Bakh"/>
                          <a:cs typeface="Yekan Bakh"/>
                        </a:rPr>
                        <a:t>پیش</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از</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آشکارکردن</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نیت</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واقعی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حجم</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زیادی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از</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اطلاعات</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را</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جمع‌آوری</a:t>
                      </a:r>
                      <a:r>
                        <a:rPr sz="800" b="0" dirty="0">
                          <a:solidFill>
                            <a:schemeClr val="tx1">
                              <a:lumMod val="65000"/>
                              <a:lumOff val="35000"/>
                            </a:schemeClr>
                          </a:solidFill>
                          <a:latin typeface="Yekan Bakh"/>
                          <a:cs typeface="Yekan Bakh"/>
                        </a:rPr>
                        <a:t> و </a:t>
                      </a:r>
                      <a:r>
                        <a:rPr sz="800" b="0" dirty="0" err="1">
                          <a:solidFill>
                            <a:schemeClr val="tx1">
                              <a:lumMod val="65000"/>
                              <a:lumOff val="35000"/>
                            </a:schemeClr>
                          </a:solidFill>
                          <a:latin typeface="Yekan Bakh"/>
                          <a:cs typeface="Yekan Bakh"/>
                        </a:rPr>
                        <a:t>بررسی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می‌کند</a:t>
                      </a:r>
                      <a:r>
                        <a:rPr lang="fa-IR" sz="800" b="0" dirty="0">
                          <a:solidFill>
                            <a:srgbClr val="222222"/>
                          </a:solidFill>
                          <a:latin typeface="Yekan Bakh"/>
                          <a:cs typeface="Yekan Bakh"/>
                        </a:rPr>
                        <a:t>»</a:t>
                      </a:r>
                      <a:endParaRPr sz="800" b="0" dirty="0">
                        <a:solidFill>
                          <a:schemeClr val="tx1">
                            <a:lumMod val="65000"/>
                            <a:lumOff val="35000"/>
                          </a:schemeClr>
                        </a:solidFill>
                        <a:latin typeface="Yekan Bakh"/>
                        <a:cs typeface="Yekan Bakh"/>
                      </a:endParaRPr>
                    </a:p>
                  </a:txBody>
                  <a:tcPr marL="50800" marR="50800" marT="38100" marB="38100" anchor="ctr">
                    <a:solidFill>
                      <a:schemeClr val="bg1"/>
                    </a:solidFill>
                  </a:tcPr>
                </a:tc>
                <a:tc>
                  <a:txBody>
                    <a:bodyPr/>
                    <a:lstStyle/>
                    <a:p>
                      <a:pPr algn="r" rtl="1">
                        <a:lnSpc>
                          <a:spcPct val="105000"/>
                        </a:lnSpc>
                      </a:pPr>
                      <a:r>
                        <a:rPr sz="800" b="0" dirty="0" err="1">
                          <a:solidFill>
                            <a:schemeClr val="tx1">
                              <a:lumMod val="65000"/>
                              <a:lumOff val="35000"/>
                            </a:schemeClr>
                          </a:solidFill>
                          <a:latin typeface="Yekan Bakh"/>
                          <a:cs typeface="Yekan Bakh"/>
                        </a:rPr>
                        <a:t>پروفایل</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مستند</a:t>
                      </a:r>
                      <a:r>
                        <a:rPr lang="fa-IR" sz="800" b="0" dirty="0">
                          <a:solidFill>
                            <a:schemeClr val="tx1">
                              <a:lumMod val="65000"/>
                              <a:lumOff val="35000"/>
                            </a:schemeClr>
                          </a:solidFill>
                          <a:latin typeface="Yekan Bakh"/>
                          <a:cs typeface="Yekan Bakh"/>
                        </a:rPr>
                        <a:t>:</a:t>
                      </a:r>
                      <a:r>
                        <a:rPr lang="en-US" sz="800" b="0" dirty="0">
                          <a:solidFill>
                            <a:schemeClr val="tx1">
                              <a:lumMod val="65000"/>
                              <a:lumOff val="35000"/>
                            </a:schemeClr>
                          </a:solidFill>
                          <a:latin typeface="Yekan Bakh"/>
                          <a:cs typeface="Yekan Bakh"/>
                        </a:rPr>
                        <a:t> » </a:t>
                      </a:r>
                      <a:r>
                        <a:rPr sz="800" b="0" dirty="0" err="1">
                          <a:solidFill>
                            <a:schemeClr val="tx1">
                              <a:lumMod val="65000"/>
                              <a:lumOff val="35000"/>
                            </a:schemeClr>
                          </a:solidFill>
                          <a:latin typeface="Yekan Bakh"/>
                          <a:cs typeface="Yekan Bakh"/>
                        </a:rPr>
                        <a:t>اعتبار</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منبع</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اطلاعات</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مهم‌ترین</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عامل</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ارزش</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است</a:t>
                      </a:r>
                      <a:r>
                        <a:rPr lang="fa-IR" sz="800" b="0" dirty="0">
                          <a:solidFill>
                            <a:srgbClr val="222222"/>
                          </a:solidFill>
                          <a:latin typeface="Yekan Bakh"/>
                          <a:cs typeface="Yekan Bakh"/>
                        </a:rPr>
                        <a:t>»</a:t>
                      </a:r>
                      <a:endParaRPr sz="800" b="0" dirty="0">
                        <a:solidFill>
                          <a:schemeClr val="tx1">
                            <a:lumMod val="65000"/>
                            <a:lumOff val="35000"/>
                          </a:schemeClr>
                        </a:solidFill>
                        <a:latin typeface="Yekan Bakh"/>
                        <a:cs typeface="Yekan Bakh"/>
                      </a:endParaRPr>
                    </a:p>
                  </a:txBody>
                  <a:tcPr marL="50800" marR="50800" marT="38100" marB="38100" anchor="ctr">
                    <a:solidFill>
                      <a:schemeClr val="bg1"/>
                    </a:solidFill>
                  </a:tcPr>
                </a:tc>
                <a:tc>
                  <a:txBody>
                    <a:bodyPr/>
                    <a:lstStyle/>
                    <a:p>
                      <a:pPr algn="ctr" rtl="1">
                        <a:lnSpc>
                          <a:spcPct val="105000"/>
                        </a:lnSpc>
                      </a:pPr>
                      <a:r>
                        <a:rPr lang="fa-IR" sz="1050" b="1" dirty="0">
                          <a:solidFill>
                            <a:srgbClr val="00406C"/>
                          </a:solidFill>
                          <a:latin typeface="Yekan Bakh"/>
                          <a:cs typeface="Yekan Bakh"/>
                        </a:rPr>
                        <a:t>شواهد پشتیبان</a:t>
                      </a:r>
                    </a:p>
                  </a:txBody>
                  <a:tcPr marL="50800" marR="50800" marT="38100" marB="38100" anchor="ctr">
                    <a:solidFill>
                      <a:schemeClr val="bg1"/>
                    </a:solidFill>
                  </a:tcPr>
                </a:tc>
                <a:extLst>
                  <a:ext uri="{0D108BD9-81ED-4DB2-BD59-A6C34878D82A}">
                    <a16:rowId xmlns:a16="http://schemas.microsoft.com/office/drawing/2014/main" val="10008"/>
                  </a:ext>
                </a:extLst>
              </a:tr>
            </a:tbl>
          </a:graphicData>
        </a:graphic>
      </p:graphicFrame>
      <p:sp>
        <p:nvSpPr>
          <p:cNvPr id="8" name="Rectangle 7">
            <a:extLst>
              <a:ext uri="{FF2B5EF4-FFF2-40B4-BE49-F238E27FC236}">
                <a16:creationId xmlns:a16="http://schemas.microsoft.com/office/drawing/2014/main" id="{7E9A0AB2-7A3C-354B-114C-02EA51461914}"/>
              </a:ext>
            </a:extLst>
          </p:cNvPr>
          <p:cNvSpPr/>
          <p:nvPr/>
        </p:nvSpPr>
        <p:spPr>
          <a:xfrm>
            <a:off x="457199" y="1918252"/>
            <a:ext cx="10786374" cy="3770270"/>
          </a:xfrm>
          <a:prstGeom prst="rect">
            <a:avLst/>
          </a:prstGeom>
          <a:no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0" name="Straight Connector 9">
            <a:extLst>
              <a:ext uri="{FF2B5EF4-FFF2-40B4-BE49-F238E27FC236}">
                <a16:creationId xmlns:a16="http://schemas.microsoft.com/office/drawing/2014/main" id="{51BDD267-902E-4C25-2810-7529AA893609}"/>
              </a:ext>
            </a:extLst>
          </p:cNvPr>
          <p:cNvCxnSpPr/>
          <p:nvPr/>
        </p:nvCxnSpPr>
        <p:spPr>
          <a:xfrm>
            <a:off x="457199" y="1759226"/>
            <a:ext cx="10786374" cy="0"/>
          </a:xfrm>
          <a:prstGeom prst="line">
            <a:avLst/>
          </a:prstGeom>
          <a:ln w="6350">
            <a:prstDash val="dash"/>
          </a:ln>
        </p:spPr>
        <p:style>
          <a:lnRef idx="1">
            <a:schemeClr val="accent2"/>
          </a:lnRef>
          <a:fillRef idx="0">
            <a:schemeClr val="accent2"/>
          </a:fillRef>
          <a:effectRef idx="0">
            <a:schemeClr val="accent2"/>
          </a:effectRef>
          <a:fontRef idx="minor">
            <a:schemeClr val="tx1"/>
          </a:fontRef>
        </p:style>
      </p:cxnSp>
      <p:sp>
        <p:nvSpPr>
          <p:cNvPr id="5" name="Rectangle: Rounded Corners 4">
            <a:extLst>
              <a:ext uri="{FF2B5EF4-FFF2-40B4-BE49-F238E27FC236}">
                <a16:creationId xmlns:a16="http://schemas.microsoft.com/office/drawing/2014/main" id="{8D0034E6-6561-FF83-9B58-65CCB91A4B31}"/>
              </a:ext>
            </a:extLst>
          </p:cNvPr>
          <p:cNvSpPr/>
          <p:nvPr/>
        </p:nvSpPr>
        <p:spPr>
          <a:xfrm>
            <a:off x="10355343" y="1293039"/>
            <a:ext cx="888229" cy="396613"/>
          </a:xfrm>
          <a:prstGeom prst="roundRect">
            <a:avLst/>
          </a:prstGeom>
          <a:solidFill>
            <a:srgbClr val="F0BE0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fa-IR" sz="1100" b="1" dirty="0">
                <a:solidFill>
                  <a:schemeClr val="bg1"/>
                </a:solidFill>
                <a:latin typeface="Yekan Bakh" pitchFamily="2" charset="-78"/>
                <a:ea typeface="Yekan Bakh" pitchFamily="2" charset="-78"/>
                <a:cs typeface="Yekan Bakh" pitchFamily="2" charset="-78"/>
              </a:rPr>
              <a:t>نیاز محوری:</a:t>
            </a:r>
            <a:endParaRPr lang="en-GB" sz="1100" b="1" dirty="0">
              <a:solidFill>
                <a:schemeClr val="bg1"/>
              </a:solidFill>
              <a:latin typeface="Yekan Bakh" pitchFamily="2" charset="-78"/>
              <a:ea typeface="Yekan Bakh" pitchFamily="2" charset="-78"/>
              <a:cs typeface="Yekan Bakh" pitchFamily="2" charset="-78"/>
            </a:endParaRPr>
          </a:p>
        </p:txBody>
      </p:sp>
      <p:sp>
        <p:nvSpPr>
          <p:cNvPr id="11" name="Rectangle: Rounded Corners 10">
            <a:extLst>
              <a:ext uri="{FF2B5EF4-FFF2-40B4-BE49-F238E27FC236}">
                <a16:creationId xmlns:a16="http://schemas.microsoft.com/office/drawing/2014/main" id="{122C9454-0225-4112-A660-0DF83D9DE521}"/>
              </a:ext>
            </a:extLst>
          </p:cNvPr>
          <p:cNvSpPr/>
          <p:nvPr/>
        </p:nvSpPr>
        <p:spPr>
          <a:xfrm>
            <a:off x="5885669" y="1288069"/>
            <a:ext cx="4442795" cy="396613"/>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fa-IR" sz="1000" dirty="0">
                <a:solidFill>
                  <a:schemeClr val="tx1">
                    <a:lumMod val="65000"/>
                    <a:lumOff val="35000"/>
                  </a:schemeClr>
                </a:solidFill>
                <a:latin typeface="Yekan Bakh" pitchFamily="2" charset="-78"/>
                <a:ea typeface="Yekan Bakh" pitchFamily="2" charset="-78"/>
                <a:cs typeface="Yekan Bakh" pitchFamily="2" charset="-78"/>
              </a:rPr>
              <a:t>کاهش عدم‌قطعیت درباره فرصت ایران بدون تعهد </a:t>
            </a:r>
            <a:endParaRPr lang="en-GB" sz="1000" dirty="0">
              <a:solidFill>
                <a:schemeClr val="tx1">
                  <a:lumMod val="65000"/>
                  <a:lumOff val="35000"/>
                </a:schemeClr>
              </a:solidFill>
              <a:latin typeface="Yekan Bakh" pitchFamily="2" charset="-78"/>
              <a:ea typeface="Yekan Bakh" pitchFamily="2" charset="-78"/>
              <a:cs typeface="Yekan Bakh" pitchFamily="2" charset="-78"/>
            </a:endParaRPr>
          </a:p>
        </p:txBody>
      </p:sp>
      <p:sp>
        <p:nvSpPr>
          <p:cNvPr id="20" name="Rectangle: Rounded Corners 19">
            <a:extLst>
              <a:ext uri="{FF2B5EF4-FFF2-40B4-BE49-F238E27FC236}">
                <a16:creationId xmlns:a16="http://schemas.microsoft.com/office/drawing/2014/main" id="{50BE06F3-3D74-7839-9E5B-2C44A9048AF9}"/>
              </a:ext>
            </a:extLst>
          </p:cNvPr>
          <p:cNvSpPr/>
          <p:nvPr/>
        </p:nvSpPr>
        <p:spPr>
          <a:xfrm>
            <a:off x="457199" y="1288069"/>
            <a:ext cx="4470936" cy="396613"/>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fa-IR" sz="1000" dirty="0">
                <a:solidFill>
                  <a:schemeClr val="tx1">
                    <a:lumMod val="65000"/>
                    <a:lumOff val="35000"/>
                  </a:schemeClr>
                </a:solidFill>
                <a:latin typeface="Yekan Bakh" pitchFamily="2" charset="-78"/>
                <a:ea typeface="Yekan Bakh" pitchFamily="2" charset="-78"/>
                <a:cs typeface="Yekan Bakh" pitchFamily="2" charset="-78"/>
              </a:rPr>
              <a:t>ریسک‌گریز، بدون معرفی معتبر وارد تعامل نمی‌شود</a:t>
            </a:r>
            <a:endParaRPr lang="en-GB" sz="1000" dirty="0">
              <a:solidFill>
                <a:schemeClr val="tx1">
                  <a:lumMod val="65000"/>
                  <a:lumOff val="35000"/>
                </a:schemeClr>
              </a:solidFill>
              <a:latin typeface="Yekan Bakh" pitchFamily="2" charset="-78"/>
              <a:ea typeface="Yekan Bakh" pitchFamily="2" charset="-78"/>
              <a:cs typeface="Yekan Bakh" pitchFamily="2" charset="-78"/>
            </a:endParaRPr>
          </a:p>
        </p:txBody>
      </p:sp>
      <p:sp>
        <p:nvSpPr>
          <p:cNvPr id="23" name="Rectangle: Rounded Corners 22">
            <a:extLst>
              <a:ext uri="{FF2B5EF4-FFF2-40B4-BE49-F238E27FC236}">
                <a16:creationId xmlns:a16="http://schemas.microsoft.com/office/drawing/2014/main" id="{BD52D388-5EF9-25A9-F663-6D5B0A09680A}"/>
              </a:ext>
            </a:extLst>
          </p:cNvPr>
          <p:cNvSpPr/>
          <p:nvPr/>
        </p:nvSpPr>
        <p:spPr>
          <a:xfrm>
            <a:off x="4963418" y="1293039"/>
            <a:ext cx="886968" cy="396613"/>
          </a:xfrm>
          <a:prstGeom prst="roundRect">
            <a:avLst/>
          </a:prstGeom>
          <a:solidFill>
            <a:srgbClr val="F0BE0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fa-IR" sz="1100" b="1" dirty="0">
                <a:solidFill>
                  <a:schemeClr val="bg1"/>
                </a:solidFill>
                <a:latin typeface="Yekan Bakh" pitchFamily="2" charset="-78"/>
                <a:ea typeface="Yekan Bakh" pitchFamily="2" charset="-78"/>
                <a:cs typeface="Yekan Bakh" pitchFamily="2" charset="-78"/>
              </a:rPr>
              <a:t>رفتار:</a:t>
            </a:r>
            <a:endParaRPr lang="en-GB" sz="1100" b="1" dirty="0">
              <a:solidFill>
                <a:schemeClr val="bg1"/>
              </a:solidFill>
              <a:latin typeface="Yekan Bakh" pitchFamily="2" charset="-78"/>
              <a:ea typeface="Yekan Bakh" pitchFamily="2" charset="-78"/>
              <a:cs typeface="Yekan Bakh" pitchFamily="2" charset="-78"/>
            </a:endParaRPr>
          </a:p>
        </p:txBody>
      </p:sp>
    </p:spTree>
    <p:extLst>
      <p:ext uri="{BB962C8B-B14F-4D97-AF65-F5344CB8AC3E}">
        <p14:creationId xmlns:p14="http://schemas.microsoft.com/office/powerpoint/2010/main" val="1651958513"/>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7F17CA-F75C-61A0-B542-AD73B1C9291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E8E8FCB4-3050-93CC-9B37-34DE230C4098}"/>
              </a:ext>
            </a:extLst>
          </p:cNvPr>
          <p:cNvSpPr>
            <a:spLocks noGrp="1"/>
          </p:cNvSpPr>
          <p:nvPr>
            <p:ph type="body" sz="quarter" idx="10"/>
          </p:nvPr>
        </p:nvSpPr>
        <p:spPr/>
        <p:txBody>
          <a:bodyPr/>
          <a:lstStyle/>
          <a:p>
            <a:r>
              <a:rPr lang="fa-IR" dirty="0"/>
              <a:t>تحلیل عمیق کانال — پرسونا 5</a:t>
            </a:r>
          </a:p>
        </p:txBody>
      </p:sp>
      <p:sp>
        <p:nvSpPr>
          <p:cNvPr id="3" name="Text Placeholder 2">
            <a:extLst>
              <a:ext uri="{FF2B5EF4-FFF2-40B4-BE49-F238E27FC236}">
                <a16:creationId xmlns:a16="http://schemas.microsoft.com/office/drawing/2014/main" id="{433F2E3A-4EC3-8282-DE0F-3A7844E0ADF5}"/>
              </a:ext>
            </a:extLst>
          </p:cNvPr>
          <p:cNvSpPr>
            <a:spLocks noGrp="1"/>
          </p:cNvSpPr>
          <p:nvPr>
            <p:ph type="body" sz="quarter" idx="12"/>
          </p:nvPr>
        </p:nvSpPr>
        <p:spPr/>
        <p:txBody>
          <a:bodyPr/>
          <a:lstStyle/>
          <a:p>
            <a:r>
              <a:rPr lang="fa-IR" dirty="0"/>
              <a:t>۵. خالق کسب‌وکار</a:t>
            </a:r>
          </a:p>
        </p:txBody>
      </p:sp>
      <p:graphicFrame>
        <p:nvGraphicFramePr>
          <p:cNvPr id="7" name="Table 6">
            <a:extLst>
              <a:ext uri="{FF2B5EF4-FFF2-40B4-BE49-F238E27FC236}">
                <a16:creationId xmlns:a16="http://schemas.microsoft.com/office/drawing/2014/main" id="{7BF857CC-2197-E829-4AAC-D5B71533CA69}"/>
              </a:ext>
            </a:extLst>
          </p:cNvPr>
          <p:cNvGraphicFramePr>
            <a:graphicFrameLocks noGrp="1"/>
          </p:cNvGraphicFramePr>
          <p:nvPr>
            <p:extLst>
              <p:ext uri="{D42A27DB-BD31-4B8C-83A1-F6EECF244321}">
                <p14:modId xmlns:p14="http://schemas.microsoft.com/office/powerpoint/2010/main" val="720431207"/>
              </p:ext>
            </p:extLst>
          </p:nvPr>
        </p:nvGraphicFramePr>
        <p:xfrm>
          <a:off x="457199" y="1918254"/>
          <a:ext cx="10788648" cy="3770266"/>
        </p:xfrm>
        <a:graphic>
          <a:graphicData uri="http://schemas.openxmlformats.org/drawingml/2006/table">
            <a:tbl>
              <a:tblPr firstRow="1" bandRow="1">
                <a:tableStyleId>{5C22544A-7EE6-4342-B048-85BDC9FD1C3A}</a:tableStyleId>
              </a:tblPr>
              <a:tblGrid>
                <a:gridCol w="2697162">
                  <a:extLst>
                    <a:ext uri="{9D8B030D-6E8A-4147-A177-3AD203B41FA5}">
                      <a16:colId xmlns:a16="http://schemas.microsoft.com/office/drawing/2014/main" val="460191556"/>
                    </a:ext>
                  </a:extLst>
                </a:gridCol>
                <a:gridCol w="2697162">
                  <a:extLst>
                    <a:ext uri="{9D8B030D-6E8A-4147-A177-3AD203B41FA5}">
                      <a16:colId xmlns:a16="http://schemas.microsoft.com/office/drawing/2014/main" val="1589458168"/>
                    </a:ext>
                  </a:extLst>
                </a:gridCol>
                <a:gridCol w="2697162">
                  <a:extLst>
                    <a:ext uri="{9D8B030D-6E8A-4147-A177-3AD203B41FA5}">
                      <a16:colId xmlns:a16="http://schemas.microsoft.com/office/drawing/2014/main" val="2044792427"/>
                    </a:ext>
                  </a:extLst>
                </a:gridCol>
                <a:gridCol w="2697162">
                  <a:extLst>
                    <a:ext uri="{9D8B030D-6E8A-4147-A177-3AD203B41FA5}">
                      <a16:colId xmlns:a16="http://schemas.microsoft.com/office/drawing/2014/main" val="20000"/>
                    </a:ext>
                  </a:extLst>
                </a:gridCol>
              </a:tblGrid>
              <a:tr h="334556">
                <a:tc>
                  <a:txBody>
                    <a:bodyPr/>
                    <a:lstStyle/>
                    <a:p>
                      <a:pPr algn="ctr" rtl="1">
                        <a:lnSpc>
                          <a:spcPct val="105000"/>
                        </a:lnSpc>
                      </a:pPr>
                      <a:r>
                        <a:rPr sz="1100" b="1" dirty="0" err="1">
                          <a:solidFill>
                            <a:srgbClr val="FFFFFF"/>
                          </a:solidFill>
                          <a:latin typeface="Yekan Bakh" pitchFamily="2" charset="-78"/>
                          <a:ea typeface="Yekan Bakh" pitchFamily="2" charset="-78"/>
                          <a:cs typeface="Yekan Bakh" pitchFamily="2" charset="-78"/>
                        </a:rPr>
                        <a:t>خرید</a:t>
                      </a:r>
                      <a:endParaRPr sz="1100" b="1" dirty="0">
                        <a:solidFill>
                          <a:srgbClr val="FFFFFF"/>
                        </a:solidFill>
                        <a:latin typeface="Yekan Bakh" pitchFamily="2" charset="-78"/>
                        <a:ea typeface="Yekan Bakh" pitchFamily="2" charset="-78"/>
                        <a:cs typeface="Yekan Bakh" pitchFamily="2" charset="-78"/>
                      </a:endParaRPr>
                    </a:p>
                  </a:txBody>
                  <a:tcPr marL="50800" marR="50800" marT="38100" marB="38100" anchor="ctr">
                    <a:solidFill>
                      <a:srgbClr val="00406C">
                        <a:alpha val="30000"/>
                      </a:srgbClr>
                    </a:solidFill>
                  </a:tcPr>
                </a:tc>
                <a:tc>
                  <a:txBody>
                    <a:bodyPr/>
                    <a:lstStyle/>
                    <a:p>
                      <a:pPr algn="ctr" rtl="1">
                        <a:lnSpc>
                          <a:spcPct val="105000"/>
                        </a:lnSpc>
                      </a:pPr>
                      <a:r>
                        <a:rPr sz="1100" b="1" dirty="0" err="1">
                          <a:solidFill>
                            <a:srgbClr val="FFFFFF"/>
                          </a:solidFill>
                          <a:latin typeface="Yekan Bakh" pitchFamily="2" charset="-78"/>
                          <a:ea typeface="Yekan Bakh" pitchFamily="2" charset="-78"/>
                          <a:cs typeface="Yekan Bakh" pitchFamily="2" charset="-78"/>
                        </a:rPr>
                        <a:t>ارزیابی</a:t>
                      </a:r>
                      <a:endParaRPr sz="1100" b="1" dirty="0">
                        <a:solidFill>
                          <a:srgbClr val="FFFFFF"/>
                        </a:solidFill>
                        <a:latin typeface="Yekan Bakh" pitchFamily="2" charset="-78"/>
                        <a:ea typeface="Yekan Bakh" pitchFamily="2" charset="-78"/>
                        <a:cs typeface="Yekan Bakh" pitchFamily="2" charset="-78"/>
                      </a:endParaRPr>
                    </a:p>
                  </a:txBody>
                  <a:tcPr marL="50800" marR="50800" marT="38100" marB="38100" anchor="ctr">
                    <a:solidFill>
                      <a:srgbClr val="00406C">
                        <a:alpha val="70000"/>
                      </a:srgbClr>
                    </a:solidFill>
                  </a:tcPr>
                </a:tc>
                <a:tc>
                  <a:txBody>
                    <a:bodyPr/>
                    <a:lstStyle/>
                    <a:p>
                      <a:pPr algn="ctr" rtl="1">
                        <a:lnSpc>
                          <a:spcPct val="105000"/>
                        </a:lnSpc>
                      </a:pPr>
                      <a:r>
                        <a:rPr sz="1100" b="1" dirty="0" err="1">
                          <a:solidFill>
                            <a:srgbClr val="FFFFFF"/>
                          </a:solidFill>
                          <a:latin typeface="Yekan Bakh" pitchFamily="2" charset="-78"/>
                          <a:ea typeface="Yekan Bakh" pitchFamily="2" charset="-78"/>
                          <a:cs typeface="Yekan Bakh" pitchFamily="2" charset="-78"/>
                        </a:rPr>
                        <a:t>آگاهی‌سازی</a:t>
                      </a:r>
                      <a:endParaRPr sz="1100" b="1" dirty="0">
                        <a:solidFill>
                          <a:srgbClr val="FFFFFF"/>
                        </a:solidFill>
                        <a:latin typeface="Yekan Bakh" pitchFamily="2" charset="-78"/>
                        <a:ea typeface="Yekan Bakh" pitchFamily="2" charset="-78"/>
                        <a:cs typeface="Yekan Bakh" pitchFamily="2" charset="-78"/>
                      </a:endParaRPr>
                    </a:p>
                  </a:txBody>
                  <a:tcPr marL="50800" marR="50800" marT="38100" marB="38100" anchor="ctr">
                    <a:solidFill>
                      <a:srgbClr val="00406C"/>
                    </a:solidFill>
                  </a:tcPr>
                </a:tc>
                <a:tc>
                  <a:txBody>
                    <a:bodyPr/>
                    <a:lstStyle/>
                    <a:p>
                      <a:pPr algn="ctr" rtl="1">
                        <a:lnSpc>
                          <a:spcPct val="105000"/>
                        </a:lnSpc>
                      </a:pPr>
                      <a:endParaRPr sz="1100" dirty="0">
                        <a:latin typeface="Yekan Bakh" pitchFamily="2" charset="-78"/>
                        <a:ea typeface="Yekan Bakh" pitchFamily="2" charset="-78"/>
                        <a:cs typeface="Yekan Bakh" pitchFamily="2" charset="-78"/>
                      </a:endParaRPr>
                    </a:p>
                  </a:txBody>
                  <a:tcPr marL="50800" marR="50800" marT="38100" marB="38100" anchor="ctr">
                    <a:solidFill>
                      <a:schemeClr val="bg1"/>
                    </a:solidFill>
                  </a:tcPr>
                </a:tc>
                <a:extLst>
                  <a:ext uri="{0D108BD9-81ED-4DB2-BD59-A6C34878D82A}">
                    <a16:rowId xmlns:a16="http://schemas.microsoft.com/office/drawing/2014/main" val="10000"/>
                  </a:ext>
                </a:extLst>
              </a:tr>
              <a:tr h="691605">
                <a:tc>
                  <a:txBody>
                    <a:bodyPr/>
                    <a:lstStyle/>
                    <a:p>
                      <a:pPr algn="r" rtl="1">
                        <a:lnSpc>
                          <a:spcPct val="105000"/>
                        </a:lnSpc>
                      </a:pPr>
                      <a:r>
                        <a:rPr sz="800" b="1" dirty="0" err="1">
                          <a:solidFill>
                            <a:schemeClr val="tx1">
                              <a:lumMod val="65000"/>
                              <a:lumOff val="35000"/>
                            </a:schemeClr>
                          </a:solidFill>
                          <a:latin typeface="Yekan Bakh"/>
                          <a:cs typeface="Yekan Bakh"/>
                        </a:rPr>
                        <a:t>توافق‌نامه</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اصول</a:t>
                      </a:r>
                      <a:r>
                        <a:rPr sz="800" b="1" dirty="0">
                          <a:solidFill>
                            <a:schemeClr val="tx1">
                              <a:lumMod val="65000"/>
                              <a:lumOff val="35000"/>
                            </a:schemeClr>
                          </a:solidFill>
                          <a:latin typeface="Yekan Bakh"/>
                          <a:cs typeface="Yekan Bakh"/>
                        </a:rPr>
                        <a:t>(Term Sheet) </a:t>
                      </a:r>
                      <a:r>
                        <a:rPr lang="fa-I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پس</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از</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اعتبارسنجی</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ایده</a:t>
                      </a:r>
                      <a:endParaRPr sz="800" b="1" dirty="0">
                        <a:solidFill>
                          <a:schemeClr val="tx1">
                            <a:lumMod val="65000"/>
                            <a:lumOff val="35000"/>
                          </a:schemeClr>
                        </a:solidFill>
                        <a:latin typeface="Yekan Bakh"/>
                        <a:cs typeface="Yekan Bakh"/>
                      </a:endParaRPr>
                    </a:p>
                  </a:txBody>
                  <a:tcPr marL="50800" marR="50800" marT="38100" marB="38100" anchor="ctr">
                    <a:solidFill>
                      <a:schemeClr val="bg1">
                        <a:lumMod val="95000"/>
                      </a:schemeClr>
                    </a:solidFill>
                  </a:tcPr>
                </a:tc>
                <a:tc>
                  <a:txBody>
                    <a:bodyPr/>
                    <a:lstStyle/>
                    <a:p>
                      <a:pPr algn="r" rtl="1">
                        <a:lnSpc>
                          <a:spcPct val="105000"/>
                        </a:lnSpc>
                      </a:pPr>
                      <a:r>
                        <a:rPr sz="800" b="1">
                          <a:solidFill>
                            <a:schemeClr val="tx1">
                              <a:lumMod val="65000"/>
                              <a:lumOff val="35000"/>
                            </a:schemeClr>
                          </a:solidFill>
                          <a:latin typeface="Yekan Bakh"/>
                          <a:cs typeface="Yekan Bakh"/>
                        </a:rPr>
                        <a:t>جلسات اجرایی مستقیم + </a:t>
                      </a:r>
                      <a:endParaRPr lang="fa-IR" sz="800" b="1">
                        <a:solidFill>
                          <a:schemeClr val="tx1">
                            <a:lumMod val="65000"/>
                            <a:lumOff val="35000"/>
                          </a:schemeClr>
                        </a:solidFill>
                        <a:latin typeface="Yekan Bakh"/>
                        <a:cs typeface="Yekan Bakh"/>
                      </a:endParaRPr>
                    </a:p>
                    <a:p>
                      <a:pPr algn="r" rtl="1">
                        <a:lnSpc>
                          <a:spcPct val="105000"/>
                        </a:lnSpc>
                      </a:pPr>
                      <a:r>
                        <a:rPr sz="800" b="1">
                          <a:solidFill>
                            <a:schemeClr val="tx1">
                              <a:lumMod val="65000"/>
                              <a:lumOff val="35000"/>
                            </a:schemeClr>
                          </a:solidFill>
                          <a:latin typeface="Yekan Bakh"/>
                          <a:cs typeface="Yekan Bakh"/>
                        </a:rPr>
                        <a:t>مرور نمونه‌های ساخت ونچر قبلی به‌عنوان اثبات توان</a:t>
                      </a:r>
                    </a:p>
                  </a:txBody>
                  <a:tcPr marL="50800" marR="50800" marT="38100" marB="38100" anchor="ctr">
                    <a:solidFill>
                      <a:schemeClr val="bg1">
                        <a:lumMod val="95000"/>
                      </a:schemeClr>
                    </a:solidFill>
                  </a:tcPr>
                </a:tc>
                <a:tc>
                  <a:txBody>
                    <a:bodyPr/>
                    <a:lstStyle/>
                    <a:p>
                      <a:pPr algn="r" rtl="1">
                        <a:lnSpc>
                          <a:spcPct val="105000"/>
                        </a:lnSpc>
                      </a:pPr>
                      <a:r>
                        <a:rPr sz="800" b="1" dirty="0" err="1">
                          <a:solidFill>
                            <a:schemeClr val="tx1">
                              <a:lumMod val="65000"/>
                              <a:lumOff val="35000"/>
                            </a:schemeClr>
                          </a:solidFill>
                          <a:latin typeface="Yekan Bakh"/>
                          <a:cs typeface="Yekan Bakh"/>
                        </a:rPr>
                        <a:t>شبکه</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اجرایی</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بنیان‌گذاران</a:t>
                      </a:r>
                      <a:r>
                        <a:rPr sz="800" b="1" dirty="0">
                          <a:solidFill>
                            <a:schemeClr val="tx1">
                              <a:lumMod val="65000"/>
                              <a:lumOff val="35000"/>
                            </a:schemeClr>
                          </a:solidFill>
                          <a:latin typeface="Yekan Bakh"/>
                          <a:cs typeface="Yekan Bakh"/>
                        </a:rPr>
                        <a:t> و </a:t>
                      </a:r>
                      <a:r>
                        <a:rPr sz="800" b="1" dirty="0" err="1">
                          <a:solidFill>
                            <a:schemeClr val="tx1">
                              <a:lumMod val="65000"/>
                              <a:lumOff val="35000"/>
                            </a:schemeClr>
                          </a:solidFill>
                          <a:latin typeface="Yekan Bakh"/>
                          <a:cs typeface="Yekan Bakh"/>
                        </a:rPr>
                        <a:t>تیم</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ارشد</a:t>
                      </a:r>
                      <a:r>
                        <a:rPr sz="800" b="1" dirty="0">
                          <a:solidFill>
                            <a:schemeClr val="tx1">
                              <a:lumMod val="65000"/>
                              <a:lumOff val="35000"/>
                            </a:schemeClr>
                          </a:solidFill>
                          <a:latin typeface="Yekan Bakh"/>
                          <a:cs typeface="Yekan Bakh"/>
                        </a:rPr>
                        <a:t> + </a:t>
                      </a:r>
                      <a:endParaRPr lang="fa-IR" sz="800" b="1" dirty="0">
                        <a:solidFill>
                          <a:schemeClr val="tx1">
                            <a:lumMod val="65000"/>
                            <a:lumOff val="35000"/>
                          </a:schemeClr>
                        </a:solidFill>
                        <a:latin typeface="Yekan Bakh"/>
                        <a:cs typeface="Yekan Bakh"/>
                      </a:endParaRPr>
                    </a:p>
                    <a:p>
                      <a:pPr algn="r" rtl="1">
                        <a:lnSpc>
                          <a:spcPct val="105000"/>
                        </a:lnSpc>
                      </a:pPr>
                      <a:r>
                        <a:rPr sz="800" b="1" dirty="0" err="1">
                          <a:solidFill>
                            <a:schemeClr val="tx1">
                              <a:lumMod val="65000"/>
                              <a:lumOff val="35000"/>
                            </a:schemeClr>
                          </a:solidFill>
                          <a:latin typeface="Yekan Bakh"/>
                          <a:cs typeface="Yekan Bakh"/>
                        </a:rPr>
                        <a:t>معرفی</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از</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مشاوران</a:t>
                      </a:r>
                      <a:r>
                        <a:rPr lang="fa-IR" sz="800" b="1" dirty="0">
                          <a:solidFill>
                            <a:schemeClr val="tx1">
                              <a:lumMod val="65000"/>
                              <a:lumOff val="35000"/>
                            </a:schemeClr>
                          </a:solidFill>
                          <a:latin typeface="Yekan Bakh"/>
                          <a:cs typeface="Yekan Bakh"/>
                        </a:rPr>
                        <a:t> سازمان‌ها</a:t>
                      </a:r>
                      <a:r>
                        <a:rPr sz="800" b="1" dirty="0">
                          <a:solidFill>
                            <a:schemeClr val="tx1">
                              <a:lumMod val="65000"/>
                              <a:lumOff val="35000"/>
                            </a:schemeClr>
                          </a:solidFill>
                          <a:latin typeface="Yekan Bakh"/>
                          <a:cs typeface="Yekan Bakh"/>
                        </a:rPr>
                        <a:t> و </a:t>
                      </a:r>
                      <a:r>
                        <a:rPr sz="800" b="1" dirty="0" err="1">
                          <a:solidFill>
                            <a:schemeClr val="tx1">
                              <a:lumMod val="65000"/>
                              <a:lumOff val="35000"/>
                            </a:schemeClr>
                          </a:solidFill>
                          <a:latin typeface="Yekan Bakh"/>
                          <a:cs typeface="Yekan Bakh"/>
                        </a:rPr>
                        <a:t>دفاتر</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مدیریت</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ثروت</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خانوادگی</a:t>
                      </a:r>
                      <a:endParaRPr sz="800" b="1" dirty="0">
                        <a:solidFill>
                          <a:schemeClr val="tx1">
                            <a:lumMod val="65000"/>
                            <a:lumOff val="35000"/>
                          </a:schemeClr>
                        </a:solidFill>
                        <a:latin typeface="Yekan Bakh"/>
                        <a:cs typeface="Yekan Bakh"/>
                      </a:endParaRPr>
                    </a:p>
                  </a:txBody>
                  <a:tcPr marL="50800" marR="50800" marT="38100" marB="38100" anchor="ctr">
                    <a:solidFill>
                      <a:schemeClr val="bg1">
                        <a:lumMod val="95000"/>
                      </a:schemeClr>
                    </a:solidFill>
                  </a:tcPr>
                </a:tc>
                <a:tc>
                  <a:txBody>
                    <a:bodyPr/>
                    <a:lstStyle/>
                    <a:p>
                      <a:pPr algn="ctr" rtl="1">
                        <a:lnSpc>
                          <a:spcPct val="105000"/>
                        </a:lnSpc>
                      </a:pPr>
                      <a:r>
                        <a:rPr sz="1050" b="1" dirty="0" err="1">
                          <a:solidFill>
                            <a:srgbClr val="00406C"/>
                          </a:solidFill>
                          <a:latin typeface="Yekan Bakh"/>
                          <a:cs typeface="Yekan Bakh"/>
                        </a:rPr>
                        <a:t>کانال</a:t>
                      </a:r>
                      <a:r>
                        <a:rPr sz="1050" b="1" dirty="0">
                          <a:solidFill>
                            <a:srgbClr val="00406C"/>
                          </a:solidFill>
                          <a:latin typeface="Yekan Bakh"/>
                          <a:cs typeface="Yekan Bakh"/>
                        </a:rPr>
                        <a:t> (Channel)</a:t>
                      </a:r>
                    </a:p>
                  </a:txBody>
                  <a:tcPr marL="50800" marR="50800" marT="38100" marB="38100" anchor="ctr">
                    <a:solidFill>
                      <a:schemeClr val="bg1">
                        <a:lumMod val="95000"/>
                      </a:schemeClr>
                    </a:solidFill>
                  </a:tcPr>
                </a:tc>
                <a:extLst>
                  <a:ext uri="{0D108BD9-81ED-4DB2-BD59-A6C34878D82A}">
                    <a16:rowId xmlns:a16="http://schemas.microsoft.com/office/drawing/2014/main" val="10001"/>
                  </a:ext>
                </a:extLst>
              </a:tr>
              <a:tr h="325534">
                <a:tc>
                  <a:txBody>
                    <a:bodyPr/>
                    <a:lstStyle/>
                    <a:p>
                      <a:pPr algn="r" rtl="1">
                        <a:lnSpc>
                          <a:spcPct val="105000"/>
                        </a:lnSpc>
                      </a:pPr>
                      <a:r>
                        <a:rPr lang="fa-IR" sz="800" b="0">
                          <a:solidFill>
                            <a:schemeClr val="tx1">
                              <a:lumMod val="65000"/>
                              <a:lumOff val="35000"/>
                            </a:schemeClr>
                          </a:solidFill>
                          <a:latin typeface="Yekan Bakh"/>
                          <a:cs typeface="Yekan Bakh"/>
                        </a:rPr>
                        <a:t>کانال تحت مالکیت + تعامل انسانی</a:t>
                      </a:r>
                    </a:p>
                  </a:txBody>
                  <a:tcPr marL="50800" marR="50800" marT="38100" marB="38100" anchor="ctr">
                    <a:solidFill>
                      <a:schemeClr val="bg1"/>
                    </a:solidFill>
                  </a:tcPr>
                </a:tc>
                <a:tc>
                  <a:txBody>
                    <a:bodyPr/>
                    <a:lstStyle/>
                    <a:p>
                      <a:pPr algn="r" rtl="1">
                        <a:lnSpc>
                          <a:spcPct val="105000"/>
                        </a:lnSpc>
                      </a:pPr>
                      <a:r>
                        <a:rPr lang="fa-IR" sz="800" b="0">
                          <a:solidFill>
                            <a:schemeClr val="tx1">
                              <a:lumMod val="65000"/>
                              <a:lumOff val="35000"/>
                            </a:schemeClr>
                          </a:solidFill>
                          <a:latin typeface="Yekan Bakh"/>
                          <a:cs typeface="Yekan Bakh"/>
                        </a:rPr>
                        <a:t>کانال تحت مالکیت + تعامل انسانی</a:t>
                      </a:r>
                    </a:p>
                  </a:txBody>
                  <a:tcPr marL="50800" marR="50800" marT="38100" marB="38100" anchor="ctr">
                    <a:solidFill>
                      <a:schemeClr val="bg1"/>
                    </a:solidFill>
                  </a:tcPr>
                </a:tc>
                <a:tc>
                  <a:txBody>
                    <a:bodyPr/>
                    <a:lstStyle/>
                    <a:p>
                      <a:pPr algn="r" rtl="1">
                        <a:lnSpc>
                          <a:spcPct val="105000"/>
                        </a:lnSpc>
                      </a:pPr>
                      <a:r>
                        <a:rPr lang="fa-IR" sz="800" b="0" dirty="0">
                          <a:solidFill>
                            <a:schemeClr val="tx1">
                              <a:lumMod val="65000"/>
                              <a:lumOff val="35000"/>
                            </a:schemeClr>
                          </a:solidFill>
                          <a:latin typeface="Yekan Bakh"/>
                          <a:cs typeface="Yekan Bakh"/>
                        </a:rPr>
                        <a:t>کانال تحت مالکیت + تعامل انسانی + مبتنی بر </a:t>
                      </a:r>
                      <a:r>
                        <a:rPr lang="en-US" sz="800" b="0" dirty="0">
                          <a:solidFill>
                            <a:schemeClr val="tx1">
                              <a:lumMod val="65000"/>
                              <a:lumOff val="35000"/>
                            </a:schemeClr>
                          </a:solidFill>
                          <a:latin typeface="Yekan Bakh"/>
                          <a:cs typeface="Yekan Bakh"/>
                        </a:rPr>
                        <a:t>Being</a:t>
                      </a:r>
                      <a:endParaRPr lang="fa-IR" sz="800" b="0" dirty="0">
                        <a:solidFill>
                          <a:schemeClr val="tx1">
                            <a:lumMod val="65000"/>
                            <a:lumOff val="35000"/>
                          </a:schemeClr>
                        </a:solidFill>
                        <a:latin typeface="Yekan Bakh"/>
                        <a:cs typeface="Yekan Bakh"/>
                      </a:endParaRPr>
                    </a:p>
                  </a:txBody>
                  <a:tcPr marL="50800" marR="50800" marT="38100" marB="38100" anchor="ctr">
                    <a:solidFill>
                      <a:schemeClr val="bg1"/>
                    </a:solidFill>
                  </a:tcPr>
                </a:tc>
                <a:tc>
                  <a:txBody>
                    <a:bodyPr/>
                    <a:lstStyle/>
                    <a:p>
                      <a:pPr algn="ctr" rtl="1">
                        <a:lnSpc>
                          <a:spcPct val="105000"/>
                        </a:lnSpc>
                      </a:pPr>
                      <a:r>
                        <a:rPr sz="1050" b="1" dirty="0" err="1">
                          <a:solidFill>
                            <a:srgbClr val="00406C"/>
                          </a:solidFill>
                          <a:latin typeface="Yekan Bakh"/>
                          <a:cs typeface="Yekan Bakh"/>
                        </a:rPr>
                        <a:t>نوع</a:t>
                      </a:r>
                      <a:r>
                        <a:rPr lang="fa-IR" sz="1050" b="1" dirty="0">
                          <a:solidFill>
                            <a:srgbClr val="00406C"/>
                          </a:solidFill>
                          <a:latin typeface="Yekan Bakh"/>
                          <a:cs typeface="Yekan Bakh"/>
                        </a:rPr>
                        <a:t> / </a:t>
                      </a:r>
                      <a:r>
                        <a:rPr sz="1050" b="1" dirty="0" err="1">
                          <a:solidFill>
                            <a:srgbClr val="00406C"/>
                          </a:solidFill>
                          <a:latin typeface="Yekan Bakh"/>
                          <a:cs typeface="Yekan Bakh"/>
                        </a:rPr>
                        <a:t>مدل</a:t>
                      </a:r>
                      <a:r>
                        <a:rPr sz="1050" b="1" dirty="0">
                          <a:solidFill>
                            <a:srgbClr val="00406C"/>
                          </a:solidFill>
                          <a:latin typeface="Yekan Bakh"/>
                          <a:cs typeface="Yekan Bakh"/>
                        </a:rPr>
                        <a:t> </a:t>
                      </a:r>
                      <a:r>
                        <a:rPr sz="1050" b="1" dirty="0" err="1">
                          <a:solidFill>
                            <a:srgbClr val="00406C"/>
                          </a:solidFill>
                          <a:latin typeface="Yekan Bakh"/>
                          <a:cs typeface="Yekan Bakh"/>
                        </a:rPr>
                        <a:t>کانال</a:t>
                      </a:r>
                      <a:endParaRPr sz="1050" b="1" dirty="0">
                        <a:solidFill>
                          <a:srgbClr val="00406C"/>
                        </a:solidFill>
                        <a:latin typeface="Yekan Bakh"/>
                        <a:cs typeface="Yekan Bakh"/>
                      </a:endParaRPr>
                    </a:p>
                  </a:txBody>
                  <a:tcPr marL="50800" marR="50800" marT="38100" marB="38100" anchor="ctr">
                    <a:solidFill>
                      <a:schemeClr val="bg1"/>
                    </a:solidFill>
                  </a:tcPr>
                </a:tc>
                <a:extLst>
                  <a:ext uri="{0D108BD9-81ED-4DB2-BD59-A6C34878D82A}">
                    <a16:rowId xmlns:a16="http://schemas.microsoft.com/office/drawing/2014/main" val="10002"/>
                  </a:ext>
                </a:extLst>
              </a:tr>
              <a:tr h="381404">
                <a:tc>
                  <a:txBody>
                    <a:bodyPr/>
                    <a:lstStyle/>
                    <a:p>
                      <a:pPr algn="r" rtl="1">
                        <a:lnSpc>
                          <a:spcPct val="105000"/>
                        </a:lnSpc>
                      </a:pPr>
                      <a:r>
                        <a:rPr sz="800" b="0">
                          <a:solidFill>
                            <a:schemeClr val="tx1">
                              <a:lumMod val="65000"/>
                              <a:lumOff val="35000"/>
                            </a:schemeClr>
                          </a:solidFill>
                          <a:latin typeface="Yekan Bakh"/>
                          <a:cs typeface="Yekan Bakh"/>
                        </a:rPr>
                        <a:t>ادامه مسیر مذاکره اجرایی</a:t>
                      </a:r>
                    </a:p>
                  </a:txBody>
                  <a:tcPr marL="50800" marR="50800" marT="38100" marB="38100" anchor="ctr">
                    <a:solidFill>
                      <a:schemeClr val="bg1">
                        <a:lumMod val="95000"/>
                      </a:schemeClr>
                    </a:solidFill>
                  </a:tcPr>
                </a:tc>
                <a:tc>
                  <a:txBody>
                    <a:bodyPr/>
                    <a:lstStyle/>
                    <a:p>
                      <a:pPr algn="r" rtl="1">
                        <a:lnSpc>
                          <a:spcPct val="105000"/>
                        </a:lnSpc>
                      </a:pPr>
                      <a:r>
                        <a:rPr sz="800" b="0">
                          <a:solidFill>
                            <a:schemeClr val="tx1">
                              <a:lumMod val="65000"/>
                              <a:lumOff val="35000"/>
                            </a:schemeClr>
                          </a:solidFill>
                          <a:latin typeface="Yekan Bakh"/>
                          <a:cs typeface="Yekan Bakh"/>
                        </a:rPr>
                        <a:t>تداوم رابطه از فاز آگاهی</a:t>
                      </a:r>
                    </a:p>
                  </a:txBody>
                  <a:tcPr marL="50800" marR="50800" marT="38100" marB="38100" anchor="ctr">
                    <a:solidFill>
                      <a:schemeClr val="bg1">
                        <a:lumMod val="95000"/>
                      </a:schemeClr>
                    </a:solidFill>
                  </a:tcPr>
                </a:tc>
                <a:tc>
                  <a:txBody>
                    <a:bodyPr/>
                    <a:lstStyle/>
                    <a:p>
                      <a:pPr algn="r" rtl="1">
                        <a:lnSpc>
                          <a:spcPct val="105000"/>
                        </a:lnSpc>
                      </a:pPr>
                      <a:r>
                        <a:rPr sz="800" b="0" dirty="0" err="1">
                          <a:solidFill>
                            <a:schemeClr val="tx1">
                              <a:lumMod val="65000"/>
                              <a:lumOff val="35000"/>
                            </a:schemeClr>
                          </a:solidFill>
                          <a:latin typeface="Yekan Bakh"/>
                          <a:cs typeface="Yekan Bakh"/>
                        </a:rPr>
                        <a:t>معرفی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شخصی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در</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سطح</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هیئت‌مدیره</a:t>
                      </a:r>
                      <a:r>
                        <a:rPr sz="800" b="0" dirty="0">
                          <a:solidFill>
                            <a:schemeClr val="tx1">
                              <a:lumMod val="65000"/>
                              <a:lumOff val="35000"/>
                            </a:schemeClr>
                          </a:solidFill>
                          <a:latin typeface="Yekan Bakh"/>
                          <a:cs typeface="Yekan Bakh"/>
                        </a:rPr>
                        <a:t>/</a:t>
                      </a:r>
                      <a:r>
                        <a:rPr sz="800" b="0" dirty="0" err="1">
                          <a:solidFill>
                            <a:schemeClr val="tx1">
                              <a:lumMod val="65000"/>
                              <a:lumOff val="35000"/>
                            </a:schemeClr>
                          </a:solidFill>
                          <a:latin typeface="Yekan Bakh"/>
                          <a:cs typeface="Yekan Bakh"/>
                        </a:rPr>
                        <a:t>مشاور</a:t>
                      </a:r>
                      <a:r>
                        <a:rPr lang="fa-IR" sz="800" b="0" dirty="0">
                          <a:solidFill>
                            <a:schemeClr val="tx1">
                              <a:lumMod val="65000"/>
                              <a:lumOff val="35000"/>
                            </a:schemeClr>
                          </a:solidFill>
                          <a:latin typeface="Yekan Bakh"/>
                          <a:cs typeface="Yekan Bakh"/>
                        </a:rPr>
                        <a:t> سازمان</a:t>
                      </a:r>
                      <a:endParaRPr sz="800" b="0" dirty="0">
                        <a:solidFill>
                          <a:schemeClr val="tx1">
                            <a:lumMod val="65000"/>
                            <a:lumOff val="35000"/>
                          </a:schemeClr>
                        </a:solidFill>
                        <a:latin typeface="Yekan Bakh"/>
                        <a:cs typeface="Yekan Bakh"/>
                      </a:endParaRPr>
                    </a:p>
                  </a:txBody>
                  <a:tcPr marL="50800" marR="50800" marT="38100" marB="38100" anchor="ctr">
                    <a:solidFill>
                      <a:schemeClr val="bg1">
                        <a:lumMod val="95000"/>
                      </a:schemeClr>
                    </a:solidFill>
                  </a:tcPr>
                </a:tc>
                <a:tc>
                  <a:txBody>
                    <a:bodyPr/>
                    <a:lstStyle/>
                    <a:p>
                      <a:pPr algn="ctr" rtl="1">
                        <a:lnSpc>
                          <a:spcPct val="105000"/>
                        </a:lnSpc>
                      </a:pPr>
                      <a:r>
                        <a:rPr sz="1050" b="1" dirty="0" err="1">
                          <a:solidFill>
                            <a:srgbClr val="00406C"/>
                          </a:solidFill>
                          <a:latin typeface="Yekan Bakh"/>
                          <a:cs typeface="Yekan Bakh"/>
                        </a:rPr>
                        <a:t>منبع</a:t>
                      </a:r>
                      <a:r>
                        <a:rPr sz="1050" b="1" dirty="0">
                          <a:solidFill>
                            <a:srgbClr val="00406C"/>
                          </a:solidFill>
                          <a:latin typeface="Yekan Bakh"/>
                          <a:cs typeface="Yekan Bakh"/>
                        </a:rPr>
                        <a:t> </a:t>
                      </a:r>
                      <a:r>
                        <a:rPr sz="1050" b="1" dirty="0" err="1">
                          <a:solidFill>
                            <a:srgbClr val="00406C"/>
                          </a:solidFill>
                          <a:latin typeface="Yekan Bakh"/>
                          <a:cs typeface="Yekan Bakh"/>
                        </a:rPr>
                        <a:t>دسترسی</a:t>
                      </a:r>
                      <a:r>
                        <a:rPr sz="1050" b="1" dirty="0">
                          <a:solidFill>
                            <a:srgbClr val="00406C"/>
                          </a:solidFill>
                          <a:latin typeface="Yekan Bakh"/>
                          <a:cs typeface="Yekan Bakh"/>
                        </a:rPr>
                        <a:t>/ </a:t>
                      </a:r>
                      <a:r>
                        <a:rPr lang="fa-IR" sz="1050" b="1" dirty="0">
                          <a:solidFill>
                            <a:srgbClr val="00406C"/>
                          </a:solidFill>
                          <a:latin typeface="Yekan Bakh"/>
                          <a:cs typeface="Yekan Bakh"/>
                        </a:rPr>
                        <a:t> </a:t>
                      </a:r>
                      <a:r>
                        <a:rPr sz="1050" b="1" dirty="0" err="1">
                          <a:solidFill>
                            <a:srgbClr val="00406C"/>
                          </a:solidFill>
                          <a:latin typeface="Yekan Bakh"/>
                          <a:cs typeface="Yekan Bakh"/>
                        </a:rPr>
                        <a:t>جذب</a:t>
                      </a:r>
                      <a:endParaRPr sz="1050" b="1" dirty="0">
                        <a:solidFill>
                          <a:srgbClr val="00406C"/>
                        </a:solidFill>
                        <a:latin typeface="Yekan Bakh"/>
                        <a:cs typeface="Yekan Bakh"/>
                      </a:endParaRPr>
                    </a:p>
                  </a:txBody>
                  <a:tcPr marL="50800" marR="50800" marT="38100" marB="38100" anchor="ctr">
                    <a:solidFill>
                      <a:schemeClr val="bg1">
                        <a:lumMod val="95000"/>
                      </a:schemeClr>
                    </a:solidFill>
                  </a:tcPr>
                </a:tc>
                <a:extLst>
                  <a:ext uri="{0D108BD9-81ED-4DB2-BD59-A6C34878D82A}">
                    <a16:rowId xmlns:a16="http://schemas.microsoft.com/office/drawing/2014/main" val="10003"/>
                  </a:ext>
                </a:extLst>
              </a:tr>
              <a:tr h="320787">
                <a:tc>
                  <a:txBody>
                    <a:bodyPr/>
                    <a:lstStyle/>
                    <a:p>
                      <a:pPr algn="r" rtl="1">
                        <a:lnSpc>
                          <a:spcPct val="105000"/>
                        </a:lnSpc>
                      </a:pPr>
                      <a:r>
                        <a:rPr sz="800" b="0">
                          <a:solidFill>
                            <a:schemeClr val="tx1">
                              <a:lumMod val="65000"/>
                              <a:lumOff val="35000"/>
                            </a:schemeClr>
                          </a:solidFill>
                          <a:latin typeface="Yekan Bakh"/>
                          <a:cs typeface="Yekan Bakh"/>
                        </a:rPr>
                        <a:t>جلسه امضای توافق‌نامه اصول</a:t>
                      </a:r>
                    </a:p>
                  </a:txBody>
                  <a:tcPr marL="50800" marR="50800" marT="38100" marB="38100" anchor="ctr">
                    <a:solidFill>
                      <a:schemeClr val="bg1"/>
                    </a:solidFill>
                  </a:tcPr>
                </a:tc>
                <a:tc>
                  <a:txBody>
                    <a:bodyPr/>
                    <a:lstStyle/>
                    <a:p>
                      <a:pPr algn="r" rtl="1">
                        <a:lnSpc>
                          <a:spcPct val="105000"/>
                        </a:lnSpc>
                      </a:pPr>
                      <a:r>
                        <a:rPr sz="800" b="0">
                          <a:solidFill>
                            <a:schemeClr val="tx1">
                              <a:lumMod val="65000"/>
                              <a:lumOff val="35000"/>
                            </a:schemeClr>
                          </a:solidFill>
                          <a:latin typeface="Yekan Bakh"/>
                          <a:cs typeface="Yekan Bakh"/>
                        </a:rPr>
                        <a:t>جلسه اجرایی حضوری</a:t>
                      </a:r>
                    </a:p>
                  </a:txBody>
                  <a:tcPr marL="50800" marR="50800" marT="38100" marB="38100" anchor="ctr">
                    <a:solidFill>
                      <a:schemeClr val="bg1"/>
                    </a:solidFill>
                  </a:tcPr>
                </a:tc>
                <a:tc>
                  <a:txBody>
                    <a:bodyPr/>
                    <a:lstStyle/>
                    <a:p>
                      <a:pPr algn="r" rtl="1">
                        <a:lnSpc>
                          <a:spcPct val="105000"/>
                        </a:lnSpc>
                      </a:pPr>
                      <a:r>
                        <a:rPr sz="800" b="0" dirty="0" err="1">
                          <a:solidFill>
                            <a:schemeClr val="tx1">
                              <a:lumMod val="65000"/>
                              <a:lumOff val="35000"/>
                            </a:schemeClr>
                          </a:solidFill>
                          <a:latin typeface="Yekan Bakh"/>
                          <a:cs typeface="Yekan Bakh"/>
                        </a:rPr>
                        <a:t>دیدار</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خصوصی</a:t>
                      </a:r>
                      <a:r>
                        <a:rPr sz="800" b="0" dirty="0">
                          <a:solidFill>
                            <a:schemeClr val="tx1">
                              <a:lumMod val="65000"/>
                              <a:lumOff val="35000"/>
                            </a:schemeClr>
                          </a:solidFill>
                          <a:latin typeface="Yekan Bakh"/>
                          <a:cs typeface="Yekan Bakh"/>
                        </a:rPr>
                        <a:t>/</a:t>
                      </a:r>
                      <a:r>
                        <a:rPr sz="800" b="0" dirty="0" err="1">
                          <a:solidFill>
                            <a:schemeClr val="tx1">
                              <a:lumMod val="65000"/>
                              <a:lumOff val="35000"/>
                            </a:schemeClr>
                          </a:solidFill>
                          <a:latin typeface="Yekan Bakh"/>
                          <a:cs typeface="Yekan Bakh"/>
                        </a:rPr>
                        <a:t>تماس</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مستقیم</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سطح</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ارشد</a:t>
                      </a:r>
                      <a:endParaRPr sz="800" b="0" dirty="0">
                        <a:solidFill>
                          <a:schemeClr val="tx1">
                            <a:lumMod val="65000"/>
                            <a:lumOff val="35000"/>
                          </a:schemeClr>
                        </a:solidFill>
                        <a:latin typeface="Yekan Bakh"/>
                        <a:cs typeface="Yekan Bakh"/>
                      </a:endParaRPr>
                    </a:p>
                  </a:txBody>
                  <a:tcPr marL="50800" marR="50800" marT="38100" marB="38100" anchor="ctr">
                    <a:solidFill>
                      <a:schemeClr val="bg1"/>
                    </a:solidFill>
                  </a:tcPr>
                </a:tc>
                <a:tc>
                  <a:txBody>
                    <a:bodyPr/>
                    <a:lstStyle/>
                    <a:p>
                      <a:pPr algn="ctr" rtl="1">
                        <a:lnSpc>
                          <a:spcPct val="105000"/>
                        </a:lnSpc>
                      </a:pPr>
                      <a:r>
                        <a:rPr sz="1050" b="1" dirty="0" err="1">
                          <a:solidFill>
                            <a:srgbClr val="00406C"/>
                          </a:solidFill>
                          <a:latin typeface="Yekan Bakh"/>
                          <a:cs typeface="Yekan Bakh"/>
                        </a:rPr>
                        <a:t>نقطه</a:t>
                      </a:r>
                      <a:r>
                        <a:rPr sz="1050" b="1" dirty="0">
                          <a:solidFill>
                            <a:srgbClr val="00406C"/>
                          </a:solidFill>
                          <a:latin typeface="Yekan Bakh"/>
                          <a:cs typeface="Yekan Bakh"/>
                        </a:rPr>
                        <a:t> </a:t>
                      </a:r>
                      <a:r>
                        <a:rPr sz="1050" b="1" dirty="0" err="1">
                          <a:solidFill>
                            <a:srgbClr val="00406C"/>
                          </a:solidFill>
                          <a:latin typeface="Yekan Bakh"/>
                          <a:cs typeface="Yekan Bakh"/>
                        </a:rPr>
                        <a:t>تماس</a:t>
                      </a:r>
                      <a:endParaRPr sz="1050" b="1" dirty="0">
                        <a:solidFill>
                          <a:srgbClr val="00406C"/>
                        </a:solidFill>
                        <a:latin typeface="Yekan Bakh"/>
                        <a:cs typeface="Yekan Bakh"/>
                      </a:endParaRPr>
                    </a:p>
                  </a:txBody>
                  <a:tcPr marL="50800" marR="50800" marT="38100" marB="38100" anchor="ctr">
                    <a:solidFill>
                      <a:schemeClr val="bg1"/>
                    </a:solidFill>
                  </a:tcPr>
                </a:tc>
                <a:extLst>
                  <a:ext uri="{0D108BD9-81ED-4DB2-BD59-A6C34878D82A}">
                    <a16:rowId xmlns:a16="http://schemas.microsoft.com/office/drawing/2014/main" val="10004"/>
                  </a:ext>
                </a:extLst>
              </a:tr>
              <a:tr h="365512">
                <a:tc>
                  <a:txBody>
                    <a:bodyPr/>
                    <a:lstStyle/>
                    <a:p>
                      <a:pPr algn="r" rtl="1">
                        <a:lnSpc>
                          <a:spcPct val="105000"/>
                        </a:lnSpc>
                      </a:pPr>
                      <a:r>
                        <a:rPr sz="800" b="0">
                          <a:solidFill>
                            <a:schemeClr val="tx1">
                              <a:lumMod val="65000"/>
                              <a:lumOff val="35000"/>
                            </a:schemeClr>
                          </a:solidFill>
                          <a:latin typeface="Yekan Bakh"/>
                          <a:cs typeface="Yekan Bakh"/>
                        </a:rPr>
                        <a:t>توافق بر کارمزد اعتبارسنجی، سپس ساخت با کارمزد+سهام</a:t>
                      </a:r>
                    </a:p>
                  </a:txBody>
                  <a:tcPr marL="50800" marR="50800" marT="38100" marB="38100" anchor="ctr">
                    <a:solidFill>
                      <a:schemeClr val="bg1">
                        <a:lumMod val="95000"/>
                      </a:schemeClr>
                    </a:solidFill>
                  </a:tcPr>
                </a:tc>
                <a:tc>
                  <a:txBody>
                    <a:bodyPr/>
                    <a:lstStyle/>
                    <a:p>
                      <a:pPr algn="r" rtl="1">
                        <a:lnSpc>
                          <a:spcPct val="105000"/>
                        </a:lnSpc>
                      </a:pPr>
                      <a:r>
                        <a:rPr sz="800" b="0">
                          <a:solidFill>
                            <a:schemeClr val="tx1">
                              <a:lumMod val="65000"/>
                              <a:lumOff val="35000"/>
                            </a:schemeClr>
                          </a:solidFill>
                          <a:latin typeface="Yekan Bakh"/>
                          <a:cs typeface="Yekan Bakh"/>
                        </a:rPr>
                        <a:t>ارائه نمونه‌کار ساخت ونچر و اثبات توان اجرا</a:t>
                      </a:r>
                    </a:p>
                  </a:txBody>
                  <a:tcPr marL="50800" marR="50800" marT="38100" marB="38100" anchor="ctr">
                    <a:solidFill>
                      <a:schemeClr val="bg1">
                        <a:lumMod val="95000"/>
                      </a:schemeClr>
                    </a:solidFill>
                  </a:tcPr>
                </a:tc>
                <a:tc>
                  <a:txBody>
                    <a:bodyPr/>
                    <a:lstStyle/>
                    <a:p>
                      <a:pPr algn="r" rtl="1">
                        <a:lnSpc>
                          <a:spcPct val="105000"/>
                        </a:lnSpc>
                      </a:pPr>
                      <a:r>
                        <a:rPr sz="800" b="0" dirty="0" err="1">
                          <a:solidFill>
                            <a:schemeClr val="tx1">
                              <a:lumMod val="65000"/>
                              <a:lumOff val="35000"/>
                            </a:schemeClr>
                          </a:solidFill>
                          <a:latin typeface="Yekan Bakh"/>
                          <a:cs typeface="Yekan Bakh"/>
                        </a:rPr>
                        <a:t>طرح</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اولیه</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فرصت</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مشارکت</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در</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ساخت</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کسب‌وکار</a:t>
                      </a:r>
                      <a:endParaRPr sz="800" b="0" dirty="0">
                        <a:solidFill>
                          <a:schemeClr val="tx1">
                            <a:lumMod val="65000"/>
                            <a:lumOff val="35000"/>
                          </a:schemeClr>
                        </a:solidFill>
                        <a:latin typeface="Yekan Bakh"/>
                        <a:cs typeface="Yekan Bakh"/>
                      </a:endParaRPr>
                    </a:p>
                  </a:txBody>
                  <a:tcPr marL="50800" marR="50800" marT="38100" marB="38100" anchor="ctr">
                    <a:solidFill>
                      <a:schemeClr val="bg1">
                        <a:lumMod val="95000"/>
                      </a:schemeClr>
                    </a:solidFill>
                  </a:tcPr>
                </a:tc>
                <a:tc>
                  <a:txBody>
                    <a:bodyPr/>
                    <a:lstStyle/>
                    <a:p>
                      <a:pPr algn="ctr" rtl="1">
                        <a:lnSpc>
                          <a:spcPct val="105000"/>
                        </a:lnSpc>
                      </a:pPr>
                      <a:r>
                        <a:rPr sz="1050" b="1" dirty="0" err="1">
                          <a:solidFill>
                            <a:srgbClr val="00406C"/>
                          </a:solidFill>
                          <a:latin typeface="Yekan Bakh"/>
                          <a:cs typeface="Yekan Bakh"/>
                        </a:rPr>
                        <a:t>فعالیت</a:t>
                      </a:r>
                      <a:r>
                        <a:rPr sz="1050" b="1" dirty="0">
                          <a:solidFill>
                            <a:srgbClr val="00406C"/>
                          </a:solidFill>
                          <a:latin typeface="Yekan Bakh"/>
                          <a:cs typeface="Yekan Bakh"/>
                        </a:rPr>
                        <a:t> </a:t>
                      </a:r>
                      <a:r>
                        <a:rPr lang="fa-IR" sz="1050" b="1" dirty="0">
                          <a:solidFill>
                            <a:srgbClr val="00406C"/>
                          </a:solidFill>
                          <a:latin typeface="Yekan Bakh"/>
                          <a:cs typeface="Yekan Bakh"/>
                        </a:rPr>
                        <a:t>/</a:t>
                      </a:r>
                      <a:r>
                        <a:rPr sz="1050" b="1" dirty="0">
                          <a:solidFill>
                            <a:srgbClr val="00406C"/>
                          </a:solidFill>
                          <a:latin typeface="Yekan Bakh"/>
                          <a:cs typeface="Yekan Bakh"/>
                        </a:rPr>
                        <a:t> </a:t>
                      </a:r>
                      <a:r>
                        <a:rPr sz="1050" b="1" dirty="0" err="1">
                          <a:solidFill>
                            <a:srgbClr val="00406C"/>
                          </a:solidFill>
                          <a:latin typeface="Yekan Bakh"/>
                          <a:cs typeface="Yekan Bakh"/>
                        </a:rPr>
                        <a:t>اقدام</a:t>
                      </a:r>
                      <a:endParaRPr sz="1050" b="1" dirty="0">
                        <a:solidFill>
                          <a:srgbClr val="00406C"/>
                        </a:solidFill>
                        <a:latin typeface="Yekan Bakh"/>
                        <a:cs typeface="Yekan Bakh"/>
                      </a:endParaRPr>
                    </a:p>
                  </a:txBody>
                  <a:tcPr marL="50800" marR="50800" marT="38100" marB="38100" anchor="ctr">
                    <a:solidFill>
                      <a:schemeClr val="bg1">
                        <a:lumMod val="95000"/>
                      </a:schemeClr>
                    </a:solidFill>
                  </a:tcPr>
                </a:tc>
                <a:extLst>
                  <a:ext uri="{0D108BD9-81ED-4DB2-BD59-A6C34878D82A}">
                    <a16:rowId xmlns:a16="http://schemas.microsoft.com/office/drawing/2014/main" val="10005"/>
                  </a:ext>
                </a:extLst>
              </a:tr>
              <a:tr h="333729">
                <a:tc>
                  <a:txBody>
                    <a:bodyPr/>
                    <a:lstStyle/>
                    <a:p>
                      <a:pPr algn="r" rtl="1">
                        <a:lnSpc>
                          <a:spcPct val="105000"/>
                        </a:lnSpc>
                      </a:pPr>
                      <a:r>
                        <a:rPr sz="800" b="0">
                          <a:solidFill>
                            <a:schemeClr val="tx1">
                              <a:lumMod val="65000"/>
                              <a:lumOff val="35000"/>
                            </a:schemeClr>
                          </a:solidFill>
                          <a:latin typeface="Yekan Bakh"/>
                          <a:cs typeface="Yekan Bakh"/>
                        </a:rPr>
                        <a:t>بنیان‌گذار </a:t>
                      </a:r>
                      <a:r>
                        <a:rPr lang="fa-IR" sz="800" b="0">
                          <a:solidFill>
                            <a:schemeClr val="tx1">
                              <a:lumMod val="65000"/>
                              <a:lumOff val="35000"/>
                            </a:schemeClr>
                          </a:solidFill>
                          <a:latin typeface="Yekan Bakh"/>
                          <a:cs typeface="Yekan Bakh"/>
                        </a:rPr>
                        <a:t>اکوسیستم فرصت ایران</a:t>
                      </a:r>
                      <a:r>
                        <a:rPr sz="800" b="0">
                          <a:solidFill>
                            <a:schemeClr val="tx1">
                              <a:lumMod val="65000"/>
                              <a:lumOff val="35000"/>
                            </a:schemeClr>
                          </a:solidFill>
                          <a:latin typeface="Yekan Bakh"/>
                          <a:cs typeface="Yekan Bakh"/>
                        </a:rPr>
                        <a:t> ↔ صاحب دارایی/کسب‌وکار</a:t>
                      </a:r>
                    </a:p>
                  </a:txBody>
                  <a:tcPr marL="50800" marR="50800" marT="38100" marB="38100" anchor="ctr">
                    <a:solidFill>
                      <a:schemeClr val="bg1"/>
                    </a:solidFill>
                  </a:tcPr>
                </a:tc>
                <a:tc>
                  <a:txBody>
                    <a:bodyPr/>
                    <a:lstStyle/>
                    <a:p>
                      <a:pPr algn="r" rtl="1">
                        <a:lnSpc>
                          <a:spcPct val="105000"/>
                        </a:lnSpc>
                      </a:pPr>
                      <a:r>
                        <a:rPr sz="800" b="0">
                          <a:solidFill>
                            <a:schemeClr val="tx1">
                              <a:lumMod val="65000"/>
                              <a:lumOff val="35000"/>
                            </a:schemeClr>
                          </a:solidFill>
                          <a:latin typeface="Yekan Bakh"/>
                          <a:cs typeface="Yekan Bakh"/>
                        </a:rPr>
                        <a:t>بنیان‌گذار/تیم </a:t>
                      </a:r>
                      <a:r>
                        <a:rPr lang="fa-IR" sz="800" b="0">
                          <a:solidFill>
                            <a:schemeClr val="tx1">
                              <a:lumMod val="65000"/>
                              <a:lumOff val="35000"/>
                            </a:schemeClr>
                          </a:solidFill>
                          <a:latin typeface="Yekan Bakh"/>
                          <a:cs typeface="Yekan Bakh"/>
                        </a:rPr>
                        <a:t>اکوسیستم فرصت ایران</a:t>
                      </a:r>
                      <a:endParaRPr sz="800" b="0">
                        <a:solidFill>
                          <a:schemeClr val="tx1">
                            <a:lumMod val="65000"/>
                            <a:lumOff val="35000"/>
                          </a:schemeClr>
                        </a:solidFill>
                        <a:latin typeface="Yekan Bakh"/>
                        <a:cs typeface="Yekan Bakh"/>
                      </a:endParaRPr>
                    </a:p>
                  </a:txBody>
                  <a:tcPr marL="50800" marR="50800" marT="38100" marB="38100" anchor="ctr">
                    <a:solidFill>
                      <a:schemeClr val="bg1"/>
                    </a:solidFill>
                  </a:tcPr>
                </a:tc>
                <a:tc>
                  <a:txBody>
                    <a:bodyPr/>
                    <a:lstStyle/>
                    <a:p>
                      <a:pPr algn="r" rtl="1">
                        <a:lnSpc>
                          <a:spcPct val="105000"/>
                        </a:lnSpc>
                      </a:pPr>
                      <a:r>
                        <a:rPr sz="800" b="0" dirty="0" err="1">
                          <a:solidFill>
                            <a:schemeClr val="tx1">
                              <a:lumMod val="65000"/>
                              <a:lumOff val="35000"/>
                            </a:schemeClr>
                          </a:solidFill>
                          <a:latin typeface="Yekan Bakh"/>
                          <a:cs typeface="Yekan Bakh"/>
                        </a:rPr>
                        <a:t>بنیان‌گذار</a:t>
                      </a:r>
                      <a:r>
                        <a:rPr sz="800" b="0" dirty="0">
                          <a:solidFill>
                            <a:schemeClr val="tx1">
                              <a:lumMod val="65000"/>
                              <a:lumOff val="35000"/>
                            </a:schemeClr>
                          </a:solidFill>
                          <a:latin typeface="Yekan Bakh"/>
                          <a:cs typeface="Yekan Bakh"/>
                        </a:rPr>
                        <a:t> </a:t>
                      </a:r>
                      <a:r>
                        <a:rPr lang="fa-IR" sz="800" b="0" dirty="0">
                          <a:solidFill>
                            <a:schemeClr val="tx1">
                              <a:lumMod val="65000"/>
                              <a:lumOff val="35000"/>
                            </a:schemeClr>
                          </a:solidFill>
                          <a:latin typeface="Yekan Bakh"/>
                          <a:cs typeface="Yekan Bakh"/>
                        </a:rPr>
                        <a:t>اکوسیستم فرصت ایران</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مشاور</a:t>
                      </a:r>
                      <a:r>
                        <a:rPr sz="800" b="0" dirty="0">
                          <a:solidFill>
                            <a:schemeClr val="tx1">
                              <a:lumMod val="65000"/>
                              <a:lumOff val="35000"/>
                            </a:schemeClr>
                          </a:solidFill>
                          <a:latin typeface="Yekan Bakh"/>
                          <a:cs typeface="Yekan Bakh"/>
                        </a:rPr>
                        <a:t> </a:t>
                      </a:r>
                      <a:r>
                        <a:rPr lang="fa-IR" sz="800" b="0" dirty="0">
                          <a:solidFill>
                            <a:schemeClr val="tx1">
                              <a:lumMod val="65000"/>
                              <a:lumOff val="35000"/>
                            </a:schemeClr>
                          </a:solidFill>
                          <a:latin typeface="Yekan Bakh"/>
                          <a:cs typeface="Yekan Bakh"/>
                        </a:rPr>
                        <a:t>یا</a:t>
                      </a:r>
                      <a:r>
                        <a:rPr lang="en-US" sz="800" b="0" dirty="0">
                          <a:solidFill>
                            <a:schemeClr val="tx1">
                              <a:lumMod val="65000"/>
                              <a:lumOff val="35000"/>
                            </a:schemeClr>
                          </a:solidFill>
                          <a:latin typeface="Yekan Bakh"/>
                          <a:cs typeface="Yekan Bakh"/>
                        </a:rPr>
                        <a:t> </a:t>
                      </a:r>
                      <a:r>
                        <a:rPr lang="fa-IR" sz="800" b="0" dirty="0">
                          <a:solidFill>
                            <a:schemeClr val="tx1">
                              <a:lumMod val="65000"/>
                              <a:lumOff val="35000"/>
                            </a:schemeClr>
                          </a:solidFill>
                          <a:latin typeface="Yekan Bakh"/>
                          <a:cs typeface="Yekan Bakh"/>
                        </a:rPr>
                        <a:t>مد</a:t>
                      </a:r>
                      <a:r>
                        <a:rPr sz="800" b="0" dirty="0" err="1">
                          <a:solidFill>
                            <a:schemeClr val="tx1">
                              <a:lumMod val="65000"/>
                              <a:lumOff val="35000"/>
                            </a:schemeClr>
                          </a:solidFill>
                          <a:latin typeface="Yekan Bakh"/>
                          <a:cs typeface="Yekan Bakh"/>
                        </a:rPr>
                        <a:t>یر</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دفتر</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ثروت</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خانوادگی</a:t>
                      </a:r>
                      <a:r>
                        <a:rPr sz="800" b="0" dirty="0">
                          <a:solidFill>
                            <a:schemeClr val="tx1">
                              <a:lumMod val="65000"/>
                              <a:lumOff val="35000"/>
                            </a:schemeClr>
                          </a:solidFill>
                          <a:latin typeface="Yekan Bakh"/>
                          <a:cs typeface="Yekan Bakh"/>
                        </a:rPr>
                        <a:t> </a:t>
                      </a:r>
                      <a:r>
                        <a:rPr lang="fa-IR" sz="800" b="0" dirty="0">
                          <a:solidFill>
                            <a:schemeClr val="tx1">
                              <a:lumMod val="65000"/>
                              <a:lumOff val="35000"/>
                            </a:schemeClr>
                          </a:solidFill>
                          <a:latin typeface="Yekan Bakh"/>
                          <a:cs typeface="Yekan Bakh"/>
                        </a:rPr>
                        <a:t>(</a:t>
                      </a:r>
                      <a:r>
                        <a:rPr sz="800" b="0" dirty="0" err="1">
                          <a:solidFill>
                            <a:schemeClr val="tx1">
                              <a:lumMod val="65000"/>
                              <a:lumOff val="35000"/>
                            </a:schemeClr>
                          </a:solidFill>
                          <a:latin typeface="Yekan Bakh"/>
                          <a:cs typeface="Yekan Bakh"/>
                        </a:rPr>
                        <a:t>معرف</a:t>
                      </a:r>
                      <a:r>
                        <a:rPr lang="fa-IR" sz="800" b="0" dirty="0">
                          <a:solidFill>
                            <a:schemeClr val="tx1">
                              <a:lumMod val="65000"/>
                              <a:lumOff val="35000"/>
                            </a:schemeClr>
                          </a:solidFill>
                          <a:latin typeface="Yekan Bakh"/>
                          <a:cs typeface="Yekan Bakh"/>
                        </a:rPr>
                        <a:t>)</a:t>
                      </a:r>
                      <a:endParaRPr sz="800" b="0" dirty="0">
                        <a:solidFill>
                          <a:schemeClr val="tx1">
                            <a:lumMod val="65000"/>
                            <a:lumOff val="35000"/>
                          </a:schemeClr>
                        </a:solidFill>
                        <a:latin typeface="Yekan Bakh"/>
                        <a:cs typeface="Yekan Bakh"/>
                      </a:endParaRPr>
                    </a:p>
                  </a:txBody>
                  <a:tcPr marL="50800" marR="50800" marT="38100" marB="38100" anchor="ctr">
                    <a:solidFill>
                      <a:schemeClr val="bg1"/>
                    </a:solidFill>
                  </a:tcPr>
                </a:tc>
                <a:tc>
                  <a:txBody>
                    <a:bodyPr/>
                    <a:lstStyle/>
                    <a:p>
                      <a:pPr algn="ctr" rtl="1">
                        <a:lnSpc>
                          <a:spcPct val="105000"/>
                        </a:lnSpc>
                      </a:pPr>
                      <a:r>
                        <a:rPr sz="1050" b="1" dirty="0" err="1">
                          <a:solidFill>
                            <a:srgbClr val="00406C"/>
                          </a:solidFill>
                          <a:latin typeface="Yekan Bakh"/>
                          <a:cs typeface="Yekan Bakh"/>
                        </a:rPr>
                        <a:t>بازیگر</a:t>
                      </a:r>
                      <a:r>
                        <a:rPr sz="1050" b="1" dirty="0">
                          <a:solidFill>
                            <a:srgbClr val="00406C"/>
                          </a:solidFill>
                          <a:latin typeface="Yekan Bakh"/>
                          <a:cs typeface="Yekan Bakh"/>
                        </a:rPr>
                        <a:t>/ </a:t>
                      </a:r>
                      <a:r>
                        <a:rPr lang="fa-IR" sz="1050" b="1" dirty="0">
                          <a:solidFill>
                            <a:srgbClr val="00406C"/>
                          </a:solidFill>
                          <a:latin typeface="Yekan Bakh"/>
                          <a:cs typeface="Yekan Bakh"/>
                        </a:rPr>
                        <a:t> م</a:t>
                      </a:r>
                      <a:r>
                        <a:rPr sz="1050" b="1" dirty="0" err="1">
                          <a:solidFill>
                            <a:srgbClr val="00406C"/>
                          </a:solidFill>
                          <a:latin typeface="Yekan Bakh"/>
                          <a:cs typeface="Yekan Bakh"/>
                        </a:rPr>
                        <a:t>الک</a:t>
                      </a:r>
                      <a:r>
                        <a:rPr sz="1050" b="1" dirty="0">
                          <a:solidFill>
                            <a:srgbClr val="00406C"/>
                          </a:solidFill>
                          <a:latin typeface="Yekan Bakh"/>
                          <a:cs typeface="Yekan Bakh"/>
                        </a:rPr>
                        <a:t> </a:t>
                      </a:r>
                      <a:r>
                        <a:rPr sz="1050" b="1" dirty="0" err="1">
                          <a:solidFill>
                            <a:srgbClr val="00406C"/>
                          </a:solidFill>
                          <a:latin typeface="Yekan Bakh"/>
                          <a:cs typeface="Yekan Bakh"/>
                        </a:rPr>
                        <a:t>تعامل</a:t>
                      </a:r>
                      <a:endParaRPr sz="1050" b="1" dirty="0">
                        <a:solidFill>
                          <a:srgbClr val="00406C"/>
                        </a:solidFill>
                        <a:latin typeface="Yekan Bakh"/>
                        <a:cs typeface="Yekan Bakh"/>
                      </a:endParaRPr>
                    </a:p>
                  </a:txBody>
                  <a:tcPr marL="50800" marR="50800" marT="38100" marB="38100" anchor="ctr">
                    <a:solidFill>
                      <a:schemeClr val="bg1"/>
                    </a:solidFill>
                  </a:tcPr>
                </a:tc>
                <a:extLst>
                  <a:ext uri="{0D108BD9-81ED-4DB2-BD59-A6C34878D82A}">
                    <a16:rowId xmlns:a16="http://schemas.microsoft.com/office/drawing/2014/main" val="10006"/>
                  </a:ext>
                </a:extLst>
              </a:tr>
              <a:tr h="325534">
                <a:tc>
                  <a:txBody>
                    <a:bodyPr/>
                    <a:lstStyle/>
                    <a:p>
                      <a:pPr algn="r" rtl="1">
                        <a:lnSpc>
                          <a:spcPct val="105000"/>
                        </a:lnSpc>
                      </a:pPr>
                      <a:r>
                        <a:rPr sz="800" b="0" dirty="0">
                          <a:solidFill>
                            <a:schemeClr val="tx1">
                              <a:lumMod val="65000"/>
                              <a:lumOff val="35000"/>
                            </a:schemeClr>
                          </a:solidFill>
                          <a:latin typeface="Yekan Bakh"/>
                          <a:cs typeface="Yekan Bakh"/>
                        </a:rPr>
                        <a:t>Term Sheet</a:t>
                      </a:r>
                      <a:r>
                        <a:rPr lang="fa-IR" sz="800" b="0" dirty="0">
                          <a:solidFill>
                            <a:schemeClr val="tx1">
                              <a:lumMod val="65000"/>
                              <a:lumOff val="35000"/>
                            </a:schemeClr>
                          </a:solidFill>
                          <a:latin typeface="Yekan Bakh"/>
                          <a:cs typeface="Yekan Bakh"/>
                        </a:rPr>
                        <a:t> ت</a:t>
                      </a:r>
                      <a:r>
                        <a:rPr sz="800" b="0" dirty="0" err="1">
                          <a:solidFill>
                            <a:schemeClr val="tx1">
                              <a:lumMod val="65000"/>
                              <a:lumOff val="35000"/>
                            </a:schemeClr>
                          </a:solidFill>
                          <a:latin typeface="Yekan Bakh"/>
                          <a:cs typeface="Yekan Bakh"/>
                        </a:rPr>
                        <a:t>وافق</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مرحله</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اول</a:t>
                      </a:r>
                      <a:endParaRPr sz="800" b="0" dirty="0">
                        <a:solidFill>
                          <a:schemeClr val="tx1">
                            <a:lumMod val="65000"/>
                            <a:lumOff val="35000"/>
                          </a:schemeClr>
                        </a:solidFill>
                        <a:latin typeface="Yekan Bakh"/>
                        <a:cs typeface="Yekan Bakh"/>
                      </a:endParaRPr>
                    </a:p>
                  </a:txBody>
                  <a:tcPr marL="50800" marR="50800" marT="38100" marB="38100" anchor="ctr">
                    <a:solidFill>
                      <a:schemeClr val="bg1">
                        <a:lumMod val="95000"/>
                      </a:schemeClr>
                    </a:solidFill>
                  </a:tcPr>
                </a:tc>
                <a:tc>
                  <a:txBody>
                    <a:bodyPr/>
                    <a:lstStyle/>
                    <a:p>
                      <a:pPr algn="r" rtl="1">
                        <a:lnSpc>
                          <a:spcPct val="105000"/>
                        </a:lnSpc>
                      </a:pPr>
                      <a:r>
                        <a:rPr sz="800" b="0">
                          <a:solidFill>
                            <a:schemeClr val="tx1">
                              <a:lumMod val="65000"/>
                              <a:lumOff val="35000"/>
                            </a:schemeClr>
                          </a:solidFill>
                          <a:latin typeface="Yekan Bakh"/>
                          <a:cs typeface="Yekan Bakh"/>
                        </a:rPr>
                        <a:t>Qualified Opportunity</a:t>
                      </a:r>
                    </a:p>
                  </a:txBody>
                  <a:tcPr marL="50800" marR="50800" marT="38100" marB="38100" anchor="ctr">
                    <a:solidFill>
                      <a:schemeClr val="bg1">
                        <a:lumMod val="95000"/>
                      </a:schemeClr>
                    </a:solidFill>
                  </a:tcPr>
                </a:tc>
                <a:tc>
                  <a:txBody>
                    <a:bodyPr/>
                    <a:lstStyle/>
                    <a:p>
                      <a:pPr algn="r" rtl="1">
                        <a:lnSpc>
                          <a:spcPct val="105000"/>
                        </a:lnSpc>
                      </a:pPr>
                      <a:r>
                        <a:rPr sz="800" b="0" dirty="0">
                          <a:solidFill>
                            <a:schemeClr val="tx1">
                              <a:lumMod val="65000"/>
                              <a:lumOff val="35000"/>
                            </a:schemeClr>
                          </a:solidFill>
                          <a:latin typeface="Yekan Bakh"/>
                          <a:cs typeface="Yekan Bakh"/>
                        </a:rPr>
                        <a:t>Lead </a:t>
                      </a:r>
                      <a:r>
                        <a:rPr lang="fa-I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سرنخ</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در</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سطح</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هیئت‌مدیره</a:t>
                      </a:r>
                      <a:r>
                        <a:rPr lang="fa-IR" sz="800" b="0" dirty="0">
                          <a:solidFill>
                            <a:schemeClr val="tx1">
                              <a:lumMod val="65000"/>
                              <a:lumOff val="35000"/>
                            </a:schemeClr>
                          </a:solidFill>
                          <a:latin typeface="Yekan Bakh"/>
                          <a:cs typeface="Yekan Bakh"/>
                        </a:rPr>
                        <a:t>)</a:t>
                      </a:r>
                      <a:endParaRPr sz="800" b="0" dirty="0">
                        <a:solidFill>
                          <a:schemeClr val="tx1">
                            <a:lumMod val="65000"/>
                            <a:lumOff val="35000"/>
                          </a:schemeClr>
                        </a:solidFill>
                        <a:latin typeface="Yekan Bakh"/>
                        <a:cs typeface="Yekan Bakh"/>
                      </a:endParaRPr>
                    </a:p>
                  </a:txBody>
                  <a:tcPr marL="50800" marR="50800" marT="38100" marB="38100" anchor="ctr">
                    <a:solidFill>
                      <a:schemeClr val="bg1">
                        <a:lumMod val="95000"/>
                      </a:schemeClr>
                    </a:solidFill>
                  </a:tcPr>
                </a:tc>
                <a:tc>
                  <a:txBody>
                    <a:bodyPr/>
                    <a:lstStyle/>
                    <a:p>
                      <a:pPr algn="ctr" rtl="1">
                        <a:lnSpc>
                          <a:spcPct val="105000"/>
                        </a:lnSpc>
                      </a:pPr>
                      <a:r>
                        <a:rPr sz="1050" b="1" dirty="0" err="1">
                          <a:solidFill>
                            <a:srgbClr val="00406C"/>
                          </a:solidFill>
                          <a:latin typeface="Yekan Bakh"/>
                          <a:cs typeface="Yekan Bakh"/>
                        </a:rPr>
                        <a:t>خروجی</a:t>
                      </a:r>
                      <a:r>
                        <a:rPr sz="1050" b="1" dirty="0">
                          <a:solidFill>
                            <a:srgbClr val="00406C"/>
                          </a:solidFill>
                          <a:latin typeface="Yekan Bakh"/>
                          <a:cs typeface="Yekan Bakh"/>
                        </a:rPr>
                        <a:t> /</a:t>
                      </a:r>
                      <a:r>
                        <a:rPr lang="fa-IR" sz="1050" b="1" dirty="0">
                          <a:solidFill>
                            <a:srgbClr val="00406C"/>
                          </a:solidFill>
                          <a:latin typeface="Yekan Bakh"/>
                          <a:cs typeface="Yekan Bakh"/>
                        </a:rPr>
                        <a:t> ن</a:t>
                      </a:r>
                      <a:r>
                        <a:rPr sz="1050" b="1" dirty="0" err="1">
                          <a:solidFill>
                            <a:srgbClr val="00406C"/>
                          </a:solidFill>
                          <a:latin typeface="Yekan Bakh"/>
                          <a:cs typeface="Yekan Bakh"/>
                        </a:rPr>
                        <a:t>تیجه</a:t>
                      </a:r>
                      <a:r>
                        <a:rPr sz="1050" b="1" dirty="0">
                          <a:solidFill>
                            <a:srgbClr val="00406C"/>
                          </a:solidFill>
                          <a:latin typeface="Yekan Bakh"/>
                          <a:cs typeface="Yekan Bakh"/>
                        </a:rPr>
                        <a:t> </a:t>
                      </a:r>
                      <a:r>
                        <a:rPr sz="1050" b="1" dirty="0" err="1">
                          <a:solidFill>
                            <a:srgbClr val="00406C"/>
                          </a:solidFill>
                          <a:latin typeface="Yekan Bakh"/>
                          <a:cs typeface="Yekan Bakh"/>
                        </a:rPr>
                        <a:t>تجاری</a:t>
                      </a:r>
                      <a:endParaRPr sz="1050" b="1" dirty="0">
                        <a:solidFill>
                          <a:srgbClr val="00406C"/>
                        </a:solidFill>
                        <a:latin typeface="Yekan Bakh"/>
                        <a:cs typeface="Yekan Bakh"/>
                      </a:endParaRPr>
                    </a:p>
                  </a:txBody>
                  <a:tcPr marL="50800" marR="50800" marT="38100" marB="38100" anchor="ctr">
                    <a:solidFill>
                      <a:schemeClr val="bg1">
                        <a:lumMod val="95000"/>
                      </a:schemeClr>
                    </a:solidFill>
                  </a:tcPr>
                </a:tc>
                <a:extLst>
                  <a:ext uri="{0D108BD9-81ED-4DB2-BD59-A6C34878D82A}">
                    <a16:rowId xmlns:a16="http://schemas.microsoft.com/office/drawing/2014/main" val="10007"/>
                  </a:ext>
                </a:extLst>
              </a:tr>
              <a:tr h="691605">
                <a:tc>
                  <a:txBody>
                    <a:bodyPr/>
                    <a:lstStyle/>
                    <a:p>
                      <a:pPr algn="r" rtl="1">
                        <a:lnSpc>
                          <a:spcPct val="105000"/>
                        </a:lnSpc>
                      </a:pPr>
                      <a:r>
                        <a:rPr sz="800" b="0" dirty="0" err="1">
                          <a:solidFill>
                            <a:schemeClr val="tx1">
                              <a:lumMod val="65000"/>
                              <a:lumOff val="35000"/>
                            </a:schemeClr>
                          </a:solidFill>
                          <a:latin typeface="Yekan Bakh"/>
                          <a:cs typeface="Yekan Bakh"/>
                        </a:rPr>
                        <a:t>مدل</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تعامل</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مستند</a:t>
                      </a:r>
                      <a:r>
                        <a:rPr lang="fa-IR" sz="800" b="0" dirty="0">
                          <a:solidFill>
                            <a:schemeClr val="tx1">
                              <a:lumMod val="65000"/>
                              <a:lumOff val="35000"/>
                            </a:schemeClr>
                          </a:solidFill>
                          <a:latin typeface="Yekan Bakh"/>
                          <a:cs typeface="Yekan Bakh"/>
                        </a:rPr>
                        <a:t>:</a:t>
                      </a:r>
                      <a:r>
                        <a:rPr lang="en-US" sz="800" b="0" dirty="0">
                          <a:solidFill>
                            <a:schemeClr val="tx1">
                              <a:lumMod val="65000"/>
                              <a:lumOff val="35000"/>
                            </a:schemeClr>
                          </a:solidFill>
                          <a:latin typeface="Yekan Bakh"/>
                          <a:cs typeface="Yekan Bakh"/>
                        </a:rPr>
                        <a:t> » </a:t>
                      </a:r>
                      <a:r>
                        <a:rPr sz="800" b="0" dirty="0">
                          <a:solidFill>
                            <a:schemeClr val="tx1">
                              <a:lumMod val="65000"/>
                              <a:lumOff val="35000"/>
                            </a:schemeClr>
                          </a:solidFill>
                          <a:latin typeface="Yekan Bakh"/>
                          <a:cs typeface="Yekan Bakh"/>
                        </a:rPr>
                        <a:t>۱</a:t>
                      </a:r>
                      <a:r>
                        <a:rPr lang="fa-IR" sz="800" b="0" dirty="0">
                          <a:solidFill>
                            <a:schemeClr val="tx1">
                              <a:lumMod val="65000"/>
                              <a:lumOff val="35000"/>
                            </a:schemeClr>
                          </a:solidFill>
                          <a:latin typeface="Yekan Bakh"/>
                          <a:cs typeface="Yekan Bakh"/>
                        </a:rPr>
                        <a:t>.</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اعتبارسنجی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با</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کارمزد</a:t>
                      </a:r>
                      <a:r>
                        <a:rPr sz="800" b="0" dirty="0">
                          <a:solidFill>
                            <a:schemeClr val="tx1">
                              <a:lumMod val="65000"/>
                              <a:lumOff val="35000"/>
                            </a:schemeClr>
                          </a:solidFill>
                          <a:latin typeface="Yekan Bakh"/>
                          <a:cs typeface="Yekan Bakh"/>
                        </a:rPr>
                        <a:t> ← ۲</a:t>
                      </a:r>
                      <a:r>
                        <a:rPr lang="fa-IR" sz="800" b="0" dirty="0">
                          <a:solidFill>
                            <a:schemeClr val="tx1">
                              <a:lumMod val="65000"/>
                              <a:lumOff val="35000"/>
                            </a:schemeClr>
                          </a:solidFill>
                          <a:latin typeface="Yekan Bakh"/>
                          <a:cs typeface="Yekan Bakh"/>
                        </a:rPr>
                        <a:t>.</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ساخت</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با</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کارمزد+سهام</a:t>
                      </a:r>
                      <a:r>
                        <a:rPr lang="fa-IR" sz="800" b="0" dirty="0">
                          <a:solidFill>
                            <a:srgbClr val="222222"/>
                          </a:solidFill>
                          <a:latin typeface="Yekan Bakh"/>
                          <a:cs typeface="Yekan Bakh"/>
                        </a:rPr>
                        <a:t>»</a:t>
                      </a:r>
                      <a:endParaRPr sz="800" b="0" dirty="0">
                        <a:solidFill>
                          <a:schemeClr val="tx1">
                            <a:lumMod val="65000"/>
                            <a:lumOff val="35000"/>
                          </a:schemeClr>
                        </a:solidFill>
                        <a:latin typeface="Yekan Bakh"/>
                        <a:cs typeface="Yekan Bakh"/>
                      </a:endParaRPr>
                    </a:p>
                  </a:txBody>
                  <a:tcPr marL="50800" marR="50800" marT="38100" marB="38100" anchor="ctr">
                    <a:solidFill>
                      <a:schemeClr val="bg1"/>
                    </a:solidFill>
                  </a:tcPr>
                </a:tc>
                <a:tc>
                  <a:txBody>
                    <a:bodyPr/>
                    <a:lstStyle/>
                    <a:p>
                      <a:pPr algn="r" rtl="1">
                        <a:lnSpc>
                          <a:spcPct val="105000"/>
                        </a:lnSpc>
                      </a:pPr>
                      <a:r>
                        <a:rPr sz="800" b="0" dirty="0" err="1">
                          <a:solidFill>
                            <a:schemeClr val="tx1">
                              <a:lumMod val="65000"/>
                              <a:lumOff val="35000"/>
                            </a:schemeClr>
                          </a:solidFill>
                          <a:latin typeface="Yekan Bakh"/>
                          <a:cs typeface="Yekan Bakh"/>
                        </a:rPr>
                        <a:t>پروفایل</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مستند</a:t>
                      </a:r>
                      <a:r>
                        <a:rPr lang="fa-IR" sz="800" b="0" dirty="0">
                          <a:solidFill>
                            <a:schemeClr val="tx1">
                              <a:lumMod val="65000"/>
                              <a:lumOff val="35000"/>
                            </a:schemeClr>
                          </a:solidFill>
                          <a:latin typeface="Yekan Bakh"/>
                          <a:cs typeface="Yekan Bakh"/>
                        </a:rPr>
                        <a:t>:</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توان</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اثبات‌شده</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در</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ساخت</a:t>
                      </a:r>
                      <a:r>
                        <a:rPr sz="800" b="0" dirty="0">
                          <a:solidFill>
                            <a:schemeClr val="tx1">
                              <a:lumMod val="65000"/>
                              <a:lumOff val="35000"/>
                            </a:schemeClr>
                          </a:solidFill>
                          <a:latin typeface="Yekan Bakh"/>
                          <a:cs typeface="Yekan Bakh"/>
                        </a:rPr>
                        <a:t> و </a:t>
                      </a:r>
                      <a:r>
                        <a:rPr sz="800" b="0" dirty="0" err="1">
                          <a:solidFill>
                            <a:schemeClr val="tx1">
                              <a:lumMod val="65000"/>
                              <a:lumOff val="35000"/>
                            </a:schemeClr>
                          </a:solidFill>
                          <a:latin typeface="Yekan Bakh"/>
                          <a:cs typeface="Yekan Bakh"/>
                        </a:rPr>
                        <a:t>اداره</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کسب‌وکار</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اولین</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معیار</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ارزش</a:t>
                      </a:r>
                      <a:endParaRPr sz="800" b="0" dirty="0">
                        <a:solidFill>
                          <a:schemeClr val="tx1">
                            <a:lumMod val="65000"/>
                            <a:lumOff val="35000"/>
                          </a:schemeClr>
                        </a:solidFill>
                        <a:latin typeface="Yekan Bakh"/>
                        <a:cs typeface="Yekan Bakh"/>
                      </a:endParaRPr>
                    </a:p>
                  </a:txBody>
                  <a:tcPr marL="50800" marR="50800" marT="38100" marB="38100" anchor="ctr">
                    <a:solidFill>
                      <a:schemeClr val="bg1"/>
                    </a:solidFill>
                  </a:tcPr>
                </a:tc>
                <a:tc>
                  <a:txBody>
                    <a:bodyPr/>
                    <a:lstStyle/>
                    <a:p>
                      <a:pPr algn="r" rtl="1">
                        <a:lnSpc>
                          <a:spcPct val="105000"/>
                        </a:lnSpc>
                      </a:pPr>
                      <a:r>
                        <a:rPr sz="800" b="0" dirty="0" err="1">
                          <a:solidFill>
                            <a:schemeClr val="tx1">
                              <a:lumMod val="65000"/>
                              <a:lumOff val="35000"/>
                            </a:schemeClr>
                          </a:solidFill>
                          <a:latin typeface="Yekan Bakh"/>
                          <a:cs typeface="Yekan Bakh"/>
                        </a:rPr>
                        <a:t>پروفایل</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مستند</a:t>
                      </a:r>
                      <a:r>
                        <a:rPr lang="fa-IR" sz="800" b="0" dirty="0">
                          <a:solidFill>
                            <a:schemeClr val="tx1">
                              <a:lumMod val="65000"/>
                              <a:lumOff val="35000"/>
                            </a:schemeClr>
                          </a:solidFill>
                          <a:latin typeface="Yekan Bakh"/>
                          <a:cs typeface="Yekan Bakh"/>
                        </a:rPr>
                        <a:t>:</a:t>
                      </a:r>
                      <a:r>
                        <a:rPr lang="en-US" sz="800" b="0" dirty="0">
                          <a:solidFill>
                            <a:schemeClr val="tx1">
                              <a:lumMod val="65000"/>
                              <a:lumOff val="35000"/>
                            </a:schemeClr>
                          </a:solidFill>
                          <a:latin typeface="Yekan Bakh"/>
                          <a:cs typeface="Yekan Bakh"/>
                        </a:rPr>
                        <a:t> » </a:t>
                      </a:r>
                      <a:r>
                        <a:rPr sz="800" b="0" dirty="0" err="1">
                          <a:solidFill>
                            <a:schemeClr val="tx1">
                              <a:lumMod val="65000"/>
                              <a:lumOff val="35000"/>
                            </a:schemeClr>
                          </a:solidFill>
                          <a:latin typeface="Yekan Bakh"/>
                          <a:cs typeface="Yekan Bakh"/>
                        </a:rPr>
                        <a:t>فرآیندی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طولانی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مرحله‌ای</a:t>
                      </a:r>
                      <a:r>
                        <a:rPr sz="800" b="0" dirty="0">
                          <a:solidFill>
                            <a:schemeClr val="tx1">
                              <a:lumMod val="65000"/>
                              <a:lumOff val="35000"/>
                            </a:schemeClr>
                          </a:solidFill>
                          <a:latin typeface="Yekan Bakh"/>
                          <a:cs typeface="Yekan Bakh"/>
                        </a:rPr>
                        <a:t> و </a:t>
                      </a:r>
                      <a:r>
                        <a:rPr sz="800" b="0" dirty="0" err="1">
                          <a:solidFill>
                            <a:schemeClr val="tx1">
                              <a:lumMod val="65000"/>
                              <a:lumOff val="35000"/>
                            </a:schemeClr>
                          </a:solidFill>
                          <a:latin typeface="Yekan Bakh"/>
                          <a:cs typeface="Yekan Bakh"/>
                        </a:rPr>
                        <a:t>در</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سطح</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هیئت‌مدیره</a:t>
                      </a:r>
                      <a:r>
                        <a:rPr lang="fa-IR" sz="800" b="0" dirty="0">
                          <a:solidFill>
                            <a:srgbClr val="222222"/>
                          </a:solidFill>
                          <a:latin typeface="Yekan Bakh"/>
                          <a:cs typeface="Yekan Bakh"/>
                        </a:rPr>
                        <a:t>»</a:t>
                      </a:r>
                      <a:endParaRPr sz="800" b="0" dirty="0">
                        <a:solidFill>
                          <a:schemeClr val="tx1">
                            <a:lumMod val="65000"/>
                            <a:lumOff val="35000"/>
                          </a:schemeClr>
                        </a:solidFill>
                        <a:latin typeface="Yekan Bakh"/>
                        <a:cs typeface="Yekan Bakh"/>
                      </a:endParaRPr>
                    </a:p>
                  </a:txBody>
                  <a:tcPr marL="50800" marR="50800" marT="38100" marB="38100" anchor="ctr">
                    <a:solidFill>
                      <a:schemeClr val="bg1"/>
                    </a:solidFill>
                  </a:tcPr>
                </a:tc>
                <a:tc>
                  <a:txBody>
                    <a:bodyPr/>
                    <a:lstStyle/>
                    <a:p>
                      <a:pPr algn="ctr" rtl="1">
                        <a:lnSpc>
                          <a:spcPct val="105000"/>
                        </a:lnSpc>
                      </a:pPr>
                      <a:r>
                        <a:rPr lang="fa-IR" sz="1050" b="1" dirty="0">
                          <a:solidFill>
                            <a:srgbClr val="00406C"/>
                          </a:solidFill>
                          <a:latin typeface="Yekan Bakh"/>
                          <a:cs typeface="Yekan Bakh"/>
                        </a:rPr>
                        <a:t>شواهد پشتیبان</a:t>
                      </a:r>
                    </a:p>
                  </a:txBody>
                  <a:tcPr marL="50800" marR="50800" marT="38100" marB="38100" anchor="ctr">
                    <a:solidFill>
                      <a:schemeClr val="bg1"/>
                    </a:solidFill>
                  </a:tcPr>
                </a:tc>
                <a:extLst>
                  <a:ext uri="{0D108BD9-81ED-4DB2-BD59-A6C34878D82A}">
                    <a16:rowId xmlns:a16="http://schemas.microsoft.com/office/drawing/2014/main" val="10008"/>
                  </a:ext>
                </a:extLst>
              </a:tr>
            </a:tbl>
          </a:graphicData>
        </a:graphic>
      </p:graphicFrame>
      <p:sp>
        <p:nvSpPr>
          <p:cNvPr id="8" name="Rectangle 7">
            <a:extLst>
              <a:ext uri="{FF2B5EF4-FFF2-40B4-BE49-F238E27FC236}">
                <a16:creationId xmlns:a16="http://schemas.microsoft.com/office/drawing/2014/main" id="{7EF27256-6269-E8CB-1247-320F91904724}"/>
              </a:ext>
            </a:extLst>
          </p:cNvPr>
          <p:cNvSpPr/>
          <p:nvPr/>
        </p:nvSpPr>
        <p:spPr>
          <a:xfrm>
            <a:off x="457199" y="1918252"/>
            <a:ext cx="10786374" cy="3770270"/>
          </a:xfrm>
          <a:prstGeom prst="rect">
            <a:avLst/>
          </a:prstGeom>
          <a:no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0" name="Straight Connector 9">
            <a:extLst>
              <a:ext uri="{FF2B5EF4-FFF2-40B4-BE49-F238E27FC236}">
                <a16:creationId xmlns:a16="http://schemas.microsoft.com/office/drawing/2014/main" id="{8C608907-6A7B-6139-9F94-8B59D3E8A8E8}"/>
              </a:ext>
            </a:extLst>
          </p:cNvPr>
          <p:cNvCxnSpPr/>
          <p:nvPr/>
        </p:nvCxnSpPr>
        <p:spPr>
          <a:xfrm>
            <a:off x="457199" y="1759226"/>
            <a:ext cx="10786374" cy="0"/>
          </a:xfrm>
          <a:prstGeom prst="line">
            <a:avLst/>
          </a:prstGeom>
          <a:ln w="6350">
            <a:prstDash val="dash"/>
          </a:ln>
        </p:spPr>
        <p:style>
          <a:lnRef idx="1">
            <a:schemeClr val="accent2"/>
          </a:lnRef>
          <a:fillRef idx="0">
            <a:schemeClr val="accent2"/>
          </a:fillRef>
          <a:effectRef idx="0">
            <a:schemeClr val="accent2"/>
          </a:effectRef>
          <a:fontRef idx="minor">
            <a:schemeClr val="tx1"/>
          </a:fontRef>
        </p:style>
      </p:cxnSp>
      <p:sp>
        <p:nvSpPr>
          <p:cNvPr id="5" name="Rectangle: Rounded Corners 4">
            <a:extLst>
              <a:ext uri="{FF2B5EF4-FFF2-40B4-BE49-F238E27FC236}">
                <a16:creationId xmlns:a16="http://schemas.microsoft.com/office/drawing/2014/main" id="{4FD0FC0E-BF6E-5948-C124-2C0E1C76A143}"/>
              </a:ext>
            </a:extLst>
          </p:cNvPr>
          <p:cNvSpPr/>
          <p:nvPr/>
        </p:nvSpPr>
        <p:spPr>
          <a:xfrm>
            <a:off x="10355343" y="1293039"/>
            <a:ext cx="888229" cy="396613"/>
          </a:xfrm>
          <a:prstGeom prst="roundRect">
            <a:avLst/>
          </a:prstGeom>
          <a:solidFill>
            <a:srgbClr val="F0BE0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fa-IR" sz="1100" b="1" dirty="0">
                <a:solidFill>
                  <a:schemeClr val="bg1"/>
                </a:solidFill>
                <a:latin typeface="Yekan Bakh" pitchFamily="2" charset="-78"/>
                <a:ea typeface="Yekan Bakh" pitchFamily="2" charset="-78"/>
                <a:cs typeface="Yekan Bakh" pitchFamily="2" charset="-78"/>
              </a:rPr>
              <a:t>نیاز محوری:</a:t>
            </a:r>
            <a:endParaRPr lang="en-GB" sz="1100" b="1" dirty="0">
              <a:solidFill>
                <a:schemeClr val="bg1"/>
              </a:solidFill>
              <a:latin typeface="Yekan Bakh" pitchFamily="2" charset="-78"/>
              <a:ea typeface="Yekan Bakh" pitchFamily="2" charset="-78"/>
              <a:cs typeface="Yekan Bakh" pitchFamily="2" charset="-78"/>
            </a:endParaRPr>
          </a:p>
        </p:txBody>
      </p:sp>
      <p:sp>
        <p:nvSpPr>
          <p:cNvPr id="11" name="Rectangle: Rounded Corners 10">
            <a:extLst>
              <a:ext uri="{FF2B5EF4-FFF2-40B4-BE49-F238E27FC236}">
                <a16:creationId xmlns:a16="http://schemas.microsoft.com/office/drawing/2014/main" id="{72E24CB4-4166-8A18-6E33-093527ABF04C}"/>
              </a:ext>
            </a:extLst>
          </p:cNvPr>
          <p:cNvSpPr/>
          <p:nvPr/>
        </p:nvSpPr>
        <p:spPr>
          <a:xfrm>
            <a:off x="5885669" y="1288069"/>
            <a:ext cx="4442795" cy="396613"/>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fa-IR" sz="1000" dirty="0">
                <a:solidFill>
                  <a:schemeClr val="tx1">
                    <a:lumMod val="65000"/>
                    <a:lumOff val="35000"/>
                  </a:schemeClr>
                </a:solidFill>
                <a:latin typeface="Yekan Bakh" pitchFamily="2" charset="-78"/>
                <a:ea typeface="Yekan Bakh" pitchFamily="2" charset="-78"/>
                <a:cs typeface="Yekan Bakh" pitchFamily="2" charset="-78"/>
              </a:rPr>
              <a:t>تبدیل دارایی بلااستفاده به کسب‌وکار از طریق مشارکت</a:t>
            </a:r>
            <a:endParaRPr lang="en-GB" sz="1000" dirty="0">
              <a:solidFill>
                <a:schemeClr val="tx1">
                  <a:lumMod val="65000"/>
                  <a:lumOff val="35000"/>
                </a:schemeClr>
              </a:solidFill>
              <a:latin typeface="Yekan Bakh" pitchFamily="2" charset="-78"/>
              <a:ea typeface="Yekan Bakh" pitchFamily="2" charset="-78"/>
              <a:cs typeface="Yekan Bakh" pitchFamily="2" charset="-78"/>
            </a:endParaRPr>
          </a:p>
        </p:txBody>
      </p:sp>
      <p:sp>
        <p:nvSpPr>
          <p:cNvPr id="20" name="Rectangle: Rounded Corners 19">
            <a:extLst>
              <a:ext uri="{FF2B5EF4-FFF2-40B4-BE49-F238E27FC236}">
                <a16:creationId xmlns:a16="http://schemas.microsoft.com/office/drawing/2014/main" id="{0376B694-48D9-3143-A5B1-25F67179C0F3}"/>
              </a:ext>
            </a:extLst>
          </p:cNvPr>
          <p:cNvSpPr/>
          <p:nvPr/>
        </p:nvSpPr>
        <p:spPr>
          <a:xfrm>
            <a:off x="457199" y="1288069"/>
            <a:ext cx="4156520" cy="396613"/>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fa-IR" sz="1000" dirty="0">
                <a:solidFill>
                  <a:schemeClr val="tx1">
                    <a:lumMod val="65000"/>
                    <a:lumOff val="35000"/>
                  </a:schemeClr>
                </a:solidFill>
                <a:latin typeface="Yekan Bakh" pitchFamily="2" charset="-78"/>
                <a:ea typeface="Yekan Bakh" pitchFamily="2" charset="-78"/>
                <a:cs typeface="Yekan Bakh" pitchFamily="2" charset="-78"/>
              </a:rPr>
              <a:t>تصمیم هیئت‌مدیره‌ای و مرحله‌ای</a:t>
            </a:r>
            <a:endParaRPr lang="en-GB" sz="1000" dirty="0">
              <a:solidFill>
                <a:schemeClr val="tx1">
                  <a:lumMod val="65000"/>
                  <a:lumOff val="35000"/>
                </a:schemeClr>
              </a:solidFill>
              <a:latin typeface="Yekan Bakh" pitchFamily="2" charset="-78"/>
              <a:ea typeface="Yekan Bakh" pitchFamily="2" charset="-78"/>
              <a:cs typeface="Yekan Bakh" pitchFamily="2" charset="-78"/>
            </a:endParaRPr>
          </a:p>
        </p:txBody>
      </p:sp>
      <p:sp>
        <p:nvSpPr>
          <p:cNvPr id="23" name="Rectangle: Rounded Corners 22">
            <a:extLst>
              <a:ext uri="{FF2B5EF4-FFF2-40B4-BE49-F238E27FC236}">
                <a16:creationId xmlns:a16="http://schemas.microsoft.com/office/drawing/2014/main" id="{76DEF2EA-6E67-5A47-C901-F6856693BAAE}"/>
              </a:ext>
            </a:extLst>
          </p:cNvPr>
          <p:cNvSpPr/>
          <p:nvPr/>
        </p:nvSpPr>
        <p:spPr>
          <a:xfrm>
            <a:off x="4649002" y="1293039"/>
            <a:ext cx="1201384" cy="396613"/>
          </a:xfrm>
          <a:prstGeom prst="roundRect">
            <a:avLst/>
          </a:prstGeom>
          <a:solidFill>
            <a:srgbClr val="F0BE0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fa-IR" sz="1100" b="1" dirty="0">
                <a:solidFill>
                  <a:schemeClr val="bg1"/>
                </a:solidFill>
                <a:latin typeface="Yekan Bakh" pitchFamily="2" charset="-78"/>
                <a:ea typeface="Yekan Bakh" pitchFamily="2" charset="-78"/>
                <a:cs typeface="Yekan Bakh" pitchFamily="2" charset="-78"/>
              </a:rPr>
              <a:t>تصمیم‌گیرنده:</a:t>
            </a:r>
          </a:p>
        </p:txBody>
      </p:sp>
    </p:spTree>
    <p:extLst>
      <p:ext uri="{BB962C8B-B14F-4D97-AF65-F5344CB8AC3E}">
        <p14:creationId xmlns:p14="http://schemas.microsoft.com/office/powerpoint/2010/main" val="1598604646"/>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1FEB26-30BA-84A9-8AC1-2F7449AABE2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CE48121-0DD0-3A63-D0F3-D4AC0380FE63}"/>
              </a:ext>
            </a:extLst>
          </p:cNvPr>
          <p:cNvSpPr>
            <a:spLocks noGrp="1"/>
          </p:cNvSpPr>
          <p:nvPr>
            <p:ph type="body" sz="quarter" idx="10"/>
          </p:nvPr>
        </p:nvSpPr>
        <p:spPr/>
        <p:txBody>
          <a:bodyPr/>
          <a:lstStyle/>
          <a:p>
            <a:r>
              <a:rPr lang="fa-IR" dirty="0"/>
              <a:t>تحلیل عمیق کانال — پرسونا 6</a:t>
            </a:r>
          </a:p>
        </p:txBody>
      </p:sp>
      <p:sp>
        <p:nvSpPr>
          <p:cNvPr id="3" name="Text Placeholder 2">
            <a:extLst>
              <a:ext uri="{FF2B5EF4-FFF2-40B4-BE49-F238E27FC236}">
                <a16:creationId xmlns:a16="http://schemas.microsoft.com/office/drawing/2014/main" id="{5F6AB38A-E127-07F8-8DC9-8DB695F2D7A2}"/>
              </a:ext>
            </a:extLst>
          </p:cNvPr>
          <p:cNvSpPr>
            <a:spLocks noGrp="1"/>
          </p:cNvSpPr>
          <p:nvPr>
            <p:ph type="body" sz="quarter" idx="12"/>
          </p:nvPr>
        </p:nvSpPr>
        <p:spPr/>
        <p:txBody>
          <a:bodyPr/>
          <a:lstStyle/>
          <a:p>
            <a:r>
              <a:rPr lang="fa-IR" dirty="0"/>
              <a:t>۶. سرمایه‌گذار</a:t>
            </a:r>
          </a:p>
        </p:txBody>
      </p:sp>
      <p:graphicFrame>
        <p:nvGraphicFramePr>
          <p:cNvPr id="7" name="Table 6">
            <a:extLst>
              <a:ext uri="{FF2B5EF4-FFF2-40B4-BE49-F238E27FC236}">
                <a16:creationId xmlns:a16="http://schemas.microsoft.com/office/drawing/2014/main" id="{BDF39EF0-17D7-7AD4-5835-E10F5666F3F1}"/>
              </a:ext>
            </a:extLst>
          </p:cNvPr>
          <p:cNvGraphicFramePr>
            <a:graphicFrameLocks noGrp="1"/>
          </p:cNvGraphicFramePr>
          <p:nvPr>
            <p:extLst>
              <p:ext uri="{D42A27DB-BD31-4B8C-83A1-F6EECF244321}">
                <p14:modId xmlns:p14="http://schemas.microsoft.com/office/powerpoint/2010/main" val="1141268352"/>
              </p:ext>
            </p:extLst>
          </p:nvPr>
        </p:nvGraphicFramePr>
        <p:xfrm>
          <a:off x="457199" y="1918254"/>
          <a:ext cx="10788648" cy="3776964"/>
        </p:xfrm>
        <a:graphic>
          <a:graphicData uri="http://schemas.openxmlformats.org/drawingml/2006/table">
            <a:tbl>
              <a:tblPr firstRow="1" bandRow="1">
                <a:tableStyleId>{5C22544A-7EE6-4342-B048-85BDC9FD1C3A}</a:tableStyleId>
              </a:tblPr>
              <a:tblGrid>
                <a:gridCol w="2697162">
                  <a:extLst>
                    <a:ext uri="{9D8B030D-6E8A-4147-A177-3AD203B41FA5}">
                      <a16:colId xmlns:a16="http://schemas.microsoft.com/office/drawing/2014/main" val="460191556"/>
                    </a:ext>
                  </a:extLst>
                </a:gridCol>
                <a:gridCol w="2697162">
                  <a:extLst>
                    <a:ext uri="{9D8B030D-6E8A-4147-A177-3AD203B41FA5}">
                      <a16:colId xmlns:a16="http://schemas.microsoft.com/office/drawing/2014/main" val="1589458168"/>
                    </a:ext>
                  </a:extLst>
                </a:gridCol>
                <a:gridCol w="2697162">
                  <a:extLst>
                    <a:ext uri="{9D8B030D-6E8A-4147-A177-3AD203B41FA5}">
                      <a16:colId xmlns:a16="http://schemas.microsoft.com/office/drawing/2014/main" val="2044792427"/>
                    </a:ext>
                  </a:extLst>
                </a:gridCol>
                <a:gridCol w="2697162">
                  <a:extLst>
                    <a:ext uri="{9D8B030D-6E8A-4147-A177-3AD203B41FA5}">
                      <a16:colId xmlns:a16="http://schemas.microsoft.com/office/drawing/2014/main" val="20000"/>
                    </a:ext>
                  </a:extLst>
                </a:gridCol>
              </a:tblGrid>
              <a:tr h="334556">
                <a:tc>
                  <a:txBody>
                    <a:bodyPr/>
                    <a:lstStyle/>
                    <a:p>
                      <a:pPr algn="ctr" rtl="1">
                        <a:lnSpc>
                          <a:spcPct val="105000"/>
                        </a:lnSpc>
                      </a:pPr>
                      <a:r>
                        <a:rPr sz="1100" b="1" dirty="0" err="1">
                          <a:solidFill>
                            <a:srgbClr val="FFFFFF"/>
                          </a:solidFill>
                          <a:latin typeface="Yekan Bakh" pitchFamily="2" charset="-78"/>
                          <a:ea typeface="Yekan Bakh" pitchFamily="2" charset="-78"/>
                          <a:cs typeface="Yekan Bakh" pitchFamily="2" charset="-78"/>
                        </a:rPr>
                        <a:t>خرید</a:t>
                      </a:r>
                      <a:endParaRPr sz="1100" b="1" dirty="0">
                        <a:solidFill>
                          <a:srgbClr val="FFFFFF"/>
                        </a:solidFill>
                        <a:latin typeface="Yekan Bakh" pitchFamily="2" charset="-78"/>
                        <a:ea typeface="Yekan Bakh" pitchFamily="2" charset="-78"/>
                        <a:cs typeface="Yekan Bakh" pitchFamily="2" charset="-78"/>
                      </a:endParaRPr>
                    </a:p>
                  </a:txBody>
                  <a:tcPr marL="50800" marR="50800" marT="38100" marB="38100" anchor="ctr">
                    <a:solidFill>
                      <a:srgbClr val="00406C">
                        <a:alpha val="30000"/>
                      </a:srgbClr>
                    </a:solidFill>
                  </a:tcPr>
                </a:tc>
                <a:tc>
                  <a:txBody>
                    <a:bodyPr/>
                    <a:lstStyle/>
                    <a:p>
                      <a:pPr algn="ctr" rtl="1">
                        <a:lnSpc>
                          <a:spcPct val="105000"/>
                        </a:lnSpc>
                      </a:pPr>
                      <a:r>
                        <a:rPr sz="1100" b="1" dirty="0" err="1">
                          <a:solidFill>
                            <a:srgbClr val="FFFFFF"/>
                          </a:solidFill>
                          <a:latin typeface="Yekan Bakh" pitchFamily="2" charset="-78"/>
                          <a:ea typeface="Yekan Bakh" pitchFamily="2" charset="-78"/>
                          <a:cs typeface="Yekan Bakh" pitchFamily="2" charset="-78"/>
                        </a:rPr>
                        <a:t>ارزیابی</a:t>
                      </a:r>
                      <a:endParaRPr sz="1100" b="1" dirty="0">
                        <a:solidFill>
                          <a:srgbClr val="FFFFFF"/>
                        </a:solidFill>
                        <a:latin typeface="Yekan Bakh" pitchFamily="2" charset="-78"/>
                        <a:ea typeface="Yekan Bakh" pitchFamily="2" charset="-78"/>
                        <a:cs typeface="Yekan Bakh" pitchFamily="2" charset="-78"/>
                      </a:endParaRPr>
                    </a:p>
                  </a:txBody>
                  <a:tcPr marL="50800" marR="50800" marT="38100" marB="38100" anchor="ctr">
                    <a:solidFill>
                      <a:srgbClr val="00406C">
                        <a:alpha val="70000"/>
                      </a:srgbClr>
                    </a:solidFill>
                  </a:tcPr>
                </a:tc>
                <a:tc>
                  <a:txBody>
                    <a:bodyPr/>
                    <a:lstStyle/>
                    <a:p>
                      <a:pPr algn="ctr" rtl="1">
                        <a:lnSpc>
                          <a:spcPct val="105000"/>
                        </a:lnSpc>
                      </a:pPr>
                      <a:r>
                        <a:rPr sz="1100" b="1" dirty="0" err="1">
                          <a:solidFill>
                            <a:srgbClr val="FFFFFF"/>
                          </a:solidFill>
                          <a:latin typeface="Yekan Bakh" pitchFamily="2" charset="-78"/>
                          <a:ea typeface="Yekan Bakh" pitchFamily="2" charset="-78"/>
                          <a:cs typeface="Yekan Bakh" pitchFamily="2" charset="-78"/>
                        </a:rPr>
                        <a:t>آگاهی‌سازی</a:t>
                      </a:r>
                      <a:endParaRPr sz="1100" b="1" dirty="0">
                        <a:solidFill>
                          <a:srgbClr val="FFFFFF"/>
                        </a:solidFill>
                        <a:latin typeface="Yekan Bakh" pitchFamily="2" charset="-78"/>
                        <a:ea typeface="Yekan Bakh" pitchFamily="2" charset="-78"/>
                        <a:cs typeface="Yekan Bakh" pitchFamily="2" charset="-78"/>
                      </a:endParaRPr>
                    </a:p>
                  </a:txBody>
                  <a:tcPr marL="50800" marR="50800" marT="38100" marB="38100" anchor="ctr">
                    <a:solidFill>
                      <a:srgbClr val="00406C"/>
                    </a:solidFill>
                  </a:tcPr>
                </a:tc>
                <a:tc>
                  <a:txBody>
                    <a:bodyPr/>
                    <a:lstStyle/>
                    <a:p>
                      <a:pPr algn="ctr" rtl="1">
                        <a:lnSpc>
                          <a:spcPct val="105000"/>
                        </a:lnSpc>
                      </a:pPr>
                      <a:endParaRPr sz="1100" dirty="0">
                        <a:latin typeface="Yekan Bakh" pitchFamily="2" charset="-78"/>
                        <a:ea typeface="Yekan Bakh" pitchFamily="2" charset="-78"/>
                        <a:cs typeface="Yekan Bakh" pitchFamily="2" charset="-78"/>
                      </a:endParaRPr>
                    </a:p>
                  </a:txBody>
                  <a:tcPr marL="50800" marR="50800" marT="38100" marB="38100" anchor="ctr">
                    <a:solidFill>
                      <a:schemeClr val="bg1"/>
                    </a:solidFill>
                  </a:tcPr>
                </a:tc>
                <a:extLst>
                  <a:ext uri="{0D108BD9-81ED-4DB2-BD59-A6C34878D82A}">
                    <a16:rowId xmlns:a16="http://schemas.microsoft.com/office/drawing/2014/main" val="10000"/>
                  </a:ext>
                </a:extLst>
              </a:tr>
              <a:tr h="691605">
                <a:tc>
                  <a:txBody>
                    <a:bodyPr/>
                    <a:lstStyle/>
                    <a:p>
                      <a:pPr algn="r" rtl="1">
                        <a:lnSpc>
                          <a:spcPct val="105000"/>
                        </a:lnSpc>
                      </a:pPr>
                      <a:r>
                        <a:rPr sz="800" b="1" dirty="0" err="1">
                          <a:solidFill>
                            <a:schemeClr val="tx1">
                              <a:lumMod val="65000"/>
                              <a:lumOff val="35000"/>
                            </a:schemeClr>
                          </a:solidFill>
                          <a:latin typeface="Yekan Bakh"/>
                          <a:cs typeface="Yekan Bakh"/>
                        </a:rPr>
                        <a:t>سرمایه‌گذاری</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مشترک</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موردی</a:t>
                      </a:r>
                      <a:r>
                        <a:rPr sz="800" b="1" dirty="0">
                          <a:solidFill>
                            <a:schemeClr val="tx1">
                              <a:lumMod val="65000"/>
                              <a:lumOff val="35000"/>
                            </a:schemeClr>
                          </a:solidFill>
                          <a:latin typeface="Yekan Bakh"/>
                          <a:cs typeface="Yekan Bakh"/>
                        </a:rPr>
                        <a:t> (Deal-by-deal)</a:t>
                      </a:r>
                      <a:r>
                        <a:rPr lang="fa-IR" sz="800" b="1" dirty="0">
                          <a:solidFill>
                            <a:schemeClr val="tx1">
                              <a:lumMod val="65000"/>
                              <a:lumOff val="35000"/>
                            </a:schemeClr>
                          </a:solidFill>
                          <a:latin typeface="Yekan Bakh"/>
                          <a:cs typeface="Yekan Bakh"/>
                        </a:rPr>
                        <a:t> د</a:t>
                      </a:r>
                      <a:r>
                        <a:rPr sz="800" b="1" dirty="0">
                          <a:solidFill>
                            <a:schemeClr val="tx1">
                              <a:lumMod val="65000"/>
                              <a:lumOff val="35000"/>
                            </a:schemeClr>
                          </a:solidFill>
                          <a:latin typeface="Yekan Bakh"/>
                          <a:cs typeface="Yekan Bakh"/>
                        </a:rPr>
                        <a:t>ر </a:t>
                      </a:r>
                      <a:r>
                        <a:rPr sz="800" b="1" dirty="0" err="1">
                          <a:solidFill>
                            <a:schemeClr val="tx1">
                              <a:lumMod val="65000"/>
                              <a:lumOff val="35000"/>
                            </a:schemeClr>
                          </a:solidFill>
                          <a:latin typeface="Yekan Bakh"/>
                          <a:cs typeface="Yekan Bakh"/>
                        </a:rPr>
                        <a:t>ابتدا</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تکامل</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به</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ساختار</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صندوق</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در</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آینده</a:t>
                      </a:r>
                      <a:endParaRPr sz="800" b="1" dirty="0">
                        <a:solidFill>
                          <a:schemeClr val="tx1">
                            <a:lumMod val="65000"/>
                            <a:lumOff val="35000"/>
                          </a:schemeClr>
                        </a:solidFill>
                        <a:latin typeface="Yekan Bakh"/>
                        <a:cs typeface="Yekan Bakh"/>
                      </a:endParaRPr>
                    </a:p>
                  </a:txBody>
                  <a:tcPr marL="50800" marR="50800" marT="38100" marB="38100" anchor="ctr">
                    <a:solidFill>
                      <a:schemeClr val="bg1">
                        <a:lumMod val="95000"/>
                      </a:schemeClr>
                    </a:solidFill>
                  </a:tcPr>
                </a:tc>
                <a:tc>
                  <a:txBody>
                    <a:bodyPr/>
                    <a:lstStyle/>
                    <a:p>
                      <a:pPr algn="r" rtl="1">
                        <a:lnSpc>
                          <a:spcPct val="105000"/>
                        </a:lnSpc>
                      </a:pPr>
                      <a:r>
                        <a:rPr sz="800" b="1" dirty="0" err="1">
                          <a:solidFill>
                            <a:schemeClr val="tx1">
                              <a:lumMod val="65000"/>
                              <a:lumOff val="35000"/>
                            </a:schemeClr>
                          </a:solidFill>
                          <a:latin typeface="Yekan Bakh"/>
                          <a:cs typeface="Yekan Bakh"/>
                        </a:rPr>
                        <a:t>اتاق</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داده</a:t>
                      </a:r>
                      <a:r>
                        <a:rPr sz="800" b="1" dirty="0">
                          <a:solidFill>
                            <a:schemeClr val="tx1">
                              <a:lumMod val="65000"/>
                              <a:lumOff val="35000"/>
                            </a:schemeClr>
                          </a:solidFill>
                          <a:latin typeface="Yekan Bakh"/>
                          <a:cs typeface="Yekan Bakh"/>
                        </a:rPr>
                        <a:t> Due Diligence </a:t>
                      </a:r>
                      <a:endParaRPr lang="fa-IR" sz="800" b="1" dirty="0">
                        <a:solidFill>
                          <a:schemeClr val="tx1">
                            <a:lumMod val="65000"/>
                            <a:lumOff val="35000"/>
                          </a:schemeClr>
                        </a:solidFill>
                        <a:latin typeface="Yekan Bakh"/>
                        <a:cs typeface="Yekan Bakh"/>
                      </a:endParaRPr>
                    </a:p>
                    <a:p>
                      <a:pPr algn="r" rtl="1">
                        <a:lnSpc>
                          <a:spcPct val="105000"/>
                        </a:lnSpc>
                      </a:pPr>
                      <a:r>
                        <a:rPr sz="800" b="1" dirty="0">
                          <a:solidFill>
                            <a:schemeClr val="tx1">
                              <a:lumMod val="65000"/>
                              <a:lumOff val="35000"/>
                            </a:schemeClr>
                          </a:solidFill>
                          <a:latin typeface="Yekan Bakh"/>
                          <a:cs typeface="Yekan Bakh"/>
                        </a:rPr>
                        <a:t>+</a:t>
                      </a:r>
                      <a:r>
                        <a:rPr lang="fa-I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ارائه</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رسمی</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به</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کمیته</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سرمایه‌گذاری</a:t>
                      </a:r>
                      <a:r>
                        <a:rPr sz="800" b="1" dirty="0">
                          <a:solidFill>
                            <a:schemeClr val="tx1">
                              <a:lumMod val="65000"/>
                              <a:lumOff val="35000"/>
                            </a:schemeClr>
                          </a:solidFill>
                          <a:latin typeface="Yekan Bakh"/>
                          <a:cs typeface="Yekan Bakh"/>
                        </a:rPr>
                        <a:t> + </a:t>
                      </a:r>
                      <a:endParaRPr lang="fa-IR" sz="800" b="1" dirty="0">
                        <a:solidFill>
                          <a:schemeClr val="tx1">
                            <a:lumMod val="65000"/>
                            <a:lumOff val="35000"/>
                          </a:schemeClr>
                        </a:solidFill>
                        <a:latin typeface="Yekan Bakh"/>
                        <a:cs typeface="Yekan Bakh"/>
                      </a:endParaRPr>
                    </a:p>
                    <a:p>
                      <a:pPr algn="r" rtl="1">
                        <a:lnSpc>
                          <a:spcPct val="105000"/>
                        </a:lnSpc>
                      </a:pPr>
                      <a:r>
                        <a:rPr sz="800" b="1" dirty="0" err="1">
                          <a:solidFill>
                            <a:schemeClr val="tx1">
                              <a:lumMod val="65000"/>
                              <a:lumOff val="35000"/>
                            </a:schemeClr>
                          </a:solidFill>
                          <a:latin typeface="Yekan Bakh"/>
                          <a:cs typeface="Yekan Bakh"/>
                        </a:rPr>
                        <a:t>تاییدیه</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شریک</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حسابرسی</a:t>
                      </a:r>
                      <a:r>
                        <a:rPr sz="800" b="1" dirty="0">
                          <a:solidFill>
                            <a:schemeClr val="tx1">
                              <a:lumMod val="65000"/>
                              <a:lumOff val="35000"/>
                            </a:schemeClr>
                          </a:solidFill>
                          <a:latin typeface="Yekan Bakh"/>
                          <a:cs typeface="Yekan Bakh"/>
                        </a:rPr>
                        <a:t>/</a:t>
                      </a:r>
                      <a:r>
                        <a:rPr sz="800" b="1" dirty="0" err="1">
                          <a:solidFill>
                            <a:schemeClr val="tx1">
                              <a:lumMod val="65000"/>
                              <a:lumOff val="35000"/>
                            </a:schemeClr>
                          </a:solidFill>
                          <a:latin typeface="Yekan Bakh"/>
                          <a:cs typeface="Yekan Bakh"/>
                        </a:rPr>
                        <a:t>حقوقی</a:t>
                      </a:r>
                      <a:endParaRPr sz="800" b="1" dirty="0">
                        <a:solidFill>
                          <a:schemeClr val="tx1">
                            <a:lumMod val="65000"/>
                            <a:lumOff val="35000"/>
                          </a:schemeClr>
                        </a:solidFill>
                        <a:latin typeface="Yekan Bakh"/>
                        <a:cs typeface="Yekan Bakh"/>
                      </a:endParaRPr>
                    </a:p>
                  </a:txBody>
                  <a:tcPr marL="50800" marR="50800" marT="38100" marB="38100" anchor="ctr">
                    <a:solidFill>
                      <a:schemeClr val="bg1">
                        <a:lumMod val="95000"/>
                      </a:schemeClr>
                    </a:solidFill>
                  </a:tcPr>
                </a:tc>
                <a:tc>
                  <a:txBody>
                    <a:bodyPr/>
                    <a:lstStyle/>
                    <a:p>
                      <a:pPr algn="r" rtl="1">
                        <a:lnSpc>
                          <a:spcPct val="105000"/>
                        </a:lnSpc>
                      </a:pPr>
                      <a:r>
                        <a:rPr sz="800" b="1" dirty="0" err="1">
                          <a:solidFill>
                            <a:schemeClr val="tx1">
                              <a:lumMod val="65000"/>
                              <a:lumOff val="35000"/>
                            </a:schemeClr>
                          </a:solidFill>
                          <a:latin typeface="Yekan Bakh"/>
                          <a:cs typeface="Yekan Bakh"/>
                        </a:rPr>
                        <a:t>شبکه</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سرمایه‌گذاران</a:t>
                      </a:r>
                      <a:r>
                        <a:rPr sz="800" b="1" dirty="0">
                          <a:solidFill>
                            <a:schemeClr val="tx1">
                              <a:lumMod val="65000"/>
                              <a:lumOff val="35000"/>
                            </a:schemeClr>
                          </a:solidFill>
                          <a:latin typeface="Yekan Bakh"/>
                          <a:cs typeface="Yekan Bakh"/>
                        </a:rPr>
                        <a:t>/</a:t>
                      </a:r>
                      <a:r>
                        <a:rPr sz="800" b="1" dirty="0" err="1">
                          <a:solidFill>
                            <a:schemeClr val="tx1">
                              <a:lumMod val="65000"/>
                              <a:lumOff val="35000"/>
                            </a:schemeClr>
                          </a:solidFill>
                          <a:latin typeface="Yekan Bakh"/>
                          <a:cs typeface="Yekan Bakh"/>
                        </a:rPr>
                        <a:t>دفاتر</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خانوادگی</a:t>
                      </a:r>
                      <a:r>
                        <a:rPr sz="800" b="1" dirty="0">
                          <a:solidFill>
                            <a:schemeClr val="tx1">
                              <a:lumMod val="65000"/>
                              <a:lumOff val="35000"/>
                            </a:schemeClr>
                          </a:solidFill>
                          <a:latin typeface="Yekan Bakh"/>
                          <a:cs typeface="Yekan Bakh"/>
                        </a:rPr>
                        <a:t> + </a:t>
                      </a:r>
                      <a:endParaRPr lang="fa-IR" sz="800" b="1" dirty="0">
                        <a:solidFill>
                          <a:schemeClr val="tx1">
                            <a:lumMod val="65000"/>
                            <a:lumOff val="35000"/>
                          </a:schemeClr>
                        </a:solidFill>
                        <a:latin typeface="Yekan Bakh"/>
                        <a:cs typeface="Yekan Bakh"/>
                      </a:endParaRPr>
                    </a:p>
                    <a:p>
                      <a:pPr algn="r" rtl="1">
                        <a:lnSpc>
                          <a:spcPct val="105000"/>
                        </a:lnSpc>
                      </a:pPr>
                      <a:r>
                        <a:rPr sz="800" b="1" dirty="0" err="1">
                          <a:solidFill>
                            <a:schemeClr val="tx1">
                              <a:lumMod val="65000"/>
                              <a:lumOff val="35000"/>
                            </a:schemeClr>
                          </a:solidFill>
                          <a:latin typeface="Yekan Bakh"/>
                          <a:cs typeface="Yekan Bakh"/>
                        </a:rPr>
                        <a:t>دیاسپورای</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ایرانی</a:t>
                      </a:r>
                      <a:r>
                        <a:rPr sz="800" b="1" dirty="0">
                          <a:solidFill>
                            <a:schemeClr val="tx1">
                              <a:lumMod val="65000"/>
                              <a:lumOff val="35000"/>
                            </a:schemeClr>
                          </a:solidFill>
                          <a:latin typeface="Yekan Bakh"/>
                          <a:cs typeface="Yekan Bakh"/>
                        </a:rPr>
                        <a:t> </a:t>
                      </a:r>
                      <a:r>
                        <a:rPr lang="fa-IR" sz="800" b="1" dirty="0">
                          <a:solidFill>
                            <a:schemeClr val="tx1">
                              <a:lumMod val="65000"/>
                              <a:lumOff val="35000"/>
                            </a:schemeClr>
                          </a:solidFill>
                          <a:latin typeface="Yekan Bakh"/>
                          <a:cs typeface="Yekan Bakh"/>
                        </a:rPr>
                        <a:t>(</a:t>
                      </a:r>
                      <a:r>
                        <a:rPr sz="800" b="1" dirty="0" err="1">
                          <a:solidFill>
                            <a:schemeClr val="tx1">
                              <a:lumMod val="65000"/>
                              <a:lumOff val="35000"/>
                            </a:schemeClr>
                          </a:solidFill>
                          <a:latin typeface="Yekan Bakh"/>
                          <a:cs typeface="Yekan Bakh"/>
                        </a:rPr>
                        <a:t>اولویت</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اول</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هزینه</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پایین‌تر</a:t>
                      </a:r>
                      <a:r>
                        <a:rPr lang="fa-IR" sz="800" b="1" dirty="0">
                          <a:solidFill>
                            <a:schemeClr val="tx1">
                              <a:lumMod val="65000"/>
                              <a:lumOff val="35000"/>
                            </a:schemeClr>
                          </a:solidFill>
                          <a:latin typeface="Yekan Bakh"/>
                          <a:cs typeface="Yekan Bakh"/>
                        </a:rPr>
                        <a:t>)</a:t>
                      </a:r>
                      <a:r>
                        <a:rPr sz="800" b="1" dirty="0">
                          <a:solidFill>
                            <a:schemeClr val="tx1">
                              <a:lumMod val="65000"/>
                              <a:lumOff val="35000"/>
                            </a:schemeClr>
                          </a:solidFill>
                          <a:latin typeface="Yekan Bakh"/>
                          <a:cs typeface="Yekan Bakh"/>
                        </a:rPr>
                        <a:t> + </a:t>
                      </a:r>
                      <a:r>
                        <a:rPr sz="800" b="1" dirty="0" err="1">
                          <a:solidFill>
                            <a:schemeClr val="tx1">
                              <a:lumMod val="65000"/>
                              <a:lumOff val="35000"/>
                            </a:schemeClr>
                          </a:solidFill>
                          <a:latin typeface="Yekan Bakh"/>
                          <a:cs typeface="Yekan Bakh"/>
                        </a:rPr>
                        <a:t>هم‌سرمایه‌گذاری</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با</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سرمایه‌گذاران</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معتبر</a:t>
                      </a:r>
                      <a:r>
                        <a:rPr sz="800" b="1" dirty="0">
                          <a:solidFill>
                            <a:schemeClr val="tx1">
                              <a:lumMod val="65000"/>
                              <a:lumOff val="35000"/>
                            </a:schemeClr>
                          </a:solidFill>
                          <a:latin typeface="Yekan Bakh"/>
                          <a:cs typeface="Yekan Bakh"/>
                        </a:rPr>
                        <a:t> </a:t>
                      </a:r>
                      <a:r>
                        <a:rPr sz="800" b="1" dirty="0" err="1">
                          <a:solidFill>
                            <a:schemeClr val="tx1">
                              <a:lumMod val="65000"/>
                              <a:lumOff val="35000"/>
                            </a:schemeClr>
                          </a:solidFill>
                          <a:latin typeface="Yekan Bakh"/>
                          <a:cs typeface="Yekan Bakh"/>
                        </a:rPr>
                        <a:t>دیگر</a:t>
                      </a:r>
                      <a:endParaRPr sz="800" b="1" dirty="0">
                        <a:solidFill>
                          <a:schemeClr val="tx1">
                            <a:lumMod val="65000"/>
                            <a:lumOff val="35000"/>
                          </a:schemeClr>
                        </a:solidFill>
                        <a:latin typeface="Yekan Bakh"/>
                        <a:cs typeface="Yekan Bakh"/>
                      </a:endParaRPr>
                    </a:p>
                  </a:txBody>
                  <a:tcPr marL="50800" marR="50800" marT="38100" marB="38100" anchor="ctr">
                    <a:solidFill>
                      <a:schemeClr val="bg1">
                        <a:lumMod val="95000"/>
                      </a:schemeClr>
                    </a:solidFill>
                  </a:tcPr>
                </a:tc>
                <a:tc>
                  <a:txBody>
                    <a:bodyPr/>
                    <a:lstStyle/>
                    <a:p>
                      <a:pPr algn="ctr" rtl="1">
                        <a:lnSpc>
                          <a:spcPct val="105000"/>
                        </a:lnSpc>
                      </a:pPr>
                      <a:r>
                        <a:rPr sz="1050" b="1" dirty="0" err="1">
                          <a:solidFill>
                            <a:srgbClr val="00406C"/>
                          </a:solidFill>
                          <a:latin typeface="Yekan Bakh"/>
                          <a:cs typeface="Yekan Bakh"/>
                        </a:rPr>
                        <a:t>کانال</a:t>
                      </a:r>
                      <a:r>
                        <a:rPr sz="1050" b="1" dirty="0">
                          <a:solidFill>
                            <a:srgbClr val="00406C"/>
                          </a:solidFill>
                          <a:latin typeface="Yekan Bakh"/>
                          <a:cs typeface="Yekan Bakh"/>
                        </a:rPr>
                        <a:t> (Channel)</a:t>
                      </a:r>
                    </a:p>
                  </a:txBody>
                  <a:tcPr marL="50800" marR="50800" marT="38100" marB="38100" anchor="ctr">
                    <a:solidFill>
                      <a:schemeClr val="bg1">
                        <a:lumMod val="95000"/>
                      </a:schemeClr>
                    </a:solidFill>
                  </a:tcPr>
                </a:tc>
                <a:extLst>
                  <a:ext uri="{0D108BD9-81ED-4DB2-BD59-A6C34878D82A}">
                    <a16:rowId xmlns:a16="http://schemas.microsoft.com/office/drawing/2014/main" val="10001"/>
                  </a:ext>
                </a:extLst>
              </a:tr>
              <a:tr h="325534">
                <a:tc>
                  <a:txBody>
                    <a:bodyPr/>
                    <a:lstStyle/>
                    <a:p>
                      <a:pPr marL="0" marR="0" lvl="0" indent="0" algn="r" defTabSz="457200" rtl="1" eaLnBrk="1" fontAlgn="auto" latinLnBrk="0" hangingPunct="1">
                        <a:lnSpc>
                          <a:spcPct val="105000"/>
                        </a:lnSpc>
                        <a:spcBef>
                          <a:spcPts val="0"/>
                        </a:spcBef>
                        <a:spcAft>
                          <a:spcPts val="0"/>
                        </a:spcAft>
                        <a:buClrTx/>
                        <a:buSzTx/>
                        <a:buFontTx/>
                        <a:buNone/>
                        <a:tabLst/>
                        <a:defRPr/>
                      </a:pPr>
                      <a:r>
                        <a:rPr lang="fa-IR" sz="800" b="0">
                          <a:solidFill>
                            <a:schemeClr val="tx1">
                              <a:lumMod val="65000"/>
                              <a:lumOff val="35000"/>
                            </a:schemeClr>
                          </a:solidFill>
                          <a:latin typeface="Yekan Bakh"/>
                          <a:cs typeface="Yekan Bakh"/>
                        </a:rPr>
                        <a:t>کانال تحت مالکیت + تعامل انسانی </a:t>
                      </a:r>
                    </a:p>
                  </a:txBody>
                  <a:tcPr marL="50800" marR="50800" marT="38100" marB="38100" anchor="ctr">
                    <a:solidFill>
                      <a:schemeClr val="bg1"/>
                    </a:solidFill>
                  </a:tcPr>
                </a:tc>
                <a:tc>
                  <a:txBody>
                    <a:bodyPr/>
                    <a:lstStyle/>
                    <a:p>
                      <a:pPr marL="0" marR="0" lvl="0" indent="0" algn="r" defTabSz="457200" rtl="1" eaLnBrk="1" fontAlgn="auto" latinLnBrk="0" hangingPunct="1">
                        <a:lnSpc>
                          <a:spcPct val="105000"/>
                        </a:lnSpc>
                        <a:spcBef>
                          <a:spcPts val="0"/>
                        </a:spcBef>
                        <a:spcAft>
                          <a:spcPts val="0"/>
                        </a:spcAft>
                        <a:buClrTx/>
                        <a:buSzTx/>
                        <a:buFontTx/>
                        <a:buNone/>
                        <a:tabLst/>
                        <a:defRPr/>
                      </a:pPr>
                      <a:r>
                        <a:rPr lang="fa-IR" sz="800" b="0">
                          <a:solidFill>
                            <a:schemeClr val="tx1">
                              <a:lumMod val="65000"/>
                              <a:lumOff val="35000"/>
                            </a:schemeClr>
                          </a:solidFill>
                          <a:latin typeface="Yekan Bakh"/>
                          <a:cs typeface="Yekan Bakh"/>
                        </a:rPr>
                        <a:t>کانال تحت مالکیت + تعامل انسانی + دیجیتال </a:t>
                      </a:r>
                    </a:p>
                  </a:txBody>
                  <a:tcPr marL="50800" marR="50800" marT="38100" marB="38100" anchor="ctr">
                    <a:solidFill>
                      <a:schemeClr val="bg1"/>
                    </a:solidFill>
                  </a:tcPr>
                </a:tc>
                <a:tc>
                  <a:txBody>
                    <a:bodyPr/>
                    <a:lstStyle/>
                    <a:p>
                      <a:pPr marL="0" marR="0" lvl="0" indent="0" algn="r" defTabSz="457200" rtl="1" eaLnBrk="1" fontAlgn="auto" latinLnBrk="0" hangingPunct="1">
                        <a:lnSpc>
                          <a:spcPct val="105000"/>
                        </a:lnSpc>
                        <a:spcBef>
                          <a:spcPts val="0"/>
                        </a:spcBef>
                        <a:spcAft>
                          <a:spcPts val="0"/>
                        </a:spcAft>
                        <a:buClrTx/>
                        <a:buSzTx/>
                        <a:buFontTx/>
                        <a:buNone/>
                        <a:tabLst/>
                        <a:defRPr/>
                      </a:pPr>
                      <a:r>
                        <a:rPr lang="fa-IR" sz="800" b="0" dirty="0">
                          <a:solidFill>
                            <a:schemeClr val="tx1">
                              <a:lumMod val="65000"/>
                              <a:lumOff val="35000"/>
                            </a:schemeClr>
                          </a:solidFill>
                          <a:latin typeface="Yekan Bakh"/>
                          <a:cs typeface="Yekan Bakh"/>
                        </a:rPr>
                        <a:t>کانال تحت مالکیت + تعامل انسانی</a:t>
                      </a:r>
                    </a:p>
                    <a:p>
                      <a:pPr marL="0" marR="0" lvl="0" indent="0" algn="r" defTabSz="457200" rtl="1" eaLnBrk="1" fontAlgn="auto" latinLnBrk="0" hangingPunct="1">
                        <a:lnSpc>
                          <a:spcPct val="105000"/>
                        </a:lnSpc>
                        <a:spcBef>
                          <a:spcPts val="0"/>
                        </a:spcBef>
                        <a:spcAft>
                          <a:spcPts val="0"/>
                        </a:spcAft>
                        <a:buClrTx/>
                        <a:buSzTx/>
                        <a:buFontTx/>
                        <a:buNone/>
                        <a:tabLst/>
                        <a:defRPr/>
                      </a:pPr>
                      <a:r>
                        <a:rPr lang="fa-IR" sz="800" b="0" dirty="0">
                          <a:solidFill>
                            <a:schemeClr val="tx1">
                              <a:lumMod val="65000"/>
                              <a:lumOff val="35000"/>
                            </a:schemeClr>
                          </a:solidFill>
                          <a:latin typeface="Yekan Bakh"/>
                          <a:cs typeface="Yekan Bakh"/>
                        </a:rPr>
                        <a:t>کانال بیرونی + تعامل انسانی</a:t>
                      </a:r>
                    </a:p>
                  </a:txBody>
                  <a:tcPr marL="50800" marR="50800" marT="38100" marB="38100" anchor="ctr">
                    <a:solidFill>
                      <a:schemeClr val="bg1"/>
                    </a:solidFill>
                  </a:tcPr>
                </a:tc>
                <a:tc>
                  <a:txBody>
                    <a:bodyPr/>
                    <a:lstStyle/>
                    <a:p>
                      <a:pPr algn="ctr" rtl="1">
                        <a:lnSpc>
                          <a:spcPct val="105000"/>
                        </a:lnSpc>
                      </a:pPr>
                      <a:r>
                        <a:rPr sz="1050" b="1" dirty="0" err="1">
                          <a:solidFill>
                            <a:srgbClr val="00406C"/>
                          </a:solidFill>
                          <a:latin typeface="Yekan Bakh"/>
                          <a:cs typeface="Yekan Bakh"/>
                        </a:rPr>
                        <a:t>نوع</a:t>
                      </a:r>
                      <a:r>
                        <a:rPr lang="fa-IR" sz="1050" b="1" dirty="0">
                          <a:solidFill>
                            <a:srgbClr val="00406C"/>
                          </a:solidFill>
                          <a:latin typeface="Yekan Bakh"/>
                          <a:cs typeface="Yekan Bakh"/>
                        </a:rPr>
                        <a:t> / </a:t>
                      </a:r>
                      <a:r>
                        <a:rPr sz="1050" b="1" dirty="0" err="1">
                          <a:solidFill>
                            <a:srgbClr val="00406C"/>
                          </a:solidFill>
                          <a:latin typeface="Yekan Bakh"/>
                          <a:cs typeface="Yekan Bakh"/>
                        </a:rPr>
                        <a:t>مدل</a:t>
                      </a:r>
                      <a:r>
                        <a:rPr sz="1050" b="1" dirty="0">
                          <a:solidFill>
                            <a:srgbClr val="00406C"/>
                          </a:solidFill>
                          <a:latin typeface="Yekan Bakh"/>
                          <a:cs typeface="Yekan Bakh"/>
                        </a:rPr>
                        <a:t> </a:t>
                      </a:r>
                      <a:r>
                        <a:rPr sz="1050" b="1" dirty="0" err="1">
                          <a:solidFill>
                            <a:srgbClr val="00406C"/>
                          </a:solidFill>
                          <a:latin typeface="Yekan Bakh"/>
                          <a:cs typeface="Yekan Bakh"/>
                        </a:rPr>
                        <a:t>کانال</a:t>
                      </a:r>
                      <a:endParaRPr sz="1050" b="1" dirty="0">
                        <a:solidFill>
                          <a:srgbClr val="00406C"/>
                        </a:solidFill>
                        <a:latin typeface="Yekan Bakh"/>
                        <a:cs typeface="Yekan Bakh"/>
                      </a:endParaRPr>
                    </a:p>
                  </a:txBody>
                  <a:tcPr marL="50800" marR="50800" marT="38100" marB="38100" anchor="ctr">
                    <a:solidFill>
                      <a:schemeClr val="bg1"/>
                    </a:solidFill>
                  </a:tcPr>
                </a:tc>
                <a:extLst>
                  <a:ext uri="{0D108BD9-81ED-4DB2-BD59-A6C34878D82A}">
                    <a16:rowId xmlns:a16="http://schemas.microsoft.com/office/drawing/2014/main" val="10002"/>
                  </a:ext>
                </a:extLst>
              </a:tr>
              <a:tr h="381404">
                <a:tc>
                  <a:txBody>
                    <a:bodyPr/>
                    <a:lstStyle/>
                    <a:p>
                      <a:pPr algn="r" rtl="1">
                        <a:lnSpc>
                          <a:spcPct val="105000"/>
                        </a:lnSpc>
                      </a:pPr>
                      <a:r>
                        <a:rPr sz="800" b="0">
                          <a:solidFill>
                            <a:schemeClr val="tx1">
                              <a:lumMod val="65000"/>
                              <a:lumOff val="35000"/>
                            </a:schemeClr>
                          </a:solidFill>
                          <a:latin typeface="Yekan Bakh"/>
                          <a:cs typeface="Yekan Bakh"/>
                        </a:rPr>
                        <a:t>ادامه مسیر رسمی از فاز ارزیابی</a:t>
                      </a:r>
                    </a:p>
                  </a:txBody>
                  <a:tcPr marL="50800" marR="50800" marT="38100" marB="38100" anchor="ctr">
                    <a:solidFill>
                      <a:schemeClr val="bg1">
                        <a:lumMod val="95000"/>
                      </a:schemeClr>
                    </a:solidFill>
                  </a:tcPr>
                </a:tc>
                <a:tc>
                  <a:txBody>
                    <a:bodyPr/>
                    <a:lstStyle/>
                    <a:p>
                      <a:pPr algn="r" rtl="1">
                        <a:lnSpc>
                          <a:spcPct val="105000"/>
                        </a:lnSpc>
                      </a:pPr>
                      <a:r>
                        <a:rPr sz="800" b="0" dirty="0" err="1">
                          <a:solidFill>
                            <a:schemeClr val="tx1">
                              <a:lumMod val="65000"/>
                              <a:lumOff val="35000"/>
                            </a:schemeClr>
                          </a:solidFill>
                          <a:latin typeface="Yekan Bakh"/>
                          <a:cs typeface="Yekan Bakh"/>
                        </a:rPr>
                        <a:t>تداوم</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مسیر</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رسمی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از</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فاز</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آگاهی</a:t>
                      </a:r>
                      <a:endParaRPr sz="800" b="0" dirty="0">
                        <a:solidFill>
                          <a:schemeClr val="tx1">
                            <a:lumMod val="65000"/>
                            <a:lumOff val="35000"/>
                          </a:schemeClr>
                        </a:solidFill>
                        <a:latin typeface="Yekan Bakh"/>
                        <a:cs typeface="Yekan Bakh"/>
                      </a:endParaRPr>
                    </a:p>
                  </a:txBody>
                  <a:tcPr marL="50800" marR="50800" marT="38100" marB="38100" anchor="ctr">
                    <a:solidFill>
                      <a:schemeClr val="bg1">
                        <a:lumMod val="95000"/>
                      </a:schemeClr>
                    </a:solidFill>
                  </a:tcPr>
                </a:tc>
                <a:tc>
                  <a:txBody>
                    <a:bodyPr/>
                    <a:lstStyle/>
                    <a:p>
                      <a:pPr algn="r" rtl="1">
                        <a:lnSpc>
                          <a:spcPct val="105000"/>
                        </a:lnSpc>
                      </a:pPr>
                      <a:r>
                        <a:rPr sz="800" b="0" dirty="0" err="1">
                          <a:solidFill>
                            <a:schemeClr val="tx1">
                              <a:lumMod val="65000"/>
                              <a:lumOff val="35000"/>
                            </a:schemeClr>
                          </a:solidFill>
                          <a:latin typeface="Yekan Bakh"/>
                          <a:cs typeface="Yekan Bakh"/>
                        </a:rPr>
                        <a:t>معرفی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شخصی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از</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شبکه</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سرمایه‌گذاری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موجود</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معرفی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از</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دیاسپورا</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هم‌سرمایه‌گذار</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فعلی</a:t>
                      </a:r>
                      <a:endParaRPr sz="800" b="0" dirty="0">
                        <a:solidFill>
                          <a:schemeClr val="tx1">
                            <a:lumMod val="65000"/>
                            <a:lumOff val="35000"/>
                          </a:schemeClr>
                        </a:solidFill>
                        <a:latin typeface="Yekan Bakh"/>
                        <a:cs typeface="Yekan Bakh"/>
                      </a:endParaRPr>
                    </a:p>
                  </a:txBody>
                  <a:tcPr marL="50800" marR="50800" marT="38100" marB="38100" anchor="ctr">
                    <a:solidFill>
                      <a:schemeClr val="bg1">
                        <a:lumMod val="95000"/>
                      </a:schemeClr>
                    </a:solidFill>
                  </a:tcPr>
                </a:tc>
                <a:tc>
                  <a:txBody>
                    <a:bodyPr/>
                    <a:lstStyle/>
                    <a:p>
                      <a:pPr algn="ctr" rtl="1">
                        <a:lnSpc>
                          <a:spcPct val="105000"/>
                        </a:lnSpc>
                      </a:pPr>
                      <a:r>
                        <a:rPr sz="1050" b="1" dirty="0" err="1">
                          <a:solidFill>
                            <a:srgbClr val="00406C"/>
                          </a:solidFill>
                          <a:latin typeface="Yekan Bakh"/>
                          <a:cs typeface="Yekan Bakh"/>
                        </a:rPr>
                        <a:t>منبع</a:t>
                      </a:r>
                      <a:r>
                        <a:rPr sz="1050" b="1" dirty="0">
                          <a:solidFill>
                            <a:srgbClr val="00406C"/>
                          </a:solidFill>
                          <a:latin typeface="Yekan Bakh"/>
                          <a:cs typeface="Yekan Bakh"/>
                        </a:rPr>
                        <a:t> </a:t>
                      </a:r>
                      <a:r>
                        <a:rPr sz="1050" b="1" dirty="0" err="1">
                          <a:solidFill>
                            <a:srgbClr val="00406C"/>
                          </a:solidFill>
                          <a:latin typeface="Yekan Bakh"/>
                          <a:cs typeface="Yekan Bakh"/>
                        </a:rPr>
                        <a:t>دسترسی</a:t>
                      </a:r>
                      <a:r>
                        <a:rPr sz="1050" b="1" dirty="0">
                          <a:solidFill>
                            <a:srgbClr val="00406C"/>
                          </a:solidFill>
                          <a:latin typeface="Yekan Bakh"/>
                          <a:cs typeface="Yekan Bakh"/>
                        </a:rPr>
                        <a:t>/ </a:t>
                      </a:r>
                      <a:r>
                        <a:rPr lang="fa-IR" sz="1050" b="1" dirty="0">
                          <a:solidFill>
                            <a:srgbClr val="00406C"/>
                          </a:solidFill>
                          <a:latin typeface="Yekan Bakh"/>
                          <a:cs typeface="Yekan Bakh"/>
                        </a:rPr>
                        <a:t> </a:t>
                      </a:r>
                      <a:r>
                        <a:rPr sz="1050" b="1" dirty="0" err="1">
                          <a:solidFill>
                            <a:srgbClr val="00406C"/>
                          </a:solidFill>
                          <a:latin typeface="Yekan Bakh"/>
                          <a:cs typeface="Yekan Bakh"/>
                        </a:rPr>
                        <a:t>جذب</a:t>
                      </a:r>
                      <a:endParaRPr sz="1050" b="1" dirty="0">
                        <a:solidFill>
                          <a:srgbClr val="00406C"/>
                        </a:solidFill>
                        <a:latin typeface="Yekan Bakh"/>
                        <a:cs typeface="Yekan Bakh"/>
                      </a:endParaRPr>
                    </a:p>
                  </a:txBody>
                  <a:tcPr marL="50800" marR="50800" marT="38100" marB="38100" anchor="ctr">
                    <a:solidFill>
                      <a:schemeClr val="bg1">
                        <a:lumMod val="95000"/>
                      </a:schemeClr>
                    </a:solidFill>
                  </a:tcPr>
                </a:tc>
                <a:extLst>
                  <a:ext uri="{0D108BD9-81ED-4DB2-BD59-A6C34878D82A}">
                    <a16:rowId xmlns:a16="http://schemas.microsoft.com/office/drawing/2014/main" val="10003"/>
                  </a:ext>
                </a:extLst>
              </a:tr>
              <a:tr h="320787">
                <a:tc>
                  <a:txBody>
                    <a:bodyPr/>
                    <a:lstStyle/>
                    <a:p>
                      <a:pPr algn="r" rtl="1">
                        <a:lnSpc>
                          <a:spcPct val="105000"/>
                        </a:lnSpc>
                      </a:pPr>
                      <a:r>
                        <a:rPr sz="800" b="0">
                          <a:solidFill>
                            <a:schemeClr val="tx1">
                              <a:lumMod val="65000"/>
                              <a:lumOff val="35000"/>
                            </a:schemeClr>
                          </a:solidFill>
                          <a:latin typeface="Yekan Bakh"/>
                          <a:cs typeface="Yekan Bakh"/>
                        </a:rPr>
                        <a:t>امضای قرارداد سرمایه‌گذاری</a:t>
                      </a:r>
                    </a:p>
                  </a:txBody>
                  <a:tcPr marL="50800" marR="50800" marT="38100" marB="38100" anchor="ctr">
                    <a:solidFill>
                      <a:schemeClr val="bg1"/>
                    </a:solidFill>
                  </a:tcPr>
                </a:tc>
                <a:tc>
                  <a:txBody>
                    <a:bodyPr/>
                    <a:lstStyle/>
                    <a:p>
                      <a:pPr algn="r" rtl="1">
                        <a:lnSpc>
                          <a:spcPct val="105000"/>
                        </a:lnSpc>
                      </a:pPr>
                      <a:r>
                        <a:rPr sz="800" b="0">
                          <a:solidFill>
                            <a:schemeClr val="tx1">
                              <a:lumMod val="65000"/>
                              <a:lumOff val="35000"/>
                            </a:schemeClr>
                          </a:solidFill>
                          <a:latin typeface="Yekan Bakh"/>
                          <a:cs typeface="Yekan Bakh"/>
                        </a:rPr>
                        <a:t>دسترسی به اتاق داده آنلاین؛ جلسه کمیته سرمایه‌گذاری</a:t>
                      </a:r>
                    </a:p>
                  </a:txBody>
                  <a:tcPr marL="50800" marR="50800" marT="38100" marB="38100" anchor="ctr">
                    <a:solidFill>
                      <a:schemeClr val="bg1"/>
                    </a:solidFill>
                  </a:tcPr>
                </a:tc>
                <a:tc>
                  <a:txBody>
                    <a:bodyPr/>
                    <a:lstStyle/>
                    <a:p>
                      <a:pPr algn="r" rtl="1">
                        <a:lnSpc>
                          <a:spcPct val="105000"/>
                        </a:lnSpc>
                      </a:pPr>
                      <a:r>
                        <a:rPr sz="800" b="0" dirty="0" err="1">
                          <a:solidFill>
                            <a:schemeClr val="tx1">
                              <a:lumMod val="65000"/>
                              <a:lumOff val="35000"/>
                            </a:schemeClr>
                          </a:solidFill>
                          <a:latin typeface="Yekan Bakh"/>
                          <a:cs typeface="Yekan Bakh"/>
                        </a:rPr>
                        <a:t>دیدار</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خصوصی</a:t>
                      </a:r>
                      <a:r>
                        <a:rPr sz="800" b="0" dirty="0">
                          <a:solidFill>
                            <a:schemeClr val="tx1">
                              <a:lumMod val="65000"/>
                              <a:lumOff val="35000"/>
                            </a:schemeClr>
                          </a:solidFill>
                          <a:latin typeface="Yekan Bakh"/>
                          <a:cs typeface="Yekan Bakh"/>
                        </a:rPr>
                        <a:t>/</a:t>
                      </a:r>
                      <a:r>
                        <a:rPr sz="800" b="0" dirty="0" err="1">
                          <a:solidFill>
                            <a:schemeClr val="tx1">
                              <a:lumMod val="65000"/>
                              <a:lumOff val="35000"/>
                            </a:schemeClr>
                          </a:solidFill>
                          <a:latin typeface="Yekan Bakh"/>
                          <a:cs typeface="Yekan Bakh"/>
                        </a:rPr>
                        <a:t>معرفی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از</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طریق</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شبکه</a:t>
                      </a:r>
                      <a:endParaRPr sz="800" b="0" dirty="0">
                        <a:solidFill>
                          <a:schemeClr val="tx1">
                            <a:lumMod val="65000"/>
                            <a:lumOff val="35000"/>
                          </a:schemeClr>
                        </a:solidFill>
                        <a:latin typeface="Yekan Bakh"/>
                        <a:cs typeface="Yekan Bakh"/>
                      </a:endParaRPr>
                    </a:p>
                  </a:txBody>
                  <a:tcPr marL="50800" marR="50800" marT="38100" marB="38100" anchor="ctr">
                    <a:solidFill>
                      <a:schemeClr val="bg1"/>
                    </a:solidFill>
                  </a:tcPr>
                </a:tc>
                <a:tc>
                  <a:txBody>
                    <a:bodyPr/>
                    <a:lstStyle/>
                    <a:p>
                      <a:pPr algn="ctr" rtl="1">
                        <a:lnSpc>
                          <a:spcPct val="105000"/>
                        </a:lnSpc>
                      </a:pPr>
                      <a:r>
                        <a:rPr sz="1050" b="1" dirty="0" err="1">
                          <a:solidFill>
                            <a:srgbClr val="00406C"/>
                          </a:solidFill>
                          <a:latin typeface="Yekan Bakh"/>
                          <a:cs typeface="Yekan Bakh"/>
                        </a:rPr>
                        <a:t>نقطه</a:t>
                      </a:r>
                      <a:r>
                        <a:rPr sz="1050" b="1" dirty="0">
                          <a:solidFill>
                            <a:srgbClr val="00406C"/>
                          </a:solidFill>
                          <a:latin typeface="Yekan Bakh"/>
                          <a:cs typeface="Yekan Bakh"/>
                        </a:rPr>
                        <a:t> </a:t>
                      </a:r>
                      <a:r>
                        <a:rPr sz="1050" b="1" dirty="0" err="1">
                          <a:solidFill>
                            <a:srgbClr val="00406C"/>
                          </a:solidFill>
                          <a:latin typeface="Yekan Bakh"/>
                          <a:cs typeface="Yekan Bakh"/>
                        </a:rPr>
                        <a:t>تماس</a:t>
                      </a:r>
                      <a:endParaRPr sz="1050" b="1" dirty="0">
                        <a:solidFill>
                          <a:srgbClr val="00406C"/>
                        </a:solidFill>
                        <a:latin typeface="Yekan Bakh"/>
                        <a:cs typeface="Yekan Bakh"/>
                      </a:endParaRPr>
                    </a:p>
                  </a:txBody>
                  <a:tcPr marL="50800" marR="50800" marT="38100" marB="38100" anchor="ctr">
                    <a:solidFill>
                      <a:schemeClr val="bg1"/>
                    </a:solidFill>
                  </a:tcPr>
                </a:tc>
                <a:extLst>
                  <a:ext uri="{0D108BD9-81ED-4DB2-BD59-A6C34878D82A}">
                    <a16:rowId xmlns:a16="http://schemas.microsoft.com/office/drawing/2014/main" val="10004"/>
                  </a:ext>
                </a:extLst>
              </a:tr>
              <a:tr h="365512">
                <a:tc>
                  <a:txBody>
                    <a:bodyPr/>
                    <a:lstStyle/>
                    <a:p>
                      <a:pPr algn="r" rtl="1">
                        <a:lnSpc>
                          <a:spcPct val="105000"/>
                        </a:lnSpc>
                      </a:pPr>
                      <a:r>
                        <a:rPr sz="800" b="0">
                          <a:solidFill>
                            <a:schemeClr val="tx1">
                              <a:lumMod val="65000"/>
                              <a:lumOff val="35000"/>
                            </a:schemeClr>
                          </a:solidFill>
                          <a:latin typeface="Yekan Bakh"/>
                          <a:cs typeface="Yekan Bakh"/>
                        </a:rPr>
                        <a:t>نهایی‌سازی شرایط و تخصیص سرمایه</a:t>
                      </a:r>
                    </a:p>
                  </a:txBody>
                  <a:tcPr marL="50800" marR="50800" marT="38100" marB="38100" anchor="ctr">
                    <a:solidFill>
                      <a:schemeClr val="bg1">
                        <a:lumMod val="95000"/>
                      </a:schemeClr>
                    </a:solidFill>
                  </a:tcPr>
                </a:tc>
                <a:tc>
                  <a:txBody>
                    <a:bodyPr/>
                    <a:lstStyle/>
                    <a:p>
                      <a:pPr algn="r" rtl="1">
                        <a:lnSpc>
                          <a:spcPct val="105000"/>
                        </a:lnSpc>
                      </a:pPr>
                      <a:r>
                        <a:rPr sz="800" b="0">
                          <a:solidFill>
                            <a:schemeClr val="tx1">
                              <a:lumMod val="65000"/>
                              <a:lumOff val="35000"/>
                            </a:schemeClr>
                          </a:solidFill>
                          <a:latin typeface="Yekan Bakh"/>
                          <a:cs typeface="Yekan Bakh"/>
                        </a:rPr>
                        <a:t>بررسی مستندات، پرسش‌وپاسخ، تاییدیه شخص ثالث</a:t>
                      </a:r>
                    </a:p>
                  </a:txBody>
                  <a:tcPr marL="50800" marR="50800" marT="38100" marB="38100" anchor="ctr">
                    <a:solidFill>
                      <a:schemeClr val="bg1">
                        <a:lumMod val="95000"/>
                      </a:schemeClr>
                    </a:solidFill>
                  </a:tcPr>
                </a:tc>
                <a:tc>
                  <a:txBody>
                    <a:bodyPr/>
                    <a:lstStyle/>
                    <a:p>
                      <a:pPr algn="r" rtl="1">
                        <a:lnSpc>
                          <a:spcPct val="105000"/>
                        </a:lnSpc>
                      </a:pPr>
                      <a:r>
                        <a:rPr sz="800" b="0" dirty="0" err="1">
                          <a:solidFill>
                            <a:schemeClr val="tx1">
                              <a:lumMod val="65000"/>
                              <a:lumOff val="35000"/>
                            </a:schemeClr>
                          </a:solidFill>
                          <a:latin typeface="Yekan Bakh"/>
                          <a:cs typeface="Yekan Bakh"/>
                        </a:rPr>
                        <a:t>ارائه</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فرصت</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اختصاصی</a:t>
                      </a:r>
                      <a:r>
                        <a:rPr sz="800" b="0" dirty="0">
                          <a:solidFill>
                            <a:schemeClr val="tx1">
                              <a:lumMod val="65000"/>
                              <a:lumOff val="35000"/>
                            </a:schemeClr>
                          </a:solidFill>
                          <a:latin typeface="Yekan Bakh"/>
                          <a:cs typeface="Yekan Bakh"/>
                        </a:rPr>
                        <a:t> و </a:t>
                      </a:r>
                      <a:r>
                        <a:rPr sz="800" b="0" dirty="0" err="1">
                          <a:solidFill>
                            <a:schemeClr val="tx1">
                              <a:lumMod val="65000"/>
                              <a:lumOff val="35000"/>
                            </a:schemeClr>
                          </a:solidFill>
                          <a:latin typeface="Yekan Bakh"/>
                          <a:cs typeface="Yekan Bakh"/>
                        </a:rPr>
                        <a:t>غیرعمومی</a:t>
                      </a:r>
                      <a:endParaRPr sz="800" b="0" dirty="0">
                        <a:solidFill>
                          <a:schemeClr val="tx1">
                            <a:lumMod val="65000"/>
                            <a:lumOff val="35000"/>
                          </a:schemeClr>
                        </a:solidFill>
                        <a:latin typeface="Yekan Bakh"/>
                        <a:cs typeface="Yekan Bakh"/>
                      </a:endParaRPr>
                    </a:p>
                  </a:txBody>
                  <a:tcPr marL="50800" marR="50800" marT="38100" marB="38100" anchor="ctr">
                    <a:solidFill>
                      <a:schemeClr val="bg1">
                        <a:lumMod val="95000"/>
                      </a:schemeClr>
                    </a:solidFill>
                  </a:tcPr>
                </a:tc>
                <a:tc>
                  <a:txBody>
                    <a:bodyPr/>
                    <a:lstStyle/>
                    <a:p>
                      <a:pPr algn="ctr" rtl="1">
                        <a:lnSpc>
                          <a:spcPct val="105000"/>
                        </a:lnSpc>
                      </a:pPr>
                      <a:r>
                        <a:rPr sz="1050" b="1" dirty="0" err="1">
                          <a:solidFill>
                            <a:srgbClr val="00406C"/>
                          </a:solidFill>
                          <a:latin typeface="Yekan Bakh"/>
                          <a:cs typeface="Yekan Bakh"/>
                        </a:rPr>
                        <a:t>فعالیت</a:t>
                      </a:r>
                      <a:r>
                        <a:rPr sz="1050" b="1" dirty="0">
                          <a:solidFill>
                            <a:srgbClr val="00406C"/>
                          </a:solidFill>
                          <a:latin typeface="Yekan Bakh"/>
                          <a:cs typeface="Yekan Bakh"/>
                        </a:rPr>
                        <a:t> </a:t>
                      </a:r>
                      <a:r>
                        <a:rPr lang="fa-IR" sz="1050" b="1" dirty="0">
                          <a:solidFill>
                            <a:srgbClr val="00406C"/>
                          </a:solidFill>
                          <a:latin typeface="Yekan Bakh"/>
                          <a:cs typeface="Yekan Bakh"/>
                        </a:rPr>
                        <a:t>/</a:t>
                      </a:r>
                      <a:r>
                        <a:rPr sz="1050" b="1" dirty="0">
                          <a:solidFill>
                            <a:srgbClr val="00406C"/>
                          </a:solidFill>
                          <a:latin typeface="Yekan Bakh"/>
                          <a:cs typeface="Yekan Bakh"/>
                        </a:rPr>
                        <a:t> </a:t>
                      </a:r>
                      <a:r>
                        <a:rPr sz="1050" b="1" dirty="0" err="1">
                          <a:solidFill>
                            <a:srgbClr val="00406C"/>
                          </a:solidFill>
                          <a:latin typeface="Yekan Bakh"/>
                          <a:cs typeface="Yekan Bakh"/>
                        </a:rPr>
                        <a:t>اقدام</a:t>
                      </a:r>
                      <a:endParaRPr sz="1050" b="1" dirty="0">
                        <a:solidFill>
                          <a:srgbClr val="00406C"/>
                        </a:solidFill>
                        <a:latin typeface="Yekan Bakh"/>
                        <a:cs typeface="Yekan Bakh"/>
                      </a:endParaRPr>
                    </a:p>
                  </a:txBody>
                  <a:tcPr marL="50800" marR="50800" marT="38100" marB="38100" anchor="ctr">
                    <a:solidFill>
                      <a:schemeClr val="bg1">
                        <a:lumMod val="95000"/>
                      </a:schemeClr>
                    </a:solidFill>
                  </a:tcPr>
                </a:tc>
                <a:extLst>
                  <a:ext uri="{0D108BD9-81ED-4DB2-BD59-A6C34878D82A}">
                    <a16:rowId xmlns:a16="http://schemas.microsoft.com/office/drawing/2014/main" val="10005"/>
                  </a:ext>
                </a:extLst>
              </a:tr>
              <a:tr h="333729">
                <a:tc>
                  <a:txBody>
                    <a:bodyPr/>
                    <a:lstStyle/>
                    <a:p>
                      <a:pPr algn="r" rtl="1">
                        <a:lnSpc>
                          <a:spcPct val="105000"/>
                        </a:lnSpc>
                      </a:pPr>
                      <a:r>
                        <a:rPr sz="800" b="0" dirty="0" err="1">
                          <a:solidFill>
                            <a:schemeClr val="tx1">
                              <a:lumMod val="65000"/>
                              <a:lumOff val="35000"/>
                            </a:schemeClr>
                          </a:solidFill>
                          <a:latin typeface="Yekan Bakh"/>
                          <a:cs typeface="Yekan Bakh"/>
                        </a:rPr>
                        <a:t>سرمایه‌گذار</a:t>
                      </a:r>
                      <a:r>
                        <a:rPr lang="fa-IR" sz="800" b="0" dirty="0">
                          <a:solidFill>
                            <a:schemeClr val="tx1">
                              <a:lumMod val="65000"/>
                              <a:lumOff val="35000"/>
                            </a:schemeClr>
                          </a:solidFill>
                          <a:latin typeface="Yekan Bakh"/>
                          <a:cs typeface="Yekan Bakh"/>
                        </a:rPr>
                        <a:t> </a:t>
                      </a:r>
                      <a:r>
                        <a:rPr sz="800" b="0" dirty="0">
                          <a:solidFill>
                            <a:schemeClr val="tx1">
                              <a:lumMod val="65000"/>
                              <a:lumOff val="35000"/>
                            </a:schemeClr>
                          </a:solidFill>
                          <a:latin typeface="Yekan Bakh"/>
                          <a:cs typeface="Yekan Bakh"/>
                        </a:rPr>
                        <a:t>↔</a:t>
                      </a:r>
                      <a:r>
                        <a:rPr lang="fa-I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بنیان‌گذار</a:t>
                      </a:r>
                      <a:r>
                        <a:rPr sz="800" b="0" dirty="0">
                          <a:solidFill>
                            <a:schemeClr val="tx1">
                              <a:lumMod val="65000"/>
                              <a:lumOff val="35000"/>
                            </a:schemeClr>
                          </a:solidFill>
                          <a:latin typeface="Yekan Bakh"/>
                          <a:cs typeface="Yekan Bakh"/>
                        </a:rPr>
                        <a:t> </a:t>
                      </a:r>
                      <a:r>
                        <a:rPr lang="fa-IR" sz="800" b="0" dirty="0">
                          <a:solidFill>
                            <a:schemeClr val="tx1">
                              <a:lumMod val="65000"/>
                              <a:lumOff val="35000"/>
                            </a:schemeClr>
                          </a:solidFill>
                          <a:latin typeface="Yekan Bakh"/>
                          <a:cs typeface="Yekan Bakh"/>
                        </a:rPr>
                        <a:t>اکوسیستم فرصت ایران</a:t>
                      </a:r>
                      <a:endParaRPr sz="800" b="0" dirty="0">
                        <a:solidFill>
                          <a:schemeClr val="tx1">
                            <a:lumMod val="65000"/>
                            <a:lumOff val="35000"/>
                          </a:schemeClr>
                        </a:solidFill>
                        <a:latin typeface="Yekan Bakh"/>
                        <a:cs typeface="Yekan Bakh"/>
                      </a:endParaRPr>
                    </a:p>
                  </a:txBody>
                  <a:tcPr marL="50800" marR="50800" marT="38100" marB="38100" anchor="ctr">
                    <a:solidFill>
                      <a:schemeClr val="bg1"/>
                    </a:solidFill>
                  </a:tcPr>
                </a:tc>
                <a:tc>
                  <a:txBody>
                    <a:bodyPr/>
                    <a:lstStyle/>
                    <a:p>
                      <a:pPr algn="r" rtl="1">
                        <a:lnSpc>
                          <a:spcPct val="105000"/>
                        </a:lnSpc>
                      </a:pPr>
                      <a:r>
                        <a:rPr sz="800" b="0">
                          <a:solidFill>
                            <a:schemeClr val="tx1">
                              <a:lumMod val="65000"/>
                              <a:lumOff val="35000"/>
                            </a:schemeClr>
                          </a:solidFill>
                          <a:latin typeface="Yekan Bakh"/>
                          <a:cs typeface="Yekan Bakh"/>
                        </a:rPr>
                        <a:t>تیم </a:t>
                      </a:r>
                      <a:r>
                        <a:rPr lang="fa-IR" sz="800" b="0">
                          <a:solidFill>
                            <a:schemeClr val="tx1">
                              <a:lumMod val="65000"/>
                              <a:lumOff val="35000"/>
                            </a:schemeClr>
                          </a:solidFill>
                          <a:latin typeface="Yekan Bakh"/>
                          <a:cs typeface="Yekan Bakh"/>
                        </a:rPr>
                        <a:t>اکوسیستم فرصت ایران</a:t>
                      </a:r>
                      <a:r>
                        <a:rPr sz="800" b="0">
                          <a:solidFill>
                            <a:schemeClr val="tx1">
                              <a:lumMod val="65000"/>
                              <a:lumOff val="35000"/>
                            </a:schemeClr>
                          </a:solidFill>
                          <a:latin typeface="Yekan Bakh"/>
                          <a:cs typeface="Yekan Bakh"/>
                        </a:rPr>
                        <a:t> ↔ کمیته سرمایه‌گذاری مشتری؛ حسابرس/مشاور حقوقی شریک</a:t>
                      </a:r>
                    </a:p>
                  </a:txBody>
                  <a:tcPr marL="50800" marR="50800" marT="38100" marB="38100" anchor="ctr">
                    <a:solidFill>
                      <a:schemeClr val="bg1"/>
                    </a:solidFill>
                  </a:tcPr>
                </a:tc>
                <a:tc>
                  <a:txBody>
                    <a:bodyPr/>
                    <a:lstStyle/>
                    <a:p>
                      <a:pPr algn="r" rtl="1">
                        <a:lnSpc>
                          <a:spcPct val="105000"/>
                        </a:lnSpc>
                      </a:pPr>
                      <a:r>
                        <a:rPr sz="800" b="0" dirty="0" err="1">
                          <a:solidFill>
                            <a:schemeClr val="tx1">
                              <a:lumMod val="65000"/>
                              <a:lumOff val="35000"/>
                            </a:schemeClr>
                          </a:solidFill>
                          <a:latin typeface="Yekan Bakh"/>
                          <a:cs typeface="Yekan Bakh"/>
                        </a:rPr>
                        <a:t>بنیان‌گذار</a:t>
                      </a:r>
                      <a:r>
                        <a:rPr sz="800" b="0" dirty="0">
                          <a:solidFill>
                            <a:schemeClr val="tx1">
                              <a:lumMod val="65000"/>
                              <a:lumOff val="35000"/>
                            </a:schemeClr>
                          </a:solidFill>
                          <a:latin typeface="Yekan Bakh"/>
                          <a:cs typeface="Yekan Bakh"/>
                        </a:rPr>
                        <a:t> </a:t>
                      </a:r>
                      <a:r>
                        <a:rPr lang="fa-IR" sz="800" b="0" dirty="0">
                          <a:solidFill>
                            <a:schemeClr val="tx1">
                              <a:lumMod val="65000"/>
                              <a:lumOff val="35000"/>
                            </a:schemeClr>
                          </a:solidFill>
                          <a:latin typeface="Yekan Bakh"/>
                          <a:cs typeface="Yekan Bakh"/>
                        </a:rPr>
                        <a:t>اکوسیستم فرصت ایران</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یا</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هم‌سرمایه‌گذار</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معرف</a:t>
                      </a:r>
                      <a:endParaRPr sz="800" b="0" dirty="0">
                        <a:solidFill>
                          <a:schemeClr val="tx1">
                            <a:lumMod val="65000"/>
                            <a:lumOff val="35000"/>
                          </a:schemeClr>
                        </a:solidFill>
                        <a:latin typeface="Yekan Bakh"/>
                        <a:cs typeface="Yekan Bakh"/>
                      </a:endParaRPr>
                    </a:p>
                  </a:txBody>
                  <a:tcPr marL="50800" marR="50800" marT="38100" marB="38100" anchor="ctr">
                    <a:solidFill>
                      <a:schemeClr val="bg1"/>
                    </a:solidFill>
                  </a:tcPr>
                </a:tc>
                <a:tc>
                  <a:txBody>
                    <a:bodyPr/>
                    <a:lstStyle/>
                    <a:p>
                      <a:pPr algn="ctr" rtl="1">
                        <a:lnSpc>
                          <a:spcPct val="105000"/>
                        </a:lnSpc>
                      </a:pPr>
                      <a:r>
                        <a:rPr sz="1050" b="1" dirty="0" err="1">
                          <a:solidFill>
                            <a:srgbClr val="00406C"/>
                          </a:solidFill>
                          <a:latin typeface="Yekan Bakh"/>
                          <a:cs typeface="Yekan Bakh"/>
                        </a:rPr>
                        <a:t>بازیگر</a:t>
                      </a:r>
                      <a:r>
                        <a:rPr sz="1050" b="1" dirty="0">
                          <a:solidFill>
                            <a:srgbClr val="00406C"/>
                          </a:solidFill>
                          <a:latin typeface="Yekan Bakh"/>
                          <a:cs typeface="Yekan Bakh"/>
                        </a:rPr>
                        <a:t>/ </a:t>
                      </a:r>
                      <a:r>
                        <a:rPr lang="fa-IR" sz="1050" b="1" dirty="0">
                          <a:solidFill>
                            <a:srgbClr val="00406C"/>
                          </a:solidFill>
                          <a:latin typeface="Yekan Bakh"/>
                          <a:cs typeface="Yekan Bakh"/>
                        </a:rPr>
                        <a:t> م</a:t>
                      </a:r>
                      <a:r>
                        <a:rPr sz="1050" b="1" dirty="0" err="1">
                          <a:solidFill>
                            <a:srgbClr val="00406C"/>
                          </a:solidFill>
                          <a:latin typeface="Yekan Bakh"/>
                          <a:cs typeface="Yekan Bakh"/>
                        </a:rPr>
                        <a:t>الک</a:t>
                      </a:r>
                      <a:r>
                        <a:rPr sz="1050" b="1" dirty="0">
                          <a:solidFill>
                            <a:srgbClr val="00406C"/>
                          </a:solidFill>
                          <a:latin typeface="Yekan Bakh"/>
                          <a:cs typeface="Yekan Bakh"/>
                        </a:rPr>
                        <a:t> </a:t>
                      </a:r>
                      <a:r>
                        <a:rPr sz="1050" b="1" dirty="0" err="1">
                          <a:solidFill>
                            <a:srgbClr val="00406C"/>
                          </a:solidFill>
                          <a:latin typeface="Yekan Bakh"/>
                          <a:cs typeface="Yekan Bakh"/>
                        </a:rPr>
                        <a:t>تعامل</a:t>
                      </a:r>
                      <a:endParaRPr sz="1050" b="1" dirty="0">
                        <a:solidFill>
                          <a:srgbClr val="00406C"/>
                        </a:solidFill>
                        <a:latin typeface="Yekan Bakh"/>
                        <a:cs typeface="Yekan Bakh"/>
                      </a:endParaRPr>
                    </a:p>
                  </a:txBody>
                  <a:tcPr marL="50800" marR="50800" marT="38100" marB="38100" anchor="ctr">
                    <a:solidFill>
                      <a:schemeClr val="bg1"/>
                    </a:solidFill>
                  </a:tcPr>
                </a:tc>
                <a:extLst>
                  <a:ext uri="{0D108BD9-81ED-4DB2-BD59-A6C34878D82A}">
                    <a16:rowId xmlns:a16="http://schemas.microsoft.com/office/drawing/2014/main" val="10006"/>
                  </a:ext>
                </a:extLst>
              </a:tr>
              <a:tr h="325534">
                <a:tc>
                  <a:txBody>
                    <a:bodyPr/>
                    <a:lstStyle/>
                    <a:p>
                      <a:pPr algn="r" rtl="1">
                        <a:lnSpc>
                          <a:spcPct val="105000"/>
                        </a:lnSpc>
                      </a:pPr>
                      <a:r>
                        <a:rPr sz="800" b="0">
                          <a:solidFill>
                            <a:schemeClr val="tx1">
                              <a:lumMod val="65000"/>
                              <a:lumOff val="35000"/>
                            </a:schemeClr>
                          </a:solidFill>
                          <a:latin typeface="Yekan Bakh"/>
                          <a:cs typeface="Yekan Bakh"/>
                        </a:rPr>
                        <a:t>Contract / Term Sheet نهایی</a:t>
                      </a:r>
                    </a:p>
                  </a:txBody>
                  <a:tcPr marL="50800" marR="50800" marT="38100" marB="38100" anchor="ctr">
                    <a:solidFill>
                      <a:schemeClr val="bg1">
                        <a:lumMod val="95000"/>
                      </a:schemeClr>
                    </a:solidFill>
                  </a:tcPr>
                </a:tc>
                <a:tc>
                  <a:txBody>
                    <a:bodyPr/>
                    <a:lstStyle/>
                    <a:p>
                      <a:pPr algn="r" rtl="1">
                        <a:lnSpc>
                          <a:spcPct val="105000"/>
                        </a:lnSpc>
                      </a:pPr>
                      <a:r>
                        <a:rPr sz="800" b="0" dirty="0">
                          <a:solidFill>
                            <a:schemeClr val="tx1">
                              <a:lumMod val="65000"/>
                              <a:lumOff val="35000"/>
                            </a:schemeClr>
                          </a:solidFill>
                          <a:latin typeface="Yekan Bakh"/>
                          <a:cs typeface="Yekan Bakh"/>
                        </a:rPr>
                        <a:t>Qualified Opportunity</a:t>
                      </a:r>
                      <a:r>
                        <a:rPr lang="fa-IR" sz="800" b="0" dirty="0">
                          <a:solidFill>
                            <a:schemeClr val="tx1">
                              <a:lumMod val="65000"/>
                              <a:lumOff val="35000"/>
                            </a:schemeClr>
                          </a:solidFill>
                          <a:latin typeface="Yekan Bakh"/>
                          <a:cs typeface="Yekan Bakh"/>
                        </a:rPr>
                        <a:t> ع</a:t>
                      </a:r>
                      <a:r>
                        <a:rPr sz="800" b="0" dirty="0" err="1">
                          <a:solidFill>
                            <a:schemeClr val="tx1">
                              <a:lumMod val="65000"/>
                              <a:lumOff val="35000"/>
                            </a:schemeClr>
                          </a:solidFill>
                          <a:latin typeface="Yekan Bakh"/>
                          <a:cs typeface="Yekan Bakh"/>
                        </a:rPr>
                        <a:t>بور</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از</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کمیته</a:t>
                      </a:r>
                      <a:endParaRPr sz="800" b="0" dirty="0">
                        <a:solidFill>
                          <a:schemeClr val="tx1">
                            <a:lumMod val="65000"/>
                            <a:lumOff val="35000"/>
                          </a:schemeClr>
                        </a:solidFill>
                        <a:latin typeface="Yekan Bakh"/>
                        <a:cs typeface="Yekan Bakh"/>
                      </a:endParaRPr>
                    </a:p>
                  </a:txBody>
                  <a:tcPr marL="50800" marR="50800" marT="38100" marB="38100" anchor="ctr">
                    <a:solidFill>
                      <a:schemeClr val="bg1">
                        <a:lumMod val="95000"/>
                      </a:schemeClr>
                    </a:solidFill>
                  </a:tcPr>
                </a:tc>
                <a:tc>
                  <a:txBody>
                    <a:bodyPr/>
                    <a:lstStyle/>
                    <a:p>
                      <a:pPr algn="r" rtl="1">
                        <a:lnSpc>
                          <a:spcPct val="105000"/>
                        </a:lnSpc>
                      </a:pPr>
                      <a:r>
                        <a:rPr sz="800" b="0" dirty="0">
                          <a:solidFill>
                            <a:schemeClr val="tx1">
                              <a:lumMod val="65000"/>
                              <a:lumOff val="35000"/>
                            </a:schemeClr>
                          </a:solidFill>
                          <a:latin typeface="Yekan Bakh"/>
                          <a:cs typeface="Yekan Bakh"/>
                        </a:rPr>
                        <a:t>Lead</a:t>
                      </a:r>
                      <a:r>
                        <a:rPr lang="fa-IR" sz="800" b="0" dirty="0">
                          <a:solidFill>
                            <a:schemeClr val="tx1">
                              <a:lumMod val="65000"/>
                              <a:lumOff val="35000"/>
                            </a:schemeClr>
                          </a:solidFill>
                          <a:latin typeface="Yekan Bakh"/>
                          <a:cs typeface="Yekan Bakh"/>
                        </a:rPr>
                        <a:t> س</a:t>
                      </a:r>
                      <a:r>
                        <a:rPr sz="800" b="0" dirty="0" err="1">
                          <a:solidFill>
                            <a:schemeClr val="tx1">
                              <a:lumMod val="65000"/>
                              <a:lumOff val="35000"/>
                            </a:schemeClr>
                          </a:solidFill>
                          <a:latin typeface="Yekan Bakh"/>
                          <a:cs typeface="Yekan Bakh"/>
                        </a:rPr>
                        <a:t>رمایه‌گذار</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علاقه‌مند</a:t>
                      </a:r>
                      <a:endParaRPr sz="800" b="0" dirty="0">
                        <a:solidFill>
                          <a:schemeClr val="tx1">
                            <a:lumMod val="65000"/>
                            <a:lumOff val="35000"/>
                          </a:schemeClr>
                        </a:solidFill>
                        <a:latin typeface="Yekan Bakh"/>
                        <a:cs typeface="Yekan Bakh"/>
                      </a:endParaRPr>
                    </a:p>
                  </a:txBody>
                  <a:tcPr marL="50800" marR="50800" marT="38100" marB="38100" anchor="ctr">
                    <a:solidFill>
                      <a:schemeClr val="bg1">
                        <a:lumMod val="95000"/>
                      </a:schemeClr>
                    </a:solidFill>
                  </a:tcPr>
                </a:tc>
                <a:tc>
                  <a:txBody>
                    <a:bodyPr/>
                    <a:lstStyle/>
                    <a:p>
                      <a:pPr algn="ctr" rtl="1">
                        <a:lnSpc>
                          <a:spcPct val="105000"/>
                        </a:lnSpc>
                      </a:pPr>
                      <a:r>
                        <a:rPr sz="1050" b="1" dirty="0" err="1">
                          <a:solidFill>
                            <a:srgbClr val="00406C"/>
                          </a:solidFill>
                          <a:latin typeface="Yekan Bakh"/>
                          <a:cs typeface="Yekan Bakh"/>
                        </a:rPr>
                        <a:t>خروجی</a:t>
                      </a:r>
                      <a:r>
                        <a:rPr sz="1050" b="1" dirty="0">
                          <a:solidFill>
                            <a:srgbClr val="00406C"/>
                          </a:solidFill>
                          <a:latin typeface="Yekan Bakh"/>
                          <a:cs typeface="Yekan Bakh"/>
                        </a:rPr>
                        <a:t> /</a:t>
                      </a:r>
                      <a:r>
                        <a:rPr lang="fa-IR" sz="1050" b="1" dirty="0">
                          <a:solidFill>
                            <a:srgbClr val="00406C"/>
                          </a:solidFill>
                          <a:latin typeface="Yekan Bakh"/>
                          <a:cs typeface="Yekan Bakh"/>
                        </a:rPr>
                        <a:t> ن</a:t>
                      </a:r>
                      <a:r>
                        <a:rPr sz="1050" b="1" dirty="0" err="1">
                          <a:solidFill>
                            <a:srgbClr val="00406C"/>
                          </a:solidFill>
                          <a:latin typeface="Yekan Bakh"/>
                          <a:cs typeface="Yekan Bakh"/>
                        </a:rPr>
                        <a:t>تیجه</a:t>
                      </a:r>
                      <a:r>
                        <a:rPr sz="1050" b="1" dirty="0">
                          <a:solidFill>
                            <a:srgbClr val="00406C"/>
                          </a:solidFill>
                          <a:latin typeface="Yekan Bakh"/>
                          <a:cs typeface="Yekan Bakh"/>
                        </a:rPr>
                        <a:t> </a:t>
                      </a:r>
                      <a:r>
                        <a:rPr sz="1050" b="1" dirty="0" err="1">
                          <a:solidFill>
                            <a:srgbClr val="00406C"/>
                          </a:solidFill>
                          <a:latin typeface="Yekan Bakh"/>
                          <a:cs typeface="Yekan Bakh"/>
                        </a:rPr>
                        <a:t>تجاری</a:t>
                      </a:r>
                      <a:endParaRPr sz="1050" b="1" dirty="0">
                        <a:solidFill>
                          <a:srgbClr val="00406C"/>
                        </a:solidFill>
                        <a:latin typeface="Yekan Bakh"/>
                        <a:cs typeface="Yekan Bakh"/>
                      </a:endParaRPr>
                    </a:p>
                  </a:txBody>
                  <a:tcPr marL="50800" marR="50800" marT="38100" marB="38100" anchor="ctr">
                    <a:solidFill>
                      <a:schemeClr val="bg1">
                        <a:lumMod val="95000"/>
                      </a:schemeClr>
                    </a:solidFill>
                  </a:tcPr>
                </a:tc>
                <a:extLst>
                  <a:ext uri="{0D108BD9-81ED-4DB2-BD59-A6C34878D82A}">
                    <a16:rowId xmlns:a16="http://schemas.microsoft.com/office/drawing/2014/main" val="10007"/>
                  </a:ext>
                </a:extLst>
              </a:tr>
              <a:tr h="691605">
                <a:tc>
                  <a:txBody>
                    <a:bodyPr/>
                    <a:lstStyle/>
                    <a:p>
                      <a:pPr algn="r" rtl="1">
                        <a:lnSpc>
                          <a:spcPct val="105000"/>
                        </a:lnSpc>
                      </a:pPr>
                      <a:r>
                        <a:rPr sz="800" b="0" dirty="0" err="1">
                          <a:solidFill>
                            <a:schemeClr val="tx1">
                              <a:lumMod val="65000"/>
                              <a:lumOff val="35000"/>
                            </a:schemeClr>
                          </a:solidFill>
                          <a:latin typeface="Yekan Bakh"/>
                          <a:cs typeface="Yekan Bakh"/>
                        </a:rPr>
                        <a:t>مدل</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تعامل</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مستند</a:t>
                      </a:r>
                      <a:r>
                        <a:rPr lang="fa-IR" sz="800" b="0" dirty="0">
                          <a:solidFill>
                            <a:schemeClr val="tx1">
                              <a:lumMod val="65000"/>
                              <a:lumOff val="35000"/>
                            </a:schemeClr>
                          </a:solidFill>
                          <a:latin typeface="Yekan Bakh"/>
                          <a:cs typeface="Yekan Bakh"/>
                        </a:rPr>
                        <a:t>:</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مشارکت</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مالی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خود</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اکوسیستم</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برای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هم‌راستایی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منافع</a:t>
                      </a:r>
                      <a:endParaRPr sz="800" b="0" dirty="0">
                        <a:solidFill>
                          <a:schemeClr val="tx1">
                            <a:lumMod val="65000"/>
                            <a:lumOff val="35000"/>
                          </a:schemeClr>
                        </a:solidFill>
                        <a:latin typeface="Yekan Bakh"/>
                        <a:cs typeface="Yekan Bakh"/>
                      </a:endParaRPr>
                    </a:p>
                  </a:txBody>
                  <a:tcPr marL="50800" marR="50800" marT="38100" marB="38100" anchor="ctr">
                    <a:solidFill>
                      <a:schemeClr val="bg1"/>
                    </a:solidFill>
                  </a:tcPr>
                </a:tc>
                <a:tc>
                  <a:txBody>
                    <a:bodyPr/>
                    <a:lstStyle/>
                    <a:p>
                      <a:pPr algn="r" rtl="1">
                        <a:lnSpc>
                          <a:spcPct val="105000"/>
                        </a:lnSpc>
                      </a:pPr>
                      <a:r>
                        <a:rPr sz="800" b="0" dirty="0" err="1">
                          <a:solidFill>
                            <a:schemeClr val="tx1">
                              <a:lumMod val="65000"/>
                              <a:lumOff val="35000"/>
                            </a:schemeClr>
                          </a:solidFill>
                          <a:latin typeface="Yekan Bakh"/>
                          <a:cs typeface="Yekan Bakh"/>
                        </a:rPr>
                        <a:t>پروفایل</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مستند</a:t>
                      </a:r>
                      <a:r>
                        <a:rPr lang="fa-IR" sz="800" b="0" dirty="0">
                          <a:solidFill>
                            <a:schemeClr val="tx1">
                              <a:lumMod val="65000"/>
                              <a:lumOff val="35000"/>
                            </a:schemeClr>
                          </a:solidFill>
                          <a:latin typeface="Yekan Bakh"/>
                          <a:cs typeface="Yekan Bakh"/>
                        </a:rPr>
                        <a:t>:</a:t>
                      </a:r>
                      <a:r>
                        <a:rPr lang="en-US" sz="800" b="0" dirty="0">
                          <a:solidFill>
                            <a:schemeClr val="tx1">
                              <a:lumMod val="65000"/>
                              <a:lumOff val="35000"/>
                            </a:schemeClr>
                          </a:solidFill>
                          <a:latin typeface="Yekan Bakh"/>
                          <a:cs typeface="Yekan Bakh"/>
                        </a:rPr>
                        <a:t> » </a:t>
                      </a:r>
                      <a:r>
                        <a:rPr sz="800" b="0" dirty="0" err="1">
                          <a:solidFill>
                            <a:schemeClr val="tx1">
                              <a:lumMod val="65000"/>
                              <a:lumOff val="35000"/>
                            </a:schemeClr>
                          </a:solidFill>
                          <a:latin typeface="Yekan Bakh"/>
                          <a:cs typeface="Yekan Bakh"/>
                        </a:rPr>
                        <a:t>فرآیندی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رسمی</a:t>
                      </a:r>
                      <a:r>
                        <a:rPr sz="800" b="0" dirty="0">
                          <a:solidFill>
                            <a:schemeClr val="tx1">
                              <a:lumMod val="65000"/>
                              <a:lumOff val="35000"/>
                            </a:schemeClr>
                          </a:solidFill>
                          <a:latin typeface="Yekan Bakh"/>
                          <a:cs typeface="Yekan Bakh"/>
                        </a:rPr>
                        <a:t> و </a:t>
                      </a:r>
                      <a:r>
                        <a:rPr sz="800" b="0" dirty="0" err="1">
                          <a:solidFill>
                            <a:schemeClr val="tx1">
                              <a:lumMod val="65000"/>
                              <a:lumOff val="35000"/>
                            </a:schemeClr>
                          </a:solidFill>
                          <a:latin typeface="Yekan Bakh"/>
                          <a:cs typeface="Yekan Bakh"/>
                        </a:rPr>
                        <a:t>چندمرحله‌ای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خود</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اکوسیستم</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نیز</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تقریباً</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به</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همان</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اندازه</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ارزیابی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می‌شود</a:t>
                      </a:r>
                      <a:r>
                        <a:rPr lang="fa-IR" sz="800" b="0" dirty="0">
                          <a:solidFill>
                            <a:srgbClr val="222222"/>
                          </a:solidFill>
                          <a:latin typeface="Yekan Bakh"/>
                          <a:cs typeface="Yekan Bakh"/>
                        </a:rPr>
                        <a:t>»</a:t>
                      </a:r>
                      <a:endParaRPr sz="800" b="0" dirty="0">
                        <a:solidFill>
                          <a:schemeClr val="tx1">
                            <a:lumMod val="65000"/>
                            <a:lumOff val="35000"/>
                          </a:schemeClr>
                        </a:solidFill>
                        <a:latin typeface="Yekan Bakh"/>
                        <a:cs typeface="Yekan Bakh"/>
                      </a:endParaRPr>
                    </a:p>
                  </a:txBody>
                  <a:tcPr marL="50800" marR="50800" marT="38100" marB="38100" anchor="ctr">
                    <a:solidFill>
                      <a:schemeClr val="bg1"/>
                    </a:solidFill>
                  </a:tcPr>
                </a:tc>
                <a:tc>
                  <a:txBody>
                    <a:bodyPr/>
                    <a:lstStyle/>
                    <a:p>
                      <a:pPr algn="r" rtl="1">
                        <a:lnSpc>
                          <a:spcPct val="105000"/>
                        </a:lnSpc>
                      </a:pPr>
                      <a:r>
                        <a:rPr sz="800" b="0" dirty="0" err="1">
                          <a:solidFill>
                            <a:schemeClr val="tx1">
                              <a:lumMod val="65000"/>
                              <a:lumOff val="35000"/>
                            </a:schemeClr>
                          </a:solidFill>
                          <a:latin typeface="Yekan Bakh"/>
                          <a:cs typeface="Yekan Bakh"/>
                        </a:rPr>
                        <a:t>پروفایل</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مستند</a:t>
                      </a:r>
                      <a:r>
                        <a:rPr lang="fa-IR" sz="800" b="0" dirty="0">
                          <a:solidFill>
                            <a:schemeClr val="tx1">
                              <a:lumMod val="65000"/>
                              <a:lumOff val="35000"/>
                            </a:schemeClr>
                          </a:solidFill>
                          <a:latin typeface="Yekan Bakh"/>
                          <a:cs typeface="Yekan Bakh"/>
                        </a:rPr>
                        <a:t>:</a:t>
                      </a:r>
                      <a:r>
                        <a:rPr lang="en-US" sz="800" b="0" dirty="0">
                          <a:solidFill>
                            <a:schemeClr val="tx1">
                              <a:lumMod val="65000"/>
                              <a:lumOff val="35000"/>
                            </a:schemeClr>
                          </a:solidFill>
                          <a:latin typeface="Yekan Bakh"/>
                          <a:cs typeface="Yekan Bakh"/>
                        </a:rPr>
                        <a:t> » </a:t>
                      </a:r>
                      <a:r>
                        <a:rPr sz="800" b="0" dirty="0" err="1">
                          <a:solidFill>
                            <a:schemeClr val="tx1">
                              <a:lumMod val="65000"/>
                              <a:lumOff val="35000"/>
                            </a:schemeClr>
                          </a:solidFill>
                          <a:latin typeface="Yekan Bakh"/>
                          <a:cs typeface="Yekan Bakh"/>
                        </a:rPr>
                        <a:t>دسترسی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به</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فرصت‌های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اختصاصی</a:t>
                      </a:r>
                      <a:r>
                        <a:rPr sz="800" b="0" dirty="0">
                          <a:solidFill>
                            <a:schemeClr val="tx1">
                              <a:lumMod val="65000"/>
                              <a:lumOff val="35000"/>
                            </a:schemeClr>
                          </a:solidFill>
                          <a:latin typeface="Yekan Bakh"/>
                          <a:cs typeface="Yekan Bakh"/>
                        </a:rPr>
                        <a:t> و </a:t>
                      </a:r>
                      <a:r>
                        <a:rPr sz="800" b="0" dirty="0" err="1">
                          <a:solidFill>
                            <a:schemeClr val="tx1">
                              <a:lumMod val="65000"/>
                              <a:lumOff val="35000"/>
                            </a:schemeClr>
                          </a:solidFill>
                          <a:latin typeface="Yekan Bakh"/>
                          <a:cs typeface="Yekan Bakh"/>
                        </a:rPr>
                        <a:t>غیرعمومی</a:t>
                      </a:r>
                      <a:r>
                        <a:rPr lang="fa-IR" sz="800" b="0" dirty="0">
                          <a:solidFill>
                            <a:srgbClr val="222222"/>
                          </a:solidFill>
                          <a:latin typeface="Yekan Bakh"/>
                          <a:cs typeface="Yekan Bakh"/>
                        </a:rPr>
                        <a:t>»</a:t>
                      </a:r>
                      <a:endParaRPr sz="800" b="0" dirty="0">
                        <a:solidFill>
                          <a:schemeClr val="tx1">
                            <a:lumMod val="65000"/>
                            <a:lumOff val="35000"/>
                          </a:schemeClr>
                        </a:solidFill>
                        <a:latin typeface="Yekan Bakh"/>
                        <a:cs typeface="Yekan Bakh"/>
                      </a:endParaRPr>
                    </a:p>
                    <a:p>
                      <a:pPr algn="r" rtl="1">
                        <a:lnSpc>
                          <a:spcPct val="105000"/>
                        </a:lnSpc>
                      </a:pPr>
                      <a:r>
                        <a:rPr sz="800" b="0" dirty="0" err="1">
                          <a:solidFill>
                            <a:schemeClr val="tx1">
                              <a:lumMod val="65000"/>
                              <a:lumOff val="35000"/>
                            </a:schemeClr>
                          </a:solidFill>
                          <a:latin typeface="Yekan Bakh"/>
                          <a:cs typeface="Yekan Bakh"/>
                        </a:rPr>
                        <a:t>یادداشت</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جلسه</a:t>
                      </a:r>
                      <a:r>
                        <a:rPr lang="fa-IR" sz="800" b="0" dirty="0">
                          <a:solidFill>
                            <a:schemeClr val="tx1">
                              <a:lumMod val="65000"/>
                              <a:lumOff val="35000"/>
                            </a:schemeClr>
                          </a:solidFill>
                          <a:latin typeface="Yekan Bakh"/>
                          <a:cs typeface="Yekan Bakh"/>
                        </a:rPr>
                        <a:t>:</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اولویت</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دیاسپورای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ایرانی</a:t>
                      </a:r>
                      <a:endParaRPr sz="800" b="0" dirty="0">
                        <a:solidFill>
                          <a:schemeClr val="tx1">
                            <a:lumMod val="65000"/>
                            <a:lumOff val="35000"/>
                          </a:schemeClr>
                        </a:solidFill>
                        <a:latin typeface="Yekan Bakh"/>
                        <a:cs typeface="Yekan Bakh"/>
                      </a:endParaRPr>
                    </a:p>
                  </a:txBody>
                  <a:tcPr marL="50800" marR="50800" marT="38100" marB="38100" anchor="ctr">
                    <a:solidFill>
                      <a:schemeClr val="bg1"/>
                    </a:solidFill>
                  </a:tcPr>
                </a:tc>
                <a:tc>
                  <a:txBody>
                    <a:bodyPr/>
                    <a:lstStyle/>
                    <a:p>
                      <a:pPr algn="ctr" rtl="1">
                        <a:lnSpc>
                          <a:spcPct val="105000"/>
                        </a:lnSpc>
                      </a:pPr>
                      <a:r>
                        <a:rPr lang="fa-IR" sz="1050" b="1" dirty="0">
                          <a:solidFill>
                            <a:srgbClr val="00406C"/>
                          </a:solidFill>
                          <a:latin typeface="Yekan Bakh"/>
                          <a:cs typeface="Yekan Bakh"/>
                        </a:rPr>
                        <a:t>شواهد پشتیبان</a:t>
                      </a:r>
                    </a:p>
                  </a:txBody>
                  <a:tcPr marL="50800" marR="50800" marT="38100" marB="38100" anchor="ctr">
                    <a:solidFill>
                      <a:schemeClr val="bg1"/>
                    </a:solidFill>
                  </a:tcPr>
                </a:tc>
                <a:extLst>
                  <a:ext uri="{0D108BD9-81ED-4DB2-BD59-A6C34878D82A}">
                    <a16:rowId xmlns:a16="http://schemas.microsoft.com/office/drawing/2014/main" val="10008"/>
                  </a:ext>
                </a:extLst>
              </a:tr>
            </a:tbl>
          </a:graphicData>
        </a:graphic>
      </p:graphicFrame>
      <p:sp>
        <p:nvSpPr>
          <p:cNvPr id="8" name="Rectangle 7">
            <a:extLst>
              <a:ext uri="{FF2B5EF4-FFF2-40B4-BE49-F238E27FC236}">
                <a16:creationId xmlns:a16="http://schemas.microsoft.com/office/drawing/2014/main" id="{4517A442-DDF5-0501-B511-1C71B4A60B6E}"/>
              </a:ext>
            </a:extLst>
          </p:cNvPr>
          <p:cNvSpPr/>
          <p:nvPr/>
        </p:nvSpPr>
        <p:spPr>
          <a:xfrm>
            <a:off x="457199" y="1918252"/>
            <a:ext cx="10786374" cy="3770270"/>
          </a:xfrm>
          <a:prstGeom prst="rect">
            <a:avLst/>
          </a:prstGeom>
          <a:no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0" name="Straight Connector 9">
            <a:extLst>
              <a:ext uri="{FF2B5EF4-FFF2-40B4-BE49-F238E27FC236}">
                <a16:creationId xmlns:a16="http://schemas.microsoft.com/office/drawing/2014/main" id="{3DD341FD-6526-3590-814C-3AAF62370714}"/>
              </a:ext>
            </a:extLst>
          </p:cNvPr>
          <p:cNvCxnSpPr/>
          <p:nvPr/>
        </p:nvCxnSpPr>
        <p:spPr>
          <a:xfrm>
            <a:off x="457199" y="1759226"/>
            <a:ext cx="10786374" cy="0"/>
          </a:xfrm>
          <a:prstGeom prst="line">
            <a:avLst/>
          </a:prstGeom>
          <a:ln w="6350">
            <a:prstDash val="dash"/>
          </a:ln>
        </p:spPr>
        <p:style>
          <a:lnRef idx="1">
            <a:schemeClr val="accent2"/>
          </a:lnRef>
          <a:fillRef idx="0">
            <a:schemeClr val="accent2"/>
          </a:fillRef>
          <a:effectRef idx="0">
            <a:schemeClr val="accent2"/>
          </a:effectRef>
          <a:fontRef idx="minor">
            <a:schemeClr val="tx1"/>
          </a:fontRef>
        </p:style>
      </p:cxnSp>
      <p:sp>
        <p:nvSpPr>
          <p:cNvPr id="5" name="Rectangle: Rounded Corners 4">
            <a:extLst>
              <a:ext uri="{FF2B5EF4-FFF2-40B4-BE49-F238E27FC236}">
                <a16:creationId xmlns:a16="http://schemas.microsoft.com/office/drawing/2014/main" id="{616A436B-7731-3720-177B-8FF5BC89B280}"/>
              </a:ext>
            </a:extLst>
          </p:cNvPr>
          <p:cNvSpPr/>
          <p:nvPr/>
        </p:nvSpPr>
        <p:spPr>
          <a:xfrm>
            <a:off x="10355343" y="1293039"/>
            <a:ext cx="888229" cy="396613"/>
          </a:xfrm>
          <a:prstGeom prst="roundRect">
            <a:avLst/>
          </a:prstGeom>
          <a:solidFill>
            <a:srgbClr val="F0BE0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fa-IR" sz="1100" b="1" dirty="0">
                <a:solidFill>
                  <a:schemeClr val="bg1"/>
                </a:solidFill>
                <a:latin typeface="Yekan Bakh" pitchFamily="2" charset="-78"/>
                <a:ea typeface="Yekan Bakh" pitchFamily="2" charset="-78"/>
                <a:cs typeface="Yekan Bakh" pitchFamily="2" charset="-78"/>
              </a:rPr>
              <a:t>نیاز محوری:</a:t>
            </a:r>
            <a:endParaRPr lang="en-GB" sz="1100" b="1" dirty="0">
              <a:solidFill>
                <a:schemeClr val="bg1"/>
              </a:solidFill>
              <a:latin typeface="Yekan Bakh" pitchFamily="2" charset="-78"/>
              <a:ea typeface="Yekan Bakh" pitchFamily="2" charset="-78"/>
              <a:cs typeface="Yekan Bakh" pitchFamily="2" charset="-78"/>
            </a:endParaRPr>
          </a:p>
        </p:txBody>
      </p:sp>
      <p:sp>
        <p:nvSpPr>
          <p:cNvPr id="11" name="Rectangle: Rounded Corners 10">
            <a:extLst>
              <a:ext uri="{FF2B5EF4-FFF2-40B4-BE49-F238E27FC236}">
                <a16:creationId xmlns:a16="http://schemas.microsoft.com/office/drawing/2014/main" id="{DE1D1142-6CB2-0CAE-3576-B4F842F91BD8}"/>
              </a:ext>
            </a:extLst>
          </p:cNvPr>
          <p:cNvSpPr/>
          <p:nvPr/>
        </p:nvSpPr>
        <p:spPr>
          <a:xfrm>
            <a:off x="5885669" y="1288069"/>
            <a:ext cx="4442795" cy="396613"/>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fa-IR" sz="1000" dirty="0">
                <a:solidFill>
                  <a:schemeClr val="tx1">
                    <a:lumMod val="65000"/>
                    <a:lumOff val="35000"/>
                  </a:schemeClr>
                </a:solidFill>
                <a:latin typeface="Yekan Bakh" pitchFamily="2" charset="-78"/>
                <a:ea typeface="Yekan Bakh" pitchFamily="2" charset="-78"/>
                <a:cs typeface="Yekan Bakh" pitchFamily="2" charset="-78"/>
              </a:rPr>
              <a:t>دسترسی به فرصت سرمایه‌گذاری ارزیابی‌شده و اختصاصی</a:t>
            </a:r>
            <a:endParaRPr lang="en-GB" sz="1000" dirty="0">
              <a:solidFill>
                <a:schemeClr val="tx1">
                  <a:lumMod val="65000"/>
                  <a:lumOff val="35000"/>
                </a:schemeClr>
              </a:solidFill>
              <a:latin typeface="Yekan Bakh" pitchFamily="2" charset="-78"/>
              <a:ea typeface="Yekan Bakh" pitchFamily="2" charset="-78"/>
              <a:cs typeface="Yekan Bakh" pitchFamily="2" charset="-78"/>
            </a:endParaRPr>
          </a:p>
        </p:txBody>
      </p:sp>
      <p:sp>
        <p:nvSpPr>
          <p:cNvPr id="20" name="Rectangle: Rounded Corners 19">
            <a:extLst>
              <a:ext uri="{FF2B5EF4-FFF2-40B4-BE49-F238E27FC236}">
                <a16:creationId xmlns:a16="http://schemas.microsoft.com/office/drawing/2014/main" id="{ED7DD0F1-F0F6-2064-0AC2-CC050483D2E3}"/>
              </a:ext>
            </a:extLst>
          </p:cNvPr>
          <p:cNvSpPr/>
          <p:nvPr/>
        </p:nvSpPr>
        <p:spPr>
          <a:xfrm>
            <a:off x="457199" y="1288069"/>
            <a:ext cx="4156520" cy="396613"/>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fa-IR" sz="1000" dirty="0">
                <a:solidFill>
                  <a:schemeClr val="tx1">
                    <a:lumMod val="65000"/>
                    <a:lumOff val="35000"/>
                  </a:schemeClr>
                </a:solidFill>
                <a:latin typeface="Yekan Bakh" pitchFamily="2" charset="-78"/>
                <a:ea typeface="Yekan Bakh" pitchFamily="2" charset="-78"/>
                <a:cs typeface="Yekan Bakh" pitchFamily="2" charset="-78"/>
              </a:rPr>
              <a:t>فرآیند رسمی چندمرحله‌ای</a:t>
            </a:r>
            <a:endParaRPr lang="en-GB" sz="1000" dirty="0">
              <a:solidFill>
                <a:schemeClr val="tx1">
                  <a:lumMod val="65000"/>
                  <a:lumOff val="35000"/>
                </a:schemeClr>
              </a:solidFill>
              <a:latin typeface="Yekan Bakh" pitchFamily="2" charset="-78"/>
              <a:ea typeface="Yekan Bakh" pitchFamily="2" charset="-78"/>
              <a:cs typeface="Yekan Bakh" pitchFamily="2" charset="-78"/>
            </a:endParaRPr>
          </a:p>
        </p:txBody>
      </p:sp>
      <p:sp>
        <p:nvSpPr>
          <p:cNvPr id="23" name="Rectangle: Rounded Corners 22">
            <a:extLst>
              <a:ext uri="{FF2B5EF4-FFF2-40B4-BE49-F238E27FC236}">
                <a16:creationId xmlns:a16="http://schemas.microsoft.com/office/drawing/2014/main" id="{4378BFD4-5B01-EC8E-0A7D-B1A18331FCBD}"/>
              </a:ext>
            </a:extLst>
          </p:cNvPr>
          <p:cNvSpPr/>
          <p:nvPr/>
        </p:nvSpPr>
        <p:spPr>
          <a:xfrm>
            <a:off x="4649002" y="1293039"/>
            <a:ext cx="1201384" cy="396613"/>
          </a:xfrm>
          <a:prstGeom prst="roundRect">
            <a:avLst/>
          </a:prstGeom>
          <a:solidFill>
            <a:srgbClr val="F0BE0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fa-IR" sz="1100" b="1" dirty="0">
                <a:solidFill>
                  <a:schemeClr val="bg1"/>
                </a:solidFill>
                <a:latin typeface="Yekan Bakh" pitchFamily="2" charset="-78"/>
                <a:ea typeface="Yekan Bakh" pitchFamily="2" charset="-78"/>
                <a:cs typeface="Yekan Bakh" pitchFamily="2" charset="-78"/>
              </a:rPr>
              <a:t>رفتار:</a:t>
            </a:r>
          </a:p>
        </p:txBody>
      </p:sp>
    </p:spTree>
    <p:extLst>
      <p:ext uri="{BB962C8B-B14F-4D97-AF65-F5344CB8AC3E}">
        <p14:creationId xmlns:p14="http://schemas.microsoft.com/office/powerpoint/2010/main" val="17934927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301B7FD-7746-C655-22C6-0925B37C724F}"/>
              </a:ext>
            </a:extLst>
          </p:cNvPr>
          <p:cNvSpPr>
            <a:spLocks noGrp="1"/>
          </p:cNvSpPr>
          <p:nvPr>
            <p:ph type="body" sz="quarter" idx="10"/>
          </p:nvPr>
        </p:nvSpPr>
        <p:spPr/>
        <p:txBody>
          <a:bodyPr/>
          <a:lstStyle/>
          <a:p>
            <a:r>
              <a:rPr lang="fa-IR" dirty="0"/>
              <a:t>تحلیل عمیق کانال — مسیر </a:t>
            </a:r>
            <a:r>
              <a:rPr lang="en-GB" dirty="0"/>
              <a:t>B</a:t>
            </a:r>
          </a:p>
        </p:txBody>
      </p:sp>
      <p:sp>
        <p:nvSpPr>
          <p:cNvPr id="3" name="Text Placeholder 2">
            <a:extLst>
              <a:ext uri="{FF2B5EF4-FFF2-40B4-BE49-F238E27FC236}">
                <a16:creationId xmlns:a16="http://schemas.microsoft.com/office/drawing/2014/main" id="{07CC83AF-31C5-574F-AB22-CD1F147FC2FB}"/>
              </a:ext>
            </a:extLst>
          </p:cNvPr>
          <p:cNvSpPr>
            <a:spLocks noGrp="1"/>
          </p:cNvSpPr>
          <p:nvPr>
            <p:ph type="body" sz="quarter" idx="12"/>
          </p:nvPr>
        </p:nvSpPr>
        <p:spPr/>
        <p:txBody>
          <a:bodyPr/>
          <a:lstStyle/>
          <a:p>
            <a:r>
              <a:rPr lang="fa-IR" dirty="0"/>
              <a:t>کانال‌های معرف</a:t>
            </a:r>
            <a:r>
              <a:rPr lang="en-GB" dirty="0"/>
              <a:t>Enabler </a:t>
            </a:r>
            <a:r>
              <a:rPr lang="fa-IR" dirty="0"/>
              <a:t> / (غیرمشتری)</a:t>
            </a:r>
          </a:p>
        </p:txBody>
      </p:sp>
      <p:cxnSp>
        <p:nvCxnSpPr>
          <p:cNvPr id="5" name="Straight Connector 4">
            <a:extLst>
              <a:ext uri="{FF2B5EF4-FFF2-40B4-BE49-F238E27FC236}">
                <a16:creationId xmlns:a16="http://schemas.microsoft.com/office/drawing/2014/main" id="{9278155C-7DC8-F21A-50E5-F106DFF104EF}"/>
              </a:ext>
            </a:extLst>
          </p:cNvPr>
          <p:cNvCxnSpPr/>
          <p:nvPr/>
        </p:nvCxnSpPr>
        <p:spPr>
          <a:xfrm>
            <a:off x="457199" y="1759226"/>
            <a:ext cx="10786374" cy="0"/>
          </a:xfrm>
          <a:prstGeom prst="line">
            <a:avLst/>
          </a:prstGeom>
          <a:ln w="6350">
            <a:prstDash val="dash"/>
          </a:ln>
        </p:spPr>
        <p:style>
          <a:lnRef idx="1">
            <a:schemeClr val="accent2"/>
          </a:lnRef>
          <a:fillRef idx="0">
            <a:schemeClr val="accent2"/>
          </a:fillRef>
          <a:effectRef idx="0">
            <a:schemeClr val="accent2"/>
          </a:effectRef>
          <a:fontRef idx="minor">
            <a:schemeClr val="tx1"/>
          </a:fontRef>
        </p:style>
      </p:cxnSp>
      <p:sp>
        <p:nvSpPr>
          <p:cNvPr id="6" name="Rectangle: Rounded Corners 5">
            <a:extLst>
              <a:ext uri="{FF2B5EF4-FFF2-40B4-BE49-F238E27FC236}">
                <a16:creationId xmlns:a16="http://schemas.microsoft.com/office/drawing/2014/main" id="{94FBFB55-419E-5171-D6D1-95B4CA14F4D5}"/>
              </a:ext>
            </a:extLst>
          </p:cNvPr>
          <p:cNvSpPr/>
          <p:nvPr/>
        </p:nvSpPr>
        <p:spPr>
          <a:xfrm>
            <a:off x="457199" y="1293039"/>
            <a:ext cx="10786374" cy="396613"/>
          </a:xfrm>
          <a:prstGeom prst="roundRect">
            <a:avLst/>
          </a:prstGeom>
          <a:solidFill>
            <a:srgbClr val="F0BE0F">
              <a:alpha val="17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fa-IR" sz="1100" b="1" dirty="0">
                <a:solidFill>
                  <a:srgbClr val="00406C"/>
                </a:solidFill>
                <a:latin typeface="Yekan Bakh" pitchFamily="2" charset="-78"/>
                <a:ea typeface="Yekan Bakh" pitchFamily="2" charset="-78"/>
                <a:cs typeface="Yekan Bakh" pitchFamily="2" charset="-78"/>
              </a:rPr>
              <a:t>بازیگرانی که در بلوک بخش‌بندی مشتریان صراحتاً » غیرمشتری، اما کاندید کانال جذب» تعیین شده اند</a:t>
            </a:r>
          </a:p>
        </p:txBody>
      </p:sp>
      <p:graphicFrame>
        <p:nvGraphicFramePr>
          <p:cNvPr id="10" name="Table 9">
            <a:extLst>
              <a:ext uri="{FF2B5EF4-FFF2-40B4-BE49-F238E27FC236}">
                <a16:creationId xmlns:a16="http://schemas.microsoft.com/office/drawing/2014/main" id="{B9D1CD77-EDC8-9E1D-BB21-CD267E31C9AC}"/>
              </a:ext>
            </a:extLst>
          </p:cNvPr>
          <p:cNvGraphicFramePr>
            <a:graphicFrameLocks noGrp="1"/>
          </p:cNvGraphicFramePr>
          <p:nvPr>
            <p:extLst>
              <p:ext uri="{D42A27DB-BD31-4B8C-83A1-F6EECF244321}">
                <p14:modId xmlns:p14="http://schemas.microsoft.com/office/powerpoint/2010/main" val="4066710880"/>
              </p:ext>
            </p:extLst>
          </p:nvPr>
        </p:nvGraphicFramePr>
        <p:xfrm>
          <a:off x="457200" y="1918253"/>
          <a:ext cx="10788651" cy="3240155"/>
        </p:xfrm>
        <a:graphic>
          <a:graphicData uri="http://schemas.openxmlformats.org/drawingml/2006/table">
            <a:tbl>
              <a:tblPr firstRow="1" bandRow="1">
                <a:tableStyleId>{5C22544A-7EE6-4342-B048-85BDC9FD1C3A}</a:tableStyleId>
              </a:tblPr>
              <a:tblGrid>
                <a:gridCol w="2718381">
                  <a:extLst>
                    <a:ext uri="{9D8B030D-6E8A-4147-A177-3AD203B41FA5}">
                      <a16:colId xmlns:a16="http://schemas.microsoft.com/office/drawing/2014/main" val="1856498572"/>
                    </a:ext>
                  </a:extLst>
                </a:gridCol>
                <a:gridCol w="2718381">
                  <a:extLst>
                    <a:ext uri="{9D8B030D-6E8A-4147-A177-3AD203B41FA5}">
                      <a16:colId xmlns:a16="http://schemas.microsoft.com/office/drawing/2014/main" val="2153719814"/>
                    </a:ext>
                  </a:extLst>
                </a:gridCol>
                <a:gridCol w="2718381">
                  <a:extLst>
                    <a:ext uri="{9D8B030D-6E8A-4147-A177-3AD203B41FA5}">
                      <a16:colId xmlns:a16="http://schemas.microsoft.com/office/drawing/2014/main" val="2703744532"/>
                    </a:ext>
                  </a:extLst>
                </a:gridCol>
                <a:gridCol w="2633508">
                  <a:extLst>
                    <a:ext uri="{9D8B030D-6E8A-4147-A177-3AD203B41FA5}">
                      <a16:colId xmlns:a16="http://schemas.microsoft.com/office/drawing/2014/main" val="20000"/>
                    </a:ext>
                  </a:extLst>
                </a:gridCol>
              </a:tblGrid>
              <a:tr h="540025">
                <a:tc>
                  <a:txBody>
                    <a:bodyPr/>
                    <a:lstStyle/>
                    <a:p>
                      <a:pPr algn="ctr" rtl="1">
                        <a:lnSpc>
                          <a:spcPct val="105000"/>
                        </a:lnSpc>
                      </a:pPr>
                      <a:r>
                        <a:rPr sz="1100" b="1" dirty="0" err="1">
                          <a:solidFill>
                            <a:srgbClr val="FFFFFF"/>
                          </a:solidFill>
                          <a:latin typeface="Yekan Bakh"/>
                          <a:cs typeface="Yekan Bakh"/>
                        </a:rPr>
                        <a:t>مکانیزم</a:t>
                      </a:r>
                      <a:r>
                        <a:rPr sz="1100" b="1" dirty="0">
                          <a:solidFill>
                            <a:srgbClr val="FFFFFF"/>
                          </a:solidFill>
                          <a:latin typeface="Yekan Bakh"/>
                          <a:cs typeface="Yekan Bakh"/>
                        </a:rPr>
                        <a:t> / </a:t>
                      </a:r>
                      <a:r>
                        <a:rPr sz="1100" b="1" dirty="0" err="1">
                          <a:solidFill>
                            <a:srgbClr val="FFFFFF"/>
                          </a:solidFill>
                          <a:latin typeface="Yekan Bakh"/>
                          <a:cs typeface="Yekan Bakh"/>
                        </a:rPr>
                        <a:t>محدودیت</a:t>
                      </a:r>
                      <a:r>
                        <a:rPr sz="1100" b="1" dirty="0">
                          <a:solidFill>
                            <a:srgbClr val="FFFFFF"/>
                          </a:solidFill>
                          <a:latin typeface="Yekan Bakh"/>
                          <a:cs typeface="Yekan Bakh"/>
                        </a:rPr>
                        <a:t> / </a:t>
                      </a:r>
                      <a:r>
                        <a:rPr sz="1100" b="1" dirty="0" err="1">
                          <a:solidFill>
                            <a:srgbClr val="FFFFFF"/>
                          </a:solidFill>
                          <a:latin typeface="Yekan Bakh"/>
                          <a:cs typeface="Yekan Bakh"/>
                        </a:rPr>
                        <a:t>اقدام</a:t>
                      </a:r>
                      <a:endParaRPr sz="1100" b="1" dirty="0">
                        <a:solidFill>
                          <a:srgbClr val="FFFFFF"/>
                        </a:solidFill>
                        <a:latin typeface="Yekan Bakh"/>
                        <a:cs typeface="Yekan Bakh"/>
                      </a:endParaRPr>
                    </a:p>
                  </a:txBody>
                  <a:tcPr marL="50800" marR="50800" marT="38100" marB="38100" anchor="ctr">
                    <a:solidFill>
                      <a:srgbClr val="1E2761"/>
                    </a:solidFill>
                  </a:tcPr>
                </a:tc>
                <a:tc>
                  <a:txBody>
                    <a:bodyPr/>
                    <a:lstStyle/>
                    <a:p>
                      <a:pPr algn="ctr" rtl="1">
                        <a:lnSpc>
                          <a:spcPct val="105000"/>
                        </a:lnSpc>
                      </a:pPr>
                      <a:r>
                        <a:rPr sz="1100" b="1" dirty="0" err="1">
                          <a:solidFill>
                            <a:srgbClr val="FFFFFF"/>
                          </a:solidFill>
                          <a:latin typeface="Yekan Bakh"/>
                          <a:cs typeface="Yekan Bakh"/>
                        </a:rPr>
                        <a:t>نوع</a:t>
                      </a:r>
                      <a:endParaRPr sz="1100" b="1" dirty="0">
                        <a:solidFill>
                          <a:srgbClr val="FFFFFF"/>
                        </a:solidFill>
                        <a:latin typeface="Yekan Bakh"/>
                        <a:cs typeface="Yekan Bakh"/>
                      </a:endParaRPr>
                    </a:p>
                  </a:txBody>
                  <a:tcPr marL="50800" marR="50800" marT="38100" marB="38100" anchor="ctr">
                    <a:solidFill>
                      <a:srgbClr val="1E2761"/>
                    </a:solidFill>
                  </a:tcPr>
                </a:tc>
                <a:tc>
                  <a:txBody>
                    <a:bodyPr/>
                    <a:lstStyle/>
                    <a:p>
                      <a:pPr algn="ctr" rtl="1">
                        <a:lnSpc>
                          <a:spcPct val="105000"/>
                        </a:lnSpc>
                      </a:pPr>
                      <a:r>
                        <a:rPr sz="1100" b="1" dirty="0" err="1">
                          <a:solidFill>
                            <a:srgbClr val="FFFFFF"/>
                          </a:solidFill>
                          <a:latin typeface="Yekan Bakh"/>
                          <a:cs typeface="Yekan Bakh"/>
                        </a:rPr>
                        <a:t>نقش</a:t>
                      </a:r>
                      <a:r>
                        <a:rPr sz="1100" b="1" dirty="0">
                          <a:solidFill>
                            <a:srgbClr val="FFFFFF"/>
                          </a:solidFill>
                          <a:latin typeface="Yekan Bakh"/>
                          <a:cs typeface="Yekan Bakh"/>
                        </a:rPr>
                        <a:t> </a:t>
                      </a:r>
                      <a:r>
                        <a:rPr sz="1100" b="1" dirty="0" err="1">
                          <a:solidFill>
                            <a:srgbClr val="FFFFFF"/>
                          </a:solidFill>
                          <a:latin typeface="Yekan Bakh"/>
                          <a:cs typeface="Yekan Bakh"/>
                        </a:rPr>
                        <a:t>کانال</a:t>
                      </a:r>
                      <a:endParaRPr sz="1100" b="1" dirty="0">
                        <a:solidFill>
                          <a:srgbClr val="FFFFFF"/>
                        </a:solidFill>
                        <a:latin typeface="Yekan Bakh"/>
                        <a:cs typeface="Yekan Bakh"/>
                      </a:endParaRPr>
                    </a:p>
                  </a:txBody>
                  <a:tcPr marL="50800" marR="50800" marT="38100" marB="38100" anchor="ctr">
                    <a:solidFill>
                      <a:srgbClr val="1E2761"/>
                    </a:solidFill>
                  </a:tcPr>
                </a:tc>
                <a:tc>
                  <a:txBody>
                    <a:bodyPr/>
                    <a:lstStyle/>
                    <a:p>
                      <a:pPr algn="ctr" rtl="1">
                        <a:lnSpc>
                          <a:spcPct val="105000"/>
                        </a:lnSpc>
                      </a:pPr>
                      <a:r>
                        <a:rPr sz="1100" b="1" dirty="0" err="1">
                          <a:solidFill>
                            <a:srgbClr val="FFFFFF"/>
                          </a:solidFill>
                          <a:latin typeface="Yekan Bakh"/>
                          <a:cs typeface="Yekan Bakh"/>
                        </a:rPr>
                        <a:t>بازیگر</a:t>
                      </a:r>
                      <a:endParaRPr sz="1100" b="1" dirty="0">
                        <a:solidFill>
                          <a:srgbClr val="FFFFFF"/>
                        </a:solidFill>
                        <a:latin typeface="Yekan Bakh"/>
                        <a:cs typeface="Yekan Bakh"/>
                      </a:endParaRPr>
                    </a:p>
                  </a:txBody>
                  <a:tcPr marL="50800" marR="50800" marT="38100" marB="38100" anchor="ctr">
                    <a:solidFill>
                      <a:srgbClr val="1E2761"/>
                    </a:solidFill>
                  </a:tcPr>
                </a:tc>
                <a:extLst>
                  <a:ext uri="{0D108BD9-81ED-4DB2-BD59-A6C34878D82A}">
                    <a16:rowId xmlns:a16="http://schemas.microsoft.com/office/drawing/2014/main" val="10000"/>
                  </a:ext>
                </a:extLst>
              </a:tr>
              <a:tr h="540025">
                <a:tc>
                  <a:txBody>
                    <a:bodyPr/>
                    <a:lstStyle/>
                    <a:p>
                      <a:pPr algn="ctr" rtl="1">
                        <a:lnSpc>
                          <a:spcPct val="105000"/>
                        </a:lnSpc>
                      </a:pPr>
                      <a:r>
                        <a:rPr sz="800" b="0" dirty="0" err="1">
                          <a:solidFill>
                            <a:schemeClr val="tx1">
                              <a:lumMod val="65000"/>
                              <a:lumOff val="35000"/>
                            </a:schemeClr>
                          </a:solidFill>
                          <a:latin typeface="Yekan Bakh"/>
                          <a:cs typeface="Yekan Bakh"/>
                        </a:rPr>
                        <a:t>مکانیزم</a:t>
                      </a:r>
                      <a:r>
                        <a:rPr lang="fa-IR" sz="800" b="0" dirty="0">
                          <a:solidFill>
                            <a:schemeClr val="tx1">
                              <a:lumMod val="65000"/>
                              <a:lumOff val="35000"/>
                            </a:schemeClr>
                          </a:solidFill>
                          <a:latin typeface="Yekan Bakh"/>
                          <a:cs typeface="Yekan Bakh"/>
                        </a:rPr>
                        <a:t>:</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اعتبار</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نهادی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صنفی</a:t>
                      </a:r>
                      <a:endParaRPr lang="fa-IR" sz="800" b="0" dirty="0">
                        <a:solidFill>
                          <a:schemeClr val="tx1">
                            <a:lumMod val="65000"/>
                            <a:lumOff val="35000"/>
                          </a:schemeClr>
                        </a:solidFill>
                        <a:latin typeface="Yekan Bakh"/>
                        <a:cs typeface="Yekan Bakh"/>
                      </a:endParaRPr>
                    </a:p>
                    <a:p>
                      <a:pPr algn="ctr" rtl="1">
                        <a:lnSpc>
                          <a:spcPct val="105000"/>
                        </a:lnSpc>
                      </a:pPr>
                      <a:r>
                        <a:rPr sz="800" b="0" dirty="0" err="1">
                          <a:solidFill>
                            <a:schemeClr val="tx1">
                              <a:lumMod val="65000"/>
                              <a:lumOff val="35000"/>
                            </a:schemeClr>
                          </a:solidFill>
                          <a:latin typeface="Yekan Bakh"/>
                          <a:cs typeface="Yekan Bakh"/>
                        </a:rPr>
                        <a:t>اقدام</a:t>
                      </a:r>
                      <a:r>
                        <a:rPr lang="fa-IR" sz="800" b="0" dirty="0">
                          <a:solidFill>
                            <a:schemeClr val="tx1">
                              <a:lumMod val="65000"/>
                              <a:lumOff val="35000"/>
                            </a:schemeClr>
                          </a:solidFill>
                          <a:latin typeface="Yekan Bakh"/>
                          <a:cs typeface="Yekan Bakh"/>
                        </a:rPr>
                        <a:t>:</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تفاهم‌نامه</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معرفی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رسمی</a:t>
                      </a:r>
                      <a:r>
                        <a:rPr sz="800" b="0" dirty="0">
                          <a:solidFill>
                            <a:schemeClr val="tx1">
                              <a:lumMod val="65000"/>
                              <a:lumOff val="35000"/>
                            </a:schemeClr>
                          </a:solidFill>
                          <a:latin typeface="Yekan Bakh"/>
                          <a:cs typeface="Yekan Bakh"/>
                        </a:rPr>
                        <a:t>.</a:t>
                      </a:r>
                      <a:r>
                        <a:rPr lang="fa-I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مستند</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در</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نقشه</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بازیگران</a:t>
                      </a:r>
                      <a:r>
                        <a:rPr lang="fa-IR" sz="800" b="0" dirty="0">
                          <a:solidFill>
                            <a:schemeClr val="tx1">
                              <a:lumMod val="65000"/>
                              <a:lumOff val="35000"/>
                            </a:schemeClr>
                          </a:solidFill>
                          <a:latin typeface="Yekan Bakh"/>
                          <a:cs typeface="Yekan Bakh"/>
                        </a:rPr>
                        <a:t>:</a:t>
                      </a:r>
                      <a:r>
                        <a:rPr lang="en-US" sz="800" b="0" dirty="0">
                          <a:solidFill>
                            <a:schemeClr val="tx1">
                              <a:lumMod val="65000"/>
                              <a:lumOff val="35000"/>
                            </a:schemeClr>
                          </a:solidFill>
                          <a:latin typeface="Yekan Bakh"/>
                          <a:cs typeface="Yekan Bakh"/>
                        </a:rPr>
                        <a:t> » </a:t>
                      </a:r>
                      <a:r>
                        <a:rPr sz="800" b="0" dirty="0" err="1">
                          <a:solidFill>
                            <a:schemeClr val="tx1">
                              <a:lumMod val="65000"/>
                              <a:lumOff val="35000"/>
                            </a:schemeClr>
                          </a:solidFill>
                          <a:latin typeface="Yekan Bakh"/>
                          <a:cs typeface="Yekan Bakh"/>
                        </a:rPr>
                        <a:t>کانال</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ارتباطی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کم‌هزینه</a:t>
                      </a:r>
                      <a:r>
                        <a:rPr lang="fa-IR" sz="800" b="0" dirty="0">
                          <a:solidFill>
                            <a:srgbClr val="222222"/>
                          </a:solidFill>
                          <a:latin typeface="Yekan Bakh"/>
                          <a:cs typeface="Yekan Bakh"/>
                        </a:rPr>
                        <a:t>»</a:t>
                      </a:r>
                      <a:endParaRPr sz="800" b="0" dirty="0">
                        <a:solidFill>
                          <a:schemeClr val="tx1">
                            <a:lumMod val="65000"/>
                            <a:lumOff val="35000"/>
                          </a:schemeClr>
                        </a:solidFill>
                        <a:latin typeface="Yekan Bakh"/>
                        <a:cs typeface="Yekan Bakh"/>
                      </a:endParaRPr>
                    </a:p>
                  </a:txBody>
                  <a:tcPr marL="50800" marR="50800" marT="38100" marB="38100" anchor="ctr">
                    <a:solidFill>
                      <a:srgbClr val="FFFFFF"/>
                    </a:solidFill>
                  </a:tcPr>
                </a:tc>
                <a:tc>
                  <a:txBody>
                    <a:bodyPr/>
                    <a:lstStyle/>
                    <a:p>
                      <a:pPr algn="ctr" rtl="1">
                        <a:lnSpc>
                          <a:spcPct val="105000"/>
                        </a:lnSpc>
                      </a:pPr>
                      <a:r>
                        <a:rPr lang="fa-IR" sz="800" b="0" dirty="0">
                          <a:solidFill>
                            <a:schemeClr val="tx1">
                              <a:lumMod val="65000"/>
                              <a:lumOff val="35000"/>
                            </a:schemeClr>
                          </a:solidFill>
                          <a:latin typeface="Yekan Bakh"/>
                          <a:cs typeface="Yekan Bakh"/>
                        </a:rPr>
                        <a:t>کانال بیرونی + کانال پولی </a:t>
                      </a:r>
                      <a:endParaRPr sz="800" b="0" dirty="0">
                        <a:solidFill>
                          <a:schemeClr val="tx1">
                            <a:lumMod val="65000"/>
                            <a:lumOff val="35000"/>
                          </a:schemeClr>
                        </a:solidFill>
                        <a:latin typeface="Yekan Bakh"/>
                        <a:cs typeface="Yekan Bakh"/>
                      </a:endParaRPr>
                    </a:p>
                  </a:txBody>
                  <a:tcPr marL="50800" marR="50800" marT="38100" marB="38100" anchor="ctr">
                    <a:solidFill>
                      <a:srgbClr val="FFFFFF"/>
                    </a:solidFill>
                  </a:tcPr>
                </a:tc>
                <a:tc>
                  <a:txBody>
                    <a:bodyPr/>
                    <a:lstStyle/>
                    <a:p>
                      <a:pPr algn="ctr" rtl="1">
                        <a:lnSpc>
                          <a:spcPct val="105000"/>
                        </a:lnSpc>
                      </a:pPr>
                      <a:r>
                        <a:rPr sz="800" b="0" dirty="0" err="1">
                          <a:solidFill>
                            <a:schemeClr val="tx1">
                              <a:lumMod val="65000"/>
                              <a:lumOff val="35000"/>
                            </a:schemeClr>
                          </a:solidFill>
                          <a:latin typeface="Yekan Bakh"/>
                          <a:cs typeface="Yekan Bakh"/>
                        </a:rPr>
                        <a:t>غربالگری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اولیه</a:t>
                      </a:r>
                      <a:r>
                        <a:rPr sz="800" b="0" dirty="0">
                          <a:solidFill>
                            <a:schemeClr val="tx1">
                              <a:lumMod val="65000"/>
                              <a:lumOff val="35000"/>
                            </a:schemeClr>
                          </a:solidFill>
                          <a:latin typeface="Yekan Bakh"/>
                          <a:cs typeface="Yekan Bakh"/>
                        </a:rPr>
                        <a:t> و </a:t>
                      </a:r>
                      <a:r>
                        <a:rPr sz="800" b="0" dirty="0" err="1">
                          <a:solidFill>
                            <a:schemeClr val="tx1">
                              <a:lumMod val="65000"/>
                              <a:lumOff val="35000"/>
                            </a:schemeClr>
                          </a:solidFill>
                          <a:latin typeface="Yekan Bakh"/>
                          <a:cs typeface="Yekan Bakh"/>
                        </a:rPr>
                        <a:t>معرفی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کم‌هزینه</a:t>
                      </a:r>
                      <a:r>
                        <a:rPr sz="800" b="0" dirty="0">
                          <a:solidFill>
                            <a:schemeClr val="tx1">
                              <a:lumMod val="65000"/>
                              <a:lumOff val="35000"/>
                            </a:schemeClr>
                          </a:solidFill>
                          <a:latin typeface="Yekan Bakh"/>
                          <a:cs typeface="Yekan Bakh"/>
                        </a:rPr>
                        <a:t> — </a:t>
                      </a:r>
                      <a:r>
                        <a:rPr sz="800" b="0" dirty="0" err="1">
                          <a:solidFill>
                            <a:schemeClr val="tx1">
                              <a:lumMod val="65000"/>
                              <a:lumOff val="35000"/>
                            </a:schemeClr>
                          </a:solidFill>
                          <a:latin typeface="Yekan Bakh"/>
                          <a:cs typeface="Yekan Bakh"/>
                        </a:rPr>
                        <a:t>عمدتاً</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برای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پرسونا</a:t>
                      </a:r>
                      <a:r>
                        <a:rPr sz="800" b="0" dirty="0">
                          <a:solidFill>
                            <a:schemeClr val="tx1">
                              <a:lumMod val="65000"/>
                              <a:lumOff val="35000"/>
                            </a:schemeClr>
                          </a:solidFill>
                          <a:latin typeface="Yekan Bakh"/>
                          <a:cs typeface="Yekan Bakh"/>
                        </a:rPr>
                        <a:t> ۱ (</a:t>
                      </a:r>
                      <a:r>
                        <a:rPr sz="800" b="0" dirty="0" err="1">
                          <a:solidFill>
                            <a:schemeClr val="tx1">
                              <a:lumMod val="65000"/>
                              <a:lumOff val="35000"/>
                            </a:schemeClr>
                          </a:solidFill>
                          <a:latin typeface="Yekan Bakh"/>
                          <a:cs typeface="Yekan Bakh"/>
                        </a:rPr>
                        <a:t>تراز</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ایرانی</a:t>
                      </a:r>
                      <a:r>
                        <a:rPr sz="800" b="0" dirty="0">
                          <a:solidFill>
                            <a:schemeClr val="tx1">
                              <a:lumMod val="65000"/>
                              <a:lumOff val="35000"/>
                            </a:schemeClr>
                          </a:solidFill>
                          <a:latin typeface="Yekan Bakh"/>
                          <a:cs typeface="Yekan Bakh"/>
                        </a:rPr>
                        <a:t>) و ۳ (</a:t>
                      </a:r>
                      <a:r>
                        <a:rPr sz="800" b="0" dirty="0" err="1">
                          <a:solidFill>
                            <a:schemeClr val="tx1">
                              <a:lumMod val="65000"/>
                              <a:lumOff val="35000"/>
                            </a:schemeClr>
                          </a:solidFill>
                          <a:latin typeface="Yekan Bakh"/>
                          <a:cs typeface="Yekan Bakh"/>
                        </a:rPr>
                        <a:t>مشتاق</a:t>
                      </a:r>
                      <a:r>
                        <a:rPr sz="800" b="0" dirty="0">
                          <a:solidFill>
                            <a:schemeClr val="tx1">
                              <a:lumMod val="65000"/>
                              <a:lumOff val="35000"/>
                            </a:schemeClr>
                          </a:solidFill>
                          <a:latin typeface="Yekan Bakh"/>
                          <a:cs typeface="Yekan Bakh"/>
                        </a:rPr>
                        <a:t>)</a:t>
                      </a:r>
                    </a:p>
                  </a:txBody>
                  <a:tcPr marL="50800" marR="50800" marT="38100" marB="38100" anchor="ctr">
                    <a:solidFill>
                      <a:srgbClr val="FFFFFF"/>
                    </a:solidFill>
                  </a:tcPr>
                </a:tc>
                <a:tc>
                  <a:txBody>
                    <a:bodyPr/>
                    <a:lstStyle/>
                    <a:p>
                      <a:pPr algn="ctr" rtl="1">
                        <a:lnSpc>
                          <a:spcPct val="105000"/>
                        </a:lnSpc>
                      </a:pPr>
                      <a:r>
                        <a:rPr sz="1050" b="1" dirty="0" err="1">
                          <a:solidFill>
                            <a:srgbClr val="00406C"/>
                          </a:solidFill>
                          <a:latin typeface="Yekan Bakh"/>
                          <a:cs typeface="Yekan Bakh"/>
                        </a:rPr>
                        <a:t>اتاق‌های</a:t>
                      </a:r>
                      <a:r>
                        <a:rPr sz="1050" b="1" dirty="0">
                          <a:solidFill>
                            <a:srgbClr val="00406C"/>
                          </a:solidFill>
                          <a:latin typeface="Yekan Bakh"/>
                          <a:cs typeface="Yekan Bakh"/>
                        </a:rPr>
                        <a:t> </a:t>
                      </a:r>
                      <a:r>
                        <a:rPr sz="1050" b="1" dirty="0" err="1">
                          <a:solidFill>
                            <a:srgbClr val="00406C"/>
                          </a:solidFill>
                          <a:latin typeface="Yekan Bakh"/>
                          <a:cs typeface="Yekan Bakh"/>
                        </a:rPr>
                        <a:t>بازرگانی</a:t>
                      </a:r>
                      <a:r>
                        <a:rPr sz="1050" b="1" dirty="0">
                          <a:solidFill>
                            <a:srgbClr val="00406C"/>
                          </a:solidFill>
                          <a:latin typeface="Yekan Bakh"/>
                          <a:cs typeface="Yekan Bakh"/>
                        </a:rPr>
                        <a:t> و </a:t>
                      </a:r>
                      <a:r>
                        <a:rPr sz="1050" b="1" dirty="0" err="1">
                          <a:solidFill>
                            <a:srgbClr val="00406C"/>
                          </a:solidFill>
                          <a:latin typeface="Yekan Bakh"/>
                          <a:cs typeface="Yekan Bakh"/>
                        </a:rPr>
                        <a:t>انجمن‌های</a:t>
                      </a:r>
                      <a:r>
                        <a:rPr sz="1050" b="1" dirty="0">
                          <a:solidFill>
                            <a:srgbClr val="00406C"/>
                          </a:solidFill>
                          <a:latin typeface="Yekan Bakh"/>
                          <a:cs typeface="Yekan Bakh"/>
                        </a:rPr>
                        <a:t> </a:t>
                      </a:r>
                      <a:r>
                        <a:rPr sz="1050" b="1" dirty="0" err="1">
                          <a:solidFill>
                            <a:srgbClr val="00406C"/>
                          </a:solidFill>
                          <a:latin typeface="Yekan Bakh"/>
                          <a:cs typeface="Yekan Bakh"/>
                        </a:rPr>
                        <a:t>صنفی</a:t>
                      </a:r>
                      <a:endParaRPr sz="1050" b="1" dirty="0">
                        <a:solidFill>
                          <a:srgbClr val="00406C"/>
                        </a:solidFill>
                        <a:latin typeface="Yekan Bakh"/>
                        <a:cs typeface="Yekan Bakh"/>
                      </a:endParaRPr>
                    </a:p>
                  </a:txBody>
                  <a:tcPr marL="50800" marR="50800" marT="38100" marB="38100" anchor="ctr">
                    <a:solidFill>
                      <a:srgbClr val="FFFFFF"/>
                    </a:solidFill>
                  </a:tcPr>
                </a:tc>
                <a:extLst>
                  <a:ext uri="{0D108BD9-81ED-4DB2-BD59-A6C34878D82A}">
                    <a16:rowId xmlns:a16="http://schemas.microsoft.com/office/drawing/2014/main" val="10001"/>
                  </a:ext>
                </a:extLst>
              </a:tr>
              <a:tr h="540025">
                <a:tc>
                  <a:txBody>
                    <a:bodyPr/>
                    <a:lstStyle/>
                    <a:p>
                      <a:pPr algn="ctr" rtl="1">
                        <a:lnSpc>
                          <a:spcPct val="105000"/>
                        </a:lnSpc>
                      </a:pPr>
                      <a:r>
                        <a:rPr sz="800" b="0" dirty="0" err="1">
                          <a:solidFill>
                            <a:schemeClr val="tx1">
                              <a:lumMod val="65000"/>
                              <a:lumOff val="35000"/>
                            </a:schemeClr>
                          </a:solidFill>
                          <a:latin typeface="Yekan Bakh"/>
                          <a:cs typeface="Yekan Bakh"/>
                        </a:rPr>
                        <a:t>یادداشت</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جلسه</a:t>
                      </a:r>
                      <a:r>
                        <a:rPr lang="fa-IR" sz="800" b="0" dirty="0">
                          <a:solidFill>
                            <a:schemeClr val="tx1">
                              <a:lumMod val="65000"/>
                              <a:lumOff val="35000"/>
                            </a:schemeClr>
                          </a:solidFill>
                          <a:latin typeface="Yekan Bakh"/>
                          <a:cs typeface="Yekan Bakh"/>
                        </a:rPr>
                        <a:t>:</a:t>
                      </a:r>
                      <a:r>
                        <a:rPr lang="en-US" sz="800" b="0" dirty="0">
                          <a:solidFill>
                            <a:schemeClr val="tx1">
                              <a:lumMod val="65000"/>
                              <a:lumOff val="35000"/>
                            </a:schemeClr>
                          </a:solidFill>
                          <a:latin typeface="Yekan Bakh"/>
                          <a:cs typeface="Yekan Bakh"/>
                        </a:rPr>
                        <a:t> » </a:t>
                      </a:r>
                      <a:r>
                        <a:rPr sz="800" b="0" dirty="0" err="1">
                          <a:solidFill>
                            <a:schemeClr val="tx1">
                              <a:lumMod val="65000"/>
                              <a:lumOff val="35000"/>
                            </a:schemeClr>
                          </a:solidFill>
                          <a:latin typeface="Yekan Bakh"/>
                          <a:cs typeface="Yekan Bakh"/>
                        </a:rPr>
                        <a:t>اولویت</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اول</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ایرانیان</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خارج</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از</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کشور</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به‌دلیل</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هزینه</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پایین</a:t>
                      </a:r>
                      <a:r>
                        <a:rPr lang="fa-IR" sz="800" b="0" dirty="0">
                          <a:solidFill>
                            <a:srgbClr val="222222"/>
                          </a:solidFill>
                          <a:latin typeface="Yekan Bakh"/>
                          <a:cs typeface="Yekan Bakh"/>
                        </a:rPr>
                        <a:t>»</a:t>
                      </a:r>
                      <a:endParaRPr lang="fa-IR" sz="800" b="0" dirty="0">
                        <a:solidFill>
                          <a:schemeClr val="tx1">
                            <a:lumMod val="65000"/>
                            <a:lumOff val="35000"/>
                          </a:schemeClr>
                        </a:solidFill>
                        <a:latin typeface="Yekan Bakh"/>
                        <a:cs typeface="Yekan Bakh"/>
                      </a:endParaRPr>
                    </a:p>
                    <a:p>
                      <a:pPr algn="ctr" rtl="1">
                        <a:lnSpc>
                          <a:spcPct val="105000"/>
                        </a:lnSpc>
                      </a:pPr>
                      <a:r>
                        <a:rPr sz="800" b="0" dirty="0" err="1">
                          <a:solidFill>
                            <a:schemeClr val="tx1">
                              <a:lumMod val="65000"/>
                              <a:lumOff val="35000"/>
                            </a:schemeClr>
                          </a:solidFill>
                          <a:latin typeface="Yekan Bakh"/>
                          <a:cs typeface="Yekan Bakh"/>
                        </a:rPr>
                        <a:t>ریسک</a:t>
                      </a:r>
                      <a:r>
                        <a:rPr lang="fa-IR" sz="800" b="0" dirty="0">
                          <a:solidFill>
                            <a:schemeClr val="tx1">
                              <a:lumMod val="65000"/>
                              <a:lumOff val="35000"/>
                            </a:schemeClr>
                          </a:solidFill>
                          <a:latin typeface="Yekan Bakh"/>
                          <a:cs typeface="Yekan Bakh"/>
                        </a:rPr>
                        <a:t>:</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کیفیت</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نامتوازن</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بدون</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ساختاردهی</a:t>
                      </a:r>
                      <a:endParaRPr sz="800" b="0" dirty="0">
                        <a:solidFill>
                          <a:schemeClr val="tx1">
                            <a:lumMod val="65000"/>
                            <a:lumOff val="35000"/>
                          </a:schemeClr>
                        </a:solidFill>
                        <a:latin typeface="Yekan Bakh"/>
                        <a:cs typeface="Yekan Bakh"/>
                      </a:endParaRPr>
                    </a:p>
                  </a:txBody>
                  <a:tcPr marL="50800" marR="50800" marT="38100" marB="38100" anchor="ctr">
                    <a:solidFill>
                      <a:srgbClr val="F2F2F2"/>
                    </a:solidFill>
                  </a:tcPr>
                </a:tc>
                <a:tc>
                  <a:txBody>
                    <a:bodyPr/>
                    <a:lstStyle/>
                    <a:p>
                      <a:pPr algn="ctr" rtl="1">
                        <a:lnSpc>
                          <a:spcPct val="105000"/>
                        </a:lnSpc>
                      </a:pPr>
                      <a:r>
                        <a:rPr lang="fa-IR" sz="800" b="0">
                          <a:solidFill>
                            <a:schemeClr val="tx1">
                              <a:lumMod val="65000"/>
                              <a:lumOff val="35000"/>
                            </a:schemeClr>
                          </a:solidFill>
                          <a:latin typeface="Yekan Bakh"/>
                          <a:cs typeface="Yekan Bakh"/>
                        </a:rPr>
                        <a:t>کانال بیرونی + کانال پولی + تعامل انسانی </a:t>
                      </a:r>
                    </a:p>
                  </a:txBody>
                  <a:tcPr marL="50800" marR="50800" marT="38100" marB="38100" anchor="ctr">
                    <a:solidFill>
                      <a:srgbClr val="F2F2F2"/>
                    </a:solidFill>
                  </a:tcPr>
                </a:tc>
                <a:tc>
                  <a:txBody>
                    <a:bodyPr/>
                    <a:lstStyle/>
                    <a:p>
                      <a:pPr algn="ctr" rtl="1">
                        <a:lnSpc>
                          <a:spcPct val="105000"/>
                        </a:lnSpc>
                      </a:pPr>
                      <a:r>
                        <a:rPr sz="800" b="0" dirty="0" err="1">
                          <a:solidFill>
                            <a:schemeClr val="tx1">
                              <a:lumMod val="65000"/>
                              <a:lumOff val="35000"/>
                            </a:schemeClr>
                          </a:solidFill>
                          <a:latin typeface="Yekan Bakh"/>
                          <a:cs typeface="Yekan Bakh"/>
                        </a:rPr>
                        <a:t>پل</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اعتماد</a:t>
                      </a:r>
                      <a:r>
                        <a:rPr sz="800" b="0" dirty="0">
                          <a:solidFill>
                            <a:schemeClr val="tx1">
                              <a:lumMod val="65000"/>
                              <a:lumOff val="35000"/>
                            </a:schemeClr>
                          </a:solidFill>
                          <a:latin typeface="Yekan Bakh"/>
                          <a:cs typeface="Yekan Bakh"/>
                        </a:rPr>
                        <a:t> و </a:t>
                      </a:r>
                      <a:r>
                        <a:rPr sz="800" b="0" dirty="0" err="1">
                          <a:solidFill>
                            <a:schemeClr val="tx1">
                              <a:lumMod val="65000"/>
                              <a:lumOff val="35000"/>
                            </a:schemeClr>
                          </a:solidFill>
                          <a:latin typeface="Yekan Bakh"/>
                          <a:cs typeface="Yekan Bakh"/>
                        </a:rPr>
                        <a:t>دسترسی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کم‌هزینه</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به</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طرف</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خارجی</a:t>
                      </a:r>
                      <a:r>
                        <a:rPr sz="800" b="0" dirty="0">
                          <a:solidFill>
                            <a:schemeClr val="tx1">
                              <a:lumMod val="65000"/>
                              <a:lumOff val="35000"/>
                            </a:schemeClr>
                          </a:solidFill>
                          <a:latin typeface="Yekan Bakh"/>
                          <a:cs typeface="Yekan Bakh"/>
                        </a:rPr>
                        <a:t>/</a:t>
                      </a:r>
                      <a:r>
                        <a:rPr sz="800" b="0" dirty="0" err="1">
                          <a:solidFill>
                            <a:schemeClr val="tx1">
                              <a:lumMod val="65000"/>
                              <a:lumOff val="35000"/>
                            </a:schemeClr>
                          </a:solidFill>
                          <a:latin typeface="Yekan Bakh"/>
                          <a:cs typeface="Yekan Bakh"/>
                        </a:rPr>
                        <a:t>سرمایه‌گذار</a:t>
                      </a:r>
                      <a:r>
                        <a:rPr sz="800" b="0" dirty="0">
                          <a:solidFill>
                            <a:schemeClr val="tx1">
                              <a:lumMod val="65000"/>
                              <a:lumOff val="35000"/>
                            </a:schemeClr>
                          </a:solidFill>
                          <a:latin typeface="Yekan Bakh"/>
                          <a:cs typeface="Yekan Bakh"/>
                        </a:rPr>
                        <a:t> — </a:t>
                      </a:r>
                      <a:r>
                        <a:rPr sz="800" b="0" dirty="0" err="1">
                          <a:solidFill>
                            <a:schemeClr val="tx1">
                              <a:lumMod val="65000"/>
                              <a:lumOff val="35000"/>
                            </a:schemeClr>
                          </a:solidFill>
                          <a:latin typeface="Yekan Bakh"/>
                          <a:cs typeface="Yekan Bakh"/>
                        </a:rPr>
                        <a:t>برای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پرسونا</a:t>
                      </a:r>
                      <a:r>
                        <a:rPr sz="800" b="0" dirty="0">
                          <a:solidFill>
                            <a:schemeClr val="tx1">
                              <a:lumMod val="65000"/>
                              <a:lumOff val="35000"/>
                            </a:schemeClr>
                          </a:solidFill>
                          <a:latin typeface="Yekan Bakh"/>
                          <a:cs typeface="Yekan Bakh"/>
                        </a:rPr>
                        <a:t> ۲، ۴ و ۶</a:t>
                      </a:r>
                    </a:p>
                  </a:txBody>
                  <a:tcPr marL="50800" marR="50800" marT="38100" marB="38100" anchor="ctr">
                    <a:solidFill>
                      <a:srgbClr val="F2F2F2"/>
                    </a:solidFill>
                  </a:tcPr>
                </a:tc>
                <a:tc>
                  <a:txBody>
                    <a:bodyPr/>
                    <a:lstStyle/>
                    <a:p>
                      <a:pPr algn="ctr" rtl="1">
                        <a:lnSpc>
                          <a:spcPct val="105000"/>
                        </a:lnSpc>
                      </a:pPr>
                      <a:r>
                        <a:rPr sz="1050" b="1" dirty="0" err="1">
                          <a:solidFill>
                            <a:srgbClr val="00406C"/>
                          </a:solidFill>
                          <a:latin typeface="Yekan Bakh"/>
                          <a:cs typeface="Yekan Bakh"/>
                        </a:rPr>
                        <a:t>ایرانیان</a:t>
                      </a:r>
                      <a:r>
                        <a:rPr sz="1050" b="1" dirty="0">
                          <a:solidFill>
                            <a:srgbClr val="00406C"/>
                          </a:solidFill>
                          <a:latin typeface="Yekan Bakh"/>
                          <a:cs typeface="Yekan Bakh"/>
                        </a:rPr>
                        <a:t> </a:t>
                      </a:r>
                      <a:r>
                        <a:rPr sz="1050" b="1" dirty="0" err="1">
                          <a:solidFill>
                            <a:srgbClr val="00406C"/>
                          </a:solidFill>
                          <a:latin typeface="Yekan Bakh"/>
                          <a:cs typeface="Yekan Bakh"/>
                        </a:rPr>
                        <a:t>خارج</a:t>
                      </a:r>
                      <a:r>
                        <a:rPr sz="1050" b="1" dirty="0">
                          <a:solidFill>
                            <a:srgbClr val="00406C"/>
                          </a:solidFill>
                          <a:latin typeface="Yekan Bakh"/>
                          <a:cs typeface="Yekan Bakh"/>
                        </a:rPr>
                        <a:t> </a:t>
                      </a:r>
                      <a:r>
                        <a:rPr sz="1050" b="1" dirty="0" err="1">
                          <a:solidFill>
                            <a:srgbClr val="00406C"/>
                          </a:solidFill>
                          <a:latin typeface="Yekan Bakh"/>
                          <a:cs typeface="Yekan Bakh"/>
                        </a:rPr>
                        <a:t>از</a:t>
                      </a:r>
                      <a:r>
                        <a:rPr sz="1050" b="1" dirty="0">
                          <a:solidFill>
                            <a:srgbClr val="00406C"/>
                          </a:solidFill>
                          <a:latin typeface="Yekan Bakh"/>
                          <a:cs typeface="Yekan Bakh"/>
                        </a:rPr>
                        <a:t> </a:t>
                      </a:r>
                      <a:r>
                        <a:rPr sz="1050" b="1" dirty="0" err="1">
                          <a:solidFill>
                            <a:srgbClr val="00406C"/>
                          </a:solidFill>
                          <a:latin typeface="Yekan Bakh"/>
                          <a:cs typeface="Yekan Bakh"/>
                        </a:rPr>
                        <a:t>کشور</a:t>
                      </a:r>
                      <a:endParaRPr sz="1050" b="1" dirty="0">
                        <a:solidFill>
                          <a:srgbClr val="00406C"/>
                        </a:solidFill>
                        <a:latin typeface="Yekan Bakh"/>
                        <a:cs typeface="Yekan Bakh"/>
                      </a:endParaRPr>
                    </a:p>
                  </a:txBody>
                  <a:tcPr marL="50800" marR="50800" marT="38100" marB="38100" anchor="ctr">
                    <a:solidFill>
                      <a:srgbClr val="F2F2F2"/>
                    </a:solidFill>
                  </a:tcPr>
                </a:tc>
                <a:extLst>
                  <a:ext uri="{0D108BD9-81ED-4DB2-BD59-A6C34878D82A}">
                    <a16:rowId xmlns:a16="http://schemas.microsoft.com/office/drawing/2014/main" val="10002"/>
                  </a:ext>
                </a:extLst>
              </a:tr>
              <a:tr h="540025">
                <a:tc>
                  <a:txBody>
                    <a:bodyPr/>
                    <a:lstStyle/>
                    <a:p>
                      <a:pPr algn="ctr" rtl="1">
                        <a:lnSpc>
                          <a:spcPct val="105000"/>
                        </a:lnSpc>
                      </a:pPr>
                      <a:r>
                        <a:rPr sz="800" b="0" dirty="0" err="1">
                          <a:solidFill>
                            <a:schemeClr val="tx1">
                              <a:lumMod val="65000"/>
                              <a:lumOff val="35000"/>
                            </a:schemeClr>
                          </a:solidFill>
                          <a:latin typeface="Yekan Bakh"/>
                          <a:cs typeface="Yekan Bakh"/>
                        </a:rPr>
                        <a:t>محدودیت</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مستند</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خودِ</a:t>
                      </a:r>
                      <a:r>
                        <a:rPr sz="800" b="0" dirty="0">
                          <a:solidFill>
                            <a:schemeClr val="tx1">
                              <a:lumMod val="65000"/>
                              <a:lumOff val="35000"/>
                            </a:schemeClr>
                          </a:solidFill>
                          <a:latin typeface="Yekan Bakh"/>
                          <a:cs typeface="Yekan Bakh"/>
                        </a:rPr>
                        <a:t> EEN</a:t>
                      </a:r>
                      <a:r>
                        <a:rPr lang="fa-IR" sz="800" b="0" dirty="0">
                          <a:solidFill>
                            <a:schemeClr val="tx1">
                              <a:lumMod val="65000"/>
                              <a:lumOff val="35000"/>
                            </a:schemeClr>
                          </a:solidFill>
                          <a:latin typeface="Yekan Bakh"/>
                          <a:cs typeface="Yekan Bakh"/>
                        </a:rPr>
                        <a:t>:</a:t>
                      </a:r>
                      <a:r>
                        <a:rPr lang="en-US" sz="800" b="0" dirty="0">
                          <a:solidFill>
                            <a:schemeClr val="tx1">
                              <a:lumMod val="65000"/>
                              <a:lumOff val="35000"/>
                            </a:schemeClr>
                          </a:solidFill>
                          <a:latin typeface="Yekan Bakh"/>
                          <a:cs typeface="Yekan Bakh"/>
                        </a:rPr>
                        <a:t> </a:t>
                      </a:r>
                      <a:r>
                        <a:rPr lang="fa-IR" sz="800" b="0" dirty="0">
                          <a:solidFill>
                            <a:schemeClr val="tx1">
                              <a:lumMod val="65000"/>
                              <a:lumOff val="35000"/>
                            </a:schemeClr>
                          </a:solidFill>
                          <a:latin typeface="Yekan Bakh"/>
                          <a:cs typeface="Yekan Bakh"/>
                        </a:rPr>
                        <a:t>«</a:t>
                      </a:r>
                      <a:r>
                        <a:rPr lang="en-US"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اجرای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معامله</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فروش</a:t>
                      </a:r>
                      <a:r>
                        <a:rPr sz="800" b="0" dirty="0">
                          <a:solidFill>
                            <a:schemeClr val="tx1">
                              <a:lumMod val="65000"/>
                              <a:lumOff val="35000"/>
                            </a:schemeClr>
                          </a:solidFill>
                          <a:latin typeface="Yekan Bakh"/>
                          <a:cs typeface="Yekan Bakh"/>
                        </a:rPr>
                        <a:t> و </a:t>
                      </a:r>
                      <a:r>
                        <a:rPr sz="800" b="0" dirty="0" err="1">
                          <a:solidFill>
                            <a:schemeClr val="tx1">
                              <a:lumMod val="65000"/>
                              <a:lumOff val="35000"/>
                            </a:schemeClr>
                          </a:solidFill>
                          <a:latin typeface="Yekan Bakh"/>
                          <a:cs typeface="Yekan Bakh"/>
                        </a:rPr>
                        <a:t>عملیاتی‌کردن</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همکاری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بر</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عهده</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شرکت‌هاس</a:t>
                      </a:r>
                      <a:r>
                        <a:rPr lang="fa-IR" sz="800" b="0" dirty="0">
                          <a:solidFill>
                            <a:schemeClr val="tx1">
                              <a:lumMod val="65000"/>
                              <a:lumOff val="35000"/>
                            </a:schemeClr>
                          </a:solidFill>
                          <a:latin typeface="Yekan Bakh"/>
                          <a:cs typeface="Yekan Bakh"/>
                        </a:rPr>
                        <a:t>ت</a:t>
                      </a:r>
                      <a:r>
                        <a:rPr lang="fa-IR" sz="800" b="0" dirty="0">
                          <a:solidFill>
                            <a:srgbClr val="222222"/>
                          </a:solidFill>
                          <a:latin typeface="Yekan Bakh"/>
                          <a:cs typeface="Yekan Bakh"/>
                        </a:rPr>
                        <a:t>»</a:t>
                      </a:r>
                      <a:r>
                        <a:rPr sz="800" b="0" dirty="0">
                          <a:solidFill>
                            <a:schemeClr val="tx1">
                              <a:lumMod val="65000"/>
                              <a:lumOff val="35000"/>
                            </a:schemeClr>
                          </a:solidFill>
                          <a:latin typeface="Yekan Bakh"/>
                          <a:cs typeface="Yekan Bakh"/>
                        </a:rPr>
                        <a:t> </a:t>
                      </a:r>
                      <a:r>
                        <a:rPr lang="en-US" sz="800" b="0" dirty="0">
                          <a:solidFill>
                            <a:schemeClr val="tx1">
                              <a:lumMod val="65000"/>
                              <a:lumOff val="35000"/>
                            </a:schemeClr>
                          </a:solidFill>
                          <a:latin typeface="Yekan Bakh"/>
                          <a:cs typeface="Yekan Bakh"/>
                        </a:rPr>
                        <a:t>→</a:t>
                      </a:r>
                      <a:r>
                        <a:rPr sz="800" b="0" dirty="0" err="1">
                          <a:solidFill>
                            <a:schemeClr val="tx1">
                              <a:lumMod val="65000"/>
                              <a:lumOff val="35000"/>
                            </a:schemeClr>
                          </a:solidFill>
                          <a:latin typeface="Yekan Bakh"/>
                          <a:cs typeface="Yekan Bakh"/>
                        </a:rPr>
                        <a:t>دقیقاً</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همان‌جا</a:t>
                      </a:r>
                      <a:r>
                        <a:rPr sz="800" b="0" dirty="0">
                          <a:solidFill>
                            <a:schemeClr val="tx1">
                              <a:lumMod val="65000"/>
                              <a:lumOff val="35000"/>
                            </a:schemeClr>
                          </a:solidFill>
                          <a:latin typeface="Yekan Bakh"/>
                          <a:cs typeface="Yekan Bakh"/>
                        </a:rPr>
                        <a:t> </a:t>
                      </a:r>
                      <a:r>
                        <a:rPr lang="fa-IR" sz="800" b="0" dirty="0">
                          <a:solidFill>
                            <a:schemeClr val="tx1">
                              <a:lumMod val="65000"/>
                              <a:lumOff val="35000"/>
                            </a:schemeClr>
                          </a:solidFill>
                          <a:latin typeface="Yekan Bakh"/>
                          <a:cs typeface="Yekan Bakh"/>
                        </a:rPr>
                        <a:t>نقطه تمایز </a:t>
                      </a:r>
                      <a:r>
                        <a:rPr lang="en-US" sz="800" b="0" dirty="0">
                          <a:solidFill>
                            <a:schemeClr val="tx1">
                              <a:lumMod val="65000"/>
                              <a:lumOff val="35000"/>
                            </a:schemeClr>
                          </a:solidFill>
                          <a:latin typeface="Yekan Bakh"/>
                          <a:cs typeface="Yekan Bakh"/>
                        </a:rPr>
                        <a:t>Being</a:t>
                      </a:r>
                      <a:r>
                        <a:rPr lang="fa-IR" sz="800" b="0" dirty="0">
                          <a:solidFill>
                            <a:schemeClr val="tx1">
                              <a:lumMod val="65000"/>
                              <a:lumOff val="35000"/>
                            </a:schemeClr>
                          </a:solidFill>
                          <a:latin typeface="Yekan Bakh"/>
                          <a:cs typeface="Yekan Bakh"/>
                        </a:rPr>
                        <a:t> با </a:t>
                      </a:r>
                      <a:r>
                        <a:rPr lang="en-US" sz="800" b="0" dirty="0">
                          <a:solidFill>
                            <a:schemeClr val="tx1">
                              <a:lumMod val="65000"/>
                              <a:lumOff val="35000"/>
                            </a:schemeClr>
                          </a:solidFill>
                          <a:latin typeface="Yekan Bakh"/>
                          <a:cs typeface="Yekan Bakh"/>
                        </a:rPr>
                        <a:t>doing</a:t>
                      </a:r>
                      <a:r>
                        <a:rPr lang="fa-IR" sz="800" b="0" dirty="0">
                          <a:solidFill>
                            <a:schemeClr val="tx1">
                              <a:lumMod val="65000"/>
                              <a:lumOff val="35000"/>
                            </a:schemeClr>
                          </a:solidFill>
                          <a:latin typeface="Yekan Bakh"/>
                          <a:cs typeface="Yekan Bakh"/>
                        </a:rPr>
                        <a:t> است</a:t>
                      </a:r>
                      <a:endParaRPr sz="800" b="0" dirty="0">
                        <a:solidFill>
                          <a:schemeClr val="tx1">
                            <a:lumMod val="65000"/>
                            <a:lumOff val="35000"/>
                          </a:schemeClr>
                        </a:solidFill>
                        <a:latin typeface="Yekan Bakh"/>
                        <a:cs typeface="Yekan Bakh"/>
                      </a:endParaRPr>
                    </a:p>
                  </a:txBody>
                  <a:tcPr marL="50800" marR="50800" marT="38100" marB="38100" anchor="ctr">
                    <a:solidFill>
                      <a:srgbClr val="FFFFFF"/>
                    </a:solidFill>
                  </a:tcPr>
                </a:tc>
                <a:tc>
                  <a:txBody>
                    <a:bodyPr/>
                    <a:lstStyle/>
                    <a:p>
                      <a:pPr algn="ctr" rtl="1">
                        <a:lnSpc>
                          <a:spcPct val="105000"/>
                        </a:lnSpc>
                      </a:pPr>
                      <a:r>
                        <a:rPr lang="fa-IR" sz="800" b="0">
                          <a:solidFill>
                            <a:schemeClr val="tx1">
                              <a:lumMod val="65000"/>
                              <a:lumOff val="35000"/>
                            </a:schemeClr>
                          </a:solidFill>
                          <a:latin typeface="Yekan Bakh"/>
                          <a:cs typeface="Yekan Bakh"/>
                        </a:rPr>
                        <a:t>کانال بیرونی + کانال فیزیکی </a:t>
                      </a:r>
                    </a:p>
                  </a:txBody>
                  <a:tcPr marL="50800" marR="50800" marT="38100" marB="38100" anchor="ctr">
                    <a:solidFill>
                      <a:srgbClr val="FFFFFF"/>
                    </a:solidFill>
                  </a:tcPr>
                </a:tc>
                <a:tc>
                  <a:txBody>
                    <a:bodyPr/>
                    <a:lstStyle/>
                    <a:p>
                      <a:pPr algn="ctr" rtl="1">
                        <a:lnSpc>
                          <a:spcPct val="105000"/>
                        </a:lnSpc>
                      </a:pPr>
                      <a:r>
                        <a:rPr sz="800" b="0" dirty="0" err="1">
                          <a:solidFill>
                            <a:schemeClr val="tx1">
                              <a:lumMod val="65000"/>
                              <a:lumOff val="35000"/>
                            </a:schemeClr>
                          </a:solidFill>
                          <a:latin typeface="Yekan Bakh"/>
                          <a:cs typeface="Yekan Bakh"/>
                        </a:rPr>
                        <a:t>کانال</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آگاهی‌سازی</a:t>
                      </a:r>
                      <a:r>
                        <a:rPr sz="800" b="0" dirty="0">
                          <a:solidFill>
                            <a:schemeClr val="tx1">
                              <a:lumMod val="65000"/>
                              <a:lumOff val="35000"/>
                            </a:schemeClr>
                          </a:solidFill>
                          <a:latin typeface="Yekan Bakh"/>
                          <a:cs typeface="Yekan Bakh"/>
                        </a:rPr>
                        <a:t> و </a:t>
                      </a:r>
                      <a:r>
                        <a:rPr sz="800" b="0" dirty="0" err="1">
                          <a:solidFill>
                            <a:schemeClr val="tx1">
                              <a:lumMod val="65000"/>
                              <a:lumOff val="35000"/>
                            </a:schemeClr>
                          </a:solidFill>
                          <a:latin typeface="Yekan Bakh"/>
                          <a:cs typeface="Yekan Bakh"/>
                        </a:rPr>
                        <a:t>ارزیابی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اولیه</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برای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پرسونا</a:t>
                      </a:r>
                      <a:r>
                        <a:rPr sz="800" b="0" dirty="0">
                          <a:solidFill>
                            <a:schemeClr val="tx1">
                              <a:lumMod val="65000"/>
                              <a:lumOff val="35000"/>
                            </a:schemeClr>
                          </a:solidFill>
                          <a:latin typeface="Yekan Bakh"/>
                          <a:cs typeface="Yekan Bakh"/>
                        </a:rPr>
                        <a:t> ۲ و ۴</a:t>
                      </a:r>
                    </a:p>
                  </a:txBody>
                  <a:tcPr marL="50800" marR="50800" marT="38100" marB="38100" anchor="ctr">
                    <a:solidFill>
                      <a:srgbClr val="FFFFFF"/>
                    </a:solidFill>
                  </a:tcPr>
                </a:tc>
                <a:tc>
                  <a:txBody>
                    <a:bodyPr/>
                    <a:lstStyle/>
                    <a:p>
                      <a:pPr algn="ctr" rtl="1">
                        <a:lnSpc>
                          <a:spcPct val="105000"/>
                        </a:lnSpc>
                      </a:pPr>
                      <a:r>
                        <a:rPr sz="1050" b="1" dirty="0">
                          <a:solidFill>
                            <a:srgbClr val="00406C"/>
                          </a:solidFill>
                          <a:latin typeface="Yekan Bakh"/>
                          <a:cs typeface="Yekan Bakh"/>
                        </a:rPr>
                        <a:t> </a:t>
                      </a:r>
                      <a:r>
                        <a:rPr sz="1050" b="1" dirty="0" err="1">
                          <a:solidFill>
                            <a:srgbClr val="00406C"/>
                          </a:solidFill>
                          <a:latin typeface="Yekan Bakh"/>
                          <a:cs typeface="Yekan Bakh"/>
                        </a:rPr>
                        <a:t>دفاتر</a:t>
                      </a:r>
                      <a:r>
                        <a:rPr sz="1050" b="1" dirty="0">
                          <a:solidFill>
                            <a:srgbClr val="00406C"/>
                          </a:solidFill>
                          <a:latin typeface="Yekan Bakh"/>
                          <a:cs typeface="Yekan Bakh"/>
                        </a:rPr>
                        <a:t> </a:t>
                      </a:r>
                      <a:r>
                        <a:rPr sz="1050" b="1" dirty="0" err="1">
                          <a:solidFill>
                            <a:srgbClr val="00406C"/>
                          </a:solidFill>
                          <a:latin typeface="Yekan Bakh"/>
                          <a:cs typeface="Yekan Bakh"/>
                        </a:rPr>
                        <a:t>تجاری</a:t>
                      </a:r>
                      <a:r>
                        <a:rPr sz="1050" b="1" dirty="0">
                          <a:solidFill>
                            <a:srgbClr val="00406C"/>
                          </a:solidFill>
                          <a:latin typeface="Yekan Bakh"/>
                          <a:cs typeface="Yekan Bakh"/>
                        </a:rPr>
                        <a:t> </a:t>
                      </a:r>
                      <a:r>
                        <a:rPr sz="1050" b="1" dirty="0" err="1">
                          <a:solidFill>
                            <a:srgbClr val="00406C"/>
                          </a:solidFill>
                          <a:latin typeface="Yekan Bakh"/>
                          <a:cs typeface="Yekan Bakh"/>
                        </a:rPr>
                        <a:t>بین‌المللی</a:t>
                      </a:r>
                      <a:endParaRPr sz="1050" b="1" dirty="0">
                        <a:solidFill>
                          <a:srgbClr val="00406C"/>
                        </a:solidFill>
                        <a:latin typeface="Yekan Bakh"/>
                        <a:cs typeface="Yekan Bakh"/>
                      </a:endParaRPr>
                    </a:p>
                  </a:txBody>
                  <a:tcPr marL="50800" marR="50800" marT="38100" marB="38100" anchor="ctr">
                    <a:solidFill>
                      <a:srgbClr val="FFFFFF"/>
                    </a:solidFill>
                  </a:tcPr>
                </a:tc>
                <a:extLst>
                  <a:ext uri="{0D108BD9-81ED-4DB2-BD59-A6C34878D82A}">
                    <a16:rowId xmlns:a16="http://schemas.microsoft.com/office/drawing/2014/main" val="10003"/>
                  </a:ext>
                </a:extLst>
              </a:tr>
              <a:tr h="540025">
                <a:tc>
                  <a:txBody>
                    <a:bodyPr/>
                    <a:lstStyle/>
                    <a:p>
                      <a:pPr algn="ctr" rtl="1">
                        <a:lnSpc>
                          <a:spcPct val="105000"/>
                        </a:lnSpc>
                      </a:pPr>
                      <a:r>
                        <a:rPr sz="800" b="0" dirty="0" err="1">
                          <a:solidFill>
                            <a:schemeClr val="tx1">
                              <a:lumMod val="65000"/>
                              <a:lumOff val="35000"/>
                            </a:schemeClr>
                          </a:solidFill>
                          <a:latin typeface="Yekan Bakh"/>
                          <a:cs typeface="Yekan Bakh"/>
                        </a:rPr>
                        <a:t>بنچمارک</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دیجیتال</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مستقیم</a:t>
                      </a:r>
                      <a:r>
                        <a:rPr lang="fa-IR" sz="800" b="0" dirty="0">
                          <a:solidFill>
                            <a:schemeClr val="tx1">
                              <a:lumMod val="65000"/>
                              <a:lumOff val="35000"/>
                            </a:schemeClr>
                          </a:solidFill>
                          <a:latin typeface="Yekan Bakh"/>
                          <a:cs typeface="Yekan Bakh"/>
                        </a:rPr>
                        <a:t>:</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Leadvisor</a:t>
                      </a:r>
                      <a:r>
                        <a:rPr sz="800" b="0" dirty="0">
                          <a:solidFill>
                            <a:schemeClr val="tx1">
                              <a:lumMod val="65000"/>
                              <a:lumOff val="35000"/>
                            </a:schemeClr>
                          </a:solidFill>
                          <a:latin typeface="Yekan Bakh"/>
                          <a:cs typeface="Yekan Bakh"/>
                        </a:rPr>
                        <a:t> </a:t>
                      </a:r>
                      <a:r>
                        <a:rPr lang="fa-IR" sz="800" b="0" dirty="0">
                          <a:solidFill>
                            <a:schemeClr val="tx1">
                              <a:lumMod val="65000"/>
                              <a:lumOff val="35000"/>
                            </a:schemeClr>
                          </a:solidFill>
                          <a:latin typeface="Yekan Bakh"/>
                          <a:cs typeface="Yekan Bakh"/>
                        </a:rPr>
                        <a:t>(</a:t>
                      </a:r>
                      <a:r>
                        <a:rPr sz="800" b="0" dirty="0" err="1">
                          <a:solidFill>
                            <a:schemeClr val="tx1">
                              <a:lumMod val="65000"/>
                              <a:lumOff val="35000"/>
                            </a:schemeClr>
                          </a:solidFill>
                          <a:latin typeface="Yekan Bakh"/>
                          <a:cs typeface="Yekan Bakh"/>
                        </a:rPr>
                        <a:t>شبکه</a:t>
                      </a:r>
                      <a:r>
                        <a:rPr sz="800" b="0" dirty="0">
                          <a:solidFill>
                            <a:schemeClr val="tx1">
                              <a:lumMod val="65000"/>
                              <a:lumOff val="35000"/>
                            </a:schemeClr>
                          </a:solidFill>
                          <a:latin typeface="Yekan Bakh"/>
                          <a:cs typeface="Yekan Bakh"/>
                        </a:rPr>
                        <a:t> ۸۰+ Member Firm </a:t>
                      </a:r>
                      <a:r>
                        <a:rPr lang="fa-I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به‌عنوان</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کانال</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اصلی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توزیع</a:t>
                      </a:r>
                      <a:r>
                        <a:rPr lang="fa-IR" sz="800" b="0" dirty="0">
                          <a:solidFill>
                            <a:schemeClr val="tx1">
                              <a:lumMod val="65000"/>
                              <a:lumOff val="35000"/>
                            </a:schemeClr>
                          </a:solidFill>
                          <a:latin typeface="Yekan Bakh"/>
                          <a:cs typeface="Yekan Bakh"/>
                        </a:rPr>
                        <a:t>)</a:t>
                      </a:r>
                      <a:r>
                        <a:rPr sz="800" b="0" dirty="0">
                          <a:solidFill>
                            <a:schemeClr val="tx1">
                              <a:lumMod val="65000"/>
                              <a:lumOff val="35000"/>
                            </a:schemeClr>
                          </a:solidFill>
                          <a:latin typeface="Yekan Bakh"/>
                          <a:cs typeface="Yekan Bakh"/>
                        </a:rPr>
                        <a:t>،Capital </a:t>
                      </a:r>
                      <a:r>
                        <a:rPr lang="fa-I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هدف‌گیری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صریح</a:t>
                      </a:r>
                      <a:r>
                        <a:rPr sz="800" b="0" dirty="0">
                          <a:solidFill>
                            <a:schemeClr val="tx1">
                              <a:lumMod val="65000"/>
                              <a:lumOff val="35000"/>
                            </a:schemeClr>
                          </a:solidFill>
                          <a:latin typeface="Yekan Bakh"/>
                          <a:cs typeface="Yekan Bakh"/>
                        </a:rPr>
                        <a:t> Advisors/CFO/VC/PE</a:t>
                      </a:r>
                      <a:r>
                        <a:rPr lang="fa-IR" sz="800" b="0" dirty="0">
                          <a:solidFill>
                            <a:schemeClr val="tx1">
                              <a:lumMod val="65000"/>
                              <a:lumOff val="35000"/>
                            </a:schemeClr>
                          </a:solidFill>
                          <a:latin typeface="Yekan Bakh"/>
                          <a:cs typeface="Yekan Bakh"/>
                        </a:rPr>
                        <a:t>)</a:t>
                      </a:r>
                      <a:endParaRPr sz="800" b="0" dirty="0">
                        <a:solidFill>
                          <a:schemeClr val="tx1">
                            <a:lumMod val="65000"/>
                            <a:lumOff val="35000"/>
                          </a:schemeClr>
                        </a:solidFill>
                        <a:latin typeface="Yekan Bakh"/>
                        <a:cs typeface="Yekan Bakh"/>
                      </a:endParaRPr>
                    </a:p>
                  </a:txBody>
                  <a:tcPr marL="50800" marR="50800" marT="38100" marB="38100" anchor="ctr">
                    <a:solidFill>
                      <a:srgbClr val="F2F2F2"/>
                    </a:solidFill>
                  </a:tcPr>
                </a:tc>
                <a:tc>
                  <a:txBody>
                    <a:bodyPr/>
                    <a:lstStyle/>
                    <a:p>
                      <a:pPr algn="ctr" rtl="1">
                        <a:lnSpc>
                          <a:spcPct val="105000"/>
                        </a:lnSpc>
                      </a:pPr>
                      <a:r>
                        <a:rPr lang="fa-IR" sz="800" b="0">
                          <a:solidFill>
                            <a:schemeClr val="tx1">
                              <a:lumMod val="65000"/>
                              <a:lumOff val="35000"/>
                            </a:schemeClr>
                          </a:solidFill>
                          <a:latin typeface="Yekan Bakh"/>
                          <a:cs typeface="Yekan Bakh"/>
                        </a:rPr>
                        <a:t>کانال بیرونی + کانال پولی + تعامل انسانی </a:t>
                      </a:r>
                    </a:p>
                  </a:txBody>
                  <a:tcPr marL="50800" marR="50800" marT="38100" marB="38100" anchor="ctr">
                    <a:solidFill>
                      <a:srgbClr val="F2F2F2"/>
                    </a:solidFill>
                  </a:tcPr>
                </a:tc>
                <a:tc>
                  <a:txBody>
                    <a:bodyPr/>
                    <a:lstStyle/>
                    <a:p>
                      <a:pPr algn="ctr" rtl="1">
                        <a:lnSpc>
                          <a:spcPct val="105000"/>
                        </a:lnSpc>
                      </a:pPr>
                      <a:r>
                        <a:rPr sz="800" b="0">
                          <a:solidFill>
                            <a:schemeClr val="tx1">
                              <a:lumMod val="65000"/>
                              <a:lumOff val="35000"/>
                            </a:schemeClr>
                          </a:solidFill>
                          <a:latin typeface="Yekan Bakh"/>
                          <a:cs typeface="Yekan Bakh"/>
                        </a:rPr>
                        <a:t>بزرگ‌ترین ضریب‌تکثیر معرفی برای پرسونا ۵ و ۶ — این مشاوران با مشتریان/پورتفولیوی خود در تماس‌اند</a:t>
                      </a:r>
                    </a:p>
                  </a:txBody>
                  <a:tcPr marL="50800" marR="50800" marT="38100" marB="38100" anchor="ctr">
                    <a:solidFill>
                      <a:srgbClr val="F2F2F2"/>
                    </a:solidFill>
                  </a:tcPr>
                </a:tc>
                <a:tc>
                  <a:txBody>
                    <a:bodyPr/>
                    <a:lstStyle/>
                    <a:p>
                      <a:pPr algn="ctr" rtl="1">
                        <a:lnSpc>
                          <a:spcPct val="105000"/>
                        </a:lnSpc>
                      </a:pPr>
                      <a:r>
                        <a:rPr lang="fa-IR" sz="1050" b="1" dirty="0">
                          <a:solidFill>
                            <a:srgbClr val="00406C"/>
                          </a:solidFill>
                          <a:latin typeface="Yekan Bakh"/>
                          <a:cs typeface="Yekan Bakh"/>
                        </a:rPr>
                        <a:t>اعضای هیئت مدیریه و مدیران عامل /  شبکه مشاوران برون‌سازمانی در کسب‌وکارها </a:t>
                      </a:r>
                      <a:endParaRPr sz="1050" b="1" dirty="0">
                        <a:solidFill>
                          <a:srgbClr val="00406C"/>
                        </a:solidFill>
                        <a:latin typeface="Yekan Bakh"/>
                        <a:cs typeface="Yekan Bakh"/>
                      </a:endParaRPr>
                    </a:p>
                  </a:txBody>
                  <a:tcPr marL="50800" marR="50800" marT="38100" marB="38100" anchor="ctr">
                    <a:solidFill>
                      <a:srgbClr val="F2F2F2"/>
                    </a:solidFill>
                  </a:tcPr>
                </a:tc>
                <a:extLst>
                  <a:ext uri="{0D108BD9-81ED-4DB2-BD59-A6C34878D82A}">
                    <a16:rowId xmlns:a16="http://schemas.microsoft.com/office/drawing/2014/main" val="10004"/>
                  </a:ext>
                </a:extLst>
              </a:tr>
              <a:tr h="540030">
                <a:tc>
                  <a:txBody>
                    <a:bodyPr/>
                    <a:lstStyle/>
                    <a:p>
                      <a:pPr algn="ctr" rtl="1">
                        <a:lnSpc>
                          <a:spcPct val="105000"/>
                        </a:lnSpc>
                      </a:pPr>
                      <a:r>
                        <a:rPr lang="fa-IR" sz="800" b="0" dirty="0">
                          <a:solidFill>
                            <a:schemeClr val="tx1">
                              <a:lumMod val="65000"/>
                              <a:lumOff val="35000"/>
                            </a:schemeClr>
                          </a:solidFill>
                          <a:latin typeface="Yekan Bakh"/>
                          <a:cs typeface="Yekan Bakh"/>
                        </a:rPr>
                        <a:t>یادداشت جلسه:</a:t>
                      </a:r>
                      <a:r>
                        <a:rPr lang="en-US" sz="800" b="0" dirty="0">
                          <a:solidFill>
                            <a:schemeClr val="tx1">
                              <a:lumMod val="65000"/>
                              <a:lumOff val="35000"/>
                            </a:schemeClr>
                          </a:solidFill>
                          <a:latin typeface="Yekan Bakh"/>
                          <a:cs typeface="Yekan Bakh"/>
                        </a:rPr>
                        <a:t> » </a:t>
                      </a:r>
                      <a:r>
                        <a:rPr sz="800" b="0" dirty="0" err="1">
                          <a:solidFill>
                            <a:schemeClr val="tx1">
                              <a:lumMod val="65000"/>
                              <a:lumOff val="35000"/>
                            </a:schemeClr>
                          </a:solidFill>
                          <a:latin typeface="Yekan Bakh"/>
                          <a:cs typeface="Yekan Bakh"/>
                        </a:rPr>
                        <a:t>هر</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نتیجه</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موفق</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یکی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از</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ورودی‌های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چرخه</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بعدی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را</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تقویت</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می‌کن</a:t>
                      </a:r>
                      <a:r>
                        <a:rPr lang="fa-IR" sz="800" b="0" dirty="0">
                          <a:solidFill>
                            <a:schemeClr val="tx1">
                              <a:lumMod val="65000"/>
                              <a:lumOff val="35000"/>
                            </a:schemeClr>
                          </a:solidFill>
                          <a:latin typeface="Yekan Bakh"/>
                          <a:cs typeface="Yekan Bakh"/>
                        </a:rPr>
                        <a:t>د</a:t>
                      </a:r>
                      <a:r>
                        <a:rPr lang="fa-IR" sz="800" b="0" dirty="0">
                          <a:solidFill>
                            <a:srgbClr val="222222"/>
                          </a:solidFill>
                          <a:latin typeface="Yekan Bakh"/>
                          <a:cs typeface="Yekan Bakh"/>
                        </a:rPr>
                        <a:t>»</a:t>
                      </a:r>
                      <a:r>
                        <a:rPr sz="800" b="0" dirty="0">
                          <a:solidFill>
                            <a:schemeClr val="tx1">
                              <a:lumMod val="65000"/>
                              <a:lumOff val="35000"/>
                            </a:schemeClr>
                          </a:solidFill>
                          <a:latin typeface="Yekan Bakh"/>
                          <a:cs typeface="Yekan Bakh"/>
                        </a:rPr>
                        <a:t> — </a:t>
                      </a:r>
                      <a:r>
                        <a:rPr sz="800" b="0" dirty="0" err="1">
                          <a:solidFill>
                            <a:schemeClr val="tx1">
                              <a:lumMod val="65000"/>
                              <a:lumOff val="35000"/>
                            </a:schemeClr>
                          </a:solidFill>
                          <a:latin typeface="Yekan Bakh"/>
                          <a:cs typeface="Yekan Bakh"/>
                        </a:rPr>
                        <a:t>کانالی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بدون‌هزینه</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نسبی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که</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باید</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عمداً</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طراحی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شود</a:t>
                      </a:r>
                      <a:endParaRPr sz="800" b="0" dirty="0">
                        <a:solidFill>
                          <a:schemeClr val="tx1">
                            <a:lumMod val="65000"/>
                            <a:lumOff val="35000"/>
                          </a:schemeClr>
                        </a:solidFill>
                        <a:latin typeface="Yekan Bakh"/>
                        <a:cs typeface="Yekan Bakh"/>
                      </a:endParaRPr>
                    </a:p>
                  </a:txBody>
                  <a:tcPr marL="50800" marR="50800" marT="38100" marB="38100" anchor="ctr">
                    <a:solidFill>
                      <a:srgbClr val="FFFFFF"/>
                    </a:solidFill>
                  </a:tcPr>
                </a:tc>
                <a:tc>
                  <a:txBody>
                    <a:bodyPr/>
                    <a:lstStyle/>
                    <a:p>
                      <a:pPr algn="ctr" rtl="1">
                        <a:lnSpc>
                          <a:spcPct val="105000"/>
                        </a:lnSpc>
                      </a:pPr>
                      <a:r>
                        <a:rPr lang="fa-IR" sz="800" b="0">
                          <a:solidFill>
                            <a:schemeClr val="tx1">
                              <a:lumMod val="65000"/>
                              <a:lumOff val="35000"/>
                            </a:schemeClr>
                          </a:solidFill>
                          <a:latin typeface="Yekan Bakh"/>
                          <a:cs typeface="Yekan Bakh"/>
                        </a:rPr>
                        <a:t>کانال تحت مالکیت </a:t>
                      </a:r>
                      <a:endParaRPr sz="800" b="0">
                        <a:solidFill>
                          <a:schemeClr val="tx1">
                            <a:lumMod val="65000"/>
                            <a:lumOff val="35000"/>
                          </a:schemeClr>
                        </a:solidFill>
                        <a:latin typeface="Yekan Bakh"/>
                        <a:cs typeface="Yekan Bakh"/>
                      </a:endParaRPr>
                    </a:p>
                  </a:txBody>
                  <a:tcPr marL="50800" marR="50800" marT="38100" marB="38100" anchor="ctr">
                    <a:solidFill>
                      <a:srgbClr val="FFFFFF"/>
                    </a:solidFill>
                  </a:tcPr>
                </a:tc>
                <a:tc>
                  <a:txBody>
                    <a:bodyPr/>
                    <a:lstStyle/>
                    <a:p>
                      <a:pPr algn="ctr" rtl="1">
                        <a:lnSpc>
                          <a:spcPct val="105000"/>
                        </a:lnSpc>
                      </a:pPr>
                      <a:r>
                        <a:rPr sz="800" b="0" dirty="0" err="1">
                          <a:solidFill>
                            <a:schemeClr val="tx1">
                              <a:lumMod val="65000"/>
                              <a:lumOff val="35000"/>
                            </a:schemeClr>
                          </a:solidFill>
                          <a:latin typeface="Yekan Bakh"/>
                          <a:cs typeface="Yekan Bakh"/>
                        </a:rPr>
                        <a:t>هر</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بیزینس‌لاین</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کانال</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داخلی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دو</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بیزینس‌لاین</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دیگر</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است</a:t>
                      </a:r>
                      <a:r>
                        <a:rPr sz="800" b="0" dirty="0">
                          <a:solidFill>
                            <a:schemeClr val="tx1">
                              <a:lumMod val="65000"/>
                              <a:lumOff val="35000"/>
                            </a:schemeClr>
                          </a:solidFill>
                          <a:latin typeface="Yekan Bakh"/>
                          <a:cs typeface="Yekan Bakh"/>
                        </a:rPr>
                        <a:t> </a:t>
                      </a:r>
                      <a:r>
                        <a:rPr lang="fa-IR" sz="800" b="0" dirty="0">
                          <a:solidFill>
                            <a:schemeClr val="tx1">
                              <a:lumMod val="65000"/>
                              <a:lumOff val="35000"/>
                            </a:schemeClr>
                          </a:solidFill>
                          <a:latin typeface="Yekan Bakh"/>
                          <a:cs typeface="Yekan Bakh"/>
                        </a:rPr>
                        <a:t>(</a:t>
                      </a:r>
                      <a:r>
                        <a:rPr sz="800" b="0" dirty="0" err="1">
                          <a:solidFill>
                            <a:schemeClr val="tx1">
                              <a:lumMod val="65000"/>
                              <a:lumOff val="35000"/>
                            </a:schemeClr>
                          </a:solidFill>
                          <a:latin typeface="Yekan Bakh"/>
                          <a:cs typeface="Yekan Bakh"/>
                        </a:rPr>
                        <a:t>مثلاً</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خدمات</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حرفه‌ای</a:t>
                      </a:r>
                      <a:r>
                        <a:rPr sz="800" b="0" dirty="0">
                          <a:solidFill>
                            <a:schemeClr val="tx1">
                              <a:lumMod val="65000"/>
                              <a:lumOff val="35000"/>
                            </a:schemeClr>
                          </a:solidFill>
                          <a:latin typeface="Yekan Bakh"/>
                          <a:cs typeface="Yekan Bakh"/>
                        </a:rPr>
                        <a:t> → </a:t>
                      </a:r>
                      <a:r>
                        <a:rPr sz="800" b="0" dirty="0" err="1">
                          <a:solidFill>
                            <a:schemeClr val="tx1">
                              <a:lumMod val="65000"/>
                              <a:lumOff val="35000"/>
                            </a:schemeClr>
                          </a:solidFill>
                          <a:latin typeface="Yekan Bakh"/>
                          <a:cs typeface="Yekan Bakh"/>
                        </a:rPr>
                        <a:t>کشف</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فرصت</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ونچر</a:t>
                      </a:r>
                      <a:r>
                        <a:rPr sz="800" b="0" dirty="0">
                          <a:solidFill>
                            <a:schemeClr val="tx1">
                              <a:lumMod val="65000"/>
                              <a:lumOff val="35000"/>
                            </a:schemeClr>
                          </a:solidFill>
                          <a:latin typeface="Yekan Bakh"/>
                          <a:cs typeface="Yekan Bakh"/>
                        </a:rPr>
                        <a:t>/</a:t>
                      </a:r>
                      <a:r>
                        <a:rPr sz="800" b="0" dirty="0" err="1">
                          <a:solidFill>
                            <a:schemeClr val="tx1">
                              <a:lumMod val="65000"/>
                              <a:lumOff val="35000"/>
                            </a:schemeClr>
                          </a:solidFill>
                          <a:latin typeface="Yekan Bakh"/>
                          <a:cs typeface="Yekan Bakh"/>
                        </a:rPr>
                        <a:t>سرمایه‌گذاری</a:t>
                      </a:r>
                      <a:r>
                        <a:rPr lang="fa-IR" sz="800" b="0" dirty="0">
                          <a:solidFill>
                            <a:schemeClr val="tx1">
                              <a:lumMod val="65000"/>
                              <a:lumOff val="35000"/>
                            </a:schemeClr>
                          </a:solidFill>
                          <a:latin typeface="Yekan Bakh"/>
                          <a:cs typeface="Yekan Bakh"/>
                        </a:rPr>
                        <a:t>)</a:t>
                      </a:r>
                      <a:endParaRPr sz="800" b="0" dirty="0">
                        <a:solidFill>
                          <a:schemeClr val="tx1">
                            <a:lumMod val="65000"/>
                            <a:lumOff val="35000"/>
                          </a:schemeClr>
                        </a:solidFill>
                        <a:latin typeface="Yekan Bakh"/>
                        <a:cs typeface="Yekan Bakh"/>
                      </a:endParaRPr>
                    </a:p>
                  </a:txBody>
                  <a:tcPr marL="50800" marR="50800" marT="38100" marB="38100" anchor="ctr">
                    <a:solidFill>
                      <a:srgbClr val="FFFFFF"/>
                    </a:solidFill>
                  </a:tcPr>
                </a:tc>
                <a:tc>
                  <a:txBody>
                    <a:bodyPr/>
                    <a:lstStyle/>
                    <a:p>
                      <a:pPr algn="ctr" rtl="1">
                        <a:lnSpc>
                          <a:spcPct val="105000"/>
                        </a:lnSpc>
                      </a:pPr>
                      <a:r>
                        <a:rPr sz="1050" b="1" dirty="0" err="1">
                          <a:solidFill>
                            <a:srgbClr val="00406C"/>
                          </a:solidFill>
                          <a:latin typeface="Yekan Bakh"/>
                          <a:cs typeface="Yekan Bakh"/>
                        </a:rPr>
                        <a:t>جریان</a:t>
                      </a:r>
                      <a:r>
                        <a:rPr sz="1050" b="1" dirty="0">
                          <a:solidFill>
                            <a:srgbClr val="00406C"/>
                          </a:solidFill>
                          <a:latin typeface="Yekan Bakh"/>
                          <a:cs typeface="Yekan Bakh"/>
                        </a:rPr>
                        <a:t> </a:t>
                      </a:r>
                      <a:r>
                        <a:rPr sz="1050" b="1" dirty="0" err="1">
                          <a:solidFill>
                            <a:srgbClr val="00406C"/>
                          </a:solidFill>
                          <a:latin typeface="Yekan Bakh"/>
                          <a:cs typeface="Yekan Bakh"/>
                        </a:rPr>
                        <a:t>متقابل</a:t>
                      </a:r>
                      <a:r>
                        <a:rPr sz="1050" b="1" dirty="0">
                          <a:solidFill>
                            <a:srgbClr val="00406C"/>
                          </a:solidFill>
                          <a:latin typeface="Yekan Bakh"/>
                          <a:cs typeface="Yekan Bakh"/>
                        </a:rPr>
                        <a:t> </a:t>
                      </a:r>
                      <a:r>
                        <a:rPr sz="1050" b="1" dirty="0" err="1">
                          <a:solidFill>
                            <a:srgbClr val="00406C"/>
                          </a:solidFill>
                          <a:latin typeface="Yekan Bakh"/>
                          <a:cs typeface="Yekan Bakh"/>
                        </a:rPr>
                        <a:t>بین</a:t>
                      </a:r>
                      <a:r>
                        <a:rPr sz="1050" b="1" dirty="0">
                          <a:solidFill>
                            <a:srgbClr val="00406C"/>
                          </a:solidFill>
                          <a:latin typeface="Yekan Bakh"/>
                          <a:cs typeface="Yekan Bakh"/>
                        </a:rPr>
                        <a:t> ۳ </a:t>
                      </a:r>
                      <a:r>
                        <a:rPr lang="fa-IR" sz="1050" b="1" dirty="0">
                          <a:solidFill>
                            <a:srgbClr val="00406C"/>
                          </a:solidFill>
                          <a:latin typeface="Yekan Bakh"/>
                          <a:cs typeface="Yekan Bakh"/>
                        </a:rPr>
                        <a:t> </a:t>
                      </a:r>
                      <a:r>
                        <a:rPr sz="1050" b="1" dirty="0" err="1">
                          <a:solidFill>
                            <a:srgbClr val="00406C"/>
                          </a:solidFill>
                          <a:latin typeface="Yekan Bakh"/>
                          <a:cs typeface="Yekan Bakh"/>
                        </a:rPr>
                        <a:t>بیزینس‌لاین</a:t>
                      </a:r>
                      <a:r>
                        <a:rPr sz="1050" b="1" dirty="0">
                          <a:solidFill>
                            <a:srgbClr val="00406C"/>
                          </a:solidFill>
                          <a:latin typeface="Yekan Bakh"/>
                          <a:cs typeface="Yekan Bakh"/>
                        </a:rPr>
                        <a:t> </a:t>
                      </a:r>
                      <a:r>
                        <a:rPr lang="fa-IR" sz="1050" b="1" dirty="0">
                          <a:solidFill>
                            <a:srgbClr val="00406C"/>
                          </a:solidFill>
                          <a:latin typeface="Yekan Bakh"/>
                          <a:cs typeface="Yekan Bakh"/>
                        </a:rPr>
                        <a:t>(</a:t>
                      </a:r>
                      <a:r>
                        <a:rPr sz="1050" b="1" dirty="0" err="1">
                          <a:solidFill>
                            <a:srgbClr val="00406C"/>
                          </a:solidFill>
                          <a:latin typeface="Yekan Bakh"/>
                          <a:cs typeface="Yekan Bakh"/>
                        </a:rPr>
                        <a:t>چرخه</a:t>
                      </a:r>
                      <a:r>
                        <a:rPr sz="1050" b="1" dirty="0">
                          <a:solidFill>
                            <a:srgbClr val="00406C"/>
                          </a:solidFill>
                          <a:latin typeface="Yekan Bakh"/>
                          <a:cs typeface="Yekan Bakh"/>
                        </a:rPr>
                        <a:t> </a:t>
                      </a:r>
                      <a:r>
                        <a:rPr sz="1050" b="1" dirty="0" err="1">
                          <a:solidFill>
                            <a:srgbClr val="00406C"/>
                          </a:solidFill>
                          <a:latin typeface="Yekan Bakh"/>
                          <a:cs typeface="Yekan Bakh"/>
                        </a:rPr>
                        <a:t>تقویت‌شونده</a:t>
                      </a:r>
                      <a:r>
                        <a:rPr lang="fa-IR" sz="1050" b="1" dirty="0">
                          <a:solidFill>
                            <a:srgbClr val="00406C"/>
                          </a:solidFill>
                          <a:latin typeface="Yekan Bakh"/>
                          <a:cs typeface="Yekan Bakh"/>
                        </a:rPr>
                        <a:t>)</a:t>
                      </a:r>
                      <a:endParaRPr sz="1050" b="1" dirty="0">
                        <a:solidFill>
                          <a:srgbClr val="00406C"/>
                        </a:solidFill>
                        <a:latin typeface="Yekan Bakh"/>
                        <a:cs typeface="Yekan Bakh"/>
                      </a:endParaRPr>
                    </a:p>
                  </a:txBody>
                  <a:tcPr marL="50800" marR="50800" marT="38100" marB="38100" anchor="ctr">
                    <a:solidFill>
                      <a:srgbClr val="FFFFFF"/>
                    </a:solidFill>
                  </a:tcPr>
                </a:tc>
                <a:extLst>
                  <a:ext uri="{0D108BD9-81ED-4DB2-BD59-A6C34878D82A}">
                    <a16:rowId xmlns:a16="http://schemas.microsoft.com/office/drawing/2014/main" val="10005"/>
                  </a:ext>
                </a:extLst>
              </a:tr>
            </a:tbl>
          </a:graphicData>
        </a:graphic>
      </p:graphicFrame>
      <p:sp>
        <p:nvSpPr>
          <p:cNvPr id="12" name="TextBox 11">
            <a:extLst>
              <a:ext uri="{FF2B5EF4-FFF2-40B4-BE49-F238E27FC236}">
                <a16:creationId xmlns:a16="http://schemas.microsoft.com/office/drawing/2014/main" id="{29F5E45A-1002-051F-0DF0-961AF5EEBE7F}"/>
              </a:ext>
            </a:extLst>
          </p:cNvPr>
          <p:cNvSpPr txBox="1"/>
          <p:nvPr/>
        </p:nvSpPr>
        <p:spPr>
          <a:xfrm>
            <a:off x="457199" y="5242299"/>
            <a:ext cx="10788651" cy="446276"/>
          </a:xfrm>
          <a:prstGeom prst="rect">
            <a:avLst/>
          </a:prstGeom>
          <a:noFill/>
        </p:spPr>
        <p:txBody>
          <a:bodyPr wrap="square" anchor="t">
            <a:spAutoFit/>
          </a:bodyPr>
          <a:lstStyle/>
          <a:p>
            <a:pPr algn="justLow" rtl="1">
              <a:lnSpc>
                <a:spcPct val="115000"/>
              </a:lnSpc>
            </a:pPr>
            <a:r>
              <a:rPr lang="fa-IR" sz="1000" b="0" dirty="0">
                <a:solidFill>
                  <a:srgbClr val="6B6B6B"/>
                </a:solidFill>
                <a:latin typeface="Yekan Bakh"/>
                <a:cs typeface="Yekan Bakh"/>
              </a:rPr>
              <a:t>ریسک مشترک مسیر </a:t>
            </a:r>
            <a:r>
              <a:rPr lang="en-US" sz="1000" b="0" dirty="0">
                <a:solidFill>
                  <a:srgbClr val="6B6B6B"/>
                </a:solidFill>
                <a:latin typeface="Yekan Bakh"/>
                <a:cs typeface="Yekan Bakh"/>
              </a:rPr>
              <a:t>B</a:t>
            </a:r>
            <a:r>
              <a:rPr lang="fa-IR" sz="1000" b="0" dirty="0">
                <a:solidFill>
                  <a:srgbClr val="6B6B6B"/>
                </a:solidFill>
                <a:latin typeface="Yekan Bakh"/>
                <a:cs typeface="Yekan Bakh"/>
              </a:rPr>
              <a:t>: این بازیگران « پرداخت‌کننده» نیستند (طبق نقشه بازیگران اکوسیستم)، بنابراین انگیزه غیرمالی طراحی می‌شود (اعتبار متقابل، دسترسی به دیتابیس، حق تقدم در فرصت‌ها) نه کمیسیون نقدی صرف — سازوکار کارمزد معرف نیازمند بررسی تدوین و طراحی در اکوسیستم فرصت ایران است. </a:t>
            </a:r>
          </a:p>
        </p:txBody>
      </p:sp>
      <p:sp>
        <p:nvSpPr>
          <p:cNvPr id="8" name="Rectangle 7">
            <a:extLst>
              <a:ext uri="{FF2B5EF4-FFF2-40B4-BE49-F238E27FC236}">
                <a16:creationId xmlns:a16="http://schemas.microsoft.com/office/drawing/2014/main" id="{3FFE1F35-4F03-65C3-87E0-962C27C71C96}"/>
              </a:ext>
            </a:extLst>
          </p:cNvPr>
          <p:cNvSpPr/>
          <p:nvPr/>
        </p:nvSpPr>
        <p:spPr>
          <a:xfrm>
            <a:off x="457199" y="1918252"/>
            <a:ext cx="10786374" cy="3770270"/>
          </a:xfrm>
          <a:prstGeom prst="rect">
            <a:avLst/>
          </a:prstGeom>
          <a:no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860529892"/>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2541CF10-19F6-8703-6440-DF483DBBB99B}"/>
              </a:ext>
            </a:extLst>
          </p:cNvPr>
          <p:cNvGraphicFramePr>
            <a:graphicFrameLocks noGrp="1"/>
          </p:cNvGraphicFramePr>
          <p:nvPr>
            <p:extLst>
              <p:ext uri="{D42A27DB-BD31-4B8C-83A1-F6EECF244321}">
                <p14:modId xmlns:p14="http://schemas.microsoft.com/office/powerpoint/2010/main" val="1034201161"/>
              </p:ext>
            </p:extLst>
          </p:nvPr>
        </p:nvGraphicFramePr>
        <p:xfrm>
          <a:off x="457200" y="1918252"/>
          <a:ext cx="10788650" cy="3200283"/>
        </p:xfrm>
        <a:graphic>
          <a:graphicData uri="http://schemas.openxmlformats.org/drawingml/2006/table">
            <a:tbl>
              <a:tblPr firstRow="1" bandRow="1">
                <a:tableStyleId>{5C22544A-7EE6-4342-B048-85BDC9FD1C3A}</a:tableStyleId>
              </a:tblPr>
              <a:tblGrid>
                <a:gridCol w="9248775">
                  <a:extLst>
                    <a:ext uri="{9D8B030D-6E8A-4147-A177-3AD203B41FA5}">
                      <a16:colId xmlns:a16="http://schemas.microsoft.com/office/drawing/2014/main" val="20001"/>
                    </a:ext>
                  </a:extLst>
                </a:gridCol>
                <a:gridCol w="1539875">
                  <a:extLst>
                    <a:ext uri="{9D8B030D-6E8A-4147-A177-3AD203B41FA5}">
                      <a16:colId xmlns:a16="http://schemas.microsoft.com/office/drawing/2014/main" val="2609470023"/>
                    </a:ext>
                  </a:extLst>
                </a:gridCol>
              </a:tblGrid>
              <a:tr h="355587">
                <a:tc>
                  <a:txBody>
                    <a:bodyPr/>
                    <a:lstStyle/>
                    <a:p>
                      <a:pPr algn="ctr" rtl="1">
                        <a:lnSpc>
                          <a:spcPct val="105000"/>
                        </a:lnSpc>
                      </a:pPr>
                      <a:r>
                        <a:rPr sz="1100" b="1">
                          <a:solidFill>
                            <a:srgbClr val="FFFFFF"/>
                          </a:solidFill>
                          <a:latin typeface="Yekan Bakh"/>
                          <a:cs typeface="Yekan Bakh"/>
                        </a:rPr>
                        <a:t>کانال‌های واقعی </a:t>
                      </a:r>
                      <a:r>
                        <a:rPr lang="fa-IR" sz="1100" b="1">
                          <a:solidFill>
                            <a:srgbClr val="FFFFFF"/>
                          </a:solidFill>
                          <a:latin typeface="Yekan Bakh"/>
                          <a:cs typeface="Yekan Bakh"/>
                        </a:rPr>
                        <a:t>اکوسیستم فرصت ایران</a:t>
                      </a:r>
                      <a:r>
                        <a:rPr sz="1100" b="1">
                          <a:solidFill>
                            <a:srgbClr val="FFFFFF"/>
                          </a:solidFill>
                          <a:latin typeface="Yekan Bakh"/>
                          <a:cs typeface="Yekan Bakh"/>
                        </a:rPr>
                        <a:t> در این دسته</a:t>
                      </a:r>
                    </a:p>
                  </a:txBody>
                  <a:tcPr marL="50800" marR="50800" marT="38100" marB="38100" anchor="ctr">
                    <a:solidFill>
                      <a:srgbClr val="1E2761"/>
                    </a:solidFill>
                  </a:tcPr>
                </a:tc>
                <a:tc>
                  <a:txBody>
                    <a:bodyPr/>
                    <a:lstStyle/>
                    <a:p>
                      <a:pPr algn="ctr" rtl="1">
                        <a:lnSpc>
                          <a:spcPct val="105000"/>
                        </a:lnSpc>
                      </a:pPr>
                      <a:r>
                        <a:rPr sz="1100" b="1" dirty="0" err="1">
                          <a:solidFill>
                            <a:srgbClr val="FFFFFF"/>
                          </a:solidFill>
                          <a:latin typeface="Yekan Bakh"/>
                          <a:cs typeface="Yekan Bakh"/>
                        </a:rPr>
                        <a:t>دسته</a:t>
                      </a:r>
                      <a:endParaRPr sz="1100" b="1" dirty="0">
                        <a:solidFill>
                          <a:srgbClr val="FFFFFF"/>
                        </a:solidFill>
                        <a:latin typeface="Yekan Bakh"/>
                        <a:cs typeface="Yekan Bakh"/>
                      </a:endParaRPr>
                    </a:p>
                  </a:txBody>
                  <a:tcPr marL="50800" marR="50800" marT="38100" marB="38100" anchor="ctr">
                    <a:solidFill>
                      <a:srgbClr val="1E2761"/>
                    </a:solidFill>
                  </a:tcPr>
                </a:tc>
                <a:extLst>
                  <a:ext uri="{0D108BD9-81ED-4DB2-BD59-A6C34878D82A}">
                    <a16:rowId xmlns:a16="http://schemas.microsoft.com/office/drawing/2014/main" val="10000"/>
                  </a:ext>
                </a:extLst>
              </a:tr>
              <a:tr h="355587">
                <a:tc>
                  <a:txBody>
                    <a:bodyPr/>
                    <a:lstStyle/>
                    <a:p>
                      <a:pPr algn="r" rtl="1">
                        <a:lnSpc>
                          <a:spcPct val="105000"/>
                        </a:lnSpc>
                      </a:pPr>
                      <a:r>
                        <a:rPr sz="800" b="0" dirty="0" err="1">
                          <a:solidFill>
                            <a:schemeClr val="tx1">
                              <a:lumMod val="65000"/>
                              <a:lumOff val="35000"/>
                            </a:schemeClr>
                          </a:solidFill>
                          <a:latin typeface="Yekan Bakh"/>
                          <a:cs typeface="Yekan Bakh"/>
                        </a:rPr>
                        <a:t>شبکه</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روابط</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بنیان‌گذاران</a:t>
                      </a:r>
                      <a:r>
                        <a:rPr sz="800" b="0" dirty="0">
                          <a:solidFill>
                            <a:schemeClr val="tx1">
                              <a:lumMod val="65000"/>
                              <a:lumOff val="35000"/>
                            </a:schemeClr>
                          </a:solidFill>
                          <a:latin typeface="Yekan Bakh"/>
                          <a:cs typeface="Yekan Bakh"/>
                        </a:rPr>
                        <a:t> و </a:t>
                      </a:r>
                      <a:r>
                        <a:rPr sz="800" b="0" dirty="0" err="1">
                          <a:solidFill>
                            <a:schemeClr val="tx1">
                              <a:lumMod val="65000"/>
                              <a:lumOff val="35000"/>
                            </a:schemeClr>
                          </a:solidFill>
                          <a:latin typeface="Yekan Bakh"/>
                          <a:cs typeface="Yekan Bakh"/>
                        </a:rPr>
                        <a:t>تیم</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هسته</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ابزار</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خودارزیابی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دیجیتال</a:t>
                      </a:r>
                      <a:r>
                        <a:rPr sz="800" b="0" dirty="0">
                          <a:solidFill>
                            <a:schemeClr val="tx1">
                              <a:lumMod val="65000"/>
                              <a:lumOff val="35000"/>
                            </a:schemeClr>
                          </a:solidFill>
                          <a:latin typeface="Yekan Bakh"/>
                          <a:cs typeface="Yekan Bakh"/>
                        </a:rPr>
                        <a:t> (Readiness Scorecard)؛ </a:t>
                      </a:r>
                      <a:r>
                        <a:rPr sz="800" b="0" dirty="0" err="1">
                          <a:solidFill>
                            <a:schemeClr val="tx1">
                              <a:lumMod val="65000"/>
                              <a:lumOff val="35000"/>
                            </a:schemeClr>
                          </a:solidFill>
                          <a:latin typeface="Yekan Bakh"/>
                          <a:cs typeface="Yekan Bakh"/>
                        </a:rPr>
                        <a:t>محتوای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تحلیلی</a:t>
                      </a:r>
                      <a:r>
                        <a:rPr sz="800" b="0" dirty="0">
                          <a:solidFill>
                            <a:schemeClr val="tx1">
                              <a:lumMod val="65000"/>
                              <a:lumOff val="35000"/>
                            </a:schemeClr>
                          </a:solidFill>
                          <a:latin typeface="Yekan Bakh"/>
                          <a:cs typeface="Yekan Bakh"/>
                        </a:rPr>
                        <a:t>/</a:t>
                      </a:r>
                      <a:r>
                        <a:rPr sz="800" b="0" dirty="0" err="1">
                          <a:solidFill>
                            <a:schemeClr val="tx1">
                              <a:lumMod val="65000"/>
                              <a:lumOff val="35000"/>
                            </a:schemeClr>
                          </a:solidFill>
                          <a:latin typeface="Yekan Bakh"/>
                          <a:cs typeface="Yekan Bakh"/>
                        </a:rPr>
                        <a:t>گزارش</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بازار</a:t>
                      </a:r>
                      <a:r>
                        <a:rPr sz="800" b="0" dirty="0">
                          <a:solidFill>
                            <a:schemeClr val="tx1">
                              <a:lumMod val="65000"/>
                              <a:lumOff val="35000"/>
                            </a:schemeClr>
                          </a:solidFill>
                          <a:latin typeface="Yekan Bakh"/>
                          <a:cs typeface="Yekan Bakh"/>
                        </a:rPr>
                        <a:t> </a:t>
                      </a:r>
                      <a:r>
                        <a:rPr lang="fa-IR" sz="800" b="0" dirty="0">
                          <a:solidFill>
                            <a:schemeClr val="tx1">
                              <a:lumMod val="65000"/>
                              <a:lumOff val="35000"/>
                            </a:schemeClr>
                          </a:solidFill>
                          <a:latin typeface="Yekan Bakh"/>
                          <a:cs typeface="Yekan Bakh"/>
                        </a:rPr>
                        <a:t>اکوسیستم فرصت ایران</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جریان</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متقابل</a:t>
                      </a:r>
                      <a:r>
                        <a:rPr sz="800" b="0" dirty="0">
                          <a:solidFill>
                            <a:schemeClr val="tx1">
                              <a:lumMod val="65000"/>
                              <a:lumOff val="35000"/>
                            </a:schemeClr>
                          </a:solidFill>
                          <a:latin typeface="Yekan Bakh"/>
                          <a:cs typeface="Yekan Bakh"/>
                        </a:rPr>
                        <a:t> بین۳ </a:t>
                      </a:r>
                      <a:r>
                        <a:rPr lang="fa-IR" sz="800" b="0" dirty="0">
                          <a:solidFill>
                            <a:schemeClr val="tx1">
                              <a:lumMod val="65000"/>
                              <a:lumOff val="35000"/>
                            </a:schemeClr>
                          </a:solidFill>
                          <a:latin typeface="Yekan Bakh"/>
                          <a:cs typeface="Yekan Bakh"/>
                        </a:rPr>
                        <a:t> ب</a:t>
                      </a:r>
                      <a:r>
                        <a:rPr sz="800" b="0" dirty="0" err="1">
                          <a:solidFill>
                            <a:schemeClr val="tx1">
                              <a:lumMod val="65000"/>
                              <a:lumOff val="35000"/>
                            </a:schemeClr>
                          </a:solidFill>
                          <a:latin typeface="Yekan Bakh"/>
                          <a:cs typeface="Yekan Bakh"/>
                        </a:rPr>
                        <a:t>یزینس‌لاین</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اتاق</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داده</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دیجیتال</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آتی</a:t>
                      </a:r>
                      <a:r>
                        <a:rPr sz="800" b="0" dirty="0">
                          <a:solidFill>
                            <a:schemeClr val="tx1">
                              <a:lumMod val="65000"/>
                              <a:lumOff val="35000"/>
                            </a:schemeClr>
                          </a:solidFill>
                          <a:latin typeface="Yekan Bakh"/>
                          <a:cs typeface="Yekan Bakh"/>
                        </a:rPr>
                        <a:t> (P1)</a:t>
                      </a:r>
                    </a:p>
                  </a:txBody>
                  <a:tcPr marL="50800" marR="50800" marT="38100" marB="38100" anchor="ctr">
                    <a:solidFill>
                      <a:srgbClr val="FFFFFF"/>
                    </a:solidFill>
                  </a:tcPr>
                </a:tc>
                <a:tc>
                  <a:txBody>
                    <a:bodyPr/>
                    <a:lstStyle/>
                    <a:p>
                      <a:pPr algn="ctr" rtl="1">
                        <a:lnSpc>
                          <a:spcPct val="105000"/>
                        </a:lnSpc>
                      </a:pPr>
                      <a:r>
                        <a:rPr lang="fa-IR" sz="1050" b="1" dirty="0">
                          <a:solidFill>
                            <a:srgbClr val="00406C"/>
                          </a:solidFill>
                          <a:latin typeface="Yekan Bakh"/>
                          <a:cs typeface="Yekan Bakh"/>
                        </a:rPr>
                        <a:t>کانال تحت مالکیت </a:t>
                      </a:r>
                      <a:endParaRPr sz="1050" b="1" dirty="0">
                        <a:solidFill>
                          <a:srgbClr val="00406C"/>
                        </a:solidFill>
                        <a:latin typeface="Yekan Bakh"/>
                        <a:cs typeface="Yekan Bakh"/>
                      </a:endParaRPr>
                    </a:p>
                  </a:txBody>
                  <a:tcPr marL="50800" marR="50800" marT="38100" marB="38100" anchor="ctr">
                    <a:solidFill>
                      <a:srgbClr val="FFFFFF"/>
                    </a:solidFill>
                  </a:tcPr>
                </a:tc>
                <a:extLst>
                  <a:ext uri="{0D108BD9-81ED-4DB2-BD59-A6C34878D82A}">
                    <a16:rowId xmlns:a16="http://schemas.microsoft.com/office/drawing/2014/main" val="10001"/>
                  </a:ext>
                </a:extLst>
              </a:tr>
              <a:tr h="355587">
                <a:tc>
                  <a:txBody>
                    <a:bodyPr/>
                    <a:lstStyle/>
                    <a:p>
                      <a:pPr algn="r" rtl="1">
                        <a:lnSpc>
                          <a:spcPct val="105000"/>
                        </a:lnSpc>
                      </a:pPr>
                      <a:r>
                        <a:rPr sz="800" b="0" dirty="0" err="1">
                          <a:solidFill>
                            <a:schemeClr val="tx1">
                              <a:lumMod val="65000"/>
                              <a:lumOff val="35000"/>
                            </a:schemeClr>
                          </a:solidFill>
                          <a:latin typeface="Yekan Bakh"/>
                          <a:cs typeface="Yekan Bakh"/>
                        </a:rPr>
                        <a:t>اتاق‌های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بازرگانی</a:t>
                      </a:r>
                      <a:r>
                        <a:rPr sz="800" b="0" dirty="0">
                          <a:solidFill>
                            <a:schemeClr val="tx1">
                              <a:lumMod val="65000"/>
                              <a:lumOff val="35000"/>
                            </a:schemeClr>
                          </a:solidFill>
                          <a:latin typeface="Yekan Bakh"/>
                          <a:cs typeface="Yekan Bakh"/>
                        </a:rPr>
                        <a:t>/</a:t>
                      </a:r>
                      <a:r>
                        <a:rPr sz="800" b="0" dirty="0" err="1">
                          <a:solidFill>
                            <a:schemeClr val="tx1">
                              <a:lumMod val="65000"/>
                              <a:lumOff val="35000"/>
                            </a:schemeClr>
                          </a:solidFill>
                          <a:latin typeface="Yekan Bakh"/>
                          <a:cs typeface="Yekan Bakh"/>
                        </a:rPr>
                        <a:t>انجمن‌های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صنفی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برند</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شریک</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بین‌المللی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حسابرسی</a:t>
                      </a:r>
                      <a:r>
                        <a:rPr sz="800" b="0" dirty="0">
                          <a:solidFill>
                            <a:schemeClr val="tx1">
                              <a:lumMod val="65000"/>
                              <a:lumOff val="35000"/>
                            </a:schemeClr>
                          </a:solidFill>
                          <a:latin typeface="Yekan Bakh"/>
                          <a:cs typeface="Yekan Bakh"/>
                        </a:rPr>
                        <a:t>/</a:t>
                      </a:r>
                      <a:r>
                        <a:rPr sz="800" b="0" dirty="0" err="1">
                          <a:solidFill>
                            <a:schemeClr val="tx1">
                              <a:lumMod val="65000"/>
                              <a:lumOff val="35000"/>
                            </a:schemeClr>
                          </a:solidFill>
                          <a:latin typeface="Yekan Bakh"/>
                          <a:cs typeface="Yekan Bakh"/>
                        </a:rPr>
                        <a:t>حقوقی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شبکه‌های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تسهیل‌گر</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تجارت</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بین‌المللی</a:t>
                      </a:r>
                      <a:r>
                        <a:rPr lang="fa-IR" sz="800" b="0" dirty="0">
                          <a:solidFill>
                            <a:schemeClr val="tx1">
                              <a:lumMod val="65000"/>
                              <a:lumOff val="35000"/>
                            </a:schemeClr>
                          </a:solidFill>
                          <a:latin typeface="Yekan Bakh"/>
                          <a:cs typeface="Yekan Bakh"/>
                        </a:rPr>
                        <a:t>) ن</a:t>
                      </a:r>
                      <a:r>
                        <a:rPr sz="800" b="0" dirty="0" err="1">
                          <a:solidFill>
                            <a:schemeClr val="tx1">
                              <a:lumMod val="65000"/>
                              <a:lumOff val="35000"/>
                            </a:schemeClr>
                          </a:solidFill>
                          <a:latin typeface="Yekan Bakh"/>
                          <a:cs typeface="Yekan Bakh"/>
                        </a:rPr>
                        <a:t>ظیر</a:t>
                      </a:r>
                      <a:r>
                        <a:rPr sz="800" b="0" dirty="0">
                          <a:solidFill>
                            <a:schemeClr val="tx1">
                              <a:lumMod val="65000"/>
                              <a:lumOff val="35000"/>
                            </a:schemeClr>
                          </a:solidFill>
                          <a:latin typeface="Yekan Bakh"/>
                          <a:cs typeface="Yekan Bakh"/>
                        </a:rPr>
                        <a:t> EEN)؛ </a:t>
                      </a:r>
                      <a:r>
                        <a:rPr sz="800" b="0" dirty="0" err="1">
                          <a:solidFill>
                            <a:schemeClr val="tx1">
                              <a:lumMod val="65000"/>
                              <a:lumOff val="35000"/>
                            </a:schemeClr>
                          </a:solidFill>
                          <a:latin typeface="Yekan Bakh"/>
                          <a:cs typeface="Yekan Bakh"/>
                        </a:rPr>
                        <a:t>شبکه</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مشاوران</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برون‌سازمانی</a:t>
                      </a:r>
                      <a:r>
                        <a:rPr sz="800" b="0" dirty="0">
                          <a:solidFill>
                            <a:schemeClr val="tx1">
                              <a:lumMod val="65000"/>
                              <a:lumOff val="35000"/>
                            </a:schemeClr>
                          </a:solidFill>
                          <a:latin typeface="Yekan Bakh"/>
                          <a:cs typeface="Yekan Bakh"/>
                        </a:rPr>
                        <a:t>/CFO/VC-PE؛ </a:t>
                      </a:r>
                      <a:r>
                        <a:rPr sz="800" b="0" dirty="0" err="1">
                          <a:solidFill>
                            <a:schemeClr val="tx1">
                              <a:lumMod val="65000"/>
                              <a:lumOff val="35000"/>
                            </a:schemeClr>
                          </a:solidFill>
                          <a:latin typeface="Yekan Bakh"/>
                          <a:cs typeface="Yekan Bakh"/>
                        </a:rPr>
                        <a:t>دیاسپورای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ایرانی</a:t>
                      </a:r>
                      <a:endParaRPr sz="800" b="0" dirty="0">
                        <a:solidFill>
                          <a:schemeClr val="tx1">
                            <a:lumMod val="65000"/>
                            <a:lumOff val="35000"/>
                          </a:schemeClr>
                        </a:solidFill>
                        <a:latin typeface="Yekan Bakh"/>
                        <a:cs typeface="Yekan Bakh"/>
                      </a:endParaRPr>
                    </a:p>
                  </a:txBody>
                  <a:tcPr marL="50800" marR="50800" marT="38100" marB="38100" anchor="ctr">
                    <a:solidFill>
                      <a:srgbClr val="F2F2F2"/>
                    </a:solidFill>
                  </a:tcPr>
                </a:tc>
                <a:tc>
                  <a:txBody>
                    <a:bodyPr/>
                    <a:lstStyle/>
                    <a:p>
                      <a:pPr algn="ctr" rtl="1">
                        <a:lnSpc>
                          <a:spcPct val="105000"/>
                        </a:lnSpc>
                      </a:pPr>
                      <a:r>
                        <a:rPr lang="fa-IR" sz="1050" b="1" dirty="0">
                          <a:solidFill>
                            <a:srgbClr val="00406C"/>
                          </a:solidFill>
                          <a:latin typeface="Yekan Bakh"/>
                          <a:cs typeface="Yekan Bakh"/>
                        </a:rPr>
                        <a:t>کانال بیرونی </a:t>
                      </a:r>
                      <a:endParaRPr sz="1050" b="1" dirty="0">
                        <a:solidFill>
                          <a:srgbClr val="00406C"/>
                        </a:solidFill>
                        <a:latin typeface="Yekan Bakh"/>
                        <a:cs typeface="Yekan Bakh"/>
                      </a:endParaRPr>
                    </a:p>
                  </a:txBody>
                  <a:tcPr marL="50800" marR="50800" marT="38100" marB="38100" anchor="ctr">
                    <a:solidFill>
                      <a:srgbClr val="F2F2F2"/>
                    </a:solidFill>
                  </a:tcPr>
                </a:tc>
                <a:extLst>
                  <a:ext uri="{0D108BD9-81ED-4DB2-BD59-A6C34878D82A}">
                    <a16:rowId xmlns:a16="http://schemas.microsoft.com/office/drawing/2014/main" val="10002"/>
                  </a:ext>
                </a:extLst>
              </a:tr>
              <a:tr h="355587">
                <a:tc>
                  <a:txBody>
                    <a:bodyPr/>
                    <a:lstStyle/>
                    <a:p>
                      <a:pPr algn="r" rtl="1">
                        <a:lnSpc>
                          <a:spcPct val="105000"/>
                        </a:lnSpc>
                      </a:pPr>
                      <a:r>
                        <a:rPr sz="800" b="0" dirty="0" err="1">
                          <a:solidFill>
                            <a:schemeClr val="tx1">
                              <a:lumMod val="65000"/>
                              <a:lumOff val="35000"/>
                            </a:schemeClr>
                          </a:solidFill>
                          <a:latin typeface="Yekan Bakh"/>
                          <a:cs typeface="Yekan Bakh"/>
                        </a:rPr>
                        <a:t>پوشش</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برنامه‌ریزی‌شده</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در</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رسانه‌های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اقتصادی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معتبر</a:t>
                      </a:r>
                      <a:r>
                        <a:rPr sz="800" b="0" dirty="0">
                          <a:solidFill>
                            <a:schemeClr val="tx1">
                              <a:lumMod val="65000"/>
                              <a:lumOff val="35000"/>
                            </a:schemeClr>
                          </a:solidFill>
                          <a:latin typeface="Yekan Bakh"/>
                          <a:cs typeface="Yekan Bakh"/>
                        </a:rPr>
                        <a:t> </a:t>
                      </a:r>
                      <a:r>
                        <a:rPr lang="fa-IR" sz="800" b="0" dirty="0">
                          <a:solidFill>
                            <a:schemeClr val="tx1">
                              <a:lumMod val="65000"/>
                              <a:lumOff val="35000"/>
                            </a:schemeClr>
                          </a:solidFill>
                          <a:latin typeface="Yekan Bakh"/>
                          <a:cs typeface="Yekan Bakh"/>
                        </a:rPr>
                        <a:t>(</a:t>
                      </a:r>
                      <a:r>
                        <a:rPr sz="800" b="0" dirty="0" err="1">
                          <a:solidFill>
                            <a:schemeClr val="tx1">
                              <a:lumMod val="65000"/>
                              <a:lumOff val="35000"/>
                            </a:schemeClr>
                          </a:solidFill>
                          <a:latin typeface="Yekan Bakh"/>
                          <a:cs typeface="Yekan Bakh"/>
                        </a:rPr>
                        <a:t>محتوای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اسپانسرشده</a:t>
                      </a:r>
                      <a:r>
                        <a:rPr lang="fa-IR" sz="800" b="0" dirty="0">
                          <a:solidFill>
                            <a:schemeClr val="tx1">
                              <a:lumMod val="65000"/>
                              <a:lumOff val="35000"/>
                            </a:schemeClr>
                          </a:solidFill>
                          <a:latin typeface="Yekan Bakh"/>
                          <a:cs typeface="Yekan Bakh"/>
                        </a:rPr>
                        <a:t>)</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حضور</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در</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رویداد</a:t>
                      </a:r>
                      <a:r>
                        <a:rPr sz="800" b="0" dirty="0">
                          <a:solidFill>
                            <a:schemeClr val="tx1">
                              <a:lumMod val="65000"/>
                              <a:lumOff val="35000"/>
                            </a:schemeClr>
                          </a:solidFill>
                          <a:latin typeface="Yekan Bakh"/>
                          <a:cs typeface="Yekan Bakh"/>
                        </a:rPr>
                        <a:t>/</a:t>
                      </a:r>
                      <a:r>
                        <a:rPr sz="800" b="0" dirty="0" err="1">
                          <a:solidFill>
                            <a:schemeClr val="tx1">
                              <a:lumMod val="65000"/>
                              <a:lumOff val="35000"/>
                            </a:schemeClr>
                          </a:solidFill>
                          <a:latin typeface="Yekan Bakh"/>
                          <a:cs typeface="Yekan Bakh"/>
                        </a:rPr>
                        <a:t>هیئت</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تجاری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بین‌المللی</a:t>
                      </a:r>
                      <a:r>
                        <a:rPr sz="800" b="0" dirty="0">
                          <a:solidFill>
                            <a:schemeClr val="tx1">
                              <a:lumMod val="65000"/>
                              <a:lumOff val="35000"/>
                            </a:schemeClr>
                          </a:solidFill>
                          <a:latin typeface="Yekan Bakh"/>
                          <a:cs typeface="Yekan Bakh"/>
                        </a:rPr>
                        <a:t> (P1)</a:t>
                      </a:r>
                    </a:p>
                  </a:txBody>
                  <a:tcPr marL="50800" marR="50800" marT="38100" marB="38100" anchor="ctr">
                    <a:solidFill>
                      <a:srgbClr val="FFFFFF"/>
                    </a:solidFill>
                  </a:tcPr>
                </a:tc>
                <a:tc>
                  <a:txBody>
                    <a:bodyPr/>
                    <a:lstStyle/>
                    <a:p>
                      <a:pPr algn="ctr" rtl="1">
                        <a:lnSpc>
                          <a:spcPct val="105000"/>
                        </a:lnSpc>
                      </a:pPr>
                      <a:r>
                        <a:rPr lang="fa-IR" sz="1050" b="1" dirty="0">
                          <a:solidFill>
                            <a:srgbClr val="00406C"/>
                          </a:solidFill>
                          <a:latin typeface="Yekan Bakh"/>
                          <a:cs typeface="Yekan Bakh"/>
                        </a:rPr>
                        <a:t>کانال پولی</a:t>
                      </a:r>
                      <a:endParaRPr sz="1050" b="1" dirty="0">
                        <a:solidFill>
                          <a:srgbClr val="00406C"/>
                        </a:solidFill>
                        <a:latin typeface="Yekan Bakh"/>
                        <a:cs typeface="Yekan Bakh"/>
                      </a:endParaRPr>
                    </a:p>
                  </a:txBody>
                  <a:tcPr marL="50800" marR="50800" marT="38100" marB="38100" anchor="ctr">
                    <a:solidFill>
                      <a:srgbClr val="FFFFFF"/>
                    </a:solidFill>
                  </a:tcPr>
                </a:tc>
                <a:extLst>
                  <a:ext uri="{0D108BD9-81ED-4DB2-BD59-A6C34878D82A}">
                    <a16:rowId xmlns:a16="http://schemas.microsoft.com/office/drawing/2014/main" val="10003"/>
                  </a:ext>
                </a:extLst>
              </a:tr>
              <a:tr h="355587">
                <a:tc>
                  <a:txBody>
                    <a:bodyPr/>
                    <a:lstStyle/>
                    <a:p>
                      <a:pPr algn="r" rtl="1">
                        <a:lnSpc>
                          <a:spcPct val="105000"/>
                        </a:lnSpc>
                      </a:pPr>
                      <a:r>
                        <a:rPr sz="800" b="0" dirty="0" err="1">
                          <a:solidFill>
                            <a:schemeClr val="tx1">
                              <a:lumMod val="65000"/>
                              <a:lumOff val="35000"/>
                            </a:schemeClr>
                          </a:solidFill>
                          <a:latin typeface="Yekan Bakh"/>
                          <a:cs typeface="Yekan Bakh"/>
                        </a:rPr>
                        <a:t>معرفی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گرم</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از</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شبکه</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شخصی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بنیان‌گذاران</a:t>
                      </a:r>
                      <a:r>
                        <a:rPr sz="800" b="0" dirty="0">
                          <a:solidFill>
                            <a:schemeClr val="tx1">
                              <a:lumMod val="65000"/>
                              <a:lumOff val="35000"/>
                            </a:schemeClr>
                          </a:solidFill>
                          <a:latin typeface="Yekan Bakh"/>
                          <a:cs typeface="Yekan Bakh"/>
                        </a:rPr>
                        <a:t> (Referral)؛ </a:t>
                      </a:r>
                      <a:r>
                        <a:rPr sz="800" b="0" dirty="0" err="1">
                          <a:solidFill>
                            <a:schemeClr val="tx1">
                              <a:lumMod val="65000"/>
                              <a:lumOff val="35000"/>
                            </a:schemeClr>
                          </a:solidFill>
                          <a:latin typeface="Yekan Bakh"/>
                          <a:cs typeface="Yekan Bakh"/>
                        </a:rPr>
                        <a:t>ارجاع</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داخلی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خودکار</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بین</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پرسوناها</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اعتبار</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انباشته</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از</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مراجع</a:t>
                      </a:r>
                      <a:r>
                        <a:rPr sz="800" b="0" dirty="0">
                          <a:solidFill>
                            <a:schemeClr val="tx1">
                              <a:lumMod val="65000"/>
                              <a:lumOff val="35000"/>
                            </a:schemeClr>
                          </a:solidFill>
                          <a:latin typeface="Yekan Bakh"/>
                          <a:cs typeface="Yekan Bakh"/>
                        </a:rPr>
                        <a:t>/</a:t>
                      </a:r>
                      <a:r>
                        <a:rPr sz="800" b="0" dirty="0" err="1">
                          <a:solidFill>
                            <a:schemeClr val="tx1">
                              <a:lumMod val="65000"/>
                              <a:lumOff val="35000"/>
                            </a:schemeClr>
                          </a:solidFill>
                          <a:latin typeface="Yekan Bakh"/>
                          <a:cs typeface="Yekan Bakh"/>
                        </a:rPr>
                        <a:t>نمونه‌کار</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قبلی</a:t>
                      </a:r>
                      <a:endParaRPr sz="800" b="0" dirty="0">
                        <a:solidFill>
                          <a:schemeClr val="tx1">
                            <a:lumMod val="65000"/>
                            <a:lumOff val="35000"/>
                          </a:schemeClr>
                        </a:solidFill>
                        <a:latin typeface="Yekan Bakh"/>
                        <a:cs typeface="Yekan Bakh"/>
                      </a:endParaRPr>
                    </a:p>
                  </a:txBody>
                  <a:tcPr marL="50800" marR="50800" marT="38100" marB="38100" anchor="ctr">
                    <a:solidFill>
                      <a:srgbClr val="F2F2F2"/>
                    </a:solidFill>
                  </a:tcPr>
                </a:tc>
                <a:tc>
                  <a:txBody>
                    <a:bodyPr/>
                    <a:lstStyle/>
                    <a:p>
                      <a:pPr algn="ctr" rtl="1">
                        <a:lnSpc>
                          <a:spcPct val="105000"/>
                        </a:lnSpc>
                      </a:pPr>
                      <a:r>
                        <a:rPr lang="fa-IR" sz="1050" b="1" dirty="0">
                          <a:solidFill>
                            <a:srgbClr val="00406C"/>
                          </a:solidFill>
                          <a:latin typeface="Yekan Bakh"/>
                          <a:cs typeface="Yekan Bakh"/>
                        </a:rPr>
                        <a:t>کانال اعتباری</a:t>
                      </a:r>
                      <a:endParaRPr sz="1050" b="1" dirty="0">
                        <a:solidFill>
                          <a:srgbClr val="00406C"/>
                        </a:solidFill>
                        <a:latin typeface="Yekan Bakh"/>
                        <a:cs typeface="Yekan Bakh"/>
                      </a:endParaRPr>
                    </a:p>
                  </a:txBody>
                  <a:tcPr marL="50800" marR="50800" marT="38100" marB="38100" anchor="ctr">
                    <a:solidFill>
                      <a:srgbClr val="F2F2F2"/>
                    </a:solidFill>
                  </a:tcPr>
                </a:tc>
                <a:extLst>
                  <a:ext uri="{0D108BD9-81ED-4DB2-BD59-A6C34878D82A}">
                    <a16:rowId xmlns:a16="http://schemas.microsoft.com/office/drawing/2014/main" val="10004"/>
                  </a:ext>
                </a:extLst>
              </a:tr>
              <a:tr h="355587">
                <a:tc>
                  <a:txBody>
                    <a:bodyPr/>
                    <a:lstStyle/>
                    <a:p>
                      <a:pPr algn="r" rtl="1">
                        <a:lnSpc>
                          <a:spcPct val="105000"/>
                        </a:lnSpc>
                      </a:pPr>
                      <a:r>
                        <a:rPr sz="800" b="0" dirty="0" err="1">
                          <a:solidFill>
                            <a:schemeClr val="tx1">
                              <a:lumMod val="65000"/>
                              <a:lumOff val="35000"/>
                            </a:schemeClr>
                          </a:solidFill>
                          <a:latin typeface="Yekan Bakh"/>
                          <a:cs typeface="Yekan Bakh"/>
                        </a:rPr>
                        <a:t>ابزار</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خودارزیابی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دیجیتال</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صفحات</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فرود</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اختصاصی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هر</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پرسونا</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اتاق</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دادهDD</a:t>
                      </a:r>
                      <a:r>
                        <a:rPr sz="800" b="0" dirty="0">
                          <a:solidFill>
                            <a:schemeClr val="tx1">
                              <a:lumMod val="65000"/>
                              <a:lumOff val="35000"/>
                            </a:schemeClr>
                          </a:solidFill>
                          <a:latin typeface="Yekan Bakh"/>
                          <a:cs typeface="Yekan Bakh"/>
                        </a:rPr>
                        <a:t>/</a:t>
                      </a:r>
                      <a:r>
                        <a:rPr lang="fa-I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پلتفرم</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دوطرفه</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معامله</a:t>
                      </a:r>
                      <a:r>
                        <a:rPr sz="800" b="0" dirty="0">
                          <a:solidFill>
                            <a:schemeClr val="tx1">
                              <a:lumMod val="65000"/>
                              <a:lumOff val="35000"/>
                            </a:schemeClr>
                          </a:solidFill>
                          <a:latin typeface="Yekan Bakh"/>
                          <a:cs typeface="Yekan Bakh"/>
                        </a:rPr>
                        <a:t> (P1)</a:t>
                      </a:r>
                    </a:p>
                  </a:txBody>
                  <a:tcPr marL="50800" marR="50800" marT="38100" marB="38100" anchor="ctr">
                    <a:solidFill>
                      <a:srgbClr val="FFFFFF"/>
                    </a:solidFill>
                  </a:tcPr>
                </a:tc>
                <a:tc>
                  <a:txBody>
                    <a:bodyPr/>
                    <a:lstStyle/>
                    <a:p>
                      <a:pPr algn="ctr" rtl="1">
                        <a:lnSpc>
                          <a:spcPct val="105000"/>
                        </a:lnSpc>
                      </a:pPr>
                      <a:r>
                        <a:rPr lang="fa-IR" sz="1050" b="1" kern="1200" dirty="0">
                          <a:solidFill>
                            <a:srgbClr val="00406C"/>
                          </a:solidFill>
                          <a:latin typeface="Yekan Bakh"/>
                          <a:ea typeface="+mn-ea"/>
                          <a:cs typeface="Yekan Bakh"/>
                        </a:rPr>
                        <a:t>کانال‌ دیجیتال</a:t>
                      </a:r>
                    </a:p>
                  </a:txBody>
                  <a:tcPr marL="50800" marR="50800" marT="38100" marB="38100" anchor="ctr">
                    <a:solidFill>
                      <a:srgbClr val="FFFFFF"/>
                    </a:solidFill>
                  </a:tcPr>
                </a:tc>
                <a:extLst>
                  <a:ext uri="{0D108BD9-81ED-4DB2-BD59-A6C34878D82A}">
                    <a16:rowId xmlns:a16="http://schemas.microsoft.com/office/drawing/2014/main" val="10005"/>
                  </a:ext>
                </a:extLst>
              </a:tr>
              <a:tr h="355587">
                <a:tc>
                  <a:txBody>
                    <a:bodyPr/>
                    <a:lstStyle/>
                    <a:p>
                      <a:pPr algn="r" rtl="1">
                        <a:lnSpc>
                          <a:spcPct val="105000"/>
                        </a:lnSpc>
                      </a:pPr>
                      <a:r>
                        <a:rPr sz="800" b="0" dirty="0" err="1">
                          <a:solidFill>
                            <a:schemeClr val="tx1">
                              <a:lumMod val="65000"/>
                              <a:lumOff val="35000"/>
                            </a:schemeClr>
                          </a:solidFill>
                          <a:latin typeface="Yekan Bakh"/>
                          <a:cs typeface="Yekan Bakh"/>
                        </a:rPr>
                        <a:t>نشست</a:t>
                      </a:r>
                      <a:r>
                        <a:rPr sz="800" b="0" dirty="0">
                          <a:solidFill>
                            <a:schemeClr val="tx1">
                              <a:lumMod val="65000"/>
                              <a:lumOff val="35000"/>
                            </a:schemeClr>
                          </a:solidFill>
                          <a:latin typeface="Yekan Bakh"/>
                          <a:cs typeface="Yekan Bakh"/>
                        </a:rPr>
                        <a:t>/</a:t>
                      </a:r>
                      <a:r>
                        <a:rPr sz="800" b="0" dirty="0" err="1">
                          <a:solidFill>
                            <a:schemeClr val="tx1">
                              <a:lumMod val="65000"/>
                              <a:lumOff val="35000"/>
                            </a:schemeClr>
                          </a:solidFill>
                          <a:latin typeface="Yekan Bakh"/>
                          <a:cs typeface="Yekan Bakh"/>
                        </a:rPr>
                        <a:t>رویداد</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اتاق</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بازرگانی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رویداد</a:t>
                      </a:r>
                      <a:r>
                        <a:rPr sz="800" b="0" dirty="0">
                          <a:solidFill>
                            <a:schemeClr val="tx1">
                              <a:lumMod val="65000"/>
                              <a:lumOff val="35000"/>
                            </a:schemeClr>
                          </a:solidFill>
                          <a:latin typeface="Yekan Bakh"/>
                          <a:cs typeface="Yekan Bakh"/>
                        </a:rPr>
                        <a:t> و </a:t>
                      </a:r>
                      <a:r>
                        <a:rPr sz="800" b="0" dirty="0" err="1">
                          <a:solidFill>
                            <a:schemeClr val="tx1">
                              <a:lumMod val="65000"/>
                              <a:lumOff val="35000"/>
                            </a:schemeClr>
                          </a:solidFill>
                          <a:latin typeface="Yekan Bakh"/>
                          <a:cs typeface="Yekan Bakh"/>
                        </a:rPr>
                        <a:t>هیئت</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تجاری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بین‌المللی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جلسه</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اجرایی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حضوری</a:t>
                      </a:r>
                      <a:endParaRPr sz="800" b="0" dirty="0">
                        <a:solidFill>
                          <a:schemeClr val="tx1">
                            <a:lumMod val="65000"/>
                            <a:lumOff val="35000"/>
                          </a:schemeClr>
                        </a:solidFill>
                        <a:latin typeface="Yekan Bakh"/>
                        <a:cs typeface="Yekan Bakh"/>
                      </a:endParaRPr>
                    </a:p>
                  </a:txBody>
                  <a:tcPr marL="50800" marR="50800" marT="38100" marB="38100" anchor="ctr">
                    <a:solidFill>
                      <a:srgbClr val="F2F2F2"/>
                    </a:solidFill>
                  </a:tcPr>
                </a:tc>
                <a:tc>
                  <a:txBody>
                    <a:bodyPr/>
                    <a:lstStyle/>
                    <a:p>
                      <a:pPr algn="ctr" rtl="1">
                        <a:lnSpc>
                          <a:spcPct val="105000"/>
                        </a:lnSpc>
                      </a:pPr>
                      <a:r>
                        <a:rPr lang="fa-IR" sz="1050" b="1" kern="1200" dirty="0">
                          <a:solidFill>
                            <a:srgbClr val="00406C"/>
                          </a:solidFill>
                          <a:latin typeface="Yekan Bakh"/>
                          <a:ea typeface="+mn-ea"/>
                          <a:cs typeface="Yekan Bakh"/>
                        </a:rPr>
                        <a:t>کانال حضوری </a:t>
                      </a:r>
                      <a:endParaRPr sz="1050" b="1" kern="1200" dirty="0">
                        <a:solidFill>
                          <a:srgbClr val="00406C"/>
                        </a:solidFill>
                        <a:latin typeface="Yekan Bakh"/>
                        <a:ea typeface="+mn-ea"/>
                        <a:cs typeface="Yekan Bakh"/>
                      </a:endParaRPr>
                    </a:p>
                  </a:txBody>
                  <a:tcPr marL="50800" marR="50800" marT="38100" marB="38100" anchor="ctr">
                    <a:solidFill>
                      <a:srgbClr val="F2F2F2"/>
                    </a:solidFill>
                  </a:tcPr>
                </a:tc>
                <a:extLst>
                  <a:ext uri="{0D108BD9-81ED-4DB2-BD59-A6C34878D82A}">
                    <a16:rowId xmlns:a16="http://schemas.microsoft.com/office/drawing/2014/main" val="10006"/>
                  </a:ext>
                </a:extLst>
              </a:tr>
              <a:tr h="355587">
                <a:tc>
                  <a:txBody>
                    <a:bodyPr/>
                    <a:lstStyle/>
                    <a:p>
                      <a:pPr algn="r" rtl="1">
                        <a:lnSpc>
                          <a:spcPct val="105000"/>
                        </a:lnSpc>
                      </a:pPr>
                      <a:r>
                        <a:rPr sz="800" b="0" dirty="0" err="1">
                          <a:solidFill>
                            <a:schemeClr val="tx1">
                              <a:lumMod val="65000"/>
                              <a:lumOff val="35000"/>
                            </a:schemeClr>
                          </a:solidFill>
                          <a:latin typeface="Yekan Bakh"/>
                          <a:cs typeface="Yekan Bakh"/>
                        </a:rPr>
                        <a:t>بنیان‌گذاران</a:t>
                      </a:r>
                      <a:r>
                        <a:rPr sz="800" b="0" dirty="0">
                          <a:solidFill>
                            <a:schemeClr val="tx1">
                              <a:lumMod val="65000"/>
                              <a:lumOff val="35000"/>
                            </a:schemeClr>
                          </a:solidFill>
                          <a:latin typeface="Yekan Bakh"/>
                          <a:cs typeface="Yekan Bakh"/>
                        </a:rPr>
                        <a:t> و </a:t>
                      </a:r>
                      <a:r>
                        <a:rPr sz="800" b="0" dirty="0" err="1">
                          <a:solidFill>
                            <a:schemeClr val="tx1">
                              <a:lumMod val="65000"/>
                              <a:lumOff val="35000"/>
                            </a:schemeClr>
                          </a:solidFill>
                          <a:latin typeface="Yekan Bakh"/>
                          <a:cs typeface="Yekan Bakh"/>
                        </a:rPr>
                        <a:t>تیم</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توسعه</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کسب‌وکار</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نماینده</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اتاق</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بازرگانی</a:t>
                      </a:r>
                      <a:r>
                        <a:rPr sz="800" b="0" dirty="0">
                          <a:solidFill>
                            <a:schemeClr val="tx1">
                              <a:lumMod val="65000"/>
                              <a:lumOff val="35000"/>
                            </a:schemeClr>
                          </a:solidFill>
                          <a:latin typeface="Yekan Bakh"/>
                          <a:cs typeface="Yekan Bakh"/>
                        </a:rPr>
                        <a:t>/</a:t>
                      </a:r>
                      <a:r>
                        <a:rPr sz="800" b="0" dirty="0" err="1">
                          <a:solidFill>
                            <a:schemeClr val="tx1">
                              <a:lumMod val="65000"/>
                              <a:lumOff val="35000"/>
                            </a:schemeClr>
                          </a:solidFill>
                          <a:latin typeface="Yekan Bakh"/>
                          <a:cs typeface="Yekan Bakh"/>
                        </a:rPr>
                        <a:t>شریک</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نهادی</a:t>
                      </a:r>
                      <a:r>
                        <a:rPr sz="800" b="0" dirty="0">
                          <a:solidFill>
                            <a:schemeClr val="tx1">
                              <a:lumMod val="65000"/>
                              <a:lumOff val="35000"/>
                            </a:schemeClr>
                          </a:solidFill>
                          <a:latin typeface="Yekan Bakh"/>
                          <a:cs typeface="Yekan Bakh"/>
                        </a:rPr>
                        <a:t> </a:t>
                      </a:r>
                      <a:r>
                        <a:rPr lang="fa-IR" sz="800" b="0" dirty="0">
                          <a:solidFill>
                            <a:schemeClr val="tx1">
                              <a:lumMod val="65000"/>
                              <a:lumOff val="35000"/>
                            </a:schemeClr>
                          </a:solidFill>
                          <a:latin typeface="Yekan Bakh"/>
                          <a:cs typeface="Yekan Bakh"/>
                        </a:rPr>
                        <a:t>(</a:t>
                      </a:r>
                      <a:r>
                        <a:rPr sz="800" b="0" dirty="0" err="1">
                          <a:solidFill>
                            <a:schemeClr val="tx1">
                              <a:lumMod val="65000"/>
                              <a:lumOff val="35000"/>
                            </a:schemeClr>
                          </a:solidFill>
                          <a:latin typeface="Yekan Bakh"/>
                          <a:cs typeface="Yekan Bakh"/>
                        </a:rPr>
                        <a:t>معرف</a:t>
                      </a:r>
                      <a:r>
                        <a:rPr lang="fa-IR" sz="800" b="0" dirty="0">
                          <a:solidFill>
                            <a:schemeClr val="tx1">
                              <a:lumMod val="65000"/>
                              <a:lumOff val="35000"/>
                            </a:schemeClr>
                          </a:solidFill>
                          <a:latin typeface="Yekan Bakh"/>
                          <a:cs typeface="Yekan Bakh"/>
                        </a:rPr>
                        <a:t>)</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مشاور</a:t>
                      </a:r>
                      <a:r>
                        <a:rPr sz="800" b="0" dirty="0">
                          <a:solidFill>
                            <a:schemeClr val="tx1">
                              <a:lumMod val="65000"/>
                              <a:lumOff val="35000"/>
                            </a:schemeClr>
                          </a:solidFill>
                          <a:latin typeface="Yekan Bakh"/>
                          <a:cs typeface="Yekan Bakh"/>
                        </a:rPr>
                        <a:t>/CFO/VC-PE </a:t>
                      </a:r>
                      <a:r>
                        <a:rPr sz="800" b="0" dirty="0" err="1">
                          <a:solidFill>
                            <a:schemeClr val="tx1">
                              <a:lumMod val="65000"/>
                              <a:lumOff val="35000"/>
                            </a:schemeClr>
                          </a:solidFill>
                          <a:latin typeface="Yekan Bakh"/>
                          <a:cs typeface="Yekan Bakh"/>
                        </a:rPr>
                        <a:t>به‌عنوان</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کانال</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ارجاع</a:t>
                      </a:r>
                      <a:endParaRPr sz="800" b="0" dirty="0">
                        <a:solidFill>
                          <a:schemeClr val="tx1">
                            <a:lumMod val="65000"/>
                            <a:lumOff val="35000"/>
                          </a:schemeClr>
                        </a:solidFill>
                        <a:latin typeface="Yekan Bakh"/>
                        <a:cs typeface="Yekan Bakh"/>
                      </a:endParaRPr>
                    </a:p>
                  </a:txBody>
                  <a:tcPr marL="50800" marR="50800" marT="38100" marB="38100" anchor="ctr">
                    <a:solidFill>
                      <a:srgbClr val="FFFFFF"/>
                    </a:solidFill>
                  </a:tcPr>
                </a:tc>
                <a:tc>
                  <a:txBody>
                    <a:bodyPr/>
                    <a:lstStyle/>
                    <a:p>
                      <a:pPr algn="ctr" rtl="1">
                        <a:lnSpc>
                          <a:spcPct val="105000"/>
                        </a:lnSpc>
                      </a:pPr>
                      <a:r>
                        <a:rPr lang="fa-IR" sz="1050" b="1" kern="1200" dirty="0">
                          <a:solidFill>
                            <a:srgbClr val="00406C"/>
                          </a:solidFill>
                          <a:latin typeface="Yekan Bakh"/>
                          <a:ea typeface="+mn-ea"/>
                          <a:cs typeface="Yekan Bakh"/>
                        </a:rPr>
                        <a:t>تعامل انسانی</a:t>
                      </a:r>
                    </a:p>
                  </a:txBody>
                  <a:tcPr marL="50800" marR="50800" marT="38100" marB="38100" anchor="ctr">
                    <a:solidFill>
                      <a:srgbClr val="FFFFFF"/>
                    </a:solidFill>
                  </a:tcPr>
                </a:tc>
                <a:extLst>
                  <a:ext uri="{0D108BD9-81ED-4DB2-BD59-A6C34878D82A}">
                    <a16:rowId xmlns:a16="http://schemas.microsoft.com/office/drawing/2014/main" val="10007"/>
                  </a:ext>
                </a:extLst>
              </a:tr>
              <a:tr h="355587">
                <a:tc>
                  <a:txBody>
                    <a:bodyPr/>
                    <a:lstStyle/>
                    <a:p>
                      <a:pPr algn="r" rtl="1">
                        <a:lnSpc>
                          <a:spcPct val="105000"/>
                        </a:lnSpc>
                      </a:pPr>
                      <a:r>
                        <a:rPr sz="800" b="0" dirty="0" err="1">
                          <a:solidFill>
                            <a:schemeClr val="tx1">
                              <a:lumMod val="65000"/>
                              <a:lumOff val="35000"/>
                            </a:schemeClr>
                          </a:solidFill>
                          <a:latin typeface="Yekan Bakh"/>
                          <a:cs typeface="Yekan Bakh"/>
                        </a:rPr>
                        <a:t>ابزار</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خودارزیابی</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دیجیتال</a:t>
                      </a:r>
                      <a:r>
                        <a:rPr lang="fa-I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پرسونا</a:t>
                      </a:r>
                      <a:r>
                        <a:rPr sz="800" b="0" dirty="0">
                          <a:solidFill>
                            <a:schemeClr val="tx1">
                              <a:lumMod val="65000"/>
                              <a:lumOff val="35000"/>
                            </a:schemeClr>
                          </a:solidFill>
                          <a:latin typeface="Yekan Bakh"/>
                          <a:cs typeface="Yekan Bakh"/>
                        </a:rPr>
                        <a:t> ۳</a:t>
                      </a:r>
                      <a:r>
                        <a:rPr lang="fa-IR" sz="800" b="0" dirty="0">
                          <a:solidFill>
                            <a:schemeClr val="tx1">
                              <a:lumMod val="65000"/>
                              <a:lumOff val="35000"/>
                            </a:schemeClr>
                          </a:solidFill>
                          <a:latin typeface="Yekan Bakh"/>
                          <a:cs typeface="Yekan Bakh"/>
                        </a:rPr>
                        <a:t>)</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ثبت‌نام</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برنامه</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ساختاریافته</a:t>
                      </a:r>
                      <a:r>
                        <a:rPr sz="800" b="0" dirty="0">
                          <a:solidFill>
                            <a:schemeClr val="tx1">
                              <a:lumMod val="65000"/>
                              <a:lumOff val="35000"/>
                            </a:schemeClr>
                          </a:solidFill>
                          <a:latin typeface="Yekan Bakh"/>
                          <a:cs typeface="Yekan Bakh"/>
                        </a:rPr>
                        <a:t> </a:t>
                      </a:r>
                      <a:r>
                        <a:rPr lang="fa-IR" sz="800" b="0" dirty="0">
                          <a:solidFill>
                            <a:schemeClr val="tx1">
                              <a:lumMod val="65000"/>
                              <a:lumOff val="35000"/>
                            </a:schemeClr>
                          </a:solidFill>
                          <a:latin typeface="Yekan Bakh"/>
                          <a:cs typeface="Yekan Bakh"/>
                        </a:rPr>
                        <a:t>(</a:t>
                      </a:r>
                      <a:r>
                        <a:rPr sz="800" b="0" dirty="0" err="1">
                          <a:solidFill>
                            <a:schemeClr val="tx1">
                              <a:lumMod val="65000"/>
                              <a:lumOff val="35000"/>
                            </a:schemeClr>
                          </a:solidFill>
                          <a:latin typeface="Yekan Bakh"/>
                          <a:cs typeface="Yekan Bakh"/>
                        </a:rPr>
                        <a:t>پرسونا</a:t>
                      </a:r>
                      <a:r>
                        <a:rPr sz="800" b="0" dirty="0">
                          <a:solidFill>
                            <a:schemeClr val="tx1">
                              <a:lumMod val="65000"/>
                              <a:lumOff val="35000"/>
                            </a:schemeClr>
                          </a:solidFill>
                          <a:latin typeface="Yekan Bakh"/>
                          <a:cs typeface="Yekan Bakh"/>
                        </a:rPr>
                        <a:t> ۴</a:t>
                      </a:r>
                      <a:r>
                        <a:rPr lang="fa-IR" sz="800" b="0" dirty="0">
                          <a:solidFill>
                            <a:schemeClr val="tx1">
                              <a:lumMod val="65000"/>
                              <a:lumOff val="35000"/>
                            </a:schemeClr>
                          </a:solidFill>
                          <a:latin typeface="Yekan Bakh"/>
                          <a:cs typeface="Yekan Bakh"/>
                        </a:rPr>
                        <a:t>)</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پورتال</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ثبت</a:t>
                      </a:r>
                      <a:r>
                        <a:rPr sz="800" b="0" dirty="0">
                          <a:solidFill>
                            <a:schemeClr val="tx1">
                              <a:lumMod val="65000"/>
                              <a:lumOff val="35000"/>
                            </a:schemeClr>
                          </a:solidFill>
                          <a:latin typeface="Yekan Bakh"/>
                          <a:cs typeface="Yekan Bakh"/>
                        </a:rPr>
                        <a:t>/</a:t>
                      </a:r>
                      <a:r>
                        <a:rPr sz="800" b="0" dirty="0" err="1">
                          <a:solidFill>
                            <a:schemeClr val="tx1">
                              <a:lumMod val="65000"/>
                              <a:lumOff val="35000"/>
                            </a:schemeClr>
                          </a:solidFill>
                          <a:latin typeface="Yekan Bakh"/>
                          <a:cs typeface="Yekan Bakh"/>
                        </a:rPr>
                        <a:t>اتاق</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داده</a:t>
                      </a:r>
                      <a:r>
                        <a:rPr sz="800" b="0" dirty="0">
                          <a:solidFill>
                            <a:schemeClr val="tx1">
                              <a:lumMod val="65000"/>
                              <a:lumOff val="35000"/>
                            </a:schemeClr>
                          </a:solidFill>
                          <a:latin typeface="Yekan Bakh"/>
                          <a:cs typeface="Yekan Bakh"/>
                        </a:rPr>
                        <a:t> </a:t>
                      </a:r>
                      <a:r>
                        <a:rPr sz="800" b="0" dirty="0" err="1">
                          <a:solidFill>
                            <a:schemeClr val="tx1">
                              <a:lumMod val="65000"/>
                              <a:lumOff val="35000"/>
                            </a:schemeClr>
                          </a:solidFill>
                          <a:latin typeface="Yekan Bakh"/>
                          <a:cs typeface="Yekan Bakh"/>
                        </a:rPr>
                        <a:t>آتی</a:t>
                      </a:r>
                      <a:r>
                        <a:rPr sz="800" b="0" dirty="0">
                          <a:solidFill>
                            <a:schemeClr val="tx1">
                              <a:lumMod val="65000"/>
                              <a:lumOff val="35000"/>
                            </a:schemeClr>
                          </a:solidFill>
                          <a:latin typeface="Yekan Bakh"/>
                          <a:cs typeface="Yekan Bakh"/>
                        </a:rPr>
                        <a:t> </a:t>
                      </a:r>
                      <a:r>
                        <a:rPr lang="fa-IR" sz="800" b="0" dirty="0">
                          <a:solidFill>
                            <a:schemeClr val="tx1">
                              <a:lumMod val="65000"/>
                              <a:lumOff val="35000"/>
                            </a:schemeClr>
                          </a:solidFill>
                          <a:latin typeface="Yekan Bakh"/>
                          <a:cs typeface="Yekan Bakh"/>
                        </a:rPr>
                        <a:t>(</a:t>
                      </a:r>
                      <a:r>
                        <a:rPr sz="800" b="0" dirty="0" err="1">
                          <a:solidFill>
                            <a:schemeClr val="tx1">
                              <a:lumMod val="65000"/>
                              <a:lumOff val="35000"/>
                            </a:schemeClr>
                          </a:solidFill>
                          <a:latin typeface="Yekan Bakh"/>
                          <a:cs typeface="Yekan Bakh"/>
                        </a:rPr>
                        <a:t>پرسونا</a:t>
                      </a:r>
                      <a:r>
                        <a:rPr sz="800" b="0" dirty="0">
                          <a:solidFill>
                            <a:schemeClr val="tx1">
                              <a:lumMod val="65000"/>
                              <a:lumOff val="35000"/>
                            </a:schemeClr>
                          </a:solidFill>
                          <a:latin typeface="Yekan Bakh"/>
                          <a:cs typeface="Yekan Bakh"/>
                        </a:rPr>
                        <a:t> ۵،</a:t>
                      </a:r>
                      <a:r>
                        <a:rPr lang="fa-IR" sz="800" b="0" dirty="0">
                          <a:solidFill>
                            <a:schemeClr val="tx1">
                              <a:lumMod val="65000"/>
                              <a:lumOff val="35000"/>
                            </a:schemeClr>
                          </a:solidFill>
                          <a:latin typeface="Yekan Bakh"/>
                          <a:cs typeface="Yekan Bakh"/>
                        </a:rPr>
                        <a:t>۶</a:t>
                      </a:r>
                      <a:r>
                        <a:rPr lang="en-US" sz="800" b="0" dirty="0">
                          <a:solidFill>
                            <a:schemeClr val="tx1">
                              <a:lumMod val="65000"/>
                              <a:lumOff val="35000"/>
                            </a:schemeClr>
                          </a:solidFill>
                          <a:latin typeface="Yekan Bakh"/>
                          <a:cs typeface="Yekan Bakh"/>
                        </a:rPr>
                        <a:t>—</a:t>
                      </a:r>
                      <a:r>
                        <a:rPr sz="800" b="0" dirty="0">
                          <a:solidFill>
                            <a:schemeClr val="tx1">
                              <a:lumMod val="65000"/>
                              <a:lumOff val="35000"/>
                            </a:schemeClr>
                          </a:solidFill>
                          <a:latin typeface="Yekan Bakh"/>
                          <a:cs typeface="Yekan Bakh"/>
                        </a:rPr>
                        <a:t> </a:t>
                      </a:r>
                      <a:r>
                        <a:rPr lang="en-US" sz="800" b="0" dirty="0">
                          <a:solidFill>
                            <a:schemeClr val="tx1">
                              <a:lumMod val="65000"/>
                              <a:lumOff val="35000"/>
                            </a:schemeClr>
                          </a:solidFill>
                          <a:latin typeface="Yekan Bakh"/>
                          <a:cs typeface="Yekan Bakh"/>
                        </a:rPr>
                        <a:t>P1</a:t>
                      </a:r>
                      <a:endParaRPr sz="800" b="0" dirty="0">
                        <a:solidFill>
                          <a:schemeClr val="tx1">
                            <a:lumMod val="65000"/>
                            <a:lumOff val="35000"/>
                          </a:schemeClr>
                        </a:solidFill>
                        <a:latin typeface="Yekan Bakh"/>
                        <a:cs typeface="Yekan Bakh"/>
                      </a:endParaRPr>
                    </a:p>
                  </a:txBody>
                  <a:tcPr marL="50800" marR="50800" marT="38100" marB="38100" anchor="ctr">
                    <a:solidFill>
                      <a:srgbClr val="F2F2F2"/>
                    </a:solidFill>
                  </a:tcPr>
                </a:tc>
                <a:tc>
                  <a:txBody>
                    <a:bodyPr/>
                    <a:lstStyle/>
                    <a:p>
                      <a:pPr algn="ctr" rtl="1">
                        <a:lnSpc>
                          <a:spcPct val="105000"/>
                        </a:lnSpc>
                      </a:pPr>
                      <a:r>
                        <a:rPr lang="fa-IR" sz="1050" b="1" kern="1200" dirty="0">
                          <a:solidFill>
                            <a:srgbClr val="00406C"/>
                          </a:solidFill>
                          <a:latin typeface="Yekan Bakh"/>
                          <a:ea typeface="+mn-ea"/>
                          <a:cs typeface="Yekan Bakh"/>
                        </a:rPr>
                        <a:t>کانال‌های سلف سرویس  </a:t>
                      </a:r>
                      <a:endParaRPr sz="1050" b="1" kern="1200" dirty="0">
                        <a:solidFill>
                          <a:srgbClr val="00406C"/>
                        </a:solidFill>
                        <a:latin typeface="Yekan Bakh"/>
                        <a:ea typeface="+mn-ea"/>
                        <a:cs typeface="Yekan Bakh"/>
                      </a:endParaRPr>
                    </a:p>
                  </a:txBody>
                  <a:tcPr marL="50800" marR="50800" marT="38100" marB="38100" anchor="ctr">
                    <a:solidFill>
                      <a:srgbClr val="F2F2F2"/>
                    </a:solidFill>
                  </a:tcPr>
                </a:tc>
                <a:extLst>
                  <a:ext uri="{0D108BD9-81ED-4DB2-BD59-A6C34878D82A}">
                    <a16:rowId xmlns:a16="http://schemas.microsoft.com/office/drawing/2014/main" val="10008"/>
                  </a:ext>
                </a:extLst>
              </a:tr>
            </a:tbl>
          </a:graphicData>
        </a:graphic>
      </p:graphicFrame>
      <p:sp>
        <p:nvSpPr>
          <p:cNvPr id="2" name="Text Placeholder 1">
            <a:extLst>
              <a:ext uri="{FF2B5EF4-FFF2-40B4-BE49-F238E27FC236}">
                <a16:creationId xmlns:a16="http://schemas.microsoft.com/office/drawing/2014/main" id="{6EC8F8ED-D8C0-11E1-9A6A-D6E2F29E562C}"/>
              </a:ext>
            </a:extLst>
          </p:cNvPr>
          <p:cNvSpPr>
            <a:spLocks noGrp="1"/>
          </p:cNvSpPr>
          <p:nvPr>
            <p:ph type="body" sz="quarter" idx="10"/>
          </p:nvPr>
        </p:nvSpPr>
        <p:spPr/>
        <p:txBody>
          <a:bodyPr/>
          <a:lstStyle/>
          <a:p>
            <a:r>
              <a:rPr lang="fa-IR" dirty="0"/>
              <a:t>جمع‌بندی میانی</a:t>
            </a:r>
          </a:p>
        </p:txBody>
      </p:sp>
      <p:sp>
        <p:nvSpPr>
          <p:cNvPr id="3" name="Text Placeholder 2">
            <a:extLst>
              <a:ext uri="{FF2B5EF4-FFF2-40B4-BE49-F238E27FC236}">
                <a16:creationId xmlns:a16="http://schemas.microsoft.com/office/drawing/2014/main" id="{F9B4A691-31CF-4FF6-8203-3AFC17F6633F}"/>
              </a:ext>
            </a:extLst>
          </p:cNvPr>
          <p:cNvSpPr>
            <a:spLocks noGrp="1"/>
          </p:cNvSpPr>
          <p:nvPr>
            <p:ph type="body" sz="quarter" idx="12"/>
          </p:nvPr>
        </p:nvSpPr>
        <p:spPr/>
        <p:txBody>
          <a:bodyPr/>
          <a:lstStyle/>
          <a:p>
            <a:r>
              <a:rPr lang="fa-IR" dirty="0"/>
              <a:t>طبقه‌بندی کانال‌های اکوسیستم فرصت ایران از منظر مالکیت و نحوه دسترسی</a:t>
            </a:r>
          </a:p>
        </p:txBody>
      </p:sp>
      <p:cxnSp>
        <p:nvCxnSpPr>
          <p:cNvPr id="4" name="Straight Connector 3">
            <a:extLst>
              <a:ext uri="{FF2B5EF4-FFF2-40B4-BE49-F238E27FC236}">
                <a16:creationId xmlns:a16="http://schemas.microsoft.com/office/drawing/2014/main" id="{8FC4FA06-6AD6-4D79-C456-C0850C1CB9AA}"/>
              </a:ext>
            </a:extLst>
          </p:cNvPr>
          <p:cNvCxnSpPr/>
          <p:nvPr/>
        </p:nvCxnSpPr>
        <p:spPr>
          <a:xfrm>
            <a:off x="457199" y="1759226"/>
            <a:ext cx="10786374" cy="0"/>
          </a:xfrm>
          <a:prstGeom prst="line">
            <a:avLst/>
          </a:prstGeom>
          <a:ln w="6350">
            <a:prstDash val="dash"/>
          </a:ln>
        </p:spPr>
        <p:style>
          <a:lnRef idx="1">
            <a:schemeClr val="accent2"/>
          </a:lnRef>
          <a:fillRef idx="0">
            <a:schemeClr val="accent2"/>
          </a:fillRef>
          <a:effectRef idx="0">
            <a:schemeClr val="accent2"/>
          </a:effectRef>
          <a:fontRef idx="minor">
            <a:schemeClr val="tx1"/>
          </a:fontRef>
        </p:style>
      </p:cxnSp>
      <p:sp>
        <p:nvSpPr>
          <p:cNvPr id="5" name="Rectangle 4">
            <a:extLst>
              <a:ext uri="{FF2B5EF4-FFF2-40B4-BE49-F238E27FC236}">
                <a16:creationId xmlns:a16="http://schemas.microsoft.com/office/drawing/2014/main" id="{FC390580-8C79-1706-3FE2-A23576B702F3}"/>
              </a:ext>
            </a:extLst>
          </p:cNvPr>
          <p:cNvSpPr/>
          <p:nvPr/>
        </p:nvSpPr>
        <p:spPr>
          <a:xfrm>
            <a:off x="457199" y="1918252"/>
            <a:ext cx="10786374" cy="3770270"/>
          </a:xfrm>
          <a:prstGeom prst="rect">
            <a:avLst/>
          </a:prstGeom>
          <a:no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Box 7">
            <a:extLst>
              <a:ext uri="{FF2B5EF4-FFF2-40B4-BE49-F238E27FC236}">
                <a16:creationId xmlns:a16="http://schemas.microsoft.com/office/drawing/2014/main" id="{610C094E-E59E-0B46-21B6-6C8713D85DE4}"/>
              </a:ext>
            </a:extLst>
          </p:cNvPr>
          <p:cNvSpPr txBox="1"/>
          <p:nvPr/>
        </p:nvSpPr>
        <p:spPr>
          <a:xfrm>
            <a:off x="457200" y="5173615"/>
            <a:ext cx="10788650" cy="446276"/>
          </a:xfrm>
          <a:prstGeom prst="rect">
            <a:avLst/>
          </a:prstGeom>
          <a:noFill/>
        </p:spPr>
        <p:txBody>
          <a:bodyPr wrap="square" anchor="t">
            <a:spAutoFit/>
          </a:bodyPr>
          <a:lstStyle/>
          <a:p>
            <a:pPr algn="r" rtl="1">
              <a:lnSpc>
                <a:spcPct val="115000"/>
              </a:lnSpc>
            </a:pPr>
            <a:r>
              <a:rPr sz="1000" b="0" dirty="0" err="1">
                <a:solidFill>
                  <a:srgbClr val="6B6B6B"/>
                </a:solidFill>
                <a:latin typeface="Yekan Bakh"/>
                <a:cs typeface="Yekan Bakh"/>
              </a:rPr>
              <a:t>این</a:t>
            </a:r>
            <a:r>
              <a:rPr sz="1000" b="0" dirty="0">
                <a:solidFill>
                  <a:srgbClr val="6B6B6B"/>
                </a:solidFill>
                <a:latin typeface="Yekan Bakh"/>
                <a:cs typeface="Yekan Bakh"/>
              </a:rPr>
              <a:t> </a:t>
            </a:r>
            <a:r>
              <a:rPr sz="1000" b="0" dirty="0" err="1">
                <a:solidFill>
                  <a:srgbClr val="6B6B6B"/>
                </a:solidFill>
                <a:latin typeface="Yekan Bakh"/>
                <a:cs typeface="Yekan Bakh"/>
              </a:rPr>
              <a:t>دسته‌ها</a:t>
            </a:r>
            <a:r>
              <a:rPr sz="1000" b="0" dirty="0">
                <a:solidFill>
                  <a:srgbClr val="6B6B6B"/>
                </a:solidFill>
                <a:latin typeface="Yekan Bakh"/>
                <a:cs typeface="Yekan Bakh"/>
              </a:rPr>
              <a:t> </a:t>
            </a:r>
            <a:r>
              <a:rPr sz="1000" b="0" dirty="0" err="1">
                <a:solidFill>
                  <a:srgbClr val="6B6B6B"/>
                </a:solidFill>
                <a:latin typeface="Yekan Bakh"/>
                <a:cs typeface="Yekan Bakh"/>
              </a:rPr>
              <a:t>منحصربه‌فرد</a:t>
            </a:r>
            <a:r>
              <a:rPr sz="1000" b="0" dirty="0">
                <a:solidFill>
                  <a:srgbClr val="6B6B6B"/>
                </a:solidFill>
                <a:latin typeface="Yekan Bakh"/>
                <a:cs typeface="Yekan Bakh"/>
              </a:rPr>
              <a:t> </a:t>
            </a:r>
            <a:r>
              <a:rPr sz="1000" b="0" dirty="0" err="1">
                <a:solidFill>
                  <a:srgbClr val="6B6B6B"/>
                </a:solidFill>
                <a:latin typeface="Yekan Bakh"/>
                <a:cs typeface="Yekan Bakh"/>
              </a:rPr>
              <a:t>نیستند</a:t>
            </a:r>
            <a:r>
              <a:rPr sz="1000" b="0" dirty="0">
                <a:solidFill>
                  <a:srgbClr val="6B6B6B"/>
                </a:solidFill>
                <a:latin typeface="Yekan Bakh"/>
                <a:cs typeface="Yekan Bakh"/>
              </a:rPr>
              <a:t>؛ </a:t>
            </a:r>
            <a:r>
              <a:rPr sz="1000" b="0" dirty="0" err="1">
                <a:solidFill>
                  <a:srgbClr val="6B6B6B"/>
                </a:solidFill>
                <a:latin typeface="Yekan Bakh"/>
                <a:cs typeface="Yekan Bakh"/>
              </a:rPr>
              <a:t>اغلب</a:t>
            </a:r>
            <a:r>
              <a:rPr sz="1000" b="0" dirty="0">
                <a:solidFill>
                  <a:srgbClr val="6B6B6B"/>
                </a:solidFill>
                <a:latin typeface="Yekan Bakh"/>
                <a:cs typeface="Yekan Bakh"/>
              </a:rPr>
              <a:t> </a:t>
            </a:r>
            <a:r>
              <a:rPr sz="1000" b="0" dirty="0" err="1">
                <a:solidFill>
                  <a:srgbClr val="6B6B6B"/>
                </a:solidFill>
                <a:latin typeface="Yekan Bakh"/>
                <a:cs typeface="Yekan Bakh"/>
              </a:rPr>
              <a:t>کانال‌های</a:t>
            </a:r>
            <a:r>
              <a:rPr sz="1000" b="0" dirty="0">
                <a:solidFill>
                  <a:srgbClr val="6B6B6B"/>
                </a:solidFill>
                <a:latin typeface="Yekan Bakh"/>
                <a:cs typeface="Yekan Bakh"/>
              </a:rPr>
              <a:t> </a:t>
            </a:r>
            <a:r>
              <a:rPr lang="fa-IR" sz="1000" b="0" dirty="0">
                <a:solidFill>
                  <a:srgbClr val="6B6B6B"/>
                </a:solidFill>
                <a:latin typeface="Yekan Bakh"/>
                <a:cs typeface="Yekan Bakh"/>
              </a:rPr>
              <a:t>اکوسیستم فرصت ایران</a:t>
            </a:r>
            <a:r>
              <a:rPr sz="1000" b="0" dirty="0">
                <a:solidFill>
                  <a:srgbClr val="6B6B6B"/>
                </a:solidFill>
                <a:latin typeface="Yekan Bakh"/>
                <a:cs typeface="Yekan Bakh"/>
              </a:rPr>
              <a:t> </a:t>
            </a:r>
            <a:r>
              <a:rPr sz="1000" b="0" dirty="0" err="1">
                <a:solidFill>
                  <a:srgbClr val="6B6B6B"/>
                </a:solidFill>
                <a:latin typeface="Yekan Bakh"/>
                <a:cs typeface="Yekan Bakh"/>
              </a:rPr>
              <a:t>هم‌زمان</a:t>
            </a:r>
            <a:r>
              <a:rPr sz="1000" b="0" dirty="0">
                <a:solidFill>
                  <a:srgbClr val="6B6B6B"/>
                </a:solidFill>
                <a:latin typeface="Yekan Bakh"/>
                <a:cs typeface="Yekan Bakh"/>
              </a:rPr>
              <a:t> </a:t>
            </a:r>
            <a:r>
              <a:rPr sz="1000" b="0" dirty="0" err="1">
                <a:solidFill>
                  <a:srgbClr val="6B6B6B"/>
                </a:solidFill>
                <a:latin typeface="Yekan Bakh"/>
                <a:cs typeface="Yekan Bakh"/>
              </a:rPr>
              <a:t>چند</a:t>
            </a:r>
            <a:r>
              <a:rPr sz="1000" b="0" dirty="0">
                <a:solidFill>
                  <a:srgbClr val="6B6B6B"/>
                </a:solidFill>
                <a:latin typeface="Yekan Bakh"/>
                <a:cs typeface="Yekan Bakh"/>
              </a:rPr>
              <a:t> </a:t>
            </a:r>
            <a:r>
              <a:rPr sz="1000" b="0" dirty="0" err="1">
                <a:solidFill>
                  <a:srgbClr val="6B6B6B"/>
                </a:solidFill>
                <a:latin typeface="Yekan Bakh"/>
                <a:cs typeface="Yekan Bakh"/>
              </a:rPr>
              <a:t>برچسب</a:t>
            </a:r>
            <a:r>
              <a:rPr sz="1000" b="0" dirty="0">
                <a:solidFill>
                  <a:srgbClr val="6B6B6B"/>
                </a:solidFill>
                <a:latin typeface="Yekan Bakh"/>
                <a:cs typeface="Yekan Bakh"/>
              </a:rPr>
              <a:t> </a:t>
            </a:r>
            <a:r>
              <a:rPr sz="1000" b="0" dirty="0" err="1">
                <a:solidFill>
                  <a:srgbClr val="6B6B6B"/>
                </a:solidFill>
                <a:latin typeface="Yekan Bakh"/>
                <a:cs typeface="Yekan Bakh"/>
              </a:rPr>
              <a:t>می‌گیرند</a:t>
            </a:r>
            <a:r>
              <a:rPr sz="1000" b="0" dirty="0">
                <a:solidFill>
                  <a:srgbClr val="6B6B6B"/>
                </a:solidFill>
                <a:latin typeface="Yekan Bakh"/>
                <a:cs typeface="Yekan Bakh"/>
              </a:rPr>
              <a:t> </a:t>
            </a:r>
            <a:r>
              <a:rPr lang="fa-IR" sz="1000" b="0" dirty="0">
                <a:solidFill>
                  <a:srgbClr val="6B6B6B"/>
                </a:solidFill>
                <a:latin typeface="Yekan Bakh"/>
                <a:cs typeface="Yekan Bakh"/>
              </a:rPr>
              <a:t>(</a:t>
            </a:r>
            <a:r>
              <a:rPr sz="1000" b="0" dirty="0" err="1">
                <a:solidFill>
                  <a:srgbClr val="6B6B6B"/>
                </a:solidFill>
                <a:latin typeface="Yekan Bakh"/>
                <a:cs typeface="Yekan Bakh"/>
              </a:rPr>
              <a:t>مثلاً</a:t>
            </a:r>
            <a:r>
              <a:rPr sz="1000" b="0" dirty="0">
                <a:solidFill>
                  <a:srgbClr val="6B6B6B"/>
                </a:solidFill>
                <a:latin typeface="Yekan Bakh"/>
                <a:cs typeface="Yekan Bakh"/>
              </a:rPr>
              <a:t> </a:t>
            </a:r>
            <a:r>
              <a:rPr sz="1000" b="0" dirty="0" err="1">
                <a:solidFill>
                  <a:srgbClr val="6B6B6B"/>
                </a:solidFill>
                <a:latin typeface="Yekan Bakh"/>
                <a:cs typeface="Yekan Bakh"/>
              </a:rPr>
              <a:t>اتاق</a:t>
            </a:r>
            <a:r>
              <a:rPr sz="1000" b="0" dirty="0">
                <a:solidFill>
                  <a:srgbClr val="6B6B6B"/>
                </a:solidFill>
                <a:latin typeface="Yekan Bakh"/>
                <a:cs typeface="Yekan Bakh"/>
              </a:rPr>
              <a:t> </a:t>
            </a:r>
            <a:r>
              <a:rPr sz="1000" b="0" dirty="0" err="1">
                <a:solidFill>
                  <a:srgbClr val="6B6B6B"/>
                </a:solidFill>
                <a:latin typeface="Yekan Bakh"/>
                <a:cs typeface="Yekan Bakh"/>
              </a:rPr>
              <a:t>بازرگانی</a:t>
            </a:r>
            <a:r>
              <a:rPr lang="fa-IR" sz="1000" dirty="0">
                <a:solidFill>
                  <a:srgbClr val="6B6B6B"/>
                </a:solidFill>
                <a:latin typeface="Yekan Bakh"/>
                <a:cs typeface="Yekan Bakh"/>
              </a:rPr>
              <a:t>=</a:t>
            </a:r>
            <a:r>
              <a:rPr sz="1000" b="0" dirty="0">
                <a:solidFill>
                  <a:srgbClr val="6B6B6B"/>
                </a:solidFill>
                <a:latin typeface="Yekan Bakh"/>
                <a:cs typeface="Yekan Bakh"/>
              </a:rPr>
              <a:t> </a:t>
            </a:r>
            <a:r>
              <a:rPr lang="fa-IR" sz="1000" dirty="0">
                <a:solidFill>
                  <a:srgbClr val="6B6B6B"/>
                </a:solidFill>
                <a:latin typeface="Yekan Bakh"/>
                <a:cs typeface="Yekan Bakh"/>
              </a:rPr>
              <a:t>کانال بیرونی + کانال پولی  و یا ا</a:t>
            </a:r>
            <a:r>
              <a:rPr sz="1000" b="0" dirty="0" err="1">
                <a:solidFill>
                  <a:srgbClr val="6B6B6B"/>
                </a:solidFill>
                <a:latin typeface="Yekan Bakh"/>
                <a:cs typeface="Yekan Bakh"/>
              </a:rPr>
              <a:t>تاق</a:t>
            </a:r>
            <a:r>
              <a:rPr sz="1000" b="0" dirty="0">
                <a:solidFill>
                  <a:srgbClr val="6B6B6B"/>
                </a:solidFill>
                <a:latin typeface="Yekan Bakh"/>
                <a:cs typeface="Yekan Bakh"/>
              </a:rPr>
              <a:t> </a:t>
            </a:r>
            <a:r>
              <a:rPr sz="1000" b="0" dirty="0" err="1">
                <a:solidFill>
                  <a:srgbClr val="6B6B6B"/>
                </a:solidFill>
                <a:latin typeface="Yekan Bakh"/>
                <a:cs typeface="Yekan Bakh"/>
              </a:rPr>
              <a:t>داده</a:t>
            </a:r>
            <a:r>
              <a:rPr sz="1000" b="0" dirty="0">
                <a:solidFill>
                  <a:srgbClr val="6B6B6B"/>
                </a:solidFill>
                <a:latin typeface="Yekan Bakh"/>
                <a:cs typeface="Yekan Bakh"/>
              </a:rPr>
              <a:t> </a:t>
            </a:r>
            <a:r>
              <a:rPr sz="1000" b="0" dirty="0" err="1">
                <a:solidFill>
                  <a:srgbClr val="6B6B6B"/>
                </a:solidFill>
                <a:latin typeface="Yekan Bakh"/>
                <a:cs typeface="Yekan Bakh"/>
              </a:rPr>
              <a:t>دیجیتال</a:t>
            </a:r>
            <a:r>
              <a:rPr lang="fa-IR" sz="1000" b="0" dirty="0">
                <a:solidFill>
                  <a:srgbClr val="6B6B6B"/>
                </a:solidFill>
                <a:latin typeface="Yekan Bakh"/>
                <a:cs typeface="Yekan Bakh"/>
              </a:rPr>
              <a:t>=</a:t>
            </a:r>
            <a:r>
              <a:rPr sz="1000" b="0" dirty="0">
                <a:solidFill>
                  <a:srgbClr val="6B6B6B"/>
                </a:solidFill>
                <a:latin typeface="Yekan Bakh"/>
                <a:cs typeface="Yekan Bakh"/>
              </a:rPr>
              <a:t> </a:t>
            </a:r>
            <a:r>
              <a:rPr lang="fa-IR" sz="1000" b="0" dirty="0">
                <a:solidFill>
                  <a:srgbClr val="6B6B6B"/>
                </a:solidFill>
                <a:latin typeface="Yekan Bakh"/>
                <a:cs typeface="Yekan Bakh"/>
              </a:rPr>
              <a:t>کانال تحت مالکیت + دیجیتال + کانال سلف سرویس</a:t>
            </a:r>
            <a:r>
              <a:rPr lang="fa-IR" sz="1000" dirty="0">
                <a:solidFill>
                  <a:srgbClr val="6B6B6B"/>
                </a:solidFill>
                <a:latin typeface="Yekan Bakh"/>
                <a:cs typeface="Yekan Bakh"/>
              </a:rPr>
              <a:t>)</a:t>
            </a:r>
            <a:r>
              <a:rPr lang="fa-IR" sz="1000" b="0" dirty="0">
                <a:solidFill>
                  <a:srgbClr val="6B6B6B"/>
                </a:solidFill>
                <a:latin typeface="Yekan Bakh"/>
                <a:cs typeface="Yekan Bakh"/>
              </a:rPr>
              <a:t> </a:t>
            </a:r>
            <a:endParaRPr sz="1000" b="0" dirty="0">
              <a:solidFill>
                <a:srgbClr val="6B6B6B"/>
              </a:solidFill>
              <a:latin typeface="Yekan Bakh"/>
              <a:cs typeface="Yekan Bakh"/>
            </a:endParaRPr>
          </a:p>
        </p:txBody>
      </p:sp>
    </p:spTree>
    <p:extLst>
      <p:ext uri="{BB962C8B-B14F-4D97-AF65-F5344CB8AC3E}">
        <p14:creationId xmlns:p14="http://schemas.microsoft.com/office/powerpoint/2010/main" val="2016002529"/>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6C88A6-B6FA-98E9-B057-2E1B29302E97}"/>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CF1152B-B0B8-C303-5147-4AB524998E27}"/>
              </a:ext>
            </a:extLst>
          </p:cNvPr>
          <p:cNvSpPr>
            <a:spLocks noGrp="1"/>
          </p:cNvSpPr>
          <p:nvPr>
            <p:ph type="body" sz="quarter" idx="10"/>
          </p:nvPr>
        </p:nvSpPr>
        <p:spPr/>
        <p:txBody>
          <a:bodyPr/>
          <a:lstStyle/>
          <a:p>
            <a:r>
              <a:rPr lang="fa-IR" dirty="0"/>
              <a:t>تحلیل عمیق کانال</a:t>
            </a:r>
          </a:p>
        </p:txBody>
      </p:sp>
      <p:sp>
        <p:nvSpPr>
          <p:cNvPr id="3" name="Text Placeholder 2">
            <a:extLst>
              <a:ext uri="{FF2B5EF4-FFF2-40B4-BE49-F238E27FC236}">
                <a16:creationId xmlns:a16="http://schemas.microsoft.com/office/drawing/2014/main" id="{08F3C682-A987-8C28-D9FA-9F4419B1774A}"/>
              </a:ext>
            </a:extLst>
          </p:cNvPr>
          <p:cNvSpPr>
            <a:spLocks noGrp="1"/>
          </p:cNvSpPr>
          <p:nvPr>
            <p:ph type="body" sz="quarter" idx="12"/>
          </p:nvPr>
        </p:nvSpPr>
        <p:spPr/>
        <p:txBody>
          <a:bodyPr/>
          <a:lstStyle/>
          <a:p>
            <a:r>
              <a:rPr lang="fa-IR" dirty="0"/>
              <a:t>اولویت‌بندی و امتیازدهی کانال‌ها</a:t>
            </a:r>
          </a:p>
        </p:txBody>
      </p:sp>
      <p:cxnSp>
        <p:nvCxnSpPr>
          <p:cNvPr id="4" name="Straight Connector 3">
            <a:extLst>
              <a:ext uri="{FF2B5EF4-FFF2-40B4-BE49-F238E27FC236}">
                <a16:creationId xmlns:a16="http://schemas.microsoft.com/office/drawing/2014/main" id="{6296E83C-E57D-6BA6-B837-6BFB7AFC3C4A}"/>
              </a:ext>
            </a:extLst>
          </p:cNvPr>
          <p:cNvCxnSpPr/>
          <p:nvPr/>
        </p:nvCxnSpPr>
        <p:spPr>
          <a:xfrm>
            <a:off x="457199" y="1759226"/>
            <a:ext cx="10786374" cy="0"/>
          </a:xfrm>
          <a:prstGeom prst="line">
            <a:avLst/>
          </a:prstGeom>
          <a:ln w="6350">
            <a:prstDash val="dash"/>
          </a:ln>
        </p:spPr>
        <p:style>
          <a:lnRef idx="1">
            <a:schemeClr val="accent2"/>
          </a:lnRef>
          <a:fillRef idx="0">
            <a:schemeClr val="accent2"/>
          </a:fillRef>
          <a:effectRef idx="0">
            <a:schemeClr val="accent2"/>
          </a:effectRef>
          <a:fontRef idx="minor">
            <a:schemeClr val="tx1"/>
          </a:fontRef>
        </p:style>
      </p:cxnSp>
      <p:sp>
        <p:nvSpPr>
          <p:cNvPr id="5" name="Rectangle 4">
            <a:extLst>
              <a:ext uri="{FF2B5EF4-FFF2-40B4-BE49-F238E27FC236}">
                <a16:creationId xmlns:a16="http://schemas.microsoft.com/office/drawing/2014/main" id="{C315F5DB-53C7-4782-9DF8-2E9022D6B78D}"/>
              </a:ext>
            </a:extLst>
          </p:cNvPr>
          <p:cNvSpPr/>
          <p:nvPr/>
        </p:nvSpPr>
        <p:spPr>
          <a:xfrm>
            <a:off x="457199" y="1918252"/>
            <a:ext cx="10786374" cy="3770270"/>
          </a:xfrm>
          <a:prstGeom prst="rect">
            <a:avLst/>
          </a:prstGeom>
          <a:no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Box 7">
            <a:extLst>
              <a:ext uri="{FF2B5EF4-FFF2-40B4-BE49-F238E27FC236}">
                <a16:creationId xmlns:a16="http://schemas.microsoft.com/office/drawing/2014/main" id="{3AE49A3E-E1DA-A3EE-2DBF-92489218B582}"/>
              </a:ext>
            </a:extLst>
          </p:cNvPr>
          <p:cNvSpPr txBox="1"/>
          <p:nvPr/>
        </p:nvSpPr>
        <p:spPr>
          <a:xfrm>
            <a:off x="457200" y="5394330"/>
            <a:ext cx="10788650" cy="269304"/>
          </a:xfrm>
          <a:prstGeom prst="rect">
            <a:avLst/>
          </a:prstGeom>
          <a:noFill/>
        </p:spPr>
        <p:txBody>
          <a:bodyPr wrap="square" anchor="t">
            <a:spAutoFit/>
          </a:bodyPr>
          <a:lstStyle/>
          <a:p>
            <a:pPr algn="r" rtl="1">
              <a:lnSpc>
                <a:spcPct val="115000"/>
              </a:lnSpc>
            </a:pPr>
            <a:r>
              <a:rPr lang="fa-IR" sz="1000" b="0" dirty="0">
                <a:solidFill>
                  <a:srgbClr val="6B6B6B"/>
                </a:solidFill>
                <a:latin typeface="Yekan Bakh"/>
                <a:cs typeface="Yekan Bakh"/>
              </a:rPr>
              <a:t>* کنترل‌پذیری پایین یعنی وابستگی کیفیت کانال به رفتار شخص/نهاد ثالث خارج از کنترل مستقیم اکوسیستم فرصت ایران. </a:t>
            </a:r>
            <a:endParaRPr sz="1000" b="0" dirty="0">
              <a:solidFill>
                <a:srgbClr val="6B6B6B"/>
              </a:solidFill>
              <a:latin typeface="Yekan Bakh"/>
              <a:cs typeface="Yekan Bakh"/>
            </a:endParaRPr>
          </a:p>
        </p:txBody>
      </p:sp>
      <p:graphicFrame>
        <p:nvGraphicFramePr>
          <p:cNvPr id="9" name="Table 8">
            <a:extLst>
              <a:ext uri="{FF2B5EF4-FFF2-40B4-BE49-F238E27FC236}">
                <a16:creationId xmlns:a16="http://schemas.microsoft.com/office/drawing/2014/main" id="{60F55503-A311-623C-F6FE-326FAA8D509C}"/>
              </a:ext>
            </a:extLst>
          </p:cNvPr>
          <p:cNvGraphicFramePr>
            <a:graphicFrameLocks noGrp="1"/>
          </p:cNvGraphicFramePr>
          <p:nvPr>
            <p:extLst>
              <p:ext uri="{D42A27DB-BD31-4B8C-83A1-F6EECF244321}">
                <p14:modId xmlns:p14="http://schemas.microsoft.com/office/powerpoint/2010/main" val="2059224519"/>
              </p:ext>
            </p:extLst>
          </p:nvPr>
        </p:nvGraphicFramePr>
        <p:xfrm>
          <a:off x="457200" y="1918252"/>
          <a:ext cx="10825164" cy="3451190"/>
        </p:xfrm>
        <a:graphic>
          <a:graphicData uri="http://schemas.openxmlformats.org/drawingml/2006/table">
            <a:tbl>
              <a:tblPr firstRow="1" bandRow="1">
                <a:tableStyleId>{5C22544A-7EE6-4342-B048-85BDC9FD1C3A}</a:tableStyleId>
              </a:tblPr>
              <a:tblGrid>
                <a:gridCol w="1361123">
                  <a:extLst>
                    <a:ext uri="{9D8B030D-6E8A-4147-A177-3AD203B41FA5}">
                      <a16:colId xmlns:a16="http://schemas.microsoft.com/office/drawing/2014/main" val="20001"/>
                    </a:ext>
                  </a:extLst>
                </a:gridCol>
                <a:gridCol w="1361123">
                  <a:extLst>
                    <a:ext uri="{9D8B030D-6E8A-4147-A177-3AD203B41FA5}">
                      <a16:colId xmlns:a16="http://schemas.microsoft.com/office/drawing/2014/main" val="20002"/>
                    </a:ext>
                  </a:extLst>
                </a:gridCol>
                <a:gridCol w="1361123">
                  <a:extLst>
                    <a:ext uri="{9D8B030D-6E8A-4147-A177-3AD203B41FA5}">
                      <a16:colId xmlns:a16="http://schemas.microsoft.com/office/drawing/2014/main" val="20003"/>
                    </a:ext>
                  </a:extLst>
                </a:gridCol>
                <a:gridCol w="1361123">
                  <a:extLst>
                    <a:ext uri="{9D8B030D-6E8A-4147-A177-3AD203B41FA5}">
                      <a16:colId xmlns:a16="http://schemas.microsoft.com/office/drawing/2014/main" val="20004"/>
                    </a:ext>
                  </a:extLst>
                </a:gridCol>
                <a:gridCol w="1361123">
                  <a:extLst>
                    <a:ext uri="{9D8B030D-6E8A-4147-A177-3AD203B41FA5}">
                      <a16:colId xmlns:a16="http://schemas.microsoft.com/office/drawing/2014/main" val="20005"/>
                    </a:ext>
                  </a:extLst>
                </a:gridCol>
                <a:gridCol w="833437">
                  <a:extLst>
                    <a:ext uri="{9D8B030D-6E8A-4147-A177-3AD203B41FA5}">
                      <a16:colId xmlns:a16="http://schemas.microsoft.com/office/drawing/2014/main" val="20006"/>
                    </a:ext>
                  </a:extLst>
                </a:gridCol>
                <a:gridCol w="3186112">
                  <a:extLst>
                    <a:ext uri="{9D8B030D-6E8A-4147-A177-3AD203B41FA5}">
                      <a16:colId xmlns:a16="http://schemas.microsoft.com/office/drawing/2014/main" val="2529850313"/>
                    </a:ext>
                  </a:extLst>
                </a:gridCol>
              </a:tblGrid>
              <a:tr h="287599">
                <a:tc>
                  <a:txBody>
                    <a:bodyPr/>
                    <a:lstStyle/>
                    <a:p>
                      <a:pPr algn="ctr" rtl="1">
                        <a:lnSpc>
                          <a:spcPct val="105000"/>
                        </a:lnSpc>
                      </a:pPr>
                      <a:r>
                        <a:rPr sz="1050" b="1" dirty="0" err="1">
                          <a:solidFill>
                            <a:srgbClr val="FFFFFF"/>
                          </a:solidFill>
                          <a:latin typeface="Yekan Bakh"/>
                          <a:cs typeface="Yekan Bakh"/>
                        </a:rPr>
                        <a:t>دسترسی</a:t>
                      </a:r>
                      <a:endParaRPr sz="1050" b="1" dirty="0">
                        <a:solidFill>
                          <a:srgbClr val="FFFFFF"/>
                        </a:solidFill>
                        <a:latin typeface="Yekan Bakh"/>
                        <a:cs typeface="Yekan Bakh"/>
                      </a:endParaRPr>
                    </a:p>
                  </a:txBody>
                  <a:tcPr marL="50800" marR="50800" marT="38100" marB="38100" anchor="ctr">
                    <a:solidFill>
                      <a:srgbClr val="1E2761"/>
                    </a:solidFill>
                  </a:tcPr>
                </a:tc>
                <a:tc>
                  <a:txBody>
                    <a:bodyPr/>
                    <a:lstStyle/>
                    <a:p>
                      <a:pPr algn="ctr" rtl="1">
                        <a:lnSpc>
                          <a:spcPct val="105000"/>
                        </a:lnSpc>
                      </a:pPr>
                      <a:r>
                        <a:rPr sz="1050" b="1" dirty="0" err="1">
                          <a:solidFill>
                            <a:srgbClr val="FFFFFF"/>
                          </a:solidFill>
                          <a:latin typeface="Yekan Bakh"/>
                          <a:cs typeface="Yekan Bakh"/>
                        </a:rPr>
                        <a:t>هزینه</a:t>
                      </a:r>
                      <a:r>
                        <a:rPr sz="1050" b="1" dirty="0">
                          <a:solidFill>
                            <a:srgbClr val="FFFFFF"/>
                          </a:solidFill>
                          <a:latin typeface="Yekan Bakh"/>
                          <a:cs typeface="Yekan Bakh"/>
                        </a:rPr>
                        <a:t> </a:t>
                      </a:r>
                      <a:r>
                        <a:rPr sz="1050" b="1" dirty="0" err="1">
                          <a:solidFill>
                            <a:srgbClr val="FFFFFF"/>
                          </a:solidFill>
                          <a:latin typeface="Yekan Bakh"/>
                          <a:cs typeface="Yekan Bakh"/>
                        </a:rPr>
                        <a:t>جذب</a:t>
                      </a:r>
                      <a:endParaRPr sz="1050" b="1" dirty="0">
                        <a:solidFill>
                          <a:srgbClr val="FFFFFF"/>
                        </a:solidFill>
                        <a:latin typeface="Yekan Bakh"/>
                        <a:cs typeface="Yekan Bakh"/>
                      </a:endParaRPr>
                    </a:p>
                  </a:txBody>
                  <a:tcPr marL="50800" marR="50800" marT="38100" marB="38100" anchor="ctr">
                    <a:solidFill>
                      <a:srgbClr val="1E2761"/>
                    </a:solidFill>
                  </a:tcPr>
                </a:tc>
                <a:tc>
                  <a:txBody>
                    <a:bodyPr/>
                    <a:lstStyle/>
                    <a:p>
                      <a:pPr algn="ctr" rtl="1">
                        <a:lnSpc>
                          <a:spcPct val="105000"/>
                        </a:lnSpc>
                      </a:pPr>
                      <a:r>
                        <a:rPr sz="1050" b="1" dirty="0" err="1">
                          <a:solidFill>
                            <a:srgbClr val="FFFFFF"/>
                          </a:solidFill>
                          <a:latin typeface="Yekan Bakh"/>
                          <a:cs typeface="Yekan Bakh"/>
                        </a:rPr>
                        <a:t>تناسب</a:t>
                      </a:r>
                      <a:r>
                        <a:rPr sz="1050" b="1" dirty="0">
                          <a:solidFill>
                            <a:srgbClr val="FFFFFF"/>
                          </a:solidFill>
                          <a:latin typeface="Yekan Bakh"/>
                          <a:cs typeface="Yekan Bakh"/>
                        </a:rPr>
                        <a:t> </a:t>
                      </a:r>
                      <a:r>
                        <a:rPr sz="1050" b="1" dirty="0" err="1">
                          <a:solidFill>
                            <a:srgbClr val="FFFFFF"/>
                          </a:solidFill>
                          <a:latin typeface="Yekan Bakh"/>
                          <a:cs typeface="Yekan Bakh"/>
                        </a:rPr>
                        <a:t>اعتماد</a:t>
                      </a:r>
                      <a:endParaRPr sz="1050" b="1" dirty="0">
                        <a:solidFill>
                          <a:srgbClr val="FFFFFF"/>
                        </a:solidFill>
                        <a:latin typeface="Yekan Bakh"/>
                        <a:cs typeface="Yekan Bakh"/>
                      </a:endParaRPr>
                    </a:p>
                  </a:txBody>
                  <a:tcPr marL="50800" marR="50800" marT="38100" marB="38100" anchor="ctr">
                    <a:solidFill>
                      <a:srgbClr val="1E2761"/>
                    </a:solidFill>
                  </a:tcPr>
                </a:tc>
                <a:tc>
                  <a:txBody>
                    <a:bodyPr/>
                    <a:lstStyle/>
                    <a:p>
                      <a:pPr algn="ctr" rtl="1">
                        <a:lnSpc>
                          <a:spcPct val="105000"/>
                        </a:lnSpc>
                      </a:pPr>
                      <a:r>
                        <a:rPr sz="1050" b="1" dirty="0" err="1">
                          <a:solidFill>
                            <a:srgbClr val="FFFFFF"/>
                          </a:solidFill>
                          <a:latin typeface="Yekan Bakh"/>
                          <a:cs typeface="Yekan Bakh"/>
                        </a:rPr>
                        <a:t>کنترل‌پذیری</a:t>
                      </a:r>
                      <a:endParaRPr sz="1050" b="1" dirty="0">
                        <a:solidFill>
                          <a:srgbClr val="FFFFFF"/>
                        </a:solidFill>
                        <a:latin typeface="Yekan Bakh"/>
                        <a:cs typeface="Yekan Bakh"/>
                      </a:endParaRPr>
                    </a:p>
                  </a:txBody>
                  <a:tcPr marL="50800" marR="50800" marT="38100" marB="38100" anchor="ctr">
                    <a:solidFill>
                      <a:srgbClr val="1E2761"/>
                    </a:solidFill>
                  </a:tcPr>
                </a:tc>
                <a:tc>
                  <a:txBody>
                    <a:bodyPr/>
                    <a:lstStyle/>
                    <a:p>
                      <a:pPr algn="ctr" rtl="1">
                        <a:lnSpc>
                          <a:spcPct val="105000"/>
                        </a:lnSpc>
                      </a:pPr>
                      <a:r>
                        <a:rPr sz="1050" b="1" dirty="0" err="1">
                          <a:solidFill>
                            <a:srgbClr val="FFFFFF"/>
                          </a:solidFill>
                          <a:latin typeface="Yekan Bakh"/>
                          <a:cs typeface="Yekan Bakh"/>
                        </a:rPr>
                        <a:t>مقیاس‌پذیری</a:t>
                      </a:r>
                      <a:endParaRPr sz="1050" b="1" dirty="0">
                        <a:solidFill>
                          <a:srgbClr val="FFFFFF"/>
                        </a:solidFill>
                        <a:latin typeface="Yekan Bakh"/>
                        <a:cs typeface="Yekan Bakh"/>
                      </a:endParaRPr>
                    </a:p>
                  </a:txBody>
                  <a:tcPr marL="50800" marR="50800" marT="38100" marB="38100" anchor="ctr">
                    <a:solidFill>
                      <a:srgbClr val="1E2761"/>
                    </a:solidFill>
                  </a:tcPr>
                </a:tc>
                <a:tc>
                  <a:txBody>
                    <a:bodyPr/>
                    <a:lstStyle/>
                    <a:p>
                      <a:pPr algn="ctr" rtl="1">
                        <a:lnSpc>
                          <a:spcPct val="105000"/>
                        </a:lnSpc>
                      </a:pPr>
                      <a:r>
                        <a:rPr sz="1050" b="1" dirty="0" err="1">
                          <a:solidFill>
                            <a:srgbClr val="FFFFFF"/>
                          </a:solidFill>
                          <a:latin typeface="Yekan Bakh"/>
                          <a:cs typeface="Yekan Bakh"/>
                        </a:rPr>
                        <a:t>اولویت</a:t>
                      </a:r>
                      <a:endParaRPr sz="1050" b="1" dirty="0">
                        <a:solidFill>
                          <a:srgbClr val="FFFFFF"/>
                        </a:solidFill>
                        <a:latin typeface="Yekan Bakh"/>
                        <a:cs typeface="Yekan Bakh"/>
                      </a:endParaRPr>
                    </a:p>
                  </a:txBody>
                  <a:tcPr marL="50800" marR="50800" marT="38100" marB="38100" anchor="ctr">
                    <a:solidFill>
                      <a:srgbClr val="1E2761"/>
                    </a:solidFill>
                  </a:tcPr>
                </a:tc>
                <a:tc>
                  <a:txBody>
                    <a:bodyPr/>
                    <a:lstStyle/>
                    <a:p>
                      <a:pPr algn="ctr" rtl="1">
                        <a:lnSpc>
                          <a:spcPct val="105000"/>
                        </a:lnSpc>
                      </a:pPr>
                      <a:r>
                        <a:rPr sz="1050" b="1" dirty="0" err="1">
                          <a:solidFill>
                            <a:srgbClr val="FFFFFF"/>
                          </a:solidFill>
                          <a:latin typeface="Yekan Bakh"/>
                          <a:cs typeface="Yekan Bakh"/>
                        </a:rPr>
                        <a:t>کانال</a:t>
                      </a:r>
                      <a:endParaRPr sz="1050" b="1" dirty="0">
                        <a:solidFill>
                          <a:srgbClr val="FFFFFF"/>
                        </a:solidFill>
                        <a:latin typeface="Yekan Bakh"/>
                        <a:cs typeface="Yekan Bakh"/>
                      </a:endParaRPr>
                    </a:p>
                  </a:txBody>
                  <a:tcPr marL="50800" marR="50800" marT="38100" marB="38100" anchor="ctr">
                    <a:solidFill>
                      <a:srgbClr val="1E2761"/>
                    </a:solidFill>
                  </a:tcPr>
                </a:tc>
                <a:extLst>
                  <a:ext uri="{0D108BD9-81ED-4DB2-BD59-A6C34878D82A}">
                    <a16:rowId xmlns:a16="http://schemas.microsoft.com/office/drawing/2014/main" val="10000"/>
                  </a:ext>
                </a:extLst>
              </a:tr>
              <a:tr h="287599">
                <a:tc>
                  <a:txBody>
                    <a:bodyPr/>
                    <a:lstStyle/>
                    <a:p>
                      <a:pPr algn="ctr" rtl="1">
                        <a:lnSpc>
                          <a:spcPct val="105000"/>
                        </a:lnSpc>
                      </a:pPr>
                      <a:r>
                        <a:rPr sz="800" b="0">
                          <a:solidFill>
                            <a:schemeClr val="tx1">
                              <a:lumMod val="65000"/>
                              <a:lumOff val="35000"/>
                            </a:schemeClr>
                          </a:solidFill>
                          <a:latin typeface="Yekan Bakh"/>
                          <a:cs typeface="Yekan Bakh"/>
                        </a:rPr>
                        <a:t>کم</a:t>
                      </a:r>
                    </a:p>
                  </a:txBody>
                  <a:tcPr marL="50800" marR="50800" marT="38100" marB="38100" anchor="ctr">
                    <a:solidFill>
                      <a:srgbClr val="FFC000"/>
                    </a:solidFill>
                  </a:tcPr>
                </a:tc>
                <a:tc>
                  <a:txBody>
                    <a:bodyPr/>
                    <a:lstStyle/>
                    <a:p>
                      <a:pPr algn="ctr" rtl="1">
                        <a:lnSpc>
                          <a:spcPct val="105000"/>
                        </a:lnSpc>
                      </a:pPr>
                      <a:r>
                        <a:rPr sz="800" b="0">
                          <a:solidFill>
                            <a:schemeClr val="tx1">
                              <a:lumMod val="65000"/>
                              <a:lumOff val="35000"/>
                            </a:schemeClr>
                          </a:solidFill>
                          <a:latin typeface="Yekan Bakh"/>
                          <a:cs typeface="Yekan Bakh"/>
                        </a:rPr>
                        <a:t>پایین (زمانی)</a:t>
                      </a:r>
                    </a:p>
                  </a:txBody>
                  <a:tcPr marL="50800" marR="50800" marT="38100" marB="38100" anchor="ctr">
                    <a:solidFill>
                      <a:srgbClr val="FFC000"/>
                    </a:solidFill>
                  </a:tcPr>
                </a:tc>
                <a:tc>
                  <a:txBody>
                    <a:bodyPr/>
                    <a:lstStyle/>
                    <a:p>
                      <a:pPr algn="ctr" rtl="1">
                        <a:lnSpc>
                          <a:spcPct val="105000"/>
                        </a:lnSpc>
                      </a:pPr>
                      <a:r>
                        <a:rPr sz="800" b="0">
                          <a:solidFill>
                            <a:schemeClr val="tx1">
                              <a:lumMod val="65000"/>
                              <a:lumOff val="35000"/>
                            </a:schemeClr>
                          </a:solidFill>
                          <a:latin typeface="Yekan Bakh"/>
                          <a:cs typeface="Yekan Bakh"/>
                        </a:rPr>
                        <a:t>بسیار بالا</a:t>
                      </a:r>
                    </a:p>
                  </a:txBody>
                  <a:tcPr marL="50800" marR="50800" marT="38100" marB="38100" anchor="ctr">
                    <a:solidFill>
                      <a:srgbClr val="FFC000"/>
                    </a:solidFill>
                  </a:tcPr>
                </a:tc>
                <a:tc>
                  <a:txBody>
                    <a:bodyPr/>
                    <a:lstStyle/>
                    <a:p>
                      <a:pPr algn="ctr" rtl="1">
                        <a:lnSpc>
                          <a:spcPct val="105000"/>
                        </a:lnSpc>
                      </a:pPr>
                      <a:r>
                        <a:rPr sz="800" b="0">
                          <a:solidFill>
                            <a:schemeClr val="tx1">
                              <a:lumMod val="65000"/>
                              <a:lumOff val="35000"/>
                            </a:schemeClr>
                          </a:solidFill>
                          <a:latin typeface="Yekan Bakh"/>
                          <a:cs typeface="Yekan Bakh"/>
                        </a:rPr>
                        <a:t>بالا</a:t>
                      </a:r>
                    </a:p>
                  </a:txBody>
                  <a:tcPr marL="50800" marR="50800" marT="38100" marB="38100" anchor="ctr">
                    <a:solidFill>
                      <a:srgbClr val="FFC000"/>
                    </a:solidFill>
                  </a:tcPr>
                </a:tc>
                <a:tc>
                  <a:txBody>
                    <a:bodyPr/>
                    <a:lstStyle/>
                    <a:p>
                      <a:pPr algn="ctr" rtl="1">
                        <a:lnSpc>
                          <a:spcPct val="105000"/>
                        </a:lnSpc>
                      </a:pPr>
                      <a:r>
                        <a:rPr sz="800" b="0">
                          <a:solidFill>
                            <a:schemeClr val="tx1">
                              <a:lumMod val="65000"/>
                              <a:lumOff val="35000"/>
                            </a:schemeClr>
                          </a:solidFill>
                          <a:latin typeface="Yekan Bakh"/>
                          <a:cs typeface="Yekan Bakh"/>
                        </a:rPr>
                        <a:t>پایین</a:t>
                      </a:r>
                    </a:p>
                  </a:txBody>
                  <a:tcPr marL="50800" marR="50800" marT="38100" marB="38100" anchor="ctr">
                    <a:solidFill>
                      <a:srgbClr val="FFC000"/>
                    </a:solidFill>
                  </a:tcPr>
                </a:tc>
                <a:tc>
                  <a:txBody>
                    <a:bodyPr/>
                    <a:lstStyle/>
                    <a:p>
                      <a:pPr algn="ctr" rtl="1">
                        <a:lnSpc>
                          <a:spcPct val="105000"/>
                        </a:lnSpc>
                      </a:pPr>
                      <a:r>
                        <a:rPr lang="fa-IR" sz="800" b="0" dirty="0">
                          <a:solidFill>
                            <a:schemeClr val="tx1">
                              <a:lumMod val="65000"/>
                              <a:lumOff val="35000"/>
                            </a:schemeClr>
                          </a:solidFill>
                          <a:latin typeface="Yekan Bakh FaNum SemiBold" pitchFamily="2" charset="-78"/>
                          <a:ea typeface="Yekan Bakh FaNum SemiBold" pitchFamily="2" charset="-78"/>
                          <a:cs typeface="Yekan Bakh FaNum SemiBold" pitchFamily="2" charset="-78"/>
                        </a:rPr>
                        <a:t>1</a:t>
                      </a:r>
                      <a:endParaRPr sz="800" b="0" dirty="0">
                        <a:solidFill>
                          <a:schemeClr val="tx1">
                            <a:lumMod val="65000"/>
                            <a:lumOff val="35000"/>
                          </a:schemeClr>
                        </a:solidFill>
                        <a:latin typeface="Yekan Bakh FaNum SemiBold" pitchFamily="2" charset="-78"/>
                        <a:ea typeface="Yekan Bakh FaNum SemiBold" pitchFamily="2" charset="-78"/>
                        <a:cs typeface="Yekan Bakh FaNum SemiBold" pitchFamily="2" charset="-78"/>
                      </a:endParaRPr>
                    </a:p>
                  </a:txBody>
                  <a:tcPr marL="50800" marR="50800" marT="38100" marB="38100" anchor="ctr">
                    <a:solidFill>
                      <a:srgbClr val="FFC000"/>
                    </a:solidFill>
                  </a:tcPr>
                </a:tc>
                <a:tc>
                  <a:txBody>
                    <a:bodyPr/>
                    <a:lstStyle/>
                    <a:p>
                      <a:pPr algn="r" rtl="1">
                        <a:lnSpc>
                          <a:spcPct val="105000"/>
                        </a:lnSpc>
                      </a:pPr>
                      <a:r>
                        <a:rPr sz="800" b="1" dirty="0" err="1">
                          <a:solidFill>
                            <a:srgbClr val="00406C"/>
                          </a:solidFill>
                          <a:latin typeface="Yekan Bakh"/>
                          <a:cs typeface="Yekan Bakh"/>
                        </a:rPr>
                        <a:t>شبکه</a:t>
                      </a:r>
                      <a:r>
                        <a:rPr sz="800" b="1" dirty="0">
                          <a:solidFill>
                            <a:srgbClr val="00406C"/>
                          </a:solidFill>
                          <a:latin typeface="Yekan Bakh"/>
                          <a:cs typeface="Yekan Bakh"/>
                        </a:rPr>
                        <a:t> </a:t>
                      </a:r>
                      <a:r>
                        <a:rPr sz="800" b="1" dirty="0" err="1">
                          <a:solidFill>
                            <a:srgbClr val="00406C"/>
                          </a:solidFill>
                          <a:latin typeface="Yekan Bakh"/>
                          <a:cs typeface="Yekan Bakh"/>
                        </a:rPr>
                        <a:t>شخصی</a:t>
                      </a:r>
                      <a:r>
                        <a:rPr sz="800" b="1" dirty="0">
                          <a:solidFill>
                            <a:srgbClr val="00406C"/>
                          </a:solidFill>
                          <a:latin typeface="Yekan Bakh"/>
                          <a:cs typeface="Yekan Bakh"/>
                        </a:rPr>
                        <a:t> </a:t>
                      </a:r>
                      <a:r>
                        <a:rPr sz="800" b="1" dirty="0" err="1">
                          <a:solidFill>
                            <a:srgbClr val="00406C"/>
                          </a:solidFill>
                          <a:latin typeface="Yekan Bakh"/>
                          <a:cs typeface="Yekan Bakh"/>
                        </a:rPr>
                        <a:t>بنیان‌گذاران</a:t>
                      </a:r>
                      <a:r>
                        <a:rPr sz="800" b="1" dirty="0">
                          <a:solidFill>
                            <a:srgbClr val="00406C"/>
                          </a:solidFill>
                          <a:latin typeface="Yekan Bakh"/>
                          <a:cs typeface="Yekan Bakh"/>
                        </a:rPr>
                        <a:t>/</a:t>
                      </a:r>
                      <a:r>
                        <a:rPr sz="800" b="1" dirty="0" err="1">
                          <a:solidFill>
                            <a:srgbClr val="00406C"/>
                          </a:solidFill>
                          <a:latin typeface="Yekan Bakh"/>
                          <a:cs typeface="Yekan Bakh"/>
                        </a:rPr>
                        <a:t>هسته</a:t>
                      </a:r>
                      <a:r>
                        <a:rPr sz="800" b="1" dirty="0">
                          <a:solidFill>
                            <a:srgbClr val="00406C"/>
                          </a:solidFill>
                          <a:latin typeface="Yekan Bakh"/>
                          <a:cs typeface="Yekan Bakh"/>
                        </a:rPr>
                        <a:t> </a:t>
                      </a:r>
                      <a:r>
                        <a:rPr lang="fa-IR" sz="800" b="1" dirty="0">
                          <a:solidFill>
                            <a:srgbClr val="00406C"/>
                          </a:solidFill>
                          <a:latin typeface="Yekan Bakh"/>
                          <a:cs typeface="Yekan Bakh"/>
                        </a:rPr>
                        <a:t>(</a:t>
                      </a:r>
                      <a:r>
                        <a:rPr sz="800" b="1" dirty="0">
                          <a:solidFill>
                            <a:srgbClr val="00406C"/>
                          </a:solidFill>
                          <a:latin typeface="Yekan Bakh"/>
                          <a:cs typeface="Yekan Bakh"/>
                        </a:rPr>
                        <a:t>پ۱،۵</a:t>
                      </a:r>
                      <a:r>
                        <a:rPr lang="fa-IR" sz="800" b="1" dirty="0">
                          <a:solidFill>
                            <a:srgbClr val="00406C"/>
                          </a:solidFill>
                          <a:latin typeface="Yekan Bakh"/>
                          <a:cs typeface="Yekan Bakh"/>
                        </a:rPr>
                        <a:t>)</a:t>
                      </a:r>
                      <a:endParaRPr sz="800" b="1" dirty="0">
                        <a:solidFill>
                          <a:srgbClr val="00406C"/>
                        </a:solidFill>
                        <a:latin typeface="Yekan Bakh"/>
                        <a:cs typeface="Yekan Bakh"/>
                      </a:endParaRPr>
                    </a:p>
                  </a:txBody>
                  <a:tcPr marL="50800" marR="50800" marT="38100" marB="38100" anchor="ctr">
                    <a:solidFill>
                      <a:srgbClr val="FFC000"/>
                    </a:solidFill>
                  </a:tcPr>
                </a:tc>
                <a:extLst>
                  <a:ext uri="{0D108BD9-81ED-4DB2-BD59-A6C34878D82A}">
                    <a16:rowId xmlns:a16="http://schemas.microsoft.com/office/drawing/2014/main" val="10001"/>
                  </a:ext>
                </a:extLst>
              </a:tr>
              <a:tr h="287599">
                <a:tc>
                  <a:txBody>
                    <a:bodyPr/>
                    <a:lstStyle/>
                    <a:p>
                      <a:pPr algn="ctr" rtl="1">
                        <a:lnSpc>
                          <a:spcPct val="105000"/>
                        </a:lnSpc>
                      </a:pPr>
                      <a:r>
                        <a:rPr sz="800" b="0">
                          <a:solidFill>
                            <a:schemeClr val="tx1">
                              <a:lumMod val="65000"/>
                              <a:lumOff val="35000"/>
                            </a:schemeClr>
                          </a:solidFill>
                          <a:latin typeface="Yekan Bakh"/>
                          <a:cs typeface="Yekan Bakh"/>
                        </a:rPr>
                        <a:t>متوسط</a:t>
                      </a:r>
                    </a:p>
                  </a:txBody>
                  <a:tcPr marL="50800" marR="50800" marT="38100" marB="38100" anchor="ctr">
                    <a:solidFill>
                      <a:schemeClr val="accent5">
                        <a:lumMod val="20000"/>
                        <a:lumOff val="80000"/>
                      </a:schemeClr>
                    </a:solidFill>
                  </a:tcPr>
                </a:tc>
                <a:tc>
                  <a:txBody>
                    <a:bodyPr/>
                    <a:lstStyle/>
                    <a:p>
                      <a:pPr algn="ctr" rtl="1">
                        <a:lnSpc>
                          <a:spcPct val="105000"/>
                        </a:lnSpc>
                      </a:pPr>
                      <a:r>
                        <a:rPr sz="800" b="0">
                          <a:solidFill>
                            <a:schemeClr val="tx1">
                              <a:lumMod val="65000"/>
                              <a:lumOff val="35000"/>
                            </a:schemeClr>
                          </a:solidFill>
                          <a:latin typeface="Yekan Bakh"/>
                          <a:cs typeface="Yekan Bakh"/>
                        </a:rPr>
                        <a:t>پایین</a:t>
                      </a:r>
                    </a:p>
                  </a:txBody>
                  <a:tcPr marL="50800" marR="50800" marT="38100" marB="38100" anchor="ctr">
                    <a:solidFill>
                      <a:schemeClr val="accent5">
                        <a:lumMod val="20000"/>
                        <a:lumOff val="80000"/>
                      </a:schemeClr>
                    </a:solidFill>
                  </a:tcPr>
                </a:tc>
                <a:tc>
                  <a:txBody>
                    <a:bodyPr/>
                    <a:lstStyle/>
                    <a:p>
                      <a:pPr algn="ctr" rtl="1">
                        <a:lnSpc>
                          <a:spcPct val="105000"/>
                        </a:lnSpc>
                      </a:pPr>
                      <a:r>
                        <a:rPr sz="800" b="0">
                          <a:solidFill>
                            <a:schemeClr val="tx1">
                              <a:lumMod val="65000"/>
                              <a:lumOff val="35000"/>
                            </a:schemeClr>
                          </a:solidFill>
                          <a:latin typeface="Yekan Bakh"/>
                          <a:cs typeface="Yekan Bakh"/>
                        </a:rPr>
                        <a:t>متوسط-بالا</a:t>
                      </a:r>
                    </a:p>
                  </a:txBody>
                  <a:tcPr marL="50800" marR="50800" marT="38100" marB="38100" anchor="ctr">
                    <a:solidFill>
                      <a:schemeClr val="accent5">
                        <a:lumMod val="20000"/>
                        <a:lumOff val="80000"/>
                      </a:schemeClr>
                    </a:solidFill>
                  </a:tcPr>
                </a:tc>
                <a:tc>
                  <a:txBody>
                    <a:bodyPr/>
                    <a:lstStyle/>
                    <a:p>
                      <a:pPr algn="ctr" rtl="1">
                        <a:lnSpc>
                          <a:spcPct val="105000"/>
                        </a:lnSpc>
                      </a:pPr>
                      <a:r>
                        <a:rPr sz="800" b="0">
                          <a:solidFill>
                            <a:schemeClr val="tx1">
                              <a:lumMod val="65000"/>
                              <a:lumOff val="35000"/>
                            </a:schemeClr>
                          </a:solidFill>
                          <a:latin typeface="Yekan Bakh"/>
                          <a:cs typeface="Yekan Bakh"/>
                        </a:rPr>
                        <a:t>متوسط</a:t>
                      </a:r>
                    </a:p>
                  </a:txBody>
                  <a:tcPr marL="50800" marR="50800" marT="38100" marB="38100" anchor="ctr">
                    <a:solidFill>
                      <a:schemeClr val="accent5">
                        <a:lumMod val="20000"/>
                        <a:lumOff val="80000"/>
                      </a:schemeClr>
                    </a:solidFill>
                  </a:tcPr>
                </a:tc>
                <a:tc>
                  <a:txBody>
                    <a:bodyPr/>
                    <a:lstStyle/>
                    <a:p>
                      <a:pPr algn="ctr" rtl="1">
                        <a:lnSpc>
                          <a:spcPct val="105000"/>
                        </a:lnSpc>
                      </a:pPr>
                      <a:r>
                        <a:rPr sz="800" b="0">
                          <a:solidFill>
                            <a:schemeClr val="tx1">
                              <a:lumMod val="65000"/>
                              <a:lumOff val="35000"/>
                            </a:schemeClr>
                          </a:solidFill>
                          <a:latin typeface="Yekan Bakh"/>
                          <a:cs typeface="Yekan Bakh"/>
                        </a:rPr>
                        <a:t>متوسط</a:t>
                      </a:r>
                    </a:p>
                  </a:txBody>
                  <a:tcPr marL="50800" marR="50800" marT="38100" marB="38100" anchor="ctr">
                    <a:solidFill>
                      <a:schemeClr val="accent5">
                        <a:lumMod val="20000"/>
                        <a:lumOff val="80000"/>
                      </a:schemeClr>
                    </a:solidFill>
                  </a:tcPr>
                </a:tc>
                <a:tc>
                  <a:txBody>
                    <a:bodyPr/>
                    <a:lstStyle/>
                    <a:p>
                      <a:pPr algn="ctr" rtl="1">
                        <a:lnSpc>
                          <a:spcPct val="105000"/>
                        </a:lnSpc>
                      </a:pPr>
                      <a:r>
                        <a:rPr lang="fa-IR" sz="800" b="0" dirty="0">
                          <a:solidFill>
                            <a:schemeClr val="tx1">
                              <a:lumMod val="65000"/>
                              <a:lumOff val="35000"/>
                            </a:schemeClr>
                          </a:solidFill>
                          <a:latin typeface="Yekan Bakh FaNum SemiBold" pitchFamily="2" charset="-78"/>
                          <a:ea typeface="Yekan Bakh FaNum SemiBold" pitchFamily="2" charset="-78"/>
                          <a:cs typeface="Yekan Bakh FaNum SemiBold" pitchFamily="2" charset="-78"/>
                        </a:rPr>
                        <a:t>2</a:t>
                      </a:r>
                      <a:endParaRPr sz="800" b="0" dirty="0">
                        <a:solidFill>
                          <a:schemeClr val="tx1">
                            <a:lumMod val="65000"/>
                            <a:lumOff val="35000"/>
                          </a:schemeClr>
                        </a:solidFill>
                        <a:latin typeface="Yekan Bakh FaNum SemiBold" pitchFamily="2" charset="-78"/>
                        <a:ea typeface="Yekan Bakh FaNum SemiBold" pitchFamily="2" charset="-78"/>
                        <a:cs typeface="Yekan Bakh FaNum SemiBold" pitchFamily="2" charset="-78"/>
                      </a:endParaRPr>
                    </a:p>
                  </a:txBody>
                  <a:tcPr marL="50800" marR="50800" marT="38100" marB="38100" anchor="ctr">
                    <a:solidFill>
                      <a:schemeClr val="accent5">
                        <a:lumMod val="20000"/>
                        <a:lumOff val="80000"/>
                      </a:schemeClr>
                    </a:solidFill>
                  </a:tcPr>
                </a:tc>
                <a:tc>
                  <a:txBody>
                    <a:bodyPr/>
                    <a:lstStyle/>
                    <a:p>
                      <a:pPr algn="r" rtl="1">
                        <a:lnSpc>
                          <a:spcPct val="105000"/>
                        </a:lnSpc>
                      </a:pPr>
                      <a:r>
                        <a:rPr sz="800" b="1" dirty="0" err="1">
                          <a:solidFill>
                            <a:srgbClr val="00406C"/>
                          </a:solidFill>
                          <a:latin typeface="Yekan Bakh"/>
                          <a:cs typeface="Yekan Bakh"/>
                        </a:rPr>
                        <a:t>اتاق</a:t>
                      </a:r>
                      <a:r>
                        <a:rPr sz="800" b="1" dirty="0">
                          <a:solidFill>
                            <a:srgbClr val="00406C"/>
                          </a:solidFill>
                          <a:latin typeface="Yekan Bakh"/>
                          <a:cs typeface="Yekan Bakh"/>
                        </a:rPr>
                        <a:t> </a:t>
                      </a:r>
                      <a:r>
                        <a:rPr sz="800" b="1" dirty="0" err="1">
                          <a:solidFill>
                            <a:srgbClr val="00406C"/>
                          </a:solidFill>
                          <a:latin typeface="Yekan Bakh"/>
                          <a:cs typeface="Yekan Bakh"/>
                        </a:rPr>
                        <a:t>بازرگانی</a:t>
                      </a:r>
                      <a:r>
                        <a:rPr sz="800" b="1" dirty="0">
                          <a:solidFill>
                            <a:srgbClr val="00406C"/>
                          </a:solidFill>
                          <a:latin typeface="Yekan Bakh"/>
                          <a:cs typeface="Yekan Bakh"/>
                        </a:rPr>
                        <a:t>/</a:t>
                      </a:r>
                      <a:r>
                        <a:rPr sz="800" b="1" dirty="0" err="1">
                          <a:solidFill>
                            <a:srgbClr val="00406C"/>
                          </a:solidFill>
                          <a:latin typeface="Yekan Bakh"/>
                          <a:cs typeface="Yekan Bakh"/>
                        </a:rPr>
                        <a:t>انجمن</a:t>
                      </a:r>
                      <a:r>
                        <a:rPr sz="800" b="1" dirty="0">
                          <a:solidFill>
                            <a:srgbClr val="00406C"/>
                          </a:solidFill>
                          <a:latin typeface="Yekan Bakh"/>
                          <a:cs typeface="Yekan Bakh"/>
                        </a:rPr>
                        <a:t> </a:t>
                      </a:r>
                      <a:r>
                        <a:rPr sz="800" b="1" dirty="0" err="1">
                          <a:solidFill>
                            <a:srgbClr val="00406C"/>
                          </a:solidFill>
                          <a:latin typeface="Yekan Bakh"/>
                          <a:cs typeface="Yekan Bakh"/>
                        </a:rPr>
                        <a:t>صنفی</a:t>
                      </a:r>
                      <a:r>
                        <a:rPr sz="800" b="1" dirty="0">
                          <a:solidFill>
                            <a:srgbClr val="00406C"/>
                          </a:solidFill>
                          <a:latin typeface="Yekan Bakh"/>
                          <a:cs typeface="Yekan Bakh"/>
                        </a:rPr>
                        <a:t> </a:t>
                      </a:r>
                      <a:r>
                        <a:rPr lang="fa-IR" sz="800" b="1" dirty="0">
                          <a:solidFill>
                            <a:srgbClr val="00406C"/>
                          </a:solidFill>
                          <a:latin typeface="Yekan Bakh"/>
                          <a:cs typeface="Yekan Bakh"/>
                        </a:rPr>
                        <a:t>(</a:t>
                      </a:r>
                      <a:r>
                        <a:rPr sz="800" b="1" dirty="0">
                          <a:solidFill>
                            <a:srgbClr val="00406C"/>
                          </a:solidFill>
                          <a:latin typeface="Yekan Bakh"/>
                          <a:cs typeface="Yekan Bakh"/>
                        </a:rPr>
                        <a:t>پ۱،۳</a:t>
                      </a:r>
                      <a:r>
                        <a:rPr lang="fa-IR" sz="800" b="1" dirty="0">
                          <a:solidFill>
                            <a:srgbClr val="00406C"/>
                          </a:solidFill>
                          <a:latin typeface="Yekan Bakh"/>
                          <a:cs typeface="Yekan Bakh"/>
                        </a:rPr>
                        <a:t>)</a:t>
                      </a:r>
                      <a:endParaRPr sz="800" b="1" dirty="0">
                        <a:solidFill>
                          <a:srgbClr val="00406C"/>
                        </a:solidFill>
                        <a:latin typeface="Yekan Bakh"/>
                        <a:cs typeface="Yekan Bakh"/>
                      </a:endParaRPr>
                    </a:p>
                  </a:txBody>
                  <a:tcPr marL="50800" marR="50800" marT="38100" marB="38100" anchor="ctr">
                    <a:solidFill>
                      <a:schemeClr val="accent5">
                        <a:lumMod val="20000"/>
                        <a:lumOff val="80000"/>
                      </a:schemeClr>
                    </a:solidFill>
                  </a:tcPr>
                </a:tc>
                <a:extLst>
                  <a:ext uri="{0D108BD9-81ED-4DB2-BD59-A6C34878D82A}">
                    <a16:rowId xmlns:a16="http://schemas.microsoft.com/office/drawing/2014/main" val="10002"/>
                  </a:ext>
                </a:extLst>
              </a:tr>
              <a:tr h="287599">
                <a:tc>
                  <a:txBody>
                    <a:bodyPr/>
                    <a:lstStyle/>
                    <a:p>
                      <a:pPr algn="ctr" rtl="1">
                        <a:lnSpc>
                          <a:spcPct val="105000"/>
                        </a:lnSpc>
                      </a:pPr>
                      <a:r>
                        <a:rPr sz="800" b="0">
                          <a:solidFill>
                            <a:schemeClr val="tx1">
                              <a:lumMod val="65000"/>
                              <a:lumOff val="35000"/>
                            </a:schemeClr>
                          </a:solidFill>
                          <a:latin typeface="Yekan Bakh"/>
                          <a:cs typeface="Yekan Bakh"/>
                        </a:rPr>
                        <a:t>بالا</a:t>
                      </a:r>
                    </a:p>
                  </a:txBody>
                  <a:tcPr marL="50800" marR="50800" marT="38100" marB="38100" anchor="ctr">
                    <a:solidFill>
                      <a:schemeClr val="accent5">
                        <a:lumMod val="20000"/>
                        <a:lumOff val="80000"/>
                      </a:schemeClr>
                    </a:solidFill>
                  </a:tcPr>
                </a:tc>
                <a:tc>
                  <a:txBody>
                    <a:bodyPr/>
                    <a:lstStyle/>
                    <a:p>
                      <a:pPr algn="ctr" rtl="1">
                        <a:lnSpc>
                          <a:spcPct val="105000"/>
                        </a:lnSpc>
                      </a:pPr>
                      <a:r>
                        <a:rPr sz="800" b="0">
                          <a:solidFill>
                            <a:schemeClr val="tx1">
                              <a:lumMod val="65000"/>
                              <a:lumOff val="35000"/>
                            </a:schemeClr>
                          </a:solidFill>
                          <a:latin typeface="Yekan Bakh"/>
                          <a:cs typeface="Yekan Bakh"/>
                        </a:rPr>
                        <a:t>پایین-متوسط</a:t>
                      </a:r>
                    </a:p>
                  </a:txBody>
                  <a:tcPr marL="50800" marR="50800" marT="38100" marB="38100" anchor="ctr">
                    <a:solidFill>
                      <a:schemeClr val="accent5">
                        <a:lumMod val="20000"/>
                        <a:lumOff val="80000"/>
                      </a:schemeClr>
                    </a:solidFill>
                  </a:tcPr>
                </a:tc>
                <a:tc>
                  <a:txBody>
                    <a:bodyPr/>
                    <a:lstStyle/>
                    <a:p>
                      <a:pPr algn="ctr" rtl="1">
                        <a:lnSpc>
                          <a:spcPct val="105000"/>
                        </a:lnSpc>
                      </a:pPr>
                      <a:r>
                        <a:rPr sz="800" b="0">
                          <a:solidFill>
                            <a:schemeClr val="tx1">
                              <a:lumMod val="65000"/>
                              <a:lumOff val="35000"/>
                            </a:schemeClr>
                          </a:solidFill>
                          <a:latin typeface="Yekan Bakh"/>
                          <a:cs typeface="Yekan Bakh"/>
                        </a:rPr>
                        <a:t>بالا</a:t>
                      </a:r>
                    </a:p>
                  </a:txBody>
                  <a:tcPr marL="50800" marR="50800" marT="38100" marB="38100" anchor="ctr">
                    <a:solidFill>
                      <a:schemeClr val="accent5">
                        <a:lumMod val="20000"/>
                        <a:lumOff val="80000"/>
                      </a:schemeClr>
                    </a:solidFill>
                  </a:tcPr>
                </a:tc>
                <a:tc>
                  <a:txBody>
                    <a:bodyPr/>
                    <a:lstStyle/>
                    <a:p>
                      <a:pPr algn="ctr" rtl="1">
                        <a:lnSpc>
                          <a:spcPct val="105000"/>
                        </a:lnSpc>
                      </a:pPr>
                      <a:r>
                        <a:rPr sz="800" b="0">
                          <a:solidFill>
                            <a:schemeClr val="tx1">
                              <a:lumMod val="65000"/>
                              <a:lumOff val="35000"/>
                            </a:schemeClr>
                          </a:solidFill>
                          <a:latin typeface="Yekan Bakh"/>
                          <a:cs typeface="Yekan Bakh"/>
                        </a:rPr>
                        <a:t>بالا</a:t>
                      </a:r>
                    </a:p>
                  </a:txBody>
                  <a:tcPr marL="50800" marR="50800" marT="38100" marB="38100" anchor="ctr">
                    <a:solidFill>
                      <a:schemeClr val="accent5">
                        <a:lumMod val="20000"/>
                        <a:lumOff val="80000"/>
                      </a:schemeClr>
                    </a:solidFill>
                  </a:tcPr>
                </a:tc>
                <a:tc>
                  <a:txBody>
                    <a:bodyPr/>
                    <a:lstStyle/>
                    <a:p>
                      <a:pPr algn="ctr" rtl="1">
                        <a:lnSpc>
                          <a:spcPct val="105000"/>
                        </a:lnSpc>
                      </a:pPr>
                      <a:r>
                        <a:rPr sz="800" b="0">
                          <a:solidFill>
                            <a:schemeClr val="tx1">
                              <a:lumMod val="65000"/>
                              <a:lumOff val="35000"/>
                            </a:schemeClr>
                          </a:solidFill>
                          <a:latin typeface="Yekan Bakh"/>
                          <a:cs typeface="Yekan Bakh"/>
                        </a:rPr>
                        <a:t>بالا</a:t>
                      </a:r>
                    </a:p>
                  </a:txBody>
                  <a:tcPr marL="50800" marR="50800" marT="38100" marB="38100" anchor="ctr">
                    <a:solidFill>
                      <a:schemeClr val="accent5">
                        <a:lumMod val="20000"/>
                        <a:lumOff val="80000"/>
                      </a:schemeClr>
                    </a:solidFill>
                  </a:tcPr>
                </a:tc>
                <a:tc>
                  <a:txBody>
                    <a:bodyPr/>
                    <a:lstStyle/>
                    <a:p>
                      <a:pPr algn="ctr" rtl="1">
                        <a:lnSpc>
                          <a:spcPct val="105000"/>
                        </a:lnSpc>
                      </a:pPr>
                      <a:r>
                        <a:rPr lang="fa-IR" sz="800" b="0" dirty="0">
                          <a:solidFill>
                            <a:schemeClr val="tx1">
                              <a:lumMod val="65000"/>
                              <a:lumOff val="35000"/>
                            </a:schemeClr>
                          </a:solidFill>
                          <a:latin typeface="Yekan Bakh FaNum SemiBold" pitchFamily="2" charset="-78"/>
                          <a:ea typeface="Yekan Bakh FaNum SemiBold" pitchFamily="2" charset="-78"/>
                          <a:cs typeface="Yekan Bakh FaNum SemiBold" pitchFamily="2" charset="-78"/>
                        </a:rPr>
                        <a:t>2</a:t>
                      </a:r>
                      <a:endParaRPr sz="800" b="0" dirty="0">
                        <a:solidFill>
                          <a:schemeClr val="tx1">
                            <a:lumMod val="65000"/>
                            <a:lumOff val="35000"/>
                          </a:schemeClr>
                        </a:solidFill>
                        <a:latin typeface="Yekan Bakh FaNum SemiBold" pitchFamily="2" charset="-78"/>
                        <a:ea typeface="Yekan Bakh FaNum SemiBold" pitchFamily="2" charset="-78"/>
                        <a:cs typeface="Yekan Bakh FaNum SemiBold" pitchFamily="2" charset="-78"/>
                      </a:endParaRPr>
                    </a:p>
                  </a:txBody>
                  <a:tcPr marL="50800" marR="50800" marT="38100" marB="38100" anchor="ctr">
                    <a:solidFill>
                      <a:schemeClr val="accent5">
                        <a:lumMod val="20000"/>
                        <a:lumOff val="80000"/>
                      </a:schemeClr>
                    </a:solidFill>
                  </a:tcPr>
                </a:tc>
                <a:tc>
                  <a:txBody>
                    <a:bodyPr/>
                    <a:lstStyle/>
                    <a:p>
                      <a:pPr algn="r" rtl="1">
                        <a:lnSpc>
                          <a:spcPct val="105000"/>
                        </a:lnSpc>
                      </a:pPr>
                      <a:r>
                        <a:rPr sz="800" b="1" dirty="0" err="1">
                          <a:solidFill>
                            <a:srgbClr val="00406C"/>
                          </a:solidFill>
                          <a:latin typeface="Yekan Bakh"/>
                          <a:cs typeface="Yekan Bakh"/>
                        </a:rPr>
                        <a:t>محتوا</a:t>
                      </a:r>
                      <a:r>
                        <a:rPr sz="800" b="1" dirty="0">
                          <a:solidFill>
                            <a:srgbClr val="00406C"/>
                          </a:solidFill>
                          <a:latin typeface="Yekan Bakh"/>
                          <a:cs typeface="Yekan Bakh"/>
                        </a:rPr>
                        <a:t> و </a:t>
                      </a:r>
                      <a:r>
                        <a:rPr sz="800" b="1" dirty="0" err="1">
                          <a:solidFill>
                            <a:srgbClr val="00406C"/>
                          </a:solidFill>
                          <a:latin typeface="Yekan Bakh"/>
                          <a:cs typeface="Yekan Bakh"/>
                        </a:rPr>
                        <a:t>پوشش</a:t>
                      </a:r>
                      <a:r>
                        <a:rPr sz="800" b="1" dirty="0">
                          <a:solidFill>
                            <a:srgbClr val="00406C"/>
                          </a:solidFill>
                          <a:latin typeface="Yekan Bakh"/>
                          <a:cs typeface="Yekan Bakh"/>
                        </a:rPr>
                        <a:t> </a:t>
                      </a:r>
                      <a:r>
                        <a:rPr sz="800" b="1" dirty="0" err="1">
                          <a:solidFill>
                            <a:srgbClr val="00406C"/>
                          </a:solidFill>
                          <a:latin typeface="Yekan Bakh"/>
                          <a:cs typeface="Yekan Bakh"/>
                        </a:rPr>
                        <a:t>رسانه‌های</a:t>
                      </a:r>
                      <a:r>
                        <a:rPr sz="800" b="1" dirty="0">
                          <a:solidFill>
                            <a:srgbClr val="00406C"/>
                          </a:solidFill>
                          <a:latin typeface="Yekan Bakh"/>
                          <a:cs typeface="Yekan Bakh"/>
                        </a:rPr>
                        <a:t> </a:t>
                      </a:r>
                      <a:r>
                        <a:rPr sz="800" b="1" dirty="0" err="1">
                          <a:solidFill>
                            <a:srgbClr val="00406C"/>
                          </a:solidFill>
                          <a:latin typeface="Yekan Bakh"/>
                          <a:cs typeface="Yekan Bakh"/>
                        </a:rPr>
                        <a:t>اقتصادی</a:t>
                      </a:r>
                      <a:r>
                        <a:rPr sz="800" b="1" dirty="0">
                          <a:solidFill>
                            <a:srgbClr val="00406C"/>
                          </a:solidFill>
                          <a:latin typeface="Yekan Bakh"/>
                          <a:cs typeface="Yekan Bakh"/>
                        </a:rPr>
                        <a:t> </a:t>
                      </a:r>
                      <a:r>
                        <a:rPr sz="800" b="1" dirty="0" err="1">
                          <a:solidFill>
                            <a:srgbClr val="00406C"/>
                          </a:solidFill>
                          <a:latin typeface="Yekan Bakh"/>
                          <a:cs typeface="Yekan Bakh"/>
                        </a:rPr>
                        <a:t>معتبر</a:t>
                      </a:r>
                      <a:r>
                        <a:rPr sz="800" b="1" dirty="0">
                          <a:solidFill>
                            <a:srgbClr val="00406C"/>
                          </a:solidFill>
                          <a:latin typeface="Yekan Bakh"/>
                          <a:cs typeface="Yekan Bakh"/>
                        </a:rPr>
                        <a:t> </a:t>
                      </a:r>
                      <a:r>
                        <a:rPr lang="fa-IR" sz="800" b="1" dirty="0">
                          <a:solidFill>
                            <a:srgbClr val="00406C"/>
                          </a:solidFill>
                          <a:latin typeface="Yekan Bakh"/>
                          <a:cs typeface="Yekan Bakh"/>
                        </a:rPr>
                        <a:t>(</a:t>
                      </a:r>
                      <a:r>
                        <a:rPr sz="800" b="1" dirty="0">
                          <a:solidFill>
                            <a:srgbClr val="00406C"/>
                          </a:solidFill>
                          <a:latin typeface="Yekan Bakh"/>
                          <a:cs typeface="Yekan Bakh"/>
                        </a:rPr>
                        <a:t>پ۱،۲،۴</a:t>
                      </a:r>
                      <a:r>
                        <a:rPr lang="fa-IR" sz="800" b="1" dirty="0">
                          <a:solidFill>
                            <a:srgbClr val="00406C"/>
                          </a:solidFill>
                          <a:latin typeface="Yekan Bakh"/>
                          <a:cs typeface="Yekan Bakh"/>
                        </a:rPr>
                        <a:t>)</a:t>
                      </a:r>
                      <a:endParaRPr sz="800" b="1" dirty="0">
                        <a:solidFill>
                          <a:srgbClr val="00406C"/>
                        </a:solidFill>
                        <a:latin typeface="Yekan Bakh"/>
                        <a:cs typeface="Yekan Bakh"/>
                      </a:endParaRPr>
                    </a:p>
                  </a:txBody>
                  <a:tcPr marL="50800" marR="50800" marT="38100" marB="38100" anchor="ctr">
                    <a:solidFill>
                      <a:schemeClr val="accent5">
                        <a:lumMod val="20000"/>
                        <a:lumOff val="80000"/>
                      </a:schemeClr>
                    </a:solidFill>
                  </a:tcPr>
                </a:tc>
                <a:extLst>
                  <a:ext uri="{0D108BD9-81ED-4DB2-BD59-A6C34878D82A}">
                    <a16:rowId xmlns:a16="http://schemas.microsoft.com/office/drawing/2014/main" val="10003"/>
                  </a:ext>
                </a:extLst>
              </a:tr>
              <a:tr h="287599">
                <a:tc>
                  <a:txBody>
                    <a:bodyPr/>
                    <a:lstStyle/>
                    <a:p>
                      <a:pPr algn="ctr" rtl="1">
                        <a:lnSpc>
                          <a:spcPct val="105000"/>
                        </a:lnSpc>
                      </a:pPr>
                      <a:r>
                        <a:rPr sz="800" b="0">
                          <a:solidFill>
                            <a:schemeClr val="tx1">
                              <a:lumMod val="65000"/>
                              <a:lumOff val="35000"/>
                            </a:schemeClr>
                          </a:solidFill>
                          <a:latin typeface="Yekan Bakh"/>
                          <a:cs typeface="Yekan Bakh"/>
                        </a:rPr>
                        <a:t>متوسط</a:t>
                      </a:r>
                    </a:p>
                  </a:txBody>
                  <a:tcPr marL="50800" marR="50800" marT="38100" marB="38100" anchor="ctr">
                    <a:solidFill>
                      <a:schemeClr val="accent5">
                        <a:lumMod val="20000"/>
                        <a:lumOff val="80000"/>
                      </a:schemeClr>
                    </a:solidFill>
                  </a:tcPr>
                </a:tc>
                <a:tc>
                  <a:txBody>
                    <a:bodyPr/>
                    <a:lstStyle/>
                    <a:p>
                      <a:pPr algn="ctr" rtl="1">
                        <a:lnSpc>
                          <a:spcPct val="105000"/>
                        </a:lnSpc>
                      </a:pPr>
                      <a:r>
                        <a:rPr sz="800" b="0">
                          <a:solidFill>
                            <a:schemeClr val="tx1">
                              <a:lumMod val="65000"/>
                              <a:lumOff val="35000"/>
                            </a:schemeClr>
                          </a:solidFill>
                          <a:latin typeface="Yekan Bakh"/>
                          <a:cs typeface="Yekan Bakh"/>
                        </a:rPr>
                        <a:t>پایین</a:t>
                      </a:r>
                    </a:p>
                  </a:txBody>
                  <a:tcPr marL="50800" marR="50800" marT="38100" marB="38100" anchor="ctr">
                    <a:solidFill>
                      <a:schemeClr val="accent5">
                        <a:lumMod val="20000"/>
                        <a:lumOff val="80000"/>
                      </a:schemeClr>
                    </a:solidFill>
                  </a:tcPr>
                </a:tc>
                <a:tc>
                  <a:txBody>
                    <a:bodyPr/>
                    <a:lstStyle/>
                    <a:p>
                      <a:pPr algn="ctr" rtl="1">
                        <a:lnSpc>
                          <a:spcPct val="105000"/>
                        </a:lnSpc>
                      </a:pPr>
                      <a:r>
                        <a:rPr sz="800" b="0">
                          <a:solidFill>
                            <a:schemeClr val="tx1">
                              <a:lumMod val="65000"/>
                              <a:lumOff val="35000"/>
                            </a:schemeClr>
                          </a:solidFill>
                          <a:latin typeface="Yekan Bakh"/>
                          <a:cs typeface="Yekan Bakh"/>
                        </a:rPr>
                        <a:t>متوسط</a:t>
                      </a:r>
                    </a:p>
                  </a:txBody>
                  <a:tcPr marL="50800" marR="50800" marT="38100" marB="38100" anchor="ctr">
                    <a:solidFill>
                      <a:schemeClr val="accent5">
                        <a:lumMod val="20000"/>
                        <a:lumOff val="80000"/>
                      </a:schemeClr>
                    </a:solidFill>
                  </a:tcPr>
                </a:tc>
                <a:tc>
                  <a:txBody>
                    <a:bodyPr/>
                    <a:lstStyle/>
                    <a:p>
                      <a:pPr algn="ctr" rtl="1">
                        <a:lnSpc>
                          <a:spcPct val="105000"/>
                        </a:lnSpc>
                      </a:pPr>
                      <a:r>
                        <a:rPr sz="800" b="0">
                          <a:solidFill>
                            <a:schemeClr val="tx1">
                              <a:lumMod val="65000"/>
                              <a:lumOff val="35000"/>
                            </a:schemeClr>
                          </a:solidFill>
                          <a:latin typeface="Yekan Bakh"/>
                          <a:cs typeface="Yekan Bakh"/>
                        </a:rPr>
                        <a:t>پایین*</a:t>
                      </a:r>
                    </a:p>
                  </a:txBody>
                  <a:tcPr marL="50800" marR="50800" marT="38100" marB="38100" anchor="ctr">
                    <a:solidFill>
                      <a:schemeClr val="accent5">
                        <a:lumMod val="20000"/>
                        <a:lumOff val="80000"/>
                      </a:schemeClr>
                    </a:solidFill>
                  </a:tcPr>
                </a:tc>
                <a:tc>
                  <a:txBody>
                    <a:bodyPr/>
                    <a:lstStyle/>
                    <a:p>
                      <a:pPr algn="ctr" rtl="1">
                        <a:lnSpc>
                          <a:spcPct val="105000"/>
                        </a:lnSpc>
                      </a:pPr>
                      <a:r>
                        <a:rPr sz="800" b="0">
                          <a:solidFill>
                            <a:schemeClr val="tx1">
                              <a:lumMod val="65000"/>
                              <a:lumOff val="35000"/>
                            </a:schemeClr>
                          </a:solidFill>
                          <a:latin typeface="Yekan Bakh"/>
                          <a:cs typeface="Yekan Bakh"/>
                        </a:rPr>
                        <a:t>متوسط</a:t>
                      </a:r>
                    </a:p>
                  </a:txBody>
                  <a:tcPr marL="50800" marR="50800" marT="38100" marB="38100" anchor="ctr">
                    <a:solidFill>
                      <a:schemeClr val="accent5">
                        <a:lumMod val="20000"/>
                        <a:lumOff val="80000"/>
                      </a:schemeClr>
                    </a:solidFill>
                  </a:tcPr>
                </a:tc>
                <a:tc>
                  <a:txBody>
                    <a:bodyPr/>
                    <a:lstStyle/>
                    <a:p>
                      <a:pPr algn="ctr" rtl="1">
                        <a:lnSpc>
                          <a:spcPct val="105000"/>
                        </a:lnSpc>
                      </a:pPr>
                      <a:r>
                        <a:rPr lang="fa-IR" sz="800" b="0" dirty="0">
                          <a:solidFill>
                            <a:schemeClr val="tx1">
                              <a:lumMod val="65000"/>
                              <a:lumOff val="35000"/>
                            </a:schemeClr>
                          </a:solidFill>
                          <a:latin typeface="Yekan Bakh FaNum SemiBold" pitchFamily="2" charset="-78"/>
                          <a:ea typeface="Yekan Bakh FaNum SemiBold" pitchFamily="2" charset="-78"/>
                          <a:cs typeface="Yekan Bakh FaNum SemiBold" pitchFamily="2" charset="-78"/>
                        </a:rPr>
                        <a:t>2</a:t>
                      </a:r>
                      <a:endParaRPr sz="800" b="0" dirty="0">
                        <a:solidFill>
                          <a:schemeClr val="tx1">
                            <a:lumMod val="65000"/>
                            <a:lumOff val="35000"/>
                          </a:schemeClr>
                        </a:solidFill>
                        <a:latin typeface="Yekan Bakh FaNum SemiBold" pitchFamily="2" charset="-78"/>
                        <a:ea typeface="Yekan Bakh FaNum SemiBold" pitchFamily="2" charset="-78"/>
                        <a:cs typeface="Yekan Bakh FaNum SemiBold" pitchFamily="2" charset="-78"/>
                      </a:endParaRPr>
                    </a:p>
                  </a:txBody>
                  <a:tcPr marL="50800" marR="50800" marT="38100" marB="38100" anchor="ctr">
                    <a:solidFill>
                      <a:schemeClr val="accent5">
                        <a:lumMod val="20000"/>
                        <a:lumOff val="80000"/>
                      </a:schemeClr>
                    </a:solidFill>
                  </a:tcPr>
                </a:tc>
                <a:tc>
                  <a:txBody>
                    <a:bodyPr/>
                    <a:lstStyle/>
                    <a:p>
                      <a:pPr algn="r" rtl="1">
                        <a:lnSpc>
                          <a:spcPct val="105000"/>
                        </a:lnSpc>
                      </a:pPr>
                      <a:r>
                        <a:rPr sz="800" b="1" dirty="0" err="1">
                          <a:solidFill>
                            <a:srgbClr val="00406C"/>
                          </a:solidFill>
                          <a:latin typeface="Yekan Bakh"/>
                          <a:cs typeface="Yekan Bakh"/>
                        </a:rPr>
                        <a:t>ایرانیان</a:t>
                      </a:r>
                      <a:r>
                        <a:rPr sz="800" b="1" dirty="0">
                          <a:solidFill>
                            <a:srgbClr val="00406C"/>
                          </a:solidFill>
                          <a:latin typeface="Yekan Bakh"/>
                          <a:cs typeface="Yekan Bakh"/>
                        </a:rPr>
                        <a:t> </a:t>
                      </a:r>
                      <a:r>
                        <a:rPr sz="800" b="1" dirty="0" err="1">
                          <a:solidFill>
                            <a:srgbClr val="00406C"/>
                          </a:solidFill>
                          <a:latin typeface="Yekan Bakh"/>
                          <a:cs typeface="Yekan Bakh"/>
                        </a:rPr>
                        <a:t>خارج</a:t>
                      </a:r>
                      <a:r>
                        <a:rPr sz="800" b="1" dirty="0">
                          <a:solidFill>
                            <a:srgbClr val="00406C"/>
                          </a:solidFill>
                          <a:latin typeface="Yekan Bakh"/>
                          <a:cs typeface="Yekan Bakh"/>
                        </a:rPr>
                        <a:t> </a:t>
                      </a:r>
                      <a:r>
                        <a:rPr sz="800" b="1" dirty="0" err="1">
                          <a:solidFill>
                            <a:srgbClr val="00406C"/>
                          </a:solidFill>
                          <a:latin typeface="Yekan Bakh"/>
                          <a:cs typeface="Yekan Bakh"/>
                        </a:rPr>
                        <a:t>از</a:t>
                      </a:r>
                      <a:r>
                        <a:rPr sz="800" b="1" dirty="0">
                          <a:solidFill>
                            <a:srgbClr val="00406C"/>
                          </a:solidFill>
                          <a:latin typeface="Yekan Bakh"/>
                          <a:cs typeface="Yekan Bakh"/>
                        </a:rPr>
                        <a:t> </a:t>
                      </a:r>
                      <a:r>
                        <a:rPr sz="800" b="1" dirty="0" err="1">
                          <a:solidFill>
                            <a:srgbClr val="00406C"/>
                          </a:solidFill>
                          <a:latin typeface="Yekan Bakh"/>
                          <a:cs typeface="Yekan Bakh"/>
                        </a:rPr>
                        <a:t>کشور</a:t>
                      </a:r>
                      <a:r>
                        <a:rPr sz="800" b="1" dirty="0">
                          <a:solidFill>
                            <a:srgbClr val="00406C"/>
                          </a:solidFill>
                          <a:latin typeface="Yekan Bakh"/>
                          <a:cs typeface="Yekan Bakh"/>
                        </a:rPr>
                        <a:t> </a:t>
                      </a:r>
                      <a:r>
                        <a:rPr lang="fa-IR" sz="800" b="1" dirty="0">
                          <a:solidFill>
                            <a:srgbClr val="00406C"/>
                          </a:solidFill>
                          <a:latin typeface="Yekan Bakh"/>
                          <a:cs typeface="Yekan Bakh"/>
                        </a:rPr>
                        <a:t>(</a:t>
                      </a:r>
                      <a:r>
                        <a:rPr sz="800" b="1" dirty="0">
                          <a:solidFill>
                            <a:srgbClr val="00406C"/>
                          </a:solidFill>
                          <a:latin typeface="Yekan Bakh"/>
                          <a:cs typeface="Yekan Bakh"/>
                        </a:rPr>
                        <a:t>پ۲،۴،۶</a:t>
                      </a:r>
                      <a:r>
                        <a:rPr lang="fa-IR" sz="800" b="1" dirty="0">
                          <a:solidFill>
                            <a:srgbClr val="00406C"/>
                          </a:solidFill>
                          <a:latin typeface="Yekan Bakh"/>
                          <a:cs typeface="Yekan Bakh"/>
                        </a:rPr>
                        <a:t>)</a:t>
                      </a:r>
                      <a:endParaRPr sz="800" b="1" dirty="0">
                        <a:solidFill>
                          <a:srgbClr val="00406C"/>
                        </a:solidFill>
                        <a:latin typeface="Yekan Bakh"/>
                        <a:cs typeface="Yekan Bakh"/>
                      </a:endParaRPr>
                    </a:p>
                  </a:txBody>
                  <a:tcPr marL="50800" marR="50800" marT="38100" marB="38100" anchor="ctr">
                    <a:solidFill>
                      <a:schemeClr val="accent5">
                        <a:lumMod val="20000"/>
                        <a:lumOff val="80000"/>
                      </a:schemeClr>
                    </a:solidFill>
                  </a:tcPr>
                </a:tc>
                <a:extLst>
                  <a:ext uri="{0D108BD9-81ED-4DB2-BD59-A6C34878D82A}">
                    <a16:rowId xmlns:a16="http://schemas.microsoft.com/office/drawing/2014/main" val="10004"/>
                  </a:ext>
                </a:extLst>
              </a:tr>
              <a:tr h="287599">
                <a:tc>
                  <a:txBody>
                    <a:bodyPr/>
                    <a:lstStyle/>
                    <a:p>
                      <a:pPr algn="ctr" rtl="1">
                        <a:lnSpc>
                          <a:spcPct val="105000"/>
                        </a:lnSpc>
                      </a:pPr>
                      <a:r>
                        <a:rPr sz="800" b="0">
                          <a:solidFill>
                            <a:schemeClr val="tx1">
                              <a:lumMod val="65000"/>
                              <a:lumOff val="35000"/>
                            </a:schemeClr>
                          </a:solidFill>
                          <a:latin typeface="Yekan Bakh"/>
                          <a:cs typeface="Yekan Bakh"/>
                        </a:rPr>
                        <a:t>پایین</a:t>
                      </a:r>
                    </a:p>
                  </a:txBody>
                  <a:tcPr marL="50800" marR="50800" marT="38100" marB="38100" anchor="ctr">
                    <a:solidFill>
                      <a:schemeClr val="accent5">
                        <a:lumMod val="20000"/>
                        <a:lumOff val="80000"/>
                      </a:schemeClr>
                    </a:solidFill>
                  </a:tcPr>
                </a:tc>
                <a:tc>
                  <a:txBody>
                    <a:bodyPr/>
                    <a:lstStyle/>
                    <a:p>
                      <a:pPr algn="ctr" rtl="1">
                        <a:lnSpc>
                          <a:spcPct val="105000"/>
                        </a:lnSpc>
                      </a:pPr>
                      <a:r>
                        <a:rPr sz="800" b="0">
                          <a:solidFill>
                            <a:schemeClr val="tx1">
                              <a:lumMod val="65000"/>
                              <a:lumOff val="35000"/>
                            </a:schemeClr>
                          </a:solidFill>
                          <a:latin typeface="Yekan Bakh"/>
                          <a:cs typeface="Yekan Bakh"/>
                        </a:rPr>
                        <a:t>بسیار پایین</a:t>
                      </a:r>
                    </a:p>
                  </a:txBody>
                  <a:tcPr marL="50800" marR="50800" marT="38100" marB="38100" anchor="ctr">
                    <a:solidFill>
                      <a:schemeClr val="accent5">
                        <a:lumMod val="20000"/>
                        <a:lumOff val="80000"/>
                      </a:schemeClr>
                    </a:solidFill>
                  </a:tcPr>
                </a:tc>
                <a:tc>
                  <a:txBody>
                    <a:bodyPr/>
                    <a:lstStyle/>
                    <a:p>
                      <a:pPr algn="ctr" rtl="1">
                        <a:lnSpc>
                          <a:spcPct val="105000"/>
                        </a:lnSpc>
                      </a:pPr>
                      <a:r>
                        <a:rPr sz="800" b="0">
                          <a:solidFill>
                            <a:schemeClr val="tx1">
                              <a:lumMod val="65000"/>
                              <a:lumOff val="35000"/>
                            </a:schemeClr>
                          </a:solidFill>
                          <a:latin typeface="Yekan Bakh"/>
                          <a:cs typeface="Yekan Bakh"/>
                        </a:rPr>
                        <a:t>بسیار بالا</a:t>
                      </a:r>
                    </a:p>
                  </a:txBody>
                  <a:tcPr marL="50800" marR="50800" marT="38100" marB="38100" anchor="ctr">
                    <a:solidFill>
                      <a:schemeClr val="accent5">
                        <a:lumMod val="20000"/>
                        <a:lumOff val="80000"/>
                      </a:schemeClr>
                    </a:solidFill>
                  </a:tcPr>
                </a:tc>
                <a:tc>
                  <a:txBody>
                    <a:bodyPr/>
                    <a:lstStyle/>
                    <a:p>
                      <a:pPr algn="ctr" rtl="1">
                        <a:lnSpc>
                          <a:spcPct val="105000"/>
                        </a:lnSpc>
                      </a:pPr>
                      <a:r>
                        <a:rPr sz="800" b="0" dirty="0" err="1">
                          <a:solidFill>
                            <a:schemeClr val="tx1">
                              <a:lumMod val="65000"/>
                              <a:lumOff val="35000"/>
                            </a:schemeClr>
                          </a:solidFill>
                          <a:latin typeface="Yekan Bakh"/>
                          <a:cs typeface="Yekan Bakh"/>
                        </a:rPr>
                        <a:t>بالا</a:t>
                      </a:r>
                      <a:endParaRPr sz="800" b="0" dirty="0">
                        <a:solidFill>
                          <a:schemeClr val="tx1">
                            <a:lumMod val="65000"/>
                            <a:lumOff val="35000"/>
                          </a:schemeClr>
                        </a:solidFill>
                        <a:latin typeface="Yekan Bakh"/>
                        <a:cs typeface="Yekan Bakh"/>
                      </a:endParaRPr>
                    </a:p>
                  </a:txBody>
                  <a:tcPr marL="50800" marR="50800" marT="38100" marB="38100" anchor="ctr">
                    <a:solidFill>
                      <a:schemeClr val="accent5">
                        <a:lumMod val="20000"/>
                        <a:lumOff val="80000"/>
                      </a:schemeClr>
                    </a:solidFill>
                  </a:tcPr>
                </a:tc>
                <a:tc>
                  <a:txBody>
                    <a:bodyPr/>
                    <a:lstStyle/>
                    <a:p>
                      <a:pPr algn="ctr" rtl="1">
                        <a:lnSpc>
                          <a:spcPct val="105000"/>
                        </a:lnSpc>
                      </a:pPr>
                      <a:r>
                        <a:rPr sz="800" b="0">
                          <a:solidFill>
                            <a:schemeClr val="tx1">
                              <a:lumMod val="65000"/>
                              <a:lumOff val="35000"/>
                            </a:schemeClr>
                          </a:solidFill>
                          <a:latin typeface="Yekan Bakh"/>
                          <a:cs typeface="Yekan Bakh"/>
                        </a:rPr>
                        <a:t>متوسط</a:t>
                      </a:r>
                    </a:p>
                  </a:txBody>
                  <a:tcPr marL="50800" marR="50800" marT="38100" marB="38100" anchor="ctr">
                    <a:solidFill>
                      <a:schemeClr val="accent5">
                        <a:lumMod val="20000"/>
                        <a:lumOff val="80000"/>
                      </a:schemeClr>
                    </a:solidFill>
                  </a:tcPr>
                </a:tc>
                <a:tc>
                  <a:txBody>
                    <a:bodyPr/>
                    <a:lstStyle/>
                    <a:p>
                      <a:pPr algn="ctr" rtl="1">
                        <a:lnSpc>
                          <a:spcPct val="105000"/>
                        </a:lnSpc>
                      </a:pPr>
                      <a:r>
                        <a:rPr lang="fa-IR" sz="800" b="0" dirty="0">
                          <a:solidFill>
                            <a:schemeClr val="tx1">
                              <a:lumMod val="65000"/>
                              <a:lumOff val="35000"/>
                            </a:schemeClr>
                          </a:solidFill>
                          <a:latin typeface="Yekan Bakh FaNum SemiBold" pitchFamily="2" charset="-78"/>
                          <a:ea typeface="Yekan Bakh FaNum SemiBold" pitchFamily="2" charset="-78"/>
                          <a:cs typeface="Yekan Bakh FaNum SemiBold" pitchFamily="2" charset="-78"/>
                        </a:rPr>
                        <a:t>2</a:t>
                      </a:r>
                      <a:endParaRPr sz="800" b="0" dirty="0">
                        <a:solidFill>
                          <a:schemeClr val="tx1">
                            <a:lumMod val="65000"/>
                            <a:lumOff val="35000"/>
                          </a:schemeClr>
                        </a:solidFill>
                        <a:latin typeface="Yekan Bakh FaNum SemiBold" pitchFamily="2" charset="-78"/>
                        <a:ea typeface="Yekan Bakh FaNum SemiBold" pitchFamily="2" charset="-78"/>
                        <a:cs typeface="Yekan Bakh FaNum SemiBold" pitchFamily="2" charset="-78"/>
                      </a:endParaRPr>
                    </a:p>
                  </a:txBody>
                  <a:tcPr marL="50800" marR="50800" marT="38100" marB="38100" anchor="ctr">
                    <a:solidFill>
                      <a:schemeClr val="accent5">
                        <a:lumMod val="20000"/>
                        <a:lumOff val="80000"/>
                      </a:schemeClr>
                    </a:solidFill>
                  </a:tcPr>
                </a:tc>
                <a:tc>
                  <a:txBody>
                    <a:bodyPr/>
                    <a:lstStyle/>
                    <a:p>
                      <a:pPr algn="r" rtl="1">
                        <a:lnSpc>
                          <a:spcPct val="105000"/>
                        </a:lnSpc>
                      </a:pPr>
                      <a:r>
                        <a:rPr sz="800" b="1" dirty="0" err="1">
                          <a:solidFill>
                            <a:srgbClr val="00406C"/>
                          </a:solidFill>
                          <a:latin typeface="Yekan Bakh"/>
                          <a:cs typeface="Yekan Bakh"/>
                        </a:rPr>
                        <a:t>جریان</a:t>
                      </a:r>
                      <a:r>
                        <a:rPr sz="800" b="1" dirty="0">
                          <a:solidFill>
                            <a:srgbClr val="00406C"/>
                          </a:solidFill>
                          <a:latin typeface="Yekan Bakh"/>
                          <a:cs typeface="Yekan Bakh"/>
                        </a:rPr>
                        <a:t> </a:t>
                      </a:r>
                      <a:r>
                        <a:rPr sz="800" b="1" dirty="0" err="1">
                          <a:solidFill>
                            <a:srgbClr val="00406C"/>
                          </a:solidFill>
                          <a:latin typeface="Yekan Bakh"/>
                          <a:cs typeface="Yekan Bakh"/>
                        </a:rPr>
                        <a:t>متقابل</a:t>
                      </a:r>
                      <a:r>
                        <a:rPr sz="800" b="1" dirty="0">
                          <a:solidFill>
                            <a:srgbClr val="00406C"/>
                          </a:solidFill>
                          <a:latin typeface="Yekan Bakh"/>
                          <a:cs typeface="Yekan Bakh"/>
                        </a:rPr>
                        <a:t> </a:t>
                      </a:r>
                      <a:r>
                        <a:rPr sz="800" b="1" dirty="0" err="1">
                          <a:solidFill>
                            <a:srgbClr val="00406C"/>
                          </a:solidFill>
                          <a:latin typeface="Yekan Bakh"/>
                          <a:cs typeface="Yekan Bakh"/>
                        </a:rPr>
                        <a:t>بین</a:t>
                      </a:r>
                      <a:r>
                        <a:rPr sz="800" b="1" dirty="0">
                          <a:solidFill>
                            <a:srgbClr val="00406C"/>
                          </a:solidFill>
                          <a:latin typeface="Yekan Bakh"/>
                          <a:cs typeface="Yekan Bakh"/>
                        </a:rPr>
                        <a:t> </a:t>
                      </a:r>
                      <a:r>
                        <a:rPr sz="800" b="1" dirty="0" err="1">
                          <a:solidFill>
                            <a:srgbClr val="00406C"/>
                          </a:solidFill>
                          <a:latin typeface="Yekan Bakh"/>
                          <a:cs typeface="Yekan Bakh"/>
                        </a:rPr>
                        <a:t>بیزینس‌لاین‌ها</a:t>
                      </a:r>
                      <a:r>
                        <a:rPr sz="800" b="1" dirty="0">
                          <a:solidFill>
                            <a:srgbClr val="00406C"/>
                          </a:solidFill>
                          <a:latin typeface="Yekan Bakh"/>
                          <a:cs typeface="Yekan Bakh"/>
                        </a:rPr>
                        <a:t> </a:t>
                      </a:r>
                      <a:r>
                        <a:rPr lang="fa-IR" sz="800" b="1" dirty="0">
                          <a:solidFill>
                            <a:srgbClr val="00406C"/>
                          </a:solidFill>
                          <a:latin typeface="Yekan Bakh"/>
                          <a:cs typeface="Yekan Bakh"/>
                        </a:rPr>
                        <a:t>(</a:t>
                      </a:r>
                      <a:r>
                        <a:rPr sz="800" b="1" dirty="0" err="1">
                          <a:solidFill>
                            <a:srgbClr val="00406C"/>
                          </a:solidFill>
                          <a:latin typeface="Yekan Bakh"/>
                          <a:cs typeface="Yekan Bakh"/>
                        </a:rPr>
                        <a:t>داخلی</a:t>
                      </a:r>
                      <a:r>
                        <a:rPr lang="fa-IR" sz="800" b="1" dirty="0">
                          <a:solidFill>
                            <a:srgbClr val="00406C"/>
                          </a:solidFill>
                          <a:latin typeface="Yekan Bakh"/>
                          <a:cs typeface="Yekan Bakh"/>
                        </a:rPr>
                        <a:t>)</a:t>
                      </a:r>
                      <a:endParaRPr sz="800" b="1" dirty="0">
                        <a:solidFill>
                          <a:srgbClr val="00406C"/>
                        </a:solidFill>
                        <a:latin typeface="Yekan Bakh"/>
                        <a:cs typeface="Yekan Bakh"/>
                      </a:endParaRPr>
                    </a:p>
                  </a:txBody>
                  <a:tcPr marL="50800" marR="50800" marT="38100" marB="38100" anchor="ctr">
                    <a:solidFill>
                      <a:schemeClr val="accent5">
                        <a:lumMod val="20000"/>
                        <a:lumOff val="80000"/>
                      </a:schemeClr>
                    </a:solidFill>
                  </a:tcPr>
                </a:tc>
                <a:extLst>
                  <a:ext uri="{0D108BD9-81ED-4DB2-BD59-A6C34878D82A}">
                    <a16:rowId xmlns:a16="http://schemas.microsoft.com/office/drawing/2014/main" val="10005"/>
                  </a:ext>
                </a:extLst>
              </a:tr>
              <a:tr h="287599">
                <a:tc>
                  <a:txBody>
                    <a:bodyPr/>
                    <a:lstStyle/>
                    <a:p>
                      <a:pPr algn="ctr" rtl="1">
                        <a:lnSpc>
                          <a:spcPct val="105000"/>
                        </a:lnSpc>
                      </a:pPr>
                      <a:r>
                        <a:rPr sz="800" b="0">
                          <a:solidFill>
                            <a:schemeClr val="tx1">
                              <a:lumMod val="65000"/>
                              <a:lumOff val="35000"/>
                            </a:schemeClr>
                          </a:solidFill>
                          <a:latin typeface="Yekan Bakh"/>
                          <a:cs typeface="Yekan Bakh"/>
                        </a:rPr>
                        <a:t>متوسط</a:t>
                      </a:r>
                    </a:p>
                  </a:txBody>
                  <a:tcPr marL="50800" marR="50800" marT="38100" marB="38100" anchor="ctr">
                    <a:solidFill>
                      <a:schemeClr val="accent3">
                        <a:lumMod val="20000"/>
                        <a:lumOff val="80000"/>
                      </a:schemeClr>
                    </a:solidFill>
                  </a:tcPr>
                </a:tc>
                <a:tc>
                  <a:txBody>
                    <a:bodyPr/>
                    <a:lstStyle/>
                    <a:p>
                      <a:pPr algn="ctr" rtl="1">
                        <a:lnSpc>
                          <a:spcPct val="105000"/>
                        </a:lnSpc>
                      </a:pPr>
                      <a:r>
                        <a:rPr sz="800" b="0">
                          <a:solidFill>
                            <a:schemeClr val="tx1">
                              <a:lumMod val="65000"/>
                              <a:lumOff val="35000"/>
                            </a:schemeClr>
                          </a:solidFill>
                          <a:latin typeface="Yekan Bakh"/>
                          <a:cs typeface="Yekan Bakh"/>
                        </a:rPr>
                        <a:t>متوسط</a:t>
                      </a:r>
                    </a:p>
                  </a:txBody>
                  <a:tcPr marL="50800" marR="50800" marT="38100" marB="38100" anchor="ctr">
                    <a:solidFill>
                      <a:schemeClr val="accent3">
                        <a:lumMod val="20000"/>
                        <a:lumOff val="80000"/>
                      </a:schemeClr>
                    </a:solidFill>
                  </a:tcPr>
                </a:tc>
                <a:tc>
                  <a:txBody>
                    <a:bodyPr/>
                    <a:lstStyle/>
                    <a:p>
                      <a:pPr algn="ctr" rtl="1">
                        <a:lnSpc>
                          <a:spcPct val="105000"/>
                        </a:lnSpc>
                      </a:pPr>
                      <a:r>
                        <a:rPr sz="800" b="0">
                          <a:solidFill>
                            <a:schemeClr val="tx1">
                              <a:lumMod val="65000"/>
                              <a:lumOff val="35000"/>
                            </a:schemeClr>
                          </a:solidFill>
                          <a:latin typeface="Yekan Bakh"/>
                          <a:cs typeface="Yekan Bakh"/>
                        </a:rPr>
                        <a:t>بسیار بالا</a:t>
                      </a:r>
                    </a:p>
                  </a:txBody>
                  <a:tcPr marL="50800" marR="50800" marT="38100" marB="38100" anchor="ctr">
                    <a:solidFill>
                      <a:schemeClr val="accent3">
                        <a:lumMod val="20000"/>
                        <a:lumOff val="80000"/>
                      </a:schemeClr>
                    </a:solidFill>
                  </a:tcPr>
                </a:tc>
                <a:tc>
                  <a:txBody>
                    <a:bodyPr/>
                    <a:lstStyle/>
                    <a:p>
                      <a:pPr algn="ctr" rtl="1">
                        <a:lnSpc>
                          <a:spcPct val="105000"/>
                        </a:lnSpc>
                      </a:pPr>
                      <a:r>
                        <a:rPr sz="800" b="0" dirty="0" err="1">
                          <a:solidFill>
                            <a:schemeClr val="tx1">
                              <a:lumMod val="65000"/>
                              <a:lumOff val="35000"/>
                            </a:schemeClr>
                          </a:solidFill>
                          <a:latin typeface="Yekan Bakh"/>
                          <a:cs typeface="Yekan Bakh"/>
                        </a:rPr>
                        <a:t>پایین</a:t>
                      </a:r>
                      <a:r>
                        <a:rPr sz="800" b="0" dirty="0">
                          <a:solidFill>
                            <a:schemeClr val="tx1">
                              <a:lumMod val="65000"/>
                              <a:lumOff val="35000"/>
                            </a:schemeClr>
                          </a:solidFill>
                          <a:latin typeface="Yekan Bakh"/>
                          <a:cs typeface="Yekan Bakh"/>
                        </a:rPr>
                        <a:t>*</a:t>
                      </a:r>
                    </a:p>
                  </a:txBody>
                  <a:tcPr marL="50800" marR="50800" marT="38100" marB="38100" anchor="ctr">
                    <a:solidFill>
                      <a:schemeClr val="accent3">
                        <a:lumMod val="20000"/>
                        <a:lumOff val="80000"/>
                      </a:schemeClr>
                    </a:solidFill>
                  </a:tcPr>
                </a:tc>
                <a:tc>
                  <a:txBody>
                    <a:bodyPr/>
                    <a:lstStyle/>
                    <a:p>
                      <a:pPr algn="ctr" rtl="1">
                        <a:lnSpc>
                          <a:spcPct val="105000"/>
                        </a:lnSpc>
                      </a:pPr>
                      <a:r>
                        <a:rPr sz="800" b="0">
                          <a:solidFill>
                            <a:schemeClr val="tx1">
                              <a:lumMod val="65000"/>
                              <a:lumOff val="35000"/>
                            </a:schemeClr>
                          </a:solidFill>
                          <a:latin typeface="Yekan Bakh"/>
                          <a:cs typeface="Yekan Bakh"/>
                        </a:rPr>
                        <a:t>بالا</a:t>
                      </a:r>
                    </a:p>
                  </a:txBody>
                  <a:tcPr marL="50800" marR="50800" marT="38100" marB="38100" anchor="ctr">
                    <a:solidFill>
                      <a:schemeClr val="accent3">
                        <a:lumMod val="20000"/>
                        <a:lumOff val="80000"/>
                      </a:schemeClr>
                    </a:solidFill>
                  </a:tcPr>
                </a:tc>
                <a:tc>
                  <a:txBody>
                    <a:bodyPr/>
                    <a:lstStyle/>
                    <a:p>
                      <a:pPr algn="ctr" rtl="1">
                        <a:lnSpc>
                          <a:spcPct val="105000"/>
                        </a:lnSpc>
                      </a:pPr>
                      <a:r>
                        <a:rPr lang="fa-IR" sz="800" b="0" dirty="0">
                          <a:solidFill>
                            <a:schemeClr val="tx1">
                              <a:lumMod val="65000"/>
                              <a:lumOff val="35000"/>
                            </a:schemeClr>
                          </a:solidFill>
                          <a:latin typeface="Yekan Bakh FaNum SemiBold" pitchFamily="2" charset="-78"/>
                          <a:ea typeface="Yekan Bakh FaNum SemiBold" pitchFamily="2" charset="-78"/>
                          <a:cs typeface="Yekan Bakh FaNum SemiBold" pitchFamily="2" charset="-78"/>
                        </a:rPr>
                        <a:t>3</a:t>
                      </a:r>
                      <a:endParaRPr sz="800" b="0" dirty="0">
                        <a:solidFill>
                          <a:schemeClr val="tx1">
                            <a:lumMod val="65000"/>
                            <a:lumOff val="35000"/>
                          </a:schemeClr>
                        </a:solidFill>
                        <a:latin typeface="Yekan Bakh FaNum SemiBold" pitchFamily="2" charset="-78"/>
                        <a:ea typeface="Yekan Bakh FaNum SemiBold" pitchFamily="2" charset="-78"/>
                        <a:cs typeface="Yekan Bakh FaNum SemiBold" pitchFamily="2" charset="-78"/>
                      </a:endParaRPr>
                    </a:p>
                  </a:txBody>
                  <a:tcPr marL="50800" marR="50800" marT="38100" marB="38100" anchor="ctr">
                    <a:solidFill>
                      <a:schemeClr val="accent3">
                        <a:lumMod val="20000"/>
                        <a:lumOff val="80000"/>
                      </a:schemeClr>
                    </a:solidFill>
                  </a:tcPr>
                </a:tc>
                <a:tc>
                  <a:txBody>
                    <a:bodyPr/>
                    <a:lstStyle/>
                    <a:p>
                      <a:pPr algn="r" rtl="1">
                        <a:lnSpc>
                          <a:spcPct val="105000"/>
                        </a:lnSpc>
                      </a:pPr>
                      <a:r>
                        <a:rPr sz="800" b="1" dirty="0" err="1">
                          <a:solidFill>
                            <a:srgbClr val="00406C"/>
                          </a:solidFill>
                          <a:latin typeface="Yekan Bakh"/>
                          <a:cs typeface="Yekan Bakh"/>
                        </a:rPr>
                        <a:t>برند</a:t>
                      </a:r>
                      <a:r>
                        <a:rPr sz="800" b="1" dirty="0">
                          <a:solidFill>
                            <a:srgbClr val="00406C"/>
                          </a:solidFill>
                          <a:latin typeface="Yekan Bakh"/>
                          <a:cs typeface="Yekan Bakh"/>
                        </a:rPr>
                        <a:t> </a:t>
                      </a:r>
                      <a:r>
                        <a:rPr sz="800" b="1" dirty="0" err="1">
                          <a:solidFill>
                            <a:srgbClr val="00406C"/>
                          </a:solidFill>
                          <a:latin typeface="Yekan Bakh"/>
                          <a:cs typeface="Yekan Bakh"/>
                        </a:rPr>
                        <a:t>شریک</a:t>
                      </a:r>
                      <a:r>
                        <a:rPr sz="800" b="1" dirty="0">
                          <a:solidFill>
                            <a:srgbClr val="00406C"/>
                          </a:solidFill>
                          <a:latin typeface="Yekan Bakh"/>
                          <a:cs typeface="Yekan Bakh"/>
                        </a:rPr>
                        <a:t> </a:t>
                      </a:r>
                      <a:r>
                        <a:rPr sz="800" b="1" dirty="0" err="1">
                          <a:solidFill>
                            <a:srgbClr val="00406C"/>
                          </a:solidFill>
                          <a:latin typeface="Yekan Bakh"/>
                          <a:cs typeface="Yekan Bakh"/>
                        </a:rPr>
                        <a:t>بین‌المللی</a:t>
                      </a:r>
                      <a:r>
                        <a:rPr sz="800" b="1" dirty="0">
                          <a:solidFill>
                            <a:srgbClr val="00406C"/>
                          </a:solidFill>
                          <a:latin typeface="Yekan Bakh"/>
                          <a:cs typeface="Yekan Bakh"/>
                        </a:rPr>
                        <a:t> </a:t>
                      </a:r>
                      <a:r>
                        <a:rPr lang="fa-IR" sz="800" b="1" dirty="0">
                          <a:solidFill>
                            <a:srgbClr val="00406C"/>
                          </a:solidFill>
                          <a:latin typeface="Yekan Bakh"/>
                          <a:cs typeface="Yekan Bakh"/>
                        </a:rPr>
                        <a:t>(</a:t>
                      </a:r>
                      <a:r>
                        <a:rPr sz="800" b="1" dirty="0">
                          <a:solidFill>
                            <a:srgbClr val="00406C"/>
                          </a:solidFill>
                          <a:latin typeface="Yekan Bakh"/>
                          <a:cs typeface="Yekan Bakh"/>
                        </a:rPr>
                        <a:t>پ۲،۴،۶</a:t>
                      </a:r>
                      <a:r>
                        <a:rPr lang="fa-IR" sz="800" b="1" dirty="0">
                          <a:solidFill>
                            <a:srgbClr val="00406C"/>
                          </a:solidFill>
                          <a:latin typeface="Yekan Bakh"/>
                          <a:cs typeface="Yekan Bakh"/>
                        </a:rPr>
                        <a:t>)</a:t>
                      </a:r>
                      <a:endParaRPr sz="800" b="1" dirty="0">
                        <a:solidFill>
                          <a:srgbClr val="00406C"/>
                        </a:solidFill>
                        <a:latin typeface="Yekan Bakh"/>
                        <a:cs typeface="Yekan Bakh"/>
                      </a:endParaRPr>
                    </a:p>
                  </a:txBody>
                  <a:tcPr marL="50800" marR="50800" marT="38100" marB="38100" anchor="ctr">
                    <a:solidFill>
                      <a:schemeClr val="accent3">
                        <a:lumMod val="20000"/>
                        <a:lumOff val="80000"/>
                      </a:schemeClr>
                    </a:solidFill>
                  </a:tcPr>
                </a:tc>
                <a:extLst>
                  <a:ext uri="{0D108BD9-81ED-4DB2-BD59-A6C34878D82A}">
                    <a16:rowId xmlns:a16="http://schemas.microsoft.com/office/drawing/2014/main" val="10006"/>
                  </a:ext>
                </a:extLst>
              </a:tr>
              <a:tr h="287599">
                <a:tc>
                  <a:txBody>
                    <a:bodyPr/>
                    <a:lstStyle/>
                    <a:p>
                      <a:pPr algn="ctr" rtl="1">
                        <a:lnSpc>
                          <a:spcPct val="105000"/>
                        </a:lnSpc>
                      </a:pPr>
                      <a:r>
                        <a:rPr sz="800" b="0" dirty="0" err="1">
                          <a:solidFill>
                            <a:schemeClr val="tx1">
                              <a:lumMod val="65000"/>
                              <a:lumOff val="35000"/>
                            </a:schemeClr>
                          </a:solidFill>
                          <a:latin typeface="Yekan Bakh"/>
                          <a:cs typeface="Yekan Bakh"/>
                        </a:rPr>
                        <a:t>بالا</a:t>
                      </a:r>
                      <a:r>
                        <a:rPr sz="800" b="0" dirty="0">
                          <a:solidFill>
                            <a:schemeClr val="tx1">
                              <a:lumMod val="65000"/>
                              <a:lumOff val="35000"/>
                            </a:schemeClr>
                          </a:solidFill>
                          <a:latin typeface="Yekan Bakh"/>
                          <a:cs typeface="Yekan Bakh"/>
                        </a:rPr>
                        <a:t> </a:t>
                      </a:r>
                      <a:r>
                        <a:rPr lang="fa-IR" sz="800" b="0" dirty="0">
                          <a:solidFill>
                            <a:schemeClr val="tx1">
                              <a:lumMod val="65000"/>
                              <a:lumOff val="35000"/>
                            </a:schemeClr>
                          </a:solidFill>
                          <a:latin typeface="Yekan Bakh"/>
                          <a:cs typeface="Yekan Bakh"/>
                        </a:rPr>
                        <a:t>(</a:t>
                      </a:r>
                      <a:r>
                        <a:rPr sz="800" b="0" dirty="0" err="1">
                          <a:solidFill>
                            <a:schemeClr val="tx1">
                              <a:lumMod val="65000"/>
                              <a:lumOff val="35000"/>
                            </a:schemeClr>
                          </a:solidFill>
                          <a:latin typeface="Yekan Bakh"/>
                          <a:cs typeface="Yekan Bakh"/>
                        </a:rPr>
                        <a:t>بالقوه</a:t>
                      </a:r>
                      <a:r>
                        <a:rPr lang="fa-IR" sz="800" b="0" dirty="0">
                          <a:solidFill>
                            <a:schemeClr val="tx1">
                              <a:lumMod val="65000"/>
                              <a:lumOff val="35000"/>
                            </a:schemeClr>
                          </a:solidFill>
                          <a:latin typeface="Yekan Bakh"/>
                          <a:cs typeface="Yekan Bakh"/>
                        </a:rPr>
                        <a:t>)</a:t>
                      </a:r>
                    </a:p>
                  </a:txBody>
                  <a:tcPr marL="50800" marR="50800" marT="38100" marB="38100" anchor="ctr">
                    <a:solidFill>
                      <a:schemeClr val="bg1">
                        <a:lumMod val="95000"/>
                      </a:schemeClr>
                    </a:solidFill>
                  </a:tcPr>
                </a:tc>
                <a:tc>
                  <a:txBody>
                    <a:bodyPr/>
                    <a:lstStyle/>
                    <a:p>
                      <a:pPr algn="ctr" rtl="1">
                        <a:lnSpc>
                          <a:spcPct val="105000"/>
                        </a:lnSpc>
                      </a:pPr>
                      <a:r>
                        <a:rPr sz="800" b="0">
                          <a:solidFill>
                            <a:schemeClr val="tx1">
                              <a:lumMod val="65000"/>
                              <a:lumOff val="35000"/>
                            </a:schemeClr>
                          </a:solidFill>
                          <a:latin typeface="Yekan Bakh"/>
                          <a:cs typeface="Yekan Bakh"/>
                        </a:rPr>
                        <a:t>پایین پس از ساخت</a:t>
                      </a:r>
                    </a:p>
                  </a:txBody>
                  <a:tcPr marL="50800" marR="50800" marT="38100" marB="38100" anchor="ctr">
                    <a:solidFill>
                      <a:schemeClr val="bg1">
                        <a:lumMod val="95000"/>
                      </a:schemeClr>
                    </a:solidFill>
                  </a:tcPr>
                </a:tc>
                <a:tc>
                  <a:txBody>
                    <a:bodyPr/>
                    <a:lstStyle/>
                    <a:p>
                      <a:pPr algn="ctr" rtl="1">
                        <a:lnSpc>
                          <a:spcPct val="105000"/>
                        </a:lnSpc>
                      </a:pPr>
                      <a:r>
                        <a:rPr sz="800" b="0">
                          <a:solidFill>
                            <a:schemeClr val="tx1">
                              <a:lumMod val="65000"/>
                              <a:lumOff val="35000"/>
                            </a:schemeClr>
                          </a:solidFill>
                          <a:latin typeface="Yekan Bakh"/>
                          <a:cs typeface="Yekan Bakh"/>
                        </a:rPr>
                        <a:t>متوسط</a:t>
                      </a:r>
                    </a:p>
                  </a:txBody>
                  <a:tcPr marL="50800" marR="50800" marT="38100" marB="38100" anchor="ctr">
                    <a:solidFill>
                      <a:schemeClr val="bg1">
                        <a:lumMod val="95000"/>
                      </a:schemeClr>
                    </a:solidFill>
                  </a:tcPr>
                </a:tc>
                <a:tc>
                  <a:txBody>
                    <a:bodyPr/>
                    <a:lstStyle/>
                    <a:p>
                      <a:pPr algn="ctr" rtl="1">
                        <a:lnSpc>
                          <a:spcPct val="105000"/>
                        </a:lnSpc>
                      </a:pPr>
                      <a:r>
                        <a:rPr sz="800" b="0">
                          <a:solidFill>
                            <a:schemeClr val="tx1">
                              <a:lumMod val="65000"/>
                              <a:lumOff val="35000"/>
                            </a:schemeClr>
                          </a:solidFill>
                          <a:latin typeface="Yekan Bakh"/>
                          <a:cs typeface="Yekan Bakh"/>
                        </a:rPr>
                        <a:t>بالا</a:t>
                      </a:r>
                    </a:p>
                  </a:txBody>
                  <a:tcPr marL="50800" marR="50800" marT="38100" marB="38100" anchor="ctr">
                    <a:solidFill>
                      <a:schemeClr val="bg1">
                        <a:lumMod val="95000"/>
                      </a:schemeClr>
                    </a:solidFill>
                  </a:tcPr>
                </a:tc>
                <a:tc>
                  <a:txBody>
                    <a:bodyPr/>
                    <a:lstStyle/>
                    <a:p>
                      <a:pPr algn="ctr" rtl="1">
                        <a:lnSpc>
                          <a:spcPct val="105000"/>
                        </a:lnSpc>
                      </a:pPr>
                      <a:r>
                        <a:rPr sz="800" b="0">
                          <a:solidFill>
                            <a:schemeClr val="tx1">
                              <a:lumMod val="65000"/>
                              <a:lumOff val="35000"/>
                            </a:schemeClr>
                          </a:solidFill>
                          <a:latin typeface="Yekan Bakh"/>
                          <a:cs typeface="Yekan Bakh"/>
                        </a:rPr>
                        <a:t>بسیار بالا</a:t>
                      </a:r>
                    </a:p>
                  </a:txBody>
                  <a:tcPr marL="50800" marR="50800" marT="38100" marB="38100" anchor="ctr">
                    <a:solidFill>
                      <a:schemeClr val="bg1">
                        <a:lumMod val="95000"/>
                      </a:schemeClr>
                    </a:solidFill>
                  </a:tcPr>
                </a:tc>
                <a:tc>
                  <a:txBody>
                    <a:bodyPr/>
                    <a:lstStyle/>
                    <a:p>
                      <a:pPr algn="ctr" rtl="1">
                        <a:lnSpc>
                          <a:spcPct val="105000"/>
                        </a:lnSpc>
                      </a:pPr>
                      <a:r>
                        <a:rPr lang="fa-IR" sz="800" b="0" dirty="0">
                          <a:solidFill>
                            <a:schemeClr val="tx1">
                              <a:lumMod val="65000"/>
                              <a:lumOff val="35000"/>
                            </a:schemeClr>
                          </a:solidFill>
                          <a:latin typeface="Yekan Bakh FaNum SemiBold" pitchFamily="2" charset="-78"/>
                          <a:ea typeface="Yekan Bakh FaNum SemiBold" pitchFamily="2" charset="-78"/>
                          <a:cs typeface="Yekan Bakh FaNum SemiBold" pitchFamily="2" charset="-78"/>
                        </a:rPr>
                        <a:t>4</a:t>
                      </a:r>
                      <a:endParaRPr sz="800" b="0" dirty="0">
                        <a:solidFill>
                          <a:schemeClr val="tx1">
                            <a:lumMod val="65000"/>
                            <a:lumOff val="35000"/>
                          </a:schemeClr>
                        </a:solidFill>
                        <a:latin typeface="Yekan Bakh FaNum SemiBold" pitchFamily="2" charset="-78"/>
                        <a:ea typeface="Yekan Bakh FaNum SemiBold" pitchFamily="2" charset="-78"/>
                        <a:cs typeface="Yekan Bakh FaNum SemiBold" pitchFamily="2" charset="-78"/>
                      </a:endParaRPr>
                    </a:p>
                  </a:txBody>
                  <a:tcPr marL="50800" marR="50800" marT="38100" marB="38100" anchor="ctr">
                    <a:solidFill>
                      <a:schemeClr val="bg1">
                        <a:lumMod val="95000"/>
                      </a:schemeClr>
                    </a:solidFill>
                  </a:tcPr>
                </a:tc>
                <a:tc>
                  <a:txBody>
                    <a:bodyPr/>
                    <a:lstStyle/>
                    <a:p>
                      <a:pPr algn="r" rtl="1">
                        <a:lnSpc>
                          <a:spcPct val="105000"/>
                        </a:lnSpc>
                      </a:pPr>
                      <a:r>
                        <a:rPr sz="800" b="1" dirty="0" err="1">
                          <a:solidFill>
                            <a:srgbClr val="00406C"/>
                          </a:solidFill>
                          <a:latin typeface="Yekan Bakh"/>
                          <a:cs typeface="Yekan Bakh"/>
                        </a:rPr>
                        <a:t>ابزار</a:t>
                      </a:r>
                      <a:r>
                        <a:rPr sz="800" b="1" dirty="0">
                          <a:solidFill>
                            <a:srgbClr val="00406C"/>
                          </a:solidFill>
                          <a:latin typeface="Yekan Bakh"/>
                          <a:cs typeface="Yekan Bakh"/>
                        </a:rPr>
                        <a:t> </a:t>
                      </a:r>
                      <a:r>
                        <a:rPr sz="800" b="1" dirty="0" err="1">
                          <a:solidFill>
                            <a:srgbClr val="00406C"/>
                          </a:solidFill>
                          <a:latin typeface="Yekan Bakh"/>
                          <a:cs typeface="Yekan Bakh"/>
                        </a:rPr>
                        <a:t>خودارزیابی</a:t>
                      </a:r>
                      <a:r>
                        <a:rPr sz="800" b="1" dirty="0">
                          <a:solidFill>
                            <a:srgbClr val="00406C"/>
                          </a:solidFill>
                          <a:latin typeface="Yekan Bakh"/>
                          <a:cs typeface="Yekan Bakh"/>
                        </a:rPr>
                        <a:t> </a:t>
                      </a:r>
                      <a:r>
                        <a:rPr sz="800" b="1" dirty="0" err="1">
                          <a:solidFill>
                            <a:srgbClr val="00406C"/>
                          </a:solidFill>
                          <a:latin typeface="Yekan Bakh"/>
                          <a:cs typeface="Yekan Bakh"/>
                        </a:rPr>
                        <a:t>دیجیتال</a:t>
                      </a:r>
                      <a:r>
                        <a:rPr sz="800" b="1" dirty="0">
                          <a:solidFill>
                            <a:srgbClr val="00406C"/>
                          </a:solidFill>
                          <a:latin typeface="Yekan Bakh"/>
                          <a:cs typeface="Yekan Bakh"/>
                        </a:rPr>
                        <a:t> </a:t>
                      </a:r>
                      <a:r>
                        <a:rPr lang="fa-IR" sz="800" b="1" dirty="0">
                          <a:solidFill>
                            <a:srgbClr val="00406C"/>
                          </a:solidFill>
                          <a:latin typeface="Yekan Bakh"/>
                          <a:cs typeface="Yekan Bakh"/>
                        </a:rPr>
                        <a:t>(</a:t>
                      </a:r>
                      <a:r>
                        <a:rPr sz="800" b="1" dirty="0">
                          <a:solidFill>
                            <a:srgbClr val="00406C"/>
                          </a:solidFill>
                          <a:latin typeface="Yekan Bakh"/>
                          <a:cs typeface="Yekan Bakh"/>
                        </a:rPr>
                        <a:t>پ۳</a:t>
                      </a:r>
                      <a:r>
                        <a:rPr lang="fa-IR" sz="800" b="1" dirty="0">
                          <a:solidFill>
                            <a:srgbClr val="00406C"/>
                          </a:solidFill>
                          <a:latin typeface="Yekan Bakh"/>
                          <a:cs typeface="Yekan Bakh"/>
                        </a:rPr>
                        <a:t>)</a:t>
                      </a:r>
                      <a:endParaRPr sz="800" b="1" dirty="0">
                        <a:solidFill>
                          <a:srgbClr val="00406C"/>
                        </a:solidFill>
                        <a:latin typeface="Yekan Bakh"/>
                        <a:cs typeface="Yekan Bakh"/>
                      </a:endParaRPr>
                    </a:p>
                  </a:txBody>
                  <a:tcPr marL="50800" marR="50800" marT="38100" marB="38100" anchor="ctr">
                    <a:solidFill>
                      <a:schemeClr val="bg1">
                        <a:lumMod val="95000"/>
                      </a:schemeClr>
                    </a:solidFill>
                  </a:tcPr>
                </a:tc>
                <a:extLst>
                  <a:ext uri="{0D108BD9-81ED-4DB2-BD59-A6C34878D82A}">
                    <a16:rowId xmlns:a16="http://schemas.microsoft.com/office/drawing/2014/main" val="10007"/>
                  </a:ext>
                </a:extLst>
              </a:tr>
              <a:tr h="287599">
                <a:tc>
                  <a:txBody>
                    <a:bodyPr/>
                    <a:lstStyle/>
                    <a:p>
                      <a:pPr algn="ctr" rtl="1">
                        <a:lnSpc>
                          <a:spcPct val="105000"/>
                        </a:lnSpc>
                      </a:pPr>
                      <a:r>
                        <a:rPr sz="800" b="0">
                          <a:solidFill>
                            <a:schemeClr val="tx1">
                              <a:lumMod val="65000"/>
                              <a:lumOff val="35000"/>
                            </a:schemeClr>
                          </a:solidFill>
                          <a:latin typeface="Yekan Bakh"/>
                          <a:cs typeface="Yekan Bakh"/>
                        </a:rPr>
                        <a:t>بالا</a:t>
                      </a:r>
                    </a:p>
                  </a:txBody>
                  <a:tcPr marL="50800" marR="50800" marT="38100" marB="38100" anchor="ctr">
                    <a:solidFill>
                      <a:schemeClr val="bg1">
                        <a:lumMod val="95000"/>
                      </a:schemeClr>
                    </a:solidFill>
                  </a:tcPr>
                </a:tc>
                <a:tc>
                  <a:txBody>
                    <a:bodyPr/>
                    <a:lstStyle/>
                    <a:p>
                      <a:pPr algn="ctr" rtl="1">
                        <a:lnSpc>
                          <a:spcPct val="105000"/>
                        </a:lnSpc>
                      </a:pPr>
                      <a:r>
                        <a:rPr sz="800" b="0">
                          <a:solidFill>
                            <a:schemeClr val="tx1">
                              <a:lumMod val="65000"/>
                              <a:lumOff val="35000"/>
                            </a:schemeClr>
                          </a:solidFill>
                          <a:latin typeface="Yekan Bakh"/>
                          <a:cs typeface="Yekan Bakh"/>
                        </a:rPr>
                        <a:t>بالا</a:t>
                      </a:r>
                    </a:p>
                  </a:txBody>
                  <a:tcPr marL="50800" marR="50800" marT="38100" marB="38100" anchor="ctr">
                    <a:solidFill>
                      <a:schemeClr val="bg1">
                        <a:lumMod val="95000"/>
                      </a:schemeClr>
                    </a:solidFill>
                  </a:tcPr>
                </a:tc>
                <a:tc>
                  <a:txBody>
                    <a:bodyPr/>
                    <a:lstStyle/>
                    <a:p>
                      <a:pPr algn="ctr" rtl="1">
                        <a:lnSpc>
                          <a:spcPct val="105000"/>
                        </a:lnSpc>
                      </a:pPr>
                      <a:r>
                        <a:rPr sz="800" b="0">
                          <a:solidFill>
                            <a:schemeClr val="tx1">
                              <a:lumMod val="65000"/>
                              <a:lumOff val="35000"/>
                            </a:schemeClr>
                          </a:solidFill>
                          <a:latin typeface="Yekan Bakh"/>
                          <a:cs typeface="Yekan Bakh"/>
                        </a:rPr>
                        <a:t>بالا</a:t>
                      </a:r>
                    </a:p>
                  </a:txBody>
                  <a:tcPr marL="50800" marR="50800" marT="38100" marB="38100" anchor="ctr">
                    <a:solidFill>
                      <a:schemeClr val="bg1">
                        <a:lumMod val="95000"/>
                      </a:schemeClr>
                    </a:solidFill>
                  </a:tcPr>
                </a:tc>
                <a:tc>
                  <a:txBody>
                    <a:bodyPr/>
                    <a:lstStyle/>
                    <a:p>
                      <a:pPr algn="ctr" rtl="1">
                        <a:lnSpc>
                          <a:spcPct val="105000"/>
                        </a:lnSpc>
                      </a:pPr>
                      <a:r>
                        <a:rPr sz="800" b="0">
                          <a:solidFill>
                            <a:schemeClr val="tx1">
                              <a:lumMod val="65000"/>
                              <a:lumOff val="35000"/>
                            </a:schemeClr>
                          </a:solidFill>
                          <a:latin typeface="Yekan Bakh"/>
                          <a:cs typeface="Yekan Bakh"/>
                        </a:rPr>
                        <a:t>پایین*</a:t>
                      </a:r>
                    </a:p>
                  </a:txBody>
                  <a:tcPr marL="50800" marR="50800" marT="38100" marB="38100" anchor="ctr">
                    <a:solidFill>
                      <a:schemeClr val="bg1">
                        <a:lumMod val="95000"/>
                      </a:schemeClr>
                    </a:solidFill>
                  </a:tcPr>
                </a:tc>
                <a:tc>
                  <a:txBody>
                    <a:bodyPr/>
                    <a:lstStyle/>
                    <a:p>
                      <a:pPr algn="ctr" rtl="1">
                        <a:lnSpc>
                          <a:spcPct val="105000"/>
                        </a:lnSpc>
                      </a:pPr>
                      <a:r>
                        <a:rPr sz="800" b="0">
                          <a:solidFill>
                            <a:schemeClr val="tx1">
                              <a:lumMod val="65000"/>
                              <a:lumOff val="35000"/>
                            </a:schemeClr>
                          </a:solidFill>
                          <a:latin typeface="Yekan Bakh"/>
                          <a:cs typeface="Yekan Bakh"/>
                        </a:rPr>
                        <a:t>متوسط</a:t>
                      </a:r>
                    </a:p>
                  </a:txBody>
                  <a:tcPr marL="50800" marR="50800" marT="38100" marB="38100" anchor="ctr">
                    <a:solidFill>
                      <a:schemeClr val="bg1">
                        <a:lumMod val="95000"/>
                      </a:schemeClr>
                    </a:solidFill>
                  </a:tcPr>
                </a:tc>
                <a:tc>
                  <a:txBody>
                    <a:bodyPr/>
                    <a:lstStyle/>
                    <a:p>
                      <a:pPr marL="0" marR="0" lvl="0" indent="0" algn="ctr" defTabSz="457200" rtl="1" eaLnBrk="1" fontAlgn="auto" latinLnBrk="0" hangingPunct="1">
                        <a:lnSpc>
                          <a:spcPct val="105000"/>
                        </a:lnSpc>
                        <a:spcBef>
                          <a:spcPts val="0"/>
                        </a:spcBef>
                        <a:spcAft>
                          <a:spcPts val="0"/>
                        </a:spcAft>
                        <a:buClrTx/>
                        <a:buSzTx/>
                        <a:buFontTx/>
                        <a:buNone/>
                        <a:tabLst/>
                        <a:defRPr/>
                      </a:pPr>
                      <a:r>
                        <a:rPr kumimoji="0" lang="fa-IR" sz="800" b="0" i="0" u="none" strike="noStrike" kern="1200" cap="none" spc="0" normalizeH="0" baseline="0" noProof="0" dirty="0">
                          <a:ln>
                            <a:noFill/>
                          </a:ln>
                          <a:solidFill>
                            <a:schemeClr val="tx1">
                              <a:lumMod val="65000"/>
                              <a:lumOff val="35000"/>
                            </a:schemeClr>
                          </a:solidFill>
                          <a:effectLst/>
                          <a:uLnTx/>
                          <a:uFillTx/>
                          <a:latin typeface="Yekan Bakh FaNum SemiBold" pitchFamily="2" charset="-78"/>
                          <a:ea typeface="Yekan Bakh FaNum SemiBold" pitchFamily="2" charset="-78"/>
                          <a:cs typeface="Yekan Bakh FaNum SemiBold" pitchFamily="2" charset="-78"/>
                        </a:rPr>
                        <a:t>4</a:t>
                      </a:r>
                    </a:p>
                  </a:txBody>
                  <a:tcPr marL="50800" marR="50800" marT="38100" marB="38100" anchor="ctr">
                    <a:solidFill>
                      <a:schemeClr val="bg1">
                        <a:lumMod val="95000"/>
                      </a:schemeClr>
                    </a:solidFill>
                  </a:tcPr>
                </a:tc>
                <a:tc>
                  <a:txBody>
                    <a:bodyPr/>
                    <a:lstStyle/>
                    <a:p>
                      <a:pPr algn="r" rtl="1">
                        <a:lnSpc>
                          <a:spcPct val="105000"/>
                        </a:lnSpc>
                      </a:pPr>
                      <a:r>
                        <a:rPr sz="800" b="1" dirty="0" err="1">
                          <a:solidFill>
                            <a:srgbClr val="00406C"/>
                          </a:solidFill>
                          <a:latin typeface="Yekan Bakh"/>
                          <a:cs typeface="Yekan Bakh"/>
                        </a:rPr>
                        <a:t>شبکه</a:t>
                      </a:r>
                      <a:r>
                        <a:rPr sz="800" b="1" dirty="0">
                          <a:solidFill>
                            <a:srgbClr val="00406C"/>
                          </a:solidFill>
                          <a:latin typeface="Yekan Bakh"/>
                          <a:cs typeface="Yekan Bakh"/>
                        </a:rPr>
                        <a:t> </a:t>
                      </a:r>
                      <a:r>
                        <a:rPr sz="800" b="1" dirty="0" err="1">
                          <a:solidFill>
                            <a:srgbClr val="00406C"/>
                          </a:solidFill>
                          <a:latin typeface="Yekan Bakh"/>
                          <a:cs typeface="Yekan Bakh"/>
                        </a:rPr>
                        <a:t>دفاتر</a:t>
                      </a:r>
                      <a:r>
                        <a:rPr sz="800" b="1" dirty="0">
                          <a:solidFill>
                            <a:srgbClr val="00406C"/>
                          </a:solidFill>
                          <a:latin typeface="Yekan Bakh"/>
                          <a:cs typeface="Yekan Bakh"/>
                        </a:rPr>
                        <a:t> </a:t>
                      </a:r>
                      <a:r>
                        <a:rPr sz="800" b="1" dirty="0" err="1">
                          <a:solidFill>
                            <a:srgbClr val="00406C"/>
                          </a:solidFill>
                          <a:latin typeface="Yekan Bakh"/>
                          <a:cs typeface="Yekan Bakh"/>
                        </a:rPr>
                        <a:t>تجاری</a:t>
                      </a:r>
                      <a:r>
                        <a:rPr sz="800" b="1" dirty="0">
                          <a:solidFill>
                            <a:srgbClr val="00406C"/>
                          </a:solidFill>
                          <a:latin typeface="Yekan Bakh"/>
                          <a:cs typeface="Yekan Bakh"/>
                        </a:rPr>
                        <a:t> </a:t>
                      </a:r>
                      <a:r>
                        <a:rPr lang="fa-IR" sz="800" b="1" dirty="0">
                          <a:solidFill>
                            <a:srgbClr val="00406C"/>
                          </a:solidFill>
                          <a:latin typeface="Yekan Bakh"/>
                          <a:cs typeface="Yekan Bakh"/>
                        </a:rPr>
                        <a:t>(</a:t>
                      </a:r>
                      <a:r>
                        <a:rPr sz="800" b="1" dirty="0">
                          <a:solidFill>
                            <a:srgbClr val="00406C"/>
                          </a:solidFill>
                          <a:latin typeface="Yekan Bakh"/>
                          <a:cs typeface="Yekan Bakh"/>
                        </a:rPr>
                        <a:t>پ۲،۴</a:t>
                      </a:r>
                      <a:r>
                        <a:rPr lang="fa-IR" sz="800" b="1" dirty="0">
                          <a:solidFill>
                            <a:srgbClr val="00406C"/>
                          </a:solidFill>
                          <a:latin typeface="Yekan Bakh"/>
                          <a:cs typeface="Yekan Bakh"/>
                        </a:rPr>
                        <a:t>)</a:t>
                      </a:r>
                      <a:endParaRPr sz="800" b="1" dirty="0">
                        <a:solidFill>
                          <a:srgbClr val="00406C"/>
                        </a:solidFill>
                        <a:latin typeface="Yekan Bakh"/>
                        <a:cs typeface="Yekan Bakh"/>
                      </a:endParaRPr>
                    </a:p>
                  </a:txBody>
                  <a:tcPr marL="50800" marR="50800" marT="38100" marB="38100" anchor="ctr">
                    <a:solidFill>
                      <a:schemeClr val="bg1">
                        <a:lumMod val="95000"/>
                      </a:schemeClr>
                    </a:solidFill>
                  </a:tcPr>
                </a:tc>
                <a:extLst>
                  <a:ext uri="{0D108BD9-81ED-4DB2-BD59-A6C34878D82A}">
                    <a16:rowId xmlns:a16="http://schemas.microsoft.com/office/drawing/2014/main" val="10008"/>
                  </a:ext>
                </a:extLst>
              </a:tr>
              <a:tr h="287599">
                <a:tc>
                  <a:txBody>
                    <a:bodyPr/>
                    <a:lstStyle/>
                    <a:p>
                      <a:pPr algn="ctr" rtl="1">
                        <a:lnSpc>
                          <a:spcPct val="105000"/>
                        </a:lnSpc>
                      </a:pPr>
                      <a:r>
                        <a:rPr sz="800" b="0">
                          <a:solidFill>
                            <a:schemeClr val="tx1">
                              <a:lumMod val="65000"/>
                              <a:lumOff val="35000"/>
                            </a:schemeClr>
                          </a:solidFill>
                          <a:latin typeface="Yekan Bakh"/>
                          <a:cs typeface="Yekan Bakh"/>
                        </a:rPr>
                        <a:t>متوسط</a:t>
                      </a:r>
                    </a:p>
                  </a:txBody>
                  <a:tcPr marL="50800" marR="50800" marT="38100" marB="38100" anchor="ctr">
                    <a:solidFill>
                      <a:schemeClr val="bg1">
                        <a:lumMod val="95000"/>
                      </a:schemeClr>
                    </a:solidFill>
                  </a:tcPr>
                </a:tc>
                <a:tc>
                  <a:txBody>
                    <a:bodyPr/>
                    <a:lstStyle/>
                    <a:p>
                      <a:pPr algn="ctr" rtl="1">
                        <a:lnSpc>
                          <a:spcPct val="105000"/>
                        </a:lnSpc>
                      </a:pPr>
                      <a:r>
                        <a:rPr sz="800" b="0">
                          <a:solidFill>
                            <a:schemeClr val="tx1">
                              <a:lumMod val="65000"/>
                              <a:lumOff val="35000"/>
                            </a:schemeClr>
                          </a:solidFill>
                          <a:latin typeface="Yekan Bakh"/>
                          <a:cs typeface="Yekan Bakh"/>
                        </a:rPr>
                        <a:t>بالا</a:t>
                      </a:r>
                    </a:p>
                  </a:txBody>
                  <a:tcPr marL="50800" marR="50800" marT="38100" marB="38100" anchor="ctr">
                    <a:solidFill>
                      <a:schemeClr val="bg1">
                        <a:lumMod val="95000"/>
                      </a:schemeClr>
                    </a:solidFill>
                  </a:tcPr>
                </a:tc>
                <a:tc>
                  <a:txBody>
                    <a:bodyPr/>
                    <a:lstStyle/>
                    <a:p>
                      <a:pPr algn="ctr" rtl="1">
                        <a:lnSpc>
                          <a:spcPct val="105000"/>
                        </a:lnSpc>
                      </a:pPr>
                      <a:r>
                        <a:rPr sz="800" b="0">
                          <a:solidFill>
                            <a:schemeClr val="tx1">
                              <a:lumMod val="65000"/>
                              <a:lumOff val="35000"/>
                            </a:schemeClr>
                          </a:solidFill>
                          <a:latin typeface="Yekan Bakh"/>
                          <a:cs typeface="Yekan Bakh"/>
                        </a:rPr>
                        <a:t>بالا</a:t>
                      </a:r>
                    </a:p>
                  </a:txBody>
                  <a:tcPr marL="50800" marR="50800" marT="38100" marB="38100" anchor="ctr">
                    <a:solidFill>
                      <a:schemeClr val="bg1">
                        <a:lumMod val="95000"/>
                      </a:schemeClr>
                    </a:solidFill>
                  </a:tcPr>
                </a:tc>
                <a:tc>
                  <a:txBody>
                    <a:bodyPr/>
                    <a:lstStyle/>
                    <a:p>
                      <a:pPr algn="ctr" rtl="1">
                        <a:lnSpc>
                          <a:spcPct val="105000"/>
                        </a:lnSpc>
                      </a:pPr>
                      <a:r>
                        <a:rPr sz="800" b="0">
                          <a:solidFill>
                            <a:schemeClr val="tx1">
                              <a:lumMod val="65000"/>
                              <a:lumOff val="35000"/>
                            </a:schemeClr>
                          </a:solidFill>
                          <a:latin typeface="Yekan Bakh"/>
                          <a:cs typeface="Yekan Bakh"/>
                        </a:rPr>
                        <a:t>متوسط</a:t>
                      </a:r>
                    </a:p>
                  </a:txBody>
                  <a:tcPr marL="50800" marR="50800" marT="38100" marB="38100" anchor="ctr">
                    <a:solidFill>
                      <a:schemeClr val="bg1">
                        <a:lumMod val="95000"/>
                      </a:schemeClr>
                    </a:solidFill>
                  </a:tcPr>
                </a:tc>
                <a:tc>
                  <a:txBody>
                    <a:bodyPr/>
                    <a:lstStyle/>
                    <a:p>
                      <a:pPr algn="ctr" rtl="1">
                        <a:lnSpc>
                          <a:spcPct val="105000"/>
                        </a:lnSpc>
                      </a:pPr>
                      <a:r>
                        <a:rPr sz="800" b="0">
                          <a:solidFill>
                            <a:schemeClr val="tx1">
                              <a:lumMod val="65000"/>
                              <a:lumOff val="35000"/>
                            </a:schemeClr>
                          </a:solidFill>
                          <a:latin typeface="Yekan Bakh"/>
                          <a:cs typeface="Yekan Bakh"/>
                        </a:rPr>
                        <a:t>پایین</a:t>
                      </a:r>
                    </a:p>
                  </a:txBody>
                  <a:tcPr marL="50800" marR="50800" marT="38100" marB="38100" anchor="ctr">
                    <a:solidFill>
                      <a:schemeClr val="bg1">
                        <a:lumMod val="95000"/>
                      </a:schemeClr>
                    </a:solidFill>
                  </a:tcPr>
                </a:tc>
                <a:tc>
                  <a:txBody>
                    <a:bodyPr/>
                    <a:lstStyle/>
                    <a:p>
                      <a:pPr marL="0" marR="0" lvl="0" indent="0" algn="ctr" defTabSz="457200" rtl="1" eaLnBrk="1" fontAlgn="auto" latinLnBrk="0" hangingPunct="1">
                        <a:lnSpc>
                          <a:spcPct val="105000"/>
                        </a:lnSpc>
                        <a:spcBef>
                          <a:spcPts val="0"/>
                        </a:spcBef>
                        <a:spcAft>
                          <a:spcPts val="0"/>
                        </a:spcAft>
                        <a:buClrTx/>
                        <a:buSzTx/>
                        <a:buFontTx/>
                        <a:buNone/>
                        <a:tabLst/>
                        <a:defRPr/>
                      </a:pPr>
                      <a:r>
                        <a:rPr kumimoji="0" lang="fa-IR" sz="800" b="0" i="0" u="none" strike="noStrike" kern="1200" cap="none" spc="0" normalizeH="0" baseline="0" noProof="0" dirty="0">
                          <a:ln>
                            <a:noFill/>
                          </a:ln>
                          <a:solidFill>
                            <a:schemeClr val="tx1">
                              <a:lumMod val="65000"/>
                              <a:lumOff val="35000"/>
                            </a:schemeClr>
                          </a:solidFill>
                          <a:effectLst/>
                          <a:uLnTx/>
                          <a:uFillTx/>
                          <a:latin typeface="Yekan Bakh FaNum SemiBold" pitchFamily="2" charset="-78"/>
                          <a:ea typeface="Yekan Bakh FaNum SemiBold" pitchFamily="2" charset="-78"/>
                          <a:cs typeface="Yekan Bakh FaNum SemiBold" pitchFamily="2" charset="-78"/>
                        </a:rPr>
                        <a:t>4</a:t>
                      </a:r>
                    </a:p>
                  </a:txBody>
                  <a:tcPr marL="50800" marR="50800" marT="38100" marB="38100" anchor="ctr">
                    <a:solidFill>
                      <a:schemeClr val="bg1">
                        <a:lumMod val="95000"/>
                      </a:schemeClr>
                    </a:solidFill>
                  </a:tcPr>
                </a:tc>
                <a:tc>
                  <a:txBody>
                    <a:bodyPr/>
                    <a:lstStyle/>
                    <a:p>
                      <a:pPr algn="r" rtl="1">
                        <a:lnSpc>
                          <a:spcPct val="105000"/>
                        </a:lnSpc>
                      </a:pPr>
                      <a:r>
                        <a:rPr sz="800" b="1" dirty="0" err="1">
                          <a:solidFill>
                            <a:srgbClr val="00406C"/>
                          </a:solidFill>
                          <a:latin typeface="Yekan Bakh"/>
                          <a:cs typeface="Yekan Bakh"/>
                        </a:rPr>
                        <a:t>رویداد</a:t>
                      </a:r>
                      <a:r>
                        <a:rPr sz="800" b="1" dirty="0">
                          <a:solidFill>
                            <a:srgbClr val="00406C"/>
                          </a:solidFill>
                          <a:latin typeface="Yekan Bakh"/>
                          <a:cs typeface="Yekan Bakh"/>
                        </a:rPr>
                        <a:t>/</a:t>
                      </a:r>
                      <a:r>
                        <a:rPr sz="800" b="1" dirty="0" err="1">
                          <a:solidFill>
                            <a:srgbClr val="00406C"/>
                          </a:solidFill>
                          <a:latin typeface="Yekan Bakh"/>
                          <a:cs typeface="Yekan Bakh"/>
                        </a:rPr>
                        <a:t>هیئت</a:t>
                      </a:r>
                      <a:r>
                        <a:rPr sz="800" b="1" dirty="0">
                          <a:solidFill>
                            <a:srgbClr val="00406C"/>
                          </a:solidFill>
                          <a:latin typeface="Yekan Bakh"/>
                          <a:cs typeface="Yekan Bakh"/>
                        </a:rPr>
                        <a:t> </a:t>
                      </a:r>
                      <a:r>
                        <a:rPr sz="800" b="1" dirty="0" err="1">
                          <a:solidFill>
                            <a:srgbClr val="00406C"/>
                          </a:solidFill>
                          <a:latin typeface="Yekan Bakh"/>
                          <a:cs typeface="Yekan Bakh"/>
                        </a:rPr>
                        <a:t>تجاری</a:t>
                      </a:r>
                      <a:r>
                        <a:rPr sz="800" b="1" dirty="0">
                          <a:solidFill>
                            <a:srgbClr val="00406C"/>
                          </a:solidFill>
                          <a:latin typeface="Yekan Bakh"/>
                          <a:cs typeface="Yekan Bakh"/>
                        </a:rPr>
                        <a:t> </a:t>
                      </a:r>
                      <a:r>
                        <a:rPr sz="800" b="1" dirty="0" err="1">
                          <a:solidFill>
                            <a:srgbClr val="00406C"/>
                          </a:solidFill>
                          <a:latin typeface="Yekan Bakh"/>
                          <a:cs typeface="Yekan Bakh"/>
                        </a:rPr>
                        <a:t>بین‌المللی</a:t>
                      </a:r>
                      <a:r>
                        <a:rPr sz="800" b="1" dirty="0">
                          <a:solidFill>
                            <a:srgbClr val="00406C"/>
                          </a:solidFill>
                          <a:latin typeface="Yekan Bakh"/>
                          <a:cs typeface="Yekan Bakh"/>
                        </a:rPr>
                        <a:t> </a:t>
                      </a:r>
                      <a:r>
                        <a:rPr lang="fa-IR" sz="800" b="1" dirty="0">
                          <a:solidFill>
                            <a:srgbClr val="00406C"/>
                          </a:solidFill>
                          <a:latin typeface="Yekan Bakh"/>
                          <a:cs typeface="Yekan Bakh"/>
                        </a:rPr>
                        <a:t>(</a:t>
                      </a:r>
                      <a:r>
                        <a:rPr sz="800" b="1" dirty="0">
                          <a:solidFill>
                            <a:srgbClr val="00406C"/>
                          </a:solidFill>
                          <a:latin typeface="Yekan Bakh"/>
                          <a:cs typeface="Yekan Bakh"/>
                        </a:rPr>
                        <a:t>پ۴</a:t>
                      </a:r>
                      <a:r>
                        <a:rPr lang="fa-IR" sz="800" b="1" dirty="0">
                          <a:solidFill>
                            <a:srgbClr val="00406C"/>
                          </a:solidFill>
                          <a:latin typeface="Yekan Bakh"/>
                          <a:cs typeface="Yekan Bakh"/>
                        </a:rPr>
                        <a:t>)</a:t>
                      </a:r>
                      <a:endParaRPr sz="800" b="1" dirty="0">
                        <a:solidFill>
                          <a:srgbClr val="00406C"/>
                        </a:solidFill>
                        <a:latin typeface="Yekan Bakh"/>
                        <a:cs typeface="Yekan Bakh"/>
                      </a:endParaRPr>
                    </a:p>
                  </a:txBody>
                  <a:tcPr marL="50800" marR="50800" marT="38100" marB="38100" anchor="ctr">
                    <a:solidFill>
                      <a:schemeClr val="bg1">
                        <a:lumMod val="95000"/>
                      </a:schemeClr>
                    </a:solidFill>
                  </a:tcPr>
                </a:tc>
                <a:extLst>
                  <a:ext uri="{0D108BD9-81ED-4DB2-BD59-A6C34878D82A}">
                    <a16:rowId xmlns:a16="http://schemas.microsoft.com/office/drawing/2014/main" val="10009"/>
                  </a:ext>
                </a:extLst>
              </a:tr>
              <a:tr h="287599">
                <a:tc>
                  <a:txBody>
                    <a:bodyPr/>
                    <a:lstStyle/>
                    <a:p>
                      <a:pPr algn="ctr" rtl="1">
                        <a:lnSpc>
                          <a:spcPct val="105000"/>
                        </a:lnSpc>
                      </a:pPr>
                      <a:r>
                        <a:rPr sz="800" b="0">
                          <a:solidFill>
                            <a:schemeClr val="tx1">
                              <a:lumMod val="65000"/>
                              <a:lumOff val="35000"/>
                            </a:schemeClr>
                          </a:solidFill>
                          <a:latin typeface="Yekan Bakh"/>
                          <a:cs typeface="Yekan Bakh"/>
                        </a:rPr>
                        <a:t>متوسط</a:t>
                      </a:r>
                    </a:p>
                  </a:txBody>
                  <a:tcPr marL="50800" marR="50800" marT="38100" marB="38100" anchor="ctr">
                    <a:solidFill>
                      <a:schemeClr val="bg1">
                        <a:lumMod val="95000"/>
                      </a:schemeClr>
                    </a:solidFill>
                  </a:tcPr>
                </a:tc>
                <a:tc>
                  <a:txBody>
                    <a:bodyPr/>
                    <a:lstStyle/>
                    <a:p>
                      <a:pPr algn="ctr" rtl="1">
                        <a:lnSpc>
                          <a:spcPct val="105000"/>
                        </a:lnSpc>
                      </a:pPr>
                      <a:r>
                        <a:rPr sz="800" b="0">
                          <a:solidFill>
                            <a:schemeClr val="tx1">
                              <a:lumMod val="65000"/>
                              <a:lumOff val="35000"/>
                            </a:schemeClr>
                          </a:solidFill>
                          <a:latin typeface="Yekan Bakh"/>
                          <a:cs typeface="Yekan Bakh"/>
                        </a:rPr>
                        <a:t>متوسط</a:t>
                      </a:r>
                    </a:p>
                  </a:txBody>
                  <a:tcPr marL="50800" marR="50800" marT="38100" marB="38100" anchor="ctr">
                    <a:solidFill>
                      <a:schemeClr val="bg1">
                        <a:lumMod val="95000"/>
                      </a:schemeClr>
                    </a:solidFill>
                  </a:tcPr>
                </a:tc>
                <a:tc>
                  <a:txBody>
                    <a:bodyPr/>
                    <a:lstStyle/>
                    <a:p>
                      <a:pPr algn="ctr" rtl="1">
                        <a:lnSpc>
                          <a:spcPct val="105000"/>
                        </a:lnSpc>
                      </a:pPr>
                      <a:r>
                        <a:rPr sz="800" b="0">
                          <a:solidFill>
                            <a:schemeClr val="tx1">
                              <a:lumMod val="65000"/>
                              <a:lumOff val="35000"/>
                            </a:schemeClr>
                          </a:solidFill>
                          <a:latin typeface="Yekan Bakh"/>
                          <a:cs typeface="Yekan Bakh"/>
                        </a:rPr>
                        <a:t>بالا</a:t>
                      </a:r>
                    </a:p>
                  </a:txBody>
                  <a:tcPr marL="50800" marR="50800" marT="38100" marB="38100" anchor="ctr">
                    <a:solidFill>
                      <a:schemeClr val="bg1">
                        <a:lumMod val="95000"/>
                      </a:schemeClr>
                    </a:solidFill>
                  </a:tcPr>
                </a:tc>
                <a:tc>
                  <a:txBody>
                    <a:bodyPr/>
                    <a:lstStyle/>
                    <a:p>
                      <a:pPr algn="ctr" rtl="1">
                        <a:lnSpc>
                          <a:spcPct val="105000"/>
                        </a:lnSpc>
                      </a:pPr>
                      <a:r>
                        <a:rPr sz="800" b="0">
                          <a:solidFill>
                            <a:schemeClr val="tx1">
                              <a:lumMod val="65000"/>
                              <a:lumOff val="35000"/>
                            </a:schemeClr>
                          </a:solidFill>
                          <a:latin typeface="Yekan Bakh"/>
                          <a:cs typeface="Yekan Bakh"/>
                        </a:rPr>
                        <a:t>پایین*</a:t>
                      </a:r>
                    </a:p>
                  </a:txBody>
                  <a:tcPr marL="50800" marR="50800" marT="38100" marB="38100" anchor="ctr">
                    <a:solidFill>
                      <a:schemeClr val="bg1">
                        <a:lumMod val="95000"/>
                      </a:schemeClr>
                    </a:solidFill>
                  </a:tcPr>
                </a:tc>
                <a:tc>
                  <a:txBody>
                    <a:bodyPr/>
                    <a:lstStyle/>
                    <a:p>
                      <a:pPr algn="ctr" rtl="1">
                        <a:lnSpc>
                          <a:spcPct val="105000"/>
                        </a:lnSpc>
                      </a:pPr>
                      <a:r>
                        <a:rPr sz="800" b="0">
                          <a:solidFill>
                            <a:schemeClr val="tx1">
                              <a:lumMod val="65000"/>
                              <a:lumOff val="35000"/>
                            </a:schemeClr>
                          </a:solidFill>
                          <a:latin typeface="Yekan Bakh"/>
                          <a:cs typeface="Yekan Bakh"/>
                        </a:rPr>
                        <a:t>بالا</a:t>
                      </a:r>
                    </a:p>
                  </a:txBody>
                  <a:tcPr marL="50800" marR="50800" marT="38100" marB="38100" anchor="ctr">
                    <a:solidFill>
                      <a:schemeClr val="bg1">
                        <a:lumMod val="95000"/>
                      </a:schemeClr>
                    </a:solidFill>
                  </a:tcPr>
                </a:tc>
                <a:tc>
                  <a:txBody>
                    <a:bodyPr/>
                    <a:lstStyle/>
                    <a:p>
                      <a:pPr marL="0" marR="0" lvl="0" indent="0" algn="ctr" defTabSz="457200" rtl="1" eaLnBrk="1" fontAlgn="auto" latinLnBrk="0" hangingPunct="1">
                        <a:lnSpc>
                          <a:spcPct val="105000"/>
                        </a:lnSpc>
                        <a:spcBef>
                          <a:spcPts val="0"/>
                        </a:spcBef>
                        <a:spcAft>
                          <a:spcPts val="0"/>
                        </a:spcAft>
                        <a:buClrTx/>
                        <a:buSzTx/>
                        <a:buFontTx/>
                        <a:buNone/>
                        <a:tabLst/>
                        <a:defRPr/>
                      </a:pPr>
                      <a:r>
                        <a:rPr kumimoji="0" lang="fa-IR" sz="800" b="0" i="0" u="none" strike="noStrike" kern="1200" cap="none" spc="0" normalizeH="0" baseline="0" noProof="0" dirty="0">
                          <a:ln>
                            <a:noFill/>
                          </a:ln>
                          <a:solidFill>
                            <a:schemeClr val="tx1">
                              <a:lumMod val="65000"/>
                              <a:lumOff val="35000"/>
                            </a:schemeClr>
                          </a:solidFill>
                          <a:effectLst/>
                          <a:uLnTx/>
                          <a:uFillTx/>
                          <a:latin typeface="Yekan Bakh FaNum SemiBold" pitchFamily="2" charset="-78"/>
                          <a:ea typeface="Yekan Bakh FaNum SemiBold" pitchFamily="2" charset="-78"/>
                          <a:cs typeface="Yekan Bakh FaNum SemiBold" pitchFamily="2" charset="-78"/>
                        </a:rPr>
                        <a:t>4</a:t>
                      </a:r>
                    </a:p>
                  </a:txBody>
                  <a:tcPr marL="50800" marR="50800" marT="38100" marB="38100" anchor="ctr">
                    <a:solidFill>
                      <a:schemeClr val="bg1">
                        <a:lumMod val="95000"/>
                      </a:schemeClr>
                    </a:solidFill>
                  </a:tcPr>
                </a:tc>
                <a:tc>
                  <a:txBody>
                    <a:bodyPr/>
                    <a:lstStyle/>
                    <a:p>
                      <a:pPr algn="r" rtl="1">
                        <a:lnSpc>
                          <a:spcPct val="105000"/>
                        </a:lnSpc>
                      </a:pPr>
                      <a:r>
                        <a:rPr sz="800" b="1" dirty="0" err="1">
                          <a:solidFill>
                            <a:srgbClr val="00406C"/>
                          </a:solidFill>
                          <a:latin typeface="Yekan Bakh"/>
                          <a:cs typeface="Yekan Bakh"/>
                        </a:rPr>
                        <a:t>شبکه</a:t>
                      </a:r>
                      <a:r>
                        <a:rPr sz="800" b="1" dirty="0">
                          <a:solidFill>
                            <a:srgbClr val="00406C"/>
                          </a:solidFill>
                          <a:latin typeface="Yekan Bakh"/>
                          <a:cs typeface="Yekan Bakh"/>
                        </a:rPr>
                        <a:t> </a:t>
                      </a:r>
                      <a:r>
                        <a:rPr lang="fa-IR" sz="800" b="1" dirty="0">
                          <a:solidFill>
                            <a:srgbClr val="00406C"/>
                          </a:solidFill>
                          <a:latin typeface="Yekan Bakh"/>
                          <a:cs typeface="Yekan Bakh"/>
                        </a:rPr>
                        <a:t>اعضای هیئت مدیره، مدیران عامل و </a:t>
                      </a:r>
                      <a:r>
                        <a:rPr sz="800" b="1" dirty="0" err="1">
                          <a:solidFill>
                            <a:srgbClr val="00406C"/>
                          </a:solidFill>
                          <a:latin typeface="Yekan Bakh"/>
                          <a:cs typeface="Yekan Bakh"/>
                        </a:rPr>
                        <a:t>مشاوران</a:t>
                      </a:r>
                      <a:r>
                        <a:rPr lang="fa-IR" sz="800" b="1" dirty="0">
                          <a:solidFill>
                            <a:srgbClr val="00406C"/>
                          </a:solidFill>
                          <a:latin typeface="Yekan Bakh"/>
                          <a:cs typeface="Yekan Bakh"/>
                        </a:rPr>
                        <a:t> بر</a:t>
                      </a:r>
                      <a:r>
                        <a:rPr sz="800" b="1" dirty="0" err="1">
                          <a:solidFill>
                            <a:srgbClr val="00406C"/>
                          </a:solidFill>
                          <a:latin typeface="Yekan Bakh"/>
                          <a:cs typeface="Yekan Bakh"/>
                        </a:rPr>
                        <a:t>ون‌سازمانی</a:t>
                      </a:r>
                      <a:r>
                        <a:rPr sz="800" b="1" dirty="0">
                          <a:solidFill>
                            <a:srgbClr val="00406C"/>
                          </a:solidFill>
                          <a:latin typeface="Yekan Bakh"/>
                          <a:cs typeface="Yekan Bakh"/>
                        </a:rPr>
                        <a:t> </a:t>
                      </a:r>
                      <a:r>
                        <a:rPr lang="fa-IR" sz="800" b="1" dirty="0">
                          <a:solidFill>
                            <a:srgbClr val="00406C"/>
                          </a:solidFill>
                          <a:latin typeface="Yekan Bakh"/>
                          <a:cs typeface="Yekan Bakh"/>
                        </a:rPr>
                        <a:t>(</a:t>
                      </a:r>
                      <a:r>
                        <a:rPr sz="800" b="1" dirty="0">
                          <a:solidFill>
                            <a:srgbClr val="00406C"/>
                          </a:solidFill>
                          <a:latin typeface="Yekan Bakh"/>
                          <a:cs typeface="Yekan Bakh"/>
                        </a:rPr>
                        <a:t>پ۵،۶</a:t>
                      </a:r>
                      <a:r>
                        <a:rPr lang="fa-IR" sz="800" b="1" dirty="0">
                          <a:solidFill>
                            <a:srgbClr val="00406C"/>
                          </a:solidFill>
                          <a:latin typeface="Yekan Bakh"/>
                          <a:cs typeface="Yekan Bakh"/>
                        </a:rPr>
                        <a:t>)</a:t>
                      </a:r>
                      <a:endParaRPr sz="800" b="1" dirty="0">
                        <a:solidFill>
                          <a:srgbClr val="00406C"/>
                        </a:solidFill>
                        <a:latin typeface="Yekan Bakh"/>
                        <a:cs typeface="Yekan Bakh"/>
                      </a:endParaRPr>
                    </a:p>
                  </a:txBody>
                  <a:tcPr marL="50800" marR="50800" marT="38100" marB="38100" anchor="ctr">
                    <a:solidFill>
                      <a:schemeClr val="bg1">
                        <a:lumMod val="95000"/>
                      </a:schemeClr>
                    </a:solidFill>
                  </a:tcPr>
                </a:tc>
                <a:extLst>
                  <a:ext uri="{0D108BD9-81ED-4DB2-BD59-A6C34878D82A}">
                    <a16:rowId xmlns:a16="http://schemas.microsoft.com/office/drawing/2014/main" val="10011"/>
                  </a:ext>
                </a:extLst>
              </a:tr>
              <a:tr h="287601">
                <a:tc>
                  <a:txBody>
                    <a:bodyPr/>
                    <a:lstStyle/>
                    <a:p>
                      <a:pPr algn="ctr" rtl="1">
                        <a:lnSpc>
                          <a:spcPct val="105000"/>
                        </a:lnSpc>
                      </a:pPr>
                      <a:r>
                        <a:rPr lang="fa-IR" sz="900" b="0" dirty="0">
                          <a:solidFill>
                            <a:schemeClr val="tx1">
                              <a:lumMod val="65000"/>
                              <a:lumOff val="35000"/>
                            </a:schemeClr>
                          </a:solidFill>
                          <a:latin typeface="Yekan Bakh"/>
                          <a:cs typeface="Yekan Bakh"/>
                        </a:rPr>
                        <a:t>شبکه </a:t>
                      </a:r>
                      <a:r>
                        <a:rPr sz="900" b="0" dirty="0" err="1">
                          <a:solidFill>
                            <a:schemeClr val="tx1">
                              <a:lumMod val="65000"/>
                              <a:lumOff val="35000"/>
                            </a:schemeClr>
                          </a:solidFill>
                          <a:latin typeface="Yekan Bakh"/>
                          <a:cs typeface="Yekan Bakh"/>
                        </a:rPr>
                        <a:t>بالا</a:t>
                      </a:r>
                      <a:r>
                        <a:rPr sz="900" b="0" dirty="0">
                          <a:solidFill>
                            <a:schemeClr val="tx1">
                              <a:lumMod val="65000"/>
                              <a:lumOff val="35000"/>
                            </a:schemeClr>
                          </a:solidFill>
                          <a:latin typeface="Yekan Bakh"/>
                          <a:cs typeface="Yekan Bakh"/>
                        </a:rPr>
                        <a:t> </a:t>
                      </a:r>
                      <a:r>
                        <a:rPr lang="fa-IR" sz="900" b="0" dirty="0">
                          <a:solidFill>
                            <a:schemeClr val="tx1">
                              <a:lumMod val="65000"/>
                              <a:lumOff val="35000"/>
                            </a:schemeClr>
                          </a:solidFill>
                          <a:latin typeface="Yekan Bakh"/>
                          <a:cs typeface="Yekan Bakh"/>
                        </a:rPr>
                        <a:t>(</a:t>
                      </a:r>
                      <a:r>
                        <a:rPr sz="900" b="0" dirty="0" err="1">
                          <a:solidFill>
                            <a:schemeClr val="tx1">
                              <a:lumMod val="65000"/>
                              <a:lumOff val="35000"/>
                            </a:schemeClr>
                          </a:solidFill>
                          <a:latin typeface="Yekan Bakh"/>
                          <a:cs typeface="Yekan Bakh"/>
                        </a:rPr>
                        <a:t>بالقوه</a:t>
                      </a:r>
                      <a:r>
                        <a:rPr lang="fa-IR" sz="900" b="0" dirty="0">
                          <a:solidFill>
                            <a:schemeClr val="tx1">
                              <a:lumMod val="65000"/>
                              <a:lumOff val="35000"/>
                            </a:schemeClr>
                          </a:solidFill>
                          <a:latin typeface="Yekan Bakh"/>
                          <a:cs typeface="Yekan Bakh"/>
                        </a:rPr>
                        <a:t>)</a:t>
                      </a:r>
                      <a:endParaRPr sz="900" b="0" dirty="0">
                        <a:solidFill>
                          <a:schemeClr val="tx1">
                            <a:lumMod val="65000"/>
                            <a:lumOff val="35000"/>
                          </a:schemeClr>
                        </a:solidFill>
                        <a:latin typeface="Yekan Bakh"/>
                        <a:cs typeface="Yekan Bakh"/>
                      </a:endParaRPr>
                    </a:p>
                  </a:txBody>
                  <a:tcPr marL="50800" marR="50800" marT="38100" marB="38100" anchor="ctr">
                    <a:solidFill>
                      <a:schemeClr val="bg1">
                        <a:lumMod val="95000"/>
                      </a:schemeClr>
                    </a:solidFill>
                  </a:tcPr>
                </a:tc>
                <a:tc>
                  <a:txBody>
                    <a:bodyPr/>
                    <a:lstStyle/>
                    <a:p>
                      <a:pPr algn="ctr" rtl="1">
                        <a:lnSpc>
                          <a:spcPct val="105000"/>
                        </a:lnSpc>
                      </a:pPr>
                      <a:r>
                        <a:rPr sz="900" b="0" dirty="0" err="1">
                          <a:solidFill>
                            <a:schemeClr val="tx1">
                              <a:lumMod val="65000"/>
                              <a:lumOff val="35000"/>
                            </a:schemeClr>
                          </a:solidFill>
                          <a:latin typeface="Yekan Bakh"/>
                          <a:cs typeface="Yekan Bakh"/>
                        </a:rPr>
                        <a:t>بالا</a:t>
                      </a:r>
                      <a:r>
                        <a:rPr sz="900" b="0" dirty="0">
                          <a:solidFill>
                            <a:schemeClr val="tx1">
                              <a:lumMod val="65000"/>
                              <a:lumOff val="35000"/>
                            </a:schemeClr>
                          </a:solidFill>
                          <a:latin typeface="Yekan Bakh"/>
                          <a:cs typeface="Yekan Bakh"/>
                        </a:rPr>
                        <a:t> </a:t>
                      </a:r>
                      <a:r>
                        <a:rPr lang="fa-IR" sz="900" b="0" dirty="0">
                          <a:solidFill>
                            <a:schemeClr val="tx1">
                              <a:lumMod val="65000"/>
                              <a:lumOff val="35000"/>
                            </a:schemeClr>
                          </a:solidFill>
                          <a:latin typeface="Yekan Bakh"/>
                          <a:cs typeface="Yekan Bakh"/>
                        </a:rPr>
                        <a:t>(</a:t>
                      </a:r>
                      <a:r>
                        <a:rPr sz="900" b="0" dirty="0" err="1">
                          <a:solidFill>
                            <a:schemeClr val="tx1">
                              <a:lumMod val="65000"/>
                              <a:lumOff val="35000"/>
                            </a:schemeClr>
                          </a:solidFill>
                          <a:latin typeface="Yekan Bakh"/>
                          <a:cs typeface="Yekan Bakh"/>
                        </a:rPr>
                        <a:t>ساخت</a:t>
                      </a:r>
                      <a:r>
                        <a:rPr sz="900" b="0" dirty="0">
                          <a:solidFill>
                            <a:schemeClr val="tx1">
                              <a:lumMod val="65000"/>
                              <a:lumOff val="35000"/>
                            </a:schemeClr>
                          </a:solidFill>
                          <a:latin typeface="Yekan Bakh"/>
                          <a:cs typeface="Yekan Bakh"/>
                        </a:rPr>
                        <a:t> </a:t>
                      </a:r>
                      <a:r>
                        <a:rPr sz="900" b="0" dirty="0" err="1">
                          <a:solidFill>
                            <a:schemeClr val="tx1">
                              <a:lumMod val="65000"/>
                              <a:lumOff val="35000"/>
                            </a:schemeClr>
                          </a:solidFill>
                          <a:latin typeface="Yekan Bakh"/>
                          <a:cs typeface="Yekan Bakh"/>
                        </a:rPr>
                        <a:t>اولیه</a:t>
                      </a:r>
                      <a:r>
                        <a:rPr lang="fa-IR" sz="900" b="0" dirty="0">
                          <a:solidFill>
                            <a:schemeClr val="tx1">
                              <a:lumMod val="65000"/>
                              <a:lumOff val="35000"/>
                            </a:schemeClr>
                          </a:solidFill>
                          <a:latin typeface="Yekan Bakh"/>
                          <a:cs typeface="Yekan Bakh"/>
                        </a:rPr>
                        <a:t>)</a:t>
                      </a:r>
                      <a:endParaRPr sz="900" b="0" dirty="0">
                        <a:solidFill>
                          <a:schemeClr val="tx1">
                            <a:lumMod val="65000"/>
                            <a:lumOff val="35000"/>
                          </a:schemeClr>
                        </a:solidFill>
                        <a:latin typeface="Yekan Bakh"/>
                        <a:cs typeface="Yekan Bakh"/>
                      </a:endParaRPr>
                    </a:p>
                  </a:txBody>
                  <a:tcPr marL="50800" marR="50800" marT="38100" marB="38100" anchor="ctr">
                    <a:solidFill>
                      <a:schemeClr val="bg1">
                        <a:lumMod val="95000"/>
                      </a:schemeClr>
                    </a:solidFill>
                  </a:tcPr>
                </a:tc>
                <a:tc>
                  <a:txBody>
                    <a:bodyPr/>
                    <a:lstStyle/>
                    <a:p>
                      <a:pPr algn="ctr" rtl="1">
                        <a:lnSpc>
                          <a:spcPct val="105000"/>
                        </a:lnSpc>
                      </a:pPr>
                      <a:r>
                        <a:rPr sz="900" b="0">
                          <a:solidFill>
                            <a:schemeClr val="tx1">
                              <a:lumMod val="65000"/>
                              <a:lumOff val="35000"/>
                            </a:schemeClr>
                          </a:solidFill>
                          <a:latin typeface="Yekan Bakh"/>
                          <a:cs typeface="Yekan Bakh"/>
                        </a:rPr>
                        <a:t>متوسط</a:t>
                      </a:r>
                    </a:p>
                  </a:txBody>
                  <a:tcPr marL="50800" marR="50800" marT="38100" marB="38100" anchor="ctr">
                    <a:solidFill>
                      <a:schemeClr val="bg1">
                        <a:lumMod val="95000"/>
                      </a:schemeClr>
                    </a:solidFill>
                  </a:tcPr>
                </a:tc>
                <a:tc>
                  <a:txBody>
                    <a:bodyPr/>
                    <a:lstStyle/>
                    <a:p>
                      <a:pPr algn="ctr" rtl="1">
                        <a:lnSpc>
                          <a:spcPct val="105000"/>
                        </a:lnSpc>
                      </a:pPr>
                      <a:r>
                        <a:rPr sz="900" b="0">
                          <a:solidFill>
                            <a:schemeClr val="tx1">
                              <a:lumMod val="65000"/>
                              <a:lumOff val="35000"/>
                            </a:schemeClr>
                          </a:solidFill>
                          <a:latin typeface="Yekan Bakh"/>
                          <a:cs typeface="Yekan Bakh"/>
                        </a:rPr>
                        <a:t>بالا</a:t>
                      </a:r>
                    </a:p>
                  </a:txBody>
                  <a:tcPr marL="50800" marR="50800" marT="38100" marB="38100" anchor="ctr">
                    <a:solidFill>
                      <a:schemeClr val="bg1">
                        <a:lumMod val="95000"/>
                      </a:schemeClr>
                    </a:solidFill>
                  </a:tcPr>
                </a:tc>
                <a:tc>
                  <a:txBody>
                    <a:bodyPr/>
                    <a:lstStyle/>
                    <a:p>
                      <a:pPr algn="ctr" rtl="1">
                        <a:lnSpc>
                          <a:spcPct val="105000"/>
                        </a:lnSpc>
                      </a:pPr>
                      <a:r>
                        <a:rPr sz="900" b="0">
                          <a:solidFill>
                            <a:schemeClr val="tx1">
                              <a:lumMod val="65000"/>
                              <a:lumOff val="35000"/>
                            </a:schemeClr>
                          </a:solidFill>
                          <a:latin typeface="Yekan Bakh"/>
                          <a:cs typeface="Yekan Bakh"/>
                        </a:rPr>
                        <a:t>بسیار بالا</a:t>
                      </a:r>
                    </a:p>
                  </a:txBody>
                  <a:tcPr marL="50800" marR="50800" marT="38100" marB="38100" anchor="ctr">
                    <a:solidFill>
                      <a:schemeClr val="bg1">
                        <a:lumMod val="95000"/>
                      </a:schemeClr>
                    </a:solidFill>
                  </a:tcPr>
                </a:tc>
                <a:tc>
                  <a:txBody>
                    <a:bodyPr/>
                    <a:lstStyle/>
                    <a:p>
                      <a:pPr marL="0" marR="0" lvl="0" indent="0" algn="ctr" defTabSz="457200" rtl="1" eaLnBrk="1" fontAlgn="auto" latinLnBrk="0" hangingPunct="1">
                        <a:lnSpc>
                          <a:spcPct val="105000"/>
                        </a:lnSpc>
                        <a:spcBef>
                          <a:spcPts val="0"/>
                        </a:spcBef>
                        <a:spcAft>
                          <a:spcPts val="0"/>
                        </a:spcAft>
                        <a:buClrTx/>
                        <a:buSzTx/>
                        <a:buFontTx/>
                        <a:buNone/>
                        <a:tabLst/>
                        <a:defRPr/>
                      </a:pPr>
                      <a:r>
                        <a:rPr kumimoji="0" lang="fa-IR" sz="900" b="0" i="0" u="none" strike="noStrike" kern="1200" cap="none" spc="0" normalizeH="0" baseline="0" noProof="0" dirty="0">
                          <a:ln>
                            <a:noFill/>
                          </a:ln>
                          <a:solidFill>
                            <a:schemeClr val="tx1">
                              <a:lumMod val="65000"/>
                              <a:lumOff val="35000"/>
                            </a:schemeClr>
                          </a:solidFill>
                          <a:effectLst/>
                          <a:uLnTx/>
                          <a:uFillTx/>
                          <a:latin typeface="Yekan Bakh FaNum SemiBold" pitchFamily="2" charset="-78"/>
                          <a:ea typeface="Yekan Bakh FaNum SemiBold" pitchFamily="2" charset="-78"/>
                          <a:cs typeface="Yekan Bakh FaNum SemiBold" pitchFamily="2" charset="-78"/>
                        </a:rPr>
                        <a:t>4</a:t>
                      </a:r>
                    </a:p>
                  </a:txBody>
                  <a:tcPr marL="50800" marR="50800" marT="38100" marB="38100" anchor="ctr">
                    <a:solidFill>
                      <a:schemeClr val="bg1">
                        <a:lumMod val="95000"/>
                      </a:schemeClr>
                    </a:solidFill>
                  </a:tcPr>
                </a:tc>
                <a:tc>
                  <a:txBody>
                    <a:bodyPr/>
                    <a:lstStyle/>
                    <a:p>
                      <a:pPr algn="r" rtl="1">
                        <a:lnSpc>
                          <a:spcPct val="105000"/>
                        </a:lnSpc>
                      </a:pPr>
                      <a:r>
                        <a:rPr sz="900" b="1" dirty="0" err="1">
                          <a:solidFill>
                            <a:srgbClr val="00406C"/>
                          </a:solidFill>
                          <a:latin typeface="Yekan Bakh"/>
                          <a:cs typeface="Yekan Bakh"/>
                        </a:rPr>
                        <a:t>پلتفرم</a:t>
                      </a:r>
                      <a:r>
                        <a:rPr sz="900" b="1" dirty="0">
                          <a:solidFill>
                            <a:srgbClr val="00406C"/>
                          </a:solidFill>
                          <a:latin typeface="Yekan Bakh"/>
                          <a:cs typeface="Yekan Bakh"/>
                        </a:rPr>
                        <a:t> </a:t>
                      </a:r>
                      <a:r>
                        <a:rPr sz="900" b="1" dirty="0" err="1">
                          <a:solidFill>
                            <a:srgbClr val="00406C"/>
                          </a:solidFill>
                          <a:latin typeface="Yekan Bakh"/>
                          <a:cs typeface="Yekan Bakh"/>
                        </a:rPr>
                        <a:t>دیجیتال</a:t>
                      </a:r>
                      <a:r>
                        <a:rPr sz="900" b="1" dirty="0">
                          <a:solidFill>
                            <a:srgbClr val="00406C"/>
                          </a:solidFill>
                          <a:latin typeface="Yekan Bakh"/>
                          <a:cs typeface="Yekan Bakh"/>
                        </a:rPr>
                        <a:t> </a:t>
                      </a:r>
                      <a:r>
                        <a:rPr sz="900" b="1" dirty="0" err="1">
                          <a:solidFill>
                            <a:srgbClr val="00406C"/>
                          </a:solidFill>
                          <a:latin typeface="Yekan Bakh"/>
                          <a:cs typeface="Yekan Bakh"/>
                        </a:rPr>
                        <a:t>دوطرفه</a:t>
                      </a:r>
                      <a:r>
                        <a:rPr sz="900" b="1" dirty="0">
                          <a:solidFill>
                            <a:srgbClr val="00406C"/>
                          </a:solidFill>
                          <a:latin typeface="Yekan Bakh"/>
                          <a:cs typeface="Yekan Bakh"/>
                        </a:rPr>
                        <a:t> </a:t>
                      </a:r>
                      <a:r>
                        <a:rPr sz="900" b="1" dirty="0" err="1">
                          <a:solidFill>
                            <a:srgbClr val="00406C"/>
                          </a:solidFill>
                          <a:latin typeface="Yekan Bakh"/>
                          <a:cs typeface="Yekan Bakh"/>
                        </a:rPr>
                        <a:t>معامله</a:t>
                      </a:r>
                      <a:r>
                        <a:rPr sz="900" b="1" dirty="0">
                          <a:solidFill>
                            <a:srgbClr val="00406C"/>
                          </a:solidFill>
                          <a:latin typeface="Yekan Bakh"/>
                          <a:cs typeface="Yekan Bakh"/>
                        </a:rPr>
                        <a:t> </a:t>
                      </a:r>
                      <a:r>
                        <a:rPr lang="fa-IR" sz="900" b="1" dirty="0">
                          <a:solidFill>
                            <a:srgbClr val="00406C"/>
                          </a:solidFill>
                          <a:latin typeface="Yekan Bakh"/>
                          <a:cs typeface="Yekan Bakh"/>
                        </a:rPr>
                        <a:t>(</a:t>
                      </a:r>
                      <a:r>
                        <a:rPr sz="900" b="1" dirty="0">
                          <a:solidFill>
                            <a:srgbClr val="00406C"/>
                          </a:solidFill>
                          <a:latin typeface="Yekan Bakh"/>
                          <a:cs typeface="Yekan Bakh"/>
                        </a:rPr>
                        <a:t>پ۳،۵،۶</a:t>
                      </a:r>
                      <a:r>
                        <a:rPr lang="fa-IR" sz="900" b="1" dirty="0">
                          <a:solidFill>
                            <a:srgbClr val="00406C"/>
                          </a:solidFill>
                          <a:latin typeface="Yekan Bakh"/>
                          <a:cs typeface="Yekan Bakh"/>
                        </a:rPr>
                        <a:t>)</a:t>
                      </a:r>
                      <a:endParaRPr sz="900" b="1" dirty="0">
                        <a:solidFill>
                          <a:srgbClr val="00406C"/>
                        </a:solidFill>
                        <a:latin typeface="Yekan Bakh"/>
                        <a:cs typeface="Yekan Bakh"/>
                      </a:endParaRPr>
                    </a:p>
                  </a:txBody>
                  <a:tcPr marL="50800" marR="50800" marT="38100" marB="38100" anchor="ctr">
                    <a:solidFill>
                      <a:schemeClr val="bg1">
                        <a:lumMod val="95000"/>
                      </a:schemeClr>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2459293844"/>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CCD6D7E-B42F-9A04-1080-BCE6CF5C4D81}"/>
              </a:ext>
            </a:extLst>
          </p:cNvPr>
          <p:cNvSpPr>
            <a:spLocks noGrp="1"/>
          </p:cNvSpPr>
          <p:nvPr>
            <p:ph type="body" sz="quarter" idx="10"/>
          </p:nvPr>
        </p:nvSpPr>
        <p:spPr/>
        <p:txBody>
          <a:bodyPr/>
          <a:lstStyle/>
          <a:p>
            <a:r>
              <a:rPr lang="fa-IR"/>
              <a:t>تحلیل عمیق کانال</a:t>
            </a:r>
            <a:endParaRPr lang="fa-IR" dirty="0"/>
          </a:p>
        </p:txBody>
      </p:sp>
      <p:sp>
        <p:nvSpPr>
          <p:cNvPr id="3" name="Text Placeholder 2">
            <a:extLst>
              <a:ext uri="{FF2B5EF4-FFF2-40B4-BE49-F238E27FC236}">
                <a16:creationId xmlns:a16="http://schemas.microsoft.com/office/drawing/2014/main" id="{4DC34A76-4496-8F83-A566-B2D953983BE3}"/>
              </a:ext>
            </a:extLst>
          </p:cNvPr>
          <p:cNvSpPr>
            <a:spLocks noGrp="1"/>
          </p:cNvSpPr>
          <p:nvPr>
            <p:ph type="body" sz="quarter" idx="12"/>
          </p:nvPr>
        </p:nvSpPr>
        <p:spPr/>
        <p:txBody>
          <a:bodyPr/>
          <a:lstStyle/>
          <a:p>
            <a:r>
              <a:rPr lang="fa-IR" dirty="0"/>
              <a:t>مفروضات، عدم‌قطعیت‌ها و ریسک‌های کلیدی</a:t>
            </a:r>
          </a:p>
        </p:txBody>
      </p:sp>
      <p:sp>
        <p:nvSpPr>
          <p:cNvPr id="4" name="Rectangle: Rounded Corners 3">
            <a:extLst>
              <a:ext uri="{FF2B5EF4-FFF2-40B4-BE49-F238E27FC236}">
                <a16:creationId xmlns:a16="http://schemas.microsoft.com/office/drawing/2014/main" id="{62E5B868-A9EB-CBBA-A65A-D7331381A7FB}"/>
              </a:ext>
            </a:extLst>
          </p:cNvPr>
          <p:cNvSpPr/>
          <p:nvPr/>
        </p:nvSpPr>
        <p:spPr>
          <a:xfrm>
            <a:off x="533440" y="1282807"/>
            <a:ext cx="10710133" cy="1480058"/>
          </a:xfrm>
          <a:prstGeom prst="roundRect">
            <a:avLst>
              <a:gd name="adj" fmla="val 10811"/>
            </a:avLst>
          </a:prstGeom>
          <a:solidFill>
            <a:schemeClr val="bg1">
              <a:lumMod val="8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Rounded Corners 6">
            <a:extLst>
              <a:ext uri="{FF2B5EF4-FFF2-40B4-BE49-F238E27FC236}">
                <a16:creationId xmlns:a16="http://schemas.microsoft.com/office/drawing/2014/main" id="{86C2B291-E066-F66F-C211-4CF72BAC12A5}"/>
              </a:ext>
            </a:extLst>
          </p:cNvPr>
          <p:cNvSpPr/>
          <p:nvPr/>
        </p:nvSpPr>
        <p:spPr>
          <a:xfrm>
            <a:off x="533440" y="2850341"/>
            <a:ext cx="10710133" cy="970157"/>
          </a:xfrm>
          <a:prstGeom prst="roundRect">
            <a:avLst>
              <a:gd name="adj" fmla="val 10811"/>
            </a:avLst>
          </a:prstGeom>
          <a:solidFill>
            <a:schemeClr val="bg1">
              <a:lumMod val="85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Rounded Corners 7">
            <a:extLst>
              <a:ext uri="{FF2B5EF4-FFF2-40B4-BE49-F238E27FC236}">
                <a16:creationId xmlns:a16="http://schemas.microsoft.com/office/drawing/2014/main" id="{FE967E78-F7BC-6145-DC55-2E342DF2A223}"/>
              </a:ext>
            </a:extLst>
          </p:cNvPr>
          <p:cNvSpPr/>
          <p:nvPr/>
        </p:nvSpPr>
        <p:spPr>
          <a:xfrm>
            <a:off x="533440" y="3907972"/>
            <a:ext cx="10710133" cy="1989961"/>
          </a:xfrm>
          <a:prstGeom prst="roundRect">
            <a:avLst>
              <a:gd name="adj" fmla="val 10811"/>
            </a:avLst>
          </a:prstGeom>
          <a:solidFill>
            <a:schemeClr val="bg1">
              <a:lumMod val="8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2" name="Group 11">
            <a:extLst>
              <a:ext uri="{FF2B5EF4-FFF2-40B4-BE49-F238E27FC236}">
                <a16:creationId xmlns:a16="http://schemas.microsoft.com/office/drawing/2014/main" id="{6A96B737-771C-8AC5-2FDE-C598316A4CAC}"/>
              </a:ext>
            </a:extLst>
          </p:cNvPr>
          <p:cNvGrpSpPr/>
          <p:nvPr/>
        </p:nvGrpSpPr>
        <p:grpSpPr>
          <a:xfrm>
            <a:off x="10735056" y="1282809"/>
            <a:ext cx="508516" cy="1480056"/>
            <a:chOff x="10624172" y="1282809"/>
            <a:chExt cx="619400" cy="1480056"/>
          </a:xfrm>
        </p:grpSpPr>
        <p:sp>
          <p:nvSpPr>
            <p:cNvPr id="11" name="Rectangle: Top Corners Rounded 10">
              <a:extLst>
                <a:ext uri="{FF2B5EF4-FFF2-40B4-BE49-F238E27FC236}">
                  <a16:creationId xmlns:a16="http://schemas.microsoft.com/office/drawing/2014/main" id="{0C327CCB-3DC3-3114-F91E-F336DE456400}"/>
                </a:ext>
              </a:extLst>
            </p:cNvPr>
            <p:cNvSpPr/>
            <p:nvPr/>
          </p:nvSpPr>
          <p:spPr>
            <a:xfrm rot="5400000">
              <a:off x="10193844" y="1713137"/>
              <a:ext cx="1480056" cy="619400"/>
            </a:xfrm>
            <a:prstGeom prst="round2SameRect">
              <a:avLst>
                <a:gd name="adj1" fmla="val 25029"/>
                <a:gd name="adj2" fmla="val 0"/>
              </a:avLst>
            </a:prstGeom>
            <a:solidFill>
              <a:srgbClr val="004D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200"/>
            </a:p>
          </p:txBody>
        </p:sp>
        <p:sp>
          <p:nvSpPr>
            <p:cNvPr id="10" name="TextBox 9">
              <a:extLst>
                <a:ext uri="{FF2B5EF4-FFF2-40B4-BE49-F238E27FC236}">
                  <a16:creationId xmlns:a16="http://schemas.microsoft.com/office/drawing/2014/main" id="{55F99334-9712-A8BE-8B59-2951B97D1612}"/>
                </a:ext>
              </a:extLst>
            </p:cNvPr>
            <p:cNvSpPr txBox="1"/>
            <p:nvPr/>
          </p:nvSpPr>
          <p:spPr>
            <a:xfrm rot="5400000">
              <a:off x="10193845" y="1884337"/>
              <a:ext cx="1480055" cy="276999"/>
            </a:xfrm>
            <a:prstGeom prst="rect">
              <a:avLst/>
            </a:prstGeom>
            <a:noFill/>
          </p:spPr>
          <p:txBody>
            <a:bodyPr wrap="square">
              <a:spAutoFit/>
            </a:bodyPr>
            <a:lstStyle/>
            <a:p>
              <a:pPr algn="ctr" rtl="1"/>
              <a:r>
                <a:rPr kumimoji="0" lang="fa-IR" sz="1200" b="1" i="0" u="none" strike="noStrike" kern="1200" cap="none" spc="0" normalizeH="0" baseline="0" noProof="0" dirty="0">
                  <a:ln>
                    <a:noFill/>
                  </a:ln>
                  <a:solidFill>
                    <a:schemeClr val="bg1"/>
                  </a:solidFill>
                  <a:effectLst/>
                  <a:uLnTx/>
                  <a:uFillTx/>
                  <a:latin typeface="Yekan Bakh"/>
                  <a:ea typeface="+mn-ea"/>
                  <a:cs typeface="Yekan Bakh"/>
                </a:rPr>
                <a:t>فرض</a:t>
              </a:r>
              <a:endParaRPr lang="en-GB" sz="1200" dirty="0">
                <a:solidFill>
                  <a:schemeClr val="bg1"/>
                </a:solidFill>
              </a:endParaRPr>
            </a:p>
          </p:txBody>
        </p:sp>
      </p:grpSp>
      <p:grpSp>
        <p:nvGrpSpPr>
          <p:cNvPr id="13" name="Group 12">
            <a:extLst>
              <a:ext uri="{FF2B5EF4-FFF2-40B4-BE49-F238E27FC236}">
                <a16:creationId xmlns:a16="http://schemas.microsoft.com/office/drawing/2014/main" id="{ADC4FDDC-AADC-975C-6B81-D115C976150D}"/>
              </a:ext>
            </a:extLst>
          </p:cNvPr>
          <p:cNvGrpSpPr/>
          <p:nvPr/>
        </p:nvGrpSpPr>
        <p:grpSpPr>
          <a:xfrm>
            <a:off x="10735056" y="2850341"/>
            <a:ext cx="508516" cy="970156"/>
            <a:chOff x="10624172" y="1282809"/>
            <a:chExt cx="619400" cy="1480056"/>
          </a:xfrm>
        </p:grpSpPr>
        <p:sp>
          <p:nvSpPr>
            <p:cNvPr id="14" name="Rectangle: Top Corners Rounded 13">
              <a:extLst>
                <a:ext uri="{FF2B5EF4-FFF2-40B4-BE49-F238E27FC236}">
                  <a16:creationId xmlns:a16="http://schemas.microsoft.com/office/drawing/2014/main" id="{6BB4F10C-CE17-9AD3-FC31-8B816ADBC13C}"/>
                </a:ext>
              </a:extLst>
            </p:cNvPr>
            <p:cNvSpPr/>
            <p:nvPr/>
          </p:nvSpPr>
          <p:spPr>
            <a:xfrm rot="5400000">
              <a:off x="10193844" y="1713137"/>
              <a:ext cx="1480056" cy="619400"/>
            </a:xfrm>
            <a:prstGeom prst="round2SameRect">
              <a:avLst>
                <a:gd name="adj1" fmla="val 25029"/>
                <a:gd name="adj2" fmla="val 0"/>
              </a:avLst>
            </a:prstGeom>
            <a:solidFill>
              <a:srgbClr val="F0BE0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200" dirty="0"/>
            </a:p>
          </p:txBody>
        </p:sp>
        <p:sp>
          <p:nvSpPr>
            <p:cNvPr id="15" name="TextBox 14">
              <a:extLst>
                <a:ext uri="{FF2B5EF4-FFF2-40B4-BE49-F238E27FC236}">
                  <a16:creationId xmlns:a16="http://schemas.microsoft.com/office/drawing/2014/main" id="{6A40E07B-A9FC-D4BA-DFC5-129A352A63D0}"/>
                </a:ext>
              </a:extLst>
            </p:cNvPr>
            <p:cNvSpPr txBox="1"/>
            <p:nvPr/>
          </p:nvSpPr>
          <p:spPr>
            <a:xfrm rot="5400000">
              <a:off x="10193845" y="1884337"/>
              <a:ext cx="1480055" cy="276999"/>
            </a:xfrm>
            <a:prstGeom prst="rect">
              <a:avLst/>
            </a:prstGeom>
            <a:noFill/>
          </p:spPr>
          <p:txBody>
            <a:bodyPr wrap="square">
              <a:spAutoFit/>
            </a:bodyPr>
            <a:lstStyle/>
            <a:p>
              <a:pPr algn="ctr" rtl="1"/>
              <a:r>
                <a:rPr kumimoji="0" lang="fa-IR" sz="1200" b="1" i="0" u="none" strike="noStrike" kern="1200" cap="none" spc="0" normalizeH="0" baseline="0" noProof="0" dirty="0">
                  <a:ln>
                    <a:noFill/>
                  </a:ln>
                  <a:solidFill>
                    <a:schemeClr val="bg1"/>
                  </a:solidFill>
                  <a:effectLst/>
                  <a:uLnTx/>
                  <a:uFillTx/>
                  <a:latin typeface="Yekan Bakh"/>
                  <a:ea typeface="+mn-ea"/>
                  <a:cs typeface="Yekan Bakh"/>
                </a:rPr>
                <a:t>عدم‌قطعیت</a:t>
              </a:r>
              <a:endParaRPr lang="en-GB" sz="1200" dirty="0">
                <a:solidFill>
                  <a:schemeClr val="bg1"/>
                </a:solidFill>
              </a:endParaRPr>
            </a:p>
          </p:txBody>
        </p:sp>
      </p:grpSp>
      <p:grpSp>
        <p:nvGrpSpPr>
          <p:cNvPr id="16" name="Group 15">
            <a:extLst>
              <a:ext uri="{FF2B5EF4-FFF2-40B4-BE49-F238E27FC236}">
                <a16:creationId xmlns:a16="http://schemas.microsoft.com/office/drawing/2014/main" id="{D5E40BF7-8C5B-D191-4BD7-01457A7BC2E3}"/>
              </a:ext>
            </a:extLst>
          </p:cNvPr>
          <p:cNvGrpSpPr/>
          <p:nvPr/>
        </p:nvGrpSpPr>
        <p:grpSpPr>
          <a:xfrm>
            <a:off x="10735056" y="3907975"/>
            <a:ext cx="508516" cy="1989958"/>
            <a:chOff x="10624172" y="1282809"/>
            <a:chExt cx="619400" cy="1480056"/>
          </a:xfrm>
        </p:grpSpPr>
        <p:sp>
          <p:nvSpPr>
            <p:cNvPr id="17" name="Rectangle: Top Corners Rounded 16">
              <a:extLst>
                <a:ext uri="{FF2B5EF4-FFF2-40B4-BE49-F238E27FC236}">
                  <a16:creationId xmlns:a16="http://schemas.microsoft.com/office/drawing/2014/main" id="{3AB3334F-30B6-DBF1-9811-365F04611287}"/>
                </a:ext>
              </a:extLst>
            </p:cNvPr>
            <p:cNvSpPr/>
            <p:nvPr/>
          </p:nvSpPr>
          <p:spPr>
            <a:xfrm rot="5400000">
              <a:off x="10193844" y="1713137"/>
              <a:ext cx="1480056" cy="619400"/>
            </a:xfrm>
            <a:prstGeom prst="round2SameRect">
              <a:avLst>
                <a:gd name="adj1" fmla="val 25029"/>
                <a:gd name="adj2" fmla="val 0"/>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200"/>
            </a:p>
          </p:txBody>
        </p:sp>
        <p:sp>
          <p:nvSpPr>
            <p:cNvPr id="18" name="TextBox 17">
              <a:extLst>
                <a:ext uri="{FF2B5EF4-FFF2-40B4-BE49-F238E27FC236}">
                  <a16:creationId xmlns:a16="http://schemas.microsoft.com/office/drawing/2014/main" id="{483034E9-6762-0509-7915-992CE8463887}"/>
                </a:ext>
              </a:extLst>
            </p:cNvPr>
            <p:cNvSpPr txBox="1"/>
            <p:nvPr/>
          </p:nvSpPr>
          <p:spPr>
            <a:xfrm rot="5400000">
              <a:off x="10193845" y="1884337"/>
              <a:ext cx="1480055" cy="276999"/>
            </a:xfrm>
            <a:prstGeom prst="rect">
              <a:avLst/>
            </a:prstGeom>
            <a:noFill/>
          </p:spPr>
          <p:txBody>
            <a:bodyPr wrap="square">
              <a:spAutoFit/>
            </a:bodyPr>
            <a:lstStyle/>
            <a:p>
              <a:pPr algn="ctr" rtl="1"/>
              <a:r>
                <a:rPr kumimoji="0" lang="fa-IR" sz="1200" b="1" i="0" u="none" strike="noStrike" kern="1200" cap="none" spc="0" normalizeH="0" baseline="0" noProof="0" dirty="0">
                  <a:ln>
                    <a:noFill/>
                  </a:ln>
                  <a:solidFill>
                    <a:schemeClr val="bg1"/>
                  </a:solidFill>
                  <a:effectLst/>
                  <a:uLnTx/>
                  <a:uFillTx/>
                  <a:latin typeface="Yekan Bakh"/>
                  <a:ea typeface="+mn-ea"/>
                  <a:cs typeface="Yekan Bakh"/>
                </a:rPr>
                <a:t>ریسک</a:t>
              </a:r>
              <a:endParaRPr lang="en-GB" sz="1200" dirty="0">
                <a:solidFill>
                  <a:schemeClr val="bg1"/>
                </a:solidFill>
              </a:endParaRPr>
            </a:p>
          </p:txBody>
        </p:sp>
      </p:grpSp>
      <p:sp>
        <p:nvSpPr>
          <p:cNvPr id="19" name="Rectangle: Rounded Corners 18">
            <a:extLst>
              <a:ext uri="{FF2B5EF4-FFF2-40B4-BE49-F238E27FC236}">
                <a16:creationId xmlns:a16="http://schemas.microsoft.com/office/drawing/2014/main" id="{7A53EA51-719F-A1A3-99E0-99766D6D8B7C}"/>
              </a:ext>
            </a:extLst>
          </p:cNvPr>
          <p:cNvSpPr/>
          <p:nvPr/>
        </p:nvSpPr>
        <p:spPr>
          <a:xfrm>
            <a:off x="800340" y="1442192"/>
            <a:ext cx="3066844" cy="1161288"/>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Low" rtl="1">
              <a:spcAft>
                <a:spcPts val="300"/>
              </a:spcAft>
            </a:pPr>
            <a:r>
              <a:rPr lang="fa-IR" sz="900" dirty="0">
                <a:solidFill>
                  <a:schemeClr val="tx1">
                    <a:lumMod val="65000"/>
                    <a:lumOff val="35000"/>
                  </a:schemeClr>
                </a:solidFill>
                <a:latin typeface="Yekan Bakh" pitchFamily="2" charset="-78"/>
                <a:ea typeface="Yekan Bakh" pitchFamily="2" charset="-78"/>
                <a:cs typeface="Yekan Bakh" pitchFamily="2" charset="-78"/>
              </a:rPr>
              <a:t>کانال «پلتفرم دیجیتال دوطرفه معامله» بنچمارک‌شده از </a:t>
            </a:r>
            <a:r>
              <a:rPr lang="en-GB" sz="900" dirty="0">
                <a:solidFill>
                  <a:schemeClr val="tx1">
                    <a:lumMod val="65000"/>
                    <a:lumOff val="35000"/>
                  </a:schemeClr>
                </a:solidFill>
                <a:latin typeface="Yekan Bakh" pitchFamily="2" charset="-78"/>
                <a:ea typeface="Yekan Bakh" pitchFamily="2" charset="-78"/>
                <a:cs typeface="Yekan Bakh" pitchFamily="2" charset="-78"/>
              </a:rPr>
              <a:t>Hum Capital، Turn8، Pitch40)</a:t>
            </a:r>
            <a:r>
              <a:rPr lang="fa-IR" sz="900" dirty="0">
                <a:solidFill>
                  <a:schemeClr val="tx1">
                    <a:lumMod val="65000"/>
                    <a:lumOff val="35000"/>
                  </a:schemeClr>
                </a:solidFill>
                <a:latin typeface="Yekan Bakh" pitchFamily="2" charset="-78"/>
                <a:ea typeface="Yekan Bakh" pitchFamily="2" charset="-78"/>
                <a:cs typeface="Yekan Bakh" pitchFamily="2" charset="-78"/>
              </a:rPr>
              <a:t>) برای پرسوناهای 3، 5 و 6 (کسب و کار مشتاق ایرانی، ونچیر بیلدینگ و سرمایه‌گذاری) در مقیاس کوچک اولیه اکوسیستم فرصت ایران اثر شبکه‌ای کافی برای اثربخشی ایجاد می‌کند که نیازمند آزمون با حجم واقعی معامله است.</a:t>
            </a:r>
          </a:p>
        </p:txBody>
      </p:sp>
      <p:sp>
        <p:nvSpPr>
          <p:cNvPr id="20" name="Rectangle: Rounded Corners 19">
            <a:extLst>
              <a:ext uri="{FF2B5EF4-FFF2-40B4-BE49-F238E27FC236}">
                <a16:creationId xmlns:a16="http://schemas.microsoft.com/office/drawing/2014/main" id="{B8118805-9D40-CFEC-BB85-268C1B85F435}"/>
              </a:ext>
            </a:extLst>
          </p:cNvPr>
          <p:cNvSpPr/>
          <p:nvPr/>
        </p:nvSpPr>
        <p:spPr>
          <a:xfrm>
            <a:off x="4098918" y="1442192"/>
            <a:ext cx="3066844" cy="1161288"/>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Low" rtl="1">
              <a:lnSpc>
                <a:spcPct val="150000"/>
              </a:lnSpc>
            </a:pPr>
            <a:r>
              <a:rPr lang="fa-IR" sz="900" dirty="0">
                <a:solidFill>
                  <a:schemeClr val="tx1">
                    <a:lumMod val="65000"/>
                    <a:lumOff val="35000"/>
                  </a:schemeClr>
                </a:solidFill>
                <a:latin typeface="Yekan Bakh" pitchFamily="2" charset="-78"/>
                <a:ea typeface="Yekan Bakh" pitchFamily="2" charset="-78"/>
                <a:cs typeface="Yekan Bakh" pitchFamily="2" charset="-78"/>
              </a:rPr>
              <a:t>کانال‌های معرف غیررسمی (ایرانیان خارج از کشور، اتاق بازرگانی) بدون پرداخت کمیسیون نقدی قابل فعال‌سازی و نگهداری‌اند</a:t>
            </a:r>
          </a:p>
        </p:txBody>
      </p:sp>
      <p:sp>
        <p:nvSpPr>
          <p:cNvPr id="21" name="Rectangle: Rounded Corners 20">
            <a:extLst>
              <a:ext uri="{FF2B5EF4-FFF2-40B4-BE49-F238E27FC236}">
                <a16:creationId xmlns:a16="http://schemas.microsoft.com/office/drawing/2014/main" id="{665EDBD4-4FC5-4A86-FA95-0015CE056062}"/>
              </a:ext>
            </a:extLst>
          </p:cNvPr>
          <p:cNvSpPr/>
          <p:nvPr/>
        </p:nvSpPr>
        <p:spPr>
          <a:xfrm>
            <a:off x="7397496" y="1442192"/>
            <a:ext cx="3066844" cy="1161288"/>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Low" rtl="1">
              <a:lnSpc>
                <a:spcPct val="150000"/>
              </a:lnSpc>
            </a:pPr>
            <a:r>
              <a:rPr lang="fa-IR" sz="900" dirty="0">
                <a:solidFill>
                  <a:schemeClr val="tx1">
                    <a:lumMod val="65000"/>
                    <a:lumOff val="35000"/>
                  </a:schemeClr>
                </a:solidFill>
                <a:latin typeface="Yekan Bakh" pitchFamily="2" charset="-78"/>
                <a:ea typeface="Yekan Bakh" pitchFamily="2" charset="-78"/>
                <a:cs typeface="Yekan Bakh" pitchFamily="2" charset="-78"/>
              </a:rPr>
              <a:t>اعتبار پوشش در رسانه‌های اقتصادی معتبر و شهرت بنیان‌گذاران می‌تواند شکاف اعتماد اولیه را در همه پرسوناها پوشش دهد </a:t>
            </a:r>
          </a:p>
        </p:txBody>
      </p:sp>
      <p:sp>
        <p:nvSpPr>
          <p:cNvPr id="25" name="Rectangle: Rounded Corners 24">
            <a:extLst>
              <a:ext uri="{FF2B5EF4-FFF2-40B4-BE49-F238E27FC236}">
                <a16:creationId xmlns:a16="http://schemas.microsoft.com/office/drawing/2014/main" id="{E7870A5E-268D-6F72-60B1-54FE5412EED3}"/>
              </a:ext>
            </a:extLst>
          </p:cNvPr>
          <p:cNvSpPr/>
          <p:nvPr/>
        </p:nvSpPr>
        <p:spPr>
          <a:xfrm>
            <a:off x="800340" y="3034341"/>
            <a:ext cx="6365422" cy="602156"/>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Low" rtl="1">
              <a:lnSpc>
                <a:spcPct val="150000"/>
              </a:lnSpc>
            </a:pPr>
            <a:r>
              <a:rPr lang="fa-IR" sz="900" dirty="0">
                <a:solidFill>
                  <a:schemeClr val="tx1">
                    <a:lumMod val="65000"/>
                    <a:lumOff val="35000"/>
                  </a:schemeClr>
                </a:solidFill>
                <a:latin typeface="Yekan Bakh" pitchFamily="2" charset="-78"/>
                <a:ea typeface="Yekan Bakh" pitchFamily="2" charset="-78"/>
                <a:cs typeface="Yekan Bakh" pitchFamily="2" charset="-78"/>
              </a:rPr>
              <a:t>هیچ داده واقعی هزینه جذب مشتری (</a:t>
            </a:r>
            <a:r>
              <a:rPr lang="en-US" sz="900" dirty="0">
                <a:solidFill>
                  <a:schemeClr val="tx1">
                    <a:lumMod val="65000"/>
                    <a:lumOff val="35000"/>
                  </a:schemeClr>
                </a:solidFill>
                <a:latin typeface="Yekan Bakh" pitchFamily="2" charset="-78"/>
                <a:ea typeface="Yekan Bakh" pitchFamily="2" charset="-78"/>
                <a:cs typeface="Yekan Bakh" pitchFamily="2" charset="-78"/>
              </a:rPr>
              <a:t>CAC</a:t>
            </a:r>
            <a:r>
              <a:rPr lang="fa-IR" sz="900" dirty="0">
                <a:solidFill>
                  <a:schemeClr val="tx1">
                    <a:lumMod val="65000"/>
                    <a:lumOff val="35000"/>
                  </a:schemeClr>
                </a:solidFill>
                <a:latin typeface="Yekan Bakh" pitchFamily="2" charset="-78"/>
                <a:ea typeface="Yekan Bakh" pitchFamily="2" charset="-78"/>
                <a:cs typeface="Yekan Bakh" pitchFamily="2" charset="-78"/>
              </a:rPr>
              <a:t>) یا نرخ تبدیل به تفکیک کانال موجود نیست. در زمان شروع عملیاتی، بر حسب شرایط و میزان دسترسی ها و اولویت‎ها، برآورد مالی ورود در هر کانال می بایستی انجام شود. </a:t>
            </a:r>
          </a:p>
        </p:txBody>
      </p:sp>
      <p:sp>
        <p:nvSpPr>
          <p:cNvPr id="26" name="Rectangle: Rounded Corners 25">
            <a:extLst>
              <a:ext uri="{FF2B5EF4-FFF2-40B4-BE49-F238E27FC236}">
                <a16:creationId xmlns:a16="http://schemas.microsoft.com/office/drawing/2014/main" id="{F96D3F38-4AB8-E493-1139-C96EC7611380}"/>
              </a:ext>
            </a:extLst>
          </p:cNvPr>
          <p:cNvSpPr/>
          <p:nvPr/>
        </p:nvSpPr>
        <p:spPr>
          <a:xfrm>
            <a:off x="7397496" y="3034341"/>
            <a:ext cx="3066844" cy="602156"/>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Low" rtl="1">
              <a:lnSpc>
                <a:spcPct val="150000"/>
              </a:lnSpc>
            </a:pPr>
            <a:r>
              <a:rPr lang="fa-IR" sz="900" dirty="0">
                <a:solidFill>
                  <a:schemeClr val="tx1">
                    <a:lumMod val="65000"/>
                    <a:lumOff val="35000"/>
                  </a:schemeClr>
                </a:solidFill>
                <a:latin typeface="Yekan Bakh" pitchFamily="2" charset="-78"/>
                <a:ea typeface="Yekan Bakh" pitchFamily="2" charset="-78"/>
                <a:cs typeface="Yekan Bakh" pitchFamily="2" charset="-78"/>
              </a:rPr>
              <a:t>ساختار حقوقی و انطباقی کارمزد معرف تدوین و اعتبارسنجی نشده است</a:t>
            </a:r>
          </a:p>
        </p:txBody>
      </p:sp>
      <p:sp>
        <p:nvSpPr>
          <p:cNvPr id="28" name="Rectangle: Rounded Corners 27">
            <a:extLst>
              <a:ext uri="{FF2B5EF4-FFF2-40B4-BE49-F238E27FC236}">
                <a16:creationId xmlns:a16="http://schemas.microsoft.com/office/drawing/2014/main" id="{84EDD9B4-26B5-C3FA-943E-2B07B796B0E8}"/>
              </a:ext>
            </a:extLst>
          </p:cNvPr>
          <p:cNvSpPr/>
          <p:nvPr/>
        </p:nvSpPr>
        <p:spPr>
          <a:xfrm>
            <a:off x="3259916" y="3973756"/>
            <a:ext cx="2285272" cy="1777820"/>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Low" rtl="1">
              <a:lnSpc>
                <a:spcPct val="150000"/>
              </a:lnSpc>
            </a:pPr>
            <a:r>
              <a:rPr lang="fa-IR" sz="900" dirty="0">
                <a:solidFill>
                  <a:schemeClr val="tx1">
                    <a:lumMod val="65000"/>
                    <a:lumOff val="35000"/>
                  </a:schemeClr>
                </a:solidFill>
                <a:latin typeface="Yekan Bakh" pitchFamily="2" charset="-78"/>
                <a:ea typeface="Yekan Bakh" pitchFamily="2" charset="-78"/>
                <a:cs typeface="Yekan Bakh" pitchFamily="2" charset="-78"/>
              </a:rPr>
              <a:t>وابستگی فاز اولیه  به کانال‌های</a:t>
            </a:r>
            <a:r>
              <a:rPr lang="en-US" sz="900" dirty="0">
                <a:solidFill>
                  <a:schemeClr val="tx1">
                    <a:lumMod val="65000"/>
                    <a:lumOff val="35000"/>
                  </a:schemeClr>
                </a:solidFill>
                <a:latin typeface="Yekan Bakh" pitchFamily="2" charset="-78"/>
                <a:ea typeface="Yekan Bakh" pitchFamily="2" charset="-78"/>
                <a:cs typeface="Yekan Bakh" pitchFamily="2" charset="-78"/>
              </a:rPr>
              <a:t>Being </a:t>
            </a:r>
            <a:r>
              <a:rPr lang="fa-IR" sz="900" dirty="0">
                <a:solidFill>
                  <a:schemeClr val="tx1">
                    <a:lumMod val="65000"/>
                    <a:lumOff val="35000"/>
                  </a:schemeClr>
                </a:solidFill>
                <a:latin typeface="Yekan Bakh" pitchFamily="2" charset="-78"/>
                <a:ea typeface="Yekan Bakh" pitchFamily="2" charset="-78"/>
                <a:cs typeface="Yekan Bakh" pitchFamily="2" charset="-78"/>
              </a:rPr>
              <a:t>(شبکه بنیان‌گذاران) در غیاب مسیر گذار مشخص به کانال‌های </a:t>
            </a:r>
            <a:r>
              <a:rPr lang="en-US" sz="900" dirty="0">
                <a:solidFill>
                  <a:schemeClr val="tx1">
                    <a:lumMod val="65000"/>
                    <a:lumOff val="35000"/>
                  </a:schemeClr>
                </a:solidFill>
                <a:latin typeface="Yekan Bakh" pitchFamily="2" charset="-78"/>
                <a:ea typeface="Yekan Bakh" pitchFamily="2" charset="-78"/>
                <a:cs typeface="Yekan Bakh" pitchFamily="2" charset="-78"/>
              </a:rPr>
              <a:t>Doing، </a:t>
            </a:r>
            <a:r>
              <a:rPr lang="fa-IR" sz="900" dirty="0">
                <a:solidFill>
                  <a:schemeClr val="tx1">
                    <a:lumMod val="65000"/>
                    <a:lumOff val="35000"/>
                  </a:schemeClr>
                </a:solidFill>
                <a:latin typeface="Yekan Bakh" pitchFamily="2" charset="-78"/>
                <a:ea typeface="Yekan Bakh" pitchFamily="2" charset="-78"/>
                <a:cs typeface="Yekan Bakh" pitchFamily="2" charset="-78"/>
              </a:rPr>
              <a:t>رشد را به ظرفیت افراد کلیدی محدود می‌کند. برنامه سیستماتیک برای مدیریت مشتریان الزامی است. </a:t>
            </a:r>
          </a:p>
        </p:txBody>
      </p:sp>
      <p:sp>
        <p:nvSpPr>
          <p:cNvPr id="29" name="Rectangle: Rounded Corners 28">
            <a:extLst>
              <a:ext uri="{FF2B5EF4-FFF2-40B4-BE49-F238E27FC236}">
                <a16:creationId xmlns:a16="http://schemas.microsoft.com/office/drawing/2014/main" id="{12FBBC0B-C4B2-290E-F170-A0DF87C2CF0E}"/>
              </a:ext>
            </a:extLst>
          </p:cNvPr>
          <p:cNvSpPr/>
          <p:nvPr/>
        </p:nvSpPr>
        <p:spPr>
          <a:xfrm>
            <a:off x="5719492" y="3973756"/>
            <a:ext cx="2285272" cy="1777820"/>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Low" rtl="1">
              <a:lnSpc>
                <a:spcPct val="150000"/>
              </a:lnSpc>
            </a:pPr>
            <a:r>
              <a:rPr lang="fa-IR" sz="900" dirty="0">
                <a:solidFill>
                  <a:schemeClr val="tx1">
                    <a:lumMod val="65000"/>
                    <a:lumOff val="35000"/>
                  </a:schemeClr>
                </a:solidFill>
                <a:latin typeface="Yekan Bakh" pitchFamily="2" charset="-78"/>
                <a:ea typeface="Yekan Bakh" pitchFamily="2" charset="-78"/>
                <a:cs typeface="Yekan Bakh" pitchFamily="2" charset="-78"/>
              </a:rPr>
              <a:t>اتکای بیش‌ازحد به الگوی دفاتر تجاری بین المللی بدون شراکت رسمی و انحصاری می تواند یک ریسک باشد— این صرفاً یک الگوی طراحی بنچمارک است، نه یک کانال آماده‌استفاده و باید این کانال نیز طراحی و ابعاد و مدل همکاری طراحی شود .</a:t>
            </a:r>
          </a:p>
        </p:txBody>
      </p:sp>
      <p:sp>
        <p:nvSpPr>
          <p:cNvPr id="30" name="Rectangle: Rounded Corners 29">
            <a:extLst>
              <a:ext uri="{FF2B5EF4-FFF2-40B4-BE49-F238E27FC236}">
                <a16:creationId xmlns:a16="http://schemas.microsoft.com/office/drawing/2014/main" id="{23CEDC42-BCC7-6693-E5EE-F0C7063E967E}"/>
              </a:ext>
            </a:extLst>
          </p:cNvPr>
          <p:cNvSpPr/>
          <p:nvPr/>
        </p:nvSpPr>
        <p:spPr>
          <a:xfrm>
            <a:off x="8179068" y="3973756"/>
            <a:ext cx="2285272" cy="1777820"/>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Low" rtl="1">
              <a:lnSpc>
                <a:spcPct val="150000"/>
              </a:lnSpc>
            </a:pPr>
            <a:r>
              <a:rPr lang="fa-IR" sz="900" dirty="0">
                <a:solidFill>
                  <a:schemeClr val="tx1">
                    <a:lumMod val="65000"/>
                    <a:lumOff val="35000"/>
                  </a:schemeClr>
                </a:solidFill>
                <a:latin typeface="Yekan Bakh" pitchFamily="2" charset="-78"/>
                <a:ea typeface="Yekan Bakh" pitchFamily="2" charset="-78"/>
                <a:cs typeface="Yekan Bakh" pitchFamily="2" charset="-78"/>
              </a:rPr>
              <a:t>دور زدن اکوسیستم فرصت ایران پس از معرفی توسط پرسونا ۱ — مستند در پروفایل مشتری؛ کانال های ارتباطی به‌تنهایی کافی نیست و باید قرارداد به مظنور جلوگیری از ازدس تدادن مشتری در هر یک از فازهای معرفی، طراحی شود </a:t>
            </a:r>
          </a:p>
        </p:txBody>
      </p:sp>
      <p:sp>
        <p:nvSpPr>
          <p:cNvPr id="35" name="Rectangle: Rounded Corners 34">
            <a:extLst>
              <a:ext uri="{FF2B5EF4-FFF2-40B4-BE49-F238E27FC236}">
                <a16:creationId xmlns:a16="http://schemas.microsoft.com/office/drawing/2014/main" id="{A6A6BE4C-ED59-5352-8D2C-9416B8CD8848}"/>
              </a:ext>
            </a:extLst>
          </p:cNvPr>
          <p:cNvSpPr/>
          <p:nvPr/>
        </p:nvSpPr>
        <p:spPr>
          <a:xfrm>
            <a:off x="800340" y="3973756"/>
            <a:ext cx="2285272" cy="1777820"/>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Low" rtl="1">
              <a:lnSpc>
                <a:spcPct val="150000"/>
              </a:lnSpc>
            </a:pPr>
            <a:r>
              <a:rPr lang="fa-IR" sz="900" dirty="0">
                <a:solidFill>
                  <a:schemeClr val="tx1">
                    <a:lumMod val="65000"/>
                    <a:lumOff val="35000"/>
                  </a:schemeClr>
                </a:solidFill>
                <a:latin typeface="Yekan Bakh" pitchFamily="2" charset="-78"/>
                <a:ea typeface="Yekan Bakh" pitchFamily="2" charset="-78"/>
                <a:cs typeface="Yekan Bakh" pitchFamily="2" charset="-78"/>
              </a:rPr>
              <a:t>تجربه ناپیوسته بین فازها (مثلاً محتوای انگلیسی رسمی در آگاهی‌سازی ولی جلسه غیررسمی/شخصی در ارزیابی) اعتماد نهادی پرسونا ۲ را می‌شکند — اصل امنی‌چنل </a:t>
            </a:r>
            <a:r>
              <a:rPr lang="en-US" sz="900" dirty="0">
                <a:solidFill>
                  <a:schemeClr val="tx1">
                    <a:lumMod val="65000"/>
                    <a:lumOff val="35000"/>
                  </a:schemeClr>
                </a:solidFill>
                <a:latin typeface="Yekan Bakh" pitchFamily="2" charset="-78"/>
                <a:ea typeface="Yekan Bakh" pitchFamily="2" charset="-78"/>
                <a:cs typeface="Yekan Bakh" pitchFamily="2" charset="-78"/>
              </a:rPr>
              <a:t>McKinsey</a:t>
            </a:r>
            <a:r>
              <a:rPr lang="fa-IR" sz="900" dirty="0">
                <a:solidFill>
                  <a:schemeClr val="tx1">
                    <a:lumMod val="65000"/>
                    <a:lumOff val="35000"/>
                  </a:schemeClr>
                </a:solidFill>
                <a:latin typeface="Yekan Bakh" pitchFamily="2" charset="-78"/>
                <a:ea typeface="Yekan Bakh" pitchFamily="2" charset="-78"/>
                <a:cs typeface="Yekan Bakh" pitchFamily="2" charset="-78"/>
              </a:rPr>
              <a:t>. تمامی اقدامات در مسیر دستیابی به مشتریان باید به صورت یکپارچه صورت گیری (حرفه‌ای بودن)</a:t>
            </a:r>
          </a:p>
        </p:txBody>
      </p:sp>
    </p:spTree>
    <p:extLst>
      <p:ext uri="{BB962C8B-B14F-4D97-AF65-F5344CB8AC3E}">
        <p14:creationId xmlns:p14="http://schemas.microsoft.com/office/powerpoint/2010/main" val="181880530"/>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F5A7616-BB7D-03B5-23B1-78239147C5F4}"/>
              </a:ext>
            </a:extLst>
          </p:cNvPr>
          <p:cNvSpPr>
            <a:spLocks noGrp="1"/>
          </p:cNvSpPr>
          <p:nvPr>
            <p:ph type="body" sz="quarter" idx="10"/>
          </p:nvPr>
        </p:nvSpPr>
        <p:spPr/>
        <p:txBody>
          <a:bodyPr/>
          <a:lstStyle/>
          <a:p>
            <a:r>
              <a:rPr lang="fa-IR" dirty="0"/>
              <a:t>جمع‌بندی نهایی</a:t>
            </a:r>
          </a:p>
        </p:txBody>
      </p:sp>
      <p:sp>
        <p:nvSpPr>
          <p:cNvPr id="3" name="Text Placeholder 2">
            <a:extLst>
              <a:ext uri="{FF2B5EF4-FFF2-40B4-BE49-F238E27FC236}">
                <a16:creationId xmlns:a16="http://schemas.microsoft.com/office/drawing/2014/main" id="{4FB186DA-B2F5-09D0-FBDE-B8C5C2007E7D}"/>
              </a:ext>
            </a:extLst>
          </p:cNvPr>
          <p:cNvSpPr>
            <a:spLocks noGrp="1"/>
          </p:cNvSpPr>
          <p:nvPr>
            <p:ph type="body" sz="quarter" idx="12"/>
          </p:nvPr>
        </p:nvSpPr>
        <p:spPr/>
        <p:txBody>
          <a:bodyPr/>
          <a:lstStyle/>
          <a:p>
            <a:r>
              <a:rPr lang="fa-IR" dirty="0"/>
              <a:t>سه کانال با بیشترین تاثیر بر کل اکوسیستم فرصت ایران</a:t>
            </a:r>
          </a:p>
        </p:txBody>
      </p:sp>
      <p:sp>
        <p:nvSpPr>
          <p:cNvPr id="5" name="TextBox 4">
            <a:extLst>
              <a:ext uri="{FF2B5EF4-FFF2-40B4-BE49-F238E27FC236}">
                <a16:creationId xmlns:a16="http://schemas.microsoft.com/office/drawing/2014/main" id="{553311AB-A298-3B8C-BC54-5B543D2EE06C}"/>
              </a:ext>
            </a:extLst>
          </p:cNvPr>
          <p:cNvSpPr txBox="1"/>
          <p:nvPr/>
        </p:nvSpPr>
        <p:spPr>
          <a:xfrm>
            <a:off x="457200" y="1143000"/>
            <a:ext cx="10786373" cy="322396"/>
          </a:xfrm>
          <a:prstGeom prst="rect">
            <a:avLst/>
          </a:prstGeom>
          <a:noFill/>
        </p:spPr>
        <p:txBody>
          <a:bodyPr wrap="square" anchor="t">
            <a:spAutoFit/>
          </a:bodyPr>
          <a:lstStyle/>
          <a:p>
            <a:pPr algn="r" rtl="1">
              <a:lnSpc>
                <a:spcPct val="115000"/>
              </a:lnSpc>
            </a:pPr>
            <a:r>
              <a:rPr sz="1300" b="0" dirty="0" err="1">
                <a:solidFill>
                  <a:srgbClr val="6B6B6B"/>
                </a:solidFill>
                <a:latin typeface="Yekan Bakh"/>
                <a:cs typeface="Yekan Bakh"/>
              </a:rPr>
              <a:t>نه</a:t>
            </a:r>
            <a:r>
              <a:rPr sz="1300" b="0" dirty="0">
                <a:solidFill>
                  <a:srgbClr val="6B6B6B"/>
                </a:solidFill>
                <a:latin typeface="Yekan Bakh"/>
                <a:cs typeface="Yekan Bakh"/>
              </a:rPr>
              <a:t> </a:t>
            </a:r>
            <a:r>
              <a:rPr sz="1300" b="0" dirty="0" err="1">
                <a:solidFill>
                  <a:srgbClr val="6B6B6B"/>
                </a:solidFill>
                <a:latin typeface="Yekan Bakh"/>
                <a:cs typeface="Yekan Bakh"/>
              </a:rPr>
              <a:t>به‌تفکیک</a:t>
            </a:r>
            <a:r>
              <a:rPr sz="1300" b="0" dirty="0">
                <a:solidFill>
                  <a:srgbClr val="6B6B6B"/>
                </a:solidFill>
                <a:latin typeface="Yekan Bakh"/>
                <a:cs typeface="Yekan Bakh"/>
              </a:rPr>
              <a:t> </a:t>
            </a:r>
            <a:r>
              <a:rPr sz="1300" b="0" dirty="0" err="1">
                <a:solidFill>
                  <a:srgbClr val="6B6B6B"/>
                </a:solidFill>
                <a:latin typeface="Yekan Bakh"/>
                <a:cs typeface="Yekan Bakh"/>
              </a:rPr>
              <a:t>پرسونا</a:t>
            </a:r>
            <a:r>
              <a:rPr sz="1300" b="0" dirty="0">
                <a:solidFill>
                  <a:srgbClr val="6B6B6B"/>
                </a:solidFill>
                <a:latin typeface="Yekan Bakh"/>
                <a:cs typeface="Yekan Bakh"/>
              </a:rPr>
              <a:t>، </a:t>
            </a:r>
            <a:r>
              <a:rPr sz="1300" b="0" dirty="0" err="1">
                <a:solidFill>
                  <a:srgbClr val="6B6B6B"/>
                </a:solidFill>
                <a:latin typeface="Yekan Bakh"/>
                <a:cs typeface="Yekan Bakh"/>
              </a:rPr>
              <a:t>بلکه</a:t>
            </a:r>
            <a:r>
              <a:rPr sz="1300" b="0" dirty="0">
                <a:solidFill>
                  <a:srgbClr val="6B6B6B"/>
                </a:solidFill>
                <a:latin typeface="Yekan Bakh"/>
                <a:cs typeface="Yekan Bakh"/>
              </a:rPr>
              <a:t> </a:t>
            </a:r>
            <a:r>
              <a:rPr sz="1300" b="0" dirty="0" err="1">
                <a:solidFill>
                  <a:srgbClr val="6B6B6B"/>
                </a:solidFill>
                <a:latin typeface="Yekan Bakh"/>
                <a:cs typeface="Yekan Bakh"/>
              </a:rPr>
              <a:t>در</a:t>
            </a:r>
            <a:r>
              <a:rPr sz="1300" b="0" dirty="0">
                <a:solidFill>
                  <a:srgbClr val="6B6B6B"/>
                </a:solidFill>
                <a:latin typeface="Yekan Bakh"/>
                <a:cs typeface="Yekan Bakh"/>
              </a:rPr>
              <a:t> </a:t>
            </a:r>
            <a:r>
              <a:rPr sz="1300" b="0" dirty="0" err="1">
                <a:solidFill>
                  <a:srgbClr val="6B6B6B"/>
                </a:solidFill>
                <a:latin typeface="Yekan Bakh"/>
                <a:cs typeface="Yekan Bakh"/>
              </a:rPr>
              <a:t>سطح</a:t>
            </a:r>
            <a:r>
              <a:rPr sz="1300" b="0" dirty="0">
                <a:solidFill>
                  <a:srgbClr val="6B6B6B"/>
                </a:solidFill>
                <a:latin typeface="Yekan Bakh"/>
                <a:cs typeface="Yekan Bakh"/>
              </a:rPr>
              <a:t> </a:t>
            </a:r>
            <a:r>
              <a:rPr sz="1300" b="0" dirty="0" err="1">
                <a:solidFill>
                  <a:srgbClr val="6B6B6B"/>
                </a:solidFill>
                <a:latin typeface="Yekan Bakh"/>
                <a:cs typeface="Yekan Bakh"/>
              </a:rPr>
              <a:t>کل</a:t>
            </a:r>
            <a:r>
              <a:rPr sz="1300" b="0" dirty="0">
                <a:solidFill>
                  <a:srgbClr val="6B6B6B"/>
                </a:solidFill>
                <a:latin typeface="Yekan Bakh"/>
                <a:cs typeface="Yekan Bakh"/>
              </a:rPr>
              <a:t> </a:t>
            </a:r>
            <a:r>
              <a:rPr sz="1300" b="0" dirty="0" err="1">
                <a:solidFill>
                  <a:srgbClr val="6B6B6B"/>
                </a:solidFill>
                <a:latin typeface="Yekan Bakh"/>
                <a:cs typeface="Yekan Bakh"/>
              </a:rPr>
              <a:t>کسب‌وکار</a:t>
            </a:r>
            <a:r>
              <a:rPr sz="1300" b="0" dirty="0">
                <a:solidFill>
                  <a:srgbClr val="6B6B6B"/>
                </a:solidFill>
                <a:latin typeface="Yekan Bakh"/>
                <a:cs typeface="Yekan Bakh"/>
              </a:rPr>
              <a:t> — </a:t>
            </a:r>
            <a:r>
              <a:rPr sz="1300" b="0" dirty="0" err="1">
                <a:solidFill>
                  <a:srgbClr val="6B6B6B"/>
                </a:solidFill>
                <a:latin typeface="Yekan Bakh"/>
                <a:cs typeface="Yekan Bakh"/>
              </a:rPr>
              <a:t>کانال‌هایی</a:t>
            </a:r>
            <a:r>
              <a:rPr sz="1300" b="0" dirty="0">
                <a:solidFill>
                  <a:srgbClr val="6B6B6B"/>
                </a:solidFill>
                <a:latin typeface="Yekan Bakh"/>
                <a:cs typeface="Yekan Bakh"/>
              </a:rPr>
              <a:t> </a:t>
            </a:r>
            <a:r>
              <a:rPr sz="1300" b="0" dirty="0" err="1">
                <a:solidFill>
                  <a:srgbClr val="6B6B6B"/>
                </a:solidFill>
                <a:latin typeface="Yekan Bakh"/>
                <a:cs typeface="Yekan Bakh"/>
              </a:rPr>
              <a:t>که</a:t>
            </a:r>
            <a:r>
              <a:rPr sz="1300" b="0" dirty="0">
                <a:solidFill>
                  <a:srgbClr val="6B6B6B"/>
                </a:solidFill>
                <a:latin typeface="Yekan Bakh"/>
                <a:cs typeface="Yekan Bakh"/>
              </a:rPr>
              <a:t> </a:t>
            </a:r>
            <a:r>
              <a:rPr sz="1300" b="0" dirty="0" err="1">
                <a:solidFill>
                  <a:srgbClr val="6B6B6B"/>
                </a:solidFill>
                <a:latin typeface="Yekan Bakh"/>
                <a:cs typeface="Yekan Bakh"/>
              </a:rPr>
              <a:t>ساختار</a:t>
            </a:r>
            <a:r>
              <a:rPr sz="1300" b="0" dirty="0">
                <a:solidFill>
                  <a:srgbClr val="6B6B6B"/>
                </a:solidFill>
                <a:latin typeface="Yekan Bakh"/>
                <a:cs typeface="Yekan Bakh"/>
              </a:rPr>
              <a:t> Being/Doing </a:t>
            </a:r>
            <a:r>
              <a:rPr lang="fa-IR" sz="1300" b="0" dirty="0">
                <a:solidFill>
                  <a:srgbClr val="6B6B6B"/>
                </a:solidFill>
                <a:latin typeface="Yekan Bakh"/>
                <a:cs typeface="Yekan Bakh"/>
              </a:rPr>
              <a:t> و</a:t>
            </a:r>
            <a:r>
              <a:rPr sz="1300" b="0" dirty="0">
                <a:solidFill>
                  <a:srgbClr val="6B6B6B"/>
                </a:solidFill>
                <a:latin typeface="Yekan Bakh"/>
                <a:cs typeface="Yekan Bakh"/>
              </a:rPr>
              <a:t> </a:t>
            </a:r>
            <a:r>
              <a:rPr sz="1300" b="0" dirty="0" err="1">
                <a:solidFill>
                  <a:srgbClr val="6B6B6B"/>
                </a:solidFill>
                <a:latin typeface="Yekan Bakh"/>
                <a:cs typeface="Yekan Bakh"/>
              </a:rPr>
              <a:t>اقتصاد</a:t>
            </a:r>
            <a:r>
              <a:rPr sz="1300" b="0" dirty="0">
                <a:solidFill>
                  <a:srgbClr val="6B6B6B"/>
                </a:solidFill>
                <a:latin typeface="Yekan Bakh"/>
                <a:cs typeface="Yekan Bakh"/>
              </a:rPr>
              <a:t> </a:t>
            </a:r>
            <a:r>
              <a:rPr sz="1300" b="0" dirty="0" err="1">
                <a:solidFill>
                  <a:srgbClr val="6B6B6B"/>
                </a:solidFill>
                <a:latin typeface="Yekan Bakh"/>
                <a:cs typeface="Yekan Bakh"/>
              </a:rPr>
              <a:t>کل</a:t>
            </a:r>
            <a:r>
              <a:rPr sz="1300" b="0" dirty="0">
                <a:solidFill>
                  <a:srgbClr val="6B6B6B"/>
                </a:solidFill>
                <a:latin typeface="Yekan Bakh"/>
                <a:cs typeface="Yekan Bakh"/>
              </a:rPr>
              <a:t> </a:t>
            </a:r>
            <a:r>
              <a:rPr sz="1300" b="0" dirty="0" err="1">
                <a:solidFill>
                  <a:srgbClr val="6B6B6B"/>
                </a:solidFill>
                <a:latin typeface="Yekan Bakh"/>
                <a:cs typeface="Yekan Bakh"/>
              </a:rPr>
              <a:t>مدل</a:t>
            </a:r>
            <a:r>
              <a:rPr sz="1300" b="0" dirty="0">
                <a:solidFill>
                  <a:srgbClr val="6B6B6B"/>
                </a:solidFill>
                <a:latin typeface="Yekan Bakh"/>
                <a:cs typeface="Yekan Bakh"/>
              </a:rPr>
              <a:t> </a:t>
            </a:r>
            <a:r>
              <a:rPr sz="1300" b="0" dirty="0" err="1">
                <a:solidFill>
                  <a:srgbClr val="6B6B6B"/>
                </a:solidFill>
                <a:latin typeface="Yekan Bakh"/>
                <a:cs typeface="Yekan Bakh"/>
              </a:rPr>
              <a:t>را</a:t>
            </a:r>
            <a:r>
              <a:rPr sz="1300" b="0" dirty="0">
                <a:solidFill>
                  <a:srgbClr val="6B6B6B"/>
                </a:solidFill>
                <a:latin typeface="Yekan Bakh"/>
                <a:cs typeface="Yekan Bakh"/>
              </a:rPr>
              <a:t> </a:t>
            </a:r>
            <a:r>
              <a:rPr sz="1300" b="0" dirty="0" err="1">
                <a:solidFill>
                  <a:srgbClr val="6B6B6B"/>
                </a:solidFill>
                <a:latin typeface="Yekan Bakh"/>
                <a:cs typeface="Yekan Bakh"/>
              </a:rPr>
              <a:t>تعیین</a:t>
            </a:r>
            <a:r>
              <a:rPr sz="1300" b="0" dirty="0">
                <a:solidFill>
                  <a:srgbClr val="6B6B6B"/>
                </a:solidFill>
                <a:latin typeface="Yekan Bakh"/>
                <a:cs typeface="Yekan Bakh"/>
              </a:rPr>
              <a:t> </a:t>
            </a:r>
            <a:r>
              <a:rPr sz="1300" b="0" dirty="0" err="1">
                <a:solidFill>
                  <a:srgbClr val="6B6B6B"/>
                </a:solidFill>
                <a:latin typeface="Yekan Bakh"/>
                <a:cs typeface="Yekan Bakh"/>
              </a:rPr>
              <a:t>می‌کنند</a:t>
            </a:r>
            <a:endParaRPr sz="1300" b="0" dirty="0">
              <a:solidFill>
                <a:srgbClr val="6B6B6B"/>
              </a:solidFill>
              <a:latin typeface="Yekan Bakh"/>
              <a:cs typeface="Yekan Bakh"/>
            </a:endParaRPr>
          </a:p>
        </p:txBody>
      </p:sp>
      <p:grpSp>
        <p:nvGrpSpPr>
          <p:cNvPr id="35" name="Group 34">
            <a:extLst>
              <a:ext uri="{FF2B5EF4-FFF2-40B4-BE49-F238E27FC236}">
                <a16:creationId xmlns:a16="http://schemas.microsoft.com/office/drawing/2014/main" id="{F3398AD3-26EB-9F87-BE02-66457A82C21A}"/>
              </a:ext>
            </a:extLst>
          </p:cNvPr>
          <p:cNvGrpSpPr/>
          <p:nvPr/>
        </p:nvGrpSpPr>
        <p:grpSpPr>
          <a:xfrm>
            <a:off x="457199" y="1863612"/>
            <a:ext cx="10752075" cy="3005701"/>
            <a:chOff x="457199" y="1664208"/>
            <a:chExt cx="10752075" cy="3005701"/>
          </a:xfrm>
        </p:grpSpPr>
        <p:sp>
          <p:nvSpPr>
            <p:cNvPr id="9" name="Rectangle 8">
              <a:extLst>
                <a:ext uri="{FF2B5EF4-FFF2-40B4-BE49-F238E27FC236}">
                  <a16:creationId xmlns:a16="http://schemas.microsoft.com/office/drawing/2014/main" id="{C755D58D-B644-ECC5-1E1C-BE08C79E311A}"/>
                </a:ext>
              </a:extLst>
            </p:cNvPr>
            <p:cNvSpPr/>
            <p:nvPr/>
          </p:nvSpPr>
          <p:spPr>
            <a:xfrm>
              <a:off x="11163554" y="1685440"/>
              <a:ext cx="45720" cy="896112"/>
            </a:xfrm>
            <a:prstGeom prst="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D73E6A64-D7E3-9178-55E3-9E11D350E1E6}"/>
                </a:ext>
              </a:extLst>
            </p:cNvPr>
            <p:cNvSpPr txBox="1"/>
            <p:nvPr/>
          </p:nvSpPr>
          <p:spPr>
            <a:xfrm>
              <a:off x="457199" y="1664208"/>
              <a:ext cx="10692852" cy="322396"/>
            </a:xfrm>
            <a:prstGeom prst="rect">
              <a:avLst/>
            </a:prstGeom>
            <a:noFill/>
          </p:spPr>
          <p:txBody>
            <a:bodyPr wrap="square" anchor="t">
              <a:spAutoFit/>
            </a:bodyPr>
            <a:lstStyle/>
            <a:p>
              <a:pPr algn="r" rtl="1">
                <a:lnSpc>
                  <a:spcPct val="115000"/>
                </a:lnSpc>
              </a:pPr>
              <a:r>
                <a:rPr sz="1300" b="1" dirty="0">
                  <a:solidFill>
                    <a:srgbClr val="1E2761"/>
                  </a:solidFill>
                  <a:latin typeface="Yekan Bakh"/>
                  <a:cs typeface="Yekan Bakh"/>
                </a:rPr>
                <a:t>۱</a:t>
              </a:r>
              <a:r>
                <a:rPr lang="fa-IR" sz="1300" b="1" dirty="0">
                  <a:solidFill>
                    <a:srgbClr val="1E2761"/>
                  </a:solidFill>
                  <a:latin typeface="Yekan Bakh"/>
                  <a:cs typeface="Yekan Bakh"/>
                </a:rPr>
                <a:t>.</a:t>
              </a:r>
              <a:r>
                <a:rPr sz="1300" b="1" dirty="0">
                  <a:solidFill>
                    <a:srgbClr val="1E2761"/>
                  </a:solidFill>
                  <a:latin typeface="Yekan Bakh"/>
                  <a:cs typeface="Yekan Bakh"/>
                </a:rPr>
                <a:t> </a:t>
              </a:r>
              <a:r>
                <a:rPr sz="1300" b="1" dirty="0" err="1">
                  <a:solidFill>
                    <a:srgbClr val="1E2761"/>
                  </a:solidFill>
                  <a:latin typeface="Yekan Bakh"/>
                  <a:cs typeface="Yekan Bakh"/>
                </a:rPr>
                <a:t>شبکه</a:t>
              </a:r>
              <a:r>
                <a:rPr sz="1300" b="1" dirty="0">
                  <a:solidFill>
                    <a:srgbClr val="1E2761"/>
                  </a:solidFill>
                  <a:latin typeface="Yekan Bakh"/>
                  <a:cs typeface="Yekan Bakh"/>
                </a:rPr>
                <a:t> </a:t>
              </a:r>
              <a:r>
                <a:rPr sz="1300" b="1" dirty="0" err="1">
                  <a:solidFill>
                    <a:srgbClr val="1E2761"/>
                  </a:solidFill>
                  <a:latin typeface="Yekan Bakh"/>
                  <a:cs typeface="Yekan Bakh"/>
                </a:rPr>
                <a:t>اعتماد</a:t>
              </a:r>
              <a:r>
                <a:rPr sz="1300" b="1" dirty="0">
                  <a:solidFill>
                    <a:srgbClr val="1E2761"/>
                  </a:solidFill>
                  <a:latin typeface="Yekan Bakh"/>
                  <a:cs typeface="Yekan Bakh"/>
                </a:rPr>
                <a:t> </a:t>
              </a:r>
              <a:r>
                <a:rPr sz="1300" b="1" dirty="0" err="1">
                  <a:solidFill>
                    <a:srgbClr val="1E2761"/>
                  </a:solidFill>
                  <a:latin typeface="Yekan Bakh"/>
                  <a:cs typeface="Yekan Bakh"/>
                </a:rPr>
                <a:t>بنیان‌گذاران</a:t>
              </a:r>
              <a:r>
                <a:rPr sz="1300" b="1" dirty="0">
                  <a:solidFill>
                    <a:srgbClr val="1E2761"/>
                  </a:solidFill>
                  <a:latin typeface="Yekan Bakh"/>
                  <a:cs typeface="Yekan Bakh"/>
                </a:rPr>
                <a:t> + </a:t>
              </a:r>
              <a:r>
                <a:rPr sz="1300" b="1" dirty="0" err="1">
                  <a:solidFill>
                    <a:srgbClr val="1E2761"/>
                  </a:solidFill>
                  <a:latin typeface="Yekan Bakh"/>
                  <a:cs typeface="Yekan Bakh"/>
                </a:rPr>
                <a:t>شرکای</a:t>
              </a:r>
              <a:r>
                <a:rPr sz="1300" b="1" dirty="0">
                  <a:solidFill>
                    <a:srgbClr val="1E2761"/>
                  </a:solidFill>
                  <a:latin typeface="Yekan Bakh"/>
                  <a:cs typeface="Yekan Bakh"/>
                </a:rPr>
                <a:t> </a:t>
              </a:r>
              <a:r>
                <a:rPr sz="1300" b="1" dirty="0" err="1">
                  <a:solidFill>
                    <a:srgbClr val="1E2761"/>
                  </a:solidFill>
                  <a:latin typeface="Yekan Bakh"/>
                  <a:cs typeface="Yekan Bakh"/>
                </a:rPr>
                <a:t>نهادی</a:t>
              </a:r>
              <a:r>
                <a:rPr sz="1300" b="1" dirty="0">
                  <a:solidFill>
                    <a:srgbClr val="1E2761"/>
                  </a:solidFill>
                  <a:latin typeface="Yekan Bakh"/>
                  <a:cs typeface="Yekan Bakh"/>
                </a:rPr>
                <a:t> </a:t>
              </a:r>
              <a:r>
                <a:rPr sz="1300" b="1" dirty="0" err="1">
                  <a:solidFill>
                    <a:srgbClr val="1E2761"/>
                  </a:solidFill>
                  <a:latin typeface="Yekan Bakh"/>
                  <a:cs typeface="Yekan Bakh"/>
                </a:rPr>
                <a:t>برند</a:t>
              </a:r>
              <a:endParaRPr sz="1300" b="1" dirty="0">
                <a:solidFill>
                  <a:srgbClr val="1E2761"/>
                </a:solidFill>
                <a:latin typeface="Yekan Bakh"/>
                <a:cs typeface="Yekan Bakh"/>
              </a:endParaRPr>
            </a:p>
          </p:txBody>
        </p:sp>
        <p:sp>
          <p:nvSpPr>
            <p:cNvPr id="13" name="TextBox 12">
              <a:extLst>
                <a:ext uri="{FF2B5EF4-FFF2-40B4-BE49-F238E27FC236}">
                  <a16:creationId xmlns:a16="http://schemas.microsoft.com/office/drawing/2014/main" id="{14243022-3A53-17E8-1120-586FC9C2B842}"/>
                </a:ext>
              </a:extLst>
            </p:cNvPr>
            <p:cNvSpPr txBox="1"/>
            <p:nvPr/>
          </p:nvSpPr>
          <p:spPr>
            <a:xfrm>
              <a:off x="457199" y="1975104"/>
              <a:ext cx="10692852" cy="437427"/>
            </a:xfrm>
            <a:prstGeom prst="rect">
              <a:avLst/>
            </a:prstGeom>
            <a:noFill/>
          </p:spPr>
          <p:txBody>
            <a:bodyPr wrap="square" anchor="t">
              <a:spAutoFit/>
            </a:bodyPr>
            <a:lstStyle/>
            <a:p>
              <a:pPr algn="justLow" rtl="1">
                <a:lnSpc>
                  <a:spcPct val="110000"/>
                </a:lnSpc>
              </a:pPr>
              <a:r>
                <a:rPr sz="1019" b="0" dirty="0" err="1">
                  <a:solidFill>
                    <a:srgbClr val="222222"/>
                  </a:solidFill>
                  <a:latin typeface="Yekan Bakh"/>
                  <a:cs typeface="Yekan Bakh"/>
                </a:rPr>
                <a:t>در</a:t>
              </a:r>
              <a:r>
                <a:rPr sz="1019" b="0" dirty="0">
                  <a:solidFill>
                    <a:srgbClr val="222222"/>
                  </a:solidFill>
                  <a:latin typeface="Yekan Bakh"/>
                  <a:cs typeface="Yekan Bakh"/>
                </a:rPr>
                <a:t> </a:t>
              </a:r>
              <a:r>
                <a:rPr sz="1019" b="0" dirty="0" err="1">
                  <a:solidFill>
                    <a:srgbClr val="222222"/>
                  </a:solidFill>
                  <a:latin typeface="Yekan Bakh"/>
                  <a:cs typeface="Yekan Bakh"/>
                </a:rPr>
                <a:t>غیاب</a:t>
              </a:r>
              <a:r>
                <a:rPr sz="1019" b="0" dirty="0">
                  <a:solidFill>
                    <a:srgbClr val="222222"/>
                  </a:solidFill>
                  <a:latin typeface="Yekan Bakh"/>
                  <a:cs typeface="Yekan Bakh"/>
                </a:rPr>
                <a:t> </a:t>
              </a:r>
              <a:r>
                <a:rPr sz="1019" b="0" dirty="0" err="1">
                  <a:solidFill>
                    <a:srgbClr val="222222"/>
                  </a:solidFill>
                  <a:latin typeface="Yekan Bakh"/>
                  <a:cs typeface="Yekan Bakh"/>
                </a:rPr>
                <a:t>یک</a:t>
              </a:r>
              <a:r>
                <a:rPr sz="1019" b="0" dirty="0">
                  <a:solidFill>
                    <a:srgbClr val="222222"/>
                  </a:solidFill>
                  <a:latin typeface="Yekan Bakh"/>
                  <a:cs typeface="Yekan Bakh"/>
                </a:rPr>
                <a:t> </a:t>
              </a:r>
              <a:r>
                <a:rPr sz="1019" b="0" dirty="0" err="1">
                  <a:solidFill>
                    <a:srgbClr val="222222"/>
                  </a:solidFill>
                  <a:latin typeface="Yekan Bakh"/>
                  <a:cs typeface="Yekan Bakh"/>
                </a:rPr>
                <a:t>برند</a:t>
              </a:r>
              <a:r>
                <a:rPr sz="1019" b="0" dirty="0">
                  <a:solidFill>
                    <a:srgbClr val="222222"/>
                  </a:solidFill>
                  <a:latin typeface="Yekan Bakh"/>
                  <a:cs typeface="Yekan Bakh"/>
                </a:rPr>
                <a:t> </a:t>
              </a:r>
              <a:r>
                <a:rPr sz="1019" b="0" dirty="0" err="1">
                  <a:solidFill>
                    <a:srgbClr val="222222"/>
                  </a:solidFill>
                  <a:latin typeface="Yekan Bakh"/>
                  <a:cs typeface="Yekan Bakh"/>
                </a:rPr>
                <a:t>شناخته‌شده</a:t>
              </a:r>
              <a:r>
                <a:rPr sz="1019" b="0" dirty="0">
                  <a:solidFill>
                    <a:srgbClr val="222222"/>
                  </a:solidFill>
                  <a:latin typeface="Yekan Bakh"/>
                  <a:cs typeface="Yekan Bakh"/>
                </a:rPr>
                <a:t> </a:t>
              </a:r>
              <a:r>
                <a:rPr sz="1019" b="0" dirty="0" err="1">
                  <a:solidFill>
                    <a:srgbClr val="222222"/>
                  </a:solidFill>
                  <a:latin typeface="Yekan Bakh"/>
                  <a:cs typeface="Yekan Bakh"/>
                </a:rPr>
                <a:t>بازار</a:t>
              </a:r>
              <a:r>
                <a:rPr sz="1019" b="0" dirty="0">
                  <a:solidFill>
                    <a:srgbClr val="222222"/>
                  </a:solidFill>
                  <a:latin typeface="Yekan Bakh"/>
                  <a:cs typeface="Yekan Bakh"/>
                </a:rPr>
                <a:t>، </a:t>
              </a:r>
              <a:r>
                <a:rPr sz="1019" b="0" dirty="0" err="1">
                  <a:solidFill>
                    <a:srgbClr val="222222"/>
                  </a:solidFill>
                  <a:latin typeface="Yekan Bakh"/>
                  <a:cs typeface="Yekan Bakh"/>
                </a:rPr>
                <a:t>این</a:t>
              </a:r>
              <a:r>
                <a:rPr sz="1019" b="0" dirty="0">
                  <a:solidFill>
                    <a:srgbClr val="222222"/>
                  </a:solidFill>
                  <a:latin typeface="Yekan Bakh"/>
                  <a:cs typeface="Yekan Bakh"/>
                </a:rPr>
                <a:t> </a:t>
              </a:r>
              <a:r>
                <a:rPr sz="1019" b="0" dirty="0" err="1">
                  <a:solidFill>
                    <a:srgbClr val="222222"/>
                  </a:solidFill>
                  <a:latin typeface="Yekan Bakh"/>
                  <a:cs typeface="Yekan Bakh"/>
                </a:rPr>
                <a:t>شبکه</a:t>
              </a:r>
              <a:r>
                <a:rPr sz="1019" b="0" dirty="0">
                  <a:solidFill>
                    <a:srgbClr val="222222"/>
                  </a:solidFill>
                  <a:latin typeface="Yekan Bakh"/>
                  <a:cs typeface="Yekan Bakh"/>
                </a:rPr>
                <a:t> </a:t>
              </a:r>
              <a:r>
                <a:rPr sz="1019" b="0" dirty="0" err="1">
                  <a:solidFill>
                    <a:srgbClr val="222222"/>
                  </a:solidFill>
                  <a:latin typeface="Yekan Bakh"/>
                  <a:cs typeface="Yekan Bakh"/>
                </a:rPr>
                <a:t>تنها</a:t>
              </a:r>
              <a:r>
                <a:rPr sz="1019" b="0" dirty="0">
                  <a:solidFill>
                    <a:srgbClr val="222222"/>
                  </a:solidFill>
                  <a:latin typeface="Yekan Bakh"/>
                  <a:cs typeface="Yekan Bakh"/>
                </a:rPr>
                <a:t> </a:t>
              </a:r>
              <a:r>
                <a:rPr sz="1019" b="0" dirty="0" err="1">
                  <a:solidFill>
                    <a:srgbClr val="222222"/>
                  </a:solidFill>
                  <a:latin typeface="Yekan Bakh"/>
                  <a:cs typeface="Yekan Bakh"/>
                </a:rPr>
                <a:t>مکانیزم</a:t>
              </a:r>
              <a:r>
                <a:rPr sz="1019" b="0" dirty="0">
                  <a:solidFill>
                    <a:srgbClr val="222222"/>
                  </a:solidFill>
                  <a:latin typeface="Yekan Bakh"/>
                  <a:cs typeface="Yekan Bakh"/>
                </a:rPr>
                <a:t> </a:t>
              </a:r>
              <a:r>
                <a:rPr sz="1019" b="0" dirty="0" err="1">
                  <a:solidFill>
                    <a:srgbClr val="222222"/>
                  </a:solidFill>
                  <a:latin typeface="Yekan Bakh"/>
                  <a:cs typeface="Yekan Bakh"/>
                </a:rPr>
                <a:t>موجود</a:t>
              </a:r>
              <a:r>
                <a:rPr sz="1019" b="0" dirty="0">
                  <a:solidFill>
                    <a:srgbClr val="222222"/>
                  </a:solidFill>
                  <a:latin typeface="Yekan Bakh"/>
                  <a:cs typeface="Yekan Bakh"/>
                </a:rPr>
                <a:t> </a:t>
              </a:r>
              <a:r>
                <a:rPr sz="1019" b="0" dirty="0" err="1">
                  <a:solidFill>
                    <a:srgbClr val="222222"/>
                  </a:solidFill>
                  <a:latin typeface="Yekan Bakh"/>
                  <a:cs typeface="Yekan Bakh"/>
                </a:rPr>
                <a:t>برای</a:t>
              </a:r>
              <a:r>
                <a:rPr sz="1019" b="0" dirty="0">
                  <a:solidFill>
                    <a:srgbClr val="222222"/>
                  </a:solidFill>
                  <a:latin typeface="Yekan Bakh"/>
                  <a:cs typeface="Yekan Bakh"/>
                </a:rPr>
                <a:t> </a:t>
              </a:r>
              <a:r>
                <a:rPr sz="1019" b="0" dirty="0" err="1">
                  <a:solidFill>
                    <a:srgbClr val="222222"/>
                  </a:solidFill>
                  <a:latin typeface="Yekan Bakh"/>
                  <a:cs typeface="Yekan Bakh"/>
                </a:rPr>
                <a:t>عبور</a:t>
              </a:r>
              <a:r>
                <a:rPr sz="1019" b="0" dirty="0">
                  <a:solidFill>
                    <a:srgbClr val="222222"/>
                  </a:solidFill>
                  <a:latin typeface="Yekan Bakh"/>
                  <a:cs typeface="Yekan Bakh"/>
                </a:rPr>
                <a:t> </a:t>
              </a:r>
              <a:r>
                <a:rPr sz="1019" b="0" dirty="0" err="1">
                  <a:solidFill>
                    <a:srgbClr val="222222"/>
                  </a:solidFill>
                  <a:latin typeface="Yekan Bakh"/>
                  <a:cs typeface="Yekan Bakh"/>
                </a:rPr>
                <a:t>سریع</a:t>
              </a:r>
              <a:r>
                <a:rPr sz="1019" b="0" dirty="0">
                  <a:solidFill>
                    <a:srgbClr val="222222"/>
                  </a:solidFill>
                  <a:latin typeface="Yekan Bakh"/>
                  <a:cs typeface="Yekan Bakh"/>
                </a:rPr>
                <a:t> </a:t>
              </a:r>
              <a:r>
                <a:rPr sz="1019" b="0" dirty="0" err="1">
                  <a:solidFill>
                    <a:srgbClr val="222222"/>
                  </a:solidFill>
                  <a:latin typeface="Yekan Bakh"/>
                  <a:cs typeface="Yekan Bakh"/>
                </a:rPr>
                <a:t>از</a:t>
              </a:r>
              <a:r>
                <a:rPr sz="1019" b="0" dirty="0">
                  <a:solidFill>
                    <a:srgbClr val="222222"/>
                  </a:solidFill>
                  <a:latin typeface="Yekan Bakh"/>
                  <a:cs typeface="Yekan Bakh"/>
                </a:rPr>
                <a:t> </a:t>
              </a:r>
              <a:r>
                <a:rPr lang="fa-IR" sz="1019" b="0" dirty="0">
                  <a:solidFill>
                    <a:srgbClr val="222222"/>
                  </a:solidFill>
                  <a:latin typeface="Yekan Bakh"/>
                  <a:cs typeface="Yekan Bakh"/>
                </a:rPr>
                <a:t>«</a:t>
              </a:r>
              <a:r>
                <a:rPr sz="1019" b="0" dirty="0" err="1">
                  <a:solidFill>
                    <a:srgbClr val="222222"/>
                  </a:solidFill>
                  <a:latin typeface="Yekan Bakh"/>
                  <a:cs typeface="Yekan Bakh"/>
                </a:rPr>
                <a:t>شکاف</a:t>
              </a:r>
              <a:r>
                <a:rPr sz="1019" b="0" dirty="0">
                  <a:solidFill>
                    <a:srgbClr val="222222"/>
                  </a:solidFill>
                  <a:latin typeface="Yekan Bakh"/>
                  <a:cs typeface="Yekan Bakh"/>
                </a:rPr>
                <a:t> </a:t>
              </a:r>
              <a:r>
                <a:rPr sz="1019" b="0" dirty="0" err="1">
                  <a:solidFill>
                    <a:srgbClr val="222222"/>
                  </a:solidFill>
                  <a:latin typeface="Yekan Bakh"/>
                  <a:cs typeface="Yekan Bakh"/>
                </a:rPr>
                <a:t>اعتماد</a:t>
              </a:r>
              <a:r>
                <a:rPr lang="fa-IR" sz="1019" b="0" dirty="0">
                  <a:solidFill>
                    <a:srgbClr val="222222"/>
                  </a:solidFill>
                  <a:latin typeface="Yekan Bakh"/>
                  <a:cs typeface="Yekan Bakh"/>
                </a:rPr>
                <a:t>»</a:t>
              </a:r>
              <a:r>
                <a:rPr sz="1019" b="0" dirty="0">
                  <a:solidFill>
                    <a:srgbClr val="222222"/>
                  </a:solidFill>
                  <a:latin typeface="Yekan Bakh"/>
                  <a:cs typeface="Yekan Bakh"/>
                </a:rPr>
                <a:t> </a:t>
              </a:r>
              <a:r>
                <a:rPr sz="1019" b="0" dirty="0" err="1">
                  <a:solidFill>
                    <a:srgbClr val="222222"/>
                  </a:solidFill>
                  <a:latin typeface="Yekan Bakh"/>
                  <a:cs typeface="Yekan Bakh"/>
                </a:rPr>
                <a:t>است</a:t>
              </a:r>
              <a:r>
                <a:rPr sz="1019" b="0" dirty="0">
                  <a:solidFill>
                    <a:srgbClr val="222222"/>
                  </a:solidFill>
                  <a:latin typeface="Yekan Bakh"/>
                  <a:cs typeface="Yekan Bakh"/>
                </a:rPr>
                <a:t>؛ </a:t>
              </a:r>
              <a:r>
                <a:rPr sz="1019" b="0" dirty="0" err="1">
                  <a:solidFill>
                    <a:srgbClr val="222222"/>
                  </a:solidFill>
                  <a:latin typeface="Yekan Bakh"/>
                  <a:cs typeface="Yekan Bakh"/>
                </a:rPr>
                <a:t>برای</a:t>
              </a:r>
              <a:r>
                <a:rPr sz="1019" b="0" dirty="0">
                  <a:solidFill>
                    <a:srgbClr val="222222"/>
                  </a:solidFill>
                  <a:latin typeface="Yekan Bakh"/>
                  <a:cs typeface="Yekan Bakh"/>
                </a:rPr>
                <a:t> </a:t>
              </a:r>
              <a:r>
                <a:rPr sz="1019" b="0" dirty="0" err="1">
                  <a:solidFill>
                    <a:srgbClr val="222222"/>
                  </a:solidFill>
                  <a:latin typeface="Yekan Bakh"/>
                  <a:cs typeface="Yekan Bakh"/>
                </a:rPr>
                <a:t>پرسونا</a:t>
              </a:r>
              <a:r>
                <a:rPr sz="1019" b="0" dirty="0">
                  <a:solidFill>
                    <a:srgbClr val="222222"/>
                  </a:solidFill>
                  <a:latin typeface="Yekan Bakh"/>
                  <a:cs typeface="Yekan Bakh"/>
                </a:rPr>
                <a:t> ۱ و ۵ </a:t>
              </a:r>
              <a:r>
                <a:rPr sz="1019" b="0" dirty="0" err="1">
                  <a:solidFill>
                    <a:srgbClr val="222222"/>
                  </a:solidFill>
                  <a:latin typeface="Yekan Bakh"/>
                  <a:cs typeface="Yekan Bakh"/>
                </a:rPr>
                <a:t>کانال</a:t>
              </a:r>
              <a:r>
                <a:rPr sz="1019" b="0" dirty="0">
                  <a:solidFill>
                    <a:srgbClr val="222222"/>
                  </a:solidFill>
                  <a:latin typeface="Yekan Bakh"/>
                  <a:cs typeface="Yekan Bakh"/>
                </a:rPr>
                <a:t> </a:t>
              </a:r>
              <a:r>
                <a:rPr sz="1019" b="0" dirty="0" err="1">
                  <a:solidFill>
                    <a:srgbClr val="222222"/>
                  </a:solidFill>
                  <a:latin typeface="Yekan Bakh"/>
                  <a:cs typeface="Yekan Bakh"/>
                </a:rPr>
                <a:t>اصلی</a:t>
              </a:r>
              <a:r>
                <a:rPr sz="1019" b="0" dirty="0">
                  <a:solidFill>
                    <a:srgbClr val="222222"/>
                  </a:solidFill>
                  <a:latin typeface="Yekan Bakh"/>
                  <a:cs typeface="Yekan Bakh"/>
                </a:rPr>
                <a:t> </a:t>
              </a:r>
              <a:r>
                <a:rPr sz="1019" b="0" dirty="0" err="1">
                  <a:solidFill>
                    <a:srgbClr val="222222"/>
                  </a:solidFill>
                  <a:latin typeface="Yekan Bakh"/>
                  <a:cs typeface="Yekan Bakh"/>
                </a:rPr>
                <a:t>آگاهی</a:t>
              </a:r>
              <a:r>
                <a:rPr sz="1019" b="0" dirty="0">
                  <a:solidFill>
                    <a:srgbClr val="222222"/>
                  </a:solidFill>
                  <a:latin typeface="Yekan Bakh"/>
                  <a:cs typeface="Yekan Bakh"/>
                </a:rPr>
                <a:t> و </a:t>
              </a:r>
              <a:r>
                <a:rPr sz="1019" b="0" dirty="0" err="1">
                  <a:solidFill>
                    <a:srgbClr val="222222"/>
                  </a:solidFill>
                  <a:latin typeface="Yekan Bakh"/>
                  <a:cs typeface="Yekan Bakh"/>
                </a:rPr>
                <a:t>ارزیابی</a:t>
              </a:r>
              <a:r>
                <a:rPr sz="1019" b="0" dirty="0">
                  <a:solidFill>
                    <a:srgbClr val="222222"/>
                  </a:solidFill>
                  <a:latin typeface="Yekan Bakh"/>
                  <a:cs typeface="Yekan Bakh"/>
                </a:rPr>
                <a:t>، و </a:t>
              </a:r>
              <a:r>
                <a:rPr sz="1019" b="0" dirty="0" err="1">
                  <a:solidFill>
                    <a:srgbClr val="222222"/>
                  </a:solidFill>
                  <a:latin typeface="Yekan Bakh"/>
                  <a:cs typeface="Yekan Bakh"/>
                </a:rPr>
                <a:t>برای</a:t>
              </a:r>
              <a:r>
                <a:rPr sz="1019" b="0" dirty="0">
                  <a:solidFill>
                    <a:srgbClr val="222222"/>
                  </a:solidFill>
                  <a:latin typeface="Yekan Bakh"/>
                  <a:cs typeface="Yekan Bakh"/>
                </a:rPr>
                <a:t> </a:t>
              </a:r>
              <a:r>
                <a:rPr sz="1019" b="0" dirty="0" err="1">
                  <a:solidFill>
                    <a:srgbClr val="222222"/>
                  </a:solidFill>
                  <a:latin typeface="Yekan Bakh"/>
                  <a:cs typeface="Yekan Bakh"/>
                </a:rPr>
                <a:t>همه</a:t>
              </a:r>
              <a:r>
                <a:rPr sz="1019" b="0" dirty="0">
                  <a:solidFill>
                    <a:srgbClr val="222222"/>
                  </a:solidFill>
                  <a:latin typeface="Yekan Bakh"/>
                  <a:cs typeface="Yekan Bakh"/>
                </a:rPr>
                <a:t> </a:t>
              </a:r>
              <a:r>
                <a:rPr sz="1019" b="0" dirty="0" err="1">
                  <a:solidFill>
                    <a:srgbClr val="222222"/>
                  </a:solidFill>
                  <a:latin typeface="Yekan Bakh"/>
                  <a:cs typeface="Yekan Bakh"/>
                </a:rPr>
                <a:t>پرسوناهای</a:t>
              </a:r>
              <a:r>
                <a:rPr sz="1019" b="0" dirty="0">
                  <a:solidFill>
                    <a:srgbClr val="222222"/>
                  </a:solidFill>
                  <a:latin typeface="Yekan Bakh"/>
                  <a:cs typeface="Yekan Bakh"/>
                </a:rPr>
                <a:t> </a:t>
              </a:r>
              <a:r>
                <a:rPr sz="1019" b="0" dirty="0" err="1">
                  <a:solidFill>
                    <a:srgbClr val="222222"/>
                  </a:solidFill>
                  <a:latin typeface="Yekan Bakh"/>
                  <a:cs typeface="Yekan Bakh"/>
                </a:rPr>
                <a:t>دیگر</a:t>
              </a:r>
              <a:r>
                <a:rPr sz="1019" b="0" dirty="0">
                  <a:solidFill>
                    <a:srgbClr val="222222"/>
                  </a:solidFill>
                  <a:latin typeface="Yekan Bakh"/>
                  <a:cs typeface="Yekan Bakh"/>
                </a:rPr>
                <a:t> </a:t>
              </a:r>
              <a:r>
                <a:rPr sz="1019" b="0" dirty="0" err="1">
                  <a:solidFill>
                    <a:srgbClr val="222222"/>
                  </a:solidFill>
                  <a:latin typeface="Yekan Bakh"/>
                  <a:cs typeface="Yekan Bakh"/>
                </a:rPr>
                <a:t>لنگر</a:t>
              </a:r>
              <a:r>
                <a:rPr sz="1019" b="0" dirty="0">
                  <a:solidFill>
                    <a:srgbClr val="222222"/>
                  </a:solidFill>
                  <a:latin typeface="Yekan Bakh"/>
                  <a:cs typeface="Yekan Bakh"/>
                </a:rPr>
                <a:t> </a:t>
              </a:r>
              <a:r>
                <a:rPr sz="1019" b="0" dirty="0" err="1">
                  <a:solidFill>
                    <a:srgbClr val="222222"/>
                  </a:solidFill>
                  <a:latin typeface="Yekan Bakh"/>
                  <a:cs typeface="Yekan Bakh"/>
                </a:rPr>
                <a:t>اعتباری</a:t>
              </a:r>
              <a:r>
                <a:rPr sz="1019" b="0" dirty="0">
                  <a:solidFill>
                    <a:srgbClr val="222222"/>
                  </a:solidFill>
                  <a:latin typeface="Yekan Bakh"/>
                  <a:cs typeface="Yekan Bakh"/>
                </a:rPr>
                <a:t> </a:t>
              </a:r>
              <a:r>
                <a:rPr sz="1019" b="0" dirty="0" err="1">
                  <a:solidFill>
                    <a:srgbClr val="222222"/>
                  </a:solidFill>
                  <a:latin typeface="Yekan Bakh"/>
                  <a:cs typeface="Yekan Bakh"/>
                </a:rPr>
                <a:t>پشت</a:t>
              </a:r>
              <a:r>
                <a:rPr sz="1019" b="0" dirty="0">
                  <a:solidFill>
                    <a:srgbClr val="222222"/>
                  </a:solidFill>
                  <a:latin typeface="Yekan Bakh"/>
                  <a:cs typeface="Yekan Bakh"/>
                </a:rPr>
                <a:t> </a:t>
              </a:r>
              <a:r>
                <a:rPr sz="1019" b="0" dirty="0" err="1">
                  <a:solidFill>
                    <a:srgbClr val="222222"/>
                  </a:solidFill>
                  <a:latin typeface="Yekan Bakh"/>
                  <a:cs typeface="Yekan Bakh"/>
                </a:rPr>
                <a:t>هر</a:t>
              </a:r>
              <a:r>
                <a:rPr sz="1019" b="0" dirty="0">
                  <a:solidFill>
                    <a:srgbClr val="222222"/>
                  </a:solidFill>
                  <a:latin typeface="Yekan Bakh"/>
                  <a:cs typeface="Yekan Bakh"/>
                </a:rPr>
                <a:t> </a:t>
              </a:r>
              <a:r>
                <a:rPr sz="1019" b="0" dirty="0" err="1">
                  <a:solidFill>
                    <a:srgbClr val="222222"/>
                  </a:solidFill>
                  <a:latin typeface="Yekan Bakh"/>
                  <a:cs typeface="Yekan Bakh"/>
                </a:rPr>
                <a:t>کانال</a:t>
              </a:r>
              <a:r>
                <a:rPr sz="1019" b="0" dirty="0">
                  <a:solidFill>
                    <a:srgbClr val="222222"/>
                  </a:solidFill>
                  <a:latin typeface="Yekan Bakh"/>
                  <a:cs typeface="Yekan Bakh"/>
                </a:rPr>
                <a:t> </a:t>
              </a:r>
              <a:r>
                <a:rPr sz="1019" b="0" dirty="0" err="1">
                  <a:solidFill>
                    <a:srgbClr val="222222"/>
                  </a:solidFill>
                  <a:latin typeface="Yekan Bakh"/>
                  <a:cs typeface="Yekan Bakh"/>
                </a:rPr>
                <a:t>دیگر</a:t>
              </a:r>
              <a:r>
                <a:rPr lang="fa-IR" sz="1019" b="0" dirty="0">
                  <a:solidFill>
                    <a:srgbClr val="222222"/>
                  </a:solidFill>
                  <a:latin typeface="Yekan Bakh"/>
                  <a:cs typeface="Yekan Bakh"/>
                </a:rPr>
                <a:t>.</a:t>
              </a:r>
              <a:r>
                <a:rPr sz="1019" b="0" dirty="0">
                  <a:solidFill>
                    <a:srgbClr val="222222"/>
                  </a:solidFill>
                  <a:latin typeface="Yekan Bakh"/>
                  <a:cs typeface="Yekan Bakh"/>
                </a:rPr>
                <a:t> </a:t>
              </a:r>
              <a:r>
                <a:rPr sz="1019" b="0" dirty="0" err="1">
                  <a:solidFill>
                    <a:srgbClr val="222222"/>
                  </a:solidFill>
                  <a:latin typeface="Yekan Bakh"/>
                  <a:cs typeface="Yekan Bakh"/>
                </a:rPr>
                <a:t>ریسک</a:t>
              </a:r>
              <a:r>
                <a:rPr sz="1019" b="0" dirty="0">
                  <a:solidFill>
                    <a:srgbClr val="222222"/>
                  </a:solidFill>
                  <a:latin typeface="Yekan Bakh"/>
                  <a:cs typeface="Yekan Bakh"/>
                </a:rPr>
                <a:t>: </a:t>
              </a:r>
              <a:r>
                <a:rPr sz="1019" b="0" dirty="0" err="1">
                  <a:solidFill>
                    <a:srgbClr val="222222"/>
                  </a:solidFill>
                  <a:latin typeface="Yekan Bakh"/>
                  <a:cs typeface="Yekan Bakh"/>
                </a:rPr>
                <a:t>کاملاً</a:t>
              </a:r>
              <a:r>
                <a:rPr sz="1019" b="0" dirty="0">
                  <a:solidFill>
                    <a:srgbClr val="222222"/>
                  </a:solidFill>
                  <a:latin typeface="Yekan Bakh"/>
                  <a:cs typeface="Yekan Bakh"/>
                </a:rPr>
                <a:t> Bein</a:t>
              </a:r>
              <a:r>
                <a:rPr lang="en-US" sz="1019" b="0" dirty="0">
                  <a:solidFill>
                    <a:srgbClr val="222222"/>
                  </a:solidFill>
                  <a:latin typeface="Yekan Bakh"/>
                  <a:cs typeface="Yekan Bakh"/>
                </a:rPr>
                <a:t>g </a:t>
              </a:r>
              <a:r>
                <a:rPr lang="fa-IR" sz="1019" b="0" dirty="0">
                  <a:solidFill>
                    <a:srgbClr val="222222"/>
                  </a:solidFill>
                  <a:latin typeface="Yekan Bakh"/>
                  <a:cs typeface="Yekan Bakh"/>
                </a:rPr>
                <a:t> و</a:t>
              </a:r>
              <a:r>
                <a:rPr sz="1019" b="0" dirty="0">
                  <a:solidFill>
                    <a:srgbClr val="222222"/>
                  </a:solidFill>
                  <a:latin typeface="Yekan Bakh"/>
                  <a:cs typeface="Yekan Bakh"/>
                </a:rPr>
                <a:t> </a:t>
              </a:r>
              <a:r>
                <a:rPr sz="1019" b="0" dirty="0" err="1">
                  <a:solidFill>
                    <a:srgbClr val="222222"/>
                  </a:solidFill>
                  <a:latin typeface="Yekan Bakh"/>
                  <a:cs typeface="Yekan Bakh"/>
                </a:rPr>
                <a:t>غیرمقیاس‌پذیر</a:t>
              </a:r>
              <a:r>
                <a:rPr sz="1019" b="0" dirty="0">
                  <a:solidFill>
                    <a:srgbClr val="222222"/>
                  </a:solidFill>
                  <a:latin typeface="Yekan Bakh"/>
                  <a:cs typeface="Yekan Bakh"/>
                </a:rPr>
                <a:t> </a:t>
              </a:r>
              <a:r>
                <a:rPr lang="fa-IR" sz="1019" dirty="0">
                  <a:solidFill>
                    <a:srgbClr val="222222"/>
                  </a:solidFill>
                  <a:latin typeface="Yekan Bakh"/>
                  <a:cs typeface="Yekan Bakh"/>
                </a:rPr>
                <a:t>و</a:t>
              </a:r>
              <a:r>
                <a:rPr sz="1019" b="0" dirty="0">
                  <a:solidFill>
                    <a:srgbClr val="222222"/>
                  </a:solidFill>
                  <a:latin typeface="Yekan Bakh"/>
                  <a:cs typeface="Yekan Bakh"/>
                </a:rPr>
                <a:t> </a:t>
              </a:r>
              <a:r>
                <a:rPr sz="1019" b="0" dirty="0" err="1">
                  <a:solidFill>
                    <a:srgbClr val="222222"/>
                  </a:solidFill>
                  <a:latin typeface="Yekan Bakh"/>
                  <a:cs typeface="Yekan Bakh"/>
                </a:rPr>
                <a:t>باید</a:t>
              </a:r>
              <a:r>
                <a:rPr sz="1019" b="0" dirty="0">
                  <a:solidFill>
                    <a:srgbClr val="222222"/>
                  </a:solidFill>
                  <a:latin typeface="Yekan Bakh"/>
                  <a:cs typeface="Yekan Bakh"/>
                </a:rPr>
                <a:t> </a:t>
              </a:r>
              <a:r>
                <a:rPr sz="1019" b="0" dirty="0" err="1">
                  <a:solidFill>
                    <a:srgbClr val="222222"/>
                  </a:solidFill>
                  <a:latin typeface="Yekan Bakh"/>
                  <a:cs typeface="Yekan Bakh"/>
                </a:rPr>
                <a:t>از</a:t>
              </a:r>
              <a:r>
                <a:rPr sz="1019" b="0" dirty="0">
                  <a:solidFill>
                    <a:srgbClr val="222222"/>
                  </a:solidFill>
                  <a:latin typeface="Yekan Bakh"/>
                  <a:cs typeface="Yekan Bakh"/>
                </a:rPr>
                <a:t> </a:t>
              </a:r>
              <a:r>
                <a:rPr sz="1019" b="0" dirty="0" err="1">
                  <a:solidFill>
                    <a:srgbClr val="222222"/>
                  </a:solidFill>
                  <a:latin typeface="Yekan Bakh"/>
                  <a:cs typeface="Yekan Bakh"/>
                </a:rPr>
                <a:t>روز</a:t>
              </a:r>
              <a:r>
                <a:rPr sz="1019" b="0" dirty="0">
                  <a:solidFill>
                    <a:srgbClr val="222222"/>
                  </a:solidFill>
                  <a:latin typeface="Yekan Bakh"/>
                  <a:cs typeface="Yekan Bakh"/>
                </a:rPr>
                <a:t> </a:t>
              </a:r>
              <a:r>
                <a:rPr sz="1019" b="0" dirty="0" err="1">
                  <a:solidFill>
                    <a:srgbClr val="222222"/>
                  </a:solidFill>
                  <a:latin typeface="Yekan Bakh"/>
                  <a:cs typeface="Yekan Bakh"/>
                </a:rPr>
                <a:t>اول</a:t>
              </a:r>
              <a:r>
                <a:rPr sz="1019" b="0" dirty="0">
                  <a:solidFill>
                    <a:srgbClr val="222222"/>
                  </a:solidFill>
                  <a:latin typeface="Yekan Bakh"/>
                  <a:cs typeface="Yekan Bakh"/>
                </a:rPr>
                <a:t> </a:t>
              </a:r>
              <a:r>
                <a:rPr sz="1019" b="0" dirty="0" err="1">
                  <a:solidFill>
                    <a:srgbClr val="222222"/>
                  </a:solidFill>
                  <a:latin typeface="Yekan Bakh"/>
                  <a:cs typeface="Yekan Bakh"/>
                </a:rPr>
                <a:t>با</a:t>
              </a:r>
              <a:r>
                <a:rPr sz="1019" b="0" dirty="0">
                  <a:solidFill>
                    <a:srgbClr val="222222"/>
                  </a:solidFill>
                  <a:latin typeface="Yekan Bakh"/>
                  <a:cs typeface="Yekan Bakh"/>
                </a:rPr>
                <a:t> </a:t>
              </a:r>
              <a:r>
                <a:rPr sz="1019" b="0" dirty="0" err="1">
                  <a:solidFill>
                    <a:srgbClr val="222222"/>
                  </a:solidFill>
                  <a:latin typeface="Yekan Bakh"/>
                  <a:cs typeface="Yekan Bakh"/>
                </a:rPr>
                <a:t>کانال‌های</a:t>
              </a:r>
              <a:r>
                <a:rPr sz="1019" b="0" dirty="0">
                  <a:solidFill>
                    <a:srgbClr val="222222"/>
                  </a:solidFill>
                  <a:latin typeface="Yekan Bakh"/>
                  <a:cs typeface="Yekan Bakh"/>
                </a:rPr>
                <a:t> </a:t>
              </a:r>
              <a:r>
                <a:rPr sz="1019" b="0" dirty="0" err="1">
                  <a:solidFill>
                    <a:srgbClr val="222222"/>
                  </a:solidFill>
                  <a:latin typeface="Yekan Bakh"/>
                  <a:cs typeface="Yekan Bakh"/>
                </a:rPr>
                <a:t>نهادی</a:t>
              </a:r>
              <a:r>
                <a:rPr sz="1019" b="0" dirty="0">
                  <a:solidFill>
                    <a:srgbClr val="222222"/>
                  </a:solidFill>
                  <a:latin typeface="Yekan Bakh"/>
                  <a:cs typeface="Yekan Bakh"/>
                </a:rPr>
                <a:t>/</a:t>
              </a:r>
              <a:r>
                <a:rPr sz="1019" b="0" dirty="0" err="1">
                  <a:solidFill>
                    <a:srgbClr val="222222"/>
                  </a:solidFill>
                  <a:latin typeface="Yekan Bakh"/>
                  <a:cs typeface="Yekan Bakh"/>
                </a:rPr>
                <a:t>دیجیتال</a:t>
              </a:r>
              <a:r>
                <a:rPr sz="1019" b="0" dirty="0">
                  <a:solidFill>
                    <a:srgbClr val="222222"/>
                  </a:solidFill>
                  <a:latin typeface="Yekan Bakh"/>
                  <a:cs typeface="Yekan Bakh"/>
                </a:rPr>
                <a:t> </a:t>
              </a:r>
              <a:r>
                <a:rPr sz="1019" b="0" dirty="0" err="1">
                  <a:solidFill>
                    <a:srgbClr val="222222"/>
                  </a:solidFill>
                  <a:latin typeface="Yekan Bakh"/>
                  <a:cs typeface="Yekan Bakh"/>
                </a:rPr>
                <a:t>موازی</a:t>
              </a:r>
              <a:r>
                <a:rPr sz="1019" b="0" dirty="0">
                  <a:solidFill>
                    <a:srgbClr val="222222"/>
                  </a:solidFill>
                  <a:latin typeface="Yekan Bakh"/>
                  <a:cs typeface="Yekan Bakh"/>
                </a:rPr>
                <a:t> </a:t>
              </a:r>
              <a:r>
                <a:rPr sz="1019" b="0" dirty="0" err="1">
                  <a:solidFill>
                    <a:srgbClr val="222222"/>
                  </a:solidFill>
                  <a:latin typeface="Yekan Bakh"/>
                  <a:cs typeface="Yekan Bakh"/>
                </a:rPr>
                <a:t>تقویت</a:t>
              </a:r>
              <a:r>
                <a:rPr sz="1019" b="0" dirty="0">
                  <a:solidFill>
                    <a:srgbClr val="222222"/>
                  </a:solidFill>
                  <a:latin typeface="Yekan Bakh"/>
                  <a:cs typeface="Yekan Bakh"/>
                </a:rPr>
                <a:t> </a:t>
              </a:r>
              <a:r>
                <a:rPr sz="1019" b="0" dirty="0" err="1">
                  <a:solidFill>
                    <a:srgbClr val="222222"/>
                  </a:solidFill>
                  <a:latin typeface="Yekan Bakh"/>
                  <a:cs typeface="Yekan Bakh"/>
                </a:rPr>
                <a:t>شود</a:t>
              </a:r>
              <a:r>
                <a:rPr sz="1019" b="0" dirty="0">
                  <a:solidFill>
                    <a:srgbClr val="222222"/>
                  </a:solidFill>
                  <a:latin typeface="Yekan Bakh"/>
                  <a:cs typeface="Yekan Bakh"/>
                </a:rPr>
                <a:t>.</a:t>
              </a:r>
            </a:p>
          </p:txBody>
        </p:sp>
        <p:sp>
          <p:nvSpPr>
            <p:cNvPr id="15" name="Rectangle 14">
              <a:extLst>
                <a:ext uri="{FF2B5EF4-FFF2-40B4-BE49-F238E27FC236}">
                  <a16:creationId xmlns:a16="http://schemas.microsoft.com/office/drawing/2014/main" id="{98EF6460-FEF4-A3A7-8574-6BDC5EFE880C}"/>
                </a:ext>
              </a:extLst>
            </p:cNvPr>
            <p:cNvSpPr/>
            <p:nvPr/>
          </p:nvSpPr>
          <p:spPr>
            <a:xfrm>
              <a:off x="11163554" y="2727855"/>
              <a:ext cx="45720" cy="896112"/>
            </a:xfrm>
            <a:prstGeom prst="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E419494B-7C33-C731-A91A-83235A1F9EBD}"/>
                </a:ext>
              </a:extLst>
            </p:cNvPr>
            <p:cNvSpPr txBox="1"/>
            <p:nvPr/>
          </p:nvSpPr>
          <p:spPr>
            <a:xfrm>
              <a:off x="457199" y="2706623"/>
              <a:ext cx="10692852" cy="322396"/>
            </a:xfrm>
            <a:prstGeom prst="rect">
              <a:avLst/>
            </a:prstGeom>
            <a:noFill/>
          </p:spPr>
          <p:txBody>
            <a:bodyPr wrap="square" anchor="t">
              <a:spAutoFit/>
            </a:bodyPr>
            <a:lstStyle/>
            <a:p>
              <a:pPr algn="r" rtl="1">
                <a:lnSpc>
                  <a:spcPct val="115000"/>
                </a:lnSpc>
              </a:pPr>
              <a:r>
                <a:rPr sz="1300" b="1" dirty="0">
                  <a:solidFill>
                    <a:srgbClr val="1E2761"/>
                  </a:solidFill>
                  <a:latin typeface="Yekan Bakh"/>
                  <a:cs typeface="Yekan Bakh"/>
                </a:rPr>
                <a:t>۲</a:t>
              </a:r>
              <a:r>
                <a:rPr lang="fa-IR" sz="1300" b="1" dirty="0">
                  <a:solidFill>
                    <a:srgbClr val="1E2761"/>
                  </a:solidFill>
                  <a:latin typeface="Yekan Bakh"/>
                  <a:cs typeface="Yekan Bakh"/>
                </a:rPr>
                <a:t>.</a:t>
              </a:r>
              <a:r>
                <a:rPr sz="1300" b="1" dirty="0">
                  <a:solidFill>
                    <a:srgbClr val="1E2761"/>
                  </a:solidFill>
                  <a:latin typeface="Yekan Bakh"/>
                  <a:cs typeface="Yekan Bakh"/>
                </a:rPr>
                <a:t> </a:t>
              </a:r>
              <a:r>
                <a:rPr sz="1300" b="1" dirty="0" err="1">
                  <a:solidFill>
                    <a:srgbClr val="1E2761"/>
                  </a:solidFill>
                  <a:latin typeface="Yekan Bakh"/>
                  <a:cs typeface="Yekan Bakh"/>
                </a:rPr>
                <a:t>شبکه</a:t>
              </a:r>
              <a:r>
                <a:rPr sz="1300" b="1" dirty="0">
                  <a:solidFill>
                    <a:srgbClr val="1E2761"/>
                  </a:solidFill>
                  <a:latin typeface="Yekan Bakh"/>
                  <a:cs typeface="Yekan Bakh"/>
                </a:rPr>
                <a:t> </a:t>
              </a:r>
              <a:r>
                <a:rPr sz="1300" b="1" dirty="0" err="1">
                  <a:solidFill>
                    <a:srgbClr val="1E2761"/>
                  </a:solidFill>
                  <a:latin typeface="Yekan Bakh"/>
                  <a:cs typeface="Yekan Bakh"/>
                </a:rPr>
                <a:t>معرف</a:t>
              </a:r>
              <a:r>
                <a:rPr sz="1300" b="1" dirty="0">
                  <a:solidFill>
                    <a:srgbClr val="1E2761"/>
                  </a:solidFill>
                  <a:latin typeface="Yekan Bakh"/>
                  <a:cs typeface="Yekan Bakh"/>
                </a:rPr>
                <a:t> </a:t>
              </a:r>
              <a:r>
                <a:rPr sz="1300" b="1" dirty="0" err="1">
                  <a:solidFill>
                    <a:srgbClr val="1E2761"/>
                  </a:solidFill>
                  <a:latin typeface="Yekan Bakh"/>
                  <a:cs typeface="Yekan Bakh"/>
                </a:rPr>
                <a:t>نهادی</a:t>
              </a:r>
              <a:r>
                <a:rPr sz="1300" b="1" dirty="0">
                  <a:solidFill>
                    <a:srgbClr val="1E2761"/>
                  </a:solidFill>
                  <a:latin typeface="Yekan Bakh"/>
                  <a:cs typeface="Yekan Bakh"/>
                </a:rPr>
                <a:t> </a:t>
              </a:r>
              <a:r>
                <a:rPr sz="1300" b="1" dirty="0" err="1">
                  <a:solidFill>
                    <a:srgbClr val="1E2761"/>
                  </a:solidFill>
                  <a:latin typeface="Yekan Bakh"/>
                  <a:cs typeface="Yekan Bakh"/>
                </a:rPr>
                <a:t>چندلایه</a:t>
              </a:r>
              <a:r>
                <a:rPr sz="1300" b="1" dirty="0">
                  <a:solidFill>
                    <a:srgbClr val="1E2761"/>
                  </a:solidFill>
                  <a:latin typeface="Yekan Bakh"/>
                  <a:cs typeface="Yekan Bakh"/>
                </a:rPr>
                <a:t> </a:t>
              </a:r>
              <a:r>
                <a:rPr sz="1300" b="1" dirty="0" err="1">
                  <a:solidFill>
                    <a:srgbClr val="1E2761"/>
                  </a:solidFill>
                  <a:latin typeface="Yekan Bakh"/>
                  <a:cs typeface="Yekan Bakh"/>
                </a:rPr>
                <a:t>اکوسیستم</a:t>
              </a:r>
              <a:endParaRPr sz="1300" b="1" dirty="0">
                <a:solidFill>
                  <a:srgbClr val="1E2761"/>
                </a:solidFill>
                <a:latin typeface="Yekan Bakh"/>
                <a:cs typeface="Yekan Bakh"/>
              </a:endParaRPr>
            </a:p>
          </p:txBody>
        </p:sp>
        <p:sp>
          <p:nvSpPr>
            <p:cNvPr id="19" name="TextBox 18">
              <a:extLst>
                <a:ext uri="{FF2B5EF4-FFF2-40B4-BE49-F238E27FC236}">
                  <a16:creationId xmlns:a16="http://schemas.microsoft.com/office/drawing/2014/main" id="{6C21DFC5-8E7D-8238-EE9B-B5558DEBD731}"/>
                </a:ext>
              </a:extLst>
            </p:cNvPr>
            <p:cNvSpPr txBox="1"/>
            <p:nvPr/>
          </p:nvSpPr>
          <p:spPr>
            <a:xfrm>
              <a:off x="457199" y="3017519"/>
              <a:ext cx="10692852" cy="609975"/>
            </a:xfrm>
            <a:prstGeom prst="rect">
              <a:avLst/>
            </a:prstGeom>
            <a:noFill/>
          </p:spPr>
          <p:txBody>
            <a:bodyPr wrap="square" anchor="t">
              <a:spAutoFit/>
            </a:bodyPr>
            <a:lstStyle/>
            <a:p>
              <a:pPr algn="justLow" rtl="1">
                <a:lnSpc>
                  <a:spcPct val="110000"/>
                </a:lnSpc>
              </a:pPr>
              <a:r>
                <a:rPr sz="1019" b="0" dirty="0" err="1">
                  <a:solidFill>
                    <a:srgbClr val="222222"/>
                  </a:solidFill>
                  <a:latin typeface="Yekan Bakh"/>
                  <a:cs typeface="Yekan Bakh"/>
                </a:rPr>
                <a:t>اتاق</a:t>
              </a:r>
              <a:r>
                <a:rPr sz="1019" b="0" dirty="0">
                  <a:solidFill>
                    <a:srgbClr val="222222"/>
                  </a:solidFill>
                  <a:latin typeface="Yekan Bakh"/>
                  <a:cs typeface="Yekan Bakh"/>
                </a:rPr>
                <a:t> </a:t>
              </a:r>
              <a:r>
                <a:rPr sz="1019" b="0" dirty="0" err="1">
                  <a:solidFill>
                    <a:srgbClr val="222222"/>
                  </a:solidFill>
                  <a:latin typeface="Yekan Bakh"/>
                  <a:cs typeface="Yekan Bakh"/>
                </a:rPr>
                <a:t>بازرگانی</a:t>
              </a:r>
              <a:r>
                <a:rPr sz="1019" b="0" dirty="0">
                  <a:solidFill>
                    <a:srgbClr val="222222"/>
                  </a:solidFill>
                  <a:latin typeface="Yekan Bakh"/>
                  <a:cs typeface="Yekan Bakh"/>
                </a:rPr>
                <a:t> </a:t>
              </a:r>
              <a:r>
                <a:rPr lang="fa-IR" sz="1019" b="0" dirty="0">
                  <a:solidFill>
                    <a:srgbClr val="222222"/>
                  </a:solidFill>
                  <a:latin typeface="Yekan Bakh"/>
                  <a:cs typeface="Yekan Bakh"/>
                </a:rPr>
                <a:t>+</a:t>
              </a:r>
              <a:r>
                <a:rPr sz="1019" b="0" dirty="0">
                  <a:solidFill>
                    <a:srgbClr val="222222"/>
                  </a:solidFill>
                  <a:latin typeface="Yekan Bakh"/>
                  <a:cs typeface="Yekan Bakh"/>
                </a:rPr>
                <a:t> </a:t>
              </a:r>
              <a:r>
                <a:rPr sz="1019" b="0" dirty="0" err="1">
                  <a:solidFill>
                    <a:srgbClr val="222222"/>
                  </a:solidFill>
                  <a:latin typeface="Yekan Bakh"/>
                  <a:cs typeface="Yekan Bakh"/>
                </a:rPr>
                <a:t>برند</a:t>
              </a:r>
              <a:r>
                <a:rPr sz="1019" b="0" dirty="0">
                  <a:solidFill>
                    <a:srgbClr val="222222"/>
                  </a:solidFill>
                  <a:latin typeface="Yekan Bakh"/>
                  <a:cs typeface="Yekan Bakh"/>
                </a:rPr>
                <a:t> </a:t>
              </a:r>
              <a:r>
                <a:rPr sz="1019" b="0" dirty="0" err="1">
                  <a:solidFill>
                    <a:srgbClr val="222222"/>
                  </a:solidFill>
                  <a:latin typeface="Yekan Bakh"/>
                  <a:cs typeface="Yekan Bakh"/>
                </a:rPr>
                <a:t>شریک</a:t>
              </a:r>
              <a:r>
                <a:rPr sz="1019" b="0" dirty="0">
                  <a:solidFill>
                    <a:srgbClr val="222222"/>
                  </a:solidFill>
                  <a:latin typeface="Yekan Bakh"/>
                  <a:cs typeface="Yekan Bakh"/>
                </a:rPr>
                <a:t> </a:t>
              </a:r>
              <a:r>
                <a:rPr sz="1019" b="0" dirty="0" err="1">
                  <a:solidFill>
                    <a:srgbClr val="222222"/>
                  </a:solidFill>
                  <a:latin typeface="Yekan Bakh"/>
                  <a:cs typeface="Yekan Bakh"/>
                </a:rPr>
                <a:t>بین‌المللی</a:t>
              </a:r>
              <a:r>
                <a:rPr sz="1019" b="0" dirty="0">
                  <a:solidFill>
                    <a:srgbClr val="222222"/>
                  </a:solidFill>
                  <a:latin typeface="Yekan Bakh"/>
                  <a:cs typeface="Yekan Bakh"/>
                </a:rPr>
                <a:t> </a:t>
              </a:r>
              <a:r>
                <a:rPr lang="fa-IR" sz="1019" b="0" dirty="0">
                  <a:solidFill>
                    <a:srgbClr val="222222"/>
                  </a:solidFill>
                  <a:latin typeface="Yekan Bakh"/>
                  <a:cs typeface="Yekan Bakh"/>
                </a:rPr>
                <a:t>+</a:t>
              </a:r>
              <a:r>
                <a:rPr sz="1019" b="0" dirty="0">
                  <a:solidFill>
                    <a:srgbClr val="222222"/>
                  </a:solidFill>
                  <a:latin typeface="Yekan Bakh"/>
                  <a:cs typeface="Yekan Bakh"/>
                </a:rPr>
                <a:t> </a:t>
              </a:r>
              <a:r>
                <a:rPr sz="1019" b="0" dirty="0" err="1">
                  <a:solidFill>
                    <a:srgbClr val="222222"/>
                  </a:solidFill>
                  <a:latin typeface="Yekan Bakh"/>
                  <a:cs typeface="Yekan Bakh"/>
                </a:rPr>
                <a:t>شبکه</a:t>
              </a:r>
              <a:r>
                <a:rPr sz="1019" b="0" dirty="0">
                  <a:solidFill>
                    <a:srgbClr val="222222"/>
                  </a:solidFill>
                  <a:latin typeface="Yekan Bakh"/>
                  <a:cs typeface="Yekan Bakh"/>
                </a:rPr>
                <a:t> </a:t>
              </a:r>
              <a:r>
                <a:rPr lang="fa-IR" sz="1019" b="0" dirty="0">
                  <a:solidFill>
                    <a:srgbClr val="222222"/>
                  </a:solidFill>
                  <a:latin typeface="Yekan Bakh"/>
                  <a:cs typeface="Yekan Bakh"/>
                </a:rPr>
                <a:t>اعضای هیئت مدیره و مدیران عامل و </a:t>
              </a:r>
              <a:r>
                <a:rPr sz="1019" b="0" dirty="0" err="1">
                  <a:solidFill>
                    <a:srgbClr val="222222"/>
                  </a:solidFill>
                  <a:latin typeface="Yekan Bakh"/>
                  <a:cs typeface="Yekan Bakh"/>
                </a:rPr>
                <a:t>مشاوران</a:t>
              </a:r>
              <a:r>
                <a:rPr lang="fa-IR" sz="1019" b="0" dirty="0">
                  <a:solidFill>
                    <a:srgbClr val="222222"/>
                  </a:solidFill>
                  <a:latin typeface="Yekan Bakh"/>
                  <a:cs typeface="Yekan Bakh"/>
                </a:rPr>
                <a:t> سازمانی</a:t>
              </a:r>
              <a:r>
                <a:rPr sz="1019" b="0" dirty="0">
                  <a:solidFill>
                    <a:srgbClr val="222222"/>
                  </a:solidFill>
                  <a:latin typeface="Yekan Bakh"/>
                  <a:cs typeface="Yekan Bakh"/>
                </a:rPr>
                <a:t> + </a:t>
              </a:r>
              <a:r>
                <a:rPr sz="1019" b="0" dirty="0" err="1">
                  <a:solidFill>
                    <a:srgbClr val="222222"/>
                  </a:solidFill>
                  <a:latin typeface="Yekan Bakh"/>
                  <a:cs typeface="Yekan Bakh"/>
                </a:rPr>
                <a:t>دیاسپورا</a:t>
              </a:r>
              <a:r>
                <a:rPr lang="fa-IR" sz="1019" b="0" dirty="0">
                  <a:solidFill>
                    <a:srgbClr val="222222"/>
                  </a:solidFill>
                  <a:latin typeface="Yekan Bakh"/>
                  <a:cs typeface="Yekan Bakh"/>
                </a:rPr>
                <a:t>:</a:t>
              </a:r>
              <a:r>
                <a:rPr sz="1019" b="0" dirty="0">
                  <a:solidFill>
                    <a:srgbClr val="222222"/>
                  </a:solidFill>
                  <a:latin typeface="Yekan Bakh"/>
                  <a:cs typeface="Yekan Bakh"/>
                </a:rPr>
                <a:t> </a:t>
              </a:r>
              <a:r>
                <a:rPr sz="1019" b="0" dirty="0" err="1">
                  <a:solidFill>
                    <a:srgbClr val="222222"/>
                  </a:solidFill>
                  <a:latin typeface="Yekan Bakh"/>
                  <a:cs typeface="Yekan Bakh"/>
                </a:rPr>
                <a:t>تجسم</a:t>
              </a:r>
              <a:r>
                <a:rPr sz="1019" b="0" dirty="0">
                  <a:solidFill>
                    <a:srgbClr val="222222"/>
                  </a:solidFill>
                  <a:latin typeface="Yekan Bakh"/>
                  <a:cs typeface="Yekan Bakh"/>
                </a:rPr>
                <a:t> </a:t>
              </a:r>
              <a:r>
                <a:rPr sz="1019" b="0" dirty="0" err="1">
                  <a:solidFill>
                    <a:srgbClr val="222222"/>
                  </a:solidFill>
                  <a:latin typeface="Yekan Bakh"/>
                  <a:cs typeface="Yekan Bakh"/>
                </a:rPr>
                <a:t>عملی</a:t>
              </a:r>
              <a:r>
                <a:rPr sz="1019" b="0" dirty="0">
                  <a:solidFill>
                    <a:srgbClr val="222222"/>
                  </a:solidFill>
                  <a:latin typeface="Yekan Bakh"/>
                  <a:cs typeface="Yekan Bakh"/>
                </a:rPr>
                <a:t> </a:t>
              </a:r>
              <a:r>
                <a:rPr sz="1019" b="0" dirty="0" err="1">
                  <a:solidFill>
                    <a:srgbClr val="222222"/>
                  </a:solidFill>
                  <a:latin typeface="Yekan Bakh"/>
                  <a:cs typeface="Yekan Bakh"/>
                </a:rPr>
                <a:t>ساختار</a:t>
              </a:r>
              <a:r>
                <a:rPr sz="1019" b="0" dirty="0">
                  <a:solidFill>
                    <a:srgbClr val="222222"/>
                  </a:solidFill>
                  <a:latin typeface="Yekan Bakh"/>
                  <a:cs typeface="Yekan Bakh"/>
                </a:rPr>
                <a:t> B2B2B</a:t>
              </a:r>
              <a:r>
                <a:rPr lang="fa-IR" sz="1019" b="0" dirty="0">
                  <a:solidFill>
                    <a:srgbClr val="222222"/>
                  </a:solidFill>
                  <a:latin typeface="Yekan Bakh"/>
                  <a:cs typeface="Yekan Bakh"/>
                </a:rPr>
                <a:t> ا</a:t>
              </a:r>
              <a:r>
                <a:rPr sz="1019" b="0" dirty="0" err="1">
                  <a:solidFill>
                    <a:srgbClr val="222222"/>
                  </a:solidFill>
                  <a:latin typeface="Yekan Bakh"/>
                  <a:cs typeface="Yekan Bakh"/>
                </a:rPr>
                <a:t>ین</a:t>
              </a:r>
              <a:r>
                <a:rPr sz="1019" b="0" dirty="0">
                  <a:solidFill>
                    <a:srgbClr val="222222"/>
                  </a:solidFill>
                  <a:latin typeface="Yekan Bakh"/>
                  <a:cs typeface="Yekan Bakh"/>
                </a:rPr>
                <a:t> </a:t>
              </a:r>
              <a:r>
                <a:rPr sz="1019" b="0" dirty="0" err="1">
                  <a:solidFill>
                    <a:srgbClr val="222222"/>
                  </a:solidFill>
                  <a:latin typeface="Yekan Bakh"/>
                  <a:cs typeface="Yekan Bakh"/>
                </a:rPr>
                <a:t>کسب‌وکار</a:t>
              </a:r>
              <a:r>
                <a:rPr sz="1019" b="0" dirty="0">
                  <a:solidFill>
                    <a:srgbClr val="222222"/>
                  </a:solidFill>
                  <a:latin typeface="Yekan Bakh"/>
                  <a:cs typeface="Yekan Bakh"/>
                </a:rPr>
                <a:t>. </a:t>
              </a:r>
              <a:r>
                <a:rPr sz="1019" b="0" dirty="0" err="1">
                  <a:solidFill>
                    <a:srgbClr val="222222"/>
                  </a:solidFill>
                  <a:latin typeface="Yekan Bakh"/>
                  <a:cs typeface="Yekan Bakh"/>
                </a:rPr>
                <a:t>چون</a:t>
              </a:r>
              <a:r>
                <a:rPr sz="1019" b="0" dirty="0">
                  <a:solidFill>
                    <a:srgbClr val="222222"/>
                  </a:solidFill>
                  <a:latin typeface="Yekan Bakh"/>
                  <a:cs typeface="Yekan Bakh"/>
                </a:rPr>
                <a:t> </a:t>
              </a:r>
              <a:r>
                <a:rPr lang="fa-IR" sz="1019" b="0" dirty="0">
                  <a:solidFill>
                    <a:srgbClr val="222222"/>
                  </a:solidFill>
                  <a:latin typeface="Yekan Bakh"/>
                  <a:cs typeface="Yekan Bakh"/>
                </a:rPr>
                <a:t>اکوسیستم فرصت ایران</a:t>
              </a:r>
              <a:r>
                <a:rPr sz="1019" b="0" dirty="0">
                  <a:solidFill>
                    <a:srgbClr val="222222"/>
                  </a:solidFill>
                  <a:latin typeface="Yekan Bakh"/>
                  <a:cs typeface="Yekan Bakh"/>
                </a:rPr>
                <a:t> </a:t>
              </a:r>
              <a:r>
                <a:rPr sz="1019" b="0" dirty="0" err="1">
                  <a:solidFill>
                    <a:srgbClr val="222222"/>
                  </a:solidFill>
                  <a:latin typeface="Yekan Bakh"/>
                  <a:cs typeface="Yekan Bakh"/>
                </a:rPr>
                <a:t>به‌ندرت</a:t>
              </a:r>
              <a:r>
                <a:rPr sz="1019" b="0" dirty="0">
                  <a:solidFill>
                    <a:srgbClr val="222222"/>
                  </a:solidFill>
                  <a:latin typeface="Yekan Bakh"/>
                  <a:cs typeface="Yekan Bakh"/>
                </a:rPr>
                <a:t> </a:t>
              </a:r>
              <a:r>
                <a:rPr sz="1019" b="0" dirty="0" err="1">
                  <a:solidFill>
                    <a:srgbClr val="222222"/>
                  </a:solidFill>
                  <a:latin typeface="Yekan Bakh"/>
                  <a:cs typeface="Yekan Bakh"/>
                </a:rPr>
                <a:t>مستقیماً</a:t>
              </a:r>
              <a:r>
                <a:rPr sz="1019" b="0" dirty="0">
                  <a:solidFill>
                    <a:srgbClr val="222222"/>
                  </a:solidFill>
                  <a:latin typeface="Yekan Bakh"/>
                  <a:cs typeface="Yekan Bakh"/>
                </a:rPr>
                <a:t> </a:t>
              </a:r>
              <a:r>
                <a:rPr sz="1019" b="0" dirty="0" err="1">
                  <a:solidFill>
                    <a:srgbClr val="222222"/>
                  </a:solidFill>
                  <a:latin typeface="Yekan Bakh"/>
                  <a:cs typeface="Yekan Bakh"/>
                </a:rPr>
                <a:t>به</a:t>
              </a:r>
              <a:r>
                <a:rPr sz="1019" b="0" dirty="0">
                  <a:solidFill>
                    <a:srgbClr val="222222"/>
                  </a:solidFill>
                  <a:latin typeface="Yekan Bakh"/>
                  <a:cs typeface="Yekan Bakh"/>
                </a:rPr>
                <a:t> </a:t>
              </a:r>
              <a:r>
                <a:rPr sz="1019" b="0" dirty="0" err="1">
                  <a:solidFill>
                    <a:srgbClr val="222222"/>
                  </a:solidFill>
                  <a:latin typeface="Yekan Bakh"/>
                  <a:cs typeface="Yekan Bakh"/>
                </a:rPr>
                <a:t>مشتری</a:t>
              </a:r>
              <a:r>
                <a:rPr sz="1019" b="0" dirty="0">
                  <a:solidFill>
                    <a:srgbClr val="222222"/>
                  </a:solidFill>
                  <a:latin typeface="Yekan Bakh"/>
                  <a:cs typeface="Yekan Bakh"/>
                </a:rPr>
                <a:t> </a:t>
              </a:r>
              <a:r>
                <a:rPr sz="1019" b="0" dirty="0" err="1">
                  <a:solidFill>
                    <a:srgbClr val="222222"/>
                  </a:solidFill>
                  <a:latin typeface="Yekan Bakh"/>
                  <a:cs typeface="Yekan Bakh"/>
                </a:rPr>
                <a:t>نهایی</a:t>
              </a:r>
              <a:r>
                <a:rPr sz="1019" b="0" dirty="0">
                  <a:solidFill>
                    <a:srgbClr val="222222"/>
                  </a:solidFill>
                  <a:latin typeface="Yekan Bakh"/>
                  <a:cs typeface="Yekan Bakh"/>
                </a:rPr>
                <a:t> </a:t>
              </a:r>
              <a:r>
                <a:rPr sz="1019" b="0" dirty="0" err="1">
                  <a:solidFill>
                    <a:srgbClr val="222222"/>
                  </a:solidFill>
                  <a:latin typeface="Yekan Bakh"/>
                  <a:cs typeface="Yekan Bakh"/>
                </a:rPr>
                <a:t>می‌رسد</a:t>
              </a:r>
              <a:r>
                <a:rPr sz="1019" b="0" dirty="0">
                  <a:solidFill>
                    <a:srgbClr val="222222"/>
                  </a:solidFill>
                  <a:latin typeface="Yekan Bakh"/>
                  <a:cs typeface="Yekan Bakh"/>
                </a:rPr>
                <a:t>، </a:t>
              </a:r>
              <a:r>
                <a:rPr sz="1019" b="0" dirty="0" err="1">
                  <a:solidFill>
                    <a:srgbClr val="222222"/>
                  </a:solidFill>
                  <a:latin typeface="Yekan Bakh"/>
                  <a:cs typeface="Yekan Bakh"/>
                </a:rPr>
                <a:t>این</a:t>
              </a:r>
              <a:r>
                <a:rPr sz="1019" b="0" dirty="0">
                  <a:solidFill>
                    <a:srgbClr val="222222"/>
                  </a:solidFill>
                  <a:latin typeface="Yekan Bakh"/>
                  <a:cs typeface="Yekan Bakh"/>
                </a:rPr>
                <a:t> </a:t>
              </a:r>
              <a:r>
                <a:rPr sz="1019" b="0" dirty="0" err="1">
                  <a:solidFill>
                    <a:srgbClr val="222222"/>
                  </a:solidFill>
                  <a:latin typeface="Yekan Bakh"/>
                  <a:cs typeface="Yekan Bakh"/>
                </a:rPr>
                <a:t>لایه</a:t>
              </a:r>
              <a:r>
                <a:rPr sz="1019" b="0" dirty="0">
                  <a:solidFill>
                    <a:srgbClr val="222222"/>
                  </a:solidFill>
                  <a:latin typeface="Yekan Bakh"/>
                  <a:cs typeface="Yekan Bakh"/>
                </a:rPr>
                <a:t> </a:t>
              </a:r>
              <a:r>
                <a:rPr sz="1019" b="0" dirty="0" err="1">
                  <a:solidFill>
                    <a:srgbClr val="222222"/>
                  </a:solidFill>
                  <a:latin typeface="Yekan Bakh"/>
                  <a:cs typeface="Yekan Bakh"/>
                </a:rPr>
                <a:t>دسترسی</a:t>
              </a:r>
              <a:r>
                <a:rPr sz="1019" b="0" dirty="0">
                  <a:solidFill>
                    <a:srgbClr val="222222"/>
                  </a:solidFill>
                  <a:latin typeface="Yekan Bakh"/>
                  <a:cs typeface="Yekan Bakh"/>
                </a:rPr>
                <a:t> </a:t>
              </a:r>
              <a:r>
                <a:rPr sz="1019" b="0" dirty="0" err="1">
                  <a:solidFill>
                    <a:srgbClr val="222222"/>
                  </a:solidFill>
                  <a:latin typeface="Yekan Bakh"/>
                  <a:cs typeface="Yekan Bakh"/>
                </a:rPr>
                <a:t>مقیاس‌پذیر</a:t>
              </a:r>
              <a:r>
                <a:rPr sz="1019" b="0" dirty="0">
                  <a:solidFill>
                    <a:srgbClr val="222222"/>
                  </a:solidFill>
                  <a:latin typeface="Yekan Bakh"/>
                  <a:cs typeface="Yekan Bakh"/>
                </a:rPr>
                <a:t> و </a:t>
              </a:r>
              <a:r>
                <a:rPr sz="1019" b="0" dirty="0" err="1">
                  <a:solidFill>
                    <a:srgbClr val="222222"/>
                  </a:solidFill>
                  <a:latin typeface="Yekan Bakh"/>
                  <a:cs typeface="Yekan Bakh"/>
                </a:rPr>
                <a:t>کم‌هزینه</a:t>
              </a:r>
              <a:r>
                <a:rPr sz="1019" b="0" dirty="0">
                  <a:solidFill>
                    <a:srgbClr val="222222"/>
                  </a:solidFill>
                  <a:latin typeface="Yekan Bakh"/>
                  <a:cs typeface="Yekan Bakh"/>
                </a:rPr>
                <a:t> </a:t>
              </a:r>
              <a:r>
                <a:rPr sz="1019" b="0" dirty="0" err="1">
                  <a:solidFill>
                    <a:srgbClr val="222222"/>
                  </a:solidFill>
                  <a:latin typeface="Yekan Bakh"/>
                  <a:cs typeface="Yekan Bakh"/>
                </a:rPr>
                <a:t>فراهم</a:t>
              </a:r>
              <a:r>
                <a:rPr sz="1019" b="0" dirty="0">
                  <a:solidFill>
                    <a:srgbClr val="222222"/>
                  </a:solidFill>
                  <a:latin typeface="Yekan Bakh"/>
                  <a:cs typeface="Yekan Bakh"/>
                </a:rPr>
                <a:t> </a:t>
              </a:r>
              <a:r>
                <a:rPr sz="1019" b="0" dirty="0" err="1">
                  <a:solidFill>
                    <a:srgbClr val="222222"/>
                  </a:solidFill>
                  <a:latin typeface="Yekan Bakh"/>
                  <a:cs typeface="Yekan Bakh"/>
                </a:rPr>
                <a:t>می‌کند</a:t>
              </a:r>
              <a:r>
                <a:rPr sz="1019" b="0" dirty="0">
                  <a:solidFill>
                    <a:srgbClr val="222222"/>
                  </a:solidFill>
                  <a:latin typeface="Yekan Bakh"/>
                  <a:cs typeface="Yekan Bakh"/>
                </a:rPr>
                <a:t> </a:t>
              </a:r>
              <a:r>
                <a:rPr sz="1019" b="0" dirty="0" err="1">
                  <a:solidFill>
                    <a:srgbClr val="222222"/>
                  </a:solidFill>
                  <a:latin typeface="Yekan Bakh"/>
                  <a:cs typeface="Yekan Bakh"/>
                </a:rPr>
                <a:t>بدون</a:t>
              </a:r>
              <a:r>
                <a:rPr sz="1019" b="0" dirty="0">
                  <a:solidFill>
                    <a:srgbClr val="222222"/>
                  </a:solidFill>
                  <a:latin typeface="Yekan Bakh"/>
                  <a:cs typeface="Yekan Bakh"/>
                </a:rPr>
                <a:t> </a:t>
              </a:r>
              <a:r>
                <a:rPr sz="1019" b="0" dirty="0" err="1">
                  <a:solidFill>
                    <a:srgbClr val="222222"/>
                  </a:solidFill>
                  <a:latin typeface="Yekan Bakh"/>
                  <a:cs typeface="Yekan Bakh"/>
                </a:rPr>
                <a:t>آنکه</a:t>
              </a:r>
              <a:r>
                <a:rPr sz="1019" b="0" dirty="0">
                  <a:solidFill>
                    <a:srgbClr val="222222"/>
                  </a:solidFill>
                  <a:latin typeface="Yekan Bakh"/>
                  <a:cs typeface="Yekan Bakh"/>
                </a:rPr>
                <a:t> </a:t>
              </a:r>
              <a:r>
                <a:rPr sz="1019" b="0" dirty="0" err="1">
                  <a:solidFill>
                    <a:srgbClr val="222222"/>
                  </a:solidFill>
                  <a:latin typeface="Yekan Bakh"/>
                  <a:cs typeface="Yekan Bakh"/>
                </a:rPr>
                <a:t>سیمرغ</a:t>
              </a:r>
              <a:r>
                <a:rPr sz="1019" b="0" dirty="0">
                  <a:solidFill>
                    <a:srgbClr val="222222"/>
                  </a:solidFill>
                  <a:latin typeface="Yekan Bakh"/>
                  <a:cs typeface="Yekan Bakh"/>
                </a:rPr>
                <a:t> </a:t>
              </a:r>
              <a:r>
                <a:rPr sz="1019" b="0" dirty="0" err="1">
                  <a:solidFill>
                    <a:srgbClr val="222222"/>
                  </a:solidFill>
                  <a:latin typeface="Yekan Bakh"/>
                  <a:cs typeface="Yekan Bakh"/>
                </a:rPr>
                <a:t>هزینه</a:t>
              </a:r>
              <a:r>
                <a:rPr sz="1019" b="0" dirty="0">
                  <a:solidFill>
                    <a:srgbClr val="222222"/>
                  </a:solidFill>
                  <a:latin typeface="Yekan Bakh"/>
                  <a:cs typeface="Yekan Bakh"/>
                </a:rPr>
                <a:t> </a:t>
              </a:r>
              <a:r>
                <a:rPr sz="1019" b="0" dirty="0" err="1">
                  <a:solidFill>
                    <a:srgbClr val="222222"/>
                  </a:solidFill>
                  <a:latin typeface="Yekan Bakh"/>
                  <a:cs typeface="Yekan Bakh"/>
                </a:rPr>
                <a:t>جذب</a:t>
              </a:r>
              <a:r>
                <a:rPr sz="1019" b="0" dirty="0">
                  <a:solidFill>
                    <a:srgbClr val="222222"/>
                  </a:solidFill>
                  <a:latin typeface="Yekan Bakh"/>
                  <a:cs typeface="Yekan Bakh"/>
                </a:rPr>
                <a:t> </a:t>
              </a:r>
              <a:r>
                <a:rPr sz="1019" b="0" dirty="0" err="1">
                  <a:solidFill>
                    <a:srgbClr val="222222"/>
                  </a:solidFill>
                  <a:latin typeface="Yekan Bakh"/>
                  <a:cs typeface="Yekan Bakh"/>
                </a:rPr>
                <a:t>هر</a:t>
              </a:r>
              <a:r>
                <a:rPr sz="1019" b="0" dirty="0">
                  <a:solidFill>
                    <a:srgbClr val="222222"/>
                  </a:solidFill>
                  <a:latin typeface="Yekan Bakh"/>
                  <a:cs typeface="Yekan Bakh"/>
                </a:rPr>
                <a:t> </a:t>
              </a:r>
              <a:r>
                <a:rPr sz="1019" b="0" dirty="0" err="1">
                  <a:solidFill>
                    <a:srgbClr val="222222"/>
                  </a:solidFill>
                  <a:latin typeface="Yekan Bakh"/>
                  <a:cs typeface="Yekan Bakh"/>
                </a:rPr>
                <a:t>مشتری</a:t>
              </a:r>
              <a:r>
                <a:rPr sz="1019" b="0" dirty="0">
                  <a:solidFill>
                    <a:srgbClr val="222222"/>
                  </a:solidFill>
                  <a:latin typeface="Yekan Bakh"/>
                  <a:cs typeface="Yekan Bakh"/>
                </a:rPr>
                <a:t> </a:t>
              </a:r>
              <a:r>
                <a:rPr sz="1019" b="0" dirty="0" err="1">
                  <a:solidFill>
                    <a:srgbClr val="222222"/>
                  </a:solidFill>
                  <a:latin typeface="Yekan Bakh"/>
                  <a:cs typeface="Yekan Bakh"/>
                </a:rPr>
                <a:t>را</a:t>
              </a:r>
              <a:r>
                <a:rPr sz="1019" b="0" dirty="0">
                  <a:solidFill>
                    <a:srgbClr val="222222"/>
                  </a:solidFill>
                  <a:latin typeface="Yekan Bakh"/>
                  <a:cs typeface="Yekan Bakh"/>
                </a:rPr>
                <a:t> </a:t>
              </a:r>
              <a:r>
                <a:rPr sz="1019" b="0" dirty="0" err="1">
                  <a:solidFill>
                    <a:srgbClr val="222222"/>
                  </a:solidFill>
                  <a:latin typeface="Yekan Bakh"/>
                  <a:cs typeface="Yekan Bakh"/>
                </a:rPr>
                <a:t>مستقیماً</a:t>
              </a:r>
              <a:r>
                <a:rPr sz="1019" b="0" dirty="0">
                  <a:solidFill>
                    <a:srgbClr val="222222"/>
                  </a:solidFill>
                  <a:latin typeface="Yekan Bakh"/>
                  <a:cs typeface="Yekan Bakh"/>
                </a:rPr>
                <a:t> </a:t>
              </a:r>
              <a:r>
                <a:rPr sz="1019" b="0" dirty="0" err="1">
                  <a:solidFill>
                    <a:srgbClr val="222222"/>
                  </a:solidFill>
                  <a:latin typeface="Yekan Bakh"/>
                  <a:cs typeface="Yekan Bakh"/>
                </a:rPr>
                <a:t>بپردازد</a:t>
              </a:r>
              <a:r>
                <a:rPr lang="fa-IR" sz="1019" b="0" dirty="0">
                  <a:solidFill>
                    <a:srgbClr val="222222"/>
                  </a:solidFill>
                  <a:latin typeface="Yekan Bakh"/>
                  <a:cs typeface="Yekan Bakh"/>
                </a:rPr>
                <a:t>.</a:t>
              </a:r>
              <a:r>
                <a:rPr sz="1019" b="0" dirty="0">
                  <a:solidFill>
                    <a:srgbClr val="222222"/>
                  </a:solidFill>
                  <a:latin typeface="Yekan Bakh"/>
                  <a:cs typeface="Yekan Bakh"/>
                </a:rPr>
                <a:t> </a:t>
              </a:r>
              <a:r>
                <a:rPr sz="1019" b="0" dirty="0" err="1">
                  <a:solidFill>
                    <a:srgbClr val="222222"/>
                  </a:solidFill>
                  <a:latin typeface="Yekan Bakh"/>
                  <a:cs typeface="Yekan Bakh"/>
                </a:rPr>
                <a:t>طراحی</a:t>
              </a:r>
              <a:r>
                <a:rPr sz="1019" b="0" dirty="0">
                  <a:solidFill>
                    <a:srgbClr val="222222"/>
                  </a:solidFill>
                  <a:latin typeface="Yekan Bakh"/>
                  <a:cs typeface="Yekan Bakh"/>
                </a:rPr>
                <a:t> </a:t>
              </a:r>
              <a:r>
                <a:rPr sz="1019" b="0" dirty="0" err="1">
                  <a:solidFill>
                    <a:srgbClr val="222222"/>
                  </a:solidFill>
                  <a:latin typeface="Yekan Bakh"/>
                  <a:cs typeface="Yekan Bakh"/>
                </a:rPr>
                <a:t>این</a:t>
              </a:r>
              <a:r>
                <a:rPr sz="1019" b="0" dirty="0">
                  <a:solidFill>
                    <a:srgbClr val="222222"/>
                  </a:solidFill>
                  <a:latin typeface="Yekan Bakh"/>
                  <a:cs typeface="Yekan Bakh"/>
                </a:rPr>
                <a:t> </a:t>
              </a:r>
              <a:r>
                <a:rPr sz="1019" b="0" dirty="0" err="1">
                  <a:solidFill>
                    <a:srgbClr val="222222"/>
                  </a:solidFill>
                  <a:latin typeface="Yekan Bakh"/>
                  <a:cs typeface="Yekan Bakh"/>
                </a:rPr>
                <a:t>لایه</a:t>
              </a:r>
              <a:r>
                <a:rPr sz="1019" b="0" dirty="0">
                  <a:solidFill>
                    <a:srgbClr val="222222"/>
                  </a:solidFill>
                  <a:latin typeface="Yekan Bakh"/>
                  <a:cs typeface="Yekan Bakh"/>
                </a:rPr>
                <a:t> </a:t>
              </a:r>
              <a:r>
                <a:rPr lang="fa-IR" sz="1019" b="0" dirty="0">
                  <a:solidFill>
                    <a:srgbClr val="222222"/>
                  </a:solidFill>
                  <a:latin typeface="Yekan Bakh"/>
                  <a:cs typeface="Yekan Bakh"/>
                </a:rPr>
                <a:t>=</a:t>
              </a:r>
              <a:r>
                <a:rPr sz="1019" b="0" dirty="0">
                  <a:solidFill>
                    <a:srgbClr val="222222"/>
                  </a:solidFill>
                  <a:latin typeface="Yekan Bakh"/>
                  <a:cs typeface="Yekan Bakh"/>
                </a:rPr>
                <a:t> </a:t>
              </a:r>
              <a:r>
                <a:rPr sz="1019" b="0" dirty="0" err="1">
                  <a:solidFill>
                    <a:srgbClr val="222222"/>
                  </a:solidFill>
                  <a:latin typeface="Yekan Bakh"/>
                  <a:cs typeface="Yekan Bakh"/>
                </a:rPr>
                <a:t>طراحی</a:t>
              </a:r>
              <a:r>
                <a:rPr sz="1019" b="0" dirty="0">
                  <a:solidFill>
                    <a:srgbClr val="222222"/>
                  </a:solidFill>
                  <a:latin typeface="Yekan Bakh"/>
                  <a:cs typeface="Yekan Bakh"/>
                </a:rPr>
                <a:t> </a:t>
              </a:r>
              <a:r>
                <a:rPr sz="1019" b="0" dirty="0" err="1">
                  <a:solidFill>
                    <a:srgbClr val="222222"/>
                  </a:solidFill>
                  <a:latin typeface="Yekan Bakh"/>
                  <a:cs typeface="Yekan Bakh"/>
                </a:rPr>
                <a:t>نقش</a:t>
              </a:r>
              <a:r>
                <a:rPr sz="1019" b="0" dirty="0">
                  <a:solidFill>
                    <a:srgbClr val="222222"/>
                  </a:solidFill>
                  <a:latin typeface="Yekan Bakh"/>
                  <a:cs typeface="Yekan Bakh"/>
                </a:rPr>
                <a:t> </a:t>
              </a:r>
              <a:r>
                <a:rPr sz="1019" b="0" dirty="0" err="1">
                  <a:solidFill>
                    <a:srgbClr val="222222"/>
                  </a:solidFill>
                  <a:latin typeface="Yekan Bakh"/>
                  <a:cs typeface="Yekan Bakh"/>
                </a:rPr>
                <a:t>اکوسیستمی</a:t>
              </a:r>
              <a:r>
                <a:rPr sz="1019" b="0" dirty="0">
                  <a:solidFill>
                    <a:srgbClr val="222222"/>
                  </a:solidFill>
                  <a:latin typeface="Yekan Bakh"/>
                  <a:cs typeface="Yekan Bakh"/>
                </a:rPr>
                <a:t> Orchestrator/Complementor</a:t>
              </a:r>
              <a:r>
                <a:rPr lang="fa-IR" sz="1019" b="0" dirty="0">
                  <a:solidFill>
                    <a:srgbClr val="222222"/>
                  </a:solidFill>
                  <a:latin typeface="Yekan Bakh"/>
                  <a:cs typeface="Yekan Bakh"/>
                </a:rPr>
                <a:t>= </a:t>
              </a:r>
              <a:r>
                <a:rPr sz="1019" b="0" dirty="0" err="1">
                  <a:solidFill>
                    <a:srgbClr val="222222"/>
                  </a:solidFill>
                  <a:latin typeface="Yekan Bakh"/>
                  <a:cs typeface="Yekan Bakh"/>
                </a:rPr>
                <a:t>سیمرغ</a:t>
              </a:r>
              <a:r>
                <a:rPr sz="1019" b="0" dirty="0">
                  <a:solidFill>
                    <a:srgbClr val="222222"/>
                  </a:solidFill>
                  <a:latin typeface="Yekan Bakh"/>
                  <a:cs typeface="Yekan Bakh"/>
                </a:rPr>
                <a:t>.</a:t>
              </a:r>
              <a:r>
                <a:rPr lang="fa-IR" sz="1019" b="0" dirty="0">
                  <a:solidFill>
                    <a:srgbClr val="222222"/>
                  </a:solidFill>
                  <a:latin typeface="Yekan Bakh"/>
                  <a:cs typeface="Yekan Bakh"/>
                </a:rPr>
                <a:t> برای پرسونای دو، دستیابی به کسب و کارهای خارجی مهم است. </a:t>
              </a:r>
              <a:endParaRPr sz="1019" b="0" dirty="0">
                <a:solidFill>
                  <a:srgbClr val="222222"/>
                </a:solidFill>
                <a:latin typeface="Yekan Bakh"/>
                <a:cs typeface="Yekan Bakh"/>
              </a:endParaRPr>
            </a:p>
          </p:txBody>
        </p:sp>
        <p:sp>
          <p:nvSpPr>
            <p:cNvPr id="21" name="Rectangle 20">
              <a:extLst>
                <a:ext uri="{FF2B5EF4-FFF2-40B4-BE49-F238E27FC236}">
                  <a16:creationId xmlns:a16="http://schemas.microsoft.com/office/drawing/2014/main" id="{73BC2BFB-D703-2928-2E4E-AEF25BDDB093}"/>
                </a:ext>
              </a:extLst>
            </p:cNvPr>
            <p:cNvSpPr/>
            <p:nvPr/>
          </p:nvSpPr>
          <p:spPr>
            <a:xfrm>
              <a:off x="11163554" y="3770270"/>
              <a:ext cx="45720" cy="896112"/>
            </a:xfrm>
            <a:prstGeom prst="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08A49994-42AA-6B91-EC5F-A3B801364310}"/>
                </a:ext>
              </a:extLst>
            </p:cNvPr>
            <p:cNvSpPr txBox="1"/>
            <p:nvPr/>
          </p:nvSpPr>
          <p:spPr>
            <a:xfrm>
              <a:off x="457199" y="3749038"/>
              <a:ext cx="10692852" cy="322396"/>
            </a:xfrm>
            <a:prstGeom prst="rect">
              <a:avLst/>
            </a:prstGeom>
            <a:noFill/>
          </p:spPr>
          <p:txBody>
            <a:bodyPr wrap="square" anchor="t">
              <a:spAutoFit/>
            </a:bodyPr>
            <a:lstStyle/>
            <a:p>
              <a:pPr algn="r" rtl="1">
                <a:lnSpc>
                  <a:spcPct val="115000"/>
                </a:lnSpc>
              </a:pPr>
              <a:r>
                <a:rPr sz="1300" b="1" dirty="0">
                  <a:solidFill>
                    <a:srgbClr val="1E2761"/>
                  </a:solidFill>
                  <a:latin typeface="Yekan Bakh"/>
                  <a:cs typeface="Yekan Bakh"/>
                </a:rPr>
                <a:t>۳</a:t>
              </a:r>
              <a:r>
                <a:rPr lang="fa-IR" sz="1300" b="1" dirty="0">
                  <a:solidFill>
                    <a:srgbClr val="1E2761"/>
                  </a:solidFill>
                  <a:latin typeface="Yekan Bakh"/>
                  <a:cs typeface="Yekan Bakh"/>
                </a:rPr>
                <a:t>.</a:t>
              </a:r>
              <a:r>
                <a:rPr sz="1300" b="1" dirty="0">
                  <a:solidFill>
                    <a:srgbClr val="1E2761"/>
                  </a:solidFill>
                  <a:latin typeface="Yekan Bakh"/>
                  <a:cs typeface="Yekan Bakh"/>
                </a:rPr>
                <a:t> </a:t>
              </a:r>
              <a:r>
                <a:rPr sz="1300" b="1" dirty="0" err="1">
                  <a:solidFill>
                    <a:srgbClr val="1E2761"/>
                  </a:solidFill>
                  <a:latin typeface="Yekan Bakh"/>
                  <a:cs typeface="Yekan Bakh"/>
                </a:rPr>
                <a:t>پلتفرم</a:t>
              </a:r>
              <a:r>
                <a:rPr sz="1300" b="1" dirty="0">
                  <a:solidFill>
                    <a:srgbClr val="1E2761"/>
                  </a:solidFill>
                  <a:latin typeface="Yekan Bakh"/>
                  <a:cs typeface="Yekan Bakh"/>
                </a:rPr>
                <a:t> </a:t>
              </a:r>
              <a:r>
                <a:rPr sz="1300" b="1" dirty="0" err="1">
                  <a:solidFill>
                    <a:srgbClr val="1E2761"/>
                  </a:solidFill>
                  <a:latin typeface="Yekan Bakh"/>
                  <a:cs typeface="Yekan Bakh"/>
                </a:rPr>
                <a:t>دیجیتال</a:t>
              </a:r>
              <a:r>
                <a:rPr sz="1300" b="1" dirty="0">
                  <a:solidFill>
                    <a:srgbClr val="1E2761"/>
                  </a:solidFill>
                  <a:latin typeface="Yekan Bakh"/>
                  <a:cs typeface="Yekan Bakh"/>
                </a:rPr>
                <a:t> </a:t>
              </a:r>
              <a:r>
                <a:rPr sz="1300" b="1" dirty="0" err="1">
                  <a:solidFill>
                    <a:srgbClr val="1E2761"/>
                  </a:solidFill>
                  <a:latin typeface="Yekan Bakh"/>
                  <a:cs typeface="Yekan Bakh"/>
                </a:rPr>
                <a:t>دوطرفه</a:t>
              </a:r>
              <a:r>
                <a:rPr sz="1300" b="1" dirty="0">
                  <a:solidFill>
                    <a:srgbClr val="1E2761"/>
                  </a:solidFill>
                  <a:latin typeface="Yekan Bakh"/>
                  <a:cs typeface="Yekan Bakh"/>
                </a:rPr>
                <a:t> </a:t>
              </a:r>
              <a:r>
                <a:rPr sz="1300" b="1" dirty="0" err="1">
                  <a:solidFill>
                    <a:srgbClr val="1E2761"/>
                  </a:solidFill>
                  <a:latin typeface="Yekan Bakh"/>
                  <a:cs typeface="Yekan Bakh"/>
                </a:rPr>
                <a:t>معامله</a:t>
              </a:r>
              <a:endParaRPr sz="1300" b="1" dirty="0">
                <a:solidFill>
                  <a:srgbClr val="1E2761"/>
                </a:solidFill>
                <a:latin typeface="Yekan Bakh"/>
                <a:cs typeface="Yekan Bakh"/>
              </a:endParaRPr>
            </a:p>
          </p:txBody>
        </p:sp>
        <p:sp>
          <p:nvSpPr>
            <p:cNvPr id="25" name="TextBox 24">
              <a:extLst>
                <a:ext uri="{FF2B5EF4-FFF2-40B4-BE49-F238E27FC236}">
                  <a16:creationId xmlns:a16="http://schemas.microsoft.com/office/drawing/2014/main" id="{45BB0EDC-D583-E15B-21BA-28E991FAA9EC}"/>
                </a:ext>
              </a:extLst>
            </p:cNvPr>
            <p:cNvSpPr txBox="1"/>
            <p:nvPr/>
          </p:nvSpPr>
          <p:spPr>
            <a:xfrm>
              <a:off x="457199" y="4059934"/>
              <a:ext cx="10692852" cy="609975"/>
            </a:xfrm>
            <a:prstGeom prst="rect">
              <a:avLst/>
            </a:prstGeom>
            <a:noFill/>
          </p:spPr>
          <p:txBody>
            <a:bodyPr wrap="square" anchor="t">
              <a:spAutoFit/>
            </a:bodyPr>
            <a:lstStyle/>
            <a:p>
              <a:pPr algn="justLow" rtl="1">
                <a:lnSpc>
                  <a:spcPct val="110000"/>
                </a:lnSpc>
              </a:pPr>
              <a:r>
                <a:rPr sz="1019" b="0" dirty="0" err="1">
                  <a:solidFill>
                    <a:srgbClr val="222222"/>
                  </a:solidFill>
                  <a:latin typeface="Yekan Bakh"/>
                  <a:cs typeface="Yekan Bakh"/>
                </a:rPr>
                <a:t>ابزار</a:t>
              </a:r>
              <a:r>
                <a:rPr sz="1019" b="0" dirty="0">
                  <a:solidFill>
                    <a:srgbClr val="222222"/>
                  </a:solidFill>
                  <a:latin typeface="Yekan Bakh"/>
                  <a:cs typeface="Yekan Bakh"/>
                </a:rPr>
                <a:t> </a:t>
              </a:r>
              <a:r>
                <a:rPr sz="1019" b="0" dirty="0" err="1">
                  <a:solidFill>
                    <a:srgbClr val="222222"/>
                  </a:solidFill>
                  <a:latin typeface="Yekan Bakh"/>
                  <a:cs typeface="Yekan Bakh"/>
                </a:rPr>
                <a:t>خودارزیابی</a:t>
              </a:r>
              <a:r>
                <a:rPr sz="1019" b="0" dirty="0">
                  <a:solidFill>
                    <a:srgbClr val="222222"/>
                  </a:solidFill>
                  <a:latin typeface="Yekan Bakh"/>
                  <a:cs typeface="Yekan Bakh"/>
                </a:rPr>
                <a:t> </a:t>
              </a:r>
              <a:r>
                <a:rPr lang="fa-IR" sz="1019" b="0" dirty="0">
                  <a:solidFill>
                    <a:srgbClr val="222222"/>
                  </a:solidFill>
                  <a:latin typeface="Yekan Bakh"/>
                  <a:cs typeface="Yekan Bakh"/>
                </a:rPr>
                <a:t>+</a:t>
              </a:r>
              <a:r>
                <a:rPr sz="1019" b="0" dirty="0">
                  <a:solidFill>
                    <a:srgbClr val="222222"/>
                  </a:solidFill>
                  <a:latin typeface="Yekan Bakh"/>
                  <a:cs typeface="Yekan Bakh"/>
                </a:rPr>
                <a:t> </a:t>
              </a:r>
              <a:r>
                <a:rPr sz="1019" b="0" dirty="0" err="1">
                  <a:solidFill>
                    <a:srgbClr val="222222"/>
                  </a:solidFill>
                  <a:latin typeface="Yekan Bakh"/>
                  <a:cs typeface="Yekan Bakh"/>
                </a:rPr>
                <a:t>اتاق</a:t>
              </a:r>
              <a:r>
                <a:rPr sz="1019" b="0" dirty="0">
                  <a:solidFill>
                    <a:srgbClr val="222222"/>
                  </a:solidFill>
                  <a:latin typeface="Yekan Bakh"/>
                  <a:cs typeface="Yekan Bakh"/>
                </a:rPr>
                <a:t> </a:t>
              </a:r>
              <a:r>
                <a:rPr sz="1019" b="0" dirty="0" err="1">
                  <a:solidFill>
                    <a:srgbClr val="222222"/>
                  </a:solidFill>
                  <a:latin typeface="Yekan Bakh"/>
                  <a:cs typeface="Yekan Bakh"/>
                </a:rPr>
                <a:t>داده</a:t>
              </a:r>
              <a:r>
                <a:rPr sz="1019" b="0" dirty="0">
                  <a:solidFill>
                    <a:srgbClr val="222222"/>
                  </a:solidFill>
                  <a:latin typeface="Yekan Bakh"/>
                  <a:cs typeface="Yekan Bakh"/>
                </a:rPr>
                <a:t> </a:t>
              </a:r>
              <a:r>
                <a:rPr lang="fa-IR" sz="1019" b="0" dirty="0">
                  <a:solidFill>
                    <a:srgbClr val="222222"/>
                  </a:solidFill>
                  <a:latin typeface="Yekan Bakh"/>
                  <a:cs typeface="Yekan Bakh"/>
                </a:rPr>
                <a:t>+</a:t>
              </a:r>
              <a:r>
                <a:rPr sz="1019" b="0" dirty="0">
                  <a:solidFill>
                    <a:srgbClr val="222222"/>
                  </a:solidFill>
                  <a:latin typeface="Yekan Bakh"/>
                  <a:cs typeface="Yekan Bakh"/>
                </a:rPr>
                <a:t> </a:t>
              </a:r>
              <a:r>
                <a:rPr sz="1019" b="0" dirty="0" err="1">
                  <a:solidFill>
                    <a:srgbClr val="222222"/>
                  </a:solidFill>
                  <a:latin typeface="Yekan Bakh"/>
                  <a:cs typeface="Yekan Bakh"/>
                </a:rPr>
                <a:t>پورتال</a:t>
              </a:r>
              <a:r>
                <a:rPr sz="1019" b="0" dirty="0">
                  <a:solidFill>
                    <a:srgbClr val="222222"/>
                  </a:solidFill>
                  <a:latin typeface="Yekan Bakh"/>
                  <a:cs typeface="Yekan Bakh"/>
                </a:rPr>
                <a:t> </a:t>
              </a:r>
              <a:r>
                <a:rPr sz="1019" b="0" dirty="0" err="1">
                  <a:solidFill>
                    <a:srgbClr val="222222"/>
                  </a:solidFill>
                  <a:latin typeface="Yekan Bakh"/>
                  <a:cs typeface="Yekan Bakh"/>
                </a:rPr>
                <a:t>ثبت</a:t>
              </a:r>
              <a:r>
                <a:rPr sz="1019" b="0" dirty="0">
                  <a:solidFill>
                    <a:srgbClr val="222222"/>
                  </a:solidFill>
                  <a:latin typeface="Yekan Bakh"/>
                  <a:cs typeface="Yekan Bakh"/>
                </a:rPr>
                <a:t> </a:t>
              </a:r>
              <a:r>
                <a:rPr sz="1019" b="0" dirty="0" err="1">
                  <a:solidFill>
                    <a:srgbClr val="222222"/>
                  </a:solidFill>
                  <a:latin typeface="Yekan Bakh"/>
                  <a:cs typeface="Yekan Bakh"/>
                </a:rPr>
                <a:t>ساختاریافته</a:t>
              </a:r>
              <a:r>
                <a:rPr lang="fa-IR" sz="1019" b="0" dirty="0">
                  <a:solidFill>
                    <a:srgbClr val="222222"/>
                  </a:solidFill>
                  <a:latin typeface="Yekan Bakh"/>
                  <a:cs typeface="Yekan Bakh"/>
                </a:rPr>
                <a:t>:</a:t>
              </a:r>
              <a:r>
                <a:rPr sz="1019" b="0" dirty="0">
                  <a:solidFill>
                    <a:srgbClr val="222222"/>
                  </a:solidFill>
                  <a:latin typeface="Yekan Bakh"/>
                  <a:cs typeface="Yekan Bakh"/>
                </a:rPr>
                <a:t> </a:t>
              </a:r>
              <a:r>
                <a:rPr sz="1019" b="0" dirty="0" err="1">
                  <a:solidFill>
                    <a:srgbClr val="222222"/>
                  </a:solidFill>
                  <a:latin typeface="Yekan Bakh"/>
                  <a:cs typeface="Yekan Bakh"/>
                </a:rPr>
                <a:t>تنها</a:t>
              </a:r>
              <a:r>
                <a:rPr sz="1019" b="0" dirty="0">
                  <a:solidFill>
                    <a:srgbClr val="222222"/>
                  </a:solidFill>
                  <a:latin typeface="Yekan Bakh"/>
                  <a:cs typeface="Yekan Bakh"/>
                </a:rPr>
                <a:t> </a:t>
              </a:r>
              <a:r>
                <a:rPr sz="1019" b="0" dirty="0" err="1">
                  <a:solidFill>
                    <a:srgbClr val="222222"/>
                  </a:solidFill>
                  <a:latin typeface="Yekan Bakh"/>
                  <a:cs typeface="Yekan Bakh"/>
                </a:rPr>
                <a:t>کانال</a:t>
              </a:r>
              <a:r>
                <a:rPr sz="1019" b="0" dirty="0">
                  <a:solidFill>
                    <a:srgbClr val="222222"/>
                  </a:solidFill>
                  <a:latin typeface="Yekan Bakh"/>
                  <a:cs typeface="Yekan Bakh"/>
                </a:rPr>
                <a:t> </a:t>
              </a:r>
              <a:r>
                <a:rPr sz="1019" b="0" dirty="0" err="1">
                  <a:solidFill>
                    <a:srgbClr val="222222"/>
                  </a:solidFill>
                  <a:latin typeface="Yekan Bakh"/>
                  <a:cs typeface="Yekan Bakh"/>
                </a:rPr>
                <a:t>با</a:t>
              </a:r>
              <a:r>
                <a:rPr sz="1019" b="0" dirty="0">
                  <a:solidFill>
                    <a:srgbClr val="222222"/>
                  </a:solidFill>
                  <a:latin typeface="Yekan Bakh"/>
                  <a:cs typeface="Yekan Bakh"/>
                </a:rPr>
                <a:t> </a:t>
              </a:r>
              <a:r>
                <a:rPr sz="1019" b="0" dirty="0" err="1">
                  <a:solidFill>
                    <a:srgbClr val="222222"/>
                  </a:solidFill>
                  <a:latin typeface="Yekan Bakh"/>
                  <a:cs typeface="Yekan Bakh"/>
                </a:rPr>
                <a:t>پتانسیل</a:t>
              </a:r>
              <a:r>
                <a:rPr sz="1019" b="0" dirty="0">
                  <a:solidFill>
                    <a:srgbClr val="222222"/>
                  </a:solidFill>
                  <a:latin typeface="Yekan Bakh"/>
                  <a:cs typeface="Yekan Bakh"/>
                </a:rPr>
                <a:t> </a:t>
              </a:r>
              <a:r>
                <a:rPr sz="1019" b="0" dirty="0" err="1">
                  <a:solidFill>
                    <a:srgbClr val="222222"/>
                  </a:solidFill>
                  <a:latin typeface="Yekan Bakh"/>
                  <a:cs typeface="Yekan Bakh"/>
                </a:rPr>
                <a:t>واقعی</a:t>
              </a:r>
              <a:r>
                <a:rPr sz="1019" b="0" dirty="0">
                  <a:solidFill>
                    <a:srgbClr val="222222"/>
                  </a:solidFill>
                  <a:latin typeface="Yekan Bakh"/>
                  <a:cs typeface="Yekan Bakh"/>
                </a:rPr>
                <a:t> </a:t>
              </a:r>
              <a:r>
                <a:rPr sz="1019" b="0" dirty="0" err="1">
                  <a:solidFill>
                    <a:srgbClr val="222222"/>
                  </a:solidFill>
                  <a:latin typeface="Yekan Bakh"/>
                  <a:cs typeface="Yekan Bakh"/>
                </a:rPr>
                <a:t>مقیاس‌پذیری</a:t>
              </a:r>
              <a:r>
                <a:rPr sz="1019" b="0" dirty="0">
                  <a:solidFill>
                    <a:srgbClr val="222222"/>
                  </a:solidFill>
                  <a:latin typeface="Yekan Bakh"/>
                  <a:cs typeface="Yekan Bakh"/>
                </a:rPr>
                <a:t> </a:t>
              </a:r>
              <a:r>
                <a:rPr sz="1019" b="0" dirty="0" err="1">
                  <a:solidFill>
                    <a:srgbClr val="222222"/>
                  </a:solidFill>
                  <a:latin typeface="Yekan Bakh"/>
                  <a:cs typeface="Yekan Bakh"/>
                </a:rPr>
                <a:t>بدون</a:t>
              </a:r>
              <a:r>
                <a:rPr sz="1019" b="0" dirty="0">
                  <a:solidFill>
                    <a:srgbClr val="222222"/>
                  </a:solidFill>
                  <a:latin typeface="Yekan Bakh"/>
                  <a:cs typeface="Yekan Bakh"/>
                </a:rPr>
                <a:t> </a:t>
              </a:r>
              <a:r>
                <a:rPr sz="1019" b="0" dirty="0" err="1">
                  <a:solidFill>
                    <a:srgbClr val="222222"/>
                  </a:solidFill>
                  <a:latin typeface="Yekan Bakh"/>
                  <a:cs typeface="Yekan Bakh"/>
                </a:rPr>
                <a:t>افزایش</a:t>
              </a:r>
              <a:r>
                <a:rPr sz="1019" b="0" dirty="0">
                  <a:solidFill>
                    <a:srgbClr val="222222"/>
                  </a:solidFill>
                  <a:latin typeface="Yekan Bakh"/>
                  <a:cs typeface="Yekan Bakh"/>
                </a:rPr>
                <a:t> </a:t>
              </a:r>
              <a:r>
                <a:rPr sz="1019" b="0" dirty="0" err="1">
                  <a:solidFill>
                    <a:srgbClr val="222222"/>
                  </a:solidFill>
                  <a:latin typeface="Yekan Bakh"/>
                  <a:cs typeface="Yekan Bakh"/>
                </a:rPr>
                <a:t>خطی</a:t>
              </a:r>
              <a:r>
                <a:rPr sz="1019" b="0" dirty="0">
                  <a:solidFill>
                    <a:srgbClr val="222222"/>
                  </a:solidFill>
                  <a:latin typeface="Yekan Bakh"/>
                  <a:cs typeface="Yekan Bakh"/>
                </a:rPr>
                <a:t> </a:t>
              </a:r>
              <a:r>
                <a:rPr sz="1019" b="0" dirty="0" err="1">
                  <a:solidFill>
                    <a:srgbClr val="222222"/>
                  </a:solidFill>
                  <a:latin typeface="Yekan Bakh"/>
                  <a:cs typeface="Yekan Bakh"/>
                </a:rPr>
                <a:t>زمان</a:t>
              </a:r>
              <a:r>
                <a:rPr sz="1019" b="0" dirty="0">
                  <a:solidFill>
                    <a:srgbClr val="222222"/>
                  </a:solidFill>
                  <a:latin typeface="Yekan Bakh"/>
                  <a:cs typeface="Yekan Bakh"/>
                </a:rPr>
                <a:t> </a:t>
              </a:r>
              <a:r>
                <a:rPr sz="1019" b="0" dirty="0" err="1">
                  <a:solidFill>
                    <a:srgbClr val="222222"/>
                  </a:solidFill>
                  <a:latin typeface="Yekan Bakh"/>
                  <a:cs typeface="Yekan Bakh"/>
                </a:rPr>
                <a:t>تیم</a:t>
              </a:r>
              <a:r>
                <a:rPr sz="1019" b="0" dirty="0">
                  <a:solidFill>
                    <a:srgbClr val="222222"/>
                  </a:solidFill>
                  <a:latin typeface="Yekan Bakh"/>
                  <a:cs typeface="Yekan Bakh"/>
                </a:rPr>
                <a:t> </a:t>
              </a:r>
              <a:r>
                <a:rPr sz="1019" b="0" dirty="0" err="1">
                  <a:solidFill>
                    <a:srgbClr val="222222"/>
                  </a:solidFill>
                  <a:latin typeface="Yekan Bakh"/>
                  <a:cs typeface="Yekan Bakh"/>
                </a:rPr>
                <a:t>هسته</a:t>
              </a:r>
              <a:r>
                <a:rPr lang="fa-IR" sz="1019" b="0" dirty="0">
                  <a:solidFill>
                    <a:srgbClr val="222222"/>
                  </a:solidFill>
                  <a:latin typeface="Yekan Bakh"/>
                  <a:cs typeface="Yekan Bakh"/>
                </a:rPr>
                <a:t>.</a:t>
              </a:r>
              <a:r>
                <a:rPr sz="1019" b="0" dirty="0">
                  <a:solidFill>
                    <a:srgbClr val="222222"/>
                  </a:solidFill>
                  <a:latin typeface="Yekan Bakh"/>
                  <a:cs typeface="Yekan Bakh"/>
                </a:rPr>
                <a:t> </a:t>
              </a:r>
              <a:r>
                <a:rPr sz="1019" b="0" dirty="0" err="1">
                  <a:solidFill>
                    <a:srgbClr val="222222"/>
                  </a:solidFill>
                  <a:latin typeface="Yekan Bakh"/>
                  <a:cs typeface="Yekan Bakh"/>
                </a:rPr>
                <a:t>برای</a:t>
              </a:r>
              <a:r>
                <a:rPr sz="1019" b="0" dirty="0">
                  <a:solidFill>
                    <a:srgbClr val="222222"/>
                  </a:solidFill>
                  <a:latin typeface="Yekan Bakh"/>
                  <a:cs typeface="Yekan Bakh"/>
                </a:rPr>
                <a:t> </a:t>
              </a:r>
              <a:r>
                <a:rPr sz="1019" b="0" dirty="0" err="1">
                  <a:solidFill>
                    <a:srgbClr val="222222"/>
                  </a:solidFill>
                  <a:latin typeface="Yekan Bakh FaNum" pitchFamily="2" charset="-78"/>
                  <a:ea typeface="Yekan Bakh FaNum" pitchFamily="2" charset="-78"/>
                  <a:cs typeface="Yekan Bakh FaNum" pitchFamily="2" charset="-78"/>
                </a:rPr>
                <a:t>پرسونا</a:t>
              </a:r>
              <a:r>
                <a:rPr sz="1019" b="0" dirty="0">
                  <a:solidFill>
                    <a:srgbClr val="222222"/>
                  </a:solidFill>
                  <a:latin typeface="Yekan Bakh FaNum" pitchFamily="2" charset="-78"/>
                  <a:ea typeface="Yekan Bakh FaNum" pitchFamily="2" charset="-78"/>
                  <a:cs typeface="Yekan Bakh FaNum" pitchFamily="2" charset="-78"/>
                </a:rPr>
                <a:t> </a:t>
              </a:r>
              <a:r>
                <a:rPr lang="fa-IR" sz="1019" dirty="0">
                  <a:solidFill>
                    <a:srgbClr val="222222"/>
                  </a:solidFill>
                  <a:latin typeface="Yekan Bakh FaNum" pitchFamily="2" charset="-78"/>
                  <a:ea typeface="Yekan Bakh FaNum" pitchFamily="2" charset="-78"/>
                  <a:cs typeface="Yekan Bakh FaNum" pitchFamily="2" charset="-78"/>
                </a:rPr>
                <a:t>1 و 3</a:t>
              </a:r>
              <a:r>
                <a:rPr sz="1019" b="0" dirty="0">
                  <a:solidFill>
                    <a:srgbClr val="222222"/>
                  </a:solidFill>
                  <a:latin typeface="Yekan Bakh FaNum" pitchFamily="2" charset="-78"/>
                  <a:ea typeface="Yekan Bakh FaNum" pitchFamily="2" charset="-78"/>
                  <a:cs typeface="Yekan Bakh FaNum" pitchFamily="2" charset="-78"/>
                </a:rPr>
                <a:t> </a:t>
              </a:r>
              <a:r>
                <a:rPr sz="1019" b="0" dirty="0" err="1">
                  <a:solidFill>
                    <a:srgbClr val="222222"/>
                  </a:solidFill>
                  <a:latin typeface="Yekan Bakh"/>
                  <a:cs typeface="Yekan Bakh"/>
                </a:rPr>
                <a:t>کانال</a:t>
              </a:r>
              <a:r>
                <a:rPr sz="1019" b="0" dirty="0">
                  <a:solidFill>
                    <a:srgbClr val="222222"/>
                  </a:solidFill>
                  <a:latin typeface="Yekan Bakh"/>
                  <a:cs typeface="Yekan Bakh"/>
                </a:rPr>
                <a:t> </a:t>
              </a:r>
              <a:r>
                <a:rPr sz="1019" b="0" dirty="0" err="1">
                  <a:solidFill>
                    <a:srgbClr val="222222"/>
                  </a:solidFill>
                  <a:latin typeface="Yekan Bakh"/>
                  <a:cs typeface="Yekan Bakh"/>
                </a:rPr>
                <a:t>اصلی</a:t>
              </a:r>
              <a:r>
                <a:rPr sz="1019" b="0" dirty="0">
                  <a:solidFill>
                    <a:srgbClr val="222222"/>
                  </a:solidFill>
                  <a:latin typeface="Yekan Bakh"/>
                  <a:cs typeface="Yekan Bakh"/>
                </a:rPr>
                <a:t> </a:t>
              </a:r>
              <a:r>
                <a:rPr sz="1019" b="0" dirty="0" err="1">
                  <a:solidFill>
                    <a:srgbClr val="222222"/>
                  </a:solidFill>
                  <a:latin typeface="Yekan Bakh"/>
                  <a:cs typeface="Yekan Bakh"/>
                </a:rPr>
                <a:t>خرید</a:t>
              </a:r>
              <a:r>
                <a:rPr sz="1019" b="0" dirty="0">
                  <a:solidFill>
                    <a:srgbClr val="222222"/>
                  </a:solidFill>
                  <a:latin typeface="Yekan Bakh"/>
                  <a:cs typeface="Yekan Bakh"/>
                </a:rPr>
                <a:t> (self-service)؛ </a:t>
              </a:r>
              <a:r>
                <a:rPr sz="1019" b="0" dirty="0" err="1">
                  <a:solidFill>
                    <a:srgbClr val="222222"/>
                  </a:solidFill>
                  <a:latin typeface="Yekan Bakh"/>
                  <a:cs typeface="Yekan Bakh"/>
                </a:rPr>
                <a:t>برای</a:t>
              </a:r>
              <a:r>
                <a:rPr sz="1019" b="0" dirty="0">
                  <a:solidFill>
                    <a:srgbClr val="222222"/>
                  </a:solidFill>
                  <a:latin typeface="Yekan Bakh"/>
                  <a:cs typeface="Yekan Bakh"/>
                </a:rPr>
                <a:t> </a:t>
              </a:r>
              <a:r>
                <a:rPr sz="1019" b="0" dirty="0" err="1">
                  <a:solidFill>
                    <a:srgbClr val="222222"/>
                  </a:solidFill>
                  <a:latin typeface="Yekan Bakh"/>
                  <a:cs typeface="Yekan Bakh"/>
                </a:rPr>
                <a:t>پرسونا</a:t>
              </a:r>
              <a:r>
                <a:rPr sz="1019" b="0" dirty="0">
                  <a:solidFill>
                    <a:srgbClr val="222222"/>
                  </a:solidFill>
                  <a:latin typeface="Yekan Bakh"/>
                  <a:cs typeface="Yekan Bakh"/>
                </a:rPr>
                <a:t> ۵/۶ </a:t>
              </a:r>
              <a:r>
                <a:rPr lang="fa-IR" sz="1019" b="0" dirty="0">
                  <a:solidFill>
                    <a:srgbClr val="222222"/>
                  </a:solidFill>
                  <a:latin typeface="Yekan Bakh"/>
                  <a:cs typeface="Yekan Bakh"/>
                </a:rPr>
                <a:t> </a:t>
              </a:r>
              <a:r>
                <a:rPr sz="1019" b="0" dirty="0" err="1">
                  <a:solidFill>
                    <a:srgbClr val="222222"/>
                  </a:solidFill>
                  <a:latin typeface="Yekan Bakh"/>
                  <a:cs typeface="Yekan Bakh"/>
                </a:rPr>
                <a:t>مسیر</a:t>
              </a:r>
              <a:r>
                <a:rPr sz="1019" b="0" dirty="0">
                  <a:solidFill>
                    <a:srgbClr val="222222"/>
                  </a:solidFill>
                  <a:latin typeface="Yekan Bakh"/>
                  <a:cs typeface="Yekan Bakh"/>
                </a:rPr>
                <a:t> </a:t>
              </a:r>
              <a:r>
                <a:rPr sz="1019" b="0" dirty="0" err="1">
                  <a:solidFill>
                    <a:srgbClr val="222222"/>
                  </a:solidFill>
                  <a:latin typeface="Yekan Bakh"/>
                  <a:cs typeface="Yekan Bakh"/>
                </a:rPr>
                <a:t>ورودی</a:t>
              </a:r>
              <a:r>
                <a:rPr sz="1019" b="0" dirty="0">
                  <a:solidFill>
                    <a:srgbClr val="222222"/>
                  </a:solidFill>
                  <a:latin typeface="Yekan Bakh"/>
                  <a:cs typeface="Yekan Bakh"/>
                </a:rPr>
                <a:t> و </a:t>
              </a:r>
              <a:r>
                <a:rPr sz="1019" b="0" dirty="0" err="1">
                  <a:solidFill>
                    <a:srgbClr val="222222"/>
                  </a:solidFill>
                  <a:latin typeface="Yekan Bakh"/>
                  <a:cs typeface="Yekan Bakh"/>
                </a:rPr>
                <a:t>غربال</a:t>
              </a:r>
              <a:r>
                <a:rPr sz="1019" b="0" dirty="0">
                  <a:solidFill>
                    <a:srgbClr val="222222"/>
                  </a:solidFill>
                  <a:latin typeface="Yekan Bakh"/>
                  <a:cs typeface="Yekan Bakh"/>
                </a:rPr>
                <a:t> </a:t>
              </a:r>
              <a:r>
                <a:rPr sz="1019" b="0" dirty="0" err="1">
                  <a:solidFill>
                    <a:srgbClr val="222222"/>
                  </a:solidFill>
                  <a:latin typeface="Yekan Bakh"/>
                  <a:cs typeface="Yekan Bakh"/>
                </a:rPr>
                <a:t>اولیه</a:t>
              </a:r>
              <a:r>
                <a:rPr sz="1019" b="0" dirty="0">
                  <a:solidFill>
                    <a:srgbClr val="222222"/>
                  </a:solidFill>
                  <a:latin typeface="Yekan Bakh"/>
                  <a:cs typeface="Yekan Bakh"/>
                </a:rPr>
                <a:t> </a:t>
              </a:r>
              <a:r>
                <a:rPr sz="1019" b="0" dirty="0" err="1">
                  <a:solidFill>
                    <a:srgbClr val="222222"/>
                  </a:solidFill>
                  <a:latin typeface="Yekan Bakh"/>
                  <a:cs typeface="Yekan Bakh"/>
                </a:rPr>
                <a:t>پیش</a:t>
              </a:r>
              <a:r>
                <a:rPr sz="1019" b="0" dirty="0">
                  <a:solidFill>
                    <a:srgbClr val="222222"/>
                  </a:solidFill>
                  <a:latin typeface="Yekan Bakh"/>
                  <a:cs typeface="Yekan Bakh"/>
                </a:rPr>
                <a:t> </a:t>
              </a:r>
              <a:r>
                <a:rPr sz="1019" b="0" dirty="0" err="1">
                  <a:solidFill>
                    <a:srgbClr val="222222"/>
                  </a:solidFill>
                  <a:latin typeface="Yekan Bakh"/>
                  <a:cs typeface="Yekan Bakh"/>
                </a:rPr>
                <a:t>از</a:t>
              </a:r>
              <a:r>
                <a:rPr sz="1019" b="0" dirty="0">
                  <a:solidFill>
                    <a:srgbClr val="222222"/>
                  </a:solidFill>
                  <a:latin typeface="Yekan Bakh"/>
                  <a:cs typeface="Yekan Bakh"/>
                </a:rPr>
                <a:t> </a:t>
              </a:r>
              <a:r>
                <a:rPr sz="1019" b="0" dirty="0" err="1">
                  <a:solidFill>
                    <a:srgbClr val="222222"/>
                  </a:solidFill>
                  <a:latin typeface="Yekan Bakh"/>
                  <a:cs typeface="Yekan Bakh"/>
                </a:rPr>
                <a:t>تعامل</a:t>
              </a:r>
              <a:r>
                <a:rPr sz="1019" b="0" dirty="0">
                  <a:solidFill>
                    <a:srgbClr val="222222"/>
                  </a:solidFill>
                  <a:latin typeface="Yekan Bakh"/>
                  <a:cs typeface="Yekan Bakh"/>
                </a:rPr>
                <a:t> Being؛ و </a:t>
              </a:r>
              <a:r>
                <a:rPr sz="1019" b="0" dirty="0" err="1">
                  <a:solidFill>
                    <a:srgbClr val="222222"/>
                  </a:solidFill>
                  <a:latin typeface="Yekan Bakh"/>
                  <a:cs typeface="Yekan Bakh"/>
                </a:rPr>
                <a:t>در</a:t>
              </a:r>
              <a:r>
                <a:rPr sz="1019" b="0" dirty="0">
                  <a:solidFill>
                    <a:srgbClr val="222222"/>
                  </a:solidFill>
                  <a:latin typeface="Yekan Bakh"/>
                  <a:cs typeface="Yekan Bakh"/>
                </a:rPr>
                <a:t> </a:t>
              </a:r>
              <a:r>
                <a:rPr sz="1019" b="0" dirty="0" err="1">
                  <a:solidFill>
                    <a:srgbClr val="222222"/>
                  </a:solidFill>
                  <a:latin typeface="Yekan Bakh"/>
                  <a:cs typeface="Yekan Bakh"/>
                </a:rPr>
                <a:t>سطح</a:t>
              </a:r>
              <a:r>
                <a:rPr sz="1019" b="0" dirty="0">
                  <a:solidFill>
                    <a:srgbClr val="222222"/>
                  </a:solidFill>
                  <a:latin typeface="Yekan Bakh"/>
                  <a:cs typeface="Yekan Bakh"/>
                </a:rPr>
                <a:t> </a:t>
              </a:r>
              <a:r>
                <a:rPr sz="1019" b="0" dirty="0" err="1">
                  <a:solidFill>
                    <a:srgbClr val="222222"/>
                  </a:solidFill>
                  <a:latin typeface="Yekan Bakh"/>
                  <a:cs typeface="Yekan Bakh"/>
                </a:rPr>
                <a:t>کل</a:t>
              </a:r>
              <a:r>
                <a:rPr sz="1019" b="0" dirty="0">
                  <a:solidFill>
                    <a:srgbClr val="222222"/>
                  </a:solidFill>
                  <a:latin typeface="Yekan Bakh"/>
                  <a:cs typeface="Yekan Bakh"/>
                </a:rPr>
                <a:t> </a:t>
              </a:r>
              <a:r>
                <a:rPr sz="1019" b="0" dirty="0" err="1">
                  <a:solidFill>
                    <a:srgbClr val="222222"/>
                  </a:solidFill>
                  <a:latin typeface="Yekan Bakh"/>
                  <a:cs typeface="Yekan Bakh"/>
                </a:rPr>
                <a:t>اکوسیستم</a:t>
              </a:r>
              <a:r>
                <a:rPr sz="1019" b="0" dirty="0">
                  <a:solidFill>
                    <a:srgbClr val="222222"/>
                  </a:solidFill>
                  <a:latin typeface="Yekan Bakh"/>
                  <a:cs typeface="Yekan Bakh"/>
                </a:rPr>
                <a:t>، </a:t>
              </a:r>
              <a:r>
                <a:rPr sz="1019" b="0" dirty="0" err="1">
                  <a:solidFill>
                    <a:srgbClr val="222222"/>
                  </a:solidFill>
                  <a:latin typeface="Yekan Bakh"/>
                  <a:cs typeface="Yekan Bakh"/>
                </a:rPr>
                <a:t>دارایی</a:t>
              </a:r>
              <a:r>
                <a:rPr sz="1019" b="0" dirty="0">
                  <a:solidFill>
                    <a:srgbClr val="222222"/>
                  </a:solidFill>
                  <a:latin typeface="Yekan Bakh"/>
                  <a:cs typeface="Yekan Bakh"/>
                </a:rPr>
                <a:t> </a:t>
              </a:r>
              <a:r>
                <a:rPr sz="1019" b="0" dirty="0" err="1">
                  <a:solidFill>
                    <a:srgbClr val="222222"/>
                  </a:solidFill>
                  <a:latin typeface="Yekan Bakh"/>
                  <a:cs typeface="Yekan Bakh"/>
                </a:rPr>
                <a:t>داده‌ای</a:t>
              </a:r>
              <a:r>
                <a:rPr sz="1019" b="0" dirty="0">
                  <a:solidFill>
                    <a:srgbClr val="222222"/>
                  </a:solidFill>
                  <a:latin typeface="Yekan Bakh"/>
                  <a:cs typeface="Yekan Bakh"/>
                </a:rPr>
                <a:t> </a:t>
              </a:r>
              <a:r>
                <a:rPr sz="1019" b="0" dirty="0" err="1">
                  <a:solidFill>
                    <a:srgbClr val="222222"/>
                  </a:solidFill>
                  <a:latin typeface="Yekan Bakh"/>
                  <a:cs typeface="Yekan Bakh"/>
                </a:rPr>
                <a:t>بلندمدت</a:t>
              </a:r>
              <a:r>
                <a:rPr sz="1019" b="0" dirty="0">
                  <a:solidFill>
                    <a:srgbClr val="222222"/>
                  </a:solidFill>
                  <a:latin typeface="Yekan Bakh"/>
                  <a:cs typeface="Yekan Bakh"/>
                </a:rPr>
                <a:t> </a:t>
              </a:r>
              <a:r>
                <a:rPr lang="fa-IR" sz="1019" b="0" dirty="0">
                  <a:solidFill>
                    <a:srgbClr val="222222"/>
                  </a:solidFill>
                  <a:latin typeface="Yekan Bakh"/>
                  <a:cs typeface="Yekan Bakh"/>
                </a:rPr>
                <a:t>(</a:t>
              </a:r>
              <a:r>
                <a:rPr sz="1019" b="0" dirty="0" err="1">
                  <a:solidFill>
                    <a:srgbClr val="222222"/>
                  </a:solidFill>
                  <a:latin typeface="Yekan Bakh"/>
                  <a:cs typeface="Yekan Bakh"/>
                </a:rPr>
                <a:t>تاریخچه</a:t>
              </a:r>
              <a:r>
                <a:rPr sz="1019" b="0" dirty="0">
                  <a:solidFill>
                    <a:srgbClr val="222222"/>
                  </a:solidFill>
                  <a:latin typeface="Yekan Bakh"/>
                  <a:cs typeface="Yekan Bakh"/>
                </a:rPr>
                <a:t> </a:t>
              </a:r>
              <a:r>
                <a:rPr sz="1019" b="0" dirty="0" err="1">
                  <a:solidFill>
                    <a:srgbClr val="222222"/>
                  </a:solidFill>
                  <a:latin typeface="Yekan Bakh"/>
                  <a:cs typeface="Yekan Bakh"/>
                </a:rPr>
                <a:t>معاملات</a:t>
              </a:r>
              <a:r>
                <a:rPr sz="1019" b="0" dirty="0">
                  <a:solidFill>
                    <a:srgbClr val="222222"/>
                  </a:solidFill>
                  <a:latin typeface="Yekan Bakh"/>
                  <a:cs typeface="Yekan Bakh"/>
                </a:rPr>
                <a:t>/</a:t>
              </a:r>
              <a:r>
                <a:rPr sz="1019" b="0" dirty="0" err="1">
                  <a:solidFill>
                    <a:srgbClr val="222222"/>
                  </a:solidFill>
                  <a:latin typeface="Yekan Bakh"/>
                  <a:cs typeface="Yekan Bakh"/>
                </a:rPr>
                <a:t>تقاضا</a:t>
              </a:r>
              <a:r>
                <a:rPr lang="fa-IR" sz="1019" b="0" dirty="0">
                  <a:solidFill>
                    <a:srgbClr val="222222"/>
                  </a:solidFill>
                  <a:latin typeface="Yekan Bakh"/>
                  <a:cs typeface="Yekan Bakh"/>
                </a:rPr>
                <a:t>) </a:t>
              </a:r>
              <a:r>
                <a:rPr sz="1019" b="0" dirty="0" err="1">
                  <a:solidFill>
                    <a:srgbClr val="222222"/>
                  </a:solidFill>
                  <a:latin typeface="Yekan Bakh"/>
                  <a:cs typeface="Yekan Bakh"/>
                </a:rPr>
                <a:t>که</a:t>
              </a:r>
              <a:r>
                <a:rPr sz="1019" b="0" dirty="0">
                  <a:solidFill>
                    <a:srgbClr val="222222"/>
                  </a:solidFill>
                  <a:latin typeface="Yekan Bakh"/>
                  <a:cs typeface="Yekan Bakh"/>
                </a:rPr>
                <a:t> </a:t>
              </a:r>
              <a:r>
                <a:rPr sz="1019" b="0" dirty="0" err="1">
                  <a:solidFill>
                    <a:srgbClr val="222222"/>
                  </a:solidFill>
                  <a:latin typeface="Yekan Bakh"/>
                  <a:cs typeface="Yekan Bakh"/>
                </a:rPr>
                <a:t>مزیت</a:t>
              </a:r>
              <a:r>
                <a:rPr sz="1019" b="0" dirty="0">
                  <a:solidFill>
                    <a:srgbClr val="222222"/>
                  </a:solidFill>
                  <a:latin typeface="Yekan Bakh"/>
                  <a:cs typeface="Yekan Bakh"/>
                </a:rPr>
                <a:t> </a:t>
              </a:r>
              <a:r>
                <a:rPr sz="1019" b="0" dirty="0" err="1">
                  <a:solidFill>
                    <a:srgbClr val="222222"/>
                  </a:solidFill>
                  <a:latin typeface="Yekan Bakh"/>
                  <a:cs typeface="Yekan Bakh"/>
                </a:rPr>
                <a:t>رقابتی</a:t>
              </a:r>
              <a:r>
                <a:rPr sz="1019" b="0" dirty="0">
                  <a:solidFill>
                    <a:srgbClr val="222222"/>
                  </a:solidFill>
                  <a:latin typeface="Yekan Bakh"/>
                  <a:cs typeface="Yekan Bakh"/>
                </a:rPr>
                <a:t> </a:t>
              </a:r>
              <a:r>
                <a:rPr sz="1019" b="0" dirty="0" err="1">
                  <a:solidFill>
                    <a:srgbClr val="222222"/>
                  </a:solidFill>
                  <a:latin typeface="Yekan Bakh"/>
                  <a:cs typeface="Yekan Bakh"/>
                </a:rPr>
                <a:t>می‌سازد</a:t>
              </a:r>
              <a:r>
                <a:rPr lang="fa-IR" sz="1019" b="0" dirty="0">
                  <a:solidFill>
                    <a:srgbClr val="222222"/>
                  </a:solidFill>
                  <a:latin typeface="Yekan Bakh"/>
                  <a:cs typeface="Yekan Bakh"/>
                </a:rPr>
                <a:t>.</a:t>
              </a:r>
              <a:r>
                <a:rPr sz="1019" b="0" dirty="0">
                  <a:solidFill>
                    <a:srgbClr val="222222"/>
                  </a:solidFill>
                  <a:latin typeface="Yekan Bakh"/>
                  <a:cs typeface="Yekan Bakh"/>
                </a:rPr>
                <a:t> </a:t>
              </a:r>
              <a:r>
                <a:rPr sz="1019" b="0" dirty="0" err="1">
                  <a:solidFill>
                    <a:srgbClr val="222222"/>
                  </a:solidFill>
                  <a:latin typeface="Yekan Bakh"/>
                  <a:cs typeface="Yekan Bakh"/>
                </a:rPr>
                <a:t>بنچمارک</a:t>
              </a:r>
              <a:r>
                <a:rPr lang="fa-IR" sz="1019" b="0" dirty="0">
                  <a:solidFill>
                    <a:srgbClr val="222222"/>
                  </a:solidFill>
                  <a:latin typeface="Yekan Bakh"/>
                  <a:cs typeface="Yekan Bakh"/>
                </a:rPr>
                <a:t> </a:t>
              </a:r>
              <a:r>
                <a:rPr sz="1019" b="0" dirty="0">
                  <a:solidFill>
                    <a:srgbClr val="222222"/>
                  </a:solidFill>
                  <a:latin typeface="Yekan Bakh"/>
                  <a:cs typeface="Yekan Bakh"/>
                </a:rPr>
                <a:t>Nasdaq Private Market، </a:t>
              </a:r>
              <a:r>
                <a:rPr sz="1019" b="0" dirty="0" err="1">
                  <a:solidFill>
                    <a:srgbClr val="222222"/>
                  </a:solidFill>
                  <a:latin typeface="Yekan Bakh"/>
                  <a:cs typeface="Yekan Bakh"/>
                </a:rPr>
                <a:t>LawTrader</a:t>
              </a:r>
              <a:r>
                <a:rPr sz="1019" b="0" dirty="0">
                  <a:solidFill>
                    <a:srgbClr val="222222"/>
                  </a:solidFill>
                  <a:latin typeface="Yekan Bakh"/>
                  <a:cs typeface="Yekan Bakh"/>
                </a:rPr>
                <a:t>، Hum Capital، Turn8، Pitch40</a:t>
              </a:r>
              <a:r>
                <a:rPr lang="fa-IR" sz="1019" b="0" dirty="0">
                  <a:solidFill>
                    <a:srgbClr val="222222"/>
                  </a:solidFill>
                  <a:latin typeface="Yekan Bakh"/>
                  <a:cs typeface="Yekan Bakh"/>
                </a:rPr>
                <a:t>.</a:t>
              </a:r>
              <a:endParaRPr sz="1019" b="0" dirty="0">
                <a:solidFill>
                  <a:srgbClr val="222222"/>
                </a:solidFill>
                <a:latin typeface="Yekan Bakh"/>
                <a:cs typeface="Yekan Bakh"/>
              </a:endParaRPr>
            </a:p>
          </p:txBody>
        </p:sp>
      </p:grpSp>
      <p:cxnSp>
        <p:nvCxnSpPr>
          <p:cNvPr id="30" name="Straight Connector 29">
            <a:extLst>
              <a:ext uri="{FF2B5EF4-FFF2-40B4-BE49-F238E27FC236}">
                <a16:creationId xmlns:a16="http://schemas.microsoft.com/office/drawing/2014/main" id="{F66B6BA7-1640-BE06-8443-2B3B183B7469}"/>
              </a:ext>
            </a:extLst>
          </p:cNvPr>
          <p:cNvCxnSpPr/>
          <p:nvPr/>
        </p:nvCxnSpPr>
        <p:spPr>
          <a:xfrm>
            <a:off x="457199" y="5068421"/>
            <a:ext cx="10786374" cy="0"/>
          </a:xfrm>
          <a:prstGeom prst="line">
            <a:avLst/>
          </a:prstGeom>
          <a:ln w="6350">
            <a:prstDash val="dash"/>
          </a:ln>
        </p:spPr>
        <p:style>
          <a:lnRef idx="1">
            <a:schemeClr val="accent2"/>
          </a:lnRef>
          <a:fillRef idx="0">
            <a:schemeClr val="accent2"/>
          </a:fillRef>
          <a:effectRef idx="0">
            <a:schemeClr val="accent2"/>
          </a:effectRef>
          <a:fontRef idx="minor">
            <a:schemeClr val="tx1"/>
          </a:fontRef>
        </p:style>
      </p:cxnSp>
      <p:grpSp>
        <p:nvGrpSpPr>
          <p:cNvPr id="34" name="Group 33">
            <a:extLst>
              <a:ext uri="{FF2B5EF4-FFF2-40B4-BE49-F238E27FC236}">
                <a16:creationId xmlns:a16="http://schemas.microsoft.com/office/drawing/2014/main" id="{B167A163-14B5-306B-1FD4-C2275AC9F104}"/>
              </a:ext>
            </a:extLst>
          </p:cNvPr>
          <p:cNvGrpSpPr/>
          <p:nvPr/>
        </p:nvGrpSpPr>
        <p:grpSpPr>
          <a:xfrm>
            <a:off x="457199" y="5267528"/>
            <a:ext cx="10750786" cy="424090"/>
            <a:chOff x="457199" y="5267528"/>
            <a:chExt cx="10750786" cy="424090"/>
          </a:xfrm>
        </p:grpSpPr>
        <p:sp>
          <p:nvSpPr>
            <p:cNvPr id="29" name="TextBox 28">
              <a:extLst>
                <a:ext uri="{FF2B5EF4-FFF2-40B4-BE49-F238E27FC236}">
                  <a16:creationId xmlns:a16="http://schemas.microsoft.com/office/drawing/2014/main" id="{783A7DAB-7132-4E27-90EB-C5841FB6B00D}"/>
                </a:ext>
              </a:extLst>
            </p:cNvPr>
            <p:cNvSpPr txBox="1"/>
            <p:nvPr/>
          </p:nvSpPr>
          <p:spPr>
            <a:xfrm>
              <a:off x="457199" y="5267528"/>
              <a:ext cx="9251157" cy="424090"/>
            </a:xfrm>
            <a:prstGeom prst="rect">
              <a:avLst/>
            </a:prstGeom>
            <a:noFill/>
          </p:spPr>
          <p:txBody>
            <a:bodyPr wrap="square" anchor="t">
              <a:spAutoFit/>
            </a:bodyPr>
            <a:lstStyle/>
            <a:p>
              <a:pPr algn="justLow" rtl="1">
                <a:lnSpc>
                  <a:spcPct val="110000"/>
                </a:lnSpc>
              </a:pPr>
              <a:r>
                <a:rPr sz="980" b="1" dirty="0" err="1">
                  <a:solidFill>
                    <a:srgbClr val="1E2761"/>
                  </a:solidFill>
                  <a:latin typeface="Yekan Bakh"/>
                  <a:cs typeface="Yekan Bakh"/>
                </a:rPr>
                <a:t>نقش</a:t>
              </a:r>
              <a:r>
                <a:rPr sz="980" b="1" dirty="0">
                  <a:solidFill>
                    <a:srgbClr val="1E2761"/>
                  </a:solidFill>
                  <a:latin typeface="Yekan Bakh"/>
                  <a:cs typeface="Yekan Bakh"/>
                </a:rPr>
                <a:t> </a:t>
              </a:r>
              <a:r>
                <a:rPr sz="980" b="1" dirty="0" err="1">
                  <a:solidFill>
                    <a:srgbClr val="1E2761"/>
                  </a:solidFill>
                  <a:latin typeface="Yekan Bakh"/>
                  <a:cs typeface="Yekan Bakh"/>
                </a:rPr>
                <a:t>پلتفرم</a:t>
              </a:r>
              <a:r>
                <a:rPr sz="980" b="1" dirty="0">
                  <a:solidFill>
                    <a:srgbClr val="1E2761"/>
                  </a:solidFill>
                  <a:latin typeface="Yekan Bakh"/>
                  <a:cs typeface="Yekan Bakh"/>
                </a:rPr>
                <a:t> </a:t>
              </a:r>
              <a:r>
                <a:rPr sz="980" b="1" dirty="0" err="1">
                  <a:solidFill>
                    <a:srgbClr val="1E2761"/>
                  </a:solidFill>
                  <a:latin typeface="Yekan Bakh"/>
                  <a:cs typeface="Yekan Bakh"/>
                </a:rPr>
                <a:t>دیجیتال</a:t>
              </a:r>
              <a:r>
                <a:rPr sz="980" b="1" dirty="0">
                  <a:solidFill>
                    <a:srgbClr val="1E2761"/>
                  </a:solidFill>
                  <a:latin typeface="Yekan Bakh"/>
                  <a:cs typeface="Yekan Bakh"/>
                </a:rPr>
                <a:t>: </a:t>
              </a:r>
              <a:r>
                <a:rPr sz="980" b="1" dirty="0" err="1">
                  <a:solidFill>
                    <a:srgbClr val="1E2761"/>
                  </a:solidFill>
                  <a:latin typeface="Yekan Bakh"/>
                  <a:cs typeface="Yekan Bakh"/>
                </a:rPr>
                <a:t>در</a:t>
              </a:r>
              <a:r>
                <a:rPr sz="980" b="1" dirty="0">
                  <a:solidFill>
                    <a:srgbClr val="1E2761"/>
                  </a:solidFill>
                  <a:latin typeface="Yekan Bakh"/>
                  <a:cs typeface="Yekan Bakh"/>
                </a:rPr>
                <a:t> </a:t>
              </a:r>
              <a:r>
                <a:rPr sz="980" b="1" dirty="0" err="1">
                  <a:solidFill>
                    <a:srgbClr val="1E2761"/>
                  </a:solidFill>
                  <a:latin typeface="Yekan Bakh"/>
                  <a:cs typeface="Yekan Bakh"/>
                </a:rPr>
                <a:t>فاز</a:t>
              </a:r>
              <a:r>
                <a:rPr sz="980" b="1" dirty="0">
                  <a:solidFill>
                    <a:srgbClr val="1E2761"/>
                  </a:solidFill>
                  <a:latin typeface="Yekan Bakh"/>
                  <a:cs typeface="Yekan Bakh"/>
                </a:rPr>
                <a:t> </a:t>
              </a:r>
              <a:r>
                <a:rPr lang="fa-IR" sz="980" b="1" dirty="0">
                  <a:solidFill>
                    <a:srgbClr val="1E2761"/>
                  </a:solidFill>
                  <a:latin typeface="Yekan Bakh"/>
                  <a:cs typeface="Yekan Bakh"/>
                </a:rPr>
                <a:t>اولیه</a:t>
              </a:r>
              <a:r>
                <a:rPr sz="980" b="1" dirty="0">
                  <a:solidFill>
                    <a:srgbClr val="1E2761"/>
                  </a:solidFill>
                  <a:latin typeface="Yekan Bakh"/>
                  <a:cs typeface="Yekan Bakh"/>
                </a:rPr>
                <a:t> </a:t>
              </a:r>
              <a:r>
                <a:rPr sz="980" b="1" dirty="0" err="1">
                  <a:solidFill>
                    <a:srgbClr val="1E2761"/>
                  </a:solidFill>
                  <a:latin typeface="Yekan Bakh"/>
                  <a:cs typeface="Yekan Bakh"/>
                </a:rPr>
                <a:t>مکمل</a:t>
              </a:r>
              <a:r>
                <a:rPr sz="980" b="1" dirty="0">
                  <a:solidFill>
                    <a:srgbClr val="1E2761"/>
                  </a:solidFill>
                  <a:latin typeface="Yekan Bakh"/>
                  <a:cs typeface="Yekan Bakh"/>
                </a:rPr>
                <a:t> </a:t>
              </a:r>
              <a:r>
                <a:rPr sz="980" b="1" dirty="0" err="1">
                  <a:solidFill>
                    <a:srgbClr val="1E2761"/>
                  </a:solidFill>
                  <a:latin typeface="Yekan Bakh"/>
                  <a:cs typeface="Yekan Bakh"/>
                </a:rPr>
                <a:t>کانال‌ها</a:t>
              </a:r>
              <a:r>
                <a:rPr lang="fa-IR" sz="980" b="1" dirty="0">
                  <a:solidFill>
                    <a:srgbClr val="1E2761"/>
                  </a:solidFill>
                  <a:latin typeface="Yekan Bakh"/>
                  <a:cs typeface="Yekan Bakh"/>
                </a:rPr>
                <a:t>ی</a:t>
              </a:r>
              <a:r>
                <a:rPr sz="980" b="1" dirty="0">
                  <a:solidFill>
                    <a:srgbClr val="1E2761"/>
                  </a:solidFill>
                  <a:latin typeface="Yekan Bakh"/>
                  <a:cs typeface="Yekan Bakh"/>
                </a:rPr>
                <a:t>Being </a:t>
              </a:r>
              <a:r>
                <a:rPr lang="fa-IR" sz="980" b="1" dirty="0">
                  <a:solidFill>
                    <a:srgbClr val="1E2761"/>
                  </a:solidFill>
                  <a:latin typeface="Yekan Bakh"/>
                  <a:cs typeface="Yekan Bakh"/>
                </a:rPr>
                <a:t> است</a:t>
              </a:r>
              <a:r>
                <a:rPr sz="980" b="1" dirty="0">
                  <a:solidFill>
                    <a:srgbClr val="1E2761"/>
                  </a:solidFill>
                  <a:latin typeface="Yekan Bakh"/>
                  <a:cs typeface="Yekan Bakh"/>
                </a:rPr>
                <a:t> </a:t>
              </a:r>
              <a:r>
                <a:rPr lang="fa-IR" sz="980" b="1" dirty="0">
                  <a:solidFill>
                    <a:srgbClr val="1E2761"/>
                  </a:solidFill>
                  <a:latin typeface="Yekan Bakh"/>
                  <a:cs typeface="Yekan Bakh"/>
                </a:rPr>
                <a:t>(</a:t>
              </a:r>
              <a:r>
                <a:rPr sz="980" b="1" dirty="0" err="1">
                  <a:solidFill>
                    <a:srgbClr val="1E2761"/>
                  </a:solidFill>
                  <a:latin typeface="Yekan Bakh"/>
                  <a:cs typeface="Yekan Bakh"/>
                </a:rPr>
                <a:t>غربال</a:t>
              </a:r>
              <a:r>
                <a:rPr sz="980" b="1" dirty="0">
                  <a:solidFill>
                    <a:srgbClr val="1E2761"/>
                  </a:solidFill>
                  <a:latin typeface="Yekan Bakh"/>
                  <a:cs typeface="Yekan Bakh"/>
                </a:rPr>
                <a:t>/</a:t>
              </a:r>
              <a:r>
                <a:rPr sz="980" b="1" dirty="0" err="1">
                  <a:solidFill>
                    <a:srgbClr val="1E2761"/>
                  </a:solidFill>
                  <a:latin typeface="Yekan Bakh"/>
                  <a:cs typeface="Yekan Bakh"/>
                </a:rPr>
                <a:t>ورودی</a:t>
              </a:r>
              <a:r>
                <a:rPr lang="fa-IR" sz="980" b="1" dirty="0">
                  <a:solidFill>
                    <a:srgbClr val="1E2761"/>
                  </a:solidFill>
                  <a:latin typeface="Yekan Bakh"/>
                  <a:cs typeface="Yekan Bakh"/>
                </a:rPr>
                <a:t>)</a:t>
              </a:r>
              <a:r>
                <a:rPr sz="980" b="1" dirty="0">
                  <a:solidFill>
                    <a:srgbClr val="1E2761"/>
                  </a:solidFill>
                  <a:latin typeface="Yekan Bakh"/>
                  <a:cs typeface="Yekan Bakh"/>
                </a:rPr>
                <a:t>؛ </a:t>
              </a:r>
              <a:r>
                <a:rPr sz="980" b="1" dirty="0" err="1">
                  <a:solidFill>
                    <a:srgbClr val="1E2761"/>
                  </a:solidFill>
                  <a:latin typeface="Yekan Bakh"/>
                  <a:cs typeface="Yekan Bakh"/>
                </a:rPr>
                <a:t>در</a:t>
              </a:r>
              <a:r>
                <a:rPr sz="980" b="1" dirty="0">
                  <a:solidFill>
                    <a:srgbClr val="1E2761"/>
                  </a:solidFill>
                  <a:latin typeface="Yekan Bakh"/>
                  <a:cs typeface="Yekan Bakh"/>
                </a:rPr>
                <a:t> </a:t>
              </a:r>
              <a:r>
                <a:rPr sz="980" b="1" dirty="0" err="1">
                  <a:solidFill>
                    <a:srgbClr val="1E2761"/>
                  </a:solidFill>
                  <a:latin typeface="Yekan Bakh"/>
                  <a:cs typeface="Yekan Bakh"/>
                </a:rPr>
                <a:t>فاز</a:t>
              </a:r>
              <a:r>
                <a:rPr sz="980" b="1" dirty="0">
                  <a:solidFill>
                    <a:srgbClr val="1E2761"/>
                  </a:solidFill>
                  <a:latin typeface="Yekan Bakh"/>
                  <a:cs typeface="Yekan Bakh"/>
                </a:rPr>
                <a:t> </a:t>
              </a:r>
              <a:r>
                <a:rPr sz="980" b="1" dirty="0" err="1">
                  <a:solidFill>
                    <a:srgbClr val="1E2761"/>
                  </a:solidFill>
                  <a:latin typeface="Yekan Bakh"/>
                  <a:cs typeface="Yekan Bakh"/>
                </a:rPr>
                <a:t>رشد</a:t>
              </a:r>
              <a:r>
                <a:rPr sz="980" b="1" dirty="0">
                  <a:solidFill>
                    <a:srgbClr val="1E2761"/>
                  </a:solidFill>
                  <a:latin typeface="Yekan Bakh"/>
                  <a:cs typeface="Yekan Bakh"/>
                </a:rPr>
                <a:t>، </a:t>
              </a:r>
              <a:r>
                <a:rPr sz="980" b="1" dirty="0" err="1">
                  <a:solidFill>
                    <a:srgbClr val="1E2761"/>
                  </a:solidFill>
                  <a:latin typeface="Yekan Bakh"/>
                  <a:cs typeface="Yekan Bakh"/>
                </a:rPr>
                <a:t>به</a:t>
              </a:r>
              <a:r>
                <a:rPr sz="980" b="1" dirty="0">
                  <a:solidFill>
                    <a:srgbClr val="1E2761"/>
                  </a:solidFill>
                  <a:latin typeface="Yekan Bakh"/>
                  <a:cs typeface="Yekan Bakh"/>
                </a:rPr>
                <a:t> </a:t>
              </a:r>
              <a:r>
                <a:rPr sz="980" b="1" dirty="0" err="1">
                  <a:solidFill>
                    <a:srgbClr val="1E2761"/>
                  </a:solidFill>
                  <a:latin typeface="Yekan Bakh"/>
                  <a:cs typeface="Yekan Bakh"/>
                </a:rPr>
                <a:t>کانال</a:t>
              </a:r>
              <a:r>
                <a:rPr sz="980" b="1" dirty="0">
                  <a:solidFill>
                    <a:srgbClr val="1E2761"/>
                  </a:solidFill>
                  <a:latin typeface="Yekan Bakh"/>
                  <a:cs typeface="Yekan Bakh"/>
                </a:rPr>
                <a:t> </a:t>
              </a:r>
              <a:r>
                <a:rPr sz="980" b="1" dirty="0" err="1">
                  <a:solidFill>
                    <a:srgbClr val="1E2761"/>
                  </a:solidFill>
                  <a:latin typeface="Yekan Bakh"/>
                  <a:cs typeface="Yekan Bakh"/>
                </a:rPr>
                <a:t>اصلی</a:t>
              </a:r>
              <a:r>
                <a:rPr sz="980" b="1" dirty="0">
                  <a:solidFill>
                    <a:srgbClr val="1E2761"/>
                  </a:solidFill>
                  <a:latin typeface="Yekan Bakh"/>
                  <a:cs typeface="Yekan Bakh"/>
                </a:rPr>
                <a:t> </a:t>
              </a:r>
              <a:r>
                <a:rPr sz="980" b="1" dirty="0" err="1">
                  <a:solidFill>
                    <a:srgbClr val="1E2761"/>
                  </a:solidFill>
                  <a:latin typeface="Yekan Bakh"/>
                  <a:cs typeface="Yekan Bakh"/>
                </a:rPr>
                <a:t>خرید</a:t>
              </a:r>
              <a:r>
                <a:rPr sz="980" b="1" dirty="0">
                  <a:solidFill>
                    <a:srgbClr val="1E2761"/>
                  </a:solidFill>
                  <a:latin typeface="Yekan Bakh"/>
                  <a:cs typeface="Yekan Bakh"/>
                </a:rPr>
                <a:t> </a:t>
              </a:r>
              <a:r>
                <a:rPr sz="980" b="1" dirty="0" err="1">
                  <a:solidFill>
                    <a:srgbClr val="1E2761"/>
                  </a:solidFill>
                  <a:latin typeface="Yekan Bakh"/>
                  <a:cs typeface="Yekan Bakh"/>
                </a:rPr>
                <a:t>برای</a:t>
              </a:r>
              <a:r>
                <a:rPr sz="980" b="1" dirty="0">
                  <a:solidFill>
                    <a:srgbClr val="1E2761"/>
                  </a:solidFill>
                  <a:latin typeface="Yekan Bakh"/>
                  <a:cs typeface="Yekan Bakh"/>
                </a:rPr>
                <a:t> </a:t>
              </a:r>
              <a:r>
                <a:rPr sz="980" b="1" dirty="0" err="1">
                  <a:solidFill>
                    <a:srgbClr val="1E2761"/>
                  </a:solidFill>
                  <a:latin typeface="Yekan Bakh"/>
                  <a:cs typeface="Yekan Bakh"/>
                </a:rPr>
                <a:t>پرسونای</a:t>
              </a:r>
              <a:r>
                <a:rPr sz="980" b="1" dirty="0">
                  <a:solidFill>
                    <a:srgbClr val="1E2761"/>
                  </a:solidFill>
                  <a:latin typeface="Yekan Bakh"/>
                  <a:cs typeface="Yekan Bakh"/>
                </a:rPr>
                <a:t> </a:t>
              </a:r>
              <a:r>
                <a:rPr sz="980" b="1" dirty="0" err="1">
                  <a:solidFill>
                    <a:srgbClr val="1E2761"/>
                  </a:solidFill>
                  <a:latin typeface="Yekan Bakh"/>
                  <a:cs typeface="Yekan Bakh"/>
                </a:rPr>
                <a:t>مشتاق</a:t>
              </a:r>
              <a:r>
                <a:rPr sz="980" b="1" dirty="0">
                  <a:solidFill>
                    <a:srgbClr val="1E2761"/>
                  </a:solidFill>
                  <a:latin typeface="Yekan Bakh"/>
                  <a:cs typeface="Yekan Bakh"/>
                </a:rPr>
                <a:t> و </a:t>
              </a:r>
              <a:r>
                <a:rPr sz="980" b="1" dirty="0" err="1">
                  <a:solidFill>
                    <a:srgbClr val="1E2761"/>
                  </a:solidFill>
                  <a:latin typeface="Yekan Bakh"/>
                  <a:cs typeface="Yekan Bakh"/>
                </a:rPr>
                <a:t>دروازه</a:t>
              </a:r>
              <a:r>
                <a:rPr sz="980" b="1" dirty="0">
                  <a:solidFill>
                    <a:srgbClr val="1E2761"/>
                  </a:solidFill>
                  <a:latin typeface="Yekan Bakh"/>
                  <a:cs typeface="Yekan Bakh"/>
                </a:rPr>
                <a:t> </a:t>
              </a:r>
              <a:r>
                <a:rPr sz="980" b="1" dirty="0" err="1">
                  <a:solidFill>
                    <a:srgbClr val="1E2761"/>
                  </a:solidFill>
                  <a:latin typeface="Yekan Bakh"/>
                  <a:cs typeface="Yekan Bakh"/>
                </a:rPr>
                <a:t>ورود</a:t>
              </a:r>
              <a:r>
                <a:rPr sz="980" b="1" dirty="0">
                  <a:solidFill>
                    <a:srgbClr val="1E2761"/>
                  </a:solidFill>
                  <a:latin typeface="Yekan Bakh"/>
                  <a:cs typeface="Yekan Bakh"/>
                </a:rPr>
                <a:t> </a:t>
              </a:r>
              <a:r>
                <a:rPr sz="980" b="1" dirty="0" err="1">
                  <a:solidFill>
                    <a:srgbClr val="1E2761"/>
                  </a:solidFill>
                  <a:latin typeface="Yekan Bakh"/>
                  <a:cs typeface="Yekan Bakh"/>
                </a:rPr>
                <a:t>سیستماتیک</a:t>
              </a:r>
              <a:r>
                <a:rPr sz="980" b="1" dirty="0">
                  <a:solidFill>
                    <a:srgbClr val="1E2761"/>
                  </a:solidFill>
                  <a:latin typeface="Yekan Bakh"/>
                  <a:cs typeface="Yekan Bakh"/>
                </a:rPr>
                <a:t> </a:t>
              </a:r>
              <a:r>
                <a:rPr sz="980" b="1" dirty="0" err="1">
                  <a:solidFill>
                    <a:srgbClr val="1E2761"/>
                  </a:solidFill>
                  <a:latin typeface="Yekan Bakh"/>
                  <a:cs typeface="Yekan Bakh"/>
                </a:rPr>
                <a:t>برای</a:t>
              </a:r>
              <a:r>
                <a:rPr sz="980" b="1" dirty="0">
                  <a:solidFill>
                    <a:srgbClr val="1E2761"/>
                  </a:solidFill>
                  <a:latin typeface="Yekan Bakh"/>
                  <a:cs typeface="Yekan Bakh"/>
                </a:rPr>
                <a:t> </a:t>
              </a:r>
              <a:r>
                <a:rPr sz="980" b="1" dirty="0" err="1">
                  <a:solidFill>
                    <a:srgbClr val="1E2761"/>
                  </a:solidFill>
                  <a:latin typeface="Yekan Bakh"/>
                  <a:cs typeface="Yekan Bakh"/>
                </a:rPr>
                <a:t>خالق</a:t>
              </a:r>
              <a:r>
                <a:rPr sz="980" b="1" dirty="0">
                  <a:solidFill>
                    <a:srgbClr val="1E2761"/>
                  </a:solidFill>
                  <a:latin typeface="Yekan Bakh"/>
                  <a:cs typeface="Yekan Bakh"/>
                </a:rPr>
                <a:t> </a:t>
              </a:r>
              <a:r>
                <a:rPr sz="980" b="1" dirty="0" err="1">
                  <a:solidFill>
                    <a:srgbClr val="1E2761"/>
                  </a:solidFill>
                  <a:latin typeface="Yekan Bakh"/>
                  <a:cs typeface="Yekan Bakh"/>
                </a:rPr>
                <a:t>کسب‌وکار</a:t>
              </a:r>
              <a:r>
                <a:rPr sz="980" b="1" dirty="0">
                  <a:solidFill>
                    <a:srgbClr val="1E2761"/>
                  </a:solidFill>
                  <a:latin typeface="Yekan Bakh"/>
                  <a:cs typeface="Yekan Bakh"/>
                </a:rPr>
                <a:t>/</a:t>
              </a:r>
              <a:r>
                <a:rPr sz="980" b="1" dirty="0" err="1">
                  <a:solidFill>
                    <a:srgbClr val="1E2761"/>
                  </a:solidFill>
                  <a:latin typeface="Yekan Bakh"/>
                  <a:cs typeface="Yekan Bakh"/>
                </a:rPr>
                <a:t>سرمایه‌گذار</a:t>
              </a:r>
              <a:r>
                <a:rPr sz="980" b="1" dirty="0">
                  <a:solidFill>
                    <a:srgbClr val="1E2761"/>
                  </a:solidFill>
                  <a:latin typeface="Yekan Bakh"/>
                  <a:cs typeface="Yekan Bakh"/>
                </a:rPr>
                <a:t> </a:t>
              </a:r>
              <a:r>
                <a:rPr sz="980" b="1" dirty="0" err="1">
                  <a:solidFill>
                    <a:srgbClr val="1E2761"/>
                  </a:solidFill>
                  <a:latin typeface="Yekan Bakh"/>
                  <a:cs typeface="Yekan Bakh"/>
                </a:rPr>
                <a:t>تبدیل</a:t>
              </a:r>
              <a:r>
                <a:rPr sz="980" b="1" dirty="0">
                  <a:solidFill>
                    <a:srgbClr val="1E2761"/>
                  </a:solidFill>
                  <a:latin typeface="Yekan Bakh"/>
                  <a:cs typeface="Yekan Bakh"/>
                </a:rPr>
                <a:t> </a:t>
              </a:r>
              <a:r>
                <a:rPr sz="980" b="1" dirty="0" err="1">
                  <a:solidFill>
                    <a:srgbClr val="1E2761"/>
                  </a:solidFill>
                  <a:latin typeface="Yekan Bakh"/>
                  <a:cs typeface="Yekan Bakh"/>
                </a:rPr>
                <a:t>می‌شود</a:t>
              </a:r>
              <a:r>
                <a:rPr sz="980" b="1" dirty="0">
                  <a:solidFill>
                    <a:srgbClr val="1E2761"/>
                  </a:solidFill>
                  <a:latin typeface="Yekan Bakh"/>
                  <a:cs typeface="Yekan Bakh"/>
                </a:rPr>
                <a:t>.</a:t>
              </a:r>
            </a:p>
          </p:txBody>
        </p:sp>
        <p:sp>
          <p:nvSpPr>
            <p:cNvPr id="31" name="Isosceles Triangle 30">
              <a:extLst>
                <a:ext uri="{FF2B5EF4-FFF2-40B4-BE49-F238E27FC236}">
                  <a16:creationId xmlns:a16="http://schemas.microsoft.com/office/drawing/2014/main" id="{DDA23ED7-1310-A4E3-E41D-24A308D31BD7}"/>
                </a:ext>
              </a:extLst>
            </p:cNvPr>
            <p:cNvSpPr/>
            <p:nvPr/>
          </p:nvSpPr>
          <p:spPr>
            <a:xfrm rot="16200000">
              <a:off x="10938011" y="5421640"/>
              <a:ext cx="424081" cy="115866"/>
            </a:xfrm>
            <a:prstGeom prst="triangl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TextBox 31">
              <a:extLst>
                <a:ext uri="{FF2B5EF4-FFF2-40B4-BE49-F238E27FC236}">
                  <a16:creationId xmlns:a16="http://schemas.microsoft.com/office/drawing/2014/main" id="{D0EC8B12-63F9-4ECD-5863-6252E39E8369}"/>
                </a:ext>
              </a:extLst>
            </p:cNvPr>
            <p:cNvSpPr txBox="1"/>
            <p:nvPr/>
          </p:nvSpPr>
          <p:spPr>
            <a:xfrm>
              <a:off x="9708356" y="5350467"/>
              <a:ext cx="1383762" cy="258212"/>
            </a:xfrm>
            <a:prstGeom prst="rect">
              <a:avLst/>
            </a:prstGeom>
            <a:noFill/>
          </p:spPr>
          <p:txBody>
            <a:bodyPr wrap="square" anchor="t">
              <a:spAutoFit/>
            </a:bodyPr>
            <a:lstStyle/>
            <a:p>
              <a:pPr algn="r" rtl="1">
                <a:lnSpc>
                  <a:spcPct val="110000"/>
                </a:lnSpc>
              </a:pPr>
              <a:r>
                <a:rPr sz="980" b="1" dirty="0" err="1">
                  <a:solidFill>
                    <a:srgbClr val="F0BE0F"/>
                  </a:solidFill>
                  <a:latin typeface="Yekan Bakh"/>
                  <a:cs typeface="Yekan Bakh"/>
                </a:rPr>
                <a:t>نقش</a:t>
              </a:r>
              <a:r>
                <a:rPr sz="980" b="1" dirty="0">
                  <a:solidFill>
                    <a:srgbClr val="F0BE0F"/>
                  </a:solidFill>
                  <a:latin typeface="Yekan Bakh"/>
                  <a:cs typeface="Yekan Bakh"/>
                </a:rPr>
                <a:t> </a:t>
              </a:r>
              <a:r>
                <a:rPr sz="980" b="1" dirty="0" err="1">
                  <a:solidFill>
                    <a:srgbClr val="F0BE0F"/>
                  </a:solidFill>
                  <a:latin typeface="Yekan Bakh"/>
                  <a:cs typeface="Yekan Bakh"/>
                </a:rPr>
                <a:t>پلتفرم</a:t>
              </a:r>
              <a:r>
                <a:rPr sz="980" b="1" dirty="0">
                  <a:solidFill>
                    <a:srgbClr val="F0BE0F"/>
                  </a:solidFill>
                  <a:latin typeface="Yekan Bakh"/>
                  <a:cs typeface="Yekan Bakh"/>
                </a:rPr>
                <a:t> </a:t>
              </a:r>
              <a:r>
                <a:rPr sz="980" b="1" dirty="0" err="1">
                  <a:solidFill>
                    <a:srgbClr val="F0BE0F"/>
                  </a:solidFill>
                  <a:latin typeface="Yekan Bakh"/>
                  <a:cs typeface="Yekan Bakh"/>
                </a:rPr>
                <a:t>دیجیتال</a:t>
              </a:r>
              <a:r>
                <a:rPr lang="fa-IR" sz="980" b="1" dirty="0">
                  <a:solidFill>
                    <a:srgbClr val="F0BE0F"/>
                  </a:solidFill>
                  <a:latin typeface="Yekan Bakh"/>
                  <a:cs typeface="Yekan Bakh"/>
                </a:rPr>
                <a:t>:</a:t>
              </a:r>
              <a:endParaRPr sz="980" b="1" dirty="0">
                <a:solidFill>
                  <a:srgbClr val="F0BE0F"/>
                </a:solidFill>
                <a:latin typeface="Yekan Bakh"/>
                <a:cs typeface="Yekan Bakh"/>
              </a:endParaRPr>
            </a:p>
          </p:txBody>
        </p:sp>
      </p:grpSp>
      <p:cxnSp>
        <p:nvCxnSpPr>
          <p:cNvPr id="33" name="Straight Connector 32">
            <a:extLst>
              <a:ext uri="{FF2B5EF4-FFF2-40B4-BE49-F238E27FC236}">
                <a16:creationId xmlns:a16="http://schemas.microsoft.com/office/drawing/2014/main" id="{97AB735D-9C24-1338-12B3-8B4975BAB41B}"/>
              </a:ext>
            </a:extLst>
          </p:cNvPr>
          <p:cNvCxnSpPr/>
          <p:nvPr/>
        </p:nvCxnSpPr>
        <p:spPr>
          <a:xfrm>
            <a:off x="457199" y="1664504"/>
            <a:ext cx="10786374" cy="0"/>
          </a:xfrm>
          <a:prstGeom prst="line">
            <a:avLst/>
          </a:prstGeom>
          <a:ln w="6350">
            <a:prstDash val="dash"/>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540040557"/>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ihandform 25">
            <a:extLst>
              <a:ext uri="{FF2B5EF4-FFF2-40B4-BE49-F238E27FC236}">
                <a16:creationId xmlns:a16="http://schemas.microsoft.com/office/drawing/2014/main" id="{2DC8F170-58F5-859D-85C2-0DA511DB9C3F}"/>
              </a:ext>
            </a:extLst>
          </p:cNvPr>
          <p:cNvSpPr/>
          <p:nvPr/>
        </p:nvSpPr>
        <p:spPr bwMode="gray">
          <a:xfrm rot="6583537">
            <a:off x="1876173" y="-2851554"/>
            <a:ext cx="6897688" cy="12211154"/>
          </a:xfrm>
          <a:custGeom>
            <a:avLst/>
            <a:gdLst>
              <a:gd name="connsiteX0" fmla="*/ 638175 w 4176183"/>
              <a:gd name="connsiteY0" fmla="*/ 14817 h 2876550"/>
              <a:gd name="connsiteX1" fmla="*/ 2270125 w 4176183"/>
              <a:gd name="connsiteY1" fmla="*/ 186267 h 2876550"/>
              <a:gd name="connsiteX2" fmla="*/ 3114675 w 4176183"/>
              <a:gd name="connsiteY2" fmla="*/ 833967 h 2876550"/>
              <a:gd name="connsiteX3" fmla="*/ 3870325 w 4176183"/>
              <a:gd name="connsiteY3" fmla="*/ 1488017 h 2876550"/>
              <a:gd name="connsiteX4" fmla="*/ 3857625 w 4176183"/>
              <a:gd name="connsiteY4" fmla="*/ 2345267 h 2876550"/>
              <a:gd name="connsiteX5" fmla="*/ 1958975 w 4176183"/>
              <a:gd name="connsiteY5" fmla="*/ 2700867 h 2876550"/>
              <a:gd name="connsiteX6" fmla="*/ 295275 w 4176183"/>
              <a:gd name="connsiteY6" fmla="*/ 1291167 h 2876550"/>
              <a:gd name="connsiteX7" fmla="*/ 187325 w 4176183"/>
              <a:gd name="connsiteY7" fmla="*/ 211667 h 2876550"/>
              <a:gd name="connsiteX8" fmla="*/ 638175 w 4176183"/>
              <a:gd name="connsiteY8" fmla="*/ 14817 h 2876550"/>
              <a:gd name="connsiteX0" fmla="*/ 643467 w 4181475"/>
              <a:gd name="connsiteY0" fmla="*/ 34925 h 2896658"/>
              <a:gd name="connsiteX1" fmla="*/ 2275417 w 4181475"/>
              <a:gd name="connsiteY1" fmla="*/ 206375 h 2896658"/>
              <a:gd name="connsiteX2" fmla="*/ 3119967 w 4181475"/>
              <a:gd name="connsiteY2" fmla="*/ 854075 h 2896658"/>
              <a:gd name="connsiteX3" fmla="*/ 3875617 w 4181475"/>
              <a:gd name="connsiteY3" fmla="*/ 1508125 h 2896658"/>
              <a:gd name="connsiteX4" fmla="*/ 3862917 w 4181475"/>
              <a:gd name="connsiteY4" fmla="*/ 2365375 h 2896658"/>
              <a:gd name="connsiteX5" fmla="*/ 1964267 w 4181475"/>
              <a:gd name="connsiteY5" fmla="*/ 2720975 h 2896658"/>
              <a:gd name="connsiteX6" fmla="*/ 300567 w 4181475"/>
              <a:gd name="connsiteY6" fmla="*/ 1311275 h 2896658"/>
              <a:gd name="connsiteX7" fmla="*/ 160867 w 4181475"/>
              <a:gd name="connsiteY7" fmla="*/ 415925 h 2896658"/>
              <a:gd name="connsiteX8" fmla="*/ 643467 w 4181475"/>
              <a:gd name="connsiteY8" fmla="*/ 34925 h 28966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81475" h="2896658">
                <a:moveTo>
                  <a:pt x="643467" y="34925"/>
                </a:moveTo>
                <a:cubicBezTo>
                  <a:pt x="995892" y="0"/>
                  <a:pt x="1862667" y="69850"/>
                  <a:pt x="2275417" y="206375"/>
                </a:cubicBezTo>
                <a:cubicBezTo>
                  <a:pt x="2688167" y="342900"/>
                  <a:pt x="2853267" y="637117"/>
                  <a:pt x="3119967" y="854075"/>
                </a:cubicBezTo>
                <a:cubicBezTo>
                  <a:pt x="3386667" y="1071033"/>
                  <a:pt x="3751792" y="1256242"/>
                  <a:pt x="3875617" y="1508125"/>
                </a:cubicBezTo>
                <a:cubicBezTo>
                  <a:pt x="3999442" y="1760008"/>
                  <a:pt x="4181475" y="2163233"/>
                  <a:pt x="3862917" y="2365375"/>
                </a:cubicBezTo>
                <a:cubicBezTo>
                  <a:pt x="3544359" y="2567517"/>
                  <a:pt x="2557992" y="2896658"/>
                  <a:pt x="1964267" y="2720975"/>
                </a:cubicBezTo>
                <a:cubicBezTo>
                  <a:pt x="1370542" y="2545292"/>
                  <a:pt x="601134" y="1695450"/>
                  <a:pt x="300567" y="1311275"/>
                </a:cubicBezTo>
                <a:cubicBezTo>
                  <a:pt x="0" y="927100"/>
                  <a:pt x="102659" y="627592"/>
                  <a:pt x="160867" y="415925"/>
                </a:cubicBezTo>
                <a:cubicBezTo>
                  <a:pt x="219075" y="204258"/>
                  <a:pt x="291042" y="69850"/>
                  <a:pt x="643467" y="34925"/>
                </a:cubicBezTo>
                <a:close/>
              </a:path>
            </a:pathLst>
          </a:custGeom>
          <a:solidFill>
            <a:sysClr val="window" lastClr="FFFFFF">
              <a:lumMod val="75000"/>
              <a:alpha val="20000"/>
            </a:sysClr>
          </a:solidFill>
          <a:ln w="12700">
            <a:noFill/>
            <a:round/>
            <a:headEnd/>
            <a:tailEnd/>
          </a:ln>
        </p:spPr>
        <p:txBody>
          <a:bodyPr rtlCol="0" anchor="ctr"/>
          <a:lstStyle/>
          <a:p>
            <a:pPr algn="ctr" defTabSz="914400">
              <a:defRPr/>
            </a:pPr>
            <a:endParaRPr lang="en-US" sz="1600" kern="0" dirty="0">
              <a:solidFill>
                <a:schemeClr val="tx1">
                  <a:lumMod val="75000"/>
                  <a:lumOff val="25000"/>
                </a:schemeClr>
              </a:solidFill>
              <a:cs typeface="IRANSans(FaNum) Medium"/>
            </a:endParaRPr>
          </a:p>
        </p:txBody>
      </p:sp>
      <p:sp>
        <p:nvSpPr>
          <p:cNvPr id="2" name="Text Placeholder 1">
            <a:extLst>
              <a:ext uri="{FF2B5EF4-FFF2-40B4-BE49-F238E27FC236}">
                <a16:creationId xmlns:a16="http://schemas.microsoft.com/office/drawing/2014/main" id="{8706EE66-D1A2-AAAC-A9F8-3305FE91359D}"/>
              </a:ext>
            </a:extLst>
          </p:cNvPr>
          <p:cNvSpPr>
            <a:spLocks noGrp="1"/>
          </p:cNvSpPr>
          <p:nvPr>
            <p:ph type="body" sz="quarter" idx="10"/>
          </p:nvPr>
        </p:nvSpPr>
        <p:spPr/>
        <p:txBody>
          <a:bodyPr/>
          <a:lstStyle/>
          <a:p>
            <a:r>
              <a:rPr lang="fa-IR" dirty="0"/>
              <a:t>اقدامات فاز عملیاتی</a:t>
            </a:r>
          </a:p>
          <a:p>
            <a:endParaRPr lang="en-GB" dirty="0"/>
          </a:p>
        </p:txBody>
      </p:sp>
      <p:sp>
        <p:nvSpPr>
          <p:cNvPr id="3" name="Text Placeholder 2">
            <a:extLst>
              <a:ext uri="{FF2B5EF4-FFF2-40B4-BE49-F238E27FC236}">
                <a16:creationId xmlns:a16="http://schemas.microsoft.com/office/drawing/2014/main" id="{1ED77B62-695C-8519-395D-539269562BB7}"/>
              </a:ext>
            </a:extLst>
          </p:cNvPr>
          <p:cNvSpPr>
            <a:spLocks noGrp="1"/>
          </p:cNvSpPr>
          <p:nvPr>
            <p:ph type="body" sz="quarter" idx="12"/>
          </p:nvPr>
        </p:nvSpPr>
        <p:spPr/>
        <p:txBody>
          <a:bodyPr/>
          <a:lstStyle/>
          <a:p>
            <a:r>
              <a:rPr lang="fa-IR" dirty="0"/>
              <a:t>اقدامات قابل‌انجام کانال در شروع فاز عملیاتی</a:t>
            </a:r>
          </a:p>
        </p:txBody>
      </p:sp>
      <p:sp>
        <p:nvSpPr>
          <p:cNvPr id="8" name="TextBox 7">
            <a:extLst>
              <a:ext uri="{FF2B5EF4-FFF2-40B4-BE49-F238E27FC236}">
                <a16:creationId xmlns:a16="http://schemas.microsoft.com/office/drawing/2014/main" id="{E57B76BB-B03C-8FD7-BBE8-69A16D0C58F9}"/>
              </a:ext>
            </a:extLst>
          </p:cNvPr>
          <p:cNvSpPr txBox="1"/>
          <p:nvPr/>
        </p:nvSpPr>
        <p:spPr>
          <a:xfrm>
            <a:off x="795866" y="1824327"/>
            <a:ext cx="9738783" cy="3212674"/>
          </a:xfrm>
          <a:prstGeom prst="rect">
            <a:avLst/>
          </a:prstGeom>
          <a:noFill/>
        </p:spPr>
        <p:txBody>
          <a:bodyPr wrap="square">
            <a:spAutoFit/>
          </a:bodyPr>
          <a:lstStyle/>
          <a:p>
            <a:pPr algn="r" rtl="1">
              <a:lnSpc>
                <a:spcPct val="105000"/>
              </a:lnSpc>
              <a:spcAft>
                <a:spcPts val="700"/>
              </a:spcAft>
            </a:pPr>
            <a:r>
              <a:rPr sz="1100" b="1" dirty="0">
                <a:solidFill>
                  <a:srgbClr val="F0BE0F"/>
                </a:solidFill>
                <a:latin typeface="Yekan Bakh"/>
                <a:cs typeface="Yekan Bakh"/>
              </a:rPr>
              <a:t>۱</a:t>
            </a:r>
            <a:r>
              <a:rPr lang="fa-IR" sz="1100" b="1" dirty="0">
                <a:solidFill>
                  <a:srgbClr val="FFC000"/>
                </a:solidFill>
                <a:latin typeface="Yekan Bakh"/>
                <a:cs typeface="Yekan Bakh"/>
              </a:rPr>
              <a:t>.</a:t>
            </a:r>
            <a:r>
              <a:rPr sz="1100" b="1" dirty="0">
                <a:solidFill>
                  <a:srgbClr val="FFC000"/>
                </a:solidFill>
                <a:latin typeface="Yekan Bakh"/>
                <a:cs typeface="Yekan Bakh"/>
              </a:rPr>
              <a:t> </a:t>
            </a:r>
            <a:r>
              <a:rPr sz="1100" dirty="0" err="1">
                <a:solidFill>
                  <a:schemeClr val="tx1">
                    <a:lumMod val="75000"/>
                    <a:lumOff val="25000"/>
                  </a:schemeClr>
                </a:solidFill>
                <a:latin typeface="Yekan Bakh"/>
                <a:cs typeface="Yekan Bakh"/>
              </a:rPr>
              <a:t>مستندسازی</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شبکه</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شخصی</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بنیان‌گذاران</a:t>
            </a:r>
            <a:r>
              <a:rPr sz="1100" dirty="0">
                <a:solidFill>
                  <a:schemeClr val="tx1">
                    <a:lumMod val="75000"/>
                    <a:lumOff val="25000"/>
                  </a:schemeClr>
                </a:solidFill>
                <a:latin typeface="Yekan Bakh"/>
                <a:cs typeface="Yekan Bakh"/>
              </a:rPr>
              <a:t>/</a:t>
            </a:r>
            <a:r>
              <a:rPr sz="1100" dirty="0" err="1">
                <a:solidFill>
                  <a:schemeClr val="tx1">
                    <a:lumMod val="75000"/>
                    <a:lumOff val="25000"/>
                  </a:schemeClr>
                </a:solidFill>
                <a:latin typeface="Yekan Bakh"/>
                <a:cs typeface="Yekan Bakh"/>
              </a:rPr>
              <a:t>تیم</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هسته</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در</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یک</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پایگاه‌داده</a:t>
            </a:r>
            <a:r>
              <a:rPr sz="1100" dirty="0">
                <a:solidFill>
                  <a:schemeClr val="tx1">
                    <a:lumMod val="75000"/>
                    <a:lumOff val="25000"/>
                  </a:schemeClr>
                </a:solidFill>
                <a:latin typeface="Yekan Bakh"/>
                <a:cs typeface="Yekan Bakh"/>
              </a:rPr>
              <a:t>/CRM </a:t>
            </a:r>
            <a:r>
              <a:rPr sz="1100" dirty="0" err="1">
                <a:solidFill>
                  <a:schemeClr val="tx1">
                    <a:lumMod val="75000"/>
                    <a:lumOff val="25000"/>
                  </a:schemeClr>
                </a:solidFill>
                <a:latin typeface="Yekan Bakh"/>
                <a:cs typeface="Yekan Bakh"/>
              </a:rPr>
              <a:t>ساختاریافته</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با</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برچسب</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منبع</a:t>
            </a:r>
            <a:r>
              <a:rPr sz="1100" dirty="0">
                <a:solidFill>
                  <a:schemeClr val="tx1">
                    <a:lumMod val="75000"/>
                    <a:lumOff val="25000"/>
                  </a:schemeClr>
                </a:solidFill>
                <a:latin typeface="Yekan Bakh"/>
                <a:cs typeface="Yekan Bakh"/>
              </a:rPr>
              <a:t> </a:t>
            </a:r>
            <a:r>
              <a:rPr lang="fa-IR" sz="1100" dirty="0">
                <a:solidFill>
                  <a:schemeClr val="tx1">
                    <a:lumMod val="75000"/>
                    <a:lumOff val="25000"/>
                  </a:schemeClr>
                </a:solidFill>
                <a:latin typeface="Yekan Bakh"/>
                <a:cs typeface="Yekan Bakh"/>
              </a:rPr>
              <a:t>/</a:t>
            </a:r>
            <a:r>
              <a:rPr lang="en-US"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پایگاه</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مشتریان</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به‌عنوان</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دارایی</a:t>
            </a:r>
            <a:r>
              <a:rPr lang="fa-IR" sz="1100" dirty="0">
                <a:solidFill>
                  <a:schemeClr val="tx1">
                    <a:lumMod val="75000"/>
                    <a:lumOff val="25000"/>
                  </a:schemeClr>
                </a:solidFill>
                <a:latin typeface="Yekan Bakh"/>
                <a:cs typeface="Yekan Bakh"/>
              </a:rPr>
              <a:t>»</a:t>
            </a:r>
            <a:endParaRPr sz="1100" dirty="0">
              <a:solidFill>
                <a:schemeClr val="tx1">
                  <a:lumMod val="75000"/>
                  <a:lumOff val="25000"/>
                </a:schemeClr>
              </a:solidFill>
              <a:latin typeface="Yekan Bakh"/>
              <a:cs typeface="Yekan Bakh"/>
            </a:endParaRPr>
          </a:p>
          <a:p>
            <a:pPr algn="r" rtl="1">
              <a:lnSpc>
                <a:spcPct val="105000"/>
              </a:lnSpc>
              <a:spcAft>
                <a:spcPts val="700"/>
              </a:spcAft>
            </a:pPr>
            <a:r>
              <a:rPr sz="1100" b="1" dirty="0">
                <a:solidFill>
                  <a:srgbClr val="F0BE0F"/>
                </a:solidFill>
                <a:latin typeface="Yekan Bakh"/>
                <a:cs typeface="Yekan Bakh"/>
              </a:rPr>
              <a:t>۲</a:t>
            </a:r>
            <a:r>
              <a:rPr lang="fa-IR" sz="1100" b="1" dirty="0">
                <a:solidFill>
                  <a:srgbClr val="F0BE0F"/>
                </a:solidFill>
                <a:latin typeface="Yekan Bakh"/>
                <a:cs typeface="Yekan Bakh"/>
              </a:rPr>
              <a:t>.</a:t>
            </a:r>
            <a:r>
              <a:rPr sz="1100" b="1" dirty="0">
                <a:solidFill>
                  <a:srgbClr val="F0BE0F"/>
                </a:solidFill>
                <a:latin typeface="Yekan Bakh"/>
                <a:cs typeface="Yekan Bakh"/>
              </a:rPr>
              <a:t> </a:t>
            </a:r>
            <a:r>
              <a:rPr sz="1100" dirty="0" err="1">
                <a:solidFill>
                  <a:schemeClr val="tx1">
                    <a:lumMod val="75000"/>
                    <a:lumOff val="25000"/>
                  </a:schemeClr>
                </a:solidFill>
                <a:latin typeface="Yekan Bakh"/>
                <a:cs typeface="Yekan Bakh"/>
              </a:rPr>
              <a:t>انتخاب</a:t>
            </a:r>
            <a:r>
              <a:rPr sz="1100" dirty="0">
                <a:solidFill>
                  <a:schemeClr val="tx1">
                    <a:lumMod val="75000"/>
                    <a:lumOff val="25000"/>
                  </a:schemeClr>
                </a:solidFill>
                <a:latin typeface="Yekan Bakh"/>
                <a:cs typeface="Yekan Bakh"/>
              </a:rPr>
              <a:t> و </a:t>
            </a:r>
            <a:r>
              <a:rPr sz="1100" dirty="0" err="1">
                <a:solidFill>
                  <a:schemeClr val="tx1">
                    <a:lumMod val="75000"/>
                    <a:lumOff val="25000"/>
                  </a:schemeClr>
                </a:solidFill>
                <a:latin typeface="Yekan Bakh"/>
                <a:cs typeface="Yekan Bakh"/>
              </a:rPr>
              <a:t>آغاز</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مذاکره</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با</a:t>
            </a:r>
            <a:r>
              <a:rPr sz="1100" dirty="0">
                <a:solidFill>
                  <a:schemeClr val="tx1">
                    <a:lumMod val="75000"/>
                    <a:lumOff val="25000"/>
                  </a:schemeClr>
                </a:solidFill>
                <a:latin typeface="Yekan Bakh"/>
                <a:cs typeface="Yekan Bakh"/>
              </a:rPr>
              <a:t> </a:t>
            </a:r>
            <a:r>
              <a:rPr lang="fa-IR" sz="1100" dirty="0">
                <a:solidFill>
                  <a:schemeClr val="tx1">
                    <a:lumMod val="75000"/>
                    <a:lumOff val="25000"/>
                  </a:schemeClr>
                </a:solidFill>
                <a:latin typeface="Yekan Bakh"/>
                <a:cs typeface="Yekan Bakh"/>
              </a:rPr>
              <a:t>۳ تا</a:t>
            </a:r>
            <a:r>
              <a:rPr sz="1100" dirty="0">
                <a:solidFill>
                  <a:schemeClr val="tx1">
                    <a:lumMod val="75000"/>
                    <a:lumOff val="25000"/>
                  </a:schemeClr>
                </a:solidFill>
                <a:latin typeface="Yekan Bakh"/>
                <a:cs typeface="Yekan Bakh"/>
              </a:rPr>
              <a:t> ۵ </a:t>
            </a:r>
            <a:r>
              <a:rPr sz="1100" dirty="0" err="1">
                <a:solidFill>
                  <a:schemeClr val="tx1">
                    <a:lumMod val="75000"/>
                    <a:lumOff val="25000"/>
                  </a:schemeClr>
                </a:solidFill>
                <a:latin typeface="Yekan Bakh"/>
                <a:cs typeface="Yekan Bakh"/>
              </a:rPr>
              <a:t>اتاق</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بازرگانی</a:t>
            </a:r>
            <a:r>
              <a:rPr sz="1100" dirty="0">
                <a:solidFill>
                  <a:schemeClr val="tx1">
                    <a:lumMod val="75000"/>
                    <a:lumOff val="25000"/>
                  </a:schemeClr>
                </a:solidFill>
                <a:latin typeface="Yekan Bakh"/>
                <a:cs typeface="Yekan Bakh"/>
              </a:rPr>
              <a:t>/</a:t>
            </a:r>
            <a:r>
              <a:rPr sz="1100" dirty="0" err="1">
                <a:solidFill>
                  <a:schemeClr val="tx1">
                    <a:lumMod val="75000"/>
                    <a:lumOff val="25000"/>
                  </a:schemeClr>
                </a:solidFill>
                <a:latin typeface="Yekan Bakh"/>
                <a:cs typeface="Yekan Bakh"/>
              </a:rPr>
              <a:t>انجمن</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صنفی</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هدف</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برای</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تفاهم‌نامه</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معرفی</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آزمایشی</a:t>
            </a:r>
            <a:r>
              <a:rPr sz="1100" dirty="0">
                <a:solidFill>
                  <a:schemeClr val="tx1">
                    <a:lumMod val="75000"/>
                    <a:lumOff val="25000"/>
                  </a:schemeClr>
                </a:solidFill>
                <a:latin typeface="Yekan Bakh"/>
                <a:cs typeface="Yekan Bakh"/>
              </a:rPr>
              <a:t>.</a:t>
            </a:r>
          </a:p>
          <a:p>
            <a:pPr algn="r" rtl="1">
              <a:lnSpc>
                <a:spcPct val="105000"/>
              </a:lnSpc>
              <a:spcAft>
                <a:spcPts val="700"/>
              </a:spcAft>
            </a:pPr>
            <a:r>
              <a:rPr sz="1100" b="1" dirty="0">
                <a:solidFill>
                  <a:srgbClr val="F0BE0F"/>
                </a:solidFill>
                <a:latin typeface="Yekan Bakh"/>
                <a:cs typeface="Yekan Bakh"/>
              </a:rPr>
              <a:t>۳</a:t>
            </a:r>
            <a:r>
              <a:rPr lang="fa-IR" sz="1100" b="1" dirty="0">
                <a:solidFill>
                  <a:srgbClr val="F0BE0F"/>
                </a:solidFill>
                <a:latin typeface="Yekan Bakh"/>
                <a:cs typeface="Yekan Bakh"/>
              </a:rPr>
              <a:t>.</a:t>
            </a:r>
            <a:r>
              <a:rPr sz="1100" b="1" dirty="0">
                <a:solidFill>
                  <a:srgbClr val="F0BE0F"/>
                </a:solidFill>
                <a:latin typeface="Yekan Bakh"/>
                <a:cs typeface="Yekan Bakh"/>
              </a:rPr>
              <a:t> </a:t>
            </a:r>
            <a:r>
              <a:rPr sz="1100" dirty="0" err="1">
                <a:solidFill>
                  <a:schemeClr val="tx1">
                    <a:lumMod val="75000"/>
                    <a:lumOff val="25000"/>
                  </a:schemeClr>
                </a:solidFill>
                <a:latin typeface="Yekan Bakh"/>
                <a:cs typeface="Yekan Bakh"/>
              </a:rPr>
              <a:t>طراحی</a:t>
            </a:r>
            <a:r>
              <a:rPr sz="1100" dirty="0">
                <a:solidFill>
                  <a:schemeClr val="tx1">
                    <a:lumMod val="75000"/>
                    <a:lumOff val="25000"/>
                  </a:schemeClr>
                </a:solidFill>
                <a:latin typeface="Yekan Bakh"/>
                <a:cs typeface="Yekan Bakh"/>
              </a:rPr>
              <a:t> و </a:t>
            </a:r>
            <a:r>
              <a:rPr sz="1100" dirty="0" err="1">
                <a:solidFill>
                  <a:schemeClr val="tx1">
                    <a:lumMod val="75000"/>
                    <a:lumOff val="25000"/>
                  </a:schemeClr>
                </a:solidFill>
                <a:latin typeface="Yekan Bakh"/>
                <a:cs typeface="Yekan Bakh"/>
              </a:rPr>
              <a:t>پایلوت</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ابزار</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خودارزیابی</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دیجیتال</a:t>
            </a:r>
            <a:r>
              <a:rPr lang="en-US"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استاندارد</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قابلیت</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معامله</a:t>
            </a:r>
            <a:r>
              <a:rPr lang="fa-IR" sz="1100" dirty="0">
                <a:solidFill>
                  <a:schemeClr val="tx1">
                    <a:lumMod val="75000"/>
                    <a:lumOff val="25000"/>
                  </a:schemeClr>
                </a:solidFill>
                <a:latin typeface="Yekan Bakh"/>
                <a:cs typeface="Yekan Bakh"/>
              </a:rPr>
              <a:t>»</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به‌عنوان</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کانال</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کم‌هزینه</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پرسونا</a:t>
            </a:r>
            <a:r>
              <a:rPr lang="fa-IR" sz="1100" dirty="0">
                <a:solidFill>
                  <a:schemeClr val="tx1">
                    <a:lumMod val="75000"/>
                    <a:lumOff val="25000"/>
                  </a:schemeClr>
                </a:solidFill>
                <a:latin typeface="Yekan Bakh"/>
                <a:cs typeface="Yekan Bakh"/>
              </a:rPr>
              <a:t>ی</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مشتاق</a:t>
            </a:r>
            <a:r>
              <a:rPr sz="1100" dirty="0">
                <a:solidFill>
                  <a:schemeClr val="tx1">
                    <a:lumMod val="75000"/>
                    <a:lumOff val="25000"/>
                  </a:schemeClr>
                </a:solidFill>
                <a:latin typeface="Yekan Bakh"/>
                <a:cs typeface="Yekan Bakh"/>
              </a:rPr>
              <a:t>.</a:t>
            </a:r>
          </a:p>
          <a:p>
            <a:pPr algn="r" rtl="1">
              <a:lnSpc>
                <a:spcPct val="105000"/>
              </a:lnSpc>
              <a:spcAft>
                <a:spcPts val="700"/>
              </a:spcAft>
            </a:pPr>
            <a:r>
              <a:rPr sz="1100" b="1" dirty="0">
                <a:solidFill>
                  <a:srgbClr val="F0BE0F"/>
                </a:solidFill>
                <a:latin typeface="Yekan Bakh"/>
                <a:cs typeface="Yekan Bakh"/>
              </a:rPr>
              <a:t>۴</a:t>
            </a:r>
            <a:r>
              <a:rPr lang="fa-IR" sz="1100" b="1" dirty="0">
                <a:solidFill>
                  <a:srgbClr val="F0BE0F"/>
                </a:solidFill>
                <a:latin typeface="Yekan Bakh"/>
                <a:cs typeface="Yekan Bakh"/>
              </a:rPr>
              <a:t>.</a:t>
            </a:r>
            <a:r>
              <a:rPr sz="1100" b="1" dirty="0">
                <a:solidFill>
                  <a:srgbClr val="F0BE0F"/>
                </a:solidFill>
                <a:latin typeface="Yekan Bakh"/>
                <a:cs typeface="Yekan Bakh"/>
              </a:rPr>
              <a:t> </a:t>
            </a:r>
            <a:r>
              <a:rPr sz="1100" dirty="0" err="1">
                <a:solidFill>
                  <a:schemeClr val="tx1">
                    <a:lumMod val="75000"/>
                    <a:lumOff val="25000"/>
                  </a:schemeClr>
                </a:solidFill>
                <a:latin typeface="Yekan Bakh"/>
                <a:cs typeface="Yekan Bakh"/>
              </a:rPr>
              <a:t>مذاکره</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برای</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حداقل</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یک</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شراکت</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با</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برند</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بین‌المللی</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معتبر</a:t>
            </a:r>
            <a:r>
              <a:rPr sz="1100" dirty="0">
                <a:solidFill>
                  <a:schemeClr val="tx1">
                    <a:lumMod val="75000"/>
                    <a:lumOff val="25000"/>
                  </a:schemeClr>
                </a:solidFill>
                <a:latin typeface="Yekan Bakh"/>
                <a:cs typeface="Yekan Bakh"/>
              </a:rPr>
              <a:t> </a:t>
            </a:r>
            <a:r>
              <a:rPr lang="fa-IR" sz="1100" dirty="0">
                <a:solidFill>
                  <a:schemeClr val="tx1">
                    <a:lumMod val="75000"/>
                    <a:lumOff val="25000"/>
                  </a:schemeClr>
                </a:solidFill>
                <a:latin typeface="Yekan Bakh"/>
                <a:cs typeface="Yekan Bakh"/>
              </a:rPr>
              <a:t>مدیریتی / </a:t>
            </a:r>
            <a:r>
              <a:rPr sz="1100" dirty="0" err="1">
                <a:solidFill>
                  <a:schemeClr val="tx1">
                    <a:lumMod val="75000"/>
                    <a:lumOff val="25000"/>
                  </a:schemeClr>
                </a:solidFill>
                <a:latin typeface="Yekan Bakh"/>
                <a:cs typeface="Yekan Bakh"/>
              </a:rPr>
              <a:t>حسابرسی</a:t>
            </a:r>
            <a:r>
              <a:rPr sz="1100" dirty="0">
                <a:solidFill>
                  <a:schemeClr val="tx1">
                    <a:lumMod val="75000"/>
                    <a:lumOff val="25000"/>
                  </a:schemeClr>
                </a:solidFill>
                <a:latin typeface="Yekan Bakh"/>
                <a:cs typeface="Yekan Bakh"/>
              </a:rPr>
              <a:t>/</a:t>
            </a:r>
            <a:r>
              <a:rPr sz="1100" dirty="0" err="1">
                <a:solidFill>
                  <a:schemeClr val="tx1">
                    <a:lumMod val="75000"/>
                    <a:lumOff val="25000"/>
                  </a:schemeClr>
                </a:solidFill>
                <a:latin typeface="Yekan Bakh"/>
                <a:cs typeface="Yekan Bakh"/>
              </a:rPr>
              <a:t>حقوقی</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به‌عنوان</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حامل</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اعتبار</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برای</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پرسونای</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خارجی</a:t>
            </a:r>
            <a:r>
              <a:rPr sz="1100" dirty="0">
                <a:solidFill>
                  <a:schemeClr val="tx1">
                    <a:lumMod val="75000"/>
                    <a:lumOff val="25000"/>
                  </a:schemeClr>
                </a:solidFill>
                <a:latin typeface="Yekan Bakh"/>
                <a:cs typeface="Yekan Bakh"/>
              </a:rPr>
              <a:t>.</a:t>
            </a:r>
          </a:p>
          <a:p>
            <a:pPr algn="r" rtl="1">
              <a:lnSpc>
                <a:spcPct val="105000"/>
              </a:lnSpc>
              <a:spcAft>
                <a:spcPts val="700"/>
              </a:spcAft>
            </a:pPr>
            <a:r>
              <a:rPr sz="1100" b="1" dirty="0">
                <a:solidFill>
                  <a:srgbClr val="F0BE0F"/>
                </a:solidFill>
                <a:latin typeface="Yekan Bakh"/>
                <a:cs typeface="Yekan Bakh"/>
              </a:rPr>
              <a:t>۵</a:t>
            </a:r>
            <a:r>
              <a:rPr lang="fa-IR" sz="1100" b="1" dirty="0">
                <a:solidFill>
                  <a:srgbClr val="F0BE0F"/>
                </a:solidFill>
                <a:latin typeface="Yekan Bakh"/>
                <a:cs typeface="Yekan Bakh"/>
              </a:rPr>
              <a:t>. </a:t>
            </a:r>
            <a:r>
              <a:rPr sz="1100" dirty="0" err="1">
                <a:solidFill>
                  <a:schemeClr val="tx1">
                    <a:lumMod val="75000"/>
                    <a:lumOff val="25000"/>
                  </a:schemeClr>
                </a:solidFill>
                <a:latin typeface="Yekan Bakh"/>
                <a:cs typeface="Yekan Bakh"/>
              </a:rPr>
              <a:t>راه‌اندازی</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کانال</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محتوایی</a:t>
            </a:r>
            <a:r>
              <a:rPr sz="1100" dirty="0">
                <a:solidFill>
                  <a:schemeClr val="tx1">
                    <a:lumMod val="75000"/>
                    <a:lumOff val="25000"/>
                  </a:schemeClr>
                </a:solidFill>
                <a:latin typeface="Yekan Bakh"/>
                <a:cs typeface="Yekan Bakh"/>
              </a:rPr>
              <a:t> </a:t>
            </a:r>
            <a:r>
              <a:rPr lang="fa-IR" sz="1100" dirty="0">
                <a:solidFill>
                  <a:schemeClr val="tx1">
                    <a:lumMod val="75000"/>
                    <a:lumOff val="25000"/>
                  </a:schemeClr>
                </a:solidFill>
                <a:latin typeface="Yekan Bakh"/>
                <a:cs typeface="Yekan Bakh"/>
              </a:rPr>
              <a:t>(</a:t>
            </a:r>
            <a:r>
              <a:rPr sz="1100" dirty="0" err="1">
                <a:solidFill>
                  <a:schemeClr val="tx1">
                    <a:lumMod val="75000"/>
                    <a:lumOff val="25000"/>
                  </a:schemeClr>
                </a:solidFill>
                <a:latin typeface="Yekan Bakh"/>
                <a:cs typeface="Yekan Bakh"/>
              </a:rPr>
              <a:t>گزارش</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بازار</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ایران</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فارسی</a:t>
            </a:r>
            <a:r>
              <a:rPr sz="1100" dirty="0">
                <a:solidFill>
                  <a:schemeClr val="tx1">
                    <a:lumMod val="75000"/>
                    <a:lumOff val="25000"/>
                  </a:schemeClr>
                </a:solidFill>
                <a:latin typeface="Yekan Bakh"/>
                <a:cs typeface="Yekan Bakh"/>
              </a:rPr>
              <a:t>/</a:t>
            </a:r>
            <a:r>
              <a:rPr sz="1100" dirty="0" err="1">
                <a:solidFill>
                  <a:schemeClr val="tx1">
                    <a:lumMod val="75000"/>
                    <a:lumOff val="25000"/>
                  </a:schemeClr>
                </a:solidFill>
                <a:latin typeface="Yekan Bakh"/>
                <a:cs typeface="Yekan Bakh"/>
              </a:rPr>
              <a:t>انگلیسی</a:t>
            </a:r>
            <a:r>
              <a:rPr lang="fa-IR" sz="1100" dirty="0">
                <a:solidFill>
                  <a:schemeClr val="tx1">
                    <a:lumMod val="75000"/>
                    <a:lumOff val="25000"/>
                  </a:schemeClr>
                </a:solidFill>
                <a:latin typeface="Yekan Bakh"/>
                <a:cs typeface="Yekan Bakh"/>
              </a:rPr>
              <a:t>)</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در</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همکاری</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با</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چند</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رسانه</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معتبر</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برای</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پرسونای</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کنجکاو</a:t>
            </a:r>
            <a:r>
              <a:rPr sz="1100" dirty="0">
                <a:solidFill>
                  <a:schemeClr val="tx1">
                    <a:lumMod val="75000"/>
                    <a:lumOff val="25000"/>
                  </a:schemeClr>
                </a:solidFill>
                <a:latin typeface="Yekan Bakh"/>
                <a:cs typeface="Yekan Bakh"/>
              </a:rPr>
              <a:t>.</a:t>
            </a:r>
          </a:p>
          <a:p>
            <a:pPr algn="r" rtl="1">
              <a:lnSpc>
                <a:spcPct val="105000"/>
              </a:lnSpc>
              <a:spcAft>
                <a:spcPts val="700"/>
              </a:spcAft>
            </a:pPr>
            <a:r>
              <a:rPr sz="1100" b="1" dirty="0">
                <a:solidFill>
                  <a:srgbClr val="F0BE0F"/>
                </a:solidFill>
                <a:latin typeface="Yekan Bakh"/>
                <a:cs typeface="Yekan Bakh"/>
              </a:rPr>
              <a:t>۶</a:t>
            </a:r>
            <a:r>
              <a:rPr lang="fa-IR" sz="1100" b="1" dirty="0">
                <a:solidFill>
                  <a:srgbClr val="F0BE0F"/>
                </a:solidFill>
                <a:latin typeface="Yekan Bakh"/>
                <a:cs typeface="Yekan Bakh"/>
              </a:rPr>
              <a:t>.</a:t>
            </a:r>
            <a:r>
              <a:rPr sz="1100" b="1" dirty="0">
                <a:solidFill>
                  <a:srgbClr val="F0BE0F"/>
                </a:solidFill>
                <a:latin typeface="Yekan Bakh"/>
                <a:cs typeface="Yekan Bakh"/>
              </a:rPr>
              <a:t> </a:t>
            </a:r>
            <a:r>
              <a:rPr sz="1100" dirty="0" err="1">
                <a:solidFill>
                  <a:schemeClr val="tx1">
                    <a:lumMod val="75000"/>
                    <a:lumOff val="25000"/>
                  </a:schemeClr>
                </a:solidFill>
                <a:latin typeface="Yekan Bakh"/>
                <a:cs typeface="Yekan Bakh"/>
              </a:rPr>
              <a:t>ساختاردهی</a:t>
            </a:r>
            <a:r>
              <a:rPr sz="1100" dirty="0">
                <a:solidFill>
                  <a:schemeClr val="tx1">
                    <a:lumMod val="75000"/>
                    <a:lumOff val="25000"/>
                  </a:schemeClr>
                </a:solidFill>
                <a:latin typeface="Yekan Bakh"/>
                <a:cs typeface="Yekan Bakh"/>
              </a:rPr>
              <a:t> و </a:t>
            </a:r>
            <a:r>
              <a:rPr sz="1100" dirty="0" err="1">
                <a:solidFill>
                  <a:schemeClr val="tx1">
                    <a:lumMod val="75000"/>
                    <a:lumOff val="25000"/>
                  </a:schemeClr>
                </a:solidFill>
                <a:latin typeface="Yekan Bakh"/>
                <a:cs typeface="Yekan Bakh"/>
              </a:rPr>
              <a:t>مستندسازی</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مسیر</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ارتباط</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با</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شبکه</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ایرانیان</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خارج</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از</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کشور</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فراتر</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از</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روابط</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غیررسمی</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فعلی</a:t>
            </a:r>
            <a:r>
              <a:rPr sz="1100" dirty="0">
                <a:solidFill>
                  <a:schemeClr val="tx1">
                    <a:lumMod val="75000"/>
                    <a:lumOff val="25000"/>
                  </a:schemeClr>
                </a:solidFill>
                <a:latin typeface="Yekan Bakh"/>
                <a:cs typeface="Yekan Bakh"/>
              </a:rPr>
              <a:t>.</a:t>
            </a:r>
          </a:p>
          <a:p>
            <a:pPr algn="r" rtl="1">
              <a:lnSpc>
                <a:spcPct val="105000"/>
              </a:lnSpc>
              <a:spcAft>
                <a:spcPts val="700"/>
              </a:spcAft>
            </a:pPr>
            <a:r>
              <a:rPr sz="1100" b="1" dirty="0">
                <a:solidFill>
                  <a:srgbClr val="F0BE0F"/>
                </a:solidFill>
                <a:latin typeface="Yekan Bakh"/>
                <a:cs typeface="Yekan Bakh"/>
              </a:rPr>
              <a:t>۷</a:t>
            </a:r>
            <a:r>
              <a:rPr lang="fa-IR" sz="1100" b="1" dirty="0">
                <a:solidFill>
                  <a:srgbClr val="F0BE0F"/>
                </a:solidFill>
                <a:latin typeface="Yekan Bakh"/>
                <a:cs typeface="Yekan Bakh"/>
              </a:rPr>
              <a:t>. </a:t>
            </a:r>
            <a:r>
              <a:rPr sz="1100" dirty="0" err="1">
                <a:solidFill>
                  <a:schemeClr val="tx1">
                    <a:lumMod val="75000"/>
                    <a:lumOff val="25000"/>
                  </a:schemeClr>
                </a:solidFill>
                <a:latin typeface="Yekan Bakh"/>
                <a:cs typeface="Yekan Bakh"/>
              </a:rPr>
              <a:t>برچسب‌گذاری</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منبع</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هر</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لید</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از</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روز</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اول</a:t>
            </a:r>
            <a:r>
              <a:rPr sz="1100" dirty="0">
                <a:solidFill>
                  <a:schemeClr val="tx1">
                    <a:lumMod val="75000"/>
                    <a:lumOff val="25000"/>
                  </a:schemeClr>
                </a:solidFill>
                <a:latin typeface="Yekan Bakh"/>
                <a:cs typeface="Yekan Bakh"/>
              </a:rPr>
              <a:t>(Channel/Source tagging) </a:t>
            </a:r>
            <a:r>
              <a:rPr lang="fa-I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برای</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ساخت</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پایگاه</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شواهد</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واقعیCAC</a:t>
            </a:r>
            <a:r>
              <a:rPr sz="1100" dirty="0">
                <a:solidFill>
                  <a:schemeClr val="tx1">
                    <a:lumMod val="75000"/>
                    <a:lumOff val="25000"/>
                  </a:schemeClr>
                </a:solidFill>
                <a:latin typeface="Yekan Bakh"/>
                <a:cs typeface="Yekan Bakh"/>
              </a:rPr>
              <a:t>/</a:t>
            </a:r>
            <a:r>
              <a:rPr lang="fa-IR" sz="1100" dirty="0">
                <a:solidFill>
                  <a:schemeClr val="tx1">
                    <a:lumMod val="75000"/>
                    <a:lumOff val="25000"/>
                  </a:schemeClr>
                </a:solidFill>
                <a:latin typeface="Yekan Bakh"/>
                <a:cs typeface="Yekan Bakh"/>
              </a:rPr>
              <a:t> ن</a:t>
            </a:r>
            <a:r>
              <a:rPr sz="1100" dirty="0" err="1">
                <a:solidFill>
                  <a:schemeClr val="tx1">
                    <a:lumMod val="75000"/>
                    <a:lumOff val="25000"/>
                  </a:schemeClr>
                </a:solidFill>
                <a:latin typeface="Yekan Bakh"/>
                <a:cs typeface="Yekan Bakh"/>
              </a:rPr>
              <a:t>رخ</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تبدیل</a:t>
            </a:r>
            <a:r>
              <a:rPr sz="1100" dirty="0">
                <a:solidFill>
                  <a:schemeClr val="tx1">
                    <a:lumMod val="75000"/>
                    <a:lumOff val="25000"/>
                  </a:schemeClr>
                </a:solidFill>
                <a:latin typeface="Yekan Bakh"/>
                <a:cs typeface="Yekan Bakh"/>
              </a:rPr>
              <a:t>.</a:t>
            </a:r>
          </a:p>
          <a:p>
            <a:pPr algn="r" rtl="1">
              <a:lnSpc>
                <a:spcPct val="105000"/>
              </a:lnSpc>
              <a:spcAft>
                <a:spcPts val="700"/>
              </a:spcAft>
            </a:pPr>
            <a:r>
              <a:rPr sz="1100" b="1" dirty="0">
                <a:solidFill>
                  <a:srgbClr val="F0BE0F"/>
                </a:solidFill>
                <a:latin typeface="Yekan Bakh"/>
                <a:cs typeface="Yekan Bakh"/>
              </a:rPr>
              <a:t>۸</a:t>
            </a:r>
            <a:r>
              <a:rPr lang="fa-IR" sz="1100" b="1" dirty="0">
                <a:solidFill>
                  <a:srgbClr val="F0BE0F"/>
                </a:solidFill>
                <a:latin typeface="Yekan Bakh"/>
                <a:cs typeface="Yekan Bakh"/>
              </a:rPr>
              <a:t>.</a:t>
            </a:r>
            <a:r>
              <a:rPr sz="1100" b="1" dirty="0">
                <a:solidFill>
                  <a:srgbClr val="F0BE0F"/>
                </a:solidFill>
                <a:latin typeface="Yekan Bakh"/>
                <a:cs typeface="Yekan Bakh"/>
              </a:rPr>
              <a:t> </a:t>
            </a:r>
            <a:r>
              <a:rPr sz="1100" dirty="0" err="1">
                <a:solidFill>
                  <a:schemeClr val="tx1">
                    <a:lumMod val="75000"/>
                    <a:lumOff val="25000"/>
                  </a:schemeClr>
                </a:solidFill>
                <a:latin typeface="Yekan Bakh"/>
                <a:cs typeface="Yekan Bakh"/>
              </a:rPr>
              <a:t>اجرای</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مصاحبه‌های</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شناخت</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مشتری</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با</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تمرکز</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ویژه</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بر</a:t>
            </a:r>
            <a:r>
              <a:rPr lang="en-US"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چطور</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ما</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را</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پیدا</a:t>
            </a:r>
            <a:r>
              <a:rPr sz="1100" dirty="0">
                <a:solidFill>
                  <a:schemeClr val="tx1">
                    <a:lumMod val="75000"/>
                    <a:lumOff val="25000"/>
                  </a:schemeClr>
                </a:solidFill>
                <a:latin typeface="Yekan Bakh"/>
                <a:cs typeface="Yekan Bakh"/>
              </a:rPr>
              <a:t>/</a:t>
            </a:r>
            <a:r>
              <a:rPr sz="1100" dirty="0" err="1">
                <a:solidFill>
                  <a:schemeClr val="tx1">
                    <a:lumMod val="75000"/>
                    <a:lumOff val="25000"/>
                  </a:schemeClr>
                </a:solidFill>
                <a:latin typeface="Yekan Bakh"/>
                <a:cs typeface="Yekan Bakh"/>
              </a:rPr>
              <a:t>باور</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کردید</a:t>
            </a:r>
            <a:r>
              <a:rPr sz="1100" dirty="0">
                <a:solidFill>
                  <a:schemeClr val="tx1">
                    <a:lumMod val="75000"/>
                    <a:lumOff val="25000"/>
                  </a:schemeClr>
                </a:solidFill>
                <a:latin typeface="Yekan Bakh"/>
                <a:cs typeface="Yekan Bakh"/>
              </a:rPr>
              <a:t>؟</a:t>
            </a:r>
            <a:r>
              <a:rPr lang="fa-IR" sz="1100" dirty="0">
                <a:solidFill>
                  <a:schemeClr val="tx1">
                    <a:lumMod val="75000"/>
                    <a:lumOff val="25000"/>
                  </a:schemeClr>
                </a:solidFill>
                <a:latin typeface="Yekan Bakh"/>
                <a:cs typeface="Yekan Bakh"/>
              </a:rPr>
              <a:t>»</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برای</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اعتبارسنجی</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فرضیات</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این</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بلوک</a:t>
            </a:r>
            <a:r>
              <a:rPr sz="1100" dirty="0">
                <a:solidFill>
                  <a:schemeClr val="tx1">
                    <a:lumMod val="75000"/>
                    <a:lumOff val="25000"/>
                  </a:schemeClr>
                </a:solidFill>
                <a:latin typeface="Yekan Bakh"/>
                <a:cs typeface="Yekan Bakh"/>
              </a:rPr>
              <a:t>.</a:t>
            </a:r>
          </a:p>
          <a:p>
            <a:pPr algn="r" rtl="1">
              <a:lnSpc>
                <a:spcPct val="105000"/>
              </a:lnSpc>
              <a:spcAft>
                <a:spcPts val="700"/>
              </a:spcAft>
            </a:pPr>
            <a:r>
              <a:rPr sz="1100" b="1" dirty="0">
                <a:solidFill>
                  <a:srgbClr val="F0BE0F"/>
                </a:solidFill>
                <a:latin typeface="Yekan Bakh"/>
                <a:cs typeface="Yekan Bakh"/>
              </a:rPr>
              <a:t>۹</a:t>
            </a:r>
            <a:r>
              <a:rPr lang="fa-IR" sz="1100" b="1" dirty="0">
                <a:solidFill>
                  <a:srgbClr val="F0BE0F"/>
                </a:solidFill>
                <a:latin typeface="Yekan Bakh"/>
                <a:cs typeface="Yekan Bakh"/>
              </a:rPr>
              <a:t>.</a:t>
            </a:r>
            <a:r>
              <a:rPr sz="1100" b="1" dirty="0">
                <a:solidFill>
                  <a:srgbClr val="F0BE0F"/>
                </a:solidFill>
                <a:latin typeface="Yekan Bakh"/>
                <a:cs typeface="Yekan Bakh"/>
              </a:rPr>
              <a:t> </a:t>
            </a:r>
            <a:r>
              <a:rPr sz="1100" dirty="0" err="1">
                <a:solidFill>
                  <a:schemeClr val="tx1">
                    <a:lumMod val="75000"/>
                    <a:lumOff val="25000"/>
                  </a:schemeClr>
                </a:solidFill>
                <a:latin typeface="Yekan Bakh"/>
                <a:cs typeface="Yekan Bakh"/>
              </a:rPr>
              <a:t>بررسی</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حقوقی</a:t>
            </a:r>
            <a:r>
              <a:rPr sz="1100" dirty="0">
                <a:solidFill>
                  <a:schemeClr val="tx1">
                    <a:lumMod val="75000"/>
                    <a:lumOff val="25000"/>
                  </a:schemeClr>
                </a:solidFill>
                <a:latin typeface="Yekan Bakh"/>
                <a:cs typeface="Yekan Bakh"/>
              </a:rPr>
              <a:t>/</a:t>
            </a:r>
            <a:r>
              <a:rPr sz="1100" dirty="0" err="1">
                <a:solidFill>
                  <a:schemeClr val="tx1">
                    <a:lumMod val="75000"/>
                    <a:lumOff val="25000"/>
                  </a:schemeClr>
                </a:solidFill>
                <a:latin typeface="Yekan Bakh"/>
                <a:cs typeface="Yekan Bakh"/>
              </a:rPr>
              <a:t>انطباقی</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امکان</a:t>
            </a:r>
            <a:r>
              <a:rPr sz="1100" dirty="0">
                <a:solidFill>
                  <a:schemeClr val="tx1">
                    <a:lumMod val="75000"/>
                    <a:lumOff val="25000"/>
                  </a:schemeClr>
                </a:solidFill>
                <a:latin typeface="Yekan Bakh"/>
                <a:cs typeface="Yekan Bakh"/>
              </a:rPr>
              <a:t> و </a:t>
            </a:r>
            <a:r>
              <a:rPr sz="1100" dirty="0" err="1">
                <a:solidFill>
                  <a:schemeClr val="tx1">
                    <a:lumMod val="75000"/>
                    <a:lumOff val="25000"/>
                  </a:schemeClr>
                </a:solidFill>
                <a:latin typeface="Yekan Bakh"/>
                <a:cs typeface="Yekan Bakh"/>
              </a:rPr>
              <a:t>سازوکار</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کارمزد</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معرف</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پیش</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از</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رسمی‌سازی</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کانال</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معرف‌ها</a:t>
            </a:r>
            <a:r>
              <a:rPr sz="1100" dirty="0">
                <a:solidFill>
                  <a:schemeClr val="tx1">
                    <a:lumMod val="75000"/>
                    <a:lumOff val="25000"/>
                  </a:schemeClr>
                </a:solidFill>
                <a:latin typeface="Yekan Bakh"/>
                <a:cs typeface="Yekan Bakh"/>
              </a:rPr>
              <a:t>.</a:t>
            </a:r>
          </a:p>
          <a:p>
            <a:pPr algn="r" rtl="1">
              <a:lnSpc>
                <a:spcPct val="105000"/>
              </a:lnSpc>
              <a:spcAft>
                <a:spcPts val="700"/>
              </a:spcAft>
            </a:pPr>
            <a:r>
              <a:rPr sz="1100" b="1" dirty="0">
                <a:solidFill>
                  <a:srgbClr val="F0BE0F"/>
                </a:solidFill>
                <a:latin typeface="Yekan Bakh"/>
                <a:cs typeface="Yekan Bakh"/>
              </a:rPr>
              <a:t>۱۰</a:t>
            </a:r>
            <a:r>
              <a:rPr lang="fa-IR" sz="1100" b="1" dirty="0">
                <a:solidFill>
                  <a:srgbClr val="F0BE0F"/>
                </a:solidFill>
                <a:latin typeface="Yekan Bakh"/>
                <a:cs typeface="Yekan Bakh"/>
              </a:rPr>
              <a:t>. </a:t>
            </a:r>
            <a:r>
              <a:rPr sz="1100" dirty="0" err="1">
                <a:solidFill>
                  <a:schemeClr val="tx1">
                    <a:lumMod val="75000"/>
                    <a:lumOff val="25000"/>
                  </a:schemeClr>
                </a:solidFill>
                <a:latin typeface="Yekan Bakh"/>
                <a:cs typeface="Yekan Bakh"/>
              </a:rPr>
              <a:t>طراحی</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صفحات</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فرود</a:t>
            </a:r>
            <a:r>
              <a:rPr sz="1100" dirty="0">
                <a:solidFill>
                  <a:schemeClr val="tx1">
                    <a:lumMod val="75000"/>
                    <a:lumOff val="25000"/>
                  </a:schemeClr>
                </a:solidFill>
                <a:latin typeface="Yekan Bakh"/>
                <a:cs typeface="Yekan Bakh"/>
              </a:rPr>
              <a:t>/CTA </a:t>
            </a:r>
            <a:r>
              <a:rPr lang="fa-I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مجزا</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به</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تفکیک</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پرسونا</a:t>
            </a:r>
            <a:r>
              <a:rPr sz="1100" dirty="0">
                <a:solidFill>
                  <a:schemeClr val="tx1">
                    <a:lumMod val="75000"/>
                    <a:lumOff val="25000"/>
                  </a:schemeClr>
                </a:solidFill>
                <a:latin typeface="Yekan Bakh"/>
                <a:cs typeface="Yekan Bakh"/>
              </a:rPr>
              <a:t> (</a:t>
            </a:r>
            <a:r>
              <a:rPr lang="fa-IR" sz="1100" dirty="0">
                <a:solidFill>
                  <a:schemeClr val="tx1">
                    <a:lumMod val="75000"/>
                    <a:lumOff val="25000"/>
                  </a:schemeClr>
                </a:solidFill>
                <a:latin typeface="Yekan Bakh"/>
                <a:cs typeface="Yekan Bakh"/>
              </a:rPr>
              <a:t>«</a:t>
            </a:r>
            <a:r>
              <a:rPr sz="1100" dirty="0" err="1">
                <a:solidFill>
                  <a:schemeClr val="tx1">
                    <a:lumMod val="75000"/>
                    <a:lumOff val="25000"/>
                  </a:schemeClr>
                </a:solidFill>
                <a:latin typeface="Yekan Bakh"/>
                <a:cs typeface="Yekan Bakh"/>
              </a:rPr>
              <a:t>کسب‌وکار</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ایرانی</a:t>
            </a:r>
            <a:r>
              <a:rPr lang="fa-IR" sz="1100" dirty="0">
                <a:solidFill>
                  <a:schemeClr val="tx1">
                    <a:lumMod val="75000"/>
                    <a:lumOff val="25000"/>
                  </a:schemeClr>
                </a:solidFill>
                <a:latin typeface="Yekan Bakh"/>
                <a:cs typeface="Yekan Bakh"/>
              </a:rPr>
              <a:t>»</a:t>
            </a:r>
            <a:r>
              <a:rPr sz="1100" dirty="0">
                <a:solidFill>
                  <a:schemeClr val="tx1">
                    <a:lumMod val="75000"/>
                    <a:lumOff val="25000"/>
                  </a:schemeClr>
                </a:solidFill>
                <a:latin typeface="Yekan Bakh"/>
                <a:cs typeface="Yekan Bakh"/>
              </a:rPr>
              <a:t>،</a:t>
            </a:r>
            <a:r>
              <a:rPr lang="en-US"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کسب‌وکار</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خارجی</a:t>
            </a:r>
            <a:r>
              <a:rPr lang="fa-IR" sz="1100" dirty="0">
                <a:solidFill>
                  <a:schemeClr val="tx1">
                    <a:lumMod val="75000"/>
                    <a:lumOff val="25000"/>
                  </a:schemeClr>
                </a:solidFill>
                <a:latin typeface="Yekan Bakh"/>
                <a:cs typeface="Yekan Bakh"/>
              </a:rPr>
              <a:t>»</a:t>
            </a:r>
            <a:r>
              <a:rPr sz="1100" dirty="0">
                <a:solidFill>
                  <a:schemeClr val="tx1">
                    <a:lumMod val="75000"/>
                    <a:lumOff val="25000"/>
                  </a:schemeClr>
                </a:solidFill>
                <a:latin typeface="Yekan Bakh"/>
                <a:cs typeface="Yekan Bakh"/>
              </a:rPr>
              <a:t>،</a:t>
            </a:r>
            <a:r>
              <a:rPr lang="en-US"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سرمایه‌گذار</a:t>
            </a:r>
            <a:r>
              <a:rPr lang="fa-IR" sz="1100" dirty="0">
                <a:solidFill>
                  <a:schemeClr val="tx1">
                    <a:lumMod val="75000"/>
                    <a:lumOff val="25000"/>
                  </a:schemeClr>
                </a:solidFill>
                <a:latin typeface="Yekan Bakh"/>
                <a:cs typeface="Yekan Bakh"/>
              </a:rPr>
              <a:t>»</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بر</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روی</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وب‌سایت</a:t>
            </a:r>
            <a:r>
              <a:rPr sz="1100" dirty="0">
                <a:solidFill>
                  <a:schemeClr val="tx1">
                    <a:lumMod val="75000"/>
                    <a:lumOff val="25000"/>
                  </a:schemeClr>
                </a:solidFill>
                <a:latin typeface="Yekan Bakh"/>
                <a:cs typeface="Yekan Bakh"/>
              </a:rPr>
              <a:t> — </a:t>
            </a:r>
            <a:r>
              <a:rPr sz="1100" dirty="0" err="1">
                <a:solidFill>
                  <a:schemeClr val="tx1">
                    <a:lumMod val="75000"/>
                    <a:lumOff val="25000"/>
                  </a:schemeClr>
                </a:solidFill>
                <a:latin typeface="Yekan Bakh"/>
                <a:cs typeface="Yekan Bakh"/>
              </a:rPr>
              <a:t>الگوی</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مستند</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در</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بنچمارک</a:t>
            </a:r>
            <a:r>
              <a:rPr sz="1100" dirty="0">
                <a:solidFill>
                  <a:schemeClr val="tx1">
                    <a:lumMod val="75000"/>
                    <a:lumOff val="25000"/>
                  </a:schemeClr>
                </a:solidFill>
                <a:latin typeface="Yekan Bakh"/>
                <a:cs typeface="Yekan Bakh"/>
              </a:rPr>
              <a:t> Turn8</a:t>
            </a:r>
            <a:r>
              <a:rPr lang="fa-IR" sz="1100" dirty="0">
                <a:solidFill>
                  <a:schemeClr val="tx1">
                    <a:lumMod val="75000"/>
                    <a:lumOff val="25000"/>
                  </a:schemeClr>
                </a:solidFill>
                <a:latin typeface="Yekan Bakh"/>
                <a:cs typeface="Yekan Bakh"/>
              </a:rPr>
              <a:t>.</a:t>
            </a:r>
            <a:endParaRPr sz="1100" dirty="0">
              <a:solidFill>
                <a:schemeClr val="tx1">
                  <a:lumMod val="75000"/>
                  <a:lumOff val="25000"/>
                </a:schemeClr>
              </a:solidFill>
              <a:latin typeface="Yekan Bakh"/>
              <a:cs typeface="Yekan Bakh"/>
            </a:endParaRPr>
          </a:p>
          <a:p>
            <a:pPr algn="r" rtl="1">
              <a:lnSpc>
                <a:spcPct val="105000"/>
              </a:lnSpc>
              <a:spcAft>
                <a:spcPts val="700"/>
              </a:spcAft>
            </a:pPr>
            <a:r>
              <a:rPr sz="1100" b="1" dirty="0">
                <a:solidFill>
                  <a:srgbClr val="F0BE0F"/>
                </a:solidFill>
                <a:latin typeface="Yekan Bakh"/>
                <a:cs typeface="Yekan Bakh"/>
              </a:rPr>
              <a:t>۱۱</a:t>
            </a:r>
            <a:r>
              <a:rPr lang="fa-IR" sz="1100" b="1" dirty="0">
                <a:solidFill>
                  <a:srgbClr val="F0BE0F"/>
                </a:solidFill>
                <a:latin typeface="Yekan Bakh"/>
                <a:cs typeface="Yekan Bakh"/>
              </a:rPr>
              <a:t>.</a:t>
            </a:r>
            <a:r>
              <a:rPr sz="1100" b="1" dirty="0">
                <a:solidFill>
                  <a:srgbClr val="F0BE0F"/>
                </a:solidFill>
                <a:latin typeface="Yekan Bakh"/>
                <a:cs typeface="Yekan Bakh"/>
              </a:rPr>
              <a:t> </a:t>
            </a:r>
            <a:r>
              <a:rPr sz="1100" dirty="0" err="1">
                <a:solidFill>
                  <a:schemeClr val="tx1">
                    <a:lumMod val="75000"/>
                    <a:lumOff val="25000"/>
                  </a:schemeClr>
                </a:solidFill>
                <a:latin typeface="Yekan Bakh"/>
                <a:cs typeface="Yekan Bakh"/>
              </a:rPr>
              <a:t>تدوین</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فهرست</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اولیه</a:t>
            </a:r>
            <a:r>
              <a:rPr sz="1100" dirty="0">
                <a:solidFill>
                  <a:schemeClr val="tx1">
                    <a:lumMod val="75000"/>
                    <a:lumOff val="25000"/>
                  </a:schemeClr>
                </a:solidFill>
                <a:latin typeface="Yekan Bakh"/>
                <a:cs typeface="Yekan Bakh"/>
              </a:rPr>
              <a:t> </a:t>
            </a:r>
            <a:r>
              <a:rPr lang="fa-IR" sz="1100" dirty="0">
                <a:solidFill>
                  <a:schemeClr val="tx1">
                    <a:lumMod val="75000"/>
                    <a:lumOff val="25000"/>
                  </a:schemeClr>
                </a:solidFill>
                <a:latin typeface="Yekan Bakh"/>
                <a:cs typeface="Yekan Bakh"/>
              </a:rPr>
              <a:t>۱۰</a:t>
            </a:r>
            <a:r>
              <a:rPr sz="1100" dirty="0">
                <a:solidFill>
                  <a:schemeClr val="tx1">
                    <a:lumMod val="75000"/>
                    <a:lumOff val="25000"/>
                  </a:schemeClr>
                </a:solidFill>
                <a:latin typeface="Yekan Bakh"/>
                <a:cs typeface="Yekan Bakh"/>
              </a:rPr>
              <a:t> تا۱۵ </a:t>
            </a:r>
            <a:r>
              <a:rPr lang="fa-IR" sz="1100" dirty="0">
                <a:solidFill>
                  <a:schemeClr val="tx1">
                    <a:lumMod val="75000"/>
                    <a:lumOff val="25000"/>
                  </a:schemeClr>
                </a:solidFill>
                <a:latin typeface="Yekan Bakh"/>
                <a:cs typeface="Yekan Bakh"/>
              </a:rPr>
              <a:t> عضو هیئت مدیره/مدیرعامل. </a:t>
            </a:r>
            <a:r>
              <a:rPr sz="1100" dirty="0" err="1">
                <a:solidFill>
                  <a:schemeClr val="tx1">
                    <a:lumMod val="75000"/>
                    <a:lumOff val="25000"/>
                  </a:schemeClr>
                </a:solidFill>
                <a:latin typeface="Yekan Bakh"/>
                <a:cs typeface="Yekan Bakh"/>
              </a:rPr>
              <a:t>وکیل</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هدف</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برای</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شبکه</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معرف</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نهادی</a:t>
            </a:r>
            <a:r>
              <a:rPr sz="1100" dirty="0">
                <a:solidFill>
                  <a:schemeClr val="tx1">
                    <a:lumMod val="75000"/>
                    <a:lumOff val="25000"/>
                  </a:schemeClr>
                </a:solidFill>
                <a:latin typeface="Yekan Bakh"/>
                <a:cs typeface="Yekan Bakh"/>
              </a:rPr>
              <a:t> (Track B) — </a:t>
            </a:r>
            <a:r>
              <a:rPr lang="fa-I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بنچمارک</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Leadvisor</a:t>
            </a:r>
            <a:r>
              <a:rPr sz="1100" dirty="0">
                <a:solidFill>
                  <a:schemeClr val="tx1">
                    <a:lumMod val="75000"/>
                    <a:lumOff val="25000"/>
                  </a:schemeClr>
                </a:solidFill>
                <a:latin typeface="Yekan Bakh"/>
                <a:cs typeface="Yekan Bakh"/>
              </a:rPr>
              <a:t>/Hum Capital</a:t>
            </a:r>
            <a:r>
              <a:rPr lang="fa-IR" sz="1100" dirty="0">
                <a:solidFill>
                  <a:schemeClr val="tx1">
                    <a:lumMod val="75000"/>
                    <a:lumOff val="25000"/>
                  </a:schemeClr>
                </a:solidFill>
                <a:latin typeface="Yekan Bakh"/>
                <a:cs typeface="Yekan Bakh"/>
              </a:rPr>
              <a:t>.</a:t>
            </a:r>
            <a:endParaRPr sz="1100" dirty="0">
              <a:solidFill>
                <a:schemeClr val="tx1">
                  <a:lumMod val="75000"/>
                  <a:lumOff val="25000"/>
                </a:schemeClr>
              </a:solidFill>
              <a:latin typeface="Yekan Bakh"/>
              <a:cs typeface="Yekan Bakh"/>
            </a:endParaRPr>
          </a:p>
          <a:p>
            <a:pPr algn="r" rtl="1">
              <a:lnSpc>
                <a:spcPct val="105000"/>
              </a:lnSpc>
              <a:spcAft>
                <a:spcPts val="700"/>
              </a:spcAft>
            </a:pPr>
            <a:r>
              <a:rPr sz="1100" b="1" dirty="0">
                <a:solidFill>
                  <a:srgbClr val="F0BE0F"/>
                </a:solidFill>
                <a:latin typeface="Yekan Bakh"/>
                <a:cs typeface="Yekan Bakh"/>
              </a:rPr>
              <a:t>۱۲</a:t>
            </a:r>
            <a:r>
              <a:rPr lang="fa-IR" sz="1100" b="1" dirty="0">
                <a:solidFill>
                  <a:srgbClr val="F0BE0F"/>
                </a:solidFill>
                <a:latin typeface="Yekan Bakh"/>
                <a:cs typeface="Yekan Bakh"/>
              </a:rPr>
              <a:t>.</a:t>
            </a:r>
            <a:r>
              <a:rPr sz="1100" b="1" dirty="0">
                <a:solidFill>
                  <a:srgbClr val="F0BE0F"/>
                </a:solidFill>
                <a:latin typeface="Yekan Bakh"/>
                <a:cs typeface="Yekan Bakh"/>
              </a:rPr>
              <a:t> </a:t>
            </a:r>
            <a:r>
              <a:rPr sz="1100" dirty="0" err="1">
                <a:solidFill>
                  <a:schemeClr val="tx1">
                    <a:lumMod val="75000"/>
                    <a:lumOff val="25000"/>
                  </a:schemeClr>
                </a:solidFill>
                <a:latin typeface="Yekan Bakh"/>
                <a:cs typeface="Yekan Bakh"/>
              </a:rPr>
              <a:t>تدوینScope</a:t>
            </a:r>
            <a:r>
              <a:rPr sz="1100" dirty="0">
                <a:solidFill>
                  <a:schemeClr val="tx1">
                    <a:lumMod val="75000"/>
                    <a:lumOff val="25000"/>
                  </a:schemeClr>
                </a:solidFill>
                <a:latin typeface="Yekan Bakh"/>
                <a:cs typeface="Yekan Bakh"/>
              </a:rPr>
              <a:t> </a:t>
            </a:r>
            <a:r>
              <a:rPr lang="fa-IR" sz="1100" dirty="0">
                <a:solidFill>
                  <a:schemeClr val="tx1">
                    <a:lumMod val="75000"/>
                    <a:lumOff val="25000"/>
                  </a:schemeClr>
                </a:solidFill>
                <a:latin typeface="Yekan Bakh"/>
                <a:cs typeface="Yekan Bakh"/>
              </a:rPr>
              <a:t> ا</a:t>
            </a:r>
            <a:r>
              <a:rPr sz="1100" dirty="0" err="1">
                <a:solidFill>
                  <a:schemeClr val="tx1">
                    <a:lumMod val="75000"/>
                    <a:lumOff val="25000"/>
                  </a:schemeClr>
                </a:solidFill>
                <a:latin typeface="Yekan Bakh"/>
                <a:cs typeface="Yekan Bakh"/>
              </a:rPr>
              <a:t>ولیه</a:t>
            </a:r>
            <a:r>
              <a:rPr sz="1100" dirty="0">
                <a:solidFill>
                  <a:schemeClr val="tx1">
                    <a:lumMod val="75000"/>
                    <a:lumOff val="25000"/>
                  </a:schemeClr>
                </a:solidFill>
                <a:latin typeface="Yekan Bakh"/>
                <a:cs typeface="Yekan Bakh"/>
              </a:rPr>
              <a:t> </a:t>
            </a:r>
            <a:r>
              <a:rPr lang="fa-IR" sz="1100" dirty="0">
                <a:solidFill>
                  <a:schemeClr val="tx1">
                    <a:lumMod val="75000"/>
                    <a:lumOff val="25000"/>
                  </a:schemeClr>
                </a:solidFill>
                <a:latin typeface="Yekan Bakh"/>
                <a:cs typeface="Yekan Bakh"/>
              </a:rPr>
              <a:t>(</a:t>
            </a:r>
            <a:r>
              <a:rPr sz="1100" dirty="0" err="1">
                <a:solidFill>
                  <a:schemeClr val="tx1">
                    <a:lumMod val="75000"/>
                    <a:lumOff val="25000"/>
                  </a:schemeClr>
                </a:solidFill>
                <a:latin typeface="Yekan Bakh"/>
                <a:cs typeface="Yekan Bakh"/>
              </a:rPr>
              <a:t>نه</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ساخت</a:t>
            </a:r>
            <a:r>
              <a:rPr lang="fa-I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پلتفرم</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دیجیتال</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دوطرفه</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معامله</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برای</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پرسونا</a:t>
            </a:r>
            <a:r>
              <a:rPr sz="1100" dirty="0">
                <a:solidFill>
                  <a:schemeClr val="tx1">
                    <a:lumMod val="75000"/>
                    <a:lumOff val="25000"/>
                  </a:schemeClr>
                </a:solidFill>
                <a:latin typeface="Yekan Bakh"/>
                <a:cs typeface="Yekan Bakh"/>
              </a:rPr>
              <a:t> ۳/۵/۶، </a:t>
            </a:r>
            <a:r>
              <a:rPr sz="1100" dirty="0" err="1">
                <a:solidFill>
                  <a:schemeClr val="tx1">
                    <a:lumMod val="75000"/>
                    <a:lumOff val="25000"/>
                  </a:schemeClr>
                </a:solidFill>
                <a:latin typeface="Yekan Bakh"/>
                <a:cs typeface="Yekan Bakh"/>
              </a:rPr>
              <a:t>به‌عنوان</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کاندید</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فاز</a:t>
            </a:r>
            <a:r>
              <a:rPr sz="1100" dirty="0">
                <a:solidFill>
                  <a:schemeClr val="tx1">
                    <a:lumMod val="75000"/>
                    <a:lumOff val="25000"/>
                  </a:schemeClr>
                </a:solidFill>
                <a:latin typeface="Yekan Bakh"/>
                <a:cs typeface="Yekan Bakh"/>
              </a:rPr>
              <a:t> </a:t>
            </a:r>
            <a:r>
              <a:rPr sz="1100" dirty="0" err="1">
                <a:solidFill>
                  <a:schemeClr val="tx1">
                    <a:lumMod val="75000"/>
                    <a:lumOff val="25000"/>
                  </a:schemeClr>
                </a:solidFill>
                <a:latin typeface="Yekan Bakh"/>
                <a:cs typeface="Yekan Bakh"/>
              </a:rPr>
              <a:t>رشد</a:t>
            </a:r>
            <a:r>
              <a:rPr lang="fa-IR" sz="1100" dirty="0">
                <a:solidFill>
                  <a:schemeClr val="tx1">
                    <a:lumMod val="75000"/>
                    <a:lumOff val="25000"/>
                  </a:schemeClr>
                </a:solidFill>
                <a:latin typeface="Yekan Bakh"/>
                <a:cs typeface="Yekan Bakh"/>
              </a:rPr>
              <a:t>.</a:t>
            </a:r>
            <a:r>
              <a:rPr sz="1100" dirty="0">
                <a:solidFill>
                  <a:schemeClr val="tx1">
                    <a:lumMod val="75000"/>
                    <a:lumOff val="25000"/>
                  </a:schemeClr>
                </a:solidFill>
                <a:latin typeface="Yekan Bakh"/>
                <a:cs typeface="Yekan Bakh"/>
              </a:rPr>
              <a:t> </a:t>
            </a:r>
          </a:p>
        </p:txBody>
      </p:sp>
    </p:spTree>
    <p:extLst>
      <p:ext uri="{BB962C8B-B14F-4D97-AF65-F5344CB8AC3E}">
        <p14:creationId xmlns:p14="http://schemas.microsoft.com/office/powerpoint/2010/main" val="3491043597"/>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30333DA-D075-C8B9-6440-67629156A749}"/>
              </a:ext>
            </a:extLst>
          </p:cNvPr>
          <p:cNvSpPr>
            <a:spLocks noGrp="1"/>
          </p:cNvSpPr>
          <p:nvPr>
            <p:ph type="body" sz="quarter" idx="10"/>
          </p:nvPr>
        </p:nvSpPr>
        <p:spPr/>
        <p:txBody>
          <a:bodyPr/>
          <a:lstStyle/>
          <a:p>
            <a:r>
              <a:rPr lang="fa-IR" dirty="0"/>
              <a:t>منابع</a:t>
            </a:r>
          </a:p>
        </p:txBody>
      </p:sp>
      <p:sp>
        <p:nvSpPr>
          <p:cNvPr id="3" name="Text Placeholder 2">
            <a:extLst>
              <a:ext uri="{FF2B5EF4-FFF2-40B4-BE49-F238E27FC236}">
                <a16:creationId xmlns:a16="http://schemas.microsoft.com/office/drawing/2014/main" id="{561A3A16-491A-4407-A65E-E193D9ED5250}"/>
              </a:ext>
            </a:extLst>
          </p:cNvPr>
          <p:cNvSpPr>
            <a:spLocks noGrp="1"/>
          </p:cNvSpPr>
          <p:nvPr>
            <p:ph type="body" sz="quarter" idx="12"/>
          </p:nvPr>
        </p:nvSpPr>
        <p:spPr/>
        <p:txBody>
          <a:bodyPr/>
          <a:lstStyle/>
          <a:p>
            <a:r>
              <a:rPr lang="fa-IR" dirty="0"/>
              <a:t>منابع مرجع و بنچمارک رقبای دیجیتال</a:t>
            </a:r>
          </a:p>
        </p:txBody>
      </p:sp>
      <p:sp>
        <p:nvSpPr>
          <p:cNvPr id="4" name="Rectangle: Rounded Corners 3">
            <a:extLst>
              <a:ext uri="{FF2B5EF4-FFF2-40B4-BE49-F238E27FC236}">
                <a16:creationId xmlns:a16="http://schemas.microsoft.com/office/drawing/2014/main" id="{854245B1-2C0E-9427-0CAD-D5217037D2A8}"/>
              </a:ext>
            </a:extLst>
          </p:cNvPr>
          <p:cNvSpPr/>
          <p:nvPr/>
        </p:nvSpPr>
        <p:spPr>
          <a:xfrm>
            <a:off x="533440" y="1581545"/>
            <a:ext cx="10710133" cy="848503"/>
          </a:xfrm>
          <a:prstGeom prst="roundRect">
            <a:avLst>
              <a:gd name="adj" fmla="val 8669"/>
            </a:avLst>
          </a:prstGeom>
          <a:solidFill>
            <a:schemeClr val="bg1">
              <a:lumMod val="95000"/>
              <a:alpha val="17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Rounded Corners 4">
            <a:extLst>
              <a:ext uri="{FF2B5EF4-FFF2-40B4-BE49-F238E27FC236}">
                <a16:creationId xmlns:a16="http://schemas.microsoft.com/office/drawing/2014/main" id="{A62463A0-F692-13AB-BE48-B8988D2FAE89}"/>
              </a:ext>
            </a:extLst>
          </p:cNvPr>
          <p:cNvSpPr/>
          <p:nvPr/>
        </p:nvSpPr>
        <p:spPr>
          <a:xfrm>
            <a:off x="4742375" y="1408125"/>
            <a:ext cx="2292263" cy="350729"/>
          </a:xfrm>
          <a:prstGeom prst="roundRect">
            <a:avLst/>
          </a:prstGeom>
          <a:solidFill>
            <a:srgbClr val="004D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1100" b="1" dirty="0">
                <a:solidFill>
                  <a:schemeClr val="bg1"/>
                </a:solidFill>
                <a:latin typeface="Yekan Bakh" pitchFamily="2" charset="-78"/>
                <a:ea typeface="Yekan Bakh" pitchFamily="2" charset="-78"/>
                <a:cs typeface="Yekan Bakh" pitchFamily="2" charset="-78"/>
              </a:rPr>
              <a:t>پلتفرم‌های آنالوگ بازبینی‌شده</a:t>
            </a:r>
          </a:p>
        </p:txBody>
      </p:sp>
      <p:sp>
        <p:nvSpPr>
          <p:cNvPr id="7" name="TextBox 6">
            <a:extLst>
              <a:ext uri="{FF2B5EF4-FFF2-40B4-BE49-F238E27FC236}">
                <a16:creationId xmlns:a16="http://schemas.microsoft.com/office/drawing/2014/main" id="{AD3ED88A-F8A9-79B7-25D4-899BED99B315}"/>
              </a:ext>
            </a:extLst>
          </p:cNvPr>
          <p:cNvSpPr txBox="1"/>
          <p:nvPr/>
        </p:nvSpPr>
        <p:spPr>
          <a:xfrm>
            <a:off x="794431" y="1936917"/>
            <a:ext cx="10114188" cy="269304"/>
          </a:xfrm>
          <a:prstGeom prst="rect">
            <a:avLst/>
          </a:prstGeom>
          <a:noFill/>
        </p:spPr>
        <p:txBody>
          <a:bodyPr wrap="square" anchor="t">
            <a:spAutoFit/>
          </a:bodyPr>
          <a:lstStyle/>
          <a:p>
            <a:pPr algn="ctr" rtl="1">
              <a:lnSpc>
                <a:spcPct val="115000"/>
              </a:lnSpc>
            </a:pPr>
            <a:r>
              <a:rPr lang="en-US" sz="1000" b="0" dirty="0">
                <a:solidFill>
                  <a:schemeClr val="tx1">
                    <a:lumMod val="75000"/>
                    <a:lumOff val="25000"/>
                  </a:schemeClr>
                </a:solidFill>
                <a:latin typeface="Yekan Bakh"/>
                <a:cs typeface="Yekan Bakh"/>
              </a:rPr>
              <a:t>Europe Enterprise Network, </a:t>
            </a:r>
            <a:r>
              <a:rPr sz="1000" b="0" dirty="0">
                <a:solidFill>
                  <a:schemeClr val="tx1">
                    <a:lumMod val="75000"/>
                    <a:lumOff val="25000"/>
                  </a:schemeClr>
                </a:solidFill>
                <a:latin typeface="Yekan Bakh"/>
                <a:cs typeface="Yekan Bakh"/>
              </a:rPr>
              <a:t> Hum Capital، Pitch40، </a:t>
            </a:r>
            <a:r>
              <a:rPr sz="1000" b="0" dirty="0" err="1">
                <a:solidFill>
                  <a:schemeClr val="tx1">
                    <a:lumMod val="75000"/>
                    <a:lumOff val="25000"/>
                  </a:schemeClr>
                </a:solidFill>
                <a:latin typeface="Yekan Bakh"/>
                <a:cs typeface="Yekan Bakh"/>
              </a:rPr>
              <a:t>LawTrader</a:t>
            </a:r>
            <a:r>
              <a:rPr sz="1000" b="0" dirty="0">
                <a:solidFill>
                  <a:schemeClr val="tx1">
                    <a:lumMod val="75000"/>
                    <a:lumOff val="25000"/>
                  </a:schemeClr>
                </a:solidFill>
                <a:latin typeface="Yekan Bakh"/>
                <a:cs typeface="Yekan Bakh"/>
              </a:rPr>
              <a:t>، </a:t>
            </a:r>
            <a:r>
              <a:rPr sz="1000" b="0" dirty="0" err="1">
                <a:solidFill>
                  <a:schemeClr val="tx1">
                    <a:lumMod val="75000"/>
                    <a:lumOff val="25000"/>
                  </a:schemeClr>
                </a:solidFill>
                <a:latin typeface="Yekan Bakh"/>
                <a:cs typeface="Yekan Bakh"/>
              </a:rPr>
              <a:t>Leadvisor</a:t>
            </a:r>
            <a:r>
              <a:rPr sz="1000" b="0" dirty="0">
                <a:solidFill>
                  <a:schemeClr val="tx1">
                    <a:lumMod val="75000"/>
                    <a:lumOff val="25000"/>
                  </a:schemeClr>
                </a:solidFill>
                <a:latin typeface="Yekan Bakh"/>
                <a:cs typeface="Yekan Bakh"/>
              </a:rPr>
              <a:t>، </a:t>
            </a:r>
            <a:r>
              <a:rPr sz="1000" b="0" dirty="0" err="1">
                <a:solidFill>
                  <a:schemeClr val="tx1">
                    <a:lumMod val="75000"/>
                    <a:lumOff val="25000"/>
                  </a:schemeClr>
                </a:solidFill>
                <a:latin typeface="Yekan Bakh"/>
                <a:cs typeface="Yekan Bakh"/>
              </a:rPr>
              <a:t>Consulty</a:t>
            </a:r>
            <a:r>
              <a:rPr sz="1000" b="0" dirty="0">
                <a:solidFill>
                  <a:schemeClr val="tx1">
                    <a:lumMod val="75000"/>
                    <a:lumOff val="25000"/>
                  </a:schemeClr>
                </a:solidFill>
                <a:latin typeface="Yekan Bakh"/>
                <a:cs typeface="Yekan Bakh"/>
              </a:rPr>
              <a:t>، Turn8</a:t>
            </a:r>
            <a:r>
              <a:rPr lang="en-US" sz="1000" dirty="0">
                <a:solidFill>
                  <a:schemeClr val="tx1">
                    <a:lumMod val="75000"/>
                    <a:lumOff val="25000"/>
                  </a:schemeClr>
                </a:solidFill>
                <a:latin typeface="Yekan Bakh"/>
                <a:cs typeface="Yekan Bakh"/>
              </a:rPr>
              <a:t>, </a:t>
            </a:r>
            <a:r>
              <a:rPr sz="1000" b="0" dirty="0">
                <a:solidFill>
                  <a:schemeClr val="tx1">
                    <a:lumMod val="75000"/>
                    <a:lumOff val="25000"/>
                  </a:schemeClr>
                </a:solidFill>
                <a:latin typeface="Yekan Bakh"/>
                <a:cs typeface="Yekan Bakh"/>
              </a:rPr>
              <a:t>ARX Network، 1MoreThing، Kalos</a:t>
            </a:r>
          </a:p>
        </p:txBody>
      </p:sp>
      <p:sp>
        <p:nvSpPr>
          <p:cNvPr id="8" name="Rectangle: Rounded Corners 7">
            <a:extLst>
              <a:ext uri="{FF2B5EF4-FFF2-40B4-BE49-F238E27FC236}">
                <a16:creationId xmlns:a16="http://schemas.microsoft.com/office/drawing/2014/main" id="{65965960-5D90-727F-8385-7A7C27BAE6B2}"/>
              </a:ext>
            </a:extLst>
          </p:cNvPr>
          <p:cNvSpPr/>
          <p:nvPr/>
        </p:nvSpPr>
        <p:spPr>
          <a:xfrm>
            <a:off x="555629" y="2783475"/>
            <a:ext cx="5140850" cy="2986821"/>
          </a:xfrm>
          <a:prstGeom prst="roundRect">
            <a:avLst>
              <a:gd name="adj" fmla="val 3198"/>
            </a:avLst>
          </a:prstGeom>
          <a:solidFill>
            <a:schemeClr val="bg1">
              <a:lumMod val="95000"/>
              <a:alpha val="17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Rounded Corners 8">
            <a:extLst>
              <a:ext uri="{FF2B5EF4-FFF2-40B4-BE49-F238E27FC236}">
                <a16:creationId xmlns:a16="http://schemas.microsoft.com/office/drawing/2014/main" id="{C057B85E-15F4-9990-9EDB-928AF04DC323}"/>
              </a:ext>
            </a:extLst>
          </p:cNvPr>
          <p:cNvSpPr/>
          <p:nvPr/>
        </p:nvSpPr>
        <p:spPr>
          <a:xfrm>
            <a:off x="1979923" y="2610055"/>
            <a:ext cx="2292263" cy="350729"/>
          </a:xfrm>
          <a:prstGeom prst="roundRect">
            <a:avLst/>
          </a:prstGeom>
          <a:solidFill>
            <a:srgbClr val="004D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1100" b="1" dirty="0">
                <a:solidFill>
                  <a:schemeClr val="bg1"/>
                </a:solidFill>
                <a:latin typeface="Yekan Bakh" pitchFamily="2" charset="-78"/>
                <a:ea typeface="Yekan Bakh" pitchFamily="2" charset="-78"/>
                <a:cs typeface="Yekan Bakh" pitchFamily="2" charset="-78"/>
              </a:rPr>
              <a:t>ادبیات/چارچوب</a:t>
            </a:r>
          </a:p>
        </p:txBody>
      </p:sp>
      <p:sp>
        <p:nvSpPr>
          <p:cNvPr id="12" name="Rectangle: Rounded Corners 11">
            <a:extLst>
              <a:ext uri="{FF2B5EF4-FFF2-40B4-BE49-F238E27FC236}">
                <a16:creationId xmlns:a16="http://schemas.microsoft.com/office/drawing/2014/main" id="{9E88B9B9-AF80-D0CD-F01C-FC1B89590F11}"/>
              </a:ext>
            </a:extLst>
          </p:cNvPr>
          <p:cNvSpPr/>
          <p:nvPr/>
        </p:nvSpPr>
        <p:spPr>
          <a:xfrm>
            <a:off x="6102723" y="2783475"/>
            <a:ext cx="5140850" cy="2986821"/>
          </a:xfrm>
          <a:prstGeom prst="roundRect">
            <a:avLst>
              <a:gd name="adj" fmla="val 3198"/>
            </a:avLst>
          </a:prstGeom>
          <a:solidFill>
            <a:schemeClr val="bg1">
              <a:lumMod val="95000"/>
              <a:alpha val="17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3" name="Rectangle: Rounded Corners 12">
            <a:extLst>
              <a:ext uri="{FF2B5EF4-FFF2-40B4-BE49-F238E27FC236}">
                <a16:creationId xmlns:a16="http://schemas.microsoft.com/office/drawing/2014/main" id="{38A9E042-5DD5-5BAC-26F4-5147F7F147F4}"/>
              </a:ext>
            </a:extLst>
          </p:cNvPr>
          <p:cNvSpPr/>
          <p:nvPr/>
        </p:nvSpPr>
        <p:spPr>
          <a:xfrm>
            <a:off x="7527017" y="2610055"/>
            <a:ext cx="2292263" cy="350729"/>
          </a:xfrm>
          <a:prstGeom prst="roundRect">
            <a:avLst/>
          </a:prstGeom>
          <a:solidFill>
            <a:srgbClr val="004D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1100" b="1" dirty="0">
                <a:solidFill>
                  <a:schemeClr val="bg1"/>
                </a:solidFill>
                <a:latin typeface="Yekan Bakh" pitchFamily="2" charset="-78"/>
                <a:ea typeface="Yekan Bakh" pitchFamily="2" charset="-78"/>
                <a:cs typeface="Yekan Bakh" pitchFamily="2" charset="-78"/>
              </a:rPr>
              <a:t>الگوی مشترک استخراج‌شده</a:t>
            </a:r>
          </a:p>
        </p:txBody>
      </p:sp>
      <p:sp>
        <p:nvSpPr>
          <p:cNvPr id="15" name="TextBox 14">
            <a:extLst>
              <a:ext uri="{FF2B5EF4-FFF2-40B4-BE49-F238E27FC236}">
                <a16:creationId xmlns:a16="http://schemas.microsoft.com/office/drawing/2014/main" id="{22092BC3-6B46-676A-877B-3EE9A127D827}"/>
              </a:ext>
            </a:extLst>
          </p:cNvPr>
          <p:cNvSpPr txBox="1"/>
          <p:nvPr/>
        </p:nvSpPr>
        <p:spPr>
          <a:xfrm>
            <a:off x="711017" y="3067130"/>
            <a:ext cx="4830075" cy="2609689"/>
          </a:xfrm>
          <a:prstGeom prst="rect">
            <a:avLst/>
          </a:prstGeom>
          <a:noFill/>
        </p:spPr>
        <p:txBody>
          <a:bodyPr wrap="square">
            <a:spAutoFit/>
          </a:bodyPr>
          <a:lstStyle/>
          <a:p>
            <a:pPr marL="171450" indent="-171450">
              <a:lnSpc>
                <a:spcPct val="120000"/>
              </a:lnSpc>
              <a:spcAft>
                <a:spcPts val="600"/>
              </a:spcAft>
              <a:buClr>
                <a:srgbClr val="F0BE0F"/>
              </a:buClr>
              <a:buFont typeface="Arial" panose="020B0604020202020204" pitchFamily="34" charset="0"/>
              <a:buChar char="•"/>
            </a:pPr>
            <a:r>
              <a:rPr sz="1030" b="0" dirty="0">
                <a:solidFill>
                  <a:schemeClr val="tx1">
                    <a:lumMod val="75000"/>
                    <a:lumOff val="25000"/>
                  </a:schemeClr>
                </a:solidFill>
                <a:latin typeface="Yekan Bakh"/>
                <a:cs typeface="Yekan Bakh"/>
              </a:rPr>
              <a:t>McKinsey — What Is Omnichannel Marketing (2024/2025)</a:t>
            </a:r>
          </a:p>
          <a:p>
            <a:pPr marL="171450" indent="-171450">
              <a:lnSpc>
                <a:spcPct val="120000"/>
              </a:lnSpc>
              <a:spcAft>
                <a:spcPts val="600"/>
              </a:spcAft>
              <a:buClr>
                <a:srgbClr val="F0BE0F"/>
              </a:buClr>
              <a:buFont typeface="Arial" panose="020B0604020202020204" pitchFamily="34" charset="0"/>
              <a:buChar char="•"/>
            </a:pPr>
            <a:r>
              <a:rPr sz="1030" b="0" dirty="0">
                <a:solidFill>
                  <a:schemeClr val="tx1">
                    <a:lumMod val="75000"/>
                    <a:lumOff val="25000"/>
                  </a:schemeClr>
                </a:solidFill>
                <a:latin typeface="Yekan Bakh"/>
                <a:cs typeface="Yekan Bakh"/>
              </a:rPr>
              <a:t>McKinsey — Becoming Indispensable: Moving Past E-commerce to Next Commerce</a:t>
            </a:r>
          </a:p>
          <a:p>
            <a:pPr marL="171450" indent="-171450">
              <a:lnSpc>
                <a:spcPct val="120000"/>
              </a:lnSpc>
              <a:spcAft>
                <a:spcPts val="600"/>
              </a:spcAft>
              <a:buClr>
                <a:srgbClr val="F0BE0F"/>
              </a:buClr>
              <a:buFont typeface="Arial" panose="020B0604020202020204" pitchFamily="34" charset="0"/>
              <a:buChar char="•"/>
            </a:pPr>
            <a:r>
              <a:rPr sz="1030" b="0" dirty="0">
                <a:solidFill>
                  <a:schemeClr val="tx1">
                    <a:lumMod val="75000"/>
                    <a:lumOff val="25000"/>
                  </a:schemeClr>
                </a:solidFill>
                <a:latin typeface="Yekan Bakh"/>
                <a:cs typeface="Yekan Bakh"/>
              </a:rPr>
              <a:t>McKinsey — How Do Companies Create Value from Digital Ecosystems</a:t>
            </a:r>
          </a:p>
          <a:p>
            <a:pPr marL="171450" indent="-171450">
              <a:lnSpc>
                <a:spcPct val="120000"/>
              </a:lnSpc>
              <a:spcAft>
                <a:spcPts val="600"/>
              </a:spcAft>
              <a:buClr>
                <a:srgbClr val="F0BE0F"/>
              </a:buClr>
              <a:buFont typeface="Arial" panose="020B0604020202020204" pitchFamily="34" charset="0"/>
              <a:buChar char="•"/>
            </a:pPr>
            <a:r>
              <a:rPr sz="1030" b="0" dirty="0">
                <a:solidFill>
                  <a:schemeClr val="tx1">
                    <a:lumMod val="75000"/>
                    <a:lumOff val="25000"/>
                  </a:schemeClr>
                </a:solidFill>
                <a:latin typeface="Yekan Bakh"/>
                <a:cs typeface="Yekan Bakh"/>
              </a:rPr>
              <a:t>McKinsey — Radically Rethink Your Strategy: Digital B2B Ecosystems</a:t>
            </a:r>
          </a:p>
          <a:p>
            <a:pPr marL="171450" indent="-171450">
              <a:lnSpc>
                <a:spcPct val="120000"/>
              </a:lnSpc>
              <a:spcAft>
                <a:spcPts val="600"/>
              </a:spcAft>
              <a:buClr>
                <a:srgbClr val="F0BE0F"/>
              </a:buClr>
              <a:buFont typeface="Arial" panose="020B0604020202020204" pitchFamily="34" charset="0"/>
              <a:buChar char="•"/>
            </a:pPr>
            <a:r>
              <a:rPr sz="1030" b="0" dirty="0">
                <a:solidFill>
                  <a:schemeClr val="tx1">
                    <a:lumMod val="75000"/>
                    <a:lumOff val="25000"/>
                  </a:schemeClr>
                </a:solidFill>
                <a:latin typeface="Yekan Bakh"/>
                <a:cs typeface="Yekan Bakh"/>
              </a:rPr>
              <a:t>McKinsey — The Survival Guide to Omnichannel and the Path to Value</a:t>
            </a:r>
          </a:p>
          <a:p>
            <a:pPr marL="171450" indent="-171450">
              <a:lnSpc>
                <a:spcPct val="120000"/>
              </a:lnSpc>
              <a:spcAft>
                <a:spcPts val="600"/>
              </a:spcAft>
              <a:buClr>
                <a:srgbClr val="F0BE0F"/>
              </a:buClr>
              <a:buFont typeface="Arial" panose="020B0604020202020204" pitchFamily="34" charset="0"/>
              <a:buChar char="•"/>
            </a:pPr>
            <a:r>
              <a:rPr sz="1030" b="0" dirty="0">
                <a:solidFill>
                  <a:schemeClr val="tx1">
                    <a:lumMod val="75000"/>
                    <a:lumOff val="25000"/>
                  </a:schemeClr>
                </a:solidFill>
                <a:latin typeface="Yekan Bakh"/>
                <a:cs typeface="Yekan Bakh"/>
              </a:rPr>
              <a:t>BCG — What Is Your Business Ecosystem Strategy? (2022)</a:t>
            </a:r>
          </a:p>
          <a:p>
            <a:pPr marL="171450" indent="-171450">
              <a:lnSpc>
                <a:spcPct val="120000"/>
              </a:lnSpc>
              <a:spcAft>
                <a:spcPts val="600"/>
              </a:spcAft>
              <a:buClr>
                <a:srgbClr val="F0BE0F"/>
              </a:buClr>
              <a:buFont typeface="Arial" panose="020B0604020202020204" pitchFamily="34" charset="0"/>
              <a:buChar char="•"/>
            </a:pPr>
            <a:r>
              <a:rPr sz="1030" b="0" dirty="0">
                <a:solidFill>
                  <a:schemeClr val="tx1">
                    <a:lumMod val="75000"/>
                    <a:lumOff val="25000"/>
                  </a:schemeClr>
                </a:solidFill>
                <a:latin typeface="Yekan Bakh"/>
                <a:cs typeface="Yekan Bakh"/>
              </a:rPr>
              <a:t>BCG — How to Succeed as a Business Ecosystem Contributor (2021)</a:t>
            </a:r>
          </a:p>
          <a:p>
            <a:pPr marL="171450" indent="-171450">
              <a:lnSpc>
                <a:spcPct val="120000"/>
              </a:lnSpc>
              <a:spcAft>
                <a:spcPts val="600"/>
              </a:spcAft>
              <a:buClr>
                <a:srgbClr val="F0BE0F"/>
              </a:buClr>
              <a:buFont typeface="Arial" panose="020B0604020202020204" pitchFamily="34" charset="0"/>
              <a:buChar char="•"/>
            </a:pPr>
            <a:r>
              <a:rPr sz="1030" b="0" dirty="0">
                <a:solidFill>
                  <a:schemeClr val="tx1">
                    <a:lumMod val="75000"/>
                    <a:lumOff val="25000"/>
                  </a:schemeClr>
                </a:solidFill>
                <a:latin typeface="Yekan Bakh"/>
                <a:cs typeface="Yekan Bakh"/>
              </a:rPr>
              <a:t>BCG — Do You Need a Business Ecosystem? (2019)</a:t>
            </a:r>
          </a:p>
          <a:p>
            <a:pPr marL="171450" indent="-171450">
              <a:lnSpc>
                <a:spcPct val="120000"/>
              </a:lnSpc>
              <a:spcAft>
                <a:spcPts val="600"/>
              </a:spcAft>
              <a:buClr>
                <a:srgbClr val="F0BE0F"/>
              </a:buClr>
              <a:buFont typeface="Arial" panose="020B0604020202020204" pitchFamily="34" charset="0"/>
              <a:buChar char="•"/>
            </a:pPr>
            <a:r>
              <a:rPr sz="1030" b="0" dirty="0">
                <a:solidFill>
                  <a:schemeClr val="tx1">
                    <a:lumMod val="75000"/>
                    <a:lumOff val="25000"/>
                  </a:schemeClr>
                </a:solidFill>
                <a:latin typeface="Yekan Bakh"/>
                <a:cs typeface="Yekan Bakh"/>
              </a:rPr>
              <a:t>PwC — Guide to Business Ecosystems</a:t>
            </a:r>
          </a:p>
        </p:txBody>
      </p:sp>
      <p:sp>
        <p:nvSpPr>
          <p:cNvPr id="17" name="TextBox 16">
            <a:extLst>
              <a:ext uri="{FF2B5EF4-FFF2-40B4-BE49-F238E27FC236}">
                <a16:creationId xmlns:a16="http://schemas.microsoft.com/office/drawing/2014/main" id="{B118168D-D035-B469-0982-E76E3CA39DA6}"/>
              </a:ext>
            </a:extLst>
          </p:cNvPr>
          <p:cNvSpPr txBox="1"/>
          <p:nvPr/>
        </p:nvSpPr>
        <p:spPr>
          <a:xfrm>
            <a:off x="6275856" y="3067130"/>
            <a:ext cx="4794584" cy="1614801"/>
          </a:xfrm>
          <a:prstGeom prst="rect">
            <a:avLst/>
          </a:prstGeom>
          <a:noFill/>
        </p:spPr>
        <p:txBody>
          <a:bodyPr wrap="square">
            <a:spAutoFit/>
          </a:bodyPr>
          <a:lstStyle/>
          <a:p>
            <a:pPr marL="171450" indent="-171450" algn="justLow" rtl="1">
              <a:lnSpc>
                <a:spcPct val="120000"/>
              </a:lnSpc>
              <a:spcAft>
                <a:spcPts val="700"/>
              </a:spcAft>
              <a:buClr>
                <a:srgbClr val="F0BE0F"/>
              </a:buClr>
              <a:buFont typeface="Arial" panose="020B0604020202020204" pitchFamily="34" charset="0"/>
              <a:buChar char="•"/>
            </a:pPr>
            <a:r>
              <a:rPr lang="fa-IR" sz="1050" b="0" dirty="0">
                <a:solidFill>
                  <a:schemeClr val="tx1">
                    <a:lumMod val="75000"/>
                    <a:lumOff val="25000"/>
                  </a:schemeClr>
                </a:solidFill>
                <a:latin typeface="Yekan Bakh"/>
                <a:cs typeface="Yekan Bakh"/>
              </a:rPr>
              <a:t>ورودی دیجیتال خوداتکا (</a:t>
            </a:r>
            <a:r>
              <a:rPr lang="en-US" sz="1050" b="0" dirty="0">
                <a:solidFill>
                  <a:schemeClr val="tx1">
                    <a:lumMod val="75000"/>
                    <a:lumOff val="25000"/>
                  </a:schemeClr>
                </a:solidFill>
                <a:latin typeface="Yekan Bakh"/>
                <a:cs typeface="Yekan Bakh"/>
              </a:rPr>
              <a:t>self-service intake/apply</a:t>
            </a:r>
            <a:r>
              <a:rPr lang="fa-IR" sz="1050" b="0" dirty="0">
                <a:solidFill>
                  <a:schemeClr val="tx1">
                    <a:lumMod val="75000"/>
                    <a:lumOff val="25000"/>
                  </a:schemeClr>
                </a:solidFill>
                <a:latin typeface="Yekan Bakh"/>
                <a:cs typeface="Yekan Bakh"/>
              </a:rPr>
              <a:t>) پیش از هر تماس انسانی</a:t>
            </a:r>
          </a:p>
          <a:p>
            <a:pPr marL="171450" indent="-171450" algn="justLow" rtl="1">
              <a:lnSpc>
                <a:spcPct val="120000"/>
              </a:lnSpc>
              <a:spcAft>
                <a:spcPts val="700"/>
              </a:spcAft>
              <a:buClr>
                <a:srgbClr val="F0BE0F"/>
              </a:buClr>
              <a:buFont typeface="Arial" panose="020B0604020202020204" pitchFamily="34" charset="0"/>
              <a:buChar char="•"/>
            </a:pPr>
            <a:r>
              <a:rPr lang="fa-IR" sz="1050" b="0" dirty="0">
                <a:solidFill>
                  <a:schemeClr val="tx1">
                    <a:lumMod val="75000"/>
                    <a:lumOff val="25000"/>
                  </a:schemeClr>
                </a:solidFill>
                <a:latin typeface="Yekan Bakh"/>
                <a:cs typeface="Yekan Bakh"/>
              </a:rPr>
              <a:t>غربال/تطبیق اولیه با کمک انسانی یا هوش مصنوعی (نه فروش مستقیم)</a:t>
            </a:r>
          </a:p>
          <a:p>
            <a:pPr marL="171450" indent="-171450" algn="justLow" rtl="1">
              <a:lnSpc>
                <a:spcPct val="120000"/>
              </a:lnSpc>
              <a:spcAft>
                <a:spcPts val="700"/>
              </a:spcAft>
              <a:buClr>
                <a:srgbClr val="F0BE0F"/>
              </a:buClr>
              <a:buFont typeface="Arial" panose="020B0604020202020204" pitchFamily="34" charset="0"/>
              <a:buChar char="•"/>
            </a:pPr>
            <a:r>
              <a:rPr lang="fa-IR" sz="1050" b="0" dirty="0">
                <a:solidFill>
                  <a:schemeClr val="tx1">
                    <a:lumMod val="75000"/>
                    <a:lumOff val="25000"/>
                  </a:schemeClr>
                </a:solidFill>
                <a:latin typeface="Yekan Bakh"/>
                <a:cs typeface="Yekan Bakh"/>
              </a:rPr>
              <a:t>ضریب‌تکثیر از طریق شبکه شرکای نهادی (</a:t>
            </a:r>
            <a:r>
              <a:rPr lang="en-US" sz="1050" b="0" dirty="0">
                <a:solidFill>
                  <a:schemeClr val="tx1">
                    <a:lumMod val="75000"/>
                    <a:lumOff val="25000"/>
                  </a:schemeClr>
                </a:solidFill>
                <a:latin typeface="Yekan Bakh"/>
                <a:cs typeface="Yekan Bakh"/>
              </a:rPr>
              <a:t>Member firms، Advisors، CFO، VC/PE</a:t>
            </a:r>
            <a:r>
              <a:rPr lang="fa-IR" sz="1050" b="0" dirty="0">
                <a:solidFill>
                  <a:schemeClr val="tx1">
                    <a:lumMod val="75000"/>
                    <a:lumOff val="25000"/>
                  </a:schemeClr>
                </a:solidFill>
                <a:latin typeface="Yekan Bakh"/>
                <a:cs typeface="Yekan Bakh"/>
              </a:rPr>
              <a:t>) - نه تبلیغات</a:t>
            </a:r>
          </a:p>
          <a:p>
            <a:pPr marL="171450" indent="-171450" algn="justLow" rtl="1">
              <a:lnSpc>
                <a:spcPct val="120000"/>
              </a:lnSpc>
              <a:spcAft>
                <a:spcPts val="700"/>
              </a:spcAft>
              <a:buClr>
                <a:srgbClr val="F0BE0F"/>
              </a:buClr>
              <a:buFont typeface="Arial" panose="020B0604020202020204" pitchFamily="34" charset="0"/>
              <a:buChar char="•"/>
            </a:pPr>
            <a:r>
              <a:rPr lang="fa-IR" sz="1050" b="0" dirty="0">
                <a:solidFill>
                  <a:schemeClr val="tx1">
                    <a:lumMod val="75000"/>
                    <a:lumOff val="25000"/>
                  </a:schemeClr>
                </a:solidFill>
                <a:latin typeface="Yekan Bakh"/>
                <a:cs typeface="Yekan Bakh"/>
              </a:rPr>
              <a:t>رویداد/دسترسی اختصاصی به‌عنوان لایه اعتمادساز برای سرمایه‌گذار</a:t>
            </a:r>
          </a:p>
          <a:p>
            <a:pPr marL="171450" indent="-171450" algn="justLow" rtl="1">
              <a:lnSpc>
                <a:spcPct val="120000"/>
              </a:lnSpc>
              <a:spcAft>
                <a:spcPts val="700"/>
              </a:spcAft>
              <a:buClr>
                <a:srgbClr val="F0BE0F"/>
              </a:buClr>
              <a:buFont typeface="Arial" panose="020B0604020202020204" pitchFamily="34" charset="0"/>
              <a:buChar char="•"/>
            </a:pPr>
            <a:r>
              <a:rPr lang="fa-IR" sz="1050" b="0" dirty="0">
                <a:solidFill>
                  <a:schemeClr val="tx1">
                    <a:lumMod val="75000"/>
                    <a:lumOff val="25000"/>
                  </a:schemeClr>
                </a:solidFill>
                <a:latin typeface="Yekan Bakh"/>
                <a:cs typeface="Yekan Bakh"/>
              </a:rPr>
              <a:t>صفحات فرود/</a:t>
            </a:r>
            <a:r>
              <a:rPr lang="en-US" sz="1050" b="0" dirty="0">
                <a:solidFill>
                  <a:schemeClr val="tx1">
                    <a:lumMod val="75000"/>
                    <a:lumOff val="25000"/>
                  </a:schemeClr>
                </a:solidFill>
                <a:latin typeface="Yekan Bakh"/>
                <a:cs typeface="Yekan Bakh"/>
              </a:rPr>
              <a:t>CTA </a:t>
            </a:r>
            <a:r>
              <a:rPr lang="fa-IR" sz="1050" b="0" dirty="0">
                <a:solidFill>
                  <a:schemeClr val="tx1">
                    <a:lumMod val="75000"/>
                    <a:lumOff val="25000"/>
                  </a:schemeClr>
                </a:solidFill>
                <a:latin typeface="Yekan Bakh"/>
                <a:cs typeface="Yekan Bakh"/>
              </a:rPr>
              <a:t>مجزا به تفکیک نوع مخاطب (استارتاپ/شرکت/سرمایه‌گذار)</a:t>
            </a:r>
          </a:p>
        </p:txBody>
      </p:sp>
    </p:spTree>
    <p:extLst>
      <p:ext uri="{BB962C8B-B14F-4D97-AF65-F5344CB8AC3E}">
        <p14:creationId xmlns:p14="http://schemas.microsoft.com/office/powerpoint/2010/main" val="3890161225"/>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A30209-9482-45D9-77F4-E20E317567F9}"/>
            </a:ext>
          </a:extLst>
        </p:cNvPr>
        <p:cNvGrpSpPr/>
        <p:nvPr/>
      </p:nvGrpSpPr>
      <p:grpSpPr>
        <a:xfrm>
          <a:off x="0" y="0"/>
          <a:ext cx="0" cy="0"/>
          <a:chOff x="0" y="0"/>
          <a:chExt cx="0" cy="0"/>
        </a:xfrm>
      </p:grpSpPr>
      <p:grpSp>
        <p:nvGrpSpPr>
          <p:cNvPr id="20" name="Group 19">
            <a:extLst>
              <a:ext uri="{FF2B5EF4-FFF2-40B4-BE49-F238E27FC236}">
                <a16:creationId xmlns:a16="http://schemas.microsoft.com/office/drawing/2014/main" id="{151FFBB5-0698-1F7A-4A71-5D8C0BF224E2}"/>
              </a:ext>
            </a:extLst>
          </p:cNvPr>
          <p:cNvGrpSpPr/>
          <p:nvPr/>
        </p:nvGrpSpPr>
        <p:grpSpPr>
          <a:xfrm>
            <a:off x="407773" y="2428396"/>
            <a:ext cx="4699486" cy="1726571"/>
            <a:chOff x="407773" y="1946806"/>
            <a:chExt cx="4699486" cy="1726571"/>
          </a:xfrm>
        </p:grpSpPr>
        <p:sp>
          <p:nvSpPr>
            <p:cNvPr id="9" name="TextBox 8">
              <a:extLst>
                <a:ext uri="{FF2B5EF4-FFF2-40B4-BE49-F238E27FC236}">
                  <a16:creationId xmlns:a16="http://schemas.microsoft.com/office/drawing/2014/main" id="{AA963E06-B677-83E5-C14F-5A10209A9535}"/>
                </a:ext>
              </a:extLst>
            </p:cNvPr>
            <p:cNvSpPr txBox="1"/>
            <p:nvPr/>
          </p:nvSpPr>
          <p:spPr>
            <a:xfrm>
              <a:off x="593931" y="2772950"/>
              <a:ext cx="761426" cy="248914"/>
            </a:xfrm>
            <a:prstGeom prst="rect">
              <a:avLst/>
            </a:prstGeom>
            <a:noFill/>
          </p:spPr>
          <p:txBody>
            <a:bodyPr wrap="square" anchor="ctr">
              <a:spAutoFit/>
            </a:bodyPr>
            <a:lstStyle/>
            <a:p>
              <a:pPr marL="0" marR="0" lvl="0" indent="0" algn="ctr" defTabSz="914400" rtl="1" eaLnBrk="1" fontAlgn="auto" latinLnBrk="0" hangingPunct="1">
                <a:lnSpc>
                  <a:spcPct val="90000"/>
                </a:lnSpc>
                <a:spcBef>
                  <a:spcPts val="1117"/>
                </a:spcBef>
                <a:spcAft>
                  <a:spcPts val="0"/>
                </a:spcAft>
                <a:buClr>
                  <a:srgbClr val="F0BE0F"/>
                </a:buClr>
                <a:buSzTx/>
                <a:buFontTx/>
                <a:buNone/>
                <a:tabLst/>
                <a:defRPr/>
              </a:pPr>
              <a:r>
                <a:rPr kumimoji="0" lang="fa-IR" sz="1050" b="1" i="0" u="none" strike="noStrike" kern="1200" cap="none" spc="0" normalizeH="0" baseline="0" noProof="0" dirty="0">
                  <a:ln>
                    <a:noFill/>
                  </a:ln>
                  <a:solidFill>
                    <a:prstClr val="white">
                      <a:lumMod val="50000"/>
                    </a:prstClr>
                  </a:solidFill>
                  <a:effectLst/>
                  <a:uLnTx/>
                  <a:uFillTx/>
                  <a:latin typeface="Yekan Bakh" pitchFamily="2" charset="-78"/>
                  <a:ea typeface="Yekan Bakh" pitchFamily="2" charset="-78"/>
                  <a:cs typeface="Yekan Bakh" pitchFamily="2" charset="-78"/>
                </a:rPr>
                <a:t>اسلاید</a:t>
              </a:r>
              <a:endParaRPr kumimoji="0" lang="en-US" sz="1050" b="1" i="0" u="none" strike="noStrike" kern="1200" cap="none" spc="0" normalizeH="0" baseline="0" noProof="0" dirty="0">
                <a:ln>
                  <a:noFill/>
                </a:ln>
                <a:solidFill>
                  <a:prstClr val="white">
                    <a:lumMod val="50000"/>
                  </a:prstClr>
                </a:solidFill>
                <a:effectLst/>
                <a:uLnTx/>
                <a:uFillTx/>
                <a:latin typeface="Yekan Bakh" pitchFamily="2" charset="-78"/>
                <a:ea typeface="Yekan Bakh" pitchFamily="2" charset="-78"/>
                <a:cs typeface="Yekan Bakh" pitchFamily="2" charset="-78"/>
              </a:endParaRPr>
            </a:p>
          </p:txBody>
        </p:sp>
        <p:grpSp>
          <p:nvGrpSpPr>
            <p:cNvPr id="2" name="Group 1">
              <a:extLst>
                <a:ext uri="{FF2B5EF4-FFF2-40B4-BE49-F238E27FC236}">
                  <a16:creationId xmlns:a16="http://schemas.microsoft.com/office/drawing/2014/main" id="{D153AEE4-074A-072C-9B20-F6B6EA52EF2C}"/>
                </a:ext>
              </a:extLst>
            </p:cNvPr>
            <p:cNvGrpSpPr/>
            <p:nvPr/>
          </p:nvGrpSpPr>
          <p:grpSpPr>
            <a:xfrm>
              <a:off x="525137" y="3060699"/>
              <a:ext cx="4582122" cy="291618"/>
              <a:chOff x="525137" y="3840896"/>
              <a:chExt cx="4582122" cy="291618"/>
            </a:xfrm>
          </p:grpSpPr>
          <p:sp>
            <p:nvSpPr>
              <p:cNvPr id="13" name="TextBox 12">
                <a:extLst>
                  <a:ext uri="{FF2B5EF4-FFF2-40B4-BE49-F238E27FC236}">
                    <a16:creationId xmlns:a16="http://schemas.microsoft.com/office/drawing/2014/main" id="{114B5446-5462-4AE6-9440-6C367C973196}"/>
                  </a:ext>
                </a:extLst>
              </p:cNvPr>
              <p:cNvSpPr txBox="1"/>
              <p:nvPr/>
            </p:nvSpPr>
            <p:spPr>
              <a:xfrm>
                <a:off x="1648542" y="3855130"/>
                <a:ext cx="3458717" cy="263149"/>
              </a:xfrm>
              <a:prstGeom prst="rect">
                <a:avLst/>
              </a:prstGeom>
              <a:noFill/>
            </p:spPr>
            <p:txBody>
              <a:bodyPr wrap="square" anchor="ctr">
                <a:spAutoFit/>
              </a:bodyPr>
              <a:lstStyle/>
              <a:p>
                <a:pPr marL="285750" marR="0" lvl="0" indent="-285750" algn="r" defTabSz="914400" rtl="1" eaLnBrk="1" fontAlgn="auto" latinLnBrk="0" hangingPunct="1">
                  <a:lnSpc>
                    <a:spcPct val="90000"/>
                  </a:lnSpc>
                  <a:spcBef>
                    <a:spcPts val="1117"/>
                  </a:spcBef>
                  <a:spcAft>
                    <a:spcPts val="0"/>
                  </a:spcAft>
                  <a:buClr>
                    <a:srgbClr val="F0BE0F"/>
                  </a:buClr>
                  <a:buSzTx/>
                  <a:buFont typeface="Arial" panose="020B0604020202020204" pitchFamily="34" charset="0"/>
                  <a:buChar char="•"/>
                  <a:tabLst/>
                  <a:defRPr/>
                </a:pPr>
                <a:r>
                  <a:rPr kumimoji="0" lang="fa-IR" sz="1200" b="0" i="0" u="none" strike="noStrike" kern="1200" cap="none" spc="0" normalizeH="0" baseline="0" noProof="0" dirty="0">
                    <a:ln>
                      <a:noFill/>
                    </a:ln>
                    <a:solidFill>
                      <a:prstClr val="white">
                        <a:lumMod val="75000"/>
                      </a:prstClr>
                    </a:solidFill>
                    <a:effectLst/>
                    <a:uLnTx/>
                    <a:uFillTx/>
                    <a:latin typeface="Yekan Bakh" pitchFamily="2" charset="-78"/>
                    <a:ea typeface="Yekan Bakh" pitchFamily="2" charset="-78"/>
                    <a:cs typeface="Yekan Bakh" pitchFamily="2" charset="-78"/>
                  </a:rPr>
                  <a:t>ادبیات مدیریتی </a:t>
                </a:r>
              </a:p>
            </p:txBody>
          </p:sp>
          <p:sp>
            <p:nvSpPr>
              <p:cNvPr id="15" name="TextBox 14">
                <a:extLst>
                  <a:ext uri="{FF2B5EF4-FFF2-40B4-BE49-F238E27FC236}">
                    <a16:creationId xmlns:a16="http://schemas.microsoft.com/office/drawing/2014/main" id="{C16D497B-AE0B-FC30-5C9D-5D2E305C3F4E}"/>
                  </a:ext>
                </a:extLst>
              </p:cNvPr>
              <p:cNvSpPr txBox="1"/>
              <p:nvPr/>
            </p:nvSpPr>
            <p:spPr>
              <a:xfrm>
                <a:off x="525137" y="3840896"/>
                <a:ext cx="899015" cy="291618"/>
              </a:xfrm>
              <a:prstGeom prst="rect">
                <a:avLst/>
              </a:prstGeom>
              <a:noFill/>
            </p:spPr>
            <p:txBody>
              <a:bodyPr wrap="square" anchor="ctr">
                <a:spAutoFit/>
              </a:bodyPr>
              <a:lstStyle/>
              <a:p>
                <a:pPr marL="0" marR="0" lvl="0" indent="0" algn="ctr" defTabSz="914400" rtl="0" eaLnBrk="1" fontAlgn="auto" latinLnBrk="0" hangingPunct="1">
                  <a:lnSpc>
                    <a:spcPct val="90000"/>
                  </a:lnSpc>
                  <a:spcBef>
                    <a:spcPts val="1117"/>
                  </a:spcBef>
                  <a:spcAft>
                    <a:spcPts val="0"/>
                  </a:spcAft>
                  <a:buClr>
                    <a:srgbClr val="F0BE0F"/>
                  </a:buClr>
                  <a:buSzTx/>
                  <a:buFontTx/>
                  <a:buNone/>
                  <a:tabLst/>
                  <a:defRPr/>
                </a:pPr>
                <a:r>
                  <a:rPr kumimoji="0" lang="fa-IR" sz="1400" b="1" i="0" u="none" strike="noStrike" kern="1200" cap="none" spc="0" normalizeH="0" baseline="0" noProof="0" dirty="0">
                    <a:ln>
                      <a:noFill/>
                    </a:ln>
                    <a:solidFill>
                      <a:srgbClr val="FDBF03">
                        <a:lumMod val="60000"/>
                        <a:lumOff val="40000"/>
                      </a:srgbClr>
                    </a:solidFill>
                    <a:effectLst/>
                    <a:uLnTx/>
                    <a:uFillTx/>
                    <a:latin typeface="Yekan Bakh FaNum SmBoldSmCond" pitchFamily="2" charset="-78"/>
                    <a:ea typeface="Yekan Bakh FaNum SmBoldSmCond" pitchFamily="2" charset="-78"/>
                    <a:cs typeface="Yekan Bakh FaNum SmBoldSmCond" pitchFamily="2" charset="-78"/>
                  </a:rPr>
                  <a:t>۱۲۱</a:t>
                </a:r>
                <a:endParaRPr kumimoji="0" lang="en-US" sz="1400" b="1" i="0" u="none" strike="noStrike" kern="1200" cap="none" spc="0" normalizeH="0" baseline="0" noProof="0" dirty="0">
                  <a:ln>
                    <a:noFill/>
                  </a:ln>
                  <a:solidFill>
                    <a:srgbClr val="FDBF03">
                      <a:lumMod val="60000"/>
                      <a:lumOff val="40000"/>
                    </a:srgbClr>
                  </a:solidFill>
                  <a:effectLst/>
                  <a:uLnTx/>
                  <a:uFillTx/>
                  <a:latin typeface="Yekan Bakh FaNum SmBoldSmCond" pitchFamily="2" charset="-78"/>
                  <a:ea typeface="Yekan Bakh FaNum SmBoldSmCond" pitchFamily="2" charset="-78"/>
                  <a:cs typeface="Yekan Bakh FaNum SmBoldSmCond" pitchFamily="2" charset="-78"/>
                </a:endParaRPr>
              </a:p>
            </p:txBody>
          </p:sp>
        </p:grpSp>
        <p:sp>
          <p:nvSpPr>
            <p:cNvPr id="23" name="Title 1">
              <a:extLst>
                <a:ext uri="{FF2B5EF4-FFF2-40B4-BE49-F238E27FC236}">
                  <a16:creationId xmlns:a16="http://schemas.microsoft.com/office/drawing/2014/main" id="{4CE98EF9-4A87-C8D4-4D39-A890FA97FDAC}"/>
                </a:ext>
              </a:extLst>
            </p:cNvPr>
            <p:cNvSpPr txBox="1">
              <a:spLocks/>
            </p:cNvSpPr>
            <p:nvPr/>
          </p:nvSpPr>
          <p:spPr>
            <a:xfrm>
              <a:off x="407773" y="1946806"/>
              <a:ext cx="4699486" cy="693069"/>
            </a:xfrm>
            <a:prstGeom prst="rect">
              <a:avLst/>
            </a:prstGeom>
          </p:spPr>
          <p:txBody>
            <a:bodyPr lIns="91440" tIns="45720" rIns="91440" bIns="45720" anchor="t"/>
            <a:lstStyle>
              <a:lvl1pPr algn="justLow" defTabSz="1021516" rtl="1" eaLnBrk="1" latinLnBrk="0" hangingPunct="1">
                <a:lnSpc>
                  <a:spcPct val="90000"/>
                </a:lnSpc>
                <a:spcBef>
                  <a:spcPct val="0"/>
                </a:spcBef>
                <a:buNone/>
                <a:defRPr sz="4500" b="1" kern="1200">
                  <a:solidFill>
                    <a:schemeClr val="tx1">
                      <a:lumMod val="75000"/>
                      <a:lumOff val="25000"/>
                    </a:schemeClr>
                  </a:solidFill>
                  <a:latin typeface="Shabnam Bold FD" panose="020B0603030804020204" pitchFamily="34" charset="-78"/>
                  <a:ea typeface="+mj-ea"/>
                  <a:cs typeface="Shabnam Bold FD" panose="020B0603030804020204" pitchFamily="34" charset="-78"/>
                </a:defRPr>
              </a:lvl1pPr>
            </a:lstStyle>
            <a:p>
              <a:pPr marL="0" marR="0" lvl="0" indent="0" algn="ctr" defTabSz="1021516" rtl="0" eaLnBrk="1" fontAlgn="auto" latinLnBrk="0" hangingPunct="1">
                <a:lnSpc>
                  <a:spcPct val="90000"/>
                </a:lnSpc>
                <a:spcBef>
                  <a:spcPct val="0"/>
                </a:spcBef>
                <a:spcAft>
                  <a:spcPts val="0"/>
                </a:spcAft>
                <a:buClrTx/>
                <a:buSzTx/>
                <a:buFontTx/>
                <a:buNone/>
                <a:tabLst/>
                <a:defRPr/>
              </a:pPr>
              <a:r>
                <a:rPr kumimoji="0" lang="fa-IR" sz="3200" b="1" i="0" u="none" strike="noStrike" kern="1200" cap="none" spc="0" normalizeH="0" baseline="0" noProof="0" dirty="0">
                  <a:ln>
                    <a:noFill/>
                  </a:ln>
                  <a:solidFill>
                    <a:sysClr val="window" lastClr="FFFFFF">
                      <a:lumMod val="75000"/>
                      <a:lumOff val="25000"/>
                    </a:sysClr>
                  </a:solidFill>
                  <a:effectLst/>
                  <a:uLnTx/>
                  <a:uFillTx/>
                  <a:latin typeface="Yekan Bakh" pitchFamily="2" charset="-78"/>
                  <a:ea typeface="Yekan Bakh" pitchFamily="2" charset="-78"/>
                  <a:cs typeface="Yekan Bakh" pitchFamily="2" charset="-78"/>
                </a:rPr>
                <a:t>پیوست</a:t>
              </a:r>
            </a:p>
          </p:txBody>
        </p:sp>
        <p:cxnSp>
          <p:nvCxnSpPr>
            <p:cNvPr id="25" name="Straight Connector 24">
              <a:extLst>
                <a:ext uri="{FF2B5EF4-FFF2-40B4-BE49-F238E27FC236}">
                  <a16:creationId xmlns:a16="http://schemas.microsoft.com/office/drawing/2014/main" id="{3152BEB6-7CB1-14AD-5ED3-435D71916563}"/>
                </a:ext>
              </a:extLst>
            </p:cNvPr>
            <p:cNvCxnSpPr>
              <a:cxnSpLocks/>
            </p:cNvCxnSpPr>
            <p:nvPr/>
          </p:nvCxnSpPr>
          <p:spPr>
            <a:xfrm flipV="1">
              <a:off x="407773" y="2699699"/>
              <a:ext cx="4699486" cy="19385"/>
            </a:xfrm>
            <a:prstGeom prst="line">
              <a:avLst/>
            </a:prstGeom>
            <a:ln w="3175">
              <a:solidFill>
                <a:srgbClr val="F0BE0F">
                  <a:alpha val="74000"/>
                </a:srgbClr>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FAAFDD50-D0C7-5269-64CC-46B761CCC153}"/>
                </a:ext>
              </a:extLst>
            </p:cNvPr>
            <p:cNvGrpSpPr/>
            <p:nvPr/>
          </p:nvGrpSpPr>
          <p:grpSpPr>
            <a:xfrm>
              <a:off x="525137" y="3381759"/>
              <a:ext cx="4582122" cy="291618"/>
              <a:chOff x="525137" y="3840896"/>
              <a:chExt cx="4582122" cy="291618"/>
            </a:xfrm>
          </p:grpSpPr>
          <p:sp>
            <p:nvSpPr>
              <p:cNvPr id="4" name="TextBox 3">
                <a:extLst>
                  <a:ext uri="{FF2B5EF4-FFF2-40B4-BE49-F238E27FC236}">
                    <a16:creationId xmlns:a16="http://schemas.microsoft.com/office/drawing/2014/main" id="{412DA14E-0FA1-CE1D-5367-C08EE5AA17F6}"/>
                  </a:ext>
                </a:extLst>
              </p:cNvPr>
              <p:cNvSpPr txBox="1"/>
              <p:nvPr/>
            </p:nvSpPr>
            <p:spPr>
              <a:xfrm>
                <a:off x="1648542" y="3855130"/>
                <a:ext cx="3458717" cy="263149"/>
              </a:xfrm>
              <a:prstGeom prst="rect">
                <a:avLst/>
              </a:prstGeom>
              <a:noFill/>
            </p:spPr>
            <p:txBody>
              <a:bodyPr wrap="square" anchor="ctr">
                <a:spAutoFit/>
              </a:bodyPr>
              <a:lstStyle/>
              <a:p>
                <a:pPr marL="285750" marR="0" lvl="0" indent="-285750" algn="r" defTabSz="914400" rtl="1" eaLnBrk="1" fontAlgn="auto" latinLnBrk="0" hangingPunct="1">
                  <a:lnSpc>
                    <a:spcPct val="90000"/>
                  </a:lnSpc>
                  <a:spcBef>
                    <a:spcPts val="1117"/>
                  </a:spcBef>
                  <a:spcAft>
                    <a:spcPts val="0"/>
                  </a:spcAft>
                  <a:buClr>
                    <a:srgbClr val="F0BE0F"/>
                  </a:buClr>
                  <a:buSzTx/>
                  <a:buFont typeface="Arial" panose="020B0604020202020204" pitchFamily="34" charset="0"/>
                  <a:buChar char="•"/>
                  <a:tabLst/>
                  <a:defRPr/>
                </a:pPr>
                <a:r>
                  <a:rPr kumimoji="0" lang="fa-IR" sz="1200" b="0" i="0" u="none" strike="noStrike" kern="1200" cap="none" spc="0" normalizeH="0" baseline="0" noProof="0" dirty="0">
                    <a:ln>
                      <a:noFill/>
                    </a:ln>
                    <a:solidFill>
                      <a:prstClr val="white">
                        <a:lumMod val="75000"/>
                      </a:prstClr>
                    </a:solidFill>
                    <a:effectLst/>
                    <a:uLnTx/>
                    <a:uFillTx/>
                    <a:latin typeface="Yekan Bakh" pitchFamily="2" charset="-78"/>
                    <a:ea typeface="Yekan Bakh" pitchFamily="2" charset="-78"/>
                    <a:cs typeface="Yekan Bakh" pitchFamily="2" charset="-78"/>
                  </a:rPr>
                  <a:t>کانال مشتریان در یک اکوسیستم </a:t>
                </a:r>
              </a:p>
            </p:txBody>
          </p:sp>
          <p:sp>
            <p:nvSpPr>
              <p:cNvPr id="5" name="TextBox 4">
                <a:extLst>
                  <a:ext uri="{FF2B5EF4-FFF2-40B4-BE49-F238E27FC236}">
                    <a16:creationId xmlns:a16="http://schemas.microsoft.com/office/drawing/2014/main" id="{87E39EB7-CD5B-37D1-DF72-D6B70AAF6FC7}"/>
                  </a:ext>
                </a:extLst>
              </p:cNvPr>
              <p:cNvSpPr txBox="1"/>
              <p:nvPr/>
            </p:nvSpPr>
            <p:spPr>
              <a:xfrm>
                <a:off x="525137" y="3840896"/>
                <a:ext cx="899015" cy="291618"/>
              </a:xfrm>
              <a:prstGeom prst="rect">
                <a:avLst/>
              </a:prstGeom>
              <a:noFill/>
            </p:spPr>
            <p:txBody>
              <a:bodyPr wrap="square" anchor="ctr">
                <a:spAutoFit/>
              </a:bodyPr>
              <a:lstStyle/>
              <a:p>
                <a:pPr marL="0" marR="0" lvl="0" indent="0" algn="ctr" defTabSz="914400" rtl="0" eaLnBrk="1" fontAlgn="auto" latinLnBrk="0" hangingPunct="1">
                  <a:lnSpc>
                    <a:spcPct val="90000"/>
                  </a:lnSpc>
                  <a:spcBef>
                    <a:spcPts val="1117"/>
                  </a:spcBef>
                  <a:spcAft>
                    <a:spcPts val="0"/>
                  </a:spcAft>
                  <a:buClr>
                    <a:srgbClr val="F0BE0F"/>
                  </a:buClr>
                  <a:buSzTx/>
                  <a:buFontTx/>
                  <a:buNone/>
                  <a:tabLst/>
                  <a:defRPr/>
                </a:pPr>
                <a:r>
                  <a:rPr kumimoji="0" lang="fa-IR" sz="1400" b="1" i="0" u="none" strike="noStrike" kern="1200" cap="none" spc="0" normalizeH="0" baseline="0" noProof="0" dirty="0">
                    <a:ln>
                      <a:noFill/>
                    </a:ln>
                    <a:solidFill>
                      <a:srgbClr val="FDBF03">
                        <a:lumMod val="60000"/>
                        <a:lumOff val="40000"/>
                      </a:srgbClr>
                    </a:solidFill>
                    <a:effectLst/>
                    <a:uLnTx/>
                    <a:uFillTx/>
                    <a:latin typeface="Yekan Bakh FaNum SmBoldSmCond" pitchFamily="2" charset="-78"/>
                    <a:ea typeface="Yekan Bakh FaNum SmBoldSmCond" pitchFamily="2" charset="-78"/>
                    <a:cs typeface="Yekan Bakh FaNum SmBoldSmCond" pitchFamily="2" charset="-78"/>
                  </a:rPr>
                  <a:t>۱۲۲</a:t>
                </a:r>
                <a:endParaRPr kumimoji="0" lang="en-US" sz="1400" b="1" i="0" u="none" strike="noStrike" kern="1200" cap="none" spc="0" normalizeH="0" baseline="0" noProof="0" dirty="0">
                  <a:ln>
                    <a:noFill/>
                  </a:ln>
                  <a:solidFill>
                    <a:srgbClr val="FDBF03">
                      <a:lumMod val="60000"/>
                      <a:lumOff val="40000"/>
                    </a:srgbClr>
                  </a:solidFill>
                  <a:effectLst/>
                  <a:uLnTx/>
                  <a:uFillTx/>
                  <a:latin typeface="Yekan Bakh FaNum SmBoldSmCond" pitchFamily="2" charset="-78"/>
                  <a:ea typeface="Yekan Bakh FaNum SmBoldSmCond" pitchFamily="2" charset="-78"/>
                  <a:cs typeface="Yekan Bakh FaNum SmBoldSmCond" pitchFamily="2" charset="-78"/>
                </a:endParaRPr>
              </a:p>
            </p:txBody>
          </p:sp>
        </p:grpSp>
      </p:grpSp>
    </p:spTree>
    <p:extLst>
      <p:ext uri="{BB962C8B-B14F-4D97-AF65-F5344CB8AC3E}">
        <p14:creationId xmlns:p14="http://schemas.microsoft.com/office/powerpoint/2010/main" val="4159850415"/>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A6FE185-8BAD-C0A3-78D2-1685A26D2D9C}"/>
              </a:ext>
            </a:extLst>
          </p:cNvPr>
          <p:cNvSpPr>
            <a:spLocks noGrp="1"/>
          </p:cNvSpPr>
          <p:nvPr>
            <p:ph type="body" sz="quarter" idx="10"/>
          </p:nvPr>
        </p:nvSpPr>
        <p:spPr/>
        <p:txBody>
          <a:bodyPr/>
          <a:lstStyle/>
          <a:p>
            <a:r>
              <a:rPr lang="fa-IR" dirty="0"/>
              <a:t>ادبیات مدیریتی </a:t>
            </a:r>
          </a:p>
        </p:txBody>
      </p:sp>
      <p:sp>
        <p:nvSpPr>
          <p:cNvPr id="3" name="Text Placeholder 2">
            <a:extLst>
              <a:ext uri="{FF2B5EF4-FFF2-40B4-BE49-F238E27FC236}">
                <a16:creationId xmlns:a16="http://schemas.microsoft.com/office/drawing/2014/main" id="{24B2F71D-0BD1-D232-BA6E-5393B19B5B2D}"/>
              </a:ext>
            </a:extLst>
          </p:cNvPr>
          <p:cNvSpPr>
            <a:spLocks noGrp="1"/>
          </p:cNvSpPr>
          <p:nvPr>
            <p:ph type="body" sz="quarter" idx="12"/>
          </p:nvPr>
        </p:nvSpPr>
        <p:spPr/>
        <p:txBody>
          <a:bodyPr/>
          <a:lstStyle/>
          <a:p>
            <a:r>
              <a:rPr lang="fa-IR" dirty="0"/>
              <a:t>الگوهای اکوسیستمی </a:t>
            </a:r>
          </a:p>
        </p:txBody>
      </p:sp>
      <p:sp>
        <p:nvSpPr>
          <p:cNvPr id="112" name="Rectangle: Rounded Corners 55">
            <a:extLst>
              <a:ext uri="{FF2B5EF4-FFF2-40B4-BE49-F238E27FC236}">
                <a16:creationId xmlns:a16="http://schemas.microsoft.com/office/drawing/2014/main" id="{043F6136-A132-BB72-D222-F1039AB494CB}"/>
              </a:ext>
            </a:extLst>
          </p:cNvPr>
          <p:cNvSpPr/>
          <p:nvPr/>
        </p:nvSpPr>
        <p:spPr>
          <a:xfrm>
            <a:off x="534683" y="5545720"/>
            <a:ext cx="5380770" cy="344591"/>
          </a:xfrm>
          <a:prstGeom prst="roundRect">
            <a:avLst>
              <a:gd name="adj" fmla="val 5836"/>
            </a:avLst>
          </a:prstGeom>
          <a:solidFill>
            <a:srgbClr val="004D80">
              <a:alpha val="9000"/>
            </a:srgbClr>
          </a:solidFill>
          <a:ln w="3175" cap="flat" cmpd="sng" algn="ctr">
            <a:solidFill>
              <a:schemeClr val="bg1">
                <a:lumMod val="85000"/>
              </a:schemeClr>
            </a:solidFill>
            <a:prstDash val="solid"/>
            <a:miter lim="800000"/>
          </a:ln>
          <a:effectLst/>
        </p:spPr>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nvGrpSpPr>
          <p:cNvPr id="13" name="Group 12">
            <a:extLst>
              <a:ext uri="{FF2B5EF4-FFF2-40B4-BE49-F238E27FC236}">
                <a16:creationId xmlns:a16="http://schemas.microsoft.com/office/drawing/2014/main" id="{2978B5F7-FA0E-BBA4-56F6-32C261AF1224}"/>
              </a:ext>
            </a:extLst>
          </p:cNvPr>
          <p:cNvGrpSpPr/>
          <p:nvPr/>
        </p:nvGrpSpPr>
        <p:grpSpPr>
          <a:xfrm>
            <a:off x="534061" y="2054603"/>
            <a:ext cx="2761598" cy="3235731"/>
            <a:chOff x="534061" y="2063048"/>
            <a:chExt cx="2761598" cy="3235731"/>
          </a:xfrm>
        </p:grpSpPr>
        <p:sp>
          <p:nvSpPr>
            <p:cNvPr id="10" name="Rectangle: Rounded Corners 9">
              <a:extLst>
                <a:ext uri="{FF2B5EF4-FFF2-40B4-BE49-F238E27FC236}">
                  <a16:creationId xmlns:a16="http://schemas.microsoft.com/office/drawing/2014/main" id="{CF9612BD-1DA3-5A6F-85BE-1D4350E67EDB}"/>
                </a:ext>
              </a:extLst>
            </p:cNvPr>
            <p:cNvSpPr/>
            <p:nvPr/>
          </p:nvSpPr>
          <p:spPr>
            <a:xfrm>
              <a:off x="534061" y="2063048"/>
              <a:ext cx="2761598" cy="3235731"/>
            </a:xfrm>
            <a:prstGeom prst="roundRect">
              <a:avLst>
                <a:gd name="adj" fmla="val 5630"/>
              </a:avLst>
            </a:prstGeom>
            <a:solidFill>
              <a:schemeClr val="bg1">
                <a:lumMod val="95000"/>
                <a:alpha val="3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8" name="TextBox 27">
              <a:extLst>
                <a:ext uri="{FF2B5EF4-FFF2-40B4-BE49-F238E27FC236}">
                  <a16:creationId xmlns:a16="http://schemas.microsoft.com/office/drawing/2014/main" id="{C7945768-1283-8845-57F8-CF6C93DDF6EA}"/>
                </a:ext>
              </a:extLst>
            </p:cNvPr>
            <p:cNvSpPr txBox="1"/>
            <p:nvPr/>
          </p:nvSpPr>
          <p:spPr>
            <a:xfrm>
              <a:off x="545417" y="2319002"/>
              <a:ext cx="2738887" cy="2723823"/>
            </a:xfrm>
            <a:prstGeom prst="rect">
              <a:avLst/>
            </a:prstGeom>
            <a:noFill/>
          </p:spPr>
          <p:txBody>
            <a:bodyPr wrap="square">
              <a:spAutoFit/>
            </a:bodyPr>
            <a:lstStyle>
              <a:defPPr>
                <a:defRPr lang="en-US"/>
              </a:defPPr>
              <a:lvl1pPr fontAlgn="base">
                <a:defRPr sz="1050" b="0" i="0">
                  <a:solidFill>
                    <a:srgbClr val="323232"/>
                  </a:solidFill>
                  <a:effectLst/>
                  <a:highlight>
                    <a:srgbClr val="FFFFFF"/>
                  </a:highlight>
                  <a:latin typeface="henderson-bcg-sans"/>
                </a:defRPr>
              </a:lvl1pPr>
            </a:lstStyle>
            <a:p>
              <a:pPr algn="justLow" rtl="1"/>
              <a:r>
                <a:rPr lang="fa-IR" sz="900" dirty="0">
                  <a:solidFill>
                    <a:schemeClr val="tx1">
                      <a:lumMod val="65000"/>
                      <a:lumOff val="35000"/>
                    </a:schemeClr>
                  </a:solidFill>
                  <a:latin typeface="Yekan Bakh" pitchFamily="2" charset="-78"/>
                  <a:ea typeface="Yekan Bakh" pitchFamily="2" charset="-78"/>
                  <a:cs typeface="Yekan Bakh" pitchFamily="2" charset="-78"/>
                </a:rPr>
                <a:t>این نوع از مدل کسب‌وکار اکوسیستمی در دل خود دارای یک سازمان اصلی (اکوسیستم فرصت ایران) است که خدمات چندین سازمان مکمل را در کلیت هماهنگ می‌کند. در طول توسعه یک راه حل جدید، تامین‌کنندگان (</a:t>
              </a:r>
              <a:r>
                <a:rPr lang="en-US" sz="900" dirty="0">
                  <a:solidFill>
                    <a:schemeClr val="tx1">
                      <a:lumMod val="65000"/>
                      <a:lumOff val="35000"/>
                    </a:schemeClr>
                  </a:solidFill>
                  <a:latin typeface="Yekan Bakh" pitchFamily="2" charset="-78"/>
                  <a:ea typeface="Yekan Bakh" pitchFamily="2" charset="-78"/>
                  <a:cs typeface="Yekan Bakh" pitchFamily="2" charset="-78"/>
                </a:rPr>
                <a:t>Supplier</a:t>
              </a:r>
              <a:r>
                <a:rPr lang="fa-IR" sz="900" dirty="0">
                  <a:solidFill>
                    <a:schemeClr val="tx1">
                      <a:lumMod val="65000"/>
                      <a:lumOff val="35000"/>
                    </a:schemeClr>
                  </a:solidFill>
                  <a:latin typeface="Yekan Bakh" pitchFamily="2" charset="-78"/>
                  <a:ea typeface="Yekan Bakh" pitchFamily="2" charset="-78"/>
                  <a:cs typeface="Yekan Bakh" pitchFamily="2" charset="-78"/>
                </a:rPr>
                <a:t>) شرکت اصلی یا سازمان‌های مکمل (</a:t>
              </a:r>
              <a:r>
                <a:rPr lang="en-US" sz="900" dirty="0">
                  <a:solidFill>
                    <a:schemeClr val="tx1">
                      <a:lumMod val="65000"/>
                      <a:lumOff val="35000"/>
                    </a:schemeClr>
                  </a:solidFill>
                  <a:latin typeface="Yekan Bakh" pitchFamily="2" charset="-78"/>
                  <a:ea typeface="Yekan Bakh" pitchFamily="2" charset="-78"/>
                  <a:cs typeface="Yekan Bakh" pitchFamily="2" charset="-78"/>
                </a:rPr>
                <a:t>Complementor</a:t>
              </a:r>
              <a:r>
                <a:rPr lang="fa-IR" sz="900" dirty="0">
                  <a:solidFill>
                    <a:schemeClr val="tx1">
                      <a:lumMod val="65000"/>
                      <a:lumOff val="35000"/>
                    </a:schemeClr>
                  </a:solidFill>
                  <a:latin typeface="Yekan Bakh" pitchFamily="2" charset="-78"/>
                  <a:ea typeface="Yekan Bakh" pitchFamily="2" charset="-78"/>
                  <a:cs typeface="Yekan Bakh" pitchFamily="2" charset="-78"/>
                </a:rPr>
                <a:t>) مهم نیز می توانند بخشی از اکوسیستم باشند چرا که آن‌ها مستقل هستند و فعالیت‌های نوآورانه‌شان باید با سایر بازیگران هماهنگ شود. و درست هنگامی که نوآوری اولیه بدست آمد، چنین تامین‌کنندگانی می‌توانند به نقش کاهش یافته‌شان در زنجیره سلسله مراتبی محدود شوند.</a:t>
              </a:r>
            </a:p>
            <a:p>
              <a:pPr algn="justLow" rtl="1"/>
              <a:r>
                <a:rPr lang="fa-IR" sz="900" dirty="0">
                  <a:solidFill>
                    <a:schemeClr val="tx1">
                      <a:lumMod val="65000"/>
                      <a:lumOff val="35000"/>
                    </a:schemeClr>
                  </a:solidFill>
                  <a:latin typeface="Yekan Bakh" pitchFamily="2" charset="-78"/>
                  <a:ea typeface="Yekan Bakh" pitchFamily="2" charset="-78"/>
                  <a:cs typeface="Yekan Bakh" pitchFamily="2" charset="-78"/>
                </a:rPr>
                <a:t> در اکوسیستم‌های راه‌حل - محور، مشتری معمولاً تنها عضو فعال و اصلی نیست، اما با انتخاب و ترکیب پیشنهادات اکوسیستم و مکمل‌ها، تأثیر زیادی خواهد داشت. علاوه بر این، واسطه‌ها (مانند کارآفرینان ایرانی خارج از کشور) ممکن است در اکوسیستم شرکت کنند، فعالیت‌هایشان نیز باید با سایر بازیگران همسو باشد.</a:t>
              </a:r>
              <a:endParaRPr lang="en-US" sz="900" dirty="0">
                <a:solidFill>
                  <a:schemeClr val="tx1">
                    <a:lumMod val="65000"/>
                    <a:lumOff val="35000"/>
                  </a:schemeClr>
                </a:solidFill>
                <a:latin typeface="Yekan Bakh" pitchFamily="2" charset="-78"/>
                <a:ea typeface="Yekan Bakh" pitchFamily="2" charset="-78"/>
                <a:cs typeface="Yekan Bakh" pitchFamily="2" charset="-78"/>
              </a:endParaRPr>
            </a:p>
          </p:txBody>
        </p:sp>
      </p:grpSp>
      <p:grpSp>
        <p:nvGrpSpPr>
          <p:cNvPr id="14" name="Group 13">
            <a:extLst>
              <a:ext uri="{FF2B5EF4-FFF2-40B4-BE49-F238E27FC236}">
                <a16:creationId xmlns:a16="http://schemas.microsoft.com/office/drawing/2014/main" id="{3F2AF5B0-D4F2-9359-5145-B76C6094FFDA}"/>
              </a:ext>
            </a:extLst>
          </p:cNvPr>
          <p:cNvGrpSpPr/>
          <p:nvPr/>
        </p:nvGrpSpPr>
        <p:grpSpPr>
          <a:xfrm>
            <a:off x="8479311" y="2073801"/>
            <a:ext cx="2761598" cy="3269962"/>
            <a:chOff x="8479311" y="2057543"/>
            <a:chExt cx="2761598" cy="3269962"/>
          </a:xfrm>
        </p:grpSpPr>
        <p:sp>
          <p:nvSpPr>
            <p:cNvPr id="9" name="Rectangle: Rounded Corners 8">
              <a:extLst>
                <a:ext uri="{FF2B5EF4-FFF2-40B4-BE49-F238E27FC236}">
                  <a16:creationId xmlns:a16="http://schemas.microsoft.com/office/drawing/2014/main" id="{18B3EFFE-6A82-79C4-0F6A-CC74F520A746}"/>
                </a:ext>
              </a:extLst>
            </p:cNvPr>
            <p:cNvSpPr/>
            <p:nvPr/>
          </p:nvSpPr>
          <p:spPr>
            <a:xfrm>
              <a:off x="8479311" y="2057543"/>
              <a:ext cx="2761598" cy="3235731"/>
            </a:xfrm>
            <a:prstGeom prst="roundRect">
              <a:avLst>
                <a:gd name="adj" fmla="val 5630"/>
              </a:avLst>
            </a:prstGeom>
            <a:solidFill>
              <a:schemeClr val="bg1">
                <a:lumMod val="95000"/>
                <a:alpha val="3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TextBox 28">
              <a:extLst>
                <a:ext uri="{FF2B5EF4-FFF2-40B4-BE49-F238E27FC236}">
                  <a16:creationId xmlns:a16="http://schemas.microsoft.com/office/drawing/2014/main" id="{4BD852ED-4149-E1F8-E51A-2F51D30BF67C}"/>
                </a:ext>
              </a:extLst>
            </p:cNvPr>
            <p:cNvSpPr txBox="1"/>
            <p:nvPr/>
          </p:nvSpPr>
          <p:spPr>
            <a:xfrm>
              <a:off x="8491127" y="2080462"/>
              <a:ext cx="2737967" cy="3247043"/>
            </a:xfrm>
            <a:prstGeom prst="rect">
              <a:avLst/>
            </a:prstGeom>
            <a:noFill/>
          </p:spPr>
          <p:txBody>
            <a:bodyPr wrap="square">
              <a:spAutoFit/>
            </a:bodyPr>
            <a:lstStyle>
              <a:defPPr>
                <a:defRPr lang="en-US"/>
              </a:defPPr>
              <a:lvl1pPr fontAlgn="base">
                <a:defRPr sz="1050" b="0" i="0">
                  <a:solidFill>
                    <a:srgbClr val="323232"/>
                  </a:solidFill>
                  <a:effectLst/>
                  <a:highlight>
                    <a:srgbClr val="FFFFFF"/>
                  </a:highlight>
                  <a:latin typeface="henderson-bcg-sans"/>
                </a:defRPr>
              </a:lvl1pPr>
            </a:lstStyle>
            <a:p>
              <a:pPr algn="justLow" rtl="1"/>
              <a:r>
                <a:rPr lang="fa-IR" sz="900" dirty="0">
                  <a:solidFill>
                    <a:schemeClr val="tx1">
                      <a:lumMod val="65000"/>
                      <a:lumOff val="35000"/>
                    </a:schemeClr>
                  </a:solidFill>
                  <a:latin typeface="Yekan Bakh" pitchFamily="2" charset="-78"/>
                  <a:ea typeface="Yekan Bakh" pitchFamily="2" charset="-78"/>
                  <a:cs typeface="Yekan Bakh" pitchFamily="2" charset="-78"/>
                </a:rPr>
                <a:t>اکوسیستم‌های معاملاتی در دل خود یک پلتفرم مرکزی دارند که در بیشتر موارد به صورت دیجیتال تسهیل می‌شود. در این پلتفرم تولیدکنندگان مستقل محصولات یا خدمات را به مشتریان مستقل پیوند می‌دهند. نمونه‌های از چنین مشاغل پلتفرمی فراوان هستند. موارد بین‌المللی مانند: اسنپ، تپسی، دیوار </a:t>
              </a:r>
              <a:r>
                <a:rPr lang="en-US" sz="900" dirty="0">
                  <a:solidFill>
                    <a:schemeClr val="tx1">
                      <a:lumMod val="65000"/>
                      <a:lumOff val="35000"/>
                    </a:schemeClr>
                  </a:solidFill>
                  <a:latin typeface="Yekan Bakh" pitchFamily="2" charset="-78"/>
                  <a:ea typeface="Yekan Bakh" pitchFamily="2" charset="-78"/>
                  <a:cs typeface="Yekan Bakh" pitchFamily="2" charset="-78"/>
                </a:rPr>
                <a:t>eBay</a:t>
              </a:r>
              <a:r>
                <a:rPr lang="fa-IR" sz="900" dirty="0">
                  <a:solidFill>
                    <a:schemeClr val="tx1">
                      <a:lumMod val="65000"/>
                      <a:lumOff val="35000"/>
                    </a:schemeClr>
                  </a:solidFill>
                  <a:latin typeface="Yekan Bakh" pitchFamily="2" charset="-78"/>
                  <a:ea typeface="Yekan Bakh" pitchFamily="2" charset="-78"/>
                  <a:cs typeface="Yekan Bakh" pitchFamily="2" charset="-78"/>
                </a:rPr>
                <a:t>،</a:t>
              </a:r>
              <a:r>
                <a:rPr lang="en-US" sz="900" dirty="0">
                  <a:solidFill>
                    <a:schemeClr val="tx1">
                      <a:lumMod val="65000"/>
                      <a:lumOff val="35000"/>
                    </a:schemeClr>
                  </a:solidFill>
                  <a:latin typeface="Yekan Bakh" pitchFamily="2" charset="-78"/>
                  <a:ea typeface="Yekan Bakh" pitchFamily="2" charset="-78"/>
                  <a:cs typeface="Yekan Bakh" pitchFamily="2" charset="-78"/>
                </a:rPr>
                <a:t>Uber </a:t>
              </a:r>
              <a:r>
                <a:rPr lang="fa-IR" sz="900" dirty="0">
                  <a:solidFill>
                    <a:schemeClr val="tx1">
                      <a:lumMod val="65000"/>
                      <a:lumOff val="35000"/>
                    </a:schemeClr>
                  </a:solidFill>
                  <a:latin typeface="Yekan Bakh" pitchFamily="2" charset="-78"/>
                  <a:ea typeface="Yekan Bakh" pitchFamily="2" charset="-78"/>
                  <a:cs typeface="Yekan Bakh" pitchFamily="2" charset="-78"/>
                </a:rPr>
                <a:t>.  اکوسیستم‌های تراکنش بازارهای دوطرفه‌ای هستند که از اثرات مستقیم و غیرمستقیم شبکه بهره زیادی می‌برند. اثرات مستقیم شبکه زمانی رخ می‌دهد که شرکت‌کنندگان با افزایش تعداد سایر شرکت‌کنندگان در بازار (مانند کاربران دستگاه‌های فکس یا شبکه‌های اجتماعی) برای پیشنهاد اکوسیستم ارزش بیشتری قائل شوند. مهمتر از آن، اثرات غیرمستقیم شبکه زمانی پدیدار می‌شود که ارزش اکوسیستم برای شرکت‌کنندگان در یک طرف بازار با افزایش تعداد شرکت‌کنندگان در طرف دیگر افزایش یابد. به عنوان </a:t>
              </a:r>
              <a:r>
                <a:rPr lang="fa-IR" sz="700" dirty="0">
                  <a:solidFill>
                    <a:schemeClr val="tx1">
                      <a:lumMod val="65000"/>
                      <a:lumOff val="35000"/>
                    </a:schemeClr>
                  </a:solidFill>
                  <a:latin typeface="Yekan Bakh" pitchFamily="2" charset="-78"/>
                  <a:ea typeface="Yekan Bakh" pitchFamily="2" charset="-78"/>
                  <a:cs typeface="Yekan Bakh" pitchFamily="2" charset="-78"/>
                </a:rPr>
                <a:t>مثال، تعداد بیشتری از رانندگان، مشتریان بیشتری را به اسنپ جذب خواهد کرد، که آن هم به نوبه خود رانندگان بیشتری را جذب می کند و در نتیجه یک حلقه بازخورد مثبت ایجاد می کند. </a:t>
              </a:r>
              <a:r>
                <a:rPr lang="fa-IR" sz="900" dirty="0">
                  <a:solidFill>
                    <a:schemeClr val="tx1">
                      <a:lumMod val="65000"/>
                      <a:lumOff val="35000"/>
                    </a:schemeClr>
                  </a:solidFill>
                  <a:latin typeface="Yekan Bakh" pitchFamily="2" charset="-78"/>
                  <a:ea typeface="Yekan Bakh" pitchFamily="2" charset="-78"/>
                  <a:cs typeface="Yekan Bakh" pitchFamily="2" charset="-78"/>
                </a:rPr>
                <a:t>به این ترتیب، </a:t>
              </a:r>
              <a:r>
                <a:rPr lang="fa-IR" sz="900" b="1" dirty="0">
                  <a:solidFill>
                    <a:schemeClr val="tx1">
                      <a:lumMod val="65000"/>
                      <a:lumOff val="35000"/>
                    </a:schemeClr>
                  </a:solidFill>
                  <a:latin typeface="Yekan Bakh" pitchFamily="2" charset="-78"/>
                  <a:ea typeface="Yekan Bakh" pitchFamily="2" charset="-78"/>
                  <a:cs typeface="Yekan Bakh" pitchFamily="2" charset="-78"/>
                </a:rPr>
                <a:t>بر خلاف اکوسیستم‌های راه‌حلی، مشتریان بخشی جدایی ناپذیر از اکوسیستم‌های معاملاتی هستند</a:t>
              </a:r>
              <a:r>
                <a:rPr lang="fa-IR" sz="900" dirty="0">
                  <a:solidFill>
                    <a:schemeClr val="tx1">
                      <a:lumMod val="65000"/>
                      <a:lumOff val="35000"/>
                    </a:schemeClr>
                  </a:solidFill>
                  <a:latin typeface="Yekan Bakh" pitchFamily="2" charset="-78"/>
                  <a:ea typeface="Yekan Bakh" pitchFamily="2" charset="-78"/>
                  <a:cs typeface="Yekan Bakh" pitchFamily="2" charset="-78"/>
                </a:rPr>
                <a:t>. گاهی اوقات، مشتریان حتی به نقش تولیدکننده تبدیل می‌شوند.</a:t>
              </a:r>
              <a:endParaRPr lang="en-US" sz="900" dirty="0">
                <a:solidFill>
                  <a:schemeClr val="tx1">
                    <a:lumMod val="65000"/>
                    <a:lumOff val="35000"/>
                  </a:schemeClr>
                </a:solidFill>
                <a:latin typeface="Yekan Bakh" pitchFamily="2" charset="-78"/>
                <a:ea typeface="Yekan Bakh" pitchFamily="2" charset="-78"/>
                <a:cs typeface="Yekan Bakh" pitchFamily="2" charset="-78"/>
              </a:endParaRPr>
            </a:p>
          </p:txBody>
        </p:sp>
      </p:grpSp>
      <p:sp>
        <p:nvSpPr>
          <p:cNvPr id="113" name="Rectangle: Rounded Corners 55">
            <a:extLst>
              <a:ext uri="{FF2B5EF4-FFF2-40B4-BE49-F238E27FC236}">
                <a16:creationId xmlns:a16="http://schemas.microsoft.com/office/drawing/2014/main" id="{65476491-FD26-A435-275C-95B7A48BB905}"/>
              </a:ext>
            </a:extLst>
          </p:cNvPr>
          <p:cNvSpPr/>
          <p:nvPr/>
        </p:nvSpPr>
        <p:spPr>
          <a:xfrm>
            <a:off x="5940764" y="5545720"/>
            <a:ext cx="5271126" cy="344591"/>
          </a:xfrm>
          <a:prstGeom prst="roundRect">
            <a:avLst>
              <a:gd name="adj" fmla="val 5836"/>
            </a:avLst>
          </a:prstGeom>
          <a:solidFill>
            <a:srgbClr val="004D80">
              <a:alpha val="9000"/>
            </a:srgbClr>
          </a:solidFill>
          <a:ln w="3175" cap="flat" cmpd="sng" algn="ctr">
            <a:solidFill>
              <a:schemeClr val="bg1">
                <a:lumMod val="85000"/>
              </a:schemeClr>
            </a:solidFill>
            <a:prstDash val="solid"/>
            <a:miter lim="800000"/>
          </a:ln>
          <a:effectLst/>
        </p:spPr>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02" name="TextBox 101">
            <a:extLst>
              <a:ext uri="{FF2B5EF4-FFF2-40B4-BE49-F238E27FC236}">
                <a16:creationId xmlns:a16="http://schemas.microsoft.com/office/drawing/2014/main" id="{8DEE1735-A840-81B1-F6C6-4EEAF019CDEE}"/>
              </a:ext>
            </a:extLst>
          </p:cNvPr>
          <p:cNvSpPr txBox="1"/>
          <p:nvPr/>
        </p:nvSpPr>
        <p:spPr>
          <a:xfrm>
            <a:off x="5932412" y="5602599"/>
            <a:ext cx="5305834" cy="230832"/>
          </a:xfrm>
          <a:prstGeom prst="rect">
            <a:avLst/>
          </a:prstGeom>
          <a:noFill/>
        </p:spPr>
        <p:txBody>
          <a:bodyPr wrap="square">
            <a:spAutoFit/>
          </a:bodyPr>
          <a:lstStyle>
            <a:defPPr>
              <a:defRPr lang="en-US"/>
            </a:defPPr>
            <a:lvl1pPr algn="justLow" rtl="1" fontAlgn="base">
              <a:defRPr sz="900" b="1" i="0">
                <a:solidFill>
                  <a:srgbClr val="323232"/>
                </a:solidFill>
                <a:effectLst/>
                <a:highlight>
                  <a:srgbClr val="FFFFFF"/>
                </a:highlight>
                <a:latin typeface="Shabnam Bold FD" panose="020B0603030804020204" pitchFamily="34" charset="-78"/>
                <a:cs typeface="Shabnam Bold FD" panose="020B0603030804020204" pitchFamily="34" charset="-78"/>
              </a:defRPr>
            </a:lvl1pPr>
          </a:lstStyle>
          <a:p>
            <a:pPr algn="ctr"/>
            <a:r>
              <a:rPr lang="fa-IR" dirty="0"/>
              <a:t>بهترین گزینه زمان‌هایی که نیاز کشف شده وجود دارد و طرفین لبریز از نیاز</a:t>
            </a:r>
            <a:endParaRPr lang="en-US" dirty="0"/>
          </a:p>
        </p:txBody>
      </p:sp>
      <p:sp>
        <p:nvSpPr>
          <p:cNvPr id="103" name="TextBox 102">
            <a:extLst>
              <a:ext uri="{FF2B5EF4-FFF2-40B4-BE49-F238E27FC236}">
                <a16:creationId xmlns:a16="http://schemas.microsoft.com/office/drawing/2014/main" id="{504CF30E-0401-5490-3B15-B254EE63DC55}"/>
              </a:ext>
            </a:extLst>
          </p:cNvPr>
          <p:cNvSpPr txBox="1"/>
          <p:nvPr/>
        </p:nvSpPr>
        <p:spPr>
          <a:xfrm>
            <a:off x="533440" y="5602599"/>
            <a:ext cx="5382014" cy="230832"/>
          </a:xfrm>
          <a:prstGeom prst="rect">
            <a:avLst/>
          </a:prstGeom>
          <a:noFill/>
        </p:spPr>
        <p:txBody>
          <a:bodyPr wrap="square">
            <a:spAutoFit/>
          </a:bodyPr>
          <a:lstStyle>
            <a:defPPr>
              <a:defRPr lang="en-US"/>
            </a:defPPr>
            <a:lvl1pPr fontAlgn="base">
              <a:defRPr sz="1050" b="0" i="0">
                <a:solidFill>
                  <a:srgbClr val="323232"/>
                </a:solidFill>
                <a:effectLst/>
                <a:highlight>
                  <a:srgbClr val="FFFFFF"/>
                </a:highlight>
                <a:latin typeface="henderson-bcg-sans"/>
              </a:defRPr>
            </a:lvl1pPr>
          </a:lstStyle>
          <a:p>
            <a:pPr algn="ctr" rtl="1"/>
            <a:r>
              <a:rPr lang="fa-IR" sz="900" b="1" dirty="0">
                <a:latin typeface="Shabnam Bold FD" panose="020B0603030804020204" pitchFamily="34" charset="-78"/>
                <a:cs typeface="Shabnam Bold FD" panose="020B0603030804020204" pitchFamily="34" charset="-78"/>
              </a:rPr>
              <a:t>بهترین گزینه زمان‌هایی که کشف نیاز یک فعالیت مستمر و پویا است و رفع نیاز یک مشارکت همه‌جانبه</a:t>
            </a:r>
            <a:endParaRPr lang="en-US" sz="900" b="1" dirty="0">
              <a:latin typeface="Shabnam Bold FD" panose="020B0603030804020204" pitchFamily="34" charset="-78"/>
              <a:cs typeface="Shabnam Bold FD" panose="020B0603030804020204" pitchFamily="34" charset="-78"/>
            </a:endParaRPr>
          </a:p>
        </p:txBody>
      </p:sp>
      <p:sp>
        <p:nvSpPr>
          <p:cNvPr id="106" name="Isosceles Triangle 59">
            <a:extLst>
              <a:ext uri="{FF2B5EF4-FFF2-40B4-BE49-F238E27FC236}">
                <a16:creationId xmlns:a16="http://schemas.microsoft.com/office/drawing/2014/main" id="{9A7FE22F-3CCC-B7A7-2F56-0104C9476B7B}"/>
              </a:ext>
            </a:extLst>
          </p:cNvPr>
          <p:cNvSpPr/>
          <p:nvPr/>
        </p:nvSpPr>
        <p:spPr>
          <a:xfrm rot="10800000">
            <a:off x="5196621" y="2005515"/>
            <a:ext cx="1309808" cy="147960"/>
          </a:xfrm>
          <a:prstGeom prst="triangle">
            <a:avLst/>
          </a:prstGeom>
          <a:solidFill>
            <a:srgbClr val="F0BE0F">
              <a:alpha val="37000"/>
            </a:srgbClr>
          </a:solidFill>
          <a:ln w="12700" cap="flat" cmpd="sng" algn="ctr">
            <a:noFill/>
            <a:prstDash val="solid"/>
            <a:miter lim="800000"/>
          </a:ln>
          <a:effectLst/>
        </p:spPr>
        <p:txBody>
          <a:bodyPr rtlCol="0" anchor="ctr"/>
          <a:lstStyle/>
          <a:p>
            <a:pPr algn="ctr" defTabSz="914400" rtl="1"/>
            <a:endParaRPr lang="en-US" kern="0">
              <a:solidFill>
                <a:prstClr val="white"/>
              </a:solidFill>
              <a:latin typeface="Calibri" panose="020F0502020204030204"/>
            </a:endParaRPr>
          </a:p>
        </p:txBody>
      </p:sp>
      <p:grpSp>
        <p:nvGrpSpPr>
          <p:cNvPr id="8" name="Group 7">
            <a:extLst>
              <a:ext uri="{FF2B5EF4-FFF2-40B4-BE49-F238E27FC236}">
                <a16:creationId xmlns:a16="http://schemas.microsoft.com/office/drawing/2014/main" id="{34D56356-1960-25F2-EE83-FA7D9989A3CF}"/>
              </a:ext>
            </a:extLst>
          </p:cNvPr>
          <p:cNvGrpSpPr/>
          <p:nvPr/>
        </p:nvGrpSpPr>
        <p:grpSpPr>
          <a:xfrm>
            <a:off x="3358013" y="2054603"/>
            <a:ext cx="5006902" cy="3247043"/>
            <a:chOff x="3184389" y="2643380"/>
            <a:chExt cx="5006902" cy="2719507"/>
          </a:xfrm>
        </p:grpSpPr>
        <p:sp>
          <p:nvSpPr>
            <p:cNvPr id="31" name="Rectangle 30">
              <a:extLst>
                <a:ext uri="{FF2B5EF4-FFF2-40B4-BE49-F238E27FC236}">
                  <a16:creationId xmlns:a16="http://schemas.microsoft.com/office/drawing/2014/main" id="{5A9CA1D3-DBB9-4522-7EEF-C0D4EAB642D1}"/>
                </a:ext>
              </a:extLst>
            </p:cNvPr>
            <p:cNvSpPr/>
            <p:nvPr/>
          </p:nvSpPr>
          <p:spPr>
            <a:xfrm>
              <a:off x="3364631" y="3005158"/>
              <a:ext cx="2413018" cy="2355329"/>
            </a:xfrm>
            <a:prstGeom prst="rect">
              <a:avLst/>
            </a:prstGeom>
            <a:gradFill flip="none" rotWithShape="1">
              <a:gsLst>
                <a:gs pos="0">
                  <a:schemeClr val="bg1">
                    <a:lumMod val="75000"/>
                  </a:schemeClr>
                </a:gs>
                <a:gs pos="50000">
                  <a:schemeClr val="bg1">
                    <a:lumMod val="85000"/>
                  </a:schemeClr>
                </a:gs>
                <a:gs pos="100000">
                  <a:schemeClr val="bg1">
                    <a:lumMod val="95000"/>
                  </a:schemeClr>
                </a:gs>
              </a:gsLst>
              <a:lin ang="10800000" scaled="1"/>
              <a:tileRect/>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98" name="Rectangle 97">
              <a:extLst>
                <a:ext uri="{FF2B5EF4-FFF2-40B4-BE49-F238E27FC236}">
                  <a16:creationId xmlns:a16="http://schemas.microsoft.com/office/drawing/2014/main" id="{8B7810C1-61E1-4385-A63F-092A173F5A44}"/>
                </a:ext>
              </a:extLst>
            </p:cNvPr>
            <p:cNvSpPr/>
            <p:nvPr/>
          </p:nvSpPr>
          <p:spPr>
            <a:xfrm rot="10800000">
              <a:off x="5741830" y="3005157"/>
              <a:ext cx="2268408" cy="2355329"/>
            </a:xfrm>
            <a:prstGeom prst="rect">
              <a:avLst/>
            </a:prstGeom>
            <a:gradFill flip="none" rotWithShape="1">
              <a:gsLst>
                <a:gs pos="0">
                  <a:schemeClr val="bg1">
                    <a:lumMod val="75000"/>
                  </a:schemeClr>
                </a:gs>
                <a:gs pos="50000">
                  <a:schemeClr val="bg1">
                    <a:lumMod val="85000"/>
                  </a:schemeClr>
                </a:gs>
                <a:gs pos="100000">
                  <a:schemeClr val="bg1">
                    <a:lumMod val="95000"/>
                  </a:schemeClr>
                </a:gs>
              </a:gsLst>
              <a:lin ang="10800000" scaled="1"/>
              <a:tileRect/>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nvGrpSpPr>
            <p:cNvPr id="33" name="Group 32">
              <a:extLst>
                <a:ext uri="{FF2B5EF4-FFF2-40B4-BE49-F238E27FC236}">
                  <a16:creationId xmlns:a16="http://schemas.microsoft.com/office/drawing/2014/main" id="{91F6D1E9-8B97-CC68-ED65-33E741B2738D}"/>
                </a:ext>
              </a:extLst>
            </p:cNvPr>
            <p:cNvGrpSpPr/>
            <p:nvPr/>
          </p:nvGrpSpPr>
          <p:grpSpPr>
            <a:xfrm>
              <a:off x="6310441" y="3191939"/>
              <a:ext cx="1633705" cy="2037033"/>
              <a:chOff x="5255069" y="2843777"/>
              <a:chExt cx="1419259" cy="1769645"/>
            </a:xfrm>
          </p:grpSpPr>
          <p:sp>
            <p:nvSpPr>
              <p:cNvPr id="34" name="Oval 33">
                <a:extLst>
                  <a:ext uri="{FF2B5EF4-FFF2-40B4-BE49-F238E27FC236}">
                    <a16:creationId xmlns:a16="http://schemas.microsoft.com/office/drawing/2014/main" id="{BD6A105E-DD34-E446-C555-D8103D5B1B6C}"/>
                  </a:ext>
                </a:extLst>
              </p:cNvPr>
              <p:cNvSpPr/>
              <p:nvPr/>
            </p:nvSpPr>
            <p:spPr>
              <a:xfrm>
                <a:off x="5870101" y="3619100"/>
                <a:ext cx="204788" cy="204788"/>
              </a:xfrm>
              <a:prstGeom prst="ellipse">
                <a:avLst/>
              </a:prstGeom>
              <a:solidFill>
                <a:srgbClr val="2DC2D9"/>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Light" panose="020F0302020204030204"/>
                  <a:ea typeface="+mn-ea"/>
                  <a:cs typeface="+mn-cs"/>
                </a:endParaRPr>
              </a:p>
            </p:txBody>
          </p:sp>
          <p:sp>
            <p:nvSpPr>
              <p:cNvPr id="35" name="Oval 34">
                <a:extLst>
                  <a:ext uri="{FF2B5EF4-FFF2-40B4-BE49-F238E27FC236}">
                    <a16:creationId xmlns:a16="http://schemas.microsoft.com/office/drawing/2014/main" id="{9A67A27E-5DC0-45CC-71CF-2744832A7597}"/>
                  </a:ext>
                </a:extLst>
              </p:cNvPr>
              <p:cNvSpPr/>
              <p:nvPr/>
            </p:nvSpPr>
            <p:spPr>
              <a:xfrm>
                <a:off x="5266027" y="4486974"/>
                <a:ext cx="126448" cy="126448"/>
              </a:xfrm>
              <a:prstGeom prst="ellipse">
                <a:avLst/>
              </a:prstGeom>
              <a:solidFill>
                <a:srgbClr val="1C557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Light" panose="020F0302020204030204"/>
                  <a:ea typeface="+mn-ea"/>
                  <a:cs typeface="+mn-cs"/>
                </a:endParaRPr>
              </a:p>
            </p:txBody>
          </p:sp>
          <p:sp>
            <p:nvSpPr>
              <p:cNvPr id="36" name="Oval 35">
                <a:extLst>
                  <a:ext uri="{FF2B5EF4-FFF2-40B4-BE49-F238E27FC236}">
                    <a16:creationId xmlns:a16="http://schemas.microsoft.com/office/drawing/2014/main" id="{B95FF60C-738D-8447-F444-6C8061FE60A8}"/>
                  </a:ext>
                </a:extLst>
              </p:cNvPr>
              <p:cNvSpPr/>
              <p:nvPr/>
            </p:nvSpPr>
            <p:spPr>
              <a:xfrm>
                <a:off x="5522398" y="4486974"/>
                <a:ext cx="126448" cy="126448"/>
              </a:xfrm>
              <a:prstGeom prst="ellipse">
                <a:avLst/>
              </a:prstGeom>
              <a:solidFill>
                <a:srgbClr val="1C557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Light" panose="020F0302020204030204"/>
                  <a:ea typeface="+mn-ea"/>
                  <a:cs typeface="+mn-cs"/>
                </a:endParaRPr>
              </a:p>
            </p:txBody>
          </p:sp>
          <p:sp>
            <p:nvSpPr>
              <p:cNvPr id="37" name="Oval 36">
                <a:extLst>
                  <a:ext uri="{FF2B5EF4-FFF2-40B4-BE49-F238E27FC236}">
                    <a16:creationId xmlns:a16="http://schemas.microsoft.com/office/drawing/2014/main" id="{601CE325-0CE7-8D1B-E066-77363A77EF25}"/>
                  </a:ext>
                </a:extLst>
              </p:cNvPr>
              <p:cNvSpPr/>
              <p:nvPr/>
            </p:nvSpPr>
            <p:spPr>
              <a:xfrm>
                <a:off x="5778769" y="4486974"/>
                <a:ext cx="126448" cy="126448"/>
              </a:xfrm>
              <a:prstGeom prst="ellipse">
                <a:avLst/>
              </a:prstGeom>
              <a:solidFill>
                <a:srgbClr val="1C557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Light" panose="020F0302020204030204"/>
                  <a:ea typeface="+mn-ea"/>
                  <a:cs typeface="+mn-cs"/>
                </a:endParaRPr>
              </a:p>
            </p:txBody>
          </p:sp>
          <p:sp>
            <p:nvSpPr>
              <p:cNvPr id="38" name="Oval 37">
                <a:extLst>
                  <a:ext uri="{FF2B5EF4-FFF2-40B4-BE49-F238E27FC236}">
                    <a16:creationId xmlns:a16="http://schemas.microsoft.com/office/drawing/2014/main" id="{76C8394B-BA9A-29A5-7D5E-414E7297141A}"/>
                  </a:ext>
                </a:extLst>
              </p:cNvPr>
              <p:cNvSpPr/>
              <p:nvPr/>
            </p:nvSpPr>
            <p:spPr>
              <a:xfrm>
                <a:off x="6035140" y="4486974"/>
                <a:ext cx="126448" cy="126448"/>
              </a:xfrm>
              <a:prstGeom prst="ellipse">
                <a:avLst/>
              </a:prstGeom>
              <a:solidFill>
                <a:srgbClr val="1C557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Light" panose="020F0302020204030204"/>
                  <a:ea typeface="+mn-ea"/>
                  <a:cs typeface="+mn-cs"/>
                </a:endParaRPr>
              </a:p>
            </p:txBody>
          </p:sp>
          <p:sp>
            <p:nvSpPr>
              <p:cNvPr id="39" name="Oval 38">
                <a:extLst>
                  <a:ext uri="{FF2B5EF4-FFF2-40B4-BE49-F238E27FC236}">
                    <a16:creationId xmlns:a16="http://schemas.microsoft.com/office/drawing/2014/main" id="{643FAF36-8186-22DD-E8CC-5CE9A4D0FACC}"/>
                  </a:ext>
                </a:extLst>
              </p:cNvPr>
              <p:cNvSpPr/>
              <p:nvPr/>
            </p:nvSpPr>
            <p:spPr>
              <a:xfrm>
                <a:off x="6291511" y="4486974"/>
                <a:ext cx="126448" cy="126448"/>
              </a:xfrm>
              <a:prstGeom prst="ellipse">
                <a:avLst/>
              </a:prstGeom>
              <a:solidFill>
                <a:srgbClr val="1C557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Light" panose="020F0302020204030204"/>
                  <a:ea typeface="+mn-ea"/>
                  <a:cs typeface="+mn-cs"/>
                </a:endParaRPr>
              </a:p>
            </p:txBody>
          </p:sp>
          <p:sp>
            <p:nvSpPr>
              <p:cNvPr id="40" name="Oval 39">
                <a:extLst>
                  <a:ext uri="{FF2B5EF4-FFF2-40B4-BE49-F238E27FC236}">
                    <a16:creationId xmlns:a16="http://schemas.microsoft.com/office/drawing/2014/main" id="{1B189859-5ED7-C82B-C28D-D623C075F1DC}"/>
                  </a:ext>
                </a:extLst>
              </p:cNvPr>
              <p:cNvSpPr/>
              <p:nvPr/>
            </p:nvSpPr>
            <p:spPr>
              <a:xfrm>
                <a:off x="6547880" y="4486974"/>
                <a:ext cx="126448" cy="126448"/>
              </a:xfrm>
              <a:prstGeom prst="ellipse">
                <a:avLst/>
              </a:prstGeom>
              <a:solidFill>
                <a:srgbClr val="1C557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Light" panose="020F0302020204030204"/>
                  <a:ea typeface="+mn-ea"/>
                  <a:cs typeface="+mn-cs"/>
                </a:endParaRPr>
              </a:p>
            </p:txBody>
          </p:sp>
          <p:sp>
            <p:nvSpPr>
              <p:cNvPr id="41" name="Rectangle 40">
                <a:extLst>
                  <a:ext uri="{FF2B5EF4-FFF2-40B4-BE49-F238E27FC236}">
                    <a16:creationId xmlns:a16="http://schemas.microsoft.com/office/drawing/2014/main" id="{6CB3BE08-22FF-DF99-BE7A-940DEBCF7CC4}"/>
                  </a:ext>
                </a:extLst>
              </p:cNvPr>
              <p:cNvSpPr/>
              <p:nvPr/>
            </p:nvSpPr>
            <p:spPr>
              <a:xfrm>
                <a:off x="5255069" y="2843777"/>
                <a:ext cx="123824" cy="126448"/>
              </a:xfrm>
              <a:prstGeom prst="rect">
                <a:avLst/>
              </a:prstGeom>
              <a:solidFill>
                <a:srgbClr val="1C557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Light" panose="020F0302020204030204"/>
                  <a:ea typeface="+mn-ea"/>
                  <a:cs typeface="+mn-cs"/>
                </a:endParaRPr>
              </a:p>
            </p:txBody>
          </p:sp>
          <p:sp>
            <p:nvSpPr>
              <p:cNvPr id="42" name="Rectangle 41">
                <a:extLst>
                  <a:ext uri="{FF2B5EF4-FFF2-40B4-BE49-F238E27FC236}">
                    <a16:creationId xmlns:a16="http://schemas.microsoft.com/office/drawing/2014/main" id="{8C6EE6DA-A8E2-4441-33D6-7923A475EA67}"/>
                  </a:ext>
                </a:extLst>
              </p:cNvPr>
              <p:cNvSpPr/>
              <p:nvPr/>
            </p:nvSpPr>
            <p:spPr>
              <a:xfrm>
                <a:off x="5686597" y="2843777"/>
                <a:ext cx="123824" cy="126448"/>
              </a:xfrm>
              <a:prstGeom prst="rect">
                <a:avLst/>
              </a:prstGeom>
              <a:solidFill>
                <a:srgbClr val="1C557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Light" panose="020F0302020204030204"/>
                  <a:ea typeface="+mn-ea"/>
                  <a:cs typeface="+mn-cs"/>
                </a:endParaRPr>
              </a:p>
            </p:txBody>
          </p:sp>
          <p:sp>
            <p:nvSpPr>
              <p:cNvPr id="43" name="Rectangle 42">
                <a:extLst>
                  <a:ext uri="{FF2B5EF4-FFF2-40B4-BE49-F238E27FC236}">
                    <a16:creationId xmlns:a16="http://schemas.microsoft.com/office/drawing/2014/main" id="{A03ECB41-2E74-A430-31CB-EE5484FCE5DE}"/>
                  </a:ext>
                </a:extLst>
              </p:cNvPr>
              <p:cNvSpPr/>
              <p:nvPr/>
            </p:nvSpPr>
            <p:spPr>
              <a:xfrm>
                <a:off x="6118125" y="2843777"/>
                <a:ext cx="123824" cy="126448"/>
              </a:xfrm>
              <a:prstGeom prst="rect">
                <a:avLst/>
              </a:prstGeom>
              <a:solidFill>
                <a:srgbClr val="1C557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Light" panose="020F0302020204030204"/>
                  <a:ea typeface="+mn-ea"/>
                  <a:cs typeface="+mn-cs"/>
                </a:endParaRPr>
              </a:p>
            </p:txBody>
          </p:sp>
          <p:sp>
            <p:nvSpPr>
              <p:cNvPr id="44" name="Rectangle 43">
                <a:extLst>
                  <a:ext uri="{FF2B5EF4-FFF2-40B4-BE49-F238E27FC236}">
                    <a16:creationId xmlns:a16="http://schemas.microsoft.com/office/drawing/2014/main" id="{47B93540-3956-2DB9-E3D8-A6E92CCA8A72}"/>
                  </a:ext>
                </a:extLst>
              </p:cNvPr>
              <p:cNvSpPr/>
              <p:nvPr/>
            </p:nvSpPr>
            <p:spPr>
              <a:xfrm>
                <a:off x="6549652" y="2843777"/>
                <a:ext cx="123824" cy="126448"/>
              </a:xfrm>
              <a:prstGeom prst="rect">
                <a:avLst/>
              </a:prstGeom>
              <a:solidFill>
                <a:srgbClr val="1C557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Light" panose="020F0302020204030204"/>
                  <a:ea typeface="+mn-ea"/>
                  <a:cs typeface="+mn-cs"/>
                </a:endParaRPr>
              </a:p>
            </p:txBody>
          </p:sp>
          <p:cxnSp>
            <p:nvCxnSpPr>
              <p:cNvPr id="45" name="Straight Connector 44">
                <a:extLst>
                  <a:ext uri="{FF2B5EF4-FFF2-40B4-BE49-F238E27FC236}">
                    <a16:creationId xmlns:a16="http://schemas.microsoft.com/office/drawing/2014/main" id="{8855DA45-5002-DDDF-0FB7-490D2F6F760D}"/>
                  </a:ext>
                </a:extLst>
              </p:cNvPr>
              <p:cNvCxnSpPr>
                <a:cxnSpLocks/>
                <a:stCxn id="41" idx="2"/>
                <a:endCxn id="34" idx="1"/>
              </p:cNvCxnSpPr>
              <p:nvPr/>
            </p:nvCxnSpPr>
            <p:spPr>
              <a:xfrm>
                <a:off x="5316981" y="2970225"/>
                <a:ext cx="583111" cy="678866"/>
              </a:xfrm>
              <a:prstGeom prst="line">
                <a:avLst/>
              </a:prstGeom>
              <a:noFill/>
              <a:ln w="3175" cap="flat" cmpd="sng" algn="ctr">
                <a:solidFill>
                  <a:sysClr val="windowText" lastClr="000000">
                    <a:lumMod val="50000"/>
                    <a:lumOff val="50000"/>
                  </a:sysClr>
                </a:solidFill>
                <a:prstDash val="solid"/>
                <a:miter lim="800000"/>
              </a:ln>
              <a:effectLst/>
            </p:spPr>
          </p:cxnSp>
          <p:cxnSp>
            <p:nvCxnSpPr>
              <p:cNvPr id="47" name="Straight Connector 46">
                <a:extLst>
                  <a:ext uri="{FF2B5EF4-FFF2-40B4-BE49-F238E27FC236}">
                    <a16:creationId xmlns:a16="http://schemas.microsoft.com/office/drawing/2014/main" id="{C14034FE-F6E7-9170-16F6-925ED9A60FA2}"/>
                  </a:ext>
                </a:extLst>
              </p:cNvPr>
              <p:cNvCxnSpPr>
                <a:cxnSpLocks/>
                <a:stCxn id="42" idx="2"/>
                <a:endCxn id="34" idx="0"/>
              </p:cNvCxnSpPr>
              <p:nvPr/>
            </p:nvCxnSpPr>
            <p:spPr>
              <a:xfrm>
                <a:off x="5748509" y="2970225"/>
                <a:ext cx="223986" cy="648875"/>
              </a:xfrm>
              <a:prstGeom prst="line">
                <a:avLst/>
              </a:prstGeom>
              <a:noFill/>
              <a:ln w="3175" cap="flat" cmpd="sng" algn="ctr">
                <a:solidFill>
                  <a:sysClr val="windowText" lastClr="000000">
                    <a:lumMod val="50000"/>
                    <a:lumOff val="50000"/>
                  </a:sysClr>
                </a:solidFill>
                <a:prstDash val="solid"/>
                <a:miter lim="800000"/>
              </a:ln>
              <a:effectLst/>
            </p:spPr>
          </p:cxnSp>
          <p:cxnSp>
            <p:nvCxnSpPr>
              <p:cNvPr id="48" name="Straight Connector 47">
                <a:extLst>
                  <a:ext uri="{FF2B5EF4-FFF2-40B4-BE49-F238E27FC236}">
                    <a16:creationId xmlns:a16="http://schemas.microsoft.com/office/drawing/2014/main" id="{0DDA2284-1EAE-06C4-AD2D-9179C39037EE}"/>
                  </a:ext>
                </a:extLst>
              </p:cNvPr>
              <p:cNvCxnSpPr>
                <a:cxnSpLocks/>
                <a:stCxn id="43" idx="2"/>
                <a:endCxn id="34" idx="0"/>
              </p:cNvCxnSpPr>
              <p:nvPr/>
            </p:nvCxnSpPr>
            <p:spPr>
              <a:xfrm flipH="1">
                <a:off x="5972495" y="2970225"/>
                <a:ext cx="207542" cy="648875"/>
              </a:xfrm>
              <a:prstGeom prst="line">
                <a:avLst/>
              </a:prstGeom>
              <a:noFill/>
              <a:ln w="3175" cap="flat" cmpd="sng" algn="ctr">
                <a:solidFill>
                  <a:sysClr val="windowText" lastClr="000000">
                    <a:lumMod val="50000"/>
                    <a:lumOff val="50000"/>
                  </a:sysClr>
                </a:solidFill>
                <a:prstDash val="solid"/>
                <a:miter lim="800000"/>
              </a:ln>
              <a:effectLst/>
            </p:spPr>
          </p:cxnSp>
          <p:cxnSp>
            <p:nvCxnSpPr>
              <p:cNvPr id="49" name="Straight Connector 48">
                <a:extLst>
                  <a:ext uri="{FF2B5EF4-FFF2-40B4-BE49-F238E27FC236}">
                    <a16:creationId xmlns:a16="http://schemas.microsoft.com/office/drawing/2014/main" id="{99C42C13-8C14-130C-2BD1-B6931A1AE640}"/>
                  </a:ext>
                </a:extLst>
              </p:cNvPr>
              <p:cNvCxnSpPr>
                <a:cxnSpLocks/>
                <a:stCxn id="44" idx="2"/>
                <a:endCxn id="34" idx="7"/>
              </p:cNvCxnSpPr>
              <p:nvPr/>
            </p:nvCxnSpPr>
            <p:spPr>
              <a:xfrm flipH="1">
                <a:off x="6044898" y="2970225"/>
                <a:ext cx="566666" cy="678866"/>
              </a:xfrm>
              <a:prstGeom prst="line">
                <a:avLst/>
              </a:prstGeom>
              <a:noFill/>
              <a:ln w="3175" cap="flat" cmpd="sng" algn="ctr">
                <a:solidFill>
                  <a:sysClr val="windowText" lastClr="000000">
                    <a:lumMod val="50000"/>
                    <a:lumOff val="50000"/>
                  </a:sysClr>
                </a:solidFill>
                <a:prstDash val="solid"/>
                <a:miter lim="800000"/>
              </a:ln>
              <a:effectLst/>
            </p:spPr>
          </p:cxnSp>
          <p:cxnSp>
            <p:nvCxnSpPr>
              <p:cNvPr id="50" name="Straight Connector 49">
                <a:extLst>
                  <a:ext uri="{FF2B5EF4-FFF2-40B4-BE49-F238E27FC236}">
                    <a16:creationId xmlns:a16="http://schemas.microsoft.com/office/drawing/2014/main" id="{E3C6C85A-D7E3-00F5-7743-59FFBDA2A5BC}"/>
                  </a:ext>
                </a:extLst>
              </p:cNvPr>
              <p:cNvCxnSpPr>
                <a:cxnSpLocks/>
                <a:stCxn id="34" idx="5"/>
                <a:endCxn id="40" idx="0"/>
              </p:cNvCxnSpPr>
              <p:nvPr/>
            </p:nvCxnSpPr>
            <p:spPr>
              <a:xfrm>
                <a:off x="6044898" y="3793897"/>
                <a:ext cx="566206" cy="693077"/>
              </a:xfrm>
              <a:prstGeom prst="line">
                <a:avLst/>
              </a:prstGeom>
              <a:noFill/>
              <a:ln w="3175" cap="flat" cmpd="sng" algn="ctr">
                <a:solidFill>
                  <a:sysClr val="windowText" lastClr="000000">
                    <a:lumMod val="50000"/>
                    <a:lumOff val="50000"/>
                  </a:sysClr>
                </a:solidFill>
                <a:prstDash val="solid"/>
                <a:miter lim="800000"/>
              </a:ln>
              <a:effectLst/>
            </p:spPr>
          </p:cxnSp>
          <p:cxnSp>
            <p:nvCxnSpPr>
              <p:cNvPr id="54" name="Straight Connector 53">
                <a:extLst>
                  <a:ext uri="{FF2B5EF4-FFF2-40B4-BE49-F238E27FC236}">
                    <a16:creationId xmlns:a16="http://schemas.microsoft.com/office/drawing/2014/main" id="{F25D8FCF-D83E-BFB6-6EF1-D64FA487E0DA}"/>
                  </a:ext>
                </a:extLst>
              </p:cNvPr>
              <p:cNvCxnSpPr>
                <a:cxnSpLocks/>
                <a:stCxn id="34" idx="5"/>
                <a:endCxn id="39" idx="0"/>
              </p:cNvCxnSpPr>
              <p:nvPr/>
            </p:nvCxnSpPr>
            <p:spPr>
              <a:xfrm>
                <a:off x="6044898" y="3793897"/>
                <a:ext cx="309837" cy="693077"/>
              </a:xfrm>
              <a:prstGeom prst="line">
                <a:avLst/>
              </a:prstGeom>
              <a:noFill/>
              <a:ln w="3175" cap="flat" cmpd="sng" algn="ctr">
                <a:solidFill>
                  <a:sysClr val="windowText" lastClr="000000">
                    <a:lumMod val="50000"/>
                    <a:lumOff val="50000"/>
                  </a:sysClr>
                </a:solidFill>
                <a:prstDash val="solid"/>
                <a:miter lim="800000"/>
              </a:ln>
              <a:effectLst/>
            </p:spPr>
          </p:cxnSp>
          <p:cxnSp>
            <p:nvCxnSpPr>
              <p:cNvPr id="56" name="Straight Connector 55">
                <a:extLst>
                  <a:ext uri="{FF2B5EF4-FFF2-40B4-BE49-F238E27FC236}">
                    <a16:creationId xmlns:a16="http://schemas.microsoft.com/office/drawing/2014/main" id="{E6CD400F-3CA5-47BE-96E6-46F69E978ECE}"/>
                  </a:ext>
                </a:extLst>
              </p:cNvPr>
              <p:cNvCxnSpPr>
                <a:cxnSpLocks/>
                <a:stCxn id="34" idx="4"/>
                <a:endCxn id="38" idx="0"/>
              </p:cNvCxnSpPr>
              <p:nvPr/>
            </p:nvCxnSpPr>
            <p:spPr>
              <a:xfrm>
                <a:off x="5972495" y="3823888"/>
                <a:ext cx="125869" cy="663086"/>
              </a:xfrm>
              <a:prstGeom prst="line">
                <a:avLst/>
              </a:prstGeom>
              <a:noFill/>
              <a:ln w="3175" cap="flat" cmpd="sng" algn="ctr">
                <a:solidFill>
                  <a:sysClr val="windowText" lastClr="000000">
                    <a:lumMod val="50000"/>
                    <a:lumOff val="50000"/>
                  </a:sysClr>
                </a:solidFill>
                <a:prstDash val="solid"/>
                <a:miter lim="800000"/>
              </a:ln>
              <a:effectLst/>
            </p:spPr>
          </p:cxnSp>
          <p:cxnSp>
            <p:nvCxnSpPr>
              <p:cNvPr id="57" name="Straight Connector 56">
                <a:extLst>
                  <a:ext uri="{FF2B5EF4-FFF2-40B4-BE49-F238E27FC236}">
                    <a16:creationId xmlns:a16="http://schemas.microsoft.com/office/drawing/2014/main" id="{2531B335-E190-2DCA-9B9A-19C7F39B9D17}"/>
                  </a:ext>
                </a:extLst>
              </p:cNvPr>
              <p:cNvCxnSpPr>
                <a:cxnSpLocks/>
                <a:stCxn id="34" idx="4"/>
                <a:endCxn id="37" idx="0"/>
              </p:cNvCxnSpPr>
              <p:nvPr/>
            </p:nvCxnSpPr>
            <p:spPr>
              <a:xfrm flipH="1">
                <a:off x="5841993" y="3823888"/>
                <a:ext cx="130502" cy="663086"/>
              </a:xfrm>
              <a:prstGeom prst="line">
                <a:avLst/>
              </a:prstGeom>
              <a:noFill/>
              <a:ln w="3175" cap="flat" cmpd="sng" algn="ctr">
                <a:solidFill>
                  <a:sysClr val="windowText" lastClr="000000">
                    <a:lumMod val="50000"/>
                    <a:lumOff val="50000"/>
                  </a:sysClr>
                </a:solidFill>
                <a:prstDash val="solid"/>
                <a:miter lim="800000"/>
              </a:ln>
              <a:effectLst/>
            </p:spPr>
          </p:cxnSp>
          <p:cxnSp>
            <p:nvCxnSpPr>
              <p:cNvPr id="58" name="Straight Connector 57">
                <a:extLst>
                  <a:ext uri="{FF2B5EF4-FFF2-40B4-BE49-F238E27FC236}">
                    <a16:creationId xmlns:a16="http://schemas.microsoft.com/office/drawing/2014/main" id="{C94F4D1F-C533-2293-B624-1EAB97475BCE}"/>
                  </a:ext>
                </a:extLst>
              </p:cNvPr>
              <p:cNvCxnSpPr>
                <a:cxnSpLocks/>
                <a:stCxn id="34" idx="3"/>
                <a:endCxn id="36" idx="0"/>
              </p:cNvCxnSpPr>
              <p:nvPr/>
            </p:nvCxnSpPr>
            <p:spPr>
              <a:xfrm flipH="1">
                <a:off x="5585622" y="3793897"/>
                <a:ext cx="314470" cy="693077"/>
              </a:xfrm>
              <a:prstGeom prst="line">
                <a:avLst/>
              </a:prstGeom>
              <a:noFill/>
              <a:ln w="3175" cap="flat" cmpd="sng" algn="ctr">
                <a:solidFill>
                  <a:sysClr val="windowText" lastClr="000000">
                    <a:lumMod val="50000"/>
                    <a:lumOff val="50000"/>
                  </a:sysClr>
                </a:solidFill>
                <a:prstDash val="solid"/>
                <a:miter lim="800000"/>
              </a:ln>
              <a:effectLst/>
            </p:spPr>
          </p:cxnSp>
          <p:cxnSp>
            <p:nvCxnSpPr>
              <p:cNvPr id="59" name="Straight Connector 58">
                <a:extLst>
                  <a:ext uri="{FF2B5EF4-FFF2-40B4-BE49-F238E27FC236}">
                    <a16:creationId xmlns:a16="http://schemas.microsoft.com/office/drawing/2014/main" id="{BEF9709D-5D91-3B00-3043-B67C80A780AC}"/>
                  </a:ext>
                </a:extLst>
              </p:cNvPr>
              <p:cNvCxnSpPr>
                <a:cxnSpLocks/>
                <a:stCxn id="34" idx="3"/>
                <a:endCxn id="35" idx="0"/>
              </p:cNvCxnSpPr>
              <p:nvPr/>
            </p:nvCxnSpPr>
            <p:spPr>
              <a:xfrm flipH="1">
                <a:off x="5329251" y="3793897"/>
                <a:ext cx="570841" cy="693077"/>
              </a:xfrm>
              <a:prstGeom prst="line">
                <a:avLst/>
              </a:prstGeom>
              <a:noFill/>
              <a:ln w="3175" cap="flat" cmpd="sng" algn="ctr">
                <a:solidFill>
                  <a:sysClr val="windowText" lastClr="000000">
                    <a:lumMod val="50000"/>
                    <a:lumOff val="50000"/>
                  </a:sysClr>
                </a:solidFill>
                <a:prstDash val="solid"/>
                <a:miter lim="800000"/>
              </a:ln>
              <a:effectLst/>
            </p:spPr>
          </p:cxnSp>
        </p:grpSp>
        <p:grpSp>
          <p:nvGrpSpPr>
            <p:cNvPr id="60" name="Group 59">
              <a:extLst>
                <a:ext uri="{FF2B5EF4-FFF2-40B4-BE49-F238E27FC236}">
                  <a16:creationId xmlns:a16="http://schemas.microsoft.com/office/drawing/2014/main" id="{83F9FD1A-87E7-4380-D375-9FB55CB96F87}"/>
                </a:ext>
              </a:extLst>
            </p:cNvPr>
            <p:cNvGrpSpPr/>
            <p:nvPr/>
          </p:nvGrpSpPr>
          <p:grpSpPr>
            <a:xfrm>
              <a:off x="3511085" y="3028005"/>
              <a:ext cx="2442121" cy="2251469"/>
              <a:chOff x="2624430" y="2586043"/>
              <a:chExt cx="2442121" cy="2251469"/>
            </a:xfrm>
          </p:grpSpPr>
          <p:grpSp>
            <p:nvGrpSpPr>
              <p:cNvPr id="61" name="Group 60">
                <a:extLst>
                  <a:ext uri="{FF2B5EF4-FFF2-40B4-BE49-F238E27FC236}">
                    <a16:creationId xmlns:a16="http://schemas.microsoft.com/office/drawing/2014/main" id="{96FD9CDE-3F61-B101-C25C-88BABEBD6D87}"/>
                  </a:ext>
                </a:extLst>
              </p:cNvPr>
              <p:cNvGrpSpPr/>
              <p:nvPr/>
            </p:nvGrpSpPr>
            <p:grpSpPr>
              <a:xfrm>
                <a:off x="2624430" y="2586043"/>
                <a:ext cx="1507524" cy="2251469"/>
                <a:chOff x="2828683" y="2707240"/>
                <a:chExt cx="1309641" cy="1955934"/>
              </a:xfrm>
            </p:grpSpPr>
            <p:sp>
              <p:nvSpPr>
                <p:cNvPr id="66" name="Rectangle 65">
                  <a:extLst>
                    <a:ext uri="{FF2B5EF4-FFF2-40B4-BE49-F238E27FC236}">
                      <a16:creationId xmlns:a16="http://schemas.microsoft.com/office/drawing/2014/main" id="{D9C56683-1983-09AD-4104-9E4F157BD840}"/>
                    </a:ext>
                  </a:extLst>
                </p:cNvPr>
                <p:cNvSpPr/>
                <p:nvPr/>
              </p:nvSpPr>
              <p:spPr>
                <a:xfrm>
                  <a:off x="2831307" y="2942983"/>
                  <a:ext cx="123824" cy="126448"/>
                </a:xfrm>
                <a:prstGeom prst="rect">
                  <a:avLst/>
                </a:prstGeom>
                <a:solidFill>
                  <a:srgbClr val="F0BE0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Light" panose="020F0302020204030204"/>
                    <a:ea typeface="+mn-ea"/>
                    <a:cs typeface="+mn-cs"/>
                  </a:endParaRPr>
                </a:p>
              </p:txBody>
            </p:sp>
            <p:sp>
              <p:nvSpPr>
                <p:cNvPr id="67" name="Rectangle 66">
                  <a:extLst>
                    <a:ext uri="{FF2B5EF4-FFF2-40B4-BE49-F238E27FC236}">
                      <a16:creationId xmlns:a16="http://schemas.microsoft.com/office/drawing/2014/main" id="{4AD5EF79-5D7C-8808-8B65-2C291E534CE7}"/>
                    </a:ext>
                  </a:extLst>
                </p:cNvPr>
                <p:cNvSpPr/>
                <p:nvPr/>
              </p:nvSpPr>
              <p:spPr>
                <a:xfrm>
                  <a:off x="3424237" y="2707240"/>
                  <a:ext cx="123824" cy="126448"/>
                </a:xfrm>
                <a:prstGeom prst="rect">
                  <a:avLst/>
                </a:prstGeom>
                <a:solidFill>
                  <a:srgbClr val="F0BE0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Light" panose="020F0302020204030204"/>
                    <a:ea typeface="+mn-ea"/>
                    <a:cs typeface="+mn-cs"/>
                  </a:endParaRPr>
                </a:p>
              </p:txBody>
            </p:sp>
            <p:sp>
              <p:nvSpPr>
                <p:cNvPr id="68" name="Rectangle 67">
                  <a:extLst>
                    <a:ext uri="{FF2B5EF4-FFF2-40B4-BE49-F238E27FC236}">
                      <a16:creationId xmlns:a16="http://schemas.microsoft.com/office/drawing/2014/main" id="{AF144243-972C-00B8-BBB9-A8F6C5845292}"/>
                    </a:ext>
                  </a:extLst>
                </p:cNvPr>
                <p:cNvSpPr/>
                <p:nvPr/>
              </p:nvSpPr>
              <p:spPr>
                <a:xfrm>
                  <a:off x="4002869" y="2948815"/>
                  <a:ext cx="123824" cy="126448"/>
                </a:xfrm>
                <a:prstGeom prst="rect">
                  <a:avLst/>
                </a:prstGeom>
                <a:solidFill>
                  <a:srgbClr val="F0BE0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Light" panose="020F0302020204030204"/>
                    <a:ea typeface="+mn-ea"/>
                    <a:cs typeface="+mn-cs"/>
                  </a:endParaRPr>
                </a:p>
              </p:txBody>
            </p:sp>
            <p:sp>
              <p:nvSpPr>
                <p:cNvPr id="69" name="Oval 68">
                  <a:extLst>
                    <a:ext uri="{FF2B5EF4-FFF2-40B4-BE49-F238E27FC236}">
                      <a16:creationId xmlns:a16="http://schemas.microsoft.com/office/drawing/2014/main" id="{1193EB0E-BE7E-78FA-AE71-43D107F000BB}"/>
                    </a:ext>
                  </a:extLst>
                </p:cNvPr>
                <p:cNvSpPr/>
                <p:nvPr/>
              </p:nvSpPr>
              <p:spPr>
                <a:xfrm>
                  <a:off x="3379786" y="3418004"/>
                  <a:ext cx="204788" cy="204788"/>
                </a:xfrm>
                <a:prstGeom prst="ellipse">
                  <a:avLst/>
                </a:prstGeom>
                <a:solidFill>
                  <a:schemeClr val="tx1">
                    <a:lumMod val="50000"/>
                    <a:lumOff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Light" panose="020F0302020204030204"/>
                    <a:ea typeface="+mn-ea"/>
                    <a:cs typeface="+mn-cs"/>
                  </a:endParaRPr>
                </a:p>
              </p:txBody>
            </p:sp>
            <p:sp>
              <p:nvSpPr>
                <p:cNvPr id="70" name="Oval 69">
                  <a:extLst>
                    <a:ext uri="{FF2B5EF4-FFF2-40B4-BE49-F238E27FC236}">
                      <a16:creationId xmlns:a16="http://schemas.microsoft.com/office/drawing/2014/main" id="{D82D1171-42DA-9ADD-CFCC-C7FB9C23B0DF}"/>
                    </a:ext>
                  </a:extLst>
                </p:cNvPr>
                <p:cNvSpPr/>
                <p:nvPr/>
              </p:nvSpPr>
              <p:spPr>
                <a:xfrm>
                  <a:off x="2828683" y="4009589"/>
                  <a:ext cx="126448" cy="126448"/>
                </a:xfrm>
                <a:prstGeom prst="ellipse">
                  <a:avLst/>
                </a:prstGeom>
                <a:solidFill>
                  <a:schemeClr val="accent2">
                    <a:lumMod val="20000"/>
                    <a:lumOff val="8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Light" panose="020F0302020204030204"/>
                    <a:ea typeface="+mn-ea"/>
                    <a:cs typeface="+mn-cs"/>
                  </a:endParaRPr>
                </a:p>
              </p:txBody>
            </p:sp>
            <p:sp>
              <p:nvSpPr>
                <p:cNvPr id="71" name="Oval 70">
                  <a:extLst>
                    <a:ext uri="{FF2B5EF4-FFF2-40B4-BE49-F238E27FC236}">
                      <a16:creationId xmlns:a16="http://schemas.microsoft.com/office/drawing/2014/main" id="{E5252A4B-B74D-1718-3FA7-FB78676BC7B8}"/>
                    </a:ext>
                  </a:extLst>
                </p:cNvPr>
                <p:cNvSpPr/>
                <p:nvPr/>
              </p:nvSpPr>
              <p:spPr>
                <a:xfrm>
                  <a:off x="3219208" y="3800039"/>
                  <a:ext cx="126448" cy="126448"/>
                </a:xfrm>
                <a:prstGeom prst="ellipse">
                  <a:avLst/>
                </a:prstGeom>
                <a:solidFill>
                  <a:schemeClr val="accent2">
                    <a:lumMod val="20000"/>
                    <a:lumOff val="8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Light" panose="020F0302020204030204"/>
                    <a:ea typeface="+mn-ea"/>
                    <a:cs typeface="+mn-cs"/>
                  </a:endParaRPr>
                </a:p>
              </p:txBody>
            </p:sp>
            <p:sp>
              <p:nvSpPr>
                <p:cNvPr id="72" name="Oval 71">
                  <a:extLst>
                    <a:ext uri="{FF2B5EF4-FFF2-40B4-BE49-F238E27FC236}">
                      <a16:creationId xmlns:a16="http://schemas.microsoft.com/office/drawing/2014/main" id="{2334D0A0-ED1C-A6BE-AF78-757CAE3C3FAA}"/>
                    </a:ext>
                  </a:extLst>
                </p:cNvPr>
                <p:cNvSpPr/>
                <p:nvPr/>
              </p:nvSpPr>
              <p:spPr>
                <a:xfrm>
                  <a:off x="3612908" y="3800039"/>
                  <a:ext cx="126448" cy="126448"/>
                </a:xfrm>
                <a:prstGeom prst="ellipse">
                  <a:avLst/>
                </a:prstGeom>
                <a:solidFill>
                  <a:schemeClr val="accent2">
                    <a:lumMod val="20000"/>
                    <a:lumOff val="8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Light" panose="020F0302020204030204"/>
                    <a:ea typeface="+mn-ea"/>
                    <a:cs typeface="+mn-cs"/>
                  </a:endParaRPr>
                </a:p>
              </p:txBody>
            </p:sp>
            <p:sp>
              <p:nvSpPr>
                <p:cNvPr id="73" name="Oval 72">
                  <a:extLst>
                    <a:ext uri="{FF2B5EF4-FFF2-40B4-BE49-F238E27FC236}">
                      <a16:creationId xmlns:a16="http://schemas.microsoft.com/office/drawing/2014/main" id="{81564F2F-D91B-DD3F-A47D-9A96A04C2634}"/>
                    </a:ext>
                  </a:extLst>
                </p:cNvPr>
                <p:cNvSpPr/>
                <p:nvPr/>
              </p:nvSpPr>
              <p:spPr>
                <a:xfrm>
                  <a:off x="4011876" y="4009589"/>
                  <a:ext cx="126448" cy="126448"/>
                </a:xfrm>
                <a:prstGeom prst="ellipse">
                  <a:avLst/>
                </a:prstGeom>
                <a:solidFill>
                  <a:schemeClr val="accent2">
                    <a:lumMod val="20000"/>
                    <a:lumOff val="8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Light" panose="020F0302020204030204"/>
                    <a:ea typeface="+mn-ea"/>
                    <a:cs typeface="+mn-cs"/>
                  </a:endParaRPr>
                </a:p>
              </p:txBody>
            </p:sp>
            <p:sp>
              <p:nvSpPr>
                <p:cNvPr id="74" name="Oval 73">
                  <a:extLst>
                    <a:ext uri="{FF2B5EF4-FFF2-40B4-BE49-F238E27FC236}">
                      <a16:creationId xmlns:a16="http://schemas.microsoft.com/office/drawing/2014/main" id="{A9322C8F-08AF-0673-F15C-CCBB893DE99B}"/>
                    </a:ext>
                  </a:extLst>
                </p:cNvPr>
                <p:cNvSpPr/>
                <p:nvPr/>
              </p:nvSpPr>
              <p:spPr>
                <a:xfrm>
                  <a:off x="3418956" y="4536726"/>
                  <a:ext cx="126448" cy="126448"/>
                </a:xfrm>
                <a:prstGeom prst="ellipse">
                  <a:avLst/>
                </a:prstGeom>
                <a:solidFill>
                  <a:srgbClr val="F0BE0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Light" panose="020F0302020204030204"/>
                    <a:ea typeface="+mn-ea"/>
                    <a:cs typeface="+mn-cs"/>
                  </a:endParaRPr>
                </a:p>
              </p:txBody>
            </p:sp>
            <p:cxnSp>
              <p:nvCxnSpPr>
                <p:cNvPr id="75" name="Straight Connector 74">
                  <a:extLst>
                    <a:ext uri="{FF2B5EF4-FFF2-40B4-BE49-F238E27FC236}">
                      <a16:creationId xmlns:a16="http://schemas.microsoft.com/office/drawing/2014/main" id="{D41792E5-1DCA-6321-CEC6-1A6EB0DB0680}"/>
                    </a:ext>
                  </a:extLst>
                </p:cNvPr>
                <p:cNvCxnSpPr>
                  <a:cxnSpLocks/>
                  <a:stCxn id="66" idx="3"/>
                </p:cNvCxnSpPr>
                <p:nvPr/>
              </p:nvCxnSpPr>
              <p:spPr>
                <a:xfrm>
                  <a:off x="2955131" y="3006207"/>
                  <a:ext cx="1047738" cy="0"/>
                </a:xfrm>
                <a:prstGeom prst="line">
                  <a:avLst/>
                </a:prstGeom>
                <a:noFill/>
                <a:ln w="3175" cap="flat" cmpd="sng" algn="ctr">
                  <a:solidFill>
                    <a:sysClr val="windowText" lastClr="000000">
                      <a:lumMod val="50000"/>
                      <a:lumOff val="50000"/>
                    </a:sysClr>
                  </a:solidFill>
                  <a:prstDash val="solid"/>
                  <a:miter lim="800000"/>
                </a:ln>
                <a:effectLst/>
              </p:spPr>
            </p:cxnSp>
            <p:cxnSp>
              <p:nvCxnSpPr>
                <p:cNvPr id="76" name="Straight Connector 75">
                  <a:extLst>
                    <a:ext uri="{FF2B5EF4-FFF2-40B4-BE49-F238E27FC236}">
                      <a16:creationId xmlns:a16="http://schemas.microsoft.com/office/drawing/2014/main" id="{1D7FEEDD-BD95-5B8A-900E-AA087D09A2BB}"/>
                    </a:ext>
                  </a:extLst>
                </p:cNvPr>
                <p:cNvCxnSpPr>
                  <a:cxnSpLocks/>
                  <a:endCxn id="69" idx="0"/>
                </p:cNvCxnSpPr>
                <p:nvPr/>
              </p:nvCxnSpPr>
              <p:spPr>
                <a:xfrm>
                  <a:off x="3479000" y="2833688"/>
                  <a:ext cx="3180" cy="584316"/>
                </a:xfrm>
                <a:prstGeom prst="line">
                  <a:avLst/>
                </a:prstGeom>
                <a:noFill/>
                <a:ln w="3175" cap="flat" cmpd="sng" algn="ctr">
                  <a:solidFill>
                    <a:sysClr val="windowText" lastClr="000000">
                      <a:lumMod val="50000"/>
                      <a:lumOff val="50000"/>
                    </a:sysClr>
                  </a:solidFill>
                  <a:prstDash val="solid"/>
                  <a:miter lim="800000"/>
                </a:ln>
                <a:effectLst/>
              </p:spPr>
            </p:cxnSp>
            <p:cxnSp>
              <p:nvCxnSpPr>
                <p:cNvPr id="77" name="Straight Connector 76">
                  <a:extLst>
                    <a:ext uri="{FF2B5EF4-FFF2-40B4-BE49-F238E27FC236}">
                      <a16:creationId xmlns:a16="http://schemas.microsoft.com/office/drawing/2014/main" id="{294B3F07-3671-7382-DB34-755EAE7398DA}"/>
                    </a:ext>
                  </a:extLst>
                </p:cNvPr>
                <p:cNvCxnSpPr>
                  <a:cxnSpLocks/>
                  <a:stCxn id="68" idx="1"/>
                  <a:endCxn id="69" idx="7"/>
                </p:cNvCxnSpPr>
                <p:nvPr/>
              </p:nvCxnSpPr>
              <p:spPr>
                <a:xfrm flipH="1">
                  <a:off x="3554583" y="3012039"/>
                  <a:ext cx="448286" cy="435956"/>
                </a:xfrm>
                <a:prstGeom prst="line">
                  <a:avLst/>
                </a:prstGeom>
                <a:noFill/>
                <a:ln w="3175" cap="flat" cmpd="sng" algn="ctr">
                  <a:solidFill>
                    <a:sysClr val="windowText" lastClr="000000">
                      <a:lumMod val="50000"/>
                      <a:lumOff val="50000"/>
                    </a:sysClr>
                  </a:solidFill>
                  <a:prstDash val="solid"/>
                  <a:miter lim="800000"/>
                </a:ln>
                <a:effectLst/>
              </p:spPr>
            </p:cxnSp>
            <p:cxnSp>
              <p:nvCxnSpPr>
                <p:cNvPr id="78" name="Straight Connector 77">
                  <a:extLst>
                    <a:ext uri="{FF2B5EF4-FFF2-40B4-BE49-F238E27FC236}">
                      <a16:creationId xmlns:a16="http://schemas.microsoft.com/office/drawing/2014/main" id="{77516939-34AB-3662-3916-A00746236C95}"/>
                    </a:ext>
                  </a:extLst>
                </p:cNvPr>
                <p:cNvCxnSpPr>
                  <a:cxnSpLocks/>
                  <a:stCxn id="66" idx="3"/>
                  <a:endCxn id="69" idx="1"/>
                </p:cNvCxnSpPr>
                <p:nvPr/>
              </p:nvCxnSpPr>
              <p:spPr>
                <a:xfrm>
                  <a:off x="2955131" y="3006207"/>
                  <a:ext cx="454646" cy="441788"/>
                </a:xfrm>
                <a:prstGeom prst="line">
                  <a:avLst/>
                </a:prstGeom>
                <a:noFill/>
                <a:ln w="3175" cap="flat" cmpd="sng" algn="ctr">
                  <a:solidFill>
                    <a:sysClr val="windowText" lastClr="000000">
                      <a:lumMod val="50000"/>
                      <a:lumOff val="50000"/>
                    </a:sysClr>
                  </a:solidFill>
                  <a:prstDash val="solid"/>
                  <a:miter lim="800000"/>
                </a:ln>
                <a:effectLst/>
              </p:spPr>
            </p:cxnSp>
            <p:cxnSp>
              <p:nvCxnSpPr>
                <p:cNvPr id="79" name="Straight Connector 78">
                  <a:extLst>
                    <a:ext uri="{FF2B5EF4-FFF2-40B4-BE49-F238E27FC236}">
                      <a16:creationId xmlns:a16="http://schemas.microsoft.com/office/drawing/2014/main" id="{34BABB09-6C9E-2C88-2FCF-3FABF53B6EF4}"/>
                    </a:ext>
                  </a:extLst>
                </p:cNvPr>
                <p:cNvCxnSpPr>
                  <a:cxnSpLocks/>
                  <a:stCxn id="66" idx="3"/>
                  <a:endCxn id="67" idx="1"/>
                </p:cNvCxnSpPr>
                <p:nvPr/>
              </p:nvCxnSpPr>
              <p:spPr>
                <a:xfrm flipV="1">
                  <a:off x="2955131" y="2770464"/>
                  <a:ext cx="469106" cy="235743"/>
                </a:xfrm>
                <a:prstGeom prst="line">
                  <a:avLst/>
                </a:prstGeom>
                <a:noFill/>
                <a:ln w="3175" cap="flat" cmpd="sng" algn="ctr">
                  <a:solidFill>
                    <a:sysClr val="windowText" lastClr="000000">
                      <a:lumMod val="50000"/>
                      <a:lumOff val="50000"/>
                    </a:sysClr>
                  </a:solidFill>
                  <a:prstDash val="solid"/>
                  <a:miter lim="800000"/>
                </a:ln>
                <a:effectLst/>
              </p:spPr>
            </p:cxnSp>
            <p:cxnSp>
              <p:nvCxnSpPr>
                <p:cNvPr id="80" name="Straight Connector 79">
                  <a:extLst>
                    <a:ext uri="{FF2B5EF4-FFF2-40B4-BE49-F238E27FC236}">
                      <a16:creationId xmlns:a16="http://schemas.microsoft.com/office/drawing/2014/main" id="{0E393205-A655-D9AA-807F-5DFAAE40A5FB}"/>
                    </a:ext>
                  </a:extLst>
                </p:cNvPr>
                <p:cNvCxnSpPr>
                  <a:cxnSpLocks/>
                  <a:stCxn id="68" idx="1"/>
                  <a:endCxn id="67" idx="3"/>
                </p:cNvCxnSpPr>
                <p:nvPr/>
              </p:nvCxnSpPr>
              <p:spPr>
                <a:xfrm flipH="1" flipV="1">
                  <a:off x="3548061" y="2770464"/>
                  <a:ext cx="454808" cy="241575"/>
                </a:xfrm>
                <a:prstGeom prst="line">
                  <a:avLst/>
                </a:prstGeom>
                <a:noFill/>
                <a:ln w="3175" cap="flat" cmpd="sng" algn="ctr">
                  <a:solidFill>
                    <a:sysClr val="windowText" lastClr="000000">
                      <a:lumMod val="50000"/>
                      <a:lumOff val="50000"/>
                    </a:sysClr>
                  </a:solidFill>
                  <a:prstDash val="solid"/>
                  <a:miter lim="800000"/>
                </a:ln>
                <a:effectLst/>
              </p:spPr>
            </p:cxnSp>
            <p:cxnSp>
              <p:nvCxnSpPr>
                <p:cNvPr id="81" name="Straight Connector 80">
                  <a:extLst>
                    <a:ext uri="{FF2B5EF4-FFF2-40B4-BE49-F238E27FC236}">
                      <a16:creationId xmlns:a16="http://schemas.microsoft.com/office/drawing/2014/main" id="{71E6CE0D-6741-6FDC-2613-AB4DF7020CB5}"/>
                    </a:ext>
                  </a:extLst>
                </p:cNvPr>
                <p:cNvCxnSpPr>
                  <a:cxnSpLocks/>
                  <a:stCxn id="69" idx="5"/>
                  <a:endCxn id="72" idx="0"/>
                </p:cNvCxnSpPr>
                <p:nvPr/>
              </p:nvCxnSpPr>
              <p:spPr>
                <a:xfrm>
                  <a:off x="3554583" y="3592801"/>
                  <a:ext cx="121549" cy="207238"/>
                </a:xfrm>
                <a:prstGeom prst="line">
                  <a:avLst/>
                </a:prstGeom>
                <a:noFill/>
                <a:ln w="3175" cap="flat" cmpd="sng" algn="ctr">
                  <a:solidFill>
                    <a:sysClr val="windowText" lastClr="000000">
                      <a:lumMod val="50000"/>
                      <a:lumOff val="50000"/>
                    </a:sysClr>
                  </a:solidFill>
                  <a:prstDash val="solid"/>
                  <a:miter lim="800000"/>
                </a:ln>
                <a:effectLst/>
              </p:spPr>
            </p:cxnSp>
            <p:cxnSp>
              <p:nvCxnSpPr>
                <p:cNvPr id="82" name="Straight Connector 81">
                  <a:extLst>
                    <a:ext uri="{FF2B5EF4-FFF2-40B4-BE49-F238E27FC236}">
                      <a16:creationId xmlns:a16="http://schemas.microsoft.com/office/drawing/2014/main" id="{0CEFE085-1306-4CEA-1B78-BC673B4C75E3}"/>
                    </a:ext>
                  </a:extLst>
                </p:cNvPr>
                <p:cNvCxnSpPr>
                  <a:cxnSpLocks/>
                  <a:stCxn id="69" idx="3"/>
                  <a:endCxn id="71" idx="0"/>
                </p:cNvCxnSpPr>
                <p:nvPr/>
              </p:nvCxnSpPr>
              <p:spPr>
                <a:xfrm flipH="1">
                  <a:off x="3282432" y="3592801"/>
                  <a:ext cx="127345" cy="207238"/>
                </a:xfrm>
                <a:prstGeom prst="line">
                  <a:avLst/>
                </a:prstGeom>
                <a:noFill/>
                <a:ln w="3175" cap="flat" cmpd="sng" algn="ctr">
                  <a:solidFill>
                    <a:sysClr val="windowText" lastClr="000000">
                      <a:lumMod val="50000"/>
                      <a:lumOff val="50000"/>
                    </a:sysClr>
                  </a:solidFill>
                  <a:prstDash val="solid"/>
                  <a:miter lim="800000"/>
                </a:ln>
                <a:effectLst/>
              </p:spPr>
            </p:cxnSp>
            <p:cxnSp>
              <p:nvCxnSpPr>
                <p:cNvPr id="83" name="Straight Connector 82">
                  <a:extLst>
                    <a:ext uri="{FF2B5EF4-FFF2-40B4-BE49-F238E27FC236}">
                      <a16:creationId xmlns:a16="http://schemas.microsoft.com/office/drawing/2014/main" id="{3EF31DD6-B163-5129-4275-B5BC21D5F5B9}"/>
                    </a:ext>
                  </a:extLst>
                </p:cNvPr>
                <p:cNvCxnSpPr>
                  <a:cxnSpLocks/>
                  <a:stCxn id="69" idx="5"/>
                  <a:endCxn id="73" idx="1"/>
                </p:cNvCxnSpPr>
                <p:nvPr/>
              </p:nvCxnSpPr>
              <p:spPr>
                <a:xfrm>
                  <a:off x="3554583" y="3592801"/>
                  <a:ext cx="475811" cy="435306"/>
                </a:xfrm>
                <a:prstGeom prst="line">
                  <a:avLst/>
                </a:prstGeom>
                <a:noFill/>
                <a:ln w="3175" cap="flat" cmpd="sng" algn="ctr">
                  <a:solidFill>
                    <a:sysClr val="windowText" lastClr="000000">
                      <a:lumMod val="50000"/>
                      <a:lumOff val="50000"/>
                    </a:sysClr>
                  </a:solidFill>
                  <a:prstDash val="solid"/>
                  <a:miter lim="800000"/>
                </a:ln>
                <a:effectLst/>
              </p:spPr>
            </p:cxnSp>
            <p:cxnSp>
              <p:nvCxnSpPr>
                <p:cNvPr id="84" name="Straight Connector 83">
                  <a:extLst>
                    <a:ext uri="{FF2B5EF4-FFF2-40B4-BE49-F238E27FC236}">
                      <a16:creationId xmlns:a16="http://schemas.microsoft.com/office/drawing/2014/main" id="{F13830F2-4E7E-3475-AC7E-CE5D5D798502}"/>
                    </a:ext>
                  </a:extLst>
                </p:cNvPr>
                <p:cNvCxnSpPr>
                  <a:cxnSpLocks/>
                  <a:stCxn id="69" idx="3"/>
                  <a:endCxn id="70" idx="7"/>
                </p:cNvCxnSpPr>
                <p:nvPr/>
              </p:nvCxnSpPr>
              <p:spPr>
                <a:xfrm flipH="1">
                  <a:off x="2936613" y="3592801"/>
                  <a:ext cx="473164" cy="435306"/>
                </a:xfrm>
                <a:prstGeom prst="line">
                  <a:avLst/>
                </a:prstGeom>
                <a:noFill/>
                <a:ln w="3175" cap="flat" cmpd="sng" algn="ctr">
                  <a:solidFill>
                    <a:sysClr val="windowText" lastClr="000000">
                      <a:lumMod val="50000"/>
                      <a:lumOff val="50000"/>
                    </a:sysClr>
                  </a:solidFill>
                  <a:prstDash val="solid"/>
                  <a:miter lim="800000"/>
                </a:ln>
                <a:effectLst/>
              </p:spPr>
            </p:cxnSp>
            <p:cxnSp>
              <p:nvCxnSpPr>
                <p:cNvPr id="85" name="Straight Connector 84">
                  <a:extLst>
                    <a:ext uri="{FF2B5EF4-FFF2-40B4-BE49-F238E27FC236}">
                      <a16:creationId xmlns:a16="http://schemas.microsoft.com/office/drawing/2014/main" id="{91A48A1D-FE05-2507-E1F6-11D509444A9A}"/>
                    </a:ext>
                  </a:extLst>
                </p:cNvPr>
                <p:cNvCxnSpPr>
                  <a:cxnSpLocks/>
                  <a:stCxn id="71" idx="6"/>
                  <a:endCxn id="72" idx="2"/>
                </p:cNvCxnSpPr>
                <p:nvPr/>
              </p:nvCxnSpPr>
              <p:spPr>
                <a:xfrm>
                  <a:off x="3345656" y="3863263"/>
                  <a:ext cx="267252" cy="0"/>
                </a:xfrm>
                <a:prstGeom prst="line">
                  <a:avLst/>
                </a:prstGeom>
                <a:noFill/>
                <a:ln w="3175" cap="flat" cmpd="sng" algn="ctr">
                  <a:solidFill>
                    <a:sysClr val="windowText" lastClr="000000">
                      <a:lumMod val="50000"/>
                      <a:lumOff val="50000"/>
                    </a:sysClr>
                  </a:solidFill>
                  <a:prstDash val="solid"/>
                  <a:miter lim="800000"/>
                </a:ln>
                <a:effectLst/>
              </p:spPr>
            </p:cxnSp>
            <p:cxnSp>
              <p:nvCxnSpPr>
                <p:cNvPr id="86" name="Straight Connector 85">
                  <a:extLst>
                    <a:ext uri="{FF2B5EF4-FFF2-40B4-BE49-F238E27FC236}">
                      <a16:creationId xmlns:a16="http://schemas.microsoft.com/office/drawing/2014/main" id="{0F4AA525-548D-C353-F9A8-4E9C72AC17B3}"/>
                    </a:ext>
                  </a:extLst>
                </p:cNvPr>
                <p:cNvCxnSpPr>
                  <a:cxnSpLocks/>
                  <a:stCxn id="70" idx="6"/>
                  <a:endCxn id="72" idx="3"/>
                </p:cNvCxnSpPr>
                <p:nvPr/>
              </p:nvCxnSpPr>
              <p:spPr>
                <a:xfrm flipV="1">
                  <a:off x="2955131" y="3907969"/>
                  <a:ext cx="676295" cy="164844"/>
                </a:xfrm>
                <a:prstGeom prst="line">
                  <a:avLst/>
                </a:prstGeom>
                <a:noFill/>
                <a:ln w="3175" cap="flat" cmpd="sng" algn="ctr">
                  <a:solidFill>
                    <a:sysClr val="windowText" lastClr="000000">
                      <a:lumMod val="50000"/>
                      <a:lumOff val="50000"/>
                    </a:sysClr>
                  </a:solidFill>
                  <a:prstDash val="solid"/>
                  <a:miter lim="800000"/>
                </a:ln>
                <a:effectLst/>
              </p:spPr>
            </p:cxnSp>
            <p:cxnSp>
              <p:nvCxnSpPr>
                <p:cNvPr id="87" name="Straight Connector 86">
                  <a:extLst>
                    <a:ext uri="{FF2B5EF4-FFF2-40B4-BE49-F238E27FC236}">
                      <a16:creationId xmlns:a16="http://schemas.microsoft.com/office/drawing/2014/main" id="{43EE860B-AF57-DEA5-BB1C-27B74C65F41E}"/>
                    </a:ext>
                  </a:extLst>
                </p:cNvPr>
                <p:cNvCxnSpPr>
                  <a:cxnSpLocks/>
                  <a:stCxn id="73" idx="2"/>
                  <a:endCxn id="71" idx="5"/>
                </p:cNvCxnSpPr>
                <p:nvPr/>
              </p:nvCxnSpPr>
              <p:spPr>
                <a:xfrm flipH="1" flipV="1">
                  <a:off x="3327138" y="3907969"/>
                  <a:ext cx="684738" cy="164844"/>
                </a:xfrm>
                <a:prstGeom prst="line">
                  <a:avLst/>
                </a:prstGeom>
                <a:noFill/>
                <a:ln w="3175" cap="flat" cmpd="sng" algn="ctr">
                  <a:solidFill>
                    <a:sysClr val="windowText" lastClr="000000">
                      <a:lumMod val="50000"/>
                      <a:lumOff val="50000"/>
                    </a:sysClr>
                  </a:solidFill>
                  <a:prstDash val="solid"/>
                  <a:miter lim="800000"/>
                </a:ln>
                <a:effectLst/>
              </p:spPr>
            </p:cxnSp>
            <p:cxnSp>
              <p:nvCxnSpPr>
                <p:cNvPr id="88" name="Straight Connector 87">
                  <a:extLst>
                    <a:ext uri="{FF2B5EF4-FFF2-40B4-BE49-F238E27FC236}">
                      <a16:creationId xmlns:a16="http://schemas.microsoft.com/office/drawing/2014/main" id="{D35E1B64-30A6-9573-6875-E2B188E79D5E}"/>
                    </a:ext>
                  </a:extLst>
                </p:cNvPr>
                <p:cNvCxnSpPr>
                  <a:cxnSpLocks/>
                  <a:stCxn id="74" idx="0"/>
                  <a:endCxn id="69" idx="4"/>
                </p:cNvCxnSpPr>
                <p:nvPr/>
              </p:nvCxnSpPr>
              <p:spPr>
                <a:xfrm flipV="1">
                  <a:off x="3482180" y="3622792"/>
                  <a:ext cx="0" cy="913934"/>
                </a:xfrm>
                <a:prstGeom prst="line">
                  <a:avLst/>
                </a:prstGeom>
                <a:noFill/>
                <a:ln w="3175" cap="flat" cmpd="sng" algn="ctr">
                  <a:solidFill>
                    <a:sysClr val="windowText" lastClr="000000">
                      <a:lumMod val="50000"/>
                      <a:lumOff val="50000"/>
                    </a:sysClr>
                  </a:solidFill>
                  <a:prstDash val="solid"/>
                  <a:miter lim="800000"/>
                </a:ln>
                <a:effectLst/>
              </p:spPr>
            </p:cxnSp>
            <p:cxnSp>
              <p:nvCxnSpPr>
                <p:cNvPr id="89" name="Straight Connector 88">
                  <a:extLst>
                    <a:ext uri="{FF2B5EF4-FFF2-40B4-BE49-F238E27FC236}">
                      <a16:creationId xmlns:a16="http://schemas.microsoft.com/office/drawing/2014/main" id="{B8C5CD5B-7827-6074-61DA-417F007E8730}"/>
                    </a:ext>
                  </a:extLst>
                </p:cNvPr>
                <p:cNvCxnSpPr>
                  <a:cxnSpLocks/>
                  <a:stCxn id="74" idx="6"/>
                  <a:endCxn id="73" idx="4"/>
                </p:cNvCxnSpPr>
                <p:nvPr/>
              </p:nvCxnSpPr>
              <p:spPr>
                <a:xfrm flipV="1">
                  <a:off x="3545404" y="4136037"/>
                  <a:ext cx="529696" cy="463913"/>
                </a:xfrm>
                <a:prstGeom prst="line">
                  <a:avLst/>
                </a:prstGeom>
                <a:noFill/>
                <a:ln w="3175" cap="flat" cmpd="sng" algn="ctr">
                  <a:solidFill>
                    <a:sysClr val="windowText" lastClr="000000">
                      <a:lumMod val="50000"/>
                      <a:lumOff val="50000"/>
                    </a:sysClr>
                  </a:solidFill>
                  <a:prstDash val="solid"/>
                  <a:miter lim="800000"/>
                </a:ln>
                <a:effectLst/>
              </p:spPr>
            </p:cxnSp>
            <p:cxnSp>
              <p:nvCxnSpPr>
                <p:cNvPr id="90" name="Straight Connector 89">
                  <a:extLst>
                    <a:ext uri="{FF2B5EF4-FFF2-40B4-BE49-F238E27FC236}">
                      <a16:creationId xmlns:a16="http://schemas.microsoft.com/office/drawing/2014/main" id="{BCE25DBD-94C7-DE02-7F5E-456339DECEB9}"/>
                    </a:ext>
                  </a:extLst>
                </p:cNvPr>
                <p:cNvCxnSpPr>
                  <a:cxnSpLocks/>
                  <a:stCxn id="74" idx="2"/>
                  <a:endCxn id="70" idx="4"/>
                </p:cNvCxnSpPr>
                <p:nvPr/>
              </p:nvCxnSpPr>
              <p:spPr>
                <a:xfrm flipH="1" flipV="1">
                  <a:off x="2891907" y="4136037"/>
                  <a:ext cx="527049" cy="463913"/>
                </a:xfrm>
                <a:prstGeom prst="line">
                  <a:avLst/>
                </a:prstGeom>
                <a:noFill/>
                <a:ln w="3175" cap="flat" cmpd="sng" algn="ctr">
                  <a:solidFill>
                    <a:sysClr val="windowText" lastClr="000000">
                      <a:lumMod val="50000"/>
                      <a:lumOff val="50000"/>
                    </a:sysClr>
                  </a:solidFill>
                  <a:prstDash val="solid"/>
                  <a:miter lim="800000"/>
                </a:ln>
                <a:effectLst/>
              </p:spPr>
            </p:cxnSp>
          </p:grpSp>
          <p:sp>
            <p:nvSpPr>
              <p:cNvPr id="62" name="TextBox 61">
                <a:extLst>
                  <a:ext uri="{FF2B5EF4-FFF2-40B4-BE49-F238E27FC236}">
                    <a16:creationId xmlns:a16="http://schemas.microsoft.com/office/drawing/2014/main" id="{F3826561-3AD1-7CEA-E530-761A72770223}"/>
                  </a:ext>
                </a:extLst>
              </p:cNvPr>
              <p:cNvSpPr txBox="1"/>
              <p:nvPr/>
            </p:nvSpPr>
            <p:spPr>
              <a:xfrm>
                <a:off x="4207696" y="2805022"/>
                <a:ext cx="567216" cy="184666"/>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600" b="0" i="0" u="none" strike="noStrike" kern="0" cap="none" spc="0" normalizeH="0" baseline="0" noProof="0" dirty="0">
                    <a:ln>
                      <a:noFill/>
                    </a:ln>
                    <a:solidFill>
                      <a:prstClr val="black"/>
                    </a:solidFill>
                    <a:effectLst/>
                    <a:uLnTx/>
                    <a:uFillTx/>
                    <a:latin typeface="Calibri Light" panose="020F0302020204030204"/>
                  </a:rPr>
                  <a:t>Suppliers</a:t>
                </a:r>
              </a:p>
            </p:txBody>
          </p:sp>
          <p:sp>
            <p:nvSpPr>
              <p:cNvPr id="63" name="TextBox 62">
                <a:extLst>
                  <a:ext uri="{FF2B5EF4-FFF2-40B4-BE49-F238E27FC236}">
                    <a16:creationId xmlns:a16="http://schemas.microsoft.com/office/drawing/2014/main" id="{74758036-6E19-7C59-DD3D-C3D6CA05BB5E}"/>
                  </a:ext>
                </a:extLst>
              </p:cNvPr>
              <p:cNvSpPr txBox="1"/>
              <p:nvPr/>
            </p:nvSpPr>
            <p:spPr>
              <a:xfrm>
                <a:off x="4207696" y="3419535"/>
                <a:ext cx="567216" cy="184666"/>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600" b="0" i="0" u="none" strike="noStrike" kern="0" cap="none" spc="0" normalizeH="0" baseline="0" noProof="0" dirty="0">
                    <a:ln>
                      <a:noFill/>
                    </a:ln>
                    <a:solidFill>
                      <a:prstClr val="black"/>
                    </a:solidFill>
                    <a:effectLst/>
                    <a:uLnTx/>
                    <a:uFillTx/>
                    <a:latin typeface="Calibri Light" panose="020F0302020204030204"/>
                  </a:rPr>
                  <a:t>Core Firm</a:t>
                </a:r>
              </a:p>
            </p:txBody>
          </p:sp>
          <p:sp>
            <p:nvSpPr>
              <p:cNvPr id="64" name="TextBox 63">
                <a:extLst>
                  <a:ext uri="{FF2B5EF4-FFF2-40B4-BE49-F238E27FC236}">
                    <a16:creationId xmlns:a16="http://schemas.microsoft.com/office/drawing/2014/main" id="{26A2CC81-CD39-B6F8-4107-BEDB1AD2DA80}"/>
                  </a:ext>
                </a:extLst>
              </p:cNvPr>
              <p:cNvSpPr txBox="1"/>
              <p:nvPr/>
            </p:nvSpPr>
            <p:spPr>
              <a:xfrm>
                <a:off x="4207696" y="4060410"/>
                <a:ext cx="858855" cy="184666"/>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600" b="0" i="0" u="none" strike="noStrike" kern="0" cap="none" spc="0" normalizeH="0" baseline="0" noProof="0" dirty="0">
                    <a:ln>
                      <a:noFill/>
                    </a:ln>
                    <a:solidFill>
                      <a:prstClr val="black"/>
                    </a:solidFill>
                    <a:effectLst/>
                    <a:uLnTx/>
                    <a:uFillTx/>
                    <a:latin typeface="Calibri Light" panose="020F0302020204030204"/>
                  </a:rPr>
                  <a:t>Complementors</a:t>
                </a:r>
              </a:p>
            </p:txBody>
          </p:sp>
          <p:sp>
            <p:nvSpPr>
              <p:cNvPr id="65" name="TextBox 64">
                <a:extLst>
                  <a:ext uri="{FF2B5EF4-FFF2-40B4-BE49-F238E27FC236}">
                    <a16:creationId xmlns:a16="http://schemas.microsoft.com/office/drawing/2014/main" id="{2600A170-0105-1206-1C68-D9793C8372A8}"/>
                  </a:ext>
                </a:extLst>
              </p:cNvPr>
              <p:cNvSpPr txBox="1"/>
              <p:nvPr/>
            </p:nvSpPr>
            <p:spPr>
              <a:xfrm>
                <a:off x="4207696" y="4619221"/>
                <a:ext cx="858855" cy="184666"/>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600" b="0" i="0" u="none" strike="noStrike" kern="0" cap="none" spc="0" normalizeH="0" baseline="0" noProof="0" dirty="0">
                    <a:ln>
                      <a:noFill/>
                    </a:ln>
                    <a:solidFill>
                      <a:prstClr val="black"/>
                    </a:solidFill>
                    <a:effectLst/>
                    <a:uLnTx/>
                    <a:uFillTx/>
                    <a:latin typeface="Calibri Light" panose="020F0302020204030204"/>
                  </a:rPr>
                  <a:t>(Customers)</a:t>
                </a:r>
              </a:p>
            </p:txBody>
          </p:sp>
        </p:grpSp>
        <p:sp>
          <p:nvSpPr>
            <p:cNvPr id="91" name="TextBox 90">
              <a:extLst>
                <a:ext uri="{FF2B5EF4-FFF2-40B4-BE49-F238E27FC236}">
                  <a16:creationId xmlns:a16="http://schemas.microsoft.com/office/drawing/2014/main" id="{90B225EC-83D6-04A4-51E5-87615C2CF229}"/>
                </a:ext>
              </a:extLst>
            </p:cNvPr>
            <p:cNvSpPr txBox="1"/>
            <p:nvPr/>
          </p:nvSpPr>
          <p:spPr>
            <a:xfrm>
              <a:off x="5690369" y="3161036"/>
              <a:ext cx="631538" cy="184666"/>
            </a:xfrm>
            <a:prstGeom prst="rect">
              <a:avLst/>
            </a:prstGeom>
            <a:noFill/>
          </p:spPr>
          <p:txBody>
            <a:bodyPr wrap="square" rtlCol="0">
              <a:spAutoFit/>
            </a:bodyPr>
            <a:lstStyle/>
            <a:p>
              <a:pPr algn="r" rtl="1"/>
              <a:r>
                <a:rPr lang="en-US" sz="600" dirty="0">
                  <a:solidFill>
                    <a:prstClr val="black"/>
                  </a:solidFill>
                  <a:latin typeface="Calibri Light" panose="020F0302020204030204"/>
                </a:rPr>
                <a:t>Producers</a:t>
              </a:r>
            </a:p>
          </p:txBody>
        </p:sp>
        <p:sp>
          <p:nvSpPr>
            <p:cNvPr id="92" name="TextBox 91">
              <a:extLst>
                <a:ext uri="{FF2B5EF4-FFF2-40B4-BE49-F238E27FC236}">
                  <a16:creationId xmlns:a16="http://schemas.microsoft.com/office/drawing/2014/main" id="{536B1B53-CBBF-0574-1D27-722D915D854F}"/>
                </a:ext>
              </a:extLst>
            </p:cNvPr>
            <p:cNvSpPr txBox="1"/>
            <p:nvPr/>
          </p:nvSpPr>
          <p:spPr>
            <a:xfrm>
              <a:off x="5690369" y="5071719"/>
              <a:ext cx="631538" cy="184666"/>
            </a:xfrm>
            <a:prstGeom prst="rect">
              <a:avLst/>
            </a:prstGeom>
            <a:noFill/>
          </p:spPr>
          <p:txBody>
            <a:bodyPr wrap="square" rtlCol="0">
              <a:spAutoFit/>
            </a:bodyPr>
            <a:lstStyle/>
            <a:p>
              <a:pPr algn="r" rtl="1"/>
              <a:r>
                <a:rPr lang="en-US" sz="600" dirty="0">
                  <a:solidFill>
                    <a:prstClr val="black"/>
                  </a:solidFill>
                  <a:latin typeface="Calibri Light" panose="020F0302020204030204"/>
                </a:rPr>
                <a:t>Customers</a:t>
              </a:r>
            </a:p>
          </p:txBody>
        </p:sp>
        <p:cxnSp>
          <p:nvCxnSpPr>
            <p:cNvPr id="93" name="Straight Connector 92">
              <a:extLst>
                <a:ext uri="{FF2B5EF4-FFF2-40B4-BE49-F238E27FC236}">
                  <a16:creationId xmlns:a16="http://schemas.microsoft.com/office/drawing/2014/main" id="{FFAFCA3A-BB9C-17DB-4F83-6747E34C94B8}"/>
                </a:ext>
              </a:extLst>
            </p:cNvPr>
            <p:cNvCxnSpPr>
              <a:cxnSpLocks/>
            </p:cNvCxnSpPr>
            <p:nvPr/>
          </p:nvCxnSpPr>
          <p:spPr>
            <a:xfrm flipV="1">
              <a:off x="5758788" y="3005157"/>
              <a:ext cx="0" cy="2357730"/>
            </a:xfrm>
            <a:prstGeom prst="line">
              <a:avLst/>
            </a:prstGeom>
            <a:noFill/>
            <a:ln w="6350" cap="flat" cmpd="sng" algn="ctr">
              <a:solidFill>
                <a:schemeClr val="bg1"/>
              </a:solidFill>
              <a:prstDash val="lgDash"/>
              <a:miter lim="800000"/>
            </a:ln>
            <a:effectLst/>
          </p:spPr>
        </p:cxnSp>
        <p:sp>
          <p:nvSpPr>
            <p:cNvPr id="94" name="TextBox 93">
              <a:extLst>
                <a:ext uri="{FF2B5EF4-FFF2-40B4-BE49-F238E27FC236}">
                  <a16:creationId xmlns:a16="http://schemas.microsoft.com/office/drawing/2014/main" id="{10686BC2-0FCD-86DF-8890-F8B7FFDA66BF}"/>
                </a:ext>
              </a:extLst>
            </p:cNvPr>
            <p:cNvSpPr txBox="1"/>
            <p:nvPr/>
          </p:nvSpPr>
          <p:spPr>
            <a:xfrm>
              <a:off x="3977759" y="2643380"/>
              <a:ext cx="1129414" cy="200055"/>
            </a:xfrm>
            <a:prstGeom prst="rect">
              <a:avLst/>
            </a:prstGeom>
            <a:noFill/>
          </p:spPr>
          <p:txBody>
            <a:bodyPr wrap="square" rtlCol="0">
              <a:spAutoFit/>
            </a:bodyPr>
            <a:lstStyle/>
            <a:p>
              <a:pPr algn="ctr"/>
              <a:r>
                <a:rPr lang="en-US" sz="700" b="1" dirty="0">
                  <a:solidFill>
                    <a:schemeClr val="tx1">
                      <a:lumMod val="75000"/>
                      <a:lumOff val="25000"/>
                    </a:schemeClr>
                  </a:solidFill>
                  <a:latin typeface="Calibri Light" panose="020F0302020204030204"/>
                </a:rPr>
                <a:t>Solution Ecosystem</a:t>
              </a:r>
            </a:p>
          </p:txBody>
        </p:sp>
        <p:sp>
          <p:nvSpPr>
            <p:cNvPr id="95" name="Right Bracket 94">
              <a:extLst>
                <a:ext uri="{FF2B5EF4-FFF2-40B4-BE49-F238E27FC236}">
                  <a16:creationId xmlns:a16="http://schemas.microsoft.com/office/drawing/2014/main" id="{42B42167-3107-5799-FE15-A16773CD50D0}"/>
                </a:ext>
              </a:extLst>
            </p:cNvPr>
            <p:cNvSpPr/>
            <p:nvPr/>
          </p:nvSpPr>
          <p:spPr>
            <a:xfrm rot="16200000">
              <a:off x="4486743" y="1775935"/>
              <a:ext cx="111447" cy="2305113"/>
            </a:xfrm>
            <a:prstGeom prst="rightBracket">
              <a:avLst/>
            </a:prstGeom>
            <a:noFill/>
            <a:ln w="3175" cap="flat" cmpd="sng" algn="ctr">
              <a:solidFill>
                <a:schemeClr val="bg1">
                  <a:lumMod val="85000"/>
                </a:schemeClr>
              </a:solidFill>
              <a:prstDash val="solid"/>
              <a:miter lim="800000"/>
            </a:ln>
            <a:effectLst/>
          </p:spPr>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96" name="TextBox 95">
              <a:extLst>
                <a:ext uri="{FF2B5EF4-FFF2-40B4-BE49-F238E27FC236}">
                  <a16:creationId xmlns:a16="http://schemas.microsoft.com/office/drawing/2014/main" id="{75D0DCA1-3292-CEB2-05E5-C322F8FA2D73}"/>
                </a:ext>
              </a:extLst>
            </p:cNvPr>
            <p:cNvSpPr txBox="1"/>
            <p:nvPr/>
          </p:nvSpPr>
          <p:spPr>
            <a:xfrm>
              <a:off x="6300464" y="2651825"/>
              <a:ext cx="1203877" cy="200055"/>
            </a:xfrm>
            <a:prstGeom prst="rect">
              <a:avLst/>
            </a:prstGeom>
            <a:noFill/>
          </p:spPr>
          <p:txBody>
            <a:bodyPr wrap="square" rtlCol="0">
              <a:spAutoFit/>
            </a:bodyPr>
            <a:lstStyle>
              <a:defPPr>
                <a:defRPr lang="en-US"/>
              </a:defPPr>
              <a:lvl1pPr algn="ctr">
                <a:defRPr sz="700" b="1">
                  <a:latin typeface="+mj-lt"/>
                </a:defRPr>
              </a:lvl1pPr>
            </a:lstStyle>
            <a:p>
              <a:r>
                <a:rPr lang="en-US" dirty="0">
                  <a:solidFill>
                    <a:schemeClr val="tx1">
                      <a:lumMod val="75000"/>
                      <a:lumOff val="25000"/>
                    </a:schemeClr>
                  </a:solidFill>
                  <a:latin typeface="Calibri Light" panose="020F0302020204030204"/>
                </a:rPr>
                <a:t>Transaction Ecosystem</a:t>
              </a:r>
            </a:p>
          </p:txBody>
        </p:sp>
        <p:sp>
          <p:nvSpPr>
            <p:cNvPr id="97" name="Right Bracket 96">
              <a:extLst>
                <a:ext uri="{FF2B5EF4-FFF2-40B4-BE49-F238E27FC236}">
                  <a16:creationId xmlns:a16="http://schemas.microsoft.com/office/drawing/2014/main" id="{E97CBF95-ED5B-E332-3C38-6C508DA2A49C}"/>
                </a:ext>
              </a:extLst>
            </p:cNvPr>
            <p:cNvSpPr/>
            <p:nvPr/>
          </p:nvSpPr>
          <p:spPr>
            <a:xfrm rot="16200000">
              <a:off x="6846679" y="1849521"/>
              <a:ext cx="111447" cy="2157754"/>
            </a:xfrm>
            <a:prstGeom prst="rightBracket">
              <a:avLst/>
            </a:prstGeom>
            <a:noFill/>
            <a:ln w="3175" cap="flat" cmpd="sng" algn="ctr">
              <a:solidFill>
                <a:schemeClr val="bg1">
                  <a:lumMod val="85000"/>
                </a:schemeClr>
              </a:solidFill>
              <a:prstDash val="solid"/>
              <a:miter lim="800000"/>
            </a:ln>
            <a:effectLst/>
          </p:spPr>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108" name="Isosceles Triangle 59">
              <a:extLst>
                <a:ext uri="{FF2B5EF4-FFF2-40B4-BE49-F238E27FC236}">
                  <a16:creationId xmlns:a16="http://schemas.microsoft.com/office/drawing/2014/main" id="{AAA356D9-BF6F-C64E-3E3E-5953DD7E0D3D}"/>
                </a:ext>
              </a:extLst>
            </p:cNvPr>
            <p:cNvSpPr/>
            <p:nvPr/>
          </p:nvSpPr>
          <p:spPr>
            <a:xfrm rot="16200000">
              <a:off x="2603465" y="4108841"/>
              <a:ext cx="1309808" cy="147960"/>
            </a:xfrm>
            <a:prstGeom prst="triangle">
              <a:avLst/>
            </a:prstGeom>
            <a:solidFill>
              <a:srgbClr val="F0BE0F">
                <a:alpha val="37000"/>
              </a:srgbClr>
            </a:solidFill>
            <a:ln w="12700" cap="flat" cmpd="sng" algn="ctr">
              <a:noFill/>
              <a:prstDash val="solid"/>
              <a:miter lim="800000"/>
            </a:ln>
            <a:effectLst/>
          </p:spPr>
          <p:txBody>
            <a:bodyPr rtlCol="0" anchor="ctr"/>
            <a:lstStyle/>
            <a:p>
              <a:pPr algn="ctr" defTabSz="914400" rtl="1"/>
              <a:endParaRPr lang="en-US" kern="0">
                <a:solidFill>
                  <a:prstClr val="white"/>
                </a:solidFill>
                <a:latin typeface="Calibri" panose="020F0502020204030204"/>
              </a:endParaRPr>
            </a:p>
          </p:txBody>
        </p:sp>
        <p:sp>
          <p:nvSpPr>
            <p:cNvPr id="109" name="Isosceles Triangle 59">
              <a:extLst>
                <a:ext uri="{FF2B5EF4-FFF2-40B4-BE49-F238E27FC236}">
                  <a16:creationId xmlns:a16="http://schemas.microsoft.com/office/drawing/2014/main" id="{1EBD612A-42BC-964D-D6F0-5180F38A778D}"/>
                </a:ext>
              </a:extLst>
            </p:cNvPr>
            <p:cNvSpPr/>
            <p:nvPr/>
          </p:nvSpPr>
          <p:spPr>
            <a:xfrm rot="5400000">
              <a:off x="7462407" y="4108841"/>
              <a:ext cx="1309808" cy="147960"/>
            </a:xfrm>
            <a:prstGeom prst="triangle">
              <a:avLst/>
            </a:prstGeom>
            <a:solidFill>
              <a:srgbClr val="F0BE0F">
                <a:alpha val="37000"/>
              </a:srgbClr>
            </a:solidFill>
            <a:ln w="12700" cap="flat" cmpd="sng" algn="ctr">
              <a:noFill/>
              <a:prstDash val="solid"/>
              <a:miter lim="800000"/>
            </a:ln>
            <a:effectLst/>
          </p:spPr>
          <p:txBody>
            <a:bodyPr rtlCol="0" anchor="ctr"/>
            <a:lstStyle/>
            <a:p>
              <a:pPr algn="ctr" defTabSz="914400" rtl="1"/>
              <a:endParaRPr lang="en-US" kern="0" dirty="0">
                <a:solidFill>
                  <a:prstClr val="white"/>
                </a:solidFill>
                <a:latin typeface="Calibri" panose="020F0502020204030204"/>
              </a:endParaRPr>
            </a:p>
          </p:txBody>
        </p:sp>
      </p:grpSp>
      <p:sp>
        <p:nvSpPr>
          <p:cNvPr id="110" name="Isosceles Triangle 59">
            <a:extLst>
              <a:ext uri="{FF2B5EF4-FFF2-40B4-BE49-F238E27FC236}">
                <a16:creationId xmlns:a16="http://schemas.microsoft.com/office/drawing/2014/main" id="{A55D0016-8D5B-549B-AED8-4B5F3A02C7C0}"/>
              </a:ext>
            </a:extLst>
          </p:cNvPr>
          <p:cNvSpPr/>
          <p:nvPr/>
        </p:nvSpPr>
        <p:spPr>
          <a:xfrm rot="10800000">
            <a:off x="1998270" y="5343763"/>
            <a:ext cx="2696906" cy="190221"/>
          </a:xfrm>
          <a:prstGeom prst="triangle">
            <a:avLst/>
          </a:prstGeom>
          <a:solidFill>
            <a:schemeClr val="bg1">
              <a:lumMod val="85000"/>
              <a:alpha val="60000"/>
            </a:schemeClr>
          </a:solidFill>
          <a:ln w="12700" cap="flat" cmpd="sng" algn="ctr">
            <a:noFill/>
            <a:prstDash val="solid"/>
            <a:miter lim="800000"/>
          </a:ln>
          <a:effectLst/>
        </p:spPr>
        <p:txBody>
          <a:bodyPr rtlCol="0" anchor="ctr"/>
          <a:lstStyle/>
          <a:p>
            <a:pPr algn="ctr" defTabSz="914400" rtl="1"/>
            <a:endParaRPr lang="en-US" kern="0">
              <a:solidFill>
                <a:prstClr val="white"/>
              </a:solidFill>
              <a:latin typeface="Calibri" panose="020F0502020204030204"/>
            </a:endParaRPr>
          </a:p>
        </p:txBody>
      </p:sp>
      <p:sp>
        <p:nvSpPr>
          <p:cNvPr id="6" name="Rectangle: Rounded Corners 5">
            <a:extLst>
              <a:ext uri="{FF2B5EF4-FFF2-40B4-BE49-F238E27FC236}">
                <a16:creationId xmlns:a16="http://schemas.microsoft.com/office/drawing/2014/main" id="{D5FD6F19-8546-028F-FC0B-4E8AD631CBCC}"/>
              </a:ext>
            </a:extLst>
          </p:cNvPr>
          <p:cNvSpPr/>
          <p:nvPr/>
        </p:nvSpPr>
        <p:spPr>
          <a:xfrm>
            <a:off x="533440" y="1342060"/>
            <a:ext cx="10710133" cy="640602"/>
          </a:xfrm>
          <a:prstGeom prst="roundRect">
            <a:avLst>
              <a:gd name="adj" fmla="val 8669"/>
            </a:avLst>
          </a:prstGeom>
          <a:solidFill>
            <a:srgbClr val="F0BE0F">
              <a:alpha val="2000"/>
            </a:srgb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هدف یک اکوسیستم راه‌حل - محور ایجاد یک راه‌حل منسجم است. </a:t>
            </a:r>
            <a:r>
              <a:rPr kumimoji="0" lang="fa-IR" sz="900" b="1"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شرکت اصلی (اکوسیستم فرصت ایران)، سازمان دهنده‌ای است که باید نیازهای کلیدی و حیاتی مشتریان  را در زمان مناسب شناسایی و هماهنگ کند</a:t>
            </a:r>
            <a:r>
              <a:rPr kumimoji="0" lang="fa-IR" sz="9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a:t>
            </a:r>
            <a:r>
              <a:rPr kumimoji="0" lang="fa-IR" sz="900" b="1"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بهبود مستمر ارتباطات را همواره داشته باشد</a:t>
            </a:r>
            <a:r>
              <a:rPr kumimoji="0" lang="fa-IR" sz="9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a:t>
            </a:r>
            <a:r>
              <a:rPr kumimoji="0" lang="fa-IR" sz="900" b="1"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و از اشتراک ارزش منصفانه بین اعضای اکوسیستم محافظت کند</a:t>
            </a:r>
            <a:r>
              <a:rPr kumimoji="0" lang="fa-IR" sz="9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a:t>
            </a:r>
            <a:r>
              <a:rPr kumimoji="0" lang="en-US" sz="9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a:t>
            </a:r>
            <a:r>
              <a:rPr kumimoji="0" lang="fa-IR" sz="9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در این اکوسیستم ارزش با شناسایی و حذف گلوگاه‌ها در کلیت سیستم و با بهره‌گیری از سازمان‌های مکمل سوپر ماژولار (زمانی که تعداد بیشتر جزء</a:t>
            </a:r>
            <a:r>
              <a:rPr kumimoji="0" lang="en-US" sz="9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B </a:t>
            </a:r>
            <a:r>
              <a:rPr kumimoji="0" lang="fa-IR" sz="9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منجر به افزایش بازده برای جزء </a:t>
            </a:r>
            <a:r>
              <a:rPr kumimoji="0" lang="en-US" sz="9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A</a:t>
            </a:r>
            <a:r>
              <a:rPr kumimoji="0" lang="fa-IR" sz="9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rPr>
              <a:t> شود) ایجاد می‌شود. اکوسیستم‌های راه‌حل-محور عموما از طریق فروش راه‌حل خود به عنوان محصول یا خدمت، از ارزشی را که ایجاد کرده‌اند سود بدست می‌آورند.</a:t>
            </a:r>
            <a:endParaRPr kumimoji="0" lang="en-US" sz="900" b="0" i="0" u="none" strike="noStrike" kern="1200" cap="none" spc="0" normalizeH="0" baseline="0" noProof="0" dirty="0">
              <a:ln>
                <a:noFill/>
              </a:ln>
              <a:solidFill>
                <a:schemeClr val="tx1">
                  <a:lumMod val="75000"/>
                  <a:lumOff val="25000"/>
                </a:schemeClr>
              </a:solidFill>
              <a:effectLst/>
              <a:uLnTx/>
              <a:uFillTx/>
              <a:latin typeface="Yekan Bakh" pitchFamily="2" charset="-78"/>
              <a:ea typeface="Yekan Bakh" pitchFamily="2" charset="-78"/>
              <a:cs typeface="Yekan Bakh" pitchFamily="2" charset="-78"/>
            </a:endParaRPr>
          </a:p>
        </p:txBody>
      </p:sp>
      <p:sp>
        <p:nvSpPr>
          <p:cNvPr id="11" name="Isosceles Triangle 59">
            <a:extLst>
              <a:ext uri="{FF2B5EF4-FFF2-40B4-BE49-F238E27FC236}">
                <a16:creationId xmlns:a16="http://schemas.microsoft.com/office/drawing/2014/main" id="{7C1B21AC-C530-0F72-03B5-690DBBB67A78}"/>
              </a:ext>
            </a:extLst>
          </p:cNvPr>
          <p:cNvSpPr/>
          <p:nvPr/>
        </p:nvSpPr>
        <p:spPr>
          <a:xfrm rot="10800000">
            <a:off x="7016462" y="5343763"/>
            <a:ext cx="2696906" cy="190221"/>
          </a:xfrm>
          <a:prstGeom prst="triangle">
            <a:avLst/>
          </a:prstGeom>
          <a:solidFill>
            <a:schemeClr val="bg1">
              <a:lumMod val="85000"/>
              <a:alpha val="60000"/>
            </a:schemeClr>
          </a:solidFill>
          <a:ln w="12700" cap="flat" cmpd="sng" algn="ctr">
            <a:noFill/>
            <a:prstDash val="solid"/>
            <a:miter lim="800000"/>
          </a:ln>
          <a:effectLst/>
        </p:spPr>
        <p:txBody>
          <a:bodyPr rtlCol="0" anchor="ctr"/>
          <a:lstStyle/>
          <a:p>
            <a:pPr algn="ctr" defTabSz="914400" rtl="1"/>
            <a:endParaRPr lang="en-US" kern="0" dirty="0">
              <a:solidFill>
                <a:prstClr val="white"/>
              </a:solidFill>
              <a:latin typeface="Calibri" panose="020F0502020204030204"/>
            </a:endParaRPr>
          </a:p>
        </p:txBody>
      </p:sp>
    </p:spTree>
    <p:extLst>
      <p:ext uri="{BB962C8B-B14F-4D97-AF65-F5344CB8AC3E}">
        <p14:creationId xmlns:p14="http://schemas.microsoft.com/office/powerpoint/2010/main" val="2317458907"/>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Left Bracket 26">
            <a:extLst>
              <a:ext uri="{FF2B5EF4-FFF2-40B4-BE49-F238E27FC236}">
                <a16:creationId xmlns:a16="http://schemas.microsoft.com/office/drawing/2014/main" id="{9EB16906-B08D-75F1-6488-66EDB80237DF}"/>
              </a:ext>
            </a:extLst>
          </p:cNvPr>
          <p:cNvSpPr/>
          <p:nvPr/>
        </p:nvSpPr>
        <p:spPr>
          <a:xfrm rot="5400000">
            <a:off x="9004714" y="-507689"/>
            <a:ext cx="122386" cy="4259178"/>
          </a:xfrm>
          <a:prstGeom prst="leftBracket">
            <a:avLst/>
          </a:prstGeom>
          <a:ln w="6350">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2" name="Text Placeholder 1">
            <a:extLst>
              <a:ext uri="{FF2B5EF4-FFF2-40B4-BE49-F238E27FC236}">
                <a16:creationId xmlns:a16="http://schemas.microsoft.com/office/drawing/2014/main" id="{2888218C-DD4A-E4DE-7160-FD98DA81091B}"/>
              </a:ext>
            </a:extLst>
          </p:cNvPr>
          <p:cNvSpPr>
            <a:spLocks noGrp="1"/>
          </p:cNvSpPr>
          <p:nvPr>
            <p:ph type="body" sz="quarter" idx="10"/>
          </p:nvPr>
        </p:nvSpPr>
        <p:spPr/>
        <p:txBody>
          <a:bodyPr/>
          <a:lstStyle/>
          <a:p>
            <a:r>
              <a:rPr lang="fa-IR" dirty="0"/>
              <a:t>کانال مشتریان در یک اکوسیستم </a:t>
            </a:r>
          </a:p>
        </p:txBody>
      </p:sp>
      <p:sp>
        <p:nvSpPr>
          <p:cNvPr id="3" name="Text Placeholder 2">
            <a:extLst>
              <a:ext uri="{FF2B5EF4-FFF2-40B4-BE49-F238E27FC236}">
                <a16:creationId xmlns:a16="http://schemas.microsoft.com/office/drawing/2014/main" id="{051A7810-7E83-1D5F-F4D1-E766188A3B2D}"/>
              </a:ext>
            </a:extLst>
          </p:cNvPr>
          <p:cNvSpPr>
            <a:spLocks noGrp="1"/>
          </p:cNvSpPr>
          <p:nvPr>
            <p:ph type="body" sz="quarter" idx="12"/>
          </p:nvPr>
        </p:nvSpPr>
        <p:spPr/>
        <p:txBody>
          <a:bodyPr/>
          <a:lstStyle/>
          <a:p>
            <a:r>
              <a:rPr lang="fa-IR" dirty="0"/>
              <a:t>نقش‌های اکوسیستمی در کسب و کار ما </a:t>
            </a:r>
            <a:endParaRPr lang="en-GB" dirty="0"/>
          </a:p>
        </p:txBody>
      </p:sp>
      <p:sp>
        <p:nvSpPr>
          <p:cNvPr id="31" name="Rectangle 30">
            <a:extLst>
              <a:ext uri="{FF2B5EF4-FFF2-40B4-BE49-F238E27FC236}">
                <a16:creationId xmlns:a16="http://schemas.microsoft.com/office/drawing/2014/main" id="{5A9CA1D3-DBB9-4522-7EEF-C0D4EAB642D1}"/>
              </a:ext>
            </a:extLst>
          </p:cNvPr>
          <p:cNvSpPr/>
          <p:nvPr/>
        </p:nvSpPr>
        <p:spPr>
          <a:xfrm>
            <a:off x="555629" y="1648877"/>
            <a:ext cx="4510161" cy="4103769"/>
          </a:xfrm>
          <a:prstGeom prst="rect">
            <a:avLst/>
          </a:prstGeom>
          <a:gradFill flip="none" rotWithShape="1">
            <a:gsLst>
              <a:gs pos="0">
                <a:schemeClr val="bg1">
                  <a:lumMod val="75000"/>
                </a:schemeClr>
              </a:gs>
              <a:gs pos="50000">
                <a:schemeClr val="bg1">
                  <a:lumMod val="85000"/>
                </a:schemeClr>
              </a:gs>
              <a:gs pos="100000">
                <a:schemeClr val="bg1"/>
              </a:gs>
            </a:gsLst>
            <a:lin ang="10800000" scaled="1"/>
            <a:tileRect/>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54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66" name="Rectangle 65">
            <a:extLst>
              <a:ext uri="{FF2B5EF4-FFF2-40B4-BE49-F238E27FC236}">
                <a16:creationId xmlns:a16="http://schemas.microsoft.com/office/drawing/2014/main" id="{D9C56683-1983-09AD-4104-9E4F157BD840}"/>
              </a:ext>
            </a:extLst>
          </p:cNvPr>
          <p:cNvSpPr/>
          <p:nvPr/>
        </p:nvSpPr>
        <p:spPr>
          <a:xfrm>
            <a:off x="816065" y="2161489"/>
            <a:ext cx="248341" cy="253603"/>
          </a:xfrm>
          <a:prstGeom prst="rect">
            <a:avLst/>
          </a:prstGeom>
          <a:solidFill>
            <a:srgbClr val="F0BE0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5400" b="0" i="0" u="none" strike="noStrike" kern="0" cap="none" spc="0" normalizeH="0" baseline="0" noProof="0">
              <a:ln>
                <a:noFill/>
              </a:ln>
              <a:solidFill>
                <a:prstClr val="white"/>
              </a:solidFill>
              <a:effectLst/>
              <a:uLnTx/>
              <a:uFillTx/>
              <a:latin typeface="Calibri Light" panose="020F0302020204030204"/>
              <a:ea typeface="+mn-ea"/>
              <a:cs typeface="+mn-cs"/>
            </a:endParaRPr>
          </a:p>
        </p:txBody>
      </p:sp>
      <p:sp>
        <p:nvSpPr>
          <p:cNvPr id="67" name="Rectangle 66">
            <a:extLst>
              <a:ext uri="{FF2B5EF4-FFF2-40B4-BE49-F238E27FC236}">
                <a16:creationId xmlns:a16="http://schemas.microsoft.com/office/drawing/2014/main" id="{4AD5EF79-5D7C-8808-8B65-2C291E534CE7}"/>
              </a:ext>
            </a:extLst>
          </p:cNvPr>
          <p:cNvSpPr/>
          <p:nvPr/>
        </p:nvSpPr>
        <p:spPr>
          <a:xfrm>
            <a:off x="2005242" y="1688684"/>
            <a:ext cx="248341" cy="253603"/>
          </a:xfrm>
          <a:prstGeom prst="rect">
            <a:avLst/>
          </a:prstGeom>
          <a:solidFill>
            <a:srgbClr val="F0BE0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5400" b="0" i="0" u="none" strike="noStrike" kern="0" cap="none" spc="0" normalizeH="0" baseline="0" noProof="0">
              <a:ln>
                <a:noFill/>
              </a:ln>
              <a:solidFill>
                <a:prstClr val="white"/>
              </a:solidFill>
              <a:effectLst/>
              <a:uLnTx/>
              <a:uFillTx/>
              <a:latin typeface="Calibri Light" panose="020F0302020204030204"/>
              <a:ea typeface="+mn-ea"/>
              <a:cs typeface="+mn-cs"/>
            </a:endParaRPr>
          </a:p>
        </p:txBody>
      </p:sp>
      <p:sp>
        <p:nvSpPr>
          <p:cNvPr id="68" name="Rectangle 67">
            <a:extLst>
              <a:ext uri="{FF2B5EF4-FFF2-40B4-BE49-F238E27FC236}">
                <a16:creationId xmlns:a16="http://schemas.microsoft.com/office/drawing/2014/main" id="{AF144243-972C-00B8-BBB9-A8F6C5845292}"/>
              </a:ext>
            </a:extLst>
          </p:cNvPr>
          <p:cNvSpPr/>
          <p:nvPr/>
        </p:nvSpPr>
        <p:spPr>
          <a:xfrm>
            <a:off x="3165744" y="2173185"/>
            <a:ext cx="248341" cy="253603"/>
          </a:xfrm>
          <a:prstGeom prst="rect">
            <a:avLst/>
          </a:prstGeom>
          <a:solidFill>
            <a:srgbClr val="F0BE0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5400" b="0" i="0" u="none" strike="noStrike" kern="0" cap="none" spc="0" normalizeH="0" baseline="0" noProof="0">
              <a:ln>
                <a:noFill/>
              </a:ln>
              <a:solidFill>
                <a:prstClr val="white"/>
              </a:solidFill>
              <a:effectLst/>
              <a:uLnTx/>
              <a:uFillTx/>
              <a:latin typeface="Calibri Light" panose="020F0302020204030204"/>
              <a:ea typeface="+mn-ea"/>
              <a:cs typeface="+mn-cs"/>
            </a:endParaRPr>
          </a:p>
        </p:txBody>
      </p:sp>
      <p:sp>
        <p:nvSpPr>
          <p:cNvPr id="69" name="Oval 68">
            <a:extLst>
              <a:ext uri="{FF2B5EF4-FFF2-40B4-BE49-F238E27FC236}">
                <a16:creationId xmlns:a16="http://schemas.microsoft.com/office/drawing/2014/main" id="{1193EB0E-BE7E-78FA-AE71-43D107F000BB}"/>
              </a:ext>
            </a:extLst>
          </p:cNvPr>
          <p:cNvSpPr/>
          <p:nvPr/>
        </p:nvSpPr>
        <p:spPr>
          <a:xfrm>
            <a:off x="1916092" y="3114188"/>
            <a:ext cx="410722" cy="410722"/>
          </a:xfrm>
          <a:prstGeom prst="ellipse">
            <a:avLst/>
          </a:prstGeom>
          <a:solidFill>
            <a:schemeClr val="tx1">
              <a:lumMod val="50000"/>
              <a:lumOff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5400" b="0" i="0" u="none" strike="noStrike" kern="0" cap="none" spc="0" normalizeH="0" baseline="0" noProof="0">
              <a:ln>
                <a:noFill/>
              </a:ln>
              <a:solidFill>
                <a:prstClr val="white"/>
              </a:solidFill>
              <a:effectLst/>
              <a:uLnTx/>
              <a:uFillTx/>
              <a:latin typeface="Calibri Light" panose="020F0302020204030204"/>
              <a:ea typeface="+mn-ea"/>
              <a:cs typeface="+mn-cs"/>
            </a:endParaRPr>
          </a:p>
        </p:txBody>
      </p:sp>
      <p:sp>
        <p:nvSpPr>
          <p:cNvPr id="70" name="Oval 69">
            <a:extLst>
              <a:ext uri="{FF2B5EF4-FFF2-40B4-BE49-F238E27FC236}">
                <a16:creationId xmlns:a16="http://schemas.microsoft.com/office/drawing/2014/main" id="{D82D1171-42DA-9ADD-CFCC-C7FB9C23B0DF}"/>
              </a:ext>
            </a:extLst>
          </p:cNvPr>
          <p:cNvSpPr/>
          <p:nvPr/>
        </p:nvSpPr>
        <p:spPr>
          <a:xfrm>
            <a:off x="810802" y="4300668"/>
            <a:ext cx="253604" cy="253603"/>
          </a:xfrm>
          <a:prstGeom prst="ellipse">
            <a:avLst/>
          </a:prstGeom>
          <a:solidFill>
            <a:schemeClr val="accent2">
              <a:lumMod val="20000"/>
              <a:lumOff val="8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5400" b="0" i="0" u="none" strike="noStrike" kern="0" cap="none" spc="0" normalizeH="0" baseline="0" noProof="0">
              <a:ln>
                <a:noFill/>
              </a:ln>
              <a:solidFill>
                <a:prstClr val="white"/>
              </a:solidFill>
              <a:effectLst/>
              <a:uLnTx/>
              <a:uFillTx/>
              <a:latin typeface="Calibri Light" panose="020F0302020204030204"/>
              <a:ea typeface="+mn-ea"/>
              <a:cs typeface="+mn-cs"/>
            </a:endParaRPr>
          </a:p>
        </p:txBody>
      </p:sp>
      <p:sp>
        <p:nvSpPr>
          <p:cNvPr id="71" name="Oval 70">
            <a:extLst>
              <a:ext uri="{FF2B5EF4-FFF2-40B4-BE49-F238E27FC236}">
                <a16:creationId xmlns:a16="http://schemas.microsoft.com/office/drawing/2014/main" id="{E5252A4B-B74D-1718-3FA7-FB78676BC7B8}"/>
              </a:ext>
            </a:extLst>
          </p:cNvPr>
          <p:cNvSpPr/>
          <p:nvPr/>
        </p:nvSpPr>
        <p:spPr>
          <a:xfrm>
            <a:off x="1594037" y="3880395"/>
            <a:ext cx="253604" cy="253603"/>
          </a:xfrm>
          <a:prstGeom prst="ellipse">
            <a:avLst/>
          </a:prstGeom>
          <a:solidFill>
            <a:schemeClr val="accent2">
              <a:lumMod val="20000"/>
              <a:lumOff val="8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5400" b="0" i="0" u="none" strike="noStrike" kern="0" cap="none" spc="0" normalizeH="0" baseline="0" noProof="0">
              <a:ln>
                <a:noFill/>
              </a:ln>
              <a:solidFill>
                <a:prstClr val="white"/>
              </a:solidFill>
              <a:effectLst/>
              <a:uLnTx/>
              <a:uFillTx/>
              <a:latin typeface="Calibri Light" panose="020F0302020204030204"/>
              <a:ea typeface="+mn-ea"/>
              <a:cs typeface="+mn-cs"/>
            </a:endParaRPr>
          </a:p>
        </p:txBody>
      </p:sp>
      <p:sp>
        <p:nvSpPr>
          <p:cNvPr id="72" name="Oval 71">
            <a:extLst>
              <a:ext uri="{FF2B5EF4-FFF2-40B4-BE49-F238E27FC236}">
                <a16:creationId xmlns:a16="http://schemas.microsoft.com/office/drawing/2014/main" id="{2334D0A0-ED1C-A6BE-AF78-757CAE3C3FAA}"/>
              </a:ext>
            </a:extLst>
          </p:cNvPr>
          <p:cNvSpPr/>
          <p:nvPr/>
        </p:nvSpPr>
        <p:spPr>
          <a:xfrm>
            <a:off x="2383640" y="3880395"/>
            <a:ext cx="253604" cy="253603"/>
          </a:xfrm>
          <a:prstGeom prst="ellipse">
            <a:avLst/>
          </a:prstGeom>
          <a:solidFill>
            <a:schemeClr val="accent2">
              <a:lumMod val="20000"/>
              <a:lumOff val="8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5400" b="0" i="0" u="none" strike="noStrike" kern="0" cap="none" spc="0" normalizeH="0" baseline="0" noProof="0">
              <a:ln>
                <a:noFill/>
              </a:ln>
              <a:solidFill>
                <a:prstClr val="white"/>
              </a:solidFill>
              <a:effectLst/>
              <a:uLnTx/>
              <a:uFillTx/>
              <a:latin typeface="Calibri Light" panose="020F0302020204030204"/>
              <a:ea typeface="+mn-ea"/>
              <a:cs typeface="+mn-cs"/>
            </a:endParaRPr>
          </a:p>
        </p:txBody>
      </p:sp>
      <p:sp>
        <p:nvSpPr>
          <p:cNvPr id="73" name="Oval 72">
            <a:extLst>
              <a:ext uri="{FF2B5EF4-FFF2-40B4-BE49-F238E27FC236}">
                <a16:creationId xmlns:a16="http://schemas.microsoft.com/office/drawing/2014/main" id="{81564F2F-D91B-DD3F-A47D-9A96A04C2634}"/>
              </a:ext>
            </a:extLst>
          </p:cNvPr>
          <p:cNvSpPr/>
          <p:nvPr/>
        </p:nvSpPr>
        <p:spPr>
          <a:xfrm>
            <a:off x="3183808" y="4300668"/>
            <a:ext cx="253604" cy="253603"/>
          </a:xfrm>
          <a:prstGeom prst="ellipse">
            <a:avLst/>
          </a:prstGeom>
          <a:solidFill>
            <a:schemeClr val="accent2">
              <a:lumMod val="20000"/>
              <a:lumOff val="8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5400" b="0" i="0" u="none" strike="noStrike" kern="0" cap="none" spc="0" normalizeH="0" baseline="0" noProof="0">
              <a:ln>
                <a:noFill/>
              </a:ln>
              <a:solidFill>
                <a:prstClr val="white"/>
              </a:solidFill>
              <a:effectLst/>
              <a:uLnTx/>
              <a:uFillTx/>
              <a:latin typeface="Calibri Light" panose="020F0302020204030204"/>
              <a:ea typeface="+mn-ea"/>
              <a:cs typeface="+mn-cs"/>
            </a:endParaRPr>
          </a:p>
        </p:txBody>
      </p:sp>
      <p:sp>
        <p:nvSpPr>
          <p:cNvPr id="74" name="Oval 73">
            <a:extLst>
              <a:ext uri="{FF2B5EF4-FFF2-40B4-BE49-F238E27FC236}">
                <a16:creationId xmlns:a16="http://schemas.microsoft.com/office/drawing/2014/main" id="{A9322C8F-08AF-0673-F15C-CCBB893DE99B}"/>
              </a:ext>
            </a:extLst>
          </p:cNvPr>
          <p:cNvSpPr/>
          <p:nvPr/>
        </p:nvSpPr>
        <p:spPr>
          <a:xfrm>
            <a:off x="1994651" y="5357891"/>
            <a:ext cx="253604" cy="253603"/>
          </a:xfrm>
          <a:prstGeom prst="ellipse">
            <a:avLst/>
          </a:prstGeom>
          <a:solidFill>
            <a:srgbClr val="F0BE0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5400" b="0" i="0" u="none" strike="noStrike" kern="0" cap="none" spc="0" normalizeH="0" baseline="0" noProof="0">
              <a:ln>
                <a:noFill/>
              </a:ln>
              <a:solidFill>
                <a:prstClr val="white"/>
              </a:solidFill>
              <a:effectLst/>
              <a:uLnTx/>
              <a:uFillTx/>
              <a:latin typeface="Calibri Light" panose="020F0302020204030204"/>
              <a:ea typeface="+mn-ea"/>
              <a:cs typeface="+mn-cs"/>
            </a:endParaRPr>
          </a:p>
        </p:txBody>
      </p:sp>
      <p:cxnSp>
        <p:nvCxnSpPr>
          <p:cNvPr id="75" name="Straight Connector 74">
            <a:extLst>
              <a:ext uri="{FF2B5EF4-FFF2-40B4-BE49-F238E27FC236}">
                <a16:creationId xmlns:a16="http://schemas.microsoft.com/office/drawing/2014/main" id="{D41792E5-1DCA-6321-CEC6-1A6EB0DB0680}"/>
              </a:ext>
            </a:extLst>
          </p:cNvPr>
          <p:cNvCxnSpPr>
            <a:stCxn id="66" idx="3"/>
          </p:cNvCxnSpPr>
          <p:nvPr/>
        </p:nvCxnSpPr>
        <p:spPr>
          <a:xfrm>
            <a:off x="1064406" y="2288290"/>
            <a:ext cx="2101339" cy="0"/>
          </a:xfrm>
          <a:prstGeom prst="line">
            <a:avLst/>
          </a:prstGeom>
          <a:noFill/>
          <a:ln w="3175" cap="flat" cmpd="sng" algn="ctr">
            <a:solidFill>
              <a:sysClr val="windowText" lastClr="000000">
                <a:lumMod val="50000"/>
                <a:lumOff val="50000"/>
              </a:sysClr>
            </a:solidFill>
            <a:prstDash val="solid"/>
            <a:miter lim="800000"/>
          </a:ln>
          <a:effectLst/>
        </p:spPr>
      </p:cxnSp>
      <p:cxnSp>
        <p:nvCxnSpPr>
          <p:cNvPr id="76" name="Straight Connector 75">
            <a:extLst>
              <a:ext uri="{FF2B5EF4-FFF2-40B4-BE49-F238E27FC236}">
                <a16:creationId xmlns:a16="http://schemas.microsoft.com/office/drawing/2014/main" id="{1D7FEEDD-BD95-5B8A-900E-AA087D09A2BB}"/>
              </a:ext>
            </a:extLst>
          </p:cNvPr>
          <p:cNvCxnSpPr>
            <a:cxnSpLocks/>
            <a:endCxn id="69" idx="0"/>
          </p:cNvCxnSpPr>
          <p:nvPr/>
        </p:nvCxnSpPr>
        <p:spPr>
          <a:xfrm>
            <a:off x="2115075" y="1942287"/>
            <a:ext cx="6378" cy="1171901"/>
          </a:xfrm>
          <a:prstGeom prst="line">
            <a:avLst/>
          </a:prstGeom>
          <a:noFill/>
          <a:ln w="3175" cap="flat" cmpd="sng" algn="ctr">
            <a:solidFill>
              <a:sysClr val="windowText" lastClr="000000">
                <a:lumMod val="50000"/>
                <a:lumOff val="50000"/>
              </a:sysClr>
            </a:solidFill>
            <a:prstDash val="solid"/>
            <a:miter lim="800000"/>
          </a:ln>
          <a:effectLst/>
        </p:spPr>
      </p:cxnSp>
      <p:cxnSp>
        <p:nvCxnSpPr>
          <p:cNvPr id="77" name="Straight Connector 76">
            <a:extLst>
              <a:ext uri="{FF2B5EF4-FFF2-40B4-BE49-F238E27FC236}">
                <a16:creationId xmlns:a16="http://schemas.microsoft.com/office/drawing/2014/main" id="{294B3F07-3671-7382-DB34-755EAE7398DA}"/>
              </a:ext>
            </a:extLst>
          </p:cNvPr>
          <p:cNvCxnSpPr>
            <a:cxnSpLocks/>
            <a:stCxn id="68" idx="1"/>
            <a:endCxn id="69" idx="7"/>
          </p:cNvCxnSpPr>
          <p:nvPr/>
        </p:nvCxnSpPr>
        <p:spPr>
          <a:xfrm flipH="1">
            <a:off x="2266664" y="2299987"/>
            <a:ext cx="899080" cy="874351"/>
          </a:xfrm>
          <a:prstGeom prst="line">
            <a:avLst/>
          </a:prstGeom>
          <a:noFill/>
          <a:ln w="3175" cap="flat" cmpd="sng" algn="ctr">
            <a:solidFill>
              <a:sysClr val="windowText" lastClr="000000">
                <a:lumMod val="50000"/>
                <a:lumOff val="50000"/>
              </a:sysClr>
            </a:solidFill>
            <a:prstDash val="solid"/>
            <a:miter lim="800000"/>
          </a:ln>
          <a:effectLst/>
        </p:spPr>
      </p:cxnSp>
      <p:cxnSp>
        <p:nvCxnSpPr>
          <p:cNvPr id="78" name="Straight Connector 77">
            <a:extLst>
              <a:ext uri="{FF2B5EF4-FFF2-40B4-BE49-F238E27FC236}">
                <a16:creationId xmlns:a16="http://schemas.microsoft.com/office/drawing/2014/main" id="{77516939-34AB-3662-3916-A00746236C95}"/>
              </a:ext>
            </a:extLst>
          </p:cNvPr>
          <p:cNvCxnSpPr>
            <a:cxnSpLocks/>
            <a:stCxn id="66" idx="3"/>
            <a:endCxn id="69" idx="1"/>
          </p:cNvCxnSpPr>
          <p:nvPr/>
        </p:nvCxnSpPr>
        <p:spPr>
          <a:xfrm>
            <a:off x="1064406" y="2288290"/>
            <a:ext cx="911836" cy="886047"/>
          </a:xfrm>
          <a:prstGeom prst="line">
            <a:avLst/>
          </a:prstGeom>
          <a:noFill/>
          <a:ln w="3175" cap="flat" cmpd="sng" algn="ctr">
            <a:solidFill>
              <a:sysClr val="windowText" lastClr="000000">
                <a:lumMod val="50000"/>
                <a:lumOff val="50000"/>
              </a:sysClr>
            </a:solidFill>
            <a:prstDash val="solid"/>
            <a:miter lim="800000"/>
          </a:ln>
          <a:effectLst/>
        </p:spPr>
      </p:cxnSp>
      <p:cxnSp>
        <p:nvCxnSpPr>
          <p:cNvPr id="79" name="Straight Connector 78">
            <a:extLst>
              <a:ext uri="{FF2B5EF4-FFF2-40B4-BE49-F238E27FC236}">
                <a16:creationId xmlns:a16="http://schemas.microsoft.com/office/drawing/2014/main" id="{34BABB09-6C9E-2C88-2FCF-3FABF53B6EF4}"/>
              </a:ext>
            </a:extLst>
          </p:cNvPr>
          <p:cNvCxnSpPr>
            <a:cxnSpLocks/>
            <a:stCxn id="66" idx="3"/>
            <a:endCxn id="67" idx="1"/>
          </p:cNvCxnSpPr>
          <p:nvPr/>
        </p:nvCxnSpPr>
        <p:spPr>
          <a:xfrm flipV="1">
            <a:off x="1064406" y="1815486"/>
            <a:ext cx="940837" cy="472805"/>
          </a:xfrm>
          <a:prstGeom prst="line">
            <a:avLst/>
          </a:prstGeom>
          <a:noFill/>
          <a:ln w="3175" cap="flat" cmpd="sng" algn="ctr">
            <a:solidFill>
              <a:sysClr val="windowText" lastClr="000000">
                <a:lumMod val="50000"/>
                <a:lumOff val="50000"/>
              </a:sysClr>
            </a:solidFill>
            <a:prstDash val="solid"/>
            <a:miter lim="800000"/>
          </a:ln>
          <a:effectLst/>
        </p:spPr>
      </p:cxnSp>
      <p:cxnSp>
        <p:nvCxnSpPr>
          <p:cNvPr id="80" name="Straight Connector 79">
            <a:extLst>
              <a:ext uri="{FF2B5EF4-FFF2-40B4-BE49-F238E27FC236}">
                <a16:creationId xmlns:a16="http://schemas.microsoft.com/office/drawing/2014/main" id="{0E393205-A655-D9AA-807F-5DFAAE40A5FB}"/>
              </a:ext>
            </a:extLst>
          </p:cNvPr>
          <p:cNvCxnSpPr>
            <a:cxnSpLocks/>
            <a:stCxn id="68" idx="1"/>
            <a:endCxn id="67" idx="3"/>
          </p:cNvCxnSpPr>
          <p:nvPr/>
        </p:nvCxnSpPr>
        <p:spPr>
          <a:xfrm flipH="1" flipV="1">
            <a:off x="2253583" y="1815486"/>
            <a:ext cx="912161" cy="484501"/>
          </a:xfrm>
          <a:prstGeom prst="line">
            <a:avLst/>
          </a:prstGeom>
          <a:noFill/>
          <a:ln w="3175" cap="flat" cmpd="sng" algn="ctr">
            <a:solidFill>
              <a:sysClr val="windowText" lastClr="000000">
                <a:lumMod val="50000"/>
                <a:lumOff val="50000"/>
              </a:sysClr>
            </a:solidFill>
            <a:prstDash val="solid"/>
            <a:miter lim="800000"/>
          </a:ln>
          <a:effectLst/>
        </p:spPr>
      </p:cxnSp>
      <p:cxnSp>
        <p:nvCxnSpPr>
          <p:cNvPr id="81" name="Straight Connector 80">
            <a:extLst>
              <a:ext uri="{FF2B5EF4-FFF2-40B4-BE49-F238E27FC236}">
                <a16:creationId xmlns:a16="http://schemas.microsoft.com/office/drawing/2014/main" id="{71E6CE0D-6741-6FDC-2613-AB4DF7020CB5}"/>
              </a:ext>
            </a:extLst>
          </p:cNvPr>
          <p:cNvCxnSpPr>
            <a:cxnSpLocks/>
            <a:stCxn id="69" idx="5"/>
            <a:endCxn id="72" idx="0"/>
          </p:cNvCxnSpPr>
          <p:nvPr/>
        </p:nvCxnSpPr>
        <p:spPr>
          <a:xfrm>
            <a:off x="2266664" y="3464760"/>
            <a:ext cx="243778" cy="415635"/>
          </a:xfrm>
          <a:prstGeom prst="line">
            <a:avLst/>
          </a:prstGeom>
          <a:noFill/>
          <a:ln w="3175" cap="flat" cmpd="sng" algn="ctr">
            <a:solidFill>
              <a:sysClr val="windowText" lastClr="000000">
                <a:lumMod val="50000"/>
                <a:lumOff val="50000"/>
              </a:sysClr>
            </a:solidFill>
            <a:prstDash val="solid"/>
            <a:miter lim="800000"/>
          </a:ln>
          <a:effectLst/>
        </p:spPr>
      </p:cxnSp>
      <p:cxnSp>
        <p:nvCxnSpPr>
          <p:cNvPr id="82" name="Straight Connector 81">
            <a:extLst>
              <a:ext uri="{FF2B5EF4-FFF2-40B4-BE49-F238E27FC236}">
                <a16:creationId xmlns:a16="http://schemas.microsoft.com/office/drawing/2014/main" id="{0CEFE085-1306-4CEA-1B78-BC673B4C75E3}"/>
              </a:ext>
            </a:extLst>
          </p:cNvPr>
          <p:cNvCxnSpPr>
            <a:cxnSpLocks/>
            <a:stCxn id="69" idx="3"/>
            <a:endCxn id="71" idx="0"/>
          </p:cNvCxnSpPr>
          <p:nvPr/>
        </p:nvCxnSpPr>
        <p:spPr>
          <a:xfrm flipH="1">
            <a:off x="1720839" y="3464760"/>
            <a:ext cx="255403" cy="415635"/>
          </a:xfrm>
          <a:prstGeom prst="line">
            <a:avLst/>
          </a:prstGeom>
          <a:noFill/>
          <a:ln w="3175" cap="flat" cmpd="sng" algn="ctr">
            <a:solidFill>
              <a:sysClr val="windowText" lastClr="000000">
                <a:lumMod val="50000"/>
                <a:lumOff val="50000"/>
              </a:sysClr>
            </a:solidFill>
            <a:prstDash val="solid"/>
            <a:miter lim="800000"/>
          </a:ln>
          <a:effectLst/>
        </p:spPr>
      </p:cxnSp>
      <p:cxnSp>
        <p:nvCxnSpPr>
          <p:cNvPr id="83" name="Straight Connector 82">
            <a:extLst>
              <a:ext uri="{FF2B5EF4-FFF2-40B4-BE49-F238E27FC236}">
                <a16:creationId xmlns:a16="http://schemas.microsoft.com/office/drawing/2014/main" id="{3EF31DD6-B163-5129-4275-B5BC21D5F5B9}"/>
              </a:ext>
            </a:extLst>
          </p:cNvPr>
          <p:cNvCxnSpPr>
            <a:cxnSpLocks/>
            <a:stCxn id="69" idx="5"/>
            <a:endCxn id="73" idx="1"/>
          </p:cNvCxnSpPr>
          <p:nvPr/>
        </p:nvCxnSpPr>
        <p:spPr>
          <a:xfrm>
            <a:off x="2266664" y="3464760"/>
            <a:ext cx="954284" cy="873047"/>
          </a:xfrm>
          <a:prstGeom prst="line">
            <a:avLst/>
          </a:prstGeom>
          <a:noFill/>
          <a:ln w="3175" cap="flat" cmpd="sng" algn="ctr">
            <a:solidFill>
              <a:sysClr val="windowText" lastClr="000000">
                <a:lumMod val="50000"/>
                <a:lumOff val="50000"/>
              </a:sysClr>
            </a:solidFill>
            <a:prstDash val="solid"/>
            <a:miter lim="800000"/>
          </a:ln>
          <a:effectLst/>
        </p:spPr>
      </p:cxnSp>
      <p:cxnSp>
        <p:nvCxnSpPr>
          <p:cNvPr id="84" name="Straight Connector 83">
            <a:extLst>
              <a:ext uri="{FF2B5EF4-FFF2-40B4-BE49-F238E27FC236}">
                <a16:creationId xmlns:a16="http://schemas.microsoft.com/office/drawing/2014/main" id="{F13830F2-4E7E-3475-AC7E-CE5D5D798502}"/>
              </a:ext>
            </a:extLst>
          </p:cNvPr>
          <p:cNvCxnSpPr>
            <a:cxnSpLocks/>
            <a:stCxn id="69" idx="3"/>
            <a:endCxn id="70" idx="7"/>
          </p:cNvCxnSpPr>
          <p:nvPr/>
        </p:nvCxnSpPr>
        <p:spPr>
          <a:xfrm flipH="1">
            <a:off x="1027266" y="3464760"/>
            <a:ext cx="948976" cy="873047"/>
          </a:xfrm>
          <a:prstGeom prst="line">
            <a:avLst/>
          </a:prstGeom>
          <a:noFill/>
          <a:ln w="3175" cap="flat" cmpd="sng" algn="ctr">
            <a:solidFill>
              <a:sysClr val="windowText" lastClr="000000">
                <a:lumMod val="50000"/>
                <a:lumOff val="50000"/>
              </a:sysClr>
            </a:solidFill>
            <a:prstDash val="solid"/>
            <a:miter lim="800000"/>
          </a:ln>
          <a:effectLst/>
        </p:spPr>
      </p:cxnSp>
      <p:cxnSp>
        <p:nvCxnSpPr>
          <p:cNvPr id="85" name="Straight Connector 84">
            <a:extLst>
              <a:ext uri="{FF2B5EF4-FFF2-40B4-BE49-F238E27FC236}">
                <a16:creationId xmlns:a16="http://schemas.microsoft.com/office/drawing/2014/main" id="{91A48A1D-FE05-2507-E1F6-11D509444A9A}"/>
              </a:ext>
            </a:extLst>
          </p:cNvPr>
          <p:cNvCxnSpPr>
            <a:cxnSpLocks/>
            <a:stCxn id="71" idx="6"/>
            <a:endCxn id="72" idx="2"/>
          </p:cNvCxnSpPr>
          <p:nvPr/>
        </p:nvCxnSpPr>
        <p:spPr>
          <a:xfrm>
            <a:off x="1847641" y="4007197"/>
            <a:ext cx="535999" cy="0"/>
          </a:xfrm>
          <a:prstGeom prst="line">
            <a:avLst/>
          </a:prstGeom>
          <a:noFill/>
          <a:ln w="3175" cap="flat" cmpd="sng" algn="ctr">
            <a:solidFill>
              <a:sysClr val="windowText" lastClr="000000">
                <a:lumMod val="50000"/>
                <a:lumOff val="50000"/>
              </a:sysClr>
            </a:solidFill>
            <a:prstDash val="solid"/>
            <a:miter lim="800000"/>
          </a:ln>
          <a:effectLst/>
        </p:spPr>
      </p:cxnSp>
      <p:cxnSp>
        <p:nvCxnSpPr>
          <p:cNvPr id="86" name="Straight Connector 85">
            <a:extLst>
              <a:ext uri="{FF2B5EF4-FFF2-40B4-BE49-F238E27FC236}">
                <a16:creationId xmlns:a16="http://schemas.microsoft.com/office/drawing/2014/main" id="{0F4AA525-548D-C353-F9A8-4E9C72AC17B3}"/>
              </a:ext>
            </a:extLst>
          </p:cNvPr>
          <p:cNvCxnSpPr>
            <a:cxnSpLocks/>
            <a:stCxn id="70" idx="6"/>
            <a:endCxn id="72" idx="3"/>
          </p:cNvCxnSpPr>
          <p:nvPr/>
        </p:nvCxnSpPr>
        <p:spPr>
          <a:xfrm flipV="1">
            <a:off x="1064406" y="4096859"/>
            <a:ext cx="1356374" cy="330610"/>
          </a:xfrm>
          <a:prstGeom prst="line">
            <a:avLst/>
          </a:prstGeom>
          <a:noFill/>
          <a:ln w="3175" cap="flat" cmpd="sng" algn="ctr">
            <a:solidFill>
              <a:sysClr val="windowText" lastClr="000000">
                <a:lumMod val="50000"/>
                <a:lumOff val="50000"/>
              </a:sysClr>
            </a:solidFill>
            <a:prstDash val="solid"/>
            <a:miter lim="800000"/>
          </a:ln>
          <a:effectLst/>
        </p:spPr>
      </p:cxnSp>
      <p:cxnSp>
        <p:nvCxnSpPr>
          <p:cNvPr id="87" name="Straight Connector 86">
            <a:extLst>
              <a:ext uri="{FF2B5EF4-FFF2-40B4-BE49-F238E27FC236}">
                <a16:creationId xmlns:a16="http://schemas.microsoft.com/office/drawing/2014/main" id="{43EE860B-AF57-DEA5-BB1C-27B74C65F41E}"/>
              </a:ext>
            </a:extLst>
          </p:cNvPr>
          <p:cNvCxnSpPr>
            <a:cxnSpLocks/>
            <a:stCxn id="73" idx="2"/>
            <a:endCxn id="71" idx="5"/>
          </p:cNvCxnSpPr>
          <p:nvPr/>
        </p:nvCxnSpPr>
        <p:spPr>
          <a:xfrm flipH="1" flipV="1">
            <a:off x="1810501" y="4096859"/>
            <a:ext cx="1373307" cy="330610"/>
          </a:xfrm>
          <a:prstGeom prst="line">
            <a:avLst/>
          </a:prstGeom>
          <a:noFill/>
          <a:ln w="3175" cap="flat" cmpd="sng" algn="ctr">
            <a:solidFill>
              <a:sysClr val="windowText" lastClr="000000">
                <a:lumMod val="50000"/>
                <a:lumOff val="50000"/>
              </a:sysClr>
            </a:solidFill>
            <a:prstDash val="solid"/>
            <a:miter lim="800000"/>
          </a:ln>
          <a:effectLst/>
        </p:spPr>
      </p:cxnSp>
      <p:cxnSp>
        <p:nvCxnSpPr>
          <p:cNvPr id="88" name="Straight Connector 87">
            <a:extLst>
              <a:ext uri="{FF2B5EF4-FFF2-40B4-BE49-F238E27FC236}">
                <a16:creationId xmlns:a16="http://schemas.microsoft.com/office/drawing/2014/main" id="{D35E1B64-30A6-9573-6875-E2B188E79D5E}"/>
              </a:ext>
            </a:extLst>
          </p:cNvPr>
          <p:cNvCxnSpPr>
            <a:cxnSpLocks/>
            <a:stCxn id="74" idx="0"/>
            <a:endCxn id="69" idx="4"/>
          </p:cNvCxnSpPr>
          <p:nvPr/>
        </p:nvCxnSpPr>
        <p:spPr>
          <a:xfrm flipV="1">
            <a:off x="2121453" y="3524910"/>
            <a:ext cx="0" cy="1832981"/>
          </a:xfrm>
          <a:prstGeom prst="line">
            <a:avLst/>
          </a:prstGeom>
          <a:noFill/>
          <a:ln w="3175" cap="flat" cmpd="sng" algn="ctr">
            <a:solidFill>
              <a:sysClr val="windowText" lastClr="000000">
                <a:lumMod val="50000"/>
                <a:lumOff val="50000"/>
              </a:sysClr>
            </a:solidFill>
            <a:prstDash val="solid"/>
            <a:miter lim="800000"/>
          </a:ln>
          <a:effectLst/>
        </p:spPr>
      </p:cxnSp>
      <p:cxnSp>
        <p:nvCxnSpPr>
          <p:cNvPr id="89" name="Straight Connector 88">
            <a:extLst>
              <a:ext uri="{FF2B5EF4-FFF2-40B4-BE49-F238E27FC236}">
                <a16:creationId xmlns:a16="http://schemas.microsoft.com/office/drawing/2014/main" id="{B8C5CD5B-7827-6074-61DA-417F007E8730}"/>
              </a:ext>
            </a:extLst>
          </p:cNvPr>
          <p:cNvCxnSpPr>
            <a:cxnSpLocks/>
            <a:stCxn id="74" idx="6"/>
            <a:endCxn id="73" idx="4"/>
          </p:cNvCxnSpPr>
          <p:nvPr/>
        </p:nvCxnSpPr>
        <p:spPr>
          <a:xfrm flipV="1">
            <a:off x="2248254" y="4554271"/>
            <a:ext cx="1062356" cy="930421"/>
          </a:xfrm>
          <a:prstGeom prst="line">
            <a:avLst/>
          </a:prstGeom>
          <a:noFill/>
          <a:ln w="3175" cap="flat" cmpd="sng" algn="ctr">
            <a:solidFill>
              <a:sysClr val="windowText" lastClr="000000">
                <a:lumMod val="50000"/>
                <a:lumOff val="50000"/>
              </a:sysClr>
            </a:solidFill>
            <a:prstDash val="solid"/>
            <a:miter lim="800000"/>
          </a:ln>
          <a:effectLst/>
        </p:spPr>
      </p:cxnSp>
      <p:cxnSp>
        <p:nvCxnSpPr>
          <p:cNvPr id="90" name="Straight Connector 89">
            <a:extLst>
              <a:ext uri="{FF2B5EF4-FFF2-40B4-BE49-F238E27FC236}">
                <a16:creationId xmlns:a16="http://schemas.microsoft.com/office/drawing/2014/main" id="{BCE25DBD-94C7-DE02-7F5E-456339DECEB9}"/>
              </a:ext>
            </a:extLst>
          </p:cNvPr>
          <p:cNvCxnSpPr>
            <a:cxnSpLocks/>
            <a:stCxn id="74" idx="2"/>
            <a:endCxn id="70" idx="4"/>
          </p:cNvCxnSpPr>
          <p:nvPr/>
        </p:nvCxnSpPr>
        <p:spPr>
          <a:xfrm flipH="1" flipV="1">
            <a:off x="937604" y="4554271"/>
            <a:ext cx="1057047" cy="930421"/>
          </a:xfrm>
          <a:prstGeom prst="line">
            <a:avLst/>
          </a:prstGeom>
          <a:noFill/>
          <a:ln w="3175" cap="flat" cmpd="sng" algn="ctr">
            <a:solidFill>
              <a:sysClr val="windowText" lastClr="000000">
                <a:lumMod val="50000"/>
                <a:lumOff val="50000"/>
              </a:sysClr>
            </a:solidFill>
            <a:prstDash val="solid"/>
            <a:miter lim="800000"/>
          </a:ln>
          <a:effectLst/>
        </p:spPr>
      </p:cxnSp>
      <p:sp>
        <p:nvSpPr>
          <p:cNvPr id="15" name="TextBox 14">
            <a:extLst>
              <a:ext uri="{FF2B5EF4-FFF2-40B4-BE49-F238E27FC236}">
                <a16:creationId xmlns:a16="http://schemas.microsoft.com/office/drawing/2014/main" id="{DA0F00EC-7D3A-99EE-F7E4-CA69CCF82A5A}"/>
              </a:ext>
            </a:extLst>
          </p:cNvPr>
          <p:cNvSpPr txBox="1"/>
          <p:nvPr/>
        </p:nvSpPr>
        <p:spPr>
          <a:xfrm>
            <a:off x="1550368" y="1343551"/>
            <a:ext cx="1405562" cy="276999"/>
          </a:xfrm>
          <a:prstGeom prst="rect">
            <a:avLst/>
          </a:prstGeom>
          <a:noFill/>
        </p:spPr>
        <p:txBody>
          <a:bodyPr wrap="square" rtlCol="0">
            <a:spAutoFit/>
          </a:bodyPr>
          <a:lstStyle/>
          <a:p>
            <a:pPr algn="ctr"/>
            <a:r>
              <a:rPr lang="en-US" sz="1200" b="1" dirty="0">
                <a:solidFill>
                  <a:schemeClr val="tx1">
                    <a:lumMod val="65000"/>
                    <a:lumOff val="35000"/>
                  </a:schemeClr>
                </a:solidFill>
                <a:latin typeface="Calibri Light" panose="020F0302020204030204"/>
              </a:rPr>
              <a:t>Solution Ecosystem</a:t>
            </a:r>
          </a:p>
        </p:txBody>
      </p:sp>
      <p:sp>
        <p:nvSpPr>
          <p:cNvPr id="7" name="TextBox 6">
            <a:extLst>
              <a:ext uri="{FF2B5EF4-FFF2-40B4-BE49-F238E27FC236}">
                <a16:creationId xmlns:a16="http://schemas.microsoft.com/office/drawing/2014/main" id="{91468638-3383-AAD9-BE5B-FEECDF939267}"/>
              </a:ext>
            </a:extLst>
          </p:cNvPr>
          <p:cNvSpPr txBox="1"/>
          <p:nvPr/>
        </p:nvSpPr>
        <p:spPr>
          <a:xfrm>
            <a:off x="8088908" y="1339742"/>
            <a:ext cx="1954000" cy="348942"/>
          </a:xfrm>
          <a:prstGeom prst="rect">
            <a:avLst/>
          </a:prstGeom>
          <a:solidFill>
            <a:schemeClr val="bg1"/>
          </a:solidFill>
        </p:spPr>
        <p:txBody>
          <a:bodyPr wrap="square" anchor="t">
            <a:spAutoFit/>
          </a:bodyPr>
          <a:lstStyle/>
          <a:p>
            <a:pPr algn="ctr" rtl="1">
              <a:lnSpc>
                <a:spcPct val="115000"/>
              </a:lnSpc>
            </a:pPr>
            <a:r>
              <a:rPr sz="1450" b="1">
                <a:solidFill>
                  <a:srgbClr val="F0BE0F"/>
                </a:solidFill>
                <a:latin typeface="Yekan Bakh"/>
                <a:cs typeface="Yekan Bakh"/>
              </a:rPr>
              <a:t>نقش‌های اکوسیستمی</a:t>
            </a:r>
          </a:p>
        </p:txBody>
      </p:sp>
      <p:sp>
        <p:nvSpPr>
          <p:cNvPr id="62" name="TextBox 61">
            <a:extLst>
              <a:ext uri="{FF2B5EF4-FFF2-40B4-BE49-F238E27FC236}">
                <a16:creationId xmlns:a16="http://schemas.microsoft.com/office/drawing/2014/main" id="{F3826561-3AD1-7CEA-E530-761A72770223}"/>
              </a:ext>
            </a:extLst>
          </p:cNvPr>
          <p:cNvSpPr txBox="1"/>
          <p:nvPr/>
        </p:nvSpPr>
        <p:spPr>
          <a:xfrm>
            <a:off x="3569379" y="1978683"/>
            <a:ext cx="1234400" cy="33855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chemeClr val="tx1">
                    <a:lumMod val="65000"/>
                    <a:lumOff val="35000"/>
                  </a:schemeClr>
                </a:solidFill>
                <a:effectLst/>
                <a:uLnTx/>
                <a:uFillTx/>
                <a:latin typeface="+mj-lt"/>
                <a:ea typeface="Calibri Light" panose="020F0302020204030204" pitchFamily="34" charset="0"/>
                <a:cs typeface="Calibri Light" panose="020F0302020204030204" pitchFamily="34" charset="0"/>
              </a:rPr>
              <a:t>Suppliers</a:t>
            </a:r>
          </a:p>
        </p:txBody>
      </p:sp>
      <p:sp>
        <p:nvSpPr>
          <p:cNvPr id="10" name="Rectangle: Rounded Corners 9">
            <a:extLst>
              <a:ext uri="{FF2B5EF4-FFF2-40B4-BE49-F238E27FC236}">
                <a16:creationId xmlns:a16="http://schemas.microsoft.com/office/drawing/2014/main" id="{167CA38C-9669-9D08-928A-2DAEBF557211}"/>
              </a:ext>
            </a:extLst>
          </p:cNvPr>
          <p:cNvSpPr/>
          <p:nvPr/>
        </p:nvSpPr>
        <p:spPr>
          <a:xfrm>
            <a:off x="6936319" y="1760087"/>
            <a:ext cx="4259178" cy="775746"/>
          </a:xfrm>
          <a:prstGeom prst="roundRect">
            <a:avLst/>
          </a:prstGeom>
          <a:solidFill>
            <a:schemeClr val="bg1">
              <a:lumMod val="95000"/>
              <a:alpha val="88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spcAft>
                <a:spcPts val="300"/>
              </a:spcAft>
            </a:pPr>
            <a:r>
              <a:rPr lang="en-GB" sz="1100" b="1" dirty="0">
                <a:solidFill>
                  <a:srgbClr val="004D80"/>
                </a:solidFill>
                <a:latin typeface="Yekan Bakh" pitchFamily="2" charset="-78"/>
                <a:ea typeface="Yekan Bakh" pitchFamily="2" charset="-78"/>
                <a:cs typeface="Yekan Bakh" pitchFamily="2" charset="-78"/>
              </a:rPr>
              <a:t>Supplier</a:t>
            </a:r>
            <a:r>
              <a:rPr lang="fa-IR" sz="1100" b="1" dirty="0">
                <a:solidFill>
                  <a:srgbClr val="004D80"/>
                </a:solidFill>
                <a:latin typeface="Yekan Bakh" pitchFamily="2" charset="-78"/>
                <a:ea typeface="Yekan Bakh" pitchFamily="2" charset="-78"/>
                <a:cs typeface="Yekan Bakh" pitchFamily="2" charset="-78"/>
              </a:rPr>
              <a:t> (پارتنرها)</a:t>
            </a:r>
            <a:endParaRPr lang="en-GB" sz="1100" b="1" dirty="0">
              <a:solidFill>
                <a:srgbClr val="004D80"/>
              </a:solidFill>
              <a:latin typeface="Yekan Bakh" pitchFamily="2" charset="-78"/>
              <a:ea typeface="Yekan Bakh" pitchFamily="2" charset="-78"/>
              <a:cs typeface="Yekan Bakh" pitchFamily="2" charset="-78"/>
            </a:endParaRPr>
          </a:p>
          <a:p>
            <a:pPr algn="justLow" rtl="1"/>
            <a:r>
              <a:rPr lang="fa-IR" sz="900" dirty="0">
                <a:solidFill>
                  <a:schemeClr val="tx1">
                    <a:lumMod val="50000"/>
                    <a:lumOff val="50000"/>
                  </a:schemeClr>
                </a:solidFill>
                <a:latin typeface="Yekan Bakh" pitchFamily="2" charset="-78"/>
                <a:ea typeface="Yekan Bakh" pitchFamily="2" charset="-78"/>
                <a:cs typeface="Yekan Bakh" pitchFamily="2" charset="-78"/>
              </a:rPr>
              <a:t>پارتنرهای تخصصی شبکه تامین کنندگان خدمات حرفه ای اعمل از فنی/حقوقی/مالی که بازوی عملیاتی و اجرایی اکوسیستم فرصت ایران هستند. </a:t>
            </a:r>
          </a:p>
        </p:txBody>
      </p:sp>
      <p:sp>
        <p:nvSpPr>
          <p:cNvPr id="63" name="TextBox 62">
            <a:extLst>
              <a:ext uri="{FF2B5EF4-FFF2-40B4-BE49-F238E27FC236}">
                <a16:creationId xmlns:a16="http://schemas.microsoft.com/office/drawing/2014/main" id="{74758036-6E19-7C59-DD3D-C3D6CA05BB5E}"/>
              </a:ext>
            </a:extLst>
          </p:cNvPr>
          <p:cNvSpPr txBox="1"/>
          <p:nvPr/>
        </p:nvSpPr>
        <p:spPr>
          <a:xfrm>
            <a:off x="3569379" y="3050954"/>
            <a:ext cx="1234400" cy="33855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C00000"/>
                </a:solidFill>
                <a:effectLst/>
                <a:uLnTx/>
                <a:uFillTx/>
                <a:latin typeface="+mj-lt"/>
                <a:ea typeface="Calibri Light" panose="020F0302020204030204" pitchFamily="34" charset="0"/>
                <a:cs typeface="Calibri Light" panose="020F0302020204030204" pitchFamily="34" charset="0"/>
              </a:rPr>
              <a:t>Core Firm</a:t>
            </a:r>
          </a:p>
        </p:txBody>
      </p:sp>
      <p:sp>
        <p:nvSpPr>
          <p:cNvPr id="11" name="Rectangle: Rounded Corners 10">
            <a:extLst>
              <a:ext uri="{FF2B5EF4-FFF2-40B4-BE49-F238E27FC236}">
                <a16:creationId xmlns:a16="http://schemas.microsoft.com/office/drawing/2014/main" id="{9B2A2D89-8C53-C2F8-D1D1-204C463AC02E}"/>
              </a:ext>
            </a:extLst>
          </p:cNvPr>
          <p:cNvSpPr/>
          <p:nvPr/>
        </p:nvSpPr>
        <p:spPr>
          <a:xfrm>
            <a:off x="6936319" y="2832358"/>
            <a:ext cx="4259178" cy="775746"/>
          </a:xfrm>
          <a:prstGeom prst="roundRect">
            <a:avLst/>
          </a:prstGeom>
          <a:solidFill>
            <a:schemeClr val="bg1">
              <a:lumMod val="95000"/>
              <a:alpha val="88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spcAft>
                <a:spcPts val="300"/>
              </a:spcAft>
            </a:pPr>
            <a:r>
              <a:rPr lang="en-GB" sz="1100" b="1" dirty="0">
                <a:solidFill>
                  <a:srgbClr val="004D80"/>
                </a:solidFill>
                <a:latin typeface="Yekan Bakh" pitchFamily="2" charset="-78"/>
                <a:ea typeface="Yekan Bakh" pitchFamily="2" charset="-78"/>
                <a:cs typeface="Yekan Bakh" pitchFamily="2" charset="-78"/>
              </a:rPr>
              <a:t>Core </a:t>
            </a:r>
            <a:r>
              <a:rPr lang="en-GB" sz="1100" b="1" dirty="0" err="1">
                <a:solidFill>
                  <a:srgbClr val="004D80"/>
                </a:solidFill>
                <a:latin typeface="Yekan Bakh" pitchFamily="2" charset="-78"/>
                <a:ea typeface="Yekan Bakh" pitchFamily="2" charset="-78"/>
                <a:cs typeface="Yekan Bakh" pitchFamily="2" charset="-78"/>
              </a:rPr>
              <a:t>firme</a:t>
            </a:r>
            <a:r>
              <a:rPr lang="fa-IR" sz="1100" b="1" dirty="0">
                <a:solidFill>
                  <a:srgbClr val="004D80"/>
                </a:solidFill>
                <a:latin typeface="Yekan Bakh" pitchFamily="2" charset="-78"/>
                <a:ea typeface="Yekan Bakh" pitchFamily="2" charset="-78"/>
                <a:cs typeface="Yekan Bakh" pitchFamily="2" charset="-78"/>
              </a:rPr>
              <a:t> (اکوسیستم فرصت ایران)</a:t>
            </a:r>
          </a:p>
          <a:p>
            <a:pPr algn="ctr" rtl="1"/>
            <a:r>
              <a:rPr lang="fa-IR" sz="900" dirty="0">
                <a:solidFill>
                  <a:schemeClr val="tx1">
                    <a:lumMod val="50000"/>
                    <a:lumOff val="50000"/>
                  </a:schemeClr>
                </a:solidFill>
                <a:latin typeface="Yekan Bakh" pitchFamily="2" charset="-78"/>
                <a:ea typeface="Yekan Bakh" pitchFamily="2" charset="-78"/>
                <a:cs typeface="Yekan Bakh" pitchFamily="2" charset="-78"/>
              </a:rPr>
              <a:t>قواعد را تعیین می‌کند، دسترسی را هماهنگ می‌کند و فرصت ها وسرمایه‌گذاری‌ها جهت می‌دهد </a:t>
            </a:r>
          </a:p>
        </p:txBody>
      </p:sp>
      <p:sp>
        <p:nvSpPr>
          <p:cNvPr id="65" name="TextBox 64">
            <a:extLst>
              <a:ext uri="{FF2B5EF4-FFF2-40B4-BE49-F238E27FC236}">
                <a16:creationId xmlns:a16="http://schemas.microsoft.com/office/drawing/2014/main" id="{2600A170-0105-1206-1C68-D9793C8372A8}"/>
              </a:ext>
            </a:extLst>
          </p:cNvPr>
          <p:cNvSpPr txBox="1"/>
          <p:nvPr/>
        </p:nvSpPr>
        <p:spPr>
          <a:xfrm>
            <a:off x="3569379" y="5195496"/>
            <a:ext cx="1869076" cy="33855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chemeClr val="tx1">
                    <a:lumMod val="65000"/>
                    <a:lumOff val="35000"/>
                  </a:schemeClr>
                </a:solidFill>
                <a:effectLst/>
                <a:uLnTx/>
                <a:uFillTx/>
                <a:latin typeface="+mj-lt"/>
                <a:ea typeface="Calibri Light" panose="020F0302020204030204" pitchFamily="34" charset="0"/>
                <a:cs typeface="Calibri Light" panose="020F0302020204030204" pitchFamily="34" charset="0"/>
              </a:rPr>
              <a:t>Customers</a:t>
            </a:r>
          </a:p>
        </p:txBody>
      </p:sp>
      <p:sp>
        <p:nvSpPr>
          <p:cNvPr id="12" name="Rectangle: Rounded Corners 11">
            <a:extLst>
              <a:ext uri="{FF2B5EF4-FFF2-40B4-BE49-F238E27FC236}">
                <a16:creationId xmlns:a16="http://schemas.microsoft.com/office/drawing/2014/main" id="{D6B91DD1-2BD5-FAA6-8D72-8AD289EC85B5}"/>
              </a:ext>
            </a:extLst>
          </p:cNvPr>
          <p:cNvSpPr/>
          <p:nvPr/>
        </p:nvSpPr>
        <p:spPr>
          <a:xfrm>
            <a:off x="6936319" y="4976900"/>
            <a:ext cx="4259178" cy="775746"/>
          </a:xfrm>
          <a:prstGeom prst="roundRect">
            <a:avLst/>
          </a:prstGeom>
          <a:solidFill>
            <a:schemeClr val="bg1">
              <a:lumMod val="95000"/>
              <a:alpha val="88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spcAft>
                <a:spcPts val="300"/>
              </a:spcAft>
            </a:pPr>
            <a:r>
              <a:rPr lang="en-GB" sz="1100" b="1" dirty="0">
                <a:solidFill>
                  <a:srgbClr val="004D80"/>
                </a:solidFill>
                <a:latin typeface="Yekan Bakh" pitchFamily="2" charset="-78"/>
                <a:ea typeface="Yekan Bakh" pitchFamily="2" charset="-78"/>
                <a:cs typeface="Yekan Bakh" pitchFamily="2" charset="-78"/>
              </a:rPr>
              <a:t>Customers</a:t>
            </a:r>
            <a:r>
              <a:rPr lang="fa-IR" sz="1100" b="1" dirty="0">
                <a:solidFill>
                  <a:srgbClr val="004D80"/>
                </a:solidFill>
                <a:latin typeface="Yekan Bakh" pitchFamily="2" charset="-78"/>
                <a:ea typeface="Yekan Bakh" pitchFamily="2" charset="-78"/>
                <a:cs typeface="Yekan Bakh" pitchFamily="2" charset="-78"/>
              </a:rPr>
              <a:t> (مشتریان)</a:t>
            </a:r>
            <a:endParaRPr lang="en-GB" sz="1100" b="1" dirty="0">
              <a:solidFill>
                <a:srgbClr val="004D80"/>
              </a:solidFill>
              <a:latin typeface="Yekan Bakh" pitchFamily="2" charset="-78"/>
              <a:ea typeface="Yekan Bakh" pitchFamily="2" charset="-78"/>
              <a:cs typeface="Yekan Bakh" pitchFamily="2" charset="-78"/>
            </a:endParaRPr>
          </a:p>
          <a:p>
            <a:pPr algn="ctr" rtl="1"/>
            <a:r>
              <a:rPr lang="fa-IR" sz="900" dirty="0">
                <a:solidFill>
                  <a:schemeClr val="tx1">
                    <a:lumMod val="50000"/>
                    <a:lumOff val="50000"/>
                  </a:schemeClr>
                </a:solidFill>
                <a:latin typeface="Yekan Bakh" pitchFamily="2" charset="-78"/>
                <a:ea typeface="Yekan Bakh" pitchFamily="2" charset="-78"/>
                <a:cs typeface="Yekan Bakh" pitchFamily="2" charset="-78"/>
              </a:rPr>
              <a:t>مشتریان که شبکه ذی نفعان کلیدی ما هستند که در شش پرسونا شناسایی شده‌اند و مستقیما به ارزشی که اکوسیستم فرصت ایران ارائه می ‌دهد نیاز دارند. این جنس نیاز از جنس دسترسی، قدرت قضاوت و اعتبار است. </a:t>
            </a:r>
          </a:p>
        </p:txBody>
      </p:sp>
      <p:sp>
        <p:nvSpPr>
          <p:cNvPr id="64" name="TextBox 63">
            <a:extLst>
              <a:ext uri="{FF2B5EF4-FFF2-40B4-BE49-F238E27FC236}">
                <a16:creationId xmlns:a16="http://schemas.microsoft.com/office/drawing/2014/main" id="{26A2CC81-CD39-B6F8-4107-BEDB1AD2DA80}"/>
              </a:ext>
            </a:extLst>
          </p:cNvPr>
          <p:cNvSpPr txBox="1"/>
          <p:nvPr/>
        </p:nvSpPr>
        <p:spPr>
          <a:xfrm>
            <a:off x="3569379" y="4123225"/>
            <a:ext cx="2027453" cy="33855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chemeClr val="tx1">
                    <a:lumMod val="65000"/>
                    <a:lumOff val="35000"/>
                  </a:schemeClr>
                </a:solidFill>
                <a:effectLst/>
                <a:uLnTx/>
                <a:uFillTx/>
                <a:latin typeface="+mj-lt"/>
                <a:ea typeface="Calibri Light" panose="020F0302020204030204" pitchFamily="34" charset="0"/>
                <a:cs typeface="Calibri Light" panose="020F0302020204030204" pitchFamily="34" charset="0"/>
              </a:rPr>
              <a:t>Complementors</a:t>
            </a:r>
          </a:p>
        </p:txBody>
      </p:sp>
      <p:sp>
        <p:nvSpPr>
          <p:cNvPr id="13" name="Rectangle: Rounded Corners 12">
            <a:extLst>
              <a:ext uri="{FF2B5EF4-FFF2-40B4-BE49-F238E27FC236}">
                <a16:creationId xmlns:a16="http://schemas.microsoft.com/office/drawing/2014/main" id="{6034FA26-2670-8C44-4998-3035350A469A}"/>
              </a:ext>
            </a:extLst>
          </p:cNvPr>
          <p:cNvSpPr/>
          <p:nvPr/>
        </p:nvSpPr>
        <p:spPr>
          <a:xfrm>
            <a:off x="6936319" y="3904629"/>
            <a:ext cx="4259178" cy="775746"/>
          </a:xfrm>
          <a:prstGeom prst="roundRect">
            <a:avLst/>
          </a:prstGeom>
          <a:solidFill>
            <a:schemeClr val="bg1">
              <a:lumMod val="95000"/>
              <a:alpha val="88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spcAft>
                <a:spcPts val="300"/>
              </a:spcAft>
            </a:pPr>
            <a:r>
              <a:rPr lang="en-GB" sz="1100" b="1" dirty="0">
                <a:solidFill>
                  <a:srgbClr val="004D80"/>
                </a:solidFill>
                <a:latin typeface="Yekan Bakh" pitchFamily="2" charset="-78"/>
                <a:ea typeface="Yekan Bakh" pitchFamily="2" charset="-78"/>
                <a:cs typeface="Yekan Bakh" pitchFamily="2" charset="-78"/>
              </a:rPr>
              <a:t>Complementor </a:t>
            </a:r>
            <a:r>
              <a:rPr lang="fa-IR" sz="1100" b="1" dirty="0">
                <a:solidFill>
                  <a:srgbClr val="004D80"/>
                </a:solidFill>
                <a:latin typeface="Yekan Bakh" pitchFamily="2" charset="-78"/>
                <a:ea typeface="Yekan Bakh" pitchFamily="2" charset="-78"/>
                <a:cs typeface="Yekan Bakh" pitchFamily="2" charset="-78"/>
              </a:rPr>
              <a:t> (شرکا و معرف‌ها)  </a:t>
            </a:r>
            <a:endParaRPr lang="en-US" sz="1100" b="1" dirty="0">
              <a:solidFill>
                <a:srgbClr val="004D80"/>
              </a:solidFill>
              <a:latin typeface="Yekan Bakh" pitchFamily="2" charset="-78"/>
              <a:ea typeface="Yekan Bakh" pitchFamily="2" charset="-78"/>
              <a:cs typeface="Yekan Bakh" pitchFamily="2" charset="-78"/>
            </a:endParaRPr>
          </a:p>
          <a:p>
            <a:pPr algn="ctr" rtl="1"/>
            <a:r>
              <a:rPr lang="fa-IR" sz="900" dirty="0">
                <a:solidFill>
                  <a:schemeClr val="tx1">
                    <a:lumMod val="50000"/>
                    <a:lumOff val="50000"/>
                  </a:schemeClr>
                </a:solidFill>
                <a:latin typeface="Yekan Bakh" pitchFamily="2" charset="-78"/>
                <a:ea typeface="Yekan Bakh" pitchFamily="2" charset="-78"/>
                <a:cs typeface="Yekan Bakh" pitchFamily="2" charset="-78"/>
              </a:rPr>
              <a:t>برندهای بین‌المللی حسابرسی/حقوقی، اتاق بازرگانی، ایرانیان خارج از کشور، شبکه مشاوران/</a:t>
            </a:r>
            <a:r>
              <a:rPr lang="en-US" sz="900" dirty="0">
                <a:solidFill>
                  <a:schemeClr val="tx1">
                    <a:lumMod val="50000"/>
                    <a:lumOff val="50000"/>
                  </a:schemeClr>
                </a:solidFill>
                <a:latin typeface="Yekan Bakh" pitchFamily="2" charset="-78"/>
                <a:ea typeface="Yekan Bakh" pitchFamily="2" charset="-78"/>
                <a:cs typeface="Yekan Bakh" pitchFamily="2" charset="-78"/>
              </a:rPr>
              <a:t>CFO/VC-PE — </a:t>
            </a:r>
            <a:r>
              <a:rPr lang="fa-IR" sz="900" dirty="0">
                <a:solidFill>
                  <a:schemeClr val="tx1">
                    <a:lumMod val="50000"/>
                    <a:lumOff val="50000"/>
                  </a:schemeClr>
                </a:solidFill>
                <a:latin typeface="Yekan Bakh" pitchFamily="2" charset="-78"/>
                <a:ea typeface="Yekan Bakh" pitchFamily="2" charset="-78"/>
                <a:cs typeface="Yekan Bakh" pitchFamily="2" charset="-78"/>
              </a:rPr>
              <a:t> ارزش مکمل به کسب‌وکار/سرمایه‌گذار نهایی می‌دهند بدون آنکه رقیب اکوسیستم فرصت ایران باشند.</a:t>
            </a:r>
          </a:p>
        </p:txBody>
      </p:sp>
      <p:cxnSp>
        <p:nvCxnSpPr>
          <p:cNvPr id="23" name="Straight Arrow Connector 22">
            <a:extLst>
              <a:ext uri="{FF2B5EF4-FFF2-40B4-BE49-F238E27FC236}">
                <a16:creationId xmlns:a16="http://schemas.microsoft.com/office/drawing/2014/main" id="{D62A7930-3AC4-B094-570F-693905F0DDB2}"/>
              </a:ext>
            </a:extLst>
          </p:cNvPr>
          <p:cNvCxnSpPr>
            <a:cxnSpLocks/>
          </p:cNvCxnSpPr>
          <p:nvPr/>
        </p:nvCxnSpPr>
        <p:spPr>
          <a:xfrm flipH="1">
            <a:off x="5100507" y="2147960"/>
            <a:ext cx="1828800" cy="13529"/>
          </a:xfrm>
          <a:prstGeom prst="straightConnector1">
            <a:avLst/>
          </a:prstGeom>
          <a:ln>
            <a:prstDash val="dash"/>
            <a:tailEnd type="triangle"/>
          </a:ln>
        </p:spPr>
        <p:style>
          <a:lnRef idx="1">
            <a:schemeClr val="accent2"/>
          </a:lnRef>
          <a:fillRef idx="0">
            <a:schemeClr val="accent2"/>
          </a:fillRef>
          <a:effectRef idx="0">
            <a:schemeClr val="accent2"/>
          </a:effectRef>
          <a:fontRef idx="minor">
            <a:schemeClr val="tx1"/>
          </a:fontRef>
        </p:style>
      </p:cxnSp>
      <p:cxnSp>
        <p:nvCxnSpPr>
          <p:cNvPr id="24" name="Straight Arrow Connector 23">
            <a:extLst>
              <a:ext uri="{FF2B5EF4-FFF2-40B4-BE49-F238E27FC236}">
                <a16:creationId xmlns:a16="http://schemas.microsoft.com/office/drawing/2014/main" id="{10A01E52-F3B5-9F91-326F-ED1A6C7F45AF}"/>
              </a:ext>
            </a:extLst>
          </p:cNvPr>
          <p:cNvCxnSpPr/>
          <p:nvPr/>
        </p:nvCxnSpPr>
        <p:spPr>
          <a:xfrm flipH="1">
            <a:off x="5100507" y="3220231"/>
            <a:ext cx="1828800" cy="13529"/>
          </a:xfrm>
          <a:prstGeom prst="straightConnector1">
            <a:avLst/>
          </a:prstGeom>
          <a:ln>
            <a:prstDash val="dash"/>
            <a:tailEnd type="triangle"/>
          </a:ln>
        </p:spPr>
        <p:style>
          <a:lnRef idx="1">
            <a:schemeClr val="accent2"/>
          </a:lnRef>
          <a:fillRef idx="0">
            <a:schemeClr val="accent2"/>
          </a:fillRef>
          <a:effectRef idx="0">
            <a:schemeClr val="accent2"/>
          </a:effectRef>
          <a:fontRef idx="minor">
            <a:schemeClr val="tx1"/>
          </a:fontRef>
        </p:style>
      </p:cxnSp>
      <p:cxnSp>
        <p:nvCxnSpPr>
          <p:cNvPr id="25" name="Straight Arrow Connector 24">
            <a:extLst>
              <a:ext uri="{FF2B5EF4-FFF2-40B4-BE49-F238E27FC236}">
                <a16:creationId xmlns:a16="http://schemas.microsoft.com/office/drawing/2014/main" id="{5FE7E315-36F6-DEC1-E679-0925AC506C72}"/>
              </a:ext>
            </a:extLst>
          </p:cNvPr>
          <p:cNvCxnSpPr/>
          <p:nvPr/>
        </p:nvCxnSpPr>
        <p:spPr>
          <a:xfrm flipH="1">
            <a:off x="5100507" y="4293903"/>
            <a:ext cx="1828800" cy="13529"/>
          </a:xfrm>
          <a:prstGeom prst="straightConnector1">
            <a:avLst/>
          </a:prstGeom>
          <a:ln>
            <a:prstDash val="dash"/>
            <a:tailEnd type="triangle"/>
          </a:ln>
        </p:spPr>
        <p:style>
          <a:lnRef idx="1">
            <a:schemeClr val="accent2"/>
          </a:lnRef>
          <a:fillRef idx="0">
            <a:schemeClr val="accent2"/>
          </a:fillRef>
          <a:effectRef idx="0">
            <a:schemeClr val="accent2"/>
          </a:effectRef>
          <a:fontRef idx="minor">
            <a:schemeClr val="tx1"/>
          </a:fontRef>
        </p:style>
      </p:cxnSp>
      <p:cxnSp>
        <p:nvCxnSpPr>
          <p:cNvPr id="26" name="Straight Arrow Connector 25">
            <a:extLst>
              <a:ext uri="{FF2B5EF4-FFF2-40B4-BE49-F238E27FC236}">
                <a16:creationId xmlns:a16="http://schemas.microsoft.com/office/drawing/2014/main" id="{7E54516B-1D58-3E6F-B0C7-9F7DD40E4737}"/>
              </a:ext>
            </a:extLst>
          </p:cNvPr>
          <p:cNvCxnSpPr/>
          <p:nvPr/>
        </p:nvCxnSpPr>
        <p:spPr>
          <a:xfrm flipH="1">
            <a:off x="5100507" y="5360264"/>
            <a:ext cx="1828800" cy="13529"/>
          </a:xfrm>
          <a:prstGeom prst="straightConnector1">
            <a:avLst/>
          </a:prstGeom>
          <a:ln>
            <a:prstDash val="dash"/>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322524851"/>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B0FD10-AC7A-C45B-F46C-751E2F4D698E}"/>
            </a:ext>
          </a:extLst>
        </p:cNvPr>
        <p:cNvGrpSpPr/>
        <p:nvPr/>
      </p:nvGrpSpPr>
      <p:grpSpPr>
        <a:xfrm>
          <a:off x="0" y="0"/>
          <a:ext cx="0" cy="0"/>
          <a:chOff x="0" y="0"/>
          <a:chExt cx="0" cy="0"/>
        </a:xfrm>
      </p:grpSpPr>
      <p:grpSp>
        <p:nvGrpSpPr>
          <p:cNvPr id="6" name="Group 5">
            <a:extLst>
              <a:ext uri="{FF2B5EF4-FFF2-40B4-BE49-F238E27FC236}">
                <a16:creationId xmlns:a16="http://schemas.microsoft.com/office/drawing/2014/main" id="{FF975E52-13E8-2EF4-65F9-FA3C0EFCF511}"/>
              </a:ext>
            </a:extLst>
          </p:cNvPr>
          <p:cNvGrpSpPr/>
          <p:nvPr/>
        </p:nvGrpSpPr>
        <p:grpSpPr>
          <a:xfrm>
            <a:off x="407773" y="2696821"/>
            <a:ext cx="4699486" cy="1189721"/>
            <a:chOff x="407773" y="1285396"/>
            <a:chExt cx="4699486" cy="1189721"/>
          </a:xfrm>
        </p:grpSpPr>
        <p:sp>
          <p:nvSpPr>
            <p:cNvPr id="23" name="Title 1">
              <a:extLst>
                <a:ext uri="{FF2B5EF4-FFF2-40B4-BE49-F238E27FC236}">
                  <a16:creationId xmlns:a16="http://schemas.microsoft.com/office/drawing/2014/main" id="{896ABC3D-FC04-5AC3-59AF-32CFC9C387B7}"/>
                </a:ext>
              </a:extLst>
            </p:cNvPr>
            <p:cNvSpPr txBox="1">
              <a:spLocks/>
            </p:cNvSpPr>
            <p:nvPr/>
          </p:nvSpPr>
          <p:spPr>
            <a:xfrm>
              <a:off x="407773" y="1285396"/>
              <a:ext cx="4699486" cy="693069"/>
            </a:xfrm>
            <a:prstGeom prst="rect">
              <a:avLst/>
            </a:prstGeom>
          </p:spPr>
          <p:txBody>
            <a:bodyPr lIns="91440" tIns="45720" rIns="91440" bIns="45720" anchor="t"/>
            <a:lstStyle>
              <a:lvl1pPr algn="justLow" defTabSz="1021516" rtl="1" eaLnBrk="1" latinLnBrk="0" hangingPunct="1">
                <a:lnSpc>
                  <a:spcPct val="90000"/>
                </a:lnSpc>
                <a:spcBef>
                  <a:spcPct val="0"/>
                </a:spcBef>
                <a:buNone/>
                <a:defRPr sz="4500" b="1" kern="1200">
                  <a:solidFill>
                    <a:schemeClr val="tx1">
                      <a:lumMod val="75000"/>
                      <a:lumOff val="25000"/>
                    </a:schemeClr>
                  </a:solidFill>
                  <a:latin typeface="Shabnam Bold FD" panose="020B0603030804020204" pitchFamily="34" charset="-78"/>
                  <a:ea typeface="+mj-ea"/>
                  <a:cs typeface="Shabnam Bold FD" panose="020B0603030804020204" pitchFamily="34" charset="-78"/>
                </a:defRPr>
              </a:lvl1pPr>
            </a:lstStyle>
            <a:p>
              <a:pPr marL="0" marR="0" lvl="0" indent="0" algn="ctr" defTabSz="1021516" rtl="0" eaLnBrk="1" fontAlgn="auto" latinLnBrk="0" hangingPunct="1">
                <a:lnSpc>
                  <a:spcPct val="90000"/>
                </a:lnSpc>
                <a:spcBef>
                  <a:spcPct val="0"/>
                </a:spcBef>
                <a:spcAft>
                  <a:spcPts val="300"/>
                </a:spcAft>
                <a:buClrTx/>
                <a:buSzTx/>
                <a:buFontTx/>
                <a:buNone/>
                <a:tabLst/>
                <a:defRPr/>
              </a:pPr>
              <a:r>
                <a:rPr kumimoji="0" lang="fa-IR" sz="3200" b="1" i="0" u="none" strike="noStrike" kern="1200" cap="none" spc="0" normalizeH="0" baseline="0" noProof="0" dirty="0">
                  <a:ln>
                    <a:noFill/>
                  </a:ln>
                  <a:solidFill>
                    <a:sysClr val="window" lastClr="FFFFFF">
                      <a:lumMod val="75000"/>
                      <a:lumOff val="25000"/>
                    </a:sysClr>
                  </a:solidFill>
                  <a:effectLst/>
                  <a:uLnTx/>
                  <a:uFillTx/>
                  <a:latin typeface="Yekan Bakh" pitchFamily="2" charset="-78"/>
                  <a:ea typeface="Yekan Bakh" pitchFamily="2" charset="-78"/>
                  <a:cs typeface="Yekan Bakh" pitchFamily="2" charset="-78"/>
                </a:rPr>
                <a:t>۴. ارتباط با مشتری</a:t>
              </a:r>
            </a:p>
            <a:p>
              <a:pPr marL="0" marR="0" lvl="0" indent="0" algn="ctr" defTabSz="1021516" rtl="0" eaLnBrk="1" fontAlgn="auto" latinLnBrk="0" hangingPunct="1">
                <a:lnSpc>
                  <a:spcPct val="90000"/>
                </a:lnSpc>
                <a:spcBef>
                  <a:spcPct val="0"/>
                </a:spcBef>
                <a:spcAft>
                  <a:spcPts val="0"/>
                </a:spcAft>
                <a:buClrTx/>
                <a:buSzTx/>
                <a:buFontTx/>
                <a:buNone/>
                <a:tabLst/>
                <a:defRPr/>
              </a:pPr>
              <a:r>
                <a:rPr kumimoji="0" lang="fa-IR" sz="1800" b="0"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معماری روابط و انتخاب برای هر پرسونا</a:t>
              </a:r>
            </a:p>
            <a:p>
              <a:pPr marL="0" marR="0" lvl="0" indent="0" algn="ctr" defTabSz="1021516" rtl="0" eaLnBrk="1" fontAlgn="auto" latinLnBrk="0" hangingPunct="1">
                <a:lnSpc>
                  <a:spcPct val="90000"/>
                </a:lnSpc>
                <a:spcBef>
                  <a:spcPct val="0"/>
                </a:spcBef>
                <a:spcAft>
                  <a:spcPts val="0"/>
                </a:spcAft>
                <a:buClrTx/>
                <a:buSzTx/>
                <a:buFontTx/>
                <a:buNone/>
                <a:tabLst/>
                <a:defRPr/>
              </a:pPr>
              <a:endParaRPr kumimoji="0" lang="fa-IR" sz="3200" b="1" i="0" u="none" strike="noStrike" kern="1200" cap="none" spc="0" normalizeH="0" baseline="0" noProof="0" dirty="0">
                <a:ln>
                  <a:noFill/>
                </a:ln>
                <a:solidFill>
                  <a:sysClr val="window" lastClr="FFFFFF">
                    <a:lumMod val="75000"/>
                    <a:lumOff val="25000"/>
                  </a:sysClr>
                </a:solidFill>
                <a:effectLst/>
                <a:uLnTx/>
                <a:uFillTx/>
                <a:latin typeface="Yekan Bakh" pitchFamily="2" charset="-78"/>
                <a:ea typeface="Yekan Bakh" pitchFamily="2" charset="-78"/>
                <a:cs typeface="Yekan Bakh" pitchFamily="2" charset="-78"/>
              </a:endParaRPr>
            </a:p>
          </p:txBody>
        </p:sp>
        <p:cxnSp>
          <p:nvCxnSpPr>
            <p:cNvPr id="25" name="Straight Connector 24">
              <a:extLst>
                <a:ext uri="{FF2B5EF4-FFF2-40B4-BE49-F238E27FC236}">
                  <a16:creationId xmlns:a16="http://schemas.microsoft.com/office/drawing/2014/main" id="{463763A2-D2DD-355E-2035-0B2AFA21476D}"/>
                </a:ext>
              </a:extLst>
            </p:cNvPr>
            <p:cNvCxnSpPr>
              <a:cxnSpLocks/>
            </p:cNvCxnSpPr>
            <p:nvPr/>
          </p:nvCxnSpPr>
          <p:spPr>
            <a:xfrm flipV="1">
              <a:off x="407773" y="2455732"/>
              <a:ext cx="4699486" cy="19385"/>
            </a:xfrm>
            <a:prstGeom prst="line">
              <a:avLst/>
            </a:prstGeom>
            <a:ln w="3175">
              <a:solidFill>
                <a:srgbClr val="F0BE0F">
                  <a:alpha val="74000"/>
                </a:srgb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094577A9-1D5F-B54E-5DAE-8A7DCDD9AC5E}"/>
                </a:ext>
              </a:extLst>
            </p:cNvPr>
            <p:cNvSpPr txBox="1"/>
            <p:nvPr/>
          </p:nvSpPr>
          <p:spPr>
            <a:xfrm>
              <a:off x="407773" y="2121859"/>
              <a:ext cx="4699486" cy="261610"/>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dirty="0">
                  <a:ln>
                    <a:noFill/>
                  </a:ln>
                  <a:solidFill>
                    <a:prstClr val="white">
                      <a:lumMod val="50000"/>
                    </a:prstClr>
                  </a:solidFill>
                  <a:effectLst/>
                  <a:uLnTx/>
                  <a:uFillTx/>
                  <a:latin typeface="Yekan Bakh" pitchFamily="2" charset="-78"/>
                  <a:ea typeface="Yekan Bakh" pitchFamily="2" charset="-78"/>
                  <a:cs typeface="Yekan Bakh" pitchFamily="2" charset="-78"/>
                </a:rPr>
                <a:t>از آرکی‌تایپ‌های رابطه تا انتخاب رابطه بر اساس ارزش مشتری و پیچیدگی نیاز</a:t>
              </a:r>
            </a:p>
          </p:txBody>
        </p:sp>
      </p:grpSp>
    </p:spTree>
    <p:extLst>
      <p:ext uri="{BB962C8B-B14F-4D97-AF65-F5344CB8AC3E}">
        <p14:creationId xmlns:p14="http://schemas.microsoft.com/office/powerpoint/2010/main" val="2650495206"/>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9" name="Group 58">
            <a:extLst>
              <a:ext uri="{FF2B5EF4-FFF2-40B4-BE49-F238E27FC236}">
                <a16:creationId xmlns:a16="http://schemas.microsoft.com/office/drawing/2014/main" id="{FF492AFA-E090-7F20-A534-455D57F36DF3}"/>
              </a:ext>
            </a:extLst>
          </p:cNvPr>
          <p:cNvGrpSpPr/>
          <p:nvPr/>
        </p:nvGrpSpPr>
        <p:grpSpPr>
          <a:xfrm>
            <a:off x="489866" y="1718845"/>
            <a:ext cx="9868296" cy="4076221"/>
            <a:chOff x="917377" y="1718845"/>
            <a:chExt cx="9868296" cy="4076221"/>
          </a:xfrm>
        </p:grpSpPr>
        <p:sp>
          <p:nvSpPr>
            <p:cNvPr id="3" name="TextBox 2">
              <a:extLst>
                <a:ext uri="{FF2B5EF4-FFF2-40B4-BE49-F238E27FC236}">
                  <a16:creationId xmlns:a16="http://schemas.microsoft.com/office/drawing/2014/main" id="{53D039F5-0AD8-519C-3814-8C98D3E0B5A9}"/>
                </a:ext>
              </a:extLst>
            </p:cNvPr>
            <p:cNvSpPr txBox="1"/>
            <p:nvPr/>
          </p:nvSpPr>
          <p:spPr>
            <a:xfrm>
              <a:off x="5851525" y="1726540"/>
              <a:ext cx="4359382" cy="538609"/>
            </a:xfrm>
            <a:prstGeom prst="rect">
              <a:avLst/>
            </a:prstGeom>
            <a:noFill/>
          </p:spPr>
          <p:txBody>
            <a:bodyPr wrap="square" rtlCol="0">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8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چارچوب کلی</a:t>
              </a:r>
            </a:p>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سؤال درست: چه نوع رابطه، با چه سرمایه‌گذاری سازمانی</a:t>
              </a:r>
              <a:endParaRPr kumimoji="0" lang="fa-IR" sz="1800" b="0"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p:txBody>
        </p:sp>
        <p:grpSp>
          <p:nvGrpSpPr>
            <p:cNvPr id="50" name="Group 49">
              <a:extLst>
                <a:ext uri="{FF2B5EF4-FFF2-40B4-BE49-F238E27FC236}">
                  <a16:creationId xmlns:a16="http://schemas.microsoft.com/office/drawing/2014/main" id="{AB89E6BC-1861-3F0B-18B4-91322B56BB93}"/>
                </a:ext>
              </a:extLst>
            </p:cNvPr>
            <p:cNvGrpSpPr/>
            <p:nvPr/>
          </p:nvGrpSpPr>
          <p:grpSpPr>
            <a:xfrm>
              <a:off x="10250096" y="1739082"/>
              <a:ext cx="535577" cy="584775"/>
              <a:chOff x="10250096" y="1684953"/>
              <a:chExt cx="535577" cy="584775"/>
            </a:xfrm>
          </p:grpSpPr>
          <p:sp>
            <p:nvSpPr>
              <p:cNvPr id="2" name="Rectangle: Rounded Corners 1">
                <a:extLst>
                  <a:ext uri="{FF2B5EF4-FFF2-40B4-BE49-F238E27FC236}">
                    <a16:creationId xmlns:a16="http://schemas.microsoft.com/office/drawing/2014/main" id="{CCB71863-3E8D-0511-77F6-13725D91AFD4}"/>
                  </a:ext>
                </a:extLst>
              </p:cNvPr>
              <p:cNvSpPr/>
              <p:nvPr/>
            </p:nvSpPr>
            <p:spPr>
              <a:xfrm>
                <a:off x="10289284" y="1708806"/>
                <a:ext cx="457200" cy="457200"/>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 name="TextBox 3">
                <a:extLst>
                  <a:ext uri="{FF2B5EF4-FFF2-40B4-BE49-F238E27FC236}">
                    <a16:creationId xmlns:a16="http://schemas.microsoft.com/office/drawing/2014/main" id="{AC0D6DCB-D6D4-BD10-1B66-83C403E577CD}"/>
                  </a:ext>
                </a:extLst>
              </p:cNvPr>
              <p:cNvSpPr txBox="1"/>
              <p:nvPr/>
            </p:nvSpPr>
            <p:spPr>
              <a:xfrm>
                <a:off x="10250096" y="1684953"/>
                <a:ext cx="535577" cy="584775"/>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3200" b="1" i="0" u="none" strike="noStrike" kern="1200" cap="none" spc="0" normalizeH="0" baseline="0" noProof="0" dirty="0">
                    <a:ln>
                      <a:noFill/>
                    </a:ln>
                    <a:solidFill>
                      <a:srgbClr val="707786"/>
                    </a:solidFill>
                    <a:effectLst/>
                    <a:uLnTx/>
                    <a:uFillTx/>
                    <a:latin typeface="Yekan Bakh FaNum SmBoldSmCond" pitchFamily="2" charset="-78"/>
                    <a:ea typeface="Yekan Bakh FaNum SmBoldSmCond" pitchFamily="2" charset="-78"/>
                    <a:cs typeface="Yekan Bakh FaNum SmBoldSmCond" pitchFamily="2" charset="-78"/>
                  </a:rPr>
                  <a:t>۱</a:t>
                </a:r>
                <a:endParaRPr kumimoji="0" lang="en-GB" sz="3200" b="1" i="0" u="none" strike="noStrike" kern="1200" cap="none" spc="0" normalizeH="0" baseline="0" noProof="0" dirty="0">
                  <a:ln>
                    <a:noFill/>
                  </a:ln>
                  <a:solidFill>
                    <a:srgbClr val="707786"/>
                  </a:solidFill>
                  <a:effectLst/>
                  <a:uLnTx/>
                  <a:uFillTx/>
                  <a:latin typeface="Yekan Bakh FaNum SmBoldSmCond" pitchFamily="2" charset="-78"/>
                  <a:ea typeface="Yekan Bakh FaNum SmBoldSmCond" pitchFamily="2" charset="-78"/>
                  <a:cs typeface="Yekan Bakh FaNum SmBoldSmCond" pitchFamily="2" charset="-78"/>
                </a:endParaRPr>
              </a:p>
            </p:txBody>
          </p:sp>
        </p:grpSp>
        <p:sp>
          <p:nvSpPr>
            <p:cNvPr id="6" name="TextBox 5">
              <a:extLst>
                <a:ext uri="{FF2B5EF4-FFF2-40B4-BE49-F238E27FC236}">
                  <a16:creationId xmlns:a16="http://schemas.microsoft.com/office/drawing/2014/main" id="{3FBF02EB-B8D9-AEC9-FB41-C8CD37ABE761}"/>
                </a:ext>
              </a:extLst>
            </p:cNvPr>
            <p:cNvSpPr txBox="1"/>
            <p:nvPr/>
          </p:nvSpPr>
          <p:spPr>
            <a:xfrm>
              <a:off x="5851525" y="2602767"/>
              <a:ext cx="4359382" cy="538609"/>
            </a:xfrm>
            <a:prstGeom prst="rect">
              <a:avLst/>
            </a:prstGeom>
            <a:noFill/>
          </p:spPr>
          <p:txBody>
            <a:bodyPr wrap="square" rtlCol="0">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8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مدل انتخاب‌شده و معیار انتخاب</a:t>
              </a:r>
              <a:endParaRPr kumimoji="0" lang="fa-IR" sz="12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چرا دقیقاً همین هفت آرکی‌تایپ رابطه</a:t>
              </a:r>
            </a:p>
          </p:txBody>
        </p:sp>
        <p:grpSp>
          <p:nvGrpSpPr>
            <p:cNvPr id="51" name="Group 50">
              <a:extLst>
                <a:ext uri="{FF2B5EF4-FFF2-40B4-BE49-F238E27FC236}">
                  <a16:creationId xmlns:a16="http://schemas.microsoft.com/office/drawing/2014/main" id="{FC884081-3FEC-F82C-F723-9363E182720C}"/>
                </a:ext>
              </a:extLst>
            </p:cNvPr>
            <p:cNvGrpSpPr/>
            <p:nvPr/>
          </p:nvGrpSpPr>
          <p:grpSpPr>
            <a:xfrm>
              <a:off x="10250096" y="2615309"/>
              <a:ext cx="535577" cy="584775"/>
              <a:chOff x="10250096" y="2561180"/>
              <a:chExt cx="535577" cy="584775"/>
            </a:xfrm>
          </p:grpSpPr>
          <p:sp>
            <p:nvSpPr>
              <p:cNvPr id="5" name="Rectangle: Rounded Corners 4">
                <a:extLst>
                  <a:ext uri="{FF2B5EF4-FFF2-40B4-BE49-F238E27FC236}">
                    <a16:creationId xmlns:a16="http://schemas.microsoft.com/office/drawing/2014/main" id="{95259A2F-A9A2-B2D1-2D7E-4101171AB1E5}"/>
                  </a:ext>
                </a:extLst>
              </p:cNvPr>
              <p:cNvSpPr/>
              <p:nvPr/>
            </p:nvSpPr>
            <p:spPr>
              <a:xfrm>
                <a:off x="10289284" y="2585033"/>
                <a:ext cx="457200" cy="457200"/>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7" name="TextBox 6">
                <a:extLst>
                  <a:ext uri="{FF2B5EF4-FFF2-40B4-BE49-F238E27FC236}">
                    <a16:creationId xmlns:a16="http://schemas.microsoft.com/office/drawing/2014/main" id="{E5F35FCB-FF4C-9C8E-5154-8984E04CBC0B}"/>
                  </a:ext>
                </a:extLst>
              </p:cNvPr>
              <p:cNvSpPr txBox="1"/>
              <p:nvPr/>
            </p:nvSpPr>
            <p:spPr>
              <a:xfrm>
                <a:off x="10250096" y="2561180"/>
                <a:ext cx="535577" cy="584775"/>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3200" b="1" i="0" u="none" strike="noStrike" kern="1200" cap="none" spc="0" normalizeH="0" baseline="0" noProof="0" dirty="0">
                    <a:ln>
                      <a:noFill/>
                    </a:ln>
                    <a:solidFill>
                      <a:srgbClr val="707786"/>
                    </a:solidFill>
                    <a:effectLst/>
                    <a:uLnTx/>
                    <a:uFillTx/>
                    <a:latin typeface="Yekan Bakh FaNum SmBoldSmCond" pitchFamily="2" charset="-78"/>
                    <a:ea typeface="Yekan Bakh FaNum SmBoldSmCond" pitchFamily="2" charset="-78"/>
                    <a:cs typeface="Yekan Bakh FaNum SmBoldSmCond" pitchFamily="2" charset="-78"/>
                  </a:rPr>
                  <a:t>۲</a:t>
                </a:r>
                <a:endParaRPr kumimoji="0" lang="en-GB" sz="3200" b="1" i="0" u="none" strike="noStrike" kern="1200" cap="none" spc="0" normalizeH="0" baseline="0" noProof="0" dirty="0">
                  <a:ln>
                    <a:noFill/>
                  </a:ln>
                  <a:solidFill>
                    <a:srgbClr val="707786"/>
                  </a:solidFill>
                  <a:effectLst/>
                  <a:uLnTx/>
                  <a:uFillTx/>
                  <a:latin typeface="Yekan Bakh FaNum SmBoldSmCond" pitchFamily="2" charset="-78"/>
                  <a:ea typeface="Yekan Bakh FaNum SmBoldSmCond" pitchFamily="2" charset="-78"/>
                  <a:cs typeface="Yekan Bakh FaNum SmBoldSmCond" pitchFamily="2" charset="-78"/>
                </a:endParaRPr>
              </a:p>
            </p:txBody>
          </p:sp>
        </p:grpSp>
        <p:sp>
          <p:nvSpPr>
            <p:cNvPr id="9" name="TextBox 8">
              <a:extLst>
                <a:ext uri="{FF2B5EF4-FFF2-40B4-BE49-F238E27FC236}">
                  <a16:creationId xmlns:a16="http://schemas.microsoft.com/office/drawing/2014/main" id="{0408054C-05D7-9276-2D81-CBB3A19363E3}"/>
                </a:ext>
              </a:extLst>
            </p:cNvPr>
            <p:cNvSpPr txBox="1"/>
            <p:nvPr/>
          </p:nvSpPr>
          <p:spPr>
            <a:xfrm>
              <a:off x="5851525" y="3478995"/>
              <a:ext cx="4359382" cy="538609"/>
            </a:xfrm>
            <a:prstGeom prst="rect">
              <a:avLst/>
            </a:prstGeom>
            <a:noFill/>
          </p:spPr>
          <p:txBody>
            <a:bodyPr wrap="square" rtlCol="0">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8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تعریف عمیق هفت آرکی‌تایپ رابطه</a:t>
              </a:r>
            </a:p>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تعریف، منطق، نقش «اکوسیستم فرصت ایران»، مثال جهانی و بنچمارک</a:t>
              </a:r>
            </a:p>
          </p:txBody>
        </p:sp>
        <p:grpSp>
          <p:nvGrpSpPr>
            <p:cNvPr id="52" name="Group 51">
              <a:extLst>
                <a:ext uri="{FF2B5EF4-FFF2-40B4-BE49-F238E27FC236}">
                  <a16:creationId xmlns:a16="http://schemas.microsoft.com/office/drawing/2014/main" id="{42AF2FF6-D844-BFEF-FDC8-D835DD8E8A42}"/>
                </a:ext>
              </a:extLst>
            </p:cNvPr>
            <p:cNvGrpSpPr/>
            <p:nvPr/>
          </p:nvGrpSpPr>
          <p:grpSpPr>
            <a:xfrm>
              <a:off x="10250096" y="3491537"/>
              <a:ext cx="535577" cy="584775"/>
              <a:chOff x="10250096" y="3437407"/>
              <a:chExt cx="535577" cy="584775"/>
            </a:xfrm>
          </p:grpSpPr>
          <p:sp>
            <p:nvSpPr>
              <p:cNvPr id="8" name="Rectangle: Rounded Corners 7">
                <a:extLst>
                  <a:ext uri="{FF2B5EF4-FFF2-40B4-BE49-F238E27FC236}">
                    <a16:creationId xmlns:a16="http://schemas.microsoft.com/office/drawing/2014/main" id="{6F074DE3-DD23-8042-7032-8B7901577EA9}"/>
                  </a:ext>
                </a:extLst>
              </p:cNvPr>
              <p:cNvSpPr/>
              <p:nvPr/>
            </p:nvSpPr>
            <p:spPr>
              <a:xfrm>
                <a:off x="10289284" y="3461260"/>
                <a:ext cx="457200" cy="457200"/>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0" name="TextBox 9">
                <a:extLst>
                  <a:ext uri="{FF2B5EF4-FFF2-40B4-BE49-F238E27FC236}">
                    <a16:creationId xmlns:a16="http://schemas.microsoft.com/office/drawing/2014/main" id="{53F2AF8D-9DF4-55AB-BBD2-66372B264725}"/>
                  </a:ext>
                </a:extLst>
              </p:cNvPr>
              <p:cNvSpPr txBox="1"/>
              <p:nvPr/>
            </p:nvSpPr>
            <p:spPr>
              <a:xfrm>
                <a:off x="10250096" y="3437407"/>
                <a:ext cx="535577" cy="584775"/>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3200" b="1" i="0" u="none" strike="noStrike" kern="1200" cap="none" spc="0" normalizeH="0" baseline="0" noProof="0" dirty="0">
                    <a:ln>
                      <a:noFill/>
                    </a:ln>
                    <a:solidFill>
                      <a:srgbClr val="707786"/>
                    </a:solidFill>
                    <a:effectLst/>
                    <a:uLnTx/>
                    <a:uFillTx/>
                    <a:latin typeface="Yekan Bakh FaNum SmBoldSmCond" pitchFamily="2" charset="-78"/>
                    <a:ea typeface="Yekan Bakh FaNum SmBoldSmCond" pitchFamily="2" charset="-78"/>
                    <a:cs typeface="Yekan Bakh FaNum SmBoldSmCond" pitchFamily="2" charset="-78"/>
                  </a:rPr>
                  <a:t>۳</a:t>
                </a:r>
                <a:endParaRPr kumimoji="0" lang="en-GB" sz="3200" b="1" i="0" u="none" strike="noStrike" kern="1200" cap="none" spc="0" normalizeH="0" baseline="0" noProof="0" dirty="0">
                  <a:ln>
                    <a:noFill/>
                  </a:ln>
                  <a:solidFill>
                    <a:srgbClr val="707786"/>
                  </a:solidFill>
                  <a:effectLst/>
                  <a:uLnTx/>
                  <a:uFillTx/>
                  <a:latin typeface="Yekan Bakh FaNum SmBoldSmCond" pitchFamily="2" charset="-78"/>
                  <a:ea typeface="Yekan Bakh FaNum SmBoldSmCond" pitchFamily="2" charset="-78"/>
                  <a:cs typeface="Yekan Bakh FaNum SmBoldSmCond" pitchFamily="2" charset="-78"/>
                </a:endParaRPr>
              </a:p>
            </p:txBody>
          </p:sp>
        </p:grpSp>
        <p:sp>
          <p:nvSpPr>
            <p:cNvPr id="12" name="TextBox 11">
              <a:extLst>
                <a:ext uri="{FF2B5EF4-FFF2-40B4-BE49-F238E27FC236}">
                  <a16:creationId xmlns:a16="http://schemas.microsoft.com/office/drawing/2014/main" id="{96F684B2-1802-4714-AB89-B2F6D0B7821C}"/>
                </a:ext>
              </a:extLst>
            </p:cNvPr>
            <p:cNvSpPr txBox="1"/>
            <p:nvPr/>
          </p:nvSpPr>
          <p:spPr>
            <a:xfrm>
              <a:off x="5851525" y="4327561"/>
              <a:ext cx="4359382" cy="553998"/>
            </a:xfrm>
            <a:prstGeom prst="rect">
              <a:avLst/>
            </a:prstGeom>
            <a:noFill/>
          </p:spPr>
          <p:txBody>
            <a:bodyPr wrap="square" rtlCol="0">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8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خلاصه هفت آرکی‌تایپ</a:t>
              </a:r>
            </a:p>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یک جدول مرجع واحد</a:t>
              </a:r>
            </a:p>
          </p:txBody>
        </p:sp>
        <p:grpSp>
          <p:nvGrpSpPr>
            <p:cNvPr id="53" name="Group 52">
              <a:extLst>
                <a:ext uri="{FF2B5EF4-FFF2-40B4-BE49-F238E27FC236}">
                  <a16:creationId xmlns:a16="http://schemas.microsoft.com/office/drawing/2014/main" id="{95F4B8AB-7B2D-A2AF-141D-2248FF79CED7}"/>
                </a:ext>
              </a:extLst>
            </p:cNvPr>
            <p:cNvGrpSpPr/>
            <p:nvPr/>
          </p:nvGrpSpPr>
          <p:grpSpPr>
            <a:xfrm>
              <a:off x="10250096" y="4347798"/>
              <a:ext cx="535577" cy="584775"/>
              <a:chOff x="10250096" y="4313635"/>
              <a:chExt cx="535577" cy="584775"/>
            </a:xfrm>
          </p:grpSpPr>
          <p:sp>
            <p:nvSpPr>
              <p:cNvPr id="11" name="Rectangle: Rounded Corners 10">
                <a:extLst>
                  <a:ext uri="{FF2B5EF4-FFF2-40B4-BE49-F238E27FC236}">
                    <a16:creationId xmlns:a16="http://schemas.microsoft.com/office/drawing/2014/main" id="{F97E3BA1-2930-1217-E84A-FDF893DF2207}"/>
                  </a:ext>
                </a:extLst>
              </p:cNvPr>
              <p:cNvSpPr/>
              <p:nvPr/>
            </p:nvSpPr>
            <p:spPr>
              <a:xfrm>
                <a:off x="10289284" y="4337488"/>
                <a:ext cx="457200" cy="457200"/>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3" name="TextBox 12">
                <a:extLst>
                  <a:ext uri="{FF2B5EF4-FFF2-40B4-BE49-F238E27FC236}">
                    <a16:creationId xmlns:a16="http://schemas.microsoft.com/office/drawing/2014/main" id="{02D9385D-DDB5-E8C8-4FBD-D89A151EFB0A}"/>
                  </a:ext>
                </a:extLst>
              </p:cNvPr>
              <p:cNvSpPr txBox="1"/>
              <p:nvPr/>
            </p:nvSpPr>
            <p:spPr>
              <a:xfrm>
                <a:off x="10250096" y="4313635"/>
                <a:ext cx="535577" cy="584775"/>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3200" b="1" i="0" u="none" strike="noStrike" kern="1200" cap="none" spc="0" normalizeH="0" baseline="0" noProof="0" dirty="0">
                    <a:ln>
                      <a:noFill/>
                    </a:ln>
                    <a:solidFill>
                      <a:srgbClr val="707786"/>
                    </a:solidFill>
                    <a:effectLst/>
                    <a:uLnTx/>
                    <a:uFillTx/>
                    <a:latin typeface="Yekan Bakh FaNum SmBoldSmCond" pitchFamily="2" charset="-78"/>
                    <a:ea typeface="Yekan Bakh FaNum SmBoldSmCond" pitchFamily="2" charset="-78"/>
                    <a:cs typeface="Yekan Bakh FaNum SmBoldSmCond" pitchFamily="2" charset="-78"/>
                  </a:rPr>
                  <a:t>۴</a:t>
                </a:r>
                <a:endParaRPr kumimoji="0" lang="en-GB" sz="3200" b="1" i="0" u="none" strike="noStrike" kern="1200" cap="none" spc="0" normalizeH="0" baseline="0" noProof="0" dirty="0">
                  <a:ln>
                    <a:noFill/>
                  </a:ln>
                  <a:solidFill>
                    <a:srgbClr val="707786"/>
                  </a:solidFill>
                  <a:effectLst/>
                  <a:uLnTx/>
                  <a:uFillTx/>
                  <a:latin typeface="Yekan Bakh FaNum SmBoldSmCond" pitchFamily="2" charset="-78"/>
                  <a:ea typeface="Yekan Bakh FaNum SmBoldSmCond" pitchFamily="2" charset="-78"/>
                  <a:cs typeface="Yekan Bakh FaNum SmBoldSmCond" pitchFamily="2" charset="-78"/>
                </a:endParaRPr>
              </a:p>
            </p:txBody>
          </p:sp>
        </p:grpSp>
        <p:sp>
          <p:nvSpPr>
            <p:cNvPr id="16" name="TextBox 15">
              <a:extLst>
                <a:ext uri="{FF2B5EF4-FFF2-40B4-BE49-F238E27FC236}">
                  <a16:creationId xmlns:a16="http://schemas.microsoft.com/office/drawing/2014/main" id="{E7AA2860-B410-36A1-A307-4DB7B9890B5A}"/>
                </a:ext>
              </a:extLst>
            </p:cNvPr>
            <p:cNvSpPr txBox="1"/>
            <p:nvPr/>
          </p:nvSpPr>
          <p:spPr>
            <a:xfrm>
              <a:off x="5851525" y="5143888"/>
              <a:ext cx="4359382" cy="646331"/>
            </a:xfrm>
            <a:prstGeom prst="rect">
              <a:avLst/>
            </a:prstGeom>
            <a:noFill/>
          </p:spPr>
          <p:txBody>
            <a:bodyPr wrap="square" rtlCol="0">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8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دو معیار تصمی</a:t>
              </a:r>
            </a:p>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 </a:t>
              </a:r>
              <a:r>
                <a:rPr kumimoji="0" lang="fa-IR" sz="1100" b="0"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ارزش بالقوه مشتری × پیچیدگی نیاز</a:t>
              </a:r>
              <a:endParaRPr kumimoji="0" lang="fa-IR" sz="1200" b="0"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p:txBody>
        </p:sp>
        <p:grpSp>
          <p:nvGrpSpPr>
            <p:cNvPr id="54" name="Group 53">
              <a:extLst>
                <a:ext uri="{FF2B5EF4-FFF2-40B4-BE49-F238E27FC236}">
                  <a16:creationId xmlns:a16="http://schemas.microsoft.com/office/drawing/2014/main" id="{3AFE62EE-24D7-0F4E-839A-CA69593B420C}"/>
                </a:ext>
              </a:extLst>
            </p:cNvPr>
            <p:cNvGrpSpPr/>
            <p:nvPr/>
          </p:nvGrpSpPr>
          <p:grpSpPr>
            <a:xfrm>
              <a:off x="10250096" y="5210291"/>
              <a:ext cx="535577" cy="584775"/>
              <a:chOff x="10250096" y="5109994"/>
              <a:chExt cx="535577" cy="584775"/>
            </a:xfrm>
          </p:grpSpPr>
          <p:sp>
            <p:nvSpPr>
              <p:cNvPr id="15" name="Rectangle: Rounded Corners 14">
                <a:extLst>
                  <a:ext uri="{FF2B5EF4-FFF2-40B4-BE49-F238E27FC236}">
                    <a16:creationId xmlns:a16="http://schemas.microsoft.com/office/drawing/2014/main" id="{F4E34450-A390-2024-F80E-07A41E4FF855}"/>
                  </a:ext>
                </a:extLst>
              </p:cNvPr>
              <p:cNvSpPr/>
              <p:nvPr/>
            </p:nvSpPr>
            <p:spPr>
              <a:xfrm>
                <a:off x="10289284" y="5133847"/>
                <a:ext cx="457200" cy="457200"/>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7" name="TextBox 16">
                <a:extLst>
                  <a:ext uri="{FF2B5EF4-FFF2-40B4-BE49-F238E27FC236}">
                    <a16:creationId xmlns:a16="http://schemas.microsoft.com/office/drawing/2014/main" id="{D46EF50A-7653-0FFB-C0AE-FD2C435B6757}"/>
                  </a:ext>
                </a:extLst>
              </p:cNvPr>
              <p:cNvSpPr txBox="1"/>
              <p:nvPr/>
            </p:nvSpPr>
            <p:spPr>
              <a:xfrm>
                <a:off x="10250096" y="5109994"/>
                <a:ext cx="535577" cy="584775"/>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3200" b="1" i="0" u="none" strike="noStrike" kern="1200" cap="none" spc="0" normalizeH="0" baseline="0" noProof="0" dirty="0">
                    <a:ln>
                      <a:noFill/>
                    </a:ln>
                    <a:solidFill>
                      <a:srgbClr val="707786"/>
                    </a:solidFill>
                    <a:effectLst/>
                    <a:uLnTx/>
                    <a:uFillTx/>
                    <a:latin typeface="Yekan Bakh FaNum SmBoldSmCond" pitchFamily="2" charset="-78"/>
                    <a:ea typeface="Yekan Bakh FaNum SmBoldSmCond" pitchFamily="2" charset="-78"/>
                    <a:cs typeface="Yekan Bakh FaNum SmBoldSmCond" pitchFamily="2" charset="-78"/>
                  </a:rPr>
                  <a:t>۵</a:t>
                </a:r>
                <a:endParaRPr kumimoji="0" lang="en-GB" sz="3200" b="1" i="0" u="none" strike="noStrike" kern="1200" cap="none" spc="0" normalizeH="0" baseline="0" noProof="0" dirty="0">
                  <a:ln>
                    <a:noFill/>
                  </a:ln>
                  <a:solidFill>
                    <a:srgbClr val="707786"/>
                  </a:solidFill>
                  <a:effectLst/>
                  <a:uLnTx/>
                  <a:uFillTx/>
                  <a:latin typeface="Yekan Bakh FaNum SmBoldSmCond" pitchFamily="2" charset="-78"/>
                  <a:ea typeface="Yekan Bakh FaNum SmBoldSmCond" pitchFamily="2" charset="-78"/>
                  <a:cs typeface="Yekan Bakh FaNum SmBoldSmCond" pitchFamily="2" charset="-78"/>
                </a:endParaRPr>
              </a:p>
            </p:txBody>
          </p:sp>
        </p:grpSp>
        <p:sp>
          <p:nvSpPr>
            <p:cNvPr id="19" name="TextBox 18">
              <a:extLst>
                <a:ext uri="{FF2B5EF4-FFF2-40B4-BE49-F238E27FC236}">
                  <a16:creationId xmlns:a16="http://schemas.microsoft.com/office/drawing/2014/main" id="{725F2E3C-4E31-29DC-F6C8-237285F9125E}"/>
                </a:ext>
              </a:extLst>
            </p:cNvPr>
            <p:cNvSpPr txBox="1"/>
            <p:nvPr/>
          </p:nvSpPr>
          <p:spPr>
            <a:xfrm>
              <a:off x="917377" y="1718845"/>
              <a:ext cx="4359382" cy="553998"/>
            </a:xfrm>
            <a:prstGeom prst="rect">
              <a:avLst/>
            </a:prstGeom>
            <a:noFill/>
          </p:spPr>
          <p:txBody>
            <a:bodyPr wrap="square" rtlCol="0">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8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ماتریس نهایی</a:t>
              </a:r>
              <a:endParaRPr kumimoji="0" lang="fa-IR" sz="12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منطق هر ناحیه از ماتریس</a:t>
              </a:r>
            </a:p>
          </p:txBody>
        </p:sp>
        <p:grpSp>
          <p:nvGrpSpPr>
            <p:cNvPr id="58" name="Group 57">
              <a:extLst>
                <a:ext uri="{FF2B5EF4-FFF2-40B4-BE49-F238E27FC236}">
                  <a16:creationId xmlns:a16="http://schemas.microsoft.com/office/drawing/2014/main" id="{40415C56-603E-19A5-EBA7-64921D425F0C}"/>
                </a:ext>
              </a:extLst>
            </p:cNvPr>
            <p:cNvGrpSpPr/>
            <p:nvPr/>
          </p:nvGrpSpPr>
          <p:grpSpPr>
            <a:xfrm>
              <a:off x="5315948" y="1739082"/>
              <a:ext cx="535577" cy="584775"/>
              <a:chOff x="5315948" y="1684952"/>
              <a:chExt cx="535577" cy="584775"/>
            </a:xfrm>
          </p:grpSpPr>
          <p:sp>
            <p:nvSpPr>
              <p:cNvPr id="18" name="Rectangle: Rounded Corners 17">
                <a:extLst>
                  <a:ext uri="{FF2B5EF4-FFF2-40B4-BE49-F238E27FC236}">
                    <a16:creationId xmlns:a16="http://schemas.microsoft.com/office/drawing/2014/main" id="{59A6AB99-B8D8-FBA5-5F7A-09AF0BB3D87E}"/>
                  </a:ext>
                </a:extLst>
              </p:cNvPr>
              <p:cNvSpPr/>
              <p:nvPr/>
            </p:nvSpPr>
            <p:spPr>
              <a:xfrm>
                <a:off x="5355136" y="1708805"/>
                <a:ext cx="457200" cy="457200"/>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20" name="TextBox 19">
                <a:extLst>
                  <a:ext uri="{FF2B5EF4-FFF2-40B4-BE49-F238E27FC236}">
                    <a16:creationId xmlns:a16="http://schemas.microsoft.com/office/drawing/2014/main" id="{C7F5F5FC-05CD-3999-0D00-58E9A8FA00C3}"/>
                  </a:ext>
                </a:extLst>
              </p:cNvPr>
              <p:cNvSpPr txBox="1"/>
              <p:nvPr/>
            </p:nvSpPr>
            <p:spPr>
              <a:xfrm>
                <a:off x="5315948" y="1684952"/>
                <a:ext cx="535577" cy="584775"/>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3200" b="1" i="0" u="none" strike="noStrike" kern="1200" cap="none" spc="0" normalizeH="0" baseline="0" noProof="0" dirty="0">
                    <a:ln>
                      <a:noFill/>
                    </a:ln>
                    <a:solidFill>
                      <a:srgbClr val="707786"/>
                    </a:solidFill>
                    <a:effectLst/>
                    <a:uLnTx/>
                    <a:uFillTx/>
                    <a:latin typeface="Yekan Bakh FaNum SmBoldSmCond" pitchFamily="2" charset="-78"/>
                    <a:ea typeface="Yekan Bakh FaNum SmBoldSmCond" pitchFamily="2" charset="-78"/>
                    <a:cs typeface="Yekan Bakh FaNum SmBoldSmCond" pitchFamily="2" charset="-78"/>
                  </a:rPr>
                  <a:t>۶</a:t>
                </a:r>
                <a:endParaRPr kumimoji="0" lang="en-GB" sz="3200" b="1" i="0" u="none" strike="noStrike" kern="1200" cap="none" spc="0" normalizeH="0" baseline="0" noProof="0" dirty="0">
                  <a:ln>
                    <a:noFill/>
                  </a:ln>
                  <a:solidFill>
                    <a:srgbClr val="707786"/>
                  </a:solidFill>
                  <a:effectLst/>
                  <a:uLnTx/>
                  <a:uFillTx/>
                  <a:latin typeface="Yekan Bakh FaNum SmBoldSmCond" pitchFamily="2" charset="-78"/>
                  <a:ea typeface="Yekan Bakh FaNum SmBoldSmCond" pitchFamily="2" charset="-78"/>
                  <a:cs typeface="Yekan Bakh FaNum SmBoldSmCond" pitchFamily="2" charset="-78"/>
                </a:endParaRPr>
              </a:p>
            </p:txBody>
          </p:sp>
        </p:grpSp>
        <p:sp>
          <p:nvSpPr>
            <p:cNvPr id="22" name="TextBox 21">
              <a:extLst>
                <a:ext uri="{FF2B5EF4-FFF2-40B4-BE49-F238E27FC236}">
                  <a16:creationId xmlns:a16="http://schemas.microsoft.com/office/drawing/2014/main" id="{3517685C-CA46-3F63-747E-BAB79E54229C}"/>
                </a:ext>
              </a:extLst>
            </p:cNvPr>
            <p:cNvSpPr txBox="1"/>
            <p:nvPr/>
          </p:nvSpPr>
          <p:spPr>
            <a:xfrm>
              <a:off x="917377" y="2595072"/>
              <a:ext cx="4359382" cy="553998"/>
            </a:xfrm>
            <a:prstGeom prst="rect">
              <a:avLst/>
            </a:prstGeom>
            <a:noFill/>
          </p:spPr>
          <p:txBody>
            <a:bodyPr wrap="square" rtlCol="0">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8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تخصیص رابطه به ازای هر پرسونا</a:t>
              </a:r>
              <a:endParaRPr kumimoji="0" lang="fa-IR" sz="1200" b="1"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endParaRPr>
            </a:p>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شش پرسونا، هرکدام در هر ناحیه ماتریس</a:t>
              </a:r>
            </a:p>
          </p:txBody>
        </p:sp>
        <p:grpSp>
          <p:nvGrpSpPr>
            <p:cNvPr id="57" name="Group 56">
              <a:extLst>
                <a:ext uri="{FF2B5EF4-FFF2-40B4-BE49-F238E27FC236}">
                  <a16:creationId xmlns:a16="http://schemas.microsoft.com/office/drawing/2014/main" id="{1134AE65-4EFA-815A-6872-C996554D1DA0}"/>
                </a:ext>
              </a:extLst>
            </p:cNvPr>
            <p:cNvGrpSpPr/>
            <p:nvPr/>
          </p:nvGrpSpPr>
          <p:grpSpPr>
            <a:xfrm>
              <a:off x="5315948" y="2615309"/>
              <a:ext cx="535577" cy="584775"/>
              <a:chOff x="5315948" y="2561179"/>
              <a:chExt cx="535577" cy="584775"/>
            </a:xfrm>
          </p:grpSpPr>
          <p:sp>
            <p:nvSpPr>
              <p:cNvPr id="21" name="Rectangle: Rounded Corners 20">
                <a:extLst>
                  <a:ext uri="{FF2B5EF4-FFF2-40B4-BE49-F238E27FC236}">
                    <a16:creationId xmlns:a16="http://schemas.microsoft.com/office/drawing/2014/main" id="{18A52AFA-0542-4B63-41AD-C60C19E3CCF0}"/>
                  </a:ext>
                </a:extLst>
              </p:cNvPr>
              <p:cNvSpPr/>
              <p:nvPr/>
            </p:nvSpPr>
            <p:spPr>
              <a:xfrm>
                <a:off x="5355136" y="2585032"/>
                <a:ext cx="457200" cy="457200"/>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23" name="TextBox 22">
                <a:extLst>
                  <a:ext uri="{FF2B5EF4-FFF2-40B4-BE49-F238E27FC236}">
                    <a16:creationId xmlns:a16="http://schemas.microsoft.com/office/drawing/2014/main" id="{FC151E26-C901-206F-53CC-332385CDE180}"/>
                  </a:ext>
                </a:extLst>
              </p:cNvPr>
              <p:cNvSpPr txBox="1"/>
              <p:nvPr/>
            </p:nvSpPr>
            <p:spPr>
              <a:xfrm>
                <a:off x="5315948" y="2561179"/>
                <a:ext cx="535577" cy="584775"/>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3200" b="1" i="0" u="none" strike="noStrike" kern="1200" cap="none" spc="0" normalizeH="0" baseline="0" noProof="0" dirty="0">
                    <a:ln>
                      <a:noFill/>
                    </a:ln>
                    <a:solidFill>
                      <a:srgbClr val="707786"/>
                    </a:solidFill>
                    <a:effectLst/>
                    <a:uLnTx/>
                    <a:uFillTx/>
                    <a:latin typeface="Yekan Bakh FaNum SmBoldSmCond" pitchFamily="2" charset="-78"/>
                    <a:ea typeface="Yekan Bakh FaNum SmBoldSmCond" pitchFamily="2" charset="-78"/>
                    <a:cs typeface="Yekan Bakh FaNum SmBoldSmCond" pitchFamily="2" charset="-78"/>
                  </a:rPr>
                  <a:t>۷</a:t>
                </a:r>
                <a:endParaRPr kumimoji="0" lang="en-GB" sz="3200" b="1" i="0" u="none" strike="noStrike" kern="1200" cap="none" spc="0" normalizeH="0" baseline="0" noProof="0" dirty="0">
                  <a:ln>
                    <a:noFill/>
                  </a:ln>
                  <a:solidFill>
                    <a:srgbClr val="707786"/>
                  </a:solidFill>
                  <a:effectLst/>
                  <a:uLnTx/>
                  <a:uFillTx/>
                  <a:latin typeface="Yekan Bakh FaNum SmBoldSmCond" pitchFamily="2" charset="-78"/>
                  <a:ea typeface="Yekan Bakh FaNum SmBoldSmCond" pitchFamily="2" charset="-78"/>
                  <a:cs typeface="Yekan Bakh FaNum SmBoldSmCond" pitchFamily="2" charset="-78"/>
                </a:endParaRPr>
              </a:p>
            </p:txBody>
          </p:sp>
        </p:grpSp>
        <p:sp>
          <p:nvSpPr>
            <p:cNvPr id="26" name="TextBox 25">
              <a:extLst>
                <a:ext uri="{FF2B5EF4-FFF2-40B4-BE49-F238E27FC236}">
                  <a16:creationId xmlns:a16="http://schemas.microsoft.com/office/drawing/2014/main" id="{BA98910F-1865-EAC9-592E-1C4ED0B99C7C}"/>
                </a:ext>
              </a:extLst>
            </p:cNvPr>
            <p:cNvSpPr txBox="1"/>
            <p:nvPr/>
          </p:nvSpPr>
          <p:spPr>
            <a:xfrm>
              <a:off x="917377" y="3471300"/>
              <a:ext cx="4359382" cy="553998"/>
            </a:xfrm>
            <a:prstGeom prst="rect">
              <a:avLst/>
            </a:prstGeom>
            <a:noFill/>
          </p:spPr>
          <p:txBody>
            <a:bodyPr wrap="square" rtlCol="0">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8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جمع‌بندی و یافته‌های کلیدی</a:t>
              </a:r>
            </a:p>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پیام مدیریتی این سند</a:t>
              </a:r>
            </a:p>
          </p:txBody>
        </p:sp>
        <p:grpSp>
          <p:nvGrpSpPr>
            <p:cNvPr id="56" name="Group 55">
              <a:extLst>
                <a:ext uri="{FF2B5EF4-FFF2-40B4-BE49-F238E27FC236}">
                  <a16:creationId xmlns:a16="http://schemas.microsoft.com/office/drawing/2014/main" id="{07781927-9FB3-8BF8-0F78-F62D1E9BE5AA}"/>
                </a:ext>
              </a:extLst>
            </p:cNvPr>
            <p:cNvGrpSpPr/>
            <p:nvPr/>
          </p:nvGrpSpPr>
          <p:grpSpPr>
            <a:xfrm>
              <a:off x="5315948" y="3491537"/>
              <a:ext cx="535577" cy="584775"/>
              <a:chOff x="5315948" y="3437407"/>
              <a:chExt cx="535577" cy="584775"/>
            </a:xfrm>
          </p:grpSpPr>
          <p:sp>
            <p:nvSpPr>
              <p:cNvPr id="25" name="Rectangle: Rounded Corners 24">
                <a:extLst>
                  <a:ext uri="{FF2B5EF4-FFF2-40B4-BE49-F238E27FC236}">
                    <a16:creationId xmlns:a16="http://schemas.microsoft.com/office/drawing/2014/main" id="{0EE97DE3-E230-307B-AB2F-076099747501}"/>
                  </a:ext>
                </a:extLst>
              </p:cNvPr>
              <p:cNvSpPr/>
              <p:nvPr/>
            </p:nvSpPr>
            <p:spPr>
              <a:xfrm>
                <a:off x="5355136" y="3461260"/>
                <a:ext cx="457200" cy="457200"/>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27" name="TextBox 26">
                <a:extLst>
                  <a:ext uri="{FF2B5EF4-FFF2-40B4-BE49-F238E27FC236}">
                    <a16:creationId xmlns:a16="http://schemas.microsoft.com/office/drawing/2014/main" id="{4747523E-3DCD-A10F-37B1-E00C26382F70}"/>
                  </a:ext>
                </a:extLst>
              </p:cNvPr>
              <p:cNvSpPr txBox="1"/>
              <p:nvPr/>
            </p:nvSpPr>
            <p:spPr>
              <a:xfrm>
                <a:off x="5315948" y="3437407"/>
                <a:ext cx="535577" cy="584775"/>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3200" b="1" i="0" u="none" strike="noStrike" kern="1200" cap="none" spc="0" normalizeH="0" baseline="0" noProof="0" dirty="0">
                    <a:ln>
                      <a:noFill/>
                    </a:ln>
                    <a:solidFill>
                      <a:srgbClr val="707786"/>
                    </a:solidFill>
                    <a:effectLst/>
                    <a:uLnTx/>
                    <a:uFillTx/>
                    <a:latin typeface="Yekan Bakh FaNum SmBoldSmCond" pitchFamily="2" charset="-78"/>
                    <a:ea typeface="Yekan Bakh FaNum SmBoldSmCond" pitchFamily="2" charset="-78"/>
                    <a:cs typeface="Yekan Bakh FaNum SmBoldSmCond" pitchFamily="2" charset="-78"/>
                  </a:rPr>
                  <a:t>۸</a:t>
                </a:r>
                <a:endParaRPr kumimoji="0" lang="en-GB" sz="3200" b="1" i="0" u="none" strike="noStrike" kern="1200" cap="none" spc="0" normalizeH="0" baseline="0" noProof="0" dirty="0">
                  <a:ln>
                    <a:noFill/>
                  </a:ln>
                  <a:solidFill>
                    <a:srgbClr val="707786"/>
                  </a:solidFill>
                  <a:effectLst/>
                  <a:uLnTx/>
                  <a:uFillTx/>
                  <a:latin typeface="Yekan Bakh FaNum SmBoldSmCond" pitchFamily="2" charset="-78"/>
                  <a:ea typeface="Yekan Bakh FaNum SmBoldSmCond" pitchFamily="2" charset="-78"/>
                  <a:cs typeface="Yekan Bakh FaNum SmBoldSmCond" pitchFamily="2" charset="-78"/>
                </a:endParaRPr>
              </a:p>
            </p:txBody>
          </p:sp>
        </p:grpSp>
        <p:sp>
          <p:nvSpPr>
            <p:cNvPr id="30" name="TextBox 29">
              <a:extLst>
                <a:ext uri="{FF2B5EF4-FFF2-40B4-BE49-F238E27FC236}">
                  <a16:creationId xmlns:a16="http://schemas.microsoft.com/office/drawing/2014/main" id="{23BB1254-A376-F6C7-9346-08E98B7FB0A7}"/>
                </a:ext>
              </a:extLst>
            </p:cNvPr>
            <p:cNvSpPr txBox="1"/>
            <p:nvPr/>
          </p:nvSpPr>
          <p:spPr>
            <a:xfrm>
              <a:off x="917377" y="4327561"/>
              <a:ext cx="4359382" cy="553998"/>
            </a:xfrm>
            <a:prstGeom prst="rect">
              <a:avLst/>
            </a:prstGeom>
            <a:noFill/>
          </p:spPr>
          <p:txBody>
            <a:bodyPr wrap="square" rtlCol="0">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8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منابع و بنچمارک</a:t>
              </a:r>
            </a:p>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dirty="0">
                  <a:ln>
                    <a:noFill/>
                  </a:ln>
                  <a:solidFill>
                    <a:srgbClr val="F0BE0F"/>
                  </a:solidFill>
                  <a:effectLst/>
                  <a:uLnTx/>
                  <a:uFillTx/>
                  <a:latin typeface="Yekan Bakh" pitchFamily="2" charset="-78"/>
                  <a:ea typeface="Yekan Bakh" pitchFamily="2" charset="-78"/>
                  <a:cs typeface="Yekan Bakh" pitchFamily="2" charset="-78"/>
                </a:rPr>
                <a:t>ادبیات مدیریتی و اکوسیستم‌های برون‌مرزی مشابه</a:t>
              </a:r>
            </a:p>
          </p:txBody>
        </p:sp>
        <p:grpSp>
          <p:nvGrpSpPr>
            <p:cNvPr id="55" name="Group 54">
              <a:extLst>
                <a:ext uri="{FF2B5EF4-FFF2-40B4-BE49-F238E27FC236}">
                  <a16:creationId xmlns:a16="http://schemas.microsoft.com/office/drawing/2014/main" id="{582689A1-DB7D-105F-C68D-BF915B6D603C}"/>
                </a:ext>
              </a:extLst>
            </p:cNvPr>
            <p:cNvGrpSpPr/>
            <p:nvPr/>
          </p:nvGrpSpPr>
          <p:grpSpPr>
            <a:xfrm>
              <a:off x="5315948" y="4347798"/>
              <a:ext cx="535577" cy="584775"/>
              <a:chOff x="5315948" y="4273700"/>
              <a:chExt cx="535577" cy="584775"/>
            </a:xfrm>
          </p:grpSpPr>
          <p:sp>
            <p:nvSpPr>
              <p:cNvPr id="29" name="Rectangle: Rounded Corners 28">
                <a:extLst>
                  <a:ext uri="{FF2B5EF4-FFF2-40B4-BE49-F238E27FC236}">
                    <a16:creationId xmlns:a16="http://schemas.microsoft.com/office/drawing/2014/main" id="{95F57A66-4865-A1DB-7ED2-D9B9227E6560}"/>
                  </a:ext>
                </a:extLst>
              </p:cNvPr>
              <p:cNvSpPr/>
              <p:nvPr/>
            </p:nvSpPr>
            <p:spPr>
              <a:xfrm>
                <a:off x="5355136" y="4297553"/>
                <a:ext cx="457200" cy="457200"/>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31" name="TextBox 30">
                <a:extLst>
                  <a:ext uri="{FF2B5EF4-FFF2-40B4-BE49-F238E27FC236}">
                    <a16:creationId xmlns:a16="http://schemas.microsoft.com/office/drawing/2014/main" id="{C085DE41-724A-2A99-462A-4F60689A47D4}"/>
                  </a:ext>
                </a:extLst>
              </p:cNvPr>
              <p:cNvSpPr txBox="1"/>
              <p:nvPr/>
            </p:nvSpPr>
            <p:spPr>
              <a:xfrm>
                <a:off x="5315948" y="4273700"/>
                <a:ext cx="535577" cy="584775"/>
              </a:xfrm>
              <a:prstGeom prst="rect">
                <a:avLst/>
              </a:prstGeom>
              <a:noFill/>
            </p:spPr>
            <p:txBody>
              <a:bodyPr wrap="square" rtlCol="0"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3200" b="1" i="0" u="none" strike="noStrike" kern="1200" cap="none" spc="0" normalizeH="0" baseline="0" noProof="0" dirty="0">
                    <a:ln>
                      <a:noFill/>
                    </a:ln>
                    <a:solidFill>
                      <a:srgbClr val="707786"/>
                    </a:solidFill>
                    <a:effectLst/>
                    <a:uLnTx/>
                    <a:uFillTx/>
                    <a:latin typeface="Yekan Bakh FaNum SmBoldSmCond" pitchFamily="2" charset="-78"/>
                    <a:ea typeface="Yekan Bakh FaNum SmBoldSmCond" pitchFamily="2" charset="-78"/>
                    <a:cs typeface="Yekan Bakh FaNum SmBoldSmCond" pitchFamily="2" charset="-78"/>
                  </a:rPr>
                  <a:t>۹</a:t>
                </a:r>
                <a:endParaRPr kumimoji="0" lang="en-GB" sz="3200" b="1" i="0" u="none" strike="noStrike" kern="1200" cap="none" spc="0" normalizeH="0" baseline="0" noProof="0" dirty="0">
                  <a:ln>
                    <a:noFill/>
                  </a:ln>
                  <a:solidFill>
                    <a:srgbClr val="707786"/>
                  </a:solidFill>
                  <a:effectLst/>
                  <a:uLnTx/>
                  <a:uFillTx/>
                  <a:latin typeface="Yekan Bakh FaNum SmBoldSmCond" pitchFamily="2" charset="-78"/>
                  <a:ea typeface="Yekan Bakh FaNum SmBoldSmCond" pitchFamily="2" charset="-78"/>
                  <a:cs typeface="Yekan Bakh FaNum SmBoldSmCond" pitchFamily="2" charset="-78"/>
                </a:endParaRPr>
              </a:p>
            </p:txBody>
          </p:sp>
        </p:grpSp>
      </p:grpSp>
      <p:sp>
        <p:nvSpPr>
          <p:cNvPr id="45" name="Rectangle 44">
            <a:extLst>
              <a:ext uri="{FF2B5EF4-FFF2-40B4-BE49-F238E27FC236}">
                <a16:creationId xmlns:a16="http://schemas.microsoft.com/office/drawing/2014/main" id="{C55FE977-07D5-082D-0B66-1DEB37DEFD58}"/>
              </a:ext>
            </a:extLst>
          </p:cNvPr>
          <p:cNvSpPr/>
          <p:nvPr/>
        </p:nvSpPr>
        <p:spPr>
          <a:xfrm flipH="1" flipV="1">
            <a:off x="388729" y="579802"/>
            <a:ext cx="10817912" cy="0"/>
          </a:xfrm>
          <a:prstGeom prst="rect">
            <a:avLst/>
          </a:prstGeom>
          <a:solidFill>
            <a:srgbClr val="F0BE0F"/>
          </a:solidFill>
          <a:ln>
            <a:solidFill>
              <a:srgbClr val="F0BE0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Yekan Bakh FaNum" pitchFamily="2" charset="-78"/>
              <a:ea typeface="+mn-ea"/>
              <a:cs typeface="Yekan Bakh FaNum" pitchFamily="2" charset="-78"/>
            </a:endParaRPr>
          </a:p>
        </p:txBody>
      </p:sp>
      <p:sp>
        <p:nvSpPr>
          <p:cNvPr id="46" name="Text Placeholder 3">
            <a:extLst>
              <a:ext uri="{FF2B5EF4-FFF2-40B4-BE49-F238E27FC236}">
                <a16:creationId xmlns:a16="http://schemas.microsoft.com/office/drawing/2014/main" id="{8256390A-7AB4-933D-A8CF-16AF6327AB5A}"/>
              </a:ext>
            </a:extLst>
          </p:cNvPr>
          <p:cNvSpPr txBox="1">
            <a:spLocks/>
          </p:cNvSpPr>
          <p:nvPr/>
        </p:nvSpPr>
        <p:spPr>
          <a:xfrm>
            <a:off x="3146280" y="240513"/>
            <a:ext cx="5302810" cy="250047"/>
          </a:xfrm>
          <a:prstGeom prst="rect">
            <a:avLst/>
          </a:prstGeom>
        </p:spPr>
        <p:txBody>
          <a:bodyPr/>
          <a:lstStyle>
            <a:lvl1pPr marL="0" indent="0" algn="justLow" defTabSz="1021516" rtl="1" eaLnBrk="1" latinLnBrk="0" hangingPunct="1">
              <a:lnSpc>
                <a:spcPct val="90000"/>
              </a:lnSpc>
              <a:spcBef>
                <a:spcPts val="1117"/>
              </a:spcBef>
              <a:buFont typeface="Arial" panose="020B0604020202020204" pitchFamily="34" charset="0"/>
              <a:buNone/>
              <a:defRPr sz="1200" b="1" kern="1200">
                <a:solidFill>
                  <a:schemeClr val="tx1">
                    <a:lumMod val="50000"/>
                    <a:lumOff val="50000"/>
                  </a:schemeClr>
                </a:solidFill>
                <a:latin typeface="Yekan Bakh FaNum" pitchFamily="2" charset="-78"/>
                <a:ea typeface="+mn-ea"/>
                <a:cs typeface="Yekan Bakh FaNum" pitchFamily="2" charset="-78"/>
              </a:defRPr>
            </a:lvl1pPr>
            <a:lvl2pPr marL="438912" indent="0" algn="l" defTabSz="1021516" rtl="0" eaLnBrk="1" latinLnBrk="0" hangingPunct="1">
              <a:lnSpc>
                <a:spcPct val="90000"/>
              </a:lnSpc>
              <a:spcBef>
                <a:spcPts val="558"/>
              </a:spcBef>
              <a:buFont typeface="Arial" panose="020B0604020202020204" pitchFamily="34" charset="0"/>
              <a:buNone/>
              <a:defRPr sz="1200" b="1" kern="1200">
                <a:solidFill>
                  <a:schemeClr val="tx1">
                    <a:lumMod val="50000"/>
                    <a:lumOff val="50000"/>
                  </a:schemeClr>
                </a:solidFill>
                <a:latin typeface="Calvino" pitchFamily="2" charset="0"/>
                <a:ea typeface="+mn-ea"/>
                <a:cs typeface="+mn-cs"/>
              </a:defRPr>
            </a:lvl2pPr>
            <a:lvl3pPr marL="877824" indent="0" algn="l" defTabSz="1021516" rtl="0" eaLnBrk="1" latinLnBrk="0" hangingPunct="1">
              <a:lnSpc>
                <a:spcPct val="90000"/>
              </a:lnSpc>
              <a:spcBef>
                <a:spcPts val="558"/>
              </a:spcBef>
              <a:buFont typeface="Arial" panose="020B0604020202020204" pitchFamily="34" charset="0"/>
              <a:buNone/>
              <a:defRPr sz="1200" b="1" kern="1200">
                <a:solidFill>
                  <a:schemeClr val="tx1">
                    <a:lumMod val="50000"/>
                    <a:lumOff val="50000"/>
                  </a:schemeClr>
                </a:solidFill>
                <a:latin typeface="Calvino" pitchFamily="2" charset="0"/>
                <a:ea typeface="+mn-ea"/>
                <a:cs typeface="+mn-cs"/>
              </a:defRPr>
            </a:lvl3pPr>
            <a:lvl4pPr marL="1316736" indent="0" algn="l" defTabSz="1021516" rtl="0" eaLnBrk="1" latinLnBrk="0" hangingPunct="1">
              <a:lnSpc>
                <a:spcPct val="90000"/>
              </a:lnSpc>
              <a:spcBef>
                <a:spcPts val="558"/>
              </a:spcBef>
              <a:buFont typeface="Arial" panose="020B0604020202020204" pitchFamily="34" charset="0"/>
              <a:buNone/>
              <a:defRPr sz="1200" b="1" kern="1200">
                <a:solidFill>
                  <a:schemeClr val="tx1">
                    <a:lumMod val="50000"/>
                    <a:lumOff val="50000"/>
                  </a:schemeClr>
                </a:solidFill>
                <a:latin typeface="Calvino" pitchFamily="2" charset="0"/>
                <a:ea typeface="+mn-ea"/>
                <a:cs typeface="+mn-cs"/>
              </a:defRPr>
            </a:lvl4pPr>
            <a:lvl5pPr marL="1755648" indent="0" algn="l" defTabSz="1021516" rtl="0" eaLnBrk="1" latinLnBrk="0" hangingPunct="1">
              <a:lnSpc>
                <a:spcPct val="90000"/>
              </a:lnSpc>
              <a:spcBef>
                <a:spcPts val="558"/>
              </a:spcBef>
              <a:buFont typeface="Arial" panose="020B0604020202020204" pitchFamily="34" charset="0"/>
              <a:buNone/>
              <a:defRPr sz="1200" b="1" kern="1200">
                <a:solidFill>
                  <a:schemeClr val="tx1">
                    <a:lumMod val="50000"/>
                    <a:lumOff val="50000"/>
                  </a:schemeClr>
                </a:solidFill>
                <a:latin typeface="Calvino" pitchFamily="2" charset="0"/>
                <a:ea typeface="+mn-ea"/>
                <a:cs typeface="+mn-cs"/>
              </a:defRPr>
            </a:lvl5pPr>
            <a:lvl6pPr marL="2809168" indent="-255379" algn="l" defTabSz="1021516" rtl="0" eaLnBrk="1" latinLnBrk="0" hangingPunct="1">
              <a:lnSpc>
                <a:spcPct val="90000"/>
              </a:lnSpc>
              <a:spcBef>
                <a:spcPts val="558"/>
              </a:spcBef>
              <a:buFont typeface="Arial" panose="020B0604020202020204" pitchFamily="34" charset="0"/>
              <a:buChar char="•"/>
              <a:defRPr sz="2011" kern="1200">
                <a:solidFill>
                  <a:schemeClr val="tx1"/>
                </a:solidFill>
                <a:latin typeface="+mn-lt"/>
                <a:ea typeface="+mn-ea"/>
                <a:cs typeface="+mn-cs"/>
              </a:defRPr>
            </a:lvl6pPr>
            <a:lvl7pPr marL="3319927" indent="-255379" algn="l" defTabSz="1021516" rtl="0" eaLnBrk="1" latinLnBrk="0" hangingPunct="1">
              <a:lnSpc>
                <a:spcPct val="90000"/>
              </a:lnSpc>
              <a:spcBef>
                <a:spcPts val="558"/>
              </a:spcBef>
              <a:buFont typeface="Arial" panose="020B0604020202020204" pitchFamily="34" charset="0"/>
              <a:buChar char="•"/>
              <a:defRPr sz="2011" kern="1200">
                <a:solidFill>
                  <a:schemeClr val="tx1"/>
                </a:solidFill>
                <a:latin typeface="+mn-lt"/>
                <a:ea typeface="+mn-ea"/>
                <a:cs typeface="+mn-cs"/>
              </a:defRPr>
            </a:lvl7pPr>
            <a:lvl8pPr marL="3830683" indent="-255379" algn="l" defTabSz="1021516" rtl="0" eaLnBrk="1" latinLnBrk="0" hangingPunct="1">
              <a:lnSpc>
                <a:spcPct val="90000"/>
              </a:lnSpc>
              <a:spcBef>
                <a:spcPts val="558"/>
              </a:spcBef>
              <a:buFont typeface="Arial" panose="020B0604020202020204" pitchFamily="34" charset="0"/>
              <a:buChar char="•"/>
              <a:defRPr sz="2011" kern="1200">
                <a:solidFill>
                  <a:schemeClr val="tx1"/>
                </a:solidFill>
                <a:latin typeface="+mn-lt"/>
                <a:ea typeface="+mn-ea"/>
                <a:cs typeface="+mn-cs"/>
              </a:defRPr>
            </a:lvl8pPr>
            <a:lvl9pPr marL="4341442" indent="-255379" algn="l" defTabSz="1021516" rtl="0" eaLnBrk="1" latinLnBrk="0" hangingPunct="1">
              <a:lnSpc>
                <a:spcPct val="90000"/>
              </a:lnSpc>
              <a:spcBef>
                <a:spcPts val="558"/>
              </a:spcBef>
              <a:buFont typeface="Arial" panose="020B0604020202020204" pitchFamily="34" charset="0"/>
              <a:buChar char="•"/>
              <a:defRPr sz="2011" kern="1200">
                <a:solidFill>
                  <a:schemeClr val="tx1"/>
                </a:solidFill>
                <a:latin typeface="+mn-lt"/>
                <a:ea typeface="+mn-ea"/>
                <a:cs typeface="+mn-cs"/>
              </a:defRPr>
            </a:lvl9pPr>
          </a:lstStyle>
          <a:p>
            <a:pPr marL="0" marR="0" lvl="0" indent="0" algn="ctr" defTabSz="1021516" rtl="1" eaLnBrk="1" fontAlgn="auto" latinLnBrk="0" hangingPunct="1">
              <a:lnSpc>
                <a:spcPct val="90000"/>
              </a:lnSpc>
              <a:spcBef>
                <a:spcPts val="1117"/>
              </a:spcBef>
              <a:spcAft>
                <a:spcPts val="0"/>
              </a:spcAft>
              <a:buClrTx/>
              <a:buSzTx/>
              <a:buFont typeface="Arial" panose="020B0604020202020204" pitchFamily="34" charset="0"/>
              <a:buNone/>
              <a:tabLst/>
              <a:defRPr/>
            </a:pPr>
            <a:r>
              <a:rPr kumimoji="0" lang="fa-IR" sz="1200" b="1" i="0" u="none" strike="noStrike" kern="1200" cap="none" spc="0" normalizeH="0" baseline="0" noProof="0" dirty="0">
                <a:ln>
                  <a:noFill/>
                </a:ln>
                <a:solidFill>
                  <a:prstClr val="white"/>
                </a:solidFill>
                <a:effectLst/>
                <a:uLnTx/>
                <a:uFillTx/>
                <a:latin typeface="Shabnam Bold FD" panose="020B0603030804020204" pitchFamily="34" charset="-78"/>
                <a:ea typeface="+mn-ea"/>
                <a:cs typeface="Shabnam Bold FD" panose="020B0603030804020204" pitchFamily="34" charset="-78"/>
              </a:rPr>
              <a:t>فهرست مطالب</a:t>
            </a:r>
          </a:p>
        </p:txBody>
      </p:sp>
      <p:sp>
        <p:nvSpPr>
          <p:cNvPr id="47" name="Text Placeholder 14">
            <a:extLst>
              <a:ext uri="{FF2B5EF4-FFF2-40B4-BE49-F238E27FC236}">
                <a16:creationId xmlns:a16="http://schemas.microsoft.com/office/drawing/2014/main" id="{7988075D-04EC-CAD6-9581-65DE035257C4}"/>
              </a:ext>
            </a:extLst>
          </p:cNvPr>
          <p:cNvSpPr txBox="1">
            <a:spLocks/>
          </p:cNvSpPr>
          <p:nvPr/>
        </p:nvSpPr>
        <p:spPr>
          <a:xfrm>
            <a:off x="442619" y="669044"/>
            <a:ext cx="10710133" cy="715363"/>
          </a:xfrm>
          <a:prstGeom prst="rect">
            <a:avLst/>
          </a:prstGeom>
        </p:spPr>
        <p:txBody>
          <a:bodyPr/>
          <a:lstStyle>
            <a:lvl1pPr marL="0" indent="0" algn="justLow" defTabSz="1021516" rtl="1" eaLnBrk="1" latinLnBrk="0" hangingPunct="1">
              <a:lnSpc>
                <a:spcPct val="100000"/>
              </a:lnSpc>
              <a:spcBef>
                <a:spcPts val="600"/>
              </a:spcBef>
              <a:buFont typeface="Arial" panose="020B0604020202020204" pitchFamily="34" charset="0"/>
              <a:buNone/>
              <a:defRPr sz="1800" b="1" kern="1200">
                <a:solidFill>
                  <a:schemeClr val="tx1">
                    <a:lumMod val="75000"/>
                    <a:lumOff val="25000"/>
                  </a:schemeClr>
                </a:solidFill>
                <a:latin typeface="Yekan Bakh FaNum" pitchFamily="2" charset="-78"/>
                <a:ea typeface="+mn-ea"/>
                <a:cs typeface="Yekan Bakh FaNum" pitchFamily="2" charset="-78"/>
              </a:defRPr>
            </a:lvl1pPr>
            <a:lvl2pPr marL="766136" indent="-255379" algn="l" defTabSz="1021516" rtl="0" eaLnBrk="1" latinLnBrk="0" hangingPunct="1">
              <a:lnSpc>
                <a:spcPct val="90000"/>
              </a:lnSpc>
              <a:spcBef>
                <a:spcPts val="558"/>
              </a:spcBef>
              <a:buFont typeface="Arial" panose="020B0604020202020204" pitchFamily="34" charset="0"/>
              <a:buChar char="•"/>
              <a:defRPr sz="1600" kern="1200">
                <a:solidFill>
                  <a:schemeClr val="tx1"/>
                </a:solidFill>
                <a:latin typeface="Calvino" pitchFamily="2" charset="0"/>
                <a:ea typeface="+mn-ea"/>
                <a:cs typeface="+mn-cs"/>
              </a:defRPr>
            </a:lvl2pPr>
            <a:lvl3pPr marL="1276895" indent="-255379" algn="l" defTabSz="1021516" rtl="0" eaLnBrk="1" latinLnBrk="0" hangingPunct="1">
              <a:lnSpc>
                <a:spcPct val="90000"/>
              </a:lnSpc>
              <a:spcBef>
                <a:spcPts val="558"/>
              </a:spcBef>
              <a:buFont typeface="Arial" panose="020B0604020202020204" pitchFamily="34" charset="0"/>
              <a:buChar char="•"/>
              <a:defRPr sz="1600" kern="1200">
                <a:solidFill>
                  <a:schemeClr val="tx1"/>
                </a:solidFill>
                <a:latin typeface="Calvino" pitchFamily="2" charset="0"/>
                <a:ea typeface="+mn-ea"/>
                <a:cs typeface="+mn-cs"/>
              </a:defRPr>
            </a:lvl3pPr>
            <a:lvl4pPr marL="1787653" indent="-255379" algn="l" defTabSz="1021516" rtl="0" eaLnBrk="1" latinLnBrk="0" hangingPunct="1">
              <a:lnSpc>
                <a:spcPct val="90000"/>
              </a:lnSpc>
              <a:spcBef>
                <a:spcPts val="558"/>
              </a:spcBef>
              <a:buFont typeface="Arial" panose="020B0604020202020204" pitchFamily="34" charset="0"/>
              <a:buChar char="•"/>
              <a:defRPr sz="1600" kern="1200">
                <a:solidFill>
                  <a:schemeClr val="tx1"/>
                </a:solidFill>
                <a:latin typeface="Calvino" pitchFamily="2" charset="0"/>
                <a:ea typeface="+mn-ea"/>
                <a:cs typeface="+mn-cs"/>
              </a:defRPr>
            </a:lvl4pPr>
            <a:lvl5pPr marL="2298410" indent="-255379" algn="l" defTabSz="1021516" rtl="0" eaLnBrk="1" latinLnBrk="0" hangingPunct="1">
              <a:lnSpc>
                <a:spcPct val="90000"/>
              </a:lnSpc>
              <a:spcBef>
                <a:spcPts val="558"/>
              </a:spcBef>
              <a:buFont typeface="Arial" panose="020B0604020202020204" pitchFamily="34" charset="0"/>
              <a:buChar char="•"/>
              <a:defRPr sz="1600" kern="1200">
                <a:solidFill>
                  <a:schemeClr val="tx1"/>
                </a:solidFill>
                <a:latin typeface="Calvino" pitchFamily="2" charset="0"/>
                <a:ea typeface="+mn-ea"/>
                <a:cs typeface="+mn-cs"/>
              </a:defRPr>
            </a:lvl5pPr>
            <a:lvl6pPr marL="2809168" indent="-255379" algn="l" defTabSz="1021516" rtl="0" eaLnBrk="1" latinLnBrk="0" hangingPunct="1">
              <a:lnSpc>
                <a:spcPct val="90000"/>
              </a:lnSpc>
              <a:spcBef>
                <a:spcPts val="558"/>
              </a:spcBef>
              <a:buFont typeface="Arial" panose="020B0604020202020204" pitchFamily="34" charset="0"/>
              <a:buChar char="•"/>
              <a:defRPr sz="2011" kern="1200">
                <a:solidFill>
                  <a:schemeClr val="tx1"/>
                </a:solidFill>
                <a:latin typeface="+mn-lt"/>
                <a:ea typeface="+mn-ea"/>
                <a:cs typeface="+mn-cs"/>
              </a:defRPr>
            </a:lvl6pPr>
            <a:lvl7pPr marL="3319927" indent="-255379" algn="l" defTabSz="1021516" rtl="0" eaLnBrk="1" latinLnBrk="0" hangingPunct="1">
              <a:lnSpc>
                <a:spcPct val="90000"/>
              </a:lnSpc>
              <a:spcBef>
                <a:spcPts val="558"/>
              </a:spcBef>
              <a:buFont typeface="Arial" panose="020B0604020202020204" pitchFamily="34" charset="0"/>
              <a:buChar char="•"/>
              <a:defRPr sz="2011" kern="1200">
                <a:solidFill>
                  <a:schemeClr val="tx1"/>
                </a:solidFill>
                <a:latin typeface="+mn-lt"/>
                <a:ea typeface="+mn-ea"/>
                <a:cs typeface="+mn-cs"/>
              </a:defRPr>
            </a:lvl7pPr>
            <a:lvl8pPr marL="3830683" indent="-255379" algn="l" defTabSz="1021516" rtl="0" eaLnBrk="1" latinLnBrk="0" hangingPunct="1">
              <a:lnSpc>
                <a:spcPct val="90000"/>
              </a:lnSpc>
              <a:spcBef>
                <a:spcPts val="558"/>
              </a:spcBef>
              <a:buFont typeface="Arial" panose="020B0604020202020204" pitchFamily="34" charset="0"/>
              <a:buChar char="•"/>
              <a:defRPr sz="2011" kern="1200">
                <a:solidFill>
                  <a:schemeClr val="tx1"/>
                </a:solidFill>
                <a:latin typeface="+mn-lt"/>
                <a:ea typeface="+mn-ea"/>
                <a:cs typeface="+mn-cs"/>
              </a:defRPr>
            </a:lvl8pPr>
            <a:lvl9pPr marL="4341442" indent="-255379" algn="l" defTabSz="1021516" rtl="0" eaLnBrk="1" latinLnBrk="0" hangingPunct="1">
              <a:lnSpc>
                <a:spcPct val="90000"/>
              </a:lnSpc>
              <a:spcBef>
                <a:spcPts val="558"/>
              </a:spcBef>
              <a:buFont typeface="Arial" panose="020B0604020202020204" pitchFamily="34" charset="0"/>
              <a:buChar char="•"/>
              <a:defRPr sz="2011" kern="1200">
                <a:solidFill>
                  <a:schemeClr val="tx1"/>
                </a:solidFill>
                <a:latin typeface="+mn-lt"/>
                <a:ea typeface="+mn-ea"/>
                <a:cs typeface="+mn-cs"/>
              </a:defRPr>
            </a:lvl9pPr>
          </a:lstStyle>
          <a:p>
            <a:pPr marL="0" marR="0" lvl="0" indent="0" algn="ctr" defTabSz="1021516" rtl="1"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fa-IR" sz="1800" b="1" i="0" u="none" strike="noStrike" kern="1200" cap="none" spc="0" normalizeH="0" baseline="0" noProof="0" dirty="0">
                <a:ln>
                  <a:noFill/>
                </a:ln>
                <a:solidFill>
                  <a:prstClr val="white"/>
                </a:solidFill>
                <a:effectLst/>
                <a:uLnTx/>
                <a:uFillTx/>
                <a:latin typeface="Yekan Bakh FaNum" pitchFamily="2" charset="-78"/>
                <a:ea typeface="+mn-ea"/>
                <a:cs typeface="Yekan Bakh FaNum" pitchFamily="2" charset="-78"/>
              </a:rPr>
              <a:t>نُه گام از چارچوب کلی تا تخصیص رابطه برای هر پرسونا</a:t>
            </a:r>
          </a:p>
        </p:txBody>
      </p:sp>
    </p:spTree>
    <p:extLst>
      <p:ext uri="{BB962C8B-B14F-4D97-AF65-F5344CB8AC3E}">
        <p14:creationId xmlns:p14="http://schemas.microsoft.com/office/powerpoint/2010/main" val="2513359258"/>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2C499FE-D8FA-8E3C-C8A7-CE75FD41C410}"/>
              </a:ext>
            </a:extLst>
          </p:cNvPr>
          <p:cNvSpPr>
            <a:spLocks noGrp="1"/>
          </p:cNvSpPr>
          <p:nvPr>
            <p:ph type="body" sz="quarter" idx="10"/>
          </p:nvPr>
        </p:nvSpPr>
        <p:spPr/>
        <p:txBody>
          <a:bodyPr/>
          <a:lstStyle/>
          <a:p>
            <a:r>
              <a:rPr lang="fa-IR" dirty="0"/>
              <a:t>۱. چارچوب کلی</a:t>
            </a:r>
          </a:p>
        </p:txBody>
      </p:sp>
      <p:sp>
        <p:nvSpPr>
          <p:cNvPr id="3" name="Text Placeholder 2">
            <a:extLst>
              <a:ext uri="{FF2B5EF4-FFF2-40B4-BE49-F238E27FC236}">
                <a16:creationId xmlns:a16="http://schemas.microsoft.com/office/drawing/2014/main" id="{4A8B7977-FF5F-EDCB-3173-C5290D750E04}"/>
              </a:ext>
            </a:extLst>
          </p:cNvPr>
          <p:cNvSpPr>
            <a:spLocks noGrp="1"/>
          </p:cNvSpPr>
          <p:nvPr>
            <p:ph type="body" sz="quarter" idx="12"/>
          </p:nvPr>
        </p:nvSpPr>
        <p:spPr/>
        <p:txBody>
          <a:bodyPr/>
          <a:lstStyle/>
          <a:p>
            <a:r>
              <a:rPr lang="fa-IR" dirty="0"/>
              <a:t>سؤال اصلی «از چه کانالی تماس بگیریم» نیست؛ «چه نوع رابطه‌ای، با چه سرمایه‌گذاری سازمانی»</a:t>
            </a:r>
          </a:p>
          <a:p>
            <a:endParaRPr lang="en-GB" dirty="0"/>
          </a:p>
        </p:txBody>
      </p:sp>
      <p:grpSp>
        <p:nvGrpSpPr>
          <p:cNvPr id="83" name="Group 82">
            <a:extLst>
              <a:ext uri="{FF2B5EF4-FFF2-40B4-BE49-F238E27FC236}">
                <a16:creationId xmlns:a16="http://schemas.microsoft.com/office/drawing/2014/main" id="{2C593249-0581-6D2C-1CD7-83655F368125}"/>
              </a:ext>
            </a:extLst>
          </p:cNvPr>
          <p:cNvGrpSpPr/>
          <p:nvPr/>
        </p:nvGrpSpPr>
        <p:grpSpPr>
          <a:xfrm>
            <a:off x="581669" y="1751331"/>
            <a:ext cx="10661904" cy="3322384"/>
            <a:chOff x="581669" y="1343551"/>
            <a:chExt cx="10661904" cy="3322384"/>
          </a:xfrm>
        </p:grpSpPr>
        <p:sp>
          <p:nvSpPr>
            <p:cNvPr id="70" name="Rectangle: Rounded Corners 69">
              <a:extLst>
                <a:ext uri="{FF2B5EF4-FFF2-40B4-BE49-F238E27FC236}">
                  <a16:creationId xmlns:a16="http://schemas.microsoft.com/office/drawing/2014/main" id="{167CDEDB-33FF-1DCF-2812-B7D660FF2FB8}"/>
                </a:ext>
              </a:extLst>
            </p:cNvPr>
            <p:cNvSpPr/>
            <p:nvPr/>
          </p:nvSpPr>
          <p:spPr>
            <a:xfrm>
              <a:off x="581670" y="2955368"/>
              <a:ext cx="10661903" cy="1417320"/>
            </a:xfrm>
            <a:prstGeom prst="roundRect">
              <a:avLst>
                <a:gd name="adj" fmla="val 5367"/>
              </a:avLst>
            </a:prstGeom>
            <a:solidFill>
              <a:schemeClr val="bg1">
                <a:lumMod val="95000"/>
                <a:alpha val="4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Calibri"/>
              </a:endParaRPr>
            </a:p>
          </p:txBody>
        </p:sp>
        <p:sp>
          <p:nvSpPr>
            <p:cNvPr id="13" name="Left Arrow 12">
              <a:extLst>
                <a:ext uri="{FF2B5EF4-FFF2-40B4-BE49-F238E27FC236}">
                  <a16:creationId xmlns:a16="http://schemas.microsoft.com/office/drawing/2014/main" id="{D8CF4F38-B55D-2104-CE11-E3589E8F9848}"/>
                </a:ext>
              </a:extLst>
            </p:cNvPr>
            <p:cNvSpPr/>
            <p:nvPr/>
          </p:nvSpPr>
          <p:spPr>
            <a:xfrm>
              <a:off x="8547173" y="1969915"/>
              <a:ext cx="180720" cy="164592"/>
            </a:xfrm>
            <a:prstGeom prst="lef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Calibri"/>
              </a:endParaRPr>
            </a:p>
          </p:txBody>
        </p:sp>
        <p:sp>
          <p:nvSpPr>
            <p:cNvPr id="23" name="Left Arrow 17">
              <a:extLst>
                <a:ext uri="{FF2B5EF4-FFF2-40B4-BE49-F238E27FC236}">
                  <a16:creationId xmlns:a16="http://schemas.microsoft.com/office/drawing/2014/main" id="{AE8AE716-4FA8-BDC5-DBD3-5EFD987D0B17}"/>
                </a:ext>
              </a:extLst>
            </p:cNvPr>
            <p:cNvSpPr/>
            <p:nvPr/>
          </p:nvSpPr>
          <p:spPr>
            <a:xfrm>
              <a:off x="5822261" y="1969915"/>
              <a:ext cx="180720" cy="164592"/>
            </a:xfrm>
            <a:prstGeom prst="lef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Calibri"/>
              </a:endParaRPr>
            </a:p>
          </p:txBody>
        </p:sp>
        <p:sp>
          <p:nvSpPr>
            <p:cNvPr id="33" name="Left Arrow 22">
              <a:extLst>
                <a:ext uri="{FF2B5EF4-FFF2-40B4-BE49-F238E27FC236}">
                  <a16:creationId xmlns:a16="http://schemas.microsoft.com/office/drawing/2014/main" id="{F8E3EEA1-E35A-FD68-2C43-FE5C2FBD1310}"/>
                </a:ext>
              </a:extLst>
            </p:cNvPr>
            <p:cNvSpPr/>
            <p:nvPr/>
          </p:nvSpPr>
          <p:spPr>
            <a:xfrm>
              <a:off x="3097349" y="1969915"/>
              <a:ext cx="180720" cy="164592"/>
            </a:xfrm>
            <a:prstGeom prst="lef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mn-ea"/>
                <a:cs typeface="Calibri"/>
              </a:endParaRPr>
            </a:p>
          </p:txBody>
        </p:sp>
        <p:sp>
          <p:nvSpPr>
            <p:cNvPr id="5" name="Rectangle 4">
              <a:extLst>
                <a:ext uri="{FF2B5EF4-FFF2-40B4-BE49-F238E27FC236}">
                  <a16:creationId xmlns:a16="http://schemas.microsoft.com/office/drawing/2014/main" id="{E47AC40C-F908-B481-E05F-733F75AAB74D}"/>
                </a:ext>
              </a:extLst>
            </p:cNvPr>
            <p:cNvSpPr/>
            <p:nvPr/>
          </p:nvSpPr>
          <p:spPr>
            <a:xfrm>
              <a:off x="8756405" y="1343551"/>
              <a:ext cx="2487168" cy="1417320"/>
            </a:xfrm>
            <a:prstGeom prst="rect">
              <a:avLst/>
            </a:prstGeom>
            <a:solidFill>
              <a:srgbClr val="152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Calibri"/>
              </a:endParaRPr>
            </a:p>
          </p:txBody>
        </p:sp>
        <p:sp>
          <p:nvSpPr>
            <p:cNvPr id="7" name="TextBox 6">
              <a:extLst>
                <a:ext uri="{FF2B5EF4-FFF2-40B4-BE49-F238E27FC236}">
                  <a16:creationId xmlns:a16="http://schemas.microsoft.com/office/drawing/2014/main" id="{2D4ED265-3CF6-AAD4-DA84-EACDBDD486E3}"/>
                </a:ext>
              </a:extLst>
            </p:cNvPr>
            <p:cNvSpPr txBox="1"/>
            <p:nvPr/>
          </p:nvSpPr>
          <p:spPr>
            <a:xfrm>
              <a:off x="8866133" y="1453279"/>
              <a:ext cx="2267712" cy="230832"/>
            </a:xfrm>
            <a:prstGeom prst="rect">
              <a:avLst/>
            </a:prstGeom>
            <a:noFill/>
          </p:spPr>
          <p:txBody>
            <a:bodyPr wrap="square" lIns="0" tIns="0" rIns="0" bIns="0" anchor="t">
              <a:spAutoFit/>
            </a:bodyPr>
            <a:lstStyle/>
            <a:p>
              <a:pPr marL="0" marR="0" lvl="0" indent="0" algn="r" defTabSz="457200" rtl="1" eaLnBrk="1" fontAlgn="auto" latinLnBrk="0" hangingPunct="1">
                <a:lnSpc>
                  <a:spcPct val="125000"/>
                </a:lnSpc>
                <a:spcBef>
                  <a:spcPts val="0"/>
                </a:spcBef>
                <a:spcAft>
                  <a:spcPts val="0"/>
                </a:spcAft>
                <a:buClrTx/>
                <a:buSzTx/>
                <a:buFontTx/>
                <a:buNone/>
                <a:tabLst/>
                <a:defRPr/>
              </a:pPr>
              <a:r>
                <a:rPr kumimoji="0" sz="1200" b="1" i="0" u="none" strike="noStrike" kern="1200" cap="none" spc="0" normalizeH="0" baseline="0" noProof="0" dirty="0" err="1">
                  <a:ln>
                    <a:noFill/>
                  </a:ln>
                  <a:solidFill>
                    <a:srgbClr val="E5E7EB"/>
                  </a:solidFill>
                  <a:effectLst/>
                  <a:uLnTx/>
                  <a:uFillTx/>
                  <a:latin typeface="Yekan Bakh FaNum" pitchFamily="2" charset="-78"/>
                  <a:ea typeface="+mn-ea"/>
                  <a:cs typeface="Yekan Bakh FaNum" pitchFamily="2" charset="-78"/>
                </a:rPr>
                <a:t>مرحله</a:t>
              </a:r>
              <a:r>
                <a:rPr kumimoji="0" sz="1200" b="1" i="0" u="none" strike="noStrike" kern="1200" cap="none" spc="0" normalizeH="0" baseline="0" noProof="0" dirty="0">
                  <a:ln>
                    <a:noFill/>
                  </a:ln>
                  <a:solidFill>
                    <a:srgbClr val="E5E7EB"/>
                  </a:solidFill>
                  <a:effectLst/>
                  <a:uLnTx/>
                  <a:uFillTx/>
                  <a:latin typeface="Yekan Bakh FaNum" pitchFamily="2" charset="-78"/>
                  <a:ea typeface="+mn-ea"/>
                  <a:cs typeface="Yekan Bakh FaNum" pitchFamily="2" charset="-78"/>
                </a:rPr>
                <a:t> ۱</a:t>
              </a:r>
            </a:p>
          </p:txBody>
        </p:sp>
        <p:sp>
          <p:nvSpPr>
            <p:cNvPr id="9" name="TextBox 8">
              <a:extLst>
                <a:ext uri="{FF2B5EF4-FFF2-40B4-BE49-F238E27FC236}">
                  <a16:creationId xmlns:a16="http://schemas.microsoft.com/office/drawing/2014/main" id="{68BAA22F-3632-B7FE-5CAD-84C2D8F28C04}"/>
                </a:ext>
              </a:extLst>
            </p:cNvPr>
            <p:cNvSpPr txBox="1"/>
            <p:nvPr/>
          </p:nvSpPr>
          <p:spPr>
            <a:xfrm>
              <a:off x="8866133" y="1878609"/>
              <a:ext cx="2267712" cy="203133"/>
            </a:xfrm>
            <a:prstGeom prst="rect">
              <a:avLst/>
            </a:prstGeom>
            <a:noFill/>
          </p:spPr>
          <p:txBody>
            <a:bodyPr wrap="square" lIns="0" tIns="0" rIns="0" bIns="0" anchor="t">
              <a:spAutoFit/>
            </a:bodyPr>
            <a:lstStyle/>
            <a:p>
              <a:pPr marL="0" marR="0" lvl="0" indent="0" algn="r" defTabSz="457200" rtl="1" eaLnBrk="1" fontAlgn="auto" latinLnBrk="0" hangingPunct="1">
                <a:lnSpc>
                  <a:spcPct val="11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Yekan Bakh FaNum" pitchFamily="2" charset="-78"/>
                  <a:ea typeface="+mn-ea"/>
                  <a:cs typeface="Yekan Bakh FaNum" pitchFamily="2" charset="-78"/>
                </a:rPr>
                <a:t>شناسایی آرکی‌تایپ‌های رابطه</a:t>
              </a:r>
            </a:p>
          </p:txBody>
        </p:sp>
        <p:sp>
          <p:nvSpPr>
            <p:cNvPr id="11" name="TextBox 10">
              <a:extLst>
                <a:ext uri="{FF2B5EF4-FFF2-40B4-BE49-F238E27FC236}">
                  <a16:creationId xmlns:a16="http://schemas.microsoft.com/office/drawing/2014/main" id="{9F981ED9-87B1-8FD4-73A3-2473F9933B7B}"/>
                </a:ext>
              </a:extLst>
            </p:cNvPr>
            <p:cNvSpPr txBox="1"/>
            <p:nvPr/>
          </p:nvSpPr>
          <p:spPr>
            <a:xfrm>
              <a:off x="8866133" y="2276239"/>
              <a:ext cx="2267712" cy="353943"/>
            </a:xfrm>
            <a:prstGeom prst="rect">
              <a:avLst/>
            </a:prstGeom>
            <a:noFill/>
          </p:spPr>
          <p:txBody>
            <a:bodyPr wrap="square" lIns="0" tIns="0" rIns="0" bIns="0" anchor="t">
              <a:spAutoFit/>
            </a:bodyPr>
            <a:lstStyle/>
            <a:p>
              <a:pPr marL="0" marR="0" lvl="0" indent="0" algn="r" defTabSz="457200" rtl="1" eaLnBrk="1" fontAlgn="auto" latinLnBrk="0" hangingPunct="1">
                <a:lnSpc>
                  <a:spcPct val="115000"/>
                </a:lnSpc>
                <a:spcBef>
                  <a:spcPts val="0"/>
                </a:spcBef>
                <a:spcAft>
                  <a:spcPts val="0"/>
                </a:spcAft>
                <a:buClrTx/>
                <a:buSzTx/>
                <a:buFontTx/>
                <a:buNone/>
                <a:tabLst/>
                <a:defRPr/>
              </a:pPr>
              <a:r>
                <a:rPr kumimoji="0" sz="1000" b="0" i="0" u="none" strike="noStrike" kern="1200" cap="none" spc="0" normalizeH="0" baseline="0" noProof="0">
                  <a:ln>
                    <a:noFill/>
                  </a:ln>
                  <a:solidFill>
                    <a:srgbClr val="E5E7EB"/>
                  </a:solidFill>
                  <a:effectLst/>
                  <a:uLnTx/>
                  <a:uFillTx/>
                  <a:latin typeface="Yekan Bakh FaNum" pitchFamily="2" charset="-78"/>
                  <a:ea typeface="+mn-ea"/>
                  <a:cs typeface="Yekan Bakh FaNum" pitchFamily="2" charset="-78"/>
                </a:rPr>
                <a:t>۷ نوع رابطه ممکن میان </a:t>
              </a:r>
              <a:r>
                <a:rPr kumimoji="0" lang="fa-IR" sz="1000" b="0" i="0" u="none" strike="noStrike" kern="1200" cap="none" spc="0" normalizeH="0" baseline="0" noProof="0">
                  <a:ln>
                    <a:noFill/>
                  </a:ln>
                  <a:solidFill>
                    <a:srgbClr val="E5E7EB"/>
                  </a:solidFill>
                  <a:effectLst/>
                  <a:uLnTx/>
                  <a:uFillTx/>
                  <a:latin typeface="Yekan Bakh FaNum" pitchFamily="2" charset="-78"/>
                  <a:ea typeface="+mn-ea"/>
                  <a:cs typeface="Yekan Bakh FaNum" pitchFamily="2" charset="-78"/>
                </a:rPr>
                <a:t>«اکوسیستم فرصت ایران»</a:t>
              </a:r>
              <a:r>
                <a:rPr kumimoji="0" sz="1000" b="0" i="0" u="none" strike="noStrike" kern="1200" cap="none" spc="0" normalizeH="0" baseline="0" noProof="0">
                  <a:ln>
                    <a:noFill/>
                  </a:ln>
                  <a:solidFill>
                    <a:srgbClr val="E5E7EB"/>
                  </a:solidFill>
                  <a:effectLst/>
                  <a:uLnTx/>
                  <a:uFillTx/>
                  <a:latin typeface="Yekan Bakh FaNum" pitchFamily="2" charset="-78"/>
                  <a:ea typeface="+mn-ea"/>
                  <a:cs typeface="Yekan Bakh FaNum" pitchFamily="2" charset="-78"/>
                </a:rPr>
                <a:t>و مشتری</a:t>
              </a:r>
            </a:p>
          </p:txBody>
        </p:sp>
        <p:sp>
          <p:nvSpPr>
            <p:cNvPr id="15" name="Rectangle 14">
              <a:extLst>
                <a:ext uri="{FF2B5EF4-FFF2-40B4-BE49-F238E27FC236}">
                  <a16:creationId xmlns:a16="http://schemas.microsoft.com/office/drawing/2014/main" id="{9FD7419E-463B-A282-8D54-EE7B18CEF972}"/>
                </a:ext>
              </a:extLst>
            </p:cNvPr>
            <p:cNvSpPr/>
            <p:nvPr/>
          </p:nvSpPr>
          <p:spPr>
            <a:xfrm>
              <a:off x="6031493" y="1343551"/>
              <a:ext cx="2487168" cy="1417320"/>
            </a:xfrm>
            <a:prstGeom prst="rect">
              <a:avLst/>
            </a:prstGeom>
            <a:solidFill>
              <a:srgbClr val="152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7" name="TextBox 16">
              <a:extLst>
                <a:ext uri="{FF2B5EF4-FFF2-40B4-BE49-F238E27FC236}">
                  <a16:creationId xmlns:a16="http://schemas.microsoft.com/office/drawing/2014/main" id="{4A2B02EB-35E8-09D6-84ED-775699CFC913}"/>
                </a:ext>
              </a:extLst>
            </p:cNvPr>
            <p:cNvSpPr txBox="1"/>
            <p:nvPr/>
          </p:nvSpPr>
          <p:spPr>
            <a:xfrm>
              <a:off x="6141221" y="1453279"/>
              <a:ext cx="2267712" cy="230832"/>
            </a:xfrm>
            <a:prstGeom prst="rect">
              <a:avLst/>
            </a:prstGeom>
            <a:noFill/>
          </p:spPr>
          <p:txBody>
            <a:bodyPr wrap="square" lIns="0" tIns="0" rIns="0" bIns="0" anchor="t">
              <a:spAutoFit/>
            </a:bodyPr>
            <a:lstStyle/>
            <a:p>
              <a:pPr marL="0" marR="0" lvl="0" indent="0" algn="r" defTabSz="457200" rtl="1" eaLnBrk="1" fontAlgn="auto" latinLnBrk="0" hangingPunct="1">
                <a:lnSpc>
                  <a:spcPct val="125000"/>
                </a:lnSpc>
                <a:spcBef>
                  <a:spcPts val="0"/>
                </a:spcBef>
                <a:spcAft>
                  <a:spcPts val="0"/>
                </a:spcAft>
                <a:buClrTx/>
                <a:buSzTx/>
                <a:buFontTx/>
                <a:buNone/>
                <a:tabLst/>
                <a:defRPr/>
              </a:pPr>
              <a:r>
                <a:rPr kumimoji="0" sz="1200" b="1" i="0" u="none" strike="noStrike" kern="1200" cap="none" spc="0" normalizeH="0" baseline="0" noProof="0">
                  <a:ln>
                    <a:noFill/>
                  </a:ln>
                  <a:solidFill>
                    <a:srgbClr val="E5E7EB"/>
                  </a:solidFill>
                  <a:effectLst/>
                  <a:uLnTx/>
                  <a:uFillTx/>
                  <a:latin typeface="Yekan Bakh FaNum" pitchFamily="2" charset="-78"/>
                  <a:ea typeface="+mn-ea"/>
                  <a:cs typeface="Yekan Bakh FaNum" pitchFamily="2" charset="-78"/>
                </a:rPr>
                <a:t>مرحله ۲</a:t>
              </a:r>
            </a:p>
          </p:txBody>
        </p:sp>
        <p:sp>
          <p:nvSpPr>
            <p:cNvPr id="19" name="TextBox 18">
              <a:extLst>
                <a:ext uri="{FF2B5EF4-FFF2-40B4-BE49-F238E27FC236}">
                  <a16:creationId xmlns:a16="http://schemas.microsoft.com/office/drawing/2014/main" id="{2D54044E-E2A9-1AD6-714C-96F4405ED052}"/>
                </a:ext>
              </a:extLst>
            </p:cNvPr>
            <p:cNvSpPr txBox="1"/>
            <p:nvPr/>
          </p:nvSpPr>
          <p:spPr>
            <a:xfrm>
              <a:off x="6141221" y="1878609"/>
              <a:ext cx="2267712" cy="203133"/>
            </a:xfrm>
            <a:prstGeom prst="rect">
              <a:avLst/>
            </a:prstGeom>
            <a:noFill/>
          </p:spPr>
          <p:txBody>
            <a:bodyPr wrap="square" lIns="0" tIns="0" rIns="0" bIns="0" anchor="t">
              <a:spAutoFit/>
            </a:bodyPr>
            <a:lstStyle/>
            <a:p>
              <a:pPr marL="0" marR="0" lvl="0" indent="0" algn="r" defTabSz="457200" rtl="1" eaLnBrk="1" fontAlgn="auto" latinLnBrk="0" hangingPunct="1">
                <a:lnSpc>
                  <a:spcPct val="110000"/>
                </a:lnSpc>
                <a:spcBef>
                  <a:spcPts val="0"/>
                </a:spcBef>
                <a:spcAft>
                  <a:spcPts val="0"/>
                </a:spcAft>
                <a:buClrTx/>
                <a:buSzTx/>
                <a:buFontTx/>
                <a:buNone/>
                <a:tabLst/>
                <a:defRPr/>
              </a:pPr>
              <a:r>
                <a:rPr kumimoji="0" sz="1200" b="1" i="0" u="none" strike="noStrike" kern="1200" cap="none" spc="0" normalizeH="0" baseline="0" noProof="0" dirty="0" err="1">
                  <a:ln>
                    <a:noFill/>
                  </a:ln>
                  <a:solidFill>
                    <a:srgbClr val="FFFFFF"/>
                  </a:solidFill>
                  <a:effectLst/>
                  <a:uLnTx/>
                  <a:uFillTx/>
                  <a:latin typeface="Yekan Bakh FaNum" pitchFamily="2" charset="-78"/>
                  <a:ea typeface="+mn-ea"/>
                  <a:cs typeface="Yekan Bakh FaNum" pitchFamily="2" charset="-78"/>
                </a:rPr>
                <a:t>انتخاب</a:t>
              </a:r>
              <a:r>
                <a:rPr kumimoji="0" sz="1200" b="1" i="0" u="none" strike="noStrike" kern="1200" cap="none" spc="0" normalizeH="0" baseline="0" noProof="0" dirty="0">
                  <a:ln>
                    <a:noFill/>
                  </a:ln>
                  <a:solidFill>
                    <a:srgbClr val="FFFFFF"/>
                  </a:solidFill>
                  <a:effectLst/>
                  <a:uLnTx/>
                  <a:uFillTx/>
                  <a:latin typeface="Yekan Bakh FaNum" pitchFamily="2" charset="-78"/>
                  <a:ea typeface="+mn-ea"/>
                  <a:cs typeface="Yekan Bakh FaNum" pitchFamily="2" charset="-78"/>
                </a:rPr>
                <a:t> </a:t>
              </a:r>
              <a:r>
                <a:rPr kumimoji="0" sz="1200" b="1" i="0" u="none" strike="noStrike" kern="1200" cap="none" spc="0" normalizeH="0" baseline="0" noProof="0" dirty="0" err="1">
                  <a:ln>
                    <a:noFill/>
                  </a:ln>
                  <a:solidFill>
                    <a:srgbClr val="FFFFFF"/>
                  </a:solidFill>
                  <a:effectLst/>
                  <a:uLnTx/>
                  <a:uFillTx/>
                  <a:latin typeface="Yekan Bakh FaNum" pitchFamily="2" charset="-78"/>
                  <a:ea typeface="+mn-ea"/>
                  <a:cs typeface="Yekan Bakh FaNum" pitchFamily="2" charset="-78"/>
                </a:rPr>
                <a:t>رابطه</a:t>
              </a:r>
              <a:r>
                <a:rPr kumimoji="0" sz="1200" b="1" i="0" u="none" strike="noStrike" kern="1200" cap="none" spc="0" normalizeH="0" baseline="0" noProof="0" dirty="0">
                  <a:ln>
                    <a:noFill/>
                  </a:ln>
                  <a:solidFill>
                    <a:srgbClr val="FFFFFF"/>
                  </a:solidFill>
                  <a:effectLst/>
                  <a:uLnTx/>
                  <a:uFillTx/>
                  <a:latin typeface="Yekan Bakh FaNum" pitchFamily="2" charset="-78"/>
                  <a:ea typeface="+mn-ea"/>
                  <a:cs typeface="Yekan Bakh FaNum" pitchFamily="2" charset="-78"/>
                </a:rPr>
                <a:t> </a:t>
              </a:r>
              <a:r>
                <a:rPr kumimoji="0" sz="1200" b="1" i="0" u="none" strike="noStrike" kern="1200" cap="none" spc="0" normalizeH="0" baseline="0" noProof="0" dirty="0" err="1">
                  <a:ln>
                    <a:noFill/>
                  </a:ln>
                  <a:solidFill>
                    <a:srgbClr val="FFFFFF"/>
                  </a:solidFill>
                  <a:effectLst/>
                  <a:uLnTx/>
                  <a:uFillTx/>
                  <a:latin typeface="Yekan Bakh FaNum" pitchFamily="2" charset="-78"/>
                  <a:ea typeface="+mn-ea"/>
                  <a:cs typeface="Yekan Bakh FaNum" pitchFamily="2" charset="-78"/>
                </a:rPr>
                <a:t>مناسب</a:t>
              </a:r>
              <a:endParaRPr kumimoji="0" sz="1200" b="1" i="0" u="none" strike="noStrike" kern="1200" cap="none" spc="0" normalizeH="0" baseline="0" noProof="0" dirty="0">
                <a:ln>
                  <a:noFill/>
                </a:ln>
                <a:solidFill>
                  <a:srgbClr val="FFFFFF"/>
                </a:solidFill>
                <a:effectLst/>
                <a:uLnTx/>
                <a:uFillTx/>
                <a:latin typeface="Yekan Bakh FaNum" pitchFamily="2" charset="-78"/>
                <a:ea typeface="+mn-ea"/>
                <a:cs typeface="Yekan Bakh FaNum" pitchFamily="2" charset="-78"/>
              </a:endParaRPr>
            </a:p>
          </p:txBody>
        </p:sp>
        <p:sp>
          <p:nvSpPr>
            <p:cNvPr id="21" name="TextBox 20">
              <a:extLst>
                <a:ext uri="{FF2B5EF4-FFF2-40B4-BE49-F238E27FC236}">
                  <a16:creationId xmlns:a16="http://schemas.microsoft.com/office/drawing/2014/main" id="{A73ACD7E-FC47-53CC-9ABC-891869C47274}"/>
                </a:ext>
              </a:extLst>
            </p:cNvPr>
            <p:cNvSpPr txBox="1"/>
            <p:nvPr/>
          </p:nvSpPr>
          <p:spPr>
            <a:xfrm>
              <a:off x="6141221" y="2276239"/>
              <a:ext cx="2267712" cy="353943"/>
            </a:xfrm>
            <a:prstGeom prst="rect">
              <a:avLst/>
            </a:prstGeom>
            <a:noFill/>
          </p:spPr>
          <p:txBody>
            <a:bodyPr wrap="square" lIns="0" tIns="0" rIns="0" bIns="0" anchor="t">
              <a:spAutoFit/>
            </a:bodyPr>
            <a:lstStyle/>
            <a:p>
              <a:pPr marL="0" marR="0" lvl="0" indent="0" algn="r" defTabSz="457200" rtl="1" eaLnBrk="1" fontAlgn="auto" latinLnBrk="0" hangingPunct="1">
                <a:lnSpc>
                  <a:spcPct val="115000"/>
                </a:lnSpc>
                <a:spcBef>
                  <a:spcPts val="0"/>
                </a:spcBef>
                <a:spcAft>
                  <a:spcPts val="0"/>
                </a:spcAft>
                <a:buClrTx/>
                <a:buSzTx/>
                <a:buFontTx/>
                <a:buNone/>
                <a:tabLst/>
                <a:defRPr/>
              </a:pPr>
              <a:r>
                <a:rPr kumimoji="0" sz="1000" b="0" i="0" u="none" strike="noStrike" kern="1200" cap="none" spc="0" normalizeH="0" baseline="0" noProof="0" dirty="0" err="1">
                  <a:ln>
                    <a:noFill/>
                  </a:ln>
                  <a:solidFill>
                    <a:srgbClr val="E5E7EB"/>
                  </a:solidFill>
                  <a:effectLst/>
                  <a:uLnTx/>
                  <a:uFillTx/>
                  <a:latin typeface="Yekan Bakh FaNum" pitchFamily="2" charset="-78"/>
                  <a:ea typeface="+mn-ea"/>
                  <a:cs typeface="Yekan Bakh FaNum" pitchFamily="2" charset="-78"/>
                </a:rPr>
                <a:t>بر</a:t>
              </a:r>
              <a:r>
                <a:rPr kumimoji="0" sz="1000" b="0" i="0" u="none" strike="noStrike" kern="1200" cap="none" spc="0" normalizeH="0" baseline="0" noProof="0" dirty="0">
                  <a:ln>
                    <a:noFill/>
                  </a:ln>
                  <a:solidFill>
                    <a:srgbClr val="E5E7EB"/>
                  </a:solidFill>
                  <a:effectLst/>
                  <a:uLnTx/>
                  <a:uFillTx/>
                  <a:latin typeface="Yekan Bakh FaNum" pitchFamily="2" charset="-78"/>
                  <a:ea typeface="+mn-ea"/>
                  <a:cs typeface="Yekan Bakh FaNum" pitchFamily="2" charset="-78"/>
                </a:rPr>
                <a:t> </a:t>
              </a:r>
              <a:r>
                <a:rPr kumimoji="0" sz="1000" b="0" i="0" u="none" strike="noStrike" kern="1200" cap="none" spc="0" normalizeH="0" baseline="0" noProof="0" dirty="0" err="1">
                  <a:ln>
                    <a:noFill/>
                  </a:ln>
                  <a:solidFill>
                    <a:srgbClr val="E5E7EB"/>
                  </a:solidFill>
                  <a:effectLst/>
                  <a:uLnTx/>
                  <a:uFillTx/>
                  <a:latin typeface="Yekan Bakh FaNum" pitchFamily="2" charset="-78"/>
                  <a:ea typeface="+mn-ea"/>
                  <a:cs typeface="Yekan Bakh FaNum" pitchFamily="2" charset="-78"/>
                </a:rPr>
                <a:t>اساس</a:t>
              </a:r>
              <a:r>
                <a:rPr kumimoji="0" sz="1000" b="0" i="0" u="none" strike="noStrike" kern="1200" cap="none" spc="0" normalizeH="0" baseline="0" noProof="0" dirty="0">
                  <a:ln>
                    <a:noFill/>
                  </a:ln>
                  <a:solidFill>
                    <a:srgbClr val="E5E7EB"/>
                  </a:solidFill>
                  <a:effectLst/>
                  <a:uLnTx/>
                  <a:uFillTx/>
                  <a:latin typeface="Yekan Bakh FaNum" pitchFamily="2" charset="-78"/>
                  <a:ea typeface="+mn-ea"/>
                  <a:cs typeface="Yekan Bakh FaNum" pitchFamily="2" charset="-78"/>
                </a:rPr>
                <a:t> </a:t>
              </a:r>
              <a:r>
                <a:rPr kumimoji="0" sz="1000" b="0" i="0" u="none" strike="noStrike" kern="1200" cap="none" spc="0" normalizeH="0" baseline="0" noProof="0" dirty="0" err="1">
                  <a:ln>
                    <a:noFill/>
                  </a:ln>
                  <a:solidFill>
                    <a:srgbClr val="E5E7EB"/>
                  </a:solidFill>
                  <a:effectLst/>
                  <a:uLnTx/>
                  <a:uFillTx/>
                  <a:latin typeface="Yekan Bakh FaNum" pitchFamily="2" charset="-78"/>
                  <a:ea typeface="+mn-ea"/>
                  <a:cs typeface="Yekan Bakh FaNum" pitchFamily="2" charset="-78"/>
                </a:rPr>
                <a:t>ارزش</a:t>
              </a:r>
              <a:r>
                <a:rPr kumimoji="0" sz="1000" b="0" i="0" u="none" strike="noStrike" kern="1200" cap="none" spc="0" normalizeH="0" baseline="0" noProof="0" dirty="0">
                  <a:ln>
                    <a:noFill/>
                  </a:ln>
                  <a:solidFill>
                    <a:srgbClr val="E5E7EB"/>
                  </a:solidFill>
                  <a:effectLst/>
                  <a:uLnTx/>
                  <a:uFillTx/>
                  <a:latin typeface="Yekan Bakh FaNum" pitchFamily="2" charset="-78"/>
                  <a:ea typeface="+mn-ea"/>
                  <a:cs typeface="Yekan Bakh FaNum" pitchFamily="2" charset="-78"/>
                </a:rPr>
                <a:t> </a:t>
              </a:r>
              <a:r>
                <a:rPr kumimoji="0" sz="1000" b="0" i="0" u="none" strike="noStrike" kern="1200" cap="none" spc="0" normalizeH="0" baseline="0" noProof="0" dirty="0" err="1">
                  <a:ln>
                    <a:noFill/>
                  </a:ln>
                  <a:solidFill>
                    <a:srgbClr val="E5E7EB"/>
                  </a:solidFill>
                  <a:effectLst/>
                  <a:uLnTx/>
                  <a:uFillTx/>
                  <a:latin typeface="Yekan Bakh FaNum" pitchFamily="2" charset="-78"/>
                  <a:ea typeface="+mn-ea"/>
                  <a:cs typeface="Yekan Bakh FaNum" pitchFamily="2" charset="-78"/>
                </a:rPr>
                <a:t>بالقوه</a:t>
              </a:r>
              <a:r>
                <a:rPr kumimoji="0" sz="1000" b="0" i="0" u="none" strike="noStrike" kern="1200" cap="none" spc="0" normalizeH="0" baseline="0" noProof="0" dirty="0">
                  <a:ln>
                    <a:noFill/>
                  </a:ln>
                  <a:solidFill>
                    <a:srgbClr val="E5E7EB"/>
                  </a:solidFill>
                  <a:effectLst/>
                  <a:uLnTx/>
                  <a:uFillTx/>
                  <a:latin typeface="Yekan Bakh FaNum" pitchFamily="2" charset="-78"/>
                  <a:ea typeface="+mn-ea"/>
                  <a:cs typeface="Yekan Bakh FaNum" pitchFamily="2" charset="-78"/>
                </a:rPr>
                <a:t> </a:t>
              </a:r>
              <a:r>
                <a:rPr kumimoji="0" sz="1000" b="0" i="0" u="none" strike="noStrike" kern="1200" cap="none" spc="0" normalizeH="0" baseline="0" noProof="0" dirty="0" err="1">
                  <a:ln>
                    <a:noFill/>
                  </a:ln>
                  <a:solidFill>
                    <a:srgbClr val="E5E7EB"/>
                  </a:solidFill>
                  <a:effectLst/>
                  <a:uLnTx/>
                  <a:uFillTx/>
                  <a:latin typeface="Yekan Bakh FaNum" pitchFamily="2" charset="-78"/>
                  <a:ea typeface="+mn-ea"/>
                  <a:cs typeface="Yekan Bakh FaNum" pitchFamily="2" charset="-78"/>
                </a:rPr>
                <a:t>مشتری</a:t>
              </a:r>
              <a:r>
                <a:rPr kumimoji="0" sz="1000" b="0" i="0" u="none" strike="noStrike" kern="1200" cap="none" spc="0" normalizeH="0" baseline="0" noProof="0" dirty="0">
                  <a:ln>
                    <a:noFill/>
                  </a:ln>
                  <a:solidFill>
                    <a:srgbClr val="E5E7EB"/>
                  </a:solidFill>
                  <a:effectLst/>
                  <a:uLnTx/>
                  <a:uFillTx/>
                  <a:latin typeface="Yekan Bakh FaNum" pitchFamily="2" charset="-78"/>
                  <a:ea typeface="+mn-ea"/>
                  <a:cs typeface="Yekan Bakh FaNum" pitchFamily="2" charset="-78"/>
                </a:rPr>
                <a:t> × </a:t>
              </a:r>
              <a:r>
                <a:rPr kumimoji="0" sz="1000" b="0" i="0" u="none" strike="noStrike" kern="1200" cap="none" spc="0" normalizeH="0" baseline="0" noProof="0" dirty="0" err="1">
                  <a:ln>
                    <a:noFill/>
                  </a:ln>
                  <a:solidFill>
                    <a:srgbClr val="E5E7EB"/>
                  </a:solidFill>
                  <a:effectLst/>
                  <a:uLnTx/>
                  <a:uFillTx/>
                  <a:latin typeface="Yekan Bakh FaNum" pitchFamily="2" charset="-78"/>
                  <a:ea typeface="+mn-ea"/>
                  <a:cs typeface="Yekan Bakh FaNum" pitchFamily="2" charset="-78"/>
                </a:rPr>
                <a:t>پیچیدگی</a:t>
              </a:r>
              <a:r>
                <a:rPr kumimoji="0" sz="1000" b="0" i="0" u="none" strike="noStrike" kern="1200" cap="none" spc="0" normalizeH="0" baseline="0" noProof="0" dirty="0">
                  <a:ln>
                    <a:noFill/>
                  </a:ln>
                  <a:solidFill>
                    <a:srgbClr val="E5E7EB"/>
                  </a:solidFill>
                  <a:effectLst/>
                  <a:uLnTx/>
                  <a:uFillTx/>
                  <a:latin typeface="Yekan Bakh FaNum" pitchFamily="2" charset="-78"/>
                  <a:ea typeface="+mn-ea"/>
                  <a:cs typeface="Yekan Bakh FaNum" pitchFamily="2" charset="-78"/>
                </a:rPr>
                <a:t> </a:t>
              </a:r>
              <a:r>
                <a:rPr kumimoji="0" sz="1000" b="0" i="0" u="none" strike="noStrike" kern="1200" cap="none" spc="0" normalizeH="0" baseline="0" noProof="0" dirty="0" err="1">
                  <a:ln>
                    <a:noFill/>
                  </a:ln>
                  <a:solidFill>
                    <a:srgbClr val="E5E7EB"/>
                  </a:solidFill>
                  <a:effectLst/>
                  <a:uLnTx/>
                  <a:uFillTx/>
                  <a:latin typeface="Yekan Bakh FaNum" pitchFamily="2" charset="-78"/>
                  <a:ea typeface="+mn-ea"/>
                  <a:cs typeface="Yekan Bakh FaNum" pitchFamily="2" charset="-78"/>
                </a:rPr>
                <a:t>نیاز</a:t>
              </a:r>
              <a:r>
                <a:rPr kumimoji="0" sz="1000" b="0" i="0" u="none" strike="noStrike" kern="1200" cap="none" spc="0" normalizeH="0" baseline="0" noProof="0" dirty="0">
                  <a:ln>
                    <a:noFill/>
                  </a:ln>
                  <a:solidFill>
                    <a:srgbClr val="E5E7EB"/>
                  </a:solidFill>
                  <a:effectLst/>
                  <a:uLnTx/>
                  <a:uFillTx/>
                  <a:latin typeface="Yekan Bakh FaNum" pitchFamily="2" charset="-78"/>
                  <a:ea typeface="+mn-ea"/>
                  <a:cs typeface="Yekan Bakh FaNum" pitchFamily="2" charset="-78"/>
                </a:rPr>
                <a:t> </a:t>
              </a:r>
              <a:r>
                <a:rPr kumimoji="0" sz="1000" b="0" i="0" u="none" strike="noStrike" kern="1200" cap="none" spc="0" normalizeH="0" baseline="0" noProof="0" dirty="0" err="1">
                  <a:ln>
                    <a:noFill/>
                  </a:ln>
                  <a:solidFill>
                    <a:srgbClr val="E5E7EB"/>
                  </a:solidFill>
                  <a:effectLst/>
                  <a:uLnTx/>
                  <a:uFillTx/>
                  <a:latin typeface="Yekan Bakh FaNum" pitchFamily="2" charset="-78"/>
                  <a:ea typeface="+mn-ea"/>
                  <a:cs typeface="Yekan Bakh FaNum" pitchFamily="2" charset="-78"/>
                </a:rPr>
                <a:t>مشتری</a:t>
              </a:r>
              <a:endParaRPr kumimoji="0" sz="1000" b="0" i="0" u="none" strike="noStrike" kern="1200" cap="none" spc="0" normalizeH="0" baseline="0" noProof="0" dirty="0">
                <a:ln>
                  <a:noFill/>
                </a:ln>
                <a:solidFill>
                  <a:srgbClr val="E5E7EB"/>
                </a:solidFill>
                <a:effectLst/>
                <a:uLnTx/>
                <a:uFillTx/>
                <a:latin typeface="Yekan Bakh FaNum" pitchFamily="2" charset="-78"/>
                <a:ea typeface="+mn-ea"/>
                <a:cs typeface="Yekan Bakh FaNum" pitchFamily="2" charset="-78"/>
              </a:endParaRPr>
            </a:p>
          </p:txBody>
        </p:sp>
        <p:sp>
          <p:nvSpPr>
            <p:cNvPr id="25" name="Rectangle 24">
              <a:extLst>
                <a:ext uri="{FF2B5EF4-FFF2-40B4-BE49-F238E27FC236}">
                  <a16:creationId xmlns:a16="http://schemas.microsoft.com/office/drawing/2014/main" id="{AF4ACF82-67A4-27CB-62D9-B80810B2E208}"/>
                </a:ext>
              </a:extLst>
            </p:cNvPr>
            <p:cNvSpPr/>
            <p:nvPr/>
          </p:nvSpPr>
          <p:spPr>
            <a:xfrm>
              <a:off x="3306581" y="1343551"/>
              <a:ext cx="2487168" cy="1417320"/>
            </a:xfrm>
            <a:prstGeom prst="rect">
              <a:avLst/>
            </a:prstGeom>
            <a:solidFill>
              <a:srgbClr val="EF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Calibri"/>
              </a:endParaRPr>
            </a:p>
          </p:txBody>
        </p:sp>
        <p:sp>
          <p:nvSpPr>
            <p:cNvPr id="27" name="TextBox 26">
              <a:extLst>
                <a:ext uri="{FF2B5EF4-FFF2-40B4-BE49-F238E27FC236}">
                  <a16:creationId xmlns:a16="http://schemas.microsoft.com/office/drawing/2014/main" id="{F9A1DE58-FB83-CAB1-7805-1423B2C23D9D}"/>
                </a:ext>
              </a:extLst>
            </p:cNvPr>
            <p:cNvSpPr txBox="1"/>
            <p:nvPr/>
          </p:nvSpPr>
          <p:spPr>
            <a:xfrm>
              <a:off x="3416309" y="1453279"/>
              <a:ext cx="2267712" cy="230832"/>
            </a:xfrm>
            <a:prstGeom prst="rect">
              <a:avLst/>
            </a:prstGeom>
            <a:noFill/>
          </p:spPr>
          <p:txBody>
            <a:bodyPr wrap="square" lIns="0" tIns="0" rIns="0" bIns="0" anchor="t">
              <a:spAutoFit/>
            </a:bodyPr>
            <a:lstStyle/>
            <a:p>
              <a:pPr marL="0" marR="0" lvl="0" indent="0" algn="r" defTabSz="457200" rtl="1" eaLnBrk="1" fontAlgn="auto" latinLnBrk="0" hangingPunct="1">
                <a:lnSpc>
                  <a:spcPct val="125000"/>
                </a:lnSpc>
                <a:spcBef>
                  <a:spcPts val="0"/>
                </a:spcBef>
                <a:spcAft>
                  <a:spcPts val="0"/>
                </a:spcAft>
                <a:buClrTx/>
                <a:buSzTx/>
                <a:buFontTx/>
                <a:buNone/>
                <a:tabLst/>
                <a:defRPr/>
              </a:pPr>
              <a:r>
                <a:rPr kumimoji="0" sz="1200" b="1" i="0" u="none" strike="noStrike" kern="1200" cap="none" spc="0" normalizeH="0" baseline="0" noProof="0">
                  <a:ln>
                    <a:noFill/>
                  </a:ln>
                  <a:solidFill>
                    <a:srgbClr val="374151"/>
                  </a:solidFill>
                  <a:effectLst/>
                  <a:uLnTx/>
                  <a:uFillTx/>
                  <a:latin typeface="Yekan Bakh FaNum" pitchFamily="2" charset="-78"/>
                  <a:ea typeface="+mn-ea"/>
                  <a:cs typeface="Yekan Bakh FaNum" pitchFamily="2" charset="-78"/>
                </a:rPr>
                <a:t>خروجی</a:t>
              </a:r>
            </a:p>
          </p:txBody>
        </p:sp>
        <p:sp>
          <p:nvSpPr>
            <p:cNvPr id="29" name="TextBox 28">
              <a:extLst>
                <a:ext uri="{FF2B5EF4-FFF2-40B4-BE49-F238E27FC236}">
                  <a16:creationId xmlns:a16="http://schemas.microsoft.com/office/drawing/2014/main" id="{1A437679-28AB-5869-246C-7062DA7AD1F6}"/>
                </a:ext>
              </a:extLst>
            </p:cNvPr>
            <p:cNvSpPr txBox="1"/>
            <p:nvPr/>
          </p:nvSpPr>
          <p:spPr>
            <a:xfrm>
              <a:off x="3416309" y="1777043"/>
              <a:ext cx="2267712" cy="406265"/>
            </a:xfrm>
            <a:prstGeom prst="rect">
              <a:avLst/>
            </a:prstGeom>
            <a:noFill/>
          </p:spPr>
          <p:txBody>
            <a:bodyPr wrap="square" lIns="0" tIns="0" rIns="0" bIns="0" anchor="t">
              <a:spAutoFit/>
            </a:bodyPr>
            <a:lstStyle/>
            <a:p>
              <a:pPr marL="0" marR="0" lvl="0" indent="0" algn="r" defTabSz="457200" rtl="1" eaLnBrk="1" fontAlgn="auto" latinLnBrk="0" hangingPunct="1">
                <a:lnSpc>
                  <a:spcPct val="110000"/>
                </a:lnSpc>
                <a:spcBef>
                  <a:spcPts val="0"/>
                </a:spcBef>
                <a:spcAft>
                  <a:spcPts val="0"/>
                </a:spcAft>
                <a:buClrTx/>
                <a:buSzTx/>
                <a:buFontTx/>
                <a:buNone/>
                <a:tabLst/>
                <a:defRPr/>
              </a:pPr>
              <a:r>
                <a:rPr kumimoji="0" sz="1200" b="1" i="0" u="none" strike="noStrike" kern="1200" cap="none" spc="0" normalizeH="0" baseline="0" noProof="0" dirty="0" err="1">
                  <a:ln>
                    <a:noFill/>
                  </a:ln>
                  <a:solidFill>
                    <a:srgbClr val="15296B"/>
                  </a:solidFill>
                  <a:effectLst/>
                  <a:uLnTx/>
                  <a:uFillTx/>
                  <a:latin typeface="Yekan Bakh FaNum" pitchFamily="2" charset="-78"/>
                  <a:ea typeface="+mn-ea"/>
                  <a:cs typeface="Yekan Bakh FaNum" pitchFamily="2" charset="-78"/>
                </a:rPr>
                <a:t>پرتفوی</a:t>
              </a:r>
              <a:r>
                <a:rPr kumimoji="0" sz="1200" b="1" i="0" u="none" strike="noStrike" kern="1200" cap="none" spc="0" normalizeH="0" baseline="0" noProof="0" dirty="0">
                  <a:ln>
                    <a:noFill/>
                  </a:ln>
                  <a:solidFill>
                    <a:srgbClr val="15296B"/>
                  </a:solidFill>
                  <a:effectLst/>
                  <a:uLnTx/>
                  <a:uFillTx/>
                  <a:latin typeface="Yekan Bakh FaNum" pitchFamily="2" charset="-78"/>
                  <a:ea typeface="+mn-ea"/>
                  <a:cs typeface="Yekan Bakh FaNum" pitchFamily="2" charset="-78"/>
                </a:rPr>
                <a:t> </a:t>
              </a:r>
              <a:r>
                <a:rPr kumimoji="0" sz="1200" b="1" i="0" u="none" strike="noStrike" kern="1200" cap="none" spc="0" normalizeH="0" baseline="0" noProof="0" dirty="0" err="1">
                  <a:ln>
                    <a:noFill/>
                  </a:ln>
                  <a:solidFill>
                    <a:srgbClr val="15296B"/>
                  </a:solidFill>
                  <a:effectLst/>
                  <a:uLnTx/>
                  <a:uFillTx/>
                  <a:latin typeface="Yekan Bakh FaNum" pitchFamily="2" charset="-78"/>
                  <a:ea typeface="+mn-ea"/>
                  <a:cs typeface="Yekan Bakh FaNum" pitchFamily="2" charset="-78"/>
                </a:rPr>
                <a:t>رابطه</a:t>
              </a:r>
              <a:endParaRPr kumimoji="0" lang="fa-IR" sz="1200" b="1" i="0" u="none" strike="noStrike" kern="1200" cap="none" spc="0" normalizeH="0" baseline="0" noProof="0" dirty="0">
                <a:ln>
                  <a:noFill/>
                </a:ln>
                <a:solidFill>
                  <a:srgbClr val="15296B"/>
                </a:solidFill>
                <a:effectLst/>
                <a:uLnTx/>
                <a:uFillTx/>
                <a:latin typeface="Yekan Bakh FaNum" pitchFamily="2" charset="-78"/>
                <a:ea typeface="+mn-ea"/>
                <a:cs typeface="Yekan Bakh FaNum" pitchFamily="2" charset="-78"/>
              </a:endParaRPr>
            </a:p>
            <a:p>
              <a:pPr marL="0" marR="0" lvl="0" indent="0" algn="r" defTabSz="457200" rtl="1" eaLnBrk="1" fontAlgn="auto" latinLnBrk="0" hangingPunct="1">
                <a:lnSpc>
                  <a:spcPct val="110000"/>
                </a:lnSpc>
                <a:spcBef>
                  <a:spcPts val="0"/>
                </a:spcBef>
                <a:spcAft>
                  <a:spcPts val="0"/>
                </a:spcAft>
                <a:buClrTx/>
                <a:buSzTx/>
                <a:buFontTx/>
                <a:buNone/>
                <a:tabLst/>
                <a:defRPr/>
              </a:pPr>
              <a:r>
                <a:rPr kumimoji="0" lang="fa-IR" sz="1200" b="1" i="0" u="none" strike="noStrike" kern="1200" cap="none" spc="0" normalizeH="0" baseline="0" noProof="0" dirty="0">
                  <a:ln>
                    <a:noFill/>
                  </a:ln>
                  <a:solidFill>
                    <a:srgbClr val="15296B"/>
                  </a:solidFill>
                  <a:effectLst/>
                  <a:uLnTx/>
                  <a:uFillTx/>
                  <a:latin typeface="Yekan Bakh FaNum" pitchFamily="2" charset="-78"/>
                  <a:ea typeface="+mn-ea"/>
                  <a:cs typeface="Yekan Bakh FaNum" pitchFamily="2" charset="-78"/>
                </a:rPr>
                <a:t>«اکوسیستم فرصت ایران»</a:t>
              </a:r>
              <a:endParaRPr kumimoji="0" sz="1200" b="1" i="0" u="none" strike="noStrike" kern="1200" cap="none" spc="0" normalizeH="0" baseline="0" noProof="0" dirty="0">
                <a:ln>
                  <a:noFill/>
                </a:ln>
                <a:solidFill>
                  <a:srgbClr val="15296B"/>
                </a:solidFill>
                <a:effectLst/>
                <a:uLnTx/>
                <a:uFillTx/>
                <a:latin typeface="Yekan Bakh FaNum" pitchFamily="2" charset="-78"/>
                <a:ea typeface="+mn-ea"/>
                <a:cs typeface="Yekan Bakh FaNum" pitchFamily="2" charset="-78"/>
              </a:endParaRPr>
            </a:p>
          </p:txBody>
        </p:sp>
        <p:sp>
          <p:nvSpPr>
            <p:cNvPr id="31" name="TextBox 30">
              <a:extLst>
                <a:ext uri="{FF2B5EF4-FFF2-40B4-BE49-F238E27FC236}">
                  <a16:creationId xmlns:a16="http://schemas.microsoft.com/office/drawing/2014/main" id="{574BCD05-6159-AB09-0F11-AF9F4D8D65B5}"/>
                </a:ext>
              </a:extLst>
            </p:cNvPr>
            <p:cNvSpPr txBox="1"/>
            <p:nvPr/>
          </p:nvSpPr>
          <p:spPr>
            <a:xfrm>
              <a:off x="3416309" y="2276239"/>
              <a:ext cx="2267712" cy="353943"/>
            </a:xfrm>
            <a:prstGeom prst="rect">
              <a:avLst/>
            </a:prstGeom>
            <a:noFill/>
          </p:spPr>
          <p:txBody>
            <a:bodyPr wrap="square" lIns="0" tIns="0" rIns="0" bIns="0" anchor="t">
              <a:spAutoFit/>
            </a:bodyPr>
            <a:lstStyle/>
            <a:p>
              <a:pPr marL="0" marR="0" lvl="0" indent="0" algn="r" defTabSz="457200" rtl="1" eaLnBrk="1" fontAlgn="auto" latinLnBrk="0" hangingPunct="1">
                <a:lnSpc>
                  <a:spcPct val="115000"/>
                </a:lnSpc>
                <a:spcBef>
                  <a:spcPts val="0"/>
                </a:spcBef>
                <a:spcAft>
                  <a:spcPts val="0"/>
                </a:spcAft>
                <a:buClrTx/>
                <a:buSzTx/>
                <a:buFontTx/>
                <a:buNone/>
                <a:tabLst/>
                <a:defRPr/>
              </a:pPr>
              <a:r>
                <a:rPr kumimoji="0" sz="1000" b="0" i="0" u="none" strike="noStrike" kern="1200" cap="none" spc="0" normalizeH="0" baseline="0" noProof="0">
                  <a:ln>
                    <a:noFill/>
                  </a:ln>
                  <a:solidFill>
                    <a:srgbClr val="374151"/>
                  </a:solidFill>
                  <a:effectLst/>
                  <a:uLnTx/>
                  <a:uFillTx/>
                  <a:latin typeface="Yekan Bakh FaNum" pitchFamily="2" charset="-78"/>
                  <a:ea typeface="+mn-ea"/>
                  <a:cs typeface="Yekan Bakh FaNum" pitchFamily="2" charset="-78"/>
                </a:rPr>
                <a:t>Relationship Portfolio </a:t>
              </a:r>
              <a:r>
                <a:rPr kumimoji="0" lang="fa-IR" sz="1000" b="0" i="0" u="none" strike="noStrike" kern="1200" cap="none" spc="0" normalizeH="0" baseline="0" noProof="0">
                  <a:ln>
                    <a:noFill/>
                  </a:ln>
                  <a:solidFill>
                    <a:srgbClr val="374151"/>
                  </a:solidFill>
                  <a:effectLst/>
                  <a:uLnTx/>
                  <a:uFillTx/>
                  <a:latin typeface="Yekan Bakh FaNum" pitchFamily="2" charset="-78"/>
                  <a:ea typeface="+mn-ea"/>
                  <a:cs typeface="Yekan Bakh FaNum" pitchFamily="2" charset="-78"/>
                </a:rPr>
                <a:t>- </a:t>
              </a:r>
              <a:r>
                <a:rPr kumimoji="0" sz="1000" b="0" i="0" u="none" strike="noStrike" kern="1200" cap="none" spc="0" normalizeH="0" baseline="0" noProof="0">
                  <a:ln>
                    <a:noFill/>
                  </a:ln>
                  <a:solidFill>
                    <a:srgbClr val="374151"/>
                  </a:solidFill>
                  <a:effectLst/>
                  <a:uLnTx/>
                  <a:uFillTx/>
                  <a:latin typeface="Yekan Bakh FaNum" pitchFamily="2" charset="-78"/>
                  <a:ea typeface="+mn-ea"/>
                  <a:cs typeface="Yekan Bakh FaNum" pitchFamily="2" charset="-78"/>
                </a:rPr>
                <a:t>نه یک مدل واحد برای همه</a:t>
              </a:r>
            </a:p>
          </p:txBody>
        </p:sp>
        <p:sp>
          <p:nvSpPr>
            <p:cNvPr id="35" name="Rectangle 34">
              <a:extLst>
                <a:ext uri="{FF2B5EF4-FFF2-40B4-BE49-F238E27FC236}">
                  <a16:creationId xmlns:a16="http://schemas.microsoft.com/office/drawing/2014/main" id="{ADEA33AA-F742-C5B2-8BC9-AE42279A4A35}"/>
                </a:ext>
              </a:extLst>
            </p:cNvPr>
            <p:cNvSpPr/>
            <p:nvPr/>
          </p:nvSpPr>
          <p:spPr>
            <a:xfrm>
              <a:off x="581669" y="1343551"/>
              <a:ext cx="2487168" cy="1417320"/>
            </a:xfrm>
            <a:prstGeom prst="rect">
              <a:avLst/>
            </a:prstGeom>
            <a:solidFill>
              <a:srgbClr val="EF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Calibri"/>
              </a:endParaRPr>
            </a:p>
          </p:txBody>
        </p:sp>
        <p:sp>
          <p:nvSpPr>
            <p:cNvPr id="37" name="TextBox 36">
              <a:extLst>
                <a:ext uri="{FF2B5EF4-FFF2-40B4-BE49-F238E27FC236}">
                  <a16:creationId xmlns:a16="http://schemas.microsoft.com/office/drawing/2014/main" id="{3E4793DD-4DCE-86AB-3F56-63938A74766B}"/>
                </a:ext>
              </a:extLst>
            </p:cNvPr>
            <p:cNvSpPr txBox="1"/>
            <p:nvPr/>
          </p:nvSpPr>
          <p:spPr>
            <a:xfrm>
              <a:off x="691397" y="1453279"/>
              <a:ext cx="2267712" cy="230832"/>
            </a:xfrm>
            <a:prstGeom prst="rect">
              <a:avLst/>
            </a:prstGeom>
            <a:noFill/>
          </p:spPr>
          <p:txBody>
            <a:bodyPr wrap="square" lIns="0" tIns="0" rIns="0" bIns="0" anchor="t">
              <a:spAutoFit/>
            </a:bodyPr>
            <a:lstStyle/>
            <a:p>
              <a:pPr marL="0" marR="0" lvl="0" indent="0" algn="r" defTabSz="457200" rtl="1" eaLnBrk="1" fontAlgn="auto" latinLnBrk="0" hangingPunct="1">
                <a:lnSpc>
                  <a:spcPct val="125000"/>
                </a:lnSpc>
                <a:spcBef>
                  <a:spcPts val="0"/>
                </a:spcBef>
                <a:spcAft>
                  <a:spcPts val="0"/>
                </a:spcAft>
                <a:buClrTx/>
                <a:buSzTx/>
                <a:buFontTx/>
                <a:buNone/>
                <a:tabLst/>
                <a:defRPr/>
              </a:pPr>
              <a:r>
                <a:rPr kumimoji="0" sz="1200" b="1" i="0" u="none" strike="noStrike" kern="1200" cap="none" spc="0" normalizeH="0" baseline="0" noProof="0">
                  <a:ln>
                    <a:noFill/>
                  </a:ln>
                  <a:solidFill>
                    <a:srgbClr val="374151"/>
                  </a:solidFill>
                  <a:effectLst/>
                  <a:uLnTx/>
                  <a:uFillTx/>
                  <a:latin typeface="Yekan Bakh FaNum" pitchFamily="2" charset="-78"/>
                  <a:ea typeface="+mn-ea"/>
                  <a:cs typeface="Yekan Bakh FaNum" pitchFamily="2" charset="-78"/>
                </a:rPr>
                <a:t>لایه اجرا</a:t>
              </a:r>
            </a:p>
          </p:txBody>
        </p:sp>
        <p:sp>
          <p:nvSpPr>
            <p:cNvPr id="39" name="TextBox 38">
              <a:extLst>
                <a:ext uri="{FF2B5EF4-FFF2-40B4-BE49-F238E27FC236}">
                  <a16:creationId xmlns:a16="http://schemas.microsoft.com/office/drawing/2014/main" id="{A85F43C6-DCC3-2C03-55B9-32E304D9E542}"/>
                </a:ext>
              </a:extLst>
            </p:cNvPr>
            <p:cNvSpPr txBox="1"/>
            <p:nvPr/>
          </p:nvSpPr>
          <p:spPr>
            <a:xfrm>
              <a:off x="691397" y="1878609"/>
              <a:ext cx="2267712" cy="203133"/>
            </a:xfrm>
            <a:prstGeom prst="rect">
              <a:avLst/>
            </a:prstGeom>
            <a:noFill/>
          </p:spPr>
          <p:txBody>
            <a:bodyPr wrap="square" lIns="0" tIns="0" rIns="0" bIns="0" anchor="t">
              <a:spAutoFit/>
            </a:bodyPr>
            <a:lstStyle/>
            <a:p>
              <a:pPr marL="0" marR="0" lvl="0" indent="0" algn="r" defTabSz="457200" rtl="1" eaLnBrk="1" fontAlgn="auto" latinLnBrk="0" hangingPunct="1">
                <a:lnSpc>
                  <a:spcPct val="110000"/>
                </a:lnSpc>
                <a:spcBef>
                  <a:spcPts val="0"/>
                </a:spcBef>
                <a:spcAft>
                  <a:spcPts val="0"/>
                </a:spcAft>
                <a:buClrTx/>
                <a:buSzTx/>
                <a:buFontTx/>
                <a:buNone/>
                <a:tabLst/>
                <a:defRPr/>
              </a:pPr>
              <a:r>
                <a:rPr kumimoji="0" sz="1200" b="1" i="0" u="none" strike="noStrike" kern="1200" cap="none" spc="0" normalizeH="0" baseline="0" noProof="0">
                  <a:ln>
                    <a:noFill/>
                  </a:ln>
                  <a:solidFill>
                    <a:srgbClr val="15296B"/>
                  </a:solidFill>
                  <a:effectLst/>
                  <a:uLnTx/>
                  <a:uFillTx/>
                  <a:latin typeface="Yekan Bakh FaNum" pitchFamily="2" charset="-78"/>
                  <a:ea typeface="+mn-ea"/>
                  <a:cs typeface="Yekan Bakh FaNum" pitchFamily="2" charset="-78"/>
                </a:rPr>
                <a:t>مدل عملیاتی CRM</a:t>
              </a:r>
            </a:p>
          </p:txBody>
        </p:sp>
        <p:sp>
          <p:nvSpPr>
            <p:cNvPr id="41" name="TextBox 40">
              <a:extLst>
                <a:ext uri="{FF2B5EF4-FFF2-40B4-BE49-F238E27FC236}">
                  <a16:creationId xmlns:a16="http://schemas.microsoft.com/office/drawing/2014/main" id="{80613D6C-86C4-3AAF-3C68-04B6C4016469}"/>
                </a:ext>
              </a:extLst>
            </p:cNvPr>
            <p:cNvSpPr txBox="1"/>
            <p:nvPr/>
          </p:nvSpPr>
          <p:spPr>
            <a:xfrm>
              <a:off x="691397" y="2276239"/>
              <a:ext cx="2267712" cy="353943"/>
            </a:xfrm>
            <a:prstGeom prst="rect">
              <a:avLst/>
            </a:prstGeom>
            <a:noFill/>
          </p:spPr>
          <p:txBody>
            <a:bodyPr wrap="square" lIns="0" tIns="0" rIns="0" bIns="0" anchor="t">
              <a:spAutoFit/>
            </a:bodyPr>
            <a:lstStyle/>
            <a:p>
              <a:pPr marL="0" marR="0" lvl="0" indent="0" algn="r" defTabSz="457200" rtl="1" eaLnBrk="1" fontAlgn="auto" latinLnBrk="0" hangingPunct="1">
                <a:lnSpc>
                  <a:spcPct val="115000"/>
                </a:lnSpc>
                <a:spcBef>
                  <a:spcPts val="0"/>
                </a:spcBef>
                <a:spcAft>
                  <a:spcPts val="0"/>
                </a:spcAft>
                <a:buClrTx/>
                <a:buSzTx/>
                <a:buFontTx/>
                <a:buNone/>
                <a:tabLst/>
                <a:defRPr/>
              </a:pPr>
              <a:r>
                <a:rPr kumimoji="0" sz="1000" b="0" i="0" u="none" strike="noStrike" kern="1200" cap="none" spc="0" normalizeH="0" baseline="0" noProof="0">
                  <a:ln>
                    <a:noFill/>
                  </a:ln>
                  <a:solidFill>
                    <a:srgbClr val="374151"/>
                  </a:solidFill>
                  <a:effectLst/>
                  <a:uLnTx/>
                  <a:uFillTx/>
                  <a:latin typeface="Yekan Bakh FaNum" pitchFamily="2" charset="-78"/>
                  <a:ea typeface="+mn-ea"/>
                  <a:cs typeface="Yekan Bakh FaNum" pitchFamily="2" charset="-78"/>
                </a:rPr>
                <a:t>کانال، مالک رابطه، سطح منابع تخصیص‌یافته</a:t>
              </a:r>
            </a:p>
          </p:txBody>
        </p:sp>
        <p:sp>
          <p:nvSpPr>
            <p:cNvPr id="53" name="TextBox 52">
              <a:extLst>
                <a:ext uri="{FF2B5EF4-FFF2-40B4-BE49-F238E27FC236}">
                  <a16:creationId xmlns:a16="http://schemas.microsoft.com/office/drawing/2014/main" id="{214A7959-FB5E-048E-DA33-0FF50EE0F4CC}"/>
                </a:ext>
              </a:extLst>
            </p:cNvPr>
            <p:cNvSpPr txBox="1"/>
            <p:nvPr/>
          </p:nvSpPr>
          <p:spPr>
            <a:xfrm>
              <a:off x="581669" y="3036117"/>
              <a:ext cx="10553241" cy="230832"/>
            </a:xfrm>
            <a:prstGeom prst="rect">
              <a:avLst/>
            </a:prstGeom>
            <a:noFill/>
          </p:spPr>
          <p:txBody>
            <a:bodyPr wrap="square" lIns="0" tIns="0" rIns="0" bIns="0" anchor="t">
              <a:spAutoFit/>
            </a:bodyPr>
            <a:lstStyle/>
            <a:p>
              <a:pPr marL="0" marR="0" lvl="0" indent="0" algn="r" defTabSz="457200" rtl="1" eaLnBrk="1" fontAlgn="auto" latinLnBrk="0" hangingPunct="1">
                <a:lnSpc>
                  <a:spcPct val="125000"/>
                </a:lnSpc>
                <a:spcBef>
                  <a:spcPts val="0"/>
                </a:spcBef>
                <a:spcAft>
                  <a:spcPts val="0"/>
                </a:spcAft>
                <a:buClrTx/>
                <a:buSzTx/>
                <a:buFontTx/>
                <a:buNone/>
                <a:tabLst/>
                <a:defRPr/>
              </a:pPr>
              <a:r>
                <a:rPr kumimoji="0" sz="1200" b="1" i="0" u="none" strike="noStrike" kern="1200" cap="none" spc="0" normalizeH="0" baseline="0" noProof="0" dirty="0" err="1">
                  <a:ln>
                    <a:noFill/>
                  </a:ln>
                  <a:solidFill>
                    <a:srgbClr val="004D80"/>
                  </a:solidFill>
                  <a:effectLst/>
                  <a:uLnTx/>
                  <a:uFillTx/>
                  <a:latin typeface="Yekan Bakh FaNum" pitchFamily="2" charset="-78"/>
                  <a:ea typeface="+mn-ea"/>
                  <a:cs typeface="Yekan Bakh FaNum" pitchFamily="2" charset="-78"/>
                </a:rPr>
                <a:t>چهار</a:t>
              </a:r>
              <a:r>
                <a:rPr kumimoji="0" sz="1200" b="1" i="0" u="none" strike="noStrike" kern="1200" cap="none" spc="0" normalizeH="0" baseline="0" noProof="0" dirty="0">
                  <a:ln>
                    <a:noFill/>
                  </a:ln>
                  <a:solidFill>
                    <a:srgbClr val="004D80"/>
                  </a:solidFill>
                  <a:effectLst/>
                  <a:uLnTx/>
                  <a:uFillTx/>
                  <a:latin typeface="Yekan Bakh FaNum" pitchFamily="2" charset="-78"/>
                  <a:ea typeface="+mn-ea"/>
                  <a:cs typeface="Yekan Bakh FaNum" pitchFamily="2" charset="-78"/>
                </a:rPr>
                <a:t> </a:t>
              </a:r>
              <a:r>
                <a:rPr kumimoji="0" sz="1200" b="1" i="0" u="none" strike="noStrike" kern="1200" cap="none" spc="0" normalizeH="0" baseline="0" noProof="0" dirty="0" err="1">
                  <a:ln>
                    <a:noFill/>
                  </a:ln>
                  <a:solidFill>
                    <a:srgbClr val="004D80"/>
                  </a:solidFill>
                  <a:effectLst/>
                  <a:uLnTx/>
                  <a:uFillTx/>
                  <a:latin typeface="Yekan Bakh FaNum" pitchFamily="2" charset="-78"/>
                  <a:ea typeface="+mn-ea"/>
                  <a:cs typeface="Yekan Bakh FaNum" pitchFamily="2" charset="-78"/>
                </a:rPr>
                <a:t>مفهوم</a:t>
              </a:r>
              <a:r>
                <a:rPr kumimoji="0" sz="1200" b="1" i="0" u="none" strike="noStrike" kern="1200" cap="none" spc="0" normalizeH="0" baseline="0" noProof="0" dirty="0">
                  <a:ln>
                    <a:noFill/>
                  </a:ln>
                  <a:solidFill>
                    <a:srgbClr val="004D80"/>
                  </a:solidFill>
                  <a:effectLst/>
                  <a:uLnTx/>
                  <a:uFillTx/>
                  <a:latin typeface="Yekan Bakh FaNum" pitchFamily="2" charset="-78"/>
                  <a:ea typeface="+mn-ea"/>
                  <a:cs typeface="Yekan Bakh FaNum" pitchFamily="2" charset="-78"/>
                </a:rPr>
                <a:t> </a:t>
              </a:r>
              <a:r>
                <a:rPr kumimoji="0" sz="1200" b="1" i="0" u="none" strike="noStrike" kern="1200" cap="none" spc="0" normalizeH="0" baseline="0" noProof="0" dirty="0" err="1">
                  <a:ln>
                    <a:noFill/>
                  </a:ln>
                  <a:solidFill>
                    <a:srgbClr val="004D80"/>
                  </a:solidFill>
                  <a:effectLst/>
                  <a:uLnTx/>
                  <a:uFillTx/>
                  <a:latin typeface="Yekan Bakh FaNum" pitchFamily="2" charset="-78"/>
                  <a:ea typeface="+mn-ea"/>
                  <a:cs typeface="Yekan Bakh FaNum" pitchFamily="2" charset="-78"/>
                </a:rPr>
                <a:t>مجزا</a:t>
              </a:r>
              <a:r>
                <a:rPr kumimoji="0" sz="1200" b="1" i="0" u="none" strike="noStrike" kern="1200" cap="none" spc="0" normalizeH="0" baseline="0" noProof="0" dirty="0">
                  <a:ln>
                    <a:noFill/>
                  </a:ln>
                  <a:solidFill>
                    <a:srgbClr val="004D80"/>
                  </a:solidFill>
                  <a:effectLst/>
                  <a:uLnTx/>
                  <a:uFillTx/>
                  <a:latin typeface="Yekan Bakh FaNum" pitchFamily="2" charset="-78"/>
                  <a:ea typeface="+mn-ea"/>
                  <a:cs typeface="Yekan Bakh FaNum" pitchFamily="2" charset="-78"/>
                </a:rPr>
                <a:t> </a:t>
              </a:r>
              <a:r>
                <a:rPr kumimoji="0" sz="1200" b="1" i="0" u="none" strike="noStrike" kern="1200" cap="none" spc="0" normalizeH="0" baseline="0" noProof="0" dirty="0" err="1">
                  <a:ln>
                    <a:noFill/>
                  </a:ln>
                  <a:solidFill>
                    <a:srgbClr val="004D80"/>
                  </a:solidFill>
                  <a:effectLst/>
                  <a:uLnTx/>
                  <a:uFillTx/>
                  <a:latin typeface="Yekan Bakh FaNum" pitchFamily="2" charset="-78"/>
                  <a:ea typeface="+mn-ea"/>
                  <a:cs typeface="Yekan Bakh FaNum" pitchFamily="2" charset="-78"/>
                </a:rPr>
                <a:t>که</a:t>
              </a:r>
              <a:r>
                <a:rPr kumimoji="0" sz="1200" b="1" i="0" u="none" strike="noStrike" kern="1200" cap="none" spc="0" normalizeH="0" baseline="0" noProof="0" dirty="0">
                  <a:ln>
                    <a:noFill/>
                  </a:ln>
                  <a:solidFill>
                    <a:srgbClr val="004D80"/>
                  </a:solidFill>
                  <a:effectLst/>
                  <a:uLnTx/>
                  <a:uFillTx/>
                  <a:latin typeface="Yekan Bakh FaNum" pitchFamily="2" charset="-78"/>
                  <a:ea typeface="+mn-ea"/>
                  <a:cs typeface="Yekan Bakh FaNum" pitchFamily="2" charset="-78"/>
                </a:rPr>
                <a:t> </a:t>
              </a:r>
              <a:r>
                <a:rPr kumimoji="0" sz="1200" b="1" i="0" u="none" strike="noStrike" kern="1200" cap="none" spc="0" normalizeH="0" baseline="0" noProof="0" dirty="0" err="1">
                  <a:ln>
                    <a:noFill/>
                  </a:ln>
                  <a:solidFill>
                    <a:srgbClr val="004D80"/>
                  </a:solidFill>
                  <a:effectLst/>
                  <a:uLnTx/>
                  <a:uFillTx/>
                  <a:latin typeface="Yekan Bakh FaNum" pitchFamily="2" charset="-78"/>
                  <a:ea typeface="+mn-ea"/>
                  <a:cs typeface="Yekan Bakh FaNum" pitchFamily="2" charset="-78"/>
                </a:rPr>
                <a:t>نباید</a:t>
              </a:r>
              <a:r>
                <a:rPr kumimoji="0" sz="1200" b="1" i="0" u="none" strike="noStrike" kern="1200" cap="none" spc="0" normalizeH="0" baseline="0" noProof="0" dirty="0">
                  <a:ln>
                    <a:noFill/>
                  </a:ln>
                  <a:solidFill>
                    <a:srgbClr val="004D80"/>
                  </a:solidFill>
                  <a:effectLst/>
                  <a:uLnTx/>
                  <a:uFillTx/>
                  <a:latin typeface="Yekan Bakh FaNum" pitchFamily="2" charset="-78"/>
                  <a:ea typeface="+mn-ea"/>
                  <a:cs typeface="Yekan Bakh FaNum" pitchFamily="2" charset="-78"/>
                </a:rPr>
                <a:t> </a:t>
              </a:r>
              <a:r>
                <a:rPr kumimoji="0" sz="1200" b="1" i="0" u="none" strike="noStrike" kern="1200" cap="none" spc="0" normalizeH="0" baseline="0" noProof="0" dirty="0" err="1">
                  <a:ln>
                    <a:noFill/>
                  </a:ln>
                  <a:solidFill>
                    <a:srgbClr val="004D80"/>
                  </a:solidFill>
                  <a:effectLst/>
                  <a:uLnTx/>
                  <a:uFillTx/>
                  <a:latin typeface="Yekan Bakh FaNum" pitchFamily="2" charset="-78"/>
                  <a:ea typeface="+mn-ea"/>
                  <a:cs typeface="Yekan Bakh FaNum" pitchFamily="2" charset="-78"/>
                </a:rPr>
                <a:t>با</a:t>
              </a:r>
              <a:r>
                <a:rPr kumimoji="0" sz="1200" b="1" i="0" u="none" strike="noStrike" kern="1200" cap="none" spc="0" normalizeH="0" baseline="0" noProof="0" dirty="0">
                  <a:ln>
                    <a:noFill/>
                  </a:ln>
                  <a:solidFill>
                    <a:srgbClr val="004D80"/>
                  </a:solidFill>
                  <a:effectLst/>
                  <a:uLnTx/>
                  <a:uFillTx/>
                  <a:latin typeface="Yekan Bakh FaNum" pitchFamily="2" charset="-78"/>
                  <a:ea typeface="+mn-ea"/>
                  <a:cs typeface="Yekan Bakh FaNum" pitchFamily="2" charset="-78"/>
                </a:rPr>
                <a:t> </a:t>
              </a:r>
              <a:r>
                <a:rPr kumimoji="0" sz="1200" b="1" i="0" u="none" strike="noStrike" kern="1200" cap="none" spc="0" normalizeH="0" baseline="0" noProof="0" dirty="0" err="1">
                  <a:ln>
                    <a:noFill/>
                  </a:ln>
                  <a:solidFill>
                    <a:srgbClr val="004D80"/>
                  </a:solidFill>
                  <a:effectLst/>
                  <a:uLnTx/>
                  <a:uFillTx/>
                  <a:latin typeface="Yekan Bakh FaNum" pitchFamily="2" charset="-78"/>
                  <a:ea typeface="+mn-ea"/>
                  <a:cs typeface="Yekan Bakh FaNum" pitchFamily="2" charset="-78"/>
                </a:rPr>
                <a:t>هم</a:t>
              </a:r>
              <a:r>
                <a:rPr kumimoji="0" sz="1200" b="1" i="0" u="none" strike="noStrike" kern="1200" cap="none" spc="0" normalizeH="0" baseline="0" noProof="0" dirty="0">
                  <a:ln>
                    <a:noFill/>
                  </a:ln>
                  <a:solidFill>
                    <a:srgbClr val="004D80"/>
                  </a:solidFill>
                  <a:effectLst/>
                  <a:uLnTx/>
                  <a:uFillTx/>
                  <a:latin typeface="Yekan Bakh FaNum" pitchFamily="2" charset="-78"/>
                  <a:ea typeface="+mn-ea"/>
                  <a:cs typeface="Yekan Bakh FaNum" pitchFamily="2" charset="-78"/>
                </a:rPr>
                <a:t> </a:t>
              </a:r>
              <a:r>
                <a:rPr kumimoji="0" sz="1200" b="1" i="0" u="none" strike="noStrike" kern="1200" cap="none" spc="0" normalizeH="0" baseline="0" noProof="0" dirty="0" err="1">
                  <a:ln>
                    <a:noFill/>
                  </a:ln>
                  <a:solidFill>
                    <a:srgbClr val="004D80"/>
                  </a:solidFill>
                  <a:effectLst/>
                  <a:uLnTx/>
                  <a:uFillTx/>
                  <a:latin typeface="Yekan Bakh FaNum" pitchFamily="2" charset="-78"/>
                  <a:ea typeface="+mn-ea"/>
                  <a:cs typeface="Yekan Bakh FaNum" pitchFamily="2" charset="-78"/>
                </a:rPr>
                <a:t>مخلوط</a:t>
              </a:r>
              <a:r>
                <a:rPr kumimoji="0" sz="1200" b="1" i="0" u="none" strike="noStrike" kern="1200" cap="none" spc="0" normalizeH="0" baseline="0" noProof="0" dirty="0">
                  <a:ln>
                    <a:noFill/>
                  </a:ln>
                  <a:solidFill>
                    <a:srgbClr val="004D80"/>
                  </a:solidFill>
                  <a:effectLst/>
                  <a:uLnTx/>
                  <a:uFillTx/>
                  <a:latin typeface="Yekan Bakh FaNum" pitchFamily="2" charset="-78"/>
                  <a:ea typeface="+mn-ea"/>
                  <a:cs typeface="Yekan Bakh FaNum" pitchFamily="2" charset="-78"/>
                </a:rPr>
                <a:t> </a:t>
              </a:r>
              <a:r>
                <a:rPr kumimoji="0" sz="1200" b="1" i="0" u="none" strike="noStrike" kern="1200" cap="none" spc="0" normalizeH="0" baseline="0" noProof="0" dirty="0" err="1">
                  <a:ln>
                    <a:noFill/>
                  </a:ln>
                  <a:solidFill>
                    <a:srgbClr val="004D80"/>
                  </a:solidFill>
                  <a:effectLst/>
                  <a:uLnTx/>
                  <a:uFillTx/>
                  <a:latin typeface="Yekan Bakh FaNum" pitchFamily="2" charset="-78"/>
                  <a:ea typeface="+mn-ea"/>
                  <a:cs typeface="Yekan Bakh FaNum" pitchFamily="2" charset="-78"/>
                </a:rPr>
                <a:t>شوند</a:t>
              </a:r>
              <a:r>
                <a:rPr kumimoji="0" sz="1200" b="1" i="0" u="none" strike="noStrike" kern="1200" cap="none" spc="0" normalizeH="0" baseline="0" noProof="0" dirty="0">
                  <a:ln>
                    <a:noFill/>
                  </a:ln>
                  <a:solidFill>
                    <a:srgbClr val="004D80"/>
                  </a:solidFill>
                  <a:effectLst/>
                  <a:uLnTx/>
                  <a:uFillTx/>
                  <a:latin typeface="Yekan Bakh FaNum" pitchFamily="2" charset="-78"/>
                  <a:ea typeface="+mn-ea"/>
                  <a:cs typeface="Yekan Bakh FaNum" pitchFamily="2" charset="-78"/>
                </a:rPr>
                <a:t>:</a:t>
              </a:r>
            </a:p>
          </p:txBody>
        </p:sp>
        <p:grpSp>
          <p:nvGrpSpPr>
            <p:cNvPr id="80" name="Group 79">
              <a:extLst>
                <a:ext uri="{FF2B5EF4-FFF2-40B4-BE49-F238E27FC236}">
                  <a16:creationId xmlns:a16="http://schemas.microsoft.com/office/drawing/2014/main" id="{F56EA4DE-C3F9-5323-9710-BE0FF6067CA4}"/>
                </a:ext>
              </a:extLst>
            </p:cNvPr>
            <p:cNvGrpSpPr/>
            <p:nvPr/>
          </p:nvGrpSpPr>
          <p:grpSpPr>
            <a:xfrm>
              <a:off x="8789197" y="3537685"/>
              <a:ext cx="2208552" cy="629445"/>
              <a:chOff x="8789197" y="3353325"/>
              <a:chExt cx="2208552" cy="629445"/>
            </a:xfrm>
          </p:grpSpPr>
          <p:sp>
            <p:nvSpPr>
              <p:cNvPr id="55" name="TextBox 54">
                <a:extLst>
                  <a:ext uri="{FF2B5EF4-FFF2-40B4-BE49-F238E27FC236}">
                    <a16:creationId xmlns:a16="http://schemas.microsoft.com/office/drawing/2014/main" id="{44CF2AF1-8DE0-D977-CF04-15920E5B1FF1}"/>
                  </a:ext>
                </a:extLst>
              </p:cNvPr>
              <p:cNvSpPr txBox="1"/>
              <p:nvPr/>
            </p:nvSpPr>
            <p:spPr>
              <a:xfrm>
                <a:off x="8789197" y="3353325"/>
                <a:ext cx="2208551" cy="230832"/>
              </a:xfrm>
              <a:prstGeom prst="rect">
                <a:avLst/>
              </a:prstGeom>
              <a:noFill/>
            </p:spPr>
            <p:txBody>
              <a:bodyPr wrap="square" lIns="0" tIns="0" rIns="0" bIns="0" anchor="t">
                <a:spAutoFit/>
              </a:bodyPr>
              <a:lstStyle/>
              <a:p>
                <a:pPr marL="0" marR="0" lvl="0" indent="0" algn="r" defTabSz="457200" rtl="1" eaLnBrk="1" fontAlgn="auto" latinLnBrk="0" hangingPunct="1">
                  <a:lnSpc>
                    <a:spcPct val="125000"/>
                  </a:lnSpc>
                  <a:spcBef>
                    <a:spcPts val="0"/>
                  </a:spcBef>
                  <a:spcAft>
                    <a:spcPts val="0"/>
                  </a:spcAft>
                  <a:buClrTx/>
                  <a:buSzTx/>
                  <a:buFontTx/>
                  <a:buNone/>
                  <a:tabLst/>
                  <a:defRPr/>
                </a:pPr>
                <a:r>
                  <a:rPr kumimoji="0" sz="1200" b="1" i="0" u="none" strike="noStrike" kern="1200" cap="none" spc="0" normalizeH="0" baseline="0" noProof="0">
                    <a:ln>
                      <a:noFill/>
                    </a:ln>
                    <a:solidFill>
                      <a:prstClr val="black">
                        <a:lumMod val="75000"/>
                        <a:lumOff val="25000"/>
                      </a:prstClr>
                    </a:solidFill>
                    <a:effectLst/>
                    <a:uLnTx/>
                    <a:uFillTx/>
                    <a:latin typeface="Yekan Bakh FaNum" pitchFamily="2" charset="-78"/>
                    <a:ea typeface="+mn-ea"/>
                    <a:cs typeface="Yekan Bakh FaNum" pitchFamily="2" charset="-78"/>
                  </a:rPr>
                  <a:t>نوع رابطه (Archetype)</a:t>
                </a:r>
              </a:p>
            </p:txBody>
          </p:sp>
          <p:sp>
            <p:nvSpPr>
              <p:cNvPr id="57" name="TextBox 56">
                <a:extLst>
                  <a:ext uri="{FF2B5EF4-FFF2-40B4-BE49-F238E27FC236}">
                    <a16:creationId xmlns:a16="http://schemas.microsoft.com/office/drawing/2014/main" id="{056F4918-9B1C-74A3-336C-EB2B804001CC}"/>
                  </a:ext>
                </a:extLst>
              </p:cNvPr>
              <p:cNvSpPr txBox="1"/>
              <p:nvPr/>
            </p:nvSpPr>
            <p:spPr>
              <a:xfrm>
                <a:off x="8789199" y="3664221"/>
                <a:ext cx="2208550" cy="318549"/>
              </a:xfrm>
              <a:prstGeom prst="rect">
                <a:avLst/>
              </a:prstGeom>
              <a:noFill/>
            </p:spPr>
            <p:txBody>
              <a:bodyPr wrap="square" lIns="0" tIns="0" rIns="0" bIns="0" anchor="t">
                <a:spAutoFit/>
              </a:bodyPr>
              <a:lstStyle/>
              <a:p>
                <a:pPr marL="0" marR="0" lvl="0" indent="0" algn="r" defTabSz="457200" rtl="1" eaLnBrk="1" fontAlgn="auto" latinLnBrk="0" hangingPunct="1">
                  <a:lnSpc>
                    <a:spcPct val="115000"/>
                  </a:lnSpc>
                  <a:spcBef>
                    <a:spcPts val="0"/>
                  </a:spcBef>
                  <a:spcAft>
                    <a:spcPts val="0"/>
                  </a:spcAft>
                  <a:buClrTx/>
                  <a:buSzTx/>
                  <a:buFontTx/>
                  <a:buNone/>
                  <a:tabLst/>
                  <a:defRPr/>
                </a:pPr>
                <a:r>
                  <a:rPr kumimoji="0" sz="900" b="0" i="0" u="none" strike="noStrike" kern="1200" cap="none" spc="0" normalizeH="0" baseline="0" noProof="0">
                    <a:ln>
                      <a:noFill/>
                    </a:ln>
                    <a:solidFill>
                      <a:srgbClr val="6B7280"/>
                    </a:solidFill>
                    <a:effectLst/>
                    <a:uLnTx/>
                    <a:uFillTx/>
                    <a:latin typeface="Yekan Bakh FaNum" pitchFamily="2" charset="-78"/>
                    <a:ea typeface="+mn-ea"/>
                    <a:cs typeface="Yekan Bakh FaNum" pitchFamily="2" charset="-78"/>
                  </a:rPr>
                  <a:t>تراکنشی تا اکوسیستمی — موضوع همین سند</a:t>
                </a:r>
              </a:p>
            </p:txBody>
          </p:sp>
        </p:grpSp>
        <p:grpSp>
          <p:nvGrpSpPr>
            <p:cNvPr id="79" name="Group 78">
              <a:extLst>
                <a:ext uri="{FF2B5EF4-FFF2-40B4-BE49-F238E27FC236}">
                  <a16:creationId xmlns:a16="http://schemas.microsoft.com/office/drawing/2014/main" id="{993BB45B-2A52-8CA8-21F4-B1ACD9AE3C53}"/>
                </a:ext>
              </a:extLst>
            </p:cNvPr>
            <p:cNvGrpSpPr/>
            <p:nvPr/>
          </p:nvGrpSpPr>
          <p:grpSpPr>
            <a:xfrm>
              <a:off x="6139038" y="3537685"/>
              <a:ext cx="2208552" cy="629445"/>
              <a:chOff x="6139037" y="3353325"/>
              <a:chExt cx="2208552" cy="629445"/>
            </a:xfrm>
          </p:grpSpPr>
          <p:sp>
            <p:nvSpPr>
              <p:cNvPr id="59" name="TextBox 58">
                <a:extLst>
                  <a:ext uri="{FF2B5EF4-FFF2-40B4-BE49-F238E27FC236}">
                    <a16:creationId xmlns:a16="http://schemas.microsoft.com/office/drawing/2014/main" id="{9D0C38BE-B98F-2A98-A969-2CC9901DDDFF}"/>
                  </a:ext>
                </a:extLst>
              </p:cNvPr>
              <p:cNvSpPr txBox="1"/>
              <p:nvPr/>
            </p:nvSpPr>
            <p:spPr>
              <a:xfrm>
                <a:off x="6139037" y="3353325"/>
                <a:ext cx="2208551" cy="230832"/>
              </a:xfrm>
              <a:prstGeom prst="rect">
                <a:avLst/>
              </a:prstGeom>
              <a:noFill/>
            </p:spPr>
            <p:txBody>
              <a:bodyPr wrap="square" lIns="0" tIns="0" rIns="0" bIns="0" anchor="t">
                <a:spAutoFit/>
              </a:bodyPr>
              <a:lstStyle/>
              <a:p>
                <a:pPr marL="0" marR="0" lvl="0" indent="0" algn="r" defTabSz="457200" rtl="1" eaLnBrk="1" fontAlgn="auto" latinLnBrk="0" hangingPunct="1">
                  <a:lnSpc>
                    <a:spcPct val="125000"/>
                  </a:lnSpc>
                  <a:spcBef>
                    <a:spcPts val="0"/>
                  </a:spcBef>
                  <a:spcAft>
                    <a:spcPts val="0"/>
                  </a:spcAft>
                  <a:buClrTx/>
                  <a:buSzTx/>
                  <a:buFontTx/>
                  <a:buNone/>
                  <a:tabLst/>
                  <a:defRPr/>
                </a:pPr>
                <a:r>
                  <a:rPr kumimoji="0" sz="1200" b="1" i="0" u="none" strike="noStrike" kern="1200" cap="none" spc="0" normalizeH="0" baseline="0" noProof="0" dirty="0" err="1">
                    <a:ln>
                      <a:noFill/>
                    </a:ln>
                    <a:solidFill>
                      <a:prstClr val="black">
                        <a:lumMod val="75000"/>
                        <a:lumOff val="25000"/>
                      </a:prstClr>
                    </a:solidFill>
                    <a:effectLst/>
                    <a:uLnTx/>
                    <a:uFillTx/>
                    <a:latin typeface="Yekan Bakh FaNum" pitchFamily="2" charset="-78"/>
                    <a:ea typeface="+mn-ea"/>
                    <a:cs typeface="Yekan Bakh FaNum" pitchFamily="2" charset="-78"/>
                  </a:rPr>
                  <a:t>کانال</a:t>
                </a:r>
                <a:r>
                  <a:rPr kumimoji="0" sz="1200" b="1"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 </a:t>
                </a:r>
                <a:r>
                  <a:rPr kumimoji="0" sz="1200" b="1" i="0" u="none" strike="noStrike" kern="1200" cap="none" spc="0" normalizeH="0" baseline="0" noProof="0" dirty="0" err="1">
                    <a:ln>
                      <a:noFill/>
                    </a:ln>
                    <a:solidFill>
                      <a:prstClr val="black">
                        <a:lumMod val="75000"/>
                        <a:lumOff val="25000"/>
                      </a:prstClr>
                    </a:solidFill>
                    <a:effectLst/>
                    <a:uLnTx/>
                    <a:uFillTx/>
                    <a:latin typeface="Yekan Bakh FaNum" pitchFamily="2" charset="-78"/>
                    <a:ea typeface="+mn-ea"/>
                    <a:cs typeface="Yekan Bakh FaNum" pitchFamily="2" charset="-78"/>
                  </a:rPr>
                  <a:t>تعامل</a:t>
                </a:r>
                <a:endParaRPr kumimoji="0" sz="1200" b="1"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endParaRPr>
              </a:p>
            </p:txBody>
          </p:sp>
          <p:sp>
            <p:nvSpPr>
              <p:cNvPr id="61" name="TextBox 60">
                <a:extLst>
                  <a:ext uri="{FF2B5EF4-FFF2-40B4-BE49-F238E27FC236}">
                    <a16:creationId xmlns:a16="http://schemas.microsoft.com/office/drawing/2014/main" id="{39646847-C082-CB79-B0C0-B64014BCE790}"/>
                  </a:ext>
                </a:extLst>
              </p:cNvPr>
              <p:cNvSpPr txBox="1"/>
              <p:nvPr/>
            </p:nvSpPr>
            <p:spPr>
              <a:xfrm>
                <a:off x="6139039" y="3664221"/>
                <a:ext cx="2208550" cy="318549"/>
              </a:xfrm>
              <a:prstGeom prst="rect">
                <a:avLst/>
              </a:prstGeom>
              <a:noFill/>
            </p:spPr>
            <p:txBody>
              <a:bodyPr wrap="square" lIns="0" tIns="0" rIns="0" bIns="0" anchor="t">
                <a:spAutoFit/>
              </a:bodyPr>
              <a:lstStyle/>
              <a:p>
                <a:pPr marL="0" marR="0" lvl="0" indent="0" algn="r" defTabSz="457200" rtl="1" eaLnBrk="1" fontAlgn="auto" latinLnBrk="0" hangingPunct="1">
                  <a:lnSpc>
                    <a:spcPct val="115000"/>
                  </a:lnSpc>
                  <a:spcBef>
                    <a:spcPts val="0"/>
                  </a:spcBef>
                  <a:spcAft>
                    <a:spcPts val="0"/>
                  </a:spcAft>
                  <a:buClrTx/>
                  <a:buSzTx/>
                  <a:buFontTx/>
                  <a:buNone/>
                  <a:tabLst/>
                  <a:defRPr/>
                </a:pPr>
                <a:r>
                  <a:rPr kumimoji="0" lang="fa-IR" sz="900" b="0" i="0" u="none" strike="noStrike" kern="1200" cap="none" spc="0" normalizeH="0" baseline="0" noProof="0" dirty="0">
                    <a:ln>
                      <a:noFill/>
                    </a:ln>
                    <a:solidFill>
                      <a:srgbClr val="6B7280"/>
                    </a:solidFill>
                    <a:effectLst/>
                    <a:uLnTx/>
                    <a:uFillTx/>
                    <a:latin typeface="Yekan Bakh FaNum" pitchFamily="2" charset="-78"/>
                    <a:ea typeface="+mn-ea"/>
                    <a:cs typeface="Yekan Bakh FaNum" pitchFamily="2" charset="-78"/>
                  </a:rPr>
                  <a:t>وب‌سایت، تماس، حضوری — موضوع بلوک قبلی (کانال مشتریان)</a:t>
                </a:r>
              </a:p>
            </p:txBody>
          </p:sp>
        </p:grpSp>
        <p:grpSp>
          <p:nvGrpSpPr>
            <p:cNvPr id="78" name="Group 77">
              <a:extLst>
                <a:ext uri="{FF2B5EF4-FFF2-40B4-BE49-F238E27FC236}">
                  <a16:creationId xmlns:a16="http://schemas.microsoft.com/office/drawing/2014/main" id="{C37B8A00-CAF9-CAD4-DFD9-3E2246A7B53E}"/>
                </a:ext>
              </a:extLst>
            </p:cNvPr>
            <p:cNvGrpSpPr/>
            <p:nvPr/>
          </p:nvGrpSpPr>
          <p:grpSpPr>
            <a:xfrm>
              <a:off x="3488878" y="3537685"/>
              <a:ext cx="2208552" cy="629445"/>
              <a:chOff x="3488877" y="3353325"/>
              <a:chExt cx="2208552" cy="629445"/>
            </a:xfrm>
          </p:grpSpPr>
          <p:sp>
            <p:nvSpPr>
              <p:cNvPr id="63" name="TextBox 62">
                <a:extLst>
                  <a:ext uri="{FF2B5EF4-FFF2-40B4-BE49-F238E27FC236}">
                    <a16:creationId xmlns:a16="http://schemas.microsoft.com/office/drawing/2014/main" id="{AD181388-BD90-0820-3F8B-51CD3F130B7C}"/>
                  </a:ext>
                </a:extLst>
              </p:cNvPr>
              <p:cNvSpPr txBox="1"/>
              <p:nvPr/>
            </p:nvSpPr>
            <p:spPr>
              <a:xfrm>
                <a:off x="3488877" y="3353325"/>
                <a:ext cx="2208551" cy="230832"/>
              </a:xfrm>
              <a:prstGeom prst="rect">
                <a:avLst/>
              </a:prstGeom>
              <a:noFill/>
            </p:spPr>
            <p:txBody>
              <a:bodyPr wrap="square" lIns="0" tIns="0" rIns="0" bIns="0" anchor="t">
                <a:spAutoFit/>
              </a:bodyPr>
              <a:lstStyle/>
              <a:p>
                <a:pPr marL="0" marR="0" lvl="0" indent="0" algn="r" defTabSz="457200" rtl="1" eaLnBrk="1" fontAlgn="auto" latinLnBrk="0" hangingPunct="1">
                  <a:lnSpc>
                    <a:spcPct val="125000"/>
                  </a:lnSpc>
                  <a:spcBef>
                    <a:spcPts val="0"/>
                  </a:spcBef>
                  <a:spcAft>
                    <a:spcPts val="0"/>
                  </a:spcAft>
                  <a:buClrTx/>
                  <a:buSzTx/>
                  <a:buFontTx/>
                  <a:buNone/>
                  <a:tabLst/>
                  <a:defRPr/>
                </a:pPr>
                <a:r>
                  <a:rPr kumimoji="0" sz="1200" b="1" i="0" u="none" strike="noStrike" kern="1200" cap="none" spc="0" normalizeH="0" baseline="0" noProof="0">
                    <a:ln>
                      <a:noFill/>
                    </a:ln>
                    <a:solidFill>
                      <a:prstClr val="black">
                        <a:lumMod val="75000"/>
                        <a:lumOff val="25000"/>
                      </a:prstClr>
                    </a:solidFill>
                    <a:effectLst/>
                    <a:uLnTx/>
                    <a:uFillTx/>
                    <a:latin typeface="Yekan Bakh FaNum" pitchFamily="2" charset="-78"/>
                    <a:ea typeface="+mn-ea"/>
                    <a:cs typeface="Yekan Bakh FaNum" pitchFamily="2" charset="-78"/>
                  </a:rPr>
                  <a:t>مرحله رابطه</a:t>
                </a:r>
              </a:p>
            </p:txBody>
          </p:sp>
          <p:sp>
            <p:nvSpPr>
              <p:cNvPr id="65" name="TextBox 64">
                <a:extLst>
                  <a:ext uri="{FF2B5EF4-FFF2-40B4-BE49-F238E27FC236}">
                    <a16:creationId xmlns:a16="http://schemas.microsoft.com/office/drawing/2014/main" id="{F467D8CC-CEE5-4BBE-B30C-E36B840EA837}"/>
                  </a:ext>
                </a:extLst>
              </p:cNvPr>
              <p:cNvSpPr txBox="1"/>
              <p:nvPr/>
            </p:nvSpPr>
            <p:spPr>
              <a:xfrm>
                <a:off x="3488879" y="3664221"/>
                <a:ext cx="2208550" cy="318549"/>
              </a:xfrm>
              <a:prstGeom prst="rect">
                <a:avLst/>
              </a:prstGeom>
              <a:noFill/>
            </p:spPr>
            <p:txBody>
              <a:bodyPr wrap="square" lIns="0" tIns="0" rIns="0" bIns="0" anchor="t">
                <a:spAutoFit/>
              </a:bodyPr>
              <a:lstStyle/>
              <a:p>
                <a:pPr marL="0" marR="0" lvl="0" indent="0" algn="r" defTabSz="457200" rtl="1" eaLnBrk="1" fontAlgn="auto" latinLnBrk="0" hangingPunct="1">
                  <a:lnSpc>
                    <a:spcPct val="115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B7280"/>
                    </a:solidFill>
                    <a:effectLst/>
                    <a:uLnTx/>
                    <a:uFillTx/>
                    <a:latin typeface="Yekan Bakh FaNum" pitchFamily="2" charset="-78"/>
                    <a:ea typeface="+mn-ea"/>
                    <a:cs typeface="Yekan Bakh FaNum" pitchFamily="2" charset="-78"/>
                  </a:rPr>
                  <a:t>Prospect / Client / At Risk </a:t>
                </a:r>
                <a:r>
                  <a:rPr kumimoji="0" lang="fa-IR" sz="900" b="0" i="0" u="none" strike="noStrike" kern="1200" cap="none" spc="0" normalizeH="0" baseline="0" noProof="0" dirty="0">
                    <a:ln>
                      <a:noFill/>
                    </a:ln>
                    <a:solidFill>
                      <a:srgbClr val="6B7280"/>
                    </a:solidFill>
                    <a:effectLst/>
                    <a:uLnTx/>
                    <a:uFillTx/>
                    <a:latin typeface="Yekan Bakh FaNum" pitchFamily="2" charset="-78"/>
                    <a:ea typeface="+mn-ea"/>
                    <a:cs typeface="Yekan Bakh FaNum" pitchFamily="2" charset="-78"/>
                  </a:rPr>
                  <a:t>- چرخه عمر یک رابطه مشخص</a:t>
                </a:r>
              </a:p>
            </p:txBody>
          </p:sp>
        </p:grpSp>
        <p:grpSp>
          <p:nvGrpSpPr>
            <p:cNvPr id="77" name="Group 76">
              <a:extLst>
                <a:ext uri="{FF2B5EF4-FFF2-40B4-BE49-F238E27FC236}">
                  <a16:creationId xmlns:a16="http://schemas.microsoft.com/office/drawing/2014/main" id="{1087977A-CACB-FF69-5A14-38EB4EB565C7}"/>
                </a:ext>
              </a:extLst>
            </p:cNvPr>
            <p:cNvGrpSpPr/>
            <p:nvPr/>
          </p:nvGrpSpPr>
          <p:grpSpPr>
            <a:xfrm>
              <a:off x="838718" y="3537685"/>
              <a:ext cx="2208552" cy="629445"/>
              <a:chOff x="838718" y="3353325"/>
              <a:chExt cx="2208552" cy="629445"/>
            </a:xfrm>
          </p:grpSpPr>
          <p:sp>
            <p:nvSpPr>
              <p:cNvPr id="67" name="TextBox 66">
                <a:extLst>
                  <a:ext uri="{FF2B5EF4-FFF2-40B4-BE49-F238E27FC236}">
                    <a16:creationId xmlns:a16="http://schemas.microsoft.com/office/drawing/2014/main" id="{1473697E-9EA2-30B5-EB8D-15DAC4DC1B6D}"/>
                  </a:ext>
                </a:extLst>
              </p:cNvPr>
              <p:cNvSpPr txBox="1"/>
              <p:nvPr/>
            </p:nvSpPr>
            <p:spPr>
              <a:xfrm>
                <a:off x="838718" y="3353325"/>
                <a:ext cx="2208551" cy="230832"/>
              </a:xfrm>
              <a:prstGeom prst="rect">
                <a:avLst/>
              </a:prstGeom>
              <a:noFill/>
            </p:spPr>
            <p:txBody>
              <a:bodyPr wrap="square" lIns="0" tIns="0" rIns="0" bIns="0" anchor="t">
                <a:spAutoFit/>
              </a:bodyPr>
              <a:lstStyle/>
              <a:p>
                <a:pPr marL="0" marR="0" lvl="0" indent="0" algn="r" defTabSz="457200" rtl="1" eaLnBrk="1" fontAlgn="auto" latinLnBrk="0" hangingPunct="1">
                  <a:lnSpc>
                    <a:spcPct val="125000"/>
                  </a:lnSpc>
                  <a:spcBef>
                    <a:spcPts val="0"/>
                  </a:spcBef>
                  <a:spcAft>
                    <a:spcPts val="0"/>
                  </a:spcAft>
                  <a:buClrTx/>
                  <a:buSzTx/>
                  <a:buFontTx/>
                  <a:buNone/>
                  <a:tabLst/>
                  <a:defRPr/>
                </a:pPr>
                <a:r>
                  <a:rPr kumimoji="0" sz="1200" b="1" i="0" u="none" strike="noStrike" kern="1200" cap="none" spc="0" normalizeH="0" baseline="0" noProof="0" dirty="0" err="1">
                    <a:ln>
                      <a:noFill/>
                    </a:ln>
                    <a:solidFill>
                      <a:prstClr val="black">
                        <a:lumMod val="75000"/>
                        <a:lumOff val="25000"/>
                      </a:prstClr>
                    </a:solidFill>
                    <a:effectLst/>
                    <a:uLnTx/>
                    <a:uFillTx/>
                    <a:latin typeface="Yekan Bakh FaNum" pitchFamily="2" charset="-78"/>
                    <a:ea typeface="+mn-ea"/>
                    <a:cs typeface="Yekan Bakh FaNum" pitchFamily="2" charset="-78"/>
                  </a:rPr>
                  <a:t>هدف</a:t>
                </a:r>
                <a:r>
                  <a:rPr kumimoji="0" sz="1200" b="1"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 </a:t>
                </a:r>
                <a:r>
                  <a:rPr kumimoji="0" sz="1200" b="1" i="0" u="none" strike="noStrike" kern="1200" cap="none" spc="0" normalizeH="0" baseline="0" noProof="0" dirty="0" err="1">
                    <a:ln>
                      <a:noFill/>
                    </a:ln>
                    <a:solidFill>
                      <a:prstClr val="black">
                        <a:lumMod val="75000"/>
                        <a:lumOff val="25000"/>
                      </a:prstClr>
                    </a:solidFill>
                    <a:effectLst/>
                    <a:uLnTx/>
                    <a:uFillTx/>
                    <a:latin typeface="Yekan Bakh FaNum" pitchFamily="2" charset="-78"/>
                    <a:ea typeface="+mn-ea"/>
                    <a:cs typeface="Yekan Bakh FaNum" pitchFamily="2" charset="-78"/>
                  </a:rPr>
                  <a:t>تعامل</a:t>
                </a:r>
                <a:endParaRPr kumimoji="0" sz="1200" b="1"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endParaRPr>
              </a:p>
            </p:txBody>
          </p:sp>
          <p:sp>
            <p:nvSpPr>
              <p:cNvPr id="69" name="TextBox 68">
                <a:extLst>
                  <a:ext uri="{FF2B5EF4-FFF2-40B4-BE49-F238E27FC236}">
                    <a16:creationId xmlns:a16="http://schemas.microsoft.com/office/drawing/2014/main" id="{2973AB7F-193F-210F-8F6D-D495076136E7}"/>
                  </a:ext>
                </a:extLst>
              </p:cNvPr>
              <p:cNvSpPr txBox="1"/>
              <p:nvPr/>
            </p:nvSpPr>
            <p:spPr>
              <a:xfrm>
                <a:off x="838720" y="3664221"/>
                <a:ext cx="2208550" cy="318549"/>
              </a:xfrm>
              <a:prstGeom prst="rect">
                <a:avLst/>
              </a:prstGeom>
              <a:noFill/>
            </p:spPr>
            <p:txBody>
              <a:bodyPr wrap="square" lIns="0" tIns="0" rIns="0" bIns="0" anchor="t">
                <a:spAutoFit/>
              </a:bodyPr>
              <a:lstStyle/>
              <a:p>
                <a:pPr marL="0" marR="0" lvl="0" indent="0" algn="r" defTabSz="457200" rtl="1" eaLnBrk="1" fontAlgn="auto" latinLnBrk="0" hangingPunct="1">
                  <a:lnSpc>
                    <a:spcPct val="115000"/>
                  </a:lnSpc>
                  <a:spcBef>
                    <a:spcPts val="0"/>
                  </a:spcBef>
                  <a:spcAft>
                    <a:spcPts val="0"/>
                  </a:spcAft>
                  <a:buClrTx/>
                  <a:buSzTx/>
                  <a:buFontTx/>
                  <a:buNone/>
                  <a:tabLst/>
                  <a:defRPr/>
                </a:pPr>
                <a:r>
                  <a:rPr kumimoji="0" sz="900" b="0" i="0" u="none" strike="noStrike" kern="1200" cap="none" spc="0" normalizeH="0" baseline="0" noProof="0" dirty="0" err="1">
                    <a:ln>
                      <a:noFill/>
                    </a:ln>
                    <a:solidFill>
                      <a:srgbClr val="6B7280"/>
                    </a:solidFill>
                    <a:effectLst/>
                    <a:uLnTx/>
                    <a:uFillTx/>
                    <a:latin typeface="Yekan Bakh FaNum" pitchFamily="2" charset="-78"/>
                    <a:ea typeface="+mn-ea"/>
                    <a:cs typeface="Yekan Bakh FaNum" pitchFamily="2" charset="-78"/>
                  </a:rPr>
                  <a:t>جذب</a:t>
                </a:r>
                <a:r>
                  <a:rPr kumimoji="0" sz="900" b="0" i="0" u="none" strike="noStrike" kern="1200" cap="none" spc="0" normalizeH="0" baseline="0" noProof="0" dirty="0">
                    <a:ln>
                      <a:noFill/>
                    </a:ln>
                    <a:solidFill>
                      <a:srgbClr val="6B7280"/>
                    </a:solidFill>
                    <a:effectLst/>
                    <a:uLnTx/>
                    <a:uFillTx/>
                    <a:latin typeface="Yekan Bakh FaNum" pitchFamily="2" charset="-78"/>
                    <a:ea typeface="+mn-ea"/>
                    <a:cs typeface="Yekan Bakh FaNum" pitchFamily="2" charset="-78"/>
                  </a:rPr>
                  <a:t> / </a:t>
                </a:r>
                <a:r>
                  <a:rPr kumimoji="0" sz="900" b="0" i="0" u="none" strike="noStrike" kern="1200" cap="none" spc="0" normalizeH="0" baseline="0" noProof="0" dirty="0" err="1">
                    <a:ln>
                      <a:noFill/>
                    </a:ln>
                    <a:solidFill>
                      <a:srgbClr val="6B7280"/>
                    </a:solidFill>
                    <a:effectLst/>
                    <a:uLnTx/>
                    <a:uFillTx/>
                    <a:latin typeface="Yekan Bakh FaNum" pitchFamily="2" charset="-78"/>
                    <a:ea typeface="+mn-ea"/>
                    <a:cs typeface="Yekan Bakh FaNum" pitchFamily="2" charset="-78"/>
                  </a:rPr>
                  <a:t>حفظ</a:t>
                </a:r>
                <a:r>
                  <a:rPr kumimoji="0" sz="900" b="0" i="0" u="none" strike="noStrike" kern="1200" cap="none" spc="0" normalizeH="0" baseline="0" noProof="0" dirty="0">
                    <a:ln>
                      <a:noFill/>
                    </a:ln>
                    <a:solidFill>
                      <a:srgbClr val="6B7280"/>
                    </a:solidFill>
                    <a:effectLst/>
                    <a:uLnTx/>
                    <a:uFillTx/>
                    <a:latin typeface="Yekan Bakh FaNum" pitchFamily="2" charset="-78"/>
                    <a:ea typeface="+mn-ea"/>
                    <a:cs typeface="Yekan Bakh FaNum" pitchFamily="2" charset="-78"/>
                  </a:rPr>
                  <a:t> / </a:t>
                </a:r>
                <a:r>
                  <a:rPr kumimoji="0" sz="900" b="0" i="0" u="none" strike="noStrike" kern="1200" cap="none" spc="0" normalizeH="0" baseline="0" noProof="0" dirty="0" err="1">
                    <a:ln>
                      <a:noFill/>
                    </a:ln>
                    <a:solidFill>
                      <a:srgbClr val="6B7280"/>
                    </a:solidFill>
                    <a:effectLst/>
                    <a:uLnTx/>
                    <a:uFillTx/>
                    <a:latin typeface="Yekan Bakh FaNum" pitchFamily="2" charset="-78"/>
                    <a:ea typeface="+mn-ea"/>
                    <a:cs typeface="Yekan Bakh FaNum" pitchFamily="2" charset="-78"/>
                  </a:rPr>
                  <a:t>رشد</a:t>
                </a:r>
                <a:r>
                  <a:rPr kumimoji="0" sz="900" b="0" i="0" u="none" strike="noStrike" kern="1200" cap="none" spc="0" normalizeH="0" baseline="0" noProof="0" dirty="0">
                    <a:ln>
                      <a:noFill/>
                    </a:ln>
                    <a:solidFill>
                      <a:srgbClr val="6B7280"/>
                    </a:solidFill>
                    <a:effectLst/>
                    <a:uLnTx/>
                    <a:uFillTx/>
                    <a:latin typeface="Yekan Bakh FaNum" pitchFamily="2" charset="-78"/>
                    <a:ea typeface="+mn-ea"/>
                    <a:cs typeface="Yekan Bakh FaNum" pitchFamily="2" charset="-78"/>
                  </a:rPr>
                  <a:t> / </a:t>
                </a:r>
                <a:r>
                  <a:rPr kumimoji="0" sz="900" b="0" i="0" u="none" strike="noStrike" kern="1200" cap="none" spc="0" normalizeH="0" baseline="0" noProof="0" dirty="0" err="1">
                    <a:ln>
                      <a:noFill/>
                    </a:ln>
                    <a:solidFill>
                      <a:srgbClr val="6B7280"/>
                    </a:solidFill>
                    <a:effectLst/>
                    <a:uLnTx/>
                    <a:uFillTx/>
                    <a:latin typeface="Yekan Bakh FaNum" pitchFamily="2" charset="-78"/>
                    <a:ea typeface="+mn-ea"/>
                    <a:cs typeface="Yekan Bakh FaNum" pitchFamily="2" charset="-78"/>
                  </a:rPr>
                  <a:t>هم‌آفرینی</a:t>
                </a:r>
                <a:r>
                  <a:rPr kumimoji="0" sz="900" b="0" i="0" u="none" strike="noStrike" kern="1200" cap="none" spc="0" normalizeH="0" baseline="0" noProof="0" dirty="0">
                    <a:ln>
                      <a:noFill/>
                    </a:ln>
                    <a:solidFill>
                      <a:srgbClr val="6B7280"/>
                    </a:solidFill>
                    <a:effectLst/>
                    <a:uLnTx/>
                    <a:uFillTx/>
                    <a:latin typeface="Yekan Bakh FaNum" pitchFamily="2" charset="-78"/>
                    <a:ea typeface="+mn-ea"/>
                    <a:cs typeface="Yekan Bakh FaNum" pitchFamily="2" charset="-78"/>
                  </a:rPr>
                  <a:t> — </a:t>
                </a:r>
                <a:r>
                  <a:rPr kumimoji="0" sz="900" b="0" i="0" u="none" strike="noStrike" kern="1200" cap="none" spc="0" normalizeH="0" baseline="0" noProof="0" dirty="0" err="1">
                    <a:ln>
                      <a:noFill/>
                    </a:ln>
                    <a:solidFill>
                      <a:srgbClr val="6B7280"/>
                    </a:solidFill>
                    <a:effectLst/>
                    <a:uLnTx/>
                    <a:uFillTx/>
                    <a:latin typeface="Yekan Bakh FaNum" pitchFamily="2" charset="-78"/>
                    <a:ea typeface="+mn-ea"/>
                    <a:cs typeface="Yekan Bakh FaNum" pitchFamily="2" charset="-78"/>
                  </a:rPr>
                  <a:t>چرا</a:t>
                </a:r>
                <a:r>
                  <a:rPr kumimoji="0" sz="900" b="0" i="0" u="none" strike="noStrike" kern="1200" cap="none" spc="0" normalizeH="0" baseline="0" noProof="0" dirty="0">
                    <a:ln>
                      <a:noFill/>
                    </a:ln>
                    <a:solidFill>
                      <a:srgbClr val="6B7280"/>
                    </a:solidFill>
                    <a:effectLst/>
                    <a:uLnTx/>
                    <a:uFillTx/>
                    <a:latin typeface="Yekan Bakh FaNum" pitchFamily="2" charset="-78"/>
                    <a:ea typeface="+mn-ea"/>
                    <a:cs typeface="Yekan Bakh FaNum" pitchFamily="2" charset="-78"/>
                  </a:rPr>
                  <a:t> </a:t>
                </a:r>
                <a:r>
                  <a:rPr kumimoji="0" sz="900" b="0" i="0" u="none" strike="noStrike" kern="1200" cap="none" spc="0" normalizeH="0" baseline="0" noProof="0" dirty="0" err="1">
                    <a:ln>
                      <a:noFill/>
                    </a:ln>
                    <a:solidFill>
                      <a:srgbClr val="6B7280"/>
                    </a:solidFill>
                    <a:effectLst/>
                    <a:uLnTx/>
                    <a:uFillTx/>
                    <a:latin typeface="Yekan Bakh FaNum" pitchFamily="2" charset="-78"/>
                    <a:ea typeface="+mn-ea"/>
                    <a:cs typeface="Yekan Bakh FaNum" pitchFamily="2" charset="-78"/>
                  </a:rPr>
                  <a:t>در</a:t>
                </a:r>
                <a:r>
                  <a:rPr kumimoji="0" sz="900" b="0" i="0" u="none" strike="noStrike" kern="1200" cap="none" spc="0" normalizeH="0" baseline="0" noProof="0" dirty="0">
                    <a:ln>
                      <a:noFill/>
                    </a:ln>
                    <a:solidFill>
                      <a:srgbClr val="6B7280"/>
                    </a:solidFill>
                    <a:effectLst/>
                    <a:uLnTx/>
                    <a:uFillTx/>
                    <a:latin typeface="Yekan Bakh FaNum" pitchFamily="2" charset="-78"/>
                    <a:ea typeface="+mn-ea"/>
                    <a:cs typeface="Yekan Bakh FaNum" pitchFamily="2" charset="-78"/>
                  </a:rPr>
                  <a:t> </a:t>
                </a:r>
                <a:r>
                  <a:rPr kumimoji="0" sz="900" b="0" i="0" u="none" strike="noStrike" kern="1200" cap="none" spc="0" normalizeH="0" baseline="0" noProof="0" dirty="0" err="1">
                    <a:ln>
                      <a:noFill/>
                    </a:ln>
                    <a:solidFill>
                      <a:srgbClr val="6B7280"/>
                    </a:solidFill>
                    <a:effectLst/>
                    <a:uLnTx/>
                    <a:uFillTx/>
                    <a:latin typeface="Yekan Bakh FaNum" pitchFamily="2" charset="-78"/>
                    <a:ea typeface="+mn-ea"/>
                    <a:cs typeface="Yekan Bakh FaNum" pitchFamily="2" charset="-78"/>
                  </a:rPr>
                  <a:t>این</a:t>
                </a:r>
                <a:r>
                  <a:rPr kumimoji="0" sz="900" b="0" i="0" u="none" strike="noStrike" kern="1200" cap="none" spc="0" normalizeH="0" baseline="0" noProof="0" dirty="0">
                    <a:ln>
                      <a:noFill/>
                    </a:ln>
                    <a:solidFill>
                      <a:srgbClr val="6B7280"/>
                    </a:solidFill>
                    <a:effectLst/>
                    <a:uLnTx/>
                    <a:uFillTx/>
                    <a:latin typeface="Yekan Bakh FaNum" pitchFamily="2" charset="-78"/>
                    <a:ea typeface="+mn-ea"/>
                    <a:cs typeface="Yekan Bakh FaNum" pitchFamily="2" charset="-78"/>
                  </a:rPr>
                  <a:t> </a:t>
                </a:r>
                <a:r>
                  <a:rPr kumimoji="0" sz="900" b="0" i="0" u="none" strike="noStrike" kern="1200" cap="none" spc="0" normalizeH="0" baseline="0" noProof="0" dirty="0" err="1">
                    <a:ln>
                      <a:noFill/>
                    </a:ln>
                    <a:solidFill>
                      <a:srgbClr val="6B7280"/>
                    </a:solidFill>
                    <a:effectLst/>
                    <a:uLnTx/>
                    <a:uFillTx/>
                    <a:latin typeface="Yekan Bakh FaNum" pitchFamily="2" charset="-78"/>
                    <a:ea typeface="+mn-ea"/>
                    <a:cs typeface="Yekan Bakh FaNum" pitchFamily="2" charset="-78"/>
                  </a:rPr>
                  <a:t>لحظه</a:t>
                </a:r>
                <a:r>
                  <a:rPr kumimoji="0" sz="900" b="0" i="0" u="none" strike="noStrike" kern="1200" cap="none" spc="0" normalizeH="0" baseline="0" noProof="0" dirty="0">
                    <a:ln>
                      <a:noFill/>
                    </a:ln>
                    <a:solidFill>
                      <a:srgbClr val="6B7280"/>
                    </a:solidFill>
                    <a:effectLst/>
                    <a:uLnTx/>
                    <a:uFillTx/>
                    <a:latin typeface="Yekan Bakh FaNum" pitchFamily="2" charset="-78"/>
                    <a:ea typeface="+mn-ea"/>
                    <a:cs typeface="Yekan Bakh FaNum" pitchFamily="2" charset="-78"/>
                  </a:rPr>
                  <a:t> </a:t>
                </a:r>
                <a:r>
                  <a:rPr kumimoji="0" sz="900" b="0" i="0" u="none" strike="noStrike" kern="1200" cap="none" spc="0" normalizeH="0" baseline="0" noProof="0" dirty="0" err="1">
                    <a:ln>
                      <a:noFill/>
                    </a:ln>
                    <a:solidFill>
                      <a:srgbClr val="6B7280"/>
                    </a:solidFill>
                    <a:effectLst/>
                    <a:uLnTx/>
                    <a:uFillTx/>
                    <a:latin typeface="Yekan Bakh FaNum" pitchFamily="2" charset="-78"/>
                    <a:ea typeface="+mn-ea"/>
                    <a:cs typeface="Yekan Bakh FaNum" pitchFamily="2" charset="-78"/>
                  </a:rPr>
                  <a:t>تعامل</a:t>
                </a:r>
                <a:r>
                  <a:rPr kumimoji="0" sz="900" b="0" i="0" u="none" strike="noStrike" kern="1200" cap="none" spc="0" normalizeH="0" baseline="0" noProof="0" dirty="0">
                    <a:ln>
                      <a:noFill/>
                    </a:ln>
                    <a:solidFill>
                      <a:srgbClr val="6B7280"/>
                    </a:solidFill>
                    <a:effectLst/>
                    <a:uLnTx/>
                    <a:uFillTx/>
                    <a:latin typeface="Yekan Bakh FaNum" pitchFamily="2" charset="-78"/>
                    <a:ea typeface="+mn-ea"/>
                    <a:cs typeface="Yekan Bakh FaNum" pitchFamily="2" charset="-78"/>
                  </a:rPr>
                  <a:t> </a:t>
                </a:r>
                <a:r>
                  <a:rPr kumimoji="0" sz="900" b="0" i="0" u="none" strike="noStrike" kern="1200" cap="none" spc="0" normalizeH="0" baseline="0" noProof="0" dirty="0" err="1">
                    <a:ln>
                      <a:noFill/>
                    </a:ln>
                    <a:solidFill>
                      <a:srgbClr val="6B7280"/>
                    </a:solidFill>
                    <a:effectLst/>
                    <a:uLnTx/>
                    <a:uFillTx/>
                    <a:latin typeface="Yekan Bakh FaNum" pitchFamily="2" charset="-78"/>
                    <a:ea typeface="+mn-ea"/>
                    <a:cs typeface="Yekan Bakh FaNum" pitchFamily="2" charset="-78"/>
                  </a:rPr>
                  <a:t>می‌کنیم</a:t>
                </a:r>
                <a:endParaRPr kumimoji="0" sz="900" b="0" i="0" u="none" strike="noStrike" kern="1200" cap="none" spc="0" normalizeH="0" baseline="0" noProof="0" dirty="0">
                  <a:ln>
                    <a:noFill/>
                  </a:ln>
                  <a:solidFill>
                    <a:srgbClr val="6B7280"/>
                  </a:solidFill>
                  <a:effectLst/>
                  <a:uLnTx/>
                  <a:uFillTx/>
                  <a:latin typeface="Yekan Bakh FaNum" pitchFamily="2" charset="-78"/>
                  <a:ea typeface="+mn-ea"/>
                  <a:cs typeface="Yekan Bakh FaNum" pitchFamily="2" charset="-78"/>
                </a:endParaRPr>
              </a:p>
            </p:txBody>
          </p:sp>
        </p:grpSp>
        <p:cxnSp>
          <p:nvCxnSpPr>
            <p:cNvPr id="72" name="Straight Connector 71">
              <a:extLst>
                <a:ext uri="{FF2B5EF4-FFF2-40B4-BE49-F238E27FC236}">
                  <a16:creationId xmlns:a16="http://schemas.microsoft.com/office/drawing/2014/main" id="{DA800394-C0A5-2EE5-ADB2-F67E2CDF80B0}"/>
                </a:ext>
              </a:extLst>
            </p:cNvPr>
            <p:cNvCxnSpPr>
              <a:cxnSpLocks/>
            </p:cNvCxnSpPr>
            <p:nvPr/>
          </p:nvCxnSpPr>
          <p:spPr>
            <a:xfrm>
              <a:off x="8568394" y="3394145"/>
              <a:ext cx="0" cy="916525"/>
            </a:xfrm>
            <a:prstGeom prst="line">
              <a:avLst/>
            </a:prstGeom>
            <a:ln>
              <a:solidFill>
                <a:srgbClr val="F0BE0F"/>
              </a:solidFill>
              <a:prstDash val="dash"/>
            </a:ln>
          </p:spPr>
          <p:style>
            <a:lnRef idx="1">
              <a:schemeClr val="accent2"/>
            </a:lnRef>
            <a:fillRef idx="0">
              <a:schemeClr val="accent2"/>
            </a:fillRef>
            <a:effectRef idx="0">
              <a:schemeClr val="accent2"/>
            </a:effectRef>
            <a:fontRef idx="minor">
              <a:schemeClr val="tx1"/>
            </a:fontRef>
          </p:style>
        </p:cxnSp>
        <p:cxnSp>
          <p:nvCxnSpPr>
            <p:cNvPr id="75" name="Straight Connector 74">
              <a:extLst>
                <a:ext uri="{FF2B5EF4-FFF2-40B4-BE49-F238E27FC236}">
                  <a16:creationId xmlns:a16="http://schemas.microsoft.com/office/drawing/2014/main" id="{029D3A6C-B15F-B555-B41D-D5CB9B5B7784}"/>
                </a:ext>
              </a:extLst>
            </p:cNvPr>
            <p:cNvCxnSpPr>
              <a:cxnSpLocks/>
            </p:cNvCxnSpPr>
            <p:nvPr/>
          </p:nvCxnSpPr>
          <p:spPr>
            <a:xfrm>
              <a:off x="5918234" y="3394145"/>
              <a:ext cx="0" cy="916525"/>
            </a:xfrm>
            <a:prstGeom prst="line">
              <a:avLst/>
            </a:prstGeom>
            <a:ln>
              <a:solidFill>
                <a:srgbClr val="F0BE0F"/>
              </a:solidFill>
              <a:prstDash val="dash"/>
            </a:ln>
          </p:spPr>
          <p:style>
            <a:lnRef idx="1">
              <a:schemeClr val="accent2"/>
            </a:lnRef>
            <a:fillRef idx="0">
              <a:schemeClr val="accent2"/>
            </a:fillRef>
            <a:effectRef idx="0">
              <a:schemeClr val="accent2"/>
            </a:effectRef>
            <a:fontRef idx="minor">
              <a:schemeClr val="tx1"/>
            </a:fontRef>
          </p:style>
        </p:cxnSp>
        <p:cxnSp>
          <p:nvCxnSpPr>
            <p:cNvPr id="76" name="Straight Connector 75">
              <a:extLst>
                <a:ext uri="{FF2B5EF4-FFF2-40B4-BE49-F238E27FC236}">
                  <a16:creationId xmlns:a16="http://schemas.microsoft.com/office/drawing/2014/main" id="{39E848E9-F243-3209-941E-58C97AD531B8}"/>
                </a:ext>
              </a:extLst>
            </p:cNvPr>
            <p:cNvCxnSpPr>
              <a:cxnSpLocks/>
            </p:cNvCxnSpPr>
            <p:nvPr/>
          </p:nvCxnSpPr>
          <p:spPr>
            <a:xfrm>
              <a:off x="3268074" y="3394145"/>
              <a:ext cx="0" cy="916525"/>
            </a:xfrm>
            <a:prstGeom prst="line">
              <a:avLst/>
            </a:prstGeom>
            <a:ln>
              <a:solidFill>
                <a:srgbClr val="F0BE0F"/>
              </a:solidFill>
              <a:prstDash val="dash"/>
            </a:ln>
          </p:spPr>
          <p:style>
            <a:lnRef idx="1">
              <a:schemeClr val="accent2"/>
            </a:lnRef>
            <a:fillRef idx="0">
              <a:schemeClr val="accent2"/>
            </a:fillRef>
            <a:effectRef idx="0">
              <a:schemeClr val="accent2"/>
            </a:effectRef>
            <a:fontRef idx="minor">
              <a:schemeClr val="tx1"/>
            </a:fontRef>
          </p:style>
        </p:cxnSp>
        <p:sp>
          <p:nvSpPr>
            <p:cNvPr id="82" name="TextBox 81">
              <a:extLst>
                <a:ext uri="{FF2B5EF4-FFF2-40B4-BE49-F238E27FC236}">
                  <a16:creationId xmlns:a16="http://schemas.microsoft.com/office/drawing/2014/main" id="{03957FCB-AFAD-84B9-F8DB-AB4CFDDA3AC2}"/>
                </a:ext>
              </a:extLst>
            </p:cNvPr>
            <p:cNvSpPr txBox="1"/>
            <p:nvPr/>
          </p:nvSpPr>
          <p:spPr>
            <a:xfrm>
              <a:off x="581669" y="4473575"/>
              <a:ext cx="10661904" cy="192360"/>
            </a:xfrm>
            <a:prstGeom prst="rect">
              <a:avLst/>
            </a:prstGeom>
            <a:noFill/>
          </p:spPr>
          <p:txBody>
            <a:bodyPr wrap="square" lIns="0" tIns="0" rIns="0" bIns="0" anchor="t">
              <a:spAutoFit/>
            </a:bodyPr>
            <a:lstStyle/>
            <a:p>
              <a:pPr marL="0" marR="0" lvl="0" indent="0" algn="r" defTabSz="457200" rtl="1" eaLnBrk="1" fontAlgn="auto" latinLnBrk="0" hangingPunct="1">
                <a:lnSpc>
                  <a:spcPct val="125000"/>
                </a:lnSpc>
                <a:spcBef>
                  <a:spcPts val="0"/>
                </a:spcBef>
                <a:spcAft>
                  <a:spcPts val="0"/>
                </a:spcAft>
                <a:buClrTx/>
                <a:buSzTx/>
                <a:buFontTx/>
                <a:buNone/>
                <a:tabLst/>
                <a:defRPr/>
              </a:pPr>
              <a:r>
                <a:rPr kumimoji="0" sz="1000" b="1" i="0" u="none" strike="noStrike" kern="1200" cap="none" spc="0" normalizeH="0" baseline="0" noProof="0" dirty="0" err="1">
                  <a:ln>
                    <a:noFill/>
                  </a:ln>
                  <a:solidFill>
                    <a:srgbClr val="F0BE0F"/>
                  </a:solidFill>
                  <a:effectLst/>
                  <a:uLnTx/>
                  <a:uFillTx/>
                  <a:latin typeface="Yekan Bakh FaNum" pitchFamily="2" charset="-78"/>
                  <a:ea typeface="+mn-ea"/>
                  <a:cs typeface="Yekan Bakh FaNum" pitchFamily="2" charset="-78"/>
                </a:rPr>
                <a:t>هر</a:t>
              </a:r>
              <a:r>
                <a:rPr kumimoji="0" sz="1000" b="1" i="0" u="none" strike="noStrike" kern="1200" cap="none" spc="0" normalizeH="0" baseline="0" noProof="0" dirty="0">
                  <a:ln>
                    <a:noFill/>
                  </a:ln>
                  <a:solidFill>
                    <a:srgbClr val="F0BE0F"/>
                  </a:solidFill>
                  <a:effectLst/>
                  <a:uLnTx/>
                  <a:uFillTx/>
                  <a:latin typeface="Yekan Bakh FaNum" pitchFamily="2" charset="-78"/>
                  <a:ea typeface="+mn-ea"/>
                  <a:cs typeface="Yekan Bakh FaNum" pitchFamily="2" charset="-78"/>
                </a:rPr>
                <a:t> </a:t>
              </a:r>
              <a:r>
                <a:rPr kumimoji="0" sz="1000" b="1" i="0" u="none" strike="noStrike" kern="1200" cap="none" spc="0" normalizeH="0" baseline="0" noProof="0" dirty="0" err="1">
                  <a:ln>
                    <a:noFill/>
                  </a:ln>
                  <a:solidFill>
                    <a:srgbClr val="F0BE0F"/>
                  </a:solidFill>
                  <a:effectLst/>
                  <a:uLnTx/>
                  <a:uFillTx/>
                  <a:latin typeface="Yekan Bakh FaNum" pitchFamily="2" charset="-78"/>
                  <a:ea typeface="+mn-ea"/>
                  <a:cs typeface="Yekan Bakh FaNum" pitchFamily="2" charset="-78"/>
                </a:rPr>
                <a:t>مشتری</a:t>
              </a:r>
              <a:r>
                <a:rPr kumimoji="0" sz="1000" b="1" i="0" u="none" strike="noStrike" kern="1200" cap="none" spc="0" normalizeH="0" baseline="0" noProof="0" dirty="0">
                  <a:ln>
                    <a:noFill/>
                  </a:ln>
                  <a:solidFill>
                    <a:srgbClr val="F0BE0F"/>
                  </a:solidFill>
                  <a:effectLst/>
                  <a:uLnTx/>
                  <a:uFillTx/>
                  <a:latin typeface="Yekan Bakh FaNum" pitchFamily="2" charset="-78"/>
                  <a:ea typeface="+mn-ea"/>
                  <a:cs typeface="Yekan Bakh FaNum" pitchFamily="2" charset="-78"/>
                </a:rPr>
                <a:t> </a:t>
              </a:r>
              <a:r>
                <a:rPr kumimoji="0" sz="1000" b="1" i="0" u="none" strike="noStrike" kern="1200" cap="none" spc="0" normalizeH="0" baseline="0" noProof="0" dirty="0" err="1">
                  <a:ln>
                    <a:noFill/>
                  </a:ln>
                  <a:solidFill>
                    <a:srgbClr val="F0BE0F"/>
                  </a:solidFill>
                  <a:effectLst/>
                  <a:uLnTx/>
                  <a:uFillTx/>
                  <a:latin typeface="Yekan Bakh FaNum" pitchFamily="2" charset="-78"/>
                  <a:ea typeface="+mn-ea"/>
                  <a:cs typeface="Yekan Bakh FaNum" pitchFamily="2" charset="-78"/>
                </a:rPr>
                <a:t>می‌تواند</a:t>
              </a:r>
              <a:r>
                <a:rPr kumimoji="0" sz="1000" b="1" i="0" u="none" strike="noStrike" kern="1200" cap="none" spc="0" normalizeH="0" baseline="0" noProof="0" dirty="0">
                  <a:ln>
                    <a:noFill/>
                  </a:ln>
                  <a:solidFill>
                    <a:srgbClr val="F0BE0F"/>
                  </a:solidFill>
                  <a:effectLst/>
                  <a:uLnTx/>
                  <a:uFillTx/>
                  <a:latin typeface="Yekan Bakh FaNum" pitchFamily="2" charset="-78"/>
                  <a:ea typeface="+mn-ea"/>
                  <a:cs typeface="Yekan Bakh FaNum" pitchFamily="2" charset="-78"/>
                </a:rPr>
                <a:t> </a:t>
              </a:r>
              <a:r>
                <a:rPr kumimoji="0" sz="1000" b="1" i="0" u="none" strike="noStrike" kern="1200" cap="none" spc="0" normalizeH="0" baseline="0" noProof="0" dirty="0" err="1">
                  <a:ln>
                    <a:noFill/>
                  </a:ln>
                  <a:solidFill>
                    <a:srgbClr val="F0BE0F"/>
                  </a:solidFill>
                  <a:effectLst/>
                  <a:uLnTx/>
                  <a:uFillTx/>
                  <a:latin typeface="Yekan Bakh FaNum" pitchFamily="2" charset="-78"/>
                  <a:ea typeface="+mn-ea"/>
                  <a:cs typeface="Yekan Bakh FaNum" pitchFamily="2" charset="-78"/>
                </a:rPr>
                <a:t>هم‌زمان</a:t>
              </a:r>
              <a:r>
                <a:rPr kumimoji="0" sz="1000" b="1" i="0" u="none" strike="noStrike" kern="1200" cap="none" spc="0" normalizeH="0" baseline="0" noProof="0" dirty="0">
                  <a:ln>
                    <a:noFill/>
                  </a:ln>
                  <a:solidFill>
                    <a:srgbClr val="F0BE0F"/>
                  </a:solidFill>
                  <a:effectLst/>
                  <a:uLnTx/>
                  <a:uFillTx/>
                  <a:latin typeface="Yekan Bakh FaNum" pitchFamily="2" charset="-78"/>
                  <a:ea typeface="+mn-ea"/>
                  <a:cs typeface="Yekan Bakh FaNum" pitchFamily="2" charset="-78"/>
                </a:rPr>
                <a:t> </a:t>
              </a:r>
              <a:r>
                <a:rPr kumimoji="0" sz="1000" b="1" i="0" u="none" strike="noStrike" kern="1200" cap="none" spc="0" normalizeH="0" baseline="0" noProof="0" dirty="0" err="1">
                  <a:ln>
                    <a:noFill/>
                  </a:ln>
                  <a:solidFill>
                    <a:srgbClr val="F0BE0F"/>
                  </a:solidFill>
                  <a:effectLst/>
                  <a:uLnTx/>
                  <a:uFillTx/>
                  <a:latin typeface="Yekan Bakh FaNum" pitchFamily="2" charset="-78"/>
                  <a:ea typeface="+mn-ea"/>
                  <a:cs typeface="Yekan Bakh FaNum" pitchFamily="2" charset="-78"/>
                </a:rPr>
                <a:t>در</a:t>
              </a:r>
              <a:r>
                <a:rPr kumimoji="0" sz="1000" b="1" i="0" u="none" strike="noStrike" kern="1200" cap="none" spc="0" normalizeH="0" baseline="0" noProof="0" dirty="0">
                  <a:ln>
                    <a:noFill/>
                  </a:ln>
                  <a:solidFill>
                    <a:srgbClr val="F0BE0F"/>
                  </a:solidFill>
                  <a:effectLst/>
                  <a:uLnTx/>
                  <a:uFillTx/>
                  <a:latin typeface="Yekan Bakh FaNum" pitchFamily="2" charset="-78"/>
                  <a:ea typeface="+mn-ea"/>
                  <a:cs typeface="Yekan Bakh FaNum" pitchFamily="2" charset="-78"/>
                </a:rPr>
                <a:t> </a:t>
              </a:r>
              <a:r>
                <a:rPr kumimoji="0" sz="1000" b="1" i="0" u="none" strike="noStrike" kern="1200" cap="none" spc="0" normalizeH="0" baseline="0" noProof="0" dirty="0" err="1">
                  <a:ln>
                    <a:noFill/>
                  </a:ln>
                  <a:solidFill>
                    <a:srgbClr val="F0BE0F"/>
                  </a:solidFill>
                  <a:effectLst/>
                  <a:uLnTx/>
                  <a:uFillTx/>
                  <a:latin typeface="Yekan Bakh FaNum" pitchFamily="2" charset="-78"/>
                  <a:ea typeface="+mn-ea"/>
                  <a:cs typeface="Yekan Bakh FaNum" pitchFamily="2" charset="-78"/>
                </a:rPr>
                <a:t>بیش</a:t>
              </a:r>
              <a:r>
                <a:rPr kumimoji="0" sz="1000" b="1" i="0" u="none" strike="noStrike" kern="1200" cap="none" spc="0" normalizeH="0" baseline="0" noProof="0" dirty="0">
                  <a:ln>
                    <a:noFill/>
                  </a:ln>
                  <a:solidFill>
                    <a:srgbClr val="F0BE0F"/>
                  </a:solidFill>
                  <a:effectLst/>
                  <a:uLnTx/>
                  <a:uFillTx/>
                  <a:latin typeface="Yekan Bakh FaNum" pitchFamily="2" charset="-78"/>
                  <a:ea typeface="+mn-ea"/>
                  <a:cs typeface="Yekan Bakh FaNum" pitchFamily="2" charset="-78"/>
                </a:rPr>
                <a:t> </a:t>
              </a:r>
              <a:r>
                <a:rPr kumimoji="0" sz="1000" b="1" i="0" u="none" strike="noStrike" kern="1200" cap="none" spc="0" normalizeH="0" baseline="0" noProof="0" dirty="0" err="1">
                  <a:ln>
                    <a:noFill/>
                  </a:ln>
                  <a:solidFill>
                    <a:srgbClr val="F0BE0F"/>
                  </a:solidFill>
                  <a:effectLst/>
                  <a:uLnTx/>
                  <a:uFillTx/>
                  <a:latin typeface="Yekan Bakh FaNum" pitchFamily="2" charset="-78"/>
                  <a:ea typeface="+mn-ea"/>
                  <a:cs typeface="Yekan Bakh FaNum" pitchFamily="2" charset="-78"/>
                </a:rPr>
                <a:t>از</a:t>
              </a:r>
              <a:r>
                <a:rPr kumimoji="0" sz="1000" b="1" i="0" u="none" strike="noStrike" kern="1200" cap="none" spc="0" normalizeH="0" baseline="0" noProof="0" dirty="0">
                  <a:ln>
                    <a:noFill/>
                  </a:ln>
                  <a:solidFill>
                    <a:srgbClr val="F0BE0F"/>
                  </a:solidFill>
                  <a:effectLst/>
                  <a:uLnTx/>
                  <a:uFillTx/>
                  <a:latin typeface="Yekan Bakh FaNum" pitchFamily="2" charset="-78"/>
                  <a:ea typeface="+mn-ea"/>
                  <a:cs typeface="Yekan Bakh FaNum" pitchFamily="2" charset="-78"/>
                </a:rPr>
                <a:t> </a:t>
              </a:r>
              <a:r>
                <a:rPr kumimoji="0" sz="1000" b="1" i="0" u="none" strike="noStrike" kern="1200" cap="none" spc="0" normalizeH="0" baseline="0" noProof="0" dirty="0" err="1">
                  <a:ln>
                    <a:noFill/>
                  </a:ln>
                  <a:solidFill>
                    <a:srgbClr val="F0BE0F"/>
                  </a:solidFill>
                  <a:effectLst/>
                  <a:uLnTx/>
                  <a:uFillTx/>
                  <a:latin typeface="Yekan Bakh FaNum" pitchFamily="2" charset="-78"/>
                  <a:ea typeface="+mn-ea"/>
                  <a:cs typeface="Yekan Bakh FaNum" pitchFamily="2" charset="-78"/>
                </a:rPr>
                <a:t>یک</a:t>
              </a:r>
              <a:r>
                <a:rPr kumimoji="0" sz="1000" b="1" i="0" u="none" strike="noStrike" kern="1200" cap="none" spc="0" normalizeH="0" baseline="0" noProof="0" dirty="0">
                  <a:ln>
                    <a:noFill/>
                  </a:ln>
                  <a:solidFill>
                    <a:srgbClr val="F0BE0F"/>
                  </a:solidFill>
                  <a:effectLst/>
                  <a:uLnTx/>
                  <a:uFillTx/>
                  <a:latin typeface="Yekan Bakh FaNum" pitchFamily="2" charset="-78"/>
                  <a:ea typeface="+mn-ea"/>
                  <a:cs typeface="Yekan Bakh FaNum" pitchFamily="2" charset="-78"/>
                </a:rPr>
                <a:t> </a:t>
              </a:r>
              <a:r>
                <a:rPr kumimoji="0" sz="1000" b="1" i="0" u="none" strike="noStrike" kern="1200" cap="none" spc="0" normalizeH="0" baseline="0" noProof="0" dirty="0" err="1">
                  <a:ln>
                    <a:noFill/>
                  </a:ln>
                  <a:solidFill>
                    <a:srgbClr val="F0BE0F"/>
                  </a:solidFill>
                  <a:effectLst/>
                  <a:uLnTx/>
                  <a:uFillTx/>
                  <a:latin typeface="Yekan Bakh FaNum" pitchFamily="2" charset="-78"/>
                  <a:ea typeface="+mn-ea"/>
                  <a:cs typeface="Yekan Bakh FaNum" pitchFamily="2" charset="-78"/>
                </a:rPr>
                <a:t>آرکی‌تایپ</a:t>
              </a:r>
              <a:r>
                <a:rPr kumimoji="0" sz="1000" b="1" i="0" u="none" strike="noStrike" kern="1200" cap="none" spc="0" normalizeH="0" baseline="0" noProof="0" dirty="0">
                  <a:ln>
                    <a:noFill/>
                  </a:ln>
                  <a:solidFill>
                    <a:srgbClr val="F0BE0F"/>
                  </a:solidFill>
                  <a:effectLst/>
                  <a:uLnTx/>
                  <a:uFillTx/>
                  <a:latin typeface="Yekan Bakh FaNum" pitchFamily="2" charset="-78"/>
                  <a:ea typeface="+mn-ea"/>
                  <a:cs typeface="Yekan Bakh FaNum" pitchFamily="2" charset="-78"/>
                </a:rPr>
                <a:t> </a:t>
              </a:r>
              <a:r>
                <a:rPr kumimoji="0" sz="1000" b="1" i="0" u="none" strike="noStrike" kern="1200" cap="none" spc="0" normalizeH="0" baseline="0" noProof="0" dirty="0" err="1">
                  <a:ln>
                    <a:noFill/>
                  </a:ln>
                  <a:solidFill>
                    <a:srgbClr val="F0BE0F"/>
                  </a:solidFill>
                  <a:effectLst/>
                  <a:uLnTx/>
                  <a:uFillTx/>
                  <a:latin typeface="Yekan Bakh FaNum" pitchFamily="2" charset="-78"/>
                  <a:ea typeface="+mn-ea"/>
                  <a:cs typeface="Yekan Bakh FaNum" pitchFamily="2" charset="-78"/>
                </a:rPr>
                <a:t>رابطه</a:t>
              </a:r>
              <a:r>
                <a:rPr kumimoji="0" sz="1000" b="1" i="0" u="none" strike="noStrike" kern="1200" cap="none" spc="0" normalizeH="0" baseline="0" noProof="0" dirty="0">
                  <a:ln>
                    <a:noFill/>
                  </a:ln>
                  <a:solidFill>
                    <a:srgbClr val="F0BE0F"/>
                  </a:solidFill>
                  <a:effectLst/>
                  <a:uLnTx/>
                  <a:uFillTx/>
                  <a:latin typeface="Yekan Bakh FaNum" pitchFamily="2" charset="-78"/>
                  <a:ea typeface="+mn-ea"/>
                  <a:cs typeface="Yekan Bakh FaNum" pitchFamily="2" charset="-78"/>
                </a:rPr>
                <a:t> </a:t>
              </a:r>
              <a:r>
                <a:rPr kumimoji="0" sz="1000" b="1" i="0" u="none" strike="noStrike" kern="1200" cap="none" spc="0" normalizeH="0" baseline="0" noProof="0" dirty="0" err="1">
                  <a:ln>
                    <a:noFill/>
                  </a:ln>
                  <a:solidFill>
                    <a:srgbClr val="F0BE0F"/>
                  </a:solidFill>
                  <a:effectLst/>
                  <a:uLnTx/>
                  <a:uFillTx/>
                  <a:latin typeface="Yekan Bakh FaNum" pitchFamily="2" charset="-78"/>
                  <a:ea typeface="+mn-ea"/>
                  <a:cs typeface="Yekan Bakh FaNum" pitchFamily="2" charset="-78"/>
                </a:rPr>
                <a:t>قرار</a:t>
              </a:r>
              <a:r>
                <a:rPr kumimoji="0" sz="1000" b="1" i="0" u="none" strike="noStrike" kern="1200" cap="none" spc="0" normalizeH="0" baseline="0" noProof="0" dirty="0">
                  <a:ln>
                    <a:noFill/>
                  </a:ln>
                  <a:solidFill>
                    <a:srgbClr val="F0BE0F"/>
                  </a:solidFill>
                  <a:effectLst/>
                  <a:uLnTx/>
                  <a:uFillTx/>
                  <a:latin typeface="Yekan Bakh FaNum" pitchFamily="2" charset="-78"/>
                  <a:ea typeface="+mn-ea"/>
                  <a:cs typeface="Yekan Bakh FaNum" pitchFamily="2" charset="-78"/>
                </a:rPr>
                <a:t> </a:t>
              </a:r>
              <a:r>
                <a:rPr kumimoji="0" sz="1000" b="1" i="0" u="none" strike="noStrike" kern="1200" cap="none" spc="0" normalizeH="0" baseline="0" noProof="0" dirty="0" err="1">
                  <a:ln>
                    <a:noFill/>
                  </a:ln>
                  <a:solidFill>
                    <a:srgbClr val="F0BE0F"/>
                  </a:solidFill>
                  <a:effectLst/>
                  <a:uLnTx/>
                  <a:uFillTx/>
                  <a:latin typeface="Yekan Bakh FaNum" pitchFamily="2" charset="-78"/>
                  <a:ea typeface="+mn-ea"/>
                  <a:cs typeface="Yekan Bakh FaNum" pitchFamily="2" charset="-78"/>
                </a:rPr>
                <a:t>گیرد</a:t>
              </a:r>
              <a:r>
                <a:rPr kumimoji="0" sz="1000" b="1" i="0" u="none" strike="noStrike" kern="1200" cap="none" spc="0" normalizeH="0" baseline="0" noProof="0" dirty="0">
                  <a:ln>
                    <a:noFill/>
                  </a:ln>
                  <a:solidFill>
                    <a:srgbClr val="F0BE0F"/>
                  </a:solidFill>
                  <a:effectLst/>
                  <a:uLnTx/>
                  <a:uFillTx/>
                  <a:latin typeface="Yekan Bakh FaNum" pitchFamily="2" charset="-78"/>
                  <a:ea typeface="+mn-ea"/>
                  <a:cs typeface="Yekan Bakh FaNum" pitchFamily="2" charset="-78"/>
                </a:rPr>
                <a:t> — </a:t>
              </a:r>
              <a:r>
                <a:rPr kumimoji="0" sz="1000" b="1" i="0" u="none" strike="noStrike" kern="1200" cap="none" spc="0" normalizeH="0" baseline="0" noProof="0" dirty="0" err="1">
                  <a:ln>
                    <a:noFill/>
                  </a:ln>
                  <a:solidFill>
                    <a:srgbClr val="F0BE0F"/>
                  </a:solidFill>
                  <a:effectLst/>
                  <a:uLnTx/>
                  <a:uFillTx/>
                  <a:latin typeface="Yekan Bakh FaNum" pitchFamily="2" charset="-78"/>
                  <a:ea typeface="+mn-ea"/>
                  <a:cs typeface="Yekan Bakh FaNum" pitchFamily="2" charset="-78"/>
                </a:rPr>
                <a:t>بسته</a:t>
              </a:r>
              <a:r>
                <a:rPr kumimoji="0" sz="1000" b="1" i="0" u="none" strike="noStrike" kern="1200" cap="none" spc="0" normalizeH="0" baseline="0" noProof="0" dirty="0">
                  <a:ln>
                    <a:noFill/>
                  </a:ln>
                  <a:solidFill>
                    <a:srgbClr val="F0BE0F"/>
                  </a:solidFill>
                  <a:effectLst/>
                  <a:uLnTx/>
                  <a:uFillTx/>
                  <a:latin typeface="Yekan Bakh FaNum" pitchFamily="2" charset="-78"/>
                  <a:ea typeface="+mn-ea"/>
                  <a:cs typeface="Yekan Bakh FaNum" pitchFamily="2" charset="-78"/>
                </a:rPr>
                <a:t> </a:t>
              </a:r>
              <a:r>
                <a:rPr kumimoji="0" sz="1000" b="1" i="0" u="none" strike="noStrike" kern="1200" cap="none" spc="0" normalizeH="0" baseline="0" noProof="0" dirty="0" err="1">
                  <a:ln>
                    <a:noFill/>
                  </a:ln>
                  <a:solidFill>
                    <a:srgbClr val="F0BE0F"/>
                  </a:solidFill>
                  <a:effectLst/>
                  <a:uLnTx/>
                  <a:uFillTx/>
                  <a:latin typeface="Yekan Bakh FaNum" pitchFamily="2" charset="-78"/>
                  <a:ea typeface="+mn-ea"/>
                  <a:cs typeface="Yekan Bakh FaNum" pitchFamily="2" charset="-78"/>
                </a:rPr>
                <a:t>به</a:t>
              </a:r>
              <a:r>
                <a:rPr kumimoji="0" sz="1000" b="1" i="0" u="none" strike="noStrike" kern="1200" cap="none" spc="0" normalizeH="0" baseline="0" noProof="0" dirty="0">
                  <a:ln>
                    <a:noFill/>
                  </a:ln>
                  <a:solidFill>
                    <a:srgbClr val="F0BE0F"/>
                  </a:solidFill>
                  <a:effectLst/>
                  <a:uLnTx/>
                  <a:uFillTx/>
                  <a:latin typeface="Yekan Bakh FaNum" pitchFamily="2" charset="-78"/>
                  <a:ea typeface="+mn-ea"/>
                  <a:cs typeface="Yekan Bakh FaNum" pitchFamily="2" charset="-78"/>
                </a:rPr>
                <a:t> </a:t>
              </a:r>
              <a:r>
                <a:rPr kumimoji="0" sz="1000" b="1" i="0" u="none" strike="noStrike" kern="1200" cap="none" spc="0" normalizeH="0" baseline="0" noProof="0" dirty="0" err="1">
                  <a:ln>
                    <a:noFill/>
                  </a:ln>
                  <a:solidFill>
                    <a:srgbClr val="F0BE0F"/>
                  </a:solidFill>
                  <a:effectLst/>
                  <a:uLnTx/>
                  <a:uFillTx/>
                  <a:latin typeface="Yekan Bakh FaNum" pitchFamily="2" charset="-78"/>
                  <a:ea typeface="+mn-ea"/>
                  <a:cs typeface="Yekan Bakh FaNum" pitchFamily="2" charset="-78"/>
                </a:rPr>
                <a:t>اینکه</a:t>
              </a:r>
              <a:r>
                <a:rPr kumimoji="0" sz="1000" b="1" i="0" u="none" strike="noStrike" kern="1200" cap="none" spc="0" normalizeH="0" baseline="0" noProof="0" dirty="0">
                  <a:ln>
                    <a:noFill/>
                  </a:ln>
                  <a:solidFill>
                    <a:srgbClr val="F0BE0F"/>
                  </a:solidFill>
                  <a:effectLst/>
                  <a:uLnTx/>
                  <a:uFillTx/>
                  <a:latin typeface="Yekan Bakh FaNum" pitchFamily="2" charset="-78"/>
                  <a:ea typeface="+mn-ea"/>
                  <a:cs typeface="Yekan Bakh FaNum" pitchFamily="2" charset="-78"/>
                </a:rPr>
                <a:t> </a:t>
              </a:r>
              <a:r>
                <a:rPr kumimoji="0" sz="1000" b="1" i="0" u="none" strike="noStrike" kern="1200" cap="none" spc="0" normalizeH="0" baseline="0" noProof="0" dirty="0" err="1">
                  <a:ln>
                    <a:noFill/>
                  </a:ln>
                  <a:solidFill>
                    <a:srgbClr val="F0BE0F"/>
                  </a:solidFill>
                  <a:effectLst/>
                  <a:uLnTx/>
                  <a:uFillTx/>
                  <a:latin typeface="Yekan Bakh FaNum" pitchFamily="2" charset="-78"/>
                  <a:ea typeface="+mn-ea"/>
                  <a:cs typeface="Yekan Bakh FaNum" pitchFamily="2" charset="-78"/>
                </a:rPr>
                <a:t>کدام</a:t>
              </a:r>
              <a:r>
                <a:rPr kumimoji="0" sz="1000" b="1" i="0" u="none" strike="noStrike" kern="1200" cap="none" spc="0" normalizeH="0" baseline="0" noProof="0" dirty="0">
                  <a:ln>
                    <a:noFill/>
                  </a:ln>
                  <a:solidFill>
                    <a:srgbClr val="F0BE0F"/>
                  </a:solidFill>
                  <a:effectLst/>
                  <a:uLnTx/>
                  <a:uFillTx/>
                  <a:latin typeface="Yekan Bakh FaNum" pitchFamily="2" charset="-78"/>
                  <a:ea typeface="+mn-ea"/>
                  <a:cs typeface="Yekan Bakh FaNum" pitchFamily="2" charset="-78"/>
                </a:rPr>
                <a:t> </a:t>
              </a:r>
              <a:r>
                <a:rPr kumimoji="0" sz="1000" b="1" i="0" u="none" strike="noStrike" kern="1200" cap="none" spc="0" normalizeH="0" baseline="0" noProof="0" dirty="0" err="1">
                  <a:ln>
                    <a:noFill/>
                  </a:ln>
                  <a:solidFill>
                    <a:srgbClr val="F0BE0F"/>
                  </a:solidFill>
                  <a:effectLst/>
                  <a:uLnTx/>
                  <a:uFillTx/>
                  <a:latin typeface="Yekan Bakh FaNum" pitchFamily="2" charset="-78"/>
                  <a:ea typeface="+mn-ea"/>
                  <a:cs typeface="Yekan Bakh FaNum" pitchFamily="2" charset="-78"/>
                </a:rPr>
                <a:t>نیاز</a:t>
              </a:r>
              <a:r>
                <a:rPr kumimoji="0" sz="1000" b="1" i="0" u="none" strike="noStrike" kern="1200" cap="none" spc="0" normalizeH="0" baseline="0" noProof="0" dirty="0">
                  <a:ln>
                    <a:noFill/>
                  </a:ln>
                  <a:solidFill>
                    <a:srgbClr val="F0BE0F"/>
                  </a:solidFill>
                  <a:effectLst/>
                  <a:uLnTx/>
                  <a:uFillTx/>
                  <a:latin typeface="Yekan Bakh FaNum" pitchFamily="2" charset="-78"/>
                  <a:ea typeface="+mn-ea"/>
                  <a:cs typeface="Yekan Bakh FaNum" pitchFamily="2" charset="-78"/>
                </a:rPr>
                <a:t> </a:t>
              </a:r>
              <a:r>
                <a:rPr kumimoji="0" sz="1000" b="1" i="0" u="none" strike="noStrike" kern="1200" cap="none" spc="0" normalizeH="0" baseline="0" noProof="0" dirty="0" err="1">
                  <a:ln>
                    <a:noFill/>
                  </a:ln>
                  <a:solidFill>
                    <a:srgbClr val="F0BE0F"/>
                  </a:solidFill>
                  <a:effectLst/>
                  <a:uLnTx/>
                  <a:uFillTx/>
                  <a:latin typeface="Yekan Bakh FaNum" pitchFamily="2" charset="-78"/>
                  <a:ea typeface="+mn-ea"/>
                  <a:cs typeface="Yekan Bakh FaNum" pitchFamily="2" charset="-78"/>
                </a:rPr>
                <a:t>او</a:t>
              </a:r>
              <a:r>
                <a:rPr kumimoji="0" sz="1000" b="1" i="0" u="none" strike="noStrike" kern="1200" cap="none" spc="0" normalizeH="0" baseline="0" noProof="0" dirty="0">
                  <a:ln>
                    <a:noFill/>
                  </a:ln>
                  <a:solidFill>
                    <a:srgbClr val="F0BE0F"/>
                  </a:solidFill>
                  <a:effectLst/>
                  <a:uLnTx/>
                  <a:uFillTx/>
                  <a:latin typeface="Yekan Bakh FaNum" pitchFamily="2" charset="-78"/>
                  <a:ea typeface="+mn-ea"/>
                  <a:cs typeface="Yekan Bakh FaNum" pitchFamily="2" charset="-78"/>
                </a:rPr>
                <a:t> </a:t>
              </a:r>
              <a:r>
                <a:rPr kumimoji="0" sz="1000" b="1" i="0" u="none" strike="noStrike" kern="1200" cap="none" spc="0" normalizeH="0" baseline="0" noProof="0" dirty="0" err="1">
                  <a:ln>
                    <a:noFill/>
                  </a:ln>
                  <a:solidFill>
                    <a:srgbClr val="F0BE0F"/>
                  </a:solidFill>
                  <a:effectLst/>
                  <a:uLnTx/>
                  <a:uFillTx/>
                  <a:latin typeface="Yekan Bakh FaNum" pitchFamily="2" charset="-78"/>
                  <a:ea typeface="+mn-ea"/>
                  <a:cs typeface="Yekan Bakh FaNum" pitchFamily="2" charset="-78"/>
                </a:rPr>
                <a:t>پاسخ</a:t>
              </a:r>
              <a:r>
                <a:rPr kumimoji="0" sz="1000" b="1" i="0" u="none" strike="noStrike" kern="1200" cap="none" spc="0" normalizeH="0" baseline="0" noProof="0" dirty="0">
                  <a:ln>
                    <a:noFill/>
                  </a:ln>
                  <a:solidFill>
                    <a:srgbClr val="F0BE0F"/>
                  </a:solidFill>
                  <a:effectLst/>
                  <a:uLnTx/>
                  <a:uFillTx/>
                  <a:latin typeface="Yekan Bakh FaNum" pitchFamily="2" charset="-78"/>
                  <a:ea typeface="+mn-ea"/>
                  <a:cs typeface="Yekan Bakh FaNum" pitchFamily="2" charset="-78"/>
                </a:rPr>
                <a:t> </a:t>
              </a:r>
              <a:r>
                <a:rPr kumimoji="0" sz="1000" b="1" i="0" u="none" strike="noStrike" kern="1200" cap="none" spc="0" normalizeH="0" baseline="0" noProof="0" dirty="0" err="1">
                  <a:ln>
                    <a:noFill/>
                  </a:ln>
                  <a:solidFill>
                    <a:srgbClr val="F0BE0F"/>
                  </a:solidFill>
                  <a:effectLst/>
                  <a:uLnTx/>
                  <a:uFillTx/>
                  <a:latin typeface="Yekan Bakh FaNum" pitchFamily="2" charset="-78"/>
                  <a:ea typeface="+mn-ea"/>
                  <a:cs typeface="Yekan Bakh FaNum" pitchFamily="2" charset="-78"/>
                </a:rPr>
                <a:t>داده</a:t>
              </a:r>
              <a:r>
                <a:rPr kumimoji="0" sz="1000" b="1" i="0" u="none" strike="noStrike" kern="1200" cap="none" spc="0" normalizeH="0" baseline="0" noProof="0" dirty="0">
                  <a:ln>
                    <a:noFill/>
                  </a:ln>
                  <a:solidFill>
                    <a:srgbClr val="F0BE0F"/>
                  </a:solidFill>
                  <a:effectLst/>
                  <a:uLnTx/>
                  <a:uFillTx/>
                  <a:latin typeface="Yekan Bakh FaNum" pitchFamily="2" charset="-78"/>
                  <a:ea typeface="+mn-ea"/>
                  <a:cs typeface="Yekan Bakh FaNum" pitchFamily="2" charset="-78"/>
                </a:rPr>
                <a:t> </a:t>
              </a:r>
              <a:r>
                <a:rPr kumimoji="0" sz="1000" b="1" i="0" u="none" strike="noStrike" kern="1200" cap="none" spc="0" normalizeH="0" baseline="0" noProof="0" dirty="0" err="1">
                  <a:ln>
                    <a:noFill/>
                  </a:ln>
                  <a:solidFill>
                    <a:srgbClr val="F0BE0F"/>
                  </a:solidFill>
                  <a:effectLst/>
                  <a:uLnTx/>
                  <a:uFillTx/>
                  <a:latin typeface="Yekan Bakh FaNum" pitchFamily="2" charset="-78"/>
                  <a:ea typeface="+mn-ea"/>
                  <a:cs typeface="Yekan Bakh FaNum" pitchFamily="2" charset="-78"/>
                </a:rPr>
                <a:t>می‌شود</a:t>
              </a:r>
              <a:r>
                <a:rPr kumimoji="0" sz="1000" b="1" i="0" u="none" strike="noStrike" kern="1200" cap="none" spc="0" normalizeH="0" baseline="0" noProof="0" dirty="0">
                  <a:ln>
                    <a:noFill/>
                  </a:ln>
                  <a:solidFill>
                    <a:srgbClr val="F0BE0F"/>
                  </a:solidFill>
                  <a:effectLst/>
                  <a:uLnTx/>
                  <a:uFillTx/>
                  <a:latin typeface="Yekan Bakh FaNum" pitchFamily="2" charset="-78"/>
                  <a:ea typeface="+mn-ea"/>
                  <a:cs typeface="Yekan Bakh FaNum" pitchFamily="2" charset="-78"/>
                </a:rPr>
                <a:t>.</a:t>
              </a:r>
            </a:p>
          </p:txBody>
        </p:sp>
      </p:grpSp>
    </p:spTree>
    <p:extLst>
      <p:ext uri="{BB962C8B-B14F-4D97-AF65-F5344CB8AC3E}">
        <p14:creationId xmlns:p14="http://schemas.microsoft.com/office/powerpoint/2010/main" val="2079122825"/>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0F509AB-9C3E-FD6E-0A62-0F8F7320869C}"/>
              </a:ext>
            </a:extLst>
          </p:cNvPr>
          <p:cNvSpPr>
            <a:spLocks noGrp="1"/>
          </p:cNvSpPr>
          <p:nvPr>
            <p:ph type="body" sz="quarter" idx="10"/>
          </p:nvPr>
        </p:nvSpPr>
        <p:spPr/>
        <p:txBody>
          <a:bodyPr/>
          <a:lstStyle/>
          <a:p>
            <a:r>
              <a:rPr lang="fa-IR" dirty="0"/>
              <a:t>۲. مدل انتخاب‌شده</a:t>
            </a:r>
            <a:endParaRPr lang="en-GB" dirty="0"/>
          </a:p>
        </p:txBody>
      </p:sp>
      <p:sp>
        <p:nvSpPr>
          <p:cNvPr id="3" name="Text Placeholder 2">
            <a:extLst>
              <a:ext uri="{FF2B5EF4-FFF2-40B4-BE49-F238E27FC236}">
                <a16:creationId xmlns:a16="http://schemas.microsoft.com/office/drawing/2014/main" id="{4473F568-237E-70D0-B64A-BB245DFBB617}"/>
              </a:ext>
            </a:extLst>
          </p:cNvPr>
          <p:cNvSpPr>
            <a:spLocks noGrp="1"/>
          </p:cNvSpPr>
          <p:nvPr>
            <p:ph type="body" sz="quarter" idx="12"/>
          </p:nvPr>
        </p:nvSpPr>
        <p:spPr/>
        <p:txBody>
          <a:bodyPr/>
          <a:lstStyle/>
          <a:p>
            <a:r>
              <a:rPr lang="fa-IR" dirty="0"/>
              <a:t>انتخاب این هفت آرکی‌تایپ از چهار ویژگی بنیادین کسب‌وکار «اکوسیستم فرصت ایران»نتیجه می‌شود، نه از یک چارچوب عمومی</a:t>
            </a:r>
          </a:p>
        </p:txBody>
      </p:sp>
      <p:cxnSp>
        <p:nvCxnSpPr>
          <p:cNvPr id="7" name="Connector 4"/>
          <p:cNvCxnSpPr/>
          <p:nvPr/>
        </p:nvCxnSpPr>
        <p:spPr>
          <a:xfrm>
            <a:off x="305671" y="7354423"/>
            <a:ext cx="11057839" cy="0"/>
          </a:xfrm>
          <a:prstGeom prst="line">
            <a:avLst/>
          </a:prstGeom>
          <a:ln w="9525">
            <a:solidFill>
              <a:srgbClr val="D1D5DB"/>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0924598" y="7409287"/>
            <a:ext cx="457200" cy="173124"/>
          </a:xfrm>
          <a:prstGeom prst="rect">
            <a:avLst/>
          </a:prstGeom>
          <a:noFill/>
        </p:spPr>
        <p:txBody>
          <a:bodyPr wrap="square" lIns="0" tIns="0" rIns="0" bIns="0" anchor="t">
            <a:spAutoFit/>
          </a:bodyPr>
          <a:lstStyle/>
          <a:p>
            <a:pPr marL="0" marR="0" lvl="0" indent="0" algn="l" defTabSz="457200" rtl="1" eaLnBrk="1" fontAlgn="auto" latinLnBrk="0" hangingPunct="1">
              <a:lnSpc>
                <a:spcPct val="125000"/>
              </a:lnSpc>
              <a:spcBef>
                <a:spcPts val="0"/>
              </a:spcBef>
              <a:spcAft>
                <a:spcPts val="0"/>
              </a:spcAft>
              <a:buClrTx/>
              <a:buSzTx/>
              <a:buFontTx/>
              <a:buNone/>
              <a:tabLst/>
              <a:defRPr/>
            </a:pPr>
            <a:r>
              <a:rPr kumimoji="0" sz="900" b="0" i="0" u="none" strike="noStrike" kern="1200" cap="none" spc="0" normalizeH="0" baseline="0" noProof="0">
                <a:ln>
                  <a:noFill/>
                </a:ln>
                <a:solidFill>
                  <a:srgbClr val="6B7280"/>
                </a:solidFill>
                <a:effectLst/>
                <a:uLnTx/>
                <a:uFillTx/>
                <a:latin typeface="Yekan Bakh FaNum" pitchFamily="2" charset="-78"/>
                <a:ea typeface="+mn-ea"/>
                <a:cs typeface="Yekan Bakh FaNum" pitchFamily="2" charset="-78"/>
              </a:rPr>
              <a:t>3</a:t>
            </a:r>
          </a:p>
        </p:txBody>
      </p:sp>
      <p:sp>
        <p:nvSpPr>
          <p:cNvPr id="10" name="TextBox 9"/>
          <p:cNvSpPr txBox="1"/>
          <p:nvPr/>
        </p:nvSpPr>
        <p:spPr>
          <a:xfrm>
            <a:off x="305671" y="7409287"/>
            <a:ext cx="2011680" cy="346249"/>
          </a:xfrm>
          <a:prstGeom prst="rect">
            <a:avLst/>
          </a:prstGeom>
          <a:noFill/>
        </p:spPr>
        <p:txBody>
          <a:bodyPr wrap="square" lIns="0" tIns="0" rIns="0" bIns="0" anchor="t">
            <a:spAutoFit/>
          </a:bodyPr>
          <a:lstStyle/>
          <a:p>
            <a:pPr marL="0" marR="0" lvl="0" indent="0" algn="l" defTabSz="457200" rtl="1" eaLnBrk="1" fontAlgn="auto" latinLnBrk="0" hangingPunct="1">
              <a:lnSpc>
                <a:spcPct val="125000"/>
              </a:lnSpc>
              <a:spcBef>
                <a:spcPts val="0"/>
              </a:spcBef>
              <a:spcAft>
                <a:spcPts val="0"/>
              </a:spcAft>
              <a:buClrTx/>
              <a:buSzTx/>
              <a:buFontTx/>
              <a:buNone/>
              <a:tabLst/>
              <a:defRPr/>
            </a:pPr>
            <a:r>
              <a:rPr kumimoji="0" sz="900" b="0" i="0" u="none" strike="noStrike" kern="1200" cap="none" spc="0" normalizeH="0" baseline="0" noProof="0">
                <a:ln>
                  <a:noFill/>
                </a:ln>
                <a:solidFill>
                  <a:srgbClr val="6B7280"/>
                </a:solidFill>
                <a:effectLst/>
                <a:uLnTx/>
                <a:uFillTx/>
                <a:latin typeface="Yekan Bakh FaNum" pitchFamily="2" charset="-78"/>
                <a:ea typeface="+mn-ea"/>
                <a:cs typeface="Yekan Bakh FaNum" pitchFamily="2" charset="-78"/>
              </a:rPr>
              <a:t>بلوک ارتباط با مشتری — اکوسیستم فرصت ایران</a:t>
            </a:r>
          </a:p>
        </p:txBody>
      </p:sp>
      <p:sp>
        <p:nvSpPr>
          <p:cNvPr id="4" name="Rectangle: Rounded Corners 3">
            <a:extLst>
              <a:ext uri="{FF2B5EF4-FFF2-40B4-BE49-F238E27FC236}">
                <a16:creationId xmlns:a16="http://schemas.microsoft.com/office/drawing/2014/main" id="{6D5C6F5C-238A-2BC0-79CD-FDD9A0A32348}"/>
              </a:ext>
            </a:extLst>
          </p:cNvPr>
          <p:cNvSpPr/>
          <p:nvPr/>
        </p:nvSpPr>
        <p:spPr>
          <a:xfrm>
            <a:off x="5940763" y="1511566"/>
            <a:ext cx="5302810" cy="1898371"/>
          </a:xfrm>
          <a:prstGeom prst="roundRect">
            <a:avLst>
              <a:gd name="adj" fmla="val 5672"/>
            </a:avLst>
          </a:prstGeom>
          <a:solidFill>
            <a:schemeClr val="bg1">
              <a:lumMod val="95000"/>
              <a:alpha val="5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6" name="TextBox 5">
            <a:extLst>
              <a:ext uri="{FF2B5EF4-FFF2-40B4-BE49-F238E27FC236}">
                <a16:creationId xmlns:a16="http://schemas.microsoft.com/office/drawing/2014/main" id="{3C5B6F22-C26A-D859-B558-7C29DB08CADC}"/>
              </a:ext>
            </a:extLst>
          </p:cNvPr>
          <p:cNvSpPr txBox="1"/>
          <p:nvPr/>
        </p:nvSpPr>
        <p:spPr>
          <a:xfrm>
            <a:off x="10744540" y="1500545"/>
            <a:ext cx="457200" cy="615553"/>
          </a:xfrm>
          <a:prstGeom prst="rect">
            <a:avLst/>
          </a:prstGeom>
          <a:noFill/>
        </p:spPr>
        <p:txBody>
          <a:bodyPr wrap="square" lIns="0" tIns="0" rIns="0" bIns="0" anchor="t">
            <a:spAutoFit/>
          </a:bodyPr>
          <a:lstStyle/>
          <a:p>
            <a:pPr marL="0" marR="0" lvl="0" indent="0" algn="l" defTabSz="457200" rtl="0" eaLnBrk="1" fontAlgn="auto" latinLnBrk="0" hangingPunct="1">
              <a:lnSpc>
                <a:spcPct val="125000"/>
              </a:lnSpc>
              <a:spcBef>
                <a:spcPts val="0"/>
              </a:spcBef>
              <a:spcAft>
                <a:spcPts val="0"/>
              </a:spcAft>
              <a:buClrTx/>
              <a:buSzTx/>
              <a:buFontTx/>
              <a:buNone/>
              <a:tabLst/>
              <a:defRPr/>
            </a:pPr>
            <a:r>
              <a:rPr kumimoji="0" lang="fa-IR" sz="3200" b="1" i="0" u="none" strike="noStrike" kern="1200" cap="none" spc="0" normalizeH="0" baseline="0" noProof="0" dirty="0">
                <a:ln>
                  <a:noFill/>
                </a:ln>
                <a:solidFill>
                  <a:srgbClr val="F0BE0F"/>
                </a:solidFill>
                <a:effectLst/>
                <a:uLnTx/>
                <a:uFillTx/>
                <a:latin typeface="Yekan Bakh FaNum" pitchFamily="2" charset="-78"/>
                <a:ea typeface="+mn-ea"/>
                <a:cs typeface="Yekan Bakh FaNum" pitchFamily="2" charset="-78"/>
              </a:rPr>
              <a:t>۱.</a:t>
            </a:r>
            <a:endParaRPr kumimoji="0" sz="3200" b="1" i="0" u="none" strike="noStrike" kern="1200" cap="none" spc="0" normalizeH="0" baseline="0" noProof="0" dirty="0">
              <a:ln>
                <a:noFill/>
              </a:ln>
              <a:solidFill>
                <a:srgbClr val="F0BE0F"/>
              </a:solidFill>
              <a:effectLst/>
              <a:uLnTx/>
              <a:uFillTx/>
              <a:latin typeface="Yekan Bakh FaNum" pitchFamily="2" charset="-78"/>
              <a:ea typeface="+mn-ea"/>
              <a:cs typeface="Yekan Bakh FaNum" pitchFamily="2" charset="-78"/>
            </a:endParaRPr>
          </a:p>
        </p:txBody>
      </p:sp>
      <p:sp>
        <p:nvSpPr>
          <p:cNvPr id="11" name="TextBox 10">
            <a:extLst>
              <a:ext uri="{FF2B5EF4-FFF2-40B4-BE49-F238E27FC236}">
                <a16:creationId xmlns:a16="http://schemas.microsoft.com/office/drawing/2014/main" id="{D27E8D02-BB81-0B26-A621-91EC51210958}"/>
              </a:ext>
            </a:extLst>
          </p:cNvPr>
          <p:cNvSpPr txBox="1"/>
          <p:nvPr/>
        </p:nvSpPr>
        <p:spPr>
          <a:xfrm>
            <a:off x="6066103" y="1757659"/>
            <a:ext cx="4610996" cy="253916"/>
          </a:xfrm>
          <a:prstGeom prst="rect">
            <a:avLst/>
          </a:prstGeom>
          <a:noFill/>
        </p:spPr>
        <p:txBody>
          <a:bodyPr wrap="square" lIns="0" tIns="0" rIns="0" bIns="0" anchor="t">
            <a:spAutoFit/>
          </a:bodyPr>
          <a:lstStyle/>
          <a:p>
            <a:pPr marL="0" marR="0" lvl="0" indent="0" algn="r" defTabSz="457200" rtl="1" eaLnBrk="1" fontAlgn="auto" latinLnBrk="0" hangingPunct="1">
              <a:lnSpc>
                <a:spcPct val="110000"/>
              </a:lnSpc>
              <a:spcBef>
                <a:spcPts val="0"/>
              </a:spcBef>
              <a:spcAft>
                <a:spcPts val="0"/>
              </a:spcAft>
              <a:buClrTx/>
              <a:buSzTx/>
              <a:buFontTx/>
              <a:buNone/>
              <a:tabLst/>
              <a:defRPr/>
            </a:pPr>
            <a:r>
              <a:rPr kumimoji="0" sz="1500" b="1" i="0" u="none" strike="noStrike" kern="1200" cap="none" spc="0" normalizeH="0" baseline="0" noProof="0" dirty="0" err="1">
                <a:ln>
                  <a:noFill/>
                </a:ln>
                <a:solidFill>
                  <a:srgbClr val="00406C"/>
                </a:solidFill>
                <a:effectLst/>
                <a:uLnTx/>
                <a:uFillTx/>
                <a:latin typeface="Yekan Bakh FaNum" pitchFamily="2" charset="-78"/>
                <a:ea typeface="+mn-ea"/>
                <a:cs typeface="Yekan Bakh FaNum" pitchFamily="2" charset="-78"/>
              </a:rPr>
              <a:t>ماهیت</a:t>
            </a:r>
            <a:r>
              <a:rPr kumimoji="0" sz="1500" b="1" i="0" u="none" strike="noStrike" kern="1200" cap="none" spc="0" normalizeH="0" baseline="0" noProof="0" dirty="0">
                <a:ln>
                  <a:noFill/>
                </a:ln>
                <a:solidFill>
                  <a:srgbClr val="00406C"/>
                </a:solidFill>
                <a:effectLst/>
                <a:uLnTx/>
                <a:uFillTx/>
                <a:latin typeface="Yekan Bakh FaNum" pitchFamily="2" charset="-78"/>
                <a:ea typeface="+mn-ea"/>
                <a:cs typeface="Yekan Bakh FaNum" pitchFamily="2" charset="-78"/>
              </a:rPr>
              <a:t> </a:t>
            </a:r>
            <a:r>
              <a:rPr kumimoji="0" sz="1500" b="1" i="0" u="none" strike="noStrike" kern="1200" cap="none" spc="0" normalizeH="0" baseline="0" noProof="0" dirty="0" err="1">
                <a:ln>
                  <a:noFill/>
                </a:ln>
                <a:solidFill>
                  <a:srgbClr val="00406C"/>
                </a:solidFill>
                <a:effectLst/>
                <a:uLnTx/>
                <a:uFillTx/>
                <a:latin typeface="Yekan Bakh FaNum" pitchFamily="2" charset="-78"/>
                <a:ea typeface="+mn-ea"/>
                <a:cs typeface="Yekan Bakh FaNum" pitchFamily="2" charset="-78"/>
              </a:rPr>
              <a:t>اکوسیستمی</a:t>
            </a:r>
            <a:r>
              <a:rPr kumimoji="0" sz="1500" b="1" i="0" u="none" strike="noStrike" kern="1200" cap="none" spc="0" normalizeH="0" baseline="0" noProof="0" dirty="0">
                <a:ln>
                  <a:noFill/>
                </a:ln>
                <a:solidFill>
                  <a:srgbClr val="00406C"/>
                </a:solidFill>
                <a:effectLst/>
                <a:uLnTx/>
                <a:uFillTx/>
                <a:latin typeface="Yekan Bakh FaNum" pitchFamily="2" charset="-78"/>
                <a:ea typeface="+mn-ea"/>
                <a:cs typeface="Yekan Bakh FaNum" pitchFamily="2" charset="-78"/>
              </a:rPr>
              <a:t> و </a:t>
            </a:r>
            <a:r>
              <a:rPr kumimoji="0" sz="1500" b="1" i="0" u="none" strike="noStrike" kern="1200" cap="none" spc="0" normalizeH="0" baseline="0" noProof="0" dirty="0" err="1">
                <a:ln>
                  <a:noFill/>
                </a:ln>
                <a:solidFill>
                  <a:srgbClr val="00406C"/>
                </a:solidFill>
                <a:effectLst/>
                <a:uLnTx/>
                <a:uFillTx/>
                <a:latin typeface="Yekan Bakh FaNum" pitchFamily="2" charset="-78"/>
                <a:ea typeface="+mn-ea"/>
                <a:cs typeface="Yekan Bakh FaNum" pitchFamily="2" charset="-78"/>
              </a:rPr>
              <a:t>چندبازیگره</a:t>
            </a:r>
            <a:endParaRPr kumimoji="0" sz="1500" b="1" i="0" u="none" strike="noStrike" kern="1200" cap="none" spc="0" normalizeH="0" baseline="0" noProof="0" dirty="0">
              <a:ln>
                <a:noFill/>
              </a:ln>
              <a:solidFill>
                <a:srgbClr val="00406C"/>
              </a:solidFill>
              <a:effectLst/>
              <a:uLnTx/>
              <a:uFillTx/>
              <a:latin typeface="Yekan Bakh FaNum" pitchFamily="2" charset="-78"/>
              <a:ea typeface="+mn-ea"/>
              <a:cs typeface="Yekan Bakh FaNum" pitchFamily="2" charset="-78"/>
            </a:endParaRPr>
          </a:p>
        </p:txBody>
      </p:sp>
      <p:sp>
        <p:nvSpPr>
          <p:cNvPr id="13" name="TextBox 12">
            <a:extLst>
              <a:ext uri="{FF2B5EF4-FFF2-40B4-BE49-F238E27FC236}">
                <a16:creationId xmlns:a16="http://schemas.microsoft.com/office/drawing/2014/main" id="{12BA2AA4-048C-0F63-4B9E-27B9341ECE55}"/>
              </a:ext>
            </a:extLst>
          </p:cNvPr>
          <p:cNvSpPr txBox="1"/>
          <p:nvPr/>
        </p:nvSpPr>
        <p:spPr>
          <a:xfrm>
            <a:off x="6145542" y="2208032"/>
            <a:ext cx="4888839" cy="406265"/>
          </a:xfrm>
          <a:prstGeom prst="rect">
            <a:avLst/>
          </a:prstGeom>
          <a:noFill/>
        </p:spPr>
        <p:txBody>
          <a:bodyPr wrap="square" lIns="0" tIns="0" rIns="0" bIns="0" anchor="t">
            <a:spAutoFit/>
          </a:bodyPr>
          <a:lstStyle/>
          <a:p>
            <a:pPr marL="0" marR="0" lvl="0" indent="0" algn="justLow" defTabSz="457200" rtl="1" eaLnBrk="1" fontAlgn="auto" latinLnBrk="0" hangingPunct="1">
              <a:lnSpc>
                <a:spcPct val="120000"/>
              </a:lnSpc>
              <a:spcBef>
                <a:spcPts val="0"/>
              </a:spcBef>
              <a:spcAft>
                <a:spcPts val="0"/>
              </a:spcAft>
              <a:buClrTx/>
              <a:buSzTx/>
              <a:buFontTx/>
              <a:buNone/>
              <a:tabLst/>
              <a:defRPr/>
            </a:pPr>
            <a:r>
              <a:rPr kumimoji="0" lang="fa-IR" sz="1100" b="0" i="0" u="none" strike="noStrike" kern="1200" cap="none" spc="0" normalizeH="0" baseline="0" noProof="0" dirty="0">
                <a:ln>
                  <a:noFill/>
                </a:ln>
                <a:solidFill>
                  <a:prstClr val="black">
                    <a:lumMod val="65000"/>
                    <a:lumOff val="35000"/>
                  </a:prstClr>
                </a:solidFill>
                <a:effectLst/>
                <a:uLnTx/>
                <a:uFillTx/>
                <a:latin typeface="Yekan Bakh FaNum" pitchFamily="2" charset="-78"/>
                <a:ea typeface="+mn-ea"/>
                <a:cs typeface="Yekan Bakh FaNum" pitchFamily="2" charset="-78"/>
              </a:rPr>
              <a:t>«اکوسیستم فرصت ایران»</a:t>
            </a:r>
            <a:r>
              <a:rPr kumimoji="0" sz="1100" b="0" i="0" u="none" strike="noStrike" kern="1200" cap="none" spc="0" normalizeH="0" baseline="0" noProof="0" dirty="0" err="1">
                <a:ln>
                  <a:noFill/>
                </a:ln>
                <a:solidFill>
                  <a:prstClr val="black">
                    <a:lumMod val="65000"/>
                    <a:lumOff val="35000"/>
                  </a:prstClr>
                </a:solidFill>
                <a:effectLst/>
                <a:uLnTx/>
                <a:uFillTx/>
                <a:latin typeface="Yekan Bakh FaNum" pitchFamily="2" charset="-78"/>
                <a:ea typeface="+mn-ea"/>
                <a:cs typeface="Yekan Bakh FaNum" pitchFamily="2" charset="-78"/>
              </a:rPr>
              <a:t>فقط</a:t>
            </a:r>
            <a:r>
              <a:rPr kumimoji="0" sz="1100" b="0" i="0" u="none" strike="noStrike" kern="1200" cap="none" spc="0" normalizeH="0" baseline="0" noProof="0" dirty="0">
                <a:ln>
                  <a:noFill/>
                </a:ln>
                <a:solidFill>
                  <a:prstClr val="black">
                    <a:lumMod val="65000"/>
                    <a:lumOff val="35000"/>
                  </a:prstClr>
                </a:solidFill>
                <a:effectLst/>
                <a:uLnTx/>
                <a:uFillTx/>
                <a:latin typeface="Yekan Bakh FaNum" pitchFamily="2" charset="-78"/>
                <a:ea typeface="+mn-ea"/>
                <a:cs typeface="Yekan Bakh FaNum" pitchFamily="2" charset="-78"/>
              </a:rPr>
              <a:t> </a:t>
            </a:r>
            <a:r>
              <a:rPr kumimoji="0" sz="1100" b="0" i="0" u="none" strike="noStrike" kern="1200" cap="none" spc="0" normalizeH="0" baseline="0" noProof="0" dirty="0" err="1">
                <a:ln>
                  <a:noFill/>
                </a:ln>
                <a:solidFill>
                  <a:prstClr val="black">
                    <a:lumMod val="65000"/>
                    <a:lumOff val="35000"/>
                  </a:prstClr>
                </a:solidFill>
                <a:effectLst/>
                <a:uLnTx/>
                <a:uFillTx/>
                <a:latin typeface="Yekan Bakh FaNum" pitchFamily="2" charset="-78"/>
                <a:ea typeface="+mn-ea"/>
                <a:cs typeface="Yekan Bakh FaNum" pitchFamily="2" charset="-78"/>
              </a:rPr>
              <a:t>ارائه‌دهنده</a:t>
            </a:r>
            <a:r>
              <a:rPr kumimoji="0" sz="1100" b="0" i="0" u="none" strike="noStrike" kern="1200" cap="none" spc="0" normalizeH="0" baseline="0" noProof="0" dirty="0">
                <a:ln>
                  <a:noFill/>
                </a:ln>
                <a:solidFill>
                  <a:prstClr val="black">
                    <a:lumMod val="65000"/>
                    <a:lumOff val="35000"/>
                  </a:prstClr>
                </a:solidFill>
                <a:effectLst/>
                <a:uLnTx/>
                <a:uFillTx/>
                <a:latin typeface="Yekan Bakh FaNum" pitchFamily="2" charset="-78"/>
                <a:ea typeface="+mn-ea"/>
                <a:cs typeface="Yekan Bakh FaNum" pitchFamily="2" charset="-78"/>
              </a:rPr>
              <a:t> </a:t>
            </a:r>
            <a:r>
              <a:rPr kumimoji="0" sz="1100" b="0" i="0" u="none" strike="noStrike" kern="1200" cap="none" spc="0" normalizeH="0" baseline="0" noProof="0" dirty="0" err="1">
                <a:ln>
                  <a:noFill/>
                </a:ln>
                <a:solidFill>
                  <a:prstClr val="black">
                    <a:lumMod val="65000"/>
                    <a:lumOff val="35000"/>
                  </a:prstClr>
                </a:solidFill>
                <a:effectLst/>
                <a:uLnTx/>
                <a:uFillTx/>
                <a:latin typeface="Yekan Bakh FaNum" pitchFamily="2" charset="-78"/>
                <a:ea typeface="+mn-ea"/>
                <a:cs typeface="Yekan Bakh FaNum" pitchFamily="2" charset="-78"/>
              </a:rPr>
              <a:t>مستقیم</a:t>
            </a:r>
            <a:r>
              <a:rPr kumimoji="0" sz="1100" b="0" i="0" u="none" strike="noStrike" kern="1200" cap="none" spc="0" normalizeH="0" baseline="0" noProof="0" dirty="0">
                <a:ln>
                  <a:noFill/>
                </a:ln>
                <a:solidFill>
                  <a:prstClr val="black">
                    <a:lumMod val="65000"/>
                    <a:lumOff val="35000"/>
                  </a:prstClr>
                </a:solidFill>
                <a:effectLst/>
                <a:uLnTx/>
                <a:uFillTx/>
                <a:latin typeface="Yekan Bakh FaNum" pitchFamily="2" charset="-78"/>
                <a:ea typeface="+mn-ea"/>
                <a:cs typeface="Yekan Bakh FaNum" pitchFamily="2" charset="-78"/>
              </a:rPr>
              <a:t> </a:t>
            </a:r>
            <a:r>
              <a:rPr kumimoji="0" sz="1100" b="0" i="0" u="none" strike="noStrike" kern="1200" cap="none" spc="0" normalizeH="0" baseline="0" noProof="0" dirty="0" err="1">
                <a:ln>
                  <a:noFill/>
                </a:ln>
                <a:solidFill>
                  <a:prstClr val="black">
                    <a:lumMod val="65000"/>
                    <a:lumOff val="35000"/>
                  </a:prstClr>
                </a:solidFill>
                <a:effectLst/>
                <a:uLnTx/>
                <a:uFillTx/>
                <a:latin typeface="Yekan Bakh FaNum" pitchFamily="2" charset="-78"/>
                <a:ea typeface="+mn-ea"/>
                <a:cs typeface="Yekan Bakh FaNum" pitchFamily="2" charset="-78"/>
              </a:rPr>
              <a:t>خدمت</a:t>
            </a:r>
            <a:r>
              <a:rPr kumimoji="0" sz="1100" b="0" i="0" u="none" strike="noStrike" kern="1200" cap="none" spc="0" normalizeH="0" baseline="0" noProof="0" dirty="0">
                <a:ln>
                  <a:noFill/>
                </a:ln>
                <a:solidFill>
                  <a:prstClr val="black">
                    <a:lumMod val="65000"/>
                    <a:lumOff val="35000"/>
                  </a:prstClr>
                </a:solidFill>
                <a:effectLst/>
                <a:uLnTx/>
                <a:uFillTx/>
                <a:latin typeface="Yekan Bakh FaNum" pitchFamily="2" charset="-78"/>
                <a:ea typeface="+mn-ea"/>
                <a:cs typeface="Yekan Bakh FaNum" pitchFamily="2" charset="-78"/>
              </a:rPr>
              <a:t> </a:t>
            </a:r>
            <a:r>
              <a:rPr kumimoji="0" sz="1100" b="0" i="0" u="none" strike="noStrike" kern="1200" cap="none" spc="0" normalizeH="0" baseline="0" noProof="0" dirty="0" err="1">
                <a:ln>
                  <a:noFill/>
                </a:ln>
                <a:solidFill>
                  <a:prstClr val="black">
                    <a:lumMod val="65000"/>
                    <a:lumOff val="35000"/>
                  </a:prstClr>
                </a:solidFill>
                <a:effectLst/>
                <a:uLnTx/>
                <a:uFillTx/>
                <a:latin typeface="Yekan Bakh FaNum" pitchFamily="2" charset="-78"/>
                <a:ea typeface="+mn-ea"/>
                <a:cs typeface="Yekan Bakh FaNum" pitchFamily="2" charset="-78"/>
              </a:rPr>
              <a:t>نیست</a:t>
            </a:r>
            <a:r>
              <a:rPr kumimoji="0" sz="1100" b="0" i="0" u="none" strike="noStrike" kern="1200" cap="none" spc="0" normalizeH="0" baseline="0" noProof="0" dirty="0">
                <a:ln>
                  <a:noFill/>
                </a:ln>
                <a:solidFill>
                  <a:prstClr val="black">
                    <a:lumMod val="65000"/>
                    <a:lumOff val="35000"/>
                  </a:prstClr>
                </a:solidFill>
                <a:effectLst/>
                <a:uLnTx/>
                <a:uFillTx/>
                <a:latin typeface="Yekan Bakh FaNum" pitchFamily="2" charset="-78"/>
                <a:ea typeface="+mn-ea"/>
                <a:cs typeface="Yekan Bakh FaNum" pitchFamily="2" charset="-78"/>
              </a:rPr>
              <a:t>؛ </a:t>
            </a:r>
            <a:r>
              <a:rPr kumimoji="0" sz="1100" b="0" i="0" u="none" strike="noStrike" kern="1200" cap="none" spc="0" normalizeH="0" baseline="0" noProof="0" dirty="0" err="1">
                <a:ln>
                  <a:noFill/>
                </a:ln>
                <a:solidFill>
                  <a:prstClr val="black">
                    <a:lumMod val="65000"/>
                    <a:lumOff val="35000"/>
                  </a:prstClr>
                </a:solidFill>
                <a:effectLst/>
                <a:uLnTx/>
                <a:uFillTx/>
                <a:latin typeface="Yekan Bakh FaNum" pitchFamily="2" charset="-78"/>
                <a:ea typeface="+mn-ea"/>
                <a:cs typeface="Yekan Bakh FaNum" pitchFamily="2" charset="-78"/>
              </a:rPr>
              <a:t>شرکا</a:t>
            </a:r>
            <a:r>
              <a:rPr kumimoji="0" sz="1100" b="0" i="0" u="none" strike="noStrike" kern="1200" cap="none" spc="0" normalizeH="0" baseline="0" noProof="0" dirty="0">
                <a:ln>
                  <a:noFill/>
                </a:ln>
                <a:solidFill>
                  <a:prstClr val="black">
                    <a:lumMod val="65000"/>
                    <a:lumOff val="35000"/>
                  </a:prstClr>
                </a:solidFill>
                <a:effectLst/>
                <a:uLnTx/>
                <a:uFillTx/>
                <a:latin typeface="Yekan Bakh FaNum" pitchFamily="2" charset="-78"/>
                <a:ea typeface="+mn-ea"/>
                <a:cs typeface="Yekan Bakh FaNum" pitchFamily="2" charset="-78"/>
              </a:rPr>
              <a:t>، </a:t>
            </a:r>
            <a:r>
              <a:rPr kumimoji="0" sz="1100" b="0" i="0" u="none" strike="noStrike" kern="1200" cap="none" spc="0" normalizeH="0" baseline="0" noProof="0" dirty="0" err="1">
                <a:ln>
                  <a:noFill/>
                </a:ln>
                <a:solidFill>
                  <a:prstClr val="black">
                    <a:lumMod val="65000"/>
                    <a:lumOff val="35000"/>
                  </a:prstClr>
                </a:solidFill>
                <a:effectLst/>
                <a:uLnTx/>
                <a:uFillTx/>
                <a:latin typeface="Yekan Bakh FaNum" pitchFamily="2" charset="-78"/>
                <a:ea typeface="+mn-ea"/>
                <a:cs typeface="Yekan Bakh FaNum" pitchFamily="2" charset="-78"/>
              </a:rPr>
              <a:t>سرمایه‌گذاران</a:t>
            </a:r>
            <a:r>
              <a:rPr kumimoji="0" sz="1100" b="0" i="0" u="none" strike="noStrike" kern="1200" cap="none" spc="0" normalizeH="0" baseline="0" noProof="0" dirty="0">
                <a:ln>
                  <a:noFill/>
                </a:ln>
                <a:solidFill>
                  <a:prstClr val="black">
                    <a:lumMod val="65000"/>
                    <a:lumOff val="35000"/>
                  </a:prstClr>
                </a:solidFill>
                <a:effectLst/>
                <a:uLnTx/>
                <a:uFillTx/>
                <a:latin typeface="Yekan Bakh FaNum" pitchFamily="2" charset="-78"/>
                <a:ea typeface="+mn-ea"/>
                <a:cs typeface="Yekan Bakh FaNum" pitchFamily="2" charset="-78"/>
              </a:rPr>
              <a:t> و </a:t>
            </a:r>
            <a:r>
              <a:rPr kumimoji="0" sz="1100" b="0" i="0" u="none" strike="noStrike" kern="1200" cap="none" spc="0" normalizeH="0" baseline="0" noProof="0" dirty="0" err="1">
                <a:ln>
                  <a:noFill/>
                </a:ln>
                <a:solidFill>
                  <a:prstClr val="black">
                    <a:lumMod val="65000"/>
                    <a:lumOff val="35000"/>
                  </a:prstClr>
                </a:solidFill>
                <a:effectLst/>
                <a:uLnTx/>
                <a:uFillTx/>
                <a:latin typeface="Yekan Bakh FaNum" pitchFamily="2" charset="-78"/>
                <a:ea typeface="+mn-ea"/>
                <a:cs typeface="Yekan Bakh FaNum" pitchFamily="2" charset="-78"/>
              </a:rPr>
              <a:t>ارائه‌دهندگان</a:t>
            </a:r>
            <a:r>
              <a:rPr kumimoji="0" sz="1100" b="0" i="0" u="none" strike="noStrike" kern="1200" cap="none" spc="0" normalizeH="0" baseline="0" noProof="0" dirty="0">
                <a:ln>
                  <a:noFill/>
                </a:ln>
                <a:solidFill>
                  <a:prstClr val="black">
                    <a:lumMod val="65000"/>
                    <a:lumOff val="35000"/>
                  </a:prstClr>
                </a:solidFill>
                <a:effectLst/>
                <a:uLnTx/>
                <a:uFillTx/>
                <a:latin typeface="Yekan Bakh FaNum" pitchFamily="2" charset="-78"/>
                <a:ea typeface="+mn-ea"/>
                <a:cs typeface="Yekan Bakh FaNum" pitchFamily="2" charset="-78"/>
              </a:rPr>
              <a:t> </a:t>
            </a:r>
            <a:r>
              <a:rPr kumimoji="0" sz="1100" b="0" i="0" u="none" strike="noStrike" kern="1200" cap="none" spc="0" normalizeH="0" baseline="0" noProof="0" dirty="0" err="1">
                <a:ln>
                  <a:noFill/>
                </a:ln>
                <a:solidFill>
                  <a:prstClr val="black">
                    <a:lumMod val="65000"/>
                    <a:lumOff val="35000"/>
                  </a:prstClr>
                </a:solidFill>
                <a:effectLst/>
                <a:uLnTx/>
                <a:uFillTx/>
                <a:latin typeface="Yekan Bakh FaNum" pitchFamily="2" charset="-78"/>
                <a:ea typeface="+mn-ea"/>
                <a:cs typeface="Yekan Bakh FaNum" pitchFamily="2" charset="-78"/>
              </a:rPr>
              <a:t>خدمات</a:t>
            </a:r>
            <a:r>
              <a:rPr kumimoji="0" sz="1100" b="0" i="0" u="none" strike="noStrike" kern="1200" cap="none" spc="0" normalizeH="0" baseline="0" noProof="0" dirty="0">
                <a:ln>
                  <a:noFill/>
                </a:ln>
                <a:solidFill>
                  <a:prstClr val="black">
                    <a:lumMod val="65000"/>
                    <a:lumOff val="35000"/>
                  </a:prstClr>
                </a:solidFill>
                <a:effectLst/>
                <a:uLnTx/>
                <a:uFillTx/>
                <a:latin typeface="Yekan Bakh FaNum" pitchFamily="2" charset="-78"/>
                <a:ea typeface="+mn-ea"/>
                <a:cs typeface="Yekan Bakh FaNum" pitchFamily="2" charset="-78"/>
              </a:rPr>
              <a:t> </a:t>
            </a:r>
            <a:r>
              <a:rPr kumimoji="0" sz="1100" b="0" i="0" u="none" strike="noStrike" kern="1200" cap="none" spc="0" normalizeH="0" baseline="0" noProof="0" dirty="0" err="1">
                <a:ln>
                  <a:noFill/>
                </a:ln>
                <a:solidFill>
                  <a:prstClr val="black">
                    <a:lumMod val="65000"/>
                    <a:lumOff val="35000"/>
                  </a:prstClr>
                </a:solidFill>
                <a:effectLst/>
                <a:uLnTx/>
                <a:uFillTx/>
                <a:latin typeface="Yekan Bakh FaNum" pitchFamily="2" charset="-78"/>
                <a:ea typeface="+mn-ea"/>
                <a:cs typeface="Yekan Bakh FaNum" pitchFamily="2" charset="-78"/>
              </a:rPr>
              <a:t>حرفه‌ای</a:t>
            </a:r>
            <a:r>
              <a:rPr kumimoji="0" sz="1100" b="0" i="0" u="none" strike="noStrike" kern="1200" cap="none" spc="0" normalizeH="0" baseline="0" noProof="0" dirty="0">
                <a:ln>
                  <a:noFill/>
                </a:ln>
                <a:solidFill>
                  <a:prstClr val="black">
                    <a:lumMod val="65000"/>
                    <a:lumOff val="35000"/>
                  </a:prstClr>
                </a:solidFill>
                <a:effectLst/>
                <a:uLnTx/>
                <a:uFillTx/>
                <a:latin typeface="Yekan Bakh FaNum" pitchFamily="2" charset="-78"/>
                <a:ea typeface="+mn-ea"/>
                <a:cs typeface="Yekan Bakh FaNum" pitchFamily="2" charset="-78"/>
              </a:rPr>
              <a:t> </a:t>
            </a:r>
            <a:r>
              <a:rPr kumimoji="0" sz="1100" b="0" i="0" u="none" strike="noStrike" kern="1200" cap="none" spc="0" normalizeH="0" baseline="0" noProof="0" dirty="0" err="1">
                <a:ln>
                  <a:noFill/>
                </a:ln>
                <a:solidFill>
                  <a:prstClr val="black">
                    <a:lumMod val="65000"/>
                    <a:lumOff val="35000"/>
                  </a:prstClr>
                </a:solidFill>
                <a:effectLst/>
                <a:uLnTx/>
                <a:uFillTx/>
                <a:latin typeface="Yekan Bakh FaNum" pitchFamily="2" charset="-78"/>
                <a:ea typeface="+mn-ea"/>
                <a:cs typeface="Yekan Bakh FaNum" pitchFamily="2" charset="-78"/>
              </a:rPr>
              <a:t>را</a:t>
            </a:r>
            <a:r>
              <a:rPr kumimoji="0" sz="1100" b="0" i="0" u="none" strike="noStrike" kern="1200" cap="none" spc="0" normalizeH="0" baseline="0" noProof="0" dirty="0">
                <a:ln>
                  <a:noFill/>
                </a:ln>
                <a:solidFill>
                  <a:prstClr val="black">
                    <a:lumMod val="65000"/>
                    <a:lumOff val="35000"/>
                  </a:prstClr>
                </a:solidFill>
                <a:effectLst/>
                <a:uLnTx/>
                <a:uFillTx/>
                <a:latin typeface="Yekan Bakh FaNum" pitchFamily="2" charset="-78"/>
                <a:ea typeface="+mn-ea"/>
                <a:cs typeface="Yekan Bakh FaNum" pitchFamily="2" charset="-78"/>
              </a:rPr>
              <a:t> </a:t>
            </a:r>
            <a:r>
              <a:rPr kumimoji="0" sz="1100" b="0" i="0" u="none" strike="noStrike" kern="1200" cap="none" spc="0" normalizeH="0" baseline="0" noProof="0" dirty="0" err="1">
                <a:ln>
                  <a:noFill/>
                </a:ln>
                <a:solidFill>
                  <a:prstClr val="black">
                    <a:lumMod val="65000"/>
                    <a:lumOff val="35000"/>
                  </a:prstClr>
                </a:solidFill>
                <a:effectLst/>
                <a:uLnTx/>
                <a:uFillTx/>
                <a:latin typeface="Yekan Bakh FaNum" pitchFamily="2" charset="-78"/>
                <a:ea typeface="+mn-ea"/>
                <a:cs typeface="Yekan Bakh FaNum" pitchFamily="2" charset="-78"/>
              </a:rPr>
              <a:t>هم</a:t>
            </a:r>
            <a:r>
              <a:rPr kumimoji="0" sz="1100" b="0" i="0" u="none" strike="noStrike" kern="1200" cap="none" spc="0" normalizeH="0" baseline="0" noProof="0" dirty="0">
                <a:ln>
                  <a:noFill/>
                </a:ln>
                <a:solidFill>
                  <a:prstClr val="black">
                    <a:lumMod val="65000"/>
                    <a:lumOff val="35000"/>
                  </a:prstClr>
                </a:solidFill>
                <a:effectLst/>
                <a:uLnTx/>
                <a:uFillTx/>
                <a:latin typeface="Yekan Bakh FaNum" pitchFamily="2" charset="-78"/>
                <a:ea typeface="+mn-ea"/>
                <a:cs typeface="Yekan Bakh FaNum" pitchFamily="2" charset="-78"/>
              </a:rPr>
              <a:t> </a:t>
            </a:r>
            <a:r>
              <a:rPr kumimoji="0" sz="1100" b="0" i="0" u="none" strike="noStrike" kern="1200" cap="none" spc="0" normalizeH="0" baseline="0" noProof="0" dirty="0" err="1">
                <a:ln>
                  <a:noFill/>
                </a:ln>
                <a:solidFill>
                  <a:prstClr val="black">
                    <a:lumMod val="65000"/>
                    <a:lumOff val="35000"/>
                  </a:prstClr>
                </a:solidFill>
                <a:effectLst/>
                <a:uLnTx/>
                <a:uFillTx/>
                <a:latin typeface="Yekan Bakh FaNum" pitchFamily="2" charset="-78"/>
                <a:ea typeface="+mn-ea"/>
                <a:cs typeface="Yekan Bakh FaNum" pitchFamily="2" charset="-78"/>
              </a:rPr>
              <a:t>هماهنگ</a:t>
            </a:r>
            <a:r>
              <a:rPr kumimoji="0" sz="1100" b="0" i="0" u="none" strike="noStrike" kern="1200" cap="none" spc="0" normalizeH="0" baseline="0" noProof="0" dirty="0">
                <a:ln>
                  <a:noFill/>
                </a:ln>
                <a:solidFill>
                  <a:prstClr val="black">
                    <a:lumMod val="65000"/>
                    <a:lumOff val="35000"/>
                  </a:prstClr>
                </a:solidFill>
                <a:effectLst/>
                <a:uLnTx/>
                <a:uFillTx/>
                <a:latin typeface="Yekan Bakh FaNum" pitchFamily="2" charset="-78"/>
                <a:ea typeface="+mn-ea"/>
                <a:cs typeface="Yekan Bakh FaNum" pitchFamily="2" charset="-78"/>
              </a:rPr>
              <a:t> </a:t>
            </a:r>
            <a:r>
              <a:rPr kumimoji="0" sz="1100" b="0" i="0" u="none" strike="noStrike" kern="1200" cap="none" spc="0" normalizeH="0" baseline="0" noProof="0" dirty="0" err="1">
                <a:ln>
                  <a:noFill/>
                </a:ln>
                <a:solidFill>
                  <a:prstClr val="black">
                    <a:lumMod val="65000"/>
                    <a:lumOff val="35000"/>
                  </a:prstClr>
                </a:solidFill>
                <a:effectLst/>
                <a:uLnTx/>
                <a:uFillTx/>
                <a:latin typeface="Yekan Bakh FaNum" pitchFamily="2" charset="-78"/>
                <a:ea typeface="+mn-ea"/>
                <a:cs typeface="Yekan Bakh FaNum" pitchFamily="2" charset="-78"/>
              </a:rPr>
              <a:t>می‌کند</a:t>
            </a:r>
            <a:r>
              <a:rPr kumimoji="0" sz="1100" b="0" i="0" u="none" strike="noStrike" kern="1200" cap="none" spc="0" normalizeH="0" baseline="0" noProof="0" dirty="0">
                <a:ln>
                  <a:noFill/>
                </a:ln>
                <a:solidFill>
                  <a:prstClr val="black">
                    <a:lumMod val="65000"/>
                    <a:lumOff val="35000"/>
                  </a:prstClr>
                </a:solidFill>
                <a:effectLst/>
                <a:uLnTx/>
                <a:uFillTx/>
                <a:latin typeface="Yekan Bakh FaNum" pitchFamily="2" charset="-78"/>
                <a:ea typeface="+mn-ea"/>
                <a:cs typeface="Yekan Bakh FaNum" pitchFamily="2" charset="-78"/>
              </a:rPr>
              <a:t>.</a:t>
            </a:r>
          </a:p>
        </p:txBody>
      </p:sp>
      <p:sp>
        <p:nvSpPr>
          <p:cNvPr id="15" name="TextBox 14">
            <a:extLst>
              <a:ext uri="{FF2B5EF4-FFF2-40B4-BE49-F238E27FC236}">
                <a16:creationId xmlns:a16="http://schemas.microsoft.com/office/drawing/2014/main" id="{EA5B185D-EC00-9718-E225-11F085850F4C}"/>
              </a:ext>
            </a:extLst>
          </p:cNvPr>
          <p:cNvSpPr txBox="1"/>
          <p:nvPr/>
        </p:nvSpPr>
        <p:spPr>
          <a:xfrm>
            <a:off x="6145542" y="2788913"/>
            <a:ext cx="4888839" cy="389337"/>
          </a:xfrm>
          <a:prstGeom prst="rect">
            <a:avLst/>
          </a:prstGeom>
          <a:noFill/>
        </p:spPr>
        <p:txBody>
          <a:bodyPr wrap="square" lIns="0" tIns="0" rIns="0" bIns="0" anchor="t">
            <a:spAutoFit/>
          </a:bodyPr>
          <a:lstStyle/>
          <a:p>
            <a:pPr marL="0" marR="0" lvl="0" indent="0" algn="justLow" defTabSz="457200" rtl="1" eaLnBrk="1" fontAlgn="auto" latinLnBrk="0" hangingPunct="1">
              <a:lnSpc>
                <a:spcPct val="115000"/>
              </a:lnSpc>
              <a:spcBef>
                <a:spcPts val="0"/>
              </a:spcBef>
              <a:spcAft>
                <a:spcPts val="0"/>
              </a:spcAft>
              <a:buClrTx/>
              <a:buSzTx/>
              <a:buFontTx/>
              <a:buNone/>
              <a:tabLst/>
              <a:defRPr/>
            </a:pPr>
            <a:r>
              <a:rPr kumimoji="0" sz="1100" b="1" i="0" u="none" strike="noStrike" kern="1200" cap="none" spc="0" normalizeH="0" baseline="0" noProof="0" dirty="0">
                <a:ln>
                  <a:noFill/>
                </a:ln>
                <a:solidFill>
                  <a:srgbClr val="F0BE0F"/>
                </a:solidFill>
                <a:effectLst/>
                <a:uLnTx/>
                <a:uFillTx/>
                <a:latin typeface="Yekan Bakh FaNum" pitchFamily="2" charset="-78"/>
                <a:ea typeface="+mn-ea"/>
                <a:cs typeface="Yekan Bakh FaNum" pitchFamily="2" charset="-78"/>
              </a:rPr>
              <a:t>← </a:t>
            </a:r>
            <a:r>
              <a:rPr kumimoji="0" lang="fa-IR" sz="1100" b="1" i="0" u="none" strike="noStrike" kern="1200" cap="none" spc="0" normalizeH="0" baseline="0" noProof="0" dirty="0">
                <a:ln>
                  <a:noFill/>
                </a:ln>
                <a:solidFill>
                  <a:srgbClr val="F0BE0F"/>
                </a:solidFill>
                <a:effectLst/>
                <a:uLnTx/>
                <a:uFillTx/>
                <a:latin typeface="Yekan Bakh FaNum" pitchFamily="2" charset="-78"/>
                <a:ea typeface="+mn-ea"/>
                <a:cs typeface="Yekan Bakh FaNum" pitchFamily="2" charset="-78"/>
              </a:rPr>
              <a:t> </a:t>
            </a:r>
            <a:r>
              <a:rPr kumimoji="0" sz="1100" b="1" i="0" u="none" strike="noStrike" kern="1200" cap="none" spc="0" normalizeH="0" baseline="0" noProof="0" dirty="0" err="1">
                <a:ln>
                  <a:noFill/>
                </a:ln>
                <a:solidFill>
                  <a:prstClr val="black">
                    <a:lumMod val="50000"/>
                    <a:lumOff val="50000"/>
                  </a:prstClr>
                </a:solidFill>
                <a:effectLst/>
                <a:uLnTx/>
                <a:uFillTx/>
                <a:latin typeface="Yekan Bakh FaNum" pitchFamily="2" charset="-78"/>
                <a:ea typeface="+mn-ea"/>
                <a:cs typeface="Yekan Bakh FaNum" pitchFamily="2" charset="-78"/>
              </a:rPr>
              <a:t>نیاز</a:t>
            </a:r>
            <a:r>
              <a:rPr kumimoji="0" sz="1100" b="1" i="0" u="none" strike="noStrike" kern="1200" cap="none" spc="0" normalizeH="0" baseline="0" noProof="0" dirty="0">
                <a:ln>
                  <a:noFill/>
                </a:ln>
                <a:solidFill>
                  <a:prstClr val="black">
                    <a:lumMod val="50000"/>
                    <a:lumOff val="50000"/>
                  </a:prstClr>
                </a:solidFill>
                <a:effectLst/>
                <a:uLnTx/>
                <a:uFillTx/>
                <a:latin typeface="Yekan Bakh FaNum" pitchFamily="2" charset="-78"/>
                <a:ea typeface="+mn-ea"/>
                <a:cs typeface="Yekan Bakh FaNum" pitchFamily="2" charset="-78"/>
              </a:rPr>
              <a:t> </a:t>
            </a:r>
            <a:r>
              <a:rPr kumimoji="0" sz="1100" b="1" i="0" u="none" strike="noStrike" kern="1200" cap="none" spc="0" normalizeH="0" baseline="0" noProof="0" dirty="0" err="1">
                <a:ln>
                  <a:noFill/>
                </a:ln>
                <a:solidFill>
                  <a:prstClr val="black">
                    <a:lumMod val="50000"/>
                    <a:lumOff val="50000"/>
                  </a:prstClr>
                </a:solidFill>
                <a:effectLst/>
                <a:uLnTx/>
                <a:uFillTx/>
                <a:latin typeface="Yekan Bakh FaNum" pitchFamily="2" charset="-78"/>
                <a:ea typeface="+mn-ea"/>
                <a:cs typeface="Yekan Bakh FaNum" pitchFamily="2" charset="-78"/>
              </a:rPr>
              <a:t>به</a:t>
            </a:r>
            <a:r>
              <a:rPr kumimoji="0" sz="1100" b="1" i="0" u="none" strike="noStrike" kern="1200" cap="none" spc="0" normalizeH="0" baseline="0" noProof="0" dirty="0">
                <a:ln>
                  <a:noFill/>
                </a:ln>
                <a:solidFill>
                  <a:prstClr val="black">
                    <a:lumMod val="50000"/>
                    <a:lumOff val="50000"/>
                  </a:prstClr>
                </a:solidFill>
                <a:effectLst/>
                <a:uLnTx/>
                <a:uFillTx/>
                <a:latin typeface="Yekan Bakh FaNum" pitchFamily="2" charset="-78"/>
                <a:ea typeface="+mn-ea"/>
                <a:cs typeface="Yekan Bakh FaNum" pitchFamily="2" charset="-78"/>
              </a:rPr>
              <a:t> </a:t>
            </a:r>
            <a:r>
              <a:rPr kumimoji="0" sz="1100" b="1" i="0" u="none" strike="noStrike" kern="1200" cap="none" spc="0" normalizeH="0" baseline="0" noProof="0" dirty="0" err="1">
                <a:ln>
                  <a:noFill/>
                </a:ln>
                <a:solidFill>
                  <a:prstClr val="black">
                    <a:lumMod val="50000"/>
                    <a:lumOff val="50000"/>
                  </a:prstClr>
                </a:solidFill>
                <a:effectLst/>
                <a:uLnTx/>
                <a:uFillTx/>
                <a:latin typeface="Yekan Bakh FaNum" pitchFamily="2" charset="-78"/>
                <a:ea typeface="+mn-ea"/>
                <a:cs typeface="Yekan Bakh FaNum" pitchFamily="2" charset="-78"/>
              </a:rPr>
              <a:t>آرکی‌تایپ</a:t>
            </a:r>
            <a:r>
              <a:rPr kumimoji="0" sz="1100" b="1" i="0" u="none" strike="noStrike" kern="1200" cap="none" spc="0" normalizeH="0" baseline="0" noProof="0" dirty="0">
                <a:ln>
                  <a:noFill/>
                </a:ln>
                <a:solidFill>
                  <a:prstClr val="black">
                    <a:lumMod val="50000"/>
                    <a:lumOff val="50000"/>
                  </a:prstClr>
                </a:solidFill>
                <a:effectLst/>
                <a:uLnTx/>
                <a:uFillTx/>
                <a:latin typeface="Yekan Bakh FaNum" pitchFamily="2" charset="-78"/>
                <a:ea typeface="+mn-ea"/>
                <a:cs typeface="Yekan Bakh FaNum" pitchFamily="2" charset="-78"/>
              </a:rPr>
              <a:t> </a:t>
            </a:r>
            <a:r>
              <a:rPr kumimoji="0" sz="1100" b="1" i="0" u="none" strike="noStrike" kern="1200" cap="none" spc="0" normalizeH="0" baseline="0" noProof="0" dirty="0" err="1">
                <a:ln>
                  <a:noFill/>
                </a:ln>
                <a:solidFill>
                  <a:prstClr val="black">
                    <a:lumMod val="50000"/>
                    <a:lumOff val="50000"/>
                  </a:prstClr>
                </a:solidFill>
                <a:effectLst/>
                <a:uLnTx/>
                <a:uFillTx/>
                <a:latin typeface="Yekan Bakh FaNum" pitchFamily="2" charset="-78"/>
                <a:ea typeface="+mn-ea"/>
                <a:cs typeface="Yekan Bakh FaNum" pitchFamily="2" charset="-78"/>
              </a:rPr>
              <a:t>اختصاصی</a:t>
            </a:r>
            <a:r>
              <a:rPr kumimoji="0" sz="1100" b="1" i="0" u="none" strike="noStrike" kern="1200" cap="none" spc="0" normalizeH="0" baseline="0" noProof="0" dirty="0">
                <a:ln>
                  <a:noFill/>
                </a:ln>
                <a:solidFill>
                  <a:prstClr val="black">
                    <a:lumMod val="50000"/>
                    <a:lumOff val="50000"/>
                  </a:prstClr>
                </a:solidFill>
                <a:effectLst/>
                <a:uLnTx/>
                <a:uFillTx/>
                <a:latin typeface="Yekan Bakh FaNum" pitchFamily="2" charset="-78"/>
                <a:ea typeface="+mn-ea"/>
                <a:cs typeface="Yekan Bakh FaNum" pitchFamily="2" charset="-78"/>
              </a:rPr>
              <a:t> «</a:t>
            </a:r>
            <a:r>
              <a:rPr kumimoji="0" sz="1100" b="1" i="0" u="none" strike="noStrike" kern="1200" cap="none" spc="0" normalizeH="0" baseline="0" noProof="0" dirty="0" err="1">
                <a:ln>
                  <a:noFill/>
                </a:ln>
                <a:solidFill>
                  <a:prstClr val="black">
                    <a:lumMod val="50000"/>
                    <a:lumOff val="50000"/>
                  </a:prstClr>
                </a:solidFill>
                <a:effectLst/>
                <a:uLnTx/>
                <a:uFillTx/>
                <a:latin typeface="Yekan Bakh FaNum" pitchFamily="2" charset="-78"/>
                <a:ea typeface="+mn-ea"/>
                <a:cs typeface="Yekan Bakh FaNum" pitchFamily="2" charset="-78"/>
              </a:rPr>
              <a:t>اکوسیستم</a:t>
            </a:r>
            <a:r>
              <a:rPr kumimoji="0" sz="1100" b="1" i="0" u="none" strike="noStrike" kern="1200" cap="none" spc="0" normalizeH="0" baseline="0" noProof="0" dirty="0">
                <a:ln>
                  <a:noFill/>
                </a:ln>
                <a:solidFill>
                  <a:prstClr val="black">
                    <a:lumMod val="50000"/>
                    <a:lumOff val="50000"/>
                  </a:prstClr>
                </a:solidFill>
                <a:effectLst/>
                <a:uLnTx/>
                <a:uFillTx/>
                <a:latin typeface="Yekan Bakh FaNum" pitchFamily="2" charset="-78"/>
                <a:ea typeface="+mn-ea"/>
                <a:cs typeface="Yekan Bakh FaNum" pitchFamily="2" charset="-78"/>
              </a:rPr>
              <a:t>/</a:t>
            </a:r>
            <a:r>
              <a:rPr kumimoji="0" sz="1100" b="1" i="0" u="none" strike="noStrike" kern="1200" cap="none" spc="0" normalizeH="0" baseline="0" noProof="0" dirty="0" err="1">
                <a:ln>
                  <a:noFill/>
                </a:ln>
                <a:solidFill>
                  <a:prstClr val="black">
                    <a:lumMod val="50000"/>
                    <a:lumOff val="50000"/>
                  </a:prstClr>
                </a:solidFill>
                <a:effectLst/>
                <a:uLnTx/>
                <a:uFillTx/>
                <a:latin typeface="Yekan Bakh FaNum" pitchFamily="2" charset="-78"/>
                <a:ea typeface="+mn-ea"/>
                <a:cs typeface="Yekan Bakh FaNum" pitchFamily="2" charset="-78"/>
              </a:rPr>
              <a:t>پلتفرم</a:t>
            </a:r>
            <a:r>
              <a:rPr kumimoji="0" sz="1100" b="1" i="0" u="none" strike="noStrike" kern="1200" cap="none" spc="0" normalizeH="0" baseline="0" noProof="0" dirty="0">
                <a:ln>
                  <a:noFill/>
                </a:ln>
                <a:solidFill>
                  <a:prstClr val="black">
                    <a:lumMod val="50000"/>
                    <a:lumOff val="50000"/>
                  </a:prstClr>
                </a:solidFill>
                <a:effectLst/>
                <a:uLnTx/>
                <a:uFillTx/>
                <a:latin typeface="Yekan Bakh FaNum" pitchFamily="2" charset="-78"/>
                <a:ea typeface="+mn-ea"/>
                <a:cs typeface="Yekan Bakh FaNum" pitchFamily="2" charset="-78"/>
              </a:rPr>
              <a:t>» </a:t>
            </a:r>
            <a:r>
              <a:rPr kumimoji="0" sz="1100" b="1" i="0" u="none" strike="noStrike" kern="1200" cap="none" spc="0" normalizeH="0" baseline="0" noProof="0" dirty="0" err="1">
                <a:ln>
                  <a:noFill/>
                </a:ln>
                <a:solidFill>
                  <a:prstClr val="black">
                    <a:lumMod val="50000"/>
                    <a:lumOff val="50000"/>
                  </a:prstClr>
                </a:solidFill>
                <a:effectLst/>
                <a:uLnTx/>
                <a:uFillTx/>
                <a:latin typeface="Yekan Bakh FaNum" pitchFamily="2" charset="-78"/>
                <a:ea typeface="+mn-ea"/>
                <a:cs typeface="Yekan Bakh FaNum" pitchFamily="2" charset="-78"/>
              </a:rPr>
              <a:t>که</a:t>
            </a:r>
            <a:r>
              <a:rPr kumimoji="0" sz="1100" b="1" i="0" u="none" strike="noStrike" kern="1200" cap="none" spc="0" normalizeH="0" baseline="0" noProof="0" dirty="0">
                <a:ln>
                  <a:noFill/>
                </a:ln>
                <a:solidFill>
                  <a:prstClr val="black">
                    <a:lumMod val="50000"/>
                    <a:lumOff val="50000"/>
                  </a:prstClr>
                </a:solidFill>
                <a:effectLst/>
                <a:uLnTx/>
                <a:uFillTx/>
                <a:latin typeface="Yekan Bakh FaNum" pitchFamily="2" charset="-78"/>
                <a:ea typeface="+mn-ea"/>
                <a:cs typeface="Yekan Bakh FaNum" pitchFamily="2" charset="-78"/>
              </a:rPr>
              <a:t> </a:t>
            </a:r>
            <a:r>
              <a:rPr kumimoji="0" sz="1100" b="1" i="0" u="none" strike="noStrike" kern="1200" cap="none" spc="0" normalizeH="0" baseline="0" noProof="0" dirty="0" err="1">
                <a:ln>
                  <a:noFill/>
                </a:ln>
                <a:solidFill>
                  <a:prstClr val="black">
                    <a:lumMod val="50000"/>
                    <a:lumOff val="50000"/>
                  </a:prstClr>
                </a:solidFill>
                <a:effectLst/>
                <a:uLnTx/>
                <a:uFillTx/>
                <a:latin typeface="Yekan Bakh FaNum" pitchFamily="2" charset="-78"/>
                <a:ea typeface="+mn-ea"/>
                <a:cs typeface="Yekan Bakh FaNum" pitchFamily="2" charset="-78"/>
              </a:rPr>
              <a:t>در</a:t>
            </a:r>
            <a:r>
              <a:rPr kumimoji="0" sz="1100" b="1" i="0" u="none" strike="noStrike" kern="1200" cap="none" spc="0" normalizeH="0" baseline="0" noProof="0" dirty="0">
                <a:ln>
                  <a:noFill/>
                </a:ln>
                <a:solidFill>
                  <a:prstClr val="black">
                    <a:lumMod val="50000"/>
                    <a:lumOff val="50000"/>
                  </a:prstClr>
                </a:solidFill>
                <a:effectLst/>
                <a:uLnTx/>
                <a:uFillTx/>
                <a:latin typeface="Yekan Bakh FaNum" pitchFamily="2" charset="-78"/>
                <a:ea typeface="+mn-ea"/>
                <a:cs typeface="Yekan Bakh FaNum" pitchFamily="2" charset="-78"/>
              </a:rPr>
              <a:t> </a:t>
            </a:r>
            <a:r>
              <a:rPr kumimoji="0" sz="1100" b="1" i="0" u="none" strike="noStrike" kern="1200" cap="none" spc="0" normalizeH="0" baseline="0" noProof="0" dirty="0" err="1">
                <a:ln>
                  <a:noFill/>
                </a:ln>
                <a:solidFill>
                  <a:prstClr val="black">
                    <a:lumMod val="50000"/>
                    <a:lumOff val="50000"/>
                  </a:prstClr>
                </a:solidFill>
                <a:effectLst/>
                <a:uLnTx/>
                <a:uFillTx/>
                <a:latin typeface="Yekan Bakh FaNum" pitchFamily="2" charset="-78"/>
                <a:ea typeface="+mn-ea"/>
                <a:cs typeface="Yekan Bakh FaNum" pitchFamily="2" charset="-78"/>
              </a:rPr>
              <a:t>مدل‌های</a:t>
            </a:r>
            <a:r>
              <a:rPr kumimoji="0" sz="1100" b="1" i="0" u="none" strike="noStrike" kern="1200" cap="none" spc="0" normalizeH="0" baseline="0" noProof="0" dirty="0">
                <a:ln>
                  <a:noFill/>
                </a:ln>
                <a:solidFill>
                  <a:prstClr val="black">
                    <a:lumMod val="50000"/>
                    <a:lumOff val="50000"/>
                  </a:prstClr>
                </a:solidFill>
                <a:effectLst/>
                <a:uLnTx/>
                <a:uFillTx/>
                <a:latin typeface="Yekan Bakh FaNum" pitchFamily="2" charset="-78"/>
                <a:ea typeface="+mn-ea"/>
                <a:cs typeface="Yekan Bakh FaNum" pitchFamily="2" charset="-78"/>
              </a:rPr>
              <a:t> </a:t>
            </a:r>
            <a:r>
              <a:rPr kumimoji="0" sz="1100" b="1" i="0" u="none" strike="noStrike" kern="1200" cap="none" spc="0" normalizeH="0" baseline="0" noProof="0" dirty="0" err="1">
                <a:ln>
                  <a:noFill/>
                </a:ln>
                <a:solidFill>
                  <a:prstClr val="black">
                    <a:lumMod val="50000"/>
                    <a:lumOff val="50000"/>
                  </a:prstClr>
                </a:solidFill>
                <a:effectLst/>
                <a:uLnTx/>
                <a:uFillTx/>
                <a:latin typeface="Yekan Bakh FaNum" pitchFamily="2" charset="-78"/>
                <a:ea typeface="+mn-ea"/>
                <a:cs typeface="Yekan Bakh FaNum" pitchFamily="2" charset="-78"/>
              </a:rPr>
              <a:t>سنتی</a:t>
            </a:r>
            <a:r>
              <a:rPr kumimoji="0" sz="1100" b="1" i="0" u="none" strike="noStrike" kern="1200" cap="none" spc="0" normalizeH="0" baseline="0" noProof="0" dirty="0">
                <a:ln>
                  <a:noFill/>
                </a:ln>
                <a:solidFill>
                  <a:prstClr val="black">
                    <a:lumMod val="50000"/>
                    <a:lumOff val="50000"/>
                  </a:prstClr>
                </a:solidFill>
                <a:effectLst/>
                <a:uLnTx/>
                <a:uFillTx/>
                <a:latin typeface="Yekan Bakh FaNum" pitchFamily="2" charset="-78"/>
                <a:ea typeface="+mn-ea"/>
                <a:cs typeface="Yekan Bakh FaNum" pitchFamily="2" charset="-78"/>
              </a:rPr>
              <a:t> CRM </a:t>
            </a:r>
            <a:r>
              <a:rPr kumimoji="0" sz="1100" b="1" i="0" u="none" strike="noStrike" kern="1200" cap="none" spc="0" normalizeH="0" baseline="0" noProof="0" dirty="0" err="1">
                <a:ln>
                  <a:noFill/>
                </a:ln>
                <a:solidFill>
                  <a:prstClr val="black">
                    <a:lumMod val="50000"/>
                    <a:lumOff val="50000"/>
                  </a:prstClr>
                </a:solidFill>
                <a:effectLst/>
                <a:uLnTx/>
                <a:uFillTx/>
                <a:latin typeface="Yekan Bakh FaNum" pitchFamily="2" charset="-78"/>
                <a:ea typeface="+mn-ea"/>
                <a:cs typeface="Yekan Bakh FaNum" pitchFamily="2" charset="-78"/>
              </a:rPr>
              <a:t>اصلاً</a:t>
            </a:r>
            <a:r>
              <a:rPr kumimoji="0" sz="1100" b="1" i="0" u="none" strike="noStrike" kern="1200" cap="none" spc="0" normalizeH="0" baseline="0" noProof="0" dirty="0">
                <a:ln>
                  <a:noFill/>
                </a:ln>
                <a:solidFill>
                  <a:prstClr val="black">
                    <a:lumMod val="50000"/>
                    <a:lumOff val="50000"/>
                  </a:prstClr>
                </a:solidFill>
                <a:effectLst/>
                <a:uLnTx/>
                <a:uFillTx/>
                <a:latin typeface="Yekan Bakh FaNum" pitchFamily="2" charset="-78"/>
                <a:ea typeface="+mn-ea"/>
                <a:cs typeface="Yekan Bakh FaNum" pitchFamily="2" charset="-78"/>
              </a:rPr>
              <a:t> </a:t>
            </a:r>
            <a:r>
              <a:rPr kumimoji="0" sz="1100" b="1" i="0" u="none" strike="noStrike" kern="1200" cap="none" spc="0" normalizeH="0" baseline="0" noProof="0" dirty="0" err="1">
                <a:ln>
                  <a:noFill/>
                </a:ln>
                <a:solidFill>
                  <a:prstClr val="black">
                    <a:lumMod val="50000"/>
                    <a:lumOff val="50000"/>
                  </a:prstClr>
                </a:solidFill>
                <a:effectLst/>
                <a:uLnTx/>
                <a:uFillTx/>
                <a:latin typeface="Yekan Bakh FaNum" pitchFamily="2" charset="-78"/>
                <a:ea typeface="+mn-ea"/>
                <a:cs typeface="Yekan Bakh FaNum" pitchFamily="2" charset="-78"/>
              </a:rPr>
              <a:t>تعریف</a:t>
            </a:r>
            <a:r>
              <a:rPr kumimoji="0" sz="1100" b="1" i="0" u="none" strike="noStrike" kern="1200" cap="none" spc="0" normalizeH="0" baseline="0" noProof="0" dirty="0">
                <a:ln>
                  <a:noFill/>
                </a:ln>
                <a:solidFill>
                  <a:prstClr val="black">
                    <a:lumMod val="50000"/>
                    <a:lumOff val="50000"/>
                  </a:prstClr>
                </a:solidFill>
                <a:effectLst/>
                <a:uLnTx/>
                <a:uFillTx/>
                <a:latin typeface="Yekan Bakh FaNum" pitchFamily="2" charset="-78"/>
                <a:ea typeface="+mn-ea"/>
                <a:cs typeface="Yekan Bakh FaNum" pitchFamily="2" charset="-78"/>
              </a:rPr>
              <a:t> </a:t>
            </a:r>
            <a:r>
              <a:rPr kumimoji="0" sz="1100" b="1" i="0" u="none" strike="noStrike" kern="1200" cap="none" spc="0" normalizeH="0" baseline="0" noProof="0" dirty="0" err="1">
                <a:ln>
                  <a:noFill/>
                </a:ln>
                <a:solidFill>
                  <a:prstClr val="black">
                    <a:lumMod val="50000"/>
                    <a:lumOff val="50000"/>
                  </a:prstClr>
                </a:solidFill>
                <a:effectLst/>
                <a:uLnTx/>
                <a:uFillTx/>
                <a:latin typeface="Yekan Bakh FaNum" pitchFamily="2" charset="-78"/>
                <a:ea typeface="+mn-ea"/>
                <a:cs typeface="Yekan Bakh FaNum" pitchFamily="2" charset="-78"/>
              </a:rPr>
              <a:t>نشده</a:t>
            </a:r>
            <a:r>
              <a:rPr kumimoji="0" sz="1100" b="1" i="0" u="none" strike="noStrike" kern="1200" cap="none" spc="0" normalizeH="0" baseline="0" noProof="0" dirty="0">
                <a:ln>
                  <a:noFill/>
                </a:ln>
                <a:solidFill>
                  <a:prstClr val="black">
                    <a:lumMod val="50000"/>
                    <a:lumOff val="50000"/>
                  </a:prstClr>
                </a:solidFill>
                <a:effectLst/>
                <a:uLnTx/>
                <a:uFillTx/>
                <a:latin typeface="Yekan Bakh FaNum" pitchFamily="2" charset="-78"/>
                <a:ea typeface="+mn-ea"/>
                <a:cs typeface="Yekan Bakh FaNum" pitchFamily="2" charset="-78"/>
              </a:rPr>
              <a:t>.</a:t>
            </a:r>
          </a:p>
        </p:txBody>
      </p:sp>
      <p:sp>
        <p:nvSpPr>
          <p:cNvPr id="18" name="Rectangle: Rounded Corners 17">
            <a:extLst>
              <a:ext uri="{FF2B5EF4-FFF2-40B4-BE49-F238E27FC236}">
                <a16:creationId xmlns:a16="http://schemas.microsoft.com/office/drawing/2014/main" id="{3C1C5F83-BC18-9DFD-A1A2-ECB74989F596}"/>
              </a:ext>
            </a:extLst>
          </p:cNvPr>
          <p:cNvSpPr/>
          <p:nvPr/>
        </p:nvSpPr>
        <p:spPr>
          <a:xfrm>
            <a:off x="555629" y="1511566"/>
            <a:ext cx="5302810" cy="1898371"/>
          </a:xfrm>
          <a:prstGeom prst="roundRect">
            <a:avLst>
              <a:gd name="adj" fmla="val 5672"/>
            </a:avLst>
          </a:prstGeom>
          <a:solidFill>
            <a:schemeClr val="bg1">
              <a:lumMod val="95000"/>
              <a:alpha val="5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9" name="TextBox 18">
            <a:extLst>
              <a:ext uri="{FF2B5EF4-FFF2-40B4-BE49-F238E27FC236}">
                <a16:creationId xmlns:a16="http://schemas.microsoft.com/office/drawing/2014/main" id="{08C0BA1B-B810-F918-872D-87E25608CE1D}"/>
              </a:ext>
            </a:extLst>
          </p:cNvPr>
          <p:cNvSpPr txBox="1"/>
          <p:nvPr/>
        </p:nvSpPr>
        <p:spPr>
          <a:xfrm>
            <a:off x="5359406" y="1500545"/>
            <a:ext cx="457200" cy="615553"/>
          </a:xfrm>
          <a:prstGeom prst="rect">
            <a:avLst/>
          </a:prstGeom>
          <a:noFill/>
        </p:spPr>
        <p:txBody>
          <a:bodyPr wrap="square" lIns="0" tIns="0" rIns="0" bIns="0" anchor="t">
            <a:spAutoFit/>
          </a:bodyPr>
          <a:lstStyle/>
          <a:p>
            <a:pPr marL="0" marR="0" lvl="0" indent="0" algn="l" defTabSz="457200" rtl="0" eaLnBrk="1" fontAlgn="auto" latinLnBrk="0" hangingPunct="1">
              <a:lnSpc>
                <a:spcPct val="125000"/>
              </a:lnSpc>
              <a:spcBef>
                <a:spcPts val="0"/>
              </a:spcBef>
              <a:spcAft>
                <a:spcPts val="0"/>
              </a:spcAft>
              <a:buClrTx/>
              <a:buSzTx/>
              <a:buFontTx/>
              <a:buNone/>
              <a:tabLst/>
              <a:defRPr/>
            </a:pPr>
            <a:r>
              <a:rPr kumimoji="0" lang="fa-IR" sz="3200" b="1" i="0" u="none" strike="noStrike" kern="1200" cap="none" spc="0" normalizeH="0" baseline="0" noProof="0" dirty="0">
                <a:ln>
                  <a:noFill/>
                </a:ln>
                <a:solidFill>
                  <a:srgbClr val="F0BE0F"/>
                </a:solidFill>
                <a:effectLst/>
                <a:uLnTx/>
                <a:uFillTx/>
                <a:latin typeface="Yekan Bakh FaNum" pitchFamily="2" charset="-78"/>
                <a:ea typeface="+mn-ea"/>
                <a:cs typeface="Yekan Bakh FaNum" pitchFamily="2" charset="-78"/>
              </a:rPr>
              <a:t>۲.</a:t>
            </a:r>
            <a:endParaRPr kumimoji="0" sz="3200" b="1" i="0" u="none" strike="noStrike" kern="1200" cap="none" spc="0" normalizeH="0" baseline="0" noProof="0" dirty="0">
              <a:ln>
                <a:noFill/>
              </a:ln>
              <a:solidFill>
                <a:srgbClr val="F0BE0F"/>
              </a:solidFill>
              <a:effectLst/>
              <a:uLnTx/>
              <a:uFillTx/>
              <a:latin typeface="Yekan Bakh FaNum" pitchFamily="2" charset="-78"/>
              <a:ea typeface="+mn-ea"/>
              <a:cs typeface="Yekan Bakh FaNum" pitchFamily="2" charset="-78"/>
            </a:endParaRPr>
          </a:p>
        </p:txBody>
      </p:sp>
      <p:sp>
        <p:nvSpPr>
          <p:cNvPr id="20" name="TextBox 19">
            <a:extLst>
              <a:ext uri="{FF2B5EF4-FFF2-40B4-BE49-F238E27FC236}">
                <a16:creationId xmlns:a16="http://schemas.microsoft.com/office/drawing/2014/main" id="{86D6B011-C655-37C8-45EF-86E2E2101B6D}"/>
              </a:ext>
            </a:extLst>
          </p:cNvPr>
          <p:cNvSpPr txBox="1"/>
          <p:nvPr/>
        </p:nvSpPr>
        <p:spPr>
          <a:xfrm>
            <a:off x="680969" y="1757659"/>
            <a:ext cx="4610996" cy="253916"/>
          </a:xfrm>
          <a:prstGeom prst="rect">
            <a:avLst/>
          </a:prstGeom>
          <a:noFill/>
        </p:spPr>
        <p:txBody>
          <a:bodyPr wrap="square" lIns="0" tIns="0" rIns="0" bIns="0" anchor="t">
            <a:spAutoFit/>
          </a:bodyPr>
          <a:lstStyle/>
          <a:p>
            <a:pPr marL="0" marR="0" lvl="0" indent="0" algn="r" defTabSz="457200" rtl="1" eaLnBrk="1" fontAlgn="auto" latinLnBrk="0" hangingPunct="1">
              <a:lnSpc>
                <a:spcPct val="110000"/>
              </a:lnSpc>
              <a:spcBef>
                <a:spcPts val="0"/>
              </a:spcBef>
              <a:spcAft>
                <a:spcPts val="0"/>
              </a:spcAft>
              <a:buClrTx/>
              <a:buSzTx/>
              <a:buFontTx/>
              <a:buNone/>
              <a:tabLst/>
              <a:defRPr/>
            </a:pPr>
            <a:r>
              <a:rPr kumimoji="0" lang="fa-IR" sz="1500" b="1" i="0" u="none" strike="noStrike" kern="1200" cap="none" spc="0" normalizeH="0" baseline="0" noProof="0" dirty="0">
                <a:ln>
                  <a:noFill/>
                </a:ln>
                <a:solidFill>
                  <a:srgbClr val="00406C"/>
                </a:solidFill>
                <a:effectLst/>
                <a:uLnTx/>
                <a:uFillTx/>
                <a:latin typeface="Yekan Bakh FaNum" pitchFamily="2" charset="-78"/>
                <a:ea typeface="+mn-ea"/>
                <a:cs typeface="Yekan Bakh FaNum" pitchFamily="2" charset="-78"/>
              </a:rPr>
              <a:t>ماهیت </a:t>
            </a:r>
            <a:r>
              <a:rPr kumimoji="0" lang="en-US" sz="1500" b="1" i="0" u="none" strike="noStrike" kern="1200" cap="none" spc="0" normalizeH="0" baseline="0" noProof="0" dirty="0">
                <a:ln>
                  <a:noFill/>
                </a:ln>
                <a:solidFill>
                  <a:srgbClr val="00406C"/>
                </a:solidFill>
                <a:effectLst/>
                <a:uLnTx/>
                <a:uFillTx/>
                <a:latin typeface="Yekan Bakh FaNum" pitchFamily="2" charset="-78"/>
                <a:ea typeface="+mn-ea"/>
                <a:cs typeface="Yekan Bakh FaNum" pitchFamily="2" charset="-78"/>
              </a:rPr>
              <a:t>B2B</a:t>
            </a:r>
            <a:r>
              <a:rPr kumimoji="0" lang="fa-IR" sz="1500" b="1" i="0" u="none" strike="noStrike" kern="1200" cap="none" spc="0" normalizeH="0" baseline="0" noProof="0" dirty="0">
                <a:ln>
                  <a:noFill/>
                </a:ln>
                <a:solidFill>
                  <a:srgbClr val="00406C"/>
                </a:solidFill>
                <a:effectLst/>
                <a:uLnTx/>
                <a:uFillTx/>
                <a:latin typeface="Yekan Bakh FaNum" pitchFamily="2" charset="-78"/>
                <a:ea typeface="+mn-ea"/>
                <a:cs typeface="Yekan Bakh FaNum" pitchFamily="2" charset="-78"/>
              </a:rPr>
              <a:t> و تصمیم‌گیری سازمانی</a:t>
            </a:r>
          </a:p>
        </p:txBody>
      </p:sp>
      <p:sp>
        <p:nvSpPr>
          <p:cNvPr id="21" name="TextBox 20">
            <a:extLst>
              <a:ext uri="{FF2B5EF4-FFF2-40B4-BE49-F238E27FC236}">
                <a16:creationId xmlns:a16="http://schemas.microsoft.com/office/drawing/2014/main" id="{5D501493-3269-4300-15D5-9FA294A4FC63}"/>
              </a:ext>
            </a:extLst>
          </p:cNvPr>
          <p:cNvSpPr txBox="1"/>
          <p:nvPr/>
        </p:nvSpPr>
        <p:spPr>
          <a:xfrm>
            <a:off x="760408" y="2208032"/>
            <a:ext cx="4888839" cy="406265"/>
          </a:xfrm>
          <a:prstGeom prst="rect">
            <a:avLst/>
          </a:prstGeom>
          <a:noFill/>
        </p:spPr>
        <p:txBody>
          <a:bodyPr wrap="square" lIns="0" tIns="0" rIns="0" bIns="0" anchor="t">
            <a:spAutoFit/>
          </a:bodyPr>
          <a:lstStyle/>
          <a:p>
            <a:pPr marL="0" marR="0" lvl="0" indent="0" algn="justLow" defTabSz="457200" rtl="1" eaLnBrk="1" fontAlgn="auto" latinLnBrk="0" hangingPunct="1">
              <a:lnSpc>
                <a:spcPct val="120000"/>
              </a:lnSpc>
              <a:spcBef>
                <a:spcPts val="0"/>
              </a:spcBef>
              <a:spcAft>
                <a:spcPts val="0"/>
              </a:spcAft>
              <a:buClrTx/>
              <a:buSzTx/>
              <a:buFontTx/>
              <a:buNone/>
              <a:tabLst/>
              <a:defRPr/>
            </a:pPr>
            <a:r>
              <a:rPr kumimoji="0" lang="fa-IR" sz="1100" b="0" i="0" u="none" strike="noStrike" kern="1200" cap="none" spc="0" normalizeH="0" baseline="0" noProof="0" dirty="0">
                <a:ln>
                  <a:noFill/>
                </a:ln>
                <a:solidFill>
                  <a:prstClr val="black">
                    <a:lumMod val="65000"/>
                    <a:lumOff val="35000"/>
                  </a:prstClr>
                </a:solidFill>
                <a:effectLst/>
                <a:uLnTx/>
                <a:uFillTx/>
                <a:latin typeface="Yekan Bakh FaNum" pitchFamily="2" charset="-78"/>
                <a:ea typeface="+mn-ea"/>
                <a:cs typeface="Yekan Bakh FaNum" pitchFamily="2" charset="-78"/>
              </a:rPr>
              <a:t>اکثر تصمیم‌های مشتریان «اکوسیستم فرصت ایران»(شرکت‌ها، سرمایه‌گذاران نهادی) چندنفره و فرآیندمحورند، نه فردی و آنی.</a:t>
            </a:r>
          </a:p>
        </p:txBody>
      </p:sp>
      <p:sp>
        <p:nvSpPr>
          <p:cNvPr id="22" name="TextBox 21">
            <a:extLst>
              <a:ext uri="{FF2B5EF4-FFF2-40B4-BE49-F238E27FC236}">
                <a16:creationId xmlns:a16="http://schemas.microsoft.com/office/drawing/2014/main" id="{24B79A84-833D-5F77-477A-AAAFC43A655F}"/>
              </a:ext>
            </a:extLst>
          </p:cNvPr>
          <p:cNvSpPr txBox="1"/>
          <p:nvPr/>
        </p:nvSpPr>
        <p:spPr>
          <a:xfrm>
            <a:off x="760408" y="2788913"/>
            <a:ext cx="4888839" cy="389337"/>
          </a:xfrm>
          <a:prstGeom prst="rect">
            <a:avLst/>
          </a:prstGeom>
          <a:noFill/>
        </p:spPr>
        <p:txBody>
          <a:bodyPr wrap="square" lIns="0" tIns="0" rIns="0" bIns="0" anchor="t">
            <a:spAutoFit/>
          </a:bodyPr>
          <a:lstStyle/>
          <a:p>
            <a:pPr marL="0" marR="0" lvl="0" indent="0" algn="justLow" defTabSz="457200" rtl="1" eaLnBrk="1" fontAlgn="auto" latinLnBrk="0" hangingPunct="1">
              <a:lnSpc>
                <a:spcPct val="115000"/>
              </a:lnSpc>
              <a:spcBef>
                <a:spcPts val="0"/>
              </a:spcBef>
              <a:spcAft>
                <a:spcPts val="0"/>
              </a:spcAft>
              <a:buClrTx/>
              <a:buSzTx/>
              <a:buFontTx/>
              <a:buNone/>
              <a:tabLst/>
              <a:defRPr/>
            </a:pPr>
            <a:r>
              <a:rPr kumimoji="0" sz="1100" b="1" i="0" u="none" strike="noStrike" kern="1200" cap="none" spc="0" normalizeH="0" baseline="0" noProof="0" dirty="0">
                <a:ln>
                  <a:noFill/>
                </a:ln>
                <a:solidFill>
                  <a:srgbClr val="F0BE0F"/>
                </a:solidFill>
                <a:effectLst/>
                <a:uLnTx/>
                <a:uFillTx/>
                <a:latin typeface="Yekan Bakh FaNum" pitchFamily="2" charset="-78"/>
                <a:ea typeface="+mn-ea"/>
                <a:cs typeface="Yekan Bakh FaNum" pitchFamily="2" charset="-78"/>
              </a:rPr>
              <a:t>← </a:t>
            </a:r>
            <a:r>
              <a:rPr kumimoji="0" lang="fa-IR" sz="1100" b="1" i="0" u="none" strike="noStrike" kern="1200" cap="none" spc="0" normalizeH="0" baseline="0" noProof="0" dirty="0">
                <a:ln>
                  <a:noFill/>
                </a:ln>
                <a:solidFill>
                  <a:srgbClr val="F0BE0F"/>
                </a:solidFill>
                <a:effectLst/>
                <a:uLnTx/>
                <a:uFillTx/>
                <a:latin typeface="Yekan Bakh FaNum" pitchFamily="2" charset="-78"/>
                <a:ea typeface="+mn-ea"/>
                <a:cs typeface="Yekan Bakh FaNum" pitchFamily="2" charset="-78"/>
              </a:rPr>
              <a:t> </a:t>
            </a:r>
            <a:r>
              <a:rPr kumimoji="0" lang="fa-IR" sz="1100" b="1" i="0" u="none" strike="noStrike" kern="1200" cap="none" spc="0" normalizeH="0" baseline="0" noProof="0" dirty="0">
                <a:ln>
                  <a:noFill/>
                </a:ln>
                <a:solidFill>
                  <a:prstClr val="black">
                    <a:lumMod val="50000"/>
                    <a:lumOff val="50000"/>
                  </a:prstClr>
                </a:solidFill>
                <a:effectLst/>
                <a:uLnTx/>
                <a:uFillTx/>
                <a:latin typeface="Yekan Bakh FaNum" pitchFamily="2" charset="-78"/>
                <a:ea typeface="+mn-ea"/>
                <a:cs typeface="Yekan Bakh FaNum" pitchFamily="2" charset="-78"/>
              </a:rPr>
              <a:t>آرکی‌تایپ‌های مشاوره‌ای، مدیریت‌شده و شراکت راهبردی، که رابطه بلندمدت و اعتمادمحور را نمایندگی می‌کنند، باید در طیف باشند.</a:t>
            </a:r>
            <a:endParaRPr kumimoji="0" sz="1100" b="1" i="0" u="none" strike="noStrike" kern="1200" cap="none" spc="0" normalizeH="0" baseline="0" noProof="0" dirty="0">
              <a:ln>
                <a:noFill/>
              </a:ln>
              <a:solidFill>
                <a:prstClr val="black">
                  <a:lumMod val="50000"/>
                  <a:lumOff val="50000"/>
                </a:prstClr>
              </a:solidFill>
              <a:effectLst/>
              <a:uLnTx/>
              <a:uFillTx/>
              <a:latin typeface="Yekan Bakh FaNum" pitchFamily="2" charset="-78"/>
              <a:ea typeface="+mn-ea"/>
              <a:cs typeface="Yekan Bakh FaNum" pitchFamily="2" charset="-78"/>
            </a:endParaRPr>
          </a:p>
        </p:txBody>
      </p:sp>
      <p:sp>
        <p:nvSpPr>
          <p:cNvPr id="24" name="Rectangle: Rounded Corners 23">
            <a:extLst>
              <a:ext uri="{FF2B5EF4-FFF2-40B4-BE49-F238E27FC236}">
                <a16:creationId xmlns:a16="http://schemas.microsoft.com/office/drawing/2014/main" id="{0CF50C8C-6649-CB6C-DB45-D898A8AEE6DA}"/>
              </a:ext>
            </a:extLst>
          </p:cNvPr>
          <p:cNvSpPr/>
          <p:nvPr/>
        </p:nvSpPr>
        <p:spPr>
          <a:xfrm>
            <a:off x="5940763" y="3494375"/>
            <a:ext cx="5302810" cy="1898371"/>
          </a:xfrm>
          <a:prstGeom prst="roundRect">
            <a:avLst>
              <a:gd name="adj" fmla="val 5672"/>
            </a:avLst>
          </a:prstGeom>
          <a:solidFill>
            <a:schemeClr val="bg1">
              <a:lumMod val="95000"/>
              <a:alpha val="5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25" name="TextBox 24">
            <a:extLst>
              <a:ext uri="{FF2B5EF4-FFF2-40B4-BE49-F238E27FC236}">
                <a16:creationId xmlns:a16="http://schemas.microsoft.com/office/drawing/2014/main" id="{901FFD51-BE0F-0CB0-B6A1-1B9D0ED401A5}"/>
              </a:ext>
            </a:extLst>
          </p:cNvPr>
          <p:cNvSpPr txBox="1"/>
          <p:nvPr/>
        </p:nvSpPr>
        <p:spPr>
          <a:xfrm>
            <a:off x="10744540" y="3483354"/>
            <a:ext cx="457200" cy="615553"/>
          </a:xfrm>
          <a:prstGeom prst="rect">
            <a:avLst/>
          </a:prstGeom>
          <a:noFill/>
        </p:spPr>
        <p:txBody>
          <a:bodyPr wrap="square" lIns="0" tIns="0" rIns="0" bIns="0" anchor="t">
            <a:spAutoFit/>
          </a:bodyPr>
          <a:lstStyle/>
          <a:p>
            <a:pPr marL="0" marR="0" lvl="0" indent="0" algn="l" defTabSz="457200" rtl="0" eaLnBrk="1" fontAlgn="auto" latinLnBrk="0" hangingPunct="1">
              <a:lnSpc>
                <a:spcPct val="125000"/>
              </a:lnSpc>
              <a:spcBef>
                <a:spcPts val="0"/>
              </a:spcBef>
              <a:spcAft>
                <a:spcPts val="0"/>
              </a:spcAft>
              <a:buClrTx/>
              <a:buSzTx/>
              <a:buFontTx/>
              <a:buNone/>
              <a:tabLst/>
              <a:defRPr/>
            </a:pPr>
            <a:r>
              <a:rPr kumimoji="0" lang="fa-IR" sz="3200" b="1" i="0" u="none" strike="noStrike" kern="1200" cap="none" spc="0" normalizeH="0" baseline="0" noProof="0" dirty="0">
                <a:ln>
                  <a:noFill/>
                </a:ln>
                <a:solidFill>
                  <a:srgbClr val="F0BE0F"/>
                </a:solidFill>
                <a:effectLst/>
                <a:uLnTx/>
                <a:uFillTx/>
                <a:latin typeface="Yekan Bakh FaNum" pitchFamily="2" charset="-78"/>
                <a:ea typeface="+mn-ea"/>
                <a:cs typeface="Yekan Bakh FaNum" pitchFamily="2" charset="-78"/>
              </a:rPr>
              <a:t>۳.</a:t>
            </a:r>
            <a:endParaRPr kumimoji="0" sz="3200" b="1" i="0" u="none" strike="noStrike" kern="1200" cap="none" spc="0" normalizeH="0" baseline="0" noProof="0" dirty="0">
              <a:ln>
                <a:noFill/>
              </a:ln>
              <a:solidFill>
                <a:srgbClr val="F0BE0F"/>
              </a:solidFill>
              <a:effectLst/>
              <a:uLnTx/>
              <a:uFillTx/>
              <a:latin typeface="Yekan Bakh FaNum" pitchFamily="2" charset="-78"/>
              <a:ea typeface="+mn-ea"/>
              <a:cs typeface="Yekan Bakh FaNum" pitchFamily="2" charset="-78"/>
            </a:endParaRPr>
          </a:p>
        </p:txBody>
      </p:sp>
      <p:sp>
        <p:nvSpPr>
          <p:cNvPr id="26" name="TextBox 25">
            <a:extLst>
              <a:ext uri="{FF2B5EF4-FFF2-40B4-BE49-F238E27FC236}">
                <a16:creationId xmlns:a16="http://schemas.microsoft.com/office/drawing/2014/main" id="{684C1143-149C-E972-2F3E-3F31E868CDC6}"/>
              </a:ext>
            </a:extLst>
          </p:cNvPr>
          <p:cNvSpPr txBox="1"/>
          <p:nvPr/>
        </p:nvSpPr>
        <p:spPr>
          <a:xfrm>
            <a:off x="6066103" y="3740468"/>
            <a:ext cx="4610996" cy="253916"/>
          </a:xfrm>
          <a:prstGeom prst="rect">
            <a:avLst/>
          </a:prstGeom>
          <a:noFill/>
        </p:spPr>
        <p:txBody>
          <a:bodyPr wrap="square" lIns="0" tIns="0" rIns="0" bIns="0" anchor="t">
            <a:spAutoFit/>
          </a:bodyPr>
          <a:lstStyle/>
          <a:p>
            <a:pPr marL="0" marR="0" lvl="0" indent="0" algn="r" defTabSz="457200" rtl="1" eaLnBrk="1" fontAlgn="auto" latinLnBrk="0" hangingPunct="1">
              <a:lnSpc>
                <a:spcPct val="110000"/>
              </a:lnSpc>
              <a:spcBef>
                <a:spcPts val="0"/>
              </a:spcBef>
              <a:spcAft>
                <a:spcPts val="0"/>
              </a:spcAft>
              <a:buClrTx/>
              <a:buSzTx/>
              <a:buFontTx/>
              <a:buNone/>
              <a:tabLst/>
              <a:defRPr/>
            </a:pPr>
            <a:r>
              <a:rPr kumimoji="0" lang="fa-IR" sz="1500" b="1" i="0" u="none" strike="noStrike" kern="1200" cap="none" spc="0" normalizeH="0" baseline="0" noProof="0" dirty="0">
                <a:ln>
                  <a:noFill/>
                </a:ln>
                <a:solidFill>
                  <a:srgbClr val="00406C"/>
                </a:solidFill>
                <a:effectLst/>
                <a:uLnTx/>
                <a:uFillTx/>
                <a:latin typeface="Yekan Bakh FaNum" pitchFamily="2" charset="-78"/>
                <a:ea typeface="+mn-ea"/>
                <a:cs typeface="Yekan Bakh FaNum" pitchFamily="2" charset="-78"/>
              </a:rPr>
              <a:t>طیف نیاز از ساده تا شراکت راهبردی</a:t>
            </a:r>
          </a:p>
        </p:txBody>
      </p:sp>
      <p:sp>
        <p:nvSpPr>
          <p:cNvPr id="27" name="TextBox 26">
            <a:extLst>
              <a:ext uri="{FF2B5EF4-FFF2-40B4-BE49-F238E27FC236}">
                <a16:creationId xmlns:a16="http://schemas.microsoft.com/office/drawing/2014/main" id="{6EE83348-516B-4949-A1A9-0559C565D7E8}"/>
              </a:ext>
            </a:extLst>
          </p:cNvPr>
          <p:cNvSpPr txBox="1"/>
          <p:nvPr/>
        </p:nvSpPr>
        <p:spPr>
          <a:xfrm>
            <a:off x="6145542" y="4190841"/>
            <a:ext cx="4888839" cy="406265"/>
          </a:xfrm>
          <a:prstGeom prst="rect">
            <a:avLst/>
          </a:prstGeom>
          <a:noFill/>
        </p:spPr>
        <p:txBody>
          <a:bodyPr wrap="square" lIns="0" tIns="0" rIns="0" bIns="0" anchor="t">
            <a:spAutoFit/>
          </a:bodyPr>
          <a:lstStyle/>
          <a:p>
            <a:pPr marL="0" marR="0" lvl="0" indent="0" algn="justLow" defTabSz="457200" rtl="1" eaLnBrk="1" fontAlgn="auto" latinLnBrk="0" hangingPunct="1">
              <a:lnSpc>
                <a:spcPct val="120000"/>
              </a:lnSpc>
              <a:spcBef>
                <a:spcPts val="0"/>
              </a:spcBef>
              <a:spcAft>
                <a:spcPts val="0"/>
              </a:spcAft>
              <a:buClrTx/>
              <a:buSzTx/>
              <a:buFontTx/>
              <a:buNone/>
              <a:tabLst/>
              <a:defRPr/>
            </a:pPr>
            <a:r>
              <a:rPr kumimoji="0" lang="fa-IR" sz="1100" b="0" i="0" u="none" strike="noStrike" kern="1200" cap="none" spc="0" normalizeH="0" baseline="0" noProof="0" dirty="0">
                <a:ln>
                  <a:noFill/>
                </a:ln>
                <a:solidFill>
                  <a:prstClr val="black">
                    <a:lumMod val="65000"/>
                    <a:lumOff val="35000"/>
                  </a:prstClr>
                </a:solidFill>
                <a:effectLst/>
                <a:uLnTx/>
                <a:uFillTx/>
                <a:latin typeface="Yekan Bakh FaNum" pitchFamily="2" charset="-78"/>
                <a:ea typeface="+mn-ea"/>
                <a:cs typeface="Yekan Bakh FaNum" pitchFamily="2" charset="-78"/>
              </a:rPr>
              <a:t>«اکوسیستم فرصت ایران»هم خدمات استاندارد (مثل ارزیابی آمادگی) و هم مشارکت سهامی بلندمدت (ونچر بیلدینگ، سرمایه‌گذاری) ارائه می‌دهد.</a:t>
            </a:r>
          </a:p>
        </p:txBody>
      </p:sp>
      <p:sp>
        <p:nvSpPr>
          <p:cNvPr id="28" name="TextBox 27">
            <a:extLst>
              <a:ext uri="{FF2B5EF4-FFF2-40B4-BE49-F238E27FC236}">
                <a16:creationId xmlns:a16="http://schemas.microsoft.com/office/drawing/2014/main" id="{4840440F-45CF-DEA0-78FD-7F8CCEDADC3E}"/>
              </a:ext>
            </a:extLst>
          </p:cNvPr>
          <p:cNvSpPr txBox="1"/>
          <p:nvPr/>
        </p:nvSpPr>
        <p:spPr>
          <a:xfrm>
            <a:off x="6145542" y="4771722"/>
            <a:ext cx="4888839" cy="389337"/>
          </a:xfrm>
          <a:prstGeom prst="rect">
            <a:avLst/>
          </a:prstGeom>
          <a:noFill/>
        </p:spPr>
        <p:txBody>
          <a:bodyPr wrap="square" lIns="0" tIns="0" rIns="0" bIns="0" anchor="t">
            <a:spAutoFit/>
          </a:bodyPr>
          <a:lstStyle/>
          <a:p>
            <a:pPr marL="0" marR="0" lvl="0" indent="0" algn="justLow" defTabSz="457200" rtl="1" eaLnBrk="1" fontAlgn="auto" latinLnBrk="0" hangingPunct="1">
              <a:lnSpc>
                <a:spcPct val="115000"/>
              </a:lnSpc>
              <a:spcBef>
                <a:spcPts val="0"/>
              </a:spcBef>
              <a:spcAft>
                <a:spcPts val="0"/>
              </a:spcAft>
              <a:buClrTx/>
              <a:buSzTx/>
              <a:buFontTx/>
              <a:buNone/>
              <a:tabLst/>
              <a:defRPr/>
            </a:pPr>
            <a:r>
              <a:rPr kumimoji="0" sz="1100" b="1" i="0" u="none" strike="noStrike" kern="1200" cap="none" spc="0" normalizeH="0" baseline="0" noProof="0" dirty="0">
                <a:ln>
                  <a:noFill/>
                </a:ln>
                <a:solidFill>
                  <a:srgbClr val="F0BE0F"/>
                </a:solidFill>
                <a:effectLst/>
                <a:uLnTx/>
                <a:uFillTx/>
                <a:latin typeface="Yekan Bakh FaNum" pitchFamily="2" charset="-78"/>
                <a:ea typeface="+mn-ea"/>
                <a:cs typeface="Yekan Bakh FaNum" pitchFamily="2" charset="-78"/>
              </a:rPr>
              <a:t>← </a:t>
            </a:r>
            <a:r>
              <a:rPr kumimoji="0" lang="fa-IR" sz="1100" b="1" i="0" u="none" strike="noStrike" kern="1200" cap="none" spc="0" normalizeH="0" baseline="0" noProof="0" dirty="0">
                <a:ln>
                  <a:noFill/>
                </a:ln>
                <a:solidFill>
                  <a:srgbClr val="F0BE0F"/>
                </a:solidFill>
                <a:effectLst/>
                <a:uLnTx/>
                <a:uFillTx/>
                <a:latin typeface="Yekan Bakh FaNum" pitchFamily="2" charset="-78"/>
                <a:ea typeface="+mn-ea"/>
                <a:cs typeface="Yekan Bakh FaNum" pitchFamily="2" charset="-78"/>
              </a:rPr>
              <a:t> </a:t>
            </a:r>
            <a:r>
              <a:rPr kumimoji="0" lang="fa-IR" sz="1100" b="1" i="0" u="none" strike="noStrike" kern="1200" cap="none" spc="0" normalizeH="0" baseline="0" noProof="0" dirty="0">
                <a:ln>
                  <a:noFill/>
                </a:ln>
                <a:solidFill>
                  <a:prstClr val="black">
                    <a:lumMod val="50000"/>
                    <a:lumOff val="50000"/>
                  </a:prstClr>
                </a:solidFill>
                <a:effectLst/>
                <a:uLnTx/>
                <a:uFillTx/>
                <a:latin typeface="Yekan Bakh FaNum" pitchFamily="2" charset="-78"/>
                <a:ea typeface="+mn-ea"/>
                <a:cs typeface="Yekan Bakh FaNum" pitchFamily="2" charset="-78"/>
              </a:rPr>
              <a:t>طیف باید از تراکنشی محض تا شراکت راهبردی را کامل بپوشاند، نه فقط بخشی از آن.</a:t>
            </a:r>
            <a:endParaRPr kumimoji="0" sz="1100" b="1" i="0" u="none" strike="noStrike" kern="1200" cap="none" spc="0" normalizeH="0" baseline="0" noProof="0" dirty="0">
              <a:ln>
                <a:noFill/>
              </a:ln>
              <a:solidFill>
                <a:prstClr val="black">
                  <a:lumMod val="50000"/>
                  <a:lumOff val="50000"/>
                </a:prstClr>
              </a:solidFill>
              <a:effectLst/>
              <a:uLnTx/>
              <a:uFillTx/>
              <a:latin typeface="Yekan Bakh FaNum" pitchFamily="2" charset="-78"/>
              <a:ea typeface="+mn-ea"/>
              <a:cs typeface="Yekan Bakh FaNum" pitchFamily="2" charset="-78"/>
            </a:endParaRPr>
          </a:p>
        </p:txBody>
      </p:sp>
      <p:sp>
        <p:nvSpPr>
          <p:cNvPr id="30" name="Rectangle: Rounded Corners 29">
            <a:extLst>
              <a:ext uri="{FF2B5EF4-FFF2-40B4-BE49-F238E27FC236}">
                <a16:creationId xmlns:a16="http://schemas.microsoft.com/office/drawing/2014/main" id="{9330D449-8A1D-020D-64BD-E48B856C1D87}"/>
              </a:ext>
            </a:extLst>
          </p:cNvPr>
          <p:cNvSpPr/>
          <p:nvPr/>
        </p:nvSpPr>
        <p:spPr>
          <a:xfrm>
            <a:off x="555629" y="3494375"/>
            <a:ext cx="5302810" cy="1898371"/>
          </a:xfrm>
          <a:prstGeom prst="roundRect">
            <a:avLst>
              <a:gd name="adj" fmla="val 5672"/>
            </a:avLst>
          </a:prstGeom>
          <a:solidFill>
            <a:schemeClr val="bg1">
              <a:lumMod val="95000"/>
              <a:alpha val="5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31" name="TextBox 30">
            <a:extLst>
              <a:ext uri="{FF2B5EF4-FFF2-40B4-BE49-F238E27FC236}">
                <a16:creationId xmlns:a16="http://schemas.microsoft.com/office/drawing/2014/main" id="{1E0324C1-2ACC-AC22-6EC8-539614CC00DF}"/>
              </a:ext>
            </a:extLst>
          </p:cNvPr>
          <p:cNvSpPr txBox="1"/>
          <p:nvPr/>
        </p:nvSpPr>
        <p:spPr>
          <a:xfrm>
            <a:off x="5359406" y="3483354"/>
            <a:ext cx="457200" cy="615553"/>
          </a:xfrm>
          <a:prstGeom prst="rect">
            <a:avLst/>
          </a:prstGeom>
          <a:noFill/>
        </p:spPr>
        <p:txBody>
          <a:bodyPr wrap="square" lIns="0" tIns="0" rIns="0" bIns="0" anchor="t">
            <a:spAutoFit/>
          </a:bodyPr>
          <a:lstStyle/>
          <a:p>
            <a:pPr marL="0" marR="0" lvl="0" indent="0" algn="l" defTabSz="457200" rtl="0" eaLnBrk="1" fontAlgn="auto" latinLnBrk="0" hangingPunct="1">
              <a:lnSpc>
                <a:spcPct val="125000"/>
              </a:lnSpc>
              <a:spcBef>
                <a:spcPts val="0"/>
              </a:spcBef>
              <a:spcAft>
                <a:spcPts val="0"/>
              </a:spcAft>
              <a:buClrTx/>
              <a:buSzTx/>
              <a:buFontTx/>
              <a:buNone/>
              <a:tabLst/>
              <a:defRPr/>
            </a:pPr>
            <a:r>
              <a:rPr kumimoji="0" lang="fa-IR" sz="3200" b="1" i="0" u="none" strike="noStrike" kern="1200" cap="none" spc="0" normalizeH="0" baseline="0" noProof="0" dirty="0">
                <a:ln>
                  <a:noFill/>
                </a:ln>
                <a:solidFill>
                  <a:srgbClr val="F0BE0F"/>
                </a:solidFill>
                <a:effectLst/>
                <a:uLnTx/>
                <a:uFillTx/>
                <a:latin typeface="Yekan Bakh FaNum" pitchFamily="2" charset="-78"/>
                <a:ea typeface="+mn-ea"/>
                <a:cs typeface="Yekan Bakh FaNum" pitchFamily="2" charset="-78"/>
              </a:rPr>
              <a:t>۴.</a:t>
            </a:r>
            <a:endParaRPr kumimoji="0" sz="3200" b="1" i="0" u="none" strike="noStrike" kern="1200" cap="none" spc="0" normalizeH="0" baseline="0" noProof="0" dirty="0">
              <a:ln>
                <a:noFill/>
              </a:ln>
              <a:solidFill>
                <a:srgbClr val="F0BE0F"/>
              </a:solidFill>
              <a:effectLst/>
              <a:uLnTx/>
              <a:uFillTx/>
              <a:latin typeface="Yekan Bakh FaNum" pitchFamily="2" charset="-78"/>
              <a:ea typeface="+mn-ea"/>
              <a:cs typeface="Yekan Bakh FaNum" pitchFamily="2" charset="-78"/>
            </a:endParaRPr>
          </a:p>
        </p:txBody>
      </p:sp>
      <p:sp>
        <p:nvSpPr>
          <p:cNvPr id="32" name="TextBox 31">
            <a:extLst>
              <a:ext uri="{FF2B5EF4-FFF2-40B4-BE49-F238E27FC236}">
                <a16:creationId xmlns:a16="http://schemas.microsoft.com/office/drawing/2014/main" id="{349AEC18-67A3-328C-8E55-F373C6B234FC}"/>
              </a:ext>
            </a:extLst>
          </p:cNvPr>
          <p:cNvSpPr txBox="1"/>
          <p:nvPr/>
        </p:nvSpPr>
        <p:spPr>
          <a:xfrm>
            <a:off x="680969" y="3740468"/>
            <a:ext cx="4610996" cy="253916"/>
          </a:xfrm>
          <a:prstGeom prst="rect">
            <a:avLst/>
          </a:prstGeom>
          <a:noFill/>
        </p:spPr>
        <p:txBody>
          <a:bodyPr wrap="square" lIns="0" tIns="0" rIns="0" bIns="0" anchor="t">
            <a:spAutoFit/>
          </a:bodyPr>
          <a:lstStyle/>
          <a:p>
            <a:pPr marL="0" marR="0" lvl="0" indent="0" algn="r" defTabSz="457200" rtl="1" eaLnBrk="1" fontAlgn="auto" latinLnBrk="0" hangingPunct="1">
              <a:lnSpc>
                <a:spcPct val="110000"/>
              </a:lnSpc>
              <a:spcBef>
                <a:spcPts val="0"/>
              </a:spcBef>
              <a:spcAft>
                <a:spcPts val="0"/>
              </a:spcAft>
              <a:buClrTx/>
              <a:buSzTx/>
              <a:buFontTx/>
              <a:buNone/>
              <a:tabLst/>
              <a:defRPr/>
            </a:pPr>
            <a:r>
              <a:rPr kumimoji="0" lang="fa-IR" sz="1500" b="1" i="0" u="none" strike="noStrike" kern="1200" cap="none" spc="0" normalizeH="0" baseline="0" noProof="0" dirty="0">
                <a:ln>
                  <a:noFill/>
                </a:ln>
                <a:solidFill>
                  <a:srgbClr val="00406C"/>
                </a:solidFill>
                <a:effectLst/>
                <a:uLnTx/>
                <a:uFillTx/>
                <a:latin typeface="Yekan Bakh FaNum" pitchFamily="2" charset="-78"/>
                <a:ea typeface="+mn-ea"/>
                <a:cs typeface="Yekan Bakh FaNum" pitchFamily="2" charset="-78"/>
              </a:rPr>
              <a:t>اختلاف زیاد ارزش و پیچیدگی میان پرسوناها</a:t>
            </a:r>
          </a:p>
        </p:txBody>
      </p:sp>
      <p:sp>
        <p:nvSpPr>
          <p:cNvPr id="33" name="TextBox 32">
            <a:extLst>
              <a:ext uri="{FF2B5EF4-FFF2-40B4-BE49-F238E27FC236}">
                <a16:creationId xmlns:a16="http://schemas.microsoft.com/office/drawing/2014/main" id="{79BF4B7E-0640-C019-6227-D93A5045D08F}"/>
              </a:ext>
            </a:extLst>
          </p:cNvPr>
          <p:cNvSpPr txBox="1"/>
          <p:nvPr/>
        </p:nvSpPr>
        <p:spPr>
          <a:xfrm>
            <a:off x="760408" y="4190841"/>
            <a:ext cx="4888839" cy="406265"/>
          </a:xfrm>
          <a:prstGeom prst="rect">
            <a:avLst/>
          </a:prstGeom>
          <a:noFill/>
        </p:spPr>
        <p:txBody>
          <a:bodyPr wrap="square" lIns="0" tIns="0" rIns="0" bIns="0" anchor="t">
            <a:spAutoFit/>
          </a:bodyPr>
          <a:lstStyle/>
          <a:p>
            <a:pPr marL="0" marR="0" lvl="0" indent="0" algn="justLow" defTabSz="457200" rtl="1" eaLnBrk="1" fontAlgn="auto" latinLnBrk="0" hangingPunct="1">
              <a:lnSpc>
                <a:spcPct val="120000"/>
              </a:lnSpc>
              <a:spcBef>
                <a:spcPts val="0"/>
              </a:spcBef>
              <a:spcAft>
                <a:spcPts val="0"/>
              </a:spcAft>
              <a:buClrTx/>
              <a:buSzTx/>
              <a:buFontTx/>
              <a:buNone/>
              <a:tabLst/>
              <a:defRPr/>
            </a:pPr>
            <a:r>
              <a:rPr kumimoji="0" lang="fa-IR" sz="1100" b="0" i="0" u="none" strike="noStrike" kern="1200" cap="none" spc="0" normalizeH="0" baseline="0" noProof="0" dirty="0">
                <a:ln>
                  <a:noFill/>
                </a:ln>
                <a:solidFill>
                  <a:prstClr val="black">
                    <a:lumMod val="65000"/>
                    <a:lumOff val="35000"/>
                  </a:prstClr>
                </a:solidFill>
                <a:effectLst/>
                <a:uLnTx/>
                <a:uFillTx/>
                <a:latin typeface="Yekan Bakh FaNum" pitchFamily="2" charset="-78"/>
                <a:ea typeface="+mn-ea"/>
                <a:cs typeface="Yekan Bakh FaNum" pitchFamily="2" charset="-78"/>
              </a:rPr>
              <a:t>فاصله از یک معرفی ساده تا ساخت کسب‌وکار مشترک بسیار زیاد است — هم در ارزش اقتصادی و هم در پیچیدگی نیاز.</a:t>
            </a:r>
          </a:p>
        </p:txBody>
      </p:sp>
      <p:sp>
        <p:nvSpPr>
          <p:cNvPr id="34" name="TextBox 33">
            <a:extLst>
              <a:ext uri="{FF2B5EF4-FFF2-40B4-BE49-F238E27FC236}">
                <a16:creationId xmlns:a16="http://schemas.microsoft.com/office/drawing/2014/main" id="{532309B5-B593-8AE7-DD81-66C7CAC2A6B3}"/>
              </a:ext>
            </a:extLst>
          </p:cNvPr>
          <p:cNvSpPr txBox="1"/>
          <p:nvPr/>
        </p:nvSpPr>
        <p:spPr>
          <a:xfrm>
            <a:off x="760408" y="4771722"/>
            <a:ext cx="4888839" cy="389337"/>
          </a:xfrm>
          <a:prstGeom prst="rect">
            <a:avLst/>
          </a:prstGeom>
          <a:noFill/>
        </p:spPr>
        <p:txBody>
          <a:bodyPr wrap="square" lIns="0" tIns="0" rIns="0" bIns="0" anchor="t">
            <a:spAutoFit/>
          </a:bodyPr>
          <a:lstStyle/>
          <a:p>
            <a:pPr marL="0" marR="0" lvl="0" indent="0" algn="justLow" defTabSz="457200" rtl="1" eaLnBrk="1" fontAlgn="auto" latinLnBrk="0" hangingPunct="1">
              <a:lnSpc>
                <a:spcPct val="115000"/>
              </a:lnSpc>
              <a:spcBef>
                <a:spcPts val="0"/>
              </a:spcBef>
              <a:spcAft>
                <a:spcPts val="0"/>
              </a:spcAft>
              <a:buClrTx/>
              <a:buSzTx/>
              <a:buFontTx/>
              <a:buNone/>
              <a:tabLst/>
              <a:defRPr/>
            </a:pPr>
            <a:r>
              <a:rPr kumimoji="0" sz="1100" b="1" i="0" u="none" strike="noStrike" kern="1200" cap="none" spc="0" normalizeH="0" baseline="0" noProof="0" dirty="0">
                <a:ln>
                  <a:noFill/>
                </a:ln>
                <a:solidFill>
                  <a:srgbClr val="F0BE0F"/>
                </a:solidFill>
                <a:effectLst/>
                <a:uLnTx/>
                <a:uFillTx/>
                <a:latin typeface="Yekan Bakh FaNum" pitchFamily="2" charset="-78"/>
                <a:ea typeface="+mn-ea"/>
                <a:cs typeface="Yekan Bakh FaNum" pitchFamily="2" charset="-78"/>
              </a:rPr>
              <a:t>← </a:t>
            </a:r>
            <a:r>
              <a:rPr kumimoji="0" lang="fa-IR" sz="1100" b="1" i="0" u="none" strike="noStrike" kern="1200" cap="none" spc="0" normalizeH="0" baseline="0" noProof="0" dirty="0">
                <a:ln>
                  <a:noFill/>
                </a:ln>
                <a:solidFill>
                  <a:srgbClr val="F0BE0F"/>
                </a:solidFill>
                <a:effectLst/>
                <a:uLnTx/>
                <a:uFillTx/>
                <a:latin typeface="Yekan Bakh FaNum" pitchFamily="2" charset="-78"/>
                <a:ea typeface="+mn-ea"/>
                <a:cs typeface="Yekan Bakh FaNum" pitchFamily="2" charset="-78"/>
              </a:rPr>
              <a:t> </a:t>
            </a:r>
            <a:r>
              <a:rPr kumimoji="0" lang="fa-IR" sz="1100" b="1" i="0" u="none" strike="noStrike" kern="1200" cap="none" spc="0" normalizeH="0" baseline="0" noProof="0" dirty="0">
                <a:ln>
                  <a:noFill/>
                </a:ln>
                <a:solidFill>
                  <a:prstClr val="black">
                    <a:lumMod val="50000"/>
                    <a:lumOff val="50000"/>
                  </a:prstClr>
                </a:solidFill>
                <a:effectLst/>
                <a:uLnTx/>
                <a:uFillTx/>
                <a:latin typeface="Yekan Bakh FaNum" pitchFamily="2" charset="-78"/>
                <a:ea typeface="+mn-ea"/>
                <a:cs typeface="Yekan Bakh FaNum" pitchFamily="2" charset="-78"/>
              </a:rPr>
              <a:t>یک مدل رابطه واحد برای همه غلط است؛ باید پرتفوی‌ای از روابط با شدت سرمایه‌گذاری متفاوت طراحی شود.</a:t>
            </a:r>
            <a:endParaRPr kumimoji="0" sz="1100" b="1" i="0" u="none" strike="noStrike" kern="1200" cap="none" spc="0" normalizeH="0" baseline="0" noProof="0" dirty="0">
              <a:ln>
                <a:noFill/>
              </a:ln>
              <a:solidFill>
                <a:prstClr val="black">
                  <a:lumMod val="50000"/>
                  <a:lumOff val="50000"/>
                </a:prstClr>
              </a:solidFill>
              <a:effectLst/>
              <a:uLnTx/>
              <a:uFillTx/>
              <a:latin typeface="Yekan Bakh FaNum" pitchFamily="2" charset="-78"/>
              <a:ea typeface="+mn-ea"/>
              <a:cs typeface="Yekan Bakh FaNum" pitchFamily="2" charset="-78"/>
            </a:endParaRPr>
          </a:p>
        </p:txBody>
      </p:sp>
      <p:sp>
        <p:nvSpPr>
          <p:cNvPr id="36" name="TextBox 35">
            <a:extLst>
              <a:ext uri="{FF2B5EF4-FFF2-40B4-BE49-F238E27FC236}">
                <a16:creationId xmlns:a16="http://schemas.microsoft.com/office/drawing/2014/main" id="{E74D2806-A4FA-6E4A-A0B6-FC5AEF0AD827}"/>
              </a:ext>
            </a:extLst>
          </p:cNvPr>
          <p:cNvSpPr txBox="1"/>
          <p:nvPr/>
        </p:nvSpPr>
        <p:spPr>
          <a:xfrm>
            <a:off x="555629" y="5492573"/>
            <a:ext cx="10687944" cy="201978"/>
          </a:xfrm>
          <a:prstGeom prst="rect">
            <a:avLst/>
          </a:prstGeom>
          <a:noFill/>
        </p:spPr>
        <p:txBody>
          <a:bodyPr wrap="square" lIns="0" tIns="0" rIns="0" bIns="0" anchor="t">
            <a:spAutoFit/>
          </a:bodyPr>
          <a:lstStyle/>
          <a:p>
            <a:pPr marL="0" marR="0" lvl="0" indent="0" algn="r" defTabSz="457200" rtl="1" eaLnBrk="1" fontAlgn="auto" latinLnBrk="0" hangingPunct="1">
              <a:lnSpc>
                <a:spcPct val="125000"/>
              </a:lnSpc>
              <a:spcBef>
                <a:spcPts val="0"/>
              </a:spcBef>
              <a:spcAft>
                <a:spcPts val="0"/>
              </a:spcAft>
              <a:buClrTx/>
              <a:buSzTx/>
              <a:buFontTx/>
              <a:buNone/>
              <a:tabLst/>
              <a:defRPr/>
            </a:pPr>
            <a:r>
              <a:rPr kumimoji="0" lang="fa-IR" sz="1050" b="1" i="0" u="none" strike="noStrike" kern="1200" cap="none" spc="0" normalizeH="0" baseline="0" noProof="0" dirty="0">
                <a:ln>
                  <a:noFill/>
                </a:ln>
                <a:solidFill>
                  <a:srgbClr val="F0BE0F"/>
                </a:solidFill>
                <a:effectLst/>
                <a:uLnTx/>
                <a:uFillTx/>
                <a:latin typeface="Yekan Bakh FaNum" pitchFamily="2" charset="-78"/>
                <a:ea typeface="+mn-ea"/>
                <a:cs typeface="Yekan Bakh FaNum" pitchFamily="2" charset="-78"/>
              </a:rPr>
              <a:t>این چهار معیار مبنای کنارگذاشتن مدل‌های عمومی‌تر (مثل نردبان وفاداری ساده یا بخش‌بندی صرفاً کانال‌محور) برای «اکوسیستم فرصت ایران»است.</a:t>
            </a:r>
          </a:p>
        </p:txBody>
      </p:sp>
    </p:spTree>
    <p:extLst>
      <p:ext uri="{BB962C8B-B14F-4D97-AF65-F5344CB8AC3E}">
        <p14:creationId xmlns:p14="http://schemas.microsoft.com/office/powerpoint/2010/main" val="3766326278"/>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21B1F63-7398-ED9D-ABF8-CEA104673323}"/>
              </a:ext>
            </a:extLst>
          </p:cNvPr>
          <p:cNvSpPr>
            <a:spLocks noGrp="1"/>
          </p:cNvSpPr>
          <p:nvPr>
            <p:ph type="body" sz="quarter" idx="10"/>
          </p:nvPr>
        </p:nvSpPr>
        <p:spPr/>
        <p:txBody>
          <a:bodyPr/>
          <a:lstStyle/>
          <a:p>
            <a:r>
              <a:rPr lang="fa-IR" dirty="0"/>
              <a:t>۳. آرکی‌تایپ رابطه ۱ از ۷ — تراکنشی (</a:t>
            </a:r>
            <a:r>
              <a:rPr lang="en-GB" dirty="0"/>
              <a:t>Transactional</a:t>
            </a:r>
            <a:r>
              <a:rPr lang="fa-IR" dirty="0"/>
              <a:t>)</a:t>
            </a:r>
            <a:endParaRPr lang="en-GB" dirty="0"/>
          </a:p>
        </p:txBody>
      </p:sp>
      <p:sp>
        <p:nvSpPr>
          <p:cNvPr id="3" name="Text Placeholder 2">
            <a:extLst>
              <a:ext uri="{FF2B5EF4-FFF2-40B4-BE49-F238E27FC236}">
                <a16:creationId xmlns:a16="http://schemas.microsoft.com/office/drawing/2014/main" id="{8733BC9B-7D53-C4C9-A6B2-F8223017F859}"/>
              </a:ext>
            </a:extLst>
          </p:cNvPr>
          <p:cNvSpPr>
            <a:spLocks noGrp="1"/>
          </p:cNvSpPr>
          <p:nvPr>
            <p:ph type="body" sz="quarter" idx="12"/>
          </p:nvPr>
        </p:nvSpPr>
        <p:spPr/>
        <p:txBody>
          <a:bodyPr/>
          <a:lstStyle/>
          <a:p>
            <a:r>
              <a:rPr lang="fa-IR" dirty="0"/>
              <a:t>برای نیاز ساده و استاندارد، هزینه رابطه نباید از ارزش مشتری بیشتر شود</a:t>
            </a:r>
          </a:p>
        </p:txBody>
      </p:sp>
      <p:sp>
        <p:nvSpPr>
          <p:cNvPr id="19" name="Rectangle: Rounded Corners 18">
            <a:extLst>
              <a:ext uri="{FF2B5EF4-FFF2-40B4-BE49-F238E27FC236}">
                <a16:creationId xmlns:a16="http://schemas.microsoft.com/office/drawing/2014/main" id="{6F8DE936-7F24-688A-5DA1-EFE42F2CBA97}"/>
              </a:ext>
            </a:extLst>
          </p:cNvPr>
          <p:cNvSpPr/>
          <p:nvPr/>
        </p:nvSpPr>
        <p:spPr>
          <a:xfrm>
            <a:off x="4409954" y="3475131"/>
            <a:ext cx="6855808" cy="1300605"/>
          </a:xfrm>
          <a:prstGeom prst="roundRect">
            <a:avLst>
              <a:gd name="adj" fmla="val 7208"/>
            </a:avLst>
          </a:prstGeom>
          <a:solidFill>
            <a:schemeClr val="bg1">
              <a:lumMod val="95000"/>
              <a:alpha val="7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cxnSp>
        <p:nvCxnSpPr>
          <p:cNvPr id="11" name="Straight Connector 10">
            <a:extLst>
              <a:ext uri="{FF2B5EF4-FFF2-40B4-BE49-F238E27FC236}">
                <a16:creationId xmlns:a16="http://schemas.microsoft.com/office/drawing/2014/main" id="{7D8138F7-6C8E-311F-6BEC-ABE5DE9ACE49}"/>
              </a:ext>
            </a:extLst>
          </p:cNvPr>
          <p:cNvCxnSpPr>
            <a:cxnSpLocks/>
          </p:cNvCxnSpPr>
          <p:nvPr/>
        </p:nvCxnSpPr>
        <p:spPr>
          <a:xfrm>
            <a:off x="4425223" y="3343200"/>
            <a:ext cx="6825271" cy="0"/>
          </a:xfrm>
          <a:prstGeom prst="line">
            <a:avLst/>
          </a:prstGeom>
        </p:spPr>
        <p:style>
          <a:lnRef idx="1">
            <a:schemeClr val="accent2"/>
          </a:lnRef>
          <a:fillRef idx="0">
            <a:schemeClr val="accent2"/>
          </a:fillRef>
          <a:effectRef idx="0">
            <a:schemeClr val="accent2"/>
          </a:effectRef>
          <a:fontRef idx="minor">
            <a:schemeClr val="tx1"/>
          </a:fontRef>
        </p:style>
      </p:cxnSp>
      <p:sp>
        <p:nvSpPr>
          <p:cNvPr id="12" name="TextBox 11">
            <a:extLst>
              <a:ext uri="{FF2B5EF4-FFF2-40B4-BE49-F238E27FC236}">
                <a16:creationId xmlns:a16="http://schemas.microsoft.com/office/drawing/2014/main" id="{70DC71D1-1516-3F30-DF59-0263CDFFDE68}"/>
              </a:ext>
            </a:extLst>
          </p:cNvPr>
          <p:cNvSpPr txBox="1"/>
          <p:nvPr/>
        </p:nvSpPr>
        <p:spPr>
          <a:xfrm>
            <a:off x="5658795" y="3212394"/>
            <a:ext cx="4358127" cy="261610"/>
          </a:xfrm>
          <a:prstGeom prst="rect">
            <a:avLst/>
          </a:prstGeom>
          <a:solidFill>
            <a:schemeClr val="bg1"/>
          </a:solidFill>
        </p:spPr>
        <p:txBody>
          <a:bodyPr wrap="square"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چه زمانی برای اکوسیستم فرصت ایران مناسب است</a:t>
            </a:r>
          </a:p>
        </p:txBody>
      </p:sp>
      <p:sp>
        <p:nvSpPr>
          <p:cNvPr id="13" name="TextBox 12">
            <a:extLst>
              <a:ext uri="{FF2B5EF4-FFF2-40B4-BE49-F238E27FC236}">
                <a16:creationId xmlns:a16="http://schemas.microsoft.com/office/drawing/2014/main" id="{A6CC8578-C958-DEF7-8D1F-C3E6D7DC60D2}"/>
              </a:ext>
            </a:extLst>
          </p:cNvPr>
          <p:cNvSpPr txBox="1"/>
          <p:nvPr/>
        </p:nvSpPr>
        <p:spPr>
          <a:xfrm>
            <a:off x="4648473" y="3808039"/>
            <a:ext cx="6378770" cy="634789"/>
          </a:xfrm>
          <a:prstGeom prst="rect">
            <a:avLst/>
          </a:prstGeom>
          <a:noFill/>
        </p:spPr>
        <p:txBody>
          <a:bodyPr wrap="square" lIns="0" tIns="0" rIns="0" bIns="0" anchor="ctr">
            <a:spAutoFit/>
          </a:bodyPr>
          <a:lstStyle/>
          <a:p>
            <a:pPr marL="285750" marR="0" lvl="0" indent="-285750" algn="justLow" defTabSz="457200" rtl="1" eaLnBrk="1" fontAlgn="auto" latinLnBrk="0" hangingPunct="1">
              <a:lnSpc>
                <a:spcPct val="125000"/>
              </a:lnSpc>
              <a:spcBef>
                <a:spcPts val="0"/>
              </a:spcBef>
              <a:spcAft>
                <a:spcPts val="0"/>
              </a:spcAft>
              <a:buClr>
                <a:srgbClr val="F0BE0F"/>
              </a:buClr>
              <a:buSzTx/>
              <a:buFont typeface="Arial" panose="020B0604020202020204" pitchFamily="34" charset="0"/>
              <a:buChar char="•"/>
              <a:tabLst/>
              <a:defRPr/>
            </a:pPr>
            <a:r>
              <a:rPr kumimoji="0" lang="fa-IR"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نیاز مشتری ساده و قابل‌تکرار است (مثل ارزیابی اولیه آمادگی معامله)</a:t>
            </a:r>
          </a:p>
          <a:p>
            <a:pPr marL="285750" marR="0" lvl="0" indent="-285750" algn="justLow" defTabSz="457200" rtl="1" eaLnBrk="1" fontAlgn="auto" latinLnBrk="0" hangingPunct="1">
              <a:lnSpc>
                <a:spcPct val="125000"/>
              </a:lnSpc>
              <a:spcBef>
                <a:spcPts val="0"/>
              </a:spcBef>
              <a:spcAft>
                <a:spcPts val="0"/>
              </a:spcAft>
              <a:buClr>
                <a:srgbClr val="F0BE0F"/>
              </a:buClr>
              <a:buSzTx/>
              <a:buFont typeface="Arial" panose="020B0604020202020204" pitchFamily="34" charset="0"/>
              <a:buChar char="•"/>
              <a:tabLst/>
              <a:defRPr/>
            </a:pPr>
            <a:r>
              <a:rPr kumimoji="0" lang="fa-IR"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ارزش اقتصادی مشتری در این خدمت پایین یا متوسط است</a:t>
            </a:r>
          </a:p>
          <a:p>
            <a:pPr marL="285750" marR="0" lvl="0" indent="-285750" algn="justLow" defTabSz="457200" rtl="1" eaLnBrk="1" fontAlgn="auto" latinLnBrk="0" hangingPunct="1">
              <a:lnSpc>
                <a:spcPct val="125000"/>
              </a:lnSpc>
              <a:spcBef>
                <a:spcPts val="0"/>
              </a:spcBef>
              <a:spcAft>
                <a:spcPts val="0"/>
              </a:spcAft>
              <a:buClr>
                <a:srgbClr val="F0BE0F"/>
              </a:buClr>
              <a:buSzTx/>
              <a:buFont typeface="Arial" panose="020B0604020202020204" pitchFamily="34" charset="0"/>
              <a:buChar char="•"/>
              <a:tabLst/>
              <a:defRPr/>
            </a:pPr>
            <a:r>
              <a:rPr kumimoji="0" lang="fa-IR"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صرفه‌جویی در مقیاس برای «اکوسیستم فرصت ایران» مهم‌تر از تعامل عمیق است</a:t>
            </a:r>
          </a:p>
        </p:txBody>
      </p:sp>
      <p:sp>
        <p:nvSpPr>
          <p:cNvPr id="20" name="Rectangle: Rounded Corners 19">
            <a:extLst>
              <a:ext uri="{FF2B5EF4-FFF2-40B4-BE49-F238E27FC236}">
                <a16:creationId xmlns:a16="http://schemas.microsoft.com/office/drawing/2014/main" id="{83B88AC7-5927-8CB7-3F6F-5E24B0210E80}"/>
              </a:ext>
            </a:extLst>
          </p:cNvPr>
          <p:cNvSpPr/>
          <p:nvPr/>
        </p:nvSpPr>
        <p:spPr>
          <a:xfrm>
            <a:off x="4409954" y="5350148"/>
            <a:ext cx="6855808" cy="458356"/>
          </a:xfrm>
          <a:prstGeom prst="roundRect">
            <a:avLst>
              <a:gd name="adj" fmla="val 7208"/>
            </a:avLst>
          </a:prstGeom>
          <a:solidFill>
            <a:schemeClr val="bg1">
              <a:lumMod val="95000"/>
              <a:alpha val="7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Calibri"/>
            </a:endParaRPr>
          </a:p>
        </p:txBody>
      </p:sp>
      <p:cxnSp>
        <p:nvCxnSpPr>
          <p:cNvPr id="15" name="Straight Connector 14">
            <a:extLst>
              <a:ext uri="{FF2B5EF4-FFF2-40B4-BE49-F238E27FC236}">
                <a16:creationId xmlns:a16="http://schemas.microsoft.com/office/drawing/2014/main" id="{30103FA2-90BC-DF5A-02A6-10CFB83819CF}"/>
              </a:ext>
            </a:extLst>
          </p:cNvPr>
          <p:cNvCxnSpPr>
            <a:cxnSpLocks/>
          </p:cNvCxnSpPr>
          <p:nvPr/>
        </p:nvCxnSpPr>
        <p:spPr>
          <a:xfrm>
            <a:off x="4425223" y="5213778"/>
            <a:ext cx="6825271" cy="0"/>
          </a:xfrm>
          <a:prstGeom prst="line">
            <a:avLst/>
          </a:prstGeom>
        </p:spPr>
        <p:style>
          <a:lnRef idx="1">
            <a:schemeClr val="accent2"/>
          </a:lnRef>
          <a:fillRef idx="0">
            <a:schemeClr val="accent2"/>
          </a:fillRef>
          <a:effectRef idx="0">
            <a:schemeClr val="accent2"/>
          </a:effectRef>
          <a:fontRef idx="minor">
            <a:schemeClr val="tx1"/>
          </a:fontRef>
        </p:style>
      </p:cxnSp>
      <p:sp>
        <p:nvSpPr>
          <p:cNvPr id="16" name="TextBox 15">
            <a:extLst>
              <a:ext uri="{FF2B5EF4-FFF2-40B4-BE49-F238E27FC236}">
                <a16:creationId xmlns:a16="http://schemas.microsoft.com/office/drawing/2014/main" id="{9DC59DE7-4E58-5006-8521-5C04B57F0F80}"/>
              </a:ext>
            </a:extLst>
          </p:cNvPr>
          <p:cNvSpPr txBox="1"/>
          <p:nvPr/>
        </p:nvSpPr>
        <p:spPr>
          <a:xfrm>
            <a:off x="6228117" y="5082972"/>
            <a:ext cx="3219483" cy="261610"/>
          </a:xfrm>
          <a:prstGeom prst="rect">
            <a:avLst/>
          </a:prstGeom>
          <a:solidFill>
            <a:schemeClr val="bg1"/>
          </a:solidFill>
        </p:spPr>
        <p:txBody>
          <a:bodyPr wrap="square"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نقش «اکوسیستم فرصت ایران»: ارائه‌دهنده خدمت</a:t>
            </a:r>
          </a:p>
        </p:txBody>
      </p:sp>
      <p:sp>
        <p:nvSpPr>
          <p:cNvPr id="17" name="TextBox 16">
            <a:extLst>
              <a:ext uri="{FF2B5EF4-FFF2-40B4-BE49-F238E27FC236}">
                <a16:creationId xmlns:a16="http://schemas.microsoft.com/office/drawing/2014/main" id="{0DE7554B-4ED0-08D4-F1A6-5FED476F0637}"/>
              </a:ext>
            </a:extLst>
          </p:cNvPr>
          <p:cNvSpPr txBox="1"/>
          <p:nvPr/>
        </p:nvSpPr>
        <p:spPr>
          <a:xfrm>
            <a:off x="4648473" y="5473528"/>
            <a:ext cx="6378770" cy="211596"/>
          </a:xfrm>
          <a:prstGeom prst="rect">
            <a:avLst/>
          </a:prstGeom>
          <a:noFill/>
        </p:spPr>
        <p:txBody>
          <a:bodyPr wrap="square" lIns="0" tIns="0" rIns="0" bIns="0" anchor="t">
            <a:spAutoFit/>
          </a:bodyPr>
          <a:lstStyle/>
          <a:p>
            <a:pPr marL="0" marR="0" lvl="0" indent="0" algn="ctr" defTabSz="457200" rtl="1" eaLnBrk="1" fontAlgn="auto" latinLnBrk="0" hangingPunct="1">
              <a:lnSpc>
                <a:spcPct val="125000"/>
              </a:lnSpc>
              <a:spcBef>
                <a:spcPts val="0"/>
              </a:spcBef>
              <a:spcAft>
                <a:spcPts val="0"/>
              </a:spcAft>
              <a:buClrTx/>
              <a:buSzTx/>
              <a:buFontTx/>
              <a:buNone/>
              <a:tabLst/>
              <a:defRPr/>
            </a:pPr>
            <a:r>
              <a:rPr kumimoji="0" lang="fa-IR"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مدل تعامل: دیجیتال / خودسرویس / استانداردشده</a:t>
            </a:r>
          </a:p>
        </p:txBody>
      </p:sp>
      <p:cxnSp>
        <p:nvCxnSpPr>
          <p:cNvPr id="5" name="Straight Connector 4">
            <a:extLst>
              <a:ext uri="{FF2B5EF4-FFF2-40B4-BE49-F238E27FC236}">
                <a16:creationId xmlns:a16="http://schemas.microsoft.com/office/drawing/2014/main" id="{EE47E079-FF38-7A4D-7DE4-BFB048B610F5}"/>
              </a:ext>
            </a:extLst>
          </p:cNvPr>
          <p:cNvCxnSpPr>
            <a:cxnSpLocks/>
          </p:cNvCxnSpPr>
          <p:nvPr/>
        </p:nvCxnSpPr>
        <p:spPr>
          <a:xfrm>
            <a:off x="4425223" y="1464508"/>
            <a:ext cx="6825271" cy="0"/>
          </a:xfrm>
          <a:prstGeom prst="line">
            <a:avLst/>
          </a:prstGeom>
        </p:spPr>
        <p:style>
          <a:lnRef idx="1">
            <a:schemeClr val="accent2"/>
          </a:lnRef>
          <a:fillRef idx="0">
            <a:schemeClr val="accent2"/>
          </a:fillRef>
          <a:effectRef idx="0">
            <a:schemeClr val="accent2"/>
          </a:effectRef>
          <a:fontRef idx="minor">
            <a:schemeClr val="tx1"/>
          </a:fontRef>
        </p:style>
      </p:cxnSp>
      <p:sp>
        <p:nvSpPr>
          <p:cNvPr id="18" name="Rectangle: Rounded Corners 17">
            <a:extLst>
              <a:ext uri="{FF2B5EF4-FFF2-40B4-BE49-F238E27FC236}">
                <a16:creationId xmlns:a16="http://schemas.microsoft.com/office/drawing/2014/main" id="{4405CA34-1BCB-97FD-E50C-F48F2C173271}"/>
              </a:ext>
            </a:extLst>
          </p:cNvPr>
          <p:cNvSpPr/>
          <p:nvPr/>
        </p:nvSpPr>
        <p:spPr>
          <a:xfrm>
            <a:off x="4409954" y="1600261"/>
            <a:ext cx="6855808" cy="884683"/>
          </a:xfrm>
          <a:prstGeom prst="roundRect">
            <a:avLst>
              <a:gd name="adj" fmla="val 7208"/>
            </a:avLst>
          </a:prstGeom>
          <a:solidFill>
            <a:schemeClr val="bg1">
              <a:lumMod val="95000"/>
              <a:alpha val="7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Calibri"/>
            </a:endParaRPr>
          </a:p>
        </p:txBody>
      </p:sp>
      <p:sp>
        <p:nvSpPr>
          <p:cNvPr id="8" name="TextBox 7">
            <a:extLst>
              <a:ext uri="{FF2B5EF4-FFF2-40B4-BE49-F238E27FC236}">
                <a16:creationId xmlns:a16="http://schemas.microsoft.com/office/drawing/2014/main" id="{D92550C0-5549-785D-64DE-F7ADF3A2FFFE}"/>
              </a:ext>
            </a:extLst>
          </p:cNvPr>
          <p:cNvSpPr txBox="1"/>
          <p:nvPr/>
        </p:nvSpPr>
        <p:spPr>
          <a:xfrm>
            <a:off x="4648473" y="1831006"/>
            <a:ext cx="6378770" cy="423193"/>
          </a:xfrm>
          <a:prstGeom prst="rect">
            <a:avLst/>
          </a:prstGeom>
          <a:noFill/>
        </p:spPr>
        <p:txBody>
          <a:bodyPr wrap="square" lIns="0" tIns="0" rIns="0" bIns="0" anchor="ctr">
            <a:spAutoFit/>
          </a:bodyPr>
          <a:lstStyle/>
          <a:p>
            <a:pPr marL="0" marR="0" lvl="0" indent="0" algn="justLow" defTabSz="457200" rtl="1" eaLnBrk="1" fontAlgn="auto" latinLnBrk="0" hangingPunct="1">
              <a:lnSpc>
                <a:spcPct val="125000"/>
              </a:lnSpc>
              <a:spcBef>
                <a:spcPts val="0"/>
              </a:spcBef>
              <a:spcAft>
                <a:spcPts val="0"/>
              </a:spcAft>
              <a:buClrTx/>
              <a:buSzTx/>
              <a:buFontTx/>
              <a:buNone/>
              <a:tabLst/>
              <a:defRPr/>
            </a:pPr>
            <a:r>
              <a:rPr kumimoji="0" sz="1100" b="0" i="0" u="none" strike="noStrike" kern="1200" cap="none" spc="0" normalizeH="0" baseline="0" noProof="0" dirty="0" err="1">
                <a:ln>
                  <a:noFill/>
                </a:ln>
                <a:solidFill>
                  <a:prstClr val="black">
                    <a:lumMod val="75000"/>
                    <a:lumOff val="25000"/>
                  </a:prstClr>
                </a:solidFill>
                <a:effectLst/>
                <a:uLnTx/>
                <a:uFillTx/>
                <a:latin typeface="Yekan Bakh FaNum" pitchFamily="2" charset="-78"/>
                <a:ea typeface="+mn-ea"/>
                <a:cs typeface="Yekan Bakh FaNum" pitchFamily="2" charset="-78"/>
              </a:rPr>
              <a:t>مشتری</a:t>
            </a:r>
            <a:r>
              <a:rPr kumimoji="0"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 </a:t>
            </a:r>
            <a:r>
              <a:rPr kumimoji="0" sz="1100" b="0" i="0" u="none" strike="noStrike" kern="1200" cap="none" spc="0" normalizeH="0" baseline="0" noProof="0" dirty="0" err="1">
                <a:ln>
                  <a:noFill/>
                </a:ln>
                <a:solidFill>
                  <a:prstClr val="black">
                    <a:lumMod val="75000"/>
                    <a:lumOff val="25000"/>
                  </a:prstClr>
                </a:solidFill>
                <a:effectLst/>
                <a:uLnTx/>
                <a:uFillTx/>
                <a:latin typeface="Yekan Bakh FaNum" pitchFamily="2" charset="-78"/>
                <a:ea typeface="+mn-ea"/>
                <a:cs typeface="Yekan Bakh FaNum" pitchFamily="2" charset="-78"/>
              </a:rPr>
              <a:t>نیاز</a:t>
            </a:r>
            <a:r>
              <a:rPr kumimoji="0"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 </a:t>
            </a:r>
            <a:r>
              <a:rPr kumimoji="0" sz="1100" b="0" i="0" u="none" strike="noStrike" kern="1200" cap="none" spc="0" normalizeH="0" baseline="0" noProof="0" dirty="0" err="1">
                <a:ln>
                  <a:noFill/>
                </a:ln>
                <a:solidFill>
                  <a:prstClr val="black">
                    <a:lumMod val="75000"/>
                    <a:lumOff val="25000"/>
                  </a:prstClr>
                </a:solidFill>
                <a:effectLst/>
                <a:uLnTx/>
                <a:uFillTx/>
                <a:latin typeface="Yekan Bakh FaNum" pitchFamily="2" charset="-78"/>
                <a:ea typeface="+mn-ea"/>
                <a:cs typeface="Yekan Bakh FaNum" pitchFamily="2" charset="-78"/>
              </a:rPr>
              <a:t>مشخص</a:t>
            </a:r>
            <a:r>
              <a:rPr kumimoji="0"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 و </a:t>
            </a:r>
            <a:r>
              <a:rPr kumimoji="0" sz="1100" b="0" i="0" u="none" strike="noStrike" kern="1200" cap="none" spc="0" normalizeH="0" baseline="0" noProof="0" dirty="0" err="1">
                <a:ln>
                  <a:noFill/>
                </a:ln>
                <a:solidFill>
                  <a:prstClr val="black">
                    <a:lumMod val="75000"/>
                    <a:lumOff val="25000"/>
                  </a:prstClr>
                </a:solidFill>
                <a:effectLst/>
                <a:uLnTx/>
                <a:uFillTx/>
                <a:latin typeface="Yekan Bakh FaNum" pitchFamily="2" charset="-78"/>
                <a:ea typeface="+mn-ea"/>
                <a:cs typeface="Yekan Bakh FaNum" pitchFamily="2" charset="-78"/>
              </a:rPr>
              <a:t>استانداردی</a:t>
            </a:r>
            <a:r>
              <a:rPr kumimoji="0"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 </a:t>
            </a:r>
            <a:r>
              <a:rPr kumimoji="0" sz="1100" b="0" i="0" u="none" strike="noStrike" kern="1200" cap="none" spc="0" normalizeH="0" baseline="0" noProof="0" dirty="0" err="1">
                <a:ln>
                  <a:noFill/>
                </a:ln>
                <a:solidFill>
                  <a:prstClr val="black">
                    <a:lumMod val="75000"/>
                    <a:lumOff val="25000"/>
                  </a:prstClr>
                </a:solidFill>
                <a:effectLst/>
                <a:uLnTx/>
                <a:uFillTx/>
                <a:latin typeface="Yekan Bakh FaNum" pitchFamily="2" charset="-78"/>
                <a:ea typeface="+mn-ea"/>
                <a:cs typeface="Yekan Bakh FaNum" pitchFamily="2" charset="-78"/>
              </a:rPr>
              <a:t>دارد</a:t>
            </a:r>
            <a:r>
              <a:rPr kumimoji="0"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 </a:t>
            </a:r>
            <a:r>
              <a:rPr kumimoji="0" lang="fa-IR"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«اکوسیستم فرصت ایران» </a:t>
            </a:r>
            <a:r>
              <a:rPr kumimoji="0" sz="1100" b="0" i="0" u="none" strike="noStrike" kern="1200" cap="none" spc="0" normalizeH="0" baseline="0" noProof="0" dirty="0" err="1">
                <a:ln>
                  <a:noFill/>
                </a:ln>
                <a:solidFill>
                  <a:prstClr val="black">
                    <a:lumMod val="75000"/>
                    <a:lumOff val="25000"/>
                  </a:prstClr>
                </a:solidFill>
                <a:effectLst/>
                <a:uLnTx/>
                <a:uFillTx/>
                <a:latin typeface="Yekan Bakh FaNum" pitchFamily="2" charset="-78"/>
                <a:ea typeface="+mn-ea"/>
                <a:cs typeface="Yekan Bakh FaNum" pitchFamily="2" charset="-78"/>
              </a:rPr>
              <a:t>خدمتی</a:t>
            </a:r>
            <a:r>
              <a:rPr kumimoji="0"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 </a:t>
            </a:r>
            <a:r>
              <a:rPr kumimoji="0" sz="1100" b="0" i="0" u="none" strike="noStrike" kern="1200" cap="none" spc="0" normalizeH="0" baseline="0" noProof="0" dirty="0" err="1">
                <a:ln>
                  <a:noFill/>
                </a:ln>
                <a:solidFill>
                  <a:prstClr val="black">
                    <a:lumMod val="75000"/>
                    <a:lumOff val="25000"/>
                  </a:prstClr>
                </a:solidFill>
                <a:effectLst/>
                <a:uLnTx/>
                <a:uFillTx/>
                <a:latin typeface="Yekan Bakh FaNum" pitchFamily="2" charset="-78"/>
                <a:ea typeface="+mn-ea"/>
                <a:cs typeface="Yekan Bakh FaNum" pitchFamily="2" charset="-78"/>
              </a:rPr>
              <a:t>معین</a:t>
            </a:r>
            <a:r>
              <a:rPr kumimoji="0"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 </a:t>
            </a:r>
            <a:r>
              <a:rPr kumimoji="0" sz="1100" b="0" i="0" u="none" strike="noStrike" kern="1200" cap="none" spc="0" normalizeH="0" baseline="0" noProof="0" dirty="0" err="1">
                <a:ln>
                  <a:noFill/>
                </a:ln>
                <a:solidFill>
                  <a:prstClr val="black">
                    <a:lumMod val="75000"/>
                    <a:lumOff val="25000"/>
                  </a:prstClr>
                </a:solidFill>
                <a:effectLst/>
                <a:uLnTx/>
                <a:uFillTx/>
                <a:latin typeface="Yekan Bakh FaNum" pitchFamily="2" charset="-78"/>
                <a:ea typeface="+mn-ea"/>
                <a:cs typeface="Yekan Bakh FaNum" pitchFamily="2" charset="-78"/>
              </a:rPr>
              <a:t>را</a:t>
            </a:r>
            <a:r>
              <a:rPr kumimoji="0"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 </a:t>
            </a:r>
            <a:r>
              <a:rPr kumimoji="0" sz="1100" b="0" i="0" u="none" strike="noStrike" kern="1200" cap="none" spc="0" normalizeH="0" baseline="0" noProof="0" dirty="0" err="1">
                <a:ln>
                  <a:noFill/>
                </a:ln>
                <a:solidFill>
                  <a:prstClr val="black">
                    <a:lumMod val="75000"/>
                    <a:lumOff val="25000"/>
                  </a:prstClr>
                </a:solidFill>
                <a:effectLst/>
                <a:uLnTx/>
                <a:uFillTx/>
                <a:latin typeface="Yekan Bakh FaNum" pitchFamily="2" charset="-78"/>
                <a:ea typeface="+mn-ea"/>
                <a:cs typeface="Yekan Bakh FaNum" pitchFamily="2" charset="-78"/>
              </a:rPr>
              <a:t>در</a:t>
            </a:r>
            <a:r>
              <a:rPr kumimoji="0"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 </a:t>
            </a:r>
            <a:r>
              <a:rPr kumimoji="0" sz="1100" b="0" i="0" u="none" strike="noStrike" kern="1200" cap="none" spc="0" normalizeH="0" baseline="0" noProof="0" dirty="0" err="1">
                <a:ln>
                  <a:noFill/>
                </a:ln>
                <a:solidFill>
                  <a:prstClr val="black">
                    <a:lumMod val="75000"/>
                    <a:lumOff val="25000"/>
                  </a:prstClr>
                </a:solidFill>
                <a:effectLst/>
                <a:uLnTx/>
                <a:uFillTx/>
                <a:latin typeface="Yekan Bakh FaNum" pitchFamily="2" charset="-78"/>
                <a:ea typeface="+mn-ea"/>
                <a:cs typeface="Yekan Bakh FaNum" pitchFamily="2" charset="-78"/>
              </a:rPr>
              <a:t>ازای</a:t>
            </a:r>
            <a:r>
              <a:rPr kumimoji="0"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 </a:t>
            </a:r>
            <a:r>
              <a:rPr kumimoji="0" sz="1100" b="0" i="0" u="none" strike="noStrike" kern="1200" cap="none" spc="0" normalizeH="0" baseline="0" noProof="0" dirty="0" err="1">
                <a:ln>
                  <a:noFill/>
                </a:ln>
                <a:solidFill>
                  <a:prstClr val="black">
                    <a:lumMod val="75000"/>
                    <a:lumOff val="25000"/>
                  </a:prstClr>
                </a:solidFill>
                <a:effectLst/>
                <a:uLnTx/>
                <a:uFillTx/>
                <a:latin typeface="Yekan Bakh FaNum" pitchFamily="2" charset="-78"/>
                <a:ea typeface="+mn-ea"/>
                <a:cs typeface="Yekan Bakh FaNum" pitchFamily="2" charset="-78"/>
              </a:rPr>
              <a:t>پرداخت</a:t>
            </a:r>
            <a:r>
              <a:rPr kumimoji="0"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 </a:t>
            </a:r>
            <a:r>
              <a:rPr kumimoji="0" sz="1100" b="0" i="0" u="none" strike="noStrike" kern="1200" cap="none" spc="0" normalizeH="0" baseline="0" noProof="0" dirty="0" err="1">
                <a:ln>
                  <a:noFill/>
                </a:ln>
                <a:solidFill>
                  <a:prstClr val="black">
                    <a:lumMod val="75000"/>
                    <a:lumOff val="25000"/>
                  </a:prstClr>
                </a:solidFill>
                <a:effectLst/>
                <a:uLnTx/>
                <a:uFillTx/>
                <a:latin typeface="Yekan Bakh FaNum" pitchFamily="2" charset="-78"/>
                <a:ea typeface="+mn-ea"/>
                <a:cs typeface="Yekan Bakh FaNum" pitchFamily="2" charset="-78"/>
              </a:rPr>
              <a:t>ارائه</a:t>
            </a:r>
            <a:r>
              <a:rPr kumimoji="0"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 </a:t>
            </a:r>
            <a:r>
              <a:rPr kumimoji="0" sz="1100" b="0" i="0" u="none" strike="noStrike" kern="1200" cap="none" spc="0" normalizeH="0" baseline="0" noProof="0" dirty="0" err="1">
                <a:ln>
                  <a:noFill/>
                </a:ln>
                <a:solidFill>
                  <a:prstClr val="black">
                    <a:lumMod val="75000"/>
                    <a:lumOff val="25000"/>
                  </a:prstClr>
                </a:solidFill>
                <a:effectLst/>
                <a:uLnTx/>
                <a:uFillTx/>
                <a:latin typeface="Yekan Bakh FaNum" pitchFamily="2" charset="-78"/>
                <a:ea typeface="+mn-ea"/>
                <a:cs typeface="Yekan Bakh FaNum" pitchFamily="2" charset="-78"/>
              </a:rPr>
              <a:t>می‌کند</a:t>
            </a:r>
            <a:r>
              <a:rPr kumimoji="0"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 </a:t>
            </a:r>
            <a:r>
              <a:rPr kumimoji="0" sz="1100" b="0" i="0" u="none" strike="noStrike" kern="1200" cap="none" spc="0" normalizeH="0" baseline="0" noProof="0" dirty="0" err="1">
                <a:ln>
                  <a:noFill/>
                </a:ln>
                <a:solidFill>
                  <a:prstClr val="black">
                    <a:lumMod val="75000"/>
                    <a:lumOff val="25000"/>
                  </a:prstClr>
                </a:solidFill>
                <a:effectLst/>
                <a:uLnTx/>
                <a:uFillTx/>
                <a:latin typeface="Yekan Bakh FaNum" pitchFamily="2" charset="-78"/>
                <a:ea typeface="+mn-ea"/>
                <a:cs typeface="Yekan Bakh FaNum" pitchFamily="2" charset="-78"/>
              </a:rPr>
              <a:t>بدون</a:t>
            </a:r>
            <a:r>
              <a:rPr kumimoji="0"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 </a:t>
            </a:r>
            <a:r>
              <a:rPr kumimoji="0" sz="1100" b="0" i="0" u="none" strike="noStrike" kern="1200" cap="none" spc="0" normalizeH="0" baseline="0" noProof="0" dirty="0" err="1">
                <a:ln>
                  <a:noFill/>
                </a:ln>
                <a:solidFill>
                  <a:prstClr val="black">
                    <a:lumMod val="75000"/>
                    <a:lumOff val="25000"/>
                  </a:prstClr>
                </a:solidFill>
                <a:effectLst/>
                <a:uLnTx/>
                <a:uFillTx/>
                <a:latin typeface="Yekan Bakh FaNum" pitchFamily="2" charset="-78"/>
                <a:ea typeface="+mn-ea"/>
                <a:cs typeface="Yekan Bakh FaNum" pitchFamily="2" charset="-78"/>
              </a:rPr>
              <a:t>نیاز</a:t>
            </a:r>
            <a:r>
              <a:rPr kumimoji="0"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 </a:t>
            </a:r>
            <a:r>
              <a:rPr kumimoji="0" sz="1100" b="0" i="0" u="none" strike="noStrike" kern="1200" cap="none" spc="0" normalizeH="0" baseline="0" noProof="0" dirty="0" err="1">
                <a:ln>
                  <a:noFill/>
                </a:ln>
                <a:solidFill>
                  <a:prstClr val="black">
                    <a:lumMod val="75000"/>
                    <a:lumOff val="25000"/>
                  </a:prstClr>
                </a:solidFill>
                <a:effectLst/>
                <a:uLnTx/>
                <a:uFillTx/>
                <a:latin typeface="Yekan Bakh FaNum" pitchFamily="2" charset="-78"/>
                <a:ea typeface="+mn-ea"/>
                <a:cs typeface="Yekan Bakh FaNum" pitchFamily="2" charset="-78"/>
              </a:rPr>
              <a:t>به</a:t>
            </a:r>
            <a:r>
              <a:rPr kumimoji="0"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 </a:t>
            </a:r>
            <a:r>
              <a:rPr kumimoji="0" sz="1100" b="0" i="0" u="none" strike="noStrike" kern="1200" cap="none" spc="0" normalizeH="0" baseline="0" noProof="0" dirty="0" err="1">
                <a:ln>
                  <a:noFill/>
                </a:ln>
                <a:solidFill>
                  <a:prstClr val="black">
                    <a:lumMod val="75000"/>
                    <a:lumOff val="25000"/>
                  </a:prstClr>
                </a:solidFill>
                <a:effectLst/>
                <a:uLnTx/>
                <a:uFillTx/>
                <a:latin typeface="Yekan Bakh FaNum" pitchFamily="2" charset="-78"/>
                <a:ea typeface="+mn-ea"/>
                <a:cs typeface="Yekan Bakh FaNum" pitchFamily="2" charset="-78"/>
              </a:rPr>
              <a:t>تعامل</a:t>
            </a:r>
            <a:r>
              <a:rPr kumimoji="0"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 </a:t>
            </a:r>
            <a:r>
              <a:rPr kumimoji="0" sz="1100" b="0" i="0" u="none" strike="noStrike" kern="1200" cap="none" spc="0" normalizeH="0" baseline="0" noProof="0" dirty="0" err="1">
                <a:ln>
                  <a:noFill/>
                </a:ln>
                <a:solidFill>
                  <a:prstClr val="black">
                    <a:lumMod val="75000"/>
                    <a:lumOff val="25000"/>
                  </a:prstClr>
                </a:solidFill>
                <a:effectLst/>
                <a:uLnTx/>
                <a:uFillTx/>
                <a:latin typeface="Yekan Bakh FaNum" pitchFamily="2" charset="-78"/>
                <a:ea typeface="+mn-ea"/>
                <a:cs typeface="Yekan Bakh FaNum" pitchFamily="2" charset="-78"/>
              </a:rPr>
              <a:t>گسترده</a:t>
            </a:r>
            <a:r>
              <a:rPr kumimoji="0"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a:t>
            </a:r>
          </a:p>
        </p:txBody>
      </p:sp>
      <p:sp>
        <p:nvSpPr>
          <p:cNvPr id="21" name="Rectangle: Rounded Corners 20">
            <a:extLst>
              <a:ext uri="{FF2B5EF4-FFF2-40B4-BE49-F238E27FC236}">
                <a16:creationId xmlns:a16="http://schemas.microsoft.com/office/drawing/2014/main" id="{E3EB5E73-497F-0763-3E07-1260B101AFC6}"/>
              </a:ext>
            </a:extLst>
          </p:cNvPr>
          <p:cNvSpPr/>
          <p:nvPr/>
        </p:nvSpPr>
        <p:spPr>
          <a:xfrm>
            <a:off x="4409954" y="2535426"/>
            <a:ext cx="6855808" cy="369732"/>
          </a:xfrm>
          <a:prstGeom prst="roundRect">
            <a:avLst>
              <a:gd name="adj" fmla="val 7208"/>
            </a:avLst>
          </a:prstGeom>
          <a:solidFill>
            <a:srgbClr val="00406C">
              <a:alpha val="1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Calibri"/>
            </a:endParaRPr>
          </a:p>
        </p:txBody>
      </p:sp>
      <p:sp>
        <p:nvSpPr>
          <p:cNvPr id="23" name="TextBox 22">
            <a:extLst>
              <a:ext uri="{FF2B5EF4-FFF2-40B4-BE49-F238E27FC236}">
                <a16:creationId xmlns:a16="http://schemas.microsoft.com/office/drawing/2014/main" id="{FE6B35E3-4A4A-52AD-B799-9995AE515DBF}"/>
              </a:ext>
            </a:extLst>
          </p:cNvPr>
          <p:cNvSpPr txBox="1"/>
          <p:nvPr/>
        </p:nvSpPr>
        <p:spPr>
          <a:xfrm>
            <a:off x="4425222" y="2601898"/>
            <a:ext cx="6840539" cy="219291"/>
          </a:xfrm>
          <a:prstGeom prst="rect">
            <a:avLst/>
          </a:prstGeom>
          <a:noFill/>
        </p:spPr>
        <p:txBody>
          <a:bodyPr wrap="square" lIns="0" tIns="0" rIns="0" bIns="0" anchor="t">
            <a:spAutoFit/>
          </a:bodyPr>
          <a:lstStyle/>
          <a:p>
            <a:pPr marL="0" marR="0" lvl="0" indent="0" algn="ctr" defTabSz="457200" rtl="1" eaLnBrk="1" fontAlgn="auto" latinLnBrk="0" hangingPunct="1">
              <a:lnSpc>
                <a:spcPct val="125000"/>
              </a:lnSpc>
              <a:spcBef>
                <a:spcPts val="0"/>
              </a:spcBef>
              <a:spcAft>
                <a:spcPts val="0"/>
              </a:spcAft>
              <a:buClrTx/>
              <a:buSzTx/>
              <a:buFontTx/>
              <a:buNone/>
              <a:tabLst/>
              <a:defRPr/>
            </a:pPr>
            <a:r>
              <a:rPr kumimoji="0" sz="1200" b="1" i="0" u="none" strike="noStrike" kern="1200" cap="none" spc="0" normalizeH="0" baseline="0" noProof="0" dirty="0" err="1">
                <a:ln>
                  <a:noFill/>
                </a:ln>
                <a:solidFill>
                  <a:srgbClr val="15296B"/>
                </a:solidFill>
                <a:effectLst/>
                <a:uLnTx/>
                <a:uFillTx/>
                <a:latin typeface="Yekan Bakh FaNum" pitchFamily="2" charset="-78"/>
                <a:ea typeface="+mn-ea"/>
                <a:cs typeface="Yekan Bakh FaNum" pitchFamily="2" charset="-78"/>
              </a:rPr>
              <a:t>نیاز</a:t>
            </a:r>
            <a:r>
              <a:rPr kumimoji="0" sz="1200" b="1" i="0" u="none" strike="noStrike" kern="1200" cap="none" spc="0" normalizeH="0" baseline="0" noProof="0" dirty="0">
                <a:ln>
                  <a:noFill/>
                </a:ln>
                <a:solidFill>
                  <a:srgbClr val="15296B"/>
                </a:solidFill>
                <a:effectLst/>
                <a:uLnTx/>
                <a:uFillTx/>
                <a:latin typeface="Yekan Bakh FaNum" pitchFamily="2" charset="-78"/>
                <a:ea typeface="+mn-ea"/>
                <a:cs typeface="Yekan Bakh FaNum" pitchFamily="2" charset="-78"/>
              </a:rPr>
              <a:t> </a:t>
            </a:r>
            <a:r>
              <a:rPr kumimoji="0" sz="1200" b="1" i="0" u="none" strike="noStrike" kern="1200" cap="none" spc="0" normalizeH="0" baseline="0" noProof="0" dirty="0" err="1">
                <a:ln>
                  <a:noFill/>
                </a:ln>
                <a:solidFill>
                  <a:srgbClr val="15296B"/>
                </a:solidFill>
                <a:effectLst/>
                <a:uLnTx/>
                <a:uFillTx/>
                <a:latin typeface="Yekan Bakh FaNum" pitchFamily="2" charset="-78"/>
                <a:ea typeface="+mn-ea"/>
                <a:cs typeface="Yekan Bakh FaNum" pitchFamily="2" charset="-78"/>
              </a:rPr>
              <a:t>مشخص</a:t>
            </a:r>
            <a:r>
              <a:rPr kumimoji="0" sz="1200" b="1" i="0" u="none" strike="noStrike" kern="1200" cap="none" spc="0" normalizeH="0" baseline="0" noProof="0" dirty="0">
                <a:ln>
                  <a:noFill/>
                </a:ln>
                <a:solidFill>
                  <a:srgbClr val="15296B"/>
                </a:solidFill>
                <a:effectLst/>
                <a:uLnTx/>
                <a:uFillTx/>
                <a:latin typeface="Yekan Bakh FaNum" pitchFamily="2" charset="-78"/>
                <a:ea typeface="+mn-ea"/>
                <a:cs typeface="Yekan Bakh FaNum" pitchFamily="2" charset="-78"/>
              </a:rPr>
              <a:t> </a:t>
            </a:r>
            <a:r>
              <a:rPr kumimoji="0" sz="1200" b="1" i="0" u="none" strike="noStrike" kern="1200" cap="none" spc="0" normalizeH="0" baseline="0" noProof="0" dirty="0" err="1">
                <a:ln>
                  <a:noFill/>
                </a:ln>
                <a:solidFill>
                  <a:srgbClr val="15296B"/>
                </a:solidFill>
                <a:effectLst/>
                <a:uLnTx/>
                <a:uFillTx/>
                <a:latin typeface="Yekan Bakh FaNum" pitchFamily="2" charset="-78"/>
                <a:ea typeface="+mn-ea"/>
                <a:cs typeface="Yekan Bakh FaNum" pitchFamily="2" charset="-78"/>
              </a:rPr>
              <a:t>مشتری</a:t>
            </a:r>
            <a:r>
              <a:rPr kumimoji="0" sz="1200" b="1" i="0" u="none" strike="noStrike" kern="1200" cap="none" spc="0" normalizeH="0" baseline="0" noProof="0" dirty="0">
                <a:ln>
                  <a:noFill/>
                </a:ln>
                <a:solidFill>
                  <a:srgbClr val="15296B"/>
                </a:solidFill>
                <a:effectLst/>
                <a:uLnTx/>
                <a:uFillTx/>
                <a:latin typeface="Yekan Bakh FaNum" pitchFamily="2" charset="-78"/>
                <a:ea typeface="+mn-ea"/>
                <a:cs typeface="Yekan Bakh FaNum" pitchFamily="2" charset="-78"/>
              </a:rPr>
              <a:t>  ←</a:t>
            </a:r>
            <a:r>
              <a:rPr kumimoji="0" lang="fa-IR" sz="1200" b="1" i="0" u="none" strike="noStrike" kern="1200" cap="none" spc="0" normalizeH="0" baseline="0" noProof="0" dirty="0">
                <a:ln>
                  <a:noFill/>
                </a:ln>
                <a:solidFill>
                  <a:srgbClr val="15296B"/>
                </a:solidFill>
                <a:effectLst/>
                <a:uLnTx/>
                <a:uFillTx/>
                <a:latin typeface="Yekan Bakh FaNum" pitchFamily="2" charset="-78"/>
                <a:ea typeface="+mn-ea"/>
                <a:cs typeface="Yekan Bakh FaNum" pitchFamily="2" charset="-78"/>
              </a:rPr>
              <a:t> خ</a:t>
            </a:r>
            <a:r>
              <a:rPr kumimoji="0" sz="1200" b="1" i="0" u="none" strike="noStrike" kern="1200" cap="none" spc="0" normalizeH="0" baseline="0" noProof="0" dirty="0" err="1">
                <a:ln>
                  <a:noFill/>
                </a:ln>
                <a:solidFill>
                  <a:srgbClr val="15296B"/>
                </a:solidFill>
                <a:effectLst/>
                <a:uLnTx/>
                <a:uFillTx/>
                <a:latin typeface="Yekan Bakh FaNum" pitchFamily="2" charset="-78"/>
                <a:ea typeface="+mn-ea"/>
                <a:cs typeface="Yekan Bakh FaNum" pitchFamily="2" charset="-78"/>
              </a:rPr>
              <a:t>دمت</a:t>
            </a:r>
            <a:r>
              <a:rPr kumimoji="0" sz="1200" b="1" i="0" u="none" strike="noStrike" kern="1200" cap="none" spc="0" normalizeH="0" baseline="0" noProof="0" dirty="0">
                <a:ln>
                  <a:noFill/>
                </a:ln>
                <a:solidFill>
                  <a:srgbClr val="15296B"/>
                </a:solidFill>
                <a:effectLst/>
                <a:uLnTx/>
                <a:uFillTx/>
                <a:latin typeface="Yekan Bakh FaNum" pitchFamily="2" charset="-78"/>
                <a:ea typeface="+mn-ea"/>
                <a:cs typeface="Yekan Bakh FaNum" pitchFamily="2" charset="-78"/>
              </a:rPr>
              <a:t> </a:t>
            </a:r>
            <a:r>
              <a:rPr kumimoji="0" sz="1200" b="1" i="0" u="none" strike="noStrike" kern="1200" cap="none" spc="0" normalizeH="0" baseline="0" noProof="0" dirty="0" err="1">
                <a:ln>
                  <a:noFill/>
                </a:ln>
                <a:solidFill>
                  <a:srgbClr val="15296B"/>
                </a:solidFill>
                <a:effectLst/>
                <a:uLnTx/>
                <a:uFillTx/>
                <a:latin typeface="Yekan Bakh FaNum" pitchFamily="2" charset="-78"/>
                <a:ea typeface="+mn-ea"/>
                <a:cs typeface="Yekan Bakh FaNum" pitchFamily="2" charset="-78"/>
              </a:rPr>
              <a:t>استاندارد</a:t>
            </a:r>
            <a:r>
              <a:rPr kumimoji="0" lang="en-US" sz="1200" b="1" i="0" u="none" strike="noStrike" kern="1200" cap="none" spc="0" normalizeH="0" baseline="0" noProof="0" dirty="0">
                <a:ln>
                  <a:noFill/>
                </a:ln>
                <a:solidFill>
                  <a:srgbClr val="15296B"/>
                </a:solidFill>
                <a:effectLst/>
                <a:uLnTx/>
                <a:uFillTx/>
                <a:latin typeface="Yekan Bakh FaNum" pitchFamily="2" charset="-78"/>
                <a:ea typeface="+mn-ea"/>
                <a:cs typeface="Yekan Bakh FaNum" pitchFamily="2" charset="-78"/>
              </a:rPr>
              <a:t>←</a:t>
            </a:r>
            <a:r>
              <a:rPr kumimoji="0" sz="1200" b="1" i="0" u="none" strike="noStrike" kern="1200" cap="none" spc="0" normalizeH="0" baseline="0" noProof="0" dirty="0">
                <a:ln>
                  <a:noFill/>
                </a:ln>
                <a:solidFill>
                  <a:srgbClr val="15296B"/>
                </a:solidFill>
                <a:effectLst/>
                <a:uLnTx/>
                <a:uFillTx/>
                <a:latin typeface="Yekan Bakh FaNum" pitchFamily="2" charset="-78"/>
                <a:ea typeface="+mn-ea"/>
                <a:cs typeface="Yekan Bakh FaNum" pitchFamily="2" charset="-78"/>
              </a:rPr>
              <a:t>  </a:t>
            </a:r>
            <a:r>
              <a:rPr kumimoji="0" lang="fa-IR" sz="1200" b="1" i="0" u="none" strike="noStrike" kern="1200" cap="none" spc="0" normalizeH="0" baseline="0" noProof="0" dirty="0">
                <a:ln>
                  <a:noFill/>
                </a:ln>
                <a:solidFill>
                  <a:srgbClr val="15296B"/>
                </a:solidFill>
                <a:effectLst/>
                <a:uLnTx/>
                <a:uFillTx/>
                <a:latin typeface="Yekan Bakh FaNum" pitchFamily="2" charset="-78"/>
                <a:ea typeface="+mn-ea"/>
                <a:cs typeface="Yekan Bakh FaNum" pitchFamily="2" charset="-78"/>
              </a:rPr>
              <a:t> ت</a:t>
            </a:r>
            <a:r>
              <a:rPr kumimoji="0" sz="1200" b="1" i="0" u="none" strike="noStrike" kern="1200" cap="none" spc="0" normalizeH="0" baseline="0" noProof="0" dirty="0" err="1">
                <a:ln>
                  <a:noFill/>
                </a:ln>
                <a:solidFill>
                  <a:srgbClr val="15296B"/>
                </a:solidFill>
                <a:effectLst/>
                <a:uLnTx/>
                <a:uFillTx/>
                <a:latin typeface="Yekan Bakh FaNum" pitchFamily="2" charset="-78"/>
                <a:ea typeface="+mn-ea"/>
                <a:cs typeface="Yekan Bakh FaNum" pitchFamily="2" charset="-78"/>
              </a:rPr>
              <a:t>راکنش</a:t>
            </a:r>
            <a:endParaRPr kumimoji="0" sz="1200" b="1" i="0" u="none" strike="noStrike" kern="1200" cap="none" spc="0" normalizeH="0" baseline="0" noProof="0" dirty="0">
              <a:ln>
                <a:noFill/>
              </a:ln>
              <a:solidFill>
                <a:srgbClr val="15296B"/>
              </a:solidFill>
              <a:effectLst/>
              <a:uLnTx/>
              <a:uFillTx/>
              <a:latin typeface="Yekan Bakh FaNum" pitchFamily="2" charset="-78"/>
              <a:ea typeface="+mn-ea"/>
              <a:cs typeface="Yekan Bakh FaNum" pitchFamily="2" charset="-78"/>
            </a:endParaRPr>
          </a:p>
        </p:txBody>
      </p:sp>
      <p:sp>
        <p:nvSpPr>
          <p:cNvPr id="6" name="TextBox 5">
            <a:extLst>
              <a:ext uri="{FF2B5EF4-FFF2-40B4-BE49-F238E27FC236}">
                <a16:creationId xmlns:a16="http://schemas.microsoft.com/office/drawing/2014/main" id="{C619757F-BD96-94E2-B5E2-50F7CD5DF98B}"/>
              </a:ext>
            </a:extLst>
          </p:cNvPr>
          <p:cNvSpPr txBox="1"/>
          <p:nvPr/>
        </p:nvSpPr>
        <p:spPr>
          <a:xfrm>
            <a:off x="7412561" y="1333703"/>
            <a:ext cx="850594" cy="261610"/>
          </a:xfrm>
          <a:prstGeom prst="rect">
            <a:avLst/>
          </a:prstGeom>
          <a:solidFill>
            <a:schemeClr val="bg1"/>
          </a:solidFill>
        </p:spPr>
        <p:txBody>
          <a:bodyPr wrap="square"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تعریف</a:t>
            </a:r>
          </a:p>
        </p:txBody>
      </p:sp>
      <p:sp>
        <p:nvSpPr>
          <p:cNvPr id="29" name="Rectangle: Rounded Corners 28">
            <a:extLst>
              <a:ext uri="{FF2B5EF4-FFF2-40B4-BE49-F238E27FC236}">
                <a16:creationId xmlns:a16="http://schemas.microsoft.com/office/drawing/2014/main" id="{4FC79393-BC57-6E7D-3381-12FB33BABF88}"/>
              </a:ext>
            </a:extLst>
          </p:cNvPr>
          <p:cNvSpPr/>
          <p:nvPr/>
        </p:nvSpPr>
        <p:spPr>
          <a:xfrm>
            <a:off x="437288" y="1464508"/>
            <a:ext cx="3545953" cy="2009496"/>
          </a:xfrm>
          <a:prstGeom prst="roundRect">
            <a:avLst>
              <a:gd name="adj" fmla="val 6055"/>
            </a:avLst>
          </a:prstGeom>
          <a:solidFill>
            <a:srgbClr val="EFF3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30" name="Rectangle: Rounded Corners 29">
            <a:extLst>
              <a:ext uri="{FF2B5EF4-FFF2-40B4-BE49-F238E27FC236}">
                <a16:creationId xmlns:a16="http://schemas.microsoft.com/office/drawing/2014/main" id="{35F3BAD2-81C8-8EB1-F2FE-63B0229A3DF2}"/>
              </a:ext>
            </a:extLst>
          </p:cNvPr>
          <p:cNvSpPr/>
          <p:nvPr/>
        </p:nvSpPr>
        <p:spPr>
          <a:xfrm>
            <a:off x="437288" y="3799008"/>
            <a:ext cx="3545953" cy="2009496"/>
          </a:xfrm>
          <a:prstGeom prst="roundRect">
            <a:avLst>
              <a:gd name="adj" fmla="val 6055"/>
            </a:avLst>
          </a:prstGeom>
          <a:solidFill>
            <a:schemeClr val="bg1">
              <a:lumMod val="75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Calibri"/>
            </a:endParaRPr>
          </a:p>
        </p:txBody>
      </p:sp>
      <p:cxnSp>
        <p:nvCxnSpPr>
          <p:cNvPr id="36" name="Straight Connector 35">
            <a:extLst>
              <a:ext uri="{FF2B5EF4-FFF2-40B4-BE49-F238E27FC236}">
                <a16:creationId xmlns:a16="http://schemas.microsoft.com/office/drawing/2014/main" id="{CBFDF4E2-E138-D5A1-ED18-745FC79B6542}"/>
              </a:ext>
            </a:extLst>
          </p:cNvPr>
          <p:cNvCxnSpPr/>
          <p:nvPr/>
        </p:nvCxnSpPr>
        <p:spPr>
          <a:xfrm>
            <a:off x="4201610" y="1464508"/>
            <a:ext cx="0" cy="4343996"/>
          </a:xfrm>
          <a:prstGeom prst="line">
            <a:avLst/>
          </a:prstGeom>
          <a:ln>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AC21A489-77ED-E73C-7C23-551CAA044D35}"/>
              </a:ext>
            </a:extLst>
          </p:cNvPr>
          <p:cNvSpPr txBox="1"/>
          <p:nvPr/>
        </p:nvSpPr>
        <p:spPr>
          <a:xfrm>
            <a:off x="641064" y="1646441"/>
            <a:ext cx="3138401" cy="211596"/>
          </a:xfrm>
          <a:prstGeom prst="rect">
            <a:avLst/>
          </a:prstGeom>
          <a:noFill/>
        </p:spPr>
        <p:txBody>
          <a:bodyPr wrap="square" lIns="0" tIns="0" rIns="0" bIns="0" anchor="t">
            <a:spAutoFit/>
          </a:bodyPr>
          <a:lstStyle/>
          <a:p>
            <a:pPr marL="0" marR="0" lvl="0" indent="0" algn="ctr" defTabSz="457200" rtl="1" eaLnBrk="1" fontAlgn="auto" latinLnBrk="0" hangingPunct="1">
              <a:lnSpc>
                <a:spcPct val="125000"/>
              </a:lnSpc>
              <a:spcBef>
                <a:spcPts val="0"/>
              </a:spcBef>
              <a:spcAft>
                <a:spcPts val="0"/>
              </a:spcAft>
              <a:buClrTx/>
              <a:buSzTx/>
              <a:buFontTx/>
              <a:buNone/>
              <a:tabLst/>
              <a:defRPr/>
            </a:pPr>
            <a:r>
              <a:rPr kumimoji="0" sz="1100" b="1" i="0" u="none" strike="noStrike" kern="1200" cap="none" spc="0" normalizeH="0" baseline="0" noProof="0" dirty="0" err="1">
                <a:ln>
                  <a:noFill/>
                </a:ln>
                <a:solidFill>
                  <a:srgbClr val="15296B"/>
                </a:solidFill>
                <a:effectLst/>
                <a:uLnTx/>
                <a:uFillTx/>
                <a:latin typeface="Yekan Bakh FaNum" pitchFamily="2" charset="-78"/>
                <a:ea typeface="+mn-ea"/>
                <a:cs typeface="Yekan Bakh FaNum" pitchFamily="2" charset="-78"/>
              </a:rPr>
              <a:t>مثال</a:t>
            </a:r>
            <a:r>
              <a:rPr kumimoji="0" sz="1100" b="1" i="0" u="none" strike="noStrike" kern="1200" cap="none" spc="0" normalizeH="0" baseline="0" noProof="0" dirty="0">
                <a:ln>
                  <a:noFill/>
                </a:ln>
                <a:solidFill>
                  <a:srgbClr val="15296B"/>
                </a:solidFill>
                <a:effectLst/>
                <a:uLnTx/>
                <a:uFillTx/>
                <a:latin typeface="Yekan Bakh FaNum" pitchFamily="2" charset="-78"/>
                <a:ea typeface="+mn-ea"/>
                <a:cs typeface="Yekan Bakh FaNum" pitchFamily="2" charset="-78"/>
              </a:rPr>
              <a:t> </a:t>
            </a:r>
            <a:r>
              <a:rPr kumimoji="0" sz="1100" b="1" i="0" u="none" strike="noStrike" kern="1200" cap="none" spc="0" normalizeH="0" baseline="0" noProof="0" dirty="0" err="1">
                <a:ln>
                  <a:noFill/>
                </a:ln>
                <a:solidFill>
                  <a:srgbClr val="15296B"/>
                </a:solidFill>
                <a:effectLst/>
                <a:uLnTx/>
                <a:uFillTx/>
                <a:latin typeface="Yekan Bakh FaNum" pitchFamily="2" charset="-78"/>
                <a:ea typeface="+mn-ea"/>
                <a:cs typeface="Yekan Bakh FaNum" pitchFamily="2" charset="-78"/>
              </a:rPr>
              <a:t>جهانی</a:t>
            </a:r>
            <a:endParaRPr kumimoji="0" sz="1100" b="1" i="0" u="none" strike="noStrike" kern="1200" cap="none" spc="0" normalizeH="0" baseline="0" noProof="0" dirty="0">
              <a:ln>
                <a:noFill/>
              </a:ln>
              <a:solidFill>
                <a:srgbClr val="15296B"/>
              </a:solidFill>
              <a:effectLst/>
              <a:uLnTx/>
              <a:uFillTx/>
              <a:latin typeface="Yekan Bakh FaNum" pitchFamily="2" charset="-78"/>
              <a:ea typeface="+mn-ea"/>
              <a:cs typeface="Yekan Bakh FaNum" pitchFamily="2" charset="-78"/>
            </a:endParaRPr>
          </a:p>
        </p:txBody>
      </p:sp>
      <p:sp>
        <p:nvSpPr>
          <p:cNvPr id="34" name="TextBox 33">
            <a:extLst>
              <a:ext uri="{FF2B5EF4-FFF2-40B4-BE49-F238E27FC236}">
                <a16:creationId xmlns:a16="http://schemas.microsoft.com/office/drawing/2014/main" id="{DA77C238-9E46-A1C6-9879-A0A634E6F028}"/>
              </a:ext>
            </a:extLst>
          </p:cNvPr>
          <p:cNvSpPr txBox="1"/>
          <p:nvPr/>
        </p:nvSpPr>
        <p:spPr>
          <a:xfrm>
            <a:off x="641064" y="2181795"/>
            <a:ext cx="3138401" cy="740587"/>
          </a:xfrm>
          <a:prstGeom prst="rect">
            <a:avLst/>
          </a:prstGeom>
          <a:noFill/>
        </p:spPr>
        <p:txBody>
          <a:bodyPr wrap="square" lIns="0" tIns="0" rIns="0" bIns="0" anchor="t">
            <a:spAutoFit/>
          </a:bodyPr>
          <a:lstStyle/>
          <a:p>
            <a:pPr marL="0" marR="0" lvl="0" indent="0" algn="ctr" defTabSz="457200" rtl="1" eaLnBrk="1" fontAlgn="auto" latinLnBrk="0" hangingPunct="1">
              <a:lnSpc>
                <a:spcPct val="15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Amazon Business</a:t>
            </a:r>
            <a:endParaRPr kumimoji="0" lang="fa-IR"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endParaRPr>
          </a:p>
          <a:p>
            <a:pPr marL="0" marR="0" lvl="0" indent="0" algn="ctr" defTabSz="457200" rtl="1" eaLnBrk="1" fontAlgn="auto" latinLnBrk="0" hangingPunct="1">
              <a:lnSpc>
                <a:spcPct val="150000"/>
              </a:lnSpc>
              <a:spcBef>
                <a:spcPts val="0"/>
              </a:spcBef>
              <a:spcAft>
                <a:spcPts val="0"/>
              </a:spcAft>
              <a:buClrTx/>
              <a:buSzTx/>
              <a:buFontTx/>
              <a:buNone/>
              <a:tabLst/>
              <a:defRPr/>
            </a:pPr>
            <a:r>
              <a:rPr kumimoji="0" lang="fa-IR"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سفارش استاندارد اقلام</a:t>
            </a:r>
            <a:r>
              <a:rPr kumimoji="0" lang="en-US"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B2B </a:t>
            </a:r>
            <a:r>
              <a:rPr kumimoji="0" lang="fa-IR"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 بدون نیاز به تماس با فروشنده</a:t>
            </a:r>
          </a:p>
        </p:txBody>
      </p:sp>
      <p:cxnSp>
        <p:nvCxnSpPr>
          <p:cNvPr id="42" name="Straight Connector 41">
            <a:extLst>
              <a:ext uri="{FF2B5EF4-FFF2-40B4-BE49-F238E27FC236}">
                <a16:creationId xmlns:a16="http://schemas.microsoft.com/office/drawing/2014/main" id="{D54366B8-5185-50D8-26CB-B444A249A72B}"/>
              </a:ext>
            </a:extLst>
          </p:cNvPr>
          <p:cNvCxnSpPr>
            <a:cxnSpLocks/>
          </p:cNvCxnSpPr>
          <p:nvPr/>
        </p:nvCxnSpPr>
        <p:spPr>
          <a:xfrm>
            <a:off x="440900" y="2047348"/>
            <a:ext cx="3547872" cy="0"/>
          </a:xfrm>
          <a:prstGeom prst="line">
            <a:avLst/>
          </a:prstGeom>
          <a:ln w="12700">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FDADD960-416F-EE12-E6EE-0D2F9A203EFC}"/>
              </a:ext>
            </a:extLst>
          </p:cNvPr>
          <p:cNvSpPr txBox="1"/>
          <p:nvPr/>
        </p:nvSpPr>
        <p:spPr>
          <a:xfrm>
            <a:off x="641064" y="3980941"/>
            <a:ext cx="3138401" cy="211596"/>
          </a:xfrm>
          <a:prstGeom prst="rect">
            <a:avLst/>
          </a:prstGeom>
          <a:noFill/>
        </p:spPr>
        <p:txBody>
          <a:bodyPr wrap="square" lIns="0" tIns="0" rIns="0" bIns="0" anchor="t">
            <a:spAutoFit/>
          </a:bodyPr>
          <a:lstStyle/>
          <a:p>
            <a:pPr marL="0" marR="0" lvl="0" indent="0" algn="ctr" defTabSz="457200" rtl="1" eaLnBrk="1" fontAlgn="auto" latinLnBrk="0" hangingPunct="1">
              <a:lnSpc>
                <a:spcPct val="125000"/>
              </a:lnSpc>
              <a:spcBef>
                <a:spcPts val="0"/>
              </a:spcBef>
              <a:spcAft>
                <a:spcPts val="0"/>
              </a:spcAft>
              <a:buClrTx/>
              <a:buSzTx/>
              <a:buFontTx/>
              <a:buNone/>
              <a:tabLst/>
              <a:defRPr/>
            </a:pPr>
            <a:r>
              <a:rPr kumimoji="0" lang="fa-IR" sz="1100" b="1" i="0" u="none" strike="noStrike" kern="1200" cap="none" spc="0" normalizeH="0" baseline="0" noProof="0" dirty="0">
                <a:ln>
                  <a:noFill/>
                </a:ln>
                <a:solidFill>
                  <a:srgbClr val="15296B"/>
                </a:solidFill>
                <a:effectLst/>
                <a:uLnTx/>
                <a:uFillTx/>
                <a:latin typeface="Yekan Bakh FaNum" pitchFamily="2" charset="-78"/>
                <a:ea typeface="+mn-ea"/>
                <a:cs typeface="Yekan Bakh FaNum" pitchFamily="2" charset="-78"/>
              </a:rPr>
              <a:t>بنچمارک اکوسیستم برون‌مرزی</a:t>
            </a:r>
          </a:p>
        </p:txBody>
      </p:sp>
      <p:sp>
        <p:nvSpPr>
          <p:cNvPr id="40" name="TextBox 39">
            <a:extLst>
              <a:ext uri="{FF2B5EF4-FFF2-40B4-BE49-F238E27FC236}">
                <a16:creationId xmlns:a16="http://schemas.microsoft.com/office/drawing/2014/main" id="{DD319691-3A7F-1A34-6892-F55B84A74F88}"/>
              </a:ext>
            </a:extLst>
          </p:cNvPr>
          <p:cNvSpPr txBox="1"/>
          <p:nvPr/>
        </p:nvSpPr>
        <p:spPr>
          <a:xfrm>
            <a:off x="641064" y="4516295"/>
            <a:ext cx="3138401" cy="740587"/>
          </a:xfrm>
          <a:prstGeom prst="rect">
            <a:avLst/>
          </a:prstGeom>
          <a:noFill/>
        </p:spPr>
        <p:txBody>
          <a:bodyPr wrap="square" lIns="0" tIns="0" rIns="0" bIns="0" anchor="t">
            <a:spAutoFit/>
          </a:bodyPr>
          <a:lstStyle/>
          <a:p>
            <a:pPr marL="0" marR="0" lvl="0" indent="0" algn="ctr" defTabSz="457200" rtl="1" eaLnBrk="1" fontAlgn="auto" latinLnBrk="0" hangingPunct="1">
              <a:lnSpc>
                <a:spcPct val="150000"/>
              </a:lnSpc>
              <a:spcBef>
                <a:spcPts val="0"/>
              </a:spcBef>
              <a:spcAft>
                <a:spcPts val="0"/>
              </a:spcAft>
              <a:buClrTx/>
              <a:buSzTx/>
              <a:buFontTx/>
              <a:buNone/>
              <a:tabLst/>
              <a:defRPr/>
            </a:pPr>
            <a:r>
              <a:rPr kumimoji="0" lang="fa-IR"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ابزار خودارزیابی آنلاین آمادگی صادرات در شبکه </a:t>
            </a:r>
            <a:r>
              <a:rPr kumimoji="0" lang="en-US"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Enterprise Europe Network </a:t>
            </a:r>
            <a:r>
              <a:rPr kumimoji="0" lang="fa-IR"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 شرکت بدون دخالت انسانی وضعیت آمادگی خود را می‌سنجد</a:t>
            </a:r>
          </a:p>
        </p:txBody>
      </p:sp>
      <p:cxnSp>
        <p:nvCxnSpPr>
          <p:cNvPr id="43" name="Straight Connector 42">
            <a:extLst>
              <a:ext uri="{FF2B5EF4-FFF2-40B4-BE49-F238E27FC236}">
                <a16:creationId xmlns:a16="http://schemas.microsoft.com/office/drawing/2014/main" id="{5EA171B2-EAD1-7B93-4ABA-985FD4D13270}"/>
              </a:ext>
            </a:extLst>
          </p:cNvPr>
          <p:cNvCxnSpPr>
            <a:cxnSpLocks/>
          </p:cNvCxnSpPr>
          <p:nvPr/>
        </p:nvCxnSpPr>
        <p:spPr>
          <a:xfrm>
            <a:off x="440900" y="4381848"/>
            <a:ext cx="3547872" cy="0"/>
          </a:xfrm>
          <a:prstGeom prst="line">
            <a:avLst/>
          </a:prstGeom>
          <a:ln w="12700">
            <a:solidFill>
              <a:schemeClr val="bg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08961296"/>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0B7978-3CF3-83B4-4AB0-928235258E88}"/>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DCDBEE4-AB40-0A70-4E96-A7E2B4D68650}"/>
              </a:ext>
            </a:extLst>
          </p:cNvPr>
          <p:cNvSpPr>
            <a:spLocks noGrp="1"/>
          </p:cNvSpPr>
          <p:nvPr>
            <p:ph type="body" sz="quarter" idx="10"/>
          </p:nvPr>
        </p:nvSpPr>
        <p:spPr/>
        <p:txBody>
          <a:bodyPr/>
          <a:lstStyle/>
          <a:p>
            <a:r>
              <a:rPr lang="fa-IR" dirty="0"/>
              <a:t>۳. آرکی‌تایپ رابطه ۲ از ۷ — همراه / خدماتی (</a:t>
            </a:r>
            <a:r>
              <a:rPr lang="en-US" dirty="0"/>
              <a:t>Assisted / Service</a:t>
            </a:r>
            <a:r>
              <a:rPr lang="fa-IR" dirty="0"/>
              <a:t>)</a:t>
            </a:r>
            <a:endParaRPr lang="en-GB" dirty="0"/>
          </a:p>
        </p:txBody>
      </p:sp>
      <p:sp>
        <p:nvSpPr>
          <p:cNvPr id="3" name="Text Placeholder 2">
            <a:extLst>
              <a:ext uri="{FF2B5EF4-FFF2-40B4-BE49-F238E27FC236}">
                <a16:creationId xmlns:a16="http://schemas.microsoft.com/office/drawing/2014/main" id="{8A282EC6-F20D-0B90-480C-0D550EC380F1}"/>
              </a:ext>
            </a:extLst>
          </p:cNvPr>
          <p:cNvSpPr>
            <a:spLocks noGrp="1"/>
          </p:cNvSpPr>
          <p:nvPr>
            <p:ph type="body" sz="quarter" idx="12"/>
          </p:nvPr>
        </p:nvSpPr>
        <p:spPr/>
        <p:txBody>
          <a:bodyPr/>
          <a:lstStyle/>
          <a:p>
            <a:r>
              <a:rPr lang="fa-IR" dirty="0"/>
              <a:t>وقتی مسیر مشتری اصطکاک دارد، ارزش از همراهی انسانی خلق می‌شود، نه از پیچیده‌کردن خدمت</a:t>
            </a:r>
          </a:p>
        </p:txBody>
      </p:sp>
      <p:sp>
        <p:nvSpPr>
          <p:cNvPr id="19" name="Rectangle: Rounded Corners 18">
            <a:extLst>
              <a:ext uri="{FF2B5EF4-FFF2-40B4-BE49-F238E27FC236}">
                <a16:creationId xmlns:a16="http://schemas.microsoft.com/office/drawing/2014/main" id="{C4896FD8-EAE1-7EF5-C199-87973BEE54BA}"/>
              </a:ext>
            </a:extLst>
          </p:cNvPr>
          <p:cNvSpPr/>
          <p:nvPr/>
        </p:nvSpPr>
        <p:spPr>
          <a:xfrm>
            <a:off x="4409954" y="3475131"/>
            <a:ext cx="6855808" cy="1300605"/>
          </a:xfrm>
          <a:prstGeom prst="roundRect">
            <a:avLst>
              <a:gd name="adj" fmla="val 7208"/>
            </a:avLst>
          </a:prstGeom>
          <a:solidFill>
            <a:schemeClr val="bg1">
              <a:lumMod val="95000"/>
              <a:alpha val="7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cxnSp>
        <p:nvCxnSpPr>
          <p:cNvPr id="11" name="Straight Connector 10">
            <a:extLst>
              <a:ext uri="{FF2B5EF4-FFF2-40B4-BE49-F238E27FC236}">
                <a16:creationId xmlns:a16="http://schemas.microsoft.com/office/drawing/2014/main" id="{DF776B9D-9C6D-D51D-07BC-EFBB7C799075}"/>
              </a:ext>
            </a:extLst>
          </p:cNvPr>
          <p:cNvCxnSpPr>
            <a:cxnSpLocks/>
          </p:cNvCxnSpPr>
          <p:nvPr/>
        </p:nvCxnSpPr>
        <p:spPr>
          <a:xfrm>
            <a:off x="4425223" y="3343200"/>
            <a:ext cx="6825271" cy="0"/>
          </a:xfrm>
          <a:prstGeom prst="line">
            <a:avLst/>
          </a:prstGeom>
        </p:spPr>
        <p:style>
          <a:lnRef idx="1">
            <a:schemeClr val="accent2"/>
          </a:lnRef>
          <a:fillRef idx="0">
            <a:schemeClr val="accent2"/>
          </a:fillRef>
          <a:effectRef idx="0">
            <a:schemeClr val="accent2"/>
          </a:effectRef>
          <a:fontRef idx="minor">
            <a:schemeClr val="tx1"/>
          </a:fontRef>
        </p:style>
      </p:cxnSp>
      <p:sp>
        <p:nvSpPr>
          <p:cNvPr id="12" name="TextBox 11">
            <a:extLst>
              <a:ext uri="{FF2B5EF4-FFF2-40B4-BE49-F238E27FC236}">
                <a16:creationId xmlns:a16="http://schemas.microsoft.com/office/drawing/2014/main" id="{ED025EBD-5FEA-D1DD-95FF-0DEAA3421713}"/>
              </a:ext>
            </a:extLst>
          </p:cNvPr>
          <p:cNvSpPr txBox="1"/>
          <p:nvPr/>
        </p:nvSpPr>
        <p:spPr>
          <a:xfrm>
            <a:off x="5658795" y="3212394"/>
            <a:ext cx="4358127" cy="261610"/>
          </a:xfrm>
          <a:prstGeom prst="rect">
            <a:avLst/>
          </a:prstGeom>
          <a:solidFill>
            <a:schemeClr val="bg1"/>
          </a:solidFill>
        </p:spPr>
        <p:txBody>
          <a:bodyPr wrap="square"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چه زمانی برای اکوسیستم فرصت ایران مناسب است</a:t>
            </a:r>
          </a:p>
        </p:txBody>
      </p:sp>
      <p:sp>
        <p:nvSpPr>
          <p:cNvPr id="13" name="TextBox 12">
            <a:extLst>
              <a:ext uri="{FF2B5EF4-FFF2-40B4-BE49-F238E27FC236}">
                <a16:creationId xmlns:a16="http://schemas.microsoft.com/office/drawing/2014/main" id="{C14A4E67-52E7-3D65-5175-A6B51F5E8546}"/>
              </a:ext>
            </a:extLst>
          </p:cNvPr>
          <p:cNvSpPr txBox="1"/>
          <p:nvPr/>
        </p:nvSpPr>
        <p:spPr>
          <a:xfrm>
            <a:off x="4648473" y="3808039"/>
            <a:ext cx="6378770" cy="634789"/>
          </a:xfrm>
          <a:prstGeom prst="rect">
            <a:avLst/>
          </a:prstGeom>
          <a:noFill/>
        </p:spPr>
        <p:txBody>
          <a:bodyPr wrap="square" lIns="0" tIns="0" rIns="0" bIns="0" anchor="ctr">
            <a:spAutoFit/>
          </a:bodyPr>
          <a:lstStyle/>
          <a:p>
            <a:pPr marL="285750" marR="0" lvl="0" indent="-285750" algn="justLow" defTabSz="457200" rtl="1" eaLnBrk="1" fontAlgn="auto" latinLnBrk="0" hangingPunct="1">
              <a:lnSpc>
                <a:spcPct val="125000"/>
              </a:lnSpc>
              <a:spcBef>
                <a:spcPts val="0"/>
              </a:spcBef>
              <a:spcAft>
                <a:spcPts val="0"/>
              </a:spcAft>
              <a:buClr>
                <a:srgbClr val="F0BE0F"/>
              </a:buClr>
              <a:buSzTx/>
              <a:buFont typeface="Arial" panose="020B0604020202020204" pitchFamily="34" charset="0"/>
              <a:buChar char="•"/>
              <a:tabLst/>
              <a:defRPr/>
            </a:pPr>
            <a:r>
              <a:rPr kumimoji="0" lang="fa-IR"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خدمت نسبتاً استاندارد است اما مسیر مشتری اصطکاک دارد</a:t>
            </a:r>
          </a:p>
          <a:p>
            <a:pPr marL="285750" marR="0" lvl="0" indent="-285750" algn="justLow" defTabSz="457200" rtl="1" eaLnBrk="1" fontAlgn="auto" latinLnBrk="0" hangingPunct="1">
              <a:lnSpc>
                <a:spcPct val="125000"/>
              </a:lnSpc>
              <a:spcBef>
                <a:spcPts val="0"/>
              </a:spcBef>
              <a:spcAft>
                <a:spcPts val="0"/>
              </a:spcAft>
              <a:buClr>
                <a:srgbClr val="F0BE0F"/>
              </a:buClr>
              <a:buSzTx/>
              <a:buFont typeface="Arial" panose="020B0604020202020204" pitchFamily="34" charset="0"/>
              <a:buChar char="•"/>
              <a:tabLst/>
              <a:defRPr/>
            </a:pPr>
            <a:r>
              <a:rPr kumimoji="0" lang="fa-IR"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مشتری برای تعامل انسانی ارزش قائل است</a:t>
            </a:r>
          </a:p>
          <a:p>
            <a:pPr marL="285750" marR="0" lvl="0" indent="-285750" algn="justLow" defTabSz="457200" rtl="1" eaLnBrk="1" fontAlgn="auto" latinLnBrk="0" hangingPunct="1">
              <a:lnSpc>
                <a:spcPct val="125000"/>
              </a:lnSpc>
              <a:spcBef>
                <a:spcPts val="0"/>
              </a:spcBef>
              <a:spcAft>
                <a:spcPts val="0"/>
              </a:spcAft>
              <a:buClr>
                <a:srgbClr val="F0BE0F"/>
              </a:buClr>
              <a:buSzTx/>
              <a:buFont typeface="Arial" panose="020B0604020202020204" pitchFamily="34" charset="0"/>
              <a:buChar char="•"/>
              <a:tabLst/>
              <a:defRPr/>
            </a:pPr>
            <a:r>
              <a:rPr kumimoji="0" lang="fa-IR"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تجربه مشتری، عامل تمایز رقابتی «اکوسیستم فرصت ایران» است</a:t>
            </a:r>
          </a:p>
        </p:txBody>
      </p:sp>
      <p:sp>
        <p:nvSpPr>
          <p:cNvPr id="20" name="Rectangle: Rounded Corners 19">
            <a:extLst>
              <a:ext uri="{FF2B5EF4-FFF2-40B4-BE49-F238E27FC236}">
                <a16:creationId xmlns:a16="http://schemas.microsoft.com/office/drawing/2014/main" id="{74545998-7F27-B2AC-64B6-15624395C6C9}"/>
              </a:ext>
            </a:extLst>
          </p:cNvPr>
          <p:cNvSpPr/>
          <p:nvPr/>
        </p:nvSpPr>
        <p:spPr>
          <a:xfrm>
            <a:off x="4409954" y="5350148"/>
            <a:ext cx="6855808" cy="458356"/>
          </a:xfrm>
          <a:prstGeom prst="roundRect">
            <a:avLst>
              <a:gd name="adj" fmla="val 7208"/>
            </a:avLst>
          </a:prstGeom>
          <a:solidFill>
            <a:schemeClr val="bg1">
              <a:lumMod val="95000"/>
              <a:alpha val="7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Calibri"/>
            </a:endParaRPr>
          </a:p>
        </p:txBody>
      </p:sp>
      <p:cxnSp>
        <p:nvCxnSpPr>
          <p:cNvPr id="15" name="Straight Connector 14">
            <a:extLst>
              <a:ext uri="{FF2B5EF4-FFF2-40B4-BE49-F238E27FC236}">
                <a16:creationId xmlns:a16="http://schemas.microsoft.com/office/drawing/2014/main" id="{2BEC680A-2810-C704-C8E7-53F1DAD70E05}"/>
              </a:ext>
            </a:extLst>
          </p:cNvPr>
          <p:cNvCxnSpPr>
            <a:cxnSpLocks/>
          </p:cNvCxnSpPr>
          <p:nvPr/>
        </p:nvCxnSpPr>
        <p:spPr>
          <a:xfrm>
            <a:off x="4425223" y="5213778"/>
            <a:ext cx="6825271" cy="0"/>
          </a:xfrm>
          <a:prstGeom prst="line">
            <a:avLst/>
          </a:prstGeom>
        </p:spPr>
        <p:style>
          <a:lnRef idx="1">
            <a:schemeClr val="accent2"/>
          </a:lnRef>
          <a:fillRef idx="0">
            <a:schemeClr val="accent2"/>
          </a:fillRef>
          <a:effectRef idx="0">
            <a:schemeClr val="accent2"/>
          </a:effectRef>
          <a:fontRef idx="minor">
            <a:schemeClr val="tx1"/>
          </a:fontRef>
        </p:style>
      </p:cxnSp>
      <p:sp>
        <p:nvSpPr>
          <p:cNvPr id="16" name="TextBox 15">
            <a:extLst>
              <a:ext uri="{FF2B5EF4-FFF2-40B4-BE49-F238E27FC236}">
                <a16:creationId xmlns:a16="http://schemas.microsoft.com/office/drawing/2014/main" id="{8CA14B0B-6AD3-2F3C-C5CD-88B9AFEBE264}"/>
              </a:ext>
            </a:extLst>
          </p:cNvPr>
          <p:cNvSpPr txBox="1"/>
          <p:nvPr/>
        </p:nvSpPr>
        <p:spPr>
          <a:xfrm>
            <a:off x="5875887" y="5082972"/>
            <a:ext cx="3923943" cy="261610"/>
          </a:xfrm>
          <a:prstGeom prst="rect">
            <a:avLst/>
          </a:prstGeom>
          <a:solidFill>
            <a:schemeClr val="bg1"/>
          </a:solidFill>
        </p:spPr>
        <p:txBody>
          <a:bodyPr wrap="square"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نقش «اکوسیستم فرصت ایران»: مدیر خدمت / پشتیبان مشتری</a:t>
            </a:r>
          </a:p>
        </p:txBody>
      </p:sp>
      <p:sp>
        <p:nvSpPr>
          <p:cNvPr id="17" name="TextBox 16">
            <a:extLst>
              <a:ext uri="{FF2B5EF4-FFF2-40B4-BE49-F238E27FC236}">
                <a16:creationId xmlns:a16="http://schemas.microsoft.com/office/drawing/2014/main" id="{FEDD4A42-807A-07A2-8BC9-C72EA1C7219C}"/>
              </a:ext>
            </a:extLst>
          </p:cNvPr>
          <p:cNvSpPr txBox="1"/>
          <p:nvPr/>
        </p:nvSpPr>
        <p:spPr>
          <a:xfrm>
            <a:off x="4648473" y="5473528"/>
            <a:ext cx="6378770" cy="211596"/>
          </a:xfrm>
          <a:prstGeom prst="rect">
            <a:avLst/>
          </a:prstGeom>
          <a:noFill/>
        </p:spPr>
        <p:txBody>
          <a:bodyPr wrap="square" lIns="0" tIns="0" rIns="0" bIns="0" anchor="t">
            <a:spAutoFit/>
          </a:bodyPr>
          <a:lstStyle/>
          <a:p>
            <a:pPr marL="0" marR="0" lvl="0" indent="0" algn="ctr" defTabSz="457200" rtl="1" eaLnBrk="1" fontAlgn="auto" latinLnBrk="0" hangingPunct="1">
              <a:lnSpc>
                <a:spcPct val="125000"/>
              </a:lnSpc>
              <a:spcBef>
                <a:spcPts val="0"/>
              </a:spcBef>
              <a:spcAft>
                <a:spcPts val="0"/>
              </a:spcAft>
              <a:buClrTx/>
              <a:buSzTx/>
              <a:buFontTx/>
              <a:buNone/>
              <a:tabLst/>
              <a:defRPr/>
            </a:pPr>
            <a:r>
              <a:rPr kumimoji="0" lang="fa-IR"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مدل تعامل: انسانی + دیجیتال، به‌صورت هدایت‌شده</a:t>
            </a:r>
          </a:p>
        </p:txBody>
      </p:sp>
      <p:cxnSp>
        <p:nvCxnSpPr>
          <p:cNvPr id="5" name="Straight Connector 4">
            <a:extLst>
              <a:ext uri="{FF2B5EF4-FFF2-40B4-BE49-F238E27FC236}">
                <a16:creationId xmlns:a16="http://schemas.microsoft.com/office/drawing/2014/main" id="{A7F32103-DB4D-9681-25CF-BD73F6AF8048}"/>
              </a:ext>
            </a:extLst>
          </p:cNvPr>
          <p:cNvCxnSpPr>
            <a:cxnSpLocks/>
          </p:cNvCxnSpPr>
          <p:nvPr/>
        </p:nvCxnSpPr>
        <p:spPr>
          <a:xfrm>
            <a:off x="4425223" y="1464508"/>
            <a:ext cx="6825271" cy="0"/>
          </a:xfrm>
          <a:prstGeom prst="line">
            <a:avLst/>
          </a:prstGeom>
        </p:spPr>
        <p:style>
          <a:lnRef idx="1">
            <a:schemeClr val="accent2"/>
          </a:lnRef>
          <a:fillRef idx="0">
            <a:schemeClr val="accent2"/>
          </a:fillRef>
          <a:effectRef idx="0">
            <a:schemeClr val="accent2"/>
          </a:effectRef>
          <a:fontRef idx="minor">
            <a:schemeClr val="tx1"/>
          </a:fontRef>
        </p:style>
      </p:cxnSp>
      <p:sp>
        <p:nvSpPr>
          <p:cNvPr id="18" name="Rectangle: Rounded Corners 17">
            <a:extLst>
              <a:ext uri="{FF2B5EF4-FFF2-40B4-BE49-F238E27FC236}">
                <a16:creationId xmlns:a16="http://schemas.microsoft.com/office/drawing/2014/main" id="{E687A723-2EE2-8D1D-8A62-E078FA885289}"/>
              </a:ext>
            </a:extLst>
          </p:cNvPr>
          <p:cNvSpPr/>
          <p:nvPr/>
        </p:nvSpPr>
        <p:spPr>
          <a:xfrm>
            <a:off x="4409954" y="1600261"/>
            <a:ext cx="6855808" cy="884683"/>
          </a:xfrm>
          <a:prstGeom prst="roundRect">
            <a:avLst>
              <a:gd name="adj" fmla="val 7208"/>
            </a:avLst>
          </a:prstGeom>
          <a:solidFill>
            <a:schemeClr val="bg1">
              <a:lumMod val="95000"/>
              <a:alpha val="7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Calibri"/>
            </a:endParaRPr>
          </a:p>
        </p:txBody>
      </p:sp>
      <p:sp>
        <p:nvSpPr>
          <p:cNvPr id="8" name="TextBox 7">
            <a:extLst>
              <a:ext uri="{FF2B5EF4-FFF2-40B4-BE49-F238E27FC236}">
                <a16:creationId xmlns:a16="http://schemas.microsoft.com/office/drawing/2014/main" id="{DD37DB21-1947-8115-E425-72564DB6551C}"/>
              </a:ext>
            </a:extLst>
          </p:cNvPr>
          <p:cNvSpPr txBox="1"/>
          <p:nvPr/>
        </p:nvSpPr>
        <p:spPr>
          <a:xfrm>
            <a:off x="4648473" y="1831006"/>
            <a:ext cx="6378770" cy="423193"/>
          </a:xfrm>
          <a:prstGeom prst="rect">
            <a:avLst/>
          </a:prstGeom>
          <a:noFill/>
        </p:spPr>
        <p:txBody>
          <a:bodyPr wrap="square" lIns="0" tIns="0" rIns="0" bIns="0" anchor="ctr">
            <a:spAutoFit/>
          </a:bodyPr>
          <a:lstStyle/>
          <a:p>
            <a:pPr marL="0" marR="0" lvl="0" indent="0" algn="justLow" defTabSz="457200" rtl="1" eaLnBrk="1" fontAlgn="auto" latinLnBrk="0" hangingPunct="1">
              <a:lnSpc>
                <a:spcPct val="125000"/>
              </a:lnSpc>
              <a:spcBef>
                <a:spcPts val="0"/>
              </a:spcBef>
              <a:spcAft>
                <a:spcPts val="0"/>
              </a:spcAft>
              <a:buClrTx/>
              <a:buSzTx/>
              <a:buFontTx/>
              <a:buNone/>
              <a:tabLst/>
              <a:defRPr/>
            </a:pPr>
            <a:r>
              <a:rPr kumimoji="0" lang="fa-IR"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خدمت هنوز نسبتاً استاندارد است، اما مشتری برای طی‌کردن مسیر به راهنمایی، پیگیری یا پشتیبانی انسانی نیاز دارد.</a:t>
            </a:r>
          </a:p>
        </p:txBody>
      </p:sp>
      <p:sp>
        <p:nvSpPr>
          <p:cNvPr id="21" name="Rectangle: Rounded Corners 20">
            <a:extLst>
              <a:ext uri="{FF2B5EF4-FFF2-40B4-BE49-F238E27FC236}">
                <a16:creationId xmlns:a16="http://schemas.microsoft.com/office/drawing/2014/main" id="{E4C997BB-9728-E6FF-7EA7-18ABACA2E3A9}"/>
              </a:ext>
            </a:extLst>
          </p:cNvPr>
          <p:cNvSpPr/>
          <p:nvPr/>
        </p:nvSpPr>
        <p:spPr>
          <a:xfrm>
            <a:off x="4409954" y="2535426"/>
            <a:ext cx="6855808" cy="369732"/>
          </a:xfrm>
          <a:prstGeom prst="roundRect">
            <a:avLst>
              <a:gd name="adj" fmla="val 7208"/>
            </a:avLst>
          </a:prstGeom>
          <a:solidFill>
            <a:srgbClr val="00406C">
              <a:alpha val="1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Calibri"/>
            </a:endParaRPr>
          </a:p>
        </p:txBody>
      </p:sp>
      <p:sp>
        <p:nvSpPr>
          <p:cNvPr id="23" name="TextBox 22">
            <a:extLst>
              <a:ext uri="{FF2B5EF4-FFF2-40B4-BE49-F238E27FC236}">
                <a16:creationId xmlns:a16="http://schemas.microsoft.com/office/drawing/2014/main" id="{89455CD8-6E21-9589-4E42-841828C7FF53}"/>
              </a:ext>
            </a:extLst>
          </p:cNvPr>
          <p:cNvSpPr txBox="1"/>
          <p:nvPr/>
        </p:nvSpPr>
        <p:spPr>
          <a:xfrm>
            <a:off x="4425222" y="2601898"/>
            <a:ext cx="6840539" cy="219291"/>
          </a:xfrm>
          <a:prstGeom prst="rect">
            <a:avLst/>
          </a:prstGeom>
          <a:noFill/>
        </p:spPr>
        <p:txBody>
          <a:bodyPr wrap="square" lIns="0" tIns="0" rIns="0" bIns="0" anchor="t">
            <a:spAutoFit/>
          </a:bodyPr>
          <a:lstStyle/>
          <a:p>
            <a:pPr marL="0" marR="0" lvl="0" indent="0" algn="ctr" defTabSz="457200" rtl="1" eaLnBrk="1" fontAlgn="auto" latinLnBrk="0" hangingPunct="1">
              <a:lnSpc>
                <a:spcPct val="125000"/>
              </a:lnSpc>
              <a:spcBef>
                <a:spcPts val="0"/>
              </a:spcBef>
              <a:spcAft>
                <a:spcPts val="0"/>
              </a:spcAft>
              <a:buClrTx/>
              <a:buSzTx/>
              <a:buFontTx/>
              <a:buNone/>
              <a:tabLst/>
              <a:defRPr/>
            </a:pPr>
            <a:r>
              <a:rPr kumimoji="0" lang="fa-IR" sz="1200" b="1" i="0" u="none" strike="noStrike" kern="1200" cap="none" spc="0" normalizeH="0" baseline="0" noProof="0" dirty="0">
                <a:ln>
                  <a:noFill/>
                </a:ln>
                <a:solidFill>
                  <a:srgbClr val="15296B"/>
                </a:solidFill>
                <a:effectLst/>
                <a:uLnTx/>
                <a:uFillTx/>
                <a:latin typeface="Yekan Bakh FaNum" pitchFamily="2" charset="-78"/>
                <a:ea typeface="+mn-ea"/>
                <a:cs typeface="Yekan Bakh FaNum" pitchFamily="2" charset="-78"/>
              </a:rPr>
              <a:t>نیاز مشتری  ←  خدمت + همراهی انسانی  ←  حل مسئله</a:t>
            </a:r>
          </a:p>
        </p:txBody>
      </p:sp>
      <p:sp>
        <p:nvSpPr>
          <p:cNvPr id="6" name="TextBox 5">
            <a:extLst>
              <a:ext uri="{FF2B5EF4-FFF2-40B4-BE49-F238E27FC236}">
                <a16:creationId xmlns:a16="http://schemas.microsoft.com/office/drawing/2014/main" id="{8B3672E3-D950-563B-85B1-46125B63E636}"/>
              </a:ext>
            </a:extLst>
          </p:cNvPr>
          <p:cNvSpPr txBox="1"/>
          <p:nvPr/>
        </p:nvSpPr>
        <p:spPr>
          <a:xfrm>
            <a:off x="7412561" y="1333703"/>
            <a:ext cx="850594" cy="261610"/>
          </a:xfrm>
          <a:prstGeom prst="rect">
            <a:avLst/>
          </a:prstGeom>
          <a:solidFill>
            <a:schemeClr val="bg1"/>
          </a:solidFill>
        </p:spPr>
        <p:txBody>
          <a:bodyPr wrap="square"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تعریف</a:t>
            </a:r>
          </a:p>
        </p:txBody>
      </p:sp>
      <p:sp>
        <p:nvSpPr>
          <p:cNvPr id="29" name="Rectangle: Rounded Corners 28">
            <a:extLst>
              <a:ext uri="{FF2B5EF4-FFF2-40B4-BE49-F238E27FC236}">
                <a16:creationId xmlns:a16="http://schemas.microsoft.com/office/drawing/2014/main" id="{B70202CB-D101-1BBD-1FFC-44CC210D6A85}"/>
              </a:ext>
            </a:extLst>
          </p:cNvPr>
          <p:cNvSpPr/>
          <p:nvPr/>
        </p:nvSpPr>
        <p:spPr>
          <a:xfrm>
            <a:off x="437288" y="1464508"/>
            <a:ext cx="3545953" cy="2009496"/>
          </a:xfrm>
          <a:prstGeom prst="roundRect">
            <a:avLst>
              <a:gd name="adj" fmla="val 6055"/>
            </a:avLst>
          </a:prstGeom>
          <a:solidFill>
            <a:srgbClr val="EFF3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30" name="Rectangle: Rounded Corners 29">
            <a:extLst>
              <a:ext uri="{FF2B5EF4-FFF2-40B4-BE49-F238E27FC236}">
                <a16:creationId xmlns:a16="http://schemas.microsoft.com/office/drawing/2014/main" id="{1FA55830-6C39-9AEA-A0CA-D48D10DE54C1}"/>
              </a:ext>
            </a:extLst>
          </p:cNvPr>
          <p:cNvSpPr/>
          <p:nvPr/>
        </p:nvSpPr>
        <p:spPr>
          <a:xfrm>
            <a:off x="437288" y="3799008"/>
            <a:ext cx="3545953" cy="2009496"/>
          </a:xfrm>
          <a:prstGeom prst="roundRect">
            <a:avLst>
              <a:gd name="adj" fmla="val 6055"/>
            </a:avLst>
          </a:prstGeom>
          <a:solidFill>
            <a:schemeClr val="bg1">
              <a:lumMod val="75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Calibri"/>
            </a:endParaRPr>
          </a:p>
        </p:txBody>
      </p:sp>
      <p:cxnSp>
        <p:nvCxnSpPr>
          <p:cNvPr id="36" name="Straight Connector 35">
            <a:extLst>
              <a:ext uri="{FF2B5EF4-FFF2-40B4-BE49-F238E27FC236}">
                <a16:creationId xmlns:a16="http://schemas.microsoft.com/office/drawing/2014/main" id="{B258EDDD-3E9C-D3C3-3D2E-678B1A3F4CA9}"/>
              </a:ext>
            </a:extLst>
          </p:cNvPr>
          <p:cNvCxnSpPr/>
          <p:nvPr/>
        </p:nvCxnSpPr>
        <p:spPr>
          <a:xfrm>
            <a:off x="4201610" y="1464508"/>
            <a:ext cx="0" cy="4343996"/>
          </a:xfrm>
          <a:prstGeom prst="line">
            <a:avLst/>
          </a:prstGeom>
          <a:ln>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0CE5D28A-F8CA-582E-911F-C81860B18E39}"/>
              </a:ext>
            </a:extLst>
          </p:cNvPr>
          <p:cNvSpPr txBox="1"/>
          <p:nvPr/>
        </p:nvSpPr>
        <p:spPr>
          <a:xfrm>
            <a:off x="641064" y="1646441"/>
            <a:ext cx="3138401" cy="211596"/>
          </a:xfrm>
          <a:prstGeom prst="rect">
            <a:avLst/>
          </a:prstGeom>
          <a:noFill/>
        </p:spPr>
        <p:txBody>
          <a:bodyPr wrap="square" lIns="0" tIns="0" rIns="0" bIns="0" anchor="t">
            <a:spAutoFit/>
          </a:bodyPr>
          <a:lstStyle/>
          <a:p>
            <a:pPr marL="0" marR="0" lvl="0" indent="0" algn="ctr" defTabSz="457200" rtl="1" eaLnBrk="1" fontAlgn="auto" latinLnBrk="0" hangingPunct="1">
              <a:lnSpc>
                <a:spcPct val="125000"/>
              </a:lnSpc>
              <a:spcBef>
                <a:spcPts val="0"/>
              </a:spcBef>
              <a:spcAft>
                <a:spcPts val="0"/>
              </a:spcAft>
              <a:buClrTx/>
              <a:buSzTx/>
              <a:buFontTx/>
              <a:buNone/>
              <a:tabLst/>
              <a:defRPr/>
            </a:pPr>
            <a:r>
              <a:rPr kumimoji="0" sz="1100" b="1" i="0" u="none" strike="noStrike" kern="1200" cap="none" spc="0" normalizeH="0" baseline="0" noProof="0" dirty="0" err="1">
                <a:ln>
                  <a:noFill/>
                </a:ln>
                <a:solidFill>
                  <a:srgbClr val="15296B"/>
                </a:solidFill>
                <a:effectLst/>
                <a:uLnTx/>
                <a:uFillTx/>
                <a:latin typeface="Yekan Bakh FaNum" pitchFamily="2" charset="-78"/>
                <a:ea typeface="+mn-ea"/>
                <a:cs typeface="Yekan Bakh FaNum" pitchFamily="2" charset="-78"/>
              </a:rPr>
              <a:t>مثال</a:t>
            </a:r>
            <a:r>
              <a:rPr kumimoji="0" sz="1100" b="1" i="0" u="none" strike="noStrike" kern="1200" cap="none" spc="0" normalizeH="0" baseline="0" noProof="0" dirty="0">
                <a:ln>
                  <a:noFill/>
                </a:ln>
                <a:solidFill>
                  <a:srgbClr val="15296B"/>
                </a:solidFill>
                <a:effectLst/>
                <a:uLnTx/>
                <a:uFillTx/>
                <a:latin typeface="Yekan Bakh FaNum" pitchFamily="2" charset="-78"/>
                <a:ea typeface="+mn-ea"/>
                <a:cs typeface="Yekan Bakh FaNum" pitchFamily="2" charset="-78"/>
              </a:rPr>
              <a:t> </a:t>
            </a:r>
            <a:r>
              <a:rPr kumimoji="0" sz="1100" b="1" i="0" u="none" strike="noStrike" kern="1200" cap="none" spc="0" normalizeH="0" baseline="0" noProof="0" dirty="0" err="1">
                <a:ln>
                  <a:noFill/>
                </a:ln>
                <a:solidFill>
                  <a:srgbClr val="15296B"/>
                </a:solidFill>
                <a:effectLst/>
                <a:uLnTx/>
                <a:uFillTx/>
                <a:latin typeface="Yekan Bakh FaNum" pitchFamily="2" charset="-78"/>
                <a:ea typeface="+mn-ea"/>
                <a:cs typeface="Yekan Bakh FaNum" pitchFamily="2" charset="-78"/>
              </a:rPr>
              <a:t>جهانی</a:t>
            </a:r>
            <a:endParaRPr kumimoji="0" sz="1100" b="1" i="0" u="none" strike="noStrike" kern="1200" cap="none" spc="0" normalizeH="0" baseline="0" noProof="0" dirty="0">
              <a:ln>
                <a:noFill/>
              </a:ln>
              <a:solidFill>
                <a:srgbClr val="15296B"/>
              </a:solidFill>
              <a:effectLst/>
              <a:uLnTx/>
              <a:uFillTx/>
              <a:latin typeface="Yekan Bakh FaNum" pitchFamily="2" charset="-78"/>
              <a:ea typeface="+mn-ea"/>
              <a:cs typeface="Yekan Bakh FaNum" pitchFamily="2" charset="-78"/>
            </a:endParaRPr>
          </a:p>
        </p:txBody>
      </p:sp>
      <p:sp>
        <p:nvSpPr>
          <p:cNvPr id="34" name="TextBox 33">
            <a:extLst>
              <a:ext uri="{FF2B5EF4-FFF2-40B4-BE49-F238E27FC236}">
                <a16:creationId xmlns:a16="http://schemas.microsoft.com/office/drawing/2014/main" id="{8C55B0E0-D4C1-3CF7-1AE0-86D9F4EFB0C7}"/>
              </a:ext>
            </a:extLst>
          </p:cNvPr>
          <p:cNvSpPr txBox="1"/>
          <p:nvPr/>
        </p:nvSpPr>
        <p:spPr>
          <a:xfrm>
            <a:off x="641064" y="2181795"/>
            <a:ext cx="3138401" cy="740587"/>
          </a:xfrm>
          <a:prstGeom prst="rect">
            <a:avLst/>
          </a:prstGeom>
          <a:noFill/>
        </p:spPr>
        <p:txBody>
          <a:bodyPr wrap="square" lIns="0" tIns="0" rIns="0" bIns="0" anchor="t">
            <a:spAutoFit/>
          </a:bodyPr>
          <a:lstStyle/>
          <a:p>
            <a:pPr marL="0" marR="0" lvl="0" indent="0" algn="ctr" defTabSz="457200" rtl="1" eaLnBrk="1" fontAlgn="auto" latinLnBrk="0" hangingPunct="1">
              <a:lnSpc>
                <a:spcPct val="150000"/>
              </a:lnSpc>
              <a:spcBef>
                <a:spcPts val="0"/>
              </a:spcBef>
              <a:spcAft>
                <a:spcPts val="0"/>
              </a:spcAft>
              <a:buClrTx/>
              <a:buSzTx/>
              <a:buFontTx/>
              <a:buNone/>
              <a:tabLst/>
              <a:defRPr/>
            </a:pPr>
            <a:r>
              <a:rPr kumimoji="0" lang="fa-IR"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پشتیبانی حرفه‌ای مدل </a:t>
            </a:r>
            <a:r>
              <a:rPr kumimoji="0" lang="en-US"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Apple Care/Zendesk — </a:t>
            </a:r>
            <a:r>
              <a:rPr kumimoji="0" lang="fa-IR"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راهنمایی انسانی روی خدمتی که خودش استاندارد است</a:t>
            </a:r>
          </a:p>
        </p:txBody>
      </p:sp>
      <p:cxnSp>
        <p:nvCxnSpPr>
          <p:cNvPr id="42" name="Straight Connector 41">
            <a:extLst>
              <a:ext uri="{FF2B5EF4-FFF2-40B4-BE49-F238E27FC236}">
                <a16:creationId xmlns:a16="http://schemas.microsoft.com/office/drawing/2014/main" id="{46B5E9FA-902C-2D02-D3F9-15CBA388E133}"/>
              </a:ext>
            </a:extLst>
          </p:cNvPr>
          <p:cNvCxnSpPr>
            <a:cxnSpLocks/>
          </p:cNvCxnSpPr>
          <p:nvPr/>
        </p:nvCxnSpPr>
        <p:spPr>
          <a:xfrm>
            <a:off x="440900" y="2047348"/>
            <a:ext cx="3547872" cy="0"/>
          </a:xfrm>
          <a:prstGeom prst="line">
            <a:avLst/>
          </a:prstGeom>
          <a:ln w="12700">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DAB783E2-32DE-69E7-063C-337B66177C61}"/>
              </a:ext>
            </a:extLst>
          </p:cNvPr>
          <p:cNvSpPr txBox="1"/>
          <p:nvPr/>
        </p:nvSpPr>
        <p:spPr>
          <a:xfrm>
            <a:off x="641064" y="3980941"/>
            <a:ext cx="3138401" cy="211596"/>
          </a:xfrm>
          <a:prstGeom prst="rect">
            <a:avLst/>
          </a:prstGeom>
          <a:noFill/>
        </p:spPr>
        <p:txBody>
          <a:bodyPr wrap="square" lIns="0" tIns="0" rIns="0" bIns="0" anchor="t">
            <a:spAutoFit/>
          </a:bodyPr>
          <a:lstStyle/>
          <a:p>
            <a:pPr marL="0" marR="0" lvl="0" indent="0" algn="ctr" defTabSz="457200" rtl="1" eaLnBrk="1" fontAlgn="auto" latinLnBrk="0" hangingPunct="1">
              <a:lnSpc>
                <a:spcPct val="125000"/>
              </a:lnSpc>
              <a:spcBef>
                <a:spcPts val="0"/>
              </a:spcBef>
              <a:spcAft>
                <a:spcPts val="0"/>
              </a:spcAft>
              <a:buClrTx/>
              <a:buSzTx/>
              <a:buFontTx/>
              <a:buNone/>
              <a:tabLst/>
              <a:defRPr/>
            </a:pPr>
            <a:r>
              <a:rPr kumimoji="0" lang="fa-IR" sz="1100" b="1" i="0" u="none" strike="noStrike" kern="1200" cap="none" spc="0" normalizeH="0" baseline="0" noProof="0" dirty="0">
                <a:ln>
                  <a:noFill/>
                </a:ln>
                <a:solidFill>
                  <a:srgbClr val="15296B"/>
                </a:solidFill>
                <a:effectLst/>
                <a:uLnTx/>
                <a:uFillTx/>
                <a:latin typeface="Yekan Bakh FaNum" pitchFamily="2" charset="-78"/>
                <a:ea typeface="+mn-ea"/>
                <a:cs typeface="Yekan Bakh FaNum" pitchFamily="2" charset="-78"/>
              </a:rPr>
              <a:t>بنچمارک اکوسیستم برون‌مرزی</a:t>
            </a:r>
          </a:p>
        </p:txBody>
      </p:sp>
      <p:sp>
        <p:nvSpPr>
          <p:cNvPr id="40" name="TextBox 39">
            <a:extLst>
              <a:ext uri="{FF2B5EF4-FFF2-40B4-BE49-F238E27FC236}">
                <a16:creationId xmlns:a16="http://schemas.microsoft.com/office/drawing/2014/main" id="{BCF5AFB5-DF95-3502-2902-7CB5E82BE74D}"/>
              </a:ext>
            </a:extLst>
          </p:cNvPr>
          <p:cNvSpPr txBox="1"/>
          <p:nvPr/>
        </p:nvSpPr>
        <p:spPr>
          <a:xfrm>
            <a:off x="641064" y="4516295"/>
            <a:ext cx="3138401" cy="740587"/>
          </a:xfrm>
          <a:prstGeom prst="rect">
            <a:avLst/>
          </a:prstGeom>
          <a:noFill/>
        </p:spPr>
        <p:txBody>
          <a:bodyPr wrap="square" lIns="0" tIns="0" rIns="0" bIns="0" anchor="t">
            <a:spAutoFit/>
          </a:bodyPr>
          <a:lstStyle/>
          <a:p>
            <a:pPr marL="0" marR="0" lvl="0" indent="0" algn="ctr" defTabSz="457200" rtl="1" eaLnBrk="1" fontAlgn="auto" latinLnBrk="0" hangingPunct="1">
              <a:lnSpc>
                <a:spcPct val="150000"/>
              </a:lnSpc>
              <a:spcBef>
                <a:spcPts val="0"/>
              </a:spcBef>
              <a:spcAft>
                <a:spcPts val="0"/>
              </a:spcAft>
              <a:buClrTx/>
              <a:buSzTx/>
              <a:buFontTx/>
              <a:buNone/>
              <a:tabLst/>
              <a:defRPr/>
            </a:pPr>
            <a:r>
              <a:rPr kumimoji="0" lang="fa-IR"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میز مشاوره اختصاصی</a:t>
            </a:r>
            <a:r>
              <a:rPr kumimoji="0" lang="en-US"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JETRO </a:t>
            </a:r>
            <a:r>
              <a:rPr kumimoji="0" lang="fa-IR"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 برای شرکت‌های خارجی متقاضی سرمایه‌گذاری در ژاپن — کارشناس، کل مسیر را همراهی می‌کند، نه صرفاً یک پاسخ</a:t>
            </a:r>
          </a:p>
        </p:txBody>
      </p:sp>
      <p:cxnSp>
        <p:nvCxnSpPr>
          <p:cNvPr id="43" name="Straight Connector 42">
            <a:extLst>
              <a:ext uri="{FF2B5EF4-FFF2-40B4-BE49-F238E27FC236}">
                <a16:creationId xmlns:a16="http://schemas.microsoft.com/office/drawing/2014/main" id="{8F35D73D-96A8-A473-9EF7-FBA8A69D287E}"/>
              </a:ext>
            </a:extLst>
          </p:cNvPr>
          <p:cNvCxnSpPr>
            <a:cxnSpLocks/>
          </p:cNvCxnSpPr>
          <p:nvPr/>
        </p:nvCxnSpPr>
        <p:spPr>
          <a:xfrm>
            <a:off x="440900" y="4381848"/>
            <a:ext cx="3547872" cy="0"/>
          </a:xfrm>
          <a:prstGeom prst="line">
            <a:avLst/>
          </a:prstGeom>
          <a:ln w="12700">
            <a:solidFill>
              <a:schemeClr val="bg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090126"/>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EE4274-F3BA-C8BF-7F09-87D66F61005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6CCD399-2088-1F29-B2DD-44895F9E80AB}"/>
              </a:ext>
            </a:extLst>
          </p:cNvPr>
          <p:cNvSpPr>
            <a:spLocks noGrp="1"/>
          </p:cNvSpPr>
          <p:nvPr>
            <p:ph type="body" sz="quarter" idx="10"/>
          </p:nvPr>
        </p:nvSpPr>
        <p:spPr/>
        <p:txBody>
          <a:bodyPr/>
          <a:lstStyle/>
          <a:p>
            <a:r>
              <a:rPr lang="fa-IR" dirty="0"/>
              <a:t>۳. آرکی‌تایپ رابطه ۳ از ۷ — مشاوره‌ای (</a:t>
            </a:r>
            <a:r>
              <a:rPr lang="en-US" dirty="0"/>
              <a:t>Advisory</a:t>
            </a:r>
            <a:r>
              <a:rPr lang="fa-IR" dirty="0"/>
              <a:t>)</a:t>
            </a:r>
            <a:endParaRPr lang="en-GB" dirty="0"/>
          </a:p>
        </p:txBody>
      </p:sp>
      <p:sp>
        <p:nvSpPr>
          <p:cNvPr id="3" name="Text Placeholder 2">
            <a:extLst>
              <a:ext uri="{FF2B5EF4-FFF2-40B4-BE49-F238E27FC236}">
                <a16:creationId xmlns:a16="http://schemas.microsoft.com/office/drawing/2014/main" id="{53D5DB76-BFAE-06DB-B87D-441C0E535076}"/>
              </a:ext>
            </a:extLst>
          </p:cNvPr>
          <p:cNvSpPr>
            <a:spLocks noGrp="1"/>
          </p:cNvSpPr>
          <p:nvPr>
            <p:ph type="body" sz="quarter" idx="12"/>
          </p:nvPr>
        </p:nvSpPr>
        <p:spPr/>
        <p:txBody>
          <a:bodyPr/>
          <a:lstStyle/>
          <a:p>
            <a:r>
              <a:rPr lang="fa-IR" dirty="0"/>
              <a:t>وقتی مشتری نمی‌داند چه راه‌حلی نیاز دارد، ارزش از تشخیص و قضاوت تخصصی «اکوسیستم فرصت ایران» می‌آید</a:t>
            </a:r>
          </a:p>
        </p:txBody>
      </p:sp>
      <p:sp>
        <p:nvSpPr>
          <p:cNvPr id="19" name="Rectangle: Rounded Corners 18">
            <a:extLst>
              <a:ext uri="{FF2B5EF4-FFF2-40B4-BE49-F238E27FC236}">
                <a16:creationId xmlns:a16="http://schemas.microsoft.com/office/drawing/2014/main" id="{69636C88-B2AB-3706-35F6-CBA03CD4BD3E}"/>
              </a:ext>
            </a:extLst>
          </p:cNvPr>
          <p:cNvSpPr/>
          <p:nvPr/>
        </p:nvSpPr>
        <p:spPr>
          <a:xfrm>
            <a:off x="4409954" y="3475131"/>
            <a:ext cx="6855808" cy="1300605"/>
          </a:xfrm>
          <a:prstGeom prst="roundRect">
            <a:avLst>
              <a:gd name="adj" fmla="val 7208"/>
            </a:avLst>
          </a:prstGeom>
          <a:solidFill>
            <a:schemeClr val="bg1">
              <a:lumMod val="95000"/>
              <a:alpha val="7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cxnSp>
        <p:nvCxnSpPr>
          <p:cNvPr id="11" name="Straight Connector 10">
            <a:extLst>
              <a:ext uri="{FF2B5EF4-FFF2-40B4-BE49-F238E27FC236}">
                <a16:creationId xmlns:a16="http://schemas.microsoft.com/office/drawing/2014/main" id="{07A3D181-0CD8-E8DA-3CD2-C2D84AB82042}"/>
              </a:ext>
            </a:extLst>
          </p:cNvPr>
          <p:cNvCxnSpPr>
            <a:cxnSpLocks/>
          </p:cNvCxnSpPr>
          <p:nvPr/>
        </p:nvCxnSpPr>
        <p:spPr>
          <a:xfrm>
            <a:off x="4425223" y="3343200"/>
            <a:ext cx="6825271" cy="0"/>
          </a:xfrm>
          <a:prstGeom prst="line">
            <a:avLst/>
          </a:prstGeom>
        </p:spPr>
        <p:style>
          <a:lnRef idx="1">
            <a:schemeClr val="accent2"/>
          </a:lnRef>
          <a:fillRef idx="0">
            <a:schemeClr val="accent2"/>
          </a:fillRef>
          <a:effectRef idx="0">
            <a:schemeClr val="accent2"/>
          </a:effectRef>
          <a:fontRef idx="minor">
            <a:schemeClr val="tx1"/>
          </a:fontRef>
        </p:style>
      </p:cxnSp>
      <p:sp>
        <p:nvSpPr>
          <p:cNvPr id="12" name="TextBox 11">
            <a:extLst>
              <a:ext uri="{FF2B5EF4-FFF2-40B4-BE49-F238E27FC236}">
                <a16:creationId xmlns:a16="http://schemas.microsoft.com/office/drawing/2014/main" id="{66D6578D-FDEC-0A0A-A2E3-2066F0BB3FF5}"/>
              </a:ext>
            </a:extLst>
          </p:cNvPr>
          <p:cNvSpPr txBox="1"/>
          <p:nvPr/>
        </p:nvSpPr>
        <p:spPr>
          <a:xfrm>
            <a:off x="5658795" y="3212394"/>
            <a:ext cx="4358127" cy="261610"/>
          </a:xfrm>
          <a:prstGeom prst="rect">
            <a:avLst/>
          </a:prstGeom>
          <a:solidFill>
            <a:schemeClr val="bg1"/>
          </a:solidFill>
        </p:spPr>
        <p:txBody>
          <a:bodyPr wrap="square"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چه زمانی برای اکوسیستم فرصت ایران مناسب است</a:t>
            </a:r>
          </a:p>
        </p:txBody>
      </p:sp>
      <p:sp>
        <p:nvSpPr>
          <p:cNvPr id="13" name="TextBox 12">
            <a:extLst>
              <a:ext uri="{FF2B5EF4-FFF2-40B4-BE49-F238E27FC236}">
                <a16:creationId xmlns:a16="http://schemas.microsoft.com/office/drawing/2014/main" id="{02105EFF-F7EC-E2FF-55DE-F694672CD7F5}"/>
              </a:ext>
            </a:extLst>
          </p:cNvPr>
          <p:cNvSpPr txBox="1"/>
          <p:nvPr/>
        </p:nvSpPr>
        <p:spPr>
          <a:xfrm>
            <a:off x="4648473" y="3808039"/>
            <a:ext cx="6378770" cy="634789"/>
          </a:xfrm>
          <a:prstGeom prst="rect">
            <a:avLst/>
          </a:prstGeom>
          <a:noFill/>
        </p:spPr>
        <p:txBody>
          <a:bodyPr wrap="square" lIns="0" tIns="0" rIns="0" bIns="0" anchor="ctr">
            <a:spAutoFit/>
          </a:bodyPr>
          <a:lstStyle/>
          <a:p>
            <a:pPr marL="285750" marR="0" lvl="0" indent="-285750" algn="justLow" defTabSz="457200" rtl="1" eaLnBrk="1" fontAlgn="auto" latinLnBrk="0" hangingPunct="1">
              <a:lnSpc>
                <a:spcPct val="125000"/>
              </a:lnSpc>
              <a:spcBef>
                <a:spcPts val="0"/>
              </a:spcBef>
              <a:spcAft>
                <a:spcPts val="0"/>
              </a:spcAft>
              <a:buClr>
                <a:srgbClr val="F0BE0F"/>
              </a:buClr>
              <a:buSzTx/>
              <a:buFont typeface="Arial" panose="020B0604020202020204" pitchFamily="34" charset="0"/>
              <a:buChar char="•"/>
              <a:tabLst/>
              <a:defRPr/>
            </a:pPr>
            <a:r>
              <a:rPr kumimoji="0" lang="fa-IR"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مشتری در نقطه تصمیم اولیه است (مثلاً کدام مسیر بین‌المللی‌سازی)</a:t>
            </a:r>
          </a:p>
          <a:p>
            <a:pPr marL="285750" marR="0" lvl="0" indent="-285750" algn="justLow" defTabSz="457200" rtl="1" eaLnBrk="1" fontAlgn="auto" latinLnBrk="0" hangingPunct="1">
              <a:lnSpc>
                <a:spcPct val="125000"/>
              </a:lnSpc>
              <a:spcBef>
                <a:spcPts val="0"/>
              </a:spcBef>
              <a:spcAft>
                <a:spcPts val="0"/>
              </a:spcAft>
              <a:buClr>
                <a:srgbClr val="F0BE0F"/>
              </a:buClr>
              <a:buSzTx/>
              <a:buFont typeface="Arial" panose="020B0604020202020204" pitchFamily="34" charset="0"/>
              <a:buChar char="•"/>
              <a:tabLst/>
              <a:defRPr/>
            </a:pPr>
            <a:r>
              <a:rPr kumimoji="0" lang="fa-IR"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نیاز به قضاوت تخصصی دارد، نه صرفاً اجرا</a:t>
            </a:r>
          </a:p>
          <a:p>
            <a:pPr marL="285750" marR="0" lvl="0" indent="-285750" algn="justLow" defTabSz="457200" rtl="1" eaLnBrk="1" fontAlgn="auto" latinLnBrk="0" hangingPunct="1">
              <a:lnSpc>
                <a:spcPct val="125000"/>
              </a:lnSpc>
              <a:spcBef>
                <a:spcPts val="0"/>
              </a:spcBef>
              <a:spcAft>
                <a:spcPts val="0"/>
              </a:spcAft>
              <a:buClr>
                <a:srgbClr val="F0BE0F"/>
              </a:buClr>
              <a:buSzTx/>
              <a:buFont typeface="Arial" panose="020B0604020202020204" pitchFamily="34" charset="0"/>
              <a:buChar char="•"/>
              <a:tabLst/>
              <a:defRPr/>
            </a:pPr>
            <a:r>
              <a:rPr kumimoji="0" lang="fa-IR"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نقطه شروع فروش راهکار (نه فروش یک خدمت مجزا) است</a:t>
            </a:r>
          </a:p>
        </p:txBody>
      </p:sp>
      <p:sp>
        <p:nvSpPr>
          <p:cNvPr id="20" name="Rectangle: Rounded Corners 19">
            <a:extLst>
              <a:ext uri="{FF2B5EF4-FFF2-40B4-BE49-F238E27FC236}">
                <a16:creationId xmlns:a16="http://schemas.microsoft.com/office/drawing/2014/main" id="{ACD0B370-93FB-98AD-6CF9-5ABE65A812B6}"/>
              </a:ext>
            </a:extLst>
          </p:cNvPr>
          <p:cNvSpPr/>
          <p:nvPr/>
        </p:nvSpPr>
        <p:spPr>
          <a:xfrm>
            <a:off x="4409954" y="5350148"/>
            <a:ext cx="6855808" cy="458356"/>
          </a:xfrm>
          <a:prstGeom prst="roundRect">
            <a:avLst>
              <a:gd name="adj" fmla="val 7208"/>
            </a:avLst>
          </a:prstGeom>
          <a:solidFill>
            <a:schemeClr val="bg1">
              <a:lumMod val="95000"/>
              <a:alpha val="7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Calibri"/>
            </a:endParaRPr>
          </a:p>
        </p:txBody>
      </p:sp>
      <p:cxnSp>
        <p:nvCxnSpPr>
          <p:cNvPr id="15" name="Straight Connector 14">
            <a:extLst>
              <a:ext uri="{FF2B5EF4-FFF2-40B4-BE49-F238E27FC236}">
                <a16:creationId xmlns:a16="http://schemas.microsoft.com/office/drawing/2014/main" id="{C070D4B0-FD8C-B099-CC82-6DDCAC8928B7}"/>
              </a:ext>
            </a:extLst>
          </p:cNvPr>
          <p:cNvCxnSpPr>
            <a:cxnSpLocks/>
          </p:cNvCxnSpPr>
          <p:nvPr/>
        </p:nvCxnSpPr>
        <p:spPr>
          <a:xfrm>
            <a:off x="4425223" y="5213778"/>
            <a:ext cx="6825271" cy="0"/>
          </a:xfrm>
          <a:prstGeom prst="line">
            <a:avLst/>
          </a:prstGeom>
        </p:spPr>
        <p:style>
          <a:lnRef idx="1">
            <a:schemeClr val="accent2"/>
          </a:lnRef>
          <a:fillRef idx="0">
            <a:schemeClr val="accent2"/>
          </a:fillRef>
          <a:effectRef idx="0">
            <a:schemeClr val="accent2"/>
          </a:effectRef>
          <a:fontRef idx="minor">
            <a:schemeClr val="tx1"/>
          </a:fontRef>
        </p:style>
      </p:cxnSp>
      <p:sp>
        <p:nvSpPr>
          <p:cNvPr id="16" name="TextBox 15">
            <a:extLst>
              <a:ext uri="{FF2B5EF4-FFF2-40B4-BE49-F238E27FC236}">
                <a16:creationId xmlns:a16="http://schemas.microsoft.com/office/drawing/2014/main" id="{F192CDFE-D8E5-B8CB-06C8-70C314ECFF1D}"/>
              </a:ext>
            </a:extLst>
          </p:cNvPr>
          <p:cNvSpPr txBox="1"/>
          <p:nvPr/>
        </p:nvSpPr>
        <p:spPr>
          <a:xfrm>
            <a:off x="5875887" y="5082972"/>
            <a:ext cx="3923943" cy="261610"/>
          </a:xfrm>
          <a:prstGeom prst="rect">
            <a:avLst/>
          </a:prstGeom>
          <a:solidFill>
            <a:schemeClr val="bg1"/>
          </a:solidFill>
        </p:spPr>
        <p:txBody>
          <a:bodyPr wrap="square"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نقش «اکوسیستم فرصت ایران»: مشاور / متخصص</a:t>
            </a:r>
          </a:p>
        </p:txBody>
      </p:sp>
      <p:sp>
        <p:nvSpPr>
          <p:cNvPr id="17" name="TextBox 16">
            <a:extLst>
              <a:ext uri="{FF2B5EF4-FFF2-40B4-BE49-F238E27FC236}">
                <a16:creationId xmlns:a16="http://schemas.microsoft.com/office/drawing/2014/main" id="{B82A48D6-D52B-07D8-8214-D6958D394099}"/>
              </a:ext>
            </a:extLst>
          </p:cNvPr>
          <p:cNvSpPr txBox="1"/>
          <p:nvPr/>
        </p:nvSpPr>
        <p:spPr>
          <a:xfrm>
            <a:off x="4648473" y="5473528"/>
            <a:ext cx="6378770" cy="211596"/>
          </a:xfrm>
          <a:prstGeom prst="rect">
            <a:avLst/>
          </a:prstGeom>
          <a:noFill/>
        </p:spPr>
        <p:txBody>
          <a:bodyPr wrap="square" lIns="0" tIns="0" rIns="0" bIns="0" anchor="t">
            <a:spAutoFit/>
          </a:bodyPr>
          <a:lstStyle/>
          <a:p>
            <a:pPr marL="0" marR="0" lvl="0" indent="0" algn="ctr" defTabSz="457200" rtl="1" eaLnBrk="1" fontAlgn="auto" latinLnBrk="0" hangingPunct="1">
              <a:lnSpc>
                <a:spcPct val="125000"/>
              </a:lnSpc>
              <a:spcBef>
                <a:spcPts val="0"/>
              </a:spcBef>
              <a:spcAft>
                <a:spcPts val="0"/>
              </a:spcAft>
              <a:buClrTx/>
              <a:buSzTx/>
              <a:buFontTx/>
              <a:buNone/>
              <a:tabLst/>
              <a:defRPr/>
            </a:pPr>
            <a:r>
              <a:rPr kumimoji="0" lang="fa-IR"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مدل تعامل: تعامل انسانی سطح بالا، مبتنی بر تشخیص اختصاصی</a:t>
            </a:r>
          </a:p>
        </p:txBody>
      </p:sp>
      <p:cxnSp>
        <p:nvCxnSpPr>
          <p:cNvPr id="5" name="Straight Connector 4">
            <a:extLst>
              <a:ext uri="{FF2B5EF4-FFF2-40B4-BE49-F238E27FC236}">
                <a16:creationId xmlns:a16="http://schemas.microsoft.com/office/drawing/2014/main" id="{007FE8F7-5F0B-5B25-EEDC-0E2A919C6C5E}"/>
              </a:ext>
            </a:extLst>
          </p:cNvPr>
          <p:cNvCxnSpPr>
            <a:cxnSpLocks/>
          </p:cNvCxnSpPr>
          <p:nvPr/>
        </p:nvCxnSpPr>
        <p:spPr>
          <a:xfrm>
            <a:off x="4425223" y="1464508"/>
            <a:ext cx="6825271" cy="0"/>
          </a:xfrm>
          <a:prstGeom prst="line">
            <a:avLst/>
          </a:prstGeom>
        </p:spPr>
        <p:style>
          <a:lnRef idx="1">
            <a:schemeClr val="accent2"/>
          </a:lnRef>
          <a:fillRef idx="0">
            <a:schemeClr val="accent2"/>
          </a:fillRef>
          <a:effectRef idx="0">
            <a:schemeClr val="accent2"/>
          </a:effectRef>
          <a:fontRef idx="minor">
            <a:schemeClr val="tx1"/>
          </a:fontRef>
        </p:style>
      </p:cxnSp>
      <p:sp>
        <p:nvSpPr>
          <p:cNvPr id="18" name="Rectangle: Rounded Corners 17">
            <a:extLst>
              <a:ext uri="{FF2B5EF4-FFF2-40B4-BE49-F238E27FC236}">
                <a16:creationId xmlns:a16="http://schemas.microsoft.com/office/drawing/2014/main" id="{423783DF-8B03-A1AD-F95F-3BDADA8AFD28}"/>
              </a:ext>
            </a:extLst>
          </p:cNvPr>
          <p:cNvSpPr/>
          <p:nvPr/>
        </p:nvSpPr>
        <p:spPr>
          <a:xfrm>
            <a:off x="4409954" y="1600261"/>
            <a:ext cx="6855808" cy="884683"/>
          </a:xfrm>
          <a:prstGeom prst="roundRect">
            <a:avLst>
              <a:gd name="adj" fmla="val 7208"/>
            </a:avLst>
          </a:prstGeom>
          <a:solidFill>
            <a:schemeClr val="bg1">
              <a:lumMod val="95000"/>
              <a:alpha val="7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Calibri"/>
            </a:endParaRPr>
          </a:p>
        </p:txBody>
      </p:sp>
      <p:sp>
        <p:nvSpPr>
          <p:cNvPr id="8" name="TextBox 7">
            <a:extLst>
              <a:ext uri="{FF2B5EF4-FFF2-40B4-BE49-F238E27FC236}">
                <a16:creationId xmlns:a16="http://schemas.microsoft.com/office/drawing/2014/main" id="{F4EE70A6-91CF-CD63-3D19-BE6C6D427F29}"/>
              </a:ext>
            </a:extLst>
          </p:cNvPr>
          <p:cNvSpPr txBox="1"/>
          <p:nvPr/>
        </p:nvSpPr>
        <p:spPr>
          <a:xfrm>
            <a:off x="4648473" y="1831006"/>
            <a:ext cx="6378770" cy="423193"/>
          </a:xfrm>
          <a:prstGeom prst="rect">
            <a:avLst/>
          </a:prstGeom>
          <a:noFill/>
        </p:spPr>
        <p:txBody>
          <a:bodyPr wrap="square" lIns="0" tIns="0" rIns="0" bIns="0" anchor="ctr">
            <a:spAutoFit/>
          </a:bodyPr>
          <a:lstStyle/>
          <a:p>
            <a:pPr marL="0" marR="0" lvl="0" indent="0" algn="justLow" defTabSz="457200" rtl="1" eaLnBrk="1" fontAlgn="auto" latinLnBrk="0" hangingPunct="1">
              <a:lnSpc>
                <a:spcPct val="125000"/>
              </a:lnSpc>
              <a:spcBef>
                <a:spcPts val="0"/>
              </a:spcBef>
              <a:spcAft>
                <a:spcPts val="0"/>
              </a:spcAft>
              <a:buClrTx/>
              <a:buSzTx/>
              <a:buFontTx/>
              <a:buNone/>
              <a:tabLst/>
              <a:defRPr/>
            </a:pPr>
            <a:r>
              <a:rPr kumimoji="0" lang="fa-IR"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مشتری مسئله یا نیاز دارد اما نمی‌داند چه راهکاری برایش مناسب است؛ «اکوسیستم فرصت ایران» با تشخیص، ارزیابی و توصیه ارزش می‌آفریند.</a:t>
            </a:r>
          </a:p>
        </p:txBody>
      </p:sp>
      <p:sp>
        <p:nvSpPr>
          <p:cNvPr id="21" name="Rectangle: Rounded Corners 20">
            <a:extLst>
              <a:ext uri="{FF2B5EF4-FFF2-40B4-BE49-F238E27FC236}">
                <a16:creationId xmlns:a16="http://schemas.microsoft.com/office/drawing/2014/main" id="{98BD9D3D-B5CB-8FE7-9490-55C9455FC312}"/>
              </a:ext>
            </a:extLst>
          </p:cNvPr>
          <p:cNvSpPr/>
          <p:nvPr/>
        </p:nvSpPr>
        <p:spPr>
          <a:xfrm>
            <a:off x="4409954" y="2535426"/>
            <a:ext cx="6855808" cy="369732"/>
          </a:xfrm>
          <a:prstGeom prst="roundRect">
            <a:avLst>
              <a:gd name="adj" fmla="val 7208"/>
            </a:avLst>
          </a:prstGeom>
          <a:solidFill>
            <a:srgbClr val="00406C">
              <a:alpha val="1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Calibri"/>
            </a:endParaRPr>
          </a:p>
        </p:txBody>
      </p:sp>
      <p:sp>
        <p:nvSpPr>
          <p:cNvPr id="23" name="TextBox 22">
            <a:extLst>
              <a:ext uri="{FF2B5EF4-FFF2-40B4-BE49-F238E27FC236}">
                <a16:creationId xmlns:a16="http://schemas.microsoft.com/office/drawing/2014/main" id="{91B56335-443B-6920-61EB-9BBCBE68EBE9}"/>
              </a:ext>
            </a:extLst>
          </p:cNvPr>
          <p:cNvSpPr txBox="1"/>
          <p:nvPr/>
        </p:nvSpPr>
        <p:spPr>
          <a:xfrm>
            <a:off x="4425222" y="2601898"/>
            <a:ext cx="6840539" cy="219291"/>
          </a:xfrm>
          <a:prstGeom prst="rect">
            <a:avLst/>
          </a:prstGeom>
          <a:noFill/>
        </p:spPr>
        <p:txBody>
          <a:bodyPr wrap="square" lIns="0" tIns="0" rIns="0" bIns="0" anchor="t">
            <a:spAutoFit/>
          </a:bodyPr>
          <a:lstStyle/>
          <a:p>
            <a:pPr marL="0" marR="0" lvl="0" indent="0" algn="ctr" defTabSz="457200" rtl="1" eaLnBrk="1" fontAlgn="auto" latinLnBrk="0" hangingPunct="1">
              <a:lnSpc>
                <a:spcPct val="125000"/>
              </a:lnSpc>
              <a:spcBef>
                <a:spcPts val="0"/>
              </a:spcBef>
              <a:spcAft>
                <a:spcPts val="0"/>
              </a:spcAft>
              <a:buClrTx/>
              <a:buSzTx/>
              <a:buFontTx/>
              <a:buNone/>
              <a:tabLst/>
              <a:defRPr/>
            </a:pPr>
            <a:r>
              <a:rPr kumimoji="0" lang="fa-IR" sz="1200" b="1" i="0" u="none" strike="noStrike" kern="1200" cap="none" spc="0" normalizeH="0" baseline="0" noProof="0" dirty="0">
                <a:ln>
                  <a:noFill/>
                </a:ln>
                <a:solidFill>
                  <a:srgbClr val="15296B"/>
                </a:solidFill>
                <a:effectLst/>
                <a:uLnTx/>
                <a:uFillTx/>
                <a:latin typeface="Yekan Bakh FaNum" pitchFamily="2" charset="-78"/>
                <a:ea typeface="+mn-ea"/>
                <a:cs typeface="Yekan Bakh FaNum" pitchFamily="2" charset="-78"/>
              </a:rPr>
              <a:t>مسئله  ←  تشخیص  ←  توصیه  ←  راهکار</a:t>
            </a:r>
          </a:p>
        </p:txBody>
      </p:sp>
      <p:sp>
        <p:nvSpPr>
          <p:cNvPr id="6" name="TextBox 5">
            <a:extLst>
              <a:ext uri="{FF2B5EF4-FFF2-40B4-BE49-F238E27FC236}">
                <a16:creationId xmlns:a16="http://schemas.microsoft.com/office/drawing/2014/main" id="{9C81A8DB-51AA-AC11-D0E5-AC18D6A63783}"/>
              </a:ext>
            </a:extLst>
          </p:cNvPr>
          <p:cNvSpPr txBox="1"/>
          <p:nvPr/>
        </p:nvSpPr>
        <p:spPr>
          <a:xfrm>
            <a:off x="7412561" y="1333703"/>
            <a:ext cx="850594" cy="261610"/>
          </a:xfrm>
          <a:prstGeom prst="rect">
            <a:avLst/>
          </a:prstGeom>
          <a:solidFill>
            <a:schemeClr val="bg1"/>
          </a:solidFill>
        </p:spPr>
        <p:txBody>
          <a:bodyPr wrap="square"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تعریف</a:t>
            </a:r>
          </a:p>
        </p:txBody>
      </p:sp>
      <p:sp>
        <p:nvSpPr>
          <p:cNvPr id="29" name="Rectangle: Rounded Corners 28">
            <a:extLst>
              <a:ext uri="{FF2B5EF4-FFF2-40B4-BE49-F238E27FC236}">
                <a16:creationId xmlns:a16="http://schemas.microsoft.com/office/drawing/2014/main" id="{A91C8BBF-4C81-A672-4BBD-20028D61978F}"/>
              </a:ext>
            </a:extLst>
          </p:cNvPr>
          <p:cNvSpPr/>
          <p:nvPr/>
        </p:nvSpPr>
        <p:spPr>
          <a:xfrm>
            <a:off x="437288" y="1464508"/>
            <a:ext cx="3545953" cy="2009496"/>
          </a:xfrm>
          <a:prstGeom prst="roundRect">
            <a:avLst>
              <a:gd name="adj" fmla="val 6055"/>
            </a:avLst>
          </a:prstGeom>
          <a:solidFill>
            <a:srgbClr val="EFF3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30" name="Rectangle: Rounded Corners 29">
            <a:extLst>
              <a:ext uri="{FF2B5EF4-FFF2-40B4-BE49-F238E27FC236}">
                <a16:creationId xmlns:a16="http://schemas.microsoft.com/office/drawing/2014/main" id="{9940B66F-2878-68C9-6320-95D4B06A0A8F}"/>
              </a:ext>
            </a:extLst>
          </p:cNvPr>
          <p:cNvSpPr/>
          <p:nvPr/>
        </p:nvSpPr>
        <p:spPr>
          <a:xfrm>
            <a:off x="437288" y="3799008"/>
            <a:ext cx="3545953" cy="2009496"/>
          </a:xfrm>
          <a:prstGeom prst="roundRect">
            <a:avLst>
              <a:gd name="adj" fmla="val 6055"/>
            </a:avLst>
          </a:prstGeom>
          <a:solidFill>
            <a:schemeClr val="bg1">
              <a:lumMod val="75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Calibri"/>
            </a:endParaRPr>
          </a:p>
        </p:txBody>
      </p:sp>
      <p:cxnSp>
        <p:nvCxnSpPr>
          <p:cNvPr id="36" name="Straight Connector 35">
            <a:extLst>
              <a:ext uri="{FF2B5EF4-FFF2-40B4-BE49-F238E27FC236}">
                <a16:creationId xmlns:a16="http://schemas.microsoft.com/office/drawing/2014/main" id="{A2A861BA-B5BE-FDAE-B48B-CC31444F876E}"/>
              </a:ext>
            </a:extLst>
          </p:cNvPr>
          <p:cNvCxnSpPr/>
          <p:nvPr/>
        </p:nvCxnSpPr>
        <p:spPr>
          <a:xfrm>
            <a:off x="4201610" y="1464508"/>
            <a:ext cx="0" cy="4343996"/>
          </a:xfrm>
          <a:prstGeom prst="line">
            <a:avLst/>
          </a:prstGeom>
          <a:ln>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57602A38-0ABF-9B0A-8989-C1F6D0274B3D}"/>
              </a:ext>
            </a:extLst>
          </p:cNvPr>
          <p:cNvSpPr txBox="1"/>
          <p:nvPr/>
        </p:nvSpPr>
        <p:spPr>
          <a:xfrm>
            <a:off x="641064" y="1646441"/>
            <a:ext cx="3138401" cy="211596"/>
          </a:xfrm>
          <a:prstGeom prst="rect">
            <a:avLst/>
          </a:prstGeom>
          <a:noFill/>
        </p:spPr>
        <p:txBody>
          <a:bodyPr wrap="square" lIns="0" tIns="0" rIns="0" bIns="0" anchor="t">
            <a:spAutoFit/>
          </a:bodyPr>
          <a:lstStyle/>
          <a:p>
            <a:pPr marL="0" marR="0" lvl="0" indent="0" algn="ctr" defTabSz="457200" rtl="1" eaLnBrk="1" fontAlgn="auto" latinLnBrk="0" hangingPunct="1">
              <a:lnSpc>
                <a:spcPct val="125000"/>
              </a:lnSpc>
              <a:spcBef>
                <a:spcPts val="0"/>
              </a:spcBef>
              <a:spcAft>
                <a:spcPts val="0"/>
              </a:spcAft>
              <a:buClrTx/>
              <a:buSzTx/>
              <a:buFontTx/>
              <a:buNone/>
              <a:tabLst/>
              <a:defRPr/>
            </a:pPr>
            <a:r>
              <a:rPr kumimoji="0" sz="1100" b="1" i="0" u="none" strike="noStrike" kern="1200" cap="none" spc="0" normalizeH="0" baseline="0" noProof="0" dirty="0" err="1">
                <a:ln>
                  <a:noFill/>
                </a:ln>
                <a:solidFill>
                  <a:srgbClr val="15296B"/>
                </a:solidFill>
                <a:effectLst/>
                <a:uLnTx/>
                <a:uFillTx/>
                <a:latin typeface="Yekan Bakh FaNum" pitchFamily="2" charset="-78"/>
                <a:ea typeface="+mn-ea"/>
                <a:cs typeface="Yekan Bakh FaNum" pitchFamily="2" charset="-78"/>
              </a:rPr>
              <a:t>مثال</a:t>
            </a:r>
            <a:r>
              <a:rPr kumimoji="0" sz="1100" b="1" i="0" u="none" strike="noStrike" kern="1200" cap="none" spc="0" normalizeH="0" baseline="0" noProof="0" dirty="0">
                <a:ln>
                  <a:noFill/>
                </a:ln>
                <a:solidFill>
                  <a:srgbClr val="15296B"/>
                </a:solidFill>
                <a:effectLst/>
                <a:uLnTx/>
                <a:uFillTx/>
                <a:latin typeface="Yekan Bakh FaNum" pitchFamily="2" charset="-78"/>
                <a:ea typeface="+mn-ea"/>
                <a:cs typeface="Yekan Bakh FaNum" pitchFamily="2" charset="-78"/>
              </a:rPr>
              <a:t> </a:t>
            </a:r>
            <a:r>
              <a:rPr kumimoji="0" sz="1100" b="1" i="0" u="none" strike="noStrike" kern="1200" cap="none" spc="0" normalizeH="0" baseline="0" noProof="0" dirty="0" err="1">
                <a:ln>
                  <a:noFill/>
                </a:ln>
                <a:solidFill>
                  <a:srgbClr val="15296B"/>
                </a:solidFill>
                <a:effectLst/>
                <a:uLnTx/>
                <a:uFillTx/>
                <a:latin typeface="Yekan Bakh FaNum" pitchFamily="2" charset="-78"/>
                <a:ea typeface="+mn-ea"/>
                <a:cs typeface="Yekan Bakh FaNum" pitchFamily="2" charset="-78"/>
              </a:rPr>
              <a:t>جهانی</a:t>
            </a:r>
            <a:endParaRPr kumimoji="0" sz="1100" b="1" i="0" u="none" strike="noStrike" kern="1200" cap="none" spc="0" normalizeH="0" baseline="0" noProof="0" dirty="0">
              <a:ln>
                <a:noFill/>
              </a:ln>
              <a:solidFill>
                <a:srgbClr val="15296B"/>
              </a:solidFill>
              <a:effectLst/>
              <a:uLnTx/>
              <a:uFillTx/>
              <a:latin typeface="Yekan Bakh FaNum" pitchFamily="2" charset="-78"/>
              <a:ea typeface="+mn-ea"/>
              <a:cs typeface="Yekan Bakh FaNum" pitchFamily="2" charset="-78"/>
            </a:endParaRPr>
          </a:p>
        </p:txBody>
      </p:sp>
      <p:sp>
        <p:nvSpPr>
          <p:cNvPr id="34" name="TextBox 33">
            <a:extLst>
              <a:ext uri="{FF2B5EF4-FFF2-40B4-BE49-F238E27FC236}">
                <a16:creationId xmlns:a16="http://schemas.microsoft.com/office/drawing/2014/main" id="{FD20D21D-7C15-2A00-AF27-3C16ABEBB626}"/>
              </a:ext>
            </a:extLst>
          </p:cNvPr>
          <p:cNvSpPr txBox="1"/>
          <p:nvPr/>
        </p:nvSpPr>
        <p:spPr>
          <a:xfrm>
            <a:off x="641064" y="2181795"/>
            <a:ext cx="3138401" cy="486672"/>
          </a:xfrm>
          <a:prstGeom prst="rect">
            <a:avLst/>
          </a:prstGeom>
          <a:noFill/>
        </p:spPr>
        <p:txBody>
          <a:bodyPr wrap="square" lIns="0" tIns="0" rIns="0" bIns="0" anchor="t">
            <a:spAutoFit/>
          </a:bodyPr>
          <a:lstStyle/>
          <a:p>
            <a:pPr marL="0" marR="0" lvl="0" indent="0" algn="ctr" defTabSz="457200" rtl="1" eaLnBrk="1" fontAlgn="auto" latinLnBrk="0" hangingPunct="1">
              <a:lnSpc>
                <a:spcPct val="150000"/>
              </a:lnSpc>
              <a:spcBef>
                <a:spcPts val="0"/>
              </a:spcBef>
              <a:spcAft>
                <a:spcPts val="0"/>
              </a:spcAft>
              <a:buClrTx/>
              <a:buSzTx/>
              <a:buFontTx/>
              <a:buNone/>
              <a:tabLst/>
              <a:defRPr/>
            </a:pPr>
            <a:r>
              <a:rPr kumimoji="0" lang="fa-IR"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مدل کلاسیک مشاوره مدیریت — تشخیص پیش از هر اقدام، پیش از هر پیشنهاد راه‌حل</a:t>
            </a:r>
          </a:p>
        </p:txBody>
      </p:sp>
      <p:cxnSp>
        <p:nvCxnSpPr>
          <p:cNvPr id="42" name="Straight Connector 41">
            <a:extLst>
              <a:ext uri="{FF2B5EF4-FFF2-40B4-BE49-F238E27FC236}">
                <a16:creationId xmlns:a16="http://schemas.microsoft.com/office/drawing/2014/main" id="{6E5D69DF-290F-6CA9-7C9B-661831E15D87}"/>
              </a:ext>
            </a:extLst>
          </p:cNvPr>
          <p:cNvCxnSpPr>
            <a:cxnSpLocks/>
          </p:cNvCxnSpPr>
          <p:nvPr/>
        </p:nvCxnSpPr>
        <p:spPr>
          <a:xfrm>
            <a:off x="440900" y="2047348"/>
            <a:ext cx="3547872" cy="0"/>
          </a:xfrm>
          <a:prstGeom prst="line">
            <a:avLst/>
          </a:prstGeom>
          <a:ln w="12700">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CA2B30D6-A1EA-8138-CC7D-7766B5FEE7BF}"/>
              </a:ext>
            </a:extLst>
          </p:cNvPr>
          <p:cNvSpPr txBox="1"/>
          <p:nvPr/>
        </p:nvSpPr>
        <p:spPr>
          <a:xfrm>
            <a:off x="641064" y="3980941"/>
            <a:ext cx="3138401" cy="211596"/>
          </a:xfrm>
          <a:prstGeom prst="rect">
            <a:avLst/>
          </a:prstGeom>
          <a:noFill/>
        </p:spPr>
        <p:txBody>
          <a:bodyPr wrap="square" lIns="0" tIns="0" rIns="0" bIns="0" anchor="t">
            <a:spAutoFit/>
          </a:bodyPr>
          <a:lstStyle/>
          <a:p>
            <a:pPr marL="0" marR="0" lvl="0" indent="0" algn="ctr" defTabSz="457200" rtl="1" eaLnBrk="1" fontAlgn="auto" latinLnBrk="0" hangingPunct="1">
              <a:lnSpc>
                <a:spcPct val="125000"/>
              </a:lnSpc>
              <a:spcBef>
                <a:spcPts val="0"/>
              </a:spcBef>
              <a:spcAft>
                <a:spcPts val="0"/>
              </a:spcAft>
              <a:buClrTx/>
              <a:buSzTx/>
              <a:buFontTx/>
              <a:buNone/>
              <a:tabLst/>
              <a:defRPr/>
            </a:pPr>
            <a:r>
              <a:rPr kumimoji="0" lang="fa-IR" sz="1100" b="1" i="0" u="none" strike="noStrike" kern="1200" cap="none" spc="0" normalizeH="0" baseline="0" noProof="0" dirty="0">
                <a:ln>
                  <a:noFill/>
                </a:ln>
                <a:solidFill>
                  <a:srgbClr val="15296B"/>
                </a:solidFill>
                <a:effectLst/>
                <a:uLnTx/>
                <a:uFillTx/>
                <a:latin typeface="Yekan Bakh FaNum" pitchFamily="2" charset="-78"/>
                <a:ea typeface="+mn-ea"/>
                <a:cs typeface="Yekan Bakh FaNum" pitchFamily="2" charset="-78"/>
              </a:rPr>
              <a:t>بنچمارک اکوسیستم برون‌مرزی</a:t>
            </a:r>
          </a:p>
        </p:txBody>
      </p:sp>
      <p:sp>
        <p:nvSpPr>
          <p:cNvPr id="40" name="TextBox 39">
            <a:extLst>
              <a:ext uri="{FF2B5EF4-FFF2-40B4-BE49-F238E27FC236}">
                <a16:creationId xmlns:a16="http://schemas.microsoft.com/office/drawing/2014/main" id="{C29B97E1-0C2F-54B3-78D0-48ACA2E6C8A3}"/>
              </a:ext>
            </a:extLst>
          </p:cNvPr>
          <p:cNvSpPr txBox="1"/>
          <p:nvPr/>
        </p:nvSpPr>
        <p:spPr>
          <a:xfrm>
            <a:off x="641064" y="4516295"/>
            <a:ext cx="3138401" cy="740587"/>
          </a:xfrm>
          <a:prstGeom prst="rect">
            <a:avLst/>
          </a:prstGeom>
          <a:noFill/>
        </p:spPr>
        <p:txBody>
          <a:bodyPr wrap="square" lIns="0" tIns="0" rIns="0" bIns="0" anchor="t">
            <a:spAutoFit/>
          </a:bodyPr>
          <a:lstStyle/>
          <a:p>
            <a:pPr marL="0" marR="0" lvl="0" indent="0" algn="ctr" defTabSz="457200" rtl="1" eaLnBrk="1" fontAlgn="auto" latinLnBrk="0" hangingPunct="1">
              <a:lnSpc>
                <a:spcPct val="150000"/>
              </a:lnSpc>
              <a:spcBef>
                <a:spcPts val="0"/>
              </a:spcBef>
              <a:spcAft>
                <a:spcPts val="0"/>
              </a:spcAft>
              <a:buClrTx/>
              <a:buSzTx/>
              <a:buFontTx/>
              <a:buNone/>
              <a:tabLst/>
              <a:defRPr/>
            </a:pPr>
            <a:r>
              <a:rPr kumimoji="0" lang="fa-IR"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مشاوران </a:t>
            </a:r>
            <a:r>
              <a:rPr kumimoji="0" lang="en-US"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SME</a:t>
            </a:r>
            <a:r>
              <a:rPr kumimoji="0" lang="fa-IR"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 شبکه </a:t>
            </a:r>
            <a:r>
              <a:rPr kumimoji="0" lang="en-US"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Enterprise Europe Network — </a:t>
            </a:r>
            <a:r>
              <a:rPr kumimoji="0" lang="fa-IR"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مسیر بین‌المللی‌سازی هر شرکت را جداگانه تشخیص می‌دهند، پیش از معرفی به هر ابزار یا شریک</a:t>
            </a:r>
          </a:p>
        </p:txBody>
      </p:sp>
      <p:cxnSp>
        <p:nvCxnSpPr>
          <p:cNvPr id="43" name="Straight Connector 42">
            <a:extLst>
              <a:ext uri="{FF2B5EF4-FFF2-40B4-BE49-F238E27FC236}">
                <a16:creationId xmlns:a16="http://schemas.microsoft.com/office/drawing/2014/main" id="{95B5D47F-05A3-121D-6DE9-47F1F21BAD9B}"/>
              </a:ext>
            </a:extLst>
          </p:cNvPr>
          <p:cNvCxnSpPr>
            <a:cxnSpLocks/>
          </p:cNvCxnSpPr>
          <p:nvPr/>
        </p:nvCxnSpPr>
        <p:spPr>
          <a:xfrm>
            <a:off x="440900" y="4381848"/>
            <a:ext cx="3547872" cy="0"/>
          </a:xfrm>
          <a:prstGeom prst="line">
            <a:avLst/>
          </a:prstGeom>
          <a:ln w="12700">
            <a:solidFill>
              <a:schemeClr val="bg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5450894"/>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806EF9-367B-E932-4D82-F953EB7BBAB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611C11E-51BF-570D-4CD2-46455DB3D3C6}"/>
              </a:ext>
            </a:extLst>
          </p:cNvPr>
          <p:cNvSpPr>
            <a:spLocks noGrp="1"/>
          </p:cNvSpPr>
          <p:nvPr>
            <p:ph type="body" sz="quarter" idx="10"/>
          </p:nvPr>
        </p:nvSpPr>
        <p:spPr/>
        <p:txBody>
          <a:bodyPr/>
          <a:lstStyle/>
          <a:p>
            <a:r>
              <a:rPr lang="fa-IR" dirty="0"/>
              <a:t>۳. آرکی‌تایپ رابطه ۴ از ۷ — مدیریت‌شده </a:t>
            </a:r>
            <a:r>
              <a:rPr lang="en-US" dirty="0"/>
              <a:t>Managed)</a:t>
            </a:r>
            <a:r>
              <a:rPr lang="fa-IR" dirty="0"/>
              <a:t>)</a:t>
            </a:r>
            <a:endParaRPr lang="en-GB" dirty="0"/>
          </a:p>
        </p:txBody>
      </p:sp>
      <p:sp>
        <p:nvSpPr>
          <p:cNvPr id="3" name="Text Placeholder 2">
            <a:extLst>
              <a:ext uri="{FF2B5EF4-FFF2-40B4-BE49-F238E27FC236}">
                <a16:creationId xmlns:a16="http://schemas.microsoft.com/office/drawing/2014/main" id="{BA0E52F7-4C42-FC8F-1871-469C5206F6F8}"/>
              </a:ext>
            </a:extLst>
          </p:cNvPr>
          <p:cNvSpPr>
            <a:spLocks noGrp="1"/>
          </p:cNvSpPr>
          <p:nvPr>
            <p:ph type="body" sz="quarter" idx="12"/>
          </p:nvPr>
        </p:nvSpPr>
        <p:spPr/>
        <p:txBody>
          <a:bodyPr/>
          <a:lstStyle/>
          <a:p>
            <a:r>
              <a:rPr lang="fa-IR" dirty="0"/>
              <a:t>وقتی مشتری می‌خواهد پیچیدگی اجرا را واگذار کند، رابطه از توصیه به مسئولیت مستمر می‌رود</a:t>
            </a:r>
          </a:p>
        </p:txBody>
      </p:sp>
      <p:sp>
        <p:nvSpPr>
          <p:cNvPr id="19" name="Rectangle: Rounded Corners 18">
            <a:extLst>
              <a:ext uri="{FF2B5EF4-FFF2-40B4-BE49-F238E27FC236}">
                <a16:creationId xmlns:a16="http://schemas.microsoft.com/office/drawing/2014/main" id="{6963CC56-9B2F-4BD1-EE8D-AE23DFF8086E}"/>
              </a:ext>
            </a:extLst>
          </p:cNvPr>
          <p:cNvSpPr/>
          <p:nvPr/>
        </p:nvSpPr>
        <p:spPr>
          <a:xfrm>
            <a:off x="4409954" y="3475131"/>
            <a:ext cx="6855808" cy="1300605"/>
          </a:xfrm>
          <a:prstGeom prst="roundRect">
            <a:avLst>
              <a:gd name="adj" fmla="val 7208"/>
            </a:avLst>
          </a:prstGeom>
          <a:solidFill>
            <a:schemeClr val="bg1">
              <a:lumMod val="95000"/>
              <a:alpha val="7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cxnSp>
        <p:nvCxnSpPr>
          <p:cNvPr id="11" name="Straight Connector 10">
            <a:extLst>
              <a:ext uri="{FF2B5EF4-FFF2-40B4-BE49-F238E27FC236}">
                <a16:creationId xmlns:a16="http://schemas.microsoft.com/office/drawing/2014/main" id="{650C42D4-B26A-FB3A-90C1-AA3FAA0AFE84}"/>
              </a:ext>
            </a:extLst>
          </p:cNvPr>
          <p:cNvCxnSpPr>
            <a:cxnSpLocks/>
          </p:cNvCxnSpPr>
          <p:nvPr/>
        </p:nvCxnSpPr>
        <p:spPr>
          <a:xfrm>
            <a:off x="4425223" y="3343200"/>
            <a:ext cx="6825271" cy="0"/>
          </a:xfrm>
          <a:prstGeom prst="line">
            <a:avLst/>
          </a:prstGeom>
        </p:spPr>
        <p:style>
          <a:lnRef idx="1">
            <a:schemeClr val="accent2"/>
          </a:lnRef>
          <a:fillRef idx="0">
            <a:schemeClr val="accent2"/>
          </a:fillRef>
          <a:effectRef idx="0">
            <a:schemeClr val="accent2"/>
          </a:effectRef>
          <a:fontRef idx="minor">
            <a:schemeClr val="tx1"/>
          </a:fontRef>
        </p:style>
      </p:cxnSp>
      <p:sp>
        <p:nvSpPr>
          <p:cNvPr id="12" name="TextBox 11">
            <a:extLst>
              <a:ext uri="{FF2B5EF4-FFF2-40B4-BE49-F238E27FC236}">
                <a16:creationId xmlns:a16="http://schemas.microsoft.com/office/drawing/2014/main" id="{7BC91331-5AA7-1ADE-4CA4-245CD9F55315}"/>
              </a:ext>
            </a:extLst>
          </p:cNvPr>
          <p:cNvSpPr txBox="1"/>
          <p:nvPr/>
        </p:nvSpPr>
        <p:spPr>
          <a:xfrm>
            <a:off x="5658795" y="3212394"/>
            <a:ext cx="4358127" cy="261610"/>
          </a:xfrm>
          <a:prstGeom prst="rect">
            <a:avLst/>
          </a:prstGeom>
          <a:solidFill>
            <a:schemeClr val="bg1"/>
          </a:solidFill>
        </p:spPr>
        <p:txBody>
          <a:bodyPr wrap="square"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چه زمانی برای اکوسیستم فرصت ایران مناسب است</a:t>
            </a:r>
          </a:p>
        </p:txBody>
      </p:sp>
      <p:sp>
        <p:nvSpPr>
          <p:cNvPr id="13" name="TextBox 12">
            <a:extLst>
              <a:ext uri="{FF2B5EF4-FFF2-40B4-BE49-F238E27FC236}">
                <a16:creationId xmlns:a16="http://schemas.microsoft.com/office/drawing/2014/main" id="{15FA1367-FB1E-D63C-9B74-7A9F23832F69}"/>
              </a:ext>
            </a:extLst>
          </p:cNvPr>
          <p:cNvSpPr txBox="1"/>
          <p:nvPr/>
        </p:nvSpPr>
        <p:spPr>
          <a:xfrm>
            <a:off x="4648473" y="3808039"/>
            <a:ext cx="6378770" cy="634789"/>
          </a:xfrm>
          <a:prstGeom prst="rect">
            <a:avLst/>
          </a:prstGeom>
          <a:noFill/>
        </p:spPr>
        <p:txBody>
          <a:bodyPr wrap="square" lIns="0" tIns="0" rIns="0" bIns="0" anchor="ctr">
            <a:spAutoFit/>
          </a:bodyPr>
          <a:lstStyle/>
          <a:p>
            <a:pPr marL="285750" marR="0" lvl="0" indent="-285750" algn="justLow" defTabSz="457200" rtl="1" eaLnBrk="1" fontAlgn="auto" latinLnBrk="0" hangingPunct="1">
              <a:lnSpc>
                <a:spcPct val="125000"/>
              </a:lnSpc>
              <a:spcBef>
                <a:spcPts val="0"/>
              </a:spcBef>
              <a:spcAft>
                <a:spcPts val="0"/>
              </a:spcAft>
              <a:buClr>
                <a:srgbClr val="F0BE0F"/>
              </a:buClr>
              <a:buSzTx/>
              <a:buFont typeface="Arial" panose="020B0604020202020204" pitchFamily="34" charset="0"/>
              <a:buChar char="•"/>
              <a:tabLst/>
              <a:defRPr/>
            </a:pPr>
            <a:r>
              <a:rPr kumimoji="0" lang="fa-IR"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  خدمت یا فرآیند تکرارشونده است</a:t>
            </a:r>
          </a:p>
          <a:p>
            <a:pPr marL="285750" marR="0" lvl="0" indent="-285750" algn="justLow" defTabSz="457200" rtl="1" eaLnBrk="1" fontAlgn="auto" latinLnBrk="0" hangingPunct="1">
              <a:lnSpc>
                <a:spcPct val="125000"/>
              </a:lnSpc>
              <a:spcBef>
                <a:spcPts val="0"/>
              </a:spcBef>
              <a:spcAft>
                <a:spcPts val="0"/>
              </a:spcAft>
              <a:buClr>
                <a:srgbClr val="F0BE0F"/>
              </a:buClr>
              <a:buSzTx/>
              <a:buFont typeface="Arial" panose="020B0604020202020204" pitchFamily="34" charset="0"/>
              <a:buChar char="•"/>
              <a:tabLst/>
              <a:defRPr/>
            </a:pPr>
            <a:r>
              <a:rPr kumimoji="0" lang="fa-IR"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  مشتری می‌خواهد پیچیدگی اجرا را منتقل کند</a:t>
            </a:r>
          </a:p>
          <a:p>
            <a:pPr marL="285750" marR="0" lvl="0" indent="-285750" algn="justLow" defTabSz="457200" rtl="1" eaLnBrk="1" fontAlgn="auto" latinLnBrk="0" hangingPunct="1">
              <a:lnSpc>
                <a:spcPct val="125000"/>
              </a:lnSpc>
              <a:spcBef>
                <a:spcPts val="0"/>
              </a:spcBef>
              <a:spcAft>
                <a:spcPts val="0"/>
              </a:spcAft>
              <a:buClr>
                <a:srgbClr val="F0BE0F"/>
              </a:buClr>
              <a:buSzTx/>
              <a:buFont typeface="Arial" panose="020B0604020202020204" pitchFamily="34" charset="0"/>
              <a:buChar char="•"/>
              <a:tabLst/>
              <a:defRPr/>
            </a:pPr>
            <a:r>
              <a:rPr kumimoji="0" lang="fa-IR"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  درآمد تکرارشونده</a:t>
            </a:r>
            <a:r>
              <a:rPr kumimoji="0" lang="en-US"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Recurring Revenue) </a:t>
            </a:r>
            <a:r>
              <a:rPr kumimoji="0" lang="fa-IR"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 برای «اکوسیستم فرصت ایران» مطلوب است</a:t>
            </a:r>
          </a:p>
        </p:txBody>
      </p:sp>
      <p:sp>
        <p:nvSpPr>
          <p:cNvPr id="20" name="Rectangle: Rounded Corners 19">
            <a:extLst>
              <a:ext uri="{FF2B5EF4-FFF2-40B4-BE49-F238E27FC236}">
                <a16:creationId xmlns:a16="http://schemas.microsoft.com/office/drawing/2014/main" id="{09637D3A-9A18-12C9-EC03-6C0505BE1952}"/>
              </a:ext>
            </a:extLst>
          </p:cNvPr>
          <p:cNvSpPr/>
          <p:nvPr/>
        </p:nvSpPr>
        <p:spPr>
          <a:xfrm>
            <a:off x="4409954" y="5350148"/>
            <a:ext cx="6855808" cy="458356"/>
          </a:xfrm>
          <a:prstGeom prst="roundRect">
            <a:avLst>
              <a:gd name="adj" fmla="val 7208"/>
            </a:avLst>
          </a:prstGeom>
          <a:solidFill>
            <a:schemeClr val="bg1">
              <a:lumMod val="95000"/>
              <a:alpha val="7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Calibri"/>
            </a:endParaRPr>
          </a:p>
        </p:txBody>
      </p:sp>
      <p:cxnSp>
        <p:nvCxnSpPr>
          <p:cNvPr id="15" name="Straight Connector 14">
            <a:extLst>
              <a:ext uri="{FF2B5EF4-FFF2-40B4-BE49-F238E27FC236}">
                <a16:creationId xmlns:a16="http://schemas.microsoft.com/office/drawing/2014/main" id="{76CBBFB4-F28F-AAE7-A1AF-43A5A28BE860}"/>
              </a:ext>
            </a:extLst>
          </p:cNvPr>
          <p:cNvCxnSpPr>
            <a:cxnSpLocks/>
          </p:cNvCxnSpPr>
          <p:nvPr/>
        </p:nvCxnSpPr>
        <p:spPr>
          <a:xfrm>
            <a:off x="4425223" y="5213778"/>
            <a:ext cx="6825271" cy="0"/>
          </a:xfrm>
          <a:prstGeom prst="line">
            <a:avLst/>
          </a:prstGeom>
        </p:spPr>
        <p:style>
          <a:lnRef idx="1">
            <a:schemeClr val="accent2"/>
          </a:lnRef>
          <a:fillRef idx="0">
            <a:schemeClr val="accent2"/>
          </a:fillRef>
          <a:effectRef idx="0">
            <a:schemeClr val="accent2"/>
          </a:effectRef>
          <a:fontRef idx="minor">
            <a:schemeClr val="tx1"/>
          </a:fontRef>
        </p:style>
      </p:cxnSp>
      <p:sp>
        <p:nvSpPr>
          <p:cNvPr id="16" name="TextBox 15">
            <a:extLst>
              <a:ext uri="{FF2B5EF4-FFF2-40B4-BE49-F238E27FC236}">
                <a16:creationId xmlns:a16="http://schemas.microsoft.com/office/drawing/2014/main" id="{EA842132-C82C-0038-B56E-F5BB5E726E3F}"/>
              </a:ext>
            </a:extLst>
          </p:cNvPr>
          <p:cNvSpPr txBox="1"/>
          <p:nvPr/>
        </p:nvSpPr>
        <p:spPr>
          <a:xfrm>
            <a:off x="5582586" y="5082972"/>
            <a:ext cx="4510544" cy="261610"/>
          </a:xfrm>
          <a:prstGeom prst="rect">
            <a:avLst/>
          </a:prstGeom>
          <a:solidFill>
            <a:schemeClr val="bg1"/>
          </a:solidFill>
        </p:spPr>
        <p:txBody>
          <a:bodyPr wrap="square"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نقش «اکوسیستم فرصت ایران»: مجری / ارائه‌دهنده خدمت مدیریت‌شده</a:t>
            </a:r>
          </a:p>
        </p:txBody>
      </p:sp>
      <p:sp>
        <p:nvSpPr>
          <p:cNvPr id="17" name="TextBox 16">
            <a:extLst>
              <a:ext uri="{FF2B5EF4-FFF2-40B4-BE49-F238E27FC236}">
                <a16:creationId xmlns:a16="http://schemas.microsoft.com/office/drawing/2014/main" id="{99CA80DF-B08E-244A-C025-8E1A974CBBDE}"/>
              </a:ext>
            </a:extLst>
          </p:cNvPr>
          <p:cNvSpPr txBox="1"/>
          <p:nvPr/>
        </p:nvSpPr>
        <p:spPr>
          <a:xfrm>
            <a:off x="4648473" y="5473528"/>
            <a:ext cx="6378770" cy="211596"/>
          </a:xfrm>
          <a:prstGeom prst="rect">
            <a:avLst/>
          </a:prstGeom>
          <a:noFill/>
        </p:spPr>
        <p:txBody>
          <a:bodyPr wrap="square" lIns="0" tIns="0" rIns="0" bIns="0" anchor="t">
            <a:spAutoFit/>
          </a:bodyPr>
          <a:lstStyle/>
          <a:p>
            <a:pPr marL="0" marR="0" lvl="0" indent="0" algn="ctr" defTabSz="457200" rtl="1" eaLnBrk="1" fontAlgn="auto" latinLnBrk="0" hangingPunct="1">
              <a:lnSpc>
                <a:spcPct val="125000"/>
              </a:lnSpc>
              <a:spcBef>
                <a:spcPts val="0"/>
              </a:spcBef>
              <a:spcAft>
                <a:spcPts val="0"/>
              </a:spcAft>
              <a:buClrTx/>
              <a:buSzTx/>
              <a:buFontTx/>
              <a:buNone/>
              <a:tabLst/>
              <a:defRPr/>
            </a:pPr>
            <a:r>
              <a:rPr kumimoji="0" lang="fa-IR"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مدل تعامل: تیم اختصاصی + سطح توافق خدمت </a:t>
            </a:r>
            <a:r>
              <a:rPr kumimoji="0" lang="en-US"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SLA)</a:t>
            </a:r>
            <a:r>
              <a:rPr kumimoji="0" lang="fa-IR"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a:t>
            </a:r>
            <a:endParaRPr kumimoji="0" lang="en-US"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endParaRPr>
          </a:p>
        </p:txBody>
      </p:sp>
      <p:cxnSp>
        <p:nvCxnSpPr>
          <p:cNvPr id="5" name="Straight Connector 4">
            <a:extLst>
              <a:ext uri="{FF2B5EF4-FFF2-40B4-BE49-F238E27FC236}">
                <a16:creationId xmlns:a16="http://schemas.microsoft.com/office/drawing/2014/main" id="{FC1F8B4D-0E98-740E-AA75-2AF01DBEA74A}"/>
              </a:ext>
            </a:extLst>
          </p:cNvPr>
          <p:cNvCxnSpPr>
            <a:cxnSpLocks/>
          </p:cNvCxnSpPr>
          <p:nvPr/>
        </p:nvCxnSpPr>
        <p:spPr>
          <a:xfrm>
            <a:off x="4425223" y="1464508"/>
            <a:ext cx="6825271" cy="0"/>
          </a:xfrm>
          <a:prstGeom prst="line">
            <a:avLst/>
          </a:prstGeom>
        </p:spPr>
        <p:style>
          <a:lnRef idx="1">
            <a:schemeClr val="accent2"/>
          </a:lnRef>
          <a:fillRef idx="0">
            <a:schemeClr val="accent2"/>
          </a:fillRef>
          <a:effectRef idx="0">
            <a:schemeClr val="accent2"/>
          </a:effectRef>
          <a:fontRef idx="minor">
            <a:schemeClr val="tx1"/>
          </a:fontRef>
        </p:style>
      </p:cxnSp>
      <p:sp>
        <p:nvSpPr>
          <p:cNvPr id="18" name="Rectangle: Rounded Corners 17">
            <a:extLst>
              <a:ext uri="{FF2B5EF4-FFF2-40B4-BE49-F238E27FC236}">
                <a16:creationId xmlns:a16="http://schemas.microsoft.com/office/drawing/2014/main" id="{C915D673-89CF-2C4D-D543-7236AF5F5B3D}"/>
              </a:ext>
            </a:extLst>
          </p:cNvPr>
          <p:cNvSpPr/>
          <p:nvPr/>
        </p:nvSpPr>
        <p:spPr>
          <a:xfrm>
            <a:off x="4409954" y="1600261"/>
            <a:ext cx="6855808" cy="884683"/>
          </a:xfrm>
          <a:prstGeom prst="roundRect">
            <a:avLst>
              <a:gd name="adj" fmla="val 7208"/>
            </a:avLst>
          </a:prstGeom>
          <a:solidFill>
            <a:schemeClr val="bg1">
              <a:lumMod val="95000"/>
              <a:alpha val="7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Calibri"/>
            </a:endParaRPr>
          </a:p>
        </p:txBody>
      </p:sp>
      <p:sp>
        <p:nvSpPr>
          <p:cNvPr id="8" name="TextBox 7">
            <a:extLst>
              <a:ext uri="{FF2B5EF4-FFF2-40B4-BE49-F238E27FC236}">
                <a16:creationId xmlns:a16="http://schemas.microsoft.com/office/drawing/2014/main" id="{A601A1B6-6039-EE35-F726-50DAE809F15A}"/>
              </a:ext>
            </a:extLst>
          </p:cNvPr>
          <p:cNvSpPr txBox="1"/>
          <p:nvPr/>
        </p:nvSpPr>
        <p:spPr>
          <a:xfrm>
            <a:off x="4648473" y="1936804"/>
            <a:ext cx="6378770" cy="211596"/>
          </a:xfrm>
          <a:prstGeom prst="rect">
            <a:avLst/>
          </a:prstGeom>
          <a:noFill/>
        </p:spPr>
        <p:txBody>
          <a:bodyPr wrap="square" lIns="0" tIns="0" rIns="0" bIns="0" anchor="ctr">
            <a:spAutoFit/>
          </a:bodyPr>
          <a:lstStyle/>
          <a:p>
            <a:pPr marL="0" marR="0" lvl="0" indent="0" algn="justLow" defTabSz="457200" rtl="1" eaLnBrk="1" fontAlgn="auto" latinLnBrk="0" hangingPunct="1">
              <a:lnSpc>
                <a:spcPct val="125000"/>
              </a:lnSpc>
              <a:spcBef>
                <a:spcPts val="0"/>
              </a:spcBef>
              <a:spcAft>
                <a:spcPts val="0"/>
              </a:spcAft>
              <a:buClrTx/>
              <a:buSzTx/>
              <a:buFontTx/>
              <a:buNone/>
              <a:tabLst/>
              <a:defRPr/>
            </a:pPr>
            <a:r>
              <a:rPr kumimoji="0" lang="fa-IR"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مشتری بخشی از مسئولیت اجرای مستمر یک فرآیند یا خدمت را به «اکوسیستم فرصت ایران» واگذار می‌کند.</a:t>
            </a:r>
          </a:p>
        </p:txBody>
      </p:sp>
      <p:sp>
        <p:nvSpPr>
          <p:cNvPr id="21" name="Rectangle: Rounded Corners 20">
            <a:extLst>
              <a:ext uri="{FF2B5EF4-FFF2-40B4-BE49-F238E27FC236}">
                <a16:creationId xmlns:a16="http://schemas.microsoft.com/office/drawing/2014/main" id="{3E1B81BA-F352-17A1-4AE0-14A2F5CA4535}"/>
              </a:ext>
            </a:extLst>
          </p:cNvPr>
          <p:cNvSpPr/>
          <p:nvPr/>
        </p:nvSpPr>
        <p:spPr>
          <a:xfrm>
            <a:off x="4409954" y="2535426"/>
            <a:ext cx="6855808" cy="369732"/>
          </a:xfrm>
          <a:prstGeom prst="roundRect">
            <a:avLst>
              <a:gd name="adj" fmla="val 7208"/>
            </a:avLst>
          </a:prstGeom>
          <a:solidFill>
            <a:srgbClr val="00406C">
              <a:alpha val="1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Calibri"/>
            </a:endParaRPr>
          </a:p>
        </p:txBody>
      </p:sp>
      <p:sp>
        <p:nvSpPr>
          <p:cNvPr id="23" name="TextBox 22">
            <a:extLst>
              <a:ext uri="{FF2B5EF4-FFF2-40B4-BE49-F238E27FC236}">
                <a16:creationId xmlns:a16="http://schemas.microsoft.com/office/drawing/2014/main" id="{61C7073A-989A-576E-F18F-066D65048E58}"/>
              </a:ext>
            </a:extLst>
          </p:cNvPr>
          <p:cNvSpPr txBox="1"/>
          <p:nvPr/>
        </p:nvSpPr>
        <p:spPr>
          <a:xfrm>
            <a:off x="4425222" y="2601898"/>
            <a:ext cx="6840539" cy="219291"/>
          </a:xfrm>
          <a:prstGeom prst="rect">
            <a:avLst/>
          </a:prstGeom>
          <a:noFill/>
        </p:spPr>
        <p:txBody>
          <a:bodyPr wrap="square" lIns="0" tIns="0" rIns="0" bIns="0" anchor="t">
            <a:spAutoFit/>
          </a:bodyPr>
          <a:lstStyle/>
          <a:p>
            <a:pPr marL="0" marR="0" lvl="0" indent="0" algn="ctr" defTabSz="457200" rtl="1" eaLnBrk="1" fontAlgn="auto" latinLnBrk="0" hangingPunct="1">
              <a:lnSpc>
                <a:spcPct val="125000"/>
              </a:lnSpc>
              <a:spcBef>
                <a:spcPts val="0"/>
              </a:spcBef>
              <a:spcAft>
                <a:spcPts val="0"/>
              </a:spcAft>
              <a:buClrTx/>
              <a:buSzTx/>
              <a:buFontTx/>
              <a:buNone/>
              <a:tabLst/>
              <a:defRPr/>
            </a:pPr>
            <a:r>
              <a:rPr kumimoji="0" lang="fa-IR" sz="1200" b="1" i="0" u="none" strike="noStrike" kern="1200" cap="none" spc="0" normalizeH="0" baseline="0" noProof="0" dirty="0">
                <a:ln>
                  <a:noFill/>
                </a:ln>
                <a:solidFill>
                  <a:srgbClr val="15296B"/>
                </a:solidFill>
                <a:effectLst/>
                <a:uLnTx/>
                <a:uFillTx/>
                <a:latin typeface="Yekan Bakh FaNum" pitchFamily="2" charset="-78"/>
                <a:ea typeface="+mn-ea"/>
                <a:cs typeface="Yekan Bakh FaNum" pitchFamily="2" charset="-78"/>
              </a:rPr>
              <a:t>نیاز مشتری  ←  واگذاری مسئولیت  ←  مدیریت مستمر</a:t>
            </a:r>
          </a:p>
        </p:txBody>
      </p:sp>
      <p:sp>
        <p:nvSpPr>
          <p:cNvPr id="6" name="TextBox 5">
            <a:extLst>
              <a:ext uri="{FF2B5EF4-FFF2-40B4-BE49-F238E27FC236}">
                <a16:creationId xmlns:a16="http://schemas.microsoft.com/office/drawing/2014/main" id="{D025CC3B-28AA-915B-F6D1-7C25E33AB1BE}"/>
              </a:ext>
            </a:extLst>
          </p:cNvPr>
          <p:cNvSpPr txBox="1"/>
          <p:nvPr/>
        </p:nvSpPr>
        <p:spPr>
          <a:xfrm>
            <a:off x="7412561" y="1333703"/>
            <a:ext cx="850594" cy="261610"/>
          </a:xfrm>
          <a:prstGeom prst="rect">
            <a:avLst/>
          </a:prstGeom>
          <a:solidFill>
            <a:schemeClr val="bg1"/>
          </a:solidFill>
        </p:spPr>
        <p:txBody>
          <a:bodyPr wrap="square"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تعریف</a:t>
            </a:r>
          </a:p>
        </p:txBody>
      </p:sp>
      <p:sp>
        <p:nvSpPr>
          <p:cNvPr id="29" name="Rectangle: Rounded Corners 28">
            <a:extLst>
              <a:ext uri="{FF2B5EF4-FFF2-40B4-BE49-F238E27FC236}">
                <a16:creationId xmlns:a16="http://schemas.microsoft.com/office/drawing/2014/main" id="{06B2AF51-8250-DCED-145A-FDB33C181BF7}"/>
              </a:ext>
            </a:extLst>
          </p:cNvPr>
          <p:cNvSpPr/>
          <p:nvPr/>
        </p:nvSpPr>
        <p:spPr>
          <a:xfrm>
            <a:off x="437288" y="1464508"/>
            <a:ext cx="3545953" cy="2009496"/>
          </a:xfrm>
          <a:prstGeom prst="roundRect">
            <a:avLst>
              <a:gd name="adj" fmla="val 6055"/>
            </a:avLst>
          </a:prstGeom>
          <a:solidFill>
            <a:srgbClr val="EFF3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30" name="Rectangle: Rounded Corners 29">
            <a:extLst>
              <a:ext uri="{FF2B5EF4-FFF2-40B4-BE49-F238E27FC236}">
                <a16:creationId xmlns:a16="http://schemas.microsoft.com/office/drawing/2014/main" id="{826956DF-6618-72FC-8173-BD7AE2164FB1}"/>
              </a:ext>
            </a:extLst>
          </p:cNvPr>
          <p:cNvSpPr/>
          <p:nvPr/>
        </p:nvSpPr>
        <p:spPr>
          <a:xfrm>
            <a:off x="437288" y="3799008"/>
            <a:ext cx="3545953" cy="2009496"/>
          </a:xfrm>
          <a:prstGeom prst="roundRect">
            <a:avLst>
              <a:gd name="adj" fmla="val 6055"/>
            </a:avLst>
          </a:prstGeom>
          <a:solidFill>
            <a:schemeClr val="bg1">
              <a:lumMod val="75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Calibri"/>
            </a:endParaRPr>
          </a:p>
        </p:txBody>
      </p:sp>
      <p:cxnSp>
        <p:nvCxnSpPr>
          <p:cNvPr id="36" name="Straight Connector 35">
            <a:extLst>
              <a:ext uri="{FF2B5EF4-FFF2-40B4-BE49-F238E27FC236}">
                <a16:creationId xmlns:a16="http://schemas.microsoft.com/office/drawing/2014/main" id="{C9E4F406-338B-3E55-5E8C-3234F5D0E206}"/>
              </a:ext>
            </a:extLst>
          </p:cNvPr>
          <p:cNvCxnSpPr/>
          <p:nvPr/>
        </p:nvCxnSpPr>
        <p:spPr>
          <a:xfrm>
            <a:off x="4201610" y="1464508"/>
            <a:ext cx="0" cy="4343996"/>
          </a:xfrm>
          <a:prstGeom prst="line">
            <a:avLst/>
          </a:prstGeom>
          <a:ln>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14DFED4E-1BCA-5086-FB67-80C7940157FD}"/>
              </a:ext>
            </a:extLst>
          </p:cNvPr>
          <p:cNvSpPr txBox="1"/>
          <p:nvPr/>
        </p:nvSpPr>
        <p:spPr>
          <a:xfrm>
            <a:off x="641064" y="1646441"/>
            <a:ext cx="3138401" cy="211596"/>
          </a:xfrm>
          <a:prstGeom prst="rect">
            <a:avLst/>
          </a:prstGeom>
          <a:noFill/>
        </p:spPr>
        <p:txBody>
          <a:bodyPr wrap="square" lIns="0" tIns="0" rIns="0" bIns="0" anchor="t">
            <a:spAutoFit/>
          </a:bodyPr>
          <a:lstStyle/>
          <a:p>
            <a:pPr marL="0" marR="0" lvl="0" indent="0" algn="ctr" defTabSz="457200" rtl="1" eaLnBrk="1" fontAlgn="auto" latinLnBrk="0" hangingPunct="1">
              <a:lnSpc>
                <a:spcPct val="125000"/>
              </a:lnSpc>
              <a:spcBef>
                <a:spcPts val="0"/>
              </a:spcBef>
              <a:spcAft>
                <a:spcPts val="0"/>
              </a:spcAft>
              <a:buClrTx/>
              <a:buSzTx/>
              <a:buFontTx/>
              <a:buNone/>
              <a:tabLst/>
              <a:defRPr/>
            </a:pPr>
            <a:r>
              <a:rPr kumimoji="0" sz="1100" b="1" i="0" u="none" strike="noStrike" kern="1200" cap="none" spc="0" normalizeH="0" baseline="0" noProof="0" dirty="0" err="1">
                <a:ln>
                  <a:noFill/>
                </a:ln>
                <a:solidFill>
                  <a:srgbClr val="15296B"/>
                </a:solidFill>
                <a:effectLst/>
                <a:uLnTx/>
                <a:uFillTx/>
                <a:latin typeface="Yekan Bakh FaNum" pitchFamily="2" charset="-78"/>
                <a:ea typeface="+mn-ea"/>
                <a:cs typeface="Yekan Bakh FaNum" pitchFamily="2" charset="-78"/>
              </a:rPr>
              <a:t>مثال</a:t>
            </a:r>
            <a:r>
              <a:rPr kumimoji="0" sz="1100" b="1" i="0" u="none" strike="noStrike" kern="1200" cap="none" spc="0" normalizeH="0" baseline="0" noProof="0" dirty="0">
                <a:ln>
                  <a:noFill/>
                </a:ln>
                <a:solidFill>
                  <a:srgbClr val="15296B"/>
                </a:solidFill>
                <a:effectLst/>
                <a:uLnTx/>
                <a:uFillTx/>
                <a:latin typeface="Yekan Bakh FaNum" pitchFamily="2" charset="-78"/>
                <a:ea typeface="+mn-ea"/>
                <a:cs typeface="Yekan Bakh FaNum" pitchFamily="2" charset="-78"/>
              </a:rPr>
              <a:t> </a:t>
            </a:r>
            <a:r>
              <a:rPr kumimoji="0" sz="1100" b="1" i="0" u="none" strike="noStrike" kern="1200" cap="none" spc="0" normalizeH="0" baseline="0" noProof="0" dirty="0" err="1">
                <a:ln>
                  <a:noFill/>
                </a:ln>
                <a:solidFill>
                  <a:srgbClr val="15296B"/>
                </a:solidFill>
                <a:effectLst/>
                <a:uLnTx/>
                <a:uFillTx/>
                <a:latin typeface="Yekan Bakh FaNum" pitchFamily="2" charset="-78"/>
                <a:ea typeface="+mn-ea"/>
                <a:cs typeface="Yekan Bakh FaNum" pitchFamily="2" charset="-78"/>
              </a:rPr>
              <a:t>جهانی</a:t>
            </a:r>
            <a:endParaRPr kumimoji="0" sz="1100" b="1" i="0" u="none" strike="noStrike" kern="1200" cap="none" spc="0" normalizeH="0" baseline="0" noProof="0" dirty="0">
              <a:ln>
                <a:noFill/>
              </a:ln>
              <a:solidFill>
                <a:srgbClr val="15296B"/>
              </a:solidFill>
              <a:effectLst/>
              <a:uLnTx/>
              <a:uFillTx/>
              <a:latin typeface="Yekan Bakh FaNum" pitchFamily="2" charset="-78"/>
              <a:ea typeface="+mn-ea"/>
              <a:cs typeface="Yekan Bakh FaNum" pitchFamily="2" charset="-78"/>
            </a:endParaRPr>
          </a:p>
        </p:txBody>
      </p:sp>
      <p:sp>
        <p:nvSpPr>
          <p:cNvPr id="34" name="TextBox 33">
            <a:extLst>
              <a:ext uri="{FF2B5EF4-FFF2-40B4-BE49-F238E27FC236}">
                <a16:creationId xmlns:a16="http://schemas.microsoft.com/office/drawing/2014/main" id="{74572F5A-D1C4-68B8-4644-12798051EA16}"/>
              </a:ext>
            </a:extLst>
          </p:cNvPr>
          <p:cNvSpPr txBox="1"/>
          <p:nvPr/>
        </p:nvSpPr>
        <p:spPr>
          <a:xfrm>
            <a:off x="641064" y="2181795"/>
            <a:ext cx="3138401" cy="486672"/>
          </a:xfrm>
          <a:prstGeom prst="rect">
            <a:avLst/>
          </a:prstGeom>
          <a:noFill/>
        </p:spPr>
        <p:txBody>
          <a:bodyPr wrap="square" lIns="0" tIns="0" rIns="0" bIns="0" anchor="t">
            <a:spAutoFit/>
          </a:bodyPr>
          <a:lstStyle/>
          <a:p>
            <a:pPr marL="0" marR="0" lvl="0" indent="0" algn="ctr" defTabSz="457200" rtl="1" eaLnBrk="1" fontAlgn="auto" latinLnBrk="0" hangingPunct="1">
              <a:lnSpc>
                <a:spcPct val="150000"/>
              </a:lnSpc>
              <a:spcBef>
                <a:spcPts val="0"/>
              </a:spcBef>
              <a:spcAft>
                <a:spcPts val="0"/>
              </a:spcAft>
              <a:buClrTx/>
              <a:buSzTx/>
              <a:buFontTx/>
              <a:buNone/>
              <a:tabLst/>
              <a:defRPr/>
            </a:pPr>
            <a:r>
              <a:rPr kumimoji="0" lang="fa-IR"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مدل خدمات مدیریت‌شده </a:t>
            </a:r>
            <a:r>
              <a:rPr kumimoji="0" lang="en-US"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Accenture/IBM</a:t>
            </a:r>
            <a:r>
              <a:rPr kumimoji="0" lang="fa-IR"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 برای عملیات پشتیبان مشتریان بزرگ</a:t>
            </a:r>
          </a:p>
        </p:txBody>
      </p:sp>
      <p:cxnSp>
        <p:nvCxnSpPr>
          <p:cNvPr id="42" name="Straight Connector 41">
            <a:extLst>
              <a:ext uri="{FF2B5EF4-FFF2-40B4-BE49-F238E27FC236}">
                <a16:creationId xmlns:a16="http://schemas.microsoft.com/office/drawing/2014/main" id="{20C1AD0B-6776-75BA-5617-118CC0DA3EAA}"/>
              </a:ext>
            </a:extLst>
          </p:cNvPr>
          <p:cNvCxnSpPr>
            <a:cxnSpLocks/>
          </p:cNvCxnSpPr>
          <p:nvPr/>
        </p:nvCxnSpPr>
        <p:spPr>
          <a:xfrm>
            <a:off x="440900" y="2047348"/>
            <a:ext cx="3547872" cy="0"/>
          </a:xfrm>
          <a:prstGeom prst="line">
            <a:avLst/>
          </a:prstGeom>
          <a:ln w="12700">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103CC5C0-C475-D4C2-A37D-EEB75E1C1D91}"/>
              </a:ext>
            </a:extLst>
          </p:cNvPr>
          <p:cNvSpPr txBox="1"/>
          <p:nvPr/>
        </p:nvSpPr>
        <p:spPr>
          <a:xfrm>
            <a:off x="641064" y="3980941"/>
            <a:ext cx="3138401" cy="211596"/>
          </a:xfrm>
          <a:prstGeom prst="rect">
            <a:avLst/>
          </a:prstGeom>
          <a:noFill/>
        </p:spPr>
        <p:txBody>
          <a:bodyPr wrap="square" lIns="0" tIns="0" rIns="0" bIns="0" anchor="t">
            <a:spAutoFit/>
          </a:bodyPr>
          <a:lstStyle/>
          <a:p>
            <a:pPr marL="0" marR="0" lvl="0" indent="0" algn="ctr" defTabSz="457200" rtl="1" eaLnBrk="1" fontAlgn="auto" latinLnBrk="0" hangingPunct="1">
              <a:lnSpc>
                <a:spcPct val="125000"/>
              </a:lnSpc>
              <a:spcBef>
                <a:spcPts val="0"/>
              </a:spcBef>
              <a:spcAft>
                <a:spcPts val="0"/>
              </a:spcAft>
              <a:buClrTx/>
              <a:buSzTx/>
              <a:buFontTx/>
              <a:buNone/>
              <a:tabLst/>
              <a:defRPr/>
            </a:pPr>
            <a:r>
              <a:rPr kumimoji="0" lang="fa-IR" sz="1100" b="1" i="0" u="none" strike="noStrike" kern="1200" cap="none" spc="0" normalizeH="0" baseline="0" noProof="0" dirty="0">
                <a:ln>
                  <a:noFill/>
                </a:ln>
                <a:solidFill>
                  <a:srgbClr val="15296B"/>
                </a:solidFill>
                <a:effectLst/>
                <a:uLnTx/>
                <a:uFillTx/>
                <a:latin typeface="Yekan Bakh FaNum" pitchFamily="2" charset="-78"/>
                <a:ea typeface="+mn-ea"/>
                <a:cs typeface="Yekan Bakh FaNum" pitchFamily="2" charset="-78"/>
              </a:rPr>
              <a:t>بنچمارک اکوسیستم برون‌مرزی</a:t>
            </a:r>
          </a:p>
        </p:txBody>
      </p:sp>
      <p:sp>
        <p:nvSpPr>
          <p:cNvPr id="40" name="TextBox 39">
            <a:extLst>
              <a:ext uri="{FF2B5EF4-FFF2-40B4-BE49-F238E27FC236}">
                <a16:creationId xmlns:a16="http://schemas.microsoft.com/office/drawing/2014/main" id="{0F9820FC-8E87-A3B2-E567-4FD0C45221BB}"/>
              </a:ext>
            </a:extLst>
          </p:cNvPr>
          <p:cNvSpPr txBox="1"/>
          <p:nvPr/>
        </p:nvSpPr>
        <p:spPr>
          <a:xfrm>
            <a:off x="641064" y="4516295"/>
            <a:ext cx="3138401" cy="740587"/>
          </a:xfrm>
          <a:prstGeom prst="rect">
            <a:avLst/>
          </a:prstGeom>
          <a:noFill/>
        </p:spPr>
        <p:txBody>
          <a:bodyPr wrap="square" lIns="0" tIns="0" rIns="0" bIns="0" anchor="t">
            <a:spAutoFit/>
          </a:bodyPr>
          <a:lstStyle/>
          <a:p>
            <a:pPr marL="0" marR="0" lvl="0" indent="0" algn="ctr" defTabSz="457200" rtl="1" eaLnBrk="1" fontAlgn="auto" latinLnBrk="0" hangingPunct="1">
              <a:lnSpc>
                <a:spcPct val="150000"/>
              </a:lnSpc>
              <a:spcBef>
                <a:spcPts val="0"/>
              </a:spcBef>
              <a:spcAft>
                <a:spcPts val="0"/>
              </a:spcAft>
              <a:buClrTx/>
              <a:buSzTx/>
              <a:buFontTx/>
              <a:buNone/>
              <a:tabLst/>
              <a:defRPr/>
            </a:pPr>
            <a:r>
              <a:rPr kumimoji="0" lang="fa-IR"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خدمت «</a:t>
            </a:r>
            <a:r>
              <a:rPr kumimoji="0" lang="en-US"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Aftercare</a:t>
            </a:r>
            <a:r>
              <a:rPr kumimoji="0" lang="fa-IR"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 نهادهای جذب سرمایه‌گذاری خارجی مانند </a:t>
            </a:r>
            <a:r>
              <a:rPr kumimoji="0" lang="en-US" sz="1100" b="0" i="0" u="none" strike="noStrike" kern="1200" cap="none" spc="0" normalizeH="0" baseline="0" noProof="0" dirty="0" err="1">
                <a:ln>
                  <a:noFill/>
                </a:ln>
                <a:solidFill>
                  <a:prstClr val="black">
                    <a:lumMod val="75000"/>
                    <a:lumOff val="25000"/>
                  </a:prstClr>
                </a:solidFill>
                <a:effectLst/>
                <a:uLnTx/>
                <a:uFillTx/>
                <a:latin typeface="Yekan Bakh FaNum" pitchFamily="2" charset="-78"/>
                <a:ea typeface="+mn-ea"/>
                <a:cs typeface="Yekan Bakh FaNum" pitchFamily="2" charset="-78"/>
              </a:rPr>
              <a:t>InvestHK</a:t>
            </a:r>
            <a:r>
              <a:rPr kumimoji="0" lang="en-US"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 — </a:t>
            </a:r>
            <a:r>
              <a:rPr kumimoji="0" lang="fa-IR"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 پیگیری و مدیریت مستمر شرکت پس از ورود سرمایه، نه فقط در لحظه پذیرش</a:t>
            </a:r>
          </a:p>
        </p:txBody>
      </p:sp>
      <p:cxnSp>
        <p:nvCxnSpPr>
          <p:cNvPr id="43" name="Straight Connector 42">
            <a:extLst>
              <a:ext uri="{FF2B5EF4-FFF2-40B4-BE49-F238E27FC236}">
                <a16:creationId xmlns:a16="http://schemas.microsoft.com/office/drawing/2014/main" id="{13E59A2C-82A5-31CB-010B-747BE2246087}"/>
              </a:ext>
            </a:extLst>
          </p:cNvPr>
          <p:cNvCxnSpPr>
            <a:cxnSpLocks/>
          </p:cNvCxnSpPr>
          <p:nvPr/>
        </p:nvCxnSpPr>
        <p:spPr>
          <a:xfrm>
            <a:off x="440900" y="4381848"/>
            <a:ext cx="3547872" cy="0"/>
          </a:xfrm>
          <a:prstGeom prst="line">
            <a:avLst/>
          </a:prstGeom>
          <a:ln w="12700">
            <a:solidFill>
              <a:schemeClr val="bg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1100126"/>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07BA75-6714-1119-93C0-32C43D21741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050962C-2D4F-8BEE-1BCB-FC51987E9F51}"/>
              </a:ext>
            </a:extLst>
          </p:cNvPr>
          <p:cNvSpPr>
            <a:spLocks noGrp="1"/>
          </p:cNvSpPr>
          <p:nvPr>
            <p:ph type="body" sz="quarter" idx="10"/>
          </p:nvPr>
        </p:nvSpPr>
        <p:spPr>
          <a:xfrm>
            <a:off x="4994031" y="256653"/>
            <a:ext cx="6249542" cy="250047"/>
          </a:xfrm>
        </p:spPr>
        <p:txBody>
          <a:bodyPr/>
          <a:lstStyle/>
          <a:p>
            <a:r>
              <a:rPr lang="fa-IR" dirty="0"/>
              <a:t>۳. آرکی‌تایپ رابطه ۵ از ۷ — مشارکتی / هم‌آفرینی </a:t>
            </a:r>
            <a:r>
              <a:rPr lang="en-US" dirty="0"/>
              <a:t>(Collaborative / Co-Creation)</a:t>
            </a:r>
            <a:endParaRPr lang="en-GB" dirty="0"/>
          </a:p>
        </p:txBody>
      </p:sp>
      <p:sp>
        <p:nvSpPr>
          <p:cNvPr id="3" name="Text Placeholder 2">
            <a:extLst>
              <a:ext uri="{FF2B5EF4-FFF2-40B4-BE49-F238E27FC236}">
                <a16:creationId xmlns:a16="http://schemas.microsoft.com/office/drawing/2014/main" id="{B30C76D3-03C4-8310-7DEF-9ABF37A8690B}"/>
              </a:ext>
            </a:extLst>
          </p:cNvPr>
          <p:cNvSpPr>
            <a:spLocks noGrp="1"/>
          </p:cNvSpPr>
          <p:nvPr>
            <p:ph type="body" sz="quarter" idx="12"/>
          </p:nvPr>
        </p:nvSpPr>
        <p:spPr/>
        <p:txBody>
          <a:bodyPr/>
          <a:lstStyle/>
          <a:p>
            <a:r>
              <a:rPr lang="fa-IR" dirty="0"/>
              <a:t>برای مسائل پیچیده و غیراستاندارد، «اکوسیستم فرصت ایران» راهکار را با مشتری می‌سازد، نه برایش</a:t>
            </a:r>
          </a:p>
        </p:txBody>
      </p:sp>
      <p:sp>
        <p:nvSpPr>
          <p:cNvPr id="19" name="Rectangle: Rounded Corners 18">
            <a:extLst>
              <a:ext uri="{FF2B5EF4-FFF2-40B4-BE49-F238E27FC236}">
                <a16:creationId xmlns:a16="http://schemas.microsoft.com/office/drawing/2014/main" id="{7633D493-B9F8-6629-16D2-ABDACA4B0AB3}"/>
              </a:ext>
            </a:extLst>
          </p:cNvPr>
          <p:cNvSpPr/>
          <p:nvPr/>
        </p:nvSpPr>
        <p:spPr>
          <a:xfrm>
            <a:off x="4409954" y="3475131"/>
            <a:ext cx="6855808" cy="1300605"/>
          </a:xfrm>
          <a:prstGeom prst="roundRect">
            <a:avLst>
              <a:gd name="adj" fmla="val 7208"/>
            </a:avLst>
          </a:prstGeom>
          <a:solidFill>
            <a:schemeClr val="bg1">
              <a:lumMod val="95000"/>
              <a:alpha val="7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cxnSp>
        <p:nvCxnSpPr>
          <p:cNvPr id="11" name="Straight Connector 10">
            <a:extLst>
              <a:ext uri="{FF2B5EF4-FFF2-40B4-BE49-F238E27FC236}">
                <a16:creationId xmlns:a16="http://schemas.microsoft.com/office/drawing/2014/main" id="{18134635-BB6A-346C-B813-A3C8EF69D4D3}"/>
              </a:ext>
            </a:extLst>
          </p:cNvPr>
          <p:cNvCxnSpPr>
            <a:cxnSpLocks/>
          </p:cNvCxnSpPr>
          <p:nvPr/>
        </p:nvCxnSpPr>
        <p:spPr>
          <a:xfrm>
            <a:off x="4425223" y="3343200"/>
            <a:ext cx="6825271" cy="0"/>
          </a:xfrm>
          <a:prstGeom prst="line">
            <a:avLst/>
          </a:prstGeom>
        </p:spPr>
        <p:style>
          <a:lnRef idx="1">
            <a:schemeClr val="accent2"/>
          </a:lnRef>
          <a:fillRef idx="0">
            <a:schemeClr val="accent2"/>
          </a:fillRef>
          <a:effectRef idx="0">
            <a:schemeClr val="accent2"/>
          </a:effectRef>
          <a:fontRef idx="minor">
            <a:schemeClr val="tx1"/>
          </a:fontRef>
        </p:style>
      </p:cxnSp>
      <p:sp>
        <p:nvSpPr>
          <p:cNvPr id="12" name="TextBox 11">
            <a:extLst>
              <a:ext uri="{FF2B5EF4-FFF2-40B4-BE49-F238E27FC236}">
                <a16:creationId xmlns:a16="http://schemas.microsoft.com/office/drawing/2014/main" id="{3228E6C6-D91D-2467-D929-E1D9004E7B04}"/>
              </a:ext>
            </a:extLst>
          </p:cNvPr>
          <p:cNvSpPr txBox="1"/>
          <p:nvPr/>
        </p:nvSpPr>
        <p:spPr>
          <a:xfrm>
            <a:off x="5658795" y="3212394"/>
            <a:ext cx="4358127" cy="261610"/>
          </a:xfrm>
          <a:prstGeom prst="rect">
            <a:avLst/>
          </a:prstGeom>
          <a:solidFill>
            <a:schemeClr val="bg1"/>
          </a:solidFill>
        </p:spPr>
        <p:txBody>
          <a:bodyPr wrap="square"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چه زمانی برای اکوسیستم فرصت ایران مناسب است</a:t>
            </a:r>
          </a:p>
        </p:txBody>
      </p:sp>
      <p:sp>
        <p:nvSpPr>
          <p:cNvPr id="13" name="TextBox 12">
            <a:extLst>
              <a:ext uri="{FF2B5EF4-FFF2-40B4-BE49-F238E27FC236}">
                <a16:creationId xmlns:a16="http://schemas.microsoft.com/office/drawing/2014/main" id="{020FAFC7-4451-24E9-64F7-0A62EF2064C9}"/>
              </a:ext>
            </a:extLst>
          </p:cNvPr>
          <p:cNvSpPr txBox="1"/>
          <p:nvPr/>
        </p:nvSpPr>
        <p:spPr>
          <a:xfrm>
            <a:off x="4648473" y="3808039"/>
            <a:ext cx="6378770" cy="634789"/>
          </a:xfrm>
          <a:prstGeom prst="rect">
            <a:avLst/>
          </a:prstGeom>
          <a:noFill/>
        </p:spPr>
        <p:txBody>
          <a:bodyPr wrap="square" lIns="0" tIns="0" rIns="0" bIns="0" anchor="ctr">
            <a:spAutoFit/>
          </a:bodyPr>
          <a:lstStyle/>
          <a:p>
            <a:pPr marL="285750" marR="0" lvl="0" indent="-285750" algn="justLow" defTabSz="457200" rtl="1" eaLnBrk="1" fontAlgn="auto" latinLnBrk="0" hangingPunct="1">
              <a:lnSpc>
                <a:spcPct val="125000"/>
              </a:lnSpc>
              <a:spcBef>
                <a:spcPts val="0"/>
              </a:spcBef>
              <a:spcAft>
                <a:spcPts val="0"/>
              </a:spcAft>
              <a:buClr>
                <a:srgbClr val="F0BE0F"/>
              </a:buClr>
              <a:buSzTx/>
              <a:buFont typeface="Arial" panose="020B0604020202020204" pitchFamily="34" charset="0"/>
              <a:buChar char="•"/>
              <a:tabLst/>
              <a:defRPr/>
            </a:pPr>
            <a:r>
              <a:rPr kumimoji="0" lang="fa-IR"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مسئله پیچیده و غیراستاندارد است (مثل ساخت کسب‌وکار جدید حول یک دارایی)</a:t>
            </a:r>
          </a:p>
          <a:p>
            <a:pPr marL="285750" marR="0" lvl="0" indent="-285750" algn="justLow" defTabSz="457200" rtl="1" eaLnBrk="1" fontAlgn="auto" latinLnBrk="0" hangingPunct="1">
              <a:lnSpc>
                <a:spcPct val="125000"/>
              </a:lnSpc>
              <a:spcBef>
                <a:spcPts val="0"/>
              </a:spcBef>
              <a:spcAft>
                <a:spcPts val="0"/>
              </a:spcAft>
              <a:buClr>
                <a:srgbClr val="F0BE0F"/>
              </a:buClr>
              <a:buSzTx/>
              <a:buFont typeface="Arial" panose="020B0604020202020204" pitchFamily="34" charset="0"/>
              <a:buChar char="•"/>
              <a:tabLst/>
              <a:defRPr/>
            </a:pPr>
            <a:r>
              <a:rPr kumimoji="0" lang="fa-IR"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دانش هر دو طرف برای رسیدن به راه‌حل لازم است</a:t>
            </a:r>
          </a:p>
          <a:p>
            <a:pPr marL="285750" marR="0" lvl="0" indent="-285750" algn="justLow" defTabSz="457200" rtl="1" eaLnBrk="1" fontAlgn="auto" latinLnBrk="0" hangingPunct="1">
              <a:lnSpc>
                <a:spcPct val="125000"/>
              </a:lnSpc>
              <a:spcBef>
                <a:spcPts val="0"/>
              </a:spcBef>
              <a:spcAft>
                <a:spcPts val="0"/>
              </a:spcAft>
              <a:buClr>
                <a:srgbClr val="F0BE0F"/>
              </a:buClr>
              <a:buSzTx/>
              <a:buFont typeface="Arial" panose="020B0604020202020204" pitchFamily="34" charset="0"/>
              <a:buChar char="•"/>
              <a:tabLst/>
              <a:defRPr/>
            </a:pPr>
            <a:r>
              <a:rPr kumimoji="0" lang="fa-IR"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نوآوری در طراحی راهکار، خودش ارزش‌آفرین است</a:t>
            </a:r>
          </a:p>
        </p:txBody>
      </p:sp>
      <p:sp>
        <p:nvSpPr>
          <p:cNvPr id="20" name="Rectangle: Rounded Corners 19">
            <a:extLst>
              <a:ext uri="{FF2B5EF4-FFF2-40B4-BE49-F238E27FC236}">
                <a16:creationId xmlns:a16="http://schemas.microsoft.com/office/drawing/2014/main" id="{3302DE72-D926-4126-8D20-72C7B0A34DDD}"/>
              </a:ext>
            </a:extLst>
          </p:cNvPr>
          <p:cNvSpPr/>
          <p:nvPr/>
        </p:nvSpPr>
        <p:spPr>
          <a:xfrm>
            <a:off x="4409954" y="5350148"/>
            <a:ext cx="6855808" cy="458356"/>
          </a:xfrm>
          <a:prstGeom prst="roundRect">
            <a:avLst>
              <a:gd name="adj" fmla="val 7208"/>
            </a:avLst>
          </a:prstGeom>
          <a:solidFill>
            <a:schemeClr val="bg1">
              <a:lumMod val="95000"/>
              <a:alpha val="7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Calibri"/>
            </a:endParaRPr>
          </a:p>
        </p:txBody>
      </p:sp>
      <p:cxnSp>
        <p:nvCxnSpPr>
          <p:cNvPr id="15" name="Straight Connector 14">
            <a:extLst>
              <a:ext uri="{FF2B5EF4-FFF2-40B4-BE49-F238E27FC236}">
                <a16:creationId xmlns:a16="http://schemas.microsoft.com/office/drawing/2014/main" id="{B92A0D9B-5AD9-02B1-38D6-95DB59A7F6AC}"/>
              </a:ext>
            </a:extLst>
          </p:cNvPr>
          <p:cNvCxnSpPr>
            <a:cxnSpLocks/>
          </p:cNvCxnSpPr>
          <p:nvPr/>
        </p:nvCxnSpPr>
        <p:spPr>
          <a:xfrm>
            <a:off x="4425223" y="5213778"/>
            <a:ext cx="6825271" cy="0"/>
          </a:xfrm>
          <a:prstGeom prst="line">
            <a:avLst/>
          </a:prstGeom>
        </p:spPr>
        <p:style>
          <a:lnRef idx="1">
            <a:schemeClr val="accent2"/>
          </a:lnRef>
          <a:fillRef idx="0">
            <a:schemeClr val="accent2"/>
          </a:fillRef>
          <a:effectRef idx="0">
            <a:schemeClr val="accent2"/>
          </a:effectRef>
          <a:fontRef idx="minor">
            <a:schemeClr val="tx1"/>
          </a:fontRef>
        </p:style>
      </p:cxnSp>
      <p:sp>
        <p:nvSpPr>
          <p:cNvPr id="16" name="TextBox 15">
            <a:extLst>
              <a:ext uri="{FF2B5EF4-FFF2-40B4-BE49-F238E27FC236}">
                <a16:creationId xmlns:a16="http://schemas.microsoft.com/office/drawing/2014/main" id="{D05ED6AE-A50A-AD83-58D9-531AFE673972}"/>
              </a:ext>
            </a:extLst>
          </p:cNvPr>
          <p:cNvSpPr txBox="1"/>
          <p:nvPr/>
        </p:nvSpPr>
        <p:spPr>
          <a:xfrm>
            <a:off x="5582586" y="5082972"/>
            <a:ext cx="4510544" cy="261610"/>
          </a:xfrm>
          <a:prstGeom prst="rect">
            <a:avLst/>
          </a:prstGeom>
          <a:solidFill>
            <a:schemeClr val="bg1"/>
          </a:solidFill>
        </p:spPr>
        <p:txBody>
          <a:bodyPr wrap="square"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نقش «اکوسیستم فرصت ایران»: هم‌آفرین (</a:t>
            </a:r>
            <a:r>
              <a:rPr kumimoji="0" lang="en-US" sz="11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(Co-Creator</a:t>
            </a:r>
          </a:p>
        </p:txBody>
      </p:sp>
      <p:sp>
        <p:nvSpPr>
          <p:cNvPr id="17" name="TextBox 16">
            <a:extLst>
              <a:ext uri="{FF2B5EF4-FFF2-40B4-BE49-F238E27FC236}">
                <a16:creationId xmlns:a16="http://schemas.microsoft.com/office/drawing/2014/main" id="{CFFC8538-BEB5-1E01-2B1C-1BEBC18932F5}"/>
              </a:ext>
            </a:extLst>
          </p:cNvPr>
          <p:cNvSpPr txBox="1"/>
          <p:nvPr/>
        </p:nvSpPr>
        <p:spPr>
          <a:xfrm>
            <a:off x="4648473" y="5473528"/>
            <a:ext cx="6378770" cy="211596"/>
          </a:xfrm>
          <a:prstGeom prst="rect">
            <a:avLst/>
          </a:prstGeom>
          <a:noFill/>
        </p:spPr>
        <p:txBody>
          <a:bodyPr wrap="square" lIns="0" tIns="0" rIns="0" bIns="0" anchor="t">
            <a:spAutoFit/>
          </a:bodyPr>
          <a:lstStyle/>
          <a:p>
            <a:pPr marL="0" marR="0" lvl="0" indent="0" algn="ctr" defTabSz="457200" rtl="1" eaLnBrk="1" fontAlgn="auto" latinLnBrk="0" hangingPunct="1">
              <a:lnSpc>
                <a:spcPct val="125000"/>
              </a:lnSpc>
              <a:spcBef>
                <a:spcPts val="0"/>
              </a:spcBef>
              <a:spcAft>
                <a:spcPts val="0"/>
              </a:spcAft>
              <a:buClrTx/>
              <a:buSzTx/>
              <a:buFontTx/>
              <a:buNone/>
              <a:tabLst/>
              <a:defRPr/>
            </a:pPr>
            <a:r>
              <a:rPr kumimoji="0" lang="fa-IR"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مدل تعامل: تیم مشترک، تصمیم‌گیری و اجرای مشترک</a:t>
            </a:r>
          </a:p>
        </p:txBody>
      </p:sp>
      <p:cxnSp>
        <p:nvCxnSpPr>
          <p:cNvPr id="5" name="Straight Connector 4">
            <a:extLst>
              <a:ext uri="{FF2B5EF4-FFF2-40B4-BE49-F238E27FC236}">
                <a16:creationId xmlns:a16="http://schemas.microsoft.com/office/drawing/2014/main" id="{5D9AD5CE-3D75-6EBF-7B7D-81B25096F60D}"/>
              </a:ext>
            </a:extLst>
          </p:cNvPr>
          <p:cNvCxnSpPr>
            <a:cxnSpLocks/>
          </p:cNvCxnSpPr>
          <p:nvPr/>
        </p:nvCxnSpPr>
        <p:spPr>
          <a:xfrm>
            <a:off x="4425223" y="1464508"/>
            <a:ext cx="6825271" cy="0"/>
          </a:xfrm>
          <a:prstGeom prst="line">
            <a:avLst/>
          </a:prstGeom>
        </p:spPr>
        <p:style>
          <a:lnRef idx="1">
            <a:schemeClr val="accent2"/>
          </a:lnRef>
          <a:fillRef idx="0">
            <a:schemeClr val="accent2"/>
          </a:fillRef>
          <a:effectRef idx="0">
            <a:schemeClr val="accent2"/>
          </a:effectRef>
          <a:fontRef idx="minor">
            <a:schemeClr val="tx1"/>
          </a:fontRef>
        </p:style>
      </p:cxnSp>
      <p:sp>
        <p:nvSpPr>
          <p:cNvPr id="18" name="Rectangle: Rounded Corners 17">
            <a:extLst>
              <a:ext uri="{FF2B5EF4-FFF2-40B4-BE49-F238E27FC236}">
                <a16:creationId xmlns:a16="http://schemas.microsoft.com/office/drawing/2014/main" id="{DD14EDD4-6AEE-C2CC-6947-3E665B105B3E}"/>
              </a:ext>
            </a:extLst>
          </p:cNvPr>
          <p:cNvSpPr/>
          <p:nvPr/>
        </p:nvSpPr>
        <p:spPr>
          <a:xfrm>
            <a:off x="4409954" y="1600261"/>
            <a:ext cx="6855808" cy="884683"/>
          </a:xfrm>
          <a:prstGeom prst="roundRect">
            <a:avLst>
              <a:gd name="adj" fmla="val 7208"/>
            </a:avLst>
          </a:prstGeom>
          <a:solidFill>
            <a:schemeClr val="bg1">
              <a:lumMod val="95000"/>
              <a:alpha val="7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Calibri"/>
            </a:endParaRPr>
          </a:p>
        </p:txBody>
      </p:sp>
      <p:sp>
        <p:nvSpPr>
          <p:cNvPr id="8" name="TextBox 7">
            <a:extLst>
              <a:ext uri="{FF2B5EF4-FFF2-40B4-BE49-F238E27FC236}">
                <a16:creationId xmlns:a16="http://schemas.microsoft.com/office/drawing/2014/main" id="{A42E9955-CBB6-F6EF-F7C0-F69198362585}"/>
              </a:ext>
            </a:extLst>
          </p:cNvPr>
          <p:cNvSpPr txBox="1"/>
          <p:nvPr/>
        </p:nvSpPr>
        <p:spPr>
          <a:xfrm>
            <a:off x="4648473" y="1831006"/>
            <a:ext cx="6378770" cy="423193"/>
          </a:xfrm>
          <a:prstGeom prst="rect">
            <a:avLst/>
          </a:prstGeom>
          <a:noFill/>
        </p:spPr>
        <p:txBody>
          <a:bodyPr wrap="square" lIns="0" tIns="0" rIns="0" bIns="0" anchor="ctr">
            <a:spAutoFit/>
          </a:bodyPr>
          <a:lstStyle/>
          <a:p>
            <a:pPr marL="0" marR="0" lvl="0" indent="0" algn="justLow" defTabSz="457200" rtl="1" eaLnBrk="1" fontAlgn="auto" latinLnBrk="0" hangingPunct="1">
              <a:lnSpc>
                <a:spcPct val="125000"/>
              </a:lnSpc>
              <a:spcBef>
                <a:spcPts val="0"/>
              </a:spcBef>
              <a:spcAft>
                <a:spcPts val="0"/>
              </a:spcAft>
              <a:buClrTx/>
              <a:buSzTx/>
              <a:buFontTx/>
              <a:buNone/>
              <a:tabLst/>
              <a:defRPr/>
            </a:pPr>
            <a:r>
              <a:rPr kumimoji="0" lang="fa-IR"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«اکوسیستم فرصت ایران»و مشتری مشترکاً مسئله را تعریف، راهکار را طراحی و برای رسیدن به نتیجه با هم کار می‌کنند.</a:t>
            </a:r>
          </a:p>
        </p:txBody>
      </p:sp>
      <p:sp>
        <p:nvSpPr>
          <p:cNvPr id="21" name="Rectangle: Rounded Corners 20">
            <a:extLst>
              <a:ext uri="{FF2B5EF4-FFF2-40B4-BE49-F238E27FC236}">
                <a16:creationId xmlns:a16="http://schemas.microsoft.com/office/drawing/2014/main" id="{4920F4C4-39E4-ED41-6BF9-603F75F1601C}"/>
              </a:ext>
            </a:extLst>
          </p:cNvPr>
          <p:cNvSpPr/>
          <p:nvPr/>
        </p:nvSpPr>
        <p:spPr>
          <a:xfrm>
            <a:off x="4409954" y="2535426"/>
            <a:ext cx="6855808" cy="369732"/>
          </a:xfrm>
          <a:prstGeom prst="roundRect">
            <a:avLst>
              <a:gd name="adj" fmla="val 7208"/>
            </a:avLst>
          </a:prstGeom>
          <a:solidFill>
            <a:srgbClr val="00406C">
              <a:alpha val="1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Calibri"/>
            </a:endParaRPr>
          </a:p>
        </p:txBody>
      </p:sp>
      <p:sp>
        <p:nvSpPr>
          <p:cNvPr id="23" name="TextBox 22">
            <a:extLst>
              <a:ext uri="{FF2B5EF4-FFF2-40B4-BE49-F238E27FC236}">
                <a16:creationId xmlns:a16="http://schemas.microsoft.com/office/drawing/2014/main" id="{551C3E06-FE63-E20A-05A3-C3056A6AB657}"/>
              </a:ext>
            </a:extLst>
          </p:cNvPr>
          <p:cNvSpPr txBox="1"/>
          <p:nvPr/>
        </p:nvSpPr>
        <p:spPr>
          <a:xfrm>
            <a:off x="4425222" y="2601898"/>
            <a:ext cx="6840539" cy="219291"/>
          </a:xfrm>
          <a:prstGeom prst="rect">
            <a:avLst/>
          </a:prstGeom>
          <a:noFill/>
        </p:spPr>
        <p:txBody>
          <a:bodyPr wrap="square" lIns="0" tIns="0" rIns="0" bIns="0" anchor="t">
            <a:spAutoFit/>
          </a:bodyPr>
          <a:lstStyle/>
          <a:p>
            <a:pPr marL="0" marR="0" lvl="0" indent="0" algn="ctr" defTabSz="457200" rtl="1" eaLnBrk="1" fontAlgn="auto" latinLnBrk="0" hangingPunct="1">
              <a:lnSpc>
                <a:spcPct val="125000"/>
              </a:lnSpc>
              <a:spcBef>
                <a:spcPts val="0"/>
              </a:spcBef>
              <a:spcAft>
                <a:spcPts val="0"/>
              </a:spcAft>
              <a:buClrTx/>
              <a:buSzTx/>
              <a:buFontTx/>
              <a:buNone/>
              <a:tabLst/>
              <a:defRPr/>
            </a:pPr>
            <a:r>
              <a:rPr kumimoji="0" lang="fa-IR" sz="1200" b="1" i="0" u="none" strike="noStrike" kern="1200" cap="none" spc="0" normalizeH="0" baseline="0" noProof="0" dirty="0">
                <a:ln>
                  <a:noFill/>
                </a:ln>
                <a:solidFill>
                  <a:srgbClr val="15296B"/>
                </a:solidFill>
                <a:effectLst/>
                <a:uLnTx/>
                <a:uFillTx/>
                <a:latin typeface="Yekan Bakh FaNum" pitchFamily="2" charset="-78"/>
                <a:ea typeface="+mn-ea"/>
                <a:cs typeface="Yekan Bakh FaNum" pitchFamily="2" charset="-78"/>
              </a:rPr>
              <a:t>تعریف مشترک مسئله  ←  طراحی مشترک  ←  اجرای مشترک  ←  نتیجه</a:t>
            </a:r>
          </a:p>
        </p:txBody>
      </p:sp>
      <p:sp>
        <p:nvSpPr>
          <p:cNvPr id="6" name="TextBox 5">
            <a:extLst>
              <a:ext uri="{FF2B5EF4-FFF2-40B4-BE49-F238E27FC236}">
                <a16:creationId xmlns:a16="http://schemas.microsoft.com/office/drawing/2014/main" id="{FB87BC7B-D1B2-36FB-4004-38692C06FE65}"/>
              </a:ext>
            </a:extLst>
          </p:cNvPr>
          <p:cNvSpPr txBox="1"/>
          <p:nvPr/>
        </p:nvSpPr>
        <p:spPr>
          <a:xfrm>
            <a:off x="7412561" y="1333703"/>
            <a:ext cx="850594" cy="261610"/>
          </a:xfrm>
          <a:prstGeom prst="rect">
            <a:avLst/>
          </a:prstGeom>
          <a:solidFill>
            <a:schemeClr val="bg1"/>
          </a:solidFill>
        </p:spPr>
        <p:txBody>
          <a:bodyPr wrap="square"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تعریف</a:t>
            </a:r>
          </a:p>
        </p:txBody>
      </p:sp>
      <p:sp>
        <p:nvSpPr>
          <p:cNvPr id="29" name="Rectangle: Rounded Corners 28">
            <a:extLst>
              <a:ext uri="{FF2B5EF4-FFF2-40B4-BE49-F238E27FC236}">
                <a16:creationId xmlns:a16="http://schemas.microsoft.com/office/drawing/2014/main" id="{1317AAD6-E505-9453-888C-29F77664F4F0}"/>
              </a:ext>
            </a:extLst>
          </p:cNvPr>
          <p:cNvSpPr/>
          <p:nvPr/>
        </p:nvSpPr>
        <p:spPr>
          <a:xfrm>
            <a:off x="437288" y="1464508"/>
            <a:ext cx="3545953" cy="2009496"/>
          </a:xfrm>
          <a:prstGeom prst="roundRect">
            <a:avLst>
              <a:gd name="adj" fmla="val 6055"/>
            </a:avLst>
          </a:prstGeom>
          <a:solidFill>
            <a:srgbClr val="EFF3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30" name="Rectangle: Rounded Corners 29">
            <a:extLst>
              <a:ext uri="{FF2B5EF4-FFF2-40B4-BE49-F238E27FC236}">
                <a16:creationId xmlns:a16="http://schemas.microsoft.com/office/drawing/2014/main" id="{CA1ABFA3-504C-5EB3-90C8-B8C80FB82957}"/>
              </a:ext>
            </a:extLst>
          </p:cNvPr>
          <p:cNvSpPr/>
          <p:nvPr/>
        </p:nvSpPr>
        <p:spPr>
          <a:xfrm>
            <a:off x="437288" y="3799008"/>
            <a:ext cx="3545953" cy="2009496"/>
          </a:xfrm>
          <a:prstGeom prst="roundRect">
            <a:avLst>
              <a:gd name="adj" fmla="val 6055"/>
            </a:avLst>
          </a:prstGeom>
          <a:solidFill>
            <a:schemeClr val="bg1">
              <a:lumMod val="75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Calibri"/>
            </a:endParaRPr>
          </a:p>
        </p:txBody>
      </p:sp>
      <p:cxnSp>
        <p:nvCxnSpPr>
          <p:cNvPr id="36" name="Straight Connector 35">
            <a:extLst>
              <a:ext uri="{FF2B5EF4-FFF2-40B4-BE49-F238E27FC236}">
                <a16:creationId xmlns:a16="http://schemas.microsoft.com/office/drawing/2014/main" id="{B1B2610D-4D2D-7BA7-9B05-565B27D86922}"/>
              </a:ext>
            </a:extLst>
          </p:cNvPr>
          <p:cNvCxnSpPr/>
          <p:nvPr/>
        </p:nvCxnSpPr>
        <p:spPr>
          <a:xfrm>
            <a:off x="4201610" y="1464508"/>
            <a:ext cx="0" cy="4343996"/>
          </a:xfrm>
          <a:prstGeom prst="line">
            <a:avLst/>
          </a:prstGeom>
          <a:ln>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A07EA2C9-BF79-561D-7A46-2B28845A55F4}"/>
              </a:ext>
            </a:extLst>
          </p:cNvPr>
          <p:cNvSpPr txBox="1"/>
          <p:nvPr/>
        </p:nvSpPr>
        <p:spPr>
          <a:xfrm>
            <a:off x="641064" y="1646441"/>
            <a:ext cx="3138401" cy="211596"/>
          </a:xfrm>
          <a:prstGeom prst="rect">
            <a:avLst/>
          </a:prstGeom>
          <a:noFill/>
        </p:spPr>
        <p:txBody>
          <a:bodyPr wrap="square" lIns="0" tIns="0" rIns="0" bIns="0" anchor="t">
            <a:spAutoFit/>
          </a:bodyPr>
          <a:lstStyle/>
          <a:p>
            <a:pPr marL="0" marR="0" lvl="0" indent="0" algn="ctr" defTabSz="457200" rtl="1" eaLnBrk="1" fontAlgn="auto" latinLnBrk="0" hangingPunct="1">
              <a:lnSpc>
                <a:spcPct val="125000"/>
              </a:lnSpc>
              <a:spcBef>
                <a:spcPts val="0"/>
              </a:spcBef>
              <a:spcAft>
                <a:spcPts val="0"/>
              </a:spcAft>
              <a:buClrTx/>
              <a:buSzTx/>
              <a:buFontTx/>
              <a:buNone/>
              <a:tabLst/>
              <a:defRPr/>
            </a:pPr>
            <a:r>
              <a:rPr kumimoji="0" sz="1100" b="1" i="0" u="none" strike="noStrike" kern="1200" cap="none" spc="0" normalizeH="0" baseline="0" noProof="0" dirty="0" err="1">
                <a:ln>
                  <a:noFill/>
                </a:ln>
                <a:solidFill>
                  <a:srgbClr val="15296B"/>
                </a:solidFill>
                <a:effectLst/>
                <a:uLnTx/>
                <a:uFillTx/>
                <a:latin typeface="Yekan Bakh FaNum" pitchFamily="2" charset="-78"/>
                <a:ea typeface="+mn-ea"/>
                <a:cs typeface="Yekan Bakh FaNum" pitchFamily="2" charset="-78"/>
              </a:rPr>
              <a:t>مثال</a:t>
            </a:r>
            <a:r>
              <a:rPr kumimoji="0" sz="1100" b="1" i="0" u="none" strike="noStrike" kern="1200" cap="none" spc="0" normalizeH="0" baseline="0" noProof="0" dirty="0">
                <a:ln>
                  <a:noFill/>
                </a:ln>
                <a:solidFill>
                  <a:srgbClr val="15296B"/>
                </a:solidFill>
                <a:effectLst/>
                <a:uLnTx/>
                <a:uFillTx/>
                <a:latin typeface="Yekan Bakh FaNum" pitchFamily="2" charset="-78"/>
                <a:ea typeface="+mn-ea"/>
                <a:cs typeface="Yekan Bakh FaNum" pitchFamily="2" charset="-78"/>
              </a:rPr>
              <a:t> </a:t>
            </a:r>
            <a:r>
              <a:rPr kumimoji="0" sz="1100" b="1" i="0" u="none" strike="noStrike" kern="1200" cap="none" spc="0" normalizeH="0" baseline="0" noProof="0" dirty="0" err="1">
                <a:ln>
                  <a:noFill/>
                </a:ln>
                <a:solidFill>
                  <a:srgbClr val="15296B"/>
                </a:solidFill>
                <a:effectLst/>
                <a:uLnTx/>
                <a:uFillTx/>
                <a:latin typeface="Yekan Bakh FaNum" pitchFamily="2" charset="-78"/>
                <a:ea typeface="+mn-ea"/>
                <a:cs typeface="Yekan Bakh FaNum" pitchFamily="2" charset="-78"/>
              </a:rPr>
              <a:t>جهانی</a:t>
            </a:r>
            <a:endParaRPr kumimoji="0" sz="1100" b="1" i="0" u="none" strike="noStrike" kern="1200" cap="none" spc="0" normalizeH="0" baseline="0" noProof="0" dirty="0">
              <a:ln>
                <a:noFill/>
              </a:ln>
              <a:solidFill>
                <a:srgbClr val="15296B"/>
              </a:solidFill>
              <a:effectLst/>
              <a:uLnTx/>
              <a:uFillTx/>
              <a:latin typeface="Yekan Bakh FaNum" pitchFamily="2" charset="-78"/>
              <a:ea typeface="+mn-ea"/>
              <a:cs typeface="Yekan Bakh FaNum" pitchFamily="2" charset="-78"/>
            </a:endParaRPr>
          </a:p>
        </p:txBody>
      </p:sp>
      <p:sp>
        <p:nvSpPr>
          <p:cNvPr id="34" name="TextBox 33">
            <a:extLst>
              <a:ext uri="{FF2B5EF4-FFF2-40B4-BE49-F238E27FC236}">
                <a16:creationId xmlns:a16="http://schemas.microsoft.com/office/drawing/2014/main" id="{54E549E3-B66A-E5AC-BA29-8340B1570DB0}"/>
              </a:ext>
            </a:extLst>
          </p:cNvPr>
          <p:cNvSpPr txBox="1"/>
          <p:nvPr/>
        </p:nvSpPr>
        <p:spPr>
          <a:xfrm>
            <a:off x="641064" y="2181795"/>
            <a:ext cx="3138401" cy="486672"/>
          </a:xfrm>
          <a:prstGeom prst="rect">
            <a:avLst/>
          </a:prstGeom>
          <a:noFill/>
        </p:spPr>
        <p:txBody>
          <a:bodyPr wrap="square" lIns="0" tIns="0" rIns="0" bIns="0" anchor="t">
            <a:spAutoFit/>
          </a:bodyPr>
          <a:lstStyle/>
          <a:p>
            <a:pPr marL="0" marR="0" lvl="0" indent="0" algn="ctr" defTabSz="457200" rtl="1" eaLnBrk="1" fontAlgn="auto" latinLnBrk="0" hangingPunct="1">
              <a:lnSpc>
                <a:spcPct val="150000"/>
              </a:lnSpc>
              <a:spcBef>
                <a:spcPts val="0"/>
              </a:spcBef>
              <a:spcAft>
                <a:spcPts val="0"/>
              </a:spcAft>
              <a:buClrTx/>
              <a:buSzTx/>
              <a:buFontTx/>
              <a:buNone/>
              <a:tabLst/>
              <a:defRPr/>
            </a:pPr>
            <a:r>
              <a:rPr kumimoji="0" lang="fa-IR"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مدل </a:t>
            </a:r>
            <a:r>
              <a:rPr kumimoji="0" lang="en-US"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Connect + Develop </a:t>
            </a:r>
            <a:r>
              <a:rPr kumimoji="0" lang="fa-IR"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 شرکت </a:t>
            </a:r>
            <a:r>
              <a:rPr kumimoji="0" lang="en-US"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P&amp;G — </a:t>
            </a:r>
            <a:r>
              <a:rPr kumimoji="0" lang="fa-IR"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 نوآوری مشترک با شرکای بیرونی به‌جای توسعه کاملاً داخلی</a:t>
            </a:r>
          </a:p>
        </p:txBody>
      </p:sp>
      <p:cxnSp>
        <p:nvCxnSpPr>
          <p:cNvPr id="42" name="Straight Connector 41">
            <a:extLst>
              <a:ext uri="{FF2B5EF4-FFF2-40B4-BE49-F238E27FC236}">
                <a16:creationId xmlns:a16="http://schemas.microsoft.com/office/drawing/2014/main" id="{CB4A3A18-E6D7-704D-DE33-B07B68380995}"/>
              </a:ext>
            </a:extLst>
          </p:cNvPr>
          <p:cNvCxnSpPr>
            <a:cxnSpLocks/>
          </p:cNvCxnSpPr>
          <p:nvPr/>
        </p:nvCxnSpPr>
        <p:spPr>
          <a:xfrm>
            <a:off x="440900" y="2047348"/>
            <a:ext cx="3547872" cy="0"/>
          </a:xfrm>
          <a:prstGeom prst="line">
            <a:avLst/>
          </a:prstGeom>
          <a:ln w="12700">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722874D8-4E9E-E713-0B24-667B8B4AC2B1}"/>
              </a:ext>
            </a:extLst>
          </p:cNvPr>
          <p:cNvSpPr txBox="1"/>
          <p:nvPr/>
        </p:nvSpPr>
        <p:spPr>
          <a:xfrm>
            <a:off x="641064" y="3980941"/>
            <a:ext cx="3138401" cy="211596"/>
          </a:xfrm>
          <a:prstGeom prst="rect">
            <a:avLst/>
          </a:prstGeom>
          <a:noFill/>
        </p:spPr>
        <p:txBody>
          <a:bodyPr wrap="square" lIns="0" tIns="0" rIns="0" bIns="0" anchor="t">
            <a:spAutoFit/>
          </a:bodyPr>
          <a:lstStyle/>
          <a:p>
            <a:pPr marL="0" marR="0" lvl="0" indent="0" algn="ctr" defTabSz="457200" rtl="1" eaLnBrk="1" fontAlgn="auto" latinLnBrk="0" hangingPunct="1">
              <a:lnSpc>
                <a:spcPct val="125000"/>
              </a:lnSpc>
              <a:spcBef>
                <a:spcPts val="0"/>
              </a:spcBef>
              <a:spcAft>
                <a:spcPts val="0"/>
              </a:spcAft>
              <a:buClrTx/>
              <a:buSzTx/>
              <a:buFontTx/>
              <a:buNone/>
              <a:tabLst/>
              <a:defRPr/>
            </a:pPr>
            <a:r>
              <a:rPr kumimoji="0" lang="fa-IR" sz="1100" b="1" i="0" u="none" strike="noStrike" kern="1200" cap="none" spc="0" normalizeH="0" baseline="0" noProof="0" dirty="0">
                <a:ln>
                  <a:noFill/>
                </a:ln>
                <a:solidFill>
                  <a:srgbClr val="15296B"/>
                </a:solidFill>
                <a:effectLst/>
                <a:uLnTx/>
                <a:uFillTx/>
                <a:latin typeface="Yekan Bakh FaNum" pitchFamily="2" charset="-78"/>
                <a:ea typeface="+mn-ea"/>
                <a:cs typeface="Yekan Bakh FaNum" pitchFamily="2" charset="-78"/>
              </a:rPr>
              <a:t>بنچمارک اکوسیستم برون‌مرزی</a:t>
            </a:r>
          </a:p>
        </p:txBody>
      </p:sp>
      <p:sp>
        <p:nvSpPr>
          <p:cNvPr id="40" name="TextBox 39">
            <a:extLst>
              <a:ext uri="{FF2B5EF4-FFF2-40B4-BE49-F238E27FC236}">
                <a16:creationId xmlns:a16="http://schemas.microsoft.com/office/drawing/2014/main" id="{80D04382-888A-334B-1976-3B72BF77869D}"/>
              </a:ext>
            </a:extLst>
          </p:cNvPr>
          <p:cNvSpPr txBox="1"/>
          <p:nvPr/>
        </p:nvSpPr>
        <p:spPr>
          <a:xfrm>
            <a:off x="641064" y="4516295"/>
            <a:ext cx="3138401" cy="740587"/>
          </a:xfrm>
          <a:prstGeom prst="rect">
            <a:avLst/>
          </a:prstGeom>
          <a:noFill/>
        </p:spPr>
        <p:txBody>
          <a:bodyPr wrap="square" lIns="0" tIns="0" rIns="0" bIns="0" anchor="t">
            <a:spAutoFit/>
          </a:bodyPr>
          <a:lstStyle/>
          <a:p>
            <a:pPr marL="0" marR="0" lvl="0" indent="0" algn="ctr" defTabSz="457200" rtl="1" eaLnBrk="1" fontAlgn="auto" latinLnBrk="0" hangingPunct="1">
              <a:lnSpc>
                <a:spcPct val="150000"/>
              </a:lnSpc>
              <a:spcBef>
                <a:spcPts val="0"/>
              </a:spcBef>
              <a:spcAft>
                <a:spcPts val="0"/>
              </a:spcAft>
              <a:buClrTx/>
              <a:buSzTx/>
              <a:buFontTx/>
              <a:buNone/>
              <a:tabLst/>
              <a:defRPr/>
            </a:pPr>
            <a:r>
              <a:rPr kumimoji="0" lang="fa-IR"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برنامه </a:t>
            </a:r>
            <a:r>
              <a:rPr kumimoji="0" lang="en-US"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Scale Up by Endeavor — </a:t>
            </a:r>
            <a:r>
              <a:rPr kumimoji="0" lang="fa-IR"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 نقشه رشد هر کارآفرین مشترکاً با مربیان بین‌المللی طراحی می‌شود، نه به‌صورت یک‌طرفه تجویز</a:t>
            </a:r>
          </a:p>
        </p:txBody>
      </p:sp>
      <p:cxnSp>
        <p:nvCxnSpPr>
          <p:cNvPr id="43" name="Straight Connector 42">
            <a:extLst>
              <a:ext uri="{FF2B5EF4-FFF2-40B4-BE49-F238E27FC236}">
                <a16:creationId xmlns:a16="http://schemas.microsoft.com/office/drawing/2014/main" id="{AB858A1C-B45D-6563-07A0-AF9B0880A70D}"/>
              </a:ext>
            </a:extLst>
          </p:cNvPr>
          <p:cNvCxnSpPr>
            <a:cxnSpLocks/>
          </p:cNvCxnSpPr>
          <p:nvPr/>
        </p:nvCxnSpPr>
        <p:spPr>
          <a:xfrm>
            <a:off x="440900" y="4381848"/>
            <a:ext cx="3547872" cy="0"/>
          </a:xfrm>
          <a:prstGeom prst="line">
            <a:avLst/>
          </a:prstGeom>
          <a:ln w="12700">
            <a:solidFill>
              <a:schemeClr val="bg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3907791"/>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71160-818C-A70B-0834-CCBBF472D6C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BAEC40E-2225-0E32-4736-4A33026584CE}"/>
              </a:ext>
            </a:extLst>
          </p:cNvPr>
          <p:cNvSpPr>
            <a:spLocks noGrp="1"/>
          </p:cNvSpPr>
          <p:nvPr>
            <p:ph type="body" sz="quarter" idx="10"/>
          </p:nvPr>
        </p:nvSpPr>
        <p:spPr/>
        <p:txBody>
          <a:bodyPr/>
          <a:lstStyle/>
          <a:p>
            <a:r>
              <a:rPr lang="fa-IR" dirty="0"/>
              <a:t>۳. آرکی‌تایپ رابطه ۶ از ۷ — شراکت راهبردی </a:t>
            </a:r>
            <a:r>
              <a:rPr lang="en-US" dirty="0"/>
              <a:t>Strategic Partnership)</a:t>
            </a:r>
            <a:r>
              <a:rPr lang="fa-IR" dirty="0"/>
              <a:t>)</a:t>
            </a:r>
            <a:endParaRPr lang="en-GB" dirty="0"/>
          </a:p>
        </p:txBody>
      </p:sp>
      <p:sp>
        <p:nvSpPr>
          <p:cNvPr id="3" name="Text Placeholder 2">
            <a:extLst>
              <a:ext uri="{FF2B5EF4-FFF2-40B4-BE49-F238E27FC236}">
                <a16:creationId xmlns:a16="http://schemas.microsoft.com/office/drawing/2014/main" id="{1E19A2D1-5FA6-4690-67D2-DFCE242EF6EB}"/>
              </a:ext>
            </a:extLst>
          </p:cNvPr>
          <p:cNvSpPr>
            <a:spLocks noGrp="1"/>
          </p:cNvSpPr>
          <p:nvPr>
            <p:ph type="body" sz="quarter" idx="12"/>
          </p:nvPr>
        </p:nvSpPr>
        <p:spPr/>
        <p:txBody>
          <a:bodyPr/>
          <a:lstStyle/>
          <a:p>
            <a:r>
              <a:rPr lang="fa-IR" dirty="0"/>
              <a:t>بالاترین سطح تعهد، جایی است که رابطه خودش به یک دارایی راهبردی تبدیل می‌شود</a:t>
            </a:r>
          </a:p>
        </p:txBody>
      </p:sp>
      <p:sp>
        <p:nvSpPr>
          <p:cNvPr id="19" name="Rectangle: Rounded Corners 18">
            <a:extLst>
              <a:ext uri="{FF2B5EF4-FFF2-40B4-BE49-F238E27FC236}">
                <a16:creationId xmlns:a16="http://schemas.microsoft.com/office/drawing/2014/main" id="{98792D9E-5D18-890E-ED66-56CC001537BD}"/>
              </a:ext>
            </a:extLst>
          </p:cNvPr>
          <p:cNvSpPr/>
          <p:nvPr/>
        </p:nvSpPr>
        <p:spPr>
          <a:xfrm>
            <a:off x="4409954" y="3475131"/>
            <a:ext cx="6855808" cy="1300605"/>
          </a:xfrm>
          <a:prstGeom prst="roundRect">
            <a:avLst>
              <a:gd name="adj" fmla="val 7208"/>
            </a:avLst>
          </a:prstGeom>
          <a:solidFill>
            <a:schemeClr val="bg1">
              <a:lumMod val="95000"/>
              <a:alpha val="7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cxnSp>
        <p:nvCxnSpPr>
          <p:cNvPr id="11" name="Straight Connector 10">
            <a:extLst>
              <a:ext uri="{FF2B5EF4-FFF2-40B4-BE49-F238E27FC236}">
                <a16:creationId xmlns:a16="http://schemas.microsoft.com/office/drawing/2014/main" id="{EE87D7ED-505A-81EF-0E3B-EB10E5D3C720}"/>
              </a:ext>
            </a:extLst>
          </p:cNvPr>
          <p:cNvCxnSpPr>
            <a:cxnSpLocks/>
          </p:cNvCxnSpPr>
          <p:nvPr/>
        </p:nvCxnSpPr>
        <p:spPr>
          <a:xfrm>
            <a:off x="4425223" y="3343200"/>
            <a:ext cx="6825271" cy="0"/>
          </a:xfrm>
          <a:prstGeom prst="line">
            <a:avLst/>
          </a:prstGeom>
        </p:spPr>
        <p:style>
          <a:lnRef idx="1">
            <a:schemeClr val="accent2"/>
          </a:lnRef>
          <a:fillRef idx="0">
            <a:schemeClr val="accent2"/>
          </a:fillRef>
          <a:effectRef idx="0">
            <a:schemeClr val="accent2"/>
          </a:effectRef>
          <a:fontRef idx="minor">
            <a:schemeClr val="tx1"/>
          </a:fontRef>
        </p:style>
      </p:cxnSp>
      <p:sp>
        <p:nvSpPr>
          <p:cNvPr id="12" name="TextBox 11">
            <a:extLst>
              <a:ext uri="{FF2B5EF4-FFF2-40B4-BE49-F238E27FC236}">
                <a16:creationId xmlns:a16="http://schemas.microsoft.com/office/drawing/2014/main" id="{204AD62C-7339-3C26-CC81-BFE458182B9D}"/>
              </a:ext>
            </a:extLst>
          </p:cNvPr>
          <p:cNvSpPr txBox="1"/>
          <p:nvPr/>
        </p:nvSpPr>
        <p:spPr>
          <a:xfrm>
            <a:off x="5658795" y="3212394"/>
            <a:ext cx="4358127" cy="261610"/>
          </a:xfrm>
          <a:prstGeom prst="rect">
            <a:avLst/>
          </a:prstGeom>
          <a:solidFill>
            <a:schemeClr val="bg1"/>
          </a:solidFill>
        </p:spPr>
        <p:txBody>
          <a:bodyPr wrap="square"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چه زمانی برای اکوسیستم فرصت ایران مناسب است</a:t>
            </a:r>
          </a:p>
        </p:txBody>
      </p:sp>
      <p:sp>
        <p:nvSpPr>
          <p:cNvPr id="13" name="TextBox 12">
            <a:extLst>
              <a:ext uri="{FF2B5EF4-FFF2-40B4-BE49-F238E27FC236}">
                <a16:creationId xmlns:a16="http://schemas.microsoft.com/office/drawing/2014/main" id="{62E1F0AA-1AB9-0F21-7E77-248EDCC6941B}"/>
              </a:ext>
            </a:extLst>
          </p:cNvPr>
          <p:cNvSpPr txBox="1"/>
          <p:nvPr/>
        </p:nvSpPr>
        <p:spPr>
          <a:xfrm>
            <a:off x="4648473" y="3808039"/>
            <a:ext cx="6378770" cy="634789"/>
          </a:xfrm>
          <a:prstGeom prst="rect">
            <a:avLst/>
          </a:prstGeom>
          <a:noFill/>
        </p:spPr>
        <p:txBody>
          <a:bodyPr wrap="square" lIns="0" tIns="0" rIns="0" bIns="0" anchor="ctr">
            <a:spAutoFit/>
          </a:bodyPr>
          <a:lstStyle/>
          <a:p>
            <a:pPr marL="285750" marR="0" lvl="0" indent="-285750" algn="justLow" defTabSz="457200" rtl="1" eaLnBrk="1" fontAlgn="auto" latinLnBrk="0" hangingPunct="1">
              <a:lnSpc>
                <a:spcPct val="125000"/>
              </a:lnSpc>
              <a:spcBef>
                <a:spcPts val="0"/>
              </a:spcBef>
              <a:spcAft>
                <a:spcPts val="0"/>
              </a:spcAft>
              <a:buClr>
                <a:srgbClr val="F0BE0F"/>
              </a:buClr>
              <a:buSzTx/>
              <a:buFont typeface="Arial" panose="020B0604020202020204" pitchFamily="34" charset="0"/>
              <a:buChar char="•"/>
              <a:tabLst/>
              <a:defRPr/>
            </a:pPr>
            <a:r>
              <a:rPr kumimoji="0" lang="fa-IR"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طرف مقابل یک «حساب/شریک راهبردی» است، نه یک معامله واحد</a:t>
            </a:r>
            <a:endParaRPr kumimoji="0" lang="en-US"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endParaRPr>
          </a:p>
          <a:p>
            <a:pPr marL="285750" marR="0" lvl="0" indent="-285750" algn="justLow" defTabSz="457200" rtl="1" eaLnBrk="1" fontAlgn="auto" latinLnBrk="0" hangingPunct="1">
              <a:lnSpc>
                <a:spcPct val="125000"/>
              </a:lnSpc>
              <a:spcBef>
                <a:spcPts val="0"/>
              </a:spcBef>
              <a:spcAft>
                <a:spcPts val="0"/>
              </a:spcAft>
              <a:buClr>
                <a:srgbClr val="F0BE0F"/>
              </a:buClr>
              <a:buSzTx/>
              <a:buFont typeface="Arial" panose="020B0604020202020204" pitchFamily="34" charset="0"/>
              <a:buChar char="•"/>
              <a:tabLst/>
              <a:defRPr/>
            </a:pPr>
            <a:r>
              <a:rPr kumimoji="0" lang="fa-IR"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تعهد چندساله و در سطح مدیرعامل یا هیئت‌مدیره مطرح است</a:t>
            </a:r>
            <a:endParaRPr kumimoji="0" lang="en-US"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endParaRPr>
          </a:p>
          <a:p>
            <a:pPr marL="285750" marR="0" lvl="0" indent="-285750" algn="justLow" defTabSz="457200" rtl="1" eaLnBrk="1" fontAlgn="auto" latinLnBrk="0" hangingPunct="1">
              <a:lnSpc>
                <a:spcPct val="125000"/>
              </a:lnSpc>
              <a:spcBef>
                <a:spcPts val="0"/>
              </a:spcBef>
              <a:spcAft>
                <a:spcPts val="0"/>
              </a:spcAft>
              <a:buClr>
                <a:srgbClr val="F0BE0F"/>
              </a:buClr>
              <a:buSzTx/>
              <a:buFont typeface="Arial" panose="020B0604020202020204" pitchFamily="34" charset="0"/>
              <a:buChar char="•"/>
              <a:tabLst/>
              <a:defRPr/>
            </a:pPr>
            <a:r>
              <a:rPr kumimoji="0" lang="fa-IR"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تفاوت با مشارکتی: مشارکتی حول یک راهکار خاص است؛ اینجا خودِ رابطه دو سازمان دارایی می‌شود</a:t>
            </a:r>
          </a:p>
        </p:txBody>
      </p:sp>
      <p:sp>
        <p:nvSpPr>
          <p:cNvPr id="20" name="Rectangle: Rounded Corners 19">
            <a:extLst>
              <a:ext uri="{FF2B5EF4-FFF2-40B4-BE49-F238E27FC236}">
                <a16:creationId xmlns:a16="http://schemas.microsoft.com/office/drawing/2014/main" id="{B0DB5ED8-8C13-54B2-1B4F-2E52676D7D32}"/>
              </a:ext>
            </a:extLst>
          </p:cNvPr>
          <p:cNvSpPr/>
          <p:nvPr/>
        </p:nvSpPr>
        <p:spPr>
          <a:xfrm>
            <a:off x="4409954" y="5350148"/>
            <a:ext cx="6855808" cy="458356"/>
          </a:xfrm>
          <a:prstGeom prst="roundRect">
            <a:avLst>
              <a:gd name="adj" fmla="val 7208"/>
            </a:avLst>
          </a:prstGeom>
          <a:solidFill>
            <a:schemeClr val="bg1">
              <a:lumMod val="95000"/>
              <a:alpha val="7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Calibri"/>
            </a:endParaRPr>
          </a:p>
        </p:txBody>
      </p:sp>
      <p:cxnSp>
        <p:nvCxnSpPr>
          <p:cNvPr id="15" name="Straight Connector 14">
            <a:extLst>
              <a:ext uri="{FF2B5EF4-FFF2-40B4-BE49-F238E27FC236}">
                <a16:creationId xmlns:a16="http://schemas.microsoft.com/office/drawing/2014/main" id="{BC461C79-089C-F90D-1594-65C01B025AF3}"/>
              </a:ext>
            </a:extLst>
          </p:cNvPr>
          <p:cNvCxnSpPr>
            <a:cxnSpLocks/>
          </p:cNvCxnSpPr>
          <p:nvPr/>
        </p:nvCxnSpPr>
        <p:spPr>
          <a:xfrm>
            <a:off x="4425223" y="5213778"/>
            <a:ext cx="6825271" cy="0"/>
          </a:xfrm>
          <a:prstGeom prst="line">
            <a:avLst/>
          </a:prstGeom>
        </p:spPr>
        <p:style>
          <a:lnRef idx="1">
            <a:schemeClr val="accent2"/>
          </a:lnRef>
          <a:fillRef idx="0">
            <a:schemeClr val="accent2"/>
          </a:fillRef>
          <a:effectRef idx="0">
            <a:schemeClr val="accent2"/>
          </a:effectRef>
          <a:fontRef idx="minor">
            <a:schemeClr val="tx1"/>
          </a:fontRef>
        </p:style>
      </p:cxnSp>
      <p:sp>
        <p:nvSpPr>
          <p:cNvPr id="16" name="TextBox 15">
            <a:extLst>
              <a:ext uri="{FF2B5EF4-FFF2-40B4-BE49-F238E27FC236}">
                <a16:creationId xmlns:a16="http://schemas.microsoft.com/office/drawing/2014/main" id="{B66B18FF-EB7C-47D7-7BBA-1C31E75D3E77}"/>
              </a:ext>
            </a:extLst>
          </p:cNvPr>
          <p:cNvSpPr txBox="1"/>
          <p:nvPr/>
        </p:nvSpPr>
        <p:spPr>
          <a:xfrm>
            <a:off x="5582586" y="5082972"/>
            <a:ext cx="4510544" cy="261610"/>
          </a:xfrm>
          <a:prstGeom prst="rect">
            <a:avLst/>
          </a:prstGeom>
          <a:solidFill>
            <a:schemeClr val="bg1"/>
          </a:solidFill>
        </p:spPr>
        <p:txBody>
          <a:bodyPr wrap="square"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نقش «اکوسیستم فرصت ایران»: شریک راهبردی</a:t>
            </a:r>
          </a:p>
        </p:txBody>
      </p:sp>
      <p:sp>
        <p:nvSpPr>
          <p:cNvPr id="17" name="TextBox 16">
            <a:extLst>
              <a:ext uri="{FF2B5EF4-FFF2-40B4-BE49-F238E27FC236}">
                <a16:creationId xmlns:a16="http://schemas.microsoft.com/office/drawing/2014/main" id="{28A44E2A-22A3-647E-5D71-8FFA39D68AD8}"/>
              </a:ext>
            </a:extLst>
          </p:cNvPr>
          <p:cNvSpPr txBox="1"/>
          <p:nvPr/>
        </p:nvSpPr>
        <p:spPr>
          <a:xfrm>
            <a:off x="4648473" y="5473528"/>
            <a:ext cx="6378770" cy="211596"/>
          </a:xfrm>
          <a:prstGeom prst="rect">
            <a:avLst/>
          </a:prstGeom>
          <a:noFill/>
        </p:spPr>
        <p:txBody>
          <a:bodyPr wrap="square" lIns="0" tIns="0" rIns="0" bIns="0" anchor="t">
            <a:spAutoFit/>
          </a:bodyPr>
          <a:lstStyle/>
          <a:p>
            <a:pPr marL="0" marR="0" lvl="0" indent="0" algn="ctr" defTabSz="457200" rtl="1" eaLnBrk="1" fontAlgn="auto" latinLnBrk="0" hangingPunct="1">
              <a:lnSpc>
                <a:spcPct val="125000"/>
              </a:lnSpc>
              <a:spcBef>
                <a:spcPts val="0"/>
              </a:spcBef>
              <a:spcAft>
                <a:spcPts val="0"/>
              </a:spcAft>
              <a:buClrTx/>
              <a:buSzTx/>
              <a:buFontTx/>
              <a:buNone/>
              <a:tabLst/>
              <a:defRPr/>
            </a:pPr>
            <a:r>
              <a:rPr kumimoji="0" lang="fa-IR"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مدل تعامل: تعامل اجرایی سطح بالا، برنامه‌ریزی مشترک چندساله</a:t>
            </a:r>
          </a:p>
        </p:txBody>
      </p:sp>
      <p:cxnSp>
        <p:nvCxnSpPr>
          <p:cNvPr id="5" name="Straight Connector 4">
            <a:extLst>
              <a:ext uri="{FF2B5EF4-FFF2-40B4-BE49-F238E27FC236}">
                <a16:creationId xmlns:a16="http://schemas.microsoft.com/office/drawing/2014/main" id="{A5FAFF2E-9221-4CF8-E0E1-645B55609375}"/>
              </a:ext>
            </a:extLst>
          </p:cNvPr>
          <p:cNvCxnSpPr>
            <a:cxnSpLocks/>
          </p:cNvCxnSpPr>
          <p:nvPr/>
        </p:nvCxnSpPr>
        <p:spPr>
          <a:xfrm>
            <a:off x="4425223" y="1464508"/>
            <a:ext cx="6825271" cy="0"/>
          </a:xfrm>
          <a:prstGeom prst="line">
            <a:avLst/>
          </a:prstGeom>
        </p:spPr>
        <p:style>
          <a:lnRef idx="1">
            <a:schemeClr val="accent2"/>
          </a:lnRef>
          <a:fillRef idx="0">
            <a:schemeClr val="accent2"/>
          </a:fillRef>
          <a:effectRef idx="0">
            <a:schemeClr val="accent2"/>
          </a:effectRef>
          <a:fontRef idx="minor">
            <a:schemeClr val="tx1"/>
          </a:fontRef>
        </p:style>
      </p:cxnSp>
      <p:sp>
        <p:nvSpPr>
          <p:cNvPr id="18" name="Rectangle: Rounded Corners 17">
            <a:extLst>
              <a:ext uri="{FF2B5EF4-FFF2-40B4-BE49-F238E27FC236}">
                <a16:creationId xmlns:a16="http://schemas.microsoft.com/office/drawing/2014/main" id="{785B6DBC-F9B5-13FD-80B9-8820A4832E65}"/>
              </a:ext>
            </a:extLst>
          </p:cNvPr>
          <p:cNvSpPr/>
          <p:nvPr/>
        </p:nvSpPr>
        <p:spPr>
          <a:xfrm>
            <a:off x="4409954" y="1600261"/>
            <a:ext cx="6855808" cy="884683"/>
          </a:xfrm>
          <a:prstGeom prst="roundRect">
            <a:avLst>
              <a:gd name="adj" fmla="val 7208"/>
            </a:avLst>
          </a:prstGeom>
          <a:solidFill>
            <a:schemeClr val="bg1">
              <a:lumMod val="95000"/>
              <a:alpha val="7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Calibri"/>
            </a:endParaRPr>
          </a:p>
        </p:txBody>
      </p:sp>
      <p:sp>
        <p:nvSpPr>
          <p:cNvPr id="8" name="TextBox 7">
            <a:extLst>
              <a:ext uri="{FF2B5EF4-FFF2-40B4-BE49-F238E27FC236}">
                <a16:creationId xmlns:a16="http://schemas.microsoft.com/office/drawing/2014/main" id="{54B93104-C616-0033-6612-54D555DBCF67}"/>
              </a:ext>
            </a:extLst>
          </p:cNvPr>
          <p:cNvSpPr txBox="1"/>
          <p:nvPr/>
        </p:nvSpPr>
        <p:spPr>
          <a:xfrm>
            <a:off x="4648473" y="1831006"/>
            <a:ext cx="6378770" cy="423193"/>
          </a:xfrm>
          <a:prstGeom prst="rect">
            <a:avLst/>
          </a:prstGeom>
          <a:noFill/>
        </p:spPr>
        <p:txBody>
          <a:bodyPr wrap="square" lIns="0" tIns="0" rIns="0" bIns="0" anchor="ctr">
            <a:spAutoFit/>
          </a:bodyPr>
          <a:lstStyle/>
          <a:p>
            <a:pPr marL="0" marR="0" lvl="0" indent="0" algn="justLow" defTabSz="457200" rtl="1" eaLnBrk="1" fontAlgn="auto" latinLnBrk="0" hangingPunct="1">
              <a:lnSpc>
                <a:spcPct val="125000"/>
              </a:lnSpc>
              <a:spcBef>
                <a:spcPts val="0"/>
              </a:spcBef>
              <a:spcAft>
                <a:spcPts val="0"/>
              </a:spcAft>
              <a:buClrTx/>
              <a:buSzTx/>
              <a:buFontTx/>
              <a:buNone/>
              <a:tabLst/>
              <a:defRPr/>
            </a:pPr>
            <a:r>
              <a:rPr kumimoji="0" lang="fa-IR"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رابطه‌ای بلندمدت که در آن «اکوسیستم فرصت ایران» و طرف مقابل در سطح استراتژی کسب‌وکار برای خلق ارزش مشترک همکاری می‌کنند.</a:t>
            </a:r>
          </a:p>
        </p:txBody>
      </p:sp>
      <p:sp>
        <p:nvSpPr>
          <p:cNvPr id="21" name="Rectangle: Rounded Corners 20">
            <a:extLst>
              <a:ext uri="{FF2B5EF4-FFF2-40B4-BE49-F238E27FC236}">
                <a16:creationId xmlns:a16="http://schemas.microsoft.com/office/drawing/2014/main" id="{7F46324A-CB91-CB8C-16C5-25AFFA857708}"/>
              </a:ext>
            </a:extLst>
          </p:cNvPr>
          <p:cNvSpPr/>
          <p:nvPr/>
        </p:nvSpPr>
        <p:spPr>
          <a:xfrm>
            <a:off x="4409954" y="2535426"/>
            <a:ext cx="6855808" cy="369732"/>
          </a:xfrm>
          <a:prstGeom prst="roundRect">
            <a:avLst>
              <a:gd name="adj" fmla="val 7208"/>
            </a:avLst>
          </a:prstGeom>
          <a:solidFill>
            <a:srgbClr val="00406C">
              <a:alpha val="1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Calibri"/>
            </a:endParaRPr>
          </a:p>
        </p:txBody>
      </p:sp>
      <p:sp>
        <p:nvSpPr>
          <p:cNvPr id="23" name="TextBox 22">
            <a:extLst>
              <a:ext uri="{FF2B5EF4-FFF2-40B4-BE49-F238E27FC236}">
                <a16:creationId xmlns:a16="http://schemas.microsoft.com/office/drawing/2014/main" id="{FBC31F99-9E6A-481B-7B87-FC088BEB38FF}"/>
              </a:ext>
            </a:extLst>
          </p:cNvPr>
          <p:cNvSpPr txBox="1"/>
          <p:nvPr/>
        </p:nvSpPr>
        <p:spPr>
          <a:xfrm>
            <a:off x="4425222" y="2601898"/>
            <a:ext cx="6840539" cy="219291"/>
          </a:xfrm>
          <a:prstGeom prst="rect">
            <a:avLst/>
          </a:prstGeom>
          <a:noFill/>
        </p:spPr>
        <p:txBody>
          <a:bodyPr wrap="square" lIns="0" tIns="0" rIns="0" bIns="0" anchor="t">
            <a:spAutoFit/>
          </a:bodyPr>
          <a:lstStyle/>
          <a:p>
            <a:pPr marL="0" marR="0" lvl="0" indent="0" algn="ctr" defTabSz="457200" rtl="1" eaLnBrk="1" fontAlgn="auto" latinLnBrk="0" hangingPunct="1">
              <a:lnSpc>
                <a:spcPct val="125000"/>
              </a:lnSpc>
              <a:spcBef>
                <a:spcPts val="0"/>
              </a:spcBef>
              <a:spcAft>
                <a:spcPts val="0"/>
              </a:spcAft>
              <a:buClrTx/>
              <a:buSzTx/>
              <a:buFontTx/>
              <a:buNone/>
              <a:tabLst/>
              <a:defRPr/>
            </a:pPr>
            <a:r>
              <a:rPr kumimoji="0" lang="fa-IR" sz="1200" b="1" i="0" u="none" strike="noStrike" kern="1200" cap="none" spc="0" normalizeH="0" baseline="0" noProof="0" dirty="0">
                <a:ln>
                  <a:noFill/>
                </a:ln>
                <a:solidFill>
                  <a:srgbClr val="15296B"/>
                </a:solidFill>
                <a:effectLst/>
                <a:uLnTx/>
                <a:uFillTx/>
                <a:latin typeface="Yekan Bakh FaNum" pitchFamily="2" charset="-78"/>
                <a:ea typeface="+mn-ea"/>
                <a:cs typeface="Yekan Bakh FaNum" pitchFamily="2" charset="-78"/>
              </a:rPr>
              <a:t>هم‌راستایی راهبردی  ←  برنامه‌ریزی مشترک  ←  سرمایه‌گذاری مشترک  ←  ارزش مشترک</a:t>
            </a:r>
          </a:p>
        </p:txBody>
      </p:sp>
      <p:sp>
        <p:nvSpPr>
          <p:cNvPr id="6" name="TextBox 5">
            <a:extLst>
              <a:ext uri="{FF2B5EF4-FFF2-40B4-BE49-F238E27FC236}">
                <a16:creationId xmlns:a16="http://schemas.microsoft.com/office/drawing/2014/main" id="{F3C87F84-21F9-F2CE-B9CB-07A268D09773}"/>
              </a:ext>
            </a:extLst>
          </p:cNvPr>
          <p:cNvSpPr txBox="1"/>
          <p:nvPr/>
        </p:nvSpPr>
        <p:spPr>
          <a:xfrm>
            <a:off x="7412561" y="1333703"/>
            <a:ext cx="850594" cy="261610"/>
          </a:xfrm>
          <a:prstGeom prst="rect">
            <a:avLst/>
          </a:prstGeom>
          <a:solidFill>
            <a:schemeClr val="bg1"/>
          </a:solidFill>
        </p:spPr>
        <p:txBody>
          <a:bodyPr wrap="square"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تعریف</a:t>
            </a:r>
          </a:p>
        </p:txBody>
      </p:sp>
      <p:sp>
        <p:nvSpPr>
          <p:cNvPr id="29" name="Rectangle: Rounded Corners 28">
            <a:extLst>
              <a:ext uri="{FF2B5EF4-FFF2-40B4-BE49-F238E27FC236}">
                <a16:creationId xmlns:a16="http://schemas.microsoft.com/office/drawing/2014/main" id="{F907C608-658E-CBE7-048C-2C8BC16538C2}"/>
              </a:ext>
            </a:extLst>
          </p:cNvPr>
          <p:cNvSpPr/>
          <p:nvPr/>
        </p:nvSpPr>
        <p:spPr>
          <a:xfrm>
            <a:off x="437288" y="1464508"/>
            <a:ext cx="3545953" cy="2009496"/>
          </a:xfrm>
          <a:prstGeom prst="roundRect">
            <a:avLst>
              <a:gd name="adj" fmla="val 6055"/>
            </a:avLst>
          </a:prstGeom>
          <a:solidFill>
            <a:srgbClr val="EFF3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30" name="Rectangle: Rounded Corners 29">
            <a:extLst>
              <a:ext uri="{FF2B5EF4-FFF2-40B4-BE49-F238E27FC236}">
                <a16:creationId xmlns:a16="http://schemas.microsoft.com/office/drawing/2014/main" id="{4BD2021B-13A6-0267-5E7B-DD039DC24140}"/>
              </a:ext>
            </a:extLst>
          </p:cNvPr>
          <p:cNvSpPr/>
          <p:nvPr/>
        </p:nvSpPr>
        <p:spPr>
          <a:xfrm>
            <a:off x="437288" y="3799008"/>
            <a:ext cx="3545953" cy="2009496"/>
          </a:xfrm>
          <a:prstGeom prst="roundRect">
            <a:avLst>
              <a:gd name="adj" fmla="val 6055"/>
            </a:avLst>
          </a:prstGeom>
          <a:solidFill>
            <a:schemeClr val="bg1">
              <a:lumMod val="75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Calibri"/>
            </a:endParaRPr>
          </a:p>
        </p:txBody>
      </p:sp>
      <p:cxnSp>
        <p:nvCxnSpPr>
          <p:cNvPr id="36" name="Straight Connector 35">
            <a:extLst>
              <a:ext uri="{FF2B5EF4-FFF2-40B4-BE49-F238E27FC236}">
                <a16:creationId xmlns:a16="http://schemas.microsoft.com/office/drawing/2014/main" id="{6BBFB259-B2B9-C912-EE7E-2FF3267F221B}"/>
              </a:ext>
            </a:extLst>
          </p:cNvPr>
          <p:cNvCxnSpPr/>
          <p:nvPr/>
        </p:nvCxnSpPr>
        <p:spPr>
          <a:xfrm>
            <a:off x="4201610" y="1464508"/>
            <a:ext cx="0" cy="4343996"/>
          </a:xfrm>
          <a:prstGeom prst="line">
            <a:avLst/>
          </a:prstGeom>
          <a:ln>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4B2C44B0-3267-3A8A-C98A-D723BB874E33}"/>
              </a:ext>
            </a:extLst>
          </p:cNvPr>
          <p:cNvSpPr txBox="1"/>
          <p:nvPr/>
        </p:nvSpPr>
        <p:spPr>
          <a:xfrm>
            <a:off x="641064" y="1646441"/>
            <a:ext cx="3138401" cy="211596"/>
          </a:xfrm>
          <a:prstGeom prst="rect">
            <a:avLst/>
          </a:prstGeom>
          <a:noFill/>
        </p:spPr>
        <p:txBody>
          <a:bodyPr wrap="square" lIns="0" tIns="0" rIns="0" bIns="0" anchor="t">
            <a:spAutoFit/>
          </a:bodyPr>
          <a:lstStyle/>
          <a:p>
            <a:pPr marL="0" marR="0" lvl="0" indent="0" algn="ctr" defTabSz="457200" rtl="1" eaLnBrk="1" fontAlgn="auto" latinLnBrk="0" hangingPunct="1">
              <a:lnSpc>
                <a:spcPct val="125000"/>
              </a:lnSpc>
              <a:spcBef>
                <a:spcPts val="0"/>
              </a:spcBef>
              <a:spcAft>
                <a:spcPts val="0"/>
              </a:spcAft>
              <a:buClrTx/>
              <a:buSzTx/>
              <a:buFontTx/>
              <a:buNone/>
              <a:tabLst/>
              <a:defRPr/>
            </a:pPr>
            <a:r>
              <a:rPr kumimoji="0" sz="1100" b="1" i="0" u="none" strike="noStrike" kern="1200" cap="none" spc="0" normalizeH="0" baseline="0" noProof="0" dirty="0" err="1">
                <a:ln>
                  <a:noFill/>
                </a:ln>
                <a:solidFill>
                  <a:srgbClr val="15296B"/>
                </a:solidFill>
                <a:effectLst/>
                <a:uLnTx/>
                <a:uFillTx/>
                <a:latin typeface="Yekan Bakh FaNum" pitchFamily="2" charset="-78"/>
                <a:ea typeface="+mn-ea"/>
                <a:cs typeface="Yekan Bakh FaNum" pitchFamily="2" charset="-78"/>
              </a:rPr>
              <a:t>مثال</a:t>
            </a:r>
            <a:r>
              <a:rPr kumimoji="0" sz="1100" b="1" i="0" u="none" strike="noStrike" kern="1200" cap="none" spc="0" normalizeH="0" baseline="0" noProof="0" dirty="0">
                <a:ln>
                  <a:noFill/>
                </a:ln>
                <a:solidFill>
                  <a:srgbClr val="15296B"/>
                </a:solidFill>
                <a:effectLst/>
                <a:uLnTx/>
                <a:uFillTx/>
                <a:latin typeface="Yekan Bakh FaNum" pitchFamily="2" charset="-78"/>
                <a:ea typeface="+mn-ea"/>
                <a:cs typeface="Yekan Bakh FaNum" pitchFamily="2" charset="-78"/>
              </a:rPr>
              <a:t> </a:t>
            </a:r>
            <a:r>
              <a:rPr kumimoji="0" sz="1100" b="1" i="0" u="none" strike="noStrike" kern="1200" cap="none" spc="0" normalizeH="0" baseline="0" noProof="0" dirty="0" err="1">
                <a:ln>
                  <a:noFill/>
                </a:ln>
                <a:solidFill>
                  <a:srgbClr val="15296B"/>
                </a:solidFill>
                <a:effectLst/>
                <a:uLnTx/>
                <a:uFillTx/>
                <a:latin typeface="Yekan Bakh FaNum" pitchFamily="2" charset="-78"/>
                <a:ea typeface="+mn-ea"/>
                <a:cs typeface="Yekan Bakh FaNum" pitchFamily="2" charset="-78"/>
              </a:rPr>
              <a:t>جهانی</a:t>
            </a:r>
            <a:endParaRPr kumimoji="0" sz="1100" b="1" i="0" u="none" strike="noStrike" kern="1200" cap="none" spc="0" normalizeH="0" baseline="0" noProof="0" dirty="0">
              <a:ln>
                <a:noFill/>
              </a:ln>
              <a:solidFill>
                <a:srgbClr val="15296B"/>
              </a:solidFill>
              <a:effectLst/>
              <a:uLnTx/>
              <a:uFillTx/>
              <a:latin typeface="Yekan Bakh FaNum" pitchFamily="2" charset="-78"/>
              <a:ea typeface="+mn-ea"/>
              <a:cs typeface="Yekan Bakh FaNum" pitchFamily="2" charset="-78"/>
            </a:endParaRPr>
          </a:p>
        </p:txBody>
      </p:sp>
      <p:sp>
        <p:nvSpPr>
          <p:cNvPr id="34" name="TextBox 33">
            <a:extLst>
              <a:ext uri="{FF2B5EF4-FFF2-40B4-BE49-F238E27FC236}">
                <a16:creationId xmlns:a16="http://schemas.microsoft.com/office/drawing/2014/main" id="{3FCBD6EF-469B-E923-CFCD-9FB87C7BF4E4}"/>
              </a:ext>
            </a:extLst>
          </p:cNvPr>
          <p:cNvSpPr txBox="1"/>
          <p:nvPr/>
        </p:nvSpPr>
        <p:spPr>
          <a:xfrm>
            <a:off x="641064" y="2181795"/>
            <a:ext cx="3138401" cy="740587"/>
          </a:xfrm>
          <a:prstGeom prst="rect">
            <a:avLst/>
          </a:prstGeom>
          <a:noFill/>
        </p:spPr>
        <p:txBody>
          <a:bodyPr wrap="square" lIns="0" tIns="0" rIns="0" bIns="0" anchor="t">
            <a:spAutoFit/>
          </a:bodyPr>
          <a:lstStyle/>
          <a:p>
            <a:pPr marL="0" marR="0" lvl="0" indent="0" algn="ctr" defTabSz="457200" rtl="1" eaLnBrk="1" fontAlgn="auto" latinLnBrk="0" hangingPunct="1">
              <a:lnSpc>
                <a:spcPct val="150000"/>
              </a:lnSpc>
              <a:spcBef>
                <a:spcPts val="0"/>
              </a:spcBef>
              <a:spcAft>
                <a:spcPts val="0"/>
              </a:spcAft>
              <a:buClrTx/>
              <a:buSzTx/>
              <a:buFontTx/>
              <a:buNone/>
              <a:tabLst/>
              <a:defRPr/>
            </a:pPr>
            <a:r>
              <a:rPr kumimoji="0" lang="fa-IR"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شراکت‌های راهبردی چندساله در سطح جهانی، مانند اتحادهای فناوری میان بازیگران بزرگ (مثلاً مایکروسافت–</a:t>
            </a:r>
            <a:r>
              <a:rPr kumimoji="0" lang="en-US"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OpenAI</a:t>
            </a:r>
            <a:r>
              <a:rPr kumimoji="0" lang="fa-IR"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a:t>
            </a:r>
            <a:endParaRPr kumimoji="0" lang="en-US"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endParaRPr>
          </a:p>
        </p:txBody>
      </p:sp>
      <p:cxnSp>
        <p:nvCxnSpPr>
          <p:cNvPr id="42" name="Straight Connector 41">
            <a:extLst>
              <a:ext uri="{FF2B5EF4-FFF2-40B4-BE49-F238E27FC236}">
                <a16:creationId xmlns:a16="http://schemas.microsoft.com/office/drawing/2014/main" id="{3330B2AA-D33B-EC99-35B2-7EF8C3DDD6BF}"/>
              </a:ext>
            </a:extLst>
          </p:cNvPr>
          <p:cNvCxnSpPr>
            <a:cxnSpLocks/>
          </p:cNvCxnSpPr>
          <p:nvPr/>
        </p:nvCxnSpPr>
        <p:spPr>
          <a:xfrm>
            <a:off x="440900" y="2047348"/>
            <a:ext cx="3547872" cy="0"/>
          </a:xfrm>
          <a:prstGeom prst="line">
            <a:avLst/>
          </a:prstGeom>
          <a:ln w="12700">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0C437811-9E75-5C2C-0693-83A715637065}"/>
              </a:ext>
            </a:extLst>
          </p:cNvPr>
          <p:cNvSpPr txBox="1"/>
          <p:nvPr/>
        </p:nvSpPr>
        <p:spPr>
          <a:xfrm>
            <a:off x="641064" y="3980941"/>
            <a:ext cx="3138401" cy="211596"/>
          </a:xfrm>
          <a:prstGeom prst="rect">
            <a:avLst/>
          </a:prstGeom>
          <a:noFill/>
        </p:spPr>
        <p:txBody>
          <a:bodyPr wrap="square" lIns="0" tIns="0" rIns="0" bIns="0" anchor="t">
            <a:spAutoFit/>
          </a:bodyPr>
          <a:lstStyle/>
          <a:p>
            <a:pPr marL="0" marR="0" lvl="0" indent="0" algn="ctr" defTabSz="457200" rtl="1" eaLnBrk="1" fontAlgn="auto" latinLnBrk="0" hangingPunct="1">
              <a:lnSpc>
                <a:spcPct val="125000"/>
              </a:lnSpc>
              <a:spcBef>
                <a:spcPts val="0"/>
              </a:spcBef>
              <a:spcAft>
                <a:spcPts val="0"/>
              </a:spcAft>
              <a:buClrTx/>
              <a:buSzTx/>
              <a:buFontTx/>
              <a:buNone/>
              <a:tabLst/>
              <a:defRPr/>
            </a:pPr>
            <a:r>
              <a:rPr kumimoji="0" lang="fa-IR" sz="1100" b="1" i="0" u="none" strike="noStrike" kern="1200" cap="none" spc="0" normalizeH="0" baseline="0" noProof="0" dirty="0">
                <a:ln>
                  <a:noFill/>
                </a:ln>
                <a:solidFill>
                  <a:srgbClr val="15296B"/>
                </a:solidFill>
                <a:effectLst/>
                <a:uLnTx/>
                <a:uFillTx/>
                <a:latin typeface="Yekan Bakh FaNum" pitchFamily="2" charset="-78"/>
                <a:ea typeface="+mn-ea"/>
                <a:cs typeface="Yekan Bakh FaNum" pitchFamily="2" charset="-78"/>
              </a:rPr>
              <a:t>بنچمارک اکوسیستم برون‌مرزی</a:t>
            </a:r>
          </a:p>
        </p:txBody>
      </p:sp>
      <p:sp>
        <p:nvSpPr>
          <p:cNvPr id="40" name="TextBox 39">
            <a:extLst>
              <a:ext uri="{FF2B5EF4-FFF2-40B4-BE49-F238E27FC236}">
                <a16:creationId xmlns:a16="http://schemas.microsoft.com/office/drawing/2014/main" id="{BB3788E6-5693-CECB-711D-591044B5E2B3}"/>
              </a:ext>
            </a:extLst>
          </p:cNvPr>
          <p:cNvSpPr txBox="1"/>
          <p:nvPr/>
        </p:nvSpPr>
        <p:spPr>
          <a:xfrm>
            <a:off x="641064" y="4516295"/>
            <a:ext cx="3138401" cy="740587"/>
          </a:xfrm>
          <a:prstGeom prst="rect">
            <a:avLst/>
          </a:prstGeom>
          <a:noFill/>
        </p:spPr>
        <p:txBody>
          <a:bodyPr wrap="square" lIns="0" tIns="0" rIns="0" bIns="0" anchor="t">
            <a:spAutoFit/>
          </a:bodyPr>
          <a:lstStyle/>
          <a:p>
            <a:pPr marL="0" marR="0" lvl="0" indent="0" algn="ctr" defTabSz="457200" rtl="1" eaLnBrk="1" fontAlgn="auto" latinLnBrk="0" hangingPunct="1">
              <a:lnSpc>
                <a:spcPct val="150000"/>
              </a:lnSpc>
              <a:spcBef>
                <a:spcPts val="0"/>
              </a:spcBef>
              <a:spcAft>
                <a:spcPts val="0"/>
              </a:spcAft>
              <a:buClrTx/>
              <a:buSzTx/>
              <a:buFontTx/>
              <a:buNone/>
              <a:tabLst/>
              <a:defRPr/>
            </a:pPr>
            <a:r>
              <a:rPr kumimoji="0" lang="fa-IR"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شراکت راهبردی جهانی </a:t>
            </a:r>
            <a:r>
              <a:rPr kumimoji="0" lang="en-US"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Bain &amp; Company</a:t>
            </a:r>
            <a:r>
              <a:rPr kumimoji="0" lang="fa-IR"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 با</a:t>
            </a:r>
            <a:r>
              <a:rPr kumimoji="0" lang="en-US"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Endeavor </a:t>
            </a:r>
            <a:r>
              <a:rPr kumimoji="0" lang="fa-IR"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برای توسعه کارآفرینی در بازارهای نوظهور — رابطه‌ای نهادی و چندساله، نه پروژه‌ای</a:t>
            </a:r>
          </a:p>
        </p:txBody>
      </p:sp>
      <p:cxnSp>
        <p:nvCxnSpPr>
          <p:cNvPr id="43" name="Straight Connector 42">
            <a:extLst>
              <a:ext uri="{FF2B5EF4-FFF2-40B4-BE49-F238E27FC236}">
                <a16:creationId xmlns:a16="http://schemas.microsoft.com/office/drawing/2014/main" id="{57F442C8-AA30-89FF-5DC2-B2AC368BD105}"/>
              </a:ext>
            </a:extLst>
          </p:cNvPr>
          <p:cNvCxnSpPr>
            <a:cxnSpLocks/>
          </p:cNvCxnSpPr>
          <p:nvPr/>
        </p:nvCxnSpPr>
        <p:spPr>
          <a:xfrm>
            <a:off x="440900" y="4381848"/>
            <a:ext cx="3547872" cy="0"/>
          </a:xfrm>
          <a:prstGeom prst="line">
            <a:avLst/>
          </a:prstGeom>
          <a:ln w="12700">
            <a:solidFill>
              <a:schemeClr val="bg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15627019"/>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FE4DC-45C3-FC15-EE1F-0490F8B2091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E8D24C7-4B7F-D65D-1C60-F8762C3B8B54}"/>
              </a:ext>
            </a:extLst>
          </p:cNvPr>
          <p:cNvSpPr>
            <a:spLocks noGrp="1"/>
          </p:cNvSpPr>
          <p:nvPr>
            <p:ph type="body" sz="quarter" idx="10"/>
          </p:nvPr>
        </p:nvSpPr>
        <p:spPr/>
        <p:txBody>
          <a:bodyPr/>
          <a:lstStyle/>
          <a:p>
            <a:r>
              <a:rPr lang="fa-IR" dirty="0"/>
              <a:t>۳. آرکی‌تایپ رابطه ۷ از ۷ — اکوسیستمی / پلتفرمی </a:t>
            </a:r>
            <a:r>
              <a:rPr lang="en-US" dirty="0"/>
              <a:t>Ecosystem / Platform)</a:t>
            </a:r>
            <a:r>
              <a:rPr lang="fa-IR" dirty="0"/>
              <a:t>)</a:t>
            </a:r>
            <a:endParaRPr lang="en-US" dirty="0"/>
          </a:p>
        </p:txBody>
      </p:sp>
      <p:sp>
        <p:nvSpPr>
          <p:cNvPr id="3" name="Text Placeholder 2">
            <a:extLst>
              <a:ext uri="{FF2B5EF4-FFF2-40B4-BE49-F238E27FC236}">
                <a16:creationId xmlns:a16="http://schemas.microsoft.com/office/drawing/2014/main" id="{9644CCBD-6B7A-09A6-96A9-1FCDDBB0C189}"/>
              </a:ext>
            </a:extLst>
          </p:cNvPr>
          <p:cNvSpPr>
            <a:spLocks noGrp="1"/>
          </p:cNvSpPr>
          <p:nvPr>
            <p:ph type="body" sz="quarter" idx="12"/>
          </p:nvPr>
        </p:nvSpPr>
        <p:spPr/>
        <p:txBody>
          <a:bodyPr/>
          <a:lstStyle/>
          <a:p>
            <a:r>
              <a:rPr lang="fa-IR" dirty="0"/>
              <a:t>اینجا «اکوسیستم فرصت ایران» صرفاً ارائه‌دهنده یا شریک نیست؛ بخشی از شبکه خلق ارزش مشتری است</a:t>
            </a:r>
          </a:p>
        </p:txBody>
      </p:sp>
      <p:sp>
        <p:nvSpPr>
          <p:cNvPr id="19" name="Rectangle: Rounded Corners 18">
            <a:extLst>
              <a:ext uri="{FF2B5EF4-FFF2-40B4-BE49-F238E27FC236}">
                <a16:creationId xmlns:a16="http://schemas.microsoft.com/office/drawing/2014/main" id="{915E08C9-D4A8-F39D-5F24-24258CE44A6C}"/>
              </a:ext>
            </a:extLst>
          </p:cNvPr>
          <p:cNvSpPr/>
          <p:nvPr/>
        </p:nvSpPr>
        <p:spPr>
          <a:xfrm>
            <a:off x="4409954" y="3475131"/>
            <a:ext cx="6855808" cy="1300605"/>
          </a:xfrm>
          <a:prstGeom prst="roundRect">
            <a:avLst>
              <a:gd name="adj" fmla="val 7208"/>
            </a:avLst>
          </a:prstGeom>
          <a:solidFill>
            <a:schemeClr val="bg1">
              <a:lumMod val="95000"/>
              <a:alpha val="7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cxnSp>
        <p:nvCxnSpPr>
          <p:cNvPr id="11" name="Straight Connector 10">
            <a:extLst>
              <a:ext uri="{FF2B5EF4-FFF2-40B4-BE49-F238E27FC236}">
                <a16:creationId xmlns:a16="http://schemas.microsoft.com/office/drawing/2014/main" id="{1775DCE9-A91D-86E9-2753-B8DC80063308}"/>
              </a:ext>
            </a:extLst>
          </p:cNvPr>
          <p:cNvCxnSpPr>
            <a:cxnSpLocks/>
          </p:cNvCxnSpPr>
          <p:nvPr/>
        </p:nvCxnSpPr>
        <p:spPr>
          <a:xfrm>
            <a:off x="4425223" y="3343200"/>
            <a:ext cx="6825271" cy="0"/>
          </a:xfrm>
          <a:prstGeom prst="line">
            <a:avLst/>
          </a:prstGeom>
        </p:spPr>
        <p:style>
          <a:lnRef idx="1">
            <a:schemeClr val="accent2"/>
          </a:lnRef>
          <a:fillRef idx="0">
            <a:schemeClr val="accent2"/>
          </a:fillRef>
          <a:effectRef idx="0">
            <a:schemeClr val="accent2"/>
          </a:effectRef>
          <a:fontRef idx="minor">
            <a:schemeClr val="tx1"/>
          </a:fontRef>
        </p:style>
      </p:cxnSp>
      <p:sp>
        <p:nvSpPr>
          <p:cNvPr id="12" name="TextBox 11">
            <a:extLst>
              <a:ext uri="{FF2B5EF4-FFF2-40B4-BE49-F238E27FC236}">
                <a16:creationId xmlns:a16="http://schemas.microsoft.com/office/drawing/2014/main" id="{522989B6-ACDB-52EA-78DA-7A6AA75753C6}"/>
              </a:ext>
            </a:extLst>
          </p:cNvPr>
          <p:cNvSpPr txBox="1"/>
          <p:nvPr/>
        </p:nvSpPr>
        <p:spPr>
          <a:xfrm>
            <a:off x="5658795" y="3212394"/>
            <a:ext cx="4358127" cy="261610"/>
          </a:xfrm>
          <a:prstGeom prst="rect">
            <a:avLst/>
          </a:prstGeom>
          <a:solidFill>
            <a:schemeClr val="bg1"/>
          </a:solidFill>
        </p:spPr>
        <p:txBody>
          <a:bodyPr wrap="square"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چه زمانی برای اکوسیستم فرصت ایران مناسب است</a:t>
            </a:r>
          </a:p>
        </p:txBody>
      </p:sp>
      <p:sp>
        <p:nvSpPr>
          <p:cNvPr id="13" name="TextBox 12">
            <a:extLst>
              <a:ext uri="{FF2B5EF4-FFF2-40B4-BE49-F238E27FC236}">
                <a16:creationId xmlns:a16="http://schemas.microsoft.com/office/drawing/2014/main" id="{7EC4AD15-83EB-F6D1-D8A0-DE91EAFB5432}"/>
              </a:ext>
            </a:extLst>
          </p:cNvPr>
          <p:cNvSpPr txBox="1"/>
          <p:nvPr/>
        </p:nvSpPr>
        <p:spPr>
          <a:xfrm>
            <a:off x="4648473" y="3702241"/>
            <a:ext cx="6378770" cy="846386"/>
          </a:xfrm>
          <a:prstGeom prst="rect">
            <a:avLst/>
          </a:prstGeom>
          <a:noFill/>
        </p:spPr>
        <p:txBody>
          <a:bodyPr wrap="square" lIns="0" tIns="0" rIns="0" bIns="0" anchor="ctr">
            <a:spAutoFit/>
          </a:bodyPr>
          <a:lstStyle/>
          <a:p>
            <a:pPr marL="285750" marR="0" lvl="0" indent="-285750" algn="justLow" defTabSz="457200" rtl="1" eaLnBrk="1" fontAlgn="auto" latinLnBrk="0" hangingPunct="1">
              <a:lnSpc>
                <a:spcPct val="125000"/>
              </a:lnSpc>
              <a:spcBef>
                <a:spcPts val="0"/>
              </a:spcBef>
              <a:spcAft>
                <a:spcPts val="0"/>
              </a:spcAft>
              <a:buClr>
                <a:srgbClr val="F0BE0F"/>
              </a:buClr>
              <a:buSzTx/>
              <a:buFont typeface="Arial" panose="020B0604020202020204" pitchFamily="34" charset="0"/>
              <a:buChar char="•"/>
              <a:tabLst/>
              <a:defRPr/>
            </a:pPr>
            <a:r>
              <a:rPr kumimoji="0" lang="fa-IR"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راه‌حل مشتری نیازمند چند بازیگر هم‌زمان است</a:t>
            </a:r>
          </a:p>
          <a:p>
            <a:pPr marL="285750" marR="0" lvl="0" indent="-285750" algn="justLow" defTabSz="457200" rtl="1" eaLnBrk="1" fontAlgn="auto" latinLnBrk="0" hangingPunct="1">
              <a:lnSpc>
                <a:spcPct val="125000"/>
              </a:lnSpc>
              <a:spcBef>
                <a:spcPts val="0"/>
              </a:spcBef>
              <a:spcAft>
                <a:spcPts val="0"/>
              </a:spcAft>
              <a:buClr>
                <a:srgbClr val="F0BE0F"/>
              </a:buClr>
              <a:buSzTx/>
              <a:buFont typeface="Arial" panose="020B0604020202020204" pitchFamily="34" charset="0"/>
              <a:buChar char="•"/>
              <a:tabLst/>
              <a:defRPr/>
            </a:pPr>
            <a:r>
              <a:rPr kumimoji="0" lang="fa-IR"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مزیت رقابتی «اکوسیستم فرصت ایران» در هماهنگ‌کردن قابلیت‌های پراکنده است، نه فقط ارائه مستقیم</a:t>
            </a:r>
          </a:p>
          <a:p>
            <a:pPr marL="285750" marR="0" lvl="0" indent="-285750" algn="justLow" defTabSz="457200" rtl="1" eaLnBrk="1" fontAlgn="auto" latinLnBrk="0" hangingPunct="1">
              <a:lnSpc>
                <a:spcPct val="125000"/>
              </a:lnSpc>
              <a:spcBef>
                <a:spcPts val="0"/>
              </a:spcBef>
              <a:spcAft>
                <a:spcPts val="0"/>
              </a:spcAft>
              <a:buClr>
                <a:srgbClr val="F0BE0F"/>
              </a:buClr>
              <a:buSzTx/>
              <a:buFont typeface="Arial" panose="020B0604020202020204" pitchFamily="34" charset="0"/>
              <a:buChar char="•"/>
              <a:tabLst/>
              <a:defRPr/>
            </a:pPr>
            <a:r>
              <a:rPr kumimoji="0" lang="fa-IR"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مشتری مجبور نیست برای حل یک مسئله با چند ارائه‌دهنده مجزا کار کند — این خودِ مزیت رقابتی «اکوسیستم فرصت ایران» است</a:t>
            </a:r>
          </a:p>
        </p:txBody>
      </p:sp>
      <p:sp>
        <p:nvSpPr>
          <p:cNvPr id="20" name="Rectangle: Rounded Corners 19">
            <a:extLst>
              <a:ext uri="{FF2B5EF4-FFF2-40B4-BE49-F238E27FC236}">
                <a16:creationId xmlns:a16="http://schemas.microsoft.com/office/drawing/2014/main" id="{D6A70CB9-C360-6835-75C7-0EBE8F927EB7}"/>
              </a:ext>
            </a:extLst>
          </p:cNvPr>
          <p:cNvSpPr/>
          <p:nvPr/>
        </p:nvSpPr>
        <p:spPr>
          <a:xfrm>
            <a:off x="4409954" y="5350148"/>
            <a:ext cx="6855808" cy="458356"/>
          </a:xfrm>
          <a:prstGeom prst="roundRect">
            <a:avLst>
              <a:gd name="adj" fmla="val 7208"/>
            </a:avLst>
          </a:prstGeom>
          <a:solidFill>
            <a:schemeClr val="bg1">
              <a:lumMod val="95000"/>
              <a:alpha val="7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Calibri"/>
            </a:endParaRPr>
          </a:p>
        </p:txBody>
      </p:sp>
      <p:cxnSp>
        <p:nvCxnSpPr>
          <p:cNvPr id="15" name="Straight Connector 14">
            <a:extLst>
              <a:ext uri="{FF2B5EF4-FFF2-40B4-BE49-F238E27FC236}">
                <a16:creationId xmlns:a16="http://schemas.microsoft.com/office/drawing/2014/main" id="{70CD05C6-18DF-7F4B-10D0-F4EBE2FAF343}"/>
              </a:ext>
            </a:extLst>
          </p:cNvPr>
          <p:cNvCxnSpPr>
            <a:cxnSpLocks/>
          </p:cNvCxnSpPr>
          <p:nvPr/>
        </p:nvCxnSpPr>
        <p:spPr>
          <a:xfrm>
            <a:off x="4425223" y="5213778"/>
            <a:ext cx="6825271" cy="0"/>
          </a:xfrm>
          <a:prstGeom prst="line">
            <a:avLst/>
          </a:prstGeom>
        </p:spPr>
        <p:style>
          <a:lnRef idx="1">
            <a:schemeClr val="accent2"/>
          </a:lnRef>
          <a:fillRef idx="0">
            <a:schemeClr val="accent2"/>
          </a:fillRef>
          <a:effectRef idx="0">
            <a:schemeClr val="accent2"/>
          </a:effectRef>
          <a:fontRef idx="minor">
            <a:schemeClr val="tx1"/>
          </a:fontRef>
        </p:style>
      </p:cxnSp>
      <p:sp>
        <p:nvSpPr>
          <p:cNvPr id="16" name="TextBox 15">
            <a:extLst>
              <a:ext uri="{FF2B5EF4-FFF2-40B4-BE49-F238E27FC236}">
                <a16:creationId xmlns:a16="http://schemas.microsoft.com/office/drawing/2014/main" id="{71AA5331-08DE-C971-2B51-6CA330A7CE8A}"/>
              </a:ext>
            </a:extLst>
          </p:cNvPr>
          <p:cNvSpPr txBox="1"/>
          <p:nvPr/>
        </p:nvSpPr>
        <p:spPr>
          <a:xfrm>
            <a:off x="5155065" y="5082972"/>
            <a:ext cx="5365587" cy="261610"/>
          </a:xfrm>
          <a:prstGeom prst="rect">
            <a:avLst/>
          </a:prstGeom>
          <a:solidFill>
            <a:schemeClr val="bg1"/>
          </a:solidFill>
        </p:spPr>
        <p:txBody>
          <a:bodyPr wrap="square"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نقش «اکوسیستم فرصت ایران»: هماهنگ‌کننده اکوسیستم </a:t>
            </a:r>
            <a:r>
              <a:rPr kumimoji="0" lang="en-US" sz="11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(Ecosystem Orchestrator)</a:t>
            </a:r>
          </a:p>
        </p:txBody>
      </p:sp>
      <p:sp>
        <p:nvSpPr>
          <p:cNvPr id="17" name="TextBox 16">
            <a:extLst>
              <a:ext uri="{FF2B5EF4-FFF2-40B4-BE49-F238E27FC236}">
                <a16:creationId xmlns:a16="http://schemas.microsoft.com/office/drawing/2014/main" id="{8E010AA2-B77B-6751-C361-BCE1D4C6B487}"/>
              </a:ext>
            </a:extLst>
          </p:cNvPr>
          <p:cNvSpPr txBox="1"/>
          <p:nvPr/>
        </p:nvSpPr>
        <p:spPr>
          <a:xfrm>
            <a:off x="4648473" y="5473528"/>
            <a:ext cx="6378770" cy="211596"/>
          </a:xfrm>
          <a:prstGeom prst="rect">
            <a:avLst/>
          </a:prstGeom>
          <a:noFill/>
        </p:spPr>
        <p:txBody>
          <a:bodyPr wrap="square" lIns="0" tIns="0" rIns="0" bIns="0" anchor="t">
            <a:spAutoFit/>
          </a:bodyPr>
          <a:lstStyle/>
          <a:p>
            <a:pPr marL="0" marR="0" lvl="0" indent="0" algn="ctr" defTabSz="457200" rtl="1" eaLnBrk="1" fontAlgn="auto" latinLnBrk="0" hangingPunct="1">
              <a:lnSpc>
                <a:spcPct val="125000"/>
              </a:lnSpc>
              <a:spcBef>
                <a:spcPts val="0"/>
              </a:spcBef>
              <a:spcAft>
                <a:spcPts val="0"/>
              </a:spcAft>
              <a:buClrTx/>
              <a:buSzTx/>
              <a:buFontTx/>
              <a:buNone/>
              <a:tabLst/>
              <a:defRPr/>
            </a:pPr>
            <a:r>
              <a:rPr kumimoji="0" lang="fa-IR"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مدل تعامل:  شبکه چندبازیگره تحت هماهنگی «اکوسیستم فرصت ایران»</a:t>
            </a:r>
          </a:p>
        </p:txBody>
      </p:sp>
      <p:cxnSp>
        <p:nvCxnSpPr>
          <p:cNvPr id="5" name="Straight Connector 4">
            <a:extLst>
              <a:ext uri="{FF2B5EF4-FFF2-40B4-BE49-F238E27FC236}">
                <a16:creationId xmlns:a16="http://schemas.microsoft.com/office/drawing/2014/main" id="{724AD8A8-4DE2-2DA4-9EF2-8018167BD448}"/>
              </a:ext>
            </a:extLst>
          </p:cNvPr>
          <p:cNvCxnSpPr>
            <a:cxnSpLocks/>
          </p:cNvCxnSpPr>
          <p:nvPr/>
        </p:nvCxnSpPr>
        <p:spPr>
          <a:xfrm>
            <a:off x="4425223" y="1464508"/>
            <a:ext cx="6825271" cy="0"/>
          </a:xfrm>
          <a:prstGeom prst="line">
            <a:avLst/>
          </a:prstGeom>
        </p:spPr>
        <p:style>
          <a:lnRef idx="1">
            <a:schemeClr val="accent2"/>
          </a:lnRef>
          <a:fillRef idx="0">
            <a:schemeClr val="accent2"/>
          </a:fillRef>
          <a:effectRef idx="0">
            <a:schemeClr val="accent2"/>
          </a:effectRef>
          <a:fontRef idx="minor">
            <a:schemeClr val="tx1"/>
          </a:fontRef>
        </p:style>
      </p:cxnSp>
      <p:sp>
        <p:nvSpPr>
          <p:cNvPr id="18" name="Rectangle: Rounded Corners 17">
            <a:extLst>
              <a:ext uri="{FF2B5EF4-FFF2-40B4-BE49-F238E27FC236}">
                <a16:creationId xmlns:a16="http://schemas.microsoft.com/office/drawing/2014/main" id="{D00DAB6B-7EDB-A151-D705-16706A070D59}"/>
              </a:ext>
            </a:extLst>
          </p:cNvPr>
          <p:cNvSpPr/>
          <p:nvPr/>
        </p:nvSpPr>
        <p:spPr>
          <a:xfrm>
            <a:off x="4409954" y="1600261"/>
            <a:ext cx="6855808" cy="884683"/>
          </a:xfrm>
          <a:prstGeom prst="roundRect">
            <a:avLst>
              <a:gd name="adj" fmla="val 7208"/>
            </a:avLst>
          </a:prstGeom>
          <a:solidFill>
            <a:schemeClr val="bg1">
              <a:lumMod val="95000"/>
              <a:alpha val="7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Calibri"/>
            </a:endParaRPr>
          </a:p>
        </p:txBody>
      </p:sp>
      <p:sp>
        <p:nvSpPr>
          <p:cNvPr id="8" name="TextBox 7">
            <a:extLst>
              <a:ext uri="{FF2B5EF4-FFF2-40B4-BE49-F238E27FC236}">
                <a16:creationId xmlns:a16="http://schemas.microsoft.com/office/drawing/2014/main" id="{03500440-1EA0-6491-B482-2DB08167A949}"/>
              </a:ext>
            </a:extLst>
          </p:cNvPr>
          <p:cNvSpPr txBox="1"/>
          <p:nvPr/>
        </p:nvSpPr>
        <p:spPr>
          <a:xfrm>
            <a:off x="4648473" y="1831006"/>
            <a:ext cx="6378770" cy="423193"/>
          </a:xfrm>
          <a:prstGeom prst="rect">
            <a:avLst/>
          </a:prstGeom>
          <a:noFill/>
        </p:spPr>
        <p:txBody>
          <a:bodyPr wrap="square" lIns="0" tIns="0" rIns="0" bIns="0" anchor="ctr">
            <a:spAutoFit/>
          </a:bodyPr>
          <a:lstStyle/>
          <a:p>
            <a:pPr marL="0" marR="0" lvl="0" indent="0" algn="justLow" defTabSz="457200" rtl="1" eaLnBrk="1" fontAlgn="auto" latinLnBrk="0" hangingPunct="1">
              <a:lnSpc>
                <a:spcPct val="125000"/>
              </a:lnSpc>
              <a:spcBef>
                <a:spcPts val="0"/>
              </a:spcBef>
              <a:spcAft>
                <a:spcPts val="0"/>
              </a:spcAft>
              <a:buClrTx/>
              <a:buSzTx/>
              <a:buFontTx/>
              <a:buNone/>
              <a:tabLst/>
              <a:defRPr/>
            </a:pPr>
            <a:r>
              <a:rPr kumimoji="0" lang="fa-IR"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«اکوسیستم فرصت ایران» مشتری را به شبکه‌ای از شرکا و ارائه‌دهندگان خدمات متصل و هماهنگ می‌کند؛ نقش آن ترکیب قابلیت‌های چندبازیگر است.</a:t>
            </a:r>
          </a:p>
        </p:txBody>
      </p:sp>
      <p:sp>
        <p:nvSpPr>
          <p:cNvPr id="21" name="Rectangle: Rounded Corners 20">
            <a:extLst>
              <a:ext uri="{FF2B5EF4-FFF2-40B4-BE49-F238E27FC236}">
                <a16:creationId xmlns:a16="http://schemas.microsoft.com/office/drawing/2014/main" id="{D9F99DAC-8528-25C6-AB45-9D04DAACDDE6}"/>
              </a:ext>
            </a:extLst>
          </p:cNvPr>
          <p:cNvSpPr/>
          <p:nvPr/>
        </p:nvSpPr>
        <p:spPr>
          <a:xfrm>
            <a:off x="4409954" y="2535426"/>
            <a:ext cx="6855808" cy="369732"/>
          </a:xfrm>
          <a:prstGeom prst="roundRect">
            <a:avLst>
              <a:gd name="adj" fmla="val 7208"/>
            </a:avLst>
          </a:prstGeom>
          <a:solidFill>
            <a:srgbClr val="00406C">
              <a:alpha val="1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Calibri"/>
            </a:endParaRPr>
          </a:p>
        </p:txBody>
      </p:sp>
      <p:sp>
        <p:nvSpPr>
          <p:cNvPr id="23" name="TextBox 22">
            <a:extLst>
              <a:ext uri="{FF2B5EF4-FFF2-40B4-BE49-F238E27FC236}">
                <a16:creationId xmlns:a16="http://schemas.microsoft.com/office/drawing/2014/main" id="{67ABE446-9A57-416C-9654-B172B32882FA}"/>
              </a:ext>
            </a:extLst>
          </p:cNvPr>
          <p:cNvSpPr txBox="1"/>
          <p:nvPr/>
        </p:nvSpPr>
        <p:spPr>
          <a:xfrm>
            <a:off x="4425222" y="2601898"/>
            <a:ext cx="6840539" cy="219291"/>
          </a:xfrm>
          <a:prstGeom prst="rect">
            <a:avLst/>
          </a:prstGeom>
          <a:noFill/>
        </p:spPr>
        <p:txBody>
          <a:bodyPr wrap="square" lIns="0" tIns="0" rIns="0" bIns="0" anchor="t">
            <a:spAutoFit/>
          </a:bodyPr>
          <a:lstStyle/>
          <a:p>
            <a:pPr marL="0" marR="0" lvl="0" indent="0" algn="ctr" defTabSz="457200" rtl="1" eaLnBrk="1" fontAlgn="auto" latinLnBrk="0" hangingPunct="1">
              <a:lnSpc>
                <a:spcPct val="125000"/>
              </a:lnSpc>
              <a:spcBef>
                <a:spcPts val="0"/>
              </a:spcBef>
              <a:spcAft>
                <a:spcPts val="0"/>
              </a:spcAft>
              <a:buClrTx/>
              <a:buSzTx/>
              <a:buFontTx/>
              <a:buNone/>
              <a:tabLst/>
              <a:defRPr/>
            </a:pPr>
            <a:r>
              <a:rPr kumimoji="0" lang="fa-IR" sz="1200" b="1" i="0" u="none" strike="noStrike" kern="1200" cap="none" spc="0" normalizeH="0" baseline="0" noProof="0" dirty="0">
                <a:ln>
                  <a:noFill/>
                </a:ln>
                <a:solidFill>
                  <a:srgbClr val="15296B"/>
                </a:solidFill>
                <a:effectLst/>
                <a:uLnTx/>
                <a:uFillTx/>
                <a:latin typeface="Yekan Bakh FaNum" pitchFamily="2" charset="-78"/>
                <a:ea typeface="+mn-ea"/>
                <a:cs typeface="Yekan Bakh FaNum" pitchFamily="2" charset="-78"/>
              </a:rPr>
              <a:t>مشتری  ↔  «اکوسیستم فرصت ایران» ↔  شرکا  ↔  ارائه‌دهندگان خدمات  ↔  سایر بازیگران اکوسیستم</a:t>
            </a:r>
          </a:p>
        </p:txBody>
      </p:sp>
      <p:sp>
        <p:nvSpPr>
          <p:cNvPr id="6" name="TextBox 5">
            <a:extLst>
              <a:ext uri="{FF2B5EF4-FFF2-40B4-BE49-F238E27FC236}">
                <a16:creationId xmlns:a16="http://schemas.microsoft.com/office/drawing/2014/main" id="{3EA36D93-7AB1-D5A5-C183-10C9BECA7AB8}"/>
              </a:ext>
            </a:extLst>
          </p:cNvPr>
          <p:cNvSpPr txBox="1"/>
          <p:nvPr/>
        </p:nvSpPr>
        <p:spPr>
          <a:xfrm>
            <a:off x="7412561" y="1333703"/>
            <a:ext cx="850594" cy="261610"/>
          </a:xfrm>
          <a:prstGeom prst="rect">
            <a:avLst/>
          </a:prstGeom>
          <a:solidFill>
            <a:schemeClr val="bg1"/>
          </a:solidFill>
        </p:spPr>
        <p:txBody>
          <a:bodyPr wrap="square"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1" i="0" u="none" strike="noStrike" kern="1200" cap="none" spc="0" normalizeH="0" baseline="0" noProof="0" dirty="0">
                <a:ln>
                  <a:noFill/>
                </a:ln>
                <a:solidFill>
                  <a:srgbClr val="1E2761"/>
                </a:solidFill>
                <a:effectLst/>
                <a:uLnTx/>
                <a:uFillTx/>
                <a:latin typeface="Yekan Bakh" pitchFamily="2" charset="-78"/>
                <a:ea typeface="Yekan Bakh" pitchFamily="2" charset="-78"/>
                <a:cs typeface="Yekan Bakh" pitchFamily="2" charset="-78"/>
              </a:rPr>
              <a:t>تعریف</a:t>
            </a:r>
          </a:p>
        </p:txBody>
      </p:sp>
      <p:sp>
        <p:nvSpPr>
          <p:cNvPr id="29" name="Rectangle: Rounded Corners 28">
            <a:extLst>
              <a:ext uri="{FF2B5EF4-FFF2-40B4-BE49-F238E27FC236}">
                <a16:creationId xmlns:a16="http://schemas.microsoft.com/office/drawing/2014/main" id="{C1E72910-00FB-CCA1-F37B-6D5B47DA4A1B}"/>
              </a:ext>
            </a:extLst>
          </p:cNvPr>
          <p:cNvSpPr/>
          <p:nvPr/>
        </p:nvSpPr>
        <p:spPr>
          <a:xfrm>
            <a:off x="437288" y="1464508"/>
            <a:ext cx="3545953" cy="2009496"/>
          </a:xfrm>
          <a:prstGeom prst="roundRect">
            <a:avLst>
              <a:gd name="adj" fmla="val 6055"/>
            </a:avLst>
          </a:prstGeom>
          <a:solidFill>
            <a:srgbClr val="EFF3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30" name="Rectangle: Rounded Corners 29">
            <a:extLst>
              <a:ext uri="{FF2B5EF4-FFF2-40B4-BE49-F238E27FC236}">
                <a16:creationId xmlns:a16="http://schemas.microsoft.com/office/drawing/2014/main" id="{28D43C30-BB6A-2C20-D636-7FCF82801344}"/>
              </a:ext>
            </a:extLst>
          </p:cNvPr>
          <p:cNvSpPr/>
          <p:nvPr/>
        </p:nvSpPr>
        <p:spPr>
          <a:xfrm>
            <a:off x="437288" y="3799008"/>
            <a:ext cx="3545953" cy="2009496"/>
          </a:xfrm>
          <a:prstGeom prst="roundRect">
            <a:avLst>
              <a:gd name="adj" fmla="val 6055"/>
            </a:avLst>
          </a:prstGeom>
          <a:solidFill>
            <a:schemeClr val="bg1">
              <a:lumMod val="75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Calibri"/>
            </a:endParaRPr>
          </a:p>
        </p:txBody>
      </p:sp>
      <p:cxnSp>
        <p:nvCxnSpPr>
          <p:cNvPr id="36" name="Straight Connector 35">
            <a:extLst>
              <a:ext uri="{FF2B5EF4-FFF2-40B4-BE49-F238E27FC236}">
                <a16:creationId xmlns:a16="http://schemas.microsoft.com/office/drawing/2014/main" id="{9287F824-DEDB-9006-EDA7-6CE849D9F401}"/>
              </a:ext>
            </a:extLst>
          </p:cNvPr>
          <p:cNvCxnSpPr/>
          <p:nvPr/>
        </p:nvCxnSpPr>
        <p:spPr>
          <a:xfrm>
            <a:off x="4201610" y="1464508"/>
            <a:ext cx="0" cy="4343996"/>
          </a:xfrm>
          <a:prstGeom prst="line">
            <a:avLst/>
          </a:prstGeom>
          <a:ln>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D715E4A9-D979-77FE-87CA-6A01E43F6D4B}"/>
              </a:ext>
            </a:extLst>
          </p:cNvPr>
          <p:cNvSpPr txBox="1"/>
          <p:nvPr/>
        </p:nvSpPr>
        <p:spPr>
          <a:xfrm>
            <a:off x="641064" y="1646441"/>
            <a:ext cx="3138401" cy="211596"/>
          </a:xfrm>
          <a:prstGeom prst="rect">
            <a:avLst/>
          </a:prstGeom>
          <a:noFill/>
        </p:spPr>
        <p:txBody>
          <a:bodyPr wrap="square" lIns="0" tIns="0" rIns="0" bIns="0" anchor="t">
            <a:spAutoFit/>
          </a:bodyPr>
          <a:lstStyle/>
          <a:p>
            <a:pPr marL="0" marR="0" lvl="0" indent="0" algn="ctr" defTabSz="457200" rtl="1" eaLnBrk="1" fontAlgn="auto" latinLnBrk="0" hangingPunct="1">
              <a:lnSpc>
                <a:spcPct val="125000"/>
              </a:lnSpc>
              <a:spcBef>
                <a:spcPts val="0"/>
              </a:spcBef>
              <a:spcAft>
                <a:spcPts val="0"/>
              </a:spcAft>
              <a:buClrTx/>
              <a:buSzTx/>
              <a:buFontTx/>
              <a:buNone/>
              <a:tabLst/>
              <a:defRPr/>
            </a:pPr>
            <a:r>
              <a:rPr kumimoji="0" sz="1100" b="1" i="0" u="none" strike="noStrike" kern="1200" cap="none" spc="0" normalizeH="0" baseline="0" noProof="0" dirty="0" err="1">
                <a:ln>
                  <a:noFill/>
                </a:ln>
                <a:solidFill>
                  <a:srgbClr val="15296B"/>
                </a:solidFill>
                <a:effectLst/>
                <a:uLnTx/>
                <a:uFillTx/>
                <a:latin typeface="Yekan Bakh FaNum" pitchFamily="2" charset="-78"/>
                <a:ea typeface="+mn-ea"/>
                <a:cs typeface="Yekan Bakh FaNum" pitchFamily="2" charset="-78"/>
              </a:rPr>
              <a:t>مثال</a:t>
            </a:r>
            <a:r>
              <a:rPr kumimoji="0" sz="1100" b="1" i="0" u="none" strike="noStrike" kern="1200" cap="none" spc="0" normalizeH="0" baseline="0" noProof="0" dirty="0">
                <a:ln>
                  <a:noFill/>
                </a:ln>
                <a:solidFill>
                  <a:srgbClr val="15296B"/>
                </a:solidFill>
                <a:effectLst/>
                <a:uLnTx/>
                <a:uFillTx/>
                <a:latin typeface="Yekan Bakh FaNum" pitchFamily="2" charset="-78"/>
                <a:ea typeface="+mn-ea"/>
                <a:cs typeface="Yekan Bakh FaNum" pitchFamily="2" charset="-78"/>
              </a:rPr>
              <a:t> </a:t>
            </a:r>
            <a:r>
              <a:rPr kumimoji="0" sz="1100" b="1" i="0" u="none" strike="noStrike" kern="1200" cap="none" spc="0" normalizeH="0" baseline="0" noProof="0" dirty="0" err="1">
                <a:ln>
                  <a:noFill/>
                </a:ln>
                <a:solidFill>
                  <a:srgbClr val="15296B"/>
                </a:solidFill>
                <a:effectLst/>
                <a:uLnTx/>
                <a:uFillTx/>
                <a:latin typeface="Yekan Bakh FaNum" pitchFamily="2" charset="-78"/>
                <a:ea typeface="+mn-ea"/>
                <a:cs typeface="Yekan Bakh FaNum" pitchFamily="2" charset="-78"/>
              </a:rPr>
              <a:t>جهانی</a:t>
            </a:r>
            <a:endParaRPr kumimoji="0" sz="1100" b="1" i="0" u="none" strike="noStrike" kern="1200" cap="none" spc="0" normalizeH="0" baseline="0" noProof="0" dirty="0">
              <a:ln>
                <a:noFill/>
              </a:ln>
              <a:solidFill>
                <a:srgbClr val="15296B"/>
              </a:solidFill>
              <a:effectLst/>
              <a:uLnTx/>
              <a:uFillTx/>
              <a:latin typeface="Yekan Bakh FaNum" pitchFamily="2" charset="-78"/>
              <a:ea typeface="+mn-ea"/>
              <a:cs typeface="Yekan Bakh FaNum" pitchFamily="2" charset="-78"/>
            </a:endParaRPr>
          </a:p>
        </p:txBody>
      </p:sp>
      <p:sp>
        <p:nvSpPr>
          <p:cNvPr id="34" name="TextBox 33">
            <a:extLst>
              <a:ext uri="{FF2B5EF4-FFF2-40B4-BE49-F238E27FC236}">
                <a16:creationId xmlns:a16="http://schemas.microsoft.com/office/drawing/2014/main" id="{5171CEB7-C47C-DD63-3D20-C5CC494564D5}"/>
              </a:ext>
            </a:extLst>
          </p:cNvPr>
          <p:cNvSpPr txBox="1"/>
          <p:nvPr/>
        </p:nvSpPr>
        <p:spPr>
          <a:xfrm>
            <a:off x="641064" y="2181795"/>
            <a:ext cx="3138401" cy="740587"/>
          </a:xfrm>
          <a:prstGeom prst="rect">
            <a:avLst/>
          </a:prstGeom>
          <a:noFill/>
        </p:spPr>
        <p:txBody>
          <a:bodyPr wrap="square" lIns="0" tIns="0" rIns="0" bIns="0" anchor="t">
            <a:spAutoFit/>
          </a:bodyPr>
          <a:lstStyle/>
          <a:p>
            <a:pPr marL="0" marR="0" lvl="0" indent="0" algn="ctr" defTabSz="457200" rtl="1" eaLnBrk="1" fontAlgn="auto" latinLnBrk="0" hangingPunct="1">
              <a:lnSpc>
                <a:spcPct val="150000"/>
              </a:lnSpc>
              <a:spcBef>
                <a:spcPts val="0"/>
              </a:spcBef>
              <a:spcAft>
                <a:spcPts val="0"/>
              </a:spcAft>
              <a:buClrTx/>
              <a:buSzTx/>
              <a:buFontTx/>
              <a:buNone/>
              <a:tabLst/>
              <a:defRPr/>
            </a:pPr>
            <a:r>
              <a:rPr kumimoji="0" lang="fa-IR"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فروشگاه‌های اپلیکیشن پلتفرمی مانند</a:t>
            </a:r>
            <a:r>
              <a:rPr kumimoji="0" lang="en-US"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Salesforce AppExchange </a:t>
            </a:r>
            <a:r>
              <a:rPr kumimoji="0" lang="fa-IR"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 یا </a:t>
            </a:r>
            <a:r>
              <a:rPr kumimoji="0" lang="en-US"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Shopify App Store —</a:t>
            </a:r>
            <a:r>
              <a:rPr kumimoji="0" lang="fa-IR"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 هماهنگی صدها ارائه‌دهنده مکمل حول یک پلتفرم</a:t>
            </a:r>
          </a:p>
        </p:txBody>
      </p:sp>
      <p:cxnSp>
        <p:nvCxnSpPr>
          <p:cNvPr id="42" name="Straight Connector 41">
            <a:extLst>
              <a:ext uri="{FF2B5EF4-FFF2-40B4-BE49-F238E27FC236}">
                <a16:creationId xmlns:a16="http://schemas.microsoft.com/office/drawing/2014/main" id="{B52AA899-31FD-5E20-E1B5-FA176E17F2AA}"/>
              </a:ext>
            </a:extLst>
          </p:cNvPr>
          <p:cNvCxnSpPr>
            <a:cxnSpLocks/>
          </p:cNvCxnSpPr>
          <p:nvPr/>
        </p:nvCxnSpPr>
        <p:spPr>
          <a:xfrm>
            <a:off x="440900" y="2047348"/>
            <a:ext cx="3547872" cy="0"/>
          </a:xfrm>
          <a:prstGeom prst="line">
            <a:avLst/>
          </a:prstGeom>
          <a:ln w="12700">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2BEE4326-04E6-9CF5-52A1-247B9376B756}"/>
              </a:ext>
            </a:extLst>
          </p:cNvPr>
          <p:cNvSpPr txBox="1"/>
          <p:nvPr/>
        </p:nvSpPr>
        <p:spPr>
          <a:xfrm>
            <a:off x="641064" y="3980941"/>
            <a:ext cx="3138401" cy="211596"/>
          </a:xfrm>
          <a:prstGeom prst="rect">
            <a:avLst/>
          </a:prstGeom>
          <a:noFill/>
        </p:spPr>
        <p:txBody>
          <a:bodyPr wrap="square" lIns="0" tIns="0" rIns="0" bIns="0" anchor="t">
            <a:spAutoFit/>
          </a:bodyPr>
          <a:lstStyle/>
          <a:p>
            <a:pPr marL="0" marR="0" lvl="0" indent="0" algn="ctr" defTabSz="457200" rtl="1" eaLnBrk="1" fontAlgn="auto" latinLnBrk="0" hangingPunct="1">
              <a:lnSpc>
                <a:spcPct val="125000"/>
              </a:lnSpc>
              <a:spcBef>
                <a:spcPts val="0"/>
              </a:spcBef>
              <a:spcAft>
                <a:spcPts val="0"/>
              </a:spcAft>
              <a:buClrTx/>
              <a:buSzTx/>
              <a:buFontTx/>
              <a:buNone/>
              <a:tabLst/>
              <a:defRPr/>
            </a:pPr>
            <a:r>
              <a:rPr kumimoji="0" lang="fa-IR" sz="1100" b="1" i="0" u="none" strike="noStrike" kern="1200" cap="none" spc="0" normalizeH="0" baseline="0" noProof="0" dirty="0">
                <a:ln>
                  <a:noFill/>
                </a:ln>
                <a:solidFill>
                  <a:srgbClr val="15296B"/>
                </a:solidFill>
                <a:effectLst/>
                <a:uLnTx/>
                <a:uFillTx/>
                <a:latin typeface="Yekan Bakh FaNum" pitchFamily="2" charset="-78"/>
                <a:ea typeface="+mn-ea"/>
                <a:cs typeface="Yekan Bakh FaNum" pitchFamily="2" charset="-78"/>
              </a:rPr>
              <a:t>بنچمارک اکوسیستم برون‌مرزی</a:t>
            </a:r>
          </a:p>
        </p:txBody>
      </p:sp>
      <p:sp>
        <p:nvSpPr>
          <p:cNvPr id="40" name="TextBox 39">
            <a:extLst>
              <a:ext uri="{FF2B5EF4-FFF2-40B4-BE49-F238E27FC236}">
                <a16:creationId xmlns:a16="http://schemas.microsoft.com/office/drawing/2014/main" id="{BC5B8702-1C2A-B9B9-A2C7-1BB1BE9AB370}"/>
              </a:ext>
            </a:extLst>
          </p:cNvPr>
          <p:cNvSpPr txBox="1"/>
          <p:nvPr/>
        </p:nvSpPr>
        <p:spPr>
          <a:xfrm>
            <a:off x="641064" y="4516295"/>
            <a:ext cx="3138401" cy="994503"/>
          </a:xfrm>
          <a:prstGeom prst="rect">
            <a:avLst/>
          </a:prstGeom>
          <a:noFill/>
        </p:spPr>
        <p:txBody>
          <a:bodyPr wrap="square" lIns="0" tIns="0" rIns="0" bIns="0" anchor="t">
            <a:spAutoFit/>
          </a:bodyPr>
          <a:lstStyle/>
          <a:p>
            <a:pPr marL="0" marR="0" lvl="0" indent="0" algn="ctr" defTabSz="457200" rtl="1" eaLnBrk="1" fontAlgn="auto" latinLnBrk="0" hangingPunct="1">
              <a:lnSpc>
                <a:spcPct val="150000"/>
              </a:lnSpc>
              <a:spcBef>
                <a:spcPts val="0"/>
              </a:spcBef>
              <a:spcAft>
                <a:spcPts val="0"/>
              </a:spcAft>
              <a:buClrTx/>
              <a:buSzTx/>
              <a:buFontTx/>
              <a:buNone/>
              <a:tabLst/>
              <a:defRPr/>
            </a:pPr>
            <a:r>
              <a:rPr kumimoji="0" lang="fa-IR"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شبکه </a:t>
            </a:r>
            <a:r>
              <a:rPr kumimoji="0" lang="en-US"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Enterprise Europe Network — </a:t>
            </a:r>
            <a:r>
              <a:rPr kumimoji="0" lang="fa-IR"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 بیش از ۵۶۰ سازمان عضو در حدود ۶۰ کشور که به‌صورت هماهنگ خدمات یکدیگر را برای بین‌المللی‌سازی </a:t>
            </a:r>
            <a:r>
              <a:rPr kumimoji="0" lang="en-US"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SME</a:t>
            </a:r>
            <a:r>
              <a:rPr kumimoji="0" lang="fa-IR" sz="1100" b="0" i="0" u="none" strike="noStrike" kern="1200" cap="none" spc="0" normalizeH="0" baseline="0" noProof="0" dirty="0">
                <a:ln>
                  <a:noFill/>
                </a:ln>
                <a:solidFill>
                  <a:prstClr val="black">
                    <a:lumMod val="75000"/>
                    <a:lumOff val="25000"/>
                  </a:prstClr>
                </a:solidFill>
                <a:effectLst/>
                <a:uLnTx/>
                <a:uFillTx/>
                <a:latin typeface="Yekan Bakh FaNum" pitchFamily="2" charset="-78"/>
                <a:ea typeface="+mn-ea"/>
                <a:cs typeface="Yekan Bakh FaNum" pitchFamily="2" charset="-78"/>
              </a:rPr>
              <a:t>ها ترکیب می‌کنند</a:t>
            </a:r>
          </a:p>
        </p:txBody>
      </p:sp>
      <p:cxnSp>
        <p:nvCxnSpPr>
          <p:cNvPr id="43" name="Straight Connector 42">
            <a:extLst>
              <a:ext uri="{FF2B5EF4-FFF2-40B4-BE49-F238E27FC236}">
                <a16:creationId xmlns:a16="http://schemas.microsoft.com/office/drawing/2014/main" id="{52B1E2FE-F245-4DD9-ED78-52B36215BA40}"/>
              </a:ext>
            </a:extLst>
          </p:cNvPr>
          <p:cNvCxnSpPr>
            <a:cxnSpLocks/>
          </p:cNvCxnSpPr>
          <p:nvPr/>
        </p:nvCxnSpPr>
        <p:spPr>
          <a:xfrm>
            <a:off x="440900" y="4381848"/>
            <a:ext cx="3547872" cy="0"/>
          </a:xfrm>
          <a:prstGeom prst="line">
            <a:avLst/>
          </a:prstGeom>
          <a:ln w="12700">
            <a:solidFill>
              <a:schemeClr val="bg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80416497"/>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57779F-E4E3-2BB8-E769-E96F8ECFA9D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0885748-0EEF-C6A6-3DE1-2B0B3F5FED27}"/>
              </a:ext>
            </a:extLst>
          </p:cNvPr>
          <p:cNvSpPr>
            <a:spLocks noGrp="1"/>
          </p:cNvSpPr>
          <p:nvPr>
            <p:ph type="body" sz="quarter" idx="10"/>
          </p:nvPr>
        </p:nvSpPr>
        <p:spPr/>
        <p:txBody>
          <a:bodyPr/>
          <a:lstStyle/>
          <a:p>
            <a:r>
              <a:rPr lang="fa-IR" dirty="0"/>
              <a:t>۴. خلاصه</a:t>
            </a:r>
            <a:endParaRPr lang="en-GB" dirty="0"/>
          </a:p>
        </p:txBody>
      </p:sp>
      <p:sp>
        <p:nvSpPr>
          <p:cNvPr id="3" name="Text Placeholder 2">
            <a:extLst>
              <a:ext uri="{FF2B5EF4-FFF2-40B4-BE49-F238E27FC236}">
                <a16:creationId xmlns:a16="http://schemas.microsoft.com/office/drawing/2014/main" id="{EC529917-9CEC-DC6C-A8FF-4689090B552A}"/>
              </a:ext>
            </a:extLst>
          </p:cNvPr>
          <p:cNvSpPr>
            <a:spLocks noGrp="1"/>
          </p:cNvSpPr>
          <p:nvPr>
            <p:ph type="body" sz="quarter" idx="12"/>
          </p:nvPr>
        </p:nvSpPr>
        <p:spPr/>
        <p:txBody>
          <a:bodyPr/>
          <a:lstStyle/>
          <a:p>
            <a:r>
              <a:rPr lang="fa-IR" dirty="0"/>
              <a:t>هفت آرکی‌تایپ، یک طیف واحد از تعامل حداقلی تا مشارکت کامل — نه نردبان توالی</a:t>
            </a:r>
          </a:p>
        </p:txBody>
      </p:sp>
      <p:graphicFrame>
        <p:nvGraphicFramePr>
          <p:cNvPr id="5" name="Table 4">
            <a:extLst>
              <a:ext uri="{FF2B5EF4-FFF2-40B4-BE49-F238E27FC236}">
                <a16:creationId xmlns:a16="http://schemas.microsoft.com/office/drawing/2014/main" id="{BF4FE2A8-FD7E-F2CF-567F-AE16729A15EF}"/>
              </a:ext>
            </a:extLst>
          </p:cNvPr>
          <p:cNvGraphicFramePr>
            <a:graphicFrameLocks noGrp="1"/>
          </p:cNvGraphicFramePr>
          <p:nvPr/>
        </p:nvGraphicFramePr>
        <p:xfrm>
          <a:off x="555629" y="1508760"/>
          <a:ext cx="10687944" cy="4006216"/>
        </p:xfrm>
        <a:graphic>
          <a:graphicData uri="http://schemas.openxmlformats.org/drawingml/2006/table">
            <a:tbl>
              <a:tblPr firstRow="1" bandRow="1">
                <a:tableStyleId>{5C22544A-7EE6-4342-B048-85BDC9FD1C3A}</a:tableStyleId>
              </a:tblPr>
              <a:tblGrid>
                <a:gridCol w="2863432">
                  <a:extLst>
                    <a:ext uri="{9D8B030D-6E8A-4147-A177-3AD203B41FA5}">
                      <a16:colId xmlns:a16="http://schemas.microsoft.com/office/drawing/2014/main" val="20000"/>
                    </a:ext>
                  </a:extLst>
                </a:gridCol>
                <a:gridCol w="2206487">
                  <a:extLst>
                    <a:ext uri="{9D8B030D-6E8A-4147-A177-3AD203B41FA5}">
                      <a16:colId xmlns:a16="http://schemas.microsoft.com/office/drawing/2014/main" val="20001"/>
                    </a:ext>
                  </a:extLst>
                </a:gridCol>
                <a:gridCol w="3091069">
                  <a:extLst>
                    <a:ext uri="{9D8B030D-6E8A-4147-A177-3AD203B41FA5}">
                      <a16:colId xmlns:a16="http://schemas.microsoft.com/office/drawing/2014/main" val="20002"/>
                    </a:ext>
                  </a:extLst>
                </a:gridCol>
                <a:gridCol w="1771973">
                  <a:extLst>
                    <a:ext uri="{9D8B030D-6E8A-4147-A177-3AD203B41FA5}">
                      <a16:colId xmlns:a16="http://schemas.microsoft.com/office/drawing/2014/main" val="20003"/>
                    </a:ext>
                  </a:extLst>
                </a:gridCol>
                <a:gridCol w="754983">
                  <a:extLst>
                    <a:ext uri="{9D8B030D-6E8A-4147-A177-3AD203B41FA5}">
                      <a16:colId xmlns:a16="http://schemas.microsoft.com/office/drawing/2014/main" val="1882380159"/>
                    </a:ext>
                  </a:extLst>
                </a:gridCol>
              </a:tblGrid>
              <a:tr h="500777">
                <a:tc>
                  <a:txBody>
                    <a:bodyPr/>
                    <a:lstStyle/>
                    <a:p>
                      <a:pPr algn="ctr" rtl="1">
                        <a:lnSpc>
                          <a:spcPct val="108000"/>
                        </a:lnSpc>
                      </a:pPr>
                      <a:r>
                        <a:rPr sz="1100" b="1" i="0" dirty="0" err="1">
                          <a:solidFill>
                            <a:srgbClr val="FFFFFF"/>
                          </a:solidFill>
                          <a:latin typeface="Yekan Bakh FaNum" pitchFamily="2" charset="-78"/>
                          <a:cs typeface="Yekan Bakh FaNum" pitchFamily="2" charset="-78"/>
                        </a:rPr>
                        <a:t>برای</a:t>
                      </a:r>
                      <a:r>
                        <a:rPr sz="1100" b="1" i="0" dirty="0">
                          <a:solidFill>
                            <a:srgbClr val="FFFFFF"/>
                          </a:solidFill>
                          <a:latin typeface="Yekan Bakh FaNum" pitchFamily="2" charset="-78"/>
                          <a:cs typeface="Yekan Bakh FaNum" pitchFamily="2" charset="-78"/>
                        </a:rPr>
                        <a:t> </a:t>
                      </a:r>
                      <a:r>
                        <a:rPr sz="1100" b="1" i="0" dirty="0" err="1">
                          <a:solidFill>
                            <a:srgbClr val="FFFFFF"/>
                          </a:solidFill>
                          <a:latin typeface="Yekan Bakh FaNum" pitchFamily="2" charset="-78"/>
                          <a:cs typeface="Yekan Bakh FaNum" pitchFamily="2" charset="-78"/>
                        </a:rPr>
                        <a:t>اکوسیستم</a:t>
                      </a:r>
                      <a:r>
                        <a:rPr sz="1100" b="1" i="0" dirty="0">
                          <a:solidFill>
                            <a:srgbClr val="FFFFFF"/>
                          </a:solidFill>
                          <a:latin typeface="Yekan Bakh FaNum" pitchFamily="2" charset="-78"/>
                          <a:cs typeface="Yekan Bakh FaNum" pitchFamily="2" charset="-78"/>
                        </a:rPr>
                        <a:t> </a:t>
                      </a:r>
                      <a:r>
                        <a:rPr sz="1100" b="1" i="0" dirty="0" err="1">
                          <a:solidFill>
                            <a:srgbClr val="FFFFFF"/>
                          </a:solidFill>
                          <a:latin typeface="Yekan Bakh FaNum" pitchFamily="2" charset="-78"/>
                          <a:cs typeface="Yekan Bakh FaNum" pitchFamily="2" charset="-78"/>
                        </a:rPr>
                        <a:t>فرصت</a:t>
                      </a:r>
                      <a:r>
                        <a:rPr sz="1100" b="1" i="0" dirty="0">
                          <a:solidFill>
                            <a:srgbClr val="FFFFFF"/>
                          </a:solidFill>
                          <a:latin typeface="Yekan Bakh FaNum" pitchFamily="2" charset="-78"/>
                          <a:cs typeface="Yekan Bakh FaNum" pitchFamily="2" charset="-78"/>
                        </a:rPr>
                        <a:t> </a:t>
                      </a:r>
                      <a:r>
                        <a:rPr sz="1100" b="1" i="0" dirty="0" err="1">
                          <a:solidFill>
                            <a:srgbClr val="FFFFFF"/>
                          </a:solidFill>
                          <a:latin typeface="Yekan Bakh FaNum" pitchFamily="2" charset="-78"/>
                          <a:cs typeface="Yekan Bakh FaNum" pitchFamily="2" charset="-78"/>
                        </a:rPr>
                        <a:t>ایران</a:t>
                      </a:r>
                      <a:r>
                        <a:rPr sz="1100" b="1" i="0" dirty="0">
                          <a:solidFill>
                            <a:srgbClr val="FFFFFF"/>
                          </a:solidFill>
                          <a:latin typeface="Yekan Bakh FaNum" pitchFamily="2" charset="-78"/>
                          <a:cs typeface="Yekan Bakh FaNum" pitchFamily="2" charset="-78"/>
                        </a:rPr>
                        <a:t> </a:t>
                      </a:r>
                      <a:r>
                        <a:rPr sz="1100" b="1" i="0" dirty="0" err="1">
                          <a:solidFill>
                            <a:srgbClr val="FFFFFF"/>
                          </a:solidFill>
                          <a:latin typeface="Yekan Bakh FaNum" pitchFamily="2" charset="-78"/>
                          <a:cs typeface="Yekan Bakh FaNum" pitchFamily="2" charset="-78"/>
                        </a:rPr>
                        <a:t>یعنی</a:t>
                      </a:r>
                      <a:endParaRPr sz="1100" b="1" i="0" dirty="0">
                        <a:solidFill>
                          <a:srgbClr val="FFFFFF"/>
                        </a:solidFill>
                        <a:latin typeface="Yekan Bakh FaNum" pitchFamily="2" charset="-78"/>
                        <a:cs typeface="Yekan Bakh FaNum" pitchFamily="2" charset="-78"/>
                      </a:endParaRPr>
                    </a:p>
                  </a:txBody>
                  <a:tcPr marL="54864" marR="54864" marT="27432" marB="27432" anchor="ctr">
                    <a:solidFill>
                      <a:srgbClr val="15296B"/>
                    </a:solidFill>
                  </a:tcPr>
                </a:tc>
                <a:tc>
                  <a:txBody>
                    <a:bodyPr/>
                    <a:lstStyle/>
                    <a:p>
                      <a:pPr algn="ctr" rtl="1">
                        <a:lnSpc>
                          <a:spcPct val="108000"/>
                        </a:lnSpc>
                      </a:pPr>
                      <a:r>
                        <a:rPr sz="1100" b="1" i="0" dirty="0" err="1">
                          <a:solidFill>
                            <a:srgbClr val="FFFFFF"/>
                          </a:solidFill>
                          <a:latin typeface="Yekan Bakh FaNum" pitchFamily="2" charset="-78"/>
                          <a:cs typeface="Yekan Bakh FaNum" pitchFamily="2" charset="-78"/>
                        </a:rPr>
                        <a:t>نقش</a:t>
                      </a:r>
                      <a:r>
                        <a:rPr sz="1100" b="1" i="0" dirty="0">
                          <a:solidFill>
                            <a:srgbClr val="FFFFFF"/>
                          </a:solidFill>
                          <a:latin typeface="Yekan Bakh FaNum" pitchFamily="2" charset="-78"/>
                          <a:cs typeface="Yekan Bakh FaNum" pitchFamily="2" charset="-78"/>
                        </a:rPr>
                        <a:t> </a:t>
                      </a:r>
                      <a:r>
                        <a:rPr lang="fa-IR" sz="1100" b="1" i="0" dirty="0">
                          <a:solidFill>
                            <a:srgbClr val="FFFFFF"/>
                          </a:solidFill>
                          <a:latin typeface="Yekan Bakh FaNum" pitchFamily="2" charset="-78"/>
                          <a:cs typeface="Yekan Bakh FaNum" pitchFamily="2" charset="-78"/>
                        </a:rPr>
                        <a:t>«اکوسیستم فرصت ایران»</a:t>
                      </a:r>
                      <a:endParaRPr sz="1100" b="1" i="0" dirty="0">
                        <a:solidFill>
                          <a:srgbClr val="FFFFFF"/>
                        </a:solidFill>
                        <a:latin typeface="Yekan Bakh FaNum" pitchFamily="2" charset="-78"/>
                        <a:cs typeface="Yekan Bakh FaNum" pitchFamily="2" charset="-78"/>
                      </a:endParaRPr>
                    </a:p>
                  </a:txBody>
                  <a:tcPr marL="54864" marR="54864" marT="27432" marB="27432" anchor="ctr">
                    <a:solidFill>
                      <a:srgbClr val="15296B"/>
                    </a:solidFill>
                  </a:tcPr>
                </a:tc>
                <a:tc>
                  <a:txBody>
                    <a:bodyPr/>
                    <a:lstStyle/>
                    <a:p>
                      <a:pPr algn="ctr" rtl="1">
                        <a:lnSpc>
                          <a:spcPct val="108000"/>
                        </a:lnSpc>
                      </a:pPr>
                      <a:r>
                        <a:rPr sz="1100" b="1" i="0" dirty="0" err="1">
                          <a:solidFill>
                            <a:srgbClr val="FFFFFF"/>
                          </a:solidFill>
                          <a:latin typeface="Yekan Bakh FaNum" pitchFamily="2" charset="-78"/>
                          <a:cs typeface="Yekan Bakh FaNum" pitchFamily="2" charset="-78"/>
                        </a:rPr>
                        <a:t>مشتری</a:t>
                      </a:r>
                      <a:r>
                        <a:rPr sz="1100" b="1" i="0" dirty="0">
                          <a:solidFill>
                            <a:srgbClr val="FFFFFF"/>
                          </a:solidFill>
                          <a:latin typeface="Yekan Bakh FaNum" pitchFamily="2" charset="-78"/>
                          <a:cs typeface="Yekan Bakh FaNum" pitchFamily="2" charset="-78"/>
                        </a:rPr>
                        <a:t> </a:t>
                      </a:r>
                      <a:r>
                        <a:rPr sz="1100" b="1" i="0" dirty="0" err="1">
                          <a:solidFill>
                            <a:srgbClr val="FFFFFF"/>
                          </a:solidFill>
                          <a:latin typeface="Yekan Bakh FaNum" pitchFamily="2" charset="-78"/>
                          <a:cs typeface="Yekan Bakh FaNum" pitchFamily="2" charset="-78"/>
                        </a:rPr>
                        <a:t>از</a:t>
                      </a:r>
                      <a:r>
                        <a:rPr sz="1100" b="1" i="0" dirty="0">
                          <a:solidFill>
                            <a:srgbClr val="FFFFFF"/>
                          </a:solidFill>
                          <a:latin typeface="Yekan Bakh FaNum" pitchFamily="2" charset="-78"/>
                          <a:cs typeface="Yekan Bakh FaNum" pitchFamily="2" charset="-78"/>
                        </a:rPr>
                        <a:t> </a:t>
                      </a:r>
                      <a:r>
                        <a:rPr lang="fa-IR" sz="1100" b="1" i="0" dirty="0">
                          <a:solidFill>
                            <a:srgbClr val="FFFFFF"/>
                          </a:solidFill>
                          <a:latin typeface="Yekan Bakh FaNum" pitchFamily="2" charset="-78"/>
                          <a:cs typeface="Yekan Bakh FaNum" pitchFamily="2" charset="-78"/>
                        </a:rPr>
                        <a:t>«اکوسیستم فرصت ایران» </a:t>
                      </a:r>
                      <a:r>
                        <a:rPr sz="1100" b="1" i="0" dirty="0" err="1">
                          <a:solidFill>
                            <a:srgbClr val="FFFFFF"/>
                          </a:solidFill>
                          <a:latin typeface="Yekan Bakh FaNum" pitchFamily="2" charset="-78"/>
                          <a:cs typeface="Yekan Bakh FaNum" pitchFamily="2" charset="-78"/>
                        </a:rPr>
                        <a:t>چه</a:t>
                      </a:r>
                      <a:r>
                        <a:rPr sz="1100" b="1" i="0" dirty="0">
                          <a:solidFill>
                            <a:srgbClr val="FFFFFF"/>
                          </a:solidFill>
                          <a:latin typeface="Yekan Bakh FaNum" pitchFamily="2" charset="-78"/>
                          <a:cs typeface="Yekan Bakh FaNum" pitchFamily="2" charset="-78"/>
                        </a:rPr>
                        <a:t> </a:t>
                      </a:r>
                      <a:r>
                        <a:rPr sz="1100" b="1" i="0" dirty="0" err="1">
                          <a:solidFill>
                            <a:srgbClr val="FFFFFF"/>
                          </a:solidFill>
                          <a:latin typeface="Yekan Bakh FaNum" pitchFamily="2" charset="-78"/>
                          <a:cs typeface="Yekan Bakh FaNum" pitchFamily="2" charset="-78"/>
                        </a:rPr>
                        <a:t>می‌خواهد</a:t>
                      </a:r>
                      <a:r>
                        <a:rPr sz="1100" b="1" i="0" dirty="0">
                          <a:solidFill>
                            <a:srgbClr val="FFFFFF"/>
                          </a:solidFill>
                          <a:latin typeface="Yekan Bakh FaNum" pitchFamily="2" charset="-78"/>
                          <a:cs typeface="Yekan Bakh FaNum" pitchFamily="2" charset="-78"/>
                        </a:rPr>
                        <a:t>؟</a:t>
                      </a:r>
                    </a:p>
                  </a:txBody>
                  <a:tcPr marL="54864" marR="54864" marT="27432" marB="27432" anchor="ctr">
                    <a:solidFill>
                      <a:srgbClr val="15296B"/>
                    </a:solidFill>
                  </a:tcPr>
                </a:tc>
                <a:tc>
                  <a:txBody>
                    <a:bodyPr/>
                    <a:lstStyle/>
                    <a:p>
                      <a:pPr algn="ctr" rtl="1">
                        <a:lnSpc>
                          <a:spcPct val="108000"/>
                        </a:lnSpc>
                      </a:pPr>
                      <a:r>
                        <a:rPr sz="1100" b="1" i="0" dirty="0" err="1">
                          <a:solidFill>
                            <a:srgbClr val="FFFFFF"/>
                          </a:solidFill>
                          <a:latin typeface="Yekan Bakh FaNum" pitchFamily="2" charset="-78"/>
                          <a:cs typeface="Yekan Bakh FaNum" pitchFamily="2" charset="-78"/>
                        </a:rPr>
                        <a:t>آرکی‌تایپ</a:t>
                      </a:r>
                      <a:endParaRPr sz="1100" b="1" i="0" dirty="0">
                        <a:solidFill>
                          <a:srgbClr val="FFFFFF"/>
                        </a:solidFill>
                        <a:latin typeface="Yekan Bakh FaNum" pitchFamily="2" charset="-78"/>
                        <a:cs typeface="Yekan Bakh FaNum" pitchFamily="2" charset="-78"/>
                      </a:endParaRPr>
                    </a:p>
                  </a:txBody>
                  <a:tcPr marL="54864" marR="54864" marT="27432" marB="27432" anchor="ctr">
                    <a:solidFill>
                      <a:srgbClr val="15296B"/>
                    </a:solidFill>
                  </a:tcPr>
                </a:tc>
                <a:tc>
                  <a:txBody>
                    <a:bodyPr/>
                    <a:lstStyle/>
                    <a:p>
                      <a:pPr algn="ctr" rtl="1">
                        <a:lnSpc>
                          <a:spcPct val="108000"/>
                        </a:lnSpc>
                      </a:pPr>
                      <a:r>
                        <a:rPr lang="fa-IR" sz="1100" b="1" i="0" dirty="0">
                          <a:solidFill>
                            <a:srgbClr val="FFFFFF"/>
                          </a:solidFill>
                          <a:latin typeface="Yekan Bakh FaNum" pitchFamily="2" charset="-78"/>
                          <a:cs typeface="Yekan Bakh FaNum" pitchFamily="2" charset="-78"/>
                        </a:rPr>
                        <a:t>شماره</a:t>
                      </a:r>
                      <a:endParaRPr sz="1100" b="1" i="0" dirty="0">
                        <a:solidFill>
                          <a:srgbClr val="FFFFFF"/>
                        </a:solidFill>
                        <a:latin typeface="Yekan Bakh FaNum" pitchFamily="2" charset="-78"/>
                        <a:cs typeface="Yekan Bakh FaNum" pitchFamily="2" charset="-78"/>
                      </a:endParaRPr>
                    </a:p>
                  </a:txBody>
                  <a:tcPr marL="54864" marR="54864" marT="27432" marB="27432" anchor="ctr">
                    <a:solidFill>
                      <a:srgbClr val="15296B"/>
                    </a:solidFill>
                  </a:tcPr>
                </a:tc>
                <a:extLst>
                  <a:ext uri="{0D108BD9-81ED-4DB2-BD59-A6C34878D82A}">
                    <a16:rowId xmlns:a16="http://schemas.microsoft.com/office/drawing/2014/main" val="10000"/>
                  </a:ext>
                </a:extLst>
              </a:tr>
              <a:tr h="500777">
                <a:tc>
                  <a:txBody>
                    <a:bodyPr/>
                    <a:lstStyle/>
                    <a:p>
                      <a:pPr algn="ctr" rtl="1">
                        <a:lnSpc>
                          <a:spcPct val="108000"/>
                        </a:lnSpc>
                      </a:pPr>
                      <a:r>
                        <a:rPr sz="1000" b="0" i="0">
                          <a:solidFill>
                            <a:schemeClr val="tx1">
                              <a:lumMod val="65000"/>
                              <a:lumOff val="35000"/>
                            </a:schemeClr>
                          </a:solidFill>
                          <a:latin typeface="Yekan Bakh FaNum" pitchFamily="2" charset="-78"/>
                          <a:cs typeface="Yekan Bakh FaNum" pitchFamily="2" charset="-78"/>
                        </a:rPr>
                        <a:t>مقیاس‌پذیری بدون رشد خطی هزینه رابطه</a:t>
                      </a:r>
                    </a:p>
                  </a:txBody>
                  <a:tcPr marL="54864" marR="54864" marT="27432" marB="27432" anchor="ctr">
                    <a:solidFill>
                      <a:srgbClr val="FFFFFF"/>
                    </a:solidFill>
                  </a:tcPr>
                </a:tc>
                <a:tc>
                  <a:txBody>
                    <a:bodyPr/>
                    <a:lstStyle/>
                    <a:p>
                      <a:pPr algn="ctr" rtl="1">
                        <a:lnSpc>
                          <a:spcPct val="108000"/>
                        </a:lnSpc>
                      </a:pPr>
                      <a:r>
                        <a:rPr sz="1000" b="0" i="0">
                          <a:solidFill>
                            <a:schemeClr val="tx1">
                              <a:lumMod val="65000"/>
                              <a:lumOff val="35000"/>
                            </a:schemeClr>
                          </a:solidFill>
                          <a:latin typeface="Yekan Bakh FaNum" pitchFamily="2" charset="-78"/>
                          <a:cs typeface="Yekan Bakh FaNum" pitchFamily="2" charset="-78"/>
                        </a:rPr>
                        <a:t>ارائه‌دهنده خدمت</a:t>
                      </a:r>
                    </a:p>
                  </a:txBody>
                  <a:tcPr marL="54864" marR="54864" marT="27432" marB="27432" anchor="ctr">
                    <a:solidFill>
                      <a:srgbClr val="FFFFFF"/>
                    </a:solidFill>
                  </a:tcPr>
                </a:tc>
                <a:tc>
                  <a:txBody>
                    <a:bodyPr/>
                    <a:lstStyle/>
                    <a:p>
                      <a:pPr algn="ctr" rtl="1">
                        <a:lnSpc>
                          <a:spcPct val="108000"/>
                        </a:lnSpc>
                      </a:pPr>
                      <a:r>
                        <a:rPr sz="1000" b="0" i="0" dirty="0" err="1">
                          <a:solidFill>
                            <a:schemeClr val="tx1">
                              <a:lumMod val="65000"/>
                              <a:lumOff val="35000"/>
                            </a:schemeClr>
                          </a:solidFill>
                          <a:latin typeface="Yekan Bakh FaNum" pitchFamily="2" charset="-78"/>
                          <a:cs typeface="Yekan Bakh FaNum" pitchFamily="2" charset="-78"/>
                        </a:rPr>
                        <a:t>یک</a:t>
                      </a:r>
                      <a:r>
                        <a:rPr sz="1000" b="0" i="0" dirty="0">
                          <a:solidFill>
                            <a:schemeClr val="tx1">
                              <a:lumMod val="65000"/>
                              <a:lumOff val="35000"/>
                            </a:schemeClr>
                          </a:solidFill>
                          <a:latin typeface="Yekan Bakh FaNum" pitchFamily="2" charset="-78"/>
                          <a:cs typeface="Yekan Bakh FaNum" pitchFamily="2" charset="-78"/>
                        </a:rPr>
                        <a:t> </a:t>
                      </a:r>
                      <a:r>
                        <a:rPr sz="1000" b="0" i="0" dirty="0" err="1">
                          <a:solidFill>
                            <a:schemeClr val="tx1">
                              <a:lumMod val="65000"/>
                              <a:lumOff val="35000"/>
                            </a:schemeClr>
                          </a:solidFill>
                          <a:latin typeface="Yekan Bakh FaNum" pitchFamily="2" charset="-78"/>
                          <a:cs typeface="Yekan Bakh FaNum" pitchFamily="2" charset="-78"/>
                        </a:rPr>
                        <a:t>خدمت</a:t>
                      </a:r>
                      <a:r>
                        <a:rPr sz="1000" b="0" i="0" dirty="0">
                          <a:solidFill>
                            <a:schemeClr val="tx1">
                              <a:lumMod val="65000"/>
                              <a:lumOff val="35000"/>
                            </a:schemeClr>
                          </a:solidFill>
                          <a:latin typeface="Yekan Bakh FaNum" pitchFamily="2" charset="-78"/>
                          <a:cs typeface="Yekan Bakh FaNum" pitchFamily="2" charset="-78"/>
                        </a:rPr>
                        <a:t> </a:t>
                      </a:r>
                      <a:r>
                        <a:rPr sz="1000" b="0" i="0" dirty="0" err="1">
                          <a:solidFill>
                            <a:schemeClr val="tx1">
                              <a:lumMod val="65000"/>
                              <a:lumOff val="35000"/>
                            </a:schemeClr>
                          </a:solidFill>
                          <a:latin typeface="Yekan Bakh FaNum" pitchFamily="2" charset="-78"/>
                          <a:cs typeface="Yekan Bakh FaNum" pitchFamily="2" charset="-78"/>
                        </a:rPr>
                        <a:t>مشخص</a:t>
                      </a:r>
                      <a:r>
                        <a:rPr sz="1000" b="0" i="0" dirty="0">
                          <a:solidFill>
                            <a:schemeClr val="tx1">
                              <a:lumMod val="65000"/>
                              <a:lumOff val="35000"/>
                            </a:schemeClr>
                          </a:solidFill>
                          <a:latin typeface="Yekan Bakh FaNum" pitchFamily="2" charset="-78"/>
                          <a:cs typeface="Yekan Bakh FaNum" pitchFamily="2" charset="-78"/>
                        </a:rPr>
                        <a:t> و </a:t>
                      </a:r>
                      <a:r>
                        <a:rPr sz="1000" b="0" i="0" dirty="0" err="1">
                          <a:solidFill>
                            <a:schemeClr val="tx1">
                              <a:lumMod val="65000"/>
                              <a:lumOff val="35000"/>
                            </a:schemeClr>
                          </a:solidFill>
                          <a:latin typeface="Yekan Bakh FaNum" pitchFamily="2" charset="-78"/>
                          <a:cs typeface="Yekan Bakh FaNum" pitchFamily="2" charset="-78"/>
                        </a:rPr>
                        <a:t>استاندارد</a:t>
                      </a:r>
                      <a:endParaRPr sz="1000" b="0" i="0" dirty="0">
                        <a:solidFill>
                          <a:schemeClr val="tx1">
                            <a:lumMod val="65000"/>
                            <a:lumOff val="35000"/>
                          </a:schemeClr>
                        </a:solidFill>
                        <a:latin typeface="Yekan Bakh FaNum" pitchFamily="2" charset="-78"/>
                        <a:cs typeface="Yekan Bakh FaNum" pitchFamily="2" charset="-78"/>
                      </a:endParaRPr>
                    </a:p>
                  </a:txBody>
                  <a:tcPr marL="54864" marR="54864" marT="27432" marB="27432" anchor="ctr">
                    <a:solidFill>
                      <a:srgbClr val="FFFFFF"/>
                    </a:solidFill>
                  </a:tcPr>
                </a:tc>
                <a:tc>
                  <a:txBody>
                    <a:bodyPr/>
                    <a:lstStyle/>
                    <a:p>
                      <a:pPr algn="ctr" rtl="1">
                        <a:lnSpc>
                          <a:spcPct val="108000"/>
                        </a:lnSpc>
                      </a:pPr>
                      <a:r>
                        <a:rPr sz="1000" b="1" i="0" dirty="0" err="1">
                          <a:solidFill>
                            <a:srgbClr val="15296B"/>
                          </a:solidFill>
                          <a:latin typeface="Yekan Bakh FaNum" pitchFamily="2" charset="-78"/>
                          <a:cs typeface="Yekan Bakh FaNum" pitchFamily="2" charset="-78"/>
                        </a:rPr>
                        <a:t>تراکنشی</a:t>
                      </a:r>
                      <a:endParaRPr sz="1000" b="1" i="0" dirty="0">
                        <a:solidFill>
                          <a:srgbClr val="15296B"/>
                        </a:solidFill>
                        <a:latin typeface="Yekan Bakh FaNum" pitchFamily="2" charset="-78"/>
                        <a:cs typeface="Yekan Bakh FaNum" pitchFamily="2" charset="-78"/>
                      </a:endParaRPr>
                    </a:p>
                  </a:txBody>
                  <a:tcPr marL="54864" marR="54864" marT="27432" marB="27432" anchor="ctr">
                    <a:solidFill>
                      <a:srgbClr val="FFFFFF"/>
                    </a:solidFill>
                  </a:tcPr>
                </a:tc>
                <a:tc>
                  <a:txBody>
                    <a:bodyPr/>
                    <a:lstStyle/>
                    <a:p>
                      <a:pPr algn="ctr" rtl="1">
                        <a:lnSpc>
                          <a:spcPct val="108000"/>
                        </a:lnSpc>
                      </a:pPr>
                      <a:r>
                        <a:rPr lang="fa-IR" sz="1200" b="1" i="0" dirty="0">
                          <a:solidFill>
                            <a:srgbClr val="15296B"/>
                          </a:solidFill>
                          <a:latin typeface="Yekan Bakh FaNum" pitchFamily="2" charset="-78"/>
                          <a:cs typeface="Yekan Bakh FaNum" pitchFamily="2" charset="-78"/>
                        </a:rPr>
                        <a:t>۱</a:t>
                      </a:r>
                      <a:endParaRPr sz="1200" b="1" i="0" dirty="0">
                        <a:solidFill>
                          <a:srgbClr val="15296B"/>
                        </a:solidFill>
                        <a:latin typeface="Yekan Bakh FaNum" pitchFamily="2" charset="-78"/>
                        <a:cs typeface="Yekan Bakh FaNum" pitchFamily="2" charset="-78"/>
                      </a:endParaRPr>
                    </a:p>
                  </a:txBody>
                  <a:tcPr marL="54864" marR="54864" marT="27432" marB="27432" anchor="ctr">
                    <a:solidFill>
                      <a:srgbClr val="FFFFFF"/>
                    </a:solidFill>
                  </a:tcPr>
                </a:tc>
                <a:extLst>
                  <a:ext uri="{0D108BD9-81ED-4DB2-BD59-A6C34878D82A}">
                    <a16:rowId xmlns:a16="http://schemas.microsoft.com/office/drawing/2014/main" val="10001"/>
                  </a:ext>
                </a:extLst>
              </a:tr>
              <a:tr h="500777">
                <a:tc>
                  <a:txBody>
                    <a:bodyPr/>
                    <a:lstStyle/>
                    <a:p>
                      <a:pPr algn="ctr" rtl="1">
                        <a:lnSpc>
                          <a:spcPct val="108000"/>
                        </a:lnSpc>
                      </a:pPr>
                      <a:r>
                        <a:rPr sz="1000" b="0" i="0">
                          <a:solidFill>
                            <a:schemeClr val="tx1">
                              <a:lumMod val="65000"/>
                              <a:lumOff val="35000"/>
                            </a:schemeClr>
                          </a:solidFill>
                          <a:latin typeface="Yekan Bakh FaNum" pitchFamily="2" charset="-78"/>
                          <a:cs typeface="Yekan Bakh FaNum" pitchFamily="2" charset="-78"/>
                        </a:rPr>
                        <a:t>تجربه مشتری به‌عنوان عامل تمایز</a:t>
                      </a:r>
                    </a:p>
                  </a:txBody>
                  <a:tcPr marL="54864" marR="54864" marT="27432" marB="27432" anchor="ctr">
                    <a:solidFill>
                      <a:srgbClr val="F3F4F6"/>
                    </a:solidFill>
                  </a:tcPr>
                </a:tc>
                <a:tc>
                  <a:txBody>
                    <a:bodyPr/>
                    <a:lstStyle/>
                    <a:p>
                      <a:pPr algn="ctr" rtl="1">
                        <a:lnSpc>
                          <a:spcPct val="108000"/>
                        </a:lnSpc>
                      </a:pPr>
                      <a:r>
                        <a:rPr sz="1000" b="0" i="0">
                          <a:solidFill>
                            <a:schemeClr val="tx1">
                              <a:lumMod val="65000"/>
                              <a:lumOff val="35000"/>
                            </a:schemeClr>
                          </a:solidFill>
                          <a:latin typeface="Yekan Bakh FaNum" pitchFamily="2" charset="-78"/>
                          <a:cs typeface="Yekan Bakh FaNum" pitchFamily="2" charset="-78"/>
                        </a:rPr>
                        <a:t>مدیر خدمت</a:t>
                      </a:r>
                    </a:p>
                  </a:txBody>
                  <a:tcPr marL="54864" marR="54864" marT="27432" marB="27432" anchor="ctr">
                    <a:solidFill>
                      <a:srgbClr val="F3F4F6"/>
                    </a:solidFill>
                  </a:tcPr>
                </a:tc>
                <a:tc>
                  <a:txBody>
                    <a:bodyPr/>
                    <a:lstStyle/>
                    <a:p>
                      <a:pPr algn="ctr" rtl="1">
                        <a:lnSpc>
                          <a:spcPct val="108000"/>
                        </a:lnSpc>
                      </a:pPr>
                      <a:r>
                        <a:rPr sz="1000" b="0" i="0" dirty="0" err="1">
                          <a:solidFill>
                            <a:schemeClr val="tx1">
                              <a:lumMod val="65000"/>
                              <a:lumOff val="35000"/>
                            </a:schemeClr>
                          </a:solidFill>
                          <a:latin typeface="Yekan Bakh FaNum" pitchFamily="2" charset="-78"/>
                          <a:cs typeface="Yekan Bakh FaNum" pitchFamily="2" charset="-78"/>
                        </a:rPr>
                        <a:t>خدمت</a:t>
                      </a:r>
                      <a:r>
                        <a:rPr sz="1000" b="0" i="0" dirty="0">
                          <a:solidFill>
                            <a:schemeClr val="tx1">
                              <a:lumMod val="65000"/>
                              <a:lumOff val="35000"/>
                            </a:schemeClr>
                          </a:solidFill>
                          <a:latin typeface="Yekan Bakh FaNum" pitchFamily="2" charset="-78"/>
                          <a:cs typeface="Yekan Bakh FaNum" pitchFamily="2" charset="-78"/>
                        </a:rPr>
                        <a:t> + </a:t>
                      </a:r>
                      <a:r>
                        <a:rPr sz="1000" b="0" i="0" dirty="0" err="1">
                          <a:solidFill>
                            <a:schemeClr val="tx1">
                              <a:lumMod val="65000"/>
                              <a:lumOff val="35000"/>
                            </a:schemeClr>
                          </a:solidFill>
                          <a:latin typeface="Yekan Bakh FaNum" pitchFamily="2" charset="-78"/>
                          <a:cs typeface="Yekan Bakh FaNum" pitchFamily="2" charset="-78"/>
                        </a:rPr>
                        <a:t>کمک</a:t>
                      </a:r>
                      <a:r>
                        <a:rPr sz="1000" b="0" i="0" dirty="0">
                          <a:solidFill>
                            <a:schemeClr val="tx1">
                              <a:lumMod val="65000"/>
                              <a:lumOff val="35000"/>
                            </a:schemeClr>
                          </a:solidFill>
                          <a:latin typeface="Yekan Bakh FaNum" pitchFamily="2" charset="-78"/>
                          <a:cs typeface="Yekan Bakh FaNum" pitchFamily="2" charset="-78"/>
                        </a:rPr>
                        <a:t> و </a:t>
                      </a:r>
                      <a:r>
                        <a:rPr sz="1000" b="0" i="0" dirty="0" err="1">
                          <a:solidFill>
                            <a:schemeClr val="tx1">
                              <a:lumMod val="65000"/>
                              <a:lumOff val="35000"/>
                            </a:schemeClr>
                          </a:solidFill>
                          <a:latin typeface="Yekan Bakh FaNum" pitchFamily="2" charset="-78"/>
                          <a:cs typeface="Yekan Bakh FaNum" pitchFamily="2" charset="-78"/>
                        </a:rPr>
                        <a:t>پشتیبانی</a:t>
                      </a:r>
                      <a:r>
                        <a:rPr sz="1000" b="0" i="0" dirty="0">
                          <a:solidFill>
                            <a:schemeClr val="tx1">
                              <a:lumMod val="65000"/>
                              <a:lumOff val="35000"/>
                            </a:schemeClr>
                          </a:solidFill>
                          <a:latin typeface="Yekan Bakh FaNum" pitchFamily="2" charset="-78"/>
                          <a:cs typeface="Yekan Bakh FaNum" pitchFamily="2" charset="-78"/>
                        </a:rPr>
                        <a:t> </a:t>
                      </a:r>
                      <a:r>
                        <a:rPr sz="1000" b="0" i="0" dirty="0" err="1">
                          <a:solidFill>
                            <a:schemeClr val="tx1">
                              <a:lumMod val="65000"/>
                              <a:lumOff val="35000"/>
                            </a:schemeClr>
                          </a:solidFill>
                          <a:latin typeface="Yekan Bakh FaNum" pitchFamily="2" charset="-78"/>
                          <a:cs typeface="Yekan Bakh FaNum" pitchFamily="2" charset="-78"/>
                        </a:rPr>
                        <a:t>انسانی</a:t>
                      </a:r>
                      <a:endParaRPr sz="1000" b="0" i="0" dirty="0">
                        <a:solidFill>
                          <a:schemeClr val="tx1">
                            <a:lumMod val="65000"/>
                            <a:lumOff val="35000"/>
                          </a:schemeClr>
                        </a:solidFill>
                        <a:latin typeface="Yekan Bakh FaNum" pitchFamily="2" charset="-78"/>
                        <a:cs typeface="Yekan Bakh FaNum" pitchFamily="2" charset="-78"/>
                      </a:endParaRPr>
                    </a:p>
                  </a:txBody>
                  <a:tcPr marL="54864" marR="54864" marT="27432" marB="27432" anchor="ctr">
                    <a:solidFill>
                      <a:srgbClr val="F3F4F6"/>
                    </a:solidFill>
                  </a:tcPr>
                </a:tc>
                <a:tc>
                  <a:txBody>
                    <a:bodyPr/>
                    <a:lstStyle/>
                    <a:p>
                      <a:pPr algn="ctr" rtl="1">
                        <a:lnSpc>
                          <a:spcPct val="108000"/>
                        </a:lnSpc>
                      </a:pPr>
                      <a:r>
                        <a:rPr sz="1000" b="1" i="0" dirty="0" err="1">
                          <a:solidFill>
                            <a:srgbClr val="15296B"/>
                          </a:solidFill>
                          <a:latin typeface="Yekan Bakh FaNum" pitchFamily="2" charset="-78"/>
                          <a:cs typeface="Yekan Bakh FaNum" pitchFamily="2" charset="-78"/>
                        </a:rPr>
                        <a:t>همراه</a:t>
                      </a:r>
                      <a:r>
                        <a:rPr sz="1000" b="1" i="0" dirty="0">
                          <a:solidFill>
                            <a:srgbClr val="15296B"/>
                          </a:solidFill>
                          <a:latin typeface="Yekan Bakh FaNum" pitchFamily="2" charset="-78"/>
                          <a:cs typeface="Yekan Bakh FaNum" pitchFamily="2" charset="-78"/>
                        </a:rPr>
                        <a:t>/</a:t>
                      </a:r>
                      <a:r>
                        <a:rPr sz="1000" b="1" i="0" dirty="0" err="1">
                          <a:solidFill>
                            <a:srgbClr val="15296B"/>
                          </a:solidFill>
                          <a:latin typeface="Yekan Bakh FaNum" pitchFamily="2" charset="-78"/>
                          <a:cs typeface="Yekan Bakh FaNum" pitchFamily="2" charset="-78"/>
                        </a:rPr>
                        <a:t>خدماتی</a:t>
                      </a:r>
                      <a:endParaRPr sz="1000" b="1" i="0" dirty="0">
                        <a:solidFill>
                          <a:srgbClr val="15296B"/>
                        </a:solidFill>
                        <a:latin typeface="Yekan Bakh FaNum" pitchFamily="2" charset="-78"/>
                        <a:cs typeface="Yekan Bakh FaNum" pitchFamily="2" charset="-78"/>
                      </a:endParaRPr>
                    </a:p>
                  </a:txBody>
                  <a:tcPr marL="54864" marR="54864" marT="27432" marB="27432" anchor="ctr">
                    <a:solidFill>
                      <a:srgbClr val="F3F4F6"/>
                    </a:solidFill>
                  </a:tcPr>
                </a:tc>
                <a:tc>
                  <a:txBody>
                    <a:bodyPr/>
                    <a:lstStyle/>
                    <a:p>
                      <a:pPr algn="ctr" rtl="1">
                        <a:lnSpc>
                          <a:spcPct val="108000"/>
                        </a:lnSpc>
                      </a:pPr>
                      <a:r>
                        <a:rPr lang="fa-IR" sz="1200" b="1" i="0" dirty="0">
                          <a:solidFill>
                            <a:srgbClr val="15296B"/>
                          </a:solidFill>
                          <a:latin typeface="Yekan Bakh FaNum" pitchFamily="2" charset="-78"/>
                          <a:cs typeface="Yekan Bakh FaNum" pitchFamily="2" charset="-78"/>
                        </a:rPr>
                        <a:t>۲</a:t>
                      </a:r>
                      <a:endParaRPr sz="1200" b="1" i="0" dirty="0">
                        <a:solidFill>
                          <a:srgbClr val="15296B"/>
                        </a:solidFill>
                        <a:latin typeface="Yekan Bakh FaNum" pitchFamily="2" charset="-78"/>
                        <a:cs typeface="Yekan Bakh FaNum" pitchFamily="2" charset="-78"/>
                      </a:endParaRPr>
                    </a:p>
                  </a:txBody>
                  <a:tcPr marL="54864" marR="54864" marT="27432" marB="27432" anchor="ctr">
                    <a:solidFill>
                      <a:srgbClr val="F3F4F6"/>
                    </a:solidFill>
                  </a:tcPr>
                </a:tc>
                <a:extLst>
                  <a:ext uri="{0D108BD9-81ED-4DB2-BD59-A6C34878D82A}">
                    <a16:rowId xmlns:a16="http://schemas.microsoft.com/office/drawing/2014/main" val="10002"/>
                  </a:ext>
                </a:extLst>
              </a:tr>
              <a:tr h="500777">
                <a:tc>
                  <a:txBody>
                    <a:bodyPr/>
                    <a:lstStyle/>
                    <a:p>
                      <a:pPr algn="ctr" rtl="1">
                        <a:lnSpc>
                          <a:spcPct val="108000"/>
                        </a:lnSpc>
                      </a:pPr>
                      <a:r>
                        <a:rPr sz="1000" b="0" i="0">
                          <a:solidFill>
                            <a:schemeClr val="tx1">
                              <a:lumMod val="65000"/>
                              <a:lumOff val="35000"/>
                            </a:schemeClr>
                          </a:solidFill>
                          <a:latin typeface="Yekan Bakh FaNum" pitchFamily="2" charset="-78"/>
                          <a:cs typeface="Yekan Bakh FaNum" pitchFamily="2" charset="-78"/>
                        </a:rPr>
                        <a:t>نقطه شروع فروش راهکار، نه فقط خدمت</a:t>
                      </a:r>
                    </a:p>
                  </a:txBody>
                  <a:tcPr marL="54864" marR="54864" marT="27432" marB="27432" anchor="ctr">
                    <a:solidFill>
                      <a:srgbClr val="FFFFFF"/>
                    </a:solidFill>
                  </a:tcPr>
                </a:tc>
                <a:tc>
                  <a:txBody>
                    <a:bodyPr/>
                    <a:lstStyle/>
                    <a:p>
                      <a:pPr algn="ctr" rtl="1">
                        <a:lnSpc>
                          <a:spcPct val="108000"/>
                        </a:lnSpc>
                      </a:pPr>
                      <a:r>
                        <a:rPr sz="1000" b="0" i="0">
                          <a:solidFill>
                            <a:schemeClr val="tx1">
                              <a:lumMod val="65000"/>
                              <a:lumOff val="35000"/>
                            </a:schemeClr>
                          </a:solidFill>
                          <a:latin typeface="Yekan Bakh FaNum" pitchFamily="2" charset="-78"/>
                          <a:cs typeface="Yekan Bakh FaNum" pitchFamily="2" charset="-78"/>
                        </a:rPr>
                        <a:t>مشاور</a:t>
                      </a:r>
                    </a:p>
                  </a:txBody>
                  <a:tcPr marL="54864" marR="54864" marT="27432" marB="27432" anchor="ctr">
                    <a:solidFill>
                      <a:srgbClr val="FFFFFF"/>
                    </a:solidFill>
                  </a:tcPr>
                </a:tc>
                <a:tc>
                  <a:txBody>
                    <a:bodyPr/>
                    <a:lstStyle/>
                    <a:p>
                      <a:pPr algn="ctr" rtl="1">
                        <a:lnSpc>
                          <a:spcPct val="108000"/>
                        </a:lnSpc>
                      </a:pPr>
                      <a:r>
                        <a:rPr sz="1000" b="0" i="0" dirty="0" err="1">
                          <a:solidFill>
                            <a:schemeClr val="tx1">
                              <a:lumMod val="65000"/>
                              <a:lumOff val="35000"/>
                            </a:schemeClr>
                          </a:solidFill>
                          <a:latin typeface="Yekan Bakh FaNum" pitchFamily="2" charset="-78"/>
                          <a:cs typeface="Yekan Bakh FaNum" pitchFamily="2" charset="-78"/>
                        </a:rPr>
                        <a:t>تشخیص</a:t>
                      </a:r>
                      <a:r>
                        <a:rPr sz="1000" b="0" i="0" dirty="0">
                          <a:solidFill>
                            <a:schemeClr val="tx1">
                              <a:lumMod val="65000"/>
                              <a:lumOff val="35000"/>
                            </a:schemeClr>
                          </a:solidFill>
                          <a:latin typeface="Yekan Bakh FaNum" pitchFamily="2" charset="-78"/>
                          <a:cs typeface="Yekan Bakh FaNum" pitchFamily="2" charset="-78"/>
                        </a:rPr>
                        <a:t> و </a:t>
                      </a:r>
                      <a:r>
                        <a:rPr sz="1000" b="0" i="0" dirty="0" err="1">
                          <a:solidFill>
                            <a:schemeClr val="tx1">
                              <a:lumMod val="65000"/>
                              <a:lumOff val="35000"/>
                            </a:schemeClr>
                          </a:solidFill>
                          <a:latin typeface="Yekan Bakh FaNum" pitchFamily="2" charset="-78"/>
                          <a:cs typeface="Yekan Bakh FaNum" pitchFamily="2" charset="-78"/>
                        </a:rPr>
                        <a:t>پیشنهاد</a:t>
                      </a:r>
                      <a:r>
                        <a:rPr sz="1000" b="0" i="0" dirty="0">
                          <a:solidFill>
                            <a:schemeClr val="tx1">
                              <a:lumMod val="65000"/>
                              <a:lumOff val="35000"/>
                            </a:schemeClr>
                          </a:solidFill>
                          <a:latin typeface="Yekan Bakh FaNum" pitchFamily="2" charset="-78"/>
                          <a:cs typeface="Yekan Bakh FaNum" pitchFamily="2" charset="-78"/>
                        </a:rPr>
                        <a:t> </a:t>
                      </a:r>
                      <a:r>
                        <a:rPr sz="1000" b="0" i="0" dirty="0" err="1">
                          <a:solidFill>
                            <a:schemeClr val="tx1">
                              <a:lumMod val="65000"/>
                              <a:lumOff val="35000"/>
                            </a:schemeClr>
                          </a:solidFill>
                          <a:latin typeface="Yekan Bakh FaNum" pitchFamily="2" charset="-78"/>
                          <a:cs typeface="Yekan Bakh FaNum" pitchFamily="2" charset="-78"/>
                        </a:rPr>
                        <a:t>راهکار</a:t>
                      </a:r>
                      <a:endParaRPr sz="1000" b="0" i="0" dirty="0">
                        <a:solidFill>
                          <a:schemeClr val="tx1">
                            <a:lumMod val="65000"/>
                            <a:lumOff val="35000"/>
                          </a:schemeClr>
                        </a:solidFill>
                        <a:latin typeface="Yekan Bakh FaNum" pitchFamily="2" charset="-78"/>
                        <a:cs typeface="Yekan Bakh FaNum" pitchFamily="2" charset="-78"/>
                      </a:endParaRPr>
                    </a:p>
                  </a:txBody>
                  <a:tcPr marL="54864" marR="54864" marT="27432" marB="27432" anchor="ctr">
                    <a:solidFill>
                      <a:srgbClr val="FFFFFF"/>
                    </a:solidFill>
                  </a:tcPr>
                </a:tc>
                <a:tc>
                  <a:txBody>
                    <a:bodyPr/>
                    <a:lstStyle/>
                    <a:p>
                      <a:pPr algn="ctr" rtl="1">
                        <a:lnSpc>
                          <a:spcPct val="108000"/>
                        </a:lnSpc>
                      </a:pPr>
                      <a:r>
                        <a:rPr sz="1000" b="1" i="0" dirty="0" err="1">
                          <a:solidFill>
                            <a:srgbClr val="15296B"/>
                          </a:solidFill>
                          <a:latin typeface="Yekan Bakh FaNum" pitchFamily="2" charset="-78"/>
                          <a:cs typeface="Yekan Bakh FaNum" pitchFamily="2" charset="-78"/>
                        </a:rPr>
                        <a:t>مشاوره‌ای</a:t>
                      </a:r>
                      <a:endParaRPr sz="1000" b="1" i="0" dirty="0">
                        <a:solidFill>
                          <a:srgbClr val="15296B"/>
                        </a:solidFill>
                        <a:latin typeface="Yekan Bakh FaNum" pitchFamily="2" charset="-78"/>
                        <a:cs typeface="Yekan Bakh FaNum" pitchFamily="2" charset="-78"/>
                      </a:endParaRPr>
                    </a:p>
                  </a:txBody>
                  <a:tcPr marL="54864" marR="54864" marT="27432" marB="27432" anchor="ctr">
                    <a:solidFill>
                      <a:srgbClr val="FFFFFF"/>
                    </a:solidFill>
                  </a:tcPr>
                </a:tc>
                <a:tc>
                  <a:txBody>
                    <a:bodyPr/>
                    <a:lstStyle/>
                    <a:p>
                      <a:pPr algn="ctr" rtl="1">
                        <a:lnSpc>
                          <a:spcPct val="108000"/>
                        </a:lnSpc>
                      </a:pPr>
                      <a:r>
                        <a:rPr lang="fa-IR" sz="1200" b="1" i="0" dirty="0">
                          <a:solidFill>
                            <a:srgbClr val="15296B"/>
                          </a:solidFill>
                          <a:latin typeface="Yekan Bakh FaNum" pitchFamily="2" charset="-78"/>
                          <a:cs typeface="Yekan Bakh FaNum" pitchFamily="2" charset="-78"/>
                        </a:rPr>
                        <a:t>۳</a:t>
                      </a:r>
                      <a:endParaRPr sz="1200" b="1" i="0" dirty="0">
                        <a:solidFill>
                          <a:srgbClr val="15296B"/>
                        </a:solidFill>
                        <a:latin typeface="Yekan Bakh FaNum" pitchFamily="2" charset="-78"/>
                        <a:cs typeface="Yekan Bakh FaNum" pitchFamily="2" charset="-78"/>
                      </a:endParaRPr>
                    </a:p>
                  </a:txBody>
                  <a:tcPr marL="54864" marR="54864" marT="27432" marB="27432" anchor="ctr">
                    <a:solidFill>
                      <a:srgbClr val="FFFFFF"/>
                    </a:solidFill>
                  </a:tcPr>
                </a:tc>
                <a:extLst>
                  <a:ext uri="{0D108BD9-81ED-4DB2-BD59-A6C34878D82A}">
                    <a16:rowId xmlns:a16="http://schemas.microsoft.com/office/drawing/2014/main" val="10003"/>
                  </a:ext>
                </a:extLst>
              </a:tr>
              <a:tr h="500777">
                <a:tc>
                  <a:txBody>
                    <a:bodyPr/>
                    <a:lstStyle/>
                    <a:p>
                      <a:pPr algn="ctr" rtl="1">
                        <a:lnSpc>
                          <a:spcPct val="108000"/>
                        </a:lnSpc>
                      </a:pPr>
                      <a:r>
                        <a:rPr sz="1000" b="0" i="0">
                          <a:solidFill>
                            <a:schemeClr val="tx1">
                              <a:lumMod val="65000"/>
                              <a:lumOff val="35000"/>
                            </a:schemeClr>
                          </a:solidFill>
                          <a:latin typeface="Yekan Bakh FaNum" pitchFamily="2" charset="-78"/>
                          <a:cs typeface="Yekan Bakh FaNum" pitchFamily="2" charset="-78"/>
                        </a:rPr>
                        <a:t>درآمد تکرارشونده و نگهداشت مشتری</a:t>
                      </a:r>
                    </a:p>
                  </a:txBody>
                  <a:tcPr marL="54864" marR="54864" marT="27432" marB="27432" anchor="ctr">
                    <a:solidFill>
                      <a:srgbClr val="F3F4F6"/>
                    </a:solidFill>
                  </a:tcPr>
                </a:tc>
                <a:tc>
                  <a:txBody>
                    <a:bodyPr/>
                    <a:lstStyle/>
                    <a:p>
                      <a:pPr algn="ctr" rtl="1">
                        <a:lnSpc>
                          <a:spcPct val="108000"/>
                        </a:lnSpc>
                      </a:pPr>
                      <a:r>
                        <a:rPr sz="1000" b="0" i="0">
                          <a:solidFill>
                            <a:schemeClr val="tx1">
                              <a:lumMod val="65000"/>
                              <a:lumOff val="35000"/>
                            </a:schemeClr>
                          </a:solidFill>
                          <a:latin typeface="Yekan Bakh FaNum" pitchFamily="2" charset="-78"/>
                          <a:cs typeface="Yekan Bakh FaNum" pitchFamily="2" charset="-78"/>
                        </a:rPr>
                        <a:t>مجری</a:t>
                      </a:r>
                    </a:p>
                  </a:txBody>
                  <a:tcPr marL="54864" marR="54864" marT="27432" marB="27432" anchor="ctr">
                    <a:solidFill>
                      <a:srgbClr val="F3F4F6"/>
                    </a:solidFill>
                  </a:tcPr>
                </a:tc>
                <a:tc>
                  <a:txBody>
                    <a:bodyPr/>
                    <a:lstStyle/>
                    <a:p>
                      <a:pPr algn="ctr" rtl="1">
                        <a:lnSpc>
                          <a:spcPct val="108000"/>
                        </a:lnSpc>
                      </a:pPr>
                      <a:r>
                        <a:rPr sz="1000" b="0" i="0" dirty="0" err="1">
                          <a:solidFill>
                            <a:schemeClr val="tx1">
                              <a:lumMod val="65000"/>
                              <a:lumOff val="35000"/>
                            </a:schemeClr>
                          </a:solidFill>
                          <a:latin typeface="Yekan Bakh FaNum" pitchFamily="2" charset="-78"/>
                          <a:cs typeface="Yekan Bakh FaNum" pitchFamily="2" charset="-78"/>
                        </a:rPr>
                        <a:t>مدیریت</a:t>
                      </a:r>
                      <a:r>
                        <a:rPr sz="1000" b="0" i="0" dirty="0">
                          <a:solidFill>
                            <a:schemeClr val="tx1">
                              <a:lumMod val="65000"/>
                              <a:lumOff val="35000"/>
                            </a:schemeClr>
                          </a:solidFill>
                          <a:latin typeface="Yekan Bakh FaNum" pitchFamily="2" charset="-78"/>
                          <a:cs typeface="Yekan Bakh FaNum" pitchFamily="2" charset="-78"/>
                        </a:rPr>
                        <a:t> </a:t>
                      </a:r>
                      <a:r>
                        <a:rPr sz="1000" b="0" i="0" dirty="0" err="1">
                          <a:solidFill>
                            <a:schemeClr val="tx1">
                              <a:lumMod val="65000"/>
                              <a:lumOff val="35000"/>
                            </a:schemeClr>
                          </a:solidFill>
                          <a:latin typeface="Yekan Bakh FaNum" pitchFamily="2" charset="-78"/>
                          <a:cs typeface="Yekan Bakh FaNum" pitchFamily="2" charset="-78"/>
                        </a:rPr>
                        <a:t>مستمر</a:t>
                      </a:r>
                      <a:r>
                        <a:rPr sz="1000" b="0" i="0" dirty="0">
                          <a:solidFill>
                            <a:schemeClr val="tx1">
                              <a:lumMod val="65000"/>
                              <a:lumOff val="35000"/>
                            </a:schemeClr>
                          </a:solidFill>
                          <a:latin typeface="Yekan Bakh FaNum" pitchFamily="2" charset="-78"/>
                          <a:cs typeface="Yekan Bakh FaNum" pitchFamily="2" charset="-78"/>
                        </a:rPr>
                        <a:t> </a:t>
                      </a:r>
                      <a:r>
                        <a:rPr sz="1000" b="0" i="0" dirty="0" err="1">
                          <a:solidFill>
                            <a:schemeClr val="tx1">
                              <a:lumMod val="65000"/>
                              <a:lumOff val="35000"/>
                            </a:schemeClr>
                          </a:solidFill>
                          <a:latin typeface="Yekan Bakh FaNum" pitchFamily="2" charset="-78"/>
                          <a:cs typeface="Yekan Bakh FaNum" pitchFamily="2" charset="-78"/>
                        </a:rPr>
                        <a:t>یک</a:t>
                      </a:r>
                      <a:r>
                        <a:rPr sz="1000" b="0" i="0" dirty="0">
                          <a:solidFill>
                            <a:schemeClr val="tx1">
                              <a:lumMod val="65000"/>
                              <a:lumOff val="35000"/>
                            </a:schemeClr>
                          </a:solidFill>
                          <a:latin typeface="Yekan Bakh FaNum" pitchFamily="2" charset="-78"/>
                          <a:cs typeface="Yekan Bakh FaNum" pitchFamily="2" charset="-78"/>
                        </a:rPr>
                        <a:t> </a:t>
                      </a:r>
                      <a:r>
                        <a:rPr sz="1000" b="0" i="0" dirty="0" err="1">
                          <a:solidFill>
                            <a:schemeClr val="tx1">
                              <a:lumMod val="65000"/>
                              <a:lumOff val="35000"/>
                            </a:schemeClr>
                          </a:solidFill>
                          <a:latin typeface="Yekan Bakh FaNum" pitchFamily="2" charset="-78"/>
                          <a:cs typeface="Yekan Bakh FaNum" pitchFamily="2" charset="-78"/>
                        </a:rPr>
                        <a:t>حوزه</a:t>
                      </a:r>
                      <a:endParaRPr sz="1000" b="0" i="0" dirty="0">
                        <a:solidFill>
                          <a:schemeClr val="tx1">
                            <a:lumMod val="65000"/>
                            <a:lumOff val="35000"/>
                          </a:schemeClr>
                        </a:solidFill>
                        <a:latin typeface="Yekan Bakh FaNum" pitchFamily="2" charset="-78"/>
                        <a:cs typeface="Yekan Bakh FaNum" pitchFamily="2" charset="-78"/>
                      </a:endParaRPr>
                    </a:p>
                  </a:txBody>
                  <a:tcPr marL="54864" marR="54864" marT="27432" marB="27432" anchor="ctr">
                    <a:solidFill>
                      <a:srgbClr val="F3F4F6"/>
                    </a:solidFill>
                  </a:tcPr>
                </a:tc>
                <a:tc>
                  <a:txBody>
                    <a:bodyPr/>
                    <a:lstStyle/>
                    <a:p>
                      <a:pPr algn="ctr" rtl="1">
                        <a:lnSpc>
                          <a:spcPct val="108000"/>
                        </a:lnSpc>
                      </a:pPr>
                      <a:r>
                        <a:rPr sz="1000" b="1" i="0" dirty="0" err="1">
                          <a:solidFill>
                            <a:srgbClr val="15296B"/>
                          </a:solidFill>
                          <a:latin typeface="Yekan Bakh FaNum" pitchFamily="2" charset="-78"/>
                          <a:cs typeface="Yekan Bakh FaNum" pitchFamily="2" charset="-78"/>
                        </a:rPr>
                        <a:t>مدیریت‌شده</a:t>
                      </a:r>
                      <a:endParaRPr sz="1000" b="1" i="0" dirty="0">
                        <a:solidFill>
                          <a:srgbClr val="15296B"/>
                        </a:solidFill>
                        <a:latin typeface="Yekan Bakh FaNum" pitchFamily="2" charset="-78"/>
                        <a:cs typeface="Yekan Bakh FaNum" pitchFamily="2" charset="-78"/>
                      </a:endParaRPr>
                    </a:p>
                  </a:txBody>
                  <a:tcPr marL="54864" marR="54864" marT="27432" marB="27432" anchor="ctr">
                    <a:solidFill>
                      <a:srgbClr val="F3F4F6"/>
                    </a:solidFill>
                  </a:tcPr>
                </a:tc>
                <a:tc>
                  <a:txBody>
                    <a:bodyPr/>
                    <a:lstStyle/>
                    <a:p>
                      <a:pPr algn="ctr" rtl="1">
                        <a:lnSpc>
                          <a:spcPct val="108000"/>
                        </a:lnSpc>
                      </a:pPr>
                      <a:r>
                        <a:rPr lang="fa-IR" sz="1200" b="1" i="0" dirty="0">
                          <a:solidFill>
                            <a:srgbClr val="15296B"/>
                          </a:solidFill>
                          <a:latin typeface="Yekan Bakh FaNum" pitchFamily="2" charset="-78"/>
                          <a:cs typeface="Yekan Bakh FaNum" pitchFamily="2" charset="-78"/>
                        </a:rPr>
                        <a:t>۴</a:t>
                      </a:r>
                      <a:endParaRPr sz="1200" b="1" i="0" dirty="0">
                        <a:solidFill>
                          <a:srgbClr val="15296B"/>
                        </a:solidFill>
                        <a:latin typeface="Yekan Bakh FaNum" pitchFamily="2" charset="-78"/>
                        <a:cs typeface="Yekan Bakh FaNum" pitchFamily="2" charset="-78"/>
                      </a:endParaRPr>
                    </a:p>
                  </a:txBody>
                  <a:tcPr marL="54864" marR="54864" marT="27432" marB="27432" anchor="ctr">
                    <a:solidFill>
                      <a:srgbClr val="F3F4F6"/>
                    </a:solidFill>
                  </a:tcPr>
                </a:tc>
                <a:extLst>
                  <a:ext uri="{0D108BD9-81ED-4DB2-BD59-A6C34878D82A}">
                    <a16:rowId xmlns:a16="http://schemas.microsoft.com/office/drawing/2014/main" val="10004"/>
                  </a:ext>
                </a:extLst>
              </a:tr>
              <a:tr h="500777">
                <a:tc>
                  <a:txBody>
                    <a:bodyPr/>
                    <a:lstStyle/>
                    <a:p>
                      <a:pPr algn="ctr" rtl="1">
                        <a:lnSpc>
                          <a:spcPct val="108000"/>
                        </a:lnSpc>
                      </a:pPr>
                      <a:r>
                        <a:rPr sz="1000" b="0" i="0">
                          <a:solidFill>
                            <a:schemeClr val="tx1">
                              <a:lumMod val="65000"/>
                              <a:lumOff val="35000"/>
                            </a:schemeClr>
                          </a:solidFill>
                          <a:latin typeface="Yekan Bakh FaNum" pitchFamily="2" charset="-78"/>
                          <a:cs typeface="Yekan Bakh FaNum" pitchFamily="2" charset="-78"/>
                        </a:rPr>
                        <a:t>راهکار متناسب برای مسائل غیراستاندارد</a:t>
                      </a:r>
                    </a:p>
                  </a:txBody>
                  <a:tcPr marL="54864" marR="54864" marT="27432" marB="27432" anchor="ctr">
                    <a:solidFill>
                      <a:srgbClr val="FFFFFF"/>
                    </a:solidFill>
                  </a:tcPr>
                </a:tc>
                <a:tc>
                  <a:txBody>
                    <a:bodyPr/>
                    <a:lstStyle/>
                    <a:p>
                      <a:pPr algn="ctr" rtl="1">
                        <a:lnSpc>
                          <a:spcPct val="108000"/>
                        </a:lnSpc>
                      </a:pPr>
                      <a:r>
                        <a:rPr sz="1000" b="0" i="0">
                          <a:solidFill>
                            <a:schemeClr val="tx1">
                              <a:lumMod val="65000"/>
                              <a:lumOff val="35000"/>
                            </a:schemeClr>
                          </a:solidFill>
                          <a:latin typeface="Yekan Bakh FaNum" pitchFamily="2" charset="-78"/>
                          <a:cs typeface="Yekan Bakh FaNum" pitchFamily="2" charset="-78"/>
                        </a:rPr>
                        <a:t>هم‌آفرین</a:t>
                      </a:r>
                    </a:p>
                  </a:txBody>
                  <a:tcPr marL="54864" marR="54864" marT="27432" marB="27432" anchor="ctr">
                    <a:solidFill>
                      <a:srgbClr val="FFFFFF"/>
                    </a:solidFill>
                  </a:tcPr>
                </a:tc>
                <a:tc>
                  <a:txBody>
                    <a:bodyPr/>
                    <a:lstStyle/>
                    <a:p>
                      <a:pPr algn="ctr" rtl="1">
                        <a:lnSpc>
                          <a:spcPct val="108000"/>
                        </a:lnSpc>
                      </a:pPr>
                      <a:r>
                        <a:rPr sz="1000" b="0" i="0" dirty="0" err="1">
                          <a:solidFill>
                            <a:schemeClr val="tx1">
                              <a:lumMod val="65000"/>
                              <a:lumOff val="35000"/>
                            </a:schemeClr>
                          </a:solidFill>
                          <a:latin typeface="Yekan Bakh FaNum" pitchFamily="2" charset="-78"/>
                          <a:cs typeface="Yekan Bakh FaNum" pitchFamily="2" charset="-78"/>
                        </a:rPr>
                        <a:t>حل</a:t>
                      </a:r>
                      <a:r>
                        <a:rPr sz="1000" b="0" i="0" dirty="0">
                          <a:solidFill>
                            <a:schemeClr val="tx1">
                              <a:lumMod val="65000"/>
                              <a:lumOff val="35000"/>
                            </a:schemeClr>
                          </a:solidFill>
                          <a:latin typeface="Yekan Bakh FaNum" pitchFamily="2" charset="-78"/>
                          <a:cs typeface="Yekan Bakh FaNum" pitchFamily="2" charset="-78"/>
                        </a:rPr>
                        <a:t> </a:t>
                      </a:r>
                      <a:r>
                        <a:rPr sz="1000" b="0" i="0" dirty="0" err="1">
                          <a:solidFill>
                            <a:schemeClr val="tx1">
                              <a:lumMod val="65000"/>
                              <a:lumOff val="35000"/>
                            </a:schemeClr>
                          </a:solidFill>
                          <a:latin typeface="Yekan Bakh FaNum" pitchFamily="2" charset="-78"/>
                          <a:cs typeface="Yekan Bakh FaNum" pitchFamily="2" charset="-78"/>
                        </a:rPr>
                        <a:t>مشترک</a:t>
                      </a:r>
                      <a:r>
                        <a:rPr sz="1000" b="0" i="0" dirty="0">
                          <a:solidFill>
                            <a:schemeClr val="tx1">
                              <a:lumMod val="65000"/>
                              <a:lumOff val="35000"/>
                            </a:schemeClr>
                          </a:solidFill>
                          <a:latin typeface="Yekan Bakh FaNum" pitchFamily="2" charset="-78"/>
                          <a:cs typeface="Yekan Bakh FaNum" pitchFamily="2" charset="-78"/>
                        </a:rPr>
                        <a:t> </a:t>
                      </a:r>
                      <a:r>
                        <a:rPr sz="1000" b="0" i="0" dirty="0" err="1">
                          <a:solidFill>
                            <a:schemeClr val="tx1">
                              <a:lumMod val="65000"/>
                              <a:lumOff val="35000"/>
                            </a:schemeClr>
                          </a:solidFill>
                          <a:latin typeface="Yekan Bakh FaNum" pitchFamily="2" charset="-78"/>
                          <a:cs typeface="Yekan Bakh FaNum" pitchFamily="2" charset="-78"/>
                        </a:rPr>
                        <a:t>مسئله</a:t>
                      </a:r>
                      <a:endParaRPr sz="1000" b="0" i="0" dirty="0">
                        <a:solidFill>
                          <a:schemeClr val="tx1">
                            <a:lumMod val="65000"/>
                            <a:lumOff val="35000"/>
                          </a:schemeClr>
                        </a:solidFill>
                        <a:latin typeface="Yekan Bakh FaNum" pitchFamily="2" charset="-78"/>
                        <a:cs typeface="Yekan Bakh FaNum" pitchFamily="2" charset="-78"/>
                      </a:endParaRPr>
                    </a:p>
                  </a:txBody>
                  <a:tcPr marL="54864" marR="54864" marT="27432" marB="27432" anchor="ctr">
                    <a:solidFill>
                      <a:srgbClr val="FFFFFF"/>
                    </a:solidFill>
                  </a:tcPr>
                </a:tc>
                <a:tc>
                  <a:txBody>
                    <a:bodyPr/>
                    <a:lstStyle/>
                    <a:p>
                      <a:pPr algn="ctr" rtl="1">
                        <a:lnSpc>
                          <a:spcPct val="108000"/>
                        </a:lnSpc>
                      </a:pPr>
                      <a:r>
                        <a:rPr sz="1000" b="1" i="0" dirty="0" err="1">
                          <a:solidFill>
                            <a:srgbClr val="15296B"/>
                          </a:solidFill>
                          <a:latin typeface="Yekan Bakh FaNum" pitchFamily="2" charset="-78"/>
                          <a:cs typeface="Yekan Bakh FaNum" pitchFamily="2" charset="-78"/>
                        </a:rPr>
                        <a:t>مشارکتی</a:t>
                      </a:r>
                      <a:endParaRPr sz="1000" b="1" i="0" dirty="0">
                        <a:solidFill>
                          <a:srgbClr val="15296B"/>
                        </a:solidFill>
                        <a:latin typeface="Yekan Bakh FaNum" pitchFamily="2" charset="-78"/>
                        <a:cs typeface="Yekan Bakh FaNum" pitchFamily="2" charset="-78"/>
                      </a:endParaRPr>
                    </a:p>
                  </a:txBody>
                  <a:tcPr marL="54864" marR="54864" marT="27432" marB="27432" anchor="ctr">
                    <a:solidFill>
                      <a:srgbClr val="FFFFFF"/>
                    </a:solidFill>
                  </a:tcPr>
                </a:tc>
                <a:tc>
                  <a:txBody>
                    <a:bodyPr/>
                    <a:lstStyle/>
                    <a:p>
                      <a:pPr algn="ctr" rtl="1">
                        <a:lnSpc>
                          <a:spcPct val="108000"/>
                        </a:lnSpc>
                      </a:pPr>
                      <a:r>
                        <a:rPr lang="fa-IR" sz="1200" b="1" i="0" dirty="0">
                          <a:solidFill>
                            <a:srgbClr val="15296B"/>
                          </a:solidFill>
                          <a:latin typeface="Yekan Bakh FaNum" pitchFamily="2" charset="-78"/>
                          <a:cs typeface="Yekan Bakh FaNum" pitchFamily="2" charset="-78"/>
                        </a:rPr>
                        <a:t>۵</a:t>
                      </a:r>
                      <a:endParaRPr sz="1200" b="1" i="0" dirty="0">
                        <a:solidFill>
                          <a:srgbClr val="15296B"/>
                        </a:solidFill>
                        <a:latin typeface="Yekan Bakh FaNum" pitchFamily="2" charset="-78"/>
                        <a:cs typeface="Yekan Bakh FaNum" pitchFamily="2" charset="-78"/>
                      </a:endParaRPr>
                    </a:p>
                  </a:txBody>
                  <a:tcPr marL="54864" marR="54864" marT="27432" marB="27432" anchor="ctr">
                    <a:solidFill>
                      <a:srgbClr val="FFFFFF"/>
                    </a:solidFill>
                  </a:tcPr>
                </a:tc>
                <a:extLst>
                  <a:ext uri="{0D108BD9-81ED-4DB2-BD59-A6C34878D82A}">
                    <a16:rowId xmlns:a16="http://schemas.microsoft.com/office/drawing/2014/main" val="10005"/>
                  </a:ext>
                </a:extLst>
              </a:tr>
              <a:tr h="500777">
                <a:tc>
                  <a:txBody>
                    <a:bodyPr/>
                    <a:lstStyle/>
                    <a:p>
                      <a:pPr algn="ctr" rtl="1">
                        <a:lnSpc>
                          <a:spcPct val="108000"/>
                        </a:lnSpc>
                      </a:pPr>
                      <a:r>
                        <a:rPr sz="1000" b="0" i="0">
                          <a:solidFill>
                            <a:schemeClr val="tx1">
                              <a:lumMod val="65000"/>
                              <a:lumOff val="35000"/>
                            </a:schemeClr>
                          </a:solidFill>
                          <a:latin typeface="Yekan Bakh FaNum" pitchFamily="2" charset="-78"/>
                          <a:cs typeface="Yekan Bakh FaNum" pitchFamily="2" charset="-78"/>
                        </a:rPr>
                        <a:t>رابطه‌ای که خودش دارایی راهبردی می‌شود</a:t>
                      </a:r>
                    </a:p>
                  </a:txBody>
                  <a:tcPr marL="54864" marR="54864" marT="27432" marB="27432" anchor="ctr">
                    <a:solidFill>
                      <a:srgbClr val="F3F4F6"/>
                    </a:solidFill>
                  </a:tcPr>
                </a:tc>
                <a:tc>
                  <a:txBody>
                    <a:bodyPr/>
                    <a:lstStyle/>
                    <a:p>
                      <a:pPr algn="ctr" rtl="1">
                        <a:lnSpc>
                          <a:spcPct val="108000"/>
                        </a:lnSpc>
                      </a:pPr>
                      <a:r>
                        <a:rPr sz="1000" b="0" i="0">
                          <a:solidFill>
                            <a:schemeClr val="tx1">
                              <a:lumMod val="65000"/>
                              <a:lumOff val="35000"/>
                            </a:schemeClr>
                          </a:solidFill>
                          <a:latin typeface="Yekan Bakh FaNum" pitchFamily="2" charset="-78"/>
                          <a:cs typeface="Yekan Bakh FaNum" pitchFamily="2" charset="-78"/>
                        </a:rPr>
                        <a:t>شریک راهبردی</a:t>
                      </a:r>
                    </a:p>
                  </a:txBody>
                  <a:tcPr marL="54864" marR="54864" marT="27432" marB="27432" anchor="ctr">
                    <a:solidFill>
                      <a:srgbClr val="F3F4F6"/>
                    </a:solidFill>
                  </a:tcPr>
                </a:tc>
                <a:tc>
                  <a:txBody>
                    <a:bodyPr/>
                    <a:lstStyle/>
                    <a:p>
                      <a:pPr algn="ctr" rtl="1">
                        <a:lnSpc>
                          <a:spcPct val="108000"/>
                        </a:lnSpc>
                      </a:pPr>
                      <a:r>
                        <a:rPr sz="1000" b="0" i="0" dirty="0" err="1">
                          <a:solidFill>
                            <a:schemeClr val="tx1">
                              <a:lumMod val="65000"/>
                              <a:lumOff val="35000"/>
                            </a:schemeClr>
                          </a:solidFill>
                          <a:latin typeface="Yekan Bakh FaNum" pitchFamily="2" charset="-78"/>
                          <a:cs typeface="Yekan Bakh FaNum" pitchFamily="2" charset="-78"/>
                        </a:rPr>
                        <a:t>خلق</a:t>
                      </a:r>
                      <a:r>
                        <a:rPr sz="1000" b="0" i="0" dirty="0">
                          <a:solidFill>
                            <a:schemeClr val="tx1">
                              <a:lumMod val="65000"/>
                              <a:lumOff val="35000"/>
                            </a:schemeClr>
                          </a:solidFill>
                          <a:latin typeface="Yekan Bakh FaNum" pitchFamily="2" charset="-78"/>
                          <a:cs typeface="Yekan Bakh FaNum" pitchFamily="2" charset="-78"/>
                        </a:rPr>
                        <a:t> </a:t>
                      </a:r>
                      <a:r>
                        <a:rPr sz="1000" b="0" i="0" dirty="0" err="1">
                          <a:solidFill>
                            <a:schemeClr val="tx1">
                              <a:lumMod val="65000"/>
                              <a:lumOff val="35000"/>
                            </a:schemeClr>
                          </a:solidFill>
                          <a:latin typeface="Yekan Bakh FaNum" pitchFamily="2" charset="-78"/>
                          <a:cs typeface="Yekan Bakh FaNum" pitchFamily="2" charset="-78"/>
                        </a:rPr>
                        <a:t>ارزش</a:t>
                      </a:r>
                      <a:r>
                        <a:rPr sz="1000" b="0" i="0" dirty="0">
                          <a:solidFill>
                            <a:schemeClr val="tx1">
                              <a:lumMod val="65000"/>
                              <a:lumOff val="35000"/>
                            </a:schemeClr>
                          </a:solidFill>
                          <a:latin typeface="Yekan Bakh FaNum" pitchFamily="2" charset="-78"/>
                          <a:cs typeface="Yekan Bakh FaNum" pitchFamily="2" charset="-78"/>
                        </a:rPr>
                        <a:t> </a:t>
                      </a:r>
                      <a:r>
                        <a:rPr sz="1000" b="0" i="0" dirty="0" err="1">
                          <a:solidFill>
                            <a:schemeClr val="tx1">
                              <a:lumMod val="65000"/>
                              <a:lumOff val="35000"/>
                            </a:schemeClr>
                          </a:solidFill>
                          <a:latin typeface="Yekan Bakh FaNum" pitchFamily="2" charset="-78"/>
                          <a:cs typeface="Yekan Bakh FaNum" pitchFamily="2" charset="-78"/>
                        </a:rPr>
                        <a:t>بلندمدت</a:t>
                      </a:r>
                      <a:endParaRPr sz="1000" b="0" i="0" dirty="0">
                        <a:solidFill>
                          <a:schemeClr val="tx1">
                            <a:lumMod val="65000"/>
                            <a:lumOff val="35000"/>
                          </a:schemeClr>
                        </a:solidFill>
                        <a:latin typeface="Yekan Bakh FaNum" pitchFamily="2" charset="-78"/>
                        <a:cs typeface="Yekan Bakh FaNum" pitchFamily="2" charset="-78"/>
                      </a:endParaRPr>
                    </a:p>
                  </a:txBody>
                  <a:tcPr marL="54864" marR="54864" marT="27432" marB="27432" anchor="ctr">
                    <a:solidFill>
                      <a:srgbClr val="F3F4F6"/>
                    </a:solidFill>
                  </a:tcPr>
                </a:tc>
                <a:tc>
                  <a:txBody>
                    <a:bodyPr/>
                    <a:lstStyle/>
                    <a:p>
                      <a:pPr algn="ctr" rtl="1">
                        <a:lnSpc>
                          <a:spcPct val="108000"/>
                        </a:lnSpc>
                      </a:pPr>
                      <a:r>
                        <a:rPr sz="1000" b="1" i="0" dirty="0" err="1">
                          <a:solidFill>
                            <a:srgbClr val="15296B"/>
                          </a:solidFill>
                          <a:latin typeface="Yekan Bakh FaNum" pitchFamily="2" charset="-78"/>
                          <a:cs typeface="Yekan Bakh FaNum" pitchFamily="2" charset="-78"/>
                        </a:rPr>
                        <a:t>شراکت</a:t>
                      </a:r>
                      <a:r>
                        <a:rPr sz="1000" b="1" i="0" dirty="0">
                          <a:solidFill>
                            <a:srgbClr val="15296B"/>
                          </a:solidFill>
                          <a:latin typeface="Yekan Bakh FaNum" pitchFamily="2" charset="-78"/>
                          <a:cs typeface="Yekan Bakh FaNum" pitchFamily="2" charset="-78"/>
                        </a:rPr>
                        <a:t> </a:t>
                      </a:r>
                      <a:r>
                        <a:rPr sz="1000" b="1" i="0" dirty="0" err="1">
                          <a:solidFill>
                            <a:srgbClr val="15296B"/>
                          </a:solidFill>
                          <a:latin typeface="Yekan Bakh FaNum" pitchFamily="2" charset="-78"/>
                          <a:cs typeface="Yekan Bakh FaNum" pitchFamily="2" charset="-78"/>
                        </a:rPr>
                        <a:t>راهبردی</a:t>
                      </a:r>
                      <a:endParaRPr sz="1000" b="1" i="0" dirty="0">
                        <a:solidFill>
                          <a:srgbClr val="15296B"/>
                        </a:solidFill>
                        <a:latin typeface="Yekan Bakh FaNum" pitchFamily="2" charset="-78"/>
                        <a:cs typeface="Yekan Bakh FaNum" pitchFamily="2" charset="-78"/>
                      </a:endParaRPr>
                    </a:p>
                  </a:txBody>
                  <a:tcPr marL="54864" marR="54864" marT="27432" marB="27432" anchor="ctr">
                    <a:solidFill>
                      <a:srgbClr val="F3F4F6"/>
                    </a:solidFill>
                  </a:tcPr>
                </a:tc>
                <a:tc>
                  <a:txBody>
                    <a:bodyPr/>
                    <a:lstStyle/>
                    <a:p>
                      <a:pPr algn="ctr" rtl="1">
                        <a:lnSpc>
                          <a:spcPct val="108000"/>
                        </a:lnSpc>
                      </a:pPr>
                      <a:r>
                        <a:rPr lang="fa-IR" sz="1200" b="1" i="0" dirty="0">
                          <a:solidFill>
                            <a:srgbClr val="15296B"/>
                          </a:solidFill>
                          <a:latin typeface="Yekan Bakh FaNum" pitchFamily="2" charset="-78"/>
                          <a:cs typeface="Yekan Bakh FaNum" pitchFamily="2" charset="-78"/>
                        </a:rPr>
                        <a:t>۶</a:t>
                      </a:r>
                      <a:endParaRPr sz="1200" b="1" i="0" dirty="0">
                        <a:solidFill>
                          <a:srgbClr val="15296B"/>
                        </a:solidFill>
                        <a:latin typeface="Yekan Bakh FaNum" pitchFamily="2" charset="-78"/>
                        <a:cs typeface="Yekan Bakh FaNum" pitchFamily="2" charset="-78"/>
                      </a:endParaRPr>
                    </a:p>
                  </a:txBody>
                  <a:tcPr marL="54864" marR="54864" marT="27432" marB="27432" anchor="ctr">
                    <a:solidFill>
                      <a:srgbClr val="F3F4F6"/>
                    </a:solidFill>
                  </a:tcPr>
                </a:tc>
                <a:extLst>
                  <a:ext uri="{0D108BD9-81ED-4DB2-BD59-A6C34878D82A}">
                    <a16:rowId xmlns:a16="http://schemas.microsoft.com/office/drawing/2014/main" val="10006"/>
                  </a:ext>
                </a:extLst>
              </a:tr>
              <a:tr h="500777">
                <a:tc>
                  <a:txBody>
                    <a:bodyPr/>
                    <a:lstStyle/>
                    <a:p>
                      <a:pPr algn="ctr" rtl="1">
                        <a:lnSpc>
                          <a:spcPct val="108000"/>
                        </a:lnSpc>
                      </a:pPr>
                      <a:r>
                        <a:rPr lang="fa-IR" sz="1000" b="0" i="0">
                          <a:solidFill>
                            <a:schemeClr val="tx1">
                              <a:lumMod val="65000"/>
                              <a:lumOff val="35000"/>
                            </a:schemeClr>
                          </a:solidFill>
                          <a:latin typeface="Yekan Bakh FaNum" pitchFamily="2" charset="-78"/>
                          <a:cs typeface="Yekan Bakh FaNum" pitchFamily="2" charset="-78"/>
                        </a:rPr>
                        <a:t>مزیت رقابتی محوری «اکوسیستم فرصت ایران»</a:t>
                      </a:r>
                    </a:p>
                  </a:txBody>
                  <a:tcPr marL="54864" marR="54864" marT="27432" marB="27432" anchor="ctr">
                    <a:solidFill>
                      <a:srgbClr val="F0BE0F">
                        <a:alpha val="49000"/>
                      </a:srgbClr>
                    </a:solidFill>
                  </a:tcPr>
                </a:tc>
                <a:tc>
                  <a:txBody>
                    <a:bodyPr/>
                    <a:lstStyle/>
                    <a:p>
                      <a:pPr algn="ctr" rtl="1">
                        <a:lnSpc>
                          <a:spcPct val="108000"/>
                        </a:lnSpc>
                      </a:pPr>
                      <a:r>
                        <a:rPr sz="1000" b="0" i="0">
                          <a:solidFill>
                            <a:schemeClr val="tx1">
                              <a:lumMod val="65000"/>
                              <a:lumOff val="35000"/>
                            </a:schemeClr>
                          </a:solidFill>
                          <a:latin typeface="Yekan Bakh FaNum" pitchFamily="2" charset="-78"/>
                          <a:cs typeface="Yekan Bakh FaNum" pitchFamily="2" charset="-78"/>
                        </a:rPr>
                        <a:t>هماهنگ‌کننده اکوسیستم</a:t>
                      </a:r>
                    </a:p>
                  </a:txBody>
                  <a:tcPr marL="54864" marR="54864" marT="27432" marB="27432" anchor="ctr">
                    <a:solidFill>
                      <a:srgbClr val="F0BE0F">
                        <a:alpha val="49000"/>
                      </a:srgbClr>
                    </a:solidFill>
                  </a:tcPr>
                </a:tc>
                <a:tc>
                  <a:txBody>
                    <a:bodyPr/>
                    <a:lstStyle/>
                    <a:p>
                      <a:pPr algn="ctr" rtl="1">
                        <a:lnSpc>
                          <a:spcPct val="108000"/>
                        </a:lnSpc>
                      </a:pPr>
                      <a:r>
                        <a:rPr sz="1000" b="0" i="0" dirty="0" err="1">
                          <a:solidFill>
                            <a:schemeClr val="tx1">
                              <a:lumMod val="65000"/>
                              <a:lumOff val="35000"/>
                            </a:schemeClr>
                          </a:solidFill>
                          <a:latin typeface="Yekan Bakh FaNum" pitchFamily="2" charset="-78"/>
                          <a:cs typeface="Yekan Bakh FaNum" pitchFamily="2" charset="-78"/>
                        </a:rPr>
                        <a:t>هماهنگی</a:t>
                      </a:r>
                      <a:r>
                        <a:rPr sz="1000" b="0" i="0" dirty="0">
                          <a:solidFill>
                            <a:schemeClr val="tx1">
                              <a:lumMod val="65000"/>
                              <a:lumOff val="35000"/>
                            </a:schemeClr>
                          </a:solidFill>
                          <a:latin typeface="Yekan Bakh FaNum" pitchFamily="2" charset="-78"/>
                          <a:cs typeface="Yekan Bakh FaNum" pitchFamily="2" charset="-78"/>
                        </a:rPr>
                        <a:t> </a:t>
                      </a:r>
                      <a:r>
                        <a:rPr sz="1000" b="0" i="0" dirty="0" err="1">
                          <a:solidFill>
                            <a:schemeClr val="tx1">
                              <a:lumMod val="65000"/>
                              <a:lumOff val="35000"/>
                            </a:schemeClr>
                          </a:solidFill>
                          <a:latin typeface="Yekan Bakh FaNum" pitchFamily="2" charset="-78"/>
                          <a:cs typeface="Yekan Bakh FaNum" pitchFamily="2" charset="-78"/>
                        </a:rPr>
                        <a:t>کل</a:t>
                      </a:r>
                      <a:r>
                        <a:rPr sz="1000" b="0" i="0" dirty="0">
                          <a:solidFill>
                            <a:schemeClr val="tx1">
                              <a:lumMod val="65000"/>
                              <a:lumOff val="35000"/>
                            </a:schemeClr>
                          </a:solidFill>
                          <a:latin typeface="Yekan Bakh FaNum" pitchFamily="2" charset="-78"/>
                          <a:cs typeface="Yekan Bakh FaNum" pitchFamily="2" charset="-78"/>
                        </a:rPr>
                        <a:t> </a:t>
                      </a:r>
                      <a:r>
                        <a:rPr sz="1000" b="0" i="0" dirty="0" err="1">
                          <a:solidFill>
                            <a:schemeClr val="tx1">
                              <a:lumMod val="65000"/>
                              <a:lumOff val="35000"/>
                            </a:schemeClr>
                          </a:solidFill>
                          <a:latin typeface="Yekan Bakh FaNum" pitchFamily="2" charset="-78"/>
                          <a:cs typeface="Yekan Bakh FaNum" pitchFamily="2" charset="-78"/>
                        </a:rPr>
                        <a:t>راهکار</a:t>
                      </a:r>
                      <a:r>
                        <a:rPr sz="1000" b="0" i="0" dirty="0">
                          <a:solidFill>
                            <a:schemeClr val="tx1">
                              <a:lumMod val="65000"/>
                              <a:lumOff val="35000"/>
                            </a:schemeClr>
                          </a:solidFill>
                          <a:latin typeface="Yekan Bakh FaNum" pitchFamily="2" charset="-78"/>
                          <a:cs typeface="Yekan Bakh FaNum" pitchFamily="2" charset="-78"/>
                        </a:rPr>
                        <a:t>/</a:t>
                      </a:r>
                      <a:r>
                        <a:rPr sz="1000" b="0" i="0" dirty="0" err="1">
                          <a:solidFill>
                            <a:schemeClr val="tx1">
                              <a:lumMod val="65000"/>
                              <a:lumOff val="35000"/>
                            </a:schemeClr>
                          </a:solidFill>
                          <a:latin typeface="Yekan Bakh FaNum" pitchFamily="2" charset="-78"/>
                          <a:cs typeface="Yekan Bakh FaNum" pitchFamily="2" charset="-78"/>
                        </a:rPr>
                        <a:t>شبکه</a:t>
                      </a:r>
                      <a:endParaRPr sz="1000" b="0" i="0" dirty="0">
                        <a:solidFill>
                          <a:schemeClr val="tx1">
                            <a:lumMod val="65000"/>
                            <a:lumOff val="35000"/>
                          </a:schemeClr>
                        </a:solidFill>
                        <a:latin typeface="Yekan Bakh FaNum" pitchFamily="2" charset="-78"/>
                        <a:cs typeface="Yekan Bakh FaNum" pitchFamily="2" charset="-78"/>
                      </a:endParaRPr>
                    </a:p>
                  </a:txBody>
                  <a:tcPr marL="54864" marR="54864" marT="27432" marB="27432" anchor="ctr">
                    <a:solidFill>
                      <a:srgbClr val="F0BE0F">
                        <a:alpha val="49000"/>
                      </a:srgbClr>
                    </a:solidFill>
                  </a:tcPr>
                </a:tc>
                <a:tc>
                  <a:txBody>
                    <a:bodyPr/>
                    <a:lstStyle/>
                    <a:p>
                      <a:pPr algn="ctr" rtl="1">
                        <a:lnSpc>
                          <a:spcPct val="108000"/>
                        </a:lnSpc>
                      </a:pPr>
                      <a:r>
                        <a:rPr sz="1000" b="1" i="0" dirty="0" err="1">
                          <a:solidFill>
                            <a:srgbClr val="15296B"/>
                          </a:solidFill>
                          <a:latin typeface="Yekan Bakh FaNum" pitchFamily="2" charset="-78"/>
                          <a:cs typeface="Yekan Bakh FaNum" pitchFamily="2" charset="-78"/>
                        </a:rPr>
                        <a:t>اکوسیستمی</a:t>
                      </a:r>
                      <a:endParaRPr sz="1000" b="1" i="0" dirty="0">
                        <a:solidFill>
                          <a:srgbClr val="15296B"/>
                        </a:solidFill>
                        <a:latin typeface="Yekan Bakh FaNum" pitchFamily="2" charset="-78"/>
                        <a:cs typeface="Yekan Bakh FaNum" pitchFamily="2" charset="-78"/>
                      </a:endParaRPr>
                    </a:p>
                  </a:txBody>
                  <a:tcPr marL="54864" marR="54864" marT="27432" marB="27432" anchor="ctr">
                    <a:solidFill>
                      <a:srgbClr val="F0BE0F">
                        <a:alpha val="49000"/>
                      </a:srgbClr>
                    </a:solidFill>
                  </a:tcPr>
                </a:tc>
                <a:tc>
                  <a:txBody>
                    <a:bodyPr/>
                    <a:lstStyle/>
                    <a:p>
                      <a:pPr algn="ctr" rtl="1">
                        <a:lnSpc>
                          <a:spcPct val="108000"/>
                        </a:lnSpc>
                      </a:pPr>
                      <a:r>
                        <a:rPr lang="fa-IR" sz="1200" b="1" i="0" dirty="0">
                          <a:solidFill>
                            <a:srgbClr val="15296B"/>
                          </a:solidFill>
                          <a:latin typeface="Yekan Bakh FaNum" pitchFamily="2" charset="-78"/>
                          <a:cs typeface="Yekan Bakh FaNum" pitchFamily="2" charset="-78"/>
                        </a:rPr>
                        <a:t>۷</a:t>
                      </a:r>
                      <a:endParaRPr sz="1200" b="1" i="0" dirty="0">
                        <a:solidFill>
                          <a:srgbClr val="15296B"/>
                        </a:solidFill>
                        <a:latin typeface="Yekan Bakh FaNum" pitchFamily="2" charset="-78"/>
                        <a:cs typeface="Yekan Bakh FaNum" pitchFamily="2" charset="-78"/>
                      </a:endParaRPr>
                    </a:p>
                  </a:txBody>
                  <a:tcPr marL="54864" marR="54864" marT="27432" marB="27432" anchor="ctr">
                    <a:solidFill>
                      <a:srgbClr val="F0BE0F">
                        <a:alpha val="49000"/>
                      </a:srgbClr>
                    </a:solidFill>
                  </a:tcPr>
                </a:tc>
                <a:extLst>
                  <a:ext uri="{0D108BD9-81ED-4DB2-BD59-A6C34878D82A}">
                    <a16:rowId xmlns:a16="http://schemas.microsoft.com/office/drawing/2014/main" val="10007"/>
                  </a:ext>
                </a:extLst>
              </a:tr>
            </a:tbl>
          </a:graphicData>
        </a:graphic>
      </p:graphicFrame>
      <p:sp>
        <p:nvSpPr>
          <p:cNvPr id="6" name="TextBox 5">
            <a:extLst>
              <a:ext uri="{FF2B5EF4-FFF2-40B4-BE49-F238E27FC236}">
                <a16:creationId xmlns:a16="http://schemas.microsoft.com/office/drawing/2014/main" id="{A192A3C5-F1FF-C6D4-0CEF-B6DA81D5623E}"/>
              </a:ext>
            </a:extLst>
          </p:cNvPr>
          <p:cNvSpPr txBox="1"/>
          <p:nvPr/>
        </p:nvSpPr>
        <p:spPr>
          <a:xfrm>
            <a:off x="1100134" y="5529333"/>
            <a:ext cx="10143439" cy="192360"/>
          </a:xfrm>
          <a:prstGeom prst="rect">
            <a:avLst/>
          </a:prstGeom>
          <a:noFill/>
        </p:spPr>
        <p:txBody>
          <a:bodyPr wrap="square" lIns="0" tIns="0" rIns="0" bIns="0" anchor="t">
            <a:spAutoFit/>
          </a:bodyPr>
          <a:lstStyle/>
          <a:p>
            <a:pPr marL="0" marR="0" lvl="0" indent="0" algn="r" defTabSz="457200" rtl="1" eaLnBrk="1" fontAlgn="auto" latinLnBrk="0" hangingPunct="1">
              <a:lnSpc>
                <a:spcPct val="125000"/>
              </a:lnSpc>
              <a:spcBef>
                <a:spcPts val="0"/>
              </a:spcBef>
              <a:spcAft>
                <a:spcPts val="0"/>
              </a:spcAft>
              <a:buClrTx/>
              <a:buSzTx/>
              <a:buFontTx/>
              <a:buNone/>
              <a:tabLst/>
              <a:defRPr/>
            </a:pPr>
            <a:r>
              <a:rPr kumimoji="0" sz="1000" b="1" i="0" u="none" strike="noStrike" kern="1200" cap="none" spc="0" normalizeH="0" baseline="0" noProof="0" dirty="0" err="1">
                <a:ln>
                  <a:noFill/>
                </a:ln>
                <a:solidFill>
                  <a:srgbClr val="F0BE0F"/>
                </a:solidFill>
                <a:effectLst/>
                <a:uLnTx/>
                <a:uFillTx/>
                <a:latin typeface="Yekan Bakh FaNum" pitchFamily="2" charset="-78"/>
                <a:ea typeface="+mn-ea"/>
                <a:cs typeface="Yekan Bakh FaNum" pitchFamily="2" charset="-78"/>
              </a:rPr>
              <a:t>یک</a:t>
            </a:r>
            <a:r>
              <a:rPr kumimoji="0" sz="1000" b="1" i="0" u="none" strike="noStrike" kern="1200" cap="none" spc="0" normalizeH="0" baseline="0" noProof="0" dirty="0">
                <a:ln>
                  <a:noFill/>
                </a:ln>
                <a:solidFill>
                  <a:srgbClr val="F0BE0F"/>
                </a:solidFill>
                <a:effectLst/>
                <a:uLnTx/>
                <a:uFillTx/>
                <a:latin typeface="Yekan Bakh FaNum" pitchFamily="2" charset="-78"/>
                <a:ea typeface="+mn-ea"/>
                <a:cs typeface="Yekan Bakh FaNum" pitchFamily="2" charset="-78"/>
              </a:rPr>
              <a:t> </a:t>
            </a:r>
            <a:r>
              <a:rPr kumimoji="0" sz="1000" b="1" i="0" u="none" strike="noStrike" kern="1200" cap="none" spc="0" normalizeH="0" baseline="0" noProof="0" dirty="0" err="1">
                <a:ln>
                  <a:noFill/>
                </a:ln>
                <a:solidFill>
                  <a:srgbClr val="F0BE0F"/>
                </a:solidFill>
                <a:effectLst/>
                <a:uLnTx/>
                <a:uFillTx/>
                <a:latin typeface="Yekan Bakh FaNum" pitchFamily="2" charset="-78"/>
                <a:ea typeface="+mn-ea"/>
                <a:cs typeface="Yekan Bakh FaNum" pitchFamily="2" charset="-78"/>
              </a:rPr>
              <a:t>مشتری</a:t>
            </a:r>
            <a:r>
              <a:rPr kumimoji="0" sz="1000" b="1" i="0" u="none" strike="noStrike" kern="1200" cap="none" spc="0" normalizeH="0" baseline="0" noProof="0" dirty="0">
                <a:ln>
                  <a:noFill/>
                </a:ln>
                <a:solidFill>
                  <a:srgbClr val="F0BE0F"/>
                </a:solidFill>
                <a:effectLst/>
                <a:uLnTx/>
                <a:uFillTx/>
                <a:latin typeface="Yekan Bakh FaNum" pitchFamily="2" charset="-78"/>
                <a:ea typeface="+mn-ea"/>
                <a:cs typeface="Yekan Bakh FaNum" pitchFamily="2" charset="-78"/>
              </a:rPr>
              <a:t> </a:t>
            </a:r>
            <a:r>
              <a:rPr kumimoji="0" sz="1000" b="1" i="0" u="none" strike="noStrike" kern="1200" cap="none" spc="0" normalizeH="0" baseline="0" noProof="0" dirty="0" err="1">
                <a:ln>
                  <a:noFill/>
                </a:ln>
                <a:solidFill>
                  <a:srgbClr val="F0BE0F"/>
                </a:solidFill>
                <a:effectLst/>
                <a:uLnTx/>
                <a:uFillTx/>
                <a:latin typeface="Yekan Bakh FaNum" pitchFamily="2" charset="-78"/>
                <a:ea typeface="+mn-ea"/>
                <a:cs typeface="Yekan Bakh FaNum" pitchFamily="2" charset="-78"/>
              </a:rPr>
              <a:t>واحد</a:t>
            </a:r>
            <a:r>
              <a:rPr kumimoji="0" sz="1000" b="1" i="0" u="none" strike="noStrike" kern="1200" cap="none" spc="0" normalizeH="0" baseline="0" noProof="0" dirty="0">
                <a:ln>
                  <a:noFill/>
                </a:ln>
                <a:solidFill>
                  <a:srgbClr val="F0BE0F"/>
                </a:solidFill>
                <a:effectLst/>
                <a:uLnTx/>
                <a:uFillTx/>
                <a:latin typeface="Yekan Bakh FaNum" pitchFamily="2" charset="-78"/>
                <a:ea typeface="+mn-ea"/>
                <a:cs typeface="Yekan Bakh FaNum" pitchFamily="2" charset="-78"/>
              </a:rPr>
              <a:t> </a:t>
            </a:r>
            <a:r>
              <a:rPr kumimoji="0" sz="1000" b="1" i="0" u="none" strike="noStrike" kern="1200" cap="none" spc="0" normalizeH="0" baseline="0" noProof="0" dirty="0" err="1">
                <a:ln>
                  <a:noFill/>
                </a:ln>
                <a:solidFill>
                  <a:srgbClr val="F0BE0F"/>
                </a:solidFill>
                <a:effectLst/>
                <a:uLnTx/>
                <a:uFillTx/>
                <a:latin typeface="Yekan Bakh FaNum" pitchFamily="2" charset="-78"/>
                <a:ea typeface="+mn-ea"/>
                <a:cs typeface="Yekan Bakh FaNum" pitchFamily="2" charset="-78"/>
              </a:rPr>
              <a:t>می‌تواند</a:t>
            </a:r>
            <a:r>
              <a:rPr kumimoji="0" sz="1000" b="1" i="0" u="none" strike="noStrike" kern="1200" cap="none" spc="0" normalizeH="0" baseline="0" noProof="0" dirty="0">
                <a:ln>
                  <a:noFill/>
                </a:ln>
                <a:solidFill>
                  <a:srgbClr val="F0BE0F"/>
                </a:solidFill>
                <a:effectLst/>
                <a:uLnTx/>
                <a:uFillTx/>
                <a:latin typeface="Yekan Bakh FaNum" pitchFamily="2" charset="-78"/>
                <a:ea typeface="+mn-ea"/>
                <a:cs typeface="Yekan Bakh FaNum" pitchFamily="2" charset="-78"/>
              </a:rPr>
              <a:t> </a:t>
            </a:r>
            <a:r>
              <a:rPr kumimoji="0" sz="1000" b="1" i="0" u="none" strike="noStrike" kern="1200" cap="none" spc="0" normalizeH="0" baseline="0" noProof="0" dirty="0" err="1">
                <a:ln>
                  <a:noFill/>
                </a:ln>
                <a:solidFill>
                  <a:srgbClr val="F0BE0F"/>
                </a:solidFill>
                <a:effectLst/>
                <a:uLnTx/>
                <a:uFillTx/>
                <a:latin typeface="Yekan Bakh FaNum" pitchFamily="2" charset="-78"/>
                <a:ea typeface="+mn-ea"/>
                <a:cs typeface="Yekan Bakh FaNum" pitchFamily="2" charset="-78"/>
              </a:rPr>
              <a:t>هم‌زمان</a:t>
            </a:r>
            <a:r>
              <a:rPr kumimoji="0" sz="1000" b="1" i="0" u="none" strike="noStrike" kern="1200" cap="none" spc="0" normalizeH="0" baseline="0" noProof="0" dirty="0">
                <a:ln>
                  <a:noFill/>
                </a:ln>
                <a:solidFill>
                  <a:srgbClr val="F0BE0F"/>
                </a:solidFill>
                <a:effectLst/>
                <a:uLnTx/>
                <a:uFillTx/>
                <a:latin typeface="Yekan Bakh FaNum" pitchFamily="2" charset="-78"/>
                <a:ea typeface="+mn-ea"/>
                <a:cs typeface="Yekan Bakh FaNum" pitchFamily="2" charset="-78"/>
              </a:rPr>
              <a:t> </a:t>
            </a:r>
            <a:r>
              <a:rPr kumimoji="0" sz="1000" b="1" i="0" u="none" strike="noStrike" kern="1200" cap="none" spc="0" normalizeH="0" baseline="0" noProof="0" dirty="0" err="1">
                <a:ln>
                  <a:noFill/>
                </a:ln>
                <a:solidFill>
                  <a:srgbClr val="F0BE0F"/>
                </a:solidFill>
                <a:effectLst/>
                <a:uLnTx/>
                <a:uFillTx/>
                <a:latin typeface="Yekan Bakh FaNum" pitchFamily="2" charset="-78"/>
                <a:ea typeface="+mn-ea"/>
                <a:cs typeface="Yekan Bakh FaNum" pitchFamily="2" charset="-78"/>
              </a:rPr>
              <a:t>در</a:t>
            </a:r>
            <a:r>
              <a:rPr kumimoji="0" sz="1000" b="1" i="0" u="none" strike="noStrike" kern="1200" cap="none" spc="0" normalizeH="0" baseline="0" noProof="0" dirty="0">
                <a:ln>
                  <a:noFill/>
                </a:ln>
                <a:solidFill>
                  <a:srgbClr val="F0BE0F"/>
                </a:solidFill>
                <a:effectLst/>
                <a:uLnTx/>
                <a:uFillTx/>
                <a:latin typeface="Yekan Bakh FaNum" pitchFamily="2" charset="-78"/>
                <a:ea typeface="+mn-ea"/>
                <a:cs typeface="Yekan Bakh FaNum" pitchFamily="2" charset="-78"/>
              </a:rPr>
              <a:t> </a:t>
            </a:r>
            <a:r>
              <a:rPr kumimoji="0" sz="1000" b="1" i="0" u="none" strike="noStrike" kern="1200" cap="none" spc="0" normalizeH="0" baseline="0" noProof="0" dirty="0" err="1">
                <a:ln>
                  <a:noFill/>
                </a:ln>
                <a:solidFill>
                  <a:srgbClr val="F0BE0F"/>
                </a:solidFill>
                <a:effectLst/>
                <a:uLnTx/>
                <a:uFillTx/>
                <a:latin typeface="Yekan Bakh FaNum" pitchFamily="2" charset="-78"/>
                <a:ea typeface="+mn-ea"/>
                <a:cs typeface="Yekan Bakh FaNum" pitchFamily="2" charset="-78"/>
              </a:rPr>
              <a:t>چند</a:t>
            </a:r>
            <a:r>
              <a:rPr kumimoji="0" sz="1000" b="1" i="0" u="none" strike="noStrike" kern="1200" cap="none" spc="0" normalizeH="0" baseline="0" noProof="0" dirty="0">
                <a:ln>
                  <a:noFill/>
                </a:ln>
                <a:solidFill>
                  <a:srgbClr val="F0BE0F"/>
                </a:solidFill>
                <a:effectLst/>
                <a:uLnTx/>
                <a:uFillTx/>
                <a:latin typeface="Yekan Bakh FaNum" pitchFamily="2" charset="-78"/>
                <a:ea typeface="+mn-ea"/>
                <a:cs typeface="Yekan Bakh FaNum" pitchFamily="2" charset="-78"/>
              </a:rPr>
              <a:t> </a:t>
            </a:r>
            <a:r>
              <a:rPr kumimoji="0" sz="1000" b="1" i="0" u="none" strike="noStrike" kern="1200" cap="none" spc="0" normalizeH="0" baseline="0" noProof="0" dirty="0" err="1">
                <a:ln>
                  <a:noFill/>
                </a:ln>
                <a:solidFill>
                  <a:srgbClr val="F0BE0F"/>
                </a:solidFill>
                <a:effectLst/>
                <a:uLnTx/>
                <a:uFillTx/>
                <a:latin typeface="Yekan Bakh FaNum" pitchFamily="2" charset="-78"/>
                <a:ea typeface="+mn-ea"/>
                <a:cs typeface="Yekan Bakh FaNum" pitchFamily="2" charset="-78"/>
              </a:rPr>
              <a:t>آرکی‌تایپ</a:t>
            </a:r>
            <a:r>
              <a:rPr kumimoji="0" sz="1000" b="1" i="0" u="none" strike="noStrike" kern="1200" cap="none" spc="0" normalizeH="0" baseline="0" noProof="0" dirty="0">
                <a:ln>
                  <a:noFill/>
                </a:ln>
                <a:solidFill>
                  <a:srgbClr val="F0BE0F"/>
                </a:solidFill>
                <a:effectLst/>
                <a:uLnTx/>
                <a:uFillTx/>
                <a:latin typeface="Yekan Bakh FaNum" pitchFamily="2" charset="-78"/>
                <a:ea typeface="+mn-ea"/>
                <a:cs typeface="Yekan Bakh FaNum" pitchFamily="2" charset="-78"/>
              </a:rPr>
              <a:t> </a:t>
            </a:r>
            <a:r>
              <a:rPr kumimoji="0" sz="1000" b="1" i="0" u="none" strike="noStrike" kern="1200" cap="none" spc="0" normalizeH="0" baseline="0" noProof="0" dirty="0" err="1">
                <a:ln>
                  <a:noFill/>
                </a:ln>
                <a:solidFill>
                  <a:srgbClr val="F0BE0F"/>
                </a:solidFill>
                <a:effectLst/>
                <a:uLnTx/>
                <a:uFillTx/>
                <a:latin typeface="Yekan Bakh FaNum" pitchFamily="2" charset="-78"/>
                <a:ea typeface="+mn-ea"/>
                <a:cs typeface="Yekan Bakh FaNum" pitchFamily="2" charset="-78"/>
              </a:rPr>
              <a:t>باشد</a:t>
            </a:r>
            <a:r>
              <a:rPr kumimoji="0" sz="1000" b="1" i="0" u="none" strike="noStrike" kern="1200" cap="none" spc="0" normalizeH="0" baseline="0" noProof="0" dirty="0">
                <a:ln>
                  <a:noFill/>
                </a:ln>
                <a:solidFill>
                  <a:srgbClr val="F0BE0F"/>
                </a:solidFill>
                <a:effectLst/>
                <a:uLnTx/>
                <a:uFillTx/>
                <a:latin typeface="Yekan Bakh FaNum" pitchFamily="2" charset="-78"/>
                <a:ea typeface="+mn-ea"/>
                <a:cs typeface="Yekan Bakh FaNum" pitchFamily="2" charset="-78"/>
              </a:rPr>
              <a:t>؛ </a:t>
            </a:r>
            <a:r>
              <a:rPr kumimoji="0" sz="1000" b="1" i="0" u="none" strike="noStrike" kern="1200" cap="none" spc="0" normalizeH="0" baseline="0" noProof="0" dirty="0" err="1">
                <a:ln>
                  <a:noFill/>
                </a:ln>
                <a:solidFill>
                  <a:srgbClr val="F0BE0F"/>
                </a:solidFill>
                <a:effectLst/>
                <a:uLnTx/>
                <a:uFillTx/>
                <a:latin typeface="Yekan Bakh FaNum" pitchFamily="2" charset="-78"/>
                <a:ea typeface="+mn-ea"/>
                <a:cs typeface="Yekan Bakh FaNum" pitchFamily="2" charset="-78"/>
              </a:rPr>
              <a:t>بسته</a:t>
            </a:r>
            <a:r>
              <a:rPr kumimoji="0" sz="1000" b="1" i="0" u="none" strike="noStrike" kern="1200" cap="none" spc="0" normalizeH="0" baseline="0" noProof="0" dirty="0">
                <a:ln>
                  <a:noFill/>
                </a:ln>
                <a:solidFill>
                  <a:srgbClr val="F0BE0F"/>
                </a:solidFill>
                <a:effectLst/>
                <a:uLnTx/>
                <a:uFillTx/>
                <a:latin typeface="Yekan Bakh FaNum" pitchFamily="2" charset="-78"/>
                <a:ea typeface="+mn-ea"/>
                <a:cs typeface="Yekan Bakh FaNum" pitchFamily="2" charset="-78"/>
              </a:rPr>
              <a:t> </a:t>
            </a:r>
            <a:r>
              <a:rPr kumimoji="0" sz="1000" b="1" i="0" u="none" strike="noStrike" kern="1200" cap="none" spc="0" normalizeH="0" baseline="0" noProof="0" dirty="0" err="1">
                <a:ln>
                  <a:noFill/>
                </a:ln>
                <a:solidFill>
                  <a:srgbClr val="F0BE0F"/>
                </a:solidFill>
                <a:effectLst/>
                <a:uLnTx/>
                <a:uFillTx/>
                <a:latin typeface="Yekan Bakh FaNum" pitchFamily="2" charset="-78"/>
                <a:ea typeface="+mn-ea"/>
                <a:cs typeface="Yekan Bakh FaNum" pitchFamily="2" charset="-78"/>
              </a:rPr>
              <a:t>به</a:t>
            </a:r>
            <a:r>
              <a:rPr kumimoji="0" sz="1000" b="1" i="0" u="none" strike="noStrike" kern="1200" cap="none" spc="0" normalizeH="0" baseline="0" noProof="0" dirty="0">
                <a:ln>
                  <a:noFill/>
                </a:ln>
                <a:solidFill>
                  <a:srgbClr val="F0BE0F"/>
                </a:solidFill>
                <a:effectLst/>
                <a:uLnTx/>
                <a:uFillTx/>
                <a:latin typeface="Yekan Bakh FaNum" pitchFamily="2" charset="-78"/>
                <a:ea typeface="+mn-ea"/>
                <a:cs typeface="Yekan Bakh FaNum" pitchFamily="2" charset="-78"/>
              </a:rPr>
              <a:t> </a:t>
            </a:r>
            <a:r>
              <a:rPr kumimoji="0" sz="1000" b="1" i="0" u="none" strike="noStrike" kern="1200" cap="none" spc="0" normalizeH="0" baseline="0" noProof="0" dirty="0" err="1">
                <a:ln>
                  <a:noFill/>
                </a:ln>
                <a:solidFill>
                  <a:srgbClr val="F0BE0F"/>
                </a:solidFill>
                <a:effectLst/>
                <a:uLnTx/>
                <a:uFillTx/>
                <a:latin typeface="Yekan Bakh FaNum" pitchFamily="2" charset="-78"/>
                <a:ea typeface="+mn-ea"/>
                <a:cs typeface="Yekan Bakh FaNum" pitchFamily="2" charset="-78"/>
              </a:rPr>
              <a:t>این‌که</a:t>
            </a:r>
            <a:r>
              <a:rPr kumimoji="0" sz="1000" b="1" i="0" u="none" strike="noStrike" kern="1200" cap="none" spc="0" normalizeH="0" baseline="0" noProof="0" dirty="0">
                <a:ln>
                  <a:noFill/>
                </a:ln>
                <a:solidFill>
                  <a:srgbClr val="F0BE0F"/>
                </a:solidFill>
                <a:effectLst/>
                <a:uLnTx/>
                <a:uFillTx/>
                <a:latin typeface="Yekan Bakh FaNum" pitchFamily="2" charset="-78"/>
                <a:ea typeface="+mn-ea"/>
                <a:cs typeface="Yekan Bakh FaNum" pitchFamily="2" charset="-78"/>
              </a:rPr>
              <a:t> </a:t>
            </a:r>
            <a:r>
              <a:rPr kumimoji="0" sz="1000" b="1" i="0" u="none" strike="noStrike" kern="1200" cap="none" spc="0" normalizeH="0" baseline="0" noProof="0" dirty="0" err="1">
                <a:ln>
                  <a:noFill/>
                </a:ln>
                <a:solidFill>
                  <a:srgbClr val="F0BE0F"/>
                </a:solidFill>
                <a:effectLst/>
                <a:uLnTx/>
                <a:uFillTx/>
                <a:latin typeface="Yekan Bakh FaNum" pitchFamily="2" charset="-78"/>
                <a:ea typeface="+mn-ea"/>
                <a:cs typeface="Yekan Bakh FaNum" pitchFamily="2" charset="-78"/>
              </a:rPr>
              <a:t>کدام</a:t>
            </a:r>
            <a:r>
              <a:rPr kumimoji="0" sz="1000" b="1" i="0" u="none" strike="noStrike" kern="1200" cap="none" spc="0" normalizeH="0" baseline="0" noProof="0" dirty="0">
                <a:ln>
                  <a:noFill/>
                </a:ln>
                <a:solidFill>
                  <a:srgbClr val="F0BE0F"/>
                </a:solidFill>
                <a:effectLst/>
                <a:uLnTx/>
                <a:uFillTx/>
                <a:latin typeface="Yekan Bakh FaNum" pitchFamily="2" charset="-78"/>
                <a:ea typeface="+mn-ea"/>
                <a:cs typeface="Yekan Bakh FaNum" pitchFamily="2" charset="-78"/>
              </a:rPr>
              <a:t> </a:t>
            </a:r>
            <a:r>
              <a:rPr kumimoji="0" sz="1000" b="1" i="0" u="none" strike="noStrike" kern="1200" cap="none" spc="0" normalizeH="0" baseline="0" noProof="0" dirty="0" err="1">
                <a:ln>
                  <a:noFill/>
                </a:ln>
                <a:solidFill>
                  <a:srgbClr val="F0BE0F"/>
                </a:solidFill>
                <a:effectLst/>
                <a:uLnTx/>
                <a:uFillTx/>
                <a:latin typeface="Yekan Bakh FaNum" pitchFamily="2" charset="-78"/>
                <a:ea typeface="+mn-ea"/>
                <a:cs typeface="Yekan Bakh FaNum" pitchFamily="2" charset="-78"/>
              </a:rPr>
              <a:t>نیاز</a:t>
            </a:r>
            <a:r>
              <a:rPr kumimoji="0" sz="1000" b="1" i="0" u="none" strike="noStrike" kern="1200" cap="none" spc="0" normalizeH="0" baseline="0" noProof="0" dirty="0">
                <a:ln>
                  <a:noFill/>
                </a:ln>
                <a:solidFill>
                  <a:srgbClr val="F0BE0F"/>
                </a:solidFill>
                <a:effectLst/>
                <a:uLnTx/>
                <a:uFillTx/>
                <a:latin typeface="Yekan Bakh FaNum" pitchFamily="2" charset="-78"/>
                <a:ea typeface="+mn-ea"/>
                <a:cs typeface="Yekan Bakh FaNum" pitchFamily="2" charset="-78"/>
              </a:rPr>
              <a:t> </a:t>
            </a:r>
            <a:r>
              <a:rPr kumimoji="0" sz="1000" b="1" i="0" u="none" strike="noStrike" kern="1200" cap="none" spc="0" normalizeH="0" baseline="0" noProof="0" dirty="0" err="1">
                <a:ln>
                  <a:noFill/>
                </a:ln>
                <a:solidFill>
                  <a:srgbClr val="F0BE0F"/>
                </a:solidFill>
                <a:effectLst/>
                <a:uLnTx/>
                <a:uFillTx/>
                <a:latin typeface="Yekan Bakh FaNum" pitchFamily="2" charset="-78"/>
                <a:ea typeface="+mn-ea"/>
                <a:cs typeface="Yekan Bakh FaNum" pitchFamily="2" charset="-78"/>
              </a:rPr>
              <a:t>او</a:t>
            </a:r>
            <a:r>
              <a:rPr kumimoji="0" sz="1000" b="1" i="0" u="none" strike="noStrike" kern="1200" cap="none" spc="0" normalizeH="0" baseline="0" noProof="0" dirty="0">
                <a:ln>
                  <a:noFill/>
                </a:ln>
                <a:solidFill>
                  <a:srgbClr val="F0BE0F"/>
                </a:solidFill>
                <a:effectLst/>
                <a:uLnTx/>
                <a:uFillTx/>
                <a:latin typeface="Yekan Bakh FaNum" pitchFamily="2" charset="-78"/>
                <a:ea typeface="+mn-ea"/>
                <a:cs typeface="Yekan Bakh FaNum" pitchFamily="2" charset="-78"/>
              </a:rPr>
              <a:t> </a:t>
            </a:r>
            <a:r>
              <a:rPr kumimoji="0" sz="1000" b="1" i="0" u="none" strike="noStrike" kern="1200" cap="none" spc="0" normalizeH="0" baseline="0" noProof="0" dirty="0" err="1">
                <a:ln>
                  <a:noFill/>
                </a:ln>
                <a:solidFill>
                  <a:srgbClr val="F0BE0F"/>
                </a:solidFill>
                <a:effectLst/>
                <a:uLnTx/>
                <a:uFillTx/>
                <a:latin typeface="Yekan Bakh FaNum" pitchFamily="2" charset="-78"/>
                <a:ea typeface="+mn-ea"/>
                <a:cs typeface="Yekan Bakh FaNum" pitchFamily="2" charset="-78"/>
              </a:rPr>
              <a:t>در</a:t>
            </a:r>
            <a:r>
              <a:rPr kumimoji="0" sz="1000" b="1" i="0" u="none" strike="noStrike" kern="1200" cap="none" spc="0" normalizeH="0" baseline="0" noProof="0" dirty="0">
                <a:ln>
                  <a:noFill/>
                </a:ln>
                <a:solidFill>
                  <a:srgbClr val="F0BE0F"/>
                </a:solidFill>
                <a:effectLst/>
                <a:uLnTx/>
                <a:uFillTx/>
                <a:latin typeface="Yekan Bakh FaNum" pitchFamily="2" charset="-78"/>
                <a:ea typeface="+mn-ea"/>
                <a:cs typeface="Yekan Bakh FaNum" pitchFamily="2" charset="-78"/>
              </a:rPr>
              <a:t> </a:t>
            </a:r>
            <a:r>
              <a:rPr kumimoji="0" sz="1000" b="1" i="0" u="none" strike="noStrike" kern="1200" cap="none" spc="0" normalizeH="0" baseline="0" noProof="0" dirty="0" err="1">
                <a:ln>
                  <a:noFill/>
                </a:ln>
                <a:solidFill>
                  <a:srgbClr val="F0BE0F"/>
                </a:solidFill>
                <a:effectLst/>
                <a:uLnTx/>
                <a:uFillTx/>
                <a:latin typeface="Yekan Bakh FaNum" pitchFamily="2" charset="-78"/>
                <a:ea typeface="+mn-ea"/>
                <a:cs typeface="Yekan Bakh FaNum" pitchFamily="2" charset="-78"/>
              </a:rPr>
              <a:t>آن</a:t>
            </a:r>
            <a:r>
              <a:rPr kumimoji="0" sz="1000" b="1" i="0" u="none" strike="noStrike" kern="1200" cap="none" spc="0" normalizeH="0" baseline="0" noProof="0" dirty="0">
                <a:ln>
                  <a:noFill/>
                </a:ln>
                <a:solidFill>
                  <a:srgbClr val="F0BE0F"/>
                </a:solidFill>
                <a:effectLst/>
                <a:uLnTx/>
                <a:uFillTx/>
                <a:latin typeface="Yekan Bakh FaNum" pitchFamily="2" charset="-78"/>
                <a:ea typeface="+mn-ea"/>
                <a:cs typeface="Yekan Bakh FaNum" pitchFamily="2" charset="-78"/>
              </a:rPr>
              <a:t> </a:t>
            </a:r>
            <a:r>
              <a:rPr kumimoji="0" sz="1000" b="1" i="0" u="none" strike="noStrike" kern="1200" cap="none" spc="0" normalizeH="0" baseline="0" noProof="0" dirty="0" err="1">
                <a:ln>
                  <a:noFill/>
                </a:ln>
                <a:solidFill>
                  <a:srgbClr val="F0BE0F"/>
                </a:solidFill>
                <a:effectLst/>
                <a:uLnTx/>
                <a:uFillTx/>
                <a:latin typeface="Yekan Bakh FaNum" pitchFamily="2" charset="-78"/>
                <a:ea typeface="+mn-ea"/>
                <a:cs typeface="Yekan Bakh FaNum" pitchFamily="2" charset="-78"/>
              </a:rPr>
              <a:t>لحظه</a:t>
            </a:r>
            <a:r>
              <a:rPr kumimoji="0" sz="1000" b="1" i="0" u="none" strike="noStrike" kern="1200" cap="none" spc="0" normalizeH="0" baseline="0" noProof="0" dirty="0">
                <a:ln>
                  <a:noFill/>
                </a:ln>
                <a:solidFill>
                  <a:srgbClr val="F0BE0F"/>
                </a:solidFill>
                <a:effectLst/>
                <a:uLnTx/>
                <a:uFillTx/>
                <a:latin typeface="Yekan Bakh FaNum" pitchFamily="2" charset="-78"/>
                <a:ea typeface="+mn-ea"/>
                <a:cs typeface="Yekan Bakh FaNum" pitchFamily="2" charset="-78"/>
              </a:rPr>
              <a:t> </a:t>
            </a:r>
            <a:r>
              <a:rPr kumimoji="0" sz="1000" b="1" i="0" u="none" strike="noStrike" kern="1200" cap="none" spc="0" normalizeH="0" baseline="0" noProof="0" dirty="0" err="1">
                <a:ln>
                  <a:noFill/>
                </a:ln>
                <a:solidFill>
                  <a:srgbClr val="F0BE0F"/>
                </a:solidFill>
                <a:effectLst/>
                <a:uLnTx/>
                <a:uFillTx/>
                <a:latin typeface="Yekan Bakh FaNum" pitchFamily="2" charset="-78"/>
                <a:ea typeface="+mn-ea"/>
                <a:cs typeface="Yekan Bakh FaNum" pitchFamily="2" charset="-78"/>
              </a:rPr>
              <a:t>پاسخ</a:t>
            </a:r>
            <a:r>
              <a:rPr kumimoji="0" sz="1000" b="1" i="0" u="none" strike="noStrike" kern="1200" cap="none" spc="0" normalizeH="0" baseline="0" noProof="0" dirty="0">
                <a:ln>
                  <a:noFill/>
                </a:ln>
                <a:solidFill>
                  <a:srgbClr val="F0BE0F"/>
                </a:solidFill>
                <a:effectLst/>
                <a:uLnTx/>
                <a:uFillTx/>
                <a:latin typeface="Yekan Bakh FaNum" pitchFamily="2" charset="-78"/>
                <a:ea typeface="+mn-ea"/>
                <a:cs typeface="Yekan Bakh FaNum" pitchFamily="2" charset="-78"/>
              </a:rPr>
              <a:t> </a:t>
            </a:r>
            <a:r>
              <a:rPr kumimoji="0" sz="1000" b="1" i="0" u="none" strike="noStrike" kern="1200" cap="none" spc="0" normalizeH="0" baseline="0" noProof="0" dirty="0" err="1">
                <a:ln>
                  <a:noFill/>
                </a:ln>
                <a:solidFill>
                  <a:srgbClr val="F0BE0F"/>
                </a:solidFill>
                <a:effectLst/>
                <a:uLnTx/>
                <a:uFillTx/>
                <a:latin typeface="Yekan Bakh FaNum" pitchFamily="2" charset="-78"/>
                <a:ea typeface="+mn-ea"/>
                <a:cs typeface="Yekan Bakh FaNum" pitchFamily="2" charset="-78"/>
              </a:rPr>
              <a:t>داده</a:t>
            </a:r>
            <a:r>
              <a:rPr kumimoji="0" sz="1000" b="1" i="0" u="none" strike="noStrike" kern="1200" cap="none" spc="0" normalizeH="0" baseline="0" noProof="0" dirty="0">
                <a:ln>
                  <a:noFill/>
                </a:ln>
                <a:solidFill>
                  <a:srgbClr val="F0BE0F"/>
                </a:solidFill>
                <a:effectLst/>
                <a:uLnTx/>
                <a:uFillTx/>
                <a:latin typeface="Yekan Bakh FaNum" pitchFamily="2" charset="-78"/>
                <a:ea typeface="+mn-ea"/>
                <a:cs typeface="Yekan Bakh FaNum" pitchFamily="2" charset="-78"/>
              </a:rPr>
              <a:t> </a:t>
            </a:r>
            <a:r>
              <a:rPr kumimoji="0" sz="1000" b="1" i="0" u="none" strike="noStrike" kern="1200" cap="none" spc="0" normalizeH="0" baseline="0" noProof="0" dirty="0" err="1">
                <a:ln>
                  <a:noFill/>
                </a:ln>
                <a:solidFill>
                  <a:srgbClr val="F0BE0F"/>
                </a:solidFill>
                <a:effectLst/>
                <a:uLnTx/>
                <a:uFillTx/>
                <a:latin typeface="Yekan Bakh FaNum" pitchFamily="2" charset="-78"/>
                <a:ea typeface="+mn-ea"/>
                <a:cs typeface="Yekan Bakh FaNum" pitchFamily="2" charset="-78"/>
              </a:rPr>
              <a:t>می‌شود</a:t>
            </a:r>
            <a:r>
              <a:rPr kumimoji="0" sz="1000" b="1" i="0" u="none" strike="noStrike" kern="1200" cap="none" spc="0" normalizeH="0" baseline="0" noProof="0" dirty="0">
                <a:ln>
                  <a:noFill/>
                </a:ln>
                <a:solidFill>
                  <a:srgbClr val="F0BE0F"/>
                </a:solidFill>
                <a:effectLst/>
                <a:uLnTx/>
                <a:uFillTx/>
                <a:latin typeface="Yekan Bakh FaNum" pitchFamily="2" charset="-78"/>
                <a:ea typeface="+mn-ea"/>
                <a:cs typeface="Yekan Bakh FaNum" pitchFamily="2" charset="-78"/>
              </a:rPr>
              <a:t>.</a:t>
            </a:r>
          </a:p>
        </p:txBody>
      </p:sp>
    </p:spTree>
    <p:extLst>
      <p:ext uri="{BB962C8B-B14F-4D97-AF65-F5344CB8AC3E}">
        <p14:creationId xmlns:p14="http://schemas.microsoft.com/office/powerpoint/2010/main" val="4122366708"/>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Rectangle: Rounded Corners 54">
            <a:extLst>
              <a:ext uri="{FF2B5EF4-FFF2-40B4-BE49-F238E27FC236}">
                <a16:creationId xmlns:a16="http://schemas.microsoft.com/office/drawing/2014/main" id="{87AE727A-5965-D538-4E8B-1C05F8E1E3BB}"/>
              </a:ext>
            </a:extLst>
          </p:cNvPr>
          <p:cNvSpPr/>
          <p:nvPr/>
        </p:nvSpPr>
        <p:spPr>
          <a:xfrm>
            <a:off x="555630" y="1407711"/>
            <a:ext cx="5148072" cy="365760"/>
          </a:xfrm>
          <a:prstGeom prst="roundRect">
            <a:avLst/>
          </a:prstGeom>
          <a:solidFill>
            <a:srgbClr val="15296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54" name="Rectangle: Rounded Corners 53">
            <a:extLst>
              <a:ext uri="{FF2B5EF4-FFF2-40B4-BE49-F238E27FC236}">
                <a16:creationId xmlns:a16="http://schemas.microsoft.com/office/drawing/2014/main" id="{9DFA4E9B-BB4F-8E00-9D00-10C7906A9D8A}"/>
              </a:ext>
            </a:extLst>
          </p:cNvPr>
          <p:cNvSpPr/>
          <p:nvPr/>
        </p:nvSpPr>
        <p:spPr>
          <a:xfrm>
            <a:off x="6095920" y="1407711"/>
            <a:ext cx="5148072" cy="365760"/>
          </a:xfrm>
          <a:prstGeom prst="roundRect">
            <a:avLst/>
          </a:prstGeom>
          <a:solidFill>
            <a:srgbClr val="15296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2" name="Text Placeholder 1">
            <a:extLst>
              <a:ext uri="{FF2B5EF4-FFF2-40B4-BE49-F238E27FC236}">
                <a16:creationId xmlns:a16="http://schemas.microsoft.com/office/drawing/2014/main" id="{B1246FA6-3222-37B8-3A10-8CF096893757}"/>
              </a:ext>
            </a:extLst>
          </p:cNvPr>
          <p:cNvSpPr>
            <a:spLocks noGrp="1"/>
          </p:cNvSpPr>
          <p:nvPr>
            <p:ph type="body" sz="quarter" idx="10"/>
          </p:nvPr>
        </p:nvSpPr>
        <p:spPr/>
        <p:txBody>
          <a:bodyPr/>
          <a:lstStyle/>
          <a:p>
            <a:r>
              <a:rPr lang="fa-IR" dirty="0"/>
              <a:t>۵. دو معیار تصمیم</a:t>
            </a:r>
            <a:endParaRPr lang="en-GB" dirty="0"/>
          </a:p>
        </p:txBody>
      </p:sp>
      <p:sp>
        <p:nvSpPr>
          <p:cNvPr id="3" name="Text Placeholder 2">
            <a:extLst>
              <a:ext uri="{FF2B5EF4-FFF2-40B4-BE49-F238E27FC236}">
                <a16:creationId xmlns:a16="http://schemas.microsoft.com/office/drawing/2014/main" id="{4B960195-2263-9D81-8EC9-0DF3F1D67AC8}"/>
              </a:ext>
            </a:extLst>
          </p:cNvPr>
          <p:cNvSpPr>
            <a:spLocks noGrp="1"/>
          </p:cNvSpPr>
          <p:nvPr>
            <p:ph type="body" sz="quarter" idx="12"/>
          </p:nvPr>
        </p:nvSpPr>
        <p:spPr/>
        <p:txBody>
          <a:bodyPr/>
          <a:lstStyle/>
          <a:p>
            <a:r>
              <a:rPr lang="fa-IR" dirty="0"/>
              <a:t>انتخاب آرکی‌تایپ از تقاطع دو معیار ساخته می‌شود: ارزش بالقوه مشتری و پیچیدگی نیاز</a:t>
            </a:r>
          </a:p>
        </p:txBody>
      </p:sp>
      <p:sp>
        <p:nvSpPr>
          <p:cNvPr id="9" name="TextBox 8"/>
          <p:cNvSpPr txBox="1"/>
          <p:nvPr/>
        </p:nvSpPr>
        <p:spPr>
          <a:xfrm>
            <a:off x="6254403" y="1475175"/>
            <a:ext cx="4830686" cy="230832"/>
          </a:xfrm>
          <a:prstGeom prst="rect">
            <a:avLst/>
          </a:prstGeom>
          <a:noFill/>
        </p:spPr>
        <p:txBody>
          <a:bodyPr wrap="square" lIns="0" tIns="0" rIns="0" bIns="0" anchor="t">
            <a:spAutoFit/>
          </a:bodyPr>
          <a:lstStyle/>
          <a:p>
            <a:pPr marL="0" marR="0" lvl="0" indent="0" algn="ctr" defTabSz="457200" rtl="1" eaLnBrk="1" fontAlgn="auto" latinLnBrk="0" hangingPunct="1">
              <a:lnSpc>
                <a:spcPct val="125000"/>
              </a:lnSpc>
              <a:spcBef>
                <a:spcPts val="0"/>
              </a:spcBef>
              <a:spcAft>
                <a:spcPts val="0"/>
              </a:spcAft>
              <a:buClrTx/>
              <a:buSzTx/>
              <a:buFontTx/>
              <a:buNone/>
              <a:tabLst/>
              <a:defRPr/>
            </a:pPr>
            <a:r>
              <a:rPr kumimoji="0" sz="1200" b="1" i="0" u="none" strike="noStrike" kern="1200" cap="none" spc="0" normalizeH="0" baseline="0" noProof="0" dirty="0" err="1">
                <a:ln>
                  <a:noFill/>
                </a:ln>
                <a:solidFill>
                  <a:srgbClr val="FFFFFF"/>
                </a:solidFill>
                <a:effectLst/>
                <a:uLnTx/>
                <a:uFillTx/>
                <a:latin typeface="Yekan Bakh FaNum" pitchFamily="2" charset="-78"/>
                <a:ea typeface="+mn-ea"/>
                <a:cs typeface="Yekan Bakh FaNum" pitchFamily="2" charset="-78"/>
              </a:rPr>
              <a:t>ارزش</a:t>
            </a:r>
            <a:r>
              <a:rPr kumimoji="0" sz="1200" b="1" i="0" u="none" strike="noStrike" kern="1200" cap="none" spc="0" normalizeH="0" baseline="0" noProof="0" dirty="0">
                <a:ln>
                  <a:noFill/>
                </a:ln>
                <a:solidFill>
                  <a:srgbClr val="FFFFFF"/>
                </a:solidFill>
                <a:effectLst/>
                <a:uLnTx/>
                <a:uFillTx/>
                <a:latin typeface="Yekan Bakh FaNum" pitchFamily="2" charset="-78"/>
                <a:ea typeface="+mn-ea"/>
                <a:cs typeface="Yekan Bakh FaNum" pitchFamily="2" charset="-78"/>
              </a:rPr>
              <a:t> </a:t>
            </a:r>
            <a:r>
              <a:rPr kumimoji="0" sz="1200" b="1" i="0" u="none" strike="noStrike" kern="1200" cap="none" spc="0" normalizeH="0" baseline="0" noProof="0" dirty="0" err="1">
                <a:ln>
                  <a:noFill/>
                </a:ln>
                <a:solidFill>
                  <a:srgbClr val="FFFFFF"/>
                </a:solidFill>
                <a:effectLst/>
                <a:uLnTx/>
                <a:uFillTx/>
                <a:latin typeface="Yekan Bakh FaNum" pitchFamily="2" charset="-78"/>
                <a:ea typeface="+mn-ea"/>
                <a:cs typeface="Yekan Bakh FaNum" pitchFamily="2" charset="-78"/>
              </a:rPr>
              <a:t>بالقوه</a:t>
            </a:r>
            <a:r>
              <a:rPr kumimoji="0" sz="1200" b="1" i="0" u="none" strike="noStrike" kern="1200" cap="none" spc="0" normalizeH="0" baseline="0" noProof="0" dirty="0">
                <a:ln>
                  <a:noFill/>
                </a:ln>
                <a:solidFill>
                  <a:srgbClr val="FFFFFF"/>
                </a:solidFill>
                <a:effectLst/>
                <a:uLnTx/>
                <a:uFillTx/>
                <a:latin typeface="Yekan Bakh FaNum" pitchFamily="2" charset="-78"/>
                <a:ea typeface="+mn-ea"/>
                <a:cs typeface="Yekan Bakh FaNum" pitchFamily="2" charset="-78"/>
              </a:rPr>
              <a:t> </a:t>
            </a:r>
            <a:r>
              <a:rPr kumimoji="0" sz="1200" b="1" i="0" u="none" strike="noStrike" kern="1200" cap="none" spc="0" normalizeH="0" baseline="0" noProof="0" dirty="0" err="1">
                <a:ln>
                  <a:noFill/>
                </a:ln>
                <a:solidFill>
                  <a:srgbClr val="FFFFFF"/>
                </a:solidFill>
                <a:effectLst/>
                <a:uLnTx/>
                <a:uFillTx/>
                <a:latin typeface="Yekan Bakh FaNum" pitchFamily="2" charset="-78"/>
                <a:ea typeface="+mn-ea"/>
                <a:cs typeface="Yekan Bakh FaNum" pitchFamily="2" charset="-78"/>
              </a:rPr>
              <a:t>مشتری</a:t>
            </a:r>
            <a:r>
              <a:rPr kumimoji="0" sz="1200" b="1" i="0" u="none" strike="noStrike" kern="1200" cap="none" spc="0" normalizeH="0" baseline="0" noProof="0" dirty="0">
                <a:ln>
                  <a:noFill/>
                </a:ln>
                <a:solidFill>
                  <a:srgbClr val="FFFFFF"/>
                </a:solidFill>
                <a:effectLst/>
                <a:uLnTx/>
                <a:uFillTx/>
                <a:latin typeface="Yekan Bakh FaNum" pitchFamily="2" charset="-78"/>
                <a:ea typeface="+mn-ea"/>
                <a:cs typeface="Yekan Bakh FaNum" pitchFamily="2" charset="-78"/>
              </a:rPr>
              <a:t>  (Customer Value Potential)</a:t>
            </a:r>
          </a:p>
        </p:txBody>
      </p:sp>
      <p:sp>
        <p:nvSpPr>
          <p:cNvPr id="10" name="TextBox 9"/>
          <p:cNvSpPr txBox="1"/>
          <p:nvPr/>
        </p:nvSpPr>
        <p:spPr>
          <a:xfrm>
            <a:off x="6254194" y="1910888"/>
            <a:ext cx="4830686" cy="424732"/>
          </a:xfrm>
          <a:prstGeom prst="rect">
            <a:avLst/>
          </a:prstGeom>
          <a:noFill/>
        </p:spPr>
        <p:txBody>
          <a:bodyPr wrap="square" lIns="0" tIns="0" rIns="0" bIns="0" anchor="t">
            <a:spAutoFit/>
          </a:bodyPr>
          <a:lstStyle/>
          <a:p>
            <a:pPr marL="0" marR="0" lvl="0" indent="0" algn="justLow" defTabSz="457200" rtl="1" eaLnBrk="1" fontAlgn="auto" latinLnBrk="0" hangingPunct="1">
              <a:lnSpc>
                <a:spcPct val="120000"/>
              </a:lnSpc>
              <a:spcBef>
                <a:spcPts val="0"/>
              </a:spcBef>
              <a:spcAft>
                <a:spcPts val="0"/>
              </a:spcAft>
              <a:buClrTx/>
              <a:buSzTx/>
              <a:buFontTx/>
              <a:buNone/>
              <a:tabLst/>
              <a:defRPr/>
            </a:pPr>
            <a:r>
              <a:rPr kumimoji="0" sz="1150" b="0" i="0" u="none" strike="noStrike" kern="1200" cap="none" spc="0" normalizeH="0" baseline="0" noProof="0" dirty="0" err="1">
                <a:ln>
                  <a:noFill/>
                </a:ln>
                <a:solidFill>
                  <a:srgbClr val="374151"/>
                </a:solidFill>
                <a:effectLst/>
                <a:uLnTx/>
                <a:uFillTx/>
                <a:latin typeface="Yekan Bakh FaNum" pitchFamily="2" charset="-78"/>
                <a:ea typeface="+mn-ea"/>
                <a:cs typeface="Yekan Bakh FaNum" pitchFamily="2" charset="-78"/>
              </a:rPr>
              <a:t>ارزش</a:t>
            </a:r>
            <a:r>
              <a:rPr kumimoji="0" sz="1150" b="0" i="0" u="none" strike="noStrike" kern="1200" cap="none" spc="0" normalizeH="0" baseline="0" noProof="0" dirty="0">
                <a:ln>
                  <a:noFill/>
                </a:ln>
                <a:solidFill>
                  <a:srgbClr val="374151"/>
                </a:solidFill>
                <a:effectLst/>
                <a:uLnTx/>
                <a:uFillTx/>
                <a:latin typeface="Yekan Bakh FaNum" pitchFamily="2" charset="-78"/>
                <a:ea typeface="+mn-ea"/>
                <a:cs typeface="Yekan Bakh FaNum" pitchFamily="2" charset="-78"/>
              </a:rPr>
              <a:t> </a:t>
            </a:r>
            <a:r>
              <a:rPr kumimoji="0" sz="1150" b="0" i="0" u="none" strike="noStrike" kern="1200" cap="none" spc="0" normalizeH="0" baseline="0" noProof="0" dirty="0" err="1">
                <a:ln>
                  <a:noFill/>
                </a:ln>
                <a:solidFill>
                  <a:srgbClr val="374151"/>
                </a:solidFill>
                <a:effectLst/>
                <a:uLnTx/>
                <a:uFillTx/>
                <a:latin typeface="Yekan Bakh FaNum" pitchFamily="2" charset="-78"/>
                <a:ea typeface="+mn-ea"/>
                <a:cs typeface="Yekan Bakh FaNum" pitchFamily="2" charset="-78"/>
              </a:rPr>
              <a:t>اقتصادی</a:t>
            </a:r>
            <a:r>
              <a:rPr kumimoji="0" lang="fa-IR" sz="1150" b="0" i="0" u="none" strike="noStrike" kern="1200" cap="none" spc="0" normalizeH="0" baseline="0" noProof="0" dirty="0">
                <a:ln>
                  <a:noFill/>
                </a:ln>
                <a:solidFill>
                  <a:srgbClr val="374151"/>
                </a:solidFill>
                <a:effectLst/>
                <a:uLnTx/>
                <a:uFillTx/>
                <a:latin typeface="Yekan Bakh FaNum" pitchFamily="2" charset="-78"/>
                <a:ea typeface="+mn-ea"/>
                <a:cs typeface="Yekan Bakh FaNum" pitchFamily="2" charset="-78"/>
              </a:rPr>
              <a:t> </a:t>
            </a:r>
            <a:r>
              <a:rPr kumimoji="0" lang="en-US" sz="1150" b="0" i="0" u="none" strike="noStrike" kern="1200" cap="none" spc="0" normalizeH="0" baseline="0" noProof="0" dirty="0">
                <a:ln>
                  <a:noFill/>
                </a:ln>
                <a:solidFill>
                  <a:srgbClr val="374151"/>
                </a:solidFill>
                <a:effectLst/>
                <a:uLnTx/>
                <a:uFillTx/>
                <a:latin typeface="Yekan Bakh FaNum" pitchFamily="2" charset="-78"/>
                <a:ea typeface="+mn-ea"/>
                <a:cs typeface="Yekan Bakh FaNum" pitchFamily="2" charset="-78"/>
              </a:rPr>
              <a:t>+</a:t>
            </a:r>
            <a:r>
              <a:rPr kumimoji="0" lang="fa-IR" sz="1150" b="0" i="0" u="none" strike="noStrike" kern="1200" cap="none" spc="0" normalizeH="0" baseline="0" noProof="0" dirty="0">
                <a:ln>
                  <a:noFill/>
                </a:ln>
                <a:solidFill>
                  <a:srgbClr val="374151"/>
                </a:solidFill>
                <a:effectLst/>
                <a:uLnTx/>
                <a:uFillTx/>
                <a:latin typeface="Yekan Bakh FaNum" pitchFamily="2" charset="-78"/>
                <a:ea typeface="+mn-ea"/>
                <a:cs typeface="Yekan Bakh FaNum" pitchFamily="2" charset="-78"/>
              </a:rPr>
              <a:t> ا</a:t>
            </a:r>
            <a:r>
              <a:rPr kumimoji="0" sz="1150" b="0" i="0" u="none" strike="noStrike" kern="1200" cap="none" spc="0" normalizeH="0" baseline="0" noProof="0" dirty="0" err="1">
                <a:ln>
                  <a:noFill/>
                </a:ln>
                <a:solidFill>
                  <a:srgbClr val="374151"/>
                </a:solidFill>
                <a:effectLst/>
                <a:uLnTx/>
                <a:uFillTx/>
                <a:latin typeface="Yekan Bakh FaNum" pitchFamily="2" charset="-78"/>
                <a:ea typeface="+mn-ea"/>
                <a:cs typeface="Yekan Bakh FaNum" pitchFamily="2" charset="-78"/>
              </a:rPr>
              <a:t>رزش</a:t>
            </a:r>
            <a:r>
              <a:rPr kumimoji="0" sz="1150" b="0" i="0" u="none" strike="noStrike" kern="1200" cap="none" spc="0" normalizeH="0" baseline="0" noProof="0" dirty="0">
                <a:ln>
                  <a:noFill/>
                </a:ln>
                <a:solidFill>
                  <a:srgbClr val="374151"/>
                </a:solidFill>
                <a:effectLst/>
                <a:uLnTx/>
                <a:uFillTx/>
                <a:latin typeface="Yekan Bakh FaNum" pitchFamily="2" charset="-78"/>
                <a:ea typeface="+mn-ea"/>
                <a:cs typeface="Yekan Bakh FaNum" pitchFamily="2" charset="-78"/>
              </a:rPr>
              <a:t> </a:t>
            </a:r>
            <a:r>
              <a:rPr kumimoji="0" sz="1150" b="0" i="0" u="none" strike="noStrike" kern="1200" cap="none" spc="0" normalizeH="0" baseline="0" noProof="0" dirty="0" err="1">
                <a:ln>
                  <a:noFill/>
                </a:ln>
                <a:solidFill>
                  <a:srgbClr val="374151"/>
                </a:solidFill>
                <a:effectLst/>
                <a:uLnTx/>
                <a:uFillTx/>
                <a:latin typeface="Yekan Bakh FaNum" pitchFamily="2" charset="-78"/>
                <a:ea typeface="+mn-ea"/>
                <a:cs typeface="Yekan Bakh FaNum" pitchFamily="2" charset="-78"/>
              </a:rPr>
              <a:t>راهبردی</a:t>
            </a:r>
            <a:r>
              <a:rPr kumimoji="0" sz="1150" b="0" i="0" u="none" strike="noStrike" kern="1200" cap="none" spc="0" normalizeH="0" baseline="0" noProof="0" dirty="0">
                <a:ln>
                  <a:noFill/>
                </a:ln>
                <a:solidFill>
                  <a:srgbClr val="374151"/>
                </a:solidFill>
                <a:effectLst/>
                <a:uLnTx/>
                <a:uFillTx/>
                <a:latin typeface="Yekan Bakh FaNum" pitchFamily="2" charset="-78"/>
                <a:ea typeface="+mn-ea"/>
                <a:cs typeface="Yekan Bakh FaNum" pitchFamily="2" charset="-78"/>
              </a:rPr>
              <a:t> </a:t>
            </a:r>
            <a:r>
              <a:rPr kumimoji="0" sz="1150" b="0" i="0" u="none" strike="noStrike" kern="1200" cap="none" spc="0" normalizeH="0" baseline="0" noProof="0" dirty="0" err="1">
                <a:ln>
                  <a:noFill/>
                </a:ln>
                <a:solidFill>
                  <a:srgbClr val="374151"/>
                </a:solidFill>
                <a:effectLst/>
                <a:uLnTx/>
                <a:uFillTx/>
                <a:latin typeface="Yekan Bakh FaNum" pitchFamily="2" charset="-78"/>
                <a:ea typeface="+mn-ea"/>
                <a:cs typeface="Yekan Bakh FaNum" pitchFamily="2" charset="-78"/>
              </a:rPr>
              <a:t>بالقوه</a:t>
            </a:r>
            <a:r>
              <a:rPr kumimoji="0" sz="1150" b="0" i="0" u="none" strike="noStrike" kern="1200" cap="none" spc="0" normalizeH="0" baseline="0" noProof="0" dirty="0">
                <a:ln>
                  <a:noFill/>
                </a:ln>
                <a:solidFill>
                  <a:srgbClr val="374151"/>
                </a:solidFill>
                <a:effectLst/>
                <a:uLnTx/>
                <a:uFillTx/>
                <a:latin typeface="Yekan Bakh FaNum" pitchFamily="2" charset="-78"/>
                <a:ea typeface="+mn-ea"/>
                <a:cs typeface="Yekan Bakh FaNum" pitchFamily="2" charset="-78"/>
              </a:rPr>
              <a:t> </a:t>
            </a:r>
            <a:r>
              <a:rPr kumimoji="0" sz="1150" b="0" i="0" u="none" strike="noStrike" kern="1200" cap="none" spc="0" normalizeH="0" baseline="0" noProof="0" dirty="0" err="1">
                <a:ln>
                  <a:noFill/>
                </a:ln>
                <a:solidFill>
                  <a:srgbClr val="374151"/>
                </a:solidFill>
                <a:effectLst/>
                <a:uLnTx/>
                <a:uFillTx/>
                <a:latin typeface="Yekan Bakh FaNum" pitchFamily="2" charset="-78"/>
                <a:ea typeface="+mn-ea"/>
                <a:cs typeface="Yekan Bakh FaNum" pitchFamily="2" charset="-78"/>
              </a:rPr>
              <a:t>مشتری</a:t>
            </a:r>
            <a:r>
              <a:rPr kumimoji="0" sz="1150" b="0" i="0" u="none" strike="noStrike" kern="1200" cap="none" spc="0" normalizeH="0" baseline="0" noProof="0" dirty="0">
                <a:ln>
                  <a:noFill/>
                </a:ln>
                <a:solidFill>
                  <a:srgbClr val="374151"/>
                </a:solidFill>
                <a:effectLst/>
                <a:uLnTx/>
                <a:uFillTx/>
                <a:latin typeface="Yekan Bakh FaNum" pitchFamily="2" charset="-78"/>
                <a:ea typeface="+mn-ea"/>
                <a:cs typeface="Yekan Bakh FaNum" pitchFamily="2" charset="-78"/>
              </a:rPr>
              <a:t> </a:t>
            </a:r>
            <a:r>
              <a:rPr kumimoji="0" sz="1150" b="0" i="0" u="none" strike="noStrike" kern="1200" cap="none" spc="0" normalizeH="0" baseline="0" noProof="0" dirty="0" err="1">
                <a:ln>
                  <a:noFill/>
                </a:ln>
                <a:solidFill>
                  <a:srgbClr val="374151"/>
                </a:solidFill>
                <a:effectLst/>
                <a:uLnTx/>
                <a:uFillTx/>
                <a:latin typeface="Yekan Bakh FaNum" pitchFamily="2" charset="-78"/>
                <a:ea typeface="+mn-ea"/>
                <a:cs typeface="Yekan Bakh FaNum" pitchFamily="2" charset="-78"/>
              </a:rPr>
              <a:t>برای</a:t>
            </a:r>
            <a:r>
              <a:rPr kumimoji="0" sz="1150" b="0" i="0" u="none" strike="noStrike" kern="1200" cap="none" spc="0" normalizeH="0" baseline="0" noProof="0" dirty="0">
                <a:ln>
                  <a:noFill/>
                </a:ln>
                <a:solidFill>
                  <a:srgbClr val="374151"/>
                </a:solidFill>
                <a:effectLst/>
                <a:uLnTx/>
                <a:uFillTx/>
                <a:latin typeface="Yekan Bakh FaNum" pitchFamily="2" charset="-78"/>
                <a:ea typeface="+mn-ea"/>
                <a:cs typeface="Yekan Bakh FaNum" pitchFamily="2" charset="-78"/>
              </a:rPr>
              <a:t> </a:t>
            </a:r>
            <a:r>
              <a:rPr kumimoji="0" lang="fa-IR" sz="1150" b="0" i="0" u="none" strike="noStrike" kern="1200" cap="none" spc="0" normalizeH="0" baseline="0" noProof="0" dirty="0">
                <a:ln>
                  <a:noFill/>
                </a:ln>
                <a:solidFill>
                  <a:srgbClr val="374151"/>
                </a:solidFill>
                <a:effectLst/>
                <a:uLnTx/>
                <a:uFillTx/>
                <a:latin typeface="Yekan Bakh FaNum" pitchFamily="2" charset="-78"/>
                <a:ea typeface="+mn-ea"/>
                <a:cs typeface="Yekan Bakh FaNum" pitchFamily="2" charset="-78"/>
              </a:rPr>
              <a:t>«اکوسیستم فرصت ایران»</a:t>
            </a:r>
            <a:r>
              <a:rPr kumimoji="0" sz="1150" b="0" i="0" u="none" strike="noStrike" kern="1200" cap="none" spc="0" normalizeH="0" baseline="0" noProof="0" dirty="0">
                <a:ln>
                  <a:noFill/>
                </a:ln>
                <a:solidFill>
                  <a:srgbClr val="374151"/>
                </a:solidFill>
                <a:effectLst/>
                <a:uLnTx/>
                <a:uFillTx/>
                <a:latin typeface="Yekan Bakh FaNum" pitchFamily="2" charset="-78"/>
                <a:ea typeface="+mn-ea"/>
                <a:cs typeface="Yekan Bakh FaNum" pitchFamily="2" charset="-78"/>
              </a:rPr>
              <a:t>— </a:t>
            </a:r>
            <a:r>
              <a:rPr kumimoji="0" sz="1150" b="0" i="0" u="none" strike="noStrike" kern="1200" cap="none" spc="0" normalizeH="0" baseline="0" noProof="0" dirty="0" err="1">
                <a:ln>
                  <a:noFill/>
                </a:ln>
                <a:solidFill>
                  <a:srgbClr val="374151"/>
                </a:solidFill>
                <a:effectLst/>
                <a:uLnTx/>
                <a:uFillTx/>
                <a:latin typeface="Yekan Bakh FaNum" pitchFamily="2" charset="-78"/>
                <a:ea typeface="+mn-ea"/>
                <a:cs typeface="Yekan Bakh FaNum" pitchFamily="2" charset="-78"/>
              </a:rPr>
              <a:t>نه</a:t>
            </a:r>
            <a:r>
              <a:rPr kumimoji="0" sz="1150" b="0" i="0" u="none" strike="noStrike" kern="1200" cap="none" spc="0" normalizeH="0" baseline="0" noProof="0" dirty="0">
                <a:ln>
                  <a:noFill/>
                </a:ln>
                <a:solidFill>
                  <a:srgbClr val="374151"/>
                </a:solidFill>
                <a:effectLst/>
                <a:uLnTx/>
                <a:uFillTx/>
                <a:latin typeface="Yekan Bakh FaNum" pitchFamily="2" charset="-78"/>
                <a:ea typeface="+mn-ea"/>
                <a:cs typeface="Yekan Bakh FaNum" pitchFamily="2" charset="-78"/>
              </a:rPr>
              <a:t> </a:t>
            </a:r>
            <a:r>
              <a:rPr kumimoji="0" sz="1150" b="0" i="0" u="none" strike="noStrike" kern="1200" cap="none" spc="0" normalizeH="0" baseline="0" noProof="0" dirty="0" err="1">
                <a:ln>
                  <a:noFill/>
                </a:ln>
                <a:solidFill>
                  <a:srgbClr val="374151"/>
                </a:solidFill>
                <a:effectLst/>
                <a:uLnTx/>
                <a:uFillTx/>
                <a:latin typeface="Yekan Bakh FaNum" pitchFamily="2" charset="-78"/>
                <a:ea typeface="+mn-ea"/>
                <a:cs typeface="Yekan Bakh FaNum" pitchFamily="2" charset="-78"/>
              </a:rPr>
              <a:t>فقط</a:t>
            </a:r>
            <a:r>
              <a:rPr kumimoji="0" sz="1150" b="0" i="0" u="none" strike="noStrike" kern="1200" cap="none" spc="0" normalizeH="0" baseline="0" noProof="0" dirty="0">
                <a:ln>
                  <a:noFill/>
                </a:ln>
                <a:solidFill>
                  <a:srgbClr val="374151"/>
                </a:solidFill>
                <a:effectLst/>
                <a:uLnTx/>
                <a:uFillTx/>
                <a:latin typeface="Yekan Bakh FaNum" pitchFamily="2" charset="-78"/>
                <a:ea typeface="+mn-ea"/>
                <a:cs typeface="Yekan Bakh FaNum" pitchFamily="2" charset="-78"/>
              </a:rPr>
              <a:t> </a:t>
            </a:r>
            <a:r>
              <a:rPr kumimoji="0" sz="1150" b="0" i="0" u="none" strike="noStrike" kern="1200" cap="none" spc="0" normalizeH="0" baseline="0" noProof="0" dirty="0" err="1">
                <a:ln>
                  <a:noFill/>
                </a:ln>
                <a:solidFill>
                  <a:srgbClr val="374151"/>
                </a:solidFill>
                <a:effectLst/>
                <a:uLnTx/>
                <a:uFillTx/>
                <a:latin typeface="Yekan Bakh FaNum" pitchFamily="2" charset="-78"/>
                <a:ea typeface="+mn-ea"/>
                <a:cs typeface="Yekan Bakh FaNum" pitchFamily="2" charset="-78"/>
              </a:rPr>
              <a:t>درآمد</a:t>
            </a:r>
            <a:r>
              <a:rPr kumimoji="0" sz="1150" b="0" i="0" u="none" strike="noStrike" kern="1200" cap="none" spc="0" normalizeH="0" baseline="0" noProof="0" dirty="0">
                <a:ln>
                  <a:noFill/>
                </a:ln>
                <a:solidFill>
                  <a:srgbClr val="374151"/>
                </a:solidFill>
                <a:effectLst/>
                <a:uLnTx/>
                <a:uFillTx/>
                <a:latin typeface="Yekan Bakh FaNum" pitchFamily="2" charset="-78"/>
                <a:ea typeface="+mn-ea"/>
                <a:cs typeface="Yekan Bakh FaNum" pitchFamily="2" charset="-78"/>
              </a:rPr>
              <a:t> </a:t>
            </a:r>
            <a:r>
              <a:rPr kumimoji="0" sz="1150" b="0" i="0" u="none" strike="noStrike" kern="1200" cap="none" spc="0" normalizeH="0" baseline="0" noProof="0" dirty="0" err="1">
                <a:ln>
                  <a:noFill/>
                </a:ln>
                <a:solidFill>
                  <a:srgbClr val="374151"/>
                </a:solidFill>
                <a:effectLst/>
                <a:uLnTx/>
                <a:uFillTx/>
                <a:latin typeface="Yekan Bakh FaNum" pitchFamily="2" charset="-78"/>
                <a:ea typeface="+mn-ea"/>
                <a:cs typeface="Yekan Bakh FaNum" pitchFamily="2" charset="-78"/>
              </a:rPr>
              <a:t>فعلی</a:t>
            </a:r>
            <a:r>
              <a:rPr kumimoji="0" sz="1150" b="0" i="0" u="none" strike="noStrike" kern="1200" cap="none" spc="0" normalizeH="0" baseline="0" noProof="0" dirty="0">
                <a:ln>
                  <a:noFill/>
                </a:ln>
                <a:solidFill>
                  <a:srgbClr val="374151"/>
                </a:solidFill>
                <a:effectLst/>
                <a:uLnTx/>
                <a:uFillTx/>
                <a:latin typeface="Yekan Bakh FaNum" pitchFamily="2" charset="-78"/>
                <a:ea typeface="+mn-ea"/>
                <a:cs typeface="Yekan Bakh FaNum" pitchFamily="2" charset="-78"/>
              </a:rPr>
              <a:t>.</a:t>
            </a:r>
          </a:p>
        </p:txBody>
      </p:sp>
      <p:sp>
        <p:nvSpPr>
          <p:cNvPr id="11" name="Rectangle 10"/>
          <p:cNvSpPr/>
          <p:nvPr/>
        </p:nvSpPr>
        <p:spPr>
          <a:xfrm>
            <a:off x="6095919" y="2470322"/>
            <a:ext cx="5147654" cy="36576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2" name="TextBox 11"/>
          <p:cNvSpPr txBox="1"/>
          <p:nvPr/>
        </p:nvSpPr>
        <p:spPr>
          <a:xfrm>
            <a:off x="6219184" y="2542595"/>
            <a:ext cx="1496795" cy="221214"/>
          </a:xfrm>
          <a:prstGeom prst="rect">
            <a:avLst/>
          </a:prstGeom>
          <a:noFill/>
        </p:spPr>
        <p:txBody>
          <a:bodyPr wrap="square" lIns="0" tIns="0" rIns="0" bIns="0" anchor="t">
            <a:spAutoFit/>
          </a:bodyPr>
          <a:lstStyle/>
          <a:p>
            <a:pPr marL="0" marR="0" lvl="0" indent="0" algn="ctr" defTabSz="457200" rtl="1" eaLnBrk="1" fontAlgn="auto" latinLnBrk="0" hangingPunct="1">
              <a:lnSpc>
                <a:spcPct val="125000"/>
              </a:lnSpc>
              <a:spcBef>
                <a:spcPts val="0"/>
              </a:spcBef>
              <a:spcAft>
                <a:spcPts val="0"/>
              </a:spcAft>
              <a:buClrTx/>
              <a:buSzTx/>
              <a:buFontTx/>
              <a:buNone/>
              <a:tabLst/>
              <a:defRPr/>
            </a:pPr>
            <a:r>
              <a:rPr kumimoji="0" sz="1150" b="1" i="0" u="none" strike="noStrike" kern="1200" cap="none" spc="0" normalizeH="0" baseline="0" noProof="0">
                <a:ln>
                  <a:noFill/>
                </a:ln>
                <a:solidFill>
                  <a:srgbClr val="15296B"/>
                </a:solidFill>
                <a:effectLst/>
                <a:uLnTx/>
                <a:uFillTx/>
                <a:latin typeface="Yekan Bakh FaNum" pitchFamily="2" charset="-78"/>
                <a:ea typeface="+mn-ea"/>
                <a:cs typeface="Yekan Bakh FaNum" pitchFamily="2" charset="-78"/>
              </a:rPr>
              <a:t>پتانسیل درآمد</a:t>
            </a:r>
          </a:p>
        </p:txBody>
      </p:sp>
      <p:sp>
        <p:nvSpPr>
          <p:cNvPr id="13" name="TextBox 12"/>
          <p:cNvSpPr txBox="1"/>
          <p:nvPr/>
        </p:nvSpPr>
        <p:spPr>
          <a:xfrm>
            <a:off x="7698859" y="2552213"/>
            <a:ext cx="3474765" cy="201978"/>
          </a:xfrm>
          <a:prstGeom prst="rect">
            <a:avLst/>
          </a:prstGeom>
          <a:noFill/>
        </p:spPr>
        <p:txBody>
          <a:bodyPr wrap="square" lIns="0" tIns="0" rIns="0" bIns="0" anchor="t">
            <a:spAutoFit/>
          </a:bodyPr>
          <a:lstStyle/>
          <a:p>
            <a:pPr marL="0" marR="0" lvl="0" indent="0" algn="r" defTabSz="457200" rtl="1" eaLnBrk="1" fontAlgn="auto" latinLnBrk="0" hangingPunct="1">
              <a:lnSpc>
                <a:spcPct val="125000"/>
              </a:lnSpc>
              <a:spcBef>
                <a:spcPts val="0"/>
              </a:spcBef>
              <a:spcAft>
                <a:spcPts val="0"/>
              </a:spcAft>
              <a:buClrTx/>
              <a:buSzTx/>
              <a:buFontTx/>
              <a:buNone/>
              <a:tabLst/>
              <a:defRPr/>
            </a:pPr>
            <a:r>
              <a:rPr kumimoji="0" sz="1050" b="0" i="0" u="none" strike="noStrike" kern="1200" cap="none" spc="0" normalizeH="0" baseline="0" noProof="0">
                <a:ln>
                  <a:noFill/>
                </a:ln>
                <a:solidFill>
                  <a:srgbClr val="374151"/>
                </a:solidFill>
                <a:effectLst/>
                <a:uLnTx/>
                <a:uFillTx/>
                <a:latin typeface="Yekan Bakh FaNum" pitchFamily="2" charset="-78"/>
                <a:ea typeface="+mn-ea"/>
                <a:cs typeface="Yekan Bakh FaNum" pitchFamily="2" charset="-78"/>
              </a:rPr>
              <a:t>چقدر می‌تواند درآمد ایجاد کند؟</a:t>
            </a:r>
          </a:p>
        </p:txBody>
      </p:sp>
      <p:sp>
        <p:nvSpPr>
          <p:cNvPr id="14" name="Rectangle 13"/>
          <p:cNvSpPr/>
          <p:nvPr/>
        </p:nvSpPr>
        <p:spPr>
          <a:xfrm>
            <a:off x="6095919" y="2890946"/>
            <a:ext cx="5147654" cy="36576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5" name="TextBox 14"/>
          <p:cNvSpPr txBox="1"/>
          <p:nvPr/>
        </p:nvSpPr>
        <p:spPr>
          <a:xfrm>
            <a:off x="6219184" y="2963219"/>
            <a:ext cx="1496795" cy="221214"/>
          </a:xfrm>
          <a:prstGeom prst="rect">
            <a:avLst/>
          </a:prstGeom>
          <a:noFill/>
        </p:spPr>
        <p:txBody>
          <a:bodyPr wrap="square" lIns="0" tIns="0" rIns="0" bIns="0" anchor="t">
            <a:spAutoFit/>
          </a:bodyPr>
          <a:lstStyle/>
          <a:p>
            <a:pPr marL="0" marR="0" lvl="0" indent="0" algn="ctr" defTabSz="457200" rtl="1" eaLnBrk="1" fontAlgn="auto" latinLnBrk="0" hangingPunct="1">
              <a:lnSpc>
                <a:spcPct val="125000"/>
              </a:lnSpc>
              <a:spcBef>
                <a:spcPts val="0"/>
              </a:spcBef>
              <a:spcAft>
                <a:spcPts val="0"/>
              </a:spcAft>
              <a:buClrTx/>
              <a:buSzTx/>
              <a:buFontTx/>
              <a:buNone/>
              <a:tabLst/>
              <a:defRPr/>
            </a:pPr>
            <a:r>
              <a:rPr kumimoji="0" sz="1150" b="1" i="0" u="none" strike="noStrike" kern="1200" cap="none" spc="0" normalizeH="0" baseline="0" noProof="0">
                <a:ln>
                  <a:noFill/>
                </a:ln>
                <a:solidFill>
                  <a:srgbClr val="15296B"/>
                </a:solidFill>
                <a:effectLst/>
                <a:uLnTx/>
                <a:uFillTx/>
                <a:latin typeface="Yekan Bakh FaNum" pitchFamily="2" charset="-78"/>
                <a:ea typeface="+mn-ea"/>
                <a:cs typeface="Yekan Bakh FaNum" pitchFamily="2" charset="-78"/>
              </a:rPr>
              <a:t>پتانسیل حاشیه سود</a:t>
            </a:r>
          </a:p>
        </p:txBody>
      </p:sp>
      <p:sp>
        <p:nvSpPr>
          <p:cNvPr id="16" name="TextBox 15"/>
          <p:cNvSpPr txBox="1"/>
          <p:nvPr/>
        </p:nvSpPr>
        <p:spPr>
          <a:xfrm>
            <a:off x="7698859" y="2972837"/>
            <a:ext cx="3474765" cy="201978"/>
          </a:xfrm>
          <a:prstGeom prst="rect">
            <a:avLst/>
          </a:prstGeom>
          <a:noFill/>
        </p:spPr>
        <p:txBody>
          <a:bodyPr wrap="square" lIns="0" tIns="0" rIns="0" bIns="0" anchor="t">
            <a:spAutoFit/>
          </a:bodyPr>
          <a:lstStyle/>
          <a:p>
            <a:pPr marL="0" marR="0" lvl="0" indent="0" algn="r" defTabSz="457200" rtl="1" eaLnBrk="1" fontAlgn="auto" latinLnBrk="0" hangingPunct="1">
              <a:lnSpc>
                <a:spcPct val="125000"/>
              </a:lnSpc>
              <a:spcBef>
                <a:spcPts val="0"/>
              </a:spcBef>
              <a:spcAft>
                <a:spcPts val="0"/>
              </a:spcAft>
              <a:buClrTx/>
              <a:buSzTx/>
              <a:buFontTx/>
              <a:buNone/>
              <a:tabLst/>
              <a:defRPr/>
            </a:pPr>
            <a:r>
              <a:rPr kumimoji="0" sz="1050" b="0" i="0" u="none" strike="noStrike" kern="1200" cap="none" spc="0" normalizeH="0" baseline="0" noProof="0">
                <a:ln>
                  <a:noFill/>
                </a:ln>
                <a:solidFill>
                  <a:srgbClr val="374151"/>
                </a:solidFill>
                <a:effectLst/>
                <a:uLnTx/>
                <a:uFillTx/>
                <a:latin typeface="Yekan Bakh FaNum" pitchFamily="2" charset="-78"/>
                <a:ea typeface="+mn-ea"/>
                <a:cs typeface="Yekan Bakh FaNum" pitchFamily="2" charset="-78"/>
              </a:rPr>
              <a:t>این خدمت چقدر سودآور است؟</a:t>
            </a:r>
          </a:p>
        </p:txBody>
      </p:sp>
      <p:sp>
        <p:nvSpPr>
          <p:cNvPr id="17" name="Rectangle 16"/>
          <p:cNvSpPr/>
          <p:nvPr/>
        </p:nvSpPr>
        <p:spPr>
          <a:xfrm>
            <a:off x="6095919" y="3311570"/>
            <a:ext cx="5147654" cy="36576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8" name="TextBox 17"/>
          <p:cNvSpPr txBox="1"/>
          <p:nvPr/>
        </p:nvSpPr>
        <p:spPr>
          <a:xfrm>
            <a:off x="6219184" y="3383843"/>
            <a:ext cx="1496795" cy="221214"/>
          </a:xfrm>
          <a:prstGeom prst="rect">
            <a:avLst/>
          </a:prstGeom>
          <a:noFill/>
        </p:spPr>
        <p:txBody>
          <a:bodyPr wrap="square" lIns="0" tIns="0" rIns="0" bIns="0" anchor="t">
            <a:spAutoFit/>
          </a:bodyPr>
          <a:lstStyle/>
          <a:p>
            <a:pPr marL="0" marR="0" lvl="0" indent="0" algn="ctr" defTabSz="457200" rtl="1" eaLnBrk="1" fontAlgn="auto" latinLnBrk="0" hangingPunct="1">
              <a:lnSpc>
                <a:spcPct val="125000"/>
              </a:lnSpc>
              <a:spcBef>
                <a:spcPts val="0"/>
              </a:spcBef>
              <a:spcAft>
                <a:spcPts val="0"/>
              </a:spcAft>
              <a:buClrTx/>
              <a:buSzTx/>
              <a:buFontTx/>
              <a:buNone/>
              <a:tabLst/>
              <a:defRPr/>
            </a:pPr>
            <a:r>
              <a:rPr kumimoji="0" sz="1150" b="1" i="0" u="none" strike="noStrike" kern="1200" cap="none" spc="0" normalizeH="0" baseline="0" noProof="0">
                <a:ln>
                  <a:noFill/>
                </a:ln>
                <a:solidFill>
                  <a:srgbClr val="15296B"/>
                </a:solidFill>
                <a:effectLst/>
                <a:uLnTx/>
                <a:uFillTx/>
                <a:latin typeface="Yekan Bakh FaNum" pitchFamily="2" charset="-78"/>
                <a:ea typeface="+mn-ea"/>
                <a:cs typeface="Yekan Bakh FaNum" pitchFamily="2" charset="-78"/>
              </a:rPr>
              <a:t>ارزش طول‌عمر رابطه</a:t>
            </a:r>
          </a:p>
        </p:txBody>
      </p:sp>
      <p:sp>
        <p:nvSpPr>
          <p:cNvPr id="19" name="TextBox 18"/>
          <p:cNvSpPr txBox="1"/>
          <p:nvPr/>
        </p:nvSpPr>
        <p:spPr>
          <a:xfrm>
            <a:off x="7698859" y="3393461"/>
            <a:ext cx="3474765" cy="201978"/>
          </a:xfrm>
          <a:prstGeom prst="rect">
            <a:avLst/>
          </a:prstGeom>
          <a:noFill/>
        </p:spPr>
        <p:txBody>
          <a:bodyPr wrap="square" lIns="0" tIns="0" rIns="0" bIns="0" anchor="t">
            <a:spAutoFit/>
          </a:bodyPr>
          <a:lstStyle/>
          <a:p>
            <a:pPr marL="0" marR="0" lvl="0" indent="0" algn="r" defTabSz="457200" rtl="1" eaLnBrk="1" fontAlgn="auto" latinLnBrk="0" hangingPunct="1">
              <a:lnSpc>
                <a:spcPct val="125000"/>
              </a:lnSpc>
              <a:spcBef>
                <a:spcPts val="0"/>
              </a:spcBef>
              <a:spcAft>
                <a:spcPts val="0"/>
              </a:spcAft>
              <a:buClrTx/>
              <a:buSzTx/>
              <a:buFontTx/>
              <a:buNone/>
              <a:tabLst/>
              <a:defRPr/>
            </a:pPr>
            <a:r>
              <a:rPr kumimoji="0" sz="1050" b="0" i="0" u="none" strike="noStrike" kern="1200" cap="none" spc="0" normalizeH="0" baseline="0" noProof="0">
                <a:ln>
                  <a:noFill/>
                </a:ln>
                <a:solidFill>
                  <a:srgbClr val="374151"/>
                </a:solidFill>
                <a:effectLst/>
                <a:uLnTx/>
                <a:uFillTx/>
                <a:latin typeface="Yekan Bakh FaNum" pitchFamily="2" charset="-78"/>
                <a:ea typeface="+mn-ea"/>
                <a:cs typeface="Yekan Bakh FaNum" pitchFamily="2" charset="-78"/>
              </a:rPr>
              <a:t>این رابطه چقدر می‌تواند ماندگار باشد؟</a:t>
            </a:r>
          </a:p>
        </p:txBody>
      </p:sp>
      <p:sp>
        <p:nvSpPr>
          <p:cNvPr id="20" name="Rectangle 19"/>
          <p:cNvSpPr/>
          <p:nvPr/>
        </p:nvSpPr>
        <p:spPr>
          <a:xfrm>
            <a:off x="6095919" y="3732194"/>
            <a:ext cx="5147654" cy="36576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Calibri"/>
            </a:endParaRPr>
          </a:p>
        </p:txBody>
      </p:sp>
      <p:sp>
        <p:nvSpPr>
          <p:cNvPr id="21" name="TextBox 20"/>
          <p:cNvSpPr txBox="1"/>
          <p:nvPr/>
        </p:nvSpPr>
        <p:spPr>
          <a:xfrm>
            <a:off x="6219184" y="3804467"/>
            <a:ext cx="1496795" cy="221214"/>
          </a:xfrm>
          <a:prstGeom prst="rect">
            <a:avLst/>
          </a:prstGeom>
          <a:noFill/>
        </p:spPr>
        <p:txBody>
          <a:bodyPr wrap="square" lIns="0" tIns="0" rIns="0" bIns="0" anchor="t">
            <a:spAutoFit/>
          </a:bodyPr>
          <a:lstStyle/>
          <a:p>
            <a:pPr marL="0" marR="0" lvl="0" indent="0" algn="ctr" defTabSz="457200" rtl="1" eaLnBrk="1" fontAlgn="auto" latinLnBrk="0" hangingPunct="1">
              <a:lnSpc>
                <a:spcPct val="125000"/>
              </a:lnSpc>
              <a:spcBef>
                <a:spcPts val="0"/>
              </a:spcBef>
              <a:spcAft>
                <a:spcPts val="0"/>
              </a:spcAft>
              <a:buClrTx/>
              <a:buSzTx/>
              <a:buFontTx/>
              <a:buNone/>
              <a:tabLst/>
              <a:defRPr/>
            </a:pPr>
            <a:r>
              <a:rPr kumimoji="0" sz="1150" b="1" i="0" u="none" strike="noStrike" kern="1200" cap="none" spc="0" normalizeH="0" baseline="0" noProof="0">
                <a:ln>
                  <a:noFill/>
                </a:ln>
                <a:solidFill>
                  <a:srgbClr val="15296B"/>
                </a:solidFill>
                <a:effectLst/>
                <a:uLnTx/>
                <a:uFillTx/>
                <a:latin typeface="Yekan Bakh FaNum" pitchFamily="2" charset="-78"/>
                <a:ea typeface="+mn-ea"/>
                <a:cs typeface="Yekan Bakh FaNum" pitchFamily="2" charset="-78"/>
              </a:rPr>
              <a:t>پتانسیل فروش مکمل</a:t>
            </a:r>
          </a:p>
        </p:txBody>
      </p:sp>
      <p:sp>
        <p:nvSpPr>
          <p:cNvPr id="22" name="TextBox 21"/>
          <p:cNvSpPr txBox="1"/>
          <p:nvPr/>
        </p:nvSpPr>
        <p:spPr>
          <a:xfrm>
            <a:off x="7698859" y="3814085"/>
            <a:ext cx="3474765" cy="201978"/>
          </a:xfrm>
          <a:prstGeom prst="rect">
            <a:avLst/>
          </a:prstGeom>
          <a:noFill/>
        </p:spPr>
        <p:txBody>
          <a:bodyPr wrap="square" lIns="0" tIns="0" rIns="0" bIns="0" anchor="t">
            <a:spAutoFit/>
          </a:bodyPr>
          <a:lstStyle/>
          <a:p>
            <a:pPr marL="0" marR="0" lvl="0" indent="0" algn="r" defTabSz="457200" rtl="1" eaLnBrk="1" fontAlgn="auto" latinLnBrk="0" hangingPunct="1">
              <a:lnSpc>
                <a:spcPct val="125000"/>
              </a:lnSpc>
              <a:spcBef>
                <a:spcPts val="0"/>
              </a:spcBef>
              <a:spcAft>
                <a:spcPts val="0"/>
              </a:spcAft>
              <a:buClrTx/>
              <a:buSzTx/>
              <a:buFontTx/>
              <a:buNone/>
              <a:tabLst/>
              <a:defRPr/>
            </a:pPr>
            <a:r>
              <a:rPr kumimoji="0" sz="1050" b="0" i="0" u="none" strike="noStrike" kern="1200" cap="none" spc="0" normalizeH="0" baseline="0" noProof="0" dirty="0" err="1">
                <a:ln>
                  <a:noFill/>
                </a:ln>
                <a:solidFill>
                  <a:srgbClr val="374151"/>
                </a:solidFill>
                <a:effectLst/>
                <a:uLnTx/>
                <a:uFillTx/>
                <a:latin typeface="Yekan Bakh FaNum" pitchFamily="2" charset="-78"/>
                <a:ea typeface="+mn-ea"/>
                <a:cs typeface="Yekan Bakh FaNum" pitchFamily="2" charset="-78"/>
              </a:rPr>
              <a:t>چند</a:t>
            </a:r>
            <a:r>
              <a:rPr kumimoji="0" sz="1050" b="0" i="0" u="none" strike="noStrike" kern="1200" cap="none" spc="0" normalizeH="0" baseline="0" noProof="0" dirty="0">
                <a:ln>
                  <a:noFill/>
                </a:ln>
                <a:solidFill>
                  <a:srgbClr val="374151"/>
                </a:solidFill>
                <a:effectLst/>
                <a:uLnTx/>
                <a:uFillTx/>
                <a:latin typeface="Yekan Bakh FaNum" pitchFamily="2" charset="-78"/>
                <a:ea typeface="+mn-ea"/>
                <a:cs typeface="Yekan Bakh FaNum" pitchFamily="2" charset="-78"/>
              </a:rPr>
              <a:t> </a:t>
            </a:r>
            <a:r>
              <a:rPr kumimoji="0" sz="1050" b="0" i="0" u="none" strike="noStrike" kern="1200" cap="none" spc="0" normalizeH="0" baseline="0" noProof="0" dirty="0" err="1">
                <a:ln>
                  <a:noFill/>
                </a:ln>
                <a:solidFill>
                  <a:srgbClr val="374151"/>
                </a:solidFill>
                <a:effectLst/>
                <a:uLnTx/>
                <a:uFillTx/>
                <a:latin typeface="Yekan Bakh FaNum" pitchFamily="2" charset="-78"/>
                <a:ea typeface="+mn-ea"/>
                <a:cs typeface="Yekan Bakh FaNum" pitchFamily="2" charset="-78"/>
              </a:rPr>
              <a:t>خدمت</a:t>
            </a:r>
            <a:r>
              <a:rPr kumimoji="0" sz="1050" b="0" i="0" u="none" strike="noStrike" kern="1200" cap="none" spc="0" normalizeH="0" baseline="0" noProof="0" dirty="0">
                <a:ln>
                  <a:noFill/>
                </a:ln>
                <a:solidFill>
                  <a:srgbClr val="374151"/>
                </a:solidFill>
                <a:effectLst/>
                <a:uLnTx/>
                <a:uFillTx/>
                <a:latin typeface="Yekan Bakh FaNum" pitchFamily="2" charset="-78"/>
                <a:ea typeface="+mn-ea"/>
                <a:cs typeface="Yekan Bakh FaNum" pitchFamily="2" charset="-78"/>
              </a:rPr>
              <a:t> </a:t>
            </a:r>
            <a:r>
              <a:rPr kumimoji="0" sz="1050" b="0" i="0" u="none" strike="noStrike" kern="1200" cap="none" spc="0" normalizeH="0" baseline="0" noProof="0" dirty="0" err="1">
                <a:ln>
                  <a:noFill/>
                </a:ln>
                <a:solidFill>
                  <a:srgbClr val="374151"/>
                </a:solidFill>
                <a:effectLst/>
                <a:uLnTx/>
                <a:uFillTx/>
                <a:latin typeface="Yekan Bakh FaNum" pitchFamily="2" charset="-78"/>
                <a:ea typeface="+mn-ea"/>
                <a:cs typeface="Yekan Bakh FaNum" pitchFamily="2" charset="-78"/>
              </a:rPr>
              <a:t>دیگر</a:t>
            </a:r>
            <a:r>
              <a:rPr kumimoji="0" sz="1050" b="0" i="0" u="none" strike="noStrike" kern="1200" cap="none" spc="0" normalizeH="0" baseline="0" noProof="0" dirty="0">
                <a:ln>
                  <a:noFill/>
                </a:ln>
                <a:solidFill>
                  <a:srgbClr val="374151"/>
                </a:solidFill>
                <a:effectLst/>
                <a:uLnTx/>
                <a:uFillTx/>
                <a:latin typeface="Yekan Bakh FaNum" pitchFamily="2" charset="-78"/>
                <a:ea typeface="+mn-ea"/>
                <a:cs typeface="Yekan Bakh FaNum" pitchFamily="2" charset="-78"/>
              </a:rPr>
              <a:t> </a:t>
            </a:r>
            <a:r>
              <a:rPr kumimoji="0" sz="1050" b="0" i="0" u="none" strike="noStrike" kern="1200" cap="none" spc="0" normalizeH="0" baseline="0" noProof="0" dirty="0" err="1">
                <a:ln>
                  <a:noFill/>
                </a:ln>
                <a:solidFill>
                  <a:srgbClr val="374151"/>
                </a:solidFill>
                <a:effectLst/>
                <a:uLnTx/>
                <a:uFillTx/>
                <a:latin typeface="Yekan Bakh FaNum" pitchFamily="2" charset="-78"/>
                <a:ea typeface="+mn-ea"/>
                <a:cs typeface="Yekan Bakh FaNum" pitchFamily="2" charset="-78"/>
              </a:rPr>
              <a:t>قابل</a:t>
            </a:r>
            <a:r>
              <a:rPr kumimoji="0" sz="1050" b="0" i="0" u="none" strike="noStrike" kern="1200" cap="none" spc="0" normalizeH="0" baseline="0" noProof="0" dirty="0">
                <a:ln>
                  <a:noFill/>
                </a:ln>
                <a:solidFill>
                  <a:srgbClr val="374151"/>
                </a:solidFill>
                <a:effectLst/>
                <a:uLnTx/>
                <a:uFillTx/>
                <a:latin typeface="Yekan Bakh FaNum" pitchFamily="2" charset="-78"/>
                <a:ea typeface="+mn-ea"/>
                <a:cs typeface="Yekan Bakh FaNum" pitchFamily="2" charset="-78"/>
              </a:rPr>
              <a:t> </a:t>
            </a:r>
            <a:r>
              <a:rPr kumimoji="0" sz="1050" b="0" i="0" u="none" strike="noStrike" kern="1200" cap="none" spc="0" normalizeH="0" baseline="0" noProof="0" dirty="0" err="1">
                <a:ln>
                  <a:noFill/>
                </a:ln>
                <a:solidFill>
                  <a:srgbClr val="374151"/>
                </a:solidFill>
                <a:effectLst/>
                <a:uLnTx/>
                <a:uFillTx/>
                <a:latin typeface="Yekan Bakh FaNum" pitchFamily="2" charset="-78"/>
                <a:ea typeface="+mn-ea"/>
                <a:cs typeface="Yekan Bakh FaNum" pitchFamily="2" charset="-78"/>
              </a:rPr>
              <a:t>فروش</a:t>
            </a:r>
            <a:r>
              <a:rPr kumimoji="0" sz="1050" b="0" i="0" u="none" strike="noStrike" kern="1200" cap="none" spc="0" normalizeH="0" baseline="0" noProof="0" dirty="0">
                <a:ln>
                  <a:noFill/>
                </a:ln>
                <a:solidFill>
                  <a:srgbClr val="374151"/>
                </a:solidFill>
                <a:effectLst/>
                <a:uLnTx/>
                <a:uFillTx/>
                <a:latin typeface="Yekan Bakh FaNum" pitchFamily="2" charset="-78"/>
                <a:ea typeface="+mn-ea"/>
                <a:cs typeface="Yekan Bakh FaNum" pitchFamily="2" charset="-78"/>
              </a:rPr>
              <a:t> </a:t>
            </a:r>
            <a:r>
              <a:rPr kumimoji="0" sz="1050" b="0" i="0" u="none" strike="noStrike" kern="1200" cap="none" spc="0" normalizeH="0" baseline="0" noProof="0" dirty="0" err="1">
                <a:ln>
                  <a:noFill/>
                </a:ln>
                <a:solidFill>
                  <a:srgbClr val="374151"/>
                </a:solidFill>
                <a:effectLst/>
                <a:uLnTx/>
                <a:uFillTx/>
                <a:latin typeface="Yekan Bakh FaNum" pitchFamily="2" charset="-78"/>
                <a:ea typeface="+mn-ea"/>
                <a:cs typeface="Yekan Bakh FaNum" pitchFamily="2" charset="-78"/>
              </a:rPr>
              <a:t>به</a:t>
            </a:r>
            <a:r>
              <a:rPr kumimoji="0" sz="1050" b="0" i="0" u="none" strike="noStrike" kern="1200" cap="none" spc="0" normalizeH="0" baseline="0" noProof="0" dirty="0">
                <a:ln>
                  <a:noFill/>
                </a:ln>
                <a:solidFill>
                  <a:srgbClr val="374151"/>
                </a:solidFill>
                <a:effectLst/>
                <a:uLnTx/>
                <a:uFillTx/>
                <a:latin typeface="Yekan Bakh FaNum" pitchFamily="2" charset="-78"/>
                <a:ea typeface="+mn-ea"/>
                <a:cs typeface="Yekan Bakh FaNum" pitchFamily="2" charset="-78"/>
              </a:rPr>
              <a:t> </a:t>
            </a:r>
            <a:r>
              <a:rPr kumimoji="0" sz="1050" b="0" i="0" u="none" strike="noStrike" kern="1200" cap="none" spc="0" normalizeH="0" baseline="0" noProof="0" dirty="0" err="1">
                <a:ln>
                  <a:noFill/>
                </a:ln>
                <a:solidFill>
                  <a:srgbClr val="374151"/>
                </a:solidFill>
                <a:effectLst/>
                <a:uLnTx/>
                <a:uFillTx/>
                <a:latin typeface="Yekan Bakh FaNum" pitchFamily="2" charset="-78"/>
                <a:ea typeface="+mn-ea"/>
                <a:cs typeface="Yekan Bakh FaNum" pitchFamily="2" charset="-78"/>
              </a:rPr>
              <a:t>اوست</a:t>
            </a:r>
            <a:r>
              <a:rPr kumimoji="0" sz="1050" b="0" i="0" u="none" strike="noStrike" kern="1200" cap="none" spc="0" normalizeH="0" baseline="0" noProof="0" dirty="0">
                <a:ln>
                  <a:noFill/>
                </a:ln>
                <a:solidFill>
                  <a:srgbClr val="374151"/>
                </a:solidFill>
                <a:effectLst/>
                <a:uLnTx/>
                <a:uFillTx/>
                <a:latin typeface="Yekan Bakh FaNum" pitchFamily="2" charset="-78"/>
                <a:ea typeface="+mn-ea"/>
                <a:cs typeface="Yekan Bakh FaNum" pitchFamily="2" charset="-78"/>
              </a:rPr>
              <a:t>؟</a:t>
            </a:r>
          </a:p>
        </p:txBody>
      </p:sp>
      <p:sp>
        <p:nvSpPr>
          <p:cNvPr id="23" name="Rectangle 22"/>
          <p:cNvSpPr/>
          <p:nvPr/>
        </p:nvSpPr>
        <p:spPr>
          <a:xfrm>
            <a:off x="6095919" y="4152818"/>
            <a:ext cx="5147654" cy="36576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Calibri"/>
            </a:endParaRPr>
          </a:p>
        </p:txBody>
      </p:sp>
      <p:sp>
        <p:nvSpPr>
          <p:cNvPr id="24" name="TextBox 23"/>
          <p:cNvSpPr txBox="1"/>
          <p:nvPr/>
        </p:nvSpPr>
        <p:spPr>
          <a:xfrm>
            <a:off x="6219184" y="4225091"/>
            <a:ext cx="1496795" cy="221214"/>
          </a:xfrm>
          <a:prstGeom prst="rect">
            <a:avLst/>
          </a:prstGeom>
          <a:noFill/>
        </p:spPr>
        <p:txBody>
          <a:bodyPr wrap="square" lIns="0" tIns="0" rIns="0" bIns="0" anchor="t">
            <a:spAutoFit/>
          </a:bodyPr>
          <a:lstStyle/>
          <a:p>
            <a:pPr marL="0" marR="0" lvl="0" indent="0" algn="ctr" defTabSz="457200" rtl="1" eaLnBrk="1" fontAlgn="auto" latinLnBrk="0" hangingPunct="1">
              <a:lnSpc>
                <a:spcPct val="125000"/>
              </a:lnSpc>
              <a:spcBef>
                <a:spcPts val="0"/>
              </a:spcBef>
              <a:spcAft>
                <a:spcPts val="0"/>
              </a:spcAft>
              <a:buClrTx/>
              <a:buSzTx/>
              <a:buFontTx/>
              <a:buNone/>
              <a:tabLst/>
              <a:defRPr/>
            </a:pPr>
            <a:r>
              <a:rPr kumimoji="0" sz="1150" b="1" i="0" u="none" strike="noStrike" kern="1200" cap="none" spc="0" normalizeH="0" baseline="0" noProof="0">
                <a:ln>
                  <a:noFill/>
                </a:ln>
                <a:solidFill>
                  <a:srgbClr val="15296B"/>
                </a:solidFill>
                <a:effectLst/>
                <a:uLnTx/>
                <a:uFillTx/>
                <a:latin typeface="Yekan Bakh FaNum" pitchFamily="2" charset="-78"/>
                <a:ea typeface="+mn-ea"/>
                <a:cs typeface="Yekan Bakh FaNum" pitchFamily="2" charset="-78"/>
              </a:rPr>
              <a:t>اهمیت راهبردی</a:t>
            </a:r>
          </a:p>
        </p:txBody>
      </p:sp>
      <p:sp>
        <p:nvSpPr>
          <p:cNvPr id="25" name="TextBox 24"/>
          <p:cNvSpPr txBox="1"/>
          <p:nvPr/>
        </p:nvSpPr>
        <p:spPr>
          <a:xfrm>
            <a:off x="7698859" y="4234709"/>
            <a:ext cx="3474765" cy="201978"/>
          </a:xfrm>
          <a:prstGeom prst="rect">
            <a:avLst/>
          </a:prstGeom>
          <a:noFill/>
        </p:spPr>
        <p:txBody>
          <a:bodyPr wrap="square" lIns="0" tIns="0" rIns="0" bIns="0" anchor="t">
            <a:spAutoFit/>
          </a:bodyPr>
          <a:lstStyle/>
          <a:p>
            <a:pPr marL="0" marR="0" lvl="0" indent="0" algn="r" defTabSz="457200" rtl="1" eaLnBrk="1" fontAlgn="auto" latinLnBrk="0" hangingPunct="1">
              <a:lnSpc>
                <a:spcPct val="125000"/>
              </a:lnSpc>
              <a:spcBef>
                <a:spcPts val="0"/>
              </a:spcBef>
              <a:spcAft>
                <a:spcPts val="0"/>
              </a:spcAft>
              <a:buClrTx/>
              <a:buSzTx/>
              <a:buFontTx/>
              <a:buNone/>
              <a:tabLst/>
              <a:defRPr/>
            </a:pPr>
            <a:r>
              <a:rPr kumimoji="0" sz="1050" b="0" i="0" u="none" strike="noStrike" kern="1200" cap="none" spc="0" normalizeH="0" baseline="0" noProof="0">
                <a:ln>
                  <a:noFill/>
                </a:ln>
                <a:solidFill>
                  <a:srgbClr val="374151"/>
                </a:solidFill>
                <a:effectLst/>
                <a:uLnTx/>
                <a:uFillTx/>
                <a:latin typeface="Yekan Bakh FaNum" pitchFamily="2" charset="-78"/>
                <a:ea typeface="+mn-ea"/>
                <a:cs typeface="Yekan Bakh FaNum" pitchFamily="2" charset="-78"/>
              </a:rPr>
              <a:t>از نظر راهبردی چقدر مهم است؟</a:t>
            </a:r>
          </a:p>
        </p:txBody>
      </p:sp>
      <p:sp>
        <p:nvSpPr>
          <p:cNvPr id="26" name="Rectangle 25"/>
          <p:cNvSpPr/>
          <p:nvPr/>
        </p:nvSpPr>
        <p:spPr>
          <a:xfrm>
            <a:off x="6095919" y="4573442"/>
            <a:ext cx="5147654" cy="36576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Calibri"/>
            </a:endParaRPr>
          </a:p>
        </p:txBody>
      </p:sp>
      <p:sp>
        <p:nvSpPr>
          <p:cNvPr id="27" name="TextBox 26"/>
          <p:cNvSpPr txBox="1"/>
          <p:nvPr/>
        </p:nvSpPr>
        <p:spPr>
          <a:xfrm>
            <a:off x="6219184" y="4645715"/>
            <a:ext cx="1496795" cy="221214"/>
          </a:xfrm>
          <a:prstGeom prst="rect">
            <a:avLst/>
          </a:prstGeom>
          <a:noFill/>
        </p:spPr>
        <p:txBody>
          <a:bodyPr wrap="square" lIns="0" tIns="0" rIns="0" bIns="0" anchor="t">
            <a:spAutoFit/>
          </a:bodyPr>
          <a:lstStyle/>
          <a:p>
            <a:pPr marL="0" marR="0" lvl="0" indent="0" algn="ctr" defTabSz="457200" rtl="1" eaLnBrk="1" fontAlgn="auto" latinLnBrk="0" hangingPunct="1">
              <a:lnSpc>
                <a:spcPct val="125000"/>
              </a:lnSpc>
              <a:spcBef>
                <a:spcPts val="0"/>
              </a:spcBef>
              <a:spcAft>
                <a:spcPts val="0"/>
              </a:spcAft>
              <a:buClrTx/>
              <a:buSzTx/>
              <a:buFontTx/>
              <a:buNone/>
              <a:tabLst/>
              <a:defRPr/>
            </a:pPr>
            <a:r>
              <a:rPr kumimoji="0" sz="1150" b="1" i="0" u="none" strike="noStrike" kern="1200" cap="none" spc="0" normalizeH="0" baseline="0" noProof="0">
                <a:ln>
                  <a:noFill/>
                </a:ln>
                <a:solidFill>
                  <a:srgbClr val="15296B"/>
                </a:solidFill>
                <a:effectLst/>
                <a:uLnTx/>
                <a:uFillTx/>
                <a:latin typeface="Yekan Bakh FaNum" pitchFamily="2" charset="-78"/>
                <a:ea typeface="+mn-ea"/>
                <a:cs typeface="Yekan Bakh FaNum" pitchFamily="2" charset="-78"/>
              </a:rPr>
              <a:t>ارزش برای اکوسیستم</a:t>
            </a:r>
          </a:p>
        </p:txBody>
      </p:sp>
      <p:sp>
        <p:nvSpPr>
          <p:cNvPr id="28" name="TextBox 27"/>
          <p:cNvSpPr txBox="1"/>
          <p:nvPr/>
        </p:nvSpPr>
        <p:spPr>
          <a:xfrm>
            <a:off x="7698859" y="4655333"/>
            <a:ext cx="3474765" cy="201978"/>
          </a:xfrm>
          <a:prstGeom prst="rect">
            <a:avLst/>
          </a:prstGeom>
          <a:noFill/>
        </p:spPr>
        <p:txBody>
          <a:bodyPr wrap="square" lIns="0" tIns="0" rIns="0" bIns="0" anchor="t">
            <a:spAutoFit/>
          </a:bodyPr>
          <a:lstStyle/>
          <a:p>
            <a:pPr marL="0" marR="0" lvl="0" indent="0" algn="r" defTabSz="457200" rtl="1" eaLnBrk="1" fontAlgn="auto" latinLnBrk="0" hangingPunct="1">
              <a:lnSpc>
                <a:spcPct val="125000"/>
              </a:lnSpc>
              <a:spcBef>
                <a:spcPts val="0"/>
              </a:spcBef>
              <a:spcAft>
                <a:spcPts val="0"/>
              </a:spcAft>
              <a:buClrTx/>
              <a:buSzTx/>
              <a:buFontTx/>
              <a:buNone/>
              <a:tabLst/>
              <a:defRPr/>
            </a:pPr>
            <a:r>
              <a:rPr kumimoji="0" sz="1050" b="0" i="0" u="none" strike="noStrike" kern="1200" cap="none" spc="0" normalizeH="0" baseline="0" noProof="0" dirty="0" err="1">
                <a:ln>
                  <a:noFill/>
                </a:ln>
                <a:solidFill>
                  <a:srgbClr val="374151"/>
                </a:solidFill>
                <a:effectLst/>
                <a:uLnTx/>
                <a:uFillTx/>
                <a:latin typeface="Yekan Bakh FaNum" pitchFamily="2" charset="-78"/>
                <a:ea typeface="+mn-ea"/>
                <a:cs typeface="Yekan Bakh FaNum" pitchFamily="2" charset="-78"/>
              </a:rPr>
              <a:t>چه</a:t>
            </a:r>
            <a:r>
              <a:rPr kumimoji="0" sz="1050" b="0" i="0" u="none" strike="noStrike" kern="1200" cap="none" spc="0" normalizeH="0" baseline="0" noProof="0" dirty="0">
                <a:ln>
                  <a:noFill/>
                </a:ln>
                <a:solidFill>
                  <a:srgbClr val="374151"/>
                </a:solidFill>
                <a:effectLst/>
                <a:uLnTx/>
                <a:uFillTx/>
                <a:latin typeface="Yekan Bakh FaNum" pitchFamily="2" charset="-78"/>
                <a:ea typeface="+mn-ea"/>
                <a:cs typeface="Yekan Bakh FaNum" pitchFamily="2" charset="-78"/>
              </a:rPr>
              <a:t> </a:t>
            </a:r>
            <a:r>
              <a:rPr kumimoji="0" sz="1050" b="0" i="0" u="none" strike="noStrike" kern="1200" cap="none" spc="0" normalizeH="0" baseline="0" noProof="0" dirty="0" err="1">
                <a:ln>
                  <a:noFill/>
                </a:ln>
                <a:solidFill>
                  <a:srgbClr val="374151"/>
                </a:solidFill>
                <a:effectLst/>
                <a:uLnTx/>
                <a:uFillTx/>
                <a:latin typeface="Yekan Bakh FaNum" pitchFamily="2" charset="-78"/>
                <a:ea typeface="+mn-ea"/>
                <a:cs typeface="Yekan Bakh FaNum" pitchFamily="2" charset="-78"/>
              </a:rPr>
              <a:t>ارزشی</a:t>
            </a:r>
            <a:r>
              <a:rPr kumimoji="0" sz="1050" b="0" i="0" u="none" strike="noStrike" kern="1200" cap="none" spc="0" normalizeH="0" baseline="0" noProof="0" dirty="0">
                <a:ln>
                  <a:noFill/>
                </a:ln>
                <a:solidFill>
                  <a:srgbClr val="374151"/>
                </a:solidFill>
                <a:effectLst/>
                <a:uLnTx/>
                <a:uFillTx/>
                <a:latin typeface="Yekan Bakh FaNum" pitchFamily="2" charset="-78"/>
                <a:ea typeface="+mn-ea"/>
                <a:cs typeface="Yekan Bakh FaNum" pitchFamily="2" charset="-78"/>
              </a:rPr>
              <a:t> </a:t>
            </a:r>
            <a:r>
              <a:rPr kumimoji="0" sz="1050" b="0" i="0" u="none" strike="noStrike" kern="1200" cap="none" spc="0" normalizeH="0" baseline="0" noProof="0" dirty="0" err="1">
                <a:ln>
                  <a:noFill/>
                </a:ln>
                <a:solidFill>
                  <a:srgbClr val="374151"/>
                </a:solidFill>
                <a:effectLst/>
                <a:uLnTx/>
                <a:uFillTx/>
                <a:latin typeface="Yekan Bakh FaNum" pitchFamily="2" charset="-78"/>
                <a:ea typeface="+mn-ea"/>
                <a:cs typeface="Yekan Bakh FaNum" pitchFamily="2" charset="-78"/>
              </a:rPr>
              <a:t>برای</a:t>
            </a:r>
            <a:r>
              <a:rPr kumimoji="0" sz="1050" b="0" i="0" u="none" strike="noStrike" kern="1200" cap="none" spc="0" normalizeH="0" baseline="0" noProof="0" dirty="0">
                <a:ln>
                  <a:noFill/>
                </a:ln>
                <a:solidFill>
                  <a:srgbClr val="374151"/>
                </a:solidFill>
                <a:effectLst/>
                <a:uLnTx/>
                <a:uFillTx/>
                <a:latin typeface="Yekan Bakh FaNum" pitchFamily="2" charset="-78"/>
                <a:ea typeface="+mn-ea"/>
                <a:cs typeface="Yekan Bakh FaNum" pitchFamily="2" charset="-78"/>
              </a:rPr>
              <a:t> </a:t>
            </a:r>
            <a:r>
              <a:rPr kumimoji="0" sz="1050" b="0" i="0" u="none" strike="noStrike" kern="1200" cap="none" spc="0" normalizeH="0" baseline="0" noProof="0" dirty="0" err="1">
                <a:ln>
                  <a:noFill/>
                </a:ln>
                <a:solidFill>
                  <a:srgbClr val="374151"/>
                </a:solidFill>
                <a:effectLst/>
                <a:uLnTx/>
                <a:uFillTx/>
                <a:latin typeface="Yekan Bakh FaNum" pitchFamily="2" charset="-78"/>
                <a:ea typeface="+mn-ea"/>
                <a:cs typeface="Yekan Bakh FaNum" pitchFamily="2" charset="-78"/>
              </a:rPr>
              <a:t>کل</a:t>
            </a:r>
            <a:r>
              <a:rPr kumimoji="0" sz="1050" b="0" i="0" u="none" strike="noStrike" kern="1200" cap="none" spc="0" normalizeH="0" baseline="0" noProof="0" dirty="0">
                <a:ln>
                  <a:noFill/>
                </a:ln>
                <a:solidFill>
                  <a:srgbClr val="374151"/>
                </a:solidFill>
                <a:effectLst/>
                <a:uLnTx/>
                <a:uFillTx/>
                <a:latin typeface="Yekan Bakh FaNum" pitchFamily="2" charset="-78"/>
                <a:ea typeface="+mn-ea"/>
                <a:cs typeface="Yekan Bakh FaNum" pitchFamily="2" charset="-78"/>
              </a:rPr>
              <a:t> </a:t>
            </a:r>
            <a:r>
              <a:rPr kumimoji="0" sz="1050" b="0" i="0" u="none" strike="noStrike" kern="1200" cap="none" spc="0" normalizeH="0" baseline="0" noProof="0" dirty="0" err="1">
                <a:ln>
                  <a:noFill/>
                </a:ln>
                <a:solidFill>
                  <a:srgbClr val="374151"/>
                </a:solidFill>
                <a:effectLst/>
                <a:uLnTx/>
                <a:uFillTx/>
                <a:latin typeface="Yekan Bakh FaNum" pitchFamily="2" charset="-78"/>
                <a:ea typeface="+mn-ea"/>
                <a:cs typeface="Yekan Bakh FaNum" pitchFamily="2" charset="-78"/>
              </a:rPr>
              <a:t>شبکه</a:t>
            </a:r>
            <a:r>
              <a:rPr kumimoji="0" sz="1050" b="0" i="0" u="none" strike="noStrike" kern="1200" cap="none" spc="0" normalizeH="0" baseline="0" noProof="0" dirty="0">
                <a:ln>
                  <a:noFill/>
                </a:ln>
                <a:solidFill>
                  <a:srgbClr val="374151"/>
                </a:solidFill>
                <a:effectLst/>
                <a:uLnTx/>
                <a:uFillTx/>
                <a:latin typeface="Yekan Bakh FaNum" pitchFamily="2" charset="-78"/>
                <a:ea typeface="+mn-ea"/>
                <a:cs typeface="Yekan Bakh FaNum" pitchFamily="2" charset="-78"/>
              </a:rPr>
              <a:t> </a:t>
            </a:r>
            <a:r>
              <a:rPr kumimoji="0" lang="fa-IR" sz="1050" b="0" i="0" u="none" strike="noStrike" kern="1200" cap="none" spc="0" normalizeH="0" baseline="0" noProof="0" dirty="0">
                <a:ln>
                  <a:noFill/>
                </a:ln>
                <a:solidFill>
                  <a:srgbClr val="374151"/>
                </a:solidFill>
                <a:effectLst/>
                <a:uLnTx/>
                <a:uFillTx/>
                <a:latin typeface="Yekan Bakh FaNum" pitchFamily="2" charset="-78"/>
                <a:ea typeface="+mn-ea"/>
                <a:cs typeface="Yekan Bakh FaNum" pitchFamily="2" charset="-78"/>
              </a:rPr>
              <a:t>«اکوسیستم فرصت ایران» </a:t>
            </a:r>
            <a:r>
              <a:rPr kumimoji="0" sz="1050" b="0" i="0" u="none" strike="noStrike" kern="1200" cap="none" spc="0" normalizeH="0" baseline="0" noProof="0" dirty="0" err="1">
                <a:ln>
                  <a:noFill/>
                </a:ln>
                <a:solidFill>
                  <a:srgbClr val="374151"/>
                </a:solidFill>
                <a:effectLst/>
                <a:uLnTx/>
                <a:uFillTx/>
                <a:latin typeface="Yekan Bakh FaNum" pitchFamily="2" charset="-78"/>
                <a:ea typeface="+mn-ea"/>
                <a:cs typeface="Yekan Bakh FaNum" pitchFamily="2" charset="-78"/>
              </a:rPr>
              <a:t>دارد</a:t>
            </a:r>
            <a:r>
              <a:rPr kumimoji="0" sz="1050" b="0" i="0" u="none" strike="noStrike" kern="1200" cap="none" spc="0" normalizeH="0" baseline="0" noProof="0" dirty="0">
                <a:ln>
                  <a:noFill/>
                </a:ln>
                <a:solidFill>
                  <a:srgbClr val="374151"/>
                </a:solidFill>
                <a:effectLst/>
                <a:uLnTx/>
                <a:uFillTx/>
                <a:latin typeface="Yekan Bakh FaNum" pitchFamily="2" charset="-78"/>
                <a:ea typeface="+mn-ea"/>
                <a:cs typeface="Yekan Bakh FaNum" pitchFamily="2" charset="-78"/>
              </a:rPr>
              <a:t>؟</a:t>
            </a:r>
          </a:p>
        </p:txBody>
      </p:sp>
      <p:sp>
        <p:nvSpPr>
          <p:cNvPr id="29" name="TextBox 28"/>
          <p:cNvSpPr txBox="1"/>
          <p:nvPr/>
        </p:nvSpPr>
        <p:spPr>
          <a:xfrm>
            <a:off x="6095919" y="5167017"/>
            <a:ext cx="5147654" cy="581698"/>
          </a:xfrm>
          <a:prstGeom prst="rect">
            <a:avLst/>
          </a:prstGeom>
          <a:noFill/>
        </p:spPr>
        <p:txBody>
          <a:bodyPr wrap="square" lIns="0" tIns="0" rIns="0" bIns="0" anchor="t">
            <a:spAutoFit/>
          </a:bodyPr>
          <a:lstStyle/>
          <a:p>
            <a:pPr marL="0" marR="0" lvl="0" indent="0" algn="justLow" defTabSz="457200" rtl="1" eaLnBrk="1" fontAlgn="auto" latinLnBrk="0" hangingPunct="1">
              <a:lnSpc>
                <a:spcPct val="120000"/>
              </a:lnSpc>
              <a:spcBef>
                <a:spcPts val="0"/>
              </a:spcBef>
              <a:spcAft>
                <a:spcPts val="0"/>
              </a:spcAft>
              <a:buClrTx/>
              <a:buSzTx/>
              <a:buFontTx/>
              <a:buNone/>
              <a:tabLst/>
              <a:defRPr/>
            </a:pPr>
            <a:r>
              <a:rPr kumimoji="0" sz="1050" b="1" i="0" u="none" strike="noStrike" kern="1200" cap="none" spc="0" normalizeH="0" baseline="0" noProof="0" dirty="0" err="1">
                <a:ln>
                  <a:noFill/>
                </a:ln>
                <a:solidFill>
                  <a:srgbClr val="F0BE0F"/>
                </a:solidFill>
                <a:effectLst/>
                <a:uLnTx/>
                <a:uFillTx/>
                <a:latin typeface="Yekan Bakh FaNum" pitchFamily="2" charset="-78"/>
                <a:ea typeface="+mn-ea"/>
                <a:cs typeface="Yekan Bakh FaNum" pitchFamily="2" charset="-78"/>
              </a:rPr>
              <a:t>نتیجه</a:t>
            </a:r>
            <a:r>
              <a:rPr kumimoji="0" lang="fa-IR" sz="1050" b="1" i="0" u="none" strike="noStrike" kern="1200" cap="none" spc="0" normalizeH="0" baseline="0" noProof="0" dirty="0">
                <a:ln>
                  <a:noFill/>
                </a:ln>
                <a:solidFill>
                  <a:srgbClr val="F0BE0F"/>
                </a:solidFill>
                <a:effectLst/>
                <a:uLnTx/>
                <a:uFillTx/>
                <a:latin typeface="Yekan Bakh FaNum" pitchFamily="2" charset="-78"/>
                <a:ea typeface="+mn-ea"/>
                <a:cs typeface="Yekan Bakh FaNum" pitchFamily="2" charset="-78"/>
              </a:rPr>
              <a:t>:</a:t>
            </a:r>
          </a:p>
          <a:p>
            <a:pPr marL="0" marR="0" lvl="0" indent="0" algn="justLow" defTabSz="457200" rtl="1" eaLnBrk="1" fontAlgn="auto" latinLnBrk="0" hangingPunct="1">
              <a:lnSpc>
                <a:spcPct val="120000"/>
              </a:lnSpc>
              <a:spcBef>
                <a:spcPts val="0"/>
              </a:spcBef>
              <a:spcAft>
                <a:spcPts val="0"/>
              </a:spcAft>
              <a:buClrTx/>
              <a:buSzTx/>
              <a:buFontTx/>
              <a:buNone/>
              <a:tabLst/>
              <a:defRPr/>
            </a:pPr>
            <a:r>
              <a:rPr kumimoji="0" sz="1050" b="1" i="0" u="none" strike="noStrike" kern="1200" cap="none" spc="0" normalizeH="0" baseline="0" noProof="0" dirty="0" err="1">
                <a:ln>
                  <a:noFill/>
                </a:ln>
                <a:solidFill>
                  <a:prstClr val="black">
                    <a:lumMod val="50000"/>
                    <a:lumOff val="50000"/>
                  </a:prstClr>
                </a:solidFill>
                <a:effectLst/>
                <a:uLnTx/>
                <a:uFillTx/>
                <a:latin typeface="Yekan Bakh FaNum" pitchFamily="2" charset="-78"/>
                <a:ea typeface="+mn-ea"/>
                <a:cs typeface="Yekan Bakh FaNum" pitchFamily="2" charset="-78"/>
              </a:rPr>
              <a:t>ارزش</a:t>
            </a:r>
            <a:r>
              <a:rPr kumimoji="0" sz="1050" b="1" i="0" u="none" strike="noStrike" kern="1200" cap="none" spc="0" normalizeH="0" baseline="0" noProof="0" dirty="0">
                <a:ln>
                  <a:noFill/>
                </a:ln>
                <a:solidFill>
                  <a:prstClr val="black">
                    <a:lumMod val="50000"/>
                    <a:lumOff val="50000"/>
                  </a:prstClr>
                </a:solidFill>
                <a:effectLst/>
                <a:uLnTx/>
                <a:uFillTx/>
                <a:latin typeface="Yekan Bakh FaNum" pitchFamily="2" charset="-78"/>
                <a:ea typeface="+mn-ea"/>
                <a:cs typeface="Yekan Bakh FaNum" pitchFamily="2" charset="-78"/>
              </a:rPr>
              <a:t> </a:t>
            </a:r>
            <a:r>
              <a:rPr kumimoji="0" sz="1050" b="1" i="0" u="none" strike="noStrike" kern="1200" cap="none" spc="0" normalizeH="0" baseline="0" noProof="0" dirty="0" err="1">
                <a:ln>
                  <a:noFill/>
                </a:ln>
                <a:solidFill>
                  <a:prstClr val="black">
                    <a:lumMod val="50000"/>
                    <a:lumOff val="50000"/>
                  </a:prstClr>
                </a:solidFill>
                <a:effectLst/>
                <a:uLnTx/>
                <a:uFillTx/>
                <a:latin typeface="Yekan Bakh FaNum" pitchFamily="2" charset="-78"/>
                <a:ea typeface="+mn-ea"/>
                <a:cs typeface="Yekan Bakh FaNum" pitchFamily="2" charset="-78"/>
              </a:rPr>
              <a:t>مشتری</a:t>
            </a:r>
            <a:r>
              <a:rPr kumimoji="0" lang="en-US" sz="1050" b="1" i="0" u="none" strike="noStrike" kern="1200" cap="none" spc="0" normalizeH="0" baseline="0" noProof="0" dirty="0" err="1">
                <a:ln>
                  <a:noFill/>
                </a:ln>
                <a:solidFill>
                  <a:prstClr val="black">
                    <a:lumMod val="50000"/>
                    <a:lumOff val="50000"/>
                  </a:prstClr>
                </a:solidFill>
                <a:effectLst/>
                <a:uLnTx/>
                <a:uFillTx/>
                <a:latin typeface="Yekan Bakh FaNum" pitchFamily="2" charset="-78"/>
                <a:ea typeface="+mn-ea"/>
                <a:cs typeface="Yekan Bakh FaNum" pitchFamily="2" charset="-78"/>
              </a:rPr>
              <a:t>≠</a:t>
            </a:r>
            <a:r>
              <a:rPr kumimoji="0" sz="1050" b="1" i="0" u="none" strike="noStrike" kern="1200" cap="none" spc="0" normalizeH="0" baseline="0" noProof="0" dirty="0" err="1">
                <a:ln>
                  <a:noFill/>
                </a:ln>
                <a:solidFill>
                  <a:prstClr val="black">
                    <a:lumMod val="50000"/>
                    <a:lumOff val="50000"/>
                  </a:prstClr>
                </a:solidFill>
                <a:effectLst/>
                <a:uLnTx/>
                <a:uFillTx/>
                <a:latin typeface="Yekan Bakh FaNum" pitchFamily="2" charset="-78"/>
                <a:ea typeface="+mn-ea"/>
                <a:cs typeface="Yekan Bakh FaNum" pitchFamily="2" charset="-78"/>
              </a:rPr>
              <a:t>درآمد</a:t>
            </a:r>
            <a:r>
              <a:rPr kumimoji="0" sz="1050" b="1" i="0" u="none" strike="noStrike" kern="1200" cap="none" spc="0" normalizeH="0" baseline="0" noProof="0" dirty="0">
                <a:ln>
                  <a:noFill/>
                </a:ln>
                <a:solidFill>
                  <a:prstClr val="black">
                    <a:lumMod val="50000"/>
                    <a:lumOff val="50000"/>
                  </a:prstClr>
                </a:solidFill>
                <a:effectLst/>
                <a:uLnTx/>
                <a:uFillTx/>
                <a:latin typeface="Yekan Bakh FaNum" pitchFamily="2" charset="-78"/>
                <a:ea typeface="+mn-ea"/>
                <a:cs typeface="Yekan Bakh FaNum" pitchFamily="2" charset="-78"/>
              </a:rPr>
              <a:t> </a:t>
            </a:r>
            <a:r>
              <a:rPr kumimoji="0" sz="1050" b="1" i="0" u="none" strike="noStrike" kern="1200" cap="none" spc="0" normalizeH="0" baseline="0" noProof="0" dirty="0" err="1">
                <a:ln>
                  <a:noFill/>
                </a:ln>
                <a:solidFill>
                  <a:prstClr val="black">
                    <a:lumMod val="50000"/>
                    <a:lumOff val="50000"/>
                  </a:prstClr>
                </a:solidFill>
                <a:effectLst/>
                <a:uLnTx/>
                <a:uFillTx/>
                <a:latin typeface="Yekan Bakh FaNum" pitchFamily="2" charset="-78"/>
                <a:ea typeface="+mn-ea"/>
                <a:cs typeface="Yekan Bakh FaNum" pitchFamily="2" charset="-78"/>
              </a:rPr>
              <a:t>فعل</a:t>
            </a:r>
            <a:r>
              <a:rPr kumimoji="0" lang="fa-IR" sz="1050" b="1" i="0" u="none" strike="noStrike" kern="1200" cap="none" spc="0" normalizeH="0" baseline="0" noProof="0" dirty="0">
                <a:ln>
                  <a:noFill/>
                </a:ln>
                <a:solidFill>
                  <a:prstClr val="black">
                    <a:lumMod val="50000"/>
                    <a:lumOff val="50000"/>
                  </a:prstClr>
                </a:solidFill>
                <a:effectLst/>
                <a:uLnTx/>
                <a:uFillTx/>
                <a:latin typeface="Yekan Bakh FaNum" pitchFamily="2" charset="-78"/>
                <a:ea typeface="+mn-ea"/>
                <a:cs typeface="Yekan Bakh FaNum" pitchFamily="2" charset="-78"/>
              </a:rPr>
              <a:t>ی. </a:t>
            </a:r>
            <a:r>
              <a:rPr kumimoji="0" sz="1050" b="1" i="0" u="none" strike="noStrike" kern="1200" cap="none" spc="0" normalizeH="0" baseline="0" noProof="0" dirty="0" err="1">
                <a:ln>
                  <a:noFill/>
                </a:ln>
                <a:solidFill>
                  <a:prstClr val="black">
                    <a:lumMod val="50000"/>
                    <a:lumOff val="50000"/>
                  </a:prstClr>
                </a:solidFill>
                <a:effectLst/>
                <a:uLnTx/>
                <a:uFillTx/>
                <a:latin typeface="Yekan Bakh FaNum" pitchFamily="2" charset="-78"/>
                <a:ea typeface="+mn-ea"/>
                <a:cs typeface="Yekan Bakh FaNum" pitchFamily="2" charset="-78"/>
              </a:rPr>
              <a:t>مشتری</a:t>
            </a:r>
            <a:r>
              <a:rPr kumimoji="0" sz="1050" b="1" i="0" u="none" strike="noStrike" kern="1200" cap="none" spc="0" normalizeH="0" baseline="0" noProof="0" dirty="0">
                <a:ln>
                  <a:noFill/>
                </a:ln>
                <a:solidFill>
                  <a:prstClr val="black">
                    <a:lumMod val="50000"/>
                    <a:lumOff val="50000"/>
                  </a:prstClr>
                </a:solidFill>
                <a:effectLst/>
                <a:uLnTx/>
                <a:uFillTx/>
                <a:latin typeface="Yekan Bakh FaNum" pitchFamily="2" charset="-78"/>
                <a:ea typeface="+mn-ea"/>
                <a:cs typeface="Yekan Bakh FaNum" pitchFamily="2" charset="-78"/>
              </a:rPr>
              <a:t> </a:t>
            </a:r>
            <a:r>
              <a:rPr kumimoji="0" sz="1050" b="1" i="0" u="none" strike="noStrike" kern="1200" cap="none" spc="0" normalizeH="0" baseline="0" noProof="0" dirty="0" err="1">
                <a:ln>
                  <a:noFill/>
                </a:ln>
                <a:solidFill>
                  <a:prstClr val="black">
                    <a:lumMod val="50000"/>
                    <a:lumOff val="50000"/>
                  </a:prstClr>
                </a:solidFill>
                <a:effectLst/>
                <a:uLnTx/>
                <a:uFillTx/>
                <a:latin typeface="Yekan Bakh FaNum" pitchFamily="2" charset="-78"/>
                <a:ea typeface="+mn-ea"/>
                <a:cs typeface="Yekan Bakh FaNum" pitchFamily="2" charset="-78"/>
              </a:rPr>
              <a:t>می‌تواند</a:t>
            </a:r>
            <a:r>
              <a:rPr kumimoji="0" sz="1050" b="1" i="0" u="none" strike="noStrike" kern="1200" cap="none" spc="0" normalizeH="0" baseline="0" noProof="0" dirty="0">
                <a:ln>
                  <a:noFill/>
                </a:ln>
                <a:solidFill>
                  <a:prstClr val="black">
                    <a:lumMod val="50000"/>
                    <a:lumOff val="50000"/>
                  </a:prstClr>
                </a:solidFill>
                <a:effectLst/>
                <a:uLnTx/>
                <a:uFillTx/>
                <a:latin typeface="Yekan Bakh FaNum" pitchFamily="2" charset="-78"/>
                <a:ea typeface="+mn-ea"/>
                <a:cs typeface="Yekan Bakh FaNum" pitchFamily="2" charset="-78"/>
              </a:rPr>
              <a:t> </a:t>
            </a:r>
            <a:r>
              <a:rPr kumimoji="0" sz="1050" b="1" i="0" u="none" strike="noStrike" kern="1200" cap="none" spc="0" normalizeH="0" baseline="0" noProof="0" dirty="0" err="1">
                <a:ln>
                  <a:noFill/>
                </a:ln>
                <a:solidFill>
                  <a:prstClr val="black">
                    <a:lumMod val="50000"/>
                    <a:lumOff val="50000"/>
                  </a:prstClr>
                </a:solidFill>
                <a:effectLst/>
                <a:uLnTx/>
                <a:uFillTx/>
                <a:latin typeface="Yekan Bakh FaNum" pitchFamily="2" charset="-78"/>
                <a:ea typeface="+mn-ea"/>
                <a:cs typeface="Yekan Bakh FaNum" pitchFamily="2" charset="-78"/>
              </a:rPr>
              <a:t>الان</a:t>
            </a:r>
            <a:r>
              <a:rPr kumimoji="0" sz="1050" b="1" i="0" u="none" strike="noStrike" kern="1200" cap="none" spc="0" normalizeH="0" baseline="0" noProof="0" dirty="0">
                <a:ln>
                  <a:noFill/>
                </a:ln>
                <a:solidFill>
                  <a:prstClr val="black">
                    <a:lumMod val="50000"/>
                    <a:lumOff val="50000"/>
                  </a:prstClr>
                </a:solidFill>
                <a:effectLst/>
                <a:uLnTx/>
                <a:uFillTx/>
                <a:latin typeface="Yekan Bakh FaNum" pitchFamily="2" charset="-78"/>
                <a:ea typeface="+mn-ea"/>
                <a:cs typeface="Yekan Bakh FaNum" pitchFamily="2" charset="-78"/>
              </a:rPr>
              <a:t> </a:t>
            </a:r>
            <a:r>
              <a:rPr kumimoji="0" sz="1050" b="1" i="0" u="none" strike="noStrike" kern="1200" cap="none" spc="0" normalizeH="0" baseline="0" noProof="0" dirty="0" err="1">
                <a:ln>
                  <a:noFill/>
                </a:ln>
                <a:solidFill>
                  <a:prstClr val="black">
                    <a:lumMod val="50000"/>
                    <a:lumOff val="50000"/>
                  </a:prstClr>
                </a:solidFill>
                <a:effectLst/>
                <a:uLnTx/>
                <a:uFillTx/>
                <a:latin typeface="Yekan Bakh FaNum" pitchFamily="2" charset="-78"/>
                <a:ea typeface="+mn-ea"/>
                <a:cs typeface="Yekan Bakh FaNum" pitchFamily="2" charset="-78"/>
              </a:rPr>
              <a:t>کم‌درآمد</a:t>
            </a:r>
            <a:r>
              <a:rPr kumimoji="0" sz="1050" b="1" i="0" u="none" strike="noStrike" kern="1200" cap="none" spc="0" normalizeH="0" baseline="0" noProof="0" dirty="0">
                <a:ln>
                  <a:noFill/>
                </a:ln>
                <a:solidFill>
                  <a:prstClr val="black">
                    <a:lumMod val="50000"/>
                    <a:lumOff val="50000"/>
                  </a:prstClr>
                </a:solidFill>
                <a:effectLst/>
                <a:uLnTx/>
                <a:uFillTx/>
                <a:latin typeface="Yekan Bakh FaNum" pitchFamily="2" charset="-78"/>
                <a:ea typeface="+mn-ea"/>
                <a:cs typeface="Yekan Bakh FaNum" pitchFamily="2" charset="-78"/>
              </a:rPr>
              <a:t> </a:t>
            </a:r>
            <a:r>
              <a:rPr kumimoji="0" sz="1050" b="1" i="0" u="none" strike="noStrike" kern="1200" cap="none" spc="0" normalizeH="0" baseline="0" noProof="0" dirty="0" err="1">
                <a:ln>
                  <a:noFill/>
                </a:ln>
                <a:solidFill>
                  <a:prstClr val="black">
                    <a:lumMod val="50000"/>
                    <a:lumOff val="50000"/>
                  </a:prstClr>
                </a:solidFill>
                <a:effectLst/>
                <a:uLnTx/>
                <a:uFillTx/>
                <a:latin typeface="Yekan Bakh FaNum" pitchFamily="2" charset="-78"/>
                <a:ea typeface="+mn-ea"/>
                <a:cs typeface="Yekan Bakh FaNum" pitchFamily="2" charset="-78"/>
              </a:rPr>
              <a:t>باشد</a:t>
            </a:r>
            <a:r>
              <a:rPr kumimoji="0" sz="1050" b="1" i="0" u="none" strike="noStrike" kern="1200" cap="none" spc="0" normalizeH="0" baseline="0" noProof="0" dirty="0">
                <a:ln>
                  <a:noFill/>
                </a:ln>
                <a:solidFill>
                  <a:prstClr val="black">
                    <a:lumMod val="50000"/>
                    <a:lumOff val="50000"/>
                  </a:prstClr>
                </a:solidFill>
                <a:effectLst/>
                <a:uLnTx/>
                <a:uFillTx/>
                <a:latin typeface="Yekan Bakh FaNum" pitchFamily="2" charset="-78"/>
                <a:ea typeface="+mn-ea"/>
                <a:cs typeface="Yekan Bakh FaNum" pitchFamily="2" charset="-78"/>
              </a:rPr>
              <a:t> </a:t>
            </a:r>
            <a:r>
              <a:rPr kumimoji="0" sz="1050" b="1" i="0" u="none" strike="noStrike" kern="1200" cap="none" spc="0" normalizeH="0" baseline="0" noProof="0" dirty="0" err="1">
                <a:ln>
                  <a:noFill/>
                </a:ln>
                <a:solidFill>
                  <a:prstClr val="black">
                    <a:lumMod val="50000"/>
                    <a:lumOff val="50000"/>
                  </a:prstClr>
                </a:solidFill>
                <a:effectLst/>
                <a:uLnTx/>
                <a:uFillTx/>
                <a:latin typeface="Yekan Bakh FaNum" pitchFamily="2" charset="-78"/>
                <a:ea typeface="+mn-ea"/>
                <a:cs typeface="Yekan Bakh FaNum" pitchFamily="2" charset="-78"/>
              </a:rPr>
              <a:t>ولی</a:t>
            </a:r>
            <a:r>
              <a:rPr kumimoji="0" sz="1050" b="1" i="0" u="none" strike="noStrike" kern="1200" cap="none" spc="0" normalizeH="0" baseline="0" noProof="0" dirty="0">
                <a:ln>
                  <a:noFill/>
                </a:ln>
                <a:solidFill>
                  <a:prstClr val="black">
                    <a:lumMod val="50000"/>
                    <a:lumOff val="50000"/>
                  </a:prstClr>
                </a:solidFill>
                <a:effectLst/>
                <a:uLnTx/>
                <a:uFillTx/>
                <a:latin typeface="Yekan Bakh FaNum" pitchFamily="2" charset="-78"/>
                <a:ea typeface="+mn-ea"/>
                <a:cs typeface="Yekan Bakh FaNum" pitchFamily="2" charset="-78"/>
              </a:rPr>
              <a:t> </a:t>
            </a:r>
            <a:r>
              <a:rPr kumimoji="0" sz="1050" b="1" i="0" u="none" strike="noStrike" kern="1200" cap="none" spc="0" normalizeH="0" baseline="0" noProof="0" dirty="0" err="1">
                <a:ln>
                  <a:noFill/>
                </a:ln>
                <a:solidFill>
                  <a:prstClr val="black">
                    <a:lumMod val="50000"/>
                    <a:lumOff val="50000"/>
                  </a:prstClr>
                </a:solidFill>
                <a:effectLst/>
                <a:uLnTx/>
                <a:uFillTx/>
                <a:latin typeface="Yekan Bakh FaNum" pitchFamily="2" charset="-78"/>
                <a:ea typeface="+mn-ea"/>
                <a:cs typeface="Yekan Bakh FaNum" pitchFamily="2" charset="-78"/>
              </a:rPr>
              <a:t>ارزش</a:t>
            </a:r>
            <a:r>
              <a:rPr kumimoji="0" sz="1050" b="1" i="0" u="none" strike="noStrike" kern="1200" cap="none" spc="0" normalizeH="0" baseline="0" noProof="0" dirty="0">
                <a:ln>
                  <a:noFill/>
                </a:ln>
                <a:solidFill>
                  <a:prstClr val="black">
                    <a:lumMod val="50000"/>
                    <a:lumOff val="50000"/>
                  </a:prstClr>
                </a:solidFill>
                <a:effectLst/>
                <a:uLnTx/>
                <a:uFillTx/>
                <a:latin typeface="Yekan Bakh FaNum" pitchFamily="2" charset="-78"/>
                <a:ea typeface="+mn-ea"/>
                <a:cs typeface="Yekan Bakh FaNum" pitchFamily="2" charset="-78"/>
              </a:rPr>
              <a:t> </a:t>
            </a:r>
            <a:r>
              <a:rPr kumimoji="0" sz="1050" b="1" i="0" u="none" strike="noStrike" kern="1200" cap="none" spc="0" normalizeH="0" baseline="0" noProof="0" dirty="0" err="1">
                <a:ln>
                  <a:noFill/>
                </a:ln>
                <a:solidFill>
                  <a:prstClr val="black">
                    <a:lumMod val="50000"/>
                    <a:lumOff val="50000"/>
                  </a:prstClr>
                </a:solidFill>
                <a:effectLst/>
                <a:uLnTx/>
                <a:uFillTx/>
                <a:latin typeface="Yekan Bakh FaNum" pitchFamily="2" charset="-78"/>
                <a:ea typeface="+mn-ea"/>
                <a:cs typeface="Yekan Bakh FaNum" pitchFamily="2" charset="-78"/>
              </a:rPr>
              <a:t>راهبردی</a:t>
            </a:r>
            <a:r>
              <a:rPr kumimoji="0" sz="1050" b="1" i="0" u="none" strike="noStrike" kern="1200" cap="none" spc="0" normalizeH="0" baseline="0" noProof="0" dirty="0">
                <a:ln>
                  <a:noFill/>
                </a:ln>
                <a:solidFill>
                  <a:prstClr val="black">
                    <a:lumMod val="50000"/>
                    <a:lumOff val="50000"/>
                  </a:prstClr>
                </a:solidFill>
                <a:effectLst/>
                <a:uLnTx/>
                <a:uFillTx/>
                <a:latin typeface="Yekan Bakh FaNum" pitchFamily="2" charset="-78"/>
                <a:ea typeface="+mn-ea"/>
                <a:cs typeface="Yekan Bakh FaNum" pitchFamily="2" charset="-78"/>
              </a:rPr>
              <a:t>/</a:t>
            </a:r>
            <a:r>
              <a:rPr kumimoji="0" sz="1050" b="1" i="0" u="none" strike="noStrike" kern="1200" cap="none" spc="0" normalizeH="0" baseline="0" noProof="0" dirty="0" err="1">
                <a:ln>
                  <a:noFill/>
                </a:ln>
                <a:solidFill>
                  <a:prstClr val="black">
                    <a:lumMod val="50000"/>
                    <a:lumOff val="50000"/>
                  </a:prstClr>
                </a:solidFill>
                <a:effectLst/>
                <a:uLnTx/>
                <a:uFillTx/>
                <a:latin typeface="Yekan Bakh FaNum" pitchFamily="2" charset="-78"/>
                <a:ea typeface="+mn-ea"/>
                <a:cs typeface="Yekan Bakh FaNum" pitchFamily="2" charset="-78"/>
              </a:rPr>
              <a:t>اکوسیستمی</a:t>
            </a:r>
            <a:r>
              <a:rPr kumimoji="0" sz="1050" b="1" i="0" u="none" strike="noStrike" kern="1200" cap="none" spc="0" normalizeH="0" baseline="0" noProof="0" dirty="0">
                <a:ln>
                  <a:noFill/>
                </a:ln>
                <a:solidFill>
                  <a:prstClr val="black">
                    <a:lumMod val="50000"/>
                    <a:lumOff val="50000"/>
                  </a:prstClr>
                </a:solidFill>
                <a:effectLst/>
                <a:uLnTx/>
                <a:uFillTx/>
                <a:latin typeface="Yekan Bakh FaNum" pitchFamily="2" charset="-78"/>
                <a:ea typeface="+mn-ea"/>
                <a:cs typeface="Yekan Bakh FaNum" pitchFamily="2" charset="-78"/>
              </a:rPr>
              <a:t> </a:t>
            </a:r>
            <a:r>
              <a:rPr kumimoji="0" sz="1050" b="1" i="0" u="none" strike="noStrike" kern="1200" cap="none" spc="0" normalizeH="0" baseline="0" noProof="0" dirty="0" err="1">
                <a:ln>
                  <a:noFill/>
                </a:ln>
                <a:solidFill>
                  <a:prstClr val="black">
                    <a:lumMod val="50000"/>
                    <a:lumOff val="50000"/>
                  </a:prstClr>
                </a:solidFill>
                <a:effectLst/>
                <a:uLnTx/>
                <a:uFillTx/>
                <a:latin typeface="Yekan Bakh FaNum" pitchFamily="2" charset="-78"/>
                <a:ea typeface="+mn-ea"/>
                <a:cs typeface="Yekan Bakh FaNum" pitchFamily="2" charset="-78"/>
              </a:rPr>
              <a:t>بسیار</a:t>
            </a:r>
            <a:r>
              <a:rPr kumimoji="0" sz="1050" b="1" i="0" u="none" strike="noStrike" kern="1200" cap="none" spc="0" normalizeH="0" baseline="0" noProof="0" dirty="0">
                <a:ln>
                  <a:noFill/>
                </a:ln>
                <a:solidFill>
                  <a:prstClr val="black">
                    <a:lumMod val="50000"/>
                    <a:lumOff val="50000"/>
                  </a:prstClr>
                </a:solidFill>
                <a:effectLst/>
                <a:uLnTx/>
                <a:uFillTx/>
                <a:latin typeface="Yekan Bakh FaNum" pitchFamily="2" charset="-78"/>
                <a:ea typeface="+mn-ea"/>
                <a:cs typeface="Yekan Bakh FaNum" pitchFamily="2" charset="-78"/>
              </a:rPr>
              <a:t> </a:t>
            </a:r>
            <a:r>
              <a:rPr kumimoji="0" sz="1050" b="1" i="0" u="none" strike="noStrike" kern="1200" cap="none" spc="0" normalizeH="0" baseline="0" noProof="0" dirty="0" err="1">
                <a:ln>
                  <a:noFill/>
                </a:ln>
                <a:solidFill>
                  <a:prstClr val="black">
                    <a:lumMod val="50000"/>
                    <a:lumOff val="50000"/>
                  </a:prstClr>
                </a:solidFill>
                <a:effectLst/>
                <a:uLnTx/>
                <a:uFillTx/>
                <a:latin typeface="Yekan Bakh FaNum" pitchFamily="2" charset="-78"/>
                <a:ea typeface="+mn-ea"/>
                <a:cs typeface="Yekan Bakh FaNum" pitchFamily="2" charset="-78"/>
              </a:rPr>
              <a:t>بالایی</a:t>
            </a:r>
            <a:r>
              <a:rPr kumimoji="0" sz="1050" b="1" i="0" u="none" strike="noStrike" kern="1200" cap="none" spc="0" normalizeH="0" baseline="0" noProof="0" dirty="0">
                <a:ln>
                  <a:noFill/>
                </a:ln>
                <a:solidFill>
                  <a:prstClr val="black">
                    <a:lumMod val="50000"/>
                    <a:lumOff val="50000"/>
                  </a:prstClr>
                </a:solidFill>
                <a:effectLst/>
                <a:uLnTx/>
                <a:uFillTx/>
                <a:latin typeface="Yekan Bakh FaNum" pitchFamily="2" charset="-78"/>
                <a:ea typeface="+mn-ea"/>
                <a:cs typeface="Yekan Bakh FaNum" pitchFamily="2" charset="-78"/>
              </a:rPr>
              <a:t> </a:t>
            </a:r>
            <a:r>
              <a:rPr kumimoji="0" sz="1050" b="1" i="0" u="none" strike="noStrike" kern="1200" cap="none" spc="0" normalizeH="0" baseline="0" noProof="0" dirty="0" err="1">
                <a:ln>
                  <a:noFill/>
                </a:ln>
                <a:solidFill>
                  <a:prstClr val="black">
                    <a:lumMod val="50000"/>
                    <a:lumOff val="50000"/>
                  </a:prstClr>
                </a:solidFill>
                <a:effectLst/>
                <a:uLnTx/>
                <a:uFillTx/>
                <a:latin typeface="Yekan Bakh FaNum" pitchFamily="2" charset="-78"/>
                <a:ea typeface="+mn-ea"/>
                <a:cs typeface="Yekan Bakh FaNum" pitchFamily="2" charset="-78"/>
              </a:rPr>
              <a:t>داشته</a:t>
            </a:r>
            <a:r>
              <a:rPr kumimoji="0" sz="1050" b="1" i="0" u="none" strike="noStrike" kern="1200" cap="none" spc="0" normalizeH="0" baseline="0" noProof="0" dirty="0">
                <a:ln>
                  <a:noFill/>
                </a:ln>
                <a:solidFill>
                  <a:prstClr val="black">
                    <a:lumMod val="50000"/>
                    <a:lumOff val="50000"/>
                  </a:prstClr>
                </a:solidFill>
                <a:effectLst/>
                <a:uLnTx/>
                <a:uFillTx/>
                <a:latin typeface="Yekan Bakh FaNum" pitchFamily="2" charset="-78"/>
                <a:ea typeface="+mn-ea"/>
                <a:cs typeface="Yekan Bakh FaNum" pitchFamily="2" charset="-78"/>
              </a:rPr>
              <a:t> </a:t>
            </a:r>
            <a:r>
              <a:rPr kumimoji="0" sz="1050" b="1" i="0" u="none" strike="noStrike" kern="1200" cap="none" spc="0" normalizeH="0" baseline="0" noProof="0" dirty="0" err="1">
                <a:ln>
                  <a:noFill/>
                </a:ln>
                <a:solidFill>
                  <a:prstClr val="black">
                    <a:lumMod val="50000"/>
                    <a:lumOff val="50000"/>
                  </a:prstClr>
                </a:solidFill>
                <a:effectLst/>
                <a:uLnTx/>
                <a:uFillTx/>
                <a:latin typeface="Yekan Bakh FaNum" pitchFamily="2" charset="-78"/>
                <a:ea typeface="+mn-ea"/>
                <a:cs typeface="Yekan Bakh FaNum" pitchFamily="2" charset="-78"/>
              </a:rPr>
              <a:t>باشد</a:t>
            </a:r>
            <a:r>
              <a:rPr kumimoji="0" sz="1050" b="1" i="0" u="none" strike="noStrike" kern="1200" cap="none" spc="0" normalizeH="0" baseline="0" noProof="0" dirty="0">
                <a:ln>
                  <a:noFill/>
                </a:ln>
                <a:solidFill>
                  <a:prstClr val="black">
                    <a:lumMod val="50000"/>
                    <a:lumOff val="50000"/>
                  </a:prstClr>
                </a:solidFill>
                <a:effectLst/>
                <a:uLnTx/>
                <a:uFillTx/>
                <a:latin typeface="Yekan Bakh FaNum" pitchFamily="2" charset="-78"/>
                <a:ea typeface="+mn-ea"/>
                <a:cs typeface="Yekan Bakh FaNum" pitchFamily="2" charset="-78"/>
              </a:rPr>
              <a:t>.</a:t>
            </a:r>
          </a:p>
        </p:txBody>
      </p:sp>
      <p:sp>
        <p:nvSpPr>
          <p:cNvPr id="31" name="TextBox 30"/>
          <p:cNvSpPr txBox="1"/>
          <p:nvPr/>
        </p:nvSpPr>
        <p:spPr>
          <a:xfrm>
            <a:off x="714113" y="1475175"/>
            <a:ext cx="4830686" cy="230832"/>
          </a:xfrm>
          <a:prstGeom prst="rect">
            <a:avLst/>
          </a:prstGeom>
          <a:noFill/>
        </p:spPr>
        <p:txBody>
          <a:bodyPr wrap="square" lIns="0" tIns="0" rIns="0" bIns="0" anchor="t">
            <a:spAutoFit/>
          </a:bodyPr>
          <a:lstStyle/>
          <a:p>
            <a:pPr marL="0" marR="0" lvl="0" indent="0" algn="ctr" defTabSz="457200" rtl="1" eaLnBrk="1" fontAlgn="auto" latinLnBrk="0" hangingPunct="1">
              <a:lnSpc>
                <a:spcPct val="125000"/>
              </a:lnSpc>
              <a:spcBef>
                <a:spcPts val="0"/>
              </a:spcBef>
              <a:spcAft>
                <a:spcPts val="0"/>
              </a:spcAft>
              <a:buClrTx/>
              <a:buSzTx/>
              <a:buFontTx/>
              <a:buNone/>
              <a:tabLst/>
              <a:defRPr/>
            </a:pPr>
            <a:r>
              <a:rPr kumimoji="0" sz="1200" b="1" i="0" u="none" strike="noStrike" kern="1200" cap="none" spc="0" normalizeH="0" baseline="0" noProof="0" dirty="0" err="1">
                <a:ln>
                  <a:noFill/>
                </a:ln>
                <a:solidFill>
                  <a:srgbClr val="FFFFFF"/>
                </a:solidFill>
                <a:effectLst/>
                <a:uLnTx/>
                <a:uFillTx/>
                <a:latin typeface="Yekan Bakh FaNum" pitchFamily="2" charset="-78"/>
                <a:ea typeface="+mn-ea"/>
                <a:cs typeface="Yekan Bakh FaNum" pitchFamily="2" charset="-78"/>
              </a:rPr>
              <a:t>پیچیدگی</a:t>
            </a:r>
            <a:r>
              <a:rPr kumimoji="0" sz="1200" b="1" i="0" u="none" strike="noStrike" kern="1200" cap="none" spc="0" normalizeH="0" baseline="0" noProof="0" dirty="0">
                <a:ln>
                  <a:noFill/>
                </a:ln>
                <a:solidFill>
                  <a:srgbClr val="FFFFFF"/>
                </a:solidFill>
                <a:effectLst/>
                <a:uLnTx/>
                <a:uFillTx/>
                <a:latin typeface="Yekan Bakh FaNum" pitchFamily="2" charset="-78"/>
                <a:ea typeface="+mn-ea"/>
                <a:cs typeface="Yekan Bakh FaNum" pitchFamily="2" charset="-78"/>
              </a:rPr>
              <a:t> </a:t>
            </a:r>
            <a:r>
              <a:rPr kumimoji="0" sz="1200" b="1" i="0" u="none" strike="noStrike" kern="1200" cap="none" spc="0" normalizeH="0" baseline="0" noProof="0" dirty="0" err="1">
                <a:ln>
                  <a:noFill/>
                </a:ln>
                <a:solidFill>
                  <a:srgbClr val="FFFFFF"/>
                </a:solidFill>
                <a:effectLst/>
                <a:uLnTx/>
                <a:uFillTx/>
                <a:latin typeface="Yekan Bakh FaNum" pitchFamily="2" charset="-78"/>
                <a:ea typeface="+mn-ea"/>
                <a:cs typeface="Yekan Bakh FaNum" pitchFamily="2" charset="-78"/>
              </a:rPr>
              <a:t>نیاز</a:t>
            </a:r>
            <a:r>
              <a:rPr kumimoji="0" sz="1200" b="1" i="0" u="none" strike="noStrike" kern="1200" cap="none" spc="0" normalizeH="0" baseline="0" noProof="0" dirty="0">
                <a:ln>
                  <a:noFill/>
                </a:ln>
                <a:solidFill>
                  <a:srgbClr val="FFFFFF"/>
                </a:solidFill>
                <a:effectLst/>
                <a:uLnTx/>
                <a:uFillTx/>
                <a:latin typeface="Yekan Bakh FaNum" pitchFamily="2" charset="-78"/>
                <a:ea typeface="+mn-ea"/>
                <a:cs typeface="Yekan Bakh FaNum" pitchFamily="2" charset="-78"/>
              </a:rPr>
              <a:t> </a:t>
            </a:r>
            <a:r>
              <a:rPr kumimoji="0" sz="1200" b="1" i="0" u="none" strike="noStrike" kern="1200" cap="none" spc="0" normalizeH="0" baseline="0" noProof="0" dirty="0" err="1">
                <a:ln>
                  <a:noFill/>
                </a:ln>
                <a:solidFill>
                  <a:srgbClr val="FFFFFF"/>
                </a:solidFill>
                <a:effectLst/>
                <a:uLnTx/>
                <a:uFillTx/>
                <a:latin typeface="Yekan Bakh FaNum" pitchFamily="2" charset="-78"/>
                <a:ea typeface="+mn-ea"/>
                <a:cs typeface="Yekan Bakh FaNum" pitchFamily="2" charset="-78"/>
              </a:rPr>
              <a:t>مشتری</a:t>
            </a:r>
            <a:r>
              <a:rPr kumimoji="0" sz="1200" b="1" i="0" u="none" strike="noStrike" kern="1200" cap="none" spc="0" normalizeH="0" baseline="0" noProof="0" dirty="0">
                <a:ln>
                  <a:noFill/>
                </a:ln>
                <a:solidFill>
                  <a:srgbClr val="FFFFFF"/>
                </a:solidFill>
                <a:effectLst/>
                <a:uLnTx/>
                <a:uFillTx/>
                <a:latin typeface="Yekan Bakh FaNum" pitchFamily="2" charset="-78"/>
                <a:ea typeface="+mn-ea"/>
                <a:cs typeface="Yekan Bakh FaNum" pitchFamily="2" charset="-78"/>
              </a:rPr>
              <a:t>  (Customer Need Complexity)</a:t>
            </a:r>
          </a:p>
        </p:txBody>
      </p:sp>
      <p:sp>
        <p:nvSpPr>
          <p:cNvPr id="32" name="TextBox 31"/>
          <p:cNvSpPr txBox="1"/>
          <p:nvPr/>
        </p:nvSpPr>
        <p:spPr>
          <a:xfrm>
            <a:off x="714323" y="1910888"/>
            <a:ext cx="4830686" cy="424732"/>
          </a:xfrm>
          <a:prstGeom prst="rect">
            <a:avLst/>
          </a:prstGeom>
          <a:noFill/>
        </p:spPr>
        <p:txBody>
          <a:bodyPr wrap="square" lIns="0" tIns="0" rIns="0" bIns="0" anchor="t">
            <a:spAutoFit/>
          </a:bodyPr>
          <a:lstStyle/>
          <a:p>
            <a:pPr marL="0" marR="0" lvl="0" indent="0" algn="r" defTabSz="457200" rtl="1" eaLnBrk="1" fontAlgn="auto" latinLnBrk="0" hangingPunct="1">
              <a:lnSpc>
                <a:spcPct val="120000"/>
              </a:lnSpc>
              <a:spcBef>
                <a:spcPts val="0"/>
              </a:spcBef>
              <a:spcAft>
                <a:spcPts val="0"/>
              </a:spcAft>
              <a:buClrTx/>
              <a:buSzTx/>
              <a:buFontTx/>
              <a:buNone/>
              <a:tabLst/>
              <a:defRPr/>
            </a:pPr>
            <a:r>
              <a:rPr kumimoji="0" sz="1150" b="0" i="0" u="none" strike="noStrike" kern="1200" cap="none" spc="0" normalizeH="0" baseline="0" noProof="0" dirty="0" err="1">
                <a:ln>
                  <a:noFill/>
                </a:ln>
                <a:solidFill>
                  <a:srgbClr val="374151"/>
                </a:solidFill>
                <a:effectLst/>
                <a:uLnTx/>
                <a:uFillTx/>
                <a:latin typeface="Yekan Bakh FaNum" pitchFamily="2" charset="-78"/>
                <a:ea typeface="+mn-ea"/>
                <a:cs typeface="Yekan Bakh FaNum" pitchFamily="2" charset="-78"/>
              </a:rPr>
              <a:t>میزان</a:t>
            </a:r>
            <a:r>
              <a:rPr kumimoji="0" sz="1150" b="0" i="0" u="none" strike="noStrike" kern="1200" cap="none" spc="0" normalizeH="0" baseline="0" noProof="0" dirty="0">
                <a:ln>
                  <a:noFill/>
                </a:ln>
                <a:solidFill>
                  <a:srgbClr val="374151"/>
                </a:solidFill>
                <a:effectLst/>
                <a:uLnTx/>
                <a:uFillTx/>
                <a:latin typeface="Yekan Bakh FaNum" pitchFamily="2" charset="-78"/>
                <a:ea typeface="+mn-ea"/>
                <a:cs typeface="Yekan Bakh FaNum" pitchFamily="2" charset="-78"/>
              </a:rPr>
              <a:t> </a:t>
            </a:r>
            <a:r>
              <a:rPr kumimoji="0" sz="1150" b="0" i="0" u="none" strike="noStrike" kern="1200" cap="none" spc="0" normalizeH="0" baseline="0" noProof="0" dirty="0" err="1">
                <a:ln>
                  <a:noFill/>
                </a:ln>
                <a:solidFill>
                  <a:srgbClr val="374151"/>
                </a:solidFill>
                <a:effectLst/>
                <a:uLnTx/>
                <a:uFillTx/>
                <a:latin typeface="Yekan Bakh FaNum" pitchFamily="2" charset="-78"/>
                <a:ea typeface="+mn-ea"/>
                <a:cs typeface="Yekan Bakh FaNum" pitchFamily="2" charset="-78"/>
              </a:rPr>
              <a:t>دشواری</a:t>
            </a:r>
            <a:r>
              <a:rPr kumimoji="0" sz="1150" b="0" i="0" u="none" strike="noStrike" kern="1200" cap="none" spc="0" normalizeH="0" baseline="0" noProof="0" dirty="0">
                <a:ln>
                  <a:noFill/>
                </a:ln>
                <a:solidFill>
                  <a:srgbClr val="374151"/>
                </a:solidFill>
                <a:effectLst/>
                <a:uLnTx/>
                <a:uFillTx/>
                <a:latin typeface="Yekan Bakh FaNum" pitchFamily="2" charset="-78"/>
                <a:ea typeface="+mn-ea"/>
                <a:cs typeface="Yekan Bakh FaNum" pitchFamily="2" charset="-78"/>
              </a:rPr>
              <a:t> و </a:t>
            </a:r>
            <a:r>
              <a:rPr kumimoji="0" sz="1150" b="0" i="0" u="none" strike="noStrike" kern="1200" cap="none" spc="0" normalizeH="0" baseline="0" noProof="0" dirty="0" err="1">
                <a:ln>
                  <a:noFill/>
                </a:ln>
                <a:solidFill>
                  <a:srgbClr val="374151"/>
                </a:solidFill>
                <a:effectLst/>
                <a:uLnTx/>
                <a:uFillTx/>
                <a:latin typeface="Yekan Bakh FaNum" pitchFamily="2" charset="-78"/>
                <a:ea typeface="+mn-ea"/>
                <a:cs typeface="Yekan Bakh FaNum" pitchFamily="2" charset="-78"/>
              </a:rPr>
              <a:t>اختصاصی‌بودن</a:t>
            </a:r>
            <a:r>
              <a:rPr kumimoji="0" sz="1150" b="0" i="0" u="none" strike="noStrike" kern="1200" cap="none" spc="0" normalizeH="0" baseline="0" noProof="0" dirty="0">
                <a:ln>
                  <a:noFill/>
                </a:ln>
                <a:solidFill>
                  <a:srgbClr val="374151"/>
                </a:solidFill>
                <a:effectLst/>
                <a:uLnTx/>
                <a:uFillTx/>
                <a:latin typeface="Yekan Bakh FaNum" pitchFamily="2" charset="-78"/>
                <a:ea typeface="+mn-ea"/>
                <a:cs typeface="Yekan Bakh FaNum" pitchFamily="2" charset="-78"/>
              </a:rPr>
              <a:t> </a:t>
            </a:r>
            <a:r>
              <a:rPr kumimoji="0" sz="1150" b="0" i="0" u="none" strike="noStrike" kern="1200" cap="none" spc="0" normalizeH="0" baseline="0" noProof="0" dirty="0" err="1">
                <a:ln>
                  <a:noFill/>
                </a:ln>
                <a:solidFill>
                  <a:srgbClr val="374151"/>
                </a:solidFill>
                <a:effectLst/>
                <a:uLnTx/>
                <a:uFillTx/>
                <a:latin typeface="Yekan Bakh FaNum" pitchFamily="2" charset="-78"/>
                <a:ea typeface="+mn-ea"/>
                <a:cs typeface="Yekan Bakh FaNum" pitchFamily="2" charset="-78"/>
              </a:rPr>
              <a:t>حل</a:t>
            </a:r>
            <a:r>
              <a:rPr kumimoji="0" sz="1150" b="0" i="0" u="none" strike="noStrike" kern="1200" cap="none" spc="0" normalizeH="0" baseline="0" noProof="0" dirty="0">
                <a:ln>
                  <a:noFill/>
                </a:ln>
                <a:solidFill>
                  <a:srgbClr val="374151"/>
                </a:solidFill>
                <a:effectLst/>
                <a:uLnTx/>
                <a:uFillTx/>
                <a:latin typeface="Yekan Bakh FaNum" pitchFamily="2" charset="-78"/>
                <a:ea typeface="+mn-ea"/>
                <a:cs typeface="Yekan Bakh FaNum" pitchFamily="2" charset="-78"/>
              </a:rPr>
              <a:t> </a:t>
            </a:r>
            <a:r>
              <a:rPr kumimoji="0" sz="1150" b="0" i="0" u="none" strike="noStrike" kern="1200" cap="none" spc="0" normalizeH="0" baseline="0" noProof="0" dirty="0" err="1">
                <a:ln>
                  <a:noFill/>
                </a:ln>
                <a:solidFill>
                  <a:srgbClr val="374151"/>
                </a:solidFill>
                <a:effectLst/>
                <a:uLnTx/>
                <a:uFillTx/>
                <a:latin typeface="Yekan Bakh FaNum" pitchFamily="2" charset="-78"/>
                <a:ea typeface="+mn-ea"/>
                <a:cs typeface="Yekan Bakh FaNum" pitchFamily="2" charset="-78"/>
              </a:rPr>
              <a:t>مسئله</a:t>
            </a:r>
            <a:r>
              <a:rPr kumimoji="0" sz="1150" b="0" i="0" u="none" strike="noStrike" kern="1200" cap="none" spc="0" normalizeH="0" baseline="0" noProof="0" dirty="0">
                <a:ln>
                  <a:noFill/>
                </a:ln>
                <a:solidFill>
                  <a:srgbClr val="374151"/>
                </a:solidFill>
                <a:effectLst/>
                <a:uLnTx/>
                <a:uFillTx/>
                <a:latin typeface="Yekan Bakh FaNum" pitchFamily="2" charset="-78"/>
                <a:ea typeface="+mn-ea"/>
                <a:cs typeface="Yekan Bakh FaNum" pitchFamily="2" charset="-78"/>
              </a:rPr>
              <a:t> </a:t>
            </a:r>
            <a:r>
              <a:rPr kumimoji="0" sz="1150" b="0" i="0" u="none" strike="noStrike" kern="1200" cap="none" spc="0" normalizeH="0" baseline="0" noProof="0" dirty="0" err="1">
                <a:ln>
                  <a:noFill/>
                </a:ln>
                <a:solidFill>
                  <a:srgbClr val="374151"/>
                </a:solidFill>
                <a:effectLst/>
                <a:uLnTx/>
                <a:uFillTx/>
                <a:latin typeface="Yekan Bakh FaNum" pitchFamily="2" charset="-78"/>
                <a:ea typeface="+mn-ea"/>
                <a:cs typeface="Yekan Bakh FaNum" pitchFamily="2" charset="-78"/>
              </a:rPr>
              <a:t>مشتری</a:t>
            </a:r>
            <a:r>
              <a:rPr kumimoji="0" sz="1150" b="0" i="0" u="none" strike="noStrike" kern="1200" cap="none" spc="0" normalizeH="0" baseline="0" noProof="0" dirty="0">
                <a:ln>
                  <a:noFill/>
                </a:ln>
                <a:solidFill>
                  <a:srgbClr val="374151"/>
                </a:solidFill>
                <a:effectLst/>
                <a:uLnTx/>
                <a:uFillTx/>
                <a:latin typeface="Yekan Bakh FaNum" pitchFamily="2" charset="-78"/>
                <a:ea typeface="+mn-ea"/>
                <a:cs typeface="Yekan Bakh FaNum" pitchFamily="2" charset="-78"/>
              </a:rPr>
              <a:t>— </a:t>
            </a:r>
            <a:r>
              <a:rPr kumimoji="0" lang="fa-IR" sz="1150" b="0" i="0" u="none" strike="noStrike" kern="1200" cap="none" spc="0" normalizeH="0" baseline="0" noProof="0" dirty="0">
                <a:ln>
                  <a:noFill/>
                </a:ln>
                <a:solidFill>
                  <a:srgbClr val="374151"/>
                </a:solidFill>
                <a:effectLst/>
                <a:uLnTx/>
                <a:uFillTx/>
                <a:latin typeface="Yekan Bakh FaNum" pitchFamily="2" charset="-78"/>
                <a:ea typeface="+mn-ea"/>
                <a:cs typeface="Yekan Bakh FaNum" pitchFamily="2" charset="-78"/>
              </a:rPr>
              <a:t> </a:t>
            </a:r>
            <a:r>
              <a:rPr kumimoji="0" sz="1150" b="0" i="0" u="none" strike="noStrike" kern="1200" cap="none" spc="0" normalizeH="0" baseline="0" noProof="0" dirty="0" err="1">
                <a:ln>
                  <a:noFill/>
                </a:ln>
                <a:solidFill>
                  <a:srgbClr val="374151"/>
                </a:solidFill>
                <a:effectLst/>
                <a:uLnTx/>
                <a:uFillTx/>
                <a:latin typeface="Yekan Bakh FaNum" pitchFamily="2" charset="-78"/>
                <a:ea typeface="+mn-ea"/>
                <a:cs typeface="Yekan Bakh FaNum" pitchFamily="2" charset="-78"/>
              </a:rPr>
              <a:t>نه</a:t>
            </a:r>
            <a:r>
              <a:rPr kumimoji="0" sz="1150" b="0" i="0" u="none" strike="noStrike" kern="1200" cap="none" spc="0" normalizeH="0" baseline="0" noProof="0" dirty="0">
                <a:ln>
                  <a:noFill/>
                </a:ln>
                <a:solidFill>
                  <a:srgbClr val="374151"/>
                </a:solidFill>
                <a:effectLst/>
                <a:uLnTx/>
                <a:uFillTx/>
                <a:latin typeface="Yekan Bakh FaNum" pitchFamily="2" charset="-78"/>
                <a:ea typeface="+mn-ea"/>
                <a:cs typeface="Yekan Bakh FaNum" pitchFamily="2" charset="-78"/>
              </a:rPr>
              <a:t> </a:t>
            </a:r>
            <a:r>
              <a:rPr kumimoji="0" sz="1150" b="0" i="0" u="none" strike="noStrike" kern="1200" cap="none" spc="0" normalizeH="0" baseline="0" noProof="0" dirty="0" err="1">
                <a:ln>
                  <a:noFill/>
                </a:ln>
                <a:solidFill>
                  <a:srgbClr val="374151"/>
                </a:solidFill>
                <a:effectLst/>
                <a:uLnTx/>
                <a:uFillTx/>
                <a:latin typeface="Yekan Bakh FaNum" pitchFamily="2" charset="-78"/>
                <a:ea typeface="+mn-ea"/>
                <a:cs typeface="Yekan Bakh FaNum" pitchFamily="2" charset="-78"/>
              </a:rPr>
              <a:t>پیچیدگی</a:t>
            </a:r>
            <a:r>
              <a:rPr kumimoji="0" sz="1150" b="0" i="0" u="none" strike="noStrike" kern="1200" cap="none" spc="0" normalizeH="0" baseline="0" noProof="0" dirty="0">
                <a:ln>
                  <a:noFill/>
                </a:ln>
                <a:solidFill>
                  <a:srgbClr val="374151"/>
                </a:solidFill>
                <a:effectLst/>
                <a:uLnTx/>
                <a:uFillTx/>
                <a:latin typeface="Yekan Bakh FaNum" pitchFamily="2" charset="-78"/>
                <a:ea typeface="+mn-ea"/>
                <a:cs typeface="Yekan Bakh FaNum" pitchFamily="2" charset="-78"/>
              </a:rPr>
              <a:t> </a:t>
            </a:r>
            <a:r>
              <a:rPr kumimoji="0" sz="1150" b="0" i="0" u="none" strike="noStrike" kern="1200" cap="none" spc="0" normalizeH="0" baseline="0" noProof="0" dirty="0" err="1">
                <a:ln>
                  <a:noFill/>
                </a:ln>
                <a:solidFill>
                  <a:srgbClr val="374151"/>
                </a:solidFill>
                <a:effectLst/>
                <a:uLnTx/>
                <a:uFillTx/>
                <a:latin typeface="Yekan Bakh FaNum" pitchFamily="2" charset="-78"/>
                <a:ea typeface="+mn-ea"/>
                <a:cs typeface="Yekan Bakh FaNum" pitchFamily="2" charset="-78"/>
              </a:rPr>
              <a:t>خود</a:t>
            </a:r>
            <a:r>
              <a:rPr kumimoji="0" sz="1150" b="0" i="0" u="none" strike="noStrike" kern="1200" cap="none" spc="0" normalizeH="0" baseline="0" noProof="0" dirty="0">
                <a:ln>
                  <a:noFill/>
                </a:ln>
                <a:solidFill>
                  <a:srgbClr val="374151"/>
                </a:solidFill>
                <a:effectLst/>
                <a:uLnTx/>
                <a:uFillTx/>
                <a:latin typeface="Yekan Bakh FaNum" pitchFamily="2" charset="-78"/>
                <a:ea typeface="+mn-ea"/>
                <a:cs typeface="Yekan Bakh FaNum" pitchFamily="2" charset="-78"/>
              </a:rPr>
              <a:t> </a:t>
            </a:r>
            <a:r>
              <a:rPr kumimoji="0" sz="1150" b="0" i="0" u="none" strike="noStrike" kern="1200" cap="none" spc="0" normalizeH="0" baseline="0" noProof="0" dirty="0" err="1">
                <a:ln>
                  <a:noFill/>
                </a:ln>
                <a:solidFill>
                  <a:srgbClr val="374151"/>
                </a:solidFill>
                <a:effectLst/>
                <a:uLnTx/>
                <a:uFillTx/>
                <a:latin typeface="Yekan Bakh FaNum" pitchFamily="2" charset="-78"/>
                <a:ea typeface="+mn-ea"/>
                <a:cs typeface="Yekan Bakh FaNum" pitchFamily="2" charset="-78"/>
              </a:rPr>
              <a:t>سازمان</a:t>
            </a:r>
            <a:r>
              <a:rPr kumimoji="0" sz="1150" b="0" i="0" u="none" strike="noStrike" kern="1200" cap="none" spc="0" normalizeH="0" baseline="0" noProof="0" dirty="0">
                <a:ln>
                  <a:noFill/>
                </a:ln>
                <a:solidFill>
                  <a:srgbClr val="374151"/>
                </a:solidFill>
                <a:effectLst/>
                <a:uLnTx/>
                <a:uFillTx/>
                <a:latin typeface="Yekan Bakh FaNum" pitchFamily="2" charset="-78"/>
                <a:ea typeface="+mn-ea"/>
                <a:cs typeface="Yekan Bakh FaNum" pitchFamily="2" charset="-78"/>
              </a:rPr>
              <a:t> </a:t>
            </a:r>
            <a:r>
              <a:rPr kumimoji="0" sz="1150" b="0" i="0" u="none" strike="noStrike" kern="1200" cap="none" spc="0" normalizeH="0" baseline="0" noProof="0" dirty="0" err="1">
                <a:ln>
                  <a:noFill/>
                </a:ln>
                <a:solidFill>
                  <a:srgbClr val="374151"/>
                </a:solidFill>
                <a:effectLst/>
                <a:uLnTx/>
                <a:uFillTx/>
                <a:latin typeface="Yekan Bakh FaNum" pitchFamily="2" charset="-78"/>
                <a:ea typeface="+mn-ea"/>
                <a:cs typeface="Yekan Bakh FaNum" pitchFamily="2" charset="-78"/>
              </a:rPr>
              <a:t>مشتری</a:t>
            </a:r>
            <a:r>
              <a:rPr kumimoji="0" sz="1150" b="0" i="0" u="none" strike="noStrike" kern="1200" cap="none" spc="0" normalizeH="0" baseline="0" noProof="0" dirty="0">
                <a:ln>
                  <a:noFill/>
                </a:ln>
                <a:solidFill>
                  <a:srgbClr val="374151"/>
                </a:solidFill>
                <a:effectLst/>
                <a:uLnTx/>
                <a:uFillTx/>
                <a:latin typeface="Yekan Bakh FaNum" pitchFamily="2" charset="-78"/>
                <a:ea typeface="+mn-ea"/>
                <a:cs typeface="Yekan Bakh FaNum" pitchFamily="2" charset="-78"/>
              </a:rPr>
              <a:t>.</a:t>
            </a:r>
          </a:p>
        </p:txBody>
      </p:sp>
      <p:sp>
        <p:nvSpPr>
          <p:cNvPr id="33" name="Rectangle 32"/>
          <p:cNvSpPr/>
          <p:nvPr/>
        </p:nvSpPr>
        <p:spPr>
          <a:xfrm>
            <a:off x="555629" y="2470322"/>
            <a:ext cx="5147654" cy="36576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Calibri"/>
            </a:endParaRPr>
          </a:p>
        </p:txBody>
      </p:sp>
      <p:sp>
        <p:nvSpPr>
          <p:cNvPr id="34" name="TextBox 33"/>
          <p:cNvSpPr txBox="1"/>
          <p:nvPr/>
        </p:nvSpPr>
        <p:spPr>
          <a:xfrm>
            <a:off x="617422" y="2542595"/>
            <a:ext cx="1496795" cy="221214"/>
          </a:xfrm>
          <a:prstGeom prst="rect">
            <a:avLst/>
          </a:prstGeom>
          <a:noFill/>
        </p:spPr>
        <p:txBody>
          <a:bodyPr wrap="square" lIns="0" tIns="0" rIns="0" bIns="0" anchor="t">
            <a:spAutoFit/>
          </a:bodyPr>
          <a:lstStyle/>
          <a:p>
            <a:pPr marL="0" marR="0" lvl="0" indent="0" algn="ctr" defTabSz="457200" rtl="1" eaLnBrk="1" fontAlgn="auto" latinLnBrk="0" hangingPunct="1">
              <a:lnSpc>
                <a:spcPct val="125000"/>
              </a:lnSpc>
              <a:spcBef>
                <a:spcPts val="0"/>
              </a:spcBef>
              <a:spcAft>
                <a:spcPts val="0"/>
              </a:spcAft>
              <a:buClrTx/>
              <a:buSzTx/>
              <a:buFontTx/>
              <a:buNone/>
              <a:tabLst/>
              <a:defRPr/>
            </a:pPr>
            <a:r>
              <a:rPr kumimoji="0" sz="1150" b="1" i="0" u="none" strike="noStrike" kern="1200" cap="none" spc="0" normalizeH="0" baseline="0" noProof="0">
                <a:ln>
                  <a:noFill/>
                </a:ln>
                <a:solidFill>
                  <a:srgbClr val="15296B"/>
                </a:solidFill>
                <a:effectLst/>
                <a:uLnTx/>
                <a:uFillTx/>
                <a:latin typeface="Yekan Bakh FaNum" pitchFamily="2" charset="-78"/>
                <a:ea typeface="+mn-ea"/>
                <a:cs typeface="Yekan Bakh FaNum" pitchFamily="2" charset="-78"/>
              </a:rPr>
              <a:t>اختصاصی‌سازی</a:t>
            </a:r>
          </a:p>
        </p:txBody>
      </p:sp>
      <p:sp>
        <p:nvSpPr>
          <p:cNvPr id="35" name="TextBox 34"/>
          <p:cNvSpPr txBox="1"/>
          <p:nvPr/>
        </p:nvSpPr>
        <p:spPr>
          <a:xfrm>
            <a:off x="3263415" y="2552213"/>
            <a:ext cx="2351320" cy="201978"/>
          </a:xfrm>
          <a:prstGeom prst="rect">
            <a:avLst/>
          </a:prstGeom>
          <a:noFill/>
        </p:spPr>
        <p:txBody>
          <a:bodyPr wrap="square" lIns="0" tIns="0" rIns="0" bIns="0" anchor="t">
            <a:spAutoFit/>
          </a:bodyPr>
          <a:lstStyle/>
          <a:p>
            <a:pPr marL="0" marR="0" lvl="0" indent="0" algn="r" defTabSz="457200" rtl="1" eaLnBrk="1" fontAlgn="auto" latinLnBrk="0" hangingPunct="1">
              <a:lnSpc>
                <a:spcPct val="125000"/>
              </a:lnSpc>
              <a:spcBef>
                <a:spcPts val="0"/>
              </a:spcBef>
              <a:spcAft>
                <a:spcPts val="0"/>
              </a:spcAft>
              <a:buClrTx/>
              <a:buSzTx/>
              <a:buFontTx/>
              <a:buNone/>
              <a:tabLst/>
              <a:defRPr/>
            </a:pPr>
            <a:r>
              <a:rPr kumimoji="0" sz="1050" b="0" i="0" u="none" strike="noStrike" kern="1200" cap="none" spc="0" normalizeH="0" baseline="0" noProof="0" dirty="0" err="1">
                <a:ln>
                  <a:noFill/>
                </a:ln>
                <a:solidFill>
                  <a:srgbClr val="374151"/>
                </a:solidFill>
                <a:effectLst/>
                <a:uLnTx/>
                <a:uFillTx/>
                <a:latin typeface="Yekan Bakh FaNum" pitchFamily="2" charset="-78"/>
                <a:ea typeface="+mn-ea"/>
                <a:cs typeface="Yekan Bakh FaNum" pitchFamily="2" charset="-78"/>
              </a:rPr>
              <a:t>راه‌حل</a:t>
            </a:r>
            <a:r>
              <a:rPr kumimoji="0" sz="1050" b="0" i="0" u="none" strike="noStrike" kern="1200" cap="none" spc="0" normalizeH="0" baseline="0" noProof="0" dirty="0">
                <a:ln>
                  <a:noFill/>
                </a:ln>
                <a:solidFill>
                  <a:srgbClr val="374151"/>
                </a:solidFill>
                <a:effectLst/>
                <a:uLnTx/>
                <a:uFillTx/>
                <a:latin typeface="Yekan Bakh FaNum" pitchFamily="2" charset="-78"/>
                <a:ea typeface="+mn-ea"/>
                <a:cs typeface="Yekan Bakh FaNum" pitchFamily="2" charset="-78"/>
              </a:rPr>
              <a:t> </a:t>
            </a:r>
            <a:r>
              <a:rPr kumimoji="0" sz="1050" b="0" i="0" u="none" strike="noStrike" kern="1200" cap="none" spc="0" normalizeH="0" baseline="0" noProof="0" dirty="0" err="1">
                <a:ln>
                  <a:noFill/>
                </a:ln>
                <a:solidFill>
                  <a:srgbClr val="374151"/>
                </a:solidFill>
                <a:effectLst/>
                <a:uLnTx/>
                <a:uFillTx/>
                <a:latin typeface="Yekan Bakh FaNum" pitchFamily="2" charset="-78"/>
                <a:ea typeface="+mn-ea"/>
                <a:cs typeface="Yekan Bakh FaNum" pitchFamily="2" charset="-78"/>
              </a:rPr>
              <a:t>چقدر</a:t>
            </a:r>
            <a:r>
              <a:rPr kumimoji="0" sz="1050" b="0" i="0" u="none" strike="noStrike" kern="1200" cap="none" spc="0" normalizeH="0" baseline="0" noProof="0" dirty="0">
                <a:ln>
                  <a:noFill/>
                </a:ln>
                <a:solidFill>
                  <a:srgbClr val="374151"/>
                </a:solidFill>
                <a:effectLst/>
                <a:uLnTx/>
                <a:uFillTx/>
                <a:latin typeface="Yekan Bakh FaNum" pitchFamily="2" charset="-78"/>
                <a:ea typeface="+mn-ea"/>
                <a:cs typeface="Yekan Bakh FaNum" pitchFamily="2" charset="-78"/>
              </a:rPr>
              <a:t> </a:t>
            </a:r>
            <a:r>
              <a:rPr kumimoji="0" sz="1050" b="0" i="0" u="none" strike="noStrike" kern="1200" cap="none" spc="0" normalizeH="0" baseline="0" noProof="0" dirty="0" err="1">
                <a:ln>
                  <a:noFill/>
                </a:ln>
                <a:solidFill>
                  <a:srgbClr val="374151"/>
                </a:solidFill>
                <a:effectLst/>
                <a:uLnTx/>
                <a:uFillTx/>
                <a:latin typeface="Yekan Bakh FaNum" pitchFamily="2" charset="-78"/>
                <a:ea typeface="+mn-ea"/>
                <a:cs typeface="Yekan Bakh FaNum" pitchFamily="2" charset="-78"/>
              </a:rPr>
              <a:t>باید</a:t>
            </a:r>
            <a:r>
              <a:rPr kumimoji="0" sz="1050" b="0" i="0" u="none" strike="noStrike" kern="1200" cap="none" spc="0" normalizeH="0" baseline="0" noProof="0" dirty="0">
                <a:ln>
                  <a:noFill/>
                </a:ln>
                <a:solidFill>
                  <a:srgbClr val="374151"/>
                </a:solidFill>
                <a:effectLst/>
                <a:uLnTx/>
                <a:uFillTx/>
                <a:latin typeface="Yekan Bakh FaNum" pitchFamily="2" charset="-78"/>
                <a:ea typeface="+mn-ea"/>
                <a:cs typeface="Yekan Bakh FaNum" pitchFamily="2" charset="-78"/>
              </a:rPr>
              <a:t> </a:t>
            </a:r>
            <a:r>
              <a:rPr kumimoji="0" sz="1050" b="0" i="0" u="none" strike="noStrike" kern="1200" cap="none" spc="0" normalizeH="0" baseline="0" noProof="0" dirty="0" err="1">
                <a:ln>
                  <a:noFill/>
                </a:ln>
                <a:solidFill>
                  <a:srgbClr val="374151"/>
                </a:solidFill>
                <a:effectLst/>
                <a:uLnTx/>
                <a:uFillTx/>
                <a:latin typeface="Yekan Bakh FaNum" pitchFamily="2" charset="-78"/>
                <a:ea typeface="+mn-ea"/>
                <a:cs typeface="Yekan Bakh FaNum" pitchFamily="2" charset="-78"/>
              </a:rPr>
              <a:t>سفارشی</a:t>
            </a:r>
            <a:r>
              <a:rPr kumimoji="0" sz="1050" b="0" i="0" u="none" strike="noStrike" kern="1200" cap="none" spc="0" normalizeH="0" baseline="0" noProof="0" dirty="0">
                <a:ln>
                  <a:noFill/>
                </a:ln>
                <a:solidFill>
                  <a:srgbClr val="374151"/>
                </a:solidFill>
                <a:effectLst/>
                <a:uLnTx/>
                <a:uFillTx/>
                <a:latin typeface="Yekan Bakh FaNum" pitchFamily="2" charset="-78"/>
                <a:ea typeface="+mn-ea"/>
                <a:cs typeface="Yekan Bakh FaNum" pitchFamily="2" charset="-78"/>
              </a:rPr>
              <a:t> </a:t>
            </a:r>
            <a:r>
              <a:rPr kumimoji="0" sz="1050" b="0" i="0" u="none" strike="noStrike" kern="1200" cap="none" spc="0" normalizeH="0" baseline="0" noProof="0" dirty="0" err="1">
                <a:ln>
                  <a:noFill/>
                </a:ln>
                <a:solidFill>
                  <a:srgbClr val="374151"/>
                </a:solidFill>
                <a:effectLst/>
                <a:uLnTx/>
                <a:uFillTx/>
                <a:latin typeface="Yekan Bakh FaNum" pitchFamily="2" charset="-78"/>
                <a:ea typeface="+mn-ea"/>
                <a:cs typeface="Yekan Bakh FaNum" pitchFamily="2" charset="-78"/>
              </a:rPr>
              <a:t>باشد</a:t>
            </a:r>
            <a:r>
              <a:rPr kumimoji="0" sz="1050" b="0" i="0" u="none" strike="noStrike" kern="1200" cap="none" spc="0" normalizeH="0" baseline="0" noProof="0" dirty="0">
                <a:ln>
                  <a:noFill/>
                </a:ln>
                <a:solidFill>
                  <a:srgbClr val="374151"/>
                </a:solidFill>
                <a:effectLst/>
                <a:uLnTx/>
                <a:uFillTx/>
                <a:latin typeface="Yekan Bakh FaNum" pitchFamily="2" charset="-78"/>
                <a:ea typeface="+mn-ea"/>
                <a:cs typeface="Yekan Bakh FaNum" pitchFamily="2" charset="-78"/>
              </a:rPr>
              <a:t>؟</a:t>
            </a:r>
          </a:p>
        </p:txBody>
      </p:sp>
      <p:sp>
        <p:nvSpPr>
          <p:cNvPr id="36" name="Rectangle 35"/>
          <p:cNvSpPr/>
          <p:nvPr/>
        </p:nvSpPr>
        <p:spPr>
          <a:xfrm>
            <a:off x="555629" y="2890946"/>
            <a:ext cx="5147654" cy="36576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Calibri"/>
            </a:endParaRPr>
          </a:p>
        </p:txBody>
      </p:sp>
      <p:sp>
        <p:nvSpPr>
          <p:cNvPr id="37" name="TextBox 36"/>
          <p:cNvSpPr txBox="1"/>
          <p:nvPr/>
        </p:nvSpPr>
        <p:spPr>
          <a:xfrm>
            <a:off x="617422" y="2963219"/>
            <a:ext cx="1496795" cy="221214"/>
          </a:xfrm>
          <a:prstGeom prst="rect">
            <a:avLst/>
          </a:prstGeom>
          <a:noFill/>
        </p:spPr>
        <p:txBody>
          <a:bodyPr wrap="square" lIns="0" tIns="0" rIns="0" bIns="0" anchor="t">
            <a:spAutoFit/>
          </a:bodyPr>
          <a:lstStyle/>
          <a:p>
            <a:pPr marL="0" marR="0" lvl="0" indent="0" algn="ctr" defTabSz="457200" rtl="1" eaLnBrk="1" fontAlgn="auto" latinLnBrk="0" hangingPunct="1">
              <a:lnSpc>
                <a:spcPct val="125000"/>
              </a:lnSpc>
              <a:spcBef>
                <a:spcPts val="0"/>
              </a:spcBef>
              <a:spcAft>
                <a:spcPts val="0"/>
              </a:spcAft>
              <a:buClrTx/>
              <a:buSzTx/>
              <a:buFontTx/>
              <a:buNone/>
              <a:tabLst/>
              <a:defRPr/>
            </a:pPr>
            <a:r>
              <a:rPr kumimoji="0" sz="1150" b="1" i="0" u="none" strike="noStrike" kern="1200" cap="none" spc="0" normalizeH="0" baseline="0" noProof="0">
                <a:ln>
                  <a:noFill/>
                </a:ln>
                <a:solidFill>
                  <a:srgbClr val="15296B"/>
                </a:solidFill>
                <a:effectLst/>
                <a:uLnTx/>
                <a:uFillTx/>
                <a:latin typeface="Yekan Bakh FaNum" pitchFamily="2" charset="-78"/>
                <a:ea typeface="+mn-ea"/>
                <a:cs typeface="Yekan Bakh FaNum" pitchFamily="2" charset="-78"/>
              </a:rPr>
              <a:t>یکپارچه‌سازی</a:t>
            </a:r>
          </a:p>
        </p:txBody>
      </p:sp>
      <p:sp>
        <p:nvSpPr>
          <p:cNvPr id="38" name="TextBox 37"/>
          <p:cNvSpPr txBox="1"/>
          <p:nvPr/>
        </p:nvSpPr>
        <p:spPr>
          <a:xfrm>
            <a:off x="3263415" y="2972837"/>
            <a:ext cx="2351320" cy="201978"/>
          </a:xfrm>
          <a:prstGeom prst="rect">
            <a:avLst/>
          </a:prstGeom>
          <a:noFill/>
        </p:spPr>
        <p:txBody>
          <a:bodyPr wrap="square" lIns="0" tIns="0" rIns="0" bIns="0" anchor="t">
            <a:spAutoFit/>
          </a:bodyPr>
          <a:lstStyle/>
          <a:p>
            <a:pPr marL="0" marR="0" lvl="0" indent="0" algn="r" defTabSz="457200" rtl="1" eaLnBrk="1" fontAlgn="auto" latinLnBrk="0" hangingPunct="1">
              <a:lnSpc>
                <a:spcPct val="125000"/>
              </a:lnSpc>
              <a:spcBef>
                <a:spcPts val="0"/>
              </a:spcBef>
              <a:spcAft>
                <a:spcPts val="0"/>
              </a:spcAft>
              <a:buClrTx/>
              <a:buSzTx/>
              <a:buFontTx/>
              <a:buNone/>
              <a:tabLst/>
              <a:defRPr/>
            </a:pPr>
            <a:r>
              <a:rPr kumimoji="0" sz="1050" b="0" i="0" u="none" strike="noStrike" kern="1200" cap="none" spc="0" normalizeH="0" baseline="0" noProof="0">
                <a:ln>
                  <a:noFill/>
                </a:ln>
                <a:solidFill>
                  <a:srgbClr val="374151"/>
                </a:solidFill>
                <a:effectLst/>
                <a:uLnTx/>
                <a:uFillTx/>
                <a:latin typeface="Yekan Bakh FaNum" pitchFamily="2" charset="-78"/>
                <a:ea typeface="+mn-ea"/>
                <a:cs typeface="Yekan Bakh FaNum" pitchFamily="2" charset="-78"/>
              </a:rPr>
              <a:t>چند خدمت/بازیگر باید متصل شوند؟</a:t>
            </a:r>
          </a:p>
        </p:txBody>
      </p:sp>
      <p:sp>
        <p:nvSpPr>
          <p:cNvPr id="39" name="Rectangle 38"/>
          <p:cNvSpPr/>
          <p:nvPr/>
        </p:nvSpPr>
        <p:spPr>
          <a:xfrm>
            <a:off x="555629" y="3311570"/>
            <a:ext cx="5147654" cy="36576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0" name="TextBox 39"/>
          <p:cNvSpPr txBox="1"/>
          <p:nvPr/>
        </p:nvSpPr>
        <p:spPr>
          <a:xfrm>
            <a:off x="617422" y="3383843"/>
            <a:ext cx="1496795" cy="221214"/>
          </a:xfrm>
          <a:prstGeom prst="rect">
            <a:avLst/>
          </a:prstGeom>
          <a:noFill/>
        </p:spPr>
        <p:txBody>
          <a:bodyPr wrap="square" lIns="0" tIns="0" rIns="0" bIns="0" anchor="t">
            <a:spAutoFit/>
          </a:bodyPr>
          <a:lstStyle/>
          <a:p>
            <a:pPr marL="0" marR="0" lvl="0" indent="0" algn="ctr" defTabSz="457200" rtl="1" eaLnBrk="1" fontAlgn="auto" latinLnBrk="0" hangingPunct="1">
              <a:lnSpc>
                <a:spcPct val="125000"/>
              </a:lnSpc>
              <a:spcBef>
                <a:spcPts val="0"/>
              </a:spcBef>
              <a:spcAft>
                <a:spcPts val="0"/>
              </a:spcAft>
              <a:buClrTx/>
              <a:buSzTx/>
              <a:buFontTx/>
              <a:buNone/>
              <a:tabLst/>
              <a:defRPr/>
            </a:pPr>
            <a:r>
              <a:rPr kumimoji="0" sz="1150" b="1" i="0" u="none" strike="noStrike" kern="1200" cap="none" spc="0" normalizeH="0" baseline="0" noProof="0">
                <a:ln>
                  <a:noFill/>
                </a:ln>
                <a:solidFill>
                  <a:srgbClr val="15296B"/>
                </a:solidFill>
                <a:effectLst/>
                <a:uLnTx/>
                <a:uFillTx/>
                <a:latin typeface="Yekan Bakh FaNum" pitchFamily="2" charset="-78"/>
                <a:ea typeface="+mn-ea"/>
                <a:cs typeface="Yekan Bakh FaNum" pitchFamily="2" charset="-78"/>
              </a:rPr>
              <a:t>تخصص لازم</a:t>
            </a:r>
          </a:p>
        </p:txBody>
      </p:sp>
      <p:sp>
        <p:nvSpPr>
          <p:cNvPr id="41" name="TextBox 40"/>
          <p:cNvSpPr txBox="1"/>
          <p:nvPr/>
        </p:nvSpPr>
        <p:spPr>
          <a:xfrm>
            <a:off x="3263415" y="3393461"/>
            <a:ext cx="2351320" cy="201978"/>
          </a:xfrm>
          <a:prstGeom prst="rect">
            <a:avLst/>
          </a:prstGeom>
          <a:noFill/>
        </p:spPr>
        <p:txBody>
          <a:bodyPr wrap="square" lIns="0" tIns="0" rIns="0" bIns="0" anchor="t">
            <a:spAutoFit/>
          </a:bodyPr>
          <a:lstStyle/>
          <a:p>
            <a:pPr marL="0" marR="0" lvl="0" indent="0" algn="r" defTabSz="457200" rtl="1" eaLnBrk="1" fontAlgn="auto" latinLnBrk="0" hangingPunct="1">
              <a:lnSpc>
                <a:spcPct val="125000"/>
              </a:lnSpc>
              <a:spcBef>
                <a:spcPts val="0"/>
              </a:spcBef>
              <a:spcAft>
                <a:spcPts val="0"/>
              </a:spcAft>
              <a:buClrTx/>
              <a:buSzTx/>
              <a:buFontTx/>
              <a:buNone/>
              <a:tabLst/>
              <a:defRPr/>
            </a:pPr>
            <a:r>
              <a:rPr kumimoji="0" sz="1050" b="0" i="0" u="none" strike="noStrike" kern="1200" cap="none" spc="0" normalizeH="0" baseline="0" noProof="0">
                <a:ln>
                  <a:noFill/>
                </a:ln>
                <a:solidFill>
                  <a:srgbClr val="374151"/>
                </a:solidFill>
                <a:effectLst/>
                <a:uLnTx/>
                <a:uFillTx/>
                <a:latin typeface="Yekan Bakh FaNum" pitchFamily="2" charset="-78"/>
                <a:ea typeface="+mn-ea"/>
                <a:cs typeface="Yekan Bakh FaNum" pitchFamily="2" charset="-78"/>
              </a:rPr>
              <a:t>چقدر دانش تخصصی نیاز است؟</a:t>
            </a:r>
          </a:p>
        </p:txBody>
      </p:sp>
      <p:sp>
        <p:nvSpPr>
          <p:cNvPr id="42" name="Rectangle 41"/>
          <p:cNvSpPr/>
          <p:nvPr/>
        </p:nvSpPr>
        <p:spPr>
          <a:xfrm>
            <a:off x="555629" y="3732194"/>
            <a:ext cx="5147654" cy="36576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3" name="TextBox 42"/>
          <p:cNvSpPr txBox="1"/>
          <p:nvPr/>
        </p:nvSpPr>
        <p:spPr>
          <a:xfrm>
            <a:off x="617422" y="3804467"/>
            <a:ext cx="1496795" cy="221214"/>
          </a:xfrm>
          <a:prstGeom prst="rect">
            <a:avLst/>
          </a:prstGeom>
          <a:noFill/>
        </p:spPr>
        <p:txBody>
          <a:bodyPr wrap="square" lIns="0" tIns="0" rIns="0" bIns="0" anchor="t">
            <a:spAutoFit/>
          </a:bodyPr>
          <a:lstStyle/>
          <a:p>
            <a:pPr marL="0" marR="0" lvl="0" indent="0" algn="ctr" defTabSz="457200" rtl="1" eaLnBrk="1" fontAlgn="auto" latinLnBrk="0" hangingPunct="1">
              <a:lnSpc>
                <a:spcPct val="125000"/>
              </a:lnSpc>
              <a:spcBef>
                <a:spcPts val="0"/>
              </a:spcBef>
              <a:spcAft>
                <a:spcPts val="0"/>
              </a:spcAft>
              <a:buClrTx/>
              <a:buSzTx/>
              <a:buFontTx/>
              <a:buNone/>
              <a:tabLst/>
              <a:defRPr/>
            </a:pPr>
            <a:r>
              <a:rPr kumimoji="0" sz="1150" b="1" i="0" u="none" strike="noStrike" kern="1200" cap="none" spc="0" normalizeH="0" baseline="0" noProof="0">
                <a:ln>
                  <a:noFill/>
                </a:ln>
                <a:solidFill>
                  <a:srgbClr val="15296B"/>
                </a:solidFill>
                <a:effectLst/>
                <a:uLnTx/>
                <a:uFillTx/>
                <a:latin typeface="Yekan Bakh FaNum" pitchFamily="2" charset="-78"/>
                <a:ea typeface="+mn-ea"/>
                <a:cs typeface="Yekan Bakh FaNum" pitchFamily="2" charset="-78"/>
              </a:rPr>
              <a:t>عدم‌قطعیت</a:t>
            </a:r>
          </a:p>
        </p:txBody>
      </p:sp>
      <p:sp>
        <p:nvSpPr>
          <p:cNvPr id="44" name="TextBox 43"/>
          <p:cNvSpPr txBox="1"/>
          <p:nvPr/>
        </p:nvSpPr>
        <p:spPr>
          <a:xfrm>
            <a:off x="3263415" y="3814085"/>
            <a:ext cx="2351320" cy="201978"/>
          </a:xfrm>
          <a:prstGeom prst="rect">
            <a:avLst/>
          </a:prstGeom>
          <a:noFill/>
        </p:spPr>
        <p:txBody>
          <a:bodyPr wrap="square" lIns="0" tIns="0" rIns="0" bIns="0" anchor="t">
            <a:spAutoFit/>
          </a:bodyPr>
          <a:lstStyle/>
          <a:p>
            <a:pPr marL="0" marR="0" lvl="0" indent="0" algn="r" defTabSz="457200" rtl="1" eaLnBrk="1" fontAlgn="auto" latinLnBrk="0" hangingPunct="1">
              <a:lnSpc>
                <a:spcPct val="125000"/>
              </a:lnSpc>
              <a:spcBef>
                <a:spcPts val="0"/>
              </a:spcBef>
              <a:spcAft>
                <a:spcPts val="0"/>
              </a:spcAft>
              <a:buClrTx/>
              <a:buSzTx/>
              <a:buFontTx/>
              <a:buNone/>
              <a:tabLst/>
              <a:defRPr/>
            </a:pPr>
            <a:r>
              <a:rPr kumimoji="0" sz="1050" b="0" i="0" u="none" strike="noStrike" kern="1200" cap="none" spc="0" normalizeH="0" baseline="0" noProof="0">
                <a:ln>
                  <a:noFill/>
                </a:ln>
                <a:solidFill>
                  <a:srgbClr val="374151"/>
                </a:solidFill>
                <a:effectLst/>
                <a:uLnTx/>
                <a:uFillTx/>
                <a:latin typeface="Yekan Bakh FaNum" pitchFamily="2" charset="-78"/>
                <a:ea typeface="+mn-ea"/>
                <a:cs typeface="Yekan Bakh FaNum" pitchFamily="2" charset="-78"/>
              </a:rPr>
              <a:t>مسئله چقدر غیرقابل پیش‌بینی است؟</a:t>
            </a:r>
          </a:p>
        </p:txBody>
      </p:sp>
      <p:sp>
        <p:nvSpPr>
          <p:cNvPr id="45" name="Rectangle 44"/>
          <p:cNvSpPr/>
          <p:nvPr/>
        </p:nvSpPr>
        <p:spPr>
          <a:xfrm>
            <a:off x="555629" y="4152818"/>
            <a:ext cx="5147654" cy="36576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6" name="TextBox 45"/>
          <p:cNvSpPr txBox="1"/>
          <p:nvPr/>
        </p:nvSpPr>
        <p:spPr>
          <a:xfrm>
            <a:off x="617422" y="4225091"/>
            <a:ext cx="1496795" cy="221214"/>
          </a:xfrm>
          <a:prstGeom prst="rect">
            <a:avLst/>
          </a:prstGeom>
          <a:noFill/>
        </p:spPr>
        <p:txBody>
          <a:bodyPr wrap="square" lIns="0" tIns="0" rIns="0" bIns="0" anchor="t">
            <a:spAutoFit/>
          </a:bodyPr>
          <a:lstStyle/>
          <a:p>
            <a:pPr marL="0" marR="0" lvl="0" indent="0" algn="ctr" defTabSz="457200" rtl="1" eaLnBrk="1" fontAlgn="auto" latinLnBrk="0" hangingPunct="1">
              <a:lnSpc>
                <a:spcPct val="125000"/>
              </a:lnSpc>
              <a:spcBef>
                <a:spcPts val="0"/>
              </a:spcBef>
              <a:spcAft>
                <a:spcPts val="0"/>
              </a:spcAft>
              <a:buClrTx/>
              <a:buSzTx/>
              <a:buFontTx/>
              <a:buNone/>
              <a:tabLst/>
              <a:defRPr/>
            </a:pPr>
            <a:r>
              <a:rPr kumimoji="0" sz="1150" b="1" i="0" u="none" strike="noStrike" kern="1200" cap="none" spc="0" normalizeH="0" baseline="0" noProof="0">
                <a:ln>
                  <a:noFill/>
                </a:ln>
                <a:solidFill>
                  <a:srgbClr val="15296B"/>
                </a:solidFill>
                <a:effectLst/>
                <a:uLnTx/>
                <a:uFillTx/>
                <a:latin typeface="Yekan Bakh FaNum" pitchFamily="2" charset="-78"/>
                <a:ea typeface="+mn-ea"/>
                <a:cs typeface="Yekan Bakh FaNum" pitchFamily="2" charset="-78"/>
              </a:rPr>
              <a:t>هماهنگی</a:t>
            </a:r>
          </a:p>
        </p:txBody>
      </p:sp>
      <p:sp>
        <p:nvSpPr>
          <p:cNvPr id="47" name="TextBox 46"/>
          <p:cNvSpPr txBox="1"/>
          <p:nvPr/>
        </p:nvSpPr>
        <p:spPr>
          <a:xfrm>
            <a:off x="3263415" y="4234709"/>
            <a:ext cx="2351320" cy="201978"/>
          </a:xfrm>
          <a:prstGeom prst="rect">
            <a:avLst/>
          </a:prstGeom>
          <a:noFill/>
        </p:spPr>
        <p:txBody>
          <a:bodyPr wrap="square" lIns="0" tIns="0" rIns="0" bIns="0" anchor="t">
            <a:spAutoFit/>
          </a:bodyPr>
          <a:lstStyle/>
          <a:p>
            <a:pPr marL="0" marR="0" lvl="0" indent="0" algn="r" defTabSz="457200" rtl="1" eaLnBrk="1" fontAlgn="auto" latinLnBrk="0" hangingPunct="1">
              <a:lnSpc>
                <a:spcPct val="125000"/>
              </a:lnSpc>
              <a:spcBef>
                <a:spcPts val="0"/>
              </a:spcBef>
              <a:spcAft>
                <a:spcPts val="0"/>
              </a:spcAft>
              <a:buClrTx/>
              <a:buSzTx/>
              <a:buFontTx/>
              <a:buNone/>
              <a:tabLst/>
              <a:defRPr/>
            </a:pPr>
            <a:r>
              <a:rPr kumimoji="0" sz="1050" b="0" i="0" u="none" strike="noStrike" kern="1200" cap="none" spc="0" normalizeH="0" baseline="0" noProof="0" dirty="0" err="1">
                <a:ln>
                  <a:noFill/>
                </a:ln>
                <a:solidFill>
                  <a:srgbClr val="374151"/>
                </a:solidFill>
                <a:effectLst/>
                <a:uLnTx/>
                <a:uFillTx/>
                <a:latin typeface="Yekan Bakh FaNum" pitchFamily="2" charset="-78"/>
                <a:ea typeface="+mn-ea"/>
                <a:cs typeface="Yekan Bakh FaNum" pitchFamily="2" charset="-78"/>
              </a:rPr>
              <a:t>چند</a:t>
            </a:r>
            <a:r>
              <a:rPr kumimoji="0" sz="1050" b="0" i="0" u="none" strike="noStrike" kern="1200" cap="none" spc="0" normalizeH="0" baseline="0" noProof="0" dirty="0">
                <a:ln>
                  <a:noFill/>
                </a:ln>
                <a:solidFill>
                  <a:srgbClr val="374151"/>
                </a:solidFill>
                <a:effectLst/>
                <a:uLnTx/>
                <a:uFillTx/>
                <a:latin typeface="Yekan Bakh FaNum" pitchFamily="2" charset="-78"/>
                <a:ea typeface="+mn-ea"/>
                <a:cs typeface="Yekan Bakh FaNum" pitchFamily="2" charset="-78"/>
              </a:rPr>
              <a:t> </a:t>
            </a:r>
            <a:r>
              <a:rPr kumimoji="0" sz="1050" b="0" i="0" u="none" strike="noStrike" kern="1200" cap="none" spc="0" normalizeH="0" baseline="0" noProof="0" dirty="0" err="1">
                <a:ln>
                  <a:noFill/>
                </a:ln>
                <a:solidFill>
                  <a:srgbClr val="374151"/>
                </a:solidFill>
                <a:effectLst/>
                <a:uLnTx/>
                <a:uFillTx/>
                <a:latin typeface="Yekan Bakh FaNum" pitchFamily="2" charset="-78"/>
                <a:ea typeface="+mn-ea"/>
                <a:cs typeface="Yekan Bakh FaNum" pitchFamily="2" charset="-78"/>
              </a:rPr>
              <a:t>بازیگر</a:t>
            </a:r>
            <a:r>
              <a:rPr kumimoji="0" sz="1050" b="0" i="0" u="none" strike="noStrike" kern="1200" cap="none" spc="0" normalizeH="0" baseline="0" noProof="0" dirty="0">
                <a:ln>
                  <a:noFill/>
                </a:ln>
                <a:solidFill>
                  <a:srgbClr val="374151"/>
                </a:solidFill>
                <a:effectLst/>
                <a:uLnTx/>
                <a:uFillTx/>
                <a:latin typeface="Yekan Bakh FaNum" pitchFamily="2" charset="-78"/>
                <a:ea typeface="+mn-ea"/>
                <a:cs typeface="Yekan Bakh FaNum" pitchFamily="2" charset="-78"/>
              </a:rPr>
              <a:t> </a:t>
            </a:r>
            <a:r>
              <a:rPr kumimoji="0" sz="1050" b="0" i="0" u="none" strike="noStrike" kern="1200" cap="none" spc="0" normalizeH="0" baseline="0" noProof="0" dirty="0" err="1">
                <a:ln>
                  <a:noFill/>
                </a:ln>
                <a:solidFill>
                  <a:srgbClr val="374151"/>
                </a:solidFill>
                <a:effectLst/>
                <a:uLnTx/>
                <a:uFillTx/>
                <a:latin typeface="Yekan Bakh FaNum" pitchFamily="2" charset="-78"/>
                <a:ea typeface="+mn-ea"/>
                <a:cs typeface="Yekan Bakh FaNum" pitchFamily="2" charset="-78"/>
              </a:rPr>
              <a:t>باید</a:t>
            </a:r>
            <a:r>
              <a:rPr kumimoji="0" sz="1050" b="0" i="0" u="none" strike="noStrike" kern="1200" cap="none" spc="0" normalizeH="0" baseline="0" noProof="0" dirty="0">
                <a:ln>
                  <a:noFill/>
                </a:ln>
                <a:solidFill>
                  <a:srgbClr val="374151"/>
                </a:solidFill>
                <a:effectLst/>
                <a:uLnTx/>
                <a:uFillTx/>
                <a:latin typeface="Yekan Bakh FaNum" pitchFamily="2" charset="-78"/>
                <a:ea typeface="+mn-ea"/>
                <a:cs typeface="Yekan Bakh FaNum" pitchFamily="2" charset="-78"/>
              </a:rPr>
              <a:t> </a:t>
            </a:r>
            <a:r>
              <a:rPr kumimoji="0" sz="1050" b="0" i="0" u="none" strike="noStrike" kern="1200" cap="none" spc="0" normalizeH="0" baseline="0" noProof="0" dirty="0" err="1">
                <a:ln>
                  <a:noFill/>
                </a:ln>
                <a:solidFill>
                  <a:srgbClr val="374151"/>
                </a:solidFill>
                <a:effectLst/>
                <a:uLnTx/>
                <a:uFillTx/>
                <a:latin typeface="Yekan Bakh FaNum" pitchFamily="2" charset="-78"/>
                <a:ea typeface="+mn-ea"/>
                <a:cs typeface="Yekan Bakh FaNum" pitchFamily="2" charset="-78"/>
              </a:rPr>
              <a:t>هماهنگ</a:t>
            </a:r>
            <a:r>
              <a:rPr kumimoji="0" sz="1050" b="0" i="0" u="none" strike="noStrike" kern="1200" cap="none" spc="0" normalizeH="0" baseline="0" noProof="0" dirty="0">
                <a:ln>
                  <a:noFill/>
                </a:ln>
                <a:solidFill>
                  <a:srgbClr val="374151"/>
                </a:solidFill>
                <a:effectLst/>
                <a:uLnTx/>
                <a:uFillTx/>
                <a:latin typeface="Yekan Bakh FaNum" pitchFamily="2" charset="-78"/>
                <a:ea typeface="+mn-ea"/>
                <a:cs typeface="Yekan Bakh FaNum" pitchFamily="2" charset="-78"/>
              </a:rPr>
              <a:t> </a:t>
            </a:r>
            <a:r>
              <a:rPr kumimoji="0" sz="1050" b="0" i="0" u="none" strike="noStrike" kern="1200" cap="none" spc="0" normalizeH="0" baseline="0" noProof="0" dirty="0" err="1">
                <a:ln>
                  <a:noFill/>
                </a:ln>
                <a:solidFill>
                  <a:srgbClr val="374151"/>
                </a:solidFill>
                <a:effectLst/>
                <a:uLnTx/>
                <a:uFillTx/>
                <a:latin typeface="Yekan Bakh FaNum" pitchFamily="2" charset="-78"/>
                <a:ea typeface="+mn-ea"/>
                <a:cs typeface="Yekan Bakh FaNum" pitchFamily="2" charset="-78"/>
              </a:rPr>
              <a:t>شوند</a:t>
            </a:r>
            <a:r>
              <a:rPr kumimoji="0" sz="1050" b="0" i="0" u="none" strike="noStrike" kern="1200" cap="none" spc="0" normalizeH="0" baseline="0" noProof="0" dirty="0">
                <a:ln>
                  <a:noFill/>
                </a:ln>
                <a:solidFill>
                  <a:srgbClr val="374151"/>
                </a:solidFill>
                <a:effectLst/>
                <a:uLnTx/>
                <a:uFillTx/>
                <a:latin typeface="Yekan Bakh FaNum" pitchFamily="2" charset="-78"/>
                <a:ea typeface="+mn-ea"/>
                <a:cs typeface="Yekan Bakh FaNum" pitchFamily="2" charset="-78"/>
              </a:rPr>
              <a:t>؟</a:t>
            </a:r>
          </a:p>
        </p:txBody>
      </p:sp>
      <p:sp>
        <p:nvSpPr>
          <p:cNvPr id="48" name="Rectangle 47"/>
          <p:cNvSpPr/>
          <p:nvPr/>
        </p:nvSpPr>
        <p:spPr>
          <a:xfrm>
            <a:off x="555629" y="4573442"/>
            <a:ext cx="5147654" cy="36576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9" name="TextBox 48"/>
          <p:cNvSpPr txBox="1"/>
          <p:nvPr/>
        </p:nvSpPr>
        <p:spPr>
          <a:xfrm>
            <a:off x="617422" y="4645715"/>
            <a:ext cx="1496795" cy="221214"/>
          </a:xfrm>
          <a:prstGeom prst="rect">
            <a:avLst/>
          </a:prstGeom>
          <a:noFill/>
        </p:spPr>
        <p:txBody>
          <a:bodyPr wrap="square" lIns="0" tIns="0" rIns="0" bIns="0" anchor="t">
            <a:spAutoFit/>
          </a:bodyPr>
          <a:lstStyle/>
          <a:p>
            <a:pPr marL="0" marR="0" lvl="0" indent="0" algn="ctr" defTabSz="457200" rtl="1" eaLnBrk="1" fontAlgn="auto" latinLnBrk="0" hangingPunct="1">
              <a:lnSpc>
                <a:spcPct val="125000"/>
              </a:lnSpc>
              <a:spcBef>
                <a:spcPts val="0"/>
              </a:spcBef>
              <a:spcAft>
                <a:spcPts val="0"/>
              </a:spcAft>
              <a:buClrTx/>
              <a:buSzTx/>
              <a:buFontTx/>
              <a:buNone/>
              <a:tabLst/>
              <a:defRPr/>
            </a:pPr>
            <a:r>
              <a:rPr kumimoji="0" sz="1150" b="1" i="0" u="none" strike="noStrike" kern="1200" cap="none" spc="0" normalizeH="0" baseline="0" noProof="0">
                <a:ln>
                  <a:noFill/>
                </a:ln>
                <a:solidFill>
                  <a:srgbClr val="15296B"/>
                </a:solidFill>
                <a:effectLst/>
                <a:uLnTx/>
                <a:uFillTx/>
                <a:latin typeface="Yekan Bakh FaNum" pitchFamily="2" charset="-78"/>
                <a:ea typeface="+mn-ea"/>
                <a:cs typeface="Yekan Bakh FaNum" pitchFamily="2" charset="-78"/>
              </a:rPr>
              <a:t>حساسیت نتیجه</a:t>
            </a:r>
          </a:p>
        </p:txBody>
      </p:sp>
      <p:sp>
        <p:nvSpPr>
          <p:cNvPr id="50" name="TextBox 49"/>
          <p:cNvSpPr txBox="1"/>
          <p:nvPr/>
        </p:nvSpPr>
        <p:spPr>
          <a:xfrm>
            <a:off x="3263415" y="4655333"/>
            <a:ext cx="2351320" cy="201978"/>
          </a:xfrm>
          <a:prstGeom prst="rect">
            <a:avLst/>
          </a:prstGeom>
          <a:noFill/>
        </p:spPr>
        <p:txBody>
          <a:bodyPr wrap="square" lIns="0" tIns="0" rIns="0" bIns="0" anchor="t">
            <a:spAutoFit/>
          </a:bodyPr>
          <a:lstStyle/>
          <a:p>
            <a:pPr marL="0" marR="0" lvl="0" indent="0" algn="r" defTabSz="457200" rtl="1" eaLnBrk="1" fontAlgn="auto" latinLnBrk="0" hangingPunct="1">
              <a:lnSpc>
                <a:spcPct val="125000"/>
              </a:lnSpc>
              <a:spcBef>
                <a:spcPts val="0"/>
              </a:spcBef>
              <a:spcAft>
                <a:spcPts val="0"/>
              </a:spcAft>
              <a:buClrTx/>
              <a:buSzTx/>
              <a:buFontTx/>
              <a:buNone/>
              <a:tabLst/>
              <a:defRPr/>
            </a:pPr>
            <a:r>
              <a:rPr kumimoji="0" sz="1050" b="0" i="0" u="none" strike="noStrike" kern="1200" cap="none" spc="0" normalizeH="0" baseline="0" noProof="0">
                <a:ln>
                  <a:noFill/>
                </a:ln>
                <a:solidFill>
                  <a:srgbClr val="374151"/>
                </a:solidFill>
                <a:effectLst/>
                <a:uLnTx/>
                <a:uFillTx/>
                <a:latin typeface="Yekan Bakh FaNum" pitchFamily="2" charset="-78"/>
                <a:ea typeface="+mn-ea"/>
                <a:cs typeface="Yekan Bakh FaNum" pitchFamily="2" charset="-78"/>
              </a:rPr>
              <a:t>شکست راه‌حل چقدر هزینه دارد؟</a:t>
            </a:r>
          </a:p>
        </p:txBody>
      </p:sp>
      <p:sp>
        <p:nvSpPr>
          <p:cNvPr id="51" name="TextBox 50"/>
          <p:cNvSpPr txBox="1"/>
          <p:nvPr/>
        </p:nvSpPr>
        <p:spPr>
          <a:xfrm>
            <a:off x="555629" y="5167017"/>
            <a:ext cx="5147654" cy="581698"/>
          </a:xfrm>
          <a:prstGeom prst="rect">
            <a:avLst/>
          </a:prstGeom>
          <a:noFill/>
        </p:spPr>
        <p:txBody>
          <a:bodyPr wrap="square" lIns="0" tIns="0" rIns="0" bIns="0" anchor="t">
            <a:spAutoFit/>
          </a:bodyPr>
          <a:lstStyle/>
          <a:p>
            <a:pPr marL="0" marR="0" lvl="0" indent="0" algn="justLow" defTabSz="457200" rtl="1" eaLnBrk="1" fontAlgn="auto" latinLnBrk="0" hangingPunct="1">
              <a:lnSpc>
                <a:spcPct val="120000"/>
              </a:lnSpc>
              <a:spcBef>
                <a:spcPts val="0"/>
              </a:spcBef>
              <a:spcAft>
                <a:spcPts val="0"/>
              </a:spcAft>
              <a:buClrTx/>
              <a:buSzTx/>
              <a:buFontTx/>
              <a:buNone/>
              <a:tabLst/>
              <a:defRPr/>
            </a:pPr>
            <a:r>
              <a:rPr kumimoji="0" sz="1050" b="1" i="0" u="none" strike="noStrike" kern="1200" cap="none" spc="0" normalizeH="0" baseline="0" noProof="0" dirty="0" err="1">
                <a:ln>
                  <a:noFill/>
                </a:ln>
                <a:solidFill>
                  <a:srgbClr val="F0BE0F"/>
                </a:solidFill>
                <a:effectLst/>
                <a:uLnTx/>
                <a:uFillTx/>
                <a:latin typeface="Yekan Bakh FaNum" pitchFamily="2" charset="-78"/>
                <a:ea typeface="+mn-ea"/>
                <a:cs typeface="Yekan Bakh FaNum" pitchFamily="2" charset="-78"/>
              </a:rPr>
              <a:t>نتیجه</a:t>
            </a:r>
            <a:r>
              <a:rPr kumimoji="0" lang="fa-IR" sz="1050" b="1" i="0" u="none" strike="noStrike" kern="1200" cap="none" spc="0" normalizeH="0" baseline="0" noProof="0" dirty="0">
                <a:ln>
                  <a:noFill/>
                </a:ln>
                <a:solidFill>
                  <a:srgbClr val="F0BE0F"/>
                </a:solidFill>
                <a:effectLst/>
                <a:uLnTx/>
                <a:uFillTx/>
                <a:latin typeface="Yekan Bakh FaNum" pitchFamily="2" charset="-78"/>
                <a:ea typeface="+mn-ea"/>
                <a:cs typeface="Yekan Bakh FaNum" pitchFamily="2" charset="-78"/>
              </a:rPr>
              <a:t>:</a:t>
            </a:r>
          </a:p>
          <a:p>
            <a:pPr marL="0" marR="0" lvl="0" indent="0" algn="justLow" defTabSz="457200" rtl="1" eaLnBrk="1" fontAlgn="auto" latinLnBrk="0" hangingPunct="1">
              <a:lnSpc>
                <a:spcPct val="120000"/>
              </a:lnSpc>
              <a:spcBef>
                <a:spcPts val="0"/>
              </a:spcBef>
              <a:spcAft>
                <a:spcPts val="0"/>
              </a:spcAft>
              <a:buClrTx/>
              <a:buSzTx/>
              <a:buFontTx/>
              <a:buNone/>
              <a:tabLst/>
              <a:defRPr/>
            </a:pPr>
            <a:r>
              <a:rPr kumimoji="0" sz="1050" b="1" i="0" u="none" strike="noStrike" kern="1200" cap="none" spc="0" normalizeH="0" baseline="0" noProof="0" dirty="0" err="1">
                <a:ln>
                  <a:noFill/>
                </a:ln>
                <a:solidFill>
                  <a:prstClr val="black">
                    <a:lumMod val="50000"/>
                    <a:lumOff val="50000"/>
                  </a:prstClr>
                </a:solidFill>
                <a:effectLst/>
                <a:uLnTx/>
                <a:uFillTx/>
                <a:latin typeface="Yekan Bakh FaNum" pitchFamily="2" charset="-78"/>
                <a:ea typeface="+mn-ea"/>
                <a:cs typeface="Yekan Bakh FaNum" pitchFamily="2" charset="-78"/>
              </a:rPr>
              <a:t>پیچیدگی</a:t>
            </a:r>
            <a:r>
              <a:rPr kumimoji="0" sz="1050" b="1" i="0" u="none" strike="noStrike" kern="1200" cap="none" spc="0" normalizeH="0" baseline="0" noProof="0" dirty="0">
                <a:ln>
                  <a:noFill/>
                </a:ln>
                <a:solidFill>
                  <a:prstClr val="black">
                    <a:lumMod val="50000"/>
                    <a:lumOff val="50000"/>
                  </a:prstClr>
                </a:solidFill>
                <a:effectLst/>
                <a:uLnTx/>
                <a:uFillTx/>
                <a:latin typeface="Yekan Bakh FaNum" pitchFamily="2" charset="-78"/>
                <a:ea typeface="+mn-ea"/>
                <a:cs typeface="Yekan Bakh FaNum" pitchFamily="2" charset="-78"/>
              </a:rPr>
              <a:t> </a:t>
            </a:r>
            <a:r>
              <a:rPr kumimoji="0" sz="1050" b="1" i="0" u="none" strike="noStrike" kern="1200" cap="none" spc="0" normalizeH="0" baseline="0" noProof="0" dirty="0" err="1">
                <a:ln>
                  <a:noFill/>
                </a:ln>
                <a:solidFill>
                  <a:prstClr val="black">
                    <a:lumMod val="50000"/>
                    <a:lumOff val="50000"/>
                  </a:prstClr>
                </a:solidFill>
                <a:effectLst/>
                <a:uLnTx/>
                <a:uFillTx/>
                <a:latin typeface="Yekan Bakh FaNum" pitchFamily="2" charset="-78"/>
                <a:ea typeface="+mn-ea"/>
                <a:cs typeface="Yekan Bakh FaNum" pitchFamily="2" charset="-78"/>
              </a:rPr>
              <a:t>نیاز≠پیچیدگی</a:t>
            </a:r>
            <a:r>
              <a:rPr kumimoji="0" sz="1050" b="1" i="0" u="none" strike="noStrike" kern="1200" cap="none" spc="0" normalizeH="0" baseline="0" noProof="0" dirty="0">
                <a:ln>
                  <a:noFill/>
                </a:ln>
                <a:solidFill>
                  <a:prstClr val="black">
                    <a:lumMod val="50000"/>
                    <a:lumOff val="50000"/>
                  </a:prstClr>
                </a:solidFill>
                <a:effectLst/>
                <a:uLnTx/>
                <a:uFillTx/>
                <a:latin typeface="Yekan Bakh FaNum" pitchFamily="2" charset="-78"/>
                <a:ea typeface="+mn-ea"/>
                <a:cs typeface="Yekan Bakh FaNum" pitchFamily="2" charset="-78"/>
              </a:rPr>
              <a:t> </a:t>
            </a:r>
            <a:r>
              <a:rPr kumimoji="0" sz="1050" b="1" i="0" u="none" strike="noStrike" kern="1200" cap="none" spc="0" normalizeH="0" baseline="0" noProof="0" dirty="0" err="1">
                <a:ln>
                  <a:noFill/>
                </a:ln>
                <a:solidFill>
                  <a:prstClr val="black">
                    <a:lumMod val="50000"/>
                    <a:lumOff val="50000"/>
                  </a:prstClr>
                </a:solidFill>
                <a:effectLst/>
                <a:uLnTx/>
                <a:uFillTx/>
                <a:latin typeface="Yekan Bakh FaNum" pitchFamily="2" charset="-78"/>
                <a:ea typeface="+mn-ea"/>
                <a:cs typeface="Yekan Bakh FaNum" pitchFamily="2" charset="-78"/>
              </a:rPr>
              <a:t>خود</a:t>
            </a:r>
            <a:r>
              <a:rPr kumimoji="0" sz="1050" b="1" i="0" u="none" strike="noStrike" kern="1200" cap="none" spc="0" normalizeH="0" baseline="0" noProof="0" dirty="0">
                <a:ln>
                  <a:noFill/>
                </a:ln>
                <a:solidFill>
                  <a:prstClr val="black">
                    <a:lumMod val="50000"/>
                    <a:lumOff val="50000"/>
                  </a:prstClr>
                </a:solidFill>
                <a:effectLst/>
                <a:uLnTx/>
                <a:uFillTx/>
                <a:latin typeface="Yekan Bakh FaNum" pitchFamily="2" charset="-78"/>
                <a:ea typeface="+mn-ea"/>
                <a:cs typeface="Yekan Bakh FaNum" pitchFamily="2" charset="-78"/>
              </a:rPr>
              <a:t> </a:t>
            </a:r>
            <a:r>
              <a:rPr kumimoji="0" sz="1050" b="1" i="0" u="none" strike="noStrike" kern="1200" cap="none" spc="0" normalizeH="0" baseline="0" noProof="0" dirty="0" err="1">
                <a:ln>
                  <a:noFill/>
                </a:ln>
                <a:solidFill>
                  <a:prstClr val="black">
                    <a:lumMod val="50000"/>
                    <a:lumOff val="50000"/>
                  </a:prstClr>
                </a:solidFill>
                <a:effectLst/>
                <a:uLnTx/>
                <a:uFillTx/>
                <a:latin typeface="Yekan Bakh FaNum" pitchFamily="2" charset="-78"/>
                <a:ea typeface="+mn-ea"/>
                <a:cs typeface="Yekan Bakh FaNum" pitchFamily="2" charset="-78"/>
              </a:rPr>
              <a:t>مشتری</a:t>
            </a:r>
            <a:r>
              <a:rPr kumimoji="0" sz="1050" b="1" i="0" u="none" strike="noStrike" kern="1200" cap="none" spc="0" normalizeH="0" baseline="0" noProof="0" dirty="0">
                <a:ln>
                  <a:noFill/>
                </a:ln>
                <a:solidFill>
                  <a:prstClr val="black">
                    <a:lumMod val="50000"/>
                    <a:lumOff val="50000"/>
                  </a:prstClr>
                </a:solidFill>
                <a:effectLst/>
                <a:uLnTx/>
                <a:uFillTx/>
                <a:latin typeface="Yekan Bakh FaNum" pitchFamily="2" charset="-78"/>
                <a:ea typeface="+mn-ea"/>
                <a:cs typeface="Yekan Bakh FaNum" pitchFamily="2" charset="-78"/>
              </a:rPr>
              <a:t>. </a:t>
            </a:r>
            <a:r>
              <a:rPr kumimoji="0" sz="1050" b="1" i="0" u="none" strike="noStrike" kern="1200" cap="none" spc="0" normalizeH="0" baseline="0" noProof="0" dirty="0" err="1">
                <a:ln>
                  <a:noFill/>
                </a:ln>
                <a:solidFill>
                  <a:prstClr val="black">
                    <a:lumMod val="50000"/>
                    <a:lumOff val="50000"/>
                  </a:prstClr>
                </a:solidFill>
                <a:effectLst/>
                <a:uLnTx/>
                <a:uFillTx/>
                <a:latin typeface="Yekan Bakh FaNum" pitchFamily="2" charset="-78"/>
                <a:ea typeface="+mn-ea"/>
                <a:cs typeface="Yekan Bakh FaNum" pitchFamily="2" charset="-78"/>
              </a:rPr>
              <a:t>یک</a:t>
            </a:r>
            <a:r>
              <a:rPr kumimoji="0" sz="1050" b="1" i="0" u="none" strike="noStrike" kern="1200" cap="none" spc="0" normalizeH="0" baseline="0" noProof="0" dirty="0">
                <a:ln>
                  <a:noFill/>
                </a:ln>
                <a:solidFill>
                  <a:prstClr val="black">
                    <a:lumMod val="50000"/>
                    <a:lumOff val="50000"/>
                  </a:prstClr>
                </a:solidFill>
                <a:effectLst/>
                <a:uLnTx/>
                <a:uFillTx/>
                <a:latin typeface="Yekan Bakh FaNum" pitchFamily="2" charset="-78"/>
                <a:ea typeface="+mn-ea"/>
                <a:cs typeface="Yekan Bakh FaNum" pitchFamily="2" charset="-78"/>
              </a:rPr>
              <a:t> </a:t>
            </a:r>
            <a:r>
              <a:rPr kumimoji="0" sz="1050" b="1" i="0" u="none" strike="noStrike" kern="1200" cap="none" spc="0" normalizeH="0" baseline="0" noProof="0" dirty="0" err="1">
                <a:ln>
                  <a:noFill/>
                </a:ln>
                <a:solidFill>
                  <a:prstClr val="black">
                    <a:lumMod val="50000"/>
                    <a:lumOff val="50000"/>
                  </a:prstClr>
                </a:solidFill>
                <a:effectLst/>
                <a:uLnTx/>
                <a:uFillTx/>
                <a:latin typeface="Yekan Bakh FaNum" pitchFamily="2" charset="-78"/>
                <a:ea typeface="+mn-ea"/>
                <a:cs typeface="Yekan Bakh FaNum" pitchFamily="2" charset="-78"/>
              </a:rPr>
              <a:t>شرکت</a:t>
            </a:r>
            <a:r>
              <a:rPr kumimoji="0" sz="1050" b="1" i="0" u="none" strike="noStrike" kern="1200" cap="none" spc="0" normalizeH="0" baseline="0" noProof="0" dirty="0">
                <a:ln>
                  <a:noFill/>
                </a:ln>
                <a:solidFill>
                  <a:prstClr val="black">
                    <a:lumMod val="50000"/>
                    <a:lumOff val="50000"/>
                  </a:prstClr>
                </a:solidFill>
                <a:effectLst/>
                <a:uLnTx/>
                <a:uFillTx/>
                <a:latin typeface="Yekan Bakh FaNum" pitchFamily="2" charset="-78"/>
                <a:ea typeface="+mn-ea"/>
                <a:cs typeface="Yekan Bakh FaNum" pitchFamily="2" charset="-78"/>
              </a:rPr>
              <a:t> </a:t>
            </a:r>
            <a:r>
              <a:rPr kumimoji="0" sz="1050" b="1" i="0" u="none" strike="noStrike" kern="1200" cap="none" spc="0" normalizeH="0" baseline="0" noProof="0" dirty="0" err="1">
                <a:ln>
                  <a:noFill/>
                </a:ln>
                <a:solidFill>
                  <a:prstClr val="black">
                    <a:lumMod val="50000"/>
                    <a:lumOff val="50000"/>
                  </a:prstClr>
                </a:solidFill>
                <a:effectLst/>
                <a:uLnTx/>
                <a:uFillTx/>
                <a:latin typeface="Yekan Bakh FaNum" pitchFamily="2" charset="-78"/>
                <a:ea typeface="+mn-ea"/>
                <a:cs typeface="Yekan Bakh FaNum" pitchFamily="2" charset="-78"/>
              </a:rPr>
              <a:t>کوچک</a:t>
            </a:r>
            <a:r>
              <a:rPr kumimoji="0" sz="1050" b="1" i="0" u="none" strike="noStrike" kern="1200" cap="none" spc="0" normalizeH="0" baseline="0" noProof="0" dirty="0">
                <a:ln>
                  <a:noFill/>
                </a:ln>
                <a:solidFill>
                  <a:prstClr val="black">
                    <a:lumMod val="50000"/>
                    <a:lumOff val="50000"/>
                  </a:prstClr>
                </a:solidFill>
                <a:effectLst/>
                <a:uLnTx/>
                <a:uFillTx/>
                <a:latin typeface="Yekan Bakh FaNum" pitchFamily="2" charset="-78"/>
                <a:ea typeface="+mn-ea"/>
                <a:cs typeface="Yekan Bakh FaNum" pitchFamily="2" charset="-78"/>
              </a:rPr>
              <a:t> و </a:t>
            </a:r>
            <a:r>
              <a:rPr kumimoji="0" sz="1050" b="1" i="0" u="none" strike="noStrike" kern="1200" cap="none" spc="0" normalizeH="0" baseline="0" noProof="0" dirty="0" err="1">
                <a:ln>
                  <a:noFill/>
                </a:ln>
                <a:solidFill>
                  <a:prstClr val="black">
                    <a:lumMod val="50000"/>
                    <a:lumOff val="50000"/>
                  </a:prstClr>
                </a:solidFill>
                <a:effectLst/>
                <a:uLnTx/>
                <a:uFillTx/>
                <a:latin typeface="Yekan Bakh FaNum" pitchFamily="2" charset="-78"/>
                <a:ea typeface="+mn-ea"/>
                <a:cs typeface="Yekan Bakh FaNum" pitchFamily="2" charset="-78"/>
              </a:rPr>
              <a:t>ساده</a:t>
            </a:r>
            <a:r>
              <a:rPr kumimoji="0" sz="1050" b="1" i="0" u="none" strike="noStrike" kern="1200" cap="none" spc="0" normalizeH="0" baseline="0" noProof="0" dirty="0">
                <a:ln>
                  <a:noFill/>
                </a:ln>
                <a:solidFill>
                  <a:prstClr val="black">
                    <a:lumMod val="50000"/>
                    <a:lumOff val="50000"/>
                  </a:prstClr>
                </a:solidFill>
                <a:effectLst/>
                <a:uLnTx/>
                <a:uFillTx/>
                <a:latin typeface="Yekan Bakh FaNum" pitchFamily="2" charset="-78"/>
                <a:ea typeface="+mn-ea"/>
                <a:cs typeface="Yekan Bakh FaNum" pitchFamily="2" charset="-78"/>
              </a:rPr>
              <a:t> </a:t>
            </a:r>
            <a:r>
              <a:rPr kumimoji="0" sz="1050" b="1" i="0" u="none" strike="noStrike" kern="1200" cap="none" spc="0" normalizeH="0" baseline="0" noProof="0" dirty="0" err="1">
                <a:ln>
                  <a:noFill/>
                </a:ln>
                <a:solidFill>
                  <a:prstClr val="black">
                    <a:lumMod val="50000"/>
                    <a:lumOff val="50000"/>
                  </a:prstClr>
                </a:solidFill>
                <a:effectLst/>
                <a:uLnTx/>
                <a:uFillTx/>
                <a:latin typeface="Yekan Bakh FaNum" pitchFamily="2" charset="-78"/>
                <a:ea typeface="+mn-ea"/>
                <a:cs typeface="Yekan Bakh FaNum" pitchFamily="2" charset="-78"/>
              </a:rPr>
              <a:t>هم</a:t>
            </a:r>
            <a:r>
              <a:rPr kumimoji="0" sz="1050" b="1" i="0" u="none" strike="noStrike" kern="1200" cap="none" spc="0" normalizeH="0" baseline="0" noProof="0" dirty="0">
                <a:ln>
                  <a:noFill/>
                </a:ln>
                <a:solidFill>
                  <a:prstClr val="black">
                    <a:lumMod val="50000"/>
                    <a:lumOff val="50000"/>
                  </a:prstClr>
                </a:solidFill>
                <a:effectLst/>
                <a:uLnTx/>
                <a:uFillTx/>
                <a:latin typeface="Yekan Bakh FaNum" pitchFamily="2" charset="-78"/>
                <a:ea typeface="+mn-ea"/>
                <a:cs typeface="Yekan Bakh FaNum" pitchFamily="2" charset="-78"/>
              </a:rPr>
              <a:t> </a:t>
            </a:r>
            <a:r>
              <a:rPr kumimoji="0" sz="1050" b="1" i="0" u="none" strike="noStrike" kern="1200" cap="none" spc="0" normalizeH="0" baseline="0" noProof="0" dirty="0" err="1">
                <a:ln>
                  <a:noFill/>
                </a:ln>
                <a:solidFill>
                  <a:prstClr val="black">
                    <a:lumMod val="50000"/>
                    <a:lumOff val="50000"/>
                  </a:prstClr>
                </a:solidFill>
                <a:effectLst/>
                <a:uLnTx/>
                <a:uFillTx/>
                <a:latin typeface="Yekan Bakh FaNum" pitchFamily="2" charset="-78"/>
                <a:ea typeface="+mn-ea"/>
                <a:cs typeface="Yekan Bakh FaNum" pitchFamily="2" charset="-78"/>
              </a:rPr>
              <a:t>می‌تواند</a:t>
            </a:r>
            <a:r>
              <a:rPr kumimoji="0" sz="1050" b="1" i="0" u="none" strike="noStrike" kern="1200" cap="none" spc="0" normalizeH="0" baseline="0" noProof="0" dirty="0">
                <a:ln>
                  <a:noFill/>
                </a:ln>
                <a:solidFill>
                  <a:prstClr val="black">
                    <a:lumMod val="50000"/>
                    <a:lumOff val="50000"/>
                  </a:prstClr>
                </a:solidFill>
                <a:effectLst/>
                <a:uLnTx/>
                <a:uFillTx/>
                <a:latin typeface="Yekan Bakh FaNum" pitchFamily="2" charset="-78"/>
                <a:ea typeface="+mn-ea"/>
                <a:cs typeface="Yekan Bakh FaNum" pitchFamily="2" charset="-78"/>
              </a:rPr>
              <a:t> </a:t>
            </a:r>
            <a:r>
              <a:rPr kumimoji="0" sz="1050" b="1" i="0" u="none" strike="noStrike" kern="1200" cap="none" spc="0" normalizeH="0" baseline="0" noProof="0" dirty="0" err="1">
                <a:ln>
                  <a:noFill/>
                </a:ln>
                <a:solidFill>
                  <a:prstClr val="black">
                    <a:lumMod val="50000"/>
                    <a:lumOff val="50000"/>
                  </a:prstClr>
                </a:solidFill>
                <a:effectLst/>
                <a:uLnTx/>
                <a:uFillTx/>
                <a:latin typeface="Yekan Bakh FaNum" pitchFamily="2" charset="-78"/>
                <a:ea typeface="+mn-ea"/>
                <a:cs typeface="Yekan Bakh FaNum" pitchFamily="2" charset="-78"/>
              </a:rPr>
              <a:t>مسئله</a:t>
            </a:r>
            <a:r>
              <a:rPr kumimoji="0" sz="1050" b="1" i="0" u="none" strike="noStrike" kern="1200" cap="none" spc="0" normalizeH="0" baseline="0" noProof="0" dirty="0">
                <a:ln>
                  <a:noFill/>
                </a:ln>
                <a:solidFill>
                  <a:prstClr val="black">
                    <a:lumMod val="50000"/>
                    <a:lumOff val="50000"/>
                  </a:prstClr>
                </a:solidFill>
                <a:effectLst/>
                <a:uLnTx/>
                <a:uFillTx/>
                <a:latin typeface="Yekan Bakh FaNum" pitchFamily="2" charset="-78"/>
                <a:ea typeface="+mn-ea"/>
                <a:cs typeface="Yekan Bakh FaNum" pitchFamily="2" charset="-78"/>
              </a:rPr>
              <a:t> </a:t>
            </a:r>
            <a:r>
              <a:rPr kumimoji="0" sz="1050" b="1" i="0" u="none" strike="noStrike" kern="1200" cap="none" spc="0" normalizeH="0" baseline="0" noProof="0" dirty="0" err="1">
                <a:ln>
                  <a:noFill/>
                </a:ln>
                <a:solidFill>
                  <a:prstClr val="black">
                    <a:lumMod val="50000"/>
                    <a:lumOff val="50000"/>
                  </a:prstClr>
                </a:solidFill>
                <a:effectLst/>
                <a:uLnTx/>
                <a:uFillTx/>
                <a:latin typeface="Yekan Bakh FaNum" pitchFamily="2" charset="-78"/>
                <a:ea typeface="+mn-ea"/>
                <a:cs typeface="Yekan Bakh FaNum" pitchFamily="2" charset="-78"/>
              </a:rPr>
              <a:t>بسیار</a:t>
            </a:r>
            <a:r>
              <a:rPr kumimoji="0" sz="1050" b="1" i="0" u="none" strike="noStrike" kern="1200" cap="none" spc="0" normalizeH="0" baseline="0" noProof="0" dirty="0">
                <a:ln>
                  <a:noFill/>
                </a:ln>
                <a:solidFill>
                  <a:prstClr val="black">
                    <a:lumMod val="50000"/>
                    <a:lumOff val="50000"/>
                  </a:prstClr>
                </a:solidFill>
                <a:effectLst/>
                <a:uLnTx/>
                <a:uFillTx/>
                <a:latin typeface="Yekan Bakh FaNum" pitchFamily="2" charset="-78"/>
                <a:ea typeface="+mn-ea"/>
                <a:cs typeface="Yekan Bakh FaNum" pitchFamily="2" charset="-78"/>
              </a:rPr>
              <a:t> </a:t>
            </a:r>
            <a:r>
              <a:rPr kumimoji="0" sz="1050" b="1" i="0" u="none" strike="noStrike" kern="1200" cap="none" spc="0" normalizeH="0" baseline="0" noProof="0" dirty="0" err="1">
                <a:ln>
                  <a:noFill/>
                </a:ln>
                <a:solidFill>
                  <a:prstClr val="black">
                    <a:lumMod val="50000"/>
                    <a:lumOff val="50000"/>
                  </a:prstClr>
                </a:solidFill>
                <a:effectLst/>
                <a:uLnTx/>
                <a:uFillTx/>
                <a:latin typeface="Yekan Bakh FaNum" pitchFamily="2" charset="-78"/>
                <a:ea typeface="+mn-ea"/>
                <a:cs typeface="Yekan Bakh FaNum" pitchFamily="2" charset="-78"/>
              </a:rPr>
              <a:t>پیچیده‌ای</a:t>
            </a:r>
            <a:r>
              <a:rPr kumimoji="0" sz="1050" b="1" i="0" u="none" strike="noStrike" kern="1200" cap="none" spc="0" normalizeH="0" baseline="0" noProof="0" dirty="0">
                <a:ln>
                  <a:noFill/>
                </a:ln>
                <a:solidFill>
                  <a:prstClr val="black">
                    <a:lumMod val="50000"/>
                    <a:lumOff val="50000"/>
                  </a:prstClr>
                </a:solidFill>
                <a:effectLst/>
                <a:uLnTx/>
                <a:uFillTx/>
                <a:latin typeface="Yekan Bakh FaNum" pitchFamily="2" charset="-78"/>
                <a:ea typeface="+mn-ea"/>
                <a:cs typeface="Yekan Bakh FaNum" pitchFamily="2" charset="-78"/>
              </a:rPr>
              <a:t> </a:t>
            </a:r>
            <a:r>
              <a:rPr kumimoji="0" sz="1050" b="1" i="0" u="none" strike="noStrike" kern="1200" cap="none" spc="0" normalizeH="0" baseline="0" noProof="0" dirty="0" err="1">
                <a:ln>
                  <a:noFill/>
                </a:ln>
                <a:solidFill>
                  <a:prstClr val="black">
                    <a:lumMod val="50000"/>
                    <a:lumOff val="50000"/>
                  </a:prstClr>
                </a:solidFill>
                <a:effectLst/>
                <a:uLnTx/>
                <a:uFillTx/>
                <a:latin typeface="Yekan Bakh FaNum" pitchFamily="2" charset="-78"/>
                <a:ea typeface="+mn-ea"/>
                <a:cs typeface="Yekan Bakh FaNum" pitchFamily="2" charset="-78"/>
              </a:rPr>
              <a:t>داشته</a:t>
            </a:r>
            <a:r>
              <a:rPr kumimoji="0" sz="1050" b="1" i="0" u="none" strike="noStrike" kern="1200" cap="none" spc="0" normalizeH="0" baseline="0" noProof="0" dirty="0">
                <a:ln>
                  <a:noFill/>
                </a:ln>
                <a:solidFill>
                  <a:prstClr val="black">
                    <a:lumMod val="50000"/>
                    <a:lumOff val="50000"/>
                  </a:prstClr>
                </a:solidFill>
                <a:effectLst/>
                <a:uLnTx/>
                <a:uFillTx/>
                <a:latin typeface="Yekan Bakh FaNum" pitchFamily="2" charset="-78"/>
                <a:ea typeface="+mn-ea"/>
                <a:cs typeface="Yekan Bakh FaNum" pitchFamily="2" charset="-78"/>
              </a:rPr>
              <a:t> </a:t>
            </a:r>
            <a:r>
              <a:rPr kumimoji="0" sz="1050" b="1" i="0" u="none" strike="noStrike" kern="1200" cap="none" spc="0" normalizeH="0" baseline="0" noProof="0" dirty="0" err="1">
                <a:ln>
                  <a:noFill/>
                </a:ln>
                <a:solidFill>
                  <a:prstClr val="black">
                    <a:lumMod val="50000"/>
                    <a:lumOff val="50000"/>
                  </a:prstClr>
                </a:solidFill>
                <a:effectLst/>
                <a:uLnTx/>
                <a:uFillTx/>
                <a:latin typeface="Yekan Bakh FaNum" pitchFamily="2" charset="-78"/>
                <a:ea typeface="+mn-ea"/>
                <a:cs typeface="Yekan Bakh FaNum" pitchFamily="2" charset="-78"/>
              </a:rPr>
              <a:t>باشد</a:t>
            </a:r>
            <a:r>
              <a:rPr kumimoji="0" sz="1050" b="1" i="0" u="none" strike="noStrike" kern="1200" cap="none" spc="0" normalizeH="0" baseline="0" noProof="0" dirty="0">
                <a:ln>
                  <a:noFill/>
                </a:ln>
                <a:solidFill>
                  <a:prstClr val="black">
                    <a:lumMod val="50000"/>
                    <a:lumOff val="50000"/>
                  </a:prstClr>
                </a:solidFill>
                <a:effectLst/>
                <a:uLnTx/>
                <a:uFillTx/>
                <a:latin typeface="Yekan Bakh FaNum" pitchFamily="2" charset="-78"/>
                <a:ea typeface="+mn-ea"/>
                <a:cs typeface="Yekan Bakh FaNum" pitchFamily="2" charset="-78"/>
              </a:rPr>
              <a:t>.</a:t>
            </a:r>
          </a:p>
        </p:txBody>
      </p:sp>
      <p:sp>
        <p:nvSpPr>
          <p:cNvPr id="57" name="Rectangle: Rounded Corners 56">
            <a:extLst>
              <a:ext uri="{FF2B5EF4-FFF2-40B4-BE49-F238E27FC236}">
                <a16:creationId xmlns:a16="http://schemas.microsoft.com/office/drawing/2014/main" id="{F7856D90-93FB-5DDC-2398-9A52458CF88F}"/>
              </a:ext>
            </a:extLst>
          </p:cNvPr>
          <p:cNvSpPr/>
          <p:nvPr/>
        </p:nvSpPr>
        <p:spPr>
          <a:xfrm>
            <a:off x="555630" y="1839800"/>
            <a:ext cx="5148072" cy="566909"/>
          </a:xfrm>
          <a:prstGeom prst="roundRect">
            <a:avLst>
              <a:gd name="adj" fmla="val 14883"/>
            </a:avLst>
          </a:prstGeom>
          <a:noFill/>
          <a:ln w="6350">
            <a:solidFill>
              <a:schemeClr val="bg1">
                <a:lumMod val="8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58" name="Rectangle: Rounded Corners 57">
            <a:extLst>
              <a:ext uri="{FF2B5EF4-FFF2-40B4-BE49-F238E27FC236}">
                <a16:creationId xmlns:a16="http://schemas.microsoft.com/office/drawing/2014/main" id="{992C9706-D99D-6233-FC61-6C1327CBE8B5}"/>
              </a:ext>
            </a:extLst>
          </p:cNvPr>
          <p:cNvSpPr/>
          <p:nvPr/>
        </p:nvSpPr>
        <p:spPr>
          <a:xfrm>
            <a:off x="6095501" y="1839800"/>
            <a:ext cx="5148072" cy="566909"/>
          </a:xfrm>
          <a:prstGeom prst="roundRect">
            <a:avLst>
              <a:gd name="adj" fmla="val 14883"/>
            </a:avLst>
          </a:prstGeom>
          <a:noFill/>
          <a:ln w="6350">
            <a:solidFill>
              <a:schemeClr val="bg1">
                <a:lumMod val="8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Calibri"/>
            </a:endParaRPr>
          </a:p>
        </p:txBody>
      </p:sp>
      <p:sp>
        <p:nvSpPr>
          <p:cNvPr id="59" name="Isosceles Triangle 58">
            <a:extLst>
              <a:ext uri="{FF2B5EF4-FFF2-40B4-BE49-F238E27FC236}">
                <a16:creationId xmlns:a16="http://schemas.microsoft.com/office/drawing/2014/main" id="{2C874319-E34E-C7C4-3B07-5199B226743A}"/>
              </a:ext>
            </a:extLst>
          </p:cNvPr>
          <p:cNvSpPr/>
          <p:nvPr/>
        </p:nvSpPr>
        <p:spPr>
          <a:xfrm flipV="1">
            <a:off x="555212" y="5011476"/>
            <a:ext cx="5148071" cy="156426"/>
          </a:xfrm>
          <a:prstGeom prst="triangle">
            <a:avLst/>
          </a:prstGeom>
          <a:solidFill>
            <a:srgbClr val="F0BE0F">
              <a:alpha val="2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60" name="Isosceles Triangle 59">
            <a:extLst>
              <a:ext uri="{FF2B5EF4-FFF2-40B4-BE49-F238E27FC236}">
                <a16:creationId xmlns:a16="http://schemas.microsoft.com/office/drawing/2014/main" id="{673C3BA1-C14F-9002-3643-335A5B37B58A}"/>
              </a:ext>
            </a:extLst>
          </p:cNvPr>
          <p:cNvSpPr/>
          <p:nvPr/>
        </p:nvSpPr>
        <p:spPr>
          <a:xfrm flipV="1">
            <a:off x="6095501" y="5011476"/>
            <a:ext cx="5148071" cy="156426"/>
          </a:xfrm>
          <a:prstGeom prst="triangle">
            <a:avLst/>
          </a:prstGeom>
          <a:solidFill>
            <a:srgbClr val="F0BE0F">
              <a:alpha val="2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Tree>
    <p:extLst>
      <p:ext uri="{BB962C8B-B14F-4D97-AF65-F5344CB8AC3E}">
        <p14:creationId xmlns:p14="http://schemas.microsoft.com/office/powerpoint/2010/main" val="1840307989"/>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C2C04C9-E653-8E6B-E12C-E2158E2A716A}"/>
              </a:ext>
            </a:extLst>
          </p:cNvPr>
          <p:cNvSpPr>
            <a:spLocks noGrp="1"/>
          </p:cNvSpPr>
          <p:nvPr>
            <p:ph type="body" sz="quarter" idx="10"/>
          </p:nvPr>
        </p:nvSpPr>
        <p:spPr/>
        <p:txBody>
          <a:bodyPr/>
          <a:lstStyle/>
          <a:p>
            <a:r>
              <a:rPr lang="fa-IR" dirty="0"/>
              <a:t>۶. ماتریس نهایی</a:t>
            </a:r>
            <a:endParaRPr lang="en-GB" dirty="0"/>
          </a:p>
        </p:txBody>
      </p:sp>
      <p:sp>
        <p:nvSpPr>
          <p:cNvPr id="3" name="Text Placeholder 2">
            <a:extLst>
              <a:ext uri="{FF2B5EF4-FFF2-40B4-BE49-F238E27FC236}">
                <a16:creationId xmlns:a16="http://schemas.microsoft.com/office/drawing/2014/main" id="{2225B49A-A0B2-1A60-01D9-C018D8A4D163}"/>
              </a:ext>
            </a:extLst>
          </p:cNvPr>
          <p:cNvSpPr>
            <a:spLocks noGrp="1"/>
          </p:cNvSpPr>
          <p:nvPr>
            <p:ph type="body" sz="quarter" idx="12"/>
          </p:nvPr>
        </p:nvSpPr>
        <p:spPr/>
        <p:txBody>
          <a:bodyPr/>
          <a:lstStyle/>
          <a:p>
            <a:r>
              <a:rPr lang="fa-IR" dirty="0"/>
              <a:t>پرتفوی رابطه «اکوسیستم فرصت ایران» از تقاطع این دو معیار ساخته می‌شود، نه از عادت یا رابطه شخصی</a:t>
            </a:r>
          </a:p>
        </p:txBody>
      </p:sp>
      <p:grpSp>
        <p:nvGrpSpPr>
          <p:cNvPr id="8" name="Group 7">
            <a:extLst>
              <a:ext uri="{FF2B5EF4-FFF2-40B4-BE49-F238E27FC236}">
                <a16:creationId xmlns:a16="http://schemas.microsoft.com/office/drawing/2014/main" id="{1AE4A42B-00C0-1687-FD40-B1FC13773BBE}"/>
              </a:ext>
            </a:extLst>
          </p:cNvPr>
          <p:cNvGrpSpPr/>
          <p:nvPr/>
        </p:nvGrpSpPr>
        <p:grpSpPr>
          <a:xfrm>
            <a:off x="6071250" y="1343551"/>
            <a:ext cx="5172323" cy="827596"/>
            <a:chOff x="6093439" y="2175049"/>
            <a:chExt cx="5172323" cy="827596"/>
          </a:xfrm>
        </p:grpSpPr>
        <p:sp>
          <p:nvSpPr>
            <p:cNvPr id="9" name="Rectangle: Rounded Corners 8">
              <a:extLst>
                <a:ext uri="{FF2B5EF4-FFF2-40B4-BE49-F238E27FC236}">
                  <a16:creationId xmlns:a16="http://schemas.microsoft.com/office/drawing/2014/main" id="{E21DDC05-BD0C-A82B-508A-43593AF42069}"/>
                </a:ext>
              </a:extLst>
            </p:cNvPr>
            <p:cNvSpPr/>
            <p:nvPr/>
          </p:nvSpPr>
          <p:spPr>
            <a:xfrm>
              <a:off x="6093439" y="2326261"/>
              <a:ext cx="5172323" cy="676384"/>
            </a:xfrm>
            <a:prstGeom prst="roundRect">
              <a:avLst>
                <a:gd name="adj" fmla="val 5403"/>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7" name="Rectangle: Rounded Corners 6">
              <a:extLst>
                <a:ext uri="{FF2B5EF4-FFF2-40B4-BE49-F238E27FC236}">
                  <a16:creationId xmlns:a16="http://schemas.microsoft.com/office/drawing/2014/main" id="{EA551C3F-915B-4763-8E85-A29437CD3CF1}"/>
                </a:ext>
              </a:extLst>
            </p:cNvPr>
            <p:cNvSpPr/>
            <p:nvPr/>
          </p:nvSpPr>
          <p:spPr>
            <a:xfrm>
              <a:off x="7541299" y="2175049"/>
              <a:ext cx="2276603" cy="294140"/>
            </a:xfrm>
            <a:prstGeom prst="roundRect">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2" name="Rectangle: Rounded Corners 11">
              <a:extLst>
                <a:ext uri="{FF2B5EF4-FFF2-40B4-BE49-F238E27FC236}">
                  <a16:creationId xmlns:a16="http://schemas.microsoft.com/office/drawing/2014/main" id="{BFD5CB44-1613-E9CB-88FB-EC67A253F8D4}"/>
                </a:ext>
              </a:extLst>
            </p:cNvPr>
            <p:cNvSpPr/>
            <p:nvPr/>
          </p:nvSpPr>
          <p:spPr>
            <a:xfrm>
              <a:off x="7541299" y="2175049"/>
              <a:ext cx="2276603" cy="294140"/>
            </a:xfrm>
            <a:prstGeom prst="roundRect">
              <a:avLst/>
            </a:prstGeom>
            <a:solidFill>
              <a:srgbClr val="F0BE0F">
                <a:alpha val="16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3" name="TextBox 12">
              <a:extLst>
                <a:ext uri="{FF2B5EF4-FFF2-40B4-BE49-F238E27FC236}">
                  <a16:creationId xmlns:a16="http://schemas.microsoft.com/office/drawing/2014/main" id="{FE57E2E9-B1BE-AB81-E087-423B5F1E41BF}"/>
                </a:ext>
              </a:extLst>
            </p:cNvPr>
            <p:cNvSpPr txBox="1"/>
            <p:nvPr/>
          </p:nvSpPr>
          <p:spPr>
            <a:xfrm>
              <a:off x="7541299" y="2201517"/>
              <a:ext cx="2276603" cy="253916"/>
            </a:xfrm>
            <a:prstGeom prst="rect">
              <a:avLst/>
            </a:prstGeom>
            <a:noFill/>
          </p:spPr>
          <p:txBody>
            <a:bodyPr wrap="square"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15296B"/>
                  </a:solidFill>
                  <a:effectLst/>
                  <a:uLnTx/>
                  <a:uFillTx/>
                  <a:latin typeface="Yekan Bakh" pitchFamily="2" charset="-78"/>
                  <a:ea typeface="Yekan Bakh" pitchFamily="2" charset="-78"/>
                  <a:cs typeface="Yekan Bakh" pitchFamily="2" charset="-78"/>
                </a:rPr>
                <a:t>A</a:t>
              </a:r>
              <a:r>
                <a:rPr kumimoji="0" lang="fa-IR" sz="1050" b="1" i="0" u="none" strike="noStrike" kern="1200" cap="none" spc="0" normalizeH="0" baseline="0" noProof="0" dirty="0">
                  <a:ln>
                    <a:noFill/>
                  </a:ln>
                  <a:solidFill>
                    <a:srgbClr val="15296B"/>
                  </a:solidFill>
                  <a:effectLst/>
                  <a:uLnTx/>
                  <a:uFillTx/>
                  <a:latin typeface="Yekan Bakh" pitchFamily="2" charset="-78"/>
                  <a:ea typeface="Yekan Bakh" pitchFamily="2" charset="-78"/>
                  <a:cs typeface="Yekan Bakh" pitchFamily="2" charset="-78"/>
                </a:rPr>
                <a:t> ارزش پایین × پیچیدگی پایین</a:t>
              </a:r>
            </a:p>
          </p:txBody>
        </p:sp>
        <p:sp>
          <p:nvSpPr>
            <p:cNvPr id="11" name="TextBox 10">
              <a:extLst>
                <a:ext uri="{FF2B5EF4-FFF2-40B4-BE49-F238E27FC236}">
                  <a16:creationId xmlns:a16="http://schemas.microsoft.com/office/drawing/2014/main" id="{91738DFF-1C54-72F8-83B3-011626806978}"/>
                </a:ext>
              </a:extLst>
            </p:cNvPr>
            <p:cNvSpPr txBox="1"/>
            <p:nvPr/>
          </p:nvSpPr>
          <p:spPr>
            <a:xfrm>
              <a:off x="6176435" y="2540917"/>
              <a:ext cx="5006330" cy="369332"/>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چون هزینه رابطه نباید از ارزش مشتری بیشتر شود.</a:t>
              </a:r>
            </a:p>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900" b="1" i="0" u="none" strike="noStrike" kern="1200" cap="none" spc="0" normalizeH="0" baseline="0" noProof="0" dirty="0">
                  <a:ln>
                    <a:noFill/>
                  </a:ln>
                  <a:solidFill>
                    <a:srgbClr val="15296B"/>
                  </a:solidFill>
                  <a:effectLst/>
                  <a:uLnTx/>
                  <a:uFillTx/>
                  <a:latin typeface="Yekan Bakh" pitchFamily="2" charset="-78"/>
                  <a:ea typeface="Yekan Bakh" pitchFamily="2" charset="-78"/>
                  <a:cs typeface="Yekan Bakh" pitchFamily="2" charset="-78"/>
                </a:rPr>
                <a:t>مدل: </a:t>
              </a:r>
              <a:r>
                <a:rPr kumimoji="0" lang="fa-IR" sz="9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دیجیتال → استاندارد → خودکار.</a:t>
              </a:r>
            </a:p>
          </p:txBody>
        </p:sp>
      </p:grpSp>
      <p:grpSp>
        <p:nvGrpSpPr>
          <p:cNvPr id="10" name="Group 9">
            <a:extLst>
              <a:ext uri="{FF2B5EF4-FFF2-40B4-BE49-F238E27FC236}">
                <a16:creationId xmlns:a16="http://schemas.microsoft.com/office/drawing/2014/main" id="{1FBEB21C-E046-62A8-A537-A749842A5EB2}"/>
              </a:ext>
            </a:extLst>
          </p:cNvPr>
          <p:cNvGrpSpPr/>
          <p:nvPr/>
        </p:nvGrpSpPr>
        <p:grpSpPr>
          <a:xfrm>
            <a:off x="6071250" y="2258157"/>
            <a:ext cx="5172323" cy="827596"/>
            <a:chOff x="6093439" y="2175049"/>
            <a:chExt cx="5172323" cy="827596"/>
          </a:xfrm>
        </p:grpSpPr>
        <p:sp>
          <p:nvSpPr>
            <p:cNvPr id="14" name="Rectangle: Rounded Corners 13">
              <a:extLst>
                <a:ext uri="{FF2B5EF4-FFF2-40B4-BE49-F238E27FC236}">
                  <a16:creationId xmlns:a16="http://schemas.microsoft.com/office/drawing/2014/main" id="{F5200B0F-FFD0-1644-25CA-2C3BBB272C52}"/>
                </a:ext>
              </a:extLst>
            </p:cNvPr>
            <p:cNvSpPr/>
            <p:nvPr/>
          </p:nvSpPr>
          <p:spPr>
            <a:xfrm>
              <a:off x="6093439" y="2326261"/>
              <a:ext cx="5172323" cy="676384"/>
            </a:xfrm>
            <a:prstGeom prst="roundRect">
              <a:avLst>
                <a:gd name="adj" fmla="val 5403"/>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5" name="Rectangle: Rounded Corners 14">
              <a:extLst>
                <a:ext uri="{FF2B5EF4-FFF2-40B4-BE49-F238E27FC236}">
                  <a16:creationId xmlns:a16="http://schemas.microsoft.com/office/drawing/2014/main" id="{E515FD5F-73C5-34A1-C5D1-1AB3308A4B6C}"/>
                </a:ext>
              </a:extLst>
            </p:cNvPr>
            <p:cNvSpPr/>
            <p:nvPr/>
          </p:nvSpPr>
          <p:spPr>
            <a:xfrm>
              <a:off x="7541299" y="2175049"/>
              <a:ext cx="2276603" cy="294140"/>
            </a:xfrm>
            <a:prstGeom prst="roundRect">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6" name="Rectangle: Rounded Corners 15">
              <a:extLst>
                <a:ext uri="{FF2B5EF4-FFF2-40B4-BE49-F238E27FC236}">
                  <a16:creationId xmlns:a16="http://schemas.microsoft.com/office/drawing/2014/main" id="{0C8C9871-5FD5-5729-9648-78945584AEF2}"/>
                </a:ext>
              </a:extLst>
            </p:cNvPr>
            <p:cNvSpPr/>
            <p:nvPr/>
          </p:nvSpPr>
          <p:spPr>
            <a:xfrm>
              <a:off x="7541299" y="2175049"/>
              <a:ext cx="2276603" cy="294140"/>
            </a:xfrm>
            <a:prstGeom prst="roundRect">
              <a:avLst/>
            </a:prstGeom>
            <a:solidFill>
              <a:srgbClr val="F0BE0F">
                <a:alpha val="16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7" name="TextBox 16">
              <a:extLst>
                <a:ext uri="{FF2B5EF4-FFF2-40B4-BE49-F238E27FC236}">
                  <a16:creationId xmlns:a16="http://schemas.microsoft.com/office/drawing/2014/main" id="{685DF476-E6D2-83F8-DF0C-28E30118C166}"/>
                </a:ext>
              </a:extLst>
            </p:cNvPr>
            <p:cNvSpPr txBox="1"/>
            <p:nvPr/>
          </p:nvSpPr>
          <p:spPr>
            <a:xfrm>
              <a:off x="7541299" y="2201517"/>
              <a:ext cx="2276603" cy="253916"/>
            </a:xfrm>
            <a:prstGeom prst="rect">
              <a:avLst/>
            </a:prstGeom>
            <a:noFill/>
          </p:spPr>
          <p:txBody>
            <a:bodyPr wrap="square"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15296B"/>
                  </a:solidFill>
                  <a:effectLst/>
                  <a:uLnTx/>
                  <a:uFillTx/>
                  <a:latin typeface="Yekan Bakh" pitchFamily="2" charset="-78"/>
                  <a:ea typeface="Yekan Bakh" pitchFamily="2" charset="-78"/>
                  <a:cs typeface="Yekan Bakh" pitchFamily="2" charset="-78"/>
                </a:rPr>
                <a:t>B</a:t>
              </a:r>
              <a:r>
                <a:rPr kumimoji="0" lang="fa-IR" sz="1050" b="1" i="0" u="none" strike="noStrike" kern="1200" cap="none" spc="0" normalizeH="0" baseline="0" noProof="0" dirty="0">
                  <a:ln>
                    <a:noFill/>
                  </a:ln>
                  <a:solidFill>
                    <a:srgbClr val="15296B"/>
                  </a:solidFill>
                  <a:effectLst/>
                  <a:uLnTx/>
                  <a:uFillTx/>
                  <a:latin typeface="Yekan Bakh" pitchFamily="2" charset="-78"/>
                  <a:ea typeface="Yekan Bakh" pitchFamily="2" charset="-78"/>
                  <a:cs typeface="Yekan Bakh" pitchFamily="2" charset="-78"/>
                </a:rPr>
                <a:t> ارزش بالا × پیچیدگی پایین</a:t>
              </a:r>
            </a:p>
          </p:txBody>
        </p:sp>
        <p:sp>
          <p:nvSpPr>
            <p:cNvPr id="18" name="TextBox 17">
              <a:extLst>
                <a:ext uri="{FF2B5EF4-FFF2-40B4-BE49-F238E27FC236}">
                  <a16:creationId xmlns:a16="http://schemas.microsoft.com/office/drawing/2014/main" id="{4396D06F-2FA5-0F25-3807-B4A1306C8F5A}"/>
                </a:ext>
              </a:extLst>
            </p:cNvPr>
            <p:cNvSpPr txBox="1"/>
            <p:nvPr/>
          </p:nvSpPr>
          <p:spPr>
            <a:xfrm>
              <a:off x="6176435" y="2540917"/>
              <a:ext cx="5006330" cy="369332"/>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900" b="1" i="0" u="none" strike="noStrike" kern="1200" cap="none" spc="0" normalizeH="0" baseline="0" noProof="0" dirty="0">
                  <a:ln>
                    <a:noFill/>
                  </a:ln>
                  <a:solidFill>
                    <a:srgbClr val="15296B"/>
                  </a:solidFill>
                  <a:effectLst/>
                  <a:uLnTx/>
                  <a:uFillTx/>
                  <a:latin typeface="Yekan Bakh" pitchFamily="2" charset="-78"/>
                  <a:ea typeface="Yekan Bakh" pitchFamily="2" charset="-78"/>
                  <a:cs typeface="Yekan Bakh" pitchFamily="2" charset="-78"/>
                </a:rPr>
                <a:t>اشتباه رایج: </a:t>
              </a:r>
              <a:r>
                <a:rPr kumimoji="0" lang="fa-IR" sz="9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ساختن راه‌حل پیچیده برای نیاز ساده.</a:t>
              </a:r>
            </a:p>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900" b="1" i="0" u="none" strike="noStrike" kern="1200" cap="none" spc="0" normalizeH="0" baseline="0" noProof="0" dirty="0">
                  <a:ln>
                    <a:noFill/>
                  </a:ln>
                  <a:solidFill>
                    <a:srgbClr val="15296B"/>
                  </a:solidFill>
                  <a:effectLst/>
                  <a:uLnTx/>
                  <a:uFillTx/>
                  <a:latin typeface="Yekan Bakh" pitchFamily="2" charset="-78"/>
                  <a:ea typeface="Yekan Bakh" pitchFamily="2" charset="-78"/>
                  <a:cs typeface="Yekan Bakh" pitchFamily="2" charset="-78"/>
                </a:rPr>
                <a:t>راه درست: </a:t>
              </a:r>
              <a:r>
                <a:rPr kumimoji="0" lang="fa-IR" sz="9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تجربه مشتری قوی + ارائه استاندارد.</a:t>
              </a:r>
            </a:p>
          </p:txBody>
        </p:sp>
      </p:grpSp>
      <p:grpSp>
        <p:nvGrpSpPr>
          <p:cNvPr id="19" name="Group 18">
            <a:extLst>
              <a:ext uri="{FF2B5EF4-FFF2-40B4-BE49-F238E27FC236}">
                <a16:creationId xmlns:a16="http://schemas.microsoft.com/office/drawing/2014/main" id="{4AF65A9A-F336-4AA6-CC58-AAB3DAD8ACD1}"/>
              </a:ext>
            </a:extLst>
          </p:cNvPr>
          <p:cNvGrpSpPr/>
          <p:nvPr/>
        </p:nvGrpSpPr>
        <p:grpSpPr>
          <a:xfrm>
            <a:off x="6071250" y="3172763"/>
            <a:ext cx="5172323" cy="827596"/>
            <a:chOff x="6093439" y="2175049"/>
            <a:chExt cx="5172323" cy="827596"/>
          </a:xfrm>
        </p:grpSpPr>
        <p:sp>
          <p:nvSpPr>
            <p:cNvPr id="20" name="Rectangle: Rounded Corners 19">
              <a:extLst>
                <a:ext uri="{FF2B5EF4-FFF2-40B4-BE49-F238E27FC236}">
                  <a16:creationId xmlns:a16="http://schemas.microsoft.com/office/drawing/2014/main" id="{CD74FBA8-2A0B-BBA9-7507-C06CEBDCBD6F}"/>
                </a:ext>
              </a:extLst>
            </p:cNvPr>
            <p:cNvSpPr/>
            <p:nvPr/>
          </p:nvSpPr>
          <p:spPr>
            <a:xfrm>
              <a:off x="6093439" y="2326261"/>
              <a:ext cx="5172323" cy="676384"/>
            </a:xfrm>
            <a:prstGeom prst="roundRect">
              <a:avLst>
                <a:gd name="adj" fmla="val 5403"/>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21" name="Rectangle: Rounded Corners 20">
              <a:extLst>
                <a:ext uri="{FF2B5EF4-FFF2-40B4-BE49-F238E27FC236}">
                  <a16:creationId xmlns:a16="http://schemas.microsoft.com/office/drawing/2014/main" id="{B43E3460-B504-D2B5-E5A0-34C4F3677A05}"/>
                </a:ext>
              </a:extLst>
            </p:cNvPr>
            <p:cNvSpPr/>
            <p:nvPr/>
          </p:nvSpPr>
          <p:spPr>
            <a:xfrm>
              <a:off x="7541299" y="2175049"/>
              <a:ext cx="2276603" cy="294140"/>
            </a:xfrm>
            <a:prstGeom prst="roundRect">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22" name="Rectangle: Rounded Corners 21">
              <a:extLst>
                <a:ext uri="{FF2B5EF4-FFF2-40B4-BE49-F238E27FC236}">
                  <a16:creationId xmlns:a16="http://schemas.microsoft.com/office/drawing/2014/main" id="{AC3BA902-AB75-B901-F29D-4E39CC5DDEF2}"/>
                </a:ext>
              </a:extLst>
            </p:cNvPr>
            <p:cNvSpPr/>
            <p:nvPr/>
          </p:nvSpPr>
          <p:spPr>
            <a:xfrm>
              <a:off x="7541299" y="2175049"/>
              <a:ext cx="2276603" cy="294140"/>
            </a:xfrm>
            <a:prstGeom prst="roundRect">
              <a:avLst/>
            </a:prstGeom>
            <a:solidFill>
              <a:srgbClr val="F0BE0F">
                <a:alpha val="16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23" name="TextBox 22">
              <a:extLst>
                <a:ext uri="{FF2B5EF4-FFF2-40B4-BE49-F238E27FC236}">
                  <a16:creationId xmlns:a16="http://schemas.microsoft.com/office/drawing/2014/main" id="{382813DA-F1D8-1CA0-2092-E8BEE05F59EB}"/>
                </a:ext>
              </a:extLst>
            </p:cNvPr>
            <p:cNvSpPr txBox="1"/>
            <p:nvPr/>
          </p:nvSpPr>
          <p:spPr>
            <a:xfrm>
              <a:off x="7541299" y="2201517"/>
              <a:ext cx="2276603" cy="253916"/>
            </a:xfrm>
            <a:prstGeom prst="rect">
              <a:avLst/>
            </a:prstGeom>
            <a:noFill/>
          </p:spPr>
          <p:txBody>
            <a:bodyPr wrap="square"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15296B"/>
                  </a:solidFill>
                  <a:effectLst/>
                  <a:uLnTx/>
                  <a:uFillTx/>
                  <a:latin typeface="Yekan Bakh" pitchFamily="2" charset="-78"/>
                  <a:ea typeface="Yekan Bakh" pitchFamily="2" charset="-78"/>
                  <a:cs typeface="Yekan Bakh" pitchFamily="2" charset="-78"/>
                </a:rPr>
                <a:t>C</a:t>
              </a:r>
              <a:r>
                <a:rPr kumimoji="0" lang="fa-IR" sz="1050" b="1" i="0" u="none" strike="noStrike" kern="1200" cap="none" spc="0" normalizeH="0" baseline="0" noProof="0" dirty="0">
                  <a:ln>
                    <a:noFill/>
                  </a:ln>
                  <a:solidFill>
                    <a:srgbClr val="15296B"/>
                  </a:solidFill>
                  <a:effectLst/>
                  <a:uLnTx/>
                  <a:uFillTx/>
                  <a:latin typeface="Yekan Bakh" pitchFamily="2" charset="-78"/>
                  <a:ea typeface="Yekan Bakh" pitchFamily="2" charset="-78"/>
                  <a:cs typeface="Yekan Bakh" pitchFamily="2" charset="-78"/>
                </a:rPr>
                <a:t> ارزش پایین/متوسط × پیچیدگی بالا</a:t>
              </a:r>
            </a:p>
          </p:txBody>
        </p:sp>
        <p:sp>
          <p:nvSpPr>
            <p:cNvPr id="24" name="TextBox 23">
              <a:extLst>
                <a:ext uri="{FF2B5EF4-FFF2-40B4-BE49-F238E27FC236}">
                  <a16:creationId xmlns:a16="http://schemas.microsoft.com/office/drawing/2014/main" id="{08BEAF3A-DE9B-B5E5-5DDC-1FE021A2F654}"/>
                </a:ext>
              </a:extLst>
            </p:cNvPr>
            <p:cNvSpPr txBox="1"/>
            <p:nvPr/>
          </p:nvSpPr>
          <p:spPr>
            <a:xfrm>
              <a:off x="6176435" y="2540917"/>
              <a:ext cx="5006330" cy="369332"/>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900" b="1" i="0" u="none" strike="noStrike" kern="1200" cap="none" spc="0" normalizeH="0" baseline="0" noProof="0" dirty="0">
                  <a:ln>
                    <a:noFill/>
                  </a:ln>
                  <a:solidFill>
                    <a:srgbClr val="15296B"/>
                  </a:solidFill>
                  <a:effectLst/>
                  <a:uLnTx/>
                  <a:uFillTx/>
                  <a:latin typeface="Yekan Bakh" pitchFamily="2" charset="-78"/>
                  <a:ea typeface="Yekan Bakh" pitchFamily="2" charset="-78"/>
                  <a:cs typeface="Yekan Bakh" pitchFamily="2" charset="-78"/>
                </a:rPr>
                <a:t>ریسک: </a:t>
              </a:r>
              <a:r>
                <a:rPr kumimoji="0" lang="fa-IR" sz="9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هزینه خدمت‌رسانی از ارزش مشتری بیشتر شود.</a:t>
              </a:r>
            </a:p>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900" b="1" i="0" u="none" strike="noStrike" kern="1200" cap="none" spc="0" normalizeH="0" baseline="0" noProof="0" dirty="0">
                  <a:ln>
                    <a:noFill/>
                  </a:ln>
                  <a:solidFill>
                    <a:srgbClr val="15296B"/>
                  </a:solidFill>
                  <a:effectLst/>
                  <a:uLnTx/>
                  <a:uFillTx/>
                  <a:latin typeface="Yekan Bakh" pitchFamily="2" charset="-78"/>
                  <a:ea typeface="Yekan Bakh" pitchFamily="2" charset="-78"/>
                  <a:cs typeface="Yekan Bakh" pitchFamily="2" charset="-78"/>
                </a:rPr>
                <a:t>راه‌حل: </a:t>
              </a:r>
              <a:r>
                <a:rPr kumimoji="0" lang="fa-IR" sz="9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محصولی‌کردن پیچیدگی (مشاوره اختصاصی ← تشخیص استاندارد ← بسته راه‌حل استاندارد).</a:t>
              </a:r>
            </a:p>
          </p:txBody>
        </p:sp>
      </p:grpSp>
      <p:grpSp>
        <p:nvGrpSpPr>
          <p:cNvPr id="25" name="Group 24">
            <a:extLst>
              <a:ext uri="{FF2B5EF4-FFF2-40B4-BE49-F238E27FC236}">
                <a16:creationId xmlns:a16="http://schemas.microsoft.com/office/drawing/2014/main" id="{AFB05A15-160F-A236-C490-AED1698ED24B}"/>
              </a:ext>
            </a:extLst>
          </p:cNvPr>
          <p:cNvGrpSpPr/>
          <p:nvPr/>
        </p:nvGrpSpPr>
        <p:grpSpPr>
          <a:xfrm>
            <a:off x="6071250" y="4087369"/>
            <a:ext cx="5172323" cy="827596"/>
            <a:chOff x="6093439" y="2175049"/>
            <a:chExt cx="5172323" cy="827596"/>
          </a:xfrm>
        </p:grpSpPr>
        <p:sp>
          <p:nvSpPr>
            <p:cNvPr id="26" name="Rectangle: Rounded Corners 25">
              <a:extLst>
                <a:ext uri="{FF2B5EF4-FFF2-40B4-BE49-F238E27FC236}">
                  <a16:creationId xmlns:a16="http://schemas.microsoft.com/office/drawing/2014/main" id="{85EDA366-8D21-115D-FFFB-441740C9D2BC}"/>
                </a:ext>
              </a:extLst>
            </p:cNvPr>
            <p:cNvSpPr/>
            <p:nvPr/>
          </p:nvSpPr>
          <p:spPr>
            <a:xfrm>
              <a:off x="6093439" y="2326261"/>
              <a:ext cx="5172323" cy="676384"/>
            </a:xfrm>
            <a:prstGeom prst="roundRect">
              <a:avLst>
                <a:gd name="adj" fmla="val 5403"/>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27" name="Rectangle: Rounded Corners 26">
              <a:extLst>
                <a:ext uri="{FF2B5EF4-FFF2-40B4-BE49-F238E27FC236}">
                  <a16:creationId xmlns:a16="http://schemas.microsoft.com/office/drawing/2014/main" id="{BE88CE8D-5C87-C768-AF8E-917F30C9BF0F}"/>
                </a:ext>
              </a:extLst>
            </p:cNvPr>
            <p:cNvSpPr/>
            <p:nvPr/>
          </p:nvSpPr>
          <p:spPr>
            <a:xfrm>
              <a:off x="7541299" y="2175049"/>
              <a:ext cx="2276603" cy="294140"/>
            </a:xfrm>
            <a:prstGeom prst="roundRect">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28" name="Rectangle: Rounded Corners 27">
              <a:extLst>
                <a:ext uri="{FF2B5EF4-FFF2-40B4-BE49-F238E27FC236}">
                  <a16:creationId xmlns:a16="http://schemas.microsoft.com/office/drawing/2014/main" id="{81644A94-5BCD-EB9F-FD91-2EA4BAB74CD0}"/>
                </a:ext>
              </a:extLst>
            </p:cNvPr>
            <p:cNvSpPr/>
            <p:nvPr/>
          </p:nvSpPr>
          <p:spPr>
            <a:xfrm>
              <a:off x="7541299" y="2175049"/>
              <a:ext cx="2276603" cy="294140"/>
            </a:xfrm>
            <a:prstGeom prst="roundRect">
              <a:avLst/>
            </a:prstGeom>
            <a:solidFill>
              <a:srgbClr val="F0BE0F">
                <a:alpha val="16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29" name="TextBox 28">
              <a:extLst>
                <a:ext uri="{FF2B5EF4-FFF2-40B4-BE49-F238E27FC236}">
                  <a16:creationId xmlns:a16="http://schemas.microsoft.com/office/drawing/2014/main" id="{C5449C8E-A21A-6B87-DBBE-C8E0C011AB25}"/>
                </a:ext>
              </a:extLst>
            </p:cNvPr>
            <p:cNvSpPr txBox="1"/>
            <p:nvPr/>
          </p:nvSpPr>
          <p:spPr>
            <a:xfrm>
              <a:off x="7541299" y="2201517"/>
              <a:ext cx="2276603" cy="253916"/>
            </a:xfrm>
            <a:prstGeom prst="rect">
              <a:avLst/>
            </a:prstGeom>
            <a:noFill/>
          </p:spPr>
          <p:txBody>
            <a:bodyPr wrap="square"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15296B"/>
                  </a:solidFill>
                  <a:effectLst/>
                  <a:uLnTx/>
                  <a:uFillTx/>
                  <a:latin typeface="Yekan Bakh" pitchFamily="2" charset="-78"/>
                  <a:ea typeface="Yekan Bakh" pitchFamily="2" charset="-78"/>
                  <a:cs typeface="Yekan Bakh" pitchFamily="2" charset="-78"/>
                </a:rPr>
                <a:t>D</a:t>
              </a:r>
              <a:r>
                <a:rPr kumimoji="0" lang="fa-IR" sz="1050" b="1" i="0" u="none" strike="noStrike" kern="1200" cap="none" spc="0" normalizeH="0" baseline="0" noProof="0" dirty="0">
                  <a:ln>
                    <a:noFill/>
                  </a:ln>
                  <a:solidFill>
                    <a:srgbClr val="15296B"/>
                  </a:solidFill>
                  <a:effectLst/>
                  <a:uLnTx/>
                  <a:uFillTx/>
                  <a:latin typeface="Yekan Bakh" pitchFamily="2" charset="-78"/>
                  <a:ea typeface="Yekan Bakh" pitchFamily="2" charset="-78"/>
                  <a:cs typeface="Yekan Bakh" pitchFamily="2" charset="-78"/>
                </a:rPr>
                <a:t> ارزش بالا × پیچیدگی بالا</a:t>
              </a:r>
            </a:p>
          </p:txBody>
        </p:sp>
        <p:sp>
          <p:nvSpPr>
            <p:cNvPr id="30" name="TextBox 29">
              <a:extLst>
                <a:ext uri="{FF2B5EF4-FFF2-40B4-BE49-F238E27FC236}">
                  <a16:creationId xmlns:a16="http://schemas.microsoft.com/office/drawing/2014/main" id="{CBBA7A0F-829B-160E-8E6A-456A3445981D}"/>
                </a:ext>
              </a:extLst>
            </p:cNvPr>
            <p:cNvSpPr txBox="1"/>
            <p:nvPr/>
          </p:nvSpPr>
          <p:spPr>
            <a:xfrm>
              <a:off x="6176435" y="2540917"/>
              <a:ext cx="5006330" cy="230832"/>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هسته اصلی پرتفوی رابطه «اکوسیستم فرصت ایران»؛ توجیه‌کننده سرمایه‌گذاری بالا در رابطه.</a:t>
              </a:r>
            </a:p>
          </p:txBody>
        </p:sp>
      </p:grpSp>
      <p:grpSp>
        <p:nvGrpSpPr>
          <p:cNvPr id="31" name="Group 30">
            <a:extLst>
              <a:ext uri="{FF2B5EF4-FFF2-40B4-BE49-F238E27FC236}">
                <a16:creationId xmlns:a16="http://schemas.microsoft.com/office/drawing/2014/main" id="{16906C4F-6D0E-AD16-2F58-DF168523E735}"/>
              </a:ext>
            </a:extLst>
          </p:cNvPr>
          <p:cNvGrpSpPr/>
          <p:nvPr/>
        </p:nvGrpSpPr>
        <p:grpSpPr>
          <a:xfrm>
            <a:off x="6071250" y="5001975"/>
            <a:ext cx="5172323" cy="827596"/>
            <a:chOff x="6093439" y="2175049"/>
            <a:chExt cx="5172323" cy="827596"/>
          </a:xfrm>
        </p:grpSpPr>
        <p:sp>
          <p:nvSpPr>
            <p:cNvPr id="32" name="Rectangle: Rounded Corners 31">
              <a:extLst>
                <a:ext uri="{FF2B5EF4-FFF2-40B4-BE49-F238E27FC236}">
                  <a16:creationId xmlns:a16="http://schemas.microsoft.com/office/drawing/2014/main" id="{5A411518-ED0E-180E-4E88-EB412EE7B1CD}"/>
                </a:ext>
              </a:extLst>
            </p:cNvPr>
            <p:cNvSpPr/>
            <p:nvPr/>
          </p:nvSpPr>
          <p:spPr>
            <a:xfrm>
              <a:off x="6093439" y="2326261"/>
              <a:ext cx="5172323" cy="676384"/>
            </a:xfrm>
            <a:prstGeom prst="roundRect">
              <a:avLst>
                <a:gd name="adj" fmla="val 5403"/>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33" name="Rectangle: Rounded Corners 32">
              <a:extLst>
                <a:ext uri="{FF2B5EF4-FFF2-40B4-BE49-F238E27FC236}">
                  <a16:creationId xmlns:a16="http://schemas.microsoft.com/office/drawing/2014/main" id="{DFA94840-417A-4B61-DD10-9CA5DE715CC3}"/>
                </a:ext>
              </a:extLst>
            </p:cNvPr>
            <p:cNvSpPr/>
            <p:nvPr/>
          </p:nvSpPr>
          <p:spPr>
            <a:xfrm>
              <a:off x="7541299" y="2175049"/>
              <a:ext cx="2276603" cy="294140"/>
            </a:xfrm>
            <a:prstGeom prst="roundRect">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34" name="Rectangle: Rounded Corners 33">
              <a:extLst>
                <a:ext uri="{FF2B5EF4-FFF2-40B4-BE49-F238E27FC236}">
                  <a16:creationId xmlns:a16="http://schemas.microsoft.com/office/drawing/2014/main" id="{19D14630-4334-037D-A50E-B902E919558C}"/>
                </a:ext>
              </a:extLst>
            </p:cNvPr>
            <p:cNvSpPr/>
            <p:nvPr/>
          </p:nvSpPr>
          <p:spPr>
            <a:xfrm>
              <a:off x="7541299" y="2175049"/>
              <a:ext cx="2276603" cy="294140"/>
            </a:xfrm>
            <a:prstGeom prst="roundRect">
              <a:avLst/>
            </a:prstGeom>
            <a:solidFill>
              <a:srgbClr val="F0BE0F">
                <a:alpha val="16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35" name="TextBox 34">
              <a:extLst>
                <a:ext uri="{FF2B5EF4-FFF2-40B4-BE49-F238E27FC236}">
                  <a16:creationId xmlns:a16="http://schemas.microsoft.com/office/drawing/2014/main" id="{62AFE701-2DE1-3D60-2BC4-0B3FE4A666E9}"/>
                </a:ext>
              </a:extLst>
            </p:cNvPr>
            <p:cNvSpPr txBox="1"/>
            <p:nvPr/>
          </p:nvSpPr>
          <p:spPr>
            <a:xfrm>
              <a:off x="7541299" y="2201517"/>
              <a:ext cx="2276603" cy="253916"/>
            </a:xfrm>
            <a:prstGeom prst="rect">
              <a:avLst/>
            </a:prstGeom>
            <a:noFill/>
          </p:spPr>
          <p:txBody>
            <a:bodyPr wrap="square"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15296B"/>
                  </a:solidFill>
                  <a:effectLst/>
                  <a:uLnTx/>
                  <a:uFillTx/>
                  <a:latin typeface="Yekan Bakh" pitchFamily="2" charset="-78"/>
                  <a:ea typeface="Yekan Bakh" pitchFamily="2" charset="-78"/>
                  <a:cs typeface="Yekan Bakh" pitchFamily="2" charset="-78"/>
                </a:rPr>
                <a:t>E</a:t>
              </a:r>
              <a:r>
                <a:rPr kumimoji="0" lang="fa-IR" sz="1050" b="1" i="0" u="none" strike="noStrike" kern="1200" cap="none" spc="0" normalizeH="0" baseline="0" noProof="0" dirty="0">
                  <a:ln>
                    <a:noFill/>
                  </a:ln>
                  <a:solidFill>
                    <a:srgbClr val="15296B"/>
                  </a:solidFill>
                  <a:effectLst/>
                  <a:uLnTx/>
                  <a:uFillTx/>
                  <a:latin typeface="Yekan Bakh" pitchFamily="2" charset="-78"/>
                  <a:ea typeface="Yekan Bakh" pitchFamily="2" charset="-78"/>
                  <a:cs typeface="Yekan Bakh" pitchFamily="2" charset="-78"/>
                </a:rPr>
                <a:t> ارزش راهبردی × پیچیدگی خیلی‌بالا</a:t>
              </a:r>
            </a:p>
          </p:txBody>
        </p:sp>
        <p:sp>
          <p:nvSpPr>
            <p:cNvPr id="36" name="TextBox 35">
              <a:extLst>
                <a:ext uri="{FF2B5EF4-FFF2-40B4-BE49-F238E27FC236}">
                  <a16:creationId xmlns:a16="http://schemas.microsoft.com/office/drawing/2014/main" id="{792E6A90-61F4-AF00-905E-9A6B9301A5BC}"/>
                </a:ext>
              </a:extLst>
            </p:cNvPr>
            <p:cNvSpPr txBox="1"/>
            <p:nvPr/>
          </p:nvSpPr>
          <p:spPr>
            <a:xfrm>
              <a:off x="6176435" y="2540917"/>
              <a:ext cx="5006330" cy="230832"/>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بالاترین سطح؛ طرف مقابل «حساب راهبردی» یا «لنگر اکوسیستم» است، نه صرفاً خریدار.</a:t>
              </a:r>
            </a:p>
          </p:txBody>
        </p:sp>
      </p:grpSp>
      <p:grpSp>
        <p:nvGrpSpPr>
          <p:cNvPr id="94" name="Group 93">
            <a:extLst>
              <a:ext uri="{FF2B5EF4-FFF2-40B4-BE49-F238E27FC236}">
                <a16:creationId xmlns:a16="http://schemas.microsoft.com/office/drawing/2014/main" id="{81E77B92-3357-9D82-9381-8D0A94AFAFBE}"/>
              </a:ext>
            </a:extLst>
          </p:cNvPr>
          <p:cNvGrpSpPr/>
          <p:nvPr/>
        </p:nvGrpSpPr>
        <p:grpSpPr>
          <a:xfrm>
            <a:off x="459477" y="1343551"/>
            <a:ext cx="4842130" cy="4285918"/>
            <a:chOff x="634111" y="1809985"/>
            <a:chExt cx="4842130" cy="4285918"/>
          </a:xfrm>
        </p:grpSpPr>
        <p:grpSp>
          <p:nvGrpSpPr>
            <p:cNvPr id="84" name="Group 83">
              <a:extLst>
                <a:ext uri="{FF2B5EF4-FFF2-40B4-BE49-F238E27FC236}">
                  <a16:creationId xmlns:a16="http://schemas.microsoft.com/office/drawing/2014/main" id="{B23AC230-1BFE-40DF-F849-6E2BDBA15D41}"/>
                </a:ext>
              </a:extLst>
            </p:cNvPr>
            <p:cNvGrpSpPr/>
            <p:nvPr/>
          </p:nvGrpSpPr>
          <p:grpSpPr>
            <a:xfrm>
              <a:off x="1539565" y="2267485"/>
              <a:ext cx="3936676" cy="3358194"/>
              <a:chOff x="1539564" y="1343551"/>
              <a:chExt cx="4401199" cy="3754457"/>
            </a:xfrm>
          </p:grpSpPr>
          <p:sp>
            <p:nvSpPr>
              <p:cNvPr id="38" name="Rectangle 37">
                <a:extLst>
                  <a:ext uri="{FF2B5EF4-FFF2-40B4-BE49-F238E27FC236}">
                    <a16:creationId xmlns:a16="http://schemas.microsoft.com/office/drawing/2014/main" id="{8C7A6755-3F7E-948E-1EB1-9D5E68C37939}"/>
                  </a:ext>
                </a:extLst>
              </p:cNvPr>
              <p:cNvSpPr/>
              <p:nvPr/>
            </p:nvSpPr>
            <p:spPr>
              <a:xfrm>
                <a:off x="3783033" y="1343551"/>
                <a:ext cx="2157730" cy="1828800"/>
              </a:xfrm>
              <a:prstGeom prst="rect">
                <a:avLst/>
              </a:prstGeom>
              <a:solidFill>
                <a:srgbClr val="152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sp>
            <p:nvSpPr>
              <p:cNvPr id="39" name="TextBox 38">
                <a:extLst>
                  <a:ext uri="{FF2B5EF4-FFF2-40B4-BE49-F238E27FC236}">
                    <a16:creationId xmlns:a16="http://schemas.microsoft.com/office/drawing/2014/main" id="{F7174BF7-4306-C170-3253-C21E8C25F94C}"/>
                  </a:ext>
                </a:extLst>
              </p:cNvPr>
              <p:cNvSpPr txBox="1"/>
              <p:nvPr/>
            </p:nvSpPr>
            <p:spPr>
              <a:xfrm>
                <a:off x="4587578" y="1469432"/>
                <a:ext cx="548640" cy="470405"/>
              </a:xfrm>
              <a:prstGeom prst="rect">
                <a:avLst/>
              </a:prstGeom>
              <a:noFill/>
            </p:spPr>
            <p:txBody>
              <a:bodyPr wrap="square" lIns="0" tIns="0" rIns="0" bIns="0" anchor="t">
                <a:spAutoFit/>
              </a:bodyPr>
              <a:lstStyle/>
              <a:p>
                <a:pPr marL="0" marR="0" lvl="0" indent="0" algn="ctr" defTabSz="457200" rtl="1" eaLnBrk="1" fontAlgn="auto" latinLnBrk="0" hangingPunct="1">
                  <a:lnSpc>
                    <a:spcPct val="125000"/>
                  </a:lnSpc>
                  <a:spcBef>
                    <a:spcPts val="0"/>
                  </a:spcBef>
                  <a:spcAft>
                    <a:spcPts val="0"/>
                  </a:spcAft>
                  <a:buClrTx/>
                  <a:buSzTx/>
                  <a:buFontTx/>
                  <a:buNone/>
                  <a:tabLst/>
                  <a:defRPr/>
                </a:pPr>
                <a:r>
                  <a:rPr kumimoji="0" sz="2400" b="1" i="0" u="none" strike="noStrike" kern="1200" cap="none" spc="0" normalizeH="0" baseline="0" noProof="0" dirty="0">
                    <a:ln>
                      <a:noFill/>
                    </a:ln>
                    <a:solidFill>
                      <a:prstClr val="white"/>
                    </a:solidFill>
                    <a:effectLst/>
                    <a:uLnTx/>
                    <a:uFillTx/>
                    <a:latin typeface="Acumin Pro Bold" panose="020B0804020202020204" pitchFamily="34" charset="0"/>
                    <a:ea typeface="Yekan Bakh" pitchFamily="2" charset="-78"/>
                    <a:cs typeface="Yekan Bakh" pitchFamily="2" charset="-78"/>
                  </a:rPr>
                  <a:t>B</a:t>
                </a:r>
              </a:p>
            </p:txBody>
          </p:sp>
          <p:sp>
            <p:nvSpPr>
              <p:cNvPr id="40" name="TextBox 39">
                <a:extLst>
                  <a:ext uri="{FF2B5EF4-FFF2-40B4-BE49-F238E27FC236}">
                    <a16:creationId xmlns:a16="http://schemas.microsoft.com/office/drawing/2014/main" id="{7C30774A-F27C-9301-684B-C562001417EE}"/>
                  </a:ext>
                </a:extLst>
              </p:cNvPr>
              <p:cNvSpPr txBox="1"/>
              <p:nvPr/>
            </p:nvSpPr>
            <p:spPr>
              <a:xfrm>
                <a:off x="3783033" y="2191761"/>
                <a:ext cx="2157730" cy="227102"/>
              </a:xfrm>
              <a:prstGeom prst="rect">
                <a:avLst/>
              </a:prstGeom>
              <a:noFill/>
            </p:spPr>
            <p:txBody>
              <a:bodyPr wrap="square" lIns="0" tIns="0" rIns="0" bIns="0" anchor="t">
                <a:spAutoFit/>
              </a:bodyPr>
              <a:lstStyle/>
              <a:p>
                <a:pPr marL="0" marR="0" lvl="0" indent="0" algn="ctr" defTabSz="457200" rtl="1" eaLnBrk="1" fontAlgn="auto" latinLnBrk="0" hangingPunct="1">
                  <a:lnSpc>
                    <a:spcPct val="110000"/>
                  </a:lnSpc>
                  <a:spcBef>
                    <a:spcPts val="0"/>
                  </a:spcBef>
                  <a:spcAft>
                    <a:spcPts val="0"/>
                  </a:spcAft>
                  <a:buClrTx/>
                  <a:buSzTx/>
                  <a:buFontTx/>
                  <a:buNone/>
                  <a:tabLst/>
                  <a:defRPr/>
                </a:pPr>
                <a:r>
                  <a:rPr kumimoji="0" sz="1200" b="1" i="0" u="none" strike="noStrike" kern="1200" cap="none" spc="0" normalizeH="0" baseline="0" noProof="0" dirty="0" err="1">
                    <a:ln>
                      <a:noFill/>
                    </a:ln>
                    <a:solidFill>
                      <a:prstClr val="white"/>
                    </a:solidFill>
                    <a:effectLst/>
                    <a:uLnTx/>
                    <a:uFillTx/>
                    <a:latin typeface="Yekan Bakh" pitchFamily="2" charset="-78"/>
                    <a:ea typeface="Yekan Bakh" pitchFamily="2" charset="-78"/>
                    <a:cs typeface="Yekan Bakh" pitchFamily="2" charset="-78"/>
                  </a:rPr>
                  <a:t>همراه</a:t>
                </a:r>
                <a:r>
                  <a:rPr kumimoji="0" sz="12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 </a:t>
                </a:r>
                <a:r>
                  <a:rPr kumimoji="0" lang="fa-IR" sz="12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 </a:t>
                </a:r>
                <a:r>
                  <a:rPr kumimoji="0" sz="1200" b="1" i="0" u="none" strike="noStrike" kern="1200" cap="none" spc="0" normalizeH="0" baseline="0" noProof="0" dirty="0" err="1">
                    <a:ln>
                      <a:noFill/>
                    </a:ln>
                    <a:solidFill>
                      <a:prstClr val="white"/>
                    </a:solidFill>
                    <a:effectLst/>
                    <a:uLnTx/>
                    <a:uFillTx/>
                    <a:latin typeface="Yekan Bakh" pitchFamily="2" charset="-78"/>
                    <a:ea typeface="Yekan Bakh" pitchFamily="2" charset="-78"/>
                    <a:cs typeface="Yekan Bakh" pitchFamily="2" charset="-78"/>
                  </a:rPr>
                  <a:t>اختصاصی</a:t>
                </a:r>
                <a:endParaRPr kumimoji="0" sz="12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sp>
            <p:nvSpPr>
              <p:cNvPr id="41" name="TextBox 40">
                <a:extLst>
                  <a:ext uri="{FF2B5EF4-FFF2-40B4-BE49-F238E27FC236}">
                    <a16:creationId xmlns:a16="http://schemas.microsoft.com/office/drawing/2014/main" id="{609ADA3F-4341-F1DB-6B11-663292EF2B1E}"/>
                  </a:ext>
                </a:extLst>
              </p:cNvPr>
              <p:cNvSpPr txBox="1"/>
              <p:nvPr/>
            </p:nvSpPr>
            <p:spPr>
              <a:xfrm>
                <a:off x="3783033" y="2598554"/>
                <a:ext cx="2157730" cy="178068"/>
              </a:xfrm>
              <a:prstGeom prst="rect">
                <a:avLst/>
              </a:prstGeom>
              <a:noFill/>
            </p:spPr>
            <p:txBody>
              <a:bodyPr wrap="square" lIns="0" tIns="0" rIns="0" bIns="0" anchor="t">
                <a:spAutoFit/>
              </a:bodyPr>
              <a:lstStyle/>
              <a:p>
                <a:pPr marL="0" marR="0" lvl="0" indent="0" algn="ctr" defTabSz="457200" rtl="1" eaLnBrk="1" fontAlgn="auto" latinLnBrk="0" hangingPunct="1">
                  <a:lnSpc>
                    <a:spcPct val="115000"/>
                  </a:lnSpc>
                  <a:spcBef>
                    <a:spcPts val="0"/>
                  </a:spcBef>
                  <a:spcAft>
                    <a:spcPts val="0"/>
                  </a:spcAft>
                  <a:buClrTx/>
                  <a:buSzTx/>
                  <a:buFontTx/>
                  <a:buNone/>
                  <a:tabLst/>
                  <a:defRPr/>
                </a:pPr>
                <a:r>
                  <a:rPr kumimoji="0" sz="900" b="0" i="0" u="none" strike="noStrike" kern="1200" cap="none" spc="0" normalizeH="0" baseline="0" noProof="0" dirty="0" err="1">
                    <a:ln>
                      <a:noFill/>
                    </a:ln>
                    <a:solidFill>
                      <a:prstClr val="white">
                        <a:lumMod val="85000"/>
                      </a:prstClr>
                    </a:solidFill>
                    <a:effectLst/>
                    <a:uLnTx/>
                    <a:uFillTx/>
                    <a:latin typeface="Yekan Bakh" pitchFamily="2" charset="-78"/>
                    <a:ea typeface="Yekan Bakh" pitchFamily="2" charset="-78"/>
                    <a:cs typeface="Yekan Bakh" pitchFamily="2" charset="-78"/>
                  </a:rPr>
                  <a:t>ارزش</a:t>
                </a:r>
                <a:r>
                  <a:rPr kumimoji="0" sz="900" b="0" i="0" u="none" strike="noStrike" kern="1200" cap="none" spc="0" normalizeH="0" baseline="0" noProof="0" dirty="0">
                    <a:ln>
                      <a:noFill/>
                    </a:ln>
                    <a:solidFill>
                      <a:prstClr val="white">
                        <a:lumMod val="85000"/>
                      </a:prstClr>
                    </a:solidFill>
                    <a:effectLst/>
                    <a:uLnTx/>
                    <a:uFillTx/>
                    <a:latin typeface="Yekan Bakh" pitchFamily="2" charset="-78"/>
                    <a:ea typeface="Yekan Bakh" pitchFamily="2" charset="-78"/>
                    <a:cs typeface="Yekan Bakh" pitchFamily="2" charset="-78"/>
                  </a:rPr>
                  <a:t> </a:t>
                </a:r>
                <a:r>
                  <a:rPr kumimoji="0" sz="900" b="0" i="0" u="none" strike="noStrike" kern="1200" cap="none" spc="0" normalizeH="0" baseline="0" noProof="0" dirty="0" err="1">
                    <a:ln>
                      <a:noFill/>
                    </a:ln>
                    <a:solidFill>
                      <a:prstClr val="white">
                        <a:lumMod val="85000"/>
                      </a:prstClr>
                    </a:solidFill>
                    <a:effectLst/>
                    <a:uLnTx/>
                    <a:uFillTx/>
                    <a:latin typeface="Yekan Bakh" pitchFamily="2" charset="-78"/>
                    <a:ea typeface="Yekan Bakh" pitchFamily="2" charset="-78"/>
                    <a:cs typeface="Yekan Bakh" pitchFamily="2" charset="-78"/>
                  </a:rPr>
                  <a:t>بالا</a:t>
                </a:r>
                <a:r>
                  <a:rPr kumimoji="0" lang="en-US" sz="900" b="0" i="0" u="none" strike="noStrike" kern="1200" cap="none" spc="0" normalizeH="0" baseline="0" noProof="0" dirty="0">
                    <a:ln>
                      <a:noFill/>
                    </a:ln>
                    <a:solidFill>
                      <a:prstClr val="white">
                        <a:lumMod val="85000"/>
                      </a:prstClr>
                    </a:solidFill>
                    <a:effectLst/>
                    <a:uLnTx/>
                    <a:uFillTx/>
                    <a:latin typeface="Yekan Bakh" pitchFamily="2" charset="-78"/>
                    <a:ea typeface="Yekan Bakh" pitchFamily="2" charset="-78"/>
                    <a:cs typeface="Yekan Bakh" pitchFamily="2" charset="-78"/>
                  </a:rPr>
                  <a:t>× </a:t>
                </a:r>
                <a:r>
                  <a:rPr kumimoji="0" lang="fa-IR" sz="900" b="0" i="0" u="none" strike="noStrike" kern="1200" cap="none" spc="0" normalizeH="0" baseline="0" noProof="0" dirty="0">
                    <a:ln>
                      <a:noFill/>
                    </a:ln>
                    <a:solidFill>
                      <a:prstClr val="white">
                        <a:lumMod val="85000"/>
                      </a:prstClr>
                    </a:solidFill>
                    <a:effectLst/>
                    <a:uLnTx/>
                    <a:uFillTx/>
                    <a:latin typeface="Yekan Bakh" pitchFamily="2" charset="-78"/>
                    <a:ea typeface="Yekan Bakh" pitchFamily="2" charset="-78"/>
                    <a:cs typeface="Yekan Bakh" pitchFamily="2" charset="-78"/>
                  </a:rPr>
                  <a:t> پ</a:t>
                </a:r>
                <a:r>
                  <a:rPr kumimoji="0" sz="900" b="0" i="0" u="none" strike="noStrike" kern="1200" cap="none" spc="0" normalizeH="0" baseline="0" noProof="0" dirty="0" err="1">
                    <a:ln>
                      <a:noFill/>
                    </a:ln>
                    <a:solidFill>
                      <a:prstClr val="white">
                        <a:lumMod val="85000"/>
                      </a:prstClr>
                    </a:solidFill>
                    <a:effectLst/>
                    <a:uLnTx/>
                    <a:uFillTx/>
                    <a:latin typeface="Yekan Bakh" pitchFamily="2" charset="-78"/>
                    <a:ea typeface="Yekan Bakh" pitchFamily="2" charset="-78"/>
                    <a:cs typeface="Yekan Bakh" pitchFamily="2" charset="-78"/>
                  </a:rPr>
                  <a:t>یچیدگی</a:t>
                </a:r>
                <a:r>
                  <a:rPr kumimoji="0" sz="900" b="0" i="0" u="none" strike="noStrike" kern="1200" cap="none" spc="0" normalizeH="0" baseline="0" noProof="0" dirty="0">
                    <a:ln>
                      <a:noFill/>
                    </a:ln>
                    <a:solidFill>
                      <a:prstClr val="white">
                        <a:lumMod val="85000"/>
                      </a:prstClr>
                    </a:solidFill>
                    <a:effectLst/>
                    <a:uLnTx/>
                    <a:uFillTx/>
                    <a:latin typeface="Yekan Bakh" pitchFamily="2" charset="-78"/>
                    <a:ea typeface="Yekan Bakh" pitchFamily="2" charset="-78"/>
                    <a:cs typeface="Yekan Bakh" pitchFamily="2" charset="-78"/>
                  </a:rPr>
                  <a:t> </a:t>
                </a:r>
                <a:r>
                  <a:rPr kumimoji="0" sz="900" b="0" i="0" u="none" strike="noStrike" kern="1200" cap="none" spc="0" normalizeH="0" baseline="0" noProof="0" dirty="0" err="1">
                    <a:ln>
                      <a:noFill/>
                    </a:ln>
                    <a:solidFill>
                      <a:prstClr val="white">
                        <a:lumMod val="85000"/>
                      </a:prstClr>
                    </a:solidFill>
                    <a:effectLst/>
                    <a:uLnTx/>
                    <a:uFillTx/>
                    <a:latin typeface="Yekan Bakh" pitchFamily="2" charset="-78"/>
                    <a:ea typeface="Yekan Bakh" pitchFamily="2" charset="-78"/>
                    <a:cs typeface="Yekan Bakh" pitchFamily="2" charset="-78"/>
                  </a:rPr>
                  <a:t>پایین</a:t>
                </a:r>
                <a:endParaRPr kumimoji="0" sz="900" b="0" i="0" u="none" strike="noStrike" kern="1200" cap="none" spc="0" normalizeH="0" baseline="0" noProof="0" dirty="0">
                  <a:ln>
                    <a:noFill/>
                  </a:ln>
                  <a:solidFill>
                    <a:prstClr val="white">
                      <a:lumMod val="85000"/>
                    </a:prstClr>
                  </a:solidFill>
                  <a:effectLst/>
                  <a:uLnTx/>
                  <a:uFillTx/>
                  <a:latin typeface="Yekan Bakh" pitchFamily="2" charset="-78"/>
                  <a:ea typeface="Yekan Bakh" pitchFamily="2" charset="-78"/>
                  <a:cs typeface="Yekan Bakh" pitchFamily="2" charset="-78"/>
                </a:endParaRPr>
              </a:p>
            </p:txBody>
          </p:sp>
          <p:sp>
            <p:nvSpPr>
              <p:cNvPr id="43" name="Rectangle 42">
                <a:extLst>
                  <a:ext uri="{FF2B5EF4-FFF2-40B4-BE49-F238E27FC236}">
                    <a16:creationId xmlns:a16="http://schemas.microsoft.com/office/drawing/2014/main" id="{D26D1A0F-EF01-FC3C-DE09-B6569636BB45}"/>
                  </a:ext>
                </a:extLst>
              </p:cNvPr>
              <p:cNvSpPr/>
              <p:nvPr/>
            </p:nvSpPr>
            <p:spPr>
              <a:xfrm>
                <a:off x="1539564" y="1343551"/>
                <a:ext cx="2157730" cy="1828800"/>
              </a:xfrm>
              <a:prstGeom prst="rect">
                <a:avLst/>
              </a:prstGeom>
              <a:solidFill>
                <a:srgbClr val="15296B">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sp>
            <p:nvSpPr>
              <p:cNvPr id="44" name="TextBox 43">
                <a:extLst>
                  <a:ext uri="{FF2B5EF4-FFF2-40B4-BE49-F238E27FC236}">
                    <a16:creationId xmlns:a16="http://schemas.microsoft.com/office/drawing/2014/main" id="{D12C48BE-D04F-7B22-4F1F-E1A1B56DDA0C}"/>
                  </a:ext>
                </a:extLst>
              </p:cNvPr>
              <p:cNvSpPr txBox="1"/>
              <p:nvPr/>
            </p:nvSpPr>
            <p:spPr>
              <a:xfrm>
                <a:off x="2344109" y="1469432"/>
                <a:ext cx="548640" cy="470405"/>
              </a:xfrm>
              <a:prstGeom prst="rect">
                <a:avLst/>
              </a:prstGeom>
              <a:noFill/>
            </p:spPr>
            <p:txBody>
              <a:bodyPr wrap="square" lIns="0" tIns="0" rIns="0" bIns="0" anchor="t">
                <a:spAutoFit/>
              </a:bodyPr>
              <a:lstStyle/>
              <a:p>
                <a:pPr marL="0" marR="0" lvl="0" indent="0" algn="ctr" defTabSz="457200" rtl="0" eaLnBrk="1" fontAlgn="auto" latinLnBrk="0" hangingPunct="1">
                  <a:lnSpc>
                    <a:spcPct val="125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Acumin Pro Bold" panose="020B0804020202020204" pitchFamily="34" charset="0"/>
                    <a:ea typeface="Yekan Bakh" pitchFamily="2" charset="-78"/>
                    <a:cs typeface="Yekan Bakh" pitchFamily="2" charset="-78"/>
                  </a:rPr>
                  <a:t>D</a:t>
                </a:r>
                <a:endParaRPr kumimoji="0" sz="2400" b="1" i="0" u="none" strike="noStrike" kern="1200" cap="none" spc="0" normalizeH="0" baseline="0" noProof="0" dirty="0">
                  <a:ln>
                    <a:noFill/>
                  </a:ln>
                  <a:solidFill>
                    <a:prstClr val="white"/>
                  </a:solidFill>
                  <a:effectLst/>
                  <a:uLnTx/>
                  <a:uFillTx/>
                  <a:latin typeface="Acumin Pro Bold" panose="020B0804020202020204" pitchFamily="34" charset="0"/>
                  <a:ea typeface="Yekan Bakh" pitchFamily="2" charset="-78"/>
                  <a:cs typeface="Yekan Bakh" pitchFamily="2" charset="-78"/>
                </a:endParaRPr>
              </a:p>
            </p:txBody>
          </p:sp>
          <p:sp>
            <p:nvSpPr>
              <p:cNvPr id="45" name="TextBox 44">
                <a:extLst>
                  <a:ext uri="{FF2B5EF4-FFF2-40B4-BE49-F238E27FC236}">
                    <a16:creationId xmlns:a16="http://schemas.microsoft.com/office/drawing/2014/main" id="{064675AB-4D19-613D-926A-9577404B0BD7}"/>
                  </a:ext>
                </a:extLst>
              </p:cNvPr>
              <p:cNvSpPr txBox="1"/>
              <p:nvPr/>
            </p:nvSpPr>
            <p:spPr>
              <a:xfrm>
                <a:off x="1539564" y="2191761"/>
                <a:ext cx="2157730" cy="227102"/>
              </a:xfrm>
              <a:prstGeom prst="rect">
                <a:avLst/>
              </a:prstGeom>
              <a:noFill/>
            </p:spPr>
            <p:txBody>
              <a:bodyPr wrap="square" lIns="0" tIns="0" rIns="0" bIns="0" anchor="t">
                <a:spAutoFit/>
              </a:bodyPr>
              <a:lstStyle/>
              <a:p>
                <a:pPr marL="0" marR="0" lvl="0" indent="0" algn="ctr" defTabSz="457200" rtl="0" eaLnBrk="1" fontAlgn="auto" latinLnBrk="0" hangingPunct="1">
                  <a:lnSpc>
                    <a:spcPct val="110000"/>
                  </a:lnSpc>
                  <a:spcBef>
                    <a:spcPts val="0"/>
                  </a:spcBef>
                  <a:spcAft>
                    <a:spcPts val="0"/>
                  </a:spcAft>
                  <a:buClrTx/>
                  <a:buSzTx/>
                  <a:buFontTx/>
                  <a:buNone/>
                  <a:tabLst/>
                  <a:defRPr/>
                </a:pPr>
                <a:r>
                  <a:rPr kumimoji="0" lang="fa-IR" sz="12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مدیریت‌شده + مشارکتی</a:t>
                </a:r>
              </a:p>
            </p:txBody>
          </p:sp>
          <p:sp>
            <p:nvSpPr>
              <p:cNvPr id="46" name="TextBox 45">
                <a:extLst>
                  <a:ext uri="{FF2B5EF4-FFF2-40B4-BE49-F238E27FC236}">
                    <a16:creationId xmlns:a16="http://schemas.microsoft.com/office/drawing/2014/main" id="{82AFC81D-1FC2-350C-3331-20D3A2C4EE27}"/>
                  </a:ext>
                </a:extLst>
              </p:cNvPr>
              <p:cNvSpPr txBox="1"/>
              <p:nvPr/>
            </p:nvSpPr>
            <p:spPr>
              <a:xfrm>
                <a:off x="1539564" y="2598554"/>
                <a:ext cx="2157730" cy="356137"/>
              </a:xfrm>
              <a:prstGeom prst="rect">
                <a:avLst/>
              </a:prstGeom>
              <a:noFill/>
            </p:spPr>
            <p:txBody>
              <a:bodyPr wrap="square" lIns="0" tIns="0" rIns="0" bIns="0" anchor="t">
                <a:spAutoFit/>
              </a:bodyPr>
              <a:lstStyle/>
              <a:p>
                <a:pPr marL="0" marR="0" lvl="0" indent="0" algn="ctr" defTabSz="457200" rtl="0" eaLnBrk="1" fontAlgn="auto" latinLnBrk="0" hangingPunct="1">
                  <a:lnSpc>
                    <a:spcPct val="115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white">
                        <a:lumMod val="95000"/>
                      </a:prstClr>
                    </a:solidFill>
                    <a:effectLst/>
                    <a:uLnTx/>
                    <a:uFillTx/>
                    <a:latin typeface="Yekan Bakh" pitchFamily="2" charset="-78"/>
                    <a:ea typeface="Yekan Bakh" pitchFamily="2" charset="-78"/>
                    <a:cs typeface="Yekan Bakh" pitchFamily="2" charset="-78"/>
                  </a:rPr>
                  <a:t>ارزش بالا × پیچیدگی بالا — هسته پرتفوی</a:t>
                </a:r>
              </a:p>
            </p:txBody>
          </p:sp>
          <p:sp>
            <p:nvSpPr>
              <p:cNvPr id="48" name="Rectangle 47">
                <a:extLst>
                  <a:ext uri="{FF2B5EF4-FFF2-40B4-BE49-F238E27FC236}">
                    <a16:creationId xmlns:a16="http://schemas.microsoft.com/office/drawing/2014/main" id="{E1CA83F9-F442-2443-C86C-353FC5619586}"/>
                  </a:ext>
                </a:extLst>
              </p:cNvPr>
              <p:cNvSpPr/>
              <p:nvPr/>
            </p:nvSpPr>
            <p:spPr>
              <a:xfrm>
                <a:off x="3783033" y="3269208"/>
                <a:ext cx="2157730" cy="1828800"/>
              </a:xfrm>
              <a:prstGeom prst="rect">
                <a:avLst/>
              </a:prstGeom>
              <a:solidFill>
                <a:srgbClr val="EF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sp>
            <p:nvSpPr>
              <p:cNvPr id="49" name="TextBox 48">
                <a:extLst>
                  <a:ext uri="{FF2B5EF4-FFF2-40B4-BE49-F238E27FC236}">
                    <a16:creationId xmlns:a16="http://schemas.microsoft.com/office/drawing/2014/main" id="{DAB6C43A-29DF-B794-6E8A-D2DB641691F3}"/>
                  </a:ext>
                </a:extLst>
              </p:cNvPr>
              <p:cNvSpPr txBox="1"/>
              <p:nvPr/>
            </p:nvSpPr>
            <p:spPr>
              <a:xfrm>
                <a:off x="4587578" y="3395089"/>
                <a:ext cx="548640" cy="470405"/>
              </a:xfrm>
              <a:prstGeom prst="rect">
                <a:avLst/>
              </a:prstGeom>
              <a:noFill/>
            </p:spPr>
            <p:txBody>
              <a:bodyPr wrap="square" lIns="0" tIns="0" rIns="0" bIns="0" anchor="t">
                <a:spAutoFit/>
              </a:bodyPr>
              <a:lstStyle/>
              <a:p>
                <a:pPr marL="0" marR="0" lvl="0" indent="0" algn="ctr" defTabSz="457200" rtl="0" eaLnBrk="1" fontAlgn="auto" latinLnBrk="0" hangingPunct="1">
                  <a:lnSpc>
                    <a:spcPct val="125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5296B"/>
                    </a:solidFill>
                    <a:effectLst/>
                    <a:uLnTx/>
                    <a:uFillTx/>
                    <a:latin typeface="Acumin Pro Bold" panose="020B0804020202020204" pitchFamily="34" charset="0"/>
                    <a:ea typeface="Yekan Bakh" pitchFamily="2" charset="-78"/>
                    <a:cs typeface="Yekan Bakh" pitchFamily="2" charset="-78"/>
                  </a:rPr>
                  <a:t>A</a:t>
                </a:r>
                <a:endParaRPr kumimoji="0" sz="2400" b="1" i="0" u="none" strike="noStrike" kern="1200" cap="none" spc="0" normalizeH="0" baseline="0" noProof="0" dirty="0">
                  <a:ln>
                    <a:noFill/>
                  </a:ln>
                  <a:solidFill>
                    <a:srgbClr val="15296B"/>
                  </a:solidFill>
                  <a:effectLst/>
                  <a:uLnTx/>
                  <a:uFillTx/>
                  <a:latin typeface="Acumin Pro Bold" panose="020B0804020202020204" pitchFamily="34" charset="0"/>
                  <a:ea typeface="Yekan Bakh" pitchFamily="2" charset="-78"/>
                  <a:cs typeface="Yekan Bakh" pitchFamily="2" charset="-78"/>
                </a:endParaRPr>
              </a:p>
            </p:txBody>
          </p:sp>
          <p:sp>
            <p:nvSpPr>
              <p:cNvPr id="50" name="TextBox 49">
                <a:extLst>
                  <a:ext uri="{FF2B5EF4-FFF2-40B4-BE49-F238E27FC236}">
                    <a16:creationId xmlns:a16="http://schemas.microsoft.com/office/drawing/2014/main" id="{CA9235E1-579D-8CA5-E85F-B2BD28C9E7F4}"/>
                  </a:ext>
                </a:extLst>
              </p:cNvPr>
              <p:cNvSpPr txBox="1"/>
              <p:nvPr/>
            </p:nvSpPr>
            <p:spPr>
              <a:xfrm>
                <a:off x="3783033" y="4117418"/>
                <a:ext cx="2157730" cy="227102"/>
              </a:xfrm>
              <a:prstGeom prst="rect">
                <a:avLst/>
              </a:prstGeom>
              <a:noFill/>
            </p:spPr>
            <p:txBody>
              <a:bodyPr wrap="square" lIns="0" tIns="0" rIns="0" bIns="0" anchor="t">
                <a:spAutoFit/>
              </a:bodyPr>
              <a:lstStyle/>
              <a:p>
                <a:pPr marL="0" marR="0" lvl="0" indent="0" algn="ctr" defTabSz="457200" rtl="0" eaLnBrk="1" fontAlgn="auto" latinLnBrk="0" hangingPunct="1">
                  <a:lnSpc>
                    <a:spcPct val="110000"/>
                  </a:lnSpc>
                  <a:spcBef>
                    <a:spcPts val="0"/>
                  </a:spcBef>
                  <a:spcAft>
                    <a:spcPts val="0"/>
                  </a:spcAft>
                  <a:buClrTx/>
                  <a:buSzTx/>
                  <a:buFontTx/>
                  <a:buNone/>
                  <a:tabLst/>
                  <a:defRPr/>
                </a:pPr>
                <a:r>
                  <a:rPr kumimoji="0" lang="fa-IR" sz="1200" b="1" i="0" u="none" strike="noStrike" kern="1200" cap="none" spc="0" normalizeH="0" baseline="0" noProof="0" dirty="0">
                    <a:ln>
                      <a:noFill/>
                    </a:ln>
                    <a:solidFill>
                      <a:srgbClr val="15296B"/>
                    </a:solidFill>
                    <a:effectLst/>
                    <a:uLnTx/>
                    <a:uFillTx/>
                    <a:latin typeface="Yekan Bakh" pitchFamily="2" charset="-78"/>
                    <a:ea typeface="Yekan Bakh" pitchFamily="2" charset="-78"/>
                    <a:cs typeface="Yekan Bakh" pitchFamily="2" charset="-78"/>
                  </a:rPr>
                  <a:t>تراکنشی</a:t>
                </a:r>
              </a:p>
            </p:txBody>
          </p:sp>
          <p:sp>
            <p:nvSpPr>
              <p:cNvPr id="51" name="TextBox 50">
                <a:extLst>
                  <a:ext uri="{FF2B5EF4-FFF2-40B4-BE49-F238E27FC236}">
                    <a16:creationId xmlns:a16="http://schemas.microsoft.com/office/drawing/2014/main" id="{4E58B1FB-0B05-DD84-66AF-FB364ECC7352}"/>
                  </a:ext>
                </a:extLst>
              </p:cNvPr>
              <p:cNvSpPr txBox="1"/>
              <p:nvPr/>
            </p:nvSpPr>
            <p:spPr>
              <a:xfrm>
                <a:off x="3783033" y="4524211"/>
                <a:ext cx="2157730" cy="178068"/>
              </a:xfrm>
              <a:prstGeom prst="rect">
                <a:avLst/>
              </a:prstGeom>
              <a:noFill/>
            </p:spPr>
            <p:txBody>
              <a:bodyPr wrap="square" lIns="0" tIns="0" rIns="0" bIns="0" anchor="t">
                <a:spAutoFit/>
              </a:bodyPr>
              <a:lstStyle/>
              <a:p>
                <a:pPr marL="0" marR="0" lvl="0" indent="0" algn="ctr" defTabSz="457200" rtl="0" eaLnBrk="1" fontAlgn="auto" latinLnBrk="0" hangingPunct="1">
                  <a:lnSpc>
                    <a:spcPct val="115000"/>
                  </a:lnSpc>
                  <a:spcBef>
                    <a:spcPts val="0"/>
                  </a:spcBef>
                  <a:spcAft>
                    <a:spcPts val="0"/>
                  </a:spcAft>
                  <a:buClrTx/>
                  <a:buSzTx/>
                  <a:buFontTx/>
                  <a:buNone/>
                  <a:tabLst/>
                  <a:defRPr/>
                </a:pPr>
                <a:r>
                  <a:rPr kumimoji="0" lang="fa-IR" sz="900" b="0" i="0" u="none" strike="noStrike" kern="1200" cap="none" spc="0" normalizeH="0" baseline="0" noProof="0" dirty="0">
                    <a:ln>
                      <a:noFill/>
                    </a:ln>
                    <a:solidFill>
                      <a:srgbClr val="374151"/>
                    </a:solidFill>
                    <a:effectLst/>
                    <a:uLnTx/>
                    <a:uFillTx/>
                    <a:latin typeface="Yekan Bakh" pitchFamily="2" charset="-78"/>
                    <a:ea typeface="Yekan Bakh" pitchFamily="2" charset="-78"/>
                    <a:cs typeface="Yekan Bakh" pitchFamily="2" charset="-78"/>
                  </a:rPr>
                  <a:t>ارزش پایین × پیچیدگی پایین</a:t>
                </a:r>
              </a:p>
            </p:txBody>
          </p:sp>
          <p:sp>
            <p:nvSpPr>
              <p:cNvPr id="53" name="Rectangle 52">
                <a:extLst>
                  <a:ext uri="{FF2B5EF4-FFF2-40B4-BE49-F238E27FC236}">
                    <a16:creationId xmlns:a16="http://schemas.microsoft.com/office/drawing/2014/main" id="{06FA9502-A275-AD0C-FA5E-E4FB360EB430}"/>
                  </a:ext>
                </a:extLst>
              </p:cNvPr>
              <p:cNvSpPr/>
              <p:nvPr/>
            </p:nvSpPr>
            <p:spPr>
              <a:xfrm>
                <a:off x="1539564" y="3269208"/>
                <a:ext cx="2157730" cy="1828800"/>
              </a:xfrm>
              <a:prstGeom prst="rect">
                <a:avLst/>
              </a:prstGeom>
              <a:solidFill>
                <a:srgbClr val="15296B">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sp>
            <p:nvSpPr>
              <p:cNvPr id="54" name="TextBox 53">
                <a:extLst>
                  <a:ext uri="{FF2B5EF4-FFF2-40B4-BE49-F238E27FC236}">
                    <a16:creationId xmlns:a16="http://schemas.microsoft.com/office/drawing/2014/main" id="{2256D346-F724-41BC-4280-CCE057815768}"/>
                  </a:ext>
                </a:extLst>
              </p:cNvPr>
              <p:cNvSpPr txBox="1"/>
              <p:nvPr/>
            </p:nvSpPr>
            <p:spPr>
              <a:xfrm>
                <a:off x="2344109" y="3395089"/>
                <a:ext cx="548640" cy="470405"/>
              </a:xfrm>
              <a:prstGeom prst="rect">
                <a:avLst/>
              </a:prstGeom>
              <a:noFill/>
            </p:spPr>
            <p:txBody>
              <a:bodyPr wrap="square" lIns="0" tIns="0" rIns="0" bIns="0" anchor="t">
                <a:spAutoFit/>
              </a:bodyPr>
              <a:lstStyle/>
              <a:p>
                <a:pPr marL="0" marR="0" lvl="0" indent="0" algn="ctr" defTabSz="457200" rtl="0" eaLnBrk="1" fontAlgn="auto" latinLnBrk="0" hangingPunct="1">
                  <a:lnSpc>
                    <a:spcPct val="125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5296B"/>
                    </a:solidFill>
                    <a:effectLst/>
                    <a:uLnTx/>
                    <a:uFillTx/>
                    <a:latin typeface="Acumin Pro Bold" panose="020B0804020202020204" pitchFamily="34" charset="0"/>
                    <a:ea typeface="Yekan Bakh" pitchFamily="2" charset="-78"/>
                    <a:cs typeface="Yekan Bakh" pitchFamily="2" charset="-78"/>
                  </a:rPr>
                  <a:t>C</a:t>
                </a:r>
                <a:endParaRPr kumimoji="0" sz="2400" b="1" i="0" u="none" strike="noStrike" kern="1200" cap="none" spc="0" normalizeH="0" baseline="0" noProof="0" dirty="0">
                  <a:ln>
                    <a:noFill/>
                  </a:ln>
                  <a:solidFill>
                    <a:srgbClr val="15296B"/>
                  </a:solidFill>
                  <a:effectLst/>
                  <a:uLnTx/>
                  <a:uFillTx/>
                  <a:latin typeface="Acumin Pro Bold" panose="020B0804020202020204" pitchFamily="34" charset="0"/>
                  <a:ea typeface="Yekan Bakh" pitchFamily="2" charset="-78"/>
                  <a:cs typeface="Yekan Bakh" pitchFamily="2" charset="-78"/>
                </a:endParaRPr>
              </a:p>
            </p:txBody>
          </p:sp>
          <p:sp>
            <p:nvSpPr>
              <p:cNvPr id="55" name="TextBox 54">
                <a:extLst>
                  <a:ext uri="{FF2B5EF4-FFF2-40B4-BE49-F238E27FC236}">
                    <a16:creationId xmlns:a16="http://schemas.microsoft.com/office/drawing/2014/main" id="{1DF31CD7-73DC-BD52-F38E-63410BAC2458}"/>
                  </a:ext>
                </a:extLst>
              </p:cNvPr>
              <p:cNvSpPr txBox="1"/>
              <p:nvPr/>
            </p:nvSpPr>
            <p:spPr>
              <a:xfrm>
                <a:off x="1539564" y="4117418"/>
                <a:ext cx="2157730" cy="227102"/>
              </a:xfrm>
              <a:prstGeom prst="rect">
                <a:avLst/>
              </a:prstGeom>
              <a:noFill/>
            </p:spPr>
            <p:txBody>
              <a:bodyPr wrap="square" lIns="0" tIns="0" rIns="0" bIns="0" anchor="t">
                <a:spAutoFit/>
              </a:bodyPr>
              <a:lstStyle/>
              <a:p>
                <a:pPr marL="0" marR="0" lvl="0" indent="0" algn="ctr" defTabSz="457200" rtl="0" eaLnBrk="1" fontAlgn="auto" latinLnBrk="0" hangingPunct="1">
                  <a:lnSpc>
                    <a:spcPct val="110000"/>
                  </a:lnSpc>
                  <a:spcBef>
                    <a:spcPts val="0"/>
                  </a:spcBef>
                  <a:spcAft>
                    <a:spcPts val="0"/>
                  </a:spcAft>
                  <a:buClrTx/>
                  <a:buSzTx/>
                  <a:buFontTx/>
                  <a:buNone/>
                  <a:tabLst/>
                  <a:defRPr/>
                </a:pPr>
                <a:r>
                  <a:rPr kumimoji="0" lang="fa-IR" sz="1200" b="1" i="0" u="none" strike="noStrike" kern="1200" cap="none" spc="0" normalizeH="0" baseline="0" noProof="0" dirty="0">
                    <a:ln>
                      <a:noFill/>
                    </a:ln>
                    <a:solidFill>
                      <a:srgbClr val="15296B"/>
                    </a:solidFill>
                    <a:effectLst/>
                    <a:uLnTx/>
                    <a:uFillTx/>
                    <a:latin typeface="Yekan Bakh" pitchFamily="2" charset="-78"/>
                    <a:ea typeface="Yekan Bakh" pitchFamily="2" charset="-78"/>
                    <a:cs typeface="Yekan Bakh" pitchFamily="2" charset="-78"/>
                  </a:rPr>
                  <a:t>مشاوره‌ای / محصولی‌شده</a:t>
                </a:r>
              </a:p>
            </p:txBody>
          </p:sp>
          <p:sp>
            <p:nvSpPr>
              <p:cNvPr id="56" name="TextBox 55">
                <a:extLst>
                  <a:ext uri="{FF2B5EF4-FFF2-40B4-BE49-F238E27FC236}">
                    <a16:creationId xmlns:a16="http://schemas.microsoft.com/office/drawing/2014/main" id="{AF3C5863-6638-4FA3-7F3C-985139F0C293}"/>
                  </a:ext>
                </a:extLst>
              </p:cNvPr>
              <p:cNvSpPr txBox="1"/>
              <p:nvPr/>
            </p:nvSpPr>
            <p:spPr>
              <a:xfrm>
                <a:off x="1539564" y="4524211"/>
                <a:ext cx="2157730" cy="178068"/>
              </a:xfrm>
              <a:prstGeom prst="rect">
                <a:avLst/>
              </a:prstGeom>
              <a:noFill/>
            </p:spPr>
            <p:txBody>
              <a:bodyPr wrap="square" lIns="0" tIns="0" rIns="0" bIns="0" anchor="t">
                <a:spAutoFit/>
              </a:bodyPr>
              <a:lstStyle/>
              <a:p>
                <a:pPr marL="0" marR="0" lvl="0" indent="0" algn="ctr" defTabSz="457200" rtl="0" eaLnBrk="1" fontAlgn="auto" latinLnBrk="0" hangingPunct="1">
                  <a:lnSpc>
                    <a:spcPct val="115000"/>
                  </a:lnSpc>
                  <a:spcBef>
                    <a:spcPts val="0"/>
                  </a:spcBef>
                  <a:spcAft>
                    <a:spcPts val="0"/>
                  </a:spcAft>
                  <a:buClrTx/>
                  <a:buSzTx/>
                  <a:buFontTx/>
                  <a:buNone/>
                  <a:tabLst/>
                  <a:defRPr/>
                </a:pPr>
                <a:r>
                  <a:rPr kumimoji="0" lang="fa-IR" sz="900" b="0" i="0" u="none" strike="noStrike" kern="1200" cap="none" spc="0" normalizeH="0" baseline="0" noProof="0" dirty="0">
                    <a:ln>
                      <a:noFill/>
                    </a:ln>
                    <a:solidFill>
                      <a:srgbClr val="374151"/>
                    </a:solidFill>
                    <a:effectLst/>
                    <a:uLnTx/>
                    <a:uFillTx/>
                    <a:latin typeface="Yekan Bakh" pitchFamily="2" charset="-78"/>
                    <a:ea typeface="Yekan Bakh" pitchFamily="2" charset="-78"/>
                    <a:cs typeface="Yekan Bakh" pitchFamily="2" charset="-78"/>
                  </a:rPr>
                  <a:t>ارزش پایین/متوسط × پیچیدگی بالا</a:t>
                </a:r>
              </a:p>
            </p:txBody>
          </p:sp>
        </p:grpSp>
        <p:grpSp>
          <p:nvGrpSpPr>
            <p:cNvPr id="93" name="Group 92">
              <a:extLst>
                <a:ext uri="{FF2B5EF4-FFF2-40B4-BE49-F238E27FC236}">
                  <a16:creationId xmlns:a16="http://schemas.microsoft.com/office/drawing/2014/main" id="{3AC170E3-F3C9-E2E7-672D-6222895A3A28}"/>
                </a:ext>
              </a:extLst>
            </p:cNvPr>
            <p:cNvGrpSpPr/>
            <p:nvPr/>
          </p:nvGrpSpPr>
          <p:grpSpPr>
            <a:xfrm>
              <a:off x="1839868" y="5677478"/>
              <a:ext cx="3336067" cy="383678"/>
              <a:chOff x="1839868" y="5730735"/>
              <a:chExt cx="3336067" cy="383678"/>
            </a:xfrm>
          </p:grpSpPr>
          <p:sp>
            <p:nvSpPr>
              <p:cNvPr id="77" name="TextBox 76"/>
              <p:cNvSpPr txBox="1"/>
              <p:nvPr/>
            </p:nvSpPr>
            <p:spPr>
              <a:xfrm>
                <a:off x="1839868" y="5922501"/>
                <a:ext cx="3336067" cy="191912"/>
              </a:xfrm>
              <a:prstGeom prst="rect">
                <a:avLst/>
              </a:prstGeom>
              <a:noFill/>
            </p:spPr>
            <p:txBody>
              <a:bodyPr wrap="square" lIns="0" tIns="0" rIns="0" bIns="0" anchor="t">
                <a:spAutoFit/>
              </a:bodyPr>
              <a:lstStyle/>
              <a:p>
                <a:pPr marL="0" marR="0" lvl="0" indent="0" algn="ctr" defTabSz="457200" rtl="1" eaLnBrk="1" fontAlgn="auto" latinLnBrk="0" hangingPunct="1">
                  <a:lnSpc>
                    <a:spcPct val="125000"/>
                  </a:lnSpc>
                  <a:spcBef>
                    <a:spcPts val="0"/>
                  </a:spcBef>
                  <a:spcAft>
                    <a:spcPts val="0"/>
                  </a:spcAft>
                  <a:buClrTx/>
                  <a:buSzTx/>
                  <a:buFontTx/>
                  <a:buNone/>
                  <a:tabLst/>
                  <a:defRPr/>
                </a:pPr>
                <a:r>
                  <a:rPr kumimoji="0" lang="fa-IR" sz="1050" b="1" i="0" u="none" strike="noStrike" kern="1200" cap="none" spc="0" normalizeH="0" baseline="0" noProof="0" dirty="0">
                    <a:ln>
                      <a:noFill/>
                    </a:ln>
                    <a:solidFill>
                      <a:srgbClr val="F0BE0F"/>
                    </a:solidFill>
                    <a:effectLst/>
                    <a:uLnTx/>
                    <a:uFillTx/>
                    <a:latin typeface="Yekan Bakh FaNum" pitchFamily="2" charset="-78"/>
                    <a:ea typeface="+mn-ea"/>
                    <a:cs typeface="Yekan Bakh FaNum" pitchFamily="2" charset="-78"/>
                  </a:rPr>
                  <a:t>←  افزایش پیچیدگی نیاز  (محور افقی، از راست به چپ)</a:t>
                </a:r>
              </a:p>
            </p:txBody>
          </p:sp>
          <p:sp>
            <p:nvSpPr>
              <p:cNvPr id="78" name="TextBox 77"/>
              <p:cNvSpPr txBox="1"/>
              <p:nvPr/>
            </p:nvSpPr>
            <p:spPr>
              <a:xfrm>
                <a:off x="1839868" y="5730735"/>
                <a:ext cx="3336066" cy="191912"/>
              </a:xfrm>
              <a:prstGeom prst="rect">
                <a:avLst/>
              </a:prstGeom>
              <a:noFill/>
            </p:spPr>
            <p:txBody>
              <a:bodyPr wrap="square" lIns="0" tIns="0" rIns="0" bIns="0" anchor="t">
                <a:spAutoFit/>
              </a:bodyPr>
              <a:lstStyle/>
              <a:p>
                <a:pPr marL="0" marR="0" lvl="0" indent="0" algn="ctr" defTabSz="457200" rtl="1" eaLnBrk="1" fontAlgn="auto" latinLnBrk="0" hangingPunct="1">
                  <a:lnSpc>
                    <a:spcPct val="125000"/>
                  </a:lnSpc>
                  <a:spcBef>
                    <a:spcPts val="0"/>
                  </a:spcBef>
                  <a:spcAft>
                    <a:spcPts val="0"/>
                  </a:spcAft>
                  <a:buClrTx/>
                  <a:buSzTx/>
                  <a:buFontTx/>
                  <a:buNone/>
                  <a:tabLst/>
                  <a:defRPr/>
                </a:pPr>
                <a:r>
                  <a:rPr kumimoji="0" lang="fa-IR" sz="1050" b="1" i="0" u="none" strike="noStrike" kern="1200" cap="none" spc="0" normalizeH="0" baseline="0" noProof="0" dirty="0">
                    <a:ln>
                      <a:noFill/>
                    </a:ln>
                    <a:solidFill>
                      <a:srgbClr val="F0BE0F"/>
                    </a:solidFill>
                    <a:effectLst/>
                    <a:uLnTx/>
                    <a:uFillTx/>
                    <a:latin typeface="Yekan Bakh FaNum" pitchFamily="2" charset="-78"/>
                    <a:ea typeface="+mn-ea"/>
                    <a:cs typeface="Yekan Bakh FaNum" pitchFamily="2" charset="-78"/>
                  </a:rPr>
                  <a:t>↑  افزایش ارزش بالقوه مشتری  (محور عمودی، از پایین به بالا)</a:t>
                </a:r>
              </a:p>
            </p:txBody>
          </p:sp>
        </p:grpSp>
        <p:grpSp>
          <p:nvGrpSpPr>
            <p:cNvPr id="89" name="Group 88">
              <a:extLst>
                <a:ext uri="{FF2B5EF4-FFF2-40B4-BE49-F238E27FC236}">
                  <a16:creationId xmlns:a16="http://schemas.microsoft.com/office/drawing/2014/main" id="{C6FFAA1E-C862-5DD6-662E-F8B11C948EAD}"/>
                </a:ext>
              </a:extLst>
            </p:cNvPr>
            <p:cNvGrpSpPr/>
            <p:nvPr/>
          </p:nvGrpSpPr>
          <p:grpSpPr>
            <a:xfrm>
              <a:off x="634111" y="1809985"/>
              <a:ext cx="1436109" cy="855932"/>
              <a:chOff x="-566373" y="1743285"/>
              <a:chExt cx="1436109" cy="855932"/>
            </a:xfrm>
          </p:grpSpPr>
          <p:sp>
            <p:nvSpPr>
              <p:cNvPr id="80" name="Rectangle 79">
                <a:extLst>
                  <a:ext uri="{FF2B5EF4-FFF2-40B4-BE49-F238E27FC236}">
                    <a16:creationId xmlns:a16="http://schemas.microsoft.com/office/drawing/2014/main" id="{2EBF3A9B-B39F-E01B-13CC-F513FC31E66C}"/>
                  </a:ext>
                </a:extLst>
              </p:cNvPr>
              <p:cNvSpPr/>
              <p:nvPr/>
            </p:nvSpPr>
            <p:spPr>
              <a:xfrm>
                <a:off x="-534841" y="1743285"/>
                <a:ext cx="1373044" cy="855932"/>
              </a:xfrm>
              <a:prstGeom prst="rect">
                <a:avLst/>
              </a:prstGeom>
              <a:solidFill>
                <a:schemeClr val="bg1">
                  <a:lumMod val="95000"/>
                </a:schemeClr>
              </a:solidFill>
              <a:ln>
                <a:solidFill>
                  <a:srgbClr val="F0BE0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sp>
            <p:nvSpPr>
              <p:cNvPr id="81" name="TextBox 80">
                <a:extLst>
                  <a:ext uri="{FF2B5EF4-FFF2-40B4-BE49-F238E27FC236}">
                    <a16:creationId xmlns:a16="http://schemas.microsoft.com/office/drawing/2014/main" id="{D1DAB6EA-7F8B-B15F-D521-14232828128A}"/>
                  </a:ext>
                </a:extLst>
              </p:cNvPr>
              <p:cNvSpPr txBox="1"/>
              <p:nvPr/>
            </p:nvSpPr>
            <p:spPr>
              <a:xfrm>
                <a:off x="-331031" y="1750391"/>
                <a:ext cx="965424" cy="420756"/>
              </a:xfrm>
              <a:prstGeom prst="rect">
                <a:avLst/>
              </a:prstGeom>
              <a:noFill/>
            </p:spPr>
            <p:txBody>
              <a:bodyPr wrap="square" lIns="0" tIns="0" rIns="0" bIns="0" anchor="t">
                <a:spAutoFit/>
              </a:bodyPr>
              <a:lstStyle/>
              <a:p>
                <a:pPr marL="0" marR="0" lvl="0" indent="0" algn="ctr" defTabSz="457200" rtl="0" eaLnBrk="1" fontAlgn="auto" latinLnBrk="0" hangingPunct="1">
                  <a:lnSpc>
                    <a:spcPct val="125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5296B"/>
                    </a:solidFill>
                    <a:effectLst/>
                    <a:uLnTx/>
                    <a:uFillTx/>
                    <a:latin typeface="Acumin Pro Bold" panose="020B0804020202020204" pitchFamily="34" charset="0"/>
                    <a:ea typeface="Yekan Bakh" pitchFamily="2" charset="-78"/>
                    <a:cs typeface="Yekan Bakh" pitchFamily="2" charset="-78"/>
                  </a:rPr>
                  <a:t>E</a:t>
                </a:r>
                <a:endParaRPr kumimoji="0" sz="2400" b="1" i="0" u="none" strike="noStrike" kern="1200" cap="none" spc="0" normalizeH="0" baseline="0" noProof="0" dirty="0">
                  <a:ln>
                    <a:noFill/>
                  </a:ln>
                  <a:solidFill>
                    <a:srgbClr val="15296B"/>
                  </a:solidFill>
                  <a:effectLst/>
                  <a:uLnTx/>
                  <a:uFillTx/>
                  <a:latin typeface="Acumin Pro Bold" panose="020B0804020202020204" pitchFamily="34" charset="0"/>
                  <a:ea typeface="Yekan Bakh" pitchFamily="2" charset="-78"/>
                  <a:cs typeface="Yekan Bakh" pitchFamily="2" charset="-78"/>
                </a:endParaRPr>
              </a:p>
            </p:txBody>
          </p:sp>
          <p:sp>
            <p:nvSpPr>
              <p:cNvPr id="82" name="TextBox 81">
                <a:extLst>
                  <a:ext uri="{FF2B5EF4-FFF2-40B4-BE49-F238E27FC236}">
                    <a16:creationId xmlns:a16="http://schemas.microsoft.com/office/drawing/2014/main" id="{7025C152-50F7-08DD-623F-8194D0CA6518}"/>
                  </a:ext>
                </a:extLst>
              </p:cNvPr>
              <p:cNvSpPr txBox="1"/>
              <p:nvPr/>
            </p:nvSpPr>
            <p:spPr>
              <a:xfrm>
                <a:off x="-566373" y="2146032"/>
                <a:ext cx="1436109" cy="406265"/>
              </a:xfrm>
              <a:prstGeom prst="rect">
                <a:avLst/>
              </a:prstGeom>
              <a:noFill/>
            </p:spPr>
            <p:txBody>
              <a:bodyPr wrap="square" lIns="0" tIns="0" rIns="0" bIns="0" anchor="t">
                <a:spAutoFit/>
              </a:bodyPr>
              <a:lstStyle/>
              <a:p>
                <a:pPr marL="0" marR="0" lvl="0" indent="0" algn="ctr" defTabSz="457200" rtl="0" eaLnBrk="1" fontAlgn="auto" latinLnBrk="0" hangingPunct="1">
                  <a:lnSpc>
                    <a:spcPct val="110000"/>
                  </a:lnSpc>
                  <a:spcBef>
                    <a:spcPts val="0"/>
                  </a:spcBef>
                  <a:spcAft>
                    <a:spcPts val="0"/>
                  </a:spcAft>
                  <a:buClrTx/>
                  <a:buSzTx/>
                  <a:buFontTx/>
                  <a:buNone/>
                  <a:tabLst/>
                  <a:defRPr/>
                </a:pPr>
                <a:r>
                  <a:rPr kumimoji="0" lang="fa-IR" sz="1200" b="1" i="0" u="none" strike="noStrike" kern="1200" cap="none" spc="0" normalizeH="0" baseline="0" noProof="0" dirty="0">
                    <a:ln>
                      <a:noFill/>
                    </a:ln>
                    <a:solidFill>
                      <a:srgbClr val="15296B"/>
                    </a:solidFill>
                    <a:effectLst/>
                    <a:uLnTx/>
                    <a:uFillTx/>
                    <a:latin typeface="Yekan Bakh" pitchFamily="2" charset="-78"/>
                    <a:ea typeface="Yekan Bakh" pitchFamily="2" charset="-78"/>
                    <a:cs typeface="Yekan Bakh" pitchFamily="2" charset="-78"/>
                  </a:rPr>
                  <a:t>شراکت راهبردی + اکوسیستم</a:t>
                </a:r>
              </a:p>
            </p:txBody>
          </p:sp>
        </p:grpSp>
        <p:sp>
          <p:nvSpPr>
            <p:cNvPr id="86" name="TextBox 85">
              <a:extLst>
                <a:ext uri="{FF2B5EF4-FFF2-40B4-BE49-F238E27FC236}">
                  <a16:creationId xmlns:a16="http://schemas.microsoft.com/office/drawing/2014/main" id="{E65B8616-78B6-D0C2-A77A-34D368EDB1BA}"/>
                </a:ext>
              </a:extLst>
            </p:cNvPr>
            <p:cNvSpPr txBox="1"/>
            <p:nvPr/>
          </p:nvSpPr>
          <p:spPr>
            <a:xfrm>
              <a:off x="2239456" y="1907440"/>
              <a:ext cx="3236784" cy="307777"/>
            </a:xfrm>
            <a:prstGeom prst="rect">
              <a:avLst/>
            </a:prstGeom>
            <a:noFill/>
          </p:spPr>
          <p:txBody>
            <a:bodyPr wrap="square" lIns="0" tIns="0" rIns="0" bIns="0" anchor="t">
              <a:spAutoFit/>
            </a:bodyPr>
            <a:lstStyle/>
            <a:p>
              <a:pPr marL="0" marR="0" lvl="0" indent="0" algn="justLow" defTabSz="457200" rtl="1" eaLnBrk="1" fontAlgn="auto" latinLnBrk="0" hangingPunct="1">
                <a:lnSpc>
                  <a:spcPct val="125000"/>
                </a:lnSpc>
                <a:spcBef>
                  <a:spcPts val="0"/>
                </a:spcBef>
                <a:spcAft>
                  <a:spcPts val="0"/>
                </a:spcAft>
                <a:buClrTx/>
                <a:buSzTx/>
                <a:buFontTx/>
                <a:buNone/>
                <a:tabLst/>
                <a:defRPr/>
              </a:pPr>
              <a:r>
                <a:rPr kumimoji="0" sz="800" b="1" i="0" u="none" strike="noStrike" kern="1200" cap="none" spc="0" normalizeH="0" baseline="0" noProof="0" dirty="0" err="1">
                  <a:ln>
                    <a:noFill/>
                  </a:ln>
                  <a:solidFill>
                    <a:prstClr val="black">
                      <a:lumMod val="50000"/>
                      <a:lumOff val="50000"/>
                    </a:prstClr>
                  </a:solidFill>
                  <a:effectLst/>
                  <a:uLnTx/>
                  <a:uFillTx/>
                  <a:latin typeface="Yekan Bakh FaNum" pitchFamily="2" charset="-78"/>
                  <a:ea typeface="+mn-ea"/>
                  <a:cs typeface="Yekan Bakh FaNum" pitchFamily="2" charset="-78"/>
                </a:rPr>
                <a:t>ناحی</a:t>
              </a:r>
              <a:r>
                <a:rPr kumimoji="0" lang="fa-IR" sz="800" b="1" i="0" u="none" strike="noStrike" kern="1200" cap="none" spc="0" normalizeH="0" baseline="0" noProof="0" dirty="0">
                  <a:ln>
                    <a:noFill/>
                  </a:ln>
                  <a:solidFill>
                    <a:prstClr val="black">
                      <a:lumMod val="50000"/>
                      <a:lumOff val="50000"/>
                    </a:prstClr>
                  </a:solidFill>
                  <a:effectLst/>
                  <a:uLnTx/>
                  <a:uFillTx/>
                  <a:latin typeface="Yekan Bakh FaNum" pitchFamily="2" charset="-78"/>
                  <a:ea typeface="+mn-ea"/>
                  <a:cs typeface="Yekan Bakh FaNum" pitchFamily="2" charset="-78"/>
                </a:rPr>
                <a:t>ه </a:t>
              </a:r>
              <a:r>
                <a:rPr kumimoji="0" sz="800" b="1" i="0" u="none" strike="noStrike" kern="1200" cap="none" spc="0" normalizeH="0" baseline="0" noProof="0" dirty="0">
                  <a:ln>
                    <a:noFill/>
                  </a:ln>
                  <a:solidFill>
                    <a:prstClr val="black">
                      <a:lumMod val="50000"/>
                      <a:lumOff val="50000"/>
                    </a:prstClr>
                  </a:solidFill>
                  <a:effectLst/>
                  <a:uLnTx/>
                  <a:uFillTx/>
                  <a:latin typeface="Yekan Bakh FaNum" pitchFamily="2" charset="-78"/>
                  <a:ea typeface="+mn-ea"/>
                  <a:cs typeface="Yekan Bakh FaNum" pitchFamily="2" charset="-78"/>
                </a:rPr>
                <a:t>E</a:t>
              </a:r>
              <a:r>
                <a:rPr kumimoji="0" lang="fa-IR" sz="800" b="1" i="0" u="none" strike="noStrike" kern="1200" cap="none" spc="0" normalizeH="0" baseline="0" noProof="0" dirty="0">
                  <a:ln>
                    <a:noFill/>
                  </a:ln>
                  <a:solidFill>
                    <a:prstClr val="black">
                      <a:lumMod val="50000"/>
                      <a:lumOff val="50000"/>
                    </a:prstClr>
                  </a:solidFill>
                  <a:effectLst/>
                  <a:uLnTx/>
                  <a:uFillTx/>
                  <a:latin typeface="Yekan Bakh FaNum" pitchFamily="2" charset="-78"/>
                  <a:ea typeface="+mn-ea"/>
                  <a:cs typeface="Yekan Bakh FaNum" pitchFamily="2" charset="-78"/>
                </a:rPr>
                <a:t> </a:t>
              </a:r>
              <a:r>
                <a:rPr kumimoji="0" sz="800" b="1" i="0" u="none" strike="noStrike" kern="1200" cap="none" spc="0" normalizeH="0" baseline="0" noProof="0" dirty="0" err="1">
                  <a:ln>
                    <a:noFill/>
                  </a:ln>
                  <a:solidFill>
                    <a:prstClr val="black">
                      <a:lumMod val="50000"/>
                      <a:lumOff val="50000"/>
                    </a:prstClr>
                  </a:solidFill>
                  <a:effectLst/>
                  <a:uLnTx/>
                  <a:uFillTx/>
                  <a:latin typeface="Yekan Bakh FaNum" pitchFamily="2" charset="-78"/>
                  <a:ea typeface="+mn-ea"/>
                  <a:cs typeface="Yekan Bakh FaNum" pitchFamily="2" charset="-78"/>
                </a:rPr>
                <a:t>روی</a:t>
              </a:r>
              <a:r>
                <a:rPr kumimoji="0" sz="800" b="1" i="0" u="none" strike="noStrike" kern="1200" cap="none" spc="0" normalizeH="0" baseline="0" noProof="0" dirty="0">
                  <a:ln>
                    <a:noFill/>
                  </a:ln>
                  <a:solidFill>
                    <a:prstClr val="black">
                      <a:lumMod val="50000"/>
                      <a:lumOff val="50000"/>
                    </a:prstClr>
                  </a:solidFill>
                  <a:effectLst/>
                  <a:uLnTx/>
                  <a:uFillTx/>
                  <a:latin typeface="Yekan Bakh FaNum" pitchFamily="2" charset="-78"/>
                  <a:ea typeface="+mn-ea"/>
                  <a:cs typeface="Yekan Bakh FaNum" pitchFamily="2" charset="-78"/>
                </a:rPr>
                <a:t> </a:t>
              </a:r>
              <a:r>
                <a:rPr kumimoji="0" sz="800" b="1" i="0" u="none" strike="noStrike" kern="1200" cap="none" spc="0" normalizeH="0" baseline="0" noProof="0" dirty="0" err="1">
                  <a:ln>
                    <a:noFill/>
                  </a:ln>
                  <a:solidFill>
                    <a:prstClr val="black">
                      <a:lumMod val="50000"/>
                      <a:lumOff val="50000"/>
                    </a:prstClr>
                  </a:solidFill>
                  <a:effectLst/>
                  <a:uLnTx/>
                  <a:uFillTx/>
                  <a:latin typeface="Yekan Bakh FaNum" pitchFamily="2" charset="-78"/>
                  <a:ea typeface="+mn-ea"/>
                  <a:cs typeface="Yekan Bakh FaNum" pitchFamily="2" charset="-78"/>
                </a:rPr>
                <a:t>بالاترین</a:t>
              </a:r>
              <a:r>
                <a:rPr kumimoji="0" sz="800" b="1" i="0" u="none" strike="noStrike" kern="1200" cap="none" spc="0" normalizeH="0" baseline="0" noProof="0" dirty="0">
                  <a:ln>
                    <a:noFill/>
                  </a:ln>
                  <a:solidFill>
                    <a:prstClr val="black">
                      <a:lumMod val="50000"/>
                      <a:lumOff val="50000"/>
                    </a:prstClr>
                  </a:solidFill>
                  <a:effectLst/>
                  <a:uLnTx/>
                  <a:uFillTx/>
                  <a:latin typeface="Yekan Bakh FaNum" pitchFamily="2" charset="-78"/>
                  <a:ea typeface="+mn-ea"/>
                  <a:cs typeface="Yekan Bakh FaNum" pitchFamily="2" charset="-78"/>
                </a:rPr>
                <a:t> </a:t>
              </a:r>
              <a:r>
                <a:rPr kumimoji="0" sz="800" b="1" i="0" u="none" strike="noStrike" kern="1200" cap="none" spc="0" normalizeH="0" baseline="0" noProof="0" dirty="0" err="1">
                  <a:ln>
                    <a:noFill/>
                  </a:ln>
                  <a:solidFill>
                    <a:prstClr val="black">
                      <a:lumMod val="50000"/>
                      <a:lumOff val="50000"/>
                    </a:prstClr>
                  </a:solidFill>
                  <a:effectLst/>
                  <a:uLnTx/>
                  <a:uFillTx/>
                  <a:latin typeface="Yekan Bakh FaNum" pitchFamily="2" charset="-78"/>
                  <a:ea typeface="+mn-ea"/>
                  <a:cs typeface="Yekan Bakh FaNum" pitchFamily="2" charset="-78"/>
                </a:rPr>
                <a:t>گوشه</a:t>
              </a:r>
              <a:r>
                <a:rPr kumimoji="0" sz="800" b="1" i="0" u="none" strike="noStrike" kern="1200" cap="none" spc="0" normalizeH="0" baseline="0" noProof="0" dirty="0">
                  <a:ln>
                    <a:noFill/>
                  </a:ln>
                  <a:solidFill>
                    <a:prstClr val="black">
                      <a:lumMod val="50000"/>
                      <a:lumOff val="50000"/>
                    </a:prstClr>
                  </a:solidFill>
                  <a:effectLst/>
                  <a:uLnTx/>
                  <a:uFillTx/>
                  <a:latin typeface="Yekan Bakh FaNum" pitchFamily="2" charset="-78"/>
                  <a:ea typeface="+mn-ea"/>
                  <a:cs typeface="Yekan Bakh FaNum" pitchFamily="2" charset="-78"/>
                </a:rPr>
                <a:t> </a:t>
              </a:r>
              <a:r>
                <a:rPr kumimoji="0" sz="800" b="1" i="0" u="none" strike="noStrike" kern="1200" cap="none" spc="0" normalizeH="0" baseline="0" noProof="0" dirty="0" err="1">
                  <a:ln>
                    <a:noFill/>
                  </a:ln>
                  <a:solidFill>
                    <a:prstClr val="black">
                      <a:lumMod val="50000"/>
                      <a:lumOff val="50000"/>
                    </a:prstClr>
                  </a:solidFill>
                  <a:effectLst/>
                  <a:uLnTx/>
                  <a:uFillTx/>
                  <a:latin typeface="Yekan Bakh FaNum" pitchFamily="2" charset="-78"/>
                  <a:ea typeface="+mn-ea"/>
                  <a:cs typeface="Yekan Bakh FaNum" pitchFamily="2" charset="-78"/>
                </a:rPr>
                <a:t>ماتریس</a:t>
              </a:r>
              <a:r>
                <a:rPr kumimoji="0" sz="800" b="1" i="0" u="none" strike="noStrike" kern="1200" cap="none" spc="0" normalizeH="0" baseline="0" noProof="0" dirty="0">
                  <a:ln>
                    <a:noFill/>
                  </a:ln>
                  <a:solidFill>
                    <a:prstClr val="black">
                      <a:lumMod val="50000"/>
                      <a:lumOff val="50000"/>
                    </a:prstClr>
                  </a:solidFill>
                  <a:effectLst/>
                  <a:uLnTx/>
                  <a:uFillTx/>
                  <a:latin typeface="Yekan Bakh FaNum" pitchFamily="2" charset="-78"/>
                  <a:ea typeface="+mn-ea"/>
                  <a:cs typeface="Yekan Bakh FaNum" pitchFamily="2" charset="-78"/>
                </a:rPr>
                <a:t> </a:t>
              </a:r>
              <a:r>
                <a:rPr kumimoji="0" sz="800" b="1" i="0" u="none" strike="noStrike" kern="1200" cap="none" spc="0" normalizeH="0" baseline="0" noProof="0" dirty="0" err="1">
                  <a:ln>
                    <a:noFill/>
                  </a:ln>
                  <a:solidFill>
                    <a:prstClr val="black">
                      <a:lumMod val="50000"/>
                      <a:lumOff val="50000"/>
                    </a:prstClr>
                  </a:solidFill>
                  <a:effectLst/>
                  <a:uLnTx/>
                  <a:uFillTx/>
                  <a:latin typeface="Yekan Bakh FaNum" pitchFamily="2" charset="-78"/>
                  <a:ea typeface="+mn-ea"/>
                  <a:cs typeface="Yekan Bakh FaNum" pitchFamily="2" charset="-78"/>
                </a:rPr>
                <a:t>اصلی</a:t>
              </a:r>
              <a:r>
                <a:rPr kumimoji="0" sz="800" b="1" i="0" u="none" strike="noStrike" kern="1200" cap="none" spc="0" normalizeH="0" baseline="0" noProof="0" dirty="0">
                  <a:ln>
                    <a:noFill/>
                  </a:ln>
                  <a:solidFill>
                    <a:prstClr val="black">
                      <a:lumMod val="50000"/>
                      <a:lumOff val="50000"/>
                    </a:prstClr>
                  </a:solidFill>
                  <a:effectLst/>
                  <a:uLnTx/>
                  <a:uFillTx/>
                  <a:latin typeface="Yekan Bakh FaNum" pitchFamily="2" charset="-78"/>
                  <a:ea typeface="+mn-ea"/>
                  <a:cs typeface="Yekan Bakh FaNum" pitchFamily="2" charset="-78"/>
                </a:rPr>
                <a:t> </a:t>
              </a:r>
              <a:r>
                <a:rPr kumimoji="0" sz="800" b="1" i="0" u="none" strike="noStrike" kern="1200" cap="none" spc="0" normalizeH="0" baseline="0" noProof="0" dirty="0" err="1">
                  <a:ln>
                    <a:noFill/>
                  </a:ln>
                  <a:solidFill>
                    <a:prstClr val="black">
                      <a:lumMod val="50000"/>
                      <a:lumOff val="50000"/>
                    </a:prstClr>
                  </a:solidFill>
                  <a:effectLst/>
                  <a:uLnTx/>
                  <a:uFillTx/>
                  <a:latin typeface="Yekan Bakh FaNum" pitchFamily="2" charset="-78"/>
                  <a:ea typeface="+mn-ea"/>
                  <a:cs typeface="Yekan Bakh FaNum" pitchFamily="2" charset="-78"/>
                </a:rPr>
                <a:t>سوار</a:t>
              </a:r>
              <a:r>
                <a:rPr kumimoji="0" sz="800" b="1" i="0" u="none" strike="noStrike" kern="1200" cap="none" spc="0" normalizeH="0" baseline="0" noProof="0" dirty="0">
                  <a:ln>
                    <a:noFill/>
                  </a:ln>
                  <a:solidFill>
                    <a:prstClr val="black">
                      <a:lumMod val="50000"/>
                      <a:lumOff val="50000"/>
                    </a:prstClr>
                  </a:solidFill>
                  <a:effectLst/>
                  <a:uLnTx/>
                  <a:uFillTx/>
                  <a:latin typeface="Yekan Bakh FaNum" pitchFamily="2" charset="-78"/>
                  <a:ea typeface="+mn-ea"/>
                  <a:cs typeface="Yekan Bakh FaNum" pitchFamily="2" charset="-78"/>
                </a:rPr>
                <a:t> </a:t>
              </a:r>
              <a:r>
                <a:rPr kumimoji="0" sz="800" b="1" i="0" u="none" strike="noStrike" kern="1200" cap="none" spc="0" normalizeH="0" baseline="0" noProof="0" dirty="0" err="1">
                  <a:ln>
                    <a:noFill/>
                  </a:ln>
                  <a:solidFill>
                    <a:prstClr val="black">
                      <a:lumMod val="50000"/>
                      <a:lumOff val="50000"/>
                    </a:prstClr>
                  </a:solidFill>
                  <a:effectLst/>
                  <a:uLnTx/>
                  <a:uFillTx/>
                  <a:latin typeface="Yekan Bakh FaNum" pitchFamily="2" charset="-78"/>
                  <a:ea typeface="+mn-ea"/>
                  <a:cs typeface="Yekan Bakh FaNum" pitchFamily="2" charset="-78"/>
                </a:rPr>
                <a:t>می‌شود</a:t>
              </a:r>
              <a:r>
                <a:rPr kumimoji="0" sz="800" b="1" i="0" u="none" strike="noStrike" kern="1200" cap="none" spc="0" normalizeH="0" baseline="0" noProof="0" dirty="0">
                  <a:ln>
                    <a:noFill/>
                  </a:ln>
                  <a:solidFill>
                    <a:prstClr val="black">
                      <a:lumMod val="50000"/>
                      <a:lumOff val="50000"/>
                    </a:prstClr>
                  </a:solidFill>
                  <a:effectLst/>
                  <a:uLnTx/>
                  <a:uFillTx/>
                  <a:latin typeface="Yekan Bakh FaNum" pitchFamily="2" charset="-78"/>
                  <a:ea typeface="+mn-ea"/>
                  <a:cs typeface="Yekan Bakh FaNum" pitchFamily="2" charset="-78"/>
                </a:rPr>
                <a:t>؛ </a:t>
              </a:r>
              <a:r>
                <a:rPr kumimoji="0" sz="800" b="1" i="0" u="none" strike="noStrike" kern="1200" cap="none" spc="0" normalizeH="0" baseline="0" noProof="0" dirty="0" err="1">
                  <a:ln>
                    <a:noFill/>
                  </a:ln>
                  <a:solidFill>
                    <a:prstClr val="black">
                      <a:lumMod val="50000"/>
                      <a:lumOff val="50000"/>
                    </a:prstClr>
                  </a:solidFill>
                  <a:effectLst/>
                  <a:uLnTx/>
                  <a:uFillTx/>
                  <a:latin typeface="Yekan Bakh FaNum" pitchFamily="2" charset="-78"/>
                  <a:ea typeface="+mn-ea"/>
                  <a:cs typeface="Yekan Bakh FaNum" pitchFamily="2" charset="-78"/>
                </a:rPr>
                <a:t>مرز</a:t>
              </a:r>
              <a:r>
                <a:rPr kumimoji="0" sz="800" b="1" i="0" u="none" strike="noStrike" kern="1200" cap="none" spc="0" normalizeH="0" baseline="0" noProof="0" dirty="0">
                  <a:ln>
                    <a:noFill/>
                  </a:ln>
                  <a:solidFill>
                    <a:prstClr val="black">
                      <a:lumMod val="50000"/>
                      <a:lumOff val="50000"/>
                    </a:prstClr>
                  </a:solidFill>
                  <a:effectLst/>
                  <a:uLnTx/>
                  <a:uFillTx/>
                  <a:latin typeface="Yekan Bakh FaNum" pitchFamily="2" charset="-78"/>
                  <a:ea typeface="+mn-ea"/>
                  <a:cs typeface="Yekan Bakh FaNum" pitchFamily="2" charset="-78"/>
                </a:rPr>
                <a:t> </a:t>
              </a:r>
              <a:r>
                <a:rPr kumimoji="0" sz="800" b="1" i="0" u="none" strike="noStrike" kern="1200" cap="none" spc="0" normalizeH="0" baseline="0" noProof="0" dirty="0" err="1">
                  <a:ln>
                    <a:noFill/>
                  </a:ln>
                  <a:solidFill>
                    <a:prstClr val="black">
                      <a:lumMod val="50000"/>
                      <a:lumOff val="50000"/>
                    </a:prstClr>
                  </a:solidFill>
                  <a:effectLst/>
                  <a:uLnTx/>
                  <a:uFillTx/>
                  <a:latin typeface="Yekan Bakh FaNum" pitchFamily="2" charset="-78"/>
                  <a:ea typeface="+mn-ea"/>
                  <a:cs typeface="Yekan Bakh FaNum" pitchFamily="2" charset="-78"/>
                </a:rPr>
                <a:t>آن</a:t>
              </a:r>
              <a:r>
                <a:rPr kumimoji="0" sz="800" b="1" i="0" u="none" strike="noStrike" kern="1200" cap="none" spc="0" normalizeH="0" baseline="0" noProof="0" dirty="0">
                  <a:ln>
                    <a:noFill/>
                  </a:ln>
                  <a:solidFill>
                    <a:prstClr val="black">
                      <a:lumMod val="50000"/>
                      <a:lumOff val="50000"/>
                    </a:prstClr>
                  </a:solidFill>
                  <a:effectLst/>
                  <a:uLnTx/>
                  <a:uFillTx/>
                  <a:latin typeface="Yekan Bakh FaNum" pitchFamily="2" charset="-78"/>
                  <a:ea typeface="+mn-ea"/>
                  <a:cs typeface="Yekan Bakh FaNum" pitchFamily="2" charset="-78"/>
                </a:rPr>
                <a:t> </a:t>
              </a:r>
              <a:r>
                <a:rPr kumimoji="0" sz="800" b="1" i="0" u="none" strike="noStrike" kern="1200" cap="none" spc="0" normalizeH="0" baseline="0" noProof="0" dirty="0" err="1">
                  <a:ln>
                    <a:noFill/>
                  </a:ln>
                  <a:solidFill>
                    <a:prstClr val="black">
                      <a:lumMod val="50000"/>
                      <a:lumOff val="50000"/>
                    </a:prstClr>
                  </a:solidFill>
                  <a:effectLst/>
                  <a:uLnTx/>
                  <a:uFillTx/>
                  <a:latin typeface="Yekan Bakh FaNum" pitchFamily="2" charset="-78"/>
                  <a:ea typeface="+mn-ea"/>
                  <a:cs typeface="Yekan Bakh FaNum" pitchFamily="2" charset="-78"/>
                </a:rPr>
                <a:t>با</a:t>
              </a:r>
              <a:r>
                <a:rPr kumimoji="0" sz="800" b="1" i="0" u="none" strike="noStrike" kern="1200" cap="none" spc="0" normalizeH="0" baseline="0" noProof="0" dirty="0">
                  <a:ln>
                    <a:noFill/>
                  </a:ln>
                  <a:solidFill>
                    <a:prstClr val="black">
                      <a:lumMod val="50000"/>
                      <a:lumOff val="50000"/>
                    </a:prstClr>
                  </a:solidFill>
                  <a:effectLst/>
                  <a:uLnTx/>
                  <a:uFillTx/>
                  <a:latin typeface="Yekan Bakh FaNum" pitchFamily="2" charset="-78"/>
                  <a:ea typeface="+mn-ea"/>
                  <a:cs typeface="Yekan Bakh FaNum" pitchFamily="2" charset="-78"/>
                </a:rPr>
                <a:t> </a:t>
              </a:r>
              <a:r>
                <a:rPr kumimoji="0" sz="800" b="1" i="0" u="none" strike="noStrike" kern="1200" cap="none" spc="0" normalizeH="0" baseline="0" noProof="0" dirty="0" err="1">
                  <a:ln>
                    <a:noFill/>
                  </a:ln>
                  <a:solidFill>
                    <a:prstClr val="black">
                      <a:lumMod val="50000"/>
                      <a:lumOff val="50000"/>
                    </a:prstClr>
                  </a:solidFill>
                  <a:effectLst/>
                  <a:uLnTx/>
                  <a:uFillTx/>
                  <a:latin typeface="Yekan Bakh FaNum" pitchFamily="2" charset="-78"/>
                  <a:ea typeface="+mn-ea"/>
                  <a:cs typeface="Yekan Bakh FaNum" pitchFamily="2" charset="-78"/>
                </a:rPr>
                <a:t>ناحی</a:t>
              </a:r>
              <a:r>
                <a:rPr kumimoji="0" lang="fa-IR" sz="800" b="1" i="0" u="none" strike="noStrike" kern="1200" cap="none" spc="0" normalizeH="0" baseline="0" noProof="0" dirty="0">
                  <a:ln>
                    <a:noFill/>
                  </a:ln>
                  <a:solidFill>
                    <a:prstClr val="black">
                      <a:lumMod val="50000"/>
                      <a:lumOff val="50000"/>
                    </a:prstClr>
                  </a:solidFill>
                  <a:effectLst/>
                  <a:uLnTx/>
                  <a:uFillTx/>
                  <a:latin typeface="Yekan Bakh FaNum" pitchFamily="2" charset="-78"/>
                  <a:ea typeface="+mn-ea"/>
                  <a:cs typeface="Yekan Bakh FaNum" pitchFamily="2" charset="-78"/>
                </a:rPr>
                <a:t>ه </a:t>
              </a:r>
              <a:r>
                <a:rPr kumimoji="0" sz="800" b="1" i="0" u="none" strike="noStrike" kern="1200" cap="none" spc="0" normalizeH="0" baseline="0" noProof="0" dirty="0">
                  <a:ln>
                    <a:noFill/>
                  </a:ln>
                  <a:solidFill>
                    <a:prstClr val="black">
                      <a:lumMod val="50000"/>
                      <a:lumOff val="50000"/>
                    </a:prstClr>
                  </a:solidFill>
                  <a:effectLst/>
                  <a:uLnTx/>
                  <a:uFillTx/>
                  <a:latin typeface="Yekan Bakh FaNum" pitchFamily="2" charset="-78"/>
                  <a:ea typeface="+mn-ea"/>
                  <a:cs typeface="Yekan Bakh FaNum" pitchFamily="2" charset="-78"/>
                </a:rPr>
                <a:t>D</a:t>
              </a:r>
              <a:r>
                <a:rPr kumimoji="0" lang="fa-IR" sz="800" b="1" i="0" u="none" strike="noStrike" kern="1200" cap="none" spc="0" normalizeH="0" baseline="0" noProof="0" dirty="0">
                  <a:ln>
                    <a:noFill/>
                  </a:ln>
                  <a:solidFill>
                    <a:prstClr val="black">
                      <a:lumMod val="50000"/>
                      <a:lumOff val="50000"/>
                    </a:prstClr>
                  </a:solidFill>
                  <a:effectLst/>
                  <a:uLnTx/>
                  <a:uFillTx/>
                  <a:latin typeface="Yekan Bakh FaNum" pitchFamily="2" charset="-78"/>
                  <a:ea typeface="+mn-ea"/>
                  <a:cs typeface="Yekan Bakh FaNum" pitchFamily="2" charset="-78"/>
                </a:rPr>
                <a:t> </a:t>
              </a:r>
              <a:r>
                <a:rPr kumimoji="0" sz="800" b="1" i="0" u="none" strike="noStrike" kern="1200" cap="none" spc="0" normalizeH="0" baseline="0" noProof="0" dirty="0" err="1">
                  <a:ln>
                    <a:noFill/>
                  </a:ln>
                  <a:solidFill>
                    <a:prstClr val="black">
                      <a:lumMod val="50000"/>
                      <a:lumOff val="50000"/>
                    </a:prstClr>
                  </a:solidFill>
                  <a:effectLst/>
                  <a:uLnTx/>
                  <a:uFillTx/>
                  <a:latin typeface="Yekan Bakh FaNum" pitchFamily="2" charset="-78"/>
                  <a:ea typeface="+mn-ea"/>
                  <a:cs typeface="Yekan Bakh FaNum" pitchFamily="2" charset="-78"/>
                </a:rPr>
                <a:t>قطعی</a:t>
              </a:r>
              <a:r>
                <a:rPr kumimoji="0" sz="800" b="1" i="0" u="none" strike="noStrike" kern="1200" cap="none" spc="0" normalizeH="0" baseline="0" noProof="0" dirty="0">
                  <a:ln>
                    <a:noFill/>
                  </a:ln>
                  <a:solidFill>
                    <a:prstClr val="black">
                      <a:lumMod val="50000"/>
                      <a:lumOff val="50000"/>
                    </a:prstClr>
                  </a:solidFill>
                  <a:effectLst/>
                  <a:uLnTx/>
                  <a:uFillTx/>
                  <a:latin typeface="Yekan Bakh FaNum" pitchFamily="2" charset="-78"/>
                  <a:ea typeface="+mn-ea"/>
                  <a:cs typeface="Yekan Bakh FaNum" pitchFamily="2" charset="-78"/>
                </a:rPr>
                <a:t> </a:t>
              </a:r>
              <a:r>
                <a:rPr kumimoji="0" sz="800" b="1" i="0" u="none" strike="noStrike" kern="1200" cap="none" spc="0" normalizeH="0" baseline="0" noProof="0" dirty="0" err="1">
                  <a:ln>
                    <a:noFill/>
                  </a:ln>
                  <a:solidFill>
                    <a:prstClr val="black">
                      <a:lumMod val="50000"/>
                      <a:lumOff val="50000"/>
                    </a:prstClr>
                  </a:solidFill>
                  <a:effectLst/>
                  <a:uLnTx/>
                  <a:uFillTx/>
                  <a:latin typeface="Yekan Bakh FaNum" pitchFamily="2" charset="-78"/>
                  <a:ea typeface="+mn-ea"/>
                  <a:cs typeface="Yekan Bakh FaNum" pitchFamily="2" charset="-78"/>
                </a:rPr>
                <a:t>نیست</a:t>
              </a:r>
              <a:r>
                <a:rPr kumimoji="0" sz="800" b="1" i="0" u="none" strike="noStrike" kern="1200" cap="none" spc="0" normalizeH="0" baseline="0" noProof="0" dirty="0">
                  <a:ln>
                    <a:noFill/>
                  </a:ln>
                  <a:solidFill>
                    <a:prstClr val="black">
                      <a:lumMod val="50000"/>
                      <a:lumOff val="50000"/>
                    </a:prstClr>
                  </a:solidFill>
                  <a:effectLst/>
                  <a:uLnTx/>
                  <a:uFillTx/>
                  <a:latin typeface="Yekan Bakh FaNum" pitchFamily="2" charset="-78"/>
                  <a:ea typeface="+mn-ea"/>
                  <a:cs typeface="Yekan Bakh FaNum" pitchFamily="2" charset="-78"/>
                </a:rPr>
                <a:t> و </a:t>
              </a:r>
              <a:r>
                <a:rPr kumimoji="0" sz="800" b="1" i="0" u="none" strike="noStrike" kern="1200" cap="none" spc="0" normalizeH="0" baseline="0" noProof="0" dirty="0" err="1">
                  <a:ln>
                    <a:noFill/>
                  </a:ln>
                  <a:solidFill>
                    <a:prstClr val="black">
                      <a:lumMod val="50000"/>
                      <a:lumOff val="50000"/>
                    </a:prstClr>
                  </a:solidFill>
                  <a:effectLst/>
                  <a:uLnTx/>
                  <a:uFillTx/>
                  <a:latin typeface="Yekan Bakh FaNum" pitchFamily="2" charset="-78"/>
                  <a:ea typeface="+mn-ea"/>
                  <a:cs typeface="Yekan Bakh FaNum" pitchFamily="2" charset="-78"/>
                </a:rPr>
                <a:t>به</a:t>
              </a:r>
              <a:r>
                <a:rPr kumimoji="0" sz="800" b="1" i="0" u="none" strike="noStrike" kern="1200" cap="none" spc="0" normalizeH="0" baseline="0" noProof="0" dirty="0">
                  <a:ln>
                    <a:noFill/>
                  </a:ln>
                  <a:solidFill>
                    <a:prstClr val="black">
                      <a:lumMod val="50000"/>
                      <a:lumOff val="50000"/>
                    </a:prstClr>
                  </a:solidFill>
                  <a:effectLst/>
                  <a:uLnTx/>
                  <a:uFillTx/>
                  <a:latin typeface="Yekan Bakh FaNum" pitchFamily="2" charset="-78"/>
                  <a:ea typeface="+mn-ea"/>
                  <a:cs typeface="Yekan Bakh FaNum" pitchFamily="2" charset="-78"/>
                </a:rPr>
                <a:t> </a:t>
              </a:r>
              <a:r>
                <a:rPr kumimoji="0" sz="800" b="1" i="0" u="none" strike="noStrike" kern="1200" cap="none" spc="0" normalizeH="0" baseline="0" noProof="0" dirty="0" err="1">
                  <a:ln>
                    <a:noFill/>
                  </a:ln>
                  <a:solidFill>
                    <a:prstClr val="black">
                      <a:lumMod val="50000"/>
                      <a:lumOff val="50000"/>
                    </a:prstClr>
                  </a:solidFill>
                  <a:effectLst/>
                  <a:uLnTx/>
                  <a:uFillTx/>
                  <a:latin typeface="Yekan Bakh FaNum" pitchFamily="2" charset="-78"/>
                  <a:ea typeface="+mn-ea"/>
                  <a:cs typeface="Yekan Bakh FaNum" pitchFamily="2" charset="-78"/>
                </a:rPr>
                <a:t>تشخیص</a:t>
              </a:r>
              <a:r>
                <a:rPr kumimoji="0" sz="800" b="1" i="0" u="none" strike="noStrike" kern="1200" cap="none" spc="0" normalizeH="0" baseline="0" noProof="0" dirty="0">
                  <a:ln>
                    <a:noFill/>
                  </a:ln>
                  <a:solidFill>
                    <a:prstClr val="black">
                      <a:lumMod val="50000"/>
                      <a:lumOff val="50000"/>
                    </a:prstClr>
                  </a:solidFill>
                  <a:effectLst/>
                  <a:uLnTx/>
                  <a:uFillTx/>
                  <a:latin typeface="Yekan Bakh FaNum" pitchFamily="2" charset="-78"/>
                  <a:ea typeface="+mn-ea"/>
                  <a:cs typeface="Yekan Bakh FaNum" pitchFamily="2" charset="-78"/>
                </a:rPr>
                <a:t> </a:t>
              </a:r>
              <a:r>
                <a:rPr kumimoji="0" sz="800" b="1" i="0" u="none" strike="noStrike" kern="1200" cap="none" spc="0" normalizeH="0" baseline="0" noProof="0" dirty="0" err="1">
                  <a:ln>
                    <a:noFill/>
                  </a:ln>
                  <a:solidFill>
                    <a:prstClr val="black">
                      <a:lumMod val="50000"/>
                      <a:lumOff val="50000"/>
                    </a:prstClr>
                  </a:solidFill>
                  <a:effectLst/>
                  <a:uLnTx/>
                  <a:uFillTx/>
                  <a:latin typeface="Yekan Bakh FaNum" pitchFamily="2" charset="-78"/>
                  <a:ea typeface="+mn-ea"/>
                  <a:cs typeface="Yekan Bakh FaNum" pitchFamily="2" charset="-78"/>
                </a:rPr>
                <a:t>مدیریتی</a:t>
              </a:r>
              <a:r>
                <a:rPr kumimoji="0" sz="800" b="1" i="0" u="none" strike="noStrike" kern="1200" cap="none" spc="0" normalizeH="0" baseline="0" noProof="0" dirty="0">
                  <a:ln>
                    <a:noFill/>
                  </a:ln>
                  <a:solidFill>
                    <a:prstClr val="black">
                      <a:lumMod val="50000"/>
                      <a:lumOff val="50000"/>
                    </a:prstClr>
                  </a:solidFill>
                  <a:effectLst/>
                  <a:uLnTx/>
                  <a:uFillTx/>
                  <a:latin typeface="Yekan Bakh FaNum" pitchFamily="2" charset="-78"/>
                  <a:ea typeface="+mn-ea"/>
                  <a:cs typeface="Yekan Bakh FaNum" pitchFamily="2" charset="-78"/>
                </a:rPr>
                <a:t> </a:t>
              </a:r>
              <a:r>
                <a:rPr kumimoji="0" sz="800" b="1" i="0" u="none" strike="noStrike" kern="1200" cap="none" spc="0" normalizeH="0" baseline="0" noProof="0" dirty="0" err="1">
                  <a:ln>
                    <a:noFill/>
                  </a:ln>
                  <a:solidFill>
                    <a:prstClr val="black">
                      <a:lumMod val="50000"/>
                      <a:lumOff val="50000"/>
                    </a:prstClr>
                  </a:solidFill>
                  <a:effectLst/>
                  <a:uLnTx/>
                  <a:uFillTx/>
                  <a:latin typeface="Yekan Bakh FaNum" pitchFamily="2" charset="-78"/>
                  <a:ea typeface="+mn-ea"/>
                  <a:cs typeface="Yekan Bakh FaNum" pitchFamily="2" charset="-78"/>
                </a:rPr>
                <a:t>نیاز</a:t>
              </a:r>
              <a:r>
                <a:rPr kumimoji="0" sz="800" b="1" i="0" u="none" strike="noStrike" kern="1200" cap="none" spc="0" normalizeH="0" baseline="0" noProof="0" dirty="0">
                  <a:ln>
                    <a:noFill/>
                  </a:ln>
                  <a:solidFill>
                    <a:prstClr val="black">
                      <a:lumMod val="50000"/>
                      <a:lumOff val="50000"/>
                    </a:prstClr>
                  </a:solidFill>
                  <a:effectLst/>
                  <a:uLnTx/>
                  <a:uFillTx/>
                  <a:latin typeface="Yekan Bakh FaNum" pitchFamily="2" charset="-78"/>
                  <a:ea typeface="+mn-ea"/>
                  <a:cs typeface="Yekan Bakh FaNum" pitchFamily="2" charset="-78"/>
                </a:rPr>
                <a:t> </a:t>
              </a:r>
              <a:r>
                <a:rPr kumimoji="0" sz="800" b="1" i="0" u="none" strike="noStrike" kern="1200" cap="none" spc="0" normalizeH="0" baseline="0" noProof="0" dirty="0" err="1">
                  <a:ln>
                    <a:noFill/>
                  </a:ln>
                  <a:solidFill>
                    <a:prstClr val="black">
                      <a:lumMod val="50000"/>
                      <a:lumOff val="50000"/>
                    </a:prstClr>
                  </a:solidFill>
                  <a:effectLst/>
                  <a:uLnTx/>
                  <a:uFillTx/>
                  <a:latin typeface="Yekan Bakh FaNum" pitchFamily="2" charset="-78"/>
                  <a:ea typeface="+mn-ea"/>
                  <a:cs typeface="Yekan Bakh FaNum" pitchFamily="2" charset="-78"/>
                </a:rPr>
                <a:t>دارد</a:t>
              </a:r>
              <a:r>
                <a:rPr kumimoji="0" sz="800" b="1" i="0" u="none" strike="noStrike" kern="1200" cap="none" spc="0" normalizeH="0" baseline="0" noProof="0" dirty="0">
                  <a:ln>
                    <a:noFill/>
                  </a:ln>
                  <a:solidFill>
                    <a:prstClr val="black">
                      <a:lumMod val="50000"/>
                      <a:lumOff val="50000"/>
                    </a:prstClr>
                  </a:solidFill>
                  <a:effectLst/>
                  <a:uLnTx/>
                  <a:uFillTx/>
                  <a:latin typeface="Yekan Bakh FaNum" pitchFamily="2" charset="-78"/>
                  <a:ea typeface="+mn-ea"/>
                  <a:cs typeface="Yekan Bakh FaNum" pitchFamily="2" charset="-78"/>
                </a:rPr>
                <a:t>.</a:t>
              </a:r>
            </a:p>
          </p:txBody>
        </p:sp>
        <p:sp>
          <p:nvSpPr>
            <p:cNvPr id="90" name="Isosceles Triangle 89">
              <a:extLst>
                <a:ext uri="{FF2B5EF4-FFF2-40B4-BE49-F238E27FC236}">
                  <a16:creationId xmlns:a16="http://schemas.microsoft.com/office/drawing/2014/main" id="{2F3353B6-830D-F67E-8B9B-A4031C9EDE57}"/>
                </a:ext>
              </a:extLst>
            </p:cNvPr>
            <p:cNvSpPr/>
            <p:nvPr/>
          </p:nvSpPr>
          <p:spPr>
            <a:xfrm rot="5400000">
              <a:off x="1938715" y="1936296"/>
              <a:ext cx="400713" cy="152163"/>
            </a:xfrm>
            <a:prstGeom prst="triangle">
              <a:avLst/>
            </a:prstGeom>
            <a:solidFill>
              <a:srgbClr val="F0BE0F">
                <a:alpha val="3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91" name="Rectangle: Rounded Corners 90">
              <a:extLst>
                <a:ext uri="{FF2B5EF4-FFF2-40B4-BE49-F238E27FC236}">
                  <a16:creationId xmlns:a16="http://schemas.microsoft.com/office/drawing/2014/main" id="{0CE4F0E7-C56A-09A5-C9FE-741142E4BD59}"/>
                </a:ext>
              </a:extLst>
            </p:cNvPr>
            <p:cNvSpPr/>
            <p:nvPr/>
          </p:nvSpPr>
          <p:spPr>
            <a:xfrm>
              <a:off x="1539563" y="5642732"/>
              <a:ext cx="3936677" cy="453171"/>
            </a:xfrm>
            <a:prstGeom prst="roundRect">
              <a:avLst>
                <a:gd name="adj" fmla="val 9610"/>
              </a:avLst>
            </a:prstGeom>
            <a:noFill/>
            <a:ln w="6350">
              <a:solidFill>
                <a:schemeClr val="bg1">
                  <a:lumMod val="8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grpSp>
    </p:spTree>
    <p:extLst>
      <p:ext uri="{BB962C8B-B14F-4D97-AF65-F5344CB8AC3E}">
        <p14:creationId xmlns:p14="http://schemas.microsoft.com/office/powerpoint/2010/main" val="2587860807"/>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B06D2A6-CE7E-44A0-23B1-393460AD237D}"/>
              </a:ext>
            </a:extLst>
          </p:cNvPr>
          <p:cNvSpPr>
            <a:spLocks noGrp="1"/>
          </p:cNvSpPr>
          <p:nvPr>
            <p:ph type="body" sz="quarter" idx="10"/>
          </p:nvPr>
        </p:nvSpPr>
        <p:spPr/>
        <p:txBody>
          <a:bodyPr/>
          <a:lstStyle/>
          <a:p>
            <a:r>
              <a:rPr lang="fa-IR" dirty="0"/>
              <a:t>۷. تخصیص رابطه — پرسونا ۱ از ۶ — کسب‌وکار تراز ایرانی</a:t>
            </a:r>
            <a:endParaRPr lang="en-GB" dirty="0"/>
          </a:p>
        </p:txBody>
      </p:sp>
      <p:sp>
        <p:nvSpPr>
          <p:cNvPr id="3" name="Text Placeholder 2">
            <a:extLst>
              <a:ext uri="{FF2B5EF4-FFF2-40B4-BE49-F238E27FC236}">
                <a16:creationId xmlns:a16="http://schemas.microsoft.com/office/drawing/2014/main" id="{031BB3CB-2D74-2E72-85A4-96CE90A7B165}"/>
              </a:ext>
            </a:extLst>
          </p:cNvPr>
          <p:cNvSpPr>
            <a:spLocks noGrp="1"/>
          </p:cNvSpPr>
          <p:nvPr>
            <p:ph type="body" sz="quarter" idx="12"/>
          </p:nvPr>
        </p:nvSpPr>
        <p:spPr/>
        <p:txBody>
          <a:bodyPr/>
          <a:lstStyle/>
          <a:p>
            <a:r>
              <a:rPr lang="fa-IR" dirty="0"/>
              <a:t>از عضویت خوداظهاری در دایرکتوری تا تبدیل‌شدن به شریک نهادی و معرف — بسته به بلوغ و اندازه فرصت</a:t>
            </a:r>
          </a:p>
        </p:txBody>
      </p:sp>
      <p:sp>
        <p:nvSpPr>
          <p:cNvPr id="4" name="Rectangle: Rounded Corners 3">
            <a:extLst>
              <a:ext uri="{FF2B5EF4-FFF2-40B4-BE49-F238E27FC236}">
                <a16:creationId xmlns:a16="http://schemas.microsoft.com/office/drawing/2014/main" id="{8551672B-3D53-3F99-94BC-B43B22ADB959}"/>
              </a:ext>
            </a:extLst>
          </p:cNvPr>
          <p:cNvSpPr/>
          <p:nvPr/>
        </p:nvSpPr>
        <p:spPr>
          <a:xfrm>
            <a:off x="10498755" y="1440259"/>
            <a:ext cx="744817" cy="577516"/>
          </a:xfrm>
          <a:prstGeom prst="roundRect">
            <a:avLst/>
          </a:prstGeom>
          <a:solidFill>
            <a:srgbClr val="15296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نیاز محوری</a:t>
            </a:r>
            <a:endParaRPr kumimoji="0" lang="en-GB" sz="105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sp>
        <p:nvSpPr>
          <p:cNvPr id="5" name="Isosceles Triangle 4">
            <a:extLst>
              <a:ext uri="{FF2B5EF4-FFF2-40B4-BE49-F238E27FC236}">
                <a16:creationId xmlns:a16="http://schemas.microsoft.com/office/drawing/2014/main" id="{D0E2011D-0862-7324-DE15-20AA42BAC78C}"/>
              </a:ext>
            </a:extLst>
          </p:cNvPr>
          <p:cNvSpPr/>
          <p:nvPr/>
        </p:nvSpPr>
        <p:spPr>
          <a:xfrm rot="16200000">
            <a:off x="10127842" y="1675364"/>
            <a:ext cx="577516" cy="107305"/>
          </a:xfrm>
          <a:prstGeom prst="triangle">
            <a:avLst/>
          </a:prstGeom>
          <a:solidFill>
            <a:srgbClr val="F0BE0F">
              <a:alpha val="5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6" name="Rectangle: Rounded Corners 5">
            <a:extLst>
              <a:ext uri="{FF2B5EF4-FFF2-40B4-BE49-F238E27FC236}">
                <a16:creationId xmlns:a16="http://schemas.microsoft.com/office/drawing/2014/main" id="{8D55EE72-4E2C-398E-1256-7F1EED15A8CE}"/>
              </a:ext>
            </a:extLst>
          </p:cNvPr>
          <p:cNvSpPr/>
          <p:nvPr/>
        </p:nvSpPr>
        <p:spPr>
          <a:xfrm>
            <a:off x="5940763" y="1440259"/>
            <a:ext cx="4393682" cy="577516"/>
          </a:xfrm>
          <a:prstGeom prst="roundRect">
            <a:avLst/>
          </a:prstGeom>
          <a:noFill/>
          <a:ln w="6350">
            <a:solidFill>
              <a:srgbClr val="004D80">
                <a:alpha val="46000"/>
              </a:srgb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دسترسی به شریک بین‌المللی معتبر و پذیرفته‌شدن نزد او</a:t>
            </a:r>
            <a:endParaRPr kumimoji="0" lang="en-GB" sz="10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9" name="Rectangle: Rounded Corners 8">
            <a:extLst>
              <a:ext uri="{FF2B5EF4-FFF2-40B4-BE49-F238E27FC236}">
                <a16:creationId xmlns:a16="http://schemas.microsoft.com/office/drawing/2014/main" id="{6D781396-DA2C-5455-EC3C-63BA7CE27E46}"/>
              </a:ext>
            </a:extLst>
          </p:cNvPr>
          <p:cNvSpPr/>
          <p:nvPr/>
        </p:nvSpPr>
        <p:spPr>
          <a:xfrm>
            <a:off x="5017471" y="1440259"/>
            <a:ext cx="744817" cy="577516"/>
          </a:xfrm>
          <a:prstGeom prst="round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رفتار</a:t>
            </a:r>
            <a:endParaRPr kumimoji="0" lang="en-GB" sz="105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sp>
        <p:nvSpPr>
          <p:cNvPr id="10" name="Isosceles Triangle 9">
            <a:extLst>
              <a:ext uri="{FF2B5EF4-FFF2-40B4-BE49-F238E27FC236}">
                <a16:creationId xmlns:a16="http://schemas.microsoft.com/office/drawing/2014/main" id="{AF903327-9294-4516-37E7-79B5CB40DAE6}"/>
              </a:ext>
            </a:extLst>
          </p:cNvPr>
          <p:cNvSpPr/>
          <p:nvPr/>
        </p:nvSpPr>
        <p:spPr>
          <a:xfrm rot="16200000">
            <a:off x="4646558" y="1675364"/>
            <a:ext cx="577516" cy="107305"/>
          </a:xfrm>
          <a:prstGeom prst="triangle">
            <a:avLst/>
          </a:prstGeom>
          <a:solidFill>
            <a:srgbClr val="F0BE0F">
              <a:alpha val="5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1" name="Rectangle: Rounded Corners 10">
            <a:extLst>
              <a:ext uri="{FF2B5EF4-FFF2-40B4-BE49-F238E27FC236}">
                <a16:creationId xmlns:a16="http://schemas.microsoft.com/office/drawing/2014/main" id="{35D54514-8E99-30FE-D801-696152A06EF9}"/>
              </a:ext>
            </a:extLst>
          </p:cNvPr>
          <p:cNvSpPr/>
          <p:nvPr/>
        </p:nvSpPr>
        <p:spPr>
          <a:xfrm>
            <a:off x="459479" y="1440259"/>
            <a:ext cx="4393682" cy="577516"/>
          </a:xfrm>
          <a:prstGeom prst="roundRect">
            <a:avLst/>
          </a:prstGeom>
          <a:noFill/>
          <a:ln w="6350">
            <a:solidFill>
              <a:schemeClr val="bg1">
                <a:lumMod val="75000"/>
                <a:alpha val="46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رابطه‌محور؛</a:t>
            </a:r>
          </a:p>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تصمیم‌گیرنده مالک/مدیرعامل؛ زنجیره تصمیم کوتاه</a:t>
            </a:r>
            <a:endParaRPr kumimoji="0" lang="en-GB" sz="9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endParaRPr>
          </a:p>
        </p:txBody>
      </p:sp>
      <p:cxnSp>
        <p:nvCxnSpPr>
          <p:cNvPr id="29" name="Straight Connector 28">
            <a:extLst>
              <a:ext uri="{FF2B5EF4-FFF2-40B4-BE49-F238E27FC236}">
                <a16:creationId xmlns:a16="http://schemas.microsoft.com/office/drawing/2014/main" id="{278E3946-5ECF-3553-7908-30628F8599A5}"/>
              </a:ext>
            </a:extLst>
          </p:cNvPr>
          <p:cNvCxnSpPr>
            <a:cxnSpLocks/>
          </p:cNvCxnSpPr>
          <p:nvPr/>
        </p:nvCxnSpPr>
        <p:spPr>
          <a:xfrm>
            <a:off x="8636598" y="2445906"/>
            <a:ext cx="1653837" cy="0"/>
          </a:xfrm>
          <a:prstGeom prst="line">
            <a:avLst/>
          </a:prstGeom>
          <a:ln w="3175">
            <a:solidFill>
              <a:srgbClr val="F0BE0F"/>
            </a:solidFill>
          </a:ln>
        </p:spPr>
        <p:style>
          <a:lnRef idx="1">
            <a:schemeClr val="accent2"/>
          </a:lnRef>
          <a:fillRef idx="0">
            <a:schemeClr val="accent2"/>
          </a:fillRef>
          <a:effectRef idx="0">
            <a:schemeClr val="accent2"/>
          </a:effectRef>
          <a:fontRef idx="minor">
            <a:schemeClr val="tx1"/>
          </a:fontRef>
        </p:style>
      </p:cxnSp>
      <p:sp>
        <p:nvSpPr>
          <p:cNvPr id="14" name="TextBox 13">
            <a:extLst>
              <a:ext uri="{FF2B5EF4-FFF2-40B4-BE49-F238E27FC236}">
                <a16:creationId xmlns:a16="http://schemas.microsoft.com/office/drawing/2014/main" id="{089BA050-0D8A-361B-E955-9A03E97278EB}"/>
              </a:ext>
            </a:extLst>
          </p:cNvPr>
          <p:cNvSpPr txBox="1"/>
          <p:nvPr/>
        </p:nvSpPr>
        <p:spPr>
          <a:xfrm>
            <a:off x="8738779" y="2330490"/>
            <a:ext cx="1449474" cy="230832"/>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rPr>
              <a:t>آرکی‌تایپ رابطه پیشنهادی</a:t>
            </a:r>
          </a:p>
        </p:txBody>
      </p:sp>
      <p:cxnSp>
        <p:nvCxnSpPr>
          <p:cNvPr id="35" name="Straight Connector 34">
            <a:extLst>
              <a:ext uri="{FF2B5EF4-FFF2-40B4-BE49-F238E27FC236}">
                <a16:creationId xmlns:a16="http://schemas.microsoft.com/office/drawing/2014/main" id="{FE8C9ED9-C502-FA43-B8A1-F7B4BC93413D}"/>
              </a:ext>
            </a:extLst>
          </p:cNvPr>
          <p:cNvCxnSpPr>
            <a:cxnSpLocks/>
          </p:cNvCxnSpPr>
          <p:nvPr/>
        </p:nvCxnSpPr>
        <p:spPr>
          <a:xfrm>
            <a:off x="459478" y="2445906"/>
            <a:ext cx="3840480" cy="0"/>
          </a:xfrm>
          <a:prstGeom prst="line">
            <a:avLst/>
          </a:prstGeom>
          <a:ln w="3175">
            <a:solidFill>
              <a:schemeClr val="bg1">
                <a:lumMod val="85000"/>
              </a:schemeClr>
            </a:solidFill>
          </a:ln>
        </p:spPr>
        <p:style>
          <a:lnRef idx="1">
            <a:schemeClr val="accent2"/>
          </a:lnRef>
          <a:fillRef idx="0">
            <a:schemeClr val="accent2"/>
          </a:fillRef>
          <a:effectRef idx="0">
            <a:schemeClr val="accent2"/>
          </a:effectRef>
          <a:fontRef idx="minor">
            <a:schemeClr val="tx1"/>
          </a:fontRef>
        </p:style>
      </p:cxnSp>
      <p:sp>
        <p:nvSpPr>
          <p:cNvPr id="36" name="TextBox 35">
            <a:extLst>
              <a:ext uri="{FF2B5EF4-FFF2-40B4-BE49-F238E27FC236}">
                <a16:creationId xmlns:a16="http://schemas.microsoft.com/office/drawing/2014/main" id="{E908BC47-6E74-8F31-185A-7CE7FF12D483}"/>
              </a:ext>
            </a:extLst>
          </p:cNvPr>
          <p:cNvSpPr txBox="1"/>
          <p:nvPr/>
        </p:nvSpPr>
        <p:spPr>
          <a:xfrm>
            <a:off x="1464417" y="2330490"/>
            <a:ext cx="1830602" cy="230832"/>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rPr>
              <a:t>مثال جهانی و بنچمارک برون‌مرزی</a:t>
            </a:r>
          </a:p>
        </p:txBody>
      </p:sp>
      <p:cxnSp>
        <p:nvCxnSpPr>
          <p:cNvPr id="43" name="Straight Connector 42">
            <a:extLst>
              <a:ext uri="{FF2B5EF4-FFF2-40B4-BE49-F238E27FC236}">
                <a16:creationId xmlns:a16="http://schemas.microsoft.com/office/drawing/2014/main" id="{29646EB1-824A-2DE1-19A4-C7768E40D9FC}"/>
              </a:ext>
            </a:extLst>
          </p:cNvPr>
          <p:cNvCxnSpPr>
            <a:cxnSpLocks/>
          </p:cNvCxnSpPr>
          <p:nvPr/>
        </p:nvCxnSpPr>
        <p:spPr>
          <a:xfrm>
            <a:off x="4548038" y="2445906"/>
            <a:ext cx="3840480" cy="0"/>
          </a:xfrm>
          <a:prstGeom prst="line">
            <a:avLst/>
          </a:prstGeom>
          <a:ln w="3175">
            <a:solidFill>
              <a:schemeClr val="bg1">
                <a:lumMod val="85000"/>
              </a:schemeClr>
            </a:solidFill>
          </a:ln>
        </p:spPr>
        <p:style>
          <a:lnRef idx="1">
            <a:schemeClr val="accent2"/>
          </a:lnRef>
          <a:fillRef idx="0">
            <a:schemeClr val="accent2"/>
          </a:fillRef>
          <a:effectRef idx="0">
            <a:schemeClr val="accent2"/>
          </a:effectRef>
          <a:fontRef idx="minor">
            <a:schemeClr val="tx1"/>
          </a:fontRef>
        </p:style>
      </p:cxnSp>
      <p:sp>
        <p:nvSpPr>
          <p:cNvPr id="44" name="TextBox 43">
            <a:extLst>
              <a:ext uri="{FF2B5EF4-FFF2-40B4-BE49-F238E27FC236}">
                <a16:creationId xmlns:a16="http://schemas.microsoft.com/office/drawing/2014/main" id="{A7B2BD91-FC7D-6D9B-A574-2B13A15864B3}"/>
              </a:ext>
            </a:extLst>
          </p:cNvPr>
          <p:cNvSpPr txBox="1"/>
          <p:nvPr/>
        </p:nvSpPr>
        <p:spPr>
          <a:xfrm>
            <a:off x="5552977" y="2330490"/>
            <a:ext cx="1830602" cy="230832"/>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rPr>
              <a:t>کاربرد در اکوسیستم فرصت ایران</a:t>
            </a:r>
          </a:p>
        </p:txBody>
      </p:sp>
      <p:cxnSp>
        <p:nvCxnSpPr>
          <p:cNvPr id="47" name="Straight Connector 46">
            <a:extLst>
              <a:ext uri="{FF2B5EF4-FFF2-40B4-BE49-F238E27FC236}">
                <a16:creationId xmlns:a16="http://schemas.microsoft.com/office/drawing/2014/main" id="{E77BCB34-344F-7CB7-0222-1777C9D9B0B2}"/>
              </a:ext>
            </a:extLst>
          </p:cNvPr>
          <p:cNvCxnSpPr>
            <a:cxnSpLocks/>
          </p:cNvCxnSpPr>
          <p:nvPr/>
        </p:nvCxnSpPr>
        <p:spPr>
          <a:xfrm>
            <a:off x="10538516" y="2445906"/>
            <a:ext cx="705056" cy="0"/>
          </a:xfrm>
          <a:prstGeom prst="line">
            <a:avLst/>
          </a:prstGeom>
          <a:ln w="3175">
            <a:solidFill>
              <a:srgbClr val="004D80"/>
            </a:solidFill>
          </a:ln>
        </p:spPr>
        <p:style>
          <a:lnRef idx="1">
            <a:schemeClr val="accent2"/>
          </a:lnRef>
          <a:fillRef idx="0">
            <a:schemeClr val="accent2"/>
          </a:fillRef>
          <a:effectRef idx="0">
            <a:schemeClr val="accent2"/>
          </a:effectRef>
          <a:fontRef idx="minor">
            <a:schemeClr val="tx1"/>
          </a:fontRef>
        </p:style>
      </p:cxnSp>
      <p:sp>
        <p:nvSpPr>
          <p:cNvPr id="48" name="TextBox 47">
            <a:extLst>
              <a:ext uri="{FF2B5EF4-FFF2-40B4-BE49-F238E27FC236}">
                <a16:creationId xmlns:a16="http://schemas.microsoft.com/office/drawing/2014/main" id="{A3AA4CC1-F677-D174-B21B-B8F75A153570}"/>
              </a:ext>
            </a:extLst>
          </p:cNvPr>
          <p:cNvSpPr txBox="1"/>
          <p:nvPr/>
        </p:nvSpPr>
        <p:spPr>
          <a:xfrm>
            <a:off x="10655211" y="2330490"/>
            <a:ext cx="471667" cy="230832"/>
          </a:xfrm>
          <a:prstGeom prst="rect">
            <a:avLst/>
          </a:prstGeom>
          <a:solidFill>
            <a:schemeClr val="bg1"/>
          </a:solidFill>
          <a:ln>
            <a:noFill/>
          </a:ln>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rPr>
              <a:t>ناحیه</a:t>
            </a:r>
          </a:p>
        </p:txBody>
      </p:sp>
      <p:sp>
        <p:nvSpPr>
          <p:cNvPr id="18" name="Rectangle: Rounded Corners 17">
            <a:extLst>
              <a:ext uri="{FF2B5EF4-FFF2-40B4-BE49-F238E27FC236}">
                <a16:creationId xmlns:a16="http://schemas.microsoft.com/office/drawing/2014/main" id="{037017C2-D7DE-1E87-7CDC-B9DB4CF5253F}"/>
              </a:ext>
            </a:extLst>
          </p:cNvPr>
          <p:cNvSpPr/>
          <p:nvPr/>
        </p:nvSpPr>
        <p:spPr>
          <a:xfrm>
            <a:off x="8636598" y="2635925"/>
            <a:ext cx="1653837" cy="528559"/>
          </a:xfrm>
          <a:prstGeom prst="roundRect">
            <a:avLst/>
          </a:prstGeom>
          <a:solidFill>
            <a:srgbClr val="F0BE0F">
              <a:alpha val="16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15296B"/>
              </a:solidFill>
              <a:effectLst/>
              <a:uLnTx/>
              <a:uFillTx/>
              <a:latin typeface="Calibri"/>
              <a:ea typeface="+mn-ea"/>
              <a:cs typeface="Calibri"/>
            </a:endParaRPr>
          </a:p>
        </p:txBody>
      </p:sp>
      <p:sp>
        <p:nvSpPr>
          <p:cNvPr id="22" name="TextBox 21">
            <a:extLst>
              <a:ext uri="{FF2B5EF4-FFF2-40B4-BE49-F238E27FC236}">
                <a16:creationId xmlns:a16="http://schemas.microsoft.com/office/drawing/2014/main" id="{48C1E081-ADA4-7186-C451-A4E79A3FBB3C}"/>
              </a:ext>
            </a:extLst>
          </p:cNvPr>
          <p:cNvSpPr txBox="1"/>
          <p:nvPr/>
        </p:nvSpPr>
        <p:spPr>
          <a:xfrm>
            <a:off x="8636598" y="2766770"/>
            <a:ext cx="1653837" cy="266868"/>
          </a:xfrm>
          <a:prstGeom prst="rect">
            <a:avLst/>
          </a:prstGeom>
          <a:noFill/>
        </p:spPr>
        <p:txBody>
          <a:bodyPr wrap="square">
            <a:spAutoFit/>
          </a:bodyPr>
          <a:lstStyle/>
          <a:p>
            <a:pPr marL="0" marR="0" lvl="0" indent="0" algn="ctr" defTabSz="457200" rtl="1" eaLnBrk="1" fontAlgn="auto" latinLnBrk="0" hangingPunct="1">
              <a:lnSpc>
                <a:spcPct val="108000"/>
              </a:lnSpc>
              <a:spcBef>
                <a:spcPts val="0"/>
              </a:spcBef>
              <a:spcAft>
                <a:spcPts val="0"/>
              </a:spcAft>
              <a:buClrTx/>
              <a:buSzTx/>
              <a:buFontTx/>
              <a:buNone/>
              <a:tabLst/>
              <a:defRPr/>
            </a:pPr>
            <a:r>
              <a:rPr kumimoji="0" lang="fa-IR" sz="1050" b="1" i="0" u="none" strike="noStrike" kern="1200" cap="none" spc="0" normalizeH="0" baseline="0" noProof="0" dirty="0">
                <a:ln>
                  <a:noFill/>
                </a:ln>
                <a:solidFill>
                  <a:srgbClr val="15296B"/>
                </a:solidFill>
                <a:effectLst/>
                <a:uLnTx/>
                <a:uFillTx/>
                <a:latin typeface="Yekan Bakh FaNum" pitchFamily="2" charset="-78"/>
                <a:ea typeface="+mn-ea"/>
                <a:cs typeface="Yekan Bakh FaNum" pitchFamily="2" charset="-78"/>
              </a:rPr>
              <a:t>تراکنشی</a:t>
            </a:r>
          </a:p>
        </p:txBody>
      </p:sp>
      <p:sp>
        <p:nvSpPr>
          <p:cNvPr id="52" name="Rectangle: Rounded Corners 51">
            <a:extLst>
              <a:ext uri="{FF2B5EF4-FFF2-40B4-BE49-F238E27FC236}">
                <a16:creationId xmlns:a16="http://schemas.microsoft.com/office/drawing/2014/main" id="{1967005A-2985-1757-C6DB-EA784D44008E}"/>
              </a:ext>
            </a:extLst>
          </p:cNvPr>
          <p:cNvSpPr/>
          <p:nvPr/>
        </p:nvSpPr>
        <p:spPr>
          <a:xfrm>
            <a:off x="10538516" y="2635925"/>
            <a:ext cx="705056" cy="528559"/>
          </a:xfrm>
          <a:prstGeom prst="roundRect">
            <a:avLst/>
          </a:prstGeom>
          <a:solidFill>
            <a:srgbClr val="EFF3FB"/>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dirty="0">
              <a:ln>
                <a:noFill/>
              </a:ln>
              <a:solidFill>
                <a:srgbClr val="15296B"/>
              </a:solidFill>
              <a:effectLst/>
              <a:uLnTx/>
              <a:uFillTx/>
              <a:latin typeface="Calibri"/>
              <a:ea typeface="+mn-ea"/>
              <a:cs typeface="Calibri"/>
            </a:endParaRPr>
          </a:p>
        </p:txBody>
      </p:sp>
      <p:sp>
        <p:nvSpPr>
          <p:cNvPr id="19" name="TextBox 18">
            <a:extLst>
              <a:ext uri="{FF2B5EF4-FFF2-40B4-BE49-F238E27FC236}">
                <a16:creationId xmlns:a16="http://schemas.microsoft.com/office/drawing/2014/main" id="{16681A9F-F64A-60D7-027A-9267A0594E30}"/>
              </a:ext>
            </a:extLst>
          </p:cNvPr>
          <p:cNvSpPr txBox="1"/>
          <p:nvPr/>
        </p:nvSpPr>
        <p:spPr>
          <a:xfrm>
            <a:off x="10664057" y="2730927"/>
            <a:ext cx="453974" cy="338554"/>
          </a:xfrm>
          <a:prstGeom prst="rect">
            <a:avLst/>
          </a:prstGeom>
          <a:noFill/>
        </p:spPr>
        <p:txBody>
          <a:bodyPr wrap="square"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5296B"/>
                </a:solidFill>
                <a:effectLst/>
                <a:uLnTx/>
                <a:uFillTx/>
                <a:latin typeface="Yekan Bakh" pitchFamily="2" charset="-78"/>
                <a:ea typeface="Yekan Bakh" pitchFamily="2" charset="-78"/>
                <a:cs typeface="Yekan Bakh" pitchFamily="2" charset="-78"/>
              </a:rPr>
              <a:t>A</a:t>
            </a:r>
            <a:endParaRPr kumimoji="0" lang="fa-IR" sz="1600" b="1" i="0" u="none" strike="noStrike" kern="1200" cap="none" spc="0" normalizeH="0" baseline="0" noProof="0" dirty="0">
              <a:ln>
                <a:noFill/>
              </a:ln>
              <a:solidFill>
                <a:srgbClr val="15296B"/>
              </a:solidFill>
              <a:effectLst/>
              <a:uLnTx/>
              <a:uFillTx/>
              <a:latin typeface="Yekan Bakh" pitchFamily="2" charset="-78"/>
              <a:ea typeface="Yekan Bakh" pitchFamily="2" charset="-78"/>
              <a:cs typeface="Yekan Bakh" pitchFamily="2" charset="-78"/>
            </a:endParaRPr>
          </a:p>
        </p:txBody>
      </p:sp>
      <p:sp>
        <p:nvSpPr>
          <p:cNvPr id="60" name="Rectangle: Rounded Corners 59">
            <a:extLst>
              <a:ext uri="{FF2B5EF4-FFF2-40B4-BE49-F238E27FC236}">
                <a16:creationId xmlns:a16="http://schemas.microsoft.com/office/drawing/2014/main" id="{50602BA9-E6C2-D71F-31CE-B696ED55B724}"/>
              </a:ext>
            </a:extLst>
          </p:cNvPr>
          <p:cNvSpPr/>
          <p:nvPr/>
        </p:nvSpPr>
        <p:spPr>
          <a:xfrm>
            <a:off x="4548039" y="2635925"/>
            <a:ext cx="3840480" cy="528559"/>
          </a:xfrm>
          <a:prstGeom prst="roundRect">
            <a:avLst/>
          </a:prstGeom>
          <a:solidFill>
            <a:schemeClr val="bg1">
              <a:lumMod val="95000"/>
              <a:alpha val="59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تأیید هویت استاندارد و عضویت پایه در فهرست شرکای معرفی‌شده «اکوسیستم فرصت ایران»</a:t>
            </a:r>
          </a:p>
        </p:txBody>
      </p:sp>
      <p:sp>
        <p:nvSpPr>
          <p:cNvPr id="62" name="Rectangle: Rounded Corners 61">
            <a:extLst>
              <a:ext uri="{FF2B5EF4-FFF2-40B4-BE49-F238E27FC236}">
                <a16:creationId xmlns:a16="http://schemas.microsoft.com/office/drawing/2014/main" id="{7B10CFCC-64FB-D289-DF97-057735739EBC}"/>
              </a:ext>
            </a:extLst>
          </p:cNvPr>
          <p:cNvSpPr/>
          <p:nvPr/>
        </p:nvSpPr>
        <p:spPr>
          <a:xfrm>
            <a:off x="459478" y="2635925"/>
            <a:ext cx="3840480" cy="528559"/>
          </a:xfrm>
          <a:prstGeom prst="roundRect">
            <a:avLst/>
          </a:prstGeom>
          <a:solidFill>
            <a:schemeClr val="bg1">
              <a:lumMod val="95000"/>
              <a:alpha val="59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ثبت‌نام خودکار در دایرکتوری تجاری آنلاین (مدل </a:t>
            </a:r>
            <a:r>
              <a:rPr kumimoji="0" lang="en-US"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Alibaba.com Verified Supplier</a:t>
            </a:r>
            <a:r>
              <a:rPr kumimoji="0" lang="fa-IR"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a:t>
            </a:r>
            <a:r>
              <a:rPr kumimoji="0" lang="en-US"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 </a:t>
            </a:r>
            <a:r>
              <a:rPr kumimoji="0" lang="fa-IR" sz="800" b="1"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بنچمارک: </a:t>
            </a:r>
            <a:r>
              <a:rPr kumimoji="0" lang="fa-IR"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خوداظهاری در پایگاه عمومی </a:t>
            </a:r>
            <a:r>
              <a:rPr kumimoji="0" lang="en-US"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EEN</a:t>
            </a:r>
          </a:p>
        </p:txBody>
      </p:sp>
      <p:sp>
        <p:nvSpPr>
          <p:cNvPr id="104" name="Arrow: Down 103">
            <a:extLst>
              <a:ext uri="{FF2B5EF4-FFF2-40B4-BE49-F238E27FC236}">
                <a16:creationId xmlns:a16="http://schemas.microsoft.com/office/drawing/2014/main" id="{681A095B-C2B3-C5AD-0559-09453F08E974}"/>
              </a:ext>
            </a:extLst>
          </p:cNvPr>
          <p:cNvSpPr/>
          <p:nvPr/>
        </p:nvSpPr>
        <p:spPr>
          <a:xfrm rot="5400000">
            <a:off x="8427463" y="2832409"/>
            <a:ext cx="170188" cy="135591"/>
          </a:xfrm>
          <a:prstGeom prst="downArrow">
            <a:avLst/>
          </a:prstGeom>
          <a:solidFill>
            <a:schemeClr val="tx1">
              <a:lumMod val="50000"/>
              <a:lumOff val="50000"/>
              <a:alpha val="1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05" name="Arrow: Down 104">
            <a:extLst>
              <a:ext uri="{FF2B5EF4-FFF2-40B4-BE49-F238E27FC236}">
                <a16:creationId xmlns:a16="http://schemas.microsoft.com/office/drawing/2014/main" id="{6D84E45B-7C07-3883-005F-C0872AE47215}"/>
              </a:ext>
            </a:extLst>
          </p:cNvPr>
          <p:cNvSpPr/>
          <p:nvPr/>
        </p:nvSpPr>
        <p:spPr>
          <a:xfrm rot="5400000">
            <a:off x="4340404" y="2832410"/>
            <a:ext cx="170188" cy="135591"/>
          </a:xfrm>
          <a:prstGeom prst="downArrow">
            <a:avLst/>
          </a:prstGeom>
          <a:solidFill>
            <a:schemeClr val="tx1">
              <a:lumMod val="50000"/>
              <a:lumOff val="50000"/>
              <a:alpha val="1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11" name="Rectangle: Rounded Corners 110">
            <a:extLst>
              <a:ext uri="{FF2B5EF4-FFF2-40B4-BE49-F238E27FC236}">
                <a16:creationId xmlns:a16="http://schemas.microsoft.com/office/drawing/2014/main" id="{573016C7-1676-D1EC-B35B-DD4FC47FE508}"/>
              </a:ext>
            </a:extLst>
          </p:cNvPr>
          <p:cNvSpPr/>
          <p:nvPr/>
        </p:nvSpPr>
        <p:spPr>
          <a:xfrm>
            <a:off x="8636598" y="3242313"/>
            <a:ext cx="1653837" cy="528559"/>
          </a:xfrm>
          <a:prstGeom prst="roundRect">
            <a:avLst/>
          </a:prstGeom>
          <a:solidFill>
            <a:srgbClr val="F0BE0F">
              <a:alpha val="16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15296B"/>
              </a:solidFill>
              <a:effectLst/>
              <a:uLnTx/>
              <a:uFillTx/>
              <a:latin typeface="Calibri"/>
              <a:ea typeface="+mn-ea"/>
              <a:cs typeface="Calibri"/>
            </a:endParaRPr>
          </a:p>
        </p:txBody>
      </p:sp>
      <p:sp>
        <p:nvSpPr>
          <p:cNvPr id="112" name="TextBox 111">
            <a:extLst>
              <a:ext uri="{FF2B5EF4-FFF2-40B4-BE49-F238E27FC236}">
                <a16:creationId xmlns:a16="http://schemas.microsoft.com/office/drawing/2014/main" id="{1368FFFF-9D2C-510F-040B-3F77CF0E179C}"/>
              </a:ext>
            </a:extLst>
          </p:cNvPr>
          <p:cNvSpPr txBox="1"/>
          <p:nvPr/>
        </p:nvSpPr>
        <p:spPr>
          <a:xfrm>
            <a:off x="8636598" y="3373158"/>
            <a:ext cx="1653837" cy="266868"/>
          </a:xfrm>
          <a:prstGeom prst="rect">
            <a:avLst/>
          </a:prstGeom>
          <a:noFill/>
        </p:spPr>
        <p:txBody>
          <a:bodyPr wrap="square">
            <a:spAutoFit/>
          </a:bodyPr>
          <a:lstStyle/>
          <a:p>
            <a:pPr marL="0" marR="0" lvl="0" indent="0" algn="ctr" defTabSz="457200" rtl="1" eaLnBrk="1" fontAlgn="auto" latinLnBrk="0" hangingPunct="1">
              <a:lnSpc>
                <a:spcPct val="108000"/>
              </a:lnSpc>
              <a:spcBef>
                <a:spcPts val="0"/>
              </a:spcBef>
              <a:spcAft>
                <a:spcPts val="0"/>
              </a:spcAft>
              <a:buClrTx/>
              <a:buSzTx/>
              <a:buFontTx/>
              <a:buNone/>
              <a:tabLst/>
              <a:defRPr/>
            </a:pPr>
            <a:r>
              <a:rPr kumimoji="0" lang="fa-IR" sz="1050" b="1" i="0" u="none" strike="noStrike" kern="1200" cap="none" spc="0" normalizeH="0" baseline="0" noProof="0" dirty="0">
                <a:ln>
                  <a:noFill/>
                </a:ln>
                <a:solidFill>
                  <a:srgbClr val="15296B"/>
                </a:solidFill>
                <a:effectLst/>
                <a:uLnTx/>
                <a:uFillTx/>
                <a:latin typeface="Yekan Bakh FaNum" pitchFamily="2" charset="-78"/>
                <a:ea typeface="+mn-ea"/>
                <a:cs typeface="Yekan Bakh FaNum" pitchFamily="2" charset="-78"/>
              </a:rPr>
              <a:t>همراه/اختصاصی</a:t>
            </a:r>
          </a:p>
        </p:txBody>
      </p:sp>
      <p:sp>
        <p:nvSpPr>
          <p:cNvPr id="113" name="Rectangle: Rounded Corners 112">
            <a:extLst>
              <a:ext uri="{FF2B5EF4-FFF2-40B4-BE49-F238E27FC236}">
                <a16:creationId xmlns:a16="http://schemas.microsoft.com/office/drawing/2014/main" id="{6CB99297-1C86-DD6F-8327-233B6C88DF22}"/>
              </a:ext>
            </a:extLst>
          </p:cNvPr>
          <p:cNvSpPr/>
          <p:nvPr/>
        </p:nvSpPr>
        <p:spPr>
          <a:xfrm>
            <a:off x="10538516" y="3242313"/>
            <a:ext cx="705056" cy="528559"/>
          </a:xfrm>
          <a:prstGeom prst="roundRect">
            <a:avLst/>
          </a:prstGeom>
          <a:solidFill>
            <a:srgbClr val="15296B"/>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dirty="0">
              <a:ln>
                <a:noFill/>
              </a:ln>
              <a:solidFill>
                <a:prstClr val="white"/>
              </a:solidFill>
              <a:effectLst/>
              <a:uLnTx/>
              <a:uFillTx/>
              <a:latin typeface="Calibri"/>
              <a:ea typeface="+mn-ea"/>
              <a:cs typeface="Calibri"/>
            </a:endParaRPr>
          </a:p>
        </p:txBody>
      </p:sp>
      <p:sp>
        <p:nvSpPr>
          <p:cNvPr id="114" name="TextBox 113">
            <a:extLst>
              <a:ext uri="{FF2B5EF4-FFF2-40B4-BE49-F238E27FC236}">
                <a16:creationId xmlns:a16="http://schemas.microsoft.com/office/drawing/2014/main" id="{0882A27D-6725-7159-6779-4D33DD913043}"/>
              </a:ext>
            </a:extLst>
          </p:cNvPr>
          <p:cNvSpPr txBox="1"/>
          <p:nvPr/>
        </p:nvSpPr>
        <p:spPr>
          <a:xfrm>
            <a:off x="10664057" y="3337315"/>
            <a:ext cx="453974" cy="338554"/>
          </a:xfrm>
          <a:prstGeom prst="rect">
            <a:avLst/>
          </a:prstGeom>
          <a:noFill/>
        </p:spPr>
        <p:txBody>
          <a:bodyPr wrap="square"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B</a:t>
            </a:r>
            <a:endParaRPr kumimoji="0" lang="fa-IR" sz="16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sp>
        <p:nvSpPr>
          <p:cNvPr id="115" name="Rectangle: Rounded Corners 114">
            <a:extLst>
              <a:ext uri="{FF2B5EF4-FFF2-40B4-BE49-F238E27FC236}">
                <a16:creationId xmlns:a16="http://schemas.microsoft.com/office/drawing/2014/main" id="{9DDA2B5B-6040-AA36-6E6E-2CA497D51975}"/>
              </a:ext>
            </a:extLst>
          </p:cNvPr>
          <p:cNvSpPr/>
          <p:nvPr/>
        </p:nvSpPr>
        <p:spPr>
          <a:xfrm>
            <a:off x="4548039" y="3242313"/>
            <a:ext cx="3840480" cy="528559"/>
          </a:xfrm>
          <a:prstGeom prst="roundRect">
            <a:avLst/>
          </a:prstGeom>
          <a:solidFill>
            <a:schemeClr val="bg1">
              <a:lumMod val="95000"/>
              <a:alpha val="59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معرفی مستقیم بنیان‌گذار به شریک خارجی، وقتی فرصت مشخص و مالی محدود است</a:t>
            </a:r>
          </a:p>
        </p:txBody>
      </p:sp>
      <p:sp>
        <p:nvSpPr>
          <p:cNvPr id="116" name="Rectangle: Rounded Corners 115">
            <a:extLst>
              <a:ext uri="{FF2B5EF4-FFF2-40B4-BE49-F238E27FC236}">
                <a16:creationId xmlns:a16="http://schemas.microsoft.com/office/drawing/2014/main" id="{1781B5FA-A6FB-CD9D-7CAD-8FD9DD5E3A66}"/>
              </a:ext>
            </a:extLst>
          </p:cNvPr>
          <p:cNvSpPr/>
          <p:nvPr/>
        </p:nvSpPr>
        <p:spPr>
          <a:xfrm>
            <a:off x="459478" y="3242313"/>
            <a:ext cx="3840480" cy="528559"/>
          </a:xfrm>
          <a:prstGeom prst="roundRect">
            <a:avLst/>
          </a:prstGeom>
          <a:solidFill>
            <a:schemeClr val="bg1">
              <a:lumMod val="95000"/>
              <a:alpha val="59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مدل معرفی شخصی مدیر رابطه بانک خصوصی. </a:t>
            </a:r>
            <a:r>
              <a:rPr kumimoji="0" lang="fa-IR" sz="800" b="1"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بنچمارک: </a:t>
            </a:r>
            <a:r>
              <a:rPr kumimoji="0" lang="fa-IR"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شبکه معرف نهادی چندلایه «اکوسیستم فرصت ایران» (اتاق بازرگانی + شبکه بنیان‌گذاران، مستند در بلوک کانال)</a:t>
            </a:r>
          </a:p>
        </p:txBody>
      </p:sp>
      <p:sp>
        <p:nvSpPr>
          <p:cNvPr id="117" name="Arrow: Down 116">
            <a:extLst>
              <a:ext uri="{FF2B5EF4-FFF2-40B4-BE49-F238E27FC236}">
                <a16:creationId xmlns:a16="http://schemas.microsoft.com/office/drawing/2014/main" id="{029F2D72-1764-E1D3-B3BC-AA0ACCA00ECC}"/>
              </a:ext>
            </a:extLst>
          </p:cNvPr>
          <p:cNvSpPr/>
          <p:nvPr/>
        </p:nvSpPr>
        <p:spPr>
          <a:xfrm rot="5400000">
            <a:off x="8427463" y="3438797"/>
            <a:ext cx="170188" cy="135591"/>
          </a:xfrm>
          <a:prstGeom prst="downArrow">
            <a:avLst/>
          </a:prstGeom>
          <a:solidFill>
            <a:schemeClr val="tx1">
              <a:lumMod val="50000"/>
              <a:lumOff val="50000"/>
              <a:alpha val="1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18" name="Arrow: Down 117">
            <a:extLst>
              <a:ext uri="{FF2B5EF4-FFF2-40B4-BE49-F238E27FC236}">
                <a16:creationId xmlns:a16="http://schemas.microsoft.com/office/drawing/2014/main" id="{A1D759BB-9662-A441-6022-8FD1DB6A95B3}"/>
              </a:ext>
            </a:extLst>
          </p:cNvPr>
          <p:cNvSpPr/>
          <p:nvPr/>
        </p:nvSpPr>
        <p:spPr>
          <a:xfrm rot="5400000">
            <a:off x="4340404" y="3438798"/>
            <a:ext cx="170188" cy="135591"/>
          </a:xfrm>
          <a:prstGeom prst="downArrow">
            <a:avLst/>
          </a:prstGeom>
          <a:solidFill>
            <a:schemeClr val="tx1">
              <a:lumMod val="50000"/>
              <a:lumOff val="50000"/>
              <a:alpha val="1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20" name="Rectangle: Rounded Corners 119">
            <a:extLst>
              <a:ext uri="{FF2B5EF4-FFF2-40B4-BE49-F238E27FC236}">
                <a16:creationId xmlns:a16="http://schemas.microsoft.com/office/drawing/2014/main" id="{77518BF9-FCB3-AC27-9CD1-139A797D1E26}"/>
              </a:ext>
            </a:extLst>
          </p:cNvPr>
          <p:cNvSpPr/>
          <p:nvPr/>
        </p:nvSpPr>
        <p:spPr>
          <a:xfrm>
            <a:off x="8636598" y="3848701"/>
            <a:ext cx="1653837" cy="528559"/>
          </a:xfrm>
          <a:prstGeom prst="roundRect">
            <a:avLst/>
          </a:prstGeom>
          <a:solidFill>
            <a:srgbClr val="F0BE0F">
              <a:alpha val="16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15296B"/>
              </a:solidFill>
              <a:effectLst/>
              <a:uLnTx/>
              <a:uFillTx/>
              <a:latin typeface="Calibri"/>
              <a:ea typeface="+mn-ea"/>
              <a:cs typeface="Calibri"/>
            </a:endParaRPr>
          </a:p>
        </p:txBody>
      </p:sp>
      <p:sp>
        <p:nvSpPr>
          <p:cNvPr id="121" name="TextBox 120">
            <a:extLst>
              <a:ext uri="{FF2B5EF4-FFF2-40B4-BE49-F238E27FC236}">
                <a16:creationId xmlns:a16="http://schemas.microsoft.com/office/drawing/2014/main" id="{20316A68-B0AD-A61E-4CC7-70FF345E99CA}"/>
              </a:ext>
            </a:extLst>
          </p:cNvPr>
          <p:cNvSpPr txBox="1"/>
          <p:nvPr/>
        </p:nvSpPr>
        <p:spPr>
          <a:xfrm>
            <a:off x="8636598" y="3979546"/>
            <a:ext cx="1653837" cy="266868"/>
          </a:xfrm>
          <a:prstGeom prst="rect">
            <a:avLst/>
          </a:prstGeom>
          <a:noFill/>
        </p:spPr>
        <p:txBody>
          <a:bodyPr wrap="square">
            <a:spAutoFit/>
          </a:bodyPr>
          <a:lstStyle/>
          <a:p>
            <a:pPr marL="0" marR="0" lvl="0" indent="0" algn="ctr" defTabSz="457200" rtl="1" eaLnBrk="1" fontAlgn="auto" latinLnBrk="0" hangingPunct="1">
              <a:lnSpc>
                <a:spcPct val="108000"/>
              </a:lnSpc>
              <a:spcBef>
                <a:spcPts val="0"/>
              </a:spcBef>
              <a:spcAft>
                <a:spcPts val="0"/>
              </a:spcAft>
              <a:buClrTx/>
              <a:buSzTx/>
              <a:buFontTx/>
              <a:buNone/>
              <a:tabLst/>
              <a:defRPr/>
            </a:pPr>
            <a:r>
              <a:rPr kumimoji="0" lang="fa-IR" sz="1050" b="1" i="0" u="none" strike="noStrike" kern="1200" cap="none" spc="0" normalizeH="0" baseline="0" noProof="0" dirty="0">
                <a:ln>
                  <a:noFill/>
                </a:ln>
                <a:solidFill>
                  <a:srgbClr val="15296B"/>
                </a:solidFill>
                <a:effectLst/>
                <a:uLnTx/>
                <a:uFillTx/>
                <a:latin typeface="Yekan Bakh FaNum" pitchFamily="2" charset="-78"/>
                <a:ea typeface="+mn-ea"/>
                <a:cs typeface="Yekan Bakh FaNum" pitchFamily="2" charset="-78"/>
              </a:rPr>
              <a:t>مشاوره‌ای/محصولی‌شده</a:t>
            </a:r>
          </a:p>
        </p:txBody>
      </p:sp>
      <p:sp>
        <p:nvSpPr>
          <p:cNvPr id="122" name="Rectangle: Rounded Corners 121">
            <a:extLst>
              <a:ext uri="{FF2B5EF4-FFF2-40B4-BE49-F238E27FC236}">
                <a16:creationId xmlns:a16="http://schemas.microsoft.com/office/drawing/2014/main" id="{595B5D1B-B0E7-097E-259B-2B79C1C080EF}"/>
              </a:ext>
            </a:extLst>
          </p:cNvPr>
          <p:cNvSpPr/>
          <p:nvPr/>
        </p:nvSpPr>
        <p:spPr>
          <a:xfrm>
            <a:off x="10538516" y="3848701"/>
            <a:ext cx="705056" cy="528559"/>
          </a:xfrm>
          <a:prstGeom prst="roundRect">
            <a:avLst/>
          </a:prstGeom>
          <a:solidFill>
            <a:srgbClr val="15296B">
              <a:alpha val="20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dirty="0">
              <a:ln>
                <a:noFill/>
              </a:ln>
              <a:solidFill>
                <a:prstClr val="white"/>
              </a:solidFill>
              <a:effectLst/>
              <a:uLnTx/>
              <a:uFillTx/>
              <a:latin typeface="Calibri"/>
              <a:ea typeface="+mn-ea"/>
              <a:cs typeface="Calibri"/>
            </a:endParaRPr>
          </a:p>
        </p:txBody>
      </p:sp>
      <p:sp>
        <p:nvSpPr>
          <p:cNvPr id="123" name="TextBox 122">
            <a:extLst>
              <a:ext uri="{FF2B5EF4-FFF2-40B4-BE49-F238E27FC236}">
                <a16:creationId xmlns:a16="http://schemas.microsoft.com/office/drawing/2014/main" id="{366BD268-FFCB-3845-2F7C-DF756AAFEE18}"/>
              </a:ext>
            </a:extLst>
          </p:cNvPr>
          <p:cNvSpPr txBox="1"/>
          <p:nvPr/>
        </p:nvSpPr>
        <p:spPr>
          <a:xfrm>
            <a:off x="10664057" y="3943703"/>
            <a:ext cx="453974" cy="338554"/>
          </a:xfrm>
          <a:prstGeom prst="rect">
            <a:avLst/>
          </a:prstGeom>
          <a:noFill/>
        </p:spPr>
        <p:txBody>
          <a:bodyPr wrap="square"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5296B"/>
                </a:solidFill>
                <a:effectLst/>
                <a:uLnTx/>
                <a:uFillTx/>
                <a:latin typeface="Yekan Bakh" pitchFamily="2" charset="-78"/>
                <a:ea typeface="Yekan Bakh" pitchFamily="2" charset="-78"/>
                <a:cs typeface="Yekan Bakh" pitchFamily="2" charset="-78"/>
              </a:rPr>
              <a:t>C</a:t>
            </a:r>
            <a:endParaRPr kumimoji="0" lang="fa-IR" sz="1600" b="1" i="0" u="none" strike="noStrike" kern="1200" cap="none" spc="0" normalizeH="0" baseline="0" noProof="0" dirty="0">
              <a:ln>
                <a:noFill/>
              </a:ln>
              <a:solidFill>
                <a:srgbClr val="15296B"/>
              </a:solidFill>
              <a:effectLst/>
              <a:uLnTx/>
              <a:uFillTx/>
              <a:latin typeface="Yekan Bakh" pitchFamily="2" charset="-78"/>
              <a:ea typeface="Yekan Bakh" pitchFamily="2" charset="-78"/>
              <a:cs typeface="Yekan Bakh" pitchFamily="2" charset="-78"/>
            </a:endParaRPr>
          </a:p>
        </p:txBody>
      </p:sp>
      <p:sp>
        <p:nvSpPr>
          <p:cNvPr id="124" name="Rectangle: Rounded Corners 123">
            <a:extLst>
              <a:ext uri="{FF2B5EF4-FFF2-40B4-BE49-F238E27FC236}">
                <a16:creationId xmlns:a16="http://schemas.microsoft.com/office/drawing/2014/main" id="{144CB24F-8377-DB06-A8BF-28E1C8AE54EB}"/>
              </a:ext>
            </a:extLst>
          </p:cNvPr>
          <p:cNvSpPr/>
          <p:nvPr/>
        </p:nvSpPr>
        <p:spPr>
          <a:xfrm>
            <a:off x="4548039" y="3848701"/>
            <a:ext cx="3840480" cy="528559"/>
          </a:xfrm>
          <a:prstGeom prst="roundRect">
            <a:avLst/>
          </a:prstGeom>
          <a:solidFill>
            <a:schemeClr val="bg1">
              <a:lumMod val="95000"/>
              <a:alpha val="59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طراحی و اجرای «استاندارد قابلیت معامله» برای شرکت‌هایی که هنوز از نظر حاکمیت شرکتی آماده نیستند</a:t>
            </a:r>
          </a:p>
        </p:txBody>
      </p:sp>
      <p:sp>
        <p:nvSpPr>
          <p:cNvPr id="125" name="Rectangle: Rounded Corners 124">
            <a:extLst>
              <a:ext uri="{FF2B5EF4-FFF2-40B4-BE49-F238E27FC236}">
                <a16:creationId xmlns:a16="http://schemas.microsoft.com/office/drawing/2014/main" id="{A2816643-91F1-C73D-C685-FE5D26F38D82}"/>
              </a:ext>
            </a:extLst>
          </p:cNvPr>
          <p:cNvSpPr/>
          <p:nvPr/>
        </p:nvSpPr>
        <p:spPr>
          <a:xfrm>
            <a:off x="459478" y="3848701"/>
            <a:ext cx="3840480" cy="528559"/>
          </a:xfrm>
          <a:prstGeom prst="roundRect">
            <a:avLst/>
          </a:prstGeom>
          <a:solidFill>
            <a:schemeClr val="bg1">
              <a:lumMod val="95000"/>
              <a:alpha val="59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بسته استاندارد </a:t>
            </a:r>
            <a:r>
              <a:rPr kumimoji="0" lang="en-US"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Due-Diligence Readiness</a:t>
            </a:r>
            <a:r>
              <a:rPr kumimoji="0" lang="fa-IR"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 که مشاوران حسابرسی به </a:t>
            </a:r>
            <a:r>
              <a:rPr kumimoji="0" lang="en-US"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SME</a:t>
            </a:r>
            <a:r>
              <a:rPr kumimoji="0" lang="fa-IR"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ها می‌فروشند.</a:t>
            </a:r>
          </a:p>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بنچمارک: </a:t>
            </a:r>
            <a:r>
              <a:rPr kumimoji="0" lang="fa-IR"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چارچوب استاندارد آمادگی صادرات </a:t>
            </a:r>
            <a:r>
              <a:rPr kumimoji="0" lang="en-US"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EEN</a:t>
            </a:r>
          </a:p>
        </p:txBody>
      </p:sp>
      <p:sp>
        <p:nvSpPr>
          <p:cNvPr id="126" name="Arrow: Down 125">
            <a:extLst>
              <a:ext uri="{FF2B5EF4-FFF2-40B4-BE49-F238E27FC236}">
                <a16:creationId xmlns:a16="http://schemas.microsoft.com/office/drawing/2014/main" id="{115FED72-C0EA-5CE3-82E1-3FEB8CD5F845}"/>
              </a:ext>
            </a:extLst>
          </p:cNvPr>
          <p:cNvSpPr/>
          <p:nvPr/>
        </p:nvSpPr>
        <p:spPr>
          <a:xfrm rot="5400000">
            <a:off x="8427463" y="4045185"/>
            <a:ext cx="170188" cy="135591"/>
          </a:xfrm>
          <a:prstGeom prst="downArrow">
            <a:avLst/>
          </a:prstGeom>
          <a:solidFill>
            <a:schemeClr val="tx1">
              <a:lumMod val="50000"/>
              <a:lumOff val="50000"/>
              <a:alpha val="1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27" name="Arrow: Down 126">
            <a:extLst>
              <a:ext uri="{FF2B5EF4-FFF2-40B4-BE49-F238E27FC236}">
                <a16:creationId xmlns:a16="http://schemas.microsoft.com/office/drawing/2014/main" id="{828C4C85-C957-8B28-C8B8-0FCB7F8C2709}"/>
              </a:ext>
            </a:extLst>
          </p:cNvPr>
          <p:cNvSpPr/>
          <p:nvPr/>
        </p:nvSpPr>
        <p:spPr>
          <a:xfrm rot="5400000">
            <a:off x="4340404" y="4045186"/>
            <a:ext cx="170188" cy="135591"/>
          </a:xfrm>
          <a:prstGeom prst="downArrow">
            <a:avLst/>
          </a:prstGeom>
          <a:solidFill>
            <a:schemeClr val="tx1">
              <a:lumMod val="50000"/>
              <a:lumOff val="50000"/>
              <a:alpha val="1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29" name="Rectangle: Rounded Corners 128">
            <a:extLst>
              <a:ext uri="{FF2B5EF4-FFF2-40B4-BE49-F238E27FC236}">
                <a16:creationId xmlns:a16="http://schemas.microsoft.com/office/drawing/2014/main" id="{E39F0B91-1D61-2173-0C6F-B81C8A1159C3}"/>
              </a:ext>
            </a:extLst>
          </p:cNvPr>
          <p:cNvSpPr/>
          <p:nvPr/>
        </p:nvSpPr>
        <p:spPr>
          <a:xfrm>
            <a:off x="8636598" y="4455089"/>
            <a:ext cx="1653837" cy="528559"/>
          </a:xfrm>
          <a:prstGeom prst="roundRect">
            <a:avLst/>
          </a:prstGeom>
          <a:solidFill>
            <a:srgbClr val="F0BE0F">
              <a:alpha val="16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15296B"/>
              </a:solidFill>
              <a:effectLst/>
              <a:uLnTx/>
              <a:uFillTx/>
              <a:latin typeface="Calibri"/>
              <a:ea typeface="+mn-ea"/>
              <a:cs typeface="Calibri"/>
            </a:endParaRPr>
          </a:p>
        </p:txBody>
      </p:sp>
      <p:sp>
        <p:nvSpPr>
          <p:cNvPr id="130" name="TextBox 129">
            <a:extLst>
              <a:ext uri="{FF2B5EF4-FFF2-40B4-BE49-F238E27FC236}">
                <a16:creationId xmlns:a16="http://schemas.microsoft.com/office/drawing/2014/main" id="{A97189CE-BEBB-F699-ED72-E47A6660CF39}"/>
              </a:ext>
            </a:extLst>
          </p:cNvPr>
          <p:cNvSpPr txBox="1"/>
          <p:nvPr/>
        </p:nvSpPr>
        <p:spPr>
          <a:xfrm>
            <a:off x="8636598" y="4585934"/>
            <a:ext cx="1653837" cy="266868"/>
          </a:xfrm>
          <a:prstGeom prst="rect">
            <a:avLst/>
          </a:prstGeom>
          <a:noFill/>
        </p:spPr>
        <p:txBody>
          <a:bodyPr wrap="square">
            <a:spAutoFit/>
          </a:bodyPr>
          <a:lstStyle/>
          <a:p>
            <a:pPr marL="0" marR="0" lvl="0" indent="0" algn="ctr" defTabSz="457200" rtl="1" eaLnBrk="1" fontAlgn="auto" latinLnBrk="0" hangingPunct="1">
              <a:lnSpc>
                <a:spcPct val="108000"/>
              </a:lnSpc>
              <a:spcBef>
                <a:spcPts val="0"/>
              </a:spcBef>
              <a:spcAft>
                <a:spcPts val="0"/>
              </a:spcAft>
              <a:buClrTx/>
              <a:buSzTx/>
              <a:buFontTx/>
              <a:buNone/>
              <a:tabLst/>
              <a:defRPr/>
            </a:pPr>
            <a:r>
              <a:rPr kumimoji="0" lang="fa-IR" sz="1050" b="1" i="0" u="none" strike="noStrike" kern="1200" cap="none" spc="0" normalizeH="0" baseline="0" noProof="0" dirty="0">
                <a:ln>
                  <a:noFill/>
                </a:ln>
                <a:solidFill>
                  <a:srgbClr val="15296B"/>
                </a:solidFill>
                <a:effectLst/>
                <a:uLnTx/>
                <a:uFillTx/>
                <a:latin typeface="Yekan Bakh FaNum" pitchFamily="2" charset="-78"/>
                <a:ea typeface="+mn-ea"/>
                <a:cs typeface="Yekan Bakh FaNum" pitchFamily="2" charset="-78"/>
              </a:rPr>
              <a:t>مدیریت‌شده+مشارکتی</a:t>
            </a:r>
          </a:p>
        </p:txBody>
      </p:sp>
      <p:sp>
        <p:nvSpPr>
          <p:cNvPr id="131" name="Rectangle: Rounded Corners 130">
            <a:extLst>
              <a:ext uri="{FF2B5EF4-FFF2-40B4-BE49-F238E27FC236}">
                <a16:creationId xmlns:a16="http://schemas.microsoft.com/office/drawing/2014/main" id="{A690B3FE-1FE0-6928-D3D1-28767728C2F8}"/>
              </a:ext>
            </a:extLst>
          </p:cNvPr>
          <p:cNvSpPr/>
          <p:nvPr/>
        </p:nvSpPr>
        <p:spPr>
          <a:xfrm>
            <a:off x="10538516" y="4455089"/>
            <a:ext cx="705056" cy="528559"/>
          </a:xfrm>
          <a:prstGeom prst="roundRect">
            <a:avLst/>
          </a:prstGeom>
          <a:solidFill>
            <a:srgbClr val="15296B">
              <a:alpha val="40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dirty="0">
              <a:ln>
                <a:noFill/>
              </a:ln>
              <a:solidFill>
                <a:srgbClr val="15296B"/>
              </a:solidFill>
              <a:effectLst/>
              <a:uLnTx/>
              <a:uFillTx/>
              <a:latin typeface="Calibri"/>
              <a:ea typeface="+mn-ea"/>
              <a:cs typeface="Calibri"/>
            </a:endParaRPr>
          </a:p>
        </p:txBody>
      </p:sp>
      <p:sp>
        <p:nvSpPr>
          <p:cNvPr id="132" name="TextBox 131">
            <a:extLst>
              <a:ext uri="{FF2B5EF4-FFF2-40B4-BE49-F238E27FC236}">
                <a16:creationId xmlns:a16="http://schemas.microsoft.com/office/drawing/2014/main" id="{2994AE5B-357E-BA8A-C317-89C6A956C1D0}"/>
              </a:ext>
            </a:extLst>
          </p:cNvPr>
          <p:cNvSpPr txBox="1"/>
          <p:nvPr/>
        </p:nvSpPr>
        <p:spPr>
          <a:xfrm>
            <a:off x="10664057" y="4550091"/>
            <a:ext cx="453974" cy="338554"/>
          </a:xfrm>
          <a:prstGeom prst="rect">
            <a:avLst/>
          </a:prstGeom>
          <a:noFill/>
        </p:spPr>
        <p:txBody>
          <a:bodyPr wrap="square"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D</a:t>
            </a:r>
            <a:endParaRPr kumimoji="0" lang="fa-IR" sz="16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sp>
        <p:nvSpPr>
          <p:cNvPr id="133" name="Rectangle: Rounded Corners 132">
            <a:extLst>
              <a:ext uri="{FF2B5EF4-FFF2-40B4-BE49-F238E27FC236}">
                <a16:creationId xmlns:a16="http://schemas.microsoft.com/office/drawing/2014/main" id="{75AE37BD-B319-75BF-C947-56AB35687664}"/>
              </a:ext>
            </a:extLst>
          </p:cNvPr>
          <p:cNvSpPr/>
          <p:nvPr/>
        </p:nvSpPr>
        <p:spPr>
          <a:xfrm>
            <a:off x="4548039" y="4455089"/>
            <a:ext cx="3840480" cy="528559"/>
          </a:xfrm>
          <a:prstGeom prst="roundRect">
            <a:avLst/>
          </a:prstGeom>
          <a:solidFill>
            <a:schemeClr val="bg1">
              <a:lumMod val="95000"/>
              <a:alpha val="59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مأموریت</a:t>
            </a:r>
            <a:r>
              <a:rPr kumimoji="0" lang="en-US" sz="9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M&amp;A </a:t>
            </a:r>
            <a:r>
              <a:rPr kumimoji="0" lang="fa-IR" sz="9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 یا تأمین مالی توسعه با دامنه مشخص و پرداخت مرحله‌ای؛ «اکوسیستم فرصت ایران» راستی‌آزمایی و ساختار معامله را مدیریت می‌کند</a:t>
            </a:r>
          </a:p>
        </p:txBody>
      </p:sp>
      <p:sp>
        <p:nvSpPr>
          <p:cNvPr id="134" name="Rectangle: Rounded Corners 133">
            <a:extLst>
              <a:ext uri="{FF2B5EF4-FFF2-40B4-BE49-F238E27FC236}">
                <a16:creationId xmlns:a16="http://schemas.microsoft.com/office/drawing/2014/main" id="{6C286F79-005E-F9B2-0DF9-428E4CB8B5DB}"/>
              </a:ext>
            </a:extLst>
          </p:cNvPr>
          <p:cNvSpPr/>
          <p:nvPr/>
        </p:nvSpPr>
        <p:spPr>
          <a:xfrm>
            <a:off x="459478" y="4455089"/>
            <a:ext cx="3840480" cy="528559"/>
          </a:xfrm>
          <a:prstGeom prst="roundRect">
            <a:avLst/>
          </a:prstGeom>
          <a:solidFill>
            <a:schemeClr val="bg1">
              <a:lumMod val="95000"/>
              <a:alpha val="59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مدل بانکداری سرمایه‌گذاری بوتیک در معاملات </a:t>
            </a:r>
            <a:r>
              <a:rPr kumimoji="0" lang="en-US"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M&amp;A</a:t>
            </a:r>
            <a:r>
              <a:rPr kumimoji="0" lang="fa-IR"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 میان‌بازار.</a:t>
            </a:r>
          </a:p>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بنچمارک: </a:t>
            </a:r>
            <a:r>
              <a:rPr kumimoji="0" lang="fa-IR"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خدمت</a:t>
            </a:r>
            <a:r>
              <a:rPr kumimoji="0" lang="en-US"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matchmaking </a:t>
            </a:r>
            <a:r>
              <a:rPr kumimoji="0" lang="fa-IR"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 تراکنشی </a:t>
            </a:r>
            <a:r>
              <a:rPr kumimoji="0" lang="en-US"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Hum Capital/Turn8</a:t>
            </a:r>
          </a:p>
        </p:txBody>
      </p:sp>
      <p:sp>
        <p:nvSpPr>
          <p:cNvPr id="135" name="Arrow: Down 134">
            <a:extLst>
              <a:ext uri="{FF2B5EF4-FFF2-40B4-BE49-F238E27FC236}">
                <a16:creationId xmlns:a16="http://schemas.microsoft.com/office/drawing/2014/main" id="{A39A0CF8-1F88-6333-4E72-9993C4CFFFAE}"/>
              </a:ext>
            </a:extLst>
          </p:cNvPr>
          <p:cNvSpPr/>
          <p:nvPr/>
        </p:nvSpPr>
        <p:spPr>
          <a:xfrm rot="5400000">
            <a:off x="8427463" y="4651573"/>
            <a:ext cx="170188" cy="135591"/>
          </a:xfrm>
          <a:prstGeom prst="downArrow">
            <a:avLst/>
          </a:prstGeom>
          <a:solidFill>
            <a:schemeClr val="tx1">
              <a:lumMod val="50000"/>
              <a:lumOff val="50000"/>
              <a:alpha val="1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36" name="Arrow: Down 135">
            <a:extLst>
              <a:ext uri="{FF2B5EF4-FFF2-40B4-BE49-F238E27FC236}">
                <a16:creationId xmlns:a16="http://schemas.microsoft.com/office/drawing/2014/main" id="{A1F4C927-C0E0-6BBA-5828-22ACBCBCC2CC}"/>
              </a:ext>
            </a:extLst>
          </p:cNvPr>
          <p:cNvSpPr/>
          <p:nvPr/>
        </p:nvSpPr>
        <p:spPr>
          <a:xfrm rot="5400000">
            <a:off x="4340404" y="4651574"/>
            <a:ext cx="170188" cy="135591"/>
          </a:xfrm>
          <a:prstGeom prst="downArrow">
            <a:avLst/>
          </a:prstGeom>
          <a:solidFill>
            <a:schemeClr val="tx1">
              <a:lumMod val="50000"/>
              <a:lumOff val="50000"/>
              <a:alpha val="1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38" name="Rectangle: Rounded Corners 137">
            <a:extLst>
              <a:ext uri="{FF2B5EF4-FFF2-40B4-BE49-F238E27FC236}">
                <a16:creationId xmlns:a16="http://schemas.microsoft.com/office/drawing/2014/main" id="{9F35F2AB-743C-FA81-2DE1-E686D62EE3EB}"/>
              </a:ext>
            </a:extLst>
          </p:cNvPr>
          <p:cNvSpPr/>
          <p:nvPr/>
        </p:nvSpPr>
        <p:spPr>
          <a:xfrm>
            <a:off x="8636598" y="5061476"/>
            <a:ext cx="1653837" cy="528559"/>
          </a:xfrm>
          <a:prstGeom prst="roundRect">
            <a:avLst/>
          </a:prstGeom>
          <a:solidFill>
            <a:srgbClr val="F0BE0F">
              <a:alpha val="16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15296B"/>
              </a:solidFill>
              <a:effectLst/>
              <a:uLnTx/>
              <a:uFillTx/>
              <a:latin typeface="Calibri"/>
              <a:ea typeface="+mn-ea"/>
              <a:cs typeface="Calibri"/>
            </a:endParaRPr>
          </a:p>
        </p:txBody>
      </p:sp>
      <p:sp>
        <p:nvSpPr>
          <p:cNvPr id="139" name="TextBox 138">
            <a:extLst>
              <a:ext uri="{FF2B5EF4-FFF2-40B4-BE49-F238E27FC236}">
                <a16:creationId xmlns:a16="http://schemas.microsoft.com/office/drawing/2014/main" id="{BAC9336B-6266-C899-2713-D5B53B46985A}"/>
              </a:ext>
            </a:extLst>
          </p:cNvPr>
          <p:cNvSpPr txBox="1"/>
          <p:nvPr/>
        </p:nvSpPr>
        <p:spPr>
          <a:xfrm>
            <a:off x="8636598" y="5192321"/>
            <a:ext cx="1653837" cy="266868"/>
          </a:xfrm>
          <a:prstGeom prst="rect">
            <a:avLst/>
          </a:prstGeom>
          <a:noFill/>
        </p:spPr>
        <p:txBody>
          <a:bodyPr wrap="square">
            <a:spAutoFit/>
          </a:bodyPr>
          <a:lstStyle/>
          <a:p>
            <a:pPr marL="0" marR="0" lvl="0" indent="0" algn="ctr" defTabSz="457200" rtl="1" eaLnBrk="1" fontAlgn="auto" latinLnBrk="0" hangingPunct="1">
              <a:lnSpc>
                <a:spcPct val="108000"/>
              </a:lnSpc>
              <a:spcBef>
                <a:spcPts val="0"/>
              </a:spcBef>
              <a:spcAft>
                <a:spcPts val="0"/>
              </a:spcAft>
              <a:buClrTx/>
              <a:buSzTx/>
              <a:buFontTx/>
              <a:buNone/>
              <a:tabLst/>
              <a:defRPr/>
            </a:pPr>
            <a:r>
              <a:rPr kumimoji="0" lang="fa-IR" sz="1050" b="1" i="0" u="none" strike="noStrike" kern="1200" cap="none" spc="0" normalizeH="0" baseline="0" noProof="0" dirty="0">
                <a:ln>
                  <a:noFill/>
                </a:ln>
                <a:solidFill>
                  <a:srgbClr val="15296B"/>
                </a:solidFill>
                <a:effectLst/>
                <a:uLnTx/>
                <a:uFillTx/>
                <a:latin typeface="Yekan Bakh FaNum" pitchFamily="2" charset="-78"/>
                <a:ea typeface="+mn-ea"/>
                <a:cs typeface="Yekan Bakh FaNum" pitchFamily="2" charset="-78"/>
              </a:rPr>
              <a:t>شراکت راهبردی</a:t>
            </a:r>
          </a:p>
        </p:txBody>
      </p:sp>
      <p:sp>
        <p:nvSpPr>
          <p:cNvPr id="140" name="Rectangle: Rounded Corners 139">
            <a:extLst>
              <a:ext uri="{FF2B5EF4-FFF2-40B4-BE49-F238E27FC236}">
                <a16:creationId xmlns:a16="http://schemas.microsoft.com/office/drawing/2014/main" id="{6BA32ED7-4EAD-4CB5-2EF4-470A0BD6C836}"/>
              </a:ext>
            </a:extLst>
          </p:cNvPr>
          <p:cNvSpPr/>
          <p:nvPr/>
        </p:nvSpPr>
        <p:spPr>
          <a:xfrm>
            <a:off x="10538516" y="5061476"/>
            <a:ext cx="705056" cy="528559"/>
          </a:xfrm>
          <a:prstGeom prst="round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dirty="0">
              <a:ln>
                <a:noFill/>
              </a:ln>
              <a:solidFill>
                <a:srgbClr val="15296B"/>
              </a:solidFill>
              <a:effectLst/>
              <a:uLnTx/>
              <a:uFillTx/>
              <a:latin typeface="Calibri"/>
              <a:ea typeface="+mn-ea"/>
              <a:cs typeface="Calibri"/>
            </a:endParaRPr>
          </a:p>
        </p:txBody>
      </p:sp>
      <p:sp>
        <p:nvSpPr>
          <p:cNvPr id="141" name="TextBox 140">
            <a:extLst>
              <a:ext uri="{FF2B5EF4-FFF2-40B4-BE49-F238E27FC236}">
                <a16:creationId xmlns:a16="http://schemas.microsoft.com/office/drawing/2014/main" id="{9D87FD2E-0EAD-A1A0-6F0F-13B70D47EF1E}"/>
              </a:ext>
            </a:extLst>
          </p:cNvPr>
          <p:cNvSpPr txBox="1"/>
          <p:nvPr/>
        </p:nvSpPr>
        <p:spPr>
          <a:xfrm>
            <a:off x="10664057" y="5156478"/>
            <a:ext cx="453974" cy="338554"/>
          </a:xfrm>
          <a:prstGeom prst="rect">
            <a:avLst/>
          </a:prstGeom>
          <a:noFill/>
        </p:spPr>
        <p:txBody>
          <a:bodyPr wrap="square"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5296B"/>
                </a:solidFill>
                <a:effectLst/>
                <a:uLnTx/>
                <a:uFillTx/>
                <a:latin typeface="Yekan Bakh" pitchFamily="2" charset="-78"/>
                <a:ea typeface="Yekan Bakh" pitchFamily="2" charset="-78"/>
                <a:cs typeface="Yekan Bakh" pitchFamily="2" charset="-78"/>
              </a:rPr>
              <a:t>E</a:t>
            </a:r>
            <a:endParaRPr kumimoji="0" lang="fa-IR" sz="1600" b="1" i="0" u="none" strike="noStrike" kern="1200" cap="none" spc="0" normalizeH="0" baseline="0" noProof="0" dirty="0">
              <a:ln>
                <a:noFill/>
              </a:ln>
              <a:solidFill>
                <a:srgbClr val="15296B"/>
              </a:solidFill>
              <a:effectLst/>
              <a:uLnTx/>
              <a:uFillTx/>
              <a:latin typeface="Yekan Bakh" pitchFamily="2" charset="-78"/>
              <a:ea typeface="Yekan Bakh" pitchFamily="2" charset="-78"/>
              <a:cs typeface="Yekan Bakh" pitchFamily="2" charset="-78"/>
            </a:endParaRPr>
          </a:p>
        </p:txBody>
      </p:sp>
      <p:sp>
        <p:nvSpPr>
          <p:cNvPr id="142" name="Rectangle: Rounded Corners 141">
            <a:extLst>
              <a:ext uri="{FF2B5EF4-FFF2-40B4-BE49-F238E27FC236}">
                <a16:creationId xmlns:a16="http://schemas.microsoft.com/office/drawing/2014/main" id="{647AD515-C734-8503-B3B0-03BF2BAD00DC}"/>
              </a:ext>
            </a:extLst>
          </p:cNvPr>
          <p:cNvSpPr/>
          <p:nvPr/>
        </p:nvSpPr>
        <p:spPr>
          <a:xfrm>
            <a:off x="4548039" y="5061476"/>
            <a:ext cx="3840480" cy="528559"/>
          </a:xfrm>
          <a:prstGeom prst="roundRect">
            <a:avLst/>
          </a:prstGeom>
          <a:solidFill>
            <a:schemeClr val="bg1">
              <a:lumMod val="95000"/>
              <a:alpha val="59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وقتی شرکت به «حساب لنگر» تبدیل می‌شود — هم مشتری مکرر، هم معرف سایر شرکت‌های ایرانی؛ رابطه در سطح هیئت‌مدیره</a:t>
            </a:r>
          </a:p>
        </p:txBody>
      </p:sp>
      <p:sp>
        <p:nvSpPr>
          <p:cNvPr id="143" name="Rectangle: Rounded Corners 142">
            <a:extLst>
              <a:ext uri="{FF2B5EF4-FFF2-40B4-BE49-F238E27FC236}">
                <a16:creationId xmlns:a16="http://schemas.microsoft.com/office/drawing/2014/main" id="{9B803F6C-83ED-ECA7-0EF3-F2DD33295CC9}"/>
              </a:ext>
            </a:extLst>
          </p:cNvPr>
          <p:cNvSpPr/>
          <p:nvPr/>
        </p:nvSpPr>
        <p:spPr>
          <a:xfrm>
            <a:off x="459478" y="5061476"/>
            <a:ext cx="3840480" cy="528559"/>
          </a:xfrm>
          <a:prstGeom prst="roundRect">
            <a:avLst/>
          </a:prstGeom>
          <a:solidFill>
            <a:schemeClr val="bg1">
              <a:lumMod val="95000"/>
              <a:alpha val="59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بنچمارک: مدل «</a:t>
            </a:r>
            <a:r>
              <a:rPr kumimoji="0" lang="en-US"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Endeavor Entrepreneur</a:t>
            </a:r>
            <a:r>
              <a:rPr kumimoji="0" lang="fa-IR"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 فارغ‌التحصیلان به مشاور/معرف نسل بعدی شبکه تبدیل می‌شوند</a:t>
            </a:r>
          </a:p>
        </p:txBody>
      </p:sp>
      <p:sp>
        <p:nvSpPr>
          <p:cNvPr id="144" name="Arrow: Down 143">
            <a:extLst>
              <a:ext uri="{FF2B5EF4-FFF2-40B4-BE49-F238E27FC236}">
                <a16:creationId xmlns:a16="http://schemas.microsoft.com/office/drawing/2014/main" id="{549FE918-1620-7EAB-A774-A18A4EFD2A31}"/>
              </a:ext>
            </a:extLst>
          </p:cNvPr>
          <p:cNvSpPr/>
          <p:nvPr/>
        </p:nvSpPr>
        <p:spPr>
          <a:xfrm rot="5400000">
            <a:off x="8427463" y="5257960"/>
            <a:ext cx="170188" cy="135591"/>
          </a:xfrm>
          <a:prstGeom prst="downArrow">
            <a:avLst/>
          </a:prstGeom>
          <a:solidFill>
            <a:schemeClr val="tx1">
              <a:lumMod val="50000"/>
              <a:lumOff val="50000"/>
              <a:alpha val="1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45" name="Arrow: Down 144">
            <a:extLst>
              <a:ext uri="{FF2B5EF4-FFF2-40B4-BE49-F238E27FC236}">
                <a16:creationId xmlns:a16="http://schemas.microsoft.com/office/drawing/2014/main" id="{64A65F71-170C-26D1-1719-EFA09CB5685C}"/>
              </a:ext>
            </a:extLst>
          </p:cNvPr>
          <p:cNvSpPr/>
          <p:nvPr/>
        </p:nvSpPr>
        <p:spPr>
          <a:xfrm rot="5400000">
            <a:off x="4340404" y="5257961"/>
            <a:ext cx="170188" cy="135591"/>
          </a:xfrm>
          <a:prstGeom prst="downArrow">
            <a:avLst/>
          </a:prstGeom>
          <a:solidFill>
            <a:schemeClr val="tx1">
              <a:lumMod val="50000"/>
              <a:lumOff val="50000"/>
              <a:alpha val="1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Tree>
    <p:extLst>
      <p:ext uri="{BB962C8B-B14F-4D97-AF65-F5344CB8AC3E}">
        <p14:creationId xmlns:p14="http://schemas.microsoft.com/office/powerpoint/2010/main" val="1892470783"/>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AB5DC5-F6ED-79EC-7D27-478D0E52E75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068FF3A-807A-6836-22CA-2956017A962C}"/>
              </a:ext>
            </a:extLst>
          </p:cNvPr>
          <p:cNvSpPr>
            <a:spLocks noGrp="1"/>
          </p:cNvSpPr>
          <p:nvPr>
            <p:ph type="body" sz="quarter" idx="10"/>
          </p:nvPr>
        </p:nvSpPr>
        <p:spPr/>
        <p:txBody>
          <a:bodyPr/>
          <a:lstStyle/>
          <a:p>
            <a:r>
              <a:rPr lang="fa-IR" dirty="0"/>
              <a:t>۷. تخصیص رابطه — پرسونا 2 از ۶ — کسب‌وکار تراز خارجی</a:t>
            </a:r>
            <a:endParaRPr lang="en-GB" dirty="0"/>
          </a:p>
        </p:txBody>
      </p:sp>
      <p:sp>
        <p:nvSpPr>
          <p:cNvPr id="3" name="Text Placeholder 2">
            <a:extLst>
              <a:ext uri="{FF2B5EF4-FFF2-40B4-BE49-F238E27FC236}">
                <a16:creationId xmlns:a16="http://schemas.microsoft.com/office/drawing/2014/main" id="{A7F0BE7E-672E-2A93-D11B-D5FE7A52F91A}"/>
              </a:ext>
            </a:extLst>
          </p:cNvPr>
          <p:cNvSpPr>
            <a:spLocks noGrp="1"/>
          </p:cNvSpPr>
          <p:nvPr>
            <p:ph type="body" sz="quarter" idx="12"/>
          </p:nvPr>
        </p:nvSpPr>
        <p:spPr/>
        <p:txBody>
          <a:bodyPr/>
          <a:lstStyle/>
          <a:p>
            <a:r>
              <a:rPr lang="fa-IR" dirty="0"/>
              <a:t>محور اصلی این پرسونا مدیریت ریسک انطباق است — از گزارش عمومی تا شراکت نهادی حامل اعتبار</a:t>
            </a:r>
          </a:p>
        </p:txBody>
      </p:sp>
      <p:sp>
        <p:nvSpPr>
          <p:cNvPr id="4" name="Rectangle: Rounded Corners 3">
            <a:extLst>
              <a:ext uri="{FF2B5EF4-FFF2-40B4-BE49-F238E27FC236}">
                <a16:creationId xmlns:a16="http://schemas.microsoft.com/office/drawing/2014/main" id="{6466A645-FA29-36E1-EAF1-8FD0525A0171}"/>
              </a:ext>
            </a:extLst>
          </p:cNvPr>
          <p:cNvSpPr/>
          <p:nvPr/>
        </p:nvSpPr>
        <p:spPr>
          <a:xfrm>
            <a:off x="10498755" y="1440259"/>
            <a:ext cx="744817" cy="577516"/>
          </a:xfrm>
          <a:prstGeom prst="roundRect">
            <a:avLst/>
          </a:prstGeom>
          <a:solidFill>
            <a:srgbClr val="15296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نیاز محوری</a:t>
            </a:r>
            <a:endParaRPr kumimoji="0" lang="en-GB" sz="105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sp>
        <p:nvSpPr>
          <p:cNvPr id="5" name="Isosceles Triangle 4">
            <a:extLst>
              <a:ext uri="{FF2B5EF4-FFF2-40B4-BE49-F238E27FC236}">
                <a16:creationId xmlns:a16="http://schemas.microsoft.com/office/drawing/2014/main" id="{3F7741A7-C0E4-CDF2-E6D7-D9E9030A9356}"/>
              </a:ext>
            </a:extLst>
          </p:cNvPr>
          <p:cNvSpPr/>
          <p:nvPr/>
        </p:nvSpPr>
        <p:spPr>
          <a:xfrm rot="16200000">
            <a:off x="10127842" y="1675364"/>
            <a:ext cx="577516" cy="107305"/>
          </a:xfrm>
          <a:prstGeom prst="triangle">
            <a:avLst/>
          </a:prstGeom>
          <a:solidFill>
            <a:srgbClr val="F0BE0F">
              <a:alpha val="5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6" name="Rectangle: Rounded Corners 5">
            <a:extLst>
              <a:ext uri="{FF2B5EF4-FFF2-40B4-BE49-F238E27FC236}">
                <a16:creationId xmlns:a16="http://schemas.microsoft.com/office/drawing/2014/main" id="{CE75DF9D-98CC-5351-A474-DA4456E2CEE4}"/>
              </a:ext>
            </a:extLst>
          </p:cNvPr>
          <p:cNvSpPr/>
          <p:nvPr/>
        </p:nvSpPr>
        <p:spPr>
          <a:xfrm>
            <a:off x="5940763" y="1440259"/>
            <a:ext cx="4393682" cy="577516"/>
          </a:xfrm>
          <a:prstGeom prst="roundRect">
            <a:avLst/>
          </a:prstGeom>
          <a:noFill/>
          <a:ln w="6350">
            <a:solidFill>
              <a:srgbClr val="004D80">
                <a:alpha val="46000"/>
              </a:srgb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دسترسی به بازار ایران و اطمینان از اجرای معامله طبق تعهدات</a:t>
            </a:r>
            <a:endParaRPr kumimoji="0" lang="en-GB" sz="10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9" name="Rectangle: Rounded Corners 8">
            <a:extLst>
              <a:ext uri="{FF2B5EF4-FFF2-40B4-BE49-F238E27FC236}">
                <a16:creationId xmlns:a16="http://schemas.microsoft.com/office/drawing/2014/main" id="{28E5BE21-9F30-87D7-160E-504828870F7E}"/>
              </a:ext>
            </a:extLst>
          </p:cNvPr>
          <p:cNvSpPr/>
          <p:nvPr/>
        </p:nvSpPr>
        <p:spPr>
          <a:xfrm>
            <a:off x="5017471" y="1440259"/>
            <a:ext cx="744817" cy="577516"/>
          </a:xfrm>
          <a:prstGeom prst="round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رفتار</a:t>
            </a:r>
            <a:endParaRPr kumimoji="0" lang="en-GB" sz="105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sp>
        <p:nvSpPr>
          <p:cNvPr id="10" name="Isosceles Triangle 9">
            <a:extLst>
              <a:ext uri="{FF2B5EF4-FFF2-40B4-BE49-F238E27FC236}">
                <a16:creationId xmlns:a16="http://schemas.microsoft.com/office/drawing/2014/main" id="{3325A57B-390A-DBE2-5C6A-4EF786AE4A09}"/>
              </a:ext>
            </a:extLst>
          </p:cNvPr>
          <p:cNvSpPr/>
          <p:nvPr/>
        </p:nvSpPr>
        <p:spPr>
          <a:xfrm rot="16200000">
            <a:off x="4646558" y="1675364"/>
            <a:ext cx="577516" cy="107305"/>
          </a:xfrm>
          <a:prstGeom prst="triangle">
            <a:avLst/>
          </a:prstGeom>
          <a:solidFill>
            <a:srgbClr val="F0BE0F">
              <a:alpha val="5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1" name="Rectangle: Rounded Corners 10">
            <a:extLst>
              <a:ext uri="{FF2B5EF4-FFF2-40B4-BE49-F238E27FC236}">
                <a16:creationId xmlns:a16="http://schemas.microsoft.com/office/drawing/2014/main" id="{832CA40A-38C1-25AC-B1FF-FD483D36D981}"/>
              </a:ext>
            </a:extLst>
          </p:cNvPr>
          <p:cNvSpPr/>
          <p:nvPr/>
        </p:nvSpPr>
        <p:spPr>
          <a:xfrm>
            <a:off x="459479" y="1440259"/>
            <a:ext cx="4393682" cy="577516"/>
          </a:xfrm>
          <a:prstGeom prst="roundRect">
            <a:avLst/>
          </a:prstGeom>
          <a:noFill/>
          <a:ln w="6350">
            <a:solidFill>
              <a:schemeClr val="bg1">
                <a:lumMod val="75000"/>
                <a:alpha val="46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فرآیندمحور؛</a:t>
            </a:r>
          </a:p>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واحد انطباق/حقوقی حق وتوی واقعی دارد</a:t>
            </a:r>
            <a:endParaRPr kumimoji="0" lang="en-GB" sz="9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endParaRPr>
          </a:p>
        </p:txBody>
      </p:sp>
      <p:cxnSp>
        <p:nvCxnSpPr>
          <p:cNvPr id="29" name="Straight Connector 28">
            <a:extLst>
              <a:ext uri="{FF2B5EF4-FFF2-40B4-BE49-F238E27FC236}">
                <a16:creationId xmlns:a16="http://schemas.microsoft.com/office/drawing/2014/main" id="{79987451-BE17-7F68-92BD-C0B1729935B2}"/>
              </a:ext>
            </a:extLst>
          </p:cNvPr>
          <p:cNvCxnSpPr>
            <a:cxnSpLocks/>
          </p:cNvCxnSpPr>
          <p:nvPr/>
        </p:nvCxnSpPr>
        <p:spPr>
          <a:xfrm>
            <a:off x="8636598" y="2445906"/>
            <a:ext cx="1653837" cy="0"/>
          </a:xfrm>
          <a:prstGeom prst="line">
            <a:avLst/>
          </a:prstGeom>
          <a:ln w="3175">
            <a:solidFill>
              <a:srgbClr val="F0BE0F"/>
            </a:solidFill>
          </a:ln>
        </p:spPr>
        <p:style>
          <a:lnRef idx="1">
            <a:schemeClr val="accent2"/>
          </a:lnRef>
          <a:fillRef idx="0">
            <a:schemeClr val="accent2"/>
          </a:fillRef>
          <a:effectRef idx="0">
            <a:schemeClr val="accent2"/>
          </a:effectRef>
          <a:fontRef idx="minor">
            <a:schemeClr val="tx1"/>
          </a:fontRef>
        </p:style>
      </p:cxnSp>
      <p:sp>
        <p:nvSpPr>
          <p:cNvPr id="14" name="TextBox 13">
            <a:extLst>
              <a:ext uri="{FF2B5EF4-FFF2-40B4-BE49-F238E27FC236}">
                <a16:creationId xmlns:a16="http://schemas.microsoft.com/office/drawing/2014/main" id="{C5E20E32-2E05-25D1-78CC-F4A8284FD645}"/>
              </a:ext>
            </a:extLst>
          </p:cNvPr>
          <p:cNvSpPr txBox="1"/>
          <p:nvPr/>
        </p:nvSpPr>
        <p:spPr>
          <a:xfrm>
            <a:off x="8738779" y="2330490"/>
            <a:ext cx="1449474" cy="230832"/>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rPr>
              <a:t>آرکی‌تایپ رابطه پیشنهادی</a:t>
            </a:r>
          </a:p>
        </p:txBody>
      </p:sp>
      <p:cxnSp>
        <p:nvCxnSpPr>
          <p:cNvPr id="35" name="Straight Connector 34">
            <a:extLst>
              <a:ext uri="{FF2B5EF4-FFF2-40B4-BE49-F238E27FC236}">
                <a16:creationId xmlns:a16="http://schemas.microsoft.com/office/drawing/2014/main" id="{6D617AF6-1F0A-B6AE-53ED-B8AA81EE2A28}"/>
              </a:ext>
            </a:extLst>
          </p:cNvPr>
          <p:cNvCxnSpPr>
            <a:cxnSpLocks/>
          </p:cNvCxnSpPr>
          <p:nvPr/>
        </p:nvCxnSpPr>
        <p:spPr>
          <a:xfrm>
            <a:off x="459478" y="2445906"/>
            <a:ext cx="3840480" cy="0"/>
          </a:xfrm>
          <a:prstGeom prst="line">
            <a:avLst/>
          </a:prstGeom>
          <a:ln w="3175">
            <a:solidFill>
              <a:schemeClr val="bg1">
                <a:lumMod val="85000"/>
              </a:schemeClr>
            </a:solidFill>
          </a:ln>
        </p:spPr>
        <p:style>
          <a:lnRef idx="1">
            <a:schemeClr val="accent2"/>
          </a:lnRef>
          <a:fillRef idx="0">
            <a:schemeClr val="accent2"/>
          </a:fillRef>
          <a:effectRef idx="0">
            <a:schemeClr val="accent2"/>
          </a:effectRef>
          <a:fontRef idx="minor">
            <a:schemeClr val="tx1"/>
          </a:fontRef>
        </p:style>
      </p:cxnSp>
      <p:sp>
        <p:nvSpPr>
          <p:cNvPr id="36" name="TextBox 35">
            <a:extLst>
              <a:ext uri="{FF2B5EF4-FFF2-40B4-BE49-F238E27FC236}">
                <a16:creationId xmlns:a16="http://schemas.microsoft.com/office/drawing/2014/main" id="{5FBDFB3F-C720-944F-7113-4FBA39170C0C}"/>
              </a:ext>
            </a:extLst>
          </p:cNvPr>
          <p:cNvSpPr txBox="1"/>
          <p:nvPr/>
        </p:nvSpPr>
        <p:spPr>
          <a:xfrm>
            <a:off x="1464417" y="2330490"/>
            <a:ext cx="1830602" cy="230832"/>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rPr>
              <a:t>مثال جهانی و بنچمارک برون‌مرزی</a:t>
            </a:r>
          </a:p>
        </p:txBody>
      </p:sp>
      <p:cxnSp>
        <p:nvCxnSpPr>
          <p:cNvPr id="43" name="Straight Connector 42">
            <a:extLst>
              <a:ext uri="{FF2B5EF4-FFF2-40B4-BE49-F238E27FC236}">
                <a16:creationId xmlns:a16="http://schemas.microsoft.com/office/drawing/2014/main" id="{480EE134-B76B-6F39-6A7E-DD88389CA4DA}"/>
              </a:ext>
            </a:extLst>
          </p:cNvPr>
          <p:cNvCxnSpPr>
            <a:cxnSpLocks/>
          </p:cNvCxnSpPr>
          <p:nvPr/>
        </p:nvCxnSpPr>
        <p:spPr>
          <a:xfrm>
            <a:off x="4548038" y="2445906"/>
            <a:ext cx="3840480" cy="0"/>
          </a:xfrm>
          <a:prstGeom prst="line">
            <a:avLst/>
          </a:prstGeom>
          <a:ln w="3175">
            <a:solidFill>
              <a:schemeClr val="bg1">
                <a:lumMod val="85000"/>
              </a:schemeClr>
            </a:solidFill>
          </a:ln>
        </p:spPr>
        <p:style>
          <a:lnRef idx="1">
            <a:schemeClr val="accent2"/>
          </a:lnRef>
          <a:fillRef idx="0">
            <a:schemeClr val="accent2"/>
          </a:fillRef>
          <a:effectRef idx="0">
            <a:schemeClr val="accent2"/>
          </a:effectRef>
          <a:fontRef idx="minor">
            <a:schemeClr val="tx1"/>
          </a:fontRef>
        </p:style>
      </p:cxnSp>
      <p:sp>
        <p:nvSpPr>
          <p:cNvPr id="44" name="TextBox 43">
            <a:extLst>
              <a:ext uri="{FF2B5EF4-FFF2-40B4-BE49-F238E27FC236}">
                <a16:creationId xmlns:a16="http://schemas.microsoft.com/office/drawing/2014/main" id="{64FD22BB-281B-A7A9-DFF0-AEE967D4CF4D}"/>
              </a:ext>
            </a:extLst>
          </p:cNvPr>
          <p:cNvSpPr txBox="1"/>
          <p:nvPr/>
        </p:nvSpPr>
        <p:spPr>
          <a:xfrm>
            <a:off x="5552977" y="2330490"/>
            <a:ext cx="1830602" cy="230832"/>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rPr>
              <a:t>کاربرد در اکوسیستم فرصت ایران</a:t>
            </a:r>
          </a:p>
        </p:txBody>
      </p:sp>
      <p:cxnSp>
        <p:nvCxnSpPr>
          <p:cNvPr id="47" name="Straight Connector 46">
            <a:extLst>
              <a:ext uri="{FF2B5EF4-FFF2-40B4-BE49-F238E27FC236}">
                <a16:creationId xmlns:a16="http://schemas.microsoft.com/office/drawing/2014/main" id="{DE2FE15D-8819-5ADA-E747-7A76C7ABBC13}"/>
              </a:ext>
            </a:extLst>
          </p:cNvPr>
          <p:cNvCxnSpPr>
            <a:cxnSpLocks/>
          </p:cNvCxnSpPr>
          <p:nvPr/>
        </p:nvCxnSpPr>
        <p:spPr>
          <a:xfrm>
            <a:off x="10538516" y="2445906"/>
            <a:ext cx="705056" cy="0"/>
          </a:xfrm>
          <a:prstGeom prst="line">
            <a:avLst/>
          </a:prstGeom>
          <a:ln w="3175">
            <a:solidFill>
              <a:srgbClr val="004D80"/>
            </a:solidFill>
          </a:ln>
        </p:spPr>
        <p:style>
          <a:lnRef idx="1">
            <a:schemeClr val="accent2"/>
          </a:lnRef>
          <a:fillRef idx="0">
            <a:schemeClr val="accent2"/>
          </a:fillRef>
          <a:effectRef idx="0">
            <a:schemeClr val="accent2"/>
          </a:effectRef>
          <a:fontRef idx="minor">
            <a:schemeClr val="tx1"/>
          </a:fontRef>
        </p:style>
      </p:cxnSp>
      <p:sp>
        <p:nvSpPr>
          <p:cNvPr id="48" name="TextBox 47">
            <a:extLst>
              <a:ext uri="{FF2B5EF4-FFF2-40B4-BE49-F238E27FC236}">
                <a16:creationId xmlns:a16="http://schemas.microsoft.com/office/drawing/2014/main" id="{800D6AB2-773E-EE10-1427-8D82B509E40B}"/>
              </a:ext>
            </a:extLst>
          </p:cNvPr>
          <p:cNvSpPr txBox="1"/>
          <p:nvPr/>
        </p:nvSpPr>
        <p:spPr>
          <a:xfrm>
            <a:off x="10655211" y="2330490"/>
            <a:ext cx="471667" cy="230832"/>
          </a:xfrm>
          <a:prstGeom prst="rect">
            <a:avLst/>
          </a:prstGeom>
          <a:solidFill>
            <a:schemeClr val="bg1"/>
          </a:solidFill>
          <a:ln>
            <a:noFill/>
          </a:ln>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rPr>
              <a:t>ناحیه</a:t>
            </a:r>
          </a:p>
        </p:txBody>
      </p:sp>
      <p:sp>
        <p:nvSpPr>
          <p:cNvPr id="18" name="Rectangle: Rounded Corners 17">
            <a:extLst>
              <a:ext uri="{FF2B5EF4-FFF2-40B4-BE49-F238E27FC236}">
                <a16:creationId xmlns:a16="http://schemas.microsoft.com/office/drawing/2014/main" id="{3DF0712A-2509-3146-79AC-506106D0D55D}"/>
              </a:ext>
            </a:extLst>
          </p:cNvPr>
          <p:cNvSpPr/>
          <p:nvPr/>
        </p:nvSpPr>
        <p:spPr>
          <a:xfrm>
            <a:off x="8636598" y="2635925"/>
            <a:ext cx="1653837" cy="528559"/>
          </a:xfrm>
          <a:prstGeom prst="roundRect">
            <a:avLst/>
          </a:prstGeom>
          <a:solidFill>
            <a:srgbClr val="F0BE0F">
              <a:alpha val="16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15296B"/>
              </a:solidFill>
              <a:effectLst/>
              <a:uLnTx/>
              <a:uFillTx/>
              <a:latin typeface="Calibri"/>
              <a:ea typeface="+mn-ea"/>
              <a:cs typeface="Calibri"/>
            </a:endParaRPr>
          </a:p>
        </p:txBody>
      </p:sp>
      <p:sp>
        <p:nvSpPr>
          <p:cNvPr id="22" name="TextBox 21">
            <a:extLst>
              <a:ext uri="{FF2B5EF4-FFF2-40B4-BE49-F238E27FC236}">
                <a16:creationId xmlns:a16="http://schemas.microsoft.com/office/drawing/2014/main" id="{F3948AC0-3240-16AA-E81C-D5D480A5AEA6}"/>
              </a:ext>
            </a:extLst>
          </p:cNvPr>
          <p:cNvSpPr txBox="1"/>
          <p:nvPr/>
        </p:nvSpPr>
        <p:spPr>
          <a:xfrm>
            <a:off x="8636598" y="2766770"/>
            <a:ext cx="1653837" cy="266868"/>
          </a:xfrm>
          <a:prstGeom prst="rect">
            <a:avLst/>
          </a:prstGeom>
          <a:noFill/>
        </p:spPr>
        <p:txBody>
          <a:bodyPr wrap="square">
            <a:spAutoFit/>
          </a:bodyPr>
          <a:lstStyle/>
          <a:p>
            <a:pPr marL="0" marR="0" lvl="0" indent="0" algn="ctr" defTabSz="457200" rtl="1" eaLnBrk="1" fontAlgn="auto" latinLnBrk="0" hangingPunct="1">
              <a:lnSpc>
                <a:spcPct val="108000"/>
              </a:lnSpc>
              <a:spcBef>
                <a:spcPts val="0"/>
              </a:spcBef>
              <a:spcAft>
                <a:spcPts val="0"/>
              </a:spcAft>
              <a:buClrTx/>
              <a:buSzTx/>
              <a:buFontTx/>
              <a:buNone/>
              <a:tabLst/>
              <a:defRPr/>
            </a:pPr>
            <a:r>
              <a:rPr kumimoji="0" lang="fa-IR" sz="1050" b="1" i="0" u="none" strike="noStrike" kern="1200" cap="none" spc="0" normalizeH="0" baseline="0" noProof="0" dirty="0">
                <a:ln>
                  <a:noFill/>
                </a:ln>
                <a:solidFill>
                  <a:srgbClr val="15296B"/>
                </a:solidFill>
                <a:effectLst/>
                <a:uLnTx/>
                <a:uFillTx/>
                <a:latin typeface="Yekan Bakh FaNum" pitchFamily="2" charset="-78"/>
                <a:ea typeface="+mn-ea"/>
                <a:cs typeface="Yekan Bakh FaNum" pitchFamily="2" charset="-78"/>
              </a:rPr>
              <a:t>تراکنشی</a:t>
            </a:r>
          </a:p>
        </p:txBody>
      </p:sp>
      <p:sp>
        <p:nvSpPr>
          <p:cNvPr id="52" name="Rectangle: Rounded Corners 51">
            <a:extLst>
              <a:ext uri="{FF2B5EF4-FFF2-40B4-BE49-F238E27FC236}">
                <a16:creationId xmlns:a16="http://schemas.microsoft.com/office/drawing/2014/main" id="{52107359-3DC3-40AB-6661-0976CAB2F0F4}"/>
              </a:ext>
            </a:extLst>
          </p:cNvPr>
          <p:cNvSpPr/>
          <p:nvPr/>
        </p:nvSpPr>
        <p:spPr>
          <a:xfrm>
            <a:off x="10538516" y="2635925"/>
            <a:ext cx="705056" cy="528559"/>
          </a:xfrm>
          <a:prstGeom prst="roundRect">
            <a:avLst/>
          </a:prstGeom>
          <a:solidFill>
            <a:srgbClr val="EFF3FB"/>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dirty="0">
              <a:ln>
                <a:noFill/>
              </a:ln>
              <a:solidFill>
                <a:srgbClr val="15296B"/>
              </a:solidFill>
              <a:effectLst/>
              <a:uLnTx/>
              <a:uFillTx/>
              <a:latin typeface="Calibri"/>
              <a:ea typeface="+mn-ea"/>
              <a:cs typeface="Calibri"/>
            </a:endParaRPr>
          </a:p>
        </p:txBody>
      </p:sp>
      <p:sp>
        <p:nvSpPr>
          <p:cNvPr id="19" name="TextBox 18">
            <a:extLst>
              <a:ext uri="{FF2B5EF4-FFF2-40B4-BE49-F238E27FC236}">
                <a16:creationId xmlns:a16="http://schemas.microsoft.com/office/drawing/2014/main" id="{DA48B412-F24F-BE77-A9AF-A62904E0CE7A}"/>
              </a:ext>
            </a:extLst>
          </p:cNvPr>
          <p:cNvSpPr txBox="1"/>
          <p:nvPr/>
        </p:nvSpPr>
        <p:spPr>
          <a:xfrm>
            <a:off x="10664057" y="2730927"/>
            <a:ext cx="453974" cy="338554"/>
          </a:xfrm>
          <a:prstGeom prst="rect">
            <a:avLst/>
          </a:prstGeom>
          <a:noFill/>
        </p:spPr>
        <p:txBody>
          <a:bodyPr wrap="square"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5296B"/>
                </a:solidFill>
                <a:effectLst/>
                <a:uLnTx/>
                <a:uFillTx/>
                <a:latin typeface="Yekan Bakh" pitchFamily="2" charset="-78"/>
                <a:ea typeface="Yekan Bakh" pitchFamily="2" charset="-78"/>
                <a:cs typeface="Yekan Bakh" pitchFamily="2" charset="-78"/>
              </a:rPr>
              <a:t>A</a:t>
            </a:r>
            <a:endParaRPr kumimoji="0" lang="fa-IR" sz="1600" b="1" i="0" u="none" strike="noStrike" kern="1200" cap="none" spc="0" normalizeH="0" baseline="0" noProof="0" dirty="0">
              <a:ln>
                <a:noFill/>
              </a:ln>
              <a:solidFill>
                <a:srgbClr val="15296B"/>
              </a:solidFill>
              <a:effectLst/>
              <a:uLnTx/>
              <a:uFillTx/>
              <a:latin typeface="Yekan Bakh" pitchFamily="2" charset="-78"/>
              <a:ea typeface="Yekan Bakh" pitchFamily="2" charset="-78"/>
              <a:cs typeface="Yekan Bakh" pitchFamily="2" charset="-78"/>
            </a:endParaRPr>
          </a:p>
        </p:txBody>
      </p:sp>
      <p:sp>
        <p:nvSpPr>
          <p:cNvPr id="60" name="Rectangle: Rounded Corners 59">
            <a:extLst>
              <a:ext uri="{FF2B5EF4-FFF2-40B4-BE49-F238E27FC236}">
                <a16:creationId xmlns:a16="http://schemas.microsoft.com/office/drawing/2014/main" id="{894C59CB-B76E-2CCA-542B-D7FA2A454744}"/>
              </a:ext>
            </a:extLst>
          </p:cNvPr>
          <p:cNvSpPr/>
          <p:nvPr/>
        </p:nvSpPr>
        <p:spPr>
          <a:xfrm>
            <a:off x="4548039" y="2635925"/>
            <a:ext cx="3840480" cy="528559"/>
          </a:xfrm>
          <a:prstGeom prst="roundRect">
            <a:avLst/>
          </a:prstGeom>
          <a:solidFill>
            <a:schemeClr val="bg1">
              <a:lumMod val="95000"/>
              <a:alpha val="59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دریافت خودکار گزارش عمومی «فضای کسب‌وکار ایران» — محتوای منتشرشده، بدون تعامل انسانی</a:t>
            </a:r>
          </a:p>
        </p:txBody>
      </p:sp>
      <p:sp>
        <p:nvSpPr>
          <p:cNvPr id="62" name="Rectangle: Rounded Corners 61">
            <a:extLst>
              <a:ext uri="{FF2B5EF4-FFF2-40B4-BE49-F238E27FC236}">
                <a16:creationId xmlns:a16="http://schemas.microsoft.com/office/drawing/2014/main" id="{F47D449F-C5F4-10F9-6B13-544B65E393FD}"/>
              </a:ext>
            </a:extLst>
          </p:cNvPr>
          <p:cNvSpPr/>
          <p:nvPr/>
        </p:nvSpPr>
        <p:spPr>
          <a:xfrm>
            <a:off x="459478" y="2635925"/>
            <a:ext cx="3840480" cy="528559"/>
          </a:xfrm>
          <a:prstGeom prst="roundRect">
            <a:avLst/>
          </a:prstGeom>
          <a:solidFill>
            <a:schemeClr val="bg1">
              <a:lumMod val="95000"/>
              <a:alpha val="59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گزارش‌های عمومی رایگان نهادهای بین‌المللی توسعه تجارت.</a:t>
            </a:r>
          </a:p>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بنچمارک: </a:t>
            </a:r>
            <a:r>
              <a:rPr kumimoji="0" lang="fa-IR"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گزارش‌های عمومی بازار </a:t>
            </a:r>
            <a:r>
              <a:rPr kumimoji="0" lang="en-US"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JETRO</a:t>
            </a:r>
          </a:p>
        </p:txBody>
      </p:sp>
      <p:sp>
        <p:nvSpPr>
          <p:cNvPr id="104" name="Arrow: Down 103">
            <a:extLst>
              <a:ext uri="{FF2B5EF4-FFF2-40B4-BE49-F238E27FC236}">
                <a16:creationId xmlns:a16="http://schemas.microsoft.com/office/drawing/2014/main" id="{1ADFD02F-6BBD-2884-7825-013121236BA3}"/>
              </a:ext>
            </a:extLst>
          </p:cNvPr>
          <p:cNvSpPr/>
          <p:nvPr/>
        </p:nvSpPr>
        <p:spPr>
          <a:xfrm rot="5400000">
            <a:off x="8427463" y="2832409"/>
            <a:ext cx="170188" cy="135591"/>
          </a:xfrm>
          <a:prstGeom prst="downArrow">
            <a:avLst/>
          </a:prstGeom>
          <a:solidFill>
            <a:schemeClr val="tx1">
              <a:lumMod val="50000"/>
              <a:lumOff val="50000"/>
              <a:alpha val="1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05" name="Arrow: Down 104">
            <a:extLst>
              <a:ext uri="{FF2B5EF4-FFF2-40B4-BE49-F238E27FC236}">
                <a16:creationId xmlns:a16="http://schemas.microsoft.com/office/drawing/2014/main" id="{C212938F-A334-B88F-A8F6-2050EC6DC8FD}"/>
              </a:ext>
            </a:extLst>
          </p:cNvPr>
          <p:cNvSpPr/>
          <p:nvPr/>
        </p:nvSpPr>
        <p:spPr>
          <a:xfrm rot="5400000">
            <a:off x="4340404" y="2832410"/>
            <a:ext cx="170188" cy="135591"/>
          </a:xfrm>
          <a:prstGeom prst="downArrow">
            <a:avLst/>
          </a:prstGeom>
          <a:solidFill>
            <a:schemeClr val="tx1">
              <a:lumMod val="50000"/>
              <a:lumOff val="50000"/>
              <a:alpha val="1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11" name="Rectangle: Rounded Corners 110">
            <a:extLst>
              <a:ext uri="{FF2B5EF4-FFF2-40B4-BE49-F238E27FC236}">
                <a16:creationId xmlns:a16="http://schemas.microsoft.com/office/drawing/2014/main" id="{97B6CD7B-4546-9E50-EDF5-DA1F2745636D}"/>
              </a:ext>
            </a:extLst>
          </p:cNvPr>
          <p:cNvSpPr/>
          <p:nvPr/>
        </p:nvSpPr>
        <p:spPr>
          <a:xfrm>
            <a:off x="8636598" y="3242313"/>
            <a:ext cx="1653837" cy="528559"/>
          </a:xfrm>
          <a:prstGeom prst="roundRect">
            <a:avLst/>
          </a:prstGeom>
          <a:solidFill>
            <a:srgbClr val="F0BE0F">
              <a:alpha val="16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15296B"/>
              </a:solidFill>
              <a:effectLst/>
              <a:uLnTx/>
              <a:uFillTx/>
              <a:latin typeface="Calibri"/>
              <a:ea typeface="+mn-ea"/>
              <a:cs typeface="Calibri"/>
            </a:endParaRPr>
          </a:p>
        </p:txBody>
      </p:sp>
      <p:sp>
        <p:nvSpPr>
          <p:cNvPr id="112" name="TextBox 111">
            <a:extLst>
              <a:ext uri="{FF2B5EF4-FFF2-40B4-BE49-F238E27FC236}">
                <a16:creationId xmlns:a16="http://schemas.microsoft.com/office/drawing/2014/main" id="{226A95B1-F890-156E-8198-B0503BFA4274}"/>
              </a:ext>
            </a:extLst>
          </p:cNvPr>
          <p:cNvSpPr txBox="1"/>
          <p:nvPr/>
        </p:nvSpPr>
        <p:spPr>
          <a:xfrm>
            <a:off x="8636598" y="3373158"/>
            <a:ext cx="1653837" cy="266868"/>
          </a:xfrm>
          <a:prstGeom prst="rect">
            <a:avLst/>
          </a:prstGeom>
          <a:noFill/>
        </p:spPr>
        <p:txBody>
          <a:bodyPr wrap="square">
            <a:spAutoFit/>
          </a:bodyPr>
          <a:lstStyle/>
          <a:p>
            <a:pPr marL="0" marR="0" lvl="0" indent="0" algn="ctr" defTabSz="457200" rtl="1" eaLnBrk="1" fontAlgn="auto" latinLnBrk="0" hangingPunct="1">
              <a:lnSpc>
                <a:spcPct val="108000"/>
              </a:lnSpc>
              <a:spcBef>
                <a:spcPts val="0"/>
              </a:spcBef>
              <a:spcAft>
                <a:spcPts val="0"/>
              </a:spcAft>
              <a:buClrTx/>
              <a:buSzTx/>
              <a:buFontTx/>
              <a:buNone/>
              <a:tabLst/>
              <a:defRPr/>
            </a:pPr>
            <a:r>
              <a:rPr kumimoji="0" lang="fa-IR" sz="1050" b="1" i="0" u="none" strike="noStrike" kern="1200" cap="none" spc="0" normalizeH="0" baseline="0" noProof="0" dirty="0">
                <a:ln>
                  <a:noFill/>
                </a:ln>
                <a:solidFill>
                  <a:srgbClr val="15296B"/>
                </a:solidFill>
                <a:effectLst/>
                <a:uLnTx/>
                <a:uFillTx/>
                <a:latin typeface="Yekan Bakh FaNum" pitchFamily="2" charset="-78"/>
                <a:ea typeface="+mn-ea"/>
                <a:cs typeface="Yekan Bakh FaNum" pitchFamily="2" charset="-78"/>
              </a:rPr>
              <a:t>همراه/اختصاصی</a:t>
            </a:r>
          </a:p>
        </p:txBody>
      </p:sp>
      <p:sp>
        <p:nvSpPr>
          <p:cNvPr id="113" name="Rectangle: Rounded Corners 112">
            <a:extLst>
              <a:ext uri="{FF2B5EF4-FFF2-40B4-BE49-F238E27FC236}">
                <a16:creationId xmlns:a16="http://schemas.microsoft.com/office/drawing/2014/main" id="{C7662431-F062-22AB-759F-95C6D4A7BFBA}"/>
              </a:ext>
            </a:extLst>
          </p:cNvPr>
          <p:cNvSpPr/>
          <p:nvPr/>
        </p:nvSpPr>
        <p:spPr>
          <a:xfrm>
            <a:off x="10538516" y="3242313"/>
            <a:ext cx="705056" cy="528559"/>
          </a:xfrm>
          <a:prstGeom prst="roundRect">
            <a:avLst/>
          </a:prstGeom>
          <a:solidFill>
            <a:srgbClr val="15296B"/>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dirty="0">
              <a:ln>
                <a:noFill/>
              </a:ln>
              <a:solidFill>
                <a:prstClr val="white"/>
              </a:solidFill>
              <a:effectLst/>
              <a:uLnTx/>
              <a:uFillTx/>
              <a:latin typeface="Calibri"/>
              <a:ea typeface="+mn-ea"/>
              <a:cs typeface="Calibri"/>
            </a:endParaRPr>
          </a:p>
        </p:txBody>
      </p:sp>
      <p:sp>
        <p:nvSpPr>
          <p:cNvPr id="114" name="TextBox 113">
            <a:extLst>
              <a:ext uri="{FF2B5EF4-FFF2-40B4-BE49-F238E27FC236}">
                <a16:creationId xmlns:a16="http://schemas.microsoft.com/office/drawing/2014/main" id="{16347405-8A27-F4AF-D831-6F562BB4C090}"/>
              </a:ext>
            </a:extLst>
          </p:cNvPr>
          <p:cNvSpPr txBox="1"/>
          <p:nvPr/>
        </p:nvSpPr>
        <p:spPr>
          <a:xfrm>
            <a:off x="10664057" y="3337315"/>
            <a:ext cx="453974" cy="338554"/>
          </a:xfrm>
          <a:prstGeom prst="rect">
            <a:avLst/>
          </a:prstGeom>
          <a:noFill/>
        </p:spPr>
        <p:txBody>
          <a:bodyPr wrap="square"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B</a:t>
            </a:r>
            <a:endParaRPr kumimoji="0" lang="fa-IR" sz="16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sp>
        <p:nvSpPr>
          <p:cNvPr id="115" name="Rectangle: Rounded Corners 114">
            <a:extLst>
              <a:ext uri="{FF2B5EF4-FFF2-40B4-BE49-F238E27FC236}">
                <a16:creationId xmlns:a16="http://schemas.microsoft.com/office/drawing/2014/main" id="{DCBFA41E-73D2-9D43-BE91-582207997177}"/>
              </a:ext>
            </a:extLst>
          </p:cNvPr>
          <p:cNvSpPr/>
          <p:nvPr/>
        </p:nvSpPr>
        <p:spPr>
          <a:xfrm>
            <a:off x="4548039" y="3242313"/>
            <a:ext cx="3840480" cy="528559"/>
          </a:xfrm>
          <a:prstGeom prst="roundRect">
            <a:avLst/>
          </a:prstGeom>
          <a:solidFill>
            <a:schemeClr val="bg1">
              <a:lumMod val="95000"/>
              <a:alpha val="59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پاسخ به درخواست اطلاعات</a:t>
            </a:r>
            <a:r>
              <a:rPr kumimoji="0" lang="en-US" sz="9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RFI) </a:t>
            </a:r>
            <a:r>
              <a:rPr kumimoji="0" lang="fa-IR" sz="9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 با کمک تیم انطباق «اکوسیستم فرصت ایران»، برای نیاز مشخص و کم‌پیچیدگی</a:t>
            </a:r>
          </a:p>
        </p:txBody>
      </p:sp>
      <p:sp>
        <p:nvSpPr>
          <p:cNvPr id="116" name="Rectangle: Rounded Corners 115">
            <a:extLst>
              <a:ext uri="{FF2B5EF4-FFF2-40B4-BE49-F238E27FC236}">
                <a16:creationId xmlns:a16="http://schemas.microsoft.com/office/drawing/2014/main" id="{5C93B2D7-0564-0AC0-6CD3-7B9ABDF0D7A5}"/>
              </a:ext>
            </a:extLst>
          </p:cNvPr>
          <p:cNvSpPr/>
          <p:nvPr/>
        </p:nvSpPr>
        <p:spPr>
          <a:xfrm>
            <a:off x="459478" y="3242313"/>
            <a:ext cx="3840480" cy="528559"/>
          </a:xfrm>
          <a:prstGeom prst="roundRect">
            <a:avLst/>
          </a:prstGeom>
          <a:solidFill>
            <a:schemeClr val="bg1">
              <a:lumMod val="95000"/>
              <a:alpha val="59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میز پاسخ‌گویی </a:t>
            </a:r>
            <a:r>
              <a:rPr kumimoji="0" lang="en-US"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RFI</a:t>
            </a:r>
            <a:r>
              <a:rPr kumimoji="0" lang="fa-IR"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 در بانک‌های تجاری بین‌المللی.</a:t>
            </a:r>
          </a:p>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بنچمارک: </a:t>
            </a:r>
            <a:r>
              <a:rPr kumimoji="0" lang="fa-IR"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میز مشاوره یک‌به‌یک</a:t>
            </a:r>
            <a:r>
              <a:rPr kumimoji="0" lang="en-US"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JETRO/</a:t>
            </a:r>
            <a:r>
              <a:rPr kumimoji="0" lang="en-US" sz="800" b="0" i="0" u="none" strike="noStrike" kern="1200" cap="none" spc="0" normalizeH="0" baseline="0" noProof="0" dirty="0" err="1">
                <a:ln>
                  <a:noFill/>
                </a:ln>
                <a:solidFill>
                  <a:prstClr val="black">
                    <a:lumMod val="50000"/>
                    <a:lumOff val="50000"/>
                  </a:prstClr>
                </a:solidFill>
                <a:effectLst/>
                <a:uLnTx/>
                <a:uFillTx/>
                <a:latin typeface="Yekan Bakh" pitchFamily="2" charset="-78"/>
                <a:ea typeface="Yekan Bakh" pitchFamily="2" charset="-78"/>
                <a:cs typeface="Yekan Bakh" pitchFamily="2" charset="-78"/>
              </a:rPr>
              <a:t>SelectUSA</a:t>
            </a:r>
            <a:r>
              <a:rPr kumimoji="0" lang="en-US"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 </a:t>
            </a:r>
            <a:r>
              <a:rPr kumimoji="0" lang="fa-IR"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 برای پرسش مشخص</a:t>
            </a:r>
          </a:p>
        </p:txBody>
      </p:sp>
      <p:sp>
        <p:nvSpPr>
          <p:cNvPr id="117" name="Arrow: Down 116">
            <a:extLst>
              <a:ext uri="{FF2B5EF4-FFF2-40B4-BE49-F238E27FC236}">
                <a16:creationId xmlns:a16="http://schemas.microsoft.com/office/drawing/2014/main" id="{A5AF3867-A3F4-48E2-0FD9-20465D8C5F1D}"/>
              </a:ext>
            </a:extLst>
          </p:cNvPr>
          <p:cNvSpPr/>
          <p:nvPr/>
        </p:nvSpPr>
        <p:spPr>
          <a:xfrm rot="5400000">
            <a:off x="8427463" y="3438797"/>
            <a:ext cx="170188" cy="135591"/>
          </a:xfrm>
          <a:prstGeom prst="downArrow">
            <a:avLst/>
          </a:prstGeom>
          <a:solidFill>
            <a:schemeClr val="tx1">
              <a:lumMod val="50000"/>
              <a:lumOff val="50000"/>
              <a:alpha val="1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18" name="Arrow: Down 117">
            <a:extLst>
              <a:ext uri="{FF2B5EF4-FFF2-40B4-BE49-F238E27FC236}">
                <a16:creationId xmlns:a16="http://schemas.microsoft.com/office/drawing/2014/main" id="{047BA402-2ED4-A3F9-E2E5-66801D0F62C1}"/>
              </a:ext>
            </a:extLst>
          </p:cNvPr>
          <p:cNvSpPr/>
          <p:nvPr/>
        </p:nvSpPr>
        <p:spPr>
          <a:xfrm rot="5400000">
            <a:off x="4340404" y="3438798"/>
            <a:ext cx="170188" cy="135591"/>
          </a:xfrm>
          <a:prstGeom prst="downArrow">
            <a:avLst/>
          </a:prstGeom>
          <a:solidFill>
            <a:schemeClr val="tx1">
              <a:lumMod val="50000"/>
              <a:lumOff val="50000"/>
              <a:alpha val="1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20" name="Rectangle: Rounded Corners 119">
            <a:extLst>
              <a:ext uri="{FF2B5EF4-FFF2-40B4-BE49-F238E27FC236}">
                <a16:creationId xmlns:a16="http://schemas.microsoft.com/office/drawing/2014/main" id="{72BD8346-C76E-33A4-041C-01EFC0477C48}"/>
              </a:ext>
            </a:extLst>
          </p:cNvPr>
          <p:cNvSpPr/>
          <p:nvPr/>
        </p:nvSpPr>
        <p:spPr>
          <a:xfrm>
            <a:off x="8636598" y="3848701"/>
            <a:ext cx="1653837" cy="528559"/>
          </a:xfrm>
          <a:prstGeom prst="roundRect">
            <a:avLst/>
          </a:prstGeom>
          <a:solidFill>
            <a:srgbClr val="F0BE0F">
              <a:alpha val="16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15296B"/>
              </a:solidFill>
              <a:effectLst/>
              <a:uLnTx/>
              <a:uFillTx/>
              <a:latin typeface="Calibri"/>
              <a:ea typeface="+mn-ea"/>
              <a:cs typeface="Calibri"/>
            </a:endParaRPr>
          </a:p>
        </p:txBody>
      </p:sp>
      <p:sp>
        <p:nvSpPr>
          <p:cNvPr id="121" name="TextBox 120">
            <a:extLst>
              <a:ext uri="{FF2B5EF4-FFF2-40B4-BE49-F238E27FC236}">
                <a16:creationId xmlns:a16="http://schemas.microsoft.com/office/drawing/2014/main" id="{A0E9843C-1EEB-95FD-E33D-78E112811764}"/>
              </a:ext>
            </a:extLst>
          </p:cNvPr>
          <p:cNvSpPr txBox="1"/>
          <p:nvPr/>
        </p:nvSpPr>
        <p:spPr>
          <a:xfrm>
            <a:off x="8636598" y="3979546"/>
            <a:ext cx="1653837" cy="266868"/>
          </a:xfrm>
          <a:prstGeom prst="rect">
            <a:avLst/>
          </a:prstGeom>
          <a:noFill/>
        </p:spPr>
        <p:txBody>
          <a:bodyPr wrap="square">
            <a:spAutoFit/>
          </a:bodyPr>
          <a:lstStyle/>
          <a:p>
            <a:pPr marL="0" marR="0" lvl="0" indent="0" algn="ctr" defTabSz="457200" rtl="1" eaLnBrk="1" fontAlgn="auto" latinLnBrk="0" hangingPunct="1">
              <a:lnSpc>
                <a:spcPct val="108000"/>
              </a:lnSpc>
              <a:spcBef>
                <a:spcPts val="0"/>
              </a:spcBef>
              <a:spcAft>
                <a:spcPts val="0"/>
              </a:spcAft>
              <a:buClrTx/>
              <a:buSzTx/>
              <a:buFontTx/>
              <a:buNone/>
              <a:tabLst/>
              <a:defRPr/>
            </a:pPr>
            <a:r>
              <a:rPr kumimoji="0" lang="fa-IR" sz="1050" b="1" i="0" u="none" strike="noStrike" kern="1200" cap="none" spc="0" normalizeH="0" baseline="0" noProof="0" dirty="0">
                <a:ln>
                  <a:noFill/>
                </a:ln>
                <a:solidFill>
                  <a:srgbClr val="15296B"/>
                </a:solidFill>
                <a:effectLst/>
                <a:uLnTx/>
                <a:uFillTx/>
                <a:latin typeface="Yekan Bakh FaNum" pitchFamily="2" charset="-78"/>
                <a:ea typeface="+mn-ea"/>
                <a:cs typeface="Yekan Bakh FaNum" pitchFamily="2" charset="-78"/>
              </a:rPr>
              <a:t>مشاوره‌ای/محصولی‌شده</a:t>
            </a:r>
          </a:p>
        </p:txBody>
      </p:sp>
      <p:sp>
        <p:nvSpPr>
          <p:cNvPr id="122" name="Rectangle: Rounded Corners 121">
            <a:extLst>
              <a:ext uri="{FF2B5EF4-FFF2-40B4-BE49-F238E27FC236}">
                <a16:creationId xmlns:a16="http://schemas.microsoft.com/office/drawing/2014/main" id="{6D9971B4-7FA9-12D2-A52B-8D9FF7051AB0}"/>
              </a:ext>
            </a:extLst>
          </p:cNvPr>
          <p:cNvSpPr/>
          <p:nvPr/>
        </p:nvSpPr>
        <p:spPr>
          <a:xfrm>
            <a:off x="10538516" y="3848701"/>
            <a:ext cx="705056" cy="528559"/>
          </a:xfrm>
          <a:prstGeom prst="roundRect">
            <a:avLst/>
          </a:prstGeom>
          <a:solidFill>
            <a:srgbClr val="15296B">
              <a:alpha val="20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dirty="0">
              <a:ln>
                <a:noFill/>
              </a:ln>
              <a:solidFill>
                <a:prstClr val="white"/>
              </a:solidFill>
              <a:effectLst/>
              <a:uLnTx/>
              <a:uFillTx/>
              <a:latin typeface="Calibri"/>
              <a:ea typeface="+mn-ea"/>
              <a:cs typeface="Calibri"/>
            </a:endParaRPr>
          </a:p>
        </p:txBody>
      </p:sp>
      <p:sp>
        <p:nvSpPr>
          <p:cNvPr id="123" name="TextBox 122">
            <a:extLst>
              <a:ext uri="{FF2B5EF4-FFF2-40B4-BE49-F238E27FC236}">
                <a16:creationId xmlns:a16="http://schemas.microsoft.com/office/drawing/2014/main" id="{E713DCE1-B69D-FE89-9CB6-F2B94377177F}"/>
              </a:ext>
            </a:extLst>
          </p:cNvPr>
          <p:cNvSpPr txBox="1"/>
          <p:nvPr/>
        </p:nvSpPr>
        <p:spPr>
          <a:xfrm>
            <a:off x="10664057" y="3943703"/>
            <a:ext cx="453974" cy="338554"/>
          </a:xfrm>
          <a:prstGeom prst="rect">
            <a:avLst/>
          </a:prstGeom>
          <a:noFill/>
        </p:spPr>
        <p:txBody>
          <a:bodyPr wrap="square"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5296B"/>
                </a:solidFill>
                <a:effectLst/>
                <a:uLnTx/>
                <a:uFillTx/>
                <a:latin typeface="Yekan Bakh" pitchFamily="2" charset="-78"/>
                <a:ea typeface="Yekan Bakh" pitchFamily="2" charset="-78"/>
                <a:cs typeface="Yekan Bakh" pitchFamily="2" charset="-78"/>
              </a:rPr>
              <a:t>C</a:t>
            </a:r>
            <a:endParaRPr kumimoji="0" lang="fa-IR" sz="1600" b="1" i="0" u="none" strike="noStrike" kern="1200" cap="none" spc="0" normalizeH="0" baseline="0" noProof="0" dirty="0">
              <a:ln>
                <a:noFill/>
              </a:ln>
              <a:solidFill>
                <a:srgbClr val="15296B"/>
              </a:solidFill>
              <a:effectLst/>
              <a:uLnTx/>
              <a:uFillTx/>
              <a:latin typeface="Yekan Bakh" pitchFamily="2" charset="-78"/>
              <a:ea typeface="Yekan Bakh" pitchFamily="2" charset="-78"/>
              <a:cs typeface="Yekan Bakh" pitchFamily="2" charset="-78"/>
            </a:endParaRPr>
          </a:p>
        </p:txBody>
      </p:sp>
      <p:sp>
        <p:nvSpPr>
          <p:cNvPr id="124" name="Rectangle: Rounded Corners 123">
            <a:extLst>
              <a:ext uri="{FF2B5EF4-FFF2-40B4-BE49-F238E27FC236}">
                <a16:creationId xmlns:a16="http://schemas.microsoft.com/office/drawing/2014/main" id="{D0C8F93E-BF9C-9CFE-F68B-4F22233F4ABC}"/>
              </a:ext>
            </a:extLst>
          </p:cNvPr>
          <p:cNvSpPr/>
          <p:nvPr/>
        </p:nvSpPr>
        <p:spPr>
          <a:xfrm>
            <a:off x="4548039" y="3848701"/>
            <a:ext cx="3840480" cy="528559"/>
          </a:xfrm>
          <a:prstGeom prst="roundRect">
            <a:avLst/>
          </a:prstGeom>
          <a:solidFill>
            <a:schemeClr val="bg1">
              <a:lumMod val="95000"/>
              <a:alpha val="59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تدوین گزارش راستی‌آزمایی شخص‌ثالث استاندارد</a:t>
            </a:r>
            <a:r>
              <a:rPr kumimoji="0" lang="en-US" sz="9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Compliance memo) </a:t>
            </a:r>
            <a:r>
              <a:rPr kumimoji="0" lang="fa-IR" sz="9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 پیش از هرگونه تعهد</a:t>
            </a:r>
          </a:p>
        </p:txBody>
      </p:sp>
      <p:sp>
        <p:nvSpPr>
          <p:cNvPr id="125" name="Rectangle: Rounded Corners 124">
            <a:extLst>
              <a:ext uri="{FF2B5EF4-FFF2-40B4-BE49-F238E27FC236}">
                <a16:creationId xmlns:a16="http://schemas.microsoft.com/office/drawing/2014/main" id="{47575141-9C08-B4EB-B332-44FAF6666AE1}"/>
              </a:ext>
            </a:extLst>
          </p:cNvPr>
          <p:cNvSpPr/>
          <p:nvPr/>
        </p:nvSpPr>
        <p:spPr>
          <a:xfrm>
            <a:off x="459478" y="3848701"/>
            <a:ext cx="3840480" cy="528559"/>
          </a:xfrm>
          <a:prstGeom prst="roundRect">
            <a:avLst/>
          </a:prstGeom>
          <a:solidFill>
            <a:schemeClr val="bg1">
              <a:lumMod val="95000"/>
              <a:alpha val="59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گزارش‌های استاندارد اعتبارسنجی شرکتی نظیر </a:t>
            </a:r>
            <a:r>
              <a:rPr kumimoji="0" lang="en-US"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Dun &amp; Bradstreet </a:t>
            </a:r>
            <a:r>
              <a:rPr kumimoji="0" lang="fa-IR"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a:t>
            </a:r>
            <a:r>
              <a:rPr kumimoji="0" lang="en-US"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 </a:t>
            </a:r>
            <a:r>
              <a:rPr kumimoji="0" lang="fa-IR"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 </a:t>
            </a:r>
          </a:p>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بنچمارک: </a:t>
            </a:r>
            <a:r>
              <a:rPr kumimoji="0" lang="fa-IR"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مدل گزارش استاندارد انطباق </a:t>
            </a:r>
            <a:r>
              <a:rPr kumimoji="0" lang="en-US"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EEN </a:t>
            </a:r>
            <a:r>
              <a:rPr kumimoji="0" lang="fa-IR"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برای شرکای بالقوه</a:t>
            </a:r>
          </a:p>
        </p:txBody>
      </p:sp>
      <p:sp>
        <p:nvSpPr>
          <p:cNvPr id="126" name="Arrow: Down 125">
            <a:extLst>
              <a:ext uri="{FF2B5EF4-FFF2-40B4-BE49-F238E27FC236}">
                <a16:creationId xmlns:a16="http://schemas.microsoft.com/office/drawing/2014/main" id="{A00FCB38-FC89-57EB-F7DA-C32349842459}"/>
              </a:ext>
            </a:extLst>
          </p:cNvPr>
          <p:cNvSpPr/>
          <p:nvPr/>
        </p:nvSpPr>
        <p:spPr>
          <a:xfrm rot="5400000">
            <a:off x="8427463" y="4045185"/>
            <a:ext cx="170188" cy="135591"/>
          </a:xfrm>
          <a:prstGeom prst="downArrow">
            <a:avLst/>
          </a:prstGeom>
          <a:solidFill>
            <a:schemeClr val="tx1">
              <a:lumMod val="50000"/>
              <a:lumOff val="50000"/>
              <a:alpha val="1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27" name="Arrow: Down 126">
            <a:extLst>
              <a:ext uri="{FF2B5EF4-FFF2-40B4-BE49-F238E27FC236}">
                <a16:creationId xmlns:a16="http://schemas.microsoft.com/office/drawing/2014/main" id="{45CEF06E-6F94-E3E8-2086-F898FE241400}"/>
              </a:ext>
            </a:extLst>
          </p:cNvPr>
          <p:cNvSpPr/>
          <p:nvPr/>
        </p:nvSpPr>
        <p:spPr>
          <a:xfrm rot="5400000">
            <a:off x="4340404" y="4045186"/>
            <a:ext cx="170188" cy="135591"/>
          </a:xfrm>
          <a:prstGeom prst="downArrow">
            <a:avLst/>
          </a:prstGeom>
          <a:solidFill>
            <a:schemeClr val="tx1">
              <a:lumMod val="50000"/>
              <a:lumOff val="50000"/>
              <a:alpha val="1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29" name="Rectangle: Rounded Corners 128">
            <a:extLst>
              <a:ext uri="{FF2B5EF4-FFF2-40B4-BE49-F238E27FC236}">
                <a16:creationId xmlns:a16="http://schemas.microsoft.com/office/drawing/2014/main" id="{1D82CE8D-AA4E-B55A-D87F-3E3D30AA70A6}"/>
              </a:ext>
            </a:extLst>
          </p:cNvPr>
          <p:cNvSpPr/>
          <p:nvPr/>
        </p:nvSpPr>
        <p:spPr>
          <a:xfrm>
            <a:off x="8636598" y="4455089"/>
            <a:ext cx="1653837" cy="528559"/>
          </a:xfrm>
          <a:prstGeom prst="roundRect">
            <a:avLst/>
          </a:prstGeom>
          <a:solidFill>
            <a:srgbClr val="F0BE0F">
              <a:alpha val="16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15296B"/>
              </a:solidFill>
              <a:effectLst/>
              <a:uLnTx/>
              <a:uFillTx/>
              <a:latin typeface="Calibri"/>
              <a:ea typeface="+mn-ea"/>
              <a:cs typeface="Calibri"/>
            </a:endParaRPr>
          </a:p>
        </p:txBody>
      </p:sp>
      <p:sp>
        <p:nvSpPr>
          <p:cNvPr id="130" name="TextBox 129">
            <a:extLst>
              <a:ext uri="{FF2B5EF4-FFF2-40B4-BE49-F238E27FC236}">
                <a16:creationId xmlns:a16="http://schemas.microsoft.com/office/drawing/2014/main" id="{19CB3D9D-51EC-3DE7-3998-E3D100FA1588}"/>
              </a:ext>
            </a:extLst>
          </p:cNvPr>
          <p:cNvSpPr txBox="1"/>
          <p:nvPr/>
        </p:nvSpPr>
        <p:spPr>
          <a:xfrm>
            <a:off x="8636598" y="4585934"/>
            <a:ext cx="1653837" cy="266868"/>
          </a:xfrm>
          <a:prstGeom prst="rect">
            <a:avLst/>
          </a:prstGeom>
          <a:noFill/>
        </p:spPr>
        <p:txBody>
          <a:bodyPr wrap="square">
            <a:spAutoFit/>
          </a:bodyPr>
          <a:lstStyle/>
          <a:p>
            <a:pPr marL="0" marR="0" lvl="0" indent="0" algn="ctr" defTabSz="457200" rtl="1" eaLnBrk="1" fontAlgn="auto" latinLnBrk="0" hangingPunct="1">
              <a:lnSpc>
                <a:spcPct val="108000"/>
              </a:lnSpc>
              <a:spcBef>
                <a:spcPts val="0"/>
              </a:spcBef>
              <a:spcAft>
                <a:spcPts val="0"/>
              </a:spcAft>
              <a:buClrTx/>
              <a:buSzTx/>
              <a:buFontTx/>
              <a:buNone/>
              <a:tabLst/>
              <a:defRPr/>
            </a:pPr>
            <a:r>
              <a:rPr kumimoji="0" lang="fa-IR" sz="1050" b="1" i="0" u="none" strike="noStrike" kern="1200" cap="none" spc="0" normalizeH="0" baseline="0" noProof="0" dirty="0">
                <a:ln>
                  <a:noFill/>
                </a:ln>
                <a:solidFill>
                  <a:srgbClr val="15296B"/>
                </a:solidFill>
                <a:effectLst/>
                <a:uLnTx/>
                <a:uFillTx/>
                <a:latin typeface="Yekan Bakh FaNum" pitchFamily="2" charset="-78"/>
                <a:ea typeface="+mn-ea"/>
                <a:cs typeface="Yekan Bakh FaNum" pitchFamily="2" charset="-78"/>
              </a:rPr>
              <a:t>مدیریت‌شده+مشارکتی</a:t>
            </a:r>
          </a:p>
        </p:txBody>
      </p:sp>
      <p:sp>
        <p:nvSpPr>
          <p:cNvPr id="131" name="Rectangle: Rounded Corners 130">
            <a:extLst>
              <a:ext uri="{FF2B5EF4-FFF2-40B4-BE49-F238E27FC236}">
                <a16:creationId xmlns:a16="http://schemas.microsoft.com/office/drawing/2014/main" id="{58039142-C8CF-1CF9-9A19-B38A2E1818F8}"/>
              </a:ext>
            </a:extLst>
          </p:cNvPr>
          <p:cNvSpPr/>
          <p:nvPr/>
        </p:nvSpPr>
        <p:spPr>
          <a:xfrm>
            <a:off x="10538516" y="4455089"/>
            <a:ext cx="705056" cy="528559"/>
          </a:xfrm>
          <a:prstGeom prst="roundRect">
            <a:avLst/>
          </a:prstGeom>
          <a:solidFill>
            <a:srgbClr val="15296B">
              <a:alpha val="40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dirty="0">
              <a:ln>
                <a:noFill/>
              </a:ln>
              <a:solidFill>
                <a:srgbClr val="15296B"/>
              </a:solidFill>
              <a:effectLst/>
              <a:uLnTx/>
              <a:uFillTx/>
              <a:latin typeface="Calibri"/>
              <a:ea typeface="+mn-ea"/>
              <a:cs typeface="Calibri"/>
            </a:endParaRPr>
          </a:p>
        </p:txBody>
      </p:sp>
      <p:sp>
        <p:nvSpPr>
          <p:cNvPr id="132" name="TextBox 131">
            <a:extLst>
              <a:ext uri="{FF2B5EF4-FFF2-40B4-BE49-F238E27FC236}">
                <a16:creationId xmlns:a16="http://schemas.microsoft.com/office/drawing/2014/main" id="{E096EA19-54D3-3459-9115-8DA6B697693C}"/>
              </a:ext>
            </a:extLst>
          </p:cNvPr>
          <p:cNvSpPr txBox="1"/>
          <p:nvPr/>
        </p:nvSpPr>
        <p:spPr>
          <a:xfrm>
            <a:off x="10664057" y="4550091"/>
            <a:ext cx="453974" cy="338554"/>
          </a:xfrm>
          <a:prstGeom prst="rect">
            <a:avLst/>
          </a:prstGeom>
          <a:noFill/>
        </p:spPr>
        <p:txBody>
          <a:bodyPr wrap="square"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D</a:t>
            </a:r>
            <a:endParaRPr kumimoji="0" lang="fa-IR" sz="16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sp>
        <p:nvSpPr>
          <p:cNvPr id="133" name="Rectangle: Rounded Corners 132">
            <a:extLst>
              <a:ext uri="{FF2B5EF4-FFF2-40B4-BE49-F238E27FC236}">
                <a16:creationId xmlns:a16="http://schemas.microsoft.com/office/drawing/2014/main" id="{98614B86-11A7-7D72-EB29-7E8D7F61F217}"/>
              </a:ext>
            </a:extLst>
          </p:cNvPr>
          <p:cNvSpPr/>
          <p:nvPr/>
        </p:nvSpPr>
        <p:spPr>
          <a:xfrm>
            <a:off x="4548039" y="4455089"/>
            <a:ext cx="3840480" cy="528559"/>
          </a:xfrm>
          <a:prstGeom prst="roundRect">
            <a:avLst/>
          </a:prstGeom>
          <a:solidFill>
            <a:schemeClr val="bg1">
              <a:lumMod val="95000"/>
              <a:alpha val="59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اجرای کامل شرح خدمات</a:t>
            </a:r>
            <a:r>
              <a:rPr kumimoji="0" lang="en-US" sz="9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SOW) </a:t>
            </a:r>
            <a:r>
              <a:rPr kumimoji="0" lang="fa-IR" sz="9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 با تیم اختصاصی انطباق «اکوسیستم فرصت ایران» که ریسک تحریم/جریمه را مستمر مدیریت می‌کند</a:t>
            </a:r>
          </a:p>
        </p:txBody>
      </p:sp>
      <p:sp>
        <p:nvSpPr>
          <p:cNvPr id="134" name="Rectangle: Rounded Corners 133">
            <a:extLst>
              <a:ext uri="{FF2B5EF4-FFF2-40B4-BE49-F238E27FC236}">
                <a16:creationId xmlns:a16="http://schemas.microsoft.com/office/drawing/2014/main" id="{93E01551-D0AF-6089-F722-C3C7B4F23035}"/>
              </a:ext>
            </a:extLst>
          </p:cNvPr>
          <p:cNvSpPr/>
          <p:nvPr/>
        </p:nvSpPr>
        <p:spPr>
          <a:xfrm>
            <a:off x="459478" y="4455089"/>
            <a:ext cx="3840480" cy="528559"/>
          </a:xfrm>
          <a:prstGeom prst="roundRect">
            <a:avLst/>
          </a:prstGeom>
          <a:solidFill>
            <a:schemeClr val="bg1">
              <a:lumMod val="95000"/>
              <a:alpha val="59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خدمات مدیریت‌شده انطباق</a:t>
            </a:r>
            <a:r>
              <a:rPr kumimoji="0" lang="en-US"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Managed Compliance) </a:t>
            </a:r>
            <a:r>
              <a:rPr kumimoji="0" lang="fa-IR"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 شرکت‌های حسابرسی بزرگ برای بازارهای پرریسک.</a:t>
            </a:r>
          </a:p>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بنچمارک: </a:t>
            </a:r>
            <a:r>
              <a:rPr kumimoji="0" lang="fa-IR"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خدمت </a:t>
            </a:r>
            <a:r>
              <a:rPr kumimoji="0" lang="en-US"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Aftercare</a:t>
            </a:r>
            <a:r>
              <a:rPr kumimoji="0" lang="fa-IR"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 با تیم اختصاصی </a:t>
            </a:r>
            <a:r>
              <a:rPr kumimoji="0" lang="en-US" sz="800" b="0" i="0" u="none" strike="noStrike" kern="1200" cap="none" spc="0" normalizeH="0" baseline="0" noProof="0" dirty="0" err="1">
                <a:ln>
                  <a:noFill/>
                </a:ln>
                <a:solidFill>
                  <a:prstClr val="black">
                    <a:lumMod val="50000"/>
                    <a:lumOff val="50000"/>
                  </a:prstClr>
                </a:solidFill>
                <a:effectLst/>
                <a:uLnTx/>
                <a:uFillTx/>
                <a:latin typeface="Yekan Bakh" pitchFamily="2" charset="-78"/>
                <a:ea typeface="Yekan Bakh" pitchFamily="2" charset="-78"/>
                <a:cs typeface="Yekan Bakh" pitchFamily="2" charset="-78"/>
              </a:rPr>
              <a:t>InvestHK</a:t>
            </a:r>
            <a:r>
              <a:rPr kumimoji="0" lang="en-US"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a:t>
            </a:r>
            <a:r>
              <a:rPr kumimoji="0" lang="en-US" sz="800" b="0" i="0" u="none" strike="noStrike" kern="1200" cap="none" spc="0" normalizeH="0" baseline="0" noProof="0" dirty="0" err="1">
                <a:ln>
                  <a:noFill/>
                </a:ln>
                <a:solidFill>
                  <a:prstClr val="black">
                    <a:lumMod val="50000"/>
                    <a:lumOff val="50000"/>
                  </a:prstClr>
                </a:solidFill>
                <a:effectLst/>
                <a:uLnTx/>
                <a:uFillTx/>
                <a:latin typeface="Yekan Bakh" pitchFamily="2" charset="-78"/>
                <a:ea typeface="Yekan Bakh" pitchFamily="2" charset="-78"/>
                <a:cs typeface="Yekan Bakh" pitchFamily="2" charset="-78"/>
              </a:rPr>
              <a:t>GlobalScot</a:t>
            </a:r>
            <a:endParaRPr kumimoji="0" lang="en-US"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endParaRPr>
          </a:p>
        </p:txBody>
      </p:sp>
      <p:sp>
        <p:nvSpPr>
          <p:cNvPr id="135" name="Arrow: Down 134">
            <a:extLst>
              <a:ext uri="{FF2B5EF4-FFF2-40B4-BE49-F238E27FC236}">
                <a16:creationId xmlns:a16="http://schemas.microsoft.com/office/drawing/2014/main" id="{AB50FA48-01E9-D971-7ABF-25EC5170A052}"/>
              </a:ext>
            </a:extLst>
          </p:cNvPr>
          <p:cNvSpPr/>
          <p:nvPr/>
        </p:nvSpPr>
        <p:spPr>
          <a:xfrm rot="5400000">
            <a:off x="8427463" y="4651573"/>
            <a:ext cx="170188" cy="135591"/>
          </a:xfrm>
          <a:prstGeom prst="downArrow">
            <a:avLst/>
          </a:prstGeom>
          <a:solidFill>
            <a:schemeClr val="tx1">
              <a:lumMod val="50000"/>
              <a:lumOff val="50000"/>
              <a:alpha val="1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36" name="Arrow: Down 135">
            <a:extLst>
              <a:ext uri="{FF2B5EF4-FFF2-40B4-BE49-F238E27FC236}">
                <a16:creationId xmlns:a16="http://schemas.microsoft.com/office/drawing/2014/main" id="{B55F6499-F5ED-979D-CEE2-F6111E597F3E}"/>
              </a:ext>
            </a:extLst>
          </p:cNvPr>
          <p:cNvSpPr/>
          <p:nvPr/>
        </p:nvSpPr>
        <p:spPr>
          <a:xfrm rot="5400000">
            <a:off x="4340404" y="4651574"/>
            <a:ext cx="170188" cy="135591"/>
          </a:xfrm>
          <a:prstGeom prst="downArrow">
            <a:avLst/>
          </a:prstGeom>
          <a:solidFill>
            <a:schemeClr val="tx1">
              <a:lumMod val="50000"/>
              <a:lumOff val="50000"/>
              <a:alpha val="1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38" name="Rectangle: Rounded Corners 137">
            <a:extLst>
              <a:ext uri="{FF2B5EF4-FFF2-40B4-BE49-F238E27FC236}">
                <a16:creationId xmlns:a16="http://schemas.microsoft.com/office/drawing/2014/main" id="{71204D33-741B-C05D-F9FA-274164EE9B96}"/>
              </a:ext>
            </a:extLst>
          </p:cNvPr>
          <p:cNvSpPr/>
          <p:nvPr/>
        </p:nvSpPr>
        <p:spPr>
          <a:xfrm>
            <a:off x="8636598" y="5061476"/>
            <a:ext cx="1653837" cy="528559"/>
          </a:xfrm>
          <a:prstGeom prst="roundRect">
            <a:avLst/>
          </a:prstGeom>
          <a:solidFill>
            <a:srgbClr val="F0BE0F">
              <a:alpha val="16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15296B"/>
              </a:solidFill>
              <a:effectLst/>
              <a:uLnTx/>
              <a:uFillTx/>
              <a:latin typeface="Calibri"/>
              <a:ea typeface="+mn-ea"/>
              <a:cs typeface="Calibri"/>
            </a:endParaRPr>
          </a:p>
        </p:txBody>
      </p:sp>
      <p:sp>
        <p:nvSpPr>
          <p:cNvPr id="139" name="TextBox 138">
            <a:extLst>
              <a:ext uri="{FF2B5EF4-FFF2-40B4-BE49-F238E27FC236}">
                <a16:creationId xmlns:a16="http://schemas.microsoft.com/office/drawing/2014/main" id="{309AB2F6-744F-B000-9EF3-2FAE7D93C60D}"/>
              </a:ext>
            </a:extLst>
          </p:cNvPr>
          <p:cNvSpPr txBox="1"/>
          <p:nvPr/>
        </p:nvSpPr>
        <p:spPr>
          <a:xfrm>
            <a:off x="8636598" y="5105054"/>
            <a:ext cx="1653837" cy="441403"/>
          </a:xfrm>
          <a:prstGeom prst="rect">
            <a:avLst/>
          </a:prstGeom>
          <a:noFill/>
        </p:spPr>
        <p:txBody>
          <a:bodyPr wrap="square">
            <a:spAutoFit/>
          </a:bodyPr>
          <a:lstStyle/>
          <a:p>
            <a:pPr marL="0" marR="0" lvl="0" indent="0" algn="ctr" defTabSz="457200" rtl="1" eaLnBrk="1" fontAlgn="auto" latinLnBrk="0" hangingPunct="1">
              <a:lnSpc>
                <a:spcPct val="108000"/>
              </a:lnSpc>
              <a:spcBef>
                <a:spcPts val="0"/>
              </a:spcBef>
              <a:spcAft>
                <a:spcPts val="0"/>
              </a:spcAft>
              <a:buClrTx/>
              <a:buSzTx/>
              <a:buFontTx/>
              <a:buNone/>
              <a:tabLst/>
              <a:defRPr/>
            </a:pPr>
            <a:r>
              <a:rPr kumimoji="0" lang="fa-IR" sz="1050" b="1" i="0" u="none" strike="noStrike" kern="1200" cap="none" spc="0" normalizeH="0" baseline="0" noProof="0" dirty="0">
                <a:ln>
                  <a:noFill/>
                </a:ln>
                <a:solidFill>
                  <a:srgbClr val="15296B"/>
                </a:solidFill>
                <a:effectLst/>
                <a:uLnTx/>
                <a:uFillTx/>
                <a:latin typeface="Yekan Bakh FaNum" pitchFamily="2" charset="-78"/>
                <a:ea typeface="+mn-ea"/>
                <a:cs typeface="Yekan Bakh FaNum" pitchFamily="2" charset="-78"/>
              </a:rPr>
              <a:t>شراکت راهبردی + اکوسیستمی</a:t>
            </a:r>
          </a:p>
        </p:txBody>
      </p:sp>
      <p:sp>
        <p:nvSpPr>
          <p:cNvPr id="140" name="Rectangle: Rounded Corners 139">
            <a:extLst>
              <a:ext uri="{FF2B5EF4-FFF2-40B4-BE49-F238E27FC236}">
                <a16:creationId xmlns:a16="http://schemas.microsoft.com/office/drawing/2014/main" id="{A2FE193D-039E-9CCC-6B2B-A97D479CB1E8}"/>
              </a:ext>
            </a:extLst>
          </p:cNvPr>
          <p:cNvSpPr/>
          <p:nvPr/>
        </p:nvSpPr>
        <p:spPr>
          <a:xfrm>
            <a:off x="10538516" y="5061476"/>
            <a:ext cx="705056" cy="528559"/>
          </a:xfrm>
          <a:prstGeom prst="round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dirty="0">
              <a:ln>
                <a:noFill/>
              </a:ln>
              <a:solidFill>
                <a:srgbClr val="15296B"/>
              </a:solidFill>
              <a:effectLst/>
              <a:uLnTx/>
              <a:uFillTx/>
              <a:latin typeface="Calibri"/>
              <a:ea typeface="+mn-ea"/>
              <a:cs typeface="Calibri"/>
            </a:endParaRPr>
          </a:p>
        </p:txBody>
      </p:sp>
      <p:sp>
        <p:nvSpPr>
          <p:cNvPr id="141" name="TextBox 140">
            <a:extLst>
              <a:ext uri="{FF2B5EF4-FFF2-40B4-BE49-F238E27FC236}">
                <a16:creationId xmlns:a16="http://schemas.microsoft.com/office/drawing/2014/main" id="{F1382E17-272E-52D4-6F8E-73E8983301AB}"/>
              </a:ext>
            </a:extLst>
          </p:cNvPr>
          <p:cNvSpPr txBox="1"/>
          <p:nvPr/>
        </p:nvSpPr>
        <p:spPr>
          <a:xfrm>
            <a:off x="10664057" y="5156478"/>
            <a:ext cx="453974" cy="338554"/>
          </a:xfrm>
          <a:prstGeom prst="rect">
            <a:avLst/>
          </a:prstGeom>
          <a:noFill/>
        </p:spPr>
        <p:txBody>
          <a:bodyPr wrap="square"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5296B"/>
                </a:solidFill>
                <a:effectLst/>
                <a:uLnTx/>
                <a:uFillTx/>
                <a:latin typeface="Yekan Bakh" pitchFamily="2" charset="-78"/>
                <a:ea typeface="Yekan Bakh" pitchFamily="2" charset="-78"/>
                <a:cs typeface="Yekan Bakh" pitchFamily="2" charset="-78"/>
              </a:rPr>
              <a:t>E</a:t>
            </a:r>
            <a:endParaRPr kumimoji="0" lang="fa-IR" sz="1600" b="1" i="0" u="none" strike="noStrike" kern="1200" cap="none" spc="0" normalizeH="0" baseline="0" noProof="0" dirty="0">
              <a:ln>
                <a:noFill/>
              </a:ln>
              <a:solidFill>
                <a:srgbClr val="15296B"/>
              </a:solidFill>
              <a:effectLst/>
              <a:uLnTx/>
              <a:uFillTx/>
              <a:latin typeface="Yekan Bakh" pitchFamily="2" charset="-78"/>
              <a:ea typeface="Yekan Bakh" pitchFamily="2" charset="-78"/>
              <a:cs typeface="Yekan Bakh" pitchFamily="2" charset="-78"/>
            </a:endParaRPr>
          </a:p>
        </p:txBody>
      </p:sp>
      <p:sp>
        <p:nvSpPr>
          <p:cNvPr id="142" name="Rectangle: Rounded Corners 141">
            <a:extLst>
              <a:ext uri="{FF2B5EF4-FFF2-40B4-BE49-F238E27FC236}">
                <a16:creationId xmlns:a16="http://schemas.microsoft.com/office/drawing/2014/main" id="{3ABF3AE4-6E21-64C9-B90A-CB7283C7A270}"/>
              </a:ext>
            </a:extLst>
          </p:cNvPr>
          <p:cNvSpPr/>
          <p:nvPr/>
        </p:nvSpPr>
        <p:spPr>
          <a:xfrm>
            <a:off x="4548039" y="5061476"/>
            <a:ext cx="3840480" cy="528559"/>
          </a:xfrm>
          <a:prstGeom prst="roundRect">
            <a:avLst/>
          </a:prstGeom>
          <a:solidFill>
            <a:schemeClr val="bg1">
              <a:lumMod val="95000"/>
              <a:alpha val="59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برند بین‌المللی معتبر (حسابرسی/حقوقی/مشاوره) که به‌عنوان حامل اعتبار نهادی وارد شراکت چندساله می‌شود و طرف اکوسیستم می‌گردد</a:t>
            </a:r>
          </a:p>
        </p:txBody>
      </p:sp>
      <p:sp>
        <p:nvSpPr>
          <p:cNvPr id="143" name="Rectangle: Rounded Corners 142">
            <a:extLst>
              <a:ext uri="{FF2B5EF4-FFF2-40B4-BE49-F238E27FC236}">
                <a16:creationId xmlns:a16="http://schemas.microsoft.com/office/drawing/2014/main" id="{D6D094A6-CA77-6BD8-DB54-AAD793252547}"/>
              </a:ext>
            </a:extLst>
          </p:cNvPr>
          <p:cNvSpPr/>
          <p:nvPr/>
        </p:nvSpPr>
        <p:spPr>
          <a:xfrm>
            <a:off x="459478" y="5061476"/>
            <a:ext cx="3840480" cy="528559"/>
          </a:xfrm>
          <a:prstGeom prst="roundRect">
            <a:avLst/>
          </a:prstGeom>
          <a:solidFill>
            <a:schemeClr val="bg1">
              <a:lumMod val="95000"/>
              <a:alpha val="59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بنچمارک: </a:t>
            </a:r>
            <a:r>
              <a:rPr kumimoji="0" lang="fa-IR"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شراکت نهادی چندساله </a:t>
            </a:r>
            <a:r>
              <a:rPr kumimoji="0" lang="en-US"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Bain &amp; Company </a:t>
            </a:r>
            <a:r>
              <a:rPr kumimoji="0" lang="fa-IR"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با </a:t>
            </a:r>
            <a:r>
              <a:rPr kumimoji="0" lang="en-US"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Endeavor</a:t>
            </a:r>
          </a:p>
        </p:txBody>
      </p:sp>
      <p:sp>
        <p:nvSpPr>
          <p:cNvPr id="144" name="Arrow: Down 143">
            <a:extLst>
              <a:ext uri="{FF2B5EF4-FFF2-40B4-BE49-F238E27FC236}">
                <a16:creationId xmlns:a16="http://schemas.microsoft.com/office/drawing/2014/main" id="{FCC4CFDB-404D-7AE9-DC98-54A0DC16D3E3}"/>
              </a:ext>
            </a:extLst>
          </p:cNvPr>
          <p:cNvSpPr/>
          <p:nvPr/>
        </p:nvSpPr>
        <p:spPr>
          <a:xfrm rot="5400000">
            <a:off x="8427463" y="5257960"/>
            <a:ext cx="170188" cy="135591"/>
          </a:xfrm>
          <a:prstGeom prst="downArrow">
            <a:avLst/>
          </a:prstGeom>
          <a:solidFill>
            <a:schemeClr val="tx1">
              <a:lumMod val="50000"/>
              <a:lumOff val="50000"/>
              <a:alpha val="1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45" name="Arrow: Down 144">
            <a:extLst>
              <a:ext uri="{FF2B5EF4-FFF2-40B4-BE49-F238E27FC236}">
                <a16:creationId xmlns:a16="http://schemas.microsoft.com/office/drawing/2014/main" id="{959214C2-9821-4B5C-9E60-B691804B98D9}"/>
              </a:ext>
            </a:extLst>
          </p:cNvPr>
          <p:cNvSpPr/>
          <p:nvPr/>
        </p:nvSpPr>
        <p:spPr>
          <a:xfrm rot="5400000">
            <a:off x="4340404" y="5257961"/>
            <a:ext cx="170188" cy="135591"/>
          </a:xfrm>
          <a:prstGeom prst="downArrow">
            <a:avLst/>
          </a:prstGeom>
          <a:solidFill>
            <a:schemeClr val="tx1">
              <a:lumMod val="50000"/>
              <a:lumOff val="50000"/>
              <a:alpha val="1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Tree>
    <p:extLst>
      <p:ext uri="{BB962C8B-B14F-4D97-AF65-F5344CB8AC3E}">
        <p14:creationId xmlns:p14="http://schemas.microsoft.com/office/powerpoint/2010/main" val="448675833"/>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6FA5C6-65F0-5164-8970-B596B7C613B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A3F96E2-74D3-C4E0-B9BF-60D85448BA48}"/>
              </a:ext>
            </a:extLst>
          </p:cNvPr>
          <p:cNvSpPr>
            <a:spLocks noGrp="1"/>
          </p:cNvSpPr>
          <p:nvPr>
            <p:ph type="body" sz="quarter" idx="10"/>
          </p:nvPr>
        </p:nvSpPr>
        <p:spPr/>
        <p:txBody>
          <a:bodyPr/>
          <a:lstStyle/>
          <a:p>
            <a:r>
              <a:rPr lang="fa-IR" dirty="0"/>
              <a:t>۷. تخصیص رابطه — پرسونا ۳ از ۶ — کسب‌وکار مشتاق</a:t>
            </a:r>
            <a:endParaRPr lang="en-GB" dirty="0"/>
          </a:p>
        </p:txBody>
      </p:sp>
      <p:sp>
        <p:nvSpPr>
          <p:cNvPr id="3" name="Text Placeholder 2">
            <a:extLst>
              <a:ext uri="{FF2B5EF4-FFF2-40B4-BE49-F238E27FC236}">
                <a16:creationId xmlns:a16="http://schemas.microsoft.com/office/drawing/2014/main" id="{F5C1C3B5-4CE7-2E70-7724-566627334A24}"/>
              </a:ext>
            </a:extLst>
          </p:cNvPr>
          <p:cNvSpPr>
            <a:spLocks noGrp="1"/>
          </p:cNvSpPr>
          <p:nvPr>
            <p:ph type="body" sz="quarter" idx="12"/>
          </p:nvPr>
        </p:nvSpPr>
        <p:spPr/>
        <p:txBody>
          <a:bodyPr/>
          <a:lstStyle/>
          <a:p>
            <a:r>
              <a:rPr lang="fa-IR" dirty="0"/>
              <a:t>هسته تعامل در ناحیه</a:t>
            </a:r>
            <a:r>
              <a:rPr lang="en-US" dirty="0"/>
              <a:t>C </a:t>
            </a:r>
            <a:r>
              <a:rPr lang="fa-IR" dirty="0"/>
              <a:t> است — محصولی‌کردن آماده‌سازی؛ ناحیه </a:t>
            </a:r>
            <a:r>
              <a:rPr lang="en-US" dirty="0"/>
              <a:t>E</a:t>
            </a:r>
            <a:r>
              <a:rPr lang="fa-IR" dirty="0"/>
              <a:t> عملاً کاربرد مستقیم ندارد</a:t>
            </a:r>
          </a:p>
        </p:txBody>
      </p:sp>
      <p:sp>
        <p:nvSpPr>
          <p:cNvPr id="4" name="Rectangle: Rounded Corners 3">
            <a:extLst>
              <a:ext uri="{FF2B5EF4-FFF2-40B4-BE49-F238E27FC236}">
                <a16:creationId xmlns:a16="http://schemas.microsoft.com/office/drawing/2014/main" id="{AF178900-004F-A175-6F75-BD4C9C6E0047}"/>
              </a:ext>
            </a:extLst>
          </p:cNvPr>
          <p:cNvSpPr/>
          <p:nvPr/>
        </p:nvSpPr>
        <p:spPr>
          <a:xfrm>
            <a:off x="10498755" y="1440259"/>
            <a:ext cx="744817" cy="577516"/>
          </a:xfrm>
          <a:prstGeom prst="roundRect">
            <a:avLst/>
          </a:prstGeom>
          <a:solidFill>
            <a:srgbClr val="15296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نیاز محوری</a:t>
            </a:r>
            <a:endParaRPr kumimoji="0" lang="en-GB" sz="105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sp>
        <p:nvSpPr>
          <p:cNvPr id="5" name="Isosceles Triangle 4">
            <a:extLst>
              <a:ext uri="{FF2B5EF4-FFF2-40B4-BE49-F238E27FC236}">
                <a16:creationId xmlns:a16="http://schemas.microsoft.com/office/drawing/2014/main" id="{B4EE5F55-7335-D901-0DA5-83DFE468FCBA}"/>
              </a:ext>
            </a:extLst>
          </p:cNvPr>
          <p:cNvSpPr/>
          <p:nvPr/>
        </p:nvSpPr>
        <p:spPr>
          <a:xfrm rot="16200000">
            <a:off x="10127842" y="1675364"/>
            <a:ext cx="577516" cy="107305"/>
          </a:xfrm>
          <a:prstGeom prst="triangle">
            <a:avLst/>
          </a:prstGeom>
          <a:solidFill>
            <a:srgbClr val="F0BE0F">
              <a:alpha val="5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6" name="Rectangle: Rounded Corners 5">
            <a:extLst>
              <a:ext uri="{FF2B5EF4-FFF2-40B4-BE49-F238E27FC236}">
                <a16:creationId xmlns:a16="http://schemas.microsoft.com/office/drawing/2014/main" id="{672B0AB3-4DF1-4D14-DB48-2695D733C83E}"/>
              </a:ext>
            </a:extLst>
          </p:cNvPr>
          <p:cNvSpPr/>
          <p:nvPr/>
        </p:nvSpPr>
        <p:spPr>
          <a:xfrm>
            <a:off x="5940763" y="1440259"/>
            <a:ext cx="4393682" cy="577516"/>
          </a:xfrm>
          <a:prstGeom prst="roundRect">
            <a:avLst/>
          </a:prstGeom>
          <a:noFill/>
          <a:ln w="6350">
            <a:solidFill>
              <a:srgbClr val="004D80">
                <a:alpha val="46000"/>
              </a:srgb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ایجاد قابلیت برای تجارت آتی؛ حساس به هزینه، به‌دنبال میان‌بر معرفی</a:t>
            </a:r>
            <a:endParaRPr kumimoji="0" lang="en-GB" sz="10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9" name="Rectangle: Rounded Corners 8">
            <a:extLst>
              <a:ext uri="{FF2B5EF4-FFF2-40B4-BE49-F238E27FC236}">
                <a16:creationId xmlns:a16="http://schemas.microsoft.com/office/drawing/2014/main" id="{F40FB64C-ECDD-2315-DDFD-327FED312DA9}"/>
              </a:ext>
            </a:extLst>
          </p:cNvPr>
          <p:cNvSpPr/>
          <p:nvPr/>
        </p:nvSpPr>
        <p:spPr>
          <a:xfrm>
            <a:off x="5017471" y="1440259"/>
            <a:ext cx="744817" cy="577516"/>
          </a:xfrm>
          <a:prstGeom prst="round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رفتار</a:t>
            </a:r>
            <a:endParaRPr kumimoji="0" lang="en-GB" sz="105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sp>
        <p:nvSpPr>
          <p:cNvPr id="10" name="Isosceles Triangle 9">
            <a:extLst>
              <a:ext uri="{FF2B5EF4-FFF2-40B4-BE49-F238E27FC236}">
                <a16:creationId xmlns:a16="http://schemas.microsoft.com/office/drawing/2014/main" id="{7A7CF834-555B-FBD0-EE9A-2C6D2448CD55}"/>
              </a:ext>
            </a:extLst>
          </p:cNvPr>
          <p:cNvSpPr/>
          <p:nvPr/>
        </p:nvSpPr>
        <p:spPr>
          <a:xfrm rot="16200000">
            <a:off x="4646558" y="1675364"/>
            <a:ext cx="577516" cy="107305"/>
          </a:xfrm>
          <a:prstGeom prst="triangle">
            <a:avLst/>
          </a:prstGeom>
          <a:solidFill>
            <a:srgbClr val="F0BE0F">
              <a:alpha val="5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1" name="Rectangle: Rounded Corners 10">
            <a:extLst>
              <a:ext uri="{FF2B5EF4-FFF2-40B4-BE49-F238E27FC236}">
                <a16:creationId xmlns:a16="http://schemas.microsoft.com/office/drawing/2014/main" id="{EADB2483-CCB0-C418-391C-7D43CA082C5B}"/>
              </a:ext>
            </a:extLst>
          </p:cNvPr>
          <p:cNvSpPr/>
          <p:nvPr/>
        </p:nvSpPr>
        <p:spPr>
          <a:xfrm>
            <a:off x="459479" y="1440259"/>
            <a:ext cx="4393682" cy="577516"/>
          </a:xfrm>
          <a:prstGeom prst="roundRect">
            <a:avLst/>
          </a:prstGeom>
          <a:noFill/>
          <a:ln w="6350">
            <a:solidFill>
              <a:schemeClr val="bg1">
                <a:lumMod val="75000"/>
                <a:alpha val="46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عمدتاً مالک‌محور؛</a:t>
            </a:r>
          </a:p>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هنوز از نظر ساختاری آماده معرفی نیست</a:t>
            </a:r>
            <a:endParaRPr kumimoji="0" lang="en-GB" sz="9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endParaRPr>
          </a:p>
        </p:txBody>
      </p:sp>
      <p:cxnSp>
        <p:nvCxnSpPr>
          <p:cNvPr id="29" name="Straight Connector 28">
            <a:extLst>
              <a:ext uri="{FF2B5EF4-FFF2-40B4-BE49-F238E27FC236}">
                <a16:creationId xmlns:a16="http://schemas.microsoft.com/office/drawing/2014/main" id="{1BCFE364-391E-8C51-626C-C882A27B46F8}"/>
              </a:ext>
            </a:extLst>
          </p:cNvPr>
          <p:cNvCxnSpPr>
            <a:cxnSpLocks/>
          </p:cNvCxnSpPr>
          <p:nvPr/>
        </p:nvCxnSpPr>
        <p:spPr>
          <a:xfrm>
            <a:off x="8636598" y="2445906"/>
            <a:ext cx="1653837" cy="0"/>
          </a:xfrm>
          <a:prstGeom prst="line">
            <a:avLst/>
          </a:prstGeom>
          <a:ln w="3175">
            <a:solidFill>
              <a:srgbClr val="F0BE0F"/>
            </a:solidFill>
          </a:ln>
        </p:spPr>
        <p:style>
          <a:lnRef idx="1">
            <a:schemeClr val="accent2"/>
          </a:lnRef>
          <a:fillRef idx="0">
            <a:schemeClr val="accent2"/>
          </a:fillRef>
          <a:effectRef idx="0">
            <a:schemeClr val="accent2"/>
          </a:effectRef>
          <a:fontRef idx="minor">
            <a:schemeClr val="tx1"/>
          </a:fontRef>
        </p:style>
      </p:cxnSp>
      <p:sp>
        <p:nvSpPr>
          <p:cNvPr id="14" name="TextBox 13">
            <a:extLst>
              <a:ext uri="{FF2B5EF4-FFF2-40B4-BE49-F238E27FC236}">
                <a16:creationId xmlns:a16="http://schemas.microsoft.com/office/drawing/2014/main" id="{94E810B9-DF3F-3260-FCEB-9C367E0FEA7A}"/>
              </a:ext>
            </a:extLst>
          </p:cNvPr>
          <p:cNvSpPr txBox="1"/>
          <p:nvPr/>
        </p:nvSpPr>
        <p:spPr>
          <a:xfrm>
            <a:off x="8738779" y="2330490"/>
            <a:ext cx="1449474" cy="230832"/>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rPr>
              <a:t>آرکی‌تایپ رابطه پیشنهادی</a:t>
            </a:r>
          </a:p>
        </p:txBody>
      </p:sp>
      <p:cxnSp>
        <p:nvCxnSpPr>
          <p:cNvPr id="35" name="Straight Connector 34">
            <a:extLst>
              <a:ext uri="{FF2B5EF4-FFF2-40B4-BE49-F238E27FC236}">
                <a16:creationId xmlns:a16="http://schemas.microsoft.com/office/drawing/2014/main" id="{6A7FDAB8-3DA8-353B-1363-01D90EFB1C50}"/>
              </a:ext>
            </a:extLst>
          </p:cNvPr>
          <p:cNvCxnSpPr>
            <a:cxnSpLocks/>
          </p:cNvCxnSpPr>
          <p:nvPr/>
        </p:nvCxnSpPr>
        <p:spPr>
          <a:xfrm>
            <a:off x="459478" y="2445906"/>
            <a:ext cx="3840480" cy="0"/>
          </a:xfrm>
          <a:prstGeom prst="line">
            <a:avLst/>
          </a:prstGeom>
          <a:ln w="3175">
            <a:solidFill>
              <a:schemeClr val="bg1">
                <a:lumMod val="85000"/>
              </a:schemeClr>
            </a:solidFill>
          </a:ln>
        </p:spPr>
        <p:style>
          <a:lnRef idx="1">
            <a:schemeClr val="accent2"/>
          </a:lnRef>
          <a:fillRef idx="0">
            <a:schemeClr val="accent2"/>
          </a:fillRef>
          <a:effectRef idx="0">
            <a:schemeClr val="accent2"/>
          </a:effectRef>
          <a:fontRef idx="minor">
            <a:schemeClr val="tx1"/>
          </a:fontRef>
        </p:style>
      </p:cxnSp>
      <p:sp>
        <p:nvSpPr>
          <p:cNvPr id="36" name="TextBox 35">
            <a:extLst>
              <a:ext uri="{FF2B5EF4-FFF2-40B4-BE49-F238E27FC236}">
                <a16:creationId xmlns:a16="http://schemas.microsoft.com/office/drawing/2014/main" id="{33A1FEBC-DD4D-9A76-A2B8-F6A249F1D20A}"/>
              </a:ext>
            </a:extLst>
          </p:cNvPr>
          <p:cNvSpPr txBox="1"/>
          <p:nvPr/>
        </p:nvSpPr>
        <p:spPr>
          <a:xfrm>
            <a:off x="1464417" y="2330490"/>
            <a:ext cx="1830602" cy="230832"/>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rPr>
              <a:t>مثال جهانی و بنچمارک برون‌مرزی</a:t>
            </a:r>
          </a:p>
        </p:txBody>
      </p:sp>
      <p:cxnSp>
        <p:nvCxnSpPr>
          <p:cNvPr id="43" name="Straight Connector 42">
            <a:extLst>
              <a:ext uri="{FF2B5EF4-FFF2-40B4-BE49-F238E27FC236}">
                <a16:creationId xmlns:a16="http://schemas.microsoft.com/office/drawing/2014/main" id="{BA474129-0A7A-4D60-9053-5AAAD683AD97}"/>
              </a:ext>
            </a:extLst>
          </p:cNvPr>
          <p:cNvCxnSpPr>
            <a:cxnSpLocks/>
          </p:cNvCxnSpPr>
          <p:nvPr/>
        </p:nvCxnSpPr>
        <p:spPr>
          <a:xfrm>
            <a:off x="4548038" y="2445906"/>
            <a:ext cx="3840480" cy="0"/>
          </a:xfrm>
          <a:prstGeom prst="line">
            <a:avLst/>
          </a:prstGeom>
          <a:ln w="3175">
            <a:solidFill>
              <a:schemeClr val="bg1">
                <a:lumMod val="85000"/>
              </a:schemeClr>
            </a:solidFill>
          </a:ln>
        </p:spPr>
        <p:style>
          <a:lnRef idx="1">
            <a:schemeClr val="accent2"/>
          </a:lnRef>
          <a:fillRef idx="0">
            <a:schemeClr val="accent2"/>
          </a:fillRef>
          <a:effectRef idx="0">
            <a:schemeClr val="accent2"/>
          </a:effectRef>
          <a:fontRef idx="minor">
            <a:schemeClr val="tx1"/>
          </a:fontRef>
        </p:style>
      </p:cxnSp>
      <p:sp>
        <p:nvSpPr>
          <p:cNvPr id="44" name="TextBox 43">
            <a:extLst>
              <a:ext uri="{FF2B5EF4-FFF2-40B4-BE49-F238E27FC236}">
                <a16:creationId xmlns:a16="http://schemas.microsoft.com/office/drawing/2014/main" id="{56577F93-EF7B-6995-FBD1-10C856CDC73B}"/>
              </a:ext>
            </a:extLst>
          </p:cNvPr>
          <p:cNvSpPr txBox="1"/>
          <p:nvPr/>
        </p:nvSpPr>
        <p:spPr>
          <a:xfrm>
            <a:off x="5552977" y="2330490"/>
            <a:ext cx="1830602" cy="230832"/>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rPr>
              <a:t>کاربرد در اکوسیستم فرصت ایران</a:t>
            </a:r>
          </a:p>
        </p:txBody>
      </p:sp>
      <p:cxnSp>
        <p:nvCxnSpPr>
          <p:cNvPr id="47" name="Straight Connector 46">
            <a:extLst>
              <a:ext uri="{FF2B5EF4-FFF2-40B4-BE49-F238E27FC236}">
                <a16:creationId xmlns:a16="http://schemas.microsoft.com/office/drawing/2014/main" id="{14D20D20-513E-6DE3-9935-A90D3E592890}"/>
              </a:ext>
            </a:extLst>
          </p:cNvPr>
          <p:cNvCxnSpPr>
            <a:cxnSpLocks/>
          </p:cNvCxnSpPr>
          <p:nvPr/>
        </p:nvCxnSpPr>
        <p:spPr>
          <a:xfrm>
            <a:off x="10538516" y="2445906"/>
            <a:ext cx="705056" cy="0"/>
          </a:xfrm>
          <a:prstGeom prst="line">
            <a:avLst/>
          </a:prstGeom>
          <a:ln w="3175">
            <a:solidFill>
              <a:srgbClr val="004D80"/>
            </a:solidFill>
          </a:ln>
        </p:spPr>
        <p:style>
          <a:lnRef idx="1">
            <a:schemeClr val="accent2"/>
          </a:lnRef>
          <a:fillRef idx="0">
            <a:schemeClr val="accent2"/>
          </a:fillRef>
          <a:effectRef idx="0">
            <a:schemeClr val="accent2"/>
          </a:effectRef>
          <a:fontRef idx="minor">
            <a:schemeClr val="tx1"/>
          </a:fontRef>
        </p:style>
      </p:cxnSp>
      <p:sp>
        <p:nvSpPr>
          <p:cNvPr id="48" name="TextBox 47">
            <a:extLst>
              <a:ext uri="{FF2B5EF4-FFF2-40B4-BE49-F238E27FC236}">
                <a16:creationId xmlns:a16="http://schemas.microsoft.com/office/drawing/2014/main" id="{EEEF0FCA-7028-8694-BC10-1CA31F81B92B}"/>
              </a:ext>
            </a:extLst>
          </p:cNvPr>
          <p:cNvSpPr txBox="1"/>
          <p:nvPr/>
        </p:nvSpPr>
        <p:spPr>
          <a:xfrm>
            <a:off x="10655211" y="2330490"/>
            <a:ext cx="471667" cy="230832"/>
          </a:xfrm>
          <a:prstGeom prst="rect">
            <a:avLst/>
          </a:prstGeom>
          <a:solidFill>
            <a:schemeClr val="bg1"/>
          </a:solidFill>
          <a:ln>
            <a:noFill/>
          </a:ln>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rPr>
              <a:t>ناحیه</a:t>
            </a:r>
          </a:p>
        </p:txBody>
      </p:sp>
      <p:sp>
        <p:nvSpPr>
          <p:cNvPr id="18" name="Rectangle: Rounded Corners 17">
            <a:extLst>
              <a:ext uri="{FF2B5EF4-FFF2-40B4-BE49-F238E27FC236}">
                <a16:creationId xmlns:a16="http://schemas.microsoft.com/office/drawing/2014/main" id="{4ADF1E29-E5AF-57F0-CA8D-F17FAEA3CF52}"/>
              </a:ext>
            </a:extLst>
          </p:cNvPr>
          <p:cNvSpPr/>
          <p:nvPr/>
        </p:nvSpPr>
        <p:spPr>
          <a:xfrm>
            <a:off x="8636598" y="2635925"/>
            <a:ext cx="1653837" cy="528559"/>
          </a:xfrm>
          <a:prstGeom prst="roundRect">
            <a:avLst/>
          </a:prstGeom>
          <a:solidFill>
            <a:srgbClr val="F0BE0F">
              <a:alpha val="16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15296B"/>
              </a:solidFill>
              <a:effectLst/>
              <a:uLnTx/>
              <a:uFillTx/>
              <a:latin typeface="Calibri"/>
              <a:ea typeface="+mn-ea"/>
              <a:cs typeface="Calibri"/>
            </a:endParaRPr>
          </a:p>
        </p:txBody>
      </p:sp>
      <p:sp>
        <p:nvSpPr>
          <p:cNvPr id="22" name="TextBox 21">
            <a:extLst>
              <a:ext uri="{FF2B5EF4-FFF2-40B4-BE49-F238E27FC236}">
                <a16:creationId xmlns:a16="http://schemas.microsoft.com/office/drawing/2014/main" id="{3DED5602-DA39-CF87-DD6A-9EC503278E9D}"/>
              </a:ext>
            </a:extLst>
          </p:cNvPr>
          <p:cNvSpPr txBox="1"/>
          <p:nvPr/>
        </p:nvSpPr>
        <p:spPr>
          <a:xfrm>
            <a:off x="8636598" y="2766770"/>
            <a:ext cx="1653837" cy="266868"/>
          </a:xfrm>
          <a:prstGeom prst="rect">
            <a:avLst/>
          </a:prstGeom>
          <a:noFill/>
        </p:spPr>
        <p:txBody>
          <a:bodyPr wrap="square">
            <a:spAutoFit/>
          </a:bodyPr>
          <a:lstStyle/>
          <a:p>
            <a:pPr marL="0" marR="0" lvl="0" indent="0" algn="ctr" defTabSz="457200" rtl="1" eaLnBrk="1" fontAlgn="auto" latinLnBrk="0" hangingPunct="1">
              <a:lnSpc>
                <a:spcPct val="108000"/>
              </a:lnSpc>
              <a:spcBef>
                <a:spcPts val="0"/>
              </a:spcBef>
              <a:spcAft>
                <a:spcPts val="0"/>
              </a:spcAft>
              <a:buClrTx/>
              <a:buSzTx/>
              <a:buFontTx/>
              <a:buNone/>
              <a:tabLst/>
              <a:defRPr/>
            </a:pPr>
            <a:r>
              <a:rPr kumimoji="0" lang="fa-IR" sz="1050" b="1" i="0" u="none" strike="noStrike" kern="1200" cap="none" spc="0" normalizeH="0" baseline="0" noProof="0" dirty="0">
                <a:ln>
                  <a:noFill/>
                </a:ln>
                <a:solidFill>
                  <a:srgbClr val="15296B"/>
                </a:solidFill>
                <a:effectLst/>
                <a:uLnTx/>
                <a:uFillTx/>
                <a:latin typeface="Yekan Bakh FaNum" pitchFamily="2" charset="-78"/>
                <a:ea typeface="+mn-ea"/>
                <a:cs typeface="Yekan Bakh FaNum" pitchFamily="2" charset="-78"/>
              </a:rPr>
              <a:t>تراکنشی</a:t>
            </a:r>
          </a:p>
        </p:txBody>
      </p:sp>
      <p:sp>
        <p:nvSpPr>
          <p:cNvPr id="52" name="Rectangle: Rounded Corners 51">
            <a:extLst>
              <a:ext uri="{FF2B5EF4-FFF2-40B4-BE49-F238E27FC236}">
                <a16:creationId xmlns:a16="http://schemas.microsoft.com/office/drawing/2014/main" id="{DB15A870-5DD9-C80D-FBA1-24BE5A6B25F9}"/>
              </a:ext>
            </a:extLst>
          </p:cNvPr>
          <p:cNvSpPr/>
          <p:nvPr/>
        </p:nvSpPr>
        <p:spPr>
          <a:xfrm>
            <a:off x="10538516" y="2635925"/>
            <a:ext cx="705056" cy="528559"/>
          </a:xfrm>
          <a:prstGeom prst="roundRect">
            <a:avLst/>
          </a:prstGeom>
          <a:solidFill>
            <a:srgbClr val="EFF3FB"/>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dirty="0">
              <a:ln>
                <a:noFill/>
              </a:ln>
              <a:solidFill>
                <a:srgbClr val="15296B"/>
              </a:solidFill>
              <a:effectLst/>
              <a:uLnTx/>
              <a:uFillTx/>
              <a:latin typeface="Calibri"/>
              <a:ea typeface="+mn-ea"/>
              <a:cs typeface="Calibri"/>
            </a:endParaRPr>
          </a:p>
        </p:txBody>
      </p:sp>
      <p:sp>
        <p:nvSpPr>
          <p:cNvPr id="19" name="TextBox 18">
            <a:extLst>
              <a:ext uri="{FF2B5EF4-FFF2-40B4-BE49-F238E27FC236}">
                <a16:creationId xmlns:a16="http://schemas.microsoft.com/office/drawing/2014/main" id="{A44BEEE1-9F83-59C5-8CBA-9E26817F904B}"/>
              </a:ext>
            </a:extLst>
          </p:cNvPr>
          <p:cNvSpPr txBox="1"/>
          <p:nvPr/>
        </p:nvSpPr>
        <p:spPr>
          <a:xfrm>
            <a:off x="10664057" y="2730927"/>
            <a:ext cx="453974" cy="338554"/>
          </a:xfrm>
          <a:prstGeom prst="rect">
            <a:avLst/>
          </a:prstGeom>
          <a:noFill/>
        </p:spPr>
        <p:txBody>
          <a:bodyPr wrap="square"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5296B"/>
                </a:solidFill>
                <a:effectLst/>
                <a:uLnTx/>
                <a:uFillTx/>
                <a:latin typeface="Yekan Bakh" pitchFamily="2" charset="-78"/>
                <a:ea typeface="Yekan Bakh" pitchFamily="2" charset="-78"/>
                <a:cs typeface="Yekan Bakh" pitchFamily="2" charset="-78"/>
              </a:rPr>
              <a:t>A</a:t>
            </a:r>
            <a:endParaRPr kumimoji="0" lang="fa-IR" sz="1600" b="1" i="0" u="none" strike="noStrike" kern="1200" cap="none" spc="0" normalizeH="0" baseline="0" noProof="0" dirty="0">
              <a:ln>
                <a:noFill/>
              </a:ln>
              <a:solidFill>
                <a:srgbClr val="15296B"/>
              </a:solidFill>
              <a:effectLst/>
              <a:uLnTx/>
              <a:uFillTx/>
              <a:latin typeface="Yekan Bakh" pitchFamily="2" charset="-78"/>
              <a:ea typeface="Yekan Bakh" pitchFamily="2" charset="-78"/>
              <a:cs typeface="Yekan Bakh" pitchFamily="2" charset="-78"/>
            </a:endParaRPr>
          </a:p>
        </p:txBody>
      </p:sp>
      <p:sp>
        <p:nvSpPr>
          <p:cNvPr id="60" name="Rectangle: Rounded Corners 59">
            <a:extLst>
              <a:ext uri="{FF2B5EF4-FFF2-40B4-BE49-F238E27FC236}">
                <a16:creationId xmlns:a16="http://schemas.microsoft.com/office/drawing/2014/main" id="{62ABBC10-E69A-16A5-9F08-A6F400C8135A}"/>
              </a:ext>
            </a:extLst>
          </p:cNvPr>
          <p:cNvSpPr/>
          <p:nvPr/>
        </p:nvSpPr>
        <p:spPr>
          <a:xfrm>
            <a:off x="4548039" y="2635925"/>
            <a:ext cx="3840480" cy="528559"/>
          </a:xfrm>
          <a:prstGeom prst="roundRect">
            <a:avLst/>
          </a:prstGeom>
          <a:solidFill>
            <a:schemeClr val="bg1">
              <a:lumMod val="95000"/>
              <a:alpha val="59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خرید دیجیتال بسته ارزیابی آمادگی با تعرفه ثابت، کاملاً خودسرویس</a:t>
            </a:r>
          </a:p>
        </p:txBody>
      </p:sp>
      <p:sp>
        <p:nvSpPr>
          <p:cNvPr id="62" name="Rectangle: Rounded Corners 61">
            <a:extLst>
              <a:ext uri="{FF2B5EF4-FFF2-40B4-BE49-F238E27FC236}">
                <a16:creationId xmlns:a16="http://schemas.microsoft.com/office/drawing/2014/main" id="{4B0E091E-04DD-11EC-EBFB-EEA3390CC287}"/>
              </a:ext>
            </a:extLst>
          </p:cNvPr>
          <p:cNvSpPr/>
          <p:nvPr/>
        </p:nvSpPr>
        <p:spPr>
          <a:xfrm>
            <a:off x="459478" y="2635925"/>
            <a:ext cx="3840480" cy="528559"/>
          </a:xfrm>
          <a:prstGeom prst="roundRect">
            <a:avLst/>
          </a:prstGeom>
          <a:solidFill>
            <a:schemeClr val="bg1">
              <a:lumMod val="95000"/>
              <a:alpha val="59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ابزارهای آنلاین </a:t>
            </a:r>
            <a:r>
              <a:rPr kumimoji="0" lang="en-US"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Self-Assessment</a:t>
            </a:r>
            <a:r>
              <a:rPr kumimoji="0" lang="fa-IR"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 نظیر </a:t>
            </a:r>
            <a:r>
              <a:rPr kumimoji="0" lang="en-US"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HubSpot Grader </a:t>
            </a:r>
            <a:r>
              <a:rPr kumimoji="0" lang="fa-IR"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a:t>
            </a:r>
          </a:p>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بنچمارک: </a:t>
            </a:r>
            <a:r>
              <a:rPr kumimoji="0" lang="fa-IR"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ابزار خودارزیابی آمادگی صادرات </a:t>
            </a:r>
            <a:r>
              <a:rPr kumimoji="0" lang="en-US"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EEN</a:t>
            </a:r>
          </a:p>
        </p:txBody>
      </p:sp>
      <p:sp>
        <p:nvSpPr>
          <p:cNvPr id="104" name="Arrow: Down 103">
            <a:extLst>
              <a:ext uri="{FF2B5EF4-FFF2-40B4-BE49-F238E27FC236}">
                <a16:creationId xmlns:a16="http://schemas.microsoft.com/office/drawing/2014/main" id="{F349DF4E-126B-BC19-E3E0-89798E49395D}"/>
              </a:ext>
            </a:extLst>
          </p:cNvPr>
          <p:cNvSpPr/>
          <p:nvPr/>
        </p:nvSpPr>
        <p:spPr>
          <a:xfrm rot="5400000">
            <a:off x="8427463" y="2832409"/>
            <a:ext cx="170188" cy="135591"/>
          </a:xfrm>
          <a:prstGeom prst="downArrow">
            <a:avLst/>
          </a:prstGeom>
          <a:solidFill>
            <a:schemeClr val="tx1">
              <a:lumMod val="50000"/>
              <a:lumOff val="50000"/>
              <a:alpha val="1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05" name="Arrow: Down 104">
            <a:extLst>
              <a:ext uri="{FF2B5EF4-FFF2-40B4-BE49-F238E27FC236}">
                <a16:creationId xmlns:a16="http://schemas.microsoft.com/office/drawing/2014/main" id="{AE211055-EF25-0FB4-DE8F-73BC35A9C2E5}"/>
              </a:ext>
            </a:extLst>
          </p:cNvPr>
          <p:cNvSpPr/>
          <p:nvPr/>
        </p:nvSpPr>
        <p:spPr>
          <a:xfrm rot="5400000">
            <a:off x="4340404" y="2832410"/>
            <a:ext cx="170188" cy="135591"/>
          </a:xfrm>
          <a:prstGeom prst="downArrow">
            <a:avLst/>
          </a:prstGeom>
          <a:solidFill>
            <a:schemeClr val="tx1">
              <a:lumMod val="50000"/>
              <a:lumOff val="50000"/>
              <a:alpha val="1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11" name="Rectangle: Rounded Corners 110">
            <a:extLst>
              <a:ext uri="{FF2B5EF4-FFF2-40B4-BE49-F238E27FC236}">
                <a16:creationId xmlns:a16="http://schemas.microsoft.com/office/drawing/2014/main" id="{2FE2C708-D4BA-1523-79E7-BFA87B3295F0}"/>
              </a:ext>
            </a:extLst>
          </p:cNvPr>
          <p:cNvSpPr/>
          <p:nvPr/>
        </p:nvSpPr>
        <p:spPr>
          <a:xfrm>
            <a:off x="8636598" y="3242313"/>
            <a:ext cx="1653837" cy="528559"/>
          </a:xfrm>
          <a:prstGeom prst="roundRect">
            <a:avLst/>
          </a:prstGeom>
          <a:solidFill>
            <a:srgbClr val="F0BE0F">
              <a:alpha val="16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15296B"/>
              </a:solidFill>
              <a:effectLst/>
              <a:uLnTx/>
              <a:uFillTx/>
              <a:latin typeface="Calibri"/>
              <a:ea typeface="+mn-ea"/>
              <a:cs typeface="Calibri"/>
            </a:endParaRPr>
          </a:p>
        </p:txBody>
      </p:sp>
      <p:sp>
        <p:nvSpPr>
          <p:cNvPr id="112" name="TextBox 111">
            <a:extLst>
              <a:ext uri="{FF2B5EF4-FFF2-40B4-BE49-F238E27FC236}">
                <a16:creationId xmlns:a16="http://schemas.microsoft.com/office/drawing/2014/main" id="{B7D372B3-262F-B79B-4E61-28360FA33EEB}"/>
              </a:ext>
            </a:extLst>
          </p:cNvPr>
          <p:cNvSpPr txBox="1"/>
          <p:nvPr/>
        </p:nvSpPr>
        <p:spPr>
          <a:xfrm>
            <a:off x="8636598" y="3373158"/>
            <a:ext cx="1653837" cy="266868"/>
          </a:xfrm>
          <a:prstGeom prst="rect">
            <a:avLst/>
          </a:prstGeom>
          <a:noFill/>
        </p:spPr>
        <p:txBody>
          <a:bodyPr wrap="square">
            <a:spAutoFit/>
          </a:bodyPr>
          <a:lstStyle/>
          <a:p>
            <a:pPr marL="0" marR="0" lvl="0" indent="0" algn="ctr" defTabSz="457200" rtl="1" eaLnBrk="1" fontAlgn="auto" latinLnBrk="0" hangingPunct="1">
              <a:lnSpc>
                <a:spcPct val="108000"/>
              </a:lnSpc>
              <a:spcBef>
                <a:spcPts val="0"/>
              </a:spcBef>
              <a:spcAft>
                <a:spcPts val="0"/>
              </a:spcAft>
              <a:buClrTx/>
              <a:buSzTx/>
              <a:buFontTx/>
              <a:buNone/>
              <a:tabLst/>
              <a:defRPr/>
            </a:pPr>
            <a:r>
              <a:rPr kumimoji="0" lang="fa-IR" sz="1050" b="1" i="0" u="none" strike="noStrike" kern="1200" cap="none" spc="0" normalizeH="0" baseline="0" noProof="0" dirty="0">
                <a:ln>
                  <a:noFill/>
                </a:ln>
                <a:solidFill>
                  <a:srgbClr val="15296B"/>
                </a:solidFill>
                <a:effectLst/>
                <a:uLnTx/>
                <a:uFillTx/>
                <a:latin typeface="Yekan Bakh FaNum" pitchFamily="2" charset="-78"/>
                <a:ea typeface="+mn-ea"/>
                <a:cs typeface="Yekan Bakh FaNum" pitchFamily="2" charset="-78"/>
              </a:rPr>
              <a:t>همراه/اختصاصی</a:t>
            </a:r>
          </a:p>
        </p:txBody>
      </p:sp>
      <p:sp>
        <p:nvSpPr>
          <p:cNvPr id="113" name="Rectangle: Rounded Corners 112">
            <a:extLst>
              <a:ext uri="{FF2B5EF4-FFF2-40B4-BE49-F238E27FC236}">
                <a16:creationId xmlns:a16="http://schemas.microsoft.com/office/drawing/2014/main" id="{20D6BFEA-A47E-FB1C-87C8-D55CCAC60210}"/>
              </a:ext>
            </a:extLst>
          </p:cNvPr>
          <p:cNvSpPr/>
          <p:nvPr/>
        </p:nvSpPr>
        <p:spPr>
          <a:xfrm>
            <a:off x="10538516" y="3242313"/>
            <a:ext cx="705056" cy="528559"/>
          </a:xfrm>
          <a:prstGeom prst="roundRect">
            <a:avLst/>
          </a:prstGeom>
          <a:solidFill>
            <a:srgbClr val="15296B"/>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dirty="0">
              <a:ln>
                <a:noFill/>
              </a:ln>
              <a:solidFill>
                <a:prstClr val="white"/>
              </a:solidFill>
              <a:effectLst/>
              <a:uLnTx/>
              <a:uFillTx/>
              <a:latin typeface="Calibri"/>
              <a:ea typeface="+mn-ea"/>
              <a:cs typeface="Calibri"/>
            </a:endParaRPr>
          </a:p>
        </p:txBody>
      </p:sp>
      <p:sp>
        <p:nvSpPr>
          <p:cNvPr id="114" name="TextBox 113">
            <a:extLst>
              <a:ext uri="{FF2B5EF4-FFF2-40B4-BE49-F238E27FC236}">
                <a16:creationId xmlns:a16="http://schemas.microsoft.com/office/drawing/2014/main" id="{8E180C5B-3F06-97E4-DCB4-B8DDFFA9CCCD}"/>
              </a:ext>
            </a:extLst>
          </p:cNvPr>
          <p:cNvSpPr txBox="1"/>
          <p:nvPr/>
        </p:nvSpPr>
        <p:spPr>
          <a:xfrm>
            <a:off x="10664057" y="3337315"/>
            <a:ext cx="453974" cy="338554"/>
          </a:xfrm>
          <a:prstGeom prst="rect">
            <a:avLst/>
          </a:prstGeom>
          <a:noFill/>
        </p:spPr>
        <p:txBody>
          <a:bodyPr wrap="square"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B</a:t>
            </a:r>
            <a:endParaRPr kumimoji="0" lang="fa-IR" sz="16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sp>
        <p:nvSpPr>
          <p:cNvPr id="115" name="Rectangle: Rounded Corners 114">
            <a:extLst>
              <a:ext uri="{FF2B5EF4-FFF2-40B4-BE49-F238E27FC236}">
                <a16:creationId xmlns:a16="http://schemas.microsoft.com/office/drawing/2014/main" id="{202EF46C-46FD-1D71-8B35-DFE4E549A389}"/>
              </a:ext>
            </a:extLst>
          </p:cNvPr>
          <p:cNvSpPr/>
          <p:nvPr/>
        </p:nvSpPr>
        <p:spPr>
          <a:xfrm>
            <a:off x="4548039" y="3242313"/>
            <a:ext cx="3840480" cy="528559"/>
          </a:xfrm>
          <a:prstGeom prst="roundRect">
            <a:avLst/>
          </a:prstGeom>
          <a:solidFill>
            <a:schemeClr val="bg1">
              <a:lumMod val="95000"/>
              <a:alpha val="59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کاربرد محدود برای این پرسونا — نیازش عموماً پیچیده است، نه ساده با ارزش بالا؛ در صورت وجود، فقط پاسخ سریع به سؤالات پس از گزارش ارزیابی</a:t>
            </a:r>
          </a:p>
        </p:txBody>
      </p:sp>
      <p:sp>
        <p:nvSpPr>
          <p:cNvPr id="116" name="Rectangle: Rounded Corners 115">
            <a:extLst>
              <a:ext uri="{FF2B5EF4-FFF2-40B4-BE49-F238E27FC236}">
                <a16:creationId xmlns:a16="http://schemas.microsoft.com/office/drawing/2014/main" id="{93D9B59D-653C-BC8A-F97B-BFAA317D115B}"/>
              </a:ext>
            </a:extLst>
          </p:cNvPr>
          <p:cNvSpPr/>
          <p:nvPr/>
        </p:nvSpPr>
        <p:spPr>
          <a:xfrm>
            <a:off x="459478" y="3242313"/>
            <a:ext cx="3840480" cy="528559"/>
          </a:xfrm>
          <a:prstGeom prst="roundRect">
            <a:avLst/>
          </a:prstGeom>
          <a:solidFill>
            <a:schemeClr val="bg1">
              <a:lumMod val="95000"/>
              <a:alpha val="59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a:t>
            </a:r>
          </a:p>
        </p:txBody>
      </p:sp>
      <p:sp>
        <p:nvSpPr>
          <p:cNvPr id="117" name="Arrow: Down 116">
            <a:extLst>
              <a:ext uri="{FF2B5EF4-FFF2-40B4-BE49-F238E27FC236}">
                <a16:creationId xmlns:a16="http://schemas.microsoft.com/office/drawing/2014/main" id="{7515A261-833F-EAA2-8AD0-5FFE20D1CCF0}"/>
              </a:ext>
            </a:extLst>
          </p:cNvPr>
          <p:cNvSpPr/>
          <p:nvPr/>
        </p:nvSpPr>
        <p:spPr>
          <a:xfrm rot="5400000">
            <a:off x="8427463" y="3438797"/>
            <a:ext cx="170188" cy="135591"/>
          </a:xfrm>
          <a:prstGeom prst="downArrow">
            <a:avLst/>
          </a:prstGeom>
          <a:solidFill>
            <a:schemeClr val="tx1">
              <a:lumMod val="50000"/>
              <a:lumOff val="50000"/>
              <a:alpha val="1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18" name="Arrow: Down 117">
            <a:extLst>
              <a:ext uri="{FF2B5EF4-FFF2-40B4-BE49-F238E27FC236}">
                <a16:creationId xmlns:a16="http://schemas.microsoft.com/office/drawing/2014/main" id="{1E7927DA-50E7-A2EB-BFF5-88A22AC5B27D}"/>
              </a:ext>
            </a:extLst>
          </p:cNvPr>
          <p:cNvSpPr/>
          <p:nvPr/>
        </p:nvSpPr>
        <p:spPr>
          <a:xfrm rot="5400000">
            <a:off x="4340404" y="3438798"/>
            <a:ext cx="170188" cy="135591"/>
          </a:xfrm>
          <a:prstGeom prst="downArrow">
            <a:avLst/>
          </a:prstGeom>
          <a:solidFill>
            <a:schemeClr val="tx1">
              <a:lumMod val="50000"/>
              <a:lumOff val="50000"/>
              <a:alpha val="1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20" name="Rectangle: Rounded Corners 119">
            <a:extLst>
              <a:ext uri="{FF2B5EF4-FFF2-40B4-BE49-F238E27FC236}">
                <a16:creationId xmlns:a16="http://schemas.microsoft.com/office/drawing/2014/main" id="{3B174C81-BB24-51C4-4DF8-180387636131}"/>
              </a:ext>
            </a:extLst>
          </p:cNvPr>
          <p:cNvSpPr/>
          <p:nvPr/>
        </p:nvSpPr>
        <p:spPr>
          <a:xfrm>
            <a:off x="8636598" y="3848701"/>
            <a:ext cx="1653837" cy="528559"/>
          </a:xfrm>
          <a:prstGeom prst="roundRect">
            <a:avLst/>
          </a:prstGeom>
          <a:solidFill>
            <a:srgbClr val="F0BE0F">
              <a:alpha val="16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15296B"/>
              </a:solidFill>
              <a:effectLst/>
              <a:uLnTx/>
              <a:uFillTx/>
              <a:latin typeface="Calibri"/>
              <a:ea typeface="+mn-ea"/>
              <a:cs typeface="Calibri"/>
            </a:endParaRPr>
          </a:p>
        </p:txBody>
      </p:sp>
      <p:sp>
        <p:nvSpPr>
          <p:cNvPr id="121" name="TextBox 120">
            <a:extLst>
              <a:ext uri="{FF2B5EF4-FFF2-40B4-BE49-F238E27FC236}">
                <a16:creationId xmlns:a16="http://schemas.microsoft.com/office/drawing/2014/main" id="{7B9390BB-08DF-C910-5079-4F02EE45FB79}"/>
              </a:ext>
            </a:extLst>
          </p:cNvPr>
          <p:cNvSpPr txBox="1"/>
          <p:nvPr/>
        </p:nvSpPr>
        <p:spPr>
          <a:xfrm>
            <a:off x="8636598" y="3979546"/>
            <a:ext cx="1653837" cy="266868"/>
          </a:xfrm>
          <a:prstGeom prst="rect">
            <a:avLst/>
          </a:prstGeom>
          <a:noFill/>
        </p:spPr>
        <p:txBody>
          <a:bodyPr wrap="square">
            <a:spAutoFit/>
          </a:bodyPr>
          <a:lstStyle/>
          <a:p>
            <a:pPr marL="0" marR="0" lvl="0" indent="0" algn="ctr" defTabSz="457200" rtl="1" eaLnBrk="1" fontAlgn="auto" latinLnBrk="0" hangingPunct="1">
              <a:lnSpc>
                <a:spcPct val="108000"/>
              </a:lnSpc>
              <a:spcBef>
                <a:spcPts val="0"/>
              </a:spcBef>
              <a:spcAft>
                <a:spcPts val="0"/>
              </a:spcAft>
              <a:buClrTx/>
              <a:buSzTx/>
              <a:buFontTx/>
              <a:buNone/>
              <a:tabLst/>
              <a:defRPr/>
            </a:pPr>
            <a:r>
              <a:rPr kumimoji="0" lang="fa-IR" sz="1050" b="1" i="0" u="none" strike="noStrike" kern="1200" cap="none" spc="0" normalizeH="0" baseline="0" noProof="0" dirty="0">
                <a:ln>
                  <a:noFill/>
                </a:ln>
                <a:solidFill>
                  <a:srgbClr val="15296B"/>
                </a:solidFill>
                <a:effectLst/>
                <a:uLnTx/>
                <a:uFillTx/>
                <a:latin typeface="Yekan Bakh FaNum" pitchFamily="2" charset="-78"/>
                <a:ea typeface="+mn-ea"/>
                <a:cs typeface="Yekan Bakh FaNum" pitchFamily="2" charset="-78"/>
              </a:rPr>
              <a:t>مشاوره‌ای/محصولی‌شده</a:t>
            </a:r>
          </a:p>
        </p:txBody>
      </p:sp>
      <p:sp>
        <p:nvSpPr>
          <p:cNvPr id="122" name="Rectangle: Rounded Corners 121">
            <a:extLst>
              <a:ext uri="{FF2B5EF4-FFF2-40B4-BE49-F238E27FC236}">
                <a16:creationId xmlns:a16="http://schemas.microsoft.com/office/drawing/2014/main" id="{B484728A-6CA8-095C-2221-892DDC5BFDFA}"/>
              </a:ext>
            </a:extLst>
          </p:cNvPr>
          <p:cNvSpPr/>
          <p:nvPr/>
        </p:nvSpPr>
        <p:spPr>
          <a:xfrm>
            <a:off x="10538516" y="3848701"/>
            <a:ext cx="705056" cy="528559"/>
          </a:xfrm>
          <a:prstGeom prst="roundRect">
            <a:avLst/>
          </a:prstGeom>
          <a:solidFill>
            <a:srgbClr val="15296B">
              <a:alpha val="20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dirty="0">
              <a:ln>
                <a:noFill/>
              </a:ln>
              <a:solidFill>
                <a:prstClr val="white"/>
              </a:solidFill>
              <a:effectLst/>
              <a:uLnTx/>
              <a:uFillTx/>
              <a:latin typeface="Calibri"/>
              <a:ea typeface="+mn-ea"/>
              <a:cs typeface="Calibri"/>
            </a:endParaRPr>
          </a:p>
        </p:txBody>
      </p:sp>
      <p:sp>
        <p:nvSpPr>
          <p:cNvPr id="123" name="TextBox 122">
            <a:extLst>
              <a:ext uri="{FF2B5EF4-FFF2-40B4-BE49-F238E27FC236}">
                <a16:creationId xmlns:a16="http://schemas.microsoft.com/office/drawing/2014/main" id="{8BFCB34D-CE07-4BC3-026E-9E19CCC1A354}"/>
              </a:ext>
            </a:extLst>
          </p:cNvPr>
          <p:cNvSpPr txBox="1"/>
          <p:nvPr/>
        </p:nvSpPr>
        <p:spPr>
          <a:xfrm>
            <a:off x="10664057" y="3943703"/>
            <a:ext cx="453974" cy="338554"/>
          </a:xfrm>
          <a:prstGeom prst="rect">
            <a:avLst/>
          </a:prstGeom>
          <a:noFill/>
        </p:spPr>
        <p:txBody>
          <a:bodyPr wrap="square"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5296B"/>
                </a:solidFill>
                <a:effectLst/>
                <a:uLnTx/>
                <a:uFillTx/>
                <a:latin typeface="Yekan Bakh" pitchFamily="2" charset="-78"/>
                <a:ea typeface="Yekan Bakh" pitchFamily="2" charset="-78"/>
                <a:cs typeface="Yekan Bakh" pitchFamily="2" charset="-78"/>
              </a:rPr>
              <a:t>C</a:t>
            </a:r>
            <a:endParaRPr kumimoji="0" lang="fa-IR" sz="1600" b="1" i="0" u="none" strike="noStrike" kern="1200" cap="none" spc="0" normalizeH="0" baseline="0" noProof="0" dirty="0">
              <a:ln>
                <a:noFill/>
              </a:ln>
              <a:solidFill>
                <a:srgbClr val="15296B"/>
              </a:solidFill>
              <a:effectLst/>
              <a:uLnTx/>
              <a:uFillTx/>
              <a:latin typeface="Yekan Bakh" pitchFamily="2" charset="-78"/>
              <a:ea typeface="Yekan Bakh" pitchFamily="2" charset="-78"/>
              <a:cs typeface="Yekan Bakh" pitchFamily="2" charset="-78"/>
            </a:endParaRPr>
          </a:p>
        </p:txBody>
      </p:sp>
      <p:sp>
        <p:nvSpPr>
          <p:cNvPr id="124" name="Rectangle: Rounded Corners 123">
            <a:extLst>
              <a:ext uri="{FF2B5EF4-FFF2-40B4-BE49-F238E27FC236}">
                <a16:creationId xmlns:a16="http://schemas.microsoft.com/office/drawing/2014/main" id="{3B146E31-82A1-DFCD-AA1D-6FFF9342360A}"/>
              </a:ext>
            </a:extLst>
          </p:cNvPr>
          <p:cNvSpPr/>
          <p:nvPr/>
        </p:nvSpPr>
        <p:spPr>
          <a:xfrm>
            <a:off x="4548039" y="3848701"/>
            <a:ext cx="3840480" cy="528559"/>
          </a:xfrm>
          <a:prstGeom prst="roundRect">
            <a:avLst/>
          </a:prstGeom>
          <a:solidFill>
            <a:schemeClr val="bg1">
              <a:lumMod val="95000"/>
              <a:alpha val="59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بسته استاندارد «رفع شکاف حاکمیت شرکتی» با گام‌های از‌پیش‌تعریف‌شده — هسته اصلی تعامل با این پرسونا</a:t>
            </a:r>
          </a:p>
        </p:txBody>
      </p:sp>
      <p:sp>
        <p:nvSpPr>
          <p:cNvPr id="125" name="Rectangle: Rounded Corners 124">
            <a:extLst>
              <a:ext uri="{FF2B5EF4-FFF2-40B4-BE49-F238E27FC236}">
                <a16:creationId xmlns:a16="http://schemas.microsoft.com/office/drawing/2014/main" id="{367066B8-B9C7-AD95-8D7C-4AD1F0E4056C}"/>
              </a:ext>
            </a:extLst>
          </p:cNvPr>
          <p:cNvSpPr/>
          <p:nvPr/>
        </p:nvSpPr>
        <p:spPr>
          <a:xfrm>
            <a:off x="459478" y="3848701"/>
            <a:ext cx="3840480" cy="528559"/>
          </a:xfrm>
          <a:prstGeom prst="roundRect">
            <a:avLst/>
          </a:prstGeom>
          <a:solidFill>
            <a:schemeClr val="bg1">
              <a:lumMod val="95000"/>
              <a:alpha val="59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برنامه‌های استاندارد آماده‌سازی</a:t>
            </a:r>
            <a:r>
              <a:rPr kumimoji="0" lang="en-US"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Due-Diligence </a:t>
            </a:r>
            <a:r>
              <a:rPr kumimoji="0" lang="fa-IR"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 بوتیک‌های مشاوره.</a:t>
            </a:r>
          </a:p>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بنچمارک: </a:t>
            </a:r>
            <a:r>
              <a:rPr kumimoji="0" lang="fa-IR"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برنامه ساختاریافته </a:t>
            </a:r>
            <a:r>
              <a:rPr kumimoji="0" lang="en-US"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Pre-Acceleration</a:t>
            </a:r>
            <a:r>
              <a:rPr kumimoji="0" lang="fa-IR"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 نظیر </a:t>
            </a:r>
            <a:r>
              <a:rPr kumimoji="0" lang="en-US"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Techstars/Endeavor</a:t>
            </a:r>
          </a:p>
        </p:txBody>
      </p:sp>
      <p:sp>
        <p:nvSpPr>
          <p:cNvPr id="126" name="Arrow: Down 125">
            <a:extLst>
              <a:ext uri="{FF2B5EF4-FFF2-40B4-BE49-F238E27FC236}">
                <a16:creationId xmlns:a16="http://schemas.microsoft.com/office/drawing/2014/main" id="{842D4470-78BC-6AFA-2AF6-0611619D0AD6}"/>
              </a:ext>
            </a:extLst>
          </p:cNvPr>
          <p:cNvSpPr/>
          <p:nvPr/>
        </p:nvSpPr>
        <p:spPr>
          <a:xfrm rot="5400000">
            <a:off x="8427463" y="4045185"/>
            <a:ext cx="170188" cy="135591"/>
          </a:xfrm>
          <a:prstGeom prst="downArrow">
            <a:avLst/>
          </a:prstGeom>
          <a:solidFill>
            <a:schemeClr val="tx1">
              <a:lumMod val="50000"/>
              <a:lumOff val="50000"/>
              <a:alpha val="1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27" name="Arrow: Down 126">
            <a:extLst>
              <a:ext uri="{FF2B5EF4-FFF2-40B4-BE49-F238E27FC236}">
                <a16:creationId xmlns:a16="http://schemas.microsoft.com/office/drawing/2014/main" id="{C8F70479-2F89-9129-F377-97A91A4822E1}"/>
              </a:ext>
            </a:extLst>
          </p:cNvPr>
          <p:cNvSpPr/>
          <p:nvPr/>
        </p:nvSpPr>
        <p:spPr>
          <a:xfrm rot="5400000">
            <a:off x="4340404" y="4045186"/>
            <a:ext cx="170188" cy="135591"/>
          </a:xfrm>
          <a:prstGeom prst="downArrow">
            <a:avLst/>
          </a:prstGeom>
          <a:solidFill>
            <a:schemeClr val="tx1">
              <a:lumMod val="50000"/>
              <a:lumOff val="50000"/>
              <a:alpha val="1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29" name="Rectangle: Rounded Corners 128">
            <a:extLst>
              <a:ext uri="{FF2B5EF4-FFF2-40B4-BE49-F238E27FC236}">
                <a16:creationId xmlns:a16="http://schemas.microsoft.com/office/drawing/2014/main" id="{0114B43F-8C4E-A996-564F-36CCD680CCE1}"/>
              </a:ext>
            </a:extLst>
          </p:cNvPr>
          <p:cNvSpPr/>
          <p:nvPr/>
        </p:nvSpPr>
        <p:spPr>
          <a:xfrm>
            <a:off x="8636598" y="4455089"/>
            <a:ext cx="1653837" cy="528559"/>
          </a:xfrm>
          <a:prstGeom prst="roundRect">
            <a:avLst/>
          </a:prstGeom>
          <a:solidFill>
            <a:srgbClr val="F0BE0F">
              <a:alpha val="16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15296B"/>
              </a:solidFill>
              <a:effectLst/>
              <a:uLnTx/>
              <a:uFillTx/>
              <a:latin typeface="Calibri"/>
              <a:ea typeface="+mn-ea"/>
              <a:cs typeface="Calibri"/>
            </a:endParaRPr>
          </a:p>
        </p:txBody>
      </p:sp>
      <p:sp>
        <p:nvSpPr>
          <p:cNvPr id="130" name="TextBox 129">
            <a:extLst>
              <a:ext uri="{FF2B5EF4-FFF2-40B4-BE49-F238E27FC236}">
                <a16:creationId xmlns:a16="http://schemas.microsoft.com/office/drawing/2014/main" id="{0BC1BAF4-DA6D-85B8-B198-860E827C46CA}"/>
              </a:ext>
            </a:extLst>
          </p:cNvPr>
          <p:cNvSpPr txBox="1"/>
          <p:nvPr/>
        </p:nvSpPr>
        <p:spPr>
          <a:xfrm>
            <a:off x="8636598" y="4585934"/>
            <a:ext cx="1653837" cy="266868"/>
          </a:xfrm>
          <a:prstGeom prst="rect">
            <a:avLst/>
          </a:prstGeom>
          <a:noFill/>
        </p:spPr>
        <p:txBody>
          <a:bodyPr wrap="square">
            <a:spAutoFit/>
          </a:bodyPr>
          <a:lstStyle/>
          <a:p>
            <a:pPr marL="0" marR="0" lvl="0" indent="0" algn="ctr" defTabSz="457200" rtl="1" eaLnBrk="1" fontAlgn="auto" latinLnBrk="0" hangingPunct="1">
              <a:lnSpc>
                <a:spcPct val="108000"/>
              </a:lnSpc>
              <a:spcBef>
                <a:spcPts val="0"/>
              </a:spcBef>
              <a:spcAft>
                <a:spcPts val="0"/>
              </a:spcAft>
              <a:buClrTx/>
              <a:buSzTx/>
              <a:buFontTx/>
              <a:buNone/>
              <a:tabLst/>
              <a:defRPr/>
            </a:pPr>
            <a:r>
              <a:rPr kumimoji="0" lang="fa-IR" sz="1050" b="1" i="0" u="none" strike="noStrike" kern="1200" cap="none" spc="0" normalizeH="0" baseline="0" noProof="0" dirty="0">
                <a:ln>
                  <a:noFill/>
                </a:ln>
                <a:solidFill>
                  <a:srgbClr val="15296B"/>
                </a:solidFill>
                <a:effectLst/>
                <a:uLnTx/>
                <a:uFillTx/>
                <a:latin typeface="Yekan Bakh FaNum" pitchFamily="2" charset="-78"/>
                <a:ea typeface="+mn-ea"/>
                <a:cs typeface="Yekan Bakh FaNum" pitchFamily="2" charset="-78"/>
              </a:rPr>
              <a:t>مدیریت‌شده+مشارکتی</a:t>
            </a:r>
          </a:p>
        </p:txBody>
      </p:sp>
      <p:sp>
        <p:nvSpPr>
          <p:cNvPr id="131" name="Rectangle: Rounded Corners 130">
            <a:extLst>
              <a:ext uri="{FF2B5EF4-FFF2-40B4-BE49-F238E27FC236}">
                <a16:creationId xmlns:a16="http://schemas.microsoft.com/office/drawing/2014/main" id="{3BC11758-E04D-AA9F-E039-FC62B1CDFC80}"/>
              </a:ext>
            </a:extLst>
          </p:cNvPr>
          <p:cNvSpPr/>
          <p:nvPr/>
        </p:nvSpPr>
        <p:spPr>
          <a:xfrm>
            <a:off x="10538516" y="4455089"/>
            <a:ext cx="705056" cy="528559"/>
          </a:xfrm>
          <a:prstGeom prst="roundRect">
            <a:avLst/>
          </a:prstGeom>
          <a:solidFill>
            <a:srgbClr val="15296B">
              <a:alpha val="40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dirty="0">
              <a:ln>
                <a:noFill/>
              </a:ln>
              <a:solidFill>
                <a:srgbClr val="15296B"/>
              </a:solidFill>
              <a:effectLst/>
              <a:uLnTx/>
              <a:uFillTx/>
              <a:latin typeface="Calibri"/>
              <a:ea typeface="+mn-ea"/>
              <a:cs typeface="Calibri"/>
            </a:endParaRPr>
          </a:p>
        </p:txBody>
      </p:sp>
      <p:sp>
        <p:nvSpPr>
          <p:cNvPr id="132" name="TextBox 131">
            <a:extLst>
              <a:ext uri="{FF2B5EF4-FFF2-40B4-BE49-F238E27FC236}">
                <a16:creationId xmlns:a16="http://schemas.microsoft.com/office/drawing/2014/main" id="{4C290CED-E85F-0505-5CC9-FF6F101EE3A3}"/>
              </a:ext>
            </a:extLst>
          </p:cNvPr>
          <p:cNvSpPr txBox="1"/>
          <p:nvPr/>
        </p:nvSpPr>
        <p:spPr>
          <a:xfrm>
            <a:off x="10664057" y="4550091"/>
            <a:ext cx="453974" cy="338554"/>
          </a:xfrm>
          <a:prstGeom prst="rect">
            <a:avLst/>
          </a:prstGeom>
          <a:noFill/>
        </p:spPr>
        <p:txBody>
          <a:bodyPr wrap="square"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D</a:t>
            </a:r>
            <a:endParaRPr kumimoji="0" lang="fa-IR" sz="16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sp>
        <p:nvSpPr>
          <p:cNvPr id="133" name="Rectangle: Rounded Corners 132">
            <a:extLst>
              <a:ext uri="{FF2B5EF4-FFF2-40B4-BE49-F238E27FC236}">
                <a16:creationId xmlns:a16="http://schemas.microsoft.com/office/drawing/2014/main" id="{366762A9-D76E-69FE-2B81-E0B7EAB02BAD}"/>
              </a:ext>
            </a:extLst>
          </p:cNvPr>
          <p:cNvSpPr/>
          <p:nvPr/>
        </p:nvSpPr>
        <p:spPr>
          <a:xfrm>
            <a:off x="4548039" y="4455089"/>
            <a:ext cx="3840480" cy="528559"/>
          </a:xfrm>
          <a:prstGeom prst="roundRect">
            <a:avLst/>
          </a:prstGeom>
          <a:solidFill>
            <a:schemeClr val="bg1">
              <a:lumMod val="95000"/>
              <a:alpha val="59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پیگیری مستمر اجرای نقشه بهبود آمادگی تا رسیدن به استاندارد قابل‌معرفی، در قالب کوهورت شرکت‌های مشتاق</a:t>
            </a:r>
          </a:p>
        </p:txBody>
      </p:sp>
      <p:sp>
        <p:nvSpPr>
          <p:cNvPr id="134" name="Rectangle: Rounded Corners 133">
            <a:extLst>
              <a:ext uri="{FF2B5EF4-FFF2-40B4-BE49-F238E27FC236}">
                <a16:creationId xmlns:a16="http://schemas.microsoft.com/office/drawing/2014/main" id="{37E1EDFF-8398-D0A9-FDB3-5F218FC6AA4C}"/>
              </a:ext>
            </a:extLst>
          </p:cNvPr>
          <p:cNvSpPr/>
          <p:nvPr/>
        </p:nvSpPr>
        <p:spPr>
          <a:xfrm>
            <a:off x="459478" y="4455089"/>
            <a:ext cx="3840480" cy="528559"/>
          </a:xfrm>
          <a:prstGeom prst="roundRect">
            <a:avLst/>
          </a:prstGeom>
          <a:solidFill>
            <a:schemeClr val="bg1">
              <a:lumMod val="95000"/>
              <a:alpha val="59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بنچمارک: </a:t>
            </a:r>
            <a:r>
              <a:rPr kumimoji="0" lang="fa-IR"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مدل کوهورت </a:t>
            </a:r>
            <a:r>
              <a:rPr kumimoji="0" lang="en-US"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Scale Up by Endeavor</a:t>
            </a:r>
          </a:p>
        </p:txBody>
      </p:sp>
      <p:sp>
        <p:nvSpPr>
          <p:cNvPr id="135" name="Arrow: Down 134">
            <a:extLst>
              <a:ext uri="{FF2B5EF4-FFF2-40B4-BE49-F238E27FC236}">
                <a16:creationId xmlns:a16="http://schemas.microsoft.com/office/drawing/2014/main" id="{E2EA7BB9-71AC-CF53-8CE2-6A35AC67A413}"/>
              </a:ext>
            </a:extLst>
          </p:cNvPr>
          <p:cNvSpPr/>
          <p:nvPr/>
        </p:nvSpPr>
        <p:spPr>
          <a:xfrm rot="5400000">
            <a:off x="8427463" y="4651573"/>
            <a:ext cx="170188" cy="135591"/>
          </a:xfrm>
          <a:prstGeom prst="downArrow">
            <a:avLst/>
          </a:prstGeom>
          <a:solidFill>
            <a:schemeClr val="tx1">
              <a:lumMod val="50000"/>
              <a:lumOff val="50000"/>
              <a:alpha val="1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36" name="Arrow: Down 135">
            <a:extLst>
              <a:ext uri="{FF2B5EF4-FFF2-40B4-BE49-F238E27FC236}">
                <a16:creationId xmlns:a16="http://schemas.microsoft.com/office/drawing/2014/main" id="{AEADE8ED-8D77-A0F1-5252-794DC2FCFC95}"/>
              </a:ext>
            </a:extLst>
          </p:cNvPr>
          <p:cNvSpPr/>
          <p:nvPr/>
        </p:nvSpPr>
        <p:spPr>
          <a:xfrm rot="5400000">
            <a:off x="4340404" y="4651574"/>
            <a:ext cx="170188" cy="135591"/>
          </a:xfrm>
          <a:prstGeom prst="downArrow">
            <a:avLst/>
          </a:prstGeom>
          <a:solidFill>
            <a:schemeClr val="tx1">
              <a:lumMod val="50000"/>
              <a:lumOff val="50000"/>
              <a:alpha val="1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38" name="Rectangle: Rounded Corners 137">
            <a:extLst>
              <a:ext uri="{FF2B5EF4-FFF2-40B4-BE49-F238E27FC236}">
                <a16:creationId xmlns:a16="http://schemas.microsoft.com/office/drawing/2014/main" id="{49AD71B3-D644-7B16-53E7-DAD7564665E3}"/>
              </a:ext>
            </a:extLst>
          </p:cNvPr>
          <p:cNvSpPr/>
          <p:nvPr/>
        </p:nvSpPr>
        <p:spPr>
          <a:xfrm>
            <a:off x="8636598" y="5061476"/>
            <a:ext cx="1653837" cy="528559"/>
          </a:xfrm>
          <a:prstGeom prst="roundRect">
            <a:avLst/>
          </a:prstGeom>
          <a:solidFill>
            <a:srgbClr val="F0BE0F">
              <a:alpha val="16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15296B"/>
              </a:solidFill>
              <a:effectLst/>
              <a:uLnTx/>
              <a:uFillTx/>
              <a:latin typeface="Calibri"/>
              <a:ea typeface="+mn-ea"/>
              <a:cs typeface="Calibri"/>
            </a:endParaRPr>
          </a:p>
        </p:txBody>
      </p:sp>
      <p:sp>
        <p:nvSpPr>
          <p:cNvPr id="139" name="TextBox 138">
            <a:extLst>
              <a:ext uri="{FF2B5EF4-FFF2-40B4-BE49-F238E27FC236}">
                <a16:creationId xmlns:a16="http://schemas.microsoft.com/office/drawing/2014/main" id="{AE7F72BF-CBC3-0AA5-F28C-D6B07C70522F}"/>
              </a:ext>
            </a:extLst>
          </p:cNvPr>
          <p:cNvSpPr txBox="1"/>
          <p:nvPr/>
        </p:nvSpPr>
        <p:spPr>
          <a:xfrm>
            <a:off x="8636598" y="5192321"/>
            <a:ext cx="1653837" cy="266868"/>
          </a:xfrm>
          <a:prstGeom prst="rect">
            <a:avLst/>
          </a:prstGeom>
          <a:noFill/>
        </p:spPr>
        <p:txBody>
          <a:bodyPr wrap="square">
            <a:spAutoFit/>
          </a:bodyPr>
          <a:lstStyle/>
          <a:p>
            <a:pPr marL="0" marR="0" lvl="0" indent="0" algn="ctr" defTabSz="457200" rtl="1" eaLnBrk="1" fontAlgn="auto" latinLnBrk="0" hangingPunct="1">
              <a:lnSpc>
                <a:spcPct val="108000"/>
              </a:lnSpc>
              <a:spcBef>
                <a:spcPts val="0"/>
              </a:spcBef>
              <a:spcAft>
                <a:spcPts val="0"/>
              </a:spcAft>
              <a:buClrTx/>
              <a:buSzTx/>
              <a:buFontTx/>
              <a:buNone/>
              <a:tabLst/>
              <a:defRPr/>
            </a:pPr>
            <a:r>
              <a:rPr kumimoji="0" lang="fa-IR" sz="1050" b="1" i="0" u="none" strike="noStrike" kern="1200" cap="none" spc="0" normalizeH="0" baseline="0" noProof="0" dirty="0">
                <a:ln>
                  <a:noFill/>
                </a:ln>
                <a:solidFill>
                  <a:srgbClr val="15296B"/>
                </a:solidFill>
                <a:effectLst/>
                <a:uLnTx/>
                <a:uFillTx/>
                <a:latin typeface="Yekan Bakh FaNum" pitchFamily="2" charset="-78"/>
                <a:ea typeface="+mn-ea"/>
                <a:cs typeface="Yekan Bakh FaNum" pitchFamily="2" charset="-78"/>
              </a:rPr>
              <a:t>-</a:t>
            </a:r>
          </a:p>
        </p:txBody>
      </p:sp>
      <p:sp>
        <p:nvSpPr>
          <p:cNvPr id="140" name="Rectangle: Rounded Corners 139">
            <a:extLst>
              <a:ext uri="{FF2B5EF4-FFF2-40B4-BE49-F238E27FC236}">
                <a16:creationId xmlns:a16="http://schemas.microsoft.com/office/drawing/2014/main" id="{01DAF524-35BB-C48E-5293-EAE6FE3BC73C}"/>
              </a:ext>
            </a:extLst>
          </p:cNvPr>
          <p:cNvSpPr/>
          <p:nvPr/>
        </p:nvSpPr>
        <p:spPr>
          <a:xfrm>
            <a:off x="10538516" y="5061476"/>
            <a:ext cx="705056" cy="528559"/>
          </a:xfrm>
          <a:prstGeom prst="round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dirty="0">
              <a:ln>
                <a:noFill/>
              </a:ln>
              <a:solidFill>
                <a:srgbClr val="15296B"/>
              </a:solidFill>
              <a:effectLst/>
              <a:uLnTx/>
              <a:uFillTx/>
              <a:latin typeface="Calibri"/>
              <a:ea typeface="+mn-ea"/>
              <a:cs typeface="Calibri"/>
            </a:endParaRPr>
          </a:p>
        </p:txBody>
      </p:sp>
      <p:sp>
        <p:nvSpPr>
          <p:cNvPr id="141" name="TextBox 140">
            <a:extLst>
              <a:ext uri="{FF2B5EF4-FFF2-40B4-BE49-F238E27FC236}">
                <a16:creationId xmlns:a16="http://schemas.microsoft.com/office/drawing/2014/main" id="{F9A8D73F-5BD8-5E26-E45E-003114090961}"/>
              </a:ext>
            </a:extLst>
          </p:cNvPr>
          <p:cNvSpPr txBox="1"/>
          <p:nvPr/>
        </p:nvSpPr>
        <p:spPr>
          <a:xfrm>
            <a:off x="10664057" y="5156478"/>
            <a:ext cx="453974" cy="338554"/>
          </a:xfrm>
          <a:prstGeom prst="rect">
            <a:avLst/>
          </a:prstGeom>
          <a:noFill/>
        </p:spPr>
        <p:txBody>
          <a:bodyPr wrap="square"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5296B"/>
                </a:solidFill>
                <a:effectLst/>
                <a:uLnTx/>
                <a:uFillTx/>
                <a:latin typeface="Yekan Bakh" pitchFamily="2" charset="-78"/>
                <a:ea typeface="Yekan Bakh" pitchFamily="2" charset="-78"/>
                <a:cs typeface="Yekan Bakh" pitchFamily="2" charset="-78"/>
              </a:rPr>
              <a:t>E</a:t>
            </a:r>
            <a:endParaRPr kumimoji="0" lang="fa-IR" sz="1600" b="1" i="0" u="none" strike="noStrike" kern="1200" cap="none" spc="0" normalizeH="0" baseline="0" noProof="0" dirty="0">
              <a:ln>
                <a:noFill/>
              </a:ln>
              <a:solidFill>
                <a:srgbClr val="15296B"/>
              </a:solidFill>
              <a:effectLst/>
              <a:uLnTx/>
              <a:uFillTx/>
              <a:latin typeface="Yekan Bakh" pitchFamily="2" charset="-78"/>
              <a:ea typeface="Yekan Bakh" pitchFamily="2" charset="-78"/>
              <a:cs typeface="Yekan Bakh" pitchFamily="2" charset="-78"/>
            </a:endParaRPr>
          </a:p>
        </p:txBody>
      </p:sp>
      <p:sp>
        <p:nvSpPr>
          <p:cNvPr id="142" name="Rectangle: Rounded Corners 141">
            <a:extLst>
              <a:ext uri="{FF2B5EF4-FFF2-40B4-BE49-F238E27FC236}">
                <a16:creationId xmlns:a16="http://schemas.microsoft.com/office/drawing/2014/main" id="{FAEC36DC-87AE-C2C7-3A3E-BC569F15F0DE}"/>
              </a:ext>
            </a:extLst>
          </p:cNvPr>
          <p:cNvSpPr/>
          <p:nvPr/>
        </p:nvSpPr>
        <p:spPr>
          <a:xfrm>
            <a:off x="4548039" y="5061476"/>
            <a:ext cx="3840480" cy="528559"/>
          </a:xfrm>
          <a:prstGeom prst="roundRect">
            <a:avLst/>
          </a:prstGeom>
          <a:solidFill>
            <a:schemeClr val="bg1">
              <a:lumMod val="95000"/>
              <a:alpha val="59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8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این پرسونا هنوز ارزش راهبردی مستقیم برای «اکوسیستم فرصت ایران» ایجاد نمی‌کند؛ ناحیه </a:t>
            </a:r>
            <a:r>
              <a:rPr kumimoji="0" lang="en-US" sz="8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E</a:t>
            </a:r>
            <a:r>
              <a:rPr kumimoji="0" lang="fa-IR" sz="8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 فقط زمانی مصداق دارد که چند شرکت مشتاق حول یک فرصت صنعتی مشترک وارد برنامه توسعه مشترک با «اکوسیستم فرصت ایران» شوند</a:t>
            </a:r>
          </a:p>
        </p:txBody>
      </p:sp>
      <p:sp>
        <p:nvSpPr>
          <p:cNvPr id="143" name="Rectangle: Rounded Corners 142">
            <a:extLst>
              <a:ext uri="{FF2B5EF4-FFF2-40B4-BE49-F238E27FC236}">
                <a16:creationId xmlns:a16="http://schemas.microsoft.com/office/drawing/2014/main" id="{A1117229-25D9-4601-1CFC-29A5601C6C82}"/>
              </a:ext>
            </a:extLst>
          </p:cNvPr>
          <p:cNvSpPr/>
          <p:nvPr/>
        </p:nvSpPr>
        <p:spPr>
          <a:xfrm>
            <a:off x="459478" y="5061476"/>
            <a:ext cx="3840480" cy="528559"/>
          </a:xfrm>
          <a:prstGeom prst="roundRect">
            <a:avLst/>
          </a:prstGeom>
          <a:solidFill>
            <a:schemeClr val="bg1">
              <a:lumMod val="95000"/>
              <a:alpha val="59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کاربرد اکنون محدود — نیازمند اعتبارسنجی در فاز عملیاتی</a:t>
            </a:r>
          </a:p>
        </p:txBody>
      </p:sp>
      <p:sp>
        <p:nvSpPr>
          <p:cNvPr id="144" name="Arrow: Down 143">
            <a:extLst>
              <a:ext uri="{FF2B5EF4-FFF2-40B4-BE49-F238E27FC236}">
                <a16:creationId xmlns:a16="http://schemas.microsoft.com/office/drawing/2014/main" id="{E2E58AB1-CD59-E853-F224-50A4D2A3EA5C}"/>
              </a:ext>
            </a:extLst>
          </p:cNvPr>
          <p:cNvSpPr/>
          <p:nvPr/>
        </p:nvSpPr>
        <p:spPr>
          <a:xfrm rot="5400000">
            <a:off x="8427463" y="5257960"/>
            <a:ext cx="170188" cy="135591"/>
          </a:xfrm>
          <a:prstGeom prst="downArrow">
            <a:avLst/>
          </a:prstGeom>
          <a:solidFill>
            <a:schemeClr val="tx1">
              <a:lumMod val="50000"/>
              <a:lumOff val="50000"/>
              <a:alpha val="1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45" name="Arrow: Down 144">
            <a:extLst>
              <a:ext uri="{FF2B5EF4-FFF2-40B4-BE49-F238E27FC236}">
                <a16:creationId xmlns:a16="http://schemas.microsoft.com/office/drawing/2014/main" id="{52DAE4B2-577D-4D76-0491-01FB6D180F49}"/>
              </a:ext>
            </a:extLst>
          </p:cNvPr>
          <p:cNvSpPr/>
          <p:nvPr/>
        </p:nvSpPr>
        <p:spPr>
          <a:xfrm rot="5400000">
            <a:off x="4340404" y="5257961"/>
            <a:ext cx="170188" cy="135591"/>
          </a:xfrm>
          <a:prstGeom prst="downArrow">
            <a:avLst/>
          </a:prstGeom>
          <a:solidFill>
            <a:schemeClr val="tx1">
              <a:lumMod val="50000"/>
              <a:lumOff val="50000"/>
              <a:alpha val="1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Tree>
    <p:extLst>
      <p:ext uri="{BB962C8B-B14F-4D97-AF65-F5344CB8AC3E}">
        <p14:creationId xmlns:p14="http://schemas.microsoft.com/office/powerpoint/2010/main" val="3712517892"/>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02C8E-CA85-AB58-5CFA-E1F66EA9EE3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E717052-F98D-EB3C-E692-0C488DEB8087}"/>
              </a:ext>
            </a:extLst>
          </p:cNvPr>
          <p:cNvSpPr>
            <a:spLocks noGrp="1"/>
          </p:cNvSpPr>
          <p:nvPr>
            <p:ph type="body" sz="quarter" idx="10"/>
          </p:nvPr>
        </p:nvSpPr>
        <p:spPr/>
        <p:txBody>
          <a:bodyPr/>
          <a:lstStyle/>
          <a:p>
            <a:r>
              <a:rPr lang="fa-IR" dirty="0"/>
              <a:t>۷. تخصیص رابطه — پرسونا 4 از ۶ — کسب‌وکار کنجکاو</a:t>
            </a:r>
            <a:endParaRPr lang="en-GB" dirty="0"/>
          </a:p>
        </p:txBody>
      </p:sp>
      <p:sp>
        <p:nvSpPr>
          <p:cNvPr id="3" name="Text Placeholder 2">
            <a:extLst>
              <a:ext uri="{FF2B5EF4-FFF2-40B4-BE49-F238E27FC236}">
                <a16:creationId xmlns:a16="http://schemas.microsoft.com/office/drawing/2014/main" id="{EDF331D9-0B06-05E1-40C7-1F6FB16DF030}"/>
              </a:ext>
            </a:extLst>
          </p:cNvPr>
          <p:cNvSpPr>
            <a:spLocks noGrp="1"/>
          </p:cNvSpPr>
          <p:nvPr>
            <p:ph type="body" sz="quarter" idx="12"/>
          </p:nvPr>
        </p:nvSpPr>
        <p:spPr/>
        <p:txBody>
          <a:bodyPr/>
          <a:lstStyle/>
          <a:p>
            <a:r>
              <a:rPr lang="fa-IR" dirty="0"/>
              <a:t>هدف این پرسونا کسب اعتماد است، نه فروش فوری — تعامل کم‌فشار تا رسیدگی آماده تعهد</a:t>
            </a:r>
          </a:p>
        </p:txBody>
      </p:sp>
      <p:sp>
        <p:nvSpPr>
          <p:cNvPr id="4" name="Rectangle: Rounded Corners 3">
            <a:extLst>
              <a:ext uri="{FF2B5EF4-FFF2-40B4-BE49-F238E27FC236}">
                <a16:creationId xmlns:a16="http://schemas.microsoft.com/office/drawing/2014/main" id="{64029670-238D-9471-E2BD-05FDB54F43B1}"/>
              </a:ext>
            </a:extLst>
          </p:cNvPr>
          <p:cNvSpPr/>
          <p:nvPr/>
        </p:nvSpPr>
        <p:spPr>
          <a:xfrm>
            <a:off x="10498755" y="1440259"/>
            <a:ext cx="744817" cy="577516"/>
          </a:xfrm>
          <a:prstGeom prst="roundRect">
            <a:avLst/>
          </a:prstGeom>
          <a:solidFill>
            <a:srgbClr val="15296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نیاز محوری</a:t>
            </a:r>
            <a:endParaRPr kumimoji="0" lang="en-GB" sz="105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sp>
        <p:nvSpPr>
          <p:cNvPr id="5" name="Isosceles Triangle 4">
            <a:extLst>
              <a:ext uri="{FF2B5EF4-FFF2-40B4-BE49-F238E27FC236}">
                <a16:creationId xmlns:a16="http://schemas.microsoft.com/office/drawing/2014/main" id="{4BEB139B-7824-4DBE-208E-A06F63367348}"/>
              </a:ext>
            </a:extLst>
          </p:cNvPr>
          <p:cNvSpPr/>
          <p:nvPr/>
        </p:nvSpPr>
        <p:spPr>
          <a:xfrm rot="16200000">
            <a:off x="10127842" y="1675364"/>
            <a:ext cx="577516" cy="107305"/>
          </a:xfrm>
          <a:prstGeom prst="triangle">
            <a:avLst/>
          </a:prstGeom>
          <a:solidFill>
            <a:srgbClr val="F0BE0F">
              <a:alpha val="5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6" name="Rectangle: Rounded Corners 5">
            <a:extLst>
              <a:ext uri="{FF2B5EF4-FFF2-40B4-BE49-F238E27FC236}">
                <a16:creationId xmlns:a16="http://schemas.microsoft.com/office/drawing/2014/main" id="{5AC44BF7-19DA-9AE9-2731-B74C440816AF}"/>
              </a:ext>
            </a:extLst>
          </p:cNvPr>
          <p:cNvSpPr/>
          <p:nvPr/>
        </p:nvSpPr>
        <p:spPr>
          <a:xfrm>
            <a:off x="5940763" y="1440259"/>
            <a:ext cx="4393682" cy="577516"/>
          </a:xfrm>
          <a:prstGeom prst="roundRect">
            <a:avLst/>
          </a:prstGeom>
          <a:noFill/>
          <a:ln w="6350">
            <a:solidFill>
              <a:srgbClr val="004D80">
                <a:alpha val="46000"/>
              </a:srgb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کاهش عدم‌قطعیت و شناسایی فرصت پیش از هرگونه تعهد</a:t>
            </a:r>
            <a:endParaRPr kumimoji="0" lang="en-GB" sz="10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9" name="Rectangle: Rounded Corners 8">
            <a:extLst>
              <a:ext uri="{FF2B5EF4-FFF2-40B4-BE49-F238E27FC236}">
                <a16:creationId xmlns:a16="http://schemas.microsoft.com/office/drawing/2014/main" id="{0C75816B-A0CB-20D6-3661-5D6BEC6F074B}"/>
              </a:ext>
            </a:extLst>
          </p:cNvPr>
          <p:cNvSpPr/>
          <p:nvPr/>
        </p:nvSpPr>
        <p:spPr>
          <a:xfrm>
            <a:off x="5017471" y="1440259"/>
            <a:ext cx="744817" cy="577516"/>
          </a:xfrm>
          <a:prstGeom prst="round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رفتار</a:t>
            </a:r>
            <a:endParaRPr kumimoji="0" lang="en-GB" sz="105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sp>
        <p:nvSpPr>
          <p:cNvPr id="10" name="Isosceles Triangle 9">
            <a:extLst>
              <a:ext uri="{FF2B5EF4-FFF2-40B4-BE49-F238E27FC236}">
                <a16:creationId xmlns:a16="http://schemas.microsoft.com/office/drawing/2014/main" id="{0F1D0316-C579-0BCA-DFB6-BDE3C18B2E96}"/>
              </a:ext>
            </a:extLst>
          </p:cNvPr>
          <p:cNvSpPr/>
          <p:nvPr/>
        </p:nvSpPr>
        <p:spPr>
          <a:xfrm rot="16200000">
            <a:off x="4646558" y="1675364"/>
            <a:ext cx="577516" cy="107305"/>
          </a:xfrm>
          <a:prstGeom prst="triangle">
            <a:avLst/>
          </a:prstGeom>
          <a:solidFill>
            <a:srgbClr val="F0BE0F">
              <a:alpha val="5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1" name="Rectangle: Rounded Corners 10">
            <a:extLst>
              <a:ext uri="{FF2B5EF4-FFF2-40B4-BE49-F238E27FC236}">
                <a16:creationId xmlns:a16="http://schemas.microsoft.com/office/drawing/2014/main" id="{ED6911A8-2BA0-9950-258A-94534038749F}"/>
              </a:ext>
            </a:extLst>
          </p:cNvPr>
          <p:cNvSpPr/>
          <p:nvPr/>
        </p:nvSpPr>
        <p:spPr>
          <a:xfrm>
            <a:off x="459479" y="1440259"/>
            <a:ext cx="4393682" cy="577516"/>
          </a:xfrm>
          <a:prstGeom prst="roundRect">
            <a:avLst/>
          </a:prstGeom>
          <a:noFill/>
          <a:ln w="6350">
            <a:solidFill>
              <a:schemeClr val="bg1">
                <a:lumMod val="75000"/>
                <a:alpha val="46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ریسک‌گریز؛</a:t>
            </a:r>
          </a:p>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بدون معرفی معتبر وارد تعامل نمی‌شود</a:t>
            </a:r>
            <a:endParaRPr kumimoji="0" lang="en-GB" sz="9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endParaRPr>
          </a:p>
        </p:txBody>
      </p:sp>
      <p:cxnSp>
        <p:nvCxnSpPr>
          <p:cNvPr id="29" name="Straight Connector 28">
            <a:extLst>
              <a:ext uri="{FF2B5EF4-FFF2-40B4-BE49-F238E27FC236}">
                <a16:creationId xmlns:a16="http://schemas.microsoft.com/office/drawing/2014/main" id="{A9D6C26B-5C79-7202-5A52-CDCDAA088BC2}"/>
              </a:ext>
            </a:extLst>
          </p:cNvPr>
          <p:cNvCxnSpPr>
            <a:cxnSpLocks/>
          </p:cNvCxnSpPr>
          <p:nvPr/>
        </p:nvCxnSpPr>
        <p:spPr>
          <a:xfrm>
            <a:off x="8636598" y="2445906"/>
            <a:ext cx="1653837" cy="0"/>
          </a:xfrm>
          <a:prstGeom prst="line">
            <a:avLst/>
          </a:prstGeom>
          <a:ln w="3175">
            <a:solidFill>
              <a:srgbClr val="F0BE0F"/>
            </a:solidFill>
          </a:ln>
        </p:spPr>
        <p:style>
          <a:lnRef idx="1">
            <a:schemeClr val="accent2"/>
          </a:lnRef>
          <a:fillRef idx="0">
            <a:schemeClr val="accent2"/>
          </a:fillRef>
          <a:effectRef idx="0">
            <a:schemeClr val="accent2"/>
          </a:effectRef>
          <a:fontRef idx="minor">
            <a:schemeClr val="tx1"/>
          </a:fontRef>
        </p:style>
      </p:cxnSp>
      <p:sp>
        <p:nvSpPr>
          <p:cNvPr id="14" name="TextBox 13">
            <a:extLst>
              <a:ext uri="{FF2B5EF4-FFF2-40B4-BE49-F238E27FC236}">
                <a16:creationId xmlns:a16="http://schemas.microsoft.com/office/drawing/2014/main" id="{471F6AC6-3AEB-D714-39F6-EB61DC5A683B}"/>
              </a:ext>
            </a:extLst>
          </p:cNvPr>
          <p:cNvSpPr txBox="1"/>
          <p:nvPr/>
        </p:nvSpPr>
        <p:spPr>
          <a:xfrm>
            <a:off x="8738779" y="2330490"/>
            <a:ext cx="1449474" cy="230832"/>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rPr>
              <a:t>آرکی‌تایپ رابطه پیشنهادی</a:t>
            </a:r>
          </a:p>
        </p:txBody>
      </p:sp>
      <p:cxnSp>
        <p:nvCxnSpPr>
          <p:cNvPr id="35" name="Straight Connector 34">
            <a:extLst>
              <a:ext uri="{FF2B5EF4-FFF2-40B4-BE49-F238E27FC236}">
                <a16:creationId xmlns:a16="http://schemas.microsoft.com/office/drawing/2014/main" id="{24119676-35EC-B7B5-CF5D-1FDA140311FD}"/>
              </a:ext>
            </a:extLst>
          </p:cNvPr>
          <p:cNvCxnSpPr>
            <a:cxnSpLocks/>
          </p:cNvCxnSpPr>
          <p:nvPr/>
        </p:nvCxnSpPr>
        <p:spPr>
          <a:xfrm>
            <a:off x="459478" y="2445906"/>
            <a:ext cx="3840480" cy="0"/>
          </a:xfrm>
          <a:prstGeom prst="line">
            <a:avLst/>
          </a:prstGeom>
          <a:ln w="3175">
            <a:solidFill>
              <a:schemeClr val="bg1">
                <a:lumMod val="85000"/>
              </a:schemeClr>
            </a:solidFill>
          </a:ln>
        </p:spPr>
        <p:style>
          <a:lnRef idx="1">
            <a:schemeClr val="accent2"/>
          </a:lnRef>
          <a:fillRef idx="0">
            <a:schemeClr val="accent2"/>
          </a:fillRef>
          <a:effectRef idx="0">
            <a:schemeClr val="accent2"/>
          </a:effectRef>
          <a:fontRef idx="minor">
            <a:schemeClr val="tx1"/>
          </a:fontRef>
        </p:style>
      </p:cxnSp>
      <p:sp>
        <p:nvSpPr>
          <p:cNvPr id="36" name="TextBox 35">
            <a:extLst>
              <a:ext uri="{FF2B5EF4-FFF2-40B4-BE49-F238E27FC236}">
                <a16:creationId xmlns:a16="http://schemas.microsoft.com/office/drawing/2014/main" id="{7C4C4C11-98FC-68F3-D0A0-C5F9CEE19C31}"/>
              </a:ext>
            </a:extLst>
          </p:cNvPr>
          <p:cNvSpPr txBox="1"/>
          <p:nvPr/>
        </p:nvSpPr>
        <p:spPr>
          <a:xfrm>
            <a:off x="1464417" y="2330490"/>
            <a:ext cx="1830602" cy="230832"/>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rPr>
              <a:t>مثال جهانی و بنچمارک برون‌مرزی</a:t>
            </a:r>
          </a:p>
        </p:txBody>
      </p:sp>
      <p:cxnSp>
        <p:nvCxnSpPr>
          <p:cNvPr id="43" name="Straight Connector 42">
            <a:extLst>
              <a:ext uri="{FF2B5EF4-FFF2-40B4-BE49-F238E27FC236}">
                <a16:creationId xmlns:a16="http://schemas.microsoft.com/office/drawing/2014/main" id="{47B15962-C8A8-F9C0-84AF-7BD53D03495D}"/>
              </a:ext>
            </a:extLst>
          </p:cNvPr>
          <p:cNvCxnSpPr>
            <a:cxnSpLocks/>
          </p:cNvCxnSpPr>
          <p:nvPr/>
        </p:nvCxnSpPr>
        <p:spPr>
          <a:xfrm>
            <a:off x="4548038" y="2445906"/>
            <a:ext cx="3840480" cy="0"/>
          </a:xfrm>
          <a:prstGeom prst="line">
            <a:avLst/>
          </a:prstGeom>
          <a:ln w="3175">
            <a:solidFill>
              <a:schemeClr val="bg1">
                <a:lumMod val="85000"/>
              </a:schemeClr>
            </a:solidFill>
          </a:ln>
        </p:spPr>
        <p:style>
          <a:lnRef idx="1">
            <a:schemeClr val="accent2"/>
          </a:lnRef>
          <a:fillRef idx="0">
            <a:schemeClr val="accent2"/>
          </a:fillRef>
          <a:effectRef idx="0">
            <a:schemeClr val="accent2"/>
          </a:effectRef>
          <a:fontRef idx="minor">
            <a:schemeClr val="tx1"/>
          </a:fontRef>
        </p:style>
      </p:cxnSp>
      <p:sp>
        <p:nvSpPr>
          <p:cNvPr id="44" name="TextBox 43">
            <a:extLst>
              <a:ext uri="{FF2B5EF4-FFF2-40B4-BE49-F238E27FC236}">
                <a16:creationId xmlns:a16="http://schemas.microsoft.com/office/drawing/2014/main" id="{0A2B10EB-8264-31A6-1122-D50CB2D59063}"/>
              </a:ext>
            </a:extLst>
          </p:cNvPr>
          <p:cNvSpPr txBox="1"/>
          <p:nvPr/>
        </p:nvSpPr>
        <p:spPr>
          <a:xfrm>
            <a:off x="5552977" y="2330490"/>
            <a:ext cx="1830602" cy="230832"/>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rPr>
              <a:t>کاربرد در اکوسیستم فرصت ایران</a:t>
            </a:r>
          </a:p>
        </p:txBody>
      </p:sp>
      <p:cxnSp>
        <p:nvCxnSpPr>
          <p:cNvPr id="47" name="Straight Connector 46">
            <a:extLst>
              <a:ext uri="{FF2B5EF4-FFF2-40B4-BE49-F238E27FC236}">
                <a16:creationId xmlns:a16="http://schemas.microsoft.com/office/drawing/2014/main" id="{3DE940C4-8269-E193-5AA9-7A4F12CCED6F}"/>
              </a:ext>
            </a:extLst>
          </p:cNvPr>
          <p:cNvCxnSpPr>
            <a:cxnSpLocks/>
          </p:cNvCxnSpPr>
          <p:nvPr/>
        </p:nvCxnSpPr>
        <p:spPr>
          <a:xfrm>
            <a:off x="10538516" y="2445906"/>
            <a:ext cx="705056" cy="0"/>
          </a:xfrm>
          <a:prstGeom prst="line">
            <a:avLst/>
          </a:prstGeom>
          <a:ln w="3175">
            <a:solidFill>
              <a:srgbClr val="004D80"/>
            </a:solidFill>
          </a:ln>
        </p:spPr>
        <p:style>
          <a:lnRef idx="1">
            <a:schemeClr val="accent2"/>
          </a:lnRef>
          <a:fillRef idx="0">
            <a:schemeClr val="accent2"/>
          </a:fillRef>
          <a:effectRef idx="0">
            <a:schemeClr val="accent2"/>
          </a:effectRef>
          <a:fontRef idx="minor">
            <a:schemeClr val="tx1"/>
          </a:fontRef>
        </p:style>
      </p:cxnSp>
      <p:sp>
        <p:nvSpPr>
          <p:cNvPr id="48" name="TextBox 47">
            <a:extLst>
              <a:ext uri="{FF2B5EF4-FFF2-40B4-BE49-F238E27FC236}">
                <a16:creationId xmlns:a16="http://schemas.microsoft.com/office/drawing/2014/main" id="{FC698C06-2033-5B5E-E6C2-CA04AE695DDE}"/>
              </a:ext>
            </a:extLst>
          </p:cNvPr>
          <p:cNvSpPr txBox="1"/>
          <p:nvPr/>
        </p:nvSpPr>
        <p:spPr>
          <a:xfrm>
            <a:off x="10655211" y="2330490"/>
            <a:ext cx="471667" cy="230832"/>
          </a:xfrm>
          <a:prstGeom prst="rect">
            <a:avLst/>
          </a:prstGeom>
          <a:solidFill>
            <a:schemeClr val="bg1"/>
          </a:solidFill>
          <a:ln>
            <a:noFill/>
          </a:ln>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rPr>
              <a:t>ناحیه</a:t>
            </a:r>
          </a:p>
        </p:txBody>
      </p:sp>
      <p:sp>
        <p:nvSpPr>
          <p:cNvPr id="18" name="Rectangle: Rounded Corners 17">
            <a:extLst>
              <a:ext uri="{FF2B5EF4-FFF2-40B4-BE49-F238E27FC236}">
                <a16:creationId xmlns:a16="http://schemas.microsoft.com/office/drawing/2014/main" id="{9F21D209-6A51-1F22-5B5D-87EEE48A316A}"/>
              </a:ext>
            </a:extLst>
          </p:cNvPr>
          <p:cNvSpPr/>
          <p:nvPr/>
        </p:nvSpPr>
        <p:spPr>
          <a:xfrm>
            <a:off x="8636598" y="2635925"/>
            <a:ext cx="1653837" cy="528559"/>
          </a:xfrm>
          <a:prstGeom prst="roundRect">
            <a:avLst/>
          </a:prstGeom>
          <a:solidFill>
            <a:srgbClr val="F0BE0F">
              <a:alpha val="16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15296B"/>
              </a:solidFill>
              <a:effectLst/>
              <a:uLnTx/>
              <a:uFillTx/>
              <a:latin typeface="Calibri"/>
              <a:ea typeface="+mn-ea"/>
              <a:cs typeface="Calibri"/>
            </a:endParaRPr>
          </a:p>
        </p:txBody>
      </p:sp>
      <p:sp>
        <p:nvSpPr>
          <p:cNvPr id="22" name="TextBox 21">
            <a:extLst>
              <a:ext uri="{FF2B5EF4-FFF2-40B4-BE49-F238E27FC236}">
                <a16:creationId xmlns:a16="http://schemas.microsoft.com/office/drawing/2014/main" id="{EE1A1A04-B0E1-C4D3-9940-31346ABCE869}"/>
              </a:ext>
            </a:extLst>
          </p:cNvPr>
          <p:cNvSpPr txBox="1"/>
          <p:nvPr/>
        </p:nvSpPr>
        <p:spPr>
          <a:xfrm>
            <a:off x="8636598" y="2766770"/>
            <a:ext cx="1653837" cy="266868"/>
          </a:xfrm>
          <a:prstGeom prst="rect">
            <a:avLst/>
          </a:prstGeom>
          <a:noFill/>
        </p:spPr>
        <p:txBody>
          <a:bodyPr wrap="square">
            <a:spAutoFit/>
          </a:bodyPr>
          <a:lstStyle/>
          <a:p>
            <a:pPr marL="0" marR="0" lvl="0" indent="0" algn="ctr" defTabSz="457200" rtl="1" eaLnBrk="1" fontAlgn="auto" latinLnBrk="0" hangingPunct="1">
              <a:lnSpc>
                <a:spcPct val="108000"/>
              </a:lnSpc>
              <a:spcBef>
                <a:spcPts val="0"/>
              </a:spcBef>
              <a:spcAft>
                <a:spcPts val="0"/>
              </a:spcAft>
              <a:buClrTx/>
              <a:buSzTx/>
              <a:buFontTx/>
              <a:buNone/>
              <a:tabLst/>
              <a:defRPr/>
            </a:pPr>
            <a:r>
              <a:rPr kumimoji="0" lang="fa-IR" sz="1050" b="1" i="0" u="none" strike="noStrike" kern="1200" cap="none" spc="0" normalizeH="0" baseline="0" noProof="0" dirty="0">
                <a:ln>
                  <a:noFill/>
                </a:ln>
                <a:solidFill>
                  <a:srgbClr val="15296B"/>
                </a:solidFill>
                <a:effectLst/>
                <a:uLnTx/>
                <a:uFillTx/>
                <a:latin typeface="Yekan Bakh FaNum" pitchFamily="2" charset="-78"/>
                <a:ea typeface="+mn-ea"/>
                <a:cs typeface="Yekan Bakh FaNum" pitchFamily="2" charset="-78"/>
              </a:rPr>
              <a:t>تراکنشی</a:t>
            </a:r>
          </a:p>
        </p:txBody>
      </p:sp>
      <p:sp>
        <p:nvSpPr>
          <p:cNvPr id="52" name="Rectangle: Rounded Corners 51">
            <a:extLst>
              <a:ext uri="{FF2B5EF4-FFF2-40B4-BE49-F238E27FC236}">
                <a16:creationId xmlns:a16="http://schemas.microsoft.com/office/drawing/2014/main" id="{F7193A3A-3439-EC06-B54C-5438A4F83BA4}"/>
              </a:ext>
            </a:extLst>
          </p:cNvPr>
          <p:cNvSpPr/>
          <p:nvPr/>
        </p:nvSpPr>
        <p:spPr>
          <a:xfrm>
            <a:off x="10538516" y="2635925"/>
            <a:ext cx="705056" cy="528559"/>
          </a:xfrm>
          <a:prstGeom prst="roundRect">
            <a:avLst/>
          </a:prstGeom>
          <a:solidFill>
            <a:srgbClr val="EFF3FB"/>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dirty="0">
              <a:ln>
                <a:noFill/>
              </a:ln>
              <a:solidFill>
                <a:srgbClr val="15296B"/>
              </a:solidFill>
              <a:effectLst/>
              <a:uLnTx/>
              <a:uFillTx/>
              <a:latin typeface="Calibri"/>
              <a:ea typeface="+mn-ea"/>
              <a:cs typeface="Calibri"/>
            </a:endParaRPr>
          </a:p>
        </p:txBody>
      </p:sp>
      <p:sp>
        <p:nvSpPr>
          <p:cNvPr id="19" name="TextBox 18">
            <a:extLst>
              <a:ext uri="{FF2B5EF4-FFF2-40B4-BE49-F238E27FC236}">
                <a16:creationId xmlns:a16="http://schemas.microsoft.com/office/drawing/2014/main" id="{2E2F466C-99D1-D419-EA19-958BABB17651}"/>
              </a:ext>
            </a:extLst>
          </p:cNvPr>
          <p:cNvSpPr txBox="1"/>
          <p:nvPr/>
        </p:nvSpPr>
        <p:spPr>
          <a:xfrm>
            <a:off x="10664057" y="2730927"/>
            <a:ext cx="453974" cy="338554"/>
          </a:xfrm>
          <a:prstGeom prst="rect">
            <a:avLst/>
          </a:prstGeom>
          <a:noFill/>
        </p:spPr>
        <p:txBody>
          <a:bodyPr wrap="square"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5296B"/>
                </a:solidFill>
                <a:effectLst/>
                <a:uLnTx/>
                <a:uFillTx/>
                <a:latin typeface="Yekan Bakh" pitchFamily="2" charset="-78"/>
                <a:ea typeface="Yekan Bakh" pitchFamily="2" charset="-78"/>
                <a:cs typeface="Yekan Bakh" pitchFamily="2" charset="-78"/>
              </a:rPr>
              <a:t>A</a:t>
            </a:r>
            <a:endParaRPr kumimoji="0" lang="fa-IR" sz="1600" b="1" i="0" u="none" strike="noStrike" kern="1200" cap="none" spc="0" normalizeH="0" baseline="0" noProof="0" dirty="0">
              <a:ln>
                <a:noFill/>
              </a:ln>
              <a:solidFill>
                <a:srgbClr val="15296B"/>
              </a:solidFill>
              <a:effectLst/>
              <a:uLnTx/>
              <a:uFillTx/>
              <a:latin typeface="Yekan Bakh" pitchFamily="2" charset="-78"/>
              <a:ea typeface="Yekan Bakh" pitchFamily="2" charset="-78"/>
              <a:cs typeface="Yekan Bakh" pitchFamily="2" charset="-78"/>
            </a:endParaRPr>
          </a:p>
        </p:txBody>
      </p:sp>
      <p:sp>
        <p:nvSpPr>
          <p:cNvPr id="60" name="Rectangle: Rounded Corners 59">
            <a:extLst>
              <a:ext uri="{FF2B5EF4-FFF2-40B4-BE49-F238E27FC236}">
                <a16:creationId xmlns:a16="http://schemas.microsoft.com/office/drawing/2014/main" id="{6D53D08F-54AC-1012-F901-57D0CDE4D9ED}"/>
              </a:ext>
            </a:extLst>
          </p:cNvPr>
          <p:cNvSpPr/>
          <p:nvPr/>
        </p:nvSpPr>
        <p:spPr>
          <a:xfrm>
            <a:off x="4548039" y="2635925"/>
            <a:ext cx="3840480" cy="528559"/>
          </a:xfrm>
          <a:prstGeom prst="roundRect">
            <a:avLst/>
          </a:prstGeom>
          <a:solidFill>
            <a:schemeClr val="bg1">
              <a:lumMod val="95000"/>
              <a:alpha val="59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عضویت رایگان/کم‌هزینه در اشتراک گزارش دوره‌ای بازار ایران</a:t>
            </a:r>
          </a:p>
        </p:txBody>
      </p:sp>
      <p:sp>
        <p:nvSpPr>
          <p:cNvPr id="62" name="Rectangle: Rounded Corners 61">
            <a:extLst>
              <a:ext uri="{FF2B5EF4-FFF2-40B4-BE49-F238E27FC236}">
                <a16:creationId xmlns:a16="http://schemas.microsoft.com/office/drawing/2014/main" id="{6093749F-467E-D4C7-28B9-84CA35042304}"/>
              </a:ext>
            </a:extLst>
          </p:cNvPr>
          <p:cNvSpPr/>
          <p:nvPr/>
        </p:nvSpPr>
        <p:spPr>
          <a:xfrm>
            <a:off x="459478" y="2635925"/>
            <a:ext cx="3840480" cy="528559"/>
          </a:xfrm>
          <a:prstGeom prst="roundRect">
            <a:avLst/>
          </a:prstGeom>
          <a:solidFill>
            <a:schemeClr val="bg1">
              <a:lumMod val="95000"/>
              <a:alpha val="59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خبرنامه‌های رایگان تحقیقاتی نظیر گزارش‌های </a:t>
            </a:r>
            <a:r>
              <a:rPr kumimoji="0" lang="en-US"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McKinsey Insights</a:t>
            </a:r>
            <a:r>
              <a:rPr kumimoji="0" lang="fa-IR"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a:t>
            </a:r>
          </a:p>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بنچمارک: </a:t>
            </a:r>
            <a:r>
              <a:rPr kumimoji="0" lang="fa-IR"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گزارش‌های دوره‌ای رایگان شبکه‌های توسعه تجارت مشابه </a:t>
            </a:r>
            <a:r>
              <a:rPr kumimoji="0" lang="en-US" sz="800" b="0" i="0" u="none" strike="noStrike" kern="1200" cap="none" spc="0" normalizeH="0" baseline="0" noProof="0" dirty="0" err="1">
                <a:ln>
                  <a:noFill/>
                </a:ln>
                <a:solidFill>
                  <a:prstClr val="black">
                    <a:lumMod val="50000"/>
                    <a:lumOff val="50000"/>
                  </a:prstClr>
                </a:solidFill>
                <a:effectLst/>
                <a:uLnTx/>
                <a:uFillTx/>
                <a:latin typeface="Yekan Bakh" pitchFamily="2" charset="-78"/>
                <a:ea typeface="Yekan Bakh" pitchFamily="2" charset="-78"/>
                <a:cs typeface="Yekan Bakh" pitchFamily="2" charset="-78"/>
              </a:rPr>
              <a:t>GlobalScot</a:t>
            </a:r>
            <a:endParaRPr kumimoji="0" lang="en-US"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endParaRPr>
          </a:p>
        </p:txBody>
      </p:sp>
      <p:sp>
        <p:nvSpPr>
          <p:cNvPr id="104" name="Arrow: Down 103">
            <a:extLst>
              <a:ext uri="{FF2B5EF4-FFF2-40B4-BE49-F238E27FC236}">
                <a16:creationId xmlns:a16="http://schemas.microsoft.com/office/drawing/2014/main" id="{88A0A07D-BD91-8128-530C-29350D3151D4}"/>
              </a:ext>
            </a:extLst>
          </p:cNvPr>
          <p:cNvSpPr/>
          <p:nvPr/>
        </p:nvSpPr>
        <p:spPr>
          <a:xfrm rot="5400000">
            <a:off x="8427463" y="2832409"/>
            <a:ext cx="170188" cy="135591"/>
          </a:xfrm>
          <a:prstGeom prst="downArrow">
            <a:avLst/>
          </a:prstGeom>
          <a:solidFill>
            <a:schemeClr val="tx1">
              <a:lumMod val="50000"/>
              <a:lumOff val="50000"/>
              <a:alpha val="1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05" name="Arrow: Down 104">
            <a:extLst>
              <a:ext uri="{FF2B5EF4-FFF2-40B4-BE49-F238E27FC236}">
                <a16:creationId xmlns:a16="http://schemas.microsoft.com/office/drawing/2014/main" id="{8D8F7B95-B575-6ACF-C276-4C89DDF187EE}"/>
              </a:ext>
            </a:extLst>
          </p:cNvPr>
          <p:cNvSpPr/>
          <p:nvPr/>
        </p:nvSpPr>
        <p:spPr>
          <a:xfrm rot="5400000">
            <a:off x="4340404" y="2832410"/>
            <a:ext cx="170188" cy="135591"/>
          </a:xfrm>
          <a:prstGeom prst="downArrow">
            <a:avLst/>
          </a:prstGeom>
          <a:solidFill>
            <a:schemeClr val="tx1">
              <a:lumMod val="50000"/>
              <a:lumOff val="50000"/>
              <a:alpha val="1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11" name="Rectangle: Rounded Corners 110">
            <a:extLst>
              <a:ext uri="{FF2B5EF4-FFF2-40B4-BE49-F238E27FC236}">
                <a16:creationId xmlns:a16="http://schemas.microsoft.com/office/drawing/2014/main" id="{C74D5723-4577-9D28-838D-E96CCC469633}"/>
              </a:ext>
            </a:extLst>
          </p:cNvPr>
          <p:cNvSpPr/>
          <p:nvPr/>
        </p:nvSpPr>
        <p:spPr>
          <a:xfrm>
            <a:off x="8636598" y="3242313"/>
            <a:ext cx="1653837" cy="528559"/>
          </a:xfrm>
          <a:prstGeom prst="roundRect">
            <a:avLst/>
          </a:prstGeom>
          <a:solidFill>
            <a:srgbClr val="F0BE0F">
              <a:alpha val="16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15296B"/>
              </a:solidFill>
              <a:effectLst/>
              <a:uLnTx/>
              <a:uFillTx/>
              <a:latin typeface="Calibri"/>
              <a:ea typeface="+mn-ea"/>
              <a:cs typeface="Calibri"/>
            </a:endParaRPr>
          </a:p>
        </p:txBody>
      </p:sp>
      <p:sp>
        <p:nvSpPr>
          <p:cNvPr id="112" name="TextBox 111">
            <a:extLst>
              <a:ext uri="{FF2B5EF4-FFF2-40B4-BE49-F238E27FC236}">
                <a16:creationId xmlns:a16="http://schemas.microsoft.com/office/drawing/2014/main" id="{05A9E16D-7588-FE8D-8870-2BCA7EB83627}"/>
              </a:ext>
            </a:extLst>
          </p:cNvPr>
          <p:cNvSpPr txBox="1"/>
          <p:nvPr/>
        </p:nvSpPr>
        <p:spPr>
          <a:xfrm>
            <a:off x="8636598" y="3373158"/>
            <a:ext cx="1653837" cy="266868"/>
          </a:xfrm>
          <a:prstGeom prst="rect">
            <a:avLst/>
          </a:prstGeom>
          <a:noFill/>
        </p:spPr>
        <p:txBody>
          <a:bodyPr wrap="square">
            <a:spAutoFit/>
          </a:bodyPr>
          <a:lstStyle/>
          <a:p>
            <a:pPr marL="0" marR="0" lvl="0" indent="0" algn="ctr" defTabSz="457200" rtl="1" eaLnBrk="1" fontAlgn="auto" latinLnBrk="0" hangingPunct="1">
              <a:lnSpc>
                <a:spcPct val="108000"/>
              </a:lnSpc>
              <a:spcBef>
                <a:spcPts val="0"/>
              </a:spcBef>
              <a:spcAft>
                <a:spcPts val="0"/>
              </a:spcAft>
              <a:buClrTx/>
              <a:buSzTx/>
              <a:buFontTx/>
              <a:buNone/>
              <a:tabLst/>
              <a:defRPr/>
            </a:pPr>
            <a:r>
              <a:rPr kumimoji="0" lang="fa-IR" sz="1050" b="1" i="0" u="none" strike="noStrike" kern="1200" cap="none" spc="0" normalizeH="0" baseline="0" noProof="0" dirty="0">
                <a:ln>
                  <a:noFill/>
                </a:ln>
                <a:solidFill>
                  <a:srgbClr val="15296B"/>
                </a:solidFill>
                <a:effectLst/>
                <a:uLnTx/>
                <a:uFillTx/>
                <a:latin typeface="Yekan Bakh FaNum" pitchFamily="2" charset="-78"/>
                <a:ea typeface="+mn-ea"/>
                <a:cs typeface="Yekan Bakh FaNum" pitchFamily="2" charset="-78"/>
              </a:rPr>
              <a:t>همراه/اختصاصی</a:t>
            </a:r>
          </a:p>
        </p:txBody>
      </p:sp>
      <p:sp>
        <p:nvSpPr>
          <p:cNvPr id="113" name="Rectangle: Rounded Corners 112">
            <a:extLst>
              <a:ext uri="{FF2B5EF4-FFF2-40B4-BE49-F238E27FC236}">
                <a16:creationId xmlns:a16="http://schemas.microsoft.com/office/drawing/2014/main" id="{862DE959-5D1B-B71D-0123-005CCBEF6FC7}"/>
              </a:ext>
            </a:extLst>
          </p:cNvPr>
          <p:cNvSpPr/>
          <p:nvPr/>
        </p:nvSpPr>
        <p:spPr>
          <a:xfrm>
            <a:off x="10538516" y="3242313"/>
            <a:ext cx="705056" cy="528559"/>
          </a:xfrm>
          <a:prstGeom prst="roundRect">
            <a:avLst/>
          </a:prstGeom>
          <a:solidFill>
            <a:srgbClr val="15296B"/>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dirty="0">
              <a:ln>
                <a:noFill/>
              </a:ln>
              <a:solidFill>
                <a:prstClr val="white"/>
              </a:solidFill>
              <a:effectLst/>
              <a:uLnTx/>
              <a:uFillTx/>
              <a:latin typeface="Calibri"/>
              <a:ea typeface="+mn-ea"/>
              <a:cs typeface="Calibri"/>
            </a:endParaRPr>
          </a:p>
        </p:txBody>
      </p:sp>
      <p:sp>
        <p:nvSpPr>
          <p:cNvPr id="114" name="TextBox 113">
            <a:extLst>
              <a:ext uri="{FF2B5EF4-FFF2-40B4-BE49-F238E27FC236}">
                <a16:creationId xmlns:a16="http://schemas.microsoft.com/office/drawing/2014/main" id="{781F26CF-FE04-3BCF-01E2-0B4F02F00F71}"/>
              </a:ext>
            </a:extLst>
          </p:cNvPr>
          <p:cNvSpPr txBox="1"/>
          <p:nvPr/>
        </p:nvSpPr>
        <p:spPr>
          <a:xfrm>
            <a:off x="10664057" y="3337315"/>
            <a:ext cx="453974" cy="338554"/>
          </a:xfrm>
          <a:prstGeom prst="rect">
            <a:avLst/>
          </a:prstGeom>
          <a:noFill/>
        </p:spPr>
        <p:txBody>
          <a:bodyPr wrap="square"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B</a:t>
            </a:r>
            <a:endParaRPr kumimoji="0" lang="fa-IR" sz="16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sp>
        <p:nvSpPr>
          <p:cNvPr id="115" name="Rectangle: Rounded Corners 114">
            <a:extLst>
              <a:ext uri="{FF2B5EF4-FFF2-40B4-BE49-F238E27FC236}">
                <a16:creationId xmlns:a16="http://schemas.microsoft.com/office/drawing/2014/main" id="{86B05C55-D00C-A11E-A5DA-DA4BD913C106}"/>
              </a:ext>
            </a:extLst>
          </p:cNvPr>
          <p:cNvSpPr/>
          <p:nvPr/>
        </p:nvSpPr>
        <p:spPr>
          <a:xfrm>
            <a:off x="4548039" y="3242313"/>
            <a:ext cx="3840480" cy="528559"/>
          </a:xfrm>
          <a:prstGeom prst="roundRect">
            <a:avLst/>
          </a:prstGeom>
          <a:solidFill>
            <a:schemeClr val="bg1">
              <a:lumMod val="95000"/>
              <a:alpha val="59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بریفینگ اختصاصی یا وبینار با دعوت محدود؛ پاسخ به پرسش‌های اولیه بدون فشار فروش</a:t>
            </a:r>
          </a:p>
        </p:txBody>
      </p:sp>
      <p:sp>
        <p:nvSpPr>
          <p:cNvPr id="116" name="Rectangle: Rounded Corners 115">
            <a:extLst>
              <a:ext uri="{FF2B5EF4-FFF2-40B4-BE49-F238E27FC236}">
                <a16:creationId xmlns:a16="http://schemas.microsoft.com/office/drawing/2014/main" id="{C1B41A9B-8BFB-81EF-179C-8A75B9413664}"/>
              </a:ext>
            </a:extLst>
          </p:cNvPr>
          <p:cNvSpPr/>
          <p:nvPr/>
        </p:nvSpPr>
        <p:spPr>
          <a:xfrm>
            <a:off x="459478" y="3242313"/>
            <a:ext cx="3840480" cy="528559"/>
          </a:xfrm>
          <a:prstGeom prst="roundRect">
            <a:avLst/>
          </a:prstGeom>
          <a:solidFill>
            <a:schemeClr val="bg1">
              <a:lumMod val="95000"/>
              <a:alpha val="59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وبینارهای اختصاصی روابط سرمایه‌گذار.</a:t>
            </a:r>
          </a:p>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بنچمارک: </a:t>
            </a:r>
            <a:r>
              <a:rPr kumimoji="0" lang="fa-IR"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بریفینگ‌های اختصاصی</a:t>
            </a:r>
            <a:r>
              <a:rPr kumimoji="0" lang="en-US" sz="800" b="0" i="0" u="none" strike="noStrike" kern="1200" cap="none" spc="0" normalizeH="0" baseline="0" noProof="0" dirty="0" err="1">
                <a:ln>
                  <a:noFill/>
                </a:ln>
                <a:solidFill>
                  <a:prstClr val="black">
                    <a:lumMod val="50000"/>
                    <a:lumOff val="50000"/>
                  </a:prstClr>
                </a:solidFill>
                <a:effectLst/>
                <a:uLnTx/>
                <a:uFillTx/>
                <a:latin typeface="Yekan Bakh" pitchFamily="2" charset="-78"/>
                <a:ea typeface="Yekan Bakh" pitchFamily="2" charset="-78"/>
                <a:cs typeface="Yekan Bakh" pitchFamily="2" charset="-78"/>
              </a:rPr>
              <a:t>SelectUSA</a:t>
            </a:r>
            <a:r>
              <a:rPr kumimoji="0" lang="en-US"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 </a:t>
            </a:r>
            <a:r>
              <a:rPr kumimoji="0" lang="fa-IR"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 برای شرکت‌های علاقه‌مند</a:t>
            </a:r>
          </a:p>
        </p:txBody>
      </p:sp>
      <p:sp>
        <p:nvSpPr>
          <p:cNvPr id="117" name="Arrow: Down 116">
            <a:extLst>
              <a:ext uri="{FF2B5EF4-FFF2-40B4-BE49-F238E27FC236}">
                <a16:creationId xmlns:a16="http://schemas.microsoft.com/office/drawing/2014/main" id="{F7EF208A-529C-95B3-66B3-58BC0B423376}"/>
              </a:ext>
            </a:extLst>
          </p:cNvPr>
          <p:cNvSpPr/>
          <p:nvPr/>
        </p:nvSpPr>
        <p:spPr>
          <a:xfrm rot="5400000">
            <a:off x="8427463" y="3438797"/>
            <a:ext cx="170188" cy="135591"/>
          </a:xfrm>
          <a:prstGeom prst="downArrow">
            <a:avLst/>
          </a:prstGeom>
          <a:solidFill>
            <a:schemeClr val="tx1">
              <a:lumMod val="50000"/>
              <a:lumOff val="50000"/>
              <a:alpha val="1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18" name="Arrow: Down 117">
            <a:extLst>
              <a:ext uri="{FF2B5EF4-FFF2-40B4-BE49-F238E27FC236}">
                <a16:creationId xmlns:a16="http://schemas.microsoft.com/office/drawing/2014/main" id="{3614A392-5706-D064-A885-4656603EAF3D}"/>
              </a:ext>
            </a:extLst>
          </p:cNvPr>
          <p:cNvSpPr/>
          <p:nvPr/>
        </p:nvSpPr>
        <p:spPr>
          <a:xfrm rot="5400000">
            <a:off x="4340404" y="3438798"/>
            <a:ext cx="170188" cy="135591"/>
          </a:xfrm>
          <a:prstGeom prst="downArrow">
            <a:avLst/>
          </a:prstGeom>
          <a:solidFill>
            <a:schemeClr val="tx1">
              <a:lumMod val="50000"/>
              <a:lumOff val="50000"/>
              <a:alpha val="1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20" name="Rectangle: Rounded Corners 119">
            <a:extLst>
              <a:ext uri="{FF2B5EF4-FFF2-40B4-BE49-F238E27FC236}">
                <a16:creationId xmlns:a16="http://schemas.microsoft.com/office/drawing/2014/main" id="{8A67DE9A-D842-0C6E-D883-BB07D49A5E96}"/>
              </a:ext>
            </a:extLst>
          </p:cNvPr>
          <p:cNvSpPr/>
          <p:nvPr/>
        </p:nvSpPr>
        <p:spPr>
          <a:xfrm>
            <a:off x="8636598" y="3848701"/>
            <a:ext cx="1653837" cy="528559"/>
          </a:xfrm>
          <a:prstGeom prst="roundRect">
            <a:avLst/>
          </a:prstGeom>
          <a:solidFill>
            <a:srgbClr val="F0BE0F">
              <a:alpha val="16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15296B"/>
              </a:solidFill>
              <a:effectLst/>
              <a:uLnTx/>
              <a:uFillTx/>
              <a:latin typeface="Calibri"/>
              <a:ea typeface="+mn-ea"/>
              <a:cs typeface="Calibri"/>
            </a:endParaRPr>
          </a:p>
        </p:txBody>
      </p:sp>
      <p:sp>
        <p:nvSpPr>
          <p:cNvPr id="121" name="TextBox 120">
            <a:extLst>
              <a:ext uri="{FF2B5EF4-FFF2-40B4-BE49-F238E27FC236}">
                <a16:creationId xmlns:a16="http://schemas.microsoft.com/office/drawing/2014/main" id="{DAC22B8E-41F5-8B13-8044-9C47C3A9F419}"/>
              </a:ext>
            </a:extLst>
          </p:cNvPr>
          <p:cNvSpPr txBox="1"/>
          <p:nvPr/>
        </p:nvSpPr>
        <p:spPr>
          <a:xfrm>
            <a:off x="8636598" y="3979546"/>
            <a:ext cx="1653837" cy="266868"/>
          </a:xfrm>
          <a:prstGeom prst="rect">
            <a:avLst/>
          </a:prstGeom>
          <a:noFill/>
        </p:spPr>
        <p:txBody>
          <a:bodyPr wrap="square">
            <a:spAutoFit/>
          </a:bodyPr>
          <a:lstStyle/>
          <a:p>
            <a:pPr marL="0" marR="0" lvl="0" indent="0" algn="ctr" defTabSz="457200" rtl="1" eaLnBrk="1" fontAlgn="auto" latinLnBrk="0" hangingPunct="1">
              <a:lnSpc>
                <a:spcPct val="108000"/>
              </a:lnSpc>
              <a:spcBef>
                <a:spcPts val="0"/>
              </a:spcBef>
              <a:spcAft>
                <a:spcPts val="0"/>
              </a:spcAft>
              <a:buClrTx/>
              <a:buSzTx/>
              <a:buFontTx/>
              <a:buNone/>
              <a:tabLst/>
              <a:defRPr/>
            </a:pPr>
            <a:r>
              <a:rPr kumimoji="0" lang="fa-IR" sz="1050" b="1" i="0" u="none" strike="noStrike" kern="1200" cap="none" spc="0" normalizeH="0" baseline="0" noProof="0" dirty="0">
                <a:ln>
                  <a:noFill/>
                </a:ln>
                <a:solidFill>
                  <a:srgbClr val="15296B"/>
                </a:solidFill>
                <a:effectLst/>
                <a:uLnTx/>
                <a:uFillTx/>
                <a:latin typeface="Yekan Bakh FaNum" pitchFamily="2" charset="-78"/>
                <a:ea typeface="+mn-ea"/>
                <a:cs typeface="Yekan Bakh FaNum" pitchFamily="2" charset="-78"/>
              </a:rPr>
              <a:t>مشاوره‌ای/محصولی‌شده</a:t>
            </a:r>
          </a:p>
        </p:txBody>
      </p:sp>
      <p:sp>
        <p:nvSpPr>
          <p:cNvPr id="122" name="Rectangle: Rounded Corners 121">
            <a:extLst>
              <a:ext uri="{FF2B5EF4-FFF2-40B4-BE49-F238E27FC236}">
                <a16:creationId xmlns:a16="http://schemas.microsoft.com/office/drawing/2014/main" id="{46BBF973-F448-2696-5DD5-AE437E9AC16E}"/>
              </a:ext>
            </a:extLst>
          </p:cNvPr>
          <p:cNvSpPr/>
          <p:nvPr/>
        </p:nvSpPr>
        <p:spPr>
          <a:xfrm>
            <a:off x="10538516" y="3848701"/>
            <a:ext cx="705056" cy="528559"/>
          </a:xfrm>
          <a:prstGeom prst="roundRect">
            <a:avLst/>
          </a:prstGeom>
          <a:solidFill>
            <a:srgbClr val="15296B">
              <a:alpha val="20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dirty="0">
              <a:ln>
                <a:noFill/>
              </a:ln>
              <a:solidFill>
                <a:prstClr val="white"/>
              </a:solidFill>
              <a:effectLst/>
              <a:uLnTx/>
              <a:uFillTx/>
              <a:latin typeface="Calibri"/>
              <a:ea typeface="+mn-ea"/>
              <a:cs typeface="Calibri"/>
            </a:endParaRPr>
          </a:p>
        </p:txBody>
      </p:sp>
      <p:sp>
        <p:nvSpPr>
          <p:cNvPr id="123" name="TextBox 122">
            <a:extLst>
              <a:ext uri="{FF2B5EF4-FFF2-40B4-BE49-F238E27FC236}">
                <a16:creationId xmlns:a16="http://schemas.microsoft.com/office/drawing/2014/main" id="{EE085EFD-2252-B733-4C75-9BA6079B6D91}"/>
              </a:ext>
            </a:extLst>
          </p:cNvPr>
          <p:cNvSpPr txBox="1"/>
          <p:nvPr/>
        </p:nvSpPr>
        <p:spPr>
          <a:xfrm>
            <a:off x="10664057" y="3943703"/>
            <a:ext cx="453974" cy="338554"/>
          </a:xfrm>
          <a:prstGeom prst="rect">
            <a:avLst/>
          </a:prstGeom>
          <a:noFill/>
        </p:spPr>
        <p:txBody>
          <a:bodyPr wrap="square"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5296B"/>
                </a:solidFill>
                <a:effectLst/>
                <a:uLnTx/>
                <a:uFillTx/>
                <a:latin typeface="Yekan Bakh" pitchFamily="2" charset="-78"/>
                <a:ea typeface="Yekan Bakh" pitchFamily="2" charset="-78"/>
                <a:cs typeface="Yekan Bakh" pitchFamily="2" charset="-78"/>
              </a:rPr>
              <a:t>C</a:t>
            </a:r>
            <a:endParaRPr kumimoji="0" lang="fa-IR" sz="1600" b="1" i="0" u="none" strike="noStrike" kern="1200" cap="none" spc="0" normalizeH="0" baseline="0" noProof="0" dirty="0">
              <a:ln>
                <a:noFill/>
              </a:ln>
              <a:solidFill>
                <a:srgbClr val="15296B"/>
              </a:solidFill>
              <a:effectLst/>
              <a:uLnTx/>
              <a:uFillTx/>
              <a:latin typeface="Yekan Bakh" pitchFamily="2" charset="-78"/>
              <a:ea typeface="Yekan Bakh" pitchFamily="2" charset="-78"/>
              <a:cs typeface="Yekan Bakh" pitchFamily="2" charset="-78"/>
            </a:endParaRPr>
          </a:p>
        </p:txBody>
      </p:sp>
      <p:sp>
        <p:nvSpPr>
          <p:cNvPr id="124" name="Rectangle: Rounded Corners 123">
            <a:extLst>
              <a:ext uri="{FF2B5EF4-FFF2-40B4-BE49-F238E27FC236}">
                <a16:creationId xmlns:a16="http://schemas.microsoft.com/office/drawing/2014/main" id="{D9BFD1B1-64BD-1FC4-96A1-007E509D283C}"/>
              </a:ext>
            </a:extLst>
          </p:cNvPr>
          <p:cNvSpPr/>
          <p:nvPr/>
        </p:nvSpPr>
        <p:spPr>
          <a:xfrm>
            <a:off x="4548039" y="3848701"/>
            <a:ext cx="3840480" cy="528559"/>
          </a:xfrm>
          <a:prstGeom prst="roundRect">
            <a:avLst/>
          </a:prstGeom>
          <a:solidFill>
            <a:schemeClr val="bg1">
              <a:lumMod val="95000"/>
              <a:alpha val="59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تحلیل اختصاصی «تناسب فرصت» برای صنعت/بازار خاص آن شرکت، بدون تعهد به همکاری بلندمدت</a:t>
            </a:r>
          </a:p>
        </p:txBody>
      </p:sp>
      <p:sp>
        <p:nvSpPr>
          <p:cNvPr id="125" name="Rectangle: Rounded Corners 124">
            <a:extLst>
              <a:ext uri="{FF2B5EF4-FFF2-40B4-BE49-F238E27FC236}">
                <a16:creationId xmlns:a16="http://schemas.microsoft.com/office/drawing/2014/main" id="{73274EF0-6CCF-E8EE-86EE-0434E9F7C7D8}"/>
              </a:ext>
            </a:extLst>
          </p:cNvPr>
          <p:cNvSpPr/>
          <p:nvPr/>
        </p:nvSpPr>
        <p:spPr>
          <a:xfrm>
            <a:off x="459478" y="3848701"/>
            <a:ext cx="3840480" cy="528559"/>
          </a:xfrm>
          <a:prstGeom prst="roundRect">
            <a:avLst/>
          </a:prstGeom>
          <a:solidFill>
            <a:schemeClr val="bg1">
              <a:lumMod val="95000"/>
              <a:alpha val="59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گزارش‌های سفارشی تحقیقات بازار نظیر </a:t>
            </a:r>
            <a:r>
              <a:rPr kumimoji="0" lang="en-US"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Frost &amp; Sullivan </a:t>
            </a:r>
            <a:r>
              <a:rPr kumimoji="0" lang="fa-IR"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a:t>
            </a:r>
          </a:p>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بنچمارک: </a:t>
            </a:r>
            <a:r>
              <a:rPr kumimoji="0" lang="fa-IR"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گزارش تناسب بازار سفارشی </a:t>
            </a:r>
            <a:r>
              <a:rPr kumimoji="0" lang="en-US"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JETRO</a:t>
            </a:r>
            <a:r>
              <a:rPr kumimoji="0" lang="fa-IR"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 برای شرکت‌های در حال بررسی</a:t>
            </a:r>
          </a:p>
        </p:txBody>
      </p:sp>
      <p:sp>
        <p:nvSpPr>
          <p:cNvPr id="126" name="Arrow: Down 125">
            <a:extLst>
              <a:ext uri="{FF2B5EF4-FFF2-40B4-BE49-F238E27FC236}">
                <a16:creationId xmlns:a16="http://schemas.microsoft.com/office/drawing/2014/main" id="{23B8E21C-496F-5E5A-756F-3CBB28E52280}"/>
              </a:ext>
            </a:extLst>
          </p:cNvPr>
          <p:cNvSpPr/>
          <p:nvPr/>
        </p:nvSpPr>
        <p:spPr>
          <a:xfrm rot="5400000">
            <a:off x="8427463" y="4045185"/>
            <a:ext cx="170188" cy="135591"/>
          </a:xfrm>
          <a:prstGeom prst="downArrow">
            <a:avLst/>
          </a:prstGeom>
          <a:solidFill>
            <a:schemeClr val="tx1">
              <a:lumMod val="50000"/>
              <a:lumOff val="50000"/>
              <a:alpha val="1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27" name="Arrow: Down 126">
            <a:extLst>
              <a:ext uri="{FF2B5EF4-FFF2-40B4-BE49-F238E27FC236}">
                <a16:creationId xmlns:a16="http://schemas.microsoft.com/office/drawing/2014/main" id="{42114E42-ED67-2431-B951-8E193E237255}"/>
              </a:ext>
            </a:extLst>
          </p:cNvPr>
          <p:cNvSpPr/>
          <p:nvPr/>
        </p:nvSpPr>
        <p:spPr>
          <a:xfrm rot="5400000">
            <a:off x="4340404" y="4045186"/>
            <a:ext cx="170188" cy="135591"/>
          </a:xfrm>
          <a:prstGeom prst="downArrow">
            <a:avLst/>
          </a:prstGeom>
          <a:solidFill>
            <a:schemeClr val="tx1">
              <a:lumMod val="50000"/>
              <a:lumOff val="50000"/>
              <a:alpha val="1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29" name="Rectangle: Rounded Corners 128">
            <a:extLst>
              <a:ext uri="{FF2B5EF4-FFF2-40B4-BE49-F238E27FC236}">
                <a16:creationId xmlns:a16="http://schemas.microsoft.com/office/drawing/2014/main" id="{BB3804F8-82B0-76A0-9091-72DF31A4AB93}"/>
              </a:ext>
            </a:extLst>
          </p:cNvPr>
          <p:cNvSpPr/>
          <p:nvPr/>
        </p:nvSpPr>
        <p:spPr>
          <a:xfrm>
            <a:off x="8636598" y="4455089"/>
            <a:ext cx="1653837" cy="528559"/>
          </a:xfrm>
          <a:prstGeom prst="roundRect">
            <a:avLst/>
          </a:prstGeom>
          <a:solidFill>
            <a:srgbClr val="F0BE0F">
              <a:alpha val="16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15296B"/>
              </a:solidFill>
              <a:effectLst/>
              <a:uLnTx/>
              <a:uFillTx/>
              <a:latin typeface="Calibri"/>
              <a:ea typeface="+mn-ea"/>
              <a:cs typeface="Calibri"/>
            </a:endParaRPr>
          </a:p>
        </p:txBody>
      </p:sp>
      <p:sp>
        <p:nvSpPr>
          <p:cNvPr id="130" name="TextBox 129">
            <a:extLst>
              <a:ext uri="{FF2B5EF4-FFF2-40B4-BE49-F238E27FC236}">
                <a16:creationId xmlns:a16="http://schemas.microsoft.com/office/drawing/2014/main" id="{A10976F7-6690-EC05-A705-DEBDDC84D1CF}"/>
              </a:ext>
            </a:extLst>
          </p:cNvPr>
          <p:cNvSpPr txBox="1"/>
          <p:nvPr/>
        </p:nvSpPr>
        <p:spPr>
          <a:xfrm>
            <a:off x="8636598" y="4585934"/>
            <a:ext cx="1653837" cy="266868"/>
          </a:xfrm>
          <a:prstGeom prst="rect">
            <a:avLst/>
          </a:prstGeom>
          <a:noFill/>
        </p:spPr>
        <p:txBody>
          <a:bodyPr wrap="square">
            <a:spAutoFit/>
          </a:bodyPr>
          <a:lstStyle/>
          <a:p>
            <a:pPr marL="0" marR="0" lvl="0" indent="0" algn="ctr" defTabSz="457200" rtl="1" eaLnBrk="1" fontAlgn="auto" latinLnBrk="0" hangingPunct="1">
              <a:lnSpc>
                <a:spcPct val="108000"/>
              </a:lnSpc>
              <a:spcBef>
                <a:spcPts val="0"/>
              </a:spcBef>
              <a:spcAft>
                <a:spcPts val="0"/>
              </a:spcAft>
              <a:buClrTx/>
              <a:buSzTx/>
              <a:buFontTx/>
              <a:buNone/>
              <a:tabLst/>
              <a:defRPr/>
            </a:pPr>
            <a:r>
              <a:rPr kumimoji="0" lang="fa-IR" sz="1050" b="1" i="0" u="none" strike="noStrike" kern="1200" cap="none" spc="0" normalizeH="0" baseline="0" noProof="0" dirty="0">
                <a:ln>
                  <a:noFill/>
                </a:ln>
                <a:solidFill>
                  <a:srgbClr val="15296B"/>
                </a:solidFill>
                <a:effectLst/>
                <a:uLnTx/>
                <a:uFillTx/>
                <a:latin typeface="Yekan Bakh FaNum" pitchFamily="2" charset="-78"/>
                <a:ea typeface="+mn-ea"/>
                <a:cs typeface="Yekan Bakh FaNum" pitchFamily="2" charset="-78"/>
              </a:rPr>
              <a:t>مدیریت‌شده+مشارکتی</a:t>
            </a:r>
          </a:p>
        </p:txBody>
      </p:sp>
      <p:sp>
        <p:nvSpPr>
          <p:cNvPr id="131" name="Rectangle: Rounded Corners 130">
            <a:extLst>
              <a:ext uri="{FF2B5EF4-FFF2-40B4-BE49-F238E27FC236}">
                <a16:creationId xmlns:a16="http://schemas.microsoft.com/office/drawing/2014/main" id="{F51DE207-77F2-571A-B4FD-6DB20ED9AF5B}"/>
              </a:ext>
            </a:extLst>
          </p:cNvPr>
          <p:cNvSpPr/>
          <p:nvPr/>
        </p:nvSpPr>
        <p:spPr>
          <a:xfrm>
            <a:off x="10538516" y="4455089"/>
            <a:ext cx="705056" cy="528559"/>
          </a:xfrm>
          <a:prstGeom prst="roundRect">
            <a:avLst/>
          </a:prstGeom>
          <a:solidFill>
            <a:srgbClr val="15296B">
              <a:alpha val="40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dirty="0">
              <a:ln>
                <a:noFill/>
              </a:ln>
              <a:solidFill>
                <a:srgbClr val="15296B"/>
              </a:solidFill>
              <a:effectLst/>
              <a:uLnTx/>
              <a:uFillTx/>
              <a:latin typeface="Calibri"/>
              <a:ea typeface="+mn-ea"/>
              <a:cs typeface="Calibri"/>
            </a:endParaRPr>
          </a:p>
        </p:txBody>
      </p:sp>
      <p:sp>
        <p:nvSpPr>
          <p:cNvPr id="132" name="TextBox 131">
            <a:extLst>
              <a:ext uri="{FF2B5EF4-FFF2-40B4-BE49-F238E27FC236}">
                <a16:creationId xmlns:a16="http://schemas.microsoft.com/office/drawing/2014/main" id="{99240B29-E587-C5A1-0CD6-4077E3213071}"/>
              </a:ext>
            </a:extLst>
          </p:cNvPr>
          <p:cNvSpPr txBox="1"/>
          <p:nvPr/>
        </p:nvSpPr>
        <p:spPr>
          <a:xfrm>
            <a:off x="10664057" y="4550091"/>
            <a:ext cx="453974" cy="338554"/>
          </a:xfrm>
          <a:prstGeom prst="rect">
            <a:avLst/>
          </a:prstGeom>
          <a:noFill/>
        </p:spPr>
        <p:txBody>
          <a:bodyPr wrap="square"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D</a:t>
            </a:r>
            <a:endParaRPr kumimoji="0" lang="fa-IR" sz="16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sp>
        <p:nvSpPr>
          <p:cNvPr id="133" name="Rectangle: Rounded Corners 132">
            <a:extLst>
              <a:ext uri="{FF2B5EF4-FFF2-40B4-BE49-F238E27FC236}">
                <a16:creationId xmlns:a16="http://schemas.microsoft.com/office/drawing/2014/main" id="{CFCF56B9-A2A5-02D2-8983-3713C64AF70B}"/>
              </a:ext>
            </a:extLst>
          </p:cNvPr>
          <p:cNvSpPr/>
          <p:nvPr/>
        </p:nvSpPr>
        <p:spPr>
          <a:xfrm>
            <a:off x="4548039" y="4455089"/>
            <a:ext cx="3840480" cy="528559"/>
          </a:xfrm>
          <a:prstGeom prst="roundRect">
            <a:avLst/>
          </a:prstGeom>
          <a:solidFill>
            <a:schemeClr val="bg1">
              <a:lumMod val="95000"/>
              <a:alpha val="59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برنامه ساختاریافته عضویت با گزارش‌های مرحله‌ای</a:t>
            </a:r>
            <a:r>
              <a:rPr kumimoji="0" lang="en-US" sz="9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Gated) </a:t>
            </a:r>
            <a:r>
              <a:rPr kumimoji="0" lang="fa-IR" sz="9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 تا آماده تعهد شود — کاربرد محدودتر برای این پرسونا</a:t>
            </a:r>
          </a:p>
        </p:txBody>
      </p:sp>
      <p:sp>
        <p:nvSpPr>
          <p:cNvPr id="134" name="Rectangle: Rounded Corners 133">
            <a:extLst>
              <a:ext uri="{FF2B5EF4-FFF2-40B4-BE49-F238E27FC236}">
                <a16:creationId xmlns:a16="http://schemas.microsoft.com/office/drawing/2014/main" id="{556E0D62-0881-3F36-BC16-69AF877095F0}"/>
              </a:ext>
            </a:extLst>
          </p:cNvPr>
          <p:cNvSpPr/>
          <p:nvPr/>
        </p:nvSpPr>
        <p:spPr>
          <a:xfrm>
            <a:off x="459478" y="4455089"/>
            <a:ext cx="3840480" cy="528559"/>
          </a:xfrm>
          <a:prstGeom prst="roundRect">
            <a:avLst/>
          </a:prstGeom>
          <a:solidFill>
            <a:schemeClr val="bg1">
              <a:lumMod val="95000"/>
              <a:alpha val="59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a:t>
            </a:r>
            <a:endParaRPr kumimoji="0" lang="en-US"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endParaRPr>
          </a:p>
        </p:txBody>
      </p:sp>
      <p:sp>
        <p:nvSpPr>
          <p:cNvPr id="135" name="Arrow: Down 134">
            <a:extLst>
              <a:ext uri="{FF2B5EF4-FFF2-40B4-BE49-F238E27FC236}">
                <a16:creationId xmlns:a16="http://schemas.microsoft.com/office/drawing/2014/main" id="{ADF52A6C-06C3-1FC2-5BC8-4FD21CD35509}"/>
              </a:ext>
            </a:extLst>
          </p:cNvPr>
          <p:cNvSpPr/>
          <p:nvPr/>
        </p:nvSpPr>
        <p:spPr>
          <a:xfrm rot="5400000">
            <a:off x="8427463" y="4651573"/>
            <a:ext cx="170188" cy="135591"/>
          </a:xfrm>
          <a:prstGeom prst="downArrow">
            <a:avLst/>
          </a:prstGeom>
          <a:solidFill>
            <a:schemeClr val="tx1">
              <a:lumMod val="50000"/>
              <a:lumOff val="50000"/>
              <a:alpha val="1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36" name="Arrow: Down 135">
            <a:extLst>
              <a:ext uri="{FF2B5EF4-FFF2-40B4-BE49-F238E27FC236}">
                <a16:creationId xmlns:a16="http://schemas.microsoft.com/office/drawing/2014/main" id="{BB8C5D1A-AFD9-5F7B-B3A1-F871E9C11E06}"/>
              </a:ext>
            </a:extLst>
          </p:cNvPr>
          <p:cNvSpPr/>
          <p:nvPr/>
        </p:nvSpPr>
        <p:spPr>
          <a:xfrm rot="5400000">
            <a:off x="4340404" y="4651574"/>
            <a:ext cx="170188" cy="135591"/>
          </a:xfrm>
          <a:prstGeom prst="downArrow">
            <a:avLst/>
          </a:prstGeom>
          <a:solidFill>
            <a:schemeClr val="tx1">
              <a:lumMod val="50000"/>
              <a:lumOff val="50000"/>
              <a:alpha val="1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38" name="Rectangle: Rounded Corners 137">
            <a:extLst>
              <a:ext uri="{FF2B5EF4-FFF2-40B4-BE49-F238E27FC236}">
                <a16:creationId xmlns:a16="http://schemas.microsoft.com/office/drawing/2014/main" id="{326FEE8B-9C15-3388-5CC8-A3DB175B7870}"/>
              </a:ext>
            </a:extLst>
          </p:cNvPr>
          <p:cNvSpPr/>
          <p:nvPr/>
        </p:nvSpPr>
        <p:spPr>
          <a:xfrm>
            <a:off x="8636598" y="5061476"/>
            <a:ext cx="1653837" cy="528559"/>
          </a:xfrm>
          <a:prstGeom prst="roundRect">
            <a:avLst/>
          </a:prstGeom>
          <a:solidFill>
            <a:srgbClr val="F0BE0F">
              <a:alpha val="16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15296B"/>
              </a:solidFill>
              <a:effectLst/>
              <a:uLnTx/>
              <a:uFillTx/>
              <a:latin typeface="Calibri"/>
              <a:ea typeface="+mn-ea"/>
              <a:cs typeface="Calibri"/>
            </a:endParaRPr>
          </a:p>
        </p:txBody>
      </p:sp>
      <p:sp>
        <p:nvSpPr>
          <p:cNvPr id="139" name="TextBox 138">
            <a:extLst>
              <a:ext uri="{FF2B5EF4-FFF2-40B4-BE49-F238E27FC236}">
                <a16:creationId xmlns:a16="http://schemas.microsoft.com/office/drawing/2014/main" id="{901CD36E-5516-189A-7CCF-65228B53126C}"/>
              </a:ext>
            </a:extLst>
          </p:cNvPr>
          <p:cNvSpPr txBox="1"/>
          <p:nvPr/>
        </p:nvSpPr>
        <p:spPr>
          <a:xfrm>
            <a:off x="8636598" y="5192321"/>
            <a:ext cx="1653837" cy="266868"/>
          </a:xfrm>
          <a:prstGeom prst="rect">
            <a:avLst/>
          </a:prstGeom>
          <a:noFill/>
        </p:spPr>
        <p:txBody>
          <a:bodyPr wrap="square">
            <a:spAutoFit/>
          </a:bodyPr>
          <a:lstStyle/>
          <a:p>
            <a:pPr marL="0" marR="0" lvl="0" indent="0" algn="ctr" defTabSz="457200" rtl="1" eaLnBrk="1" fontAlgn="auto" latinLnBrk="0" hangingPunct="1">
              <a:lnSpc>
                <a:spcPct val="108000"/>
              </a:lnSpc>
              <a:spcBef>
                <a:spcPts val="0"/>
              </a:spcBef>
              <a:spcAft>
                <a:spcPts val="0"/>
              </a:spcAft>
              <a:buClrTx/>
              <a:buSzTx/>
              <a:buFontTx/>
              <a:buNone/>
              <a:tabLst/>
              <a:defRPr/>
            </a:pPr>
            <a:r>
              <a:rPr kumimoji="0" lang="fa-IR" sz="1050" b="1" i="0" u="none" strike="noStrike" kern="1200" cap="none" spc="0" normalizeH="0" baseline="0" noProof="0" dirty="0">
                <a:ln>
                  <a:noFill/>
                </a:ln>
                <a:solidFill>
                  <a:srgbClr val="15296B"/>
                </a:solidFill>
                <a:effectLst/>
                <a:uLnTx/>
                <a:uFillTx/>
                <a:latin typeface="Yekan Bakh FaNum" pitchFamily="2" charset="-78"/>
                <a:ea typeface="+mn-ea"/>
                <a:cs typeface="Yekan Bakh FaNum" pitchFamily="2" charset="-78"/>
              </a:rPr>
              <a:t>-</a:t>
            </a:r>
          </a:p>
        </p:txBody>
      </p:sp>
      <p:sp>
        <p:nvSpPr>
          <p:cNvPr id="140" name="Rectangle: Rounded Corners 139">
            <a:extLst>
              <a:ext uri="{FF2B5EF4-FFF2-40B4-BE49-F238E27FC236}">
                <a16:creationId xmlns:a16="http://schemas.microsoft.com/office/drawing/2014/main" id="{F301D9C2-2CD1-9BCC-29E9-E01A53150992}"/>
              </a:ext>
            </a:extLst>
          </p:cNvPr>
          <p:cNvSpPr/>
          <p:nvPr/>
        </p:nvSpPr>
        <p:spPr>
          <a:xfrm>
            <a:off x="10538516" y="5061476"/>
            <a:ext cx="705056" cy="528559"/>
          </a:xfrm>
          <a:prstGeom prst="round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dirty="0">
              <a:ln>
                <a:noFill/>
              </a:ln>
              <a:solidFill>
                <a:srgbClr val="15296B"/>
              </a:solidFill>
              <a:effectLst/>
              <a:uLnTx/>
              <a:uFillTx/>
              <a:latin typeface="Calibri"/>
              <a:ea typeface="+mn-ea"/>
              <a:cs typeface="Calibri"/>
            </a:endParaRPr>
          </a:p>
        </p:txBody>
      </p:sp>
      <p:sp>
        <p:nvSpPr>
          <p:cNvPr id="141" name="TextBox 140">
            <a:extLst>
              <a:ext uri="{FF2B5EF4-FFF2-40B4-BE49-F238E27FC236}">
                <a16:creationId xmlns:a16="http://schemas.microsoft.com/office/drawing/2014/main" id="{BACB158F-8AAB-EA97-30CD-DB0BCEB6D30B}"/>
              </a:ext>
            </a:extLst>
          </p:cNvPr>
          <p:cNvSpPr txBox="1"/>
          <p:nvPr/>
        </p:nvSpPr>
        <p:spPr>
          <a:xfrm>
            <a:off x="10664057" y="5156478"/>
            <a:ext cx="453974" cy="338554"/>
          </a:xfrm>
          <a:prstGeom prst="rect">
            <a:avLst/>
          </a:prstGeom>
          <a:noFill/>
        </p:spPr>
        <p:txBody>
          <a:bodyPr wrap="square"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5296B"/>
                </a:solidFill>
                <a:effectLst/>
                <a:uLnTx/>
                <a:uFillTx/>
                <a:latin typeface="Yekan Bakh" pitchFamily="2" charset="-78"/>
                <a:ea typeface="Yekan Bakh" pitchFamily="2" charset="-78"/>
                <a:cs typeface="Yekan Bakh" pitchFamily="2" charset="-78"/>
              </a:rPr>
              <a:t>E</a:t>
            </a:r>
            <a:endParaRPr kumimoji="0" lang="fa-IR" sz="1600" b="1" i="0" u="none" strike="noStrike" kern="1200" cap="none" spc="0" normalizeH="0" baseline="0" noProof="0" dirty="0">
              <a:ln>
                <a:noFill/>
              </a:ln>
              <a:solidFill>
                <a:srgbClr val="15296B"/>
              </a:solidFill>
              <a:effectLst/>
              <a:uLnTx/>
              <a:uFillTx/>
              <a:latin typeface="Yekan Bakh" pitchFamily="2" charset="-78"/>
              <a:ea typeface="Yekan Bakh" pitchFamily="2" charset="-78"/>
              <a:cs typeface="Yekan Bakh" pitchFamily="2" charset="-78"/>
            </a:endParaRPr>
          </a:p>
        </p:txBody>
      </p:sp>
      <p:sp>
        <p:nvSpPr>
          <p:cNvPr id="142" name="Rectangle: Rounded Corners 141">
            <a:extLst>
              <a:ext uri="{FF2B5EF4-FFF2-40B4-BE49-F238E27FC236}">
                <a16:creationId xmlns:a16="http://schemas.microsoft.com/office/drawing/2014/main" id="{AB01F0DE-7290-2BBF-31EB-F014527A608E}"/>
              </a:ext>
            </a:extLst>
          </p:cNvPr>
          <p:cNvSpPr/>
          <p:nvPr/>
        </p:nvSpPr>
        <p:spPr>
          <a:xfrm>
            <a:off x="4548039" y="5061476"/>
            <a:ext cx="3840480" cy="528559"/>
          </a:xfrm>
          <a:prstGeom prst="roundRect">
            <a:avLst/>
          </a:prstGeom>
          <a:solidFill>
            <a:schemeClr val="bg1">
              <a:lumMod val="95000"/>
              <a:alpha val="59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معمولاً کاربرد ندارد در این مرحله؛ اگر علاقه او به سرمایه‌گذاری/مشارکت بلندمدت جدی شود، مسیر طبیعی عبور از این پرسونا به پرسونای «تراز خارجی» یا «سرمایه‌گذار» است</a:t>
            </a:r>
          </a:p>
        </p:txBody>
      </p:sp>
      <p:sp>
        <p:nvSpPr>
          <p:cNvPr id="143" name="Rectangle: Rounded Corners 142">
            <a:extLst>
              <a:ext uri="{FF2B5EF4-FFF2-40B4-BE49-F238E27FC236}">
                <a16:creationId xmlns:a16="http://schemas.microsoft.com/office/drawing/2014/main" id="{402C2EA1-0D8C-F0CF-CEDF-7E72ED8D18DB}"/>
              </a:ext>
            </a:extLst>
          </p:cNvPr>
          <p:cNvSpPr/>
          <p:nvPr/>
        </p:nvSpPr>
        <p:spPr>
          <a:xfrm>
            <a:off x="459478" y="5061476"/>
            <a:ext cx="3840480" cy="528559"/>
          </a:xfrm>
          <a:prstGeom prst="roundRect">
            <a:avLst/>
          </a:prstGeom>
          <a:solidFill>
            <a:schemeClr val="bg1">
              <a:lumMod val="95000"/>
              <a:alpha val="59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کاربرد اکنون محدود</a:t>
            </a:r>
          </a:p>
        </p:txBody>
      </p:sp>
      <p:sp>
        <p:nvSpPr>
          <p:cNvPr id="144" name="Arrow: Down 143">
            <a:extLst>
              <a:ext uri="{FF2B5EF4-FFF2-40B4-BE49-F238E27FC236}">
                <a16:creationId xmlns:a16="http://schemas.microsoft.com/office/drawing/2014/main" id="{AA84DECB-31E9-ABC6-5D54-B475C5DA29DE}"/>
              </a:ext>
            </a:extLst>
          </p:cNvPr>
          <p:cNvSpPr/>
          <p:nvPr/>
        </p:nvSpPr>
        <p:spPr>
          <a:xfrm rot="5400000">
            <a:off x="8427463" y="5257960"/>
            <a:ext cx="170188" cy="135591"/>
          </a:xfrm>
          <a:prstGeom prst="downArrow">
            <a:avLst/>
          </a:prstGeom>
          <a:solidFill>
            <a:schemeClr val="tx1">
              <a:lumMod val="50000"/>
              <a:lumOff val="50000"/>
              <a:alpha val="1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45" name="Arrow: Down 144">
            <a:extLst>
              <a:ext uri="{FF2B5EF4-FFF2-40B4-BE49-F238E27FC236}">
                <a16:creationId xmlns:a16="http://schemas.microsoft.com/office/drawing/2014/main" id="{3ED9FC9F-1A13-6143-DB1A-9E7E06519A18}"/>
              </a:ext>
            </a:extLst>
          </p:cNvPr>
          <p:cNvSpPr/>
          <p:nvPr/>
        </p:nvSpPr>
        <p:spPr>
          <a:xfrm rot="5400000">
            <a:off x="4340404" y="5257961"/>
            <a:ext cx="170188" cy="135591"/>
          </a:xfrm>
          <a:prstGeom prst="downArrow">
            <a:avLst/>
          </a:prstGeom>
          <a:solidFill>
            <a:schemeClr val="tx1">
              <a:lumMod val="50000"/>
              <a:lumOff val="50000"/>
              <a:alpha val="1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Tree>
    <p:extLst>
      <p:ext uri="{BB962C8B-B14F-4D97-AF65-F5344CB8AC3E}">
        <p14:creationId xmlns:p14="http://schemas.microsoft.com/office/powerpoint/2010/main" val="1726869037"/>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9D0BDA-DEDC-706D-65A5-B2B39F73B61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EC9E95A-49BA-8D80-156D-4937AFAB98FF}"/>
              </a:ext>
            </a:extLst>
          </p:cNvPr>
          <p:cNvSpPr>
            <a:spLocks noGrp="1"/>
          </p:cNvSpPr>
          <p:nvPr>
            <p:ph type="body" sz="quarter" idx="10"/>
          </p:nvPr>
        </p:nvSpPr>
        <p:spPr/>
        <p:txBody>
          <a:bodyPr/>
          <a:lstStyle/>
          <a:p>
            <a:r>
              <a:rPr lang="fa-IR" dirty="0"/>
              <a:t>۷. تخصیص رابطه — پرسونا 5 از ۶ — خالق کسب‌وکار</a:t>
            </a:r>
            <a:endParaRPr lang="en-GB" dirty="0"/>
          </a:p>
        </p:txBody>
      </p:sp>
      <p:sp>
        <p:nvSpPr>
          <p:cNvPr id="3" name="Text Placeholder 2">
            <a:extLst>
              <a:ext uri="{FF2B5EF4-FFF2-40B4-BE49-F238E27FC236}">
                <a16:creationId xmlns:a16="http://schemas.microsoft.com/office/drawing/2014/main" id="{B669ACC5-9004-9B26-7A82-2305A2BCE8C0}"/>
              </a:ext>
            </a:extLst>
          </p:cNvPr>
          <p:cNvSpPr>
            <a:spLocks noGrp="1"/>
          </p:cNvSpPr>
          <p:nvPr>
            <p:ph type="body" sz="quarter" idx="12"/>
          </p:nvPr>
        </p:nvSpPr>
        <p:spPr/>
        <p:txBody>
          <a:bodyPr/>
          <a:lstStyle/>
          <a:p>
            <a:r>
              <a:rPr lang="fa-IR" dirty="0"/>
              <a:t>هسته این پرسونا در ناحیه</a:t>
            </a:r>
            <a:r>
              <a:rPr lang="en-US" dirty="0"/>
              <a:t>D </a:t>
            </a:r>
            <a:r>
              <a:rPr lang="fa-IR" dirty="0"/>
              <a:t> است — ساخت مشترک با کارمزد و سهام؛ ناحیه</a:t>
            </a:r>
            <a:r>
              <a:rPr lang="en-US" dirty="0"/>
              <a:t>E </a:t>
            </a:r>
            <a:r>
              <a:rPr lang="fa-IR" dirty="0"/>
              <a:t> یعنی ونچر به دارایی پرتفوی راهبردی تبدیل شود</a:t>
            </a:r>
          </a:p>
        </p:txBody>
      </p:sp>
      <p:sp>
        <p:nvSpPr>
          <p:cNvPr id="4" name="Rectangle: Rounded Corners 3">
            <a:extLst>
              <a:ext uri="{FF2B5EF4-FFF2-40B4-BE49-F238E27FC236}">
                <a16:creationId xmlns:a16="http://schemas.microsoft.com/office/drawing/2014/main" id="{55B31F6F-3F75-F736-83E5-2274F9377532}"/>
              </a:ext>
            </a:extLst>
          </p:cNvPr>
          <p:cNvSpPr/>
          <p:nvPr/>
        </p:nvSpPr>
        <p:spPr>
          <a:xfrm>
            <a:off x="10498755" y="1440259"/>
            <a:ext cx="744817" cy="577516"/>
          </a:xfrm>
          <a:prstGeom prst="roundRect">
            <a:avLst/>
          </a:prstGeom>
          <a:solidFill>
            <a:srgbClr val="15296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نیاز محوری</a:t>
            </a:r>
            <a:endParaRPr kumimoji="0" lang="en-GB" sz="105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sp>
        <p:nvSpPr>
          <p:cNvPr id="5" name="Isosceles Triangle 4">
            <a:extLst>
              <a:ext uri="{FF2B5EF4-FFF2-40B4-BE49-F238E27FC236}">
                <a16:creationId xmlns:a16="http://schemas.microsoft.com/office/drawing/2014/main" id="{F69E451C-777C-B272-E446-E3189E079AE5}"/>
              </a:ext>
            </a:extLst>
          </p:cNvPr>
          <p:cNvSpPr/>
          <p:nvPr/>
        </p:nvSpPr>
        <p:spPr>
          <a:xfrm rot="16200000">
            <a:off x="10127842" y="1675364"/>
            <a:ext cx="577516" cy="107305"/>
          </a:xfrm>
          <a:prstGeom prst="triangle">
            <a:avLst/>
          </a:prstGeom>
          <a:solidFill>
            <a:srgbClr val="F0BE0F">
              <a:alpha val="5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6" name="Rectangle: Rounded Corners 5">
            <a:extLst>
              <a:ext uri="{FF2B5EF4-FFF2-40B4-BE49-F238E27FC236}">
                <a16:creationId xmlns:a16="http://schemas.microsoft.com/office/drawing/2014/main" id="{4AEE4E39-5FE3-E9C5-8961-9B5DB65D25E0}"/>
              </a:ext>
            </a:extLst>
          </p:cNvPr>
          <p:cNvSpPr/>
          <p:nvPr/>
        </p:nvSpPr>
        <p:spPr>
          <a:xfrm>
            <a:off x="5940763" y="1440259"/>
            <a:ext cx="4393682" cy="577516"/>
          </a:xfrm>
          <a:prstGeom prst="roundRect">
            <a:avLst/>
          </a:prstGeom>
          <a:noFill/>
          <a:ln w="6350">
            <a:solidFill>
              <a:srgbClr val="004D80">
                <a:alpha val="46000"/>
              </a:srgb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تبدیل دارایی خفته (دسترسی، مجوز، برند، فناوری، سرمایه) به کسب‌وکار</a:t>
            </a:r>
          </a:p>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از طریق مشارکت</a:t>
            </a:r>
            <a:endParaRPr kumimoji="0" lang="en-GB" sz="10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9" name="Rectangle: Rounded Corners 8">
            <a:extLst>
              <a:ext uri="{FF2B5EF4-FFF2-40B4-BE49-F238E27FC236}">
                <a16:creationId xmlns:a16="http://schemas.microsoft.com/office/drawing/2014/main" id="{A0728C07-1469-7F28-6E14-8C9E1DC64DE9}"/>
              </a:ext>
            </a:extLst>
          </p:cNvPr>
          <p:cNvSpPr/>
          <p:nvPr/>
        </p:nvSpPr>
        <p:spPr>
          <a:xfrm>
            <a:off x="5017471" y="1440259"/>
            <a:ext cx="744817" cy="577516"/>
          </a:xfrm>
          <a:prstGeom prst="round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رفتار</a:t>
            </a:r>
            <a:endParaRPr kumimoji="0" lang="en-GB" sz="105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sp>
        <p:nvSpPr>
          <p:cNvPr id="10" name="Isosceles Triangle 9">
            <a:extLst>
              <a:ext uri="{FF2B5EF4-FFF2-40B4-BE49-F238E27FC236}">
                <a16:creationId xmlns:a16="http://schemas.microsoft.com/office/drawing/2014/main" id="{FDCA36FC-05E4-2821-BE0C-4C77C84F514A}"/>
              </a:ext>
            </a:extLst>
          </p:cNvPr>
          <p:cNvSpPr/>
          <p:nvPr/>
        </p:nvSpPr>
        <p:spPr>
          <a:xfrm rot="16200000">
            <a:off x="4646558" y="1675364"/>
            <a:ext cx="577516" cy="107305"/>
          </a:xfrm>
          <a:prstGeom prst="triangle">
            <a:avLst/>
          </a:prstGeom>
          <a:solidFill>
            <a:srgbClr val="F0BE0F">
              <a:alpha val="5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1" name="Rectangle: Rounded Corners 10">
            <a:extLst>
              <a:ext uri="{FF2B5EF4-FFF2-40B4-BE49-F238E27FC236}">
                <a16:creationId xmlns:a16="http://schemas.microsoft.com/office/drawing/2014/main" id="{3AFA6E59-2F44-B544-6D76-FBFD94F78486}"/>
              </a:ext>
            </a:extLst>
          </p:cNvPr>
          <p:cNvSpPr/>
          <p:nvPr/>
        </p:nvSpPr>
        <p:spPr>
          <a:xfrm>
            <a:off x="459479" y="1440259"/>
            <a:ext cx="4393682" cy="577516"/>
          </a:xfrm>
          <a:prstGeom prst="roundRect">
            <a:avLst/>
          </a:prstGeom>
          <a:noFill/>
          <a:ln w="6350">
            <a:solidFill>
              <a:schemeClr val="bg1">
                <a:lumMod val="75000"/>
                <a:alpha val="46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تصمیم هیئت‌مدیره‌ای و مرحله‌ای؛</a:t>
            </a:r>
          </a:p>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طرف مقابل خودِ «اکوسیستم فرصت ایران» است (ونچر بیلدینگ)</a:t>
            </a:r>
            <a:endParaRPr kumimoji="0" lang="en-GB" sz="9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endParaRPr>
          </a:p>
        </p:txBody>
      </p:sp>
      <p:cxnSp>
        <p:nvCxnSpPr>
          <p:cNvPr id="29" name="Straight Connector 28">
            <a:extLst>
              <a:ext uri="{FF2B5EF4-FFF2-40B4-BE49-F238E27FC236}">
                <a16:creationId xmlns:a16="http://schemas.microsoft.com/office/drawing/2014/main" id="{C7D142F6-4529-E4D6-0D2F-8639EDC18AFF}"/>
              </a:ext>
            </a:extLst>
          </p:cNvPr>
          <p:cNvCxnSpPr>
            <a:cxnSpLocks/>
          </p:cNvCxnSpPr>
          <p:nvPr/>
        </p:nvCxnSpPr>
        <p:spPr>
          <a:xfrm>
            <a:off x="8636598" y="2445906"/>
            <a:ext cx="1653837" cy="0"/>
          </a:xfrm>
          <a:prstGeom prst="line">
            <a:avLst/>
          </a:prstGeom>
          <a:ln w="3175">
            <a:solidFill>
              <a:srgbClr val="F0BE0F"/>
            </a:solidFill>
          </a:ln>
        </p:spPr>
        <p:style>
          <a:lnRef idx="1">
            <a:schemeClr val="accent2"/>
          </a:lnRef>
          <a:fillRef idx="0">
            <a:schemeClr val="accent2"/>
          </a:fillRef>
          <a:effectRef idx="0">
            <a:schemeClr val="accent2"/>
          </a:effectRef>
          <a:fontRef idx="minor">
            <a:schemeClr val="tx1"/>
          </a:fontRef>
        </p:style>
      </p:cxnSp>
      <p:sp>
        <p:nvSpPr>
          <p:cNvPr id="14" name="TextBox 13">
            <a:extLst>
              <a:ext uri="{FF2B5EF4-FFF2-40B4-BE49-F238E27FC236}">
                <a16:creationId xmlns:a16="http://schemas.microsoft.com/office/drawing/2014/main" id="{F1951510-7D59-7038-716F-A61B61221138}"/>
              </a:ext>
            </a:extLst>
          </p:cNvPr>
          <p:cNvSpPr txBox="1"/>
          <p:nvPr/>
        </p:nvSpPr>
        <p:spPr>
          <a:xfrm>
            <a:off x="8738779" y="2330490"/>
            <a:ext cx="1449474" cy="230832"/>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rPr>
              <a:t>آرکی‌تایپ رابطه پیشنهادی</a:t>
            </a:r>
          </a:p>
        </p:txBody>
      </p:sp>
      <p:cxnSp>
        <p:nvCxnSpPr>
          <p:cNvPr id="35" name="Straight Connector 34">
            <a:extLst>
              <a:ext uri="{FF2B5EF4-FFF2-40B4-BE49-F238E27FC236}">
                <a16:creationId xmlns:a16="http://schemas.microsoft.com/office/drawing/2014/main" id="{FBAFCA35-E24B-34A4-3880-26AF36DF208D}"/>
              </a:ext>
            </a:extLst>
          </p:cNvPr>
          <p:cNvCxnSpPr>
            <a:cxnSpLocks/>
          </p:cNvCxnSpPr>
          <p:nvPr/>
        </p:nvCxnSpPr>
        <p:spPr>
          <a:xfrm>
            <a:off x="459478" y="2445906"/>
            <a:ext cx="3840480" cy="0"/>
          </a:xfrm>
          <a:prstGeom prst="line">
            <a:avLst/>
          </a:prstGeom>
          <a:ln w="3175">
            <a:solidFill>
              <a:schemeClr val="bg1">
                <a:lumMod val="85000"/>
              </a:schemeClr>
            </a:solidFill>
          </a:ln>
        </p:spPr>
        <p:style>
          <a:lnRef idx="1">
            <a:schemeClr val="accent2"/>
          </a:lnRef>
          <a:fillRef idx="0">
            <a:schemeClr val="accent2"/>
          </a:fillRef>
          <a:effectRef idx="0">
            <a:schemeClr val="accent2"/>
          </a:effectRef>
          <a:fontRef idx="minor">
            <a:schemeClr val="tx1"/>
          </a:fontRef>
        </p:style>
      </p:cxnSp>
      <p:sp>
        <p:nvSpPr>
          <p:cNvPr id="36" name="TextBox 35">
            <a:extLst>
              <a:ext uri="{FF2B5EF4-FFF2-40B4-BE49-F238E27FC236}">
                <a16:creationId xmlns:a16="http://schemas.microsoft.com/office/drawing/2014/main" id="{2B2ED280-C97A-B697-01ED-D478F5B16BD4}"/>
              </a:ext>
            </a:extLst>
          </p:cNvPr>
          <p:cNvSpPr txBox="1"/>
          <p:nvPr/>
        </p:nvSpPr>
        <p:spPr>
          <a:xfrm>
            <a:off x="1464417" y="2330490"/>
            <a:ext cx="1830602" cy="230832"/>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rPr>
              <a:t>مثال جهانی و بنچمارک برون‌مرزی</a:t>
            </a:r>
          </a:p>
        </p:txBody>
      </p:sp>
      <p:cxnSp>
        <p:nvCxnSpPr>
          <p:cNvPr id="43" name="Straight Connector 42">
            <a:extLst>
              <a:ext uri="{FF2B5EF4-FFF2-40B4-BE49-F238E27FC236}">
                <a16:creationId xmlns:a16="http://schemas.microsoft.com/office/drawing/2014/main" id="{711588AC-BB78-A3D3-D62D-9C251C99572E}"/>
              </a:ext>
            </a:extLst>
          </p:cNvPr>
          <p:cNvCxnSpPr>
            <a:cxnSpLocks/>
          </p:cNvCxnSpPr>
          <p:nvPr/>
        </p:nvCxnSpPr>
        <p:spPr>
          <a:xfrm>
            <a:off x="4548038" y="2445906"/>
            <a:ext cx="3840480" cy="0"/>
          </a:xfrm>
          <a:prstGeom prst="line">
            <a:avLst/>
          </a:prstGeom>
          <a:ln w="3175">
            <a:solidFill>
              <a:schemeClr val="bg1">
                <a:lumMod val="85000"/>
              </a:schemeClr>
            </a:solidFill>
          </a:ln>
        </p:spPr>
        <p:style>
          <a:lnRef idx="1">
            <a:schemeClr val="accent2"/>
          </a:lnRef>
          <a:fillRef idx="0">
            <a:schemeClr val="accent2"/>
          </a:fillRef>
          <a:effectRef idx="0">
            <a:schemeClr val="accent2"/>
          </a:effectRef>
          <a:fontRef idx="minor">
            <a:schemeClr val="tx1"/>
          </a:fontRef>
        </p:style>
      </p:cxnSp>
      <p:sp>
        <p:nvSpPr>
          <p:cNvPr id="44" name="TextBox 43">
            <a:extLst>
              <a:ext uri="{FF2B5EF4-FFF2-40B4-BE49-F238E27FC236}">
                <a16:creationId xmlns:a16="http://schemas.microsoft.com/office/drawing/2014/main" id="{212CA973-724E-5D6A-65C7-2DAF199EF5EC}"/>
              </a:ext>
            </a:extLst>
          </p:cNvPr>
          <p:cNvSpPr txBox="1"/>
          <p:nvPr/>
        </p:nvSpPr>
        <p:spPr>
          <a:xfrm>
            <a:off x="5552977" y="2330490"/>
            <a:ext cx="1830602" cy="230832"/>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rPr>
              <a:t>کاربرد در اکوسیستم فرصت ایران</a:t>
            </a:r>
          </a:p>
        </p:txBody>
      </p:sp>
      <p:cxnSp>
        <p:nvCxnSpPr>
          <p:cNvPr id="47" name="Straight Connector 46">
            <a:extLst>
              <a:ext uri="{FF2B5EF4-FFF2-40B4-BE49-F238E27FC236}">
                <a16:creationId xmlns:a16="http://schemas.microsoft.com/office/drawing/2014/main" id="{D3059532-2F17-73BA-DAB4-A864027BA426}"/>
              </a:ext>
            </a:extLst>
          </p:cNvPr>
          <p:cNvCxnSpPr>
            <a:cxnSpLocks/>
          </p:cNvCxnSpPr>
          <p:nvPr/>
        </p:nvCxnSpPr>
        <p:spPr>
          <a:xfrm>
            <a:off x="10538516" y="2445906"/>
            <a:ext cx="705056" cy="0"/>
          </a:xfrm>
          <a:prstGeom prst="line">
            <a:avLst/>
          </a:prstGeom>
          <a:ln w="3175">
            <a:solidFill>
              <a:srgbClr val="004D80"/>
            </a:solidFill>
          </a:ln>
        </p:spPr>
        <p:style>
          <a:lnRef idx="1">
            <a:schemeClr val="accent2"/>
          </a:lnRef>
          <a:fillRef idx="0">
            <a:schemeClr val="accent2"/>
          </a:fillRef>
          <a:effectRef idx="0">
            <a:schemeClr val="accent2"/>
          </a:effectRef>
          <a:fontRef idx="minor">
            <a:schemeClr val="tx1"/>
          </a:fontRef>
        </p:style>
      </p:cxnSp>
      <p:sp>
        <p:nvSpPr>
          <p:cNvPr id="48" name="TextBox 47">
            <a:extLst>
              <a:ext uri="{FF2B5EF4-FFF2-40B4-BE49-F238E27FC236}">
                <a16:creationId xmlns:a16="http://schemas.microsoft.com/office/drawing/2014/main" id="{497D88AD-0846-A637-560D-44FF5168C2A0}"/>
              </a:ext>
            </a:extLst>
          </p:cNvPr>
          <p:cNvSpPr txBox="1"/>
          <p:nvPr/>
        </p:nvSpPr>
        <p:spPr>
          <a:xfrm>
            <a:off x="10655211" y="2330490"/>
            <a:ext cx="471667" cy="230832"/>
          </a:xfrm>
          <a:prstGeom prst="rect">
            <a:avLst/>
          </a:prstGeom>
          <a:solidFill>
            <a:schemeClr val="bg1"/>
          </a:solidFill>
          <a:ln>
            <a:noFill/>
          </a:ln>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rPr>
              <a:t>ناحیه</a:t>
            </a:r>
          </a:p>
        </p:txBody>
      </p:sp>
      <p:sp>
        <p:nvSpPr>
          <p:cNvPr id="18" name="Rectangle: Rounded Corners 17">
            <a:extLst>
              <a:ext uri="{FF2B5EF4-FFF2-40B4-BE49-F238E27FC236}">
                <a16:creationId xmlns:a16="http://schemas.microsoft.com/office/drawing/2014/main" id="{C63F1422-D517-C508-ECAF-0AEF3226FD4E}"/>
              </a:ext>
            </a:extLst>
          </p:cNvPr>
          <p:cNvSpPr/>
          <p:nvPr/>
        </p:nvSpPr>
        <p:spPr>
          <a:xfrm>
            <a:off x="8636598" y="2635925"/>
            <a:ext cx="1653837" cy="528559"/>
          </a:xfrm>
          <a:prstGeom prst="roundRect">
            <a:avLst/>
          </a:prstGeom>
          <a:solidFill>
            <a:srgbClr val="F0BE0F">
              <a:alpha val="16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15296B"/>
              </a:solidFill>
              <a:effectLst/>
              <a:uLnTx/>
              <a:uFillTx/>
              <a:latin typeface="Calibri"/>
              <a:ea typeface="+mn-ea"/>
              <a:cs typeface="Calibri"/>
            </a:endParaRPr>
          </a:p>
        </p:txBody>
      </p:sp>
      <p:sp>
        <p:nvSpPr>
          <p:cNvPr id="22" name="TextBox 21">
            <a:extLst>
              <a:ext uri="{FF2B5EF4-FFF2-40B4-BE49-F238E27FC236}">
                <a16:creationId xmlns:a16="http://schemas.microsoft.com/office/drawing/2014/main" id="{EFB0D68B-1138-F7E7-30BA-97B934EE4E63}"/>
              </a:ext>
            </a:extLst>
          </p:cNvPr>
          <p:cNvSpPr txBox="1"/>
          <p:nvPr/>
        </p:nvSpPr>
        <p:spPr>
          <a:xfrm>
            <a:off x="8636598" y="2766770"/>
            <a:ext cx="1653837" cy="266868"/>
          </a:xfrm>
          <a:prstGeom prst="rect">
            <a:avLst/>
          </a:prstGeom>
          <a:noFill/>
        </p:spPr>
        <p:txBody>
          <a:bodyPr wrap="square">
            <a:spAutoFit/>
          </a:bodyPr>
          <a:lstStyle/>
          <a:p>
            <a:pPr marL="0" marR="0" lvl="0" indent="0" algn="ctr" defTabSz="457200" rtl="1" eaLnBrk="1" fontAlgn="auto" latinLnBrk="0" hangingPunct="1">
              <a:lnSpc>
                <a:spcPct val="108000"/>
              </a:lnSpc>
              <a:spcBef>
                <a:spcPts val="0"/>
              </a:spcBef>
              <a:spcAft>
                <a:spcPts val="0"/>
              </a:spcAft>
              <a:buClrTx/>
              <a:buSzTx/>
              <a:buFontTx/>
              <a:buNone/>
              <a:tabLst/>
              <a:defRPr/>
            </a:pPr>
            <a:r>
              <a:rPr kumimoji="0" lang="fa-IR" sz="1050" b="1" i="0" u="none" strike="noStrike" kern="1200" cap="none" spc="0" normalizeH="0" baseline="0" noProof="0" dirty="0">
                <a:ln>
                  <a:noFill/>
                </a:ln>
                <a:solidFill>
                  <a:srgbClr val="15296B"/>
                </a:solidFill>
                <a:effectLst/>
                <a:uLnTx/>
                <a:uFillTx/>
                <a:latin typeface="Yekan Bakh FaNum" pitchFamily="2" charset="-78"/>
                <a:ea typeface="+mn-ea"/>
                <a:cs typeface="Yekan Bakh FaNum" pitchFamily="2" charset="-78"/>
              </a:rPr>
              <a:t>تراکنشی</a:t>
            </a:r>
          </a:p>
        </p:txBody>
      </p:sp>
      <p:sp>
        <p:nvSpPr>
          <p:cNvPr id="52" name="Rectangle: Rounded Corners 51">
            <a:extLst>
              <a:ext uri="{FF2B5EF4-FFF2-40B4-BE49-F238E27FC236}">
                <a16:creationId xmlns:a16="http://schemas.microsoft.com/office/drawing/2014/main" id="{54355642-65F8-02CF-228C-3311DE58E45C}"/>
              </a:ext>
            </a:extLst>
          </p:cNvPr>
          <p:cNvSpPr/>
          <p:nvPr/>
        </p:nvSpPr>
        <p:spPr>
          <a:xfrm>
            <a:off x="10538516" y="2635925"/>
            <a:ext cx="705056" cy="528559"/>
          </a:xfrm>
          <a:prstGeom prst="roundRect">
            <a:avLst/>
          </a:prstGeom>
          <a:solidFill>
            <a:srgbClr val="EFF3FB"/>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dirty="0">
              <a:ln>
                <a:noFill/>
              </a:ln>
              <a:solidFill>
                <a:srgbClr val="15296B"/>
              </a:solidFill>
              <a:effectLst/>
              <a:uLnTx/>
              <a:uFillTx/>
              <a:latin typeface="Calibri"/>
              <a:ea typeface="+mn-ea"/>
              <a:cs typeface="Calibri"/>
            </a:endParaRPr>
          </a:p>
        </p:txBody>
      </p:sp>
      <p:sp>
        <p:nvSpPr>
          <p:cNvPr id="19" name="TextBox 18">
            <a:extLst>
              <a:ext uri="{FF2B5EF4-FFF2-40B4-BE49-F238E27FC236}">
                <a16:creationId xmlns:a16="http://schemas.microsoft.com/office/drawing/2014/main" id="{DE12593E-0801-4705-44AD-DF8EE6B977B3}"/>
              </a:ext>
            </a:extLst>
          </p:cNvPr>
          <p:cNvSpPr txBox="1"/>
          <p:nvPr/>
        </p:nvSpPr>
        <p:spPr>
          <a:xfrm>
            <a:off x="10664057" y="2730927"/>
            <a:ext cx="453974" cy="338554"/>
          </a:xfrm>
          <a:prstGeom prst="rect">
            <a:avLst/>
          </a:prstGeom>
          <a:noFill/>
        </p:spPr>
        <p:txBody>
          <a:bodyPr wrap="square"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5296B"/>
                </a:solidFill>
                <a:effectLst/>
                <a:uLnTx/>
                <a:uFillTx/>
                <a:latin typeface="Yekan Bakh" pitchFamily="2" charset="-78"/>
                <a:ea typeface="Yekan Bakh" pitchFamily="2" charset="-78"/>
                <a:cs typeface="Yekan Bakh" pitchFamily="2" charset="-78"/>
              </a:rPr>
              <a:t>A</a:t>
            </a:r>
            <a:endParaRPr kumimoji="0" lang="fa-IR" sz="1600" b="1" i="0" u="none" strike="noStrike" kern="1200" cap="none" spc="0" normalizeH="0" baseline="0" noProof="0" dirty="0">
              <a:ln>
                <a:noFill/>
              </a:ln>
              <a:solidFill>
                <a:srgbClr val="15296B"/>
              </a:solidFill>
              <a:effectLst/>
              <a:uLnTx/>
              <a:uFillTx/>
              <a:latin typeface="Yekan Bakh" pitchFamily="2" charset="-78"/>
              <a:ea typeface="Yekan Bakh" pitchFamily="2" charset="-78"/>
              <a:cs typeface="Yekan Bakh" pitchFamily="2" charset="-78"/>
            </a:endParaRPr>
          </a:p>
        </p:txBody>
      </p:sp>
      <p:sp>
        <p:nvSpPr>
          <p:cNvPr id="60" name="Rectangle: Rounded Corners 59">
            <a:extLst>
              <a:ext uri="{FF2B5EF4-FFF2-40B4-BE49-F238E27FC236}">
                <a16:creationId xmlns:a16="http://schemas.microsoft.com/office/drawing/2014/main" id="{D2F47BD2-CC9A-B1DF-C3B3-CFB6DC1A7418}"/>
              </a:ext>
            </a:extLst>
          </p:cNvPr>
          <p:cNvSpPr/>
          <p:nvPr/>
        </p:nvSpPr>
        <p:spPr>
          <a:xfrm>
            <a:off x="4548039" y="2635925"/>
            <a:ext cx="3840480" cy="528559"/>
          </a:xfrm>
          <a:prstGeom prst="roundRect">
            <a:avLst/>
          </a:prstGeom>
          <a:solidFill>
            <a:schemeClr val="bg1">
              <a:lumMod val="95000"/>
              <a:alpha val="59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کاربرد اندک — شاید فقط ارزیابی اولیه رایگان/کم‌هزینه یک ایده ساده از طریق فرم آنلاین</a:t>
            </a:r>
          </a:p>
        </p:txBody>
      </p:sp>
      <p:sp>
        <p:nvSpPr>
          <p:cNvPr id="62" name="Rectangle: Rounded Corners 61">
            <a:extLst>
              <a:ext uri="{FF2B5EF4-FFF2-40B4-BE49-F238E27FC236}">
                <a16:creationId xmlns:a16="http://schemas.microsoft.com/office/drawing/2014/main" id="{AFD6D6C0-245F-6AAD-E03D-24C849222AB1}"/>
              </a:ext>
            </a:extLst>
          </p:cNvPr>
          <p:cNvSpPr/>
          <p:nvPr/>
        </p:nvSpPr>
        <p:spPr>
          <a:xfrm>
            <a:off x="459478" y="2635925"/>
            <a:ext cx="3840480" cy="528559"/>
          </a:xfrm>
          <a:prstGeom prst="roundRect">
            <a:avLst/>
          </a:prstGeom>
          <a:solidFill>
            <a:schemeClr val="bg1">
              <a:lumMod val="95000"/>
              <a:alpha val="59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a:t>
            </a:r>
            <a:endParaRPr kumimoji="0" lang="en-US"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endParaRPr>
          </a:p>
        </p:txBody>
      </p:sp>
      <p:sp>
        <p:nvSpPr>
          <p:cNvPr id="104" name="Arrow: Down 103">
            <a:extLst>
              <a:ext uri="{FF2B5EF4-FFF2-40B4-BE49-F238E27FC236}">
                <a16:creationId xmlns:a16="http://schemas.microsoft.com/office/drawing/2014/main" id="{6C42A360-E4BE-4D23-DAF5-A05E22281D11}"/>
              </a:ext>
            </a:extLst>
          </p:cNvPr>
          <p:cNvSpPr/>
          <p:nvPr/>
        </p:nvSpPr>
        <p:spPr>
          <a:xfrm rot="5400000">
            <a:off x="8427463" y="2832409"/>
            <a:ext cx="170188" cy="135591"/>
          </a:xfrm>
          <a:prstGeom prst="downArrow">
            <a:avLst/>
          </a:prstGeom>
          <a:solidFill>
            <a:schemeClr val="tx1">
              <a:lumMod val="50000"/>
              <a:lumOff val="50000"/>
              <a:alpha val="1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05" name="Arrow: Down 104">
            <a:extLst>
              <a:ext uri="{FF2B5EF4-FFF2-40B4-BE49-F238E27FC236}">
                <a16:creationId xmlns:a16="http://schemas.microsoft.com/office/drawing/2014/main" id="{97B9E3DF-67CF-D6F4-51B9-32A3F3232FFF}"/>
              </a:ext>
            </a:extLst>
          </p:cNvPr>
          <p:cNvSpPr/>
          <p:nvPr/>
        </p:nvSpPr>
        <p:spPr>
          <a:xfrm rot="5400000">
            <a:off x="4340404" y="2832410"/>
            <a:ext cx="170188" cy="135591"/>
          </a:xfrm>
          <a:prstGeom prst="downArrow">
            <a:avLst/>
          </a:prstGeom>
          <a:solidFill>
            <a:schemeClr val="tx1">
              <a:lumMod val="50000"/>
              <a:lumOff val="50000"/>
              <a:alpha val="1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11" name="Rectangle: Rounded Corners 110">
            <a:extLst>
              <a:ext uri="{FF2B5EF4-FFF2-40B4-BE49-F238E27FC236}">
                <a16:creationId xmlns:a16="http://schemas.microsoft.com/office/drawing/2014/main" id="{FC32DEA9-93B1-FFF6-B6F2-22E18A553A9D}"/>
              </a:ext>
            </a:extLst>
          </p:cNvPr>
          <p:cNvSpPr/>
          <p:nvPr/>
        </p:nvSpPr>
        <p:spPr>
          <a:xfrm>
            <a:off x="8636598" y="3242313"/>
            <a:ext cx="1653837" cy="528559"/>
          </a:xfrm>
          <a:prstGeom prst="roundRect">
            <a:avLst/>
          </a:prstGeom>
          <a:solidFill>
            <a:srgbClr val="F0BE0F">
              <a:alpha val="16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15296B"/>
              </a:solidFill>
              <a:effectLst/>
              <a:uLnTx/>
              <a:uFillTx/>
              <a:latin typeface="Calibri"/>
              <a:ea typeface="+mn-ea"/>
              <a:cs typeface="Calibri"/>
            </a:endParaRPr>
          </a:p>
        </p:txBody>
      </p:sp>
      <p:sp>
        <p:nvSpPr>
          <p:cNvPr id="112" name="TextBox 111">
            <a:extLst>
              <a:ext uri="{FF2B5EF4-FFF2-40B4-BE49-F238E27FC236}">
                <a16:creationId xmlns:a16="http://schemas.microsoft.com/office/drawing/2014/main" id="{3D0F2515-3058-F2A3-BD35-B53774C3F523}"/>
              </a:ext>
            </a:extLst>
          </p:cNvPr>
          <p:cNvSpPr txBox="1"/>
          <p:nvPr/>
        </p:nvSpPr>
        <p:spPr>
          <a:xfrm>
            <a:off x="8636598" y="3373158"/>
            <a:ext cx="1653837" cy="266868"/>
          </a:xfrm>
          <a:prstGeom prst="rect">
            <a:avLst/>
          </a:prstGeom>
          <a:noFill/>
        </p:spPr>
        <p:txBody>
          <a:bodyPr wrap="square">
            <a:spAutoFit/>
          </a:bodyPr>
          <a:lstStyle/>
          <a:p>
            <a:pPr marL="0" marR="0" lvl="0" indent="0" algn="ctr" defTabSz="457200" rtl="1" eaLnBrk="1" fontAlgn="auto" latinLnBrk="0" hangingPunct="1">
              <a:lnSpc>
                <a:spcPct val="108000"/>
              </a:lnSpc>
              <a:spcBef>
                <a:spcPts val="0"/>
              </a:spcBef>
              <a:spcAft>
                <a:spcPts val="0"/>
              </a:spcAft>
              <a:buClrTx/>
              <a:buSzTx/>
              <a:buFontTx/>
              <a:buNone/>
              <a:tabLst/>
              <a:defRPr/>
            </a:pPr>
            <a:r>
              <a:rPr kumimoji="0" lang="fa-IR" sz="1050" b="1" i="0" u="none" strike="noStrike" kern="1200" cap="none" spc="0" normalizeH="0" baseline="0" noProof="0" dirty="0">
                <a:ln>
                  <a:noFill/>
                </a:ln>
                <a:solidFill>
                  <a:srgbClr val="15296B"/>
                </a:solidFill>
                <a:effectLst/>
                <a:uLnTx/>
                <a:uFillTx/>
                <a:latin typeface="Yekan Bakh FaNum" pitchFamily="2" charset="-78"/>
                <a:ea typeface="+mn-ea"/>
                <a:cs typeface="Yekan Bakh FaNum" pitchFamily="2" charset="-78"/>
              </a:rPr>
              <a:t>همراه/اختصاصی</a:t>
            </a:r>
          </a:p>
        </p:txBody>
      </p:sp>
      <p:sp>
        <p:nvSpPr>
          <p:cNvPr id="113" name="Rectangle: Rounded Corners 112">
            <a:extLst>
              <a:ext uri="{FF2B5EF4-FFF2-40B4-BE49-F238E27FC236}">
                <a16:creationId xmlns:a16="http://schemas.microsoft.com/office/drawing/2014/main" id="{BF6C64B6-50DD-EEAD-30FF-253C350277B9}"/>
              </a:ext>
            </a:extLst>
          </p:cNvPr>
          <p:cNvSpPr/>
          <p:nvPr/>
        </p:nvSpPr>
        <p:spPr>
          <a:xfrm>
            <a:off x="10538516" y="3242313"/>
            <a:ext cx="705056" cy="528559"/>
          </a:xfrm>
          <a:prstGeom prst="roundRect">
            <a:avLst/>
          </a:prstGeom>
          <a:solidFill>
            <a:srgbClr val="15296B"/>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dirty="0">
              <a:ln>
                <a:noFill/>
              </a:ln>
              <a:solidFill>
                <a:prstClr val="white"/>
              </a:solidFill>
              <a:effectLst/>
              <a:uLnTx/>
              <a:uFillTx/>
              <a:latin typeface="Calibri"/>
              <a:ea typeface="+mn-ea"/>
              <a:cs typeface="Calibri"/>
            </a:endParaRPr>
          </a:p>
        </p:txBody>
      </p:sp>
      <p:sp>
        <p:nvSpPr>
          <p:cNvPr id="114" name="TextBox 113">
            <a:extLst>
              <a:ext uri="{FF2B5EF4-FFF2-40B4-BE49-F238E27FC236}">
                <a16:creationId xmlns:a16="http://schemas.microsoft.com/office/drawing/2014/main" id="{C0088756-E8FB-6139-7810-97069C124EF4}"/>
              </a:ext>
            </a:extLst>
          </p:cNvPr>
          <p:cNvSpPr txBox="1"/>
          <p:nvPr/>
        </p:nvSpPr>
        <p:spPr>
          <a:xfrm>
            <a:off x="10664057" y="3337315"/>
            <a:ext cx="453974" cy="338554"/>
          </a:xfrm>
          <a:prstGeom prst="rect">
            <a:avLst/>
          </a:prstGeom>
          <a:noFill/>
        </p:spPr>
        <p:txBody>
          <a:bodyPr wrap="square"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B</a:t>
            </a:r>
            <a:endParaRPr kumimoji="0" lang="fa-IR" sz="16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sp>
        <p:nvSpPr>
          <p:cNvPr id="115" name="Rectangle: Rounded Corners 114">
            <a:extLst>
              <a:ext uri="{FF2B5EF4-FFF2-40B4-BE49-F238E27FC236}">
                <a16:creationId xmlns:a16="http://schemas.microsoft.com/office/drawing/2014/main" id="{564A28E5-AEC8-632E-7AF7-C660FE5A3939}"/>
              </a:ext>
            </a:extLst>
          </p:cNvPr>
          <p:cNvSpPr/>
          <p:nvPr/>
        </p:nvSpPr>
        <p:spPr>
          <a:xfrm>
            <a:off x="4548039" y="3242313"/>
            <a:ext cx="3840480" cy="528559"/>
          </a:xfrm>
          <a:prstGeom prst="roundRect">
            <a:avLst/>
          </a:prstGeom>
          <a:solidFill>
            <a:schemeClr val="bg1">
              <a:lumMod val="95000"/>
              <a:alpha val="59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جلسه اجرایی اولیه و مرور نمونه‌کارهای قبلی «اکوسیستم فرصت ایران» برای اثبات توان، بدون تعهد مالی</a:t>
            </a:r>
          </a:p>
        </p:txBody>
      </p:sp>
      <p:sp>
        <p:nvSpPr>
          <p:cNvPr id="116" name="Rectangle: Rounded Corners 115">
            <a:extLst>
              <a:ext uri="{FF2B5EF4-FFF2-40B4-BE49-F238E27FC236}">
                <a16:creationId xmlns:a16="http://schemas.microsoft.com/office/drawing/2014/main" id="{99330482-F39C-1F93-C6F0-E3E88C87CBFD}"/>
              </a:ext>
            </a:extLst>
          </p:cNvPr>
          <p:cNvSpPr/>
          <p:nvPr/>
        </p:nvSpPr>
        <p:spPr>
          <a:xfrm>
            <a:off x="459478" y="3242313"/>
            <a:ext cx="3840480" cy="528559"/>
          </a:xfrm>
          <a:prstGeom prst="roundRect">
            <a:avLst/>
          </a:prstGeom>
          <a:solidFill>
            <a:schemeClr val="bg1">
              <a:lumMod val="95000"/>
              <a:alpha val="59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بنچمارک: </a:t>
            </a:r>
            <a:r>
              <a:rPr kumimoji="0" lang="fa-IR"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جلسات کشف اولیه (</a:t>
            </a:r>
            <a:r>
              <a:rPr kumimoji="0" lang="en-US"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Discovery Call</a:t>
            </a:r>
            <a:r>
              <a:rPr kumimoji="0" lang="fa-IR"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 استودیوهای ونچر نظیر </a:t>
            </a:r>
            <a:r>
              <a:rPr kumimoji="0" lang="en-US"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Atomic/Pioneer Square Labs</a:t>
            </a:r>
          </a:p>
        </p:txBody>
      </p:sp>
      <p:sp>
        <p:nvSpPr>
          <p:cNvPr id="117" name="Arrow: Down 116">
            <a:extLst>
              <a:ext uri="{FF2B5EF4-FFF2-40B4-BE49-F238E27FC236}">
                <a16:creationId xmlns:a16="http://schemas.microsoft.com/office/drawing/2014/main" id="{4D511D6C-61F8-32F6-875F-67B6AEE75B43}"/>
              </a:ext>
            </a:extLst>
          </p:cNvPr>
          <p:cNvSpPr/>
          <p:nvPr/>
        </p:nvSpPr>
        <p:spPr>
          <a:xfrm rot="5400000">
            <a:off x="8427463" y="3438797"/>
            <a:ext cx="170188" cy="135591"/>
          </a:xfrm>
          <a:prstGeom prst="downArrow">
            <a:avLst/>
          </a:prstGeom>
          <a:solidFill>
            <a:schemeClr val="tx1">
              <a:lumMod val="50000"/>
              <a:lumOff val="50000"/>
              <a:alpha val="1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18" name="Arrow: Down 117">
            <a:extLst>
              <a:ext uri="{FF2B5EF4-FFF2-40B4-BE49-F238E27FC236}">
                <a16:creationId xmlns:a16="http://schemas.microsoft.com/office/drawing/2014/main" id="{71869944-15D5-DEB2-38A1-4ECE052A7A24}"/>
              </a:ext>
            </a:extLst>
          </p:cNvPr>
          <p:cNvSpPr/>
          <p:nvPr/>
        </p:nvSpPr>
        <p:spPr>
          <a:xfrm rot="5400000">
            <a:off x="4340404" y="3438798"/>
            <a:ext cx="170188" cy="135591"/>
          </a:xfrm>
          <a:prstGeom prst="downArrow">
            <a:avLst/>
          </a:prstGeom>
          <a:solidFill>
            <a:schemeClr val="tx1">
              <a:lumMod val="50000"/>
              <a:lumOff val="50000"/>
              <a:alpha val="1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20" name="Rectangle: Rounded Corners 119">
            <a:extLst>
              <a:ext uri="{FF2B5EF4-FFF2-40B4-BE49-F238E27FC236}">
                <a16:creationId xmlns:a16="http://schemas.microsoft.com/office/drawing/2014/main" id="{2E414C60-D881-2B21-EA61-F675BB78F1AA}"/>
              </a:ext>
            </a:extLst>
          </p:cNvPr>
          <p:cNvSpPr/>
          <p:nvPr/>
        </p:nvSpPr>
        <p:spPr>
          <a:xfrm>
            <a:off x="8636598" y="3848701"/>
            <a:ext cx="1653837" cy="528559"/>
          </a:xfrm>
          <a:prstGeom prst="roundRect">
            <a:avLst/>
          </a:prstGeom>
          <a:solidFill>
            <a:srgbClr val="F0BE0F">
              <a:alpha val="16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15296B"/>
              </a:solidFill>
              <a:effectLst/>
              <a:uLnTx/>
              <a:uFillTx/>
              <a:latin typeface="Calibri"/>
              <a:ea typeface="+mn-ea"/>
              <a:cs typeface="Calibri"/>
            </a:endParaRPr>
          </a:p>
        </p:txBody>
      </p:sp>
      <p:sp>
        <p:nvSpPr>
          <p:cNvPr id="121" name="TextBox 120">
            <a:extLst>
              <a:ext uri="{FF2B5EF4-FFF2-40B4-BE49-F238E27FC236}">
                <a16:creationId xmlns:a16="http://schemas.microsoft.com/office/drawing/2014/main" id="{7C151F18-36D8-0AED-C668-574F1E97EE08}"/>
              </a:ext>
            </a:extLst>
          </p:cNvPr>
          <p:cNvSpPr txBox="1"/>
          <p:nvPr/>
        </p:nvSpPr>
        <p:spPr>
          <a:xfrm>
            <a:off x="8636598" y="3979546"/>
            <a:ext cx="1653837" cy="266868"/>
          </a:xfrm>
          <a:prstGeom prst="rect">
            <a:avLst/>
          </a:prstGeom>
          <a:noFill/>
        </p:spPr>
        <p:txBody>
          <a:bodyPr wrap="square">
            <a:spAutoFit/>
          </a:bodyPr>
          <a:lstStyle/>
          <a:p>
            <a:pPr marL="0" marR="0" lvl="0" indent="0" algn="ctr" defTabSz="457200" rtl="1" eaLnBrk="1" fontAlgn="auto" latinLnBrk="0" hangingPunct="1">
              <a:lnSpc>
                <a:spcPct val="108000"/>
              </a:lnSpc>
              <a:spcBef>
                <a:spcPts val="0"/>
              </a:spcBef>
              <a:spcAft>
                <a:spcPts val="0"/>
              </a:spcAft>
              <a:buClrTx/>
              <a:buSzTx/>
              <a:buFontTx/>
              <a:buNone/>
              <a:tabLst/>
              <a:defRPr/>
            </a:pPr>
            <a:r>
              <a:rPr kumimoji="0" lang="fa-IR" sz="1050" b="1" i="0" u="none" strike="noStrike" kern="1200" cap="none" spc="0" normalizeH="0" baseline="0" noProof="0" dirty="0">
                <a:ln>
                  <a:noFill/>
                </a:ln>
                <a:solidFill>
                  <a:srgbClr val="15296B"/>
                </a:solidFill>
                <a:effectLst/>
                <a:uLnTx/>
                <a:uFillTx/>
                <a:latin typeface="Yekan Bakh FaNum" pitchFamily="2" charset="-78"/>
                <a:ea typeface="+mn-ea"/>
                <a:cs typeface="Yekan Bakh FaNum" pitchFamily="2" charset="-78"/>
              </a:rPr>
              <a:t>مشاوره‌ای/محصولی‌شده</a:t>
            </a:r>
          </a:p>
        </p:txBody>
      </p:sp>
      <p:sp>
        <p:nvSpPr>
          <p:cNvPr id="122" name="Rectangle: Rounded Corners 121">
            <a:extLst>
              <a:ext uri="{FF2B5EF4-FFF2-40B4-BE49-F238E27FC236}">
                <a16:creationId xmlns:a16="http://schemas.microsoft.com/office/drawing/2014/main" id="{9E708992-B03E-CBD2-99E7-CECBFD43720C}"/>
              </a:ext>
            </a:extLst>
          </p:cNvPr>
          <p:cNvSpPr/>
          <p:nvPr/>
        </p:nvSpPr>
        <p:spPr>
          <a:xfrm>
            <a:off x="10538516" y="3848701"/>
            <a:ext cx="705056" cy="528559"/>
          </a:xfrm>
          <a:prstGeom prst="roundRect">
            <a:avLst/>
          </a:prstGeom>
          <a:solidFill>
            <a:srgbClr val="15296B">
              <a:alpha val="20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dirty="0">
              <a:ln>
                <a:noFill/>
              </a:ln>
              <a:solidFill>
                <a:prstClr val="white"/>
              </a:solidFill>
              <a:effectLst/>
              <a:uLnTx/>
              <a:uFillTx/>
              <a:latin typeface="Calibri"/>
              <a:ea typeface="+mn-ea"/>
              <a:cs typeface="Calibri"/>
            </a:endParaRPr>
          </a:p>
        </p:txBody>
      </p:sp>
      <p:sp>
        <p:nvSpPr>
          <p:cNvPr id="123" name="TextBox 122">
            <a:extLst>
              <a:ext uri="{FF2B5EF4-FFF2-40B4-BE49-F238E27FC236}">
                <a16:creationId xmlns:a16="http://schemas.microsoft.com/office/drawing/2014/main" id="{8590FDD2-3A6F-AC39-62B4-63E3876E3D5D}"/>
              </a:ext>
            </a:extLst>
          </p:cNvPr>
          <p:cNvSpPr txBox="1"/>
          <p:nvPr/>
        </p:nvSpPr>
        <p:spPr>
          <a:xfrm>
            <a:off x="10664057" y="3943703"/>
            <a:ext cx="453974" cy="338554"/>
          </a:xfrm>
          <a:prstGeom prst="rect">
            <a:avLst/>
          </a:prstGeom>
          <a:noFill/>
        </p:spPr>
        <p:txBody>
          <a:bodyPr wrap="square"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5296B"/>
                </a:solidFill>
                <a:effectLst/>
                <a:uLnTx/>
                <a:uFillTx/>
                <a:latin typeface="Yekan Bakh" pitchFamily="2" charset="-78"/>
                <a:ea typeface="Yekan Bakh" pitchFamily="2" charset="-78"/>
                <a:cs typeface="Yekan Bakh" pitchFamily="2" charset="-78"/>
              </a:rPr>
              <a:t>C</a:t>
            </a:r>
            <a:endParaRPr kumimoji="0" lang="fa-IR" sz="1600" b="1" i="0" u="none" strike="noStrike" kern="1200" cap="none" spc="0" normalizeH="0" baseline="0" noProof="0" dirty="0">
              <a:ln>
                <a:noFill/>
              </a:ln>
              <a:solidFill>
                <a:srgbClr val="15296B"/>
              </a:solidFill>
              <a:effectLst/>
              <a:uLnTx/>
              <a:uFillTx/>
              <a:latin typeface="Yekan Bakh" pitchFamily="2" charset="-78"/>
              <a:ea typeface="Yekan Bakh" pitchFamily="2" charset="-78"/>
              <a:cs typeface="Yekan Bakh" pitchFamily="2" charset="-78"/>
            </a:endParaRPr>
          </a:p>
        </p:txBody>
      </p:sp>
      <p:sp>
        <p:nvSpPr>
          <p:cNvPr id="124" name="Rectangle: Rounded Corners 123">
            <a:extLst>
              <a:ext uri="{FF2B5EF4-FFF2-40B4-BE49-F238E27FC236}">
                <a16:creationId xmlns:a16="http://schemas.microsoft.com/office/drawing/2014/main" id="{E8E4D47E-BC43-F2EA-2886-0AC607C84BD0}"/>
              </a:ext>
            </a:extLst>
          </p:cNvPr>
          <p:cNvSpPr/>
          <p:nvPr/>
        </p:nvSpPr>
        <p:spPr>
          <a:xfrm>
            <a:off x="4548039" y="3848701"/>
            <a:ext cx="3840480" cy="528559"/>
          </a:xfrm>
          <a:prstGeom prst="roundRect">
            <a:avLst/>
          </a:prstGeom>
          <a:solidFill>
            <a:schemeClr val="bg1">
              <a:lumMod val="95000"/>
              <a:alpha val="59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مرحله اعتبارسنجی دارایی و تناسب بازار با کارمزد مشخص، پیش از تعهد به ساخت</a:t>
            </a:r>
          </a:p>
        </p:txBody>
      </p:sp>
      <p:sp>
        <p:nvSpPr>
          <p:cNvPr id="125" name="Rectangle: Rounded Corners 124">
            <a:extLst>
              <a:ext uri="{FF2B5EF4-FFF2-40B4-BE49-F238E27FC236}">
                <a16:creationId xmlns:a16="http://schemas.microsoft.com/office/drawing/2014/main" id="{9529C9B6-A847-1C2D-EE50-C38DAC426945}"/>
              </a:ext>
            </a:extLst>
          </p:cNvPr>
          <p:cNvSpPr/>
          <p:nvPr/>
        </p:nvSpPr>
        <p:spPr>
          <a:xfrm>
            <a:off x="459478" y="3848701"/>
            <a:ext cx="3840480" cy="528559"/>
          </a:xfrm>
          <a:prstGeom prst="roundRect">
            <a:avLst/>
          </a:prstGeom>
          <a:solidFill>
            <a:schemeClr val="bg1">
              <a:lumMod val="95000"/>
              <a:alpha val="59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مدل اعتبارسنجی سریع استودیوهای ونچر</a:t>
            </a:r>
            <a:r>
              <a:rPr kumimoji="0" lang="en-US"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Validation Sprint) </a:t>
            </a:r>
            <a:r>
              <a:rPr kumimoji="0" lang="fa-IR"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a:t>
            </a:r>
          </a:p>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بنچمارک: </a:t>
            </a:r>
            <a:r>
              <a:rPr kumimoji="0" lang="fa-IR"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فرآیند غربال اولیه پذیرش کارآفرین در </a:t>
            </a:r>
            <a:r>
              <a:rPr kumimoji="0" lang="en-US"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Endeavor</a:t>
            </a:r>
          </a:p>
        </p:txBody>
      </p:sp>
      <p:sp>
        <p:nvSpPr>
          <p:cNvPr id="126" name="Arrow: Down 125">
            <a:extLst>
              <a:ext uri="{FF2B5EF4-FFF2-40B4-BE49-F238E27FC236}">
                <a16:creationId xmlns:a16="http://schemas.microsoft.com/office/drawing/2014/main" id="{23FFCB9A-0B1F-3B9A-7891-CFE83B24BCCD}"/>
              </a:ext>
            </a:extLst>
          </p:cNvPr>
          <p:cNvSpPr/>
          <p:nvPr/>
        </p:nvSpPr>
        <p:spPr>
          <a:xfrm rot="5400000">
            <a:off x="8427463" y="4045185"/>
            <a:ext cx="170188" cy="135591"/>
          </a:xfrm>
          <a:prstGeom prst="downArrow">
            <a:avLst/>
          </a:prstGeom>
          <a:solidFill>
            <a:schemeClr val="tx1">
              <a:lumMod val="50000"/>
              <a:lumOff val="50000"/>
              <a:alpha val="1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27" name="Arrow: Down 126">
            <a:extLst>
              <a:ext uri="{FF2B5EF4-FFF2-40B4-BE49-F238E27FC236}">
                <a16:creationId xmlns:a16="http://schemas.microsoft.com/office/drawing/2014/main" id="{BBB029CF-2D62-297A-BBE5-CA33864BD8A9}"/>
              </a:ext>
            </a:extLst>
          </p:cNvPr>
          <p:cNvSpPr/>
          <p:nvPr/>
        </p:nvSpPr>
        <p:spPr>
          <a:xfrm rot="5400000">
            <a:off x="4340404" y="4045186"/>
            <a:ext cx="170188" cy="135591"/>
          </a:xfrm>
          <a:prstGeom prst="downArrow">
            <a:avLst/>
          </a:prstGeom>
          <a:solidFill>
            <a:schemeClr val="tx1">
              <a:lumMod val="50000"/>
              <a:lumOff val="50000"/>
              <a:alpha val="1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29" name="Rectangle: Rounded Corners 128">
            <a:extLst>
              <a:ext uri="{FF2B5EF4-FFF2-40B4-BE49-F238E27FC236}">
                <a16:creationId xmlns:a16="http://schemas.microsoft.com/office/drawing/2014/main" id="{4D7BE2BE-F91D-55B0-D56C-5D8DDC2B1CA3}"/>
              </a:ext>
            </a:extLst>
          </p:cNvPr>
          <p:cNvSpPr/>
          <p:nvPr/>
        </p:nvSpPr>
        <p:spPr>
          <a:xfrm>
            <a:off x="8636598" y="4455089"/>
            <a:ext cx="1653837" cy="528559"/>
          </a:xfrm>
          <a:prstGeom prst="roundRect">
            <a:avLst/>
          </a:prstGeom>
          <a:solidFill>
            <a:srgbClr val="F0BE0F">
              <a:alpha val="16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15296B"/>
              </a:solidFill>
              <a:effectLst/>
              <a:uLnTx/>
              <a:uFillTx/>
              <a:latin typeface="Calibri"/>
              <a:ea typeface="+mn-ea"/>
              <a:cs typeface="Calibri"/>
            </a:endParaRPr>
          </a:p>
        </p:txBody>
      </p:sp>
      <p:sp>
        <p:nvSpPr>
          <p:cNvPr id="130" name="TextBox 129">
            <a:extLst>
              <a:ext uri="{FF2B5EF4-FFF2-40B4-BE49-F238E27FC236}">
                <a16:creationId xmlns:a16="http://schemas.microsoft.com/office/drawing/2014/main" id="{F9148388-BE1F-B29E-E9E0-01D97F5F1A29}"/>
              </a:ext>
            </a:extLst>
          </p:cNvPr>
          <p:cNvSpPr txBox="1"/>
          <p:nvPr/>
        </p:nvSpPr>
        <p:spPr>
          <a:xfrm>
            <a:off x="8636598" y="4585934"/>
            <a:ext cx="1653837" cy="266868"/>
          </a:xfrm>
          <a:prstGeom prst="rect">
            <a:avLst/>
          </a:prstGeom>
          <a:noFill/>
        </p:spPr>
        <p:txBody>
          <a:bodyPr wrap="square">
            <a:spAutoFit/>
          </a:bodyPr>
          <a:lstStyle/>
          <a:p>
            <a:pPr marL="0" marR="0" lvl="0" indent="0" algn="ctr" defTabSz="457200" rtl="1" eaLnBrk="1" fontAlgn="auto" latinLnBrk="0" hangingPunct="1">
              <a:lnSpc>
                <a:spcPct val="108000"/>
              </a:lnSpc>
              <a:spcBef>
                <a:spcPts val="0"/>
              </a:spcBef>
              <a:spcAft>
                <a:spcPts val="0"/>
              </a:spcAft>
              <a:buClrTx/>
              <a:buSzTx/>
              <a:buFontTx/>
              <a:buNone/>
              <a:tabLst/>
              <a:defRPr/>
            </a:pPr>
            <a:r>
              <a:rPr kumimoji="0" lang="fa-IR" sz="1050" b="1" i="0" u="none" strike="noStrike" kern="1200" cap="none" spc="0" normalizeH="0" baseline="0" noProof="0" dirty="0">
                <a:ln>
                  <a:noFill/>
                </a:ln>
                <a:solidFill>
                  <a:srgbClr val="15296B"/>
                </a:solidFill>
                <a:effectLst/>
                <a:uLnTx/>
                <a:uFillTx/>
                <a:latin typeface="Yekan Bakh FaNum" pitchFamily="2" charset="-78"/>
                <a:ea typeface="+mn-ea"/>
                <a:cs typeface="Yekan Bakh FaNum" pitchFamily="2" charset="-78"/>
              </a:rPr>
              <a:t>مدیریت‌شده+مشارکتی</a:t>
            </a:r>
          </a:p>
        </p:txBody>
      </p:sp>
      <p:sp>
        <p:nvSpPr>
          <p:cNvPr id="131" name="Rectangle: Rounded Corners 130">
            <a:extLst>
              <a:ext uri="{FF2B5EF4-FFF2-40B4-BE49-F238E27FC236}">
                <a16:creationId xmlns:a16="http://schemas.microsoft.com/office/drawing/2014/main" id="{30CC6999-2852-20E4-FB00-D0CA338A3F08}"/>
              </a:ext>
            </a:extLst>
          </p:cNvPr>
          <p:cNvSpPr/>
          <p:nvPr/>
        </p:nvSpPr>
        <p:spPr>
          <a:xfrm>
            <a:off x="10538516" y="4455089"/>
            <a:ext cx="705056" cy="528559"/>
          </a:xfrm>
          <a:prstGeom prst="roundRect">
            <a:avLst/>
          </a:prstGeom>
          <a:solidFill>
            <a:srgbClr val="15296B">
              <a:alpha val="40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dirty="0">
              <a:ln>
                <a:noFill/>
              </a:ln>
              <a:solidFill>
                <a:srgbClr val="15296B"/>
              </a:solidFill>
              <a:effectLst/>
              <a:uLnTx/>
              <a:uFillTx/>
              <a:latin typeface="Calibri"/>
              <a:ea typeface="+mn-ea"/>
              <a:cs typeface="Calibri"/>
            </a:endParaRPr>
          </a:p>
        </p:txBody>
      </p:sp>
      <p:sp>
        <p:nvSpPr>
          <p:cNvPr id="132" name="TextBox 131">
            <a:extLst>
              <a:ext uri="{FF2B5EF4-FFF2-40B4-BE49-F238E27FC236}">
                <a16:creationId xmlns:a16="http://schemas.microsoft.com/office/drawing/2014/main" id="{D84289A1-E73B-2A4E-2DC4-31F7F6318F68}"/>
              </a:ext>
            </a:extLst>
          </p:cNvPr>
          <p:cNvSpPr txBox="1"/>
          <p:nvPr/>
        </p:nvSpPr>
        <p:spPr>
          <a:xfrm>
            <a:off x="10664057" y="4550091"/>
            <a:ext cx="453974" cy="338554"/>
          </a:xfrm>
          <a:prstGeom prst="rect">
            <a:avLst/>
          </a:prstGeom>
          <a:noFill/>
        </p:spPr>
        <p:txBody>
          <a:bodyPr wrap="square"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D</a:t>
            </a:r>
            <a:endParaRPr kumimoji="0" lang="fa-IR" sz="16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sp>
        <p:nvSpPr>
          <p:cNvPr id="133" name="Rectangle: Rounded Corners 132">
            <a:extLst>
              <a:ext uri="{FF2B5EF4-FFF2-40B4-BE49-F238E27FC236}">
                <a16:creationId xmlns:a16="http://schemas.microsoft.com/office/drawing/2014/main" id="{F6A2C378-E9AF-BADE-B281-9412391FB82C}"/>
              </a:ext>
            </a:extLst>
          </p:cNvPr>
          <p:cNvSpPr/>
          <p:nvPr/>
        </p:nvSpPr>
        <p:spPr>
          <a:xfrm>
            <a:off x="4548039" y="4455089"/>
            <a:ext cx="3840480" cy="528559"/>
          </a:xfrm>
          <a:prstGeom prst="roundRect">
            <a:avLst/>
          </a:prstGeom>
          <a:solidFill>
            <a:schemeClr val="bg1">
              <a:lumMod val="95000"/>
              <a:alpha val="59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هسته اصلی رابطه: ساخت مشترک کسب‌وکار (کارمزد + سهام)؛ «اکوسیستم فرصت ایران» هم‌آفرین و تیم اجرایی مشترک است</a:t>
            </a:r>
          </a:p>
        </p:txBody>
      </p:sp>
      <p:sp>
        <p:nvSpPr>
          <p:cNvPr id="134" name="Rectangle: Rounded Corners 133">
            <a:extLst>
              <a:ext uri="{FF2B5EF4-FFF2-40B4-BE49-F238E27FC236}">
                <a16:creationId xmlns:a16="http://schemas.microsoft.com/office/drawing/2014/main" id="{9F20E682-181B-F6AB-38B3-A94608221FC8}"/>
              </a:ext>
            </a:extLst>
          </p:cNvPr>
          <p:cNvSpPr/>
          <p:nvPr/>
        </p:nvSpPr>
        <p:spPr>
          <a:xfrm>
            <a:off x="459478" y="4455089"/>
            <a:ext cx="3840480" cy="528559"/>
          </a:xfrm>
          <a:prstGeom prst="roundRect">
            <a:avLst/>
          </a:prstGeom>
          <a:solidFill>
            <a:schemeClr val="bg1">
              <a:lumMod val="95000"/>
              <a:alpha val="59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مدل ونچر استودیوهای بزرگ نظیر </a:t>
            </a:r>
            <a:r>
              <a:rPr kumimoji="0" lang="en-US"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Rocket Internet </a:t>
            </a:r>
            <a:r>
              <a:rPr kumimoji="0" lang="fa-IR"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a:t>
            </a:r>
          </a:p>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بنچمارک: </a:t>
            </a:r>
            <a:r>
              <a:rPr kumimoji="0" lang="fa-IR"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برنامه </a:t>
            </a:r>
            <a:r>
              <a:rPr kumimoji="0" lang="en-US"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Scale Up by Endeavor</a:t>
            </a:r>
            <a:r>
              <a:rPr kumimoji="0" lang="fa-IR"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 با مربیگری اجرایی مشترک</a:t>
            </a:r>
          </a:p>
        </p:txBody>
      </p:sp>
      <p:sp>
        <p:nvSpPr>
          <p:cNvPr id="135" name="Arrow: Down 134">
            <a:extLst>
              <a:ext uri="{FF2B5EF4-FFF2-40B4-BE49-F238E27FC236}">
                <a16:creationId xmlns:a16="http://schemas.microsoft.com/office/drawing/2014/main" id="{82711940-732F-8844-3857-1960CD191B6A}"/>
              </a:ext>
            </a:extLst>
          </p:cNvPr>
          <p:cNvSpPr/>
          <p:nvPr/>
        </p:nvSpPr>
        <p:spPr>
          <a:xfrm rot="5400000">
            <a:off x="8427463" y="4651573"/>
            <a:ext cx="170188" cy="135591"/>
          </a:xfrm>
          <a:prstGeom prst="downArrow">
            <a:avLst/>
          </a:prstGeom>
          <a:solidFill>
            <a:schemeClr val="tx1">
              <a:lumMod val="50000"/>
              <a:lumOff val="50000"/>
              <a:alpha val="1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36" name="Arrow: Down 135">
            <a:extLst>
              <a:ext uri="{FF2B5EF4-FFF2-40B4-BE49-F238E27FC236}">
                <a16:creationId xmlns:a16="http://schemas.microsoft.com/office/drawing/2014/main" id="{ADFAD3FA-860A-3278-AAD3-039609625589}"/>
              </a:ext>
            </a:extLst>
          </p:cNvPr>
          <p:cNvSpPr/>
          <p:nvPr/>
        </p:nvSpPr>
        <p:spPr>
          <a:xfrm rot="5400000">
            <a:off x="4340404" y="4651574"/>
            <a:ext cx="170188" cy="135591"/>
          </a:xfrm>
          <a:prstGeom prst="downArrow">
            <a:avLst/>
          </a:prstGeom>
          <a:solidFill>
            <a:schemeClr val="tx1">
              <a:lumMod val="50000"/>
              <a:lumOff val="50000"/>
              <a:alpha val="1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38" name="Rectangle: Rounded Corners 137">
            <a:extLst>
              <a:ext uri="{FF2B5EF4-FFF2-40B4-BE49-F238E27FC236}">
                <a16:creationId xmlns:a16="http://schemas.microsoft.com/office/drawing/2014/main" id="{948626BF-28C6-9835-9DA4-908D9ABE7F46}"/>
              </a:ext>
            </a:extLst>
          </p:cNvPr>
          <p:cNvSpPr/>
          <p:nvPr/>
        </p:nvSpPr>
        <p:spPr>
          <a:xfrm>
            <a:off x="8636598" y="5061476"/>
            <a:ext cx="1653837" cy="528559"/>
          </a:xfrm>
          <a:prstGeom prst="roundRect">
            <a:avLst/>
          </a:prstGeom>
          <a:solidFill>
            <a:srgbClr val="F0BE0F">
              <a:alpha val="16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15296B"/>
              </a:solidFill>
              <a:effectLst/>
              <a:uLnTx/>
              <a:uFillTx/>
              <a:latin typeface="Calibri"/>
              <a:ea typeface="+mn-ea"/>
              <a:cs typeface="Calibri"/>
            </a:endParaRPr>
          </a:p>
        </p:txBody>
      </p:sp>
      <p:sp>
        <p:nvSpPr>
          <p:cNvPr id="139" name="TextBox 138">
            <a:extLst>
              <a:ext uri="{FF2B5EF4-FFF2-40B4-BE49-F238E27FC236}">
                <a16:creationId xmlns:a16="http://schemas.microsoft.com/office/drawing/2014/main" id="{9E42F650-3C6C-2B86-1CB5-8F3D5955EB9C}"/>
              </a:ext>
            </a:extLst>
          </p:cNvPr>
          <p:cNvSpPr txBox="1"/>
          <p:nvPr/>
        </p:nvSpPr>
        <p:spPr>
          <a:xfrm>
            <a:off x="8636598" y="5105054"/>
            <a:ext cx="1653837" cy="441403"/>
          </a:xfrm>
          <a:prstGeom prst="rect">
            <a:avLst/>
          </a:prstGeom>
          <a:noFill/>
        </p:spPr>
        <p:txBody>
          <a:bodyPr wrap="square">
            <a:spAutoFit/>
          </a:bodyPr>
          <a:lstStyle/>
          <a:p>
            <a:pPr marL="0" marR="0" lvl="0" indent="0" algn="ctr" defTabSz="457200" rtl="1" eaLnBrk="1" fontAlgn="auto" latinLnBrk="0" hangingPunct="1">
              <a:lnSpc>
                <a:spcPct val="108000"/>
              </a:lnSpc>
              <a:spcBef>
                <a:spcPts val="0"/>
              </a:spcBef>
              <a:spcAft>
                <a:spcPts val="0"/>
              </a:spcAft>
              <a:buClrTx/>
              <a:buSzTx/>
              <a:buFontTx/>
              <a:buNone/>
              <a:tabLst/>
              <a:defRPr/>
            </a:pPr>
            <a:r>
              <a:rPr kumimoji="0" lang="fa-IR" sz="1050" b="1" i="0" u="none" strike="noStrike" kern="1200" cap="none" spc="0" normalizeH="0" baseline="0" noProof="0" dirty="0">
                <a:ln>
                  <a:noFill/>
                </a:ln>
                <a:solidFill>
                  <a:srgbClr val="15296B"/>
                </a:solidFill>
                <a:effectLst/>
                <a:uLnTx/>
                <a:uFillTx/>
                <a:latin typeface="Yekan Bakh FaNum" pitchFamily="2" charset="-78"/>
                <a:ea typeface="+mn-ea"/>
                <a:cs typeface="Yekan Bakh FaNum" pitchFamily="2" charset="-78"/>
              </a:rPr>
              <a:t>شراکت راهبردی + اکوسیستمی</a:t>
            </a:r>
          </a:p>
        </p:txBody>
      </p:sp>
      <p:sp>
        <p:nvSpPr>
          <p:cNvPr id="140" name="Rectangle: Rounded Corners 139">
            <a:extLst>
              <a:ext uri="{FF2B5EF4-FFF2-40B4-BE49-F238E27FC236}">
                <a16:creationId xmlns:a16="http://schemas.microsoft.com/office/drawing/2014/main" id="{B1A27BC5-E53D-6EA6-64D0-EE98CE9A422D}"/>
              </a:ext>
            </a:extLst>
          </p:cNvPr>
          <p:cNvSpPr/>
          <p:nvPr/>
        </p:nvSpPr>
        <p:spPr>
          <a:xfrm>
            <a:off x="10538516" y="5061476"/>
            <a:ext cx="705056" cy="528559"/>
          </a:xfrm>
          <a:prstGeom prst="round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dirty="0">
              <a:ln>
                <a:noFill/>
              </a:ln>
              <a:solidFill>
                <a:srgbClr val="15296B"/>
              </a:solidFill>
              <a:effectLst/>
              <a:uLnTx/>
              <a:uFillTx/>
              <a:latin typeface="Calibri"/>
              <a:ea typeface="+mn-ea"/>
              <a:cs typeface="Calibri"/>
            </a:endParaRPr>
          </a:p>
        </p:txBody>
      </p:sp>
      <p:sp>
        <p:nvSpPr>
          <p:cNvPr id="141" name="TextBox 140">
            <a:extLst>
              <a:ext uri="{FF2B5EF4-FFF2-40B4-BE49-F238E27FC236}">
                <a16:creationId xmlns:a16="http://schemas.microsoft.com/office/drawing/2014/main" id="{F70FFD09-53D7-81D9-7EF6-CF7DC7E3B484}"/>
              </a:ext>
            </a:extLst>
          </p:cNvPr>
          <p:cNvSpPr txBox="1"/>
          <p:nvPr/>
        </p:nvSpPr>
        <p:spPr>
          <a:xfrm>
            <a:off x="10664057" y="5156478"/>
            <a:ext cx="453974" cy="338554"/>
          </a:xfrm>
          <a:prstGeom prst="rect">
            <a:avLst/>
          </a:prstGeom>
          <a:noFill/>
        </p:spPr>
        <p:txBody>
          <a:bodyPr wrap="square"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5296B"/>
                </a:solidFill>
                <a:effectLst/>
                <a:uLnTx/>
                <a:uFillTx/>
                <a:latin typeface="Yekan Bakh" pitchFamily="2" charset="-78"/>
                <a:ea typeface="Yekan Bakh" pitchFamily="2" charset="-78"/>
                <a:cs typeface="Yekan Bakh" pitchFamily="2" charset="-78"/>
              </a:rPr>
              <a:t>E</a:t>
            </a:r>
            <a:endParaRPr kumimoji="0" lang="fa-IR" sz="1600" b="1" i="0" u="none" strike="noStrike" kern="1200" cap="none" spc="0" normalizeH="0" baseline="0" noProof="0" dirty="0">
              <a:ln>
                <a:noFill/>
              </a:ln>
              <a:solidFill>
                <a:srgbClr val="15296B"/>
              </a:solidFill>
              <a:effectLst/>
              <a:uLnTx/>
              <a:uFillTx/>
              <a:latin typeface="Yekan Bakh" pitchFamily="2" charset="-78"/>
              <a:ea typeface="Yekan Bakh" pitchFamily="2" charset="-78"/>
              <a:cs typeface="Yekan Bakh" pitchFamily="2" charset="-78"/>
            </a:endParaRPr>
          </a:p>
        </p:txBody>
      </p:sp>
      <p:sp>
        <p:nvSpPr>
          <p:cNvPr id="142" name="Rectangle: Rounded Corners 141">
            <a:extLst>
              <a:ext uri="{FF2B5EF4-FFF2-40B4-BE49-F238E27FC236}">
                <a16:creationId xmlns:a16="http://schemas.microsoft.com/office/drawing/2014/main" id="{C4CC204B-BEF5-8448-D5A1-FB4278EB5811}"/>
              </a:ext>
            </a:extLst>
          </p:cNvPr>
          <p:cNvSpPr/>
          <p:nvPr/>
        </p:nvSpPr>
        <p:spPr>
          <a:xfrm>
            <a:off x="4548039" y="5061476"/>
            <a:ext cx="3840480" cy="528559"/>
          </a:xfrm>
          <a:prstGeom prst="roundRect">
            <a:avLst/>
          </a:prstGeom>
          <a:solidFill>
            <a:schemeClr val="bg1">
              <a:lumMod val="95000"/>
              <a:alpha val="59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وقتی ونچر ساخته‌شده به دارایی پرتفوی راهبردی «اکوسیستم فرصت ایران» تبدیل می‌شود که به سایر خطوط کسب‌وکار (سرمایه‌گذاری، خدمات حرفه‌ای) هم متصل است؛ حاکمیت مشترک بلندمدت با کرسی هیئت‌مدیره</a:t>
            </a:r>
          </a:p>
        </p:txBody>
      </p:sp>
      <p:sp>
        <p:nvSpPr>
          <p:cNvPr id="143" name="Rectangle: Rounded Corners 142">
            <a:extLst>
              <a:ext uri="{FF2B5EF4-FFF2-40B4-BE49-F238E27FC236}">
                <a16:creationId xmlns:a16="http://schemas.microsoft.com/office/drawing/2014/main" id="{79E06093-EB29-7538-D783-9EDCCE109D0C}"/>
              </a:ext>
            </a:extLst>
          </p:cNvPr>
          <p:cNvSpPr/>
          <p:nvPr/>
        </p:nvSpPr>
        <p:spPr>
          <a:xfrm>
            <a:off x="459478" y="5061476"/>
            <a:ext cx="3840480" cy="528559"/>
          </a:xfrm>
          <a:prstGeom prst="roundRect">
            <a:avLst/>
          </a:prstGeom>
          <a:solidFill>
            <a:schemeClr val="bg1">
              <a:lumMod val="95000"/>
              <a:alpha val="59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بنچمارک: </a:t>
            </a:r>
            <a:r>
              <a:rPr kumimoji="0" lang="fa-IR"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مدل حاکمیت مشترک بلندمدت استودیوهای ونچر با کرسی هیئت‌مدیره در ونچرهای ساخته‌شده</a:t>
            </a:r>
          </a:p>
        </p:txBody>
      </p:sp>
      <p:sp>
        <p:nvSpPr>
          <p:cNvPr id="144" name="Arrow: Down 143">
            <a:extLst>
              <a:ext uri="{FF2B5EF4-FFF2-40B4-BE49-F238E27FC236}">
                <a16:creationId xmlns:a16="http://schemas.microsoft.com/office/drawing/2014/main" id="{C801AE50-5071-0977-CF4D-E7B1EA3329BC}"/>
              </a:ext>
            </a:extLst>
          </p:cNvPr>
          <p:cNvSpPr/>
          <p:nvPr/>
        </p:nvSpPr>
        <p:spPr>
          <a:xfrm rot="5400000">
            <a:off x="8427463" y="5257960"/>
            <a:ext cx="170188" cy="135591"/>
          </a:xfrm>
          <a:prstGeom prst="downArrow">
            <a:avLst/>
          </a:prstGeom>
          <a:solidFill>
            <a:schemeClr val="tx1">
              <a:lumMod val="50000"/>
              <a:lumOff val="50000"/>
              <a:alpha val="1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45" name="Arrow: Down 144">
            <a:extLst>
              <a:ext uri="{FF2B5EF4-FFF2-40B4-BE49-F238E27FC236}">
                <a16:creationId xmlns:a16="http://schemas.microsoft.com/office/drawing/2014/main" id="{0A5B8218-09F4-FC1B-9471-FAECA24D2B99}"/>
              </a:ext>
            </a:extLst>
          </p:cNvPr>
          <p:cNvSpPr/>
          <p:nvPr/>
        </p:nvSpPr>
        <p:spPr>
          <a:xfrm rot="5400000">
            <a:off x="4340404" y="5257961"/>
            <a:ext cx="170188" cy="135591"/>
          </a:xfrm>
          <a:prstGeom prst="downArrow">
            <a:avLst/>
          </a:prstGeom>
          <a:solidFill>
            <a:schemeClr val="tx1">
              <a:lumMod val="50000"/>
              <a:lumOff val="50000"/>
              <a:alpha val="1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Tree>
    <p:extLst>
      <p:ext uri="{BB962C8B-B14F-4D97-AF65-F5344CB8AC3E}">
        <p14:creationId xmlns:p14="http://schemas.microsoft.com/office/powerpoint/2010/main" val="3833336065"/>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ECFC83-6030-9246-0FCC-2F6CFBCD773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4EE95D4-A1E1-D2C1-A013-BCFB767928F3}"/>
              </a:ext>
            </a:extLst>
          </p:cNvPr>
          <p:cNvSpPr>
            <a:spLocks noGrp="1"/>
          </p:cNvSpPr>
          <p:nvPr>
            <p:ph type="body" sz="quarter" idx="10"/>
          </p:nvPr>
        </p:nvSpPr>
        <p:spPr/>
        <p:txBody>
          <a:bodyPr/>
          <a:lstStyle/>
          <a:p>
            <a:r>
              <a:rPr lang="fa-IR" dirty="0"/>
              <a:t>۷. تخصیص رابطه — پرسونا ۶ از ۶ — سرمایه‌گذار</a:t>
            </a:r>
            <a:endParaRPr lang="en-GB" dirty="0"/>
          </a:p>
        </p:txBody>
      </p:sp>
      <p:sp>
        <p:nvSpPr>
          <p:cNvPr id="3" name="Text Placeholder 2">
            <a:extLst>
              <a:ext uri="{FF2B5EF4-FFF2-40B4-BE49-F238E27FC236}">
                <a16:creationId xmlns:a16="http://schemas.microsoft.com/office/drawing/2014/main" id="{D9A20351-1CBE-C180-2A8D-94F4EC64CA12}"/>
              </a:ext>
            </a:extLst>
          </p:cNvPr>
          <p:cNvSpPr>
            <a:spLocks noGrp="1"/>
          </p:cNvSpPr>
          <p:nvPr>
            <p:ph type="body" sz="quarter" idx="12"/>
          </p:nvPr>
        </p:nvSpPr>
        <p:spPr/>
        <p:txBody>
          <a:bodyPr/>
          <a:lstStyle/>
          <a:p>
            <a:r>
              <a:rPr lang="fa-IR" dirty="0"/>
              <a:t>از عضویت در فهرست عمومی فرصت‌ها تا نقش سرمایه‌گذار لنگر در حاکمیت مشترک اکوسیستم</a:t>
            </a:r>
          </a:p>
        </p:txBody>
      </p:sp>
      <p:sp>
        <p:nvSpPr>
          <p:cNvPr id="4" name="Rectangle: Rounded Corners 3">
            <a:extLst>
              <a:ext uri="{FF2B5EF4-FFF2-40B4-BE49-F238E27FC236}">
                <a16:creationId xmlns:a16="http://schemas.microsoft.com/office/drawing/2014/main" id="{7E5B3BEC-15B3-E4C8-0592-A1DD2838ED0A}"/>
              </a:ext>
            </a:extLst>
          </p:cNvPr>
          <p:cNvSpPr/>
          <p:nvPr/>
        </p:nvSpPr>
        <p:spPr>
          <a:xfrm>
            <a:off x="10498755" y="1440259"/>
            <a:ext cx="744817" cy="577516"/>
          </a:xfrm>
          <a:prstGeom prst="roundRect">
            <a:avLst/>
          </a:prstGeom>
          <a:solidFill>
            <a:srgbClr val="15296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نیاز محوری</a:t>
            </a:r>
            <a:endParaRPr kumimoji="0" lang="en-GB" sz="105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sp>
        <p:nvSpPr>
          <p:cNvPr id="5" name="Isosceles Triangle 4">
            <a:extLst>
              <a:ext uri="{FF2B5EF4-FFF2-40B4-BE49-F238E27FC236}">
                <a16:creationId xmlns:a16="http://schemas.microsoft.com/office/drawing/2014/main" id="{0987B6D1-3BB6-9D6D-8B52-61395E39CD00}"/>
              </a:ext>
            </a:extLst>
          </p:cNvPr>
          <p:cNvSpPr/>
          <p:nvPr/>
        </p:nvSpPr>
        <p:spPr>
          <a:xfrm rot="16200000">
            <a:off x="10127842" y="1675364"/>
            <a:ext cx="577516" cy="107305"/>
          </a:xfrm>
          <a:prstGeom prst="triangle">
            <a:avLst/>
          </a:prstGeom>
          <a:solidFill>
            <a:srgbClr val="F0BE0F">
              <a:alpha val="5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6" name="Rectangle: Rounded Corners 5">
            <a:extLst>
              <a:ext uri="{FF2B5EF4-FFF2-40B4-BE49-F238E27FC236}">
                <a16:creationId xmlns:a16="http://schemas.microsoft.com/office/drawing/2014/main" id="{ACD4C5B7-9686-F91F-3E53-12D73275A708}"/>
              </a:ext>
            </a:extLst>
          </p:cNvPr>
          <p:cNvSpPr/>
          <p:nvPr/>
        </p:nvSpPr>
        <p:spPr>
          <a:xfrm>
            <a:off x="5940763" y="1440259"/>
            <a:ext cx="4393682" cy="577516"/>
          </a:xfrm>
          <a:prstGeom prst="roundRect">
            <a:avLst/>
          </a:prstGeom>
          <a:noFill/>
          <a:ln w="6350">
            <a:solidFill>
              <a:srgbClr val="004D80">
                <a:alpha val="46000"/>
              </a:srgb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تخصیص سرمایه در فرصت‌های برون‌مرزی که خودش نمی‌تواند بیابد،</a:t>
            </a:r>
          </a:p>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0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ارزیابی یا پایش کند</a:t>
            </a:r>
            <a:endParaRPr kumimoji="0" lang="en-GB" sz="1000" b="1"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endParaRPr>
          </a:p>
        </p:txBody>
      </p:sp>
      <p:sp>
        <p:nvSpPr>
          <p:cNvPr id="9" name="Rectangle: Rounded Corners 8">
            <a:extLst>
              <a:ext uri="{FF2B5EF4-FFF2-40B4-BE49-F238E27FC236}">
                <a16:creationId xmlns:a16="http://schemas.microsoft.com/office/drawing/2014/main" id="{CE8C2C16-3412-2C71-700D-82F716619885}"/>
              </a:ext>
            </a:extLst>
          </p:cNvPr>
          <p:cNvSpPr/>
          <p:nvPr/>
        </p:nvSpPr>
        <p:spPr>
          <a:xfrm>
            <a:off x="5017471" y="1440259"/>
            <a:ext cx="744817" cy="577516"/>
          </a:xfrm>
          <a:prstGeom prst="round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05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رفتار</a:t>
            </a:r>
            <a:endParaRPr kumimoji="0" lang="en-GB" sz="105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sp>
        <p:nvSpPr>
          <p:cNvPr id="10" name="Isosceles Triangle 9">
            <a:extLst>
              <a:ext uri="{FF2B5EF4-FFF2-40B4-BE49-F238E27FC236}">
                <a16:creationId xmlns:a16="http://schemas.microsoft.com/office/drawing/2014/main" id="{8B677CBD-3EF2-8199-E31C-4A3A9C9825F2}"/>
              </a:ext>
            </a:extLst>
          </p:cNvPr>
          <p:cNvSpPr/>
          <p:nvPr/>
        </p:nvSpPr>
        <p:spPr>
          <a:xfrm rot="16200000">
            <a:off x="4646558" y="1675364"/>
            <a:ext cx="577516" cy="107305"/>
          </a:xfrm>
          <a:prstGeom prst="triangle">
            <a:avLst/>
          </a:prstGeom>
          <a:solidFill>
            <a:srgbClr val="F0BE0F">
              <a:alpha val="5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1" name="Rectangle: Rounded Corners 10">
            <a:extLst>
              <a:ext uri="{FF2B5EF4-FFF2-40B4-BE49-F238E27FC236}">
                <a16:creationId xmlns:a16="http://schemas.microsoft.com/office/drawing/2014/main" id="{6AFBD7C1-4928-BF8A-BDEF-329529EB1349}"/>
              </a:ext>
            </a:extLst>
          </p:cNvPr>
          <p:cNvSpPr/>
          <p:nvPr/>
        </p:nvSpPr>
        <p:spPr>
          <a:xfrm>
            <a:off x="459479" y="1440259"/>
            <a:ext cx="4393682" cy="577516"/>
          </a:xfrm>
          <a:prstGeom prst="roundRect">
            <a:avLst/>
          </a:prstGeom>
          <a:noFill/>
          <a:ln w="6350">
            <a:solidFill>
              <a:schemeClr val="bg1">
                <a:lumMod val="75000"/>
                <a:alpha val="46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منطق مدیریت سبد سرمایه‌گذاری؛</a:t>
            </a:r>
          </a:p>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ترجیح هم‌سرمایه‌گذاری؛ به‌ندرت کل ریسک را تنها می‌پذیرد</a:t>
            </a:r>
            <a:endParaRPr kumimoji="0" lang="en-GB" sz="9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endParaRPr>
          </a:p>
        </p:txBody>
      </p:sp>
      <p:cxnSp>
        <p:nvCxnSpPr>
          <p:cNvPr id="29" name="Straight Connector 28">
            <a:extLst>
              <a:ext uri="{FF2B5EF4-FFF2-40B4-BE49-F238E27FC236}">
                <a16:creationId xmlns:a16="http://schemas.microsoft.com/office/drawing/2014/main" id="{4C335E88-97ED-D043-D233-400CE2202198}"/>
              </a:ext>
            </a:extLst>
          </p:cNvPr>
          <p:cNvCxnSpPr>
            <a:cxnSpLocks/>
          </p:cNvCxnSpPr>
          <p:nvPr/>
        </p:nvCxnSpPr>
        <p:spPr>
          <a:xfrm>
            <a:off x="8636598" y="2445906"/>
            <a:ext cx="1653837" cy="0"/>
          </a:xfrm>
          <a:prstGeom prst="line">
            <a:avLst/>
          </a:prstGeom>
          <a:ln w="3175">
            <a:solidFill>
              <a:srgbClr val="F0BE0F"/>
            </a:solidFill>
          </a:ln>
        </p:spPr>
        <p:style>
          <a:lnRef idx="1">
            <a:schemeClr val="accent2"/>
          </a:lnRef>
          <a:fillRef idx="0">
            <a:schemeClr val="accent2"/>
          </a:fillRef>
          <a:effectRef idx="0">
            <a:schemeClr val="accent2"/>
          </a:effectRef>
          <a:fontRef idx="minor">
            <a:schemeClr val="tx1"/>
          </a:fontRef>
        </p:style>
      </p:cxnSp>
      <p:sp>
        <p:nvSpPr>
          <p:cNvPr id="14" name="TextBox 13">
            <a:extLst>
              <a:ext uri="{FF2B5EF4-FFF2-40B4-BE49-F238E27FC236}">
                <a16:creationId xmlns:a16="http://schemas.microsoft.com/office/drawing/2014/main" id="{58734B5F-B041-D3DC-C2F6-362B8D43110A}"/>
              </a:ext>
            </a:extLst>
          </p:cNvPr>
          <p:cNvSpPr txBox="1"/>
          <p:nvPr/>
        </p:nvSpPr>
        <p:spPr>
          <a:xfrm>
            <a:off x="8738779" y="2330490"/>
            <a:ext cx="1449474" cy="230832"/>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rPr>
              <a:t>آرکی‌تایپ رابطه پیشنهادی</a:t>
            </a:r>
          </a:p>
        </p:txBody>
      </p:sp>
      <p:cxnSp>
        <p:nvCxnSpPr>
          <p:cNvPr id="35" name="Straight Connector 34">
            <a:extLst>
              <a:ext uri="{FF2B5EF4-FFF2-40B4-BE49-F238E27FC236}">
                <a16:creationId xmlns:a16="http://schemas.microsoft.com/office/drawing/2014/main" id="{DA65D58D-3395-3C79-7375-7C4CA21BE002}"/>
              </a:ext>
            </a:extLst>
          </p:cNvPr>
          <p:cNvCxnSpPr>
            <a:cxnSpLocks/>
          </p:cNvCxnSpPr>
          <p:nvPr/>
        </p:nvCxnSpPr>
        <p:spPr>
          <a:xfrm>
            <a:off x="459478" y="2445906"/>
            <a:ext cx="3840480" cy="0"/>
          </a:xfrm>
          <a:prstGeom prst="line">
            <a:avLst/>
          </a:prstGeom>
          <a:ln w="3175">
            <a:solidFill>
              <a:schemeClr val="bg1">
                <a:lumMod val="85000"/>
              </a:schemeClr>
            </a:solidFill>
          </a:ln>
        </p:spPr>
        <p:style>
          <a:lnRef idx="1">
            <a:schemeClr val="accent2"/>
          </a:lnRef>
          <a:fillRef idx="0">
            <a:schemeClr val="accent2"/>
          </a:fillRef>
          <a:effectRef idx="0">
            <a:schemeClr val="accent2"/>
          </a:effectRef>
          <a:fontRef idx="minor">
            <a:schemeClr val="tx1"/>
          </a:fontRef>
        </p:style>
      </p:cxnSp>
      <p:sp>
        <p:nvSpPr>
          <p:cNvPr id="36" name="TextBox 35">
            <a:extLst>
              <a:ext uri="{FF2B5EF4-FFF2-40B4-BE49-F238E27FC236}">
                <a16:creationId xmlns:a16="http://schemas.microsoft.com/office/drawing/2014/main" id="{BFBBD0FE-C4AC-A347-096D-B088EEA95ECB}"/>
              </a:ext>
            </a:extLst>
          </p:cNvPr>
          <p:cNvSpPr txBox="1"/>
          <p:nvPr/>
        </p:nvSpPr>
        <p:spPr>
          <a:xfrm>
            <a:off x="1464417" y="2330490"/>
            <a:ext cx="1830602" cy="230832"/>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rPr>
              <a:t>مثال جهانی و بنچمارک برون‌مرزی</a:t>
            </a:r>
          </a:p>
        </p:txBody>
      </p:sp>
      <p:cxnSp>
        <p:nvCxnSpPr>
          <p:cNvPr id="43" name="Straight Connector 42">
            <a:extLst>
              <a:ext uri="{FF2B5EF4-FFF2-40B4-BE49-F238E27FC236}">
                <a16:creationId xmlns:a16="http://schemas.microsoft.com/office/drawing/2014/main" id="{E364F5A4-26FF-EE19-08F7-2CA7D705B345}"/>
              </a:ext>
            </a:extLst>
          </p:cNvPr>
          <p:cNvCxnSpPr>
            <a:cxnSpLocks/>
          </p:cNvCxnSpPr>
          <p:nvPr/>
        </p:nvCxnSpPr>
        <p:spPr>
          <a:xfrm>
            <a:off x="4548038" y="2445906"/>
            <a:ext cx="3840480" cy="0"/>
          </a:xfrm>
          <a:prstGeom prst="line">
            <a:avLst/>
          </a:prstGeom>
          <a:ln w="3175">
            <a:solidFill>
              <a:schemeClr val="bg1">
                <a:lumMod val="85000"/>
              </a:schemeClr>
            </a:solidFill>
          </a:ln>
        </p:spPr>
        <p:style>
          <a:lnRef idx="1">
            <a:schemeClr val="accent2"/>
          </a:lnRef>
          <a:fillRef idx="0">
            <a:schemeClr val="accent2"/>
          </a:fillRef>
          <a:effectRef idx="0">
            <a:schemeClr val="accent2"/>
          </a:effectRef>
          <a:fontRef idx="minor">
            <a:schemeClr val="tx1"/>
          </a:fontRef>
        </p:style>
      </p:cxnSp>
      <p:sp>
        <p:nvSpPr>
          <p:cNvPr id="44" name="TextBox 43">
            <a:extLst>
              <a:ext uri="{FF2B5EF4-FFF2-40B4-BE49-F238E27FC236}">
                <a16:creationId xmlns:a16="http://schemas.microsoft.com/office/drawing/2014/main" id="{091916C3-A76E-50C6-7011-5BD7C6BFF21F}"/>
              </a:ext>
            </a:extLst>
          </p:cNvPr>
          <p:cNvSpPr txBox="1"/>
          <p:nvPr/>
        </p:nvSpPr>
        <p:spPr>
          <a:xfrm>
            <a:off x="5552977" y="2330490"/>
            <a:ext cx="1830602" cy="230832"/>
          </a:xfrm>
          <a:prstGeom prst="rect">
            <a:avLst/>
          </a:prstGeom>
          <a:solidFill>
            <a:schemeClr val="bg1"/>
          </a:solid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rPr>
              <a:t>کاربرد در اکوسیستم فرصت ایران</a:t>
            </a:r>
          </a:p>
        </p:txBody>
      </p:sp>
      <p:cxnSp>
        <p:nvCxnSpPr>
          <p:cNvPr id="47" name="Straight Connector 46">
            <a:extLst>
              <a:ext uri="{FF2B5EF4-FFF2-40B4-BE49-F238E27FC236}">
                <a16:creationId xmlns:a16="http://schemas.microsoft.com/office/drawing/2014/main" id="{18FADF2F-3456-71A0-53FF-04EB6A6A5EC2}"/>
              </a:ext>
            </a:extLst>
          </p:cNvPr>
          <p:cNvCxnSpPr>
            <a:cxnSpLocks/>
          </p:cNvCxnSpPr>
          <p:nvPr/>
        </p:nvCxnSpPr>
        <p:spPr>
          <a:xfrm>
            <a:off x="10538516" y="2445906"/>
            <a:ext cx="705056" cy="0"/>
          </a:xfrm>
          <a:prstGeom prst="line">
            <a:avLst/>
          </a:prstGeom>
          <a:ln w="3175">
            <a:solidFill>
              <a:srgbClr val="004D80"/>
            </a:solidFill>
          </a:ln>
        </p:spPr>
        <p:style>
          <a:lnRef idx="1">
            <a:schemeClr val="accent2"/>
          </a:lnRef>
          <a:fillRef idx="0">
            <a:schemeClr val="accent2"/>
          </a:fillRef>
          <a:effectRef idx="0">
            <a:schemeClr val="accent2"/>
          </a:effectRef>
          <a:fontRef idx="minor">
            <a:schemeClr val="tx1"/>
          </a:fontRef>
        </p:style>
      </p:cxnSp>
      <p:sp>
        <p:nvSpPr>
          <p:cNvPr id="48" name="TextBox 47">
            <a:extLst>
              <a:ext uri="{FF2B5EF4-FFF2-40B4-BE49-F238E27FC236}">
                <a16:creationId xmlns:a16="http://schemas.microsoft.com/office/drawing/2014/main" id="{AAEFCE50-D5ED-4BFA-461C-FCCC41222F48}"/>
              </a:ext>
            </a:extLst>
          </p:cNvPr>
          <p:cNvSpPr txBox="1"/>
          <p:nvPr/>
        </p:nvSpPr>
        <p:spPr>
          <a:xfrm>
            <a:off x="10655211" y="2330490"/>
            <a:ext cx="471667" cy="230832"/>
          </a:xfrm>
          <a:prstGeom prst="rect">
            <a:avLst/>
          </a:prstGeom>
          <a:solidFill>
            <a:schemeClr val="bg1"/>
          </a:solidFill>
          <a:ln>
            <a:noFill/>
          </a:ln>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solidFill>
                <a:effectLst/>
                <a:uLnTx/>
                <a:uFillTx/>
                <a:latin typeface="Yekan Bakh" pitchFamily="2" charset="-78"/>
                <a:ea typeface="Yekan Bakh" pitchFamily="2" charset="-78"/>
                <a:cs typeface="Yekan Bakh" pitchFamily="2" charset="-78"/>
              </a:rPr>
              <a:t>ناحیه</a:t>
            </a:r>
          </a:p>
        </p:txBody>
      </p:sp>
      <p:sp>
        <p:nvSpPr>
          <p:cNvPr id="18" name="Rectangle: Rounded Corners 17">
            <a:extLst>
              <a:ext uri="{FF2B5EF4-FFF2-40B4-BE49-F238E27FC236}">
                <a16:creationId xmlns:a16="http://schemas.microsoft.com/office/drawing/2014/main" id="{A60513BD-F658-E19D-5A0C-900D7B0679DD}"/>
              </a:ext>
            </a:extLst>
          </p:cNvPr>
          <p:cNvSpPr/>
          <p:nvPr/>
        </p:nvSpPr>
        <p:spPr>
          <a:xfrm>
            <a:off x="8636598" y="2635925"/>
            <a:ext cx="1653837" cy="528559"/>
          </a:xfrm>
          <a:prstGeom prst="roundRect">
            <a:avLst/>
          </a:prstGeom>
          <a:solidFill>
            <a:srgbClr val="F0BE0F">
              <a:alpha val="16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15296B"/>
              </a:solidFill>
              <a:effectLst/>
              <a:uLnTx/>
              <a:uFillTx/>
              <a:latin typeface="Calibri"/>
              <a:ea typeface="+mn-ea"/>
              <a:cs typeface="Calibri"/>
            </a:endParaRPr>
          </a:p>
        </p:txBody>
      </p:sp>
      <p:sp>
        <p:nvSpPr>
          <p:cNvPr id="22" name="TextBox 21">
            <a:extLst>
              <a:ext uri="{FF2B5EF4-FFF2-40B4-BE49-F238E27FC236}">
                <a16:creationId xmlns:a16="http://schemas.microsoft.com/office/drawing/2014/main" id="{04A8A2A3-C5AE-3D20-CD80-BFB1FB9251C7}"/>
              </a:ext>
            </a:extLst>
          </p:cNvPr>
          <p:cNvSpPr txBox="1"/>
          <p:nvPr/>
        </p:nvSpPr>
        <p:spPr>
          <a:xfrm>
            <a:off x="8636598" y="2766770"/>
            <a:ext cx="1653837" cy="266868"/>
          </a:xfrm>
          <a:prstGeom prst="rect">
            <a:avLst/>
          </a:prstGeom>
          <a:noFill/>
        </p:spPr>
        <p:txBody>
          <a:bodyPr wrap="square">
            <a:spAutoFit/>
          </a:bodyPr>
          <a:lstStyle/>
          <a:p>
            <a:pPr marL="0" marR="0" lvl="0" indent="0" algn="ctr" defTabSz="457200" rtl="1" eaLnBrk="1" fontAlgn="auto" latinLnBrk="0" hangingPunct="1">
              <a:lnSpc>
                <a:spcPct val="108000"/>
              </a:lnSpc>
              <a:spcBef>
                <a:spcPts val="0"/>
              </a:spcBef>
              <a:spcAft>
                <a:spcPts val="0"/>
              </a:spcAft>
              <a:buClrTx/>
              <a:buSzTx/>
              <a:buFontTx/>
              <a:buNone/>
              <a:tabLst/>
              <a:defRPr/>
            </a:pPr>
            <a:r>
              <a:rPr kumimoji="0" lang="fa-IR" sz="1050" b="1" i="0" u="none" strike="noStrike" kern="1200" cap="none" spc="0" normalizeH="0" baseline="0" noProof="0" dirty="0">
                <a:ln>
                  <a:noFill/>
                </a:ln>
                <a:solidFill>
                  <a:srgbClr val="15296B"/>
                </a:solidFill>
                <a:effectLst/>
                <a:uLnTx/>
                <a:uFillTx/>
                <a:latin typeface="Yekan Bakh FaNum" pitchFamily="2" charset="-78"/>
                <a:ea typeface="+mn-ea"/>
                <a:cs typeface="Yekan Bakh FaNum" pitchFamily="2" charset="-78"/>
              </a:rPr>
              <a:t>تراکنشی</a:t>
            </a:r>
          </a:p>
        </p:txBody>
      </p:sp>
      <p:sp>
        <p:nvSpPr>
          <p:cNvPr id="52" name="Rectangle: Rounded Corners 51">
            <a:extLst>
              <a:ext uri="{FF2B5EF4-FFF2-40B4-BE49-F238E27FC236}">
                <a16:creationId xmlns:a16="http://schemas.microsoft.com/office/drawing/2014/main" id="{D8612E6A-289D-C78B-8A9F-FBA34F933F91}"/>
              </a:ext>
            </a:extLst>
          </p:cNvPr>
          <p:cNvSpPr/>
          <p:nvPr/>
        </p:nvSpPr>
        <p:spPr>
          <a:xfrm>
            <a:off x="10538516" y="2635925"/>
            <a:ext cx="705056" cy="528559"/>
          </a:xfrm>
          <a:prstGeom prst="roundRect">
            <a:avLst/>
          </a:prstGeom>
          <a:solidFill>
            <a:srgbClr val="EFF3FB"/>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dirty="0">
              <a:ln>
                <a:noFill/>
              </a:ln>
              <a:solidFill>
                <a:srgbClr val="15296B"/>
              </a:solidFill>
              <a:effectLst/>
              <a:uLnTx/>
              <a:uFillTx/>
              <a:latin typeface="Calibri"/>
              <a:ea typeface="+mn-ea"/>
              <a:cs typeface="Calibri"/>
            </a:endParaRPr>
          </a:p>
        </p:txBody>
      </p:sp>
      <p:sp>
        <p:nvSpPr>
          <p:cNvPr id="19" name="TextBox 18">
            <a:extLst>
              <a:ext uri="{FF2B5EF4-FFF2-40B4-BE49-F238E27FC236}">
                <a16:creationId xmlns:a16="http://schemas.microsoft.com/office/drawing/2014/main" id="{AC4FD0CD-DD07-2B75-F8DF-653DA5A9E064}"/>
              </a:ext>
            </a:extLst>
          </p:cNvPr>
          <p:cNvSpPr txBox="1"/>
          <p:nvPr/>
        </p:nvSpPr>
        <p:spPr>
          <a:xfrm>
            <a:off x="10664057" y="2730927"/>
            <a:ext cx="453974" cy="338554"/>
          </a:xfrm>
          <a:prstGeom prst="rect">
            <a:avLst/>
          </a:prstGeom>
          <a:noFill/>
        </p:spPr>
        <p:txBody>
          <a:bodyPr wrap="square"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5296B"/>
                </a:solidFill>
                <a:effectLst/>
                <a:uLnTx/>
                <a:uFillTx/>
                <a:latin typeface="Yekan Bakh" pitchFamily="2" charset="-78"/>
                <a:ea typeface="Yekan Bakh" pitchFamily="2" charset="-78"/>
                <a:cs typeface="Yekan Bakh" pitchFamily="2" charset="-78"/>
              </a:rPr>
              <a:t>A</a:t>
            </a:r>
            <a:endParaRPr kumimoji="0" lang="fa-IR" sz="1600" b="1" i="0" u="none" strike="noStrike" kern="1200" cap="none" spc="0" normalizeH="0" baseline="0" noProof="0" dirty="0">
              <a:ln>
                <a:noFill/>
              </a:ln>
              <a:solidFill>
                <a:srgbClr val="15296B"/>
              </a:solidFill>
              <a:effectLst/>
              <a:uLnTx/>
              <a:uFillTx/>
              <a:latin typeface="Yekan Bakh" pitchFamily="2" charset="-78"/>
              <a:ea typeface="Yekan Bakh" pitchFamily="2" charset="-78"/>
              <a:cs typeface="Yekan Bakh" pitchFamily="2" charset="-78"/>
            </a:endParaRPr>
          </a:p>
        </p:txBody>
      </p:sp>
      <p:sp>
        <p:nvSpPr>
          <p:cNvPr id="60" name="Rectangle: Rounded Corners 59">
            <a:extLst>
              <a:ext uri="{FF2B5EF4-FFF2-40B4-BE49-F238E27FC236}">
                <a16:creationId xmlns:a16="http://schemas.microsoft.com/office/drawing/2014/main" id="{2EDF1496-D1F7-0757-5F11-2784637429AC}"/>
              </a:ext>
            </a:extLst>
          </p:cNvPr>
          <p:cNvSpPr/>
          <p:nvPr/>
        </p:nvSpPr>
        <p:spPr>
          <a:xfrm>
            <a:off x="4548039" y="2635925"/>
            <a:ext cx="3840480" cy="528559"/>
          </a:xfrm>
          <a:prstGeom prst="roundRect">
            <a:avLst/>
          </a:prstGeom>
          <a:solidFill>
            <a:schemeClr val="bg1">
              <a:lumMod val="95000"/>
              <a:alpha val="59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اشتراک/عضویت در فهرست عمومی فرصت‌های غربال‌شده</a:t>
            </a:r>
            <a:r>
              <a:rPr kumimoji="0" lang="en-US" sz="9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Deal-flow list) </a:t>
            </a:r>
            <a:r>
              <a:rPr kumimoji="0" lang="fa-IR" sz="9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 با دسترسی پایه</a:t>
            </a:r>
          </a:p>
        </p:txBody>
      </p:sp>
      <p:sp>
        <p:nvSpPr>
          <p:cNvPr id="62" name="Rectangle: Rounded Corners 61">
            <a:extLst>
              <a:ext uri="{FF2B5EF4-FFF2-40B4-BE49-F238E27FC236}">
                <a16:creationId xmlns:a16="http://schemas.microsoft.com/office/drawing/2014/main" id="{45497323-14E0-6F00-C13B-F68FA1ECF1D9}"/>
              </a:ext>
            </a:extLst>
          </p:cNvPr>
          <p:cNvSpPr/>
          <p:nvPr/>
        </p:nvSpPr>
        <p:spPr>
          <a:xfrm>
            <a:off x="459478" y="2635925"/>
            <a:ext cx="3840480" cy="528559"/>
          </a:xfrm>
          <a:prstGeom prst="roundRect">
            <a:avLst/>
          </a:prstGeom>
          <a:solidFill>
            <a:schemeClr val="bg1">
              <a:lumMod val="95000"/>
              <a:alpha val="59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خبرنامه‌های عمومی فرصت‌های سرمایه‌گذاری.</a:t>
            </a:r>
          </a:p>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بنچمارک: </a:t>
            </a:r>
            <a:r>
              <a:rPr kumimoji="0" lang="fa-IR"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فهرست عمومی فرصت‌های غربال‌شده شبکه‌های تسهیل‌گر تجارت</a:t>
            </a:r>
          </a:p>
        </p:txBody>
      </p:sp>
      <p:sp>
        <p:nvSpPr>
          <p:cNvPr id="104" name="Arrow: Down 103">
            <a:extLst>
              <a:ext uri="{FF2B5EF4-FFF2-40B4-BE49-F238E27FC236}">
                <a16:creationId xmlns:a16="http://schemas.microsoft.com/office/drawing/2014/main" id="{1DC83A48-2270-1319-C86D-7FEEC261E17E}"/>
              </a:ext>
            </a:extLst>
          </p:cNvPr>
          <p:cNvSpPr/>
          <p:nvPr/>
        </p:nvSpPr>
        <p:spPr>
          <a:xfrm rot="5400000">
            <a:off x="8427463" y="2832409"/>
            <a:ext cx="170188" cy="135591"/>
          </a:xfrm>
          <a:prstGeom prst="downArrow">
            <a:avLst/>
          </a:prstGeom>
          <a:solidFill>
            <a:schemeClr val="tx1">
              <a:lumMod val="50000"/>
              <a:lumOff val="50000"/>
              <a:alpha val="1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05" name="Arrow: Down 104">
            <a:extLst>
              <a:ext uri="{FF2B5EF4-FFF2-40B4-BE49-F238E27FC236}">
                <a16:creationId xmlns:a16="http://schemas.microsoft.com/office/drawing/2014/main" id="{D1DDFFA5-DCD0-D44F-B853-37BB8DC1D0D1}"/>
              </a:ext>
            </a:extLst>
          </p:cNvPr>
          <p:cNvSpPr/>
          <p:nvPr/>
        </p:nvSpPr>
        <p:spPr>
          <a:xfrm rot="5400000">
            <a:off x="4340404" y="2832410"/>
            <a:ext cx="170188" cy="135591"/>
          </a:xfrm>
          <a:prstGeom prst="downArrow">
            <a:avLst/>
          </a:prstGeom>
          <a:solidFill>
            <a:schemeClr val="tx1">
              <a:lumMod val="50000"/>
              <a:lumOff val="50000"/>
              <a:alpha val="1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11" name="Rectangle: Rounded Corners 110">
            <a:extLst>
              <a:ext uri="{FF2B5EF4-FFF2-40B4-BE49-F238E27FC236}">
                <a16:creationId xmlns:a16="http://schemas.microsoft.com/office/drawing/2014/main" id="{98FB4D6F-DD71-EC15-3F3A-BDDF15FF1540}"/>
              </a:ext>
            </a:extLst>
          </p:cNvPr>
          <p:cNvSpPr/>
          <p:nvPr/>
        </p:nvSpPr>
        <p:spPr>
          <a:xfrm>
            <a:off x="8636598" y="3242313"/>
            <a:ext cx="1653837" cy="528559"/>
          </a:xfrm>
          <a:prstGeom prst="roundRect">
            <a:avLst/>
          </a:prstGeom>
          <a:solidFill>
            <a:srgbClr val="F0BE0F">
              <a:alpha val="16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15296B"/>
              </a:solidFill>
              <a:effectLst/>
              <a:uLnTx/>
              <a:uFillTx/>
              <a:latin typeface="Calibri"/>
              <a:ea typeface="+mn-ea"/>
              <a:cs typeface="Calibri"/>
            </a:endParaRPr>
          </a:p>
        </p:txBody>
      </p:sp>
      <p:sp>
        <p:nvSpPr>
          <p:cNvPr id="112" name="TextBox 111">
            <a:extLst>
              <a:ext uri="{FF2B5EF4-FFF2-40B4-BE49-F238E27FC236}">
                <a16:creationId xmlns:a16="http://schemas.microsoft.com/office/drawing/2014/main" id="{E42D9EA5-9391-6C2F-E836-94B3E41FE2D3}"/>
              </a:ext>
            </a:extLst>
          </p:cNvPr>
          <p:cNvSpPr txBox="1"/>
          <p:nvPr/>
        </p:nvSpPr>
        <p:spPr>
          <a:xfrm>
            <a:off x="8636598" y="3373158"/>
            <a:ext cx="1653837" cy="266868"/>
          </a:xfrm>
          <a:prstGeom prst="rect">
            <a:avLst/>
          </a:prstGeom>
          <a:noFill/>
        </p:spPr>
        <p:txBody>
          <a:bodyPr wrap="square">
            <a:spAutoFit/>
          </a:bodyPr>
          <a:lstStyle/>
          <a:p>
            <a:pPr marL="0" marR="0" lvl="0" indent="0" algn="ctr" defTabSz="457200" rtl="1" eaLnBrk="1" fontAlgn="auto" latinLnBrk="0" hangingPunct="1">
              <a:lnSpc>
                <a:spcPct val="108000"/>
              </a:lnSpc>
              <a:spcBef>
                <a:spcPts val="0"/>
              </a:spcBef>
              <a:spcAft>
                <a:spcPts val="0"/>
              </a:spcAft>
              <a:buClrTx/>
              <a:buSzTx/>
              <a:buFontTx/>
              <a:buNone/>
              <a:tabLst/>
              <a:defRPr/>
            </a:pPr>
            <a:r>
              <a:rPr kumimoji="0" lang="fa-IR" sz="1050" b="1" i="0" u="none" strike="noStrike" kern="1200" cap="none" spc="0" normalizeH="0" baseline="0" noProof="0" dirty="0">
                <a:ln>
                  <a:noFill/>
                </a:ln>
                <a:solidFill>
                  <a:srgbClr val="15296B"/>
                </a:solidFill>
                <a:effectLst/>
                <a:uLnTx/>
                <a:uFillTx/>
                <a:latin typeface="Yekan Bakh FaNum" pitchFamily="2" charset="-78"/>
                <a:ea typeface="+mn-ea"/>
                <a:cs typeface="Yekan Bakh FaNum" pitchFamily="2" charset="-78"/>
              </a:rPr>
              <a:t>همراه/اختصاصی</a:t>
            </a:r>
          </a:p>
        </p:txBody>
      </p:sp>
      <p:sp>
        <p:nvSpPr>
          <p:cNvPr id="113" name="Rectangle: Rounded Corners 112">
            <a:extLst>
              <a:ext uri="{FF2B5EF4-FFF2-40B4-BE49-F238E27FC236}">
                <a16:creationId xmlns:a16="http://schemas.microsoft.com/office/drawing/2014/main" id="{112B2C3D-21F0-33F2-433F-45AA0B8A6E2F}"/>
              </a:ext>
            </a:extLst>
          </p:cNvPr>
          <p:cNvSpPr/>
          <p:nvPr/>
        </p:nvSpPr>
        <p:spPr>
          <a:xfrm>
            <a:off x="10538516" y="3242313"/>
            <a:ext cx="705056" cy="528559"/>
          </a:xfrm>
          <a:prstGeom prst="roundRect">
            <a:avLst/>
          </a:prstGeom>
          <a:solidFill>
            <a:srgbClr val="15296B"/>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dirty="0">
              <a:ln>
                <a:noFill/>
              </a:ln>
              <a:solidFill>
                <a:prstClr val="white"/>
              </a:solidFill>
              <a:effectLst/>
              <a:uLnTx/>
              <a:uFillTx/>
              <a:latin typeface="Calibri"/>
              <a:ea typeface="+mn-ea"/>
              <a:cs typeface="Calibri"/>
            </a:endParaRPr>
          </a:p>
        </p:txBody>
      </p:sp>
      <p:sp>
        <p:nvSpPr>
          <p:cNvPr id="114" name="TextBox 113">
            <a:extLst>
              <a:ext uri="{FF2B5EF4-FFF2-40B4-BE49-F238E27FC236}">
                <a16:creationId xmlns:a16="http://schemas.microsoft.com/office/drawing/2014/main" id="{A6472185-B5DC-3DFF-A90B-68BC53F22E97}"/>
              </a:ext>
            </a:extLst>
          </p:cNvPr>
          <p:cNvSpPr txBox="1"/>
          <p:nvPr/>
        </p:nvSpPr>
        <p:spPr>
          <a:xfrm>
            <a:off x="10664057" y="3337315"/>
            <a:ext cx="453974" cy="338554"/>
          </a:xfrm>
          <a:prstGeom prst="rect">
            <a:avLst/>
          </a:prstGeom>
          <a:noFill/>
        </p:spPr>
        <p:txBody>
          <a:bodyPr wrap="square"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B</a:t>
            </a:r>
            <a:endParaRPr kumimoji="0" lang="fa-IR" sz="16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sp>
        <p:nvSpPr>
          <p:cNvPr id="115" name="Rectangle: Rounded Corners 114">
            <a:extLst>
              <a:ext uri="{FF2B5EF4-FFF2-40B4-BE49-F238E27FC236}">
                <a16:creationId xmlns:a16="http://schemas.microsoft.com/office/drawing/2014/main" id="{6DA512AA-161B-B6A6-DD76-0B2E63649ED9}"/>
              </a:ext>
            </a:extLst>
          </p:cNvPr>
          <p:cNvSpPr/>
          <p:nvPr/>
        </p:nvSpPr>
        <p:spPr>
          <a:xfrm>
            <a:off x="4548039" y="3242313"/>
            <a:ext cx="3840480" cy="528559"/>
          </a:xfrm>
          <a:prstGeom prst="roundRect">
            <a:avLst/>
          </a:prstGeom>
          <a:solidFill>
            <a:schemeClr val="bg1">
              <a:lumMod val="95000"/>
              <a:alpha val="59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پاسخ‌گویی اختصاصی به سؤالات یک سرمایه‌گذار درباره یک فرصت مشخص و ساده، بدون ساختار مشارکتی پیچیده</a:t>
            </a:r>
          </a:p>
        </p:txBody>
      </p:sp>
      <p:sp>
        <p:nvSpPr>
          <p:cNvPr id="116" name="Rectangle: Rounded Corners 115">
            <a:extLst>
              <a:ext uri="{FF2B5EF4-FFF2-40B4-BE49-F238E27FC236}">
                <a16:creationId xmlns:a16="http://schemas.microsoft.com/office/drawing/2014/main" id="{544B236F-8826-09A9-CCAA-96AE8110BDCD}"/>
              </a:ext>
            </a:extLst>
          </p:cNvPr>
          <p:cNvSpPr/>
          <p:nvPr/>
        </p:nvSpPr>
        <p:spPr>
          <a:xfrm>
            <a:off x="459478" y="3242313"/>
            <a:ext cx="3840480" cy="528559"/>
          </a:xfrm>
          <a:prstGeom prst="roundRect">
            <a:avLst/>
          </a:prstGeom>
          <a:solidFill>
            <a:schemeClr val="bg1">
              <a:lumMod val="95000"/>
              <a:alpha val="59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a:t>
            </a:r>
            <a:endParaRPr kumimoji="0" lang="en-US"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endParaRPr>
          </a:p>
        </p:txBody>
      </p:sp>
      <p:sp>
        <p:nvSpPr>
          <p:cNvPr id="117" name="Arrow: Down 116">
            <a:extLst>
              <a:ext uri="{FF2B5EF4-FFF2-40B4-BE49-F238E27FC236}">
                <a16:creationId xmlns:a16="http://schemas.microsoft.com/office/drawing/2014/main" id="{C8377DFC-B551-21FE-7DDF-5375743AF45C}"/>
              </a:ext>
            </a:extLst>
          </p:cNvPr>
          <p:cNvSpPr/>
          <p:nvPr/>
        </p:nvSpPr>
        <p:spPr>
          <a:xfrm rot="5400000">
            <a:off x="8427463" y="3438797"/>
            <a:ext cx="170188" cy="135591"/>
          </a:xfrm>
          <a:prstGeom prst="downArrow">
            <a:avLst/>
          </a:prstGeom>
          <a:solidFill>
            <a:schemeClr val="tx1">
              <a:lumMod val="50000"/>
              <a:lumOff val="50000"/>
              <a:alpha val="1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18" name="Arrow: Down 117">
            <a:extLst>
              <a:ext uri="{FF2B5EF4-FFF2-40B4-BE49-F238E27FC236}">
                <a16:creationId xmlns:a16="http://schemas.microsoft.com/office/drawing/2014/main" id="{B52AB036-27AB-8029-6051-D169B2ABAF3E}"/>
              </a:ext>
            </a:extLst>
          </p:cNvPr>
          <p:cNvSpPr/>
          <p:nvPr/>
        </p:nvSpPr>
        <p:spPr>
          <a:xfrm rot="5400000">
            <a:off x="4340404" y="3438798"/>
            <a:ext cx="170188" cy="135591"/>
          </a:xfrm>
          <a:prstGeom prst="downArrow">
            <a:avLst/>
          </a:prstGeom>
          <a:solidFill>
            <a:schemeClr val="tx1">
              <a:lumMod val="50000"/>
              <a:lumOff val="50000"/>
              <a:alpha val="1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20" name="Rectangle: Rounded Corners 119">
            <a:extLst>
              <a:ext uri="{FF2B5EF4-FFF2-40B4-BE49-F238E27FC236}">
                <a16:creationId xmlns:a16="http://schemas.microsoft.com/office/drawing/2014/main" id="{0D0FF973-08FD-59F5-14D9-3245E629551F}"/>
              </a:ext>
            </a:extLst>
          </p:cNvPr>
          <p:cNvSpPr/>
          <p:nvPr/>
        </p:nvSpPr>
        <p:spPr>
          <a:xfrm>
            <a:off x="8636598" y="3848701"/>
            <a:ext cx="1653837" cy="528559"/>
          </a:xfrm>
          <a:prstGeom prst="roundRect">
            <a:avLst/>
          </a:prstGeom>
          <a:solidFill>
            <a:srgbClr val="F0BE0F">
              <a:alpha val="16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15296B"/>
              </a:solidFill>
              <a:effectLst/>
              <a:uLnTx/>
              <a:uFillTx/>
              <a:latin typeface="Calibri"/>
              <a:ea typeface="+mn-ea"/>
              <a:cs typeface="Calibri"/>
            </a:endParaRPr>
          </a:p>
        </p:txBody>
      </p:sp>
      <p:sp>
        <p:nvSpPr>
          <p:cNvPr id="121" name="TextBox 120">
            <a:extLst>
              <a:ext uri="{FF2B5EF4-FFF2-40B4-BE49-F238E27FC236}">
                <a16:creationId xmlns:a16="http://schemas.microsoft.com/office/drawing/2014/main" id="{E61FB59B-7E0C-6F72-424D-1110DC3A5D07}"/>
              </a:ext>
            </a:extLst>
          </p:cNvPr>
          <p:cNvSpPr txBox="1"/>
          <p:nvPr/>
        </p:nvSpPr>
        <p:spPr>
          <a:xfrm>
            <a:off x="8636598" y="3979546"/>
            <a:ext cx="1653837" cy="266868"/>
          </a:xfrm>
          <a:prstGeom prst="rect">
            <a:avLst/>
          </a:prstGeom>
          <a:noFill/>
        </p:spPr>
        <p:txBody>
          <a:bodyPr wrap="square">
            <a:spAutoFit/>
          </a:bodyPr>
          <a:lstStyle/>
          <a:p>
            <a:pPr marL="0" marR="0" lvl="0" indent="0" algn="ctr" defTabSz="457200" rtl="1" eaLnBrk="1" fontAlgn="auto" latinLnBrk="0" hangingPunct="1">
              <a:lnSpc>
                <a:spcPct val="108000"/>
              </a:lnSpc>
              <a:spcBef>
                <a:spcPts val="0"/>
              </a:spcBef>
              <a:spcAft>
                <a:spcPts val="0"/>
              </a:spcAft>
              <a:buClrTx/>
              <a:buSzTx/>
              <a:buFontTx/>
              <a:buNone/>
              <a:tabLst/>
              <a:defRPr/>
            </a:pPr>
            <a:r>
              <a:rPr kumimoji="0" lang="fa-IR" sz="1050" b="1" i="0" u="none" strike="noStrike" kern="1200" cap="none" spc="0" normalizeH="0" baseline="0" noProof="0" dirty="0">
                <a:ln>
                  <a:noFill/>
                </a:ln>
                <a:solidFill>
                  <a:srgbClr val="15296B"/>
                </a:solidFill>
                <a:effectLst/>
                <a:uLnTx/>
                <a:uFillTx/>
                <a:latin typeface="Yekan Bakh FaNum" pitchFamily="2" charset="-78"/>
                <a:ea typeface="+mn-ea"/>
                <a:cs typeface="Yekan Bakh FaNum" pitchFamily="2" charset="-78"/>
              </a:rPr>
              <a:t>مشاوره‌ای/محصولی‌شده</a:t>
            </a:r>
          </a:p>
        </p:txBody>
      </p:sp>
      <p:sp>
        <p:nvSpPr>
          <p:cNvPr id="122" name="Rectangle: Rounded Corners 121">
            <a:extLst>
              <a:ext uri="{FF2B5EF4-FFF2-40B4-BE49-F238E27FC236}">
                <a16:creationId xmlns:a16="http://schemas.microsoft.com/office/drawing/2014/main" id="{AA60CAEB-35E9-2102-1AD3-1C1E73094045}"/>
              </a:ext>
            </a:extLst>
          </p:cNvPr>
          <p:cNvSpPr/>
          <p:nvPr/>
        </p:nvSpPr>
        <p:spPr>
          <a:xfrm>
            <a:off x="10538516" y="3848701"/>
            <a:ext cx="705056" cy="528559"/>
          </a:xfrm>
          <a:prstGeom prst="roundRect">
            <a:avLst/>
          </a:prstGeom>
          <a:solidFill>
            <a:srgbClr val="15296B">
              <a:alpha val="20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dirty="0">
              <a:ln>
                <a:noFill/>
              </a:ln>
              <a:solidFill>
                <a:prstClr val="white"/>
              </a:solidFill>
              <a:effectLst/>
              <a:uLnTx/>
              <a:uFillTx/>
              <a:latin typeface="Calibri"/>
              <a:ea typeface="+mn-ea"/>
              <a:cs typeface="Calibri"/>
            </a:endParaRPr>
          </a:p>
        </p:txBody>
      </p:sp>
      <p:sp>
        <p:nvSpPr>
          <p:cNvPr id="123" name="TextBox 122">
            <a:extLst>
              <a:ext uri="{FF2B5EF4-FFF2-40B4-BE49-F238E27FC236}">
                <a16:creationId xmlns:a16="http://schemas.microsoft.com/office/drawing/2014/main" id="{05769ED6-098B-363A-2998-14F4F96FDFCB}"/>
              </a:ext>
            </a:extLst>
          </p:cNvPr>
          <p:cNvSpPr txBox="1"/>
          <p:nvPr/>
        </p:nvSpPr>
        <p:spPr>
          <a:xfrm>
            <a:off x="10664057" y="3943703"/>
            <a:ext cx="453974" cy="338554"/>
          </a:xfrm>
          <a:prstGeom prst="rect">
            <a:avLst/>
          </a:prstGeom>
          <a:noFill/>
        </p:spPr>
        <p:txBody>
          <a:bodyPr wrap="square"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5296B"/>
                </a:solidFill>
                <a:effectLst/>
                <a:uLnTx/>
                <a:uFillTx/>
                <a:latin typeface="Yekan Bakh" pitchFamily="2" charset="-78"/>
                <a:ea typeface="Yekan Bakh" pitchFamily="2" charset="-78"/>
                <a:cs typeface="Yekan Bakh" pitchFamily="2" charset="-78"/>
              </a:rPr>
              <a:t>C</a:t>
            </a:r>
            <a:endParaRPr kumimoji="0" lang="fa-IR" sz="1600" b="1" i="0" u="none" strike="noStrike" kern="1200" cap="none" spc="0" normalizeH="0" baseline="0" noProof="0" dirty="0">
              <a:ln>
                <a:noFill/>
              </a:ln>
              <a:solidFill>
                <a:srgbClr val="15296B"/>
              </a:solidFill>
              <a:effectLst/>
              <a:uLnTx/>
              <a:uFillTx/>
              <a:latin typeface="Yekan Bakh" pitchFamily="2" charset="-78"/>
              <a:ea typeface="Yekan Bakh" pitchFamily="2" charset="-78"/>
              <a:cs typeface="Yekan Bakh" pitchFamily="2" charset="-78"/>
            </a:endParaRPr>
          </a:p>
        </p:txBody>
      </p:sp>
      <p:sp>
        <p:nvSpPr>
          <p:cNvPr id="124" name="Rectangle: Rounded Corners 123">
            <a:extLst>
              <a:ext uri="{FF2B5EF4-FFF2-40B4-BE49-F238E27FC236}">
                <a16:creationId xmlns:a16="http://schemas.microsoft.com/office/drawing/2014/main" id="{46535009-54CA-F0D8-8BBD-03F257AB4DF0}"/>
              </a:ext>
            </a:extLst>
          </p:cNvPr>
          <p:cNvSpPr/>
          <p:nvPr/>
        </p:nvSpPr>
        <p:spPr>
          <a:xfrm>
            <a:off x="4548039" y="3848701"/>
            <a:ext cx="3840480" cy="528559"/>
          </a:xfrm>
          <a:prstGeom prst="roundRect">
            <a:avLst/>
          </a:prstGeom>
          <a:solidFill>
            <a:schemeClr val="bg1">
              <a:lumMod val="95000"/>
              <a:alpha val="59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گزارش راستی‌آزمایی استاندارد (</a:t>
            </a:r>
            <a:r>
              <a:rPr kumimoji="0" lang="en-US" sz="9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Due-Diligence Package</a:t>
            </a:r>
            <a:r>
              <a:rPr kumimoji="0" lang="fa-IR" sz="9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 برای یک فرصت خاص، با کارمزد مشخص و مستقل از تعهد سرمایه‌گذاری</a:t>
            </a:r>
          </a:p>
        </p:txBody>
      </p:sp>
      <p:sp>
        <p:nvSpPr>
          <p:cNvPr id="125" name="Rectangle: Rounded Corners 124">
            <a:extLst>
              <a:ext uri="{FF2B5EF4-FFF2-40B4-BE49-F238E27FC236}">
                <a16:creationId xmlns:a16="http://schemas.microsoft.com/office/drawing/2014/main" id="{27FC1D72-932C-80C6-8024-CE50A8F7EBF8}"/>
              </a:ext>
            </a:extLst>
          </p:cNvPr>
          <p:cNvSpPr/>
          <p:nvPr/>
        </p:nvSpPr>
        <p:spPr>
          <a:xfrm>
            <a:off x="459478" y="3848701"/>
            <a:ext cx="3840480" cy="528559"/>
          </a:xfrm>
          <a:prstGeom prst="roundRect">
            <a:avLst/>
          </a:prstGeom>
          <a:solidFill>
            <a:schemeClr val="bg1">
              <a:lumMod val="95000"/>
              <a:alpha val="59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بسته استاندارد </a:t>
            </a:r>
            <a:r>
              <a:rPr kumimoji="0" lang="en-US"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Due-Diligence</a:t>
            </a:r>
            <a:r>
              <a:rPr kumimoji="0" lang="fa-IR"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 مؤسسات مشاوره سرمایه‌گذاری.</a:t>
            </a:r>
          </a:p>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بنچمارک: </a:t>
            </a:r>
            <a:r>
              <a:rPr kumimoji="0" lang="fa-IR"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گزارش راستی‌آزمایی استاندارد پلتفرم‌های </a:t>
            </a:r>
            <a:r>
              <a:rPr kumimoji="0" lang="en-US"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Hum Capital/Pitch40</a:t>
            </a:r>
          </a:p>
        </p:txBody>
      </p:sp>
      <p:sp>
        <p:nvSpPr>
          <p:cNvPr id="126" name="Arrow: Down 125">
            <a:extLst>
              <a:ext uri="{FF2B5EF4-FFF2-40B4-BE49-F238E27FC236}">
                <a16:creationId xmlns:a16="http://schemas.microsoft.com/office/drawing/2014/main" id="{CA5BE6ED-1DFC-5C9D-FD2C-5D3D208C0E77}"/>
              </a:ext>
            </a:extLst>
          </p:cNvPr>
          <p:cNvSpPr/>
          <p:nvPr/>
        </p:nvSpPr>
        <p:spPr>
          <a:xfrm rot="5400000">
            <a:off x="8427463" y="4045185"/>
            <a:ext cx="170188" cy="135591"/>
          </a:xfrm>
          <a:prstGeom prst="downArrow">
            <a:avLst/>
          </a:prstGeom>
          <a:solidFill>
            <a:schemeClr val="tx1">
              <a:lumMod val="50000"/>
              <a:lumOff val="50000"/>
              <a:alpha val="1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27" name="Arrow: Down 126">
            <a:extLst>
              <a:ext uri="{FF2B5EF4-FFF2-40B4-BE49-F238E27FC236}">
                <a16:creationId xmlns:a16="http://schemas.microsoft.com/office/drawing/2014/main" id="{A03F92FF-FAF6-A8E6-FCBC-93E1167BF644}"/>
              </a:ext>
            </a:extLst>
          </p:cNvPr>
          <p:cNvSpPr/>
          <p:nvPr/>
        </p:nvSpPr>
        <p:spPr>
          <a:xfrm rot="5400000">
            <a:off x="4340404" y="4045186"/>
            <a:ext cx="170188" cy="135591"/>
          </a:xfrm>
          <a:prstGeom prst="downArrow">
            <a:avLst/>
          </a:prstGeom>
          <a:solidFill>
            <a:schemeClr val="tx1">
              <a:lumMod val="50000"/>
              <a:lumOff val="50000"/>
              <a:alpha val="1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29" name="Rectangle: Rounded Corners 128">
            <a:extLst>
              <a:ext uri="{FF2B5EF4-FFF2-40B4-BE49-F238E27FC236}">
                <a16:creationId xmlns:a16="http://schemas.microsoft.com/office/drawing/2014/main" id="{98E9FB4F-350E-3EC6-3903-7D7703386774}"/>
              </a:ext>
            </a:extLst>
          </p:cNvPr>
          <p:cNvSpPr/>
          <p:nvPr/>
        </p:nvSpPr>
        <p:spPr>
          <a:xfrm>
            <a:off x="8636598" y="4455089"/>
            <a:ext cx="1653837" cy="528559"/>
          </a:xfrm>
          <a:prstGeom prst="roundRect">
            <a:avLst/>
          </a:prstGeom>
          <a:solidFill>
            <a:srgbClr val="F0BE0F">
              <a:alpha val="16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15296B"/>
              </a:solidFill>
              <a:effectLst/>
              <a:uLnTx/>
              <a:uFillTx/>
              <a:latin typeface="Calibri"/>
              <a:ea typeface="+mn-ea"/>
              <a:cs typeface="Calibri"/>
            </a:endParaRPr>
          </a:p>
        </p:txBody>
      </p:sp>
      <p:sp>
        <p:nvSpPr>
          <p:cNvPr id="130" name="TextBox 129">
            <a:extLst>
              <a:ext uri="{FF2B5EF4-FFF2-40B4-BE49-F238E27FC236}">
                <a16:creationId xmlns:a16="http://schemas.microsoft.com/office/drawing/2014/main" id="{48F2D7C8-041B-A0E2-532F-2553E3FE6BC0}"/>
              </a:ext>
            </a:extLst>
          </p:cNvPr>
          <p:cNvSpPr txBox="1"/>
          <p:nvPr/>
        </p:nvSpPr>
        <p:spPr>
          <a:xfrm>
            <a:off x="8636598" y="4585934"/>
            <a:ext cx="1653837" cy="266868"/>
          </a:xfrm>
          <a:prstGeom prst="rect">
            <a:avLst/>
          </a:prstGeom>
          <a:noFill/>
        </p:spPr>
        <p:txBody>
          <a:bodyPr wrap="square">
            <a:spAutoFit/>
          </a:bodyPr>
          <a:lstStyle/>
          <a:p>
            <a:pPr marL="0" marR="0" lvl="0" indent="0" algn="ctr" defTabSz="457200" rtl="1" eaLnBrk="1" fontAlgn="auto" latinLnBrk="0" hangingPunct="1">
              <a:lnSpc>
                <a:spcPct val="108000"/>
              </a:lnSpc>
              <a:spcBef>
                <a:spcPts val="0"/>
              </a:spcBef>
              <a:spcAft>
                <a:spcPts val="0"/>
              </a:spcAft>
              <a:buClrTx/>
              <a:buSzTx/>
              <a:buFontTx/>
              <a:buNone/>
              <a:tabLst/>
              <a:defRPr/>
            </a:pPr>
            <a:r>
              <a:rPr kumimoji="0" lang="fa-IR" sz="1050" b="1" i="0" u="none" strike="noStrike" kern="1200" cap="none" spc="0" normalizeH="0" baseline="0" noProof="0" dirty="0">
                <a:ln>
                  <a:noFill/>
                </a:ln>
                <a:solidFill>
                  <a:srgbClr val="15296B"/>
                </a:solidFill>
                <a:effectLst/>
                <a:uLnTx/>
                <a:uFillTx/>
                <a:latin typeface="Yekan Bakh FaNum" pitchFamily="2" charset="-78"/>
                <a:ea typeface="+mn-ea"/>
                <a:cs typeface="Yekan Bakh FaNum" pitchFamily="2" charset="-78"/>
              </a:rPr>
              <a:t>مدیریت‌شده+مشارکتی</a:t>
            </a:r>
          </a:p>
        </p:txBody>
      </p:sp>
      <p:sp>
        <p:nvSpPr>
          <p:cNvPr id="131" name="Rectangle: Rounded Corners 130">
            <a:extLst>
              <a:ext uri="{FF2B5EF4-FFF2-40B4-BE49-F238E27FC236}">
                <a16:creationId xmlns:a16="http://schemas.microsoft.com/office/drawing/2014/main" id="{F84ABB9C-0243-155C-12B2-A80AE4DF78BA}"/>
              </a:ext>
            </a:extLst>
          </p:cNvPr>
          <p:cNvSpPr/>
          <p:nvPr/>
        </p:nvSpPr>
        <p:spPr>
          <a:xfrm>
            <a:off x="10538516" y="4455089"/>
            <a:ext cx="705056" cy="528559"/>
          </a:xfrm>
          <a:prstGeom prst="roundRect">
            <a:avLst/>
          </a:prstGeom>
          <a:solidFill>
            <a:srgbClr val="15296B">
              <a:alpha val="40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dirty="0">
              <a:ln>
                <a:noFill/>
              </a:ln>
              <a:solidFill>
                <a:srgbClr val="15296B"/>
              </a:solidFill>
              <a:effectLst/>
              <a:uLnTx/>
              <a:uFillTx/>
              <a:latin typeface="Calibri"/>
              <a:ea typeface="+mn-ea"/>
              <a:cs typeface="Calibri"/>
            </a:endParaRPr>
          </a:p>
        </p:txBody>
      </p:sp>
      <p:sp>
        <p:nvSpPr>
          <p:cNvPr id="132" name="TextBox 131">
            <a:extLst>
              <a:ext uri="{FF2B5EF4-FFF2-40B4-BE49-F238E27FC236}">
                <a16:creationId xmlns:a16="http://schemas.microsoft.com/office/drawing/2014/main" id="{AE6F520A-5FA7-0A39-7F9B-D626C4F2260F}"/>
              </a:ext>
            </a:extLst>
          </p:cNvPr>
          <p:cNvSpPr txBox="1"/>
          <p:nvPr/>
        </p:nvSpPr>
        <p:spPr>
          <a:xfrm>
            <a:off x="10664057" y="4550091"/>
            <a:ext cx="453974" cy="338554"/>
          </a:xfrm>
          <a:prstGeom prst="rect">
            <a:avLst/>
          </a:prstGeom>
          <a:noFill/>
        </p:spPr>
        <p:txBody>
          <a:bodyPr wrap="square"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D</a:t>
            </a:r>
            <a:endParaRPr kumimoji="0" lang="fa-IR" sz="16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sp>
        <p:nvSpPr>
          <p:cNvPr id="133" name="Rectangle: Rounded Corners 132">
            <a:extLst>
              <a:ext uri="{FF2B5EF4-FFF2-40B4-BE49-F238E27FC236}">
                <a16:creationId xmlns:a16="http://schemas.microsoft.com/office/drawing/2014/main" id="{3C87CFB4-2D0C-A5CD-397B-F7110DF12F92}"/>
              </a:ext>
            </a:extLst>
          </p:cNvPr>
          <p:cNvSpPr/>
          <p:nvPr/>
        </p:nvSpPr>
        <p:spPr>
          <a:xfrm>
            <a:off x="4548039" y="4455089"/>
            <a:ext cx="3840480" cy="528559"/>
          </a:xfrm>
          <a:prstGeom prst="roundRect">
            <a:avLst/>
          </a:prstGeom>
          <a:solidFill>
            <a:schemeClr val="bg1">
              <a:lumMod val="95000"/>
              <a:alpha val="59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ساختاردهی و نظارت مستمر بر سرمایه‌گذاری‌های مشترک </a:t>
            </a:r>
            <a:r>
              <a:rPr kumimoji="0" lang="en-US" sz="9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Co-investment)</a:t>
            </a:r>
            <a:r>
              <a:rPr kumimoji="0" lang="fa-IR" sz="9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a:t>
            </a:r>
            <a:r>
              <a:rPr kumimoji="0" lang="en-US" sz="9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 </a:t>
            </a:r>
            <a:r>
              <a:rPr kumimoji="0" lang="fa-IR" sz="9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پایش عملکرد و گزارش‌دهی دوره‌ای</a:t>
            </a:r>
          </a:p>
        </p:txBody>
      </p:sp>
      <p:sp>
        <p:nvSpPr>
          <p:cNvPr id="134" name="Rectangle: Rounded Corners 133">
            <a:extLst>
              <a:ext uri="{FF2B5EF4-FFF2-40B4-BE49-F238E27FC236}">
                <a16:creationId xmlns:a16="http://schemas.microsoft.com/office/drawing/2014/main" id="{32E7BC1E-0CE5-6961-1454-75F508B9700E}"/>
              </a:ext>
            </a:extLst>
          </p:cNvPr>
          <p:cNvSpPr/>
          <p:nvPr/>
        </p:nvSpPr>
        <p:spPr>
          <a:xfrm>
            <a:off x="459478" y="4455089"/>
            <a:ext cx="3840480" cy="528559"/>
          </a:xfrm>
          <a:prstGeom prst="roundRect">
            <a:avLst/>
          </a:prstGeom>
          <a:solidFill>
            <a:schemeClr val="bg1">
              <a:lumMod val="95000"/>
              <a:alpha val="59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مدل خدمات</a:t>
            </a:r>
            <a:r>
              <a:rPr kumimoji="0" lang="en-US"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Family-Office Advisory </a:t>
            </a:r>
            <a:r>
              <a:rPr kumimoji="0" lang="fa-IR"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 برای پایش پرتفوی بین‌المللی.</a:t>
            </a:r>
          </a:p>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بنچمارک: </a:t>
            </a:r>
            <a:r>
              <a:rPr kumimoji="0" lang="fa-IR"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مدل هم‌سرمایه‌گذاری و پایش شبکه سرمایه‌گذاران دیاسپورا</a:t>
            </a:r>
          </a:p>
        </p:txBody>
      </p:sp>
      <p:sp>
        <p:nvSpPr>
          <p:cNvPr id="135" name="Arrow: Down 134">
            <a:extLst>
              <a:ext uri="{FF2B5EF4-FFF2-40B4-BE49-F238E27FC236}">
                <a16:creationId xmlns:a16="http://schemas.microsoft.com/office/drawing/2014/main" id="{AD2F0991-CE59-A8AE-8701-13B7382AA06D}"/>
              </a:ext>
            </a:extLst>
          </p:cNvPr>
          <p:cNvSpPr/>
          <p:nvPr/>
        </p:nvSpPr>
        <p:spPr>
          <a:xfrm rot="5400000">
            <a:off x="8427463" y="4651573"/>
            <a:ext cx="170188" cy="135591"/>
          </a:xfrm>
          <a:prstGeom prst="downArrow">
            <a:avLst/>
          </a:prstGeom>
          <a:solidFill>
            <a:schemeClr val="tx1">
              <a:lumMod val="50000"/>
              <a:lumOff val="50000"/>
              <a:alpha val="1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36" name="Arrow: Down 135">
            <a:extLst>
              <a:ext uri="{FF2B5EF4-FFF2-40B4-BE49-F238E27FC236}">
                <a16:creationId xmlns:a16="http://schemas.microsoft.com/office/drawing/2014/main" id="{559CEC41-20D7-C1B5-C65C-16CFD658D25C}"/>
              </a:ext>
            </a:extLst>
          </p:cNvPr>
          <p:cNvSpPr/>
          <p:nvPr/>
        </p:nvSpPr>
        <p:spPr>
          <a:xfrm rot="5400000">
            <a:off x="4340404" y="4651574"/>
            <a:ext cx="170188" cy="135591"/>
          </a:xfrm>
          <a:prstGeom prst="downArrow">
            <a:avLst/>
          </a:prstGeom>
          <a:solidFill>
            <a:schemeClr val="tx1">
              <a:lumMod val="50000"/>
              <a:lumOff val="50000"/>
              <a:alpha val="1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38" name="Rectangle: Rounded Corners 137">
            <a:extLst>
              <a:ext uri="{FF2B5EF4-FFF2-40B4-BE49-F238E27FC236}">
                <a16:creationId xmlns:a16="http://schemas.microsoft.com/office/drawing/2014/main" id="{2333DACB-7838-2888-4543-DF82BF2AA184}"/>
              </a:ext>
            </a:extLst>
          </p:cNvPr>
          <p:cNvSpPr/>
          <p:nvPr/>
        </p:nvSpPr>
        <p:spPr>
          <a:xfrm>
            <a:off x="8636598" y="5061476"/>
            <a:ext cx="1653837" cy="528559"/>
          </a:xfrm>
          <a:prstGeom prst="roundRect">
            <a:avLst/>
          </a:prstGeom>
          <a:solidFill>
            <a:srgbClr val="F0BE0F">
              <a:alpha val="16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15296B"/>
              </a:solidFill>
              <a:effectLst/>
              <a:uLnTx/>
              <a:uFillTx/>
              <a:latin typeface="Calibri"/>
              <a:ea typeface="+mn-ea"/>
              <a:cs typeface="Calibri"/>
            </a:endParaRPr>
          </a:p>
        </p:txBody>
      </p:sp>
      <p:sp>
        <p:nvSpPr>
          <p:cNvPr id="139" name="TextBox 138">
            <a:extLst>
              <a:ext uri="{FF2B5EF4-FFF2-40B4-BE49-F238E27FC236}">
                <a16:creationId xmlns:a16="http://schemas.microsoft.com/office/drawing/2014/main" id="{405DC1BF-81D7-9063-F605-8829688181D4}"/>
              </a:ext>
            </a:extLst>
          </p:cNvPr>
          <p:cNvSpPr txBox="1"/>
          <p:nvPr/>
        </p:nvSpPr>
        <p:spPr>
          <a:xfrm>
            <a:off x="8636598" y="5105054"/>
            <a:ext cx="1653837" cy="441403"/>
          </a:xfrm>
          <a:prstGeom prst="rect">
            <a:avLst/>
          </a:prstGeom>
          <a:noFill/>
        </p:spPr>
        <p:txBody>
          <a:bodyPr wrap="square">
            <a:spAutoFit/>
          </a:bodyPr>
          <a:lstStyle/>
          <a:p>
            <a:pPr marL="0" marR="0" lvl="0" indent="0" algn="ctr" defTabSz="457200" rtl="1" eaLnBrk="1" fontAlgn="auto" latinLnBrk="0" hangingPunct="1">
              <a:lnSpc>
                <a:spcPct val="108000"/>
              </a:lnSpc>
              <a:spcBef>
                <a:spcPts val="0"/>
              </a:spcBef>
              <a:spcAft>
                <a:spcPts val="0"/>
              </a:spcAft>
              <a:buClrTx/>
              <a:buSzTx/>
              <a:buFontTx/>
              <a:buNone/>
              <a:tabLst/>
              <a:defRPr/>
            </a:pPr>
            <a:r>
              <a:rPr kumimoji="0" lang="fa-IR" sz="1050" b="1" i="0" u="none" strike="noStrike" kern="1200" cap="none" spc="0" normalizeH="0" baseline="0" noProof="0" dirty="0">
                <a:ln>
                  <a:noFill/>
                </a:ln>
                <a:solidFill>
                  <a:srgbClr val="15296B"/>
                </a:solidFill>
                <a:effectLst/>
                <a:uLnTx/>
                <a:uFillTx/>
                <a:latin typeface="Yekan Bakh FaNum" pitchFamily="2" charset="-78"/>
                <a:ea typeface="+mn-ea"/>
                <a:cs typeface="Yekan Bakh FaNum" pitchFamily="2" charset="-78"/>
              </a:rPr>
              <a:t>شراکت راهبردی + اکوسیستمی</a:t>
            </a:r>
          </a:p>
        </p:txBody>
      </p:sp>
      <p:sp>
        <p:nvSpPr>
          <p:cNvPr id="140" name="Rectangle: Rounded Corners 139">
            <a:extLst>
              <a:ext uri="{FF2B5EF4-FFF2-40B4-BE49-F238E27FC236}">
                <a16:creationId xmlns:a16="http://schemas.microsoft.com/office/drawing/2014/main" id="{408D08DB-0874-3F3A-6321-480B0D2C14C5}"/>
              </a:ext>
            </a:extLst>
          </p:cNvPr>
          <p:cNvSpPr/>
          <p:nvPr/>
        </p:nvSpPr>
        <p:spPr>
          <a:xfrm>
            <a:off x="10538516" y="5061476"/>
            <a:ext cx="705056" cy="528559"/>
          </a:xfrm>
          <a:prstGeom prst="round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dirty="0">
              <a:ln>
                <a:noFill/>
              </a:ln>
              <a:solidFill>
                <a:srgbClr val="15296B"/>
              </a:solidFill>
              <a:effectLst/>
              <a:uLnTx/>
              <a:uFillTx/>
              <a:latin typeface="Calibri"/>
              <a:ea typeface="+mn-ea"/>
              <a:cs typeface="Calibri"/>
            </a:endParaRPr>
          </a:p>
        </p:txBody>
      </p:sp>
      <p:sp>
        <p:nvSpPr>
          <p:cNvPr id="141" name="TextBox 140">
            <a:extLst>
              <a:ext uri="{FF2B5EF4-FFF2-40B4-BE49-F238E27FC236}">
                <a16:creationId xmlns:a16="http://schemas.microsoft.com/office/drawing/2014/main" id="{AC524D68-50F4-5985-012E-7415A7C20188}"/>
              </a:ext>
            </a:extLst>
          </p:cNvPr>
          <p:cNvSpPr txBox="1"/>
          <p:nvPr/>
        </p:nvSpPr>
        <p:spPr>
          <a:xfrm>
            <a:off x="10664057" y="5156478"/>
            <a:ext cx="453974" cy="338554"/>
          </a:xfrm>
          <a:prstGeom prst="rect">
            <a:avLst/>
          </a:prstGeom>
          <a:noFill/>
        </p:spPr>
        <p:txBody>
          <a:bodyPr wrap="square" anchor="ctr">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5296B"/>
                </a:solidFill>
                <a:effectLst/>
                <a:uLnTx/>
                <a:uFillTx/>
                <a:latin typeface="Yekan Bakh" pitchFamily="2" charset="-78"/>
                <a:ea typeface="Yekan Bakh" pitchFamily="2" charset="-78"/>
                <a:cs typeface="Yekan Bakh" pitchFamily="2" charset="-78"/>
              </a:rPr>
              <a:t>E</a:t>
            </a:r>
            <a:endParaRPr kumimoji="0" lang="fa-IR" sz="1600" b="1" i="0" u="none" strike="noStrike" kern="1200" cap="none" spc="0" normalizeH="0" baseline="0" noProof="0" dirty="0">
              <a:ln>
                <a:noFill/>
              </a:ln>
              <a:solidFill>
                <a:srgbClr val="15296B"/>
              </a:solidFill>
              <a:effectLst/>
              <a:uLnTx/>
              <a:uFillTx/>
              <a:latin typeface="Yekan Bakh" pitchFamily="2" charset="-78"/>
              <a:ea typeface="Yekan Bakh" pitchFamily="2" charset="-78"/>
              <a:cs typeface="Yekan Bakh" pitchFamily="2" charset="-78"/>
            </a:endParaRPr>
          </a:p>
        </p:txBody>
      </p:sp>
      <p:sp>
        <p:nvSpPr>
          <p:cNvPr id="142" name="Rectangle: Rounded Corners 141">
            <a:extLst>
              <a:ext uri="{FF2B5EF4-FFF2-40B4-BE49-F238E27FC236}">
                <a16:creationId xmlns:a16="http://schemas.microsoft.com/office/drawing/2014/main" id="{3F0DC020-D3E0-D338-C527-559D55C45671}"/>
              </a:ext>
            </a:extLst>
          </p:cNvPr>
          <p:cNvSpPr/>
          <p:nvPr/>
        </p:nvSpPr>
        <p:spPr>
          <a:xfrm>
            <a:off x="4548039" y="5061476"/>
            <a:ext cx="3840480" cy="528559"/>
          </a:xfrm>
          <a:prstGeom prst="roundRect">
            <a:avLst/>
          </a:prstGeom>
          <a:solidFill>
            <a:schemeClr val="bg1">
              <a:lumMod val="95000"/>
              <a:alpha val="59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lumMod val="65000"/>
                    <a:lumOff val="35000"/>
                  </a:prstClr>
                </a:solidFill>
                <a:effectLst/>
                <a:uLnTx/>
                <a:uFillTx/>
                <a:latin typeface="Yekan Bakh" pitchFamily="2" charset="-78"/>
                <a:ea typeface="Yekan Bakh" pitchFamily="2" charset="-78"/>
                <a:cs typeface="Yekan Bakh" pitchFamily="2" charset="-78"/>
              </a:rPr>
              <a:t>سرمایه‌گذار راهبردی/لنگر که هم سرمایه می‌آورد هم به شبکه معرفی و اعتبار «اکوسیستم فرصت ایران» نزد سایر سرمایه‌گذاران کمک می‌کند؛ عضویت در نهاد حاکمیتی مشترک</a:t>
            </a:r>
          </a:p>
        </p:txBody>
      </p:sp>
      <p:sp>
        <p:nvSpPr>
          <p:cNvPr id="143" name="Rectangle: Rounded Corners 142">
            <a:extLst>
              <a:ext uri="{FF2B5EF4-FFF2-40B4-BE49-F238E27FC236}">
                <a16:creationId xmlns:a16="http://schemas.microsoft.com/office/drawing/2014/main" id="{E57587DD-165C-5865-EA13-C98D7E1139A2}"/>
              </a:ext>
            </a:extLst>
          </p:cNvPr>
          <p:cNvSpPr/>
          <p:nvPr/>
        </p:nvSpPr>
        <p:spPr>
          <a:xfrm>
            <a:off x="459478" y="5061476"/>
            <a:ext cx="3840480" cy="528559"/>
          </a:xfrm>
          <a:prstGeom prst="roundRect">
            <a:avLst/>
          </a:prstGeom>
          <a:solidFill>
            <a:schemeClr val="bg1">
              <a:lumMod val="95000"/>
              <a:alpha val="59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بنچمارک: </a:t>
            </a:r>
            <a:r>
              <a:rPr kumimoji="0" lang="fa-IR"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مدل</a:t>
            </a:r>
            <a:r>
              <a:rPr kumimoji="0" lang="en-US"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Anchor LP» </a:t>
            </a:r>
            <a:r>
              <a:rPr kumimoji="0" lang="fa-IR" sz="800" b="0" i="0" u="none" strike="noStrike" kern="1200" cap="none" spc="0" normalizeH="0" baseline="0" noProof="0" dirty="0">
                <a:ln>
                  <a:noFill/>
                </a:ln>
                <a:solidFill>
                  <a:prstClr val="black">
                    <a:lumMod val="50000"/>
                    <a:lumOff val="50000"/>
                  </a:prstClr>
                </a:solidFill>
                <a:effectLst/>
                <a:uLnTx/>
                <a:uFillTx/>
                <a:latin typeface="Yekan Bakh" pitchFamily="2" charset="-78"/>
                <a:ea typeface="Yekan Bakh" pitchFamily="2" charset="-78"/>
                <a:cs typeface="Yekan Bakh" pitchFamily="2" charset="-78"/>
              </a:rPr>
              <a:t>» صندوق‌های سرمایه‌گذاری خطرپذیر که علاوه بر سرمایه، دسترسی شبکه‌ای می‌آورند</a:t>
            </a:r>
          </a:p>
        </p:txBody>
      </p:sp>
      <p:sp>
        <p:nvSpPr>
          <p:cNvPr id="144" name="Arrow: Down 143">
            <a:extLst>
              <a:ext uri="{FF2B5EF4-FFF2-40B4-BE49-F238E27FC236}">
                <a16:creationId xmlns:a16="http://schemas.microsoft.com/office/drawing/2014/main" id="{9AB7B23C-111B-9BE3-9FCA-7E5118395FF3}"/>
              </a:ext>
            </a:extLst>
          </p:cNvPr>
          <p:cNvSpPr/>
          <p:nvPr/>
        </p:nvSpPr>
        <p:spPr>
          <a:xfrm rot="5400000">
            <a:off x="8427463" y="5257960"/>
            <a:ext cx="170188" cy="135591"/>
          </a:xfrm>
          <a:prstGeom prst="downArrow">
            <a:avLst/>
          </a:prstGeom>
          <a:solidFill>
            <a:schemeClr val="tx1">
              <a:lumMod val="50000"/>
              <a:lumOff val="50000"/>
              <a:alpha val="1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45" name="Arrow: Down 144">
            <a:extLst>
              <a:ext uri="{FF2B5EF4-FFF2-40B4-BE49-F238E27FC236}">
                <a16:creationId xmlns:a16="http://schemas.microsoft.com/office/drawing/2014/main" id="{8B8F04B8-CF48-BEA2-71C8-DC899D8BF390}"/>
              </a:ext>
            </a:extLst>
          </p:cNvPr>
          <p:cNvSpPr/>
          <p:nvPr/>
        </p:nvSpPr>
        <p:spPr>
          <a:xfrm rot="5400000">
            <a:off x="4340404" y="5257961"/>
            <a:ext cx="170188" cy="135591"/>
          </a:xfrm>
          <a:prstGeom prst="downArrow">
            <a:avLst/>
          </a:prstGeom>
          <a:solidFill>
            <a:schemeClr val="tx1">
              <a:lumMod val="50000"/>
              <a:lumOff val="50000"/>
              <a:alpha val="1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Tree>
    <p:extLst>
      <p:ext uri="{BB962C8B-B14F-4D97-AF65-F5344CB8AC3E}">
        <p14:creationId xmlns:p14="http://schemas.microsoft.com/office/powerpoint/2010/main" val="2475542429"/>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A099A4D-2163-9E9D-9932-B2510E55DA85}"/>
              </a:ext>
            </a:extLst>
          </p:cNvPr>
          <p:cNvSpPr>
            <a:spLocks noGrp="1"/>
          </p:cNvSpPr>
          <p:nvPr>
            <p:ph type="body" sz="quarter" idx="10"/>
          </p:nvPr>
        </p:nvSpPr>
        <p:spPr/>
        <p:txBody>
          <a:bodyPr/>
          <a:lstStyle/>
          <a:p>
            <a:r>
              <a:rPr lang="fa-IR" dirty="0"/>
              <a:t>۸. جمع‌بندی</a:t>
            </a:r>
            <a:endParaRPr lang="en-GB" dirty="0"/>
          </a:p>
        </p:txBody>
      </p:sp>
      <p:sp>
        <p:nvSpPr>
          <p:cNvPr id="3" name="Text Placeholder 2">
            <a:extLst>
              <a:ext uri="{FF2B5EF4-FFF2-40B4-BE49-F238E27FC236}">
                <a16:creationId xmlns:a16="http://schemas.microsoft.com/office/drawing/2014/main" id="{5C12E9D2-F7B0-8EBD-72BB-51BB55912288}"/>
              </a:ext>
            </a:extLst>
          </p:cNvPr>
          <p:cNvSpPr>
            <a:spLocks noGrp="1"/>
          </p:cNvSpPr>
          <p:nvPr>
            <p:ph type="body" sz="quarter" idx="12"/>
          </p:nvPr>
        </p:nvSpPr>
        <p:spPr>
          <a:xfrm>
            <a:off x="555629" y="567444"/>
            <a:ext cx="10710133" cy="715363"/>
          </a:xfrm>
        </p:spPr>
        <p:txBody>
          <a:bodyPr/>
          <a:lstStyle/>
          <a:p>
            <a:r>
              <a:rPr lang="fa-IR" dirty="0"/>
              <a:t>پیام مدیریتی این سند: انتخاب رابطه یک تصمیم طراحی‌شده است، نه یک عادت</a:t>
            </a:r>
          </a:p>
          <a:p>
            <a:endParaRPr lang="en-GB" dirty="0"/>
          </a:p>
        </p:txBody>
      </p:sp>
      <p:sp>
        <p:nvSpPr>
          <p:cNvPr id="29" name="Rectangle 28">
            <a:extLst>
              <a:ext uri="{FF2B5EF4-FFF2-40B4-BE49-F238E27FC236}">
                <a16:creationId xmlns:a16="http://schemas.microsoft.com/office/drawing/2014/main" id="{6418D417-9A32-C35F-0003-D6E051459EE5}"/>
              </a:ext>
            </a:extLst>
          </p:cNvPr>
          <p:cNvSpPr/>
          <p:nvPr/>
        </p:nvSpPr>
        <p:spPr>
          <a:xfrm>
            <a:off x="437290" y="1800565"/>
            <a:ext cx="3508782" cy="989336"/>
          </a:xfrm>
          <a:prstGeom prst="rect">
            <a:avLst/>
          </a:prstGeom>
          <a:solidFill>
            <a:srgbClr val="EF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Calibri"/>
            </a:endParaRPr>
          </a:p>
        </p:txBody>
      </p:sp>
      <p:sp>
        <p:nvSpPr>
          <p:cNvPr id="31" name="TextBox 30">
            <a:extLst>
              <a:ext uri="{FF2B5EF4-FFF2-40B4-BE49-F238E27FC236}">
                <a16:creationId xmlns:a16="http://schemas.microsoft.com/office/drawing/2014/main" id="{6405100A-EAB4-4D28-96F4-C91E180456D8}"/>
              </a:ext>
            </a:extLst>
          </p:cNvPr>
          <p:cNvSpPr txBox="1"/>
          <p:nvPr/>
        </p:nvSpPr>
        <p:spPr>
          <a:xfrm>
            <a:off x="583004" y="2064401"/>
            <a:ext cx="3217355" cy="461665"/>
          </a:xfrm>
          <a:prstGeom prst="rect">
            <a:avLst/>
          </a:prstGeom>
          <a:noFill/>
        </p:spPr>
        <p:txBody>
          <a:bodyPr wrap="square" lIns="0" tIns="0" rIns="0" bIns="0" anchor="t">
            <a:spAutoFit/>
          </a:bodyPr>
          <a:lstStyle/>
          <a:p>
            <a:pPr marL="0" marR="0" lvl="0" indent="0" algn="justLow" defTabSz="457200" rtl="1" eaLnBrk="1" fontAlgn="auto" latinLnBrk="0" hangingPunct="1">
              <a:lnSpc>
                <a:spcPct val="125000"/>
              </a:lnSpc>
              <a:spcBef>
                <a:spcPts val="0"/>
              </a:spcBef>
              <a:spcAft>
                <a:spcPts val="0"/>
              </a:spcAft>
              <a:buClrTx/>
              <a:buSzTx/>
              <a:buFontTx/>
              <a:buNone/>
              <a:tabLst/>
              <a:defRPr/>
            </a:pPr>
            <a:r>
              <a:rPr kumimoji="0" lang="fa-IR" sz="1200" b="1" i="0" u="none" strike="noStrike" kern="1200" cap="none" spc="0" normalizeH="0" baseline="0" noProof="0" dirty="0">
                <a:ln>
                  <a:noFill/>
                </a:ln>
                <a:solidFill>
                  <a:srgbClr val="15296B"/>
                </a:solidFill>
                <a:effectLst/>
                <a:uLnTx/>
                <a:uFillTx/>
                <a:latin typeface="Yekan Bakh FaNum" pitchFamily="2" charset="-78"/>
                <a:ea typeface="+mn-ea"/>
                <a:cs typeface="Yekan Bakh FaNum" pitchFamily="2" charset="-78"/>
              </a:rPr>
              <a:t>مستندسازی معیار ارزش/پیچیدگی برای هر مشتری واقعی از روز اول، به‌عنوان پایه</a:t>
            </a:r>
            <a:r>
              <a:rPr kumimoji="0" lang="en-US" sz="1200" b="1" i="0" u="none" strike="noStrike" kern="1200" cap="none" spc="0" normalizeH="0" baseline="0" noProof="0" dirty="0">
                <a:ln>
                  <a:noFill/>
                </a:ln>
                <a:solidFill>
                  <a:srgbClr val="15296B"/>
                </a:solidFill>
                <a:effectLst/>
                <a:uLnTx/>
                <a:uFillTx/>
                <a:latin typeface="Yekan Bakh FaNum" pitchFamily="2" charset="-78"/>
                <a:ea typeface="+mn-ea"/>
                <a:cs typeface="Yekan Bakh FaNum" pitchFamily="2" charset="-78"/>
              </a:rPr>
              <a:t>CRM </a:t>
            </a:r>
            <a:r>
              <a:rPr kumimoji="0" lang="fa-IR" sz="1200" b="1" i="0" u="none" strike="noStrike" kern="1200" cap="none" spc="0" normalizeH="0" baseline="0" noProof="0" dirty="0">
                <a:ln>
                  <a:noFill/>
                </a:ln>
                <a:solidFill>
                  <a:srgbClr val="15296B"/>
                </a:solidFill>
                <a:effectLst/>
                <a:uLnTx/>
                <a:uFillTx/>
                <a:latin typeface="Yekan Bakh FaNum" pitchFamily="2" charset="-78"/>
                <a:ea typeface="+mn-ea"/>
                <a:cs typeface="Yekan Bakh FaNum" pitchFamily="2" charset="-78"/>
              </a:rPr>
              <a:t> ساختاریافته</a:t>
            </a:r>
          </a:p>
        </p:txBody>
      </p:sp>
      <p:sp>
        <p:nvSpPr>
          <p:cNvPr id="33" name="Rectangle 32">
            <a:extLst>
              <a:ext uri="{FF2B5EF4-FFF2-40B4-BE49-F238E27FC236}">
                <a16:creationId xmlns:a16="http://schemas.microsoft.com/office/drawing/2014/main" id="{6DC352F4-C65D-F6D3-5D87-E694D7412BDA}"/>
              </a:ext>
            </a:extLst>
          </p:cNvPr>
          <p:cNvSpPr/>
          <p:nvPr/>
        </p:nvSpPr>
        <p:spPr>
          <a:xfrm>
            <a:off x="437290" y="3167994"/>
            <a:ext cx="3508782" cy="989336"/>
          </a:xfrm>
          <a:prstGeom prst="rect">
            <a:avLst/>
          </a:prstGeom>
          <a:solidFill>
            <a:srgbClr val="EF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Calibri"/>
            </a:endParaRPr>
          </a:p>
        </p:txBody>
      </p:sp>
      <p:sp>
        <p:nvSpPr>
          <p:cNvPr id="35" name="TextBox 34">
            <a:extLst>
              <a:ext uri="{FF2B5EF4-FFF2-40B4-BE49-F238E27FC236}">
                <a16:creationId xmlns:a16="http://schemas.microsoft.com/office/drawing/2014/main" id="{4013A2E1-E70E-E017-B8D1-65D0CCBBE090}"/>
              </a:ext>
            </a:extLst>
          </p:cNvPr>
          <p:cNvSpPr txBox="1"/>
          <p:nvPr/>
        </p:nvSpPr>
        <p:spPr>
          <a:xfrm>
            <a:off x="583004" y="3431830"/>
            <a:ext cx="3217355" cy="461665"/>
          </a:xfrm>
          <a:prstGeom prst="rect">
            <a:avLst/>
          </a:prstGeom>
          <a:noFill/>
        </p:spPr>
        <p:txBody>
          <a:bodyPr wrap="square" lIns="0" tIns="0" rIns="0" bIns="0" anchor="t">
            <a:spAutoFit/>
          </a:bodyPr>
          <a:lstStyle/>
          <a:p>
            <a:pPr marL="0" marR="0" lvl="0" indent="0" algn="justLow" defTabSz="457200" rtl="1" eaLnBrk="1" fontAlgn="auto" latinLnBrk="0" hangingPunct="1">
              <a:lnSpc>
                <a:spcPct val="125000"/>
              </a:lnSpc>
              <a:spcBef>
                <a:spcPts val="0"/>
              </a:spcBef>
              <a:spcAft>
                <a:spcPts val="0"/>
              </a:spcAft>
              <a:buClrTx/>
              <a:buSzTx/>
              <a:buFontTx/>
              <a:buNone/>
              <a:tabLst/>
              <a:defRPr/>
            </a:pPr>
            <a:r>
              <a:rPr kumimoji="0" sz="1200" b="1" i="0" u="none" strike="noStrike" kern="1200" cap="none" spc="0" normalizeH="0" baseline="0" noProof="0" dirty="0" err="1">
                <a:ln>
                  <a:noFill/>
                </a:ln>
                <a:solidFill>
                  <a:srgbClr val="15296B"/>
                </a:solidFill>
                <a:effectLst/>
                <a:uLnTx/>
                <a:uFillTx/>
                <a:latin typeface="Yekan Bakh FaNum" pitchFamily="2" charset="-78"/>
                <a:ea typeface="+mn-ea"/>
                <a:cs typeface="Yekan Bakh FaNum" pitchFamily="2" charset="-78"/>
              </a:rPr>
              <a:t>طراحی</a:t>
            </a:r>
            <a:r>
              <a:rPr kumimoji="0" sz="1200" b="1" i="0" u="none" strike="noStrike" kern="1200" cap="none" spc="0" normalizeH="0" baseline="0" noProof="0" dirty="0">
                <a:ln>
                  <a:noFill/>
                </a:ln>
                <a:solidFill>
                  <a:srgbClr val="15296B"/>
                </a:solidFill>
                <a:effectLst/>
                <a:uLnTx/>
                <a:uFillTx/>
                <a:latin typeface="Yekan Bakh FaNum" pitchFamily="2" charset="-78"/>
                <a:ea typeface="+mn-ea"/>
                <a:cs typeface="Yekan Bakh FaNum" pitchFamily="2" charset="-78"/>
              </a:rPr>
              <a:t> </a:t>
            </a:r>
            <a:r>
              <a:rPr kumimoji="0" sz="1200" b="1" i="0" u="none" strike="noStrike" kern="1200" cap="none" spc="0" normalizeH="0" baseline="0" noProof="0" dirty="0" err="1">
                <a:ln>
                  <a:noFill/>
                </a:ln>
                <a:solidFill>
                  <a:srgbClr val="15296B"/>
                </a:solidFill>
                <a:effectLst/>
                <a:uLnTx/>
                <a:uFillTx/>
                <a:latin typeface="Yekan Bakh FaNum" pitchFamily="2" charset="-78"/>
                <a:ea typeface="+mn-ea"/>
                <a:cs typeface="Yekan Bakh FaNum" pitchFamily="2" charset="-78"/>
              </a:rPr>
              <a:t>مسیر</a:t>
            </a:r>
            <a:r>
              <a:rPr kumimoji="0" sz="1200" b="1" i="0" u="none" strike="noStrike" kern="1200" cap="none" spc="0" normalizeH="0" baseline="0" noProof="0" dirty="0">
                <a:ln>
                  <a:noFill/>
                </a:ln>
                <a:solidFill>
                  <a:srgbClr val="15296B"/>
                </a:solidFill>
                <a:effectLst/>
                <a:uLnTx/>
                <a:uFillTx/>
                <a:latin typeface="Yekan Bakh FaNum" pitchFamily="2" charset="-78"/>
                <a:ea typeface="+mn-ea"/>
                <a:cs typeface="Yekan Bakh FaNum" pitchFamily="2" charset="-78"/>
              </a:rPr>
              <a:t> </a:t>
            </a:r>
            <a:r>
              <a:rPr kumimoji="0" sz="1200" b="1" i="0" u="none" strike="noStrike" kern="1200" cap="none" spc="0" normalizeH="0" baseline="0" noProof="0" dirty="0" err="1">
                <a:ln>
                  <a:noFill/>
                </a:ln>
                <a:solidFill>
                  <a:srgbClr val="15296B"/>
                </a:solidFill>
                <a:effectLst/>
                <a:uLnTx/>
                <a:uFillTx/>
                <a:latin typeface="Yekan Bakh FaNum" pitchFamily="2" charset="-78"/>
                <a:ea typeface="+mn-ea"/>
                <a:cs typeface="Yekan Bakh FaNum" pitchFamily="2" charset="-78"/>
              </a:rPr>
              <a:t>گذار</a:t>
            </a:r>
            <a:r>
              <a:rPr kumimoji="0" sz="1200" b="1" i="0" u="none" strike="noStrike" kern="1200" cap="none" spc="0" normalizeH="0" baseline="0" noProof="0" dirty="0">
                <a:ln>
                  <a:noFill/>
                </a:ln>
                <a:solidFill>
                  <a:srgbClr val="15296B"/>
                </a:solidFill>
                <a:effectLst/>
                <a:uLnTx/>
                <a:uFillTx/>
                <a:latin typeface="Yekan Bakh FaNum" pitchFamily="2" charset="-78"/>
                <a:ea typeface="+mn-ea"/>
                <a:cs typeface="Yekan Bakh FaNum" pitchFamily="2" charset="-78"/>
              </a:rPr>
              <a:t> </a:t>
            </a:r>
            <a:r>
              <a:rPr kumimoji="0" sz="1200" b="1" i="0" u="none" strike="noStrike" kern="1200" cap="none" spc="0" normalizeH="0" baseline="0" noProof="0" dirty="0" err="1">
                <a:ln>
                  <a:noFill/>
                </a:ln>
                <a:solidFill>
                  <a:srgbClr val="15296B"/>
                </a:solidFill>
                <a:effectLst/>
                <a:uLnTx/>
                <a:uFillTx/>
                <a:latin typeface="Yekan Bakh FaNum" pitchFamily="2" charset="-78"/>
                <a:ea typeface="+mn-ea"/>
                <a:cs typeface="Yekan Bakh FaNum" pitchFamily="2" charset="-78"/>
              </a:rPr>
              <a:t>سیستماتیک</a:t>
            </a:r>
            <a:r>
              <a:rPr kumimoji="0" sz="1200" b="1" i="0" u="none" strike="noStrike" kern="1200" cap="none" spc="0" normalizeH="0" baseline="0" noProof="0" dirty="0">
                <a:ln>
                  <a:noFill/>
                </a:ln>
                <a:solidFill>
                  <a:srgbClr val="15296B"/>
                </a:solidFill>
                <a:effectLst/>
                <a:uLnTx/>
                <a:uFillTx/>
                <a:latin typeface="Yekan Bakh FaNum" pitchFamily="2" charset="-78"/>
                <a:ea typeface="+mn-ea"/>
                <a:cs typeface="Yekan Bakh FaNum" pitchFamily="2" charset="-78"/>
              </a:rPr>
              <a:t> </a:t>
            </a:r>
            <a:r>
              <a:rPr kumimoji="0" sz="1200" b="1" i="0" u="none" strike="noStrike" kern="1200" cap="none" spc="0" normalizeH="0" baseline="0" noProof="0" dirty="0" err="1">
                <a:ln>
                  <a:noFill/>
                </a:ln>
                <a:solidFill>
                  <a:srgbClr val="15296B"/>
                </a:solidFill>
                <a:effectLst/>
                <a:uLnTx/>
                <a:uFillTx/>
                <a:latin typeface="Yekan Bakh FaNum" pitchFamily="2" charset="-78"/>
                <a:ea typeface="+mn-ea"/>
                <a:cs typeface="Yekan Bakh FaNum" pitchFamily="2" charset="-78"/>
              </a:rPr>
              <a:t>از</a:t>
            </a:r>
            <a:r>
              <a:rPr kumimoji="0" sz="1200" b="1" i="0" u="none" strike="noStrike" kern="1200" cap="none" spc="0" normalizeH="0" baseline="0" noProof="0" dirty="0">
                <a:ln>
                  <a:noFill/>
                </a:ln>
                <a:solidFill>
                  <a:srgbClr val="15296B"/>
                </a:solidFill>
                <a:effectLst/>
                <a:uLnTx/>
                <a:uFillTx/>
                <a:latin typeface="Yekan Bakh FaNum" pitchFamily="2" charset="-78"/>
                <a:ea typeface="+mn-ea"/>
                <a:cs typeface="Yekan Bakh FaNum" pitchFamily="2" charset="-78"/>
              </a:rPr>
              <a:t> </a:t>
            </a:r>
            <a:r>
              <a:rPr kumimoji="0" sz="1200" b="1" i="0" u="none" strike="noStrike" kern="1200" cap="none" spc="0" normalizeH="0" baseline="0" noProof="0" dirty="0" err="1">
                <a:ln>
                  <a:noFill/>
                </a:ln>
                <a:solidFill>
                  <a:srgbClr val="15296B"/>
                </a:solidFill>
                <a:effectLst/>
                <a:uLnTx/>
                <a:uFillTx/>
                <a:latin typeface="Yekan Bakh FaNum" pitchFamily="2" charset="-78"/>
                <a:ea typeface="+mn-ea"/>
                <a:cs typeface="Yekan Bakh FaNum" pitchFamily="2" charset="-78"/>
              </a:rPr>
              <a:t>روابطBeing</a:t>
            </a:r>
            <a:r>
              <a:rPr kumimoji="0" sz="1200" b="1" i="0" u="none" strike="noStrike" kern="1200" cap="none" spc="0" normalizeH="0" baseline="0" noProof="0" dirty="0">
                <a:ln>
                  <a:noFill/>
                </a:ln>
                <a:solidFill>
                  <a:srgbClr val="15296B"/>
                </a:solidFill>
                <a:effectLst/>
                <a:uLnTx/>
                <a:uFillTx/>
                <a:latin typeface="Yekan Bakh FaNum" pitchFamily="2" charset="-78"/>
                <a:ea typeface="+mn-ea"/>
                <a:cs typeface="Yekan Bakh FaNum" pitchFamily="2" charset="-78"/>
              </a:rPr>
              <a:t> </a:t>
            </a:r>
            <a:r>
              <a:rPr kumimoji="0" lang="fa-IR" sz="1200" b="1" i="0" u="none" strike="noStrike" kern="1200" cap="none" spc="0" normalizeH="0" baseline="0" noProof="0" dirty="0">
                <a:ln>
                  <a:noFill/>
                </a:ln>
                <a:solidFill>
                  <a:srgbClr val="15296B"/>
                </a:solidFill>
                <a:effectLst/>
                <a:uLnTx/>
                <a:uFillTx/>
                <a:latin typeface="Yekan Bakh FaNum" pitchFamily="2" charset="-78"/>
                <a:ea typeface="+mn-ea"/>
                <a:cs typeface="Yekan Bakh FaNum" pitchFamily="2" charset="-78"/>
              </a:rPr>
              <a:t> ب</a:t>
            </a:r>
            <a:r>
              <a:rPr kumimoji="0" sz="1200" b="1" i="0" u="none" strike="noStrike" kern="1200" cap="none" spc="0" normalizeH="0" baseline="0" noProof="0" dirty="0">
                <a:ln>
                  <a:noFill/>
                </a:ln>
                <a:solidFill>
                  <a:srgbClr val="15296B"/>
                </a:solidFill>
                <a:effectLst/>
                <a:uLnTx/>
                <a:uFillTx/>
                <a:latin typeface="Yekan Bakh FaNum" pitchFamily="2" charset="-78"/>
                <a:ea typeface="+mn-ea"/>
                <a:cs typeface="Yekan Bakh FaNum" pitchFamily="2" charset="-78"/>
              </a:rPr>
              <a:t>ه Doing</a:t>
            </a:r>
            <a:r>
              <a:rPr kumimoji="0" lang="fa-IR" sz="1200" b="1" i="0" u="none" strike="noStrike" kern="1200" cap="none" spc="0" normalizeH="0" baseline="0" noProof="0" dirty="0">
                <a:ln>
                  <a:noFill/>
                </a:ln>
                <a:solidFill>
                  <a:srgbClr val="15296B"/>
                </a:solidFill>
                <a:effectLst/>
                <a:uLnTx/>
                <a:uFillTx/>
                <a:latin typeface="Yekan Bakh FaNum" pitchFamily="2" charset="-78"/>
                <a:ea typeface="+mn-ea"/>
                <a:cs typeface="Yekan Bakh FaNum" pitchFamily="2" charset="-78"/>
              </a:rPr>
              <a:t> ب</a:t>
            </a:r>
            <a:r>
              <a:rPr kumimoji="0" sz="1200" b="1" i="0" u="none" strike="noStrike" kern="1200" cap="none" spc="0" normalizeH="0" baseline="0" noProof="0" dirty="0" err="1">
                <a:ln>
                  <a:noFill/>
                </a:ln>
                <a:solidFill>
                  <a:srgbClr val="15296B"/>
                </a:solidFill>
                <a:effectLst/>
                <a:uLnTx/>
                <a:uFillTx/>
                <a:latin typeface="Yekan Bakh FaNum" pitchFamily="2" charset="-78"/>
                <a:ea typeface="+mn-ea"/>
                <a:cs typeface="Yekan Bakh FaNum" pitchFamily="2" charset="-78"/>
              </a:rPr>
              <a:t>رای</a:t>
            </a:r>
            <a:r>
              <a:rPr kumimoji="0" sz="1200" b="1" i="0" u="none" strike="noStrike" kern="1200" cap="none" spc="0" normalizeH="0" baseline="0" noProof="0" dirty="0">
                <a:ln>
                  <a:noFill/>
                </a:ln>
                <a:solidFill>
                  <a:srgbClr val="15296B"/>
                </a:solidFill>
                <a:effectLst/>
                <a:uLnTx/>
                <a:uFillTx/>
                <a:latin typeface="Yekan Bakh FaNum" pitchFamily="2" charset="-78"/>
                <a:ea typeface="+mn-ea"/>
                <a:cs typeface="Yekan Bakh FaNum" pitchFamily="2" charset="-78"/>
              </a:rPr>
              <a:t> </a:t>
            </a:r>
            <a:r>
              <a:rPr kumimoji="0" sz="1200" b="1" i="0" u="none" strike="noStrike" kern="1200" cap="none" spc="0" normalizeH="0" baseline="0" noProof="0" dirty="0" err="1">
                <a:ln>
                  <a:noFill/>
                </a:ln>
                <a:solidFill>
                  <a:srgbClr val="15296B"/>
                </a:solidFill>
                <a:effectLst/>
                <a:uLnTx/>
                <a:uFillTx/>
                <a:latin typeface="Yekan Bakh FaNum" pitchFamily="2" charset="-78"/>
                <a:ea typeface="+mn-ea"/>
                <a:cs typeface="Yekan Bakh FaNum" pitchFamily="2" charset="-78"/>
              </a:rPr>
              <a:t>آرکی‌تایپ‌های</a:t>
            </a:r>
            <a:r>
              <a:rPr kumimoji="0" sz="1200" b="1" i="0" u="none" strike="noStrike" kern="1200" cap="none" spc="0" normalizeH="0" baseline="0" noProof="0" dirty="0">
                <a:ln>
                  <a:noFill/>
                </a:ln>
                <a:solidFill>
                  <a:srgbClr val="15296B"/>
                </a:solidFill>
                <a:effectLst/>
                <a:uLnTx/>
                <a:uFillTx/>
                <a:latin typeface="Yekan Bakh FaNum" pitchFamily="2" charset="-78"/>
                <a:ea typeface="+mn-ea"/>
                <a:cs typeface="Yekan Bakh FaNum" pitchFamily="2" charset="-78"/>
              </a:rPr>
              <a:t> </a:t>
            </a:r>
            <a:r>
              <a:rPr kumimoji="0" sz="1200" b="1" i="0" u="none" strike="noStrike" kern="1200" cap="none" spc="0" normalizeH="0" baseline="0" noProof="0" dirty="0" err="1">
                <a:ln>
                  <a:noFill/>
                </a:ln>
                <a:solidFill>
                  <a:srgbClr val="15296B"/>
                </a:solidFill>
                <a:effectLst/>
                <a:uLnTx/>
                <a:uFillTx/>
                <a:latin typeface="Yekan Bakh FaNum" pitchFamily="2" charset="-78"/>
                <a:ea typeface="+mn-ea"/>
                <a:cs typeface="Yekan Bakh FaNum" pitchFamily="2" charset="-78"/>
              </a:rPr>
              <a:t>رابطه‌محور</a:t>
            </a:r>
            <a:endParaRPr kumimoji="0" sz="1200" b="1" i="0" u="none" strike="noStrike" kern="1200" cap="none" spc="0" normalizeH="0" baseline="0" noProof="0" dirty="0">
              <a:ln>
                <a:noFill/>
              </a:ln>
              <a:solidFill>
                <a:srgbClr val="15296B"/>
              </a:solidFill>
              <a:effectLst/>
              <a:uLnTx/>
              <a:uFillTx/>
              <a:latin typeface="Yekan Bakh FaNum" pitchFamily="2" charset="-78"/>
              <a:ea typeface="+mn-ea"/>
              <a:cs typeface="Yekan Bakh FaNum" pitchFamily="2" charset="-78"/>
            </a:endParaRPr>
          </a:p>
        </p:txBody>
      </p:sp>
      <p:sp>
        <p:nvSpPr>
          <p:cNvPr id="37" name="Rectangle 36">
            <a:extLst>
              <a:ext uri="{FF2B5EF4-FFF2-40B4-BE49-F238E27FC236}">
                <a16:creationId xmlns:a16="http://schemas.microsoft.com/office/drawing/2014/main" id="{AC9C67D0-9EB4-3831-79D3-08CAC0E917AB}"/>
              </a:ext>
            </a:extLst>
          </p:cNvPr>
          <p:cNvSpPr/>
          <p:nvPr/>
        </p:nvSpPr>
        <p:spPr>
          <a:xfrm>
            <a:off x="437290" y="4535424"/>
            <a:ext cx="3508782" cy="989336"/>
          </a:xfrm>
          <a:prstGeom prst="rect">
            <a:avLst/>
          </a:prstGeom>
          <a:solidFill>
            <a:srgbClr val="EF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Calibri"/>
            </a:endParaRPr>
          </a:p>
        </p:txBody>
      </p:sp>
      <p:sp>
        <p:nvSpPr>
          <p:cNvPr id="39" name="TextBox 38">
            <a:extLst>
              <a:ext uri="{FF2B5EF4-FFF2-40B4-BE49-F238E27FC236}">
                <a16:creationId xmlns:a16="http://schemas.microsoft.com/office/drawing/2014/main" id="{73C6F695-8D40-F89D-4882-BFF25B684F9C}"/>
              </a:ext>
            </a:extLst>
          </p:cNvPr>
          <p:cNvSpPr txBox="1"/>
          <p:nvPr/>
        </p:nvSpPr>
        <p:spPr>
          <a:xfrm>
            <a:off x="583004" y="4799260"/>
            <a:ext cx="3217355" cy="461665"/>
          </a:xfrm>
          <a:prstGeom prst="rect">
            <a:avLst/>
          </a:prstGeom>
          <a:noFill/>
        </p:spPr>
        <p:txBody>
          <a:bodyPr wrap="square" lIns="0" tIns="0" rIns="0" bIns="0" anchor="t">
            <a:spAutoFit/>
          </a:bodyPr>
          <a:lstStyle/>
          <a:p>
            <a:pPr marL="0" marR="0" lvl="0" indent="0" algn="justLow" defTabSz="457200" rtl="1" eaLnBrk="1" fontAlgn="auto" latinLnBrk="0" hangingPunct="1">
              <a:lnSpc>
                <a:spcPct val="125000"/>
              </a:lnSpc>
              <a:spcBef>
                <a:spcPts val="0"/>
              </a:spcBef>
              <a:spcAft>
                <a:spcPts val="0"/>
              </a:spcAft>
              <a:buClrTx/>
              <a:buSzTx/>
              <a:buFontTx/>
              <a:buNone/>
              <a:tabLst/>
              <a:defRPr/>
            </a:pPr>
            <a:r>
              <a:rPr kumimoji="0" lang="fa-IR" sz="1200" b="1" i="0" u="none" strike="noStrike" kern="1200" cap="none" spc="0" normalizeH="0" baseline="0" noProof="0" dirty="0">
                <a:ln>
                  <a:noFill/>
                </a:ln>
                <a:solidFill>
                  <a:srgbClr val="15296B"/>
                </a:solidFill>
                <a:effectLst/>
                <a:uLnTx/>
                <a:uFillTx/>
                <a:latin typeface="Yekan Bakh FaNum" pitchFamily="2" charset="-78"/>
                <a:ea typeface="+mn-ea"/>
                <a:cs typeface="Yekan Bakh FaNum" pitchFamily="2" charset="-78"/>
              </a:rPr>
              <a:t>تعیین مالک رابطه و </a:t>
            </a:r>
            <a:r>
              <a:rPr kumimoji="0" lang="en-US" sz="1200" b="1" i="0" u="none" strike="noStrike" kern="1200" cap="none" spc="0" normalizeH="0" baseline="0" noProof="0" dirty="0">
                <a:ln>
                  <a:noFill/>
                </a:ln>
                <a:solidFill>
                  <a:srgbClr val="15296B"/>
                </a:solidFill>
                <a:effectLst/>
                <a:uLnTx/>
                <a:uFillTx/>
                <a:latin typeface="Yekan Bakh FaNum" pitchFamily="2" charset="-78"/>
                <a:ea typeface="+mn-ea"/>
                <a:cs typeface="Yekan Bakh FaNum" pitchFamily="2" charset="-78"/>
              </a:rPr>
              <a:t>KPI</a:t>
            </a:r>
            <a:r>
              <a:rPr kumimoji="0" lang="fa-IR" sz="1200" b="1" i="0" u="none" strike="noStrike" kern="1200" cap="none" spc="0" normalizeH="0" baseline="0" noProof="0" dirty="0">
                <a:ln>
                  <a:noFill/>
                </a:ln>
                <a:solidFill>
                  <a:srgbClr val="15296B"/>
                </a:solidFill>
                <a:effectLst/>
                <a:uLnTx/>
                <a:uFillTx/>
                <a:latin typeface="Yekan Bakh FaNum" pitchFamily="2" charset="-78"/>
                <a:ea typeface="+mn-ea"/>
                <a:cs typeface="Yekan Bakh FaNum" pitchFamily="2" charset="-78"/>
              </a:rPr>
              <a:t> مشخص برای هر آرکی‌تایپ در فاز عملیاتی</a:t>
            </a:r>
          </a:p>
        </p:txBody>
      </p:sp>
      <p:grpSp>
        <p:nvGrpSpPr>
          <p:cNvPr id="76" name="Group 75">
            <a:extLst>
              <a:ext uri="{FF2B5EF4-FFF2-40B4-BE49-F238E27FC236}">
                <a16:creationId xmlns:a16="http://schemas.microsoft.com/office/drawing/2014/main" id="{986BD191-87D2-113B-B0E4-9AC02297A646}"/>
              </a:ext>
            </a:extLst>
          </p:cNvPr>
          <p:cNvGrpSpPr/>
          <p:nvPr/>
        </p:nvGrpSpPr>
        <p:grpSpPr>
          <a:xfrm>
            <a:off x="4458712" y="1364932"/>
            <a:ext cx="6807050" cy="261610"/>
            <a:chOff x="4458712" y="1364932"/>
            <a:chExt cx="6807050" cy="261610"/>
          </a:xfrm>
        </p:grpSpPr>
        <p:cxnSp>
          <p:nvCxnSpPr>
            <p:cNvPr id="40" name="Straight Connector 39">
              <a:extLst>
                <a:ext uri="{FF2B5EF4-FFF2-40B4-BE49-F238E27FC236}">
                  <a16:creationId xmlns:a16="http://schemas.microsoft.com/office/drawing/2014/main" id="{7C9EA96B-92B2-2B20-C30C-C88B2F913ED3}"/>
                </a:ext>
              </a:extLst>
            </p:cNvPr>
            <p:cNvCxnSpPr>
              <a:cxnSpLocks/>
            </p:cNvCxnSpPr>
            <p:nvPr/>
          </p:nvCxnSpPr>
          <p:spPr>
            <a:xfrm>
              <a:off x="4458712" y="1495737"/>
              <a:ext cx="6807050" cy="0"/>
            </a:xfrm>
            <a:prstGeom prst="line">
              <a:avLst/>
            </a:prstGeom>
            <a:ln w="3175">
              <a:solidFill>
                <a:srgbClr val="F0BE0F"/>
              </a:solidFill>
            </a:ln>
          </p:spPr>
          <p:style>
            <a:lnRef idx="1">
              <a:schemeClr val="accent2"/>
            </a:lnRef>
            <a:fillRef idx="0">
              <a:schemeClr val="accent2"/>
            </a:fillRef>
            <a:effectRef idx="0">
              <a:schemeClr val="accent2"/>
            </a:effectRef>
            <a:fontRef idx="minor">
              <a:schemeClr val="tx1"/>
            </a:fontRef>
          </p:style>
        </p:cxnSp>
        <p:sp>
          <p:nvSpPr>
            <p:cNvPr id="41" name="TextBox 40">
              <a:extLst>
                <a:ext uri="{FF2B5EF4-FFF2-40B4-BE49-F238E27FC236}">
                  <a16:creationId xmlns:a16="http://schemas.microsoft.com/office/drawing/2014/main" id="{0B540BEB-C885-053A-6EA4-5DFB5E62F7C0}"/>
                </a:ext>
              </a:extLst>
            </p:cNvPr>
            <p:cNvSpPr txBox="1"/>
            <p:nvPr/>
          </p:nvSpPr>
          <p:spPr>
            <a:xfrm>
              <a:off x="7261091" y="1364932"/>
              <a:ext cx="1202292" cy="261610"/>
            </a:xfrm>
            <a:prstGeom prst="rect">
              <a:avLst/>
            </a:prstGeom>
            <a:solidFill>
              <a:schemeClr val="bg1"/>
            </a:solidFill>
            <a:ln>
              <a:noFill/>
            </a:ln>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1" i="0" u="none" strike="noStrike" kern="1200" cap="none" spc="0" normalizeH="0" baseline="0" noProof="0" dirty="0">
                  <a:ln>
                    <a:noFill/>
                  </a:ln>
                  <a:solidFill>
                    <a:srgbClr val="004D80"/>
                  </a:solidFill>
                  <a:effectLst/>
                  <a:uLnTx/>
                  <a:uFillTx/>
                  <a:latin typeface="Yekan Bakh" pitchFamily="2" charset="-78"/>
                  <a:ea typeface="Yekan Bakh" pitchFamily="2" charset="-78"/>
                  <a:cs typeface="Yekan Bakh" pitchFamily="2" charset="-78"/>
                </a:rPr>
                <a:t>یافته‌های کلیدی</a:t>
              </a:r>
            </a:p>
          </p:txBody>
        </p:sp>
      </p:grpSp>
      <p:sp>
        <p:nvSpPr>
          <p:cNvPr id="47" name="Rectangle: Rounded Corners 46">
            <a:extLst>
              <a:ext uri="{FF2B5EF4-FFF2-40B4-BE49-F238E27FC236}">
                <a16:creationId xmlns:a16="http://schemas.microsoft.com/office/drawing/2014/main" id="{4BC7D3D4-88FD-35D5-07B4-1519F22B15F5}"/>
              </a:ext>
            </a:extLst>
          </p:cNvPr>
          <p:cNvSpPr/>
          <p:nvPr/>
        </p:nvSpPr>
        <p:spPr>
          <a:xfrm>
            <a:off x="4458710" y="1800565"/>
            <a:ext cx="6807051" cy="657331"/>
          </a:xfrm>
          <a:prstGeom prst="roundRect">
            <a:avLst>
              <a:gd name="adj" fmla="val 42210"/>
            </a:avLst>
          </a:prstGeom>
          <a:solidFill>
            <a:schemeClr val="bg1">
              <a:lumMod val="95000"/>
              <a:alpha val="34000"/>
            </a:schemeClr>
          </a:solidFill>
          <a:ln w="3175">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9" name="Flowchart: Connector 48">
            <a:extLst>
              <a:ext uri="{FF2B5EF4-FFF2-40B4-BE49-F238E27FC236}">
                <a16:creationId xmlns:a16="http://schemas.microsoft.com/office/drawing/2014/main" id="{1E1812F9-177C-2DE6-E023-FC4BF08A1747}"/>
              </a:ext>
            </a:extLst>
          </p:cNvPr>
          <p:cNvSpPr/>
          <p:nvPr/>
        </p:nvSpPr>
        <p:spPr>
          <a:xfrm>
            <a:off x="10737638" y="1800565"/>
            <a:ext cx="656234" cy="656234"/>
          </a:xfrm>
          <a:prstGeom prst="flowChartConnector">
            <a:avLst/>
          </a:prstGeom>
          <a:solidFill>
            <a:srgbClr val="1E27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36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sp>
        <p:nvSpPr>
          <p:cNvPr id="51" name="TextBox 50">
            <a:extLst>
              <a:ext uri="{FF2B5EF4-FFF2-40B4-BE49-F238E27FC236}">
                <a16:creationId xmlns:a16="http://schemas.microsoft.com/office/drawing/2014/main" id="{626680C6-99EB-BB86-7B02-F28C74C4B9D6}"/>
              </a:ext>
            </a:extLst>
          </p:cNvPr>
          <p:cNvSpPr txBox="1"/>
          <p:nvPr/>
        </p:nvSpPr>
        <p:spPr>
          <a:xfrm>
            <a:off x="10839178" y="1953900"/>
            <a:ext cx="453154" cy="369332"/>
          </a:xfrm>
          <a:prstGeom prst="rect">
            <a:avLst/>
          </a:prstGeom>
          <a:noFill/>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8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۱</a:t>
            </a:r>
            <a:endParaRPr kumimoji="0" lang="en-GB" sz="18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sp>
        <p:nvSpPr>
          <p:cNvPr id="53" name="TextBox 52">
            <a:extLst>
              <a:ext uri="{FF2B5EF4-FFF2-40B4-BE49-F238E27FC236}">
                <a16:creationId xmlns:a16="http://schemas.microsoft.com/office/drawing/2014/main" id="{EBC41731-1FBB-9E2D-21B1-A18041E92AFE}"/>
              </a:ext>
            </a:extLst>
          </p:cNvPr>
          <p:cNvSpPr txBox="1"/>
          <p:nvPr/>
        </p:nvSpPr>
        <p:spPr>
          <a:xfrm>
            <a:off x="4501591" y="1944564"/>
            <a:ext cx="6236047" cy="369332"/>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سؤال درست برای «اکوسیستم فرصت ایران» «کدام آرکی‌تایپ رابطه، با چه سرمایه‌گذاری سازمانی» است، نه «از چه کانالی تماس بگیریم» — این دو تصمیم مجزا و مکمل‌اند.</a:t>
            </a:r>
          </a:p>
        </p:txBody>
      </p:sp>
      <p:sp>
        <p:nvSpPr>
          <p:cNvPr id="57" name="Rectangle: Rounded Corners 56">
            <a:extLst>
              <a:ext uri="{FF2B5EF4-FFF2-40B4-BE49-F238E27FC236}">
                <a16:creationId xmlns:a16="http://schemas.microsoft.com/office/drawing/2014/main" id="{D959BCE5-9A28-2240-C6CA-A8BBE8525CFE}"/>
              </a:ext>
            </a:extLst>
          </p:cNvPr>
          <p:cNvSpPr/>
          <p:nvPr/>
        </p:nvSpPr>
        <p:spPr>
          <a:xfrm>
            <a:off x="4458710" y="2567556"/>
            <a:ext cx="6807051" cy="657331"/>
          </a:xfrm>
          <a:prstGeom prst="roundRect">
            <a:avLst>
              <a:gd name="adj" fmla="val 42210"/>
            </a:avLst>
          </a:prstGeom>
          <a:solidFill>
            <a:schemeClr val="bg1">
              <a:lumMod val="95000"/>
              <a:alpha val="34000"/>
            </a:schemeClr>
          </a:solidFill>
          <a:ln w="3175">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58" name="Flowchart: Connector 57">
            <a:extLst>
              <a:ext uri="{FF2B5EF4-FFF2-40B4-BE49-F238E27FC236}">
                <a16:creationId xmlns:a16="http://schemas.microsoft.com/office/drawing/2014/main" id="{C606A7F2-5944-AFB3-12C8-06E5C39AE30B}"/>
              </a:ext>
            </a:extLst>
          </p:cNvPr>
          <p:cNvSpPr/>
          <p:nvPr/>
        </p:nvSpPr>
        <p:spPr>
          <a:xfrm>
            <a:off x="10737638" y="2567556"/>
            <a:ext cx="656234" cy="656234"/>
          </a:xfrm>
          <a:prstGeom prst="flowChartConnector">
            <a:avLst/>
          </a:prstGeom>
          <a:solidFill>
            <a:srgbClr val="1E27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36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sp>
        <p:nvSpPr>
          <p:cNvPr id="59" name="TextBox 58">
            <a:extLst>
              <a:ext uri="{FF2B5EF4-FFF2-40B4-BE49-F238E27FC236}">
                <a16:creationId xmlns:a16="http://schemas.microsoft.com/office/drawing/2014/main" id="{FB615FB9-A126-DCBE-2087-E05DACF2EA5F}"/>
              </a:ext>
            </a:extLst>
          </p:cNvPr>
          <p:cNvSpPr txBox="1"/>
          <p:nvPr/>
        </p:nvSpPr>
        <p:spPr>
          <a:xfrm>
            <a:off x="10839178" y="2720891"/>
            <a:ext cx="453154" cy="369332"/>
          </a:xfrm>
          <a:prstGeom prst="rect">
            <a:avLst/>
          </a:prstGeom>
          <a:noFill/>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8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۲</a:t>
            </a:r>
            <a:endParaRPr kumimoji="0" lang="en-GB" sz="18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sp>
        <p:nvSpPr>
          <p:cNvPr id="60" name="TextBox 59">
            <a:extLst>
              <a:ext uri="{FF2B5EF4-FFF2-40B4-BE49-F238E27FC236}">
                <a16:creationId xmlns:a16="http://schemas.microsoft.com/office/drawing/2014/main" id="{BDB8CE4A-ABC8-FF98-D52D-4B256FE6F387}"/>
              </a:ext>
            </a:extLst>
          </p:cNvPr>
          <p:cNvSpPr txBox="1"/>
          <p:nvPr/>
        </p:nvSpPr>
        <p:spPr>
          <a:xfrm>
            <a:off x="4501591" y="2711555"/>
            <a:ext cx="6236047" cy="369332"/>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هفت آرکی‌تایپ رابطه (از تراکنشی تا اکوسیستمی) یک طیف هم‌زمان است، نه نردبان توالی؛ یک مشتری واحد می‌تواند برای نیازهای مختلف در چند آرکی‌تایپ باشد.</a:t>
            </a:r>
          </a:p>
        </p:txBody>
      </p:sp>
      <p:sp>
        <p:nvSpPr>
          <p:cNvPr id="62" name="Rectangle: Rounded Corners 61">
            <a:extLst>
              <a:ext uri="{FF2B5EF4-FFF2-40B4-BE49-F238E27FC236}">
                <a16:creationId xmlns:a16="http://schemas.microsoft.com/office/drawing/2014/main" id="{D67AA34D-84C5-7412-0AD3-88735884493A}"/>
              </a:ext>
            </a:extLst>
          </p:cNvPr>
          <p:cNvSpPr/>
          <p:nvPr/>
        </p:nvSpPr>
        <p:spPr>
          <a:xfrm>
            <a:off x="4458710" y="3334547"/>
            <a:ext cx="6807051" cy="657331"/>
          </a:xfrm>
          <a:prstGeom prst="roundRect">
            <a:avLst>
              <a:gd name="adj" fmla="val 42210"/>
            </a:avLst>
          </a:prstGeom>
          <a:solidFill>
            <a:schemeClr val="bg1">
              <a:lumMod val="95000"/>
              <a:alpha val="34000"/>
            </a:schemeClr>
          </a:solidFill>
          <a:ln w="3175">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63" name="Flowchart: Connector 62">
            <a:extLst>
              <a:ext uri="{FF2B5EF4-FFF2-40B4-BE49-F238E27FC236}">
                <a16:creationId xmlns:a16="http://schemas.microsoft.com/office/drawing/2014/main" id="{94F3A2E3-3E5D-4BC4-2E1D-4E7D324E466F}"/>
              </a:ext>
            </a:extLst>
          </p:cNvPr>
          <p:cNvSpPr/>
          <p:nvPr/>
        </p:nvSpPr>
        <p:spPr>
          <a:xfrm>
            <a:off x="10737638" y="3334547"/>
            <a:ext cx="656234" cy="656234"/>
          </a:xfrm>
          <a:prstGeom prst="flowChartConnector">
            <a:avLst/>
          </a:prstGeom>
          <a:solidFill>
            <a:srgbClr val="1E27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36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sp>
        <p:nvSpPr>
          <p:cNvPr id="64" name="TextBox 63">
            <a:extLst>
              <a:ext uri="{FF2B5EF4-FFF2-40B4-BE49-F238E27FC236}">
                <a16:creationId xmlns:a16="http://schemas.microsoft.com/office/drawing/2014/main" id="{447F7D89-6787-FC21-7FED-D723B2179106}"/>
              </a:ext>
            </a:extLst>
          </p:cNvPr>
          <p:cNvSpPr txBox="1"/>
          <p:nvPr/>
        </p:nvSpPr>
        <p:spPr>
          <a:xfrm>
            <a:off x="10839178" y="3487882"/>
            <a:ext cx="453154" cy="369332"/>
          </a:xfrm>
          <a:prstGeom prst="rect">
            <a:avLst/>
          </a:prstGeom>
          <a:noFill/>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8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۳</a:t>
            </a:r>
            <a:endParaRPr kumimoji="0" lang="en-GB" sz="18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sp>
        <p:nvSpPr>
          <p:cNvPr id="65" name="TextBox 64">
            <a:extLst>
              <a:ext uri="{FF2B5EF4-FFF2-40B4-BE49-F238E27FC236}">
                <a16:creationId xmlns:a16="http://schemas.microsoft.com/office/drawing/2014/main" id="{D40028F8-A7A0-BEAA-AF0C-5CB5F47B448C}"/>
              </a:ext>
            </a:extLst>
          </p:cNvPr>
          <p:cNvSpPr txBox="1"/>
          <p:nvPr/>
        </p:nvSpPr>
        <p:spPr>
          <a:xfrm>
            <a:off x="4501591" y="3478546"/>
            <a:ext cx="6236047" cy="369332"/>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انتخاب آرکی‌تایپ از تقاطع دو معیار — ارزش بالقوه مشتری و پیچیدگی نیاز — تعیین می‌شود، نه از عادت یا رابطه شخصی بنیان‌گذاران.</a:t>
            </a:r>
          </a:p>
        </p:txBody>
      </p:sp>
      <p:sp>
        <p:nvSpPr>
          <p:cNvPr id="67" name="Rectangle: Rounded Corners 66">
            <a:extLst>
              <a:ext uri="{FF2B5EF4-FFF2-40B4-BE49-F238E27FC236}">
                <a16:creationId xmlns:a16="http://schemas.microsoft.com/office/drawing/2014/main" id="{2FB5E399-4205-4B81-A656-0B724DEB5C69}"/>
              </a:ext>
            </a:extLst>
          </p:cNvPr>
          <p:cNvSpPr/>
          <p:nvPr/>
        </p:nvSpPr>
        <p:spPr>
          <a:xfrm>
            <a:off x="4458710" y="4101538"/>
            <a:ext cx="6807051" cy="657331"/>
          </a:xfrm>
          <a:prstGeom prst="roundRect">
            <a:avLst>
              <a:gd name="adj" fmla="val 42210"/>
            </a:avLst>
          </a:prstGeom>
          <a:solidFill>
            <a:schemeClr val="bg1">
              <a:lumMod val="95000"/>
              <a:alpha val="34000"/>
            </a:schemeClr>
          </a:solidFill>
          <a:ln w="3175">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68" name="Flowchart: Connector 67">
            <a:extLst>
              <a:ext uri="{FF2B5EF4-FFF2-40B4-BE49-F238E27FC236}">
                <a16:creationId xmlns:a16="http://schemas.microsoft.com/office/drawing/2014/main" id="{316B6264-D856-1166-E689-8E56BE243E4A}"/>
              </a:ext>
            </a:extLst>
          </p:cNvPr>
          <p:cNvSpPr/>
          <p:nvPr/>
        </p:nvSpPr>
        <p:spPr>
          <a:xfrm>
            <a:off x="10737638" y="4101538"/>
            <a:ext cx="656234" cy="656234"/>
          </a:xfrm>
          <a:prstGeom prst="flowChartConnector">
            <a:avLst/>
          </a:prstGeom>
          <a:solidFill>
            <a:srgbClr val="1E27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36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sp>
        <p:nvSpPr>
          <p:cNvPr id="69" name="TextBox 68">
            <a:extLst>
              <a:ext uri="{FF2B5EF4-FFF2-40B4-BE49-F238E27FC236}">
                <a16:creationId xmlns:a16="http://schemas.microsoft.com/office/drawing/2014/main" id="{604D4684-3BB8-EAF6-33E3-5E0D41F008EA}"/>
              </a:ext>
            </a:extLst>
          </p:cNvPr>
          <p:cNvSpPr txBox="1"/>
          <p:nvPr/>
        </p:nvSpPr>
        <p:spPr>
          <a:xfrm>
            <a:off x="10839178" y="4254873"/>
            <a:ext cx="453154" cy="369332"/>
          </a:xfrm>
          <a:prstGeom prst="rect">
            <a:avLst/>
          </a:prstGeom>
          <a:noFill/>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8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۴</a:t>
            </a:r>
            <a:endParaRPr kumimoji="0" lang="en-GB" sz="18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sp>
        <p:nvSpPr>
          <p:cNvPr id="70" name="TextBox 69">
            <a:extLst>
              <a:ext uri="{FF2B5EF4-FFF2-40B4-BE49-F238E27FC236}">
                <a16:creationId xmlns:a16="http://schemas.microsoft.com/office/drawing/2014/main" id="{862E710B-6464-818D-F2C3-9603DF17F9FA}"/>
              </a:ext>
            </a:extLst>
          </p:cNvPr>
          <p:cNvSpPr txBox="1"/>
          <p:nvPr/>
        </p:nvSpPr>
        <p:spPr>
          <a:xfrm>
            <a:off x="4501591" y="4176288"/>
            <a:ext cx="6236047" cy="507831"/>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هسته پرتفوی رابطه «اکوسیستم فرصت ایران» در ناحیه «ارزش بالا × پیچیدگی بالا» و «ارزش راهبردی × پیچیدگی خیلی‌بالا» شکل می‌گیرد — دقیقاً همان‌جا که سه خط کسب‌وکار «اکوسیستم فرصت ایران» (خدمات حرفه‌ای، ونچر بیلدینگ، سرمایه‌گذاری) هم‌پوشانی دارند.</a:t>
            </a:r>
          </a:p>
        </p:txBody>
      </p:sp>
      <p:sp>
        <p:nvSpPr>
          <p:cNvPr id="72" name="Rectangle: Rounded Corners 71">
            <a:extLst>
              <a:ext uri="{FF2B5EF4-FFF2-40B4-BE49-F238E27FC236}">
                <a16:creationId xmlns:a16="http://schemas.microsoft.com/office/drawing/2014/main" id="{1B6A1D2A-4626-DEB8-5871-9C658CE6C8A9}"/>
              </a:ext>
            </a:extLst>
          </p:cNvPr>
          <p:cNvSpPr/>
          <p:nvPr/>
        </p:nvSpPr>
        <p:spPr>
          <a:xfrm>
            <a:off x="4458710" y="4868528"/>
            <a:ext cx="6807051" cy="657331"/>
          </a:xfrm>
          <a:prstGeom prst="roundRect">
            <a:avLst>
              <a:gd name="adj" fmla="val 42210"/>
            </a:avLst>
          </a:prstGeom>
          <a:solidFill>
            <a:schemeClr val="bg1">
              <a:lumMod val="95000"/>
              <a:alpha val="34000"/>
            </a:schemeClr>
          </a:solidFill>
          <a:ln w="3175">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
        <p:nvSpPr>
          <p:cNvPr id="73" name="Flowchart: Connector 72">
            <a:extLst>
              <a:ext uri="{FF2B5EF4-FFF2-40B4-BE49-F238E27FC236}">
                <a16:creationId xmlns:a16="http://schemas.microsoft.com/office/drawing/2014/main" id="{9B2FE24D-A458-42B1-6F2F-5BA348A3DCC2}"/>
              </a:ext>
            </a:extLst>
          </p:cNvPr>
          <p:cNvSpPr/>
          <p:nvPr/>
        </p:nvSpPr>
        <p:spPr>
          <a:xfrm>
            <a:off x="10737638" y="4868528"/>
            <a:ext cx="656234" cy="656234"/>
          </a:xfrm>
          <a:prstGeom prst="flowChartConnector">
            <a:avLst/>
          </a:prstGeom>
          <a:solidFill>
            <a:srgbClr val="1E27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36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sp>
        <p:nvSpPr>
          <p:cNvPr id="74" name="TextBox 73">
            <a:extLst>
              <a:ext uri="{FF2B5EF4-FFF2-40B4-BE49-F238E27FC236}">
                <a16:creationId xmlns:a16="http://schemas.microsoft.com/office/drawing/2014/main" id="{351C9573-A969-EDBF-96D7-5431A425BF46}"/>
              </a:ext>
            </a:extLst>
          </p:cNvPr>
          <p:cNvSpPr txBox="1"/>
          <p:nvPr/>
        </p:nvSpPr>
        <p:spPr>
          <a:xfrm>
            <a:off x="10839178" y="5021863"/>
            <a:ext cx="453154" cy="369332"/>
          </a:xfrm>
          <a:prstGeom prst="rect">
            <a:avLst/>
          </a:prstGeom>
          <a:noFill/>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8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rPr>
              <a:t>۵</a:t>
            </a:r>
            <a:endParaRPr kumimoji="0" lang="en-GB" sz="1800" b="1" i="0" u="none" strike="noStrike" kern="1200" cap="none" spc="0" normalizeH="0" baseline="0" noProof="0" dirty="0">
              <a:ln>
                <a:noFill/>
              </a:ln>
              <a:solidFill>
                <a:prstClr val="white"/>
              </a:solidFill>
              <a:effectLst/>
              <a:uLnTx/>
              <a:uFillTx/>
              <a:latin typeface="Yekan Bakh" pitchFamily="2" charset="-78"/>
              <a:ea typeface="Yekan Bakh" pitchFamily="2" charset="-78"/>
              <a:cs typeface="Yekan Bakh" pitchFamily="2" charset="-78"/>
            </a:endParaRPr>
          </a:p>
        </p:txBody>
      </p:sp>
      <p:sp>
        <p:nvSpPr>
          <p:cNvPr id="75" name="TextBox 74">
            <a:extLst>
              <a:ext uri="{FF2B5EF4-FFF2-40B4-BE49-F238E27FC236}">
                <a16:creationId xmlns:a16="http://schemas.microsoft.com/office/drawing/2014/main" id="{B8571BB5-E37C-0BD7-33F3-25E70D70D19A}"/>
              </a:ext>
            </a:extLst>
          </p:cNvPr>
          <p:cNvSpPr txBox="1"/>
          <p:nvPr/>
        </p:nvSpPr>
        <p:spPr>
          <a:xfrm>
            <a:off x="4501591" y="5012527"/>
            <a:ext cx="6236047" cy="369332"/>
          </a:xfrm>
          <a:prstGeom prst="rect">
            <a:avLst/>
          </a:prstGeom>
          <a:noFill/>
        </p:spPr>
        <p:txBody>
          <a:bodyPr wrap="square">
            <a:spAutoFit/>
          </a:bodyPr>
          <a:lstStyle/>
          <a:p>
            <a:pPr marL="0" marR="0" lvl="0" indent="0" algn="justLow" defTabSz="457200" rtl="1" eaLnBrk="1" fontAlgn="auto" latinLnBrk="0" hangingPunct="1">
              <a:lnSpc>
                <a:spcPct val="100000"/>
              </a:lnSpc>
              <a:spcBef>
                <a:spcPts val="0"/>
              </a:spcBef>
              <a:spcAft>
                <a:spcPts val="0"/>
              </a:spcAft>
              <a:buClrTx/>
              <a:buSzTx/>
              <a:buFontTx/>
              <a:buNone/>
              <a:tabLst/>
              <a:defRPr/>
            </a:pPr>
            <a:r>
              <a:rPr kumimoji="0" lang="fa-IR" sz="9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ریسک مشترک همه پرسوناها: وابستگی آرکی‌تایپ‌های رابطه‌محور به رابطه شخصی بنیان‌گذاران </a:t>
            </a:r>
            <a:r>
              <a:rPr kumimoji="0" lang="en-US" sz="9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Being)</a:t>
            </a:r>
            <a:r>
              <a:rPr kumimoji="0" lang="fa-IR" sz="9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a:t>
            </a:r>
            <a:r>
              <a:rPr kumimoji="0" lang="en-US" sz="9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 </a:t>
            </a:r>
            <a:r>
              <a:rPr kumimoji="0" lang="fa-IR" sz="9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بدون مسیر سیستماتیک گذار به</a:t>
            </a:r>
            <a:r>
              <a:rPr kumimoji="0" lang="en-US" sz="9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Doing — </a:t>
            </a:r>
            <a:r>
              <a:rPr kumimoji="0" lang="fa-IR" sz="900" b="0" i="0" u="none" strike="noStrike" kern="1200" cap="none" spc="0" normalizeH="0" baseline="0" noProof="0" dirty="0">
                <a:ln>
                  <a:noFill/>
                </a:ln>
                <a:solidFill>
                  <a:prstClr val="black">
                    <a:lumMod val="75000"/>
                    <a:lumOff val="25000"/>
                  </a:prstClr>
                </a:solidFill>
                <a:effectLst/>
                <a:uLnTx/>
                <a:uFillTx/>
                <a:latin typeface="Yekan Bakh" pitchFamily="2" charset="-78"/>
                <a:ea typeface="Yekan Bakh" pitchFamily="2" charset="-78"/>
                <a:cs typeface="Yekan Bakh" pitchFamily="2" charset="-78"/>
              </a:rPr>
              <a:t> همان ریسکی که در بلوک کانال هم مستند شده است.</a:t>
            </a:r>
          </a:p>
        </p:txBody>
      </p:sp>
      <p:grpSp>
        <p:nvGrpSpPr>
          <p:cNvPr id="80" name="Group 79">
            <a:extLst>
              <a:ext uri="{FF2B5EF4-FFF2-40B4-BE49-F238E27FC236}">
                <a16:creationId xmlns:a16="http://schemas.microsoft.com/office/drawing/2014/main" id="{D4057A4E-2EFE-19D1-BCE8-4923467AE21B}"/>
              </a:ext>
            </a:extLst>
          </p:cNvPr>
          <p:cNvGrpSpPr/>
          <p:nvPr/>
        </p:nvGrpSpPr>
        <p:grpSpPr>
          <a:xfrm>
            <a:off x="437290" y="1364932"/>
            <a:ext cx="3508782" cy="261610"/>
            <a:chOff x="437289" y="1364932"/>
            <a:chExt cx="3917998" cy="261610"/>
          </a:xfrm>
        </p:grpSpPr>
        <p:cxnSp>
          <p:nvCxnSpPr>
            <p:cNvPr id="78" name="Straight Connector 77">
              <a:extLst>
                <a:ext uri="{FF2B5EF4-FFF2-40B4-BE49-F238E27FC236}">
                  <a16:creationId xmlns:a16="http://schemas.microsoft.com/office/drawing/2014/main" id="{0C2FEA4C-DA68-7E28-D8FC-A6211078E619}"/>
                </a:ext>
              </a:extLst>
            </p:cNvPr>
            <p:cNvCxnSpPr>
              <a:cxnSpLocks/>
            </p:cNvCxnSpPr>
            <p:nvPr/>
          </p:nvCxnSpPr>
          <p:spPr>
            <a:xfrm>
              <a:off x="437289" y="1495737"/>
              <a:ext cx="3917998" cy="0"/>
            </a:xfrm>
            <a:prstGeom prst="line">
              <a:avLst/>
            </a:prstGeom>
            <a:ln w="3175">
              <a:solidFill>
                <a:srgbClr val="F0BE0F"/>
              </a:solidFill>
            </a:ln>
          </p:spPr>
          <p:style>
            <a:lnRef idx="1">
              <a:schemeClr val="accent2"/>
            </a:lnRef>
            <a:fillRef idx="0">
              <a:schemeClr val="accent2"/>
            </a:fillRef>
            <a:effectRef idx="0">
              <a:schemeClr val="accent2"/>
            </a:effectRef>
            <a:fontRef idx="minor">
              <a:schemeClr val="tx1"/>
            </a:fontRef>
          </p:style>
        </p:cxnSp>
        <p:sp>
          <p:nvSpPr>
            <p:cNvPr id="79" name="TextBox 78">
              <a:extLst>
                <a:ext uri="{FF2B5EF4-FFF2-40B4-BE49-F238E27FC236}">
                  <a16:creationId xmlns:a16="http://schemas.microsoft.com/office/drawing/2014/main" id="{BAC982C9-3BCD-6C02-D480-93FFD3763993}"/>
                </a:ext>
              </a:extLst>
            </p:cNvPr>
            <p:cNvSpPr txBox="1"/>
            <p:nvPr/>
          </p:nvSpPr>
          <p:spPr>
            <a:xfrm>
              <a:off x="1795143" y="1364932"/>
              <a:ext cx="1202291" cy="261610"/>
            </a:xfrm>
            <a:prstGeom prst="rect">
              <a:avLst/>
            </a:prstGeom>
            <a:solidFill>
              <a:schemeClr val="bg1"/>
            </a:solidFill>
            <a:ln>
              <a:noFill/>
            </a:ln>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1" i="0" u="none" strike="noStrike" kern="1200" cap="none" spc="0" normalizeH="0" baseline="0" noProof="0" dirty="0">
                  <a:ln>
                    <a:noFill/>
                  </a:ln>
                  <a:solidFill>
                    <a:srgbClr val="004D80"/>
                  </a:solidFill>
                  <a:effectLst/>
                  <a:uLnTx/>
                  <a:uFillTx/>
                  <a:latin typeface="Yekan Bakh" pitchFamily="2" charset="-78"/>
                  <a:ea typeface="Yekan Bakh" pitchFamily="2" charset="-78"/>
                  <a:cs typeface="Yekan Bakh" pitchFamily="2" charset="-78"/>
                </a:rPr>
                <a:t>گام بعدی</a:t>
              </a:r>
            </a:p>
          </p:txBody>
        </p:sp>
      </p:grpSp>
      <p:sp>
        <p:nvSpPr>
          <p:cNvPr id="84" name="Isosceles Triangle 83">
            <a:extLst>
              <a:ext uri="{FF2B5EF4-FFF2-40B4-BE49-F238E27FC236}">
                <a16:creationId xmlns:a16="http://schemas.microsoft.com/office/drawing/2014/main" id="{156CE918-185A-BA51-45E5-E1CC836A8494}"/>
              </a:ext>
            </a:extLst>
          </p:cNvPr>
          <p:cNvSpPr/>
          <p:nvPr/>
        </p:nvSpPr>
        <p:spPr>
          <a:xfrm rot="16200000">
            <a:off x="2361735" y="3575578"/>
            <a:ext cx="3724194" cy="174170"/>
          </a:xfrm>
          <a:prstGeom prst="triangle">
            <a:avLst/>
          </a:prstGeom>
          <a:solidFill>
            <a:schemeClr val="accent2">
              <a:alpha val="1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Calibri"/>
            </a:endParaRPr>
          </a:p>
        </p:txBody>
      </p:sp>
    </p:spTree>
    <p:extLst>
      <p:ext uri="{BB962C8B-B14F-4D97-AF65-F5344CB8AC3E}">
        <p14:creationId xmlns:p14="http://schemas.microsoft.com/office/powerpoint/2010/main" val="912254935"/>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0C3E2BD-54CD-C1BD-2BDD-1D9AD0F53EAA}"/>
              </a:ext>
            </a:extLst>
          </p:cNvPr>
          <p:cNvSpPr>
            <a:spLocks noGrp="1"/>
          </p:cNvSpPr>
          <p:nvPr>
            <p:ph type="body" sz="quarter" idx="10"/>
          </p:nvPr>
        </p:nvSpPr>
        <p:spPr/>
        <p:txBody>
          <a:bodyPr/>
          <a:lstStyle/>
          <a:p>
            <a:r>
              <a:rPr lang="fa-IR" dirty="0"/>
              <a:t>۹. منابع</a:t>
            </a:r>
          </a:p>
        </p:txBody>
      </p:sp>
      <p:sp>
        <p:nvSpPr>
          <p:cNvPr id="3" name="Text Placeholder 2">
            <a:extLst>
              <a:ext uri="{FF2B5EF4-FFF2-40B4-BE49-F238E27FC236}">
                <a16:creationId xmlns:a16="http://schemas.microsoft.com/office/drawing/2014/main" id="{C89DCC27-F399-18AB-E3F9-5152C2E5C606}"/>
              </a:ext>
            </a:extLst>
          </p:cNvPr>
          <p:cNvSpPr>
            <a:spLocks noGrp="1"/>
          </p:cNvSpPr>
          <p:nvPr>
            <p:ph type="body" sz="quarter" idx="12"/>
          </p:nvPr>
        </p:nvSpPr>
        <p:spPr>
          <a:xfrm>
            <a:off x="555629" y="567444"/>
            <a:ext cx="10710133" cy="715363"/>
          </a:xfrm>
        </p:spPr>
        <p:txBody>
          <a:bodyPr/>
          <a:lstStyle/>
          <a:p>
            <a:r>
              <a:rPr lang="fa-IR" dirty="0"/>
              <a:t>این چارچوب، ترکیبی از چند بدنه ادبیات معتبر مدیریتی است، نه برگرفته از یک مرجع واحد</a:t>
            </a:r>
          </a:p>
          <a:p>
            <a:r>
              <a:rPr lang="fa-IR" dirty="0"/>
              <a:t>همچنین ادامه بنچمارک بلوک کانال در این قسمت ذکر شده است</a:t>
            </a:r>
          </a:p>
        </p:txBody>
      </p:sp>
      <p:grpSp>
        <p:nvGrpSpPr>
          <p:cNvPr id="9" name="Group 8">
            <a:extLst>
              <a:ext uri="{FF2B5EF4-FFF2-40B4-BE49-F238E27FC236}">
                <a16:creationId xmlns:a16="http://schemas.microsoft.com/office/drawing/2014/main" id="{DD98979A-BDC4-2F6F-5772-0A1A5349B32E}"/>
              </a:ext>
            </a:extLst>
          </p:cNvPr>
          <p:cNvGrpSpPr/>
          <p:nvPr/>
        </p:nvGrpSpPr>
        <p:grpSpPr>
          <a:xfrm>
            <a:off x="6008734" y="1373558"/>
            <a:ext cx="5152845" cy="261610"/>
            <a:chOff x="5940762" y="1373558"/>
            <a:chExt cx="5324999" cy="261610"/>
          </a:xfrm>
        </p:grpSpPr>
        <p:cxnSp>
          <p:nvCxnSpPr>
            <p:cNvPr id="5" name="Straight Connector 4">
              <a:extLst>
                <a:ext uri="{FF2B5EF4-FFF2-40B4-BE49-F238E27FC236}">
                  <a16:creationId xmlns:a16="http://schemas.microsoft.com/office/drawing/2014/main" id="{AE683EA3-FDB8-D170-F7DC-CB693F9B8BAC}"/>
                </a:ext>
              </a:extLst>
            </p:cNvPr>
            <p:cNvCxnSpPr>
              <a:cxnSpLocks/>
            </p:cNvCxnSpPr>
            <p:nvPr/>
          </p:nvCxnSpPr>
          <p:spPr>
            <a:xfrm>
              <a:off x="5940762" y="1504363"/>
              <a:ext cx="5324999" cy="0"/>
            </a:xfrm>
            <a:prstGeom prst="line">
              <a:avLst/>
            </a:prstGeom>
            <a:ln w="3175">
              <a:solidFill>
                <a:srgbClr val="F0BE0F"/>
              </a:solidFill>
            </a:ln>
          </p:spPr>
          <p:style>
            <a:lnRef idx="1">
              <a:schemeClr val="accent2"/>
            </a:lnRef>
            <a:fillRef idx="0">
              <a:schemeClr val="accent2"/>
            </a:fillRef>
            <a:effectRef idx="0">
              <a:schemeClr val="accent2"/>
            </a:effectRef>
            <a:fontRef idx="minor">
              <a:schemeClr val="tx1"/>
            </a:fontRef>
          </p:style>
        </p:cxnSp>
        <p:sp>
          <p:nvSpPr>
            <p:cNvPr id="6" name="TextBox 5">
              <a:extLst>
                <a:ext uri="{FF2B5EF4-FFF2-40B4-BE49-F238E27FC236}">
                  <a16:creationId xmlns:a16="http://schemas.microsoft.com/office/drawing/2014/main" id="{D870F0BF-9E1B-CFAF-CBC2-383D2FFACA8E}"/>
                </a:ext>
              </a:extLst>
            </p:cNvPr>
            <p:cNvSpPr txBox="1"/>
            <p:nvPr/>
          </p:nvSpPr>
          <p:spPr>
            <a:xfrm>
              <a:off x="7999764" y="1373558"/>
              <a:ext cx="1206995" cy="261610"/>
            </a:xfrm>
            <a:prstGeom prst="rect">
              <a:avLst/>
            </a:prstGeom>
            <a:solidFill>
              <a:schemeClr val="bg1"/>
            </a:solidFill>
            <a:ln>
              <a:noFill/>
            </a:ln>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1" i="0" u="none" strike="noStrike" kern="1200" cap="none" spc="0" normalizeH="0" baseline="0" noProof="0" dirty="0">
                  <a:ln>
                    <a:noFill/>
                  </a:ln>
                  <a:solidFill>
                    <a:srgbClr val="004D80"/>
                  </a:solidFill>
                  <a:effectLst/>
                  <a:uLnTx/>
                  <a:uFillTx/>
                  <a:latin typeface="Yekan Bakh" pitchFamily="2" charset="-78"/>
                  <a:ea typeface="Yekan Bakh" pitchFamily="2" charset="-78"/>
                  <a:cs typeface="Yekan Bakh" pitchFamily="2" charset="-78"/>
                </a:rPr>
                <a:t>چهارچوب</a:t>
              </a:r>
            </a:p>
          </p:txBody>
        </p:sp>
      </p:grpSp>
      <p:graphicFrame>
        <p:nvGraphicFramePr>
          <p:cNvPr id="8" name="Table 7">
            <a:extLst>
              <a:ext uri="{FF2B5EF4-FFF2-40B4-BE49-F238E27FC236}">
                <a16:creationId xmlns:a16="http://schemas.microsoft.com/office/drawing/2014/main" id="{9FFF57A4-388B-16E9-90A0-6ADA4F01324C}"/>
              </a:ext>
            </a:extLst>
          </p:cNvPr>
          <p:cNvGraphicFramePr>
            <a:graphicFrameLocks noGrp="1"/>
          </p:cNvGraphicFramePr>
          <p:nvPr/>
        </p:nvGraphicFramePr>
        <p:xfrm>
          <a:off x="6008733" y="1856724"/>
          <a:ext cx="5152844" cy="3629674"/>
        </p:xfrm>
        <a:graphic>
          <a:graphicData uri="http://schemas.openxmlformats.org/drawingml/2006/table">
            <a:tbl>
              <a:tblPr firstRow="1" bandRow="1">
                <a:tableStyleId>{5C22544A-7EE6-4342-B048-85BDC9FD1C3A}</a:tableStyleId>
              </a:tblPr>
              <a:tblGrid>
                <a:gridCol w="2069588">
                  <a:extLst>
                    <a:ext uri="{9D8B030D-6E8A-4147-A177-3AD203B41FA5}">
                      <a16:colId xmlns:a16="http://schemas.microsoft.com/office/drawing/2014/main" val="20000"/>
                    </a:ext>
                  </a:extLst>
                </a:gridCol>
                <a:gridCol w="1887060">
                  <a:extLst>
                    <a:ext uri="{9D8B030D-6E8A-4147-A177-3AD203B41FA5}">
                      <a16:colId xmlns:a16="http://schemas.microsoft.com/office/drawing/2014/main" val="20001"/>
                    </a:ext>
                  </a:extLst>
                </a:gridCol>
                <a:gridCol w="1196196">
                  <a:extLst>
                    <a:ext uri="{9D8B030D-6E8A-4147-A177-3AD203B41FA5}">
                      <a16:colId xmlns:a16="http://schemas.microsoft.com/office/drawing/2014/main" val="20002"/>
                    </a:ext>
                  </a:extLst>
                </a:gridCol>
              </a:tblGrid>
              <a:tr h="403454">
                <a:tc>
                  <a:txBody>
                    <a:bodyPr/>
                    <a:lstStyle/>
                    <a:p>
                      <a:pPr algn="ctr" rtl="1">
                        <a:lnSpc>
                          <a:spcPct val="108000"/>
                        </a:lnSpc>
                      </a:pPr>
                      <a:r>
                        <a:rPr sz="900" b="1" i="0" dirty="0" err="1">
                          <a:solidFill>
                            <a:srgbClr val="FFFFFF"/>
                          </a:solidFill>
                          <a:latin typeface="Yekan Bakh FaNum" pitchFamily="2" charset="-78"/>
                          <a:cs typeface="Yekan Bakh FaNum" pitchFamily="2" charset="-78"/>
                        </a:rPr>
                        <a:t>تمرکز</a:t>
                      </a:r>
                      <a:r>
                        <a:rPr sz="900" b="1" i="0" dirty="0">
                          <a:solidFill>
                            <a:srgbClr val="FFFFFF"/>
                          </a:solidFill>
                          <a:latin typeface="Yekan Bakh FaNum" pitchFamily="2" charset="-78"/>
                          <a:cs typeface="Yekan Bakh FaNum" pitchFamily="2" charset="-78"/>
                        </a:rPr>
                        <a:t> و </a:t>
                      </a:r>
                      <a:r>
                        <a:rPr sz="900" b="1" i="0" dirty="0" err="1">
                          <a:solidFill>
                            <a:srgbClr val="FFFFFF"/>
                          </a:solidFill>
                          <a:latin typeface="Yekan Bakh FaNum" pitchFamily="2" charset="-78"/>
                          <a:cs typeface="Yekan Bakh FaNum" pitchFamily="2" charset="-78"/>
                        </a:rPr>
                        <a:t>کاربرد</a:t>
                      </a:r>
                      <a:r>
                        <a:rPr sz="900" b="1" i="0" dirty="0">
                          <a:solidFill>
                            <a:srgbClr val="FFFFFF"/>
                          </a:solidFill>
                          <a:latin typeface="Yekan Bakh FaNum" pitchFamily="2" charset="-78"/>
                          <a:cs typeface="Yekan Bakh FaNum" pitchFamily="2" charset="-78"/>
                        </a:rPr>
                        <a:t> </a:t>
                      </a:r>
                      <a:r>
                        <a:rPr sz="900" b="1" i="0" dirty="0" err="1">
                          <a:solidFill>
                            <a:srgbClr val="FFFFFF"/>
                          </a:solidFill>
                          <a:latin typeface="Yekan Bakh FaNum" pitchFamily="2" charset="-78"/>
                          <a:cs typeface="Yekan Bakh FaNum" pitchFamily="2" charset="-78"/>
                        </a:rPr>
                        <a:t>در</a:t>
                      </a:r>
                      <a:r>
                        <a:rPr sz="900" b="1" i="0" dirty="0">
                          <a:solidFill>
                            <a:srgbClr val="FFFFFF"/>
                          </a:solidFill>
                          <a:latin typeface="Yekan Bakh FaNum" pitchFamily="2" charset="-78"/>
                          <a:cs typeface="Yekan Bakh FaNum" pitchFamily="2" charset="-78"/>
                        </a:rPr>
                        <a:t> </a:t>
                      </a:r>
                      <a:r>
                        <a:rPr sz="900" b="1" i="0" dirty="0" err="1">
                          <a:solidFill>
                            <a:srgbClr val="FFFFFF"/>
                          </a:solidFill>
                          <a:latin typeface="Yekan Bakh FaNum" pitchFamily="2" charset="-78"/>
                          <a:cs typeface="Yekan Bakh FaNum" pitchFamily="2" charset="-78"/>
                        </a:rPr>
                        <a:t>این</a:t>
                      </a:r>
                      <a:r>
                        <a:rPr sz="900" b="1" i="0" dirty="0">
                          <a:solidFill>
                            <a:srgbClr val="FFFFFF"/>
                          </a:solidFill>
                          <a:latin typeface="Yekan Bakh FaNum" pitchFamily="2" charset="-78"/>
                          <a:cs typeface="Yekan Bakh FaNum" pitchFamily="2" charset="-78"/>
                        </a:rPr>
                        <a:t> </a:t>
                      </a:r>
                      <a:r>
                        <a:rPr sz="900" b="1" i="0" dirty="0" err="1">
                          <a:solidFill>
                            <a:srgbClr val="FFFFFF"/>
                          </a:solidFill>
                          <a:latin typeface="Yekan Bakh FaNum" pitchFamily="2" charset="-78"/>
                          <a:cs typeface="Yekan Bakh FaNum" pitchFamily="2" charset="-78"/>
                        </a:rPr>
                        <a:t>سند</a:t>
                      </a:r>
                      <a:endParaRPr sz="900" b="1" i="0" dirty="0">
                        <a:solidFill>
                          <a:srgbClr val="FFFFFF"/>
                        </a:solidFill>
                        <a:latin typeface="Yekan Bakh FaNum" pitchFamily="2" charset="-78"/>
                        <a:cs typeface="Yekan Bakh FaNum" pitchFamily="2" charset="-78"/>
                      </a:endParaRPr>
                    </a:p>
                  </a:txBody>
                  <a:tcPr marL="54864" marR="54864" marT="27432" marB="27432" anchor="ctr">
                    <a:solidFill>
                      <a:srgbClr val="15296B"/>
                    </a:solidFill>
                  </a:tcPr>
                </a:tc>
                <a:tc>
                  <a:txBody>
                    <a:bodyPr/>
                    <a:lstStyle/>
                    <a:p>
                      <a:pPr algn="ctr" rtl="1">
                        <a:lnSpc>
                          <a:spcPct val="108000"/>
                        </a:lnSpc>
                      </a:pPr>
                      <a:r>
                        <a:rPr sz="900" b="1" i="0" dirty="0" err="1">
                          <a:solidFill>
                            <a:srgbClr val="FFFFFF"/>
                          </a:solidFill>
                          <a:latin typeface="Yekan Bakh FaNum" pitchFamily="2" charset="-78"/>
                          <a:cs typeface="Yekan Bakh FaNum" pitchFamily="2" charset="-78"/>
                        </a:rPr>
                        <a:t>عنوان</a:t>
                      </a:r>
                      <a:endParaRPr sz="900" b="1" i="0" dirty="0">
                        <a:solidFill>
                          <a:srgbClr val="FFFFFF"/>
                        </a:solidFill>
                        <a:latin typeface="Yekan Bakh FaNum" pitchFamily="2" charset="-78"/>
                        <a:cs typeface="Yekan Bakh FaNum" pitchFamily="2" charset="-78"/>
                      </a:endParaRPr>
                    </a:p>
                  </a:txBody>
                  <a:tcPr marL="54864" marR="54864" marT="27432" marB="27432" anchor="ctr">
                    <a:solidFill>
                      <a:srgbClr val="15296B"/>
                    </a:solidFill>
                  </a:tcPr>
                </a:tc>
                <a:tc>
                  <a:txBody>
                    <a:bodyPr/>
                    <a:lstStyle/>
                    <a:p>
                      <a:pPr algn="ctr" rtl="1">
                        <a:lnSpc>
                          <a:spcPct val="108000"/>
                        </a:lnSpc>
                      </a:pPr>
                      <a:r>
                        <a:rPr sz="900" b="1" i="0" dirty="0" err="1">
                          <a:solidFill>
                            <a:srgbClr val="FFFFFF"/>
                          </a:solidFill>
                          <a:latin typeface="Yekan Bakh FaNum" pitchFamily="2" charset="-78"/>
                          <a:cs typeface="Yekan Bakh FaNum" pitchFamily="2" charset="-78"/>
                        </a:rPr>
                        <a:t>منبع</a:t>
                      </a:r>
                      <a:endParaRPr sz="900" b="1" i="0" dirty="0">
                        <a:solidFill>
                          <a:srgbClr val="FFFFFF"/>
                        </a:solidFill>
                        <a:latin typeface="Yekan Bakh FaNum" pitchFamily="2" charset="-78"/>
                        <a:cs typeface="Yekan Bakh FaNum" pitchFamily="2" charset="-78"/>
                      </a:endParaRPr>
                    </a:p>
                  </a:txBody>
                  <a:tcPr marL="54864" marR="54864" marT="27432" marB="27432" anchor="ctr">
                    <a:solidFill>
                      <a:srgbClr val="15296B"/>
                    </a:solidFill>
                  </a:tcPr>
                </a:tc>
                <a:extLst>
                  <a:ext uri="{0D108BD9-81ED-4DB2-BD59-A6C34878D82A}">
                    <a16:rowId xmlns:a16="http://schemas.microsoft.com/office/drawing/2014/main" val="10000"/>
                  </a:ext>
                </a:extLst>
              </a:tr>
              <a:tr h="645244">
                <a:tc>
                  <a:txBody>
                    <a:bodyPr/>
                    <a:lstStyle/>
                    <a:p>
                      <a:pPr algn="justLow" rtl="1">
                        <a:lnSpc>
                          <a:spcPct val="108000"/>
                        </a:lnSpc>
                      </a:pPr>
                      <a:r>
                        <a:rPr lang="fa-IR" sz="700" b="0" i="0" dirty="0">
                          <a:solidFill>
                            <a:schemeClr val="tx1">
                              <a:lumMod val="50000"/>
                              <a:lumOff val="50000"/>
                            </a:schemeClr>
                          </a:solidFill>
                          <a:latin typeface="Yekan Bakh FaNum" pitchFamily="2" charset="-78"/>
                          <a:cs typeface="Yekan Bakh FaNum" pitchFamily="2" charset="-78"/>
                        </a:rPr>
                        <a:t>تفکیک روابط تراکنشی، گذرا، اجتماعی و آسیب‌دیده؛ لزوم تطبیق راهبرد </a:t>
                      </a:r>
                      <a:r>
                        <a:rPr lang="en-US" sz="700" b="0" i="0" dirty="0">
                          <a:solidFill>
                            <a:schemeClr val="tx1">
                              <a:lumMod val="50000"/>
                              <a:lumOff val="50000"/>
                            </a:schemeClr>
                          </a:solidFill>
                          <a:latin typeface="Yekan Bakh FaNum" pitchFamily="2" charset="-78"/>
                          <a:cs typeface="Yekan Bakh FaNum" pitchFamily="2" charset="-78"/>
                        </a:rPr>
                        <a:t>CRM</a:t>
                      </a:r>
                      <a:r>
                        <a:rPr lang="fa-IR" sz="700" b="0" i="0" dirty="0">
                          <a:solidFill>
                            <a:schemeClr val="tx1">
                              <a:lumMod val="50000"/>
                              <a:lumOff val="50000"/>
                            </a:schemeClr>
                          </a:solidFill>
                          <a:latin typeface="Yekan Bakh FaNum" pitchFamily="2" charset="-78"/>
                          <a:cs typeface="Yekan Bakh FaNum" pitchFamily="2" charset="-78"/>
                        </a:rPr>
                        <a:t> با تحول رابطه در طول زمان</a:t>
                      </a:r>
                    </a:p>
                  </a:txBody>
                  <a:tcPr marL="54864" marR="54864" marT="27432" marB="27432" anchor="ctr">
                    <a:solidFill>
                      <a:srgbClr val="FFFFFF"/>
                    </a:solidFill>
                  </a:tcPr>
                </a:tc>
                <a:tc>
                  <a:txBody>
                    <a:bodyPr/>
                    <a:lstStyle/>
                    <a:p>
                      <a:pPr algn="ctr" rtl="1">
                        <a:lnSpc>
                          <a:spcPct val="108000"/>
                        </a:lnSpc>
                      </a:pPr>
                      <a:r>
                        <a:rPr sz="700" b="1" i="0" dirty="0">
                          <a:solidFill>
                            <a:schemeClr val="tx1">
                              <a:lumMod val="75000"/>
                              <a:lumOff val="25000"/>
                            </a:schemeClr>
                          </a:solidFill>
                          <a:latin typeface="Yekan Bakh FaNum" pitchFamily="2" charset="-78"/>
                          <a:cs typeface="Yekan Bakh FaNum" pitchFamily="2" charset="-78"/>
                        </a:rPr>
                        <a:t>Customer Relationships Evolve —</a:t>
                      </a:r>
                      <a:endParaRPr lang="fa-IR" sz="700" b="1" i="0" dirty="0">
                        <a:solidFill>
                          <a:schemeClr val="tx1">
                            <a:lumMod val="75000"/>
                            <a:lumOff val="25000"/>
                          </a:schemeClr>
                        </a:solidFill>
                        <a:latin typeface="Yekan Bakh FaNum" pitchFamily="2" charset="-78"/>
                        <a:cs typeface="Yekan Bakh FaNum" pitchFamily="2" charset="-78"/>
                      </a:endParaRPr>
                    </a:p>
                    <a:p>
                      <a:pPr algn="ctr" rtl="1">
                        <a:lnSpc>
                          <a:spcPct val="108000"/>
                        </a:lnSpc>
                      </a:pPr>
                      <a:r>
                        <a:rPr sz="700" b="1" i="0" dirty="0">
                          <a:solidFill>
                            <a:schemeClr val="tx1">
                              <a:lumMod val="75000"/>
                              <a:lumOff val="25000"/>
                            </a:schemeClr>
                          </a:solidFill>
                          <a:latin typeface="Yekan Bakh FaNum" pitchFamily="2" charset="-78"/>
                          <a:cs typeface="Yekan Bakh FaNum" pitchFamily="2" charset="-78"/>
                        </a:rPr>
                        <a:t>So Must Your CRM Strategy</a:t>
                      </a:r>
                    </a:p>
                  </a:txBody>
                  <a:tcPr marL="54864" marR="54864" marT="27432" marB="27432" anchor="ctr">
                    <a:solidFill>
                      <a:srgbClr val="FFFFFF"/>
                    </a:solidFill>
                  </a:tcPr>
                </a:tc>
                <a:tc>
                  <a:txBody>
                    <a:bodyPr/>
                    <a:lstStyle/>
                    <a:p>
                      <a:pPr algn="ctr" rtl="1">
                        <a:lnSpc>
                          <a:spcPct val="108000"/>
                        </a:lnSpc>
                      </a:pPr>
                      <a:r>
                        <a:rPr sz="800" b="1" i="0" dirty="0">
                          <a:solidFill>
                            <a:srgbClr val="004D80"/>
                          </a:solidFill>
                          <a:latin typeface="Yekan Bakh FaNum" pitchFamily="2" charset="-78"/>
                          <a:cs typeface="Yekan Bakh FaNum" pitchFamily="2" charset="-78"/>
                        </a:rPr>
                        <a:t>MIT Sloan Management Review</a:t>
                      </a:r>
                    </a:p>
                  </a:txBody>
                  <a:tcPr marL="54864" marR="54864" marT="27432" marB="27432" anchor="ctr">
                    <a:solidFill>
                      <a:srgbClr val="FFFFFF"/>
                    </a:solidFill>
                  </a:tcPr>
                </a:tc>
                <a:extLst>
                  <a:ext uri="{0D108BD9-81ED-4DB2-BD59-A6C34878D82A}">
                    <a16:rowId xmlns:a16="http://schemas.microsoft.com/office/drawing/2014/main" val="10001"/>
                  </a:ext>
                </a:extLst>
              </a:tr>
              <a:tr h="645244">
                <a:tc>
                  <a:txBody>
                    <a:bodyPr/>
                    <a:lstStyle/>
                    <a:p>
                      <a:pPr algn="justLow" rtl="1">
                        <a:lnSpc>
                          <a:spcPct val="108000"/>
                        </a:lnSpc>
                      </a:pPr>
                      <a:r>
                        <a:rPr sz="700" b="0" i="0" dirty="0" err="1">
                          <a:solidFill>
                            <a:schemeClr val="tx1">
                              <a:lumMod val="50000"/>
                              <a:lumOff val="50000"/>
                            </a:schemeClr>
                          </a:solidFill>
                          <a:latin typeface="Yekan Bakh FaNum" pitchFamily="2" charset="-78"/>
                          <a:cs typeface="Yekan Bakh FaNum" pitchFamily="2" charset="-78"/>
                        </a:rPr>
                        <a:t>لزوم</a:t>
                      </a:r>
                      <a:r>
                        <a:rPr sz="700" b="0" i="0" dirty="0">
                          <a:solidFill>
                            <a:schemeClr val="tx1">
                              <a:lumMod val="50000"/>
                              <a:lumOff val="50000"/>
                            </a:schemeClr>
                          </a:solidFill>
                          <a:latin typeface="Yekan Bakh FaNum" pitchFamily="2" charset="-78"/>
                          <a:cs typeface="Yekan Bakh FaNum" pitchFamily="2" charset="-78"/>
                        </a:rPr>
                        <a:t> </a:t>
                      </a:r>
                      <a:r>
                        <a:rPr sz="700" b="0" i="0" dirty="0" err="1">
                          <a:solidFill>
                            <a:schemeClr val="tx1">
                              <a:lumMod val="50000"/>
                              <a:lumOff val="50000"/>
                            </a:schemeClr>
                          </a:solidFill>
                          <a:latin typeface="Yekan Bakh FaNum" pitchFamily="2" charset="-78"/>
                          <a:cs typeface="Yekan Bakh FaNum" pitchFamily="2" charset="-78"/>
                        </a:rPr>
                        <a:t>شناخت</a:t>
                      </a:r>
                      <a:r>
                        <a:rPr sz="700" b="0" i="0" dirty="0">
                          <a:solidFill>
                            <a:schemeClr val="tx1">
                              <a:lumMod val="50000"/>
                              <a:lumOff val="50000"/>
                            </a:schemeClr>
                          </a:solidFill>
                          <a:latin typeface="Yekan Bakh FaNum" pitchFamily="2" charset="-78"/>
                          <a:cs typeface="Yekan Bakh FaNum" pitchFamily="2" charset="-78"/>
                        </a:rPr>
                        <a:t> </a:t>
                      </a:r>
                      <a:r>
                        <a:rPr sz="700" b="0" i="0" dirty="0" err="1">
                          <a:solidFill>
                            <a:schemeClr val="tx1">
                              <a:lumMod val="50000"/>
                              <a:lumOff val="50000"/>
                            </a:schemeClr>
                          </a:solidFill>
                          <a:latin typeface="Yekan Bakh FaNum" pitchFamily="2" charset="-78"/>
                          <a:cs typeface="Yekan Bakh FaNum" pitchFamily="2" charset="-78"/>
                        </a:rPr>
                        <a:t>پرتفوی</a:t>
                      </a:r>
                      <a:r>
                        <a:rPr sz="700" b="0" i="0" dirty="0">
                          <a:solidFill>
                            <a:schemeClr val="tx1">
                              <a:lumMod val="50000"/>
                              <a:lumOff val="50000"/>
                            </a:schemeClr>
                          </a:solidFill>
                          <a:latin typeface="Yekan Bakh FaNum" pitchFamily="2" charset="-78"/>
                          <a:cs typeface="Yekan Bakh FaNum" pitchFamily="2" charset="-78"/>
                        </a:rPr>
                        <a:t> </a:t>
                      </a:r>
                      <a:r>
                        <a:rPr sz="700" b="0" i="0" dirty="0" err="1">
                          <a:solidFill>
                            <a:schemeClr val="tx1">
                              <a:lumMod val="50000"/>
                              <a:lumOff val="50000"/>
                            </a:schemeClr>
                          </a:solidFill>
                          <a:latin typeface="Yekan Bakh FaNum" pitchFamily="2" charset="-78"/>
                          <a:cs typeface="Yekan Bakh FaNum" pitchFamily="2" charset="-78"/>
                        </a:rPr>
                        <a:t>متنوع</a:t>
                      </a:r>
                      <a:r>
                        <a:rPr sz="700" b="0" i="0" dirty="0">
                          <a:solidFill>
                            <a:schemeClr val="tx1">
                              <a:lumMod val="50000"/>
                              <a:lumOff val="50000"/>
                            </a:schemeClr>
                          </a:solidFill>
                          <a:latin typeface="Yekan Bakh FaNum" pitchFamily="2" charset="-78"/>
                          <a:cs typeface="Yekan Bakh FaNum" pitchFamily="2" charset="-78"/>
                        </a:rPr>
                        <a:t> </a:t>
                      </a:r>
                      <a:r>
                        <a:rPr sz="700" b="0" i="0" dirty="0" err="1">
                          <a:solidFill>
                            <a:schemeClr val="tx1">
                              <a:lumMod val="50000"/>
                              <a:lumOff val="50000"/>
                            </a:schemeClr>
                          </a:solidFill>
                          <a:latin typeface="Yekan Bakh FaNum" pitchFamily="2" charset="-78"/>
                          <a:cs typeface="Yekan Bakh FaNum" pitchFamily="2" charset="-78"/>
                        </a:rPr>
                        <a:t>روابط</a:t>
                      </a:r>
                      <a:r>
                        <a:rPr sz="700" b="0" i="0" dirty="0">
                          <a:solidFill>
                            <a:schemeClr val="tx1">
                              <a:lumMod val="50000"/>
                              <a:lumOff val="50000"/>
                            </a:schemeClr>
                          </a:solidFill>
                          <a:latin typeface="Yekan Bakh FaNum" pitchFamily="2" charset="-78"/>
                          <a:cs typeface="Yekan Bakh FaNum" pitchFamily="2" charset="-78"/>
                        </a:rPr>
                        <a:t> </a:t>
                      </a:r>
                      <a:r>
                        <a:rPr sz="700" b="0" i="0" dirty="0" err="1">
                          <a:solidFill>
                            <a:schemeClr val="tx1">
                              <a:lumMod val="50000"/>
                              <a:lumOff val="50000"/>
                            </a:schemeClr>
                          </a:solidFill>
                          <a:latin typeface="Yekan Bakh FaNum" pitchFamily="2" charset="-78"/>
                          <a:cs typeface="Yekan Bakh FaNum" pitchFamily="2" charset="-78"/>
                        </a:rPr>
                        <a:t>مشتریان</a:t>
                      </a:r>
                      <a:r>
                        <a:rPr sz="700" b="0" i="0" dirty="0">
                          <a:solidFill>
                            <a:schemeClr val="tx1">
                              <a:lumMod val="50000"/>
                              <a:lumOff val="50000"/>
                            </a:schemeClr>
                          </a:solidFill>
                          <a:latin typeface="Yekan Bakh FaNum" pitchFamily="2" charset="-78"/>
                          <a:cs typeface="Yekan Bakh FaNum" pitchFamily="2" charset="-78"/>
                        </a:rPr>
                        <a:t> و </a:t>
                      </a:r>
                      <a:r>
                        <a:rPr sz="700" b="0" i="0" dirty="0" err="1">
                          <a:solidFill>
                            <a:schemeClr val="tx1">
                              <a:lumMod val="50000"/>
                              <a:lumOff val="50000"/>
                            </a:schemeClr>
                          </a:solidFill>
                          <a:latin typeface="Yekan Bakh FaNum" pitchFamily="2" charset="-78"/>
                          <a:cs typeface="Yekan Bakh FaNum" pitchFamily="2" charset="-78"/>
                        </a:rPr>
                        <a:t>طراحی</a:t>
                      </a:r>
                      <a:r>
                        <a:rPr sz="700" b="0" i="0" dirty="0">
                          <a:solidFill>
                            <a:schemeClr val="tx1">
                              <a:lumMod val="50000"/>
                              <a:lumOff val="50000"/>
                            </a:schemeClr>
                          </a:solidFill>
                          <a:latin typeface="Yekan Bakh FaNum" pitchFamily="2" charset="-78"/>
                          <a:cs typeface="Yekan Bakh FaNum" pitchFamily="2" charset="-78"/>
                        </a:rPr>
                        <a:t> </a:t>
                      </a:r>
                      <a:r>
                        <a:rPr sz="700" b="0" i="0" dirty="0" err="1">
                          <a:solidFill>
                            <a:schemeClr val="tx1">
                              <a:lumMod val="50000"/>
                              <a:lumOff val="50000"/>
                            </a:schemeClr>
                          </a:solidFill>
                          <a:latin typeface="Yekan Bakh FaNum" pitchFamily="2" charset="-78"/>
                          <a:cs typeface="Yekan Bakh FaNum" pitchFamily="2" charset="-78"/>
                        </a:rPr>
                        <a:t>راهبرد</a:t>
                      </a:r>
                      <a:r>
                        <a:rPr sz="700" b="0" i="0" dirty="0">
                          <a:solidFill>
                            <a:schemeClr val="tx1">
                              <a:lumMod val="50000"/>
                              <a:lumOff val="50000"/>
                            </a:schemeClr>
                          </a:solidFill>
                          <a:latin typeface="Yekan Bakh FaNum" pitchFamily="2" charset="-78"/>
                          <a:cs typeface="Yekan Bakh FaNum" pitchFamily="2" charset="-78"/>
                        </a:rPr>
                        <a:t> </a:t>
                      </a:r>
                      <a:r>
                        <a:rPr sz="700" b="0" i="0" dirty="0" err="1">
                          <a:solidFill>
                            <a:schemeClr val="tx1">
                              <a:lumMod val="50000"/>
                              <a:lumOff val="50000"/>
                            </a:schemeClr>
                          </a:solidFill>
                          <a:latin typeface="Yekan Bakh FaNum" pitchFamily="2" charset="-78"/>
                          <a:cs typeface="Yekan Bakh FaNum" pitchFamily="2" charset="-78"/>
                        </a:rPr>
                        <a:t>جداگانه</a:t>
                      </a:r>
                      <a:r>
                        <a:rPr sz="700" b="0" i="0" dirty="0">
                          <a:solidFill>
                            <a:schemeClr val="tx1">
                              <a:lumMod val="50000"/>
                              <a:lumOff val="50000"/>
                            </a:schemeClr>
                          </a:solidFill>
                          <a:latin typeface="Yekan Bakh FaNum" pitchFamily="2" charset="-78"/>
                          <a:cs typeface="Yekan Bakh FaNum" pitchFamily="2" charset="-78"/>
                        </a:rPr>
                        <a:t> </a:t>
                      </a:r>
                      <a:r>
                        <a:rPr sz="700" b="0" i="0" dirty="0" err="1">
                          <a:solidFill>
                            <a:schemeClr val="tx1">
                              <a:lumMod val="50000"/>
                              <a:lumOff val="50000"/>
                            </a:schemeClr>
                          </a:solidFill>
                          <a:latin typeface="Yekan Bakh FaNum" pitchFamily="2" charset="-78"/>
                          <a:cs typeface="Yekan Bakh FaNum" pitchFamily="2" charset="-78"/>
                        </a:rPr>
                        <a:t>برای</a:t>
                      </a:r>
                      <a:r>
                        <a:rPr sz="700" b="0" i="0" dirty="0">
                          <a:solidFill>
                            <a:schemeClr val="tx1">
                              <a:lumMod val="50000"/>
                              <a:lumOff val="50000"/>
                            </a:schemeClr>
                          </a:solidFill>
                          <a:latin typeface="Yekan Bakh FaNum" pitchFamily="2" charset="-78"/>
                          <a:cs typeface="Yekan Bakh FaNum" pitchFamily="2" charset="-78"/>
                        </a:rPr>
                        <a:t> </a:t>
                      </a:r>
                      <a:r>
                        <a:rPr sz="700" b="0" i="0" dirty="0" err="1">
                          <a:solidFill>
                            <a:schemeClr val="tx1">
                              <a:lumMod val="50000"/>
                              <a:lumOff val="50000"/>
                            </a:schemeClr>
                          </a:solidFill>
                          <a:latin typeface="Yekan Bakh FaNum" pitchFamily="2" charset="-78"/>
                          <a:cs typeface="Yekan Bakh FaNum" pitchFamily="2" charset="-78"/>
                        </a:rPr>
                        <a:t>هرکدام</a:t>
                      </a:r>
                      <a:r>
                        <a:rPr lang="fa-IR" sz="700" b="0" i="0" dirty="0">
                          <a:solidFill>
                            <a:schemeClr val="tx1">
                              <a:lumMod val="50000"/>
                              <a:lumOff val="50000"/>
                            </a:schemeClr>
                          </a:solidFill>
                          <a:latin typeface="Yekan Bakh FaNum" pitchFamily="2" charset="-78"/>
                          <a:cs typeface="Yekan Bakh FaNum" pitchFamily="2" charset="-78"/>
                        </a:rPr>
                        <a:t>-</a:t>
                      </a:r>
                      <a:r>
                        <a:rPr sz="700" b="0" i="0" dirty="0" err="1">
                          <a:solidFill>
                            <a:schemeClr val="tx1">
                              <a:lumMod val="50000"/>
                              <a:lumOff val="50000"/>
                            </a:schemeClr>
                          </a:solidFill>
                          <a:latin typeface="Yekan Bakh FaNum" pitchFamily="2" charset="-78"/>
                          <a:cs typeface="Yekan Bakh FaNum" pitchFamily="2" charset="-78"/>
                        </a:rPr>
                        <a:t>مبنای</a:t>
                      </a:r>
                      <a:r>
                        <a:rPr sz="700" b="0" i="0" dirty="0">
                          <a:solidFill>
                            <a:schemeClr val="tx1">
                              <a:lumMod val="50000"/>
                              <a:lumOff val="50000"/>
                            </a:schemeClr>
                          </a:solidFill>
                          <a:latin typeface="Yekan Bakh FaNum" pitchFamily="2" charset="-78"/>
                          <a:cs typeface="Yekan Bakh FaNum" pitchFamily="2" charset="-78"/>
                        </a:rPr>
                        <a:t> </a:t>
                      </a:r>
                      <a:r>
                        <a:rPr sz="700" b="0" i="0" dirty="0" err="1">
                          <a:solidFill>
                            <a:schemeClr val="tx1">
                              <a:lumMod val="50000"/>
                              <a:lumOff val="50000"/>
                            </a:schemeClr>
                          </a:solidFill>
                          <a:latin typeface="Yekan Bakh FaNum" pitchFamily="2" charset="-78"/>
                          <a:cs typeface="Yekan Bakh FaNum" pitchFamily="2" charset="-78"/>
                        </a:rPr>
                        <a:t>مفهوم</a:t>
                      </a:r>
                      <a:r>
                        <a:rPr lang="fa-IR" sz="700" b="0" i="0" dirty="0">
                          <a:solidFill>
                            <a:schemeClr val="tx1">
                              <a:lumMod val="50000"/>
                              <a:lumOff val="50000"/>
                            </a:schemeClr>
                          </a:solidFill>
                          <a:latin typeface="Yekan Bakh FaNum" pitchFamily="2" charset="-78"/>
                          <a:cs typeface="Yekan Bakh FaNum" pitchFamily="2" charset="-78"/>
                        </a:rPr>
                        <a:t> </a:t>
                      </a:r>
                      <a:r>
                        <a:rPr lang="en-US" sz="700" b="0" i="0" dirty="0">
                          <a:solidFill>
                            <a:schemeClr val="tx1">
                              <a:lumMod val="50000"/>
                              <a:lumOff val="50000"/>
                            </a:schemeClr>
                          </a:solidFill>
                          <a:latin typeface="Yekan Bakh FaNum" pitchFamily="2" charset="-78"/>
                          <a:cs typeface="Yekan Bakh FaNum" pitchFamily="2" charset="-78"/>
                        </a:rPr>
                        <a:t>»</a:t>
                      </a:r>
                      <a:r>
                        <a:rPr sz="700" b="0" i="0" dirty="0" err="1">
                          <a:solidFill>
                            <a:schemeClr val="tx1">
                              <a:lumMod val="50000"/>
                              <a:lumOff val="50000"/>
                            </a:schemeClr>
                          </a:solidFill>
                          <a:latin typeface="Yekan Bakh FaNum" pitchFamily="2" charset="-78"/>
                          <a:cs typeface="Yekan Bakh FaNum" pitchFamily="2" charset="-78"/>
                        </a:rPr>
                        <a:t>پرتفوی</a:t>
                      </a:r>
                      <a:r>
                        <a:rPr sz="700" b="0" i="0" dirty="0">
                          <a:solidFill>
                            <a:schemeClr val="tx1">
                              <a:lumMod val="50000"/>
                              <a:lumOff val="50000"/>
                            </a:schemeClr>
                          </a:solidFill>
                          <a:latin typeface="Yekan Bakh FaNum" pitchFamily="2" charset="-78"/>
                          <a:cs typeface="Yekan Bakh FaNum" pitchFamily="2" charset="-78"/>
                        </a:rPr>
                        <a:t> </a:t>
                      </a:r>
                      <a:r>
                        <a:rPr sz="700" b="0" i="0" dirty="0" err="1">
                          <a:solidFill>
                            <a:schemeClr val="tx1">
                              <a:lumMod val="50000"/>
                              <a:lumOff val="50000"/>
                            </a:schemeClr>
                          </a:solidFill>
                          <a:latin typeface="Yekan Bakh FaNum" pitchFamily="2" charset="-78"/>
                          <a:cs typeface="Yekan Bakh FaNum" pitchFamily="2" charset="-78"/>
                        </a:rPr>
                        <a:t>رابطه</a:t>
                      </a:r>
                      <a:r>
                        <a:rPr lang="en-US" sz="700" b="0" i="0" dirty="0">
                          <a:solidFill>
                            <a:schemeClr val="tx1">
                              <a:lumMod val="50000"/>
                              <a:lumOff val="50000"/>
                            </a:schemeClr>
                          </a:solidFill>
                          <a:latin typeface="Yekan Bakh FaNum" pitchFamily="2" charset="-78"/>
                          <a:cs typeface="Yekan Bakh FaNum" pitchFamily="2" charset="-78"/>
                        </a:rPr>
                        <a:t>«</a:t>
                      </a:r>
                      <a:endParaRPr sz="700" b="0" i="0" dirty="0">
                        <a:solidFill>
                          <a:schemeClr val="tx1">
                            <a:lumMod val="50000"/>
                            <a:lumOff val="50000"/>
                          </a:schemeClr>
                        </a:solidFill>
                        <a:latin typeface="Yekan Bakh FaNum" pitchFamily="2" charset="-78"/>
                        <a:cs typeface="Yekan Bakh FaNum" pitchFamily="2" charset="-78"/>
                      </a:endParaRPr>
                    </a:p>
                  </a:txBody>
                  <a:tcPr marL="54864" marR="54864" marT="27432" marB="27432" anchor="ctr">
                    <a:solidFill>
                      <a:srgbClr val="F3F4F6"/>
                    </a:solidFill>
                  </a:tcPr>
                </a:tc>
                <a:tc>
                  <a:txBody>
                    <a:bodyPr/>
                    <a:lstStyle/>
                    <a:p>
                      <a:pPr algn="ctr" rtl="1">
                        <a:lnSpc>
                          <a:spcPct val="108000"/>
                        </a:lnSpc>
                      </a:pPr>
                      <a:r>
                        <a:rPr sz="700" b="1" i="0" dirty="0">
                          <a:solidFill>
                            <a:schemeClr val="tx1">
                              <a:lumMod val="75000"/>
                              <a:lumOff val="25000"/>
                            </a:schemeClr>
                          </a:solidFill>
                          <a:latin typeface="Yekan Bakh FaNum" pitchFamily="2" charset="-78"/>
                          <a:cs typeface="Yekan Bakh FaNum" pitchFamily="2" charset="-78"/>
                        </a:rPr>
                        <a:t>Unlock the Mysteries of Your Customer Relationships</a:t>
                      </a:r>
                    </a:p>
                  </a:txBody>
                  <a:tcPr marL="54864" marR="54864" marT="27432" marB="27432" anchor="ctr">
                    <a:solidFill>
                      <a:srgbClr val="F3F4F6"/>
                    </a:solidFill>
                  </a:tcPr>
                </a:tc>
                <a:tc>
                  <a:txBody>
                    <a:bodyPr/>
                    <a:lstStyle/>
                    <a:p>
                      <a:pPr algn="ctr" rtl="1">
                        <a:lnSpc>
                          <a:spcPct val="108000"/>
                        </a:lnSpc>
                      </a:pPr>
                      <a:r>
                        <a:rPr sz="800" b="1" i="0" dirty="0">
                          <a:solidFill>
                            <a:srgbClr val="004D80"/>
                          </a:solidFill>
                          <a:latin typeface="Yekan Bakh FaNum" pitchFamily="2" charset="-78"/>
                          <a:cs typeface="Yekan Bakh FaNum" pitchFamily="2" charset="-78"/>
                        </a:rPr>
                        <a:t>Harvard Business Review</a:t>
                      </a:r>
                    </a:p>
                    <a:p>
                      <a:pPr algn="ctr" rtl="1">
                        <a:lnSpc>
                          <a:spcPct val="108000"/>
                        </a:lnSpc>
                      </a:pPr>
                      <a:r>
                        <a:rPr sz="800" b="1" i="0" dirty="0">
                          <a:solidFill>
                            <a:srgbClr val="004D80"/>
                          </a:solidFill>
                          <a:latin typeface="Yekan Bakh FaNum" pitchFamily="2" charset="-78"/>
                          <a:cs typeface="Yekan Bakh FaNum" pitchFamily="2" charset="-78"/>
                        </a:rPr>
                        <a:t>(Avery, Fournier, Wittenbraker</a:t>
                      </a:r>
                      <a:r>
                        <a:rPr lang="en-US" sz="800" b="1" i="0" dirty="0">
                          <a:solidFill>
                            <a:srgbClr val="004D80"/>
                          </a:solidFill>
                          <a:latin typeface="Yekan Bakh FaNum" pitchFamily="2" charset="-78"/>
                          <a:cs typeface="Yekan Bakh FaNum" pitchFamily="2" charset="-78"/>
                        </a:rPr>
                        <a:t>-2014)</a:t>
                      </a:r>
                      <a:endParaRPr sz="800" b="1" i="0" dirty="0">
                        <a:solidFill>
                          <a:srgbClr val="004D80"/>
                        </a:solidFill>
                        <a:latin typeface="Yekan Bakh FaNum" pitchFamily="2" charset="-78"/>
                        <a:cs typeface="Yekan Bakh FaNum" pitchFamily="2" charset="-78"/>
                      </a:endParaRPr>
                    </a:p>
                  </a:txBody>
                  <a:tcPr marL="54864" marR="54864" marT="27432" marB="27432" anchor="ctr">
                    <a:solidFill>
                      <a:srgbClr val="F3F4F6"/>
                    </a:solidFill>
                  </a:tcPr>
                </a:tc>
                <a:extLst>
                  <a:ext uri="{0D108BD9-81ED-4DB2-BD59-A6C34878D82A}">
                    <a16:rowId xmlns:a16="http://schemas.microsoft.com/office/drawing/2014/main" val="10002"/>
                  </a:ext>
                </a:extLst>
              </a:tr>
              <a:tr h="645244">
                <a:tc>
                  <a:txBody>
                    <a:bodyPr/>
                    <a:lstStyle/>
                    <a:p>
                      <a:pPr algn="justLow" rtl="1">
                        <a:lnSpc>
                          <a:spcPct val="108000"/>
                        </a:lnSpc>
                      </a:pPr>
                      <a:r>
                        <a:rPr sz="700" b="0" i="0" dirty="0" err="1">
                          <a:solidFill>
                            <a:schemeClr val="tx1">
                              <a:lumMod val="50000"/>
                              <a:lumOff val="50000"/>
                            </a:schemeClr>
                          </a:solidFill>
                          <a:latin typeface="Yekan Bakh FaNum" pitchFamily="2" charset="-78"/>
                          <a:cs typeface="Yekan Bakh FaNum" pitchFamily="2" charset="-78"/>
                        </a:rPr>
                        <a:t>مبنای</a:t>
                      </a:r>
                      <a:r>
                        <a:rPr sz="700" b="0" i="0" dirty="0">
                          <a:solidFill>
                            <a:schemeClr val="tx1">
                              <a:lumMod val="50000"/>
                              <a:lumOff val="50000"/>
                            </a:schemeClr>
                          </a:solidFill>
                          <a:latin typeface="Yekan Bakh FaNum" pitchFamily="2" charset="-78"/>
                          <a:cs typeface="Yekan Bakh FaNum" pitchFamily="2" charset="-78"/>
                        </a:rPr>
                        <a:t> </a:t>
                      </a:r>
                      <a:r>
                        <a:rPr sz="700" b="0" i="0" dirty="0" err="1">
                          <a:solidFill>
                            <a:schemeClr val="tx1">
                              <a:lumMod val="50000"/>
                              <a:lumOff val="50000"/>
                            </a:schemeClr>
                          </a:solidFill>
                          <a:latin typeface="Yekan Bakh FaNum" pitchFamily="2" charset="-78"/>
                          <a:cs typeface="Yekan Bakh FaNum" pitchFamily="2" charset="-78"/>
                        </a:rPr>
                        <a:t>مفهوم</a:t>
                      </a:r>
                      <a:r>
                        <a:rPr sz="700" b="0" i="0" dirty="0">
                          <a:solidFill>
                            <a:schemeClr val="tx1">
                              <a:lumMod val="50000"/>
                              <a:lumOff val="50000"/>
                            </a:schemeClr>
                          </a:solidFill>
                          <a:latin typeface="Yekan Bakh FaNum" pitchFamily="2" charset="-78"/>
                          <a:cs typeface="Yekan Bakh FaNum" pitchFamily="2" charset="-78"/>
                        </a:rPr>
                        <a:t> </a:t>
                      </a:r>
                      <a:r>
                        <a:rPr sz="700" b="0" i="0" dirty="0" err="1">
                          <a:solidFill>
                            <a:schemeClr val="tx1">
                              <a:lumMod val="50000"/>
                              <a:lumOff val="50000"/>
                            </a:schemeClr>
                          </a:solidFill>
                          <a:latin typeface="Yekan Bakh FaNum" pitchFamily="2" charset="-78"/>
                          <a:cs typeface="Yekan Bakh FaNum" pitchFamily="2" charset="-78"/>
                        </a:rPr>
                        <a:t>آرکی‌تایپ</a:t>
                      </a:r>
                      <a:r>
                        <a:rPr sz="700" b="0" i="0" dirty="0">
                          <a:solidFill>
                            <a:schemeClr val="tx1">
                              <a:lumMod val="50000"/>
                              <a:lumOff val="50000"/>
                            </a:schemeClr>
                          </a:solidFill>
                          <a:latin typeface="Yekan Bakh FaNum" pitchFamily="2" charset="-78"/>
                          <a:cs typeface="Yekan Bakh FaNum" pitchFamily="2" charset="-78"/>
                        </a:rPr>
                        <a:t> </a:t>
                      </a:r>
                      <a:r>
                        <a:rPr lang="en-US" sz="700" b="0" i="0" dirty="0">
                          <a:solidFill>
                            <a:schemeClr val="tx1">
                              <a:lumMod val="50000"/>
                              <a:lumOff val="50000"/>
                            </a:schemeClr>
                          </a:solidFill>
                          <a:latin typeface="Yekan Bakh FaNum" pitchFamily="2" charset="-78"/>
                          <a:cs typeface="Yekan Bakh FaNum" pitchFamily="2" charset="-78"/>
                        </a:rPr>
                        <a:t>»</a:t>
                      </a:r>
                      <a:r>
                        <a:rPr sz="700" b="0" i="0" dirty="0" err="1">
                          <a:solidFill>
                            <a:schemeClr val="tx1">
                              <a:lumMod val="50000"/>
                              <a:lumOff val="50000"/>
                            </a:schemeClr>
                          </a:solidFill>
                          <a:latin typeface="Yekan Bakh FaNum" pitchFamily="2" charset="-78"/>
                          <a:cs typeface="Yekan Bakh FaNum" pitchFamily="2" charset="-78"/>
                        </a:rPr>
                        <a:t>مشارکتی</a:t>
                      </a:r>
                      <a:r>
                        <a:rPr lang="fa-IR" sz="700" b="0" i="0" dirty="0">
                          <a:solidFill>
                            <a:schemeClr val="tx1">
                              <a:lumMod val="50000"/>
                              <a:lumOff val="50000"/>
                            </a:schemeClr>
                          </a:solidFill>
                          <a:latin typeface="Yekan Bakh FaNum" pitchFamily="2" charset="-78"/>
                          <a:cs typeface="Yekan Bakh FaNum" pitchFamily="2" charset="-78"/>
                        </a:rPr>
                        <a:t>/</a:t>
                      </a:r>
                      <a:r>
                        <a:rPr sz="700" b="0" i="0" dirty="0" err="1">
                          <a:solidFill>
                            <a:schemeClr val="tx1">
                              <a:lumMod val="50000"/>
                              <a:lumOff val="50000"/>
                            </a:schemeClr>
                          </a:solidFill>
                          <a:latin typeface="Yekan Bakh FaNum" pitchFamily="2" charset="-78"/>
                          <a:cs typeface="Yekan Bakh FaNum" pitchFamily="2" charset="-78"/>
                        </a:rPr>
                        <a:t>هم‌آفرینی</a:t>
                      </a:r>
                      <a:r>
                        <a:rPr lang="en-US" sz="700" b="0" i="0" dirty="0">
                          <a:solidFill>
                            <a:schemeClr val="tx1">
                              <a:lumMod val="50000"/>
                              <a:lumOff val="50000"/>
                            </a:schemeClr>
                          </a:solidFill>
                          <a:latin typeface="Yekan Bakh FaNum" pitchFamily="2" charset="-78"/>
                          <a:cs typeface="Yekan Bakh FaNum" pitchFamily="2" charset="-78"/>
                        </a:rPr>
                        <a:t>«</a:t>
                      </a:r>
                      <a:r>
                        <a:rPr lang="fa-IR" sz="700" b="0" i="0" dirty="0">
                          <a:solidFill>
                            <a:schemeClr val="tx1">
                              <a:lumMod val="50000"/>
                              <a:lumOff val="50000"/>
                            </a:schemeClr>
                          </a:solidFill>
                          <a:latin typeface="Yekan Bakh FaNum" pitchFamily="2" charset="-78"/>
                          <a:cs typeface="Yekan Bakh FaNum" pitchFamily="2" charset="-78"/>
                        </a:rPr>
                        <a:t> </a:t>
                      </a:r>
                      <a:r>
                        <a:rPr sz="700" b="0" i="0" dirty="0" err="1">
                          <a:solidFill>
                            <a:schemeClr val="tx1">
                              <a:lumMod val="50000"/>
                              <a:lumOff val="50000"/>
                            </a:schemeClr>
                          </a:solidFill>
                          <a:latin typeface="Yekan Bakh FaNum" pitchFamily="2" charset="-78"/>
                          <a:cs typeface="Yekan Bakh FaNum" pitchFamily="2" charset="-78"/>
                        </a:rPr>
                        <a:t>حرکت</a:t>
                      </a:r>
                      <a:r>
                        <a:rPr sz="700" b="0" i="0" dirty="0">
                          <a:solidFill>
                            <a:schemeClr val="tx1">
                              <a:lumMod val="50000"/>
                              <a:lumOff val="50000"/>
                            </a:schemeClr>
                          </a:solidFill>
                          <a:latin typeface="Yekan Bakh FaNum" pitchFamily="2" charset="-78"/>
                          <a:cs typeface="Yekan Bakh FaNum" pitchFamily="2" charset="-78"/>
                        </a:rPr>
                        <a:t> </a:t>
                      </a:r>
                      <a:r>
                        <a:rPr sz="700" b="0" i="0" dirty="0" err="1">
                          <a:solidFill>
                            <a:schemeClr val="tx1">
                              <a:lumMod val="50000"/>
                              <a:lumOff val="50000"/>
                            </a:schemeClr>
                          </a:solidFill>
                          <a:latin typeface="Yekan Bakh FaNum" pitchFamily="2" charset="-78"/>
                          <a:cs typeface="Yekan Bakh FaNum" pitchFamily="2" charset="-78"/>
                        </a:rPr>
                        <a:t>از</a:t>
                      </a:r>
                      <a:r>
                        <a:rPr sz="700" b="0" i="0" dirty="0">
                          <a:solidFill>
                            <a:schemeClr val="tx1">
                              <a:lumMod val="50000"/>
                              <a:lumOff val="50000"/>
                            </a:schemeClr>
                          </a:solidFill>
                          <a:latin typeface="Yekan Bakh FaNum" pitchFamily="2" charset="-78"/>
                          <a:cs typeface="Yekan Bakh FaNum" pitchFamily="2" charset="-78"/>
                        </a:rPr>
                        <a:t> </a:t>
                      </a:r>
                      <a:r>
                        <a:rPr sz="700" b="0" i="0" dirty="0" err="1">
                          <a:solidFill>
                            <a:schemeClr val="tx1">
                              <a:lumMod val="50000"/>
                              <a:lumOff val="50000"/>
                            </a:schemeClr>
                          </a:solidFill>
                          <a:latin typeface="Yekan Bakh FaNum" pitchFamily="2" charset="-78"/>
                          <a:cs typeface="Yekan Bakh FaNum" pitchFamily="2" charset="-78"/>
                        </a:rPr>
                        <a:t>فروش</a:t>
                      </a:r>
                      <a:r>
                        <a:rPr sz="700" b="0" i="0" dirty="0">
                          <a:solidFill>
                            <a:schemeClr val="tx1">
                              <a:lumMod val="50000"/>
                              <a:lumOff val="50000"/>
                            </a:schemeClr>
                          </a:solidFill>
                          <a:latin typeface="Yekan Bakh FaNum" pitchFamily="2" charset="-78"/>
                          <a:cs typeface="Yekan Bakh FaNum" pitchFamily="2" charset="-78"/>
                        </a:rPr>
                        <a:t> </a:t>
                      </a:r>
                      <a:r>
                        <a:rPr sz="700" b="0" i="0" dirty="0" err="1">
                          <a:solidFill>
                            <a:schemeClr val="tx1">
                              <a:lumMod val="50000"/>
                              <a:lumOff val="50000"/>
                            </a:schemeClr>
                          </a:solidFill>
                          <a:latin typeface="Yekan Bakh FaNum" pitchFamily="2" charset="-78"/>
                          <a:cs typeface="Yekan Bakh FaNum" pitchFamily="2" charset="-78"/>
                        </a:rPr>
                        <a:t>یک‌طرفه</a:t>
                      </a:r>
                      <a:r>
                        <a:rPr sz="700" b="0" i="0" dirty="0">
                          <a:solidFill>
                            <a:schemeClr val="tx1">
                              <a:lumMod val="50000"/>
                              <a:lumOff val="50000"/>
                            </a:schemeClr>
                          </a:solidFill>
                          <a:latin typeface="Yekan Bakh FaNum" pitchFamily="2" charset="-78"/>
                          <a:cs typeface="Yekan Bakh FaNum" pitchFamily="2" charset="-78"/>
                        </a:rPr>
                        <a:t> </a:t>
                      </a:r>
                      <a:r>
                        <a:rPr sz="700" b="0" i="0" dirty="0" err="1">
                          <a:solidFill>
                            <a:schemeClr val="tx1">
                              <a:lumMod val="50000"/>
                              <a:lumOff val="50000"/>
                            </a:schemeClr>
                          </a:solidFill>
                          <a:latin typeface="Yekan Bakh FaNum" pitchFamily="2" charset="-78"/>
                          <a:cs typeface="Yekan Bakh FaNum" pitchFamily="2" charset="-78"/>
                        </a:rPr>
                        <a:t>به</a:t>
                      </a:r>
                      <a:r>
                        <a:rPr sz="700" b="0" i="0" dirty="0">
                          <a:solidFill>
                            <a:schemeClr val="tx1">
                              <a:lumMod val="50000"/>
                              <a:lumOff val="50000"/>
                            </a:schemeClr>
                          </a:solidFill>
                          <a:latin typeface="Yekan Bakh FaNum" pitchFamily="2" charset="-78"/>
                          <a:cs typeface="Yekan Bakh FaNum" pitchFamily="2" charset="-78"/>
                        </a:rPr>
                        <a:t> </a:t>
                      </a:r>
                      <a:r>
                        <a:rPr sz="700" b="0" i="0" dirty="0" err="1">
                          <a:solidFill>
                            <a:schemeClr val="tx1">
                              <a:lumMod val="50000"/>
                              <a:lumOff val="50000"/>
                            </a:schemeClr>
                          </a:solidFill>
                          <a:latin typeface="Yekan Bakh FaNum" pitchFamily="2" charset="-78"/>
                          <a:cs typeface="Yekan Bakh FaNum" pitchFamily="2" charset="-78"/>
                        </a:rPr>
                        <a:t>طراحی</a:t>
                      </a:r>
                      <a:r>
                        <a:rPr sz="700" b="0" i="0" dirty="0">
                          <a:solidFill>
                            <a:schemeClr val="tx1">
                              <a:lumMod val="50000"/>
                              <a:lumOff val="50000"/>
                            </a:schemeClr>
                          </a:solidFill>
                          <a:latin typeface="Yekan Bakh FaNum" pitchFamily="2" charset="-78"/>
                          <a:cs typeface="Yekan Bakh FaNum" pitchFamily="2" charset="-78"/>
                        </a:rPr>
                        <a:t> </a:t>
                      </a:r>
                      <a:r>
                        <a:rPr sz="700" b="0" i="0" dirty="0" err="1">
                          <a:solidFill>
                            <a:schemeClr val="tx1">
                              <a:lumMod val="50000"/>
                              <a:lumOff val="50000"/>
                            </a:schemeClr>
                          </a:solidFill>
                          <a:latin typeface="Yekan Bakh FaNum" pitchFamily="2" charset="-78"/>
                          <a:cs typeface="Yekan Bakh FaNum" pitchFamily="2" charset="-78"/>
                        </a:rPr>
                        <a:t>مشترک</a:t>
                      </a:r>
                      <a:r>
                        <a:rPr sz="700" b="0" i="0" dirty="0">
                          <a:solidFill>
                            <a:schemeClr val="tx1">
                              <a:lumMod val="50000"/>
                              <a:lumOff val="50000"/>
                            </a:schemeClr>
                          </a:solidFill>
                          <a:latin typeface="Yekan Bakh FaNum" pitchFamily="2" charset="-78"/>
                          <a:cs typeface="Yekan Bakh FaNum" pitchFamily="2" charset="-78"/>
                        </a:rPr>
                        <a:t> </a:t>
                      </a:r>
                      <a:r>
                        <a:rPr sz="700" b="0" i="0" dirty="0" err="1">
                          <a:solidFill>
                            <a:schemeClr val="tx1">
                              <a:lumMod val="50000"/>
                              <a:lumOff val="50000"/>
                            </a:schemeClr>
                          </a:solidFill>
                          <a:latin typeface="Yekan Bakh FaNum" pitchFamily="2" charset="-78"/>
                          <a:cs typeface="Yekan Bakh FaNum" pitchFamily="2" charset="-78"/>
                        </a:rPr>
                        <a:t>راهکار</a:t>
                      </a:r>
                      <a:endParaRPr sz="700" b="0" i="0" dirty="0">
                        <a:solidFill>
                          <a:schemeClr val="tx1">
                            <a:lumMod val="50000"/>
                            <a:lumOff val="50000"/>
                          </a:schemeClr>
                        </a:solidFill>
                        <a:latin typeface="Yekan Bakh FaNum" pitchFamily="2" charset="-78"/>
                        <a:cs typeface="Yekan Bakh FaNum" pitchFamily="2" charset="-78"/>
                      </a:endParaRPr>
                    </a:p>
                  </a:txBody>
                  <a:tcPr marL="54864" marR="54864" marT="27432" marB="27432" anchor="ctr">
                    <a:solidFill>
                      <a:srgbClr val="FFFFFF"/>
                    </a:solidFill>
                  </a:tcPr>
                </a:tc>
                <a:tc>
                  <a:txBody>
                    <a:bodyPr/>
                    <a:lstStyle/>
                    <a:p>
                      <a:pPr algn="ctr" rtl="1">
                        <a:lnSpc>
                          <a:spcPct val="108000"/>
                        </a:lnSpc>
                      </a:pPr>
                      <a:r>
                        <a:rPr sz="700" b="1" i="0" dirty="0">
                          <a:solidFill>
                            <a:schemeClr val="tx1">
                              <a:lumMod val="75000"/>
                              <a:lumOff val="25000"/>
                            </a:schemeClr>
                          </a:solidFill>
                          <a:latin typeface="Yekan Bakh FaNum" pitchFamily="2" charset="-78"/>
                          <a:cs typeface="Yekan Bakh FaNum" pitchFamily="2" charset="-78"/>
                        </a:rPr>
                        <a:t>Stop Selling. </a:t>
                      </a:r>
                      <a:endParaRPr lang="fa-IR" sz="700" b="1" i="0" dirty="0">
                        <a:solidFill>
                          <a:schemeClr val="tx1">
                            <a:lumMod val="75000"/>
                            <a:lumOff val="25000"/>
                          </a:schemeClr>
                        </a:solidFill>
                        <a:latin typeface="Yekan Bakh FaNum" pitchFamily="2" charset="-78"/>
                        <a:cs typeface="Yekan Bakh FaNum" pitchFamily="2" charset="-78"/>
                      </a:endParaRPr>
                    </a:p>
                    <a:p>
                      <a:pPr algn="ctr" rtl="1">
                        <a:lnSpc>
                          <a:spcPct val="108000"/>
                        </a:lnSpc>
                      </a:pPr>
                      <a:r>
                        <a:rPr sz="700" b="1" i="0" dirty="0">
                          <a:solidFill>
                            <a:schemeClr val="tx1">
                              <a:lumMod val="75000"/>
                              <a:lumOff val="25000"/>
                            </a:schemeClr>
                          </a:solidFill>
                          <a:latin typeface="Yekan Bakh FaNum" pitchFamily="2" charset="-78"/>
                          <a:cs typeface="Yekan Bakh FaNum" pitchFamily="2" charset="-78"/>
                        </a:rPr>
                        <a:t>Start Collaborating.</a:t>
                      </a:r>
                    </a:p>
                  </a:txBody>
                  <a:tcPr marL="54864" marR="54864" marT="27432" marB="27432" anchor="ctr">
                    <a:solidFill>
                      <a:srgbClr val="FFFFFF"/>
                    </a:solidFill>
                  </a:tcPr>
                </a:tc>
                <a:tc>
                  <a:txBody>
                    <a:bodyPr/>
                    <a:lstStyle/>
                    <a:p>
                      <a:pPr algn="ctr" rtl="1">
                        <a:lnSpc>
                          <a:spcPct val="108000"/>
                        </a:lnSpc>
                      </a:pPr>
                      <a:r>
                        <a:rPr sz="800" b="1" i="0" dirty="0">
                          <a:solidFill>
                            <a:srgbClr val="004D80"/>
                          </a:solidFill>
                          <a:latin typeface="Yekan Bakh FaNum" pitchFamily="2" charset="-78"/>
                          <a:cs typeface="Yekan Bakh FaNum" pitchFamily="2" charset="-78"/>
                        </a:rPr>
                        <a:t>Harvard Business Review</a:t>
                      </a:r>
                    </a:p>
                    <a:p>
                      <a:pPr algn="ctr" rtl="1">
                        <a:lnSpc>
                          <a:spcPct val="108000"/>
                        </a:lnSpc>
                      </a:pPr>
                      <a:r>
                        <a:rPr sz="800" b="1" i="0" dirty="0">
                          <a:solidFill>
                            <a:srgbClr val="004D80"/>
                          </a:solidFill>
                          <a:latin typeface="Yekan Bakh FaNum" pitchFamily="2" charset="-78"/>
                          <a:cs typeface="Yekan Bakh FaNum" pitchFamily="2" charset="-78"/>
                        </a:rPr>
                        <a:t>(Cespedes</a:t>
                      </a:r>
                      <a:r>
                        <a:rPr lang="en-US" sz="800" b="1" i="0" dirty="0">
                          <a:solidFill>
                            <a:srgbClr val="004D80"/>
                          </a:solidFill>
                          <a:latin typeface="Yekan Bakh FaNum" pitchFamily="2" charset="-78"/>
                          <a:cs typeface="Yekan Bakh FaNum" pitchFamily="2" charset="-78"/>
                        </a:rPr>
                        <a:t>-2022)</a:t>
                      </a:r>
                      <a:endParaRPr sz="800" b="1" i="0" dirty="0">
                        <a:solidFill>
                          <a:srgbClr val="004D80"/>
                        </a:solidFill>
                        <a:latin typeface="Yekan Bakh FaNum" pitchFamily="2" charset="-78"/>
                        <a:cs typeface="Yekan Bakh FaNum" pitchFamily="2" charset="-78"/>
                      </a:endParaRPr>
                    </a:p>
                  </a:txBody>
                  <a:tcPr marL="54864" marR="54864" marT="27432" marB="27432" anchor="ctr">
                    <a:solidFill>
                      <a:srgbClr val="FFFFFF"/>
                    </a:solidFill>
                  </a:tcPr>
                </a:tc>
                <a:extLst>
                  <a:ext uri="{0D108BD9-81ED-4DB2-BD59-A6C34878D82A}">
                    <a16:rowId xmlns:a16="http://schemas.microsoft.com/office/drawing/2014/main" val="10003"/>
                  </a:ext>
                </a:extLst>
              </a:tr>
              <a:tr h="645244">
                <a:tc>
                  <a:txBody>
                    <a:bodyPr/>
                    <a:lstStyle/>
                    <a:p>
                      <a:pPr algn="justLow" rtl="1">
                        <a:lnSpc>
                          <a:spcPct val="108000"/>
                        </a:lnSpc>
                      </a:pPr>
                      <a:r>
                        <a:rPr sz="700" b="0" i="0" dirty="0" err="1">
                          <a:solidFill>
                            <a:schemeClr val="tx1">
                              <a:lumMod val="50000"/>
                              <a:lumOff val="50000"/>
                            </a:schemeClr>
                          </a:solidFill>
                          <a:latin typeface="Yekan Bakh FaNum" pitchFamily="2" charset="-78"/>
                          <a:cs typeface="Yekan Bakh FaNum" pitchFamily="2" charset="-78"/>
                        </a:rPr>
                        <a:t>حرکت</a:t>
                      </a:r>
                      <a:r>
                        <a:rPr sz="700" b="0" i="0" dirty="0">
                          <a:solidFill>
                            <a:schemeClr val="tx1">
                              <a:lumMod val="50000"/>
                              <a:lumOff val="50000"/>
                            </a:schemeClr>
                          </a:solidFill>
                          <a:latin typeface="Yekan Bakh FaNum" pitchFamily="2" charset="-78"/>
                          <a:cs typeface="Yekan Bakh FaNum" pitchFamily="2" charset="-78"/>
                        </a:rPr>
                        <a:t> </a:t>
                      </a:r>
                      <a:r>
                        <a:rPr sz="700" b="0" i="0" dirty="0" err="1">
                          <a:solidFill>
                            <a:schemeClr val="tx1">
                              <a:lumMod val="50000"/>
                              <a:lumOff val="50000"/>
                            </a:schemeClr>
                          </a:solidFill>
                          <a:latin typeface="Yekan Bakh FaNum" pitchFamily="2" charset="-78"/>
                          <a:cs typeface="Yekan Bakh FaNum" pitchFamily="2" charset="-78"/>
                        </a:rPr>
                        <a:t>از</a:t>
                      </a:r>
                      <a:r>
                        <a:rPr sz="700" b="0" i="0" dirty="0">
                          <a:solidFill>
                            <a:schemeClr val="tx1">
                              <a:lumMod val="50000"/>
                              <a:lumOff val="50000"/>
                            </a:schemeClr>
                          </a:solidFill>
                          <a:latin typeface="Yekan Bakh FaNum" pitchFamily="2" charset="-78"/>
                          <a:cs typeface="Yekan Bakh FaNum" pitchFamily="2" charset="-78"/>
                        </a:rPr>
                        <a:t> </a:t>
                      </a:r>
                      <a:r>
                        <a:rPr sz="700" b="0" i="0" dirty="0" err="1">
                          <a:solidFill>
                            <a:schemeClr val="tx1">
                              <a:lumMod val="50000"/>
                              <a:lumOff val="50000"/>
                            </a:schemeClr>
                          </a:solidFill>
                          <a:latin typeface="Yekan Bakh FaNum" pitchFamily="2" charset="-78"/>
                          <a:cs typeface="Yekan Bakh FaNum" pitchFamily="2" charset="-78"/>
                        </a:rPr>
                        <a:t>خدمات</a:t>
                      </a:r>
                      <a:r>
                        <a:rPr sz="700" b="0" i="0" dirty="0">
                          <a:solidFill>
                            <a:schemeClr val="tx1">
                              <a:lumMod val="50000"/>
                              <a:lumOff val="50000"/>
                            </a:schemeClr>
                          </a:solidFill>
                          <a:latin typeface="Yekan Bakh FaNum" pitchFamily="2" charset="-78"/>
                          <a:cs typeface="Yekan Bakh FaNum" pitchFamily="2" charset="-78"/>
                        </a:rPr>
                        <a:t> </a:t>
                      </a:r>
                      <a:r>
                        <a:rPr sz="700" b="0" i="0" dirty="0" err="1">
                          <a:solidFill>
                            <a:schemeClr val="tx1">
                              <a:lumMod val="50000"/>
                              <a:lumOff val="50000"/>
                            </a:schemeClr>
                          </a:solidFill>
                          <a:latin typeface="Yekan Bakh FaNum" pitchFamily="2" charset="-78"/>
                          <a:cs typeface="Yekan Bakh FaNum" pitchFamily="2" charset="-78"/>
                        </a:rPr>
                        <a:t>واکنشی</a:t>
                      </a:r>
                      <a:r>
                        <a:rPr sz="700" b="0" i="0" dirty="0">
                          <a:solidFill>
                            <a:schemeClr val="tx1">
                              <a:lumMod val="50000"/>
                              <a:lumOff val="50000"/>
                            </a:schemeClr>
                          </a:solidFill>
                          <a:latin typeface="Yekan Bakh FaNum" pitchFamily="2" charset="-78"/>
                          <a:cs typeface="Yekan Bakh FaNum" pitchFamily="2" charset="-78"/>
                        </a:rPr>
                        <a:t> </a:t>
                      </a:r>
                      <a:r>
                        <a:rPr sz="700" b="0" i="0" dirty="0" err="1">
                          <a:solidFill>
                            <a:schemeClr val="tx1">
                              <a:lumMod val="50000"/>
                              <a:lumOff val="50000"/>
                            </a:schemeClr>
                          </a:solidFill>
                          <a:latin typeface="Yekan Bakh FaNum" pitchFamily="2" charset="-78"/>
                          <a:cs typeface="Yekan Bakh FaNum" pitchFamily="2" charset="-78"/>
                        </a:rPr>
                        <a:t>به</a:t>
                      </a:r>
                      <a:r>
                        <a:rPr sz="700" b="0" i="0" dirty="0">
                          <a:solidFill>
                            <a:schemeClr val="tx1">
                              <a:lumMod val="50000"/>
                              <a:lumOff val="50000"/>
                            </a:schemeClr>
                          </a:solidFill>
                          <a:latin typeface="Yekan Bakh FaNum" pitchFamily="2" charset="-78"/>
                          <a:cs typeface="Yekan Bakh FaNum" pitchFamily="2" charset="-78"/>
                        </a:rPr>
                        <a:t> </a:t>
                      </a:r>
                      <a:r>
                        <a:rPr sz="700" b="0" i="0" dirty="0" err="1">
                          <a:solidFill>
                            <a:schemeClr val="tx1">
                              <a:lumMod val="50000"/>
                              <a:lumOff val="50000"/>
                            </a:schemeClr>
                          </a:solidFill>
                          <a:latin typeface="Yekan Bakh FaNum" pitchFamily="2" charset="-78"/>
                          <a:cs typeface="Yekan Bakh FaNum" pitchFamily="2" charset="-78"/>
                        </a:rPr>
                        <a:t>تعامل</a:t>
                      </a:r>
                      <a:r>
                        <a:rPr sz="700" b="0" i="0" dirty="0">
                          <a:solidFill>
                            <a:schemeClr val="tx1">
                              <a:lumMod val="50000"/>
                              <a:lumOff val="50000"/>
                            </a:schemeClr>
                          </a:solidFill>
                          <a:latin typeface="Yekan Bakh FaNum" pitchFamily="2" charset="-78"/>
                          <a:cs typeface="Yekan Bakh FaNum" pitchFamily="2" charset="-78"/>
                        </a:rPr>
                        <a:t> </a:t>
                      </a:r>
                      <a:r>
                        <a:rPr sz="700" b="0" i="0" dirty="0" err="1">
                          <a:solidFill>
                            <a:schemeClr val="tx1">
                              <a:lumMod val="50000"/>
                              <a:lumOff val="50000"/>
                            </a:schemeClr>
                          </a:solidFill>
                          <a:latin typeface="Yekan Bakh FaNum" pitchFamily="2" charset="-78"/>
                          <a:cs typeface="Yekan Bakh FaNum" pitchFamily="2" charset="-78"/>
                        </a:rPr>
                        <a:t>مشورتی</a:t>
                      </a:r>
                      <a:r>
                        <a:rPr sz="700" b="0" i="0" dirty="0">
                          <a:solidFill>
                            <a:schemeClr val="tx1">
                              <a:lumMod val="50000"/>
                              <a:lumOff val="50000"/>
                            </a:schemeClr>
                          </a:solidFill>
                          <a:latin typeface="Yekan Bakh FaNum" pitchFamily="2" charset="-78"/>
                          <a:cs typeface="Yekan Bakh FaNum" pitchFamily="2" charset="-78"/>
                        </a:rPr>
                        <a:t> و </a:t>
                      </a:r>
                      <a:r>
                        <a:rPr sz="700" b="0" i="0" dirty="0" err="1">
                          <a:solidFill>
                            <a:schemeClr val="tx1">
                              <a:lumMod val="50000"/>
                              <a:lumOff val="50000"/>
                            </a:schemeClr>
                          </a:solidFill>
                          <a:latin typeface="Yekan Bakh FaNum" pitchFamily="2" charset="-78"/>
                          <a:cs typeface="Yekan Bakh FaNum" pitchFamily="2" charset="-78"/>
                        </a:rPr>
                        <a:t>راهکارمحور</a:t>
                      </a:r>
                      <a:r>
                        <a:rPr lang="fa-IR" sz="700" b="0" i="0" dirty="0">
                          <a:solidFill>
                            <a:schemeClr val="tx1">
                              <a:lumMod val="50000"/>
                              <a:lumOff val="50000"/>
                            </a:schemeClr>
                          </a:solidFill>
                          <a:latin typeface="Yekan Bakh FaNum" pitchFamily="2" charset="-78"/>
                          <a:cs typeface="Yekan Bakh FaNum" pitchFamily="2" charset="-78"/>
                        </a:rPr>
                        <a:t>-</a:t>
                      </a:r>
                      <a:r>
                        <a:rPr sz="700" b="0" i="0" dirty="0" err="1">
                          <a:solidFill>
                            <a:schemeClr val="tx1">
                              <a:lumMod val="50000"/>
                              <a:lumOff val="50000"/>
                            </a:schemeClr>
                          </a:solidFill>
                          <a:latin typeface="Yekan Bakh FaNum" pitchFamily="2" charset="-78"/>
                          <a:cs typeface="Yekan Bakh FaNum" pitchFamily="2" charset="-78"/>
                        </a:rPr>
                        <a:t>مبنای</a:t>
                      </a:r>
                      <a:r>
                        <a:rPr sz="700" b="0" i="0" dirty="0">
                          <a:solidFill>
                            <a:schemeClr val="tx1">
                              <a:lumMod val="50000"/>
                              <a:lumOff val="50000"/>
                            </a:schemeClr>
                          </a:solidFill>
                          <a:latin typeface="Yekan Bakh FaNum" pitchFamily="2" charset="-78"/>
                          <a:cs typeface="Yekan Bakh FaNum" pitchFamily="2" charset="-78"/>
                        </a:rPr>
                        <a:t> </a:t>
                      </a:r>
                      <a:r>
                        <a:rPr sz="700" b="0" i="0" dirty="0" err="1">
                          <a:solidFill>
                            <a:schemeClr val="tx1">
                              <a:lumMod val="50000"/>
                              <a:lumOff val="50000"/>
                            </a:schemeClr>
                          </a:solidFill>
                          <a:latin typeface="Yekan Bakh FaNum" pitchFamily="2" charset="-78"/>
                          <a:cs typeface="Yekan Bakh FaNum" pitchFamily="2" charset="-78"/>
                        </a:rPr>
                        <a:t>تمایز</a:t>
                      </a:r>
                      <a:r>
                        <a:rPr sz="700" b="0" i="0" dirty="0">
                          <a:solidFill>
                            <a:schemeClr val="tx1">
                              <a:lumMod val="50000"/>
                              <a:lumOff val="50000"/>
                            </a:schemeClr>
                          </a:solidFill>
                          <a:latin typeface="Yekan Bakh FaNum" pitchFamily="2" charset="-78"/>
                          <a:cs typeface="Yekan Bakh FaNum" pitchFamily="2" charset="-78"/>
                        </a:rPr>
                        <a:t> </a:t>
                      </a:r>
                      <a:r>
                        <a:rPr sz="700" b="0" i="0" dirty="0" err="1">
                          <a:solidFill>
                            <a:schemeClr val="tx1">
                              <a:lumMod val="50000"/>
                              <a:lumOff val="50000"/>
                            </a:schemeClr>
                          </a:solidFill>
                          <a:latin typeface="Yekan Bakh FaNum" pitchFamily="2" charset="-78"/>
                          <a:cs typeface="Yekan Bakh FaNum" pitchFamily="2" charset="-78"/>
                        </a:rPr>
                        <a:t>آرکی‌تایپ</a:t>
                      </a:r>
                      <a:r>
                        <a:rPr sz="700" b="0" i="0" dirty="0">
                          <a:solidFill>
                            <a:schemeClr val="tx1">
                              <a:lumMod val="50000"/>
                              <a:lumOff val="50000"/>
                            </a:schemeClr>
                          </a:solidFill>
                          <a:latin typeface="Yekan Bakh FaNum" pitchFamily="2" charset="-78"/>
                          <a:cs typeface="Yekan Bakh FaNum" pitchFamily="2" charset="-78"/>
                        </a:rPr>
                        <a:t> </a:t>
                      </a:r>
                      <a:r>
                        <a:rPr lang="en-US" sz="700" b="0" i="0" dirty="0">
                          <a:solidFill>
                            <a:schemeClr val="tx1">
                              <a:lumMod val="50000"/>
                              <a:lumOff val="50000"/>
                            </a:schemeClr>
                          </a:solidFill>
                          <a:latin typeface="Yekan Bakh FaNum" pitchFamily="2" charset="-78"/>
                          <a:cs typeface="Yekan Bakh FaNum" pitchFamily="2" charset="-78"/>
                        </a:rPr>
                        <a:t>»</a:t>
                      </a:r>
                      <a:r>
                        <a:rPr sz="700" b="0" i="0" dirty="0" err="1">
                          <a:solidFill>
                            <a:schemeClr val="tx1">
                              <a:lumMod val="50000"/>
                              <a:lumOff val="50000"/>
                            </a:schemeClr>
                          </a:solidFill>
                          <a:latin typeface="Yekan Bakh FaNum" pitchFamily="2" charset="-78"/>
                          <a:cs typeface="Yekan Bakh FaNum" pitchFamily="2" charset="-78"/>
                        </a:rPr>
                        <a:t>مشاوره‌ای</a:t>
                      </a:r>
                      <a:r>
                        <a:rPr lang="en-US" sz="700" b="0" i="0" dirty="0">
                          <a:solidFill>
                            <a:schemeClr val="tx1">
                              <a:lumMod val="50000"/>
                              <a:lumOff val="50000"/>
                            </a:schemeClr>
                          </a:solidFill>
                          <a:latin typeface="Yekan Bakh FaNum" pitchFamily="2" charset="-78"/>
                          <a:cs typeface="Yekan Bakh FaNum" pitchFamily="2" charset="-78"/>
                        </a:rPr>
                        <a:t>«</a:t>
                      </a:r>
                      <a:endParaRPr sz="700" b="0" i="0" dirty="0">
                        <a:solidFill>
                          <a:schemeClr val="tx1">
                            <a:lumMod val="50000"/>
                            <a:lumOff val="50000"/>
                          </a:schemeClr>
                        </a:solidFill>
                        <a:latin typeface="Yekan Bakh FaNum" pitchFamily="2" charset="-78"/>
                        <a:cs typeface="Yekan Bakh FaNum" pitchFamily="2" charset="-78"/>
                      </a:endParaRPr>
                    </a:p>
                  </a:txBody>
                  <a:tcPr marL="54864" marR="54864" marT="27432" marB="27432" anchor="ctr">
                    <a:solidFill>
                      <a:srgbClr val="F3F4F6"/>
                    </a:solidFill>
                  </a:tcPr>
                </a:tc>
                <a:tc>
                  <a:txBody>
                    <a:bodyPr/>
                    <a:lstStyle/>
                    <a:p>
                      <a:pPr algn="ctr" rtl="1">
                        <a:lnSpc>
                          <a:spcPct val="108000"/>
                        </a:lnSpc>
                      </a:pPr>
                      <a:r>
                        <a:rPr sz="700" b="1" i="0" dirty="0">
                          <a:solidFill>
                            <a:schemeClr val="tx1">
                              <a:lumMod val="75000"/>
                              <a:lumOff val="25000"/>
                            </a:schemeClr>
                          </a:solidFill>
                          <a:latin typeface="Yekan Bakh FaNum" pitchFamily="2" charset="-78"/>
                          <a:cs typeface="Yekan Bakh FaNum" pitchFamily="2" charset="-78"/>
                        </a:rPr>
                        <a:t>Elevating Customer Satisfaction and Growth Through Service to Solutions</a:t>
                      </a:r>
                    </a:p>
                  </a:txBody>
                  <a:tcPr marL="54864" marR="54864" marT="27432" marB="27432" anchor="ctr">
                    <a:solidFill>
                      <a:srgbClr val="F3F4F6"/>
                    </a:solidFill>
                  </a:tcPr>
                </a:tc>
                <a:tc>
                  <a:txBody>
                    <a:bodyPr/>
                    <a:lstStyle/>
                    <a:p>
                      <a:pPr algn="ctr" rtl="1">
                        <a:lnSpc>
                          <a:spcPct val="108000"/>
                        </a:lnSpc>
                      </a:pPr>
                      <a:r>
                        <a:rPr sz="800" b="1" i="0" dirty="0">
                          <a:solidFill>
                            <a:srgbClr val="004D80"/>
                          </a:solidFill>
                          <a:latin typeface="Yekan Bakh FaNum" pitchFamily="2" charset="-78"/>
                          <a:cs typeface="Yekan Bakh FaNum" pitchFamily="2" charset="-78"/>
                        </a:rPr>
                        <a:t>McKinsey &amp; Company</a:t>
                      </a:r>
                    </a:p>
                  </a:txBody>
                  <a:tcPr marL="54864" marR="54864" marT="27432" marB="27432" anchor="ctr">
                    <a:solidFill>
                      <a:srgbClr val="F3F4F6"/>
                    </a:solidFill>
                  </a:tcPr>
                </a:tc>
                <a:extLst>
                  <a:ext uri="{0D108BD9-81ED-4DB2-BD59-A6C34878D82A}">
                    <a16:rowId xmlns:a16="http://schemas.microsoft.com/office/drawing/2014/main" val="10004"/>
                  </a:ext>
                </a:extLst>
              </a:tr>
              <a:tr h="645244">
                <a:tc>
                  <a:txBody>
                    <a:bodyPr/>
                    <a:lstStyle/>
                    <a:p>
                      <a:pPr algn="justLow" rtl="1">
                        <a:lnSpc>
                          <a:spcPct val="108000"/>
                        </a:lnSpc>
                      </a:pPr>
                      <a:r>
                        <a:rPr sz="700" b="0" i="0" dirty="0" err="1">
                          <a:solidFill>
                            <a:schemeClr val="tx1">
                              <a:lumMod val="50000"/>
                              <a:lumOff val="50000"/>
                            </a:schemeClr>
                          </a:solidFill>
                          <a:latin typeface="Yekan Bakh FaNum" pitchFamily="2" charset="-78"/>
                          <a:cs typeface="Yekan Bakh FaNum" pitchFamily="2" charset="-78"/>
                        </a:rPr>
                        <a:t>مبنای</a:t>
                      </a:r>
                      <a:r>
                        <a:rPr sz="700" b="0" i="0" dirty="0">
                          <a:solidFill>
                            <a:schemeClr val="tx1">
                              <a:lumMod val="50000"/>
                              <a:lumOff val="50000"/>
                            </a:schemeClr>
                          </a:solidFill>
                          <a:latin typeface="Yekan Bakh FaNum" pitchFamily="2" charset="-78"/>
                          <a:cs typeface="Yekan Bakh FaNum" pitchFamily="2" charset="-78"/>
                        </a:rPr>
                        <a:t> </a:t>
                      </a:r>
                      <a:r>
                        <a:rPr sz="700" b="0" i="0" dirty="0" err="1">
                          <a:solidFill>
                            <a:schemeClr val="tx1">
                              <a:lumMod val="50000"/>
                              <a:lumOff val="50000"/>
                            </a:schemeClr>
                          </a:solidFill>
                          <a:latin typeface="Yekan Bakh FaNum" pitchFamily="2" charset="-78"/>
                          <a:cs typeface="Yekan Bakh FaNum" pitchFamily="2" charset="-78"/>
                        </a:rPr>
                        <a:t>اصل</a:t>
                      </a:r>
                      <a:r>
                        <a:rPr sz="700" b="0" i="0" dirty="0">
                          <a:solidFill>
                            <a:schemeClr val="tx1">
                              <a:lumMod val="50000"/>
                              <a:lumOff val="50000"/>
                            </a:schemeClr>
                          </a:solidFill>
                          <a:latin typeface="Yekan Bakh FaNum" pitchFamily="2" charset="-78"/>
                          <a:cs typeface="Yekan Bakh FaNum" pitchFamily="2" charset="-78"/>
                        </a:rPr>
                        <a:t> </a:t>
                      </a:r>
                      <a:r>
                        <a:rPr sz="700" b="0" i="0" dirty="0" err="1">
                          <a:solidFill>
                            <a:schemeClr val="tx1">
                              <a:lumMod val="50000"/>
                              <a:lumOff val="50000"/>
                            </a:schemeClr>
                          </a:solidFill>
                          <a:latin typeface="Yekan Bakh FaNum" pitchFamily="2" charset="-78"/>
                          <a:cs typeface="Yekan Bakh FaNum" pitchFamily="2" charset="-78"/>
                        </a:rPr>
                        <a:t>بنیادین</a:t>
                      </a:r>
                      <a:r>
                        <a:rPr sz="700" b="0" i="0" dirty="0">
                          <a:solidFill>
                            <a:schemeClr val="tx1">
                              <a:lumMod val="50000"/>
                              <a:lumOff val="50000"/>
                            </a:schemeClr>
                          </a:solidFill>
                          <a:latin typeface="Yekan Bakh FaNum" pitchFamily="2" charset="-78"/>
                          <a:cs typeface="Yekan Bakh FaNum" pitchFamily="2" charset="-78"/>
                        </a:rPr>
                        <a:t> </a:t>
                      </a:r>
                      <a:r>
                        <a:rPr sz="700" b="0" i="0" dirty="0" err="1">
                          <a:solidFill>
                            <a:schemeClr val="tx1">
                              <a:lumMod val="50000"/>
                              <a:lumOff val="50000"/>
                            </a:schemeClr>
                          </a:solidFill>
                          <a:latin typeface="Yekan Bakh FaNum" pitchFamily="2" charset="-78"/>
                          <a:cs typeface="Yekan Bakh FaNum" pitchFamily="2" charset="-78"/>
                        </a:rPr>
                        <a:t>این</a:t>
                      </a:r>
                      <a:r>
                        <a:rPr sz="700" b="0" i="0" dirty="0">
                          <a:solidFill>
                            <a:schemeClr val="tx1">
                              <a:lumMod val="50000"/>
                              <a:lumOff val="50000"/>
                            </a:schemeClr>
                          </a:solidFill>
                          <a:latin typeface="Yekan Bakh FaNum" pitchFamily="2" charset="-78"/>
                          <a:cs typeface="Yekan Bakh FaNum" pitchFamily="2" charset="-78"/>
                        </a:rPr>
                        <a:t> </a:t>
                      </a:r>
                      <a:r>
                        <a:rPr sz="700" b="0" i="0" dirty="0" err="1">
                          <a:solidFill>
                            <a:schemeClr val="tx1">
                              <a:lumMod val="50000"/>
                              <a:lumOff val="50000"/>
                            </a:schemeClr>
                          </a:solidFill>
                          <a:latin typeface="Yekan Bakh FaNum" pitchFamily="2" charset="-78"/>
                          <a:cs typeface="Yekan Bakh FaNum" pitchFamily="2" charset="-78"/>
                        </a:rPr>
                        <a:t>سند</a:t>
                      </a:r>
                      <a:r>
                        <a:rPr lang="fa-IR" sz="700" b="0" i="0" dirty="0">
                          <a:solidFill>
                            <a:schemeClr val="tx1">
                              <a:lumMod val="50000"/>
                              <a:lumOff val="50000"/>
                            </a:schemeClr>
                          </a:solidFill>
                          <a:latin typeface="Yekan Bakh FaNum" pitchFamily="2" charset="-78"/>
                          <a:cs typeface="Yekan Bakh FaNum" pitchFamily="2" charset="-78"/>
                        </a:rPr>
                        <a:t>:</a:t>
                      </a:r>
                      <a:r>
                        <a:rPr sz="700" b="0" i="0" dirty="0">
                          <a:solidFill>
                            <a:schemeClr val="tx1">
                              <a:lumMod val="50000"/>
                              <a:lumOff val="50000"/>
                            </a:schemeClr>
                          </a:solidFill>
                          <a:latin typeface="Yekan Bakh FaNum" pitchFamily="2" charset="-78"/>
                          <a:cs typeface="Yekan Bakh FaNum" pitchFamily="2" charset="-78"/>
                        </a:rPr>
                        <a:t> </a:t>
                      </a:r>
                      <a:r>
                        <a:rPr sz="700" b="0" i="0" dirty="0" err="1">
                          <a:solidFill>
                            <a:schemeClr val="tx1">
                              <a:lumMod val="50000"/>
                              <a:lumOff val="50000"/>
                            </a:schemeClr>
                          </a:solidFill>
                          <a:latin typeface="Yekan Bakh FaNum" pitchFamily="2" charset="-78"/>
                          <a:cs typeface="Yekan Bakh FaNum" pitchFamily="2" charset="-78"/>
                        </a:rPr>
                        <a:t>یک</a:t>
                      </a:r>
                      <a:r>
                        <a:rPr sz="700" b="0" i="0" dirty="0">
                          <a:solidFill>
                            <a:schemeClr val="tx1">
                              <a:lumMod val="50000"/>
                              <a:lumOff val="50000"/>
                            </a:schemeClr>
                          </a:solidFill>
                          <a:latin typeface="Yekan Bakh FaNum" pitchFamily="2" charset="-78"/>
                          <a:cs typeface="Yekan Bakh FaNum" pitchFamily="2" charset="-78"/>
                        </a:rPr>
                        <a:t> </a:t>
                      </a:r>
                      <a:r>
                        <a:rPr sz="700" b="0" i="0" dirty="0" err="1">
                          <a:solidFill>
                            <a:schemeClr val="tx1">
                              <a:lumMod val="50000"/>
                              <a:lumOff val="50000"/>
                            </a:schemeClr>
                          </a:solidFill>
                          <a:latin typeface="Yekan Bakh FaNum" pitchFamily="2" charset="-78"/>
                          <a:cs typeface="Yekan Bakh FaNum" pitchFamily="2" charset="-78"/>
                        </a:rPr>
                        <a:t>مدل</a:t>
                      </a:r>
                      <a:r>
                        <a:rPr sz="700" b="0" i="0" dirty="0">
                          <a:solidFill>
                            <a:schemeClr val="tx1">
                              <a:lumMod val="50000"/>
                              <a:lumOff val="50000"/>
                            </a:schemeClr>
                          </a:solidFill>
                          <a:latin typeface="Yekan Bakh FaNum" pitchFamily="2" charset="-78"/>
                          <a:cs typeface="Yekan Bakh FaNum" pitchFamily="2" charset="-78"/>
                        </a:rPr>
                        <a:t> </a:t>
                      </a:r>
                      <a:r>
                        <a:rPr sz="700" b="0" i="0" dirty="0" err="1">
                          <a:solidFill>
                            <a:schemeClr val="tx1">
                              <a:lumMod val="50000"/>
                              <a:lumOff val="50000"/>
                            </a:schemeClr>
                          </a:solidFill>
                          <a:latin typeface="Yekan Bakh FaNum" pitchFamily="2" charset="-78"/>
                          <a:cs typeface="Yekan Bakh FaNum" pitchFamily="2" charset="-78"/>
                        </a:rPr>
                        <a:t>رابطه</a:t>
                      </a:r>
                      <a:r>
                        <a:rPr sz="700" b="0" i="0" dirty="0">
                          <a:solidFill>
                            <a:schemeClr val="tx1">
                              <a:lumMod val="50000"/>
                              <a:lumOff val="50000"/>
                            </a:schemeClr>
                          </a:solidFill>
                          <a:latin typeface="Yekan Bakh FaNum" pitchFamily="2" charset="-78"/>
                          <a:cs typeface="Yekan Bakh FaNum" pitchFamily="2" charset="-78"/>
                        </a:rPr>
                        <a:t> </a:t>
                      </a:r>
                      <a:r>
                        <a:rPr sz="700" b="0" i="0" dirty="0" err="1">
                          <a:solidFill>
                            <a:schemeClr val="tx1">
                              <a:lumMod val="50000"/>
                              <a:lumOff val="50000"/>
                            </a:schemeClr>
                          </a:solidFill>
                          <a:latin typeface="Yekan Bakh FaNum" pitchFamily="2" charset="-78"/>
                          <a:cs typeface="Yekan Bakh FaNum" pitchFamily="2" charset="-78"/>
                        </a:rPr>
                        <a:t>واحد</a:t>
                      </a:r>
                      <a:r>
                        <a:rPr sz="700" b="0" i="0" dirty="0">
                          <a:solidFill>
                            <a:schemeClr val="tx1">
                              <a:lumMod val="50000"/>
                              <a:lumOff val="50000"/>
                            </a:schemeClr>
                          </a:solidFill>
                          <a:latin typeface="Yekan Bakh FaNum" pitchFamily="2" charset="-78"/>
                          <a:cs typeface="Yekan Bakh FaNum" pitchFamily="2" charset="-78"/>
                        </a:rPr>
                        <a:t> </a:t>
                      </a:r>
                      <a:r>
                        <a:rPr sz="700" b="0" i="0" dirty="0" err="1">
                          <a:solidFill>
                            <a:schemeClr val="tx1">
                              <a:lumMod val="50000"/>
                              <a:lumOff val="50000"/>
                            </a:schemeClr>
                          </a:solidFill>
                          <a:latin typeface="Yekan Bakh FaNum" pitchFamily="2" charset="-78"/>
                          <a:cs typeface="Yekan Bakh FaNum" pitchFamily="2" charset="-78"/>
                        </a:rPr>
                        <a:t>برای</a:t>
                      </a:r>
                      <a:r>
                        <a:rPr sz="700" b="0" i="0" dirty="0">
                          <a:solidFill>
                            <a:schemeClr val="tx1">
                              <a:lumMod val="50000"/>
                              <a:lumOff val="50000"/>
                            </a:schemeClr>
                          </a:solidFill>
                          <a:latin typeface="Yekan Bakh FaNum" pitchFamily="2" charset="-78"/>
                          <a:cs typeface="Yekan Bakh FaNum" pitchFamily="2" charset="-78"/>
                        </a:rPr>
                        <a:t> </a:t>
                      </a:r>
                      <a:r>
                        <a:rPr sz="700" b="0" i="0" dirty="0" err="1">
                          <a:solidFill>
                            <a:schemeClr val="tx1">
                              <a:lumMod val="50000"/>
                              <a:lumOff val="50000"/>
                            </a:schemeClr>
                          </a:solidFill>
                          <a:latin typeface="Yekan Bakh FaNum" pitchFamily="2" charset="-78"/>
                          <a:cs typeface="Yekan Bakh FaNum" pitchFamily="2" charset="-78"/>
                        </a:rPr>
                        <a:t>همه</a:t>
                      </a:r>
                      <a:r>
                        <a:rPr sz="700" b="0" i="0" dirty="0">
                          <a:solidFill>
                            <a:schemeClr val="tx1">
                              <a:lumMod val="50000"/>
                              <a:lumOff val="50000"/>
                            </a:schemeClr>
                          </a:solidFill>
                          <a:latin typeface="Yekan Bakh FaNum" pitchFamily="2" charset="-78"/>
                          <a:cs typeface="Yekan Bakh FaNum" pitchFamily="2" charset="-78"/>
                        </a:rPr>
                        <a:t> </a:t>
                      </a:r>
                      <a:r>
                        <a:rPr sz="700" b="0" i="0" dirty="0" err="1">
                          <a:solidFill>
                            <a:schemeClr val="tx1">
                              <a:lumMod val="50000"/>
                              <a:lumOff val="50000"/>
                            </a:schemeClr>
                          </a:solidFill>
                          <a:latin typeface="Yekan Bakh FaNum" pitchFamily="2" charset="-78"/>
                          <a:cs typeface="Yekan Bakh FaNum" pitchFamily="2" charset="-78"/>
                        </a:rPr>
                        <a:t>مشتریان</a:t>
                      </a:r>
                      <a:r>
                        <a:rPr sz="700" b="0" i="0" dirty="0">
                          <a:solidFill>
                            <a:schemeClr val="tx1">
                              <a:lumMod val="50000"/>
                              <a:lumOff val="50000"/>
                            </a:schemeClr>
                          </a:solidFill>
                          <a:latin typeface="Yekan Bakh FaNum" pitchFamily="2" charset="-78"/>
                          <a:cs typeface="Yekan Bakh FaNum" pitchFamily="2" charset="-78"/>
                        </a:rPr>
                        <a:t> </a:t>
                      </a:r>
                      <a:r>
                        <a:rPr sz="700" b="0" i="0" dirty="0" err="1">
                          <a:solidFill>
                            <a:schemeClr val="tx1">
                              <a:lumMod val="50000"/>
                              <a:lumOff val="50000"/>
                            </a:schemeClr>
                          </a:solidFill>
                          <a:latin typeface="Yekan Bakh FaNum" pitchFamily="2" charset="-78"/>
                          <a:cs typeface="Yekan Bakh FaNum" pitchFamily="2" charset="-78"/>
                        </a:rPr>
                        <a:t>بهینه</a:t>
                      </a:r>
                      <a:r>
                        <a:rPr sz="700" b="0" i="0" dirty="0">
                          <a:solidFill>
                            <a:schemeClr val="tx1">
                              <a:lumMod val="50000"/>
                              <a:lumOff val="50000"/>
                            </a:schemeClr>
                          </a:solidFill>
                          <a:latin typeface="Yekan Bakh FaNum" pitchFamily="2" charset="-78"/>
                          <a:cs typeface="Yekan Bakh FaNum" pitchFamily="2" charset="-78"/>
                        </a:rPr>
                        <a:t> </a:t>
                      </a:r>
                      <a:r>
                        <a:rPr sz="700" b="0" i="0" dirty="0" err="1">
                          <a:solidFill>
                            <a:schemeClr val="tx1">
                              <a:lumMod val="50000"/>
                              <a:lumOff val="50000"/>
                            </a:schemeClr>
                          </a:solidFill>
                          <a:latin typeface="Yekan Bakh FaNum" pitchFamily="2" charset="-78"/>
                          <a:cs typeface="Yekan Bakh FaNum" pitchFamily="2" charset="-78"/>
                        </a:rPr>
                        <a:t>نیست</a:t>
                      </a:r>
                      <a:r>
                        <a:rPr sz="700" b="0" i="0" dirty="0">
                          <a:solidFill>
                            <a:schemeClr val="tx1">
                              <a:lumMod val="50000"/>
                              <a:lumOff val="50000"/>
                            </a:schemeClr>
                          </a:solidFill>
                          <a:latin typeface="Yekan Bakh FaNum" pitchFamily="2" charset="-78"/>
                          <a:cs typeface="Yekan Bakh FaNum" pitchFamily="2" charset="-78"/>
                        </a:rPr>
                        <a:t>؛ </a:t>
                      </a:r>
                      <a:r>
                        <a:rPr sz="700" b="0" i="0" dirty="0" err="1">
                          <a:solidFill>
                            <a:schemeClr val="tx1">
                              <a:lumMod val="50000"/>
                              <a:lumOff val="50000"/>
                            </a:schemeClr>
                          </a:solidFill>
                          <a:latin typeface="Yekan Bakh FaNum" pitchFamily="2" charset="-78"/>
                          <a:cs typeface="Yekan Bakh FaNum" pitchFamily="2" charset="-78"/>
                        </a:rPr>
                        <a:t>باید</a:t>
                      </a:r>
                      <a:r>
                        <a:rPr sz="700" b="0" i="0" dirty="0">
                          <a:solidFill>
                            <a:schemeClr val="tx1">
                              <a:lumMod val="50000"/>
                              <a:lumOff val="50000"/>
                            </a:schemeClr>
                          </a:solidFill>
                          <a:latin typeface="Yekan Bakh FaNum" pitchFamily="2" charset="-78"/>
                          <a:cs typeface="Yekan Bakh FaNum" pitchFamily="2" charset="-78"/>
                        </a:rPr>
                        <a:t> </a:t>
                      </a:r>
                      <a:r>
                        <a:rPr sz="700" b="0" i="0" dirty="0" err="1">
                          <a:solidFill>
                            <a:schemeClr val="tx1">
                              <a:lumMod val="50000"/>
                              <a:lumOff val="50000"/>
                            </a:schemeClr>
                          </a:solidFill>
                          <a:latin typeface="Yekan Bakh FaNum" pitchFamily="2" charset="-78"/>
                          <a:cs typeface="Yekan Bakh FaNum" pitchFamily="2" charset="-78"/>
                        </a:rPr>
                        <a:t>پرتفوی</a:t>
                      </a:r>
                      <a:r>
                        <a:rPr sz="700" b="0" i="0" dirty="0">
                          <a:solidFill>
                            <a:schemeClr val="tx1">
                              <a:lumMod val="50000"/>
                              <a:lumOff val="50000"/>
                            </a:schemeClr>
                          </a:solidFill>
                          <a:latin typeface="Yekan Bakh FaNum" pitchFamily="2" charset="-78"/>
                          <a:cs typeface="Yekan Bakh FaNum" pitchFamily="2" charset="-78"/>
                        </a:rPr>
                        <a:t> </a:t>
                      </a:r>
                      <a:r>
                        <a:rPr sz="700" b="0" i="0" dirty="0" err="1">
                          <a:solidFill>
                            <a:schemeClr val="tx1">
                              <a:lumMod val="50000"/>
                              <a:lumOff val="50000"/>
                            </a:schemeClr>
                          </a:solidFill>
                          <a:latin typeface="Yekan Bakh FaNum" pitchFamily="2" charset="-78"/>
                          <a:cs typeface="Yekan Bakh FaNum" pitchFamily="2" charset="-78"/>
                        </a:rPr>
                        <a:t>طراحی</a:t>
                      </a:r>
                      <a:r>
                        <a:rPr sz="700" b="0" i="0" dirty="0">
                          <a:solidFill>
                            <a:schemeClr val="tx1">
                              <a:lumMod val="50000"/>
                              <a:lumOff val="50000"/>
                            </a:schemeClr>
                          </a:solidFill>
                          <a:latin typeface="Yekan Bakh FaNum" pitchFamily="2" charset="-78"/>
                          <a:cs typeface="Yekan Bakh FaNum" pitchFamily="2" charset="-78"/>
                        </a:rPr>
                        <a:t> </a:t>
                      </a:r>
                      <a:r>
                        <a:rPr sz="700" b="0" i="0" dirty="0" err="1">
                          <a:solidFill>
                            <a:schemeClr val="tx1">
                              <a:lumMod val="50000"/>
                              <a:lumOff val="50000"/>
                            </a:schemeClr>
                          </a:solidFill>
                          <a:latin typeface="Yekan Bakh FaNum" pitchFamily="2" charset="-78"/>
                          <a:cs typeface="Yekan Bakh FaNum" pitchFamily="2" charset="-78"/>
                        </a:rPr>
                        <a:t>شود</a:t>
                      </a:r>
                      <a:endParaRPr sz="700" b="0" i="0" dirty="0">
                        <a:solidFill>
                          <a:schemeClr val="tx1">
                            <a:lumMod val="50000"/>
                            <a:lumOff val="50000"/>
                          </a:schemeClr>
                        </a:solidFill>
                        <a:latin typeface="Yekan Bakh FaNum" pitchFamily="2" charset="-78"/>
                        <a:cs typeface="Yekan Bakh FaNum" pitchFamily="2" charset="-78"/>
                      </a:endParaRPr>
                    </a:p>
                  </a:txBody>
                  <a:tcPr marL="54864" marR="54864" marT="27432" marB="27432" anchor="ctr">
                    <a:solidFill>
                      <a:srgbClr val="FFFFFF"/>
                    </a:solidFill>
                  </a:tcPr>
                </a:tc>
                <a:tc>
                  <a:txBody>
                    <a:bodyPr/>
                    <a:lstStyle/>
                    <a:p>
                      <a:pPr algn="ctr" rtl="1">
                        <a:lnSpc>
                          <a:spcPct val="108000"/>
                        </a:lnSpc>
                      </a:pPr>
                      <a:r>
                        <a:rPr sz="700" b="1" i="0" dirty="0">
                          <a:solidFill>
                            <a:schemeClr val="tx1">
                              <a:lumMod val="75000"/>
                              <a:lumOff val="25000"/>
                            </a:schemeClr>
                          </a:solidFill>
                          <a:latin typeface="Yekan Bakh FaNum" pitchFamily="2" charset="-78"/>
                          <a:cs typeface="Yekan Bakh FaNum" pitchFamily="2" charset="-78"/>
                        </a:rPr>
                        <a:t>Portfolios of Buyer-Supplier Relationships</a:t>
                      </a:r>
                    </a:p>
                  </a:txBody>
                  <a:tcPr marL="54864" marR="54864" marT="27432" marB="27432" anchor="ctr">
                    <a:solidFill>
                      <a:srgbClr val="FFFFFF"/>
                    </a:solidFill>
                  </a:tcPr>
                </a:tc>
                <a:tc>
                  <a:txBody>
                    <a:bodyPr/>
                    <a:lstStyle/>
                    <a:p>
                      <a:pPr algn="ctr" rtl="1">
                        <a:lnSpc>
                          <a:spcPct val="108000"/>
                        </a:lnSpc>
                      </a:pPr>
                      <a:r>
                        <a:rPr sz="800" b="1" i="0" dirty="0">
                          <a:solidFill>
                            <a:srgbClr val="004D80"/>
                          </a:solidFill>
                          <a:latin typeface="Yekan Bakh FaNum" pitchFamily="2" charset="-78"/>
                          <a:cs typeface="Yekan Bakh FaNum" pitchFamily="2" charset="-78"/>
                        </a:rPr>
                        <a:t>MIT Sloan Management Review</a:t>
                      </a:r>
                    </a:p>
                    <a:p>
                      <a:pPr algn="ctr" rtl="1">
                        <a:lnSpc>
                          <a:spcPct val="108000"/>
                        </a:lnSpc>
                      </a:pPr>
                      <a:r>
                        <a:rPr sz="800" b="1" i="0" dirty="0">
                          <a:solidFill>
                            <a:srgbClr val="004D80"/>
                          </a:solidFill>
                          <a:latin typeface="Yekan Bakh FaNum" pitchFamily="2" charset="-78"/>
                          <a:cs typeface="Yekan Bakh FaNum" pitchFamily="2" charset="-78"/>
                        </a:rPr>
                        <a:t>(</a:t>
                      </a:r>
                      <a:r>
                        <a:rPr sz="800" b="1" i="0" dirty="0" err="1">
                          <a:solidFill>
                            <a:srgbClr val="004D80"/>
                          </a:solidFill>
                          <a:latin typeface="Yekan Bakh FaNum" pitchFamily="2" charset="-78"/>
                          <a:cs typeface="Yekan Bakh FaNum" pitchFamily="2" charset="-78"/>
                        </a:rPr>
                        <a:t>Bensaou</a:t>
                      </a:r>
                      <a:r>
                        <a:rPr sz="800" b="1" i="0" dirty="0">
                          <a:solidFill>
                            <a:srgbClr val="004D80"/>
                          </a:solidFill>
                          <a:latin typeface="Yekan Bakh FaNum" pitchFamily="2" charset="-78"/>
                          <a:cs typeface="Yekan Bakh FaNum" pitchFamily="2" charset="-78"/>
                        </a:rPr>
                        <a:t>)</a:t>
                      </a:r>
                    </a:p>
                  </a:txBody>
                  <a:tcPr marL="54864" marR="54864" marT="27432" marB="27432" anchor="ctr">
                    <a:solidFill>
                      <a:srgbClr val="FFFFFF"/>
                    </a:solidFill>
                  </a:tcPr>
                </a:tc>
                <a:extLst>
                  <a:ext uri="{0D108BD9-81ED-4DB2-BD59-A6C34878D82A}">
                    <a16:rowId xmlns:a16="http://schemas.microsoft.com/office/drawing/2014/main" val="10005"/>
                  </a:ext>
                </a:extLst>
              </a:tr>
            </a:tbl>
          </a:graphicData>
        </a:graphic>
      </p:graphicFrame>
      <p:cxnSp>
        <p:nvCxnSpPr>
          <p:cNvPr id="11" name="Straight Connector 10">
            <a:extLst>
              <a:ext uri="{FF2B5EF4-FFF2-40B4-BE49-F238E27FC236}">
                <a16:creationId xmlns:a16="http://schemas.microsoft.com/office/drawing/2014/main" id="{B30A5F5A-11AC-FB25-C707-3B96D525D6C6}"/>
              </a:ext>
            </a:extLst>
          </p:cNvPr>
          <p:cNvCxnSpPr>
            <a:cxnSpLocks/>
          </p:cNvCxnSpPr>
          <p:nvPr/>
        </p:nvCxnSpPr>
        <p:spPr>
          <a:xfrm>
            <a:off x="555629" y="1504363"/>
            <a:ext cx="5152845" cy="0"/>
          </a:xfrm>
          <a:prstGeom prst="line">
            <a:avLst/>
          </a:prstGeom>
          <a:ln w="3175">
            <a:solidFill>
              <a:srgbClr val="F0BE0F"/>
            </a:solidFill>
          </a:ln>
        </p:spPr>
        <p:style>
          <a:lnRef idx="1">
            <a:schemeClr val="accent2"/>
          </a:lnRef>
          <a:fillRef idx="0">
            <a:schemeClr val="accent2"/>
          </a:fillRef>
          <a:effectRef idx="0">
            <a:schemeClr val="accent2"/>
          </a:effectRef>
          <a:fontRef idx="minor">
            <a:schemeClr val="tx1"/>
          </a:fontRef>
        </p:style>
      </p:cxnSp>
      <p:sp>
        <p:nvSpPr>
          <p:cNvPr id="12" name="TextBox 11">
            <a:extLst>
              <a:ext uri="{FF2B5EF4-FFF2-40B4-BE49-F238E27FC236}">
                <a16:creationId xmlns:a16="http://schemas.microsoft.com/office/drawing/2014/main" id="{8C8ADC2C-2291-22ED-DB39-B4FB08EFA21E}"/>
              </a:ext>
            </a:extLst>
          </p:cNvPr>
          <p:cNvSpPr txBox="1"/>
          <p:nvPr/>
        </p:nvSpPr>
        <p:spPr>
          <a:xfrm>
            <a:off x="1293365" y="1373558"/>
            <a:ext cx="3677372" cy="261610"/>
          </a:xfrm>
          <a:prstGeom prst="rect">
            <a:avLst/>
          </a:prstGeom>
          <a:solidFill>
            <a:schemeClr val="bg1"/>
          </a:solidFill>
          <a:ln>
            <a:noFill/>
          </a:ln>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a-IR" sz="1100" b="1" i="0" u="none" strike="noStrike" kern="1200" cap="none" spc="0" normalizeH="0" baseline="0" noProof="0" dirty="0">
                <a:ln>
                  <a:noFill/>
                </a:ln>
                <a:solidFill>
                  <a:srgbClr val="004D80"/>
                </a:solidFill>
                <a:effectLst/>
                <a:uLnTx/>
                <a:uFillTx/>
                <a:latin typeface="Yekan Bakh" pitchFamily="2" charset="-78"/>
                <a:ea typeface="Yekan Bakh" pitchFamily="2" charset="-78"/>
                <a:cs typeface="Yekan Bakh" pitchFamily="2" charset="-78"/>
              </a:rPr>
              <a:t>بنچمارک اکوسیستم‌های خدمات برون‌مرزی و بین‌المللی‌سازی</a:t>
            </a:r>
          </a:p>
        </p:txBody>
      </p:sp>
      <p:graphicFrame>
        <p:nvGraphicFramePr>
          <p:cNvPr id="14" name="Table 13">
            <a:extLst>
              <a:ext uri="{FF2B5EF4-FFF2-40B4-BE49-F238E27FC236}">
                <a16:creationId xmlns:a16="http://schemas.microsoft.com/office/drawing/2014/main" id="{0CA8FC6A-18C0-866E-6216-020B8034A2F0}"/>
              </a:ext>
            </a:extLst>
          </p:cNvPr>
          <p:cNvGraphicFramePr>
            <a:graphicFrameLocks noGrp="1"/>
          </p:cNvGraphicFramePr>
          <p:nvPr/>
        </p:nvGraphicFramePr>
        <p:xfrm>
          <a:off x="555629" y="1856725"/>
          <a:ext cx="5138690" cy="3508961"/>
        </p:xfrm>
        <a:graphic>
          <a:graphicData uri="http://schemas.openxmlformats.org/drawingml/2006/table">
            <a:tbl>
              <a:tblPr firstRow="1" bandRow="1">
                <a:tableStyleId>{5C22544A-7EE6-4342-B048-85BDC9FD1C3A}</a:tableStyleId>
              </a:tblPr>
              <a:tblGrid>
                <a:gridCol w="941701">
                  <a:extLst>
                    <a:ext uri="{9D8B030D-6E8A-4147-A177-3AD203B41FA5}">
                      <a16:colId xmlns:a16="http://schemas.microsoft.com/office/drawing/2014/main" val="20000"/>
                    </a:ext>
                  </a:extLst>
                </a:gridCol>
                <a:gridCol w="1382057">
                  <a:extLst>
                    <a:ext uri="{9D8B030D-6E8A-4147-A177-3AD203B41FA5}">
                      <a16:colId xmlns:a16="http://schemas.microsoft.com/office/drawing/2014/main" val="20001"/>
                    </a:ext>
                  </a:extLst>
                </a:gridCol>
                <a:gridCol w="1180290">
                  <a:extLst>
                    <a:ext uri="{9D8B030D-6E8A-4147-A177-3AD203B41FA5}">
                      <a16:colId xmlns:a16="http://schemas.microsoft.com/office/drawing/2014/main" val="20002"/>
                    </a:ext>
                  </a:extLst>
                </a:gridCol>
                <a:gridCol w="1634642">
                  <a:extLst>
                    <a:ext uri="{9D8B030D-6E8A-4147-A177-3AD203B41FA5}">
                      <a16:colId xmlns:a16="http://schemas.microsoft.com/office/drawing/2014/main" val="20003"/>
                    </a:ext>
                  </a:extLst>
                </a:gridCol>
              </a:tblGrid>
              <a:tr h="397808">
                <a:tc>
                  <a:txBody>
                    <a:bodyPr/>
                    <a:lstStyle/>
                    <a:p>
                      <a:pPr algn="ctr" rtl="1">
                        <a:lnSpc>
                          <a:spcPct val="108000"/>
                        </a:lnSpc>
                      </a:pPr>
                      <a:r>
                        <a:rPr sz="900" b="1" i="0" dirty="0" err="1">
                          <a:solidFill>
                            <a:srgbClr val="FFFFFF"/>
                          </a:solidFill>
                          <a:latin typeface="Yekan Bakh FaNum" pitchFamily="2" charset="-78"/>
                          <a:cs typeface="Yekan Bakh FaNum" pitchFamily="2" charset="-78"/>
                        </a:rPr>
                        <a:t>نزدیک‌ترین</a:t>
                      </a:r>
                      <a:r>
                        <a:rPr sz="900" b="1" i="0" dirty="0">
                          <a:solidFill>
                            <a:srgbClr val="FFFFFF"/>
                          </a:solidFill>
                          <a:latin typeface="Yekan Bakh FaNum" pitchFamily="2" charset="-78"/>
                          <a:cs typeface="Yekan Bakh FaNum" pitchFamily="2" charset="-78"/>
                        </a:rPr>
                        <a:t> </a:t>
                      </a:r>
                      <a:r>
                        <a:rPr sz="900" b="1" i="0" dirty="0" err="1">
                          <a:solidFill>
                            <a:srgbClr val="FFFFFF"/>
                          </a:solidFill>
                          <a:latin typeface="Yekan Bakh FaNum" pitchFamily="2" charset="-78"/>
                          <a:cs typeface="Yekan Bakh FaNum" pitchFamily="2" charset="-78"/>
                        </a:rPr>
                        <a:t>آرکی‌تایپ</a:t>
                      </a:r>
                      <a:endParaRPr sz="900" b="1" i="0" dirty="0">
                        <a:solidFill>
                          <a:srgbClr val="FFFFFF"/>
                        </a:solidFill>
                        <a:latin typeface="Yekan Bakh FaNum" pitchFamily="2" charset="-78"/>
                        <a:cs typeface="Yekan Bakh FaNum" pitchFamily="2" charset="-78"/>
                      </a:endParaRPr>
                    </a:p>
                  </a:txBody>
                  <a:tcPr marL="54864" marR="54864" marT="27432" marB="27432" anchor="ctr">
                    <a:solidFill>
                      <a:srgbClr val="15296B"/>
                    </a:solidFill>
                  </a:tcPr>
                </a:tc>
                <a:tc>
                  <a:txBody>
                    <a:bodyPr/>
                    <a:lstStyle/>
                    <a:p>
                      <a:pPr algn="ctr" rtl="1">
                        <a:lnSpc>
                          <a:spcPct val="108000"/>
                        </a:lnSpc>
                      </a:pPr>
                      <a:r>
                        <a:rPr sz="900" b="1" i="0" dirty="0" err="1">
                          <a:solidFill>
                            <a:srgbClr val="FFFFFF"/>
                          </a:solidFill>
                          <a:latin typeface="Yekan Bakh FaNum" pitchFamily="2" charset="-78"/>
                          <a:cs typeface="Yekan Bakh FaNum" pitchFamily="2" charset="-78"/>
                        </a:rPr>
                        <a:t>مدل</a:t>
                      </a:r>
                      <a:r>
                        <a:rPr sz="900" b="1" i="0" dirty="0">
                          <a:solidFill>
                            <a:srgbClr val="FFFFFF"/>
                          </a:solidFill>
                          <a:latin typeface="Yekan Bakh FaNum" pitchFamily="2" charset="-78"/>
                          <a:cs typeface="Yekan Bakh FaNum" pitchFamily="2" charset="-78"/>
                        </a:rPr>
                        <a:t> </a:t>
                      </a:r>
                      <a:r>
                        <a:rPr sz="900" b="1" i="0" dirty="0" err="1">
                          <a:solidFill>
                            <a:srgbClr val="FFFFFF"/>
                          </a:solidFill>
                          <a:latin typeface="Yekan Bakh FaNum" pitchFamily="2" charset="-78"/>
                          <a:cs typeface="Yekan Bakh FaNum" pitchFamily="2" charset="-78"/>
                        </a:rPr>
                        <a:t>رابطه</a:t>
                      </a:r>
                      <a:r>
                        <a:rPr sz="900" b="1" i="0" dirty="0">
                          <a:solidFill>
                            <a:srgbClr val="FFFFFF"/>
                          </a:solidFill>
                          <a:latin typeface="Yekan Bakh FaNum" pitchFamily="2" charset="-78"/>
                          <a:cs typeface="Yekan Bakh FaNum" pitchFamily="2" charset="-78"/>
                        </a:rPr>
                        <a:t> </a:t>
                      </a:r>
                      <a:r>
                        <a:rPr sz="900" b="1" i="0" dirty="0" err="1">
                          <a:solidFill>
                            <a:srgbClr val="FFFFFF"/>
                          </a:solidFill>
                          <a:latin typeface="Yekan Bakh FaNum" pitchFamily="2" charset="-78"/>
                          <a:cs typeface="Yekan Bakh FaNum" pitchFamily="2" charset="-78"/>
                        </a:rPr>
                        <a:t>غالب</a:t>
                      </a:r>
                      <a:endParaRPr sz="900" b="1" i="0" dirty="0">
                        <a:solidFill>
                          <a:srgbClr val="FFFFFF"/>
                        </a:solidFill>
                        <a:latin typeface="Yekan Bakh FaNum" pitchFamily="2" charset="-78"/>
                        <a:cs typeface="Yekan Bakh FaNum" pitchFamily="2" charset="-78"/>
                      </a:endParaRPr>
                    </a:p>
                  </a:txBody>
                  <a:tcPr marL="54864" marR="54864" marT="27432" marB="27432" anchor="ctr">
                    <a:solidFill>
                      <a:srgbClr val="15296B"/>
                    </a:solidFill>
                  </a:tcPr>
                </a:tc>
                <a:tc>
                  <a:txBody>
                    <a:bodyPr/>
                    <a:lstStyle/>
                    <a:p>
                      <a:pPr algn="ctr" rtl="1">
                        <a:lnSpc>
                          <a:spcPct val="108000"/>
                        </a:lnSpc>
                      </a:pPr>
                      <a:r>
                        <a:rPr sz="900" b="1" i="0" dirty="0" err="1">
                          <a:solidFill>
                            <a:srgbClr val="FFFFFF"/>
                          </a:solidFill>
                          <a:latin typeface="Yekan Bakh FaNum" pitchFamily="2" charset="-78"/>
                          <a:cs typeface="Yekan Bakh FaNum" pitchFamily="2" charset="-78"/>
                        </a:rPr>
                        <a:t>جغرافیا</a:t>
                      </a:r>
                      <a:endParaRPr sz="900" b="1" i="0" dirty="0">
                        <a:solidFill>
                          <a:srgbClr val="FFFFFF"/>
                        </a:solidFill>
                        <a:latin typeface="Yekan Bakh FaNum" pitchFamily="2" charset="-78"/>
                        <a:cs typeface="Yekan Bakh FaNum" pitchFamily="2" charset="-78"/>
                      </a:endParaRPr>
                    </a:p>
                  </a:txBody>
                  <a:tcPr marL="54864" marR="54864" marT="27432" marB="27432" anchor="ctr">
                    <a:solidFill>
                      <a:srgbClr val="15296B"/>
                    </a:solidFill>
                  </a:tcPr>
                </a:tc>
                <a:tc>
                  <a:txBody>
                    <a:bodyPr/>
                    <a:lstStyle/>
                    <a:p>
                      <a:pPr algn="ctr" rtl="1">
                        <a:lnSpc>
                          <a:spcPct val="108000"/>
                        </a:lnSpc>
                      </a:pPr>
                      <a:r>
                        <a:rPr sz="900" b="1" i="0" dirty="0" err="1">
                          <a:solidFill>
                            <a:srgbClr val="FFFFFF"/>
                          </a:solidFill>
                          <a:latin typeface="Yekan Bakh FaNum" pitchFamily="2" charset="-78"/>
                          <a:cs typeface="Yekan Bakh FaNum" pitchFamily="2" charset="-78"/>
                        </a:rPr>
                        <a:t>اکوسیستم</a:t>
                      </a:r>
                      <a:r>
                        <a:rPr lang="en-US" sz="900" b="1" i="0" dirty="0">
                          <a:solidFill>
                            <a:srgbClr val="FFFFFF"/>
                          </a:solidFill>
                          <a:latin typeface="Yekan Bakh FaNum" pitchFamily="2" charset="-78"/>
                          <a:cs typeface="Yekan Bakh FaNum" pitchFamily="2" charset="-78"/>
                        </a:rPr>
                        <a:t>/</a:t>
                      </a:r>
                      <a:r>
                        <a:rPr sz="900" b="1" i="0" dirty="0" err="1">
                          <a:solidFill>
                            <a:srgbClr val="FFFFFF"/>
                          </a:solidFill>
                          <a:latin typeface="Yekan Bakh FaNum" pitchFamily="2" charset="-78"/>
                          <a:cs typeface="Yekan Bakh FaNum" pitchFamily="2" charset="-78"/>
                        </a:rPr>
                        <a:t>نهاد</a:t>
                      </a:r>
                      <a:endParaRPr sz="900" b="1" i="0" dirty="0">
                        <a:solidFill>
                          <a:srgbClr val="FFFFFF"/>
                        </a:solidFill>
                        <a:latin typeface="Yekan Bakh FaNum" pitchFamily="2" charset="-78"/>
                        <a:cs typeface="Yekan Bakh FaNum" pitchFamily="2" charset="-78"/>
                      </a:endParaRPr>
                    </a:p>
                  </a:txBody>
                  <a:tcPr marL="54864" marR="54864" marT="27432" marB="27432" anchor="ctr">
                    <a:solidFill>
                      <a:srgbClr val="15296B"/>
                    </a:solidFill>
                  </a:tcPr>
                </a:tc>
                <a:extLst>
                  <a:ext uri="{0D108BD9-81ED-4DB2-BD59-A6C34878D82A}">
                    <a16:rowId xmlns:a16="http://schemas.microsoft.com/office/drawing/2014/main" val="10000"/>
                  </a:ext>
                </a:extLst>
              </a:tr>
              <a:tr h="518525">
                <a:tc>
                  <a:txBody>
                    <a:bodyPr/>
                    <a:lstStyle/>
                    <a:p>
                      <a:pPr algn="ctr" rtl="1">
                        <a:lnSpc>
                          <a:spcPct val="108000"/>
                        </a:lnSpc>
                      </a:pPr>
                      <a:r>
                        <a:rPr sz="700" b="1" i="0" dirty="0" err="1">
                          <a:solidFill>
                            <a:schemeClr val="tx1">
                              <a:lumMod val="65000"/>
                              <a:lumOff val="35000"/>
                            </a:schemeClr>
                          </a:solidFill>
                          <a:latin typeface="Yekan Bakh FaNum" pitchFamily="2" charset="-78"/>
                          <a:cs typeface="Yekan Bakh FaNum" pitchFamily="2" charset="-78"/>
                        </a:rPr>
                        <a:t>اکوسیستمی</a:t>
                      </a:r>
                      <a:r>
                        <a:rPr sz="700" b="1" i="0" dirty="0">
                          <a:solidFill>
                            <a:schemeClr val="tx1">
                              <a:lumMod val="65000"/>
                              <a:lumOff val="35000"/>
                            </a:schemeClr>
                          </a:solidFill>
                          <a:latin typeface="Yekan Bakh FaNum" pitchFamily="2" charset="-78"/>
                          <a:cs typeface="Yekan Bakh FaNum" pitchFamily="2" charset="-78"/>
                        </a:rPr>
                        <a:t>/</a:t>
                      </a:r>
                      <a:r>
                        <a:rPr sz="700" b="1" i="0" dirty="0" err="1">
                          <a:solidFill>
                            <a:schemeClr val="tx1">
                              <a:lumMod val="65000"/>
                              <a:lumOff val="35000"/>
                            </a:schemeClr>
                          </a:solidFill>
                          <a:latin typeface="Yekan Bakh FaNum" pitchFamily="2" charset="-78"/>
                          <a:cs typeface="Yekan Bakh FaNum" pitchFamily="2" charset="-78"/>
                        </a:rPr>
                        <a:t>پلتفرمی</a:t>
                      </a:r>
                      <a:r>
                        <a:rPr sz="700" b="1" i="0" dirty="0">
                          <a:solidFill>
                            <a:schemeClr val="tx1">
                              <a:lumMod val="65000"/>
                              <a:lumOff val="35000"/>
                            </a:schemeClr>
                          </a:solidFill>
                          <a:latin typeface="Yekan Bakh FaNum" pitchFamily="2" charset="-78"/>
                          <a:cs typeface="Yekan Bakh FaNum" pitchFamily="2" charset="-78"/>
                        </a:rPr>
                        <a:t>+</a:t>
                      </a:r>
                      <a:endParaRPr lang="fa-IR" sz="700" b="1" i="0" dirty="0">
                        <a:solidFill>
                          <a:schemeClr val="tx1">
                            <a:lumMod val="65000"/>
                            <a:lumOff val="35000"/>
                          </a:schemeClr>
                        </a:solidFill>
                        <a:latin typeface="Yekan Bakh FaNum" pitchFamily="2" charset="-78"/>
                        <a:cs typeface="Yekan Bakh FaNum" pitchFamily="2" charset="-78"/>
                      </a:endParaRPr>
                    </a:p>
                    <a:p>
                      <a:pPr algn="ctr" rtl="1">
                        <a:lnSpc>
                          <a:spcPct val="108000"/>
                        </a:lnSpc>
                      </a:pPr>
                      <a:r>
                        <a:rPr sz="700" b="1" i="0" dirty="0" err="1">
                          <a:solidFill>
                            <a:schemeClr val="tx1">
                              <a:lumMod val="65000"/>
                              <a:lumOff val="35000"/>
                            </a:schemeClr>
                          </a:solidFill>
                          <a:latin typeface="Yekan Bakh FaNum" pitchFamily="2" charset="-78"/>
                          <a:cs typeface="Yekan Bakh FaNum" pitchFamily="2" charset="-78"/>
                        </a:rPr>
                        <a:t>مشاوره‌ای</a:t>
                      </a:r>
                      <a:endParaRPr sz="700" b="1" i="0" dirty="0">
                        <a:solidFill>
                          <a:schemeClr val="tx1">
                            <a:lumMod val="65000"/>
                            <a:lumOff val="35000"/>
                          </a:schemeClr>
                        </a:solidFill>
                        <a:latin typeface="Yekan Bakh FaNum" pitchFamily="2" charset="-78"/>
                        <a:cs typeface="Yekan Bakh FaNum" pitchFamily="2" charset="-78"/>
                      </a:endParaRPr>
                    </a:p>
                  </a:txBody>
                  <a:tcPr marL="54864" marR="54864" marT="27432" marB="27432" anchor="ctr">
                    <a:solidFill>
                      <a:srgbClr val="FFFFFF"/>
                    </a:solidFill>
                  </a:tcPr>
                </a:tc>
                <a:tc>
                  <a:txBody>
                    <a:bodyPr/>
                    <a:lstStyle/>
                    <a:p>
                      <a:pPr algn="ctr" rtl="1">
                        <a:lnSpc>
                          <a:spcPct val="108000"/>
                        </a:lnSpc>
                      </a:pPr>
                      <a:r>
                        <a:rPr sz="700" b="0" i="0" dirty="0" err="1">
                          <a:solidFill>
                            <a:srgbClr val="374151"/>
                          </a:solidFill>
                          <a:latin typeface="Yekan Bakh FaNum" pitchFamily="2" charset="-78"/>
                          <a:cs typeface="Yekan Bakh FaNum" pitchFamily="2" charset="-78"/>
                        </a:rPr>
                        <a:t>شبکه</a:t>
                      </a:r>
                      <a:r>
                        <a:rPr sz="700" b="0" i="0" dirty="0">
                          <a:solidFill>
                            <a:srgbClr val="374151"/>
                          </a:solidFill>
                          <a:latin typeface="Yekan Bakh FaNum" pitchFamily="2" charset="-78"/>
                          <a:cs typeface="Yekan Bakh FaNum" pitchFamily="2" charset="-78"/>
                        </a:rPr>
                        <a:t> </a:t>
                      </a:r>
                      <a:r>
                        <a:rPr sz="700" b="0" i="0" dirty="0" err="1">
                          <a:solidFill>
                            <a:srgbClr val="374151"/>
                          </a:solidFill>
                          <a:latin typeface="Yekan Bakh FaNum" pitchFamily="2" charset="-78"/>
                          <a:cs typeface="Yekan Bakh FaNum" pitchFamily="2" charset="-78"/>
                        </a:rPr>
                        <a:t>هماهنگ</a:t>
                      </a:r>
                      <a:r>
                        <a:rPr sz="700" b="0" i="0" dirty="0">
                          <a:solidFill>
                            <a:srgbClr val="374151"/>
                          </a:solidFill>
                          <a:latin typeface="Yekan Bakh FaNum" pitchFamily="2" charset="-78"/>
                          <a:cs typeface="Yekan Bakh FaNum" pitchFamily="2" charset="-78"/>
                        </a:rPr>
                        <a:t> </a:t>
                      </a:r>
                      <a:r>
                        <a:rPr sz="700" b="0" i="0" dirty="0" err="1">
                          <a:solidFill>
                            <a:srgbClr val="374151"/>
                          </a:solidFill>
                          <a:latin typeface="Yekan Bakh FaNum" pitchFamily="2" charset="-78"/>
                          <a:cs typeface="Yekan Bakh FaNum" pitchFamily="2" charset="-78"/>
                        </a:rPr>
                        <a:t>بیش</a:t>
                      </a:r>
                      <a:r>
                        <a:rPr sz="700" b="0" i="0" dirty="0">
                          <a:solidFill>
                            <a:srgbClr val="374151"/>
                          </a:solidFill>
                          <a:latin typeface="Yekan Bakh FaNum" pitchFamily="2" charset="-78"/>
                          <a:cs typeface="Yekan Bakh FaNum" pitchFamily="2" charset="-78"/>
                        </a:rPr>
                        <a:t> از۵۶۰ </a:t>
                      </a:r>
                      <a:r>
                        <a:rPr lang="fa-IR" sz="700" b="0" i="0" dirty="0">
                          <a:solidFill>
                            <a:srgbClr val="374151"/>
                          </a:solidFill>
                          <a:latin typeface="Yekan Bakh FaNum" pitchFamily="2" charset="-78"/>
                          <a:cs typeface="Yekan Bakh FaNum" pitchFamily="2" charset="-78"/>
                        </a:rPr>
                        <a:t> س</a:t>
                      </a:r>
                      <a:r>
                        <a:rPr sz="700" b="0" i="0" dirty="0" err="1">
                          <a:solidFill>
                            <a:srgbClr val="374151"/>
                          </a:solidFill>
                          <a:latin typeface="Yekan Bakh FaNum" pitchFamily="2" charset="-78"/>
                          <a:cs typeface="Yekan Bakh FaNum" pitchFamily="2" charset="-78"/>
                        </a:rPr>
                        <a:t>ازمان</a:t>
                      </a:r>
                      <a:r>
                        <a:rPr sz="700" b="0" i="0" dirty="0">
                          <a:solidFill>
                            <a:srgbClr val="374151"/>
                          </a:solidFill>
                          <a:latin typeface="Yekan Bakh FaNum" pitchFamily="2" charset="-78"/>
                          <a:cs typeface="Yekan Bakh FaNum" pitchFamily="2" charset="-78"/>
                        </a:rPr>
                        <a:t> </a:t>
                      </a:r>
                      <a:r>
                        <a:rPr sz="700" b="0" i="0" dirty="0" err="1">
                          <a:solidFill>
                            <a:srgbClr val="374151"/>
                          </a:solidFill>
                          <a:latin typeface="Yekan Bakh FaNum" pitchFamily="2" charset="-78"/>
                          <a:cs typeface="Yekan Bakh FaNum" pitchFamily="2" charset="-78"/>
                        </a:rPr>
                        <a:t>عضو</a:t>
                      </a:r>
                      <a:r>
                        <a:rPr sz="700" b="0" i="0" dirty="0">
                          <a:solidFill>
                            <a:srgbClr val="374151"/>
                          </a:solidFill>
                          <a:latin typeface="Yekan Bakh FaNum" pitchFamily="2" charset="-78"/>
                          <a:cs typeface="Yekan Bakh FaNum" pitchFamily="2" charset="-78"/>
                        </a:rPr>
                        <a:t>؛ </a:t>
                      </a:r>
                      <a:r>
                        <a:rPr sz="700" b="0" i="0" dirty="0" err="1">
                          <a:solidFill>
                            <a:srgbClr val="374151"/>
                          </a:solidFill>
                          <a:latin typeface="Yekan Bakh FaNum" pitchFamily="2" charset="-78"/>
                          <a:cs typeface="Yekan Bakh FaNum" pitchFamily="2" charset="-78"/>
                        </a:rPr>
                        <a:t>خدمات</a:t>
                      </a:r>
                      <a:r>
                        <a:rPr sz="700" b="0" i="0" dirty="0">
                          <a:solidFill>
                            <a:srgbClr val="374151"/>
                          </a:solidFill>
                          <a:latin typeface="Yekan Bakh FaNum" pitchFamily="2" charset="-78"/>
                          <a:cs typeface="Yekan Bakh FaNum" pitchFamily="2" charset="-78"/>
                        </a:rPr>
                        <a:t> </a:t>
                      </a:r>
                      <a:r>
                        <a:rPr sz="700" b="0" i="0" dirty="0" err="1">
                          <a:solidFill>
                            <a:srgbClr val="374151"/>
                          </a:solidFill>
                          <a:latin typeface="Yekan Bakh FaNum" pitchFamily="2" charset="-78"/>
                          <a:cs typeface="Yekan Bakh FaNum" pitchFamily="2" charset="-78"/>
                        </a:rPr>
                        <a:t>رایگان</a:t>
                      </a:r>
                      <a:r>
                        <a:rPr sz="700" b="0" i="0" dirty="0">
                          <a:solidFill>
                            <a:srgbClr val="374151"/>
                          </a:solidFill>
                          <a:latin typeface="Yekan Bakh FaNum" pitchFamily="2" charset="-78"/>
                          <a:cs typeface="Yekan Bakh FaNum" pitchFamily="2" charset="-78"/>
                        </a:rPr>
                        <a:t>/</a:t>
                      </a:r>
                      <a:r>
                        <a:rPr sz="700" b="0" i="0" dirty="0" err="1">
                          <a:solidFill>
                            <a:srgbClr val="374151"/>
                          </a:solidFill>
                          <a:latin typeface="Yekan Bakh FaNum" pitchFamily="2" charset="-78"/>
                          <a:cs typeface="Yekan Bakh FaNum" pitchFamily="2" charset="-78"/>
                        </a:rPr>
                        <a:t>یارانه‌ای</a:t>
                      </a:r>
                      <a:endParaRPr sz="700" b="0" i="0" dirty="0">
                        <a:solidFill>
                          <a:srgbClr val="374151"/>
                        </a:solidFill>
                        <a:latin typeface="Yekan Bakh FaNum" pitchFamily="2" charset="-78"/>
                        <a:cs typeface="Yekan Bakh FaNum" pitchFamily="2" charset="-78"/>
                      </a:endParaRPr>
                    </a:p>
                  </a:txBody>
                  <a:tcPr marL="54864" marR="54864" marT="27432" marB="27432" anchor="ctr">
                    <a:solidFill>
                      <a:srgbClr val="FFFFFF"/>
                    </a:solidFill>
                  </a:tcPr>
                </a:tc>
                <a:tc>
                  <a:txBody>
                    <a:bodyPr/>
                    <a:lstStyle/>
                    <a:p>
                      <a:pPr algn="ctr" rtl="1">
                        <a:lnSpc>
                          <a:spcPct val="108000"/>
                        </a:lnSpc>
                      </a:pPr>
                      <a:r>
                        <a:rPr sz="800" b="1" i="0" dirty="0" err="1">
                          <a:solidFill>
                            <a:schemeClr val="tx1">
                              <a:lumMod val="75000"/>
                              <a:lumOff val="25000"/>
                            </a:schemeClr>
                          </a:solidFill>
                          <a:latin typeface="Yekan Bakh FaNum" pitchFamily="2" charset="-78"/>
                          <a:cs typeface="Yekan Bakh FaNum" pitchFamily="2" charset="-78"/>
                        </a:rPr>
                        <a:t>اروپ</a:t>
                      </a:r>
                      <a:r>
                        <a:rPr lang="fa-IR" sz="800" b="1" i="0" dirty="0">
                          <a:solidFill>
                            <a:schemeClr val="tx1">
                              <a:lumMod val="75000"/>
                              <a:lumOff val="25000"/>
                            </a:schemeClr>
                          </a:solidFill>
                          <a:latin typeface="Yekan Bakh FaNum" pitchFamily="2" charset="-78"/>
                          <a:cs typeface="Yekan Bakh FaNum" pitchFamily="2" charset="-78"/>
                        </a:rPr>
                        <a:t>ا+</a:t>
                      </a:r>
                    </a:p>
                    <a:p>
                      <a:pPr algn="ctr" rtl="1">
                        <a:lnSpc>
                          <a:spcPct val="108000"/>
                        </a:lnSpc>
                      </a:pPr>
                      <a:r>
                        <a:rPr lang="fa-IR" sz="800" b="1" i="0" dirty="0">
                          <a:solidFill>
                            <a:schemeClr val="tx1">
                              <a:lumMod val="75000"/>
                              <a:lumOff val="25000"/>
                            </a:schemeClr>
                          </a:solidFill>
                          <a:latin typeface="Yekan Bakh FaNum" pitchFamily="2" charset="-78"/>
                          <a:cs typeface="Yekan Bakh FaNum" pitchFamily="2" charset="-78"/>
                        </a:rPr>
                        <a:t>حدود ۶۰ کشور</a:t>
                      </a:r>
                    </a:p>
                  </a:txBody>
                  <a:tcPr marL="54864" marR="54864" marT="27432" marB="27432" anchor="ctr">
                    <a:solidFill>
                      <a:srgbClr val="FFFFFF"/>
                    </a:solidFill>
                  </a:tcPr>
                </a:tc>
                <a:tc>
                  <a:txBody>
                    <a:bodyPr/>
                    <a:lstStyle/>
                    <a:p>
                      <a:pPr algn="ctr" rtl="1">
                        <a:lnSpc>
                          <a:spcPct val="108000"/>
                        </a:lnSpc>
                      </a:pPr>
                      <a:r>
                        <a:rPr sz="800" b="1" i="0" dirty="0">
                          <a:solidFill>
                            <a:srgbClr val="004D80"/>
                          </a:solidFill>
                          <a:latin typeface="Yekan Bakh FaNum" pitchFamily="2" charset="-78"/>
                          <a:cs typeface="Yekan Bakh FaNum" pitchFamily="2" charset="-78"/>
                        </a:rPr>
                        <a:t>Enterprise Europe Network</a:t>
                      </a:r>
                    </a:p>
                  </a:txBody>
                  <a:tcPr marL="54864" marR="54864" marT="27432" marB="27432" anchor="ctr">
                    <a:solidFill>
                      <a:srgbClr val="FFFFFF"/>
                    </a:solidFill>
                  </a:tcPr>
                </a:tc>
                <a:extLst>
                  <a:ext uri="{0D108BD9-81ED-4DB2-BD59-A6C34878D82A}">
                    <a16:rowId xmlns:a16="http://schemas.microsoft.com/office/drawing/2014/main" val="10001"/>
                  </a:ext>
                </a:extLst>
              </a:tr>
              <a:tr h="518525">
                <a:tc>
                  <a:txBody>
                    <a:bodyPr/>
                    <a:lstStyle/>
                    <a:p>
                      <a:pPr algn="ctr" rtl="1">
                        <a:lnSpc>
                          <a:spcPct val="108000"/>
                        </a:lnSpc>
                      </a:pPr>
                      <a:r>
                        <a:rPr sz="700" b="1" i="0" dirty="0" err="1">
                          <a:solidFill>
                            <a:schemeClr val="tx1">
                              <a:lumMod val="65000"/>
                              <a:lumOff val="35000"/>
                            </a:schemeClr>
                          </a:solidFill>
                          <a:latin typeface="Yekan Bakh FaNum" pitchFamily="2" charset="-78"/>
                          <a:cs typeface="Yekan Bakh FaNum" pitchFamily="2" charset="-78"/>
                        </a:rPr>
                        <a:t>همراه</a:t>
                      </a:r>
                      <a:r>
                        <a:rPr sz="700" b="1" i="0" dirty="0">
                          <a:solidFill>
                            <a:schemeClr val="tx1">
                              <a:lumMod val="65000"/>
                              <a:lumOff val="35000"/>
                            </a:schemeClr>
                          </a:solidFill>
                          <a:latin typeface="Yekan Bakh FaNum" pitchFamily="2" charset="-78"/>
                          <a:cs typeface="Yekan Bakh FaNum" pitchFamily="2" charset="-78"/>
                        </a:rPr>
                        <a:t>/</a:t>
                      </a:r>
                      <a:r>
                        <a:rPr sz="700" b="1" i="0" dirty="0" err="1">
                          <a:solidFill>
                            <a:schemeClr val="tx1">
                              <a:lumMod val="65000"/>
                              <a:lumOff val="35000"/>
                            </a:schemeClr>
                          </a:solidFill>
                          <a:latin typeface="Yekan Bakh FaNum" pitchFamily="2" charset="-78"/>
                          <a:cs typeface="Yekan Bakh FaNum" pitchFamily="2" charset="-78"/>
                        </a:rPr>
                        <a:t>خدمات</a:t>
                      </a:r>
                      <a:r>
                        <a:rPr lang="fa-IR" sz="700" b="1" i="0" dirty="0">
                          <a:solidFill>
                            <a:schemeClr val="tx1">
                              <a:lumMod val="65000"/>
                              <a:lumOff val="35000"/>
                            </a:schemeClr>
                          </a:solidFill>
                          <a:latin typeface="Yekan Bakh FaNum" pitchFamily="2" charset="-78"/>
                          <a:cs typeface="Yekan Bakh FaNum" pitchFamily="2" charset="-78"/>
                        </a:rPr>
                        <a:t>ی</a:t>
                      </a:r>
                      <a:r>
                        <a:rPr sz="700" b="1" i="0" dirty="0">
                          <a:solidFill>
                            <a:schemeClr val="tx1">
                              <a:lumMod val="65000"/>
                              <a:lumOff val="35000"/>
                            </a:schemeClr>
                          </a:solidFill>
                          <a:latin typeface="Yekan Bakh FaNum" pitchFamily="2" charset="-78"/>
                          <a:cs typeface="Yekan Bakh FaNum" pitchFamily="2" charset="-78"/>
                        </a:rPr>
                        <a:t>+</a:t>
                      </a:r>
                      <a:endParaRPr lang="fa-IR" sz="700" b="1" i="0" dirty="0">
                        <a:solidFill>
                          <a:schemeClr val="tx1">
                            <a:lumMod val="65000"/>
                            <a:lumOff val="35000"/>
                          </a:schemeClr>
                        </a:solidFill>
                        <a:latin typeface="Yekan Bakh FaNum" pitchFamily="2" charset="-78"/>
                        <a:cs typeface="Yekan Bakh FaNum" pitchFamily="2" charset="-78"/>
                      </a:endParaRPr>
                    </a:p>
                    <a:p>
                      <a:pPr algn="ctr" rtl="1">
                        <a:lnSpc>
                          <a:spcPct val="108000"/>
                        </a:lnSpc>
                      </a:pPr>
                      <a:r>
                        <a:rPr sz="700" b="1" i="0" dirty="0" err="1">
                          <a:solidFill>
                            <a:schemeClr val="tx1">
                              <a:lumMod val="65000"/>
                              <a:lumOff val="35000"/>
                            </a:schemeClr>
                          </a:solidFill>
                          <a:latin typeface="Yekan Bakh FaNum" pitchFamily="2" charset="-78"/>
                          <a:cs typeface="Yekan Bakh FaNum" pitchFamily="2" charset="-78"/>
                        </a:rPr>
                        <a:t>مدیریت‌شده</a:t>
                      </a:r>
                      <a:endParaRPr sz="700" b="1" i="0" dirty="0">
                        <a:solidFill>
                          <a:schemeClr val="tx1">
                            <a:lumMod val="65000"/>
                            <a:lumOff val="35000"/>
                          </a:schemeClr>
                        </a:solidFill>
                        <a:latin typeface="Yekan Bakh FaNum" pitchFamily="2" charset="-78"/>
                        <a:cs typeface="Yekan Bakh FaNum" pitchFamily="2" charset="-78"/>
                      </a:endParaRPr>
                    </a:p>
                  </a:txBody>
                  <a:tcPr marL="54864" marR="54864" marT="27432" marB="27432" anchor="ctr">
                    <a:solidFill>
                      <a:srgbClr val="F3F4F6"/>
                    </a:solidFill>
                  </a:tcPr>
                </a:tc>
                <a:tc>
                  <a:txBody>
                    <a:bodyPr/>
                    <a:lstStyle/>
                    <a:p>
                      <a:pPr algn="ctr" rtl="1">
                        <a:lnSpc>
                          <a:spcPct val="108000"/>
                        </a:lnSpc>
                      </a:pPr>
                      <a:r>
                        <a:rPr sz="700" b="0" i="0" dirty="0" err="1">
                          <a:solidFill>
                            <a:srgbClr val="374151"/>
                          </a:solidFill>
                          <a:latin typeface="Yekan Bakh FaNum" pitchFamily="2" charset="-78"/>
                          <a:cs typeface="Yekan Bakh FaNum" pitchFamily="2" charset="-78"/>
                        </a:rPr>
                        <a:t>میز</a:t>
                      </a:r>
                      <a:r>
                        <a:rPr sz="700" b="0" i="0" dirty="0">
                          <a:solidFill>
                            <a:srgbClr val="374151"/>
                          </a:solidFill>
                          <a:latin typeface="Yekan Bakh FaNum" pitchFamily="2" charset="-78"/>
                          <a:cs typeface="Yekan Bakh FaNum" pitchFamily="2" charset="-78"/>
                        </a:rPr>
                        <a:t> </a:t>
                      </a:r>
                      <a:r>
                        <a:rPr sz="700" b="0" i="0" dirty="0" err="1">
                          <a:solidFill>
                            <a:srgbClr val="374151"/>
                          </a:solidFill>
                          <a:latin typeface="Yekan Bakh FaNum" pitchFamily="2" charset="-78"/>
                          <a:cs typeface="Yekan Bakh FaNum" pitchFamily="2" charset="-78"/>
                        </a:rPr>
                        <a:t>مشاوره</a:t>
                      </a:r>
                      <a:r>
                        <a:rPr sz="700" b="0" i="0" dirty="0">
                          <a:solidFill>
                            <a:srgbClr val="374151"/>
                          </a:solidFill>
                          <a:latin typeface="Yekan Bakh FaNum" pitchFamily="2" charset="-78"/>
                          <a:cs typeface="Yekan Bakh FaNum" pitchFamily="2" charset="-78"/>
                        </a:rPr>
                        <a:t> </a:t>
                      </a:r>
                      <a:r>
                        <a:rPr sz="700" b="0" i="0" dirty="0" err="1">
                          <a:solidFill>
                            <a:srgbClr val="374151"/>
                          </a:solidFill>
                          <a:latin typeface="Yekan Bakh FaNum" pitchFamily="2" charset="-78"/>
                          <a:cs typeface="Yekan Bakh FaNum" pitchFamily="2" charset="-78"/>
                        </a:rPr>
                        <a:t>اختصاصی</a:t>
                      </a:r>
                      <a:r>
                        <a:rPr sz="700" b="0" i="0" dirty="0">
                          <a:solidFill>
                            <a:srgbClr val="374151"/>
                          </a:solidFill>
                          <a:latin typeface="Yekan Bakh FaNum" pitchFamily="2" charset="-78"/>
                          <a:cs typeface="Yekan Bakh FaNum" pitchFamily="2" charset="-78"/>
                        </a:rPr>
                        <a:t>+ Aftercare </a:t>
                      </a:r>
                      <a:r>
                        <a:rPr lang="fa-IR" sz="700" b="0" i="0" dirty="0">
                          <a:solidFill>
                            <a:srgbClr val="374151"/>
                          </a:solidFill>
                          <a:latin typeface="Yekan Bakh FaNum" pitchFamily="2" charset="-78"/>
                          <a:cs typeface="Yekan Bakh FaNum" pitchFamily="2" charset="-78"/>
                        </a:rPr>
                        <a:t> م</a:t>
                      </a:r>
                      <a:r>
                        <a:rPr sz="700" b="0" i="0" dirty="0" err="1">
                          <a:solidFill>
                            <a:srgbClr val="374151"/>
                          </a:solidFill>
                          <a:latin typeface="Yekan Bakh FaNum" pitchFamily="2" charset="-78"/>
                          <a:cs typeface="Yekan Bakh FaNum" pitchFamily="2" charset="-78"/>
                        </a:rPr>
                        <a:t>ستمر</a:t>
                      </a:r>
                      <a:r>
                        <a:rPr sz="700" b="0" i="0" dirty="0">
                          <a:solidFill>
                            <a:srgbClr val="374151"/>
                          </a:solidFill>
                          <a:latin typeface="Yekan Bakh FaNum" pitchFamily="2" charset="-78"/>
                          <a:cs typeface="Yekan Bakh FaNum" pitchFamily="2" charset="-78"/>
                        </a:rPr>
                        <a:t> </a:t>
                      </a:r>
                      <a:r>
                        <a:rPr sz="700" b="0" i="0" dirty="0" err="1">
                          <a:solidFill>
                            <a:srgbClr val="374151"/>
                          </a:solidFill>
                          <a:latin typeface="Yekan Bakh FaNum" pitchFamily="2" charset="-78"/>
                          <a:cs typeface="Yekan Bakh FaNum" pitchFamily="2" charset="-78"/>
                        </a:rPr>
                        <a:t>پس</a:t>
                      </a:r>
                      <a:r>
                        <a:rPr sz="700" b="0" i="0" dirty="0">
                          <a:solidFill>
                            <a:srgbClr val="374151"/>
                          </a:solidFill>
                          <a:latin typeface="Yekan Bakh FaNum" pitchFamily="2" charset="-78"/>
                          <a:cs typeface="Yekan Bakh FaNum" pitchFamily="2" charset="-78"/>
                        </a:rPr>
                        <a:t> </a:t>
                      </a:r>
                      <a:r>
                        <a:rPr sz="700" b="0" i="0" dirty="0" err="1">
                          <a:solidFill>
                            <a:srgbClr val="374151"/>
                          </a:solidFill>
                          <a:latin typeface="Yekan Bakh FaNum" pitchFamily="2" charset="-78"/>
                          <a:cs typeface="Yekan Bakh FaNum" pitchFamily="2" charset="-78"/>
                        </a:rPr>
                        <a:t>از</a:t>
                      </a:r>
                      <a:r>
                        <a:rPr sz="700" b="0" i="0" dirty="0">
                          <a:solidFill>
                            <a:srgbClr val="374151"/>
                          </a:solidFill>
                          <a:latin typeface="Yekan Bakh FaNum" pitchFamily="2" charset="-78"/>
                          <a:cs typeface="Yekan Bakh FaNum" pitchFamily="2" charset="-78"/>
                        </a:rPr>
                        <a:t> </a:t>
                      </a:r>
                      <a:r>
                        <a:rPr sz="700" b="0" i="0" dirty="0" err="1">
                          <a:solidFill>
                            <a:srgbClr val="374151"/>
                          </a:solidFill>
                          <a:latin typeface="Yekan Bakh FaNum" pitchFamily="2" charset="-78"/>
                          <a:cs typeface="Yekan Bakh FaNum" pitchFamily="2" charset="-78"/>
                        </a:rPr>
                        <a:t>ورود</a:t>
                      </a:r>
                      <a:endParaRPr sz="700" b="0" i="0" dirty="0">
                        <a:solidFill>
                          <a:srgbClr val="374151"/>
                        </a:solidFill>
                        <a:latin typeface="Yekan Bakh FaNum" pitchFamily="2" charset="-78"/>
                        <a:cs typeface="Yekan Bakh FaNum" pitchFamily="2" charset="-78"/>
                      </a:endParaRPr>
                    </a:p>
                  </a:txBody>
                  <a:tcPr marL="54864" marR="54864" marT="27432" marB="27432" anchor="ctr">
                    <a:solidFill>
                      <a:srgbClr val="F3F4F6"/>
                    </a:solidFill>
                  </a:tcPr>
                </a:tc>
                <a:tc>
                  <a:txBody>
                    <a:bodyPr/>
                    <a:lstStyle/>
                    <a:p>
                      <a:pPr algn="ctr" rtl="1">
                        <a:lnSpc>
                          <a:spcPct val="108000"/>
                        </a:lnSpc>
                      </a:pPr>
                      <a:r>
                        <a:rPr sz="800" b="1" i="0" dirty="0" err="1">
                          <a:solidFill>
                            <a:schemeClr val="tx1">
                              <a:lumMod val="75000"/>
                              <a:lumOff val="25000"/>
                            </a:schemeClr>
                          </a:solidFill>
                          <a:latin typeface="Yekan Bakh FaNum" pitchFamily="2" charset="-78"/>
                          <a:cs typeface="Yekan Bakh FaNum" pitchFamily="2" charset="-78"/>
                        </a:rPr>
                        <a:t>ژاپن</a:t>
                      </a:r>
                      <a:endParaRPr lang="fa-IR" sz="800" b="1" i="0" dirty="0">
                        <a:solidFill>
                          <a:schemeClr val="tx1">
                            <a:lumMod val="75000"/>
                            <a:lumOff val="25000"/>
                          </a:schemeClr>
                        </a:solidFill>
                        <a:latin typeface="Yekan Bakh FaNum" pitchFamily="2" charset="-78"/>
                        <a:cs typeface="Yekan Bakh FaNum" pitchFamily="2" charset="-78"/>
                      </a:endParaRPr>
                    </a:p>
                    <a:p>
                      <a:pPr algn="ctr" rtl="1">
                        <a:lnSpc>
                          <a:spcPct val="108000"/>
                        </a:lnSpc>
                      </a:pPr>
                      <a:r>
                        <a:rPr lang="fa-IR" sz="800" b="1" i="0" dirty="0">
                          <a:solidFill>
                            <a:schemeClr val="tx1">
                              <a:lumMod val="75000"/>
                              <a:lumOff val="25000"/>
                            </a:schemeClr>
                          </a:solidFill>
                          <a:latin typeface="Yekan Bakh FaNum" pitchFamily="2" charset="-78"/>
                          <a:cs typeface="Yekan Bakh FaNum" pitchFamily="2" charset="-78"/>
                        </a:rPr>
                        <a:t>(</a:t>
                      </a:r>
                      <a:r>
                        <a:rPr sz="800" b="1" i="0" dirty="0" err="1">
                          <a:solidFill>
                            <a:schemeClr val="tx1">
                              <a:lumMod val="75000"/>
                              <a:lumOff val="25000"/>
                            </a:schemeClr>
                          </a:solidFill>
                          <a:latin typeface="Yekan Bakh FaNum" pitchFamily="2" charset="-78"/>
                          <a:cs typeface="Yekan Bakh FaNum" pitchFamily="2" charset="-78"/>
                        </a:rPr>
                        <a:t>ورود</a:t>
                      </a:r>
                      <a:r>
                        <a:rPr sz="800" b="1" i="0" dirty="0">
                          <a:solidFill>
                            <a:schemeClr val="tx1">
                              <a:lumMod val="75000"/>
                              <a:lumOff val="25000"/>
                            </a:schemeClr>
                          </a:solidFill>
                          <a:latin typeface="Yekan Bakh FaNum" pitchFamily="2" charset="-78"/>
                          <a:cs typeface="Yekan Bakh FaNum" pitchFamily="2" charset="-78"/>
                        </a:rPr>
                        <a:t>/</a:t>
                      </a:r>
                      <a:r>
                        <a:rPr sz="800" b="1" i="0" dirty="0" err="1">
                          <a:solidFill>
                            <a:schemeClr val="tx1">
                              <a:lumMod val="75000"/>
                              <a:lumOff val="25000"/>
                            </a:schemeClr>
                          </a:solidFill>
                          <a:latin typeface="Yekan Bakh FaNum" pitchFamily="2" charset="-78"/>
                          <a:cs typeface="Yekan Bakh FaNum" pitchFamily="2" charset="-78"/>
                        </a:rPr>
                        <a:t>خروج</a:t>
                      </a:r>
                      <a:r>
                        <a:rPr sz="800" b="1" i="0" dirty="0">
                          <a:solidFill>
                            <a:schemeClr val="tx1">
                              <a:lumMod val="75000"/>
                              <a:lumOff val="25000"/>
                            </a:schemeClr>
                          </a:solidFill>
                          <a:latin typeface="Yekan Bakh FaNum" pitchFamily="2" charset="-78"/>
                          <a:cs typeface="Yekan Bakh FaNum" pitchFamily="2" charset="-78"/>
                        </a:rPr>
                        <a:t> FDI</a:t>
                      </a:r>
                      <a:r>
                        <a:rPr lang="fa-IR" sz="800" b="1" i="0" dirty="0">
                          <a:solidFill>
                            <a:schemeClr val="tx1">
                              <a:lumMod val="75000"/>
                              <a:lumOff val="25000"/>
                            </a:schemeClr>
                          </a:solidFill>
                          <a:latin typeface="Yekan Bakh FaNum" pitchFamily="2" charset="-78"/>
                          <a:cs typeface="Yekan Bakh FaNum" pitchFamily="2" charset="-78"/>
                        </a:rPr>
                        <a:t>)</a:t>
                      </a:r>
                      <a:endParaRPr sz="800" b="1" i="0" dirty="0">
                        <a:solidFill>
                          <a:schemeClr val="tx1">
                            <a:lumMod val="75000"/>
                            <a:lumOff val="25000"/>
                          </a:schemeClr>
                        </a:solidFill>
                        <a:latin typeface="Yekan Bakh FaNum" pitchFamily="2" charset="-78"/>
                        <a:cs typeface="Yekan Bakh FaNum" pitchFamily="2" charset="-78"/>
                      </a:endParaRPr>
                    </a:p>
                  </a:txBody>
                  <a:tcPr marL="54864" marR="54864" marT="27432" marB="27432" anchor="ctr">
                    <a:solidFill>
                      <a:srgbClr val="F3F4F6"/>
                    </a:solidFill>
                  </a:tcPr>
                </a:tc>
                <a:tc>
                  <a:txBody>
                    <a:bodyPr/>
                    <a:lstStyle/>
                    <a:p>
                      <a:pPr algn="ctr" rtl="1">
                        <a:lnSpc>
                          <a:spcPct val="108000"/>
                        </a:lnSpc>
                      </a:pPr>
                      <a:r>
                        <a:rPr sz="800" b="1" i="0" dirty="0">
                          <a:solidFill>
                            <a:srgbClr val="004D80"/>
                          </a:solidFill>
                          <a:latin typeface="Yekan Bakh FaNum" pitchFamily="2" charset="-78"/>
                          <a:cs typeface="Yekan Bakh FaNum" pitchFamily="2" charset="-78"/>
                        </a:rPr>
                        <a:t>JETRO</a:t>
                      </a:r>
                    </a:p>
                  </a:txBody>
                  <a:tcPr marL="54864" marR="54864" marT="27432" marB="27432" anchor="ctr">
                    <a:solidFill>
                      <a:srgbClr val="F3F4F6"/>
                    </a:solidFill>
                  </a:tcPr>
                </a:tc>
                <a:extLst>
                  <a:ext uri="{0D108BD9-81ED-4DB2-BD59-A6C34878D82A}">
                    <a16:rowId xmlns:a16="http://schemas.microsoft.com/office/drawing/2014/main" val="10002"/>
                  </a:ext>
                </a:extLst>
              </a:tr>
              <a:tr h="518525">
                <a:tc>
                  <a:txBody>
                    <a:bodyPr/>
                    <a:lstStyle/>
                    <a:p>
                      <a:pPr algn="ctr" rtl="1">
                        <a:lnSpc>
                          <a:spcPct val="108000"/>
                        </a:lnSpc>
                      </a:pPr>
                      <a:r>
                        <a:rPr sz="700" b="1" i="0" dirty="0" err="1">
                          <a:solidFill>
                            <a:schemeClr val="tx1">
                              <a:lumMod val="65000"/>
                              <a:lumOff val="35000"/>
                            </a:schemeClr>
                          </a:solidFill>
                          <a:latin typeface="Yekan Bakh FaNum" pitchFamily="2" charset="-78"/>
                          <a:cs typeface="Yekan Bakh FaNum" pitchFamily="2" charset="-78"/>
                        </a:rPr>
                        <a:t>همراه</a:t>
                      </a:r>
                      <a:r>
                        <a:rPr sz="700" b="1" i="0" dirty="0">
                          <a:solidFill>
                            <a:schemeClr val="tx1">
                              <a:lumMod val="65000"/>
                              <a:lumOff val="35000"/>
                            </a:schemeClr>
                          </a:solidFill>
                          <a:latin typeface="Yekan Bakh FaNum" pitchFamily="2" charset="-78"/>
                          <a:cs typeface="Yekan Bakh FaNum" pitchFamily="2" charset="-78"/>
                        </a:rPr>
                        <a:t>/</a:t>
                      </a:r>
                      <a:r>
                        <a:rPr sz="700" b="1" i="0" dirty="0" err="1">
                          <a:solidFill>
                            <a:schemeClr val="tx1">
                              <a:lumMod val="65000"/>
                              <a:lumOff val="35000"/>
                            </a:schemeClr>
                          </a:solidFill>
                          <a:latin typeface="Yekan Bakh FaNum" pitchFamily="2" charset="-78"/>
                          <a:cs typeface="Yekan Bakh FaNum" pitchFamily="2" charset="-78"/>
                        </a:rPr>
                        <a:t>خدماتی</a:t>
                      </a:r>
                      <a:endParaRPr sz="700" b="1" i="0" dirty="0">
                        <a:solidFill>
                          <a:schemeClr val="tx1">
                            <a:lumMod val="65000"/>
                            <a:lumOff val="35000"/>
                          </a:schemeClr>
                        </a:solidFill>
                        <a:latin typeface="Yekan Bakh FaNum" pitchFamily="2" charset="-78"/>
                        <a:cs typeface="Yekan Bakh FaNum" pitchFamily="2" charset="-78"/>
                      </a:endParaRPr>
                    </a:p>
                  </a:txBody>
                  <a:tcPr marL="54864" marR="54864" marT="27432" marB="27432" anchor="ctr">
                    <a:solidFill>
                      <a:srgbClr val="FFFFFF"/>
                    </a:solidFill>
                  </a:tcPr>
                </a:tc>
                <a:tc>
                  <a:txBody>
                    <a:bodyPr/>
                    <a:lstStyle/>
                    <a:p>
                      <a:pPr algn="ctr" rtl="1">
                        <a:lnSpc>
                          <a:spcPct val="108000"/>
                        </a:lnSpc>
                      </a:pPr>
                      <a:r>
                        <a:rPr sz="700" b="0" i="0" dirty="0" err="1">
                          <a:solidFill>
                            <a:srgbClr val="374151"/>
                          </a:solidFill>
                          <a:latin typeface="Yekan Bakh FaNum" pitchFamily="2" charset="-78"/>
                          <a:cs typeface="Yekan Bakh FaNum" pitchFamily="2" charset="-78"/>
                        </a:rPr>
                        <a:t>بریفینگ</a:t>
                      </a:r>
                      <a:r>
                        <a:rPr sz="700" b="0" i="0" dirty="0">
                          <a:solidFill>
                            <a:srgbClr val="374151"/>
                          </a:solidFill>
                          <a:latin typeface="Yekan Bakh FaNum" pitchFamily="2" charset="-78"/>
                          <a:cs typeface="Yekan Bakh FaNum" pitchFamily="2" charset="-78"/>
                        </a:rPr>
                        <a:t> </a:t>
                      </a:r>
                      <a:r>
                        <a:rPr sz="700" b="0" i="0" dirty="0" err="1">
                          <a:solidFill>
                            <a:srgbClr val="374151"/>
                          </a:solidFill>
                          <a:latin typeface="Yekan Bakh FaNum" pitchFamily="2" charset="-78"/>
                          <a:cs typeface="Yekan Bakh FaNum" pitchFamily="2" charset="-78"/>
                        </a:rPr>
                        <a:t>اختصاصی</a:t>
                      </a:r>
                      <a:r>
                        <a:rPr sz="700" b="0" i="0" dirty="0">
                          <a:solidFill>
                            <a:srgbClr val="374151"/>
                          </a:solidFill>
                          <a:latin typeface="Yekan Bakh FaNum" pitchFamily="2" charset="-78"/>
                          <a:cs typeface="Yekan Bakh FaNum" pitchFamily="2" charset="-78"/>
                        </a:rPr>
                        <a:t>+</a:t>
                      </a:r>
                      <a:endParaRPr lang="fa-IR" sz="700" b="0" i="0" dirty="0">
                        <a:solidFill>
                          <a:srgbClr val="374151"/>
                        </a:solidFill>
                        <a:latin typeface="Yekan Bakh FaNum" pitchFamily="2" charset="-78"/>
                        <a:cs typeface="Yekan Bakh FaNum" pitchFamily="2" charset="-78"/>
                      </a:endParaRPr>
                    </a:p>
                    <a:p>
                      <a:pPr algn="ctr" rtl="1">
                        <a:lnSpc>
                          <a:spcPct val="108000"/>
                        </a:lnSpc>
                      </a:pPr>
                      <a:r>
                        <a:rPr sz="700" b="0" i="0" dirty="0" err="1">
                          <a:solidFill>
                            <a:srgbClr val="374151"/>
                          </a:solidFill>
                          <a:latin typeface="Yekan Bakh FaNum" pitchFamily="2" charset="-78"/>
                          <a:cs typeface="Yekan Bakh FaNum" pitchFamily="2" charset="-78"/>
                        </a:rPr>
                        <a:t>اتصال</a:t>
                      </a:r>
                      <a:r>
                        <a:rPr sz="700" b="0" i="0" dirty="0">
                          <a:solidFill>
                            <a:srgbClr val="374151"/>
                          </a:solidFill>
                          <a:latin typeface="Yekan Bakh FaNum" pitchFamily="2" charset="-78"/>
                          <a:cs typeface="Yekan Bakh FaNum" pitchFamily="2" charset="-78"/>
                        </a:rPr>
                        <a:t> </a:t>
                      </a:r>
                      <a:r>
                        <a:rPr sz="700" b="0" i="0" dirty="0" err="1">
                          <a:solidFill>
                            <a:srgbClr val="374151"/>
                          </a:solidFill>
                          <a:latin typeface="Yekan Bakh FaNum" pitchFamily="2" charset="-78"/>
                          <a:cs typeface="Yekan Bakh FaNum" pitchFamily="2" charset="-78"/>
                        </a:rPr>
                        <a:t>به</a:t>
                      </a:r>
                      <a:r>
                        <a:rPr sz="700" b="0" i="0" dirty="0">
                          <a:solidFill>
                            <a:srgbClr val="374151"/>
                          </a:solidFill>
                          <a:latin typeface="Yekan Bakh FaNum" pitchFamily="2" charset="-78"/>
                          <a:cs typeface="Yekan Bakh FaNum" pitchFamily="2" charset="-78"/>
                        </a:rPr>
                        <a:t> </a:t>
                      </a:r>
                      <a:r>
                        <a:rPr sz="700" b="0" i="0" dirty="0" err="1">
                          <a:solidFill>
                            <a:srgbClr val="374151"/>
                          </a:solidFill>
                          <a:latin typeface="Yekan Bakh FaNum" pitchFamily="2" charset="-78"/>
                          <a:cs typeface="Yekan Bakh FaNum" pitchFamily="2" charset="-78"/>
                        </a:rPr>
                        <a:t>شبکه</a:t>
                      </a:r>
                      <a:r>
                        <a:rPr sz="700" b="0" i="0" dirty="0">
                          <a:solidFill>
                            <a:srgbClr val="374151"/>
                          </a:solidFill>
                          <a:latin typeface="Yekan Bakh FaNum" pitchFamily="2" charset="-78"/>
                          <a:cs typeface="Yekan Bakh FaNum" pitchFamily="2" charset="-78"/>
                        </a:rPr>
                        <a:t> </a:t>
                      </a:r>
                      <a:r>
                        <a:rPr sz="700" b="0" i="0" dirty="0" err="1">
                          <a:solidFill>
                            <a:srgbClr val="374151"/>
                          </a:solidFill>
                          <a:latin typeface="Yekan Bakh FaNum" pitchFamily="2" charset="-78"/>
                          <a:cs typeface="Yekan Bakh FaNum" pitchFamily="2" charset="-78"/>
                        </a:rPr>
                        <a:t>ایالتی</a:t>
                      </a:r>
                      <a:r>
                        <a:rPr sz="700" b="0" i="0" dirty="0">
                          <a:solidFill>
                            <a:srgbClr val="374151"/>
                          </a:solidFill>
                          <a:latin typeface="Yekan Bakh FaNum" pitchFamily="2" charset="-78"/>
                          <a:cs typeface="Yekan Bakh FaNum" pitchFamily="2" charset="-78"/>
                        </a:rPr>
                        <a:t>/</a:t>
                      </a:r>
                      <a:r>
                        <a:rPr sz="700" b="0" i="0" dirty="0" err="1">
                          <a:solidFill>
                            <a:srgbClr val="374151"/>
                          </a:solidFill>
                          <a:latin typeface="Yekan Bakh FaNum" pitchFamily="2" charset="-78"/>
                          <a:cs typeface="Yekan Bakh FaNum" pitchFamily="2" charset="-78"/>
                        </a:rPr>
                        <a:t>فدرال</a:t>
                      </a:r>
                      <a:endParaRPr sz="700" b="0" i="0" dirty="0">
                        <a:solidFill>
                          <a:srgbClr val="374151"/>
                        </a:solidFill>
                        <a:latin typeface="Yekan Bakh FaNum" pitchFamily="2" charset="-78"/>
                        <a:cs typeface="Yekan Bakh FaNum" pitchFamily="2" charset="-78"/>
                      </a:endParaRPr>
                    </a:p>
                  </a:txBody>
                  <a:tcPr marL="54864" marR="54864" marT="27432" marB="27432" anchor="ctr">
                    <a:solidFill>
                      <a:srgbClr val="FFFFFF"/>
                    </a:solidFill>
                  </a:tcPr>
                </a:tc>
                <a:tc>
                  <a:txBody>
                    <a:bodyPr/>
                    <a:lstStyle/>
                    <a:p>
                      <a:pPr algn="ctr" rtl="1">
                        <a:lnSpc>
                          <a:spcPct val="108000"/>
                        </a:lnSpc>
                      </a:pPr>
                      <a:r>
                        <a:rPr lang="fa-IR" sz="800" b="1" i="0" dirty="0">
                          <a:solidFill>
                            <a:schemeClr val="tx1">
                              <a:lumMod val="75000"/>
                              <a:lumOff val="25000"/>
                            </a:schemeClr>
                          </a:solidFill>
                          <a:latin typeface="Yekan Bakh FaNum" pitchFamily="2" charset="-78"/>
                          <a:cs typeface="Yekan Bakh FaNum" pitchFamily="2" charset="-78"/>
                        </a:rPr>
                        <a:t>بین‌المللی</a:t>
                      </a:r>
                    </a:p>
                    <a:p>
                      <a:pPr algn="ctr" rtl="1">
                        <a:lnSpc>
                          <a:spcPct val="108000"/>
                        </a:lnSpc>
                      </a:pPr>
                      <a:r>
                        <a:rPr lang="fa-IR" sz="800" b="1" i="0" dirty="0">
                          <a:solidFill>
                            <a:schemeClr val="tx1">
                              <a:lumMod val="75000"/>
                              <a:lumOff val="25000"/>
                            </a:schemeClr>
                          </a:solidFill>
                          <a:latin typeface="Yekan Bakh FaNum" pitchFamily="2" charset="-78"/>
                          <a:cs typeface="Yekan Bakh FaNum" pitchFamily="2" charset="-78"/>
                        </a:rPr>
                        <a:t>(جذب </a:t>
                      </a:r>
                      <a:r>
                        <a:rPr lang="en-US" sz="800" b="1" i="0" dirty="0">
                          <a:solidFill>
                            <a:schemeClr val="tx1">
                              <a:lumMod val="75000"/>
                              <a:lumOff val="25000"/>
                            </a:schemeClr>
                          </a:solidFill>
                          <a:latin typeface="Yekan Bakh FaNum" pitchFamily="2" charset="-78"/>
                          <a:cs typeface="Yekan Bakh FaNum" pitchFamily="2" charset="-78"/>
                        </a:rPr>
                        <a:t>FDI</a:t>
                      </a:r>
                      <a:r>
                        <a:rPr lang="fa-IR" sz="800" b="1" i="0" dirty="0">
                          <a:solidFill>
                            <a:schemeClr val="tx1">
                              <a:lumMod val="75000"/>
                              <a:lumOff val="25000"/>
                            </a:schemeClr>
                          </a:solidFill>
                          <a:latin typeface="Yekan Bakh FaNum" pitchFamily="2" charset="-78"/>
                          <a:cs typeface="Yekan Bakh FaNum" pitchFamily="2" charset="-78"/>
                        </a:rPr>
                        <a:t>)</a:t>
                      </a:r>
                      <a:endParaRPr lang="en-US" sz="800" b="1" i="0" dirty="0">
                        <a:solidFill>
                          <a:schemeClr val="tx1">
                            <a:lumMod val="75000"/>
                            <a:lumOff val="25000"/>
                          </a:schemeClr>
                        </a:solidFill>
                        <a:latin typeface="Yekan Bakh FaNum" pitchFamily="2" charset="-78"/>
                        <a:cs typeface="Yekan Bakh FaNum" pitchFamily="2" charset="-78"/>
                      </a:endParaRPr>
                    </a:p>
                  </a:txBody>
                  <a:tcPr marL="54864" marR="54864" marT="27432" marB="27432" anchor="ctr">
                    <a:solidFill>
                      <a:srgbClr val="FFFFFF"/>
                    </a:solidFill>
                  </a:tcPr>
                </a:tc>
                <a:tc>
                  <a:txBody>
                    <a:bodyPr/>
                    <a:lstStyle/>
                    <a:p>
                      <a:pPr algn="ctr" rtl="1">
                        <a:lnSpc>
                          <a:spcPct val="108000"/>
                        </a:lnSpc>
                      </a:pPr>
                      <a:r>
                        <a:rPr sz="800" b="1" i="0" dirty="0" err="1">
                          <a:solidFill>
                            <a:srgbClr val="004D80"/>
                          </a:solidFill>
                          <a:latin typeface="Yekan Bakh FaNum" pitchFamily="2" charset="-78"/>
                          <a:cs typeface="Yekan Bakh FaNum" pitchFamily="2" charset="-78"/>
                        </a:rPr>
                        <a:t>SelectUSA</a:t>
                      </a:r>
                      <a:endParaRPr sz="800" b="1" i="0" dirty="0">
                        <a:solidFill>
                          <a:srgbClr val="004D80"/>
                        </a:solidFill>
                        <a:latin typeface="Yekan Bakh FaNum" pitchFamily="2" charset="-78"/>
                        <a:cs typeface="Yekan Bakh FaNum" pitchFamily="2" charset="-78"/>
                      </a:endParaRPr>
                    </a:p>
                  </a:txBody>
                  <a:tcPr marL="54864" marR="54864" marT="27432" marB="27432" anchor="ctr">
                    <a:solidFill>
                      <a:srgbClr val="FFFFFF"/>
                    </a:solidFill>
                  </a:tcPr>
                </a:tc>
                <a:extLst>
                  <a:ext uri="{0D108BD9-81ED-4DB2-BD59-A6C34878D82A}">
                    <a16:rowId xmlns:a16="http://schemas.microsoft.com/office/drawing/2014/main" val="10003"/>
                  </a:ext>
                </a:extLst>
              </a:tr>
              <a:tr h="518525">
                <a:tc>
                  <a:txBody>
                    <a:bodyPr/>
                    <a:lstStyle/>
                    <a:p>
                      <a:pPr algn="ctr" rtl="1">
                        <a:lnSpc>
                          <a:spcPct val="108000"/>
                        </a:lnSpc>
                      </a:pPr>
                      <a:r>
                        <a:rPr sz="700" b="1" i="0" dirty="0" err="1">
                          <a:solidFill>
                            <a:schemeClr val="tx1">
                              <a:lumMod val="65000"/>
                              <a:lumOff val="35000"/>
                            </a:schemeClr>
                          </a:solidFill>
                          <a:latin typeface="Yekan Bakh FaNum" pitchFamily="2" charset="-78"/>
                          <a:cs typeface="Yekan Bakh FaNum" pitchFamily="2" charset="-78"/>
                        </a:rPr>
                        <a:t>مشاوره‌ای</a:t>
                      </a:r>
                      <a:r>
                        <a:rPr lang="fa-IR" sz="700" b="1" i="0" dirty="0">
                          <a:solidFill>
                            <a:schemeClr val="tx1">
                              <a:lumMod val="65000"/>
                              <a:lumOff val="35000"/>
                            </a:schemeClr>
                          </a:solidFill>
                          <a:latin typeface="Yekan Bakh FaNum" pitchFamily="2" charset="-78"/>
                          <a:cs typeface="Yekan Bakh FaNum" pitchFamily="2" charset="-78"/>
                        </a:rPr>
                        <a:t>+</a:t>
                      </a:r>
                    </a:p>
                    <a:p>
                      <a:pPr algn="ctr" rtl="1">
                        <a:lnSpc>
                          <a:spcPct val="108000"/>
                        </a:lnSpc>
                      </a:pPr>
                      <a:r>
                        <a:rPr sz="700" b="1" i="0" dirty="0" err="1">
                          <a:solidFill>
                            <a:schemeClr val="tx1">
                              <a:lumMod val="65000"/>
                              <a:lumOff val="35000"/>
                            </a:schemeClr>
                          </a:solidFill>
                          <a:latin typeface="Yekan Bakh FaNum" pitchFamily="2" charset="-78"/>
                          <a:cs typeface="Yekan Bakh FaNum" pitchFamily="2" charset="-78"/>
                        </a:rPr>
                        <a:t>مدیریت‌شده</a:t>
                      </a:r>
                      <a:endParaRPr sz="700" b="1" i="0" dirty="0">
                        <a:solidFill>
                          <a:schemeClr val="tx1">
                            <a:lumMod val="65000"/>
                            <a:lumOff val="35000"/>
                          </a:schemeClr>
                        </a:solidFill>
                        <a:latin typeface="Yekan Bakh FaNum" pitchFamily="2" charset="-78"/>
                        <a:cs typeface="Yekan Bakh FaNum" pitchFamily="2" charset="-78"/>
                      </a:endParaRPr>
                    </a:p>
                  </a:txBody>
                  <a:tcPr marL="54864" marR="54864" marT="27432" marB="27432" anchor="ctr">
                    <a:solidFill>
                      <a:srgbClr val="F3F4F6"/>
                    </a:solidFill>
                  </a:tcPr>
                </a:tc>
                <a:tc>
                  <a:txBody>
                    <a:bodyPr/>
                    <a:lstStyle/>
                    <a:p>
                      <a:pPr algn="ctr" rtl="1">
                        <a:lnSpc>
                          <a:spcPct val="108000"/>
                        </a:lnSpc>
                      </a:pPr>
                      <a:r>
                        <a:rPr sz="700" b="0" i="0" dirty="0" err="1">
                          <a:solidFill>
                            <a:srgbClr val="374151"/>
                          </a:solidFill>
                          <a:latin typeface="Yekan Bakh FaNum" pitchFamily="2" charset="-78"/>
                          <a:cs typeface="Yekan Bakh FaNum" pitchFamily="2" charset="-78"/>
                        </a:rPr>
                        <a:t>شبکه</a:t>
                      </a:r>
                      <a:r>
                        <a:rPr sz="700" b="0" i="0" dirty="0">
                          <a:solidFill>
                            <a:srgbClr val="374151"/>
                          </a:solidFill>
                          <a:latin typeface="Yekan Bakh FaNum" pitchFamily="2" charset="-78"/>
                          <a:cs typeface="Yekan Bakh FaNum" pitchFamily="2" charset="-78"/>
                        </a:rPr>
                        <a:t> </a:t>
                      </a:r>
                      <a:r>
                        <a:rPr sz="700" b="0" i="0" dirty="0" err="1">
                          <a:solidFill>
                            <a:srgbClr val="374151"/>
                          </a:solidFill>
                          <a:latin typeface="Yekan Bakh FaNum" pitchFamily="2" charset="-78"/>
                          <a:cs typeface="Yekan Bakh FaNum" pitchFamily="2" charset="-78"/>
                        </a:rPr>
                        <a:t>مشاوران</a:t>
                      </a:r>
                      <a:r>
                        <a:rPr sz="700" b="0" i="0" dirty="0">
                          <a:solidFill>
                            <a:srgbClr val="374151"/>
                          </a:solidFill>
                          <a:latin typeface="Yekan Bakh FaNum" pitchFamily="2" charset="-78"/>
                          <a:cs typeface="Yekan Bakh FaNum" pitchFamily="2" charset="-78"/>
                        </a:rPr>
                        <a:t> </a:t>
                      </a:r>
                      <a:r>
                        <a:rPr sz="700" b="0" i="0" dirty="0" err="1">
                          <a:solidFill>
                            <a:srgbClr val="374151"/>
                          </a:solidFill>
                          <a:latin typeface="Yekan Bakh FaNum" pitchFamily="2" charset="-78"/>
                          <a:cs typeface="Yekan Bakh FaNum" pitchFamily="2" charset="-78"/>
                        </a:rPr>
                        <a:t>داوطلب</a:t>
                      </a:r>
                      <a:r>
                        <a:rPr sz="700" b="0" i="0" dirty="0">
                          <a:solidFill>
                            <a:srgbClr val="374151"/>
                          </a:solidFill>
                          <a:latin typeface="Yekan Bakh FaNum" pitchFamily="2" charset="-78"/>
                          <a:cs typeface="Yekan Bakh FaNum" pitchFamily="2" charset="-78"/>
                        </a:rPr>
                        <a:t> </a:t>
                      </a:r>
                      <a:r>
                        <a:rPr sz="700" b="0" i="0" dirty="0" err="1">
                          <a:solidFill>
                            <a:srgbClr val="374151"/>
                          </a:solidFill>
                          <a:latin typeface="Yekan Bakh FaNum" pitchFamily="2" charset="-78"/>
                          <a:cs typeface="Yekan Bakh FaNum" pitchFamily="2" charset="-78"/>
                        </a:rPr>
                        <a:t>صنعتی</a:t>
                      </a:r>
                      <a:r>
                        <a:rPr lang="en-US" sz="700" b="0" i="0" dirty="0">
                          <a:solidFill>
                            <a:srgbClr val="374151"/>
                          </a:solidFill>
                          <a:latin typeface="Yekan Bakh FaNum" pitchFamily="2" charset="-78"/>
                          <a:cs typeface="Yekan Bakh FaNum" pitchFamily="2" charset="-78"/>
                        </a:rPr>
                        <a:t>+</a:t>
                      </a:r>
                      <a:endParaRPr lang="fa-IR" sz="700" b="0" i="0" dirty="0">
                        <a:solidFill>
                          <a:srgbClr val="374151"/>
                        </a:solidFill>
                        <a:latin typeface="Yekan Bakh FaNum" pitchFamily="2" charset="-78"/>
                        <a:cs typeface="Yekan Bakh FaNum" pitchFamily="2" charset="-78"/>
                      </a:endParaRPr>
                    </a:p>
                    <a:p>
                      <a:pPr algn="ctr" rtl="1">
                        <a:lnSpc>
                          <a:spcPct val="108000"/>
                        </a:lnSpc>
                      </a:pPr>
                      <a:r>
                        <a:rPr sz="700" b="0" i="0" dirty="0" err="1">
                          <a:solidFill>
                            <a:srgbClr val="374151"/>
                          </a:solidFill>
                          <a:latin typeface="Yekan Bakh FaNum" pitchFamily="2" charset="-78"/>
                          <a:cs typeface="Yekan Bakh FaNum" pitchFamily="2" charset="-78"/>
                        </a:rPr>
                        <a:t>خدمت</a:t>
                      </a:r>
                      <a:r>
                        <a:rPr sz="700" b="0" i="0" dirty="0">
                          <a:solidFill>
                            <a:srgbClr val="374151"/>
                          </a:solidFill>
                          <a:latin typeface="Yekan Bakh FaNum" pitchFamily="2" charset="-78"/>
                          <a:cs typeface="Yekan Bakh FaNum" pitchFamily="2" charset="-78"/>
                        </a:rPr>
                        <a:t> </a:t>
                      </a:r>
                      <a:r>
                        <a:rPr sz="700" b="0" i="0" dirty="0" err="1">
                          <a:solidFill>
                            <a:srgbClr val="374151"/>
                          </a:solidFill>
                          <a:latin typeface="Yekan Bakh FaNum" pitchFamily="2" charset="-78"/>
                          <a:cs typeface="Yekan Bakh FaNum" pitchFamily="2" charset="-78"/>
                        </a:rPr>
                        <a:t>اختصاصی</a:t>
                      </a:r>
                      <a:r>
                        <a:rPr sz="700" b="0" i="0" dirty="0">
                          <a:solidFill>
                            <a:srgbClr val="374151"/>
                          </a:solidFill>
                          <a:latin typeface="Yekan Bakh FaNum" pitchFamily="2" charset="-78"/>
                          <a:cs typeface="Yekan Bakh FaNum" pitchFamily="2" charset="-78"/>
                        </a:rPr>
                        <a:t> </a:t>
                      </a:r>
                      <a:r>
                        <a:rPr sz="700" b="0" i="0" dirty="0" err="1">
                          <a:solidFill>
                            <a:srgbClr val="374151"/>
                          </a:solidFill>
                          <a:latin typeface="Yekan Bakh FaNum" pitchFamily="2" charset="-78"/>
                          <a:cs typeface="Yekan Bakh FaNum" pitchFamily="2" charset="-78"/>
                        </a:rPr>
                        <a:t>حساب</a:t>
                      </a:r>
                      <a:endParaRPr sz="700" b="0" i="0" dirty="0">
                        <a:solidFill>
                          <a:srgbClr val="374151"/>
                        </a:solidFill>
                        <a:latin typeface="Yekan Bakh FaNum" pitchFamily="2" charset="-78"/>
                        <a:cs typeface="Yekan Bakh FaNum" pitchFamily="2" charset="-78"/>
                      </a:endParaRPr>
                    </a:p>
                  </a:txBody>
                  <a:tcPr marL="54864" marR="54864" marT="27432" marB="27432" anchor="ctr">
                    <a:solidFill>
                      <a:srgbClr val="F3F4F6"/>
                    </a:solidFill>
                  </a:tcPr>
                </a:tc>
                <a:tc>
                  <a:txBody>
                    <a:bodyPr/>
                    <a:lstStyle/>
                    <a:p>
                      <a:pPr algn="ctr" rtl="1">
                        <a:lnSpc>
                          <a:spcPct val="108000"/>
                        </a:lnSpc>
                      </a:pPr>
                      <a:r>
                        <a:rPr sz="800" b="1" i="0" dirty="0" err="1">
                          <a:solidFill>
                            <a:schemeClr val="tx1">
                              <a:lumMod val="75000"/>
                              <a:lumOff val="25000"/>
                            </a:schemeClr>
                          </a:solidFill>
                          <a:latin typeface="Yekan Bakh FaNum" pitchFamily="2" charset="-78"/>
                          <a:cs typeface="Yekan Bakh FaNum" pitchFamily="2" charset="-78"/>
                        </a:rPr>
                        <a:t>اسکاتلند</a:t>
                      </a:r>
                      <a:r>
                        <a:rPr lang="fa-IR" sz="800" b="1" i="0" dirty="0">
                          <a:solidFill>
                            <a:schemeClr val="tx1">
                              <a:lumMod val="75000"/>
                              <a:lumOff val="25000"/>
                            </a:schemeClr>
                          </a:solidFill>
                          <a:latin typeface="Yekan Bakh FaNum" pitchFamily="2" charset="-78"/>
                          <a:cs typeface="Yekan Bakh FaNum" pitchFamily="2" charset="-78"/>
                        </a:rPr>
                        <a:t>/</a:t>
                      </a:r>
                      <a:r>
                        <a:rPr sz="800" b="1" i="0" dirty="0" err="1">
                          <a:solidFill>
                            <a:schemeClr val="tx1">
                              <a:lumMod val="75000"/>
                              <a:lumOff val="25000"/>
                            </a:schemeClr>
                          </a:solidFill>
                          <a:latin typeface="Yekan Bakh FaNum" pitchFamily="2" charset="-78"/>
                          <a:cs typeface="Yekan Bakh FaNum" pitchFamily="2" charset="-78"/>
                        </a:rPr>
                        <a:t>هنگ‌کنگ</a:t>
                      </a:r>
                      <a:endParaRPr sz="800" b="1" i="0" dirty="0">
                        <a:solidFill>
                          <a:schemeClr val="tx1">
                            <a:lumMod val="75000"/>
                            <a:lumOff val="25000"/>
                          </a:schemeClr>
                        </a:solidFill>
                        <a:latin typeface="Yekan Bakh FaNum" pitchFamily="2" charset="-78"/>
                        <a:cs typeface="Yekan Bakh FaNum" pitchFamily="2" charset="-78"/>
                      </a:endParaRPr>
                    </a:p>
                  </a:txBody>
                  <a:tcPr marL="54864" marR="54864" marT="27432" marB="27432" anchor="ctr">
                    <a:solidFill>
                      <a:srgbClr val="F3F4F6"/>
                    </a:solidFill>
                  </a:tcPr>
                </a:tc>
                <a:tc>
                  <a:txBody>
                    <a:bodyPr/>
                    <a:lstStyle/>
                    <a:p>
                      <a:pPr algn="ctr" rtl="1">
                        <a:lnSpc>
                          <a:spcPct val="108000"/>
                        </a:lnSpc>
                      </a:pPr>
                      <a:r>
                        <a:rPr sz="800" b="1" i="0" dirty="0" err="1">
                          <a:solidFill>
                            <a:srgbClr val="004D80"/>
                          </a:solidFill>
                          <a:latin typeface="Yekan Bakh FaNum" pitchFamily="2" charset="-78"/>
                          <a:cs typeface="Yekan Bakh FaNum" pitchFamily="2" charset="-78"/>
                        </a:rPr>
                        <a:t>GlobalScot</a:t>
                      </a:r>
                      <a:r>
                        <a:rPr sz="800" b="1" i="0" dirty="0">
                          <a:solidFill>
                            <a:srgbClr val="004D80"/>
                          </a:solidFill>
                          <a:latin typeface="Yekan Bakh FaNum" pitchFamily="2" charset="-78"/>
                          <a:cs typeface="Yekan Bakh FaNum" pitchFamily="2" charset="-78"/>
                        </a:rPr>
                        <a:t>/</a:t>
                      </a:r>
                      <a:r>
                        <a:rPr sz="800" b="1" i="0" dirty="0" err="1">
                          <a:solidFill>
                            <a:srgbClr val="004D80"/>
                          </a:solidFill>
                          <a:latin typeface="Yekan Bakh FaNum" pitchFamily="2" charset="-78"/>
                          <a:cs typeface="Yekan Bakh FaNum" pitchFamily="2" charset="-78"/>
                        </a:rPr>
                        <a:t>InvestHK</a:t>
                      </a:r>
                      <a:endParaRPr sz="800" b="1" i="0" dirty="0">
                        <a:solidFill>
                          <a:srgbClr val="004D80"/>
                        </a:solidFill>
                        <a:latin typeface="Yekan Bakh FaNum" pitchFamily="2" charset="-78"/>
                        <a:cs typeface="Yekan Bakh FaNum" pitchFamily="2" charset="-78"/>
                      </a:endParaRPr>
                    </a:p>
                  </a:txBody>
                  <a:tcPr marL="54864" marR="54864" marT="27432" marB="27432" anchor="ctr">
                    <a:solidFill>
                      <a:srgbClr val="F3F4F6"/>
                    </a:solidFill>
                  </a:tcPr>
                </a:tc>
                <a:extLst>
                  <a:ext uri="{0D108BD9-81ED-4DB2-BD59-A6C34878D82A}">
                    <a16:rowId xmlns:a16="http://schemas.microsoft.com/office/drawing/2014/main" val="10004"/>
                  </a:ext>
                </a:extLst>
              </a:tr>
              <a:tr h="518525">
                <a:tc>
                  <a:txBody>
                    <a:bodyPr/>
                    <a:lstStyle/>
                    <a:p>
                      <a:pPr algn="ctr" rtl="1">
                        <a:lnSpc>
                          <a:spcPct val="108000"/>
                        </a:lnSpc>
                      </a:pPr>
                      <a:r>
                        <a:rPr sz="700" b="1" i="0" dirty="0" err="1">
                          <a:solidFill>
                            <a:schemeClr val="tx1">
                              <a:lumMod val="65000"/>
                              <a:lumOff val="35000"/>
                            </a:schemeClr>
                          </a:solidFill>
                          <a:latin typeface="Yekan Bakh FaNum" pitchFamily="2" charset="-78"/>
                          <a:cs typeface="Yekan Bakh FaNum" pitchFamily="2" charset="-78"/>
                        </a:rPr>
                        <a:t>مشارکتی</a:t>
                      </a:r>
                      <a:r>
                        <a:rPr lang="fa-IR" sz="700" b="1" i="0" dirty="0">
                          <a:solidFill>
                            <a:schemeClr val="tx1">
                              <a:lumMod val="65000"/>
                              <a:lumOff val="35000"/>
                            </a:schemeClr>
                          </a:solidFill>
                          <a:latin typeface="Yekan Bakh FaNum" pitchFamily="2" charset="-78"/>
                          <a:cs typeface="Yekan Bakh FaNum" pitchFamily="2" charset="-78"/>
                        </a:rPr>
                        <a:t>+</a:t>
                      </a:r>
                    </a:p>
                    <a:p>
                      <a:pPr algn="ctr" rtl="1">
                        <a:lnSpc>
                          <a:spcPct val="108000"/>
                        </a:lnSpc>
                      </a:pPr>
                      <a:r>
                        <a:rPr sz="700" b="1" i="0" dirty="0" err="1">
                          <a:solidFill>
                            <a:schemeClr val="tx1">
                              <a:lumMod val="65000"/>
                              <a:lumOff val="35000"/>
                            </a:schemeClr>
                          </a:solidFill>
                          <a:latin typeface="Yekan Bakh FaNum" pitchFamily="2" charset="-78"/>
                          <a:cs typeface="Yekan Bakh FaNum" pitchFamily="2" charset="-78"/>
                        </a:rPr>
                        <a:t>شراکت</a:t>
                      </a:r>
                      <a:r>
                        <a:rPr sz="700" b="1" i="0" dirty="0">
                          <a:solidFill>
                            <a:schemeClr val="tx1">
                              <a:lumMod val="65000"/>
                              <a:lumOff val="35000"/>
                            </a:schemeClr>
                          </a:solidFill>
                          <a:latin typeface="Yekan Bakh FaNum" pitchFamily="2" charset="-78"/>
                          <a:cs typeface="Yekan Bakh FaNum" pitchFamily="2" charset="-78"/>
                        </a:rPr>
                        <a:t> </a:t>
                      </a:r>
                      <a:r>
                        <a:rPr sz="700" b="1" i="0" dirty="0" err="1">
                          <a:solidFill>
                            <a:schemeClr val="tx1">
                              <a:lumMod val="65000"/>
                              <a:lumOff val="35000"/>
                            </a:schemeClr>
                          </a:solidFill>
                          <a:latin typeface="Yekan Bakh FaNum" pitchFamily="2" charset="-78"/>
                          <a:cs typeface="Yekan Bakh FaNum" pitchFamily="2" charset="-78"/>
                        </a:rPr>
                        <a:t>راهبردی</a:t>
                      </a:r>
                      <a:endParaRPr sz="700" b="1" i="0" dirty="0">
                        <a:solidFill>
                          <a:schemeClr val="tx1">
                            <a:lumMod val="65000"/>
                            <a:lumOff val="35000"/>
                          </a:schemeClr>
                        </a:solidFill>
                        <a:latin typeface="Yekan Bakh FaNum" pitchFamily="2" charset="-78"/>
                        <a:cs typeface="Yekan Bakh FaNum" pitchFamily="2" charset="-78"/>
                      </a:endParaRPr>
                    </a:p>
                  </a:txBody>
                  <a:tcPr marL="54864" marR="54864" marT="27432" marB="27432" anchor="ctr">
                    <a:solidFill>
                      <a:srgbClr val="FFFFFF"/>
                    </a:solidFill>
                  </a:tcPr>
                </a:tc>
                <a:tc>
                  <a:txBody>
                    <a:bodyPr/>
                    <a:lstStyle/>
                    <a:p>
                      <a:pPr algn="ctr" rtl="1">
                        <a:lnSpc>
                          <a:spcPct val="108000"/>
                        </a:lnSpc>
                      </a:pPr>
                      <a:r>
                        <a:rPr sz="700" b="0" i="0" dirty="0" err="1">
                          <a:solidFill>
                            <a:srgbClr val="374151"/>
                          </a:solidFill>
                          <a:latin typeface="Yekan Bakh FaNum" pitchFamily="2" charset="-78"/>
                          <a:cs typeface="Yekan Bakh FaNum" pitchFamily="2" charset="-78"/>
                        </a:rPr>
                        <a:t>مربیگری</a:t>
                      </a:r>
                      <a:r>
                        <a:rPr sz="700" b="0" i="0" dirty="0">
                          <a:solidFill>
                            <a:srgbClr val="374151"/>
                          </a:solidFill>
                          <a:latin typeface="Yekan Bakh FaNum" pitchFamily="2" charset="-78"/>
                          <a:cs typeface="Yekan Bakh FaNum" pitchFamily="2" charset="-78"/>
                        </a:rPr>
                        <a:t> </a:t>
                      </a:r>
                      <a:r>
                        <a:rPr sz="700" b="0" i="0" dirty="0" err="1">
                          <a:solidFill>
                            <a:srgbClr val="374151"/>
                          </a:solidFill>
                          <a:latin typeface="Yekan Bakh FaNum" pitchFamily="2" charset="-78"/>
                          <a:cs typeface="Yekan Bakh FaNum" pitchFamily="2" charset="-78"/>
                        </a:rPr>
                        <a:t>هم‌آفرین</a:t>
                      </a:r>
                      <a:r>
                        <a:rPr lang="fa-IR" sz="700" b="0" i="0" dirty="0">
                          <a:solidFill>
                            <a:srgbClr val="374151"/>
                          </a:solidFill>
                          <a:latin typeface="Yekan Bakh FaNum" pitchFamily="2" charset="-78"/>
                          <a:cs typeface="Yekan Bakh FaNum" pitchFamily="2" charset="-78"/>
                        </a:rPr>
                        <a:t>+</a:t>
                      </a:r>
                    </a:p>
                    <a:p>
                      <a:pPr algn="ctr" rtl="1">
                        <a:lnSpc>
                          <a:spcPct val="108000"/>
                        </a:lnSpc>
                      </a:pPr>
                      <a:r>
                        <a:rPr sz="700" b="0" i="0" dirty="0" err="1">
                          <a:solidFill>
                            <a:srgbClr val="374151"/>
                          </a:solidFill>
                          <a:latin typeface="Yekan Bakh FaNum" pitchFamily="2" charset="-78"/>
                          <a:cs typeface="Yekan Bakh FaNum" pitchFamily="2" charset="-78"/>
                        </a:rPr>
                        <a:t>شراکت</a:t>
                      </a:r>
                      <a:r>
                        <a:rPr sz="700" b="0" i="0" dirty="0">
                          <a:solidFill>
                            <a:srgbClr val="374151"/>
                          </a:solidFill>
                          <a:latin typeface="Yekan Bakh FaNum" pitchFamily="2" charset="-78"/>
                          <a:cs typeface="Yekan Bakh FaNum" pitchFamily="2" charset="-78"/>
                        </a:rPr>
                        <a:t> </a:t>
                      </a:r>
                      <a:r>
                        <a:rPr sz="700" b="0" i="0" dirty="0" err="1">
                          <a:solidFill>
                            <a:srgbClr val="374151"/>
                          </a:solidFill>
                          <a:latin typeface="Yekan Bakh FaNum" pitchFamily="2" charset="-78"/>
                          <a:cs typeface="Yekan Bakh FaNum" pitchFamily="2" charset="-78"/>
                        </a:rPr>
                        <a:t>نهادی</a:t>
                      </a:r>
                      <a:r>
                        <a:rPr sz="700" b="0" i="0" dirty="0">
                          <a:solidFill>
                            <a:srgbClr val="374151"/>
                          </a:solidFill>
                          <a:latin typeface="Yekan Bakh FaNum" pitchFamily="2" charset="-78"/>
                          <a:cs typeface="Yekan Bakh FaNum" pitchFamily="2" charset="-78"/>
                        </a:rPr>
                        <a:t> </a:t>
                      </a:r>
                      <a:r>
                        <a:rPr sz="700" b="0" i="0" dirty="0" err="1">
                          <a:solidFill>
                            <a:srgbClr val="374151"/>
                          </a:solidFill>
                          <a:latin typeface="Yekan Bakh FaNum" pitchFamily="2" charset="-78"/>
                          <a:cs typeface="Yekan Bakh FaNum" pitchFamily="2" charset="-78"/>
                        </a:rPr>
                        <a:t>چندساله</a:t>
                      </a:r>
                      <a:endParaRPr sz="700" b="0" i="0" dirty="0">
                        <a:solidFill>
                          <a:srgbClr val="374151"/>
                        </a:solidFill>
                        <a:latin typeface="Yekan Bakh FaNum" pitchFamily="2" charset="-78"/>
                        <a:cs typeface="Yekan Bakh FaNum" pitchFamily="2" charset="-78"/>
                      </a:endParaRPr>
                    </a:p>
                  </a:txBody>
                  <a:tcPr marL="54864" marR="54864" marT="27432" marB="27432" anchor="ctr">
                    <a:solidFill>
                      <a:srgbClr val="FFFFFF"/>
                    </a:solidFill>
                  </a:tcPr>
                </a:tc>
                <a:tc>
                  <a:txBody>
                    <a:bodyPr/>
                    <a:lstStyle/>
                    <a:p>
                      <a:pPr algn="ctr" rtl="1">
                        <a:lnSpc>
                          <a:spcPct val="108000"/>
                        </a:lnSpc>
                      </a:pPr>
                      <a:r>
                        <a:rPr lang="fa-IR" sz="800" b="1" i="0" dirty="0">
                          <a:solidFill>
                            <a:schemeClr val="tx1">
                              <a:lumMod val="75000"/>
                              <a:lumOff val="25000"/>
                            </a:schemeClr>
                          </a:solidFill>
                          <a:latin typeface="Yekan Bakh FaNum" pitchFamily="2" charset="-78"/>
                          <a:cs typeface="Yekan Bakh FaNum" pitchFamily="2" charset="-78"/>
                        </a:rPr>
                        <a:t>جهانی</a:t>
                      </a:r>
                    </a:p>
                    <a:p>
                      <a:pPr algn="ctr" rtl="1">
                        <a:lnSpc>
                          <a:spcPct val="108000"/>
                        </a:lnSpc>
                      </a:pPr>
                      <a:r>
                        <a:rPr lang="fa-IR" sz="800" b="1" i="0" dirty="0">
                          <a:solidFill>
                            <a:schemeClr val="tx1">
                              <a:lumMod val="75000"/>
                              <a:lumOff val="25000"/>
                            </a:schemeClr>
                          </a:solidFill>
                          <a:latin typeface="Yekan Bakh FaNum" pitchFamily="2" charset="-78"/>
                          <a:cs typeface="Yekan Bakh FaNum" pitchFamily="2" charset="-78"/>
                        </a:rPr>
                        <a:t>(بازارهای نوظهور)</a:t>
                      </a:r>
                    </a:p>
                  </a:txBody>
                  <a:tcPr marL="54864" marR="54864" marT="27432" marB="27432" anchor="ctr">
                    <a:solidFill>
                      <a:srgbClr val="FFFFFF"/>
                    </a:solidFill>
                  </a:tcPr>
                </a:tc>
                <a:tc>
                  <a:txBody>
                    <a:bodyPr/>
                    <a:lstStyle/>
                    <a:p>
                      <a:pPr algn="ctr" rtl="1">
                        <a:lnSpc>
                          <a:spcPct val="108000"/>
                        </a:lnSpc>
                      </a:pPr>
                      <a:r>
                        <a:rPr sz="800" b="1" i="0" dirty="0">
                          <a:solidFill>
                            <a:srgbClr val="004D80"/>
                          </a:solidFill>
                          <a:latin typeface="Yekan Bakh FaNum" pitchFamily="2" charset="-78"/>
                          <a:cs typeface="Yekan Bakh FaNum" pitchFamily="2" charset="-78"/>
                        </a:rPr>
                        <a:t>Endeavor Global+ </a:t>
                      </a:r>
                      <a:r>
                        <a:rPr lang="fa-IR" sz="800" b="1" i="0" dirty="0">
                          <a:solidFill>
                            <a:srgbClr val="004D80"/>
                          </a:solidFill>
                          <a:latin typeface="Yekan Bakh FaNum" pitchFamily="2" charset="-78"/>
                          <a:cs typeface="Yekan Bakh FaNum" pitchFamily="2" charset="-78"/>
                        </a:rPr>
                        <a:t>(</a:t>
                      </a:r>
                      <a:r>
                        <a:rPr sz="800" b="1" i="0" dirty="0" err="1">
                          <a:solidFill>
                            <a:srgbClr val="004D80"/>
                          </a:solidFill>
                          <a:latin typeface="Yekan Bakh FaNum" pitchFamily="2" charset="-78"/>
                          <a:cs typeface="Yekan Bakh FaNum" pitchFamily="2" charset="-78"/>
                        </a:rPr>
                        <a:t>شراکت</a:t>
                      </a:r>
                      <a:r>
                        <a:rPr sz="800" b="1" i="0" dirty="0">
                          <a:solidFill>
                            <a:srgbClr val="004D80"/>
                          </a:solidFill>
                          <a:latin typeface="Yekan Bakh FaNum" pitchFamily="2" charset="-78"/>
                          <a:cs typeface="Yekan Bakh FaNum" pitchFamily="2" charset="-78"/>
                        </a:rPr>
                        <a:t> Bain</a:t>
                      </a:r>
                      <a:r>
                        <a:rPr lang="fa-IR" sz="800" b="1" i="0" dirty="0">
                          <a:solidFill>
                            <a:srgbClr val="004D80"/>
                          </a:solidFill>
                          <a:latin typeface="Yekan Bakh FaNum" pitchFamily="2" charset="-78"/>
                          <a:cs typeface="Yekan Bakh FaNum" pitchFamily="2" charset="-78"/>
                        </a:rPr>
                        <a:t>)</a:t>
                      </a:r>
                      <a:endParaRPr sz="800" b="1" i="0" dirty="0">
                        <a:solidFill>
                          <a:srgbClr val="004D80"/>
                        </a:solidFill>
                        <a:latin typeface="Yekan Bakh FaNum" pitchFamily="2" charset="-78"/>
                        <a:cs typeface="Yekan Bakh FaNum" pitchFamily="2" charset="-78"/>
                      </a:endParaRPr>
                    </a:p>
                  </a:txBody>
                  <a:tcPr marL="54864" marR="54864" marT="27432" marB="27432" anchor="ctr">
                    <a:solidFill>
                      <a:srgbClr val="FFFFFF"/>
                    </a:solidFill>
                  </a:tcPr>
                </a:tc>
                <a:extLst>
                  <a:ext uri="{0D108BD9-81ED-4DB2-BD59-A6C34878D82A}">
                    <a16:rowId xmlns:a16="http://schemas.microsoft.com/office/drawing/2014/main" val="10005"/>
                  </a:ext>
                </a:extLst>
              </a:tr>
              <a:tr h="518528">
                <a:tc>
                  <a:txBody>
                    <a:bodyPr/>
                    <a:lstStyle/>
                    <a:p>
                      <a:pPr algn="ctr" rtl="1">
                        <a:lnSpc>
                          <a:spcPct val="108000"/>
                        </a:lnSpc>
                      </a:pPr>
                      <a:r>
                        <a:rPr sz="700" b="1" i="0" dirty="0" err="1">
                          <a:solidFill>
                            <a:schemeClr val="tx1">
                              <a:lumMod val="65000"/>
                              <a:lumOff val="35000"/>
                            </a:schemeClr>
                          </a:solidFill>
                          <a:latin typeface="Yekan Bakh FaNum" pitchFamily="2" charset="-78"/>
                          <a:cs typeface="Yekan Bakh FaNum" pitchFamily="2" charset="-78"/>
                        </a:rPr>
                        <a:t>تراکنشی</a:t>
                      </a:r>
                      <a:r>
                        <a:rPr lang="fa-IR" sz="700" b="1" i="0" dirty="0">
                          <a:solidFill>
                            <a:schemeClr val="tx1">
                              <a:lumMod val="65000"/>
                              <a:lumOff val="35000"/>
                            </a:schemeClr>
                          </a:solidFill>
                          <a:latin typeface="Yekan Bakh FaNum" pitchFamily="2" charset="-78"/>
                          <a:cs typeface="Yekan Bakh FaNum" pitchFamily="2" charset="-78"/>
                        </a:rPr>
                        <a:t>+</a:t>
                      </a:r>
                    </a:p>
                    <a:p>
                      <a:pPr algn="ctr" rtl="1">
                        <a:lnSpc>
                          <a:spcPct val="108000"/>
                        </a:lnSpc>
                      </a:pPr>
                      <a:r>
                        <a:rPr sz="700" b="1" i="0" dirty="0" err="1">
                          <a:solidFill>
                            <a:schemeClr val="tx1">
                              <a:lumMod val="65000"/>
                              <a:lumOff val="35000"/>
                            </a:schemeClr>
                          </a:solidFill>
                          <a:latin typeface="Yekan Bakh FaNum" pitchFamily="2" charset="-78"/>
                          <a:cs typeface="Yekan Bakh FaNum" pitchFamily="2" charset="-78"/>
                        </a:rPr>
                        <a:t>اکوسیستمی</a:t>
                      </a:r>
                      <a:endParaRPr sz="700" b="1" i="0" dirty="0">
                        <a:solidFill>
                          <a:schemeClr val="tx1">
                            <a:lumMod val="65000"/>
                            <a:lumOff val="35000"/>
                          </a:schemeClr>
                        </a:solidFill>
                        <a:latin typeface="Yekan Bakh FaNum" pitchFamily="2" charset="-78"/>
                        <a:cs typeface="Yekan Bakh FaNum" pitchFamily="2" charset="-78"/>
                      </a:endParaRPr>
                    </a:p>
                  </a:txBody>
                  <a:tcPr marL="54864" marR="54864" marT="27432" marB="27432" anchor="ctr">
                    <a:solidFill>
                      <a:srgbClr val="F3F4F6"/>
                    </a:solidFill>
                  </a:tcPr>
                </a:tc>
                <a:tc>
                  <a:txBody>
                    <a:bodyPr/>
                    <a:lstStyle/>
                    <a:p>
                      <a:pPr algn="ctr" rtl="1">
                        <a:lnSpc>
                          <a:spcPct val="108000"/>
                        </a:lnSpc>
                      </a:pPr>
                      <a:r>
                        <a:rPr sz="700" b="0" i="0" dirty="0" err="1">
                          <a:solidFill>
                            <a:srgbClr val="374151"/>
                          </a:solidFill>
                          <a:latin typeface="Yekan Bakh FaNum" pitchFamily="2" charset="-78"/>
                          <a:cs typeface="Yekan Bakh FaNum" pitchFamily="2" charset="-78"/>
                        </a:rPr>
                        <a:t>پلتفرم</a:t>
                      </a:r>
                      <a:r>
                        <a:rPr sz="700" b="0" i="0" dirty="0">
                          <a:solidFill>
                            <a:srgbClr val="374151"/>
                          </a:solidFill>
                          <a:latin typeface="Yekan Bakh FaNum" pitchFamily="2" charset="-78"/>
                          <a:cs typeface="Yekan Bakh FaNum" pitchFamily="2" charset="-78"/>
                        </a:rPr>
                        <a:t> </a:t>
                      </a:r>
                      <a:r>
                        <a:rPr sz="700" b="0" i="0" dirty="0" err="1">
                          <a:solidFill>
                            <a:srgbClr val="374151"/>
                          </a:solidFill>
                          <a:latin typeface="Yekan Bakh FaNum" pitchFamily="2" charset="-78"/>
                          <a:cs typeface="Yekan Bakh FaNum" pitchFamily="2" charset="-78"/>
                        </a:rPr>
                        <a:t>دیجیتال</a:t>
                      </a:r>
                      <a:r>
                        <a:rPr sz="700" b="0" i="0" dirty="0">
                          <a:solidFill>
                            <a:srgbClr val="374151"/>
                          </a:solidFill>
                          <a:latin typeface="Yekan Bakh FaNum" pitchFamily="2" charset="-78"/>
                          <a:cs typeface="Yekan Bakh FaNum" pitchFamily="2" charset="-78"/>
                        </a:rPr>
                        <a:t> </a:t>
                      </a:r>
                      <a:r>
                        <a:rPr sz="700" b="0" i="0" dirty="0" err="1">
                          <a:solidFill>
                            <a:srgbClr val="374151"/>
                          </a:solidFill>
                          <a:latin typeface="Yekan Bakh FaNum" pitchFamily="2" charset="-78"/>
                          <a:cs typeface="Yekan Bakh FaNum" pitchFamily="2" charset="-78"/>
                        </a:rPr>
                        <a:t>دوطرفه</a:t>
                      </a:r>
                      <a:r>
                        <a:rPr sz="700" b="0" i="0" dirty="0">
                          <a:solidFill>
                            <a:srgbClr val="374151"/>
                          </a:solidFill>
                          <a:latin typeface="Yekan Bakh FaNum" pitchFamily="2" charset="-78"/>
                          <a:cs typeface="Yekan Bakh FaNum" pitchFamily="2" charset="-78"/>
                        </a:rPr>
                        <a:t> </a:t>
                      </a:r>
                      <a:r>
                        <a:rPr sz="700" b="0" i="0" dirty="0" err="1">
                          <a:solidFill>
                            <a:srgbClr val="374151"/>
                          </a:solidFill>
                          <a:latin typeface="Yekan Bakh FaNum" pitchFamily="2" charset="-78"/>
                          <a:cs typeface="Yekan Bakh FaNum" pitchFamily="2" charset="-78"/>
                        </a:rPr>
                        <a:t>معامله</a:t>
                      </a:r>
                      <a:endParaRPr sz="700" b="0" i="0" dirty="0">
                        <a:solidFill>
                          <a:srgbClr val="374151"/>
                        </a:solidFill>
                        <a:latin typeface="Yekan Bakh FaNum" pitchFamily="2" charset="-78"/>
                        <a:cs typeface="Yekan Bakh FaNum" pitchFamily="2" charset="-78"/>
                      </a:endParaRPr>
                    </a:p>
                  </a:txBody>
                  <a:tcPr marL="54864" marR="54864" marT="27432" marB="27432" anchor="ctr">
                    <a:solidFill>
                      <a:srgbClr val="F3F4F6"/>
                    </a:solidFill>
                  </a:tcPr>
                </a:tc>
                <a:tc>
                  <a:txBody>
                    <a:bodyPr/>
                    <a:lstStyle/>
                    <a:p>
                      <a:pPr algn="ctr" rtl="1">
                        <a:lnSpc>
                          <a:spcPct val="108000"/>
                        </a:lnSpc>
                      </a:pPr>
                      <a:r>
                        <a:rPr lang="fa-IR" sz="800" b="1" i="0" dirty="0">
                          <a:solidFill>
                            <a:schemeClr val="tx1">
                              <a:lumMod val="75000"/>
                              <a:lumOff val="25000"/>
                            </a:schemeClr>
                          </a:solidFill>
                          <a:latin typeface="Yekan Bakh FaNum" pitchFamily="2" charset="-78"/>
                          <a:cs typeface="Yekan Bakh FaNum" pitchFamily="2" charset="-78"/>
                        </a:rPr>
                        <a:t>جهانی/منطقه‌ای</a:t>
                      </a:r>
                    </a:p>
                    <a:p>
                      <a:pPr algn="ctr" rtl="1">
                        <a:lnSpc>
                          <a:spcPct val="108000"/>
                        </a:lnSpc>
                      </a:pPr>
                      <a:r>
                        <a:rPr lang="fa-IR" sz="800" b="1" i="0" dirty="0">
                          <a:solidFill>
                            <a:schemeClr val="tx1">
                              <a:lumMod val="75000"/>
                              <a:lumOff val="25000"/>
                            </a:schemeClr>
                          </a:solidFill>
                          <a:latin typeface="Yekan Bakh FaNum" pitchFamily="2" charset="-78"/>
                          <a:cs typeface="Yekan Bakh FaNum" pitchFamily="2" charset="-78"/>
                        </a:rPr>
                        <a:t>(پلتفرم معامله)</a:t>
                      </a:r>
                    </a:p>
                  </a:txBody>
                  <a:tcPr marL="54864" marR="54864" marT="27432" marB="27432" anchor="ctr">
                    <a:solidFill>
                      <a:srgbClr val="F3F4F6"/>
                    </a:solidFill>
                  </a:tcPr>
                </a:tc>
                <a:tc>
                  <a:txBody>
                    <a:bodyPr/>
                    <a:lstStyle/>
                    <a:p>
                      <a:pPr algn="ctr" rtl="1">
                        <a:lnSpc>
                          <a:spcPct val="108000"/>
                        </a:lnSpc>
                      </a:pPr>
                      <a:r>
                        <a:rPr sz="800" b="1" i="0" dirty="0">
                          <a:solidFill>
                            <a:srgbClr val="004D80"/>
                          </a:solidFill>
                          <a:latin typeface="Yekan Bakh FaNum" pitchFamily="2" charset="-78"/>
                          <a:cs typeface="Yekan Bakh FaNum" pitchFamily="2" charset="-78"/>
                        </a:rPr>
                        <a:t>Hum Capital/Turn8/Pitch40</a:t>
                      </a:r>
                    </a:p>
                  </a:txBody>
                  <a:tcPr marL="54864" marR="54864" marT="27432" marB="27432" anchor="ctr">
                    <a:solidFill>
                      <a:srgbClr val="F3F4F6"/>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332909636"/>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79184621"/>
      </p:ext>
    </p:extLst>
  </p:cSld>
  <p:clrMapOvr>
    <a:masterClrMapping/>
  </p:clrMapOvr>
</p:sld>
</file>

<file path=ppt/theme/theme1.xml><?xml version="1.0" encoding="utf-8"?>
<a:theme xmlns:a="http://schemas.openxmlformats.org/drawingml/2006/main" name="2_Office Theme">
  <a:themeElements>
    <a:clrScheme name="ILIA Collor Pallet">
      <a:dk1>
        <a:sysClr val="windowText" lastClr="000000"/>
      </a:dk1>
      <a:lt1>
        <a:sysClr val="window" lastClr="FFFFFF"/>
      </a:lt1>
      <a:dk2>
        <a:srgbClr val="0199FF"/>
      </a:dk2>
      <a:lt2>
        <a:srgbClr val="FF3399"/>
      </a:lt2>
      <a:accent1>
        <a:srgbClr val="019966"/>
      </a:accent1>
      <a:accent2>
        <a:srgbClr val="FDBF03"/>
      </a:accent2>
      <a:accent3>
        <a:srgbClr val="C1C1C1"/>
      </a:accent3>
      <a:accent4>
        <a:srgbClr val="000000"/>
      </a:accent4>
      <a:accent5>
        <a:srgbClr val="FFFFFF"/>
      </a:accent5>
      <a:accent6>
        <a:srgbClr val="70AD47"/>
      </a:accent6>
      <a:hlink>
        <a:srgbClr val="0563C1"/>
      </a:hlink>
      <a:folHlink>
        <a:srgbClr val="954F72"/>
      </a:folHlink>
    </a:clrScheme>
    <a:fontScheme name="Custom 4">
      <a:majorFont>
        <a:latin typeface="Calibri"/>
        <a:ea typeface=""/>
        <a:cs typeface="Calibri"/>
      </a:majorFont>
      <a:minorFont>
        <a:latin typeface="Calibri"/>
        <a:ea typeface=""/>
        <a:cs typeface="Calibri"/>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81C1342D6562D489036C633F5487C12" ma:contentTypeVersion="4" ma:contentTypeDescription="Create a new document." ma:contentTypeScope="" ma:versionID="4b4dc464ab5dc68bd8eec10476b62d63">
  <xsd:schema xmlns:xsd="http://www.w3.org/2001/XMLSchema" xmlns:xs="http://www.w3.org/2001/XMLSchema" xmlns:p="http://schemas.microsoft.com/office/2006/metadata/properties" xmlns:ns2="a917cdfa-7cbe-4ad0-8287-29867fa1c2b0" targetNamespace="http://schemas.microsoft.com/office/2006/metadata/properties" ma:root="true" ma:fieldsID="14d087559a1b25df6120e3c1ac705395" ns2:_="">
    <xsd:import namespace="a917cdfa-7cbe-4ad0-8287-29867fa1c2b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917cdfa-7cbe-4ad0-8287-29867fa1c2b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5B14037-C410-4D65-9E81-113934495B5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917cdfa-7cbe-4ad0-8287-29867fa1c2b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64F586B-4732-4429-ACB6-9E8832B12916}">
  <ds:schemaRefs>
    <ds:schemaRef ds:uri="a3574e73-59f0-4b93-93c1-6461638a4378"/>
    <ds:schemaRef ds:uri="f6801eed-263c-40c8-895d-d2c693bb097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DE9D4E02-1054-4833-9D87-0D33EB629F8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18132</TotalTime>
  <Words>35834</Words>
  <Application>Microsoft Office PowerPoint</Application>
  <PresentationFormat>Custom</PresentationFormat>
  <Paragraphs>4419</Paragraphs>
  <Slides>145</Slides>
  <Notes>2</Notes>
  <HiddenSlides>0</HiddenSlides>
  <MMClips>0</MMClips>
  <ScaleCrop>false</ScaleCrop>
  <HeadingPairs>
    <vt:vector size="6" baseType="variant">
      <vt:variant>
        <vt:lpstr>Fonts Used</vt:lpstr>
      </vt:variant>
      <vt:variant>
        <vt:i4>18</vt:i4>
      </vt:variant>
      <vt:variant>
        <vt:lpstr>Theme</vt:lpstr>
      </vt:variant>
      <vt:variant>
        <vt:i4>1</vt:i4>
      </vt:variant>
      <vt:variant>
        <vt:lpstr>Slide Titles</vt:lpstr>
      </vt:variant>
      <vt:variant>
        <vt:i4>145</vt:i4>
      </vt:variant>
    </vt:vector>
  </HeadingPairs>
  <TitlesOfParts>
    <vt:vector size="164" baseType="lpstr">
      <vt:lpstr>Acumin Pro Bold</vt:lpstr>
      <vt:lpstr>Acumin Pro Regular</vt:lpstr>
      <vt:lpstr>Acumin Pro Wide Semibold</vt:lpstr>
      <vt:lpstr>Aptos</vt:lpstr>
      <vt:lpstr>Arial</vt:lpstr>
      <vt:lpstr>Calibri</vt:lpstr>
      <vt:lpstr>Calibri Light</vt:lpstr>
      <vt:lpstr>Calvino</vt:lpstr>
      <vt:lpstr>IRANSans(FaNum) Medium</vt:lpstr>
      <vt:lpstr>Shabnam Bold FD</vt:lpstr>
      <vt:lpstr>Shabnam FD</vt:lpstr>
      <vt:lpstr>Symbol</vt:lpstr>
      <vt:lpstr>Wingdings</vt:lpstr>
      <vt:lpstr>Yekan Bakh</vt:lpstr>
      <vt:lpstr>Yekan Bakh FaNum</vt:lpstr>
      <vt:lpstr>Yekan Bakh FaNum Black</vt:lpstr>
      <vt:lpstr>Yekan Bakh FaNum SemiBold</vt:lpstr>
      <vt:lpstr>Yekan Bakh FaNum SmBoldSmCond</vt:lpstr>
      <vt:lpstr>2_Office Theme</vt:lpstr>
      <vt:lpstr>طراحی مدل ارزش، عملیاتی و مالی کسب‌وکار</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Taha Sharifi</dc:creator>
  <cp:lastModifiedBy>Sana Alinaghian</cp:lastModifiedBy>
  <cp:revision>711</cp:revision>
  <dcterms:created xsi:type="dcterms:W3CDTF">2023-10-13T11:09:55Z</dcterms:created>
  <dcterms:modified xsi:type="dcterms:W3CDTF">2026-09-06T12:10:43Z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0x010100581C1342D6562D489036C633F5487C12</vt:lpwstr>
  </property>
  <property fmtid="{D5CDD505-2E9C-101B-9397-08002B2CF9AE}" pid="3" name="MediaServiceImageTags">
    <vt:lpwstr/>
  </property>
</Properties>
</file>